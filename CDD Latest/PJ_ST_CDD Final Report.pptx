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lsb" ContentType="application/vnd.ms-excel.sheet.binary.macroEnabled.12"/>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theme/theme2.xml" ContentType="application/vnd.openxmlformats-officedocument.them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theme/theme3.xml" ContentType="application/vnd.openxmlformats-officedocument.theme+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heme/theme4.xml" ContentType="application/vnd.openxmlformats-officedocument.theme+xml"/>
  <Override PartName="/ppt/tags/tag36.xml" ContentType="application/vnd.openxmlformats-officedocument.presentationml.tags+xml"/>
  <Override PartName="/ppt/notesSlides/notesSlide1.xml" ContentType="application/vnd.openxmlformats-officedocument.presentationml.notesSlide+xml"/>
  <Override PartName="/ppt/tags/tag37.xml" ContentType="application/vnd.openxmlformats-officedocument.presentationml.tags+xml"/>
  <Override PartName="/ppt/notesSlides/notesSlide2.xml" ContentType="application/vnd.openxmlformats-officedocument.presentationml.notesSlide+xml"/>
  <Override PartName="/ppt/tags/tag38.xml" ContentType="application/vnd.openxmlformats-officedocument.presentationml.tags+xml"/>
  <Override PartName="/ppt/notesSlides/notesSlide3.xml" ContentType="application/vnd.openxmlformats-officedocument.presentationml.notesSlide+xml"/>
  <Override PartName="/ppt/tags/tag39.xml" ContentType="application/vnd.openxmlformats-officedocument.presentationml.tags+xml"/>
  <Override PartName="/ppt/notesSlides/notesSlide4.xml" ContentType="application/vnd.openxmlformats-officedocument.presentationml.notesSlide+xml"/>
  <Override PartName="/ppt/tags/tag40.xml" ContentType="application/vnd.openxmlformats-officedocument.presentationml.tags+xml"/>
  <Override PartName="/ppt/notesSlides/notesSlide5.xml" ContentType="application/vnd.openxmlformats-officedocument.presentationml.notesSlide+xml"/>
  <Override PartName="/ppt/tags/tag41.xml" ContentType="application/vnd.openxmlformats-officedocument.presentationml.tags+xml"/>
  <Override PartName="/ppt/notesSlides/notesSlide6.xml" ContentType="application/vnd.openxmlformats-officedocument.presentationml.notesSlide+xml"/>
  <Override PartName="/ppt/tags/tag42.xml" ContentType="application/vnd.openxmlformats-officedocument.presentationml.tags+xml"/>
  <Override PartName="/ppt/notesSlides/notesSlide7.xml" ContentType="application/vnd.openxmlformats-officedocument.presentationml.notesSlide+xml"/>
  <Override PartName="/ppt/tags/tag43.xml" ContentType="application/vnd.openxmlformats-officedocument.presentationml.tags+xml"/>
  <Override PartName="/ppt/notesSlides/notesSlide8.xml" ContentType="application/vnd.openxmlformats-officedocument.presentationml.notesSlide+xml"/>
  <Override PartName="/ppt/tags/tag44.xml" ContentType="application/vnd.openxmlformats-officedocument.presentationml.tags+xml"/>
  <Override PartName="/ppt/notesSlides/notesSlide9.xml" ContentType="application/vnd.openxmlformats-officedocument.presentationml.notesSlide+xml"/>
  <Override PartName="/ppt/tags/tag45.xml" ContentType="application/vnd.openxmlformats-officedocument.presentationml.tags+xml"/>
  <Override PartName="/ppt/notesSlides/notesSlide10.xml" ContentType="application/vnd.openxmlformats-officedocument.presentationml.notesSlide+xml"/>
  <Override PartName="/ppt/tags/tag46.xml" ContentType="application/vnd.openxmlformats-officedocument.presentationml.tags+xml"/>
  <Override PartName="/ppt/notesSlides/notesSlide11.xml" ContentType="application/vnd.openxmlformats-officedocument.presentationml.notesSlide+xml"/>
  <Override PartName="/ppt/tags/tag47.xml" ContentType="application/vnd.openxmlformats-officedocument.presentationml.tags+xml"/>
  <Override PartName="/ppt/notesSlides/notesSlide12.xml" ContentType="application/vnd.openxmlformats-officedocument.presentationml.notesSlide+xml"/>
  <Override PartName="/ppt/tags/tag48.xml" ContentType="application/vnd.openxmlformats-officedocument.presentationml.tags+xml"/>
  <Override PartName="/ppt/notesSlides/notesSlide13.xml" ContentType="application/vnd.openxmlformats-officedocument.presentationml.notesSlide+xml"/>
  <Override PartName="/ppt/tags/tag49.xml" ContentType="application/vnd.openxmlformats-officedocument.presentationml.tags+xml"/>
  <Override PartName="/ppt/notesSlides/notesSlide14.xml" ContentType="application/vnd.openxmlformats-officedocument.presentationml.notesSlide+xml"/>
  <Override PartName="/ppt/tags/tag50.xml" ContentType="application/vnd.openxmlformats-officedocument.presentationml.tags+xml"/>
  <Override PartName="/ppt/notesSlides/notesSlide15.xml" ContentType="application/vnd.openxmlformats-officedocument.presentationml.notesSlide+xml"/>
  <Override PartName="/ppt/tags/tag51.xml" ContentType="application/vnd.openxmlformats-officedocument.presentationml.tags+xml"/>
  <Override PartName="/ppt/notesSlides/notesSlide16.xml" ContentType="application/vnd.openxmlformats-officedocument.presentationml.notesSlide+xml"/>
  <Override PartName="/ppt/tags/tag52.xml" ContentType="application/vnd.openxmlformats-officedocument.presentationml.tags+xml"/>
  <Override PartName="/ppt/notesSlides/notesSlide17.xml" ContentType="application/vnd.openxmlformats-officedocument.presentationml.notesSlide+xml"/>
  <Override PartName="/ppt/tags/tag53.xml" ContentType="application/vnd.openxmlformats-officedocument.presentationml.tags+xml"/>
  <Override PartName="/ppt/notesSlides/notesSlide18.xml" ContentType="application/vnd.openxmlformats-officedocument.presentationml.notesSlide+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notesSlides/notesSlide19.xml" ContentType="application/vnd.openxmlformats-officedocument.presentationml.notesSlide+xml"/>
  <Override PartName="/ppt/charts/chart1.xml" ContentType="application/vnd.openxmlformats-officedocument.drawingml.chart+xml"/>
  <Override PartName="/ppt/tags/tag94.xml" ContentType="application/vnd.openxmlformats-officedocument.presentationml.tags+xml"/>
  <Override PartName="/ppt/notesSlides/notesSlide20.xml" ContentType="application/vnd.openxmlformats-officedocument.presentationml.notesSlide+xml"/>
  <Override PartName="/ppt/tags/tag95.xml" ContentType="application/vnd.openxmlformats-officedocument.presentationml.tags+xml"/>
  <Override PartName="/ppt/notesSlides/notesSlide21.xml" ContentType="application/vnd.openxmlformats-officedocument.presentationml.notesSlide+xml"/>
  <Override PartName="/ppt/tags/tag96.xml" ContentType="application/vnd.openxmlformats-officedocument.presentationml.tags+xml"/>
  <Override PartName="/ppt/notesSlides/notesSlide22.xml" ContentType="application/vnd.openxmlformats-officedocument.presentationml.notesSlide+xml"/>
  <Override PartName="/ppt/tags/tag97.xml" ContentType="application/vnd.openxmlformats-officedocument.presentationml.tags+xml"/>
  <Override PartName="/ppt/notesSlides/notesSlide23.xml" ContentType="application/vnd.openxmlformats-officedocument.presentationml.notesSlide+xml"/>
  <Override PartName="/ppt/tags/tag98.xml" ContentType="application/vnd.openxmlformats-officedocument.presentationml.tags+xml"/>
  <Override PartName="/ppt/notesSlides/notesSlide24.xml" ContentType="application/vnd.openxmlformats-officedocument.presentationml.notesSlide+xml"/>
  <Override PartName="/ppt/tags/tag99.xml" ContentType="application/vnd.openxmlformats-officedocument.presentationml.tags+xml"/>
  <Override PartName="/ppt/notesSlides/notesSlide25.xml" ContentType="application/vnd.openxmlformats-officedocument.presentationml.notesSlide+xml"/>
  <Override PartName="/ppt/tags/tag100.xml" ContentType="application/vnd.openxmlformats-officedocument.presentationml.tags+xml"/>
  <Override PartName="/ppt/notesSlides/notesSlide26.xml" ContentType="application/vnd.openxmlformats-officedocument.presentationml.notesSlide+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notesSlides/notesSlide27.xml" ContentType="application/vnd.openxmlformats-officedocument.presentationml.notesSlide+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tags/tag120.xml" ContentType="application/vnd.openxmlformats-officedocument.presentationml.tags+xml"/>
  <Override PartName="/ppt/notesSlides/notesSlide28.xml" ContentType="application/vnd.openxmlformats-officedocument.presentationml.notesSlide+xml"/>
  <Override PartName="/ppt/tags/tag121.xml" ContentType="application/vnd.openxmlformats-officedocument.presentationml.tags+xml"/>
  <Override PartName="/ppt/notesSlides/notesSlide29.xml" ContentType="application/vnd.openxmlformats-officedocument.presentationml.notesSlide+xml"/>
  <Override PartName="/ppt/tags/tag122.xml" ContentType="application/vnd.openxmlformats-officedocument.presentationml.tags+xml"/>
  <Override PartName="/ppt/notesSlides/notesSlide30.xml" ContentType="application/vnd.openxmlformats-officedocument.presentationml.notesSlide+xml"/>
  <Override PartName="/ppt/tags/tag123.xml" ContentType="application/vnd.openxmlformats-officedocument.presentationml.tags+xml"/>
  <Override PartName="/ppt/notesSlides/notesSlide31.xml" ContentType="application/vnd.openxmlformats-officedocument.presentationml.notesSlide+xml"/>
  <Override PartName="/ppt/tags/tag124.xml" ContentType="application/vnd.openxmlformats-officedocument.presentationml.tags+xml"/>
  <Override PartName="/ppt/notesSlides/notesSlide32.xml" ContentType="application/vnd.openxmlformats-officedocument.presentationml.notesSlide+xml"/>
  <Override PartName="/ppt/tags/tag125.xml" ContentType="application/vnd.openxmlformats-officedocument.presentationml.tags+xml"/>
  <Override PartName="/ppt/tags/tag126.xml" ContentType="application/vnd.openxmlformats-officedocument.presentationml.tags+xml"/>
  <Override PartName="/ppt/notesSlides/notesSlide33.xml" ContentType="application/vnd.openxmlformats-officedocument.presentationml.notesSlide+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notesSlides/notesSlide34.xml" ContentType="application/vnd.openxmlformats-officedocument.presentationml.notesSlide+xml"/>
  <Override PartName="/ppt/charts/chart5.xml" ContentType="application/vnd.openxmlformats-officedocument.drawingml.chart+xml"/>
  <Override PartName="/ppt/charts/chart6.xml" ContentType="application/vnd.openxmlformats-officedocument.drawingml.chart+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notesSlides/notesSlide35.xml" ContentType="application/vnd.openxmlformats-officedocument.presentationml.notesSlide+xml"/>
  <Override PartName="/ppt/charts/chart7.xml" ContentType="application/vnd.openxmlformats-officedocument.drawingml.chart+xml"/>
  <Override PartName="/ppt/charts/chart8.xml" ContentType="application/vnd.openxmlformats-officedocument.drawingml.chart+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notesSlides/notesSlide36.xml" ContentType="application/vnd.openxmlformats-officedocument.presentationml.notesSlide+xml"/>
  <Override PartName="/ppt/charts/chart9.xml" ContentType="application/vnd.openxmlformats-officedocument.drawingml.chart+xml"/>
  <Override PartName="/ppt/charts/chart10.xml" ContentType="application/vnd.openxmlformats-officedocument.drawingml.chart+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notesSlides/notesSlide37.xml" ContentType="application/vnd.openxmlformats-officedocument.presentationml.notesSlide+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tags/tag374.xml" ContentType="application/vnd.openxmlformats-officedocument.presentationml.tags+xml"/>
  <Override PartName="/ppt/notesSlides/notesSlide38.xml" ContentType="application/vnd.openxmlformats-officedocument.presentationml.notesSlide+xml"/>
  <Override PartName="/ppt/charts/chart15.xml" ContentType="application/vnd.openxmlformats-officedocument.drawingml.chart+xml"/>
  <Override PartName="/ppt/charts/style1.xml" ContentType="application/vnd.ms-office.chartstyle+xml"/>
  <Override PartName="/ppt/charts/colors1.xml" ContentType="application/vnd.ms-office.chartcolorstyle+xml"/>
  <Override PartName="/ppt/charts/chart16.xml" ContentType="application/vnd.openxmlformats-officedocument.drawingml.chart+xml"/>
  <Override PartName="/ppt/charts/style2.xml" ContentType="application/vnd.ms-office.chartstyle+xml"/>
  <Override PartName="/ppt/charts/colors2.xml" ContentType="application/vnd.ms-office.chartcolorstyle+xml"/>
  <Override PartName="/ppt/tags/tag375.xml" ContentType="application/vnd.openxmlformats-officedocument.presentationml.tags+xml"/>
  <Override PartName="/ppt/notesSlides/notesSlide39.xml" ContentType="application/vnd.openxmlformats-officedocument.presentationml.notesSlide+xml"/>
  <Override PartName="/ppt/tags/tag376.xml" ContentType="application/vnd.openxmlformats-officedocument.presentationml.tags+xml"/>
  <Override PartName="/ppt/notesSlides/notesSlide40.xml" ContentType="application/vnd.openxmlformats-officedocument.presentationml.notesSlide+xml"/>
  <Override PartName="/ppt/tags/tag377.xml" ContentType="application/vnd.openxmlformats-officedocument.presentationml.tags+xml"/>
  <Override PartName="/ppt/notesSlides/notesSlide41.xml" ContentType="application/vnd.openxmlformats-officedocument.presentationml.notesSlide+xml"/>
  <Override PartName="/ppt/tags/tag378.xml" ContentType="application/vnd.openxmlformats-officedocument.presentationml.tags+xml"/>
  <Override PartName="/ppt/notesSlides/notesSlide42.xml" ContentType="application/vnd.openxmlformats-officedocument.presentationml.notesSlide+xml"/>
  <Override PartName="/ppt/tags/tag379.xml" ContentType="application/vnd.openxmlformats-officedocument.presentationml.tags+xml"/>
  <Override PartName="/ppt/notesSlides/notesSlide43.xml" ContentType="application/vnd.openxmlformats-officedocument.presentationml.notesSlide+xml"/>
  <Override PartName="/ppt/tags/tag380.xml" ContentType="application/vnd.openxmlformats-officedocument.presentationml.tags+xml"/>
  <Override PartName="/ppt/notesSlides/notesSlide44.xml" ContentType="application/vnd.openxmlformats-officedocument.presentationml.notesSlide+xml"/>
  <Override PartName="/ppt/tags/tag381.xml" ContentType="application/vnd.openxmlformats-officedocument.presentationml.tags+xml"/>
  <Override PartName="/ppt/notesSlides/notesSlide45.xml" ContentType="application/vnd.openxmlformats-officedocument.presentationml.notesSlide+xml"/>
  <Override PartName="/ppt/charts/chart17.xml" ContentType="application/vnd.openxmlformats-officedocument.drawingml.chart+xml"/>
  <Override PartName="/ppt/charts/style3.xml" ContentType="application/vnd.ms-office.chartstyle+xml"/>
  <Override PartName="/ppt/charts/colors3.xml" ContentType="application/vnd.ms-office.chartcolorstyle+xml"/>
  <Override PartName="/ppt/tags/tag382.xml" ContentType="application/vnd.openxmlformats-officedocument.presentationml.tags+xml"/>
  <Override PartName="/ppt/notesSlides/notesSlide46.xml" ContentType="application/vnd.openxmlformats-officedocument.presentationml.notesSlide+xml"/>
  <Override PartName="/ppt/charts/chart18.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1.xml" ContentType="application/vnd.openxmlformats-officedocument.themeOverride+xml"/>
  <Override PartName="/ppt/drawings/drawing1.xml" ContentType="application/vnd.openxmlformats-officedocument.drawingml.chartshapes+xml"/>
  <Override PartName="/ppt/charts/chart19.xml" ContentType="application/vnd.openxmlformats-officedocument.drawingml.chart+xml"/>
  <Override PartName="/ppt/charts/style5.xml" ContentType="application/vnd.ms-office.chartstyle+xml"/>
  <Override PartName="/ppt/charts/colors5.xml" ContentType="application/vnd.ms-office.chartcolorstyle+xml"/>
  <Override PartName="/ppt/tags/tag383.xml" ContentType="application/vnd.openxmlformats-officedocument.presentationml.tags+xml"/>
  <Override PartName="/ppt/notesSlides/notesSlide47.xml" ContentType="application/vnd.openxmlformats-officedocument.presentationml.notesSlide+xml"/>
  <Override PartName="/ppt/charts/chart20.xml" ContentType="application/vnd.openxmlformats-officedocument.drawingml.chart+xml"/>
  <Override PartName="/ppt/charts/style6.xml" ContentType="application/vnd.ms-office.chartstyle+xml"/>
  <Override PartName="/ppt/charts/colors6.xml" ContentType="application/vnd.ms-office.chartcolorstyle+xml"/>
  <Override PartName="/ppt/charts/chart21.xml" ContentType="application/vnd.openxmlformats-officedocument.drawingml.chart+xml"/>
  <Override PartName="/ppt/charts/style7.xml" ContentType="application/vnd.ms-office.chartstyle+xml"/>
  <Override PartName="/ppt/charts/colors7.xml" ContentType="application/vnd.ms-office.chartcolorstyle+xml"/>
  <Override PartName="/ppt/tags/tag384.xml" ContentType="application/vnd.openxmlformats-officedocument.presentationml.tags+xml"/>
  <Override PartName="/ppt/notesSlides/notesSlide48.xml" ContentType="application/vnd.openxmlformats-officedocument.presentationml.notesSlide+xml"/>
  <Override PartName="/ppt/tags/tag385.xml" ContentType="application/vnd.openxmlformats-officedocument.presentationml.tags+xml"/>
  <Override PartName="/ppt/notesSlides/notesSlide49.xml" ContentType="application/vnd.openxmlformats-officedocument.presentationml.notesSlide+xml"/>
  <Override PartName="/ppt/tags/tag386.xml" ContentType="application/vnd.openxmlformats-officedocument.presentationml.tags+xml"/>
  <Override PartName="/ppt/notesSlides/notesSlide50.xml" ContentType="application/vnd.openxmlformats-officedocument.presentationml.notesSlide+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notesSlides/notesSlide51.xml" ContentType="application/vnd.openxmlformats-officedocument.presentationml.notesSlide+xml"/>
  <Override PartName="/ppt/charts/chart22.xml" ContentType="application/vnd.openxmlformats-officedocument.drawingml.chart+xml"/>
  <Override PartName="/ppt/tags/tag421.xml" ContentType="application/vnd.openxmlformats-officedocument.presentationml.tags+xml"/>
  <Override PartName="/ppt/notesSlides/notesSlide52.xml" ContentType="application/vnd.openxmlformats-officedocument.presentationml.notesSlide+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notesSlides/notesSlide53.xml" ContentType="application/vnd.openxmlformats-officedocument.presentationml.notesSlide+xml"/>
  <Override PartName="/ppt/charts/chart23.xml" ContentType="application/vnd.openxmlformats-officedocument.drawingml.chart+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notesSlides/notesSlide54.xml" ContentType="application/vnd.openxmlformats-officedocument.presentationml.notesSlide+xml"/>
  <Override PartName="/ppt/charts/chart24.xml" ContentType="application/vnd.openxmlformats-officedocument.drawingml.chart+xml"/>
  <Override PartName="/ppt/tags/tag486.xml" ContentType="application/vnd.openxmlformats-officedocument.presentationml.tags+xml"/>
  <Override PartName="/ppt/notesSlides/notesSlide55.xml" ContentType="application/vnd.openxmlformats-officedocument.presentationml.notesSlide+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notesSlides/notesSlide56.xml" ContentType="application/vnd.openxmlformats-officedocument.presentationml.notesSlide+xml"/>
  <Override PartName="/ppt/charts/chart25.xml" ContentType="application/vnd.openxmlformats-officedocument.drawingml.chart+xml"/>
  <Override PartName="/ppt/charts/chart26.xml" ContentType="application/vnd.openxmlformats-officedocument.drawingml.chart+xml"/>
  <Override PartName="/ppt/tags/tag505.xml" ContentType="application/vnd.openxmlformats-officedocument.presentationml.tags+xml"/>
  <Override PartName="/ppt/notesSlides/notesSlide57.xml" ContentType="application/vnd.openxmlformats-officedocument.presentationml.notesSlide+xml"/>
  <Override PartName="/ppt/tags/tag506.xml" ContentType="application/vnd.openxmlformats-officedocument.presentationml.tags+xml"/>
  <Override PartName="/ppt/notesSlides/notesSlide58.xml" ContentType="application/vnd.openxmlformats-officedocument.presentationml.notesSlide+xml"/>
  <Override PartName="/ppt/tags/tag507.xml" ContentType="application/vnd.openxmlformats-officedocument.presentationml.tags+xml"/>
  <Override PartName="/ppt/notesSlides/notesSlide59.xml" ContentType="application/vnd.openxmlformats-officedocument.presentationml.notesSlide+xml"/>
  <Override PartName="/ppt/tags/tag508.xml" ContentType="application/vnd.openxmlformats-officedocument.presentationml.tags+xml"/>
  <Override PartName="/ppt/notesSlides/notesSlide60.xml" ContentType="application/vnd.openxmlformats-officedocument.presentationml.notesSlide+xml"/>
  <Override PartName="/ppt/tags/tag509.xml" ContentType="application/vnd.openxmlformats-officedocument.presentationml.tags+xml"/>
  <Override PartName="/ppt/notesSlides/notesSlide61.xml" ContentType="application/vnd.openxmlformats-officedocument.presentationml.notesSlide+xml"/>
  <Override PartName="/ppt/tags/tag510.xml" ContentType="application/vnd.openxmlformats-officedocument.presentationml.tags+xml"/>
  <Override PartName="/ppt/notesSlides/notesSlide62.xml" ContentType="application/vnd.openxmlformats-officedocument.presentationml.notesSlide+xml"/>
  <Override PartName="/ppt/tags/tag511.xml" ContentType="application/vnd.openxmlformats-officedocument.presentationml.tags+xml"/>
  <Override PartName="/ppt/notesSlides/notesSlide63.xml" ContentType="application/vnd.openxmlformats-officedocument.presentationml.notesSlide+xml"/>
  <Override PartName="/ppt/tags/tag512.xml" ContentType="application/vnd.openxmlformats-officedocument.presentationml.tags+xml"/>
  <Override PartName="/ppt/notesSlides/notesSlide64.xml" ContentType="application/vnd.openxmlformats-officedocument.presentationml.notesSlide+xml"/>
  <Override PartName="/ppt/tags/tag513.xml" ContentType="application/vnd.openxmlformats-officedocument.presentationml.tags+xml"/>
  <Override PartName="/ppt/notesSlides/notesSlide65.xml" ContentType="application/vnd.openxmlformats-officedocument.presentationml.notesSlide+xml"/>
  <Override PartName="/ppt/charts/chart27.xml" ContentType="application/vnd.openxmlformats-officedocument.drawingml.chart+xml"/>
  <Override PartName="/ppt/charts/style8.xml" ContentType="application/vnd.ms-office.chartstyle+xml"/>
  <Override PartName="/ppt/charts/colors8.xml" ContentType="application/vnd.ms-office.chartcolorstyle+xml"/>
  <Override PartName="/ppt/charts/chart28.xml" ContentType="application/vnd.openxmlformats-officedocument.drawingml.chart+xml"/>
  <Override PartName="/ppt/charts/style9.xml" ContentType="application/vnd.ms-office.chartstyle+xml"/>
  <Override PartName="/ppt/charts/colors9.xml" ContentType="application/vnd.ms-office.chartcolorstyle+xml"/>
  <Override PartName="/ppt/drawings/drawing2.xml" ContentType="application/vnd.openxmlformats-officedocument.drawingml.chartshapes+xml"/>
  <Override PartName="/ppt/tags/tag514.xml" ContentType="application/vnd.openxmlformats-officedocument.presentationml.tags+xml"/>
  <Override PartName="/ppt/notesSlides/notesSlide66.xml" ContentType="application/vnd.openxmlformats-officedocument.presentationml.notesSlide+xml"/>
  <Override PartName="/ppt/charts/chart29.xml" ContentType="application/vnd.openxmlformats-officedocument.drawingml.chart+xml"/>
  <Override PartName="/ppt/charts/style10.xml" ContentType="application/vnd.ms-office.chartstyle+xml"/>
  <Override PartName="/ppt/charts/colors10.xml" ContentType="application/vnd.ms-office.chartcolorstyle+xml"/>
  <Override PartName="/ppt/tags/tag515.xml" ContentType="application/vnd.openxmlformats-officedocument.presentationml.tags+xml"/>
  <Override PartName="/ppt/notesSlides/notesSlide67.xml" ContentType="application/vnd.openxmlformats-officedocument.presentationml.notesSlide+xml"/>
  <Override PartName="/ppt/tags/tag516.xml" ContentType="application/vnd.openxmlformats-officedocument.presentationml.tags+xml"/>
  <Override PartName="/ppt/notesSlides/notesSlide68.xml" ContentType="application/vnd.openxmlformats-officedocument.presentationml.notesSlide+xml"/>
  <Override PartName="/ppt/tags/tag517.xml" ContentType="application/vnd.openxmlformats-officedocument.presentationml.tags+xml"/>
  <Override PartName="/ppt/notesSlides/notesSlide69.xml" ContentType="application/vnd.openxmlformats-officedocument.presentationml.notesSlide+xml"/>
  <Override PartName="/ppt/charts/chart30.xml" ContentType="application/vnd.openxmlformats-officedocument.drawingml.chart+xml"/>
  <Override PartName="/ppt/charts/style11.xml" ContentType="application/vnd.ms-office.chartstyle+xml"/>
  <Override PartName="/ppt/charts/colors11.xml" ContentType="application/vnd.ms-office.chartcolorstyle+xml"/>
  <Override PartName="/ppt/tags/tag518.xml" ContentType="application/vnd.openxmlformats-officedocument.presentationml.tags+xml"/>
  <Override PartName="/ppt/notesSlides/notesSlide70.xml" ContentType="application/vnd.openxmlformats-officedocument.presentationml.notesSlide+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notesSlides/notesSlide71.xml" ContentType="application/vnd.openxmlformats-officedocument.presentationml.notesSlide+xml"/>
  <Override PartName="/ppt/charts/chart31.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32.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3.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4.xml" ContentType="application/vnd.openxmlformats-officedocument.drawingml.chart+xml"/>
  <Override PartName="/ppt/charts/style15.xml" ContentType="application/vnd.ms-office.chartstyle+xml"/>
  <Override PartName="/ppt/charts/colors15.xml" ContentType="application/vnd.ms-office.chartcolorstyle+xml"/>
  <Override PartName="/ppt/drawings/drawing3.xml" ContentType="application/vnd.openxmlformats-officedocument.drawingml.chartshapes+xml"/>
  <Override PartName="/ppt/tags/tag523.xml" ContentType="application/vnd.openxmlformats-officedocument.presentationml.tags+xml"/>
  <Override PartName="/ppt/notesSlides/notesSlide72.xml" ContentType="application/vnd.openxmlformats-officedocument.presentationml.notesSlide+xml"/>
  <Override PartName="/ppt/charts/chart35.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6.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7.xml" ContentType="application/vnd.openxmlformats-officedocument.drawingml.chart+xml"/>
  <Override PartName="/ppt/charts/style18.xml" ContentType="application/vnd.ms-office.chartstyle+xml"/>
  <Override PartName="/ppt/charts/colors18.xml" ContentType="application/vnd.ms-office.chartcolorstyle+xml"/>
  <Override PartName="/ppt/tags/tag524.xml" ContentType="application/vnd.openxmlformats-officedocument.presentationml.tags+xml"/>
  <Override PartName="/ppt/notesSlides/notesSlide73.xml" ContentType="application/vnd.openxmlformats-officedocument.presentationml.notesSlide+xml"/>
  <Override PartName="/ppt/tags/tag525.xml" ContentType="application/vnd.openxmlformats-officedocument.presentationml.tags+xml"/>
  <Override PartName="/ppt/notesSlides/notesSlide74.xml" ContentType="application/vnd.openxmlformats-officedocument.presentationml.notesSlide+xml"/>
  <Override PartName="/ppt/tags/tag526.xml" ContentType="application/vnd.openxmlformats-officedocument.presentationml.tags+xml"/>
  <Override PartName="/ppt/tags/tag527.xml" ContentType="application/vnd.openxmlformats-officedocument.presentationml.tags+xml"/>
  <Override PartName="/ppt/notesSlides/notesSlide75.xml" ContentType="application/vnd.openxmlformats-officedocument.presentationml.notesSlide+xml"/>
  <Override PartName="/ppt/charts/chart38.xml" ContentType="application/vnd.openxmlformats-officedocument.drawingml.chart+xml"/>
  <Override PartName="/ppt/tags/tag528.xml" ContentType="application/vnd.openxmlformats-officedocument.presentationml.tags+xml"/>
  <Override PartName="/ppt/notesSlides/notesSlide76.xml" ContentType="application/vnd.openxmlformats-officedocument.presentationml.notesSlide+xml"/>
  <Override PartName="/ppt/tags/tag529.xml" ContentType="application/vnd.openxmlformats-officedocument.presentationml.tags+xml"/>
  <Override PartName="/ppt/notesSlides/notesSlide77.xml" ContentType="application/vnd.openxmlformats-officedocument.presentationml.notesSlide+xml"/>
  <Override PartName="/ppt/tags/tag530.xml" ContentType="application/vnd.openxmlformats-officedocument.presentationml.tags+xml"/>
  <Override PartName="/ppt/notesSlides/notesSlide78.xml" ContentType="application/vnd.openxmlformats-officedocument.presentationml.notesSlide+xml"/>
  <Override PartName="/ppt/tags/tag531.xml" ContentType="application/vnd.openxmlformats-officedocument.presentationml.tags+xml"/>
  <Override PartName="/ppt/notesSlides/notesSlide79.xml" ContentType="application/vnd.openxmlformats-officedocument.presentationml.notesSlide+xml"/>
  <Override PartName="/ppt/charts/chart39.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40.xml" ContentType="application/vnd.openxmlformats-officedocument.drawingml.chart+xml"/>
  <Override PartName="/ppt/charts/style20.xml" ContentType="application/vnd.ms-office.chartstyle+xml"/>
  <Override PartName="/ppt/charts/colors20.xml" ContentType="application/vnd.ms-office.chartcolorstyle+xml"/>
  <Override PartName="/ppt/tags/tag532.xml" ContentType="application/vnd.openxmlformats-officedocument.presentationml.tags+xml"/>
  <Override PartName="/ppt/notesSlides/notesSlide80.xml" ContentType="application/vnd.openxmlformats-officedocument.presentationml.notesSlide+xml"/>
  <Override PartName="/ppt/charts/chart41.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42.xml" ContentType="application/vnd.openxmlformats-officedocument.drawingml.chart+xml"/>
  <Override PartName="/ppt/charts/style22.xml" ContentType="application/vnd.ms-office.chartstyle+xml"/>
  <Override PartName="/ppt/charts/colors22.xml" ContentType="application/vnd.ms-office.chartcolorstyle+xml"/>
  <Override PartName="/ppt/tags/tag533.xml" ContentType="application/vnd.openxmlformats-officedocument.presentationml.tags+xml"/>
  <Override PartName="/ppt/notesSlides/notesSlide81.xml" ContentType="application/vnd.openxmlformats-officedocument.presentationml.notesSlide+xml"/>
  <Override PartName="/ppt/tags/tag534.xml" ContentType="application/vnd.openxmlformats-officedocument.presentationml.tags+xml"/>
  <Override PartName="/ppt/notesSlides/notesSlide82.xml" ContentType="application/vnd.openxmlformats-officedocument.presentationml.notesSlide+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notesSlides/notesSlide83.xml" ContentType="application/vnd.openxmlformats-officedocument.presentationml.notesSlide+xml"/>
  <Override PartName="/ppt/charts/chart43.xml" ContentType="application/vnd.openxmlformats-officedocument.drawingml.chart+xml"/>
  <Override PartName="/ppt/tags/tag567.xml" ContentType="application/vnd.openxmlformats-officedocument.presentationml.tags+xml"/>
  <Override PartName="/ppt/notesSlides/notesSlide84.xml" ContentType="application/vnd.openxmlformats-officedocument.presentationml.notesSlide+xml"/>
  <Override PartName="/ppt/tags/tag568.xml" ContentType="application/vnd.openxmlformats-officedocument.presentationml.tags+xml"/>
  <Override PartName="/ppt/notesSlides/notesSlide85.xml" ContentType="application/vnd.openxmlformats-officedocument.presentationml.notesSlide+xml"/>
  <Override PartName="/ppt/tags/tag569.xml" ContentType="application/vnd.openxmlformats-officedocument.presentationml.tags+xml"/>
  <Override PartName="/ppt/notesSlides/notesSlide86.xml" ContentType="application/vnd.openxmlformats-officedocument.presentationml.notesSlide+xml"/>
  <Override PartName="/ppt/tags/tag570.xml" ContentType="application/vnd.openxmlformats-officedocument.presentationml.tags+xml"/>
  <Override PartName="/ppt/notesSlides/notesSlide87.xml" ContentType="application/vnd.openxmlformats-officedocument.presentationml.notesSlide+xml"/>
  <Override PartName="/ppt/tags/tag571.xml" ContentType="application/vnd.openxmlformats-officedocument.presentationml.tags+xml"/>
  <Override PartName="/ppt/notesSlides/notesSlide88.xml" ContentType="application/vnd.openxmlformats-officedocument.presentationml.notesSlide+xml"/>
  <Override PartName="/ppt/tags/tag572.xml" ContentType="application/vnd.openxmlformats-officedocument.presentationml.tags+xml"/>
  <Override PartName="/ppt/notesSlides/notesSlide89.xml" ContentType="application/vnd.openxmlformats-officedocument.presentationml.notesSlide+xml"/>
  <Override PartName="/ppt/tags/tag573.xml" ContentType="application/vnd.openxmlformats-officedocument.presentationml.tags+xml"/>
  <Override PartName="/ppt/notesSlides/notesSlide90.xml" ContentType="application/vnd.openxmlformats-officedocument.presentationml.notesSlide+xml"/>
  <Override PartName="/ppt/charts/chart44.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5.xml" ContentType="application/vnd.openxmlformats-officedocument.drawingml.chart+xml"/>
  <Override PartName="/ppt/charts/style24.xml" ContentType="application/vnd.ms-office.chartstyle+xml"/>
  <Override PartName="/ppt/charts/colors24.xml" ContentType="application/vnd.ms-office.chartcolorstyle+xml"/>
  <Override PartName="/ppt/drawings/drawing4.xml" ContentType="application/vnd.openxmlformats-officedocument.drawingml.chartshapes+xml"/>
  <Override PartName="/ppt/tags/tag574.xml" ContentType="application/vnd.openxmlformats-officedocument.presentationml.tags+xml"/>
  <Override PartName="/ppt/notesSlides/notesSlide91.xml" ContentType="application/vnd.openxmlformats-officedocument.presentationml.notesSlide+xml"/>
  <Override PartName="/ppt/tags/tag575.xml" ContentType="application/vnd.openxmlformats-officedocument.presentationml.tags+xml"/>
  <Override PartName="/ppt/notesSlides/notesSlide92.xml" ContentType="application/vnd.openxmlformats-officedocument.presentationml.notesSlide+xml"/>
  <Override PartName="/ppt/charts/chart46.xml" ContentType="application/vnd.openxmlformats-officedocument.drawingml.chart+xml"/>
  <Override PartName="/ppt/charts/style25.xml" ContentType="application/vnd.ms-office.chartstyle+xml"/>
  <Override PartName="/ppt/charts/colors25.xml" ContentType="application/vnd.ms-office.chartcolorstyle+xml"/>
  <Override PartName="/ppt/drawings/drawing5.xml" ContentType="application/vnd.openxmlformats-officedocument.drawingml.chartshapes+xml"/>
  <Override PartName="/ppt/charts/chart47.xml" ContentType="application/vnd.openxmlformats-officedocument.drawingml.chart+xml"/>
  <Override PartName="/ppt/charts/style26.xml" ContentType="application/vnd.ms-office.chartstyle+xml"/>
  <Override PartName="/ppt/charts/colors26.xml" ContentType="application/vnd.ms-office.chartcolorstyle+xml"/>
  <Override PartName="/ppt/drawings/drawing6.xml" ContentType="application/vnd.openxmlformats-officedocument.drawingml.chartshapes+xml"/>
  <Override PartName="/ppt/tags/tag576.xml" ContentType="application/vnd.openxmlformats-officedocument.presentationml.tags+xml"/>
  <Override PartName="/ppt/notesSlides/notesSlide93.xml" ContentType="application/vnd.openxmlformats-officedocument.presentationml.notesSlide+xml"/>
  <Override PartName="/ppt/charts/chart48.xml" ContentType="application/vnd.openxmlformats-officedocument.drawingml.chart+xml"/>
  <Override PartName="/ppt/charts/style27.xml" ContentType="application/vnd.ms-office.chartstyle+xml"/>
  <Override PartName="/ppt/charts/colors27.xml" ContentType="application/vnd.ms-office.chartcolorstyle+xml"/>
  <Override PartName="/ppt/drawings/drawing7.xml" ContentType="application/vnd.openxmlformats-officedocument.drawingml.chartshapes+xml"/>
  <Override PartName="/ppt/charts/chart49.xml" ContentType="application/vnd.openxmlformats-officedocument.drawingml.chart+xml"/>
  <Override PartName="/ppt/charts/style28.xml" ContentType="application/vnd.ms-office.chartstyle+xml"/>
  <Override PartName="/ppt/charts/colors28.xml" ContentType="application/vnd.ms-office.chartcolorstyle+xml"/>
  <Override PartName="/ppt/drawings/drawing8.xml" ContentType="application/vnd.openxmlformats-officedocument.drawingml.chartshapes+xml"/>
  <Override PartName="/ppt/tags/tag577.xml" ContentType="application/vnd.openxmlformats-officedocument.presentationml.tags+xml"/>
  <Override PartName="/ppt/notesSlides/notesSlide94.xml" ContentType="application/vnd.openxmlformats-officedocument.presentationml.notesSlide+xml"/>
  <Override PartName="/ppt/tags/tag578.xml" ContentType="application/vnd.openxmlformats-officedocument.presentationml.tags+xml"/>
  <Override PartName="/ppt/notesSlides/notesSlide95.xml" ContentType="application/vnd.openxmlformats-officedocument.presentationml.notesSlide+xml"/>
  <Override PartName="/ppt/charts/chart50.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51.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52.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53.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54.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5.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6.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7.xml" ContentType="application/vnd.openxmlformats-officedocument.drawingml.chart+xml"/>
  <Override PartName="/ppt/charts/style36.xml" ContentType="application/vnd.ms-office.chartstyle+xml"/>
  <Override PartName="/ppt/charts/colors36.xml" ContentType="application/vnd.ms-office.chartcolorstyle+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notesSlides/notesSlide96.xml" ContentType="application/vnd.openxmlformats-officedocument.presentationml.notesSlide+xml"/>
  <Override PartName="/ppt/charts/chart58.xml" ContentType="application/vnd.openxmlformats-officedocument.drawingml.chart+xml"/>
  <Override PartName="/ppt/drawings/drawing9.xml" ContentType="application/vnd.openxmlformats-officedocument.drawingml.chartshape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notesSlides/notesSlide97.xml" ContentType="application/vnd.openxmlformats-officedocument.presentationml.notesSlide+xml"/>
  <Override PartName="/ppt/charts/chart59.xml" ContentType="application/vnd.openxmlformats-officedocument.drawingml.chart+xml"/>
  <Override PartName="/ppt/drawings/drawing10.xml" ContentType="application/vnd.openxmlformats-officedocument.drawingml.chartshape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notesSlides/notesSlide98.xml" ContentType="application/vnd.openxmlformats-officedocument.presentationml.notesSlide+xml"/>
  <Override PartName="/ppt/charts/chart60.xml" ContentType="application/vnd.openxmlformats-officedocument.drawingml.chart+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notesSlides/notesSlide99.xml" ContentType="application/vnd.openxmlformats-officedocument.presentationml.notesSlide+xml"/>
  <Override PartName="/ppt/charts/chart61.xml" ContentType="application/vnd.openxmlformats-officedocument.drawingml.chart+xml"/>
  <Override PartName="/ppt/notesSlides/notesSlide100.xml" ContentType="application/vnd.openxmlformats-officedocument.presentationml.notesSlide+xml"/>
  <Override PartName="/ppt/tags/tag706.xml" ContentType="application/vnd.openxmlformats-officedocument.presentationml.tags+xml"/>
  <Override PartName="/ppt/notesSlides/notesSlide101.xml" ContentType="application/vnd.openxmlformats-officedocument.presentationml.notesSlide+xml"/>
  <Override PartName="/ppt/tags/tag707.xml" ContentType="application/vnd.openxmlformats-officedocument.presentationml.tags+xml"/>
  <Override PartName="/ppt/notesSlides/notesSlide102.xml" ContentType="application/vnd.openxmlformats-officedocument.presentationml.notesSlide+xml"/>
  <Override PartName="/ppt/charts/chart62.xml" ContentType="application/vnd.openxmlformats-officedocument.drawingml.chart+xml"/>
  <Override PartName="/ppt/charts/style37.xml" ContentType="application/vnd.ms-office.chartstyle+xml"/>
  <Override PartName="/ppt/charts/colors37.xml" ContentType="application/vnd.ms-office.chartcolorstyle+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notesSlides/notesSlide103.xml" ContentType="application/vnd.openxmlformats-officedocument.presentationml.notesSlide+xml"/>
  <Override PartName="/ppt/charts/chart63.xml" ContentType="application/vnd.openxmlformats-officedocument.drawingml.chart+xml"/>
  <Override PartName="/ppt/tags/tag722.xml" ContentType="application/vnd.openxmlformats-officedocument.presentationml.tags+xml"/>
  <Override PartName="/ppt/notesSlides/notesSlide104.xml" ContentType="application/vnd.openxmlformats-officedocument.presentationml.notesSlide+xml"/>
  <Override PartName="/ppt/tags/tag723.xml" ContentType="application/vnd.openxmlformats-officedocument.presentationml.tags+xml"/>
  <Override PartName="/ppt/notesSlides/notesSlide105.xml" ContentType="application/vnd.openxmlformats-officedocument.presentationml.notesSlide+xml"/>
  <Override PartName="/ppt/tags/tag724.xml" ContentType="application/vnd.openxmlformats-officedocument.presentationml.tags+xml"/>
  <Override PartName="/ppt/notesSlides/notesSlide106.xml" ContentType="application/vnd.openxmlformats-officedocument.presentationml.notesSlide+xml"/>
  <Override PartName="/ppt/tags/tag725.xml" ContentType="application/vnd.openxmlformats-officedocument.presentationml.tags+xml"/>
  <Override PartName="/ppt/notesSlides/notesSlide107.xml" ContentType="application/vnd.openxmlformats-officedocument.presentationml.notesSlide+xml"/>
  <Override PartName="/ppt/tags/tag726.xml" ContentType="application/vnd.openxmlformats-officedocument.presentationml.tags+xml"/>
  <Override PartName="/ppt/notesSlides/notesSlide108.xml" ContentType="application/vnd.openxmlformats-officedocument.presentationml.notesSlide+xml"/>
  <Override PartName="/ppt/tags/tag727.xml" ContentType="application/vnd.openxmlformats-officedocument.presentationml.tags+xml"/>
  <Override PartName="/ppt/notesSlides/notesSlide109.xml" ContentType="application/vnd.openxmlformats-officedocument.presentationml.notesSlide+xml"/>
  <Override PartName="/ppt/tags/tag728.xml" ContentType="application/vnd.openxmlformats-officedocument.presentationml.tags+xml"/>
  <Override PartName="/ppt/notesSlides/notesSlide110.xml" ContentType="application/vnd.openxmlformats-officedocument.presentationml.notesSlide+xml"/>
  <Override PartName="/ppt/tags/tag729.xml" ContentType="application/vnd.openxmlformats-officedocument.presentationml.tags+xml"/>
  <Override PartName="/ppt/notesSlides/notesSlide111.xml" ContentType="application/vnd.openxmlformats-officedocument.presentationml.notesSlide+xml"/>
  <Override PartName="/ppt/tags/tag730.xml" ContentType="application/vnd.openxmlformats-officedocument.presentationml.tags+xml"/>
  <Override PartName="/ppt/notesSlides/notesSlide112.xml" ContentType="application/vnd.openxmlformats-officedocument.presentationml.notesSlide+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notesSlides/notesSlide113.xml" ContentType="application/vnd.openxmlformats-officedocument.presentationml.notesSlide+xml"/>
  <Override PartName="/ppt/charts/chart64.xml" ContentType="application/vnd.openxmlformats-officedocument.drawingml.chart+xml"/>
  <Override PartName="/ppt/tags/tag776.xml" ContentType="application/vnd.openxmlformats-officedocument.presentationml.tags+xml"/>
  <Override PartName="/ppt/notesSlides/notesSlide114.xml" ContentType="application/vnd.openxmlformats-officedocument.presentationml.notesSlide+xml"/>
  <Override PartName="/ppt/charts/chart65.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66.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67.xml" ContentType="application/vnd.openxmlformats-officedocument.drawingml.chart+xml"/>
  <Override PartName="/ppt/charts/style40.xml" ContentType="application/vnd.ms-office.chartstyle+xml"/>
  <Override PartName="/ppt/charts/colors40.xml" ContentType="application/vnd.ms-office.chartcolorstyle+xml"/>
  <Override PartName="/ppt/tags/tag777.xml" ContentType="application/vnd.openxmlformats-officedocument.presentationml.tags+xml"/>
  <Override PartName="/ppt/notesSlides/notesSlide115.xml" ContentType="application/vnd.openxmlformats-officedocument.presentationml.notesSlide+xml"/>
  <Override PartName="/ppt/tags/tag778.xml" ContentType="application/vnd.openxmlformats-officedocument.presentationml.tags+xml"/>
  <Override PartName="/ppt/notesSlides/notesSlide116.xml" ContentType="application/vnd.openxmlformats-officedocument.presentationml.notesSlide+xml"/>
  <Override PartName="/ppt/tags/tag779.xml" ContentType="application/vnd.openxmlformats-officedocument.presentationml.tags+xml"/>
  <Override PartName="/ppt/notesSlides/notesSlide117.xml" ContentType="application/vnd.openxmlformats-officedocument.presentationml.notesSlide+xml"/>
  <Override PartName="/ppt/tags/tag780.xml" ContentType="application/vnd.openxmlformats-officedocument.presentationml.tags+xml"/>
  <Override PartName="/ppt/notesSlides/notesSlide118.xml" ContentType="application/vnd.openxmlformats-officedocument.presentationml.notesSlide+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notesSlides/notesSlide119.xml" ContentType="application/vnd.openxmlformats-officedocument.presentationml.notesSlide+xml"/>
  <Override PartName="/ppt/charts/chart68.xml" ContentType="application/vnd.openxmlformats-officedocument.drawingml.chart+xml"/>
  <Override PartName="/ppt/tags/tag787.xml" ContentType="application/vnd.openxmlformats-officedocument.presentationml.tags+xml"/>
  <Override PartName="/ppt/notesSlides/notesSlide120.xml" ContentType="application/vnd.openxmlformats-officedocument.presentationml.notesSlide+xml"/>
  <Override PartName="/ppt/tags/tag788.xml" ContentType="application/vnd.openxmlformats-officedocument.presentationml.tags+xml"/>
  <Override PartName="/ppt/notesSlides/notesSlide121.xml" ContentType="application/vnd.openxmlformats-officedocument.presentationml.notesSlide+xml"/>
  <Override PartName="/ppt/tags/tag789.xml" ContentType="application/vnd.openxmlformats-officedocument.presentationml.tags+xml"/>
  <Override PartName="/ppt/notesSlides/notesSlide122.xml" ContentType="application/vnd.openxmlformats-officedocument.presentationml.notesSlide+xml"/>
  <Override PartName="/ppt/tags/tag790.xml" ContentType="application/vnd.openxmlformats-officedocument.presentationml.tags+xml"/>
  <Override PartName="/ppt/notesSlides/notesSlide123.xml" ContentType="application/vnd.openxmlformats-officedocument.presentationml.notesSlide+xml"/>
  <Override PartName="/ppt/tags/tag791.xml" ContentType="application/vnd.openxmlformats-officedocument.presentationml.tags+xml"/>
  <Override PartName="/ppt/notesSlides/notesSlide124.xml" ContentType="application/vnd.openxmlformats-officedocument.presentationml.notesSlide+xml"/>
  <Override PartName="/ppt/tags/tag792.xml" ContentType="application/vnd.openxmlformats-officedocument.presentationml.tags+xml"/>
  <Override PartName="/ppt/notesSlides/notesSlide125.xml" ContentType="application/vnd.openxmlformats-officedocument.presentationml.notesSlide+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notesSlides/notesSlide126.xml" ContentType="application/vnd.openxmlformats-officedocument.presentationml.notesSlide+xml"/>
  <Override PartName="/ppt/charts/chart69.xml" ContentType="application/vnd.openxmlformats-officedocument.drawingml.chart+xml"/>
  <Override PartName="/ppt/charts/chart70.xml" ContentType="application/vnd.openxmlformats-officedocument.drawingml.chart+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notesSlides/notesSlide127.xml" ContentType="application/vnd.openxmlformats-officedocument.presentationml.notesSlide+xml"/>
  <Override PartName="/ppt/charts/chart71.xml" ContentType="application/vnd.openxmlformats-officedocument.drawingml.chart+xml"/>
  <Override PartName="/ppt/tags/tag880.xml" ContentType="application/vnd.openxmlformats-officedocument.presentationml.tags+xml"/>
  <Override PartName="/ppt/notesSlides/notesSlide128.xml" ContentType="application/vnd.openxmlformats-officedocument.presentationml.notesSlide+xml"/>
  <Override PartName="/ppt/tags/tag881.xml" ContentType="application/vnd.openxmlformats-officedocument.presentationml.tags+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 id="2147483663" r:id="rId5"/>
    <p:sldMasterId id="2147483735" r:id="rId6"/>
  </p:sldMasterIdLst>
  <p:notesMasterIdLst>
    <p:notesMasterId r:id="rId141"/>
  </p:notesMasterIdLst>
  <p:sldIdLst>
    <p:sldId id="376" r:id="rId7"/>
    <p:sldId id="2147483198" r:id="rId8"/>
    <p:sldId id="2147483184" r:id="rId9"/>
    <p:sldId id="2147483231" r:id="rId10"/>
    <p:sldId id="2147483196" r:id="rId11"/>
    <p:sldId id="2147483158" r:id="rId12"/>
    <p:sldId id="2147483323" r:id="rId13"/>
    <p:sldId id="2147483326" r:id="rId14"/>
    <p:sldId id="2147483334" r:id="rId15"/>
    <p:sldId id="2147483327" r:id="rId16"/>
    <p:sldId id="2147483335" r:id="rId17"/>
    <p:sldId id="2147483328" r:id="rId18"/>
    <p:sldId id="2147483329" r:id="rId19"/>
    <p:sldId id="2147483336" r:id="rId20"/>
    <p:sldId id="2147483330" r:id="rId21"/>
    <p:sldId id="2147483331" r:id="rId22"/>
    <p:sldId id="2147483325" r:id="rId23"/>
    <p:sldId id="2147483178" r:id="rId24"/>
    <p:sldId id="2147483212" r:id="rId25"/>
    <p:sldId id="2147483234" r:id="rId26"/>
    <p:sldId id="2147483297" r:id="rId27"/>
    <p:sldId id="2147483300" r:id="rId28"/>
    <p:sldId id="2147483341" r:id="rId29"/>
    <p:sldId id="2147483301" r:id="rId30"/>
    <p:sldId id="2147483302" r:id="rId31"/>
    <p:sldId id="2147483303" r:id="rId32"/>
    <p:sldId id="2147483321" r:id="rId33"/>
    <p:sldId id="2147483220" r:id="rId34"/>
    <p:sldId id="2147483222" r:id="rId35"/>
    <p:sldId id="2147483306" r:id="rId36"/>
    <p:sldId id="2147483150" r:id="rId37"/>
    <p:sldId id="2147483205" r:id="rId38"/>
    <p:sldId id="2147483282" r:id="rId39"/>
    <p:sldId id="2147483307" r:id="rId40"/>
    <p:sldId id="2147483151" r:id="rId41"/>
    <p:sldId id="2147483118" r:id="rId42"/>
    <p:sldId id="2147483119" r:id="rId43"/>
    <p:sldId id="2147483133" r:id="rId44"/>
    <p:sldId id="2147483318" r:id="rId45"/>
    <p:sldId id="2147483159" r:id="rId46"/>
    <p:sldId id="2147483317" r:id="rId47"/>
    <p:sldId id="2147483314" r:id="rId48"/>
    <p:sldId id="2147483315" r:id="rId49"/>
    <p:sldId id="2147483246" r:id="rId50"/>
    <p:sldId id="2147483210" r:id="rId51"/>
    <p:sldId id="2147483147" r:id="rId52"/>
    <p:sldId id="2147483172" r:id="rId53"/>
    <p:sldId id="2147483269" r:id="rId54"/>
    <p:sldId id="2147483137" r:id="rId55"/>
    <p:sldId id="2147483157" r:id="rId56"/>
    <p:sldId id="2147483164" r:id="rId57"/>
    <p:sldId id="2147483160" r:id="rId58"/>
    <p:sldId id="2147483312" r:id="rId59"/>
    <p:sldId id="2147483161" r:id="rId60"/>
    <p:sldId id="2147483309" r:id="rId61"/>
    <p:sldId id="2147483230" r:id="rId62"/>
    <p:sldId id="2147483319" r:id="rId63"/>
    <p:sldId id="2147483320" r:id="rId64"/>
    <p:sldId id="2147483168" r:id="rId65"/>
    <p:sldId id="2147483167" r:id="rId66"/>
    <p:sldId id="2147483206" r:id="rId67"/>
    <p:sldId id="2147483255" r:id="rId68"/>
    <p:sldId id="2147483308" r:id="rId69"/>
    <p:sldId id="2147483244" r:id="rId70"/>
    <p:sldId id="2147483242" r:id="rId71"/>
    <p:sldId id="2147483243" r:id="rId72"/>
    <p:sldId id="2147483245" r:id="rId73"/>
    <p:sldId id="2147483247" r:id="rId74"/>
    <p:sldId id="2147483248" r:id="rId75"/>
    <p:sldId id="2147483249" r:id="rId76"/>
    <p:sldId id="2147483250" r:id="rId77"/>
    <p:sldId id="2147483251" r:id="rId78"/>
    <p:sldId id="2147483252" r:id="rId79"/>
    <p:sldId id="2147483313" r:id="rId80"/>
    <p:sldId id="2147483253" r:id="rId81"/>
    <p:sldId id="2147483254" r:id="rId82"/>
    <p:sldId id="2147483256" r:id="rId83"/>
    <p:sldId id="2147483257" r:id="rId84"/>
    <p:sldId id="2147483258" r:id="rId85"/>
    <p:sldId id="2147483259" r:id="rId86"/>
    <p:sldId id="2147483260" r:id="rId87"/>
    <p:sldId id="2147483261" r:id="rId88"/>
    <p:sldId id="2147483262" r:id="rId89"/>
    <p:sldId id="2147483263" r:id="rId90"/>
    <p:sldId id="2147483264" r:id="rId91"/>
    <p:sldId id="2147483266" r:id="rId92"/>
    <p:sldId id="2147483267" r:id="rId93"/>
    <p:sldId id="2147483268" r:id="rId94"/>
    <p:sldId id="2147483270" r:id="rId95"/>
    <p:sldId id="2147483272" r:id="rId96"/>
    <p:sldId id="2147483271" r:id="rId97"/>
    <p:sldId id="2147483273" r:id="rId98"/>
    <p:sldId id="2147483274" r:id="rId99"/>
    <p:sldId id="2147483275" r:id="rId100"/>
    <p:sldId id="2147483276" r:id="rId101"/>
    <p:sldId id="2147483277" r:id="rId102"/>
    <p:sldId id="2147483278" r:id="rId103"/>
    <p:sldId id="2147483279" r:id="rId104"/>
    <p:sldId id="2147483280" r:id="rId105"/>
    <p:sldId id="2147483281" r:id="rId106"/>
    <p:sldId id="481" r:id="rId107"/>
    <p:sldId id="2147483332" r:id="rId108"/>
    <p:sldId id="2147483333" r:id="rId109"/>
    <p:sldId id="2147483188" r:id="rId110"/>
    <p:sldId id="2147483195" r:id="rId111"/>
    <p:sldId id="2147483170" r:id="rId112"/>
    <p:sldId id="2147483236" r:id="rId113"/>
    <p:sldId id="2147483182" r:id="rId114"/>
    <p:sldId id="2147483187" r:id="rId115"/>
    <p:sldId id="2147483189" r:id="rId116"/>
    <p:sldId id="2147483191" r:id="rId117"/>
    <p:sldId id="2147483134" r:id="rId118"/>
    <p:sldId id="2147483136" r:id="rId119"/>
    <p:sldId id="2147483223" r:id="rId120"/>
    <p:sldId id="2147483288" r:id="rId121"/>
    <p:sldId id="2147483284" r:id="rId122"/>
    <p:sldId id="2147483285" r:id="rId123"/>
    <p:sldId id="2147483286" r:id="rId124"/>
    <p:sldId id="2147483287" r:id="rId125"/>
    <p:sldId id="2147483293" r:id="rId126"/>
    <p:sldId id="2147483294" r:id="rId127"/>
    <p:sldId id="2147483296" r:id="rId128"/>
    <p:sldId id="2147483237" r:id="rId129"/>
    <p:sldId id="2147483135" r:id="rId130"/>
    <p:sldId id="2147483240" r:id="rId131"/>
    <p:sldId id="2147483192" r:id="rId132"/>
    <p:sldId id="2147483152" r:id="rId133"/>
    <p:sldId id="2147483316" r:id="rId134"/>
    <p:sldId id="2147483163" r:id="rId135"/>
    <p:sldId id="2147483340" r:id="rId136"/>
    <p:sldId id="2147483337" r:id="rId137"/>
    <p:sldId id="2147483338" r:id="rId138"/>
    <p:sldId id="2147483339" r:id="rId139"/>
    <p:sldId id="2147483342" r:id="rId140"/>
  </p:sldIdLst>
  <p:sldSz cx="12192000" cy="6858000"/>
  <p:notesSz cx="6858000" cy="9144000"/>
  <p:custDataLst>
    <p:tags r:id="rId142"/>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D5892711-155D-4024-B46C-121B1EA7F9CF}">
          <p14:sldIdLst>
            <p14:sldId id="376"/>
            <p14:sldId id="2147483198"/>
            <p14:sldId id="2147483184"/>
            <p14:sldId id="2147483231"/>
            <p14:sldId id="2147483196"/>
            <p14:sldId id="2147483158"/>
            <p14:sldId id="2147483323"/>
            <p14:sldId id="2147483326"/>
            <p14:sldId id="2147483334"/>
            <p14:sldId id="2147483327"/>
            <p14:sldId id="2147483335"/>
            <p14:sldId id="2147483328"/>
            <p14:sldId id="2147483329"/>
            <p14:sldId id="2147483336"/>
            <p14:sldId id="2147483330"/>
            <p14:sldId id="2147483331"/>
            <p14:sldId id="2147483325"/>
            <p14:sldId id="2147483178"/>
            <p14:sldId id="2147483212"/>
            <p14:sldId id="2147483234"/>
            <p14:sldId id="2147483297"/>
            <p14:sldId id="2147483300"/>
            <p14:sldId id="2147483341"/>
            <p14:sldId id="2147483301"/>
            <p14:sldId id="2147483302"/>
            <p14:sldId id="2147483303"/>
            <p14:sldId id="2147483321"/>
            <p14:sldId id="2147483220"/>
            <p14:sldId id="2147483222"/>
            <p14:sldId id="2147483306"/>
          </p14:sldIdLst>
        </p14:section>
        <p14:section name="Regulatory Analysis  &amp; CBET" id="{5042083C-92CD-46D0-B168-E81B0D8D5049}">
          <p14:sldIdLst>
            <p14:sldId id="2147483150"/>
            <p14:sldId id="2147483205"/>
            <p14:sldId id="2147483282"/>
            <p14:sldId id="2147483307"/>
            <p14:sldId id="2147483151"/>
            <p14:sldId id="2147483118"/>
            <p14:sldId id="2147483119"/>
            <p14:sldId id="2147483133"/>
            <p14:sldId id="2147483318"/>
            <p14:sldId id="2147483159"/>
            <p14:sldId id="2147483317"/>
            <p14:sldId id="2147483314"/>
            <p14:sldId id="2147483315"/>
            <p14:sldId id="2147483246"/>
            <p14:sldId id="2147483210"/>
            <p14:sldId id="2147483147"/>
            <p14:sldId id="2147483172"/>
            <p14:sldId id="2147483269"/>
            <p14:sldId id="2147483137"/>
          </p14:sldIdLst>
        </p14:section>
        <p14:section name="Outlook" id="{E9DD421D-85F6-4C61-B733-2524EAE43D51}">
          <p14:sldIdLst>
            <p14:sldId id="2147483157"/>
            <p14:sldId id="2147483164"/>
            <p14:sldId id="2147483160"/>
            <p14:sldId id="2147483312"/>
            <p14:sldId id="2147483161"/>
            <p14:sldId id="2147483309"/>
            <p14:sldId id="2147483230"/>
            <p14:sldId id="2147483319"/>
            <p14:sldId id="2147483320"/>
            <p14:sldId id="2147483168"/>
            <p14:sldId id="2147483167"/>
            <p14:sldId id="2147483206"/>
            <p14:sldId id="2147483255"/>
            <p14:sldId id="2147483308"/>
          </p14:sldIdLst>
        </p14:section>
        <p14:section name="IND Power market Assessment" id="{A19371AC-32F2-4E4D-B3F2-137CC8368842}">
          <p14:sldIdLst>
            <p14:sldId id="2147483244"/>
            <p14:sldId id="2147483242"/>
            <p14:sldId id="2147483243"/>
            <p14:sldId id="2147483245"/>
            <p14:sldId id="2147483247"/>
            <p14:sldId id="2147483248"/>
            <p14:sldId id="2147483249"/>
            <p14:sldId id="2147483250"/>
            <p14:sldId id="2147483251"/>
            <p14:sldId id="2147483252"/>
            <p14:sldId id="2147483313"/>
            <p14:sldId id="2147483253"/>
            <p14:sldId id="2147483254"/>
            <p14:sldId id="2147483256"/>
            <p14:sldId id="2147483257"/>
            <p14:sldId id="2147483258"/>
            <p14:sldId id="2147483259"/>
            <p14:sldId id="2147483260"/>
            <p14:sldId id="2147483261"/>
            <p14:sldId id="2147483262"/>
            <p14:sldId id="2147483263"/>
            <p14:sldId id="2147483264"/>
            <p14:sldId id="2147483266"/>
            <p14:sldId id="2147483267"/>
            <p14:sldId id="2147483268"/>
            <p14:sldId id="2147483270"/>
            <p14:sldId id="2147483272"/>
            <p14:sldId id="2147483271"/>
            <p14:sldId id="2147483273"/>
            <p14:sldId id="2147483274"/>
            <p14:sldId id="2147483275"/>
            <p14:sldId id="2147483276"/>
            <p14:sldId id="2147483277"/>
            <p14:sldId id="2147483278"/>
            <p14:sldId id="2147483279"/>
            <p14:sldId id="2147483280"/>
            <p14:sldId id="2147483281"/>
            <p14:sldId id="481"/>
            <p14:sldId id="2147483332"/>
            <p14:sldId id="2147483333"/>
            <p14:sldId id="2147483188"/>
            <p14:sldId id="2147483195"/>
            <p14:sldId id="2147483170"/>
            <p14:sldId id="2147483236"/>
            <p14:sldId id="2147483182"/>
            <p14:sldId id="2147483187"/>
            <p14:sldId id="2147483189"/>
            <p14:sldId id="2147483191"/>
            <p14:sldId id="2147483134"/>
            <p14:sldId id="2147483136"/>
            <p14:sldId id="2147483223"/>
            <p14:sldId id="2147483288"/>
            <p14:sldId id="2147483284"/>
            <p14:sldId id="2147483285"/>
            <p14:sldId id="2147483286"/>
            <p14:sldId id="2147483287"/>
            <p14:sldId id="2147483293"/>
            <p14:sldId id="2147483294"/>
            <p14:sldId id="2147483296"/>
            <p14:sldId id="2147483237"/>
            <p14:sldId id="2147483135"/>
            <p14:sldId id="2147483240"/>
            <p14:sldId id="2147483192"/>
            <p14:sldId id="2147483152"/>
            <p14:sldId id="2147483316"/>
            <p14:sldId id="2147483163"/>
            <p14:sldId id="2147483340"/>
            <p14:sldId id="2147483337"/>
            <p14:sldId id="2147483338"/>
            <p14:sldId id="2147483339"/>
            <p14:sldId id="2147483342"/>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60C3601A-6CE5-C476-D039-DD34EAAABEC5}" name="Dhawan, Shubham" initials="DS" userId="S::shudhawan@deloitte.com::e457b5f3-1f3d-4d58-917e-9019c3073c41" providerId="AD"/>
  <p188:author id="{E27EBC48-AA79-795E-5D8C-9DCFC230DACA}" name="Khiroria, Adit" initials="KA" userId="S::akhiroria@deloitte.com::125b7d01-0557-4756-b3b5-aac8221948e3" providerId="AD"/>
  <p188:author id="{40C84B5D-3CA0-3119-655B-D182C71AC288}" name="Nair, Sharath" initials="NS" userId="S::sharathnair@deloitte.com::768cdc7e-c2ce-4cd0-9b0c-081653ab9c5d" providerId="AD"/>
  <p188:author id="{99505869-7580-5C49-F088-98FE3BEA0E7C}" name="Nakajima, Yuzuka" initials="YN" userId="S::yuzuka.nakajima@tohmatsu.co.jp::48aa28e2-c3f1-41b3-8a1d-6dc63e1065bb" providerId="AD"/>
  <p188:author id="{4C3EF2B1-ACE0-95AC-DEE8-ECE019611B48}" name="Mani, Siddharth" initials="MS" userId="S::simani@DELOITTE.COM::ea703a10-db50-4df5-bf72-1a564ac3e541"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7CB0"/>
    <a:srgbClr val="DDEFE8"/>
    <a:srgbClr val="000000"/>
    <a:srgbClr val="86BC25"/>
    <a:srgbClr val="26890D"/>
    <a:srgbClr val="53565A"/>
    <a:srgbClr val="046A38"/>
    <a:srgbClr val="43B02A"/>
    <a:srgbClr val="002060"/>
    <a:srgbClr val="BAE37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4A04F91-02B5-4F47-B027-CBED766A115A}" v="533" dt="2025-08-07T05:40:13.503"/>
    <p1510:client id="{61698CA9-C04A-4E28-A148-B040ADB01D00}" v="357" dt="2025-08-06T15:40:22.571"/>
    <p1510:client id="{8D212EE6-7CE9-4D27-ABA7-25C6D33B68B6}" v="150" dt="2025-08-06T05:24:03.234"/>
    <p1510:client id="{9A391DE7-E11A-47AA-91D4-2C321FA6AB6E}" v="651" dt="2025-08-06T10:07:45.001"/>
    <p1510:client id="{C9953B28-E030-47FF-8EAB-3BD9C7868D48}" v="7" dt="2025-08-07T05:08:44.532"/>
    <p1510:client id="{D82551A6-49EA-42D9-A6E9-2D9FC7769278}" v="1288" dt="2025-08-06T10:56:18.520"/>
    <p1510:client id="{E9ED00C9-D574-4ADC-9AC8-7D398A167B29}" v="13" dt="2025-08-06T11:34:11.523"/>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8799B23B-EC83-4686-B30A-512413B5E67A}" styleName="Light Style 3 - Accent 3">
    <a:wholeTbl>
      <a:tcTxStyle>
        <a:fontRef idx="minor">
          <a:scrgbClr r="0" g="0" b="0"/>
        </a:fontRef>
        <a:schemeClr val="tx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noFill/>
        </a:fill>
      </a:tcStyle>
    </a:wholeTbl>
    <a:band1H>
      <a:tcStyle>
        <a:tcBdr/>
        <a:fill>
          <a:solidFill>
            <a:schemeClr val="accent3">
              <a:alpha val="20000"/>
            </a:schemeClr>
          </a:solidFill>
        </a:fill>
      </a:tcStyle>
    </a:band1H>
    <a:band1V>
      <a:tcStyle>
        <a:tcBdr/>
        <a:fill>
          <a:solidFill>
            <a:schemeClr val="accent3">
              <a:alpha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noFill/>
        </a:fill>
      </a:tcStyle>
    </a:lastRow>
    <a:firstRow>
      <a:tcTxStyle b="on"/>
      <a:tcStyle>
        <a:tcBdr>
          <a:bottom>
            <a:ln w="25400" cmpd="sng">
              <a:solidFill>
                <a:schemeClr val="accent3"/>
              </a:solidFill>
            </a:ln>
          </a:bottom>
        </a:tcBdr>
        <a:fill>
          <a:noFill/>
        </a:fill>
      </a:tcStyle>
    </a:firstRow>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08FB837D-C827-4EFA-A057-4D05807E0F7C}" styleName="Themed Style 1 - Accent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 styleId="{5DA37D80-6434-44D0-A028-1B22A696006F}" styleName="Light Style 3 - Accent 2">
    <a:wholeTbl>
      <a:tcTxStyle>
        <a:fontRef idx="minor">
          <a:scrgbClr r="0" g="0" b="0"/>
        </a:fontRef>
        <a:schemeClr val="tx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noFill/>
        </a:fill>
      </a:tcStyle>
    </a:wholeTbl>
    <a:band1H>
      <a:tcStyle>
        <a:tcBdr/>
        <a:fill>
          <a:solidFill>
            <a:schemeClr val="accent2">
              <a:alpha val="20000"/>
            </a:schemeClr>
          </a:solidFill>
        </a:fill>
      </a:tcStyle>
    </a:band1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noFill/>
        </a:fill>
      </a:tcStyle>
    </a:lastRow>
    <a:firstRow>
      <a:tcTxStyle b="on"/>
      <a:tcStyle>
        <a:tcBdr>
          <a:bottom>
            <a:ln w="25400" cmpd="sng">
              <a:solidFill>
                <a:schemeClr val="accent2"/>
              </a:solidFill>
            </a:ln>
          </a:bottom>
        </a:tcBdr>
        <a:fill>
          <a:noFill/>
        </a:fill>
      </a:tcStyle>
    </a:firstRow>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51" d="100"/>
          <a:sy n="51" d="100"/>
        </p:scale>
        <p:origin x="1164" y="44"/>
      </p:cViewPr>
      <p:guideLst/>
    </p:cSldViewPr>
  </p:slideViewPr>
  <p:notesTextViewPr>
    <p:cViewPr>
      <p:scale>
        <a:sx n="1" d="1"/>
        <a:sy n="1" d="1"/>
      </p:scale>
      <p:origin x="0" y="0"/>
    </p:cViewPr>
  </p:notesTextViewPr>
  <p:notesViewPr>
    <p:cSldViewPr snapToGrid="0">
      <p:cViewPr varScale="1">
        <p:scale>
          <a:sx n="66" d="100"/>
          <a:sy n="66" d="100"/>
        </p:scale>
        <p:origin x="0" y="0"/>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63" Type="http://schemas.openxmlformats.org/officeDocument/2006/relationships/slide" Target="slides/slide57.xml"/><Relationship Id="rId84" Type="http://schemas.openxmlformats.org/officeDocument/2006/relationships/slide" Target="slides/slide78.xml"/><Relationship Id="rId138" Type="http://schemas.openxmlformats.org/officeDocument/2006/relationships/slide" Target="slides/slide132.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53" Type="http://schemas.openxmlformats.org/officeDocument/2006/relationships/slide" Target="slides/slide47.xml"/><Relationship Id="rId74" Type="http://schemas.openxmlformats.org/officeDocument/2006/relationships/slide" Target="slides/slide68.xml"/><Relationship Id="rId128" Type="http://schemas.openxmlformats.org/officeDocument/2006/relationships/slide" Target="slides/slide122.xml"/><Relationship Id="rId5" Type="http://schemas.openxmlformats.org/officeDocument/2006/relationships/slideMaster" Target="slideMasters/slideMaster2.xml"/><Relationship Id="rId90" Type="http://schemas.openxmlformats.org/officeDocument/2006/relationships/slide" Target="slides/slide84.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113" Type="http://schemas.openxmlformats.org/officeDocument/2006/relationships/slide" Target="slides/slide107.xml"/><Relationship Id="rId118" Type="http://schemas.openxmlformats.org/officeDocument/2006/relationships/slide" Target="slides/slide112.xml"/><Relationship Id="rId134" Type="http://schemas.openxmlformats.org/officeDocument/2006/relationships/slide" Target="slides/slide128.xml"/><Relationship Id="rId139" Type="http://schemas.openxmlformats.org/officeDocument/2006/relationships/slide" Target="slides/slide133.xml"/><Relationship Id="rId80" Type="http://schemas.openxmlformats.org/officeDocument/2006/relationships/slide" Target="slides/slide74.xml"/><Relationship Id="rId85" Type="http://schemas.openxmlformats.org/officeDocument/2006/relationships/slide" Target="slides/slide79.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08" Type="http://schemas.openxmlformats.org/officeDocument/2006/relationships/slide" Target="slides/slide102.xml"/><Relationship Id="rId124" Type="http://schemas.openxmlformats.org/officeDocument/2006/relationships/slide" Target="slides/slide118.xml"/><Relationship Id="rId129" Type="http://schemas.openxmlformats.org/officeDocument/2006/relationships/slide" Target="slides/slide123.xml"/><Relationship Id="rId54" Type="http://schemas.openxmlformats.org/officeDocument/2006/relationships/slide" Target="slides/slide48.xml"/><Relationship Id="rId70" Type="http://schemas.openxmlformats.org/officeDocument/2006/relationships/slide" Target="slides/slide64.xml"/><Relationship Id="rId75" Type="http://schemas.openxmlformats.org/officeDocument/2006/relationships/slide" Target="slides/slide69.xml"/><Relationship Id="rId91" Type="http://schemas.openxmlformats.org/officeDocument/2006/relationships/slide" Target="slides/slide85.xml"/><Relationship Id="rId96" Type="http://schemas.openxmlformats.org/officeDocument/2006/relationships/slide" Target="slides/slide90.xml"/><Relationship Id="rId140" Type="http://schemas.openxmlformats.org/officeDocument/2006/relationships/slide" Target="slides/slide134.xml"/><Relationship Id="rId145"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Master" Target="slideMasters/slideMaster3.xml"/><Relationship Id="rId23" Type="http://schemas.openxmlformats.org/officeDocument/2006/relationships/slide" Target="slides/slide17.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 Id="rId119" Type="http://schemas.openxmlformats.org/officeDocument/2006/relationships/slide" Target="slides/slide113.xml"/><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130" Type="http://schemas.openxmlformats.org/officeDocument/2006/relationships/slide" Target="slides/slide124.xml"/><Relationship Id="rId135" Type="http://schemas.openxmlformats.org/officeDocument/2006/relationships/slide" Target="slides/slide129.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slide" Target="slides/slide114.xml"/><Relationship Id="rId125" Type="http://schemas.openxmlformats.org/officeDocument/2006/relationships/slide" Target="slides/slide119.xml"/><Relationship Id="rId141" Type="http://schemas.openxmlformats.org/officeDocument/2006/relationships/notesMaster" Target="notesMasters/notesMaster1.xml"/><Relationship Id="rId146" Type="http://schemas.openxmlformats.org/officeDocument/2006/relationships/tableStyles" Target="tableStyles.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customXml" Target="../customXml/item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slide" Target="slides/slide109.xml"/><Relationship Id="rId131" Type="http://schemas.openxmlformats.org/officeDocument/2006/relationships/slide" Target="slides/slide125.xml"/><Relationship Id="rId136" Type="http://schemas.openxmlformats.org/officeDocument/2006/relationships/slide" Target="slides/slide130.xml"/><Relationship Id="rId61" Type="http://schemas.openxmlformats.org/officeDocument/2006/relationships/slide" Target="slides/slide55.xml"/><Relationship Id="rId82" Type="http://schemas.openxmlformats.org/officeDocument/2006/relationships/slide" Target="slides/slide7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126" Type="http://schemas.openxmlformats.org/officeDocument/2006/relationships/slide" Target="slides/slide120.xml"/><Relationship Id="rId147" Type="http://schemas.microsoft.com/office/2015/10/relationships/revisionInfo" Target="revisionInfo.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slide" Target="slides/slide115.xml"/><Relationship Id="rId142" Type="http://schemas.openxmlformats.org/officeDocument/2006/relationships/tags" Target="tags/tag1.xml"/><Relationship Id="rId3" Type="http://schemas.openxmlformats.org/officeDocument/2006/relationships/customXml" Target="../customXml/item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slide" Target="slides/slide110.xml"/><Relationship Id="rId137" Type="http://schemas.openxmlformats.org/officeDocument/2006/relationships/slide" Target="slides/slide131.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32" Type="http://schemas.openxmlformats.org/officeDocument/2006/relationships/slide" Target="slides/slide126.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27" Type="http://schemas.openxmlformats.org/officeDocument/2006/relationships/slide" Target="slides/slide121.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slide" Target="slides/slide116.xml"/><Relationship Id="rId143" Type="http://schemas.openxmlformats.org/officeDocument/2006/relationships/presProps" Target="presProps.xml"/><Relationship Id="rId148"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3.xml"/><Relationship Id="rId26" Type="http://schemas.openxmlformats.org/officeDocument/2006/relationships/slide" Target="slides/slide20.xml"/><Relationship Id="rId47" Type="http://schemas.openxmlformats.org/officeDocument/2006/relationships/slide" Target="slides/slide41.xml"/><Relationship Id="rId68" Type="http://schemas.openxmlformats.org/officeDocument/2006/relationships/slide" Target="slides/slide62.xml"/><Relationship Id="rId89" Type="http://schemas.openxmlformats.org/officeDocument/2006/relationships/slide" Target="slides/slide83.xml"/><Relationship Id="rId112" Type="http://schemas.openxmlformats.org/officeDocument/2006/relationships/slide" Target="slides/slide106.xml"/><Relationship Id="rId133" Type="http://schemas.openxmlformats.org/officeDocument/2006/relationships/slide" Target="slides/slide127.xml"/><Relationship Id="rId16" Type="http://schemas.openxmlformats.org/officeDocument/2006/relationships/slide" Target="slides/slide10.xml"/><Relationship Id="rId37" Type="http://schemas.openxmlformats.org/officeDocument/2006/relationships/slide" Target="slides/slide31.xml"/><Relationship Id="rId58" Type="http://schemas.openxmlformats.org/officeDocument/2006/relationships/slide" Target="slides/slide52.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slide" Target="slides/slide117.xml"/><Relationship Id="rId144" Type="http://schemas.openxmlformats.org/officeDocument/2006/relationships/viewProps" Target="viewProps.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Binary_Worksheet.xlsb"/></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Binary_Worksheet1.xlsb"/></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Binary_Worksheet2.xlsb"/></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Binary_Worksheet3.xlsb"/></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Binary_Worksheet4.xlsb"/></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Binary_Worksheet5.xlsb"/></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Binary_Worksheet6.xlsb"/></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Binary_Worksheet7.xlsb"/></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Binary_Worksheet8.xlsb"/></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Binary_Worksheet9.xlsb"/></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Binary_Worksheet10.xlsb"/></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Binary_Worksheet11.xlsb"/></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Binary_Worksheet12.xlsb"/></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Binary_Worksheet13.xlsb"/></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2.xml"/><Relationship Id="rId1" Type="http://schemas.microsoft.com/office/2011/relationships/chartStyle" Target="style2.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3.xml"/><Relationship Id="rId1" Type="http://schemas.microsoft.com/office/2011/relationships/chartStyle" Target="style3.xml"/></Relationships>
</file>

<file path=ppt/charts/_rels/chart18.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4.xml"/><Relationship Id="rId1" Type="http://schemas.microsoft.com/office/2011/relationships/chartStyle" Target="style4.xml"/><Relationship Id="rId5" Type="http://schemas.openxmlformats.org/officeDocument/2006/relationships/chartUserShapes" Target="../drawings/drawing1.xml"/><Relationship Id="rId4" Type="http://schemas.openxmlformats.org/officeDocument/2006/relationships/package" Target="../embeddings/Microsoft_Excel_Worksheet16.xlsx"/></Relationships>
</file>

<file path=ppt/charts/_rels/chart19.xml.rels><?xml version="1.0" encoding="UTF-8" standalone="yes"?>
<Relationships xmlns="http://schemas.openxmlformats.org/package/2006/relationships"><Relationship Id="rId3" Type="http://schemas.openxmlformats.org/officeDocument/2006/relationships/oleObject" Target="https://apcdeloitte-my.sharepoint.com/personal/sharathnair_deloitte_com/Documents/Desktop/New%20Microsoft%20Excel%20Worksheet%20(2).xlsx" TargetMode="External"/><Relationship Id="rId2" Type="http://schemas.microsoft.com/office/2011/relationships/chartColorStyle" Target="colors5.xml"/><Relationship Id="rId1" Type="http://schemas.microsoft.com/office/2011/relationships/chartStyle" Target="style5.xml"/></Relationships>
</file>

<file path=ppt/charts/_rels/chart20.xml.rels><?xml version="1.0" encoding="UTF-8" standalone="yes"?>
<Relationships xmlns="http://schemas.openxmlformats.org/package/2006/relationships"><Relationship Id="rId3" Type="http://schemas.openxmlformats.org/officeDocument/2006/relationships/oleObject" Target="../embeddings/oleObject53.bin"/><Relationship Id="rId2" Type="http://schemas.microsoft.com/office/2011/relationships/chartColorStyle" Target="colors6.xml"/><Relationship Id="rId1" Type="http://schemas.microsoft.com/office/2011/relationships/chartStyle" Target="style6.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7.xml"/><Relationship Id="rId1" Type="http://schemas.microsoft.com/office/2011/relationships/chartStyle" Target="style7.xml"/></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Binary_Worksheet18.xlsb"/></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Binary_Worksheet19.xlsb"/></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Binary_Worksheet20.xlsb"/></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Binary_Worksheet21.xlsb"/></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Binary_Worksheet22.xlsb"/></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chartUserShapes" Target="../drawings/drawing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Binary_Worksheet28.xlsb"/><Relationship Id="rId2" Type="http://schemas.microsoft.com/office/2011/relationships/chartColorStyle" Target="colors13.xml"/><Relationship Id="rId1" Type="http://schemas.microsoft.com/office/2011/relationships/chartStyle" Target="style13.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chartUserShapes" Target="../drawings/drawing3.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Binary_Worksheet34.xlsb"/></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19.xml"/><Relationship Id="rId1" Type="http://schemas.microsoft.com/office/2011/relationships/chartStyle" Target="style19.xml"/></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0.xml"/><Relationship Id="rId1" Type="http://schemas.microsoft.com/office/2011/relationships/chartStyle" Target="style20.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1.xml"/><Relationship Id="rId1" Type="http://schemas.microsoft.com/office/2011/relationships/chartStyle" Target="style21.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2.xml"/><Relationship Id="rId1" Type="http://schemas.microsoft.com/office/2011/relationships/chartStyle" Target="style22.xml"/></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Binary_Worksheet39.xlsb"/></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3.xml"/><Relationship Id="rId1" Type="http://schemas.microsoft.com/office/2011/relationships/chartStyle" Target="style23.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4.xml"/><Relationship Id="rId1" Type="http://schemas.microsoft.com/office/2011/relationships/chartStyle" Target="style24.xml"/><Relationship Id="rId4" Type="http://schemas.openxmlformats.org/officeDocument/2006/relationships/chartUserShapes" Target="../drawings/drawing4.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5.xml"/><Relationship Id="rId1" Type="http://schemas.microsoft.com/office/2011/relationships/chartStyle" Target="style25.xml"/><Relationship Id="rId4" Type="http://schemas.openxmlformats.org/officeDocument/2006/relationships/chartUserShapes" Target="../drawings/drawing5.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6.xml"/><Relationship Id="rId1" Type="http://schemas.microsoft.com/office/2011/relationships/chartStyle" Target="style26.xml"/><Relationship Id="rId4" Type="http://schemas.openxmlformats.org/officeDocument/2006/relationships/chartUserShapes" Target="../drawings/drawing6.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7.xml"/><Relationship Id="rId1" Type="http://schemas.microsoft.com/office/2011/relationships/chartStyle" Target="style27.xml"/><Relationship Id="rId4" Type="http://schemas.openxmlformats.org/officeDocument/2006/relationships/chartUserShapes" Target="../drawings/drawing7.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28.xml"/><Relationship Id="rId1" Type="http://schemas.microsoft.com/office/2011/relationships/chartStyle" Target="style28.xml"/><Relationship Id="rId4" Type="http://schemas.openxmlformats.org/officeDocument/2006/relationships/chartUserShapes" Target="../drawings/drawing8.xml"/></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29.xml"/><Relationship Id="rId1" Type="http://schemas.microsoft.com/office/2011/relationships/chartStyle" Target="style29.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0.xml"/><Relationship Id="rId1" Type="http://schemas.microsoft.com/office/2011/relationships/chartStyle" Target="style30.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1.xml"/><Relationship Id="rId1" Type="http://schemas.microsoft.com/office/2011/relationships/chartStyle" Target="style31.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2.xml"/><Relationship Id="rId1" Type="http://schemas.microsoft.com/office/2011/relationships/chartStyle" Target="style32.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3.xml"/><Relationship Id="rId1" Type="http://schemas.microsoft.com/office/2011/relationships/chartStyle" Target="style33.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4.xml"/><Relationship Id="rId1" Type="http://schemas.microsoft.com/office/2011/relationships/chartStyle" Target="style34.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5.xml"/><Relationship Id="rId1" Type="http://schemas.microsoft.com/office/2011/relationships/chartStyle" Target="style35.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6.xml"/><Relationship Id="rId1" Type="http://schemas.microsoft.com/office/2011/relationships/chartStyle" Target="style36.xml"/></Relationships>
</file>

<file path=ppt/charts/_rels/chart58.xml.rels><?xml version="1.0" encoding="UTF-8" standalone="yes"?>
<Relationships xmlns="http://schemas.openxmlformats.org/package/2006/relationships"><Relationship Id="rId2" Type="http://schemas.openxmlformats.org/officeDocument/2006/relationships/chartUserShapes" Target="../drawings/drawing9.xml"/><Relationship Id="rId1" Type="http://schemas.openxmlformats.org/officeDocument/2006/relationships/package" Target="../embeddings/Microsoft_Excel_Binary_Worksheet54.xlsb"/></Relationships>
</file>

<file path=ppt/charts/_rels/chart59.xml.rels><?xml version="1.0" encoding="UTF-8" standalone="yes"?>
<Relationships xmlns="http://schemas.openxmlformats.org/package/2006/relationships"><Relationship Id="rId2" Type="http://schemas.openxmlformats.org/officeDocument/2006/relationships/chartUserShapes" Target="../drawings/drawing10.xml"/><Relationship Id="rId1" Type="http://schemas.openxmlformats.org/officeDocument/2006/relationships/package" Target="../embeddings/Microsoft_Excel_Binary_Worksheet55.xlsb"/></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Binary_Worksheet56.xlsb"/></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Binary_Worksheet57.xlsb"/></Relationships>
</file>

<file path=ppt/charts/_rels/chart62.xml.rels><?xml version="1.0" encoding="UTF-8" standalone="yes"?>
<Relationships xmlns="http://schemas.openxmlformats.org/package/2006/relationships"><Relationship Id="rId3" Type="http://schemas.openxmlformats.org/officeDocument/2006/relationships/oleObject" Target="https://indeloitte-my.sharepoint.com/personal/sharathnair_deloitte_com/Documents/Desktop/Export_Import.xlsx" TargetMode="External"/><Relationship Id="rId2" Type="http://schemas.microsoft.com/office/2011/relationships/chartColorStyle" Target="colors37.xml"/><Relationship Id="rId1" Type="http://schemas.microsoft.com/office/2011/relationships/chartStyle" Target="style37.xml"/></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Binary_Worksheet58.xlsb"/></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Binary_Worksheet59.xlsb"/></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38.xml"/><Relationship Id="rId1" Type="http://schemas.microsoft.com/office/2011/relationships/chartStyle" Target="style38.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39.xml"/><Relationship Id="rId1" Type="http://schemas.microsoft.com/office/2011/relationships/chartStyle" Target="style39.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0.xml"/><Relationship Id="rId1" Type="http://schemas.microsoft.com/office/2011/relationships/chartStyle" Target="style40.xml"/></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Binary_Worksheet63.xlsb"/></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Binary_Worksheet64.xlsb"/></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Binary_Worksheet65.xlsb"/></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Binary_Worksheet66.xlsb"/></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2944718117131912E-2"/>
          <c:y val="0.10582010582010581"/>
          <c:w val="0.89230979748221129"/>
          <c:h val="0.82580382580382583"/>
        </c:manualLayout>
      </c:layout>
      <c:barChart>
        <c:barDir val="col"/>
        <c:grouping val="stacked"/>
        <c:varyColors val="0"/>
        <c:ser>
          <c:idx val="0"/>
          <c:order val="0"/>
          <c:spPr>
            <a:solidFill>
              <a:srgbClr val="86BC25"/>
            </a:solidFill>
            <a:ln>
              <a:noFill/>
            </a:ln>
          </c:spPr>
          <c:invertIfNegative val="0"/>
          <c:dLbls>
            <c:dLbl>
              <c:idx val="0"/>
              <c:layout>
                <c:manualLayout>
                  <c:x val="0"/>
                  <c:y val="-4.0700040700040698E-4"/>
                </c:manualLayout>
              </c:layout>
              <c:numFmt formatCode="#,##0;&quot;-&quot;#,##0" sourceLinked="0"/>
              <c:spPr>
                <a:noFill/>
                <a:ln>
                  <a:noFill/>
                </a:ln>
              </c:spPr>
              <c:txPr>
                <a:bodyPr wrap="none"/>
                <a:lstStyle/>
                <a:p>
                  <a:pPr>
                    <a:defRPr lang="ja-JP" sz="12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490-4332-95A9-BB1E1D66EF9A}"/>
                </c:ext>
              </c:extLst>
            </c:dLbl>
            <c:dLbl>
              <c:idx val="1"/>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490-4332-95A9-BB1E1D66EF9A}"/>
                </c:ext>
              </c:extLst>
            </c:dLbl>
            <c:dLbl>
              <c:idx val="2"/>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490-4332-95A9-BB1E1D66EF9A}"/>
                </c:ext>
              </c:extLst>
            </c:dLbl>
            <c:dLbl>
              <c:idx val="3"/>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7490-4332-95A9-BB1E1D66EF9A}"/>
                </c:ext>
              </c:extLst>
            </c:dLbl>
            <c:dLbl>
              <c:idx val="4"/>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490-4332-95A9-BB1E1D66EF9A}"/>
                </c:ext>
              </c:extLst>
            </c:dLbl>
            <c:dLbl>
              <c:idx val="5"/>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490-4332-95A9-BB1E1D66EF9A}"/>
                </c:ext>
              </c:extLst>
            </c:dLbl>
            <c:dLbl>
              <c:idx val="6"/>
              <c:layout>
                <c:manualLayout>
                  <c:x val="0"/>
                  <c:y val="-4.0700040700040698E-4"/>
                </c:manualLayout>
              </c:layout>
              <c:numFmt formatCode="#,##0;&quot;-&quot;#,##0" sourceLinked="0"/>
              <c:spPr>
                <a:noFill/>
                <a:ln>
                  <a:noFill/>
                </a:ln>
              </c:spPr>
              <c:txPr>
                <a:bodyPr wrap="none"/>
                <a:lstStyle/>
                <a:p>
                  <a:pPr>
                    <a:defRPr lang="ja-JP" sz="12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7490-4332-95A9-BB1E1D66EF9A}"/>
                </c:ext>
              </c:extLst>
            </c:dLbl>
            <c:dLbl>
              <c:idx val="7"/>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7490-4332-95A9-BB1E1D66EF9A}"/>
                </c:ext>
              </c:extLst>
            </c:dLbl>
            <c:dLbl>
              <c:idx val="8"/>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7490-4332-95A9-BB1E1D66EF9A}"/>
                </c:ext>
              </c:extLst>
            </c:dLbl>
            <c:dLbl>
              <c:idx val="9"/>
              <c:layout>
                <c:manualLayout>
                  <c:x val="0"/>
                  <c:y val="-4.0700040700040698E-4"/>
                </c:manualLayout>
              </c:layout>
              <c:numFmt formatCode="#,##0;&quot;-&quot;#,##0" sourceLinked="0"/>
              <c:spPr>
                <a:noFill/>
                <a:ln>
                  <a:noFill/>
                </a:ln>
              </c:spPr>
              <c:txPr>
                <a:bodyPr wrap="none"/>
                <a:lstStyle/>
                <a:p>
                  <a:pPr>
                    <a:defRPr lang="ja-JP" sz="12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7490-4332-95A9-BB1E1D66EF9A}"/>
                </c:ext>
              </c:extLst>
            </c:dLbl>
            <c:dLbl>
              <c:idx val="10"/>
              <c:layout>
                <c:manualLayout>
                  <c:x val="0"/>
                  <c:y val="-4.0700040700040698E-4"/>
                </c:manualLayout>
              </c:layout>
              <c:numFmt formatCode="#,##0;&quot;-&quot;#,##0" sourceLinked="0"/>
              <c:spPr>
                <a:noFill/>
                <a:ln>
                  <a:noFill/>
                </a:ln>
              </c:spPr>
              <c:txPr>
                <a:bodyPr wrap="none"/>
                <a:lstStyle/>
                <a:p>
                  <a:pPr>
                    <a:defRPr lang="ja-JP" sz="12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7490-4332-95A9-BB1E1D66EF9A}"/>
                </c:ext>
              </c:extLst>
            </c:dLbl>
            <c:dLbl>
              <c:idx val="11"/>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7490-4332-95A9-BB1E1D66EF9A}"/>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Sheet1!$A$1:$L$1</c:f>
              <c:numCache>
                <c:formatCode>#,##0;"-"#,##0</c:formatCode>
                <c:ptCount val="12"/>
                <c:pt idx="0">
                  <c:v>28578.157999999999</c:v>
                </c:pt>
                <c:pt idx="1">
                  <c:v>49496.959000000003</c:v>
                </c:pt>
                <c:pt idx="2">
                  <c:v>51093.635999999999</c:v>
                </c:pt>
                <c:pt idx="3">
                  <c:v>49496.959999999992</c:v>
                </c:pt>
                <c:pt idx="4">
                  <c:v>49496.959999999992</c:v>
                </c:pt>
                <c:pt idx="5">
                  <c:v>49496.959999999992</c:v>
                </c:pt>
                <c:pt idx="6">
                  <c:v>40399.476999999999</c:v>
                </c:pt>
                <c:pt idx="7">
                  <c:v>22278.666000000001</c:v>
                </c:pt>
                <c:pt idx="8">
                  <c:v>16844.133999999998</c:v>
                </c:pt>
                <c:pt idx="9">
                  <c:v>13523.834999999999</c:v>
                </c:pt>
                <c:pt idx="10">
                  <c:v>13983.608</c:v>
                </c:pt>
                <c:pt idx="11">
                  <c:v>16399.433000000001</c:v>
                </c:pt>
              </c:numCache>
            </c:numRef>
          </c:val>
          <c:extLst>
            <c:ext xmlns:c16="http://schemas.microsoft.com/office/drawing/2014/chart" uri="{C3380CC4-5D6E-409C-BE32-E72D297353CC}">
              <c16:uniqueId val="{0000000C-7490-4332-95A9-BB1E1D66EF9A}"/>
            </c:ext>
          </c:extLst>
        </c:ser>
        <c:ser>
          <c:idx val="1"/>
          <c:order val="1"/>
          <c:spPr>
            <a:solidFill>
              <a:srgbClr val="012169"/>
            </a:solidFill>
            <a:ln>
              <a:noFill/>
            </a:ln>
          </c:spPr>
          <c:invertIfNegative val="0"/>
          <c:dLbls>
            <c:dLbl>
              <c:idx val="1"/>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7490-4332-95A9-BB1E1D66EF9A}"/>
                </c:ext>
              </c:extLst>
            </c:dLbl>
            <c:dLbl>
              <c:idx val="2"/>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7490-4332-95A9-BB1E1D66EF9A}"/>
                </c:ext>
              </c:extLst>
            </c:dLbl>
            <c:dLbl>
              <c:idx val="3"/>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7490-4332-95A9-BB1E1D66EF9A}"/>
                </c:ext>
              </c:extLst>
            </c:dLbl>
            <c:dLbl>
              <c:idx val="4"/>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7490-4332-95A9-BB1E1D66EF9A}"/>
                </c:ext>
              </c:extLst>
            </c:dLbl>
            <c:dLbl>
              <c:idx val="5"/>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7490-4332-95A9-BB1E1D66EF9A}"/>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Sheet1!$A$2:$L$2</c:f>
              <c:numCache>
                <c:formatCode>#,##0;"-"#,##0</c:formatCode>
                <c:ptCount val="12"/>
                <c:pt idx="1">
                  <c:v>11807.917999999998</c:v>
                </c:pt>
                <c:pt idx="2">
                  <c:v>21897.084000000003</c:v>
                </c:pt>
                <c:pt idx="3">
                  <c:v>21212.800000000003</c:v>
                </c:pt>
                <c:pt idx="4">
                  <c:v>21212.800000000003</c:v>
                </c:pt>
                <c:pt idx="5">
                  <c:v>21212.800000000003</c:v>
                </c:pt>
              </c:numCache>
            </c:numRef>
          </c:val>
          <c:extLst>
            <c:ext xmlns:c16="http://schemas.microsoft.com/office/drawing/2014/chart" uri="{C3380CC4-5D6E-409C-BE32-E72D297353CC}">
              <c16:uniqueId val="{00000012-7490-4332-95A9-BB1E1D66EF9A}"/>
            </c:ext>
          </c:extLst>
        </c:ser>
        <c:dLbls>
          <c:showLegendKey val="0"/>
          <c:showVal val="0"/>
          <c:showCatName val="0"/>
          <c:showSerName val="0"/>
          <c:showPercent val="0"/>
          <c:showBubbleSize val="0"/>
        </c:dLbls>
        <c:gapWidth val="50"/>
        <c:overlap val="100"/>
        <c:axId val="1738713072"/>
        <c:axId val="1"/>
      </c:barChart>
      <c:lineChart>
        <c:grouping val="standard"/>
        <c:varyColors val="0"/>
        <c:ser>
          <c:idx val="2"/>
          <c:order val="2"/>
          <c:spPr>
            <a:ln w="28575" cmpd="sng" algn="ctr">
              <a:solidFill>
                <a:srgbClr val="009A44"/>
              </a:solidFill>
              <a:prstDash val="solid"/>
            </a:ln>
          </c:spPr>
          <c:marker>
            <c:symbol val="none"/>
          </c:marker>
          <c:dLbls>
            <c:dLbl>
              <c:idx val="1"/>
              <c:layout>
                <c:manualLayout>
                  <c:x val="0"/>
                  <c:y val="-3.7851037851037848E-2"/>
                </c:manualLayout>
              </c:layout>
              <c:numFmt formatCode="#,##0;&quot;-&quot;#,##0" sourceLinked="0"/>
              <c:spPr>
                <a:noFill/>
                <a:ln>
                  <a:noFill/>
                </a:ln>
              </c:spPr>
              <c:txPr>
                <a:bodyPr wrap="none"/>
                <a:lstStyle/>
                <a:p>
                  <a:pPr>
                    <a:defRPr lang="ja-JP" sz="1200" b="1" kern="1200">
                      <a:solidFill>
                        <a:srgbClr val="009A44"/>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7490-4332-95A9-BB1E1D66EF9A}"/>
                </c:ext>
              </c:extLst>
            </c:dLbl>
            <c:dLbl>
              <c:idx val="2"/>
              <c:layout>
                <c:manualLayout>
                  <c:x val="0"/>
                  <c:y val="-3.7851037851037848E-2"/>
                </c:manualLayout>
              </c:layout>
              <c:numFmt formatCode="#,##0;&quot;-&quot;#,##0" sourceLinked="0"/>
              <c:spPr>
                <a:noFill/>
                <a:ln>
                  <a:noFill/>
                </a:ln>
              </c:spPr>
              <c:txPr>
                <a:bodyPr wrap="none"/>
                <a:lstStyle/>
                <a:p>
                  <a:pPr>
                    <a:defRPr lang="ja-JP" sz="1200" b="1" kern="1200">
                      <a:solidFill>
                        <a:srgbClr val="009A44"/>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7490-4332-95A9-BB1E1D66EF9A}"/>
                </c:ext>
              </c:extLst>
            </c:dLbl>
            <c:dLbl>
              <c:idx val="3"/>
              <c:layout>
                <c:manualLayout>
                  <c:x val="0"/>
                  <c:y val="-3.7851037851037848E-2"/>
                </c:manualLayout>
              </c:layout>
              <c:numFmt formatCode="#,##0;&quot;-&quot;#,##0" sourceLinked="0"/>
              <c:spPr>
                <a:noFill/>
                <a:ln>
                  <a:noFill/>
                </a:ln>
              </c:spPr>
              <c:txPr>
                <a:bodyPr wrap="none"/>
                <a:lstStyle/>
                <a:p>
                  <a:pPr>
                    <a:defRPr lang="ja-JP" sz="1200" b="1" kern="1200">
                      <a:solidFill>
                        <a:srgbClr val="009A44"/>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5-7490-4332-95A9-BB1E1D66EF9A}"/>
                </c:ext>
              </c:extLst>
            </c:dLbl>
            <c:dLbl>
              <c:idx val="4"/>
              <c:layout>
                <c:manualLayout>
                  <c:x val="0"/>
                  <c:y val="-3.7851037851037848E-2"/>
                </c:manualLayout>
              </c:layout>
              <c:numFmt formatCode="#,##0;&quot;-&quot;#,##0" sourceLinked="0"/>
              <c:spPr>
                <a:noFill/>
                <a:ln>
                  <a:noFill/>
                </a:ln>
              </c:spPr>
              <c:txPr>
                <a:bodyPr wrap="none"/>
                <a:lstStyle/>
                <a:p>
                  <a:pPr>
                    <a:defRPr lang="ja-JP" sz="1200" b="1" kern="1200">
                      <a:solidFill>
                        <a:srgbClr val="009A44"/>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7490-4332-95A9-BB1E1D66EF9A}"/>
                </c:ext>
              </c:extLst>
            </c:dLbl>
            <c:dLbl>
              <c:idx val="5"/>
              <c:layout>
                <c:manualLayout>
                  <c:x val="0"/>
                  <c:y val="-3.7851037851037848E-2"/>
                </c:manualLayout>
              </c:layout>
              <c:numFmt formatCode="#,##0;&quot;-&quot;#,##0" sourceLinked="0"/>
              <c:spPr>
                <a:noFill/>
                <a:ln>
                  <a:noFill/>
                </a:ln>
              </c:spPr>
              <c:txPr>
                <a:bodyPr wrap="none"/>
                <a:lstStyle/>
                <a:p>
                  <a:pPr>
                    <a:defRPr lang="ja-JP" sz="1200" b="1" kern="1200">
                      <a:solidFill>
                        <a:srgbClr val="009A44"/>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7-7490-4332-95A9-BB1E1D66EF9A}"/>
                </c:ext>
              </c:extLst>
            </c:dLbl>
            <c:dLbl>
              <c:idx val="8"/>
              <c:layout>
                <c:manualLayout>
                  <c:x val="0"/>
                  <c:y val="-3.7851037851037848E-2"/>
                </c:manualLayout>
              </c:layout>
              <c:numFmt formatCode="#,##0;&quot;-&quot;#,##0" sourceLinked="0"/>
              <c:spPr>
                <a:noFill/>
                <a:ln>
                  <a:noFill/>
                </a:ln>
              </c:spPr>
              <c:txPr>
                <a:bodyPr wrap="none"/>
                <a:lstStyle/>
                <a:p>
                  <a:pPr>
                    <a:defRPr lang="ja-JP" sz="1200" b="1" kern="1200">
                      <a:solidFill>
                        <a:srgbClr val="009A44"/>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8-7490-4332-95A9-BB1E1D66EF9A}"/>
                </c:ext>
              </c:extLst>
            </c:dLbl>
            <c:dLbl>
              <c:idx val="9"/>
              <c:layout>
                <c:manualLayout>
                  <c:x val="0"/>
                  <c:y val="-3.7851037851037848E-2"/>
                </c:manualLayout>
              </c:layout>
              <c:numFmt formatCode="#,##0;&quot;-&quot;#,##0" sourceLinked="0"/>
              <c:spPr>
                <a:noFill/>
                <a:ln>
                  <a:noFill/>
                </a:ln>
              </c:spPr>
              <c:txPr>
                <a:bodyPr wrap="none"/>
                <a:lstStyle/>
                <a:p>
                  <a:pPr>
                    <a:defRPr lang="ja-JP" sz="1200" b="1" kern="1200">
                      <a:solidFill>
                        <a:srgbClr val="009A44"/>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9-7490-4332-95A9-BB1E1D66EF9A}"/>
                </c:ext>
              </c:extLst>
            </c:dLbl>
            <c:dLbl>
              <c:idx val="10"/>
              <c:layout>
                <c:manualLayout>
                  <c:x val="0"/>
                  <c:y val="-3.7851037851037848E-2"/>
                </c:manualLayout>
              </c:layout>
              <c:numFmt formatCode="#,##0;&quot;-&quot;#,##0" sourceLinked="0"/>
              <c:spPr>
                <a:noFill/>
                <a:ln>
                  <a:noFill/>
                </a:ln>
              </c:spPr>
              <c:txPr>
                <a:bodyPr wrap="none"/>
                <a:lstStyle/>
                <a:p>
                  <a:pPr>
                    <a:defRPr lang="ja-JP" sz="1200" b="1" kern="1200">
                      <a:solidFill>
                        <a:srgbClr val="009A44"/>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7490-4332-95A9-BB1E1D66EF9A}"/>
                </c:ext>
              </c:extLst>
            </c:dLbl>
            <c:dLbl>
              <c:idx val="11"/>
              <c:layout>
                <c:manualLayout>
                  <c:x val="0"/>
                  <c:y val="-3.7851037851037848E-2"/>
                </c:manualLayout>
              </c:layout>
              <c:numFmt formatCode="#,##0;&quot;-&quot;#,##0" sourceLinked="0"/>
              <c:spPr>
                <a:noFill/>
                <a:ln>
                  <a:noFill/>
                </a:ln>
              </c:spPr>
              <c:txPr>
                <a:bodyPr wrap="none"/>
                <a:lstStyle/>
                <a:p>
                  <a:pPr>
                    <a:defRPr lang="ja-JP" sz="1200" b="1" kern="1200">
                      <a:solidFill>
                        <a:srgbClr val="009A44"/>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B-7490-4332-95A9-BB1E1D66EF9A}"/>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Sheet1!$A$3:$L$3</c:f>
              <c:numCache>
                <c:formatCode>#,##0;"-"#,##0</c:formatCode>
                <c:ptCount val="12"/>
                <c:pt idx="0" formatCode="General">
                  <c:v>40.415999999999997</c:v>
                </c:pt>
                <c:pt idx="1">
                  <c:v>86.698999999999998</c:v>
                </c:pt>
                <c:pt idx="2">
                  <c:v>100</c:v>
                </c:pt>
                <c:pt idx="3">
                  <c:v>100</c:v>
                </c:pt>
                <c:pt idx="4">
                  <c:v>100</c:v>
                </c:pt>
                <c:pt idx="5">
                  <c:v>100</c:v>
                </c:pt>
                <c:pt idx="6" formatCode="General">
                  <c:v>59.039000000000001</c:v>
                </c:pt>
                <c:pt idx="7" formatCode="General">
                  <c:v>33.68</c:v>
                </c:pt>
                <c:pt idx="8">
                  <c:v>24.616</c:v>
                </c:pt>
                <c:pt idx="9">
                  <c:v>20.445</c:v>
                </c:pt>
                <c:pt idx="10">
                  <c:v>20.434999999999999</c:v>
                </c:pt>
                <c:pt idx="11">
                  <c:v>23.995999999999999</c:v>
                </c:pt>
              </c:numCache>
            </c:numRef>
          </c:val>
          <c:smooth val="0"/>
          <c:extLst>
            <c:ext xmlns:c16="http://schemas.microsoft.com/office/drawing/2014/chart" uri="{C3380CC4-5D6E-409C-BE32-E72D297353CC}">
              <c16:uniqueId val="{0000001C-7490-4332-95A9-BB1E1D66EF9A}"/>
            </c:ext>
          </c:extLst>
        </c:ser>
        <c:dLbls>
          <c:showLegendKey val="0"/>
          <c:showVal val="0"/>
          <c:showCatName val="0"/>
          <c:showSerName val="0"/>
          <c:showPercent val="0"/>
          <c:showBubbleSize val="0"/>
        </c:dLbls>
        <c:marker val="1"/>
        <c:smooth val="0"/>
        <c:axId val="2"/>
        <c:axId val="3"/>
      </c:lineChart>
      <c:catAx>
        <c:axId val="1738713072"/>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200" kern="1200">
                <a:latin typeface="Arial"/>
                <a:ea typeface="Arial"/>
                <a:cs typeface="Arial"/>
                <a:sym typeface="Arial"/>
              </a:defRPr>
            </a:pPr>
            <a:endParaRPr lang="en-US"/>
          </a:p>
        </c:txPr>
        <c:crossAx val="1"/>
        <c:crosses val="min"/>
        <c:auto val="0"/>
        <c:lblAlgn val="ctr"/>
        <c:lblOffset val="100"/>
        <c:noMultiLvlLbl val="0"/>
      </c:catAx>
      <c:valAx>
        <c:axId val="1"/>
        <c:scaling>
          <c:orientation val="minMax"/>
          <c:max val="800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lang="ja-JP" sz="1200" kern="1200">
                <a:solidFill>
                  <a:schemeClr val="tx1"/>
                </a:solidFill>
                <a:latin typeface="Arial"/>
                <a:ea typeface="Arial"/>
                <a:cs typeface="Arial"/>
                <a:sym typeface="Arial"/>
              </a:defRPr>
            </a:pPr>
            <a:endParaRPr lang="en-US"/>
          </a:p>
        </c:txPr>
        <c:crossAx val="1738713072"/>
        <c:crosses val="min"/>
        <c:crossBetween val="between"/>
        <c:majorUnit val="10000"/>
      </c:valAx>
      <c:catAx>
        <c:axId val="2"/>
        <c:scaling>
          <c:orientation val="minMax"/>
        </c:scaling>
        <c:delete val="1"/>
        <c:axPos val="b"/>
        <c:majorGridlines>
          <c:spPr>
            <a:ln>
              <a:noFill/>
            </a:ln>
          </c:spPr>
        </c:majorGridlines>
        <c:majorTickMark val="out"/>
        <c:minorTickMark val="none"/>
        <c:tickLblPos val="none"/>
        <c:crossAx val="3"/>
        <c:crosses val="min"/>
        <c:auto val="0"/>
        <c:lblAlgn val="ctr"/>
        <c:lblOffset val="100"/>
        <c:noMultiLvlLbl val="0"/>
      </c:catAx>
      <c:valAx>
        <c:axId val="3"/>
        <c:scaling>
          <c:orientation val="minMax"/>
          <c:max val="100"/>
          <c:min val="0"/>
        </c:scaling>
        <c:delete val="0"/>
        <c:axPos val="r"/>
        <c:majorGridlines>
          <c:spPr>
            <a:ln>
              <a:noFill/>
            </a:ln>
          </c:spPr>
        </c:majorGridlines>
        <c:numFmt formatCode="#,##0;&quot;-&quot;#,##0" sourceLinked="0"/>
        <c:majorTickMark val="none"/>
        <c:minorTickMark val="none"/>
        <c:tickLblPos val="nextTo"/>
        <c:spPr>
          <a:ln w="9525" cmpd="sng" algn="ctr">
            <a:solidFill>
              <a:schemeClr val="tx1"/>
            </a:solidFill>
            <a:prstDash val="solid"/>
          </a:ln>
        </c:spPr>
        <c:txPr>
          <a:bodyPr wrap="none"/>
          <a:lstStyle/>
          <a:p>
            <a:pPr>
              <a:defRPr lang="ja-JP" sz="1200" kern="1200">
                <a:solidFill>
                  <a:schemeClr val="tx1"/>
                </a:solidFill>
                <a:latin typeface="Arial"/>
                <a:ea typeface="+mn-ea"/>
                <a:cs typeface="+mn-cs"/>
                <a:sym typeface="Arial"/>
              </a:defRPr>
            </a:pPr>
            <a:endParaRPr lang="en-US"/>
          </a:p>
        </c:txPr>
        <c:crossAx val="2"/>
        <c:crosses val="max"/>
        <c:crossBetween val="between"/>
        <c:majorUnit val="10"/>
      </c:valAx>
    </c:plotArea>
    <c:plotVisOnly val="0"/>
    <c:dispBlanksAs val="gap"/>
    <c:showDLblsOverMax val="1"/>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8856825749167592E-2"/>
          <c:y val="0.2978723404255319"/>
          <c:w val="0.94228634850166482"/>
          <c:h val="0.40425531914893614"/>
        </c:manualLayout>
      </c:layout>
      <c:barChart>
        <c:barDir val="bar"/>
        <c:grouping val="stacked"/>
        <c:varyColors val="0"/>
        <c:ser>
          <c:idx val="0"/>
          <c:order val="0"/>
          <c:spPr>
            <a:solidFill>
              <a:srgbClr val="012169"/>
            </a:solidFill>
            <a:ln>
              <a:noFill/>
            </a:ln>
          </c:spPr>
          <c:invertIfNegative val="0"/>
          <c:dLbls>
            <c:dLbl>
              <c:idx val="0"/>
              <c:layout>
                <c:manualLayout>
                  <c:x val="-5.5493895671476139E-4"/>
                  <c:y val="0"/>
                </c:manualLayout>
              </c:layout>
              <c:numFmt formatCode="#,##0;&quot;-&quot;#,##0" sourceLinked="0"/>
              <c:spPr>
                <a:noFill/>
                <a:ln>
                  <a:noFill/>
                </a:ln>
              </c:spPr>
              <c:txPr>
                <a:bodyPr/>
                <a:lstStyle/>
                <a:p>
                  <a:pPr>
                    <a:defRPr>
                      <a:solidFill>
                        <a:schemeClr val="bg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D57D-4CA3-BE3F-735A1617BEC8}"/>
                </c:ext>
              </c:extLst>
            </c:dLbl>
            <c:spPr>
              <a:noFill/>
              <a:ln>
                <a:noFill/>
              </a:ln>
              <a:effectLst/>
            </c:spPr>
            <c:txPr>
              <a:bodyPr/>
              <a:lstStyle/>
              <a:p>
                <a:pPr>
                  <a:defRPr>
                    <a:solidFill>
                      <a:schemeClr val="bg1"/>
                    </a:solidFill>
                  </a:defRPr>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51.4</c:v>
                </c:pt>
              </c:numCache>
            </c:numRef>
          </c:val>
          <c:extLst>
            <c:ext xmlns:c16="http://schemas.microsoft.com/office/drawing/2014/chart" uri="{C3380CC4-5D6E-409C-BE32-E72D297353CC}">
              <c16:uniqueId val="{00000001-D57D-4CA3-BE3F-735A1617BEC8}"/>
            </c:ext>
          </c:extLst>
        </c:ser>
        <c:ser>
          <c:idx val="1"/>
          <c:order val="1"/>
          <c:spPr>
            <a:solidFill>
              <a:srgbClr val="A0DCFF"/>
            </a:solidFill>
            <a:ln>
              <a:noFill/>
            </a:ln>
          </c:spPr>
          <c:invertIfNegative val="0"/>
          <c:dLbls>
            <c:dLbl>
              <c:idx val="0"/>
              <c:layout>
                <c:manualLayout>
                  <c:x val="-5.5493895671476139E-4"/>
                  <c:y val="0"/>
                </c:manualLayout>
              </c:layout>
              <c:numFmt formatCode="#,##0;&quot;-&quot;#,##0" sourceLinked="0"/>
              <c:spPr>
                <a:noFill/>
                <a:ln>
                  <a:noFill/>
                </a:ln>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D57D-4CA3-BE3F-735A1617BEC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25.6</c:v>
                </c:pt>
              </c:numCache>
            </c:numRef>
          </c:val>
          <c:extLst>
            <c:ext xmlns:c16="http://schemas.microsoft.com/office/drawing/2014/chart" uri="{C3380CC4-5D6E-409C-BE32-E72D297353CC}">
              <c16:uniqueId val="{00000003-D57D-4CA3-BE3F-735A1617BEC8}"/>
            </c:ext>
          </c:extLst>
        </c:ser>
        <c:dLbls>
          <c:showLegendKey val="0"/>
          <c:showVal val="0"/>
          <c:showCatName val="0"/>
          <c:showSerName val="0"/>
          <c:showPercent val="0"/>
          <c:showBubbleSize val="0"/>
        </c:dLbls>
        <c:gapWidth val="80"/>
        <c:overlap val="100"/>
        <c:axId val="1414013680"/>
        <c:axId val="1"/>
      </c:barChart>
      <c:catAx>
        <c:axId val="1414013680"/>
        <c:scaling>
          <c:orientation val="maxMin"/>
        </c:scaling>
        <c:delete val="0"/>
        <c:axPos val="l"/>
        <c:majorGridlines>
          <c:spPr>
            <a:ln>
              <a:noFill/>
            </a:ln>
          </c:spPr>
        </c:majorGridlines>
        <c:majorTickMark val="out"/>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7"/>
          <c:min val="0"/>
        </c:scaling>
        <c:delete val="1"/>
        <c:axPos val="b"/>
        <c:numFmt formatCode="General" sourceLinked="1"/>
        <c:majorTickMark val="out"/>
        <c:minorTickMark val="none"/>
        <c:tickLblPos val="nextTo"/>
        <c:crossAx val="1414013680"/>
        <c:crosses val="max"/>
        <c:crossBetween val="between"/>
      </c:valAx>
    </c:plotArea>
    <c:plotVisOnly val="0"/>
    <c:dispBlanksAs val="gap"/>
    <c:showDLblsOverMax val="1"/>
  </c:chart>
  <c:txPr>
    <a:bodyPr/>
    <a:lstStyle/>
    <a:p>
      <a:pPr>
        <a:defRPr sz="1200">
          <a:latin typeface="Arial" panose="020B0604020202020204" pitchFamily="34" charset="0"/>
          <a:cs typeface="Arial" panose="020B0604020202020204" pitchFamily="34" charset="0"/>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8540065861690452E-2"/>
          <c:y val="0.2978723404255319"/>
          <c:w val="0.94291986827661911"/>
          <c:h val="0.40425531914893614"/>
        </c:manualLayout>
      </c:layout>
      <c:barChart>
        <c:barDir val="bar"/>
        <c:grouping val="stacked"/>
        <c:varyColors val="0"/>
        <c:ser>
          <c:idx val="0"/>
          <c:order val="0"/>
          <c:spPr>
            <a:solidFill>
              <a:srgbClr val="012169"/>
            </a:solidFill>
            <a:ln>
              <a:noFill/>
            </a:ln>
          </c:spPr>
          <c:invertIfNegative val="0"/>
          <c:dLbls>
            <c:dLbl>
              <c:idx val="0"/>
              <c:layout>
                <c:manualLayout>
                  <c:x val="0"/>
                  <c:y val="0"/>
                </c:manualLayout>
              </c:layout>
              <c:numFmt formatCode="#,##0;&quot;-&quot;#,##0" sourceLinked="0"/>
              <c:spPr>
                <a:noFill/>
                <a:ln>
                  <a:noFill/>
                </a:ln>
              </c:spPr>
              <c:txPr>
                <a:bodyPr/>
                <a:lstStyle/>
                <a:p>
                  <a:pPr>
                    <a:defRPr>
                      <a:solidFill>
                        <a:schemeClr val="bg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263-479F-B3DB-F4A90450EBF7}"/>
                </c:ext>
              </c:extLst>
            </c:dLbl>
            <c:spPr>
              <a:noFill/>
              <a:ln>
                <a:noFill/>
              </a:ln>
              <a:effectLst/>
            </c:spPr>
            <c:txPr>
              <a:bodyPr/>
              <a:lstStyle/>
              <a:p>
                <a:pPr>
                  <a:defRPr>
                    <a:solidFill>
                      <a:schemeClr val="bg1"/>
                    </a:solidFill>
                  </a:defRPr>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33.4</c:v>
                </c:pt>
              </c:numCache>
            </c:numRef>
          </c:val>
          <c:extLst>
            <c:ext xmlns:c16="http://schemas.microsoft.com/office/drawing/2014/chart" uri="{C3380CC4-5D6E-409C-BE32-E72D297353CC}">
              <c16:uniqueId val="{00000001-4263-479F-B3DB-F4A90450EBF7}"/>
            </c:ext>
          </c:extLst>
        </c:ser>
        <c:ser>
          <c:idx val="1"/>
          <c:order val="1"/>
          <c:spPr>
            <a:solidFill>
              <a:srgbClr val="A0DCFF"/>
            </a:solidFill>
            <a:ln>
              <a:noFill/>
            </a:ln>
          </c:spPr>
          <c:invertIfNegative val="0"/>
          <c:dLbls>
            <c:dLbl>
              <c:idx val="0"/>
              <c:layout>
                <c:manualLayout>
                  <c:x val="0"/>
                  <c:y val="0"/>
                </c:manualLayout>
              </c:layout>
              <c:numFmt formatCode="#,##0;&quot;-&quot;#,##0" sourceLinked="0"/>
              <c:spPr>
                <a:noFill/>
                <a:ln>
                  <a:noFill/>
                </a:ln>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263-479F-B3DB-F4A90450EBF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19.199999999999996</c:v>
                </c:pt>
              </c:numCache>
            </c:numRef>
          </c:val>
          <c:extLst>
            <c:ext xmlns:c16="http://schemas.microsoft.com/office/drawing/2014/chart" uri="{C3380CC4-5D6E-409C-BE32-E72D297353CC}">
              <c16:uniqueId val="{00000003-4263-479F-B3DB-F4A90450EBF7}"/>
            </c:ext>
          </c:extLst>
        </c:ser>
        <c:dLbls>
          <c:showLegendKey val="0"/>
          <c:showVal val="0"/>
          <c:showCatName val="0"/>
          <c:showSerName val="0"/>
          <c:showPercent val="0"/>
          <c:showBubbleSize val="0"/>
        </c:dLbls>
        <c:gapWidth val="80"/>
        <c:overlap val="100"/>
        <c:axId val="1394067008"/>
        <c:axId val="1"/>
      </c:barChart>
      <c:catAx>
        <c:axId val="1394067008"/>
        <c:scaling>
          <c:orientation val="maxMin"/>
        </c:scaling>
        <c:delete val="0"/>
        <c:axPos val="l"/>
        <c:majorGridlines>
          <c:spPr>
            <a:ln>
              <a:noFill/>
            </a:ln>
          </c:spPr>
        </c:majorGridlines>
        <c:majorTickMark val="out"/>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52.599999999999994"/>
          <c:min val="0"/>
        </c:scaling>
        <c:delete val="1"/>
        <c:axPos val="b"/>
        <c:numFmt formatCode="General" sourceLinked="1"/>
        <c:majorTickMark val="out"/>
        <c:minorTickMark val="none"/>
        <c:tickLblPos val="nextTo"/>
        <c:crossAx val="1394067008"/>
        <c:crosses val="max"/>
        <c:crossBetween val="between"/>
      </c:valAx>
    </c:plotArea>
    <c:plotVisOnly val="0"/>
    <c:dispBlanksAs val="gap"/>
    <c:showDLblsOverMax val="1"/>
  </c:chart>
  <c:txPr>
    <a:bodyPr/>
    <a:lstStyle/>
    <a:p>
      <a:pPr>
        <a:defRPr sz="1200">
          <a:latin typeface="Arial" panose="020B0604020202020204" pitchFamily="34" charset="0"/>
          <a:cs typeface="Arial" panose="020B0604020202020204" pitchFamily="34" charset="0"/>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9050279329608939E-2"/>
          <c:y val="0.2978723404255319"/>
          <c:w val="0.94189944134078207"/>
          <c:h val="0.40425531914893614"/>
        </c:manualLayout>
      </c:layout>
      <c:barChart>
        <c:barDir val="bar"/>
        <c:grouping val="stacked"/>
        <c:varyColors val="0"/>
        <c:ser>
          <c:idx val="0"/>
          <c:order val="0"/>
          <c:spPr>
            <a:solidFill>
              <a:srgbClr val="012169"/>
            </a:solidFill>
            <a:ln>
              <a:noFill/>
            </a:ln>
          </c:spPr>
          <c:invertIfNegative val="0"/>
          <c:dLbls>
            <c:dLbl>
              <c:idx val="0"/>
              <c:layout>
                <c:manualLayout>
                  <c:x val="0"/>
                  <c:y val="0"/>
                </c:manualLayout>
              </c:layout>
              <c:numFmt formatCode="#,##0;&quot;-&quot;#,##0" sourceLinked="0"/>
              <c:spPr>
                <a:noFill/>
                <a:ln>
                  <a:noFill/>
                </a:ln>
              </c:spPr>
              <c:txPr>
                <a:bodyPr/>
                <a:lstStyle/>
                <a:p>
                  <a:pPr>
                    <a:defRPr>
                      <a:solidFill>
                        <a:schemeClr val="bg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219-45D1-8601-D10730DDA429}"/>
                </c:ext>
              </c:extLst>
            </c:dLbl>
            <c:spPr>
              <a:noFill/>
              <a:ln>
                <a:noFill/>
              </a:ln>
              <a:effectLst/>
            </c:spPr>
            <c:txPr>
              <a:bodyPr/>
              <a:lstStyle/>
              <a:p>
                <a:pPr>
                  <a:defRPr>
                    <a:solidFill>
                      <a:schemeClr val="bg1"/>
                    </a:solidFill>
                  </a:defRPr>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24.2</c:v>
                </c:pt>
              </c:numCache>
            </c:numRef>
          </c:val>
          <c:extLst>
            <c:ext xmlns:c16="http://schemas.microsoft.com/office/drawing/2014/chart" uri="{C3380CC4-5D6E-409C-BE32-E72D297353CC}">
              <c16:uniqueId val="{00000001-7219-45D1-8601-D10730DDA429}"/>
            </c:ext>
          </c:extLst>
        </c:ser>
        <c:ser>
          <c:idx val="1"/>
          <c:order val="1"/>
          <c:spPr>
            <a:solidFill>
              <a:srgbClr val="A0DCFF"/>
            </a:solidFill>
            <a:ln>
              <a:noFill/>
            </a:ln>
          </c:spPr>
          <c:invertIfNegative val="0"/>
          <c:dLbls>
            <c:dLbl>
              <c:idx val="0"/>
              <c:layout>
                <c:manualLayout>
                  <c:x val="0"/>
                  <c:y val="0"/>
                </c:manualLayout>
              </c:layout>
              <c:numFmt formatCode="#,##0;&quot;-&quot;#,##0" sourceLinked="0"/>
              <c:spPr>
                <a:noFill/>
                <a:ln>
                  <a:noFill/>
                </a:ln>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219-45D1-8601-D10730DDA42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4.8000000000000007</c:v>
                </c:pt>
              </c:numCache>
            </c:numRef>
          </c:val>
          <c:extLst>
            <c:ext xmlns:c16="http://schemas.microsoft.com/office/drawing/2014/chart" uri="{C3380CC4-5D6E-409C-BE32-E72D297353CC}">
              <c16:uniqueId val="{00000003-7219-45D1-8601-D10730DDA429}"/>
            </c:ext>
          </c:extLst>
        </c:ser>
        <c:dLbls>
          <c:showLegendKey val="0"/>
          <c:showVal val="0"/>
          <c:showCatName val="0"/>
          <c:showSerName val="0"/>
          <c:showPercent val="0"/>
          <c:showBubbleSize val="0"/>
        </c:dLbls>
        <c:gapWidth val="80"/>
        <c:overlap val="100"/>
        <c:axId val="1487755088"/>
        <c:axId val="1"/>
      </c:barChart>
      <c:catAx>
        <c:axId val="1487755088"/>
        <c:scaling>
          <c:orientation val="maxMin"/>
        </c:scaling>
        <c:delete val="0"/>
        <c:axPos val="l"/>
        <c:majorGridlines>
          <c:spPr>
            <a:ln>
              <a:noFill/>
            </a:ln>
          </c:spPr>
        </c:majorGridlines>
        <c:majorTickMark val="out"/>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9"/>
          <c:min val="0"/>
        </c:scaling>
        <c:delete val="1"/>
        <c:axPos val="b"/>
        <c:numFmt formatCode="General" sourceLinked="1"/>
        <c:majorTickMark val="out"/>
        <c:minorTickMark val="none"/>
        <c:tickLblPos val="nextTo"/>
        <c:crossAx val="1487755088"/>
        <c:crosses val="max"/>
        <c:crossBetween val="between"/>
      </c:valAx>
    </c:plotArea>
    <c:plotVisOnly val="0"/>
    <c:dispBlanksAs val="gap"/>
    <c:showDLblsOverMax val="1"/>
  </c:chart>
  <c:txPr>
    <a:bodyPr/>
    <a:lstStyle/>
    <a:p>
      <a:pPr>
        <a:defRPr sz="1200">
          <a:latin typeface="Arial" panose="020B0604020202020204" pitchFamily="34" charset="0"/>
          <a:cs typeface="Arial" panose="020B0604020202020204" pitchFamily="34" charset="0"/>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1408512505484861E-2"/>
          <c:y val="0.10674931129476584"/>
          <c:w val="0.97718297498903028"/>
          <c:h val="0.78650137741046833"/>
        </c:manualLayout>
      </c:layout>
      <c:barChart>
        <c:barDir val="col"/>
        <c:grouping val="stacked"/>
        <c:varyColors val="0"/>
        <c:ser>
          <c:idx val="0"/>
          <c:order val="0"/>
          <c:spPr>
            <a:solidFill>
              <a:srgbClr val="86BC25"/>
            </a:solidFill>
            <a:ln>
              <a:noFill/>
            </a:ln>
          </c:spPr>
          <c:invertIfNegative val="0"/>
          <c:dLbls>
            <c:dLbl>
              <c:idx val="0"/>
              <c:layout>
                <c:manualLayout>
                  <c:x val="0"/>
                  <c:y val="-6.8870523415977963E-4"/>
                </c:manualLayout>
              </c:layout>
              <c:numFmt formatCode="#,##0;&quot;-&quot;#,##0" sourceLinked="0"/>
              <c:spPr>
                <a:noFill/>
                <a:ln>
                  <a:noFill/>
                </a:ln>
              </c:spPr>
              <c:txPr>
                <a:bodyPr wrap="none"/>
                <a:lstStyle/>
                <a:p>
                  <a:pPr>
                    <a:defRPr lang="ja-JP" sz="110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CAB-47A7-B2C4-8D7426F40E1E}"/>
                </c:ext>
              </c:extLst>
            </c:dLbl>
            <c:dLbl>
              <c:idx val="1"/>
              <c:layout>
                <c:manualLayout>
                  <c:x val="0"/>
                  <c:y val="0"/>
                </c:manualLayout>
              </c:layout>
              <c:numFmt formatCode="#,##0;&quot;-&quot;#,##0" sourceLinked="0"/>
              <c:spPr>
                <a:noFill/>
                <a:ln>
                  <a:noFill/>
                </a:ln>
              </c:spPr>
              <c:txPr>
                <a:bodyPr wrap="none"/>
                <a:lstStyle/>
                <a:p>
                  <a:pPr>
                    <a:defRPr lang="ja-JP" sz="110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CAB-47A7-B2C4-8D7426F40E1E}"/>
                </c:ext>
              </c:extLst>
            </c:dLbl>
            <c:dLbl>
              <c:idx val="2"/>
              <c:layout>
                <c:manualLayout>
                  <c:x val="0"/>
                  <c:y val="-6.8870523415977963E-4"/>
                </c:manualLayout>
              </c:layout>
              <c:numFmt formatCode="#,##0;&quot;-&quot;#,##0" sourceLinked="0"/>
              <c:spPr>
                <a:noFill/>
                <a:ln>
                  <a:noFill/>
                </a:ln>
              </c:spPr>
              <c:txPr>
                <a:bodyPr wrap="none"/>
                <a:lstStyle/>
                <a:p>
                  <a:pPr>
                    <a:defRPr lang="ja-JP" sz="11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CAB-47A7-B2C4-8D7426F40E1E}"/>
                </c:ext>
              </c:extLst>
            </c:dLbl>
            <c:dLbl>
              <c:idx val="3"/>
              <c:layout>
                <c:manualLayout>
                  <c:x val="0"/>
                  <c:y val="0"/>
                </c:manualLayout>
              </c:layout>
              <c:numFmt formatCode="#,##0;&quot;-&quot;#,##0" sourceLinked="0"/>
              <c:spPr>
                <a:noFill/>
                <a:ln>
                  <a:noFill/>
                </a:ln>
              </c:spPr>
              <c:txPr>
                <a:bodyPr wrap="none"/>
                <a:lstStyle/>
                <a:p>
                  <a:pPr>
                    <a:defRPr lang="ja-JP" sz="110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FCAB-47A7-B2C4-8D7426F40E1E}"/>
                </c:ext>
              </c:extLst>
            </c:dLbl>
            <c:dLbl>
              <c:idx val="4"/>
              <c:layout>
                <c:manualLayout>
                  <c:x val="0"/>
                  <c:y val="0"/>
                </c:manualLayout>
              </c:layout>
              <c:numFmt formatCode="#,##0;&quot;-&quot;#,##0" sourceLinked="0"/>
              <c:spPr>
                <a:noFill/>
                <a:ln>
                  <a:noFill/>
                </a:ln>
              </c:spPr>
              <c:txPr>
                <a:bodyPr wrap="none"/>
                <a:lstStyle/>
                <a:p>
                  <a:pPr>
                    <a:defRPr lang="ja-JP" sz="110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FCAB-47A7-B2C4-8D7426F40E1E}"/>
                </c:ext>
              </c:extLst>
            </c:dLbl>
            <c:dLbl>
              <c:idx val="5"/>
              <c:layout>
                <c:manualLayout>
                  <c:x val="0"/>
                  <c:y val="0"/>
                </c:manualLayout>
              </c:layout>
              <c:numFmt formatCode="#,##0;&quot;-&quot;#,##0" sourceLinked="0"/>
              <c:spPr>
                <a:noFill/>
                <a:ln>
                  <a:noFill/>
                </a:ln>
              </c:spPr>
              <c:txPr>
                <a:bodyPr wrap="none"/>
                <a:lstStyle/>
                <a:p>
                  <a:pPr>
                    <a:defRPr lang="ja-JP" sz="11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CAB-47A7-B2C4-8D7426F40E1E}"/>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Sheet1!$A$1:$F$1</c:f>
              <c:numCache>
                <c:formatCode>General</c:formatCode>
                <c:ptCount val="6"/>
                <c:pt idx="0">
                  <c:v>1291</c:v>
                </c:pt>
                <c:pt idx="1">
                  <c:v>1444</c:v>
                </c:pt>
                <c:pt idx="2">
                  <c:v>1408</c:v>
                </c:pt>
                <c:pt idx="3">
                  <c:v>1482</c:v>
                </c:pt>
                <c:pt idx="4">
                  <c:v>1748</c:v>
                </c:pt>
                <c:pt idx="5">
                  <c:v>2212</c:v>
                </c:pt>
              </c:numCache>
            </c:numRef>
          </c:val>
          <c:extLst>
            <c:ext xmlns:c16="http://schemas.microsoft.com/office/drawing/2014/chart" uri="{C3380CC4-5D6E-409C-BE32-E72D297353CC}">
              <c16:uniqueId val="{00000006-FCAB-47A7-B2C4-8D7426F40E1E}"/>
            </c:ext>
          </c:extLst>
        </c:ser>
        <c:dLbls>
          <c:showLegendKey val="0"/>
          <c:showVal val="0"/>
          <c:showCatName val="0"/>
          <c:showSerName val="0"/>
          <c:showPercent val="0"/>
          <c:showBubbleSize val="0"/>
        </c:dLbls>
        <c:gapWidth val="50"/>
        <c:overlap val="100"/>
        <c:axId val="1184709087"/>
        <c:axId val="1"/>
      </c:barChart>
      <c:catAx>
        <c:axId val="1184709087"/>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100" kern="1200">
                <a:latin typeface="Arial"/>
                <a:ea typeface="Arial"/>
                <a:cs typeface="Arial"/>
                <a:sym typeface="Arial"/>
              </a:defRPr>
            </a:pPr>
            <a:endParaRPr lang="en-US"/>
          </a:p>
        </c:txPr>
        <c:crossAx val="1"/>
        <c:crosses val="min"/>
        <c:auto val="0"/>
        <c:lblAlgn val="ctr"/>
        <c:lblOffset val="100"/>
        <c:noMultiLvlLbl val="0"/>
      </c:catAx>
      <c:valAx>
        <c:axId val="1"/>
        <c:scaling>
          <c:orientation val="minMax"/>
          <c:max val="2212"/>
          <c:min val="0"/>
        </c:scaling>
        <c:delete val="1"/>
        <c:axPos val="l"/>
        <c:numFmt formatCode="General" sourceLinked="1"/>
        <c:majorTickMark val="out"/>
        <c:minorTickMark val="none"/>
        <c:tickLblPos val="nextTo"/>
        <c:crossAx val="1184709087"/>
        <c:crosses val="min"/>
        <c:crossBetween val="between"/>
      </c:valAx>
    </c:plotArea>
    <c:plotVisOnly val="0"/>
    <c:dispBlanksAs val="gap"/>
    <c:showDLblsOverMax val="1"/>
  </c:chart>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1408512505484861E-2"/>
          <c:y val="0.11175198269646719"/>
          <c:w val="0.97718297498903028"/>
          <c:h val="0.77649603460706562"/>
        </c:manualLayout>
      </c:layout>
      <c:barChart>
        <c:barDir val="col"/>
        <c:grouping val="stacked"/>
        <c:varyColors val="0"/>
        <c:ser>
          <c:idx val="0"/>
          <c:order val="0"/>
          <c:spPr>
            <a:solidFill>
              <a:srgbClr val="046A38"/>
            </a:solidFill>
            <a:ln>
              <a:noFill/>
            </a:ln>
          </c:spPr>
          <c:invertIfNegative val="0"/>
          <c:dLbls>
            <c:dLbl>
              <c:idx val="0"/>
              <c:layout>
                <c:manualLayout>
                  <c:x val="0"/>
                  <c:y val="0"/>
                </c:manualLayout>
              </c:layout>
              <c:numFmt formatCode="#,##0;&quot;-&quot;#,##0" sourceLinked="0"/>
              <c:spPr>
                <a:noFill/>
                <a:ln>
                  <a:noFill/>
                </a:ln>
              </c:spPr>
              <c:txPr>
                <a:bodyPr wrap="none"/>
                <a:lstStyle/>
                <a:p>
                  <a:pPr>
                    <a:defRPr lang="ja-JP" sz="1100" kern="1200">
                      <a:solidFill>
                        <a:schemeClr val="bg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D87A-439A-9558-64E9DF403D8C}"/>
                </c:ext>
              </c:extLst>
            </c:dLbl>
            <c:dLbl>
              <c:idx val="1"/>
              <c:layout>
                <c:manualLayout>
                  <c:x val="0"/>
                  <c:y val="-7.2098053352559477E-4"/>
                </c:manualLayout>
              </c:layout>
              <c:numFmt formatCode="#,##0;&quot;-&quot;#,##0" sourceLinked="0"/>
              <c:spPr>
                <a:noFill/>
                <a:ln>
                  <a:noFill/>
                </a:ln>
              </c:spPr>
              <c:txPr>
                <a:bodyPr wrap="none"/>
                <a:lstStyle/>
                <a:p>
                  <a:pPr>
                    <a:defRPr lang="ja-JP" sz="1100" kern="1200">
                      <a:solidFill>
                        <a:schemeClr val="bg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87A-439A-9558-64E9DF403D8C}"/>
                </c:ext>
              </c:extLst>
            </c:dLbl>
            <c:dLbl>
              <c:idx val="2"/>
              <c:layout>
                <c:manualLayout>
                  <c:x val="0"/>
                  <c:y val="0"/>
                </c:manualLayout>
              </c:layout>
              <c:numFmt formatCode="#,##0;&quot;-&quot;#,##0" sourceLinked="0"/>
              <c:spPr>
                <a:noFill/>
                <a:ln>
                  <a:noFill/>
                </a:ln>
              </c:spPr>
              <c:txPr>
                <a:bodyPr wrap="none"/>
                <a:lstStyle/>
                <a:p>
                  <a:pPr>
                    <a:defRPr lang="ja-JP" sz="1100" kern="1200">
                      <a:solidFill>
                        <a:schemeClr val="bg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D87A-439A-9558-64E9DF403D8C}"/>
                </c:ext>
              </c:extLst>
            </c:dLbl>
            <c:dLbl>
              <c:idx val="3"/>
              <c:layout>
                <c:manualLayout>
                  <c:x val="0"/>
                  <c:y val="0"/>
                </c:manualLayout>
              </c:layout>
              <c:numFmt formatCode="#,##0;&quot;-&quot;#,##0" sourceLinked="0"/>
              <c:spPr>
                <a:noFill/>
                <a:ln>
                  <a:noFill/>
                </a:ln>
              </c:spPr>
              <c:txPr>
                <a:bodyPr wrap="none"/>
                <a:lstStyle/>
                <a:p>
                  <a:pPr>
                    <a:defRPr lang="ja-JP" sz="1100" kern="1200">
                      <a:solidFill>
                        <a:schemeClr val="bg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D87A-439A-9558-64E9DF403D8C}"/>
                </c:ext>
              </c:extLst>
            </c:dLbl>
            <c:dLbl>
              <c:idx val="4"/>
              <c:layout>
                <c:manualLayout>
                  <c:x val="0"/>
                  <c:y val="-7.2098053352559477E-4"/>
                </c:manualLayout>
              </c:layout>
              <c:numFmt formatCode="#,##0;&quot;-&quot;#,##0" sourceLinked="0"/>
              <c:spPr>
                <a:noFill/>
                <a:ln>
                  <a:noFill/>
                </a:ln>
              </c:spPr>
              <c:txPr>
                <a:bodyPr wrap="none"/>
                <a:lstStyle/>
                <a:p>
                  <a:pPr>
                    <a:defRPr lang="ja-JP" sz="1100" kern="1200">
                      <a:solidFill>
                        <a:schemeClr val="bg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D87A-439A-9558-64E9DF403D8C}"/>
                </c:ext>
              </c:extLst>
            </c:dLbl>
            <c:dLbl>
              <c:idx val="5"/>
              <c:layout>
                <c:manualLayout>
                  <c:x val="0"/>
                  <c:y val="-7.2098053352559477E-4"/>
                </c:manualLayout>
              </c:layout>
              <c:numFmt formatCode="#,##0;&quot;-&quot;#,##0" sourceLinked="0"/>
              <c:spPr>
                <a:noFill/>
                <a:ln>
                  <a:noFill/>
                </a:ln>
              </c:spPr>
              <c:txPr>
                <a:bodyPr wrap="none"/>
                <a:lstStyle/>
                <a:p>
                  <a:pPr>
                    <a:defRPr lang="ja-JP" sz="1100" kern="1200">
                      <a:solidFill>
                        <a:schemeClr val="bg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D87A-439A-9558-64E9DF403D8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Sheet1!$A$1:$F$1</c:f>
              <c:numCache>
                <c:formatCode>General</c:formatCode>
                <c:ptCount val="6"/>
                <c:pt idx="0">
                  <c:v>3741</c:v>
                </c:pt>
                <c:pt idx="1">
                  <c:v>4774</c:v>
                </c:pt>
                <c:pt idx="2">
                  <c:v>6418</c:v>
                </c:pt>
                <c:pt idx="3">
                  <c:v>7275</c:v>
                </c:pt>
                <c:pt idx="4">
                  <c:v>8842</c:v>
                </c:pt>
                <c:pt idx="5">
                  <c:v>10219</c:v>
                </c:pt>
              </c:numCache>
            </c:numRef>
          </c:val>
          <c:extLst>
            <c:ext xmlns:c16="http://schemas.microsoft.com/office/drawing/2014/chart" uri="{C3380CC4-5D6E-409C-BE32-E72D297353CC}">
              <c16:uniqueId val="{00000006-D87A-439A-9558-64E9DF403D8C}"/>
            </c:ext>
          </c:extLst>
        </c:ser>
        <c:ser>
          <c:idx val="1"/>
          <c:order val="1"/>
          <c:spPr>
            <a:solidFill>
              <a:srgbClr val="C4D600"/>
            </a:solidFill>
            <a:ln>
              <a:noFill/>
            </a:ln>
          </c:spPr>
          <c:invertIfNegative val="0"/>
          <c:dLbls>
            <c:dLbl>
              <c:idx val="5"/>
              <c:layout>
                <c:manualLayout>
                  <c:x val="0"/>
                  <c:y val="0"/>
                </c:manualLayout>
              </c:layout>
              <c:numFmt formatCode="#,##0;&quot;-&quot;#,##0" sourceLinked="0"/>
              <c:spPr>
                <a:noFill/>
                <a:ln>
                  <a:noFill/>
                </a:ln>
              </c:spPr>
              <c:txPr>
                <a:bodyPr wrap="none"/>
                <a:lstStyle/>
                <a:p>
                  <a:pPr>
                    <a:defRPr lang="ja-JP" sz="1100" kern="1200">
                      <a:solidFill>
                        <a:srgbClr val="000000"/>
                      </a:solidFill>
                      <a:latin typeface="Arial"/>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D87A-439A-9558-64E9DF403D8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Sheet1!$A$2:$F$2</c:f>
              <c:numCache>
                <c:formatCode>General</c:formatCode>
                <c:ptCount val="6"/>
                <c:pt idx="0">
                  <c:v>3</c:v>
                </c:pt>
                <c:pt idx="1">
                  <c:v>3</c:v>
                </c:pt>
                <c:pt idx="2">
                  <c:v>107</c:v>
                </c:pt>
                <c:pt idx="3">
                  <c:v>38</c:v>
                </c:pt>
                <c:pt idx="4">
                  <c:v>494</c:v>
                </c:pt>
                <c:pt idx="5">
                  <c:v>1946</c:v>
                </c:pt>
              </c:numCache>
            </c:numRef>
          </c:val>
          <c:extLst>
            <c:ext xmlns:c16="http://schemas.microsoft.com/office/drawing/2014/chart" uri="{C3380CC4-5D6E-409C-BE32-E72D297353CC}">
              <c16:uniqueId val="{00000008-D87A-439A-9558-64E9DF403D8C}"/>
            </c:ext>
          </c:extLst>
        </c:ser>
        <c:dLbls>
          <c:showLegendKey val="0"/>
          <c:showVal val="0"/>
          <c:showCatName val="0"/>
          <c:showSerName val="0"/>
          <c:showPercent val="0"/>
          <c:showBubbleSize val="0"/>
        </c:dLbls>
        <c:gapWidth val="50"/>
        <c:overlap val="100"/>
        <c:axId val="1383622975"/>
        <c:axId val="1"/>
      </c:barChart>
      <c:catAx>
        <c:axId val="1383622975"/>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100" kern="1200">
                <a:latin typeface="Arial"/>
                <a:ea typeface="Arial"/>
                <a:cs typeface="Arial"/>
                <a:sym typeface="Arial"/>
              </a:defRPr>
            </a:pPr>
            <a:endParaRPr lang="en-US"/>
          </a:p>
        </c:txPr>
        <c:crossAx val="1"/>
        <c:crosses val="min"/>
        <c:auto val="0"/>
        <c:lblAlgn val="ctr"/>
        <c:lblOffset val="100"/>
        <c:noMultiLvlLbl val="0"/>
      </c:catAx>
      <c:valAx>
        <c:axId val="1"/>
        <c:scaling>
          <c:orientation val="minMax"/>
          <c:max val="12165"/>
          <c:min val="0"/>
        </c:scaling>
        <c:delete val="1"/>
        <c:axPos val="l"/>
        <c:numFmt formatCode="General" sourceLinked="1"/>
        <c:majorTickMark val="out"/>
        <c:minorTickMark val="none"/>
        <c:tickLblPos val="nextTo"/>
        <c:crossAx val="1383622975"/>
        <c:crosses val="min"/>
        <c:crossBetween val="between"/>
      </c:valAx>
    </c:plotArea>
    <c:plotVisOnly val="0"/>
    <c:dispBlanksAs val="gap"/>
    <c:showDLblsOverMax val="1"/>
  </c:chart>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613418530351438E-2"/>
          <c:y val="8.4574151280524118E-2"/>
          <c:w val="0.96677316293929716"/>
          <c:h val="0.83085169743895171"/>
        </c:manualLayout>
      </c:layout>
      <c:barChart>
        <c:barDir val="col"/>
        <c:grouping val="stacked"/>
        <c:varyColors val="0"/>
        <c:ser>
          <c:idx val="0"/>
          <c:order val="0"/>
          <c:spPr>
            <a:solidFill>
              <a:srgbClr val="0076A8"/>
            </a:solidFill>
            <a:ln>
              <a:noFill/>
            </a:ln>
          </c:spPr>
          <c:invertIfNegative val="0"/>
          <c:dLbls>
            <c:dLbl>
              <c:idx val="0"/>
              <c:layout>
                <c:manualLayout>
                  <c:x val="0"/>
                  <c:y val="-5.9559261465157837E-4"/>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093-4E5D-9240-9F11CF115D90}"/>
                </c:ext>
              </c:extLst>
            </c:dLbl>
            <c:dLbl>
              <c:idx val="1"/>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093-4E5D-9240-9F11CF115D90}"/>
                </c:ext>
              </c:extLst>
            </c:dLbl>
            <c:dLbl>
              <c:idx val="2"/>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093-4E5D-9240-9F11CF115D90}"/>
                </c:ext>
              </c:extLst>
            </c:dLbl>
            <c:dLbl>
              <c:idx val="3"/>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093-4E5D-9240-9F11CF115D90}"/>
                </c:ext>
              </c:extLst>
            </c:dLbl>
            <c:dLbl>
              <c:idx val="4"/>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093-4E5D-9240-9F11CF115D90}"/>
                </c:ext>
              </c:extLst>
            </c:dLbl>
            <c:dLbl>
              <c:idx val="5"/>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093-4E5D-9240-9F11CF115D90}"/>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Sheet1!$A$1:$F$1</c:f>
              <c:numCache>
                <c:formatCode>General</c:formatCode>
                <c:ptCount val="6"/>
                <c:pt idx="0">
                  <c:v>2671.0390000000002</c:v>
                </c:pt>
                <c:pt idx="1">
                  <c:v>3061.7089999999998</c:v>
                </c:pt>
                <c:pt idx="2">
                  <c:v>3933.5740000000001</c:v>
                </c:pt>
                <c:pt idx="3">
                  <c:v>4208.2079999999996</c:v>
                </c:pt>
                <c:pt idx="4">
                  <c:v>4418.5929999999998</c:v>
                </c:pt>
                <c:pt idx="5">
                  <c:v>4997.6120000000001</c:v>
                </c:pt>
              </c:numCache>
            </c:numRef>
          </c:val>
          <c:extLst>
            <c:ext xmlns:c16="http://schemas.microsoft.com/office/drawing/2014/chart" uri="{C3380CC4-5D6E-409C-BE32-E72D297353CC}">
              <c16:uniqueId val="{00000006-8093-4E5D-9240-9F11CF115D90}"/>
            </c:ext>
          </c:extLst>
        </c:ser>
        <c:ser>
          <c:idx val="1"/>
          <c:order val="1"/>
          <c:spPr>
            <a:solidFill>
              <a:srgbClr val="046A38"/>
            </a:solidFill>
            <a:ln>
              <a:noFill/>
            </a:ln>
          </c:spPr>
          <c:invertIfNegative val="0"/>
          <c:val>
            <c:numRef>
              <c:f>Sheet1!$A$2:$F$2</c:f>
              <c:numCache>
                <c:formatCode>General</c:formatCode>
                <c:ptCount val="6"/>
                <c:pt idx="0">
                  <c:v>41.824999999999818</c:v>
                </c:pt>
                <c:pt idx="1">
                  <c:v>46.3449999999998</c:v>
                </c:pt>
                <c:pt idx="2">
                  <c:v>55.88799999999992</c:v>
                </c:pt>
                <c:pt idx="3">
                  <c:v>60.782000000000153</c:v>
                </c:pt>
                <c:pt idx="4">
                  <c:v>64.626000000000204</c:v>
                </c:pt>
                <c:pt idx="5">
                  <c:v>68.831000000000131</c:v>
                </c:pt>
              </c:numCache>
            </c:numRef>
          </c:val>
          <c:extLst>
            <c:ext xmlns:c16="http://schemas.microsoft.com/office/drawing/2014/chart" uri="{C3380CC4-5D6E-409C-BE32-E72D297353CC}">
              <c16:uniqueId val="{00000007-8093-4E5D-9240-9F11CF115D90}"/>
            </c:ext>
          </c:extLst>
        </c:ser>
        <c:ser>
          <c:idx val="2"/>
          <c:order val="2"/>
          <c:spPr>
            <a:solidFill>
              <a:srgbClr val="86BC25"/>
            </a:solidFill>
            <a:ln>
              <a:noFill/>
            </a:ln>
          </c:spPr>
          <c:invertIfNegative val="0"/>
          <c:dLbls>
            <c:dLbl>
              <c:idx val="5"/>
              <c:layout>
                <c:manualLayout>
                  <c:x val="2.68370607028754E-2"/>
                  <c:y val="0"/>
                </c:manualLayout>
              </c:layout>
              <c:numFmt formatCode="#,##0;&quot;-&quot;#,##0" sourceLinked="0"/>
              <c:spPr>
                <a:noFill/>
                <a:ln>
                  <a:noFill/>
                </a:ln>
              </c:spPr>
              <c:txPr>
                <a:bodyPr wrap="none"/>
                <a:lstStyle/>
                <a:p>
                  <a:pPr>
                    <a:defRPr lang="ja-JP" sz="10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8093-4E5D-9240-9F11CF115D90}"/>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Sheet1!$A$3:$F$3</c:f>
              <c:numCache>
                <c:formatCode>General</c:formatCode>
                <c:ptCount val="6"/>
                <c:pt idx="0">
                  <c:v>120.92300000000023</c:v>
                </c:pt>
                <c:pt idx="1">
                  <c:v>150.47400000000016</c:v>
                </c:pt>
                <c:pt idx="2">
                  <c:v>229.08000000000038</c:v>
                </c:pt>
                <c:pt idx="3">
                  <c:v>260.29899999999998</c:v>
                </c:pt>
                <c:pt idx="4">
                  <c:v>282.80199999999968</c:v>
                </c:pt>
                <c:pt idx="5">
                  <c:v>392.83200000000033</c:v>
                </c:pt>
              </c:numCache>
            </c:numRef>
          </c:val>
          <c:extLst>
            <c:ext xmlns:c16="http://schemas.microsoft.com/office/drawing/2014/chart" uri="{C3380CC4-5D6E-409C-BE32-E72D297353CC}">
              <c16:uniqueId val="{00000009-8093-4E5D-9240-9F11CF115D90}"/>
            </c:ext>
          </c:extLst>
        </c:ser>
        <c:dLbls>
          <c:showLegendKey val="0"/>
          <c:showVal val="0"/>
          <c:showCatName val="0"/>
          <c:showSerName val="0"/>
          <c:showPercent val="0"/>
          <c:showBubbleSize val="0"/>
        </c:dLbls>
        <c:gapWidth val="50"/>
        <c:overlap val="100"/>
        <c:axId val="213196640"/>
        <c:axId val="1"/>
      </c:barChart>
      <c:catAx>
        <c:axId val="213196640"/>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000" kern="1200">
                <a:latin typeface="Arial"/>
                <a:ea typeface="Arial"/>
                <a:cs typeface="Arial"/>
                <a:sym typeface="Arial"/>
              </a:defRPr>
            </a:pPr>
            <a:endParaRPr lang="en-US"/>
          </a:p>
        </c:txPr>
        <c:crossAx val="1"/>
        <c:crosses val="min"/>
        <c:auto val="0"/>
        <c:lblAlgn val="ctr"/>
        <c:lblOffset val="100"/>
        <c:noMultiLvlLbl val="0"/>
      </c:catAx>
      <c:valAx>
        <c:axId val="1"/>
        <c:scaling>
          <c:orientation val="minMax"/>
          <c:max val="5459.2750000000005"/>
          <c:min val="0"/>
        </c:scaling>
        <c:delete val="1"/>
        <c:axPos val="l"/>
        <c:numFmt formatCode="General" sourceLinked="1"/>
        <c:majorTickMark val="out"/>
        <c:minorTickMark val="none"/>
        <c:tickLblPos val="nextTo"/>
        <c:crossAx val="213196640"/>
        <c:crosses val="min"/>
        <c:crossBetween val="between"/>
      </c:valAx>
    </c:plotArea>
    <c:plotVisOnly val="0"/>
    <c:dispBlanksAs val="gap"/>
    <c:showDLblsOverMax val="1"/>
  </c:chart>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478991596638654E-2"/>
          <c:y val="8.4574151280524118E-2"/>
          <c:w val="0.96504201680672264"/>
          <c:h val="0.83085169743895171"/>
        </c:manualLayout>
      </c:layout>
      <c:barChart>
        <c:barDir val="col"/>
        <c:grouping val="stacked"/>
        <c:varyColors val="0"/>
        <c:ser>
          <c:idx val="0"/>
          <c:order val="0"/>
          <c:spPr>
            <a:solidFill>
              <a:srgbClr val="0076A8"/>
            </a:solidFill>
            <a:ln>
              <a:noFill/>
            </a:ln>
          </c:spPr>
          <c:invertIfNegative val="0"/>
          <c:dLbls>
            <c:dLbl>
              <c:idx val="0"/>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1A3A-428E-BB62-5015C6EBE222}"/>
                </c:ext>
              </c:extLst>
            </c:dLbl>
            <c:dLbl>
              <c:idx val="1"/>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1A3A-428E-BB62-5015C6EBE222}"/>
                </c:ext>
              </c:extLst>
            </c:dLbl>
            <c:dLbl>
              <c:idx val="2"/>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1A3A-428E-BB62-5015C6EBE222}"/>
                </c:ext>
              </c:extLst>
            </c:dLbl>
            <c:dLbl>
              <c:idx val="3"/>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1A3A-428E-BB62-5015C6EBE222}"/>
                </c:ext>
              </c:extLst>
            </c:dLbl>
            <c:dLbl>
              <c:idx val="4"/>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1A3A-428E-BB62-5015C6EBE222}"/>
                </c:ext>
              </c:extLst>
            </c:dLbl>
            <c:dLbl>
              <c:idx val="5"/>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1A3A-428E-BB62-5015C6EBE222}"/>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Sheet1!$A$1:$F$1</c:f>
              <c:numCache>
                <c:formatCode>General</c:formatCode>
                <c:ptCount val="6"/>
                <c:pt idx="0">
                  <c:v>1679</c:v>
                </c:pt>
                <c:pt idx="1">
                  <c:v>2164</c:v>
                </c:pt>
                <c:pt idx="2">
                  <c:v>2852</c:v>
                </c:pt>
                <c:pt idx="3">
                  <c:v>3138</c:v>
                </c:pt>
                <c:pt idx="4">
                  <c:v>3730</c:v>
                </c:pt>
                <c:pt idx="5">
                  <c:v>4309</c:v>
                </c:pt>
              </c:numCache>
            </c:numRef>
          </c:val>
          <c:extLst>
            <c:ext xmlns:c16="http://schemas.microsoft.com/office/drawing/2014/chart" uri="{C3380CC4-5D6E-409C-BE32-E72D297353CC}">
              <c16:uniqueId val="{00000006-1A3A-428E-BB62-5015C6EBE222}"/>
            </c:ext>
          </c:extLst>
        </c:ser>
        <c:ser>
          <c:idx val="1"/>
          <c:order val="1"/>
          <c:spPr>
            <a:solidFill>
              <a:srgbClr val="046A38"/>
            </a:solidFill>
            <a:ln>
              <a:noFill/>
            </a:ln>
          </c:spPr>
          <c:invertIfNegative val="0"/>
          <c:dLbls>
            <c:dLbl>
              <c:idx val="0"/>
              <c:layout>
                <c:manualLayout>
                  <c:x val="0"/>
                  <c:y val="-5.9559261465157837E-4"/>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1A3A-428E-BB62-5015C6EBE222}"/>
                </c:ext>
              </c:extLst>
            </c:dLbl>
            <c:dLbl>
              <c:idx val="1"/>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1A3A-428E-BB62-5015C6EBE222}"/>
                </c:ext>
              </c:extLst>
            </c:dLbl>
            <c:dLbl>
              <c:idx val="2"/>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1A3A-428E-BB62-5015C6EBE222}"/>
                </c:ext>
              </c:extLst>
            </c:dLbl>
            <c:dLbl>
              <c:idx val="3"/>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1A3A-428E-BB62-5015C6EBE222}"/>
                </c:ext>
              </c:extLst>
            </c:dLbl>
            <c:dLbl>
              <c:idx val="4"/>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1A3A-428E-BB62-5015C6EBE222}"/>
                </c:ext>
              </c:extLst>
            </c:dLbl>
            <c:dLbl>
              <c:idx val="5"/>
              <c:layout>
                <c:manualLayout>
                  <c:x val="0"/>
                  <c:y val="0"/>
                </c:manualLayout>
              </c:layout>
              <c:numFmt formatCode="#,##0;&quot;-&quot;#,##0" sourceLinked="0"/>
              <c:spPr>
                <a:noFill/>
                <a:ln>
                  <a:noFill/>
                </a:ln>
              </c:spPr>
              <c:txPr>
                <a:bodyPr wrap="none"/>
                <a:lstStyle/>
                <a:p>
                  <a:pPr>
                    <a:defRPr lang="ja-JP" sz="10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1A3A-428E-BB62-5015C6EBE222}"/>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Sheet1!$A$2:$F$2</c:f>
              <c:numCache>
                <c:formatCode>General</c:formatCode>
                <c:ptCount val="6"/>
                <c:pt idx="0">
                  <c:v>1352</c:v>
                </c:pt>
                <c:pt idx="1">
                  <c:v>1719</c:v>
                </c:pt>
                <c:pt idx="2">
                  <c:v>2301</c:v>
                </c:pt>
                <c:pt idx="3">
                  <c:v>2816</c:v>
                </c:pt>
                <c:pt idx="4">
                  <c:v>3448</c:v>
                </c:pt>
                <c:pt idx="5">
                  <c:v>3694</c:v>
                </c:pt>
              </c:numCache>
            </c:numRef>
          </c:val>
          <c:extLst>
            <c:ext xmlns:c16="http://schemas.microsoft.com/office/drawing/2014/chart" uri="{C3380CC4-5D6E-409C-BE32-E72D297353CC}">
              <c16:uniqueId val="{0000000D-1A3A-428E-BB62-5015C6EBE222}"/>
            </c:ext>
          </c:extLst>
        </c:ser>
        <c:ser>
          <c:idx val="2"/>
          <c:order val="2"/>
          <c:spPr>
            <a:solidFill>
              <a:srgbClr val="86BC25"/>
            </a:solidFill>
            <a:ln>
              <a:noFill/>
            </a:ln>
          </c:spPr>
          <c:invertIfNegative val="0"/>
          <c:dLbls>
            <c:dLbl>
              <c:idx val="0"/>
              <c:layout>
                <c:manualLayout>
                  <c:x val="0"/>
                  <c:y val="-5.9559261465157837E-4"/>
                </c:manualLayout>
              </c:layout>
              <c:numFmt formatCode="#,##0;&quot;-&quot;#,##0" sourceLinked="0"/>
              <c:spPr>
                <a:noFill/>
                <a:ln>
                  <a:noFill/>
                </a:ln>
              </c:spPr>
              <c:txPr>
                <a:bodyPr wrap="none"/>
                <a:lstStyle/>
                <a:p>
                  <a:pPr>
                    <a:defRPr lang="ja-JP" sz="10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1A3A-428E-BB62-5015C6EBE222}"/>
                </c:ext>
              </c:extLst>
            </c:dLbl>
            <c:dLbl>
              <c:idx val="1"/>
              <c:layout>
                <c:manualLayout>
                  <c:x val="0"/>
                  <c:y val="0"/>
                </c:manualLayout>
              </c:layout>
              <c:numFmt formatCode="#,##0;&quot;-&quot;#,##0" sourceLinked="0"/>
              <c:spPr>
                <a:noFill/>
                <a:ln>
                  <a:noFill/>
                </a:ln>
              </c:spPr>
              <c:txPr>
                <a:bodyPr wrap="none"/>
                <a:lstStyle/>
                <a:p>
                  <a:pPr>
                    <a:defRPr lang="ja-JP" sz="10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1A3A-428E-BB62-5015C6EBE222}"/>
                </c:ext>
              </c:extLst>
            </c:dLbl>
            <c:dLbl>
              <c:idx val="2"/>
              <c:layout>
                <c:manualLayout>
                  <c:x val="0"/>
                  <c:y val="0"/>
                </c:manualLayout>
              </c:layout>
              <c:numFmt formatCode="#,##0;&quot;-&quot;#,##0" sourceLinked="0"/>
              <c:spPr>
                <a:noFill/>
                <a:ln>
                  <a:noFill/>
                </a:ln>
              </c:spPr>
              <c:txPr>
                <a:bodyPr wrap="none"/>
                <a:lstStyle/>
                <a:p>
                  <a:pPr>
                    <a:defRPr lang="ja-JP" sz="10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1A3A-428E-BB62-5015C6EBE222}"/>
                </c:ext>
              </c:extLst>
            </c:dLbl>
            <c:dLbl>
              <c:idx val="3"/>
              <c:layout>
                <c:manualLayout>
                  <c:x val="0"/>
                  <c:y val="0"/>
                </c:manualLayout>
              </c:layout>
              <c:numFmt formatCode="#,##0;&quot;-&quot;#,##0" sourceLinked="0"/>
              <c:spPr>
                <a:noFill/>
                <a:ln>
                  <a:noFill/>
                </a:ln>
              </c:spPr>
              <c:txPr>
                <a:bodyPr wrap="none"/>
                <a:lstStyle/>
                <a:p>
                  <a:pPr>
                    <a:defRPr lang="ja-JP" sz="10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1A3A-428E-BB62-5015C6EBE222}"/>
                </c:ext>
              </c:extLst>
            </c:dLbl>
            <c:dLbl>
              <c:idx val="4"/>
              <c:layout>
                <c:manualLayout>
                  <c:x val="0"/>
                  <c:y val="-5.9559261465157837E-4"/>
                </c:manualLayout>
              </c:layout>
              <c:numFmt formatCode="#,##0;&quot;-&quot;#,##0" sourceLinked="0"/>
              <c:spPr>
                <a:noFill/>
                <a:ln>
                  <a:noFill/>
                </a:ln>
              </c:spPr>
              <c:txPr>
                <a:bodyPr wrap="none"/>
                <a:lstStyle/>
                <a:p>
                  <a:pPr>
                    <a:defRPr lang="ja-JP" sz="10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1A3A-428E-BB62-5015C6EBE222}"/>
                </c:ext>
              </c:extLst>
            </c:dLbl>
            <c:dLbl>
              <c:idx val="5"/>
              <c:layout>
                <c:manualLayout>
                  <c:x val="0"/>
                  <c:y val="0"/>
                </c:manualLayout>
              </c:layout>
              <c:numFmt formatCode="#,##0;&quot;-&quot;#,##0" sourceLinked="0"/>
              <c:spPr>
                <a:noFill/>
                <a:ln>
                  <a:noFill/>
                </a:ln>
              </c:spPr>
              <c:txPr>
                <a:bodyPr wrap="none"/>
                <a:lstStyle/>
                <a:p>
                  <a:pPr>
                    <a:defRPr lang="ja-JP" sz="10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1A3A-428E-BB62-5015C6EBE222}"/>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Sheet1!$A$3:$F$3</c:f>
              <c:numCache>
                <c:formatCode>General</c:formatCode>
                <c:ptCount val="6"/>
                <c:pt idx="0">
                  <c:v>710</c:v>
                </c:pt>
                <c:pt idx="1">
                  <c:v>891</c:v>
                </c:pt>
                <c:pt idx="2">
                  <c:v>1265</c:v>
                </c:pt>
                <c:pt idx="3">
                  <c:v>1321</c:v>
                </c:pt>
                <c:pt idx="4">
                  <c:v>1664</c:v>
                </c:pt>
                <c:pt idx="5">
                  <c:v>2216</c:v>
                </c:pt>
              </c:numCache>
            </c:numRef>
          </c:val>
          <c:extLst>
            <c:ext xmlns:c16="http://schemas.microsoft.com/office/drawing/2014/chart" uri="{C3380CC4-5D6E-409C-BE32-E72D297353CC}">
              <c16:uniqueId val="{00000014-1A3A-428E-BB62-5015C6EBE222}"/>
            </c:ext>
          </c:extLst>
        </c:ser>
        <c:dLbls>
          <c:showLegendKey val="0"/>
          <c:showVal val="0"/>
          <c:showCatName val="0"/>
          <c:showSerName val="0"/>
          <c:showPercent val="0"/>
          <c:showBubbleSize val="0"/>
        </c:dLbls>
        <c:gapWidth val="50"/>
        <c:overlap val="100"/>
        <c:axId val="524037040"/>
        <c:axId val="1"/>
      </c:barChart>
      <c:catAx>
        <c:axId val="524037040"/>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000" kern="1200">
                <a:latin typeface="Arial"/>
                <a:ea typeface="Arial"/>
                <a:cs typeface="Arial"/>
                <a:sym typeface="Arial"/>
              </a:defRPr>
            </a:pPr>
            <a:endParaRPr lang="en-US"/>
          </a:p>
        </c:txPr>
        <c:crossAx val="1"/>
        <c:crosses val="min"/>
        <c:auto val="0"/>
        <c:lblAlgn val="ctr"/>
        <c:lblOffset val="100"/>
        <c:noMultiLvlLbl val="0"/>
      </c:catAx>
      <c:valAx>
        <c:axId val="1"/>
        <c:scaling>
          <c:orientation val="minMax"/>
          <c:max val="10219"/>
          <c:min val="0"/>
        </c:scaling>
        <c:delete val="1"/>
        <c:axPos val="l"/>
        <c:numFmt formatCode="General" sourceLinked="1"/>
        <c:majorTickMark val="out"/>
        <c:minorTickMark val="none"/>
        <c:tickLblPos val="nextTo"/>
        <c:crossAx val="524037040"/>
        <c:crosses val="min"/>
        <c:crossBetween val="between"/>
      </c:valAx>
    </c:plotArea>
    <c:plotVisOnly val="0"/>
    <c:dispBlanksAs val="gap"/>
    <c:showDLblsOverMax val="1"/>
  </c:chart>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858493443122904E-2"/>
          <c:y val="0.10381781647689216"/>
          <c:w val="0.9682830131137542"/>
          <c:h val="0.79236436704621571"/>
        </c:manualLayout>
      </c:layout>
      <c:barChart>
        <c:barDir val="col"/>
        <c:grouping val="stacked"/>
        <c:varyColors val="0"/>
        <c:ser>
          <c:idx val="0"/>
          <c:order val="0"/>
          <c:spPr>
            <a:solidFill>
              <a:schemeClr val="hlink"/>
            </a:solidFill>
            <a:ln>
              <a:noFill/>
            </a:ln>
          </c:spPr>
          <c:invertIfNegative val="0"/>
          <c:dLbls>
            <c:dLbl>
              <c:idx val="1"/>
              <c:layout>
                <c:manualLayout>
                  <c:x val="0"/>
                  <c:y val="0"/>
                </c:manualLayout>
              </c:layout>
              <c:numFmt formatCode="#,##0;&quot;-&quot;#,##0" sourceLinked="0"/>
              <c:spPr>
                <a:noFill/>
                <a:ln>
                  <a:noFill/>
                </a:ln>
              </c:spPr>
              <c:txPr>
                <a:bodyPr wrap="none"/>
                <a:lstStyle/>
                <a:p>
                  <a:pPr>
                    <a:defRPr lang="ja-JP" sz="110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141-4034-825E-8F18456815E2}"/>
                </c:ext>
              </c:extLst>
            </c:dLbl>
            <c:dLbl>
              <c:idx val="2"/>
              <c:layout>
                <c:manualLayout>
                  <c:x val="0"/>
                  <c:y val="0"/>
                </c:manualLayout>
              </c:layout>
              <c:numFmt formatCode="#,##0;&quot;-&quot;#,##0" sourceLinked="0"/>
              <c:spPr>
                <a:noFill/>
                <a:ln>
                  <a:noFill/>
                </a:ln>
              </c:spPr>
              <c:txPr>
                <a:bodyPr wrap="none"/>
                <a:lstStyle/>
                <a:p>
                  <a:pPr>
                    <a:defRPr lang="ja-JP" sz="11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141-4034-825E-8F18456815E2}"/>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477.93</c:v>
                </c:pt>
                <c:pt idx="1">
                  <c:v>507.93</c:v>
                </c:pt>
                <c:pt idx="2">
                  <c:v>581.92999999999995</c:v>
                </c:pt>
                <c:pt idx="3">
                  <c:v>1076.06</c:v>
                </c:pt>
              </c:numCache>
            </c:numRef>
          </c:val>
          <c:extLst>
            <c:ext xmlns:c16="http://schemas.microsoft.com/office/drawing/2014/chart" uri="{C3380CC4-5D6E-409C-BE32-E72D297353CC}">
              <c16:uniqueId val="{00000002-9141-4034-825E-8F18456815E2}"/>
            </c:ext>
          </c:extLst>
        </c:ser>
        <c:ser>
          <c:idx val="1"/>
          <c:order val="1"/>
          <c:spPr>
            <a:solidFill>
              <a:srgbClr val="00ABAB"/>
            </a:solidFill>
            <a:ln>
              <a:noFill/>
            </a:ln>
          </c:spPr>
          <c:invertIfNegative val="0"/>
          <c:dLbls>
            <c:dLbl>
              <c:idx val="1"/>
              <c:layout>
                <c:manualLayout>
                  <c:x val="0"/>
                  <c:y val="0"/>
                </c:manualLayout>
              </c:layout>
              <c:numFmt formatCode="#,##0;&quot;-&quot;#,##0" sourceLinked="0"/>
              <c:spPr>
                <a:noFill/>
                <a:ln>
                  <a:noFill/>
                </a:ln>
              </c:spPr>
              <c:txPr>
                <a:bodyPr wrap="none"/>
                <a:lstStyle/>
                <a:p>
                  <a:pPr>
                    <a:defRPr lang="ja-JP" sz="110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141-4034-825E-8F18456815E2}"/>
                </c:ext>
              </c:extLst>
            </c:dLbl>
            <c:dLbl>
              <c:idx val="2"/>
              <c:layout>
                <c:manualLayout>
                  <c:x val="0"/>
                  <c:y val="0"/>
                </c:manualLayout>
              </c:layout>
              <c:numFmt formatCode="#,##0;&quot;-&quot;#,##0" sourceLinked="0"/>
              <c:spPr>
                <a:noFill/>
                <a:ln>
                  <a:noFill/>
                </a:ln>
              </c:spPr>
              <c:txPr>
                <a:bodyPr wrap="none"/>
                <a:lstStyle/>
                <a:p>
                  <a:pPr>
                    <a:defRPr lang="ja-JP" sz="11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141-4034-825E-8F18456815E2}"/>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0">
                  <c:v>255.64699999999999</c:v>
                </c:pt>
                <c:pt idx="1">
                  <c:v>512.69539999999984</c:v>
                </c:pt>
                <c:pt idx="2">
                  <c:v>814.64499999999987</c:v>
                </c:pt>
                <c:pt idx="3">
                  <c:v>1914.7719999999999</c:v>
                </c:pt>
              </c:numCache>
            </c:numRef>
          </c:val>
          <c:extLst>
            <c:ext xmlns:c16="http://schemas.microsoft.com/office/drawing/2014/chart" uri="{C3380CC4-5D6E-409C-BE32-E72D297353CC}">
              <c16:uniqueId val="{00000005-9141-4034-825E-8F18456815E2}"/>
            </c:ext>
          </c:extLst>
        </c:ser>
        <c:ser>
          <c:idx val="2"/>
          <c:order val="2"/>
          <c:spPr>
            <a:solidFill>
              <a:srgbClr val="75787B"/>
            </a:solidFill>
            <a:ln>
              <a:noFill/>
            </a:ln>
          </c:spPr>
          <c:invertIfNegative val="0"/>
          <c:val>
            <c:numRef>
              <c:f>Sheet1!$A$3:$D$3</c:f>
              <c:numCache>
                <c:formatCode>General</c:formatCode>
                <c:ptCount val="4"/>
                <c:pt idx="0">
                  <c:v>53.409999999999968</c:v>
                </c:pt>
                <c:pt idx="1">
                  <c:v>53.410000000000082</c:v>
                </c:pt>
                <c:pt idx="2">
                  <c:v>53.410000000000082</c:v>
                </c:pt>
                <c:pt idx="3">
                  <c:v>53.409999999999854</c:v>
                </c:pt>
              </c:numCache>
            </c:numRef>
          </c:val>
          <c:extLst>
            <c:ext xmlns:c16="http://schemas.microsoft.com/office/drawing/2014/chart" uri="{C3380CC4-5D6E-409C-BE32-E72D297353CC}">
              <c16:uniqueId val="{00000006-9141-4034-825E-8F18456815E2}"/>
            </c:ext>
          </c:extLst>
        </c:ser>
        <c:ser>
          <c:idx val="3"/>
          <c:order val="3"/>
          <c:spPr>
            <a:solidFill>
              <a:srgbClr val="046A38"/>
            </a:solidFill>
            <a:ln>
              <a:noFill/>
            </a:ln>
          </c:spPr>
          <c:invertIfNegative val="0"/>
          <c:val>
            <c:numRef>
              <c:f>Sheet1!$A$4:$D$4</c:f>
              <c:numCache>
                <c:formatCode>General</c:formatCode>
                <c:ptCount val="4"/>
                <c:pt idx="0">
                  <c:v>0.10000000000002274</c:v>
                </c:pt>
                <c:pt idx="1">
                  <c:v>9.9999999999909051E-2</c:v>
                </c:pt>
                <c:pt idx="2">
                  <c:v>1.3499999999999091</c:v>
                </c:pt>
                <c:pt idx="3">
                  <c:v>106.94000000000005</c:v>
                </c:pt>
              </c:numCache>
            </c:numRef>
          </c:val>
          <c:extLst>
            <c:ext xmlns:c16="http://schemas.microsoft.com/office/drawing/2014/chart" uri="{C3380CC4-5D6E-409C-BE32-E72D297353CC}">
              <c16:uniqueId val="{00000007-9141-4034-825E-8F18456815E2}"/>
            </c:ext>
          </c:extLst>
        </c:ser>
        <c:ser>
          <c:idx val="4"/>
          <c:order val="4"/>
          <c:spPr>
            <a:solidFill>
              <a:srgbClr val="86BC25"/>
            </a:solidFill>
            <a:ln>
              <a:noFill/>
            </a:ln>
          </c:spPr>
          <c:invertIfNegative val="0"/>
          <c:val>
            <c:numRef>
              <c:f>Sheet1!$A$5:$D$5</c:f>
              <c:numCache>
                <c:formatCode>General</c:formatCode>
                <c:ptCount val="4"/>
                <c:pt idx="3">
                  <c:v>6</c:v>
                </c:pt>
              </c:numCache>
            </c:numRef>
          </c:val>
          <c:extLst>
            <c:ext xmlns:c16="http://schemas.microsoft.com/office/drawing/2014/chart" uri="{C3380CC4-5D6E-409C-BE32-E72D297353CC}">
              <c16:uniqueId val="{00000008-9141-4034-825E-8F18456815E2}"/>
            </c:ext>
          </c:extLst>
        </c:ser>
        <c:dLbls>
          <c:showLegendKey val="0"/>
          <c:showVal val="0"/>
          <c:showCatName val="0"/>
          <c:showSerName val="0"/>
          <c:showPercent val="0"/>
          <c:showBubbleSize val="0"/>
        </c:dLbls>
        <c:gapWidth val="50"/>
        <c:overlap val="100"/>
        <c:axId val="660501680"/>
        <c:axId val="1"/>
      </c:barChart>
      <c:catAx>
        <c:axId val="660501680"/>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100" kern="1200">
                <a:latin typeface="Arial"/>
                <a:ea typeface="Arial"/>
                <a:cs typeface="Arial"/>
                <a:sym typeface="Arial"/>
              </a:defRPr>
            </a:pPr>
            <a:endParaRPr lang="en-US"/>
          </a:p>
        </c:txPr>
        <c:crossAx val="1"/>
        <c:crosses val="min"/>
        <c:auto val="0"/>
        <c:lblAlgn val="ctr"/>
        <c:lblOffset val="100"/>
        <c:noMultiLvlLbl val="0"/>
      </c:catAx>
      <c:valAx>
        <c:axId val="1"/>
        <c:scaling>
          <c:orientation val="minMax"/>
          <c:max val="3157.1819999999998"/>
          <c:min val="0"/>
        </c:scaling>
        <c:delete val="1"/>
        <c:axPos val="l"/>
        <c:numFmt formatCode="General" sourceLinked="1"/>
        <c:majorTickMark val="out"/>
        <c:minorTickMark val="none"/>
        <c:tickLblPos val="nextTo"/>
        <c:crossAx val="660501680"/>
        <c:crosses val="min"/>
        <c:crossBetween val="between"/>
      </c:valAx>
    </c:plotArea>
    <c:plotVisOnly val="0"/>
    <c:dispBlanksAs val="gap"/>
    <c:showDLblsOverMax val="1"/>
  </c:chart>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448603683897801E-2"/>
          <c:y val="0.10381781647689216"/>
          <c:w val="0.96910279263220445"/>
          <c:h val="0.79236436704621571"/>
        </c:manualLayout>
      </c:layout>
      <c:barChart>
        <c:barDir val="col"/>
        <c:grouping val="stacked"/>
        <c:varyColors val="0"/>
        <c:ser>
          <c:idx val="0"/>
          <c:order val="0"/>
          <c:spPr>
            <a:solidFill>
              <a:schemeClr val="hlink"/>
            </a:solidFill>
            <a:ln>
              <a:noFill/>
            </a:ln>
          </c:spPr>
          <c:invertIfNegative val="0"/>
          <c:dLbls>
            <c:dLbl>
              <c:idx val="1"/>
              <c:layout>
                <c:manualLayout>
                  <c:x val="0"/>
                  <c:y val="0"/>
                </c:manualLayout>
              </c:layout>
              <c:numFmt formatCode="#,##0;&quot;-&quot;#,##0" sourceLinked="0"/>
              <c:spPr>
                <a:noFill/>
                <a:ln>
                  <a:noFill/>
                </a:ln>
              </c:spPr>
              <c:txPr>
                <a:bodyPr wrap="none"/>
                <a:lstStyle/>
                <a:p>
                  <a:pPr>
                    <a:defRPr lang="ja-JP" sz="110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5F4-401D-B5F6-92110A600D0F}"/>
                </c:ext>
              </c:extLst>
            </c:dLbl>
            <c:dLbl>
              <c:idx val="2"/>
              <c:layout>
                <c:manualLayout>
                  <c:x val="0"/>
                  <c:y val="0"/>
                </c:manualLayout>
              </c:layout>
              <c:numFmt formatCode="#,##0;&quot;-&quot;#,##0" sourceLinked="0"/>
              <c:spPr>
                <a:noFill/>
                <a:ln>
                  <a:noFill/>
                </a:ln>
              </c:spPr>
              <c:txPr>
                <a:bodyPr wrap="none"/>
                <a:lstStyle/>
                <a:p>
                  <a:pPr>
                    <a:defRPr lang="ja-JP" sz="11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5F4-401D-B5F6-92110A600D0F}"/>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2368</c:v>
                </c:pt>
                <c:pt idx="1">
                  <c:v>2308</c:v>
                </c:pt>
                <c:pt idx="2">
                  <c:v>2804</c:v>
                </c:pt>
                <c:pt idx="3">
                  <c:v>2911</c:v>
                </c:pt>
              </c:numCache>
            </c:numRef>
          </c:val>
          <c:extLst>
            <c:ext xmlns:c16="http://schemas.microsoft.com/office/drawing/2014/chart" uri="{C3380CC4-5D6E-409C-BE32-E72D297353CC}">
              <c16:uniqueId val="{00000002-35F4-401D-B5F6-92110A600D0F}"/>
            </c:ext>
          </c:extLst>
        </c:ser>
        <c:ser>
          <c:idx val="1"/>
          <c:order val="1"/>
          <c:spPr>
            <a:solidFill>
              <a:srgbClr val="012169"/>
            </a:solidFill>
            <a:ln>
              <a:noFill/>
            </a:ln>
          </c:spPr>
          <c:invertIfNegative val="0"/>
          <c:val>
            <c:numRef>
              <c:f>Sheet1!$A$2:$D$2</c:f>
              <c:numCache>
                <c:formatCode>General</c:formatCode>
                <c:ptCount val="4"/>
                <c:pt idx="0">
                  <c:v>147</c:v>
                </c:pt>
                <c:pt idx="1">
                  <c:v>149</c:v>
                </c:pt>
                <c:pt idx="2">
                  <c:v>148</c:v>
                </c:pt>
                <c:pt idx="3">
                  <c:v>2597</c:v>
                </c:pt>
              </c:numCache>
            </c:numRef>
          </c:val>
          <c:extLst>
            <c:ext xmlns:c16="http://schemas.microsoft.com/office/drawing/2014/chart" uri="{C3380CC4-5D6E-409C-BE32-E72D297353CC}">
              <c16:uniqueId val="{00000003-35F4-401D-B5F6-92110A600D0F}"/>
            </c:ext>
          </c:extLst>
        </c:ser>
        <c:ser>
          <c:idx val="2"/>
          <c:order val="2"/>
          <c:spPr>
            <a:solidFill>
              <a:srgbClr val="00ABAB"/>
            </a:solidFill>
            <a:ln>
              <a:noFill/>
            </a:ln>
          </c:spPr>
          <c:invertIfNegative val="0"/>
          <c:dLbls>
            <c:dLbl>
              <c:idx val="1"/>
              <c:layout>
                <c:manualLayout>
                  <c:x val="4.0404040404040407E-2"/>
                  <c:y val="0"/>
                </c:manualLayout>
              </c:layout>
              <c:numFmt formatCode="#,##0;&quot;-&quot;#,##0" sourceLinked="0"/>
              <c:spPr>
                <a:noFill/>
                <a:ln>
                  <a:noFill/>
                </a:ln>
              </c:spPr>
              <c:txPr>
                <a:bodyPr wrap="none"/>
                <a:lstStyle/>
                <a:p>
                  <a:pPr>
                    <a:defRPr lang="ja-JP" sz="110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35F4-401D-B5F6-92110A600D0F}"/>
                </c:ext>
              </c:extLst>
            </c:dLbl>
            <c:dLbl>
              <c:idx val="2"/>
              <c:layout>
                <c:manualLayout>
                  <c:x val="0"/>
                  <c:y val="0"/>
                </c:manualLayout>
              </c:layout>
              <c:numFmt formatCode="#,##0;&quot;-&quot;#,##0" sourceLinked="0"/>
              <c:spPr>
                <a:noFill/>
                <a:ln>
                  <a:noFill/>
                </a:ln>
              </c:spPr>
              <c:txPr>
                <a:bodyPr wrap="none"/>
                <a:lstStyle/>
                <a:p>
                  <a:pPr>
                    <a:defRPr lang="ja-JP" sz="110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35F4-401D-B5F6-92110A600D0F}"/>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1122</c:v>
                </c:pt>
                <c:pt idx="1">
                  <c:v>2019</c:v>
                </c:pt>
                <c:pt idx="2">
                  <c:v>3093</c:v>
                </c:pt>
                <c:pt idx="3">
                  <c:v>6564</c:v>
                </c:pt>
              </c:numCache>
            </c:numRef>
          </c:val>
          <c:extLst>
            <c:ext xmlns:c16="http://schemas.microsoft.com/office/drawing/2014/chart" uri="{C3380CC4-5D6E-409C-BE32-E72D297353CC}">
              <c16:uniqueId val="{00000006-35F4-401D-B5F6-92110A600D0F}"/>
            </c:ext>
          </c:extLst>
        </c:ser>
        <c:ser>
          <c:idx val="3"/>
          <c:order val="3"/>
          <c:spPr>
            <a:solidFill>
              <a:schemeClr val="accent1"/>
            </a:solidFill>
            <a:ln>
              <a:noFill/>
            </a:ln>
          </c:spPr>
          <c:invertIfNegative val="0"/>
          <c:dLbls>
            <c:dLbl>
              <c:idx val="1"/>
              <c:layout>
                <c:manualLayout>
                  <c:x val="0"/>
                  <c:y val="-6.6979236436704619E-4"/>
                </c:manualLayout>
              </c:layout>
              <c:numFmt formatCode="#,##0;&quot;-&quot;#,##0" sourceLinked="0"/>
              <c:spPr>
                <a:noFill/>
                <a:ln>
                  <a:noFill/>
                </a:ln>
              </c:spPr>
              <c:txPr>
                <a:bodyPr wrap="none"/>
                <a:lstStyle/>
                <a:p>
                  <a:pPr>
                    <a:defRPr lang="ja-JP" sz="11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35F4-401D-B5F6-92110A600D0F}"/>
                </c:ext>
              </c:extLst>
            </c:dLbl>
            <c:dLbl>
              <c:idx val="2"/>
              <c:layout>
                <c:manualLayout>
                  <c:x val="0"/>
                  <c:y val="0"/>
                </c:manualLayout>
              </c:layout>
              <c:numFmt formatCode="#,##0;&quot;-&quot;#,##0" sourceLinked="0"/>
              <c:spPr>
                <a:noFill/>
                <a:ln>
                  <a:noFill/>
                </a:ln>
              </c:spPr>
              <c:txPr>
                <a:bodyPr wrap="none"/>
                <a:lstStyle/>
                <a:p>
                  <a:pPr>
                    <a:defRPr lang="ja-JP" sz="11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35F4-401D-B5F6-92110A600D0F}"/>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Sheet1!$A$4:$D$4</c:f>
              <c:numCache>
                <c:formatCode>General</c:formatCode>
                <c:ptCount val="4"/>
                <c:pt idx="0">
                  <c:v>1370</c:v>
                </c:pt>
                <c:pt idx="1">
                  <c:v>2582</c:v>
                </c:pt>
                <c:pt idx="2">
                  <c:v>2806</c:v>
                </c:pt>
                <c:pt idx="3">
                  <c:v>1895</c:v>
                </c:pt>
              </c:numCache>
            </c:numRef>
          </c:val>
          <c:extLst>
            <c:ext xmlns:c16="http://schemas.microsoft.com/office/drawing/2014/chart" uri="{C3380CC4-5D6E-409C-BE32-E72D297353CC}">
              <c16:uniqueId val="{00000009-35F4-401D-B5F6-92110A600D0F}"/>
            </c:ext>
          </c:extLst>
        </c:ser>
        <c:dLbls>
          <c:showLegendKey val="0"/>
          <c:showVal val="0"/>
          <c:showCatName val="0"/>
          <c:showSerName val="0"/>
          <c:showPercent val="0"/>
          <c:showBubbleSize val="0"/>
        </c:dLbls>
        <c:gapWidth val="50"/>
        <c:overlap val="100"/>
        <c:axId val="480220208"/>
        <c:axId val="1"/>
      </c:barChart>
      <c:catAx>
        <c:axId val="480220208"/>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100" kern="1200">
                <a:latin typeface="Arial"/>
                <a:ea typeface="Arial"/>
                <a:cs typeface="Arial"/>
                <a:sym typeface="Arial"/>
              </a:defRPr>
            </a:pPr>
            <a:endParaRPr lang="en-US"/>
          </a:p>
        </c:txPr>
        <c:crossAx val="1"/>
        <c:crosses val="min"/>
        <c:auto val="0"/>
        <c:lblAlgn val="ctr"/>
        <c:lblOffset val="100"/>
        <c:noMultiLvlLbl val="0"/>
      </c:catAx>
      <c:valAx>
        <c:axId val="1"/>
        <c:scaling>
          <c:orientation val="minMax"/>
          <c:max val="13967"/>
          <c:min val="0"/>
        </c:scaling>
        <c:delete val="1"/>
        <c:axPos val="l"/>
        <c:numFmt formatCode="General" sourceLinked="1"/>
        <c:majorTickMark val="out"/>
        <c:minorTickMark val="none"/>
        <c:tickLblPos val="nextTo"/>
        <c:crossAx val="480220208"/>
        <c:crosses val="min"/>
        <c:crossBetween val="between"/>
      </c:valAx>
    </c:plotArea>
    <c:plotVisOnly val="0"/>
    <c:dispBlanksAs val="gap"/>
    <c:showDLblsOverMax val="1"/>
  </c:chart>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7219054008721899E-3"/>
          <c:y val="0.12923076923076923"/>
          <c:w val="0.9825561891982556"/>
          <c:h val="0.69923076923076921"/>
        </c:manualLayout>
      </c:layout>
      <c:barChart>
        <c:barDir val="col"/>
        <c:grouping val="stacked"/>
        <c:varyColors val="0"/>
        <c:ser>
          <c:idx val="0"/>
          <c:order val="0"/>
          <c:spPr>
            <a:solidFill>
              <a:srgbClr val="046A38"/>
            </a:solidFill>
            <a:ln>
              <a:noFill/>
            </a:ln>
          </c:spPr>
          <c:invertIfNegative val="0"/>
          <c:dLbls>
            <c:dLbl>
              <c:idx val="0"/>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00C-4E00-865A-1003DF6177D6}"/>
                </c:ext>
              </c:extLst>
            </c:dLbl>
            <c:dLbl>
              <c:idx val="1"/>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00C-4E00-865A-1003DF6177D6}"/>
                </c:ext>
              </c:extLst>
            </c:dLbl>
            <c:dLbl>
              <c:idx val="2"/>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00C-4E00-865A-1003DF6177D6}"/>
                </c:ext>
              </c:extLst>
            </c:dLbl>
            <c:dLbl>
              <c:idx val="3"/>
              <c:layout>
                <c:manualLayout>
                  <c:x val="1.1405568601140557E-2"/>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400C-4E00-865A-1003DF6177D6}"/>
                </c:ext>
              </c:extLst>
            </c:dLbl>
            <c:dLbl>
              <c:idx val="4"/>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00C-4E00-865A-1003DF6177D6}"/>
                </c:ext>
              </c:extLst>
            </c:dLbl>
            <c:dLbl>
              <c:idx val="5"/>
              <c:layout>
                <c:manualLayout>
                  <c:x val="0"/>
                  <c:y val="-7.6923076923076923E-4"/>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400C-4E00-865A-1003DF6177D6}"/>
                </c:ext>
              </c:extLst>
            </c:dLbl>
            <c:dLbl>
              <c:idx val="6"/>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400C-4E00-865A-1003DF6177D6}"/>
                </c:ext>
              </c:extLst>
            </c:dLbl>
            <c:dLbl>
              <c:idx val="7"/>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400C-4E00-865A-1003DF6177D6}"/>
                </c:ext>
              </c:extLst>
            </c:dLbl>
            <c:dLbl>
              <c:idx val="8"/>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400C-4E00-865A-1003DF6177D6}"/>
                </c:ext>
              </c:extLst>
            </c:dLbl>
            <c:dLbl>
              <c:idx val="9"/>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400C-4E00-865A-1003DF6177D6}"/>
                </c:ext>
              </c:extLst>
            </c:dLbl>
            <c:dLbl>
              <c:idx val="10"/>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400C-4E00-865A-1003DF6177D6}"/>
                </c:ext>
              </c:extLst>
            </c:dLbl>
            <c:dLbl>
              <c:idx val="11"/>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400C-4E00-865A-1003DF6177D6}"/>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Sheet1!$A$1:$L$1</c:f>
              <c:numCache>
                <c:formatCode>General</c:formatCode>
                <c:ptCount val="12"/>
                <c:pt idx="0">
                  <c:v>176.49</c:v>
                </c:pt>
                <c:pt idx="1">
                  <c:v>183.86</c:v>
                </c:pt>
                <c:pt idx="2">
                  <c:v>164.29</c:v>
                </c:pt>
                <c:pt idx="3">
                  <c:v>87.05</c:v>
                </c:pt>
                <c:pt idx="4">
                  <c:v>187.9</c:v>
                </c:pt>
                <c:pt idx="5">
                  <c:v>326.58</c:v>
                </c:pt>
                <c:pt idx="6">
                  <c:v>311.75</c:v>
                </c:pt>
                <c:pt idx="7">
                  <c:v>323.97000000000003</c:v>
                </c:pt>
                <c:pt idx="8">
                  <c:v>275.55</c:v>
                </c:pt>
                <c:pt idx="9">
                  <c:v>260.82</c:v>
                </c:pt>
                <c:pt idx="10">
                  <c:v>270.38</c:v>
                </c:pt>
                <c:pt idx="11">
                  <c:v>244.44</c:v>
                </c:pt>
              </c:numCache>
            </c:numRef>
          </c:val>
          <c:extLst>
            <c:ext xmlns:c16="http://schemas.microsoft.com/office/drawing/2014/chart" uri="{C3380CC4-5D6E-409C-BE32-E72D297353CC}">
              <c16:uniqueId val="{0000000C-400C-4E00-865A-1003DF6177D6}"/>
            </c:ext>
          </c:extLst>
        </c:ser>
        <c:ser>
          <c:idx val="1"/>
          <c:order val="1"/>
          <c:spPr>
            <a:solidFill>
              <a:srgbClr val="86BC25"/>
            </a:solidFill>
            <a:ln>
              <a:noFill/>
            </a:ln>
          </c:spPr>
          <c:invertIfNegative val="0"/>
          <c:dLbls>
            <c:dLbl>
              <c:idx val="0"/>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400C-4E00-865A-1003DF6177D6}"/>
                </c:ext>
              </c:extLst>
            </c:dLbl>
            <c:dLbl>
              <c:idx val="1"/>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400C-4E00-865A-1003DF6177D6}"/>
                </c:ext>
              </c:extLst>
            </c:dLbl>
            <c:dLbl>
              <c:idx val="2"/>
              <c:layout>
                <c:manualLayout>
                  <c:x val="0"/>
                  <c:y val="-7.6923076923076923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400C-4E00-865A-1003DF6177D6}"/>
                </c:ext>
              </c:extLst>
            </c:dLbl>
            <c:dLbl>
              <c:idx val="3"/>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400C-4E00-865A-1003DF6177D6}"/>
                </c:ext>
              </c:extLst>
            </c:dLbl>
            <c:dLbl>
              <c:idx val="4"/>
              <c:layout>
                <c:manualLayout>
                  <c:x val="0"/>
                  <c:y val="-7.6923076923076923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400C-4E00-865A-1003DF6177D6}"/>
                </c:ext>
              </c:extLst>
            </c:dLbl>
            <c:dLbl>
              <c:idx val="5"/>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400C-4E00-865A-1003DF6177D6}"/>
                </c:ext>
              </c:extLst>
            </c:dLbl>
            <c:dLbl>
              <c:idx val="6"/>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400C-4E00-865A-1003DF6177D6}"/>
                </c:ext>
              </c:extLst>
            </c:dLbl>
            <c:dLbl>
              <c:idx val="7"/>
              <c:layout>
                <c:manualLayout>
                  <c:x val="0"/>
                  <c:y val="-7.6923076923076923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400C-4E00-865A-1003DF6177D6}"/>
                </c:ext>
              </c:extLst>
            </c:dLbl>
            <c:dLbl>
              <c:idx val="8"/>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5-400C-4E00-865A-1003DF6177D6}"/>
                </c:ext>
              </c:extLst>
            </c:dLbl>
            <c:dLbl>
              <c:idx val="9"/>
              <c:layout>
                <c:manualLayout>
                  <c:x val="0"/>
                  <c:y val="-7.6923076923076923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400C-4E00-865A-1003DF6177D6}"/>
                </c:ext>
              </c:extLst>
            </c:dLbl>
            <c:dLbl>
              <c:idx val="10"/>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7-400C-4E00-865A-1003DF6177D6}"/>
                </c:ext>
              </c:extLst>
            </c:dLbl>
            <c:dLbl>
              <c:idx val="11"/>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8-400C-4E00-865A-1003DF6177D6}"/>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Sheet1!$A$2:$L$2</c:f>
              <c:numCache>
                <c:formatCode>General</c:formatCode>
                <c:ptCount val="12"/>
                <c:pt idx="0">
                  <c:v>514.98</c:v>
                </c:pt>
                <c:pt idx="1">
                  <c:v>495.06999999999994</c:v>
                </c:pt>
                <c:pt idx="2">
                  <c:v>523.1</c:v>
                </c:pt>
                <c:pt idx="3">
                  <c:v>446.09</c:v>
                </c:pt>
                <c:pt idx="4">
                  <c:v>341.94000000000005</c:v>
                </c:pt>
                <c:pt idx="5">
                  <c:v>273.01000000000005</c:v>
                </c:pt>
                <c:pt idx="6">
                  <c:v>227.5</c:v>
                </c:pt>
                <c:pt idx="7">
                  <c:v>234.66999999999996</c:v>
                </c:pt>
                <c:pt idx="8">
                  <c:v>292.45999999999998</c:v>
                </c:pt>
                <c:pt idx="9">
                  <c:v>421.16</c:v>
                </c:pt>
                <c:pt idx="10">
                  <c:v>480.81000000000006</c:v>
                </c:pt>
                <c:pt idx="11">
                  <c:v>520.05999999999995</c:v>
                </c:pt>
              </c:numCache>
            </c:numRef>
          </c:val>
          <c:extLst>
            <c:ext xmlns:c16="http://schemas.microsoft.com/office/drawing/2014/chart" uri="{C3380CC4-5D6E-409C-BE32-E72D297353CC}">
              <c16:uniqueId val="{00000019-400C-4E00-865A-1003DF6177D6}"/>
            </c:ext>
          </c:extLst>
        </c:ser>
        <c:ser>
          <c:idx val="2"/>
          <c:order val="2"/>
          <c:spPr>
            <a:solidFill>
              <a:srgbClr val="62B5E5"/>
            </a:solidFill>
            <a:ln>
              <a:noFill/>
            </a:ln>
          </c:spPr>
          <c:invertIfNegative val="0"/>
          <c:dLbls>
            <c:dLbl>
              <c:idx val="2"/>
              <c:layout>
                <c:manualLayout>
                  <c:x val="3.4552163703455215E-2"/>
                  <c:y val="-5.3846153846153849E-2"/>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400C-4E00-865A-1003DF6177D6}"/>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Sheet1!$A$3:$L$3</c:f>
              <c:numCache>
                <c:formatCode>General</c:formatCode>
                <c:ptCount val="12"/>
                <c:pt idx="0">
                  <c:v>-2.0059200000000001</c:v>
                </c:pt>
                <c:pt idx="1">
                  <c:v>-3.5409999999999999</c:v>
                </c:pt>
                <c:pt idx="2">
                  <c:v>-5.5641600000000002</c:v>
                </c:pt>
                <c:pt idx="3">
                  <c:v>-7.4702399999999995</c:v>
                </c:pt>
                <c:pt idx="4">
                  <c:v>-0.29327999999999999</c:v>
                </c:pt>
                <c:pt idx="5">
                  <c:v>-0.21456</c:v>
                </c:pt>
                <c:pt idx="6">
                  <c:v>-0.18431999999999998</c:v>
                </c:pt>
                <c:pt idx="7">
                  <c:v>-4.0320000000000002E-2</c:v>
                </c:pt>
                <c:pt idx="8">
                  <c:v>-2.9889600000000001</c:v>
                </c:pt>
                <c:pt idx="9">
                  <c:v>-2.0020799999999999</c:v>
                </c:pt>
                <c:pt idx="10">
                  <c:v>-2.5483200000000004</c:v>
                </c:pt>
                <c:pt idx="11">
                  <c:v>-15.6448</c:v>
                </c:pt>
              </c:numCache>
            </c:numRef>
          </c:val>
          <c:extLst>
            <c:ext xmlns:c16="http://schemas.microsoft.com/office/drawing/2014/chart" uri="{C3380CC4-5D6E-409C-BE32-E72D297353CC}">
              <c16:uniqueId val="{0000001B-400C-4E00-865A-1003DF6177D6}"/>
            </c:ext>
          </c:extLst>
        </c:ser>
        <c:dLbls>
          <c:showLegendKey val="0"/>
          <c:showVal val="0"/>
          <c:showCatName val="0"/>
          <c:showSerName val="0"/>
          <c:showPercent val="0"/>
          <c:showBubbleSize val="0"/>
        </c:dLbls>
        <c:gapWidth val="80"/>
        <c:overlap val="100"/>
        <c:axId val="1081955151"/>
        <c:axId val="1"/>
      </c:barChart>
      <c:catAx>
        <c:axId val="1081955151"/>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200" kern="1200">
                <a:latin typeface="Arial"/>
                <a:ea typeface="Arial"/>
                <a:cs typeface="Arial"/>
                <a:sym typeface="Arial"/>
              </a:defRPr>
            </a:pPr>
            <a:endParaRPr lang="en-US"/>
          </a:p>
        </c:txPr>
        <c:crossAx val="1"/>
        <c:crossesAt val="0"/>
        <c:auto val="0"/>
        <c:lblAlgn val="ctr"/>
        <c:lblOffset val="100"/>
        <c:noMultiLvlLbl val="0"/>
      </c:catAx>
      <c:valAx>
        <c:axId val="1"/>
        <c:scaling>
          <c:orientation val="minMax"/>
          <c:max val="764.5"/>
          <c:min val="-15.6448"/>
        </c:scaling>
        <c:delete val="1"/>
        <c:axPos val="l"/>
        <c:numFmt formatCode="General" sourceLinked="1"/>
        <c:majorTickMark val="out"/>
        <c:minorTickMark val="none"/>
        <c:tickLblPos val="nextTo"/>
        <c:crossAx val="1081955151"/>
        <c:crosses val="min"/>
        <c:crossBetween val="between"/>
      </c:valAx>
    </c:plotArea>
    <c:plotVisOnly val="0"/>
    <c:dispBlanksAs val="gap"/>
    <c:showDLblsOverMax val="1"/>
  </c:chart>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5667215815486003E-3"/>
          <c:y val="0.14775725593667546"/>
          <c:w val="0.98270181219110375"/>
          <c:h val="0.69481090589270011"/>
        </c:manualLayout>
      </c:layout>
      <c:barChart>
        <c:barDir val="col"/>
        <c:grouping val="stacked"/>
        <c:varyColors val="0"/>
        <c:ser>
          <c:idx val="0"/>
          <c:order val="0"/>
          <c:spPr>
            <a:solidFill>
              <a:srgbClr val="046A38"/>
            </a:solidFill>
            <a:ln>
              <a:noFill/>
            </a:ln>
          </c:spPr>
          <c:invertIfNegative val="0"/>
          <c:dPt>
            <c:idx val="3"/>
            <c:invertIfNegative val="0"/>
            <c:bubble3D val="0"/>
            <c:spPr>
              <a:solidFill>
                <a:srgbClr val="86BC25"/>
              </a:solidFill>
              <a:ln>
                <a:noFill/>
              </a:ln>
            </c:spPr>
            <c:extLst>
              <c:ext xmlns:c16="http://schemas.microsoft.com/office/drawing/2014/chart" uri="{C3380CC4-5D6E-409C-BE32-E72D297353CC}">
                <c16:uniqueId val="{00000000-8FDB-4823-90BC-84D43A780B4C}"/>
              </c:ext>
            </c:extLst>
          </c:dPt>
          <c:dLbls>
            <c:dLbl>
              <c:idx val="3"/>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FDB-4823-90BC-84D43A780B4C}"/>
                </c:ext>
              </c:extLst>
            </c:dLbl>
            <c:dLbl>
              <c:idx val="4"/>
              <c:layout>
                <c:manualLayout>
                  <c:x val="3.6243822075782535E-2"/>
                  <c:y val="-6.0686015831134567E-2"/>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FDB-4823-90BC-84D43A780B4C}"/>
                </c:ext>
              </c:extLst>
            </c:dLbl>
            <c:dLbl>
              <c:idx val="6"/>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FDB-4823-90BC-84D43A780B4C}"/>
                </c:ext>
              </c:extLst>
            </c:dLbl>
            <c:dLbl>
              <c:idx val="7"/>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FDB-4823-90BC-84D43A780B4C}"/>
                </c:ext>
              </c:extLst>
            </c:dLbl>
            <c:dLbl>
              <c:idx val="8"/>
              <c:layout>
                <c:manualLayout>
                  <c:x val="0"/>
                  <c:y val="-8.7950747581354446E-4"/>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FDB-4823-90BC-84D43A780B4C}"/>
                </c:ext>
              </c:extLst>
            </c:dLbl>
            <c:dLbl>
              <c:idx val="9"/>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FDB-4823-90BC-84D43A780B4C}"/>
                </c:ext>
              </c:extLst>
            </c:dLbl>
            <c:dLbl>
              <c:idx val="11"/>
              <c:layout>
                <c:manualLayout>
                  <c:x val="3.6243822075782535E-2"/>
                  <c:y val="-6.156552330694811E-2"/>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8FDB-4823-90BC-84D43A780B4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Sheet1!$A$1:$L$1</c:f>
              <c:numCache>
                <c:formatCode>General</c:formatCode>
                <c:ptCount val="12"/>
                <c:pt idx="0">
                  <c:v>10</c:v>
                </c:pt>
                <c:pt idx="1">
                  <c:v>1</c:v>
                </c:pt>
                <c:pt idx="2">
                  <c:v>1</c:v>
                </c:pt>
                <c:pt idx="3">
                  <c:v>1186</c:v>
                </c:pt>
                <c:pt idx="4">
                  <c:v>27</c:v>
                </c:pt>
                <c:pt idx="5">
                  <c:v>163</c:v>
                </c:pt>
                <c:pt idx="6">
                  <c:v>324</c:v>
                </c:pt>
                <c:pt idx="7">
                  <c:v>395</c:v>
                </c:pt>
                <c:pt idx="8">
                  <c:v>349</c:v>
                </c:pt>
                <c:pt idx="9">
                  <c:v>357</c:v>
                </c:pt>
                <c:pt idx="10">
                  <c:v>188</c:v>
                </c:pt>
                <c:pt idx="11">
                  <c:v>19</c:v>
                </c:pt>
              </c:numCache>
            </c:numRef>
          </c:val>
          <c:extLst>
            <c:ext xmlns:c16="http://schemas.microsoft.com/office/drawing/2014/chart" uri="{C3380CC4-5D6E-409C-BE32-E72D297353CC}">
              <c16:uniqueId val="{00000007-8FDB-4823-90BC-84D43A780B4C}"/>
            </c:ext>
          </c:extLst>
        </c:ser>
        <c:ser>
          <c:idx val="1"/>
          <c:order val="1"/>
          <c:spPr>
            <a:solidFill>
              <a:srgbClr val="86BC25"/>
            </a:solidFill>
            <a:ln>
              <a:noFill/>
            </a:ln>
          </c:spPr>
          <c:invertIfNegative val="0"/>
          <c:dPt>
            <c:idx val="3"/>
            <c:invertIfNegative val="0"/>
            <c:bubble3D val="0"/>
            <c:spPr>
              <a:solidFill>
                <a:srgbClr val="046A38"/>
              </a:solidFill>
              <a:ln>
                <a:noFill/>
              </a:ln>
            </c:spPr>
            <c:extLst>
              <c:ext xmlns:c16="http://schemas.microsoft.com/office/drawing/2014/chart" uri="{C3380CC4-5D6E-409C-BE32-E72D297353CC}">
                <c16:uniqueId val="{00000008-8FDB-4823-90BC-84D43A780B4C}"/>
              </c:ext>
            </c:extLst>
          </c:dPt>
          <c:dLbls>
            <c:dLbl>
              <c:idx val="0"/>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8FDB-4823-90BC-84D43A780B4C}"/>
                </c:ext>
              </c:extLst>
            </c:dLbl>
            <c:dLbl>
              <c:idx val="1"/>
              <c:layout>
                <c:manualLayout>
                  <c:x val="0"/>
                  <c:y val="-8.7950747581354446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8FDB-4823-90BC-84D43A780B4C}"/>
                </c:ext>
              </c:extLst>
            </c:dLbl>
            <c:dLbl>
              <c:idx val="2"/>
              <c:layout>
                <c:manualLayout>
                  <c:x val="0"/>
                  <c:y val="-8.7950747581354446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8FDB-4823-90BC-84D43A780B4C}"/>
                </c:ext>
              </c:extLst>
            </c:dLbl>
            <c:dLbl>
              <c:idx val="4"/>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8FDB-4823-90BC-84D43A780B4C}"/>
                </c:ext>
              </c:extLst>
            </c:dLbl>
            <c:dLbl>
              <c:idx val="5"/>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8FDB-4823-90BC-84D43A780B4C}"/>
                </c:ext>
              </c:extLst>
            </c:dLbl>
            <c:dLbl>
              <c:idx val="6"/>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8FDB-4823-90BC-84D43A780B4C}"/>
                </c:ext>
              </c:extLst>
            </c:dLbl>
            <c:dLbl>
              <c:idx val="7"/>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8FDB-4823-90BC-84D43A780B4C}"/>
                </c:ext>
              </c:extLst>
            </c:dLbl>
            <c:dLbl>
              <c:idx val="8"/>
              <c:layout>
                <c:manualLayout>
                  <c:x val="0"/>
                  <c:y val="-8.7950747581354446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8FDB-4823-90BC-84D43A780B4C}"/>
                </c:ext>
              </c:extLst>
            </c:dLbl>
            <c:dLbl>
              <c:idx val="9"/>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8FDB-4823-90BC-84D43A780B4C}"/>
                </c:ext>
              </c:extLst>
            </c:dLbl>
            <c:dLbl>
              <c:idx val="10"/>
              <c:layout>
                <c:manualLayout>
                  <c:x val="0"/>
                  <c:y val="-8.7950747581354446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8FDB-4823-90BC-84D43A780B4C}"/>
                </c:ext>
              </c:extLst>
            </c:dLbl>
            <c:dLbl>
              <c:idx val="11"/>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8FDB-4823-90BC-84D43A780B4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Sheet1!$A$2:$L$2</c:f>
              <c:numCache>
                <c:formatCode>General</c:formatCode>
                <c:ptCount val="12"/>
                <c:pt idx="0">
                  <c:v>1467</c:v>
                </c:pt>
                <c:pt idx="1">
                  <c:v>1452</c:v>
                </c:pt>
                <c:pt idx="2">
                  <c:v>1456</c:v>
                </c:pt>
                <c:pt idx="3">
                  <c:v>0</c:v>
                </c:pt>
                <c:pt idx="4">
                  <c:v>949</c:v>
                </c:pt>
                <c:pt idx="5">
                  <c:v>727</c:v>
                </c:pt>
                <c:pt idx="6">
                  <c:v>657</c:v>
                </c:pt>
                <c:pt idx="7">
                  <c:v>592</c:v>
                </c:pt>
                <c:pt idx="8">
                  <c:v>642</c:v>
                </c:pt>
                <c:pt idx="9">
                  <c:v>836</c:v>
                </c:pt>
                <c:pt idx="10">
                  <c:v>1212</c:v>
                </c:pt>
                <c:pt idx="11">
                  <c:v>1612</c:v>
                </c:pt>
              </c:numCache>
            </c:numRef>
          </c:val>
          <c:extLst>
            <c:ext xmlns:c16="http://schemas.microsoft.com/office/drawing/2014/chart" uri="{C3380CC4-5D6E-409C-BE32-E72D297353CC}">
              <c16:uniqueId val="{00000014-8FDB-4823-90BC-84D43A780B4C}"/>
            </c:ext>
          </c:extLst>
        </c:ser>
        <c:ser>
          <c:idx val="2"/>
          <c:order val="2"/>
          <c:spPr>
            <a:solidFill>
              <a:srgbClr val="ED8B00"/>
            </a:solidFill>
            <a:ln>
              <a:noFill/>
            </a:ln>
          </c:spPr>
          <c:invertIfNegative val="0"/>
          <c:dLbls>
            <c:dLbl>
              <c:idx val="0"/>
              <c:layout>
                <c:manualLayout>
                  <c:x val="1.8121911037891267E-2"/>
                  <c:y val="-0.10817941952506596"/>
                </c:manualLayout>
              </c:layout>
              <c:numFmt formatCode="#,##0;&quot;-&quot;#,##0" sourceLinked="0"/>
              <c:spPr>
                <a:noFill/>
                <a:ln>
                  <a:noFill/>
                </a:ln>
              </c:spPr>
              <c:txPr>
                <a:bodyPr wrap="none"/>
                <a:lstStyle/>
                <a:p>
                  <a:pPr>
                    <a:defRPr lang="ja-JP" sz="12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5-8FDB-4823-90BC-84D43A780B4C}"/>
                </c:ext>
              </c:extLst>
            </c:dLbl>
            <c:dLbl>
              <c:idx val="1"/>
              <c:layout>
                <c:manualLayout>
                  <c:x val="0"/>
                  <c:y val="8.7950747581354446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8FDB-4823-90BC-84D43A780B4C}"/>
                </c:ext>
              </c:extLst>
            </c:dLbl>
            <c:dLbl>
              <c:idx val="2"/>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7-8FDB-4823-90BC-84D43A780B4C}"/>
                </c:ext>
              </c:extLst>
            </c:dLbl>
            <c:dLbl>
              <c:idx val="3"/>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8-8FDB-4823-90BC-84D43A780B4C}"/>
                </c:ext>
              </c:extLst>
            </c:dLbl>
            <c:dLbl>
              <c:idx val="10"/>
              <c:layout>
                <c:manualLayout>
                  <c:x val="3.887973640856672E-2"/>
                  <c:y val="-5.2770448548812667E-2"/>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9-8FDB-4823-90BC-84D43A780B4C}"/>
                </c:ext>
              </c:extLst>
            </c:dLbl>
            <c:dLbl>
              <c:idx val="11"/>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8FDB-4823-90BC-84D43A780B4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Sheet1!$A$3:$L$3</c:f>
              <c:numCache>
                <c:formatCode>General</c:formatCode>
                <c:ptCount val="12"/>
                <c:pt idx="0">
                  <c:v>-256</c:v>
                </c:pt>
                <c:pt idx="1">
                  <c:v>-305</c:v>
                </c:pt>
                <c:pt idx="2">
                  <c:v>-418</c:v>
                </c:pt>
                <c:pt idx="3">
                  <c:v>-380</c:v>
                </c:pt>
                <c:pt idx="4">
                  <c:v>-114</c:v>
                </c:pt>
                <c:pt idx="5">
                  <c:v>0</c:v>
                </c:pt>
                <c:pt idx="6">
                  <c:v>0</c:v>
                </c:pt>
                <c:pt idx="7">
                  <c:v>0</c:v>
                </c:pt>
                <c:pt idx="8">
                  <c:v>0</c:v>
                </c:pt>
                <c:pt idx="9">
                  <c:v>0</c:v>
                </c:pt>
                <c:pt idx="10">
                  <c:v>-68</c:v>
                </c:pt>
                <c:pt idx="11">
                  <c:v>-401</c:v>
                </c:pt>
              </c:numCache>
            </c:numRef>
          </c:val>
          <c:extLst>
            <c:ext xmlns:c16="http://schemas.microsoft.com/office/drawing/2014/chart" uri="{C3380CC4-5D6E-409C-BE32-E72D297353CC}">
              <c16:uniqueId val="{0000001B-8FDB-4823-90BC-84D43A780B4C}"/>
            </c:ext>
          </c:extLst>
        </c:ser>
        <c:dLbls>
          <c:showLegendKey val="0"/>
          <c:showVal val="0"/>
          <c:showCatName val="0"/>
          <c:showSerName val="0"/>
          <c:showPercent val="0"/>
          <c:showBubbleSize val="0"/>
        </c:dLbls>
        <c:gapWidth val="80"/>
        <c:overlap val="100"/>
        <c:axId val="704261248"/>
        <c:axId val="1"/>
      </c:barChart>
      <c:catAx>
        <c:axId val="704261248"/>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200" kern="1200">
                <a:latin typeface="Arial"/>
                <a:ea typeface="Arial"/>
                <a:cs typeface="Arial"/>
                <a:sym typeface="Arial"/>
              </a:defRPr>
            </a:pPr>
            <a:endParaRPr lang="en-US"/>
          </a:p>
        </c:txPr>
        <c:crossAx val="1"/>
        <c:crossesAt val="0"/>
        <c:auto val="0"/>
        <c:lblAlgn val="ctr"/>
        <c:lblOffset val="100"/>
        <c:noMultiLvlLbl val="0"/>
      </c:catAx>
      <c:valAx>
        <c:axId val="1"/>
        <c:scaling>
          <c:orientation val="minMax"/>
          <c:max val="1631"/>
          <c:min val="-418"/>
        </c:scaling>
        <c:delete val="1"/>
        <c:axPos val="l"/>
        <c:numFmt formatCode="General" sourceLinked="1"/>
        <c:majorTickMark val="out"/>
        <c:minorTickMark val="none"/>
        <c:tickLblPos val="nextTo"/>
        <c:crossAx val="704261248"/>
        <c:crosses val="min"/>
        <c:crossBetween val="between"/>
      </c:valAx>
    </c:plotArea>
    <c:plotVisOnly val="0"/>
    <c:dispBlanksAs val="gap"/>
    <c:showDLblsOverMax val="1"/>
  </c:chart>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3614457831325301"/>
          <c:y val="0.13238770685579196"/>
          <c:w val="0.32771084337349399"/>
          <c:h val="0.73522458628841603"/>
        </c:manualLayout>
      </c:layout>
      <c:barChart>
        <c:barDir val="col"/>
        <c:grouping val="stacked"/>
        <c:varyColors val="0"/>
        <c:ser>
          <c:idx val="0"/>
          <c:order val="0"/>
          <c:spPr>
            <a:solidFill>
              <a:srgbClr val="046A38"/>
            </a:solidFill>
            <a:ln>
              <a:noFill/>
            </a:ln>
          </c:spPr>
          <c:invertIfNegative val="0"/>
          <c:dLbls>
            <c:dLbl>
              <c:idx val="0"/>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F86-4AD5-A19A-896D3D770492}"/>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2813.08</c:v>
                </c:pt>
              </c:numCache>
            </c:numRef>
          </c:val>
          <c:extLst>
            <c:ext xmlns:c16="http://schemas.microsoft.com/office/drawing/2014/chart" uri="{C3380CC4-5D6E-409C-BE32-E72D297353CC}">
              <c16:uniqueId val="{00000001-4F86-4AD5-A19A-896D3D770492}"/>
            </c:ext>
          </c:extLst>
        </c:ser>
        <c:ser>
          <c:idx val="1"/>
          <c:order val="1"/>
          <c:spPr>
            <a:solidFill>
              <a:srgbClr val="86BC25"/>
            </a:solidFill>
            <a:ln>
              <a:noFill/>
            </a:ln>
          </c:spPr>
          <c:invertIfNegative val="0"/>
          <c:dLbls>
            <c:dLbl>
              <c:idx val="0"/>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F86-4AD5-A19A-896D3D770492}"/>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4770.8500000000004</c:v>
                </c:pt>
              </c:numCache>
            </c:numRef>
          </c:val>
          <c:extLst>
            <c:ext xmlns:c16="http://schemas.microsoft.com/office/drawing/2014/chart" uri="{C3380CC4-5D6E-409C-BE32-E72D297353CC}">
              <c16:uniqueId val="{00000003-4F86-4AD5-A19A-896D3D770492}"/>
            </c:ext>
          </c:extLst>
        </c:ser>
        <c:ser>
          <c:idx val="2"/>
          <c:order val="2"/>
          <c:spPr>
            <a:solidFill>
              <a:srgbClr val="62B5E5"/>
            </a:solidFill>
            <a:ln>
              <a:noFill/>
            </a:ln>
          </c:spPr>
          <c:invertIfNegative val="0"/>
          <c:val>
            <c:numRef>
              <c:f>Sheet1!$A$3</c:f>
              <c:numCache>
                <c:formatCode>General</c:formatCode>
                <c:ptCount val="1"/>
                <c:pt idx="0">
                  <c:v>-42.497959999999999</c:v>
                </c:pt>
              </c:numCache>
            </c:numRef>
          </c:val>
          <c:extLst>
            <c:ext xmlns:c16="http://schemas.microsoft.com/office/drawing/2014/chart" uri="{C3380CC4-5D6E-409C-BE32-E72D297353CC}">
              <c16:uniqueId val="{00000004-4F86-4AD5-A19A-896D3D770492}"/>
            </c:ext>
          </c:extLst>
        </c:ser>
        <c:dLbls>
          <c:showLegendKey val="0"/>
          <c:showVal val="0"/>
          <c:showCatName val="0"/>
          <c:showSerName val="0"/>
          <c:showPercent val="0"/>
          <c:showBubbleSize val="0"/>
        </c:dLbls>
        <c:gapWidth val="80"/>
        <c:overlap val="100"/>
        <c:axId val="709589904"/>
        <c:axId val="1"/>
      </c:barChart>
      <c:catAx>
        <c:axId val="709589904"/>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200" kern="1200">
                <a:latin typeface="Arial"/>
                <a:ea typeface="Arial"/>
                <a:cs typeface="Arial"/>
                <a:sym typeface="Arial"/>
              </a:defRPr>
            </a:pPr>
            <a:endParaRPr lang="en-US"/>
          </a:p>
        </c:txPr>
        <c:crossAx val="1"/>
        <c:crossesAt val="0"/>
        <c:auto val="0"/>
        <c:lblAlgn val="ctr"/>
        <c:lblOffset val="100"/>
        <c:noMultiLvlLbl val="0"/>
      </c:catAx>
      <c:valAx>
        <c:axId val="1"/>
        <c:scaling>
          <c:orientation val="minMax"/>
          <c:max val="7583.93"/>
          <c:min val="-42.497959999999999"/>
        </c:scaling>
        <c:delete val="1"/>
        <c:axPos val="l"/>
        <c:numFmt formatCode="General" sourceLinked="1"/>
        <c:majorTickMark val="out"/>
        <c:minorTickMark val="none"/>
        <c:tickLblPos val="nextTo"/>
        <c:crossAx val="709589904"/>
        <c:crosses val="min"/>
        <c:crossBetween val="between"/>
      </c:valAx>
    </c:plotArea>
    <c:plotVisOnly val="0"/>
    <c:dispBlanksAs val="gap"/>
    <c:showDLblsOverMax val="1"/>
  </c:chart>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5844155844155845"/>
          <c:y val="0.16"/>
          <c:w val="0.28259740259740262"/>
          <c:h val="0.68"/>
        </c:manualLayout>
      </c:layout>
      <c:barChart>
        <c:barDir val="col"/>
        <c:grouping val="stacked"/>
        <c:varyColors val="0"/>
        <c:ser>
          <c:idx val="0"/>
          <c:order val="0"/>
          <c:spPr>
            <a:solidFill>
              <a:srgbClr val="046A38"/>
            </a:solidFill>
            <a:ln>
              <a:noFill/>
            </a:ln>
          </c:spPr>
          <c:invertIfNegative val="0"/>
          <c:dLbls>
            <c:dLbl>
              <c:idx val="0"/>
              <c:layout>
                <c:manualLayout>
                  <c:x val="0.15532467532467534"/>
                  <c:y val="-3.3333333333333333E-2"/>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D23-416E-94FC-9E1A01E572B7}"/>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1834</c:v>
                </c:pt>
              </c:numCache>
            </c:numRef>
          </c:val>
          <c:extLst>
            <c:ext xmlns:c16="http://schemas.microsoft.com/office/drawing/2014/chart" uri="{C3380CC4-5D6E-409C-BE32-E72D297353CC}">
              <c16:uniqueId val="{00000001-BD23-416E-94FC-9E1A01E572B7}"/>
            </c:ext>
          </c:extLst>
        </c:ser>
        <c:ser>
          <c:idx val="1"/>
          <c:order val="1"/>
          <c:spPr>
            <a:solidFill>
              <a:srgbClr val="86BC25"/>
            </a:solidFill>
            <a:ln>
              <a:noFill/>
            </a:ln>
          </c:spPr>
          <c:invertIfNegative val="0"/>
          <c:dLbls>
            <c:dLbl>
              <c:idx val="0"/>
              <c:layout>
                <c:manualLayout>
                  <c:x val="0"/>
                  <c:y val="-9.5238095238095238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D23-416E-94FC-9E1A01E572B7}"/>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12788</c:v>
                </c:pt>
              </c:numCache>
            </c:numRef>
          </c:val>
          <c:extLst>
            <c:ext xmlns:c16="http://schemas.microsoft.com/office/drawing/2014/chart" uri="{C3380CC4-5D6E-409C-BE32-E72D297353CC}">
              <c16:uniqueId val="{00000003-BD23-416E-94FC-9E1A01E572B7}"/>
            </c:ext>
          </c:extLst>
        </c:ser>
        <c:ser>
          <c:idx val="2"/>
          <c:order val="2"/>
          <c:spPr>
            <a:solidFill>
              <a:srgbClr val="ED8B00"/>
            </a:solidFill>
            <a:ln>
              <a:noFill/>
            </a:ln>
          </c:spPr>
          <c:invertIfNegative val="0"/>
          <c:val>
            <c:numRef>
              <c:f>Sheet1!$A$3</c:f>
              <c:numCache>
                <c:formatCode>General</c:formatCode>
                <c:ptCount val="1"/>
                <c:pt idx="0">
                  <c:v>-1942</c:v>
                </c:pt>
              </c:numCache>
            </c:numRef>
          </c:val>
          <c:extLst>
            <c:ext xmlns:c16="http://schemas.microsoft.com/office/drawing/2014/chart" uri="{C3380CC4-5D6E-409C-BE32-E72D297353CC}">
              <c16:uniqueId val="{00000004-BD23-416E-94FC-9E1A01E572B7}"/>
            </c:ext>
          </c:extLst>
        </c:ser>
        <c:dLbls>
          <c:showLegendKey val="0"/>
          <c:showVal val="0"/>
          <c:showCatName val="0"/>
          <c:showSerName val="0"/>
          <c:showPercent val="0"/>
          <c:showBubbleSize val="0"/>
        </c:dLbls>
        <c:gapWidth val="80"/>
        <c:overlap val="100"/>
        <c:axId val="1541177727"/>
        <c:axId val="1"/>
      </c:barChart>
      <c:catAx>
        <c:axId val="1541177727"/>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200" kern="1200">
                <a:latin typeface="Arial"/>
                <a:ea typeface="Arial"/>
                <a:cs typeface="Arial"/>
                <a:sym typeface="Arial"/>
              </a:defRPr>
            </a:pPr>
            <a:endParaRPr lang="en-US"/>
          </a:p>
        </c:txPr>
        <c:crossAx val="1"/>
        <c:crossesAt val="0"/>
        <c:auto val="0"/>
        <c:lblAlgn val="ctr"/>
        <c:lblOffset val="100"/>
        <c:noMultiLvlLbl val="0"/>
      </c:catAx>
      <c:valAx>
        <c:axId val="1"/>
        <c:scaling>
          <c:orientation val="minMax"/>
          <c:max val="14622"/>
          <c:min val="-1942"/>
        </c:scaling>
        <c:delete val="1"/>
        <c:axPos val="l"/>
        <c:numFmt formatCode="General" sourceLinked="1"/>
        <c:majorTickMark val="out"/>
        <c:minorTickMark val="none"/>
        <c:tickLblPos val="nextTo"/>
        <c:crossAx val="1541177727"/>
        <c:crosses val="min"/>
        <c:crossBetween val="between"/>
      </c:valAx>
    </c:plotArea>
    <c:plotVisOnly val="0"/>
    <c:dispBlanksAs val="gap"/>
    <c:showDLblsOverMax val="1"/>
  </c:chart>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ja-JP" sz="1680" b="1" i="0" u="none" strike="noStrike" kern="1200" spc="0" baseline="0">
                <a:solidFill>
                  <a:schemeClr val="tx1"/>
                </a:solidFill>
                <a:latin typeface="+mn-lt"/>
                <a:ea typeface="+mn-ea"/>
                <a:cs typeface="+mn-cs"/>
              </a:defRPr>
            </a:pPr>
            <a:r>
              <a:rPr lang="en-US" b="1"/>
              <a:t>Sub-Station Capacity Increment</a:t>
            </a:r>
          </a:p>
        </c:rich>
      </c:tx>
      <c:overlay val="0"/>
      <c:spPr>
        <a:noFill/>
        <a:ln>
          <a:noFill/>
        </a:ln>
        <a:effectLst/>
      </c:spPr>
      <c:txPr>
        <a:bodyPr rot="0" spcFirstLastPara="1" vertOverflow="ellipsis" vert="horz" wrap="square" anchor="ctr" anchorCtr="1"/>
        <a:lstStyle/>
        <a:p>
          <a:pPr>
            <a:defRPr lang="ja-JP" sz="1680" b="1" i="0" u="none" strike="noStrike" kern="1200" spc="0" baseline="0">
              <a:solidFill>
                <a:schemeClr val="tx1"/>
              </a:solidFill>
              <a:latin typeface="+mn-lt"/>
              <a:ea typeface="+mn-ea"/>
              <a:cs typeface="+mn-cs"/>
            </a:defRPr>
          </a:pPr>
          <a:endParaRPr lang="en-US"/>
        </a:p>
      </c:txPr>
    </c:title>
    <c:autoTitleDeleted val="0"/>
    <c:plotArea>
      <c:layout/>
      <c:barChart>
        <c:barDir val="col"/>
        <c:grouping val="stacked"/>
        <c:varyColors val="0"/>
        <c:ser>
          <c:idx val="0"/>
          <c:order val="0"/>
          <c:tx>
            <c:strRef>
              <c:f>Sheet1!$B$1</c:f>
              <c:strCache>
                <c:ptCount val="1"/>
                <c:pt idx="0">
                  <c:v>Sub_Station Capacity (MVA)</c:v>
                </c:pt>
              </c:strCache>
            </c:strRef>
          </c:tx>
          <c:spPr>
            <a:solidFill>
              <a:schemeClr val="accent1"/>
            </a:solidFill>
            <a:ln>
              <a:noFill/>
            </a:ln>
            <a:effectLst/>
          </c:spPr>
          <c:invertIfNegative val="0"/>
          <c:dLbls>
            <c:dLbl>
              <c:idx val="0"/>
              <c:layout>
                <c:manualLayout>
                  <c:x val="-6.7725699894447553E-3"/>
                  <c:y val="-0.11588246780383568"/>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7AB-425A-B4D8-9961430AD91D}"/>
                </c:ext>
              </c:extLst>
            </c:dLbl>
            <c:dLbl>
              <c:idx val="1"/>
              <c:layout>
                <c:manualLayout>
                  <c:x val="-2.2575233298149358E-3"/>
                  <c:y val="-0.1191933954553737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7AB-425A-B4D8-9961430AD91D}"/>
                </c:ext>
              </c:extLst>
            </c:dLbl>
            <c:dLbl>
              <c:idx val="2"/>
              <c:layout>
                <c:manualLayout>
                  <c:x val="0"/>
                  <c:y val="-0.12581525075845015"/>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7AB-425A-B4D8-9961430AD91D}"/>
                </c:ext>
              </c:extLst>
            </c:dLbl>
            <c:dLbl>
              <c:idx val="3"/>
              <c:layout>
                <c:manualLayout>
                  <c:x val="-2.2575233298149566E-3"/>
                  <c:y val="-0.13574803371306465"/>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7AB-425A-B4D8-9961430AD91D}"/>
                </c:ext>
              </c:extLst>
            </c:dLbl>
            <c:dLbl>
              <c:idx val="4"/>
              <c:layout>
                <c:manualLayout>
                  <c:x val="0"/>
                  <c:y val="-0.15230267197075539"/>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7AB-425A-B4D8-9961430AD91D}"/>
                </c:ext>
              </c:extLst>
            </c:dLbl>
            <c:dLbl>
              <c:idx val="5"/>
              <c:layout>
                <c:manualLayout>
                  <c:x val="0"/>
                  <c:y val="-0.1589245272738317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7AB-425A-B4D8-9961430AD91D}"/>
                </c:ext>
              </c:extLst>
            </c:dLbl>
            <c:dLbl>
              <c:idx val="6"/>
              <c:layout>
                <c:manualLayout>
                  <c:x val="0"/>
                  <c:y val="-0.20858844204690405"/>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7AB-425A-B4D8-9961430AD91D}"/>
                </c:ext>
              </c:extLst>
            </c:dLbl>
            <c:dLbl>
              <c:idx val="7"/>
              <c:layout>
                <c:manualLayout>
                  <c:x val="0"/>
                  <c:y val="-0.22514308030459496"/>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47AB-425A-B4D8-9961430AD91D}"/>
                </c:ext>
              </c:extLst>
            </c:dLbl>
            <c:dLbl>
              <c:idx val="8"/>
              <c:layout>
                <c:manualLayout>
                  <c:x val="0"/>
                  <c:y val="-0.251630501516900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47AB-425A-B4D8-9961430AD91D}"/>
                </c:ext>
              </c:extLst>
            </c:dLbl>
            <c:dLbl>
              <c:idx val="9"/>
              <c:layout>
                <c:manualLayout>
                  <c:x val="-2.257523329814915E-3"/>
                  <c:y val="-0.34102554810843055"/>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47AB-425A-B4D8-9961430AD91D}"/>
                </c:ext>
              </c:extLst>
            </c:dLbl>
            <c:numFmt formatCode="#,##0" sourceLinked="0"/>
            <c:spPr>
              <a:noFill/>
              <a:ln>
                <a:noFill/>
              </a:ln>
              <a:effectLst/>
            </c:spPr>
            <c:txPr>
              <a:bodyPr rot="0" spcFirstLastPara="1" vertOverflow="ellipsis" vert="horz" wrap="square" anchor="ctr" anchorCtr="1"/>
              <a:lstStyle/>
              <a:p>
                <a:pPr>
                  <a:defRPr lang="ja-JP" sz="14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Sheet1!$A$2:$A$11</c:f>
              <c:strCache>
                <c:ptCount val="10"/>
                <c:pt idx="0">
                  <c:v>2014-15</c:v>
                </c:pt>
                <c:pt idx="1">
                  <c:v>2015-16</c:v>
                </c:pt>
                <c:pt idx="2">
                  <c:v>2016-17</c:v>
                </c:pt>
                <c:pt idx="3">
                  <c:v>2017-18</c:v>
                </c:pt>
                <c:pt idx="4">
                  <c:v>2018-19</c:v>
                </c:pt>
                <c:pt idx="5">
                  <c:v>2019-20</c:v>
                </c:pt>
                <c:pt idx="6">
                  <c:v>2020-21</c:v>
                </c:pt>
                <c:pt idx="7">
                  <c:v>2021-22</c:v>
                </c:pt>
                <c:pt idx="8">
                  <c:v>2022-23</c:v>
                </c:pt>
                <c:pt idx="9">
                  <c:v>2023-24</c:v>
                </c:pt>
              </c:strCache>
            </c:strRef>
          </c:cat>
          <c:val>
            <c:numRef>
              <c:f>Sheet1!$B$2:$B$11</c:f>
              <c:numCache>
                <c:formatCode>General</c:formatCode>
                <c:ptCount val="10"/>
                <c:pt idx="0">
                  <c:v>2132</c:v>
                </c:pt>
                <c:pt idx="1">
                  <c:v>2223</c:v>
                </c:pt>
                <c:pt idx="2">
                  <c:v>2618</c:v>
                </c:pt>
                <c:pt idx="3">
                  <c:v>3198</c:v>
                </c:pt>
                <c:pt idx="4">
                  <c:v>3935</c:v>
                </c:pt>
                <c:pt idx="5">
                  <c:v>4300</c:v>
                </c:pt>
                <c:pt idx="6">
                  <c:v>6434</c:v>
                </c:pt>
                <c:pt idx="7">
                  <c:v>7149</c:v>
                </c:pt>
                <c:pt idx="8">
                  <c:v>8867</c:v>
                </c:pt>
                <c:pt idx="9">
                  <c:v>13050</c:v>
                </c:pt>
              </c:numCache>
            </c:numRef>
          </c:val>
          <c:extLst>
            <c:ext xmlns:c16="http://schemas.microsoft.com/office/drawing/2014/chart" uri="{C3380CC4-5D6E-409C-BE32-E72D297353CC}">
              <c16:uniqueId val="{00000004-47AB-425A-B4D8-9961430AD91D}"/>
            </c:ext>
          </c:extLst>
        </c:ser>
        <c:dLbls>
          <c:dLblPos val="ctr"/>
          <c:showLegendKey val="0"/>
          <c:showVal val="1"/>
          <c:showCatName val="0"/>
          <c:showSerName val="0"/>
          <c:showPercent val="0"/>
          <c:showBubbleSize val="0"/>
        </c:dLbls>
        <c:gapWidth val="150"/>
        <c:overlap val="100"/>
        <c:axId val="842203103"/>
        <c:axId val="666324575"/>
      </c:barChart>
      <c:catAx>
        <c:axId val="842203103"/>
        <c:scaling>
          <c:orientation val="minMax"/>
        </c:scaling>
        <c:delete val="0"/>
        <c:axPos val="b"/>
        <c:numFmt formatCode="General" sourceLinked="1"/>
        <c:majorTickMark val="none"/>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lang="ja-JP" sz="1400" b="0" i="0" u="none" strike="noStrike" kern="1200" baseline="0">
                <a:solidFill>
                  <a:schemeClr val="tx1"/>
                </a:solidFill>
                <a:latin typeface="+mn-lt"/>
                <a:ea typeface="+mn-ea"/>
                <a:cs typeface="+mn-cs"/>
              </a:defRPr>
            </a:pPr>
            <a:endParaRPr lang="en-US"/>
          </a:p>
        </c:txPr>
        <c:crossAx val="666324575"/>
        <c:crosses val="autoZero"/>
        <c:auto val="1"/>
        <c:lblAlgn val="ctr"/>
        <c:lblOffset val="100"/>
        <c:noMultiLvlLbl val="0"/>
      </c:catAx>
      <c:valAx>
        <c:axId val="666324575"/>
        <c:scaling>
          <c:orientation val="minMax"/>
          <c:max val="14000"/>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842203103"/>
        <c:crosses val="autoZero"/>
        <c:crossBetween val="between"/>
        <c:majorUnit val="2000"/>
      </c:valAx>
      <c:spPr>
        <a:noFill/>
        <a:ln>
          <a:noFill/>
        </a:ln>
        <a:effectLst/>
      </c:spPr>
    </c:plotArea>
    <c:legend>
      <c:legendPos val="b"/>
      <c:overlay val="0"/>
      <c:spPr>
        <a:noFill/>
        <a:ln>
          <a:noFill/>
        </a:ln>
        <a:effectLst/>
      </c:spPr>
      <c:txPr>
        <a:bodyPr rot="0" spcFirstLastPara="1" vertOverflow="ellipsis" vert="horz" wrap="square" anchor="ctr" anchorCtr="1"/>
        <a:lstStyle/>
        <a:p>
          <a:pPr>
            <a:defRPr lang="ja-JP" sz="14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rot="0" vert="eaVert"/>
    <a:lstStyle/>
    <a:p>
      <a:pPr>
        <a:defRPr sz="1400">
          <a:solidFill>
            <a:schemeClr val="tx1"/>
          </a:solidFill>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ja-JP" sz="1680" b="1" i="0" u="none" strike="noStrike" kern="1200" spc="0" baseline="0">
                <a:solidFill>
                  <a:schemeClr val="tx1"/>
                </a:solidFill>
                <a:latin typeface="+mn-lt"/>
                <a:ea typeface="+mn-ea"/>
                <a:cs typeface="+mn-cs"/>
              </a:defRPr>
            </a:pPr>
            <a:r>
              <a:rPr lang="en-US" b="1"/>
              <a:t>Transmission Line Length (Circuit kM)</a:t>
            </a:r>
          </a:p>
        </c:rich>
      </c:tx>
      <c:overlay val="0"/>
      <c:spPr>
        <a:noFill/>
        <a:ln>
          <a:noFill/>
        </a:ln>
        <a:effectLst/>
      </c:spPr>
      <c:txPr>
        <a:bodyPr rot="0" spcFirstLastPara="1" vertOverflow="ellipsis" vert="horz" wrap="square" anchor="ctr" anchorCtr="1"/>
        <a:lstStyle/>
        <a:p>
          <a:pPr>
            <a:defRPr lang="ja-JP" sz="1680" b="1" i="0" u="none" strike="noStrike" kern="1200" spc="0" baseline="0">
              <a:solidFill>
                <a:schemeClr val="tx1"/>
              </a:solidFill>
              <a:latin typeface="+mn-lt"/>
              <a:ea typeface="+mn-ea"/>
              <a:cs typeface="+mn-cs"/>
            </a:defRPr>
          </a:pPr>
          <a:endParaRPr lang="en-US"/>
        </a:p>
      </c:txPr>
    </c:title>
    <c:autoTitleDeleted val="0"/>
    <c:plotArea>
      <c:layout/>
      <c:barChart>
        <c:barDir val="col"/>
        <c:grouping val="stacked"/>
        <c:varyColors val="0"/>
        <c:ser>
          <c:idx val="0"/>
          <c:order val="0"/>
          <c:tx>
            <c:strRef>
              <c:f>Sheet1!$B$1</c:f>
              <c:strCache>
                <c:ptCount val="1"/>
                <c:pt idx="0">
                  <c:v>66 kV</c:v>
                </c:pt>
              </c:strCache>
            </c:strRef>
          </c:tx>
          <c:spPr>
            <a:solidFill>
              <a:schemeClr val="accent1"/>
            </a:solidFill>
            <a:ln>
              <a:noFill/>
            </a:ln>
            <a:effectLst/>
          </c:spPr>
          <c:invertIfNegative val="0"/>
          <c:cat>
            <c:strRef>
              <c:f>Sheet1!$A$2:$A$11</c:f>
              <c:strCache>
                <c:ptCount val="10"/>
                <c:pt idx="0">
                  <c:v>2014-15</c:v>
                </c:pt>
                <c:pt idx="1">
                  <c:v>2015-16</c:v>
                </c:pt>
                <c:pt idx="2">
                  <c:v>2016-17</c:v>
                </c:pt>
                <c:pt idx="3">
                  <c:v>2017-18</c:v>
                </c:pt>
                <c:pt idx="4">
                  <c:v>2018-19</c:v>
                </c:pt>
                <c:pt idx="5">
                  <c:v>2019-20</c:v>
                </c:pt>
                <c:pt idx="6">
                  <c:v>2020-21</c:v>
                </c:pt>
                <c:pt idx="7">
                  <c:v>2021-22</c:v>
                </c:pt>
                <c:pt idx="8">
                  <c:v>2022-23</c:v>
                </c:pt>
                <c:pt idx="9">
                  <c:v>2023-24</c:v>
                </c:pt>
              </c:strCache>
            </c:strRef>
          </c:cat>
          <c:val>
            <c:numRef>
              <c:f>Sheet1!$B$2:$B$11</c:f>
              <c:numCache>
                <c:formatCode>0%</c:formatCode>
                <c:ptCount val="10"/>
                <c:pt idx="0">
                  <c:v>0.18826219512195122</c:v>
                </c:pt>
                <c:pt idx="1">
                  <c:v>0.16970113363105463</c:v>
                </c:pt>
                <c:pt idx="2">
                  <c:v>0.15232809127351218</c:v>
                </c:pt>
                <c:pt idx="3">
                  <c:v>0.15189125295508274</c:v>
                </c:pt>
                <c:pt idx="4">
                  <c:v>0.12882205513784462</c:v>
                </c:pt>
                <c:pt idx="5">
                  <c:v>0.12040290466151324</c:v>
                </c:pt>
                <c:pt idx="6">
                  <c:v>0.10545752974969225</c:v>
                </c:pt>
                <c:pt idx="7">
                  <c:v>9.6435272045028136E-2</c:v>
                </c:pt>
                <c:pt idx="8">
                  <c:v>8.951584813653779E-2</c:v>
                </c:pt>
                <c:pt idx="9">
                  <c:v>7.8991854925464886E-2</c:v>
                </c:pt>
              </c:numCache>
            </c:numRef>
          </c:val>
          <c:extLst>
            <c:ext xmlns:c16="http://schemas.microsoft.com/office/drawing/2014/chart" uri="{C3380CC4-5D6E-409C-BE32-E72D297353CC}">
              <c16:uniqueId val="{00000000-9F67-42F1-B1A2-037471F336B2}"/>
            </c:ext>
          </c:extLst>
        </c:ser>
        <c:ser>
          <c:idx val="1"/>
          <c:order val="1"/>
          <c:tx>
            <c:strRef>
              <c:f>Sheet1!$C$1</c:f>
              <c:strCache>
                <c:ptCount val="1"/>
                <c:pt idx="0">
                  <c:v>132 kV</c:v>
                </c:pt>
              </c:strCache>
            </c:strRef>
          </c:tx>
          <c:spPr>
            <a:solidFill>
              <a:schemeClr val="accent2"/>
            </a:solidFill>
            <a:ln>
              <a:noFill/>
            </a:ln>
            <a:effectLst/>
          </c:spPr>
          <c:invertIfNegative val="0"/>
          <c:cat>
            <c:strRef>
              <c:f>Sheet1!$A$2:$A$11</c:f>
              <c:strCache>
                <c:ptCount val="10"/>
                <c:pt idx="0">
                  <c:v>2014-15</c:v>
                </c:pt>
                <c:pt idx="1">
                  <c:v>2015-16</c:v>
                </c:pt>
                <c:pt idx="2">
                  <c:v>2016-17</c:v>
                </c:pt>
                <c:pt idx="3">
                  <c:v>2017-18</c:v>
                </c:pt>
                <c:pt idx="4">
                  <c:v>2018-19</c:v>
                </c:pt>
                <c:pt idx="5">
                  <c:v>2019-20</c:v>
                </c:pt>
                <c:pt idx="6">
                  <c:v>2020-21</c:v>
                </c:pt>
                <c:pt idx="7">
                  <c:v>2021-22</c:v>
                </c:pt>
                <c:pt idx="8">
                  <c:v>2022-23</c:v>
                </c:pt>
                <c:pt idx="9">
                  <c:v>2023-24</c:v>
                </c:pt>
              </c:strCache>
            </c:strRef>
          </c:cat>
          <c:val>
            <c:numRef>
              <c:f>Sheet1!$C$2:$C$11</c:f>
              <c:numCache>
                <c:formatCode>0%</c:formatCode>
                <c:ptCount val="10"/>
                <c:pt idx="0">
                  <c:v>0.81173780487804881</c:v>
                </c:pt>
                <c:pt idx="1">
                  <c:v>0.83029886636894534</c:v>
                </c:pt>
                <c:pt idx="2">
                  <c:v>0.80049337033610857</c:v>
                </c:pt>
                <c:pt idx="3">
                  <c:v>0.8028959810874704</c:v>
                </c:pt>
                <c:pt idx="4">
                  <c:v>0.78771929824561404</c:v>
                </c:pt>
                <c:pt idx="5">
                  <c:v>0.75895994378074494</c:v>
                </c:pt>
                <c:pt idx="6">
                  <c:v>0.72650800164136231</c:v>
                </c:pt>
                <c:pt idx="7">
                  <c:v>0.71613508442776741</c:v>
                </c:pt>
                <c:pt idx="8">
                  <c:v>0.69296412399860674</c:v>
                </c:pt>
                <c:pt idx="9">
                  <c:v>0.63562317504226218</c:v>
                </c:pt>
              </c:numCache>
            </c:numRef>
          </c:val>
          <c:extLst>
            <c:ext xmlns:c16="http://schemas.microsoft.com/office/drawing/2014/chart" uri="{C3380CC4-5D6E-409C-BE32-E72D297353CC}">
              <c16:uniqueId val="{00000001-9F67-42F1-B1A2-037471F336B2}"/>
            </c:ext>
          </c:extLst>
        </c:ser>
        <c:ser>
          <c:idx val="2"/>
          <c:order val="2"/>
          <c:tx>
            <c:strRef>
              <c:f>Sheet1!$D$1</c:f>
              <c:strCache>
                <c:ptCount val="1"/>
                <c:pt idx="0">
                  <c:v>220 kV</c:v>
                </c:pt>
              </c:strCache>
            </c:strRef>
          </c:tx>
          <c:spPr>
            <a:solidFill>
              <a:schemeClr val="accent3"/>
            </a:solidFill>
            <a:ln>
              <a:noFill/>
            </a:ln>
            <a:effectLst/>
          </c:spPr>
          <c:invertIfNegative val="0"/>
          <c:cat>
            <c:strRef>
              <c:f>Sheet1!$A$2:$A$11</c:f>
              <c:strCache>
                <c:ptCount val="10"/>
                <c:pt idx="0">
                  <c:v>2014-15</c:v>
                </c:pt>
                <c:pt idx="1">
                  <c:v>2015-16</c:v>
                </c:pt>
                <c:pt idx="2">
                  <c:v>2016-17</c:v>
                </c:pt>
                <c:pt idx="3">
                  <c:v>2017-18</c:v>
                </c:pt>
                <c:pt idx="4">
                  <c:v>2018-19</c:v>
                </c:pt>
                <c:pt idx="5">
                  <c:v>2019-20</c:v>
                </c:pt>
                <c:pt idx="6">
                  <c:v>2020-21</c:v>
                </c:pt>
                <c:pt idx="7">
                  <c:v>2021-22</c:v>
                </c:pt>
                <c:pt idx="8">
                  <c:v>2022-23</c:v>
                </c:pt>
                <c:pt idx="9">
                  <c:v>2023-24</c:v>
                </c:pt>
              </c:strCache>
            </c:strRef>
          </c:cat>
          <c:val>
            <c:numRef>
              <c:f>Sheet1!$D$2:$D$11</c:f>
              <c:numCache>
                <c:formatCode>0%</c:formatCode>
                <c:ptCount val="10"/>
                <c:pt idx="0">
                  <c:v>0</c:v>
                </c:pt>
                <c:pt idx="1">
                  <c:v>0</c:v>
                </c:pt>
                <c:pt idx="2">
                  <c:v>2.3126734505087881E-2</c:v>
                </c:pt>
                <c:pt idx="3">
                  <c:v>2.2163120567375887E-2</c:v>
                </c:pt>
                <c:pt idx="4">
                  <c:v>6.3909774436090222E-2</c:v>
                </c:pt>
                <c:pt idx="5">
                  <c:v>0.10236589365190911</c:v>
                </c:pt>
                <c:pt idx="6">
                  <c:v>0.15203118588428396</c:v>
                </c:pt>
                <c:pt idx="7">
                  <c:v>0.16829268292682928</c:v>
                </c:pt>
                <c:pt idx="8">
                  <c:v>0.19174503657262279</c:v>
                </c:pt>
                <c:pt idx="9">
                  <c:v>0.18641463039803288</c:v>
                </c:pt>
              </c:numCache>
            </c:numRef>
          </c:val>
          <c:extLst>
            <c:ext xmlns:c16="http://schemas.microsoft.com/office/drawing/2014/chart" uri="{C3380CC4-5D6E-409C-BE32-E72D297353CC}">
              <c16:uniqueId val="{00000002-9F67-42F1-B1A2-037471F336B2}"/>
            </c:ext>
          </c:extLst>
        </c:ser>
        <c:ser>
          <c:idx val="3"/>
          <c:order val="3"/>
          <c:tx>
            <c:strRef>
              <c:f>Sheet1!$E$1</c:f>
              <c:strCache>
                <c:ptCount val="1"/>
                <c:pt idx="0">
                  <c:v>400 kV</c:v>
                </c:pt>
              </c:strCache>
            </c:strRef>
          </c:tx>
          <c:spPr>
            <a:solidFill>
              <a:schemeClr val="accent4"/>
            </a:solidFill>
            <a:ln>
              <a:noFill/>
            </a:ln>
            <a:effectLst/>
          </c:spPr>
          <c:invertIfNegative val="0"/>
          <c:cat>
            <c:strRef>
              <c:f>Sheet1!$A$2:$A$11</c:f>
              <c:strCache>
                <c:ptCount val="10"/>
                <c:pt idx="0">
                  <c:v>2014-15</c:v>
                </c:pt>
                <c:pt idx="1">
                  <c:v>2015-16</c:v>
                </c:pt>
                <c:pt idx="2">
                  <c:v>2016-17</c:v>
                </c:pt>
                <c:pt idx="3">
                  <c:v>2017-18</c:v>
                </c:pt>
                <c:pt idx="4">
                  <c:v>2018-19</c:v>
                </c:pt>
                <c:pt idx="5">
                  <c:v>2019-20</c:v>
                </c:pt>
                <c:pt idx="6">
                  <c:v>2020-21</c:v>
                </c:pt>
                <c:pt idx="7">
                  <c:v>2021-22</c:v>
                </c:pt>
                <c:pt idx="8">
                  <c:v>2022-23</c:v>
                </c:pt>
                <c:pt idx="9">
                  <c:v>2023-24</c:v>
                </c:pt>
              </c:strCache>
            </c:strRef>
          </c:cat>
          <c:val>
            <c:numRef>
              <c:f>Sheet1!$E$2:$E$11</c:f>
              <c:numCache>
                <c:formatCode>0%</c:formatCode>
                <c:ptCount val="10"/>
                <c:pt idx="0">
                  <c:v>0</c:v>
                </c:pt>
                <c:pt idx="1">
                  <c:v>0</c:v>
                </c:pt>
                <c:pt idx="2">
                  <c:v>2.4051803885291396E-2</c:v>
                </c:pt>
                <c:pt idx="3">
                  <c:v>2.3049645390070921E-2</c:v>
                </c:pt>
                <c:pt idx="4">
                  <c:v>1.9548872180451128E-2</c:v>
                </c:pt>
                <c:pt idx="5">
                  <c:v>1.8271257905832748E-2</c:v>
                </c:pt>
                <c:pt idx="6">
                  <c:v>1.600328272466147E-2</c:v>
                </c:pt>
                <c:pt idx="7">
                  <c:v>1.9136960600375234E-2</c:v>
                </c:pt>
                <c:pt idx="8">
                  <c:v>2.5774991292232673E-2</c:v>
                </c:pt>
                <c:pt idx="9">
                  <c:v>9.8970339634240054E-2</c:v>
                </c:pt>
              </c:numCache>
            </c:numRef>
          </c:val>
          <c:extLst>
            <c:ext xmlns:c16="http://schemas.microsoft.com/office/drawing/2014/chart" uri="{C3380CC4-5D6E-409C-BE32-E72D297353CC}">
              <c16:uniqueId val="{00000003-9F67-42F1-B1A2-037471F336B2}"/>
            </c:ext>
          </c:extLst>
        </c:ser>
        <c:dLbls>
          <c:showLegendKey val="0"/>
          <c:showVal val="0"/>
          <c:showCatName val="0"/>
          <c:showSerName val="0"/>
          <c:showPercent val="0"/>
          <c:showBubbleSize val="0"/>
        </c:dLbls>
        <c:gapWidth val="219"/>
        <c:overlap val="100"/>
        <c:axId val="1118716383"/>
        <c:axId val="660974143"/>
      </c:barChart>
      <c:lineChart>
        <c:grouping val="standard"/>
        <c:varyColors val="0"/>
        <c:ser>
          <c:idx val="4"/>
          <c:order val="4"/>
          <c:tx>
            <c:strRef>
              <c:f>Sheet1!$F$1</c:f>
              <c:strCache>
                <c:ptCount val="1"/>
                <c:pt idx="0">
                  <c:v>Total</c:v>
                </c:pt>
              </c:strCache>
            </c:strRef>
          </c:tx>
          <c:spPr>
            <a:ln w="28575" cap="rnd">
              <a:solidFill>
                <a:schemeClr val="accent6"/>
              </a:solidFill>
              <a:round/>
            </a:ln>
            <a:effectLst/>
          </c:spPr>
          <c:marker>
            <c:symbol val="none"/>
          </c:marker>
          <c:cat>
            <c:strRef>
              <c:f>Sheet1!$A$2:$A$11</c:f>
              <c:strCache>
                <c:ptCount val="10"/>
                <c:pt idx="0">
                  <c:v>2014-15</c:v>
                </c:pt>
                <c:pt idx="1">
                  <c:v>2015-16</c:v>
                </c:pt>
                <c:pt idx="2">
                  <c:v>2016-17</c:v>
                </c:pt>
                <c:pt idx="3">
                  <c:v>2017-18</c:v>
                </c:pt>
                <c:pt idx="4">
                  <c:v>2018-19</c:v>
                </c:pt>
                <c:pt idx="5">
                  <c:v>2019-20</c:v>
                </c:pt>
                <c:pt idx="6">
                  <c:v>2020-21</c:v>
                </c:pt>
                <c:pt idx="7">
                  <c:v>2021-22</c:v>
                </c:pt>
                <c:pt idx="8">
                  <c:v>2022-23</c:v>
                </c:pt>
                <c:pt idx="9">
                  <c:v>2023-24</c:v>
                </c:pt>
              </c:strCache>
            </c:strRef>
          </c:cat>
          <c:val>
            <c:numRef>
              <c:f>Sheet1!$F$2:$F$11</c:f>
              <c:numCache>
                <c:formatCode>General</c:formatCode>
                <c:ptCount val="10"/>
                <c:pt idx="0">
                  <c:v>2624</c:v>
                </c:pt>
                <c:pt idx="1">
                  <c:v>2911</c:v>
                </c:pt>
                <c:pt idx="2">
                  <c:v>3243</c:v>
                </c:pt>
                <c:pt idx="3">
                  <c:v>3384</c:v>
                </c:pt>
                <c:pt idx="4">
                  <c:v>3990</c:v>
                </c:pt>
                <c:pt idx="5">
                  <c:v>4269</c:v>
                </c:pt>
                <c:pt idx="6">
                  <c:v>4874</c:v>
                </c:pt>
                <c:pt idx="7">
                  <c:v>5330</c:v>
                </c:pt>
                <c:pt idx="8">
                  <c:v>5742</c:v>
                </c:pt>
                <c:pt idx="9">
                  <c:v>5971</c:v>
                </c:pt>
              </c:numCache>
            </c:numRef>
          </c:val>
          <c:smooth val="0"/>
          <c:extLst>
            <c:ext xmlns:c16="http://schemas.microsoft.com/office/drawing/2014/chart" uri="{C3380CC4-5D6E-409C-BE32-E72D297353CC}">
              <c16:uniqueId val="{00000004-9F67-42F1-B1A2-037471F336B2}"/>
            </c:ext>
          </c:extLst>
        </c:ser>
        <c:dLbls>
          <c:showLegendKey val="0"/>
          <c:showVal val="0"/>
          <c:showCatName val="0"/>
          <c:showSerName val="0"/>
          <c:showPercent val="0"/>
          <c:showBubbleSize val="0"/>
        </c:dLbls>
        <c:marker val="1"/>
        <c:smooth val="0"/>
        <c:axId val="825856767"/>
        <c:axId val="507157184"/>
      </c:lineChart>
      <c:catAx>
        <c:axId val="111871638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lang="ja-JP" sz="1400" b="0" i="0" u="none" strike="noStrike" kern="1200" baseline="0">
                <a:solidFill>
                  <a:schemeClr val="tx1"/>
                </a:solidFill>
                <a:latin typeface="+mn-lt"/>
                <a:ea typeface="+mn-ea"/>
                <a:cs typeface="+mn-cs"/>
              </a:defRPr>
            </a:pPr>
            <a:endParaRPr lang="en-US"/>
          </a:p>
        </c:txPr>
        <c:crossAx val="660974143"/>
        <c:crosses val="autoZero"/>
        <c:auto val="1"/>
        <c:lblAlgn val="ctr"/>
        <c:lblOffset val="100"/>
        <c:noMultiLvlLbl val="0"/>
      </c:catAx>
      <c:valAx>
        <c:axId val="660974143"/>
        <c:scaling>
          <c:orientation val="minMax"/>
          <c:max val="1"/>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lang="ja-JP" sz="1400" b="0" i="0" u="none" strike="noStrike" kern="1200" baseline="0">
                <a:solidFill>
                  <a:schemeClr val="tx1"/>
                </a:solidFill>
                <a:latin typeface="+mn-lt"/>
                <a:ea typeface="+mn-ea"/>
                <a:cs typeface="+mn-cs"/>
              </a:defRPr>
            </a:pPr>
            <a:endParaRPr lang="en-US"/>
          </a:p>
        </c:txPr>
        <c:crossAx val="1118716383"/>
        <c:crosses val="autoZero"/>
        <c:crossBetween val="between"/>
      </c:valAx>
      <c:valAx>
        <c:axId val="507157184"/>
        <c:scaling>
          <c:orientation val="minMax"/>
          <c:max val="6000"/>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ja-JP" sz="1400" b="0" i="0" u="none" strike="noStrike" kern="1200" baseline="0">
                <a:solidFill>
                  <a:schemeClr val="tx1"/>
                </a:solidFill>
                <a:latin typeface="+mn-lt"/>
                <a:ea typeface="+mn-ea"/>
                <a:cs typeface="+mn-cs"/>
              </a:defRPr>
            </a:pPr>
            <a:endParaRPr lang="en-US"/>
          </a:p>
        </c:txPr>
        <c:crossAx val="825856767"/>
        <c:crosses val="max"/>
        <c:crossBetween val="between"/>
      </c:valAx>
      <c:catAx>
        <c:axId val="825856767"/>
        <c:scaling>
          <c:orientation val="minMax"/>
        </c:scaling>
        <c:delete val="1"/>
        <c:axPos val="b"/>
        <c:numFmt formatCode="General" sourceLinked="1"/>
        <c:majorTickMark val="out"/>
        <c:minorTickMark val="none"/>
        <c:tickLblPos val="nextTo"/>
        <c:crossAx val="507157184"/>
        <c:crosses val="autoZero"/>
        <c:auto val="1"/>
        <c:lblAlgn val="ctr"/>
        <c:lblOffset val="100"/>
        <c:noMultiLvlLbl val="0"/>
      </c:catAx>
      <c:spPr>
        <a:noFill/>
        <a:ln>
          <a:noFill/>
        </a:ln>
        <a:effectLst/>
      </c:spPr>
    </c:plotArea>
    <c:legend>
      <c:legendPos val="b"/>
      <c:overlay val="0"/>
      <c:spPr>
        <a:noFill/>
        <a:ln>
          <a:noFill/>
        </a:ln>
        <a:effectLst/>
      </c:spPr>
      <c:txPr>
        <a:bodyPr rot="0" spcFirstLastPara="1" vertOverflow="ellipsis" vert="horz" wrap="square" anchor="ctr" anchorCtr="1"/>
        <a:lstStyle/>
        <a:p>
          <a:pPr>
            <a:defRPr lang="ja-JP" sz="14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ja-JP" sz="1320" b="0" i="0" u="none" strike="noStrike" kern="1200" spc="0" baseline="0">
                <a:solidFill>
                  <a:schemeClr val="tx1">
                    <a:lumMod val="65000"/>
                    <a:lumOff val="35000"/>
                  </a:schemeClr>
                </a:solidFill>
                <a:latin typeface="Arial" panose="020B0604020202020204" pitchFamily="34" charset="0"/>
                <a:ea typeface="+mn-ea"/>
                <a:cs typeface="Arial" panose="020B0604020202020204" pitchFamily="34" charset="0"/>
              </a:defRPr>
            </a:pPr>
            <a:r>
              <a:rPr lang="en-IN" b="1">
                <a:solidFill>
                  <a:schemeClr val="tx1"/>
                </a:solidFill>
              </a:rPr>
              <a:t>Electricity Import v/s Export between Nepal and India (GWh</a:t>
            </a:r>
            <a:r>
              <a:rPr lang="en-IN" b="1"/>
              <a:t>)</a:t>
            </a:r>
          </a:p>
        </c:rich>
      </c:tx>
      <c:layout>
        <c:manualLayout>
          <c:xMode val="edge"/>
          <c:yMode val="edge"/>
          <c:x val="0.29621109565131665"/>
          <c:y val="3.1713717525044004E-2"/>
        </c:manualLayout>
      </c:layout>
      <c:overlay val="0"/>
      <c:spPr>
        <a:noFill/>
        <a:ln>
          <a:noFill/>
        </a:ln>
        <a:effectLst/>
      </c:spPr>
      <c:txPr>
        <a:bodyPr rot="0" spcFirstLastPara="1" vertOverflow="ellipsis" vert="horz" wrap="square" anchor="ctr" anchorCtr="1"/>
        <a:lstStyle/>
        <a:p>
          <a:pPr>
            <a:defRPr lang="ja-JP" sz="1320" b="0" i="0" u="none" strike="noStrike" kern="1200" spc="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title>
    <c:autoTitleDeleted val="0"/>
    <c:plotArea>
      <c:layout>
        <c:manualLayout>
          <c:layoutTarget val="inner"/>
          <c:xMode val="edge"/>
          <c:yMode val="edge"/>
          <c:x val="4.6034428290079518E-2"/>
          <c:y val="0.17569399508874378"/>
          <c:w val="0.94144537875376133"/>
          <c:h val="0.62769281768576646"/>
        </c:manualLayout>
      </c:layout>
      <c:lineChart>
        <c:grouping val="standard"/>
        <c:varyColors val="0"/>
        <c:ser>
          <c:idx val="0"/>
          <c:order val="0"/>
          <c:tx>
            <c:strRef>
              <c:f>Sheet1!$B$1</c:f>
              <c:strCache>
                <c:ptCount val="1"/>
                <c:pt idx="0">
                  <c:v>Energy Import from India (GWh)</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dLbl>
              <c:idx val="4"/>
              <c:layout>
                <c:manualLayout>
                  <c:x val="-1.5046875000000114E-2"/>
                  <c:y val="2.9753996693282683E-2"/>
                </c:manualLayout>
              </c:layout>
              <c:tx>
                <c:rich>
                  <a:bodyPr/>
                  <a:lstStyle/>
                  <a:p>
                    <a:r>
                      <a:rPr lang="en-US"/>
                      <a:t>1834</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26A1-478F-A5FE-15AB4487E34D}"/>
                </c:ext>
              </c:extLst>
            </c:dLbl>
            <c:spPr>
              <a:noFill/>
              <a:ln>
                <a:noFill/>
              </a:ln>
              <a:effectLst/>
            </c:spPr>
            <c:txPr>
              <a:bodyPr rot="0" spcFirstLastPara="1" vertOverflow="ellipsis" vert="horz" wrap="square" anchor="ctr" anchorCtr="1"/>
              <a:lstStyle/>
              <a:p>
                <a:pPr>
                  <a:defRPr lang="en-US" sz="1100" b="0" i="0" u="none" strike="noStrike" kern="1200" baseline="0">
                    <a:solidFill>
                      <a:prstClr val="black">
                        <a:lumMod val="75000"/>
                        <a:lumOff val="25000"/>
                      </a:prstClr>
                    </a:solidFill>
                    <a:latin typeface="Arial" panose="020B0604020202020204" pitchFamily="34" charset="0"/>
                    <a:ea typeface="+mn-ea"/>
                    <a:cs typeface="Arial" panose="020B060402020202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2019/20</c:v>
                </c:pt>
                <c:pt idx="1">
                  <c:v>2020/21</c:v>
                </c:pt>
                <c:pt idx="2">
                  <c:v>2021/22</c:v>
                </c:pt>
                <c:pt idx="3">
                  <c:v>2022/23</c:v>
                </c:pt>
                <c:pt idx="4">
                  <c:v>2023/24</c:v>
                </c:pt>
              </c:strCache>
            </c:strRef>
          </c:cat>
          <c:val>
            <c:numRef>
              <c:f>Sheet1!$B$2:$B$6</c:f>
              <c:numCache>
                <c:formatCode>General</c:formatCode>
                <c:ptCount val="5"/>
                <c:pt idx="0">
                  <c:v>1729</c:v>
                </c:pt>
                <c:pt idx="1">
                  <c:v>2806</c:v>
                </c:pt>
                <c:pt idx="2">
                  <c:v>1543</c:v>
                </c:pt>
                <c:pt idx="3">
                  <c:v>1833</c:v>
                </c:pt>
                <c:pt idx="4">
                  <c:v>1895</c:v>
                </c:pt>
              </c:numCache>
            </c:numRef>
          </c:val>
          <c:smooth val="0"/>
          <c:extLst>
            <c:ext xmlns:c16="http://schemas.microsoft.com/office/drawing/2014/chart" uri="{C3380CC4-5D6E-409C-BE32-E72D297353CC}">
              <c16:uniqueId val="{00000001-26A1-478F-A5FE-15AB4487E34D}"/>
            </c:ext>
          </c:extLst>
        </c:ser>
        <c:ser>
          <c:idx val="1"/>
          <c:order val="1"/>
          <c:tx>
            <c:strRef>
              <c:f>Sheet1!$C$1</c:f>
              <c:strCache>
                <c:ptCount val="1"/>
                <c:pt idx="0">
                  <c:v>Energy Export to India (GWh)</c:v>
                </c:pt>
              </c:strCache>
            </c:strRef>
          </c:tx>
          <c:spPr>
            <a:ln w="28575" cap="rnd">
              <a:solidFill>
                <a:schemeClr val="accent4"/>
              </a:solidFill>
              <a:round/>
            </a:ln>
            <a:effectLst/>
          </c:spPr>
          <c:marker>
            <c:symbol val="circle"/>
            <c:size val="5"/>
            <c:spPr>
              <a:solidFill>
                <a:schemeClr val="accent4"/>
              </a:solidFill>
              <a:ln w="9525">
                <a:solidFill>
                  <a:schemeClr val="accent4"/>
                </a:solidFill>
              </a:ln>
              <a:effectLst/>
            </c:spPr>
          </c:marker>
          <c:dLbls>
            <c:dLbl>
              <c:idx val="4"/>
              <c:tx>
                <c:rich>
                  <a:bodyPr/>
                  <a:lstStyle/>
                  <a:p>
                    <a:r>
                      <a:rPr lang="en-US"/>
                      <a:t>1943</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DD36-40C6-B92E-02A763B0A090}"/>
                </c:ext>
              </c:extLst>
            </c:dLbl>
            <c:spPr>
              <a:noFill/>
              <a:ln>
                <a:noFill/>
              </a:ln>
              <a:effectLst/>
            </c:spPr>
            <c:txPr>
              <a:bodyPr rot="0" spcFirstLastPara="1" vertOverflow="ellipsis" vert="horz" wrap="square" anchor="ctr" anchorCtr="1"/>
              <a:lstStyle/>
              <a:p>
                <a:pPr>
                  <a:defRPr lang="ja-JP" sz="11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2019/20</c:v>
                </c:pt>
                <c:pt idx="1">
                  <c:v>2020/21</c:v>
                </c:pt>
                <c:pt idx="2">
                  <c:v>2021/22</c:v>
                </c:pt>
                <c:pt idx="3">
                  <c:v>2022/23</c:v>
                </c:pt>
                <c:pt idx="4">
                  <c:v>2023/24</c:v>
                </c:pt>
              </c:strCache>
            </c:strRef>
          </c:cat>
          <c:val>
            <c:numRef>
              <c:f>Sheet1!$C$2:$C$6</c:f>
              <c:numCache>
                <c:formatCode>General</c:formatCode>
                <c:ptCount val="5"/>
                <c:pt idx="0">
                  <c:v>107</c:v>
                </c:pt>
                <c:pt idx="1">
                  <c:v>44</c:v>
                </c:pt>
                <c:pt idx="2">
                  <c:v>493</c:v>
                </c:pt>
                <c:pt idx="3">
                  <c:v>1346</c:v>
                </c:pt>
                <c:pt idx="4">
                  <c:v>1946</c:v>
                </c:pt>
              </c:numCache>
            </c:numRef>
          </c:val>
          <c:smooth val="0"/>
          <c:extLst>
            <c:ext xmlns:c16="http://schemas.microsoft.com/office/drawing/2014/chart" uri="{C3380CC4-5D6E-409C-BE32-E72D297353CC}">
              <c16:uniqueId val="{00000002-26A1-478F-A5FE-15AB4487E34D}"/>
            </c:ext>
          </c:extLst>
        </c:ser>
        <c:dLbls>
          <c:dLblPos val="t"/>
          <c:showLegendKey val="0"/>
          <c:showVal val="1"/>
          <c:showCatName val="0"/>
          <c:showSerName val="0"/>
          <c:showPercent val="0"/>
          <c:showBubbleSize val="0"/>
        </c:dLbls>
        <c:marker val="1"/>
        <c:smooth val="0"/>
        <c:axId val="301791200"/>
        <c:axId val="301785440"/>
      </c:lineChart>
      <c:catAx>
        <c:axId val="3017912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1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301785440"/>
        <c:crosses val="autoZero"/>
        <c:auto val="1"/>
        <c:lblAlgn val="ctr"/>
        <c:lblOffset val="100"/>
        <c:noMultiLvlLbl val="0"/>
      </c:catAx>
      <c:valAx>
        <c:axId val="301785440"/>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ja-JP" sz="11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30179120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lang="ja-JP" sz="11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solidFill>
        <a:schemeClr val="accent4"/>
      </a:solidFill>
    </a:ln>
    <a:effectLst/>
  </c:spPr>
  <c:txPr>
    <a:bodyPr/>
    <a:lstStyle/>
    <a:p>
      <a:pPr>
        <a:defRPr sz="1100">
          <a:latin typeface="Arial" panose="020B0604020202020204" pitchFamily="34" charset="0"/>
          <a:cs typeface="Arial" panose="020B0604020202020204" pitchFamily="34" charset="0"/>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lang="ja-JP" sz="1050" b="0" i="0" u="none" strike="noStrike" kern="1200" spc="0" baseline="0">
                <a:solidFill>
                  <a:sysClr val="windowText" lastClr="000000"/>
                </a:solidFill>
                <a:latin typeface="+mn-lt"/>
                <a:ea typeface="+mn-ea"/>
                <a:cs typeface="+mn-cs"/>
              </a:defRPr>
            </a:pPr>
            <a:r>
              <a:rPr lang="en-US" sz="1050">
                <a:latin typeface="Arial" panose="020B0604020202020204" pitchFamily="34" charset="0"/>
                <a:cs typeface="Arial" panose="020B0604020202020204" pitchFamily="34" charset="0"/>
              </a:rPr>
              <a:t>Monthly Electricity Export to India (in GWh) – Nepal </a:t>
            </a:r>
          </a:p>
          <a:p>
            <a:pPr>
              <a:defRPr lang="ja-JP" sz="1050"/>
            </a:pPr>
            <a:r>
              <a:rPr lang="en-US" sz="1050">
                <a:latin typeface="Arial" panose="020B0604020202020204" pitchFamily="34" charset="0"/>
                <a:cs typeface="Arial" panose="020B0604020202020204" pitchFamily="34" charset="0"/>
              </a:rPr>
              <a:t>(FY 2021/22 to FY 2023/24)</a:t>
            </a:r>
          </a:p>
        </c:rich>
      </c:tx>
      <c:overlay val="0"/>
      <c:spPr>
        <a:noFill/>
        <a:ln>
          <a:noFill/>
        </a:ln>
        <a:effectLst/>
      </c:spPr>
      <c:txPr>
        <a:bodyPr rot="0" spcFirstLastPara="1" vertOverflow="ellipsis" vert="horz" wrap="square" anchor="ctr" anchorCtr="1"/>
        <a:lstStyle/>
        <a:p>
          <a:pPr>
            <a:defRPr lang="ja-JP" sz="1050" b="0" i="0" u="none" strike="noStrike" kern="1200" spc="0" baseline="0">
              <a:solidFill>
                <a:sysClr val="windowText" lastClr="000000"/>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2021/22</c:v>
                </c:pt>
              </c:strCache>
            </c:strRef>
          </c:tx>
          <c:spPr>
            <a:ln w="28575" cap="rnd">
              <a:solidFill>
                <a:schemeClr val="accent6"/>
              </a:solidFill>
              <a:round/>
            </a:ln>
            <a:effectLst/>
          </c:spPr>
          <c:marker>
            <c:symbol val="circle"/>
            <c:size val="5"/>
            <c:spPr>
              <a:solidFill>
                <a:schemeClr val="accent6"/>
              </a:solidFill>
              <a:ln w="9525">
                <a:solidFill>
                  <a:schemeClr val="accent6"/>
                </a:solidFill>
              </a:ln>
              <a:effectLst/>
            </c:spPr>
          </c:marker>
          <c:cat>
            <c:strRef>
              <c:f>Sheet1!$A$2:$A$13</c:f>
              <c:strCache>
                <c:ptCount val="12"/>
                <c:pt idx="0">
                  <c:v>July/Aug</c:v>
                </c:pt>
                <c:pt idx="1">
                  <c:v>Aug/Sep</c:v>
                </c:pt>
                <c:pt idx="2">
                  <c:v>Sep/Oct</c:v>
                </c:pt>
                <c:pt idx="3">
                  <c:v>Oct/Nov</c:v>
                </c:pt>
                <c:pt idx="4">
                  <c:v>Nov/Dec</c:v>
                </c:pt>
                <c:pt idx="5">
                  <c:v>Dec/Jan</c:v>
                </c:pt>
                <c:pt idx="6">
                  <c:v>Jan/Feb</c:v>
                </c:pt>
                <c:pt idx="7">
                  <c:v>Feb/Mar</c:v>
                </c:pt>
                <c:pt idx="8">
                  <c:v>Mar/Apr</c:v>
                </c:pt>
                <c:pt idx="9">
                  <c:v>Apr/May</c:v>
                </c:pt>
                <c:pt idx="10">
                  <c:v>May/June</c:v>
                </c:pt>
                <c:pt idx="11">
                  <c:v>June/July</c:v>
                </c:pt>
              </c:strCache>
            </c:strRef>
          </c:cat>
          <c:val>
            <c:numRef>
              <c:f>Sheet1!$B$2:$B$13</c:f>
              <c:numCache>
                <c:formatCode>General</c:formatCode>
                <c:ptCount val="12"/>
                <c:pt idx="0">
                  <c:v>3</c:v>
                </c:pt>
                <c:pt idx="1">
                  <c:v>38</c:v>
                </c:pt>
                <c:pt idx="2">
                  <c:v>81</c:v>
                </c:pt>
                <c:pt idx="3">
                  <c:v>33</c:v>
                </c:pt>
                <c:pt idx="4">
                  <c:v>28</c:v>
                </c:pt>
                <c:pt idx="5">
                  <c:v>0</c:v>
                </c:pt>
                <c:pt idx="6">
                  <c:v>0</c:v>
                </c:pt>
                <c:pt idx="7">
                  <c:v>0</c:v>
                </c:pt>
                <c:pt idx="8">
                  <c:v>0</c:v>
                </c:pt>
                <c:pt idx="9">
                  <c:v>0</c:v>
                </c:pt>
                <c:pt idx="10">
                  <c:v>70</c:v>
                </c:pt>
                <c:pt idx="11">
                  <c:v>240</c:v>
                </c:pt>
              </c:numCache>
            </c:numRef>
          </c:val>
          <c:smooth val="0"/>
          <c:extLst>
            <c:ext xmlns:c16="http://schemas.microsoft.com/office/drawing/2014/chart" uri="{C3380CC4-5D6E-409C-BE32-E72D297353CC}">
              <c16:uniqueId val="{00000000-0C67-45AA-B538-D5D2A0CFCD7B}"/>
            </c:ext>
          </c:extLst>
        </c:ser>
        <c:ser>
          <c:idx val="1"/>
          <c:order val="1"/>
          <c:tx>
            <c:strRef>
              <c:f>Sheet1!$C$1</c:f>
              <c:strCache>
                <c:ptCount val="1"/>
                <c:pt idx="0">
                  <c:v>2022/23</c:v>
                </c:pt>
              </c:strCache>
            </c:strRef>
          </c:tx>
          <c:spPr>
            <a:ln w="28575" cap="rnd">
              <a:solidFill>
                <a:schemeClr val="accent5"/>
              </a:solidFill>
              <a:round/>
            </a:ln>
            <a:effectLst/>
          </c:spPr>
          <c:marker>
            <c:symbol val="circle"/>
            <c:size val="5"/>
            <c:spPr>
              <a:solidFill>
                <a:schemeClr val="accent5"/>
              </a:solidFill>
              <a:ln w="9525">
                <a:solidFill>
                  <a:schemeClr val="accent5"/>
                </a:solidFill>
              </a:ln>
              <a:effectLst/>
            </c:spPr>
          </c:marker>
          <c:cat>
            <c:strRef>
              <c:f>Sheet1!$A$2:$A$13</c:f>
              <c:strCache>
                <c:ptCount val="12"/>
                <c:pt idx="0">
                  <c:v>July/Aug</c:v>
                </c:pt>
                <c:pt idx="1">
                  <c:v>Aug/Sep</c:v>
                </c:pt>
                <c:pt idx="2">
                  <c:v>Sep/Oct</c:v>
                </c:pt>
                <c:pt idx="3">
                  <c:v>Oct/Nov</c:v>
                </c:pt>
                <c:pt idx="4">
                  <c:v>Nov/Dec</c:v>
                </c:pt>
                <c:pt idx="5">
                  <c:v>Dec/Jan</c:v>
                </c:pt>
                <c:pt idx="6">
                  <c:v>Jan/Feb</c:v>
                </c:pt>
                <c:pt idx="7">
                  <c:v>Feb/Mar</c:v>
                </c:pt>
                <c:pt idx="8">
                  <c:v>Mar/Apr</c:v>
                </c:pt>
                <c:pt idx="9">
                  <c:v>Apr/May</c:v>
                </c:pt>
                <c:pt idx="10">
                  <c:v>May/June</c:v>
                </c:pt>
                <c:pt idx="11">
                  <c:v>June/July</c:v>
                </c:pt>
              </c:strCache>
            </c:strRef>
          </c:cat>
          <c:val>
            <c:numRef>
              <c:f>Sheet1!$C$2:$C$13</c:f>
              <c:numCache>
                <c:formatCode>General</c:formatCode>
                <c:ptCount val="12"/>
                <c:pt idx="0">
                  <c:v>252</c:v>
                </c:pt>
                <c:pt idx="1">
                  <c:v>256</c:v>
                </c:pt>
                <c:pt idx="2">
                  <c:v>281</c:v>
                </c:pt>
                <c:pt idx="3">
                  <c:v>202</c:v>
                </c:pt>
                <c:pt idx="4">
                  <c:v>88</c:v>
                </c:pt>
                <c:pt idx="5">
                  <c:v>0</c:v>
                </c:pt>
                <c:pt idx="6">
                  <c:v>0</c:v>
                </c:pt>
                <c:pt idx="7">
                  <c:v>0</c:v>
                </c:pt>
                <c:pt idx="8">
                  <c:v>0</c:v>
                </c:pt>
                <c:pt idx="9">
                  <c:v>0</c:v>
                </c:pt>
                <c:pt idx="10">
                  <c:v>24</c:v>
                </c:pt>
                <c:pt idx="11">
                  <c:v>230</c:v>
                </c:pt>
              </c:numCache>
            </c:numRef>
          </c:val>
          <c:smooth val="0"/>
          <c:extLst>
            <c:ext xmlns:c16="http://schemas.microsoft.com/office/drawing/2014/chart" uri="{C3380CC4-5D6E-409C-BE32-E72D297353CC}">
              <c16:uniqueId val="{00000001-0C67-45AA-B538-D5D2A0CFCD7B}"/>
            </c:ext>
          </c:extLst>
        </c:ser>
        <c:ser>
          <c:idx val="2"/>
          <c:order val="2"/>
          <c:tx>
            <c:strRef>
              <c:f>Sheet1!$D$1</c:f>
              <c:strCache>
                <c:ptCount val="1"/>
                <c:pt idx="0">
                  <c:v>2023/24</c:v>
                </c:pt>
              </c:strCache>
            </c:strRef>
          </c:tx>
          <c:spPr>
            <a:ln w="28575" cap="rnd">
              <a:solidFill>
                <a:schemeClr val="accent4"/>
              </a:solidFill>
              <a:round/>
            </a:ln>
            <a:effectLst/>
          </c:spPr>
          <c:marker>
            <c:symbol val="circle"/>
            <c:size val="5"/>
            <c:spPr>
              <a:solidFill>
                <a:schemeClr val="accent4"/>
              </a:solidFill>
              <a:ln w="9525">
                <a:solidFill>
                  <a:schemeClr val="accent4"/>
                </a:solidFill>
              </a:ln>
              <a:effectLst/>
            </c:spPr>
          </c:marker>
          <c:cat>
            <c:strRef>
              <c:f>Sheet1!$A$2:$A$13</c:f>
              <c:strCache>
                <c:ptCount val="12"/>
                <c:pt idx="0">
                  <c:v>July/Aug</c:v>
                </c:pt>
                <c:pt idx="1">
                  <c:v>Aug/Sep</c:v>
                </c:pt>
                <c:pt idx="2">
                  <c:v>Sep/Oct</c:v>
                </c:pt>
                <c:pt idx="3">
                  <c:v>Oct/Nov</c:v>
                </c:pt>
                <c:pt idx="4">
                  <c:v>Nov/Dec</c:v>
                </c:pt>
                <c:pt idx="5">
                  <c:v>Dec/Jan</c:v>
                </c:pt>
                <c:pt idx="6">
                  <c:v>Jan/Feb</c:v>
                </c:pt>
                <c:pt idx="7">
                  <c:v>Feb/Mar</c:v>
                </c:pt>
                <c:pt idx="8">
                  <c:v>Mar/Apr</c:v>
                </c:pt>
                <c:pt idx="9">
                  <c:v>Apr/May</c:v>
                </c:pt>
                <c:pt idx="10">
                  <c:v>May/June</c:v>
                </c:pt>
                <c:pt idx="11">
                  <c:v>June/July</c:v>
                </c:pt>
              </c:strCache>
            </c:strRef>
          </c:cat>
          <c:val>
            <c:numRef>
              <c:f>Sheet1!$D$2:$D$13</c:f>
              <c:numCache>
                <c:formatCode>General</c:formatCode>
                <c:ptCount val="12"/>
                <c:pt idx="0">
                  <c:v>256</c:v>
                </c:pt>
                <c:pt idx="1">
                  <c:v>305</c:v>
                </c:pt>
                <c:pt idx="2">
                  <c:v>418</c:v>
                </c:pt>
                <c:pt idx="3">
                  <c:v>380</c:v>
                </c:pt>
                <c:pt idx="4">
                  <c:v>114</c:v>
                </c:pt>
                <c:pt idx="5">
                  <c:v>0</c:v>
                </c:pt>
                <c:pt idx="6">
                  <c:v>0</c:v>
                </c:pt>
                <c:pt idx="7">
                  <c:v>0</c:v>
                </c:pt>
                <c:pt idx="8">
                  <c:v>0</c:v>
                </c:pt>
                <c:pt idx="9">
                  <c:v>0</c:v>
                </c:pt>
                <c:pt idx="10">
                  <c:v>68</c:v>
                </c:pt>
                <c:pt idx="11">
                  <c:v>401</c:v>
                </c:pt>
              </c:numCache>
            </c:numRef>
          </c:val>
          <c:smooth val="0"/>
          <c:extLst>
            <c:ext xmlns:c16="http://schemas.microsoft.com/office/drawing/2014/chart" uri="{C3380CC4-5D6E-409C-BE32-E72D297353CC}">
              <c16:uniqueId val="{00000002-0C67-45AA-B538-D5D2A0CFCD7B}"/>
            </c:ext>
          </c:extLst>
        </c:ser>
        <c:dLbls>
          <c:showLegendKey val="0"/>
          <c:showVal val="0"/>
          <c:showCatName val="0"/>
          <c:showSerName val="0"/>
          <c:showPercent val="0"/>
          <c:showBubbleSize val="0"/>
        </c:dLbls>
        <c:marker val="1"/>
        <c:smooth val="0"/>
        <c:axId val="1625473776"/>
        <c:axId val="1625471376"/>
      </c:lineChart>
      <c:catAx>
        <c:axId val="1625473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197" b="0" i="0" u="none" strike="noStrike" kern="1200" baseline="0">
                <a:solidFill>
                  <a:sysClr val="windowText" lastClr="000000"/>
                </a:solidFill>
                <a:latin typeface="+mn-lt"/>
                <a:ea typeface="+mn-ea"/>
                <a:cs typeface="+mn-cs"/>
              </a:defRPr>
            </a:pPr>
            <a:endParaRPr lang="en-US"/>
          </a:p>
        </c:txPr>
        <c:crossAx val="1625471376"/>
        <c:crosses val="autoZero"/>
        <c:auto val="1"/>
        <c:lblAlgn val="ctr"/>
        <c:lblOffset val="100"/>
        <c:noMultiLvlLbl val="0"/>
      </c:catAx>
      <c:valAx>
        <c:axId val="1625471376"/>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ja-JP" sz="1197" b="0" i="0" u="none" strike="noStrike" kern="1200" baseline="0">
                <a:solidFill>
                  <a:sysClr val="windowText" lastClr="000000"/>
                </a:solidFill>
                <a:latin typeface="Arial" panose="020B0604020202020204" pitchFamily="34" charset="0"/>
                <a:ea typeface="+mn-ea"/>
                <a:cs typeface="Arial" panose="020B0604020202020204" pitchFamily="34" charset="0"/>
              </a:defRPr>
            </a:pPr>
            <a:endParaRPr lang="en-US"/>
          </a:p>
        </c:txPr>
        <c:crossAx val="1625473776"/>
        <c:crosses val="autoZero"/>
        <c:crossBetween val="between"/>
      </c:val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rtl="0">
              <a:defRPr lang="ja-JP" sz="700" b="0" i="0" u="none" strike="noStrike" kern="1200" baseline="0">
                <a:solidFill>
                  <a:sysClr val="windowText" lastClr="000000"/>
                </a:solidFill>
                <a:latin typeface="+mn-lt"/>
                <a:ea typeface="+mn-ea"/>
                <a:cs typeface="+mn-cs"/>
              </a:defRPr>
            </a:pPr>
            <a:endParaRPr lang="en-US"/>
          </a:p>
        </c:txPr>
      </c:dTable>
      <c:spPr>
        <a:noFill/>
        <a:ln>
          <a:noFill/>
        </a:ln>
        <a:effectLst/>
      </c:spPr>
    </c:plotArea>
    <c:legend>
      <c:legendPos val="b"/>
      <c:overlay val="0"/>
      <c:spPr>
        <a:noFill/>
        <a:ln>
          <a:noFill/>
        </a:ln>
        <a:effectLst/>
      </c:spPr>
      <c:txPr>
        <a:bodyPr rot="0" spcFirstLastPara="1" vertOverflow="ellipsis" vert="horz" wrap="square" anchor="ctr" anchorCtr="1"/>
        <a:lstStyle/>
        <a:p>
          <a:pPr>
            <a:defRPr lang="ja-JP" sz="1197" b="0" i="0" u="none" strike="noStrike" kern="1200" baseline="0">
              <a:solidFill>
                <a:sysClr val="windowText" lastClr="000000"/>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ysClr val="window" lastClr="FFFFFF"/>
    </a:solidFill>
    <a:ln w="12700" cap="flat" cmpd="sng" algn="ctr">
      <a:solidFill>
        <a:sysClr val="windowText" lastClr="000000"/>
      </a:solidFill>
      <a:prstDash val="solid"/>
      <a:miter lim="800000"/>
    </a:ln>
    <a:effectLst/>
  </c:spPr>
  <c:txPr>
    <a:bodyPr/>
    <a:lstStyle/>
    <a:p>
      <a:pPr>
        <a:defRPr>
          <a:solidFill>
            <a:sysClr val="windowText" lastClr="000000"/>
          </a:solidFill>
          <a:latin typeface="+mn-lt"/>
          <a:ea typeface="+mn-ea"/>
          <a:cs typeface="+mn-cs"/>
        </a:defRPr>
      </a:pPr>
      <a:endParaRPr lang="en-US"/>
    </a:p>
  </c:txPr>
  <c:externalData r:id="rId4">
    <c:autoUpdate val="0"/>
  </c:externalData>
  <c:userShapes r:id="rId5"/>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ja-JP" sz="1100" b="0" i="0" u="none" strike="noStrike" kern="1200" spc="0" baseline="0">
                <a:solidFill>
                  <a:schemeClr val="dk1"/>
                </a:solidFill>
                <a:latin typeface="Arial" panose="020B0604020202020204" pitchFamily="34" charset="0"/>
                <a:ea typeface="+mn-ea"/>
                <a:cs typeface="Arial" panose="020B0604020202020204" pitchFamily="34" charset="0"/>
              </a:defRPr>
            </a:pPr>
            <a:r>
              <a:rPr lang="en-US" sz="1100"/>
              <a:t>Monthly Electricity Import from India (in GWh) – Nepal </a:t>
            </a:r>
          </a:p>
          <a:p>
            <a:pPr>
              <a:defRPr lang="ja-JP" sz="1100"/>
            </a:pPr>
            <a:r>
              <a:rPr lang="en-US" sz="1100"/>
              <a:t>(FY 2021/22 to FY 2023/24)</a:t>
            </a:r>
          </a:p>
        </c:rich>
      </c:tx>
      <c:overlay val="0"/>
      <c:spPr>
        <a:noFill/>
        <a:ln>
          <a:noFill/>
        </a:ln>
        <a:effectLst/>
      </c:spPr>
      <c:txPr>
        <a:bodyPr rot="0" spcFirstLastPara="1" vertOverflow="ellipsis" vert="horz" wrap="square" anchor="ctr" anchorCtr="1"/>
        <a:lstStyle/>
        <a:p>
          <a:pPr>
            <a:defRPr lang="ja-JP" sz="1100" b="0" i="0" u="none" strike="noStrike" kern="1200" spc="0" baseline="0">
              <a:solidFill>
                <a:schemeClr val="dk1"/>
              </a:solidFill>
              <a:latin typeface="Arial" panose="020B0604020202020204" pitchFamily="34" charset="0"/>
              <a:ea typeface="+mn-ea"/>
              <a:cs typeface="Arial" panose="020B0604020202020204" pitchFamily="34" charset="0"/>
            </a:defRPr>
          </a:pPr>
          <a:endParaRPr lang="en-US"/>
        </a:p>
      </c:txPr>
    </c:title>
    <c:autoTitleDeleted val="0"/>
    <c:plotArea>
      <c:layout/>
      <c:lineChart>
        <c:grouping val="standard"/>
        <c:varyColors val="0"/>
        <c:ser>
          <c:idx val="0"/>
          <c:order val="0"/>
          <c:tx>
            <c:strRef>
              <c:f>'[New Microsoft Excel Worksheet (2).xlsx]Sheet4'!$G$23</c:f>
              <c:strCache>
                <c:ptCount val="1"/>
                <c:pt idx="0">
                  <c:v>2021/22</c:v>
                </c:pt>
              </c:strCache>
            </c:strRef>
          </c:tx>
          <c:spPr>
            <a:ln w="28575" cap="rnd">
              <a:solidFill>
                <a:schemeClr val="accent6"/>
              </a:solidFill>
              <a:round/>
            </a:ln>
            <a:effectLst/>
          </c:spPr>
          <c:marker>
            <c:symbol val="circle"/>
            <c:size val="5"/>
            <c:spPr>
              <a:solidFill>
                <a:schemeClr val="accent6"/>
              </a:solidFill>
              <a:ln w="9525">
                <a:solidFill>
                  <a:schemeClr val="accent6"/>
                </a:solidFill>
              </a:ln>
              <a:effectLst/>
            </c:spPr>
          </c:marker>
          <c:cat>
            <c:strRef>
              <c:f>'[New Microsoft Excel Worksheet (2).xlsx]Sheet4'!$F$24:$F$35</c:f>
              <c:strCache>
                <c:ptCount val="12"/>
                <c:pt idx="0">
                  <c:v>July/Aug</c:v>
                </c:pt>
                <c:pt idx="1">
                  <c:v>Aug/Sep</c:v>
                </c:pt>
                <c:pt idx="2">
                  <c:v>Sep/Oct</c:v>
                </c:pt>
                <c:pt idx="3">
                  <c:v>Oct/Nov</c:v>
                </c:pt>
                <c:pt idx="4">
                  <c:v>Nov/Dec</c:v>
                </c:pt>
                <c:pt idx="5">
                  <c:v>Dec/Jan</c:v>
                </c:pt>
                <c:pt idx="6">
                  <c:v>Jan/Feb</c:v>
                </c:pt>
                <c:pt idx="7">
                  <c:v>Feb/Mar</c:v>
                </c:pt>
                <c:pt idx="8">
                  <c:v>Mar/Apr</c:v>
                </c:pt>
                <c:pt idx="9">
                  <c:v>Apr/May</c:v>
                </c:pt>
                <c:pt idx="10">
                  <c:v>May/June</c:v>
                </c:pt>
                <c:pt idx="11">
                  <c:v>June/July</c:v>
                </c:pt>
              </c:strCache>
            </c:strRef>
          </c:cat>
          <c:val>
            <c:numRef>
              <c:f>'[New Microsoft Excel Worksheet (2).xlsx]Sheet4'!$G$24:$G$35</c:f>
              <c:numCache>
                <c:formatCode>General</c:formatCode>
                <c:ptCount val="12"/>
                <c:pt idx="0">
                  <c:v>92</c:v>
                </c:pt>
                <c:pt idx="1">
                  <c:v>14</c:v>
                </c:pt>
                <c:pt idx="2">
                  <c:v>5</c:v>
                </c:pt>
                <c:pt idx="3">
                  <c:v>0</c:v>
                </c:pt>
                <c:pt idx="4">
                  <c:v>21</c:v>
                </c:pt>
                <c:pt idx="5">
                  <c:v>183</c:v>
                </c:pt>
                <c:pt idx="6">
                  <c:v>281</c:v>
                </c:pt>
                <c:pt idx="7">
                  <c:v>327</c:v>
                </c:pt>
                <c:pt idx="8">
                  <c:v>251</c:v>
                </c:pt>
                <c:pt idx="9">
                  <c:v>230</c:v>
                </c:pt>
                <c:pt idx="10">
                  <c:v>87</c:v>
                </c:pt>
                <c:pt idx="11">
                  <c:v>51</c:v>
                </c:pt>
              </c:numCache>
            </c:numRef>
          </c:val>
          <c:smooth val="0"/>
          <c:extLst>
            <c:ext xmlns:c16="http://schemas.microsoft.com/office/drawing/2014/chart" uri="{C3380CC4-5D6E-409C-BE32-E72D297353CC}">
              <c16:uniqueId val="{00000000-F5F7-44B4-8116-6626A43FC63F}"/>
            </c:ext>
          </c:extLst>
        </c:ser>
        <c:ser>
          <c:idx val="1"/>
          <c:order val="1"/>
          <c:tx>
            <c:strRef>
              <c:f>'[New Microsoft Excel Worksheet (2).xlsx]Sheet4'!$H$23</c:f>
              <c:strCache>
                <c:ptCount val="1"/>
                <c:pt idx="0">
                  <c:v>2022/23</c:v>
                </c:pt>
              </c:strCache>
            </c:strRef>
          </c:tx>
          <c:spPr>
            <a:ln w="28575" cap="rnd">
              <a:solidFill>
                <a:schemeClr val="accent5"/>
              </a:solidFill>
              <a:round/>
            </a:ln>
            <a:effectLst/>
          </c:spPr>
          <c:marker>
            <c:symbol val="circle"/>
            <c:size val="5"/>
            <c:spPr>
              <a:solidFill>
                <a:schemeClr val="accent5"/>
              </a:solidFill>
              <a:ln w="9525">
                <a:solidFill>
                  <a:schemeClr val="accent5"/>
                </a:solidFill>
              </a:ln>
              <a:effectLst/>
            </c:spPr>
          </c:marker>
          <c:cat>
            <c:strRef>
              <c:f>'[New Microsoft Excel Worksheet (2).xlsx]Sheet4'!$F$24:$F$35</c:f>
              <c:strCache>
                <c:ptCount val="12"/>
                <c:pt idx="0">
                  <c:v>July/Aug</c:v>
                </c:pt>
                <c:pt idx="1">
                  <c:v>Aug/Sep</c:v>
                </c:pt>
                <c:pt idx="2">
                  <c:v>Sep/Oct</c:v>
                </c:pt>
                <c:pt idx="3">
                  <c:v>Oct/Nov</c:v>
                </c:pt>
                <c:pt idx="4">
                  <c:v>Nov/Dec</c:v>
                </c:pt>
                <c:pt idx="5">
                  <c:v>Dec/Jan</c:v>
                </c:pt>
                <c:pt idx="6">
                  <c:v>Jan/Feb</c:v>
                </c:pt>
                <c:pt idx="7">
                  <c:v>Feb/Mar</c:v>
                </c:pt>
                <c:pt idx="8">
                  <c:v>Mar/Apr</c:v>
                </c:pt>
                <c:pt idx="9">
                  <c:v>Apr/May</c:v>
                </c:pt>
                <c:pt idx="10">
                  <c:v>May/June</c:v>
                </c:pt>
                <c:pt idx="11">
                  <c:v>June/July</c:v>
                </c:pt>
              </c:strCache>
            </c:strRef>
          </c:cat>
          <c:val>
            <c:numRef>
              <c:f>'[New Microsoft Excel Worksheet (2).xlsx]Sheet4'!$H$24:$H$35</c:f>
              <c:numCache>
                <c:formatCode>General</c:formatCode>
                <c:ptCount val="12"/>
                <c:pt idx="0">
                  <c:v>25</c:v>
                </c:pt>
                <c:pt idx="1">
                  <c:v>21</c:v>
                </c:pt>
                <c:pt idx="2">
                  <c:v>6</c:v>
                </c:pt>
                <c:pt idx="3">
                  <c:v>1</c:v>
                </c:pt>
                <c:pt idx="4">
                  <c:v>19</c:v>
                </c:pt>
                <c:pt idx="5">
                  <c:v>203</c:v>
                </c:pt>
                <c:pt idx="6">
                  <c:v>311</c:v>
                </c:pt>
                <c:pt idx="7">
                  <c:v>318</c:v>
                </c:pt>
                <c:pt idx="8">
                  <c:v>336</c:v>
                </c:pt>
                <c:pt idx="9">
                  <c:v>396</c:v>
                </c:pt>
                <c:pt idx="10">
                  <c:v>184</c:v>
                </c:pt>
                <c:pt idx="11">
                  <c:v>35</c:v>
                </c:pt>
              </c:numCache>
            </c:numRef>
          </c:val>
          <c:smooth val="0"/>
          <c:extLst>
            <c:ext xmlns:c16="http://schemas.microsoft.com/office/drawing/2014/chart" uri="{C3380CC4-5D6E-409C-BE32-E72D297353CC}">
              <c16:uniqueId val="{00000001-F5F7-44B4-8116-6626A43FC63F}"/>
            </c:ext>
          </c:extLst>
        </c:ser>
        <c:ser>
          <c:idx val="2"/>
          <c:order val="2"/>
          <c:tx>
            <c:strRef>
              <c:f>'[New Microsoft Excel Worksheet (2).xlsx]Sheet4'!$I$23</c:f>
              <c:strCache>
                <c:ptCount val="1"/>
                <c:pt idx="0">
                  <c:v>2023/24</c:v>
                </c:pt>
              </c:strCache>
            </c:strRef>
          </c:tx>
          <c:spPr>
            <a:ln w="28575" cap="rnd">
              <a:solidFill>
                <a:schemeClr val="accent6">
                  <a:lumMod val="50000"/>
                </a:schemeClr>
              </a:solidFill>
              <a:round/>
            </a:ln>
            <a:effectLst/>
          </c:spPr>
          <c:marker>
            <c:symbol val="circle"/>
            <c:size val="5"/>
            <c:spPr>
              <a:solidFill>
                <a:schemeClr val="accent6">
                  <a:lumMod val="50000"/>
                </a:schemeClr>
              </a:solidFill>
              <a:ln w="9525">
                <a:solidFill>
                  <a:schemeClr val="accent6">
                    <a:lumMod val="50000"/>
                  </a:schemeClr>
                </a:solidFill>
              </a:ln>
              <a:effectLst/>
            </c:spPr>
          </c:marker>
          <c:cat>
            <c:strRef>
              <c:f>'[New Microsoft Excel Worksheet (2).xlsx]Sheet4'!$F$24:$F$35</c:f>
              <c:strCache>
                <c:ptCount val="12"/>
                <c:pt idx="0">
                  <c:v>July/Aug</c:v>
                </c:pt>
                <c:pt idx="1">
                  <c:v>Aug/Sep</c:v>
                </c:pt>
                <c:pt idx="2">
                  <c:v>Sep/Oct</c:v>
                </c:pt>
                <c:pt idx="3">
                  <c:v>Oct/Nov</c:v>
                </c:pt>
                <c:pt idx="4">
                  <c:v>Nov/Dec</c:v>
                </c:pt>
                <c:pt idx="5">
                  <c:v>Dec/Jan</c:v>
                </c:pt>
                <c:pt idx="6">
                  <c:v>Jan/Feb</c:v>
                </c:pt>
                <c:pt idx="7">
                  <c:v>Feb/Mar</c:v>
                </c:pt>
                <c:pt idx="8">
                  <c:v>Mar/Apr</c:v>
                </c:pt>
                <c:pt idx="9">
                  <c:v>Apr/May</c:v>
                </c:pt>
                <c:pt idx="10">
                  <c:v>May/June</c:v>
                </c:pt>
                <c:pt idx="11">
                  <c:v>June/July</c:v>
                </c:pt>
              </c:strCache>
            </c:strRef>
          </c:cat>
          <c:val>
            <c:numRef>
              <c:f>'[New Microsoft Excel Worksheet (2).xlsx]Sheet4'!$I$24:$I$35</c:f>
              <c:numCache>
                <c:formatCode>General</c:formatCode>
                <c:ptCount val="12"/>
                <c:pt idx="0">
                  <c:v>10</c:v>
                </c:pt>
                <c:pt idx="1">
                  <c:v>1</c:v>
                </c:pt>
                <c:pt idx="2">
                  <c:v>1</c:v>
                </c:pt>
                <c:pt idx="3">
                  <c:v>0</c:v>
                </c:pt>
                <c:pt idx="4">
                  <c:v>26</c:v>
                </c:pt>
                <c:pt idx="5">
                  <c:v>163</c:v>
                </c:pt>
                <c:pt idx="6">
                  <c:v>324</c:v>
                </c:pt>
                <c:pt idx="7">
                  <c:v>395</c:v>
                </c:pt>
                <c:pt idx="8">
                  <c:v>349</c:v>
                </c:pt>
                <c:pt idx="9">
                  <c:v>357</c:v>
                </c:pt>
                <c:pt idx="10">
                  <c:v>188</c:v>
                </c:pt>
                <c:pt idx="11">
                  <c:v>19</c:v>
                </c:pt>
              </c:numCache>
            </c:numRef>
          </c:val>
          <c:smooth val="0"/>
          <c:extLst>
            <c:ext xmlns:c16="http://schemas.microsoft.com/office/drawing/2014/chart" uri="{C3380CC4-5D6E-409C-BE32-E72D297353CC}">
              <c16:uniqueId val="{00000002-F5F7-44B4-8116-6626A43FC63F}"/>
            </c:ext>
          </c:extLst>
        </c:ser>
        <c:dLbls>
          <c:showLegendKey val="0"/>
          <c:showVal val="0"/>
          <c:showCatName val="0"/>
          <c:showSerName val="0"/>
          <c:showPercent val="0"/>
          <c:showBubbleSize val="0"/>
        </c:dLbls>
        <c:marker val="1"/>
        <c:smooth val="0"/>
        <c:axId val="1625473776"/>
        <c:axId val="1625471376"/>
      </c:lineChart>
      <c:catAx>
        <c:axId val="1625473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600" b="0" i="0" u="none" strike="noStrike" kern="1200" baseline="0">
                <a:solidFill>
                  <a:schemeClr val="dk1"/>
                </a:solidFill>
                <a:latin typeface="Arial" panose="020B0604020202020204" pitchFamily="34" charset="0"/>
                <a:ea typeface="+mn-ea"/>
                <a:cs typeface="Arial" panose="020B0604020202020204" pitchFamily="34" charset="0"/>
              </a:defRPr>
            </a:pPr>
            <a:endParaRPr lang="en-US"/>
          </a:p>
        </c:txPr>
        <c:crossAx val="1625471376"/>
        <c:crosses val="autoZero"/>
        <c:auto val="1"/>
        <c:lblAlgn val="ctr"/>
        <c:lblOffset val="100"/>
        <c:noMultiLvlLbl val="0"/>
      </c:catAx>
      <c:valAx>
        <c:axId val="1625471376"/>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ja-JP" sz="600" b="0" i="0" u="none" strike="noStrike" kern="1200" baseline="0">
                <a:solidFill>
                  <a:schemeClr val="dk1"/>
                </a:solidFill>
                <a:latin typeface="Arial" panose="020B0604020202020204" pitchFamily="34" charset="0"/>
                <a:ea typeface="+mn-ea"/>
                <a:cs typeface="Arial" panose="020B0604020202020204" pitchFamily="34" charset="0"/>
              </a:defRPr>
            </a:pPr>
            <a:endParaRPr lang="en-US"/>
          </a:p>
        </c:txPr>
        <c:crossAx val="1625473776"/>
        <c:crosses val="autoZero"/>
        <c:crossBetween val="between"/>
      </c:val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rtl="0">
              <a:defRPr lang="ja-JP" sz="600" b="0" i="0" u="none" strike="noStrike" kern="1200" baseline="0">
                <a:solidFill>
                  <a:schemeClr val="dk1"/>
                </a:solidFill>
                <a:latin typeface="Arial" panose="020B0604020202020204" pitchFamily="34" charset="0"/>
                <a:ea typeface="+mn-ea"/>
                <a:cs typeface="Arial" panose="020B0604020202020204" pitchFamily="34" charset="0"/>
              </a:defRPr>
            </a:pPr>
            <a:endParaRPr lang="en-US"/>
          </a:p>
        </c:txPr>
      </c:dTable>
      <c:spPr>
        <a:noFill/>
        <a:ln>
          <a:noFill/>
        </a:ln>
        <a:effectLst/>
      </c:spPr>
    </c:plotArea>
    <c:legend>
      <c:legendPos val="b"/>
      <c:overlay val="0"/>
      <c:spPr>
        <a:noFill/>
        <a:ln>
          <a:noFill/>
        </a:ln>
        <a:effectLst/>
      </c:spPr>
      <c:txPr>
        <a:bodyPr rot="0" spcFirstLastPara="1" vertOverflow="ellipsis" vert="horz" wrap="square" anchor="ctr" anchorCtr="1"/>
        <a:lstStyle/>
        <a:p>
          <a:pPr>
            <a:defRPr lang="ja-JP" sz="600" b="0" i="0" u="none" strike="noStrike" kern="1200" baseline="0">
              <a:solidFill>
                <a:schemeClr val="dk1"/>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w="25400" cap="flat" cmpd="sng" algn="ctr">
      <a:solidFill>
        <a:schemeClr val="dk1"/>
      </a:solidFill>
      <a:prstDash val="solid"/>
      <a:round/>
    </a:ln>
    <a:effectLst/>
  </c:spPr>
  <c:txPr>
    <a:bodyPr/>
    <a:lstStyle/>
    <a:p>
      <a:pPr>
        <a:defRPr sz="600">
          <a:solidFill>
            <a:schemeClr val="dk1"/>
          </a:solidFill>
          <a:latin typeface="Arial" panose="020B0604020202020204" pitchFamily="34" charset="0"/>
          <a:ea typeface="+mn-ea"/>
          <a:cs typeface="Arial" panose="020B0604020202020204" pitchFamily="34" charset="0"/>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ja-JP" sz="2200" b="1" i="0" u="none" strike="noStrike" kern="1200" baseline="0">
                <a:solidFill>
                  <a:schemeClr val="dk1">
                    <a:lumMod val="75000"/>
                    <a:lumOff val="25000"/>
                  </a:schemeClr>
                </a:solidFill>
                <a:latin typeface="+mn-lt"/>
                <a:ea typeface="+mn-ea"/>
                <a:cs typeface="+mn-cs"/>
              </a:defRPr>
            </a:pPr>
            <a:r>
              <a:rPr lang="en-US" sz="1400">
                <a:latin typeface="Arial" panose="020B0604020202020204" pitchFamily="34" charset="0"/>
                <a:cs typeface="Arial" panose="020B0604020202020204" pitchFamily="34" charset="0"/>
              </a:rPr>
              <a:t>Mode</a:t>
            </a:r>
            <a:r>
              <a:rPr lang="en-US" sz="1400" baseline="0">
                <a:latin typeface="Arial" panose="020B0604020202020204" pitchFamily="34" charset="0"/>
                <a:cs typeface="Arial" panose="020B0604020202020204" pitchFamily="34" charset="0"/>
              </a:rPr>
              <a:t> of Trading</a:t>
            </a:r>
            <a:endParaRPr lang="en-US">
              <a:latin typeface="Arial" panose="020B0604020202020204" pitchFamily="34" charset="0"/>
              <a:cs typeface="Arial" panose="020B0604020202020204" pitchFamily="34" charset="0"/>
            </a:endParaRPr>
          </a:p>
        </c:rich>
      </c:tx>
      <c:overlay val="0"/>
      <c:spPr>
        <a:noFill/>
        <a:ln>
          <a:noFill/>
        </a:ln>
        <a:effectLst/>
      </c:spPr>
      <c:txPr>
        <a:bodyPr rot="0" spcFirstLastPara="1" vertOverflow="ellipsis" vert="horz" wrap="square" anchor="ctr" anchorCtr="1"/>
        <a:lstStyle/>
        <a:p>
          <a:pPr>
            <a:defRPr lang="ja-JP" sz="2200" b="1" i="0" u="none" strike="noStrike" kern="1200" baseline="0">
              <a:solidFill>
                <a:schemeClr val="dk1">
                  <a:lumMod val="75000"/>
                  <a:lumOff val="25000"/>
                </a:schemeClr>
              </a:solidFill>
              <a:latin typeface="+mn-lt"/>
              <a:ea typeface="+mn-ea"/>
              <a:cs typeface="+mn-cs"/>
            </a:defRPr>
          </a:pPr>
          <a:endParaRPr lang="en-US"/>
        </a:p>
      </c:txPr>
    </c:title>
    <c:autoTitleDeleted val="0"/>
    <c:plotArea>
      <c:layout/>
      <c:barChart>
        <c:barDir val="col"/>
        <c:grouping val="clustered"/>
        <c:varyColors val="0"/>
        <c:ser>
          <c:idx val="0"/>
          <c:order val="0"/>
          <c:spPr>
            <a:solidFill>
              <a:schemeClr val="accent1">
                <a:alpha val="85000"/>
              </a:schemeClr>
            </a:solidFill>
            <a:ln w="9525" cap="flat" cmpd="sng" algn="ctr">
              <a:solidFill>
                <a:schemeClr val="lt1">
                  <a:alpha val="50000"/>
                </a:schemeClr>
              </a:solidFill>
              <a:round/>
            </a:ln>
            <a:effectLst/>
          </c:spPr>
          <c:invertIfNegative val="0"/>
          <c:dLbls>
            <c:dLbl>
              <c:idx val="0"/>
              <c:layout>
                <c:manualLayout>
                  <c:x val="3.5375404066499863E-3"/>
                  <c:y val="4.662499361946906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111-4D66-95B4-201F1B059684}"/>
                </c:ext>
              </c:extLst>
            </c:dLbl>
            <c:dLbl>
              <c:idx val="1"/>
              <c:layout>
                <c:manualLayout>
                  <c:x val="-3.5375404066501485E-3"/>
                  <c:y val="3.531083983493068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111-4D66-95B4-201F1B059684}"/>
                </c:ext>
              </c:extLst>
            </c:dLbl>
            <c:spPr>
              <a:noFill/>
              <a:ln>
                <a:noFill/>
              </a:ln>
              <a:effectLst/>
            </c:spPr>
            <c:txPr>
              <a:bodyPr rot="0" spcFirstLastPara="1" vertOverflow="ellipsis" vert="horz" wrap="square" lIns="38100" tIns="19050" rIns="38100" bIns="19050" anchor="ctr" anchorCtr="1">
                <a:spAutoFit/>
              </a:bodyPr>
              <a:lstStyle/>
              <a:p>
                <a:pPr>
                  <a:defRPr lang="ja-JP" sz="1197" b="1" i="0" u="none" strike="noStrike" kern="1200" baseline="0">
                    <a:solidFill>
                      <a:schemeClr val="tx1"/>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'[New Microsoft Excel Worksheet (2).xlsx]Sheet5'!$E$33:$E$34</c:f>
              <c:strCache>
                <c:ptCount val="2"/>
                <c:pt idx="0">
                  <c:v>Power exchange</c:v>
                </c:pt>
                <c:pt idx="1">
                  <c:v>Bilateral Mode</c:v>
                </c:pt>
              </c:strCache>
            </c:strRef>
          </c:cat>
          <c:val>
            <c:numRef>
              <c:f>'[New Microsoft Excel Worksheet (2).xlsx]Sheet5'!$F$33:$F$34</c:f>
              <c:numCache>
                <c:formatCode>General</c:formatCode>
                <c:ptCount val="2"/>
                <c:pt idx="0">
                  <c:v>711.39999999999986</c:v>
                </c:pt>
                <c:pt idx="1">
                  <c:v>184.61</c:v>
                </c:pt>
              </c:numCache>
            </c:numRef>
          </c:val>
          <c:extLst>
            <c:ext xmlns:c16="http://schemas.microsoft.com/office/drawing/2014/chart" uri="{C3380CC4-5D6E-409C-BE32-E72D297353CC}">
              <c16:uniqueId val="{00000000-D111-4D66-95B4-201F1B059684}"/>
            </c:ext>
          </c:extLst>
        </c:ser>
        <c:dLbls>
          <c:dLblPos val="inEnd"/>
          <c:showLegendKey val="0"/>
          <c:showVal val="1"/>
          <c:showCatName val="0"/>
          <c:showSerName val="0"/>
          <c:showPercent val="0"/>
          <c:showBubbleSize val="0"/>
        </c:dLbls>
        <c:gapWidth val="65"/>
        <c:axId val="1982475616"/>
        <c:axId val="1982473216"/>
      </c:barChart>
      <c:catAx>
        <c:axId val="1982475616"/>
        <c:scaling>
          <c:orientation val="minMax"/>
        </c:scaling>
        <c:delete val="0"/>
        <c:axPos val="b"/>
        <c:numFmt formatCode="General" sourceLinked="1"/>
        <c:majorTickMark val="none"/>
        <c:minorTickMark val="none"/>
        <c:tickLblPos val="nextTo"/>
        <c:spPr>
          <a:noFill/>
          <a:ln w="19050" cap="flat" cmpd="sng" algn="ctr">
            <a:solidFill>
              <a:schemeClr val="dk1">
                <a:lumMod val="75000"/>
                <a:lumOff val="25000"/>
              </a:schemeClr>
            </a:solidFill>
            <a:round/>
          </a:ln>
          <a:effectLst/>
        </c:spPr>
        <c:txPr>
          <a:bodyPr rot="-60000000" spcFirstLastPara="1" vertOverflow="ellipsis" vert="horz" wrap="square" anchor="ctr" anchorCtr="1"/>
          <a:lstStyle/>
          <a:p>
            <a:pPr>
              <a:defRPr lang="ja-JP" sz="1197" b="0" i="0" u="none" strike="noStrike" kern="1200" cap="all" baseline="0">
                <a:solidFill>
                  <a:schemeClr val="dk1">
                    <a:lumMod val="75000"/>
                    <a:lumOff val="25000"/>
                  </a:schemeClr>
                </a:solidFill>
                <a:latin typeface="+mn-lt"/>
                <a:ea typeface="+mn-ea"/>
                <a:cs typeface="+mn-cs"/>
              </a:defRPr>
            </a:pPr>
            <a:endParaRPr lang="en-US"/>
          </a:p>
        </c:txPr>
        <c:crossAx val="1982473216"/>
        <c:crosses val="autoZero"/>
        <c:auto val="1"/>
        <c:lblAlgn val="ctr"/>
        <c:lblOffset val="100"/>
        <c:noMultiLvlLbl val="0"/>
      </c:catAx>
      <c:valAx>
        <c:axId val="1982473216"/>
        <c:scaling>
          <c:orientation val="minMax"/>
        </c:scaling>
        <c:delete val="1"/>
        <c:axPos val="l"/>
        <c:majorGridlines>
          <c:spPr>
            <a:ln w="9525" cap="flat" cmpd="sng" algn="ctr">
              <a:gradFill>
                <a:gsLst>
                  <a:gs pos="100000">
                    <a:schemeClr val="dk1">
                      <a:lumMod val="95000"/>
                      <a:lumOff val="5000"/>
                      <a:alpha val="42000"/>
                    </a:schemeClr>
                  </a:gs>
                  <a:gs pos="0">
                    <a:schemeClr val="lt1">
                      <a:lumMod val="75000"/>
                      <a:alpha val="36000"/>
                    </a:schemeClr>
                  </a:gs>
                </a:gsLst>
                <a:lin ang="5400000" scaled="0"/>
              </a:gradFill>
              <a:round/>
            </a:ln>
            <a:effectLst/>
          </c:spPr>
        </c:majorGridlines>
        <c:numFmt formatCode="General" sourceLinked="1"/>
        <c:majorTickMark val="none"/>
        <c:minorTickMark val="none"/>
        <c:tickLblPos val="nextTo"/>
        <c:crossAx val="198247561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ja-JP" sz="1862" b="0" i="0" u="none" strike="noStrike" kern="1200" spc="0" baseline="0">
                <a:solidFill>
                  <a:schemeClr val="tx1">
                    <a:lumMod val="65000"/>
                    <a:lumOff val="35000"/>
                  </a:schemeClr>
                </a:solidFill>
                <a:latin typeface="+mn-lt"/>
                <a:ea typeface="+mn-ea"/>
                <a:cs typeface="+mn-cs"/>
              </a:defRPr>
            </a:pPr>
            <a:r>
              <a:rPr lang="en-IN" sz="1200" b="1"/>
              <a:t>Bilateral with</a:t>
            </a:r>
            <a:r>
              <a:rPr lang="en-IN" sz="1200" b="1" baseline="0"/>
              <a:t> Haryana (MW)</a:t>
            </a:r>
            <a:endParaRPr lang="en-IN" sz="1200" b="1"/>
          </a:p>
        </c:rich>
      </c:tx>
      <c:overlay val="0"/>
      <c:spPr>
        <a:noFill/>
        <a:ln>
          <a:noFill/>
        </a:ln>
        <a:effectLst/>
      </c:spPr>
      <c:txPr>
        <a:bodyPr rot="0" spcFirstLastPara="1" vertOverflow="ellipsis" vert="horz" wrap="square" anchor="ctr" anchorCtr="1"/>
        <a:lstStyle/>
        <a:p>
          <a:pPr>
            <a:defRPr lang="ja-JP"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Proposed (MW)</c:v>
                </c:pt>
              </c:strCache>
            </c:strRef>
          </c:tx>
          <c:spPr>
            <a:solidFill>
              <a:srgbClr val="92D05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ja-JP" sz="1197" b="1"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Applied for 2023-27</c:v>
                </c:pt>
                <c:pt idx="1">
                  <c:v>Applied for 2024-27</c:v>
                </c:pt>
              </c:strCache>
            </c:strRef>
          </c:cat>
          <c:val>
            <c:numRef>
              <c:f>Sheet1!$B$2:$B$3</c:f>
              <c:numCache>
                <c:formatCode>General</c:formatCode>
                <c:ptCount val="2"/>
                <c:pt idx="0">
                  <c:v>89.87</c:v>
                </c:pt>
                <c:pt idx="1">
                  <c:v>200</c:v>
                </c:pt>
              </c:numCache>
            </c:numRef>
          </c:val>
          <c:extLst>
            <c:ext xmlns:c16="http://schemas.microsoft.com/office/drawing/2014/chart" uri="{C3380CC4-5D6E-409C-BE32-E72D297353CC}">
              <c16:uniqueId val="{00000000-DC74-4A7B-AB05-ECCE86E19A62}"/>
            </c:ext>
          </c:extLst>
        </c:ser>
        <c:ser>
          <c:idx val="1"/>
          <c:order val="1"/>
          <c:tx>
            <c:strRef>
              <c:f>Sheet1!$C$1</c:f>
              <c:strCache>
                <c:ptCount val="1"/>
                <c:pt idx="0">
                  <c:v>Approved (MW)</c:v>
                </c:pt>
              </c:strCache>
            </c:strRef>
          </c:tx>
          <c:spPr>
            <a:solidFill>
              <a:schemeClr val="accent5">
                <a:lumMod val="5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ja-JP" sz="1197" b="1"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Applied for 2023-27</c:v>
                </c:pt>
                <c:pt idx="1">
                  <c:v>Applied for 2024-27</c:v>
                </c:pt>
              </c:strCache>
            </c:strRef>
          </c:cat>
          <c:val>
            <c:numRef>
              <c:f>Sheet1!$C$2:$C$3</c:f>
              <c:numCache>
                <c:formatCode>General</c:formatCode>
                <c:ptCount val="2"/>
                <c:pt idx="0">
                  <c:v>75</c:v>
                </c:pt>
                <c:pt idx="1">
                  <c:v>109.61</c:v>
                </c:pt>
              </c:numCache>
            </c:numRef>
          </c:val>
          <c:extLst>
            <c:ext xmlns:c16="http://schemas.microsoft.com/office/drawing/2014/chart" uri="{C3380CC4-5D6E-409C-BE32-E72D297353CC}">
              <c16:uniqueId val="{00000001-DC74-4A7B-AB05-ECCE86E19A62}"/>
            </c:ext>
          </c:extLst>
        </c:ser>
        <c:dLbls>
          <c:dLblPos val="outEnd"/>
          <c:showLegendKey val="0"/>
          <c:showVal val="1"/>
          <c:showCatName val="0"/>
          <c:showSerName val="0"/>
          <c:showPercent val="0"/>
          <c:showBubbleSize val="0"/>
        </c:dLbls>
        <c:gapWidth val="219"/>
        <c:overlap val="-27"/>
        <c:axId val="1636240544"/>
        <c:axId val="1636242464"/>
      </c:barChart>
      <c:catAx>
        <c:axId val="16362405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197" b="0" i="0" u="none" strike="noStrike" kern="1200" baseline="0">
                <a:solidFill>
                  <a:schemeClr val="tx1">
                    <a:lumMod val="65000"/>
                    <a:lumOff val="35000"/>
                  </a:schemeClr>
                </a:solidFill>
                <a:latin typeface="+mn-lt"/>
                <a:ea typeface="+mn-ea"/>
                <a:cs typeface="+mn-cs"/>
              </a:defRPr>
            </a:pPr>
            <a:endParaRPr lang="en-US"/>
          </a:p>
        </c:txPr>
        <c:crossAx val="1636242464"/>
        <c:crosses val="autoZero"/>
        <c:auto val="1"/>
        <c:lblAlgn val="ctr"/>
        <c:lblOffset val="100"/>
        <c:noMultiLvlLbl val="0"/>
      </c:catAx>
      <c:valAx>
        <c:axId val="1636242464"/>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ja-JP" sz="1197" b="0" i="0" u="none" strike="noStrike" kern="1200" baseline="0">
                <a:solidFill>
                  <a:schemeClr val="tx1">
                    <a:lumMod val="65000"/>
                    <a:lumOff val="35000"/>
                  </a:schemeClr>
                </a:solidFill>
                <a:latin typeface="+mn-lt"/>
                <a:ea typeface="+mn-ea"/>
                <a:cs typeface="+mn-cs"/>
              </a:defRPr>
            </a:pPr>
            <a:endParaRPr lang="en-US"/>
          </a:p>
        </c:txPr>
        <c:crossAx val="163624054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lang="ja-JP"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solidFill>
        <a:schemeClr val="tx1"/>
      </a:solid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9253294289897516E-2"/>
          <c:y val="7.9487179487179482E-2"/>
          <c:w val="0.92313323572474382"/>
          <c:h val="0.84102564102564104"/>
        </c:manualLayout>
      </c:layout>
      <c:barChart>
        <c:barDir val="col"/>
        <c:grouping val="clustered"/>
        <c:varyColors val="0"/>
        <c:ser>
          <c:idx val="0"/>
          <c:order val="0"/>
          <c:spPr>
            <a:solidFill>
              <a:srgbClr val="C4D600"/>
            </a:solidFill>
            <a:ln>
              <a:noFill/>
            </a:ln>
          </c:spPr>
          <c:invertIfNegative val="0"/>
          <c:val>
            <c:numRef>
              <c:f>Sheet1!$A$1:$D$1</c:f>
              <c:numCache>
                <c:formatCode>General</c:formatCode>
                <c:ptCount val="4"/>
                <c:pt idx="0">
                  <c:v>12999</c:v>
                </c:pt>
                <c:pt idx="1">
                  <c:v>20074</c:v>
                </c:pt>
                <c:pt idx="2">
                  <c:v>29745</c:v>
                </c:pt>
                <c:pt idx="3">
                  <c:v>43017</c:v>
                </c:pt>
              </c:numCache>
            </c:numRef>
          </c:val>
          <c:extLst>
            <c:ext xmlns:c16="http://schemas.microsoft.com/office/drawing/2014/chart" uri="{C3380CC4-5D6E-409C-BE32-E72D297353CC}">
              <c16:uniqueId val="{00000000-1902-433F-9E8D-30E4B1DB79F5}"/>
            </c:ext>
          </c:extLst>
        </c:ser>
        <c:ser>
          <c:idx val="1"/>
          <c:order val="1"/>
          <c:spPr>
            <a:solidFill>
              <a:srgbClr val="6FC2B4"/>
            </a:solidFill>
            <a:ln>
              <a:noFill/>
            </a:ln>
          </c:spPr>
          <c:invertIfNegative val="0"/>
          <c:val>
            <c:numRef>
              <c:f>Sheet1!$A$2:$D$2</c:f>
              <c:numCache>
                <c:formatCode>General</c:formatCode>
                <c:ptCount val="4"/>
                <c:pt idx="0">
                  <c:v>14864</c:v>
                </c:pt>
                <c:pt idx="1">
                  <c:v>24957</c:v>
                </c:pt>
                <c:pt idx="2">
                  <c:v>40710</c:v>
                </c:pt>
                <c:pt idx="3">
                  <c:v>66097</c:v>
                </c:pt>
              </c:numCache>
            </c:numRef>
          </c:val>
          <c:extLst>
            <c:ext xmlns:c16="http://schemas.microsoft.com/office/drawing/2014/chart" uri="{C3380CC4-5D6E-409C-BE32-E72D297353CC}">
              <c16:uniqueId val="{00000001-1902-433F-9E8D-30E4B1DB79F5}"/>
            </c:ext>
          </c:extLst>
        </c:ser>
        <c:ser>
          <c:idx val="2"/>
          <c:order val="2"/>
          <c:spPr>
            <a:solidFill>
              <a:srgbClr val="A0DCFF"/>
            </a:solidFill>
            <a:ln>
              <a:noFill/>
            </a:ln>
          </c:spPr>
          <c:invertIfNegative val="0"/>
          <c:val>
            <c:numRef>
              <c:f>Sheet1!$A$3:$D$3</c:f>
              <c:numCache>
                <c:formatCode>General</c:formatCode>
                <c:ptCount val="4"/>
                <c:pt idx="0">
                  <c:v>16546</c:v>
                </c:pt>
                <c:pt idx="1">
                  <c:v>29865</c:v>
                </c:pt>
                <c:pt idx="2">
                  <c:v>52983</c:v>
                </c:pt>
                <c:pt idx="3">
                  <c:v>94851</c:v>
                </c:pt>
              </c:numCache>
            </c:numRef>
          </c:val>
          <c:extLst>
            <c:ext xmlns:c16="http://schemas.microsoft.com/office/drawing/2014/chart" uri="{C3380CC4-5D6E-409C-BE32-E72D297353CC}">
              <c16:uniqueId val="{00000002-1902-433F-9E8D-30E4B1DB79F5}"/>
            </c:ext>
          </c:extLst>
        </c:ser>
        <c:ser>
          <c:idx val="3"/>
          <c:order val="3"/>
          <c:spPr>
            <a:solidFill>
              <a:srgbClr val="007680"/>
            </a:solidFill>
            <a:ln>
              <a:noFill/>
            </a:ln>
          </c:spPr>
          <c:invertIfNegative val="0"/>
          <c:val>
            <c:numRef>
              <c:f>Sheet1!$A$4:$D$4</c:f>
              <c:numCache>
                <c:formatCode>General</c:formatCode>
                <c:ptCount val="4"/>
                <c:pt idx="0">
                  <c:v>22432</c:v>
                </c:pt>
                <c:pt idx="1">
                  <c:v>35335</c:v>
                </c:pt>
                <c:pt idx="2">
                  <c:v>51772</c:v>
                </c:pt>
                <c:pt idx="3">
                  <c:v>81959</c:v>
                </c:pt>
              </c:numCache>
            </c:numRef>
          </c:val>
          <c:extLst>
            <c:ext xmlns:c16="http://schemas.microsoft.com/office/drawing/2014/chart" uri="{C3380CC4-5D6E-409C-BE32-E72D297353CC}">
              <c16:uniqueId val="{00000003-1902-433F-9E8D-30E4B1DB79F5}"/>
            </c:ext>
          </c:extLst>
        </c:ser>
        <c:ser>
          <c:idx val="4"/>
          <c:order val="4"/>
          <c:spPr>
            <a:solidFill>
              <a:srgbClr val="012169"/>
            </a:solidFill>
            <a:ln>
              <a:noFill/>
            </a:ln>
          </c:spPr>
          <c:invertIfNegative val="0"/>
          <c:dLbls>
            <c:dLbl>
              <c:idx val="0"/>
              <c:layout>
                <c:manualLayout>
                  <c:x val="0"/>
                  <c:y val="-0.1082051282051282"/>
                </c:manualLayout>
              </c:layout>
              <c:numFmt formatCode="#,##0;&quot;-&quot;#,##0" sourceLinked="0"/>
              <c:spPr>
                <a:noFill/>
                <a:ln>
                  <a:noFill/>
                </a:ln>
              </c:spPr>
              <c:txPr>
                <a:bodyPr wrap="none"/>
                <a:lstStyle/>
                <a:p>
                  <a:pPr>
                    <a:defRPr lang="ja-JP" sz="11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1902-433F-9E8D-30E4B1DB79F5}"/>
                </c:ext>
              </c:extLst>
            </c:dLbl>
            <c:dLbl>
              <c:idx val="1"/>
              <c:layout>
                <c:manualLayout>
                  <c:x val="0"/>
                  <c:y val="-0.15897435897435896"/>
                </c:manualLayout>
              </c:layout>
              <c:numFmt formatCode="#,##0;&quot;-&quot;#,##0" sourceLinked="0"/>
              <c:spPr>
                <a:noFill/>
                <a:ln>
                  <a:noFill/>
                </a:ln>
              </c:spPr>
              <c:txPr>
                <a:bodyPr wrap="none"/>
                <a:lstStyle/>
                <a:p>
                  <a:pPr>
                    <a:defRPr lang="ja-JP" sz="11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1902-433F-9E8D-30E4B1DB79F5}"/>
                </c:ext>
              </c:extLst>
            </c:dLbl>
            <c:dLbl>
              <c:idx val="2"/>
              <c:layout>
                <c:manualLayout>
                  <c:x val="0"/>
                  <c:y val="-0.2323076923076923"/>
                </c:manualLayout>
              </c:layout>
              <c:numFmt formatCode="#,##0;&quot;-&quot;#,##0" sourceLinked="0"/>
              <c:spPr>
                <a:noFill/>
                <a:ln>
                  <a:noFill/>
                </a:ln>
              </c:spPr>
              <c:txPr>
                <a:bodyPr wrap="none"/>
                <a:lstStyle/>
                <a:p>
                  <a:pPr>
                    <a:defRPr lang="ja-JP" sz="11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1902-433F-9E8D-30E4B1DB79F5}"/>
                </c:ext>
              </c:extLst>
            </c:dLbl>
            <c:dLbl>
              <c:idx val="3"/>
              <c:layout>
                <c:manualLayout>
                  <c:x val="0"/>
                  <c:y val="-0.38205128205128203"/>
                </c:manualLayout>
              </c:layout>
              <c:numFmt formatCode="#,##0;&quot;-&quot;#,##0" sourceLinked="0"/>
              <c:spPr>
                <a:noFill/>
                <a:ln>
                  <a:noFill/>
                </a:ln>
              </c:spPr>
              <c:txPr>
                <a:bodyPr wrap="none"/>
                <a:lstStyle/>
                <a:p>
                  <a:pPr>
                    <a:defRPr lang="ja-JP" sz="11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1902-433F-9E8D-30E4B1DB79F5}"/>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Sheet1!$A$5:$D$5</c:f>
              <c:numCache>
                <c:formatCode>General</c:formatCode>
                <c:ptCount val="4"/>
                <c:pt idx="0">
                  <c:v>24265</c:v>
                </c:pt>
                <c:pt idx="1">
                  <c:v>41265</c:v>
                </c:pt>
                <c:pt idx="2">
                  <c:v>65657</c:v>
                </c:pt>
                <c:pt idx="3">
                  <c:v>115294</c:v>
                </c:pt>
              </c:numCache>
            </c:numRef>
          </c:val>
          <c:extLst>
            <c:ext xmlns:c16="http://schemas.microsoft.com/office/drawing/2014/chart" uri="{C3380CC4-5D6E-409C-BE32-E72D297353CC}">
              <c16:uniqueId val="{00000008-1902-433F-9E8D-30E4B1DB79F5}"/>
            </c:ext>
          </c:extLst>
        </c:ser>
        <c:ser>
          <c:idx val="5"/>
          <c:order val="5"/>
          <c:spPr>
            <a:solidFill>
              <a:srgbClr val="A7A8AA"/>
            </a:solidFill>
            <a:ln>
              <a:noFill/>
            </a:ln>
          </c:spPr>
          <c:invertIfNegative val="0"/>
          <c:val>
            <c:numRef>
              <c:f>Sheet1!$A$6:$D$6</c:f>
              <c:numCache>
                <c:formatCode>General</c:formatCode>
                <c:ptCount val="4"/>
                <c:pt idx="0">
                  <c:v>12191</c:v>
                </c:pt>
                <c:pt idx="1">
                  <c:v>17682</c:v>
                </c:pt>
              </c:numCache>
            </c:numRef>
          </c:val>
          <c:extLst>
            <c:ext xmlns:c16="http://schemas.microsoft.com/office/drawing/2014/chart" uri="{C3380CC4-5D6E-409C-BE32-E72D297353CC}">
              <c16:uniqueId val="{00000009-1902-433F-9E8D-30E4B1DB79F5}"/>
            </c:ext>
          </c:extLst>
        </c:ser>
        <c:ser>
          <c:idx val="6"/>
          <c:order val="6"/>
          <c:spPr>
            <a:solidFill>
              <a:srgbClr val="53565A"/>
            </a:solidFill>
            <a:ln>
              <a:noFill/>
            </a:ln>
          </c:spPr>
          <c:invertIfNegative val="0"/>
          <c:val>
            <c:numRef>
              <c:f>Sheet1!$A$7:$D$7</c:f>
              <c:numCache>
                <c:formatCode>General</c:formatCode>
                <c:ptCount val="4"/>
                <c:pt idx="0">
                  <c:v>13632</c:v>
                </c:pt>
                <c:pt idx="1">
                  <c:v>22189</c:v>
                </c:pt>
              </c:numCache>
            </c:numRef>
          </c:val>
          <c:extLst>
            <c:ext xmlns:c16="http://schemas.microsoft.com/office/drawing/2014/chart" uri="{C3380CC4-5D6E-409C-BE32-E72D297353CC}">
              <c16:uniqueId val="{0000000A-1902-433F-9E8D-30E4B1DB79F5}"/>
            </c:ext>
          </c:extLst>
        </c:ser>
        <c:ser>
          <c:idx val="7"/>
          <c:order val="7"/>
          <c:spPr>
            <a:solidFill>
              <a:srgbClr val="000000"/>
            </a:solidFill>
            <a:ln>
              <a:noFill/>
            </a:ln>
          </c:spPr>
          <c:invertIfNegative val="0"/>
          <c:val>
            <c:numRef>
              <c:f>Sheet1!$A$8:$D$8</c:f>
              <c:numCache>
                <c:formatCode>General</c:formatCode>
                <c:ptCount val="4"/>
                <c:pt idx="0">
                  <c:v>16690</c:v>
                </c:pt>
                <c:pt idx="1">
                  <c:v>30879</c:v>
                </c:pt>
                <c:pt idx="2">
                  <c:v>47294</c:v>
                </c:pt>
                <c:pt idx="3">
                  <c:v>133185</c:v>
                </c:pt>
              </c:numCache>
            </c:numRef>
          </c:val>
          <c:extLst>
            <c:ext xmlns:c16="http://schemas.microsoft.com/office/drawing/2014/chart" uri="{C3380CC4-5D6E-409C-BE32-E72D297353CC}">
              <c16:uniqueId val="{0000000B-1902-433F-9E8D-30E4B1DB79F5}"/>
            </c:ext>
          </c:extLst>
        </c:ser>
        <c:dLbls>
          <c:showLegendKey val="0"/>
          <c:showVal val="0"/>
          <c:showCatName val="0"/>
          <c:showSerName val="0"/>
          <c:showPercent val="0"/>
          <c:showBubbleSize val="0"/>
        </c:dLbls>
        <c:gapWidth val="150"/>
        <c:axId val="417699807"/>
        <c:axId val="1"/>
      </c:barChart>
      <c:catAx>
        <c:axId val="417699807"/>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100" kern="1200">
                <a:latin typeface="Arial"/>
                <a:ea typeface="Arial"/>
                <a:cs typeface="Arial"/>
                <a:sym typeface="Arial"/>
              </a:defRPr>
            </a:pPr>
            <a:endParaRPr lang="en-US"/>
          </a:p>
        </c:txPr>
        <c:crossAx val="1"/>
        <c:crosses val="min"/>
        <c:auto val="0"/>
        <c:lblAlgn val="ctr"/>
        <c:lblOffset val="100"/>
        <c:noMultiLvlLbl val="0"/>
      </c:catAx>
      <c:valAx>
        <c:axId val="1"/>
        <c:scaling>
          <c:orientation val="minMax"/>
          <c:max val="1400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lang="ja-JP" sz="1100" kern="1200">
                <a:solidFill>
                  <a:schemeClr val="tx1"/>
                </a:solidFill>
                <a:latin typeface="Arial"/>
                <a:ea typeface="Arial"/>
                <a:cs typeface="Arial"/>
                <a:sym typeface="Arial"/>
              </a:defRPr>
            </a:pPr>
            <a:endParaRPr lang="en-US"/>
          </a:p>
        </c:txPr>
        <c:crossAx val="417699807"/>
        <c:crosses val="min"/>
        <c:crossBetween val="between"/>
        <c:majorUnit val="20000"/>
      </c:valAx>
    </c:plotArea>
    <c:plotVisOnly val="0"/>
    <c:dispBlanksAs val="gap"/>
    <c:showDLblsOverMax val="1"/>
  </c:chart>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2233964479671215E-2"/>
          <c:y val="5.5468341182626897E-2"/>
          <c:w val="0.93013356817848236"/>
          <c:h val="0.88906331763474622"/>
        </c:manualLayout>
      </c:layout>
      <c:barChart>
        <c:barDir val="col"/>
        <c:grouping val="clustered"/>
        <c:varyColors val="0"/>
        <c:ser>
          <c:idx val="0"/>
          <c:order val="0"/>
          <c:spPr>
            <a:solidFill>
              <a:srgbClr val="C4D600"/>
            </a:solidFill>
            <a:ln>
              <a:noFill/>
            </a:ln>
          </c:spPr>
          <c:invertIfNegative val="0"/>
          <c:val>
            <c:numRef>
              <c:f>Sheet1!$A$1:$D$1</c:f>
              <c:numCache>
                <c:formatCode>General</c:formatCode>
                <c:ptCount val="4"/>
                <c:pt idx="0">
                  <c:v>5787</c:v>
                </c:pt>
                <c:pt idx="1">
                  <c:v>8937</c:v>
                </c:pt>
                <c:pt idx="2">
                  <c:v>13242</c:v>
                </c:pt>
                <c:pt idx="3">
                  <c:v>19151</c:v>
                </c:pt>
              </c:numCache>
            </c:numRef>
          </c:val>
          <c:extLst>
            <c:ext xmlns:c16="http://schemas.microsoft.com/office/drawing/2014/chart" uri="{C3380CC4-5D6E-409C-BE32-E72D297353CC}">
              <c16:uniqueId val="{00000000-E1A4-43CD-9217-835FE2AFE158}"/>
            </c:ext>
          </c:extLst>
        </c:ser>
        <c:ser>
          <c:idx val="1"/>
          <c:order val="1"/>
          <c:spPr>
            <a:solidFill>
              <a:srgbClr val="6FC2B4"/>
            </a:solidFill>
            <a:ln>
              <a:noFill/>
            </a:ln>
          </c:spPr>
          <c:invertIfNegative val="0"/>
          <c:val>
            <c:numRef>
              <c:f>Sheet1!$A$2:$D$2</c:f>
              <c:numCache>
                <c:formatCode>General</c:formatCode>
                <c:ptCount val="4"/>
                <c:pt idx="0">
                  <c:v>6617</c:v>
                </c:pt>
                <c:pt idx="1">
                  <c:v>11111</c:v>
                </c:pt>
                <c:pt idx="2">
                  <c:v>18124</c:v>
                </c:pt>
                <c:pt idx="3">
                  <c:v>29247</c:v>
                </c:pt>
              </c:numCache>
            </c:numRef>
          </c:val>
          <c:extLst>
            <c:ext xmlns:c16="http://schemas.microsoft.com/office/drawing/2014/chart" uri="{C3380CC4-5D6E-409C-BE32-E72D297353CC}">
              <c16:uniqueId val="{00000001-E1A4-43CD-9217-835FE2AFE158}"/>
            </c:ext>
          </c:extLst>
        </c:ser>
        <c:ser>
          <c:idx val="2"/>
          <c:order val="2"/>
          <c:spPr>
            <a:solidFill>
              <a:srgbClr val="A0DCFF"/>
            </a:solidFill>
            <a:ln>
              <a:noFill/>
            </a:ln>
          </c:spPr>
          <c:invertIfNegative val="0"/>
          <c:val>
            <c:numRef>
              <c:f>Sheet1!$A$3:$D$3</c:f>
              <c:numCache>
                <c:formatCode>General</c:formatCode>
                <c:ptCount val="4"/>
                <c:pt idx="0">
                  <c:v>7366</c:v>
                </c:pt>
                <c:pt idx="1">
                  <c:v>13296</c:v>
                </c:pt>
                <c:pt idx="2">
                  <c:v>23588</c:v>
                </c:pt>
                <c:pt idx="3">
                  <c:v>42228</c:v>
                </c:pt>
              </c:numCache>
            </c:numRef>
          </c:val>
          <c:extLst>
            <c:ext xmlns:c16="http://schemas.microsoft.com/office/drawing/2014/chart" uri="{C3380CC4-5D6E-409C-BE32-E72D297353CC}">
              <c16:uniqueId val="{00000002-E1A4-43CD-9217-835FE2AFE158}"/>
            </c:ext>
          </c:extLst>
        </c:ser>
        <c:ser>
          <c:idx val="3"/>
          <c:order val="3"/>
          <c:spPr>
            <a:solidFill>
              <a:srgbClr val="007680"/>
            </a:solidFill>
            <a:ln>
              <a:noFill/>
            </a:ln>
          </c:spPr>
          <c:invertIfNegative val="0"/>
          <c:val>
            <c:numRef>
              <c:f>Sheet1!$A$4:$D$4</c:f>
              <c:numCache>
                <c:formatCode>General</c:formatCode>
                <c:ptCount val="4"/>
                <c:pt idx="0">
                  <c:v>9987</c:v>
                </c:pt>
                <c:pt idx="1">
                  <c:v>15731</c:v>
                </c:pt>
                <c:pt idx="2">
                  <c:v>23049</c:v>
                </c:pt>
                <c:pt idx="3">
                  <c:v>36489</c:v>
                </c:pt>
              </c:numCache>
            </c:numRef>
          </c:val>
          <c:extLst>
            <c:ext xmlns:c16="http://schemas.microsoft.com/office/drawing/2014/chart" uri="{C3380CC4-5D6E-409C-BE32-E72D297353CC}">
              <c16:uniqueId val="{00000003-E1A4-43CD-9217-835FE2AFE158}"/>
            </c:ext>
          </c:extLst>
        </c:ser>
        <c:ser>
          <c:idx val="4"/>
          <c:order val="4"/>
          <c:spPr>
            <a:solidFill>
              <a:srgbClr val="012169"/>
            </a:solidFill>
            <a:ln>
              <a:noFill/>
            </a:ln>
          </c:spPr>
          <c:invertIfNegative val="0"/>
          <c:val>
            <c:numRef>
              <c:f>Sheet1!$A$5:$D$5</c:f>
              <c:numCache>
                <c:formatCode>General</c:formatCode>
                <c:ptCount val="4"/>
                <c:pt idx="0">
                  <c:v>10803</c:v>
                </c:pt>
                <c:pt idx="1">
                  <c:v>18371</c:v>
                </c:pt>
                <c:pt idx="2">
                  <c:v>29231</c:v>
                </c:pt>
                <c:pt idx="3">
                  <c:v>51330</c:v>
                </c:pt>
              </c:numCache>
            </c:numRef>
          </c:val>
          <c:extLst>
            <c:ext xmlns:c16="http://schemas.microsoft.com/office/drawing/2014/chart" uri="{C3380CC4-5D6E-409C-BE32-E72D297353CC}">
              <c16:uniqueId val="{00000004-E1A4-43CD-9217-835FE2AFE158}"/>
            </c:ext>
          </c:extLst>
        </c:ser>
        <c:ser>
          <c:idx val="5"/>
          <c:order val="5"/>
          <c:spPr>
            <a:solidFill>
              <a:srgbClr val="000000"/>
            </a:solidFill>
            <a:ln>
              <a:noFill/>
            </a:ln>
          </c:spPr>
          <c:invertIfNegative val="0"/>
          <c:val>
            <c:numRef>
              <c:f>Sheet1!$A$6:$D$6</c:f>
              <c:numCache>
                <c:formatCode>General</c:formatCode>
                <c:ptCount val="4"/>
                <c:pt idx="0">
                  <c:v>6289</c:v>
                </c:pt>
                <c:pt idx="1">
                  <c:v>14546</c:v>
                </c:pt>
                <c:pt idx="2">
                  <c:v>28215</c:v>
                </c:pt>
                <c:pt idx="3">
                  <c:v>36327</c:v>
                </c:pt>
              </c:numCache>
            </c:numRef>
          </c:val>
          <c:extLst>
            <c:ext xmlns:c16="http://schemas.microsoft.com/office/drawing/2014/chart" uri="{C3380CC4-5D6E-409C-BE32-E72D297353CC}">
              <c16:uniqueId val="{00000005-E1A4-43CD-9217-835FE2AFE158}"/>
            </c:ext>
          </c:extLst>
        </c:ser>
        <c:dLbls>
          <c:showLegendKey val="0"/>
          <c:showVal val="0"/>
          <c:showCatName val="0"/>
          <c:showSerName val="0"/>
          <c:showPercent val="0"/>
          <c:showBubbleSize val="0"/>
        </c:dLbls>
        <c:gapWidth val="150"/>
        <c:axId val="1504079615"/>
        <c:axId val="1"/>
      </c:barChart>
      <c:catAx>
        <c:axId val="1504079615"/>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100" kern="1200">
                <a:latin typeface="Arial"/>
                <a:ea typeface="Arial"/>
                <a:cs typeface="Arial"/>
                <a:sym typeface="Arial"/>
              </a:defRPr>
            </a:pPr>
            <a:endParaRPr lang="en-US"/>
          </a:p>
        </c:txPr>
        <c:crossAx val="1"/>
        <c:crosses val="min"/>
        <c:auto val="0"/>
        <c:lblAlgn val="ctr"/>
        <c:lblOffset val="100"/>
        <c:noMultiLvlLbl val="0"/>
      </c:catAx>
      <c:valAx>
        <c:axId val="1"/>
        <c:scaling>
          <c:orientation val="minMax"/>
          <c:max val="550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lang="ja-JP" sz="1100" kern="1200">
                <a:solidFill>
                  <a:schemeClr val="tx1"/>
                </a:solidFill>
                <a:latin typeface="Arial"/>
                <a:ea typeface="Arial"/>
                <a:cs typeface="Arial"/>
                <a:sym typeface="Arial"/>
              </a:defRPr>
            </a:pPr>
            <a:endParaRPr lang="en-US"/>
          </a:p>
        </c:txPr>
        <c:crossAx val="1504079615"/>
        <c:crosses val="min"/>
        <c:crossBetween val="between"/>
        <c:majorUnit val="5000"/>
      </c:valAx>
    </c:plotArea>
    <c:plotVisOnly val="0"/>
    <c:dispBlanksAs val="gap"/>
    <c:showDLblsOverMax val="1"/>
  </c:chart>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201892744479496E-3"/>
          <c:y val="0.10429447852760736"/>
          <c:w val="0.98359621451104096"/>
          <c:h val="0.80429447852760738"/>
        </c:manualLayout>
      </c:layout>
      <c:barChart>
        <c:barDir val="bar"/>
        <c:grouping val="stacked"/>
        <c:varyColors val="0"/>
        <c:ser>
          <c:idx val="0"/>
          <c:order val="0"/>
          <c:spPr>
            <a:solidFill>
              <a:srgbClr val="046A38"/>
            </a:solidFill>
            <a:ln>
              <a:noFill/>
            </a:ln>
          </c:spPr>
          <c:invertIfNegative val="0"/>
          <c:dLbls>
            <c:dLbl>
              <c:idx val="0"/>
              <c:layout>
                <c:manualLayout>
                  <c:x val="8.3596214511041014E-3"/>
                  <c:y val="-9.3251533742331291E-2"/>
                </c:manualLayout>
              </c:layout>
              <c:numFmt formatCode="#,##0;&quot;-&quot;#,##0" sourceLinked="0"/>
              <c:spPr>
                <a:noFill/>
                <a:ln>
                  <a:noFill/>
                </a:ln>
              </c:spPr>
              <c:txPr>
                <a:bodyPr wrap="none"/>
                <a:lstStyle/>
                <a:p>
                  <a:pPr>
                    <a:defRPr lang="ja-JP" sz="105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E01-44CB-A821-3678AEFFFF9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0">
                  <c:v>21</c:v>
                </c:pt>
                <c:pt idx="1">
                  <c:v>21</c:v>
                </c:pt>
                <c:pt idx="2">
                  <c:v>21</c:v>
                </c:pt>
                <c:pt idx="3">
                  <c:v>21</c:v>
                </c:pt>
              </c:numCache>
            </c:numRef>
          </c:val>
          <c:extLst>
            <c:ext xmlns:c16="http://schemas.microsoft.com/office/drawing/2014/chart" uri="{C3380CC4-5D6E-409C-BE32-E72D297353CC}">
              <c16:uniqueId val="{00000001-BE01-44CB-A821-3678AEFFFF9C}"/>
            </c:ext>
          </c:extLst>
        </c:ser>
        <c:ser>
          <c:idx val="1"/>
          <c:order val="1"/>
          <c:spPr>
            <a:solidFill>
              <a:srgbClr val="43B02A"/>
            </a:solidFill>
            <a:ln>
              <a:noFill/>
            </a:ln>
          </c:spPr>
          <c:invertIfNegative val="0"/>
          <c:dPt>
            <c:idx val="0"/>
            <c:invertIfNegative val="0"/>
            <c:bubble3D val="0"/>
            <c:spPr>
              <a:solidFill>
                <a:srgbClr val="C4D600"/>
              </a:solidFill>
              <a:ln>
                <a:noFill/>
              </a:ln>
            </c:spPr>
            <c:extLst>
              <c:ext xmlns:c16="http://schemas.microsoft.com/office/drawing/2014/chart" uri="{C3380CC4-5D6E-409C-BE32-E72D297353CC}">
                <c16:uniqueId val="{00000002-BE01-44CB-A821-3678AEFFFF9C}"/>
              </c:ext>
            </c:extLst>
          </c:dPt>
          <c:dLbls>
            <c:dLbl>
              <c:idx val="0"/>
              <c:layout>
                <c:manualLayout>
                  <c:x val="0"/>
                  <c:y val="0"/>
                </c:manualLayout>
              </c:layout>
              <c:numFmt formatCode="#,##0;&quot;-&quot;#,##0" sourceLinked="0"/>
              <c:spPr>
                <a:noFill/>
                <a:ln>
                  <a:noFill/>
                </a:ln>
              </c:spPr>
              <c:txPr>
                <a:bodyPr wrap="none"/>
                <a:lstStyle/>
                <a:p>
                  <a:pPr>
                    <a:defRPr lang="ja-JP" sz="105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E01-44CB-A821-3678AEFFFF9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827.2</c:v>
                </c:pt>
                <c:pt idx="1">
                  <c:v>6</c:v>
                </c:pt>
                <c:pt idx="2">
                  <c:v>6</c:v>
                </c:pt>
                <c:pt idx="3">
                  <c:v>6</c:v>
                </c:pt>
              </c:numCache>
            </c:numRef>
          </c:val>
          <c:extLst>
            <c:ext xmlns:c16="http://schemas.microsoft.com/office/drawing/2014/chart" uri="{C3380CC4-5D6E-409C-BE32-E72D297353CC}">
              <c16:uniqueId val="{00000003-BE01-44CB-A821-3678AEFFFF9C}"/>
            </c:ext>
          </c:extLst>
        </c:ser>
        <c:ser>
          <c:idx val="2"/>
          <c:order val="2"/>
          <c:spPr>
            <a:solidFill>
              <a:srgbClr val="C4D600"/>
            </a:solidFill>
            <a:ln>
              <a:noFill/>
            </a:ln>
          </c:spPr>
          <c:invertIfNegative val="0"/>
          <c:dPt>
            <c:idx val="0"/>
            <c:invertIfNegative val="0"/>
            <c:bubble3D val="0"/>
            <c:spPr>
              <a:solidFill>
                <a:srgbClr val="012169"/>
              </a:solidFill>
              <a:ln>
                <a:noFill/>
              </a:ln>
            </c:spPr>
            <c:extLst>
              <c:ext xmlns:c16="http://schemas.microsoft.com/office/drawing/2014/chart" uri="{C3380CC4-5D6E-409C-BE32-E72D297353CC}">
                <c16:uniqueId val="{00000004-BE01-44CB-A821-3678AEFFFF9C}"/>
              </c:ext>
            </c:extLst>
          </c:dPt>
          <c:dLbls>
            <c:dLbl>
              <c:idx val="0"/>
              <c:layout>
                <c:manualLayout>
                  <c:x val="8.201892744479496E-3"/>
                  <c:y val="-9.3251533742331291E-2"/>
                </c:manualLayout>
              </c:layout>
              <c:numFmt formatCode="#,##0;&quot;-&quot;#,##0" sourceLinked="0"/>
              <c:spPr>
                <a:noFill/>
                <a:ln>
                  <a:noFill/>
                </a:ln>
              </c:spPr>
              <c:txPr>
                <a:bodyPr wrap="none"/>
                <a:lstStyle/>
                <a:p>
                  <a:pPr>
                    <a:defRPr lang="ja-JP" sz="105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BE01-44CB-A821-3678AEFFFF9C}"/>
                </c:ext>
              </c:extLst>
            </c:dLbl>
            <c:dLbl>
              <c:idx val="1"/>
              <c:layout>
                <c:manualLayout>
                  <c:x val="0"/>
                  <c:y val="0"/>
                </c:manualLayout>
              </c:layout>
              <c:numFmt formatCode="#,##0;&quot;-&quot;#,##0" sourceLinked="0"/>
              <c:spPr>
                <a:noFill/>
                <a:ln>
                  <a:noFill/>
                </a:ln>
              </c:spPr>
              <c:txPr>
                <a:bodyPr wrap="none"/>
                <a:lstStyle/>
                <a:p>
                  <a:pPr>
                    <a:defRPr lang="ja-JP" sz="105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BE01-44CB-A821-3678AEFFFF9C}"/>
                </c:ext>
              </c:extLst>
            </c:dLbl>
            <c:dLbl>
              <c:idx val="2"/>
              <c:layout>
                <c:manualLayout>
                  <c:x val="0"/>
                  <c:y val="0"/>
                </c:manualLayout>
              </c:layout>
              <c:numFmt formatCode="#,##0;&quot;-&quot;#,##0" sourceLinked="0"/>
              <c:spPr>
                <a:noFill/>
                <a:ln>
                  <a:noFill/>
                </a:ln>
              </c:spPr>
              <c:txPr>
                <a:bodyPr wrap="none"/>
                <a:lstStyle/>
                <a:p>
                  <a:pPr>
                    <a:defRPr lang="ja-JP" sz="105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BE01-44CB-A821-3678AEFFFF9C}"/>
                </c:ext>
              </c:extLst>
            </c:dLbl>
            <c:dLbl>
              <c:idx val="3"/>
              <c:layout>
                <c:manualLayout>
                  <c:x val="0"/>
                  <c:y val="0"/>
                </c:manualLayout>
              </c:layout>
              <c:numFmt formatCode="#,##0;&quot;-&quot;#,##0" sourceLinked="0"/>
              <c:spPr>
                <a:noFill/>
                <a:ln>
                  <a:noFill/>
                </a:ln>
              </c:spPr>
              <c:txPr>
                <a:bodyPr wrap="none"/>
                <a:lstStyle/>
                <a:p>
                  <a:pPr>
                    <a:defRPr lang="ja-JP" sz="105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BE01-44CB-A821-3678AEFFFF9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Sheet1!$A$4:$D$4</c:f>
              <c:numCache>
                <c:formatCode>General</c:formatCode>
                <c:ptCount val="4"/>
                <c:pt idx="0">
                  <c:v>14</c:v>
                </c:pt>
                <c:pt idx="1">
                  <c:v>2182.6999999999998</c:v>
                </c:pt>
                <c:pt idx="2">
                  <c:v>3082.7</c:v>
                </c:pt>
                <c:pt idx="3">
                  <c:v>4107.7</c:v>
                </c:pt>
              </c:numCache>
            </c:numRef>
          </c:val>
          <c:extLst>
            <c:ext xmlns:c16="http://schemas.microsoft.com/office/drawing/2014/chart" uri="{C3380CC4-5D6E-409C-BE32-E72D297353CC}">
              <c16:uniqueId val="{00000008-BE01-44CB-A821-3678AEFFFF9C}"/>
            </c:ext>
          </c:extLst>
        </c:ser>
        <c:ser>
          <c:idx val="3"/>
          <c:order val="3"/>
          <c:spPr>
            <a:solidFill>
              <a:srgbClr val="012169"/>
            </a:solidFill>
            <a:ln>
              <a:noFill/>
            </a:ln>
          </c:spPr>
          <c:invertIfNegative val="0"/>
          <c:dPt>
            <c:idx val="0"/>
            <c:invertIfNegative val="0"/>
            <c:bubble3D val="0"/>
            <c:spPr>
              <a:solidFill>
                <a:srgbClr val="00A3E0"/>
              </a:solidFill>
              <a:ln>
                <a:noFill/>
              </a:ln>
            </c:spPr>
            <c:extLst>
              <c:ext xmlns:c16="http://schemas.microsoft.com/office/drawing/2014/chart" uri="{C3380CC4-5D6E-409C-BE32-E72D297353CC}">
                <c16:uniqueId val="{00000009-BE01-44CB-A821-3678AEFFFF9C}"/>
              </c:ext>
            </c:extLst>
          </c:dPt>
          <c:dLbls>
            <c:dLbl>
              <c:idx val="0"/>
              <c:layout>
                <c:manualLayout>
                  <c:x val="0"/>
                  <c:y val="0"/>
                </c:manualLayout>
              </c:layout>
              <c:numFmt formatCode="#,##0;&quot;-&quot;#,##0" sourceLinked="0"/>
              <c:spPr>
                <a:noFill/>
                <a:ln>
                  <a:noFill/>
                </a:ln>
              </c:spPr>
              <c:txPr>
                <a:bodyPr wrap="none"/>
                <a:lstStyle/>
                <a:p>
                  <a:pPr>
                    <a:defRPr lang="ja-JP" sz="105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BE01-44CB-A821-3678AEFFFF9C}"/>
                </c:ext>
              </c:extLst>
            </c:dLbl>
            <c:dLbl>
              <c:idx val="2"/>
              <c:layout>
                <c:manualLayout>
                  <c:x val="0"/>
                  <c:y val="0"/>
                </c:manualLayout>
              </c:layout>
              <c:numFmt formatCode="#,##0;&quot;-&quot;#,##0" sourceLinked="0"/>
              <c:spPr>
                <a:noFill/>
                <a:ln>
                  <a:noFill/>
                </a:ln>
              </c:spPr>
              <c:txPr>
                <a:bodyPr wrap="none"/>
                <a:lstStyle/>
                <a:p>
                  <a:pPr>
                    <a:defRPr lang="ja-JP" sz="105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BE01-44CB-A821-3678AEFFFF9C}"/>
                </c:ext>
              </c:extLst>
            </c:dLbl>
            <c:dLbl>
              <c:idx val="3"/>
              <c:layout>
                <c:manualLayout>
                  <c:x val="0"/>
                  <c:y val="0"/>
                </c:manualLayout>
              </c:layout>
              <c:numFmt formatCode="#,##0;&quot;-&quot;#,##0" sourceLinked="0"/>
              <c:spPr>
                <a:noFill/>
                <a:ln>
                  <a:noFill/>
                </a:ln>
              </c:spPr>
              <c:txPr>
                <a:bodyPr wrap="none"/>
                <a:lstStyle/>
                <a:p>
                  <a:pPr>
                    <a:defRPr lang="ja-JP" sz="1050" kern="1200">
                      <a:solidFill>
                        <a:schemeClr val="bg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BE01-44CB-A821-3678AEFFFF9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Sheet1!$A$5:$D$5</c:f>
              <c:numCache>
                <c:formatCode>General</c:formatCode>
                <c:ptCount val="4"/>
                <c:pt idx="0">
                  <c:v>1759.9999999999998</c:v>
                </c:pt>
                <c:pt idx="1">
                  <c:v>781.40000000000009</c:v>
                </c:pt>
                <c:pt idx="2">
                  <c:v>5691.8</c:v>
                </c:pt>
                <c:pt idx="3">
                  <c:v>9429.8999999999978</c:v>
                </c:pt>
              </c:numCache>
            </c:numRef>
          </c:val>
          <c:extLst>
            <c:ext xmlns:c16="http://schemas.microsoft.com/office/drawing/2014/chart" uri="{C3380CC4-5D6E-409C-BE32-E72D297353CC}">
              <c16:uniqueId val="{0000000C-BE01-44CB-A821-3678AEFFFF9C}"/>
            </c:ext>
          </c:extLst>
        </c:ser>
        <c:ser>
          <c:idx val="4"/>
          <c:order val="4"/>
          <c:spPr>
            <a:solidFill>
              <a:srgbClr val="00A3E0"/>
            </a:solidFill>
            <a:ln>
              <a:noFill/>
            </a:ln>
          </c:spPr>
          <c:invertIfNegative val="0"/>
          <c:dPt>
            <c:idx val="0"/>
            <c:invertIfNegative val="0"/>
            <c:bubble3D val="0"/>
            <c:spPr>
              <a:solidFill>
                <a:srgbClr val="A0DCFF"/>
              </a:solidFill>
              <a:ln>
                <a:noFill/>
              </a:ln>
            </c:spPr>
            <c:extLst>
              <c:ext xmlns:c16="http://schemas.microsoft.com/office/drawing/2014/chart" uri="{C3380CC4-5D6E-409C-BE32-E72D297353CC}">
                <c16:uniqueId val="{0000000D-BE01-44CB-A821-3678AEFFFF9C}"/>
              </c:ext>
            </c:extLst>
          </c:dPt>
          <c:dLbls>
            <c:dLbl>
              <c:idx val="0"/>
              <c:layout>
                <c:manualLayout>
                  <c:x val="0"/>
                  <c:y val="0"/>
                </c:manualLayout>
              </c:layout>
              <c:numFmt formatCode="#,##0;&quot;-&quot;#,##0" sourceLinked="0"/>
              <c:spPr>
                <a:noFill/>
                <a:ln>
                  <a:noFill/>
                </a:ln>
              </c:spPr>
              <c:txPr>
                <a:bodyPr wrap="none"/>
                <a:lstStyle/>
                <a:p>
                  <a:pPr>
                    <a:defRPr lang="ja-JP" sz="105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BE01-44CB-A821-3678AEFFFF9C}"/>
                </c:ext>
              </c:extLst>
            </c:dLbl>
            <c:dLbl>
              <c:idx val="2"/>
              <c:layout>
                <c:manualLayout>
                  <c:x val="-1.5772870662460569E-4"/>
                  <c:y val="0"/>
                </c:manualLayout>
              </c:layout>
              <c:numFmt formatCode="#,##0;&quot;-&quot;#,##0" sourceLinked="0"/>
              <c:spPr>
                <a:noFill/>
                <a:ln>
                  <a:noFill/>
                </a:ln>
              </c:spPr>
              <c:txPr>
                <a:bodyPr wrap="none"/>
                <a:lstStyle/>
                <a:p>
                  <a:pPr>
                    <a:defRPr lang="ja-JP" sz="105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BE01-44CB-A821-3678AEFFFF9C}"/>
                </c:ext>
              </c:extLst>
            </c:dLbl>
            <c:dLbl>
              <c:idx val="3"/>
              <c:layout>
                <c:manualLayout>
                  <c:x val="0"/>
                  <c:y val="0"/>
                </c:manualLayout>
              </c:layout>
              <c:numFmt formatCode="#,##0;&quot;-&quot;#,##0" sourceLinked="0"/>
              <c:spPr>
                <a:noFill/>
                <a:ln>
                  <a:noFill/>
                </a:ln>
              </c:spPr>
              <c:txPr>
                <a:bodyPr wrap="none"/>
                <a:lstStyle/>
                <a:p>
                  <a:pPr>
                    <a:defRPr lang="ja-JP" sz="105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BE01-44CB-A821-3678AEFFFF9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Sheet1!$A$6:$D$6</c:f>
              <c:numCache>
                <c:formatCode>General</c:formatCode>
                <c:ptCount val="4"/>
                <c:pt idx="0">
                  <c:v>3667.2</c:v>
                </c:pt>
                <c:pt idx="1">
                  <c:v>3711.6</c:v>
                </c:pt>
                <c:pt idx="2">
                  <c:v>8302.7999999999993</c:v>
                </c:pt>
                <c:pt idx="3">
                  <c:v>10930</c:v>
                </c:pt>
              </c:numCache>
            </c:numRef>
          </c:val>
          <c:extLst>
            <c:ext xmlns:c16="http://schemas.microsoft.com/office/drawing/2014/chart" uri="{C3380CC4-5D6E-409C-BE32-E72D297353CC}">
              <c16:uniqueId val="{00000010-BE01-44CB-A821-3678AEFFFF9C}"/>
            </c:ext>
          </c:extLst>
        </c:ser>
        <c:ser>
          <c:idx val="5"/>
          <c:order val="5"/>
          <c:spPr>
            <a:solidFill>
              <a:srgbClr val="A0DCFF"/>
            </a:solidFill>
            <a:ln>
              <a:noFill/>
            </a:ln>
          </c:spPr>
          <c:invertIfNegative val="0"/>
          <c:dLbls>
            <c:dLbl>
              <c:idx val="1"/>
              <c:layout>
                <c:manualLayout>
                  <c:x val="0"/>
                  <c:y val="0"/>
                </c:manualLayout>
              </c:layout>
              <c:numFmt formatCode="#,##0;&quot;-&quot;#,##0" sourceLinked="0"/>
              <c:spPr>
                <a:noFill/>
                <a:ln>
                  <a:noFill/>
                </a:ln>
              </c:spPr>
              <c:txPr>
                <a:bodyPr wrap="none"/>
                <a:lstStyle/>
                <a:p>
                  <a:pPr>
                    <a:defRPr lang="ja-JP" sz="105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BE01-44CB-A821-3678AEFFFF9C}"/>
                </c:ext>
              </c:extLst>
            </c:dLbl>
            <c:dLbl>
              <c:idx val="2"/>
              <c:layout>
                <c:manualLayout>
                  <c:x val="-1.5772870662460569E-4"/>
                  <c:y val="0"/>
                </c:manualLayout>
              </c:layout>
              <c:numFmt formatCode="#,##0;&quot;-&quot;#,##0" sourceLinked="0"/>
              <c:spPr>
                <a:noFill/>
                <a:ln>
                  <a:noFill/>
                </a:ln>
              </c:spPr>
              <c:txPr>
                <a:bodyPr wrap="none"/>
                <a:lstStyle/>
                <a:p>
                  <a:pPr>
                    <a:defRPr lang="ja-JP" sz="105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BE01-44CB-A821-3678AEFFFF9C}"/>
                </c:ext>
              </c:extLst>
            </c:dLbl>
            <c:dLbl>
              <c:idx val="3"/>
              <c:layout>
                <c:manualLayout>
                  <c:x val="0"/>
                  <c:y val="0"/>
                </c:manualLayout>
              </c:layout>
              <c:numFmt formatCode="#,##0;&quot;-&quot;#,##0" sourceLinked="0"/>
              <c:spPr>
                <a:noFill/>
                <a:ln>
                  <a:noFill/>
                </a:ln>
              </c:spPr>
              <c:txPr>
                <a:bodyPr wrap="none"/>
                <a:lstStyle/>
                <a:p>
                  <a:pPr>
                    <a:defRPr lang="ja-JP" sz="105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BE01-44CB-A821-3678AEFFFF9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Sheet1!$A$7:$D$7</c:f>
              <c:numCache>
                <c:formatCode>General</c:formatCode>
                <c:ptCount val="4"/>
                <c:pt idx="1">
                  <c:v>7843.7</c:v>
                </c:pt>
                <c:pt idx="2">
                  <c:v>11110.8</c:v>
                </c:pt>
                <c:pt idx="3">
                  <c:v>11832.400000000001</c:v>
                </c:pt>
              </c:numCache>
            </c:numRef>
          </c:val>
          <c:extLst>
            <c:ext xmlns:c16="http://schemas.microsoft.com/office/drawing/2014/chart" uri="{C3380CC4-5D6E-409C-BE32-E72D297353CC}">
              <c16:uniqueId val="{00000014-BE01-44CB-A821-3678AEFFFF9C}"/>
            </c:ext>
          </c:extLst>
        </c:ser>
        <c:dLbls>
          <c:showLegendKey val="0"/>
          <c:showVal val="0"/>
          <c:showCatName val="0"/>
          <c:showSerName val="0"/>
          <c:showPercent val="0"/>
          <c:showBubbleSize val="0"/>
        </c:dLbls>
        <c:gapWidth val="80"/>
        <c:overlap val="100"/>
        <c:axId val="453466111"/>
        <c:axId val="1"/>
      </c:barChart>
      <c:scatterChart>
        <c:scatterStyle val="lineMarker"/>
        <c:varyColors val="0"/>
        <c:ser>
          <c:idx val="6"/>
          <c:order val="6"/>
          <c:spPr>
            <a:ln w="28575" cmpd="sng" algn="ctr">
              <a:solidFill>
                <a:srgbClr val="F94D2E"/>
              </a:solidFill>
              <a:prstDash val="solid"/>
            </a:ln>
          </c:spPr>
          <c:marker>
            <c:symbol val="none"/>
          </c:marker>
          <c:dPt>
            <c:idx val="0"/>
            <c:marker>
              <c:symbol val="diamond"/>
              <c:size val="3"/>
              <c:spPr>
                <a:solidFill>
                  <a:srgbClr val="F94D2E"/>
                </a:solidFill>
                <a:ln w="9525" cmpd="sng" algn="ctr">
                  <a:solidFill>
                    <a:srgbClr val="F94D2E"/>
                  </a:solidFill>
                  <a:prstDash val="solid"/>
                </a:ln>
              </c:spPr>
            </c:marker>
            <c:bubble3D val="0"/>
            <c:extLst>
              <c:ext xmlns:c16="http://schemas.microsoft.com/office/drawing/2014/chart" uri="{C3380CC4-5D6E-409C-BE32-E72D297353CC}">
                <c16:uniqueId val="{00000015-BE01-44CB-A821-3678AEFFFF9C}"/>
              </c:ext>
            </c:extLst>
          </c:dPt>
          <c:dPt>
            <c:idx val="1"/>
            <c:marker>
              <c:symbol val="diamond"/>
              <c:size val="3"/>
              <c:spPr>
                <a:solidFill>
                  <a:srgbClr val="F94D2E"/>
                </a:solidFill>
                <a:ln w="9525" cmpd="sng" algn="ctr">
                  <a:solidFill>
                    <a:srgbClr val="F94D2E"/>
                  </a:solidFill>
                  <a:prstDash val="solid"/>
                </a:ln>
              </c:spPr>
            </c:marker>
            <c:bubble3D val="0"/>
            <c:extLst>
              <c:ext xmlns:c16="http://schemas.microsoft.com/office/drawing/2014/chart" uri="{C3380CC4-5D6E-409C-BE32-E72D297353CC}">
                <c16:uniqueId val="{00000016-BE01-44CB-A821-3678AEFFFF9C}"/>
              </c:ext>
            </c:extLst>
          </c:dPt>
          <c:dPt>
            <c:idx val="2"/>
            <c:marker>
              <c:symbol val="diamond"/>
              <c:size val="3"/>
              <c:spPr>
                <a:solidFill>
                  <a:srgbClr val="F94D2E"/>
                </a:solidFill>
                <a:ln w="9525" cmpd="sng" algn="ctr">
                  <a:solidFill>
                    <a:srgbClr val="F94D2E"/>
                  </a:solidFill>
                  <a:prstDash val="solid"/>
                </a:ln>
              </c:spPr>
            </c:marker>
            <c:bubble3D val="0"/>
            <c:extLst>
              <c:ext xmlns:c16="http://schemas.microsoft.com/office/drawing/2014/chart" uri="{C3380CC4-5D6E-409C-BE32-E72D297353CC}">
                <c16:uniqueId val="{00000017-BE01-44CB-A821-3678AEFFFF9C}"/>
              </c:ext>
            </c:extLst>
          </c:dPt>
          <c:dPt>
            <c:idx val="3"/>
            <c:marker>
              <c:symbol val="diamond"/>
              <c:size val="3"/>
              <c:spPr>
                <a:solidFill>
                  <a:srgbClr val="F94D2E"/>
                </a:solidFill>
                <a:ln w="9525" cmpd="sng" algn="ctr">
                  <a:solidFill>
                    <a:srgbClr val="F94D2E"/>
                  </a:solidFill>
                  <a:prstDash val="solid"/>
                </a:ln>
              </c:spPr>
            </c:marker>
            <c:bubble3D val="0"/>
            <c:extLst>
              <c:ext xmlns:c16="http://schemas.microsoft.com/office/drawing/2014/chart" uri="{C3380CC4-5D6E-409C-BE32-E72D297353CC}">
                <c16:uniqueId val="{00000018-BE01-44CB-A821-3678AEFFFF9C}"/>
              </c:ext>
            </c:extLst>
          </c:dPt>
          <c:dLbls>
            <c:dLbl>
              <c:idx val="0"/>
              <c:layout>
                <c:manualLayout>
                  <c:x val="2.523659305993691E-3"/>
                  <c:y val="-0.11411042944785275"/>
                </c:manualLayout>
              </c:layout>
              <c:numFmt formatCode="#,##0;&quot;-&quot;#,##0" sourceLinked="0"/>
              <c:spPr>
                <a:noFill/>
                <a:ln>
                  <a:noFill/>
                </a:ln>
              </c:spPr>
              <c:txPr>
                <a:bodyPr wrap="none"/>
                <a:lstStyle/>
                <a:p>
                  <a:pPr>
                    <a:defRPr lang="ja-JP" sz="1050" kern="1200">
                      <a:solidFill>
                        <a:srgbClr val="DA291C"/>
                      </a:solidFill>
                      <a:latin typeface="Arial"/>
                      <a:ea typeface="+mn-ea"/>
                      <a:cs typeface="+mn-cs"/>
                    </a:defRPr>
                  </a:pPr>
                  <a:endParaRPr lang="en-US"/>
                </a:p>
              </c:txPr>
              <c:dLblPos val="ctr"/>
              <c:showLegendKey val="0"/>
              <c:showVal val="0"/>
              <c:showCatName val="1"/>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5-BE01-44CB-A821-3678AEFFFF9C}"/>
                </c:ext>
              </c:extLst>
            </c:dLbl>
            <c:dLbl>
              <c:idx val="1"/>
              <c:layout>
                <c:manualLayout>
                  <c:x val="3.9432176656151417E-2"/>
                  <c:y val="-0.10122699386503067"/>
                </c:manualLayout>
              </c:layout>
              <c:numFmt formatCode="#,##0;&quot;-&quot;#,##0" sourceLinked="0"/>
              <c:spPr>
                <a:noFill/>
                <a:ln>
                  <a:noFill/>
                </a:ln>
              </c:spPr>
              <c:txPr>
                <a:bodyPr wrap="none"/>
                <a:lstStyle/>
                <a:p>
                  <a:pPr>
                    <a:defRPr lang="ja-JP" sz="1050" kern="1200">
                      <a:solidFill>
                        <a:srgbClr val="DA291C"/>
                      </a:solidFill>
                      <a:latin typeface="Arial"/>
                      <a:ea typeface="+mn-ea"/>
                      <a:cs typeface="+mn-cs"/>
                    </a:defRPr>
                  </a:pPr>
                  <a:endParaRPr lang="en-US"/>
                </a:p>
              </c:txPr>
              <c:dLblPos val="ctr"/>
              <c:showLegendKey val="0"/>
              <c:showVal val="0"/>
              <c:showCatName val="1"/>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BE01-44CB-A821-3678AEFFFF9C}"/>
                </c:ext>
              </c:extLst>
            </c:dLbl>
            <c:dLbl>
              <c:idx val="2"/>
              <c:layout>
                <c:manualLayout>
                  <c:x val="2.7760252365930601E-2"/>
                  <c:y val="-0.11104294478527607"/>
                </c:manualLayout>
              </c:layout>
              <c:numFmt formatCode="#,##0;&quot;-&quot;#,##0" sourceLinked="0"/>
              <c:spPr>
                <a:noFill/>
                <a:ln>
                  <a:noFill/>
                </a:ln>
              </c:spPr>
              <c:txPr>
                <a:bodyPr wrap="none"/>
                <a:lstStyle/>
                <a:p>
                  <a:pPr>
                    <a:defRPr lang="ja-JP" sz="1050" kern="1200">
                      <a:solidFill>
                        <a:srgbClr val="DA291C"/>
                      </a:solidFill>
                      <a:latin typeface="Arial"/>
                      <a:ea typeface="+mn-ea"/>
                      <a:cs typeface="+mn-cs"/>
                    </a:defRPr>
                  </a:pPr>
                  <a:endParaRPr lang="en-US"/>
                </a:p>
              </c:txPr>
              <c:dLblPos val="ctr"/>
              <c:showLegendKey val="0"/>
              <c:showVal val="0"/>
              <c:showCatName val="1"/>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7-BE01-44CB-A821-3678AEFFFF9C}"/>
                </c:ext>
              </c:extLst>
            </c:dLbl>
            <c:dLbl>
              <c:idx val="3"/>
              <c:layout>
                <c:manualLayout>
                  <c:x val="2.4605678233438486E-2"/>
                  <c:y val="-0.10429447852760736"/>
                </c:manualLayout>
              </c:layout>
              <c:numFmt formatCode="#,##0;&quot;-&quot;#,##0" sourceLinked="0"/>
              <c:spPr>
                <a:noFill/>
                <a:ln>
                  <a:noFill/>
                </a:ln>
              </c:spPr>
              <c:txPr>
                <a:bodyPr wrap="none"/>
                <a:lstStyle/>
                <a:p>
                  <a:pPr>
                    <a:defRPr lang="ja-JP" sz="1050" kern="1200">
                      <a:solidFill>
                        <a:srgbClr val="DA291C"/>
                      </a:solidFill>
                      <a:latin typeface="Arial"/>
                      <a:ea typeface="+mn-ea"/>
                      <a:cs typeface="+mn-cs"/>
                    </a:defRPr>
                  </a:pPr>
                  <a:endParaRPr lang="en-US"/>
                </a:p>
              </c:txPr>
              <c:dLblPos val="ctr"/>
              <c:showLegendKey val="0"/>
              <c:showVal val="0"/>
              <c:showCatName val="1"/>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8-BE01-44CB-A821-3678AEFFFF9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Sheet1!$A$8:$D$8</c:f>
              <c:numCache>
                <c:formatCode>General</c:formatCode>
                <c:ptCount val="4"/>
                <c:pt idx="0">
                  <c:v>2675</c:v>
                </c:pt>
                <c:pt idx="1">
                  <c:v>4949</c:v>
                </c:pt>
                <c:pt idx="2">
                  <c:v>7581</c:v>
                </c:pt>
                <c:pt idx="3">
                  <c:v>11510</c:v>
                </c:pt>
              </c:numCache>
            </c:numRef>
          </c:xVal>
          <c:yVal>
            <c:numRef>
              <c:f>Sheet1!$A$1:$D$1</c:f>
              <c:numCache>
                <c:formatCode>General</c:formatCode>
                <c:ptCount val="4"/>
                <c:pt idx="0">
                  <c:v>0</c:v>
                </c:pt>
                <c:pt idx="1">
                  <c:v>1</c:v>
                </c:pt>
                <c:pt idx="2">
                  <c:v>2</c:v>
                </c:pt>
                <c:pt idx="3">
                  <c:v>3</c:v>
                </c:pt>
              </c:numCache>
            </c:numRef>
          </c:yVal>
          <c:smooth val="0"/>
          <c:extLst>
            <c:ext xmlns:c16="http://schemas.microsoft.com/office/drawing/2014/chart" uri="{C3380CC4-5D6E-409C-BE32-E72D297353CC}">
              <c16:uniqueId val="{00000019-BE01-44CB-A821-3678AEFFFF9C}"/>
            </c:ext>
          </c:extLst>
        </c:ser>
        <c:dLbls>
          <c:showLegendKey val="0"/>
          <c:showVal val="0"/>
          <c:showCatName val="0"/>
          <c:showSerName val="0"/>
          <c:showPercent val="0"/>
          <c:showBubbleSize val="0"/>
        </c:dLbls>
        <c:axId val="5"/>
        <c:axId val="4"/>
      </c:scatterChart>
      <c:catAx>
        <c:axId val="453466111"/>
        <c:scaling>
          <c:orientation val="maxMin"/>
        </c:scaling>
        <c:delete val="1"/>
        <c:axPos val="l"/>
        <c:majorGridlines>
          <c:spPr>
            <a:ln>
              <a:noFill/>
            </a:ln>
          </c:spPr>
        </c:majorGridlines>
        <c:majorTickMark val="out"/>
        <c:minorTickMark val="none"/>
        <c:tickLblPos val="none"/>
        <c:crossAx val="1"/>
        <c:crosses val="min"/>
        <c:auto val="0"/>
        <c:lblAlgn val="ctr"/>
        <c:lblOffset val="100"/>
        <c:noMultiLvlLbl val="0"/>
      </c:catAx>
      <c:valAx>
        <c:axId val="1"/>
        <c:scaling>
          <c:orientation val="minMax"/>
          <c:max val="36327"/>
          <c:min val="0"/>
        </c:scaling>
        <c:delete val="1"/>
        <c:axPos val="b"/>
        <c:numFmt formatCode="General" sourceLinked="1"/>
        <c:majorTickMark val="out"/>
        <c:minorTickMark val="none"/>
        <c:tickLblPos val="nextTo"/>
        <c:crossAx val="453466111"/>
        <c:crosses val="max"/>
        <c:crossBetween val="between"/>
      </c:valAx>
      <c:valAx>
        <c:axId val="4"/>
        <c:scaling>
          <c:orientation val="maxMin"/>
          <c:max val="3.5"/>
          <c:min val="-0.5"/>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lang="ja-JP" sz="1050" kern="1200">
                <a:latin typeface="Arial"/>
                <a:ea typeface="Arial"/>
                <a:cs typeface="Arial"/>
                <a:sym typeface="Arial"/>
              </a:defRPr>
            </a:pPr>
            <a:endParaRPr lang="en-US"/>
          </a:p>
        </c:txPr>
        <c:crossAx val="5"/>
        <c:crosses val="min"/>
        <c:crossBetween val="midCat"/>
        <c:majorUnit val="1"/>
      </c:valAx>
      <c:valAx>
        <c:axId val="5"/>
        <c:scaling>
          <c:orientation val="minMax"/>
          <c:max val="36327"/>
          <c:min val="0"/>
        </c:scaling>
        <c:delete val="1"/>
        <c:axPos val="b"/>
        <c:numFmt formatCode="General" sourceLinked="1"/>
        <c:majorTickMark val="out"/>
        <c:minorTickMark val="none"/>
        <c:tickLblPos val="nextTo"/>
        <c:crossAx val="4"/>
        <c:crosses val="max"/>
        <c:crossBetween val="between"/>
      </c:valAx>
    </c:plotArea>
    <c:plotVisOnly val="0"/>
    <c:dispBlanksAs val="gap"/>
    <c:showDLblsOverMax val="1"/>
  </c:chart>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828226555246054E-2"/>
          <c:y val="4.828226555246054E-2"/>
          <c:w val="0.90343546889507897"/>
          <c:h val="0.90343546889507897"/>
        </c:manualLayout>
      </c:layout>
      <c:pieChart>
        <c:varyColors val="0"/>
        <c:ser>
          <c:idx val="0"/>
          <c:order val="0"/>
          <c:dPt>
            <c:idx val="0"/>
            <c:bubble3D val="0"/>
            <c:spPr>
              <a:solidFill>
                <a:schemeClr val="accent4"/>
              </a:solidFill>
              <a:ln>
                <a:noFill/>
              </a:ln>
            </c:spPr>
            <c:extLst>
              <c:ext xmlns:c16="http://schemas.microsoft.com/office/drawing/2014/chart" uri="{C3380CC4-5D6E-409C-BE32-E72D297353CC}">
                <c16:uniqueId val="{00000000-C9A1-4F67-BB77-A9FB3C958F32}"/>
              </c:ext>
            </c:extLst>
          </c:dPt>
          <c:dPt>
            <c:idx val="1"/>
            <c:bubble3D val="0"/>
            <c:spPr>
              <a:solidFill>
                <a:srgbClr val="62B5E5"/>
              </a:solidFill>
              <a:ln>
                <a:noFill/>
              </a:ln>
            </c:spPr>
            <c:extLst>
              <c:ext xmlns:c16="http://schemas.microsoft.com/office/drawing/2014/chart" uri="{C3380CC4-5D6E-409C-BE32-E72D297353CC}">
                <c16:uniqueId val="{00000001-C9A1-4F67-BB77-A9FB3C958F32}"/>
              </c:ext>
            </c:extLst>
          </c:dPt>
          <c:dPt>
            <c:idx val="2"/>
            <c:bubble3D val="0"/>
            <c:spPr>
              <a:solidFill>
                <a:srgbClr val="012169"/>
              </a:solidFill>
              <a:ln>
                <a:noFill/>
              </a:ln>
            </c:spPr>
            <c:extLst>
              <c:ext xmlns:c16="http://schemas.microsoft.com/office/drawing/2014/chart" uri="{C3380CC4-5D6E-409C-BE32-E72D297353CC}">
                <c16:uniqueId val="{00000002-C9A1-4F67-BB77-A9FB3C958F32}"/>
              </c:ext>
            </c:extLst>
          </c:dPt>
          <c:val>
            <c:numRef>
              <c:f>Sheet1!$A$1:$A$3</c:f>
              <c:numCache>
                <c:formatCode>General</c:formatCode>
                <c:ptCount val="3"/>
                <c:pt idx="0">
                  <c:v>54.712845243314334</c:v>
                </c:pt>
                <c:pt idx="1">
                  <c:v>25.558965366067515</c:v>
                </c:pt>
                <c:pt idx="2">
                  <c:v>19.728189390618152</c:v>
                </c:pt>
              </c:numCache>
            </c:numRef>
          </c:val>
          <c:extLst>
            <c:ext xmlns:c16="http://schemas.microsoft.com/office/drawing/2014/chart" uri="{C3380CC4-5D6E-409C-BE32-E72D297353CC}">
              <c16:uniqueId val="{00000003-C9A1-4F67-BB77-A9FB3C958F32}"/>
            </c:ext>
          </c:extLst>
        </c:ser>
        <c:dLbls>
          <c:showLegendKey val="0"/>
          <c:showVal val="0"/>
          <c:showCatName val="0"/>
          <c:showSerName val="0"/>
          <c:showPercent val="0"/>
          <c:showBubbleSize val="0"/>
          <c:showLeaderLines val="0"/>
        </c:dLbls>
        <c:firstSliceAng val="0"/>
      </c:pieChart>
    </c:plotArea>
    <c:plotVisOnly val="0"/>
    <c:dispBlanksAs val="gap"/>
    <c:showDLblsOverMax val="1"/>
  </c:chart>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7662694775435381E-2"/>
          <c:y val="4.7662694775435381E-2"/>
          <c:w val="0.90467461044912922"/>
          <c:h val="0.90467461044912922"/>
        </c:manualLayout>
      </c:layout>
      <c:pieChart>
        <c:varyColors val="0"/>
        <c:ser>
          <c:idx val="0"/>
          <c:order val="0"/>
          <c:dPt>
            <c:idx val="0"/>
            <c:bubble3D val="0"/>
            <c:spPr>
              <a:solidFill>
                <a:srgbClr val="86BC25"/>
              </a:solidFill>
              <a:ln>
                <a:noFill/>
              </a:ln>
            </c:spPr>
            <c:extLst>
              <c:ext xmlns:c16="http://schemas.microsoft.com/office/drawing/2014/chart" uri="{C3380CC4-5D6E-409C-BE32-E72D297353CC}">
                <c16:uniqueId val="{00000000-8A19-4192-B1C1-D8A5B88573B8}"/>
              </c:ext>
            </c:extLst>
          </c:dPt>
          <c:dPt>
            <c:idx val="1"/>
            <c:bubble3D val="0"/>
            <c:spPr>
              <a:solidFill>
                <a:srgbClr val="046A38"/>
              </a:solidFill>
              <a:ln>
                <a:noFill/>
              </a:ln>
            </c:spPr>
            <c:extLst>
              <c:ext xmlns:c16="http://schemas.microsoft.com/office/drawing/2014/chart" uri="{C3380CC4-5D6E-409C-BE32-E72D297353CC}">
                <c16:uniqueId val="{00000001-8A19-4192-B1C1-D8A5B88573B8}"/>
              </c:ext>
            </c:extLst>
          </c:dPt>
          <c:dPt>
            <c:idx val="2"/>
            <c:bubble3D val="0"/>
            <c:spPr>
              <a:solidFill>
                <a:srgbClr val="62B5E5"/>
              </a:solidFill>
              <a:ln>
                <a:noFill/>
              </a:ln>
            </c:spPr>
            <c:extLst>
              <c:ext xmlns:c16="http://schemas.microsoft.com/office/drawing/2014/chart" uri="{C3380CC4-5D6E-409C-BE32-E72D297353CC}">
                <c16:uniqueId val="{00000002-8A19-4192-B1C1-D8A5B88573B8}"/>
              </c:ext>
            </c:extLst>
          </c:dPt>
          <c:dPt>
            <c:idx val="3"/>
            <c:bubble3D val="0"/>
            <c:spPr>
              <a:solidFill>
                <a:srgbClr val="012169"/>
              </a:solidFill>
              <a:ln>
                <a:noFill/>
              </a:ln>
            </c:spPr>
            <c:extLst>
              <c:ext xmlns:c16="http://schemas.microsoft.com/office/drawing/2014/chart" uri="{C3380CC4-5D6E-409C-BE32-E72D297353CC}">
                <c16:uniqueId val="{00000003-8A19-4192-B1C1-D8A5B88573B8}"/>
              </c:ext>
            </c:extLst>
          </c:dPt>
          <c:val>
            <c:numRef>
              <c:f>Sheet1!$A$1:$A$4</c:f>
              <c:numCache>
                <c:formatCode>General</c:formatCode>
                <c:ptCount val="4"/>
                <c:pt idx="0">
                  <c:v>4.9790041991601681</c:v>
                </c:pt>
                <c:pt idx="1">
                  <c:v>45.510897820435915</c:v>
                </c:pt>
                <c:pt idx="2">
                  <c:v>32.646803972538827</c:v>
                </c:pt>
                <c:pt idx="3">
                  <c:v>16.863294007865093</c:v>
                </c:pt>
              </c:numCache>
            </c:numRef>
          </c:val>
          <c:extLst>
            <c:ext xmlns:c16="http://schemas.microsoft.com/office/drawing/2014/chart" uri="{C3380CC4-5D6E-409C-BE32-E72D297353CC}">
              <c16:uniqueId val="{00000004-8A19-4192-B1C1-D8A5B88573B8}"/>
            </c:ext>
          </c:extLst>
        </c:ser>
        <c:dLbls>
          <c:showLegendKey val="0"/>
          <c:showVal val="0"/>
          <c:showCatName val="0"/>
          <c:showSerName val="0"/>
          <c:showPercent val="0"/>
          <c:showBubbleSize val="0"/>
          <c:showLeaderLines val="0"/>
        </c:dLbls>
        <c:firstSliceAng val="0"/>
      </c:pieChart>
    </c:plotArea>
    <c:plotVisOnly val="0"/>
    <c:dispBlanksAs val="gap"/>
    <c:showDLblsOverMax val="1"/>
  </c:chart>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3743887030843557E-2"/>
          <c:y val="5.4235771010596047E-2"/>
          <c:w val="0.93251207729468599"/>
          <c:h val="0.61530183274200689"/>
        </c:manualLayout>
      </c:layout>
      <c:barChart>
        <c:barDir val="col"/>
        <c:grouping val="stacked"/>
        <c:varyColors val="0"/>
        <c:ser>
          <c:idx val="0"/>
          <c:order val="0"/>
          <c:tx>
            <c:strRef>
              <c:f>Sheet1!$B$1</c:f>
              <c:strCache>
                <c:ptCount val="1"/>
                <c:pt idx="0">
                  <c:v>Coal/lignite</c:v>
                </c:pt>
              </c:strCache>
            </c:strRef>
          </c:tx>
          <c:spPr>
            <a:solidFill>
              <a:schemeClr val="tx1">
                <a:lumMod val="50000"/>
                <a:lumOff val="50000"/>
              </a:schemeClr>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FY20</c:v>
                </c:pt>
                <c:pt idx="1">
                  <c:v>FY21</c:v>
                </c:pt>
                <c:pt idx="2">
                  <c:v>FY22</c:v>
                </c:pt>
                <c:pt idx="3">
                  <c:v>FY23</c:v>
                </c:pt>
                <c:pt idx="4">
                  <c:v>FY24</c:v>
                </c:pt>
                <c:pt idx="5">
                  <c:v>FY25</c:v>
                </c:pt>
              </c:strCache>
            </c:strRef>
          </c:cat>
          <c:val>
            <c:numRef>
              <c:f>Sheet1!$B$2:$B$7</c:f>
              <c:numCache>
                <c:formatCode>General</c:formatCode>
                <c:ptCount val="6"/>
                <c:pt idx="0">
                  <c:v>205</c:v>
                </c:pt>
                <c:pt idx="1">
                  <c:v>209</c:v>
                </c:pt>
                <c:pt idx="2">
                  <c:v>211</c:v>
                </c:pt>
                <c:pt idx="3">
                  <c:v>212</c:v>
                </c:pt>
                <c:pt idx="4">
                  <c:v>218</c:v>
                </c:pt>
                <c:pt idx="5">
                  <c:v>222</c:v>
                </c:pt>
              </c:numCache>
            </c:numRef>
          </c:val>
          <c:extLst>
            <c:ext xmlns:c16="http://schemas.microsoft.com/office/drawing/2014/chart" uri="{C3380CC4-5D6E-409C-BE32-E72D297353CC}">
              <c16:uniqueId val="{00000000-1C6A-4C86-89C2-3E75A70ECCA1}"/>
            </c:ext>
          </c:extLst>
        </c:ser>
        <c:ser>
          <c:idx val="1"/>
          <c:order val="1"/>
          <c:tx>
            <c:strRef>
              <c:f>Sheet1!$C$1</c:f>
              <c:strCache>
                <c:ptCount val="1"/>
                <c:pt idx="0">
                  <c:v>Natural gas</c:v>
                </c:pt>
              </c:strCache>
            </c:strRef>
          </c:tx>
          <c:spPr>
            <a:solidFill>
              <a:srgbClr val="012169"/>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FY20</c:v>
                </c:pt>
                <c:pt idx="1">
                  <c:v>FY21</c:v>
                </c:pt>
                <c:pt idx="2">
                  <c:v>FY22</c:v>
                </c:pt>
                <c:pt idx="3">
                  <c:v>FY23</c:v>
                </c:pt>
                <c:pt idx="4">
                  <c:v>FY24</c:v>
                </c:pt>
                <c:pt idx="5">
                  <c:v>FY25</c:v>
                </c:pt>
              </c:strCache>
            </c:strRef>
          </c:cat>
          <c:val>
            <c:numRef>
              <c:f>Sheet1!$C$2:$C$7</c:f>
              <c:numCache>
                <c:formatCode>General</c:formatCode>
                <c:ptCount val="6"/>
                <c:pt idx="0">
                  <c:v>25</c:v>
                </c:pt>
                <c:pt idx="1">
                  <c:v>25</c:v>
                </c:pt>
                <c:pt idx="2">
                  <c:v>25</c:v>
                </c:pt>
                <c:pt idx="3">
                  <c:v>25</c:v>
                </c:pt>
                <c:pt idx="4">
                  <c:v>25</c:v>
                </c:pt>
                <c:pt idx="5">
                  <c:v>25</c:v>
                </c:pt>
              </c:numCache>
            </c:numRef>
          </c:val>
          <c:extLst>
            <c:ext xmlns:c16="http://schemas.microsoft.com/office/drawing/2014/chart" uri="{C3380CC4-5D6E-409C-BE32-E72D297353CC}">
              <c16:uniqueId val="{00000001-1C6A-4C86-89C2-3E75A70ECCA1}"/>
            </c:ext>
          </c:extLst>
        </c:ser>
        <c:ser>
          <c:idx val="2"/>
          <c:order val="2"/>
          <c:tx>
            <c:strRef>
              <c:f>Sheet1!$D$1</c:f>
              <c:strCache>
                <c:ptCount val="1"/>
                <c:pt idx="0">
                  <c:v>Nuclear</c:v>
                </c:pt>
              </c:strCache>
            </c:strRef>
          </c:tx>
          <c:spPr>
            <a:solidFill>
              <a:srgbClr val="FF0000"/>
            </a:solidFill>
            <a:ln>
              <a:noFill/>
            </a:ln>
            <a:effectLst/>
          </c:spPr>
          <c:invertIfNegative val="0"/>
          <c:dLbls>
            <c:dLbl>
              <c:idx val="0"/>
              <c:layout>
                <c:manualLayout>
                  <c:x val="6.0798363901665591E-2"/>
                  <c:y val="-4.9715549108114018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C6A-4C86-89C2-3E75A70ECCA1}"/>
                </c:ext>
              </c:extLst>
            </c:dLbl>
            <c:dLbl>
              <c:idx val="1"/>
              <c:layout>
                <c:manualLayout>
                  <c:x val="6.0798363901665625E-2"/>
                  <c:y val="-4.9715549108114018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C6A-4C86-89C2-3E75A70ECCA1}"/>
                </c:ext>
              </c:extLst>
            </c:dLbl>
            <c:dLbl>
              <c:idx val="2"/>
              <c:layout>
                <c:manualLayout>
                  <c:x val="6.485158816177662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C6A-4C86-89C2-3E75A70ECCA1}"/>
                </c:ext>
              </c:extLst>
            </c:dLbl>
            <c:dLbl>
              <c:idx val="3"/>
              <c:layout>
                <c:manualLayout>
                  <c:x val="5.674513964155454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C6A-4C86-89C2-3E75A70ECCA1}"/>
                </c:ext>
              </c:extLst>
            </c:dLbl>
            <c:dLbl>
              <c:idx val="4"/>
              <c:layout>
                <c:manualLayout>
                  <c:x val="6.890481242188766E-2"/>
                  <c:y val="-5.4235771010596543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C6A-4C86-89C2-3E75A70ECCA1}"/>
                </c:ext>
              </c:extLst>
            </c:dLbl>
            <c:dLbl>
              <c:idx val="5"/>
              <c:layout>
                <c:manualLayout>
                  <c:x val="6.0798363901665591E-2"/>
                  <c:y val="-4.9715549108114018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C6A-4C86-89C2-3E75A70ECCA1}"/>
                </c:ext>
              </c:extLst>
            </c:dLbl>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FY20</c:v>
                </c:pt>
                <c:pt idx="1">
                  <c:v>FY21</c:v>
                </c:pt>
                <c:pt idx="2">
                  <c:v>FY22</c:v>
                </c:pt>
                <c:pt idx="3">
                  <c:v>FY23</c:v>
                </c:pt>
                <c:pt idx="4">
                  <c:v>FY24</c:v>
                </c:pt>
                <c:pt idx="5">
                  <c:v>FY25</c:v>
                </c:pt>
              </c:strCache>
            </c:strRef>
          </c:cat>
          <c:val>
            <c:numRef>
              <c:f>Sheet1!$D$2:$D$7</c:f>
              <c:numCache>
                <c:formatCode>General</c:formatCode>
                <c:ptCount val="6"/>
                <c:pt idx="0">
                  <c:v>7</c:v>
                </c:pt>
                <c:pt idx="1">
                  <c:v>7</c:v>
                </c:pt>
                <c:pt idx="2">
                  <c:v>7</c:v>
                </c:pt>
                <c:pt idx="3">
                  <c:v>7</c:v>
                </c:pt>
                <c:pt idx="4">
                  <c:v>8</c:v>
                </c:pt>
                <c:pt idx="5">
                  <c:v>8</c:v>
                </c:pt>
              </c:numCache>
            </c:numRef>
          </c:val>
          <c:extLst>
            <c:ext xmlns:c16="http://schemas.microsoft.com/office/drawing/2014/chart" uri="{C3380CC4-5D6E-409C-BE32-E72D297353CC}">
              <c16:uniqueId val="{00000008-1C6A-4C86-89C2-3E75A70ECCA1}"/>
            </c:ext>
          </c:extLst>
        </c:ser>
        <c:ser>
          <c:idx val="3"/>
          <c:order val="3"/>
          <c:tx>
            <c:strRef>
              <c:f>Sheet1!$E$1</c:f>
              <c:strCache>
                <c:ptCount val="1"/>
                <c:pt idx="0">
                  <c:v>Hydro</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FY20</c:v>
                </c:pt>
                <c:pt idx="1">
                  <c:v>FY21</c:v>
                </c:pt>
                <c:pt idx="2">
                  <c:v>FY22</c:v>
                </c:pt>
                <c:pt idx="3">
                  <c:v>FY23</c:v>
                </c:pt>
                <c:pt idx="4">
                  <c:v>FY24</c:v>
                </c:pt>
                <c:pt idx="5">
                  <c:v>FY25</c:v>
                </c:pt>
              </c:strCache>
            </c:strRef>
          </c:cat>
          <c:val>
            <c:numRef>
              <c:f>Sheet1!$E$2:$E$7</c:f>
              <c:numCache>
                <c:formatCode>General</c:formatCode>
                <c:ptCount val="6"/>
                <c:pt idx="0">
                  <c:v>46</c:v>
                </c:pt>
                <c:pt idx="1">
                  <c:v>46</c:v>
                </c:pt>
                <c:pt idx="2">
                  <c:v>47</c:v>
                </c:pt>
                <c:pt idx="3">
                  <c:v>47</c:v>
                </c:pt>
                <c:pt idx="4">
                  <c:v>47</c:v>
                </c:pt>
                <c:pt idx="5">
                  <c:v>48</c:v>
                </c:pt>
              </c:numCache>
            </c:numRef>
          </c:val>
          <c:extLst>
            <c:ext xmlns:c16="http://schemas.microsoft.com/office/drawing/2014/chart" uri="{C3380CC4-5D6E-409C-BE32-E72D297353CC}">
              <c16:uniqueId val="{00000009-1C6A-4C86-89C2-3E75A70ECCA1}"/>
            </c:ext>
          </c:extLst>
        </c:ser>
        <c:ser>
          <c:idx val="4"/>
          <c:order val="4"/>
          <c:tx>
            <c:strRef>
              <c:f>Sheet1!$F$1</c:f>
              <c:strCache>
                <c:ptCount val="1"/>
                <c:pt idx="0">
                  <c:v>RES</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FY20</c:v>
                </c:pt>
                <c:pt idx="1">
                  <c:v>FY21</c:v>
                </c:pt>
                <c:pt idx="2">
                  <c:v>FY22</c:v>
                </c:pt>
                <c:pt idx="3">
                  <c:v>FY23</c:v>
                </c:pt>
                <c:pt idx="4">
                  <c:v>FY24</c:v>
                </c:pt>
                <c:pt idx="5">
                  <c:v>FY25</c:v>
                </c:pt>
              </c:strCache>
            </c:strRef>
          </c:cat>
          <c:val>
            <c:numRef>
              <c:f>Sheet1!$F$2:$F$7</c:f>
              <c:numCache>
                <c:formatCode>General</c:formatCode>
                <c:ptCount val="6"/>
                <c:pt idx="0">
                  <c:v>87</c:v>
                </c:pt>
                <c:pt idx="1">
                  <c:v>94</c:v>
                </c:pt>
                <c:pt idx="2">
                  <c:v>110</c:v>
                </c:pt>
                <c:pt idx="3">
                  <c:v>125</c:v>
                </c:pt>
                <c:pt idx="4">
                  <c:v>144</c:v>
                </c:pt>
                <c:pt idx="5">
                  <c:v>172</c:v>
                </c:pt>
              </c:numCache>
            </c:numRef>
          </c:val>
          <c:extLst>
            <c:ext xmlns:c16="http://schemas.microsoft.com/office/drawing/2014/chart" uri="{C3380CC4-5D6E-409C-BE32-E72D297353CC}">
              <c16:uniqueId val="{0000000A-1C6A-4C86-89C2-3E75A70ECCA1}"/>
            </c:ext>
          </c:extLst>
        </c:ser>
        <c:ser>
          <c:idx val="5"/>
          <c:order val="5"/>
          <c:tx>
            <c:strRef>
              <c:f>Sheet1!$G$1</c:f>
              <c:strCache>
                <c:ptCount val="1"/>
                <c:pt idx="0">
                  <c:v>Column1</c:v>
                </c:pt>
              </c:strCache>
            </c:strRef>
          </c:tx>
          <c:spPr>
            <a:noFill/>
            <a:ln>
              <a:noFill/>
            </a:ln>
            <a:effectLst/>
          </c:spPr>
          <c:invertIfNegative val="0"/>
          <c:dLbls>
            <c:dLbl>
              <c:idx val="5"/>
              <c:layout>
                <c:manualLayout>
                  <c:x val="3.6804162021539483E-4"/>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1C6A-4C86-89C2-3E75A70ECCA1}"/>
                </c:ext>
              </c:extLst>
            </c:dLbl>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FY20</c:v>
                </c:pt>
                <c:pt idx="1">
                  <c:v>FY21</c:v>
                </c:pt>
                <c:pt idx="2">
                  <c:v>FY22</c:v>
                </c:pt>
                <c:pt idx="3">
                  <c:v>FY23</c:v>
                </c:pt>
                <c:pt idx="4">
                  <c:v>FY24</c:v>
                </c:pt>
                <c:pt idx="5">
                  <c:v>FY25</c:v>
                </c:pt>
              </c:strCache>
            </c:strRef>
          </c:cat>
          <c:val>
            <c:numRef>
              <c:f>Sheet1!$G$2:$G$7</c:f>
              <c:numCache>
                <c:formatCode>General</c:formatCode>
                <c:ptCount val="6"/>
                <c:pt idx="0">
                  <c:v>370</c:v>
                </c:pt>
                <c:pt idx="1">
                  <c:v>381</c:v>
                </c:pt>
                <c:pt idx="2">
                  <c:v>400</c:v>
                </c:pt>
                <c:pt idx="3">
                  <c:v>416</c:v>
                </c:pt>
                <c:pt idx="4">
                  <c:v>442</c:v>
                </c:pt>
                <c:pt idx="5">
                  <c:v>475</c:v>
                </c:pt>
              </c:numCache>
            </c:numRef>
          </c:val>
          <c:extLst>
            <c:ext xmlns:c16="http://schemas.microsoft.com/office/drawing/2014/chart" uri="{C3380CC4-5D6E-409C-BE32-E72D297353CC}">
              <c16:uniqueId val="{0000000C-1C6A-4C86-89C2-3E75A70ECCA1}"/>
            </c:ext>
          </c:extLst>
        </c:ser>
        <c:dLbls>
          <c:dLblPos val="ctr"/>
          <c:showLegendKey val="0"/>
          <c:showVal val="1"/>
          <c:showCatName val="0"/>
          <c:showSerName val="0"/>
          <c:showPercent val="0"/>
          <c:showBubbleSize val="0"/>
        </c:dLbls>
        <c:gapWidth val="150"/>
        <c:overlap val="100"/>
        <c:axId val="768990320"/>
        <c:axId val="1892092879"/>
      </c:barChart>
      <c:catAx>
        <c:axId val="76899032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892092879"/>
        <c:crosses val="autoZero"/>
        <c:auto val="1"/>
        <c:lblAlgn val="ctr"/>
        <c:lblOffset val="100"/>
        <c:noMultiLvlLbl val="0"/>
      </c:catAx>
      <c:valAx>
        <c:axId val="1892092879"/>
        <c:scaling>
          <c:orientation val="minMax"/>
          <c:max val="500"/>
          <c:min val="100"/>
        </c:scaling>
        <c:delete val="1"/>
        <c:axPos val="l"/>
        <c:numFmt formatCode="General" sourceLinked="1"/>
        <c:majorTickMark val="out"/>
        <c:minorTickMark val="none"/>
        <c:tickLblPos val="nextTo"/>
        <c:crossAx val="768990320"/>
        <c:crosses val="autoZero"/>
        <c:crossBetween val="between"/>
      </c:valAx>
      <c:spPr>
        <a:noFill/>
        <a:ln>
          <a:noFill/>
        </a:ln>
        <a:effectLst/>
      </c:spPr>
    </c:plotArea>
    <c:legend>
      <c:legendPos val="b"/>
      <c:legendEntry>
        <c:idx val="5"/>
        <c:delete val="1"/>
      </c:legendEntry>
      <c:layout>
        <c:manualLayout>
          <c:xMode val="edge"/>
          <c:yMode val="edge"/>
          <c:x val="0"/>
          <c:y val="0.87537696960592148"/>
          <c:w val="1"/>
          <c:h val="0.11817737035341502"/>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0584703279834464E-2"/>
          <c:y val="0"/>
          <c:w val="0.99058430458430458"/>
          <c:h val="0.67901186782685252"/>
        </c:manualLayout>
      </c:layout>
      <c:barChart>
        <c:barDir val="col"/>
        <c:grouping val="clustered"/>
        <c:varyColors val="0"/>
        <c:ser>
          <c:idx val="0"/>
          <c:order val="0"/>
          <c:tx>
            <c:strRef>
              <c:f>Sheet1!$B$1</c:f>
              <c:strCache>
                <c:ptCount val="1"/>
                <c:pt idx="0">
                  <c:v>FY20</c:v>
                </c:pt>
              </c:strCache>
            </c:strRef>
          </c:tx>
          <c:spPr>
            <a:solidFill>
              <a:schemeClr val="accent5"/>
            </a:solidFill>
            <a:ln>
              <a:noFill/>
            </a:ln>
            <a:effectLst/>
          </c:spPr>
          <c:invertIfNegative val="0"/>
          <c:dLbls>
            <c:dLbl>
              <c:idx val="3"/>
              <c:layout>
                <c:manualLayout>
                  <c:x val="0"/>
                  <c:y val="-3.633005177747541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02A-4A2A-A315-719001A881CA}"/>
                </c:ext>
              </c:extLst>
            </c:dLbl>
            <c:dLbl>
              <c:idx val="4"/>
              <c:layout>
                <c:manualLayout>
                  <c:x val="0"/>
                  <c:y val="-1.274005473207765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02A-4A2A-A315-719001A881CA}"/>
                </c:ext>
              </c:extLst>
            </c:dLbl>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Coal/lignite</c:v>
                </c:pt>
                <c:pt idx="1">
                  <c:v>Natural gas</c:v>
                </c:pt>
                <c:pt idx="2">
                  <c:v>Nuclear</c:v>
                </c:pt>
                <c:pt idx="3">
                  <c:v>Hydro</c:v>
                </c:pt>
                <c:pt idx="4">
                  <c:v>RES</c:v>
                </c:pt>
              </c:strCache>
            </c:strRef>
          </c:cat>
          <c:val>
            <c:numRef>
              <c:f>Sheet1!$B$2:$B$6</c:f>
              <c:numCache>
                <c:formatCode>_(* #,##0%_);_(* \(#,##0%\);_(* " - "_);_(* @_)</c:formatCode>
                <c:ptCount val="5"/>
                <c:pt idx="0">
                  <c:v>0.55169999999999997</c:v>
                </c:pt>
                <c:pt idx="1">
                  <c:v>0.2175</c:v>
                </c:pt>
                <c:pt idx="2">
                  <c:v>0.78029999999999999</c:v>
                </c:pt>
                <c:pt idx="3">
                  <c:v>0.38300000000000001</c:v>
                </c:pt>
                <c:pt idx="4">
                  <c:v>0.17845732386610211</c:v>
                </c:pt>
              </c:numCache>
            </c:numRef>
          </c:val>
          <c:extLst>
            <c:ext xmlns:c16="http://schemas.microsoft.com/office/drawing/2014/chart" uri="{C3380CC4-5D6E-409C-BE32-E72D297353CC}">
              <c16:uniqueId val="{00000002-D02A-4A2A-A315-719001A881CA}"/>
            </c:ext>
          </c:extLst>
        </c:ser>
        <c:ser>
          <c:idx val="1"/>
          <c:order val="1"/>
          <c:tx>
            <c:strRef>
              <c:f>Sheet1!$C$1</c:f>
              <c:strCache>
                <c:ptCount val="1"/>
                <c:pt idx="0">
                  <c:v>FY25</c:v>
                </c:pt>
              </c:strCache>
            </c:strRef>
          </c:tx>
          <c:spPr>
            <a:solidFill>
              <a:schemeClr val="accent1"/>
            </a:solidFill>
            <a:ln>
              <a:noFill/>
            </a:ln>
            <a:effectLst/>
          </c:spPr>
          <c:invertIfNegative val="0"/>
          <c:dLbls>
            <c:dLbl>
              <c:idx val="2"/>
              <c:layout>
                <c:manualLayout>
                  <c:x val="3.3898335244748577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02A-4A2A-A315-719001A881CA}"/>
                </c:ext>
              </c:extLst>
            </c:dLbl>
            <c:dLbl>
              <c:idx val="4"/>
              <c:layout>
                <c:manualLayout>
                  <c:x val="1.8832408469304805E-2"/>
                  <c:y val="3.0701525596474734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02A-4A2A-A315-719001A881CA}"/>
                </c:ext>
              </c:extLst>
            </c:dLbl>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Coal/lignite</c:v>
                </c:pt>
                <c:pt idx="1">
                  <c:v>Natural gas</c:v>
                </c:pt>
                <c:pt idx="2">
                  <c:v>Nuclear</c:v>
                </c:pt>
                <c:pt idx="3">
                  <c:v>Hydro</c:v>
                </c:pt>
                <c:pt idx="4">
                  <c:v>RES</c:v>
                </c:pt>
              </c:strCache>
            </c:strRef>
          </c:cat>
          <c:val>
            <c:numRef>
              <c:f>Sheet1!$C$2:$C$6</c:f>
              <c:numCache>
                <c:formatCode>_(* #,##0%_);_(* \(#,##0%\);_(* " - "_);_(* @_)</c:formatCode>
                <c:ptCount val="5"/>
                <c:pt idx="0">
                  <c:v>0.6855</c:v>
                </c:pt>
                <c:pt idx="1">
                  <c:v>0.14499999999999999</c:v>
                </c:pt>
                <c:pt idx="2">
                  <c:v>0.79069999999999996</c:v>
                </c:pt>
                <c:pt idx="3">
                  <c:v>0.35520000000000002</c:v>
                </c:pt>
                <c:pt idx="4">
                  <c:v>0.16662755278845551</c:v>
                </c:pt>
              </c:numCache>
            </c:numRef>
          </c:val>
          <c:extLst>
            <c:ext xmlns:c16="http://schemas.microsoft.com/office/drawing/2014/chart" uri="{C3380CC4-5D6E-409C-BE32-E72D297353CC}">
              <c16:uniqueId val="{00000008-D02A-4A2A-A315-719001A881CA}"/>
            </c:ext>
          </c:extLst>
        </c:ser>
        <c:dLbls>
          <c:dLblPos val="outEnd"/>
          <c:showLegendKey val="0"/>
          <c:showVal val="1"/>
          <c:showCatName val="0"/>
          <c:showSerName val="0"/>
          <c:showPercent val="0"/>
          <c:showBubbleSize val="0"/>
        </c:dLbls>
        <c:gapWidth val="219"/>
        <c:overlap val="-27"/>
        <c:axId val="1714115711"/>
        <c:axId val="1529068127"/>
      </c:barChart>
      <c:catAx>
        <c:axId val="171411571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529068127"/>
        <c:crosses val="autoZero"/>
        <c:auto val="1"/>
        <c:lblAlgn val="ctr"/>
        <c:lblOffset val="100"/>
        <c:noMultiLvlLbl val="0"/>
      </c:catAx>
      <c:valAx>
        <c:axId val="1529068127"/>
        <c:scaling>
          <c:orientation val="minMax"/>
        </c:scaling>
        <c:delete val="1"/>
        <c:axPos val="l"/>
        <c:numFmt formatCode="_(* #,##0%_);_(* \(#,##0%\);_(* &quot; - &quot;_);_(* @_)" sourceLinked="1"/>
        <c:majorTickMark val="none"/>
        <c:minorTickMark val="none"/>
        <c:tickLblPos val="nextTo"/>
        <c:crossAx val="1714115711"/>
        <c:crosses val="autoZero"/>
        <c:crossBetween val="between"/>
      </c:valAx>
      <c:spPr>
        <a:noFill/>
        <a:ln>
          <a:noFill/>
        </a:ln>
        <a:effectLst/>
      </c:spPr>
    </c:plotArea>
    <c:legend>
      <c:legendPos val="r"/>
      <c:layout>
        <c:manualLayout>
          <c:xMode val="edge"/>
          <c:yMode val="edge"/>
          <c:x val="0.25576368085503287"/>
          <c:y val="0.86690750796328642"/>
          <c:w val="0.51824741751330949"/>
          <c:h val="0.13071722205966296"/>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userShapes r:id="rId4"/>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7032173703788542E-2"/>
          <c:y val="0.20006527538873148"/>
          <c:w val="0.92334848966229388"/>
          <c:h val="0.6747069586528317"/>
        </c:manualLayout>
      </c:layout>
      <c:barChart>
        <c:barDir val="col"/>
        <c:grouping val="clustered"/>
        <c:varyColors val="0"/>
        <c:ser>
          <c:idx val="0"/>
          <c:order val="0"/>
          <c:tx>
            <c:strRef>
              <c:f>Sheet1!$B$1</c:f>
              <c:strCache>
                <c:ptCount val="1"/>
                <c:pt idx="0">
                  <c:v>Northern Region</c:v>
                </c:pt>
              </c:strCache>
            </c:strRef>
          </c:tx>
          <c:spPr>
            <a:solidFill>
              <a:srgbClr val="DA291C"/>
            </a:solidFill>
            <a:ln w="6350">
              <a:solidFill>
                <a:srgbClr val="DA291C"/>
              </a:solidFill>
            </a:ln>
            <a:effectLst/>
          </c:spPr>
          <c:invertIfNegative val="0"/>
          <c:cat>
            <c:strRef>
              <c:f>Sheet1!$A$2:$A$13</c:f>
              <c:strCache>
                <c:ptCount val="12"/>
                <c:pt idx="0">
                  <c:v>April</c:v>
                </c:pt>
                <c:pt idx="1">
                  <c:v>May</c:v>
                </c:pt>
                <c:pt idx="2">
                  <c:v>June</c:v>
                </c:pt>
                <c:pt idx="3">
                  <c:v>July</c:v>
                </c:pt>
                <c:pt idx="4">
                  <c:v>August</c:v>
                </c:pt>
                <c:pt idx="5">
                  <c:v>September</c:v>
                </c:pt>
                <c:pt idx="6">
                  <c:v>October</c:v>
                </c:pt>
                <c:pt idx="7">
                  <c:v>November</c:v>
                </c:pt>
                <c:pt idx="8">
                  <c:v>December</c:v>
                </c:pt>
                <c:pt idx="9">
                  <c:v>January</c:v>
                </c:pt>
                <c:pt idx="10">
                  <c:v>February</c:v>
                </c:pt>
                <c:pt idx="11">
                  <c:v>March</c:v>
                </c:pt>
              </c:strCache>
            </c:strRef>
          </c:cat>
          <c:val>
            <c:numRef>
              <c:f>Sheet1!$B$2:$B$13</c:f>
              <c:numCache>
                <c:formatCode>_(* #,##0_);_(* \(#,##0\);_(* " - "_);_(* @_)</c:formatCode>
                <c:ptCount val="12"/>
                <c:pt idx="0">
                  <c:v>3521</c:v>
                </c:pt>
                <c:pt idx="1">
                  <c:v>-2882</c:v>
                </c:pt>
                <c:pt idx="2">
                  <c:v>-3183</c:v>
                </c:pt>
                <c:pt idx="3">
                  <c:v>-3520</c:v>
                </c:pt>
                <c:pt idx="4">
                  <c:v>1008</c:v>
                </c:pt>
                <c:pt idx="5">
                  <c:v>-709</c:v>
                </c:pt>
                <c:pt idx="6">
                  <c:v>1022</c:v>
                </c:pt>
                <c:pt idx="7">
                  <c:v>953</c:v>
                </c:pt>
                <c:pt idx="8">
                  <c:v>624</c:v>
                </c:pt>
                <c:pt idx="9">
                  <c:v>-1657</c:v>
                </c:pt>
                <c:pt idx="10">
                  <c:v>676</c:v>
                </c:pt>
                <c:pt idx="11">
                  <c:v>396</c:v>
                </c:pt>
              </c:numCache>
            </c:numRef>
          </c:val>
          <c:extLst>
            <c:ext xmlns:c16="http://schemas.microsoft.com/office/drawing/2014/chart" uri="{C3380CC4-5D6E-409C-BE32-E72D297353CC}">
              <c16:uniqueId val="{00000000-6DB3-46B2-A981-4E2972049B0A}"/>
            </c:ext>
          </c:extLst>
        </c:ser>
        <c:ser>
          <c:idx val="1"/>
          <c:order val="1"/>
          <c:tx>
            <c:strRef>
              <c:f>Sheet1!$C$1</c:f>
              <c:strCache>
                <c:ptCount val="1"/>
                <c:pt idx="0">
                  <c:v>Western Region</c:v>
                </c:pt>
              </c:strCache>
            </c:strRef>
          </c:tx>
          <c:spPr>
            <a:solidFill>
              <a:schemeClr val="accent6">
                <a:lumMod val="75000"/>
              </a:schemeClr>
            </a:solidFill>
            <a:ln w="6350">
              <a:noFill/>
            </a:ln>
            <a:effectLst/>
          </c:spPr>
          <c:invertIfNegative val="0"/>
          <c:cat>
            <c:strRef>
              <c:f>Sheet1!$A$2:$A$13</c:f>
              <c:strCache>
                <c:ptCount val="12"/>
                <c:pt idx="0">
                  <c:v>April</c:v>
                </c:pt>
                <c:pt idx="1">
                  <c:v>May</c:v>
                </c:pt>
                <c:pt idx="2">
                  <c:v>June</c:v>
                </c:pt>
                <c:pt idx="3">
                  <c:v>July</c:v>
                </c:pt>
                <c:pt idx="4">
                  <c:v>August</c:v>
                </c:pt>
                <c:pt idx="5">
                  <c:v>September</c:v>
                </c:pt>
                <c:pt idx="6">
                  <c:v>October</c:v>
                </c:pt>
                <c:pt idx="7">
                  <c:v>November</c:v>
                </c:pt>
                <c:pt idx="8">
                  <c:v>December</c:v>
                </c:pt>
                <c:pt idx="9">
                  <c:v>January</c:v>
                </c:pt>
                <c:pt idx="10">
                  <c:v>February</c:v>
                </c:pt>
                <c:pt idx="11">
                  <c:v>March</c:v>
                </c:pt>
              </c:strCache>
            </c:strRef>
          </c:cat>
          <c:val>
            <c:numRef>
              <c:f>Sheet1!$C$2:$C$13</c:f>
              <c:numCache>
                <c:formatCode>_(* #,##0_);_(* \(#,##0\);_(* " - "_);_(* @_)</c:formatCode>
                <c:ptCount val="12"/>
                <c:pt idx="0">
                  <c:v>-922</c:v>
                </c:pt>
                <c:pt idx="1">
                  <c:v>-1110</c:v>
                </c:pt>
                <c:pt idx="2">
                  <c:v>-1124</c:v>
                </c:pt>
                <c:pt idx="3">
                  <c:v>911</c:v>
                </c:pt>
                <c:pt idx="4">
                  <c:v>2334</c:v>
                </c:pt>
                <c:pt idx="5">
                  <c:v>1859</c:v>
                </c:pt>
                <c:pt idx="6">
                  <c:v>-972</c:v>
                </c:pt>
                <c:pt idx="7">
                  <c:v>-113</c:v>
                </c:pt>
                <c:pt idx="8">
                  <c:v>-1866</c:v>
                </c:pt>
                <c:pt idx="9">
                  <c:v>-1910</c:v>
                </c:pt>
                <c:pt idx="10">
                  <c:v>-3394</c:v>
                </c:pt>
                <c:pt idx="11">
                  <c:v>-1909</c:v>
                </c:pt>
              </c:numCache>
            </c:numRef>
          </c:val>
          <c:extLst>
            <c:ext xmlns:c16="http://schemas.microsoft.com/office/drawing/2014/chart" uri="{C3380CC4-5D6E-409C-BE32-E72D297353CC}">
              <c16:uniqueId val="{00000001-6DB3-46B2-A981-4E2972049B0A}"/>
            </c:ext>
          </c:extLst>
        </c:ser>
        <c:ser>
          <c:idx val="2"/>
          <c:order val="2"/>
          <c:tx>
            <c:strRef>
              <c:f>Sheet1!$D$1</c:f>
              <c:strCache>
                <c:ptCount val="1"/>
                <c:pt idx="0">
                  <c:v>Southern Region</c:v>
                </c:pt>
              </c:strCache>
            </c:strRef>
          </c:tx>
          <c:spPr>
            <a:solidFill>
              <a:srgbClr val="86BC25"/>
            </a:solidFill>
            <a:ln w="6350">
              <a:noFill/>
            </a:ln>
            <a:effectLst/>
          </c:spPr>
          <c:invertIfNegative val="0"/>
          <c:cat>
            <c:strRef>
              <c:f>Sheet1!$A$2:$A$13</c:f>
              <c:strCache>
                <c:ptCount val="12"/>
                <c:pt idx="0">
                  <c:v>April</c:v>
                </c:pt>
                <c:pt idx="1">
                  <c:v>May</c:v>
                </c:pt>
                <c:pt idx="2">
                  <c:v>June</c:v>
                </c:pt>
                <c:pt idx="3">
                  <c:v>July</c:v>
                </c:pt>
                <c:pt idx="4">
                  <c:v>August</c:v>
                </c:pt>
                <c:pt idx="5">
                  <c:v>September</c:v>
                </c:pt>
                <c:pt idx="6">
                  <c:v>October</c:v>
                </c:pt>
                <c:pt idx="7">
                  <c:v>November</c:v>
                </c:pt>
                <c:pt idx="8">
                  <c:v>December</c:v>
                </c:pt>
                <c:pt idx="9">
                  <c:v>January</c:v>
                </c:pt>
                <c:pt idx="10">
                  <c:v>February</c:v>
                </c:pt>
                <c:pt idx="11">
                  <c:v>March</c:v>
                </c:pt>
              </c:strCache>
            </c:strRef>
          </c:cat>
          <c:val>
            <c:numRef>
              <c:f>Sheet1!$D$2:$D$13</c:f>
              <c:numCache>
                <c:formatCode>_(* #,##0_);_(* \(#,##0\);_(* " - "_);_(* @_)</c:formatCode>
                <c:ptCount val="12"/>
                <c:pt idx="0">
                  <c:v>-3238</c:v>
                </c:pt>
                <c:pt idx="1">
                  <c:v>2063</c:v>
                </c:pt>
                <c:pt idx="2">
                  <c:v>3473</c:v>
                </c:pt>
                <c:pt idx="3">
                  <c:v>4556</c:v>
                </c:pt>
                <c:pt idx="4">
                  <c:v>840</c:v>
                </c:pt>
                <c:pt idx="5">
                  <c:v>1342</c:v>
                </c:pt>
                <c:pt idx="6">
                  <c:v>-128</c:v>
                </c:pt>
                <c:pt idx="7">
                  <c:v>511</c:v>
                </c:pt>
                <c:pt idx="8">
                  <c:v>96</c:v>
                </c:pt>
                <c:pt idx="9">
                  <c:v>-942</c:v>
                </c:pt>
                <c:pt idx="10">
                  <c:v>-2664</c:v>
                </c:pt>
                <c:pt idx="11">
                  <c:v>-4256</c:v>
                </c:pt>
              </c:numCache>
            </c:numRef>
          </c:val>
          <c:extLst>
            <c:ext xmlns:c16="http://schemas.microsoft.com/office/drawing/2014/chart" uri="{C3380CC4-5D6E-409C-BE32-E72D297353CC}">
              <c16:uniqueId val="{00000002-6DB3-46B2-A981-4E2972049B0A}"/>
            </c:ext>
          </c:extLst>
        </c:ser>
        <c:ser>
          <c:idx val="3"/>
          <c:order val="3"/>
          <c:tx>
            <c:strRef>
              <c:f>Sheet1!$E$1</c:f>
              <c:strCache>
                <c:ptCount val="1"/>
                <c:pt idx="0">
                  <c:v>Eastern Region</c:v>
                </c:pt>
              </c:strCache>
              <c:extLst xmlns:c15="http://schemas.microsoft.com/office/drawing/2012/chart"/>
            </c:strRef>
          </c:tx>
          <c:spPr>
            <a:solidFill>
              <a:srgbClr val="00ABAB"/>
            </a:solidFill>
            <a:ln w="6350">
              <a:solidFill>
                <a:schemeClr val="accent6"/>
              </a:solidFill>
            </a:ln>
            <a:effectLst/>
          </c:spPr>
          <c:invertIfNegative val="0"/>
          <c:cat>
            <c:strRef>
              <c:f>Sheet1!$A$2:$A$13</c:f>
              <c:strCache>
                <c:ptCount val="12"/>
                <c:pt idx="0">
                  <c:v>April</c:v>
                </c:pt>
                <c:pt idx="1">
                  <c:v>May</c:v>
                </c:pt>
                <c:pt idx="2">
                  <c:v>June</c:v>
                </c:pt>
                <c:pt idx="3">
                  <c:v>July</c:v>
                </c:pt>
                <c:pt idx="4">
                  <c:v>August</c:v>
                </c:pt>
                <c:pt idx="5">
                  <c:v>September</c:v>
                </c:pt>
                <c:pt idx="6">
                  <c:v>October</c:v>
                </c:pt>
                <c:pt idx="7">
                  <c:v>November</c:v>
                </c:pt>
                <c:pt idx="8">
                  <c:v>December</c:v>
                </c:pt>
                <c:pt idx="9">
                  <c:v>January</c:v>
                </c:pt>
                <c:pt idx="10">
                  <c:v>February</c:v>
                </c:pt>
                <c:pt idx="11">
                  <c:v>March</c:v>
                </c:pt>
              </c:strCache>
              <c:extLst xmlns:c15="http://schemas.microsoft.com/office/drawing/2012/chart"/>
            </c:strRef>
          </c:cat>
          <c:val>
            <c:numRef>
              <c:f>Sheet1!$E$2:$E$13</c:f>
              <c:numCache>
                <c:formatCode>_(* #,##0_);_(* \(#,##0\);_(* " - "_);_(* @_)</c:formatCode>
                <c:ptCount val="12"/>
                <c:pt idx="0">
                  <c:v>-1158</c:v>
                </c:pt>
                <c:pt idx="1">
                  <c:v>-324</c:v>
                </c:pt>
                <c:pt idx="2">
                  <c:v>-586</c:v>
                </c:pt>
                <c:pt idx="3">
                  <c:v>-96</c:v>
                </c:pt>
                <c:pt idx="4">
                  <c:v>1299</c:v>
                </c:pt>
                <c:pt idx="5">
                  <c:v>1383</c:v>
                </c:pt>
                <c:pt idx="6">
                  <c:v>2522</c:v>
                </c:pt>
                <c:pt idx="7">
                  <c:v>4277</c:v>
                </c:pt>
                <c:pt idx="8">
                  <c:v>4530</c:v>
                </c:pt>
                <c:pt idx="9">
                  <c:v>4746</c:v>
                </c:pt>
                <c:pt idx="10">
                  <c:v>3924</c:v>
                </c:pt>
                <c:pt idx="11">
                  <c:v>3389</c:v>
                </c:pt>
              </c:numCache>
              <c:extLst xmlns:c15="http://schemas.microsoft.com/office/drawing/2012/chart"/>
            </c:numRef>
          </c:val>
          <c:extLst xmlns:c15="http://schemas.microsoft.com/office/drawing/2012/chart">
            <c:ext xmlns:c16="http://schemas.microsoft.com/office/drawing/2014/chart" uri="{C3380CC4-5D6E-409C-BE32-E72D297353CC}">
              <c16:uniqueId val="{00000003-6DB3-46B2-A981-4E2972049B0A}"/>
            </c:ext>
          </c:extLst>
        </c:ser>
        <c:ser>
          <c:idx val="4"/>
          <c:order val="4"/>
          <c:tx>
            <c:strRef>
              <c:f>Sheet1!$F$1</c:f>
              <c:strCache>
                <c:ptCount val="1"/>
                <c:pt idx="0">
                  <c:v>North-Eastern</c:v>
                </c:pt>
              </c:strCache>
              <c:extLst xmlns:c15="http://schemas.microsoft.com/office/drawing/2012/chart"/>
            </c:strRef>
          </c:tx>
          <c:spPr>
            <a:solidFill>
              <a:schemeClr val="accent5"/>
            </a:solidFill>
            <a:ln>
              <a:noFill/>
            </a:ln>
            <a:effectLst/>
          </c:spPr>
          <c:invertIfNegative val="0"/>
          <c:cat>
            <c:strRef>
              <c:f>Sheet1!$A$2:$A$13</c:f>
              <c:strCache>
                <c:ptCount val="12"/>
                <c:pt idx="0">
                  <c:v>April</c:v>
                </c:pt>
                <c:pt idx="1">
                  <c:v>May</c:v>
                </c:pt>
                <c:pt idx="2">
                  <c:v>June</c:v>
                </c:pt>
                <c:pt idx="3">
                  <c:v>July</c:v>
                </c:pt>
                <c:pt idx="4">
                  <c:v>August</c:v>
                </c:pt>
                <c:pt idx="5">
                  <c:v>September</c:v>
                </c:pt>
                <c:pt idx="6">
                  <c:v>October</c:v>
                </c:pt>
                <c:pt idx="7">
                  <c:v>November</c:v>
                </c:pt>
                <c:pt idx="8">
                  <c:v>December</c:v>
                </c:pt>
                <c:pt idx="9">
                  <c:v>January</c:v>
                </c:pt>
                <c:pt idx="10">
                  <c:v>February</c:v>
                </c:pt>
                <c:pt idx="11">
                  <c:v>March</c:v>
                </c:pt>
              </c:strCache>
              <c:extLst xmlns:c15="http://schemas.microsoft.com/office/drawing/2012/chart"/>
            </c:strRef>
          </c:cat>
          <c:val>
            <c:numRef>
              <c:f>Sheet1!$F$2:$F$13</c:f>
              <c:numCache>
                <c:formatCode>_(* #,##0_);_(* \(#,##0\);_(* " - "_);_(* @_)</c:formatCode>
                <c:ptCount val="12"/>
                <c:pt idx="0">
                  <c:v>13</c:v>
                </c:pt>
                <c:pt idx="1">
                  <c:v>26</c:v>
                </c:pt>
                <c:pt idx="2">
                  <c:v>347</c:v>
                </c:pt>
                <c:pt idx="3">
                  <c:v>438</c:v>
                </c:pt>
                <c:pt idx="4">
                  <c:v>404</c:v>
                </c:pt>
                <c:pt idx="5">
                  <c:v>298</c:v>
                </c:pt>
                <c:pt idx="6">
                  <c:v>332</c:v>
                </c:pt>
                <c:pt idx="7">
                  <c:v>180</c:v>
                </c:pt>
                <c:pt idx="8">
                  <c:v>112</c:v>
                </c:pt>
                <c:pt idx="9">
                  <c:v>-49</c:v>
                </c:pt>
                <c:pt idx="10">
                  <c:v>-13</c:v>
                </c:pt>
                <c:pt idx="11">
                  <c:v>114</c:v>
                </c:pt>
              </c:numCache>
              <c:extLst xmlns:c15="http://schemas.microsoft.com/office/drawing/2012/chart"/>
            </c:numRef>
          </c:val>
          <c:extLst xmlns:c15="http://schemas.microsoft.com/office/drawing/2012/chart">
            <c:ext xmlns:c16="http://schemas.microsoft.com/office/drawing/2014/chart" uri="{C3380CC4-5D6E-409C-BE32-E72D297353CC}">
              <c16:uniqueId val="{00000004-6DB3-46B2-A981-4E2972049B0A}"/>
            </c:ext>
          </c:extLst>
        </c:ser>
        <c:dLbls>
          <c:showLegendKey val="0"/>
          <c:showVal val="0"/>
          <c:showCatName val="0"/>
          <c:showSerName val="0"/>
          <c:showPercent val="0"/>
          <c:showBubbleSize val="0"/>
        </c:dLbls>
        <c:gapWidth val="150"/>
        <c:axId val="698965632"/>
        <c:axId val="69233087"/>
        <c:extLst>
          <c:ext xmlns:c15="http://schemas.microsoft.com/office/drawing/2012/chart" uri="{02D57815-91ED-43cb-92C2-25804820EDAC}">
            <c15:filteredBarSeries>
              <c15:ser>
                <c:idx val="5"/>
                <c:order val="5"/>
                <c:tx>
                  <c:strRef>
                    <c:extLst>
                      <c:ext uri="{02D57815-91ED-43cb-92C2-25804820EDAC}">
                        <c15:formulaRef>
                          <c15:sqref>Sheet1!$G$1</c15:sqref>
                        </c15:formulaRef>
                      </c:ext>
                    </c:extLst>
                    <c:strCache>
                      <c:ptCount val="1"/>
                      <c:pt idx="0">
                        <c:v>Column6</c:v>
                      </c:pt>
                    </c:strCache>
                  </c:strRef>
                </c:tx>
                <c:spPr>
                  <a:solidFill>
                    <a:schemeClr val="accent6"/>
                  </a:solidFill>
                  <a:ln>
                    <a:noFill/>
                  </a:ln>
                  <a:effectLst/>
                </c:spPr>
                <c:invertIfNegative val="0"/>
                <c:cat>
                  <c:strRef>
                    <c:extLst>
                      <c:ext uri="{02D57815-91ED-43cb-92C2-25804820EDAC}">
                        <c15:formulaRef>
                          <c15:sqref>Sheet1!$A$2:$A$13</c15:sqref>
                        </c15:formulaRef>
                      </c:ext>
                    </c:extLst>
                    <c:strCache>
                      <c:ptCount val="12"/>
                      <c:pt idx="0">
                        <c:v>April</c:v>
                      </c:pt>
                      <c:pt idx="1">
                        <c:v>May</c:v>
                      </c:pt>
                      <c:pt idx="2">
                        <c:v>June</c:v>
                      </c:pt>
                      <c:pt idx="3">
                        <c:v>July</c:v>
                      </c:pt>
                      <c:pt idx="4">
                        <c:v>August</c:v>
                      </c:pt>
                      <c:pt idx="5">
                        <c:v>September</c:v>
                      </c:pt>
                      <c:pt idx="6">
                        <c:v>October</c:v>
                      </c:pt>
                      <c:pt idx="7">
                        <c:v>November</c:v>
                      </c:pt>
                      <c:pt idx="8">
                        <c:v>December</c:v>
                      </c:pt>
                      <c:pt idx="9">
                        <c:v>January</c:v>
                      </c:pt>
                      <c:pt idx="10">
                        <c:v>February</c:v>
                      </c:pt>
                      <c:pt idx="11">
                        <c:v>March</c:v>
                      </c:pt>
                    </c:strCache>
                  </c:strRef>
                </c:cat>
                <c:val>
                  <c:numRef>
                    <c:extLst>
                      <c:ext uri="{02D57815-91ED-43cb-92C2-25804820EDAC}">
                        <c15:formulaRef>
                          <c15:sqref>Sheet1!$G$2:$G$13</c15:sqref>
                        </c15:formulaRef>
                      </c:ext>
                    </c:extLst>
                    <c:numCache>
                      <c:formatCode>General</c:formatCode>
                      <c:ptCount val="12"/>
                    </c:numCache>
                  </c:numRef>
                </c:val>
                <c:extLst>
                  <c:ext xmlns:c16="http://schemas.microsoft.com/office/drawing/2014/chart" uri="{C3380CC4-5D6E-409C-BE32-E72D297353CC}">
                    <c16:uniqueId val="{00000005-6DB3-46B2-A981-4E2972049B0A}"/>
                  </c:ext>
                </c:extLst>
              </c15:ser>
            </c15:filteredBarSeries>
            <c15:filteredBarSeries>
              <c15:ser>
                <c:idx val="6"/>
                <c:order val="6"/>
                <c:tx>
                  <c:strRef>
                    <c:extLst xmlns:c15="http://schemas.microsoft.com/office/drawing/2012/chart">
                      <c:ext xmlns:c15="http://schemas.microsoft.com/office/drawing/2012/chart" uri="{02D57815-91ED-43cb-92C2-25804820EDAC}">
                        <c15:formulaRef>
                          <c15:sqref>Sheet1!$H$1</c15:sqref>
                        </c15:formulaRef>
                      </c:ext>
                    </c:extLst>
                    <c:strCache>
                      <c:ptCount val="1"/>
                      <c:pt idx="0">
                        <c:v>Column7</c:v>
                      </c:pt>
                    </c:strCache>
                  </c:strRef>
                </c:tx>
                <c:spPr>
                  <a:solidFill>
                    <a:schemeClr val="accent1">
                      <a:lumMod val="60000"/>
                    </a:schemeClr>
                  </a:solidFill>
                  <a:ln>
                    <a:noFill/>
                  </a:ln>
                  <a:effectLst/>
                </c:spPr>
                <c:invertIfNegative val="0"/>
                <c:cat>
                  <c:strRef>
                    <c:extLst xmlns:c15="http://schemas.microsoft.com/office/drawing/2012/chart">
                      <c:ext xmlns:c15="http://schemas.microsoft.com/office/drawing/2012/chart" uri="{02D57815-91ED-43cb-92C2-25804820EDAC}">
                        <c15:formulaRef>
                          <c15:sqref>Sheet1!$A$2:$A$13</c15:sqref>
                        </c15:formulaRef>
                      </c:ext>
                    </c:extLst>
                    <c:strCache>
                      <c:ptCount val="12"/>
                      <c:pt idx="0">
                        <c:v>April</c:v>
                      </c:pt>
                      <c:pt idx="1">
                        <c:v>May</c:v>
                      </c:pt>
                      <c:pt idx="2">
                        <c:v>June</c:v>
                      </c:pt>
                      <c:pt idx="3">
                        <c:v>July</c:v>
                      </c:pt>
                      <c:pt idx="4">
                        <c:v>August</c:v>
                      </c:pt>
                      <c:pt idx="5">
                        <c:v>September</c:v>
                      </c:pt>
                      <c:pt idx="6">
                        <c:v>October</c:v>
                      </c:pt>
                      <c:pt idx="7">
                        <c:v>November</c:v>
                      </c:pt>
                      <c:pt idx="8">
                        <c:v>December</c:v>
                      </c:pt>
                      <c:pt idx="9">
                        <c:v>January</c:v>
                      </c:pt>
                      <c:pt idx="10">
                        <c:v>February</c:v>
                      </c:pt>
                      <c:pt idx="11">
                        <c:v>March</c:v>
                      </c:pt>
                    </c:strCache>
                  </c:strRef>
                </c:cat>
                <c:val>
                  <c:numRef>
                    <c:extLst xmlns:c15="http://schemas.microsoft.com/office/drawing/2012/chart">
                      <c:ext xmlns:c15="http://schemas.microsoft.com/office/drawing/2012/chart" uri="{02D57815-91ED-43cb-92C2-25804820EDAC}">
                        <c15:formulaRef>
                          <c15:sqref>Sheet1!$H$2:$H$13</c15:sqref>
                        </c15:formulaRef>
                      </c:ext>
                    </c:extLst>
                    <c:numCache>
                      <c:formatCode>General</c:formatCode>
                      <c:ptCount val="12"/>
                    </c:numCache>
                  </c:numRef>
                </c:val>
                <c:extLst xmlns:c15="http://schemas.microsoft.com/office/drawing/2012/chart">
                  <c:ext xmlns:c16="http://schemas.microsoft.com/office/drawing/2014/chart" uri="{C3380CC4-5D6E-409C-BE32-E72D297353CC}">
                    <c16:uniqueId val="{00000006-6DB3-46B2-A981-4E2972049B0A}"/>
                  </c:ext>
                </c:extLst>
              </c15:ser>
            </c15:filteredBarSeries>
            <c15:filteredBarSeries>
              <c15:ser>
                <c:idx val="7"/>
                <c:order val="7"/>
                <c:tx>
                  <c:strRef>
                    <c:extLst xmlns:c15="http://schemas.microsoft.com/office/drawing/2012/chart">
                      <c:ext xmlns:c15="http://schemas.microsoft.com/office/drawing/2012/chart" uri="{02D57815-91ED-43cb-92C2-25804820EDAC}">
                        <c15:formulaRef>
                          <c15:sqref>Sheet1!$I$1</c15:sqref>
                        </c15:formulaRef>
                      </c:ext>
                    </c:extLst>
                    <c:strCache>
                      <c:ptCount val="1"/>
                      <c:pt idx="0">
                        <c:v>Column8</c:v>
                      </c:pt>
                    </c:strCache>
                  </c:strRef>
                </c:tx>
                <c:spPr>
                  <a:solidFill>
                    <a:schemeClr val="accent2">
                      <a:lumMod val="60000"/>
                    </a:schemeClr>
                  </a:solidFill>
                  <a:ln>
                    <a:noFill/>
                  </a:ln>
                  <a:effectLst/>
                </c:spPr>
                <c:invertIfNegative val="0"/>
                <c:cat>
                  <c:strRef>
                    <c:extLst xmlns:c15="http://schemas.microsoft.com/office/drawing/2012/chart">
                      <c:ext xmlns:c15="http://schemas.microsoft.com/office/drawing/2012/chart" uri="{02D57815-91ED-43cb-92C2-25804820EDAC}">
                        <c15:formulaRef>
                          <c15:sqref>Sheet1!$A$2:$A$13</c15:sqref>
                        </c15:formulaRef>
                      </c:ext>
                    </c:extLst>
                    <c:strCache>
                      <c:ptCount val="12"/>
                      <c:pt idx="0">
                        <c:v>April</c:v>
                      </c:pt>
                      <c:pt idx="1">
                        <c:v>May</c:v>
                      </c:pt>
                      <c:pt idx="2">
                        <c:v>June</c:v>
                      </c:pt>
                      <c:pt idx="3">
                        <c:v>July</c:v>
                      </c:pt>
                      <c:pt idx="4">
                        <c:v>August</c:v>
                      </c:pt>
                      <c:pt idx="5">
                        <c:v>September</c:v>
                      </c:pt>
                      <c:pt idx="6">
                        <c:v>October</c:v>
                      </c:pt>
                      <c:pt idx="7">
                        <c:v>November</c:v>
                      </c:pt>
                      <c:pt idx="8">
                        <c:v>December</c:v>
                      </c:pt>
                      <c:pt idx="9">
                        <c:v>January</c:v>
                      </c:pt>
                      <c:pt idx="10">
                        <c:v>February</c:v>
                      </c:pt>
                      <c:pt idx="11">
                        <c:v>March</c:v>
                      </c:pt>
                    </c:strCache>
                  </c:strRef>
                </c:cat>
                <c:val>
                  <c:numRef>
                    <c:extLst xmlns:c15="http://schemas.microsoft.com/office/drawing/2012/chart">
                      <c:ext xmlns:c15="http://schemas.microsoft.com/office/drawing/2012/chart" uri="{02D57815-91ED-43cb-92C2-25804820EDAC}">
                        <c15:formulaRef>
                          <c15:sqref>Sheet1!$I$2:$I$13</c15:sqref>
                        </c15:formulaRef>
                      </c:ext>
                    </c:extLst>
                    <c:numCache>
                      <c:formatCode>General</c:formatCode>
                      <c:ptCount val="12"/>
                    </c:numCache>
                  </c:numRef>
                </c:val>
                <c:extLst xmlns:c15="http://schemas.microsoft.com/office/drawing/2012/chart">
                  <c:ext xmlns:c16="http://schemas.microsoft.com/office/drawing/2014/chart" uri="{C3380CC4-5D6E-409C-BE32-E72D297353CC}">
                    <c16:uniqueId val="{00000007-6DB3-46B2-A981-4E2972049B0A}"/>
                  </c:ext>
                </c:extLst>
              </c15:ser>
            </c15:filteredBarSeries>
          </c:ext>
        </c:extLst>
      </c:barChart>
      <c:catAx>
        <c:axId val="698965632"/>
        <c:scaling>
          <c:orientation val="minMax"/>
        </c:scaling>
        <c:delete val="1"/>
        <c:axPos val="b"/>
        <c:numFmt formatCode="General" sourceLinked="1"/>
        <c:majorTickMark val="out"/>
        <c:minorTickMark val="none"/>
        <c:tickLblPos val="nextTo"/>
        <c:crossAx val="69233087"/>
        <c:crosses val="autoZero"/>
        <c:auto val="1"/>
        <c:lblAlgn val="ctr"/>
        <c:lblOffset val="100"/>
        <c:noMultiLvlLbl val="0"/>
      </c:catAx>
      <c:valAx>
        <c:axId val="69233087"/>
        <c:scaling>
          <c:orientation val="minMax"/>
          <c:max val="8000"/>
        </c:scaling>
        <c:delete val="0"/>
        <c:axPos val="l"/>
        <c:numFmt formatCode="_(* #,##0_);_(* \(#,##0\);_(* &quot; - &quot;_);_(* @_)" sourceLinked="1"/>
        <c:majorTickMark val="none"/>
        <c:minorTickMark val="none"/>
        <c:tickLblPos val="nextTo"/>
        <c:spPr>
          <a:noFill/>
          <a:ln>
            <a:noFill/>
          </a:ln>
          <a:effectLst/>
        </c:spPr>
        <c:txPr>
          <a:bodyPr rot="-60000000" spcFirstLastPara="1" vertOverflow="ellipsis" vert="horz" wrap="square" anchor="ctr" anchorCtr="1"/>
          <a:lstStyle/>
          <a:p>
            <a:pPr>
              <a:defRPr lang="ja-JP" sz="800" b="0" i="0" u="none" strike="noStrike" kern="1200" baseline="0">
                <a:solidFill>
                  <a:prstClr val="black"/>
                </a:solidFill>
                <a:latin typeface="Arial" panose="020B0604020202020204" pitchFamily="34" charset="0"/>
                <a:ea typeface="+mn-ea"/>
                <a:cs typeface="Arial" panose="020B0604020202020204" pitchFamily="34" charset="0"/>
              </a:defRPr>
            </a:pPr>
            <a:endParaRPr lang="en-US"/>
          </a:p>
        </c:txPr>
        <c:crossAx val="698965632"/>
        <c:crosses val="autoZero"/>
        <c:crossBetween val="between"/>
      </c:valAx>
      <c:spPr>
        <a:noFill/>
        <a:ln>
          <a:noFill/>
        </a:ln>
        <a:effectLst/>
      </c:spPr>
    </c:plotArea>
    <c:legend>
      <c:legendPos val="r"/>
      <c:layout>
        <c:manualLayout>
          <c:xMode val="edge"/>
          <c:yMode val="edge"/>
          <c:x val="2.7886498606374686E-2"/>
          <c:y val="0.91175036265062182"/>
          <c:w val="0.94329682674963933"/>
          <c:h val="8.6907942057236245E-2"/>
        </c:manualLayout>
      </c:layout>
      <c:overlay val="0"/>
      <c:spPr>
        <a:noFill/>
        <a:ln>
          <a:noFill/>
        </a:ln>
        <a:effectLst/>
      </c:spPr>
      <c:txPr>
        <a:bodyPr rot="0" spcFirstLastPara="1" vertOverflow="ellipsis" vert="horz" wrap="square" anchor="ctr" anchorCtr="1"/>
        <a:lstStyle/>
        <a:p>
          <a:pPr>
            <a:defRPr lang="ja-JP" sz="800" b="0" i="0" u="none" strike="noStrike" kern="1200" baseline="0">
              <a:solidFill>
                <a:prstClr val="black"/>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lang="en-US" sz="800" kern="1200">
          <a:solidFill>
            <a:prstClr val="black"/>
          </a:solidFill>
          <a:latin typeface="Arial" panose="020B0604020202020204" pitchFamily="34" charset="0"/>
          <a:ea typeface="+mn-ea"/>
          <a:cs typeface="Arial" panose="020B0604020202020204" pitchFamily="34" charset="0"/>
        </a:defRPr>
      </a:pPr>
      <a:endParaRPr lang="en-US"/>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4971627619227901E-2"/>
          <c:y val="0.18221444424088454"/>
          <c:w val="0.95005674476154423"/>
          <c:h val="0.7090350278200912"/>
        </c:manualLayout>
      </c:layout>
      <c:barChart>
        <c:barDir val="col"/>
        <c:grouping val="clustered"/>
        <c:varyColors val="0"/>
        <c:ser>
          <c:idx val="0"/>
          <c:order val="0"/>
          <c:tx>
            <c:strRef>
              <c:f>Sheet1!$B$1</c:f>
              <c:strCache>
                <c:ptCount val="1"/>
                <c:pt idx="0">
                  <c:v>Short-term transactions (BU)</c:v>
                </c:pt>
              </c:strCache>
            </c:strRef>
          </c:tx>
          <c:spPr>
            <a:solidFill>
              <a:schemeClr val="accent6"/>
            </a:solidFill>
            <a:ln>
              <a:noFill/>
            </a:ln>
            <a:effectLst/>
          </c:spPr>
          <c:invertIfNegative val="0"/>
          <c:dLbls>
            <c:spPr>
              <a:noFill/>
              <a:ln>
                <a:noFill/>
              </a:ln>
              <a:effectLst/>
            </c:spPr>
            <c:txPr>
              <a:bodyPr rot="0" spcFirstLastPara="1" vertOverflow="ellipsis" vert="horz" wrap="square" anchor="ctr" anchorCtr="1"/>
              <a:lstStyle/>
              <a:p>
                <a:pPr>
                  <a:defRPr lang="ja-JP" sz="1100" b="1"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Sheet1!$A$2:$A$9</c:f>
              <c:strCache>
                <c:ptCount val="8"/>
                <c:pt idx="0">
                  <c:v>FY10</c:v>
                </c:pt>
                <c:pt idx="1">
                  <c:v>FY15</c:v>
                </c:pt>
                <c:pt idx="2">
                  <c:v>FY20</c:v>
                </c:pt>
                <c:pt idx="3">
                  <c:v>FY21</c:v>
                </c:pt>
                <c:pt idx="4">
                  <c:v>FY22</c:v>
                </c:pt>
                <c:pt idx="5">
                  <c:v>FY23</c:v>
                </c:pt>
                <c:pt idx="6">
                  <c:v>FY24</c:v>
                </c:pt>
                <c:pt idx="7">
                  <c:v>FY25</c:v>
                </c:pt>
              </c:strCache>
            </c:strRef>
          </c:cat>
          <c:val>
            <c:numRef>
              <c:f>Sheet1!$B$2:$B$9</c:f>
              <c:numCache>
                <c:formatCode>_(* #,##0_);_(* \(#,##0\);_(* "-"??_);_(@_)</c:formatCode>
                <c:ptCount val="8"/>
                <c:pt idx="0">
                  <c:v>65.900000000000006</c:v>
                </c:pt>
                <c:pt idx="1">
                  <c:v>98.99</c:v>
                </c:pt>
                <c:pt idx="2">
                  <c:v>137.16</c:v>
                </c:pt>
                <c:pt idx="3">
                  <c:v>146.01</c:v>
                </c:pt>
                <c:pt idx="4">
                  <c:v>186.75</c:v>
                </c:pt>
                <c:pt idx="5">
                  <c:v>194.35</c:v>
                </c:pt>
                <c:pt idx="6" formatCode="0">
                  <c:v>217</c:v>
                </c:pt>
                <c:pt idx="7" formatCode="0">
                  <c:v>258.55399999999997</c:v>
                </c:pt>
              </c:numCache>
            </c:numRef>
          </c:val>
          <c:extLst>
            <c:ext xmlns:c16="http://schemas.microsoft.com/office/drawing/2014/chart" uri="{C3380CC4-5D6E-409C-BE32-E72D297353CC}">
              <c16:uniqueId val="{00000000-D785-44C6-98AB-5F3AAFE53AE9}"/>
            </c:ext>
          </c:extLst>
        </c:ser>
        <c:dLbls>
          <c:dLblPos val="outEnd"/>
          <c:showLegendKey val="0"/>
          <c:showVal val="1"/>
          <c:showCatName val="0"/>
          <c:showSerName val="0"/>
          <c:showPercent val="0"/>
          <c:showBubbleSize val="0"/>
        </c:dLbls>
        <c:gapWidth val="100"/>
        <c:axId val="1818018863"/>
        <c:axId val="2062487647"/>
        <c:extLst/>
      </c:barChart>
      <c:lineChart>
        <c:grouping val="standard"/>
        <c:varyColors val="0"/>
        <c:ser>
          <c:idx val="1"/>
          <c:order val="1"/>
          <c:tx>
            <c:strRef>
              <c:f>Sheet1!$C$1</c:f>
              <c:strCache>
                <c:ptCount val="1"/>
                <c:pt idx="0">
                  <c:v>% of total electricity generation</c:v>
                </c:pt>
              </c:strCache>
            </c:strRef>
          </c:tx>
          <c:spPr>
            <a:ln w="22225" cap="rnd">
              <a:solidFill>
                <a:srgbClr val="C00000"/>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lang="ja-JP" sz="1000" b="1"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Sheet1!$A$2:$A$9</c:f>
              <c:strCache>
                <c:ptCount val="8"/>
                <c:pt idx="0">
                  <c:v>FY10</c:v>
                </c:pt>
                <c:pt idx="1">
                  <c:v>FY15</c:v>
                </c:pt>
                <c:pt idx="2">
                  <c:v>FY20</c:v>
                </c:pt>
                <c:pt idx="3">
                  <c:v>FY21</c:v>
                </c:pt>
                <c:pt idx="4">
                  <c:v>FY22</c:v>
                </c:pt>
                <c:pt idx="5">
                  <c:v>FY23</c:v>
                </c:pt>
                <c:pt idx="6">
                  <c:v>FY24</c:v>
                </c:pt>
                <c:pt idx="7">
                  <c:v>FY25</c:v>
                </c:pt>
              </c:strCache>
            </c:strRef>
          </c:cat>
          <c:val>
            <c:numRef>
              <c:f>Sheet1!$C$2:$C$9</c:f>
              <c:numCache>
                <c:formatCode>0%</c:formatCode>
                <c:ptCount val="8"/>
                <c:pt idx="0">
                  <c:v>8.1863354037267091E-2</c:v>
                </c:pt>
                <c:pt idx="1">
                  <c:v>8.9180180180180174E-2</c:v>
                </c:pt>
                <c:pt idx="2">
                  <c:v>9.8676258992805757E-2</c:v>
                </c:pt>
                <c:pt idx="3">
                  <c:v>0.10572773352643011</c:v>
                </c:pt>
                <c:pt idx="4">
                  <c:v>0.12525150905432594</c:v>
                </c:pt>
                <c:pt idx="5">
                  <c:v>0.11967364532019704</c:v>
                </c:pt>
                <c:pt idx="6">
                  <c:v>0.12587006960556846</c:v>
                </c:pt>
                <c:pt idx="7">
                  <c:v>0.14173448698103497</c:v>
                </c:pt>
              </c:numCache>
            </c:numRef>
          </c:val>
          <c:smooth val="1"/>
          <c:extLst>
            <c:ext xmlns:c16="http://schemas.microsoft.com/office/drawing/2014/chart" uri="{C3380CC4-5D6E-409C-BE32-E72D297353CC}">
              <c16:uniqueId val="{00000001-D785-44C6-98AB-5F3AAFE53AE9}"/>
            </c:ext>
          </c:extLst>
        </c:ser>
        <c:dLbls>
          <c:showLegendKey val="0"/>
          <c:showVal val="0"/>
          <c:showCatName val="0"/>
          <c:showSerName val="0"/>
          <c:showPercent val="0"/>
          <c:showBubbleSize val="0"/>
        </c:dLbls>
        <c:marker val="1"/>
        <c:smooth val="0"/>
        <c:axId val="2108423247"/>
        <c:axId val="2100653183"/>
      </c:lineChart>
      <c:catAx>
        <c:axId val="1818018863"/>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cap="all" spc="120" normalizeH="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2062487647"/>
        <c:crosses val="autoZero"/>
        <c:auto val="1"/>
        <c:lblAlgn val="ctr"/>
        <c:lblOffset val="100"/>
        <c:noMultiLvlLbl val="0"/>
      </c:catAx>
      <c:valAx>
        <c:axId val="2062487647"/>
        <c:scaling>
          <c:orientation val="minMax"/>
          <c:max val="300"/>
        </c:scaling>
        <c:delete val="0"/>
        <c:axPos val="l"/>
        <c:numFmt formatCode="_(* #,##0_);_(* \(#,##0\);_(* &quot;-&quot;??_);_(@_)"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lang="ja-JP" sz="1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1818018863"/>
        <c:crosses val="autoZero"/>
        <c:crossBetween val="between"/>
      </c:valAx>
      <c:valAx>
        <c:axId val="2100653183"/>
        <c:scaling>
          <c:orientation val="minMax"/>
          <c:max val="0.15000000000000002"/>
        </c:scaling>
        <c:delete val="0"/>
        <c:axPos val="r"/>
        <c:numFmt formatCode="0%"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lang="ja-JP" sz="1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2108423247"/>
        <c:crosses val="max"/>
        <c:crossBetween val="between"/>
      </c:valAx>
      <c:catAx>
        <c:axId val="2108423247"/>
        <c:scaling>
          <c:orientation val="minMax"/>
        </c:scaling>
        <c:delete val="1"/>
        <c:axPos val="t"/>
        <c:numFmt formatCode="General" sourceLinked="1"/>
        <c:majorTickMark val="out"/>
        <c:minorTickMark val="none"/>
        <c:tickLblPos val="nextTo"/>
        <c:crossAx val="2100653183"/>
        <c:crosses val="max"/>
        <c:auto val="1"/>
        <c:lblAlgn val="ctr"/>
        <c:lblOffset val="100"/>
        <c:noMultiLvlLbl val="0"/>
      </c:cat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Calibri" panose="020F0502020204030204" pitchFamily="34" charset="0"/>
          <a:cs typeface="Calibri" panose="020F0502020204030204" pitchFamily="34" charset="0"/>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609030906029768E-2"/>
          <c:y val="7.0084573066052078E-2"/>
          <c:w val="0.93678193818794042"/>
          <c:h val="0.61115556055098241"/>
        </c:manualLayout>
      </c:layout>
      <c:barChart>
        <c:barDir val="col"/>
        <c:grouping val="percentStacked"/>
        <c:varyColors val="0"/>
        <c:ser>
          <c:idx val="0"/>
          <c:order val="0"/>
          <c:tx>
            <c:strRef>
              <c:f>Sheet1!$B$1</c:f>
              <c:strCache>
                <c:ptCount val="1"/>
                <c:pt idx="0">
                  <c:v>IEX</c:v>
                </c:pt>
              </c:strCache>
            </c:strRef>
          </c:tx>
          <c:spPr>
            <a:solidFill>
              <a:schemeClr val="bg1">
                <a:lumMod val="50000"/>
              </a:schemeClr>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DAM</c:v>
                </c:pt>
                <c:pt idx="1">
                  <c:v>RTM </c:v>
                </c:pt>
                <c:pt idx="2">
                  <c:v>TAM</c:v>
                </c:pt>
                <c:pt idx="3">
                  <c:v>GDAM</c:v>
                </c:pt>
                <c:pt idx="4">
                  <c:v>DAC &amp; ID</c:v>
                </c:pt>
                <c:pt idx="5">
                  <c:v>Others</c:v>
                </c:pt>
              </c:strCache>
            </c:strRef>
          </c:cat>
          <c:val>
            <c:numRef>
              <c:f>Sheet1!$B$2:$B$7</c:f>
              <c:numCache>
                <c:formatCode>_(* #,##0%_);_(* \(#,##0%\);_(* " - "_);_(* @_)</c:formatCode>
                <c:ptCount val="6"/>
                <c:pt idx="0">
                  <c:v>0.999071953918792</c:v>
                </c:pt>
                <c:pt idx="1">
                  <c:v>0.99732121432131282</c:v>
                </c:pt>
                <c:pt idx="2">
                  <c:v>0.38283570023921487</c:v>
                </c:pt>
                <c:pt idx="3">
                  <c:v>0.99991107254917755</c:v>
                </c:pt>
                <c:pt idx="4">
                  <c:v>0.26640750747675579</c:v>
                </c:pt>
                <c:pt idx="5">
                  <c:v>0.21062994073590374</c:v>
                </c:pt>
              </c:numCache>
            </c:numRef>
          </c:val>
          <c:extLst>
            <c:ext xmlns:c16="http://schemas.microsoft.com/office/drawing/2014/chart" uri="{C3380CC4-5D6E-409C-BE32-E72D297353CC}">
              <c16:uniqueId val="{00000000-36C0-4F75-99D8-42B5BDC0CE09}"/>
            </c:ext>
          </c:extLst>
        </c:ser>
        <c:ser>
          <c:idx val="1"/>
          <c:order val="1"/>
          <c:tx>
            <c:strRef>
              <c:f>Sheet1!$C$1</c:f>
              <c:strCache>
                <c:ptCount val="1"/>
                <c:pt idx="0">
                  <c:v>PXIL</c:v>
                </c:pt>
              </c:strCache>
            </c:strRef>
          </c:tx>
          <c:spPr>
            <a:solidFill>
              <a:srgbClr val="00A3E0"/>
            </a:solidFill>
            <a:ln>
              <a:noFill/>
            </a:ln>
            <a:effectLst/>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1-36C0-4F75-99D8-42B5BDC0CE09}"/>
                </c:ext>
              </c:extLst>
            </c:dLbl>
            <c:dLbl>
              <c:idx val="1"/>
              <c:delete val="1"/>
              <c:extLst>
                <c:ext xmlns:c15="http://schemas.microsoft.com/office/drawing/2012/chart" uri="{CE6537A1-D6FC-4f65-9D91-7224C49458BB}"/>
                <c:ext xmlns:c16="http://schemas.microsoft.com/office/drawing/2014/chart" uri="{C3380CC4-5D6E-409C-BE32-E72D297353CC}">
                  <c16:uniqueId val="{00000002-36C0-4F75-99D8-42B5BDC0CE09}"/>
                </c:ext>
              </c:extLst>
            </c:dLbl>
            <c:dLbl>
              <c:idx val="3"/>
              <c:delete val="1"/>
              <c:extLst>
                <c:ext xmlns:c15="http://schemas.microsoft.com/office/drawing/2012/chart" uri="{CE6537A1-D6FC-4f65-9D91-7224C49458BB}"/>
                <c:ext xmlns:c16="http://schemas.microsoft.com/office/drawing/2014/chart" uri="{C3380CC4-5D6E-409C-BE32-E72D297353CC}">
                  <c16:uniqueId val="{00000003-36C0-4F75-99D8-42B5BDC0CE09}"/>
                </c:ext>
              </c:extLst>
            </c:dLbl>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DAM</c:v>
                </c:pt>
                <c:pt idx="1">
                  <c:v>RTM </c:v>
                </c:pt>
                <c:pt idx="2">
                  <c:v>TAM</c:v>
                </c:pt>
                <c:pt idx="3">
                  <c:v>GDAM</c:v>
                </c:pt>
                <c:pt idx="4">
                  <c:v>DAC &amp; ID</c:v>
                </c:pt>
                <c:pt idx="5">
                  <c:v>Others</c:v>
                </c:pt>
              </c:strCache>
            </c:strRef>
          </c:cat>
          <c:val>
            <c:numRef>
              <c:f>Sheet1!$C$2:$C$7</c:f>
              <c:numCache>
                <c:formatCode>_(* #,##0%_);_(* \(#,##0%\);_(* " - "_);_(* @_)</c:formatCode>
                <c:ptCount val="6"/>
                <c:pt idx="0">
                  <c:v>9.1858288277087662E-4</c:v>
                </c:pt>
                <c:pt idx="1">
                  <c:v>1.4225841449933448E-3</c:v>
                </c:pt>
                <c:pt idx="2">
                  <c:v>0.38331837831182258</c:v>
                </c:pt>
                <c:pt idx="3">
                  <c:v>8.8927450822518826E-5</c:v>
                </c:pt>
                <c:pt idx="4">
                  <c:v>0.48691337991371858</c:v>
                </c:pt>
                <c:pt idx="5">
                  <c:v>0.34501795731797813</c:v>
                </c:pt>
              </c:numCache>
            </c:numRef>
          </c:val>
          <c:extLst>
            <c:ext xmlns:c16="http://schemas.microsoft.com/office/drawing/2014/chart" uri="{C3380CC4-5D6E-409C-BE32-E72D297353CC}">
              <c16:uniqueId val="{00000004-36C0-4F75-99D8-42B5BDC0CE09}"/>
            </c:ext>
          </c:extLst>
        </c:ser>
        <c:ser>
          <c:idx val="2"/>
          <c:order val="2"/>
          <c:tx>
            <c:strRef>
              <c:f>Sheet1!$D$1</c:f>
              <c:strCache>
                <c:ptCount val="1"/>
                <c:pt idx="0">
                  <c:v>HPX</c:v>
                </c:pt>
              </c:strCache>
            </c:strRef>
          </c:tx>
          <c:spPr>
            <a:solidFill>
              <a:schemeClr val="accent6">
                <a:lumMod val="75000"/>
              </a:schemeClr>
            </a:solidFill>
            <a:ln>
              <a:noFill/>
            </a:ln>
            <a:effectLst/>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5-36C0-4F75-99D8-42B5BDC0CE09}"/>
                </c:ext>
              </c:extLst>
            </c:dLbl>
            <c:dLbl>
              <c:idx val="1"/>
              <c:delete val="1"/>
              <c:extLst>
                <c:ext xmlns:c15="http://schemas.microsoft.com/office/drawing/2012/chart" uri="{CE6537A1-D6FC-4f65-9D91-7224C49458BB}"/>
                <c:ext xmlns:c16="http://schemas.microsoft.com/office/drawing/2014/chart" uri="{C3380CC4-5D6E-409C-BE32-E72D297353CC}">
                  <c16:uniqueId val="{00000006-36C0-4F75-99D8-42B5BDC0CE09}"/>
                </c:ext>
              </c:extLst>
            </c:dLbl>
            <c:dLbl>
              <c:idx val="3"/>
              <c:delete val="1"/>
              <c:extLst>
                <c:ext xmlns:c15="http://schemas.microsoft.com/office/drawing/2012/chart" uri="{CE6537A1-D6FC-4f65-9D91-7224C49458BB}"/>
                <c:ext xmlns:c16="http://schemas.microsoft.com/office/drawing/2014/chart" uri="{C3380CC4-5D6E-409C-BE32-E72D297353CC}">
                  <c16:uniqueId val="{00000007-36C0-4F75-99D8-42B5BDC0CE09}"/>
                </c:ext>
              </c:extLst>
            </c:dLbl>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DAM</c:v>
                </c:pt>
                <c:pt idx="1">
                  <c:v>RTM </c:v>
                </c:pt>
                <c:pt idx="2">
                  <c:v>TAM</c:v>
                </c:pt>
                <c:pt idx="3">
                  <c:v>GDAM</c:v>
                </c:pt>
                <c:pt idx="4">
                  <c:v>DAC &amp; ID</c:v>
                </c:pt>
                <c:pt idx="5">
                  <c:v>Others</c:v>
                </c:pt>
              </c:strCache>
            </c:strRef>
          </c:cat>
          <c:val>
            <c:numRef>
              <c:f>Sheet1!$D$2:$D$7</c:f>
              <c:numCache>
                <c:formatCode>_(* #,##0%_);_(* \(#,##0%\);_(* " - "_);_(* @_)</c:formatCode>
                <c:ptCount val="6"/>
                <c:pt idx="0">
                  <c:v>9.4631984370711987E-6</c:v>
                </c:pt>
                <c:pt idx="1">
                  <c:v>1.2562015336938885E-3</c:v>
                </c:pt>
                <c:pt idx="2">
                  <c:v>0.23384592144896257</c:v>
                </c:pt>
                <c:pt idx="3">
                  <c:v>0</c:v>
                </c:pt>
                <c:pt idx="4">
                  <c:v>0.24667911260952566</c:v>
                </c:pt>
                <c:pt idx="5">
                  <c:v>0.44435210194611813</c:v>
                </c:pt>
              </c:numCache>
            </c:numRef>
          </c:val>
          <c:extLst>
            <c:ext xmlns:c16="http://schemas.microsoft.com/office/drawing/2014/chart" uri="{C3380CC4-5D6E-409C-BE32-E72D297353CC}">
              <c16:uniqueId val="{00000008-36C0-4F75-99D8-42B5BDC0CE09}"/>
            </c:ext>
          </c:extLst>
        </c:ser>
        <c:dLbls>
          <c:dLblPos val="ctr"/>
          <c:showLegendKey val="0"/>
          <c:showVal val="1"/>
          <c:showCatName val="0"/>
          <c:showSerName val="0"/>
          <c:showPercent val="0"/>
          <c:showBubbleSize val="0"/>
        </c:dLbls>
        <c:gapWidth val="150"/>
        <c:overlap val="100"/>
        <c:axId val="1812028192"/>
        <c:axId val="967276256"/>
      </c:barChart>
      <c:catAx>
        <c:axId val="181202819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crossAx val="967276256"/>
        <c:crosses val="autoZero"/>
        <c:auto val="1"/>
        <c:lblAlgn val="ctr"/>
        <c:lblOffset val="100"/>
        <c:noMultiLvlLbl val="0"/>
      </c:catAx>
      <c:valAx>
        <c:axId val="967276256"/>
        <c:scaling>
          <c:orientation val="minMax"/>
        </c:scaling>
        <c:delete val="1"/>
        <c:axPos val="l"/>
        <c:numFmt formatCode="0%" sourceLinked="1"/>
        <c:majorTickMark val="none"/>
        <c:minorTickMark val="none"/>
        <c:tickLblPos val="nextTo"/>
        <c:crossAx val="1812028192"/>
        <c:crosses val="autoZero"/>
        <c:crossBetween val="between"/>
      </c:valAx>
      <c:spPr>
        <a:noFill/>
        <a:ln>
          <a:noFill/>
        </a:ln>
        <a:effectLst/>
      </c:spPr>
    </c:plotArea>
    <c:legend>
      <c:legendPos val="b"/>
      <c:layout>
        <c:manualLayout>
          <c:xMode val="edge"/>
          <c:yMode val="edge"/>
          <c:x val="0.36055192355926446"/>
          <c:y val="0.88189871456311963"/>
          <c:w val="0.27314886360216695"/>
          <c:h val="0.11521211494873342"/>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solidFill>
            <a:schemeClr val="bg1"/>
          </a:solidFill>
          <a:latin typeface="Arial" panose="020B0604020202020204" pitchFamily="34" charset="0"/>
          <a:cs typeface="Arial" panose="020B0604020202020204" pitchFamily="34" charset="0"/>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6816528195501547"/>
          <c:y val="0.16868987446616809"/>
          <c:w val="0.4804959230134348"/>
          <c:h val="0.68782028231307624"/>
        </c:manualLayout>
      </c:layout>
      <c:pieChart>
        <c:varyColors val="0"/>
        <c:ser>
          <c:idx val="0"/>
          <c:order val="0"/>
          <c:spPr>
            <a:solidFill>
              <a:schemeClr val="accent1"/>
            </a:solidFill>
            <a:ln w="19050">
              <a:solidFill>
                <a:schemeClr val="lt1"/>
              </a:solidFill>
            </a:ln>
            <a:effectLst/>
          </c:spPr>
          <c:dPt>
            <c:idx val="0"/>
            <c:bubble3D val="0"/>
            <c:explosion val="3"/>
            <c:spPr>
              <a:solidFill>
                <a:schemeClr val="bg1">
                  <a:lumMod val="50000"/>
                </a:schemeClr>
              </a:solidFill>
              <a:ln w="19050">
                <a:solidFill>
                  <a:schemeClr val="lt1"/>
                </a:solidFill>
              </a:ln>
              <a:effectLst/>
            </c:spPr>
            <c:extLst>
              <c:ext xmlns:c16="http://schemas.microsoft.com/office/drawing/2014/chart" uri="{C3380CC4-5D6E-409C-BE32-E72D297353CC}">
                <c16:uniqueId val="{00000001-E249-43EE-9BA6-2B8FC28FA331}"/>
              </c:ext>
            </c:extLst>
          </c:dPt>
          <c:dPt>
            <c:idx val="1"/>
            <c:bubble3D val="0"/>
            <c:explosion val="9"/>
            <c:spPr>
              <a:solidFill>
                <a:srgbClr val="00A3E0"/>
              </a:solidFill>
              <a:ln w="19050">
                <a:solidFill>
                  <a:schemeClr val="lt1"/>
                </a:solidFill>
              </a:ln>
              <a:effectLst/>
            </c:spPr>
            <c:extLst>
              <c:ext xmlns:c16="http://schemas.microsoft.com/office/drawing/2014/chart" uri="{C3380CC4-5D6E-409C-BE32-E72D297353CC}">
                <c16:uniqueId val="{00000003-E249-43EE-9BA6-2B8FC28FA331}"/>
              </c:ext>
            </c:extLst>
          </c:dPt>
          <c:dPt>
            <c:idx val="2"/>
            <c:bubble3D val="0"/>
            <c:explosion val="8"/>
            <c:spPr>
              <a:solidFill>
                <a:srgbClr val="003480"/>
              </a:solidFill>
              <a:ln w="19050">
                <a:solidFill>
                  <a:schemeClr val="lt1"/>
                </a:solidFill>
              </a:ln>
              <a:effectLst/>
            </c:spPr>
            <c:extLst>
              <c:ext xmlns:c16="http://schemas.microsoft.com/office/drawing/2014/chart" uri="{C3380CC4-5D6E-409C-BE32-E72D297353CC}">
                <c16:uniqueId val="{00000005-E249-43EE-9BA6-2B8FC28FA331}"/>
              </c:ext>
            </c:extLst>
          </c:dPt>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inEnd"/>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val>
            <c:numRef>
              <c:f>Sheet1!$B$1:$B$3</c:f>
              <c:numCache>
                <c:formatCode>_(* #,##0_);_(* \(#,##0\);_(* " - "_);_(* @_)</c:formatCode>
                <c:ptCount val="3"/>
                <c:pt idx="0">
                  <c:v>120642.75000000001</c:v>
                </c:pt>
                <c:pt idx="1">
                  <c:v>14262.969999999998</c:v>
                </c:pt>
                <c:pt idx="2">
                  <c:v>8771.2799999999988</c:v>
                </c:pt>
              </c:numCache>
            </c:numRef>
          </c:val>
          <c:extLst>
            <c:ext xmlns:c16="http://schemas.microsoft.com/office/drawing/2014/chart" uri="{C3380CC4-5D6E-409C-BE32-E72D297353CC}">
              <c16:uniqueId val="{00000006-E249-43EE-9BA6-2B8FC28FA331}"/>
            </c:ext>
          </c:extLst>
        </c:ser>
        <c:dLbls>
          <c:dLblPos val="bestFit"/>
          <c:showLegendKey val="0"/>
          <c:showVal val="1"/>
          <c:showCatName val="0"/>
          <c:showSerName val="0"/>
          <c:showPercent val="0"/>
          <c:showBubbleSize val="0"/>
          <c:showLeaderLines val="1"/>
        </c:dLbls>
        <c:firstSliceAng val="0"/>
      </c:pieChart>
      <c:spPr>
        <a:noFill/>
        <a:ln>
          <a:noFill/>
        </a:ln>
        <a:effectLst/>
      </c:spPr>
    </c:plotArea>
    <c:plotVisOnly val="0"/>
    <c:dispBlanksAs val="gap"/>
    <c:showDLblsOverMax val="1"/>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681492139386389"/>
          <c:y val="4.5600257372161293E-2"/>
          <c:w val="0.29680742611749744"/>
          <c:h val="0.92703958820454191"/>
        </c:manualLayout>
      </c:layout>
      <c:pieChart>
        <c:varyColors val="1"/>
        <c:ser>
          <c:idx val="0"/>
          <c:order val="0"/>
          <c:tx>
            <c:strRef>
              <c:f>Sheet1!$B$1</c:f>
              <c:strCache>
                <c:ptCount val="1"/>
                <c:pt idx="0">
                  <c:v>FY25</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5716-47C0-832E-78B4CF18A634}"/>
              </c:ext>
            </c:extLst>
          </c:dPt>
          <c:dPt>
            <c:idx val="1"/>
            <c:bubble3D val="0"/>
            <c:spPr>
              <a:solidFill>
                <a:schemeClr val="accent5">
                  <a:lumMod val="60000"/>
                  <a:lumOff val="40000"/>
                </a:schemeClr>
              </a:solidFill>
              <a:ln w="19050">
                <a:solidFill>
                  <a:schemeClr val="lt1"/>
                </a:solidFill>
              </a:ln>
              <a:effectLst/>
            </c:spPr>
            <c:extLst>
              <c:ext xmlns:c16="http://schemas.microsoft.com/office/drawing/2014/chart" uri="{C3380CC4-5D6E-409C-BE32-E72D297353CC}">
                <c16:uniqueId val="{00000003-5716-47C0-832E-78B4CF18A634}"/>
              </c:ext>
            </c:extLst>
          </c:dPt>
          <c:dPt>
            <c:idx val="2"/>
            <c:bubble3D val="0"/>
            <c:spPr>
              <a:solidFill>
                <a:srgbClr val="ED8B00"/>
              </a:solidFill>
              <a:ln w="19050">
                <a:solidFill>
                  <a:schemeClr val="lt1"/>
                </a:solidFill>
              </a:ln>
              <a:effectLst/>
            </c:spPr>
            <c:extLst>
              <c:ext xmlns:c16="http://schemas.microsoft.com/office/drawing/2014/chart" uri="{C3380CC4-5D6E-409C-BE32-E72D297353CC}">
                <c16:uniqueId val="{00000005-5716-47C0-832E-78B4CF18A634}"/>
              </c:ext>
            </c:extLst>
          </c:dPt>
          <c:dPt>
            <c:idx val="3"/>
            <c:bubble3D val="0"/>
            <c:spPr>
              <a:solidFill>
                <a:srgbClr val="7030A0"/>
              </a:solidFill>
              <a:ln w="19050">
                <a:solidFill>
                  <a:schemeClr val="lt1"/>
                </a:solidFill>
              </a:ln>
              <a:effectLst/>
            </c:spPr>
            <c:extLst>
              <c:ext xmlns:c16="http://schemas.microsoft.com/office/drawing/2014/chart" uri="{C3380CC4-5D6E-409C-BE32-E72D297353CC}">
                <c16:uniqueId val="{00000007-5716-47C0-832E-78B4CF18A634}"/>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5716-47C0-832E-78B4CF18A634}"/>
              </c:ext>
            </c:extLst>
          </c:dPt>
          <c:dPt>
            <c:idx val="5"/>
            <c:bubble3D val="0"/>
            <c:spPr>
              <a:solidFill>
                <a:schemeClr val="accent6"/>
              </a:solidFill>
              <a:ln w="19050">
                <a:solidFill>
                  <a:schemeClr val="lt1"/>
                </a:solidFill>
              </a:ln>
              <a:effectLst/>
            </c:spPr>
            <c:extLst>
              <c:ext xmlns:c16="http://schemas.microsoft.com/office/drawing/2014/chart" uri="{C3380CC4-5D6E-409C-BE32-E72D297353CC}">
                <c16:uniqueId val="{0000000B-5716-47C0-832E-78B4CF18A634}"/>
              </c:ext>
            </c:extLst>
          </c:dPt>
          <c:dLbls>
            <c:dLbl>
              <c:idx val="0"/>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bestFit"/>
              <c:showLegendKey val="0"/>
              <c:showVal val="1"/>
              <c:showCatName val="0"/>
              <c:showSerName val="0"/>
              <c:showPercent val="0"/>
              <c:showBubbleSize val="0"/>
              <c:extLst>
                <c:ext xmlns:c16="http://schemas.microsoft.com/office/drawing/2014/chart" uri="{C3380CC4-5D6E-409C-BE32-E72D297353CC}">
                  <c16:uniqueId val="{00000001-5716-47C0-832E-78B4CF18A634}"/>
                </c:ext>
              </c:extLst>
            </c:dLbl>
            <c:dLbl>
              <c:idx val="1"/>
              <c:tx>
                <c:rich>
                  <a:bodyPr/>
                  <a:lstStyle/>
                  <a:p>
                    <a:fld id="{CB92413A-5CB6-4966-B8BF-D44CCD37410E}" type="VALUE">
                      <a:rPr lang="en-US" altLang="ja-JP">
                        <a:solidFill>
                          <a:schemeClr val="bg1"/>
                        </a:solidFill>
                      </a:rPr>
                      <a:pPr/>
                      <a:t>[VALUE]</a:t>
                    </a:fld>
                    <a:endParaRPr lang="en-IN"/>
                  </a:p>
                </c:rich>
              </c:tx>
              <c:dLblPos val="bestFit"/>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5716-47C0-832E-78B4CF18A634}"/>
                </c:ext>
              </c:extLst>
            </c:dLbl>
            <c:dLbl>
              <c:idx val="2"/>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bestFit"/>
              <c:showLegendKey val="0"/>
              <c:showVal val="1"/>
              <c:showCatName val="0"/>
              <c:showSerName val="0"/>
              <c:showPercent val="0"/>
              <c:showBubbleSize val="0"/>
              <c:extLst>
                <c:ext xmlns:c16="http://schemas.microsoft.com/office/drawing/2014/chart" uri="{C3380CC4-5D6E-409C-BE32-E72D297353CC}">
                  <c16:uniqueId val="{00000005-5716-47C0-832E-78B4CF18A634}"/>
                </c:ext>
              </c:extLst>
            </c:dLbl>
            <c:dLbl>
              <c:idx val="5"/>
              <c:layout>
                <c:manualLayout>
                  <c:x val="0.11046077768907078"/>
                  <c:y val="2.8853519951965029E-3"/>
                </c:manualLayout>
              </c:layout>
              <c:spPr>
                <a:noFill/>
                <a:ln>
                  <a:noFill/>
                </a:ln>
                <a:effectLst/>
              </c:spPr>
              <c:txPr>
                <a:bodyPr rot="0" spcFirstLastPara="1" vertOverflow="ellipsis" vert="horz" wrap="square" anchor="ctr" anchorCtr="1"/>
                <a:lstStyle/>
                <a:p>
                  <a:pPr>
                    <a:defRPr lang="ja-JP"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5716-47C0-832E-78B4CF18A634}"/>
                </c:ext>
              </c:extLst>
            </c:dLbl>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Sheet1!$A$2:$A$7</c:f>
              <c:strCache>
                <c:ptCount val="6"/>
                <c:pt idx="0">
                  <c:v>DAM</c:v>
                </c:pt>
                <c:pt idx="1">
                  <c:v>RTM</c:v>
                </c:pt>
                <c:pt idx="2">
                  <c:v>TAM</c:v>
                </c:pt>
                <c:pt idx="3">
                  <c:v>GDAM</c:v>
                </c:pt>
                <c:pt idx="4">
                  <c:v>DAC &amp; ID</c:v>
                </c:pt>
                <c:pt idx="5">
                  <c:v>Others</c:v>
                </c:pt>
              </c:strCache>
            </c:strRef>
          </c:cat>
          <c:val>
            <c:numRef>
              <c:f>Sheet1!$B$2:$B$7</c:f>
              <c:numCache>
                <c:formatCode>0%</c:formatCode>
                <c:ptCount val="6"/>
                <c:pt idx="0">
                  <c:v>0.42658441952722737</c:v>
                </c:pt>
                <c:pt idx="1">
                  <c:v>0.27148627405508197</c:v>
                </c:pt>
                <c:pt idx="2">
                  <c:v>0.17692862781475793</c:v>
                </c:pt>
                <c:pt idx="3">
                  <c:v>5.7917124694646063E-2</c:v>
                </c:pt>
                <c:pt idx="4">
                  <c:v>5.3014131505870705E-2</c:v>
                </c:pt>
                <c:pt idx="5">
                  <c:v>1.406942240241585E-2</c:v>
                </c:pt>
              </c:numCache>
            </c:numRef>
          </c:val>
          <c:extLst>
            <c:ext xmlns:c16="http://schemas.microsoft.com/office/drawing/2014/chart" uri="{C3380CC4-5D6E-409C-BE32-E72D297353CC}">
              <c16:uniqueId val="{0000000C-5716-47C0-832E-78B4CF18A634}"/>
            </c:ext>
          </c:extLst>
        </c:ser>
        <c:dLbls>
          <c:dLblPos val="bestFit"/>
          <c:showLegendKey val="0"/>
          <c:showVal val="1"/>
          <c:showCatName val="0"/>
          <c:showSerName val="0"/>
          <c:showPercent val="0"/>
          <c:showBubbleSize val="0"/>
          <c:showLeaderLines val="1"/>
        </c:dLbls>
        <c:firstSliceAng val="0"/>
      </c:pieChart>
      <c:spPr>
        <a:noFill/>
        <a:ln>
          <a:noFill/>
        </a:ln>
        <a:effectLst/>
      </c:spPr>
    </c:plotArea>
    <c:legend>
      <c:legendPos val="r"/>
      <c:layout>
        <c:manualLayout>
          <c:xMode val="edge"/>
          <c:yMode val="edge"/>
          <c:x val="0.80371641552892514"/>
          <c:y val="0.23432500129260572"/>
          <c:w val="0.160594343227558"/>
          <c:h val="0.75427493436435378"/>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091259818007338E-5"/>
          <c:y val="0.20943128646280051"/>
          <c:w val="0.99992090874018202"/>
          <c:h val="0.65037807882819232"/>
        </c:manualLayout>
      </c:layout>
      <c:barChart>
        <c:barDir val="col"/>
        <c:grouping val="stacked"/>
        <c:varyColors val="0"/>
        <c:ser>
          <c:idx val="0"/>
          <c:order val="0"/>
          <c:tx>
            <c:strRef>
              <c:f>Sheet1!$B$1</c:f>
              <c:strCache>
                <c:ptCount val="1"/>
                <c:pt idx="0">
                  <c:v>Bilateral through traders</c:v>
                </c:pt>
              </c:strCache>
            </c:strRef>
          </c:tx>
          <c:spPr>
            <a:solidFill>
              <a:schemeClr val="tx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FY10</c:v>
                </c:pt>
                <c:pt idx="1">
                  <c:v>FY15</c:v>
                </c:pt>
                <c:pt idx="2">
                  <c:v>FY20</c:v>
                </c:pt>
                <c:pt idx="3">
                  <c:v>FY21</c:v>
                </c:pt>
                <c:pt idx="4">
                  <c:v>FY22</c:v>
                </c:pt>
                <c:pt idx="5">
                  <c:v>FY23</c:v>
                </c:pt>
                <c:pt idx="6">
                  <c:v>FY24</c:v>
                </c:pt>
                <c:pt idx="7">
                  <c:v>FY25</c:v>
                </c:pt>
              </c:strCache>
            </c:strRef>
          </c:cat>
          <c:val>
            <c:numRef>
              <c:f>Sheet1!$B$2:$B$9</c:f>
              <c:numCache>
                <c:formatCode>General</c:formatCode>
                <c:ptCount val="8"/>
                <c:pt idx="0">
                  <c:v>27</c:v>
                </c:pt>
                <c:pt idx="1">
                  <c:v>35</c:v>
                </c:pt>
                <c:pt idx="2">
                  <c:v>30</c:v>
                </c:pt>
                <c:pt idx="3">
                  <c:v>27</c:v>
                </c:pt>
                <c:pt idx="4">
                  <c:v>39</c:v>
                </c:pt>
                <c:pt idx="5">
                  <c:v>34</c:v>
                </c:pt>
                <c:pt idx="6">
                  <c:v>40</c:v>
                </c:pt>
                <c:pt idx="7" formatCode="_(* #,##0_);_(* \(#,##0\);_(* &quot; - &quot;_);_(* @_)">
                  <c:v>49.715820000000001</c:v>
                </c:pt>
              </c:numCache>
            </c:numRef>
          </c:val>
          <c:extLst>
            <c:ext xmlns:c16="http://schemas.microsoft.com/office/drawing/2014/chart" uri="{C3380CC4-5D6E-409C-BE32-E72D297353CC}">
              <c16:uniqueId val="{00000000-C932-44E6-BC06-388072E16983}"/>
            </c:ext>
          </c:extLst>
        </c:ser>
        <c:ser>
          <c:idx val="1"/>
          <c:order val="1"/>
          <c:tx>
            <c:strRef>
              <c:f>Sheet1!$C$1</c:f>
              <c:strCache>
                <c:ptCount val="1"/>
                <c:pt idx="0">
                  <c:v>On power exchanges</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FY10</c:v>
                </c:pt>
                <c:pt idx="1">
                  <c:v>FY15</c:v>
                </c:pt>
                <c:pt idx="2">
                  <c:v>FY20</c:v>
                </c:pt>
                <c:pt idx="3">
                  <c:v>FY21</c:v>
                </c:pt>
                <c:pt idx="4">
                  <c:v>FY22</c:v>
                </c:pt>
                <c:pt idx="5">
                  <c:v>FY23</c:v>
                </c:pt>
                <c:pt idx="6">
                  <c:v>FY24</c:v>
                </c:pt>
                <c:pt idx="7">
                  <c:v>FY25</c:v>
                </c:pt>
              </c:strCache>
            </c:strRef>
          </c:cat>
          <c:val>
            <c:numRef>
              <c:f>Sheet1!$C$2:$C$9</c:f>
              <c:numCache>
                <c:formatCode>General</c:formatCode>
                <c:ptCount val="8"/>
                <c:pt idx="0">
                  <c:v>7</c:v>
                </c:pt>
                <c:pt idx="1">
                  <c:v>29</c:v>
                </c:pt>
                <c:pt idx="2">
                  <c:v>56</c:v>
                </c:pt>
                <c:pt idx="3">
                  <c:v>80</c:v>
                </c:pt>
                <c:pt idx="4">
                  <c:v>101</c:v>
                </c:pt>
                <c:pt idx="5">
                  <c:v>103</c:v>
                </c:pt>
                <c:pt idx="6">
                  <c:v>120</c:v>
                </c:pt>
                <c:pt idx="7" formatCode="#,##0">
                  <c:v>143.67699999999999</c:v>
                </c:pt>
              </c:numCache>
            </c:numRef>
          </c:val>
          <c:extLst>
            <c:ext xmlns:c16="http://schemas.microsoft.com/office/drawing/2014/chart" uri="{C3380CC4-5D6E-409C-BE32-E72D297353CC}">
              <c16:uniqueId val="{00000001-C932-44E6-BC06-388072E16983}"/>
            </c:ext>
          </c:extLst>
        </c:ser>
        <c:ser>
          <c:idx val="2"/>
          <c:order val="2"/>
          <c:tx>
            <c:strRef>
              <c:f>Sheet1!$D$1</c:f>
              <c:strCache>
                <c:ptCount val="1"/>
                <c:pt idx="0">
                  <c:v>Directly between discoms</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FY10</c:v>
                </c:pt>
                <c:pt idx="1">
                  <c:v>FY15</c:v>
                </c:pt>
                <c:pt idx="2">
                  <c:v>FY20</c:v>
                </c:pt>
                <c:pt idx="3">
                  <c:v>FY21</c:v>
                </c:pt>
                <c:pt idx="4">
                  <c:v>FY22</c:v>
                </c:pt>
                <c:pt idx="5">
                  <c:v>FY23</c:v>
                </c:pt>
                <c:pt idx="6">
                  <c:v>FY24</c:v>
                </c:pt>
                <c:pt idx="7">
                  <c:v>FY25</c:v>
                </c:pt>
              </c:strCache>
            </c:strRef>
          </c:cat>
          <c:val>
            <c:numRef>
              <c:f>Sheet1!$D$2:$D$9</c:f>
              <c:numCache>
                <c:formatCode>General</c:formatCode>
                <c:ptCount val="8"/>
                <c:pt idx="0">
                  <c:v>6</c:v>
                </c:pt>
                <c:pt idx="1">
                  <c:v>16</c:v>
                </c:pt>
                <c:pt idx="2">
                  <c:v>28</c:v>
                </c:pt>
                <c:pt idx="3">
                  <c:v>17</c:v>
                </c:pt>
                <c:pt idx="4">
                  <c:v>21</c:v>
                </c:pt>
                <c:pt idx="5">
                  <c:v>31</c:v>
                </c:pt>
                <c:pt idx="6">
                  <c:v>30</c:v>
                </c:pt>
                <c:pt idx="7" formatCode="_(* #,##0_);_(* \(#,##0\);_(* &quot; - &quot;_);_(* @_)">
                  <c:v>31.199010000000001</c:v>
                </c:pt>
              </c:numCache>
            </c:numRef>
          </c:val>
          <c:extLst>
            <c:ext xmlns:c16="http://schemas.microsoft.com/office/drawing/2014/chart" uri="{C3380CC4-5D6E-409C-BE32-E72D297353CC}">
              <c16:uniqueId val="{00000003-C932-44E6-BC06-388072E16983}"/>
            </c:ext>
          </c:extLst>
        </c:ser>
        <c:ser>
          <c:idx val="3"/>
          <c:order val="3"/>
          <c:tx>
            <c:strRef>
              <c:f>Sheet1!$E$1</c:f>
              <c:strCache>
                <c:ptCount val="1"/>
                <c:pt idx="0">
                  <c:v>DSM</c:v>
                </c:pt>
              </c:strCache>
            </c:strRef>
          </c:tx>
          <c:spPr>
            <a:solidFill>
              <a:schemeClr val="accent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FY10</c:v>
                </c:pt>
                <c:pt idx="1">
                  <c:v>FY15</c:v>
                </c:pt>
                <c:pt idx="2">
                  <c:v>FY20</c:v>
                </c:pt>
                <c:pt idx="3">
                  <c:v>FY21</c:v>
                </c:pt>
                <c:pt idx="4">
                  <c:v>FY22</c:v>
                </c:pt>
                <c:pt idx="5">
                  <c:v>FY23</c:v>
                </c:pt>
                <c:pt idx="6">
                  <c:v>FY24</c:v>
                </c:pt>
                <c:pt idx="7">
                  <c:v>FY25</c:v>
                </c:pt>
              </c:strCache>
            </c:strRef>
          </c:cat>
          <c:val>
            <c:numRef>
              <c:f>Sheet1!$E$2:$E$9</c:f>
              <c:numCache>
                <c:formatCode>General</c:formatCode>
                <c:ptCount val="8"/>
                <c:pt idx="0">
                  <c:v>26</c:v>
                </c:pt>
                <c:pt idx="1">
                  <c:v>19</c:v>
                </c:pt>
                <c:pt idx="2">
                  <c:v>23</c:v>
                </c:pt>
                <c:pt idx="3">
                  <c:v>23</c:v>
                </c:pt>
                <c:pt idx="4">
                  <c:v>25</c:v>
                </c:pt>
                <c:pt idx="5">
                  <c:v>26</c:v>
                </c:pt>
                <c:pt idx="6">
                  <c:v>27</c:v>
                </c:pt>
                <c:pt idx="7" formatCode="_(* #,##0_);_(* \(#,##0\);_(* &quot; - &quot;_);_(* @_)">
                  <c:v>33.962479999999999</c:v>
                </c:pt>
              </c:numCache>
            </c:numRef>
          </c:val>
          <c:extLst>
            <c:ext xmlns:c16="http://schemas.microsoft.com/office/drawing/2014/chart" uri="{C3380CC4-5D6E-409C-BE32-E72D297353CC}">
              <c16:uniqueId val="{00000004-C932-44E6-BC06-388072E16983}"/>
            </c:ext>
          </c:extLst>
        </c:ser>
        <c:dLbls>
          <c:showLegendKey val="0"/>
          <c:showVal val="1"/>
          <c:showCatName val="0"/>
          <c:showSerName val="0"/>
          <c:showPercent val="0"/>
          <c:showBubbleSize val="0"/>
        </c:dLbls>
        <c:gapWidth val="150"/>
        <c:overlap val="100"/>
        <c:axId val="1231257920"/>
        <c:axId val="1655718399"/>
      </c:barChart>
      <c:lineChart>
        <c:grouping val="standard"/>
        <c:varyColors val="0"/>
        <c:ser>
          <c:idx val="4"/>
          <c:order val="4"/>
          <c:tx>
            <c:strRef>
              <c:f>Sheet1!$F$1</c:f>
              <c:strCache>
                <c:ptCount val="1"/>
                <c:pt idx="0">
                  <c:v>TOTAL</c:v>
                </c:pt>
              </c:strCache>
            </c:strRef>
          </c:tx>
          <c:spPr>
            <a:ln w="28575" cap="rnd">
              <a:noFill/>
              <a:round/>
            </a:ln>
            <a:effectLst/>
          </c:spPr>
          <c:marker>
            <c:symbol val="none"/>
          </c:marker>
          <c:dLbls>
            <c:dLbl>
              <c:idx val="0"/>
              <c:layout>
                <c:manualLayout>
                  <c:x val="-3.3858669571377426E-2"/>
                  <c:y val="-4.834545300545980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932-44E6-BC06-388072E16983}"/>
                </c:ext>
              </c:extLst>
            </c:dLbl>
            <c:dLbl>
              <c:idx val="1"/>
              <c:layout>
                <c:manualLayout>
                  <c:x val="-3.3858669571377446E-2"/>
                  <c:y val="-4.834545300545991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C932-44E6-BC06-388072E16983}"/>
                </c:ext>
              </c:extLst>
            </c:dLbl>
            <c:dLbl>
              <c:idx val="2"/>
              <c:layout>
                <c:manualLayout>
                  <c:x val="-3.8695622367288532E-2"/>
                  <c:y val="-5.438863463114227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C932-44E6-BC06-388072E16983}"/>
                </c:ext>
              </c:extLst>
            </c:dLbl>
            <c:dLbl>
              <c:idx val="3"/>
              <c:layout>
                <c:manualLayout>
                  <c:x val="-3.869562236728849E-2"/>
                  <c:y val="-5.438863463114233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932-44E6-BC06-388072E16983}"/>
                </c:ext>
              </c:extLst>
            </c:dLbl>
            <c:dLbl>
              <c:idx val="4"/>
              <c:layout>
                <c:manualLayout>
                  <c:x val="-4.1114098765244016E-2"/>
                  <c:y val="-5.438863463114227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932-44E6-BC06-388072E16983}"/>
                </c:ext>
              </c:extLst>
            </c:dLbl>
            <c:dLbl>
              <c:idx val="5"/>
              <c:layout>
                <c:manualLayout>
                  <c:x val="-3.869562236728849E-2"/>
                  <c:y val="-4.834545300545985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932-44E6-BC06-388072E16983}"/>
                </c:ext>
              </c:extLst>
            </c:dLbl>
            <c:dLbl>
              <c:idx val="6"/>
              <c:layout>
                <c:manualLayout>
                  <c:x val="-4.1114098765244106E-2"/>
                  <c:y val="-5.438863463114224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932-44E6-BC06-388072E16983}"/>
                </c:ext>
              </c:extLst>
            </c:dLbl>
            <c:spPr>
              <a:noFill/>
              <a:ln>
                <a:noFill/>
              </a:ln>
              <a:effectLst/>
            </c:spPr>
            <c:txPr>
              <a:bodyPr rot="0" spcFirstLastPara="1" vertOverflow="ellipsis" vert="horz" wrap="square" lIns="38100" tIns="19050" rIns="38100" bIns="19050" anchor="ctr" anchorCtr="1">
                <a:spAutoFit/>
              </a:bodyPr>
              <a:lstStyle/>
              <a:p>
                <a:pPr>
                  <a:defRPr lang="ja-JP"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FY10</c:v>
                </c:pt>
                <c:pt idx="1">
                  <c:v>FY15</c:v>
                </c:pt>
                <c:pt idx="2">
                  <c:v>FY20</c:v>
                </c:pt>
                <c:pt idx="3">
                  <c:v>FY21</c:v>
                </c:pt>
                <c:pt idx="4">
                  <c:v>FY22</c:v>
                </c:pt>
                <c:pt idx="5">
                  <c:v>FY23</c:v>
                </c:pt>
                <c:pt idx="6">
                  <c:v>FY24</c:v>
                </c:pt>
                <c:pt idx="7">
                  <c:v>FY25</c:v>
                </c:pt>
              </c:strCache>
            </c:strRef>
          </c:cat>
          <c:val>
            <c:numRef>
              <c:f>Sheet1!$F$2:$F$9</c:f>
              <c:numCache>
                <c:formatCode>General</c:formatCode>
                <c:ptCount val="8"/>
                <c:pt idx="0">
                  <c:v>66</c:v>
                </c:pt>
                <c:pt idx="1">
                  <c:v>99</c:v>
                </c:pt>
                <c:pt idx="2">
                  <c:v>137</c:v>
                </c:pt>
                <c:pt idx="3">
                  <c:v>147</c:v>
                </c:pt>
                <c:pt idx="4">
                  <c:v>186</c:v>
                </c:pt>
                <c:pt idx="5">
                  <c:v>194</c:v>
                </c:pt>
                <c:pt idx="6">
                  <c:v>217</c:v>
                </c:pt>
                <c:pt idx="7" formatCode="_(* #,##0_);_(* \(#,##0\);_(* &quot; - &quot;_);_(* @_)">
                  <c:v>258.55430999999999</c:v>
                </c:pt>
              </c:numCache>
            </c:numRef>
          </c:val>
          <c:smooth val="0"/>
          <c:extLst>
            <c:ext xmlns:c16="http://schemas.microsoft.com/office/drawing/2014/chart" uri="{C3380CC4-5D6E-409C-BE32-E72D297353CC}">
              <c16:uniqueId val="{00000005-C932-44E6-BC06-388072E16983}"/>
            </c:ext>
          </c:extLst>
        </c:ser>
        <c:dLbls>
          <c:showLegendKey val="0"/>
          <c:showVal val="1"/>
          <c:showCatName val="0"/>
          <c:showSerName val="0"/>
          <c:showPercent val="0"/>
          <c:showBubbleSize val="0"/>
        </c:dLbls>
        <c:marker val="1"/>
        <c:smooth val="0"/>
        <c:axId val="1231257920"/>
        <c:axId val="1655718399"/>
      </c:lineChart>
      <c:catAx>
        <c:axId val="123125792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655718399"/>
        <c:crosses val="autoZero"/>
        <c:auto val="1"/>
        <c:lblAlgn val="ctr"/>
        <c:lblOffset val="100"/>
        <c:noMultiLvlLbl val="0"/>
      </c:catAx>
      <c:valAx>
        <c:axId val="1655718399"/>
        <c:scaling>
          <c:orientation val="minMax"/>
          <c:max val="250"/>
        </c:scaling>
        <c:delete val="1"/>
        <c:axPos val="l"/>
        <c:numFmt formatCode="General" sourceLinked="1"/>
        <c:majorTickMark val="out"/>
        <c:minorTickMark val="none"/>
        <c:tickLblPos val="nextTo"/>
        <c:crossAx val="1231257920"/>
        <c:crosses val="autoZero"/>
        <c:crossBetween val="between"/>
      </c:valAx>
      <c:spPr>
        <a:noFill/>
        <a:ln>
          <a:noFill/>
        </a:ln>
        <a:effectLst/>
      </c:spPr>
    </c:plotArea>
    <c:legend>
      <c:legendPos val="r"/>
      <c:layout>
        <c:manualLayout>
          <c:xMode val="edge"/>
          <c:yMode val="edge"/>
          <c:x val="0"/>
          <c:y val="8.2238185104080735E-2"/>
          <c:w val="0.74064750487738895"/>
          <c:h val="0.16624489414642013"/>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userShapes r:id="rId4"/>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447336364181653E-2"/>
          <c:y val="0.1406834341702867"/>
          <c:w val="1"/>
          <c:h val="0.64364381208533894"/>
        </c:manualLayout>
      </c:layout>
      <c:stockChart>
        <c:ser>
          <c:idx val="0"/>
          <c:order val="0"/>
          <c:tx>
            <c:strRef>
              <c:f>Sheet1!$B$1</c:f>
              <c:strCache>
                <c:ptCount val="1"/>
                <c:pt idx="0">
                  <c:v>Maximum</c:v>
                </c:pt>
              </c:strCache>
            </c:strRef>
          </c:tx>
          <c:spPr>
            <a:ln w="25400" cap="rnd">
              <a:no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lang="ja-JP" sz="1000" b="1" i="0" u="none" strike="noStrike" kern="1200" baseline="0">
                    <a:solidFill>
                      <a:schemeClr val="accent6">
                        <a:lumMod val="60000"/>
                        <a:lumOff val="4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Sheet1!$A$2:$A$27</c:f>
              <c:numCache>
                <c:formatCode>mmm\-yy</c:formatCode>
                <c:ptCount val="26"/>
                <c:pt idx="1">
                  <c:v>44986</c:v>
                </c:pt>
                <c:pt idx="2">
                  <c:v>45017</c:v>
                </c:pt>
                <c:pt idx="3">
                  <c:v>45047</c:v>
                </c:pt>
                <c:pt idx="4">
                  <c:v>45078</c:v>
                </c:pt>
                <c:pt idx="5">
                  <c:v>45108</c:v>
                </c:pt>
                <c:pt idx="6">
                  <c:v>45139</c:v>
                </c:pt>
                <c:pt idx="7">
                  <c:v>45170</c:v>
                </c:pt>
                <c:pt idx="8">
                  <c:v>45200</c:v>
                </c:pt>
                <c:pt idx="9">
                  <c:v>45231</c:v>
                </c:pt>
                <c:pt idx="10">
                  <c:v>45261</c:v>
                </c:pt>
                <c:pt idx="11">
                  <c:v>45292</c:v>
                </c:pt>
                <c:pt idx="12">
                  <c:v>45323</c:v>
                </c:pt>
                <c:pt idx="13">
                  <c:v>45352</c:v>
                </c:pt>
                <c:pt idx="14" formatCode="[$-409]mmm\-yy;@">
                  <c:v>45383</c:v>
                </c:pt>
                <c:pt idx="15" formatCode="[$-409]mmm\-yy;@">
                  <c:v>45413</c:v>
                </c:pt>
                <c:pt idx="16" formatCode="[$-409]mmm\-yy;@">
                  <c:v>45444</c:v>
                </c:pt>
                <c:pt idx="17" formatCode="[$-409]mmm\-yy;@">
                  <c:v>45474</c:v>
                </c:pt>
                <c:pt idx="18" formatCode="[$-409]mmm\-yy;@">
                  <c:v>45505</c:v>
                </c:pt>
                <c:pt idx="19" formatCode="[$-409]mmm\-yy;@">
                  <c:v>45536</c:v>
                </c:pt>
                <c:pt idx="20" formatCode="[$-409]mmm\-yy;@">
                  <c:v>45566</c:v>
                </c:pt>
                <c:pt idx="21" formatCode="[$-409]mmm\-yy;@">
                  <c:v>45597</c:v>
                </c:pt>
                <c:pt idx="22" formatCode="[$-409]mmm\-yy;@">
                  <c:v>45627</c:v>
                </c:pt>
                <c:pt idx="23" formatCode="[$-409]mmm\-yy;@">
                  <c:v>45658</c:v>
                </c:pt>
                <c:pt idx="24" formatCode="[$-409]mmm\-yy;@">
                  <c:v>45689</c:v>
                </c:pt>
                <c:pt idx="25" formatCode="[$-409]mmm\-yy;@">
                  <c:v>45717</c:v>
                </c:pt>
              </c:numCache>
            </c:numRef>
          </c:cat>
          <c:val>
            <c:numRef>
              <c:f>Sheet1!$B$2:$B$27</c:f>
              <c:numCache>
                <c:formatCode>General</c:formatCode>
                <c:ptCount val="26"/>
                <c:pt idx="1">
                  <c:v>12</c:v>
                </c:pt>
                <c:pt idx="2">
                  <c:v>10</c:v>
                </c:pt>
                <c:pt idx="3">
                  <c:v>10</c:v>
                </c:pt>
                <c:pt idx="4">
                  <c:v>10</c:v>
                </c:pt>
                <c:pt idx="5">
                  <c:v>10</c:v>
                </c:pt>
                <c:pt idx="6">
                  <c:v>10</c:v>
                </c:pt>
                <c:pt idx="7">
                  <c:v>10</c:v>
                </c:pt>
                <c:pt idx="8">
                  <c:v>10</c:v>
                </c:pt>
                <c:pt idx="9">
                  <c:v>10</c:v>
                </c:pt>
                <c:pt idx="10">
                  <c:v>10</c:v>
                </c:pt>
                <c:pt idx="11">
                  <c:v>10</c:v>
                </c:pt>
                <c:pt idx="12">
                  <c:v>10</c:v>
                </c:pt>
                <c:pt idx="13">
                  <c:v>10</c:v>
                </c:pt>
                <c:pt idx="14" formatCode="0">
                  <c:v>10</c:v>
                </c:pt>
                <c:pt idx="15" formatCode="0">
                  <c:v>10</c:v>
                </c:pt>
                <c:pt idx="16" formatCode="0">
                  <c:v>10</c:v>
                </c:pt>
                <c:pt idx="17" formatCode="0">
                  <c:v>10</c:v>
                </c:pt>
                <c:pt idx="18" formatCode="0">
                  <c:v>10</c:v>
                </c:pt>
                <c:pt idx="19" formatCode="0">
                  <c:v>10</c:v>
                </c:pt>
                <c:pt idx="20" formatCode="0">
                  <c:v>10</c:v>
                </c:pt>
                <c:pt idx="21" formatCode="0">
                  <c:v>10</c:v>
                </c:pt>
                <c:pt idx="22" formatCode="0">
                  <c:v>10</c:v>
                </c:pt>
                <c:pt idx="23" formatCode="0">
                  <c:v>10</c:v>
                </c:pt>
                <c:pt idx="24" formatCode="0">
                  <c:v>10</c:v>
                </c:pt>
                <c:pt idx="25" formatCode="0">
                  <c:v>10</c:v>
                </c:pt>
              </c:numCache>
            </c:numRef>
          </c:val>
          <c:smooth val="0"/>
          <c:extLst>
            <c:ext xmlns:c16="http://schemas.microsoft.com/office/drawing/2014/chart" uri="{C3380CC4-5D6E-409C-BE32-E72D297353CC}">
              <c16:uniqueId val="{00000000-9135-4495-AC17-5A631773237F}"/>
            </c:ext>
          </c:extLst>
        </c:ser>
        <c:ser>
          <c:idx val="1"/>
          <c:order val="1"/>
          <c:tx>
            <c:strRef>
              <c:f>Sheet1!$C$1</c:f>
              <c:strCache>
                <c:ptCount val="1"/>
                <c:pt idx="0">
                  <c:v>Minimum</c:v>
                </c:pt>
              </c:strCache>
            </c:strRef>
          </c:tx>
          <c:spPr>
            <a:ln w="25400" cap="rnd">
              <a:no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lang="ja-JP" sz="1000" b="0" i="0" u="none" strike="noStrike" kern="1200" baseline="0">
                    <a:solidFill>
                      <a:schemeClr val="accent2"/>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Sheet1!$A$2:$A$27</c:f>
              <c:numCache>
                <c:formatCode>mmm\-yy</c:formatCode>
                <c:ptCount val="26"/>
                <c:pt idx="1">
                  <c:v>44986</c:v>
                </c:pt>
                <c:pt idx="2">
                  <c:v>45017</c:v>
                </c:pt>
                <c:pt idx="3">
                  <c:v>45047</c:v>
                </c:pt>
                <c:pt idx="4">
                  <c:v>45078</c:v>
                </c:pt>
                <c:pt idx="5">
                  <c:v>45108</c:v>
                </c:pt>
                <c:pt idx="6">
                  <c:v>45139</c:v>
                </c:pt>
                <c:pt idx="7">
                  <c:v>45170</c:v>
                </c:pt>
                <c:pt idx="8">
                  <c:v>45200</c:v>
                </c:pt>
                <c:pt idx="9">
                  <c:v>45231</c:v>
                </c:pt>
                <c:pt idx="10">
                  <c:v>45261</c:v>
                </c:pt>
                <c:pt idx="11">
                  <c:v>45292</c:v>
                </c:pt>
                <c:pt idx="12">
                  <c:v>45323</c:v>
                </c:pt>
                <c:pt idx="13">
                  <c:v>45352</c:v>
                </c:pt>
                <c:pt idx="14" formatCode="[$-409]mmm\-yy;@">
                  <c:v>45383</c:v>
                </c:pt>
                <c:pt idx="15" formatCode="[$-409]mmm\-yy;@">
                  <c:v>45413</c:v>
                </c:pt>
                <c:pt idx="16" formatCode="[$-409]mmm\-yy;@">
                  <c:v>45444</c:v>
                </c:pt>
                <c:pt idx="17" formatCode="[$-409]mmm\-yy;@">
                  <c:v>45474</c:v>
                </c:pt>
                <c:pt idx="18" formatCode="[$-409]mmm\-yy;@">
                  <c:v>45505</c:v>
                </c:pt>
                <c:pt idx="19" formatCode="[$-409]mmm\-yy;@">
                  <c:v>45536</c:v>
                </c:pt>
                <c:pt idx="20" formatCode="[$-409]mmm\-yy;@">
                  <c:v>45566</c:v>
                </c:pt>
                <c:pt idx="21" formatCode="[$-409]mmm\-yy;@">
                  <c:v>45597</c:v>
                </c:pt>
                <c:pt idx="22" formatCode="[$-409]mmm\-yy;@">
                  <c:v>45627</c:v>
                </c:pt>
                <c:pt idx="23" formatCode="[$-409]mmm\-yy;@">
                  <c:v>45658</c:v>
                </c:pt>
                <c:pt idx="24" formatCode="[$-409]mmm\-yy;@">
                  <c:v>45689</c:v>
                </c:pt>
                <c:pt idx="25" formatCode="[$-409]mmm\-yy;@">
                  <c:v>45717</c:v>
                </c:pt>
              </c:numCache>
            </c:numRef>
          </c:cat>
          <c:val>
            <c:numRef>
              <c:f>Sheet1!$C$2:$C$27</c:f>
              <c:numCache>
                <c:formatCode>General</c:formatCode>
                <c:ptCount val="26"/>
                <c:pt idx="1">
                  <c:v>2.2000000000000002</c:v>
                </c:pt>
                <c:pt idx="2">
                  <c:v>1.9</c:v>
                </c:pt>
                <c:pt idx="3">
                  <c:v>1.9</c:v>
                </c:pt>
                <c:pt idx="4">
                  <c:v>1.5</c:v>
                </c:pt>
                <c:pt idx="5">
                  <c:v>1</c:v>
                </c:pt>
                <c:pt idx="6">
                  <c:v>2</c:v>
                </c:pt>
                <c:pt idx="7">
                  <c:v>1.2</c:v>
                </c:pt>
                <c:pt idx="8">
                  <c:v>1.5</c:v>
                </c:pt>
                <c:pt idx="9">
                  <c:v>2</c:v>
                </c:pt>
                <c:pt idx="10">
                  <c:v>2.1</c:v>
                </c:pt>
                <c:pt idx="11">
                  <c:v>2</c:v>
                </c:pt>
                <c:pt idx="12">
                  <c:v>2.2000000000000002</c:v>
                </c:pt>
                <c:pt idx="13">
                  <c:v>1</c:v>
                </c:pt>
                <c:pt idx="14" formatCode="0.0">
                  <c:v>1.71</c:v>
                </c:pt>
                <c:pt idx="15" formatCode="0.0">
                  <c:v>1.2</c:v>
                </c:pt>
                <c:pt idx="16" formatCode="0.0">
                  <c:v>1</c:v>
                </c:pt>
                <c:pt idx="17" formatCode="0.0">
                  <c:v>0.5</c:v>
                </c:pt>
                <c:pt idx="18" formatCode="0.0">
                  <c:v>0.3</c:v>
                </c:pt>
                <c:pt idx="19" formatCode="0.0">
                  <c:v>0.4</c:v>
                </c:pt>
                <c:pt idx="20" formatCode="0.0">
                  <c:v>0.5</c:v>
                </c:pt>
                <c:pt idx="21" formatCode="0.0">
                  <c:v>0.56999999999999995</c:v>
                </c:pt>
                <c:pt idx="22" formatCode="0.0">
                  <c:v>1.61</c:v>
                </c:pt>
                <c:pt idx="23" formatCode="0.0">
                  <c:v>1.62</c:v>
                </c:pt>
                <c:pt idx="24" formatCode="0.0">
                  <c:v>2.0299999999999998</c:v>
                </c:pt>
                <c:pt idx="25" formatCode="0.0">
                  <c:v>1</c:v>
                </c:pt>
              </c:numCache>
            </c:numRef>
          </c:val>
          <c:smooth val="0"/>
          <c:extLst>
            <c:ext xmlns:c16="http://schemas.microsoft.com/office/drawing/2014/chart" uri="{C3380CC4-5D6E-409C-BE32-E72D297353CC}">
              <c16:uniqueId val="{00000001-9135-4495-AC17-5A631773237F}"/>
            </c:ext>
          </c:extLst>
        </c:ser>
        <c:ser>
          <c:idx val="2"/>
          <c:order val="2"/>
          <c:tx>
            <c:strRef>
              <c:f>Sheet1!$D$1</c:f>
              <c:strCache>
                <c:ptCount val="1"/>
                <c:pt idx="0">
                  <c:v>Average</c:v>
                </c:pt>
              </c:strCache>
            </c:strRef>
          </c:tx>
          <c:spPr>
            <a:ln w="25400" cap="rnd">
              <a:solidFill>
                <a:schemeClr val="accent6"/>
              </a:solidFill>
              <a:round/>
            </a:ln>
            <a:effectLst>
              <a:outerShdw blurRad="50800" algn="ctr" rotWithShape="0">
                <a:srgbClr val="000000">
                  <a:alpha val="43137"/>
                </a:srgbClr>
              </a:outerShdw>
            </a:effectLst>
          </c:spPr>
          <c:marker>
            <c:symbol val="dot"/>
            <c:size val="3"/>
            <c:spPr>
              <a:solidFill>
                <a:schemeClr val="accent3"/>
              </a:solidFill>
              <a:ln w="9525">
                <a:solidFill>
                  <a:schemeClr val="accent3"/>
                </a:solidFill>
              </a:ln>
              <a:effectLst>
                <a:outerShdw blurRad="50800" algn="ctr" rotWithShape="0">
                  <a:srgbClr val="000000">
                    <a:alpha val="43137"/>
                  </a:srgbClr>
                </a:outerShdw>
              </a:effectLst>
            </c:spPr>
          </c:marker>
          <c:dPt>
            <c:idx val="4"/>
            <c:marker>
              <c:symbol val="dot"/>
              <c:size val="3"/>
              <c:spPr>
                <a:pattFill prst="pct5">
                  <a:fgClr>
                    <a:schemeClr val="accent1"/>
                  </a:fgClr>
                  <a:bgClr>
                    <a:schemeClr val="bg1"/>
                  </a:bgClr>
                </a:pattFill>
                <a:ln w="9525">
                  <a:solidFill>
                    <a:schemeClr val="accent3"/>
                  </a:solidFill>
                </a:ln>
                <a:effectLst>
                  <a:outerShdw blurRad="50800" algn="ctr" rotWithShape="0">
                    <a:srgbClr val="000000">
                      <a:alpha val="43137"/>
                    </a:srgbClr>
                  </a:outerShdw>
                </a:effectLst>
              </c:spPr>
            </c:marker>
            <c:bubble3D val="0"/>
            <c:extLst>
              <c:ext xmlns:c16="http://schemas.microsoft.com/office/drawing/2014/chart" uri="{C3380CC4-5D6E-409C-BE32-E72D297353CC}">
                <c16:uniqueId val="{00000002-9135-4495-AC17-5A631773237F}"/>
              </c:ext>
            </c:extLst>
          </c:dPt>
          <c:dLbls>
            <c:spPr>
              <a:noFill/>
              <a:ln>
                <a:noFill/>
              </a:ln>
              <a:effectLst/>
            </c:spPr>
            <c:txPr>
              <a:bodyPr rot="0" spcFirstLastPara="1" vertOverflow="ellipsis" vert="horz" wrap="square" lIns="38100" tIns="19050" rIns="38100" bIns="19050" anchor="ctr" anchorCtr="1">
                <a:spAutoFit/>
              </a:bodyPr>
              <a:lstStyle/>
              <a:p>
                <a:pPr>
                  <a:defRPr lang="ja-JP" sz="1000" b="1"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Sheet1!$A$2:$A$27</c:f>
              <c:numCache>
                <c:formatCode>mmm\-yy</c:formatCode>
                <c:ptCount val="26"/>
                <c:pt idx="1">
                  <c:v>44986</c:v>
                </c:pt>
                <c:pt idx="2">
                  <c:v>45017</c:v>
                </c:pt>
                <c:pt idx="3">
                  <c:v>45047</c:v>
                </c:pt>
                <c:pt idx="4">
                  <c:v>45078</c:v>
                </c:pt>
                <c:pt idx="5">
                  <c:v>45108</c:v>
                </c:pt>
                <c:pt idx="6">
                  <c:v>45139</c:v>
                </c:pt>
                <c:pt idx="7">
                  <c:v>45170</c:v>
                </c:pt>
                <c:pt idx="8">
                  <c:v>45200</c:v>
                </c:pt>
                <c:pt idx="9">
                  <c:v>45231</c:v>
                </c:pt>
                <c:pt idx="10">
                  <c:v>45261</c:v>
                </c:pt>
                <c:pt idx="11">
                  <c:v>45292</c:v>
                </c:pt>
                <c:pt idx="12">
                  <c:v>45323</c:v>
                </c:pt>
                <c:pt idx="13">
                  <c:v>45352</c:v>
                </c:pt>
                <c:pt idx="14" formatCode="[$-409]mmm\-yy;@">
                  <c:v>45383</c:v>
                </c:pt>
                <c:pt idx="15" formatCode="[$-409]mmm\-yy;@">
                  <c:v>45413</c:v>
                </c:pt>
                <c:pt idx="16" formatCode="[$-409]mmm\-yy;@">
                  <c:v>45444</c:v>
                </c:pt>
                <c:pt idx="17" formatCode="[$-409]mmm\-yy;@">
                  <c:v>45474</c:v>
                </c:pt>
                <c:pt idx="18" formatCode="[$-409]mmm\-yy;@">
                  <c:v>45505</c:v>
                </c:pt>
                <c:pt idx="19" formatCode="[$-409]mmm\-yy;@">
                  <c:v>45536</c:v>
                </c:pt>
                <c:pt idx="20" formatCode="[$-409]mmm\-yy;@">
                  <c:v>45566</c:v>
                </c:pt>
                <c:pt idx="21" formatCode="[$-409]mmm\-yy;@">
                  <c:v>45597</c:v>
                </c:pt>
                <c:pt idx="22" formatCode="[$-409]mmm\-yy;@">
                  <c:v>45627</c:v>
                </c:pt>
                <c:pt idx="23" formatCode="[$-409]mmm\-yy;@">
                  <c:v>45658</c:v>
                </c:pt>
                <c:pt idx="24" formatCode="[$-409]mmm\-yy;@">
                  <c:v>45689</c:v>
                </c:pt>
                <c:pt idx="25" formatCode="[$-409]mmm\-yy;@">
                  <c:v>45717</c:v>
                </c:pt>
              </c:numCache>
            </c:numRef>
          </c:cat>
          <c:val>
            <c:numRef>
              <c:f>Sheet1!$D$2:$D$27</c:f>
              <c:numCache>
                <c:formatCode>General</c:formatCode>
                <c:ptCount val="26"/>
                <c:pt idx="1">
                  <c:v>5.4</c:v>
                </c:pt>
                <c:pt idx="2">
                  <c:v>5.4</c:v>
                </c:pt>
                <c:pt idx="3">
                  <c:v>4.7</c:v>
                </c:pt>
                <c:pt idx="4">
                  <c:v>5.4</c:v>
                </c:pt>
                <c:pt idx="5">
                  <c:v>4.5</c:v>
                </c:pt>
                <c:pt idx="6">
                  <c:v>6.8</c:v>
                </c:pt>
                <c:pt idx="7">
                  <c:v>6.2</c:v>
                </c:pt>
                <c:pt idx="8">
                  <c:v>6.5</c:v>
                </c:pt>
                <c:pt idx="9">
                  <c:v>4</c:v>
                </c:pt>
                <c:pt idx="10">
                  <c:v>4.5</c:v>
                </c:pt>
                <c:pt idx="11">
                  <c:v>5.8</c:v>
                </c:pt>
                <c:pt idx="12">
                  <c:v>4.9000000000000004</c:v>
                </c:pt>
                <c:pt idx="13">
                  <c:v>3.9</c:v>
                </c:pt>
                <c:pt idx="14" formatCode="0.0">
                  <c:v>4.6500000000000004</c:v>
                </c:pt>
                <c:pt idx="15" formatCode="0.0">
                  <c:v>4.76</c:v>
                </c:pt>
                <c:pt idx="16" formatCode="0.0">
                  <c:v>4.84</c:v>
                </c:pt>
                <c:pt idx="17" formatCode="0.0">
                  <c:v>4.6399999999999997</c:v>
                </c:pt>
                <c:pt idx="18" formatCode="0.0">
                  <c:v>4.1500000000000004</c:v>
                </c:pt>
                <c:pt idx="19" formatCode="0.0">
                  <c:v>4.28</c:v>
                </c:pt>
                <c:pt idx="20" formatCode="0.0">
                  <c:v>4.03</c:v>
                </c:pt>
                <c:pt idx="21" formatCode="0.0">
                  <c:v>3.52</c:v>
                </c:pt>
                <c:pt idx="22" formatCode="0.0">
                  <c:v>3.84</c:v>
                </c:pt>
                <c:pt idx="23" formatCode="0.0">
                  <c:v>4.4000000000000004</c:v>
                </c:pt>
                <c:pt idx="24" formatCode="0.0">
                  <c:v>4.32</c:v>
                </c:pt>
                <c:pt idx="25" formatCode="0.0">
                  <c:v>4.1900000000000004</c:v>
                </c:pt>
              </c:numCache>
            </c:numRef>
          </c:val>
          <c:smooth val="0"/>
          <c:extLst>
            <c:ext xmlns:c16="http://schemas.microsoft.com/office/drawing/2014/chart" uri="{C3380CC4-5D6E-409C-BE32-E72D297353CC}">
              <c16:uniqueId val="{00000003-9135-4495-AC17-5A631773237F}"/>
            </c:ext>
          </c:extLst>
        </c:ser>
        <c:dLbls>
          <c:showLegendKey val="0"/>
          <c:showVal val="1"/>
          <c:showCatName val="0"/>
          <c:showSerName val="0"/>
          <c:showPercent val="0"/>
          <c:showBubbleSize val="0"/>
        </c:dLbls>
        <c:hiLowLines>
          <c:spPr>
            <a:ln w="0" cap="sq" cmpd="sng" algn="ctr">
              <a:solidFill>
                <a:schemeClr val="accent6"/>
              </a:solidFill>
              <a:prstDash val="sysDot"/>
              <a:round/>
            </a:ln>
            <a:effectLst/>
          </c:spPr>
        </c:hiLowLines>
        <c:axId val="894618335"/>
        <c:axId val="2009007951"/>
      </c:stockChart>
      <c:dateAx>
        <c:axId val="894618335"/>
        <c:scaling>
          <c:orientation val="minMax"/>
        </c:scaling>
        <c:delete val="0"/>
        <c:axPos val="b"/>
        <c:numFmt formatCode="mmm\-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en-US"/>
          </a:p>
        </c:txPr>
        <c:crossAx val="2009007951"/>
        <c:crosses val="autoZero"/>
        <c:auto val="1"/>
        <c:lblOffset val="100"/>
        <c:baseTimeUnit val="days"/>
      </c:dateAx>
      <c:valAx>
        <c:axId val="2009007951"/>
        <c:scaling>
          <c:orientation val="minMax"/>
        </c:scaling>
        <c:delete val="1"/>
        <c:axPos val="l"/>
        <c:numFmt formatCode="General" sourceLinked="1"/>
        <c:majorTickMark val="none"/>
        <c:minorTickMark val="none"/>
        <c:tickLblPos val="nextTo"/>
        <c:crossAx val="894618335"/>
        <c:crosses val="autoZero"/>
        <c:crossBetween val="between"/>
      </c:valAx>
      <c:spPr>
        <a:noFill/>
        <a:ln cmpd="thickThin">
          <a:noFill/>
          <a:prstDash val="solid"/>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862513131745701"/>
          <c:y val="2.3798907830844247E-4"/>
          <c:w val="1"/>
          <c:h val="0.78617493726502763"/>
        </c:manualLayout>
      </c:layout>
      <c:stockChart>
        <c:ser>
          <c:idx val="0"/>
          <c:order val="0"/>
          <c:tx>
            <c:strRef>
              <c:f>Sheet1!$B$1</c:f>
              <c:strCache>
                <c:ptCount val="1"/>
                <c:pt idx="0">
                  <c:v>Maximum</c:v>
                </c:pt>
              </c:strCache>
            </c:strRef>
          </c:tx>
          <c:spPr>
            <a:ln w="25400" cap="rnd">
              <a:no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lang="ja-JP" sz="1000" b="1" i="0" u="none" strike="noStrike" kern="1200" baseline="0">
                    <a:solidFill>
                      <a:schemeClr val="accent6">
                        <a:lumMod val="60000"/>
                        <a:lumOff val="4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mmm\-yy</c:formatCode>
                <c:ptCount val="4"/>
                <c:pt idx="1">
                  <c:v>44621</c:v>
                </c:pt>
                <c:pt idx="2">
                  <c:v>44652</c:v>
                </c:pt>
                <c:pt idx="3">
                  <c:v>44682</c:v>
                </c:pt>
              </c:numCache>
            </c:numRef>
          </c:cat>
          <c:val>
            <c:numRef>
              <c:f>Sheet1!$B$2:$B$5</c:f>
              <c:numCache>
                <c:formatCode>General</c:formatCode>
                <c:ptCount val="4"/>
                <c:pt idx="1">
                  <c:v>20</c:v>
                </c:pt>
                <c:pt idx="2">
                  <c:v>20</c:v>
                </c:pt>
                <c:pt idx="3">
                  <c:v>12</c:v>
                </c:pt>
              </c:numCache>
            </c:numRef>
          </c:val>
          <c:smooth val="0"/>
          <c:extLst>
            <c:ext xmlns:c16="http://schemas.microsoft.com/office/drawing/2014/chart" uri="{C3380CC4-5D6E-409C-BE32-E72D297353CC}">
              <c16:uniqueId val="{00000000-C751-4066-828C-5A7F73CFFB6D}"/>
            </c:ext>
          </c:extLst>
        </c:ser>
        <c:ser>
          <c:idx val="1"/>
          <c:order val="1"/>
          <c:tx>
            <c:strRef>
              <c:f>Sheet1!$C$1</c:f>
              <c:strCache>
                <c:ptCount val="1"/>
                <c:pt idx="0">
                  <c:v>Minimum</c:v>
                </c:pt>
              </c:strCache>
            </c:strRef>
          </c:tx>
          <c:spPr>
            <a:ln w="25400" cap="rnd">
              <a:no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lang="ja-JP" sz="1000" b="0" i="0" u="none" strike="noStrike" kern="1200" baseline="0">
                    <a:solidFill>
                      <a:schemeClr val="accent2"/>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mmm\-yy</c:formatCode>
                <c:ptCount val="4"/>
                <c:pt idx="1">
                  <c:v>44621</c:v>
                </c:pt>
                <c:pt idx="2">
                  <c:v>44652</c:v>
                </c:pt>
                <c:pt idx="3">
                  <c:v>44682</c:v>
                </c:pt>
              </c:numCache>
            </c:numRef>
          </c:cat>
          <c:val>
            <c:numRef>
              <c:f>Sheet1!$C$2:$C$5</c:f>
              <c:numCache>
                <c:formatCode>General</c:formatCode>
                <c:ptCount val="4"/>
                <c:pt idx="1">
                  <c:v>2.4</c:v>
                </c:pt>
                <c:pt idx="2">
                  <c:v>2.8</c:v>
                </c:pt>
                <c:pt idx="3">
                  <c:v>1</c:v>
                </c:pt>
              </c:numCache>
            </c:numRef>
          </c:val>
          <c:smooth val="0"/>
          <c:extLst>
            <c:ext xmlns:c16="http://schemas.microsoft.com/office/drawing/2014/chart" uri="{C3380CC4-5D6E-409C-BE32-E72D297353CC}">
              <c16:uniqueId val="{00000001-C751-4066-828C-5A7F73CFFB6D}"/>
            </c:ext>
          </c:extLst>
        </c:ser>
        <c:ser>
          <c:idx val="2"/>
          <c:order val="2"/>
          <c:tx>
            <c:strRef>
              <c:f>Sheet1!$D$1</c:f>
              <c:strCache>
                <c:ptCount val="1"/>
                <c:pt idx="0">
                  <c:v>Average</c:v>
                </c:pt>
              </c:strCache>
            </c:strRef>
          </c:tx>
          <c:spPr>
            <a:ln w="25400" cap="rnd">
              <a:solidFill>
                <a:schemeClr val="accent6"/>
              </a:solidFill>
              <a:round/>
            </a:ln>
            <a:effectLst>
              <a:outerShdw blurRad="50800" algn="ctr" rotWithShape="0">
                <a:srgbClr val="000000">
                  <a:alpha val="43137"/>
                </a:srgbClr>
              </a:outerShdw>
            </a:effectLst>
          </c:spPr>
          <c:marker>
            <c:symbol val="dot"/>
            <c:size val="3"/>
            <c:spPr>
              <a:solidFill>
                <a:schemeClr val="accent3"/>
              </a:solidFill>
              <a:ln w="9525">
                <a:solidFill>
                  <a:schemeClr val="accent3"/>
                </a:solidFill>
              </a:ln>
              <a:effectLst>
                <a:outerShdw blurRad="50800" algn="ctr" rotWithShape="0">
                  <a:srgbClr val="000000">
                    <a:alpha val="43137"/>
                  </a:srgbClr>
                </a:outerShdw>
              </a:effectLst>
            </c:spPr>
          </c:marker>
          <c:dPt>
            <c:idx val="17"/>
            <c:marker>
              <c:symbol val="dot"/>
              <c:size val="3"/>
              <c:spPr>
                <a:pattFill prst="pct5">
                  <a:fgClr>
                    <a:schemeClr val="accent1"/>
                  </a:fgClr>
                  <a:bgClr>
                    <a:schemeClr val="bg1"/>
                  </a:bgClr>
                </a:pattFill>
                <a:ln w="9525">
                  <a:solidFill>
                    <a:schemeClr val="accent3"/>
                  </a:solidFill>
                </a:ln>
                <a:effectLst>
                  <a:outerShdw blurRad="50800" algn="ctr" rotWithShape="0">
                    <a:srgbClr val="000000">
                      <a:alpha val="43137"/>
                    </a:srgbClr>
                  </a:outerShdw>
                </a:effectLst>
              </c:spPr>
            </c:marker>
            <c:bubble3D val="0"/>
            <c:extLst>
              <c:ext xmlns:c16="http://schemas.microsoft.com/office/drawing/2014/chart" uri="{C3380CC4-5D6E-409C-BE32-E72D297353CC}">
                <c16:uniqueId val="{00000002-C751-4066-828C-5A7F73CFFB6D}"/>
              </c:ext>
            </c:extLst>
          </c:dPt>
          <c:dLbls>
            <c:spPr>
              <a:noFill/>
              <a:ln>
                <a:noFill/>
              </a:ln>
              <a:effectLst/>
            </c:spPr>
            <c:txPr>
              <a:bodyPr rot="0" spcFirstLastPara="1" vertOverflow="ellipsis" vert="horz" wrap="square" lIns="38100" tIns="19050" rIns="38100" bIns="19050" anchor="ctr" anchorCtr="1">
                <a:spAutoFit/>
              </a:bodyPr>
              <a:lstStyle/>
              <a:p>
                <a:pPr>
                  <a:defRPr lang="ja-JP" sz="1000" b="1"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mmm\-yy</c:formatCode>
                <c:ptCount val="4"/>
                <c:pt idx="1">
                  <c:v>44621</c:v>
                </c:pt>
                <c:pt idx="2">
                  <c:v>44652</c:v>
                </c:pt>
                <c:pt idx="3">
                  <c:v>44682</c:v>
                </c:pt>
              </c:numCache>
            </c:numRef>
          </c:cat>
          <c:val>
            <c:numRef>
              <c:f>Sheet1!$D$2:$D$5</c:f>
              <c:numCache>
                <c:formatCode>General</c:formatCode>
                <c:ptCount val="4"/>
                <c:pt idx="1">
                  <c:v>8.1999999999999993</c:v>
                </c:pt>
                <c:pt idx="2">
                  <c:v>10</c:v>
                </c:pt>
                <c:pt idx="3">
                  <c:v>6.8</c:v>
                </c:pt>
              </c:numCache>
            </c:numRef>
          </c:val>
          <c:smooth val="0"/>
          <c:extLst>
            <c:ext xmlns:c16="http://schemas.microsoft.com/office/drawing/2014/chart" uri="{C3380CC4-5D6E-409C-BE32-E72D297353CC}">
              <c16:uniqueId val="{00000003-C751-4066-828C-5A7F73CFFB6D}"/>
            </c:ext>
          </c:extLst>
        </c:ser>
        <c:dLbls>
          <c:showLegendKey val="0"/>
          <c:showVal val="1"/>
          <c:showCatName val="0"/>
          <c:showSerName val="0"/>
          <c:showPercent val="0"/>
          <c:showBubbleSize val="0"/>
        </c:dLbls>
        <c:hiLowLines>
          <c:spPr>
            <a:ln w="0" cap="sq" cmpd="sng" algn="ctr">
              <a:solidFill>
                <a:schemeClr val="accent6"/>
              </a:solidFill>
              <a:prstDash val="sysDot"/>
              <a:round/>
            </a:ln>
            <a:effectLst/>
          </c:spPr>
        </c:hiLowLines>
        <c:axId val="894618335"/>
        <c:axId val="2009007951"/>
      </c:stockChart>
      <c:dateAx>
        <c:axId val="894618335"/>
        <c:scaling>
          <c:orientation val="minMax"/>
        </c:scaling>
        <c:delete val="0"/>
        <c:axPos val="b"/>
        <c:numFmt formatCode="mmm\-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en-US"/>
          </a:p>
        </c:txPr>
        <c:crossAx val="2009007951"/>
        <c:crosses val="autoZero"/>
        <c:auto val="1"/>
        <c:lblOffset val="100"/>
        <c:baseTimeUnit val="days"/>
      </c:dateAx>
      <c:valAx>
        <c:axId val="2009007951"/>
        <c:scaling>
          <c:orientation val="minMax"/>
        </c:scaling>
        <c:delete val="1"/>
        <c:axPos val="l"/>
        <c:numFmt formatCode="General" sourceLinked="1"/>
        <c:majorTickMark val="none"/>
        <c:minorTickMark val="none"/>
        <c:tickLblPos val="nextTo"/>
        <c:crossAx val="894618335"/>
        <c:crosses val="autoZero"/>
        <c:crossBetween val="between"/>
      </c:valAx>
      <c:spPr>
        <a:noFill/>
        <a:ln cmpd="thickThin">
          <a:noFill/>
          <a:prstDash val="solid"/>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5.2371053248054564E-2"/>
          <c:w val="0.99132752193841034"/>
          <c:h val="0.63728121721087994"/>
        </c:manualLayout>
      </c:layout>
      <c:lineChart>
        <c:grouping val="standard"/>
        <c:varyColors val="0"/>
        <c:ser>
          <c:idx val="0"/>
          <c:order val="0"/>
          <c:tx>
            <c:strRef>
              <c:f>Sheet1!$B$1</c:f>
              <c:strCache>
                <c:ptCount val="1"/>
                <c:pt idx="0">
                  <c:v>Bilateral</c:v>
                </c:pt>
              </c:strCache>
            </c:strRef>
          </c:tx>
          <c:spPr>
            <a:ln w="28575" cap="rnd">
              <a:solidFill>
                <a:schemeClr val="accent1"/>
              </a:solidFill>
              <a:round/>
            </a:ln>
            <a:effectLst/>
          </c:spPr>
          <c:marker>
            <c:symbol val="none"/>
          </c:marker>
          <c:dLbls>
            <c:dLbl>
              <c:idx val="3"/>
              <c:layout>
                <c:manualLayout>
                  <c:x val="-3.8242296532676183E-2"/>
                  <c:y val="6.684649622722103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8E0-4785-ADE7-0CC3D04BE5E4}"/>
                </c:ext>
              </c:extLst>
            </c:dLbl>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FY15</c:v>
                </c:pt>
                <c:pt idx="1">
                  <c:v>FY20</c:v>
                </c:pt>
                <c:pt idx="2">
                  <c:v>FY21</c:v>
                </c:pt>
                <c:pt idx="3">
                  <c:v>FY22</c:v>
                </c:pt>
                <c:pt idx="4">
                  <c:v>FY23</c:v>
                </c:pt>
                <c:pt idx="5">
                  <c:v>FY24</c:v>
                </c:pt>
                <c:pt idx="6">
                  <c:v>FY25</c:v>
                </c:pt>
              </c:strCache>
            </c:strRef>
          </c:cat>
          <c:val>
            <c:numRef>
              <c:f>Sheet1!$B$2:$B$8</c:f>
              <c:numCache>
                <c:formatCode>0.0</c:formatCode>
                <c:ptCount val="7"/>
                <c:pt idx="0">
                  <c:v>4.28</c:v>
                </c:pt>
                <c:pt idx="1">
                  <c:v>4.51</c:v>
                </c:pt>
                <c:pt idx="2">
                  <c:v>3.47</c:v>
                </c:pt>
                <c:pt idx="3">
                  <c:v>3.72</c:v>
                </c:pt>
                <c:pt idx="4">
                  <c:v>5.85</c:v>
                </c:pt>
                <c:pt idx="5" formatCode="General">
                  <c:v>7.33</c:v>
                </c:pt>
                <c:pt idx="6" formatCode="General">
                  <c:v>6.85</c:v>
                </c:pt>
              </c:numCache>
            </c:numRef>
          </c:val>
          <c:smooth val="1"/>
          <c:extLst>
            <c:ext xmlns:c16="http://schemas.microsoft.com/office/drawing/2014/chart" uri="{C3380CC4-5D6E-409C-BE32-E72D297353CC}">
              <c16:uniqueId val="{00000001-48E0-4785-ADE7-0CC3D04BE5E4}"/>
            </c:ext>
          </c:extLst>
        </c:ser>
        <c:ser>
          <c:idx val="1"/>
          <c:order val="1"/>
          <c:tx>
            <c:strRef>
              <c:f>Sheet1!$C$1</c:f>
              <c:strCache>
                <c:ptCount val="1"/>
                <c:pt idx="0">
                  <c:v>Power exchange (IEX)
</c:v>
                </c:pt>
              </c:strCache>
            </c:strRef>
          </c:tx>
          <c:spPr>
            <a:ln w="28575" cap="rnd">
              <a:solidFill>
                <a:schemeClr val="accent6"/>
              </a:solidFill>
              <a:round/>
            </a:ln>
            <a:effectLst/>
          </c:spPr>
          <c:marker>
            <c:symbol val="none"/>
          </c:marker>
          <c:dLbls>
            <c:dLbl>
              <c:idx val="3"/>
              <c:layout>
                <c:manualLayout>
                  <c:x val="-3.8242296532676183E-2"/>
                  <c:y val="-8.559670538858739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8E0-4785-ADE7-0CC3D04BE5E4}"/>
                </c:ext>
              </c:extLst>
            </c:dLbl>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FY15</c:v>
                </c:pt>
                <c:pt idx="1">
                  <c:v>FY20</c:v>
                </c:pt>
                <c:pt idx="2">
                  <c:v>FY21</c:v>
                </c:pt>
                <c:pt idx="3">
                  <c:v>FY22</c:v>
                </c:pt>
                <c:pt idx="4">
                  <c:v>FY23</c:v>
                </c:pt>
                <c:pt idx="5">
                  <c:v>FY24</c:v>
                </c:pt>
                <c:pt idx="6">
                  <c:v>FY25</c:v>
                </c:pt>
              </c:strCache>
            </c:strRef>
          </c:cat>
          <c:val>
            <c:numRef>
              <c:f>Sheet1!$C$2:$C$8</c:f>
              <c:numCache>
                <c:formatCode>0.0</c:formatCode>
                <c:ptCount val="7"/>
                <c:pt idx="0">
                  <c:v>3.49</c:v>
                </c:pt>
                <c:pt idx="1">
                  <c:v>3.16</c:v>
                </c:pt>
                <c:pt idx="2">
                  <c:v>2.99</c:v>
                </c:pt>
                <c:pt idx="3">
                  <c:v>4.78</c:v>
                </c:pt>
                <c:pt idx="4">
                  <c:v>6.03</c:v>
                </c:pt>
                <c:pt idx="5" formatCode="_(* #,##0.00_);_(* \(#,##0.00\);_(* &quot; - &quot;_);_(* @_)">
                  <c:v>5.16</c:v>
                </c:pt>
                <c:pt idx="6" formatCode="General">
                  <c:v>4.25</c:v>
                </c:pt>
              </c:numCache>
            </c:numRef>
          </c:val>
          <c:smooth val="1"/>
          <c:extLst>
            <c:ext xmlns:c16="http://schemas.microsoft.com/office/drawing/2014/chart" uri="{C3380CC4-5D6E-409C-BE32-E72D297353CC}">
              <c16:uniqueId val="{00000003-48E0-4785-ADE7-0CC3D04BE5E4}"/>
            </c:ext>
          </c:extLst>
        </c:ser>
        <c:dLbls>
          <c:dLblPos val="t"/>
          <c:showLegendKey val="0"/>
          <c:showVal val="1"/>
          <c:showCatName val="0"/>
          <c:showSerName val="0"/>
          <c:showPercent val="0"/>
          <c:showBubbleSize val="0"/>
        </c:dLbls>
        <c:smooth val="0"/>
        <c:axId val="1698919615"/>
        <c:axId val="2096135919"/>
      </c:lineChart>
      <c:catAx>
        <c:axId val="169891961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2096135919"/>
        <c:crosses val="autoZero"/>
        <c:auto val="1"/>
        <c:lblAlgn val="ctr"/>
        <c:lblOffset val="100"/>
        <c:noMultiLvlLbl val="0"/>
      </c:catAx>
      <c:valAx>
        <c:axId val="2096135919"/>
        <c:scaling>
          <c:orientation val="minMax"/>
        </c:scaling>
        <c:delete val="1"/>
        <c:axPos val="l"/>
        <c:numFmt formatCode="0.0" sourceLinked="1"/>
        <c:majorTickMark val="none"/>
        <c:minorTickMark val="none"/>
        <c:tickLblPos val="nextTo"/>
        <c:crossAx val="1698919615"/>
        <c:crosses val="autoZero"/>
        <c:crossBetween val="between"/>
      </c:valAx>
      <c:spPr>
        <a:noFill/>
        <a:ln>
          <a:noFill/>
        </a:ln>
        <a:effectLst/>
      </c:spPr>
    </c:plotArea>
    <c:legend>
      <c:legendPos val="b"/>
      <c:layout>
        <c:manualLayout>
          <c:xMode val="edge"/>
          <c:yMode val="edge"/>
          <c:x val="0.15816732365921243"/>
          <c:y val="0.85263098710942831"/>
          <c:w val="0.68366512391044887"/>
          <c:h val="0.12790439012482752"/>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b="0" i="0">
          <a:latin typeface="Arial" panose="020B0604020202020204" pitchFamily="34" charset="0"/>
          <a:cs typeface="Arial" panose="020B0604020202020204" pitchFamily="34" charset="0"/>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7190961453256534"/>
          <c:y val="7.650273224043716E-2"/>
          <c:w val="0.75409836065573765"/>
          <c:h val="0.73926619828259177"/>
        </c:manualLayout>
      </c:layout>
      <c:scatterChart>
        <c:scatterStyle val="lineMarker"/>
        <c:varyColors val="0"/>
        <c:ser>
          <c:idx val="0"/>
          <c:order val="0"/>
          <c:spPr>
            <a:ln w="28575" cmpd="sng" algn="ctr">
              <a:solidFill>
                <a:srgbClr val="0097A9"/>
              </a:solidFill>
              <a:prstDash val="solid"/>
            </a:ln>
          </c:spPr>
          <c:marker>
            <c:symbol val="none"/>
          </c:marker>
          <c:xVal>
            <c:numRef>
              <c:f>Sheet1!$A$1:$I$1</c:f>
              <c:numCache>
                <c:formatCode>General</c:formatCode>
                <c:ptCount val="9"/>
                <c:pt idx="0">
                  <c:v>0</c:v>
                </c:pt>
                <c:pt idx="1">
                  <c:v>50</c:v>
                </c:pt>
                <c:pt idx="2">
                  <c:v>100</c:v>
                </c:pt>
                <c:pt idx="3">
                  <c:v>150</c:v>
                </c:pt>
                <c:pt idx="4">
                  <c:v>200</c:v>
                </c:pt>
                <c:pt idx="5">
                  <c:v>250</c:v>
                </c:pt>
                <c:pt idx="6">
                  <c:v>300</c:v>
                </c:pt>
                <c:pt idx="7">
                  <c:v>350</c:v>
                </c:pt>
                <c:pt idx="8">
                  <c:v>400</c:v>
                </c:pt>
              </c:numCache>
            </c:numRef>
          </c:xVal>
          <c:yVal>
            <c:numRef>
              <c:f>Sheet1!$A$2:$I$2</c:f>
              <c:numCache>
                <c:formatCode>General</c:formatCode>
                <c:ptCount val="9"/>
                <c:pt idx="1">
                  <c:v>20000</c:v>
                </c:pt>
                <c:pt idx="2">
                  <c:v>15500</c:v>
                </c:pt>
                <c:pt idx="3">
                  <c:v>10000</c:v>
                </c:pt>
                <c:pt idx="4">
                  <c:v>7000</c:v>
                </c:pt>
                <c:pt idx="5">
                  <c:v>5000</c:v>
                </c:pt>
                <c:pt idx="6">
                  <c:v>3000</c:v>
                </c:pt>
                <c:pt idx="7">
                  <c:v>1500</c:v>
                </c:pt>
                <c:pt idx="8">
                  <c:v>0</c:v>
                </c:pt>
              </c:numCache>
            </c:numRef>
          </c:yVal>
          <c:smooth val="0"/>
          <c:extLst>
            <c:ext xmlns:c16="http://schemas.microsoft.com/office/drawing/2014/chart" uri="{C3380CC4-5D6E-409C-BE32-E72D297353CC}">
              <c16:uniqueId val="{00000000-25E0-428F-BFB0-D6174800760C}"/>
            </c:ext>
          </c:extLst>
        </c:ser>
        <c:ser>
          <c:idx val="1"/>
          <c:order val="1"/>
          <c:spPr>
            <a:ln w="28575" cmpd="sng" algn="ctr">
              <a:solidFill>
                <a:srgbClr val="ED8B00"/>
              </a:solidFill>
              <a:prstDash val="solid"/>
            </a:ln>
          </c:spPr>
          <c:marker>
            <c:symbol val="none"/>
          </c:marker>
          <c:xVal>
            <c:numRef>
              <c:f>Sheet1!$A$1:$I$1</c:f>
              <c:numCache>
                <c:formatCode>General</c:formatCode>
                <c:ptCount val="9"/>
                <c:pt idx="0">
                  <c:v>0</c:v>
                </c:pt>
                <c:pt idx="1">
                  <c:v>50</c:v>
                </c:pt>
                <c:pt idx="2">
                  <c:v>100</c:v>
                </c:pt>
                <c:pt idx="3">
                  <c:v>150</c:v>
                </c:pt>
                <c:pt idx="4">
                  <c:v>200</c:v>
                </c:pt>
                <c:pt idx="5">
                  <c:v>250</c:v>
                </c:pt>
                <c:pt idx="6">
                  <c:v>300</c:v>
                </c:pt>
                <c:pt idx="7">
                  <c:v>350</c:v>
                </c:pt>
                <c:pt idx="8">
                  <c:v>400</c:v>
                </c:pt>
              </c:numCache>
            </c:numRef>
          </c:xVal>
          <c:yVal>
            <c:numRef>
              <c:f>Sheet1!$A$3:$I$3</c:f>
              <c:numCache>
                <c:formatCode>General</c:formatCode>
                <c:ptCount val="9"/>
                <c:pt idx="0">
                  <c:v>0</c:v>
                </c:pt>
                <c:pt idx="1">
                  <c:v>1000</c:v>
                </c:pt>
                <c:pt idx="2">
                  <c:v>2000</c:v>
                </c:pt>
                <c:pt idx="3">
                  <c:v>3000</c:v>
                </c:pt>
                <c:pt idx="4">
                  <c:v>4000</c:v>
                </c:pt>
                <c:pt idx="5">
                  <c:v>6000</c:v>
                </c:pt>
                <c:pt idx="6">
                  <c:v>13000</c:v>
                </c:pt>
                <c:pt idx="7">
                  <c:v>20000</c:v>
                </c:pt>
              </c:numCache>
            </c:numRef>
          </c:yVal>
          <c:smooth val="0"/>
          <c:extLst>
            <c:ext xmlns:c16="http://schemas.microsoft.com/office/drawing/2014/chart" uri="{C3380CC4-5D6E-409C-BE32-E72D297353CC}">
              <c16:uniqueId val="{00000001-25E0-428F-BFB0-D6174800760C}"/>
            </c:ext>
          </c:extLst>
        </c:ser>
        <c:dLbls>
          <c:showLegendKey val="0"/>
          <c:showVal val="0"/>
          <c:showCatName val="0"/>
          <c:showSerName val="0"/>
          <c:showPercent val="0"/>
          <c:showBubbleSize val="0"/>
        </c:dLbls>
        <c:axId val="4"/>
        <c:axId val="5"/>
      </c:scatterChart>
      <c:valAx>
        <c:axId val="4"/>
        <c:scaling>
          <c:orientation val="minMax"/>
          <c:max val="400"/>
          <c:min val="0"/>
        </c:scaling>
        <c:delete val="0"/>
        <c:axPos val="b"/>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kumimoji="1" lang="ja-JP" sz="1000" kern="1200">
                <a:solidFill>
                  <a:schemeClr val="tx1"/>
                </a:solidFill>
                <a:latin typeface="Arial"/>
                <a:ea typeface="+mn-ea"/>
                <a:cs typeface="+mn-cs"/>
                <a:sym typeface="Arial"/>
              </a:defRPr>
            </a:pPr>
            <a:endParaRPr lang="en-US"/>
          </a:p>
        </c:txPr>
        <c:crossAx val="5"/>
        <c:crosses val="min"/>
        <c:crossBetween val="midCat"/>
        <c:majorUnit val="50"/>
      </c:valAx>
      <c:valAx>
        <c:axId val="5"/>
        <c:scaling>
          <c:orientation val="minMax"/>
          <c:max val="200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lang="ja-JP" sz="1000" kern="1200">
                <a:solidFill>
                  <a:schemeClr val="tx1"/>
                </a:solidFill>
                <a:latin typeface="Arial"/>
                <a:ea typeface="Arial"/>
                <a:cs typeface="Arial"/>
                <a:sym typeface="Arial"/>
              </a:defRPr>
            </a:pPr>
            <a:endParaRPr lang="en-US"/>
          </a:p>
        </c:txPr>
        <c:crossAx val="4"/>
        <c:crosses val="min"/>
        <c:crossBetween val="midCat"/>
        <c:majorUnit val="5000"/>
      </c:valAx>
    </c:plotArea>
    <c:plotVisOnly val="0"/>
    <c:dispBlanksAs val="gap"/>
    <c:showDLblsOverMax val="1"/>
  </c:chart>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3294621707389932E-2"/>
          <c:y val="3.5995194933231923E-2"/>
          <c:w val="0.94670537829261003"/>
          <c:h val="0.74767857239411639"/>
        </c:manualLayout>
      </c:layout>
      <c:lineChart>
        <c:grouping val="standard"/>
        <c:varyColors val="0"/>
        <c:ser>
          <c:idx val="0"/>
          <c:order val="0"/>
          <c:tx>
            <c:strRef>
              <c:f>Sheet1!$B$1</c:f>
              <c:strCache>
                <c:ptCount val="1"/>
                <c:pt idx="0">
                  <c:v>Telangana</c:v>
                </c:pt>
              </c:strCache>
            </c:strRef>
          </c:tx>
          <c:spPr>
            <a:ln w="28575" cap="rnd">
              <a:solidFill>
                <a:schemeClr val="accent1"/>
              </a:solidFill>
              <a:round/>
            </a:ln>
            <a:effectLst/>
          </c:spPr>
          <c:marker>
            <c:symbol val="none"/>
          </c:marker>
          <c:dPt>
            <c:idx val="4"/>
            <c:marker>
              <c:symbol val="none"/>
            </c:marker>
            <c:bubble3D val="0"/>
            <c:extLst>
              <c:ext xmlns:c16="http://schemas.microsoft.com/office/drawing/2014/chart" uri="{C3380CC4-5D6E-409C-BE32-E72D297353CC}">
                <c16:uniqueId val="{00000000-33D1-4C8E-9064-C50806BFE36C}"/>
              </c:ext>
            </c:extLst>
          </c:dPt>
          <c:cat>
            <c:numRef>
              <c:f>Sheet1!$A$2:$A$13</c:f>
              <c:numCache>
                <c:formatCode>[$-409]mmm\-yy;@</c:formatCode>
                <c:ptCount val="12"/>
                <c:pt idx="0">
                  <c:v>45406</c:v>
                </c:pt>
                <c:pt idx="1">
                  <c:v>45436</c:v>
                </c:pt>
                <c:pt idx="2">
                  <c:v>45467</c:v>
                </c:pt>
                <c:pt idx="3">
                  <c:v>45497</c:v>
                </c:pt>
                <c:pt idx="4">
                  <c:v>45528</c:v>
                </c:pt>
                <c:pt idx="5">
                  <c:v>45559</c:v>
                </c:pt>
                <c:pt idx="6">
                  <c:v>45589</c:v>
                </c:pt>
                <c:pt idx="7">
                  <c:v>45620</c:v>
                </c:pt>
                <c:pt idx="8">
                  <c:v>45650</c:v>
                </c:pt>
                <c:pt idx="9">
                  <c:v>45681</c:v>
                </c:pt>
                <c:pt idx="10">
                  <c:v>45712</c:v>
                </c:pt>
                <c:pt idx="11">
                  <c:v>45740</c:v>
                </c:pt>
              </c:numCache>
            </c:numRef>
          </c:cat>
          <c:val>
            <c:numRef>
              <c:f>Sheet1!$B$2:$B$13</c:f>
              <c:numCache>
                <c:formatCode>_(* #,##0_);_(* \(#,##0\);_(* " - "_);_(* @_)</c:formatCode>
                <c:ptCount val="12"/>
                <c:pt idx="0">
                  <c:v>512.5</c:v>
                </c:pt>
                <c:pt idx="1">
                  <c:v>216.66</c:v>
                </c:pt>
                <c:pt idx="2">
                  <c:v>846.52</c:v>
                </c:pt>
                <c:pt idx="3">
                  <c:v>1954.62</c:v>
                </c:pt>
                <c:pt idx="4">
                  <c:v>1967.1</c:v>
                </c:pt>
                <c:pt idx="5">
                  <c:v>798.06</c:v>
                </c:pt>
                <c:pt idx="6">
                  <c:v>350.33</c:v>
                </c:pt>
                <c:pt idx="7">
                  <c:v>698.5</c:v>
                </c:pt>
                <c:pt idx="8">
                  <c:v>2325.8200000000002</c:v>
                </c:pt>
                <c:pt idx="9">
                  <c:v>2192.41</c:v>
                </c:pt>
                <c:pt idx="10">
                  <c:v>1750.99</c:v>
                </c:pt>
                <c:pt idx="11">
                  <c:v>1571.87</c:v>
                </c:pt>
              </c:numCache>
            </c:numRef>
          </c:val>
          <c:smooth val="0"/>
          <c:extLst>
            <c:ext xmlns:c16="http://schemas.microsoft.com/office/drawing/2014/chart" uri="{C3380CC4-5D6E-409C-BE32-E72D297353CC}">
              <c16:uniqueId val="{00000001-33D1-4C8E-9064-C50806BFE36C}"/>
            </c:ext>
          </c:extLst>
        </c:ser>
        <c:ser>
          <c:idx val="1"/>
          <c:order val="1"/>
          <c:tx>
            <c:strRef>
              <c:f>Sheet1!$C$1</c:f>
              <c:strCache>
                <c:ptCount val="1"/>
                <c:pt idx="0">
                  <c:v>Gujarat</c:v>
                </c:pt>
              </c:strCache>
            </c:strRef>
          </c:tx>
          <c:spPr>
            <a:ln w="28575" cap="rnd">
              <a:solidFill>
                <a:srgbClr val="ED8B00"/>
              </a:solidFill>
              <a:round/>
            </a:ln>
            <a:effectLst/>
          </c:spPr>
          <c:marker>
            <c:symbol val="none"/>
          </c:marker>
          <c:cat>
            <c:numRef>
              <c:f>Sheet1!$A$2:$A$13</c:f>
              <c:numCache>
                <c:formatCode>[$-409]mmm\-yy;@</c:formatCode>
                <c:ptCount val="12"/>
                <c:pt idx="0">
                  <c:v>45406</c:v>
                </c:pt>
                <c:pt idx="1">
                  <c:v>45436</c:v>
                </c:pt>
                <c:pt idx="2">
                  <c:v>45467</c:v>
                </c:pt>
                <c:pt idx="3">
                  <c:v>45497</c:v>
                </c:pt>
                <c:pt idx="4">
                  <c:v>45528</c:v>
                </c:pt>
                <c:pt idx="5">
                  <c:v>45559</c:v>
                </c:pt>
                <c:pt idx="6">
                  <c:v>45589</c:v>
                </c:pt>
                <c:pt idx="7">
                  <c:v>45620</c:v>
                </c:pt>
                <c:pt idx="8">
                  <c:v>45650</c:v>
                </c:pt>
                <c:pt idx="9">
                  <c:v>45681</c:v>
                </c:pt>
                <c:pt idx="10">
                  <c:v>45712</c:v>
                </c:pt>
                <c:pt idx="11">
                  <c:v>45740</c:v>
                </c:pt>
              </c:numCache>
            </c:numRef>
          </c:cat>
          <c:val>
            <c:numRef>
              <c:f>Sheet1!$C$2:$C$13</c:f>
              <c:numCache>
                <c:formatCode>_(* #,##0_);_(* \(#,##0\);_(* " - "_);_(* @_)</c:formatCode>
                <c:ptCount val="12"/>
                <c:pt idx="0">
                  <c:v>797.25</c:v>
                </c:pt>
                <c:pt idx="1">
                  <c:v>600.69000000000005</c:v>
                </c:pt>
                <c:pt idx="2">
                  <c:v>704.42</c:v>
                </c:pt>
                <c:pt idx="3">
                  <c:v>528.01</c:v>
                </c:pt>
                <c:pt idx="4">
                  <c:v>514</c:v>
                </c:pt>
                <c:pt idx="5">
                  <c:v>894.55</c:v>
                </c:pt>
                <c:pt idx="6">
                  <c:v>695.76</c:v>
                </c:pt>
                <c:pt idx="7">
                  <c:v>1213.8699999999999</c:v>
                </c:pt>
                <c:pt idx="8">
                  <c:v>885.93</c:v>
                </c:pt>
                <c:pt idx="9">
                  <c:v>965.62</c:v>
                </c:pt>
                <c:pt idx="10">
                  <c:v>681.72</c:v>
                </c:pt>
                <c:pt idx="11">
                  <c:v>669.69</c:v>
                </c:pt>
              </c:numCache>
            </c:numRef>
          </c:val>
          <c:smooth val="0"/>
          <c:extLst>
            <c:ext xmlns:c16="http://schemas.microsoft.com/office/drawing/2014/chart" uri="{C3380CC4-5D6E-409C-BE32-E72D297353CC}">
              <c16:uniqueId val="{00000002-33D1-4C8E-9064-C50806BFE36C}"/>
            </c:ext>
          </c:extLst>
        </c:ser>
        <c:ser>
          <c:idx val="2"/>
          <c:order val="2"/>
          <c:tx>
            <c:strRef>
              <c:f>Sheet1!$D$1</c:f>
              <c:strCache>
                <c:ptCount val="1"/>
                <c:pt idx="0">
                  <c:v>Maharashtra</c:v>
                </c:pt>
              </c:strCache>
            </c:strRef>
          </c:tx>
          <c:spPr>
            <a:ln w="28575" cap="rnd">
              <a:solidFill>
                <a:srgbClr val="62B5E5"/>
              </a:solidFill>
              <a:round/>
            </a:ln>
            <a:effectLst/>
          </c:spPr>
          <c:marker>
            <c:symbol val="none"/>
          </c:marker>
          <c:cat>
            <c:numRef>
              <c:f>Sheet1!$A$2:$A$13</c:f>
              <c:numCache>
                <c:formatCode>[$-409]mmm\-yy;@</c:formatCode>
                <c:ptCount val="12"/>
                <c:pt idx="0">
                  <c:v>45406</c:v>
                </c:pt>
                <c:pt idx="1">
                  <c:v>45436</c:v>
                </c:pt>
                <c:pt idx="2">
                  <c:v>45467</c:v>
                </c:pt>
                <c:pt idx="3">
                  <c:v>45497</c:v>
                </c:pt>
                <c:pt idx="4">
                  <c:v>45528</c:v>
                </c:pt>
                <c:pt idx="5">
                  <c:v>45559</c:v>
                </c:pt>
                <c:pt idx="6">
                  <c:v>45589</c:v>
                </c:pt>
                <c:pt idx="7">
                  <c:v>45620</c:v>
                </c:pt>
                <c:pt idx="8">
                  <c:v>45650</c:v>
                </c:pt>
                <c:pt idx="9">
                  <c:v>45681</c:v>
                </c:pt>
                <c:pt idx="10">
                  <c:v>45712</c:v>
                </c:pt>
                <c:pt idx="11">
                  <c:v>45740</c:v>
                </c:pt>
              </c:numCache>
            </c:numRef>
          </c:cat>
          <c:val>
            <c:numRef>
              <c:f>Sheet1!$D$2:$D$13</c:f>
              <c:numCache>
                <c:formatCode>_(* #,##0_);_(* \(#,##0\);_(* " - "_);_(* @_)</c:formatCode>
                <c:ptCount val="12"/>
                <c:pt idx="0">
                  <c:v>283.56</c:v>
                </c:pt>
                <c:pt idx="1">
                  <c:v>153.30000000000001</c:v>
                </c:pt>
                <c:pt idx="2">
                  <c:v>150.87</c:v>
                </c:pt>
                <c:pt idx="3">
                  <c:v>76.489999999999995</c:v>
                </c:pt>
                <c:pt idx="4">
                  <c:v>287.45999999999998</c:v>
                </c:pt>
                <c:pt idx="5">
                  <c:v>244.38</c:v>
                </c:pt>
                <c:pt idx="6">
                  <c:v>617.08000000000004</c:v>
                </c:pt>
                <c:pt idx="7">
                  <c:v>903.04</c:v>
                </c:pt>
                <c:pt idx="8">
                  <c:v>578.4</c:v>
                </c:pt>
                <c:pt idx="9">
                  <c:v>484.17</c:v>
                </c:pt>
                <c:pt idx="10">
                  <c:v>756.92</c:v>
                </c:pt>
                <c:pt idx="11">
                  <c:v>822.69</c:v>
                </c:pt>
              </c:numCache>
            </c:numRef>
          </c:val>
          <c:smooth val="0"/>
          <c:extLst>
            <c:ext xmlns:c16="http://schemas.microsoft.com/office/drawing/2014/chart" uri="{C3380CC4-5D6E-409C-BE32-E72D297353CC}">
              <c16:uniqueId val="{00000003-33D1-4C8E-9064-C50806BFE36C}"/>
            </c:ext>
          </c:extLst>
        </c:ser>
        <c:ser>
          <c:idx val="3"/>
          <c:order val="3"/>
          <c:tx>
            <c:strRef>
              <c:f>Sheet1!$E$1</c:f>
              <c:strCache>
                <c:ptCount val="1"/>
                <c:pt idx="0">
                  <c:v>Uttar Pradesh</c:v>
                </c:pt>
              </c:strCache>
            </c:strRef>
          </c:tx>
          <c:spPr>
            <a:ln w="28575" cap="rnd">
              <a:solidFill>
                <a:srgbClr val="046A38"/>
              </a:solidFill>
              <a:round/>
            </a:ln>
            <a:effectLst/>
          </c:spPr>
          <c:marker>
            <c:symbol val="none"/>
          </c:marker>
          <c:cat>
            <c:numRef>
              <c:f>Sheet1!$A$2:$A$13</c:f>
              <c:numCache>
                <c:formatCode>[$-409]mmm\-yy;@</c:formatCode>
                <c:ptCount val="12"/>
                <c:pt idx="0">
                  <c:v>45406</c:v>
                </c:pt>
                <c:pt idx="1">
                  <c:v>45436</c:v>
                </c:pt>
                <c:pt idx="2">
                  <c:v>45467</c:v>
                </c:pt>
                <c:pt idx="3">
                  <c:v>45497</c:v>
                </c:pt>
                <c:pt idx="4">
                  <c:v>45528</c:v>
                </c:pt>
                <c:pt idx="5">
                  <c:v>45559</c:v>
                </c:pt>
                <c:pt idx="6">
                  <c:v>45589</c:v>
                </c:pt>
                <c:pt idx="7">
                  <c:v>45620</c:v>
                </c:pt>
                <c:pt idx="8">
                  <c:v>45650</c:v>
                </c:pt>
                <c:pt idx="9">
                  <c:v>45681</c:v>
                </c:pt>
                <c:pt idx="10">
                  <c:v>45712</c:v>
                </c:pt>
                <c:pt idx="11">
                  <c:v>45740</c:v>
                </c:pt>
              </c:numCache>
            </c:numRef>
          </c:cat>
          <c:val>
            <c:numRef>
              <c:f>Sheet1!$E$2:$E$13</c:f>
              <c:numCache>
                <c:formatCode>_(* #,##0_);_(* \(#,##0\);_(* " - "_);_(* @_)</c:formatCode>
                <c:ptCount val="12"/>
                <c:pt idx="0">
                  <c:v>227.03</c:v>
                </c:pt>
                <c:pt idx="1">
                  <c:v>450.25</c:v>
                </c:pt>
                <c:pt idx="2">
                  <c:v>463.93</c:v>
                </c:pt>
                <c:pt idx="3">
                  <c:v>260.49</c:v>
                </c:pt>
                <c:pt idx="4">
                  <c:v>236.99</c:v>
                </c:pt>
                <c:pt idx="5">
                  <c:v>231.44</c:v>
                </c:pt>
                <c:pt idx="6">
                  <c:v>362.33</c:v>
                </c:pt>
                <c:pt idx="7">
                  <c:v>269.69</c:v>
                </c:pt>
                <c:pt idx="8">
                  <c:v>274.60000000000002</c:v>
                </c:pt>
                <c:pt idx="9">
                  <c:v>338.75</c:v>
                </c:pt>
                <c:pt idx="10">
                  <c:v>234.7</c:v>
                </c:pt>
                <c:pt idx="11">
                  <c:v>205.58</c:v>
                </c:pt>
              </c:numCache>
            </c:numRef>
          </c:val>
          <c:smooth val="0"/>
          <c:extLst>
            <c:ext xmlns:c16="http://schemas.microsoft.com/office/drawing/2014/chart" uri="{C3380CC4-5D6E-409C-BE32-E72D297353CC}">
              <c16:uniqueId val="{00000004-33D1-4C8E-9064-C50806BFE36C}"/>
            </c:ext>
          </c:extLst>
        </c:ser>
        <c:ser>
          <c:idx val="4"/>
          <c:order val="4"/>
          <c:tx>
            <c:strRef>
              <c:f>Sheet1!$F$1</c:f>
              <c:strCache>
                <c:ptCount val="1"/>
                <c:pt idx="0">
                  <c:v>Rajasthan</c:v>
                </c:pt>
              </c:strCache>
            </c:strRef>
          </c:tx>
          <c:spPr>
            <a:ln w="28575" cap="rnd">
              <a:solidFill>
                <a:srgbClr val="0D8390"/>
              </a:solidFill>
              <a:round/>
            </a:ln>
            <a:effectLst/>
          </c:spPr>
          <c:marker>
            <c:symbol val="none"/>
          </c:marker>
          <c:cat>
            <c:numRef>
              <c:f>Sheet1!$A$2:$A$13</c:f>
              <c:numCache>
                <c:formatCode>[$-409]mmm\-yy;@</c:formatCode>
                <c:ptCount val="12"/>
                <c:pt idx="0">
                  <c:v>45406</c:v>
                </c:pt>
                <c:pt idx="1">
                  <c:v>45436</c:v>
                </c:pt>
                <c:pt idx="2">
                  <c:v>45467</c:v>
                </c:pt>
                <c:pt idx="3">
                  <c:v>45497</c:v>
                </c:pt>
                <c:pt idx="4">
                  <c:v>45528</c:v>
                </c:pt>
                <c:pt idx="5">
                  <c:v>45559</c:v>
                </c:pt>
                <c:pt idx="6">
                  <c:v>45589</c:v>
                </c:pt>
                <c:pt idx="7">
                  <c:v>45620</c:v>
                </c:pt>
                <c:pt idx="8">
                  <c:v>45650</c:v>
                </c:pt>
                <c:pt idx="9">
                  <c:v>45681</c:v>
                </c:pt>
                <c:pt idx="10">
                  <c:v>45712</c:v>
                </c:pt>
                <c:pt idx="11">
                  <c:v>45740</c:v>
                </c:pt>
              </c:numCache>
            </c:numRef>
          </c:cat>
          <c:val>
            <c:numRef>
              <c:f>Sheet1!$F$2:$F$13</c:f>
              <c:numCache>
                <c:formatCode>_(* #,##0_);_(* \(#,##0\);_(* " - "_);_(* @_)</c:formatCode>
                <c:ptCount val="12"/>
                <c:pt idx="0">
                  <c:v>119.36</c:v>
                </c:pt>
                <c:pt idx="1">
                  <c:v>715.91</c:v>
                </c:pt>
                <c:pt idx="2">
                  <c:v>592.22</c:v>
                </c:pt>
                <c:pt idx="3">
                  <c:v>312.55</c:v>
                </c:pt>
                <c:pt idx="4">
                  <c:v>50.77</c:v>
                </c:pt>
                <c:pt idx="5">
                  <c:v>483.72</c:v>
                </c:pt>
                <c:pt idx="6">
                  <c:v>205.6</c:v>
                </c:pt>
                <c:pt idx="7">
                  <c:v>374.05</c:v>
                </c:pt>
                <c:pt idx="8">
                  <c:v>219.19</c:v>
                </c:pt>
                <c:pt idx="9">
                  <c:v>30.4</c:v>
                </c:pt>
                <c:pt idx="10">
                  <c:v>125.56</c:v>
                </c:pt>
                <c:pt idx="11">
                  <c:v>78.69</c:v>
                </c:pt>
              </c:numCache>
            </c:numRef>
          </c:val>
          <c:smooth val="0"/>
          <c:extLst>
            <c:ext xmlns:c16="http://schemas.microsoft.com/office/drawing/2014/chart" uri="{C3380CC4-5D6E-409C-BE32-E72D297353CC}">
              <c16:uniqueId val="{00000005-33D1-4C8E-9064-C50806BFE36C}"/>
            </c:ext>
          </c:extLst>
        </c:ser>
        <c:dLbls>
          <c:showLegendKey val="0"/>
          <c:showVal val="0"/>
          <c:showCatName val="0"/>
          <c:showSerName val="0"/>
          <c:showPercent val="0"/>
          <c:showBubbleSize val="0"/>
        </c:dLbls>
        <c:smooth val="0"/>
        <c:axId val="1730389471"/>
        <c:axId val="1730389951"/>
      </c:lineChart>
      <c:dateAx>
        <c:axId val="1730389471"/>
        <c:scaling>
          <c:orientation val="minMax"/>
        </c:scaling>
        <c:delete val="0"/>
        <c:axPos val="b"/>
        <c:numFmt formatCode="[$-409]mmm\-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730389951"/>
        <c:crosses val="autoZero"/>
        <c:auto val="1"/>
        <c:lblOffset val="100"/>
        <c:baseTimeUnit val="months"/>
      </c:dateAx>
      <c:valAx>
        <c:axId val="1730389951"/>
        <c:scaling>
          <c:orientation val="minMax"/>
        </c:scaling>
        <c:delete val="0"/>
        <c:axPos val="l"/>
        <c:numFmt formatCode="_(* #,##0_);_(* \(#,##0\);_(* &quot; - &quot;_);_(* @_)" sourceLinked="1"/>
        <c:majorTickMark val="out"/>
        <c:minorTickMark val="none"/>
        <c:tickLblPos val="nextTo"/>
        <c:spPr>
          <a:noFill/>
          <a:ln>
            <a:noFill/>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730389471"/>
        <c:crosses val="autoZero"/>
        <c:crossBetween val="between"/>
      </c:valAx>
      <c:spPr>
        <a:noFill/>
        <a:ln>
          <a:noFill/>
        </a:ln>
        <a:effectLst/>
      </c:spPr>
    </c:plotArea>
    <c:legend>
      <c:legendPos val="b"/>
      <c:layout>
        <c:manualLayout>
          <c:xMode val="edge"/>
          <c:yMode val="edge"/>
          <c:x val="0.2135797121098387"/>
          <c:y val="0.89333913578194191"/>
          <c:w val="0.57284057578032255"/>
          <c:h val="0.10021858843973064"/>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1773156260637724E-2"/>
          <c:y val="0"/>
          <c:w val="0.51371292930723711"/>
          <c:h val="1"/>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16FB-417D-937C-D6912FCB8B54}"/>
              </c:ext>
            </c:extLst>
          </c:dPt>
          <c:dPt>
            <c:idx val="1"/>
            <c:bubble3D val="0"/>
            <c:spPr>
              <a:solidFill>
                <a:srgbClr val="ED8B00"/>
              </a:solidFill>
              <a:ln w="19050">
                <a:solidFill>
                  <a:schemeClr val="lt1"/>
                </a:solidFill>
              </a:ln>
              <a:effectLst/>
            </c:spPr>
            <c:extLst>
              <c:ext xmlns:c16="http://schemas.microsoft.com/office/drawing/2014/chart" uri="{C3380CC4-5D6E-409C-BE32-E72D297353CC}">
                <c16:uniqueId val="{00000003-16FB-417D-937C-D6912FCB8B54}"/>
              </c:ext>
            </c:extLst>
          </c:dPt>
          <c:dPt>
            <c:idx val="2"/>
            <c:bubble3D val="0"/>
            <c:spPr>
              <a:solidFill>
                <a:srgbClr val="62B5E5"/>
              </a:solidFill>
              <a:ln w="19050">
                <a:solidFill>
                  <a:schemeClr val="lt1"/>
                </a:solidFill>
              </a:ln>
              <a:effectLst/>
            </c:spPr>
            <c:extLst>
              <c:ext xmlns:c16="http://schemas.microsoft.com/office/drawing/2014/chart" uri="{C3380CC4-5D6E-409C-BE32-E72D297353CC}">
                <c16:uniqueId val="{00000005-16FB-417D-937C-D6912FCB8B54}"/>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16FB-417D-937C-D6912FCB8B54}"/>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16FB-417D-937C-D6912FCB8B54}"/>
              </c:ext>
            </c:extLst>
          </c:dPt>
          <c:dPt>
            <c:idx val="5"/>
            <c:bubble3D val="0"/>
            <c:spPr>
              <a:solidFill>
                <a:schemeClr val="accent6">
                  <a:lumMod val="75000"/>
                </a:schemeClr>
              </a:solidFill>
              <a:ln w="19050">
                <a:solidFill>
                  <a:schemeClr val="lt1"/>
                </a:solidFill>
              </a:ln>
              <a:effectLst/>
            </c:spPr>
            <c:extLst>
              <c:ext xmlns:c16="http://schemas.microsoft.com/office/drawing/2014/chart" uri="{C3380CC4-5D6E-409C-BE32-E72D297353CC}">
                <c16:uniqueId val="{0000000B-16FB-417D-937C-D6912FCB8B54}"/>
              </c:ext>
            </c:extLst>
          </c:dPt>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showLegendKey val="0"/>
            <c:showVal val="0"/>
            <c:showCatName val="0"/>
            <c:showSerName val="0"/>
            <c:showPercent val="1"/>
            <c:showBubbleSize val="0"/>
            <c:showLeaderLines val="0"/>
            <c:extLst>
              <c:ext xmlns:c15="http://schemas.microsoft.com/office/drawing/2012/chart" uri="{CE6537A1-D6FC-4f65-9D91-7224C49458BB}"/>
            </c:extLst>
          </c:dLbls>
          <c:cat>
            <c:strRef>
              <c:f>Sheet1!$A$2:$A$7</c:f>
              <c:strCache>
                <c:ptCount val="6"/>
                <c:pt idx="0">
                  <c:v>Telangana</c:v>
                </c:pt>
                <c:pt idx="1">
                  <c:v>Gujarat</c:v>
                </c:pt>
                <c:pt idx="2">
                  <c:v>Maharashtra</c:v>
                </c:pt>
                <c:pt idx="3">
                  <c:v>Uttar Pradesh</c:v>
                </c:pt>
                <c:pt idx="4">
                  <c:v>Rajasthan</c:v>
                </c:pt>
                <c:pt idx="5">
                  <c:v>Others</c:v>
                </c:pt>
              </c:strCache>
            </c:strRef>
          </c:cat>
          <c:val>
            <c:numRef>
              <c:f>Sheet1!$B$2:$B$7</c:f>
              <c:numCache>
                <c:formatCode>_(* #,##0_);_(* \(#,##0\);_(* " - "_);_(* @_)</c:formatCode>
                <c:ptCount val="6"/>
                <c:pt idx="0">
                  <c:v>15185.379999999997</c:v>
                </c:pt>
                <c:pt idx="1">
                  <c:v>9151.51</c:v>
                </c:pt>
                <c:pt idx="2">
                  <c:v>5358.3600000000006</c:v>
                </c:pt>
                <c:pt idx="3">
                  <c:v>3555.7799999999997</c:v>
                </c:pt>
                <c:pt idx="4">
                  <c:v>3308.02</c:v>
                </c:pt>
                <c:pt idx="5">
                  <c:v>24736.010000000002</c:v>
                </c:pt>
              </c:numCache>
            </c:numRef>
          </c:val>
          <c:extLst>
            <c:ext xmlns:c16="http://schemas.microsoft.com/office/drawing/2014/chart" uri="{C3380CC4-5D6E-409C-BE32-E72D297353CC}">
              <c16:uniqueId val="{0000000C-16FB-417D-937C-D6912FCB8B54}"/>
            </c:ext>
          </c:extLst>
        </c:ser>
        <c:dLbls>
          <c:showLegendKey val="0"/>
          <c:showVal val="1"/>
          <c:showCatName val="0"/>
          <c:showSerName val="0"/>
          <c:showPercent val="0"/>
          <c:showBubbleSize val="0"/>
          <c:showLeaderLines val="0"/>
        </c:dLbls>
        <c:firstSliceAng val="0"/>
        <c:holeSize val="50"/>
      </c:doughnutChart>
      <c:spPr>
        <a:noFill/>
        <a:ln>
          <a:noFill/>
        </a:ln>
        <a:effectLst/>
      </c:spPr>
    </c:plotArea>
    <c:legend>
      <c:legendPos val="b"/>
      <c:layout>
        <c:manualLayout>
          <c:xMode val="edge"/>
          <c:yMode val="edge"/>
          <c:x val="0.69079186952121363"/>
          <c:y val="0.33540867395027146"/>
          <c:w val="0.30439463033753933"/>
          <c:h val="0.66328795260547968"/>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3294621707389932E-2"/>
          <c:y val="3.5995194933231923E-2"/>
          <c:w val="0.94670537829261003"/>
          <c:h val="0.74767857239411639"/>
        </c:manualLayout>
      </c:layout>
      <c:lineChart>
        <c:grouping val="standard"/>
        <c:varyColors val="0"/>
        <c:ser>
          <c:idx val="0"/>
          <c:order val="0"/>
          <c:tx>
            <c:strRef>
              <c:f>Sheet1!$B$1</c:f>
              <c:strCache>
                <c:ptCount val="1"/>
                <c:pt idx="0">
                  <c:v>Punjab</c:v>
                </c:pt>
              </c:strCache>
            </c:strRef>
          </c:tx>
          <c:spPr>
            <a:ln w="28575" cap="rnd">
              <a:solidFill>
                <a:schemeClr val="accent1"/>
              </a:solidFill>
              <a:round/>
            </a:ln>
            <a:effectLst/>
          </c:spPr>
          <c:marker>
            <c:symbol val="none"/>
          </c:marker>
          <c:dPt>
            <c:idx val="4"/>
            <c:marker>
              <c:symbol val="none"/>
            </c:marker>
            <c:bubble3D val="0"/>
            <c:extLst>
              <c:ext xmlns:c16="http://schemas.microsoft.com/office/drawing/2014/chart" uri="{C3380CC4-5D6E-409C-BE32-E72D297353CC}">
                <c16:uniqueId val="{00000000-33D1-4C8E-9064-C50806BFE36C}"/>
              </c:ext>
            </c:extLst>
          </c:dPt>
          <c:cat>
            <c:numRef>
              <c:f>Sheet1!$A$2:$A$13</c:f>
              <c:numCache>
                <c:formatCode>[$-409]mmm\-yy;@</c:formatCode>
                <c:ptCount val="12"/>
                <c:pt idx="0">
                  <c:v>45383</c:v>
                </c:pt>
                <c:pt idx="1">
                  <c:v>45413</c:v>
                </c:pt>
                <c:pt idx="2">
                  <c:v>45444</c:v>
                </c:pt>
                <c:pt idx="3">
                  <c:v>45474</c:v>
                </c:pt>
                <c:pt idx="4">
                  <c:v>45505</c:v>
                </c:pt>
                <c:pt idx="5">
                  <c:v>45536</c:v>
                </c:pt>
                <c:pt idx="6">
                  <c:v>45566</c:v>
                </c:pt>
                <c:pt idx="7">
                  <c:v>45597</c:v>
                </c:pt>
                <c:pt idx="8">
                  <c:v>45627</c:v>
                </c:pt>
                <c:pt idx="9">
                  <c:v>45658</c:v>
                </c:pt>
                <c:pt idx="10">
                  <c:v>45689</c:v>
                </c:pt>
                <c:pt idx="11">
                  <c:v>45717</c:v>
                </c:pt>
              </c:numCache>
            </c:numRef>
          </c:cat>
          <c:val>
            <c:numRef>
              <c:f>Sheet1!$B$2:$B$13</c:f>
              <c:numCache>
                <c:formatCode>_(* #,##0_);_(* \(#,##0\);_(* " - "_);_(* @_)</c:formatCode>
                <c:ptCount val="12"/>
                <c:pt idx="0">
                  <c:v>129</c:v>
                </c:pt>
                <c:pt idx="1">
                  <c:v>347</c:v>
                </c:pt>
                <c:pt idx="2">
                  <c:v>506</c:v>
                </c:pt>
                <c:pt idx="3">
                  <c:v>593</c:v>
                </c:pt>
                <c:pt idx="4">
                  <c:v>625</c:v>
                </c:pt>
                <c:pt idx="5">
                  <c:v>804</c:v>
                </c:pt>
                <c:pt idx="6">
                  <c:v>575</c:v>
                </c:pt>
                <c:pt idx="7">
                  <c:v>318</c:v>
                </c:pt>
                <c:pt idx="8">
                  <c:v>396</c:v>
                </c:pt>
                <c:pt idx="9">
                  <c:v>769</c:v>
                </c:pt>
                <c:pt idx="10">
                  <c:v>778</c:v>
                </c:pt>
                <c:pt idx="11">
                  <c:v>901</c:v>
                </c:pt>
              </c:numCache>
            </c:numRef>
          </c:val>
          <c:smooth val="0"/>
          <c:extLst>
            <c:ext xmlns:c16="http://schemas.microsoft.com/office/drawing/2014/chart" uri="{C3380CC4-5D6E-409C-BE32-E72D297353CC}">
              <c16:uniqueId val="{00000001-33D1-4C8E-9064-C50806BFE36C}"/>
            </c:ext>
          </c:extLst>
        </c:ser>
        <c:ser>
          <c:idx val="1"/>
          <c:order val="1"/>
          <c:tx>
            <c:strRef>
              <c:f>Sheet1!$C$1</c:f>
              <c:strCache>
                <c:ptCount val="1"/>
                <c:pt idx="0">
                  <c:v>Telangana</c:v>
                </c:pt>
              </c:strCache>
            </c:strRef>
          </c:tx>
          <c:spPr>
            <a:ln w="28575" cap="rnd">
              <a:solidFill>
                <a:srgbClr val="ED8B00"/>
              </a:solidFill>
              <a:round/>
            </a:ln>
            <a:effectLst/>
          </c:spPr>
          <c:marker>
            <c:symbol val="none"/>
          </c:marker>
          <c:cat>
            <c:numRef>
              <c:f>Sheet1!$A$2:$A$13</c:f>
              <c:numCache>
                <c:formatCode>[$-409]mmm\-yy;@</c:formatCode>
                <c:ptCount val="12"/>
                <c:pt idx="0">
                  <c:v>45383</c:v>
                </c:pt>
                <c:pt idx="1">
                  <c:v>45413</c:v>
                </c:pt>
                <c:pt idx="2">
                  <c:v>45444</c:v>
                </c:pt>
                <c:pt idx="3">
                  <c:v>45474</c:v>
                </c:pt>
                <c:pt idx="4">
                  <c:v>45505</c:v>
                </c:pt>
                <c:pt idx="5">
                  <c:v>45536</c:v>
                </c:pt>
                <c:pt idx="6">
                  <c:v>45566</c:v>
                </c:pt>
                <c:pt idx="7">
                  <c:v>45597</c:v>
                </c:pt>
                <c:pt idx="8">
                  <c:v>45627</c:v>
                </c:pt>
                <c:pt idx="9">
                  <c:v>45658</c:v>
                </c:pt>
                <c:pt idx="10">
                  <c:v>45689</c:v>
                </c:pt>
                <c:pt idx="11">
                  <c:v>45717</c:v>
                </c:pt>
              </c:numCache>
            </c:numRef>
          </c:cat>
          <c:val>
            <c:numRef>
              <c:f>Sheet1!$C$2:$C$13</c:f>
              <c:numCache>
                <c:formatCode>_(* #,##0_);_(* \(#,##0\);_(* " - "_);_(* @_)</c:formatCode>
                <c:ptCount val="12"/>
                <c:pt idx="0">
                  <c:v>339</c:v>
                </c:pt>
                <c:pt idx="1">
                  <c:v>284</c:v>
                </c:pt>
                <c:pt idx="2">
                  <c:v>302</c:v>
                </c:pt>
                <c:pt idx="3">
                  <c:v>359</c:v>
                </c:pt>
                <c:pt idx="4">
                  <c:v>666</c:v>
                </c:pt>
                <c:pt idx="5">
                  <c:v>521</c:v>
                </c:pt>
                <c:pt idx="6">
                  <c:v>376</c:v>
                </c:pt>
                <c:pt idx="7">
                  <c:v>396</c:v>
                </c:pt>
                <c:pt idx="8">
                  <c:v>407</c:v>
                </c:pt>
                <c:pt idx="9">
                  <c:v>425</c:v>
                </c:pt>
                <c:pt idx="10">
                  <c:v>369</c:v>
                </c:pt>
                <c:pt idx="11">
                  <c:v>504</c:v>
                </c:pt>
              </c:numCache>
            </c:numRef>
          </c:val>
          <c:smooth val="0"/>
          <c:extLst>
            <c:ext xmlns:c16="http://schemas.microsoft.com/office/drawing/2014/chart" uri="{C3380CC4-5D6E-409C-BE32-E72D297353CC}">
              <c16:uniqueId val="{00000002-33D1-4C8E-9064-C50806BFE36C}"/>
            </c:ext>
          </c:extLst>
        </c:ser>
        <c:ser>
          <c:idx val="2"/>
          <c:order val="2"/>
          <c:tx>
            <c:strRef>
              <c:f>Sheet1!$D$1</c:f>
              <c:strCache>
                <c:ptCount val="1"/>
                <c:pt idx="0">
                  <c:v>Rajasthan</c:v>
                </c:pt>
              </c:strCache>
            </c:strRef>
          </c:tx>
          <c:spPr>
            <a:ln w="28575" cap="rnd">
              <a:solidFill>
                <a:srgbClr val="62B5E5"/>
              </a:solidFill>
              <a:round/>
            </a:ln>
            <a:effectLst/>
          </c:spPr>
          <c:marker>
            <c:symbol val="none"/>
          </c:marker>
          <c:cat>
            <c:numRef>
              <c:f>Sheet1!$A$2:$A$13</c:f>
              <c:numCache>
                <c:formatCode>[$-409]mmm\-yy;@</c:formatCode>
                <c:ptCount val="12"/>
                <c:pt idx="0">
                  <c:v>45383</c:v>
                </c:pt>
                <c:pt idx="1">
                  <c:v>45413</c:v>
                </c:pt>
                <c:pt idx="2">
                  <c:v>45444</c:v>
                </c:pt>
                <c:pt idx="3">
                  <c:v>45474</c:v>
                </c:pt>
                <c:pt idx="4">
                  <c:v>45505</c:v>
                </c:pt>
                <c:pt idx="5">
                  <c:v>45536</c:v>
                </c:pt>
                <c:pt idx="6">
                  <c:v>45566</c:v>
                </c:pt>
                <c:pt idx="7">
                  <c:v>45597</c:v>
                </c:pt>
                <c:pt idx="8">
                  <c:v>45627</c:v>
                </c:pt>
                <c:pt idx="9">
                  <c:v>45658</c:v>
                </c:pt>
                <c:pt idx="10">
                  <c:v>45689</c:v>
                </c:pt>
                <c:pt idx="11">
                  <c:v>45717</c:v>
                </c:pt>
              </c:numCache>
            </c:numRef>
          </c:cat>
          <c:val>
            <c:numRef>
              <c:f>Sheet1!$D$2:$D$13</c:f>
              <c:numCache>
                <c:formatCode>_(* #,##0_);_(* \(#,##0\);_(* " - "_);_(* @_)</c:formatCode>
                <c:ptCount val="12"/>
                <c:pt idx="0">
                  <c:v>240</c:v>
                </c:pt>
                <c:pt idx="1">
                  <c:v>775</c:v>
                </c:pt>
                <c:pt idx="2">
                  <c:v>511</c:v>
                </c:pt>
                <c:pt idx="3">
                  <c:v>484</c:v>
                </c:pt>
                <c:pt idx="4">
                  <c:v>77</c:v>
                </c:pt>
                <c:pt idx="5">
                  <c:v>335</c:v>
                </c:pt>
                <c:pt idx="6">
                  <c:v>229</c:v>
                </c:pt>
                <c:pt idx="7">
                  <c:v>264</c:v>
                </c:pt>
                <c:pt idx="8">
                  <c:v>234</c:v>
                </c:pt>
                <c:pt idx="9">
                  <c:v>121</c:v>
                </c:pt>
                <c:pt idx="10">
                  <c:v>165</c:v>
                </c:pt>
                <c:pt idx="11">
                  <c:v>70</c:v>
                </c:pt>
              </c:numCache>
            </c:numRef>
          </c:val>
          <c:smooth val="0"/>
          <c:extLst>
            <c:ext xmlns:c16="http://schemas.microsoft.com/office/drawing/2014/chart" uri="{C3380CC4-5D6E-409C-BE32-E72D297353CC}">
              <c16:uniqueId val="{00000003-33D1-4C8E-9064-C50806BFE36C}"/>
            </c:ext>
          </c:extLst>
        </c:ser>
        <c:ser>
          <c:idx val="3"/>
          <c:order val="3"/>
          <c:tx>
            <c:strRef>
              <c:f>Sheet1!$E$1</c:f>
              <c:strCache>
                <c:ptCount val="1"/>
                <c:pt idx="0">
                  <c:v>Maharashtra</c:v>
                </c:pt>
              </c:strCache>
            </c:strRef>
          </c:tx>
          <c:spPr>
            <a:ln w="28575" cap="rnd">
              <a:solidFill>
                <a:srgbClr val="046A38"/>
              </a:solidFill>
              <a:round/>
            </a:ln>
            <a:effectLst/>
          </c:spPr>
          <c:marker>
            <c:symbol val="none"/>
          </c:marker>
          <c:cat>
            <c:numRef>
              <c:f>Sheet1!$A$2:$A$13</c:f>
              <c:numCache>
                <c:formatCode>[$-409]mmm\-yy;@</c:formatCode>
                <c:ptCount val="12"/>
                <c:pt idx="0">
                  <c:v>45383</c:v>
                </c:pt>
                <c:pt idx="1">
                  <c:v>45413</c:v>
                </c:pt>
                <c:pt idx="2">
                  <c:v>45444</c:v>
                </c:pt>
                <c:pt idx="3">
                  <c:v>45474</c:v>
                </c:pt>
                <c:pt idx="4">
                  <c:v>45505</c:v>
                </c:pt>
                <c:pt idx="5">
                  <c:v>45536</c:v>
                </c:pt>
                <c:pt idx="6">
                  <c:v>45566</c:v>
                </c:pt>
                <c:pt idx="7">
                  <c:v>45597</c:v>
                </c:pt>
                <c:pt idx="8">
                  <c:v>45627</c:v>
                </c:pt>
                <c:pt idx="9">
                  <c:v>45658</c:v>
                </c:pt>
                <c:pt idx="10">
                  <c:v>45689</c:v>
                </c:pt>
                <c:pt idx="11">
                  <c:v>45717</c:v>
                </c:pt>
              </c:numCache>
            </c:numRef>
          </c:cat>
          <c:val>
            <c:numRef>
              <c:f>Sheet1!$E$2:$E$13</c:f>
              <c:numCache>
                <c:formatCode>_(* #,##0_);_(* \(#,##0\);_(* " - "_);_(* @_)</c:formatCode>
                <c:ptCount val="12"/>
                <c:pt idx="0">
                  <c:v>245</c:v>
                </c:pt>
                <c:pt idx="1">
                  <c:v>173</c:v>
                </c:pt>
                <c:pt idx="2">
                  <c:v>191</c:v>
                </c:pt>
                <c:pt idx="3">
                  <c:v>128</c:v>
                </c:pt>
                <c:pt idx="4">
                  <c:v>192</c:v>
                </c:pt>
                <c:pt idx="5">
                  <c:v>182</c:v>
                </c:pt>
                <c:pt idx="6">
                  <c:v>373</c:v>
                </c:pt>
                <c:pt idx="7">
                  <c:v>407</c:v>
                </c:pt>
                <c:pt idx="8">
                  <c:v>318</c:v>
                </c:pt>
                <c:pt idx="9">
                  <c:v>362</c:v>
                </c:pt>
                <c:pt idx="10">
                  <c:v>422</c:v>
                </c:pt>
                <c:pt idx="11">
                  <c:v>429</c:v>
                </c:pt>
              </c:numCache>
            </c:numRef>
          </c:val>
          <c:smooth val="0"/>
          <c:extLst>
            <c:ext xmlns:c16="http://schemas.microsoft.com/office/drawing/2014/chart" uri="{C3380CC4-5D6E-409C-BE32-E72D297353CC}">
              <c16:uniqueId val="{00000004-33D1-4C8E-9064-C50806BFE36C}"/>
            </c:ext>
          </c:extLst>
        </c:ser>
        <c:ser>
          <c:idx val="4"/>
          <c:order val="4"/>
          <c:tx>
            <c:strRef>
              <c:f>Sheet1!$F$1</c:f>
              <c:strCache>
                <c:ptCount val="1"/>
                <c:pt idx="0">
                  <c:v>Uttar Pradesh</c:v>
                </c:pt>
              </c:strCache>
            </c:strRef>
          </c:tx>
          <c:spPr>
            <a:ln w="28575" cap="rnd">
              <a:solidFill>
                <a:srgbClr val="0D8390"/>
              </a:solidFill>
              <a:round/>
            </a:ln>
            <a:effectLst/>
          </c:spPr>
          <c:marker>
            <c:symbol val="none"/>
          </c:marker>
          <c:cat>
            <c:numRef>
              <c:f>Sheet1!$A$2:$A$13</c:f>
              <c:numCache>
                <c:formatCode>[$-409]mmm\-yy;@</c:formatCode>
                <c:ptCount val="12"/>
                <c:pt idx="0">
                  <c:v>45383</c:v>
                </c:pt>
                <c:pt idx="1">
                  <c:v>45413</c:v>
                </c:pt>
                <c:pt idx="2">
                  <c:v>45444</c:v>
                </c:pt>
                <c:pt idx="3">
                  <c:v>45474</c:v>
                </c:pt>
                <c:pt idx="4">
                  <c:v>45505</c:v>
                </c:pt>
                <c:pt idx="5">
                  <c:v>45536</c:v>
                </c:pt>
                <c:pt idx="6">
                  <c:v>45566</c:v>
                </c:pt>
                <c:pt idx="7">
                  <c:v>45597</c:v>
                </c:pt>
                <c:pt idx="8">
                  <c:v>45627</c:v>
                </c:pt>
                <c:pt idx="9">
                  <c:v>45658</c:v>
                </c:pt>
                <c:pt idx="10">
                  <c:v>45689</c:v>
                </c:pt>
                <c:pt idx="11">
                  <c:v>45717</c:v>
                </c:pt>
              </c:numCache>
            </c:numRef>
          </c:cat>
          <c:val>
            <c:numRef>
              <c:f>Sheet1!$F$2:$F$13</c:f>
              <c:numCache>
                <c:formatCode>_(* #,##0_);_(* \(#,##0\);_(* " - "_);_(* @_)</c:formatCode>
                <c:ptCount val="12"/>
                <c:pt idx="0">
                  <c:v>168</c:v>
                </c:pt>
                <c:pt idx="1">
                  <c:v>341</c:v>
                </c:pt>
                <c:pt idx="2">
                  <c:v>305</c:v>
                </c:pt>
                <c:pt idx="3">
                  <c:v>230</c:v>
                </c:pt>
                <c:pt idx="4">
                  <c:v>318</c:v>
                </c:pt>
                <c:pt idx="5">
                  <c:v>219</c:v>
                </c:pt>
                <c:pt idx="6">
                  <c:v>220</c:v>
                </c:pt>
                <c:pt idx="7">
                  <c:v>174</c:v>
                </c:pt>
                <c:pt idx="8">
                  <c:v>228</c:v>
                </c:pt>
                <c:pt idx="9">
                  <c:v>217</c:v>
                </c:pt>
                <c:pt idx="10">
                  <c:v>114</c:v>
                </c:pt>
                <c:pt idx="11">
                  <c:v>251</c:v>
                </c:pt>
              </c:numCache>
            </c:numRef>
          </c:val>
          <c:smooth val="0"/>
          <c:extLst>
            <c:ext xmlns:c16="http://schemas.microsoft.com/office/drawing/2014/chart" uri="{C3380CC4-5D6E-409C-BE32-E72D297353CC}">
              <c16:uniqueId val="{00000005-33D1-4C8E-9064-C50806BFE36C}"/>
            </c:ext>
          </c:extLst>
        </c:ser>
        <c:dLbls>
          <c:showLegendKey val="0"/>
          <c:showVal val="0"/>
          <c:showCatName val="0"/>
          <c:showSerName val="0"/>
          <c:showPercent val="0"/>
          <c:showBubbleSize val="0"/>
        </c:dLbls>
        <c:smooth val="0"/>
        <c:axId val="1730389471"/>
        <c:axId val="1730389951"/>
      </c:lineChart>
      <c:dateAx>
        <c:axId val="1730389471"/>
        <c:scaling>
          <c:orientation val="minMax"/>
        </c:scaling>
        <c:delete val="0"/>
        <c:axPos val="b"/>
        <c:numFmt formatCode="[$-409]mmm\-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730389951"/>
        <c:crosses val="autoZero"/>
        <c:auto val="1"/>
        <c:lblOffset val="100"/>
        <c:baseTimeUnit val="months"/>
      </c:dateAx>
      <c:valAx>
        <c:axId val="1730389951"/>
        <c:scaling>
          <c:orientation val="minMax"/>
        </c:scaling>
        <c:delete val="0"/>
        <c:axPos val="l"/>
        <c:numFmt formatCode="_(* #,##0_);_(* \(#,##0\);_(* &quot; - &quot;_);_(* @_)" sourceLinked="1"/>
        <c:majorTickMark val="out"/>
        <c:minorTickMark val="none"/>
        <c:tickLblPos val="nextTo"/>
        <c:spPr>
          <a:noFill/>
          <a:ln>
            <a:noFill/>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730389471"/>
        <c:crosses val="autoZero"/>
        <c:crossBetween val="between"/>
      </c:valAx>
      <c:spPr>
        <a:noFill/>
        <a:ln>
          <a:noFill/>
        </a:ln>
        <a:effectLst/>
      </c:spPr>
    </c:plotArea>
    <c:legend>
      <c:legendPos val="b"/>
      <c:layout>
        <c:manualLayout>
          <c:xMode val="edge"/>
          <c:yMode val="edge"/>
          <c:x val="0.2135797121098387"/>
          <c:y val="0.89333913578194191"/>
          <c:w val="0.57284057578032255"/>
          <c:h val="0.10021858843973064"/>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1773156260637724E-2"/>
          <c:y val="0"/>
          <c:w val="0.51371292930723711"/>
          <c:h val="1"/>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16FB-417D-937C-D6912FCB8B54}"/>
              </c:ext>
            </c:extLst>
          </c:dPt>
          <c:dPt>
            <c:idx val="1"/>
            <c:bubble3D val="0"/>
            <c:spPr>
              <a:solidFill>
                <a:srgbClr val="ED8B00"/>
              </a:solidFill>
              <a:ln w="19050">
                <a:solidFill>
                  <a:schemeClr val="lt1"/>
                </a:solidFill>
              </a:ln>
              <a:effectLst/>
            </c:spPr>
            <c:extLst>
              <c:ext xmlns:c16="http://schemas.microsoft.com/office/drawing/2014/chart" uri="{C3380CC4-5D6E-409C-BE32-E72D297353CC}">
                <c16:uniqueId val="{00000003-16FB-417D-937C-D6912FCB8B54}"/>
              </c:ext>
            </c:extLst>
          </c:dPt>
          <c:dPt>
            <c:idx val="2"/>
            <c:bubble3D val="0"/>
            <c:spPr>
              <a:solidFill>
                <a:srgbClr val="62B5E5"/>
              </a:solidFill>
              <a:ln w="19050">
                <a:solidFill>
                  <a:schemeClr val="lt1"/>
                </a:solidFill>
              </a:ln>
              <a:effectLst/>
            </c:spPr>
            <c:extLst>
              <c:ext xmlns:c16="http://schemas.microsoft.com/office/drawing/2014/chart" uri="{C3380CC4-5D6E-409C-BE32-E72D297353CC}">
                <c16:uniqueId val="{00000005-16FB-417D-937C-D6912FCB8B54}"/>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16FB-417D-937C-D6912FCB8B54}"/>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16FB-417D-937C-D6912FCB8B54}"/>
              </c:ext>
            </c:extLst>
          </c:dPt>
          <c:dPt>
            <c:idx val="5"/>
            <c:bubble3D val="0"/>
            <c:spPr>
              <a:solidFill>
                <a:schemeClr val="accent6">
                  <a:lumMod val="75000"/>
                </a:schemeClr>
              </a:solidFill>
              <a:ln w="19050">
                <a:solidFill>
                  <a:schemeClr val="lt1"/>
                </a:solidFill>
              </a:ln>
              <a:effectLst/>
            </c:spPr>
            <c:extLst>
              <c:ext xmlns:c16="http://schemas.microsoft.com/office/drawing/2014/chart" uri="{C3380CC4-5D6E-409C-BE32-E72D297353CC}">
                <c16:uniqueId val="{0000000B-16FB-417D-937C-D6912FCB8B54}"/>
              </c:ext>
            </c:extLst>
          </c:dPt>
          <c:dLbls>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showLegendKey val="0"/>
            <c:showVal val="0"/>
            <c:showCatName val="0"/>
            <c:showSerName val="0"/>
            <c:showPercent val="1"/>
            <c:showBubbleSize val="0"/>
            <c:showLeaderLines val="0"/>
            <c:extLst>
              <c:ext xmlns:c15="http://schemas.microsoft.com/office/drawing/2012/chart" uri="{CE6537A1-D6FC-4f65-9D91-7224C49458BB}"/>
            </c:extLst>
          </c:dLbls>
          <c:cat>
            <c:strRef>
              <c:f>Sheet1!$A$2:$A$7</c:f>
              <c:strCache>
                <c:ptCount val="6"/>
                <c:pt idx="0">
                  <c:v>Punjab</c:v>
                </c:pt>
                <c:pt idx="1">
                  <c:v>Telangana</c:v>
                </c:pt>
                <c:pt idx="2">
                  <c:v>Rajasthan</c:v>
                </c:pt>
                <c:pt idx="3">
                  <c:v>Maharashtra</c:v>
                </c:pt>
                <c:pt idx="4">
                  <c:v>Uttar Pradesh</c:v>
                </c:pt>
                <c:pt idx="5">
                  <c:v>Others</c:v>
                </c:pt>
              </c:strCache>
            </c:strRef>
          </c:cat>
          <c:val>
            <c:numRef>
              <c:f>Sheet1!$B$2:$B$7</c:f>
              <c:numCache>
                <c:formatCode>_(* #,##0_);_(* \(#,##0\);_(* " - "_);_(* @_)</c:formatCode>
                <c:ptCount val="6"/>
                <c:pt idx="0">
                  <c:v>6741</c:v>
                </c:pt>
                <c:pt idx="1">
                  <c:v>4947</c:v>
                </c:pt>
                <c:pt idx="2">
                  <c:v>3504</c:v>
                </c:pt>
                <c:pt idx="3">
                  <c:v>3424</c:v>
                </c:pt>
                <c:pt idx="4">
                  <c:v>2786</c:v>
                </c:pt>
                <c:pt idx="5">
                  <c:v>17410</c:v>
                </c:pt>
              </c:numCache>
            </c:numRef>
          </c:val>
          <c:extLst>
            <c:ext xmlns:c16="http://schemas.microsoft.com/office/drawing/2014/chart" uri="{C3380CC4-5D6E-409C-BE32-E72D297353CC}">
              <c16:uniqueId val="{0000000C-16FB-417D-937C-D6912FCB8B54}"/>
            </c:ext>
          </c:extLst>
        </c:ser>
        <c:dLbls>
          <c:showLegendKey val="0"/>
          <c:showVal val="1"/>
          <c:showCatName val="0"/>
          <c:showSerName val="0"/>
          <c:showPercent val="0"/>
          <c:showBubbleSize val="0"/>
          <c:showLeaderLines val="0"/>
        </c:dLbls>
        <c:firstSliceAng val="0"/>
        <c:holeSize val="50"/>
      </c:doughnutChart>
      <c:spPr>
        <a:noFill/>
        <a:ln>
          <a:noFill/>
        </a:ln>
        <a:effectLst/>
      </c:spPr>
    </c:plotArea>
    <c:legend>
      <c:legendPos val="b"/>
      <c:layout>
        <c:manualLayout>
          <c:xMode val="edge"/>
          <c:yMode val="edge"/>
          <c:x val="0.69079186952121363"/>
          <c:y val="0.33540867395027146"/>
          <c:w val="0.30439463033753933"/>
          <c:h val="0.66328795260547968"/>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2706935123042502E-3"/>
          <c:y val="0.10976890756302521"/>
          <c:w val="0.9854586129753915"/>
          <c:h val="0.81565126050420167"/>
        </c:manualLayout>
      </c:layout>
      <c:barChart>
        <c:barDir val="col"/>
        <c:grouping val="clustered"/>
        <c:varyColors val="0"/>
        <c:ser>
          <c:idx val="0"/>
          <c:order val="0"/>
          <c:spPr>
            <a:solidFill>
              <a:srgbClr val="86BC25"/>
            </a:solidFill>
            <a:ln>
              <a:noFill/>
            </a:ln>
          </c:spPr>
          <c:invertIfNegative val="0"/>
          <c:dLbls>
            <c:dLbl>
              <c:idx val="0"/>
              <c:layout>
                <c:manualLayout>
                  <c:x val="0"/>
                  <c:y val="-0.33508403361344535"/>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418-485A-8932-AD1FCD0A5996}"/>
                </c:ext>
              </c:extLst>
            </c:dLbl>
            <c:dLbl>
              <c:idx val="1"/>
              <c:layout>
                <c:manualLayout>
                  <c:x val="0"/>
                  <c:y val="-0.29149159663865548"/>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418-485A-8932-AD1FCD0A5996}"/>
                </c:ext>
              </c:extLst>
            </c:dLbl>
            <c:dLbl>
              <c:idx val="2"/>
              <c:layout>
                <c:manualLayout>
                  <c:x val="0"/>
                  <c:y val="-0.24842436974789917"/>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418-485A-8932-AD1FCD0A5996}"/>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6.03</c:v>
                </c:pt>
                <c:pt idx="1">
                  <c:v>5.16</c:v>
                </c:pt>
                <c:pt idx="2">
                  <c:v>4.28</c:v>
                </c:pt>
              </c:numCache>
            </c:numRef>
          </c:val>
          <c:extLst>
            <c:ext xmlns:c16="http://schemas.microsoft.com/office/drawing/2014/chart" uri="{C3380CC4-5D6E-409C-BE32-E72D297353CC}">
              <c16:uniqueId val="{00000003-4418-485A-8932-AD1FCD0A5996}"/>
            </c:ext>
          </c:extLst>
        </c:ser>
        <c:ser>
          <c:idx val="1"/>
          <c:order val="1"/>
          <c:spPr>
            <a:solidFill>
              <a:srgbClr val="FFCD00"/>
            </a:solidFill>
            <a:ln>
              <a:noFill/>
            </a:ln>
          </c:spPr>
          <c:invertIfNegative val="0"/>
          <c:dLbls>
            <c:dLbl>
              <c:idx val="0"/>
              <c:layout>
                <c:manualLayout>
                  <c:x val="0"/>
                  <c:y val="-0.29044117647058826"/>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418-485A-8932-AD1FCD0A5996}"/>
                </c:ext>
              </c:extLst>
            </c:dLbl>
            <c:dLbl>
              <c:idx val="1"/>
              <c:layout>
                <c:manualLayout>
                  <c:x val="0"/>
                  <c:y val="-0.25210084033613445"/>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4418-485A-8932-AD1FCD0A5996}"/>
                </c:ext>
              </c:extLst>
            </c:dLbl>
            <c:dLbl>
              <c:idx val="2"/>
              <c:layout>
                <c:manualLayout>
                  <c:x val="0"/>
                  <c:y val="-0.19432773109243698"/>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4418-485A-8932-AD1FCD0A5996}"/>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5.13</c:v>
                </c:pt>
                <c:pt idx="1">
                  <c:v>4.3600000000000003</c:v>
                </c:pt>
                <c:pt idx="2">
                  <c:v>3.2</c:v>
                </c:pt>
              </c:numCache>
            </c:numRef>
          </c:val>
          <c:extLst>
            <c:ext xmlns:c16="http://schemas.microsoft.com/office/drawing/2014/chart" uri="{C3380CC4-5D6E-409C-BE32-E72D297353CC}">
              <c16:uniqueId val="{00000007-4418-485A-8932-AD1FCD0A5996}"/>
            </c:ext>
          </c:extLst>
        </c:ser>
        <c:ser>
          <c:idx val="2"/>
          <c:order val="2"/>
          <c:spPr>
            <a:solidFill>
              <a:srgbClr val="62B5E5"/>
            </a:solidFill>
            <a:ln>
              <a:noFill/>
            </a:ln>
          </c:spPr>
          <c:invertIfNegative val="0"/>
          <c:dLbls>
            <c:dLbl>
              <c:idx val="0"/>
              <c:layout>
                <c:manualLayout>
                  <c:x val="0"/>
                  <c:y val="-0.31985294117647056"/>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4418-485A-8932-AD1FCD0A5996}"/>
                </c:ext>
              </c:extLst>
            </c:dLbl>
            <c:dLbl>
              <c:idx val="1"/>
              <c:layout>
                <c:manualLayout>
                  <c:x val="0"/>
                  <c:y val="-0.28886554621848737"/>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4418-485A-8932-AD1FCD0A5996}"/>
                </c:ext>
              </c:extLst>
            </c:dLbl>
            <c:dLbl>
              <c:idx val="2"/>
              <c:layout>
                <c:manualLayout>
                  <c:x val="0"/>
                  <c:y val="-0.25210084033613445"/>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4418-485A-8932-AD1FCD0A5996}"/>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Sheet1!$A$3:$C$3</c:f>
              <c:numCache>
                <c:formatCode>General</c:formatCode>
                <c:ptCount val="3"/>
                <c:pt idx="0">
                  <c:v>5.73</c:v>
                </c:pt>
                <c:pt idx="1">
                  <c:v>5.0999999999999996</c:v>
                </c:pt>
                <c:pt idx="2">
                  <c:v>4.3600000000000003</c:v>
                </c:pt>
              </c:numCache>
            </c:numRef>
          </c:val>
          <c:extLst>
            <c:ext xmlns:c16="http://schemas.microsoft.com/office/drawing/2014/chart" uri="{C3380CC4-5D6E-409C-BE32-E72D297353CC}">
              <c16:uniqueId val="{0000000B-4418-485A-8932-AD1FCD0A5996}"/>
            </c:ext>
          </c:extLst>
        </c:ser>
        <c:ser>
          <c:idx val="3"/>
          <c:order val="3"/>
          <c:spPr>
            <a:solidFill>
              <a:srgbClr val="012169"/>
            </a:solidFill>
            <a:ln>
              <a:noFill/>
            </a:ln>
          </c:spPr>
          <c:invertIfNegative val="0"/>
          <c:dLbls>
            <c:dLbl>
              <c:idx val="0"/>
              <c:layout>
                <c:manualLayout>
                  <c:x val="0"/>
                  <c:y val="-0.35031512605042014"/>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4418-485A-8932-AD1FCD0A5996}"/>
                </c:ext>
              </c:extLst>
            </c:dLbl>
            <c:dLbl>
              <c:idx val="1"/>
              <c:layout>
                <c:manualLayout>
                  <c:x val="0"/>
                  <c:y val="-0.3014705882352941"/>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4418-485A-8932-AD1FCD0A5996}"/>
                </c:ext>
              </c:extLst>
            </c:dLbl>
            <c:dLbl>
              <c:idx val="2"/>
              <c:layout>
                <c:manualLayout>
                  <c:x val="0"/>
                  <c:y val="-0.25997899159663868"/>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4418-485A-8932-AD1FCD0A5996}"/>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Sheet1!$A$4:$C$4</c:f>
              <c:numCache>
                <c:formatCode>General</c:formatCode>
                <c:ptCount val="3"/>
                <c:pt idx="0">
                  <c:v>6.33</c:v>
                </c:pt>
                <c:pt idx="1">
                  <c:v>5.36</c:v>
                </c:pt>
                <c:pt idx="2">
                  <c:v>4.5199999999999996</c:v>
                </c:pt>
              </c:numCache>
            </c:numRef>
          </c:val>
          <c:extLst>
            <c:ext xmlns:c16="http://schemas.microsoft.com/office/drawing/2014/chart" uri="{C3380CC4-5D6E-409C-BE32-E72D297353CC}">
              <c16:uniqueId val="{0000000F-4418-485A-8932-AD1FCD0A5996}"/>
            </c:ext>
          </c:extLst>
        </c:ser>
        <c:ser>
          <c:idx val="4"/>
          <c:order val="4"/>
          <c:spPr>
            <a:solidFill>
              <a:srgbClr val="0097A9"/>
            </a:solidFill>
            <a:ln>
              <a:noFill/>
            </a:ln>
          </c:spPr>
          <c:invertIfNegative val="0"/>
          <c:dLbls>
            <c:dLbl>
              <c:idx val="0"/>
              <c:layout>
                <c:manualLayout>
                  <c:x val="0"/>
                  <c:y val="-0.44327731092436973"/>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4418-485A-8932-AD1FCD0A5996}"/>
                </c:ext>
              </c:extLst>
            </c:dLbl>
            <c:dLbl>
              <c:idx val="1"/>
              <c:layout>
                <c:manualLayout>
                  <c:x val="0"/>
                  <c:y val="-0.37552521008403361"/>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4418-485A-8932-AD1FCD0A5996}"/>
                </c:ext>
              </c:extLst>
            </c:dLbl>
            <c:dLbl>
              <c:idx val="2"/>
              <c:layout>
                <c:manualLayout>
                  <c:x val="0"/>
                  <c:y val="-0.36134453781512604"/>
                </c:manualLayout>
              </c:layout>
              <c:numFmt formatCode="#,##0.00;&quot;-&quot;#,##0.00" sourceLinked="0"/>
              <c:spPr>
                <a:noFill/>
                <a:ln>
                  <a:noFill/>
                </a:ln>
              </c:spPr>
              <c:txPr>
                <a:bodyPr wrap="none"/>
                <a:lstStyle/>
                <a:p>
                  <a:pPr>
                    <a:defRPr lang="ja-JP"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4418-485A-8932-AD1FCD0A5996}"/>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Sheet1!$A$5:$C$5</c:f>
              <c:numCache>
                <c:formatCode>General</c:formatCode>
                <c:ptCount val="3"/>
                <c:pt idx="0">
                  <c:v>8.1999999999999993</c:v>
                </c:pt>
                <c:pt idx="1">
                  <c:v>6.85</c:v>
                </c:pt>
                <c:pt idx="2">
                  <c:v>6.56</c:v>
                </c:pt>
              </c:numCache>
            </c:numRef>
          </c:val>
          <c:extLst>
            <c:ext xmlns:c16="http://schemas.microsoft.com/office/drawing/2014/chart" uri="{C3380CC4-5D6E-409C-BE32-E72D297353CC}">
              <c16:uniqueId val="{00000013-4418-485A-8932-AD1FCD0A5996}"/>
            </c:ext>
          </c:extLst>
        </c:ser>
        <c:dLbls>
          <c:showLegendKey val="0"/>
          <c:showVal val="0"/>
          <c:showCatName val="0"/>
          <c:showSerName val="0"/>
          <c:showPercent val="0"/>
          <c:showBubbleSize val="0"/>
        </c:dLbls>
        <c:gapWidth val="150"/>
        <c:axId val="1113901839"/>
        <c:axId val="1"/>
      </c:barChart>
      <c:catAx>
        <c:axId val="1113901839"/>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000" kern="1200">
                <a:latin typeface="+mn-lt"/>
                <a:ea typeface="+mn-ea"/>
                <a:cs typeface="+mn-cs"/>
              </a:defRPr>
            </a:pPr>
            <a:endParaRPr lang="en-US"/>
          </a:p>
        </c:txPr>
        <c:crossAx val="1"/>
        <c:crosses val="min"/>
        <c:auto val="0"/>
        <c:lblAlgn val="ctr"/>
        <c:lblOffset val="100"/>
        <c:noMultiLvlLbl val="0"/>
      </c:catAx>
      <c:valAx>
        <c:axId val="1"/>
        <c:scaling>
          <c:orientation val="minMax"/>
          <c:max val="8.1999999999999993"/>
          <c:min val="0"/>
        </c:scaling>
        <c:delete val="1"/>
        <c:axPos val="l"/>
        <c:numFmt formatCode="General" sourceLinked="1"/>
        <c:majorTickMark val="out"/>
        <c:minorTickMark val="none"/>
        <c:tickLblPos val="nextTo"/>
        <c:crossAx val="1113901839"/>
        <c:crosses val="min"/>
        <c:crossBetween val="between"/>
      </c:valAx>
    </c:plotArea>
    <c:plotVisOnly val="0"/>
    <c:dispBlanksAs val="gap"/>
    <c:showDLblsOverMax val="1"/>
  </c:chart>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782852874569701E-2"/>
          <c:y val="7.4074020068518473E-2"/>
          <c:w val="0.88580577613591716"/>
          <c:h val="0.64375398852012333"/>
        </c:manualLayout>
      </c:layout>
      <c:barChart>
        <c:barDir val="col"/>
        <c:grouping val="clustered"/>
        <c:varyColors val="0"/>
        <c:ser>
          <c:idx val="0"/>
          <c:order val="0"/>
          <c:tx>
            <c:strRef>
              <c:f>Sheet1!$B$1</c:f>
              <c:strCache>
                <c:ptCount val="1"/>
                <c:pt idx="0">
                  <c:v>Series 1</c:v>
                </c:pt>
              </c:strCache>
            </c:strRef>
          </c:tx>
          <c:spPr>
            <a:solidFill>
              <a:schemeClr val="accent4"/>
            </a:solidFill>
            <a:ln>
              <a:noFill/>
            </a:ln>
            <a:effectLst/>
          </c:spPr>
          <c:invertIfNegative val="0"/>
          <c:dLbls>
            <c:numFmt formatCode="#,##0.00" sourceLinked="0"/>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June'22</c:v>
                </c:pt>
                <c:pt idx="1">
                  <c:v>Aug'24</c:v>
                </c:pt>
                <c:pt idx="2">
                  <c:v>Jan'25</c:v>
                </c:pt>
              </c:strCache>
            </c:strRef>
          </c:cat>
          <c:val>
            <c:numRef>
              <c:f>Sheet1!$B$2:$B$4</c:f>
              <c:numCache>
                <c:formatCode>General</c:formatCode>
                <c:ptCount val="3"/>
                <c:pt idx="0">
                  <c:v>17</c:v>
                </c:pt>
                <c:pt idx="1">
                  <c:v>3.6</c:v>
                </c:pt>
                <c:pt idx="2">
                  <c:v>3.56</c:v>
                </c:pt>
              </c:numCache>
            </c:numRef>
          </c:val>
          <c:extLst>
            <c:ext xmlns:c16="http://schemas.microsoft.com/office/drawing/2014/chart" uri="{C3380CC4-5D6E-409C-BE32-E72D297353CC}">
              <c16:uniqueId val="{00000000-2B87-4DD6-A4EE-D7BBAB4A224C}"/>
            </c:ext>
          </c:extLst>
        </c:ser>
        <c:dLbls>
          <c:dLblPos val="outEnd"/>
          <c:showLegendKey val="0"/>
          <c:showVal val="1"/>
          <c:showCatName val="0"/>
          <c:showSerName val="0"/>
          <c:showPercent val="0"/>
          <c:showBubbleSize val="0"/>
        </c:dLbls>
        <c:gapWidth val="219"/>
        <c:overlap val="-27"/>
        <c:axId val="273369071"/>
        <c:axId val="2128094015"/>
      </c:barChart>
      <c:catAx>
        <c:axId val="273369071"/>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2128094015"/>
        <c:crosses val="autoZero"/>
        <c:auto val="1"/>
        <c:lblAlgn val="ctr"/>
        <c:lblOffset val="100"/>
        <c:noMultiLvlLbl val="1"/>
      </c:catAx>
      <c:valAx>
        <c:axId val="2128094015"/>
        <c:scaling>
          <c:orientation val="minMax"/>
        </c:scaling>
        <c:delete val="1"/>
        <c:axPos val="l"/>
        <c:numFmt formatCode="General" sourceLinked="1"/>
        <c:majorTickMark val="out"/>
        <c:minorTickMark val="none"/>
        <c:tickLblPos val="nextTo"/>
        <c:crossAx val="273369071"/>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79155196749989565"/>
        </c:manualLayout>
      </c:layout>
      <c:lineChart>
        <c:grouping val="standard"/>
        <c:varyColors val="0"/>
        <c:ser>
          <c:idx val="0"/>
          <c:order val="0"/>
          <c:tx>
            <c:strRef>
              <c:f>Sheet1!$B$1</c:f>
              <c:strCache>
                <c:ptCount val="1"/>
                <c:pt idx="0">
                  <c:v>FY22</c:v>
                </c:pt>
              </c:strCache>
            </c:strRef>
          </c:tx>
          <c:spPr>
            <a:ln w="28575" cap="rnd">
              <a:solidFill>
                <a:schemeClr val="accent4"/>
              </a:solidFill>
              <a:round/>
            </a:ln>
            <a:effectLst/>
          </c:spPr>
          <c:marker>
            <c:symbol val="circle"/>
            <c:size val="5"/>
            <c:spPr>
              <a:solidFill>
                <a:srgbClr val="012169"/>
              </a:solidFill>
              <a:ln w="9525">
                <a:solidFill>
                  <a:schemeClr val="accent4"/>
                </a:solidFill>
              </a:ln>
              <a:effectLst/>
            </c:spPr>
          </c:marker>
          <c:dLbls>
            <c:spPr>
              <a:solidFill>
                <a:schemeClr val="accent4">
                  <a:alpha val="85000"/>
                </a:schemeClr>
              </a:solidFill>
              <a:ln>
                <a:noFill/>
              </a:ln>
              <a:effectLst/>
            </c:spPr>
            <c:txPr>
              <a:bodyPr rot="0" spcFirstLastPara="1" vertOverflow="ellipsis" vert="horz" wrap="square" lIns="38100" tIns="19050" rIns="38100" bIns="19050" anchor="ctr" anchorCtr="1">
                <a:spAutoFit/>
              </a:bodyPr>
              <a:lstStyle/>
              <a:p>
                <a:pPr>
                  <a:defRPr lang="ja-JP" sz="1000" b="0" i="0" u="none" strike="noStrike" kern="1200" baseline="0">
                    <a:solidFill>
                      <a:schemeClr val="bg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Telangana</c:v>
                </c:pt>
                <c:pt idx="1">
                  <c:v>Gujarat</c:v>
                </c:pt>
                <c:pt idx="2">
                  <c:v>Maharashtra</c:v>
                </c:pt>
                <c:pt idx="3">
                  <c:v>Uttar pradesh</c:v>
                </c:pt>
                <c:pt idx="4">
                  <c:v>Rajasthan</c:v>
                </c:pt>
                <c:pt idx="5">
                  <c:v>Andhra Pradesh</c:v>
                </c:pt>
                <c:pt idx="6">
                  <c:v>Punjab</c:v>
                </c:pt>
                <c:pt idx="7">
                  <c:v>West Bengal</c:v>
                </c:pt>
                <c:pt idx="8">
                  <c:v>Tamil Nadu</c:v>
                </c:pt>
                <c:pt idx="9">
                  <c:v>Uttarakhand</c:v>
                </c:pt>
                <c:pt idx="10">
                  <c:v>Kerela</c:v>
                </c:pt>
              </c:strCache>
            </c:strRef>
          </c:cat>
          <c:val>
            <c:numRef>
              <c:f>Sheet1!$B$2:$B$12</c:f>
              <c:numCache>
                <c:formatCode>General</c:formatCode>
                <c:ptCount val="11"/>
                <c:pt idx="0">
                  <c:v>380</c:v>
                </c:pt>
                <c:pt idx="1">
                  <c:v>0</c:v>
                </c:pt>
                <c:pt idx="2">
                  <c:v>177</c:v>
                </c:pt>
                <c:pt idx="3">
                  <c:v>212</c:v>
                </c:pt>
                <c:pt idx="4">
                  <c:v>203</c:v>
                </c:pt>
                <c:pt idx="5">
                  <c:v>166</c:v>
                </c:pt>
                <c:pt idx="6">
                  <c:v>45</c:v>
                </c:pt>
                <c:pt idx="7">
                  <c:v>147</c:v>
                </c:pt>
                <c:pt idx="8">
                  <c:v>223</c:v>
                </c:pt>
                <c:pt idx="9">
                  <c:v>24</c:v>
                </c:pt>
                <c:pt idx="10">
                  <c:v>78</c:v>
                </c:pt>
              </c:numCache>
            </c:numRef>
          </c:val>
          <c:smooth val="1"/>
          <c:extLst>
            <c:ext xmlns:c16="http://schemas.microsoft.com/office/drawing/2014/chart" uri="{C3380CC4-5D6E-409C-BE32-E72D297353CC}">
              <c16:uniqueId val="{00000000-6AF3-444F-AAAF-BF0B554516B3}"/>
            </c:ext>
          </c:extLst>
        </c:ser>
        <c:ser>
          <c:idx val="1"/>
          <c:order val="1"/>
          <c:tx>
            <c:strRef>
              <c:f>Sheet1!$C$1</c:f>
              <c:strCache>
                <c:ptCount val="1"/>
                <c:pt idx="0">
                  <c:v>FY24</c:v>
                </c:pt>
              </c:strCache>
            </c:strRef>
          </c:tx>
          <c:spPr>
            <a:ln w="28575" cap="rnd">
              <a:solidFill>
                <a:srgbClr val="BAE370"/>
              </a:solidFill>
              <a:round/>
            </a:ln>
            <a:effectLst/>
          </c:spPr>
          <c:marker>
            <c:symbol val="circle"/>
            <c:size val="5"/>
            <c:spPr>
              <a:solidFill>
                <a:schemeClr val="accent6">
                  <a:lumMod val="20000"/>
                  <a:lumOff val="80000"/>
                </a:schemeClr>
              </a:solidFill>
              <a:ln w="9525">
                <a:solidFill>
                  <a:srgbClr val="BAE370"/>
                </a:solidFill>
              </a:ln>
              <a:effectLst/>
            </c:spPr>
          </c:marker>
          <c:dLbls>
            <c:dLbl>
              <c:idx val="1"/>
              <c:layout>
                <c:manualLayout>
                  <c:x val="-4.3184497982829001E-2"/>
                  <c:y val="-1.966517156924306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AF3-444F-AAAF-BF0B554516B3}"/>
                </c:ext>
              </c:extLst>
            </c:dLbl>
            <c:spPr>
              <a:solidFill>
                <a:srgbClr val="BAE370"/>
              </a:solidFill>
              <a:ln>
                <a:noFill/>
              </a:ln>
              <a:effectLst/>
            </c:spPr>
            <c:txPr>
              <a:bodyPr rot="0" spcFirstLastPara="1" vertOverflow="ellipsis" vert="horz" wrap="square" lIns="38100" tIns="19050" rIns="38100" bIns="19050" anchor="ctr" anchorCtr="1">
                <a:spAutoFit/>
              </a:bodyPr>
              <a:lstStyle/>
              <a:p>
                <a:pPr>
                  <a:defRPr lang="ja-JP" sz="1000"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Telangana</c:v>
                </c:pt>
                <c:pt idx="1">
                  <c:v>Gujarat</c:v>
                </c:pt>
                <c:pt idx="2">
                  <c:v>Maharashtra</c:v>
                </c:pt>
                <c:pt idx="3">
                  <c:v>Uttar pradesh</c:v>
                </c:pt>
                <c:pt idx="4">
                  <c:v>Rajasthan</c:v>
                </c:pt>
                <c:pt idx="5">
                  <c:v>Andhra Pradesh</c:v>
                </c:pt>
                <c:pt idx="6">
                  <c:v>Punjab</c:v>
                </c:pt>
                <c:pt idx="7">
                  <c:v>West Bengal</c:v>
                </c:pt>
                <c:pt idx="8">
                  <c:v>Tamil Nadu</c:v>
                </c:pt>
                <c:pt idx="9">
                  <c:v>Uttarakhand</c:v>
                </c:pt>
                <c:pt idx="10">
                  <c:v>Kerela</c:v>
                </c:pt>
              </c:strCache>
            </c:strRef>
          </c:cat>
          <c:val>
            <c:numRef>
              <c:f>Sheet1!$C$2:$C$12</c:f>
              <c:numCache>
                <c:formatCode>General</c:formatCode>
                <c:ptCount val="11"/>
                <c:pt idx="0">
                  <c:v>310</c:v>
                </c:pt>
                <c:pt idx="1">
                  <c:v>3</c:v>
                </c:pt>
                <c:pt idx="2">
                  <c:v>109</c:v>
                </c:pt>
                <c:pt idx="3">
                  <c:v>153</c:v>
                </c:pt>
                <c:pt idx="4">
                  <c:v>63</c:v>
                </c:pt>
                <c:pt idx="5">
                  <c:v>105</c:v>
                </c:pt>
                <c:pt idx="6">
                  <c:v>40</c:v>
                </c:pt>
                <c:pt idx="7">
                  <c:v>162</c:v>
                </c:pt>
                <c:pt idx="8">
                  <c:v>184</c:v>
                </c:pt>
                <c:pt idx="9">
                  <c:v>39</c:v>
                </c:pt>
                <c:pt idx="10">
                  <c:v>95</c:v>
                </c:pt>
              </c:numCache>
            </c:numRef>
          </c:val>
          <c:smooth val="1"/>
          <c:extLst>
            <c:ext xmlns:c16="http://schemas.microsoft.com/office/drawing/2014/chart" uri="{C3380CC4-5D6E-409C-BE32-E72D297353CC}">
              <c16:uniqueId val="{00000002-6AF3-444F-AAAF-BF0B554516B3}"/>
            </c:ext>
          </c:extLst>
        </c:ser>
        <c:ser>
          <c:idx val="2"/>
          <c:order val="2"/>
          <c:tx>
            <c:strRef>
              <c:f>Sheet1!$D$1</c:f>
              <c:strCache>
                <c:ptCount val="1"/>
                <c:pt idx="0">
                  <c:v>FY22 National average</c:v>
                </c:pt>
              </c:strCache>
            </c:strRef>
          </c:tx>
          <c:spPr>
            <a:ln w="15875" cap="flat">
              <a:solidFill>
                <a:srgbClr val="002060"/>
              </a:solidFill>
              <a:prstDash val="dash"/>
              <a:miter lim="800000"/>
            </a:ln>
            <a:effectLst/>
          </c:spPr>
          <c:marker>
            <c:symbol val="none"/>
          </c:marker>
          <c:dLbls>
            <c:delete val="1"/>
          </c:dLbls>
          <c:cat>
            <c:strRef>
              <c:f>Sheet1!$A$2:$A$12</c:f>
              <c:strCache>
                <c:ptCount val="11"/>
                <c:pt idx="0">
                  <c:v>Telangana</c:v>
                </c:pt>
                <c:pt idx="1">
                  <c:v>Gujarat</c:v>
                </c:pt>
                <c:pt idx="2">
                  <c:v>Maharashtra</c:v>
                </c:pt>
                <c:pt idx="3">
                  <c:v>Uttar pradesh</c:v>
                </c:pt>
                <c:pt idx="4">
                  <c:v>Rajasthan</c:v>
                </c:pt>
                <c:pt idx="5">
                  <c:v>Andhra Pradesh</c:v>
                </c:pt>
                <c:pt idx="6">
                  <c:v>Punjab</c:v>
                </c:pt>
                <c:pt idx="7">
                  <c:v>West Bengal</c:v>
                </c:pt>
                <c:pt idx="8">
                  <c:v>Tamil Nadu</c:v>
                </c:pt>
                <c:pt idx="9">
                  <c:v>Uttarakhand</c:v>
                </c:pt>
                <c:pt idx="10">
                  <c:v>Kerela</c:v>
                </c:pt>
              </c:strCache>
            </c:strRef>
          </c:cat>
          <c:val>
            <c:numRef>
              <c:f>Sheet1!$D$2:$D$12</c:f>
              <c:numCache>
                <c:formatCode>General</c:formatCode>
                <c:ptCount val="11"/>
                <c:pt idx="0">
                  <c:v>169</c:v>
                </c:pt>
                <c:pt idx="1">
                  <c:v>169</c:v>
                </c:pt>
                <c:pt idx="2">
                  <c:v>169</c:v>
                </c:pt>
                <c:pt idx="3">
                  <c:v>169</c:v>
                </c:pt>
                <c:pt idx="4">
                  <c:v>169</c:v>
                </c:pt>
                <c:pt idx="5">
                  <c:v>169</c:v>
                </c:pt>
                <c:pt idx="6">
                  <c:v>169</c:v>
                </c:pt>
                <c:pt idx="7">
                  <c:v>169</c:v>
                </c:pt>
                <c:pt idx="8">
                  <c:v>169</c:v>
                </c:pt>
                <c:pt idx="9">
                  <c:v>169</c:v>
                </c:pt>
                <c:pt idx="10">
                  <c:v>169</c:v>
                </c:pt>
              </c:numCache>
            </c:numRef>
          </c:val>
          <c:smooth val="1"/>
          <c:extLst>
            <c:ext xmlns:c16="http://schemas.microsoft.com/office/drawing/2014/chart" uri="{C3380CC4-5D6E-409C-BE32-E72D297353CC}">
              <c16:uniqueId val="{00000003-6AF3-444F-AAAF-BF0B554516B3}"/>
            </c:ext>
          </c:extLst>
        </c:ser>
        <c:ser>
          <c:idx val="3"/>
          <c:order val="3"/>
          <c:tx>
            <c:strRef>
              <c:f>Sheet1!$E$1</c:f>
              <c:strCache>
                <c:ptCount val="1"/>
                <c:pt idx="0">
                  <c:v>FY24 National average</c:v>
                </c:pt>
              </c:strCache>
            </c:strRef>
          </c:tx>
          <c:spPr>
            <a:ln w="15875" cap="rnd">
              <a:solidFill>
                <a:schemeClr val="accent5">
                  <a:lumMod val="20000"/>
                  <a:lumOff val="80000"/>
                  <a:alpha val="70000"/>
                </a:schemeClr>
              </a:solidFill>
              <a:prstDash val="dash"/>
              <a:round/>
            </a:ln>
            <a:effectLst/>
          </c:spPr>
          <c:marker>
            <c:symbol val="none"/>
          </c:marker>
          <c:dLbls>
            <c:delete val="1"/>
          </c:dLbls>
          <c:cat>
            <c:strRef>
              <c:f>Sheet1!$A$2:$A$12</c:f>
              <c:strCache>
                <c:ptCount val="11"/>
                <c:pt idx="0">
                  <c:v>Telangana</c:v>
                </c:pt>
                <c:pt idx="1">
                  <c:v>Gujarat</c:v>
                </c:pt>
                <c:pt idx="2">
                  <c:v>Maharashtra</c:v>
                </c:pt>
                <c:pt idx="3">
                  <c:v>Uttar pradesh</c:v>
                </c:pt>
                <c:pt idx="4">
                  <c:v>Rajasthan</c:v>
                </c:pt>
                <c:pt idx="5">
                  <c:v>Andhra Pradesh</c:v>
                </c:pt>
                <c:pt idx="6">
                  <c:v>Punjab</c:v>
                </c:pt>
                <c:pt idx="7">
                  <c:v>West Bengal</c:v>
                </c:pt>
                <c:pt idx="8">
                  <c:v>Tamil Nadu</c:v>
                </c:pt>
                <c:pt idx="9">
                  <c:v>Uttarakhand</c:v>
                </c:pt>
                <c:pt idx="10">
                  <c:v>Kerela</c:v>
                </c:pt>
              </c:strCache>
            </c:strRef>
          </c:cat>
          <c:val>
            <c:numRef>
              <c:f>Sheet1!$E$2:$E$12</c:f>
              <c:numCache>
                <c:formatCode>General</c:formatCode>
                <c:ptCount val="11"/>
                <c:pt idx="0">
                  <c:v>132</c:v>
                </c:pt>
                <c:pt idx="1">
                  <c:v>132</c:v>
                </c:pt>
                <c:pt idx="2">
                  <c:v>132</c:v>
                </c:pt>
                <c:pt idx="3">
                  <c:v>132</c:v>
                </c:pt>
                <c:pt idx="4">
                  <c:v>132</c:v>
                </c:pt>
                <c:pt idx="5">
                  <c:v>132</c:v>
                </c:pt>
                <c:pt idx="6">
                  <c:v>132</c:v>
                </c:pt>
                <c:pt idx="7">
                  <c:v>132</c:v>
                </c:pt>
                <c:pt idx="8">
                  <c:v>132</c:v>
                </c:pt>
                <c:pt idx="9">
                  <c:v>132</c:v>
                </c:pt>
                <c:pt idx="10">
                  <c:v>132</c:v>
                </c:pt>
              </c:numCache>
            </c:numRef>
          </c:val>
          <c:smooth val="0"/>
          <c:extLst>
            <c:ext xmlns:c16="http://schemas.microsoft.com/office/drawing/2014/chart" uri="{C3380CC4-5D6E-409C-BE32-E72D297353CC}">
              <c16:uniqueId val="{00000004-6AF3-444F-AAAF-BF0B554516B3}"/>
            </c:ext>
          </c:extLst>
        </c:ser>
        <c:dLbls>
          <c:dLblPos val="ctr"/>
          <c:showLegendKey val="0"/>
          <c:showVal val="1"/>
          <c:showCatName val="0"/>
          <c:showSerName val="0"/>
          <c:showPercent val="0"/>
          <c:showBubbleSize val="0"/>
        </c:dLbls>
        <c:marker val="1"/>
        <c:smooth val="0"/>
        <c:axId val="179810943"/>
        <c:axId val="1992228271"/>
      </c:lineChart>
      <c:catAx>
        <c:axId val="179810943"/>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mn-lt"/>
                <a:ea typeface="+mn-ea"/>
                <a:cs typeface="+mn-cs"/>
              </a:defRPr>
            </a:pPr>
            <a:endParaRPr lang="en-US"/>
          </a:p>
        </c:txPr>
        <c:crossAx val="1992228271"/>
        <c:crosses val="autoZero"/>
        <c:auto val="1"/>
        <c:lblAlgn val="ctr"/>
        <c:lblOffset val="100"/>
        <c:noMultiLvlLbl val="0"/>
      </c:catAx>
      <c:valAx>
        <c:axId val="1992228271"/>
        <c:scaling>
          <c:orientation val="minMax"/>
        </c:scaling>
        <c:delete val="1"/>
        <c:axPos val="l"/>
        <c:numFmt formatCode="General" sourceLinked="1"/>
        <c:majorTickMark val="none"/>
        <c:minorTickMark val="none"/>
        <c:tickLblPos val="nextTo"/>
        <c:crossAx val="179810943"/>
        <c:crosses val="autoZero"/>
        <c:crossBetween val="between"/>
      </c:valAx>
      <c:spPr>
        <a:noFill/>
        <a:ln>
          <a:noFill/>
        </a:ln>
        <a:effectLst/>
      </c:spPr>
    </c:plotArea>
    <c:legend>
      <c:legendPos val="r"/>
      <c:layout>
        <c:manualLayout>
          <c:xMode val="edge"/>
          <c:yMode val="edge"/>
          <c:x val="0.60838165379527243"/>
          <c:y val="3.6491705520981327E-2"/>
          <c:w val="0.39161834620472752"/>
          <c:h val="0.14044233886298599"/>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718253968253968E-2"/>
          <c:y val="5.174074074074074E-2"/>
          <c:w val="0.94456349206349211"/>
          <c:h val="0.83072962962962948"/>
        </c:manualLayout>
      </c:layout>
      <c:barChart>
        <c:barDir val="col"/>
        <c:grouping val="clustered"/>
        <c:varyColors val="0"/>
        <c:ser>
          <c:idx val="0"/>
          <c:order val="0"/>
          <c:tx>
            <c:strRef>
              <c:f>Sheet1!$B$1</c:f>
              <c:strCache>
                <c:ptCount val="1"/>
                <c:pt idx="0">
                  <c:v>billion units</c:v>
                </c:pt>
              </c:strCache>
            </c:strRef>
          </c:tx>
          <c:spPr>
            <a:solidFill>
              <a:schemeClr val="accent6">
                <a:lumMod val="20000"/>
                <a:lumOff val="80000"/>
              </a:schemeClr>
            </a:solidFill>
            <a:ln>
              <a:noFill/>
            </a:ln>
            <a:effectLst/>
          </c:spPr>
          <c:invertIfNegative val="0"/>
          <c:dPt>
            <c:idx val="8"/>
            <c:invertIfNegative val="0"/>
            <c:bubble3D val="0"/>
            <c:spPr>
              <a:solidFill>
                <a:srgbClr val="002060"/>
              </a:solidFill>
              <a:ln>
                <a:noFill/>
              </a:ln>
              <a:effectLst/>
            </c:spPr>
            <c:extLst>
              <c:ext xmlns:c16="http://schemas.microsoft.com/office/drawing/2014/chart" uri="{C3380CC4-5D6E-409C-BE32-E72D297353CC}">
                <c16:uniqueId val="{00000001-D5AA-422C-930A-8F60A1820584}"/>
              </c:ext>
            </c:extLst>
          </c:dPt>
          <c:dLbls>
            <c:spPr>
              <a:noFill/>
              <a:ln>
                <a:noFill/>
              </a:ln>
              <a:effectLst/>
            </c:spPr>
            <c:txPr>
              <a:bodyPr rot="0" spcFirstLastPara="1" vertOverflow="ellipsis" vert="horz" wrap="square" lIns="38100" tIns="19050" rIns="38100" bIns="19050" anchor="ctr" anchorCtr="1">
                <a:spAutoFit/>
              </a:bodyPr>
              <a:lstStyle/>
              <a:p>
                <a:pPr>
                  <a:defRPr lang="ja-JP" sz="1050" b="0" i="0" u="none" strike="noStrike" kern="1200" baseline="0">
                    <a:solidFill>
                      <a:srgbClr val="007680"/>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9"/>
                <c:pt idx="0">
                  <c:v>FY19</c:v>
                </c:pt>
                <c:pt idx="1">
                  <c:v>FY20</c:v>
                </c:pt>
                <c:pt idx="2">
                  <c:v>FY21</c:v>
                </c:pt>
                <c:pt idx="3">
                  <c:v>FY22</c:v>
                </c:pt>
                <c:pt idx="4">
                  <c:v>FY23</c:v>
                </c:pt>
                <c:pt idx="5">
                  <c:v>FY24</c:v>
                </c:pt>
                <c:pt idx="8">
                  <c:v>FY30 E</c:v>
                </c:pt>
              </c:strCache>
            </c:strRef>
          </c:cat>
          <c:val>
            <c:numRef>
              <c:f>Sheet1!$B$2:$B$10</c:f>
              <c:numCache>
                <c:formatCode>_(* #,##0_);_(* \(#,##0\);_(* "-"??_);_(@_)</c:formatCode>
                <c:ptCount val="9"/>
                <c:pt idx="0">
                  <c:v>1375.86</c:v>
                </c:pt>
                <c:pt idx="1">
                  <c:v>1390.93</c:v>
                </c:pt>
                <c:pt idx="2">
                  <c:v>1380.06</c:v>
                </c:pt>
                <c:pt idx="3">
                  <c:v>1491.85</c:v>
                </c:pt>
                <c:pt idx="4">
                  <c:v>1624.47</c:v>
                </c:pt>
                <c:pt idx="5">
                  <c:v>1738</c:v>
                </c:pt>
                <c:pt idx="8">
                  <c:v>2536</c:v>
                </c:pt>
              </c:numCache>
            </c:numRef>
          </c:val>
          <c:extLst>
            <c:ext xmlns:c16="http://schemas.microsoft.com/office/drawing/2014/chart" uri="{C3380CC4-5D6E-409C-BE32-E72D297353CC}">
              <c16:uniqueId val="{00000002-D5AA-422C-930A-8F60A1820584}"/>
            </c:ext>
          </c:extLst>
        </c:ser>
        <c:dLbls>
          <c:dLblPos val="outEnd"/>
          <c:showLegendKey val="0"/>
          <c:showVal val="1"/>
          <c:showCatName val="0"/>
          <c:showSerName val="0"/>
          <c:showPercent val="0"/>
          <c:showBubbleSize val="0"/>
        </c:dLbls>
        <c:gapWidth val="50"/>
        <c:axId val="1691389200"/>
        <c:axId val="1222922832"/>
      </c:barChart>
      <c:catAx>
        <c:axId val="16913892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50" b="0" i="0" u="none" strike="noStrike" kern="1200" baseline="0">
                <a:solidFill>
                  <a:srgbClr val="007680"/>
                </a:solidFill>
                <a:latin typeface="Calibri" panose="020F0502020204030204" pitchFamily="34" charset="0"/>
                <a:ea typeface="+mn-ea"/>
                <a:cs typeface="Calibri" panose="020F0502020204030204" pitchFamily="34" charset="0"/>
              </a:defRPr>
            </a:pPr>
            <a:endParaRPr lang="en-US"/>
          </a:p>
        </c:txPr>
        <c:crossAx val="1222922832"/>
        <c:crosses val="autoZero"/>
        <c:auto val="1"/>
        <c:lblAlgn val="ctr"/>
        <c:lblOffset val="100"/>
        <c:noMultiLvlLbl val="0"/>
      </c:catAx>
      <c:valAx>
        <c:axId val="1222922832"/>
        <c:scaling>
          <c:orientation val="minMax"/>
        </c:scaling>
        <c:delete val="1"/>
        <c:axPos val="l"/>
        <c:numFmt formatCode="_(* #,##0_);_(* \(#,##0\);_(* &quot;-&quot;??_);_(@_)" sourceLinked="1"/>
        <c:majorTickMark val="out"/>
        <c:minorTickMark val="none"/>
        <c:tickLblPos val="nextTo"/>
        <c:crossAx val="169138920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50" b="1"/>
      </a:pPr>
      <a:endParaRPr lang="en-US"/>
    </a:p>
  </c:txPr>
  <c:externalData r:id="rId3">
    <c:autoUpdate val="0"/>
  </c:externalData>
  <c:userShapes r:id="rId4"/>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1237808963982215E-2"/>
          <c:y val="0.13278905982905984"/>
          <c:w val="0.94456349206349211"/>
          <c:h val="0.59844877492877491"/>
        </c:manualLayout>
      </c:layout>
      <c:barChart>
        <c:barDir val="col"/>
        <c:grouping val="clustered"/>
        <c:varyColors val="0"/>
        <c:ser>
          <c:idx val="0"/>
          <c:order val="0"/>
          <c:tx>
            <c:strRef>
              <c:f>Sheet1!$B$1</c:f>
              <c:strCache>
                <c:ptCount val="1"/>
                <c:pt idx="0">
                  <c:v>Short term market volume (bn kWh)</c:v>
                </c:pt>
              </c:strCache>
            </c:strRef>
          </c:tx>
          <c:spPr>
            <a:solidFill>
              <a:schemeClr val="accent2"/>
            </a:solidFill>
            <a:ln>
              <a:noFill/>
            </a:ln>
            <a:effectLst/>
          </c:spPr>
          <c:invertIfNegative val="0"/>
          <c:dPt>
            <c:idx val="7"/>
            <c:invertIfNegative val="0"/>
            <c:bubble3D val="0"/>
            <c:spPr>
              <a:solidFill>
                <a:schemeClr val="tx1">
                  <a:lumMod val="50000"/>
                  <a:lumOff val="50000"/>
                </a:schemeClr>
              </a:solidFill>
              <a:ln>
                <a:noFill/>
              </a:ln>
              <a:effectLst/>
            </c:spPr>
            <c:extLst>
              <c:ext xmlns:c16="http://schemas.microsoft.com/office/drawing/2014/chart" uri="{C3380CC4-5D6E-409C-BE32-E72D297353CC}">
                <c16:uniqueId val="{00000001-00EA-4961-B77F-195A877547EC}"/>
              </c:ext>
            </c:extLst>
          </c:dPt>
          <c:dPt>
            <c:idx val="8"/>
            <c:invertIfNegative val="0"/>
            <c:bubble3D val="0"/>
            <c:spPr>
              <a:solidFill>
                <a:schemeClr val="accent4"/>
              </a:solidFill>
              <a:ln>
                <a:noFill/>
              </a:ln>
              <a:effectLst/>
            </c:spPr>
            <c:extLst>
              <c:ext xmlns:c16="http://schemas.microsoft.com/office/drawing/2014/chart" uri="{C3380CC4-5D6E-409C-BE32-E72D297353CC}">
                <c16:uniqueId val="{00000003-00EA-4961-B77F-195A877547EC}"/>
              </c:ext>
            </c:extLst>
          </c:dPt>
          <c:dLbls>
            <c:dLbl>
              <c:idx val="7"/>
              <c:spPr>
                <a:noFill/>
                <a:ln>
                  <a:noFill/>
                </a:ln>
                <a:effectLst/>
              </c:spPr>
              <c:txPr>
                <a:bodyPr rot="0" spcFirstLastPara="1" vertOverflow="ellipsis" vert="horz" wrap="square" lIns="38100" tIns="19050" rIns="38100" bIns="19050" anchor="ctr" anchorCtr="1">
                  <a:spAutoFit/>
                </a:bodyPr>
                <a:lstStyle/>
                <a:p>
                  <a:pPr>
                    <a:defRPr lang="ja-JP" sz="1050" b="1"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0EA-4961-B77F-195A877547EC}"/>
                </c:ext>
              </c:extLst>
            </c:dLbl>
            <c:spPr>
              <a:noFill/>
              <a:ln>
                <a:noFill/>
              </a:ln>
              <a:effectLst/>
            </c:spPr>
            <c:txPr>
              <a:bodyPr rot="0" spcFirstLastPara="1" vertOverflow="ellipsis" vert="horz" wrap="square" lIns="38100" tIns="19050" rIns="38100" bIns="19050" anchor="ctr" anchorCtr="1">
                <a:spAutoFit/>
              </a:bodyPr>
              <a:lstStyle/>
              <a:p>
                <a:pPr>
                  <a:defRPr lang="ja-JP" sz="1050" b="0" i="0" u="none" strike="noStrike" kern="1200" baseline="0">
                    <a:solidFill>
                      <a:srgbClr val="1A848D"/>
                    </a:solidFill>
                    <a:latin typeface="Calibri" panose="020F0502020204030204" pitchFamily="34" charset="0"/>
                    <a:ea typeface="+mn-ea"/>
                    <a:cs typeface="Calibri" panose="020F050202020403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9"/>
                <c:pt idx="0">
                  <c:v>FY19</c:v>
                </c:pt>
                <c:pt idx="1">
                  <c:v>FY20</c:v>
                </c:pt>
                <c:pt idx="2">
                  <c:v>FY21</c:v>
                </c:pt>
                <c:pt idx="3">
                  <c:v>FY22</c:v>
                </c:pt>
                <c:pt idx="4">
                  <c:v>FY23</c:v>
                </c:pt>
                <c:pt idx="5">
                  <c:v>FY24</c:v>
                </c:pt>
                <c:pt idx="7">
                  <c:v>FY30 E (Scenario 1)</c:v>
                </c:pt>
                <c:pt idx="8">
                  <c:v>FY30 E (Scenario 2)</c:v>
                </c:pt>
              </c:strCache>
            </c:strRef>
          </c:cat>
          <c:val>
            <c:numRef>
              <c:f>Sheet1!$B$2:$B$10</c:f>
              <c:numCache>
                <c:formatCode>0</c:formatCode>
                <c:ptCount val="9"/>
                <c:pt idx="0">
                  <c:v>145.19999999999999</c:v>
                </c:pt>
                <c:pt idx="1">
                  <c:v>137.16</c:v>
                </c:pt>
                <c:pt idx="2">
                  <c:v>146.01</c:v>
                </c:pt>
                <c:pt idx="3">
                  <c:v>186.75</c:v>
                </c:pt>
                <c:pt idx="4">
                  <c:v>194.35</c:v>
                </c:pt>
                <c:pt idx="5">
                  <c:v>217</c:v>
                </c:pt>
                <c:pt idx="7" formatCode="General">
                  <c:v>380</c:v>
                </c:pt>
                <c:pt idx="8" formatCode="General">
                  <c:v>507</c:v>
                </c:pt>
              </c:numCache>
            </c:numRef>
          </c:val>
          <c:extLst>
            <c:ext xmlns:c16="http://schemas.microsoft.com/office/drawing/2014/chart" uri="{C3380CC4-5D6E-409C-BE32-E72D297353CC}">
              <c16:uniqueId val="{00000004-00EA-4961-B77F-195A877547EC}"/>
            </c:ext>
          </c:extLst>
        </c:ser>
        <c:dLbls>
          <c:showLegendKey val="0"/>
          <c:showVal val="1"/>
          <c:showCatName val="0"/>
          <c:showSerName val="0"/>
          <c:showPercent val="0"/>
          <c:showBubbleSize val="0"/>
        </c:dLbls>
        <c:gapWidth val="50"/>
        <c:axId val="2107098416"/>
        <c:axId val="92471088"/>
      </c:barChart>
      <c:lineChart>
        <c:grouping val="standard"/>
        <c:varyColors val="0"/>
        <c:ser>
          <c:idx val="1"/>
          <c:order val="1"/>
          <c:tx>
            <c:strRef>
              <c:f>Sheet1!$C$1</c:f>
              <c:strCache>
                <c:ptCount val="1"/>
                <c:pt idx="0">
                  <c:v>% share in total demand</c:v>
                </c:pt>
              </c:strCache>
            </c:strRef>
          </c:tx>
          <c:spPr>
            <a:ln w="6350" cap="rnd">
              <a:solidFill>
                <a:schemeClr val="tx1"/>
              </a:solidFill>
              <a:round/>
            </a:ln>
            <a:effectLst/>
          </c:spPr>
          <c:marker>
            <c:symbol val="none"/>
          </c:marker>
          <c:dLbls>
            <c:dLbl>
              <c:idx val="6"/>
              <c:delete val="1"/>
              <c:extLst>
                <c:ext xmlns:c15="http://schemas.microsoft.com/office/drawing/2012/chart" uri="{CE6537A1-D6FC-4f65-9D91-7224C49458BB}"/>
                <c:ext xmlns:c16="http://schemas.microsoft.com/office/drawing/2014/chart" uri="{C3380CC4-5D6E-409C-BE32-E72D297353CC}">
                  <c16:uniqueId val="{00000005-00EA-4961-B77F-195A877547EC}"/>
                </c:ext>
              </c:extLst>
            </c:dLbl>
            <c:dLbl>
              <c:idx val="7"/>
              <c:spPr>
                <a:noFill/>
                <a:ln>
                  <a:noFill/>
                </a:ln>
                <a:effectLst/>
              </c:spPr>
              <c:txPr>
                <a:bodyPr rot="0" spcFirstLastPara="1" vertOverflow="ellipsis" vert="horz" wrap="square" lIns="38100" tIns="19050" rIns="38100" bIns="19050" anchor="ctr" anchorCtr="1">
                  <a:spAutoFit/>
                </a:bodyPr>
                <a:lstStyle/>
                <a:p>
                  <a:pPr>
                    <a:defRPr lang="ja-JP" sz="1050" b="0" i="0" u="none" strike="noStrike" kern="1200" baseline="0">
                      <a:solidFill>
                        <a:schemeClr val="tx2"/>
                      </a:solidFill>
                      <a:latin typeface="+mn-lt"/>
                      <a:ea typeface="+mn-ea"/>
                      <a:cs typeface="+mn-cs"/>
                    </a:defRPr>
                  </a:pPr>
                  <a:endParaRPr lang="en-US"/>
                </a:p>
              </c:txPr>
              <c:dLblPos val="t"/>
              <c:showLegendKey val="0"/>
              <c:showVal val="1"/>
              <c:showCatName val="0"/>
              <c:showSerName val="0"/>
              <c:showPercent val="0"/>
              <c:showBubbleSize val="0"/>
              <c:extLst>
                <c:ext xmlns:c16="http://schemas.microsoft.com/office/drawing/2014/chart" uri="{C3380CC4-5D6E-409C-BE32-E72D297353CC}">
                  <c16:uniqueId val="{00000006-00EA-4961-B77F-195A877547EC}"/>
                </c:ext>
              </c:extLst>
            </c:dLbl>
            <c:spPr>
              <a:noFill/>
              <a:ln>
                <a:noFill/>
              </a:ln>
              <a:effectLst/>
            </c:spPr>
            <c:txPr>
              <a:bodyPr rot="0" spcFirstLastPara="1" vertOverflow="ellipsis" vert="horz" wrap="square" lIns="38100" tIns="19050" rIns="38100" bIns="19050" anchor="ctr" anchorCtr="1">
                <a:spAutoFit/>
              </a:bodyPr>
              <a:lstStyle/>
              <a:p>
                <a:pPr>
                  <a:defRPr lang="ja-JP" sz="105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9"/>
                <c:pt idx="0">
                  <c:v>FY19</c:v>
                </c:pt>
                <c:pt idx="1">
                  <c:v>FY20</c:v>
                </c:pt>
                <c:pt idx="2">
                  <c:v>FY21</c:v>
                </c:pt>
                <c:pt idx="3">
                  <c:v>FY22</c:v>
                </c:pt>
                <c:pt idx="4">
                  <c:v>FY23</c:v>
                </c:pt>
                <c:pt idx="5">
                  <c:v>FY24</c:v>
                </c:pt>
                <c:pt idx="7">
                  <c:v>FY30 E (Scenario 1)</c:v>
                </c:pt>
                <c:pt idx="8">
                  <c:v>FY30 E (Scenario 2)</c:v>
                </c:pt>
              </c:strCache>
            </c:strRef>
          </c:cat>
          <c:val>
            <c:numRef>
              <c:f>Sheet1!$C$2:$C$10</c:f>
              <c:numCache>
                <c:formatCode>0%</c:formatCode>
                <c:ptCount val="9"/>
                <c:pt idx="0">
                  <c:v>0.10553399328420043</c:v>
                </c:pt>
                <c:pt idx="1">
                  <c:v>9.8610282329089166E-2</c:v>
                </c:pt>
                <c:pt idx="2">
                  <c:v>0.10579974783705057</c:v>
                </c:pt>
                <c:pt idx="3">
                  <c:v>0.12518014545698294</c:v>
                </c:pt>
                <c:pt idx="4">
                  <c:v>0.11963902072676011</c:v>
                </c:pt>
                <c:pt idx="5">
                  <c:v>0.12</c:v>
                </c:pt>
                <c:pt idx="6">
                  <c:v>0.13</c:v>
                </c:pt>
                <c:pt idx="7">
                  <c:v>0.15</c:v>
                </c:pt>
                <c:pt idx="8">
                  <c:v>0.2</c:v>
                </c:pt>
              </c:numCache>
            </c:numRef>
          </c:val>
          <c:smooth val="1"/>
          <c:extLst>
            <c:ext xmlns:c16="http://schemas.microsoft.com/office/drawing/2014/chart" uri="{C3380CC4-5D6E-409C-BE32-E72D297353CC}">
              <c16:uniqueId val="{00000007-00EA-4961-B77F-195A877547EC}"/>
            </c:ext>
          </c:extLst>
        </c:ser>
        <c:dLbls>
          <c:showLegendKey val="0"/>
          <c:showVal val="1"/>
          <c:showCatName val="0"/>
          <c:showSerName val="0"/>
          <c:showPercent val="0"/>
          <c:showBubbleSize val="0"/>
        </c:dLbls>
        <c:marker val="1"/>
        <c:smooth val="0"/>
        <c:axId val="128128832"/>
        <c:axId val="125095776"/>
      </c:lineChart>
      <c:catAx>
        <c:axId val="21070984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900" b="1" i="0" u="none" strike="noStrike" kern="1200" baseline="0">
                <a:solidFill>
                  <a:srgbClr val="1A848D"/>
                </a:solidFill>
                <a:latin typeface="Calibri" panose="020F0502020204030204" pitchFamily="34" charset="0"/>
                <a:ea typeface="+mn-ea"/>
                <a:cs typeface="Calibri" panose="020F0502020204030204" pitchFamily="34" charset="0"/>
              </a:defRPr>
            </a:pPr>
            <a:endParaRPr lang="en-US"/>
          </a:p>
        </c:txPr>
        <c:crossAx val="92471088"/>
        <c:crosses val="autoZero"/>
        <c:auto val="1"/>
        <c:lblAlgn val="ctr"/>
        <c:lblOffset val="100"/>
        <c:noMultiLvlLbl val="0"/>
      </c:catAx>
      <c:valAx>
        <c:axId val="92471088"/>
        <c:scaling>
          <c:orientation val="minMax"/>
          <c:max val="700"/>
          <c:min val="0"/>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lang="ja-JP" sz="100" b="0" i="0" u="none" strike="noStrike" kern="1200" baseline="0">
                <a:solidFill>
                  <a:schemeClr val="bg1"/>
                </a:solidFill>
                <a:latin typeface="+mn-lt"/>
                <a:ea typeface="+mn-ea"/>
                <a:cs typeface="+mn-cs"/>
              </a:defRPr>
            </a:pPr>
            <a:endParaRPr lang="en-US"/>
          </a:p>
        </c:txPr>
        <c:crossAx val="2107098416"/>
        <c:crosses val="autoZero"/>
        <c:crossBetween val="between"/>
      </c:valAx>
      <c:valAx>
        <c:axId val="125095776"/>
        <c:scaling>
          <c:orientation val="minMax"/>
          <c:min val="5.000000000000001E-2"/>
        </c:scaling>
        <c:delete val="0"/>
        <c:axPos val="r"/>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lang="ja-JP" sz="100" b="0" i="0" u="none" strike="noStrike" kern="1200" baseline="0">
                <a:solidFill>
                  <a:schemeClr val="bg1"/>
                </a:solidFill>
                <a:latin typeface="+mn-lt"/>
                <a:ea typeface="+mn-ea"/>
                <a:cs typeface="+mn-cs"/>
              </a:defRPr>
            </a:pPr>
            <a:endParaRPr lang="en-US"/>
          </a:p>
        </c:txPr>
        <c:crossAx val="128128832"/>
        <c:crosses val="max"/>
        <c:crossBetween val="between"/>
      </c:valAx>
      <c:catAx>
        <c:axId val="128128832"/>
        <c:scaling>
          <c:orientation val="minMax"/>
        </c:scaling>
        <c:delete val="1"/>
        <c:axPos val="b"/>
        <c:numFmt formatCode="General" sourceLinked="1"/>
        <c:majorTickMark val="out"/>
        <c:minorTickMark val="none"/>
        <c:tickLblPos val="nextTo"/>
        <c:crossAx val="125095776"/>
        <c:crosses val="autoZero"/>
        <c:auto val="1"/>
        <c:lblAlgn val="ctr"/>
        <c:lblOffset val="100"/>
        <c:noMultiLvlLbl val="0"/>
      </c:catAx>
      <c:spPr>
        <a:noFill/>
        <a:ln>
          <a:noFill/>
        </a:ln>
        <a:effectLst/>
      </c:spPr>
    </c:plotArea>
    <c:legend>
      <c:legendPos val="b"/>
      <c:layout>
        <c:manualLayout>
          <c:xMode val="edge"/>
          <c:yMode val="edge"/>
          <c:x val="5.4738888888888892E-3"/>
          <c:y val="0.92584740740740745"/>
          <c:w val="0.99157202380952381"/>
          <c:h val="7.4152592592592576E-2"/>
        </c:manualLayout>
      </c:layout>
      <c:overlay val="0"/>
      <c:spPr>
        <a:noFill/>
        <a:ln>
          <a:noFill/>
        </a:ln>
        <a:effectLst/>
      </c:spPr>
      <c:txPr>
        <a:bodyPr rot="0" spcFirstLastPara="1" vertOverflow="ellipsis" vert="horz" wrap="square" anchor="ctr" anchorCtr="1"/>
        <a:lstStyle/>
        <a:p>
          <a:pPr>
            <a:defRPr lang="ja-JP"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50" b="1">
          <a:solidFill>
            <a:srgbClr val="1A848D"/>
          </a:solidFill>
          <a:latin typeface="+mn-lt"/>
        </a:defRPr>
      </a:pPr>
      <a:endParaRPr lang="en-US"/>
    </a:p>
  </c:txPr>
  <c:externalData r:id="rId3">
    <c:autoUpdate val="0"/>
  </c:externalData>
  <c:userShapes r:id="rId4"/>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718253968253968E-2"/>
          <c:y val="0.21883546417196728"/>
          <c:w val="0.94456349206349211"/>
          <c:h val="0.57280572014481834"/>
        </c:manualLayout>
      </c:layout>
      <c:barChart>
        <c:barDir val="col"/>
        <c:grouping val="clustered"/>
        <c:varyColors val="0"/>
        <c:ser>
          <c:idx val="0"/>
          <c:order val="0"/>
          <c:tx>
            <c:strRef>
              <c:f>Sheet1!$B$1</c:f>
              <c:strCache>
                <c:ptCount val="1"/>
                <c:pt idx="0">
                  <c:v>billion units</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ja-JP" sz="1050" b="0" i="0" u="none" strike="noStrike" kern="1200" baseline="0">
                    <a:solidFill>
                      <a:srgbClr val="007680"/>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7"/>
                <c:pt idx="0">
                  <c:v>FY18</c:v>
                </c:pt>
                <c:pt idx="1">
                  <c:v>FY19</c:v>
                </c:pt>
                <c:pt idx="2">
                  <c:v>FY20</c:v>
                </c:pt>
                <c:pt idx="3">
                  <c:v>FY21</c:v>
                </c:pt>
                <c:pt idx="4">
                  <c:v>FY22</c:v>
                </c:pt>
                <c:pt idx="5">
                  <c:v>FY23</c:v>
                </c:pt>
                <c:pt idx="6">
                  <c:v>FY24</c:v>
                </c:pt>
              </c:strCache>
            </c:strRef>
          </c:cat>
          <c:val>
            <c:numRef>
              <c:f>Sheet1!$B$2:$B$8</c:f>
              <c:numCache>
                <c:formatCode>_(* #,##0_);_(* \(#,##0\);_(* "-"??_);_(@_)</c:formatCode>
                <c:ptCount val="7"/>
                <c:pt idx="0">
                  <c:v>48</c:v>
                </c:pt>
                <c:pt idx="1">
                  <c:v>54</c:v>
                </c:pt>
                <c:pt idx="2">
                  <c:v>56</c:v>
                </c:pt>
                <c:pt idx="3">
                  <c:v>80</c:v>
                </c:pt>
                <c:pt idx="4">
                  <c:v>101</c:v>
                </c:pt>
                <c:pt idx="5">
                  <c:v>103</c:v>
                </c:pt>
                <c:pt idx="6">
                  <c:v>120</c:v>
                </c:pt>
              </c:numCache>
            </c:numRef>
          </c:val>
          <c:extLst>
            <c:ext xmlns:c16="http://schemas.microsoft.com/office/drawing/2014/chart" uri="{C3380CC4-5D6E-409C-BE32-E72D297353CC}">
              <c16:uniqueId val="{00000000-00F5-4D93-AB36-2E7DDE4C023F}"/>
            </c:ext>
          </c:extLst>
        </c:ser>
        <c:dLbls>
          <c:dLblPos val="outEnd"/>
          <c:showLegendKey val="0"/>
          <c:showVal val="1"/>
          <c:showCatName val="0"/>
          <c:showSerName val="0"/>
          <c:showPercent val="0"/>
          <c:showBubbleSize val="0"/>
        </c:dLbls>
        <c:gapWidth val="100"/>
        <c:axId val="1691389200"/>
        <c:axId val="1222922832"/>
      </c:barChart>
      <c:catAx>
        <c:axId val="16913892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50" b="0" i="0" u="none" strike="noStrike" kern="1200" baseline="0">
                <a:solidFill>
                  <a:srgbClr val="007680"/>
                </a:solidFill>
                <a:latin typeface="Calibri" panose="020F0502020204030204" pitchFamily="34" charset="0"/>
                <a:ea typeface="+mn-ea"/>
                <a:cs typeface="Calibri" panose="020F0502020204030204" pitchFamily="34" charset="0"/>
              </a:defRPr>
            </a:pPr>
            <a:endParaRPr lang="en-US"/>
          </a:p>
        </c:txPr>
        <c:crossAx val="1222922832"/>
        <c:crosses val="autoZero"/>
        <c:auto val="1"/>
        <c:lblAlgn val="ctr"/>
        <c:lblOffset val="100"/>
        <c:noMultiLvlLbl val="0"/>
      </c:catAx>
      <c:valAx>
        <c:axId val="1222922832"/>
        <c:scaling>
          <c:orientation val="minMax"/>
        </c:scaling>
        <c:delete val="1"/>
        <c:axPos val="l"/>
        <c:numFmt formatCode="_(* #,##0_);_(* \(#,##0\);_(* &quot;-&quot;??_);_(@_)" sourceLinked="1"/>
        <c:majorTickMark val="out"/>
        <c:minorTickMark val="none"/>
        <c:tickLblPos val="nextTo"/>
        <c:crossAx val="169138920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50" b="1"/>
      </a:pPr>
      <a:endParaRPr lang="en-US"/>
    </a:p>
  </c:txPr>
  <c:externalData r:id="rId3">
    <c:autoUpdate val="0"/>
  </c:externalData>
  <c:userShapes r:id="rId4"/>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718253968253968E-2"/>
          <c:y val="0.21883546417196728"/>
          <c:w val="0.94456349206349211"/>
          <c:h val="0.57280572014481834"/>
        </c:manualLayout>
      </c:layout>
      <c:barChart>
        <c:barDir val="col"/>
        <c:grouping val="clustered"/>
        <c:varyColors val="0"/>
        <c:ser>
          <c:idx val="0"/>
          <c:order val="0"/>
          <c:tx>
            <c:strRef>
              <c:f>Sheet1!$B$1</c:f>
              <c:strCache>
                <c:ptCount val="1"/>
                <c:pt idx="0">
                  <c:v>Nos</c:v>
                </c:pt>
              </c:strCache>
            </c:strRef>
          </c:tx>
          <c:spPr>
            <a:solidFill>
              <a:schemeClr val="accent4"/>
            </a:solidFill>
            <a:ln>
              <a:noFill/>
            </a:ln>
            <a:effectLst/>
          </c:spPr>
          <c:invertIfNegative val="0"/>
          <c:dLbls>
            <c:dLbl>
              <c:idx val="6"/>
              <c:tx>
                <c:rich>
                  <a:bodyPr/>
                  <a:lstStyle/>
                  <a:p>
                    <a:fld id="{4308B4D8-B2E7-44D7-8831-42B2AD8FA67F}" type="VALUE">
                      <a:rPr lang="en-US" altLang="ja-JP" smtClean="0"/>
                      <a:pPr/>
                      <a:t>[VALUE]</a:t>
                    </a:fld>
                    <a:r>
                      <a:rPr lang="en-US"/>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3FC0-47BD-8EE7-80F960402C01}"/>
                </c:ext>
              </c:extLst>
            </c:dLbl>
            <c:spPr>
              <a:noFill/>
              <a:ln>
                <a:noFill/>
              </a:ln>
              <a:effectLst/>
            </c:spPr>
            <c:txPr>
              <a:bodyPr rot="0" spcFirstLastPara="1" vertOverflow="ellipsis" vert="horz" wrap="square" lIns="38100" tIns="19050" rIns="38100" bIns="19050" anchor="ctr" anchorCtr="1">
                <a:spAutoFit/>
              </a:bodyPr>
              <a:lstStyle/>
              <a:p>
                <a:pPr>
                  <a:defRPr lang="ja-JP" sz="1050" b="0" i="0" u="none" strike="noStrike" kern="1200" baseline="0">
                    <a:solidFill>
                      <a:srgbClr val="007680"/>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7"/>
                <c:pt idx="0">
                  <c:v>FY18</c:v>
                </c:pt>
                <c:pt idx="1">
                  <c:v>FY19</c:v>
                </c:pt>
                <c:pt idx="2">
                  <c:v>FY20</c:v>
                </c:pt>
                <c:pt idx="3">
                  <c:v>FY21</c:v>
                </c:pt>
                <c:pt idx="4">
                  <c:v>FY22</c:v>
                </c:pt>
                <c:pt idx="5">
                  <c:v>FY23</c:v>
                </c:pt>
                <c:pt idx="6">
                  <c:v>FY24 E</c:v>
                </c:pt>
              </c:strCache>
            </c:strRef>
          </c:cat>
          <c:val>
            <c:numRef>
              <c:f>Sheet1!$B$2:$B$8</c:f>
              <c:numCache>
                <c:formatCode>_(* #,##0_);_(* \(#,##0\);_(* "-"??_);_(@_)</c:formatCode>
                <c:ptCount val="7"/>
                <c:pt idx="0">
                  <c:v>4248</c:v>
                </c:pt>
                <c:pt idx="1">
                  <c:v>4362</c:v>
                </c:pt>
                <c:pt idx="2">
                  <c:v>4555</c:v>
                </c:pt>
                <c:pt idx="3">
                  <c:v>4768</c:v>
                </c:pt>
                <c:pt idx="4">
                  <c:v>4967</c:v>
                </c:pt>
                <c:pt idx="5">
                  <c:v>5159</c:v>
                </c:pt>
                <c:pt idx="6">
                  <c:v>5200</c:v>
                </c:pt>
              </c:numCache>
            </c:numRef>
          </c:val>
          <c:extLst>
            <c:ext xmlns:c16="http://schemas.microsoft.com/office/drawing/2014/chart" uri="{C3380CC4-5D6E-409C-BE32-E72D297353CC}">
              <c16:uniqueId val="{00000001-3FC0-47BD-8EE7-80F960402C01}"/>
            </c:ext>
          </c:extLst>
        </c:ser>
        <c:dLbls>
          <c:dLblPos val="outEnd"/>
          <c:showLegendKey val="0"/>
          <c:showVal val="1"/>
          <c:showCatName val="0"/>
          <c:showSerName val="0"/>
          <c:showPercent val="0"/>
          <c:showBubbleSize val="0"/>
        </c:dLbls>
        <c:gapWidth val="100"/>
        <c:axId val="1691389200"/>
        <c:axId val="1222922832"/>
      </c:barChart>
      <c:catAx>
        <c:axId val="16913892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50" b="0" i="0" u="none" strike="noStrike" kern="1200" baseline="0">
                <a:solidFill>
                  <a:srgbClr val="007680"/>
                </a:solidFill>
                <a:latin typeface="Calibri" panose="020F0502020204030204" pitchFamily="34" charset="0"/>
                <a:ea typeface="+mn-ea"/>
                <a:cs typeface="Calibri" panose="020F0502020204030204" pitchFamily="34" charset="0"/>
              </a:defRPr>
            </a:pPr>
            <a:endParaRPr lang="en-US"/>
          </a:p>
        </c:txPr>
        <c:crossAx val="1222922832"/>
        <c:crosses val="autoZero"/>
        <c:auto val="1"/>
        <c:lblAlgn val="ctr"/>
        <c:lblOffset val="100"/>
        <c:noMultiLvlLbl val="0"/>
      </c:catAx>
      <c:valAx>
        <c:axId val="1222922832"/>
        <c:scaling>
          <c:orientation val="minMax"/>
        </c:scaling>
        <c:delete val="1"/>
        <c:axPos val="l"/>
        <c:numFmt formatCode="_(* #,##0_);_(* \(#,##0\);_(* &quot;-&quot;??_);_(@_)" sourceLinked="1"/>
        <c:majorTickMark val="out"/>
        <c:minorTickMark val="none"/>
        <c:tickLblPos val="nextTo"/>
        <c:crossAx val="169138920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50" b="1"/>
      </a:pPr>
      <a:endParaRPr lang="en-US"/>
    </a:p>
  </c:txPr>
  <c:externalData r:id="rId3">
    <c:autoUpdate val="0"/>
  </c:externalData>
  <c:userShapes r:id="rId4"/>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lang="ja-JP" sz="12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20509795867111713"/>
          <c:y val="0.15169230769230768"/>
          <c:w val="0.58980408265776563"/>
          <c:h val="0.78061538461538449"/>
        </c:manualLayout>
      </c:layout>
      <c:doughnutChart>
        <c:varyColors val="1"/>
        <c:ser>
          <c:idx val="0"/>
          <c:order val="0"/>
          <c:tx>
            <c:strRef>
              <c:f>Sheet1!$B$1</c:f>
              <c:strCache>
                <c:ptCount val="1"/>
                <c:pt idx="0">
                  <c:v>FY20</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A0DF-4A95-8EB6-747D2EE851BE}"/>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A0DF-4A95-8EB6-747D2EE851BE}"/>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A0DF-4A95-8EB6-747D2EE851BE}"/>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A0DF-4A95-8EB6-747D2EE851BE}"/>
              </c:ext>
            </c:extLst>
          </c:dPt>
          <c:dLbls>
            <c:dLbl>
              <c:idx val="2"/>
              <c:layout>
                <c:manualLayout>
                  <c:x val="-6.5094656343781795E-2"/>
                  <c:y val="-8.615384615384615E-2"/>
                </c:manualLayout>
              </c:layout>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5-A0DF-4A95-8EB6-747D2EE851BE}"/>
                </c:ext>
              </c:extLst>
            </c:dLbl>
            <c:dLbl>
              <c:idx val="3"/>
              <c:numFmt formatCode="0%" sourceLinked="0"/>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mn-lt"/>
                      <a:ea typeface="+mn-ea"/>
                      <a:cs typeface="+mn-cs"/>
                    </a:defRPr>
                  </a:pPr>
                  <a:endParaRPr lang="en-US"/>
                </a:p>
              </c:txPr>
              <c:showLegendKey val="0"/>
              <c:showVal val="0"/>
              <c:showCatName val="0"/>
              <c:showSerName val="0"/>
              <c:showPercent val="1"/>
              <c:showBubbleSize val="0"/>
              <c:extLst>
                <c:ext xmlns:c16="http://schemas.microsoft.com/office/drawing/2014/chart" uri="{C3380CC4-5D6E-409C-BE32-E72D297353CC}">
                  <c16:uniqueId val="{00000007-A0DF-4A95-8EB6-747D2EE851BE}"/>
                </c:ext>
              </c:extLst>
            </c:dLbl>
            <c:numFmt formatCode="0%" sourceLinked="0"/>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1"/>
            <c:showBubbleSize val="0"/>
            <c:showLeaderLines val="0"/>
            <c:extLst>
              <c:ext xmlns:c15="http://schemas.microsoft.com/office/drawing/2012/chart" uri="{CE6537A1-D6FC-4f65-9D91-7224C49458BB}"/>
            </c:extLst>
          </c:dLbls>
          <c:cat>
            <c:strRef>
              <c:f>Sheet1!$A$2:$A$5</c:f>
              <c:strCache>
                <c:ptCount val="4"/>
                <c:pt idx="0">
                  <c:v>Thermal</c:v>
                </c:pt>
                <c:pt idx="1">
                  <c:v>Hydro</c:v>
                </c:pt>
                <c:pt idx="2">
                  <c:v>Nuclear</c:v>
                </c:pt>
                <c:pt idx="3">
                  <c:v>Renewables</c:v>
                </c:pt>
              </c:strCache>
            </c:strRef>
          </c:cat>
          <c:val>
            <c:numRef>
              <c:f>Sheet1!$B$2:$B$5</c:f>
              <c:numCache>
                <c:formatCode>#,##0</c:formatCode>
                <c:ptCount val="4"/>
                <c:pt idx="0">
                  <c:v>1042838</c:v>
                </c:pt>
                <c:pt idx="1">
                  <c:v>155769</c:v>
                </c:pt>
                <c:pt idx="2">
                  <c:v>46472</c:v>
                </c:pt>
                <c:pt idx="3">
                  <c:v>138337</c:v>
                </c:pt>
              </c:numCache>
            </c:numRef>
          </c:val>
          <c:extLst>
            <c:ext xmlns:c16="http://schemas.microsoft.com/office/drawing/2014/chart" uri="{C3380CC4-5D6E-409C-BE32-E72D297353CC}">
              <c16:uniqueId val="{00000008-A0DF-4A95-8EB6-747D2EE851BE}"/>
            </c:ext>
          </c:extLst>
        </c:ser>
        <c:dLbls>
          <c:showLegendKey val="0"/>
          <c:showVal val="0"/>
          <c:showCatName val="0"/>
          <c:showSerName val="0"/>
          <c:showPercent val="0"/>
          <c:showBubbleSize val="0"/>
          <c:showLeaderLines val="0"/>
        </c:dLbls>
        <c:firstSliceAng val="0"/>
        <c:holeSize val="5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lang="ja-JP" sz="12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20509795867111713"/>
          <c:y val="0.15169230769230768"/>
          <c:w val="0.58980408265776563"/>
          <c:h val="0.78061538461538449"/>
        </c:manualLayout>
      </c:layout>
      <c:doughnutChart>
        <c:varyColors val="1"/>
        <c:ser>
          <c:idx val="0"/>
          <c:order val="0"/>
          <c:tx>
            <c:strRef>
              <c:f>Sheet1!$B$1</c:f>
              <c:strCache>
                <c:ptCount val="1"/>
                <c:pt idx="0">
                  <c:v>FY25</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F50B-4EB4-A01C-A5ED9EF64D78}"/>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F50B-4EB4-A01C-A5ED9EF64D78}"/>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F50B-4EB4-A01C-A5ED9EF64D78}"/>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F50B-4EB4-A01C-A5ED9EF64D78}"/>
              </c:ext>
            </c:extLst>
          </c:dPt>
          <c:dLbls>
            <c:dLbl>
              <c:idx val="2"/>
              <c:layout>
                <c:manualLayout>
                  <c:x val="-6.9744274654051919E-2"/>
                  <c:y val="-0.10461538461538464"/>
                </c:manualLayout>
              </c:layout>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5-F50B-4EB4-A01C-A5ED9EF64D78}"/>
                </c:ext>
              </c:extLst>
            </c:dLbl>
            <c:dLbl>
              <c:idx val="3"/>
              <c:numFmt formatCode="0%" sourceLinked="0"/>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mn-lt"/>
                      <a:ea typeface="+mn-ea"/>
                      <a:cs typeface="+mn-cs"/>
                    </a:defRPr>
                  </a:pPr>
                  <a:endParaRPr lang="en-US"/>
                </a:p>
              </c:txPr>
              <c:showLegendKey val="0"/>
              <c:showVal val="0"/>
              <c:showCatName val="0"/>
              <c:showSerName val="0"/>
              <c:showPercent val="1"/>
              <c:showBubbleSize val="0"/>
              <c:extLst>
                <c:ext xmlns:c16="http://schemas.microsoft.com/office/drawing/2014/chart" uri="{C3380CC4-5D6E-409C-BE32-E72D297353CC}">
                  <c16:uniqueId val="{00000007-F50B-4EB4-A01C-A5ED9EF64D78}"/>
                </c:ext>
              </c:extLst>
            </c:dLbl>
            <c:numFmt formatCode="0%" sourceLinked="0"/>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1"/>
            <c:showBubbleSize val="0"/>
            <c:showLeaderLines val="0"/>
            <c:extLst>
              <c:ext xmlns:c15="http://schemas.microsoft.com/office/drawing/2012/chart" uri="{CE6537A1-D6FC-4f65-9D91-7224C49458BB}"/>
            </c:extLst>
          </c:dLbls>
          <c:cat>
            <c:strRef>
              <c:f>Sheet1!$A$2:$A$5</c:f>
              <c:strCache>
                <c:ptCount val="4"/>
                <c:pt idx="0">
                  <c:v>Thermal</c:v>
                </c:pt>
                <c:pt idx="1">
                  <c:v>Hydro</c:v>
                </c:pt>
                <c:pt idx="2">
                  <c:v>Nuclear</c:v>
                </c:pt>
                <c:pt idx="3">
                  <c:v>Renewables</c:v>
                </c:pt>
              </c:strCache>
            </c:strRef>
          </c:cat>
          <c:val>
            <c:numRef>
              <c:f>Sheet1!$B$2:$B$5</c:f>
              <c:numCache>
                <c:formatCode>#,##0</c:formatCode>
                <c:ptCount val="4"/>
                <c:pt idx="0">
                  <c:v>1363000</c:v>
                </c:pt>
                <c:pt idx="1">
                  <c:v>149000</c:v>
                </c:pt>
                <c:pt idx="2">
                  <c:v>57000</c:v>
                </c:pt>
                <c:pt idx="3">
                  <c:v>252000</c:v>
                </c:pt>
              </c:numCache>
            </c:numRef>
          </c:val>
          <c:extLst>
            <c:ext xmlns:c16="http://schemas.microsoft.com/office/drawing/2014/chart" uri="{C3380CC4-5D6E-409C-BE32-E72D297353CC}">
              <c16:uniqueId val="{00000008-F50B-4EB4-A01C-A5ED9EF64D78}"/>
            </c:ext>
          </c:extLst>
        </c:ser>
        <c:dLbls>
          <c:showLegendKey val="0"/>
          <c:showVal val="0"/>
          <c:showCatName val="0"/>
          <c:showSerName val="0"/>
          <c:showPercent val="0"/>
          <c:showBubbleSize val="0"/>
          <c:showLeaderLines val="0"/>
        </c:dLbls>
        <c:firstSliceAng val="0"/>
        <c:holeSize val="5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375661375661374E-2"/>
          <c:y val="0.27476923076923077"/>
          <c:w val="0.92724867724867721"/>
          <c:h val="0.54857371290127199"/>
        </c:manualLayout>
      </c:layout>
      <c:barChart>
        <c:barDir val="col"/>
        <c:grouping val="clustered"/>
        <c:varyColors val="0"/>
        <c:ser>
          <c:idx val="0"/>
          <c:order val="0"/>
          <c:tx>
            <c:strRef>
              <c:f>Sheet1!$B$1</c:f>
              <c:strCache>
                <c:ptCount val="1"/>
                <c:pt idx="0">
                  <c:v>Series 1</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FY20</c:v>
                </c:pt>
                <c:pt idx="1">
                  <c:v>FY21</c:v>
                </c:pt>
                <c:pt idx="2">
                  <c:v>FY22</c:v>
                </c:pt>
                <c:pt idx="3">
                  <c:v>FY23</c:v>
                </c:pt>
                <c:pt idx="4">
                  <c:v>FY24</c:v>
                </c:pt>
                <c:pt idx="5">
                  <c:v>FY25(e)</c:v>
                </c:pt>
              </c:strCache>
            </c:strRef>
          </c:cat>
          <c:val>
            <c:numRef>
              <c:f>Sheet1!$B$2:$B$7</c:f>
              <c:numCache>
                <c:formatCode>#,##0</c:formatCode>
                <c:ptCount val="6"/>
                <c:pt idx="0">
                  <c:v>1291</c:v>
                </c:pt>
                <c:pt idx="1">
                  <c:v>1276</c:v>
                </c:pt>
                <c:pt idx="2">
                  <c:v>1380</c:v>
                </c:pt>
                <c:pt idx="3">
                  <c:v>1512</c:v>
                </c:pt>
                <c:pt idx="4">
                  <c:v>1629</c:v>
                </c:pt>
                <c:pt idx="5">
                  <c:v>1690</c:v>
                </c:pt>
              </c:numCache>
            </c:numRef>
          </c:val>
          <c:extLst>
            <c:ext xmlns:c16="http://schemas.microsoft.com/office/drawing/2014/chart" uri="{C3380CC4-5D6E-409C-BE32-E72D297353CC}">
              <c16:uniqueId val="{00000000-D2D5-4CF8-9EB1-97C91DEFE8C8}"/>
            </c:ext>
          </c:extLst>
        </c:ser>
        <c:dLbls>
          <c:showLegendKey val="0"/>
          <c:showVal val="0"/>
          <c:showCatName val="0"/>
          <c:showSerName val="0"/>
          <c:showPercent val="0"/>
          <c:showBubbleSize val="0"/>
        </c:dLbls>
        <c:gapWidth val="219"/>
        <c:overlap val="-27"/>
        <c:axId val="79792368"/>
        <c:axId val="1819728111"/>
      </c:barChart>
      <c:catAx>
        <c:axId val="797923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819728111"/>
        <c:crosses val="autoZero"/>
        <c:auto val="1"/>
        <c:lblAlgn val="ctr"/>
        <c:lblOffset val="100"/>
        <c:noMultiLvlLbl val="0"/>
      </c:catAx>
      <c:valAx>
        <c:axId val="1819728111"/>
        <c:scaling>
          <c:orientation val="minMax"/>
        </c:scaling>
        <c:delete val="1"/>
        <c:axPos val="l"/>
        <c:numFmt formatCode="#,##0" sourceLinked="1"/>
        <c:majorTickMark val="none"/>
        <c:minorTickMark val="none"/>
        <c:tickLblPos val="nextTo"/>
        <c:crossAx val="7979236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375661375661374E-2"/>
          <c:y val="0.27476923076923077"/>
          <c:w val="0.92724867724867721"/>
          <c:h val="0.54857371290127199"/>
        </c:manualLayout>
      </c:layout>
      <c:barChart>
        <c:barDir val="col"/>
        <c:grouping val="clustered"/>
        <c:varyColors val="0"/>
        <c:ser>
          <c:idx val="0"/>
          <c:order val="0"/>
          <c:tx>
            <c:strRef>
              <c:f>Sheet1!$B$1</c:f>
              <c:strCache>
                <c:ptCount val="1"/>
                <c:pt idx="0">
                  <c:v>Series 1</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FY20</c:v>
                </c:pt>
                <c:pt idx="1">
                  <c:v>FY21</c:v>
                </c:pt>
                <c:pt idx="2">
                  <c:v>FY22</c:v>
                </c:pt>
                <c:pt idx="3">
                  <c:v>FY23</c:v>
                </c:pt>
                <c:pt idx="4">
                  <c:v>FY24</c:v>
                </c:pt>
                <c:pt idx="5">
                  <c:v>FY25</c:v>
                </c:pt>
              </c:strCache>
            </c:strRef>
          </c:cat>
          <c:val>
            <c:numRef>
              <c:f>Sheet1!$B$2:$B$7</c:f>
              <c:numCache>
                <c:formatCode>#,##0</c:formatCode>
                <c:ptCount val="6"/>
                <c:pt idx="0">
                  <c:v>184</c:v>
                </c:pt>
                <c:pt idx="1">
                  <c:v>190</c:v>
                </c:pt>
                <c:pt idx="2">
                  <c:v>203</c:v>
                </c:pt>
                <c:pt idx="3">
                  <c:v>216</c:v>
                </c:pt>
                <c:pt idx="4">
                  <c:v>243</c:v>
                </c:pt>
                <c:pt idx="5" formatCode="General">
                  <c:v>250</c:v>
                </c:pt>
              </c:numCache>
            </c:numRef>
          </c:val>
          <c:extLst>
            <c:ext xmlns:c16="http://schemas.microsoft.com/office/drawing/2014/chart" uri="{C3380CC4-5D6E-409C-BE32-E72D297353CC}">
              <c16:uniqueId val="{00000000-31CC-4C15-9A54-D64E591A7295}"/>
            </c:ext>
          </c:extLst>
        </c:ser>
        <c:dLbls>
          <c:showLegendKey val="0"/>
          <c:showVal val="0"/>
          <c:showCatName val="0"/>
          <c:showSerName val="0"/>
          <c:showPercent val="0"/>
          <c:showBubbleSize val="0"/>
        </c:dLbls>
        <c:gapWidth val="219"/>
        <c:overlap val="-27"/>
        <c:axId val="79792368"/>
        <c:axId val="1819728111"/>
      </c:barChart>
      <c:catAx>
        <c:axId val="797923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819728111"/>
        <c:crosses val="autoZero"/>
        <c:auto val="1"/>
        <c:lblAlgn val="ctr"/>
        <c:lblOffset val="100"/>
        <c:noMultiLvlLbl val="0"/>
      </c:catAx>
      <c:valAx>
        <c:axId val="1819728111"/>
        <c:scaling>
          <c:orientation val="minMax"/>
        </c:scaling>
        <c:delete val="1"/>
        <c:axPos val="l"/>
        <c:numFmt formatCode="#,##0" sourceLinked="1"/>
        <c:majorTickMark val="none"/>
        <c:minorTickMark val="none"/>
        <c:tickLblPos val="nextTo"/>
        <c:crossAx val="7979236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375661375661374E-2"/>
          <c:y val="0.32400000000000001"/>
          <c:w val="0.92724867724867721"/>
          <c:h val="0.49934294367050275"/>
        </c:manualLayout>
      </c:layout>
      <c:barChart>
        <c:barDir val="col"/>
        <c:grouping val="clustered"/>
        <c:varyColors val="0"/>
        <c:ser>
          <c:idx val="0"/>
          <c:order val="0"/>
          <c:tx>
            <c:strRef>
              <c:f>Sheet1!$B$1</c:f>
              <c:strCache>
                <c:ptCount val="1"/>
                <c:pt idx="0">
                  <c:v>Series 1</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lang="ja-JP"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FY20</c:v>
                </c:pt>
                <c:pt idx="1">
                  <c:v>FY21</c:v>
                </c:pt>
                <c:pt idx="2">
                  <c:v>FY22</c:v>
                </c:pt>
                <c:pt idx="3">
                  <c:v>FY23</c:v>
                </c:pt>
                <c:pt idx="4">
                  <c:v>FY24</c:v>
                </c:pt>
                <c:pt idx="5">
                  <c:v>FY25</c:v>
                </c:pt>
              </c:strCache>
            </c:strRef>
          </c:cat>
          <c:val>
            <c:numRef>
              <c:f>Sheet1!$B$2:$B$7</c:f>
              <c:numCache>
                <c:formatCode>#,##0</c:formatCode>
                <c:ptCount val="6"/>
                <c:pt idx="0">
                  <c:v>1208</c:v>
                </c:pt>
                <c:pt idx="1">
                  <c:v>1161</c:v>
                </c:pt>
                <c:pt idx="2">
                  <c:v>1255</c:v>
                </c:pt>
                <c:pt idx="3">
                  <c:v>1331</c:v>
                </c:pt>
                <c:pt idx="4">
                  <c:v>1395</c:v>
                </c:pt>
                <c:pt idx="5">
                  <c:v>1538</c:v>
                </c:pt>
              </c:numCache>
            </c:numRef>
          </c:val>
          <c:extLst>
            <c:ext xmlns:c16="http://schemas.microsoft.com/office/drawing/2014/chart" uri="{C3380CC4-5D6E-409C-BE32-E72D297353CC}">
              <c16:uniqueId val="{00000000-99FA-45EA-A580-33A9D2B60F1F}"/>
            </c:ext>
          </c:extLst>
        </c:ser>
        <c:dLbls>
          <c:showLegendKey val="0"/>
          <c:showVal val="0"/>
          <c:showCatName val="0"/>
          <c:showSerName val="0"/>
          <c:showPercent val="0"/>
          <c:showBubbleSize val="0"/>
        </c:dLbls>
        <c:gapWidth val="219"/>
        <c:overlap val="-27"/>
        <c:axId val="79792368"/>
        <c:axId val="1819728111"/>
      </c:barChart>
      <c:catAx>
        <c:axId val="797923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819728111"/>
        <c:crosses val="autoZero"/>
        <c:auto val="1"/>
        <c:lblAlgn val="ctr"/>
        <c:lblOffset val="100"/>
        <c:noMultiLvlLbl val="0"/>
      </c:catAx>
      <c:valAx>
        <c:axId val="1819728111"/>
        <c:scaling>
          <c:orientation val="minMax"/>
        </c:scaling>
        <c:delete val="1"/>
        <c:axPos val="l"/>
        <c:numFmt formatCode="#,##0" sourceLinked="1"/>
        <c:majorTickMark val="none"/>
        <c:minorTickMark val="none"/>
        <c:tickLblPos val="nextTo"/>
        <c:crossAx val="7979236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latin typeface="Arial" panose="020B0604020202020204" pitchFamily="34" charset="0"/>
          <a:cs typeface="Arial" panose="020B0604020202020204" pitchFamily="34" charset="0"/>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lang="ja-JP" sz="12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20509795867111713"/>
          <c:y val="0.15169230769230768"/>
          <c:w val="0.58980408265776563"/>
          <c:h val="0.78061538461538449"/>
        </c:manualLayout>
      </c:layout>
      <c:doughnutChart>
        <c:varyColors val="1"/>
        <c:ser>
          <c:idx val="0"/>
          <c:order val="0"/>
          <c:tx>
            <c:strRef>
              <c:f>Sheet1!$B$1</c:f>
              <c:strCache>
                <c:ptCount val="1"/>
                <c:pt idx="0">
                  <c:v>FY20</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039F-41C7-9A67-424AF8D052A7}"/>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039F-41C7-9A67-424AF8D052A7}"/>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039F-41C7-9A67-424AF8D052A7}"/>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039F-41C7-9A67-424AF8D052A7}"/>
              </c:ext>
            </c:extLst>
          </c:dPt>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lang="ja-JP" sz="1100" b="0" i="0" u="none" strike="noStrike" kern="1200" baseline="0">
                      <a:solidFill>
                        <a:schemeClr val="bg1"/>
                      </a:solidFill>
                      <a:latin typeface="+mn-lt"/>
                      <a:ea typeface="+mn-ea"/>
                      <a:cs typeface="+mn-cs"/>
                    </a:defRPr>
                  </a:pPr>
                  <a:endParaRPr lang="en-US"/>
                </a:p>
              </c:txPr>
              <c:showLegendKey val="0"/>
              <c:showVal val="0"/>
              <c:showCatName val="0"/>
              <c:showSerName val="0"/>
              <c:showPercent val="1"/>
              <c:showBubbleSize val="0"/>
              <c:extLst>
                <c:ext xmlns:c16="http://schemas.microsoft.com/office/drawing/2014/chart" uri="{C3380CC4-5D6E-409C-BE32-E72D297353CC}">
                  <c16:uniqueId val="{00000001-039F-41C7-9A67-424AF8D052A7}"/>
                </c:ext>
              </c:extLst>
            </c:dLbl>
            <c:dLbl>
              <c:idx val="2"/>
              <c:layout>
                <c:manualLayout>
                  <c:x val="-0.15343740423891422"/>
                  <c:y val="-2.4615384615384615E-2"/>
                </c:manualLayout>
              </c:layout>
              <c:numFmt formatCode="0%" sourceLinked="0"/>
              <c:spPr>
                <a:noFill/>
                <a:ln>
                  <a:noFill/>
                </a:ln>
                <a:effectLst/>
              </c:spPr>
              <c:txPr>
                <a:bodyPr rot="0" spcFirstLastPara="1" vertOverflow="ellipsis" vert="horz" wrap="square" lIns="38100" tIns="19050" rIns="38100" bIns="19050" anchor="ctr" anchorCtr="1">
                  <a:spAutoFit/>
                </a:bodyPr>
                <a:lstStyle/>
                <a:p>
                  <a:pPr>
                    <a:defRPr lang="ja-JP"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5-039F-41C7-9A67-424AF8D052A7}"/>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lang="ja-JP" sz="1100" b="0" i="0" u="none" strike="noStrike" kern="1200" baseline="0">
                      <a:solidFill>
                        <a:schemeClr val="bg1"/>
                      </a:solidFill>
                      <a:latin typeface="+mn-lt"/>
                      <a:ea typeface="+mn-ea"/>
                      <a:cs typeface="+mn-cs"/>
                    </a:defRPr>
                  </a:pPr>
                  <a:endParaRPr lang="en-US"/>
                </a:p>
              </c:txPr>
              <c:showLegendKey val="0"/>
              <c:showVal val="0"/>
              <c:showCatName val="0"/>
              <c:showSerName val="0"/>
              <c:showPercent val="1"/>
              <c:showBubbleSize val="0"/>
              <c:extLst>
                <c:ext xmlns:c16="http://schemas.microsoft.com/office/drawing/2014/chart" uri="{C3380CC4-5D6E-409C-BE32-E72D297353CC}">
                  <c16:uniqueId val="{00000007-039F-41C7-9A67-424AF8D052A7}"/>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lang="ja-JP" sz="1100" b="0"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1"/>
            <c:showBubbleSize val="0"/>
            <c:showLeaderLines val="0"/>
            <c:extLst>
              <c:ext xmlns:c15="http://schemas.microsoft.com/office/drawing/2012/chart" uri="{CE6537A1-D6FC-4f65-9D91-7224C49458BB}"/>
            </c:extLst>
          </c:dLbls>
          <c:cat>
            <c:strRef>
              <c:f>Sheet1!$A$2:$A$5</c:f>
              <c:strCache>
                <c:ptCount val="4"/>
                <c:pt idx="0">
                  <c:v>Thermal</c:v>
                </c:pt>
                <c:pt idx="1">
                  <c:v>Hydro</c:v>
                </c:pt>
                <c:pt idx="2">
                  <c:v>Nuclear</c:v>
                </c:pt>
                <c:pt idx="3">
                  <c:v>Renewables</c:v>
                </c:pt>
              </c:strCache>
            </c:strRef>
          </c:cat>
          <c:val>
            <c:numRef>
              <c:f>Sheet1!$B$2:$B$5</c:f>
              <c:numCache>
                <c:formatCode>#,##0</c:formatCode>
                <c:ptCount val="4"/>
                <c:pt idx="0">
                  <c:v>230</c:v>
                </c:pt>
                <c:pt idx="1">
                  <c:v>46</c:v>
                </c:pt>
                <c:pt idx="2">
                  <c:v>7</c:v>
                </c:pt>
                <c:pt idx="3">
                  <c:v>87</c:v>
                </c:pt>
              </c:numCache>
            </c:numRef>
          </c:val>
          <c:extLst>
            <c:ext xmlns:c16="http://schemas.microsoft.com/office/drawing/2014/chart" uri="{C3380CC4-5D6E-409C-BE32-E72D297353CC}">
              <c16:uniqueId val="{00000008-039F-41C7-9A67-424AF8D052A7}"/>
            </c:ext>
          </c:extLst>
        </c:ser>
        <c:dLbls>
          <c:showLegendKey val="0"/>
          <c:showVal val="0"/>
          <c:showCatName val="0"/>
          <c:showSerName val="0"/>
          <c:showPercent val="0"/>
          <c:showBubbleSize val="0"/>
          <c:showLeaderLines val="0"/>
        </c:dLbls>
        <c:firstSliceAng val="0"/>
        <c:holeSize val="5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ja-JP" sz="1200" b="0" i="0" u="none" strike="noStrike" kern="1200" spc="0" baseline="0">
                <a:solidFill>
                  <a:schemeClr val="tx1">
                    <a:lumMod val="65000"/>
                    <a:lumOff val="35000"/>
                  </a:schemeClr>
                </a:solidFill>
                <a:latin typeface="+mn-lt"/>
                <a:ea typeface="+mn-ea"/>
                <a:cs typeface="+mn-cs"/>
              </a:defRPr>
            </a:pPr>
            <a:r>
              <a:rPr lang="en-US"/>
              <a:t>FY25 (as of Jun’26)</a:t>
            </a:r>
          </a:p>
        </c:rich>
      </c:tx>
      <c:overlay val="0"/>
      <c:spPr>
        <a:noFill/>
        <a:ln>
          <a:noFill/>
        </a:ln>
        <a:effectLst/>
      </c:spPr>
      <c:txPr>
        <a:bodyPr rot="0" spcFirstLastPara="1" vertOverflow="ellipsis" vert="horz" wrap="square" anchor="ctr" anchorCtr="1"/>
        <a:lstStyle/>
        <a:p>
          <a:pPr>
            <a:defRPr lang="ja-JP" sz="12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20509795867111713"/>
          <c:y val="0.15169230769230768"/>
          <c:w val="0.58980408265776563"/>
          <c:h val="0.78061538461538449"/>
        </c:manualLayout>
      </c:layout>
      <c:doughnutChart>
        <c:varyColors val="1"/>
        <c:ser>
          <c:idx val="0"/>
          <c:order val="0"/>
          <c:tx>
            <c:strRef>
              <c:f>Sheet1!$B$1</c:f>
              <c:strCache>
                <c:ptCount val="1"/>
                <c:pt idx="0">
                  <c:v>FY25</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0D72-40AE-A085-77A1FEDFC1DD}"/>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0D72-40AE-A085-77A1FEDFC1DD}"/>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0D72-40AE-A085-77A1FEDFC1DD}"/>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0D72-40AE-A085-77A1FEDFC1DD}"/>
              </c:ext>
            </c:extLst>
          </c:dPt>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lang="ja-JP" sz="1100" b="0" i="0" u="none" strike="noStrike" kern="1200" baseline="0">
                      <a:solidFill>
                        <a:schemeClr val="bg1"/>
                      </a:solidFill>
                      <a:latin typeface="+mn-lt"/>
                      <a:ea typeface="+mn-ea"/>
                      <a:cs typeface="+mn-cs"/>
                    </a:defRPr>
                  </a:pPr>
                  <a:endParaRPr lang="en-US"/>
                </a:p>
              </c:txPr>
              <c:showLegendKey val="0"/>
              <c:showVal val="0"/>
              <c:showCatName val="0"/>
              <c:showSerName val="0"/>
              <c:showPercent val="1"/>
              <c:showBubbleSize val="0"/>
              <c:extLst>
                <c:ext xmlns:c16="http://schemas.microsoft.com/office/drawing/2014/chart" uri="{C3380CC4-5D6E-409C-BE32-E72D297353CC}">
                  <c16:uniqueId val="{00000001-0D72-40AE-A085-77A1FEDFC1DD}"/>
                </c:ext>
              </c:extLst>
            </c:dLbl>
            <c:dLbl>
              <c:idx val="2"/>
              <c:layout>
                <c:manualLayout>
                  <c:x val="-0.11624045775675322"/>
                  <c:y val="4.9230769230769231E-2"/>
                </c:manualLayout>
              </c:layout>
              <c:numFmt formatCode="0%" sourceLinked="0"/>
              <c:spPr>
                <a:noFill/>
                <a:ln>
                  <a:noFill/>
                </a:ln>
                <a:effectLst/>
              </c:spPr>
              <c:txPr>
                <a:bodyPr rot="0" spcFirstLastPara="1" vertOverflow="ellipsis" vert="horz" wrap="square" lIns="38100" tIns="19050" rIns="38100" bIns="19050" anchor="ctr" anchorCtr="1">
                  <a:spAutoFit/>
                </a:bodyPr>
                <a:lstStyle/>
                <a:p>
                  <a:pPr>
                    <a:defRPr lang="ja-JP" sz="1100" b="0" i="0" u="none" strike="noStrike" kern="1200" baseline="0">
                      <a:solidFill>
                        <a:schemeClr val="tx1"/>
                      </a:solidFill>
                      <a:latin typeface="+mn-lt"/>
                      <a:ea typeface="+mn-ea"/>
                      <a:cs typeface="+mn-cs"/>
                    </a:defRPr>
                  </a:pPr>
                  <a:endParaRPr lang="en-US"/>
                </a:p>
              </c:txPr>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5-0D72-40AE-A085-77A1FEDFC1DD}"/>
                </c:ext>
              </c:extLst>
            </c:dLbl>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lang="ja-JP" sz="1100" b="0" i="0" u="none" strike="noStrike" kern="1200" baseline="0">
                      <a:solidFill>
                        <a:schemeClr val="bg1"/>
                      </a:solidFill>
                      <a:latin typeface="+mn-lt"/>
                      <a:ea typeface="+mn-ea"/>
                      <a:cs typeface="+mn-cs"/>
                    </a:defRPr>
                  </a:pPr>
                  <a:endParaRPr lang="en-US"/>
                </a:p>
              </c:txPr>
              <c:showLegendKey val="0"/>
              <c:showVal val="0"/>
              <c:showCatName val="0"/>
              <c:showSerName val="0"/>
              <c:showPercent val="1"/>
              <c:showBubbleSize val="0"/>
              <c:extLst>
                <c:ext xmlns:c16="http://schemas.microsoft.com/office/drawing/2014/chart" uri="{C3380CC4-5D6E-409C-BE32-E72D297353CC}">
                  <c16:uniqueId val="{00000007-0D72-40AE-A085-77A1FEDFC1DD}"/>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lang="ja-JP" sz="1100" b="0"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1"/>
            <c:showBubbleSize val="0"/>
            <c:showLeaderLines val="0"/>
            <c:extLst>
              <c:ext xmlns:c15="http://schemas.microsoft.com/office/drawing/2012/chart" uri="{CE6537A1-D6FC-4f65-9D91-7224C49458BB}"/>
            </c:extLst>
          </c:dLbls>
          <c:cat>
            <c:strRef>
              <c:f>Sheet1!$A$2:$A$5</c:f>
              <c:strCache>
                <c:ptCount val="4"/>
                <c:pt idx="0">
                  <c:v>Thermal</c:v>
                </c:pt>
                <c:pt idx="1">
                  <c:v>Hydro</c:v>
                </c:pt>
                <c:pt idx="2">
                  <c:v>Nuclear</c:v>
                </c:pt>
                <c:pt idx="3">
                  <c:v>Renewables</c:v>
                </c:pt>
              </c:strCache>
            </c:strRef>
          </c:cat>
          <c:val>
            <c:numRef>
              <c:f>Sheet1!$B$2:$B$5</c:f>
              <c:numCache>
                <c:formatCode>#,##0</c:formatCode>
                <c:ptCount val="4"/>
                <c:pt idx="0">
                  <c:v>240</c:v>
                </c:pt>
                <c:pt idx="1">
                  <c:v>48</c:v>
                </c:pt>
                <c:pt idx="2">
                  <c:v>8.8000000000000007</c:v>
                </c:pt>
                <c:pt idx="3">
                  <c:v>178.89999999999998</c:v>
                </c:pt>
              </c:numCache>
            </c:numRef>
          </c:val>
          <c:extLst>
            <c:ext xmlns:c16="http://schemas.microsoft.com/office/drawing/2014/chart" uri="{C3380CC4-5D6E-409C-BE32-E72D297353CC}">
              <c16:uniqueId val="{00000008-0D72-40AE-A085-77A1FEDFC1DD}"/>
            </c:ext>
          </c:extLst>
        </c:ser>
        <c:dLbls>
          <c:showLegendKey val="0"/>
          <c:showVal val="0"/>
          <c:showCatName val="0"/>
          <c:showSerName val="0"/>
          <c:showPercent val="0"/>
          <c:showBubbleSize val="0"/>
          <c:showLeaderLines val="0"/>
        </c:dLbls>
        <c:firstSliceAng val="0"/>
        <c:holeSize val="5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145801412971412E-2"/>
          <c:y val="0.82017831617201697"/>
          <c:w val="2.2978999468039749E-2"/>
          <c:h val="3.0413082980012138E-2"/>
        </c:manualLayout>
      </c:layout>
      <c:doughnutChart>
        <c:varyColors val="1"/>
        <c:ser>
          <c:idx val="0"/>
          <c:order val="0"/>
          <c:tx>
            <c:strRef>
              <c:f>Sheet1!$B$1</c:f>
              <c:strCache>
                <c:ptCount val="1"/>
                <c:pt idx="0">
                  <c:v>FY24</c:v>
                </c:pt>
              </c:strCache>
            </c:strRef>
          </c:tx>
          <c:dPt>
            <c:idx val="0"/>
            <c:bubble3D val="0"/>
            <c:spPr>
              <a:solidFill>
                <a:srgbClr val="86BC25"/>
              </a:solidFill>
              <a:ln w="19050">
                <a:solidFill>
                  <a:schemeClr val="lt1"/>
                </a:solidFill>
              </a:ln>
              <a:effectLst/>
            </c:spPr>
            <c:extLst>
              <c:ext xmlns:c16="http://schemas.microsoft.com/office/drawing/2014/chart" uri="{C3380CC4-5D6E-409C-BE32-E72D297353CC}">
                <c16:uniqueId val="{00000001-7468-4C6E-9ACE-B6B7674E940C}"/>
              </c:ext>
            </c:extLst>
          </c:dPt>
          <c:dPt>
            <c:idx val="1"/>
            <c:bubble3D val="0"/>
            <c:spPr>
              <a:solidFill>
                <a:srgbClr val="43B02A"/>
              </a:solidFill>
              <a:ln w="19050">
                <a:solidFill>
                  <a:schemeClr val="lt1"/>
                </a:solidFill>
              </a:ln>
              <a:effectLst/>
            </c:spPr>
            <c:extLst>
              <c:ext xmlns:c16="http://schemas.microsoft.com/office/drawing/2014/chart" uri="{C3380CC4-5D6E-409C-BE32-E72D297353CC}">
                <c16:uniqueId val="{00000003-7468-4C6E-9ACE-B6B7674E940C}"/>
              </c:ext>
            </c:extLst>
          </c:dPt>
          <c:dPt>
            <c:idx val="2"/>
            <c:bubble3D val="0"/>
            <c:spPr>
              <a:solidFill>
                <a:srgbClr val="26890D"/>
              </a:solidFill>
              <a:ln w="19050">
                <a:solidFill>
                  <a:schemeClr val="lt1"/>
                </a:solidFill>
              </a:ln>
              <a:effectLst/>
            </c:spPr>
            <c:extLst>
              <c:ext xmlns:c16="http://schemas.microsoft.com/office/drawing/2014/chart" uri="{C3380CC4-5D6E-409C-BE32-E72D297353CC}">
                <c16:uniqueId val="{00000005-7468-4C6E-9ACE-B6B7674E940C}"/>
              </c:ext>
            </c:extLst>
          </c:dPt>
          <c:dPt>
            <c:idx val="3"/>
            <c:bubble3D val="0"/>
            <c:spPr>
              <a:solidFill>
                <a:srgbClr val="046A38"/>
              </a:solidFill>
              <a:ln w="19050">
                <a:solidFill>
                  <a:schemeClr val="lt1"/>
                </a:solidFill>
              </a:ln>
              <a:effectLst/>
            </c:spPr>
            <c:extLst>
              <c:ext xmlns:c16="http://schemas.microsoft.com/office/drawing/2014/chart" uri="{C3380CC4-5D6E-409C-BE32-E72D297353CC}">
                <c16:uniqueId val="{00000007-7468-4C6E-9ACE-B6B7674E940C}"/>
              </c:ext>
            </c:extLst>
          </c:dPt>
          <c:dLbls>
            <c:delete val="1"/>
          </c:dLbls>
          <c:cat>
            <c:strRef>
              <c:f>Sheet1!$A$2:$A$5</c:f>
              <c:strCache>
                <c:ptCount val="4"/>
                <c:pt idx="0">
                  <c:v>Thermal</c:v>
                </c:pt>
                <c:pt idx="1">
                  <c:v>Large hydro</c:v>
                </c:pt>
                <c:pt idx="2">
                  <c:v>Nuclear</c:v>
                </c:pt>
                <c:pt idx="3">
                  <c:v>Renewables</c:v>
                </c:pt>
              </c:strCache>
            </c:strRef>
          </c:cat>
          <c:val>
            <c:numRef>
              <c:f>Sheet1!$B$2:$B$5</c:f>
              <c:numCache>
                <c:formatCode>#,##0</c:formatCode>
                <c:ptCount val="4"/>
                <c:pt idx="0">
                  <c:v>1326549</c:v>
                </c:pt>
                <c:pt idx="1">
                  <c:v>134054</c:v>
                </c:pt>
                <c:pt idx="2">
                  <c:v>47937</c:v>
                </c:pt>
                <c:pt idx="3">
                  <c:v>225835</c:v>
                </c:pt>
              </c:numCache>
            </c:numRef>
          </c:val>
          <c:extLst>
            <c:ext xmlns:c16="http://schemas.microsoft.com/office/drawing/2014/chart" uri="{C3380CC4-5D6E-409C-BE32-E72D297353CC}">
              <c16:uniqueId val="{00000008-7468-4C6E-9ACE-B6B7674E940C}"/>
            </c:ext>
          </c:extLst>
        </c:ser>
        <c:dLbls>
          <c:showLegendKey val="0"/>
          <c:showVal val="0"/>
          <c:showCatName val="0"/>
          <c:showSerName val="0"/>
          <c:showPercent val="1"/>
          <c:showBubbleSize val="0"/>
          <c:showLeaderLines val="1"/>
        </c:dLbls>
        <c:firstSliceAng val="0"/>
        <c:holeSize val="50"/>
      </c:doughnutChart>
      <c:spPr>
        <a:solidFill>
          <a:schemeClr val="bg1"/>
        </a:solidFill>
        <a:ln>
          <a:noFill/>
        </a:ln>
        <a:effectLst/>
      </c:spPr>
    </c:plotArea>
    <c:legend>
      <c:legendPos val="r"/>
      <c:layout>
        <c:manualLayout>
          <c:xMode val="edge"/>
          <c:yMode val="edge"/>
          <c:x val="0.13921945722479293"/>
          <c:y val="0.19934924288310116"/>
          <c:w val="0.37257062019684356"/>
          <c:h val="0.60130151423379774"/>
        </c:manualLayout>
      </c:layout>
      <c:overlay val="0"/>
      <c:spPr>
        <a:noFill/>
        <a:ln>
          <a:noFill/>
        </a:ln>
        <a:effectLst/>
      </c:spPr>
      <c:txPr>
        <a:bodyPr rot="0" spcFirstLastPara="1" vertOverflow="ellipsis" vert="horz" wrap="square" anchor="ctr" anchorCtr="1"/>
        <a:lstStyle/>
        <a:p>
          <a:pPr>
            <a:defRPr lang="ja-JP"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1838034576888082E-2"/>
          <c:y val="3.326935380678183E-2"/>
          <c:w val="0.9563239308462238"/>
          <c:h val="0.93346129238643638"/>
        </c:manualLayout>
      </c:layout>
      <c:barChart>
        <c:barDir val="col"/>
        <c:grouping val="clustered"/>
        <c:varyColors val="0"/>
        <c:ser>
          <c:idx val="0"/>
          <c:order val="0"/>
          <c:spPr>
            <a:solidFill>
              <a:schemeClr val="accent4"/>
            </a:solidFill>
            <a:ln>
              <a:noFill/>
            </a:ln>
          </c:spPr>
          <c:invertIfNegative val="0"/>
          <c:dLbls>
            <c:dLbl>
              <c:idx val="0"/>
              <c:layout>
                <c:manualLayout>
                  <c:x val="0"/>
                  <c:y val="-6.3979526551503517E-4"/>
                </c:manualLayout>
              </c:layout>
              <c:numFmt formatCode="#,##0;&quot;-&quot;#,##0" sourceLinked="0"/>
              <c:spPr>
                <a:noFill/>
                <a:ln>
                  <a:noFill/>
                </a:ln>
              </c:spPr>
              <c:txPr>
                <a:bodyPr rot="-5400000" wrap="none"/>
                <a:lstStyle/>
                <a:p>
                  <a:pPr>
                    <a:defRPr lang="ja-JP" sz="1200" kern="120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3D4-4B5B-A170-2501B372D9AC}"/>
                </c:ext>
              </c:extLst>
            </c:dLbl>
            <c:dLbl>
              <c:idx val="2"/>
              <c:layout>
                <c:manualLayout>
                  <c:x val="0"/>
                  <c:y val="0"/>
                </c:manualLayout>
              </c:layout>
              <c:numFmt formatCode="#,##0;&quot;-&quot;#,##0" sourceLinked="0"/>
              <c:spPr>
                <a:noFill/>
                <a:ln>
                  <a:noFill/>
                </a:ln>
              </c:spPr>
              <c:txPr>
                <a:bodyPr rot="-5400000" wrap="none"/>
                <a:lstStyle/>
                <a:p>
                  <a:pPr>
                    <a:defRPr lang="ja-JP" sz="1200" kern="120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3D4-4B5B-A170-2501B372D9AC}"/>
                </c:ext>
              </c:extLst>
            </c:dLbl>
            <c:dLbl>
              <c:idx val="4"/>
              <c:layout>
                <c:manualLayout>
                  <c:x val="0"/>
                  <c:y val="0"/>
                </c:manualLayout>
              </c:layout>
              <c:numFmt formatCode="#,##0;&quot;-&quot;#,##0" sourceLinked="0"/>
              <c:spPr>
                <a:noFill/>
                <a:ln>
                  <a:noFill/>
                </a:ln>
              </c:spPr>
              <c:txPr>
                <a:bodyPr rot="-5400000" wrap="none"/>
                <a:lstStyle/>
                <a:p>
                  <a:pPr>
                    <a:defRPr lang="ja-JP" sz="1200" kern="120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3D4-4B5B-A170-2501B372D9AC}"/>
                </c:ext>
              </c:extLst>
            </c:dLbl>
            <c:dLbl>
              <c:idx val="6"/>
              <c:layout>
                <c:manualLayout>
                  <c:x val="0"/>
                  <c:y val="0"/>
                </c:manualLayout>
              </c:layout>
              <c:numFmt formatCode="#,##0;&quot;-&quot;#,##0" sourceLinked="0"/>
              <c:spPr>
                <a:noFill/>
                <a:ln>
                  <a:noFill/>
                </a:ln>
              </c:spPr>
              <c:txPr>
                <a:bodyPr rot="-5400000" wrap="none"/>
                <a:lstStyle/>
                <a:p>
                  <a:pPr>
                    <a:defRPr lang="ja-JP" sz="1200" kern="120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73D4-4B5B-A170-2501B372D9AC}"/>
                </c:ext>
              </c:extLst>
            </c:dLbl>
            <c:dLbl>
              <c:idx val="8"/>
              <c:layout>
                <c:manualLayout>
                  <c:x val="0"/>
                  <c:y val="0"/>
                </c:manualLayout>
              </c:layout>
              <c:numFmt formatCode="#,##0;&quot;-&quot;#,##0" sourceLinked="0"/>
              <c:spPr>
                <a:noFill/>
                <a:ln>
                  <a:noFill/>
                </a:ln>
              </c:spPr>
              <c:txPr>
                <a:bodyPr rot="-5400000" wrap="none"/>
                <a:lstStyle/>
                <a:p>
                  <a:pPr>
                    <a:defRPr lang="ja-JP" sz="1200" kern="120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3D4-4B5B-A170-2501B372D9AC}"/>
                </c:ext>
              </c:extLst>
            </c:dLbl>
            <c:dLbl>
              <c:idx val="12"/>
              <c:layout>
                <c:manualLayout>
                  <c:x val="0"/>
                  <c:y val="-6.3979526551503517E-4"/>
                </c:manualLayout>
              </c:layout>
              <c:numFmt formatCode="#,##0;&quot;-&quot;#,##0" sourceLinked="0"/>
              <c:spPr>
                <a:noFill/>
                <a:ln>
                  <a:noFill/>
                </a:ln>
              </c:spPr>
              <c:txPr>
                <a:bodyPr rot="-5400000" wrap="none"/>
                <a:lstStyle/>
                <a:p>
                  <a:pPr>
                    <a:defRPr lang="ja-JP" sz="1200" kern="120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3D4-4B5B-A170-2501B372D9AC}"/>
                </c:ext>
              </c:extLst>
            </c:dLbl>
            <c:dLbl>
              <c:idx val="14"/>
              <c:layout>
                <c:manualLayout>
                  <c:x val="0"/>
                  <c:y val="-6.3979526551503517E-4"/>
                </c:manualLayout>
              </c:layout>
              <c:numFmt formatCode="#,##0;&quot;-&quot;#,##0" sourceLinked="0"/>
              <c:spPr>
                <a:noFill/>
                <a:ln>
                  <a:noFill/>
                </a:ln>
              </c:spPr>
              <c:txPr>
                <a:bodyPr rot="-5400000" wrap="none"/>
                <a:lstStyle/>
                <a:p>
                  <a:pPr>
                    <a:defRPr lang="ja-JP" sz="1200" kern="120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73D4-4B5B-A170-2501B372D9AC}"/>
                </c:ext>
              </c:extLst>
            </c:dLbl>
            <c:spPr>
              <a:noFill/>
              <a:ln>
                <a:noFill/>
              </a:ln>
              <a:effectLst/>
            </c:spPr>
            <c:txPr>
              <a:bodyPr wrap="square" lIns="38100" tIns="19050" rIns="38100" bIns="19050" anchor="ctr">
                <a:spAutoFit/>
              </a:bodyPr>
              <a:lstStyle/>
              <a:p>
                <a:pPr>
                  <a:defRPr lang="ja-JP">
                    <a:latin typeface="Arial" panose="020B0604020202020204" pitchFamily="34" charset="0"/>
                    <a:cs typeface="Arial" panose="020B0604020202020204" pitchFamily="34" charset="0"/>
                  </a:defRPr>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Sheet1!$A$1:$O$1</c:f>
              <c:numCache>
                <c:formatCode>General</c:formatCode>
                <c:ptCount val="15"/>
                <c:pt idx="0" formatCode="#,##0;&quot;-&quot;#,##0">
                  <c:v>1114.4079999999999</c:v>
                </c:pt>
                <c:pt idx="2" formatCode="#,##0;&quot;-&quot;#,##0">
                  <c:v>1274.595</c:v>
                </c:pt>
                <c:pt idx="4" formatCode="#,##0;&quot;-&quot;#,##0">
                  <c:v>1379.8119999999999</c:v>
                </c:pt>
                <c:pt idx="6" formatCode="#,##0;&quot;-&quot;#,##0">
                  <c:v>1511.847</c:v>
                </c:pt>
                <c:pt idx="8" formatCode="#,##0;&quot;-&quot;#,##0">
                  <c:v>1629</c:v>
                </c:pt>
                <c:pt idx="12" formatCode="#,##0;&quot;-&quot;#,##0">
                  <c:v>2246.1349322151191</c:v>
                </c:pt>
                <c:pt idx="14" formatCode="#,##0;&quot;-&quot;#,##0">
                  <c:v>2799.0927820582065</c:v>
                </c:pt>
              </c:numCache>
            </c:numRef>
          </c:val>
          <c:extLst>
            <c:ext xmlns:c16="http://schemas.microsoft.com/office/drawing/2014/chart" uri="{C3380CC4-5D6E-409C-BE32-E72D297353CC}">
              <c16:uniqueId val="{00000007-73D4-4B5B-A170-2501B372D9AC}"/>
            </c:ext>
          </c:extLst>
        </c:ser>
        <c:ser>
          <c:idx val="1"/>
          <c:order val="1"/>
          <c:spPr>
            <a:solidFill>
              <a:schemeClr val="accent1">
                <a:lumMod val="20000"/>
                <a:lumOff val="80000"/>
              </a:schemeClr>
            </a:solidFill>
            <a:ln>
              <a:noFill/>
            </a:ln>
          </c:spPr>
          <c:invertIfNegative val="0"/>
          <c:dLbls>
            <c:dLbl>
              <c:idx val="0"/>
              <c:layout>
                <c:manualLayout>
                  <c:x val="0"/>
                  <c:y val="-6.3979526551503517E-4"/>
                </c:manualLayout>
              </c:layout>
              <c:numFmt formatCode="#,##0;&quot;-&quot;#,##0" sourceLinked="0"/>
              <c:spPr>
                <a:noFill/>
                <a:ln>
                  <a:noFill/>
                </a:ln>
              </c:spPr>
              <c:txPr>
                <a:bodyPr rot="-5400000"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73D4-4B5B-A170-2501B372D9AC}"/>
                </c:ext>
              </c:extLst>
            </c:dLbl>
            <c:dLbl>
              <c:idx val="2"/>
              <c:layout>
                <c:manualLayout>
                  <c:x val="0"/>
                  <c:y val="-6.3979526551503517E-4"/>
                </c:manualLayout>
              </c:layout>
              <c:numFmt formatCode="#,##0;&quot;-&quot;#,##0" sourceLinked="0"/>
              <c:spPr>
                <a:noFill/>
                <a:ln>
                  <a:noFill/>
                </a:ln>
              </c:spPr>
              <c:txPr>
                <a:bodyPr rot="-5400000"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73D4-4B5B-A170-2501B372D9AC}"/>
                </c:ext>
              </c:extLst>
            </c:dLbl>
            <c:dLbl>
              <c:idx val="4"/>
              <c:layout>
                <c:manualLayout>
                  <c:x val="0"/>
                  <c:y val="0"/>
                </c:manualLayout>
              </c:layout>
              <c:numFmt formatCode="#,##0;&quot;-&quot;#,##0" sourceLinked="0"/>
              <c:spPr>
                <a:noFill/>
                <a:ln>
                  <a:noFill/>
                </a:ln>
              </c:spPr>
              <c:txPr>
                <a:bodyPr rot="-5400000"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73D4-4B5B-A170-2501B372D9AC}"/>
                </c:ext>
              </c:extLst>
            </c:dLbl>
            <c:dLbl>
              <c:idx val="6"/>
              <c:layout>
                <c:manualLayout>
                  <c:x val="0"/>
                  <c:y val="0"/>
                </c:manualLayout>
              </c:layout>
              <c:numFmt formatCode="#,##0;&quot;-&quot;#,##0" sourceLinked="0"/>
              <c:spPr>
                <a:noFill/>
                <a:ln>
                  <a:noFill/>
                </a:ln>
              </c:spPr>
              <c:txPr>
                <a:bodyPr rot="-5400000"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73D4-4B5B-A170-2501B372D9AC}"/>
                </c:ext>
              </c:extLst>
            </c:dLbl>
            <c:dLbl>
              <c:idx val="8"/>
              <c:layout>
                <c:manualLayout>
                  <c:x val="0"/>
                  <c:y val="0"/>
                </c:manualLayout>
              </c:layout>
              <c:numFmt formatCode="#,##0;&quot;-&quot;#,##0" sourceLinked="0"/>
              <c:spPr>
                <a:noFill/>
                <a:ln>
                  <a:noFill/>
                </a:ln>
              </c:spPr>
              <c:txPr>
                <a:bodyPr rot="-5400000"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73D4-4B5B-A170-2501B372D9A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Sheet1!$A$2:$O$2</c:f>
              <c:numCache>
                <c:formatCode>General</c:formatCode>
                <c:ptCount val="15"/>
                <c:pt idx="0" formatCode="#,##0;&quot;-&quot;#,##0">
                  <c:v>1090.8499999999999</c:v>
                </c:pt>
                <c:pt idx="2" formatCode="#,##0;&quot;-&quot;#,##0">
                  <c:v>1267.5260000000001</c:v>
                </c:pt>
                <c:pt idx="4" formatCode="#,##0;&quot;-&quot;#,##0">
                  <c:v>1374.0239999999999</c:v>
                </c:pt>
                <c:pt idx="6" formatCode="#,##0;&quot;-&quot;#,##0">
                  <c:v>1504.2639999999999</c:v>
                </c:pt>
                <c:pt idx="8" formatCode="#,##0;&quot;-&quot;#,##0">
                  <c:v>1625</c:v>
                </c:pt>
              </c:numCache>
            </c:numRef>
          </c:val>
          <c:extLst>
            <c:ext xmlns:c16="http://schemas.microsoft.com/office/drawing/2014/chart" uri="{C3380CC4-5D6E-409C-BE32-E72D297353CC}">
              <c16:uniqueId val="{0000000D-73D4-4B5B-A170-2501B372D9AC}"/>
            </c:ext>
          </c:extLst>
        </c:ser>
        <c:dLbls>
          <c:showLegendKey val="0"/>
          <c:showVal val="0"/>
          <c:showCatName val="0"/>
          <c:showSerName val="0"/>
          <c:showPercent val="0"/>
          <c:showBubbleSize val="0"/>
        </c:dLbls>
        <c:gapWidth val="0"/>
        <c:axId val="1117664080"/>
        <c:axId val="1"/>
      </c:barChart>
      <c:catAx>
        <c:axId val="1117664080"/>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200" kern="1200">
                <a:latin typeface="+mn-lt"/>
                <a:ea typeface="+mn-ea"/>
                <a:cs typeface="Calibri Light"/>
              </a:defRPr>
            </a:pPr>
            <a:endParaRPr lang="en-US"/>
          </a:p>
        </c:txPr>
        <c:crossAx val="1"/>
        <c:crosses val="min"/>
        <c:auto val="0"/>
        <c:lblAlgn val="ctr"/>
        <c:lblOffset val="100"/>
        <c:noMultiLvlLbl val="0"/>
      </c:catAx>
      <c:valAx>
        <c:axId val="1"/>
        <c:scaling>
          <c:orientation val="minMax"/>
          <c:max val="2799.0927820582065"/>
          <c:min val="0"/>
        </c:scaling>
        <c:delete val="1"/>
        <c:axPos val="l"/>
        <c:numFmt formatCode="#,##0;&quot;-&quot;#,##0" sourceLinked="1"/>
        <c:majorTickMark val="out"/>
        <c:minorTickMark val="none"/>
        <c:tickLblPos val="nextTo"/>
        <c:crossAx val="1117664080"/>
        <c:crosses val="min"/>
        <c:crossBetween val="between"/>
      </c:valAx>
    </c:plotArea>
    <c:plotVisOnly val="0"/>
    <c:dispBlanksAs val="gap"/>
    <c:showDLblsOverMax val="1"/>
  </c:chart>
  <c:externalData r:id="rId1">
    <c:autoUpdate val="0"/>
  </c:externalData>
  <c:userShapes r:id="rId2"/>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277348515656771E-2"/>
          <c:y val="3.326935380678183E-2"/>
          <c:w val="0.95445302968686463"/>
          <c:h val="0.93346129238643638"/>
        </c:manualLayout>
      </c:layout>
      <c:barChart>
        <c:barDir val="col"/>
        <c:grouping val="clustered"/>
        <c:varyColors val="0"/>
        <c:ser>
          <c:idx val="0"/>
          <c:order val="0"/>
          <c:spPr>
            <a:solidFill>
              <a:schemeClr val="accent4"/>
            </a:solidFill>
            <a:ln>
              <a:noFill/>
            </a:ln>
          </c:spPr>
          <c:invertIfNegative val="0"/>
          <c:dLbls>
            <c:dLbl>
              <c:idx val="0"/>
              <c:layout>
                <c:manualLayout>
                  <c:x val="0"/>
                  <c:y val="0"/>
                </c:manualLayout>
              </c:layout>
              <c:numFmt formatCode="#,##0;&quot;-&quot;#,##0" sourceLinked="0"/>
              <c:spPr>
                <a:noFill/>
                <a:ln>
                  <a:noFill/>
                </a:ln>
              </c:spPr>
              <c:txPr>
                <a:bodyPr rot="-5400000"/>
                <a:lstStyle/>
                <a:p>
                  <a:pPr>
                    <a:defRPr lang="ja-JP">
                      <a:solidFill>
                        <a:schemeClr val="bg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042-4C25-8E8F-0247C2C0DF98}"/>
                </c:ext>
              </c:extLst>
            </c:dLbl>
            <c:dLbl>
              <c:idx val="2"/>
              <c:layout>
                <c:manualLayout>
                  <c:x val="0"/>
                  <c:y val="0"/>
                </c:manualLayout>
              </c:layout>
              <c:numFmt formatCode="#,##0;&quot;-&quot;#,##0" sourceLinked="0"/>
              <c:spPr>
                <a:noFill/>
                <a:ln>
                  <a:noFill/>
                </a:ln>
              </c:spPr>
              <c:txPr>
                <a:bodyPr rot="-5400000"/>
                <a:lstStyle/>
                <a:p>
                  <a:pPr>
                    <a:defRPr lang="ja-JP">
                      <a:solidFill>
                        <a:schemeClr val="bg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042-4C25-8E8F-0247C2C0DF98}"/>
                </c:ext>
              </c:extLst>
            </c:dLbl>
            <c:dLbl>
              <c:idx val="4"/>
              <c:layout>
                <c:manualLayout>
                  <c:x val="0"/>
                  <c:y val="0"/>
                </c:manualLayout>
              </c:layout>
              <c:numFmt formatCode="#,##0;&quot;-&quot;#,##0" sourceLinked="0"/>
              <c:spPr>
                <a:noFill/>
                <a:ln>
                  <a:noFill/>
                </a:ln>
              </c:spPr>
              <c:txPr>
                <a:bodyPr rot="-5400000"/>
                <a:lstStyle/>
                <a:p>
                  <a:pPr>
                    <a:defRPr lang="ja-JP">
                      <a:solidFill>
                        <a:schemeClr val="bg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042-4C25-8E8F-0247C2C0DF98}"/>
                </c:ext>
              </c:extLst>
            </c:dLbl>
            <c:dLbl>
              <c:idx val="6"/>
              <c:layout>
                <c:manualLayout>
                  <c:x val="0"/>
                  <c:y val="-6.3979526551503517E-4"/>
                </c:manualLayout>
              </c:layout>
              <c:numFmt formatCode="#,##0;&quot;-&quot;#,##0" sourceLinked="0"/>
              <c:spPr>
                <a:noFill/>
                <a:ln>
                  <a:noFill/>
                </a:ln>
              </c:spPr>
              <c:txPr>
                <a:bodyPr rot="-5400000"/>
                <a:lstStyle/>
                <a:p>
                  <a:pPr>
                    <a:defRPr lang="ja-JP">
                      <a:solidFill>
                        <a:schemeClr val="bg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042-4C25-8E8F-0247C2C0DF98}"/>
                </c:ext>
              </c:extLst>
            </c:dLbl>
            <c:dLbl>
              <c:idx val="8"/>
              <c:layout>
                <c:manualLayout>
                  <c:x val="0"/>
                  <c:y val="0"/>
                </c:manualLayout>
              </c:layout>
              <c:numFmt formatCode="#,##0;&quot;-&quot;#,##0" sourceLinked="0"/>
              <c:spPr>
                <a:noFill/>
                <a:ln>
                  <a:noFill/>
                </a:ln>
              </c:spPr>
              <c:txPr>
                <a:bodyPr rot="-5400000"/>
                <a:lstStyle/>
                <a:p>
                  <a:pPr>
                    <a:defRPr lang="ja-JP">
                      <a:solidFill>
                        <a:schemeClr val="bg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B042-4C25-8E8F-0247C2C0DF98}"/>
                </c:ext>
              </c:extLst>
            </c:dLbl>
            <c:dLbl>
              <c:idx val="12"/>
              <c:layout>
                <c:manualLayout>
                  <c:x val="0"/>
                  <c:y val="-6.3979526551503517E-4"/>
                </c:manualLayout>
              </c:layout>
              <c:numFmt formatCode="#,##0;&quot;-&quot;#,##0" sourceLinked="0"/>
              <c:spPr>
                <a:noFill/>
                <a:ln>
                  <a:noFill/>
                </a:ln>
              </c:spPr>
              <c:txPr>
                <a:bodyPr rot="-5400000"/>
                <a:lstStyle/>
                <a:p>
                  <a:pPr>
                    <a:defRPr lang="ja-JP">
                      <a:solidFill>
                        <a:schemeClr val="bg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B042-4C25-8E8F-0247C2C0DF98}"/>
                </c:ext>
              </c:extLst>
            </c:dLbl>
            <c:dLbl>
              <c:idx val="14"/>
              <c:layout>
                <c:manualLayout>
                  <c:x val="0"/>
                  <c:y val="-6.3979526551503517E-4"/>
                </c:manualLayout>
              </c:layout>
              <c:numFmt formatCode="#,##0;&quot;-&quot;#,##0" sourceLinked="0"/>
              <c:spPr>
                <a:noFill/>
                <a:ln>
                  <a:noFill/>
                </a:ln>
              </c:spPr>
              <c:txPr>
                <a:bodyPr rot="-5400000"/>
                <a:lstStyle/>
                <a:p>
                  <a:pPr>
                    <a:defRPr lang="ja-JP">
                      <a:solidFill>
                        <a:schemeClr val="bg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B042-4C25-8E8F-0247C2C0DF98}"/>
                </c:ext>
              </c:extLst>
            </c:dLbl>
            <c:spPr>
              <a:noFill/>
              <a:ln>
                <a:noFill/>
              </a:ln>
              <a:effectLst/>
            </c:spPr>
            <c:txPr>
              <a:bodyPr/>
              <a:lstStyle/>
              <a:p>
                <a:pPr>
                  <a:defRPr lang="ja-JP">
                    <a:solidFill>
                      <a:schemeClr val="bg1"/>
                    </a:solidFill>
                  </a:defRPr>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Sheet1!$A$1:$O$1</c:f>
              <c:numCache>
                <c:formatCode>General</c:formatCode>
                <c:ptCount val="15"/>
                <c:pt idx="0">
                  <c:v>153</c:v>
                </c:pt>
                <c:pt idx="2">
                  <c:v>177</c:v>
                </c:pt>
                <c:pt idx="4">
                  <c:v>203</c:v>
                </c:pt>
                <c:pt idx="6">
                  <c:v>213</c:v>
                </c:pt>
                <c:pt idx="8">
                  <c:v>243</c:v>
                </c:pt>
                <c:pt idx="12">
                  <c:v>334</c:v>
                </c:pt>
                <c:pt idx="14">
                  <c:v>416.22476717614359</c:v>
                </c:pt>
              </c:numCache>
            </c:numRef>
          </c:val>
          <c:extLst>
            <c:ext xmlns:c16="http://schemas.microsoft.com/office/drawing/2014/chart" uri="{C3380CC4-5D6E-409C-BE32-E72D297353CC}">
              <c16:uniqueId val="{00000007-B042-4C25-8E8F-0247C2C0DF98}"/>
            </c:ext>
          </c:extLst>
        </c:ser>
        <c:ser>
          <c:idx val="1"/>
          <c:order val="1"/>
          <c:spPr>
            <a:solidFill>
              <a:schemeClr val="accent1">
                <a:lumMod val="20000"/>
                <a:lumOff val="80000"/>
              </a:schemeClr>
            </a:solidFill>
            <a:ln>
              <a:noFill/>
            </a:ln>
          </c:spPr>
          <c:invertIfNegative val="0"/>
          <c:dLbls>
            <c:dLbl>
              <c:idx val="0"/>
              <c:layout>
                <c:manualLayout>
                  <c:x val="0"/>
                  <c:y val="0"/>
                </c:manualLayout>
              </c:layout>
              <c:numFmt formatCode="#,##0;&quot;-&quot;#,##0" sourceLinked="0"/>
              <c:spPr>
                <a:noFill/>
                <a:ln>
                  <a:noFill/>
                </a:ln>
              </c:spPr>
              <c:txPr>
                <a:bodyPr rot="-5400000"/>
                <a:lstStyle/>
                <a:p>
                  <a:pPr>
                    <a:defRPr lang="ja-JP"/>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B042-4C25-8E8F-0247C2C0DF98}"/>
                </c:ext>
              </c:extLst>
            </c:dLbl>
            <c:dLbl>
              <c:idx val="2"/>
              <c:layout>
                <c:manualLayout>
                  <c:x val="0"/>
                  <c:y val="-6.3979526551503517E-4"/>
                </c:manualLayout>
              </c:layout>
              <c:numFmt formatCode="#,##0;&quot;-&quot;#,##0" sourceLinked="0"/>
              <c:spPr>
                <a:noFill/>
                <a:ln>
                  <a:noFill/>
                </a:ln>
              </c:spPr>
              <c:txPr>
                <a:bodyPr rot="-5400000"/>
                <a:lstStyle/>
                <a:p>
                  <a:pPr>
                    <a:defRPr lang="ja-JP"/>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B042-4C25-8E8F-0247C2C0DF98}"/>
                </c:ext>
              </c:extLst>
            </c:dLbl>
            <c:dLbl>
              <c:idx val="4"/>
              <c:layout>
                <c:manualLayout>
                  <c:x val="0"/>
                  <c:y val="-6.3979526551503517E-4"/>
                </c:manualLayout>
              </c:layout>
              <c:numFmt formatCode="#,##0;&quot;-&quot;#,##0" sourceLinked="0"/>
              <c:spPr>
                <a:noFill/>
                <a:ln>
                  <a:noFill/>
                </a:ln>
              </c:spPr>
              <c:txPr>
                <a:bodyPr rot="-5400000"/>
                <a:lstStyle/>
                <a:p>
                  <a:pPr>
                    <a:defRPr lang="ja-JP"/>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B042-4C25-8E8F-0247C2C0DF98}"/>
                </c:ext>
              </c:extLst>
            </c:dLbl>
            <c:dLbl>
              <c:idx val="6"/>
              <c:layout>
                <c:manualLayout>
                  <c:x val="0"/>
                  <c:y val="0"/>
                </c:manualLayout>
              </c:layout>
              <c:numFmt formatCode="#,##0;&quot;-&quot;#,##0" sourceLinked="0"/>
              <c:spPr>
                <a:noFill/>
                <a:ln>
                  <a:noFill/>
                </a:ln>
              </c:spPr>
              <c:txPr>
                <a:bodyPr rot="-5400000"/>
                <a:lstStyle/>
                <a:p>
                  <a:pPr>
                    <a:defRPr lang="ja-JP"/>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B042-4C25-8E8F-0247C2C0DF98}"/>
                </c:ext>
              </c:extLst>
            </c:dLbl>
            <c:dLbl>
              <c:idx val="8"/>
              <c:layout>
                <c:manualLayout>
                  <c:x val="0"/>
                  <c:y val="0"/>
                </c:manualLayout>
              </c:layout>
              <c:numFmt formatCode="#,##0;&quot;-&quot;#,##0" sourceLinked="0"/>
              <c:spPr>
                <a:noFill/>
                <a:ln>
                  <a:noFill/>
                </a:ln>
              </c:spPr>
              <c:txPr>
                <a:bodyPr rot="-5400000"/>
                <a:lstStyle/>
                <a:p>
                  <a:pPr>
                    <a:defRPr lang="ja-JP"/>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B042-4C25-8E8F-0247C2C0DF98}"/>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Sheet1!$A$2:$O$2</c:f>
              <c:numCache>
                <c:formatCode>General</c:formatCode>
                <c:ptCount val="15"/>
                <c:pt idx="0">
                  <c:v>149</c:v>
                </c:pt>
                <c:pt idx="2">
                  <c:v>176</c:v>
                </c:pt>
                <c:pt idx="4">
                  <c:v>201</c:v>
                </c:pt>
                <c:pt idx="6">
                  <c:v>211</c:v>
                </c:pt>
                <c:pt idx="8">
                  <c:v>240</c:v>
                </c:pt>
              </c:numCache>
            </c:numRef>
          </c:val>
          <c:extLst>
            <c:ext xmlns:c16="http://schemas.microsoft.com/office/drawing/2014/chart" uri="{C3380CC4-5D6E-409C-BE32-E72D297353CC}">
              <c16:uniqueId val="{0000000D-B042-4C25-8E8F-0247C2C0DF98}"/>
            </c:ext>
          </c:extLst>
        </c:ser>
        <c:dLbls>
          <c:showLegendKey val="0"/>
          <c:showVal val="0"/>
          <c:showCatName val="0"/>
          <c:showSerName val="0"/>
          <c:showPercent val="0"/>
          <c:showBubbleSize val="0"/>
        </c:dLbls>
        <c:gapWidth val="0"/>
        <c:axId val="879286783"/>
        <c:axId val="1"/>
      </c:barChart>
      <c:catAx>
        <c:axId val="879286783"/>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a:lstStyle/>
          <a:p>
            <a:pPr>
              <a:defRPr lang="ja-JP"/>
            </a:pPr>
            <a:endParaRPr lang="en-US"/>
          </a:p>
        </c:txPr>
        <c:crossAx val="1"/>
        <c:crosses val="min"/>
        <c:auto val="0"/>
        <c:lblAlgn val="ctr"/>
        <c:lblOffset val="100"/>
        <c:noMultiLvlLbl val="0"/>
      </c:catAx>
      <c:valAx>
        <c:axId val="1"/>
        <c:scaling>
          <c:orientation val="minMax"/>
          <c:max val="416.22476717614359"/>
          <c:min val="0"/>
        </c:scaling>
        <c:delete val="1"/>
        <c:axPos val="l"/>
        <c:numFmt formatCode="General" sourceLinked="1"/>
        <c:majorTickMark val="out"/>
        <c:minorTickMark val="none"/>
        <c:tickLblPos val="nextTo"/>
        <c:crossAx val="879286783"/>
        <c:crosses val="min"/>
        <c:crossBetween val="between"/>
      </c:valAx>
    </c:plotArea>
    <c:plotVisOnly val="0"/>
    <c:dispBlanksAs val="gap"/>
    <c:showDLblsOverMax val="1"/>
  </c:chart>
  <c:txPr>
    <a:bodyPr/>
    <a:lstStyle/>
    <a:p>
      <a:pPr>
        <a:defRPr>
          <a:latin typeface="Arial" panose="020B0604020202020204" pitchFamily="34" charset="0"/>
          <a:cs typeface="Arial" panose="020B0604020202020204" pitchFamily="34" charset="0"/>
        </a:defRPr>
      </a:pPr>
      <a:endParaRPr lang="en-US"/>
    </a:p>
  </c:txPr>
  <c:externalData r:id="rId1">
    <c:autoUpdate val="0"/>
  </c:externalData>
  <c:userShapes r:id="rId2"/>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2706935123042502E-3"/>
          <c:y val="7.3522975929978113E-2"/>
          <c:w val="0.9854586129753915"/>
          <c:h val="0.85295404814004372"/>
        </c:manualLayout>
      </c:layout>
      <c:barChart>
        <c:barDir val="col"/>
        <c:grouping val="stacked"/>
        <c:varyColors val="0"/>
        <c:ser>
          <c:idx val="0"/>
          <c:order val="0"/>
          <c:spPr>
            <a:solidFill>
              <a:srgbClr val="63666A"/>
            </a:solidFill>
            <a:ln>
              <a:noFill/>
            </a:ln>
          </c:spPr>
          <c:invertIfNegative val="0"/>
          <c:dLbls>
            <c:dLbl>
              <c:idx val="0"/>
              <c:layout>
                <c:manualLayout>
                  <c:x val="0"/>
                  <c:y val="0"/>
                </c:manualLayout>
              </c:layout>
              <c:numFmt formatCode="#,##0;&quot;-&quot;#,##0" sourceLinked="0"/>
              <c:spPr>
                <a:noFill/>
                <a:ln>
                  <a:noFill/>
                </a:ln>
              </c:spPr>
              <c:txPr>
                <a:bodyPr wrap="none"/>
                <a:lstStyle/>
                <a:p>
                  <a:pPr>
                    <a:defRPr lang="ja-JP" sz="1200" kern="1200">
                      <a:solidFill>
                        <a:schemeClr val="bg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4A5-485A-BFA0-A3A42D3B4D68}"/>
                </c:ext>
              </c:extLst>
            </c:dLbl>
            <c:dLbl>
              <c:idx val="2"/>
              <c:layout>
                <c:manualLayout>
                  <c:x val="0"/>
                  <c:y val="0"/>
                </c:manualLayout>
              </c:layout>
              <c:numFmt formatCode="#,##0;&quot;-&quot;#,##0" sourceLinked="0"/>
              <c:spPr>
                <a:noFill/>
                <a:ln>
                  <a:noFill/>
                </a:ln>
              </c:spPr>
              <c:txPr>
                <a:bodyPr wrap="none"/>
                <a:lstStyle/>
                <a:p>
                  <a:pPr>
                    <a:defRPr lang="ja-JP" sz="1200" kern="1200">
                      <a:solidFill>
                        <a:schemeClr val="bg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4A5-485A-BFA0-A3A42D3B4D68}"/>
                </c:ext>
              </c:extLst>
            </c:dLbl>
            <c:dLbl>
              <c:idx val="4"/>
              <c:layout>
                <c:manualLayout>
                  <c:x val="0"/>
                  <c:y val="-4.3763676148796501E-4"/>
                </c:manualLayout>
              </c:layout>
              <c:numFmt formatCode="#,##0;&quot;-&quot;#,##0" sourceLinked="0"/>
              <c:spPr>
                <a:noFill/>
                <a:ln>
                  <a:noFill/>
                </a:ln>
              </c:spPr>
              <c:txPr>
                <a:bodyPr wrap="none"/>
                <a:lstStyle/>
                <a:p>
                  <a:pPr>
                    <a:defRPr lang="ja-JP" sz="1200" kern="1200">
                      <a:solidFill>
                        <a:schemeClr val="bg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4A5-485A-BFA0-A3A42D3B4D68}"/>
                </c:ext>
              </c:extLst>
            </c:dLbl>
            <c:dLbl>
              <c:idx val="6"/>
              <c:layout>
                <c:manualLayout>
                  <c:x val="0"/>
                  <c:y val="0"/>
                </c:manualLayout>
              </c:layout>
              <c:numFmt formatCode="#,##0;&quot;-&quot;#,##0" sourceLinked="0"/>
              <c:spPr>
                <a:noFill/>
                <a:ln>
                  <a:noFill/>
                </a:ln>
              </c:spPr>
              <c:txPr>
                <a:bodyPr wrap="none"/>
                <a:lstStyle/>
                <a:p>
                  <a:pPr>
                    <a:defRPr lang="ja-JP" sz="1200" kern="1200">
                      <a:solidFill>
                        <a:schemeClr val="bg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74A5-485A-BFA0-A3A42D3B4D68}"/>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Sheet1!$A$1:$G$1</c:f>
              <c:numCache>
                <c:formatCode>General</c:formatCode>
                <c:ptCount val="7"/>
                <c:pt idx="0">
                  <c:v>210.96946</c:v>
                </c:pt>
                <c:pt idx="2">
                  <c:v>230.04946000000001</c:v>
                </c:pt>
                <c:pt idx="4">
                  <c:v>250</c:v>
                </c:pt>
                <c:pt idx="6">
                  <c:v>270</c:v>
                </c:pt>
              </c:numCache>
            </c:numRef>
          </c:val>
          <c:extLst>
            <c:ext xmlns:c16="http://schemas.microsoft.com/office/drawing/2014/chart" uri="{C3380CC4-5D6E-409C-BE32-E72D297353CC}">
              <c16:uniqueId val="{00000004-74A5-485A-BFA0-A3A42D3B4D68}"/>
            </c:ext>
          </c:extLst>
        </c:ser>
        <c:ser>
          <c:idx val="1"/>
          <c:order val="1"/>
          <c:spPr>
            <a:solidFill>
              <a:srgbClr val="046A38"/>
            </a:solidFill>
            <a:ln>
              <a:noFill/>
            </a:ln>
          </c:spPr>
          <c:invertIfNegative val="0"/>
          <c:dLbls>
            <c:dLbl>
              <c:idx val="0"/>
              <c:layout>
                <c:manualLayout>
                  <c:x val="4.6420581655480984E-2"/>
                  <c:y val="3.9387308533916851E-2"/>
                </c:manualLayout>
              </c:layout>
              <c:numFmt formatCode="#,##0;&quot;-&quot;#,##0" sourceLinked="0"/>
              <c:spPr>
                <a:noFill/>
                <a:ln>
                  <a:noFill/>
                </a:ln>
              </c:spPr>
              <c:txPr>
                <a:bodyPr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4A5-485A-BFA0-A3A42D3B4D68}"/>
                </c:ext>
              </c:extLst>
            </c:dLbl>
            <c:dLbl>
              <c:idx val="2"/>
              <c:layout>
                <c:manualLayout>
                  <c:x val="4.6420581655480984E-2"/>
                  <c:y val="3.9387308533916851E-2"/>
                </c:manualLayout>
              </c:layout>
              <c:numFmt formatCode="#,##0;&quot;-&quot;#,##0" sourceLinked="0"/>
              <c:spPr>
                <a:noFill/>
                <a:ln>
                  <a:noFill/>
                </a:ln>
              </c:spPr>
              <c:txPr>
                <a:bodyPr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74A5-485A-BFA0-A3A42D3B4D68}"/>
                </c:ext>
              </c:extLst>
            </c:dLbl>
            <c:dLbl>
              <c:idx val="4"/>
              <c:layout>
                <c:manualLayout>
                  <c:x val="4.6420581655480984E-2"/>
                  <c:y val="4.1575492341356671E-2"/>
                </c:manualLayout>
              </c:layout>
              <c:numFmt formatCode="#,##0;&quot;-&quot;#,##0" sourceLinked="0"/>
              <c:spPr>
                <a:noFill/>
                <a:ln>
                  <a:noFill/>
                </a:ln>
              </c:spPr>
              <c:txPr>
                <a:bodyPr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74A5-485A-BFA0-A3A42D3B4D68}"/>
                </c:ext>
              </c:extLst>
            </c:dLbl>
            <c:dLbl>
              <c:idx val="6"/>
              <c:layout>
                <c:manualLayout>
                  <c:x val="4.6420581655480984E-2"/>
                  <c:y val="1.7067833698030634E-2"/>
                </c:manualLayout>
              </c:layout>
              <c:numFmt formatCode="#,##0;&quot;-&quot;#,##0" sourceLinked="0"/>
              <c:spPr>
                <a:noFill/>
                <a:ln>
                  <a:noFill/>
                </a:ln>
              </c:spPr>
              <c:txPr>
                <a:bodyPr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74A5-485A-BFA0-A3A42D3B4D68}"/>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Sheet1!$A$2:$G$2</c:f>
              <c:numCache>
                <c:formatCode>General</c:formatCode>
                <c:ptCount val="7"/>
                <c:pt idx="0">
                  <c:v>6.6200000000000045</c:v>
                </c:pt>
                <c:pt idx="2">
                  <c:v>6.6200000000000045</c:v>
                </c:pt>
                <c:pt idx="4">
                  <c:v>5</c:v>
                </c:pt>
                <c:pt idx="6">
                  <c:v>5</c:v>
                </c:pt>
              </c:numCache>
            </c:numRef>
          </c:val>
          <c:extLst>
            <c:ext xmlns:c16="http://schemas.microsoft.com/office/drawing/2014/chart" uri="{C3380CC4-5D6E-409C-BE32-E72D297353CC}">
              <c16:uniqueId val="{00000009-74A5-485A-BFA0-A3A42D3B4D68}"/>
            </c:ext>
          </c:extLst>
        </c:ser>
        <c:ser>
          <c:idx val="2"/>
          <c:order val="2"/>
          <c:spPr>
            <a:solidFill>
              <a:srgbClr val="BBBCBC"/>
            </a:solidFill>
            <a:ln>
              <a:noFill/>
            </a:ln>
          </c:spPr>
          <c:invertIfNegative val="0"/>
          <c:dLbls>
            <c:dLbl>
              <c:idx val="0"/>
              <c:layout>
                <c:manualLayout>
                  <c:x val="4.9916107382550333E-2"/>
                  <c:y val="8.7527352297593001E-4"/>
                </c:manualLayout>
              </c:layout>
              <c:numFmt formatCode="#,##0;&quot;-&quot;#,##0" sourceLinked="0"/>
              <c:spPr>
                <a:noFill/>
                <a:ln>
                  <a:noFill/>
                </a:ln>
              </c:spPr>
              <c:txPr>
                <a:bodyPr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74A5-485A-BFA0-A3A42D3B4D68}"/>
                </c:ext>
              </c:extLst>
            </c:dLbl>
            <c:dLbl>
              <c:idx val="2"/>
              <c:layout>
                <c:manualLayout>
                  <c:x val="4.9916107382550333E-2"/>
                  <c:y val="1.312910284463895E-3"/>
                </c:manualLayout>
              </c:layout>
              <c:numFmt formatCode="#,##0;&quot;-&quot;#,##0" sourceLinked="0"/>
              <c:spPr>
                <a:noFill/>
                <a:ln>
                  <a:noFill/>
                </a:ln>
              </c:spPr>
              <c:txPr>
                <a:bodyPr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74A5-485A-BFA0-A3A42D3B4D68}"/>
                </c:ext>
              </c:extLst>
            </c:dLbl>
            <c:dLbl>
              <c:idx val="4"/>
              <c:layout>
                <c:manualLayout>
                  <c:x val="4.9916107382550333E-2"/>
                  <c:y val="1.312910284463895E-3"/>
                </c:manualLayout>
              </c:layout>
              <c:numFmt formatCode="#,##0;&quot;-&quot;#,##0" sourceLinked="0"/>
              <c:spPr>
                <a:noFill/>
                <a:ln>
                  <a:noFill/>
                </a:ln>
              </c:spPr>
              <c:txPr>
                <a:bodyPr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74A5-485A-BFA0-A3A42D3B4D68}"/>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Sheet1!$A$3:$G$3</c:f>
              <c:numCache>
                <c:formatCode>General</c:formatCode>
                <c:ptCount val="7"/>
                <c:pt idx="0">
                  <c:v>25.038209999999992</c:v>
                </c:pt>
                <c:pt idx="2">
                  <c:v>25.038209999999992</c:v>
                </c:pt>
                <c:pt idx="4">
                  <c:v>21</c:v>
                </c:pt>
                <c:pt idx="6">
                  <c:v>18</c:v>
                </c:pt>
              </c:numCache>
            </c:numRef>
          </c:val>
          <c:extLst>
            <c:ext xmlns:c16="http://schemas.microsoft.com/office/drawing/2014/chart" uri="{C3380CC4-5D6E-409C-BE32-E72D297353CC}">
              <c16:uniqueId val="{0000000D-74A5-485A-BFA0-A3A42D3B4D68}"/>
            </c:ext>
          </c:extLst>
        </c:ser>
        <c:ser>
          <c:idx val="3"/>
          <c:order val="3"/>
          <c:spPr>
            <a:solidFill>
              <a:srgbClr val="75787B"/>
            </a:solidFill>
            <a:ln>
              <a:noFill/>
            </a:ln>
          </c:spPr>
          <c:invertIfNegative val="0"/>
          <c:val>
            <c:numRef>
              <c:f>Sheet1!$A$4:$G$4</c:f>
              <c:numCache>
                <c:formatCode>General</c:formatCode>
                <c:ptCount val="7"/>
                <c:pt idx="0">
                  <c:v>0.58920000000000528</c:v>
                </c:pt>
                <c:pt idx="2">
                  <c:v>0.58920000000000528</c:v>
                </c:pt>
                <c:pt idx="4">
                  <c:v>0</c:v>
                </c:pt>
                <c:pt idx="6">
                  <c:v>0</c:v>
                </c:pt>
              </c:numCache>
            </c:numRef>
          </c:val>
          <c:extLst>
            <c:ext xmlns:c16="http://schemas.microsoft.com/office/drawing/2014/chart" uri="{C3380CC4-5D6E-409C-BE32-E72D297353CC}">
              <c16:uniqueId val="{0000000E-74A5-485A-BFA0-A3A42D3B4D68}"/>
            </c:ext>
          </c:extLst>
        </c:ser>
        <c:ser>
          <c:idx val="4"/>
          <c:order val="4"/>
          <c:spPr>
            <a:solidFill>
              <a:srgbClr val="0097A9"/>
            </a:solidFill>
            <a:ln>
              <a:noFill/>
            </a:ln>
          </c:spPr>
          <c:invertIfNegative val="0"/>
          <c:val>
            <c:numRef>
              <c:f>Sheet1!$A$5:$G$5</c:f>
              <c:numCache>
                <c:formatCode>General</c:formatCode>
                <c:ptCount val="7"/>
                <c:pt idx="0">
                  <c:v>8.1800000000000068</c:v>
                </c:pt>
                <c:pt idx="2">
                  <c:v>10.180000000000007</c:v>
                </c:pt>
                <c:pt idx="4">
                  <c:v>13</c:v>
                </c:pt>
                <c:pt idx="6">
                  <c:v>18</c:v>
                </c:pt>
              </c:numCache>
            </c:numRef>
          </c:val>
          <c:extLst>
            <c:ext xmlns:c16="http://schemas.microsoft.com/office/drawing/2014/chart" uri="{C3380CC4-5D6E-409C-BE32-E72D297353CC}">
              <c16:uniqueId val="{0000000F-74A5-485A-BFA0-A3A42D3B4D68}"/>
            </c:ext>
          </c:extLst>
        </c:ser>
        <c:ser>
          <c:idx val="5"/>
          <c:order val="5"/>
          <c:spPr>
            <a:solidFill>
              <a:srgbClr val="012169"/>
            </a:solidFill>
            <a:ln>
              <a:noFill/>
            </a:ln>
          </c:spPr>
          <c:invertIfNegative val="0"/>
          <c:dLbls>
            <c:dLbl>
              <c:idx val="4"/>
              <c:layout>
                <c:manualLayout>
                  <c:x val="1.9574944071588368E-2"/>
                  <c:y val="0"/>
                </c:manualLayout>
              </c:layout>
              <c:numFmt formatCode="#,##0;&quot;-&quot;#,##0" sourceLinked="0"/>
              <c:spPr>
                <a:noFill/>
                <a:ln>
                  <a:noFill/>
                </a:ln>
              </c:spPr>
              <c:txPr>
                <a:bodyPr wrap="none"/>
                <a:lstStyle/>
                <a:p>
                  <a:pPr>
                    <a:defRPr lang="ja-JP" sz="1200" kern="1200">
                      <a:solidFill>
                        <a:schemeClr val="bg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74A5-485A-BFA0-A3A42D3B4D68}"/>
                </c:ext>
              </c:extLst>
            </c:dLbl>
            <c:dLbl>
              <c:idx val="6"/>
              <c:layout>
                <c:manualLayout>
                  <c:x val="-1.9574944071588368E-2"/>
                  <c:y val="0"/>
                </c:manualLayout>
              </c:layout>
              <c:numFmt formatCode="#,##0;&quot;-&quot;#,##0" sourceLinked="0"/>
              <c:spPr>
                <a:noFill/>
                <a:ln>
                  <a:noFill/>
                </a:ln>
              </c:spPr>
              <c:txPr>
                <a:bodyPr wrap="none"/>
                <a:lstStyle/>
                <a:p>
                  <a:pPr>
                    <a:defRPr lang="ja-JP" sz="1200" kern="1200">
                      <a:solidFill>
                        <a:schemeClr val="bg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74A5-485A-BFA0-A3A42D3B4D68}"/>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Sheet1!$A$6:$G$6</c:f>
              <c:numCache>
                <c:formatCode>General</c:formatCode>
                <c:ptCount val="7"/>
                <c:pt idx="0">
                  <c:v>46.928169999999994</c:v>
                </c:pt>
                <c:pt idx="2">
                  <c:v>48.928170000000023</c:v>
                </c:pt>
                <c:pt idx="4">
                  <c:v>54</c:v>
                </c:pt>
                <c:pt idx="6">
                  <c:v>63</c:v>
                </c:pt>
              </c:numCache>
            </c:numRef>
          </c:val>
          <c:extLst>
            <c:ext xmlns:c16="http://schemas.microsoft.com/office/drawing/2014/chart" uri="{C3380CC4-5D6E-409C-BE32-E72D297353CC}">
              <c16:uniqueId val="{00000012-74A5-485A-BFA0-A3A42D3B4D68}"/>
            </c:ext>
          </c:extLst>
        </c:ser>
        <c:ser>
          <c:idx val="6"/>
          <c:order val="6"/>
          <c:spPr>
            <a:solidFill>
              <a:srgbClr val="FFCD00"/>
            </a:solidFill>
            <a:ln>
              <a:noFill/>
            </a:ln>
          </c:spPr>
          <c:invertIfNegative val="0"/>
          <c:dLbls>
            <c:dLbl>
              <c:idx val="0"/>
              <c:layout>
                <c:manualLayout>
                  <c:x val="0"/>
                  <c:y val="0"/>
                </c:manualLayout>
              </c:layout>
              <c:numFmt formatCode="#,##0;&quot;-&quot;#,##0" sourceLinked="0"/>
              <c:spPr>
                <a:noFill/>
                <a:ln>
                  <a:noFill/>
                </a:ln>
              </c:spPr>
              <c:txPr>
                <a:bodyPr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74A5-485A-BFA0-A3A42D3B4D68}"/>
                </c:ext>
              </c:extLst>
            </c:dLbl>
            <c:dLbl>
              <c:idx val="2"/>
              <c:layout>
                <c:manualLayout>
                  <c:x val="0"/>
                  <c:y val="0"/>
                </c:manualLayout>
              </c:layout>
              <c:numFmt formatCode="#,##0;&quot;-&quot;#,##0" sourceLinked="0"/>
              <c:spPr>
                <a:noFill/>
                <a:ln>
                  <a:noFill/>
                </a:ln>
              </c:spPr>
              <c:txPr>
                <a:bodyPr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74A5-485A-BFA0-A3A42D3B4D68}"/>
                </c:ext>
              </c:extLst>
            </c:dLbl>
            <c:dLbl>
              <c:idx val="4"/>
              <c:layout>
                <c:manualLayout>
                  <c:x val="0"/>
                  <c:y val="0"/>
                </c:manualLayout>
              </c:layout>
              <c:numFmt formatCode="#,##0;&quot;-&quot;#,##0" sourceLinked="0"/>
              <c:spPr>
                <a:noFill/>
                <a:ln>
                  <a:noFill/>
                </a:ln>
              </c:spPr>
              <c:txPr>
                <a:bodyPr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5-74A5-485A-BFA0-A3A42D3B4D68}"/>
                </c:ext>
              </c:extLst>
            </c:dLbl>
            <c:dLbl>
              <c:idx val="6"/>
              <c:layout>
                <c:manualLayout>
                  <c:x val="0"/>
                  <c:y val="-4.3763676148796501E-4"/>
                </c:manualLayout>
              </c:layout>
              <c:numFmt formatCode="#,##0;&quot;-&quot;#,##0" sourceLinked="0"/>
              <c:spPr>
                <a:noFill/>
                <a:ln>
                  <a:noFill/>
                </a:ln>
              </c:spPr>
              <c:txPr>
                <a:bodyPr wrap="none"/>
                <a:lstStyle/>
                <a:p>
                  <a:pPr>
                    <a:defRPr lang="ja-JP" sz="1200" kern="1200">
                      <a:solidFill>
                        <a:schemeClr val="tx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74A5-485A-BFA0-A3A42D3B4D68}"/>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Sheet1!$A$7:$G$7</c:f>
              <c:numCache>
                <c:formatCode>General</c:formatCode>
                <c:ptCount val="7"/>
                <c:pt idx="0">
                  <c:v>81.813600000000008</c:v>
                </c:pt>
                <c:pt idx="2">
                  <c:v>225.81360000000001</c:v>
                </c:pt>
                <c:pt idx="4">
                  <c:v>376</c:v>
                </c:pt>
                <c:pt idx="6">
                  <c:v>570</c:v>
                </c:pt>
              </c:numCache>
            </c:numRef>
          </c:val>
          <c:extLst>
            <c:ext xmlns:c16="http://schemas.microsoft.com/office/drawing/2014/chart" uri="{C3380CC4-5D6E-409C-BE32-E72D297353CC}">
              <c16:uniqueId val="{00000017-74A5-485A-BFA0-A3A42D3B4D68}"/>
            </c:ext>
          </c:extLst>
        </c:ser>
        <c:ser>
          <c:idx val="7"/>
          <c:order val="7"/>
          <c:spPr>
            <a:solidFill>
              <a:srgbClr val="62B5E5"/>
            </a:solidFill>
            <a:ln>
              <a:noFill/>
            </a:ln>
          </c:spPr>
          <c:invertIfNegative val="0"/>
          <c:dLbls>
            <c:dLbl>
              <c:idx val="2"/>
              <c:layout>
                <c:manualLayout>
                  <c:x val="-1.9574944071588368E-2"/>
                  <c:y val="-4.3763676148796501E-4"/>
                </c:manualLayout>
              </c:layout>
              <c:numFmt formatCode="#,##0;&quot;-&quot;#,##0" sourceLinked="0"/>
              <c:spPr>
                <a:noFill/>
                <a:ln>
                  <a:noFill/>
                </a:ln>
              </c:spPr>
              <c:txPr>
                <a:bodyPr wrap="none"/>
                <a:lstStyle/>
                <a:p>
                  <a:pPr>
                    <a:defRPr lang="ja-JP" sz="1200" kern="1200">
                      <a:solidFill>
                        <a:schemeClr val="bg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8-74A5-485A-BFA0-A3A42D3B4D68}"/>
                </c:ext>
              </c:extLst>
            </c:dLbl>
            <c:dLbl>
              <c:idx val="4"/>
              <c:layout>
                <c:manualLayout>
                  <c:x val="0"/>
                  <c:y val="0"/>
                </c:manualLayout>
              </c:layout>
              <c:numFmt formatCode="#,##0;&quot;-&quot;#,##0" sourceLinked="0"/>
              <c:spPr>
                <a:noFill/>
                <a:ln>
                  <a:noFill/>
                </a:ln>
              </c:spPr>
              <c:txPr>
                <a:bodyPr wrap="none"/>
                <a:lstStyle/>
                <a:p>
                  <a:pPr>
                    <a:defRPr lang="ja-JP" sz="1200" kern="1200">
                      <a:solidFill>
                        <a:schemeClr val="bg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9-74A5-485A-BFA0-A3A42D3B4D68}"/>
                </c:ext>
              </c:extLst>
            </c:dLbl>
            <c:dLbl>
              <c:idx val="6"/>
              <c:layout>
                <c:manualLayout>
                  <c:x val="0"/>
                  <c:y val="0"/>
                </c:manualLayout>
              </c:layout>
              <c:numFmt formatCode="#,##0;&quot;-&quot;#,##0" sourceLinked="0"/>
              <c:spPr>
                <a:noFill/>
                <a:ln>
                  <a:noFill/>
                </a:ln>
              </c:spPr>
              <c:txPr>
                <a:bodyPr wrap="none"/>
                <a:lstStyle/>
                <a:p>
                  <a:pPr>
                    <a:defRPr lang="ja-JP" sz="1200" kern="1200">
                      <a:solidFill>
                        <a:schemeClr val="bg1"/>
                      </a:solidFill>
                      <a:latin typeface="+mn-lt"/>
                      <a:ea typeface="+mn-ea"/>
                      <a:cs typeface="Calibri Light"/>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74A5-485A-BFA0-A3A42D3B4D68}"/>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Sheet1!$A$8:$G$8</c:f>
              <c:numCache>
                <c:formatCode>General</c:formatCode>
                <c:ptCount val="7"/>
                <c:pt idx="0">
                  <c:v>45.886509999999987</c:v>
                </c:pt>
                <c:pt idx="2">
                  <c:v>77.386510000000044</c:v>
                </c:pt>
                <c:pt idx="4">
                  <c:v>100</c:v>
                </c:pt>
                <c:pt idx="6">
                  <c:v>140</c:v>
                </c:pt>
              </c:numCache>
            </c:numRef>
          </c:val>
          <c:extLst>
            <c:ext xmlns:c16="http://schemas.microsoft.com/office/drawing/2014/chart" uri="{C3380CC4-5D6E-409C-BE32-E72D297353CC}">
              <c16:uniqueId val="{0000001B-74A5-485A-BFA0-A3A42D3B4D68}"/>
            </c:ext>
          </c:extLst>
        </c:ser>
        <c:ser>
          <c:idx val="8"/>
          <c:order val="8"/>
          <c:spPr>
            <a:solidFill>
              <a:srgbClr val="86BC25"/>
            </a:solidFill>
            <a:ln>
              <a:noFill/>
            </a:ln>
          </c:spPr>
          <c:invertIfNegative val="0"/>
          <c:val>
            <c:numRef>
              <c:f>Sheet1!$A$9:$G$9</c:f>
              <c:numCache>
                <c:formatCode>General</c:formatCode>
                <c:ptCount val="7"/>
                <c:pt idx="0">
                  <c:v>15.944349999999986</c:v>
                </c:pt>
                <c:pt idx="2">
                  <c:v>16.294350000000009</c:v>
                </c:pt>
                <c:pt idx="4">
                  <c:v>17</c:v>
                </c:pt>
                <c:pt idx="6">
                  <c:v>22</c:v>
                </c:pt>
              </c:numCache>
            </c:numRef>
          </c:val>
          <c:extLst>
            <c:ext xmlns:c16="http://schemas.microsoft.com/office/drawing/2014/chart" uri="{C3380CC4-5D6E-409C-BE32-E72D297353CC}">
              <c16:uniqueId val="{0000001C-74A5-485A-BFA0-A3A42D3B4D68}"/>
            </c:ext>
          </c:extLst>
        </c:ser>
        <c:dLbls>
          <c:showLegendKey val="0"/>
          <c:showVal val="0"/>
          <c:showCatName val="0"/>
          <c:showSerName val="0"/>
          <c:showPercent val="0"/>
          <c:showBubbleSize val="0"/>
        </c:dLbls>
        <c:gapWidth val="80"/>
        <c:overlap val="100"/>
        <c:axId val="1313282288"/>
        <c:axId val="1"/>
      </c:barChart>
      <c:catAx>
        <c:axId val="1313282288"/>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200" kern="1200">
                <a:latin typeface="+mn-lt"/>
                <a:ea typeface="+mn-ea"/>
                <a:cs typeface="Calibri Light"/>
              </a:defRPr>
            </a:pPr>
            <a:endParaRPr lang="en-US"/>
          </a:p>
        </c:txPr>
        <c:crossAx val="1"/>
        <c:crosses val="min"/>
        <c:auto val="0"/>
        <c:lblAlgn val="ctr"/>
        <c:lblOffset val="100"/>
        <c:noMultiLvlLbl val="0"/>
      </c:catAx>
      <c:valAx>
        <c:axId val="1"/>
        <c:scaling>
          <c:orientation val="minMax"/>
          <c:max val="1106"/>
          <c:min val="0"/>
        </c:scaling>
        <c:delete val="1"/>
        <c:axPos val="l"/>
        <c:numFmt formatCode="General" sourceLinked="1"/>
        <c:majorTickMark val="out"/>
        <c:minorTickMark val="none"/>
        <c:tickLblPos val="nextTo"/>
        <c:crossAx val="1313282288"/>
        <c:crosses val="min"/>
        <c:crossBetween val="between"/>
      </c:valAx>
    </c:plotArea>
    <c:plotVisOnly val="0"/>
    <c:dispBlanksAs val="gap"/>
    <c:showDLblsOverMax val="1"/>
  </c:chart>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1693077564637198E-2"/>
          <c:y val="8.2750582750582752E-2"/>
          <c:w val="0.9485682513205449"/>
          <c:h val="0.77972027972027969"/>
        </c:manualLayout>
      </c:layout>
      <c:scatterChart>
        <c:scatterStyle val="lineMarker"/>
        <c:varyColors val="0"/>
        <c:ser>
          <c:idx val="0"/>
          <c:order val="0"/>
          <c:spPr>
            <a:ln w="28575" cmpd="sng" algn="ctr">
              <a:solidFill>
                <a:srgbClr val="86BC25"/>
              </a:solidFill>
              <a:prstDash val="solid"/>
            </a:ln>
          </c:spPr>
          <c:marker>
            <c:symbol val="none"/>
          </c:marker>
          <c:xVal>
            <c:numRef>
              <c:f>Sheet1!$A$1:$X$1</c:f>
              <c:numCache>
                <c:formatCode>General</c:formatCode>
                <c:ptCount val="24"/>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numCache>
            </c:numRef>
          </c:xVal>
          <c:yVal>
            <c:numRef>
              <c:f>Sheet1!$A$2:$X$2</c:f>
              <c:numCache>
                <c:formatCode>General</c:formatCode>
                <c:ptCount val="24"/>
                <c:pt idx="0">
                  <c:v>6.7784784659898616</c:v>
                </c:pt>
                <c:pt idx="1">
                  <c:v>5.6855117789976983</c:v>
                </c:pt>
                <c:pt idx="2">
                  <c:v>4.9345947791091058</c:v>
                </c:pt>
                <c:pt idx="3">
                  <c:v>4.4760680467741656</c:v>
                </c:pt>
                <c:pt idx="4">
                  <c:v>4.6321486989861471</c:v>
                </c:pt>
                <c:pt idx="5">
                  <c:v>5.366533899720535</c:v>
                </c:pt>
                <c:pt idx="6">
                  <c:v>5.8731425009913538</c:v>
                </c:pt>
                <c:pt idx="7">
                  <c:v>4.9363500655713137</c:v>
                </c:pt>
                <c:pt idx="8">
                  <c:v>3.726786506775086</c:v>
                </c:pt>
                <c:pt idx="9">
                  <c:v>3.3414615558350484</c:v>
                </c:pt>
                <c:pt idx="10">
                  <c:v>3.2717966949714388</c:v>
                </c:pt>
                <c:pt idx="11">
                  <c:v>3.284898423977586</c:v>
                </c:pt>
                <c:pt idx="12">
                  <c:v>3.2499899661532128</c:v>
                </c:pt>
                <c:pt idx="13">
                  <c:v>3.1314191380390199</c:v>
                </c:pt>
                <c:pt idx="14">
                  <c:v>3.6962008582832651</c:v>
                </c:pt>
                <c:pt idx="15">
                  <c:v>4.4196386625075261</c:v>
                </c:pt>
                <c:pt idx="16">
                  <c:v>4.5682276137761111</c:v>
                </c:pt>
                <c:pt idx="17">
                  <c:v>4.8733987276179409</c:v>
                </c:pt>
                <c:pt idx="18">
                  <c:v>7.4500593673914022</c:v>
                </c:pt>
                <c:pt idx="19">
                  <c:v>9.7335077243527888</c:v>
                </c:pt>
                <c:pt idx="20">
                  <c:v>8.7279311436480285</c:v>
                </c:pt>
                <c:pt idx="21">
                  <c:v>8.6005607478875081</c:v>
                </c:pt>
                <c:pt idx="22">
                  <c:v>8.3611368196681486</c:v>
                </c:pt>
                <c:pt idx="23">
                  <c:v>7.7948885295223578</c:v>
                </c:pt>
              </c:numCache>
            </c:numRef>
          </c:yVal>
          <c:smooth val="0"/>
          <c:extLst>
            <c:ext xmlns:c16="http://schemas.microsoft.com/office/drawing/2014/chart" uri="{C3380CC4-5D6E-409C-BE32-E72D297353CC}">
              <c16:uniqueId val="{00000000-0A07-4FA8-9504-D8B6DF30D98E}"/>
            </c:ext>
          </c:extLst>
        </c:ser>
        <c:ser>
          <c:idx val="1"/>
          <c:order val="1"/>
          <c:spPr>
            <a:ln w="28575" cmpd="sng" algn="ctr">
              <a:solidFill>
                <a:srgbClr val="005587"/>
              </a:solidFill>
              <a:prstDash val="solid"/>
            </a:ln>
          </c:spPr>
          <c:marker>
            <c:symbol val="none"/>
          </c:marker>
          <c:dLbls>
            <c:dLbl>
              <c:idx val="3"/>
              <c:layout>
                <c:manualLayout>
                  <c:x val="0"/>
                  <c:y val="-4.72027972027972E-2"/>
                </c:manualLayout>
              </c:layout>
              <c:numFmt formatCode="#,##0.00;&quot;-&quot;#,##0.00"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A07-4FA8-9504-D8B6DF30D98E}"/>
                </c:ext>
              </c:extLst>
            </c:dLbl>
            <c:dLbl>
              <c:idx val="7"/>
              <c:layout>
                <c:manualLayout>
                  <c:x val="0"/>
                  <c:y val="-4.72027972027972E-2"/>
                </c:manualLayout>
              </c:layout>
              <c:numFmt formatCode="#,##0.00;&quot;-&quot;#,##0.00"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A07-4FA8-9504-D8B6DF30D98E}"/>
                </c:ext>
              </c:extLst>
            </c:dLbl>
            <c:dLbl>
              <c:idx val="13"/>
              <c:layout>
                <c:manualLayout>
                  <c:x val="0"/>
                  <c:y val="-4.72027972027972E-2"/>
                </c:manualLayout>
              </c:layout>
              <c:numFmt formatCode="#,##0.00;&quot;-&quot;#,##0.00"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0A07-4FA8-9504-D8B6DF30D98E}"/>
                </c:ext>
              </c:extLst>
            </c:dLbl>
            <c:dLbl>
              <c:idx val="19"/>
              <c:layout>
                <c:manualLayout>
                  <c:x val="0"/>
                  <c:y val="-4.72027972027972E-2"/>
                </c:manualLayout>
              </c:layout>
              <c:numFmt formatCode="#,##0.00;&quot;-&quot;#,##0.00"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0A07-4FA8-9504-D8B6DF30D98E}"/>
                </c:ext>
              </c:extLst>
            </c:dLbl>
            <c:dLbl>
              <c:idx val="22"/>
              <c:layout>
                <c:manualLayout>
                  <c:x val="0"/>
                  <c:y val="-4.72027972027972E-2"/>
                </c:manualLayout>
              </c:layout>
              <c:numFmt formatCode="#,##0.00;&quot;-&quot;#,##0.00"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0A07-4FA8-9504-D8B6DF30D98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Sheet1!$A$1:$X$1</c:f>
              <c:numCache>
                <c:formatCode>General</c:formatCode>
                <c:ptCount val="24"/>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numCache>
            </c:numRef>
          </c:xVal>
          <c:yVal>
            <c:numRef>
              <c:f>Sheet1!$A$3:$X$3</c:f>
              <c:numCache>
                <c:formatCode>General</c:formatCode>
                <c:ptCount val="24"/>
                <c:pt idx="0">
                  <c:v>7.6613550060763114</c:v>
                </c:pt>
                <c:pt idx="1">
                  <c:v>6.8588296667279565</c:v>
                </c:pt>
                <c:pt idx="2">
                  <c:v>6.0643450203069582</c:v>
                </c:pt>
                <c:pt idx="3">
                  <c:v>5.3692779944787592</c:v>
                </c:pt>
                <c:pt idx="4">
                  <c:v>5.2456989766384003</c:v>
                </c:pt>
                <c:pt idx="5">
                  <c:v>5.7258028180934426</c:v>
                </c:pt>
                <c:pt idx="6">
                  <c:v>5.9872264874739809</c:v>
                </c:pt>
                <c:pt idx="7">
                  <c:v>5.1433607784297468</c:v>
                </c:pt>
                <c:pt idx="8">
                  <c:v>4.1359403437143083</c:v>
                </c:pt>
                <c:pt idx="9">
                  <c:v>4.0515517830801411</c:v>
                </c:pt>
                <c:pt idx="10">
                  <c:v>3.8430198024166806</c:v>
                </c:pt>
                <c:pt idx="11">
                  <c:v>3.7812841510635637</c:v>
                </c:pt>
                <c:pt idx="12">
                  <c:v>3.7556322226823027</c:v>
                </c:pt>
                <c:pt idx="13">
                  <c:v>3.6984361194936026</c:v>
                </c:pt>
                <c:pt idx="14">
                  <c:v>4.3323966301675982</c:v>
                </c:pt>
                <c:pt idx="15">
                  <c:v>4.8910694851071952</c:v>
                </c:pt>
                <c:pt idx="16">
                  <c:v>5.2377158419278853</c:v>
                </c:pt>
                <c:pt idx="17">
                  <c:v>5.5206366923928503</c:v>
                </c:pt>
                <c:pt idx="18">
                  <c:v>6.5080293920019638</c:v>
                </c:pt>
                <c:pt idx="19">
                  <c:v>8.2824339340086528</c:v>
                </c:pt>
                <c:pt idx="20">
                  <c:v>8.3320716543907132</c:v>
                </c:pt>
                <c:pt idx="21">
                  <c:v>8.6694580768745659</c:v>
                </c:pt>
                <c:pt idx="22">
                  <c:v>8.6862603561370531</c:v>
                </c:pt>
                <c:pt idx="23">
                  <c:v>8.4975769443654574</c:v>
                </c:pt>
              </c:numCache>
            </c:numRef>
          </c:yVal>
          <c:smooth val="0"/>
          <c:extLst>
            <c:ext xmlns:c16="http://schemas.microsoft.com/office/drawing/2014/chart" uri="{C3380CC4-5D6E-409C-BE32-E72D297353CC}">
              <c16:uniqueId val="{00000006-0A07-4FA8-9504-D8B6DF30D98E}"/>
            </c:ext>
          </c:extLst>
        </c:ser>
        <c:ser>
          <c:idx val="2"/>
          <c:order val="2"/>
          <c:spPr>
            <a:ln w="28575" cmpd="sng" algn="ctr">
              <a:solidFill>
                <a:srgbClr val="01ABE8"/>
              </a:solidFill>
              <a:prstDash val="solid"/>
            </a:ln>
          </c:spPr>
          <c:marker>
            <c:symbol val="none"/>
          </c:marker>
          <c:dLbls>
            <c:dLbl>
              <c:idx val="3"/>
              <c:layout>
                <c:manualLayout>
                  <c:x val="0"/>
                  <c:y val="4.7785547785547784E-2"/>
                </c:manualLayout>
              </c:layout>
              <c:numFmt formatCode="#,##0.00;&quot;-&quot;#,##0.00"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0A07-4FA8-9504-D8B6DF30D98E}"/>
                </c:ext>
              </c:extLst>
            </c:dLbl>
            <c:dLbl>
              <c:idx val="7"/>
              <c:layout>
                <c:manualLayout>
                  <c:x val="0"/>
                  <c:y val="4.7785547785547784E-2"/>
                </c:manualLayout>
              </c:layout>
              <c:numFmt formatCode="#,##0.00;&quot;-&quot;#,##0.00"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0A07-4FA8-9504-D8B6DF30D98E}"/>
                </c:ext>
              </c:extLst>
            </c:dLbl>
            <c:dLbl>
              <c:idx val="13"/>
              <c:layout>
                <c:manualLayout>
                  <c:x val="0"/>
                  <c:y val="4.7785547785547784E-2"/>
                </c:manualLayout>
              </c:layout>
              <c:numFmt formatCode="#,##0.00;&quot;-&quot;#,##0.00"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0A07-4FA8-9504-D8B6DF30D98E}"/>
                </c:ext>
              </c:extLst>
            </c:dLbl>
            <c:dLbl>
              <c:idx val="22"/>
              <c:layout>
                <c:manualLayout>
                  <c:x val="0"/>
                  <c:y val="4.7785547785547784E-2"/>
                </c:manualLayout>
              </c:layout>
              <c:numFmt formatCode="#,##0.00;&quot;-&quot;#,##0.00"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0A07-4FA8-9504-D8B6DF30D98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Sheet1!$A$1:$X$1</c:f>
              <c:numCache>
                <c:formatCode>General</c:formatCode>
                <c:ptCount val="24"/>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numCache>
            </c:numRef>
          </c:xVal>
          <c:yVal>
            <c:numRef>
              <c:f>Sheet1!$A$4:$X$4</c:f>
              <c:numCache>
                <c:formatCode>General</c:formatCode>
                <c:ptCount val="24"/>
                <c:pt idx="0">
                  <c:v>6.7798152727097047</c:v>
                </c:pt>
                <c:pt idx="1">
                  <c:v>5.4423713130793265</c:v>
                </c:pt>
                <c:pt idx="2">
                  <c:v>4.4723000577211245</c:v>
                </c:pt>
                <c:pt idx="3">
                  <c:v>4.0895122658723571</c:v>
                </c:pt>
                <c:pt idx="4">
                  <c:v>4.0693584893328998</c:v>
                </c:pt>
                <c:pt idx="5">
                  <c:v>3.849791083011707</c:v>
                </c:pt>
                <c:pt idx="6">
                  <c:v>4.3076445141528428</c:v>
                </c:pt>
                <c:pt idx="7">
                  <c:v>3.5916928736023741</c:v>
                </c:pt>
                <c:pt idx="8">
                  <c:v>2.9134705819047468</c:v>
                </c:pt>
                <c:pt idx="9">
                  <c:v>2.6158689139020552</c:v>
                </c:pt>
                <c:pt idx="10">
                  <c:v>2.3850956622961634</c:v>
                </c:pt>
                <c:pt idx="11">
                  <c:v>2.2538047920280802</c:v>
                </c:pt>
                <c:pt idx="12">
                  <c:v>2.1449090114592897</c:v>
                </c:pt>
                <c:pt idx="13">
                  <c:v>2.1125323373769369</c:v>
                </c:pt>
                <c:pt idx="14">
                  <c:v>2.7034988201803629</c:v>
                </c:pt>
                <c:pt idx="15">
                  <c:v>3.154860260606243</c:v>
                </c:pt>
                <c:pt idx="16">
                  <c:v>3.4636627996769249</c:v>
                </c:pt>
                <c:pt idx="17">
                  <c:v>3.9100985042478698</c:v>
                </c:pt>
                <c:pt idx="18">
                  <c:v>5.2851414962138961</c:v>
                </c:pt>
                <c:pt idx="19">
                  <c:v>7.8143410951388947</c:v>
                </c:pt>
                <c:pt idx="20">
                  <c:v>8.1301064000316465</c:v>
                </c:pt>
                <c:pt idx="21">
                  <c:v>8.3962319582695617</c:v>
                </c:pt>
                <c:pt idx="22">
                  <c:v>8.1629814420867977</c:v>
                </c:pt>
                <c:pt idx="23">
                  <c:v>7.924507217498399</c:v>
                </c:pt>
              </c:numCache>
            </c:numRef>
          </c:yVal>
          <c:smooth val="0"/>
          <c:extLst>
            <c:ext xmlns:c16="http://schemas.microsoft.com/office/drawing/2014/chart" uri="{C3380CC4-5D6E-409C-BE32-E72D297353CC}">
              <c16:uniqueId val="{0000000B-0A07-4FA8-9504-D8B6DF30D98E}"/>
            </c:ext>
          </c:extLst>
        </c:ser>
        <c:dLbls>
          <c:showLegendKey val="0"/>
          <c:showVal val="0"/>
          <c:showCatName val="0"/>
          <c:showSerName val="0"/>
          <c:showPercent val="0"/>
          <c:showBubbleSize val="0"/>
        </c:dLbls>
        <c:axId val="4"/>
        <c:axId val="5"/>
      </c:scatterChart>
      <c:valAx>
        <c:axId val="4"/>
        <c:scaling>
          <c:orientation val="minMax"/>
          <c:max val="24"/>
          <c:min val="1"/>
        </c:scaling>
        <c:delete val="0"/>
        <c:axPos val="b"/>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chemeClr val="tx1"/>
                </a:solidFill>
                <a:latin typeface="+mn-lt"/>
                <a:ea typeface="+mn-ea"/>
                <a:cs typeface="+mn-cs"/>
              </a:defRPr>
            </a:pPr>
            <a:endParaRPr lang="en-US"/>
          </a:p>
        </c:txPr>
        <c:crossAx val="5"/>
        <c:crosses val="min"/>
        <c:crossBetween val="midCat"/>
        <c:majorUnit val="1"/>
      </c:valAx>
      <c:valAx>
        <c:axId val="5"/>
        <c:scaling>
          <c:orientation val="minMax"/>
          <c:max val="1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chemeClr val="tx1"/>
                </a:solidFill>
                <a:latin typeface="+mn-lt"/>
                <a:ea typeface="+mn-ea"/>
                <a:cs typeface="+mn-cs"/>
              </a:defRPr>
            </a:pPr>
            <a:endParaRPr lang="en-US"/>
          </a:p>
        </c:txPr>
        <c:crossAx val="4"/>
        <c:crosses val="min"/>
        <c:crossBetween val="midCat"/>
        <c:majorUnit val="1"/>
      </c:valAx>
    </c:plotArea>
    <c:plotVisOnly val="0"/>
    <c:dispBlanksAs val="gap"/>
    <c:showDLblsOverMax val="1"/>
  </c:chart>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dirty="0"/>
              <a:t>Utilization trends of 400kV </a:t>
            </a:r>
            <a:r>
              <a:rPr lang="en-US" dirty="0" err="1"/>
              <a:t>Dhalkebar-Muzzafarpur</a:t>
            </a:r>
            <a:r>
              <a:rPr lang="en-US" dirty="0"/>
              <a:t> lines (in MW) </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Sheet1!$L$16</c:f>
              <c:strCache>
                <c:ptCount val="1"/>
                <c:pt idx="0">
                  <c:v>Max</c:v>
                </c:pt>
              </c:strCache>
            </c:strRef>
          </c:tx>
          <c:spPr>
            <a:ln w="28575" cap="rnd">
              <a:solidFill>
                <a:schemeClr val="accent6"/>
              </a:solidFill>
              <a:round/>
            </a:ln>
            <a:effectLst/>
          </c:spPr>
          <c:marker>
            <c:symbol val="none"/>
          </c:marker>
          <c:dLbls>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Sheet1!$K$17:$K$22</c:f>
              <c:strCache>
                <c:ptCount val="6"/>
                <c:pt idx="0">
                  <c:v>June</c:v>
                </c:pt>
                <c:pt idx="1">
                  <c:v>July</c:v>
                </c:pt>
                <c:pt idx="2">
                  <c:v>August</c:v>
                </c:pt>
                <c:pt idx="3">
                  <c:v>September</c:v>
                </c:pt>
                <c:pt idx="4">
                  <c:v>October</c:v>
                </c:pt>
                <c:pt idx="5">
                  <c:v>November</c:v>
                </c:pt>
              </c:strCache>
            </c:strRef>
          </c:cat>
          <c:val>
            <c:numRef>
              <c:f>Sheet1!$L$17:$L$22</c:f>
              <c:numCache>
                <c:formatCode>0</c:formatCode>
                <c:ptCount val="6"/>
                <c:pt idx="0">
                  <c:v>676</c:v>
                </c:pt>
                <c:pt idx="1">
                  <c:v>794</c:v>
                </c:pt>
                <c:pt idx="2">
                  <c:v>856</c:v>
                </c:pt>
                <c:pt idx="3">
                  <c:v>868</c:v>
                </c:pt>
                <c:pt idx="4">
                  <c:v>462</c:v>
                </c:pt>
                <c:pt idx="5">
                  <c:v>556</c:v>
                </c:pt>
              </c:numCache>
            </c:numRef>
          </c:val>
          <c:smooth val="0"/>
          <c:extLst>
            <c:ext xmlns:c16="http://schemas.microsoft.com/office/drawing/2014/chart" uri="{C3380CC4-5D6E-409C-BE32-E72D297353CC}">
              <c16:uniqueId val="{00000000-E226-4B5A-8AFB-98BBAA4A4674}"/>
            </c:ext>
          </c:extLst>
        </c:ser>
        <c:ser>
          <c:idx val="1"/>
          <c:order val="1"/>
          <c:tx>
            <c:strRef>
              <c:f>Sheet1!$M$16</c:f>
              <c:strCache>
                <c:ptCount val="1"/>
                <c:pt idx="0">
                  <c:v>Min</c:v>
                </c:pt>
              </c:strCache>
            </c:strRef>
          </c:tx>
          <c:spPr>
            <a:ln w="28575" cap="rnd">
              <a:solidFill>
                <a:schemeClr val="accent5"/>
              </a:solidFill>
              <a:round/>
            </a:ln>
            <a:effectLst/>
          </c:spPr>
          <c:marker>
            <c:symbol val="none"/>
          </c:marker>
          <c:dLbls>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Sheet1!$K$17:$K$22</c:f>
              <c:strCache>
                <c:ptCount val="6"/>
                <c:pt idx="0">
                  <c:v>June</c:v>
                </c:pt>
                <c:pt idx="1">
                  <c:v>July</c:v>
                </c:pt>
                <c:pt idx="2">
                  <c:v>August</c:v>
                </c:pt>
                <c:pt idx="3">
                  <c:v>September</c:v>
                </c:pt>
                <c:pt idx="4">
                  <c:v>October</c:v>
                </c:pt>
                <c:pt idx="5">
                  <c:v>November</c:v>
                </c:pt>
              </c:strCache>
            </c:strRef>
          </c:cat>
          <c:val>
            <c:numRef>
              <c:f>Sheet1!$M$17:$M$22</c:f>
              <c:numCache>
                <c:formatCode>0</c:formatCode>
                <c:ptCount val="6"/>
                <c:pt idx="0">
                  <c:v>0</c:v>
                </c:pt>
                <c:pt idx="1">
                  <c:v>18</c:v>
                </c:pt>
                <c:pt idx="2">
                  <c:v>229</c:v>
                </c:pt>
                <c:pt idx="3">
                  <c:v>30</c:v>
                </c:pt>
                <c:pt idx="4">
                  <c:v>0</c:v>
                </c:pt>
                <c:pt idx="5">
                  <c:v>1</c:v>
                </c:pt>
              </c:numCache>
            </c:numRef>
          </c:val>
          <c:smooth val="0"/>
          <c:extLst>
            <c:ext xmlns:c16="http://schemas.microsoft.com/office/drawing/2014/chart" uri="{C3380CC4-5D6E-409C-BE32-E72D297353CC}">
              <c16:uniqueId val="{00000001-E226-4B5A-8AFB-98BBAA4A4674}"/>
            </c:ext>
          </c:extLst>
        </c:ser>
        <c:ser>
          <c:idx val="2"/>
          <c:order val="2"/>
          <c:tx>
            <c:strRef>
              <c:f>Sheet1!$N$16</c:f>
              <c:strCache>
                <c:ptCount val="1"/>
                <c:pt idx="0">
                  <c:v>Avg</c:v>
                </c:pt>
              </c:strCache>
            </c:strRef>
          </c:tx>
          <c:spPr>
            <a:ln w="28575" cap="rnd">
              <a:solidFill>
                <a:schemeClr val="accent4"/>
              </a:solidFill>
              <a:round/>
            </a:ln>
            <a:effectLst/>
          </c:spPr>
          <c:marker>
            <c:symbol val="none"/>
          </c:marker>
          <c:dLbls>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Sheet1!$K$17:$K$22</c:f>
              <c:strCache>
                <c:ptCount val="6"/>
                <c:pt idx="0">
                  <c:v>June</c:v>
                </c:pt>
                <c:pt idx="1">
                  <c:v>July</c:v>
                </c:pt>
                <c:pt idx="2">
                  <c:v>August</c:v>
                </c:pt>
                <c:pt idx="3">
                  <c:v>September</c:v>
                </c:pt>
                <c:pt idx="4">
                  <c:v>October</c:v>
                </c:pt>
                <c:pt idx="5">
                  <c:v>November</c:v>
                </c:pt>
              </c:strCache>
            </c:strRef>
          </c:cat>
          <c:val>
            <c:numRef>
              <c:f>Sheet1!$N$17:$N$22</c:f>
              <c:numCache>
                <c:formatCode>0</c:formatCode>
                <c:ptCount val="6"/>
                <c:pt idx="0">
                  <c:v>267.26666666666665</c:v>
                </c:pt>
                <c:pt idx="1">
                  <c:v>594.70967741935488</c:v>
                </c:pt>
                <c:pt idx="2">
                  <c:v>626.90322580645159</c:v>
                </c:pt>
                <c:pt idx="3">
                  <c:v>608.66666666666663</c:v>
                </c:pt>
                <c:pt idx="4">
                  <c:v>257.29032258064518</c:v>
                </c:pt>
                <c:pt idx="5">
                  <c:v>278.11538461538464</c:v>
                </c:pt>
              </c:numCache>
            </c:numRef>
          </c:val>
          <c:smooth val="0"/>
          <c:extLst>
            <c:ext xmlns:c16="http://schemas.microsoft.com/office/drawing/2014/chart" uri="{C3380CC4-5D6E-409C-BE32-E72D297353CC}">
              <c16:uniqueId val="{00000002-E226-4B5A-8AFB-98BBAA4A4674}"/>
            </c:ext>
          </c:extLst>
        </c:ser>
        <c:dLbls>
          <c:dLblPos val="t"/>
          <c:showLegendKey val="0"/>
          <c:showVal val="1"/>
          <c:showCatName val="0"/>
          <c:showSerName val="0"/>
          <c:showPercent val="0"/>
          <c:showBubbleSize val="0"/>
        </c:dLbls>
        <c:smooth val="0"/>
        <c:axId val="133808959"/>
        <c:axId val="133811359"/>
      </c:lineChart>
      <c:catAx>
        <c:axId val="133808959"/>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33811359"/>
        <c:crosses val="autoZero"/>
        <c:auto val="1"/>
        <c:lblAlgn val="ctr"/>
        <c:lblOffset val="100"/>
        <c:noMultiLvlLbl val="0"/>
      </c:catAx>
      <c:valAx>
        <c:axId val="133811359"/>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33808959"/>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solidFill>
        <a:schemeClr val="tx1"/>
      </a:solidFill>
    </a:ln>
    <a:effectLst/>
  </c:spPr>
  <c:txPr>
    <a:bodyPr/>
    <a:lstStyle/>
    <a:p>
      <a:pPr>
        <a:defRPr>
          <a:solidFill>
            <a:schemeClr val="tx1"/>
          </a:solidFill>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5868725868725868E-2"/>
          <c:y val="0.12791932059447983"/>
          <c:w val="0.9482625482625483"/>
          <c:h val="0.78290870488322717"/>
        </c:manualLayout>
      </c:layout>
      <c:barChart>
        <c:barDir val="col"/>
        <c:grouping val="stacked"/>
        <c:varyColors val="0"/>
        <c:ser>
          <c:idx val="0"/>
          <c:order val="0"/>
          <c:spPr>
            <a:solidFill>
              <a:srgbClr val="86BC25"/>
            </a:solidFill>
            <a:ln>
              <a:noFill/>
            </a:ln>
          </c:spPr>
          <c:invertIfNegative val="0"/>
          <c:dLbls>
            <c:dLbl>
              <c:idx val="0"/>
              <c:layout>
                <c:manualLayout>
                  <c:x val="0"/>
                  <c:y val="-0.25796178343949044"/>
                </c:manualLayout>
              </c:layout>
              <c:numFmt formatCode="#,##0;&quot;-&quot;#,##0" sourceLinked="0"/>
              <c:spPr>
                <a:noFill/>
                <a:ln>
                  <a:noFill/>
                </a:ln>
              </c:spPr>
              <c:txPr>
                <a:bodyPr wrap="none"/>
                <a:lstStyle/>
                <a:p>
                  <a:pPr>
                    <a:defRPr lang="ja-JP" sz="120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22B-485D-88BE-CC8A8405C822}"/>
                </c:ext>
              </c:extLst>
            </c:dLbl>
            <c:dLbl>
              <c:idx val="1"/>
              <c:layout>
                <c:manualLayout>
                  <c:x val="0"/>
                  <c:y val="-0.34129511677282376"/>
                </c:manualLayout>
              </c:layout>
              <c:numFmt formatCode="#,##0;&quot;-&quot;#,##0" sourceLinked="0"/>
              <c:spPr>
                <a:noFill/>
                <a:ln>
                  <a:noFill/>
                </a:ln>
              </c:spPr>
              <c:txPr>
                <a:bodyPr wrap="none"/>
                <a:lstStyle/>
                <a:p>
                  <a:pPr>
                    <a:defRPr lang="ja-JP" sz="120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22B-485D-88BE-CC8A8405C822}"/>
                </c:ext>
              </c:extLst>
            </c:dLbl>
            <c:dLbl>
              <c:idx val="2"/>
              <c:layout>
                <c:manualLayout>
                  <c:x val="0"/>
                  <c:y val="-0.43099787685774948"/>
                </c:manualLayout>
              </c:layout>
              <c:numFmt formatCode="#,##0;&quot;-&quot;#,##0" sourceLinked="0"/>
              <c:spPr>
                <a:noFill/>
                <a:ln>
                  <a:noFill/>
                </a:ln>
              </c:spPr>
              <c:txPr>
                <a:bodyPr wrap="none"/>
                <a:lstStyle/>
                <a:p>
                  <a:pPr>
                    <a:defRPr lang="ja-JP" sz="1200" kern="1200">
                      <a:solidFill>
                        <a:schemeClr val="tx1"/>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22B-485D-88BE-CC8A8405C822}"/>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1381646</c:v>
                </c:pt>
                <c:pt idx="1">
                  <c:v>1907835</c:v>
                </c:pt>
                <c:pt idx="2">
                  <c:v>2473776</c:v>
                </c:pt>
              </c:numCache>
            </c:numRef>
          </c:val>
          <c:extLst>
            <c:ext xmlns:c16="http://schemas.microsoft.com/office/drawing/2014/chart" uri="{C3380CC4-5D6E-409C-BE32-E72D297353CC}">
              <c16:uniqueId val="{00000003-022B-485D-88BE-CC8A8405C822}"/>
            </c:ext>
          </c:extLst>
        </c:ser>
        <c:dLbls>
          <c:showLegendKey val="0"/>
          <c:showVal val="0"/>
          <c:showCatName val="0"/>
          <c:showSerName val="0"/>
          <c:showPercent val="0"/>
          <c:showBubbleSize val="0"/>
        </c:dLbls>
        <c:gapWidth val="150"/>
        <c:overlap val="100"/>
        <c:axId val="1713571263"/>
        <c:axId val="1"/>
      </c:barChart>
      <c:lineChart>
        <c:grouping val="standard"/>
        <c:varyColors val="0"/>
        <c:ser>
          <c:idx val="1"/>
          <c:order val="1"/>
          <c:spPr>
            <a:ln w="28575" cmpd="sng" algn="ctr">
              <a:solidFill>
                <a:srgbClr val="00A3E0"/>
              </a:solidFill>
              <a:prstDash val="solid"/>
            </a:ln>
          </c:spPr>
          <c:marker>
            <c:symbol val="none"/>
          </c:marker>
          <c:val>
            <c:numRef>
              <c:f>Sheet1!$A$2:$C$2</c:f>
              <c:numCache>
                <c:formatCode>General</c:formatCode>
                <c:ptCount val="3"/>
                <c:pt idx="0">
                  <c:v>203115</c:v>
                </c:pt>
                <c:pt idx="1">
                  <c:v>277201</c:v>
                </c:pt>
                <c:pt idx="2">
                  <c:v>366393</c:v>
                </c:pt>
              </c:numCache>
            </c:numRef>
          </c:val>
          <c:smooth val="0"/>
          <c:extLst>
            <c:ext xmlns:c16="http://schemas.microsoft.com/office/drawing/2014/chart" uri="{C3380CC4-5D6E-409C-BE32-E72D297353CC}">
              <c16:uniqueId val="{00000004-022B-485D-88BE-CC8A8405C822}"/>
            </c:ext>
          </c:extLst>
        </c:ser>
        <c:dLbls>
          <c:showLegendKey val="0"/>
          <c:showVal val="0"/>
          <c:showCatName val="0"/>
          <c:showSerName val="0"/>
          <c:showPercent val="0"/>
          <c:showBubbleSize val="0"/>
        </c:dLbls>
        <c:marker val="1"/>
        <c:smooth val="0"/>
        <c:axId val="1713571263"/>
        <c:axId val="1"/>
      </c:lineChart>
      <c:catAx>
        <c:axId val="1713571263"/>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200" kern="1200">
                <a:latin typeface="Arial"/>
                <a:ea typeface="Arial"/>
                <a:cs typeface="Arial"/>
                <a:sym typeface="Arial"/>
              </a:defRPr>
            </a:pPr>
            <a:endParaRPr lang="en-US"/>
          </a:p>
        </c:txPr>
        <c:crossAx val="1"/>
        <c:crosses val="min"/>
        <c:auto val="0"/>
        <c:lblAlgn val="ctr"/>
        <c:lblOffset val="100"/>
        <c:noMultiLvlLbl val="0"/>
      </c:catAx>
      <c:valAx>
        <c:axId val="1"/>
        <c:scaling>
          <c:orientation val="minMax"/>
          <c:max val="2473776"/>
          <c:min val="0"/>
        </c:scaling>
        <c:delete val="1"/>
        <c:axPos val="l"/>
        <c:numFmt formatCode="General" sourceLinked="1"/>
        <c:majorTickMark val="out"/>
        <c:minorTickMark val="none"/>
        <c:tickLblPos val="nextTo"/>
        <c:crossAx val="1713571263"/>
        <c:crosses val="min"/>
        <c:crossBetween val="between"/>
      </c:valAx>
    </c:plotArea>
    <c:plotVisOnly val="0"/>
    <c:dispBlanksAs val="gap"/>
    <c:showDLblsOverMax val="1"/>
  </c:chart>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6481835564053535E-3"/>
          <c:y val="7.5743913435527499E-2"/>
          <c:w val="0.98470363288718932"/>
          <c:h val="0.848512173128945"/>
        </c:manualLayout>
      </c:layout>
      <c:barChart>
        <c:barDir val="col"/>
        <c:grouping val="stacked"/>
        <c:varyColors val="0"/>
        <c:ser>
          <c:idx val="0"/>
          <c:order val="0"/>
          <c:spPr>
            <a:solidFill>
              <a:srgbClr val="046A38"/>
            </a:solidFill>
            <a:ln>
              <a:noFill/>
            </a:ln>
          </c:spPr>
          <c:invertIfNegative val="0"/>
          <c:dPt>
            <c:idx val="3"/>
            <c:invertIfNegative val="0"/>
            <c:bubble3D val="0"/>
            <c:spPr>
              <a:solidFill>
                <a:srgbClr val="86BC25"/>
              </a:solidFill>
              <a:ln>
                <a:noFill/>
              </a:ln>
            </c:spPr>
            <c:extLst>
              <c:ext xmlns:c16="http://schemas.microsoft.com/office/drawing/2014/chart" uri="{C3380CC4-5D6E-409C-BE32-E72D297353CC}">
                <c16:uniqueId val="{00000000-AB2B-4172-922F-4D60E657172C}"/>
              </c:ext>
            </c:extLst>
          </c:dPt>
          <c:dLbls>
            <c:dLbl>
              <c:idx val="3"/>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B2B-4172-922F-4D60E657172C}"/>
                </c:ext>
              </c:extLst>
            </c:dLbl>
            <c:dLbl>
              <c:idx val="4"/>
              <c:layout>
                <c:manualLayout>
                  <c:x val="3.4710986909839682E-2"/>
                  <c:y val="-2.7953110910730387E-2"/>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B2B-4172-922F-4D60E657172C}"/>
                </c:ext>
              </c:extLst>
            </c:dLbl>
            <c:dLbl>
              <c:idx val="5"/>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AB2B-4172-922F-4D60E657172C}"/>
                </c:ext>
              </c:extLst>
            </c:dLbl>
            <c:dLbl>
              <c:idx val="6"/>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AB2B-4172-922F-4D60E657172C}"/>
                </c:ext>
              </c:extLst>
            </c:dLbl>
            <c:dLbl>
              <c:idx val="7"/>
              <c:layout>
                <c:manualLayout>
                  <c:x val="0"/>
                  <c:y val="-4.5085662759242559E-4"/>
                </c:manualLayout>
              </c:layout>
              <c:numFmt formatCode="#,##0;&quot;-&quot;#,##0" sourceLinked="0"/>
              <c:spPr>
                <a:noFill/>
                <a:ln>
                  <a:noFill/>
                </a:ln>
              </c:spPr>
              <c:txPr>
                <a:bodyPr wrap="none"/>
                <a:lstStyle/>
                <a:p>
                  <a:pPr>
                    <a:defRPr lang="ja-JP" sz="1200" kern="1200">
                      <a:solidFill>
                        <a:schemeClr val="bg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AB2B-4172-922F-4D60E657172C}"/>
                </c:ext>
              </c:extLst>
            </c:dLbl>
            <c:dLbl>
              <c:idx val="8"/>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AB2B-4172-922F-4D60E657172C}"/>
                </c:ext>
              </c:extLst>
            </c:dLbl>
            <c:dLbl>
              <c:idx val="9"/>
              <c:layout>
                <c:manualLayout>
                  <c:x val="0"/>
                  <c:y val="0"/>
                </c:manualLayout>
              </c:layout>
              <c:numFmt formatCode="#,##0;&quot;-&quot;#,##0" sourceLinked="0"/>
              <c:spPr>
                <a:noFill/>
                <a:ln>
                  <a:noFill/>
                </a:ln>
              </c:spPr>
              <c:txPr>
                <a:bodyPr wrap="none"/>
                <a:lstStyle/>
                <a:p>
                  <a:pPr>
                    <a:defRPr lang="ja-JP" sz="1200" kern="1200">
                      <a:solidFill>
                        <a:schemeClr val="bg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AB2B-4172-922F-4D60E657172C}"/>
                </c:ext>
              </c:extLst>
            </c:dLbl>
            <c:dLbl>
              <c:idx val="10"/>
              <c:layout>
                <c:manualLayout>
                  <c:x val="0"/>
                  <c:y val="-4.5085662759242559E-4"/>
                </c:manualLayout>
              </c:layout>
              <c:numFmt formatCode="#,##0;&quot;-&quot;#,##0" sourceLinked="0"/>
              <c:spPr>
                <a:noFill/>
                <a:ln>
                  <a:noFill/>
                </a:ln>
              </c:spPr>
              <c:txPr>
                <a:bodyPr wrap="none"/>
                <a:lstStyle/>
                <a:p>
                  <a:pPr>
                    <a:defRPr lang="ja-JP" sz="1200" kern="1200">
                      <a:solidFill>
                        <a:schemeClr val="bg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AB2B-4172-922F-4D60E657172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Sheet1!$A$1:$L$1</c:f>
              <c:numCache>
                <c:formatCode>General</c:formatCode>
                <c:ptCount val="12"/>
                <c:pt idx="0">
                  <c:v>10</c:v>
                </c:pt>
                <c:pt idx="1">
                  <c:v>1</c:v>
                </c:pt>
                <c:pt idx="2">
                  <c:v>1</c:v>
                </c:pt>
                <c:pt idx="3">
                  <c:v>1186</c:v>
                </c:pt>
                <c:pt idx="4">
                  <c:v>27</c:v>
                </c:pt>
                <c:pt idx="5">
                  <c:v>163</c:v>
                </c:pt>
                <c:pt idx="6">
                  <c:v>324</c:v>
                </c:pt>
                <c:pt idx="7">
                  <c:v>395</c:v>
                </c:pt>
                <c:pt idx="8">
                  <c:v>349</c:v>
                </c:pt>
                <c:pt idx="9">
                  <c:v>357</c:v>
                </c:pt>
                <c:pt idx="10">
                  <c:v>188</c:v>
                </c:pt>
                <c:pt idx="11">
                  <c:v>19</c:v>
                </c:pt>
              </c:numCache>
            </c:numRef>
          </c:val>
          <c:extLst>
            <c:ext xmlns:c16="http://schemas.microsoft.com/office/drawing/2014/chart" uri="{C3380CC4-5D6E-409C-BE32-E72D297353CC}">
              <c16:uniqueId val="{00000008-AB2B-4172-922F-4D60E657172C}"/>
            </c:ext>
          </c:extLst>
        </c:ser>
        <c:ser>
          <c:idx val="1"/>
          <c:order val="1"/>
          <c:spPr>
            <a:solidFill>
              <a:srgbClr val="86BC25"/>
            </a:solidFill>
            <a:ln>
              <a:noFill/>
            </a:ln>
          </c:spPr>
          <c:invertIfNegative val="0"/>
          <c:dPt>
            <c:idx val="3"/>
            <c:invertIfNegative val="0"/>
            <c:bubble3D val="0"/>
            <c:spPr>
              <a:solidFill>
                <a:srgbClr val="046A38"/>
              </a:solidFill>
              <a:ln>
                <a:noFill/>
              </a:ln>
            </c:spPr>
            <c:extLst>
              <c:ext xmlns:c16="http://schemas.microsoft.com/office/drawing/2014/chart" uri="{C3380CC4-5D6E-409C-BE32-E72D297353CC}">
                <c16:uniqueId val="{00000009-AB2B-4172-922F-4D60E657172C}"/>
              </c:ext>
            </c:extLst>
          </c:dPt>
          <c:dLbls>
            <c:dLbl>
              <c:idx val="0"/>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AB2B-4172-922F-4D60E657172C}"/>
                </c:ext>
              </c:extLst>
            </c:dLbl>
            <c:dLbl>
              <c:idx val="1"/>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AB2B-4172-922F-4D60E657172C}"/>
                </c:ext>
              </c:extLst>
            </c:dLbl>
            <c:dLbl>
              <c:idx val="2"/>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AB2B-4172-922F-4D60E657172C}"/>
                </c:ext>
              </c:extLst>
            </c:dLbl>
            <c:dLbl>
              <c:idx val="4"/>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AB2B-4172-922F-4D60E657172C}"/>
                </c:ext>
              </c:extLst>
            </c:dLbl>
            <c:dLbl>
              <c:idx val="5"/>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AB2B-4172-922F-4D60E657172C}"/>
                </c:ext>
              </c:extLst>
            </c:dLbl>
            <c:dLbl>
              <c:idx val="6"/>
              <c:layout>
                <c:manualLayout>
                  <c:x val="0"/>
                  <c:y val="-4.5085662759242559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AB2B-4172-922F-4D60E657172C}"/>
                </c:ext>
              </c:extLst>
            </c:dLbl>
            <c:dLbl>
              <c:idx val="7"/>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AB2B-4172-922F-4D60E657172C}"/>
                </c:ext>
              </c:extLst>
            </c:dLbl>
            <c:dLbl>
              <c:idx val="8"/>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AB2B-4172-922F-4D60E657172C}"/>
                </c:ext>
              </c:extLst>
            </c:dLbl>
            <c:dLbl>
              <c:idx val="9"/>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AB2B-4172-922F-4D60E657172C}"/>
                </c:ext>
              </c:extLst>
            </c:dLbl>
            <c:dLbl>
              <c:idx val="10"/>
              <c:layout>
                <c:manualLayout>
                  <c:x val="0"/>
                  <c:y val="-4.5085662759242559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AB2B-4172-922F-4D60E657172C}"/>
                </c:ext>
              </c:extLst>
            </c:dLbl>
            <c:dLbl>
              <c:idx val="11"/>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AB2B-4172-922F-4D60E657172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Sheet1!$A$2:$L$2</c:f>
              <c:numCache>
                <c:formatCode>General</c:formatCode>
                <c:ptCount val="12"/>
                <c:pt idx="0">
                  <c:v>1467</c:v>
                </c:pt>
                <c:pt idx="1">
                  <c:v>1452</c:v>
                </c:pt>
                <c:pt idx="2">
                  <c:v>1456</c:v>
                </c:pt>
                <c:pt idx="3">
                  <c:v>0</c:v>
                </c:pt>
                <c:pt idx="4">
                  <c:v>949</c:v>
                </c:pt>
                <c:pt idx="5">
                  <c:v>727</c:v>
                </c:pt>
                <c:pt idx="6">
                  <c:v>657</c:v>
                </c:pt>
                <c:pt idx="7">
                  <c:v>592</c:v>
                </c:pt>
                <c:pt idx="8">
                  <c:v>642</c:v>
                </c:pt>
                <c:pt idx="9">
                  <c:v>836</c:v>
                </c:pt>
                <c:pt idx="10">
                  <c:v>1212</c:v>
                </c:pt>
                <c:pt idx="11">
                  <c:v>1612</c:v>
                </c:pt>
              </c:numCache>
            </c:numRef>
          </c:val>
          <c:extLst>
            <c:ext xmlns:c16="http://schemas.microsoft.com/office/drawing/2014/chart" uri="{C3380CC4-5D6E-409C-BE32-E72D297353CC}">
              <c16:uniqueId val="{00000015-AB2B-4172-922F-4D60E657172C}"/>
            </c:ext>
          </c:extLst>
        </c:ser>
        <c:ser>
          <c:idx val="2"/>
          <c:order val="2"/>
          <c:spPr>
            <a:solidFill>
              <a:srgbClr val="ED8B00"/>
            </a:solidFill>
            <a:ln>
              <a:noFill/>
            </a:ln>
          </c:spPr>
          <c:invertIfNegative val="0"/>
          <c:dLbls>
            <c:dLbl>
              <c:idx val="0"/>
              <c:layout>
                <c:manualLayout>
                  <c:x val="0"/>
                  <c:y val="4.5085662759242559E-4"/>
                </c:manualLayout>
              </c:layout>
              <c:numFmt formatCode="#,##0;&quot;-&quot;#,##0" sourceLinked="0"/>
              <c:spPr>
                <a:noFill/>
                <a:ln>
                  <a:noFill/>
                </a:ln>
              </c:spPr>
              <c:txPr>
                <a:bodyPr wrap="none"/>
                <a:lstStyle/>
                <a:p>
                  <a:pPr>
                    <a:defRPr lang="ja-JP" sz="12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AB2B-4172-922F-4D60E657172C}"/>
                </c:ext>
              </c:extLst>
            </c:dLbl>
            <c:dLbl>
              <c:idx val="1"/>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7-AB2B-4172-922F-4D60E657172C}"/>
                </c:ext>
              </c:extLst>
            </c:dLbl>
            <c:dLbl>
              <c:idx val="2"/>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8-AB2B-4172-922F-4D60E657172C}"/>
                </c:ext>
              </c:extLst>
            </c:dLbl>
            <c:dLbl>
              <c:idx val="3"/>
              <c:layout>
                <c:manualLayout>
                  <c:x val="0"/>
                  <c:y val="4.5085662759242559E-4"/>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9-AB2B-4172-922F-4D60E657172C}"/>
                </c:ext>
              </c:extLst>
            </c:dLbl>
            <c:dLbl>
              <c:idx val="4"/>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AB2B-4172-922F-4D60E657172C}"/>
                </c:ext>
              </c:extLst>
            </c:dLbl>
            <c:dLbl>
              <c:idx val="11"/>
              <c:layout>
                <c:manualLayout>
                  <c:x val="0"/>
                  <c:y val="0"/>
                </c:manualLayout>
              </c:layout>
              <c:numFmt formatCode="#,##0;&quot;-&quot;#,##0" sourceLinked="0"/>
              <c:spPr>
                <a:noFill/>
                <a:ln>
                  <a:noFill/>
                </a:ln>
              </c:spPr>
              <c:txPr>
                <a:bodyPr wrap="none"/>
                <a:lstStyle/>
                <a:p>
                  <a:pPr>
                    <a:defRPr lang="ja-JP" sz="12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B-AB2B-4172-922F-4D60E657172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Sheet1!$A$3:$L$3</c:f>
              <c:numCache>
                <c:formatCode>General</c:formatCode>
                <c:ptCount val="12"/>
                <c:pt idx="0">
                  <c:v>-256</c:v>
                </c:pt>
                <c:pt idx="1">
                  <c:v>-305</c:v>
                </c:pt>
                <c:pt idx="2">
                  <c:v>-418</c:v>
                </c:pt>
                <c:pt idx="3">
                  <c:v>-380</c:v>
                </c:pt>
                <c:pt idx="4">
                  <c:v>-114</c:v>
                </c:pt>
                <c:pt idx="5">
                  <c:v>0</c:v>
                </c:pt>
                <c:pt idx="6">
                  <c:v>0</c:v>
                </c:pt>
                <c:pt idx="7">
                  <c:v>0</c:v>
                </c:pt>
                <c:pt idx="8">
                  <c:v>0</c:v>
                </c:pt>
                <c:pt idx="9">
                  <c:v>0</c:v>
                </c:pt>
                <c:pt idx="10">
                  <c:v>-68</c:v>
                </c:pt>
                <c:pt idx="11">
                  <c:v>-401</c:v>
                </c:pt>
              </c:numCache>
            </c:numRef>
          </c:val>
          <c:extLst>
            <c:ext xmlns:c16="http://schemas.microsoft.com/office/drawing/2014/chart" uri="{C3380CC4-5D6E-409C-BE32-E72D297353CC}">
              <c16:uniqueId val="{0000001C-AB2B-4172-922F-4D60E657172C}"/>
            </c:ext>
          </c:extLst>
        </c:ser>
        <c:dLbls>
          <c:showLegendKey val="0"/>
          <c:showVal val="0"/>
          <c:showCatName val="0"/>
          <c:showSerName val="0"/>
          <c:showPercent val="0"/>
          <c:showBubbleSize val="0"/>
        </c:dLbls>
        <c:gapWidth val="80"/>
        <c:overlap val="100"/>
        <c:axId val="1812010495"/>
        <c:axId val="1"/>
      </c:barChart>
      <c:catAx>
        <c:axId val="1812010495"/>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200" kern="1200">
                <a:latin typeface="Arial"/>
                <a:ea typeface="Arial"/>
                <a:cs typeface="Arial"/>
                <a:sym typeface="Arial"/>
              </a:defRPr>
            </a:pPr>
            <a:endParaRPr lang="en-US"/>
          </a:p>
        </c:txPr>
        <c:crossAx val="1"/>
        <c:crossesAt val="0"/>
        <c:auto val="0"/>
        <c:lblAlgn val="ctr"/>
        <c:lblOffset val="100"/>
        <c:noMultiLvlLbl val="0"/>
      </c:catAx>
      <c:valAx>
        <c:axId val="1"/>
        <c:scaling>
          <c:orientation val="minMax"/>
          <c:max val="1631"/>
          <c:min val="-418"/>
        </c:scaling>
        <c:delete val="1"/>
        <c:axPos val="l"/>
        <c:numFmt formatCode="General" sourceLinked="1"/>
        <c:majorTickMark val="out"/>
        <c:minorTickMark val="none"/>
        <c:tickLblPos val="nextTo"/>
        <c:crossAx val="1812010495"/>
        <c:crosses val="min"/>
        <c:crossBetween val="between"/>
      </c:valAx>
    </c:plotArea>
    <c:plotVisOnly val="0"/>
    <c:dispBlanksAs val="gap"/>
    <c:showDLblsOverMax val="1"/>
  </c:chart>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7486036612414"/>
          <c:y val="6.3643799397011688E-2"/>
          <c:w val="0.55675560836495319"/>
          <c:h val="0.76517504731651176"/>
        </c:manualLayout>
      </c:layout>
      <c:pieChart>
        <c:varyColors val="1"/>
        <c:ser>
          <c:idx val="0"/>
          <c:order val="0"/>
          <c:tx>
            <c:strRef>
              <c:f>Sheet1!$B$1</c:f>
              <c:strCache>
                <c:ptCount val="1"/>
                <c:pt idx="0">
                  <c:v>Column1</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682D-4136-B6D3-7777DDBD209D}"/>
              </c:ext>
            </c:extLst>
          </c:dPt>
          <c:dPt>
            <c:idx val="1"/>
            <c:bubble3D val="0"/>
            <c:spPr>
              <a:solidFill>
                <a:srgbClr val="041E42"/>
              </a:solidFill>
              <a:ln w="19050">
                <a:solidFill>
                  <a:schemeClr val="lt1"/>
                </a:solidFill>
              </a:ln>
              <a:effectLst/>
            </c:spPr>
            <c:extLst>
              <c:ext xmlns:c16="http://schemas.microsoft.com/office/drawing/2014/chart" uri="{C3380CC4-5D6E-409C-BE32-E72D297353CC}">
                <c16:uniqueId val="{00000003-682D-4136-B6D3-7777DDBD209D}"/>
              </c:ext>
            </c:extLst>
          </c:dPt>
          <c:dPt>
            <c:idx val="2"/>
            <c:bubble3D val="0"/>
            <c:spPr>
              <a:solidFill>
                <a:srgbClr val="BBBCBC"/>
              </a:solidFill>
              <a:ln w="19050">
                <a:solidFill>
                  <a:schemeClr val="lt1"/>
                </a:solidFill>
              </a:ln>
              <a:effectLst/>
            </c:spPr>
            <c:extLst>
              <c:ext xmlns:c16="http://schemas.microsoft.com/office/drawing/2014/chart" uri="{C3380CC4-5D6E-409C-BE32-E72D297353CC}">
                <c16:uniqueId val="{00000005-682D-4136-B6D3-7777DDBD209D}"/>
              </c:ext>
            </c:extLst>
          </c:dPt>
          <c:dLbls>
            <c:dLbl>
              <c:idx val="2"/>
              <c:spPr>
                <a:noFill/>
                <a:ln>
                  <a:noFill/>
                </a:ln>
                <a:effectLst/>
              </c:spPr>
              <c:txPr>
                <a:bodyPr rot="0" spcFirstLastPara="1" vertOverflow="ellipsis" vert="horz" wrap="square" anchor="ctr" anchorCtr="1"/>
                <a:lstStyle/>
                <a:p>
                  <a:pPr>
                    <a:defRPr lang="ja-JP" sz="10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5-682D-4136-B6D3-7777DDBD209D}"/>
                </c:ext>
              </c:extLst>
            </c:dLbl>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Promoters</c:v>
                </c:pt>
                <c:pt idx="1">
                  <c:v>Government</c:v>
                </c:pt>
                <c:pt idx="2">
                  <c:v>Bodies corporate</c:v>
                </c:pt>
              </c:strCache>
            </c:strRef>
          </c:cat>
          <c:val>
            <c:numRef>
              <c:f>Sheet1!$B$2:$B$4</c:f>
              <c:numCache>
                <c:formatCode>0.00%</c:formatCode>
                <c:ptCount val="3"/>
                <c:pt idx="0">
                  <c:v>0.6341</c:v>
                </c:pt>
                <c:pt idx="1">
                  <c:v>0.23330000000000001</c:v>
                </c:pt>
                <c:pt idx="2">
                  <c:v>0.13250000000000001</c:v>
                </c:pt>
              </c:numCache>
            </c:numRef>
          </c:val>
          <c:extLst>
            <c:ext xmlns:c16="http://schemas.microsoft.com/office/drawing/2014/chart" uri="{C3380CC4-5D6E-409C-BE32-E72D297353CC}">
              <c16:uniqueId val="{00000006-682D-4136-B6D3-7777DDBD209D}"/>
            </c:ext>
          </c:extLst>
        </c:ser>
        <c:dLbls>
          <c:dLblPos val="ctr"/>
          <c:showLegendKey val="0"/>
          <c:showVal val="1"/>
          <c:showCatName val="0"/>
          <c:showSerName val="0"/>
          <c:showPercent val="0"/>
          <c:showBubbleSize val="0"/>
          <c:showLeaderLines val="1"/>
        </c:dLbls>
        <c:firstSliceAng val="0"/>
      </c:pieChart>
      <c:spPr>
        <a:noFill/>
        <a:ln>
          <a:noFill/>
        </a:ln>
        <a:effectLst/>
      </c:spPr>
    </c:plotArea>
    <c:legend>
      <c:legendPos val="b"/>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7486036612414"/>
          <c:y val="6.3643799397011688E-2"/>
          <c:w val="0.55675560836495319"/>
          <c:h val="0.76517504731651176"/>
        </c:manualLayout>
      </c:layout>
      <c:pieChart>
        <c:varyColors val="1"/>
        <c:ser>
          <c:idx val="0"/>
          <c:order val="0"/>
          <c:tx>
            <c:strRef>
              <c:f>Sheet1!$B$1</c:f>
              <c:strCache>
                <c:ptCount val="1"/>
                <c:pt idx="0">
                  <c:v>Column1</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53D6-4018-9F49-CBA4FC7B5E01}"/>
              </c:ext>
            </c:extLst>
          </c:dPt>
          <c:dPt>
            <c:idx val="1"/>
            <c:bubble3D val="0"/>
            <c:spPr>
              <a:solidFill>
                <a:srgbClr val="041E42"/>
              </a:solidFill>
              <a:ln w="19050">
                <a:solidFill>
                  <a:schemeClr val="lt1"/>
                </a:solidFill>
              </a:ln>
              <a:effectLst/>
            </c:spPr>
            <c:extLst>
              <c:ext xmlns:c16="http://schemas.microsoft.com/office/drawing/2014/chart" uri="{C3380CC4-5D6E-409C-BE32-E72D297353CC}">
                <c16:uniqueId val="{00000003-53D6-4018-9F49-CBA4FC7B5E01}"/>
              </c:ext>
            </c:extLst>
          </c:dPt>
          <c:dPt>
            <c:idx val="2"/>
            <c:bubble3D val="0"/>
            <c:spPr>
              <a:solidFill>
                <a:srgbClr val="BBBCBC"/>
              </a:solidFill>
              <a:ln w="19050">
                <a:solidFill>
                  <a:schemeClr val="lt1"/>
                </a:solidFill>
              </a:ln>
              <a:effectLst/>
            </c:spPr>
            <c:extLst>
              <c:ext xmlns:c16="http://schemas.microsoft.com/office/drawing/2014/chart" uri="{C3380CC4-5D6E-409C-BE32-E72D297353CC}">
                <c16:uniqueId val="{00000005-53D6-4018-9F49-CBA4FC7B5E01}"/>
              </c:ext>
            </c:extLst>
          </c:dPt>
          <c:dLbls>
            <c:dLbl>
              <c:idx val="2"/>
              <c:spPr>
                <a:noFill/>
                <a:ln>
                  <a:noFill/>
                </a:ln>
                <a:effectLst/>
              </c:spPr>
              <c:txPr>
                <a:bodyPr rot="0" spcFirstLastPara="1" vertOverflow="ellipsis" vert="horz" wrap="square" anchor="ctr" anchorCtr="1"/>
                <a:lstStyle/>
                <a:p>
                  <a:pPr>
                    <a:defRPr lang="ja-JP" sz="10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5-53D6-4018-9F49-CBA4FC7B5E01}"/>
                </c:ext>
              </c:extLst>
            </c:dLbl>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Promoters</c:v>
                </c:pt>
                <c:pt idx="1">
                  <c:v>Government</c:v>
                </c:pt>
                <c:pt idx="2">
                  <c:v>Bodies corporate</c:v>
                </c:pt>
              </c:strCache>
            </c:strRef>
          </c:cat>
          <c:val>
            <c:numRef>
              <c:f>Sheet1!$B$2:$B$4</c:f>
              <c:numCache>
                <c:formatCode>0.00%</c:formatCode>
                <c:ptCount val="3"/>
                <c:pt idx="0">
                  <c:v>0.54390000000000005</c:v>
                </c:pt>
                <c:pt idx="1">
                  <c:v>0.23330000000000001</c:v>
                </c:pt>
                <c:pt idx="2">
                  <c:v>0.13250000000000001</c:v>
                </c:pt>
              </c:numCache>
            </c:numRef>
          </c:val>
          <c:extLst>
            <c:ext xmlns:c16="http://schemas.microsoft.com/office/drawing/2014/chart" uri="{C3380CC4-5D6E-409C-BE32-E72D297353CC}">
              <c16:uniqueId val="{00000006-53D6-4018-9F49-CBA4FC7B5E01}"/>
            </c:ext>
          </c:extLst>
        </c:ser>
        <c:dLbls>
          <c:dLblPos val="ctr"/>
          <c:showLegendKey val="0"/>
          <c:showVal val="1"/>
          <c:showCatName val="0"/>
          <c:showSerName val="0"/>
          <c:showPercent val="0"/>
          <c:showBubbleSize val="0"/>
          <c:showLeaderLines val="1"/>
        </c:dLbls>
        <c:firstSliceAng val="0"/>
      </c:pieChart>
      <c:spPr>
        <a:noFill/>
        <a:ln>
          <a:noFill/>
        </a:ln>
        <a:effectLst/>
      </c:spPr>
    </c:plotArea>
    <c:legend>
      <c:legendPos val="b"/>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61053930405549E-2"/>
          <c:y val="5.7604405428796968E-2"/>
          <c:w val="0.55675560836495319"/>
          <c:h val="0.76517504731651176"/>
        </c:manualLayout>
      </c:layout>
      <c:pieChart>
        <c:varyColors val="1"/>
        <c:ser>
          <c:idx val="0"/>
          <c:order val="0"/>
          <c:tx>
            <c:strRef>
              <c:f>Sheet1!$B$1</c:f>
              <c:strCache>
                <c:ptCount val="1"/>
                <c:pt idx="0">
                  <c:v>Column1</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51CA-49D2-A877-7D7B1E7B7D32}"/>
              </c:ext>
            </c:extLst>
          </c:dPt>
          <c:dPt>
            <c:idx val="1"/>
            <c:bubble3D val="0"/>
            <c:spPr>
              <a:solidFill>
                <a:srgbClr val="041E42"/>
              </a:solidFill>
              <a:ln w="19050">
                <a:solidFill>
                  <a:schemeClr val="lt1"/>
                </a:solidFill>
              </a:ln>
              <a:effectLst/>
            </c:spPr>
            <c:extLst>
              <c:ext xmlns:c16="http://schemas.microsoft.com/office/drawing/2014/chart" uri="{C3380CC4-5D6E-409C-BE32-E72D297353CC}">
                <c16:uniqueId val="{00000003-51CA-49D2-A877-7D7B1E7B7D32}"/>
              </c:ext>
            </c:extLst>
          </c:dPt>
          <c:dPt>
            <c:idx val="2"/>
            <c:bubble3D val="0"/>
            <c:spPr>
              <a:solidFill>
                <a:srgbClr val="BBBCBC"/>
              </a:solidFill>
              <a:ln w="19050">
                <a:solidFill>
                  <a:schemeClr val="lt1"/>
                </a:solidFill>
              </a:ln>
              <a:effectLst/>
            </c:spPr>
            <c:extLst>
              <c:ext xmlns:c16="http://schemas.microsoft.com/office/drawing/2014/chart" uri="{C3380CC4-5D6E-409C-BE32-E72D297353CC}">
                <c16:uniqueId val="{00000005-51CA-49D2-A877-7D7B1E7B7D32}"/>
              </c:ext>
            </c:extLst>
          </c:dPt>
          <c:dPt>
            <c:idx val="3"/>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7-51CA-49D2-A877-7D7B1E7B7D32}"/>
              </c:ext>
            </c:extLst>
          </c:dPt>
          <c:dPt>
            <c:idx val="4"/>
            <c:bubble3D val="0"/>
            <c:spPr>
              <a:solidFill>
                <a:srgbClr val="FFCD00"/>
              </a:solidFill>
              <a:ln w="19050">
                <a:solidFill>
                  <a:schemeClr val="lt1"/>
                </a:solidFill>
              </a:ln>
              <a:effectLst/>
            </c:spPr>
            <c:extLst>
              <c:ext xmlns:c16="http://schemas.microsoft.com/office/drawing/2014/chart" uri="{C3380CC4-5D6E-409C-BE32-E72D297353CC}">
                <c16:uniqueId val="{00000009-51CA-49D2-A877-7D7B1E7B7D32}"/>
              </c:ext>
            </c:extLst>
          </c:dPt>
          <c:dPt>
            <c:idx val="5"/>
            <c:bubble3D val="0"/>
            <c:spPr>
              <a:solidFill>
                <a:schemeClr val="accent5">
                  <a:lumMod val="60000"/>
                </a:schemeClr>
              </a:solidFill>
              <a:ln w="19050">
                <a:solidFill>
                  <a:schemeClr val="lt1"/>
                </a:solidFill>
              </a:ln>
              <a:effectLst/>
            </c:spPr>
            <c:extLst>
              <c:ext xmlns:c16="http://schemas.microsoft.com/office/drawing/2014/chart" uri="{C3380CC4-5D6E-409C-BE32-E72D297353CC}">
                <c16:uniqueId val="{0000000B-51CA-49D2-A877-7D7B1E7B7D32}"/>
              </c:ext>
            </c:extLst>
          </c:dPt>
          <c:dLbls>
            <c:dLbl>
              <c:idx val="2"/>
              <c:layout>
                <c:manualLayout>
                  <c:x val="0.13559658664289781"/>
                  <c:y val="-0.18477121634345606"/>
                </c:manualLayout>
              </c:layout>
              <c:spPr>
                <a:noFill/>
                <a:ln>
                  <a:noFill/>
                </a:ln>
                <a:effectLst/>
              </c:spPr>
              <c:txPr>
                <a:bodyPr rot="0" spcFirstLastPara="1" vertOverflow="ellipsis" vert="horz" wrap="square" anchor="ctr" anchorCtr="1"/>
                <a:lstStyle/>
                <a:p>
                  <a:pPr>
                    <a:defRPr lang="ja-JP" sz="1000" b="0" i="0" u="none" strike="noStrike" kern="1200" baseline="0">
                      <a:solidFill>
                        <a:schemeClr val="tx1"/>
                      </a:solidFill>
                      <a:latin typeface="+mn-lt"/>
                      <a:ea typeface="+mn-ea"/>
                      <a:cs typeface="+mn-cs"/>
                    </a:defRPr>
                  </a:pPr>
                  <a:endParaRPr lang="en-US"/>
                </a:p>
              </c:txPr>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1CA-49D2-A877-7D7B1E7B7D32}"/>
                </c:ext>
              </c:extLst>
            </c:dLbl>
            <c:dLbl>
              <c:idx val="4"/>
              <c:layout>
                <c:manualLayout>
                  <c:x val="0"/>
                  <c:y val="-5.9474239844782818E-2"/>
                </c:manualLayout>
              </c:layout>
              <c:spPr>
                <a:noFill/>
                <a:ln>
                  <a:noFill/>
                </a:ln>
                <a:effectLst/>
              </c:spPr>
              <c:txPr>
                <a:bodyPr rot="0" spcFirstLastPara="1" vertOverflow="ellipsis" vert="horz" wrap="square" anchor="ctr" anchorCtr="1"/>
                <a:lstStyle/>
                <a:p>
                  <a:pPr>
                    <a:defRPr lang="ja-JP" sz="1000" b="0" i="0" u="none" strike="noStrike" kern="1200" baseline="0">
                      <a:solidFill>
                        <a:schemeClr val="tx1"/>
                      </a:solidFill>
                      <a:latin typeface="+mn-lt"/>
                      <a:ea typeface="+mn-ea"/>
                      <a:cs typeface="+mn-cs"/>
                    </a:defRPr>
                  </a:pPr>
                  <a:endParaRPr lang="en-US"/>
                </a:p>
              </c:txPr>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1CA-49D2-A877-7D7B1E7B7D32}"/>
                </c:ext>
              </c:extLst>
            </c:dLbl>
            <c:spPr>
              <a:noFill/>
              <a:ln>
                <a:noFill/>
              </a:ln>
              <a:effectLst/>
            </c:spPr>
            <c:txPr>
              <a:bodyPr rot="0" spcFirstLastPara="1" vertOverflow="ellipsis" vert="horz" wrap="square" anchor="ctr" anchorCtr="1"/>
              <a:lstStyle/>
              <a:p>
                <a:pPr>
                  <a:defRPr lang="ja-JP" sz="10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Sheet1!$A$2:$A$7</c:f>
              <c:strCache>
                <c:ptCount val="6"/>
                <c:pt idx="0">
                  <c:v>Individuals</c:v>
                </c:pt>
                <c:pt idx="1">
                  <c:v>Bodies corporate</c:v>
                </c:pt>
                <c:pt idx="2">
                  <c:v>Mutual funds</c:v>
                </c:pt>
                <c:pt idx="3">
                  <c:v>Financial investors</c:v>
                </c:pt>
                <c:pt idx="4">
                  <c:v>FII</c:v>
                </c:pt>
                <c:pt idx="5">
                  <c:v>Others</c:v>
                </c:pt>
              </c:strCache>
            </c:strRef>
          </c:cat>
          <c:val>
            <c:numRef>
              <c:f>Sheet1!$B$2:$B$7</c:f>
              <c:numCache>
                <c:formatCode>0.00%</c:formatCode>
                <c:ptCount val="6"/>
                <c:pt idx="0">
                  <c:v>0.34260000000000002</c:v>
                </c:pt>
                <c:pt idx="1">
                  <c:v>0.1784</c:v>
                </c:pt>
                <c:pt idx="2">
                  <c:v>0.1361</c:v>
                </c:pt>
                <c:pt idx="3">
                  <c:v>5.0900000000000001E-2</c:v>
                </c:pt>
                <c:pt idx="4">
                  <c:v>1E-3</c:v>
                </c:pt>
                <c:pt idx="5">
                  <c:v>0.29099999999999998</c:v>
                </c:pt>
              </c:numCache>
            </c:numRef>
          </c:val>
          <c:extLst>
            <c:ext xmlns:c16="http://schemas.microsoft.com/office/drawing/2014/chart" uri="{C3380CC4-5D6E-409C-BE32-E72D297353CC}">
              <c16:uniqueId val="{0000000C-51CA-49D2-A877-7D7B1E7B7D32}"/>
            </c:ext>
          </c:extLst>
        </c:ser>
        <c:dLbls>
          <c:dLblPos val="ctr"/>
          <c:showLegendKey val="0"/>
          <c:showVal val="1"/>
          <c:showCatName val="0"/>
          <c:showSerName val="0"/>
          <c:showPercent val="0"/>
          <c:showBubbleSize val="0"/>
          <c:showLeaderLines val="1"/>
        </c:dLbls>
        <c:firstSliceAng val="0"/>
      </c:pieChart>
      <c:spPr>
        <a:noFill/>
        <a:ln>
          <a:noFill/>
        </a:ln>
        <a:effectLst/>
      </c:spPr>
    </c:plotArea>
    <c:legend>
      <c:legendPos val="r"/>
      <c:layout>
        <c:manualLayout>
          <c:xMode val="edge"/>
          <c:yMode val="edge"/>
          <c:x val="0.65959091478440912"/>
          <c:y val="4.4541719372663893E-2"/>
          <c:w val="0.31404283235838171"/>
          <c:h val="0.95319231903217516"/>
        </c:manualLayout>
      </c:layout>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4260089686098655E-2"/>
          <c:y val="3.5064059339177341E-2"/>
          <c:w val="0.87264573991031391"/>
          <c:h val="0.80579905596763313"/>
        </c:manualLayout>
      </c:layout>
      <c:scatterChart>
        <c:scatterStyle val="lineMarker"/>
        <c:varyColors val="0"/>
        <c:ser>
          <c:idx val="0"/>
          <c:order val="0"/>
          <c:spPr>
            <a:ln w="28575" cmpd="sng" algn="ctr">
              <a:solidFill>
                <a:srgbClr val="0097A9"/>
              </a:solidFill>
              <a:prstDash val="solid"/>
            </a:ln>
          </c:spPr>
          <c:marker>
            <c:symbol val="none"/>
          </c:marker>
          <c:xVal>
            <c:numRef>
              <c:f>Sheet1!$A$1:$I$1</c:f>
              <c:numCache>
                <c:formatCode>General</c:formatCode>
                <c:ptCount val="9"/>
                <c:pt idx="0">
                  <c:v>0</c:v>
                </c:pt>
                <c:pt idx="1">
                  <c:v>50</c:v>
                </c:pt>
                <c:pt idx="2">
                  <c:v>100</c:v>
                </c:pt>
                <c:pt idx="3">
                  <c:v>150</c:v>
                </c:pt>
                <c:pt idx="4">
                  <c:v>200</c:v>
                </c:pt>
                <c:pt idx="5">
                  <c:v>250</c:v>
                </c:pt>
                <c:pt idx="6">
                  <c:v>300</c:v>
                </c:pt>
                <c:pt idx="7">
                  <c:v>350</c:v>
                </c:pt>
                <c:pt idx="8">
                  <c:v>400</c:v>
                </c:pt>
              </c:numCache>
            </c:numRef>
          </c:xVal>
          <c:yVal>
            <c:numRef>
              <c:f>Sheet1!$A$2:$I$2</c:f>
              <c:numCache>
                <c:formatCode>General</c:formatCode>
                <c:ptCount val="9"/>
                <c:pt idx="1">
                  <c:v>20000</c:v>
                </c:pt>
                <c:pt idx="2">
                  <c:v>15500</c:v>
                </c:pt>
                <c:pt idx="3">
                  <c:v>10000</c:v>
                </c:pt>
                <c:pt idx="4">
                  <c:v>7000</c:v>
                </c:pt>
                <c:pt idx="5">
                  <c:v>5000</c:v>
                </c:pt>
                <c:pt idx="6">
                  <c:v>3000</c:v>
                </c:pt>
                <c:pt idx="7">
                  <c:v>1500</c:v>
                </c:pt>
                <c:pt idx="8">
                  <c:v>0</c:v>
                </c:pt>
              </c:numCache>
            </c:numRef>
          </c:yVal>
          <c:smooth val="0"/>
          <c:extLst>
            <c:ext xmlns:c16="http://schemas.microsoft.com/office/drawing/2014/chart" uri="{C3380CC4-5D6E-409C-BE32-E72D297353CC}">
              <c16:uniqueId val="{00000000-7F5D-45ED-9B47-BC69208F4F6C}"/>
            </c:ext>
          </c:extLst>
        </c:ser>
        <c:ser>
          <c:idx val="1"/>
          <c:order val="1"/>
          <c:spPr>
            <a:ln w="28575" cmpd="sng" algn="ctr">
              <a:solidFill>
                <a:srgbClr val="ED8B00"/>
              </a:solidFill>
              <a:prstDash val="solid"/>
            </a:ln>
          </c:spPr>
          <c:marker>
            <c:symbol val="none"/>
          </c:marker>
          <c:xVal>
            <c:numRef>
              <c:f>Sheet1!$A$1:$I$1</c:f>
              <c:numCache>
                <c:formatCode>General</c:formatCode>
                <c:ptCount val="9"/>
                <c:pt idx="0">
                  <c:v>0</c:v>
                </c:pt>
                <c:pt idx="1">
                  <c:v>50</c:v>
                </c:pt>
                <c:pt idx="2">
                  <c:v>100</c:v>
                </c:pt>
                <c:pt idx="3">
                  <c:v>150</c:v>
                </c:pt>
                <c:pt idx="4">
                  <c:v>200</c:v>
                </c:pt>
                <c:pt idx="5">
                  <c:v>250</c:v>
                </c:pt>
                <c:pt idx="6">
                  <c:v>300</c:v>
                </c:pt>
                <c:pt idx="7">
                  <c:v>350</c:v>
                </c:pt>
                <c:pt idx="8">
                  <c:v>400</c:v>
                </c:pt>
              </c:numCache>
            </c:numRef>
          </c:xVal>
          <c:yVal>
            <c:numRef>
              <c:f>Sheet1!$A$3:$I$3</c:f>
              <c:numCache>
                <c:formatCode>General</c:formatCode>
                <c:ptCount val="9"/>
                <c:pt idx="0">
                  <c:v>0</c:v>
                </c:pt>
                <c:pt idx="1">
                  <c:v>1000</c:v>
                </c:pt>
                <c:pt idx="2">
                  <c:v>2000</c:v>
                </c:pt>
                <c:pt idx="3">
                  <c:v>3000</c:v>
                </c:pt>
                <c:pt idx="4">
                  <c:v>4000</c:v>
                </c:pt>
                <c:pt idx="5">
                  <c:v>6000</c:v>
                </c:pt>
                <c:pt idx="6">
                  <c:v>13000</c:v>
                </c:pt>
                <c:pt idx="7">
                  <c:v>20000</c:v>
                </c:pt>
              </c:numCache>
            </c:numRef>
          </c:yVal>
          <c:smooth val="0"/>
          <c:extLst>
            <c:ext xmlns:c16="http://schemas.microsoft.com/office/drawing/2014/chart" uri="{C3380CC4-5D6E-409C-BE32-E72D297353CC}">
              <c16:uniqueId val="{00000001-7F5D-45ED-9B47-BC69208F4F6C}"/>
            </c:ext>
          </c:extLst>
        </c:ser>
        <c:dLbls>
          <c:showLegendKey val="0"/>
          <c:showVal val="0"/>
          <c:showCatName val="0"/>
          <c:showSerName val="0"/>
          <c:showPercent val="0"/>
          <c:showBubbleSize val="0"/>
        </c:dLbls>
        <c:axId val="4"/>
        <c:axId val="5"/>
      </c:scatterChart>
      <c:valAx>
        <c:axId val="4"/>
        <c:scaling>
          <c:orientation val="minMax"/>
          <c:max val="400"/>
          <c:min val="0"/>
        </c:scaling>
        <c:delete val="0"/>
        <c:axPos val="b"/>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lang="ja-JP" sz="1000" kern="1200">
                <a:solidFill>
                  <a:schemeClr val="tx1"/>
                </a:solidFill>
                <a:latin typeface="+mn-lt"/>
                <a:ea typeface="+mn-ea"/>
                <a:cs typeface="+mn-cs"/>
              </a:defRPr>
            </a:pPr>
            <a:endParaRPr lang="en-US"/>
          </a:p>
        </c:txPr>
        <c:crossAx val="5"/>
        <c:crosses val="min"/>
        <c:crossBetween val="midCat"/>
        <c:majorUnit val="50"/>
      </c:valAx>
      <c:valAx>
        <c:axId val="5"/>
        <c:scaling>
          <c:orientation val="minMax"/>
          <c:max val="20000"/>
          <c:min val="0"/>
        </c:scaling>
        <c:delete val="1"/>
        <c:axPos val="l"/>
        <c:numFmt formatCode="General" sourceLinked="1"/>
        <c:majorTickMark val="out"/>
        <c:minorTickMark val="none"/>
        <c:tickLblPos val="nextTo"/>
        <c:crossAx val="4"/>
        <c:crosses val="min"/>
        <c:crossBetween val="midCat"/>
      </c:valAx>
    </c:plotArea>
    <c:plotVisOnly val="0"/>
    <c:dispBlanksAs val="gap"/>
    <c:showDLblsOverMax val="1"/>
  </c:chart>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3151623473339288E-2"/>
          <c:y val="0.19150943396226416"/>
          <c:w val="0.92910336610068511"/>
          <c:h val="0.66226415094339619"/>
        </c:manualLayout>
      </c:layout>
      <c:barChart>
        <c:barDir val="col"/>
        <c:grouping val="clustered"/>
        <c:varyColors val="0"/>
        <c:ser>
          <c:idx val="0"/>
          <c:order val="0"/>
          <c:spPr>
            <a:solidFill>
              <a:srgbClr val="C4D600"/>
            </a:solidFill>
            <a:ln>
              <a:noFill/>
            </a:ln>
          </c:spPr>
          <c:invertIfNegative val="0"/>
          <c:val>
            <c:numRef>
              <c:f>Sheet1!$A$1:$G$1</c:f>
              <c:numCache>
                <c:formatCode>General</c:formatCode>
                <c:ptCount val="7"/>
                <c:pt idx="0">
                  <c:v>3866</c:v>
                </c:pt>
                <c:pt idx="2">
                  <c:v>7601</c:v>
                </c:pt>
                <c:pt idx="6">
                  <c:v>12999</c:v>
                </c:pt>
              </c:numCache>
            </c:numRef>
          </c:val>
          <c:extLst>
            <c:ext xmlns:c16="http://schemas.microsoft.com/office/drawing/2014/chart" uri="{C3380CC4-5D6E-409C-BE32-E72D297353CC}">
              <c16:uniqueId val="{00000000-8507-4098-992A-9BF0441B515C}"/>
            </c:ext>
          </c:extLst>
        </c:ser>
        <c:ser>
          <c:idx val="1"/>
          <c:order val="1"/>
          <c:spPr>
            <a:solidFill>
              <a:srgbClr val="6FC2B4"/>
            </a:solidFill>
            <a:ln>
              <a:noFill/>
            </a:ln>
          </c:spPr>
          <c:invertIfNegative val="0"/>
          <c:val>
            <c:numRef>
              <c:f>Sheet1!$A$2:$G$2</c:f>
              <c:numCache>
                <c:formatCode>General</c:formatCode>
                <c:ptCount val="7"/>
                <c:pt idx="0">
                  <c:v>3866</c:v>
                </c:pt>
                <c:pt idx="2">
                  <c:v>8111</c:v>
                </c:pt>
                <c:pt idx="6">
                  <c:v>14864</c:v>
                </c:pt>
              </c:numCache>
            </c:numRef>
          </c:val>
          <c:extLst>
            <c:ext xmlns:c16="http://schemas.microsoft.com/office/drawing/2014/chart" uri="{C3380CC4-5D6E-409C-BE32-E72D297353CC}">
              <c16:uniqueId val="{00000001-8507-4098-992A-9BF0441B515C}"/>
            </c:ext>
          </c:extLst>
        </c:ser>
        <c:ser>
          <c:idx val="2"/>
          <c:order val="2"/>
          <c:spPr>
            <a:solidFill>
              <a:srgbClr val="A0DCFF"/>
            </a:solidFill>
            <a:ln>
              <a:noFill/>
            </a:ln>
          </c:spPr>
          <c:invertIfNegative val="0"/>
          <c:val>
            <c:numRef>
              <c:f>Sheet1!$A$3:$G$3</c:f>
              <c:numCache>
                <c:formatCode>General</c:formatCode>
                <c:ptCount val="7"/>
                <c:pt idx="0">
                  <c:v>3866</c:v>
                </c:pt>
                <c:pt idx="2">
                  <c:v>8523</c:v>
                </c:pt>
                <c:pt idx="6">
                  <c:v>16546</c:v>
                </c:pt>
              </c:numCache>
            </c:numRef>
          </c:val>
          <c:extLst>
            <c:ext xmlns:c16="http://schemas.microsoft.com/office/drawing/2014/chart" uri="{C3380CC4-5D6E-409C-BE32-E72D297353CC}">
              <c16:uniqueId val="{00000002-8507-4098-992A-9BF0441B515C}"/>
            </c:ext>
          </c:extLst>
        </c:ser>
        <c:ser>
          <c:idx val="3"/>
          <c:order val="3"/>
          <c:spPr>
            <a:solidFill>
              <a:srgbClr val="007680"/>
            </a:solidFill>
            <a:ln>
              <a:noFill/>
            </a:ln>
          </c:spPr>
          <c:invertIfNegative val="0"/>
          <c:val>
            <c:numRef>
              <c:f>Sheet1!$A$4:$G$4</c:f>
              <c:numCache>
                <c:formatCode>General</c:formatCode>
                <c:ptCount val="7"/>
                <c:pt idx="0">
                  <c:v>3866</c:v>
                </c:pt>
                <c:pt idx="2">
                  <c:v>14871</c:v>
                </c:pt>
                <c:pt idx="6">
                  <c:v>22432</c:v>
                </c:pt>
              </c:numCache>
            </c:numRef>
          </c:val>
          <c:extLst>
            <c:ext xmlns:c16="http://schemas.microsoft.com/office/drawing/2014/chart" uri="{C3380CC4-5D6E-409C-BE32-E72D297353CC}">
              <c16:uniqueId val="{00000003-8507-4098-992A-9BF0441B515C}"/>
            </c:ext>
          </c:extLst>
        </c:ser>
        <c:ser>
          <c:idx val="4"/>
          <c:order val="4"/>
          <c:spPr>
            <a:solidFill>
              <a:srgbClr val="012169"/>
            </a:solidFill>
            <a:ln>
              <a:noFill/>
            </a:ln>
          </c:spPr>
          <c:invertIfNegative val="0"/>
          <c:dLbls>
            <c:dLbl>
              <c:idx val="2"/>
              <c:layout>
                <c:manualLayout>
                  <c:x val="0"/>
                  <c:y val="-0.26792452830188679"/>
                </c:manualLayout>
              </c:layout>
              <c:numFmt formatCode="#,##0;&quot;-&quot;#,##0" sourceLinked="0"/>
              <c:spPr>
                <a:noFill/>
                <a:ln>
                  <a:noFill/>
                </a:ln>
              </c:spPr>
              <c:txPr>
                <a:bodyPr wrap="none"/>
                <a:lstStyle/>
                <a:p>
                  <a:pPr>
                    <a:defRPr lang="ja-JP" sz="11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507-4098-992A-9BF0441B515C}"/>
                </c:ext>
              </c:extLst>
            </c:dLbl>
            <c:dLbl>
              <c:idx val="6"/>
              <c:layout>
                <c:manualLayout>
                  <c:x val="0"/>
                  <c:y val="-0.38584905660377361"/>
                </c:manualLayout>
              </c:layout>
              <c:numFmt formatCode="#,##0;&quot;-&quot;#,##0" sourceLinked="0"/>
              <c:spPr>
                <a:noFill/>
                <a:ln>
                  <a:noFill/>
                </a:ln>
              </c:spPr>
              <c:txPr>
                <a:bodyPr wrap="none"/>
                <a:lstStyle/>
                <a:p>
                  <a:pPr>
                    <a:defRPr lang="ja-JP" sz="11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507-4098-992A-9BF0441B515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Sheet1!$A$5:$G$5</c:f>
              <c:numCache>
                <c:formatCode>General</c:formatCode>
                <c:ptCount val="7"/>
                <c:pt idx="0">
                  <c:v>3866</c:v>
                </c:pt>
                <c:pt idx="2">
                  <c:v>15304</c:v>
                </c:pt>
                <c:pt idx="6">
                  <c:v>24265</c:v>
                </c:pt>
              </c:numCache>
            </c:numRef>
          </c:val>
          <c:extLst>
            <c:ext xmlns:c16="http://schemas.microsoft.com/office/drawing/2014/chart" uri="{C3380CC4-5D6E-409C-BE32-E72D297353CC}">
              <c16:uniqueId val="{00000006-8507-4098-992A-9BF0441B515C}"/>
            </c:ext>
          </c:extLst>
        </c:ser>
        <c:ser>
          <c:idx val="5"/>
          <c:order val="5"/>
          <c:spPr>
            <a:solidFill>
              <a:srgbClr val="A7A8AA"/>
            </a:solidFill>
            <a:ln>
              <a:noFill/>
            </a:ln>
          </c:spPr>
          <c:invertIfNegative val="0"/>
          <c:val>
            <c:numRef>
              <c:f>Sheet1!$A$6:$G$6</c:f>
              <c:numCache>
                <c:formatCode>General</c:formatCode>
                <c:ptCount val="7"/>
                <c:pt idx="0">
                  <c:v>4866</c:v>
                </c:pt>
                <c:pt idx="1">
                  <c:v>6704</c:v>
                </c:pt>
                <c:pt idx="2">
                  <c:v>8270</c:v>
                </c:pt>
                <c:pt idx="3">
                  <c:v>8957</c:v>
                </c:pt>
                <c:pt idx="4">
                  <c:v>10454</c:v>
                </c:pt>
                <c:pt idx="5">
                  <c:v>11301</c:v>
                </c:pt>
                <c:pt idx="6">
                  <c:v>12197</c:v>
                </c:pt>
              </c:numCache>
            </c:numRef>
          </c:val>
          <c:extLst>
            <c:ext xmlns:c16="http://schemas.microsoft.com/office/drawing/2014/chart" uri="{C3380CC4-5D6E-409C-BE32-E72D297353CC}">
              <c16:uniqueId val="{00000007-8507-4098-992A-9BF0441B515C}"/>
            </c:ext>
          </c:extLst>
        </c:ser>
        <c:ser>
          <c:idx val="6"/>
          <c:order val="6"/>
          <c:spPr>
            <a:solidFill>
              <a:srgbClr val="53565A"/>
            </a:solidFill>
            <a:ln>
              <a:noFill/>
            </a:ln>
          </c:spPr>
          <c:invertIfNegative val="0"/>
          <c:val>
            <c:numRef>
              <c:f>Sheet1!$A$7:$G$7</c:f>
              <c:numCache>
                <c:formatCode>General</c:formatCode>
                <c:ptCount val="7"/>
                <c:pt idx="0">
                  <c:v>5023</c:v>
                </c:pt>
                <c:pt idx="1">
                  <c:v>6929</c:v>
                </c:pt>
                <c:pt idx="2">
                  <c:v>8863</c:v>
                </c:pt>
                <c:pt idx="3">
                  <c:v>9790</c:v>
                </c:pt>
                <c:pt idx="4">
                  <c:v>11199</c:v>
                </c:pt>
                <c:pt idx="5">
                  <c:v>12365</c:v>
                </c:pt>
                <c:pt idx="6">
                  <c:v>13638</c:v>
                </c:pt>
              </c:numCache>
            </c:numRef>
          </c:val>
          <c:extLst>
            <c:ext xmlns:c16="http://schemas.microsoft.com/office/drawing/2014/chart" uri="{C3380CC4-5D6E-409C-BE32-E72D297353CC}">
              <c16:uniqueId val="{00000008-8507-4098-992A-9BF0441B515C}"/>
            </c:ext>
          </c:extLst>
        </c:ser>
        <c:ser>
          <c:idx val="7"/>
          <c:order val="7"/>
          <c:spPr>
            <a:solidFill>
              <a:srgbClr val="000000"/>
            </a:solidFill>
            <a:ln>
              <a:noFill/>
            </a:ln>
          </c:spPr>
          <c:invertIfNegative val="0"/>
          <c:dLbls>
            <c:dLbl>
              <c:idx val="4"/>
              <c:layout>
                <c:manualLayout>
                  <c:x val="0"/>
                  <c:y val="-0.24056603773584906"/>
                </c:manualLayout>
              </c:layout>
              <c:numFmt formatCode="#,##0;&quot;-&quot;#,##0" sourceLinked="0"/>
              <c:spPr>
                <a:noFill/>
                <a:ln>
                  <a:noFill/>
                </a:ln>
              </c:spPr>
              <c:txPr>
                <a:bodyPr wrap="none"/>
                <a:lstStyle/>
                <a:p>
                  <a:pPr>
                    <a:defRPr lang="ja-JP" sz="1100" kern="1200">
                      <a:solidFill>
                        <a:schemeClr val="tx1"/>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8507-4098-992A-9BF0441B515C}"/>
                </c:ext>
              </c:extLst>
            </c:dLbl>
            <c:dLbl>
              <c:idx val="5"/>
              <c:layout>
                <c:manualLayout>
                  <c:x val="0"/>
                  <c:y val="-0.25849056603773585"/>
                </c:manualLayout>
              </c:layout>
              <c:numFmt formatCode="#,##0;&quot;-&quot;#,##0" sourceLinked="0"/>
              <c:spPr>
                <a:noFill/>
                <a:ln>
                  <a:noFill/>
                </a:ln>
              </c:spPr>
              <c:txPr>
                <a:bodyPr wrap="none"/>
                <a:lstStyle/>
                <a:p>
                  <a:pPr>
                    <a:defRPr lang="ja-JP" sz="1100" kern="1200">
                      <a:solidFill>
                        <a:schemeClr val="tx1"/>
                      </a:solidFill>
                      <a:latin typeface="Arial"/>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8507-4098-992A-9BF0441B515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Sheet1!$A$8:$G$8</c:f>
              <c:numCache>
                <c:formatCode>General</c:formatCode>
                <c:ptCount val="7"/>
                <c:pt idx="4">
                  <c:v>13296</c:v>
                </c:pt>
                <c:pt idx="5">
                  <c:v>14600</c:v>
                </c:pt>
                <c:pt idx="6">
                  <c:v>16690</c:v>
                </c:pt>
              </c:numCache>
            </c:numRef>
          </c:val>
          <c:extLst>
            <c:ext xmlns:c16="http://schemas.microsoft.com/office/drawing/2014/chart" uri="{C3380CC4-5D6E-409C-BE32-E72D297353CC}">
              <c16:uniqueId val="{0000000B-8507-4098-992A-9BF0441B515C}"/>
            </c:ext>
          </c:extLst>
        </c:ser>
        <c:dLbls>
          <c:showLegendKey val="0"/>
          <c:showVal val="0"/>
          <c:showCatName val="0"/>
          <c:showSerName val="0"/>
          <c:showPercent val="0"/>
          <c:showBubbleSize val="0"/>
        </c:dLbls>
        <c:gapWidth val="150"/>
        <c:axId val="1901746208"/>
        <c:axId val="1"/>
      </c:barChart>
      <c:lineChart>
        <c:grouping val="standard"/>
        <c:varyColors val="0"/>
        <c:ser>
          <c:idx val="8"/>
          <c:order val="8"/>
          <c:spPr>
            <a:ln w="28575" cmpd="sng" algn="ctr">
              <a:solidFill>
                <a:srgbClr val="DA291C"/>
              </a:solidFill>
              <a:prstDash val="solid"/>
            </a:ln>
          </c:spPr>
          <c:marker>
            <c:symbol val="none"/>
          </c:marker>
          <c:dPt>
            <c:idx val="0"/>
            <c:marker>
              <c:symbol val="square"/>
              <c:size val="10"/>
              <c:spPr>
                <a:solidFill>
                  <a:srgbClr val="DA291C"/>
                </a:solidFill>
                <a:ln w="9525" cmpd="sng" algn="ctr">
                  <a:solidFill>
                    <a:srgbClr val="DA291C"/>
                  </a:solidFill>
                  <a:prstDash val="solid"/>
                </a:ln>
              </c:spPr>
            </c:marker>
            <c:bubble3D val="0"/>
            <c:extLst>
              <c:ext xmlns:c16="http://schemas.microsoft.com/office/drawing/2014/chart" uri="{C3380CC4-5D6E-409C-BE32-E72D297353CC}">
                <c16:uniqueId val="{0000000C-8507-4098-992A-9BF0441B515C}"/>
              </c:ext>
            </c:extLst>
          </c:dPt>
          <c:dPt>
            <c:idx val="1"/>
            <c:marker>
              <c:symbol val="square"/>
              <c:size val="10"/>
              <c:spPr>
                <a:solidFill>
                  <a:srgbClr val="DA291C"/>
                </a:solidFill>
                <a:ln w="9525" cmpd="sng" algn="ctr">
                  <a:solidFill>
                    <a:srgbClr val="DA291C"/>
                  </a:solidFill>
                  <a:prstDash val="solid"/>
                </a:ln>
              </c:spPr>
            </c:marker>
            <c:bubble3D val="0"/>
            <c:extLst>
              <c:ext xmlns:c16="http://schemas.microsoft.com/office/drawing/2014/chart" uri="{C3380CC4-5D6E-409C-BE32-E72D297353CC}">
                <c16:uniqueId val="{0000000D-8507-4098-992A-9BF0441B515C}"/>
              </c:ext>
            </c:extLst>
          </c:dPt>
          <c:dPt>
            <c:idx val="2"/>
            <c:marker>
              <c:symbol val="square"/>
              <c:size val="10"/>
              <c:spPr>
                <a:solidFill>
                  <a:srgbClr val="DA291C"/>
                </a:solidFill>
                <a:ln w="9525" cmpd="sng" algn="ctr">
                  <a:solidFill>
                    <a:srgbClr val="DA291C"/>
                  </a:solidFill>
                  <a:prstDash val="solid"/>
                </a:ln>
              </c:spPr>
            </c:marker>
            <c:bubble3D val="0"/>
            <c:extLst>
              <c:ext xmlns:c16="http://schemas.microsoft.com/office/drawing/2014/chart" uri="{C3380CC4-5D6E-409C-BE32-E72D297353CC}">
                <c16:uniqueId val="{0000000E-8507-4098-992A-9BF0441B515C}"/>
              </c:ext>
            </c:extLst>
          </c:dPt>
          <c:dPt>
            <c:idx val="3"/>
            <c:marker>
              <c:symbol val="square"/>
              <c:size val="10"/>
              <c:spPr>
                <a:solidFill>
                  <a:srgbClr val="DA291C"/>
                </a:solidFill>
                <a:ln w="9525" cmpd="sng" algn="ctr">
                  <a:solidFill>
                    <a:srgbClr val="DA291C"/>
                  </a:solidFill>
                  <a:prstDash val="solid"/>
                </a:ln>
              </c:spPr>
            </c:marker>
            <c:bubble3D val="0"/>
            <c:extLst>
              <c:ext xmlns:c16="http://schemas.microsoft.com/office/drawing/2014/chart" uri="{C3380CC4-5D6E-409C-BE32-E72D297353CC}">
                <c16:uniqueId val="{0000000F-8507-4098-992A-9BF0441B515C}"/>
              </c:ext>
            </c:extLst>
          </c:dPt>
          <c:dPt>
            <c:idx val="4"/>
            <c:marker>
              <c:symbol val="square"/>
              <c:size val="10"/>
              <c:spPr>
                <a:solidFill>
                  <a:srgbClr val="DA291C"/>
                </a:solidFill>
                <a:ln w="9525" cmpd="sng" algn="ctr">
                  <a:solidFill>
                    <a:srgbClr val="DA291C"/>
                  </a:solidFill>
                  <a:prstDash val="solid"/>
                </a:ln>
              </c:spPr>
            </c:marker>
            <c:bubble3D val="0"/>
            <c:extLst>
              <c:ext xmlns:c16="http://schemas.microsoft.com/office/drawing/2014/chart" uri="{C3380CC4-5D6E-409C-BE32-E72D297353CC}">
                <c16:uniqueId val="{00000010-8507-4098-992A-9BF0441B515C}"/>
              </c:ext>
            </c:extLst>
          </c:dPt>
          <c:dPt>
            <c:idx val="5"/>
            <c:marker>
              <c:symbol val="square"/>
              <c:size val="10"/>
              <c:spPr>
                <a:solidFill>
                  <a:srgbClr val="DA291C"/>
                </a:solidFill>
                <a:ln w="9525" cmpd="sng" algn="ctr">
                  <a:solidFill>
                    <a:srgbClr val="DA291C"/>
                  </a:solidFill>
                  <a:prstDash val="solid"/>
                </a:ln>
              </c:spPr>
            </c:marker>
            <c:bubble3D val="0"/>
            <c:extLst>
              <c:ext xmlns:c16="http://schemas.microsoft.com/office/drawing/2014/chart" uri="{C3380CC4-5D6E-409C-BE32-E72D297353CC}">
                <c16:uniqueId val="{00000011-8507-4098-992A-9BF0441B515C}"/>
              </c:ext>
            </c:extLst>
          </c:dPt>
          <c:dLbls>
            <c:dLbl>
              <c:idx val="0"/>
              <c:layout>
                <c:manualLayout>
                  <c:x val="0"/>
                  <c:y val="-0.12264150943396226"/>
                </c:manualLayout>
              </c:layout>
              <c:numFmt formatCode="#,##0;&quot;-&quot;#,##0" sourceLinked="0"/>
              <c:spPr>
                <a:noFill/>
                <a:ln>
                  <a:noFill/>
                </a:ln>
              </c:spPr>
              <c:txPr>
                <a:bodyPr wrap="none"/>
                <a:lstStyle/>
                <a:p>
                  <a:pPr>
                    <a:defRPr lang="ja-JP" sz="1100" kern="1200">
                      <a:solidFill>
                        <a:srgbClr val="DA291C"/>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8507-4098-992A-9BF0441B515C}"/>
                </c:ext>
              </c:extLst>
            </c:dLbl>
            <c:dLbl>
              <c:idx val="1"/>
              <c:layout>
                <c:manualLayout>
                  <c:x val="0"/>
                  <c:y val="-0.12264150943396226"/>
                </c:manualLayout>
              </c:layout>
              <c:numFmt formatCode="#,##0;&quot;-&quot;#,##0" sourceLinked="0"/>
              <c:spPr>
                <a:noFill/>
                <a:ln>
                  <a:noFill/>
                </a:ln>
              </c:spPr>
              <c:txPr>
                <a:bodyPr wrap="none"/>
                <a:lstStyle/>
                <a:p>
                  <a:pPr>
                    <a:defRPr lang="ja-JP" sz="1100" kern="1200">
                      <a:solidFill>
                        <a:srgbClr val="DA291C"/>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8507-4098-992A-9BF0441B515C}"/>
                </c:ext>
              </c:extLst>
            </c:dLbl>
            <c:dLbl>
              <c:idx val="2"/>
              <c:layout>
                <c:manualLayout>
                  <c:x val="4.7661602621388147E-2"/>
                  <c:y val="-0.12735849056603774"/>
                </c:manualLayout>
              </c:layout>
              <c:numFmt formatCode="#,##0;&quot;-&quot;#,##0" sourceLinked="0"/>
              <c:spPr>
                <a:noFill/>
                <a:ln>
                  <a:noFill/>
                </a:ln>
              </c:spPr>
              <c:txPr>
                <a:bodyPr wrap="none"/>
                <a:lstStyle/>
                <a:p>
                  <a:pPr>
                    <a:defRPr lang="ja-JP" sz="1100" kern="1200">
                      <a:solidFill>
                        <a:srgbClr val="DA291C"/>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8507-4098-992A-9BF0441B515C}"/>
                </c:ext>
              </c:extLst>
            </c:dLbl>
            <c:dLbl>
              <c:idx val="3"/>
              <c:layout>
                <c:manualLayout>
                  <c:x val="0"/>
                  <c:y val="-0.12264150943396226"/>
                </c:manualLayout>
              </c:layout>
              <c:numFmt formatCode="#,##0;&quot;-&quot;#,##0" sourceLinked="0"/>
              <c:spPr>
                <a:noFill/>
                <a:ln>
                  <a:noFill/>
                </a:ln>
              </c:spPr>
              <c:txPr>
                <a:bodyPr wrap="none"/>
                <a:lstStyle/>
                <a:p>
                  <a:pPr>
                    <a:defRPr lang="ja-JP" sz="1100" kern="1200">
                      <a:solidFill>
                        <a:srgbClr val="DA291C"/>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8507-4098-992A-9BF0441B515C}"/>
                </c:ext>
              </c:extLst>
            </c:dLbl>
            <c:dLbl>
              <c:idx val="4"/>
              <c:layout>
                <c:manualLayout>
                  <c:x val="0"/>
                  <c:y val="-0.12264150943396226"/>
                </c:manualLayout>
              </c:layout>
              <c:numFmt formatCode="#,##0;&quot;-&quot;#,##0" sourceLinked="0"/>
              <c:spPr>
                <a:noFill/>
                <a:ln>
                  <a:noFill/>
                </a:ln>
              </c:spPr>
              <c:txPr>
                <a:bodyPr wrap="none"/>
                <a:lstStyle/>
                <a:p>
                  <a:pPr>
                    <a:defRPr lang="ja-JP" sz="1100" kern="1200">
                      <a:solidFill>
                        <a:srgbClr val="DA291C"/>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8507-4098-992A-9BF0441B515C}"/>
                </c:ext>
              </c:extLst>
            </c:dLbl>
            <c:dLbl>
              <c:idx val="5"/>
              <c:layout>
                <c:manualLayout>
                  <c:x val="0"/>
                  <c:y val="-0.12264150943396226"/>
                </c:manualLayout>
              </c:layout>
              <c:numFmt formatCode="#,##0;&quot;-&quot;#,##0" sourceLinked="0"/>
              <c:spPr>
                <a:noFill/>
                <a:ln>
                  <a:noFill/>
                </a:ln>
              </c:spPr>
              <c:txPr>
                <a:bodyPr wrap="none"/>
                <a:lstStyle/>
                <a:p>
                  <a:pPr>
                    <a:defRPr lang="ja-JP" sz="1100" kern="1200">
                      <a:solidFill>
                        <a:srgbClr val="DA291C"/>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8507-4098-992A-9BF0441B515C}"/>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Sheet1!$A$9:$G$9</c:f>
              <c:numCache>
                <c:formatCode>General</c:formatCode>
                <c:ptCount val="7"/>
                <c:pt idx="0">
                  <c:v>3744</c:v>
                </c:pt>
                <c:pt idx="1">
                  <c:v>5560</c:v>
                </c:pt>
                <c:pt idx="2">
                  <c:v>6525</c:v>
                </c:pt>
                <c:pt idx="3">
                  <c:v>7313</c:v>
                </c:pt>
                <c:pt idx="4">
                  <c:v>10693</c:v>
                </c:pt>
                <c:pt idx="5">
                  <c:v>12165</c:v>
                </c:pt>
              </c:numCache>
            </c:numRef>
          </c:val>
          <c:smooth val="0"/>
          <c:extLst>
            <c:ext xmlns:c16="http://schemas.microsoft.com/office/drawing/2014/chart" uri="{C3380CC4-5D6E-409C-BE32-E72D297353CC}">
              <c16:uniqueId val="{00000012-8507-4098-992A-9BF0441B515C}"/>
            </c:ext>
          </c:extLst>
        </c:ser>
        <c:dLbls>
          <c:showLegendKey val="0"/>
          <c:showVal val="0"/>
          <c:showCatName val="0"/>
          <c:showSerName val="0"/>
          <c:showPercent val="0"/>
          <c:showBubbleSize val="0"/>
        </c:dLbls>
        <c:marker val="1"/>
        <c:smooth val="0"/>
        <c:axId val="1901746208"/>
        <c:axId val="1"/>
      </c:lineChart>
      <c:catAx>
        <c:axId val="1901746208"/>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100" kern="1200">
                <a:latin typeface="Arial"/>
                <a:ea typeface="Arial"/>
                <a:cs typeface="Arial"/>
                <a:sym typeface="Arial"/>
              </a:defRPr>
            </a:pPr>
            <a:endParaRPr lang="en-US"/>
          </a:p>
        </c:txPr>
        <c:crossAx val="1"/>
        <c:crosses val="min"/>
        <c:auto val="0"/>
        <c:lblAlgn val="ctr"/>
        <c:lblOffset val="100"/>
        <c:noMultiLvlLbl val="0"/>
      </c:catAx>
      <c:valAx>
        <c:axId val="1"/>
        <c:scaling>
          <c:orientation val="minMax"/>
          <c:max val="250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lang="ja-JP" sz="1100" kern="1200">
                <a:solidFill>
                  <a:schemeClr val="tx1"/>
                </a:solidFill>
                <a:latin typeface="Arial"/>
                <a:ea typeface="+mn-ea"/>
                <a:cs typeface="+mn-cs"/>
                <a:sym typeface="Arial"/>
              </a:defRPr>
            </a:pPr>
            <a:endParaRPr lang="en-US"/>
          </a:p>
        </c:txPr>
        <c:crossAx val="1901746208"/>
        <c:crosses val="min"/>
        <c:crossBetween val="between"/>
        <c:majorUnit val="5000"/>
      </c:valAx>
    </c:plotArea>
    <c:plotVisOnly val="0"/>
    <c:dispBlanksAs val="gap"/>
    <c:showDLblsOverMax val="1"/>
  </c:chart>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0358522639468397E-3"/>
          <c:y val="0.20047732696897375"/>
          <c:w val="0.98392829547210636"/>
          <c:h val="0.59904534606205251"/>
        </c:manualLayout>
      </c:layout>
      <c:areaChart>
        <c:grouping val="standard"/>
        <c:varyColors val="0"/>
        <c:ser>
          <c:idx val="0"/>
          <c:order val="0"/>
          <c:spPr>
            <a:solidFill>
              <a:srgbClr val="86BC25"/>
            </a:solidFill>
            <a:ln>
              <a:noFill/>
            </a:ln>
          </c:spPr>
          <c:dLbls>
            <c:dLbl>
              <c:idx val="0"/>
              <c:layout>
                <c:manualLayout>
                  <c:x val="9.7357440890125171E-3"/>
                  <c:y val="0"/>
                </c:manualLayout>
              </c:layout>
              <c:numFmt formatCode="#,##0.0;&quot;-&quot;#,##0.0" sourceLinked="0"/>
              <c:spPr>
                <a:noFill/>
                <a:ln>
                  <a:noFill/>
                </a:ln>
              </c:spPr>
              <c:txPr>
                <a:bodyPr wrap="none"/>
                <a:lstStyle/>
                <a:p>
                  <a:pPr>
                    <a:defRPr lang="ja-JP" sz="1200" kern="1200">
                      <a:solidFill>
                        <a:schemeClr val="tx1"/>
                      </a:solidFill>
                      <a:latin typeface="Arial"/>
                      <a:ea typeface="Arial"/>
                      <a:cs typeface="Arial"/>
                      <a:sym typeface="Arial"/>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F48-4791-A066-8746F92B0AD2}"/>
                </c:ext>
              </c:extLst>
            </c:dLbl>
            <c:dLbl>
              <c:idx val="2"/>
              <c:layout>
                <c:manualLayout>
                  <c:x val="0"/>
                  <c:y val="0"/>
                </c:manualLayout>
              </c:layout>
              <c:numFmt formatCode="#,##0.0;&quot;-&quot;#,##0.0" sourceLinked="0"/>
              <c:spPr>
                <a:noFill/>
                <a:ln>
                  <a:noFill/>
                </a:ln>
              </c:spPr>
              <c:txPr>
                <a:bodyPr wrap="none"/>
                <a:lstStyle/>
                <a:p>
                  <a:pPr>
                    <a:defRPr lang="ja-JP" sz="1200" kern="1200">
                      <a:solidFill>
                        <a:schemeClr val="tx1"/>
                      </a:solidFill>
                      <a:latin typeface="Arial"/>
                      <a:ea typeface="Arial"/>
                      <a:cs typeface="Arial"/>
                      <a:sym typeface="Arial"/>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F48-4791-A066-8746F92B0AD2}"/>
                </c:ext>
              </c:extLst>
            </c:dLbl>
            <c:dLbl>
              <c:idx val="3"/>
              <c:layout>
                <c:manualLayout>
                  <c:x val="0"/>
                  <c:y val="0"/>
                </c:manualLayout>
              </c:layout>
              <c:numFmt formatCode="#,##0.0;&quot;-&quot;#,##0.0" sourceLinked="0"/>
              <c:spPr>
                <a:noFill/>
                <a:ln>
                  <a:noFill/>
                </a:ln>
              </c:spPr>
              <c:txPr>
                <a:bodyPr wrap="none"/>
                <a:lstStyle/>
                <a:p>
                  <a:pPr>
                    <a:defRPr lang="ja-JP" sz="1200" kern="1200">
                      <a:solidFill>
                        <a:schemeClr val="tx1"/>
                      </a:solidFill>
                      <a:latin typeface="Arial"/>
                      <a:ea typeface="Arial"/>
                      <a:cs typeface="Arial"/>
                      <a:sym typeface="Arial"/>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F48-4791-A066-8746F92B0AD2}"/>
                </c:ext>
              </c:extLst>
            </c:dLbl>
            <c:dLbl>
              <c:idx val="4"/>
              <c:layout>
                <c:manualLayout>
                  <c:x val="0"/>
                  <c:y val="0"/>
                </c:manualLayout>
              </c:layout>
              <c:numFmt formatCode="#,##0.0;&quot;-&quot;#,##0.0" sourceLinked="0"/>
              <c:spPr>
                <a:noFill/>
                <a:ln>
                  <a:noFill/>
                </a:ln>
              </c:spPr>
              <c:txPr>
                <a:bodyPr wrap="none"/>
                <a:lstStyle/>
                <a:p>
                  <a:pPr>
                    <a:defRPr lang="ja-JP" sz="1200" kern="1200">
                      <a:solidFill>
                        <a:schemeClr val="tx1"/>
                      </a:solidFill>
                      <a:latin typeface="Arial"/>
                      <a:ea typeface="Arial"/>
                      <a:cs typeface="Arial"/>
                      <a:sym typeface="Arial"/>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4F48-4791-A066-8746F92B0AD2}"/>
                </c:ext>
              </c:extLst>
            </c:dLbl>
            <c:dLbl>
              <c:idx val="6"/>
              <c:layout>
                <c:manualLayout>
                  <c:x val="0"/>
                  <c:y val="0"/>
                </c:manualLayout>
              </c:layout>
              <c:numFmt formatCode="#,##0.0;&quot;-&quot;#,##0.0" sourceLinked="0"/>
              <c:spPr>
                <a:noFill/>
                <a:ln>
                  <a:noFill/>
                </a:ln>
              </c:spPr>
              <c:txPr>
                <a:bodyPr wrap="none"/>
                <a:lstStyle/>
                <a:p>
                  <a:pPr>
                    <a:defRPr lang="ja-JP" sz="1200" kern="1200">
                      <a:solidFill>
                        <a:schemeClr val="tx1"/>
                      </a:solidFill>
                      <a:latin typeface="Arial"/>
                      <a:ea typeface="Arial"/>
                      <a:cs typeface="Arial"/>
                      <a:sym typeface="Arial"/>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F48-4791-A066-8746F92B0AD2}"/>
                </c:ext>
              </c:extLst>
            </c:dLbl>
            <c:dLbl>
              <c:idx val="7"/>
              <c:layout>
                <c:manualLayout>
                  <c:x val="0"/>
                  <c:y val="0"/>
                </c:manualLayout>
              </c:layout>
              <c:numFmt formatCode="#,##0.0;&quot;-&quot;#,##0.0" sourceLinked="0"/>
              <c:spPr>
                <a:noFill/>
                <a:ln>
                  <a:noFill/>
                </a:ln>
              </c:spPr>
              <c:txPr>
                <a:bodyPr wrap="none"/>
                <a:lstStyle/>
                <a:p>
                  <a:pPr>
                    <a:defRPr lang="ja-JP" sz="1200" kern="1200">
                      <a:solidFill>
                        <a:schemeClr val="tx1"/>
                      </a:solidFill>
                      <a:latin typeface="Arial"/>
                      <a:ea typeface="Arial"/>
                      <a:cs typeface="Arial"/>
                      <a:sym typeface="Arial"/>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4F48-4791-A066-8746F92B0AD2}"/>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4</c:v>
                </c:pt>
                <c:pt idx="1">
                  <c:v>0.4</c:v>
                </c:pt>
                <c:pt idx="2">
                  <c:v>9</c:v>
                </c:pt>
                <c:pt idx="3">
                  <c:v>7.6</c:v>
                </c:pt>
                <c:pt idx="4">
                  <c:v>6.7</c:v>
                </c:pt>
                <c:pt idx="5">
                  <c:v>-2.4</c:v>
                </c:pt>
                <c:pt idx="6">
                  <c:v>4.8</c:v>
                </c:pt>
                <c:pt idx="7">
                  <c:v>5.6</c:v>
                </c:pt>
                <c:pt idx="8">
                  <c:v>2</c:v>
                </c:pt>
              </c:numCache>
            </c:numRef>
          </c:val>
          <c:extLst>
            <c:ext xmlns:c16="http://schemas.microsoft.com/office/drawing/2014/chart" uri="{C3380CC4-5D6E-409C-BE32-E72D297353CC}">
              <c16:uniqueId val="{00000006-4F48-4791-A066-8746F92B0AD2}"/>
            </c:ext>
          </c:extLst>
        </c:ser>
        <c:dLbls>
          <c:showLegendKey val="0"/>
          <c:showVal val="0"/>
          <c:showCatName val="0"/>
          <c:showSerName val="0"/>
          <c:showPercent val="0"/>
          <c:showBubbleSize val="0"/>
        </c:dLbls>
        <c:axId val="1183009599"/>
        <c:axId val="1"/>
      </c:areaChart>
      <c:catAx>
        <c:axId val="1183009599"/>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200" kern="1200">
                <a:latin typeface="Arial"/>
                <a:ea typeface="Arial"/>
                <a:cs typeface="Arial"/>
                <a:sym typeface="Arial"/>
              </a:defRPr>
            </a:pPr>
            <a:endParaRPr lang="en-US"/>
          </a:p>
        </c:txPr>
        <c:crossAx val="1"/>
        <c:crossesAt val="0"/>
        <c:auto val="0"/>
        <c:lblAlgn val="ctr"/>
        <c:lblOffset val="100"/>
        <c:noMultiLvlLbl val="0"/>
      </c:catAx>
      <c:valAx>
        <c:axId val="1"/>
        <c:scaling>
          <c:orientation val="minMax"/>
          <c:max val="9"/>
          <c:min val="-2.4"/>
        </c:scaling>
        <c:delete val="1"/>
        <c:axPos val="l"/>
        <c:numFmt formatCode="General" sourceLinked="1"/>
        <c:majorTickMark val="out"/>
        <c:minorTickMark val="none"/>
        <c:tickLblPos val="nextTo"/>
        <c:crossAx val="1183009599"/>
        <c:crosses val="min"/>
        <c:crossBetween val="midCat"/>
      </c:valAx>
    </c:plotArea>
    <c:plotVisOnly val="0"/>
    <c:dispBlanksAs val="gap"/>
    <c:showDLblsOverMax val="1"/>
  </c:chart>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144037096073033E-2"/>
          <c:y val="8.5540838852097137E-2"/>
          <c:w val="0.93102448920446312"/>
          <c:h val="0.82891832229580575"/>
        </c:manualLayout>
      </c:layout>
      <c:barChart>
        <c:barDir val="col"/>
        <c:grouping val="clustered"/>
        <c:varyColors val="0"/>
        <c:ser>
          <c:idx val="0"/>
          <c:order val="0"/>
          <c:spPr>
            <a:solidFill>
              <a:srgbClr val="C4D600"/>
            </a:solidFill>
            <a:ln>
              <a:noFill/>
            </a:ln>
          </c:spPr>
          <c:invertIfNegative val="0"/>
          <c:val>
            <c:numRef>
              <c:f>Sheet1!$A$1:$G$1</c:f>
              <c:numCache>
                <c:formatCode>General</c:formatCode>
                <c:ptCount val="7"/>
                <c:pt idx="0">
                  <c:v>1721</c:v>
                </c:pt>
                <c:pt idx="2">
                  <c:v>3384</c:v>
                </c:pt>
                <c:pt idx="6">
                  <c:v>5787</c:v>
                </c:pt>
              </c:numCache>
            </c:numRef>
          </c:val>
          <c:extLst>
            <c:ext xmlns:c16="http://schemas.microsoft.com/office/drawing/2014/chart" uri="{C3380CC4-5D6E-409C-BE32-E72D297353CC}">
              <c16:uniqueId val="{00000000-17AA-4313-B76E-F33EF22696BE}"/>
            </c:ext>
          </c:extLst>
        </c:ser>
        <c:ser>
          <c:idx val="1"/>
          <c:order val="1"/>
          <c:spPr>
            <a:solidFill>
              <a:srgbClr val="6FC2B4"/>
            </a:solidFill>
            <a:ln>
              <a:noFill/>
            </a:ln>
          </c:spPr>
          <c:invertIfNegative val="0"/>
          <c:val>
            <c:numRef>
              <c:f>Sheet1!$A$2:$G$2</c:f>
              <c:numCache>
                <c:formatCode>General</c:formatCode>
                <c:ptCount val="7"/>
                <c:pt idx="0">
                  <c:v>1721</c:v>
                </c:pt>
                <c:pt idx="2">
                  <c:v>3611</c:v>
                </c:pt>
                <c:pt idx="6">
                  <c:v>6617</c:v>
                </c:pt>
              </c:numCache>
            </c:numRef>
          </c:val>
          <c:extLst>
            <c:ext xmlns:c16="http://schemas.microsoft.com/office/drawing/2014/chart" uri="{C3380CC4-5D6E-409C-BE32-E72D297353CC}">
              <c16:uniqueId val="{00000001-17AA-4313-B76E-F33EF22696BE}"/>
            </c:ext>
          </c:extLst>
        </c:ser>
        <c:ser>
          <c:idx val="2"/>
          <c:order val="2"/>
          <c:spPr>
            <a:solidFill>
              <a:srgbClr val="A0DCFF"/>
            </a:solidFill>
            <a:ln>
              <a:noFill/>
            </a:ln>
          </c:spPr>
          <c:invertIfNegative val="0"/>
          <c:val>
            <c:numRef>
              <c:f>Sheet1!$A$3:$G$3</c:f>
              <c:numCache>
                <c:formatCode>General</c:formatCode>
                <c:ptCount val="7"/>
                <c:pt idx="0">
                  <c:v>1721</c:v>
                </c:pt>
                <c:pt idx="2">
                  <c:v>3794</c:v>
                </c:pt>
                <c:pt idx="6">
                  <c:v>7366</c:v>
                </c:pt>
              </c:numCache>
            </c:numRef>
          </c:val>
          <c:extLst>
            <c:ext xmlns:c16="http://schemas.microsoft.com/office/drawing/2014/chart" uri="{C3380CC4-5D6E-409C-BE32-E72D297353CC}">
              <c16:uniqueId val="{00000002-17AA-4313-B76E-F33EF22696BE}"/>
            </c:ext>
          </c:extLst>
        </c:ser>
        <c:ser>
          <c:idx val="3"/>
          <c:order val="3"/>
          <c:spPr>
            <a:solidFill>
              <a:srgbClr val="007680"/>
            </a:solidFill>
            <a:ln>
              <a:noFill/>
            </a:ln>
          </c:spPr>
          <c:invertIfNegative val="0"/>
          <c:val>
            <c:numRef>
              <c:f>Sheet1!$A$4:$G$4</c:f>
              <c:numCache>
                <c:formatCode>General</c:formatCode>
                <c:ptCount val="7"/>
                <c:pt idx="0">
                  <c:v>1721</c:v>
                </c:pt>
                <c:pt idx="2">
                  <c:v>6621</c:v>
                </c:pt>
                <c:pt idx="6">
                  <c:v>9987</c:v>
                </c:pt>
              </c:numCache>
            </c:numRef>
          </c:val>
          <c:extLst>
            <c:ext xmlns:c16="http://schemas.microsoft.com/office/drawing/2014/chart" uri="{C3380CC4-5D6E-409C-BE32-E72D297353CC}">
              <c16:uniqueId val="{00000003-17AA-4313-B76E-F33EF22696BE}"/>
            </c:ext>
          </c:extLst>
        </c:ser>
        <c:ser>
          <c:idx val="4"/>
          <c:order val="4"/>
          <c:spPr>
            <a:solidFill>
              <a:srgbClr val="012169"/>
            </a:solidFill>
            <a:ln>
              <a:noFill/>
            </a:ln>
          </c:spPr>
          <c:invertIfNegative val="0"/>
          <c:val>
            <c:numRef>
              <c:f>Sheet1!$A$5:$G$5</c:f>
              <c:numCache>
                <c:formatCode>General</c:formatCode>
                <c:ptCount val="7"/>
                <c:pt idx="0">
                  <c:v>1721</c:v>
                </c:pt>
                <c:pt idx="2">
                  <c:v>6814</c:v>
                </c:pt>
                <c:pt idx="6">
                  <c:v>10803</c:v>
                </c:pt>
              </c:numCache>
            </c:numRef>
          </c:val>
          <c:extLst>
            <c:ext xmlns:c16="http://schemas.microsoft.com/office/drawing/2014/chart" uri="{C3380CC4-5D6E-409C-BE32-E72D297353CC}">
              <c16:uniqueId val="{00000004-17AA-4313-B76E-F33EF22696BE}"/>
            </c:ext>
          </c:extLst>
        </c:ser>
        <c:ser>
          <c:idx val="5"/>
          <c:order val="5"/>
          <c:spPr>
            <a:solidFill>
              <a:srgbClr val="75787B"/>
            </a:solidFill>
            <a:ln>
              <a:noFill/>
            </a:ln>
          </c:spPr>
          <c:invertIfNegative val="0"/>
          <c:val>
            <c:numRef>
              <c:f>Sheet1!$A$6:$G$6</c:f>
              <c:numCache>
                <c:formatCode>General</c:formatCode>
                <c:ptCount val="7"/>
                <c:pt idx="0">
                  <c:v>862</c:v>
                </c:pt>
                <c:pt idx="1">
                  <c:v>1988</c:v>
                </c:pt>
                <c:pt idx="2">
                  <c:v>2225</c:v>
                </c:pt>
                <c:pt idx="3">
                  <c:v>2507</c:v>
                </c:pt>
                <c:pt idx="4">
                  <c:v>3194</c:v>
                </c:pt>
                <c:pt idx="5">
                  <c:v>3194</c:v>
                </c:pt>
                <c:pt idx="6">
                  <c:v>3294</c:v>
                </c:pt>
              </c:numCache>
            </c:numRef>
          </c:val>
          <c:extLst>
            <c:ext xmlns:c16="http://schemas.microsoft.com/office/drawing/2014/chart" uri="{C3380CC4-5D6E-409C-BE32-E72D297353CC}">
              <c16:uniqueId val="{00000005-17AA-4313-B76E-F33EF22696BE}"/>
            </c:ext>
          </c:extLst>
        </c:ser>
        <c:ser>
          <c:idx val="6"/>
          <c:order val="6"/>
          <c:spPr>
            <a:solidFill>
              <a:srgbClr val="000000"/>
            </a:solidFill>
            <a:ln>
              <a:noFill/>
            </a:ln>
          </c:spPr>
          <c:invertIfNegative val="0"/>
          <c:val>
            <c:numRef>
              <c:f>Sheet1!$A$7:$G$7</c:f>
              <c:numCache>
                <c:formatCode>General</c:formatCode>
                <c:ptCount val="7"/>
                <c:pt idx="4">
                  <c:v>3380</c:v>
                </c:pt>
                <c:pt idx="5">
                  <c:v>4100</c:v>
                </c:pt>
                <c:pt idx="6">
                  <c:v>6289</c:v>
                </c:pt>
              </c:numCache>
            </c:numRef>
          </c:val>
          <c:extLst>
            <c:ext xmlns:c16="http://schemas.microsoft.com/office/drawing/2014/chart" uri="{C3380CC4-5D6E-409C-BE32-E72D297353CC}">
              <c16:uniqueId val="{00000006-17AA-4313-B76E-F33EF22696BE}"/>
            </c:ext>
          </c:extLst>
        </c:ser>
        <c:dLbls>
          <c:showLegendKey val="0"/>
          <c:showVal val="0"/>
          <c:showCatName val="0"/>
          <c:showSerName val="0"/>
          <c:showPercent val="0"/>
          <c:showBubbleSize val="0"/>
        </c:dLbls>
        <c:gapWidth val="150"/>
        <c:axId val="2017157168"/>
        <c:axId val="1"/>
      </c:barChart>
      <c:lineChart>
        <c:grouping val="standard"/>
        <c:varyColors val="0"/>
        <c:ser>
          <c:idx val="7"/>
          <c:order val="7"/>
          <c:spPr>
            <a:ln w="12700" cmpd="sng" algn="ctr">
              <a:solidFill>
                <a:srgbClr val="DA291C"/>
              </a:solidFill>
              <a:prstDash val="solid"/>
            </a:ln>
          </c:spPr>
          <c:marker>
            <c:symbol val="none"/>
          </c:marker>
          <c:dPt>
            <c:idx val="0"/>
            <c:marker>
              <c:symbol val="square"/>
              <c:size val="10"/>
              <c:spPr>
                <a:solidFill>
                  <a:srgbClr val="DA291C"/>
                </a:solidFill>
                <a:ln w="9525" cmpd="sng" algn="ctr">
                  <a:solidFill>
                    <a:srgbClr val="DA291C"/>
                  </a:solidFill>
                  <a:prstDash val="solid"/>
                </a:ln>
              </c:spPr>
            </c:marker>
            <c:bubble3D val="0"/>
            <c:extLst>
              <c:ext xmlns:c16="http://schemas.microsoft.com/office/drawing/2014/chart" uri="{C3380CC4-5D6E-409C-BE32-E72D297353CC}">
                <c16:uniqueId val="{00000007-17AA-4313-B76E-F33EF22696BE}"/>
              </c:ext>
            </c:extLst>
          </c:dPt>
          <c:dPt>
            <c:idx val="1"/>
            <c:marker>
              <c:symbol val="square"/>
              <c:size val="10"/>
              <c:spPr>
                <a:solidFill>
                  <a:srgbClr val="DA291C"/>
                </a:solidFill>
                <a:ln w="9525" cmpd="sng" algn="ctr">
                  <a:solidFill>
                    <a:srgbClr val="DA291C"/>
                  </a:solidFill>
                  <a:prstDash val="solid"/>
                </a:ln>
              </c:spPr>
            </c:marker>
            <c:bubble3D val="0"/>
            <c:extLst>
              <c:ext xmlns:c16="http://schemas.microsoft.com/office/drawing/2014/chart" uri="{C3380CC4-5D6E-409C-BE32-E72D297353CC}">
                <c16:uniqueId val="{00000008-17AA-4313-B76E-F33EF22696BE}"/>
              </c:ext>
            </c:extLst>
          </c:dPt>
          <c:dPt>
            <c:idx val="3"/>
            <c:marker>
              <c:symbol val="square"/>
              <c:size val="10"/>
              <c:spPr>
                <a:solidFill>
                  <a:srgbClr val="DA291C"/>
                </a:solidFill>
                <a:ln w="9525" cmpd="sng" algn="ctr">
                  <a:solidFill>
                    <a:srgbClr val="DA291C"/>
                  </a:solidFill>
                  <a:prstDash val="solid"/>
                </a:ln>
              </c:spPr>
            </c:marker>
            <c:bubble3D val="0"/>
            <c:extLst>
              <c:ext xmlns:c16="http://schemas.microsoft.com/office/drawing/2014/chart" uri="{C3380CC4-5D6E-409C-BE32-E72D297353CC}">
                <c16:uniqueId val="{00000009-17AA-4313-B76E-F33EF22696BE}"/>
              </c:ext>
            </c:extLst>
          </c:dPt>
          <c:dPt>
            <c:idx val="5"/>
            <c:marker>
              <c:symbol val="square"/>
              <c:size val="10"/>
              <c:spPr>
                <a:solidFill>
                  <a:srgbClr val="DA291C"/>
                </a:solidFill>
                <a:ln w="9525" cmpd="sng" algn="ctr">
                  <a:solidFill>
                    <a:srgbClr val="DA291C"/>
                  </a:solidFill>
                  <a:prstDash val="solid"/>
                </a:ln>
              </c:spPr>
            </c:marker>
            <c:bubble3D val="0"/>
            <c:extLst>
              <c:ext xmlns:c16="http://schemas.microsoft.com/office/drawing/2014/chart" uri="{C3380CC4-5D6E-409C-BE32-E72D297353CC}">
                <c16:uniqueId val="{0000000A-17AA-4313-B76E-F33EF22696BE}"/>
              </c:ext>
            </c:extLst>
          </c:dPt>
          <c:dLbls>
            <c:dLbl>
              <c:idx val="0"/>
              <c:layout>
                <c:manualLayout>
                  <c:x val="7.2453267642370671E-4"/>
                  <c:y val="-0.11589403973509933"/>
                </c:manualLayout>
              </c:layout>
              <c:numFmt formatCode="#,##0;&quot;-&quot;#,##0" sourceLinked="0"/>
              <c:spPr>
                <a:noFill/>
                <a:ln>
                  <a:noFill/>
                </a:ln>
              </c:spPr>
              <c:txPr>
                <a:bodyPr wrap="none"/>
                <a:lstStyle/>
                <a:p>
                  <a:pPr>
                    <a:defRPr lang="ja-JP" sz="1100" kern="1200">
                      <a:solidFill>
                        <a:srgbClr val="DA291C"/>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17AA-4313-B76E-F33EF22696BE}"/>
                </c:ext>
              </c:extLst>
            </c:dLbl>
            <c:dLbl>
              <c:idx val="1"/>
              <c:layout>
                <c:manualLayout>
                  <c:x val="0"/>
                  <c:y val="-7.1743929359823405E-2"/>
                </c:manualLayout>
              </c:layout>
              <c:numFmt formatCode="#,##0;&quot;-&quot;#,##0" sourceLinked="0"/>
              <c:spPr>
                <a:noFill/>
                <a:ln>
                  <a:noFill/>
                </a:ln>
              </c:spPr>
              <c:txPr>
                <a:bodyPr wrap="none"/>
                <a:lstStyle/>
                <a:p>
                  <a:pPr>
                    <a:defRPr lang="ja-JP" sz="1100" kern="1200">
                      <a:solidFill>
                        <a:srgbClr val="DA291C"/>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17AA-4313-B76E-F33EF22696BE}"/>
                </c:ext>
              </c:extLst>
            </c:dLbl>
            <c:dLbl>
              <c:idx val="3"/>
              <c:layout>
                <c:manualLayout>
                  <c:x val="0"/>
                  <c:y val="-7.1743929359823405E-2"/>
                </c:manualLayout>
              </c:layout>
              <c:numFmt formatCode="#,##0;&quot;-&quot;#,##0" sourceLinked="0"/>
              <c:spPr>
                <a:noFill/>
                <a:ln>
                  <a:noFill/>
                </a:ln>
              </c:spPr>
              <c:txPr>
                <a:bodyPr wrap="none"/>
                <a:lstStyle/>
                <a:p>
                  <a:pPr>
                    <a:defRPr lang="ja-JP" sz="1100" kern="1200">
                      <a:solidFill>
                        <a:srgbClr val="DA291C"/>
                      </a:solidFill>
                      <a:latin typeface="Arial"/>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17AA-4313-B76E-F33EF22696BE}"/>
                </c:ext>
              </c:extLst>
            </c:dLbl>
            <c:dLbl>
              <c:idx val="5"/>
              <c:layout>
                <c:manualLayout>
                  <c:x val="0"/>
                  <c:y val="-7.1743929359823405E-2"/>
                </c:manualLayout>
              </c:layout>
              <c:numFmt formatCode="#,##0;&quot;-&quot;#,##0" sourceLinked="0"/>
              <c:spPr>
                <a:noFill/>
                <a:ln>
                  <a:noFill/>
                </a:ln>
              </c:spPr>
              <c:txPr>
                <a:bodyPr wrap="none"/>
                <a:lstStyle/>
                <a:p>
                  <a:pPr>
                    <a:defRPr lang="ja-JP" sz="1100" kern="1200">
                      <a:solidFill>
                        <a:srgbClr val="DA291C"/>
                      </a:solidFill>
                      <a:latin typeface="Arial"/>
                      <a:ea typeface="Arial"/>
                      <a:cs typeface="Arial"/>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17AA-4313-B76E-F33EF22696BE}"/>
                </c:ext>
              </c:extLst>
            </c:dLbl>
            <c:spPr>
              <a:noFill/>
              <a:ln>
                <a:noFill/>
              </a:ln>
              <a:effectLst/>
            </c:spPr>
            <c:txPr>
              <a:bodyPr wrap="square" lIns="38100" tIns="19050" rIns="38100" bIns="19050" anchor="ctr">
                <a:spAutoFit/>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Sheet1!$A$8:$G$8</c:f>
              <c:numCache>
                <c:formatCode>General</c:formatCode>
                <c:ptCount val="7"/>
                <c:pt idx="0">
                  <c:v>787</c:v>
                </c:pt>
                <c:pt idx="1">
                  <c:v>1074</c:v>
                </c:pt>
                <c:pt idx="2">
                  <c:v>1262.5</c:v>
                </c:pt>
                <c:pt idx="3">
                  <c:v>1451</c:v>
                </c:pt>
                <c:pt idx="4">
                  <c:v>2304</c:v>
                </c:pt>
                <c:pt idx="5">
                  <c:v>3157</c:v>
                </c:pt>
              </c:numCache>
            </c:numRef>
          </c:val>
          <c:smooth val="0"/>
          <c:extLst>
            <c:ext xmlns:c16="http://schemas.microsoft.com/office/drawing/2014/chart" uri="{C3380CC4-5D6E-409C-BE32-E72D297353CC}">
              <c16:uniqueId val="{0000000B-17AA-4313-B76E-F33EF22696BE}"/>
            </c:ext>
          </c:extLst>
        </c:ser>
        <c:dLbls>
          <c:showLegendKey val="0"/>
          <c:showVal val="0"/>
          <c:showCatName val="0"/>
          <c:showSerName val="0"/>
          <c:showPercent val="0"/>
          <c:showBubbleSize val="0"/>
        </c:dLbls>
        <c:marker val="1"/>
        <c:smooth val="0"/>
        <c:axId val="2017157168"/>
        <c:axId val="1"/>
      </c:lineChart>
      <c:catAx>
        <c:axId val="2017157168"/>
        <c:scaling>
          <c:orientation val="minMax"/>
        </c:scaling>
        <c:delete val="0"/>
        <c:axPos val="b"/>
        <c:majorGridlines>
          <c:spPr>
            <a:ln>
              <a:noFill/>
            </a:ln>
          </c:spPr>
        </c:majorGridlines>
        <c:majorTickMark val="out"/>
        <c:minorTickMark val="none"/>
        <c:tickLblPos val="none"/>
        <c:spPr>
          <a:ln w="9525" cmpd="sng" algn="ctr">
            <a:solidFill>
              <a:schemeClr val="tx1"/>
            </a:solidFill>
            <a:prstDash val="solid"/>
          </a:ln>
        </c:spPr>
        <c:txPr>
          <a:bodyPr wrap="none"/>
          <a:lstStyle/>
          <a:p>
            <a:pPr>
              <a:defRPr lang="ja-JP" sz="1100" kern="1200">
                <a:latin typeface="Arial"/>
                <a:ea typeface="Arial"/>
                <a:cs typeface="Arial"/>
                <a:sym typeface="Arial"/>
              </a:defRPr>
            </a:pPr>
            <a:endParaRPr lang="en-US"/>
          </a:p>
        </c:txPr>
        <c:crossAx val="1"/>
        <c:crosses val="min"/>
        <c:auto val="0"/>
        <c:lblAlgn val="ctr"/>
        <c:lblOffset val="100"/>
        <c:noMultiLvlLbl val="0"/>
      </c:catAx>
      <c:valAx>
        <c:axId val="1"/>
        <c:scaling>
          <c:orientation val="minMax"/>
          <c:max val="110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lang="ja-JP" sz="1100" kern="1200">
                <a:solidFill>
                  <a:schemeClr val="tx1"/>
                </a:solidFill>
                <a:latin typeface="Arial"/>
                <a:ea typeface="Arial"/>
                <a:cs typeface="Arial"/>
                <a:sym typeface="Arial"/>
              </a:defRPr>
            </a:pPr>
            <a:endParaRPr lang="en-US"/>
          </a:p>
        </c:txPr>
        <c:crossAx val="2017157168"/>
        <c:crosses val="min"/>
        <c:crossBetween val="between"/>
        <c:majorUnit val="1000"/>
      </c:valAx>
    </c:plotArea>
    <c:plotVisOnly val="0"/>
    <c:dispBlanksAs val="gap"/>
    <c:showDLblsOverMax val="1"/>
  </c:chart>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5">
  <cs:axisTitle>
    <cs:lnRef idx="0"/>
    <cs:fillRef idx="0"/>
    <cs:effectRef idx="0"/>
    <cs:fontRef idx="minor">
      <a:schemeClr val="dk1">
        <a:lumMod val="75000"/>
        <a:lumOff val="25000"/>
      </a:schemeClr>
    </cs:fontRef>
    <cs:defRPr sz="1197" b="1" kern="1200"/>
  </cs:axisTitle>
  <cs:categoryAxis>
    <cs:lnRef idx="0"/>
    <cs:fillRef idx="0"/>
    <cs:effectRef idx="0"/>
    <cs:fontRef idx="minor">
      <a:schemeClr val="dk1">
        <a:lumMod val="75000"/>
        <a:lumOff val="25000"/>
      </a:schemeClr>
    </cs:fontRef>
    <cs:spPr>
      <a:ln w="19050" cap="flat" cmpd="sng" algn="ctr">
        <a:solidFill>
          <a:schemeClr val="dk1">
            <a:lumMod val="75000"/>
            <a:lumOff val="25000"/>
          </a:schemeClr>
        </a:solidFill>
        <a:round/>
      </a:ln>
    </cs:spPr>
    <cs:defRPr sz="1197" kern="1200" cap="all" baseline="0"/>
  </cs:categoryAxis>
  <cs:chartArea>
    <cs:lnRef idx="0"/>
    <cs:fillRef idx="0"/>
    <cs:effectRef idx="0"/>
    <cs:fontRef idx="minor">
      <a:schemeClr val="dk1"/>
    </cs:fontRef>
    <cs: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cs:spPr>
    <cs:defRPr sz="1197" kern="1200"/>
  </cs:chartArea>
  <cs:dataLabel>
    <cs:lnRef idx="0"/>
    <cs:fillRef idx="0"/>
    <cs:effectRef idx="0"/>
    <cs:fontRef idx="minor">
      <a:schemeClr val="lt1"/>
    </cs:fontRef>
    <cs:defRPr sz="1197" b="1" i="0" u="none" strike="noStrike" kern="1200" baseline="0"/>
  </cs:dataLabel>
  <cs:dataLabelCallout>
    <cs:lnRef idx="0"/>
    <cs:fillRef idx="0"/>
    <cs:effectRef idx="0"/>
    <cs:fontRef idx="minor">
      <a:schemeClr val="lt1"/>
    </cs:fontRef>
    <cs:spPr>
      <a:solidFill>
        <a:schemeClr val="dk1">
          <a:lumMod val="65000"/>
          <a:lumOff val="35000"/>
          <a:alpha val="75000"/>
        </a:schemeClr>
      </a:solidFill>
    </cs:spPr>
    <cs:defRPr sz="1197" b="1"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
  <cs:dataPoint3D>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3D>
  <cs:dataPointLine>
    <cs:lnRef idx="0">
      <cs:styleClr val="auto"/>
    </cs:lnRef>
    <cs:fillRef idx="0"/>
    <cs:effectRef idx="0"/>
    <cs:fontRef idx="minor">
      <a:schemeClr val="dk1"/>
    </cs:fontRef>
    <cs:spPr>
      <a:ln w="31750" cap="rnd">
        <a:solidFill>
          <a:schemeClr val="phClr">
            <a:alpha val="85000"/>
          </a:schemeClr>
        </a:solidFill>
        <a:round/>
      </a:ln>
    </cs:spPr>
  </cs:dataPointLine>
  <cs:dataPointMarker>
    <cs:lnRef idx="0"/>
    <cs:fillRef idx="0">
      <cs:styleClr val="auto"/>
    </cs:fillRef>
    <cs:effectRef idx="0"/>
    <cs:fontRef idx="minor">
      <a:schemeClr val="dk1"/>
    </cs:fontRef>
    <cs:spPr>
      <a:solidFill>
        <a:schemeClr val="phClr">
          <a:alpha val="85000"/>
        </a:scheme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75000"/>
        <a:lumOff val="25000"/>
      </a:schemeClr>
    </cs:fontRef>
    <cs:spPr>
      <a:ln w="9525">
        <a:solidFill>
          <a:schemeClr val="dk1">
            <a:lumMod val="35000"/>
            <a:lumOff val="65000"/>
          </a:schemeClr>
        </a:solidFill>
      </a:ln>
    </cs:spPr>
    <cs:defRPr sz="1197" kern="1200"/>
  </cs:dataTable>
  <cs:downBar>
    <cs:lnRef idx="0"/>
    <cs:fillRef idx="0"/>
    <cs:effectRef idx="0"/>
    <cs:fontRef idx="minor">
      <a:schemeClr val="dk1"/>
    </cs:fontRef>
    <cs:spPr>
      <a:solidFill>
        <a:schemeClr val="dk1">
          <a:lumMod val="50000"/>
          <a:lumOff val="50000"/>
        </a:schemeClr>
      </a:solidFill>
      <a:ln w="9525">
        <a:solidFill>
          <a:schemeClr val="dk1">
            <a:lumMod val="65000"/>
            <a:lumOff val="35000"/>
          </a:schemeClr>
        </a:solidFill>
      </a:ln>
    </cs:spPr>
  </cs:downBar>
  <cs:dropLine>
    <cs:lnRef idx="0"/>
    <cs:fillRef idx="0"/>
    <cs:effectRef idx="0"/>
    <cs:fontRef idx="minor">
      <a:schemeClr val="dk1"/>
    </cs:fontRef>
    <cs:spPr>
      <a:ln w="9525">
        <a:solidFill>
          <a:schemeClr val="dk1">
            <a:lumMod val="35000"/>
            <a:lumOff val="65000"/>
          </a:schemeClr>
        </a:solidFill>
        <a:prstDash val="dash"/>
      </a:ln>
    </cs:spPr>
  </cs:dropLine>
  <cs:errorBar>
    <cs:lnRef idx="0"/>
    <cs:fillRef idx="0"/>
    <cs:effectRef idx="0"/>
    <cs:fontRef idx="minor">
      <a:schemeClr val="dk1"/>
    </cs:fontRef>
    <cs:spPr>
      <a:ln w="9525">
        <a:solidFill>
          <a:schemeClr val="dk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gradFill>
          <a:gsLst>
            <a:gs pos="100000">
              <a:schemeClr val="dk1">
                <a:lumMod val="95000"/>
                <a:lumOff val="5000"/>
                <a:alpha val="42000"/>
              </a:schemeClr>
            </a:gs>
            <a:gs pos="0">
              <a:schemeClr val="lt1">
                <a:lumMod val="75000"/>
                <a:alpha val="36000"/>
              </a:schemeClr>
            </a:gs>
          </a:gsLst>
          <a:lin ang="5400000" scaled="0"/>
        </a:gradFill>
        <a:round/>
      </a:ln>
    </cs:spPr>
  </cs:gridlineMajor>
  <cs:gridlineMinor>
    <cs:lnRef idx="0"/>
    <cs:fillRef idx="0"/>
    <cs:effectRef idx="0"/>
    <cs:fontRef idx="minor">
      <a:schemeClr val="dk1"/>
    </cs:fontRef>
    <cs:spPr>
      <a:ln>
        <a:gradFill>
          <a:gsLst>
            <a:gs pos="100000">
              <a:schemeClr val="dk1">
                <a:lumMod val="95000"/>
                <a:lumOff val="5000"/>
                <a:alpha val="42000"/>
              </a:schemeClr>
            </a:gs>
            <a:gs pos="0">
              <a:schemeClr val="lt1">
                <a:lumMod val="75000"/>
                <a:alpha val="36000"/>
              </a:schemeClr>
            </a:gs>
          </a:gsLst>
          <a:lin ang="5400000" scaled="0"/>
        </a:gradFill>
      </a:ln>
    </cs:spPr>
  </cs:gridlineMinor>
  <cs:hiLoLine>
    <cs:lnRef idx="0"/>
    <cs:fillRef idx="0"/>
    <cs:effectRef idx="0"/>
    <cs:fontRef idx="minor">
      <a:schemeClr val="dk1"/>
    </cs:fontRef>
    <cs:spPr>
      <a:ln w="9525">
        <a:solidFill>
          <a:schemeClr val="dk1">
            <a:lumMod val="35000"/>
            <a:lumOff val="65000"/>
          </a:schemeClr>
        </a:solidFill>
        <a:prstDash val="dash"/>
      </a:ln>
    </cs:spPr>
  </cs:hiLoLine>
  <cs:leaderLine>
    <cs:lnRef idx="0"/>
    <cs:fillRef idx="0"/>
    <cs:effectRef idx="0"/>
    <cs:fontRef idx="minor">
      <a:schemeClr val="dk1"/>
    </cs:fontRef>
    <cs:spPr>
      <a:ln w="9525">
        <a:solidFill>
          <a:schemeClr val="dk1">
            <a:lumMod val="50000"/>
            <a:lumOff val="50000"/>
          </a:schemeClr>
        </a:solidFill>
      </a:ln>
    </cs:spPr>
  </cs:leaderLine>
  <cs:legend>
    <cs:lnRef idx="0"/>
    <cs:fillRef idx="0"/>
    <cs:effectRef idx="0"/>
    <cs:fontRef idx="minor">
      <a:schemeClr val="dk1">
        <a:lumMod val="75000"/>
        <a:lumOff val="25000"/>
      </a:schemeClr>
    </cs:fontRef>
    <cs:spPr>
      <a:solidFill>
        <a:schemeClr val="lt1">
          <a:lumMod val="95000"/>
          <a:alpha val="39000"/>
        </a:schemeClr>
      </a:solidFill>
    </cs:spPr>
    <cs:defRPr sz="1197" kern="12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dk1">
        <a:lumMod val="75000"/>
        <a:lumOff val="25000"/>
      </a:schemeClr>
    </cs:fontRef>
    <cs:spPr>
      <a:ln w="31750" cap="flat" cmpd="sng" algn="ctr">
        <a:solidFill>
          <a:schemeClr val="dk1">
            <a:lumMod val="75000"/>
            <a:lumOff val="25000"/>
          </a:schemeClr>
        </a:solidFill>
        <a:round/>
      </a:ln>
    </cs:spPr>
    <cs:defRPr sz="1197" kern="1200"/>
  </cs:seriesAxis>
  <cs:seriesLine>
    <cs:lnRef idx="0"/>
    <cs:fillRef idx="0"/>
    <cs:effectRef idx="0"/>
    <cs:fontRef idx="minor">
      <a:schemeClr val="dk1"/>
    </cs:fontRef>
    <cs:spPr>
      <a:ln w="9525">
        <a:solidFill>
          <a:schemeClr val="dk1">
            <a:lumMod val="50000"/>
            <a:lumOff val="50000"/>
          </a:schemeClr>
        </a:solidFill>
        <a:round/>
      </a:ln>
    </cs:spPr>
  </cs:seriesLine>
  <cs:title>
    <cs:lnRef idx="0"/>
    <cs:fillRef idx="0"/>
    <cs:effectRef idx="0"/>
    <cs:fontRef idx="minor">
      <a:schemeClr val="dk1">
        <a:lumMod val="75000"/>
        <a:lumOff val="25000"/>
      </a:schemeClr>
    </cs:fontRef>
    <cs:defRPr sz="2200" b="1" kern="120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75000"/>
        <a:lumOff val="25000"/>
      </a:schemeClr>
    </cs:fontRef>
    <cs:defRPr sz="1197" kern="1200"/>
  </cs:trendlineLabel>
  <cs:upBar>
    <cs:lnRef idx="0"/>
    <cs:fillRef idx="0"/>
    <cs:effectRef idx="0"/>
    <cs:fontRef idx="minor">
      <a:schemeClr val="dk1"/>
    </cs:fontRef>
    <cs:spPr>
      <a:solidFill>
        <a:schemeClr val="lt1"/>
      </a:solidFill>
      <a:ln w="9525">
        <a:solidFill>
          <a:schemeClr val="dk1">
            <a:lumMod val="65000"/>
            <a:lumOff val="35000"/>
          </a:schemeClr>
        </a:solidFill>
      </a:ln>
    </cs:spPr>
  </cs:upBar>
  <cs:valueAxis>
    <cs:lnRef idx="0"/>
    <cs:fillRef idx="0"/>
    <cs:effectRef idx="0"/>
    <cs:fontRef idx="minor">
      <a:schemeClr val="dk1">
        <a:lumMod val="75000"/>
        <a:lumOff val="25000"/>
      </a:schemeClr>
    </cs:fontRef>
    <cs:spPr>
      <a:ln>
        <a:noFill/>
      </a:ln>
    </cs:spPr>
    <cs:defRPr sz="1197" kern="1200"/>
  </cs:valueAxis>
  <cs:wall>
    <cs:lnRef idx="0"/>
    <cs:fillRef idx="0"/>
    <cs:effectRef idx="0"/>
    <cs:fontRef idx="minor">
      <a:schemeClr val="dk1"/>
    </cs:fontRef>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98">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0.60947</cdr:x>
      <cdr:y>0.58404</cdr:y>
    </cdr:from>
    <cdr:to>
      <cdr:x>0.74647</cdr:x>
      <cdr:y>0.62984</cdr:y>
    </cdr:to>
    <cdr:sp macro="" textlink="">
      <cdr:nvSpPr>
        <cdr:cNvPr id="2" name="TextBox 6">
          <a:extLst xmlns:a="http://schemas.openxmlformats.org/drawingml/2006/main">
            <a:ext uri="{FF2B5EF4-FFF2-40B4-BE49-F238E27FC236}">
              <a16:creationId xmlns:a16="http://schemas.microsoft.com/office/drawing/2014/main" id="{2CF3648E-06F6-D8F7-7558-18341459079A}"/>
            </a:ext>
          </a:extLst>
        </cdr:cNvPr>
        <cdr:cNvSpPr txBox="1"/>
      </cdr:nvSpPr>
      <cdr:spPr>
        <a:xfrm xmlns:a="http://schemas.openxmlformats.org/drawingml/2006/main">
          <a:off x="3348682" y="2060543"/>
          <a:ext cx="752726" cy="161583"/>
        </a:xfrm>
        <a:prstGeom xmlns:a="http://schemas.openxmlformats.org/drawingml/2006/main" prst="rect">
          <a:avLst/>
        </a:prstGeom>
        <a:solidFill xmlns:a="http://schemas.openxmlformats.org/drawingml/2006/main">
          <a:schemeClr val="bg2"/>
        </a:solidFill>
      </cdr:spPr>
      <cdr:txBody>
        <a:bodyPr xmlns:a="http://schemas.openxmlformats.org/drawingml/2006/main" wrap="squar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spcBef>
              <a:spcPts val="600"/>
            </a:spcBef>
            <a:buSzPct val="100000"/>
          </a:pPr>
          <a:r>
            <a:rPr lang="en-US" sz="1050" b="1" dirty="0">
              <a:solidFill>
                <a:srgbClr val="313131"/>
              </a:solidFill>
              <a:latin typeface="Arial" panose="020B0604020202020204" pitchFamily="34" charset="0"/>
              <a:cs typeface="Arial" panose="020B0604020202020204" pitchFamily="34" charset="0"/>
            </a:rPr>
            <a:t>Dry Season</a:t>
          </a:r>
          <a:endParaRPr lang="en-IN" sz="1050" b="1" dirty="0">
            <a:solidFill>
              <a:srgbClr val="313131"/>
            </a:solidFill>
            <a:latin typeface="Arial" panose="020B0604020202020204" pitchFamily="34" charset="0"/>
            <a:cs typeface="Arial" panose="020B0604020202020204" pitchFamily="34" charset="0"/>
          </a:endParaRPr>
        </a:p>
      </cdr:txBody>
    </cdr:sp>
  </cdr:relSizeAnchor>
  <cdr:relSizeAnchor xmlns:cdr="http://schemas.openxmlformats.org/drawingml/2006/chartDrawing">
    <cdr:from>
      <cdr:x>0.53098</cdr:x>
      <cdr:y>0.64697</cdr:y>
    </cdr:from>
    <cdr:to>
      <cdr:x>0.8526</cdr:x>
      <cdr:y>0.64697</cdr:y>
    </cdr:to>
    <cdr:cxnSp macro="">
      <cdr:nvCxnSpPr>
        <cdr:cNvPr id="4" name="Straight Arrow Connector 3">
          <a:extLst xmlns:a="http://schemas.openxmlformats.org/drawingml/2006/main">
            <a:ext uri="{FF2B5EF4-FFF2-40B4-BE49-F238E27FC236}">
              <a16:creationId xmlns:a16="http://schemas.microsoft.com/office/drawing/2014/main" id="{CEBE5BEF-4492-9B48-73FE-CF3BBC4E90A8}"/>
            </a:ext>
          </a:extLst>
        </cdr:cNvPr>
        <cdr:cNvCxnSpPr/>
      </cdr:nvCxnSpPr>
      <cdr:spPr>
        <a:xfrm xmlns:a="http://schemas.openxmlformats.org/drawingml/2006/main">
          <a:off x="2917405" y="2282581"/>
          <a:ext cx="1767111" cy="0"/>
        </a:xfrm>
        <a:prstGeom xmlns:a="http://schemas.openxmlformats.org/drawingml/2006/main" prst="straightConnector1">
          <a:avLst/>
        </a:prstGeom>
        <a:ln xmlns:a="http://schemas.openxmlformats.org/drawingml/2006/main">
          <a:solidFill>
            <a:schemeClr val="tx2"/>
          </a:solidFill>
          <a:headEnd type="triangle"/>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xml><?xml version="1.0" encoding="utf-8"?>
<c:userShapes xmlns:c="http://schemas.openxmlformats.org/drawingml/2006/chart">
  <cdr:relSizeAnchor xmlns:cdr="http://schemas.openxmlformats.org/drawingml/2006/chartDrawing">
    <cdr:from>
      <cdr:x>0.01283</cdr:x>
      <cdr:y>0.01881</cdr:y>
    </cdr:from>
    <cdr:to>
      <cdr:x>0.22996</cdr:x>
      <cdr:y>0.12031</cdr:y>
    </cdr:to>
    <cdr:sp macro="" textlink="">
      <cdr:nvSpPr>
        <cdr:cNvPr id="2" name="TextBox 1">
          <a:extLst xmlns:a="http://schemas.openxmlformats.org/drawingml/2006/main">
            <a:ext uri="{FF2B5EF4-FFF2-40B4-BE49-F238E27FC236}">
              <a16:creationId xmlns:a16="http://schemas.microsoft.com/office/drawing/2014/main" id="{65EF6BCF-C4F7-0AF2-19B2-44EFEDF74E5A}"/>
            </a:ext>
          </a:extLst>
        </cdr:cNvPr>
        <cdr:cNvSpPr txBox="1"/>
      </cdr:nvSpPr>
      <cdr:spPr>
        <a:xfrm xmlns:a="http://schemas.openxmlformats.org/drawingml/2006/main">
          <a:off x="41281" y="31371"/>
          <a:ext cx="698615" cy="169277"/>
        </a:xfrm>
        <a:prstGeom xmlns:a="http://schemas.openxmlformats.org/drawingml/2006/main" prst="rect">
          <a:avLst/>
        </a:prstGeom>
        <a:noFill xmlns:a="http://schemas.openxmlformats.org/drawingml/2006/main"/>
      </cdr:spPr>
      <cdr:txBody>
        <a:bodyPr xmlns:a="http://schemas.openxmlformats.org/drawingml/2006/main" wrap="square" lIns="0" tIns="0" rIns="0" bIns="0"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spcBef>
              <a:spcPts val="600"/>
            </a:spcBef>
            <a:buSzPct val="100000"/>
          </a:pPr>
          <a:endParaRPr lang="en-US" sz="1100" dirty="0">
            <a:solidFill>
              <a:srgbClr val="313131"/>
            </a:solidFill>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0.09978</cdr:x>
      <cdr:y>0.82991</cdr:y>
    </cdr:from>
    <cdr:to>
      <cdr:x>0.13507</cdr:x>
      <cdr:y>0.8987</cdr:y>
    </cdr:to>
    <cdr:grpSp>
      <cdr:nvGrpSpPr>
        <cdr:cNvPr id="2" name="Group 1">
          <a:extLst xmlns:a="http://schemas.openxmlformats.org/drawingml/2006/main">
            <a:ext uri="{FF2B5EF4-FFF2-40B4-BE49-F238E27FC236}">
              <a16:creationId xmlns:a16="http://schemas.microsoft.com/office/drawing/2014/main" id="{D037C51A-649B-0434-4255-9C8F1045C96C}"/>
            </a:ext>
          </a:extLst>
        </cdr:cNvPr>
        <cdr:cNvGrpSpPr/>
      </cdr:nvGrpSpPr>
      <cdr:grpSpPr>
        <a:xfrm xmlns:a="http://schemas.openxmlformats.org/drawingml/2006/main">
          <a:off x="514919" y="1601267"/>
          <a:ext cx="182116" cy="132727"/>
          <a:chOff x="-1824737" y="5103586"/>
          <a:chExt cx="193040" cy="142240"/>
        </a:xfrm>
      </cdr:grpSpPr>
      <cdr:cxnSp macro="">
        <cdr:nvCxnSpPr>
          <cdr:cNvPr id="3" name="Straight Connector 2">
            <a:extLst xmlns:a="http://schemas.openxmlformats.org/drawingml/2006/main">
              <a:ext uri="{FF2B5EF4-FFF2-40B4-BE49-F238E27FC236}">
                <a16:creationId xmlns:a16="http://schemas.microsoft.com/office/drawing/2014/main" id="{6EB8893C-C860-C390-13E3-433C4D165D16}"/>
              </a:ext>
            </a:extLst>
          </cdr:cNvPr>
          <cdr:cNvCxnSpPr/>
        </cdr:nvCxnSpPr>
        <cdr:spPr>
          <a:xfrm xmlns:a="http://schemas.openxmlformats.org/drawingml/2006/main">
            <a:off x="-1824737" y="5123906"/>
            <a:ext cx="91440" cy="121920"/>
          </a:xfrm>
          <a:prstGeom xmlns:a="http://schemas.openxmlformats.org/drawingml/2006/main" prst="line">
            <a:avLst/>
          </a:prstGeom>
          <a:ln xmlns:a="http://schemas.openxmlformats.org/drawingml/2006/main">
            <a:solidFill>
              <a:schemeClr val="tx2"/>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cxnSp macro="">
        <cdr:nvCxnSpPr>
          <cdr:cNvPr id="4" name="Straight Connector 3">
            <a:extLst xmlns:a="http://schemas.openxmlformats.org/drawingml/2006/main">
              <a:ext uri="{FF2B5EF4-FFF2-40B4-BE49-F238E27FC236}">
                <a16:creationId xmlns:a16="http://schemas.microsoft.com/office/drawing/2014/main" id="{EFAB20D5-5E4A-2B60-2049-F0B704433164}"/>
              </a:ext>
            </a:extLst>
          </cdr:cNvPr>
          <cdr:cNvCxnSpPr/>
        </cdr:nvCxnSpPr>
        <cdr:spPr>
          <a:xfrm xmlns:a="http://schemas.openxmlformats.org/drawingml/2006/main">
            <a:off x="-1723137" y="5103586"/>
            <a:ext cx="91440" cy="121920"/>
          </a:xfrm>
          <a:prstGeom xmlns:a="http://schemas.openxmlformats.org/drawingml/2006/main" prst="line">
            <a:avLst/>
          </a:prstGeom>
          <a:ln xmlns:a="http://schemas.openxmlformats.org/drawingml/2006/main">
            <a:solidFill>
              <a:schemeClr val="tx2"/>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grpSp>
  </cdr:relSizeAnchor>
  <cdr:relSizeAnchor xmlns:cdr="http://schemas.openxmlformats.org/drawingml/2006/chartDrawing">
    <cdr:from>
      <cdr:x>0.23249</cdr:x>
      <cdr:y>0.83643</cdr:y>
    </cdr:from>
    <cdr:to>
      <cdr:x>0.26777</cdr:x>
      <cdr:y>0.90523</cdr:y>
    </cdr:to>
    <cdr:grpSp>
      <cdr:nvGrpSpPr>
        <cdr:cNvPr id="5" name="Group 4">
          <a:extLst xmlns:a="http://schemas.openxmlformats.org/drawingml/2006/main">
            <a:ext uri="{FF2B5EF4-FFF2-40B4-BE49-F238E27FC236}">
              <a16:creationId xmlns:a16="http://schemas.microsoft.com/office/drawing/2014/main" id="{CFE4DCD4-8945-8E81-6476-9F3737E874C8}"/>
            </a:ext>
          </a:extLst>
        </cdr:cNvPr>
        <cdr:cNvGrpSpPr/>
      </cdr:nvGrpSpPr>
      <cdr:grpSpPr>
        <a:xfrm xmlns:a="http://schemas.openxmlformats.org/drawingml/2006/main">
          <a:off x="1199776" y="1613847"/>
          <a:ext cx="182064" cy="132746"/>
          <a:chOff x="-4195412" y="8437130"/>
          <a:chExt cx="193040" cy="142240"/>
        </a:xfrm>
      </cdr:grpSpPr>
      <cdr:cxnSp macro="">
        <cdr:nvCxnSpPr>
          <cdr:cNvPr id="6" name="Straight Connector 5">
            <a:extLst xmlns:a="http://schemas.openxmlformats.org/drawingml/2006/main">
              <a:ext uri="{FF2B5EF4-FFF2-40B4-BE49-F238E27FC236}">
                <a16:creationId xmlns:a16="http://schemas.microsoft.com/office/drawing/2014/main" id="{9404F2FD-709E-C918-C8A2-13C683AD9BB9}"/>
              </a:ext>
            </a:extLst>
          </cdr:cNvPr>
          <cdr:cNvCxnSpPr/>
        </cdr:nvCxnSpPr>
        <cdr:spPr>
          <a:xfrm xmlns:a="http://schemas.openxmlformats.org/drawingml/2006/main">
            <a:off x="-4195412" y="8457450"/>
            <a:ext cx="91440" cy="121920"/>
          </a:xfrm>
          <a:prstGeom xmlns:a="http://schemas.openxmlformats.org/drawingml/2006/main" prst="line">
            <a:avLst/>
          </a:prstGeom>
          <a:ln xmlns:a="http://schemas.openxmlformats.org/drawingml/2006/main">
            <a:solidFill>
              <a:schemeClr val="tx2"/>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cxnSp macro="">
        <cdr:nvCxnSpPr>
          <cdr:cNvPr id="7" name="Straight Connector 6">
            <a:extLst xmlns:a="http://schemas.openxmlformats.org/drawingml/2006/main">
              <a:ext uri="{FF2B5EF4-FFF2-40B4-BE49-F238E27FC236}">
                <a16:creationId xmlns:a16="http://schemas.microsoft.com/office/drawing/2014/main" id="{43C82785-AC8C-0316-C1C8-86650BC9A3DC}"/>
              </a:ext>
            </a:extLst>
          </cdr:cNvPr>
          <cdr:cNvCxnSpPr/>
        </cdr:nvCxnSpPr>
        <cdr:spPr>
          <a:xfrm xmlns:a="http://schemas.openxmlformats.org/drawingml/2006/main">
            <a:off x="-4093812" y="8437130"/>
            <a:ext cx="91440" cy="121920"/>
          </a:xfrm>
          <a:prstGeom xmlns:a="http://schemas.openxmlformats.org/drawingml/2006/main" prst="line">
            <a:avLst/>
          </a:prstGeom>
          <a:ln xmlns:a="http://schemas.openxmlformats.org/drawingml/2006/main">
            <a:solidFill>
              <a:schemeClr val="tx2"/>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grpSp>
  </cdr:relSizeAnchor>
</c:userShapes>
</file>

<file path=ppt/drawings/drawing4.xml><?xml version="1.0" encoding="utf-8"?>
<c:userShapes xmlns:c="http://schemas.openxmlformats.org/drawingml/2006/chart">
  <cdr:relSizeAnchor xmlns:cdr="http://schemas.openxmlformats.org/drawingml/2006/chartDrawing">
    <cdr:from>
      <cdr:x>0.0125</cdr:x>
      <cdr:y>0.41006</cdr:y>
    </cdr:from>
    <cdr:to>
      <cdr:x>0.03787</cdr:x>
      <cdr:y>0.4827</cdr:y>
    </cdr:to>
    <cdr:sp macro="" textlink="">
      <cdr:nvSpPr>
        <cdr:cNvPr id="2" name="Rectangle 1">
          <a:extLst xmlns:a="http://schemas.openxmlformats.org/drawingml/2006/main">
            <a:ext uri="{FF2B5EF4-FFF2-40B4-BE49-F238E27FC236}">
              <a16:creationId xmlns:a16="http://schemas.microsoft.com/office/drawing/2014/main" id="{DC940B10-5A41-9A0E-B2E2-33F1D9684E9D}"/>
            </a:ext>
          </a:extLst>
        </cdr:cNvPr>
        <cdr:cNvSpPr/>
      </cdr:nvSpPr>
      <cdr:spPr bwMode="gray">
        <a:xfrm xmlns:a="http://schemas.openxmlformats.org/drawingml/2006/main">
          <a:off x="113339" y="805888"/>
          <a:ext cx="230091" cy="142758"/>
        </a:xfrm>
        <a:prstGeom xmlns:a="http://schemas.openxmlformats.org/drawingml/2006/main" prst="rect">
          <a:avLst/>
        </a:prstGeom>
        <a:solidFill xmlns:a="http://schemas.openxmlformats.org/drawingml/2006/main">
          <a:srgbClr val="002060"/>
        </a:solidFill>
        <a:ln xmlns:a="http://schemas.openxmlformats.org/drawingml/2006/main" w="12700" algn="ctr">
          <a:noFill/>
          <a:miter lim="800000"/>
          <a:headEnd/>
          <a:tailEnd/>
        </a:ln>
      </cdr:spPr>
      <cdr:txBody>
        <a:bodyPr xmlns:a="http://schemas.openxmlformats.org/drawingml/2006/main" rot="0" spcFirstLastPara="0" vertOverflow="overflow" horzOverflow="overflow" vert="horz" wrap="square" lIns="0" tIns="0" rIns="0" bIns="0" numCol="1" spcCol="0" rtlCol="0" fromWordArt="0" anchor="ctr" anchorCtr="0" forceAA="0" compatLnSpc="1">
          <a:prstTxWarp prst="textNoShape">
            <a:avLst/>
          </a:prstTxWarp>
          <a:noAutofit/>
        </a:bodyPr>
        <a:lstStyle xmlns:a="http://schemas.openxmlformats.org/drawingml/2006/main"/>
        <a:p xmlns:a="http://schemas.openxmlformats.org/drawingml/2006/main">
          <a:pPr algn="ctr"/>
          <a:r>
            <a:rPr lang="en-US" sz="1000" dirty="0">
              <a:solidFill>
                <a:schemeClr val="bg1"/>
              </a:solidFill>
            </a:rPr>
            <a:t>169</a:t>
          </a:r>
        </a:p>
      </cdr:txBody>
    </cdr:sp>
  </cdr:relSizeAnchor>
  <cdr:relSizeAnchor xmlns:cdr="http://schemas.openxmlformats.org/drawingml/2006/chartDrawing">
    <cdr:from>
      <cdr:x>0.0125</cdr:x>
      <cdr:y>0.49408</cdr:y>
    </cdr:from>
    <cdr:to>
      <cdr:x>0.03787</cdr:x>
      <cdr:y>0.56672</cdr:y>
    </cdr:to>
    <cdr:sp macro="" textlink="">
      <cdr:nvSpPr>
        <cdr:cNvPr id="3" name="Rectangle 2">
          <a:extLst xmlns:a="http://schemas.openxmlformats.org/drawingml/2006/main">
            <a:ext uri="{FF2B5EF4-FFF2-40B4-BE49-F238E27FC236}">
              <a16:creationId xmlns:a16="http://schemas.microsoft.com/office/drawing/2014/main" id="{A4DBC94F-D5D2-251B-1626-EFC3FFE30086}"/>
            </a:ext>
          </a:extLst>
        </cdr:cNvPr>
        <cdr:cNvSpPr/>
      </cdr:nvSpPr>
      <cdr:spPr bwMode="gray">
        <a:xfrm xmlns:a="http://schemas.openxmlformats.org/drawingml/2006/main">
          <a:off x="113339" y="971002"/>
          <a:ext cx="230091" cy="142758"/>
        </a:xfrm>
        <a:prstGeom xmlns:a="http://schemas.openxmlformats.org/drawingml/2006/main" prst="rect">
          <a:avLst/>
        </a:prstGeom>
        <a:solidFill xmlns:a="http://schemas.openxmlformats.org/drawingml/2006/main">
          <a:schemeClr val="accent5">
            <a:lumMod val="20000"/>
            <a:lumOff val="80000"/>
          </a:schemeClr>
        </a:solidFill>
        <a:ln xmlns:a="http://schemas.openxmlformats.org/drawingml/2006/main" w="12700" algn="ctr">
          <a:noFill/>
          <a:miter lim="800000"/>
          <a:headEnd/>
          <a:tailEnd/>
        </a:ln>
      </cdr:spPr>
      <cdr:txBody>
        <a:bodyPr xmlns:a="http://schemas.openxmlformats.org/drawingml/2006/main" rot="0" spcFirstLastPara="0" vert="horz" wrap="square" lIns="0" tIns="0" rIns="0" bIns="0" numCol="1" spcCol="0" rtlCol="0" fromWordArt="0" anchor="ctr" anchorCtr="0" forceAA="0" compatLnSpc="1">
          <a:prstTxWarp prst="textNoShape">
            <a:avLst/>
          </a:prstTxWarp>
          <a:no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n-US" sz="1000" dirty="0">
              <a:solidFill>
                <a:schemeClr val="tx1"/>
              </a:solidFill>
            </a:rPr>
            <a:t>132</a:t>
          </a:r>
        </a:p>
      </cdr:txBody>
    </cdr:sp>
  </cdr:relSizeAnchor>
</c:userShapes>
</file>

<file path=ppt/drawings/drawing5.xml><?xml version="1.0" encoding="utf-8"?>
<c:userShapes xmlns:c="http://schemas.openxmlformats.org/drawingml/2006/chart">
  <cdr:relSizeAnchor xmlns:cdr="http://schemas.openxmlformats.org/drawingml/2006/chartDrawing">
    <cdr:from>
      <cdr:x>0.00523</cdr:x>
      <cdr:y>0.02088</cdr:y>
    </cdr:from>
    <cdr:to>
      <cdr:x>0.24108</cdr:x>
      <cdr:y>0.08357</cdr:y>
    </cdr:to>
    <cdr:sp macro="" textlink="">
      <cdr:nvSpPr>
        <cdr:cNvPr id="2" name="TextBox 1">
          <a:extLst xmlns:a="http://schemas.openxmlformats.org/drawingml/2006/main">
            <a:ext uri="{FF2B5EF4-FFF2-40B4-BE49-F238E27FC236}">
              <a16:creationId xmlns:a16="http://schemas.microsoft.com/office/drawing/2014/main" id="{989DC305-A398-9511-A4E2-F20634811A41}"/>
            </a:ext>
          </a:extLst>
        </cdr:cNvPr>
        <cdr:cNvSpPr txBox="1"/>
      </cdr:nvSpPr>
      <cdr:spPr>
        <a:xfrm xmlns:a="http://schemas.openxmlformats.org/drawingml/2006/main">
          <a:off x="26348" y="56370"/>
          <a:ext cx="1188720" cy="169277"/>
        </a:xfrm>
        <a:prstGeom xmlns:a="http://schemas.openxmlformats.org/drawingml/2006/main" prst="rect">
          <a:avLst/>
        </a:prstGeom>
        <a:noFill xmlns:a="http://schemas.openxmlformats.org/drawingml/2006/main"/>
      </cdr:spPr>
      <cdr:txBody>
        <a:bodyPr xmlns:a="http://schemas.openxmlformats.org/drawingml/2006/main" vertOverflow="clip" wrap="square" lIns="0" tIns="0" rIns="0" bIns="0" rtlCol="0">
          <a:spAutoFit/>
        </a:bodyPr>
        <a:lstStyle xmlns:a="http://schemas.openxmlformats.org/drawingml/2006/main"/>
        <a:p xmlns:a="http://schemas.openxmlformats.org/drawingml/2006/main">
          <a:pPr>
            <a:spcBef>
              <a:spcPts val="600"/>
            </a:spcBef>
            <a:buSzPct val="100000"/>
          </a:pPr>
          <a:r>
            <a:rPr lang="en-US" sz="1100" dirty="0">
              <a:solidFill>
                <a:srgbClr val="313131"/>
              </a:solidFill>
              <a:latin typeface="Calibri" panose="020F0502020204030204" pitchFamily="34" charset="0"/>
              <a:cs typeface="Calibri" panose="020F0502020204030204" pitchFamily="34" charset="0"/>
            </a:rPr>
            <a:t>(in BU)</a:t>
          </a:r>
        </a:p>
      </cdr:txBody>
    </cdr:sp>
  </cdr:relSizeAnchor>
  <cdr:relSizeAnchor xmlns:cdr="http://schemas.openxmlformats.org/drawingml/2006/chartDrawing">
    <cdr:from>
      <cdr:x>0.6488</cdr:x>
      <cdr:y>0.37232</cdr:y>
    </cdr:from>
    <cdr:to>
      <cdr:x>0.87615</cdr:x>
      <cdr:y>0.52848</cdr:y>
    </cdr:to>
    <cdr:cxnSp macro="">
      <cdr:nvCxnSpPr>
        <cdr:cNvPr id="3" name="Straight Arrow Connector 2">
          <a:extLst xmlns:a="http://schemas.openxmlformats.org/drawingml/2006/main">
            <a:ext uri="{FF2B5EF4-FFF2-40B4-BE49-F238E27FC236}">
              <a16:creationId xmlns:a16="http://schemas.microsoft.com/office/drawing/2014/main" id="{A861B4B9-7384-2586-AB9A-CED4416807FE}"/>
            </a:ext>
          </a:extLst>
        </cdr:cNvPr>
        <cdr:cNvCxnSpPr>
          <a:cxnSpLocks xmlns:a="http://schemas.openxmlformats.org/drawingml/2006/main"/>
        </cdr:cNvCxnSpPr>
      </cdr:nvCxnSpPr>
      <cdr:spPr>
        <a:xfrm xmlns:a="http://schemas.openxmlformats.org/drawingml/2006/main" flipV="1">
          <a:off x="3269977" y="1005260"/>
          <a:ext cx="1145812" cy="421640"/>
        </a:xfrm>
        <a:prstGeom xmlns:a="http://schemas.openxmlformats.org/drawingml/2006/main" prst="straightConnector1">
          <a:avLst/>
        </a:prstGeom>
        <a:ln xmlns:a="http://schemas.openxmlformats.org/drawingml/2006/main" w="3175">
          <a:solidFill>
            <a:srgbClr val="002060"/>
          </a:solidFill>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0.65917</cdr:x>
      <cdr:y>0.38298</cdr:y>
    </cdr:from>
    <cdr:to>
      <cdr:x>0.85042</cdr:x>
      <cdr:y>0.44282</cdr:y>
    </cdr:to>
    <cdr:sp macro="" textlink="">
      <cdr:nvSpPr>
        <cdr:cNvPr id="4" name="TextBox 35">
          <a:extLst xmlns:a="http://schemas.openxmlformats.org/drawingml/2006/main">
            <a:ext uri="{FF2B5EF4-FFF2-40B4-BE49-F238E27FC236}">
              <a16:creationId xmlns:a16="http://schemas.microsoft.com/office/drawing/2014/main" id="{0A8677C5-6127-D813-7AA8-0F944034454A}"/>
            </a:ext>
          </a:extLst>
        </cdr:cNvPr>
        <cdr:cNvSpPr txBox="1"/>
      </cdr:nvSpPr>
      <cdr:spPr>
        <a:xfrm xmlns:a="http://schemas.openxmlformats.org/drawingml/2006/main" rot="20445004">
          <a:off x="3322198" y="1034041"/>
          <a:ext cx="963899" cy="161583"/>
        </a:xfrm>
        <a:prstGeom xmlns:a="http://schemas.openxmlformats.org/drawingml/2006/main" prst="rect">
          <a:avLst/>
        </a:prstGeom>
        <a:noFill xmlns:a="http://schemas.openxmlformats.org/drawingml/2006/main"/>
      </cdr:spPr>
      <cdr:txBody>
        <a:bodyPr xmlns:a="http://schemas.openxmlformats.org/drawingml/2006/main" wrap="squar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ctr">
            <a:spcBef>
              <a:spcPts val="600"/>
            </a:spcBef>
            <a:buSzPct val="100000"/>
          </a:pPr>
          <a:r>
            <a:rPr lang="en-US" sz="1050" dirty="0">
              <a:solidFill>
                <a:srgbClr val="007680"/>
              </a:solidFill>
              <a:latin typeface="Calibri" panose="020F0502020204030204" pitchFamily="34" charset="0"/>
              <a:cs typeface="Calibri" panose="020F0502020204030204" pitchFamily="34" charset="0"/>
            </a:rPr>
            <a:t>6-7% CAGR</a:t>
          </a:r>
        </a:p>
      </cdr:txBody>
    </cdr:sp>
  </cdr:relSizeAnchor>
</c:userShapes>
</file>

<file path=ppt/drawings/drawing6.xml><?xml version="1.0" encoding="utf-8"?>
<c:userShapes xmlns:c="http://schemas.openxmlformats.org/drawingml/2006/chart">
  <cdr:relSizeAnchor xmlns:cdr="http://schemas.openxmlformats.org/drawingml/2006/chartDrawing">
    <cdr:from>
      <cdr:x>0.00523</cdr:x>
      <cdr:y>0.03317</cdr:y>
    </cdr:from>
    <cdr:to>
      <cdr:x>0.24109</cdr:x>
      <cdr:y>0.09586</cdr:y>
    </cdr:to>
    <cdr:sp macro="" textlink="">
      <cdr:nvSpPr>
        <cdr:cNvPr id="2" name="TextBox 1">
          <a:extLst xmlns:a="http://schemas.openxmlformats.org/drawingml/2006/main">
            <a:ext uri="{FF2B5EF4-FFF2-40B4-BE49-F238E27FC236}">
              <a16:creationId xmlns:a16="http://schemas.microsoft.com/office/drawing/2014/main" id="{199A54D2-7E52-A6FC-6D21-5F87CA281172}"/>
            </a:ext>
          </a:extLst>
        </cdr:cNvPr>
        <cdr:cNvSpPr txBox="1"/>
      </cdr:nvSpPr>
      <cdr:spPr>
        <a:xfrm xmlns:a="http://schemas.openxmlformats.org/drawingml/2006/main">
          <a:off x="26350" y="89557"/>
          <a:ext cx="1188720" cy="169277"/>
        </a:xfrm>
        <a:prstGeom xmlns:a="http://schemas.openxmlformats.org/drawingml/2006/main" prst="rect">
          <a:avLst/>
        </a:prstGeom>
        <a:noFill xmlns:a="http://schemas.openxmlformats.org/drawingml/2006/main"/>
      </cdr:spPr>
      <cdr:txBody>
        <a:bodyPr xmlns:a="http://schemas.openxmlformats.org/drawingml/2006/main" wrap="square" lIns="0" tIns="0" rIns="0" bIns="0"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spcBef>
              <a:spcPts val="600"/>
            </a:spcBef>
            <a:buSzPct val="100000"/>
          </a:pPr>
          <a:r>
            <a:rPr lang="en-US" sz="1100" dirty="0">
              <a:solidFill>
                <a:srgbClr val="313131"/>
              </a:solidFill>
              <a:latin typeface="Calibri" panose="020F0502020204030204" pitchFamily="34" charset="0"/>
              <a:cs typeface="Calibri" panose="020F0502020204030204" pitchFamily="34" charset="0"/>
            </a:rPr>
            <a:t>(in BU)</a:t>
          </a:r>
        </a:p>
      </cdr:txBody>
    </cdr:sp>
  </cdr:relSizeAnchor>
  <cdr:relSizeAnchor xmlns:cdr="http://schemas.openxmlformats.org/drawingml/2006/chartDrawing">
    <cdr:from>
      <cdr:x>0.89108</cdr:x>
      <cdr:y>0</cdr:y>
    </cdr:from>
    <cdr:to>
      <cdr:x>1</cdr:x>
      <cdr:y>0.0627</cdr:y>
    </cdr:to>
    <cdr:sp macro="" textlink="">
      <cdr:nvSpPr>
        <cdr:cNvPr id="4" name="TextBox 1">
          <a:extLst xmlns:a="http://schemas.openxmlformats.org/drawingml/2006/main">
            <a:ext uri="{FF2B5EF4-FFF2-40B4-BE49-F238E27FC236}">
              <a16:creationId xmlns:a16="http://schemas.microsoft.com/office/drawing/2014/main" id="{E500C854-5463-478D-68E0-561CF71CEBCA}"/>
            </a:ext>
          </a:extLst>
        </cdr:cNvPr>
        <cdr:cNvSpPr txBox="1"/>
      </cdr:nvSpPr>
      <cdr:spPr>
        <a:xfrm xmlns:a="http://schemas.openxmlformats.org/drawingml/2006/main">
          <a:off x="4491038" y="0"/>
          <a:ext cx="548961" cy="169277"/>
        </a:xfrm>
        <a:prstGeom xmlns:a="http://schemas.openxmlformats.org/drawingml/2006/main" prst="rect">
          <a:avLst/>
        </a:prstGeom>
        <a:noFill xmlns:a="http://schemas.openxmlformats.org/drawingml/2006/main"/>
      </cdr:spPr>
      <cdr:txBody>
        <a:bodyPr xmlns:a="http://schemas.openxmlformats.org/drawingml/2006/main" wrap="square" lIns="0" tIns="0" rIns="0" bIns="0"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spcBef>
              <a:spcPts val="600"/>
            </a:spcBef>
            <a:buSzPct val="100000"/>
          </a:pPr>
          <a:r>
            <a:rPr lang="en-US" sz="1100" dirty="0">
              <a:solidFill>
                <a:srgbClr val="313131"/>
              </a:solidFill>
              <a:latin typeface="Calibri" panose="020F0502020204030204" pitchFamily="34" charset="0"/>
              <a:cs typeface="Calibri" panose="020F0502020204030204" pitchFamily="34" charset="0"/>
            </a:rPr>
            <a:t>(in %)</a:t>
          </a:r>
        </a:p>
      </cdr:txBody>
    </cdr:sp>
  </cdr:relSizeAnchor>
</c:userShapes>
</file>

<file path=ppt/drawings/drawing7.xml><?xml version="1.0" encoding="utf-8"?>
<c:userShapes xmlns:c="http://schemas.openxmlformats.org/drawingml/2006/chart">
  <cdr:relSizeAnchor xmlns:cdr="http://schemas.openxmlformats.org/drawingml/2006/chartDrawing">
    <cdr:from>
      <cdr:x>0.00523</cdr:x>
      <cdr:y>0.02088</cdr:y>
    </cdr:from>
    <cdr:to>
      <cdr:x>0.24108</cdr:x>
      <cdr:y>0.09768</cdr:y>
    </cdr:to>
    <cdr:sp macro="" textlink="">
      <cdr:nvSpPr>
        <cdr:cNvPr id="2" name="TextBox 1">
          <a:extLst xmlns:a="http://schemas.openxmlformats.org/drawingml/2006/main">
            <a:ext uri="{FF2B5EF4-FFF2-40B4-BE49-F238E27FC236}">
              <a16:creationId xmlns:a16="http://schemas.microsoft.com/office/drawing/2014/main" id="{989DC305-A398-9511-A4E2-F20634811A41}"/>
            </a:ext>
          </a:extLst>
        </cdr:cNvPr>
        <cdr:cNvSpPr txBox="1"/>
      </cdr:nvSpPr>
      <cdr:spPr>
        <a:xfrm xmlns:a="http://schemas.openxmlformats.org/drawingml/2006/main">
          <a:off x="28242" y="46022"/>
          <a:ext cx="1273590" cy="169277"/>
        </a:xfrm>
        <a:prstGeom xmlns:a="http://schemas.openxmlformats.org/drawingml/2006/main" prst="rect">
          <a:avLst/>
        </a:prstGeom>
        <a:noFill xmlns:a="http://schemas.openxmlformats.org/drawingml/2006/main"/>
      </cdr:spPr>
      <cdr:txBody>
        <a:bodyPr xmlns:a="http://schemas.openxmlformats.org/drawingml/2006/main" vertOverflow="clip" wrap="square" lIns="0" tIns="0" rIns="0" bIns="0" rtlCol="0">
          <a:spAutoFit/>
        </a:bodyPr>
        <a:lstStyle xmlns:a="http://schemas.openxmlformats.org/drawingml/2006/main"/>
        <a:p xmlns:a="http://schemas.openxmlformats.org/drawingml/2006/main">
          <a:pPr>
            <a:spcBef>
              <a:spcPts val="600"/>
            </a:spcBef>
            <a:buSzPct val="100000"/>
          </a:pPr>
          <a:r>
            <a:rPr lang="en-US" sz="1100" dirty="0">
              <a:solidFill>
                <a:srgbClr val="313131"/>
              </a:solidFill>
              <a:latin typeface="Calibri" panose="020F0502020204030204" pitchFamily="34" charset="0"/>
              <a:cs typeface="Calibri" panose="020F0502020204030204" pitchFamily="34" charset="0"/>
            </a:rPr>
            <a:t>(in BU)</a:t>
          </a:r>
        </a:p>
      </cdr:txBody>
    </cdr:sp>
  </cdr:relSizeAnchor>
  <cdr:relSizeAnchor xmlns:cdr="http://schemas.openxmlformats.org/drawingml/2006/chartDrawing">
    <cdr:from>
      <cdr:x>0.09568</cdr:x>
      <cdr:y>0.1288</cdr:y>
    </cdr:from>
    <cdr:to>
      <cdr:x>0.90432</cdr:x>
      <cdr:y>0.37115</cdr:y>
    </cdr:to>
    <cdr:cxnSp macro="">
      <cdr:nvCxnSpPr>
        <cdr:cNvPr id="5" name="Straight Arrow Connector 4">
          <a:extLst xmlns:a="http://schemas.openxmlformats.org/drawingml/2006/main">
            <a:ext uri="{FF2B5EF4-FFF2-40B4-BE49-F238E27FC236}">
              <a16:creationId xmlns:a16="http://schemas.microsoft.com/office/drawing/2014/main" id="{90A12B99-81E9-F36F-D5DF-EC366037623B}"/>
            </a:ext>
          </a:extLst>
        </cdr:cNvPr>
        <cdr:cNvCxnSpPr>
          <a:cxnSpLocks xmlns:a="http://schemas.openxmlformats.org/drawingml/2006/main"/>
        </cdr:cNvCxnSpPr>
      </cdr:nvCxnSpPr>
      <cdr:spPr>
        <a:xfrm xmlns:a="http://schemas.openxmlformats.org/drawingml/2006/main" flipV="1">
          <a:off x="516677" y="283900"/>
          <a:ext cx="4366643" cy="534167"/>
        </a:xfrm>
        <a:prstGeom xmlns:a="http://schemas.openxmlformats.org/drawingml/2006/main" prst="straightConnector1">
          <a:avLst/>
        </a:prstGeom>
        <a:ln xmlns:a="http://schemas.openxmlformats.org/drawingml/2006/main" w="3175">
          <a:solidFill>
            <a:srgbClr val="002060"/>
          </a:solidFill>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0.36566</cdr:x>
      <cdr:y>0.17448</cdr:y>
    </cdr:from>
    <cdr:to>
      <cdr:x>0.5569</cdr:x>
      <cdr:y>0.24778</cdr:y>
    </cdr:to>
    <cdr:sp macro="" textlink="">
      <cdr:nvSpPr>
        <cdr:cNvPr id="6" name="TextBox 35">
          <a:extLst xmlns:a="http://schemas.openxmlformats.org/drawingml/2006/main">
            <a:ext uri="{FF2B5EF4-FFF2-40B4-BE49-F238E27FC236}">
              <a16:creationId xmlns:a16="http://schemas.microsoft.com/office/drawing/2014/main" id="{CE7A0501-43BC-36F2-B754-CCA90635AE7F}"/>
            </a:ext>
          </a:extLst>
        </cdr:cNvPr>
        <cdr:cNvSpPr txBox="1"/>
      </cdr:nvSpPr>
      <cdr:spPr>
        <a:xfrm xmlns:a="http://schemas.openxmlformats.org/drawingml/2006/main" rot="21190476">
          <a:off x="1974537" y="384569"/>
          <a:ext cx="1032749" cy="161583"/>
        </a:xfrm>
        <a:prstGeom xmlns:a="http://schemas.openxmlformats.org/drawingml/2006/main" prst="rect">
          <a:avLst/>
        </a:prstGeom>
        <a:noFill xmlns:a="http://schemas.openxmlformats.org/drawingml/2006/main"/>
      </cdr:spPr>
      <cdr:txBody>
        <a:bodyPr xmlns:a="http://schemas.openxmlformats.org/drawingml/2006/main" wrap="square" lIns="0" tIns="0" rIns="0" bIns="0"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spcBef>
              <a:spcPts val="600"/>
            </a:spcBef>
            <a:buSzPct val="100000"/>
          </a:pPr>
          <a:r>
            <a:rPr lang="en-US" sz="1050" dirty="0">
              <a:solidFill>
                <a:srgbClr val="007680"/>
              </a:solidFill>
              <a:latin typeface="Calibri" panose="020F0502020204030204" pitchFamily="34" charset="0"/>
              <a:cs typeface="Calibri" panose="020F0502020204030204" pitchFamily="34" charset="0"/>
            </a:rPr>
            <a:t>16.5% CAGR</a:t>
          </a:r>
        </a:p>
      </cdr:txBody>
    </cdr:sp>
  </cdr:relSizeAnchor>
</c:userShapes>
</file>

<file path=ppt/drawings/drawing8.xml><?xml version="1.0" encoding="utf-8"?>
<c:userShapes xmlns:c="http://schemas.openxmlformats.org/drawingml/2006/chart">
  <cdr:relSizeAnchor xmlns:cdr="http://schemas.openxmlformats.org/drawingml/2006/chartDrawing">
    <cdr:from>
      <cdr:x>0.00523</cdr:x>
      <cdr:y>0.02088</cdr:y>
    </cdr:from>
    <cdr:to>
      <cdr:x>0.24108</cdr:x>
      <cdr:y>0.11251</cdr:y>
    </cdr:to>
    <cdr:sp macro="" textlink="">
      <cdr:nvSpPr>
        <cdr:cNvPr id="2" name="TextBox 1">
          <a:extLst xmlns:a="http://schemas.openxmlformats.org/drawingml/2006/main">
            <a:ext uri="{FF2B5EF4-FFF2-40B4-BE49-F238E27FC236}">
              <a16:creationId xmlns:a16="http://schemas.microsoft.com/office/drawing/2014/main" id="{989DC305-A398-9511-A4E2-F20634811A41}"/>
            </a:ext>
          </a:extLst>
        </cdr:cNvPr>
        <cdr:cNvSpPr txBox="1"/>
      </cdr:nvSpPr>
      <cdr:spPr>
        <a:xfrm xmlns:a="http://schemas.openxmlformats.org/drawingml/2006/main">
          <a:off x="28242" y="38574"/>
          <a:ext cx="1273590" cy="169277"/>
        </a:xfrm>
        <a:prstGeom xmlns:a="http://schemas.openxmlformats.org/drawingml/2006/main" prst="rect">
          <a:avLst/>
        </a:prstGeom>
        <a:noFill xmlns:a="http://schemas.openxmlformats.org/drawingml/2006/main"/>
      </cdr:spPr>
      <cdr:txBody>
        <a:bodyPr xmlns:a="http://schemas.openxmlformats.org/drawingml/2006/main" vertOverflow="clip" wrap="square" lIns="0" tIns="0" rIns="0" bIns="0" rtlCol="0">
          <a:spAutoFit/>
        </a:bodyPr>
        <a:lstStyle xmlns:a="http://schemas.openxmlformats.org/drawingml/2006/main"/>
        <a:p xmlns:a="http://schemas.openxmlformats.org/drawingml/2006/main">
          <a:pPr>
            <a:spcBef>
              <a:spcPts val="600"/>
            </a:spcBef>
            <a:buSzPct val="100000"/>
          </a:pPr>
          <a:r>
            <a:rPr lang="en-US" sz="1100" dirty="0">
              <a:solidFill>
                <a:srgbClr val="313131"/>
              </a:solidFill>
              <a:latin typeface="Calibri" panose="020F0502020204030204" pitchFamily="34" charset="0"/>
              <a:cs typeface="Calibri" panose="020F0502020204030204" pitchFamily="34" charset="0"/>
            </a:rPr>
            <a:t>(</a:t>
          </a:r>
          <a:r>
            <a:rPr lang="en-US" dirty="0">
              <a:solidFill>
                <a:srgbClr val="313131"/>
              </a:solidFill>
              <a:latin typeface="Calibri" panose="020F0502020204030204" pitchFamily="34" charset="0"/>
              <a:cs typeface="Calibri" panose="020F0502020204030204" pitchFamily="34" charset="0"/>
            </a:rPr>
            <a:t>Nos.</a:t>
          </a:r>
          <a:r>
            <a:rPr lang="en-US" sz="1100" dirty="0">
              <a:solidFill>
                <a:srgbClr val="313131"/>
              </a:solidFill>
              <a:latin typeface="Calibri" panose="020F0502020204030204" pitchFamily="34" charset="0"/>
              <a:cs typeface="Calibri" panose="020F0502020204030204" pitchFamily="34" charset="0"/>
            </a:rPr>
            <a:t>)</a:t>
          </a:r>
        </a:p>
      </cdr:txBody>
    </cdr:sp>
  </cdr:relSizeAnchor>
</c:userShapes>
</file>

<file path=ppt/drawings/drawing9.xml><?xml version="1.0" encoding="utf-8"?>
<c:userShapes xmlns:c="http://schemas.openxmlformats.org/drawingml/2006/chart">
  <cdr:relSizeAnchor xmlns:cdr="http://schemas.openxmlformats.org/drawingml/2006/chartDrawing">
    <cdr:from>
      <cdr:x>0.03649</cdr:x>
      <cdr:y>0.32055</cdr:y>
    </cdr:from>
    <cdr:to>
      <cdr:x>0.03649</cdr:x>
      <cdr:y>0.59725</cdr:y>
    </cdr:to>
    <cdr:cxnSp macro="">
      <cdr:nvCxnSpPr>
        <cdr:cNvPr id="12" name="Straight Connector 11">
          <a:extLst xmlns:a="http://schemas.openxmlformats.org/drawingml/2006/main">
            <a:ext uri="{FF2B5EF4-FFF2-40B4-BE49-F238E27FC236}">
              <a16:creationId xmlns:a16="http://schemas.microsoft.com/office/drawing/2014/main" id="{ACB99566-4CE3-809F-A119-B98DAAC85985}"/>
            </a:ext>
          </a:extLst>
        </cdr:cNvPr>
        <cdr:cNvCxnSpPr/>
      </cdr:nvCxnSpPr>
      <cdr:spPr>
        <a:xfrm xmlns:a="http://schemas.openxmlformats.org/drawingml/2006/main" flipV="1">
          <a:off x="412420" y="850886"/>
          <a:ext cx="0" cy="734489"/>
        </a:xfrm>
        <a:prstGeom xmlns:a="http://schemas.openxmlformats.org/drawingml/2006/main" prst="line">
          <a:avLst/>
        </a:prstGeom>
        <a:ln xmlns:a="http://schemas.openxmlformats.org/drawingml/2006/main">
          <a:solidFill>
            <a:schemeClr val="tx2"/>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0.03597</cdr:x>
      <cdr:y>0.32586</cdr:y>
    </cdr:from>
    <cdr:to>
      <cdr:x>0.54921</cdr:x>
      <cdr:y>0.32586</cdr:y>
    </cdr:to>
    <cdr:cxnSp macro="">
      <cdr:nvCxnSpPr>
        <cdr:cNvPr id="14" name="Straight Connector 13">
          <a:extLst xmlns:a="http://schemas.openxmlformats.org/drawingml/2006/main">
            <a:ext uri="{FF2B5EF4-FFF2-40B4-BE49-F238E27FC236}">
              <a16:creationId xmlns:a16="http://schemas.microsoft.com/office/drawing/2014/main" id="{DF03B901-7A8C-670C-8C4F-596C847006FB}"/>
            </a:ext>
          </a:extLst>
        </cdr:cNvPr>
        <cdr:cNvCxnSpPr/>
      </cdr:nvCxnSpPr>
      <cdr:spPr>
        <a:xfrm xmlns:a="http://schemas.openxmlformats.org/drawingml/2006/main">
          <a:off x="406521" y="864977"/>
          <a:ext cx="5801083" cy="0"/>
        </a:xfrm>
        <a:prstGeom xmlns:a="http://schemas.openxmlformats.org/drawingml/2006/main" prst="line">
          <a:avLst/>
        </a:prstGeom>
        <a:ln xmlns:a="http://schemas.openxmlformats.org/drawingml/2006/main">
          <a:solidFill>
            <a:schemeClr val="tx2"/>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0.54921</cdr:x>
      <cdr:y>0.32932</cdr:y>
    </cdr:from>
    <cdr:to>
      <cdr:x>0.54921</cdr:x>
      <cdr:y>0.43372</cdr:y>
    </cdr:to>
    <cdr:cxnSp macro="">
      <cdr:nvCxnSpPr>
        <cdr:cNvPr id="16" name="Straight Arrow Connector 15">
          <a:extLst xmlns:a="http://schemas.openxmlformats.org/drawingml/2006/main">
            <a:ext uri="{FF2B5EF4-FFF2-40B4-BE49-F238E27FC236}">
              <a16:creationId xmlns:a16="http://schemas.microsoft.com/office/drawing/2014/main" id="{A6B3CE3D-1251-041B-CCB5-285A4B03146F}"/>
            </a:ext>
          </a:extLst>
        </cdr:cNvPr>
        <cdr:cNvCxnSpPr/>
      </cdr:nvCxnSpPr>
      <cdr:spPr>
        <a:xfrm xmlns:a="http://schemas.openxmlformats.org/drawingml/2006/main">
          <a:off x="6207604" y="874161"/>
          <a:ext cx="0" cy="277136"/>
        </a:xfrm>
        <a:prstGeom xmlns:a="http://schemas.openxmlformats.org/drawingml/2006/main" prst="straightConnector1">
          <a:avLst/>
        </a:prstGeom>
        <a:ln xmlns:a="http://schemas.openxmlformats.org/drawingml/2006/main">
          <a:solidFill>
            <a:schemeClr val="tx2"/>
          </a:solidFill>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0.80429</cdr:x>
      <cdr:y>0.06406</cdr:y>
    </cdr:from>
    <cdr:to>
      <cdr:x>0.80429</cdr:x>
      <cdr:y>0.21726</cdr:y>
    </cdr:to>
    <cdr:cxnSp macro="">
      <cdr:nvCxnSpPr>
        <cdr:cNvPr id="19" name="Straight Arrow Connector 18">
          <a:extLst xmlns:a="http://schemas.openxmlformats.org/drawingml/2006/main">
            <a:ext uri="{FF2B5EF4-FFF2-40B4-BE49-F238E27FC236}">
              <a16:creationId xmlns:a16="http://schemas.microsoft.com/office/drawing/2014/main" id="{2383644A-DA3D-B4D8-7A87-EBE59F15221E}"/>
            </a:ext>
          </a:extLst>
        </cdr:cNvPr>
        <cdr:cNvCxnSpPr/>
      </cdr:nvCxnSpPr>
      <cdr:spPr>
        <a:xfrm xmlns:a="http://schemas.openxmlformats.org/drawingml/2006/main">
          <a:off x="9090816" y="170046"/>
          <a:ext cx="0" cy="406670"/>
        </a:xfrm>
        <a:prstGeom xmlns:a="http://schemas.openxmlformats.org/drawingml/2006/main" prst="straightConnector1">
          <a:avLst/>
        </a:prstGeom>
        <a:ln xmlns:a="http://schemas.openxmlformats.org/drawingml/2006/main">
          <a:solidFill>
            <a:schemeClr val="tx2"/>
          </a:solidFill>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0.81481</cdr:x>
      <cdr:y>0.00496</cdr:y>
    </cdr:from>
    <cdr:to>
      <cdr:x>0.91982</cdr:x>
      <cdr:y>0.19919</cdr:y>
    </cdr:to>
    <cdr:cxnSp macro="">
      <cdr:nvCxnSpPr>
        <cdr:cNvPr id="23" name="Straight Arrow Connector 22">
          <a:extLst xmlns:a="http://schemas.openxmlformats.org/drawingml/2006/main">
            <a:ext uri="{FF2B5EF4-FFF2-40B4-BE49-F238E27FC236}">
              <a16:creationId xmlns:a16="http://schemas.microsoft.com/office/drawing/2014/main" id="{FDE9E342-751B-E2DC-759E-12F67DD30588}"/>
            </a:ext>
          </a:extLst>
        </cdr:cNvPr>
        <cdr:cNvCxnSpPr/>
      </cdr:nvCxnSpPr>
      <cdr:spPr>
        <a:xfrm xmlns:a="http://schemas.openxmlformats.org/drawingml/2006/main" flipV="1">
          <a:off x="9209634" y="13177"/>
          <a:ext cx="1186963" cy="515566"/>
        </a:xfrm>
        <a:prstGeom xmlns:a="http://schemas.openxmlformats.org/drawingml/2006/main" prst="straightConnector1">
          <a:avLst/>
        </a:prstGeom>
        <a:ln xmlns:a="http://schemas.openxmlformats.org/drawingml/2006/main">
          <a:solidFill>
            <a:schemeClr val="tx2"/>
          </a:solidFill>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10.xml><?xml version="1.0" encoding="utf-8"?>
<c:userShapes xmlns:c="http://schemas.openxmlformats.org/drawingml/2006/chart">
  <cdr:relSizeAnchor xmlns:cdr="http://schemas.openxmlformats.org/drawingml/2006/chartDrawing">
    <cdr:from>
      <cdr:x>0.59542</cdr:x>
      <cdr:y>0.42988</cdr:y>
    </cdr:from>
    <cdr:to>
      <cdr:x>0.71576</cdr:x>
      <cdr:y>0.42988</cdr:y>
    </cdr:to>
    <cdr:cxnSp macro="">
      <cdr:nvCxnSpPr>
        <cdr:cNvPr id="5" name="Straight Connector 4">
          <a:extLst xmlns:a="http://schemas.openxmlformats.org/drawingml/2006/main">
            <a:ext uri="{FF2B5EF4-FFF2-40B4-BE49-F238E27FC236}">
              <a16:creationId xmlns:a16="http://schemas.microsoft.com/office/drawing/2014/main" id="{A86CDB82-BBAD-CEFE-459C-70C1149F59DE}"/>
            </a:ext>
          </a:extLst>
        </cdr:cNvPr>
        <cdr:cNvCxnSpPr/>
      </cdr:nvCxnSpPr>
      <cdr:spPr>
        <a:xfrm xmlns:a="http://schemas.openxmlformats.org/drawingml/2006/main">
          <a:off x="6669485" y="1139280"/>
          <a:ext cx="1348013" cy="0"/>
        </a:xfrm>
        <a:prstGeom xmlns:a="http://schemas.openxmlformats.org/drawingml/2006/main" prst="line">
          <a:avLst/>
        </a:prstGeom>
        <a:ln xmlns:a="http://schemas.openxmlformats.org/drawingml/2006/main">
          <a:solidFill>
            <a:schemeClr val="tx2"/>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DC9740F-1E88-4970-9FCE-DF4840BA2D08}" type="datetimeFigureOut">
              <a:rPr lang="en-US" smtClean="0"/>
              <a:t>06-Aug-25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136A8B0B-45BC-4094-A860-E18B8FAB38D5}" type="slidenum">
              <a:rPr lang="en-US" smtClean="0"/>
              <a:t>‹#›</a:t>
            </a:fld>
            <a:endParaRPr lang="en-US"/>
          </a:p>
        </p:txBody>
      </p:sp>
    </p:spTree>
    <p:extLst>
      <p:ext uri="{BB962C8B-B14F-4D97-AF65-F5344CB8AC3E}">
        <p14:creationId xmlns:p14="http://schemas.microsoft.com/office/powerpoint/2010/main" val="425681339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8" Type="http://schemas.openxmlformats.org/officeDocument/2006/relationships/hyperlink" Target="https://www.idsa.in/publisher/comments/revisiting-the-kosi-agreement-lessons-for-indo-nepal-water-diplomacy" TargetMode="External"/><Relationship Id="rId3" Type="http://schemas.openxmlformats.org/officeDocument/2006/relationships/hyperlink" Target="https://moewri.gov.np/storage/listies/May2020/revised-agreement-on-nepal-and-india-koshi-river-1966.pdf" TargetMode="External"/><Relationship Id="rId7" Type="http://schemas.openxmlformats.org/officeDocument/2006/relationships/hyperlink" Target="https://moewri.gov.np/storage/listies/May2020/treaty-between-nepal-and-india-on-mahakali-rive-1996.pdf" TargetMode="External"/><Relationship Id="rId2" Type="http://schemas.openxmlformats.org/officeDocument/2006/relationships/slide" Target="../slides/slide42.xml"/><Relationship Id="rId1" Type="http://schemas.openxmlformats.org/officeDocument/2006/relationships/notesMaster" Target="../notesMasters/notesMaster1.xml"/><Relationship Id="rId6" Type="http://schemas.openxmlformats.org/officeDocument/2006/relationships/hyperlink" Target="https://www.nvvn.co.in/assets/Directors_Report_NVVN_2023-24.pdf" TargetMode="External"/><Relationship Id="rId5" Type="http://schemas.openxmlformats.org/officeDocument/2006/relationships/hyperlink" Target="https://moewri.gov.np/storage/listies/May2020/aggrement-on-nepal-and-india-gandak-river-1959.pdf" TargetMode="External"/><Relationship Id="rId4" Type="http://schemas.openxmlformats.org/officeDocument/2006/relationships/hyperlink" Target="https://www.commonlii.org/in/other/treaties/INTSer/1958/14.html" TargetMode="External"/></Relationships>
</file>

<file path=ppt/notesSlides/_rels/notesSlide42.xml.rels><?xml version="1.0" encoding="UTF-8" standalone="yes"?>
<Relationships xmlns="http://schemas.openxmlformats.org/package/2006/relationships"><Relationship Id="rId8" Type="http://schemas.openxmlformats.org/officeDocument/2006/relationships/hyperlink" Target="https://www.idsa.in/publisher/comments/revisiting-the-kosi-agreement-lessons-for-indo-nepal-water-diplomacy" TargetMode="External"/><Relationship Id="rId3" Type="http://schemas.openxmlformats.org/officeDocument/2006/relationships/hyperlink" Target="https://moewri.gov.np/storage/listies/May2020/revised-agreement-on-nepal-and-india-koshi-river-1966.pdf" TargetMode="External"/><Relationship Id="rId7" Type="http://schemas.openxmlformats.org/officeDocument/2006/relationships/hyperlink" Target="https://moewri.gov.np/storage/listies/May2020/treaty-between-nepal-and-india-on-mahakali-rive-1996.pdf" TargetMode="External"/><Relationship Id="rId2" Type="http://schemas.openxmlformats.org/officeDocument/2006/relationships/slide" Target="../slides/slide43.xml"/><Relationship Id="rId1" Type="http://schemas.openxmlformats.org/officeDocument/2006/relationships/notesMaster" Target="../notesMasters/notesMaster1.xml"/><Relationship Id="rId6" Type="http://schemas.openxmlformats.org/officeDocument/2006/relationships/hyperlink" Target="https://www.nvvn.co.in/assets/Directors_Report_NVVN_2023-24.pdf" TargetMode="External"/><Relationship Id="rId5" Type="http://schemas.openxmlformats.org/officeDocument/2006/relationships/hyperlink" Target="https://moewri.gov.np/storage/listies/May2020/aggrement-on-nepal-and-india-gandak-river-1959.pdf" TargetMode="External"/><Relationship Id="rId4" Type="http://schemas.openxmlformats.org/officeDocument/2006/relationships/hyperlink" Target="https://www.commonlii.org/in/other/treaties/INTSer/1958/14.html" TargetMode="Externa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88B299-FBEB-47AA-8879-672851374028}" type="slidenum">
              <a:rPr kumimoji="0" lang="ja-JP" altLang="en-US" sz="1200" b="0" i="0" u="none" strike="noStrike" kern="1200" cap="none" spc="0" normalizeH="0" baseline="0" noProof="0">
                <a:ln>
                  <a:noFill/>
                </a:ln>
                <a:solidFill>
                  <a:prstClr val="black"/>
                </a:solidFill>
                <a:effectLst/>
                <a:uLnTx/>
                <a:uFillTx/>
                <a:latin typeface="Calibri" panose="020F0502020204030204"/>
                <a:ea typeface="Yu Gothic UI" panose="020B0500000000000000" pitchFamily="50" charset="-128"/>
                <a:cs typeface="+mn-cs"/>
                <a:sym typeface="+mn-lt"/>
              </a:rPr>
              <a:pPr marL="0" marR="0" lvl="0" indent="0" algn="r" defTabSz="914400" rtl="0" eaLnBrk="1" fontAlgn="base" latinLnBrk="0" hangingPunct="1">
                <a:lnSpc>
                  <a:spcPct val="100000"/>
                </a:lnSpc>
                <a:spcBef>
                  <a:spcPct val="0"/>
                </a:spcBef>
                <a:spcAft>
                  <a:spcPct val="0"/>
                </a:spcAft>
                <a:buClrTx/>
                <a:buSzTx/>
                <a:buFontTx/>
                <a:buNone/>
                <a:tabLst/>
                <a:defRPr/>
              </a:pPr>
              <a:t>1</a:t>
            </a:fld>
            <a:endParaRPr kumimoji="0" lang="en-US" altLang="ja-JP" sz="1200" b="0" i="0" u="none" strike="noStrike" kern="1200" cap="none" spc="0" normalizeH="0" baseline="0" noProof="0">
              <a:ln>
                <a:noFill/>
              </a:ln>
              <a:solidFill>
                <a:prstClr val="black"/>
              </a:solidFill>
              <a:effectLst/>
              <a:uLnTx/>
              <a:uFillTx/>
              <a:latin typeface="Calibri" panose="020F0502020204030204"/>
              <a:ea typeface="Yu Gothic UI" panose="020B0500000000000000" pitchFamily="50" charset="-128"/>
              <a:cs typeface="+mn-cs"/>
              <a:sym typeface="+mn-lt"/>
            </a:endParaRPr>
          </a:p>
        </p:txBody>
      </p:sp>
      <p:sp>
        <p:nvSpPr>
          <p:cNvPr id="3243010" name="Rectangle 2"/>
          <p:cNvSpPr>
            <a:spLocks noGrp="1" noRot="1" noChangeAspect="1" noChangeArrowheads="1" noTextEdit="1"/>
          </p:cNvSpPr>
          <p:nvPr>
            <p:ph type="sldImg"/>
          </p:nvPr>
        </p:nvSpPr>
        <p:spPr>
          <a:xfrm>
            <a:off x="95250" y="757238"/>
            <a:ext cx="6624638" cy="3727450"/>
          </a:xfrm>
          <a:ln/>
        </p:spPr>
      </p:sp>
      <p:sp>
        <p:nvSpPr>
          <p:cNvPr id="3243011" name="Rectangle 3"/>
          <p:cNvSpPr>
            <a:spLocks noGrp="1" noChangeArrowheads="1"/>
          </p:cNvSpPr>
          <p:nvPr>
            <p:ph type="body" idx="1"/>
          </p:nvPr>
        </p:nvSpPr>
        <p:spPr/>
        <p:txBody>
          <a:bodyPr/>
          <a:lstStyle/>
          <a:p>
            <a:pPr>
              <a:buFontTx/>
              <a:buNone/>
            </a:pPr>
            <a:endParaRPr lang="en-GB"/>
          </a:p>
        </p:txBody>
      </p:sp>
    </p:spTree>
    <p:extLst>
      <p:ext uri="{BB962C8B-B14F-4D97-AF65-F5344CB8AC3E}">
        <p14:creationId xmlns:p14="http://schemas.microsoft.com/office/powerpoint/2010/main" val="95443868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56954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76022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125440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5401387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1317609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10182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98227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50838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773019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27768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281376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157652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795390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361013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595005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0797542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2104091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588085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484953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969626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038006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732540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0493228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7062191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153716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550800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37960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783499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1013589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160363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r>
              <a:rPr lang="en-US"/>
              <a:t>.</a:t>
            </a:r>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977029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9077779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3125366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5000681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189351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411026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683772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6636001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r>
              <a:rPr lang="en-US"/>
              <a:t>.</a:t>
            </a:r>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328208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rPr>
              <a:t>Source : </a:t>
            </a: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30000" noProof="0">
                <a:ln>
                  <a:noFill/>
                </a:ln>
                <a:solidFill>
                  <a:prstClr val="black"/>
                </a:solidFill>
                <a:effectLst/>
                <a:uLnTx/>
                <a:uFillTx/>
              </a:rPr>
              <a:t>1</a:t>
            </a:r>
            <a:r>
              <a:rPr kumimoji="0" lang="en-US" sz="1200" b="1" i="0" u="none" strike="noStrike" kern="0" cap="none" spc="0" normalizeH="0" baseline="0" noProof="0">
                <a:ln>
                  <a:noFill/>
                </a:ln>
                <a:solidFill>
                  <a:prstClr val="black"/>
                </a:solidFill>
                <a:effectLst/>
                <a:uLnTx/>
                <a:uFillTx/>
              </a:rPr>
              <a:t> </a:t>
            </a:r>
            <a:r>
              <a:rPr kumimoji="0" lang="en-US" sz="1200" b="1" i="0" u="none" strike="noStrike" kern="0" cap="none" spc="0" normalizeH="0" baseline="0" noProof="0">
                <a:ln>
                  <a:noFill/>
                </a:ln>
                <a:solidFill>
                  <a:prstClr val="black"/>
                </a:solidFill>
                <a:effectLst/>
                <a:uLnTx/>
                <a:uFillTx/>
                <a:hlinkClick r:id="rId3"/>
              </a:rPr>
              <a:t>https://moewri.gov.np/storage/listies/May2020/revised-agreement-on-nepal-and-india-koshi-river-1966.pdf</a:t>
            </a:r>
            <a:br>
              <a:rPr kumimoji="0" lang="en-US" sz="1200" b="1" i="0" u="none" strike="noStrike" kern="0" cap="none" spc="0" normalizeH="0" baseline="0" noProof="0">
                <a:ln>
                  <a:noFill/>
                </a:ln>
                <a:solidFill>
                  <a:prstClr val="black"/>
                </a:solidFill>
                <a:effectLst/>
                <a:uLnTx/>
                <a:uFillTx/>
              </a:rPr>
            </a:br>
            <a:r>
              <a:rPr kumimoji="0" lang="en-US" sz="1200" b="1" i="0" u="none" strike="noStrike" kern="0" cap="none" spc="0" normalizeH="0" baseline="30000" noProof="0">
                <a:ln>
                  <a:noFill/>
                </a:ln>
                <a:solidFill>
                  <a:prstClr val="black"/>
                </a:solidFill>
                <a:effectLst/>
                <a:uLnTx/>
                <a:uFillTx/>
              </a:rPr>
              <a:t>2</a:t>
            </a:r>
            <a:r>
              <a:rPr kumimoji="0" lang="en-US" sz="1200" b="1" i="0" u="none" strike="noStrike" kern="0" cap="none" spc="0" normalizeH="0" baseline="0" noProof="0">
                <a:ln>
                  <a:noFill/>
                </a:ln>
                <a:solidFill>
                  <a:prstClr val="black"/>
                </a:solidFill>
                <a:effectLst/>
                <a:uLnTx/>
                <a:uFillTx/>
                <a:hlinkClick r:id="rId4"/>
              </a:rPr>
              <a:t> https://www.commonlii.org/in/other/treaties/INTSer/1958/14.html</a:t>
            </a:r>
            <a:endParaRPr kumimoji="0" lang="en-US" sz="1200" b="1" i="0" u="none" strike="noStrike" kern="0" cap="none" spc="0" normalizeH="0" baseline="30000" noProof="0">
              <a:ln>
                <a:noFill/>
              </a:ln>
              <a:solidFill>
                <a:prstClr val="black"/>
              </a:solidFill>
              <a:effectLst/>
              <a:uLnTx/>
              <a:uFillTx/>
            </a:endParaRP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30000" noProof="0">
                <a:ln>
                  <a:noFill/>
                </a:ln>
                <a:solidFill>
                  <a:prstClr val="black"/>
                </a:solidFill>
                <a:effectLst/>
                <a:uLnTx/>
                <a:uFillTx/>
              </a:rPr>
              <a:t>3</a:t>
            </a:r>
            <a:r>
              <a:rPr kumimoji="0" lang="en-US" sz="800" b="1" i="0" u="none" strike="noStrike" kern="0" cap="none" spc="0" normalizeH="0" baseline="0" noProof="0">
                <a:ln>
                  <a:noFill/>
                </a:ln>
                <a:solidFill>
                  <a:prstClr val="black"/>
                </a:solidFill>
                <a:effectLst/>
                <a:uLnTx/>
                <a:uFillTx/>
                <a:hlinkClick r:id="rId5"/>
              </a:rPr>
              <a:t> </a:t>
            </a:r>
            <a:r>
              <a:rPr kumimoji="0" lang="en-US" sz="1200" b="1" i="0" u="none" strike="noStrike" kern="0" cap="none" spc="0" normalizeH="0" baseline="0" noProof="0">
                <a:ln>
                  <a:noFill/>
                </a:ln>
                <a:solidFill>
                  <a:prstClr val="black"/>
                </a:solidFill>
                <a:effectLst/>
                <a:uLnTx/>
                <a:uFillTx/>
                <a:hlinkClick r:id="rId5"/>
              </a:rPr>
              <a:t>https://moewri.gov.np/storage/listies/May2020/aggrement-on-nepal-and-india-gandak-river-1959.pdf</a:t>
            </a:r>
            <a:endParaRPr kumimoji="0" lang="en-US" sz="1200" b="1" i="0" u="none" strike="noStrike" kern="0" cap="none" spc="0" normalizeH="0" baseline="0" noProof="0">
              <a:ln>
                <a:noFill/>
              </a:ln>
              <a:solidFill>
                <a:prstClr val="black"/>
              </a:solidFill>
              <a:effectLst/>
              <a:uLnTx/>
              <a:uFillTx/>
            </a:endParaRP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30000" noProof="0">
                <a:ln>
                  <a:noFill/>
                </a:ln>
                <a:solidFill>
                  <a:prstClr val="black"/>
                </a:solidFill>
                <a:effectLst/>
                <a:uLnTx/>
                <a:uFillTx/>
              </a:rPr>
              <a:t>4</a:t>
            </a:r>
            <a:r>
              <a:rPr kumimoji="0" lang="en-US" sz="1200" b="1" i="0" u="none" strike="noStrike" kern="0" cap="none" spc="0" normalizeH="0" baseline="0" noProof="0">
                <a:ln>
                  <a:noFill/>
                </a:ln>
                <a:solidFill>
                  <a:prstClr val="black"/>
                </a:solidFill>
                <a:effectLst/>
                <a:uLnTx/>
                <a:uFillTx/>
                <a:hlinkClick r:id="rId6"/>
              </a:rPr>
              <a:t> https://www.nvvn.co.in/assets/Directors_Report_NVVN_2023-24.pdf</a:t>
            </a:r>
            <a:endParaRPr kumimoji="0" lang="en-US" sz="1200" b="1" i="0" u="none" strike="noStrike" kern="0" cap="none" spc="0" normalizeH="0" baseline="0" noProof="0">
              <a:ln>
                <a:noFill/>
              </a:ln>
              <a:solidFill>
                <a:prstClr val="black"/>
              </a:solidFill>
              <a:effectLst/>
              <a:uLnTx/>
              <a:uFillTx/>
            </a:endParaRP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30000" noProof="0">
                <a:ln>
                  <a:noFill/>
                </a:ln>
                <a:solidFill>
                  <a:prstClr val="black"/>
                </a:solidFill>
                <a:effectLst/>
                <a:uLnTx/>
                <a:uFillTx/>
              </a:rPr>
              <a:t>5</a:t>
            </a:r>
            <a:r>
              <a:rPr kumimoji="0" lang="en-US" sz="1200" b="1" i="0" u="none" strike="noStrike" kern="0" cap="none" spc="0" normalizeH="0" baseline="0" noProof="0">
                <a:ln>
                  <a:noFill/>
                </a:ln>
                <a:solidFill>
                  <a:prstClr val="black"/>
                </a:solidFill>
                <a:effectLst/>
                <a:uLnTx/>
                <a:uFillTx/>
                <a:hlinkClick r:id="rId7"/>
              </a:rPr>
              <a:t> https://moewri.gov.np/storage/listies/May2020/treaty-between-nepal-and-india-on-mahakali-rive-1996.pdf</a:t>
            </a:r>
            <a:endParaRPr kumimoji="0" lang="en-US" sz="1200" b="1" i="0" u="none" strike="noStrike" kern="0" cap="none" spc="0" normalizeH="0" baseline="0" noProof="0">
              <a:ln>
                <a:noFill/>
              </a:ln>
              <a:solidFill>
                <a:prstClr val="black"/>
              </a:solidFill>
              <a:effectLst/>
              <a:uLnTx/>
              <a:uFillTx/>
            </a:endParaRP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30000" noProof="0">
                <a:ln>
                  <a:noFill/>
                </a:ln>
                <a:solidFill>
                  <a:prstClr val="black"/>
                </a:solidFill>
                <a:effectLst/>
                <a:uLnTx/>
                <a:uFillTx/>
              </a:rPr>
              <a:t>6</a:t>
            </a:r>
            <a:r>
              <a:rPr kumimoji="0" lang="en-US" sz="1200" b="1" i="0" u="none" strike="noStrike" kern="0" cap="none" spc="0" normalizeH="0" baseline="0" noProof="0">
                <a:ln>
                  <a:noFill/>
                </a:ln>
                <a:solidFill>
                  <a:prstClr val="black"/>
                </a:solidFill>
                <a:effectLst/>
                <a:uLnTx/>
                <a:uFillTx/>
                <a:hlinkClick r:id="rId6"/>
              </a:rPr>
              <a:t> https://www.nvvn.co.in/assets/Directors_Report_NVVN_2023-24.pdf</a:t>
            </a:r>
            <a:r>
              <a:rPr kumimoji="0" lang="en-US" sz="1200" b="1" i="0" u="none" strike="noStrike" kern="0" cap="none" spc="0" normalizeH="0" baseline="0" noProof="0">
                <a:ln>
                  <a:noFill/>
                </a:ln>
                <a:solidFill>
                  <a:prstClr val="black"/>
                </a:solidFill>
                <a:effectLst/>
                <a:uLnTx/>
                <a:uFillTx/>
              </a:rPr>
              <a:t> </a:t>
            </a: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hlinkClick r:id="rId8"/>
              </a:rPr>
              <a:t>* https://www.idsa.in/publisher/comments/revisiting-the-kosi-agreement-lessons-for-indo-nepal-water-diplomacy</a:t>
            </a:r>
            <a:endParaRPr kumimoji="0" lang="en-US" sz="1200" b="1" i="0" u="none" strike="noStrike" kern="0" cap="none" spc="0" normalizeH="0" baseline="0" noProof="0">
              <a:ln>
                <a:noFill/>
              </a:ln>
              <a:solidFill>
                <a:prstClr val="black"/>
              </a:solidFill>
              <a:effectLst/>
              <a:uLnTx/>
              <a:uFillTx/>
            </a:endParaRP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rPr>
              <a:t>** </a:t>
            </a:r>
            <a:r>
              <a:rPr kumimoji="0" lang="en-US" sz="1200" b="1" i="0" u="none" strike="noStrike" kern="0" cap="none" spc="0" normalizeH="0" baseline="0" noProof="0">
                <a:ln>
                  <a:noFill/>
                </a:ln>
                <a:solidFill>
                  <a:srgbClr val="000000"/>
                </a:solidFill>
                <a:effectLst/>
                <a:uLnTx/>
                <a:uFillTx/>
                <a:latin typeface="Arial" panose="020B0604020202020204" pitchFamily="34" charset="0"/>
              </a:rPr>
              <a:t>Project </a:t>
            </a:r>
            <a:r>
              <a:rPr kumimoji="0" lang="en-US" sz="1200" b="0" i="0" u="none" strike="noStrike" kern="0" cap="none" spc="0" normalizeH="0" baseline="0" noProof="0">
                <a:ln>
                  <a:noFill/>
                </a:ln>
                <a:solidFill>
                  <a:srgbClr val="000000"/>
                </a:solidFill>
                <a:effectLst/>
                <a:uLnTx/>
                <a:uFillTx/>
                <a:latin typeface="Arial" panose="020B0604020202020204" pitchFamily="34" charset="0"/>
              </a:rPr>
              <a:t> </a:t>
            </a:r>
            <a:r>
              <a:rPr kumimoji="0" lang="en-US" sz="1200" b="1" i="0" u="none" strike="noStrike" kern="0" cap="none" spc="0" normalizeH="0" baseline="0" noProof="0">
                <a:ln>
                  <a:noFill/>
                </a:ln>
                <a:solidFill>
                  <a:srgbClr val="000000"/>
                </a:solidFill>
                <a:effectLst/>
                <a:uLnTx/>
                <a:uFillTx/>
                <a:latin typeface="Arial" panose="020B0604020202020204" pitchFamily="34" charset="0"/>
              </a:rPr>
              <a:t>On Integrated Power System Development Plan In Nepal Final Report </a:t>
            </a:r>
            <a:r>
              <a:rPr kumimoji="0" lang="en-US" sz="1200" b="1" i="0" u="none" strike="noStrike" kern="0" cap="none" spc="0" normalizeH="0" baseline="0" noProof="0">
                <a:ln>
                  <a:noFill/>
                </a:ln>
                <a:solidFill>
                  <a:prstClr val="black"/>
                </a:solidFill>
                <a:effectLst/>
                <a:uLnTx/>
                <a:uFillTx/>
              </a:rPr>
              <a:t> </a:t>
            </a:r>
          </a:p>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6342641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rPr>
              <a:t>Source : </a:t>
            </a: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30000" noProof="0">
                <a:ln>
                  <a:noFill/>
                </a:ln>
                <a:solidFill>
                  <a:prstClr val="black"/>
                </a:solidFill>
                <a:effectLst/>
                <a:uLnTx/>
                <a:uFillTx/>
              </a:rPr>
              <a:t>1</a:t>
            </a:r>
            <a:r>
              <a:rPr kumimoji="0" lang="en-US" sz="1200" b="1" i="0" u="none" strike="noStrike" kern="0" cap="none" spc="0" normalizeH="0" baseline="0" noProof="0">
                <a:ln>
                  <a:noFill/>
                </a:ln>
                <a:solidFill>
                  <a:prstClr val="black"/>
                </a:solidFill>
                <a:effectLst/>
                <a:uLnTx/>
                <a:uFillTx/>
              </a:rPr>
              <a:t> </a:t>
            </a:r>
            <a:r>
              <a:rPr kumimoji="0" lang="en-US" sz="1200" b="1" i="0" u="none" strike="noStrike" kern="0" cap="none" spc="0" normalizeH="0" baseline="0" noProof="0">
                <a:ln>
                  <a:noFill/>
                </a:ln>
                <a:solidFill>
                  <a:prstClr val="black"/>
                </a:solidFill>
                <a:effectLst/>
                <a:uLnTx/>
                <a:uFillTx/>
                <a:hlinkClick r:id="rId3"/>
              </a:rPr>
              <a:t>https://moewri.gov.np/storage/listies/May2020/revised-agreement-on-nepal-and-india-koshi-river-1966.pdf</a:t>
            </a:r>
            <a:br>
              <a:rPr kumimoji="0" lang="en-US" sz="1200" b="1" i="0" u="none" strike="noStrike" kern="0" cap="none" spc="0" normalizeH="0" baseline="0" noProof="0">
                <a:ln>
                  <a:noFill/>
                </a:ln>
                <a:solidFill>
                  <a:prstClr val="black"/>
                </a:solidFill>
                <a:effectLst/>
                <a:uLnTx/>
                <a:uFillTx/>
              </a:rPr>
            </a:br>
            <a:r>
              <a:rPr kumimoji="0" lang="en-US" sz="1200" b="1" i="0" u="none" strike="noStrike" kern="0" cap="none" spc="0" normalizeH="0" baseline="30000" noProof="0">
                <a:ln>
                  <a:noFill/>
                </a:ln>
                <a:solidFill>
                  <a:prstClr val="black"/>
                </a:solidFill>
                <a:effectLst/>
                <a:uLnTx/>
                <a:uFillTx/>
              </a:rPr>
              <a:t>2</a:t>
            </a:r>
            <a:r>
              <a:rPr kumimoji="0" lang="en-US" sz="1200" b="1" i="0" u="none" strike="noStrike" kern="0" cap="none" spc="0" normalizeH="0" baseline="0" noProof="0">
                <a:ln>
                  <a:noFill/>
                </a:ln>
                <a:solidFill>
                  <a:prstClr val="black"/>
                </a:solidFill>
                <a:effectLst/>
                <a:uLnTx/>
                <a:uFillTx/>
                <a:hlinkClick r:id="rId4"/>
              </a:rPr>
              <a:t> https://www.commonlii.org/in/other/treaties/INTSer/1958/14.html</a:t>
            </a:r>
            <a:endParaRPr kumimoji="0" lang="en-US" sz="1200" b="1" i="0" u="none" strike="noStrike" kern="0" cap="none" spc="0" normalizeH="0" baseline="30000" noProof="0">
              <a:ln>
                <a:noFill/>
              </a:ln>
              <a:solidFill>
                <a:prstClr val="black"/>
              </a:solidFill>
              <a:effectLst/>
              <a:uLnTx/>
              <a:uFillTx/>
            </a:endParaRP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30000" noProof="0">
                <a:ln>
                  <a:noFill/>
                </a:ln>
                <a:solidFill>
                  <a:prstClr val="black"/>
                </a:solidFill>
                <a:effectLst/>
                <a:uLnTx/>
                <a:uFillTx/>
              </a:rPr>
              <a:t>3</a:t>
            </a:r>
            <a:r>
              <a:rPr kumimoji="0" lang="en-US" sz="800" b="1" i="0" u="none" strike="noStrike" kern="0" cap="none" spc="0" normalizeH="0" baseline="0" noProof="0">
                <a:ln>
                  <a:noFill/>
                </a:ln>
                <a:solidFill>
                  <a:prstClr val="black"/>
                </a:solidFill>
                <a:effectLst/>
                <a:uLnTx/>
                <a:uFillTx/>
                <a:hlinkClick r:id="rId5"/>
              </a:rPr>
              <a:t> </a:t>
            </a:r>
            <a:r>
              <a:rPr kumimoji="0" lang="en-US" sz="1200" b="1" i="0" u="none" strike="noStrike" kern="0" cap="none" spc="0" normalizeH="0" baseline="0" noProof="0">
                <a:ln>
                  <a:noFill/>
                </a:ln>
                <a:solidFill>
                  <a:prstClr val="black"/>
                </a:solidFill>
                <a:effectLst/>
                <a:uLnTx/>
                <a:uFillTx/>
                <a:hlinkClick r:id="rId5"/>
              </a:rPr>
              <a:t>https://moewri.gov.np/storage/listies/May2020/aggrement-on-nepal-and-india-gandak-river-1959.pdf</a:t>
            </a:r>
            <a:endParaRPr kumimoji="0" lang="en-US" sz="1200" b="1" i="0" u="none" strike="noStrike" kern="0" cap="none" spc="0" normalizeH="0" baseline="0" noProof="0">
              <a:ln>
                <a:noFill/>
              </a:ln>
              <a:solidFill>
                <a:prstClr val="black"/>
              </a:solidFill>
              <a:effectLst/>
              <a:uLnTx/>
              <a:uFillTx/>
            </a:endParaRP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30000" noProof="0">
                <a:ln>
                  <a:noFill/>
                </a:ln>
                <a:solidFill>
                  <a:prstClr val="black"/>
                </a:solidFill>
                <a:effectLst/>
                <a:uLnTx/>
                <a:uFillTx/>
              </a:rPr>
              <a:t>4</a:t>
            </a:r>
            <a:r>
              <a:rPr kumimoji="0" lang="en-US" sz="1200" b="1" i="0" u="none" strike="noStrike" kern="0" cap="none" spc="0" normalizeH="0" baseline="0" noProof="0">
                <a:ln>
                  <a:noFill/>
                </a:ln>
                <a:solidFill>
                  <a:prstClr val="black"/>
                </a:solidFill>
                <a:effectLst/>
                <a:uLnTx/>
                <a:uFillTx/>
                <a:hlinkClick r:id="rId6"/>
              </a:rPr>
              <a:t> https://www.nvvn.co.in/assets/Directors_Report_NVVN_2023-24.pdf</a:t>
            </a:r>
            <a:endParaRPr kumimoji="0" lang="en-US" sz="1200" b="1" i="0" u="none" strike="noStrike" kern="0" cap="none" spc="0" normalizeH="0" baseline="0" noProof="0">
              <a:ln>
                <a:noFill/>
              </a:ln>
              <a:solidFill>
                <a:prstClr val="black"/>
              </a:solidFill>
              <a:effectLst/>
              <a:uLnTx/>
              <a:uFillTx/>
            </a:endParaRP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30000" noProof="0">
                <a:ln>
                  <a:noFill/>
                </a:ln>
                <a:solidFill>
                  <a:prstClr val="black"/>
                </a:solidFill>
                <a:effectLst/>
                <a:uLnTx/>
                <a:uFillTx/>
              </a:rPr>
              <a:t>5</a:t>
            </a:r>
            <a:r>
              <a:rPr kumimoji="0" lang="en-US" sz="1200" b="1" i="0" u="none" strike="noStrike" kern="0" cap="none" spc="0" normalizeH="0" baseline="0" noProof="0">
                <a:ln>
                  <a:noFill/>
                </a:ln>
                <a:solidFill>
                  <a:prstClr val="black"/>
                </a:solidFill>
                <a:effectLst/>
                <a:uLnTx/>
                <a:uFillTx/>
                <a:hlinkClick r:id="rId7"/>
              </a:rPr>
              <a:t> https://moewri.gov.np/storage/listies/May2020/treaty-between-nepal-and-india-on-mahakali-rive-1996.pdf</a:t>
            </a:r>
            <a:endParaRPr kumimoji="0" lang="en-US" sz="1200" b="1" i="0" u="none" strike="noStrike" kern="0" cap="none" spc="0" normalizeH="0" baseline="0" noProof="0">
              <a:ln>
                <a:noFill/>
              </a:ln>
              <a:solidFill>
                <a:prstClr val="black"/>
              </a:solidFill>
              <a:effectLst/>
              <a:uLnTx/>
              <a:uFillTx/>
            </a:endParaRP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30000" noProof="0">
                <a:ln>
                  <a:noFill/>
                </a:ln>
                <a:solidFill>
                  <a:prstClr val="black"/>
                </a:solidFill>
                <a:effectLst/>
                <a:uLnTx/>
                <a:uFillTx/>
              </a:rPr>
              <a:t>6</a:t>
            </a:r>
            <a:r>
              <a:rPr kumimoji="0" lang="en-US" sz="1200" b="1" i="0" u="none" strike="noStrike" kern="0" cap="none" spc="0" normalizeH="0" baseline="0" noProof="0">
                <a:ln>
                  <a:noFill/>
                </a:ln>
                <a:solidFill>
                  <a:prstClr val="black"/>
                </a:solidFill>
                <a:effectLst/>
                <a:uLnTx/>
                <a:uFillTx/>
                <a:hlinkClick r:id="rId6"/>
              </a:rPr>
              <a:t> https://www.nvvn.co.in/assets/Directors_Report_NVVN_2023-24.pdf</a:t>
            </a:r>
            <a:r>
              <a:rPr kumimoji="0" lang="en-US" sz="1200" b="1" i="0" u="none" strike="noStrike" kern="0" cap="none" spc="0" normalizeH="0" baseline="0" noProof="0">
                <a:ln>
                  <a:noFill/>
                </a:ln>
                <a:solidFill>
                  <a:prstClr val="black"/>
                </a:solidFill>
                <a:effectLst/>
                <a:uLnTx/>
                <a:uFillTx/>
              </a:rPr>
              <a:t> </a:t>
            </a: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hlinkClick r:id="rId8"/>
              </a:rPr>
              <a:t>* https://www.idsa.in/publisher/comments/revisiting-the-kosi-agreement-lessons-for-indo-nepal-water-diplomacy</a:t>
            </a:r>
            <a:endParaRPr kumimoji="0" lang="en-US" sz="1200" b="1" i="0" u="none" strike="noStrike" kern="0" cap="none" spc="0" normalizeH="0" baseline="0" noProof="0">
              <a:ln>
                <a:noFill/>
              </a:ln>
              <a:solidFill>
                <a:prstClr val="black"/>
              </a:solidFill>
              <a:effectLst/>
              <a:uLnTx/>
              <a:uFillTx/>
            </a:endParaRPr>
          </a:p>
          <a:p>
            <a:pPr marL="0" marR="0" lvl="0" indent="0" defTabSz="914255"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rPr>
              <a:t>** </a:t>
            </a:r>
            <a:r>
              <a:rPr kumimoji="0" lang="en-US" sz="1200" b="1" i="0" u="none" strike="noStrike" kern="0" cap="none" spc="0" normalizeH="0" baseline="0" noProof="0">
                <a:ln>
                  <a:noFill/>
                </a:ln>
                <a:solidFill>
                  <a:srgbClr val="000000"/>
                </a:solidFill>
                <a:effectLst/>
                <a:uLnTx/>
                <a:uFillTx/>
                <a:latin typeface="Arial" panose="020B0604020202020204" pitchFamily="34" charset="0"/>
              </a:rPr>
              <a:t>Project </a:t>
            </a:r>
            <a:r>
              <a:rPr kumimoji="0" lang="en-US" sz="1200" b="0" i="0" u="none" strike="noStrike" kern="0" cap="none" spc="0" normalizeH="0" baseline="0" noProof="0">
                <a:ln>
                  <a:noFill/>
                </a:ln>
                <a:solidFill>
                  <a:srgbClr val="000000"/>
                </a:solidFill>
                <a:effectLst/>
                <a:uLnTx/>
                <a:uFillTx/>
                <a:latin typeface="Arial" panose="020B0604020202020204" pitchFamily="34" charset="0"/>
              </a:rPr>
              <a:t> </a:t>
            </a:r>
            <a:r>
              <a:rPr kumimoji="0" lang="en-US" sz="1200" b="1" i="0" u="none" strike="noStrike" kern="0" cap="none" spc="0" normalizeH="0" baseline="0" noProof="0">
                <a:ln>
                  <a:noFill/>
                </a:ln>
                <a:solidFill>
                  <a:srgbClr val="000000"/>
                </a:solidFill>
                <a:effectLst/>
                <a:uLnTx/>
                <a:uFillTx/>
                <a:latin typeface="Arial" panose="020B0604020202020204" pitchFamily="34" charset="0"/>
              </a:rPr>
              <a:t>On Integrated Power System Development Plan In Nepal Final Report </a:t>
            </a:r>
            <a:r>
              <a:rPr kumimoji="0" lang="en-US" sz="1200" b="1" i="0" u="none" strike="noStrike" kern="0" cap="none" spc="0" normalizeH="0" baseline="0" noProof="0">
                <a:ln>
                  <a:noFill/>
                </a:ln>
                <a:solidFill>
                  <a:prstClr val="black"/>
                </a:solidFill>
                <a:effectLst/>
                <a:uLnTx/>
                <a:uFillTx/>
              </a:rPr>
              <a:t> </a:t>
            </a:r>
          </a:p>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9405665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201839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383258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224671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5384705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3285599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9896297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4970226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411854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748626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449232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640269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39980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3678602"/>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383958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683887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380241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4217467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163518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78529756"/>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885603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29968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424702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007227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8825740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047600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927142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183586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21487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369072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284092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3742420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3210624"/>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990665"/>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429929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401260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821349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654872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4037258"/>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279108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47314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0984107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140738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80714816"/>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4766342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9369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8313373"/>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1115320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88867717"/>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962023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330318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879386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652817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789085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238665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218546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5686027"/>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259324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a:xfrm>
            <a:off x="4143375" y="9120188"/>
            <a:ext cx="3170238" cy="481012"/>
          </a:xfrm>
          <a:prstGeom prst="rect">
            <a:avLst/>
          </a:prstGeom>
        </p:spPr>
        <p:txBody>
          <a:bodyPr/>
          <a:lstStyle/>
          <a:p>
            <a:pPr marL="0" marR="0" lvl="0" indent="0" algn="r" defTabSz="1219170" rtl="0" eaLnBrk="1" fontAlgn="auto" latinLnBrk="0" hangingPunct="1">
              <a:lnSpc>
                <a:spcPct val="100000"/>
              </a:lnSpc>
              <a:spcBef>
                <a:spcPts val="0"/>
              </a:spcBef>
              <a:spcAft>
                <a:spcPts val="0"/>
              </a:spcAft>
              <a:buClrTx/>
              <a:buSzTx/>
              <a:buFontTx/>
              <a:buNone/>
              <a:tabLst/>
              <a:defRPr/>
            </a:pPr>
            <a:fld id="{B1FEB637-BC42-497E-9119-65CA0380A6EE}" type="slidenum">
              <a:rPr kumimoji="0" lang="en-GB"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1219170" rtl="0" eaLnBrk="1" fontAlgn="auto" latinLnBrk="0" hangingPunct="1">
                <a:lnSpc>
                  <a:spcPct val="100000"/>
                </a:lnSpc>
                <a:spcBef>
                  <a:spcPts val="0"/>
                </a:spcBef>
                <a:spcAft>
                  <a:spcPts val="0"/>
                </a:spcAft>
                <a:buClrTx/>
                <a:buSzTx/>
                <a:buFontTx/>
                <a:buNone/>
                <a:tabLst/>
                <a:defRPr/>
              </a:pPr>
              <a:t>101</a:t>
            </a:fld>
            <a:endParaRPr kumimoji="0" lang="en-GB"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70344982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837512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651075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5384472"/>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4084604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517441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6834953"/>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73596950"/>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80956040"/>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5079222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6160939"/>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054201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0613254"/>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67735175"/>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97265727"/>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50687"/>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750074"/>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9848215"/>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999991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437499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391894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764557"/>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9286495"/>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4889042"/>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55407019"/>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18324527"/>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1677295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4824474"/>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a:p>
        </p:txBody>
      </p:sp>
      <p:sp>
        <p:nvSpPr>
          <p:cNvPr id="7" name="Footer Placeholder 6">
            <a:extLst>
              <a:ext uri="{FF2B5EF4-FFF2-40B4-BE49-F238E27FC236}">
                <a16:creationId xmlns:a16="http://schemas.microsoft.com/office/drawing/2014/main" id="{284BCFEA-276B-93DA-9BC5-49C86262E07F}"/>
              </a:ext>
            </a:extLst>
          </p:cNvPr>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Installed Capacity</a:t>
            </a:r>
          </a:p>
        </p:txBody>
      </p:sp>
      <p:sp>
        <p:nvSpPr>
          <p:cNvPr id="8" name="Slide Number Placeholder 7">
            <a:extLst>
              <a:ext uri="{FF2B5EF4-FFF2-40B4-BE49-F238E27FC236}">
                <a16:creationId xmlns:a16="http://schemas.microsoft.com/office/drawing/2014/main" id="{7F30ECFD-BE24-A059-D1E0-5BC833216B4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E6A709-AF0C-4861-84D8-88CA6D246D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eader Placeholder 8">
            <a:extLst>
              <a:ext uri="{FF2B5EF4-FFF2-40B4-BE49-F238E27FC236}">
                <a16:creationId xmlns:a16="http://schemas.microsoft.com/office/drawing/2014/main" id="{F951164C-8ED3-0337-4C52-FFCEA60A68F8}"/>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953846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3.xml"/><Relationship Id="rId5" Type="http://schemas.openxmlformats.org/officeDocument/2006/relationships/image" Target="../media/image3.png"/><Relationship Id="rId4" Type="http://schemas.openxmlformats.org/officeDocument/2006/relationships/image" Target="../media/image2.emf"/></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tags" Target="../tags/tag7.xml"/><Relationship Id="rId1" Type="http://schemas.openxmlformats.org/officeDocument/2006/relationships/tags" Target="../tags/tag6.xml"/><Relationship Id="rId5" Type="http://schemas.openxmlformats.org/officeDocument/2006/relationships/image" Target="../media/image5.emf"/><Relationship Id="rId4" Type="http://schemas.openxmlformats.org/officeDocument/2006/relationships/oleObject" Target="../embeddings/oleObject4.bin"/></Relationships>
</file>

<file path=ppt/slideLayouts/_rels/slideLayout31.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tags" Target="../tags/tag9.xml"/><Relationship Id="rId1" Type="http://schemas.openxmlformats.org/officeDocument/2006/relationships/tags" Target="../tags/tag8.xml"/><Relationship Id="rId5" Type="http://schemas.openxmlformats.org/officeDocument/2006/relationships/image" Target="../media/image5.emf"/><Relationship Id="rId4" Type="http://schemas.openxmlformats.org/officeDocument/2006/relationships/oleObject" Target="../embeddings/oleObject5.bin"/></Relationships>
</file>

<file path=ppt/slideLayouts/_rels/slideLayout32.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tags" Target="../tags/tag11.xml"/><Relationship Id="rId1" Type="http://schemas.openxmlformats.org/officeDocument/2006/relationships/tags" Target="../tags/tag10.xml"/><Relationship Id="rId5" Type="http://schemas.openxmlformats.org/officeDocument/2006/relationships/image" Target="../media/image5.emf"/><Relationship Id="rId4" Type="http://schemas.openxmlformats.org/officeDocument/2006/relationships/oleObject" Target="../embeddings/oleObject6.bin"/></Relationships>
</file>

<file path=ppt/slideLayouts/_rels/slideLayout33.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tags" Target="../tags/tag13.xml"/><Relationship Id="rId1" Type="http://schemas.openxmlformats.org/officeDocument/2006/relationships/tags" Target="../tags/tag12.xml"/><Relationship Id="rId5" Type="http://schemas.openxmlformats.org/officeDocument/2006/relationships/image" Target="../media/image5.emf"/><Relationship Id="rId4" Type="http://schemas.openxmlformats.org/officeDocument/2006/relationships/oleObject" Target="../embeddings/oleObject7.bin"/></Relationships>
</file>

<file path=ppt/slideLayouts/_rels/slideLayout34.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tags" Target="../tags/tag15.xml"/><Relationship Id="rId1" Type="http://schemas.openxmlformats.org/officeDocument/2006/relationships/tags" Target="../tags/tag14.xml"/><Relationship Id="rId5" Type="http://schemas.openxmlformats.org/officeDocument/2006/relationships/image" Target="../media/image5.emf"/><Relationship Id="rId4" Type="http://schemas.openxmlformats.org/officeDocument/2006/relationships/oleObject" Target="../embeddings/oleObject8.bin"/></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tags" Target="../tags/tag17.xml"/><Relationship Id="rId1" Type="http://schemas.openxmlformats.org/officeDocument/2006/relationships/tags" Target="../tags/tag16.xml"/><Relationship Id="rId5" Type="http://schemas.openxmlformats.org/officeDocument/2006/relationships/image" Target="../media/image5.emf"/><Relationship Id="rId4" Type="http://schemas.openxmlformats.org/officeDocument/2006/relationships/oleObject" Target="../embeddings/oleObject9.bin"/></Relationships>
</file>

<file path=ppt/slideLayouts/_rels/slideLayout38.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tags" Target="../tags/tag19.xml"/><Relationship Id="rId1" Type="http://schemas.openxmlformats.org/officeDocument/2006/relationships/tags" Target="../tags/tag18.xml"/><Relationship Id="rId5" Type="http://schemas.openxmlformats.org/officeDocument/2006/relationships/image" Target="../media/image5.emf"/><Relationship Id="rId4" Type="http://schemas.openxmlformats.org/officeDocument/2006/relationships/oleObject" Target="../embeddings/oleObject10.bin"/></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6.emf"/><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3" Type="http://schemas.openxmlformats.org/officeDocument/2006/relationships/slideMaster" Target="../slideMasters/slideMaster3.xml"/><Relationship Id="rId2" Type="http://schemas.openxmlformats.org/officeDocument/2006/relationships/tags" Target="../tags/tag23.xml"/><Relationship Id="rId1" Type="http://schemas.openxmlformats.org/officeDocument/2006/relationships/tags" Target="../tags/tag22.xml"/><Relationship Id="rId5" Type="http://schemas.openxmlformats.org/officeDocument/2006/relationships/image" Target="../media/image5.emf"/><Relationship Id="rId4" Type="http://schemas.openxmlformats.org/officeDocument/2006/relationships/oleObject" Target="../embeddings/oleObject12.bin"/></Relationships>
</file>

<file path=ppt/slideLayouts/_rels/slideLayout104.xml.rels><?xml version="1.0" encoding="UTF-8" standalone="yes"?>
<Relationships xmlns="http://schemas.openxmlformats.org/package/2006/relationships"><Relationship Id="rId3" Type="http://schemas.openxmlformats.org/officeDocument/2006/relationships/slideMaster" Target="../slideMasters/slideMaster3.xml"/><Relationship Id="rId2" Type="http://schemas.openxmlformats.org/officeDocument/2006/relationships/tags" Target="../tags/tag25.xml"/><Relationship Id="rId1" Type="http://schemas.openxmlformats.org/officeDocument/2006/relationships/tags" Target="../tags/tag24.xml"/><Relationship Id="rId5" Type="http://schemas.openxmlformats.org/officeDocument/2006/relationships/image" Target="../media/image5.emf"/><Relationship Id="rId4" Type="http://schemas.openxmlformats.org/officeDocument/2006/relationships/oleObject" Target="../embeddings/oleObject13.bin"/></Relationships>
</file>

<file path=ppt/slideLayouts/_rels/slideLayout105.xml.rels><?xml version="1.0" encoding="UTF-8" standalone="yes"?>
<Relationships xmlns="http://schemas.openxmlformats.org/package/2006/relationships"><Relationship Id="rId3" Type="http://schemas.openxmlformats.org/officeDocument/2006/relationships/slideMaster" Target="../slideMasters/slideMaster3.xml"/><Relationship Id="rId2" Type="http://schemas.openxmlformats.org/officeDocument/2006/relationships/tags" Target="../tags/tag27.xml"/><Relationship Id="rId1" Type="http://schemas.openxmlformats.org/officeDocument/2006/relationships/tags" Target="../tags/tag26.xml"/><Relationship Id="rId5" Type="http://schemas.openxmlformats.org/officeDocument/2006/relationships/image" Target="../media/image5.emf"/><Relationship Id="rId4" Type="http://schemas.openxmlformats.org/officeDocument/2006/relationships/oleObject" Target="../embeddings/oleObject14.bin"/></Relationships>
</file>

<file path=ppt/slideLayouts/_rels/slideLayout106.xml.rels><?xml version="1.0" encoding="UTF-8" standalone="yes"?>
<Relationships xmlns="http://schemas.openxmlformats.org/package/2006/relationships"><Relationship Id="rId3" Type="http://schemas.openxmlformats.org/officeDocument/2006/relationships/slideMaster" Target="../slideMasters/slideMaster3.xml"/><Relationship Id="rId2" Type="http://schemas.openxmlformats.org/officeDocument/2006/relationships/tags" Target="../tags/tag29.xml"/><Relationship Id="rId1" Type="http://schemas.openxmlformats.org/officeDocument/2006/relationships/tags" Target="../tags/tag28.xml"/><Relationship Id="rId5" Type="http://schemas.openxmlformats.org/officeDocument/2006/relationships/image" Target="../media/image5.emf"/><Relationship Id="rId4" Type="http://schemas.openxmlformats.org/officeDocument/2006/relationships/oleObject" Target="../embeddings/oleObject15.bin"/></Relationships>
</file>

<file path=ppt/slideLayouts/_rels/slideLayout107.xml.rels><?xml version="1.0" encoding="UTF-8" standalone="yes"?>
<Relationships xmlns="http://schemas.openxmlformats.org/package/2006/relationships"><Relationship Id="rId3" Type="http://schemas.openxmlformats.org/officeDocument/2006/relationships/slideMaster" Target="../slideMasters/slideMaster3.xml"/><Relationship Id="rId2" Type="http://schemas.openxmlformats.org/officeDocument/2006/relationships/tags" Target="../tags/tag31.xml"/><Relationship Id="rId1" Type="http://schemas.openxmlformats.org/officeDocument/2006/relationships/tags" Target="../tags/tag30.xml"/><Relationship Id="rId5" Type="http://schemas.openxmlformats.org/officeDocument/2006/relationships/image" Target="../media/image5.emf"/><Relationship Id="rId4" Type="http://schemas.openxmlformats.org/officeDocument/2006/relationships/oleObject" Target="../embeddings/oleObject16.bin"/></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3" Type="http://schemas.openxmlformats.org/officeDocument/2006/relationships/slideMaster" Target="../slideMasters/slideMaster3.xml"/><Relationship Id="rId2" Type="http://schemas.openxmlformats.org/officeDocument/2006/relationships/tags" Target="../tags/tag33.xml"/><Relationship Id="rId1" Type="http://schemas.openxmlformats.org/officeDocument/2006/relationships/tags" Target="../tags/tag32.xml"/><Relationship Id="rId5" Type="http://schemas.openxmlformats.org/officeDocument/2006/relationships/image" Target="../media/image5.emf"/><Relationship Id="rId4" Type="http://schemas.openxmlformats.org/officeDocument/2006/relationships/oleObject" Target="../embeddings/oleObject17.bin"/></Relationships>
</file>

<file path=ppt/slideLayouts/_rels/slideLayout111.xml.rels><?xml version="1.0" encoding="UTF-8" standalone="yes"?>
<Relationships xmlns="http://schemas.openxmlformats.org/package/2006/relationships"><Relationship Id="rId3" Type="http://schemas.openxmlformats.org/officeDocument/2006/relationships/slideMaster" Target="../slideMasters/slideMaster3.xml"/><Relationship Id="rId2" Type="http://schemas.openxmlformats.org/officeDocument/2006/relationships/tags" Target="../tags/tag35.xml"/><Relationship Id="rId1" Type="http://schemas.openxmlformats.org/officeDocument/2006/relationships/tags" Target="../tags/tag34.xml"/><Relationship Id="rId5" Type="http://schemas.openxmlformats.org/officeDocument/2006/relationships/image" Target="../media/image5.emf"/><Relationship Id="rId4" Type="http://schemas.openxmlformats.org/officeDocument/2006/relationships/oleObject" Target="../embeddings/oleObject18.bin"/></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6.emf"/><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1F64E5-DFDE-523A-5C42-32F3D94C6A2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2EDA1C3F-D5BF-8AF7-2CCF-D3069C49F33C}"/>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84CCDFFF-12E6-1D9C-B057-439712A7CE4E}"/>
              </a:ext>
            </a:extLst>
          </p:cNvPr>
          <p:cNvSpPr>
            <a:spLocks noGrp="1"/>
          </p:cNvSpPr>
          <p:nvPr>
            <p:ph type="dt" sz="half" idx="10"/>
          </p:nvPr>
        </p:nvSpPr>
        <p:spPr/>
        <p:txBody>
          <a:bodyPr/>
          <a:lstStyle/>
          <a:p>
            <a:fld id="{6D8AF5CB-983F-4B68-8D05-C4BF00E17053}" type="datetimeFigureOut">
              <a:rPr lang="en-US" smtClean="0"/>
              <a:t>06-Aug-25</a:t>
            </a:fld>
            <a:endParaRPr lang="en-US"/>
          </a:p>
        </p:txBody>
      </p:sp>
      <p:sp>
        <p:nvSpPr>
          <p:cNvPr id="5" name="Footer Placeholder 4">
            <a:extLst>
              <a:ext uri="{FF2B5EF4-FFF2-40B4-BE49-F238E27FC236}">
                <a16:creationId xmlns:a16="http://schemas.microsoft.com/office/drawing/2014/main" id="{584EA4A7-36F8-07E4-9B18-114D09D0562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2158BDA-0400-589F-CE85-1C79C20971F1}"/>
              </a:ext>
            </a:extLst>
          </p:cNvPr>
          <p:cNvSpPr>
            <a:spLocks noGrp="1"/>
          </p:cNvSpPr>
          <p:nvPr>
            <p:ph type="sldNum" sz="quarter" idx="12"/>
          </p:nvPr>
        </p:nvSpPr>
        <p:spPr/>
        <p:txBody>
          <a:bodyPr/>
          <a:lstStyle/>
          <a:p>
            <a:fld id="{5E17F8B3-9A79-4614-89A2-91F7614C1421}" type="slidenum">
              <a:rPr lang="en-US" smtClean="0"/>
              <a:t>‹#›</a:t>
            </a:fld>
            <a:endParaRPr lang="en-US"/>
          </a:p>
        </p:txBody>
      </p:sp>
    </p:spTree>
    <p:extLst>
      <p:ext uri="{BB962C8B-B14F-4D97-AF65-F5344CB8AC3E}">
        <p14:creationId xmlns:p14="http://schemas.microsoft.com/office/powerpoint/2010/main" val="203995562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6E8EE7-E29C-A8F9-80AB-774EF56CBE04}"/>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7D0FBFC8-06B5-CB63-4FD4-E6493759B276}"/>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EA80D84-4962-95BB-B0DA-9D7CC02E71CC}"/>
              </a:ext>
            </a:extLst>
          </p:cNvPr>
          <p:cNvSpPr>
            <a:spLocks noGrp="1"/>
          </p:cNvSpPr>
          <p:nvPr>
            <p:ph type="dt" sz="half" idx="10"/>
          </p:nvPr>
        </p:nvSpPr>
        <p:spPr/>
        <p:txBody>
          <a:bodyPr/>
          <a:lstStyle/>
          <a:p>
            <a:fld id="{6D8AF5CB-983F-4B68-8D05-C4BF00E17053}" type="datetimeFigureOut">
              <a:rPr lang="en-US" smtClean="0"/>
              <a:t>06-Aug-25</a:t>
            </a:fld>
            <a:endParaRPr lang="en-US"/>
          </a:p>
        </p:txBody>
      </p:sp>
      <p:sp>
        <p:nvSpPr>
          <p:cNvPr id="5" name="Footer Placeholder 4">
            <a:extLst>
              <a:ext uri="{FF2B5EF4-FFF2-40B4-BE49-F238E27FC236}">
                <a16:creationId xmlns:a16="http://schemas.microsoft.com/office/drawing/2014/main" id="{D488C097-F25D-0C6C-B371-2958D46939A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4D19E58-FC4E-7C12-1D76-8AAB784E5624}"/>
              </a:ext>
            </a:extLst>
          </p:cNvPr>
          <p:cNvSpPr>
            <a:spLocks noGrp="1"/>
          </p:cNvSpPr>
          <p:nvPr>
            <p:ph type="sldNum" sz="quarter" idx="12"/>
          </p:nvPr>
        </p:nvSpPr>
        <p:spPr/>
        <p:txBody>
          <a:bodyPr/>
          <a:lstStyle/>
          <a:p>
            <a:fld id="{5E17F8B3-9A79-4614-89A2-91F7614C1421}" type="slidenum">
              <a:rPr lang="en-US" smtClean="0"/>
              <a:t>‹#›</a:t>
            </a:fld>
            <a:endParaRPr lang="en-US"/>
          </a:p>
        </p:txBody>
      </p:sp>
    </p:spTree>
    <p:extLst>
      <p:ext uri="{BB962C8B-B14F-4D97-AF65-F5344CB8AC3E}">
        <p14:creationId xmlns:p14="http://schemas.microsoft.com/office/powerpoint/2010/main" val="114044003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DEE37A-8D5D-1766-AA9E-207C85BB746F}"/>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7A1ABC66-D348-8644-5007-9761DDB58B25}"/>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141EBEA-0540-57AA-37E4-6853CA10BE8F}"/>
              </a:ext>
            </a:extLst>
          </p:cNvPr>
          <p:cNvSpPr>
            <a:spLocks noGrp="1"/>
          </p:cNvSpPr>
          <p:nvPr>
            <p:ph type="dt" sz="half" idx="10"/>
          </p:nvPr>
        </p:nvSpPr>
        <p:spPr/>
        <p:txBody>
          <a:bodyPr/>
          <a:lstStyle/>
          <a:p>
            <a:fld id="{6D8AF5CB-983F-4B68-8D05-C4BF00E17053}" type="datetimeFigureOut">
              <a:rPr lang="en-US" smtClean="0"/>
              <a:t>06-Aug-25</a:t>
            </a:fld>
            <a:endParaRPr lang="en-US"/>
          </a:p>
        </p:txBody>
      </p:sp>
      <p:sp>
        <p:nvSpPr>
          <p:cNvPr id="5" name="Footer Placeholder 4">
            <a:extLst>
              <a:ext uri="{FF2B5EF4-FFF2-40B4-BE49-F238E27FC236}">
                <a16:creationId xmlns:a16="http://schemas.microsoft.com/office/drawing/2014/main" id="{EA2A5AF0-7911-16B8-2479-37CBE03A9EB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4BBDCC7-E32A-2A11-8DED-883B2D888722}"/>
              </a:ext>
            </a:extLst>
          </p:cNvPr>
          <p:cNvSpPr>
            <a:spLocks noGrp="1"/>
          </p:cNvSpPr>
          <p:nvPr>
            <p:ph type="sldNum" sz="quarter" idx="12"/>
          </p:nvPr>
        </p:nvSpPr>
        <p:spPr/>
        <p:txBody>
          <a:bodyPr/>
          <a:lstStyle/>
          <a:p>
            <a:fld id="{5E17F8B3-9A79-4614-89A2-91F7614C1421}" type="slidenum">
              <a:rPr lang="en-US" smtClean="0"/>
              <a:t>‹#›</a:t>
            </a:fld>
            <a:endParaRPr lang="en-US"/>
          </a:p>
        </p:txBody>
      </p:sp>
    </p:spTree>
    <p:extLst>
      <p:ext uri="{BB962C8B-B14F-4D97-AF65-F5344CB8AC3E}">
        <p14:creationId xmlns:p14="http://schemas.microsoft.com/office/powerpoint/2010/main" val="251286972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1B0D4E-BC18-4EB1-E297-B9E9372C2A38}"/>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CE1C933A-0B56-9344-795C-81B062DA50B3}"/>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F697A49F-B19E-CA19-FA4E-4ACF33732500}"/>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CE812267-DEF9-9AB3-9D3A-F22100AA5045}"/>
              </a:ext>
            </a:extLst>
          </p:cNvPr>
          <p:cNvSpPr>
            <a:spLocks noGrp="1"/>
          </p:cNvSpPr>
          <p:nvPr>
            <p:ph type="dt" sz="half" idx="10"/>
          </p:nvPr>
        </p:nvSpPr>
        <p:spPr/>
        <p:txBody>
          <a:bodyPr/>
          <a:lstStyle/>
          <a:p>
            <a:fld id="{6D8AF5CB-983F-4B68-8D05-C4BF00E17053}" type="datetimeFigureOut">
              <a:rPr lang="en-US" smtClean="0"/>
              <a:t>06-Aug-25</a:t>
            </a:fld>
            <a:endParaRPr lang="en-US"/>
          </a:p>
        </p:txBody>
      </p:sp>
      <p:sp>
        <p:nvSpPr>
          <p:cNvPr id="6" name="Footer Placeholder 5">
            <a:extLst>
              <a:ext uri="{FF2B5EF4-FFF2-40B4-BE49-F238E27FC236}">
                <a16:creationId xmlns:a16="http://schemas.microsoft.com/office/drawing/2014/main" id="{3324A14F-5F17-AF2C-9EFD-79A5217104ED}"/>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0CFFCD2-DA79-C127-04D8-F7124D51466F}"/>
              </a:ext>
            </a:extLst>
          </p:cNvPr>
          <p:cNvSpPr>
            <a:spLocks noGrp="1"/>
          </p:cNvSpPr>
          <p:nvPr>
            <p:ph type="sldNum" sz="quarter" idx="12"/>
          </p:nvPr>
        </p:nvSpPr>
        <p:spPr/>
        <p:txBody>
          <a:bodyPr/>
          <a:lstStyle/>
          <a:p>
            <a:fld id="{5E17F8B3-9A79-4614-89A2-91F7614C1421}" type="slidenum">
              <a:rPr lang="en-US" smtClean="0"/>
              <a:t>‹#›</a:t>
            </a:fld>
            <a:endParaRPr lang="en-US"/>
          </a:p>
        </p:txBody>
      </p:sp>
    </p:spTree>
    <p:extLst>
      <p:ext uri="{BB962C8B-B14F-4D97-AF65-F5344CB8AC3E}">
        <p14:creationId xmlns:p14="http://schemas.microsoft.com/office/powerpoint/2010/main" val="20597111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39CD62-D252-7EA7-8D17-806174954256}"/>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EA207E3A-412C-7332-13B9-6EF448B112C4}"/>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86FB2DA-2EF9-ED46-76FA-D12D385A8BB3}"/>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5F14E869-B02E-67BC-4B89-BBB504C0B353}"/>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7086542C-0967-6592-B0B1-451566F177A0}"/>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499345AF-8564-AFA1-9D55-B78143B31A8A}"/>
              </a:ext>
            </a:extLst>
          </p:cNvPr>
          <p:cNvSpPr>
            <a:spLocks noGrp="1"/>
          </p:cNvSpPr>
          <p:nvPr>
            <p:ph type="dt" sz="half" idx="10"/>
          </p:nvPr>
        </p:nvSpPr>
        <p:spPr/>
        <p:txBody>
          <a:bodyPr/>
          <a:lstStyle/>
          <a:p>
            <a:fld id="{6D8AF5CB-983F-4B68-8D05-C4BF00E17053}" type="datetimeFigureOut">
              <a:rPr lang="en-US" smtClean="0"/>
              <a:t>06-Aug-25</a:t>
            </a:fld>
            <a:endParaRPr lang="en-US"/>
          </a:p>
        </p:txBody>
      </p:sp>
      <p:sp>
        <p:nvSpPr>
          <p:cNvPr id="8" name="Footer Placeholder 7">
            <a:extLst>
              <a:ext uri="{FF2B5EF4-FFF2-40B4-BE49-F238E27FC236}">
                <a16:creationId xmlns:a16="http://schemas.microsoft.com/office/drawing/2014/main" id="{F1670D19-4D3D-8426-E6E5-12FAF6314E26}"/>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1B83DADC-EDCE-5747-A8FA-4525C25D47D4}"/>
              </a:ext>
            </a:extLst>
          </p:cNvPr>
          <p:cNvSpPr>
            <a:spLocks noGrp="1"/>
          </p:cNvSpPr>
          <p:nvPr>
            <p:ph type="sldNum" sz="quarter" idx="12"/>
          </p:nvPr>
        </p:nvSpPr>
        <p:spPr/>
        <p:txBody>
          <a:bodyPr/>
          <a:lstStyle/>
          <a:p>
            <a:fld id="{5E17F8B3-9A79-4614-89A2-91F7614C1421}" type="slidenum">
              <a:rPr lang="en-US" smtClean="0"/>
              <a:t>‹#›</a:t>
            </a:fld>
            <a:endParaRPr lang="en-US"/>
          </a:p>
        </p:txBody>
      </p:sp>
    </p:spTree>
    <p:extLst>
      <p:ext uri="{BB962C8B-B14F-4D97-AF65-F5344CB8AC3E}">
        <p14:creationId xmlns:p14="http://schemas.microsoft.com/office/powerpoint/2010/main" val="323959020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D82E6D-020D-E323-35CC-84ECE4757F2F}"/>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7B66100A-1750-EF03-DEAC-D3EC33B93C0D}"/>
              </a:ext>
            </a:extLst>
          </p:cNvPr>
          <p:cNvSpPr>
            <a:spLocks noGrp="1"/>
          </p:cNvSpPr>
          <p:nvPr>
            <p:ph type="dt" sz="half" idx="10"/>
          </p:nvPr>
        </p:nvSpPr>
        <p:spPr/>
        <p:txBody>
          <a:bodyPr/>
          <a:lstStyle/>
          <a:p>
            <a:fld id="{6D8AF5CB-983F-4B68-8D05-C4BF00E17053}" type="datetimeFigureOut">
              <a:rPr lang="en-US" smtClean="0"/>
              <a:t>06-Aug-25</a:t>
            </a:fld>
            <a:endParaRPr lang="en-US"/>
          </a:p>
        </p:txBody>
      </p:sp>
      <p:sp>
        <p:nvSpPr>
          <p:cNvPr id="4" name="Footer Placeholder 3">
            <a:extLst>
              <a:ext uri="{FF2B5EF4-FFF2-40B4-BE49-F238E27FC236}">
                <a16:creationId xmlns:a16="http://schemas.microsoft.com/office/drawing/2014/main" id="{5FDEF27E-F215-388B-08F5-A7AECBD49DB7}"/>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A298288C-CC69-29A2-42B3-2D4837EF2C6B}"/>
              </a:ext>
            </a:extLst>
          </p:cNvPr>
          <p:cNvSpPr>
            <a:spLocks noGrp="1"/>
          </p:cNvSpPr>
          <p:nvPr>
            <p:ph type="sldNum" sz="quarter" idx="12"/>
          </p:nvPr>
        </p:nvSpPr>
        <p:spPr/>
        <p:txBody>
          <a:bodyPr/>
          <a:lstStyle/>
          <a:p>
            <a:fld id="{5E17F8B3-9A79-4614-89A2-91F7614C1421}" type="slidenum">
              <a:rPr lang="en-US" smtClean="0"/>
              <a:t>‹#›</a:t>
            </a:fld>
            <a:endParaRPr lang="en-US"/>
          </a:p>
        </p:txBody>
      </p:sp>
    </p:spTree>
    <p:extLst>
      <p:ext uri="{BB962C8B-B14F-4D97-AF65-F5344CB8AC3E}">
        <p14:creationId xmlns:p14="http://schemas.microsoft.com/office/powerpoint/2010/main" val="43253126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338E0E7-1EF8-CD25-B99D-25699BC76048}"/>
              </a:ext>
            </a:extLst>
          </p:cNvPr>
          <p:cNvSpPr>
            <a:spLocks noGrp="1"/>
          </p:cNvSpPr>
          <p:nvPr>
            <p:ph type="dt" sz="half" idx="10"/>
          </p:nvPr>
        </p:nvSpPr>
        <p:spPr/>
        <p:txBody>
          <a:bodyPr/>
          <a:lstStyle/>
          <a:p>
            <a:fld id="{6D8AF5CB-983F-4B68-8D05-C4BF00E17053}" type="datetimeFigureOut">
              <a:rPr lang="en-US" smtClean="0"/>
              <a:t>06-Aug-25</a:t>
            </a:fld>
            <a:endParaRPr lang="en-US"/>
          </a:p>
        </p:txBody>
      </p:sp>
      <p:sp>
        <p:nvSpPr>
          <p:cNvPr id="3" name="Footer Placeholder 2">
            <a:extLst>
              <a:ext uri="{FF2B5EF4-FFF2-40B4-BE49-F238E27FC236}">
                <a16:creationId xmlns:a16="http://schemas.microsoft.com/office/drawing/2014/main" id="{6BF826EA-2D6C-BF5B-AC95-0EDE841DF80B}"/>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6D3A3918-5D78-9D6D-9753-9BF7AD12B0AB}"/>
              </a:ext>
            </a:extLst>
          </p:cNvPr>
          <p:cNvSpPr>
            <a:spLocks noGrp="1"/>
          </p:cNvSpPr>
          <p:nvPr>
            <p:ph type="sldNum" sz="quarter" idx="12"/>
          </p:nvPr>
        </p:nvSpPr>
        <p:spPr/>
        <p:txBody>
          <a:bodyPr/>
          <a:lstStyle/>
          <a:p>
            <a:fld id="{5E17F8B3-9A79-4614-89A2-91F7614C1421}" type="slidenum">
              <a:rPr lang="en-US" smtClean="0"/>
              <a:t>‹#›</a:t>
            </a:fld>
            <a:endParaRPr lang="en-US"/>
          </a:p>
        </p:txBody>
      </p:sp>
    </p:spTree>
    <p:extLst>
      <p:ext uri="{BB962C8B-B14F-4D97-AF65-F5344CB8AC3E}">
        <p14:creationId xmlns:p14="http://schemas.microsoft.com/office/powerpoint/2010/main" val="397912370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59AD1B-88C9-4553-08D8-ADBF3B0376B5}"/>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D268341F-4461-2662-1669-E3AC884F269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69D155FC-5005-2E7D-4308-49C786624D9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89CFC547-C862-71D3-F4A0-2AFD7FA47518}"/>
              </a:ext>
            </a:extLst>
          </p:cNvPr>
          <p:cNvSpPr>
            <a:spLocks noGrp="1"/>
          </p:cNvSpPr>
          <p:nvPr>
            <p:ph type="dt" sz="half" idx="10"/>
          </p:nvPr>
        </p:nvSpPr>
        <p:spPr/>
        <p:txBody>
          <a:bodyPr/>
          <a:lstStyle/>
          <a:p>
            <a:fld id="{6D8AF5CB-983F-4B68-8D05-C4BF00E17053}" type="datetimeFigureOut">
              <a:rPr lang="en-US" smtClean="0"/>
              <a:t>06-Aug-25</a:t>
            </a:fld>
            <a:endParaRPr lang="en-US"/>
          </a:p>
        </p:txBody>
      </p:sp>
      <p:sp>
        <p:nvSpPr>
          <p:cNvPr id="6" name="Footer Placeholder 5">
            <a:extLst>
              <a:ext uri="{FF2B5EF4-FFF2-40B4-BE49-F238E27FC236}">
                <a16:creationId xmlns:a16="http://schemas.microsoft.com/office/drawing/2014/main" id="{61358D78-B6A9-3C58-97F7-C5EBAB10E306}"/>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40183F7-32BE-65B4-E4E2-947D901D8FFE}"/>
              </a:ext>
            </a:extLst>
          </p:cNvPr>
          <p:cNvSpPr>
            <a:spLocks noGrp="1"/>
          </p:cNvSpPr>
          <p:nvPr>
            <p:ph type="sldNum" sz="quarter" idx="12"/>
          </p:nvPr>
        </p:nvSpPr>
        <p:spPr/>
        <p:txBody>
          <a:bodyPr/>
          <a:lstStyle/>
          <a:p>
            <a:fld id="{5E17F8B3-9A79-4614-89A2-91F7614C1421}" type="slidenum">
              <a:rPr lang="en-US" smtClean="0"/>
              <a:t>‹#›</a:t>
            </a:fld>
            <a:endParaRPr lang="en-US"/>
          </a:p>
        </p:txBody>
      </p:sp>
    </p:spTree>
    <p:extLst>
      <p:ext uri="{BB962C8B-B14F-4D97-AF65-F5344CB8AC3E}">
        <p14:creationId xmlns:p14="http://schemas.microsoft.com/office/powerpoint/2010/main" val="375356583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B1F480-4C9A-A063-BFAF-0F590418316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DEE12766-4827-F205-EA54-DD195971006C}"/>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6BB0D222-986C-6CB6-6A7B-5EB71BA1D5F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25C74DF8-A72C-DAAF-5BAC-CFF18644F07F}"/>
              </a:ext>
            </a:extLst>
          </p:cNvPr>
          <p:cNvSpPr>
            <a:spLocks noGrp="1"/>
          </p:cNvSpPr>
          <p:nvPr>
            <p:ph type="dt" sz="half" idx="10"/>
          </p:nvPr>
        </p:nvSpPr>
        <p:spPr/>
        <p:txBody>
          <a:bodyPr/>
          <a:lstStyle/>
          <a:p>
            <a:fld id="{6D8AF5CB-983F-4B68-8D05-C4BF00E17053}" type="datetimeFigureOut">
              <a:rPr lang="en-US" smtClean="0"/>
              <a:t>06-Aug-25</a:t>
            </a:fld>
            <a:endParaRPr lang="en-US"/>
          </a:p>
        </p:txBody>
      </p:sp>
      <p:sp>
        <p:nvSpPr>
          <p:cNvPr id="6" name="Footer Placeholder 5">
            <a:extLst>
              <a:ext uri="{FF2B5EF4-FFF2-40B4-BE49-F238E27FC236}">
                <a16:creationId xmlns:a16="http://schemas.microsoft.com/office/drawing/2014/main" id="{B74E5BD9-E122-C854-8434-5D54C1FF655F}"/>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01C7CD1C-A170-2C79-16AE-4776CF3D6E92}"/>
              </a:ext>
            </a:extLst>
          </p:cNvPr>
          <p:cNvSpPr>
            <a:spLocks noGrp="1"/>
          </p:cNvSpPr>
          <p:nvPr>
            <p:ph type="sldNum" sz="quarter" idx="12"/>
          </p:nvPr>
        </p:nvSpPr>
        <p:spPr/>
        <p:txBody>
          <a:bodyPr/>
          <a:lstStyle/>
          <a:p>
            <a:fld id="{5E17F8B3-9A79-4614-89A2-91F7614C1421}" type="slidenum">
              <a:rPr lang="en-US" smtClean="0"/>
              <a:t>‹#›</a:t>
            </a:fld>
            <a:endParaRPr lang="en-US"/>
          </a:p>
        </p:txBody>
      </p:sp>
    </p:spTree>
    <p:extLst>
      <p:ext uri="{BB962C8B-B14F-4D97-AF65-F5344CB8AC3E}">
        <p14:creationId xmlns:p14="http://schemas.microsoft.com/office/powerpoint/2010/main" val="11890584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255BA6-948F-6223-36E5-5FA7128C2BA1}"/>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75DA2A4A-421F-1C9A-92E6-B074F2F7FAB0}"/>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13F58A5-8162-017F-EB97-1762C3273DE8}"/>
              </a:ext>
            </a:extLst>
          </p:cNvPr>
          <p:cNvSpPr>
            <a:spLocks noGrp="1"/>
          </p:cNvSpPr>
          <p:nvPr>
            <p:ph type="dt" sz="half" idx="10"/>
          </p:nvPr>
        </p:nvSpPr>
        <p:spPr/>
        <p:txBody>
          <a:bodyPr/>
          <a:lstStyle/>
          <a:p>
            <a:fld id="{6D8AF5CB-983F-4B68-8D05-C4BF00E17053}" type="datetimeFigureOut">
              <a:rPr lang="en-US" smtClean="0"/>
              <a:t>06-Aug-25</a:t>
            </a:fld>
            <a:endParaRPr lang="en-US"/>
          </a:p>
        </p:txBody>
      </p:sp>
      <p:sp>
        <p:nvSpPr>
          <p:cNvPr id="5" name="Footer Placeholder 4">
            <a:extLst>
              <a:ext uri="{FF2B5EF4-FFF2-40B4-BE49-F238E27FC236}">
                <a16:creationId xmlns:a16="http://schemas.microsoft.com/office/drawing/2014/main" id="{273A9F14-F0A4-E903-4C1A-69992C8D2C7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18F7D40-63BA-F5AF-64A0-C07AD2116DAC}"/>
              </a:ext>
            </a:extLst>
          </p:cNvPr>
          <p:cNvSpPr>
            <a:spLocks noGrp="1"/>
          </p:cNvSpPr>
          <p:nvPr>
            <p:ph type="sldNum" sz="quarter" idx="12"/>
          </p:nvPr>
        </p:nvSpPr>
        <p:spPr/>
        <p:txBody>
          <a:bodyPr/>
          <a:lstStyle/>
          <a:p>
            <a:fld id="{5E17F8B3-9A79-4614-89A2-91F7614C1421}" type="slidenum">
              <a:rPr lang="en-US" smtClean="0"/>
              <a:t>‹#›</a:t>
            </a:fld>
            <a:endParaRPr lang="en-US"/>
          </a:p>
        </p:txBody>
      </p:sp>
    </p:spTree>
    <p:extLst>
      <p:ext uri="{BB962C8B-B14F-4D97-AF65-F5344CB8AC3E}">
        <p14:creationId xmlns:p14="http://schemas.microsoft.com/office/powerpoint/2010/main" val="6360346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82097828-7117-3543-FA46-8DE183F09D15}"/>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D1B5F5E1-D2BF-BFDD-DCE7-1364A4F19465}"/>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FF6F560-8E06-4F1D-D73C-131C3F6F97F8}"/>
              </a:ext>
            </a:extLst>
          </p:cNvPr>
          <p:cNvSpPr>
            <a:spLocks noGrp="1"/>
          </p:cNvSpPr>
          <p:nvPr>
            <p:ph type="dt" sz="half" idx="10"/>
          </p:nvPr>
        </p:nvSpPr>
        <p:spPr/>
        <p:txBody>
          <a:bodyPr/>
          <a:lstStyle/>
          <a:p>
            <a:fld id="{6D8AF5CB-983F-4B68-8D05-C4BF00E17053}" type="datetimeFigureOut">
              <a:rPr lang="en-US" smtClean="0"/>
              <a:t>06-Aug-25</a:t>
            </a:fld>
            <a:endParaRPr lang="en-US"/>
          </a:p>
        </p:txBody>
      </p:sp>
      <p:sp>
        <p:nvSpPr>
          <p:cNvPr id="5" name="Footer Placeholder 4">
            <a:extLst>
              <a:ext uri="{FF2B5EF4-FFF2-40B4-BE49-F238E27FC236}">
                <a16:creationId xmlns:a16="http://schemas.microsoft.com/office/drawing/2014/main" id="{9F0B83BA-056C-168E-8F5A-577F4290905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ECB4346-9772-1C4B-3234-5C651F5C7165}"/>
              </a:ext>
            </a:extLst>
          </p:cNvPr>
          <p:cNvSpPr>
            <a:spLocks noGrp="1"/>
          </p:cNvSpPr>
          <p:nvPr>
            <p:ph type="sldNum" sz="quarter" idx="12"/>
          </p:nvPr>
        </p:nvSpPr>
        <p:spPr/>
        <p:txBody>
          <a:bodyPr/>
          <a:lstStyle/>
          <a:p>
            <a:fld id="{5E17F8B3-9A79-4614-89A2-91F7614C1421}" type="slidenum">
              <a:rPr lang="en-US" smtClean="0"/>
              <a:t>‹#›</a:t>
            </a:fld>
            <a:endParaRPr lang="en-US"/>
          </a:p>
        </p:txBody>
      </p:sp>
    </p:spTree>
    <p:extLst>
      <p:ext uri="{BB962C8B-B14F-4D97-AF65-F5344CB8AC3E}">
        <p14:creationId xmlns:p14="http://schemas.microsoft.com/office/powerpoint/2010/main" val="368193023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cSld name="（基本版） タイトル_ ロゴ入り_A4">
    <p:spTree>
      <p:nvGrpSpPr>
        <p:cNvPr id="1" name=""/>
        <p:cNvGrpSpPr/>
        <p:nvPr/>
      </p:nvGrpSpPr>
      <p:grpSpPr>
        <a:xfrm>
          <a:off x="0" y="0"/>
          <a:ext cx="0" cy="0"/>
          <a:chOff x="0" y="0"/>
          <a:chExt cx="0" cy="0"/>
        </a:xfrm>
      </p:grpSpPr>
      <p:graphicFrame>
        <p:nvGraphicFramePr>
          <p:cNvPr id="4" name="オブジェクト 3" hidden="1"/>
          <p:cNvGraphicFramePr>
            <a:graphicFrameLocks noChangeAspect="1"/>
          </p:cNvGraphicFramePr>
          <p:nvPr userDrawn="1">
            <p:custDataLst>
              <p:tags r:id="rId1"/>
            </p:custDataLst>
            <p:extLst>
              <p:ext uri="{D42A27DB-BD31-4B8C-83A1-F6EECF244321}">
                <p14:modId xmlns:p14="http://schemas.microsoft.com/office/powerpoint/2010/main" val="645675330"/>
              </p:ext>
            </p:extLst>
          </p:nvPr>
        </p:nvGraphicFramePr>
        <p:xfrm>
          <a:off x="1955" y="1588"/>
          <a:ext cx="1954" cy="1588"/>
        </p:xfrm>
        <a:graphic>
          <a:graphicData uri="http://schemas.openxmlformats.org/presentationml/2006/ole">
            <mc:AlternateContent xmlns:mc="http://schemas.openxmlformats.org/markup-compatibility/2006">
              <mc:Choice xmlns:v="urn:schemas-microsoft-com:vml" Requires="v">
                <p:oleObj name="think-cell Slide" r:id="rId3" imgW="563" imgH="564" progId="TCLayout.ActiveDocument.1">
                  <p:embed/>
                </p:oleObj>
              </mc:Choice>
              <mc:Fallback>
                <p:oleObj name="think-cell Slide" r:id="rId3" imgW="563" imgH="564" progId="TCLayout.ActiveDocument.1">
                  <p:embed/>
                  <p:pic>
                    <p:nvPicPr>
                      <p:cNvPr id="4" name="オブジェクト 3" hidden="1"/>
                      <p:cNvPicPr/>
                      <p:nvPr/>
                    </p:nvPicPr>
                    <p:blipFill>
                      <a:blip r:embed="rId4"/>
                      <a:stretch>
                        <a:fillRect/>
                      </a:stretch>
                    </p:blipFill>
                    <p:spPr>
                      <a:xfrm>
                        <a:off x="1955" y="1588"/>
                        <a:ext cx="1954" cy="1588"/>
                      </a:xfrm>
                      <a:prstGeom prst="rect">
                        <a:avLst/>
                      </a:prstGeom>
                    </p:spPr>
                  </p:pic>
                </p:oleObj>
              </mc:Fallback>
            </mc:AlternateContent>
          </a:graphicData>
        </a:graphic>
      </p:graphicFrame>
      <p:sp>
        <p:nvSpPr>
          <p:cNvPr id="9" name="Picture Placeholder 8"/>
          <p:cNvSpPr>
            <a:spLocks noGrp="1" noChangeAspect="1"/>
          </p:cNvSpPr>
          <p:nvPr>
            <p:ph type="pic" sz="quarter" idx="11"/>
          </p:nvPr>
        </p:nvSpPr>
        <p:spPr bwMode="gray">
          <a:xfrm>
            <a:off x="3105231" y="999000"/>
            <a:ext cx="5981538" cy="4860000"/>
          </a:xfrm>
          <a:prstGeom prst="rect">
            <a:avLst/>
          </a:prstGeom>
        </p:spPr>
        <p:txBody>
          <a:bodyPr/>
          <a:lstStyle>
            <a:lvl1pPr>
              <a:defRPr baseline="0">
                <a:latin typeface="+mn-lt"/>
                <a:ea typeface="+mn-ea"/>
                <a:cs typeface="+mn-cs"/>
                <a:sym typeface="+mn-lt"/>
              </a:defRPr>
            </a:lvl1pPr>
          </a:lstStyle>
          <a:p>
            <a:r>
              <a:rPr lang="ja-JP" altLang="en-US"/>
              <a:t>アイコンをクリックして図を追加</a:t>
            </a:r>
            <a:endParaRPr lang="en-GB"/>
          </a:p>
        </p:txBody>
      </p:sp>
      <p:sp>
        <p:nvSpPr>
          <p:cNvPr id="2" name="Title 1"/>
          <p:cNvSpPr>
            <a:spLocks noGrp="1"/>
          </p:cNvSpPr>
          <p:nvPr>
            <p:ph type="ctrTitle" hasCustomPrompt="1"/>
          </p:nvPr>
        </p:nvSpPr>
        <p:spPr bwMode="gray">
          <a:xfrm>
            <a:off x="513969" y="5040001"/>
            <a:ext cx="4430769" cy="615553"/>
          </a:xfrm>
        </p:spPr>
        <p:txBody>
          <a:bodyPr vert="horz" anchor="b" anchorCtr="0">
            <a:noAutofit/>
          </a:bodyPr>
          <a:lstStyle>
            <a:lvl1pPr algn="l">
              <a:lnSpc>
                <a:spcPct val="100000"/>
              </a:lnSpc>
              <a:spcBef>
                <a:spcPts val="0"/>
              </a:spcBef>
              <a:spcAft>
                <a:spcPts val="0"/>
              </a:spcAft>
              <a:defRPr sz="2000" b="1" baseline="0">
                <a:solidFill>
                  <a:schemeClr val="tx1"/>
                </a:solidFill>
                <a:latin typeface="+mj-lt"/>
                <a:ea typeface="+mj-ea"/>
                <a:cs typeface="+mj-cs"/>
                <a:sym typeface="+mj-lt"/>
              </a:defRPr>
            </a:lvl1pPr>
          </a:lstStyle>
          <a:p>
            <a:r>
              <a:rPr lang="ja-JP" altLang="en-US" noProof="0"/>
              <a:t>表紙タイトル</a:t>
            </a:r>
            <a:endParaRPr lang="en-US" noProof="0"/>
          </a:p>
        </p:txBody>
      </p:sp>
      <p:sp>
        <p:nvSpPr>
          <p:cNvPr id="3" name="Subtitle 2"/>
          <p:cNvSpPr>
            <a:spLocks noGrp="1"/>
          </p:cNvSpPr>
          <p:nvPr>
            <p:ph type="subTitle" idx="1" hasCustomPrompt="1"/>
          </p:nvPr>
        </p:nvSpPr>
        <p:spPr bwMode="gray">
          <a:xfrm>
            <a:off x="513969" y="5652001"/>
            <a:ext cx="4430769" cy="492443"/>
          </a:xfrm>
          <a:prstGeom prst="rect">
            <a:avLst/>
          </a:prstGeom>
        </p:spPr>
        <p:txBody>
          <a:bodyPr lIns="0" tIns="0" rIns="0" bIns="0" anchor="t" anchorCtr="0">
            <a:noAutofit/>
          </a:bodyPr>
          <a:lstStyle>
            <a:lvl1pPr marL="0" indent="0" algn="l">
              <a:lnSpc>
                <a:spcPct val="100000"/>
              </a:lnSpc>
              <a:spcBef>
                <a:spcPts val="0"/>
              </a:spcBef>
              <a:spcAft>
                <a:spcPts val="0"/>
              </a:spcAft>
              <a:buNone/>
              <a:defRPr sz="1600" baseline="0">
                <a:solidFill>
                  <a:schemeClr val="tx1"/>
                </a:solidFill>
                <a:latin typeface="+mn-lt"/>
                <a:ea typeface="+mn-ea"/>
                <a:cs typeface="+mn-cs"/>
                <a:sym typeface="+mn-lt"/>
              </a:defRPr>
            </a:lvl1pPr>
            <a:lvl2pPr marL="495283" indent="0" algn="ctr">
              <a:buNone/>
              <a:defRPr sz="2167"/>
            </a:lvl2pPr>
            <a:lvl3pPr marL="990564" indent="0" algn="ctr">
              <a:buNone/>
              <a:defRPr sz="1950"/>
            </a:lvl3pPr>
            <a:lvl4pPr marL="1485846" indent="0" algn="ctr">
              <a:buNone/>
              <a:defRPr sz="1733"/>
            </a:lvl4pPr>
            <a:lvl5pPr marL="1981127" indent="0" algn="ctr">
              <a:buNone/>
              <a:defRPr sz="1733"/>
            </a:lvl5pPr>
            <a:lvl6pPr marL="2476410" indent="0" algn="ctr">
              <a:buNone/>
              <a:defRPr sz="1733"/>
            </a:lvl6pPr>
            <a:lvl7pPr marL="2971692" indent="0" algn="ctr">
              <a:buNone/>
              <a:defRPr sz="1733"/>
            </a:lvl7pPr>
            <a:lvl8pPr marL="3466973" indent="0" algn="ctr">
              <a:buNone/>
              <a:defRPr sz="1733"/>
            </a:lvl8pPr>
            <a:lvl9pPr marL="3962255" indent="0" algn="ctr">
              <a:buNone/>
              <a:defRPr sz="1733"/>
            </a:lvl9pPr>
          </a:lstStyle>
          <a:p>
            <a:r>
              <a:rPr lang="ja-JP" altLang="en-US" noProof="0"/>
              <a:t>表紙サブタイトル</a:t>
            </a:r>
            <a:endParaRPr lang="en-US" noProof="0"/>
          </a:p>
        </p:txBody>
      </p:sp>
      <p:sp>
        <p:nvSpPr>
          <p:cNvPr id="5" name="Text Placeholder 4"/>
          <p:cNvSpPr>
            <a:spLocks noGrp="1"/>
          </p:cNvSpPr>
          <p:nvPr>
            <p:ph type="body" sz="quarter" idx="10"/>
          </p:nvPr>
        </p:nvSpPr>
        <p:spPr bwMode="gray">
          <a:xfrm>
            <a:off x="513968" y="6408000"/>
            <a:ext cx="4430769" cy="215444"/>
          </a:xfrm>
          <a:prstGeom prst="rect">
            <a:avLst/>
          </a:prstGeom>
        </p:spPr>
        <p:txBody>
          <a:bodyPr wrap="square" lIns="0" anchor="b" anchorCtr="0">
            <a:spAutoFit/>
          </a:bodyPr>
          <a:lstStyle>
            <a:lvl1pPr>
              <a:lnSpc>
                <a:spcPct val="100000"/>
              </a:lnSpc>
              <a:spcBef>
                <a:spcPts val="0"/>
              </a:spcBef>
              <a:spcAft>
                <a:spcPts val="0"/>
              </a:spcAft>
              <a:defRPr sz="1400" baseline="0">
                <a:solidFill>
                  <a:schemeClr val="tx1"/>
                </a:solidFill>
                <a:latin typeface="+mn-lt"/>
                <a:ea typeface="+mn-ea"/>
                <a:cs typeface="+mn-cs"/>
                <a:sym typeface="+mn-lt"/>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ja-JP" altLang="en-US" noProof="0"/>
              <a:t>マスター テキストの書式設定</a:t>
            </a:r>
          </a:p>
        </p:txBody>
      </p:sp>
      <p:sp>
        <p:nvSpPr>
          <p:cNvPr id="10" name="テキスト プレースホルダー 9"/>
          <p:cNvSpPr>
            <a:spLocks noGrp="1"/>
          </p:cNvSpPr>
          <p:nvPr>
            <p:ph type="body" sz="quarter" idx="12" hasCustomPrompt="1"/>
          </p:nvPr>
        </p:nvSpPr>
        <p:spPr bwMode="gray">
          <a:xfrm>
            <a:off x="6096000" y="396000"/>
            <a:ext cx="5582769" cy="676800"/>
          </a:xfrm>
          <a:prstGeom prst="rect">
            <a:avLst/>
          </a:prstGeom>
        </p:spPr>
        <p:txBody>
          <a:bodyPr lIns="0">
            <a:normAutofit/>
          </a:bodyPr>
          <a:lstStyle>
            <a:lvl1pPr algn="r">
              <a:lnSpc>
                <a:spcPct val="100000"/>
              </a:lnSpc>
              <a:spcBef>
                <a:spcPts val="0"/>
              </a:spcBef>
              <a:defRPr sz="2200" baseline="0">
                <a:latin typeface="+mn-lt"/>
                <a:ea typeface="+mn-ea"/>
                <a:cs typeface="+mn-cs"/>
                <a:sym typeface="+mn-lt"/>
              </a:defRPr>
            </a:lvl1pPr>
            <a:lvl2pPr>
              <a:defRPr sz="2200"/>
            </a:lvl2pPr>
            <a:lvl3pPr>
              <a:defRPr sz="2200"/>
            </a:lvl3pPr>
            <a:lvl4pPr>
              <a:defRPr sz="2200"/>
            </a:lvl4pPr>
            <a:lvl5pPr>
              <a:defRPr sz="2200"/>
            </a:lvl5pPr>
          </a:lstStyle>
          <a:p>
            <a:pPr lvl="0"/>
            <a:r>
              <a:rPr kumimoji="1" lang="ja-JP" altLang="en-US"/>
              <a:t>クライアント社名</a:t>
            </a:r>
          </a:p>
        </p:txBody>
      </p:sp>
      <p:pic>
        <p:nvPicPr>
          <p:cNvPr id="7" name="図 6"/>
          <p:cNvPicPr>
            <a:picLocks noChangeAspect="1"/>
          </p:cNvPicPr>
          <p:nvPr userDrawn="1"/>
        </p:nvPicPr>
        <p:blipFill>
          <a:blip r:embed="rId5" cstate="print">
            <a:extLst>
              <a:ext uri="{28A0092B-C50C-407E-A947-70E740481C1C}">
                <a14:useLocalDpi xmlns:a14="http://schemas.microsoft.com/office/drawing/2010/main"/>
              </a:ext>
            </a:extLst>
          </a:blip>
          <a:stretch>
            <a:fillRect/>
          </a:stretch>
        </p:blipFill>
        <p:spPr bwMode="gray">
          <a:xfrm>
            <a:off x="512610" y="432000"/>
            <a:ext cx="1509230" cy="492443"/>
          </a:xfrm>
          <a:prstGeom prst="rect">
            <a:avLst/>
          </a:prstGeom>
        </p:spPr>
      </p:pic>
      <p:sp>
        <p:nvSpPr>
          <p:cNvPr id="6" name="日付プレースホルダー 5">
            <a:extLst>
              <a:ext uri="{FF2B5EF4-FFF2-40B4-BE49-F238E27FC236}">
                <a16:creationId xmlns:a16="http://schemas.microsoft.com/office/drawing/2014/main" id="{3C0424FA-1860-43B7-8A94-43021EEC50FC}"/>
              </a:ext>
            </a:extLst>
          </p:cNvPr>
          <p:cNvSpPr>
            <a:spLocks noGrp="1"/>
          </p:cNvSpPr>
          <p:nvPr>
            <p:ph type="dt" sz="half" idx="13"/>
          </p:nvPr>
        </p:nvSpPr>
        <p:spPr bwMode="gray"/>
        <p:txBody>
          <a:bodyPr/>
          <a:lstStyle>
            <a:lvl1pPr>
              <a:defRPr>
                <a:cs typeface="+mn-cs"/>
              </a:defRPr>
            </a:lvl1pPr>
          </a:lstStyle>
          <a:p>
            <a:pPr algn="ctr"/>
            <a:r>
              <a:rPr lang="en-US"/>
              <a:t>&lt; Confidential &gt;</a:t>
            </a:r>
          </a:p>
        </p:txBody>
      </p:sp>
    </p:spTree>
    <p:extLst>
      <p:ext uri="{BB962C8B-B14F-4D97-AF65-F5344CB8AC3E}">
        <p14:creationId xmlns:p14="http://schemas.microsoft.com/office/powerpoint/2010/main" val="2100558520"/>
      </p:ext>
    </p:extLst>
  </p:cSld>
  <p:clrMapOvr>
    <a:masterClrMapping/>
  </p:clrMapOvr>
  <p:hf hdr="0"/>
  <p:extLst>
    <p:ext uri="{DCECCB84-F9BA-43D5-87BE-67443E8EF086}">
      <p15:sldGuideLst xmlns:p15="http://schemas.microsoft.com/office/powerpoint/2012/main"/>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Text Placeholder 8"/>
          <p:cNvSpPr>
            <a:spLocks noGrp="1"/>
          </p:cNvSpPr>
          <p:nvPr>
            <p:ph type="body" sz="quarter" idx="13" hasCustomPrompt="1"/>
          </p:nvPr>
        </p:nvSpPr>
        <p:spPr>
          <a:xfrm>
            <a:off x="501651" y="651601"/>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a:t>Click to add subtitle</a:t>
            </a:r>
          </a:p>
        </p:txBody>
      </p:sp>
      <p:sp>
        <p:nvSpPr>
          <p:cNvPr id="4" name="Chart Placeholder 3"/>
          <p:cNvSpPr>
            <a:spLocks noGrp="1"/>
          </p:cNvSpPr>
          <p:nvPr>
            <p:ph type="chart" sz="quarter" idx="15"/>
          </p:nvPr>
        </p:nvSpPr>
        <p:spPr>
          <a:xfrm>
            <a:off x="501653" y="2052001"/>
            <a:ext cx="11188699" cy="4069013"/>
          </a:xfrm>
          <a:prstGeom prst="rect">
            <a:avLst/>
          </a:prstGeom>
        </p:spPr>
        <p:txBody>
          <a:bodyPr/>
          <a:lstStyle/>
          <a:p>
            <a:r>
              <a:rPr lang="en-US"/>
              <a:t>Click icon to add chart</a:t>
            </a:r>
            <a:endParaRPr lang="en-GB"/>
          </a:p>
        </p:txBody>
      </p:sp>
      <p:sp>
        <p:nvSpPr>
          <p:cNvPr id="5" name="Text Placeholder 8"/>
          <p:cNvSpPr>
            <a:spLocks noGrp="1"/>
          </p:cNvSpPr>
          <p:nvPr>
            <p:ph type="body" sz="quarter" idx="18"/>
          </p:nvPr>
        </p:nvSpPr>
        <p:spPr>
          <a:xfrm>
            <a:off x="501653" y="1674087"/>
            <a:ext cx="11188699" cy="357187"/>
          </a:xfrm>
        </p:spPr>
        <p:txBody>
          <a:bodyPr/>
          <a:lstStyle/>
          <a:p>
            <a:pPr lvl="0"/>
            <a:r>
              <a:rPr lang="en-US" noProof="0"/>
              <a:t>Edit Master text styles</a:t>
            </a:r>
          </a:p>
        </p:txBody>
      </p:sp>
      <p:sp>
        <p:nvSpPr>
          <p:cNvPr id="6" name="Text Placeholder 7"/>
          <p:cNvSpPr>
            <a:spLocks noGrp="1"/>
          </p:cNvSpPr>
          <p:nvPr>
            <p:ph type="body" sz="quarter" idx="23"/>
          </p:nvPr>
        </p:nvSpPr>
        <p:spPr>
          <a:xfrm>
            <a:off x="501651" y="6380256"/>
            <a:ext cx="11188700" cy="160245"/>
          </a:xfrm>
        </p:spPr>
        <p:txBody>
          <a:bodyPr>
            <a:normAutofit/>
          </a:bodyPr>
          <a:lstStyle>
            <a:lvl1pPr>
              <a:spcAft>
                <a:spcPts val="0"/>
              </a:spcAft>
              <a:defRPr sz="900"/>
            </a:lvl1pPr>
          </a:lstStyle>
          <a:p>
            <a:pPr lvl="0"/>
            <a:r>
              <a:rPr lang="en-US"/>
              <a:t>Edit Master text styles</a:t>
            </a:r>
          </a:p>
        </p:txBody>
      </p:sp>
      <p:sp>
        <p:nvSpPr>
          <p:cNvPr id="7" name="Title Placeholder 1">
            <a:extLst>
              <a:ext uri="{FF2B5EF4-FFF2-40B4-BE49-F238E27FC236}">
                <a16:creationId xmlns:a16="http://schemas.microsoft.com/office/drawing/2014/main" id="{8CFE9674-04ED-4C53-9426-4EA385799FE2}"/>
              </a:ext>
            </a:extLst>
          </p:cNvPr>
          <p:cNvSpPr>
            <a:spLocks noGrp="1"/>
          </p:cNvSpPr>
          <p:nvPr>
            <p:ph type="title" hasCustomPrompt="1"/>
          </p:nvPr>
        </p:nvSpPr>
        <p:spPr>
          <a:xfrm>
            <a:off x="501651" y="317501"/>
            <a:ext cx="11188700" cy="334099"/>
          </a:xfrm>
          <a:prstGeom prst="rect">
            <a:avLst/>
          </a:prstGeom>
        </p:spPr>
        <p:txBody>
          <a:bodyPr vert="horz" lIns="0" tIns="0" rIns="0" bIns="0" rtlCol="0" anchor="t" anchorCtr="0">
            <a:noAutofit/>
          </a:bodyPr>
          <a:lstStyle>
            <a:lvl1pPr>
              <a:defRPr>
                <a:latin typeface="+mj-lt"/>
              </a:defRPr>
            </a:lvl1pPr>
          </a:lstStyle>
          <a:p>
            <a:r>
              <a:rPr lang="en-US"/>
              <a:t>Click to add title</a:t>
            </a:r>
          </a:p>
        </p:txBody>
      </p:sp>
    </p:spTree>
    <p:extLst>
      <p:ext uri="{BB962C8B-B14F-4D97-AF65-F5344CB8AC3E}">
        <p14:creationId xmlns:p14="http://schemas.microsoft.com/office/powerpoint/2010/main" val="405660954"/>
      </p:ext>
    </p:extLst>
  </p:cSld>
  <p:clrMapOvr>
    <a:masterClrMapping/>
  </p:clrMapOvr>
  <p:transition>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Title, subtitle &amp; chart">
    <p:spTree>
      <p:nvGrpSpPr>
        <p:cNvPr id="1" name=""/>
        <p:cNvGrpSpPr/>
        <p:nvPr/>
      </p:nvGrpSpPr>
      <p:grpSpPr>
        <a:xfrm>
          <a:off x="0" y="0"/>
          <a:ext cx="0" cy="0"/>
          <a:chOff x="0" y="0"/>
          <a:chExt cx="0" cy="0"/>
        </a:xfrm>
      </p:grpSpPr>
      <p:sp>
        <p:nvSpPr>
          <p:cNvPr id="15" name="Text Placeholder 8"/>
          <p:cNvSpPr>
            <a:spLocks noGrp="1"/>
          </p:cNvSpPr>
          <p:nvPr>
            <p:ph type="body" sz="quarter" idx="13" hasCustomPrompt="1"/>
          </p:nvPr>
        </p:nvSpPr>
        <p:spPr>
          <a:xfrm>
            <a:off x="501651" y="651601"/>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a:t>Click to add subtitle</a:t>
            </a:r>
          </a:p>
        </p:txBody>
      </p:sp>
      <p:sp>
        <p:nvSpPr>
          <p:cNvPr id="17" name="Chart Placeholder 3"/>
          <p:cNvSpPr>
            <a:spLocks noGrp="1"/>
          </p:cNvSpPr>
          <p:nvPr>
            <p:ph type="chart" sz="quarter" idx="15"/>
          </p:nvPr>
        </p:nvSpPr>
        <p:spPr>
          <a:xfrm>
            <a:off x="501653" y="2052001"/>
            <a:ext cx="11188699" cy="4069013"/>
          </a:xfrm>
          <a:prstGeom prst="rect">
            <a:avLst/>
          </a:prstGeom>
        </p:spPr>
        <p:txBody>
          <a:bodyPr/>
          <a:lstStyle/>
          <a:p>
            <a:r>
              <a:rPr lang="en-US"/>
              <a:t>Click icon to add chart</a:t>
            </a:r>
            <a:endParaRPr lang="en-GB"/>
          </a:p>
        </p:txBody>
      </p:sp>
      <p:sp>
        <p:nvSpPr>
          <p:cNvPr id="18" name="Text Placeholder 8"/>
          <p:cNvSpPr>
            <a:spLocks noGrp="1"/>
          </p:cNvSpPr>
          <p:nvPr>
            <p:ph type="body" sz="quarter" idx="18"/>
          </p:nvPr>
        </p:nvSpPr>
        <p:spPr>
          <a:xfrm>
            <a:off x="501653" y="1674087"/>
            <a:ext cx="11188699" cy="357187"/>
          </a:xfrm>
        </p:spPr>
        <p:txBody>
          <a:bodyPr/>
          <a:lstStyle/>
          <a:p>
            <a:pPr lvl="0"/>
            <a:r>
              <a:rPr lang="en-US" noProof="0"/>
              <a:t>Edit Master text styles</a:t>
            </a:r>
          </a:p>
        </p:txBody>
      </p:sp>
      <p:sp>
        <p:nvSpPr>
          <p:cNvPr id="7" name="Title Placeholder 1">
            <a:extLst>
              <a:ext uri="{FF2B5EF4-FFF2-40B4-BE49-F238E27FC236}">
                <a16:creationId xmlns:a16="http://schemas.microsoft.com/office/drawing/2014/main" id="{8CFE9674-04ED-4C53-9426-4EA385799FE2}"/>
              </a:ext>
            </a:extLst>
          </p:cNvPr>
          <p:cNvSpPr>
            <a:spLocks noGrp="1"/>
          </p:cNvSpPr>
          <p:nvPr>
            <p:ph type="title" hasCustomPrompt="1"/>
          </p:nvPr>
        </p:nvSpPr>
        <p:spPr>
          <a:xfrm>
            <a:off x="501651" y="317501"/>
            <a:ext cx="11188700" cy="334099"/>
          </a:xfrm>
          <a:prstGeom prst="rect">
            <a:avLst/>
          </a:prstGeom>
        </p:spPr>
        <p:txBody>
          <a:bodyPr vert="horz" lIns="0" tIns="0" rIns="0" bIns="0" rtlCol="0" anchor="t" anchorCtr="0">
            <a:noAutofit/>
          </a:bodyPr>
          <a:lstStyle>
            <a:lvl1pPr>
              <a:defRPr>
                <a:latin typeface="+mj-lt"/>
              </a:defRPr>
            </a:lvl1pPr>
          </a:lstStyle>
          <a:p>
            <a:r>
              <a:rPr lang="en-US"/>
              <a:t>Click to add title</a:t>
            </a:r>
          </a:p>
        </p:txBody>
      </p:sp>
      <p:sp>
        <p:nvSpPr>
          <p:cNvPr id="9" name="Text Placeholder 7"/>
          <p:cNvSpPr>
            <a:spLocks noGrp="1"/>
          </p:cNvSpPr>
          <p:nvPr>
            <p:ph type="body" sz="quarter" idx="23"/>
          </p:nvPr>
        </p:nvSpPr>
        <p:spPr>
          <a:xfrm>
            <a:off x="501652" y="6311157"/>
            <a:ext cx="11188700" cy="160245"/>
          </a:xfrm>
        </p:spPr>
        <p:txBody>
          <a:bodyPr>
            <a:normAutofit/>
          </a:bodyPr>
          <a:lstStyle>
            <a:lvl1pPr>
              <a:spcAft>
                <a:spcPts val="0"/>
              </a:spcAft>
              <a:defRPr sz="900"/>
            </a:lvl1pPr>
          </a:lstStyle>
          <a:p>
            <a:pPr lvl="0"/>
            <a:r>
              <a:rPr lang="en-US"/>
              <a:t>Edit Master text styles</a:t>
            </a:r>
          </a:p>
        </p:txBody>
      </p:sp>
    </p:spTree>
    <p:extLst>
      <p:ext uri="{BB962C8B-B14F-4D97-AF65-F5344CB8AC3E}">
        <p14:creationId xmlns:p14="http://schemas.microsoft.com/office/powerpoint/2010/main" val="3403533612"/>
      </p:ext>
    </p:extLst>
  </p:cSld>
  <p:clrMapOvr>
    <a:masterClrMapping/>
  </p:clrMapOvr>
  <p:transition>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itle Slide - Black">
    <p:spTree>
      <p:nvGrpSpPr>
        <p:cNvPr id="1" name=""/>
        <p:cNvGrpSpPr/>
        <p:nvPr/>
      </p:nvGrpSpPr>
      <p:grpSpPr>
        <a:xfrm>
          <a:off x="0" y="0"/>
          <a:ext cx="0" cy="0"/>
          <a:chOff x="0" y="0"/>
          <a:chExt cx="0" cy="0"/>
        </a:xfrm>
      </p:grpSpPr>
      <p:sp>
        <p:nvSpPr>
          <p:cNvPr id="9" name="Picture Placeholder 8"/>
          <p:cNvSpPr>
            <a:spLocks noGrp="1" noChangeAspect="1"/>
          </p:cNvSpPr>
          <p:nvPr>
            <p:ph type="pic" sz="quarter" idx="11"/>
          </p:nvPr>
        </p:nvSpPr>
        <p:spPr>
          <a:xfrm>
            <a:off x="2505856" y="727200"/>
            <a:ext cx="7200000" cy="5400000"/>
          </a:xfrm>
          <a:prstGeom prst="rect">
            <a:avLst/>
          </a:prstGeom>
        </p:spPr>
        <p:txBody>
          <a:bodyPr/>
          <a:lstStyle>
            <a:lvl1pPr>
              <a:defRPr>
                <a:solidFill>
                  <a:schemeClr val="bg1"/>
                </a:solidFill>
              </a:defRPr>
            </a:lvl1pPr>
          </a:lstStyle>
          <a:p>
            <a:r>
              <a:rPr lang="en-US" noProof="0"/>
              <a:t>Click icon to add picture</a:t>
            </a:r>
          </a:p>
        </p:txBody>
      </p:sp>
      <p:sp>
        <p:nvSpPr>
          <p:cNvPr id="3" name="Subtitle 2"/>
          <p:cNvSpPr>
            <a:spLocks noGrp="1"/>
          </p:cNvSpPr>
          <p:nvPr>
            <p:ph type="subTitle" idx="1" hasCustomPrompt="1"/>
          </p:nvPr>
        </p:nvSpPr>
        <p:spPr bwMode="gray">
          <a:xfrm>
            <a:off x="503990" y="5864229"/>
            <a:ext cx="5592010" cy="505645"/>
          </a:xfrm>
          <a:prstGeom prst="rect">
            <a:avLst/>
          </a:prstGeom>
        </p:spPr>
        <p:txBody>
          <a:bodyPr lIns="0" tIns="0" rIns="0" bIns="0" anchor="b" anchorCtr="0">
            <a:noAutofit/>
          </a:bodyPr>
          <a:lstStyle>
            <a:lvl1pPr marL="0" indent="0" algn="l">
              <a:lnSpc>
                <a:spcPct val="100000"/>
              </a:lnSpc>
              <a:spcAft>
                <a:spcPts val="0"/>
              </a:spcAft>
              <a:buNone/>
              <a:defRPr sz="2264" b="1">
                <a:solidFill>
                  <a:schemeClr val="bg1"/>
                </a:solidFill>
              </a:defRPr>
            </a:lvl1pPr>
            <a:lvl2pPr marL="0" marR="0" indent="0" algn="l" defTabSz="1150072" rtl="0" eaLnBrk="1" fontAlgn="auto" latinLnBrk="0" hangingPunct="1">
              <a:lnSpc>
                <a:spcPct val="100000"/>
              </a:lnSpc>
              <a:spcBef>
                <a:spcPts val="0"/>
              </a:spcBef>
              <a:spcAft>
                <a:spcPts val="0"/>
              </a:spcAft>
              <a:buClrTx/>
              <a:buSzPct val="100000"/>
              <a:buFont typeface="Arial"/>
              <a:buNone/>
              <a:tabLst/>
              <a:defRPr sz="2012" b="0">
                <a:solidFill>
                  <a:schemeClr val="bg1"/>
                </a:solidFill>
              </a:defRPr>
            </a:lvl2pPr>
            <a:lvl3pPr marL="0" indent="0" algn="l">
              <a:spcAft>
                <a:spcPts val="0"/>
              </a:spcAft>
              <a:buNone/>
              <a:defRPr sz="2012">
                <a:solidFill>
                  <a:schemeClr val="bg1"/>
                </a:solidFill>
              </a:defRPr>
            </a:lvl3pPr>
            <a:lvl4pPr marL="1725107" indent="0" algn="ctr">
              <a:buNone/>
              <a:defRPr sz="2012"/>
            </a:lvl4pPr>
            <a:lvl5pPr marL="2300144" indent="0" algn="ctr">
              <a:buNone/>
              <a:defRPr sz="2012"/>
            </a:lvl5pPr>
            <a:lvl6pPr marL="2875180" indent="0" algn="ctr">
              <a:buNone/>
              <a:defRPr sz="2012"/>
            </a:lvl6pPr>
            <a:lvl7pPr marL="3450216" indent="0" algn="ctr">
              <a:buNone/>
              <a:defRPr sz="2012"/>
            </a:lvl7pPr>
            <a:lvl8pPr marL="4025252" indent="0" algn="ctr">
              <a:buNone/>
              <a:defRPr sz="2012"/>
            </a:lvl8pPr>
            <a:lvl9pPr marL="4600286" indent="0" algn="ctr">
              <a:buNone/>
              <a:defRPr sz="2012"/>
            </a:lvl9pPr>
          </a:lstStyle>
          <a:p>
            <a:r>
              <a:rPr lang="en-US" noProof="0"/>
              <a:t>Click to edit Master title style</a:t>
            </a:r>
          </a:p>
          <a:p>
            <a:pPr marL="0" marR="0" lvl="1" indent="0" algn="l" defTabSz="1150072" rtl="0" eaLnBrk="1" fontAlgn="auto" latinLnBrk="0" hangingPunct="1">
              <a:lnSpc>
                <a:spcPct val="100000"/>
              </a:lnSpc>
              <a:spcBef>
                <a:spcPts val="0"/>
              </a:spcBef>
              <a:spcAft>
                <a:spcPts val="0"/>
              </a:spcAft>
              <a:buClrTx/>
              <a:buSzPct val="100000"/>
              <a:buFont typeface="Arial"/>
              <a:buNone/>
              <a:tabLst/>
              <a:defRPr/>
            </a:pPr>
            <a:r>
              <a:rPr lang="en-US" noProof="0"/>
              <a:t>Click to edit Master subtitle style</a:t>
            </a:r>
          </a:p>
        </p:txBody>
      </p:sp>
      <p:sp>
        <p:nvSpPr>
          <p:cNvPr id="5" name="Text Placeholder 4"/>
          <p:cNvSpPr>
            <a:spLocks noGrp="1"/>
          </p:cNvSpPr>
          <p:nvPr>
            <p:ph type="body" sz="quarter" idx="10"/>
          </p:nvPr>
        </p:nvSpPr>
        <p:spPr>
          <a:xfrm>
            <a:off x="501654" y="6381750"/>
            <a:ext cx="5594349" cy="298450"/>
          </a:xfrm>
          <a:prstGeom prst="rect">
            <a:avLst/>
          </a:prstGeom>
        </p:spPr>
        <p:txBody>
          <a:bodyPr/>
          <a:lstStyle>
            <a:lvl1pPr>
              <a:spcAft>
                <a:spcPts val="0"/>
              </a:spcAft>
              <a:defRPr sz="1258">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22" name="Group 21"/>
          <p:cNvGrpSpPr>
            <a:grpSpLocks noChangeAspect="1"/>
          </p:cNvGrpSpPr>
          <p:nvPr userDrawn="1"/>
        </p:nvGrpSpPr>
        <p:grpSpPr>
          <a:xfrm>
            <a:off x="501653" y="400898"/>
            <a:ext cx="2004206" cy="326302"/>
            <a:chOff x="398463" y="404813"/>
            <a:chExt cx="1627187" cy="307976"/>
          </a:xfrm>
          <a:solidFill>
            <a:schemeClr val="bg1"/>
          </a:solidFill>
        </p:grpSpPr>
        <p:sp>
          <p:nvSpPr>
            <p:cNvPr id="23"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4"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5"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6"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7"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8"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9"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30"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31"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32"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grpSp>
    </p:spTree>
    <p:extLst>
      <p:ext uri="{BB962C8B-B14F-4D97-AF65-F5344CB8AC3E}">
        <p14:creationId xmlns:p14="http://schemas.microsoft.com/office/powerpoint/2010/main" val="107145469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itle Slide - White">
    <p:spTree>
      <p:nvGrpSpPr>
        <p:cNvPr id="1" name=""/>
        <p:cNvGrpSpPr/>
        <p:nvPr/>
      </p:nvGrpSpPr>
      <p:grpSpPr>
        <a:xfrm>
          <a:off x="0" y="0"/>
          <a:ext cx="0" cy="0"/>
          <a:chOff x="0" y="0"/>
          <a:chExt cx="0" cy="0"/>
        </a:xfrm>
      </p:grpSpPr>
      <p:sp>
        <p:nvSpPr>
          <p:cNvPr id="9" name="Picture Placeholder 8"/>
          <p:cNvSpPr>
            <a:spLocks noGrp="1" noChangeAspect="1"/>
          </p:cNvSpPr>
          <p:nvPr>
            <p:ph type="pic" sz="quarter" idx="11"/>
          </p:nvPr>
        </p:nvSpPr>
        <p:spPr>
          <a:xfrm>
            <a:off x="2489814" y="727200"/>
            <a:ext cx="7200000" cy="5400000"/>
          </a:xfrm>
          <a:prstGeom prst="rect">
            <a:avLst/>
          </a:prstGeom>
        </p:spPr>
        <p:txBody>
          <a:bodyPr/>
          <a:lstStyle/>
          <a:p>
            <a:r>
              <a:rPr lang="en-US" noProof="0"/>
              <a:t>Click icon to add picture</a:t>
            </a:r>
          </a:p>
        </p:txBody>
      </p:sp>
      <p:sp>
        <p:nvSpPr>
          <p:cNvPr id="3" name="Subtitle 2"/>
          <p:cNvSpPr>
            <a:spLocks noGrp="1"/>
          </p:cNvSpPr>
          <p:nvPr>
            <p:ph type="subTitle" idx="1" hasCustomPrompt="1"/>
          </p:nvPr>
        </p:nvSpPr>
        <p:spPr bwMode="gray">
          <a:xfrm>
            <a:off x="501651" y="5864229"/>
            <a:ext cx="5594348" cy="505645"/>
          </a:xfrm>
          <a:prstGeom prst="rect">
            <a:avLst/>
          </a:prstGeom>
        </p:spPr>
        <p:txBody>
          <a:bodyPr lIns="0" tIns="0" rIns="0" bIns="0" anchor="b" anchorCtr="0">
            <a:noAutofit/>
          </a:bodyPr>
          <a:lstStyle>
            <a:lvl1pPr marL="0" indent="0" algn="l">
              <a:lnSpc>
                <a:spcPct val="100000"/>
              </a:lnSpc>
              <a:spcAft>
                <a:spcPts val="0"/>
              </a:spcAft>
              <a:buNone/>
              <a:defRPr sz="2264" b="1">
                <a:solidFill>
                  <a:schemeClr val="tx1"/>
                </a:solidFill>
              </a:defRPr>
            </a:lvl1pPr>
            <a:lvl2pPr marL="0" indent="0" algn="l">
              <a:buNone/>
              <a:defRPr sz="2012" b="0"/>
            </a:lvl2pPr>
            <a:lvl3pPr marL="1150072" indent="0" algn="ctr">
              <a:buNone/>
              <a:defRPr sz="2264"/>
            </a:lvl3pPr>
            <a:lvl4pPr marL="1725107" indent="0" algn="ctr">
              <a:buNone/>
              <a:defRPr sz="2012"/>
            </a:lvl4pPr>
            <a:lvl5pPr marL="2300144" indent="0" algn="ctr">
              <a:buNone/>
              <a:defRPr sz="2012"/>
            </a:lvl5pPr>
            <a:lvl6pPr marL="2875180" indent="0" algn="ctr">
              <a:buNone/>
              <a:defRPr sz="2012"/>
            </a:lvl6pPr>
            <a:lvl7pPr marL="3450216" indent="0" algn="ctr">
              <a:buNone/>
              <a:defRPr sz="2012"/>
            </a:lvl7pPr>
            <a:lvl8pPr marL="4025252" indent="0" algn="ctr">
              <a:buNone/>
              <a:defRPr sz="2012"/>
            </a:lvl8pPr>
            <a:lvl9pPr marL="4600286" indent="0" algn="ctr">
              <a:buNone/>
              <a:defRPr sz="2012"/>
            </a:lvl9pPr>
          </a:lstStyle>
          <a:p>
            <a:r>
              <a:rPr lang="en-US" noProof="0"/>
              <a:t>Click to edit Master title style</a:t>
            </a:r>
          </a:p>
          <a:p>
            <a:pPr lvl="1"/>
            <a:r>
              <a:rPr lang="en-US" noProof="0"/>
              <a:t>Click to edit Master subtitle style</a:t>
            </a:r>
          </a:p>
        </p:txBody>
      </p:sp>
      <p:sp>
        <p:nvSpPr>
          <p:cNvPr id="5" name="Text Placeholder 4"/>
          <p:cNvSpPr>
            <a:spLocks noGrp="1"/>
          </p:cNvSpPr>
          <p:nvPr>
            <p:ph type="body" sz="quarter" idx="10"/>
          </p:nvPr>
        </p:nvSpPr>
        <p:spPr>
          <a:xfrm>
            <a:off x="501654" y="6381750"/>
            <a:ext cx="5594349" cy="298450"/>
          </a:xfrm>
          <a:prstGeom prst="rect">
            <a:avLst/>
          </a:prstGeom>
        </p:spPr>
        <p:txBody>
          <a:bodyPr/>
          <a:lstStyle>
            <a:lvl1pPr>
              <a:spcAft>
                <a:spcPts val="0"/>
              </a:spcAft>
              <a:defRPr sz="1258">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6" name="Group 5"/>
          <p:cNvGrpSpPr>
            <a:grpSpLocks noChangeAspect="1"/>
          </p:cNvGrpSpPr>
          <p:nvPr userDrawn="1"/>
        </p:nvGrpSpPr>
        <p:grpSpPr>
          <a:xfrm>
            <a:off x="501653" y="400898"/>
            <a:ext cx="2004206" cy="326302"/>
            <a:chOff x="398463" y="404813"/>
            <a:chExt cx="1627187" cy="307976"/>
          </a:xfrm>
          <a:solidFill>
            <a:schemeClr val="bg1"/>
          </a:solidFill>
        </p:grpSpPr>
        <p:sp>
          <p:nvSpPr>
            <p:cNvPr id="7"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8"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10"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11"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12"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13"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14"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15"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16"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17"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grpSp>
    </p:spTree>
    <p:extLst>
      <p:ext uri="{BB962C8B-B14F-4D97-AF65-F5344CB8AC3E}">
        <p14:creationId xmlns:p14="http://schemas.microsoft.com/office/powerpoint/2010/main" val="2111836223"/>
      </p:ext>
    </p:extLst>
  </p:cSld>
  <p:clrMapOvr>
    <a:masterClrMapping/>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itle Slide - Circle Black">
    <p:spTree>
      <p:nvGrpSpPr>
        <p:cNvPr id="1" name=""/>
        <p:cNvGrpSpPr/>
        <p:nvPr/>
      </p:nvGrpSpPr>
      <p:grpSpPr>
        <a:xfrm>
          <a:off x="0" y="0"/>
          <a:ext cx="0" cy="0"/>
          <a:chOff x="0" y="0"/>
          <a:chExt cx="0" cy="0"/>
        </a:xfrm>
      </p:grpSpPr>
      <p:sp>
        <p:nvSpPr>
          <p:cNvPr id="2" name="Title 1"/>
          <p:cNvSpPr>
            <a:spLocks noGrp="1"/>
          </p:cNvSpPr>
          <p:nvPr>
            <p:ph type="ctrTitle"/>
          </p:nvPr>
        </p:nvSpPr>
        <p:spPr bwMode="gray">
          <a:xfrm>
            <a:off x="3336000" y="1368000"/>
            <a:ext cx="5520000" cy="4140000"/>
          </a:xfrm>
          <a:prstGeom prst="ellipse">
            <a:avLst/>
          </a:prstGeom>
          <a:ln w="25400">
            <a:solidFill>
              <a:schemeClr val="accent1"/>
            </a:solidFill>
          </a:ln>
        </p:spPr>
        <p:txBody>
          <a:bodyPr lIns="108000" tIns="108000" rIns="108000" bIns="108000" anchor="ctr" anchorCtr="0">
            <a:normAutofit/>
          </a:bodyPr>
          <a:lstStyle>
            <a:lvl1pPr algn="ctr">
              <a:lnSpc>
                <a:spcPts val="5283"/>
              </a:lnSpc>
              <a:defRPr sz="4528" b="0">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Subtitle 2"/>
          <p:cNvSpPr>
            <a:spLocks noGrp="1"/>
          </p:cNvSpPr>
          <p:nvPr>
            <p:ph type="subTitle" idx="1"/>
          </p:nvPr>
        </p:nvSpPr>
        <p:spPr bwMode="gray">
          <a:xfrm>
            <a:off x="503990" y="5864229"/>
            <a:ext cx="5592010" cy="505645"/>
          </a:xfrm>
          <a:prstGeom prst="rect">
            <a:avLst/>
          </a:prstGeom>
        </p:spPr>
        <p:txBody>
          <a:bodyPr lIns="0" tIns="0" rIns="0" bIns="0" anchor="b" anchorCtr="0">
            <a:noAutofit/>
          </a:bodyPr>
          <a:lstStyle>
            <a:lvl1pPr marL="0" indent="0" algn="l">
              <a:lnSpc>
                <a:spcPct val="100000"/>
              </a:lnSpc>
              <a:spcAft>
                <a:spcPts val="0"/>
              </a:spcAft>
              <a:buNone/>
              <a:defRPr sz="2012">
                <a:solidFill>
                  <a:schemeClr val="bg1"/>
                </a:solidFill>
              </a:defRPr>
            </a:lvl1pPr>
            <a:lvl2pPr marL="575035" indent="0" algn="ctr">
              <a:buNone/>
              <a:defRPr sz="2515"/>
            </a:lvl2pPr>
            <a:lvl3pPr marL="1150072" indent="0" algn="ctr">
              <a:buNone/>
              <a:defRPr sz="2264"/>
            </a:lvl3pPr>
            <a:lvl4pPr marL="1725107" indent="0" algn="ctr">
              <a:buNone/>
              <a:defRPr sz="2012"/>
            </a:lvl4pPr>
            <a:lvl5pPr marL="2300144" indent="0" algn="ctr">
              <a:buNone/>
              <a:defRPr sz="2012"/>
            </a:lvl5pPr>
            <a:lvl6pPr marL="2875180" indent="0" algn="ctr">
              <a:buNone/>
              <a:defRPr sz="2012"/>
            </a:lvl6pPr>
            <a:lvl7pPr marL="3450216" indent="0" algn="ctr">
              <a:buNone/>
              <a:defRPr sz="2012"/>
            </a:lvl7pPr>
            <a:lvl8pPr marL="4025252" indent="0" algn="ctr">
              <a:buNone/>
              <a:defRPr sz="2012"/>
            </a:lvl8pPr>
            <a:lvl9pPr marL="4600286" indent="0" algn="ctr">
              <a:buNone/>
              <a:defRPr sz="2012"/>
            </a:lvl9pPr>
          </a:lstStyle>
          <a:p>
            <a:r>
              <a:rPr lang="en-US" noProof="0"/>
              <a:t>Click to edit Master subtitle style</a:t>
            </a:r>
          </a:p>
        </p:txBody>
      </p:sp>
      <p:sp>
        <p:nvSpPr>
          <p:cNvPr id="5" name="Text Placeholder 4"/>
          <p:cNvSpPr>
            <a:spLocks noGrp="1"/>
          </p:cNvSpPr>
          <p:nvPr>
            <p:ph type="body" sz="quarter" idx="10"/>
          </p:nvPr>
        </p:nvSpPr>
        <p:spPr>
          <a:xfrm>
            <a:off x="501654" y="6381750"/>
            <a:ext cx="5594349" cy="298450"/>
          </a:xfrm>
          <a:prstGeom prst="rect">
            <a:avLst/>
          </a:prstGeom>
        </p:spPr>
        <p:txBody>
          <a:bodyPr/>
          <a:lstStyle>
            <a:lvl1pPr>
              <a:spcAft>
                <a:spcPts val="0"/>
              </a:spcAft>
              <a:defRPr sz="1258">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22" name="Group 21"/>
          <p:cNvGrpSpPr>
            <a:grpSpLocks noChangeAspect="1"/>
          </p:cNvGrpSpPr>
          <p:nvPr userDrawn="1"/>
        </p:nvGrpSpPr>
        <p:grpSpPr>
          <a:xfrm>
            <a:off x="501652" y="378003"/>
            <a:ext cx="2159032" cy="326302"/>
            <a:chOff x="398463" y="404813"/>
            <a:chExt cx="1627187" cy="307976"/>
          </a:xfrm>
          <a:solidFill>
            <a:schemeClr val="bg1"/>
          </a:solidFill>
        </p:grpSpPr>
        <p:sp>
          <p:nvSpPr>
            <p:cNvPr id="23"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4"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5"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6"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7"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8"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9"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30"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31"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32"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grpSp>
    </p:spTree>
    <p:extLst>
      <p:ext uri="{BB962C8B-B14F-4D97-AF65-F5344CB8AC3E}">
        <p14:creationId xmlns:p14="http://schemas.microsoft.com/office/powerpoint/2010/main" val="324279933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itle Slide - Circle White">
    <p:spTree>
      <p:nvGrpSpPr>
        <p:cNvPr id="1" name=""/>
        <p:cNvGrpSpPr/>
        <p:nvPr/>
      </p:nvGrpSpPr>
      <p:grpSpPr>
        <a:xfrm>
          <a:off x="0" y="0"/>
          <a:ext cx="0" cy="0"/>
          <a:chOff x="0" y="0"/>
          <a:chExt cx="0" cy="0"/>
        </a:xfrm>
      </p:grpSpPr>
      <p:sp>
        <p:nvSpPr>
          <p:cNvPr id="2" name="Title 1"/>
          <p:cNvSpPr>
            <a:spLocks noGrp="1"/>
          </p:cNvSpPr>
          <p:nvPr>
            <p:ph type="ctrTitle"/>
          </p:nvPr>
        </p:nvSpPr>
        <p:spPr bwMode="gray">
          <a:xfrm>
            <a:off x="3336000" y="1368000"/>
            <a:ext cx="5520000" cy="4140000"/>
          </a:xfrm>
          <a:prstGeom prst="ellipse">
            <a:avLst/>
          </a:prstGeom>
          <a:ln w="25400">
            <a:solidFill>
              <a:schemeClr val="accent1"/>
            </a:solidFill>
          </a:ln>
        </p:spPr>
        <p:txBody>
          <a:bodyPr lIns="108000" tIns="108000" rIns="108000" bIns="108000" anchor="ctr" anchorCtr="0">
            <a:normAutofit/>
          </a:bodyPr>
          <a:lstStyle>
            <a:lvl1pPr algn="ctr">
              <a:lnSpc>
                <a:spcPts val="5283"/>
              </a:lnSpc>
              <a:defRPr sz="4528" b="0">
                <a:solidFill>
                  <a:schemeClr val="tx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Subtitle 2"/>
          <p:cNvSpPr>
            <a:spLocks noGrp="1"/>
          </p:cNvSpPr>
          <p:nvPr>
            <p:ph type="subTitle" idx="1"/>
          </p:nvPr>
        </p:nvSpPr>
        <p:spPr bwMode="gray">
          <a:xfrm>
            <a:off x="501651" y="5864229"/>
            <a:ext cx="5594348" cy="505645"/>
          </a:xfrm>
          <a:prstGeom prst="rect">
            <a:avLst/>
          </a:prstGeom>
        </p:spPr>
        <p:txBody>
          <a:bodyPr lIns="0" tIns="0" rIns="0" bIns="0" anchor="b" anchorCtr="0">
            <a:noAutofit/>
          </a:bodyPr>
          <a:lstStyle>
            <a:lvl1pPr marL="0" indent="0" algn="l">
              <a:lnSpc>
                <a:spcPct val="100000"/>
              </a:lnSpc>
              <a:spcAft>
                <a:spcPts val="0"/>
              </a:spcAft>
              <a:buNone/>
              <a:defRPr sz="2012">
                <a:solidFill>
                  <a:schemeClr val="tx1"/>
                </a:solidFill>
              </a:defRPr>
            </a:lvl1pPr>
            <a:lvl2pPr marL="575035" indent="0" algn="ctr">
              <a:buNone/>
              <a:defRPr sz="2515"/>
            </a:lvl2pPr>
            <a:lvl3pPr marL="1150072" indent="0" algn="ctr">
              <a:buNone/>
              <a:defRPr sz="2264"/>
            </a:lvl3pPr>
            <a:lvl4pPr marL="1725107" indent="0" algn="ctr">
              <a:buNone/>
              <a:defRPr sz="2012"/>
            </a:lvl4pPr>
            <a:lvl5pPr marL="2300144" indent="0" algn="ctr">
              <a:buNone/>
              <a:defRPr sz="2012"/>
            </a:lvl5pPr>
            <a:lvl6pPr marL="2875180" indent="0" algn="ctr">
              <a:buNone/>
              <a:defRPr sz="2012"/>
            </a:lvl6pPr>
            <a:lvl7pPr marL="3450216" indent="0" algn="ctr">
              <a:buNone/>
              <a:defRPr sz="2012"/>
            </a:lvl7pPr>
            <a:lvl8pPr marL="4025252" indent="0" algn="ctr">
              <a:buNone/>
              <a:defRPr sz="2012"/>
            </a:lvl8pPr>
            <a:lvl9pPr marL="4600286" indent="0" algn="ctr">
              <a:buNone/>
              <a:defRPr sz="2012"/>
            </a:lvl9pPr>
          </a:lstStyle>
          <a:p>
            <a:r>
              <a:rPr lang="en-US" noProof="0"/>
              <a:t>Click to edit Master subtitle style</a:t>
            </a:r>
          </a:p>
        </p:txBody>
      </p:sp>
      <p:sp>
        <p:nvSpPr>
          <p:cNvPr id="5" name="Text Placeholder 4"/>
          <p:cNvSpPr>
            <a:spLocks noGrp="1"/>
          </p:cNvSpPr>
          <p:nvPr>
            <p:ph type="body" sz="quarter" idx="10"/>
          </p:nvPr>
        </p:nvSpPr>
        <p:spPr>
          <a:xfrm>
            <a:off x="501654" y="6381750"/>
            <a:ext cx="5594349" cy="298450"/>
          </a:xfrm>
          <a:prstGeom prst="rect">
            <a:avLst/>
          </a:prstGeom>
        </p:spPr>
        <p:txBody>
          <a:bodyPr/>
          <a:lstStyle>
            <a:lvl1pPr>
              <a:spcAft>
                <a:spcPts val="0"/>
              </a:spcAft>
              <a:defRPr sz="1258">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4" name="Group 3"/>
          <p:cNvGrpSpPr/>
          <p:nvPr userDrawn="1"/>
        </p:nvGrpSpPr>
        <p:grpSpPr>
          <a:xfrm>
            <a:off x="501652" y="378003"/>
            <a:ext cx="2159032" cy="326302"/>
            <a:chOff x="439792" y="416850"/>
            <a:chExt cx="1892808" cy="359839"/>
          </a:xfrm>
        </p:grpSpPr>
        <p:sp>
          <p:nvSpPr>
            <p:cNvPr id="20" name="Oval 5"/>
            <p:cNvSpPr>
              <a:spLocks noChangeArrowheads="1"/>
            </p:cNvSpPr>
            <p:nvPr userDrawn="1"/>
          </p:nvSpPr>
          <p:spPr bwMode="auto">
            <a:xfrm>
              <a:off x="2231035" y="674673"/>
              <a:ext cx="101565" cy="10201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1" name="Freeform 6"/>
            <p:cNvSpPr>
              <a:spLocks noEditPoints="1"/>
            </p:cNvSpPr>
            <p:nvPr userDrawn="1"/>
          </p:nvSpPr>
          <p:spPr bwMode="auto">
            <a:xfrm>
              <a:off x="439792" y="418705"/>
              <a:ext cx="288076" cy="352418"/>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2" name="Rectangle 7"/>
            <p:cNvSpPr>
              <a:spLocks noChangeArrowheads="1"/>
            </p:cNvSpPr>
            <p:nvPr userDrawn="1"/>
          </p:nvSpPr>
          <p:spPr bwMode="auto">
            <a:xfrm>
              <a:off x="1030718" y="416850"/>
              <a:ext cx="86792" cy="354274"/>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3" name="Freeform 8"/>
            <p:cNvSpPr>
              <a:spLocks noEditPoints="1"/>
            </p:cNvSpPr>
            <p:nvPr userDrawn="1"/>
          </p:nvSpPr>
          <p:spPr bwMode="auto">
            <a:xfrm>
              <a:off x="1152596" y="504028"/>
              <a:ext cx="251143" cy="270806"/>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4" name="Rectangle 9"/>
            <p:cNvSpPr>
              <a:spLocks noChangeArrowheads="1"/>
            </p:cNvSpPr>
            <p:nvPr userDrawn="1"/>
          </p:nvSpPr>
          <p:spPr bwMode="auto">
            <a:xfrm>
              <a:off x="1438825" y="507737"/>
              <a:ext cx="86792" cy="263386"/>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5" name="Rectangle 10"/>
            <p:cNvSpPr>
              <a:spLocks noChangeArrowheads="1"/>
            </p:cNvSpPr>
            <p:nvPr userDrawn="1"/>
          </p:nvSpPr>
          <p:spPr bwMode="auto">
            <a:xfrm>
              <a:off x="1438825" y="416850"/>
              <a:ext cx="86792" cy="59355"/>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6" name="Freeform 11"/>
            <p:cNvSpPr>
              <a:spLocks/>
            </p:cNvSpPr>
            <p:nvPr userDrawn="1"/>
          </p:nvSpPr>
          <p:spPr bwMode="auto">
            <a:xfrm>
              <a:off x="1560703" y="424269"/>
              <a:ext cx="184664" cy="350564"/>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7" name="Freeform 12"/>
            <p:cNvSpPr>
              <a:spLocks/>
            </p:cNvSpPr>
            <p:nvPr userDrawn="1"/>
          </p:nvSpPr>
          <p:spPr bwMode="auto">
            <a:xfrm>
              <a:off x="1761988" y="424269"/>
              <a:ext cx="184664" cy="350564"/>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8" name="Freeform 13"/>
            <p:cNvSpPr>
              <a:spLocks noEditPoints="1"/>
            </p:cNvSpPr>
            <p:nvPr userDrawn="1"/>
          </p:nvSpPr>
          <p:spPr bwMode="auto">
            <a:xfrm>
              <a:off x="1965119" y="504028"/>
              <a:ext cx="245603" cy="270806"/>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sp>
          <p:nvSpPr>
            <p:cNvPr id="29" name="Freeform 14"/>
            <p:cNvSpPr>
              <a:spLocks noEditPoints="1"/>
            </p:cNvSpPr>
            <p:nvPr userDrawn="1"/>
          </p:nvSpPr>
          <p:spPr bwMode="auto">
            <a:xfrm>
              <a:off x="753721" y="504028"/>
              <a:ext cx="243757" cy="270806"/>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a:solidFill>
                  <a:prstClr val="white"/>
                </a:solidFill>
              </a:endParaRPr>
            </a:p>
          </p:txBody>
        </p:sp>
      </p:grpSp>
    </p:spTree>
    <p:extLst>
      <p:ext uri="{BB962C8B-B14F-4D97-AF65-F5344CB8AC3E}">
        <p14:creationId xmlns:p14="http://schemas.microsoft.com/office/powerpoint/2010/main" val="2608341065"/>
      </p:ext>
    </p:extLst>
  </p:cSld>
  <p:clrMapOvr>
    <a:masterClrMapping/>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Divider - Deloitte green">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3"/>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35" indent="0">
              <a:buNone/>
              <a:defRPr sz="2515">
                <a:solidFill>
                  <a:schemeClr val="tx1">
                    <a:tint val="75000"/>
                  </a:schemeClr>
                </a:solidFill>
              </a:defRPr>
            </a:lvl2pPr>
            <a:lvl3pPr marL="1150072" indent="0">
              <a:buNone/>
              <a:defRPr sz="2264">
                <a:solidFill>
                  <a:schemeClr val="tx1">
                    <a:tint val="75000"/>
                  </a:schemeClr>
                </a:solidFill>
              </a:defRPr>
            </a:lvl3pPr>
            <a:lvl4pPr marL="1725107" indent="0">
              <a:buNone/>
              <a:defRPr sz="2012">
                <a:solidFill>
                  <a:schemeClr val="tx1">
                    <a:tint val="75000"/>
                  </a:schemeClr>
                </a:solidFill>
              </a:defRPr>
            </a:lvl4pPr>
            <a:lvl5pPr marL="2300144" indent="0">
              <a:buNone/>
              <a:defRPr sz="2012">
                <a:solidFill>
                  <a:schemeClr val="tx1">
                    <a:tint val="75000"/>
                  </a:schemeClr>
                </a:solidFill>
              </a:defRPr>
            </a:lvl5pPr>
            <a:lvl6pPr marL="2875180" indent="0">
              <a:buNone/>
              <a:defRPr sz="2012">
                <a:solidFill>
                  <a:schemeClr val="tx1">
                    <a:tint val="75000"/>
                  </a:schemeClr>
                </a:solidFill>
              </a:defRPr>
            </a:lvl6pPr>
            <a:lvl7pPr marL="3450216" indent="0">
              <a:buNone/>
              <a:defRPr sz="2012">
                <a:solidFill>
                  <a:schemeClr val="tx1">
                    <a:tint val="75000"/>
                  </a:schemeClr>
                </a:solidFill>
              </a:defRPr>
            </a:lvl7pPr>
            <a:lvl8pPr marL="4025252" indent="0">
              <a:buNone/>
              <a:defRPr sz="2012">
                <a:solidFill>
                  <a:schemeClr val="tx1">
                    <a:tint val="75000"/>
                  </a:schemeClr>
                </a:solidFill>
              </a:defRPr>
            </a:lvl8pPr>
            <a:lvl9pPr marL="4600286" indent="0">
              <a:buNone/>
              <a:defRPr sz="2012">
                <a:solidFill>
                  <a:schemeClr val="tx1">
                    <a:tint val="75000"/>
                  </a:schemeClr>
                </a:solidFill>
              </a:defRPr>
            </a:lvl9pPr>
          </a:lstStyle>
          <a:p>
            <a:pPr lvl="0"/>
            <a:r>
              <a:rPr lang="en-US" noProof="0"/>
              <a:t>Edit Master text styles</a:t>
            </a:r>
          </a:p>
        </p:txBody>
      </p:sp>
      <p:sp>
        <p:nvSpPr>
          <p:cNvPr id="5" name="TextBox 4"/>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7" name="TextBox 6"/>
          <p:cNvSpPr txBox="1"/>
          <p:nvPr userDrawn="1"/>
        </p:nvSpPr>
        <p:spPr>
          <a:xfrm>
            <a:off x="501653"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8" name="TextBox 7"/>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1549939539"/>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Divider - Deloitte dark green">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3"/>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3" y="3429003"/>
            <a:ext cx="10544066" cy="1566532"/>
          </a:xfrm>
        </p:spPr>
        <p:txBody>
          <a:bodyPr lIns="0" tIns="0" rIns="0" bIns="0">
            <a:noAutofit/>
          </a:bodyPr>
          <a:lstStyle>
            <a:lvl1pPr marL="0" indent="0">
              <a:lnSpc>
                <a:spcPct val="95000"/>
              </a:lnSpc>
              <a:spcAft>
                <a:spcPts val="0"/>
              </a:spcAft>
              <a:buNone/>
              <a:defRPr sz="4448">
                <a:solidFill>
                  <a:schemeClr val="bg1"/>
                </a:solidFill>
              </a:defRPr>
            </a:lvl1pPr>
            <a:lvl2pPr marL="575035" indent="0">
              <a:buNone/>
              <a:defRPr sz="2515">
                <a:solidFill>
                  <a:schemeClr val="tx1">
                    <a:tint val="75000"/>
                  </a:schemeClr>
                </a:solidFill>
              </a:defRPr>
            </a:lvl2pPr>
            <a:lvl3pPr marL="1150072" indent="0">
              <a:buNone/>
              <a:defRPr sz="2264">
                <a:solidFill>
                  <a:schemeClr val="tx1">
                    <a:tint val="75000"/>
                  </a:schemeClr>
                </a:solidFill>
              </a:defRPr>
            </a:lvl3pPr>
            <a:lvl4pPr marL="1725107" indent="0">
              <a:buNone/>
              <a:defRPr sz="2012">
                <a:solidFill>
                  <a:schemeClr val="tx1">
                    <a:tint val="75000"/>
                  </a:schemeClr>
                </a:solidFill>
              </a:defRPr>
            </a:lvl4pPr>
            <a:lvl5pPr marL="2300144" indent="0">
              <a:buNone/>
              <a:defRPr sz="2012">
                <a:solidFill>
                  <a:schemeClr val="tx1">
                    <a:tint val="75000"/>
                  </a:schemeClr>
                </a:solidFill>
              </a:defRPr>
            </a:lvl5pPr>
            <a:lvl6pPr marL="2875180" indent="0">
              <a:buNone/>
              <a:defRPr sz="2012">
                <a:solidFill>
                  <a:schemeClr val="tx1">
                    <a:tint val="75000"/>
                  </a:schemeClr>
                </a:solidFill>
              </a:defRPr>
            </a:lvl6pPr>
            <a:lvl7pPr marL="3450216" indent="0">
              <a:buNone/>
              <a:defRPr sz="2012">
                <a:solidFill>
                  <a:schemeClr val="tx1">
                    <a:tint val="75000"/>
                  </a:schemeClr>
                </a:solidFill>
              </a:defRPr>
            </a:lvl7pPr>
            <a:lvl8pPr marL="4025252" indent="0">
              <a:buNone/>
              <a:defRPr sz="2012">
                <a:solidFill>
                  <a:schemeClr val="tx1">
                    <a:tint val="75000"/>
                  </a:schemeClr>
                </a:solidFill>
              </a:defRPr>
            </a:lvl8pPr>
            <a:lvl9pPr marL="4600286" indent="0">
              <a:buNone/>
              <a:defRPr sz="2012">
                <a:solidFill>
                  <a:schemeClr val="tx1">
                    <a:tint val="75000"/>
                  </a:schemeClr>
                </a:solidFill>
              </a:defRPr>
            </a:lvl9pPr>
          </a:lstStyle>
          <a:p>
            <a:pPr lvl="0"/>
            <a:r>
              <a:rPr lang="en-US" noProof="0"/>
              <a:t>Edit Master text styles</a:t>
            </a:r>
          </a:p>
        </p:txBody>
      </p:sp>
      <p:sp>
        <p:nvSpPr>
          <p:cNvPr id="13" name="TextBox 12"/>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4" name="TextBox 13"/>
          <p:cNvSpPr txBox="1"/>
          <p:nvPr userDrawn="1"/>
        </p:nvSpPr>
        <p:spPr>
          <a:xfrm>
            <a:off x="501653"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5" name="TextBox 14"/>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1071377825"/>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Divider - Deloitte blue">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3"/>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35" indent="0">
              <a:buNone/>
              <a:defRPr sz="2515">
                <a:solidFill>
                  <a:schemeClr val="tx1">
                    <a:tint val="75000"/>
                  </a:schemeClr>
                </a:solidFill>
              </a:defRPr>
            </a:lvl2pPr>
            <a:lvl3pPr marL="1150072" indent="0">
              <a:buNone/>
              <a:defRPr sz="2264">
                <a:solidFill>
                  <a:schemeClr val="tx1">
                    <a:tint val="75000"/>
                  </a:schemeClr>
                </a:solidFill>
              </a:defRPr>
            </a:lvl3pPr>
            <a:lvl4pPr marL="1725107" indent="0">
              <a:buNone/>
              <a:defRPr sz="2012">
                <a:solidFill>
                  <a:schemeClr val="tx1">
                    <a:tint val="75000"/>
                  </a:schemeClr>
                </a:solidFill>
              </a:defRPr>
            </a:lvl4pPr>
            <a:lvl5pPr marL="2300144" indent="0">
              <a:buNone/>
              <a:defRPr sz="2012">
                <a:solidFill>
                  <a:schemeClr val="tx1">
                    <a:tint val="75000"/>
                  </a:schemeClr>
                </a:solidFill>
              </a:defRPr>
            </a:lvl5pPr>
            <a:lvl6pPr marL="2875180" indent="0">
              <a:buNone/>
              <a:defRPr sz="2012">
                <a:solidFill>
                  <a:schemeClr val="tx1">
                    <a:tint val="75000"/>
                  </a:schemeClr>
                </a:solidFill>
              </a:defRPr>
            </a:lvl6pPr>
            <a:lvl7pPr marL="3450216" indent="0">
              <a:buNone/>
              <a:defRPr sz="2012">
                <a:solidFill>
                  <a:schemeClr val="tx1">
                    <a:tint val="75000"/>
                  </a:schemeClr>
                </a:solidFill>
              </a:defRPr>
            </a:lvl7pPr>
            <a:lvl8pPr marL="4025252" indent="0">
              <a:buNone/>
              <a:defRPr sz="2012">
                <a:solidFill>
                  <a:schemeClr val="tx1">
                    <a:tint val="75000"/>
                  </a:schemeClr>
                </a:solidFill>
              </a:defRPr>
            </a:lvl8pPr>
            <a:lvl9pPr marL="4600286" indent="0">
              <a:buNone/>
              <a:defRPr sz="2012">
                <a:solidFill>
                  <a:schemeClr val="tx1">
                    <a:tint val="75000"/>
                  </a:schemeClr>
                </a:solidFill>
              </a:defRPr>
            </a:lvl9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722407822"/>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Divider - Deloitte dark blue">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3"/>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35" indent="0">
              <a:buNone/>
              <a:defRPr sz="2515">
                <a:solidFill>
                  <a:schemeClr val="tx1">
                    <a:tint val="75000"/>
                  </a:schemeClr>
                </a:solidFill>
              </a:defRPr>
            </a:lvl2pPr>
            <a:lvl3pPr marL="1150072" indent="0">
              <a:buNone/>
              <a:defRPr sz="2264">
                <a:solidFill>
                  <a:schemeClr val="tx1">
                    <a:tint val="75000"/>
                  </a:schemeClr>
                </a:solidFill>
              </a:defRPr>
            </a:lvl3pPr>
            <a:lvl4pPr marL="1725107" indent="0">
              <a:buNone/>
              <a:defRPr sz="2012">
                <a:solidFill>
                  <a:schemeClr val="tx1">
                    <a:tint val="75000"/>
                  </a:schemeClr>
                </a:solidFill>
              </a:defRPr>
            </a:lvl4pPr>
            <a:lvl5pPr marL="2300144" indent="0">
              <a:buNone/>
              <a:defRPr sz="2012">
                <a:solidFill>
                  <a:schemeClr val="tx1">
                    <a:tint val="75000"/>
                  </a:schemeClr>
                </a:solidFill>
              </a:defRPr>
            </a:lvl5pPr>
            <a:lvl6pPr marL="2875180" indent="0">
              <a:buNone/>
              <a:defRPr sz="2012">
                <a:solidFill>
                  <a:schemeClr val="tx1">
                    <a:tint val="75000"/>
                  </a:schemeClr>
                </a:solidFill>
              </a:defRPr>
            </a:lvl6pPr>
            <a:lvl7pPr marL="3450216" indent="0">
              <a:buNone/>
              <a:defRPr sz="2012">
                <a:solidFill>
                  <a:schemeClr val="tx1">
                    <a:tint val="75000"/>
                  </a:schemeClr>
                </a:solidFill>
              </a:defRPr>
            </a:lvl7pPr>
            <a:lvl8pPr marL="4025252" indent="0">
              <a:buNone/>
              <a:defRPr sz="2012">
                <a:solidFill>
                  <a:schemeClr val="tx1">
                    <a:tint val="75000"/>
                  </a:schemeClr>
                </a:solidFill>
              </a:defRPr>
            </a:lvl8pPr>
            <a:lvl9pPr marL="4600286" indent="0">
              <a:buNone/>
              <a:defRPr sz="2012">
                <a:solidFill>
                  <a:schemeClr val="tx1">
                    <a:tint val="75000"/>
                  </a:schemeClr>
                </a:solidFill>
              </a:defRPr>
            </a:lvl9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795778272"/>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Divider - Deloitte black">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3"/>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35" indent="0">
              <a:buNone/>
              <a:defRPr sz="2515">
                <a:solidFill>
                  <a:schemeClr val="tx1">
                    <a:tint val="75000"/>
                  </a:schemeClr>
                </a:solidFill>
              </a:defRPr>
            </a:lvl2pPr>
            <a:lvl3pPr marL="1150072" indent="0">
              <a:buNone/>
              <a:defRPr sz="2264">
                <a:solidFill>
                  <a:schemeClr val="tx1">
                    <a:tint val="75000"/>
                  </a:schemeClr>
                </a:solidFill>
              </a:defRPr>
            </a:lvl3pPr>
            <a:lvl4pPr marL="1725107" indent="0">
              <a:buNone/>
              <a:defRPr sz="2012">
                <a:solidFill>
                  <a:schemeClr val="tx1">
                    <a:tint val="75000"/>
                  </a:schemeClr>
                </a:solidFill>
              </a:defRPr>
            </a:lvl4pPr>
            <a:lvl5pPr marL="2300144" indent="0">
              <a:buNone/>
              <a:defRPr sz="2012">
                <a:solidFill>
                  <a:schemeClr val="tx1">
                    <a:tint val="75000"/>
                  </a:schemeClr>
                </a:solidFill>
              </a:defRPr>
            </a:lvl5pPr>
            <a:lvl6pPr marL="2875180" indent="0">
              <a:buNone/>
              <a:defRPr sz="2012">
                <a:solidFill>
                  <a:schemeClr val="tx1">
                    <a:tint val="75000"/>
                  </a:schemeClr>
                </a:solidFill>
              </a:defRPr>
            </a:lvl6pPr>
            <a:lvl7pPr marL="3450216" indent="0">
              <a:buNone/>
              <a:defRPr sz="2012">
                <a:solidFill>
                  <a:schemeClr val="tx1">
                    <a:tint val="75000"/>
                  </a:schemeClr>
                </a:solidFill>
              </a:defRPr>
            </a:lvl7pPr>
            <a:lvl8pPr marL="4025252" indent="0">
              <a:buNone/>
              <a:defRPr sz="2012">
                <a:solidFill>
                  <a:schemeClr val="tx1">
                    <a:tint val="75000"/>
                  </a:schemeClr>
                </a:solidFill>
              </a:defRPr>
            </a:lvl8pPr>
            <a:lvl9pPr marL="4600286" indent="0">
              <a:buNone/>
              <a:defRPr sz="2012">
                <a:solidFill>
                  <a:schemeClr val="tx1">
                    <a:tint val="75000"/>
                  </a:schemeClr>
                </a:solidFill>
              </a:defRPr>
            </a:lvl9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1975592090"/>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Divider - Deloitte white">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3"/>
            <a:ext cx="10541000" cy="1592403"/>
          </a:xfrm>
        </p:spPr>
        <p:txBody>
          <a:bodyPr anchor="b"/>
          <a:lstStyle>
            <a:lvl1pPr>
              <a:lnSpc>
                <a:spcPct val="95000"/>
              </a:lnSpc>
              <a:defRPr sz="4448" b="1">
                <a:solidFill>
                  <a:schemeClr val="tx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tx1"/>
                </a:solidFill>
              </a:defRPr>
            </a:lvl1pPr>
            <a:lvl2pPr marL="575035" indent="0">
              <a:buNone/>
              <a:defRPr sz="2515">
                <a:solidFill>
                  <a:schemeClr val="tx1">
                    <a:tint val="75000"/>
                  </a:schemeClr>
                </a:solidFill>
              </a:defRPr>
            </a:lvl2pPr>
            <a:lvl3pPr marL="1150072" indent="0">
              <a:buNone/>
              <a:defRPr sz="2264">
                <a:solidFill>
                  <a:schemeClr val="tx1">
                    <a:tint val="75000"/>
                  </a:schemeClr>
                </a:solidFill>
              </a:defRPr>
            </a:lvl3pPr>
            <a:lvl4pPr marL="1725107" indent="0">
              <a:buNone/>
              <a:defRPr sz="2012">
                <a:solidFill>
                  <a:schemeClr val="tx1">
                    <a:tint val="75000"/>
                  </a:schemeClr>
                </a:solidFill>
              </a:defRPr>
            </a:lvl4pPr>
            <a:lvl5pPr marL="2300144" indent="0">
              <a:buNone/>
              <a:defRPr sz="2012">
                <a:solidFill>
                  <a:schemeClr val="tx1">
                    <a:tint val="75000"/>
                  </a:schemeClr>
                </a:solidFill>
              </a:defRPr>
            </a:lvl5pPr>
            <a:lvl6pPr marL="2875180" indent="0">
              <a:buNone/>
              <a:defRPr sz="2012">
                <a:solidFill>
                  <a:schemeClr val="tx1">
                    <a:tint val="75000"/>
                  </a:schemeClr>
                </a:solidFill>
              </a:defRPr>
            </a:lvl6pPr>
            <a:lvl7pPr marL="3450216" indent="0">
              <a:buNone/>
              <a:defRPr sz="2012">
                <a:solidFill>
                  <a:schemeClr val="tx1">
                    <a:tint val="75000"/>
                  </a:schemeClr>
                </a:solidFill>
              </a:defRPr>
            </a:lvl7pPr>
            <a:lvl8pPr marL="4025252" indent="0">
              <a:buNone/>
              <a:defRPr sz="2012">
                <a:solidFill>
                  <a:schemeClr val="tx1">
                    <a:tint val="75000"/>
                  </a:schemeClr>
                </a:solidFill>
              </a:defRPr>
            </a:lvl8pPr>
            <a:lvl9pPr marL="4600286" indent="0">
              <a:buNone/>
              <a:defRPr sz="2012">
                <a:solidFill>
                  <a:schemeClr val="tx1">
                    <a:tint val="75000"/>
                  </a:schemeClr>
                </a:solidFill>
              </a:defRPr>
            </a:lvl9pPr>
          </a:lstStyle>
          <a:p>
            <a:pPr lvl="0"/>
            <a:r>
              <a:rPr lang="en-US" noProof="0"/>
              <a:t>Edit Master text styles</a:t>
            </a:r>
          </a:p>
        </p:txBody>
      </p:sp>
    </p:spTree>
    <p:extLst>
      <p:ext uri="{BB962C8B-B14F-4D97-AF65-F5344CB8AC3E}">
        <p14:creationId xmlns:p14="http://schemas.microsoft.com/office/powerpoint/2010/main" val="652229082"/>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Key statement dark green">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1" y="1628778"/>
            <a:ext cx="9152370" cy="4752975"/>
          </a:xfrm>
          <a:prstGeom prst="rect">
            <a:avLst/>
          </a:prstGeom>
        </p:spPr>
        <p:txBody>
          <a:bodyPr>
            <a:noAutofit/>
          </a:bodyPr>
          <a:lstStyle>
            <a:lvl1pPr>
              <a:spcBef>
                <a:spcPts val="4528"/>
              </a:spcBef>
              <a:defRPr sz="3420">
                <a:solidFill>
                  <a:schemeClr val="bg1"/>
                </a:solidFill>
              </a:defRPr>
            </a:lvl1pPr>
            <a:lvl2pPr marL="575035" indent="-575035">
              <a:defRPr sz="3772">
                <a:solidFill>
                  <a:schemeClr val="bg2"/>
                </a:solidFill>
              </a:defRPr>
            </a:lvl2pPr>
            <a:lvl3pPr>
              <a:defRPr sz="3772">
                <a:solidFill>
                  <a:schemeClr val="bg2"/>
                </a:solidFill>
              </a:defRPr>
            </a:lvl3pPr>
            <a:lvl4pPr>
              <a:defRPr sz="3772">
                <a:solidFill>
                  <a:schemeClr val="bg2"/>
                </a:solidFill>
              </a:defRPr>
            </a:lvl4pPr>
            <a:lvl5pPr>
              <a:defRPr sz="3772">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4237787668"/>
      </p:ext>
    </p:extLst>
  </p:cSld>
  <p:clrMapOvr>
    <a:masterClrMapping/>
  </p:clrMapOvr>
  <p:transition>
    <p:fade/>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Key statement dark blue">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7204"/>
            <a:ext cx="9277350" cy="4759584"/>
          </a:xfrm>
          <a:prstGeom prst="rect">
            <a:avLst/>
          </a:prstGeom>
        </p:spPr>
        <p:txBody>
          <a:bodyPr>
            <a:noAutofit/>
          </a:bodyPr>
          <a:lstStyle>
            <a:lvl1pPr>
              <a:spcBef>
                <a:spcPts val="4528"/>
              </a:spcBef>
              <a:defRPr sz="3420">
                <a:solidFill>
                  <a:schemeClr val="bg1"/>
                </a:solidFill>
              </a:defRPr>
            </a:lvl1pPr>
            <a:lvl2pPr marL="575035" indent="-575035">
              <a:defRPr sz="3772">
                <a:solidFill>
                  <a:schemeClr val="bg2"/>
                </a:solidFill>
              </a:defRPr>
            </a:lvl2pPr>
            <a:lvl3pPr>
              <a:defRPr sz="3772">
                <a:solidFill>
                  <a:schemeClr val="bg2"/>
                </a:solidFill>
              </a:defRPr>
            </a:lvl3pPr>
            <a:lvl4pPr>
              <a:defRPr sz="3772">
                <a:solidFill>
                  <a:schemeClr val="bg2"/>
                </a:solidFill>
              </a:defRPr>
            </a:lvl4pPr>
            <a:lvl5pPr>
              <a:defRPr sz="3772">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2969824181"/>
      </p:ext>
    </p:extLst>
  </p:cSld>
  <p:clrMapOvr>
    <a:masterClrMapping/>
  </p:clrMapOvr>
  <p:transition>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Key statement teal">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8778"/>
            <a:ext cx="9277350" cy="4752975"/>
          </a:xfrm>
          <a:prstGeom prst="rect">
            <a:avLst/>
          </a:prstGeom>
        </p:spPr>
        <p:txBody>
          <a:bodyPr>
            <a:noAutofit/>
          </a:bodyPr>
          <a:lstStyle>
            <a:lvl1pPr>
              <a:spcBef>
                <a:spcPts val="4528"/>
              </a:spcBef>
              <a:defRPr sz="3420">
                <a:solidFill>
                  <a:schemeClr val="bg1"/>
                </a:solidFill>
              </a:defRPr>
            </a:lvl1pPr>
            <a:lvl2pPr marL="575035" indent="-575035">
              <a:defRPr sz="3772">
                <a:solidFill>
                  <a:schemeClr val="bg2"/>
                </a:solidFill>
              </a:defRPr>
            </a:lvl2pPr>
            <a:lvl3pPr>
              <a:defRPr sz="3772">
                <a:solidFill>
                  <a:schemeClr val="bg2"/>
                </a:solidFill>
              </a:defRPr>
            </a:lvl3pPr>
            <a:lvl4pPr>
              <a:defRPr sz="3772">
                <a:solidFill>
                  <a:schemeClr val="bg2"/>
                </a:solidFill>
              </a:defRPr>
            </a:lvl4pPr>
            <a:lvl5pPr>
              <a:defRPr sz="3772">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631477606"/>
      </p:ext>
    </p:extLst>
  </p:cSld>
  <p:clrMapOvr>
    <a:masterClrMapping/>
  </p:clrMapOvr>
  <p:transition>
    <p:fade/>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Key statement black">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8778"/>
            <a:ext cx="9277350" cy="4752975"/>
          </a:xfrm>
          <a:prstGeom prst="rect">
            <a:avLst/>
          </a:prstGeom>
        </p:spPr>
        <p:txBody>
          <a:bodyPr>
            <a:noAutofit/>
          </a:bodyPr>
          <a:lstStyle>
            <a:lvl1pPr>
              <a:spcBef>
                <a:spcPts val="4528"/>
              </a:spcBef>
              <a:defRPr sz="3420">
                <a:solidFill>
                  <a:schemeClr val="bg1"/>
                </a:solidFill>
              </a:defRPr>
            </a:lvl1pPr>
            <a:lvl2pPr marL="575035" indent="-575035">
              <a:defRPr sz="3772">
                <a:solidFill>
                  <a:schemeClr val="bg2"/>
                </a:solidFill>
              </a:defRPr>
            </a:lvl2pPr>
            <a:lvl3pPr>
              <a:defRPr sz="3772">
                <a:solidFill>
                  <a:schemeClr val="bg2"/>
                </a:solidFill>
              </a:defRPr>
            </a:lvl3pPr>
            <a:lvl4pPr>
              <a:defRPr sz="3772">
                <a:solidFill>
                  <a:schemeClr val="bg2"/>
                </a:solidFill>
              </a:defRPr>
            </a:lvl4pPr>
            <a:lvl5pPr>
              <a:defRPr sz="3772">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3070443287"/>
      </p:ext>
    </p:extLst>
  </p:cSld>
  <p:clrMapOvr>
    <a:masterClrMapping/>
  </p:clrMapOvr>
  <p:transition>
    <p:fade/>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Key statement white">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8778"/>
            <a:ext cx="9277350" cy="4752975"/>
          </a:xfrm>
          <a:prstGeom prst="rect">
            <a:avLst/>
          </a:prstGeom>
        </p:spPr>
        <p:txBody>
          <a:bodyPr>
            <a:noAutofit/>
          </a:bodyPr>
          <a:lstStyle>
            <a:lvl1pPr>
              <a:spcBef>
                <a:spcPts val="4528"/>
              </a:spcBef>
              <a:defRPr sz="3420">
                <a:solidFill>
                  <a:schemeClr val="tx1"/>
                </a:solidFill>
              </a:defRPr>
            </a:lvl1pPr>
            <a:lvl2pPr marL="575035" indent="-575035">
              <a:defRPr sz="3772">
                <a:solidFill>
                  <a:schemeClr val="bg2"/>
                </a:solidFill>
              </a:defRPr>
            </a:lvl2pPr>
            <a:lvl3pPr>
              <a:defRPr sz="3772">
                <a:solidFill>
                  <a:schemeClr val="bg2"/>
                </a:solidFill>
              </a:defRPr>
            </a:lvl3pPr>
            <a:lvl4pPr>
              <a:defRPr sz="3772">
                <a:solidFill>
                  <a:schemeClr val="bg2"/>
                </a:solidFill>
              </a:defRPr>
            </a:lvl4pPr>
            <a:lvl5pPr>
              <a:defRPr sz="3772">
                <a:solidFill>
                  <a:schemeClr val="bg2"/>
                </a:solidFill>
              </a:defRPr>
            </a:lvl5pPr>
          </a:lstStyle>
          <a:p>
            <a:pPr lvl="0"/>
            <a:r>
              <a:rPr lang="en-US" noProof="0"/>
              <a:t>Edit Master text styles</a:t>
            </a:r>
          </a:p>
        </p:txBody>
      </p:sp>
    </p:spTree>
    <p:extLst>
      <p:ext uri="{BB962C8B-B14F-4D97-AF65-F5344CB8AC3E}">
        <p14:creationId xmlns:p14="http://schemas.microsoft.com/office/powerpoint/2010/main" val="201768738"/>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Contents">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548422504"/>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2" name="Rectangle 1" hidden="1"/>
          <p:cNvSpPr/>
          <p:nvPr userDrawn="1">
            <p:custDataLst>
              <p:tags r:id="rId2"/>
            </p:custDataLst>
          </p:nvPr>
        </p:nvSpPr>
        <p:spPr bwMode="gray">
          <a:xfrm>
            <a:off x="0" y="1"/>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175"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4" name="Content Placeholder 3"/>
          <p:cNvSpPr>
            <a:spLocks noGrp="1"/>
          </p:cNvSpPr>
          <p:nvPr>
            <p:ph sz="quarter" idx="10"/>
          </p:nvPr>
        </p:nvSpPr>
        <p:spPr>
          <a:xfrm>
            <a:off x="501652" y="1665293"/>
            <a:ext cx="9277350" cy="4716463"/>
          </a:xfrm>
          <a:prstGeom prst="rect">
            <a:avLst/>
          </a:prstGeom>
        </p:spPr>
        <p:txBody>
          <a:bodyPr/>
          <a:lstStyle>
            <a:lvl1pPr>
              <a:tabLst>
                <a:tab pos="8463812" algn="r"/>
              </a:tabLst>
              <a:defRPr/>
            </a:lvl1pPr>
            <a:lvl2pPr>
              <a:tabLst>
                <a:tab pos="8463812" algn="r"/>
              </a:tabLst>
              <a:defRPr/>
            </a:lvl2pPr>
            <a:lvl3pPr>
              <a:tabLst>
                <a:tab pos="8463812" algn="r"/>
              </a:tabLst>
              <a:defRPr/>
            </a:lvl3pPr>
            <a:lvl4pPr>
              <a:tabLst>
                <a:tab pos="8463812" algn="r"/>
              </a:tabLst>
              <a:defRPr/>
            </a:lvl4pPr>
            <a:lvl5pPr>
              <a:tabLst>
                <a:tab pos="6325396" algn="r"/>
              </a:tabLst>
              <a:defRPr baseline="0"/>
            </a:lvl5pPr>
            <a:lvl6pPr>
              <a:tabLst>
                <a:tab pos="8463812" algn="r"/>
              </a:tabLst>
              <a:defRPr/>
            </a:lvl6pPr>
            <a:lvl7pPr>
              <a:tabLst>
                <a:tab pos="8463812" algn="r"/>
              </a:tabLst>
              <a:defRPr/>
            </a:lvl7pPr>
            <a:lvl8pPr>
              <a:tabLst>
                <a:tab pos="8463812" algn="r"/>
              </a:tabLst>
              <a:defRPr/>
            </a:lvl8pPr>
            <a:lvl9pPr>
              <a:tabLst>
                <a:tab pos="8463812" algn="r"/>
              </a:tabLst>
              <a:defRPr/>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itle Placeholder 1"/>
          <p:cNvSpPr>
            <a:spLocks noGrp="1"/>
          </p:cNvSpPr>
          <p:nvPr>
            <p:ph type="title" hasCustomPrompt="1"/>
          </p:nvPr>
        </p:nvSpPr>
        <p:spPr>
          <a:xfrm>
            <a:off x="501652" y="317504"/>
            <a:ext cx="11180231" cy="698501"/>
          </a:xfrm>
          <a:prstGeom prst="rect">
            <a:avLst/>
          </a:prstGeom>
        </p:spPr>
        <p:txBody>
          <a:bodyPr vert="horz" lIns="0" tIns="0" rIns="0" bIns="0" rtlCol="0" anchor="t" anchorCtr="0">
            <a:noAutofit/>
          </a:bodyPr>
          <a:lstStyle>
            <a:lvl1pPr>
              <a:defRPr sz="2175"/>
            </a:lvl1pPr>
          </a:lstStyle>
          <a:p>
            <a:r>
              <a:rPr lang="en-US"/>
              <a:t>Click to add title</a:t>
            </a:r>
          </a:p>
        </p:txBody>
      </p:sp>
    </p:spTree>
    <p:extLst>
      <p:ext uri="{BB962C8B-B14F-4D97-AF65-F5344CB8AC3E}">
        <p14:creationId xmlns:p14="http://schemas.microsoft.com/office/powerpoint/2010/main" val="962611490"/>
      </p:ext>
    </p:extLst>
  </p:cSld>
  <p:clrMapOvr>
    <a:masterClrMapping/>
  </p:clrMapOvr>
  <p:transition>
    <p:fade/>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Contents with image">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197895616"/>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2" name="Rectangle 1" hidden="1"/>
          <p:cNvSpPr/>
          <p:nvPr userDrawn="1">
            <p:custDataLst>
              <p:tags r:id="rId2"/>
            </p:custDataLst>
          </p:nvPr>
        </p:nvSpPr>
        <p:spPr bwMode="gray">
          <a:xfrm>
            <a:off x="0" y="1"/>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175"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7" name="Title Placeholder 1"/>
          <p:cNvSpPr>
            <a:spLocks noGrp="1"/>
          </p:cNvSpPr>
          <p:nvPr>
            <p:ph type="title" hasCustomPrompt="1"/>
          </p:nvPr>
        </p:nvSpPr>
        <p:spPr>
          <a:xfrm>
            <a:off x="501652" y="286790"/>
            <a:ext cx="11188699" cy="698500"/>
          </a:xfrm>
          <a:prstGeom prst="rect">
            <a:avLst/>
          </a:prstGeom>
        </p:spPr>
        <p:txBody>
          <a:bodyPr vert="horz" lIns="0" tIns="0" rIns="0" bIns="0" rtlCol="0" anchor="t" anchorCtr="0">
            <a:noAutofit/>
          </a:bodyPr>
          <a:lstStyle>
            <a:lvl1pPr>
              <a:defRPr sz="2175"/>
            </a:lvl1pPr>
          </a:lstStyle>
          <a:p>
            <a:r>
              <a:rPr lang="en-US" noProof="0"/>
              <a:t>Click to add title</a:t>
            </a:r>
          </a:p>
        </p:txBody>
      </p:sp>
      <p:sp>
        <p:nvSpPr>
          <p:cNvPr id="5" name="Picture Placeholder 9"/>
          <p:cNvSpPr>
            <a:spLocks noGrp="1"/>
          </p:cNvSpPr>
          <p:nvPr>
            <p:ph type="pic" sz="quarter" idx="15"/>
          </p:nvPr>
        </p:nvSpPr>
        <p:spPr>
          <a:xfrm>
            <a:off x="5450354" y="1701805"/>
            <a:ext cx="6240000" cy="4679950"/>
          </a:xfrm>
        </p:spPr>
        <p:txBody>
          <a:bodyPr/>
          <a:lstStyle/>
          <a:p>
            <a:r>
              <a:rPr lang="en-US" noProof="0"/>
              <a:t>Click icon to add picture</a:t>
            </a:r>
          </a:p>
        </p:txBody>
      </p:sp>
      <p:sp>
        <p:nvSpPr>
          <p:cNvPr id="6" name="Content Placeholder 3"/>
          <p:cNvSpPr>
            <a:spLocks noGrp="1"/>
          </p:cNvSpPr>
          <p:nvPr>
            <p:ph sz="quarter" idx="10"/>
          </p:nvPr>
        </p:nvSpPr>
        <p:spPr>
          <a:xfrm>
            <a:off x="501653" y="1665293"/>
            <a:ext cx="4456429" cy="4716463"/>
          </a:xfrm>
          <a:prstGeom prst="rect">
            <a:avLst/>
          </a:prstGeom>
        </p:spPr>
        <p:txBody>
          <a:bodyPr/>
          <a:lstStyle>
            <a:lvl1pPr>
              <a:tabLst>
                <a:tab pos="6325396" algn="r"/>
              </a:tabLst>
              <a:defRPr/>
            </a:lvl1pPr>
            <a:lvl2pPr>
              <a:tabLst>
                <a:tab pos="6325396" algn="r"/>
              </a:tabLst>
              <a:defRPr/>
            </a:lvl2pPr>
            <a:lvl3pPr>
              <a:tabLst>
                <a:tab pos="6325396" algn="r"/>
              </a:tabLst>
              <a:defRPr/>
            </a:lvl3pPr>
            <a:lvl4pPr>
              <a:tabLst>
                <a:tab pos="6325396" algn="r"/>
              </a:tabLst>
              <a:defRPr/>
            </a:lvl4pPr>
            <a:lvl5pPr>
              <a:tabLst>
                <a:tab pos="6325396"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4084985309"/>
      </p:ext>
    </p:extLst>
  </p:cSld>
  <p:clrMapOvr>
    <a:masterClrMapping/>
  </p:clrMapOvr>
  <p:transition>
    <p:fade/>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amp; 1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1"/>
            </p:custDataLst>
            <p:extLst>
              <p:ext uri="{D42A27DB-BD31-4B8C-83A1-F6EECF244321}">
                <p14:modId xmlns:p14="http://schemas.microsoft.com/office/powerpoint/2010/main" val="1801042560"/>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3" name="Rectangle 2" hidden="1"/>
          <p:cNvSpPr/>
          <p:nvPr userDrawn="1">
            <p:custDataLst>
              <p:tags r:id="rId2"/>
            </p:custDataLst>
          </p:nvPr>
        </p:nvSpPr>
        <p:spPr bwMode="gray">
          <a:xfrm>
            <a:off x="0" y="1"/>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175"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a:xfrm>
            <a:off x="501652" y="317501"/>
            <a:ext cx="11188699" cy="698500"/>
          </a:xfrm>
        </p:spPr>
        <p:txBody>
          <a:bodyPr vert="horz"/>
          <a:lstStyle>
            <a:lvl1pPr>
              <a:defRPr sz="2175"/>
            </a:lvl1pPr>
          </a:lstStyle>
          <a:p>
            <a:r>
              <a:rPr lang="en-US" noProof="0"/>
              <a:t>Click to edit Master title style</a:t>
            </a:r>
          </a:p>
        </p:txBody>
      </p:sp>
      <p:sp>
        <p:nvSpPr>
          <p:cNvPr id="14" name="Text Placeholder 18"/>
          <p:cNvSpPr>
            <a:spLocks noGrp="1"/>
          </p:cNvSpPr>
          <p:nvPr>
            <p:ph idx="1"/>
          </p:nvPr>
        </p:nvSpPr>
        <p:spPr>
          <a:xfrm>
            <a:off x="501653" y="1665293"/>
            <a:ext cx="11165416" cy="4716463"/>
          </a:xfrm>
          <a:prstGeom prst="rect">
            <a:avLst/>
          </a:prstGeom>
        </p:spPr>
        <p:txBody>
          <a:bodyPr vert="horz" lIns="0" tIns="0" rIns="0" bIns="0" rtlCol="0">
            <a:noAutofit/>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694816458"/>
      </p:ext>
    </p:extLst>
  </p:cSld>
  <p:clrMapOvr>
    <a:masterClrMapping/>
  </p:clrMapOvr>
  <p:transition>
    <p:fade/>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subtitle &amp; 1 column text">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1961681313"/>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2" name="Rectangle 1" hidden="1"/>
          <p:cNvSpPr/>
          <p:nvPr userDrawn="1">
            <p:custDataLst>
              <p:tags r:id="rId2"/>
            </p:custDataLst>
          </p:nvPr>
        </p:nvSpPr>
        <p:spPr bwMode="gray">
          <a:xfrm>
            <a:off x="0" y="1"/>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175"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9" name="Text Placeholder 8"/>
          <p:cNvSpPr>
            <a:spLocks noGrp="1"/>
          </p:cNvSpPr>
          <p:nvPr>
            <p:ph type="body" sz="quarter" idx="13" hasCustomPrompt="1"/>
          </p:nvPr>
        </p:nvSpPr>
        <p:spPr>
          <a:xfrm>
            <a:off x="501652" y="651602"/>
            <a:ext cx="11162350" cy="757255"/>
          </a:xfrm>
          <a:prstGeom prst="rect">
            <a:avLst/>
          </a:prstGeom>
        </p:spPr>
        <p:txBody>
          <a:bodyPr lIns="0" tIns="0" rIns="0" bIns="0">
            <a:noAutofit/>
          </a:bodyPr>
          <a:lstStyle>
            <a:lvl1pPr marL="0" indent="0">
              <a:buNone/>
              <a:defRPr sz="1814" b="0">
                <a:solidFill>
                  <a:srgbClr val="575757"/>
                </a:solidFill>
              </a:defRPr>
            </a:lvl1pPr>
          </a:lstStyle>
          <a:p>
            <a:pPr lvl="0"/>
            <a:r>
              <a:rPr lang="en-US" noProof="0"/>
              <a:t>Click to add subtitle</a:t>
            </a:r>
          </a:p>
        </p:txBody>
      </p:sp>
      <p:sp>
        <p:nvSpPr>
          <p:cNvPr id="14" name="Title Placeholder 1"/>
          <p:cNvSpPr>
            <a:spLocks noGrp="1"/>
          </p:cNvSpPr>
          <p:nvPr>
            <p:ph type="title"/>
          </p:nvPr>
        </p:nvSpPr>
        <p:spPr>
          <a:xfrm>
            <a:off x="501652" y="317503"/>
            <a:ext cx="11162350" cy="334101"/>
          </a:xfrm>
          <a:prstGeom prst="rect">
            <a:avLst/>
          </a:prstGeom>
        </p:spPr>
        <p:txBody>
          <a:bodyPr vert="horz" lIns="0" tIns="0" rIns="0" bIns="0" rtlCol="0" anchor="t" anchorCtr="0">
            <a:noAutofit/>
          </a:bodyPr>
          <a:lstStyle>
            <a:lvl1pPr>
              <a:defRPr sz="2175"/>
            </a:lvl1pPr>
          </a:lstStyle>
          <a:p>
            <a:r>
              <a:rPr lang="en-US" noProof="0"/>
              <a:t>Click to edit Master title style</a:t>
            </a:r>
          </a:p>
        </p:txBody>
      </p:sp>
      <p:sp>
        <p:nvSpPr>
          <p:cNvPr id="8" name="Text Placeholder 18"/>
          <p:cNvSpPr>
            <a:spLocks noGrp="1"/>
          </p:cNvSpPr>
          <p:nvPr>
            <p:ph idx="1"/>
          </p:nvPr>
        </p:nvSpPr>
        <p:spPr>
          <a:xfrm>
            <a:off x="498584" y="1174420"/>
            <a:ext cx="11165416" cy="4713911"/>
          </a:xfrm>
          <a:prstGeom prst="rect">
            <a:avLst/>
          </a:prstGeom>
        </p:spPr>
        <p:txBody>
          <a:bodyPr vert="horz" lIns="0" tIns="0" rIns="0" bIns="0" rtlCol="0">
            <a:noAutofit/>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4046212218"/>
      </p:ext>
    </p:extLst>
  </p:cSld>
  <p:clrMapOvr>
    <a:masterClrMapping/>
  </p:clrMapOvr>
  <p:transition>
    <p:fade/>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subtitle &amp; 1 column - large">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userDrawn="1">
            <p:custDataLst>
              <p:tags r:id="rId1"/>
            </p:custDataLst>
            <p:extLst>
              <p:ext uri="{D42A27DB-BD31-4B8C-83A1-F6EECF244321}">
                <p14:modId xmlns:p14="http://schemas.microsoft.com/office/powerpoint/2010/main" val="2511807169"/>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4" name="Rectangle 3" hidden="1"/>
          <p:cNvSpPr/>
          <p:nvPr userDrawn="1">
            <p:custDataLst>
              <p:tags r:id="rId2"/>
            </p:custDataLst>
          </p:nvPr>
        </p:nvSpPr>
        <p:spPr bwMode="gray">
          <a:xfrm>
            <a:off x="0" y="1"/>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175"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9" name="Text Placeholder 8"/>
          <p:cNvSpPr>
            <a:spLocks noGrp="1"/>
          </p:cNvSpPr>
          <p:nvPr>
            <p:ph type="body" sz="quarter" idx="13" hasCustomPrompt="1"/>
          </p:nvPr>
        </p:nvSpPr>
        <p:spPr>
          <a:xfrm>
            <a:off x="501652" y="651602"/>
            <a:ext cx="11162350" cy="757255"/>
          </a:xfrm>
          <a:prstGeom prst="rect">
            <a:avLst/>
          </a:prstGeom>
        </p:spPr>
        <p:txBody>
          <a:bodyPr lIns="0" tIns="0" rIns="0" bIns="0">
            <a:noAutofit/>
          </a:bodyPr>
          <a:lstStyle>
            <a:lvl1pPr marL="0" indent="0">
              <a:buNone/>
              <a:defRPr sz="1814" b="0">
                <a:solidFill>
                  <a:srgbClr val="575757"/>
                </a:solidFill>
              </a:defRPr>
            </a:lvl1pPr>
          </a:lstStyle>
          <a:p>
            <a:pPr lvl="0"/>
            <a:r>
              <a:rPr lang="en-US" noProof="0"/>
              <a:t>Click to add subtitle</a:t>
            </a:r>
          </a:p>
        </p:txBody>
      </p:sp>
      <p:sp>
        <p:nvSpPr>
          <p:cNvPr id="14" name="Title Placeholder 1"/>
          <p:cNvSpPr>
            <a:spLocks noGrp="1"/>
          </p:cNvSpPr>
          <p:nvPr>
            <p:ph type="title"/>
          </p:nvPr>
        </p:nvSpPr>
        <p:spPr>
          <a:xfrm>
            <a:off x="501652" y="317503"/>
            <a:ext cx="11162350" cy="334101"/>
          </a:xfrm>
          <a:prstGeom prst="rect">
            <a:avLst/>
          </a:prstGeom>
        </p:spPr>
        <p:txBody>
          <a:bodyPr vert="horz" lIns="0" tIns="0" rIns="0" bIns="0" rtlCol="0" anchor="t" anchorCtr="0">
            <a:noAutofit/>
          </a:bodyPr>
          <a:lstStyle>
            <a:lvl1pPr>
              <a:defRPr sz="2175"/>
            </a:lvl1pPr>
          </a:lstStyle>
          <a:p>
            <a:r>
              <a:rPr lang="en-US" noProof="0"/>
              <a:t>Click to edit Master title style</a:t>
            </a:r>
          </a:p>
        </p:txBody>
      </p:sp>
      <p:sp>
        <p:nvSpPr>
          <p:cNvPr id="8" name="Text Placeholder 18"/>
          <p:cNvSpPr>
            <a:spLocks noGrp="1"/>
          </p:cNvSpPr>
          <p:nvPr>
            <p:ph idx="1"/>
          </p:nvPr>
        </p:nvSpPr>
        <p:spPr>
          <a:xfrm>
            <a:off x="501653" y="1700213"/>
            <a:ext cx="11165416" cy="4678986"/>
          </a:xfrm>
          <a:prstGeom prst="rect">
            <a:avLst/>
          </a:prstGeom>
        </p:spPr>
        <p:txBody>
          <a:bodyPr vert="horz" lIns="0" tIns="0" rIns="0" bIns="0" rtlCol="0">
            <a:noAutofit/>
          </a:bodyPr>
          <a:lstStyle>
            <a:lvl1pPr>
              <a:defRPr sz="2012"/>
            </a:lvl1pPr>
            <a:lvl2pPr>
              <a:defRPr sz="2012"/>
            </a:lvl2pPr>
            <a:lvl3pPr>
              <a:defRPr sz="2012"/>
            </a:lvl3pPr>
            <a:lvl4pPr>
              <a:defRPr sz="2012"/>
            </a:lvl4pPr>
            <a:lvl5pPr>
              <a:defRPr sz="2012"/>
            </a:lvl5pPr>
            <a:lvl6pPr>
              <a:defRPr sz="2012"/>
            </a:lvl6pPr>
            <a:lvl7pPr>
              <a:defRPr sz="2012"/>
            </a:lvl7pPr>
            <a:lvl8pPr>
              <a:defRPr sz="2012"/>
            </a:lvl8pPr>
            <a:lvl9pPr>
              <a:defRPr sz="2012"/>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1922733688"/>
      </p:ext>
    </p:extLst>
  </p:cSld>
  <p:clrMapOvr>
    <a:masterClrMapping/>
  </p:clrMapOvr>
  <p:transition>
    <p:fade/>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subtitle &amp; chart">
    <p:spTree>
      <p:nvGrpSpPr>
        <p:cNvPr id="1" name=""/>
        <p:cNvGrpSpPr/>
        <p:nvPr/>
      </p:nvGrpSpPr>
      <p:grpSpPr>
        <a:xfrm>
          <a:off x="0" y="0"/>
          <a:ext cx="0" cy="0"/>
          <a:chOff x="0" y="0"/>
          <a:chExt cx="0" cy="0"/>
        </a:xfrm>
      </p:grpSpPr>
      <p:sp>
        <p:nvSpPr>
          <p:cNvPr id="15" name="Text Placeholder 8"/>
          <p:cNvSpPr>
            <a:spLocks noGrp="1"/>
          </p:cNvSpPr>
          <p:nvPr>
            <p:ph type="body" sz="quarter" idx="13" hasCustomPrompt="1"/>
          </p:nvPr>
        </p:nvSpPr>
        <p:spPr>
          <a:xfrm>
            <a:off x="501652" y="651602"/>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6" name="Title Placeholder 1"/>
          <p:cNvSpPr>
            <a:spLocks noGrp="1"/>
          </p:cNvSpPr>
          <p:nvPr>
            <p:ph type="title" hasCustomPrompt="1"/>
          </p:nvPr>
        </p:nvSpPr>
        <p:spPr>
          <a:xfrm>
            <a:off x="501652" y="317503"/>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17" name="Chart Placeholder 3"/>
          <p:cNvSpPr>
            <a:spLocks noGrp="1"/>
          </p:cNvSpPr>
          <p:nvPr>
            <p:ph type="chart" sz="quarter" idx="15"/>
          </p:nvPr>
        </p:nvSpPr>
        <p:spPr>
          <a:xfrm>
            <a:off x="501655" y="2052004"/>
            <a:ext cx="11188699" cy="4069013"/>
          </a:xfrm>
          <a:prstGeom prst="rect">
            <a:avLst/>
          </a:prstGeom>
        </p:spPr>
        <p:txBody>
          <a:bodyPr/>
          <a:lstStyle/>
          <a:p>
            <a:r>
              <a:rPr lang="en-US" noProof="0"/>
              <a:t>Click icon to add chart</a:t>
            </a:r>
          </a:p>
        </p:txBody>
      </p:sp>
      <p:sp>
        <p:nvSpPr>
          <p:cNvPr id="18" name="Text Placeholder 8"/>
          <p:cNvSpPr>
            <a:spLocks noGrp="1"/>
          </p:cNvSpPr>
          <p:nvPr>
            <p:ph type="body" sz="quarter" idx="18"/>
          </p:nvPr>
        </p:nvSpPr>
        <p:spPr>
          <a:xfrm>
            <a:off x="501655" y="1665289"/>
            <a:ext cx="11188699" cy="392112"/>
          </a:xfrm>
        </p:spPr>
        <p:txBody>
          <a:bodyPr/>
          <a:lstStyle/>
          <a:p>
            <a:pPr lvl="0"/>
            <a:r>
              <a:rPr lang="en-US" noProof="0"/>
              <a:t>Edit Master text styles</a:t>
            </a:r>
          </a:p>
        </p:txBody>
      </p:sp>
      <p:sp>
        <p:nvSpPr>
          <p:cNvPr id="19" name="Text Placeholder 7"/>
          <p:cNvSpPr>
            <a:spLocks noGrp="1"/>
          </p:cNvSpPr>
          <p:nvPr>
            <p:ph type="body" sz="quarter" idx="23"/>
          </p:nvPr>
        </p:nvSpPr>
        <p:spPr>
          <a:xfrm>
            <a:off x="501652" y="6121018"/>
            <a:ext cx="11188699" cy="260737"/>
          </a:xfrm>
        </p:spPr>
        <p:txBody>
          <a:bodyPr>
            <a:noAutofit/>
          </a:bodyPr>
          <a:lstStyle>
            <a:lvl1pPr>
              <a:spcAft>
                <a:spcPts val="0"/>
              </a:spcAft>
              <a:defRPr sz="1141"/>
            </a:lvl1pPr>
          </a:lstStyle>
          <a:p>
            <a:pPr lvl="0"/>
            <a:r>
              <a:rPr lang="en-US" noProof="0"/>
              <a:t>Edit Master text styles</a:t>
            </a:r>
          </a:p>
        </p:txBody>
      </p:sp>
    </p:spTree>
    <p:extLst>
      <p:ext uri="{BB962C8B-B14F-4D97-AF65-F5344CB8AC3E}">
        <p14:creationId xmlns:p14="http://schemas.microsoft.com/office/powerpoint/2010/main" val="3176448966"/>
      </p:ext>
    </p:extLst>
  </p:cSld>
  <p:clrMapOvr>
    <a:masterClrMapping/>
  </p:clrMapOvr>
  <p:transition>
    <p:fade/>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3 chart">
    <p:spTree>
      <p:nvGrpSpPr>
        <p:cNvPr id="1" name=""/>
        <p:cNvGrpSpPr/>
        <p:nvPr/>
      </p:nvGrpSpPr>
      <p:grpSpPr>
        <a:xfrm>
          <a:off x="0" y="0"/>
          <a:ext cx="0" cy="0"/>
          <a:chOff x="0" y="0"/>
          <a:chExt cx="0" cy="0"/>
        </a:xfrm>
      </p:grpSpPr>
      <p:sp>
        <p:nvSpPr>
          <p:cNvPr id="15" name="Text Placeholder 8"/>
          <p:cNvSpPr>
            <a:spLocks noGrp="1"/>
          </p:cNvSpPr>
          <p:nvPr>
            <p:ph type="body" sz="quarter" idx="13" hasCustomPrompt="1"/>
          </p:nvPr>
        </p:nvSpPr>
        <p:spPr>
          <a:xfrm>
            <a:off x="501652" y="651602"/>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6" name="Title Placeholder 1"/>
          <p:cNvSpPr>
            <a:spLocks noGrp="1"/>
          </p:cNvSpPr>
          <p:nvPr>
            <p:ph type="title" hasCustomPrompt="1"/>
          </p:nvPr>
        </p:nvSpPr>
        <p:spPr>
          <a:xfrm>
            <a:off x="501652" y="317503"/>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17" name="Chart Placeholder 3"/>
          <p:cNvSpPr>
            <a:spLocks noGrp="1"/>
          </p:cNvSpPr>
          <p:nvPr>
            <p:ph type="chart" sz="quarter" idx="15"/>
          </p:nvPr>
        </p:nvSpPr>
        <p:spPr>
          <a:xfrm>
            <a:off x="504001" y="2051999"/>
            <a:ext cx="3549549" cy="4069014"/>
          </a:xfrm>
          <a:prstGeom prst="rect">
            <a:avLst/>
          </a:prstGeom>
        </p:spPr>
        <p:txBody>
          <a:bodyPr/>
          <a:lstStyle/>
          <a:p>
            <a:r>
              <a:rPr lang="en-US" noProof="0"/>
              <a:t>Click icon to add chart</a:t>
            </a:r>
          </a:p>
        </p:txBody>
      </p:sp>
      <p:sp>
        <p:nvSpPr>
          <p:cNvPr id="18" name="Text Placeholder 8"/>
          <p:cNvSpPr>
            <a:spLocks noGrp="1"/>
          </p:cNvSpPr>
          <p:nvPr>
            <p:ph type="body" sz="quarter" idx="18"/>
          </p:nvPr>
        </p:nvSpPr>
        <p:spPr>
          <a:xfrm>
            <a:off x="501653" y="1665289"/>
            <a:ext cx="3562351" cy="392112"/>
          </a:xfrm>
        </p:spPr>
        <p:txBody>
          <a:bodyPr/>
          <a:lstStyle/>
          <a:p>
            <a:pPr lvl="0"/>
            <a:r>
              <a:rPr lang="en-US" noProof="0"/>
              <a:t>Edit Master text styles</a:t>
            </a:r>
          </a:p>
        </p:txBody>
      </p:sp>
      <p:sp>
        <p:nvSpPr>
          <p:cNvPr id="7" name="Chart Placeholder 3"/>
          <p:cNvSpPr>
            <a:spLocks noGrp="1"/>
          </p:cNvSpPr>
          <p:nvPr>
            <p:ph type="chart" sz="quarter" idx="19"/>
          </p:nvPr>
        </p:nvSpPr>
        <p:spPr>
          <a:xfrm>
            <a:off x="4303186" y="2051999"/>
            <a:ext cx="3561616" cy="4069014"/>
          </a:xfrm>
          <a:prstGeom prst="rect">
            <a:avLst/>
          </a:prstGeom>
        </p:spPr>
        <p:txBody>
          <a:bodyPr/>
          <a:lstStyle/>
          <a:p>
            <a:r>
              <a:rPr lang="en-US" noProof="0"/>
              <a:t>Click icon to add chart</a:t>
            </a:r>
          </a:p>
        </p:txBody>
      </p:sp>
      <p:sp>
        <p:nvSpPr>
          <p:cNvPr id="8" name="Text Placeholder 8"/>
          <p:cNvSpPr>
            <a:spLocks noGrp="1"/>
          </p:cNvSpPr>
          <p:nvPr>
            <p:ph type="body" sz="quarter" idx="20"/>
          </p:nvPr>
        </p:nvSpPr>
        <p:spPr>
          <a:xfrm>
            <a:off x="4303186" y="1665289"/>
            <a:ext cx="3561615" cy="392112"/>
          </a:xfrm>
        </p:spPr>
        <p:txBody>
          <a:bodyPr/>
          <a:lstStyle/>
          <a:p>
            <a:pPr lvl="0"/>
            <a:r>
              <a:rPr lang="en-US" noProof="0"/>
              <a:t>Edit Master text styles</a:t>
            </a:r>
          </a:p>
        </p:txBody>
      </p:sp>
      <p:sp>
        <p:nvSpPr>
          <p:cNvPr id="9" name="Chart Placeholder 3"/>
          <p:cNvSpPr>
            <a:spLocks noGrp="1"/>
          </p:cNvSpPr>
          <p:nvPr>
            <p:ph type="chart" sz="quarter" idx="21"/>
          </p:nvPr>
        </p:nvSpPr>
        <p:spPr>
          <a:xfrm>
            <a:off x="8126397" y="2051999"/>
            <a:ext cx="3563953" cy="4069014"/>
          </a:xfrm>
          <a:prstGeom prst="rect">
            <a:avLst/>
          </a:prstGeom>
        </p:spPr>
        <p:txBody>
          <a:bodyPr/>
          <a:lstStyle/>
          <a:p>
            <a:r>
              <a:rPr lang="en-US" noProof="0"/>
              <a:t>Click icon to add chart</a:t>
            </a:r>
          </a:p>
        </p:txBody>
      </p:sp>
      <p:sp>
        <p:nvSpPr>
          <p:cNvPr id="10" name="Text Placeholder 8"/>
          <p:cNvSpPr>
            <a:spLocks noGrp="1"/>
          </p:cNvSpPr>
          <p:nvPr>
            <p:ph type="body" sz="quarter" idx="22"/>
          </p:nvPr>
        </p:nvSpPr>
        <p:spPr>
          <a:xfrm>
            <a:off x="8126400" y="1659145"/>
            <a:ext cx="3563954" cy="398256"/>
          </a:xfrm>
        </p:spPr>
        <p:txBody>
          <a:bodyPr/>
          <a:lstStyle/>
          <a:p>
            <a:pPr lvl="0"/>
            <a:r>
              <a:rPr lang="en-US" noProof="0"/>
              <a:t>Edit Master text styles</a:t>
            </a:r>
          </a:p>
        </p:txBody>
      </p:sp>
      <p:sp>
        <p:nvSpPr>
          <p:cNvPr id="12" name="Text Placeholder 7"/>
          <p:cNvSpPr>
            <a:spLocks noGrp="1"/>
          </p:cNvSpPr>
          <p:nvPr>
            <p:ph type="body" sz="quarter" idx="23"/>
          </p:nvPr>
        </p:nvSpPr>
        <p:spPr>
          <a:xfrm>
            <a:off x="501649" y="6121018"/>
            <a:ext cx="11165419" cy="260737"/>
          </a:xfrm>
        </p:spPr>
        <p:txBody>
          <a:bodyPr>
            <a:noAutofit/>
          </a:bodyPr>
          <a:lstStyle>
            <a:lvl1pPr>
              <a:spcAft>
                <a:spcPts val="0"/>
              </a:spcAft>
              <a:defRPr sz="1141"/>
            </a:lvl1pPr>
          </a:lstStyle>
          <a:p>
            <a:pPr lvl="0"/>
            <a:r>
              <a:rPr lang="en-US" noProof="0"/>
              <a:t>Edit Master text styles</a:t>
            </a:r>
          </a:p>
        </p:txBody>
      </p:sp>
    </p:spTree>
    <p:extLst>
      <p:ext uri="{BB962C8B-B14F-4D97-AF65-F5344CB8AC3E}">
        <p14:creationId xmlns:p14="http://schemas.microsoft.com/office/powerpoint/2010/main" val="2532261660"/>
      </p:ext>
    </p:extLst>
  </p:cSld>
  <p:clrMapOvr>
    <a:masterClrMapping/>
  </p:clrMapOvr>
  <p:transition>
    <p:fade/>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 columns of text">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3675256775"/>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2" name="Rectangle 1" hidden="1"/>
          <p:cNvSpPr/>
          <p:nvPr userDrawn="1">
            <p:custDataLst>
              <p:tags r:id="rId2"/>
            </p:custDataLst>
          </p:nvPr>
        </p:nvSpPr>
        <p:spPr bwMode="gray">
          <a:xfrm>
            <a:off x="0" y="1"/>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539"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14" name="Title Placeholder 1"/>
          <p:cNvSpPr>
            <a:spLocks noGrp="1"/>
          </p:cNvSpPr>
          <p:nvPr>
            <p:ph type="title" hasCustomPrompt="1"/>
          </p:nvPr>
        </p:nvSpPr>
        <p:spPr>
          <a:xfrm>
            <a:off x="501654" y="317503"/>
            <a:ext cx="11202669" cy="334101"/>
          </a:xfrm>
          <a:prstGeom prst="rect">
            <a:avLst/>
          </a:prstGeom>
        </p:spPr>
        <p:txBody>
          <a:bodyPr vert="horz" lIns="0" tIns="0" rIns="0" bIns="0" rtlCol="0" anchor="t" anchorCtr="0">
            <a:noAutofit/>
          </a:bodyPr>
          <a:lstStyle>
            <a:lvl1pPr>
              <a:defRPr sz="2539"/>
            </a:lvl1pPr>
          </a:lstStyle>
          <a:p>
            <a:r>
              <a:rPr lang="en-US" noProof="0"/>
              <a:t>Click to add title</a:t>
            </a:r>
          </a:p>
        </p:txBody>
      </p:sp>
      <p:sp>
        <p:nvSpPr>
          <p:cNvPr id="9" name="Text Placeholder 8"/>
          <p:cNvSpPr>
            <a:spLocks noGrp="1"/>
          </p:cNvSpPr>
          <p:nvPr>
            <p:ph type="body" sz="quarter" idx="13" hasCustomPrompt="1"/>
          </p:nvPr>
        </p:nvSpPr>
        <p:spPr>
          <a:xfrm>
            <a:off x="501654" y="651602"/>
            <a:ext cx="11202669" cy="757255"/>
          </a:xfrm>
          <a:prstGeom prst="rect">
            <a:avLst/>
          </a:prstGeom>
        </p:spPr>
        <p:txBody>
          <a:bodyPr lIns="0" tIns="0" rIns="0" bIns="0">
            <a:noAutofit/>
          </a:bodyPr>
          <a:lstStyle>
            <a:lvl1pPr marL="0" indent="0">
              <a:buNone/>
              <a:defRPr sz="2175" b="0">
                <a:solidFill>
                  <a:srgbClr val="575757"/>
                </a:solidFill>
              </a:defRPr>
            </a:lvl1pPr>
          </a:lstStyle>
          <a:p>
            <a:pPr lvl="0"/>
            <a:r>
              <a:rPr lang="en-US" noProof="0"/>
              <a:t>Click to add subtitle</a:t>
            </a:r>
          </a:p>
        </p:txBody>
      </p:sp>
      <p:sp>
        <p:nvSpPr>
          <p:cNvPr id="13" name="Content Placeholder 3"/>
          <p:cNvSpPr>
            <a:spLocks noGrp="1"/>
          </p:cNvSpPr>
          <p:nvPr>
            <p:ph sz="quarter" idx="10"/>
          </p:nvPr>
        </p:nvSpPr>
        <p:spPr>
          <a:xfrm>
            <a:off x="501651" y="1665288"/>
            <a:ext cx="5305578" cy="4716461"/>
          </a:xfrm>
          <a:prstGeom prst="rect">
            <a:avLst/>
          </a:prstGeom>
        </p:spPr>
        <p:txBody>
          <a:bodyPr/>
          <a:lstStyle>
            <a:lvl1pPr>
              <a:tabLst>
                <a:tab pos="6325396" algn="r"/>
              </a:tabLst>
              <a:defRPr/>
            </a:lvl1pPr>
            <a:lvl2pPr>
              <a:tabLst>
                <a:tab pos="6325396" algn="r"/>
              </a:tabLst>
              <a:defRPr/>
            </a:lvl2pPr>
            <a:lvl3pPr>
              <a:tabLst>
                <a:tab pos="6325396" algn="r"/>
              </a:tabLst>
              <a:defRPr/>
            </a:lvl3pPr>
            <a:lvl4pPr>
              <a:tabLst>
                <a:tab pos="6325396" algn="r"/>
              </a:tabLst>
              <a:defRPr/>
            </a:lvl4pPr>
            <a:lvl5pPr>
              <a:tabLst>
                <a:tab pos="6325396"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5" name="Content Placeholder 3"/>
          <p:cNvSpPr>
            <a:spLocks noGrp="1"/>
          </p:cNvSpPr>
          <p:nvPr>
            <p:ph sz="quarter" idx="20"/>
          </p:nvPr>
        </p:nvSpPr>
        <p:spPr>
          <a:xfrm>
            <a:off x="6381539" y="1665288"/>
            <a:ext cx="5322781" cy="4716461"/>
          </a:xfrm>
          <a:prstGeom prst="rect">
            <a:avLst/>
          </a:prstGeom>
        </p:spPr>
        <p:txBody>
          <a:bodyPr/>
          <a:lstStyle>
            <a:lvl1pPr>
              <a:tabLst>
                <a:tab pos="6325396" algn="r"/>
              </a:tabLst>
              <a:defRPr/>
            </a:lvl1pPr>
            <a:lvl2pPr>
              <a:tabLst>
                <a:tab pos="6325396" algn="r"/>
              </a:tabLst>
              <a:defRPr/>
            </a:lvl2pPr>
            <a:lvl3pPr>
              <a:tabLst>
                <a:tab pos="6325396" algn="r"/>
              </a:tabLst>
              <a:defRPr/>
            </a:lvl3pPr>
            <a:lvl4pPr>
              <a:tabLst>
                <a:tab pos="6325396" algn="r"/>
              </a:tabLst>
              <a:defRPr/>
            </a:lvl4pPr>
            <a:lvl5pPr>
              <a:tabLst>
                <a:tab pos="6325396"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4269922204"/>
      </p:ext>
    </p:extLst>
  </p:cSld>
  <p:clrMapOvr>
    <a:masterClrMapping/>
  </p:clrMapOvr>
  <p:transition>
    <p:fade/>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 columns - large">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312963086"/>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2" name="Rectangle 1" hidden="1"/>
          <p:cNvSpPr/>
          <p:nvPr userDrawn="1">
            <p:custDataLst>
              <p:tags r:id="rId2"/>
            </p:custDataLst>
          </p:nvPr>
        </p:nvSpPr>
        <p:spPr bwMode="gray">
          <a:xfrm>
            <a:off x="0" y="1"/>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175"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7" name="Text Placeholder 8"/>
          <p:cNvSpPr>
            <a:spLocks noGrp="1"/>
          </p:cNvSpPr>
          <p:nvPr>
            <p:ph type="body" sz="quarter" idx="13" hasCustomPrompt="1"/>
          </p:nvPr>
        </p:nvSpPr>
        <p:spPr>
          <a:xfrm>
            <a:off x="501652" y="651602"/>
            <a:ext cx="11188699" cy="757255"/>
          </a:xfrm>
          <a:prstGeom prst="rect">
            <a:avLst/>
          </a:prstGeom>
        </p:spPr>
        <p:txBody>
          <a:bodyPr lIns="0" tIns="0" rIns="0" bIns="0">
            <a:noAutofit/>
          </a:bodyPr>
          <a:lstStyle>
            <a:lvl1pPr marL="0" indent="0">
              <a:buNone/>
              <a:defRPr sz="1814" b="0">
                <a:solidFill>
                  <a:srgbClr val="575757"/>
                </a:solidFill>
              </a:defRPr>
            </a:lvl1pPr>
          </a:lstStyle>
          <a:p>
            <a:pPr lvl="0"/>
            <a:r>
              <a:rPr lang="en-US" noProof="0"/>
              <a:t>Click to add subtitle</a:t>
            </a:r>
          </a:p>
        </p:txBody>
      </p:sp>
      <p:sp>
        <p:nvSpPr>
          <p:cNvPr id="8" name="Title Placeholder 1"/>
          <p:cNvSpPr>
            <a:spLocks noGrp="1"/>
          </p:cNvSpPr>
          <p:nvPr>
            <p:ph type="title" hasCustomPrompt="1"/>
          </p:nvPr>
        </p:nvSpPr>
        <p:spPr>
          <a:xfrm>
            <a:off x="501652" y="317500"/>
            <a:ext cx="11188699" cy="334100"/>
          </a:xfrm>
          <a:prstGeom prst="rect">
            <a:avLst/>
          </a:prstGeom>
        </p:spPr>
        <p:txBody>
          <a:bodyPr vert="horz" lIns="0" tIns="0" rIns="0" bIns="0" rtlCol="0" anchor="t" anchorCtr="0">
            <a:noAutofit/>
          </a:bodyPr>
          <a:lstStyle>
            <a:lvl1pPr>
              <a:defRPr sz="2175"/>
            </a:lvl1pPr>
          </a:lstStyle>
          <a:p>
            <a:r>
              <a:rPr lang="en-US" noProof="0"/>
              <a:t>Click to add title</a:t>
            </a:r>
          </a:p>
        </p:txBody>
      </p:sp>
      <p:sp>
        <p:nvSpPr>
          <p:cNvPr id="11" name="Content Placeholder 3"/>
          <p:cNvSpPr>
            <a:spLocks noGrp="1"/>
          </p:cNvSpPr>
          <p:nvPr>
            <p:ph sz="quarter" idx="10"/>
          </p:nvPr>
        </p:nvSpPr>
        <p:spPr>
          <a:xfrm>
            <a:off x="501650" y="1665288"/>
            <a:ext cx="5305580" cy="4716461"/>
          </a:xfrm>
          <a:prstGeom prst="rect">
            <a:avLst/>
          </a:prstGeom>
        </p:spPr>
        <p:txBody>
          <a:bodyPr>
            <a:noAutofit/>
          </a:bodyPr>
          <a:lstStyle>
            <a:lvl1pPr>
              <a:tabLst>
                <a:tab pos="6325396" algn="r"/>
              </a:tabLst>
              <a:defRPr sz="2012"/>
            </a:lvl1pPr>
            <a:lvl2pPr>
              <a:tabLst>
                <a:tab pos="6325396" algn="r"/>
              </a:tabLst>
              <a:defRPr sz="2012"/>
            </a:lvl2pPr>
            <a:lvl3pPr>
              <a:tabLst>
                <a:tab pos="6325396" algn="r"/>
              </a:tabLst>
              <a:defRPr sz="2012"/>
            </a:lvl3pPr>
            <a:lvl4pPr>
              <a:tabLst>
                <a:tab pos="6325396" algn="r"/>
              </a:tabLst>
              <a:defRPr sz="2012"/>
            </a:lvl4pPr>
            <a:lvl5pPr>
              <a:tabLst>
                <a:tab pos="6325396" algn="r"/>
              </a:tabLst>
              <a:defRPr baseline="0"/>
            </a:lvl5pPr>
            <a:lvl6pPr>
              <a:defRPr sz="2012"/>
            </a:lvl6pPr>
            <a:lvl7pPr>
              <a:defRPr sz="2012"/>
            </a:lvl7pPr>
            <a:lvl8pPr>
              <a:defRPr sz="2012"/>
            </a:lvl8pPr>
            <a:lvl9pPr>
              <a:defRPr sz="2012"/>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Content Placeholder 3"/>
          <p:cNvSpPr>
            <a:spLocks noGrp="1"/>
          </p:cNvSpPr>
          <p:nvPr>
            <p:ph sz="quarter" idx="20"/>
          </p:nvPr>
        </p:nvSpPr>
        <p:spPr>
          <a:xfrm>
            <a:off x="6384003" y="1665288"/>
            <a:ext cx="5306350" cy="4716461"/>
          </a:xfrm>
          <a:prstGeom prst="rect">
            <a:avLst/>
          </a:prstGeom>
        </p:spPr>
        <p:txBody>
          <a:bodyPr>
            <a:noAutofit/>
          </a:bodyPr>
          <a:lstStyle>
            <a:lvl1pPr>
              <a:tabLst>
                <a:tab pos="6325396" algn="r"/>
              </a:tabLst>
              <a:defRPr sz="2012"/>
            </a:lvl1pPr>
            <a:lvl2pPr>
              <a:tabLst>
                <a:tab pos="6325396" algn="r"/>
              </a:tabLst>
              <a:defRPr sz="2012"/>
            </a:lvl2pPr>
            <a:lvl3pPr>
              <a:tabLst>
                <a:tab pos="6325396" algn="r"/>
              </a:tabLst>
              <a:defRPr sz="2012"/>
            </a:lvl3pPr>
            <a:lvl4pPr>
              <a:tabLst>
                <a:tab pos="6325396" algn="r"/>
              </a:tabLst>
              <a:defRPr sz="2012"/>
            </a:lvl4pPr>
            <a:lvl5pPr>
              <a:tabLst>
                <a:tab pos="6325396" algn="r"/>
              </a:tabLst>
              <a:defRPr baseline="0"/>
            </a:lvl5pPr>
            <a:lvl6pPr>
              <a:defRPr sz="2012"/>
            </a:lvl6pPr>
            <a:lvl7pPr>
              <a:defRPr sz="2012"/>
            </a:lvl7pPr>
            <a:lvl8pPr>
              <a:defRPr sz="2012"/>
            </a:lvl8pPr>
            <a:lvl9pPr>
              <a:defRPr sz="2012"/>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119923590"/>
      </p:ext>
    </p:extLst>
  </p:cSld>
  <p:clrMapOvr>
    <a:masterClrMapping/>
  </p:clrMapOvr>
  <p:transition>
    <p:fade/>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ext and chart">
    <p:spTree>
      <p:nvGrpSpPr>
        <p:cNvPr id="1" name=""/>
        <p:cNvGrpSpPr/>
        <p:nvPr/>
      </p:nvGrpSpPr>
      <p:grpSpPr>
        <a:xfrm>
          <a:off x="0" y="0"/>
          <a:ext cx="0" cy="0"/>
          <a:chOff x="0" y="0"/>
          <a:chExt cx="0" cy="0"/>
        </a:xfrm>
      </p:grpSpPr>
      <p:sp>
        <p:nvSpPr>
          <p:cNvPr id="10" name="Content Placeholder 3"/>
          <p:cNvSpPr>
            <a:spLocks noGrp="1"/>
          </p:cNvSpPr>
          <p:nvPr>
            <p:ph sz="quarter" idx="10"/>
          </p:nvPr>
        </p:nvSpPr>
        <p:spPr>
          <a:xfrm>
            <a:off x="501653" y="1665293"/>
            <a:ext cx="5355166" cy="4455725"/>
          </a:xfrm>
          <a:prstGeom prst="rect">
            <a:avLst/>
          </a:prstGeom>
        </p:spPr>
        <p:txBody>
          <a:bodyPr/>
          <a:lstStyle>
            <a:lvl1pPr>
              <a:tabLst>
                <a:tab pos="6325396" algn="r"/>
              </a:tabLst>
              <a:defRPr/>
            </a:lvl1pPr>
            <a:lvl2pPr>
              <a:tabLst>
                <a:tab pos="6325396" algn="r"/>
              </a:tabLst>
              <a:defRPr/>
            </a:lvl2pPr>
            <a:lvl3pPr>
              <a:tabLst>
                <a:tab pos="6325396" algn="r"/>
              </a:tabLst>
              <a:defRPr/>
            </a:lvl3pPr>
            <a:lvl4pPr>
              <a:tabLst>
                <a:tab pos="6325396" algn="r"/>
              </a:tabLst>
              <a:defRPr/>
            </a:lvl4pPr>
            <a:lvl5pPr>
              <a:tabLst>
                <a:tab pos="6325396"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 name="Chart Placeholder 2"/>
          <p:cNvSpPr>
            <a:spLocks noGrp="1"/>
          </p:cNvSpPr>
          <p:nvPr>
            <p:ph type="chart" sz="quarter" idx="21"/>
          </p:nvPr>
        </p:nvSpPr>
        <p:spPr>
          <a:xfrm>
            <a:off x="6341222" y="2125013"/>
            <a:ext cx="5349128" cy="3996000"/>
          </a:xfrm>
        </p:spPr>
        <p:txBody>
          <a:bodyPr/>
          <a:lstStyle/>
          <a:p>
            <a:r>
              <a:rPr lang="en-US" noProof="0"/>
              <a:t>Click icon to add chart</a:t>
            </a:r>
          </a:p>
        </p:txBody>
      </p:sp>
      <p:sp>
        <p:nvSpPr>
          <p:cNvPr id="6" name="Text Placeholder 5"/>
          <p:cNvSpPr>
            <a:spLocks noGrp="1"/>
          </p:cNvSpPr>
          <p:nvPr>
            <p:ph type="body" sz="quarter" idx="22"/>
          </p:nvPr>
        </p:nvSpPr>
        <p:spPr>
          <a:xfrm>
            <a:off x="6341222" y="1665288"/>
            <a:ext cx="5349128" cy="420687"/>
          </a:xfrm>
        </p:spPr>
        <p:txBody>
          <a:bodyPr/>
          <a:lstStyle/>
          <a:p>
            <a:pPr lvl="0"/>
            <a:r>
              <a:rPr lang="en-US" noProof="0"/>
              <a:t>Edit Master text styles</a:t>
            </a:r>
          </a:p>
        </p:txBody>
      </p:sp>
      <p:sp>
        <p:nvSpPr>
          <p:cNvPr id="11" name="Text Placeholder 8"/>
          <p:cNvSpPr>
            <a:spLocks noGrp="1"/>
          </p:cNvSpPr>
          <p:nvPr>
            <p:ph type="body" sz="quarter" idx="13" hasCustomPrompt="1"/>
          </p:nvPr>
        </p:nvSpPr>
        <p:spPr>
          <a:xfrm>
            <a:off x="501652" y="651602"/>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3" name="Title Placeholder 1"/>
          <p:cNvSpPr>
            <a:spLocks noGrp="1"/>
          </p:cNvSpPr>
          <p:nvPr>
            <p:ph type="title" hasCustomPrompt="1"/>
          </p:nvPr>
        </p:nvSpPr>
        <p:spPr>
          <a:xfrm>
            <a:off x="501652" y="317503"/>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15" name="Text Placeholder 7"/>
          <p:cNvSpPr>
            <a:spLocks noGrp="1"/>
          </p:cNvSpPr>
          <p:nvPr>
            <p:ph type="body" sz="quarter" idx="23"/>
          </p:nvPr>
        </p:nvSpPr>
        <p:spPr>
          <a:xfrm>
            <a:off x="501652" y="6121018"/>
            <a:ext cx="11188699" cy="260737"/>
          </a:xfrm>
        </p:spPr>
        <p:txBody>
          <a:bodyPr>
            <a:normAutofit/>
          </a:bodyPr>
          <a:lstStyle>
            <a:lvl1pPr>
              <a:spcAft>
                <a:spcPts val="0"/>
              </a:spcAft>
              <a:defRPr sz="1141"/>
            </a:lvl1pPr>
          </a:lstStyle>
          <a:p>
            <a:pPr lvl="0"/>
            <a:r>
              <a:rPr lang="en-US" noProof="0"/>
              <a:t>Edit Master text styles</a:t>
            </a:r>
          </a:p>
        </p:txBody>
      </p:sp>
    </p:spTree>
    <p:extLst>
      <p:ext uri="{BB962C8B-B14F-4D97-AF65-F5344CB8AC3E}">
        <p14:creationId xmlns:p14="http://schemas.microsoft.com/office/powerpoint/2010/main" val="1794245345"/>
      </p:ext>
    </p:extLst>
  </p:cSld>
  <p:clrMapOvr>
    <a:masterClrMapping/>
  </p:clrMapOvr>
  <p:transition>
    <p:fade/>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 chart">
    <p:spTree>
      <p:nvGrpSpPr>
        <p:cNvPr id="1" name=""/>
        <p:cNvGrpSpPr/>
        <p:nvPr/>
      </p:nvGrpSpPr>
      <p:grpSpPr>
        <a:xfrm>
          <a:off x="0" y="0"/>
          <a:ext cx="0" cy="0"/>
          <a:chOff x="0" y="0"/>
          <a:chExt cx="0" cy="0"/>
        </a:xfrm>
      </p:grpSpPr>
      <p:sp>
        <p:nvSpPr>
          <p:cNvPr id="3" name="Chart Placeholder 2"/>
          <p:cNvSpPr>
            <a:spLocks noGrp="1"/>
          </p:cNvSpPr>
          <p:nvPr>
            <p:ph type="chart" sz="quarter" idx="21"/>
          </p:nvPr>
        </p:nvSpPr>
        <p:spPr>
          <a:xfrm>
            <a:off x="6341224" y="2125013"/>
            <a:ext cx="5349129" cy="3996000"/>
          </a:xfrm>
        </p:spPr>
        <p:txBody>
          <a:bodyPr/>
          <a:lstStyle/>
          <a:p>
            <a:r>
              <a:rPr lang="en-US" noProof="0"/>
              <a:t>Click icon to add chart</a:t>
            </a:r>
          </a:p>
        </p:txBody>
      </p:sp>
      <p:sp>
        <p:nvSpPr>
          <p:cNvPr id="6" name="Text Placeholder 5"/>
          <p:cNvSpPr>
            <a:spLocks noGrp="1"/>
          </p:cNvSpPr>
          <p:nvPr>
            <p:ph type="body" sz="quarter" idx="22"/>
          </p:nvPr>
        </p:nvSpPr>
        <p:spPr>
          <a:xfrm>
            <a:off x="6341225" y="1665288"/>
            <a:ext cx="5349129" cy="420687"/>
          </a:xfrm>
        </p:spPr>
        <p:txBody>
          <a:bodyPr/>
          <a:lstStyle/>
          <a:p>
            <a:pPr lvl="0"/>
            <a:r>
              <a:rPr lang="en-US" noProof="0"/>
              <a:t>Edit Master text styles</a:t>
            </a:r>
          </a:p>
        </p:txBody>
      </p:sp>
      <p:sp>
        <p:nvSpPr>
          <p:cNvPr id="11" name="Text Placeholder 8"/>
          <p:cNvSpPr>
            <a:spLocks noGrp="1"/>
          </p:cNvSpPr>
          <p:nvPr>
            <p:ph type="body" sz="quarter" idx="13" hasCustomPrompt="1"/>
          </p:nvPr>
        </p:nvSpPr>
        <p:spPr>
          <a:xfrm>
            <a:off x="501652" y="651602"/>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3" name="Title Placeholder 1"/>
          <p:cNvSpPr>
            <a:spLocks noGrp="1"/>
          </p:cNvSpPr>
          <p:nvPr>
            <p:ph type="title" hasCustomPrompt="1"/>
          </p:nvPr>
        </p:nvSpPr>
        <p:spPr>
          <a:xfrm>
            <a:off x="501652" y="317503"/>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15" name="Text Placeholder 7"/>
          <p:cNvSpPr>
            <a:spLocks noGrp="1"/>
          </p:cNvSpPr>
          <p:nvPr>
            <p:ph type="body" sz="quarter" idx="23"/>
          </p:nvPr>
        </p:nvSpPr>
        <p:spPr>
          <a:xfrm>
            <a:off x="501649" y="6121018"/>
            <a:ext cx="11165419" cy="260737"/>
          </a:xfrm>
        </p:spPr>
        <p:txBody>
          <a:bodyPr>
            <a:normAutofit/>
          </a:bodyPr>
          <a:lstStyle>
            <a:lvl1pPr>
              <a:spcAft>
                <a:spcPts val="0"/>
              </a:spcAft>
              <a:defRPr sz="1141"/>
            </a:lvl1pPr>
          </a:lstStyle>
          <a:p>
            <a:pPr lvl="0"/>
            <a:r>
              <a:rPr lang="en-US" noProof="0"/>
              <a:t>Edit Master text styles</a:t>
            </a:r>
          </a:p>
        </p:txBody>
      </p:sp>
      <p:sp>
        <p:nvSpPr>
          <p:cNvPr id="9" name="Chart Placeholder 2"/>
          <p:cNvSpPr>
            <a:spLocks noGrp="1"/>
          </p:cNvSpPr>
          <p:nvPr>
            <p:ph type="chart" sz="quarter" idx="24"/>
          </p:nvPr>
        </p:nvSpPr>
        <p:spPr>
          <a:xfrm>
            <a:off x="501653" y="2125013"/>
            <a:ext cx="5339063" cy="3996000"/>
          </a:xfrm>
        </p:spPr>
        <p:txBody>
          <a:bodyPr/>
          <a:lstStyle/>
          <a:p>
            <a:r>
              <a:rPr lang="en-US" noProof="0"/>
              <a:t>Click icon to add chart</a:t>
            </a:r>
          </a:p>
        </p:txBody>
      </p:sp>
      <p:sp>
        <p:nvSpPr>
          <p:cNvPr id="12" name="Text Placeholder 5"/>
          <p:cNvSpPr>
            <a:spLocks noGrp="1"/>
          </p:cNvSpPr>
          <p:nvPr>
            <p:ph type="body" sz="quarter" idx="25"/>
          </p:nvPr>
        </p:nvSpPr>
        <p:spPr>
          <a:xfrm>
            <a:off x="501650" y="1665288"/>
            <a:ext cx="5339064" cy="420687"/>
          </a:xfrm>
        </p:spPr>
        <p:txBody>
          <a:bodyPr/>
          <a:lstStyle/>
          <a:p>
            <a:pPr lvl="0"/>
            <a:r>
              <a:rPr lang="en-US" noProof="0"/>
              <a:t>Edit Master text styles</a:t>
            </a:r>
          </a:p>
        </p:txBody>
      </p:sp>
    </p:spTree>
    <p:extLst>
      <p:ext uri="{BB962C8B-B14F-4D97-AF65-F5344CB8AC3E}">
        <p14:creationId xmlns:p14="http://schemas.microsoft.com/office/powerpoint/2010/main" val="2411087610"/>
      </p:ext>
    </p:extLst>
  </p:cSld>
  <p:clrMapOvr>
    <a:masterClrMapping/>
  </p:clrMapOvr>
  <p:transition>
    <p:fade/>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 column content">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501655" y="317503"/>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6" name="Content Placeholder 3"/>
          <p:cNvSpPr>
            <a:spLocks noGrp="1"/>
          </p:cNvSpPr>
          <p:nvPr>
            <p:ph sz="quarter" idx="10"/>
          </p:nvPr>
        </p:nvSpPr>
        <p:spPr>
          <a:xfrm>
            <a:off x="501653" y="1665293"/>
            <a:ext cx="4431857" cy="4716463"/>
          </a:xfrm>
          <a:prstGeom prst="rect">
            <a:avLst/>
          </a:prstGeom>
        </p:spPr>
        <p:txBody>
          <a:bodyPr/>
          <a:lstStyle>
            <a:lvl1pPr>
              <a:tabLst>
                <a:tab pos="6325396" algn="r"/>
              </a:tabLst>
              <a:defRPr/>
            </a:lvl1pPr>
            <a:lvl2pPr>
              <a:tabLst>
                <a:tab pos="6325396" algn="r"/>
              </a:tabLst>
              <a:defRPr/>
            </a:lvl2pPr>
            <a:lvl3pPr>
              <a:tabLst>
                <a:tab pos="6325396" algn="r"/>
              </a:tabLst>
              <a:defRPr/>
            </a:lvl3pPr>
            <a:lvl4pPr>
              <a:tabLst>
                <a:tab pos="6325396" algn="r"/>
              </a:tabLst>
              <a:defRPr/>
            </a:lvl4pPr>
            <a:lvl5pPr>
              <a:tabLst>
                <a:tab pos="6325396"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Content Placeholder 3"/>
          <p:cNvSpPr>
            <a:spLocks noGrp="1"/>
          </p:cNvSpPr>
          <p:nvPr>
            <p:ph sz="quarter" idx="16"/>
          </p:nvPr>
        </p:nvSpPr>
        <p:spPr>
          <a:xfrm>
            <a:off x="5450353" y="1700218"/>
            <a:ext cx="6240000" cy="4681537"/>
          </a:xfrm>
          <a:prstGeom prst="rect">
            <a:avLst/>
          </a:prstGeom>
        </p:spPr>
        <p:txBody>
          <a:bodyPr/>
          <a:lstStyle>
            <a:lvl1pPr>
              <a:tabLst>
                <a:tab pos="6325396" algn="r"/>
              </a:tabLst>
              <a:defRPr/>
            </a:lvl1pPr>
            <a:lvl2pPr>
              <a:tabLst>
                <a:tab pos="6325396" algn="r"/>
              </a:tabLst>
              <a:defRPr/>
            </a:lvl2pPr>
            <a:lvl3pPr>
              <a:tabLst>
                <a:tab pos="6325396" algn="r"/>
              </a:tabLst>
              <a:defRPr/>
            </a:lvl3pPr>
            <a:lvl4pPr>
              <a:tabLst>
                <a:tab pos="6325396" algn="r"/>
              </a:tabLst>
              <a:defRPr/>
            </a:lvl4pPr>
            <a:lvl5pPr>
              <a:tabLst>
                <a:tab pos="6325396"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13" hasCustomPrompt="1"/>
          </p:nvPr>
        </p:nvSpPr>
        <p:spPr>
          <a:xfrm>
            <a:off x="501652" y="651602"/>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3078349897"/>
      </p:ext>
    </p:extLst>
  </p:cSld>
  <p:clrMapOvr>
    <a:masterClrMapping/>
  </p:clrMapOvr>
  <p:transition>
    <p:fade/>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 content with quote ">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501652" y="317500"/>
            <a:ext cx="11188699" cy="334100"/>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6" name="Content Placeholder 3"/>
          <p:cNvSpPr>
            <a:spLocks noGrp="1"/>
          </p:cNvSpPr>
          <p:nvPr>
            <p:ph sz="quarter" idx="10"/>
          </p:nvPr>
        </p:nvSpPr>
        <p:spPr>
          <a:xfrm>
            <a:off x="7577884" y="1658684"/>
            <a:ext cx="4112468" cy="4723072"/>
          </a:xfrm>
          <a:prstGeom prst="rect">
            <a:avLst/>
          </a:prstGeom>
        </p:spPr>
        <p:txBody>
          <a:bodyPr>
            <a:noAutofit/>
          </a:bodyPr>
          <a:lstStyle>
            <a:lvl1pPr>
              <a:tabLst>
                <a:tab pos="6325396" algn="r"/>
              </a:tabLst>
              <a:defRPr sz="3019">
                <a:solidFill>
                  <a:schemeClr val="accent3"/>
                </a:solidFill>
              </a:defRPr>
            </a:lvl1pPr>
            <a:lvl2pPr>
              <a:tabLst>
                <a:tab pos="6325396" algn="r"/>
              </a:tabLst>
              <a:defRPr/>
            </a:lvl2pPr>
            <a:lvl3pPr>
              <a:tabLst>
                <a:tab pos="6325396" algn="r"/>
              </a:tabLst>
              <a:defRPr/>
            </a:lvl3pPr>
            <a:lvl4pPr>
              <a:tabLst>
                <a:tab pos="6325396" algn="r"/>
              </a:tabLst>
              <a:defRPr/>
            </a:lvl4pPr>
            <a:lvl5pPr>
              <a:tabLst>
                <a:tab pos="6325396" algn="r"/>
              </a:tabLst>
              <a:defRPr baseline="0"/>
            </a:lvl5pPr>
          </a:lstStyle>
          <a:p>
            <a:pPr lvl="0"/>
            <a:r>
              <a:rPr lang="en-US" noProof="0"/>
              <a:t>Edit Master text styles</a:t>
            </a:r>
          </a:p>
        </p:txBody>
      </p:sp>
      <p:sp>
        <p:nvSpPr>
          <p:cNvPr id="8" name="Content Placeholder 3"/>
          <p:cNvSpPr>
            <a:spLocks noGrp="1"/>
          </p:cNvSpPr>
          <p:nvPr>
            <p:ph sz="quarter" idx="16"/>
          </p:nvPr>
        </p:nvSpPr>
        <p:spPr>
          <a:xfrm>
            <a:off x="501651" y="1665291"/>
            <a:ext cx="6506348" cy="4716462"/>
          </a:xfrm>
          <a:prstGeom prst="rect">
            <a:avLst/>
          </a:prstGeom>
        </p:spPr>
        <p:txBody>
          <a:bodyPr/>
          <a:lstStyle>
            <a:lvl1pPr>
              <a:tabLst>
                <a:tab pos="6325396" algn="r"/>
              </a:tabLst>
              <a:defRPr/>
            </a:lvl1pPr>
            <a:lvl2pPr>
              <a:tabLst>
                <a:tab pos="6325396" algn="r"/>
              </a:tabLst>
              <a:defRPr/>
            </a:lvl2pPr>
            <a:lvl3pPr>
              <a:tabLst>
                <a:tab pos="6325396" algn="r"/>
              </a:tabLst>
              <a:defRPr/>
            </a:lvl3pPr>
            <a:lvl4pPr>
              <a:tabLst>
                <a:tab pos="6325396" algn="r"/>
              </a:tabLst>
              <a:defRPr/>
            </a:lvl4pPr>
            <a:lvl5pPr>
              <a:tabLst>
                <a:tab pos="6325396"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13" hasCustomPrompt="1"/>
          </p:nvPr>
        </p:nvSpPr>
        <p:spPr>
          <a:xfrm>
            <a:off x="501655" y="651602"/>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2982777876"/>
      </p:ext>
    </p:extLst>
  </p:cSld>
  <p:clrMapOvr>
    <a:masterClrMapping/>
  </p:clrMapOvr>
  <p:transition>
    <p:fade/>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eam profile">
    <p:spTree>
      <p:nvGrpSpPr>
        <p:cNvPr id="1" name=""/>
        <p:cNvGrpSpPr/>
        <p:nvPr/>
      </p:nvGrpSpPr>
      <p:grpSpPr>
        <a:xfrm>
          <a:off x="0" y="0"/>
          <a:ext cx="0" cy="0"/>
          <a:chOff x="0" y="0"/>
          <a:chExt cx="0" cy="0"/>
        </a:xfrm>
      </p:grpSpPr>
      <p:sp>
        <p:nvSpPr>
          <p:cNvPr id="2" name="Title 1"/>
          <p:cNvSpPr>
            <a:spLocks noGrp="1"/>
          </p:cNvSpPr>
          <p:nvPr>
            <p:ph type="title"/>
          </p:nvPr>
        </p:nvSpPr>
        <p:spPr>
          <a:xfrm>
            <a:off x="501652" y="317500"/>
            <a:ext cx="11188699" cy="334100"/>
          </a:xfrm>
        </p:spPr>
        <p:txBody>
          <a:bodyPr/>
          <a:lstStyle/>
          <a:p>
            <a:r>
              <a:rPr lang="en-US" noProof="0"/>
              <a:t>Click to edit Master title style</a:t>
            </a:r>
          </a:p>
        </p:txBody>
      </p:sp>
      <p:sp>
        <p:nvSpPr>
          <p:cNvPr id="4" name="Picture Placeholder 6"/>
          <p:cNvSpPr>
            <a:spLocks noGrp="1"/>
          </p:cNvSpPr>
          <p:nvPr>
            <p:ph type="pic" sz="quarter" idx="13"/>
          </p:nvPr>
        </p:nvSpPr>
        <p:spPr>
          <a:xfrm>
            <a:off x="501649" y="1700213"/>
            <a:ext cx="2712000" cy="1260000"/>
          </a:xfrm>
        </p:spPr>
        <p:txBody>
          <a:bodyPr lIns="0" tIns="0" rIns="0" bIns="0">
            <a:noAutofit/>
          </a:bodyPr>
          <a:lstStyle/>
          <a:p>
            <a:r>
              <a:rPr lang="en-US" noProof="0"/>
              <a:t>Click icon to add picture</a:t>
            </a:r>
          </a:p>
        </p:txBody>
      </p:sp>
      <p:sp>
        <p:nvSpPr>
          <p:cNvPr id="5" name="Picture Placeholder 6"/>
          <p:cNvSpPr>
            <a:spLocks noGrp="1"/>
          </p:cNvSpPr>
          <p:nvPr>
            <p:ph type="pic" sz="quarter" idx="14"/>
          </p:nvPr>
        </p:nvSpPr>
        <p:spPr>
          <a:xfrm>
            <a:off x="3327216" y="1700213"/>
            <a:ext cx="2712000" cy="1260000"/>
          </a:xfrm>
        </p:spPr>
        <p:txBody>
          <a:bodyPr lIns="0" tIns="0" rIns="0" bIns="0">
            <a:noAutofit/>
          </a:bodyPr>
          <a:lstStyle/>
          <a:p>
            <a:r>
              <a:rPr lang="en-US" noProof="0"/>
              <a:t>Click icon to add picture</a:t>
            </a:r>
          </a:p>
        </p:txBody>
      </p:sp>
      <p:sp>
        <p:nvSpPr>
          <p:cNvPr id="6" name="Picture Placeholder 6"/>
          <p:cNvSpPr>
            <a:spLocks noGrp="1"/>
          </p:cNvSpPr>
          <p:nvPr>
            <p:ph type="pic" sz="quarter" idx="15"/>
          </p:nvPr>
        </p:nvSpPr>
        <p:spPr>
          <a:xfrm>
            <a:off x="6152784" y="1700213"/>
            <a:ext cx="2712000" cy="1260000"/>
          </a:xfrm>
        </p:spPr>
        <p:txBody>
          <a:bodyPr lIns="0" tIns="0" rIns="0" bIns="0">
            <a:noAutofit/>
          </a:bodyPr>
          <a:lstStyle/>
          <a:p>
            <a:r>
              <a:rPr lang="en-US" noProof="0"/>
              <a:t>Click icon to add picture</a:t>
            </a:r>
          </a:p>
        </p:txBody>
      </p:sp>
      <p:sp>
        <p:nvSpPr>
          <p:cNvPr id="7" name="Picture Placeholder 6"/>
          <p:cNvSpPr>
            <a:spLocks noGrp="1"/>
          </p:cNvSpPr>
          <p:nvPr>
            <p:ph type="pic" sz="quarter" idx="16"/>
          </p:nvPr>
        </p:nvSpPr>
        <p:spPr>
          <a:xfrm>
            <a:off x="8978351" y="1700213"/>
            <a:ext cx="2712000" cy="1260000"/>
          </a:xfrm>
        </p:spPr>
        <p:txBody>
          <a:bodyPr lIns="0" tIns="0" rIns="0" bIns="0">
            <a:noAutofit/>
          </a:bodyPr>
          <a:lstStyle/>
          <a:p>
            <a:r>
              <a:rPr lang="en-US" noProof="0"/>
              <a:t>Click icon to add picture</a:t>
            </a:r>
          </a:p>
        </p:txBody>
      </p:sp>
      <p:sp>
        <p:nvSpPr>
          <p:cNvPr id="9" name="Text Placeholder 8"/>
          <p:cNvSpPr>
            <a:spLocks noGrp="1"/>
          </p:cNvSpPr>
          <p:nvPr>
            <p:ph type="body" sz="quarter" idx="17"/>
          </p:nvPr>
        </p:nvSpPr>
        <p:spPr>
          <a:xfrm>
            <a:off x="501652" y="3124200"/>
            <a:ext cx="2720468" cy="3257548"/>
          </a:xfrm>
        </p:spPr>
        <p:txBody>
          <a:bodyPr/>
          <a:lstStyle>
            <a:lvl1pPr>
              <a:defRPr b="1">
                <a:solidFill>
                  <a:schemeClr val="accent1"/>
                </a:solidFill>
              </a:defRPr>
            </a:lvl1pPr>
            <a:lvl2pPr>
              <a:spcAft>
                <a:spcPts val="0"/>
              </a:spcAft>
              <a:defRPr/>
            </a:lvl2pPr>
            <a:lvl3pPr marL="0" indent="0">
              <a:spcAft>
                <a:spcPts val="0"/>
              </a:spcAft>
              <a:buNone/>
              <a:defRPr/>
            </a:lvl3pPr>
            <a:lvl4pPr marL="221864" indent="-221864">
              <a:spcAft>
                <a:spcPts val="0"/>
              </a:spcAft>
              <a:buFont typeface="Arial" panose="020B0604020202020204" pitchFamily="34" charset="0"/>
              <a:buChar char="•"/>
              <a:defRPr/>
            </a:lvl4pPr>
            <a:lvl5pPr marL="448256" indent="-221864">
              <a:spcAft>
                <a:spcPts val="0"/>
              </a:spcAft>
              <a:defRPr baseline="0"/>
            </a:lvl5pPr>
            <a:lvl6pPr marL="448256" indent="-221864">
              <a:spcAft>
                <a:spcPts val="0"/>
              </a:spcAft>
              <a:buFont typeface="Verdana" panose="020B0604030504040204" pitchFamily="34" charset="0"/>
              <a:buChar char="−"/>
              <a:defRPr/>
            </a:lvl6pPr>
            <a:lvl7pPr marL="448256" indent="-221864">
              <a:spcAft>
                <a:spcPts val="0"/>
              </a:spcAft>
              <a:defRPr/>
            </a:lvl7pPr>
            <a:lvl8pPr marL="448256" indent="-221864">
              <a:spcAft>
                <a:spcPts val="0"/>
              </a:spcAft>
              <a:defRPr/>
            </a:lvl8pPr>
            <a:lvl9pPr marL="448256" indent="-221864">
              <a:spcAft>
                <a:spcPts val="0"/>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Text Placeholder 8"/>
          <p:cNvSpPr>
            <a:spLocks noGrp="1"/>
          </p:cNvSpPr>
          <p:nvPr>
            <p:ph type="body" sz="quarter" idx="18"/>
          </p:nvPr>
        </p:nvSpPr>
        <p:spPr>
          <a:xfrm>
            <a:off x="6149965" y="3120552"/>
            <a:ext cx="2712000" cy="3261199"/>
          </a:xfrm>
        </p:spPr>
        <p:txBody>
          <a:bodyPr/>
          <a:lstStyle>
            <a:lvl1pPr>
              <a:defRPr b="1">
                <a:solidFill>
                  <a:schemeClr val="accent1"/>
                </a:solidFill>
              </a:defRPr>
            </a:lvl1pPr>
            <a:lvl2pPr>
              <a:spcAft>
                <a:spcPts val="0"/>
              </a:spcAft>
              <a:defRPr/>
            </a:lvl2pPr>
            <a:lvl3pPr marL="0" indent="0">
              <a:spcAft>
                <a:spcPts val="0"/>
              </a:spcAft>
              <a:buNone/>
              <a:defRPr/>
            </a:lvl3pPr>
            <a:lvl4pPr marL="221864" indent="-221864">
              <a:spcAft>
                <a:spcPts val="0"/>
              </a:spcAft>
              <a:buFont typeface="Arial" panose="020B0604020202020204" pitchFamily="34" charset="0"/>
              <a:buChar char="•"/>
              <a:defRPr/>
            </a:lvl4pPr>
            <a:lvl5pPr marL="448256" indent="-221864">
              <a:spcAft>
                <a:spcPts val="0"/>
              </a:spcAft>
              <a:defRPr baseline="0"/>
            </a:lvl5pPr>
            <a:lvl6pPr marL="448256" indent="-221864">
              <a:spcAft>
                <a:spcPts val="0"/>
              </a:spcAft>
              <a:buFont typeface="Verdana" panose="020B0604030504040204" pitchFamily="34" charset="0"/>
              <a:buChar char="−"/>
              <a:defRPr/>
            </a:lvl6pPr>
            <a:lvl7pPr marL="448256" indent="-221864">
              <a:spcAft>
                <a:spcPts val="0"/>
              </a:spcAft>
              <a:defRPr/>
            </a:lvl7pPr>
            <a:lvl8pPr marL="448256" indent="-221864">
              <a:spcAft>
                <a:spcPts val="0"/>
              </a:spcAft>
              <a:defRPr/>
            </a:lvl8pPr>
            <a:lvl9pPr marL="448256" indent="-221864">
              <a:spcAft>
                <a:spcPts val="0"/>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Text Placeholder 8"/>
          <p:cNvSpPr>
            <a:spLocks noGrp="1"/>
          </p:cNvSpPr>
          <p:nvPr>
            <p:ph type="body" sz="quarter" idx="19"/>
          </p:nvPr>
        </p:nvSpPr>
        <p:spPr>
          <a:xfrm>
            <a:off x="3330040" y="3124204"/>
            <a:ext cx="2712000" cy="3257549"/>
          </a:xfrm>
        </p:spPr>
        <p:txBody>
          <a:bodyPr/>
          <a:lstStyle>
            <a:lvl1pPr>
              <a:defRPr b="1">
                <a:solidFill>
                  <a:schemeClr val="accent1"/>
                </a:solidFill>
              </a:defRPr>
            </a:lvl1pPr>
            <a:lvl2pPr>
              <a:spcAft>
                <a:spcPts val="0"/>
              </a:spcAft>
              <a:defRPr/>
            </a:lvl2pPr>
            <a:lvl3pPr marL="0" indent="0">
              <a:spcAft>
                <a:spcPts val="0"/>
              </a:spcAft>
              <a:buNone/>
              <a:defRPr/>
            </a:lvl3pPr>
            <a:lvl4pPr marL="221864" indent="-221864">
              <a:spcAft>
                <a:spcPts val="0"/>
              </a:spcAft>
              <a:buFont typeface="Arial" panose="020B0604020202020204" pitchFamily="34" charset="0"/>
              <a:buChar char="•"/>
              <a:defRPr/>
            </a:lvl4pPr>
            <a:lvl5pPr marL="448256" indent="-221864">
              <a:spcAft>
                <a:spcPts val="0"/>
              </a:spcAft>
              <a:defRPr baseline="0"/>
            </a:lvl5pPr>
            <a:lvl6pPr marL="448256" indent="-221864">
              <a:spcAft>
                <a:spcPts val="0"/>
              </a:spcAft>
              <a:buFont typeface="Verdana" panose="020B0604030504040204" pitchFamily="34" charset="0"/>
              <a:buChar char="−"/>
              <a:defRPr/>
            </a:lvl6pPr>
            <a:lvl7pPr marL="448256" indent="-221864">
              <a:spcAft>
                <a:spcPts val="0"/>
              </a:spcAft>
              <a:defRPr/>
            </a:lvl7pPr>
            <a:lvl8pPr marL="448256" indent="-221864">
              <a:spcAft>
                <a:spcPts val="0"/>
              </a:spcAft>
              <a:defRPr/>
            </a:lvl8pPr>
            <a:lvl9pPr marL="448256" indent="-221864">
              <a:spcAft>
                <a:spcPts val="0"/>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Text Placeholder 8"/>
          <p:cNvSpPr>
            <a:spLocks noGrp="1"/>
          </p:cNvSpPr>
          <p:nvPr>
            <p:ph type="body" sz="quarter" idx="20"/>
          </p:nvPr>
        </p:nvSpPr>
        <p:spPr>
          <a:xfrm>
            <a:off x="8993170" y="3108508"/>
            <a:ext cx="2697183" cy="3273240"/>
          </a:xfrm>
        </p:spPr>
        <p:txBody>
          <a:bodyPr/>
          <a:lstStyle>
            <a:lvl1pPr>
              <a:defRPr b="1">
                <a:solidFill>
                  <a:schemeClr val="accent1"/>
                </a:solidFill>
              </a:defRPr>
            </a:lvl1pPr>
            <a:lvl2pPr>
              <a:spcAft>
                <a:spcPts val="0"/>
              </a:spcAft>
              <a:defRPr/>
            </a:lvl2pPr>
            <a:lvl3pPr marL="0" indent="0">
              <a:spcAft>
                <a:spcPts val="0"/>
              </a:spcAft>
              <a:buNone/>
              <a:defRPr/>
            </a:lvl3pPr>
            <a:lvl4pPr marL="221864" indent="-221864">
              <a:spcAft>
                <a:spcPts val="0"/>
              </a:spcAft>
              <a:buFont typeface="Arial" panose="020B0604020202020204" pitchFamily="34" charset="0"/>
              <a:buChar char="•"/>
              <a:defRPr/>
            </a:lvl4pPr>
            <a:lvl5pPr marL="448256" indent="-221864">
              <a:spcAft>
                <a:spcPts val="0"/>
              </a:spcAft>
              <a:defRPr baseline="0"/>
            </a:lvl5pPr>
            <a:lvl6pPr marL="448256" indent="-221864">
              <a:spcAft>
                <a:spcPts val="0"/>
              </a:spcAft>
              <a:buFont typeface="Verdana" panose="020B0604030504040204" pitchFamily="34" charset="0"/>
              <a:buChar char="−"/>
              <a:defRPr/>
            </a:lvl6pPr>
            <a:lvl7pPr marL="448256" indent="-221864">
              <a:spcAft>
                <a:spcPts val="0"/>
              </a:spcAft>
              <a:defRPr/>
            </a:lvl7pPr>
            <a:lvl8pPr marL="448256" indent="-221864">
              <a:spcAft>
                <a:spcPts val="0"/>
              </a:spcAft>
              <a:defRPr/>
            </a:lvl8pPr>
            <a:lvl9pPr marL="448256" indent="-221864">
              <a:spcAft>
                <a:spcPts val="0"/>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Text Placeholder 8"/>
          <p:cNvSpPr>
            <a:spLocks noGrp="1"/>
          </p:cNvSpPr>
          <p:nvPr>
            <p:ph type="body" sz="quarter" idx="21" hasCustomPrompt="1"/>
          </p:nvPr>
        </p:nvSpPr>
        <p:spPr>
          <a:xfrm>
            <a:off x="501650" y="651602"/>
            <a:ext cx="11188701"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1679006806"/>
      </p:ext>
    </p:extLst>
  </p:cSld>
  <p:clrMapOvr>
    <a:masterClrMapping/>
  </p:clrMapOvr>
  <p:transition>
    <p:fade/>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eam profile 2">
    <p:spTree>
      <p:nvGrpSpPr>
        <p:cNvPr id="1" name=""/>
        <p:cNvGrpSpPr/>
        <p:nvPr/>
      </p:nvGrpSpPr>
      <p:grpSpPr>
        <a:xfrm>
          <a:off x="0" y="0"/>
          <a:ext cx="0" cy="0"/>
          <a:chOff x="0" y="0"/>
          <a:chExt cx="0" cy="0"/>
        </a:xfrm>
      </p:grpSpPr>
      <p:sp>
        <p:nvSpPr>
          <p:cNvPr id="2" name="Title 1"/>
          <p:cNvSpPr>
            <a:spLocks noGrp="1"/>
          </p:cNvSpPr>
          <p:nvPr>
            <p:ph type="title"/>
          </p:nvPr>
        </p:nvSpPr>
        <p:spPr>
          <a:xfrm>
            <a:off x="501652" y="317500"/>
            <a:ext cx="11188699" cy="334100"/>
          </a:xfrm>
        </p:spPr>
        <p:txBody>
          <a:bodyPr/>
          <a:lstStyle/>
          <a:p>
            <a:r>
              <a:rPr lang="en-US" noProof="0"/>
              <a:t>Click to edit Master title style</a:t>
            </a:r>
          </a:p>
        </p:txBody>
      </p:sp>
      <p:sp>
        <p:nvSpPr>
          <p:cNvPr id="4" name="Rectangle 3"/>
          <p:cNvSpPr/>
          <p:nvPr userDrawn="1"/>
        </p:nvSpPr>
        <p:spPr>
          <a:xfrm>
            <a:off x="504002" y="1707173"/>
            <a:ext cx="5496000"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5" name="Rectangle 4"/>
          <p:cNvSpPr/>
          <p:nvPr userDrawn="1"/>
        </p:nvSpPr>
        <p:spPr>
          <a:xfrm>
            <a:off x="6224086" y="1700217"/>
            <a:ext cx="5475066"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6" name="Rectangle 5"/>
          <p:cNvSpPr/>
          <p:nvPr userDrawn="1"/>
        </p:nvSpPr>
        <p:spPr>
          <a:xfrm>
            <a:off x="504002" y="4065173"/>
            <a:ext cx="5496000"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7" name="Rectangle 6"/>
          <p:cNvSpPr/>
          <p:nvPr userDrawn="1"/>
        </p:nvSpPr>
        <p:spPr>
          <a:xfrm>
            <a:off x="6224086" y="4065173"/>
            <a:ext cx="5475066"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8" name="Picture Placeholder 11"/>
          <p:cNvSpPr>
            <a:spLocks noGrp="1"/>
          </p:cNvSpPr>
          <p:nvPr>
            <p:ph type="pic" sz="quarter" idx="25"/>
          </p:nvPr>
        </p:nvSpPr>
        <p:spPr>
          <a:xfrm>
            <a:off x="504003" y="1880213"/>
            <a:ext cx="1968000" cy="1476000"/>
          </a:xfrm>
        </p:spPr>
        <p:txBody>
          <a:bodyPr/>
          <a:lstStyle>
            <a:lvl1pPr algn="ctr">
              <a:defRPr/>
            </a:lvl1pPr>
          </a:lstStyle>
          <a:p>
            <a:r>
              <a:rPr lang="en-US" noProof="0"/>
              <a:t>Click icon to add picture</a:t>
            </a:r>
          </a:p>
        </p:txBody>
      </p:sp>
      <p:sp>
        <p:nvSpPr>
          <p:cNvPr id="9" name="Picture Placeholder 11"/>
          <p:cNvSpPr>
            <a:spLocks noGrp="1"/>
          </p:cNvSpPr>
          <p:nvPr>
            <p:ph type="pic" sz="quarter" idx="27"/>
          </p:nvPr>
        </p:nvSpPr>
        <p:spPr>
          <a:xfrm>
            <a:off x="6224088" y="1880213"/>
            <a:ext cx="1968000" cy="1476000"/>
          </a:xfrm>
        </p:spPr>
        <p:txBody>
          <a:bodyPr/>
          <a:lstStyle>
            <a:lvl1pPr algn="ctr">
              <a:defRPr/>
            </a:lvl1pPr>
          </a:lstStyle>
          <a:p>
            <a:r>
              <a:rPr lang="en-US" noProof="0"/>
              <a:t>Click icon to add picture</a:t>
            </a:r>
          </a:p>
        </p:txBody>
      </p:sp>
      <p:sp>
        <p:nvSpPr>
          <p:cNvPr id="10" name="Picture Placeholder 11"/>
          <p:cNvSpPr>
            <a:spLocks noGrp="1"/>
          </p:cNvSpPr>
          <p:nvPr>
            <p:ph type="pic" sz="quarter" idx="29"/>
          </p:nvPr>
        </p:nvSpPr>
        <p:spPr>
          <a:xfrm>
            <a:off x="504003" y="4256213"/>
            <a:ext cx="1968000" cy="1476000"/>
          </a:xfrm>
        </p:spPr>
        <p:txBody>
          <a:bodyPr/>
          <a:lstStyle>
            <a:lvl1pPr algn="ctr">
              <a:defRPr/>
            </a:lvl1pPr>
          </a:lstStyle>
          <a:p>
            <a:r>
              <a:rPr lang="en-US" noProof="0"/>
              <a:t>Click icon to add picture</a:t>
            </a:r>
          </a:p>
        </p:txBody>
      </p:sp>
      <p:sp>
        <p:nvSpPr>
          <p:cNvPr id="11" name="Picture Placeholder 11"/>
          <p:cNvSpPr>
            <a:spLocks noGrp="1"/>
          </p:cNvSpPr>
          <p:nvPr>
            <p:ph type="pic" sz="quarter" idx="31"/>
          </p:nvPr>
        </p:nvSpPr>
        <p:spPr>
          <a:xfrm>
            <a:off x="6224088" y="4256213"/>
            <a:ext cx="1968000" cy="1476000"/>
          </a:xfrm>
        </p:spPr>
        <p:txBody>
          <a:bodyPr/>
          <a:lstStyle>
            <a:lvl1pPr algn="ctr">
              <a:defRPr/>
            </a:lvl1pPr>
          </a:lstStyle>
          <a:p>
            <a:r>
              <a:rPr lang="en-US" noProof="0"/>
              <a:t>Click icon to add picture</a:t>
            </a:r>
          </a:p>
        </p:txBody>
      </p:sp>
      <p:sp>
        <p:nvSpPr>
          <p:cNvPr id="13" name="Text Placeholder 12"/>
          <p:cNvSpPr>
            <a:spLocks noGrp="1"/>
          </p:cNvSpPr>
          <p:nvPr>
            <p:ph type="body" sz="quarter" idx="32"/>
          </p:nvPr>
        </p:nvSpPr>
        <p:spPr>
          <a:xfrm>
            <a:off x="2683484" y="1880213"/>
            <a:ext cx="3288000"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4" name="Text Placeholder 12"/>
          <p:cNvSpPr>
            <a:spLocks noGrp="1"/>
          </p:cNvSpPr>
          <p:nvPr>
            <p:ph type="body" sz="quarter" idx="33"/>
          </p:nvPr>
        </p:nvSpPr>
        <p:spPr>
          <a:xfrm>
            <a:off x="8396564" y="1880213"/>
            <a:ext cx="3302591"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5" name="Text Placeholder 12"/>
          <p:cNvSpPr>
            <a:spLocks noGrp="1"/>
          </p:cNvSpPr>
          <p:nvPr>
            <p:ph type="body" sz="quarter" idx="34"/>
          </p:nvPr>
        </p:nvSpPr>
        <p:spPr>
          <a:xfrm>
            <a:off x="2683484" y="4256213"/>
            <a:ext cx="3288000"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6" name="Text Placeholder 12"/>
          <p:cNvSpPr>
            <a:spLocks noGrp="1"/>
          </p:cNvSpPr>
          <p:nvPr>
            <p:ph type="body" sz="quarter" idx="35"/>
          </p:nvPr>
        </p:nvSpPr>
        <p:spPr>
          <a:xfrm>
            <a:off x="8396564" y="4256213"/>
            <a:ext cx="3302591"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7" name="Text Placeholder 8"/>
          <p:cNvSpPr>
            <a:spLocks noGrp="1"/>
          </p:cNvSpPr>
          <p:nvPr>
            <p:ph type="body" sz="quarter" idx="13" hasCustomPrompt="1"/>
          </p:nvPr>
        </p:nvSpPr>
        <p:spPr>
          <a:xfrm>
            <a:off x="501652" y="651602"/>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3717235315"/>
      </p:ext>
    </p:extLst>
  </p:cSld>
  <p:clrMapOvr>
    <a:masterClrMapping/>
  </p:clrMapOvr>
  <p:transition>
    <p:fade/>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3 picture and text">
    <p:spTree>
      <p:nvGrpSpPr>
        <p:cNvPr id="1" name=""/>
        <p:cNvGrpSpPr/>
        <p:nvPr/>
      </p:nvGrpSpPr>
      <p:grpSpPr>
        <a:xfrm>
          <a:off x="0" y="0"/>
          <a:ext cx="0" cy="0"/>
          <a:chOff x="0" y="0"/>
          <a:chExt cx="0" cy="0"/>
        </a:xfrm>
      </p:grpSpPr>
      <p:sp>
        <p:nvSpPr>
          <p:cNvPr id="2" name="Title 1"/>
          <p:cNvSpPr>
            <a:spLocks noGrp="1"/>
          </p:cNvSpPr>
          <p:nvPr>
            <p:ph type="title"/>
          </p:nvPr>
        </p:nvSpPr>
        <p:spPr>
          <a:xfrm>
            <a:off x="501652" y="317506"/>
            <a:ext cx="11188699" cy="334099"/>
          </a:xfrm>
        </p:spPr>
        <p:txBody>
          <a:bodyPr/>
          <a:lstStyle/>
          <a:p>
            <a:r>
              <a:rPr lang="en-US" noProof="0"/>
              <a:t>Click to edit Master title style</a:t>
            </a:r>
          </a:p>
        </p:txBody>
      </p:sp>
      <p:sp>
        <p:nvSpPr>
          <p:cNvPr id="4" name="Picture Placeholder 7"/>
          <p:cNvSpPr>
            <a:spLocks noGrp="1"/>
          </p:cNvSpPr>
          <p:nvPr>
            <p:ph type="pic" sz="quarter" idx="13"/>
          </p:nvPr>
        </p:nvSpPr>
        <p:spPr>
          <a:xfrm>
            <a:off x="501655" y="1700218"/>
            <a:ext cx="3695699" cy="1971675"/>
          </a:xfrm>
        </p:spPr>
        <p:txBody>
          <a:bodyPr/>
          <a:lstStyle/>
          <a:p>
            <a:r>
              <a:rPr lang="en-US" noProof="0"/>
              <a:t>Click icon to add picture</a:t>
            </a:r>
          </a:p>
        </p:txBody>
      </p:sp>
      <p:sp>
        <p:nvSpPr>
          <p:cNvPr id="5" name="Picture Placeholder 7"/>
          <p:cNvSpPr>
            <a:spLocks noGrp="1"/>
          </p:cNvSpPr>
          <p:nvPr>
            <p:ph type="pic" sz="quarter" idx="14"/>
          </p:nvPr>
        </p:nvSpPr>
        <p:spPr>
          <a:xfrm>
            <a:off x="8006398" y="1700218"/>
            <a:ext cx="3683953" cy="1971675"/>
          </a:xfrm>
        </p:spPr>
        <p:txBody>
          <a:bodyPr/>
          <a:lstStyle/>
          <a:p>
            <a:r>
              <a:rPr lang="en-US" noProof="0"/>
              <a:t>Click icon to add picture</a:t>
            </a:r>
          </a:p>
        </p:txBody>
      </p:sp>
      <p:sp>
        <p:nvSpPr>
          <p:cNvPr id="6" name="Picture Placeholder 7"/>
          <p:cNvSpPr>
            <a:spLocks noGrp="1"/>
          </p:cNvSpPr>
          <p:nvPr>
            <p:ph type="pic" sz="quarter" idx="15"/>
          </p:nvPr>
        </p:nvSpPr>
        <p:spPr>
          <a:xfrm>
            <a:off x="4273077" y="1700218"/>
            <a:ext cx="3657600" cy="1971675"/>
          </a:xfrm>
        </p:spPr>
        <p:txBody>
          <a:bodyPr/>
          <a:lstStyle/>
          <a:p>
            <a:r>
              <a:rPr lang="en-US" noProof="0"/>
              <a:t>Click icon to add picture</a:t>
            </a:r>
          </a:p>
        </p:txBody>
      </p:sp>
      <p:sp>
        <p:nvSpPr>
          <p:cNvPr id="9" name="Text Placeholder 18"/>
          <p:cNvSpPr>
            <a:spLocks noGrp="1"/>
          </p:cNvSpPr>
          <p:nvPr>
            <p:ph idx="1" hasCustomPrompt="1"/>
          </p:nvPr>
        </p:nvSpPr>
        <p:spPr>
          <a:xfrm>
            <a:off x="501650" y="3832225"/>
            <a:ext cx="3683950" cy="2095200"/>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Text Placeholder 18"/>
          <p:cNvSpPr>
            <a:spLocks noGrp="1"/>
          </p:cNvSpPr>
          <p:nvPr>
            <p:ph idx="16" hasCustomPrompt="1"/>
          </p:nvPr>
        </p:nvSpPr>
        <p:spPr>
          <a:xfrm>
            <a:off x="4267204" y="3832225"/>
            <a:ext cx="3657600" cy="2095200"/>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4" name="Text Placeholder 18"/>
          <p:cNvSpPr>
            <a:spLocks noGrp="1"/>
          </p:cNvSpPr>
          <p:nvPr>
            <p:ph idx="17" hasCustomPrompt="1"/>
          </p:nvPr>
        </p:nvSpPr>
        <p:spPr>
          <a:xfrm>
            <a:off x="8006398" y="3832225"/>
            <a:ext cx="3683953" cy="2095200"/>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Text Placeholder 8"/>
          <p:cNvSpPr>
            <a:spLocks noGrp="1"/>
          </p:cNvSpPr>
          <p:nvPr>
            <p:ph type="body" sz="quarter" idx="18" hasCustomPrompt="1"/>
          </p:nvPr>
        </p:nvSpPr>
        <p:spPr>
          <a:xfrm>
            <a:off x="501652" y="651602"/>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1743637391"/>
      </p:ext>
    </p:extLst>
  </p:cSld>
  <p:clrMapOvr>
    <a:masterClrMapping/>
  </p:clrMapOvr>
  <p:transition>
    <p:fade/>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itle &amp; subtitle">
    <p:spTree>
      <p:nvGrpSpPr>
        <p:cNvPr id="1" name=""/>
        <p:cNvGrpSpPr/>
        <p:nvPr/>
      </p:nvGrpSpPr>
      <p:grpSpPr>
        <a:xfrm>
          <a:off x="0" y="0"/>
          <a:ext cx="0" cy="0"/>
          <a:chOff x="0" y="0"/>
          <a:chExt cx="0" cy="0"/>
        </a:xfrm>
      </p:grpSpPr>
      <p:sp>
        <p:nvSpPr>
          <p:cNvPr id="10" name="Text Placeholder 8"/>
          <p:cNvSpPr>
            <a:spLocks noGrp="1"/>
          </p:cNvSpPr>
          <p:nvPr>
            <p:ph type="body" sz="quarter" idx="13" hasCustomPrompt="1"/>
          </p:nvPr>
        </p:nvSpPr>
        <p:spPr>
          <a:xfrm>
            <a:off x="501652" y="651602"/>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1" name="Title Placeholder 1"/>
          <p:cNvSpPr>
            <a:spLocks noGrp="1"/>
          </p:cNvSpPr>
          <p:nvPr>
            <p:ph type="title" hasCustomPrompt="1"/>
          </p:nvPr>
        </p:nvSpPr>
        <p:spPr>
          <a:xfrm>
            <a:off x="501652" y="317503"/>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Tree>
    <p:extLst>
      <p:ext uri="{BB962C8B-B14F-4D97-AF65-F5344CB8AC3E}">
        <p14:creationId xmlns:p14="http://schemas.microsoft.com/office/powerpoint/2010/main" val="1718091114"/>
      </p:ext>
    </p:extLst>
  </p:cSld>
  <p:clrMapOvr>
    <a:masterClrMapping/>
  </p:clrMapOvr>
  <p:transition>
    <p:fade/>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Qualifications 2 x 1">
    <p:spTree>
      <p:nvGrpSpPr>
        <p:cNvPr id="1" name=""/>
        <p:cNvGrpSpPr/>
        <p:nvPr/>
      </p:nvGrpSpPr>
      <p:grpSpPr>
        <a:xfrm>
          <a:off x="0" y="0"/>
          <a:ext cx="0" cy="0"/>
          <a:chOff x="0" y="0"/>
          <a:chExt cx="0" cy="0"/>
        </a:xfrm>
      </p:grpSpPr>
      <p:sp>
        <p:nvSpPr>
          <p:cNvPr id="8" name="Text Placeholder 8"/>
          <p:cNvSpPr>
            <a:spLocks noGrp="1"/>
          </p:cNvSpPr>
          <p:nvPr>
            <p:ph type="body" sz="quarter" idx="17"/>
          </p:nvPr>
        </p:nvSpPr>
        <p:spPr>
          <a:xfrm>
            <a:off x="504002" y="1857895"/>
            <a:ext cx="5466824"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21"/>
          </p:nvPr>
        </p:nvSpPr>
        <p:spPr>
          <a:xfrm>
            <a:off x="6246195" y="1857895"/>
            <a:ext cx="5444156"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Title 1"/>
          <p:cNvSpPr>
            <a:spLocks noGrp="1"/>
          </p:cNvSpPr>
          <p:nvPr>
            <p:ph type="title"/>
          </p:nvPr>
        </p:nvSpPr>
        <p:spPr>
          <a:xfrm>
            <a:off x="501652" y="317506"/>
            <a:ext cx="11188699" cy="334099"/>
          </a:xfrm>
        </p:spPr>
        <p:txBody>
          <a:bodyPr/>
          <a:lstStyle/>
          <a:p>
            <a:r>
              <a:rPr lang="en-US" noProof="0"/>
              <a:t>Click to edit Master title style</a:t>
            </a:r>
          </a:p>
        </p:txBody>
      </p:sp>
      <p:sp>
        <p:nvSpPr>
          <p:cNvPr id="4" name="Rectangle 3"/>
          <p:cNvSpPr/>
          <p:nvPr userDrawn="1"/>
        </p:nvSpPr>
        <p:spPr>
          <a:xfrm>
            <a:off x="504002" y="1705378"/>
            <a:ext cx="5466824"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a:solidFill>
                <a:prstClr val="white"/>
              </a:solidFill>
            </a:endParaRPr>
          </a:p>
        </p:txBody>
      </p:sp>
      <p:sp>
        <p:nvSpPr>
          <p:cNvPr id="5" name="Rectangle 4"/>
          <p:cNvSpPr/>
          <p:nvPr userDrawn="1"/>
        </p:nvSpPr>
        <p:spPr>
          <a:xfrm>
            <a:off x="6246195" y="1705378"/>
            <a:ext cx="5452958"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a:solidFill>
                <a:prstClr val="white"/>
              </a:solidFill>
            </a:endParaRPr>
          </a:p>
        </p:txBody>
      </p:sp>
      <p:sp>
        <p:nvSpPr>
          <p:cNvPr id="6" name="Picture Placeholder 29"/>
          <p:cNvSpPr>
            <a:spLocks noGrp="1"/>
          </p:cNvSpPr>
          <p:nvPr>
            <p:ph type="pic" sz="quarter" idx="19" hasCustomPrompt="1"/>
          </p:nvPr>
        </p:nvSpPr>
        <p:spPr>
          <a:xfrm>
            <a:off x="4769494" y="1863918"/>
            <a:ext cx="1210206" cy="549275"/>
          </a:xfrm>
        </p:spPr>
        <p:txBody>
          <a:bodyPr/>
          <a:lstStyle>
            <a:lvl1pPr marL="0" marR="0" indent="0" algn="l" defTabSz="1150072"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7" name="Picture Placeholder 29"/>
          <p:cNvSpPr>
            <a:spLocks noGrp="1"/>
          </p:cNvSpPr>
          <p:nvPr>
            <p:ph type="pic" sz="quarter" idx="20" hasCustomPrompt="1"/>
          </p:nvPr>
        </p:nvSpPr>
        <p:spPr>
          <a:xfrm>
            <a:off x="10424620" y="1857894"/>
            <a:ext cx="1244161" cy="549275"/>
          </a:xfrm>
        </p:spPr>
        <p:txBody>
          <a:bodyPr/>
          <a:lstStyle>
            <a:lvl1pPr marL="0" marR="0" indent="0" algn="l" defTabSz="1150072"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6" name="Text Placeholder 8"/>
          <p:cNvSpPr>
            <a:spLocks noGrp="1"/>
          </p:cNvSpPr>
          <p:nvPr>
            <p:ph type="body" sz="quarter" idx="13" hasCustomPrompt="1"/>
          </p:nvPr>
        </p:nvSpPr>
        <p:spPr>
          <a:xfrm>
            <a:off x="501652" y="651602"/>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1780282257"/>
      </p:ext>
    </p:extLst>
  </p:cSld>
  <p:clrMapOvr>
    <a:masterClrMapping/>
  </p:clrMapOvr>
  <p:transition>
    <p:fade/>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Qualifications 2 x 2">
    <p:spTree>
      <p:nvGrpSpPr>
        <p:cNvPr id="1" name=""/>
        <p:cNvGrpSpPr/>
        <p:nvPr/>
      </p:nvGrpSpPr>
      <p:grpSpPr>
        <a:xfrm>
          <a:off x="0" y="0"/>
          <a:ext cx="0" cy="0"/>
          <a:chOff x="0" y="0"/>
          <a:chExt cx="0" cy="0"/>
        </a:xfrm>
      </p:grpSpPr>
      <p:sp>
        <p:nvSpPr>
          <p:cNvPr id="8" name="Text Placeholder 8"/>
          <p:cNvSpPr>
            <a:spLocks noGrp="1"/>
          </p:cNvSpPr>
          <p:nvPr>
            <p:ph type="body" sz="quarter" idx="17"/>
          </p:nvPr>
        </p:nvSpPr>
        <p:spPr>
          <a:xfrm>
            <a:off x="504001" y="1857895"/>
            <a:ext cx="5468941"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21"/>
          </p:nvPr>
        </p:nvSpPr>
        <p:spPr>
          <a:xfrm>
            <a:off x="6246195" y="1857895"/>
            <a:ext cx="5454668"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Title 1"/>
          <p:cNvSpPr>
            <a:spLocks noGrp="1"/>
          </p:cNvSpPr>
          <p:nvPr>
            <p:ph type="title"/>
          </p:nvPr>
        </p:nvSpPr>
        <p:spPr>
          <a:xfrm>
            <a:off x="501652" y="317506"/>
            <a:ext cx="11188699" cy="334099"/>
          </a:xfrm>
        </p:spPr>
        <p:txBody>
          <a:bodyPr/>
          <a:lstStyle/>
          <a:p>
            <a:r>
              <a:rPr lang="en-US" noProof="0"/>
              <a:t>Click to edit Master title style</a:t>
            </a:r>
          </a:p>
        </p:txBody>
      </p:sp>
      <p:sp>
        <p:nvSpPr>
          <p:cNvPr id="4" name="Rectangle 3"/>
          <p:cNvSpPr/>
          <p:nvPr userDrawn="1"/>
        </p:nvSpPr>
        <p:spPr>
          <a:xfrm>
            <a:off x="504002" y="1705378"/>
            <a:ext cx="5466824"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a:solidFill>
                <a:prstClr val="white"/>
              </a:solidFill>
            </a:endParaRPr>
          </a:p>
        </p:txBody>
      </p:sp>
      <p:sp>
        <p:nvSpPr>
          <p:cNvPr id="5" name="Rectangle 4"/>
          <p:cNvSpPr/>
          <p:nvPr userDrawn="1"/>
        </p:nvSpPr>
        <p:spPr>
          <a:xfrm>
            <a:off x="6246195" y="1705378"/>
            <a:ext cx="5452958"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a:solidFill>
                <a:prstClr val="white"/>
              </a:solidFill>
            </a:endParaRPr>
          </a:p>
        </p:txBody>
      </p:sp>
      <p:sp>
        <p:nvSpPr>
          <p:cNvPr id="7" name="Picture Placeholder 29"/>
          <p:cNvSpPr>
            <a:spLocks noGrp="1"/>
          </p:cNvSpPr>
          <p:nvPr>
            <p:ph type="pic" sz="quarter" idx="20" hasCustomPrompt="1"/>
          </p:nvPr>
        </p:nvSpPr>
        <p:spPr>
          <a:xfrm>
            <a:off x="10424620" y="1857894"/>
            <a:ext cx="1244161" cy="549275"/>
          </a:xfrm>
        </p:spPr>
        <p:txBody>
          <a:bodyPr/>
          <a:lstStyle>
            <a:lvl1pPr marL="0" marR="0" indent="0" algn="l" defTabSz="1150072"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0" name="Text Placeholder 8"/>
          <p:cNvSpPr>
            <a:spLocks noGrp="1"/>
          </p:cNvSpPr>
          <p:nvPr>
            <p:ph type="body" sz="quarter" idx="22"/>
          </p:nvPr>
        </p:nvSpPr>
        <p:spPr>
          <a:xfrm>
            <a:off x="504002" y="4249685"/>
            <a:ext cx="5466824"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Text Placeholder 8"/>
          <p:cNvSpPr>
            <a:spLocks noGrp="1"/>
          </p:cNvSpPr>
          <p:nvPr>
            <p:ph type="body" sz="quarter" idx="23"/>
          </p:nvPr>
        </p:nvSpPr>
        <p:spPr>
          <a:xfrm>
            <a:off x="6246196" y="4249685"/>
            <a:ext cx="5452958"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Rectangle 11"/>
          <p:cNvSpPr/>
          <p:nvPr userDrawn="1"/>
        </p:nvSpPr>
        <p:spPr>
          <a:xfrm>
            <a:off x="504001" y="4103518"/>
            <a:ext cx="5468942"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a:solidFill>
                <a:prstClr val="white"/>
              </a:solidFill>
            </a:endParaRPr>
          </a:p>
        </p:txBody>
      </p:sp>
      <p:sp>
        <p:nvSpPr>
          <p:cNvPr id="13" name="Rectangle 12"/>
          <p:cNvSpPr/>
          <p:nvPr userDrawn="1"/>
        </p:nvSpPr>
        <p:spPr>
          <a:xfrm>
            <a:off x="6246196" y="4103518"/>
            <a:ext cx="5444716"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a:solidFill>
                <a:prstClr val="white"/>
              </a:solidFill>
            </a:endParaRPr>
          </a:p>
        </p:txBody>
      </p:sp>
      <p:sp>
        <p:nvSpPr>
          <p:cNvPr id="14" name="Picture Placeholder 29"/>
          <p:cNvSpPr>
            <a:spLocks noGrp="1"/>
          </p:cNvSpPr>
          <p:nvPr>
            <p:ph type="pic" sz="quarter" idx="24" hasCustomPrompt="1"/>
          </p:nvPr>
        </p:nvSpPr>
        <p:spPr>
          <a:xfrm>
            <a:off x="4754495" y="4255708"/>
            <a:ext cx="1239382" cy="549275"/>
          </a:xfrm>
        </p:spPr>
        <p:txBody>
          <a:bodyPr/>
          <a:lstStyle>
            <a:lvl1pPr marL="0" marR="0" indent="0" algn="l" defTabSz="1150072"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5" name="Picture Placeholder 29"/>
          <p:cNvSpPr>
            <a:spLocks noGrp="1"/>
          </p:cNvSpPr>
          <p:nvPr>
            <p:ph type="pic" sz="quarter" idx="25" hasCustomPrompt="1"/>
          </p:nvPr>
        </p:nvSpPr>
        <p:spPr>
          <a:xfrm>
            <a:off x="10424617" y="4249684"/>
            <a:ext cx="1244160" cy="549275"/>
          </a:xfrm>
        </p:spPr>
        <p:txBody>
          <a:bodyPr/>
          <a:lstStyle>
            <a:lvl1pPr marL="0" marR="0" indent="0" algn="l" defTabSz="1150072"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6" name="Text Placeholder 8"/>
          <p:cNvSpPr>
            <a:spLocks noGrp="1"/>
          </p:cNvSpPr>
          <p:nvPr>
            <p:ph type="body" sz="quarter" idx="13" hasCustomPrompt="1"/>
          </p:nvPr>
        </p:nvSpPr>
        <p:spPr>
          <a:xfrm>
            <a:off x="501651" y="651602"/>
            <a:ext cx="11197501"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7" name="Picture Placeholder 29"/>
          <p:cNvSpPr>
            <a:spLocks noGrp="1"/>
          </p:cNvSpPr>
          <p:nvPr>
            <p:ph type="pic" sz="quarter" idx="19" hasCustomPrompt="1"/>
          </p:nvPr>
        </p:nvSpPr>
        <p:spPr>
          <a:xfrm>
            <a:off x="4769494" y="1863918"/>
            <a:ext cx="1210206" cy="549275"/>
          </a:xfrm>
        </p:spPr>
        <p:txBody>
          <a:bodyPr/>
          <a:lstStyle>
            <a:lvl1pPr marL="0" marR="0" indent="0" algn="l" defTabSz="1150072"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Tree>
    <p:extLst>
      <p:ext uri="{BB962C8B-B14F-4D97-AF65-F5344CB8AC3E}">
        <p14:creationId xmlns:p14="http://schemas.microsoft.com/office/powerpoint/2010/main" val="1761692856"/>
      </p:ext>
    </p:extLst>
  </p:cSld>
  <p:clrMapOvr>
    <a:masterClrMapping/>
  </p:clrMapOvr>
  <p:transition>
    <p:fade/>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3 column green line">
    <p:spTree>
      <p:nvGrpSpPr>
        <p:cNvPr id="1" name=""/>
        <p:cNvGrpSpPr/>
        <p:nvPr/>
      </p:nvGrpSpPr>
      <p:grpSpPr>
        <a:xfrm>
          <a:off x="0" y="0"/>
          <a:ext cx="0" cy="0"/>
          <a:chOff x="0" y="0"/>
          <a:chExt cx="0" cy="0"/>
        </a:xfrm>
      </p:grpSpPr>
      <p:sp>
        <p:nvSpPr>
          <p:cNvPr id="2" name="Title 1"/>
          <p:cNvSpPr>
            <a:spLocks noGrp="1"/>
          </p:cNvSpPr>
          <p:nvPr>
            <p:ph type="title"/>
          </p:nvPr>
        </p:nvSpPr>
        <p:spPr>
          <a:xfrm>
            <a:off x="501652" y="317506"/>
            <a:ext cx="11188699" cy="334099"/>
          </a:xfrm>
        </p:spPr>
        <p:txBody>
          <a:bodyPr/>
          <a:lstStyle/>
          <a:p>
            <a:r>
              <a:rPr lang="en-US" noProof="0"/>
              <a:t>Click to edit Master title style</a:t>
            </a:r>
          </a:p>
        </p:txBody>
      </p:sp>
      <p:sp>
        <p:nvSpPr>
          <p:cNvPr id="4" name="Rectangle 3"/>
          <p:cNvSpPr/>
          <p:nvPr userDrawn="1"/>
        </p:nvSpPr>
        <p:spPr>
          <a:xfrm>
            <a:off x="4320002" y="1705968"/>
            <a:ext cx="3556117"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5" name="Rectangle 4"/>
          <p:cNvSpPr/>
          <p:nvPr userDrawn="1"/>
        </p:nvSpPr>
        <p:spPr>
          <a:xfrm>
            <a:off x="504001" y="1700214"/>
            <a:ext cx="3560000" cy="5975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6" name="Rectangle 5"/>
          <p:cNvSpPr/>
          <p:nvPr userDrawn="1"/>
        </p:nvSpPr>
        <p:spPr>
          <a:xfrm>
            <a:off x="8115300" y="1705968"/>
            <a:ext cx="3583853"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7" name="Text Placeholder 8"/>
          <p:cNvSpPr>
            <a:spLocks noGrp="1"/>
          </p:cNvSpPr>
          <p:nvPr>
            <p:ph type="body" sz="quarter" idx="17"/>
          </p:nvPr>
        </p:nvSpPr>
        <p:spPr>
          <a:xfrm>
            <a:off x="4325712" y="1851441"/>
            <a:ext cx="3540577" cy="3845754"/>
          </a:xfrm>
        </p:spPr>
        <p:txBody>
          <a:bodyPr/>
          <a:lstStyle>
            <a:lvl1pPr>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8"/>
          <p:cNvSpPr>
            <a:spLocks noGrp="1"/>
          </p:cNvSpPr>
          <p:nvPr>
            <p:ph type="body" sz="quarter" idx="18"/>
          </p:nvPr>
        </p:nvSpPr>
        <p:spPr>
          <a:xfrm>
            <a:off x="504001" y="1851441"/>
            <a:ext cx="3560000" cy="3845754"/>
          </a:xfrm>
        </p:spPr>
        <p:txBody>
          <a:bodyPr/>
          <a:lstStyle>
            <a:lvl1pPr>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19"/>
          </p:nvPr>
        </p:nvSpPr>
        <p:spPr>
          <a:xfrm>
            <a:off x="8128002" y="1851441"/>
            <a:ext cx="3571153" cy="3845754"/>
          </a:xfrm>
        </p:spPr>
        <p:txBody>
          <a:bodyPr/>
          <a:lstStyle>
            <a:lvl1pPr>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Text Placeholder 8"/>
          <p:cNvSpPr>
            <a:spLocks noGrp="1"/>
          </p:cNvSpPr>
          <p:nvPr>
            <p:ph type="body" sz="quarter" idx="13" hasCustomPrompt="1"/>
          </p:nvPr>
        </p:nvSpPr>
        <p:spPr>
          <a:xfrm>
            <a:off x="501652" y="651602"/>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2653555744"/>
      </p:ext>
    </p:extLst>
  </p:cSld>
  <p:clrMapOvr>
    <a:masterClrMapping/>
  </p:clrMapOvr>
  <p:transition>
    <p:fade/>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4 column icon">
    <p:spTree>
      <p:nvGrpSpPr>
        <p:cNvPr id="1" name=""/>
        <p:cNvGrpSpPr/>
        <p:nvPr/>
      </p:nvGrpSpPr>
      <p:grpSpPr>
        <a:xfrm>
          <a:off x="0" y="0"/>
          <a:ext cx="0" cy="0"/>
          <a:chOff x="0" y="0"/>
          <a:chExt cx="0" cy="0"/>
        </a:xfrm>
      </p:grpSpPr>
      <p:sp>
        <p:nvSpPr>
          <p:cNvPr id="2" name="Title 1"/>
          <p:cNvSpPr>
            <a:spLocks noGrp="1"/>
          </p:cNvSpPr>
          <p:nvPr>
            <p:ph type="title"/>
          </p:nvPr>
        </p:nvSpPr>
        <p:spPr>
          <a:xfrm>
            <a:off x="501652" y="317506"/>
            <a:ext cx="11188699" cy="334099"/>
          </a:xfrm>
        </p:spPr>
        <p:txBody>
          <a:bodyPr/>
          <a:lstStyle/>
          <a:p>
            <a:r>
              <a:rPr lang="en-US" noProof="0"/>
              <a:t>Click to edit Master title style</a:t>
            </a:r>
          </a:p>
        </p:txBody>
      </p:sp>
      <p:sp>
        <p:nvSpPr>
          <p:cNvPr id="4" name="Text Placeholder 8"/>
          <p:cNvSpPr>
            <a:spLocks noGrp="1"/>
          </p:cNvSpPr>
          <p:nvPr>
            <p:ph type="body" sz="quarter" idx="17"/>
          </p:nvPr>
        </p:nvSpPr>
        <p:spPr>
          <a:xfrm>
            <a:off x="504000" y="2556000"/>
            <a:ext cx="2592000" cy="3394800"/>
          </a:xfrm>
        </p:spPr>
        <p:txBody>
          <a:bodyPr/>
          <a:lstStyle>
            <a:lvl1pPr>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Text Placeholder 8"/>
          <p:cNvSpPr>
            <a:spLocks noGrp="1"/>
          </p:cNvSpPr>
          <p:nvPr>
            <p:ph type="body" sz="quarter" idx="18"/>
          </p:nvPr>
        </p:nvSpPr>
        <p:spPr>
          <a:xfrm>
            <a:off x="9096836" y="2556000"/>
            <a:ext cx="2592000" cy="3394800"/>
          </a:xfrm>
        </p:spPr>
        <p:txBody>
          <a:bodyPr/>
          <a:lstStyle>
            <a:lvl1pPr>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Text Placeholder 8"/>
          <p:cNvSpPr>
            <a:spLocks noGrp="1"/>
          </p:cNvSpPr>
          <p:nvPr>
            <p:ph type="body" sz="quarter" idx="19"/>
          </p:nvPr>
        </p:nvSpPr>
        <p:spPr>
          <a:xfrm>
            <a:off x="3368278" y="2556000"/>
            <a:ext cx="2592000" cy="3394800"/>
          </a:xfrm>
        </p:spPr>
        <p:txBody>
          <a:bodyPr/>
          <a:lstStyle>
            <a:lvl1pPr>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Text Placeholder 8"/>
          <p:cNvSpPr>
            <a:spLocks noGrp="1"/>
          </p:cNvSpPr>
          <p:nvPr>
            <p:ph type="body" sz="quarter" idx="20"/>
          </p:nvPr>
        </p:nvSpPr>
        <p:spPr>
          <a:xfrm>
            <a:off x="6232558" y="2556000"/>
            <a:ext cx="2592000" cy="3394800"/>
          </a:xfrm>
        </p:spPr>
        <p:txBody>
          <a:bodyPr/>
          <a:lstStyle>
            <a:lvl1pPr>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8"/>
          <p:cNvSpPr>
            <a:spLocks noGrp="1"/>
          </p:cNvSpPr>
          <p:nvPr>
            <p:ph type="body" sz="quarter" idx="13" hasCustomPrompt="1"/>
          </p:nvPr>
        </p:nvSpPr>
        <p:spPr>
          <a:xfrm>
            <a:off x="501652" y="651602"/>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2853554064"/>
      </p:ext>
    </p:extLst>
  </p:cSld>
  <p:clrMapOvr>
    <a:masterClrMapping/>
  </p:clrMapOvr>
  <p:transition>
    <p:fade/>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4 column icon green">
    <p:spTree>
      <p:nvGrpSpPr>
        <p:cNvPr id="1" name=""/>
        <p:cNvGrpSpPr/>
        <p:nvPr/>
      </p:nvGrpSpPr>
      <p:grpSpPr>
        <a:xfrm>
          <a:off x="0" y="0"/>
          <a:ext cx="0" cy="0"/>
          <a:chOff x="0" y="0"/>
          <a:chExt cx="0" cy="0"/>
        </a:xfrm>
      </p:grpSpPr>
      <p:sp>
        <p:nvSpPr>
          <p:cNvPr id="2" name="Title 1"/>
          <p:cNvSpPr>
            <a:spLocks noGrp="1"/>
          </p:cNvSpPr>
          <p:nvPr>
            <p:ph type="title"/>
          </p:nvPr>
        </p:nvSpPr>
        <p:spPr>
          <a:xfrm>
            <a:off x="501650" y="317504"/>
            <a:ext cx="11188701" cy="370193"/>
          </a:xfrm>
        </p:spPr>
        <p:txBody>
          <a:bodyPr/>
          <a:lstStyle>
            <a:lvl1pPr>
              <a:defRPr>
                <a:solidFill>
                  <a:schemeClr val="bg1"/>
                </a:solidFill>
              </a:defRPr>
            </a:lvl1pPr>
          </a:lstStyle>
          <a:p>
            <a:r>
              <a:rPr lang="en-US" noProof="0"/>
              <a:t>Click to edit Master title style</a:t>
            </a:r>
          </a:p>
        </p:txBody>
      </p:sp>
      <p:sp>
        <p:nvSpPr>
          <p:cNvPr id="4" name="Text Placeholder 8"/>
          <p:cNvSpPr>
            <a:spLocks noGrp="1"/>
          </p:cNvSpPr>
          <p:nvPr>
            <p:ph type="body" sz="quarter" idx="17"/>
          </p:nvPr>
        </p:nvSpPr>
        <p:spPr>
          <a:xfrm>
            <a:off x="504000"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64" indent="-221864">
              <a:spcAft>
                <a:spcPts val="1258"/>
              </a:spcAft>
              <a:buFont typeface="Arial" panose="020B0604020202020204" pitchFamily="34" charset="0"/>
              <a:buChar char="•"/>
              <a:defRPr>
                <a:solidFill>
                  <a:schemeClr val="bg1"/>
                </a:solidFill>
              </a:defRPr>
            </a:lvl4pPr>
            <a:lvl5pPr marL="448256" indent="-221864">
              <a:spcAft>
                <a:spcPts val="1258"/>
              </a:spcAft>
              <a:defRPr baseline="0">
                <a:solidFill>
                  <a:schemeClr val="bg1"/>
                </a:solidFill>
              </a:defRPr>
            </a:lvl5pPr>
            <a:lvl6pPr marL="448256" indent="-221864">
              <a:spcAft>
                <a:spcPts val="1258"/>
              </a:spcAft>
              <a:buFont typeface="Verdana" panose="020B0604030504040204" pitchFamily="34" charset="0"/>
              <a:buChar char="−"/>
              <a:defRPr>
                <a:solidFill>
                  <a:schemeClr val="bg1"/>
                </a:solidFill>
              </a:defRPr>
            </a:lvl6pPr>
            <a:lvl7pPr marL="448256" indent="-221864">
              <a:spcAft>
                <a:spcPts val="1258"/>
              </a:spcAft>
              <a:defRPr>
                <a:solidFill>
                  <a:schemeClr val="bg1"/>
                </a:solidFill>
              </a:defRPr>
            </a:lvl7pPr>
            <a:lvl8pPr marL="448256" indent="-221864">
              <a:spcAft>
                <a:spcPts val="1258"/>
              </a:spcAft>
              <a:defRPr>
                <a:solidFill>
                  <a:schemeClr val="bg1"/>
                </a:solidFill>
              </a:defRPr>
            </a:lvl8pPr>
            <a:lvl9pPr marL="448256" indent="-221864">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Text Placeholder 8"/>
          <p:cNvSpPr>
            <a:spLocks noGrp="1"/>
          </p:cNvSpPr>
          <p:nvPr>
            <p:ph type="body" sz="quarter" idx="18"/>
          </p:nvPr>
        </p:nvSpPr>
        <p:spPr>
          <a:xfrm>
            <a:off x="9100752"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64" indent="-221864">
              <a:spcAft>
                <a:spcPts val="1258"/>
              </a:spcAft>
              <a:buFont typeface="Arial" panose="020B0604020202020204" pitchFamily="34" charset="0"/>
              <a:buChar char="•"/>
              <a:defRPr>
                <a:solidFill>
                  <a:schemeClr val="bg1"/>
                </a:solidFill>
              </a:defRPr>
            </a:lvl4pPr>
            <a:lvl5pPr marL="448256" indent="-221864">
              <a:spcAft>
                <a:spcPts val="1258"/>
              </a:spcAft>
              <a:defRPr baseline="0">
                <a:solidFill>
                  <a:schemeClr val="bg1"/>
                </a:solidFill>
              </a:defRPr>
            </a:lvl5pPr>
            <a:lvl6pPr marL="448256" indent="-221864">
              <a:spcAft>
                <a:spcPts val="1258"/>
              </a:spcAft>
              <a:buFont typeface="Verdana" panose="020B0604030504040204" pitchFamily="34" charset="0"/>
              <a:buChar char="−"/>
              <a:defRPr>
                <a:solidFill>
                  <a:schemeClr val="bg1"/>
                </a:solidFill>
              </a:defRPr>
            </a:lvl6pPr>
            <a:lvl7pPr marL="448256" indent="-221864">
              <a:spcAft>
                <a:spcPts val="1258"/>
              </a:spcAft>
              <a:defRPr>
                <a:solidFill>
                  <a:schemeClr val="bg1"/>
                </a:solidFill>
              </a:defRPr>
            </a:lvl7pPr>
            <a:lvl8pPr marL="448256" indent="-221864">
              <a:spcAft>
                <a:spcPts val="1258"/>
              </a:spcAft>
              <a:defRPr>
                <a:solidFill>
                  <a:schemeClr val="bg1"/>
                </a:solidFill>
              </a:defRPr>
            </a:lvl8pPr>
            <a:lvl9pPr marL="448256" indent="-221864">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Text Placeholder 8"/>
          <p:cNvSpPr>
            <a:spLocks noGrp="1"/>
          </p:cNvSpPr>
          <p:nvPr>
            <p:ph type="body" sz="quarter" idx="19"/>
          </p:nvPr>
        </p:nvSpPr>
        <p:spPr>
          <a:xfrm>
            <a:off x="3369584"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64" indent="-221864">
              <a:spcAft>
                <a:spcPts val="1258"/>
              </a:spcAft>
              <a:buFont typeface="Arial" panose="020B0604020202020204" pitchFamily="34" charset="0"/>
              <a:buChar char="•"/>
              <a:defRPr>
                <a:solidFill>
                  <a:schemeClr val="bg1"/>
                </a:solidFill>
              </a:defRPr>
            </a:lvl4pPr>
            <a:lvl5pPr marL="448256" indent="-221864">
              <a:spcAft>
                <a:spcPts val="1258"/>
              </a:spcAft>
              <a:defRPr baseline="0">
                <a:solidFill>
                  <a:schemeClr val="bg1"/>
                </a:solidFill>
              </a:defRPr>
            </a:lvl5pPr>
            <a:lvl6pPr marL="448256" indent="-221864">
              <a:spcAft>
                <a:spcPts val="1258"/>
              </a:spcAft>
              <a:buFont typeface="Verdana" panose="020B0604030504040204" pitchFamily="34" charset="0"/>
              <a:buChar char="−"/>
              <a:defRPr>
                <a:solidFill>
                  <a:schemeClr val="bg1"/>
                </a:solidFill>
              </a:defRPr>
            </a:lvl6pPr>
            <a:lvl7pPr marL="448256" indent="-221864">
              <a:spcAft>
                <a:spcPts val="1258"/>
              </a:spcAft>
              <a:defRPr>
                <a:solidFill>
                  <a:schemeClr val="bg1"/>
                </a:solidFill>
              </a:defRPr>
            </a:lvl7pPr>
            <a:lvl8pPr marL="448256" indent="-221864">
              <a:spcAft>
                <a:spcPts val="1258"/>
              </a:spcAft>
              <a:defRPr>
                <a:solidFill>
                  <a:schemeClr val="bg1"/>
                </a:solidFill>
              </a:defRPr>
            </a:lvl8pPr>
            <a:lvl9pPr marL="448256" indent="-221864">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Text Placeholder 8"/>
          <p:cNvSpPr>
            <a:spLocks noGrp="1"/>
          </p:cNvSpPr>
          <p:nvPr>
            <p:ph type="body" sz="quarter" idx="20"/>
          </p:nvPr>
        </p:nvSpPr>
        <p:spPr>
          <a:xfrm>
            <a:off x="6235168"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64" indent="-221864">
              <a:spcAft>
                <a:spcPts val="1258"/>
              </a:spcAft>
              <a:buFont typeface="Arial" panose="020B0604020202020204" pitchFamily="34" charset="0"/>
              <a:buChar char="•"/>
              <a:defRPr>
                <a:solidFill>
                  <a:schemeClr val="bg1"/>
                </a:solidFill>
              </a:defRPr>
            </a:lvl4pPr>
            <a:lvl5pPr marL="448256" indent="-221864">
              <a:spcAft>
                <a:spcPts val="1258"/>
              </a:spcAft>
              <a:defRPr baseline="0">
                <a:solidFill>
                  <a:schemeClr val="bg1"/>
                </a:solidFill>
              </a:defRPr>
            </a:lvl5pPr>
            <a:lvl6pPr marL="448256" indent="-221864">
              <a:spcAft>
                <a:spcPts val="1258"/>
              </a:spcAft>
              <a:buFont typeface="Verdana" panose="020B0604030504040204" pitchFamily="34" charset="0"/>
              <a:buChar char="−"/>
              <a:defRPr>
                <a:solidFill>
                  <a:schemeClr val="bg1"/>
                </a:solidFill>
              </a:defRPr>
            </a:lvl6pPr>
            <a:lvl7pPr marL="448256" indent="-221864">
              <a:spcAft>
                <a:spcPts val="1258"/>
              </a:spcAft>
              <a:defRPr>
                <a:solidFill>
                  <a:schemeClr val="bg1"/>
                </a:solidFill>
              </a:defRPr>
            </a:lvl7pPr>
            <a:lvl8pPr marL="448256" indent="-221864">
              <a:spcAft>
                <a:spcPts val="1258"/>
              </a:spcAft>
              <a:defRPr>
                <a:solidFill>
                  <a:schemeClr val="bg1"/>
                </a:solidFill>
              </a:defRPr>
            </a:lvl8pPr>
            <a:lvl9pPr marL="448256" indent="-221864">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8"/>
          <p:cNvSpPr>
            <a:spLocks noGrp="1"/>
          </p:cNvSpPr>
          <p:nvPr>
            <p:ph type="body" sz="quarter" idx="13" hasCustomPrompt="1"/>
          </p:nvPr>
        </p:nvSpPr>
        <p:spPr>
          <a:xfrm>
            <a:off x="501650" y="687694"/>
            <a:ext cx="11188701" cy="757255"/>
          </a:xfrm>
          <a:prstGeom prst="rect">
            <a:avLst/>
          </a:prstGeom>
        </p:spPr>
        <p:txBody>
          <a:bodyPr lIns="0" tIns="0" rIns="0" bIns="0">
            <a:noAutofit/>
          </a:bodyPr>
          <a:lstStyle>
            <a:lvl1pPr marL="0" indent="0">
              <a:buNone/>
              <a:defRPr sz="2282" b="0">
                <a:solidFill>
                  <a:schemeClr val="bg1"/>
                </a:solidFill>
              </a:defRPr>
            </a:lvl1pPr>
          </a:lstStyle>
          <a:p>
            <a:pPr lvl="0"/>
            <a:r>
              <a:rPr lang="en-US" noProof="0"/>
              <a:t>Click to add subtitle</a:t>
            </a:r>
          </a:p>
        </p:txBody>
      </p:sp>
      <p:sp>
        <p:nvSpPr>
          <p:cNvPr id="13" name="TextBox 12"/>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4" name="TextBox 13"/>
          <p:cNvSpPr txBox="1"/>
          <p:nvPr userDrawn="1"/>
        </p:nvSpPr>
        <p:spPr>
          <a:xfrm>
            <a:off x="501653"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5" name="TextBox 14"/>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647446576"/>
      </p:ext>
    </p:extLst>
  </p:cSld>
  <p:clrMapOvr>
    <a:masterClrMapping/>
  </p:clrMapOvr>
  <p:transition>
    <p:fade/>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itle, subtitle, 1 column text with charts">
    <p:spTree>
      <p:nvGrpSpPr>
        <p:cNvPr id="1" name=""/>
        <p:cNvGrpSpPr/>
        <p:nvPr/>
      </p:nvGrpSpPr>
      <p:grpSpPr>
        <a:xfrm>
          <a:off x="0" y="0"/>
          <a:ext cx="0" cy="0"/>
          <a:chOff x="0" y="0"/>
          <a:chExt cx="0" cy="0"/>
        </a:xfrm>
      </p:grpSpPr>
      <p:sp>
        <p:nvSpPr>
          <p:cNvPr id="8" name="Text Placeholder 8"/>
          <p:cNvSpPr>
            <a:spLocks noGrp="1"/>
          </p:cNvSpPr>
          <p:nvPr>
            <p:ph type="body" sz="quarter" idx="13" hasCustomPrompt="1"/>
          </p:nvPr>
        </p:nvSpPr>
        <p:spPr>
          <a:xfrm>
            <a:off x="501652" y="651602"/>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9" name="Title Placeholder 1"/>
          <p:cNvSpPr>
            <a:spLocks noGrp="1"/>
          </p:cNvSpPr>
          <p:nvPr>
            <p:ph type="title" hasCustomPrompt="1"/>
          </p:nvPr>
        </p:nvSpPr>
        <p:spPr>
          <a:xfrm>
            <a:off x="501652" y="317503"/>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10" name="Text Placeholder 18"/>
          <p:cNvSpPr>
            <a:spLocks noGrp="1"/>
          </p:cNvSpPr>
          <p:nvPr>
            <p:ph idx="1"/>
          </p:nvPr>
        </p:nvSpPr>
        <p:spPr>
          <a:xfrm>
            <a:off x="501653" y="1665293"/>
            <a:ext cx="5594351" cy="4716463"/>
          </a:xfrm>
          <a:prstGeom prst="rect">
            <a:avLst/>
          </a:prstGeom>
        </p:spPr>
        <p:txBody>
          <a:bodyPr vert="horz" lIns="0" tIns="0" rIns="0" bIns="0" rtlCol="0">
            <a:noAutofit/>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252196555"/>
      </p:ext>
    </p:extLst>
  </p:cSld>
  <p:clrMapOvr>
    <a:masterClrMapping/>
  </p:clrMapOvr>
  <p:transition>
    <p:fade/>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a:t>Click to edit Master title style</a:t>
            </a:r>
          </a:p>
        </p:txBody>
      </p:sp>
    </p:spTree>
    <p:extLst>
      <p:ext uri="{BB962C8B-B14F-4D97-AF65-F5344CB8AC3E}">
        <p14:creationId xmlns:p14="http://schemas.microsoft.com/office/powerpoint/2010/main" val="852422201"/>
      </p:ext>
    </p:extLst>
  </p:cSld>
  <p:clrMapOvr>
    <a:masterClrMapping/>
  </p:clrMapOvr>
  <p:transition>
    <p:fade/>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756173650"/>
      </p:ext>
    </p:extLst>
  </p:cSld>
  <p:clrMapOvr>
    <a:masterClrMapping/>
  </p:clrMapOvr>
  <p:transition>
    <p:fade/>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2_Title Slide - Black">
    <p:spTree>
      <p:nvGrpSpPr>
        <p:cNvPr id="1" name=""/>
        <p:cNvGrpSpPr/>
        <p:nvPr/>
      </p:nvGrpSpPr>
      <p:grpSpPr>
        <a:xfrm>
          <a:off x="0" y="0"/>
          <a:ext cx="0" cy="0"/>
          <a:chOff x="0" y="0"/>
          <a:chExt cx="0" cy="0"/>
        </a:xfrm>
      </p:grpSpPr>
      <p:sp>
        <p:nvSpPr>
          <p:cNvPr id="9" name="Picture Placeholder 8"/>
          <p:cNvSpPr>
            <a:spLocks noGrp="1" noChangeAspect="1"/>
          </p:cNvSpPr>
          <p:nvPr>
            <p:ph type="pic" sz="quarter" idx="11"/>
          </p:nvPr>
        </p:nvSpPr>
        <p:spPr>
          <a:xfrm>
            <a:off x="2505856" y="727200"/>
            <a:ext cx="7200000" cy="5400000"/>
          </a:xfrm>
          <a:prstGeom prst="rect">
            <a:avLst/>
          </a:prstGeom>
        </p:spPr>
        <p:txBody>
          <a:bodyPr/>
          <a:lstStyle>
            <a:lvl1pPr>
              <a:defRPr>
                <a:solidFill>
                  <a:schemeClr val="bg1"/>
                </a:solidFill>
              </a:defRPr>
            </a:lvl1pPr>
          </a:lstStyle>
          <a:p>
            <a:r>
              <a:rPr lang="en-US" noProof="0"/>
              <a:t>Click icon to add picture</a:t>
            </a:r>
          </a:p>
        </p:txBody>
      </p:sp>
      <p:sp>
        <p:nvSpPr>
          <p:cNvPr id="3" name="Subtitle 2"/>
          <p:cNvSpPr>
            <a:spLocks noGrp="1"/>
          </p:cNvSpPr>
          <p:nvPr>
            <p:ph type="subTitle" idx="1" hasCustomPrompt="1"/>
          </p:nvPr>
        </p:nvSpPr>
        <p:spPr bwMode="gray">
          <a:xfrm>
            <a:off x="503990" y="5864229"/>
            <a:ext cx="5592010" cy="505645"/>
          </a:xfrm>
          <a:prstGeom prst="rect">
            <a:avLst/>
          </a:prstGeom>
        </p:spPr>
        <p:txBody>
          <a:bodyPr lIns="0" tIns="0" rIns="0" bIns="0" anchor="b" anchorCtr="0">
            <a:noAutofit/>
          </a:bodyPr>
          <a:lstStyle>
            <a:lvl1pPr marL="0" indent="0" algn="l">
              <a:lnSpc>
                <a:spcPct val="100000"/>
              </a:lnSpc>
              <a:spcAft>
                <a:spcPts val="0"/>
              </a:spcAft>
              <a:buNone/>
              <a:defRPr sz="2264" b="1">
                <a:solidFill>
                  <a:schemeClr val="bg1"/>
                </a:solidFill>
              </a:defRPr>
            </a:lvl1pPr>
            <a:lvl2pPr marL="0" marR="0" indent="0" algn="l" defTabSz="1150072" rtl="0" eaLnBrk="1" fontAlgn="auto" latinLnBrk="0" hangingPunct="1">
              <a:lnSpc>
                <a:spcPct val="100000"/>
              </a:lnSpc>
              <a:spcBef>
                <a:spcPts val="0"/>
              </a:spcBef>
              <a:spcAft>
                <a:spcPts val="0"/>
              </a:spcAft>
              <a:buClrTx/>
              <a:buSzPct val="100000"/>
              <a:buFont typeface="Arial"/>
              <a:buNone/>
              <a:tabLst/>
              <a:defRPr sz="2012" b="0">
                <a:solidFill>
                  <a:schemeClr val="bg1"/>
                </a:solidFill>
              </a:defRPr>
            </a:lvl2pPr>
            <a:lvl3pPr marL="0" indent="0" algn="l">
              <a:spcAft>
                <a:spcPts val="0"/>
              </a:spcAft>
              <a:buNone/>
              <a:defRPr sz="2012">
                <a:solidFill>
                  <a:schemeClr val="bg1"/>
                </a:solidFill>
              </a:defRPr>
            </a:lvl3pPr>
            <a:lvl4pPr marL="1725107" indent="0" algn="ctr">
              <a:buNone/>
              <a:defRPr sz="2012"/>
            </a:lvl4pPr>
            <a:lvl5pPr marL="2300144" indent="0" algn="ctr">
              <a:buNone/>
              <a:defRPr sz="2012"/>
            </a:lvl5pPr>
            <a:lvl6pPr marL="2875180" indent="0" algn="ctr">
              <a:buNone/>
              <a:defRPr sz="2012"/>
            </a:lvl6pPr>
            <a:lvl7pPr marL="3450216" indent="0" algn="ctr">
              <a:buNone/>
              <a:defRPr sz="2012"/>
            </a:lvl7pPr>
            <a:lvl8pPr marL="4025252" indent="0" algn="ctr">
              <a:buNone/>
              <a:defRPr sz="2012"/>
            </a:lvl8pPr>
            <a:lvl9pPr marL="4600286" indent="0" algn="ctr">
              <a:buNone/>
              <a:defRPr sz="2012"/>
            </a:lvl9pPr>
          </a:lstStyle>
          <a:p>
            <a:r>
              <a:rPr lang="en-US" noProof="0"/>
              <a:t>Click to edit Master title style</a:t>
            </a:r>
          </a:p>
          <a:p>
            <a:pPr marL="0" marR="0" lvl="1" indent="0" algn="l" defTabSz="1150072" rtl="0" eaLnBrk="1" fontAlgn="auto" latinLnBrk="0" hangingPunct="1">
              <a:lnSpc>
                <a:spcPct val="100000"/>
              </a:lnSpc>
              <a:spcBef>
                <a:spcPts val="0"/>
              </a:spcBef>
              <a:spcAft>
                <a:spcPts val="0"/>
              </a:spcAft>
              <a:buClrTx/>
              <a:buSzPct val="100000"/>
              <a:buFont typeface="Arial"/>
              <a:buNone/>
              <a:tabLst/>
              <a:defRPr/>
            </a:pPr>
            <a:r>
              <a:rPr lang="en-US" noProof="0"/>
              <a:t>Click to edit Master subtitle style</a:t>
            </a:r>
          </a:p>
        </p:txBody>
      </p:sp>
      <p:sp>
        <p:nvSpPr>
          <p:cNvPr id="5" name="Text Placeholder 4"/>
          <p:cNvSpPr>
            <a:spLocks noGrp="1"/>
          </p:cNvSpPr>
          <p:nvPr>
            <p:ph type="body" sz="quarter" idx="10"/>
          </p:nvPr>
        </p:nvSpPr>
        <p:spPr>
          <a:xfrm>
            <a:off x="501654" y="6381750"/>
            <a:ext cx="5594349" cy="298450"/>
          </a:xfrm>
          <a:prstGeom prst="rect">
            <a:avLst/>
          </a:prstGeom>
        </p:spPr>
        <p:txBody>
          <a:bodyPr/>
          <a:lstStyle>
            <a:lvl1pPr>
              <a:spcAft>
                <a:spcPts val="0"/>
              </a:spcAft>
              <a:defRPr sz="1258">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22" name="Group 21"/>
          <p:cNvGrpSpPr>
            <a:grpSpLocks noChangeAspect="1"/>
          </p:cNvGrpSpPr>
          <p:nvPr userDrawn="1"/>
        </p:nvGrpSpPr>
        <p:grpSpPr>
          <a:xfrm>
            <a:off x="501652" y="378003"/>
            <a:ext cx="2159032" cy="326302"/>
            <a:chOff x="398463" y="404813"/>
            <a:chExt cx="1627187" cy="307976"/>
          </a:xfrm>
          <a:solidFill>
            <a:schemeClr val="bg1"/>
          </a:solidFill>
        </p:grpSpPr>
        <p:sp>
          <p:nvSpPr>
            <p:cNvPr id="23"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4"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5"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6"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7"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8"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9"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30"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31"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32"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grpSp>
    </p:spTree>
    <p:extLst>
      <p:ext uri="{BB962C8B-B14F-4D97-AF65-F5344CB8AC3E}">
        <p14:creationId xmlns:p14="http://schemas.microsoft.com/office/powerpoint/2010/main" val="357721786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_Title Slide - White">
    <p:spTree>
      <p:nvGrpSpPr>
        <p:cNvPr id="1" name=""/>
        <p:cNvGrpSpPr/>
        <p:nvPr/>
      </p:nvGrpSpPr>
      <p:grpSpPr>
        <a:xfrm>
          <a:off x="0" y="0"/>
          <a:ext cx="0" cy="0"/>
          <a:chOff x="0" y="0"/>
          <a:chExt cx="0" cy="0"/>
        </a:xfrm>
      </p:grpSpPr>
      <p:sp>
        <p:nvSpPr>
          <p:cNvPr id="9" name="Picture Placeholder 8"/>
          <p:cNvSpPr>
            <a:spLocks noGrp="1" noChangeAspect="1"/>
          </p:cNvSpPr>
          <p:nvPr>
            <p:ph type="pic" sz="quarter" idx="11"/>
          </p:nvPr>
        </p:nvSpPr>
        <p:spPr>
          <a:xfrm>
            <a:off x="2489814" y="727200"/>
            <a:ext cx="7200000" cy="5400000"/>
          </a:xfrm>
          <a:prstGeom prst="rect">
            <a:avLst/>
          </a:prstGeom>
        </p:spPr>
        <p:txBody>
          <a:bodyPr/>
          <a:lstStyle/>
          <a:p>
            <a:r>
              <a:rPr lang="en-US" noProof="0"/>
              <a:t>Click icon to add picture</a:t>
            </a:r>
          </a:p>
        </p:txBody>
      </p:sp>
      <p:sp>
        <p:nvSpPr>
          <p:cNvPr id="3" name="Subtitle 2"/>
          <p:cNvSpPr>
            <a:spLocks noGrp="1"/>
          </p:cNvSpPr>
          <p:nvPr>
            <p:ph type="subTitle" idx="1" hasCustomPrompt="1"/>
          </p:nvPr>
        </p:nvSpPr>
        <p:spPr bwMode="gray">
          <a:xfrm>
            <a:off x="501651" y="5864229"/>
            <a:ext cx="5594348" cy="505645"/>
          </a:xfrm>
          <a:prstGeom prst="rect">
            <a:avLst/>
          </a:prstGeom>
        </p:spPr>
        <p:txBody>
          <a:bodyPr lIns="0" tIns="0" rIns="0" bIns="0" anchor="b" anchorCtr="0">
            <a:noAutofit/>
          </a:bodyPr>
          <a:lstStyle>
            <a:lvl1pPr marL="0" indent="0" algn="l">
              <a:lnSpc>
                <a:spcPct val="100000"/>
              </a:lnSpc>
              <a:spcAft>
                <a:spcPts val="0"/>
              </a:spcAft>
              <a:buNone/>
              <a:defRPr sz="2264" b="1">
                <a:solidFill>
                  <a:schemeClr val="tx1"/>
                </a:solidFill>
              </a:defRPr>
            </a:lvl1pPr>
            <a:lvl2pPr marL="0" indent="0" algn="l">
              <a:buNone/>
              <a:defRPr sz="2012" b="0"/>
            </a:lvl2pPr>
            <a:lvl3pPr marL="1150072" indent="0" algn="ctr">
              <a:buNone/>
              <a:defRPr sz="2264"/>
            </a:lvl3pPr>
            <a:lvl4pPr marL="1725107" indent="0" algn="ctr">
              <a:buNone/>
              <a:defRPr sz="2012"/>
            </a:lvl4pPr>
            <a:lvl5pPr marL="2300144" indent="0" algn="ctr">
              <a:buNone/>
              <a:defRPr sz="2012"/>
            </a:lvl5pPr>
            <a:lvl6pPr marL="2875180" indent="0" algn="ctr">
              <a:buNone/>
              <a:defRPr sz="2012"/>
            </a:lvl6pPr>
            <a:lvl7pPr marL="3450216" indent="0" algn="ctr">
              <a:buNone/>
              <a:defRPr sz="2012"/>
            </a:lvl7pPr>
            <a:lvl8pPr marL="4025252" indent="0" algn="ctr">
              <a:buNone/>
              <a:defRPr sz="2012"/>
            </a:lvl8pPr>
            <a:lvl9pPr marL="4600286" indent="0" algn="ctr">
              <a:buNone/>
              <a:defRPr sz="2012"/>
            </a:lvl9pPr>
          </a:lstStyle>
          <a:p>
            <a:r>
              <a:rPr lang="en-US" noProof="0"/>
              <a:t>Click to edit Master title style</a:t>
            </a:r>
          </a:p>
          <a:p>
            <a:pPr lvl="1"/>
            <a:r>
              <a:rPr lang="en-US" noProof="0"/>
              <a:t>Click to edit Master subtitle style</a:t>
            </a:r>
          </a:p>
        </p:txBody>
      </p:sp>
      <p:sp>
        <p:nvSpPr>
          <p:cNvPr id="5" name="Text Placeholder 4"/>
          <p:cNvSpPr>
            <a:spLocks noGrp="1"/>
          </p:cNvSpPr>
          <p:nvPr>
            <p:ph type="body" sz="quarter" idx="10"/>
          </p:nvPr>
        </p:nvSpPr>
        <p:spPr>
          <a:xfrm>
            <a:off x="501654" y="6381750"/>
            <a:ext cx="5594349" cy="298450"/>
          </a:xfrm>
          <a:prstGeom prst="rect">
            <a:avLst/>
          </a:prstGeom>
        </p:spPr>
        <p:txBody>
          <a:bodyPr/>
          <a:lstStyle>
            <a:lvl1pPr>
              <a:spcAft>
                <a:spcPts val="0"/>
              </a:spcAft>
              <a:defRPr sz="1258">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19" name="Group 18"/>
          <p:cNvGrpSpPr/>
          <p:nvPr userDrawn="1"/>
        </p:nvGrpSpPr>
        <p:grpSpPr>
          <a:xfrm>
            <a:off x="501652" y="378003"/>
            <a:ext cx="2159032" cy="326302"/>
            <a:chOff x="439792" y="416850"/>
            <a:chExt cx="1892808" cy="359839"/>
          </a:xfrm>
        </p:grpSpPr>
        <p:sp>
          <p:nvSpPr>
            <p:cNvPr id="20" name="Oval 5"/>
            <p:cNvSpPr>
              <a:spLocks noChangeArrowheads="1"/>
            </p:cNvSpPr>
            <p:nvPr userDrawn="1"/>
          </p:nvSpPr>
          <p:spPr bwMode="auto">
            <a:xfrm>
              <a:off x="2231035" y="674673"/>
              <a:ext cx="101565" cy="10201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1" name="Freeform 6"/>
            <p:cNvSpPr>
              <a:spLocks noEditPoints="1"/>
            </p:cNvSpPr>
            <p:nvPr userDrawn="1"/>
          </p:nvSpPr>
          <p:spPr bwMode="auto">
            <a:xfrm>
              <a:off x="439792" y="418705"/>
              <a:ext cx="288076" cy="352418"/>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2" name="Rectangle 7"/>
            <p:cNvSpPr>
              <a:spLocks noChangeArrowheads="1"/>
            </p:cNvSpPr>
            <p:nvPr userDrawn="1"/>
          </p:nvSpPr>
          <p:spPr bwMode="auto">
            <a:xfrm>
              <a:off x="1030718" y="416850"/>
              <a:ext cx="86792" cy="354274"/>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3" name="Freeform 8"/>
            <p:cNvSpPr>
              <a:spLocks noEditPoints="1"/>
            </p:cNvSpPr>
            <p:nvPr userDrawn="1"/>
          </p:nvSpPr>
          <p:spPr bwMode="auto">
            <a:xfrm>
              <a:off x="1152596" y="504028"/>
              <a:ext cx="251143" cy="270806"/>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4" name="Rectangle 9"/>
            <p:cNvSpPr>
              <a:spLocks noChangeArrowheads="1"/>
            </p:cNvSpPr>
            <p:nvPr userDrawn="1"/>
          </p:nvSpPr>
          <p:spPr bwMode="auto">
            <a:xfrm>
              <a:off x="1438825" y="507737"/>
              <a:ext cx="86792" cy="263386"/>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5" name="Rectangle 10"/>
            <p:cNvSpPr>
              <a:spLocks noChangeArrowheads="1"/>
            </p:cNvSpPr>
            <p:nvPr userDrawn="1"/>
          </p:nvSpPr>
          <p:spPr bwMode="auto">
            <a:xfrm>
              <a:off x="1438825" y="416850"/>
              <a:ext cx="86792" cy="59355"/>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6" name="Freeform 11"/>
            <p:cNvSpPr>
              <a:spLocks/>
            </p:cNvSpPr>
            <p:nvPr userDrawn="1"/>
          </p:nvSpPr>
          <p:spPr bwMode="auto">
            <a:xfrm>
              <a:off x="1560703" y="424269"/>
              <a:ext cx="184664" cy="350564"/>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7" name="Freeform 12"/>
            <p:cNvSpPr>
              <a:spLocks/>
            </p:cNvSpPr>
            <p:nvPr userDrawn="1"/>
          </p:nvSpPr>
          <p:spPr bwMode="auto">
            <a:xfrm>
              <a:off x="1761988" y="424269"/>
              <a:ext cx="184664" cy="350564"/>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8" name="Freeform 13"/>
            <p:cNvSpPr>
              <a:spLocks noEditPoints="1"/>
            </p:cNvSpPr>
            <p:nvPr userDrawn="1"/>
          </p:nvSpPr>
          <p:spPr bwMode="auto">
            <a:xfrm>
              <a:off x="1965119" y="504028"/>
              <a:ext cx="245603" cy="270806"/>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9" name="Freeform 14"/>
            <p:cNvSpPr>
              <a:spLocks noEditPoints="1"/>
            </p:cNvSpPr>
            <p:nvPr userDrawn="1"/>
          </p:nvSpPr>
          <p:spPr bwMode="auto">
            <a:xfrm>
              <a:off x="753721" y="504028"/>
              <a:ext cx="243757" cy="270806"/>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grpSp>
    </p:spTree>
    <p:extLst>
      <p:ext uri="{BB962C8B-B14F-4D97-AF65-F5344CB8AC3E}">
        <p14:creationId xmlns:p14="http://schemas.microsoft.com/office/powerpoint/2010/main" val="514420968"/>
      </p:ext>
    </p:extLst>
  </p:cSld>
  <p:clrMapOvr>
    <a:masterClrMapping/>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_Title Slide - Circle Black">
    <p:spTree>
      <p:nvGrpSpPr>
        <p:cNvPr id="1" name=""/>
        <p:cNvGrpSpPr/>
        <p:nvPr/>
      </p:nvGrpSpPr>
      <p:grpSpPr>
        <a:xfrm>
          <a:off x="0" y="0"/>
          <a:ext cx="0" cy="0"/>
          <a:chOff x="0" y="0"/>
          <a:chExt cx="0" cy="0"/>
        </a:xfrm>
      </p:grpSpPr>
      <p:sp>
        <p:nvSpPr>
          <p:cNvPr id="2" name="Title 1"/>
          <p:cNvSpPr>
            <a:spLocks noGrp="1"/>
          </p:cNvSpPr>
          <p:nvPr>
            <p:ph type="ctrTitle"/>
          </p:nvPr>
        </p:nvSpPr>
        <p:spPr bwMode="gray">
          <a:xfrm>
            <a:off x="3336000" y="1368000"/>
            <a:ext cx="5520000" cy="4140000"/>
          </a:xfrm>
          <a:prstGeom prst="ellipse">
            <a:avLst/>
          </a:prstGeom>
          <a:ln w="25400">
            <a:solidFill>
              <a:schemeClr val="accent1"/>
            </a:solidFill>
          </a:ln>
        </p:spPr>
        <p:txBody>
          <a:bodyPr lIns="108000" tIns="108000" rIns="108000" bIns="108000" anchor="ctr" anchorCtr="0">
            <a:normAutofit/>
          </a:bodyPr>
          <a:lstStyle>
            <a:lvl1pPr algn="ctr">
              <a:lnSpc>
                <a:spcPts val="5283"/>
              </a:lnSpc>
              <a:defRPr sz="4528" b="0">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Subtitle 2"/>
          <p:cNvSpPr>
            <a:spLocks noGrp="1"/>
          </p:cNvSpPr>
          <p:nvPr>
            <p:ph type="subTitle" idx="1"/>
          </p:nvPr>
        </p:nvSpPr>
        <p:spPr bwMode="gray">
          <a:xfrm>
            <a:off x="503990" y="5864229"/>
            <a:ext cx="5592010" cy="505645"/>
          </a:xfrm>
          <a:prstGeom prst="rect">
            <a:avLst/>
          </a:prstGeom>
        </p:spPr>
        <p:txBody>
          <a:bodyPr lIns="0" tIns="0" rIns="0" bIns="0" anchor="b" anchorCtr="0">
            <a:noAutofit/>
          </a:bodyPr>
          <a:lstStyle>
            <a:lvl1pPr marL="0" indent="0" algn="l">
              <a:lnSpc>
                <a:spcPct val="100000"/>
              </a:lnSpc>
              <a:spcAft>
                <a:spcPts val="0"/>
              </a:spcAft>
              <a:buNone/>
              <a:defRPr sz="2012">
                <a:solidFill>
                  <a:schemeClr val="bg1"/>
                </a:solidFill>
              </a:defRPr>
            </a:lvl1pPr>
            <a:lvl2pPr marL="575035" indent="0" algn="ctr">
              <a:buNone/>
              <a:defRPr sz="2515"/>
            </a:lvl2pPr>
            <a:lvl3pPr marL="1150072" indent="0" algn="ctr">
              <a:buNone/>
              <a:defRPr sz="2264"/>
            </a:lvl3pPr>
            <a:lvl4pPr marL="1725107" indent="0" algn="ctr">
              <a:buNone/>
              <a:defRPr sz="2012"/>
            </a:lvl4pPr>
            <a:lvl5pPr marL="2300144" indent="0" algn="ctr">
              <a:buNone/>
              <a:defRPr sz="2012"/>
            </a:lvl5pPr>
            <a:lvl6pPr marL="2875180" indent="0" algn="ctr">
              <a:buNone/>
              <a:defRPr sz="2012"/>
            </a:lvl6pPr>
            <a:lvl7pPr marL="3450216" indent="0" algn="ctr">
              <a:buNone/>
              <a:defRPr sz="2012"/>
            </a:lvl7pPr>
            <a:lvl8pPr marL="4025252" indent="0" algn="ctr">
              <a:buNone/>
              <a:defRPr sz="2012"/>
            </a:lvl8pPr>
            <a:lvl9pPr marL="4600286" indent="0" algn="ctr">
              <a:buNone/>
              <a:defRPr sz="2012"/>
            </a:lvl9pPr>
          </a:lstStyle>
          <a:p>
            <a:r>
              <a:rPr lang="en-US" noProof="0"/>
              <a:t>Click to edit Master subtitle style</a:t>
            </a:r>
          </a:p>
        </p:txBody>
      </p:sp>
      <p:sp>
        <p:nvSpPr>
          <p:cNvPr id="5" name="Text Placeholder 4"/>
          <p:cNvSpPr>
            <a:spLocks noGrp="1"/>
          </p:cNvSpPr>
          <p:nvPr>
            <p:ph type="body" sz="quarter" idx="10"/>
          </p:nvPr>
        </p:nvSpPr>
        <p:spPr>
          <a:xfrm>
            <a:off x="501654" y="6381750"/>
            <a:ext cx="5594349" cy="298450"/>
          </a:xfrm>
          <a:prstGeom prst="rect">
            <a:avLst/>
          </a:prstGeom>
        </p:spPr>
        <p:txBody>
          <a:bodyPr/>
          <a:lstStyle>
            <a:lvl1pPr>
              <a:spcAft>
                <a:spcPts val="0"/>
              </a:spcAft>
              <a:defRPr sz="1258">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22" name="Group 21"/>
          <p:cNvGrpSpPr>
            <a:grpSpLocks noChangeAspect="1"/>
          </p:cNvGrpSpPr>
          <p:nvPr userDrawn="1"/>
        </p:nvGrpSpPr>
        <p:grpSpPr>
          <a:xfrm>
            <a:off x="501652" y="378003"/>
            <a:ext cx="2159032" cy="326302"/>
            <a:chOff x="398463" y="404813"/>
            <a:chExt cx="1627187" cy="307976"/>
          </a:xfrm>
          <a:solidFill>
            <a:schemeClr val="bg1"/>
          </a:solidFill>
        </p:grpSpPr>
        <p:sp>
          <p:nvSpPr>
            <p:cNvPr id="23"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4"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5"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6"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7"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8"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9"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30"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31"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32"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grpSp>
    </p:spTree>
    <p:extLst>
      <p:ext uri="{BB962C8B-B14F-4D97-AF65-F5344CB8AC3E}">
        <p14:creationId xmlns:p14="http://schemas.microsoft.com/office/powerpoint/2010/main" val="883637284"/>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Title Slide - Circle White">
    <p:spTree>
      <p:nvGrpSpPr>
        <p:cNvPr id="1" name=""/>
        <p:cNvGrpSpPr/>
        <p:nvPr/>
      </p:nvGrpSpPr>
      <p:grpSpPr>
        <a:xfrm>
          <a:off x="0" y="0"/>
          <a:ext cx="0" cy="0"/>
          <a:chOff x="0" y="0"/>
          <a:chExt cx="0" cy="0"/>
        </a:xfrm>
      </p:grpSpPr>
      <p:sp>
        <p:nvSpPr>
          <p:cNvPr id="2" name="Title 1"/>
          <p:cNvSpPr>
            <a:spLocks noGrp="1"/>
          </p:cNvSpPr>
          <p:nvPr>
            <p:ph type="ctrTitle"/>
          </p:nvPr>
        </p:nvSpPr>
        <p:spPr bwMode="gray">
          <a:xfrm>
            <a:off x="3336000" y="1368000"/>
            <a:ext cx="5520000" cy="4140000"/>
          </a:xfrm>
          <a:prstGeom prst="ellipse">
            <a:avLst/>
          </a:prstGeom>
          <a:ln w="25400">
            <a:solidFill>
              <a:schemeClr val="accent1"/>
            </a:solidFill>
          </a:ln>
        </p:spPr>
        <p:txBody>
          <a:bodyPr lIns="108000" tIns="108000" rIns="108000" bIns="108000" anchor="ctr" anchorCtr="0">
            <a:normAutofit/>
          </a:bodyPr>
          <a:lstStyle>
            <a:lvl1pPr algn="ctr">
              <a:lnSpc>
                <a:spcPts val="5283"/>
              </a:lnSpc>
              <a:defRPr sz="4528" b="0">
                <a:solidFill>
                  <a:schemeClr val="tx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Subtitle 2"/>
          <p:cNvSpPr>
            <a:spLocks noGrp="1"/>
          </p:cNvSpPr>
          <p:nvPr>
            <p:ph type="subTitle" idx="1"/>
          </p:nvPr>
        </p:nvSpPr>
        <p:spPr bwMode="gray">
          <a:xfrm>
            <a:off x="501651" y="5864229"/>
            <a:ext cx="5594348" cy="505645"/>
          </a:xfrm>
          <a:prstGeom prst="rect">
            <a:avLst/>
          </a:prstGeom>
        </p:spPr>
        <p:txBody>
          <a:bodyPr lIns="0" tIns="0" rIns="0" bIns="0" anchor="b" anchorCtr="0">
            <a:noAutofit/>
          </a:bodyPr>
          <a:lstStyle>
            <a:lvl1pPr marL="0" indent="0" algn="l">
              <a:lnSpc>
                <a:spcPct val="100000"/>
              </a:lnSpc>
              <a:spcAft>
                <a:spcPts val="0"/>
              </a:spcAft>
              <a:buNone/>
              <a:defRPr sz="2012">
                <a:solidFill>
                  <a:schemeClr val="tx1"/>
                </a:solidFill>
              </a:defRPr>
            </a:lvl1pPr>
            <a:lvl2pPr marL="575035" indent="0" algn="ctr">
              <a:buNone/>
              <a:defRPr sz="2515"/>
            </a:lvl2pPr>
            <a:lvl3pPr marL="1150072" indent="0" algn="ctr">
              <a:buNone/>
              <a:defRPr sz="2264"/>
            </a:lvl3pPr>
            <a:lvl4pPr marL="1725107" indent="0" algn="ctr">
              <a:buNone/>
              <a:defRPr sz="2012"/>
            </a:lvl4pPr>
            <a:lvl5pPr marL="2300144" indent="0" algn="ctr">
              <a:buNone/>
              <a:defRPr sz="2012"/>
            </a:lvl5pPr>
            <a:lvl6pPr marL="2875180" indent="0" algn="ctr">
              <a:buNone/>
              <a:defRPr sz="2012"/>
            </a:lvl6pPr>
            <a:lvl7pPr marL="3450216" indent="0" algn="ctr">
              <a:buNone/>
              <a:defRPr sz="2012"/>
            </a:lvl7pPr>
            <a:lvl8pPr marL="4025252" indent="0" algn="ctr">
              <a:buNone/>
              <a:defRPr sz="2012"/>
            </a:lvl8pPr>
            <a:lvl9pPr marL="4600286" indent="0" algn="ctr">
              <a:buNone/>
              <a:defRPr sz="2012"/>
            </a:lvl9pPr>
          </a:lstStyle>
          <a:p>
            <a:r>
              <a:rPr lang="en-US" noProof="0"/>
              <a:t>Click to edit Master subtitle style</a:t>
            </a:r>
          </a:p>
        </p:txBody>
      </p:sp>
      <p:sp>
        <p:nvSpPr>
          <p:cNvPr id="5" name="Text Placeholder 4"/>
          <p:cNvSpPr>
            <a:spLocks noGrp="1"/>
          </p:cNvSpPr>
          <p:nvPr>
            <p:ph type="body" sz="quarter" idx="10"/>
          </p:nvPr>
        </p:nvSpPr>
        <p:spPr>
          <a:xfrm>
            <a:off x="501654" y="6381750"/>
            <a:ext cx="5594349" cy="298450"/>
          </a:xfrm>
          <a:prstGeom prst="rect">
            <a:avLst/>
          </a:prstGeom>
        </p:spPr>
        <p:txBody>
          <a:bodyPr/>
          <a:lstStyle>
            <a:lvl1pPr>
              <a:spcAft>
                <a:spcPts val="0"/>
              </a:spcAft>
              <a:defRPr sz="1258">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4" name="Group 3"/>
          <p:cNvGrpSpPr/>
          <p:nvPr userDrawn="1"/>
        </p:nvGrpSpPr>
        <p:grpSpPr>
          <a:xfrm>
            <a:off x="501652" y="378003"/>
            <a:ext cx="2159032" cy="326302"/>
            <a:chOff x="439792" y="416850"/>
            <a:chExt cx="1892808" cy="359839"/>
          </a:xfrm>
        </p:grpSpPr>
        <p:sp>
          <p:nvSpPr>
            <p:cNvPr id="20" name="Oval 5"/>
            <p:cNvSpPr>
              <a:spLocks noChangeArrowheads="1"/>
            </p:cNvSpPr>
            <p:nvPr userDrawn="1"/>
          </p:nvSpPr>
          <p:spPr bwMode="auto">
            <a:xfrm>
              <a:off x="2231035" y="674673"/>
              <a:ext cx="101565" cy="10201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1" name="Freeform 6"/>
            <p:cNvSpPr>
              <a:spLocks noEditPoints="1"/>
            </p:cNvSpPr>
            <p:nvPr userDrawn="1"/>
          </p:nvSpPr>
          <p:spPr bwMode="auto">
            <a:xfrm>
              <a:off x="439792" y="418705"/>
              <a:ext cx="288076" cy="352418"/>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2" name="Rectangle 7"/>
            <p:cNvSpPr>
              <a:spLocks noChangeArrowheads="1"/>
            </p:cNvSpPr>
            <p:nvPr userDrawn="1"/>
          </p:nvSpPr>
          <p:spPr bwMode="auto">
            <a:xfrm>
              <a:off x="1030718" y="416850"/>
              <a:ext cx="86792" cy="354274"/>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3" name="Freeform 8"/>
            <p:cNvSpPr>
              <a:spLocks noEditPoints="1"/>
            </p:cNvSpPr>
            <p:nvPr userDrawn="1"/>
          </p:nvSpPr>
          <p:spPr bwMode="auto">
            <a:xfrm>
              <a:off x="1152596" y="504028"/>
              <a:ext cx="251143" cy="270806"/>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4" name="Rectangle 9"/>
            <p:cNvSpPr>
              <a:spLocks noChangeArrowheads="1"/>
            </p:cNvSpPr>
            <p:nvPr userDrawn="1"/>
          </p:nvSpPr>
          <p:spPr bwMode="auto">
            <a:xfrm>
              <a:off x="1438825" y="507737"/>
              <a:ext cx="86792" cy="263386"/>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5" name="Rectangle 10"/>
            <p:cNvSpPr>
              <a:spLocks noChangeArrowheads="1"/>
            </p:cNvSpPr>
            <p:nvPr userDrawn="1"/>
          </p:nvSpPr>
          <p:spPr bwMode="auto">
            <a:xfrm>
              <a:off x="1438825" y="416850"/>
              <a:ext cx="86792" cy="59355"/>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6" name="Freeform 11"/>
            <p:cNvSpPr>
              <a:spLocks/>
            </p:cNvSpPr>
            <p:nvPr userDrawn="1"/>
          </p:nvSpPr>
          <p:spPr bwMode="auto">
            <a:xfrm>
              <a:off x="1560703" y="424269"/>
              <a:ext cx="184664" cy="350564"/>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7" name="Freeform 12"/>
            <p:cNvSpPr>
              <a:spLocks/>
            </p:cNvSpPr>
            <p:nvPr userDrawn="1"/>
          </p:nvSpPr>
          <p:spPr bwMode="auto">
            <a:xfrm>
              <a:off x="1761988" y="424269"/>
              <a:ext cx="184664" cy="350564"/>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8" name="Freeform 13"/>
            <p:cNvSpPr>
              <a:spLocks noEditPoints="1"/>
            </p:cNvSpPr>
            <p:nvPr userDrawn="1"/>
          </p:nvSpPr>
          <p:spPr bwMode="auto">
            <a:xfrm>
              <a:off x="1965119" y="504028"/>
              <a:ext cx="245603" cy="270806"/>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sp>
          <p:nvSpPr>
            <p:cNvPr id="29" name="Freeform 14"/>
            <p:cNvSpPr>
              <a:spLocks noEditPoints="1"/>
            </p:cNvSpPr>
            <p:nvPr userDrawn="1"/>
          </p:nvSpPr>
          <p:spPr bwMode="auto">
            <a:xfrm>
              <a:off x="753721" y="504028"/>
              <a:ext cx="243757" cy="270806"/>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0" noProof="0">
                <a:solidFill>
                  <a:schemeClr val="bg1"/>
                </a:solidFill>
              </a:endParaRPr>
            </a:p>
          </p:txBody>
        </p:sp>
      </p:grpSp>
    </p:spTree>
    <p:extLst>
      <p:ext uri="{BB962C8B-B14F-4D97-AF65-F5344CB8AC3E}">
        <p14:creationId xmlns:p14="http://schemas.microsoft.com/office/powerpoint/2010/main" val="2129970083"/>
      </p:ext>
    </p:extLst>
  </p:cSld>
  <p:clrMapOvr>
    <a:masterClrMapping/>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_Divider - Deloitte green">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3"/>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35" indent="0">
              <a:buNone/>
              <a:defRPr sz="2515">
                <a:solidFill>
                  <a:schemeClr val="tx1">
                    <a:tint val="75000"/>
                  </a:schemeClr>
                </a:solidFill>
              </a:defRPr>
            </a:lvl2pPr>
            <a:lvl3pPr marL="1150072" indent="0">
              <a:buNone/>
              <a:defRPr sz="2264">
                <a:solidFill>
                  <a:schemeClr val="tx1">
                    <a:tint val="75000"/>
                  </a:schemeClr>
                </a:solidFill>
              </a:defRPr>
            </a:lvl3pPr>
            <a:lvl4pPr marL="1725107" indent="0">
              <a:buNone/>
              <a:defRPr sz="2012">
                <a:solidFill>
                  <a:schemeClr val="tx1">
                    <a:tint val="75000"/>
                  </a:schemeClr>
                </a:solidFill>
              </a:defRPr>
            </a:lvl4pPr>
            <a:lvl5pPr marL="2300144" indent="0">
              <a:buNone/>
              <a:defRPr sz="2012">
                <a:solidFill>
                  <a:schemeClr val="tx1">
                    <a:tint val="75000"/>
                  </a:schemeClr>
                </a:solidFill>
              </a:defRPr>
            </a:lvl5pPr>
            <a:lvl6pPr marL="2875180" indent="0">
              <a:buNone/>
              <a:defRPr sz="2012">
                <a:solidFill>
                  <a:schemeClr val="tx1">
                    <a:tint val="75000"/>
                  </a:schemeClr>
                </a:solidFill>
              </a:defRPr>
            </a:lvl6pPr>
            <a:lvl7pPr marL="3450216" indent="0">
              <a:buNone/>
              <a:defRPr sz="2012">
                <a:solidFill>
                  <a:schemeClr val="tx1">
                    <a:tint val="75000"/>
                  </a:schemeClr>
                </a:solidFill>
              </a:defRPr>
            </a:lvl7pPr>
            <a:lvl8pPr marL="4025252" indent="0">
              <a:buNone/>
              <a:defRPr sz="2012">
                <a:solidFill>
                  <a:schemeClr val="tx1">
                    <a:tint val="75000"/>
                  </a:schemeClr>
                </a:solidFill>
              </a:defRPr>
            </a:lvl8pPr>
            <a:lvl9pPr marL="4600286" indent="0">
              <a:buNone/>
              <a:defRPr sz="2012">
                <a:solidFill>
                  <a:schemeClr val="tx1">
                    <a:tint val="75000"/>
                  </a:schemeClr>
                </a:solidFill>
              </a:defRPr>
            </a:lvl9pPr>
          </a:lstStyle>
          <a:p>
            <a:pPr lvl="0"/>
            <a:r>
              <a:rPr lang="en-US" noProof="0"/>
              <a:t>Edit Master text styles</a:t>
            </a:r>
          </a:p>
        </p:txBody>
      </p:sp>
      <p:sp>
        <p:nvSpPr>
          <p:cNvPr id="5" name="TextBox 4"/>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7" name="TextBox 6"/>
          <p:cNvSpPr txBox="1"/>
          <p:nvPr userDrawn="1"/>
        </p:nvSpPr>
        <p:spPr>
          <a:xfrm>
            <a:off x="501653"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8" name="TextBox 7"/>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3790136453"/>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_Divider - Deloitte dark green">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3"/>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3" y="3429003"/>
            <a:ext cx="10544066" cy="1566532"/>
          </a:xfrm>
        </p:spPr>
        <p:txBody>
          <a:bodyPr lIns="0" tIns="0" rIns="0" bIns="0">
            <a:noAutofit/>
          </a:bodyPr>
          <a:lstStyle>
            <a:lvl1pPr marL="0" indent="0">
              <a:lnSpc>
                <a:spcPct val="95000"/>
              </a:lnSpc>
              <a:spcAft>
                <a:spcPts val="0"/>
              </a:spcAft>
              <a:buNone/>
              <a:defRPr sz="4448">
                <a:solidFill>
                  <a:schemeClr val="bg1"/>
                </a:solidFill>
              </a:defRPr>
            </a:lvl1pPr>
            <a:lvl2pPr marL="575035" indent="0">
              <a:buNone/>
              <a:defRPr sz="2515">
                <a:solidFill>
                  <a:schemeClr val="tx1">
                    <a:tint val="75000"/>
                  </a:schemeClr>
                </a:solidFill>
              </a:defRPr>
            </a:lvl2pPr>
            <a:lvl3pPr marL="1150072" indent="0">
              <a:buNone/>
              <a:defRPr sz="2264">
                <a:solidFill>
                  <a:schemeClr val="tx1">
                    <a:tint val="75000"/>
                  </a:schemeClr>
                </a:solidFill>
              </a:defRPr>
            </a:lvl3pPr>
            <a:lvl4pPr marL="1725107" indent="0">
              <a:buNone/>
              <a:defRPr sz="2012">
                <a:solidFill>
                  <a:schemeClr val="tx1">
                    <a:tint val="75000"/>
                  </a:schemeClr>
                </a:solidFill>
              </a:defRPr>
            </a:lvl4pPr>
            <a:lvl5pPr marL="2300144" indent="0">
              <a:buNone/>
              <a:defRPr sz="2012">
                <a:solidFill>
                  <a:schemeClr val="tx1">
                    <a:tint val="75000"/>
                  </a:schemeClr>
                </a:solidFill>
              </a:defRPr>
            </a:lvl5pPr>
            <a:lvl6pPr marL="2875180" indent="0">
              <a:buNone/>
              <a:defRPr sz="2012">
                <a:solidFill>
                  <a:schemeClr val="tx1">
                    <a:tint val="75000"/>
                  </a:schemeClr>
                </a:solidFill>
              </a:defRPr>
            </a:lvl6pPr>
            <a:lvl7pPr marL="3450216" indent="0">
              <a:buNone/>
              <a:defRPr sz="2012">
                <a:solidFill>
                  <a:schemeClr val="tx1">
                    <a:tint val="75000"/>
                  </a:schemeClr>
                </a:solidFill>
              </a:defRPr>
            </a:lvl7pPr>
            <a:lvl8pPr marL="4025252" indent="0">
              <a:buNone/>
              <a:defRPr sz="2012">
                <a:solidFill>
                  <a:schemeClr val="tx1">
                    <a:tint val="75000"/>
                  </a:schemeClr>
                </a:solidFill>
              </a:defRPr>
            </a:lvl8pPr>
            <a:lvl9pPr marL="4600286" indent="0">
              <a:buNone/>
              <a:defRPr sz="2012">
                <a:solidFill>
                  <a:schemeClr val="tx1">
                    <a:tint val="75000"/>
                  </a:schemeClr>
                </a:solidFill>
              </a:defRPr>
            </a:lvl9pPr>
          </a:lstStyle>
          <a:p>
            <a:pPr lvl="0"/>
            <a:r>
              <a:rPr lang="en-US" noProof="0"/>
              <a:t>Edit Master text styles</a:t>
            </a:r>
          </a:p>
        </p:txBody>
      </p:sp>
      <p:sp>
        <p:nvSpPr>
          <p:cNvPr id="13" name="TextBox 12"/>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4" name="TextBox 13"/>
          <p:cNvSpPr txBox="1"/>
          <p:nvPr userDrawn="1"/>
        </p:nvSpPr>
        <p:spPr>
          <a:xfrm>
            <a:off x="501653"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5" name="TextBox 14"/>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745149028"/>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_Divider - Deloitte blue">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3"/>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35" indent="0">
              <a:buNone/>
              <a:defRPr sz="2515">
                <a:solidFill>
                  <a:schemeClr val="tx1">
                    <a:tint val="75000"/>
                  </a:schemeClr>
                </a:solidFill>
              </a:defRPr>
            </a:lvl2pPr>
            <a:lvl3pPr marL="1150072" indent="0">
              <a:buNone/>
              <a:defRPr sz="2264">
                <a:solidFill>
                  <a:schemeClr val="tx1">
                    <a:tint val="75000"/>
                  </a:schemeClr>
                </a:solidFill>
              </a:defRPr>
            </a:lvl3pPr>
            <a:lvl4pPr marL="1725107" indent="0">
              <a:buNone/>
              <a:defRPr sz="2012">
                <a:solidFill>
                  <a:schemeClr val="tx1">
                    <a:tint val="75000"/>
                  </a:schemeClr>
                </a:solidFill>
              </a:defRPr>
            </a:lvl4pPr>
            <a:lvl5pPr marL="2300144" indent="0">
              <a:buNone/>
              <a:defRPr sz="2012">
                <a:solidFill>
                  <a:schemeClr val="tx1">
                    <a:tint val="75000"/>
                  </a:schemeClr>
                </a:solidFill>
              </a:defRPr>
            </a:lvl5pPr>
            <a:lvl6pPr marL="2875180" indent="0">
              <a:buNone/>
              <a:defRPr sz="2012">
                <a:solidFill>
                  <a:schemeClr val="tx1">
                    <a:tint val="75000"/>
                  </a:schemeClr>
                </a:solidFill>
              </a:defRPr>
            </a:lvl6pPr>
            <a:lvl7pPr marL="3450216" indent="0">
              <a:buNone/>
              <a:defRPr sz="2012">
                <a:solidFill>
                  <a:schemeClr val="tx1">
                    <a:tint val="75000"/>
                  </a:schemeClr>
                </a:solidFill>
              </a:defRPr>
            </a:lvl7pPr>
            <a:lvl8pPr marL="4025252" indent="0">
              <a:buNone/>
              <a:defRPr sz="2012">
                <a:solidFill>
                  <a:schemeClr val="tx1">
                    <a:tint val="75000"/>
                  </a:schemeClr>
                </a:solidFill>
              </a:defRPr>
            </a:lvl8pPr>
            <a:lvl9pPr marL="4600286" indent="0">
              <a:buNone/>
              <a:defRPr sz="2012">
                <a:solidFill>
                  <a:schemeClr val="tx1">
                    <a:tint val="75000"/>
                  </a:schemeClr>
                </a:solidFill>
              </a:defRPr>
            </a:lvl9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3020495005"/>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2_Divider - Deloitte dark blue">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3"/>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35" indent="0">
              <a:buNone/>
              <a:defRPr sz="2515">
                <a:solidFill>
                  <a:schemeClr val="tx1">
                    <a:tint val="75000"/>
                  </a:schemeClr>
                </a:solidFill>
              </a:defRPr>
            </a:lvl2pPr>
            <a:lvl3pPr marL="1150072" indent="0">
              <a:buNone/>
              <a:defRPr sz="2264">
                <a:solidFill>
                  <a:schemeClr val="tx1">
                    <a:tint val="75000"/>
                  </a:schemeClr>
                </a:solidFill>
              </a:defRPr>
            </a:lvl3pPr>
            <a:lvl4pPr marL="1725107" indent="0">
              <a:buNone/>
              <a:defRPr sz="2012">
                <a:solidFill>
                  <a:schemeClr val="tx1">
                    <a:tint val="75000"/>
                  </a:schemeClr>
                </a:solidFill>
              </a:defRPr>
            </a:lvl4pPr>
            <a:lvl5pPr marL="2300144" indent="0">
              <a:buNone/>
              <a:defRPr sz="2012">
                <a:solidFill>
                  <a:schemeClr val="tx1">
                    <a:tint val="75000"/>
                  </a:schemeClr>
                </a:solidFill>
              </a:defRPr>
            </a:lvl5pPr>
            <a:lvl6pPr marL="2875180" indent="0">
              <a:buNone/>
              <a:defRPr sz="2012">
                <a:solidFill>
                  <a:schemeClr val="tx1">
                    <a:tint val="75000"/>
                  </a:schemeClr>
                </a:solidFill>
              </a:defRPr>
            </a:lvl6pPr>
            <a:lvl7pPr marL="3450216" indent="0">
              <a:buNone/>
              <a:defRPr sz="2012">
                <a:solidFill>
                  <a:schemeClr val="tx1">
                    <a:tint val="75000"/>
                  </a:schemeClr>
                </a:solidFill>
              </a:defRPr>
            </a:lvl7pPr>
            <a:lvl8pPr marL="4025252" indent="0">
              <a:buNone/>
              <a:defRPr sz="2012">
                <a:solidFill>
                  <a:schemeClr val="tx1">
                    <a:tint val="75000"/>
                  </a:schemeClr>
                </a:solidFill>
              </a:defRPr>
            </a:lvl8pPr>
            <a:lvl9pPr marL="4600286" indent="0">
              <a:buNone/>
              <a:defRPr sz="2012">
                <a:solidFill>
                  <a:schemeClr val="tx1">
                    <a:tint val="75000"/>
                  </a:schemeClr>
                </a:solidFill>
              </a:defRPr>
            </a:lvl9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1759188276"/>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_Divider - Deloitte black">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3"/>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35" indent="0">
              <a:buNone/>
              <a:defRPr sz="2515">
                <a:solidFill>
                  <a:schemeClr val="tx1">
                    <a:tint val="75000"/>
                  </a:schemeClr>
                </a:solidFill>
              </a:defRPr>
            </a:lvl2pPr>
            <a:lvl3pPr marL="1150072" indent="0">
              <a:buNone/>
              <a:defRPr sz="2264">
                <a:solidFill>
                  <a:schemeClr val="tx1">
                    <a:tint val="75000"/>
                  </a:schemeClr>
                </a:solidFill>
              </a:defRPr>
            </a:lvl3pPr>
            <a:lvl4pPr marL="1725107" indent="0">
              <a:buNone/>
              <a:defRPr sz="2012">
                <a:solidFill>
                  <a:schemeClr val="tx1">
                    <a:tint val="75000"/>
                  </a:schemeClr>
                </a:solidFill>
              </a:defRPr>
            </a:lvl4pPr>
            <a:lvl5pPr marL="2300144" indent="0">
              <a:buNone/>
              <a:defRPr sz="2012">
                <a:solidFill>
                  <a:schemeClr val="tx1">
                    <a:tint val="75000"/>
                  </a:schemeClr>
                </a:solidFill>
              </a:defRPr>
            </a:lvl5pPr>
            <a:lvl6pPr marL="2875180" indent="0">
              <a:buNone/>
              <a:defRPr sz="2012">
                <a:solidFill>
                  <a:schemeClr val="tx1">
                    <a:tint val="75000"/>
                  </a:schemeClr>
                </a:solidFill>
              </a:defRPr>
            </a:lvl6pPr>
            <a:lvl7pPr marL="3450216" indent="0">
              <a:buNone/>
              <a:defRPr sz="2012">
                <a:solidFill>
                  <a:schemeClr val="tx1">
                    <a:tint val="75000"/>
                  </a:schemeClr>
                </a:solidFill>
              </a:defRPr>
            </a:lvl7pPr>
            <a:lvl8pPr marL="4025252" indent="0">
              <a:buNone/>
              <a:defRPr sz="2012">
                <a:solidFill>
                  <a:schemeClr val="tx1">
                    <a:tint val="75000"/>
                  </a:schemeClr>
                </a:solidFill>
              </a:defRPr>
            </a:lvl8pPr>
            <a:lvl9pPr marL="4600286" indent="0">
              <a:buNone/>
              <a:defRPr sz="2012">
                <a:solidFill>
                  <a:schemeClr val="tx1">
                    <a:tint val="75000"/>
                  </a:schemeClr>
                </a:solidFill>
              </a:defRPr>
            </a:lvl9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4283535367"/>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Key statement dark green">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1" y="1628778"/>
            <a:ext cx="9152370" cy="4752975"/>
          </a:xfrm>
          <a:prstGeom prst="rect">
            <a:avLst/>
          </a:prstGeom>
        </p:spPr>
        <p:txBody>
          <a:bodyPr>
            <a:noAutofit/>
          </a:bodyPr>
          <a:lstStyle>
            <a:lvl1pPr>
              <a:spcBef>
                <a:spcPts val="4528"/>
              </a:spcBef>
              <a:defRPr sz="3420">
                <a:solidFill>
                  <a:schemeClr val="bg1"/>
                </a:solidFill>
              </a:defRPr>
            </a:lvl1pPr>
            <a:lvl2pPr marL="575035" indent="-575035">
              <a:defRPr sz="3772">
                <a:solidFill>
                  <a:schemeClr val="bg2"/>
                </a:solidFill>
              </a:defRPr>
            </a:lvl2pPr>
            <a:lvl3pPr>
              <a:defRPr sz="3772">
                <a:solidFill>
                  <a:schemeClr val="bg2"/>
                </a:solidFill>
              </a:defRPr>
            </a:lvl3pPr>
            <a:lvl4pPr>
              <a:defRPr sz="3772">
                <a:solidFill>
                  <a:schemeClr val="bg2"/>
                </a:solidFill>
              </a:defRPr>
            </a:lvl4pPr>
            <a:lvl5pPr>
              <a:defRPr sz="3772">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24918221"/>
      </p:ext>
    </p:extLst>
  </p:cSld>
  <p:clrMapOvr>
    <a:masterClrMapping/>
  </p:clrMapOvr>
  <p:transition>
    <p:fade/>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Key statement dark blue">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7204"/>
            <a:ext cx="9277350" cy="4759584"/>
          </a:xfrm>
          <a:prstGeom prst="rect">
            <a:avLst/>
          </a:prstGeom>
        </p:spPr>
        <p:txBody>
          <a:bodyPr>
            <a:noAutofit/>
          </a:bodyPr>
          <a:lstStyle>
            <a:lvl1pPr>
              <a:spcBef>
                <a:spcPts val="4528"/>
              </a:spcBef>
              <a:defRPr sz="3420">
                <a:solidFill>
                  <a:schemeClr val="bg1"/>
                </a:solidFill>
              </a:defRPr>
            </a:lvl1pPr>
            <a:lvl2pPr marL="575035" indent="-575035">
              <a:defRPr sz="3772">
                <a:solidFill>
                  <a:schemeClr val="bg2"/>
                </a:solidFill>
              </a:defRPr>
            </a:lvl2pPr>
            <a:lvl3pPr>
              <a:defRPr sz="3772">
                <a:solidFill>
                  <a:schemeClr val="bg2"/>
                </a:solidFill>
              </a:defRPr>
            </a:lvl3pPr>
            <a:lvl4pPr>
              <a:defRPr sz="3772">
                <a:solidFill>
                  <a:schemeClr val="bg2"/>
                </a:solidFill>
              </a:defRPr>
            </a:lvl4pPr>
            <a:lvl5pPr>
              <a:defRPr sz="3772">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2021739647"/>
      </p:ext>
    </p:extLst>
  </p:cSld>
  <p:clrMapOvr>
    <a:masterClrMapping/>
  </p:clrMapOvr>
  <p:transition>
    <p:fade/>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1_Key statement teal">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8778"/>
            <a:ext cx="9277350" cy="4752975"/>
          </a:xfrm>
          <a:prstGeom prst="rect">
            <a:avLst/>
          </a:prstGeom>
        </p:spPr>
        <p:txBody>
          <a:bodyPr>
            <a:noAutofit/>
          </a:bodyPr>
          <a:lstStyle>
            <a:lvl1pPr>
              <a:spcBef>
                <a:spcPts val="4528"/>
              </a:spcBef>
              <a:defRPr sz="3420">
                <a:solidFill>
                  <a:schemeClr val="bg1"/>
                </a:solidFill>
              </a:defRPr>
            </a:lvl1pPr>
            <a:lvl2pPr marL="575035" indent="-575035">
              <a:defRPr sz="3772">
                <a:solidFill>
                  <a:schemeClr val="bg2"/>
                </a:solidFill>
              </a:defRPr>
            </a:lvl2pPr>
            <a:lvl3pPr>
              <a:defRPr sz="3772">
                <a:solidFill>
                  <a:schemeClr val="bg2"/>
                </a:solidFill>
              </a:defRPr>
            </a:lvl3pPr>
            <a:lvl4pPr>
              <a:defRPr sz="3772">
                <a:solidFill>
                  <a:schemeClr val="bg2"/>
                </a:solidFill>
              </a:defRPr>
            </a:lvl4pPr>
            <a:lvl5pPr>
              <a:defRPr sz="3772">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962342972"/>
      </p:ext>
    </p:extLst>
  </p:cSld>
  <p:clrMapOvr>
    <a:masterClrMapping/>
  </p:clrMapOvr>
  <p:transition>
    <p:fade/>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1_Key statement black">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8778"/>
            <a:ext cx="9277350" cy="4752975"/>
          </a:xfrm>
          <a:prstGeom prst="rect">
            <a:avLst/>
          </a:prstGeom>
        </p:spPr>
        <p:txBody>
          <a:bodyPr>
            <a:noAutofit/>
          </a:bodyPr>
          <a:lstStyle>
            <a:lvl1pPr>
              <a:spcBef>
                <a:spcPts val="4528"/>
              </a:spcBef>
              <a:defRPr sz="3420">
                <a:solidFill>
                  <a:schemeClr val="bg1"/>
                </a:solidFill>
              </a:defRPr>
            </a:lvl1pPr>
            <a:lvl2pPr marL="575035" indent="-575035">
              <a:defRPr sz="3772">
                <a:solidFill>
                  <a:schemeClr val="bg2"/>
                </a:solidFill>
              </a:defRPr>
            </a:lvl2pPr>
            <a:lvl3pPr>
              <a:defRPr sz="3772">
                <a:solidFill>
                  <a:schemeClr val="bg2"/>
                </a:solidFill>
              </a:defRPr>
            </a:lvl3pPr>
            <a:lvl4pPr>
              <a:defRPr sz="3772">
                <a:solidFill>
                  <a:schemeClr val="bg2"/>
                </a:solidFill>
              </a:defRPr>
            </a:lvl4pPr>
            <a:lvl5pPr>
              <a:defRPr sz="3772">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3"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732777988"/>
      </p:ext>
    </p:extLst>
  </p:cSld>
  <p:clrMapOvr>
    <a:masterClrMapping/>
  </p:clrMapOvr>
  <p:transition>
    <p:fade/>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1_Contents">
    <p:spTree>
      <p:nvGrpSpPr>
        <p:cNvPr id="1" name=""/>
        <p:cNvGrpSpPr/>
        <p:nvPr/>
      </p:nvGrpSpPr>
      <p:grpSpPr>
        <a:xfrm>
          <a:off x="0" y="0"/>
          <a:ext cx="0" cy="0"/>
          <a:chOff x="0" y="0"/>
          <a:chExt cx="0" cy="0"/>
        </a:xfrm>
      </p:grpSpPr>
      <p:sp>
        <p:nvSpPr>
          <p:cNvPr id="4" name="Content Placeholder 3"/>
          <p:cNvSpPr>
            <a:spLocks noGrp="1"/>
          </p:cNvSpPr>
          <p:nvPr>
            <p:ph sz="quarter" idx="10"/>
          </p:nvPr>
        </p:nvSpPr>
        <p:spPr>
          <a:xfrm>
            <a:off x="501652" y="1665293"/>
            <a:ext cx="9277350" cy="4716463"/>
          </a:xfrm>
          <a:prstGeom prst="rect">
            <a:avLst/>
          </a:prstGeom>
        </p:spPr>
        <p:txBody>
          <a:bodyPr/>
          <a:lstStyle>
            <a:lvl1pPr>
              <a:tabLst>
                <a:tab pos="8463812" algn="r"/>
              </a:tabLst>
              <a:defRPr/>
            </a:lvl1pPr>
            <a:lvl2pPr>
              <a:tabLst>
                <a:tab pos="8463812" algn="r"/>
              </a:tabLst>
              <a:defRPr/>
            </a:lvl2pPr>
            <a:lvl3pPr>
              <a:tabLst>
                <a:tab pos="8463812" algn="r"/>
              </a:tabLst>
              <a:defRPr/>
            </a:lvl3pPr>
            <a:lvl4pPr>
              <a:tabLst>
                <a:tab pos="8463812" algn="r"/>
              </a:tabLst>
              <a:defRPr/>
            </a:lvl4pPr>
            <a:lvl5pPr>
              <a:tabLst>
                <a:tab pos="6325396" algn="r"/>
              </a:tabLst>
              <a:defRPr baseline="0"/>
            </a:lvl5pPr>
            <a:lvl6pPr>
              <a:tabLst>
                <a:tab pos="8463812" algn="r"/>
              </a:tabLst>
              <a:defRPr/>
            </a:lvl6pPr>
            <a:lvl7pPr>
              <a:tabLst>
                <a:tab pos="8463812" algn="r"/>
              </a:tabLst>
              <a:defRPr/>
            </a:lvl7pPr>
            <a:lvl8pPr>
              <a:tabLst>
                <a:tab pos="8463812" algn="r"/>
              </a:tabLst>
              <a:defRPr/>
            </a:lvl8pPr>
            <a:lvl9pPr>
              <a:tabLst>
                <a:tab pos="8463812" algn="r"/>
              </a:tabLst>
              <a:defRPr/>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itle Placeholder 1"/>
          <p:cNvSpPr>
            <a:spLocks noGrp="1"/>
          </p:cNvSpPr>
          <p:nvPr>
            <p:ph type="title" hasCustomPrompt="1"/>
          </p:nvPr>
        </p:nvSpPr>
        <p:spPr>
          <a:xfrm>
            <a:off x="501652" y="317504"/>
            <a:ext cx="11180231" cy="698501"/>
          </a:xfrm>
          <a:prstGeom prst="rect">
            <a:avLst/>
          </a:prstGeom>
        </p:spPr>
        <p:txBody>
          <a:bodyPr vert="horz" lIns="0" tIns="0" rIns="0" bIns="0" rtlCol="0" anchor="t" anchorCtr="0">
            <a:noAutofit/>
          </a:bodyPr>
          <a:lstStyle>
            <a:lvl1pPr>
              <a:defRPr/>
            </a:lvl1pPr>
          </a:lstStyle>
          <a:p>
            <a:r>
              <a:rPr lang="en-US"/>
              <a:t>Click to add title</a:t>
            </a:r>
          </a:p>
        </p:txBody>
      </p:sp>
    </p:spTree>
    <p:extLst>
      <p:ext uri="{BB962C8B-B14F-4D97-AF65-F5344CB8AC3E}">
        <p14:creationId xmlns:p14="http://schemas.microsoft.com/office/powerpoint/2010/main" val="2573694529"/>
      </p:ext>
    </p:extLst>
  </p:cSld>
  <p:clrMapOvr>
    <a:masterClrMapping/>
  </p:clrMapOvr>
  <p:transition>
    <p:fade/>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1_Contents with image">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501652" y="317501"/>
            <a:ext cx="11188699" cy="698500"/>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5" name="Picture Placeholder 9"/>
          <p:cNvSpPr>
            <a:spLocks noGrp="1"/>
          </p:cNvSpPr>
          <p:nvPr>
            <p:ph type="pic" sz="quarter" idx="15"/>
          </p:nvPr>
        </p:nvSpPr>
        <p:spPr>
          <a:xfrm>
            <a:off x="5450354" y="1701805"/>
            <a:ext cx="6240000" cy="4679950"/>
          </a:xfrm>
        </p:spPr>
        <p:txBody>
          <a:bodyPr/>
          <a:lstStyle/>
          <a:p>
            <a:r>
              <a:rPr lang="en-US" noProof="0"/>
              <a:t>Click icon to add picture</a:t>
            </a:r>
          </a:p>
        </p:txBody>
      </p:sp>
      <p:sp>
        <p:nvSpPr>
          <p:cNvPr id="6" name="Content Placeholder 3"/>
          <p:cNvSpPr>
            <a:spLocks noGrp="1"/>
          </p:cNvSpPr>
          <p:nvPr>
            <p:ph sz="quarter" idx="10"/>
          </p:nvPr>
        </p:nvSpPr>
        <p:spPr>
          <a:xfrm>
            <a:off x="501653" y="1665293"/>
            <a:ext cx="4456429" cy="4716463"/>
          </a:xfrm>
          <a:prstGeom prst="rect">
            <a:avLst/>
          </a:prstGeom>
        </p:spPr>
        <p:txBody>
          <a:bodyPr/>
          <a:lstStyle>
            <a:lvl1pPr>
              <a:tabLst>
                <a:tab pos="6325396" algn="r"/>
              </a:tabLst>
              <a:defRPr/>
            </a:lvl1pPr>
            <a:lvl2pPr>
              <a:tabLst>
                <a:tab pos="6325396" algn="r"/>
              </a:tabLst>
              <a:defRPr/>
            </a:lvl2pPr>
            <a:lvl3pPr>
              <a:tabLst>
                <a:tab pos="6325396" algn="r"/>
              </a:tabLst>
              <a:defRPr/>
            </a:lvl3pPr>
            <a:lvl4pPr>
              <a:tabLst>
                <a:tab pos="6325396" algn="r"/>
              </a:tabLst>
              <a:defRPr/>
            </a:lvl4pPr>
            <a:lvl5pPr>
              <a:tabLst>
                <a:tab pos="6325396"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4271018907"/>
      </p:ext>
    </p:extLst>
  </p:cSld>
  <p:clrMapOvr>
    <a:masterClrMapping/>
  </p:clrMapOvr>
  <p:transition>
    <p:fade/>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1_Title &amp; 1 column text">
    <p:spTree>
      <p:nvGrpSpPr>
        <p:cNvPr id="1" name=""/>
        <p:cNvGrpSpPr/>
        <p:nvPr/>
      </p:nvGrpSpPr>
      <p:grpSpPr>
        <a:xfrm>
          <a:off x="0" y="0"/>
          <a:ext cx="0" cy="0"/>
          <a:chOff x="0" y="0"/>
          <a:chExt cx="0" cy="0"/>
        </a:xfrm>
      </p:grpSpPr>
      <p:sp>
        <p:nvSpPr>
          <p:cNvPr id="2" name="Title 1"/>
          <p:cNvSpPr>
            <a:spLocks noGrp="1"/>
          </p:cNvSpPr>
          <p:nvPr>
            <p:ph type="title"/>
          </p:nvPr>
        </p:nvSpPr>
        <p:spPr>
          <a:xfrm>
            <a:off x="501652" y="317501"/>
            <a:ext cx="11188699" cy="698500"/>
          </a:xfrm>
        </p:spPr>
        <p:txBody>
          <a:bodyPr/>
          <a:lstStyle/>
          <a:p>
            <a:r>
              <a:rPr lang="en-US" noProof="0"/>
              <a:t>Click to edit Master title style</a:t>
            </a:r>
          </a:p>
        </p:txBody>
      </p:sp>
      <p:sp>
        <p:nvSpPr>
          <p:cNvPr id="14" name="Text Placeholder 18"/>
          <p:cNvSpPr>
            <a:spLocks noGrp="1"/>
          </p:cNvSpPr>
          <p:nvPr>
            <p:ph idx="1"/>
          </p:nvPr>
        </p:nvSpPr>
        <p:spPr>
          <a:xfrm>
            <a:off x="501653" y="1665293"/>
            <a:ext cx="11165416" cy="4716463"/>
          </a:xfrm>
          <a:prstGeom prst="rect">
            <a:avLst/>
          </a:prstGeom>
        </p:spPr>
        <p:txBody>
          <a:bodyPr vert="horz" lIns="0" tIns="0" rIns="0" bIns="0" rtlCol="0">
            <a:noAutofit/>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02214479"/>
      </p:ext>
    </p:extLst>
  </p:cSld>
  <p:clrMapOvr>
    <a:masterClrMapping/>
  </p:clrMapOvr>
  <p:transition>
    <p:fade/>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_Title, subtitle &amp; 1 column text">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501652" y="651602"/>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4" name="Title Placeholder 1"/>
          <p:cNvSpPr>
            <a:spLocks noGrp="1"/>
          </p:cNvSpPr>
          <p:nvPr>
            <p:ph type="title"/>
          </p:nvPr>
        </p:nvSpPr>
        <p:spPr>
          <a:xfrm>
            <a:off x="501652" y="317503"/>
            <a:ext cx="11162350" cy="334101"/>
          </a:xfrm>
          <a:prstGeom prst="rect">
            <a:avLst/>
          </a:prstGeom>
        </p:spPr>
        <p:txBody>
          <a:bodyPr vert="horz" lIns="0" tIns="0" rIns="0" bIns="0" rtlCol="0" anchor="t" anchorCtr="0">
            <a:noAutofit/>
          </a:bodyPr>
          <a:lstStyle>
            <a:lvl1pPr>
              <a:defRPr/>
            </a:lvl1pPr>
          </a:lstStyle>
          <a:p>
            <a:r>
              <a:rPr lang="en-US" noProof="0"/>
              <a:t>Click to edit Master title style</a:t>
            </a:r>
          </a:p>
        </p:txBody>
      </p:sp>
      <p:sp>
        <p:nvSpPr>
          <p:cNvPr id="8" name="Text Placeholder 18"/>
          <p:cNvSpPr>
            <a:spLocks noGrp="1"/>
          </p:cNvSpPr>
          <p:nvPr>
            <p:ph idx="1"/>
          </p:nvPr>
        </p:nvSpPr>
        <p:spPr>
          <a:xfrm>
            <a:off x="498584" y="1143708"/>
            <a:ext cx="11165416" cy="4713911"/>
          </a:xfrm>
          <a:prstGeom prst="rect">
            <a:avLst/>
          </a:prstGeom>
        </p:spPr>
        <p:txBody>
          <a:bodyPr vert="horz" lIns="0" tIns="0" rIns="0" bIns="0" rtlCol="0">
            <a:noAutofit/>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3701135275"/>
      </p:ext>
    </p:extLst>
  </p:cSld>
  <p:clrMapOvr>
    <a:masterClrMapping/>
  </p:clrMapOvr>
  <p:transition>
    <p:fade/>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_Title, subtitle &amp; 1 column - large">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501652" y="651602"/>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4" name="Title Placeholder 1"/>
          <p:cNvSpPr>
            <a:spLocks noGrp="1"/>
          </p:cNvSpPr>
          <p:nvPr>
            <p:ph type="title"/>
          </p:nvPr>
        </p:nvSpPr>
        <p:spPr>
          <a:xfrm>
            <a:off x="501652" y="317503"/>
            <a:ext cx="11162350" cy="334101"/>
          </a:xfrm>
          <a:prstGeom prst="rect">
            <a:avLst/>
          </a:prstGeom>
        </p:spPr>
        <p:txBody>
          <a:bodyPr vert="horz" lIns="0" tIns="0" rIns="0" bIns="0" rtlCol="0" anchor="t" anchorCtr="0">
            <a:noAutofit/>
          </a:bodyPr>
          <a:lstStyle>
            <a:lvl1pPr>
              <a:defRPr/>
            </a:lvl1pPr>
          </a:lstStyle>
          <a:p>
            <a:r>
              <a:rPr lang="en-US" noProof="0"/>
              <a:t>Click to edit Master title style</a:t>
            </a:r>
          </a:p>
        </p:txBody>
      </p:sp>
      <p:sp>
        <p:nvSpPr>
          <p:cNvPr id="8" name="Text Placeholder 18"/>
          <p:cNvSpPr>
            <a:spLocks noGrp="1"/>
          </p:cNvSpPr>
          <p:nvPr>
            <p:ph idx="1"/>
          </p:nvPr>
        </p:nvSpPr>
        <p:spPr>
          <a:xfrm>
            <a:off x="501653" y="1700213"/>
            <a:ext cx="11165416" cy="4678986"/>
          </a:xfrm>
          <a:prstGeom prst="rect">
            <a:avLst/>
          </a:prstGeom>
        </p:spPr>
        <p:txBody>
          <a:bodyPr vert="horz" lIns="0" tIns="0" rIns="0" bIns="0" rtlCol="0">
            <a:noAutofit/>
          </a:bodyPr>
          <a:lstStyle>
            <a:lvl1pPr>
              <a:defRPr sz="2012"/>
            </a:lvl1pPr>
            <a:lvl2pPr>
              <a:defRPr sz="2012"/>
            </a:lvl2pPr>
            <a:lvl3pPr>
              <a:defRPr sz="2012"/>
            </a:lvl3pPr>
            <a:lvl4pPr>
              <a:defRPr sz="2012"/>
            </a:lvl4pPr>
            <a:lvl5pPr>
              <a:defRPr sz="2012"/>
            </a:lvl5pPr>
            <a:lvl6pPr>
              <a:defRPr sz="2012"/>
            </a:lvl6pPr>
            <a:lvl7pPr>
              <a:defRPr sz="2012"/>
            </a:lvl7pPr>
            <a:lvl8pPr>
              <a:defRPr sz="2012"/>
            </a:lvl8pPr>
            <a:lvl9pPr>
              <a:defRPr sz="2012"/>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4125643966"/>
      </p:ext>
    </p:extLst>
  </p:cSld>
  <p:clrMapOvr>
    <a:masterClrMapping/>
  </p:clrMapOvr>
  <p:transition>
    <p:fade/>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_2 columns of text">
    <p:spTree>
      <p:nvGrpSpPr>
        <p:cNvPr id="1" name=""/>
        <p:cNvGrpSpPr/>
        <p:nvPr/>
      </p:nvGrpSpPr>
      <p:grpSpPr>
        <a:xfrm>
          <a:off x="0" y="0"/>
          <a:ext cx="0" cy="0"/>
          <a:chOff x="0" y="0"/>
          <a:chExt cx="0" cy="0"/>
        </a:xfrm>
      </p:grpSpPr>
      <p:sp>
        <p:nvSpPr>
          <p:cNvPr id="14" name="Title Placeholder 1"/>
          <p:cNvSpPr>
            <a:spLocks noGrp="1"/>
          </p:cNvSpPr>
          <p:nvPr>
            <p:ph type="title" hasCustomPrompt="1"/>
          </p:nvPr>
        </p:nvSpPr>
        <p:spPr>
          <a:xfrm>
            <a:off x="501654" y="317503"/>
            <a:ext cx="1120266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9" name="Text Placeholder 8"/>
          <p:cNvSpPr>
            <a:spLocks noGrp="1"/>
          </p:cNvSpPr>
          <p:nvPr>
            <p:ph type="body" sz="quarter" idx="13" hasCustomPrompt="1"/>
          </p:nvPr>
        </p:nvSpPr>
        <p:spPr>
          <a:xfrm>
            <a:off x="501654" y="651602"/>
            <a:ext cx="1120266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3" name="Content Placeholder 3"/>
          <p:cNvSpPr>
            <a:spLocks noGrp="1"/>
          </p:cNvSpPr>
          <p:nvPr>
            <p:ph sz="quarter" idx="10"/>
          </p:nvPr>
        </p:nvSpPr>
        <p:spPr>
          <a:xfrm>
            <a:off x="501651" y="1665288"/>
            <a:ext cx="5305578" cy="4716461"/>
          </a:xfrm>
          <a:prstGeom prst="rect">
            <a:avLst/>
          </a:prstGeom>
        </p:spPr>
        <p:txBody>
          <a:bodyPr/>
          <a:lstStyle>
            <a:lvl1pPr>
              <a:tabLst>
                <a:tab pos="6325396" algn="r"/>
              </a:tabLst>
              <a:defRPr/>
            </a:lvl1pPr>
            <a:lvl2pPr>
              <a:tabLst>
                <a:tab pos="6325396" algn="r"/>
              </a:tabLst>
              <a:defRPr/>
            </a:lvl2pPr>
            <a:lvl3pPr>
              <a:tabLst>
                <a:tab pos="6325396" algn="r"/>
              </a:tabLst>
              <a:defRPr/>
            </a:lvl3pPr>
            <a:lvl4pPr>
              <a:tabLst>
                <a:tab pos="6325396" algn="r"/>
              </a:tabLst>
              <a:defRPr/>
            </a:lvl4pPr>
            <a:lvl5pPr>
              <a:tabLst>
                <a:tab pos="6325396"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5" name="Content Placeholder 3"/>
          <p:cNvSpPr>
            <a:spLocks noGrp="1"/>
          </p:cNvSpPr>
          <p:nvPr>
            <p:ph sz="quarter" idx="20"/>
          </p:nvPr>
        </p:nvSpPr>
        <p:spPr>
          <a:xfrm>
            <a:off x="6381539" y="1665288"/>
            <a:ext cx="5322781" cy="4716461"/>
          </a:xfrm>
          <a:prstGeom prst="rect">
            <a:avLst/>
          </a:prstGeom>
        </p:spPr>
        <p:txBody>
          <a:bodyPr/>
          <a:lstStyle>
            <a:lvl1pPr>
              <a:tabLst>
                <a:tab pos="6325396" algn="r"/>
              </a:tabLst>
              <a:defRPr/>
            </a:lvl1pPr>
            <a:lvl2pPr>
              <a:tabLst>
                <a:tab pos="6325396" algn="r"/>
              </a:tabLst>
              <a:defRPr/>
            </a:lvl2pPr>
            <a:lvl3pPr>
              <a:tabLst>
                <a:tab pos="6325396" algn="r"/>
              </a:tabLst>
              <a:defRPr/>
            </a:lvl3pPr>
            <a:lvl4pPr>
              <a:tabLst>
                <a:tab pos="6325396" algn="r"/>
              </a:tabLst>
              <a:defRPr/>
            </a:lvl4pPr>
            <a:lvl5pPr>
              <a:tabLst>
                <a:tab pos="6325396"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3184625251"/>
      </p:ext>
    </p:extLst>
  </p:cSld>
  <p:clrMapOvr>
    <a:masterClrMapping/>
  </p:clrMapOvr>
  <p:transition>
    <p:fade/>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1_2 columns - large">
    <p:spTree>
      <p:nvGrpSpPr>
        <p:cNvPr id="1" name=""/>
        <p:cNvGrpSpPr/>
        <p:nvPr/>
      </p:nvGrpSpPr>
      <p:grpSpPr>
        <a:xfrm>
          <a:off x="0" y="0"/>
          <a:ext cx="0" cy="0"/>
          <a:chOff x="0" y="0"/>
          <a:chExt cx="0" cy="0"/>
        </a:xfrm>
      </p:grpSpPr>
      <p:sp>
        <p:nvSpPr>
          <p:cNvPr id="7" name="Text Placeholder 8"/>
          <p:cNvSpPr>
            <a:spLocks noGrp="1"/>
          </p:cNvSpPr>
          <p:nvPr>
            <p:ph type="body" sz="quarter" idx="13" hasCustomPrompt="1"/>
          </p:nvPr>
        </p:nvSpPr>
        <p:spPr>
          <a:xfrm>
            <a:off x="501652" y="651602"/>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8" name="Title Placeholder 1"/>
          <p:cNvSpPr>
            <a:spLocks noGrp="1"/>
          </p:cNvSpPr>
          <p:nvPr>
            <p:ph type="title" hasCustomPrompt="1"/>
          </p:nvPr>
        </p:nvSpPr>
        <p:spPr>
          <a:xfrm>
            <a:off x="501652" y="317500"/>
            <a:ext cx="11188699" cy="334100"/>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11" name="Content Placeholder 3"/>
          <p:cNvSpPr>
            <a:spLocks noGrp="1"/>
          </p:cNvSpPr>
          <p:nvPr>
            <p:ph sz="quarter" idx="10"/>
          </p:nvPr>
        </p:nvSpPr>
        <p:spPr>
          <a:xfrm>
            <a:off x="501650" y="1665288"/>
            <a:ext cx="5305580" cy="4716461"/>
          </a:xfrm>
          <a:prstGeom prst="rect">
            <a:avLst/>
          </a:prstGeom>
        </p:spPr>
        <p:txBody>
          <a:bodyPr>
            <a:noAutofit/>
          </a:bodyPr>
          <a:lstStyle>
            <a:lvl1pPr>
              <a:tabLst>
                <a:tab pos="6325396" algn="r"/>
              </a:tabLst>
              <a:defRPr sz="2012"/>
            </a:lvl1pPr>
            <a:lvl2pPr>
              <a:tabLst>
                <a:tab pos="6325396" algn="r"/>
              </a:tabLst>
              <a:defRPr sz="2012"/>
            </a:lvl2pPr>
            <a:lvl3pPr>
              <a:tabLst>
                <a:tab pos="6325396" algn="r"/>
              </a:tabLst>
              <a:defRPr sz="2012"/>
            </a:lvl3pPr>
            <a:lvl4pPr>
              <a:tabLst>
                <a:tab pos="6325396" algn="r"/>
              </a:tabLst>
              <a:defRPr sz="2012"/>
            </a:lvl4pPr>
            <a:lvl5pPr>
              <a:tabLst>
                <a:tab pos="6325396" algn="r"/>
              </a:tabLst>
              <a:defRPr baseline="0"/>
            </a:lvl5pPr>
            <a:lvl6pPr>
              <a:defRPr sz="2012"/>
            </a:lvl6pPr>
            <a:lvl7pPr>
              <a:defRPr sz="2012"/>
            </a:lvl7pPr>
            <a:lvl8pPr>
              <a:defRPr sz="2012"/>
            </a:lvl8pPr>
            <a:lvl9pPr>
              <a:defRPr sz="2012"/>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Content Placeholder 3"/>
          <p:cNvSpPr>
            <a:spLocks noGrp="1"/>
          </p:cNvSpPr>
          <p:nvPr>
            <p:ph sz="quarter" idx="20"/>
          </p:nvPr>
        </p:nvSpPr>
        <p:spPr>
          <a:xfrm>
            <a:off x="6384003" y="1665288"/>
            <a:ext cx="5306350" cy="4716461"/>
          </a:xfrm>
          <a:prstGeom prst="rect">
            <a:avLst/>
          </a:prstGeom>
        </p:spPr>
        <p:txBody>
          <a:bodyPr>
            <a:noAutofit/>
          </a:bodyPr>
          <a:lstStyle>
            <a:lvl1pPr>
              <a:tabLst>
                <a:tab pos="6325396" algn="r"/>
              </a:tabLst>
              <a:defRPr sz="2012"/>
            </a:lvl1pPr>
            <a:lvl2pPr>
              <a:tabLst>
                <a:tab pos="6325396" algn="r"/>
              </a:tabLst>
              <a:defRPr sz="2012"/>
            </a:lvl2pPr>
            <a:lvl3pPr>
              <a:tabLst>
                <a:tab pos="6325396" algn="r"/>
              </a:tabLst>
              <a:defRPr sz="2012"/>
            </a:lvl3pPr>
            <a:lvl4pPr>
              <a:tabLst>
                <a:tab pos="6325396" algn="r"/>
              </a:tabLst>
              <a:defRPr sz="2012"/>
            </a:lvl4pPr>
            <a:lvl5pPr>
              <a:tabLst>
                <a:tab pos="6325396" algn="r"/>
              </a:tabLst>
              <a:defRPr baseline="0"/>
            </a:lvl5pPr>
            <a:lvl6pPr>
              <a:defRPr sz="2012"/>
            </a:lvl6pPr>
            <a:lvl7pPr>
              <a:defRPr sz="2012"/>
            </a:lvl7pPr>
            <a:lvl8pPr>
              <a:defRPr sz="2012"/>
            </a:lvl8pPr>
            <a:lvl9pPr>
              <a:defRPr sz="2012"/>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902368331"/>
      </p:ext>
    </p:extLst>
  </p:cSld>
  <p:clrMapOvr>
    <a:masterClrMapping/>
  </p:clrMapOvr>
  <p:transition>
    <p:fade/>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1_Team profile 2">
    <p:spTree>
      <p:nvGrpSpPr>
        <p:cNvPr id="1" name=""/>
        <p:cNvGrpSpPr/>
        <p:nvPr/>
      </p:nvGrpSpPr>
      <p:grpSpPr>
        <a:xfrm>
          <a:off x="0" y="0"/>
          <a:ext cx="0" cy="0"/>
          <a:chOff x="0" y="0"/>
          <a:chExt cx="0" cy="0"/>
        </a:xfrm>
      </p:grpSpPr>
      <p:sp>
        <p:nvSpPr>
          <p:cNvPr id="2" name="Title 1"/>
          <p:cNvSpPr>
            <a:spLocks noGrp="1"/>
          </p:cNvSpPr>
          <p:nvPr>
            <p:ph type="title"/>
          </p:nvPr>
        </p:nvSpPr>
        <p:spPr>
          <a:xfrm>
            <a:off x="501652" y="317500"/>
            <a:ext cx="11188699" cy="334100"/>
          </a:xfrm>
        </p:spPr>
        <p:txBody>
          <a:bodyPr/>
          <a:lstStyle/>
          <a:p>
            <a:r>
              <a:rPr lang="en-US" noProof="0"/>
              <a:t>Click to edit Master title style</a:t>
            </a:r>
          </a:p>
        </p:txBody>
      </p:sp>
      <p:sp>
        <p:nvSpPr>
          <p:cNvPr id="4" name="Rectangle 3"/>
          <p:cNvSpPr/>
          <p:nvPr userDrawn="1"/>
        </p:nvSpPr>
        <p:spPr>
          <a:xfrm>
            <a:off x="504002" y="1707173"/>
            <a:ext cx="5496000"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5" name="Rectangle 4"/>
          <p:cNvSpPr/>
          <p:nvPr userDrawn="1"/>
        </p:nvSpPr>
        <p:spPr>
          <a:xfrm>
            <a:off x="6224086" y="1700217"/>
            <a:ext cx="5475066"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6" name="Rectangle 5"/>
          <p:cNvSpPr/>
          <p:nvPr userDrawn="1"/>
        </p:nvSpPr>
        <p:spPr>
          <a:xfrm>
            <a:off x="504002" y="4065173"/>
            <a:ext cx="5496000"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7" name="Rectangle 6"/>
          <p:cNvSpPr/>
          <p:nvPr userDrawn="1"/>
        </p:nvSpPr>
        <p:spPr>
          <a:xfrm>
            <a:off x="6224086" y="4065173"/>
            <a:ext cx="5475066"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8" name="Picture Placeholder 11"/>
          <p:cNvSpPr>
            <a:spLocks noGrp="1"/>
          </p:cNvSpPr>
          <p:nvPr>
            <p:ph type="pic" sz="quarter" idx="25"/>
          </p:nvPr>
        </p:nvSpPr>
        <p:spPr>
          <a:xfrm>
            <a:off x="504003" y="1880213"/>
            <a:ext cx="1968000" cy="1476000"/>
          </a:xfrm>
        </p:spPr>
        <p:txBody>
          <a:bodyPr/>
          <a:lstStyle>
            <a:lvl1pPr algn="ctr">
              <a:defRPr/>
            </a:lvl1pPr>
          </a:lstStyle>
          <a:p>
            <a:r>
              <a:rPr lang="en-US" noProof="0"/>
              <a:t>Click icon to add picture</a:t>
            </a:r>
          </a:p>
        </p:txBody>
      </p:sp>
      <p:sp>
        <p:nvSpPr>
          <p:cNvPr id="9" name="Picture Placeholder 11"/>
          <p:cNvSpPr>
            <a:spLocks noGrp="1"/>
          </p:cNvSpPr>
          <p:nvPr>
            <p:ph type="pic" sz="quarter" idx="27"/>
          </p:nvPr>
        </p:nvSpPr>
        <p:spPr>
          <a:xfrm>
            <a:off x="6224088" y="1880213"/>
            <a:ext cx="1968000" cy="1476000"/>
          </a:xfrm>
        </p:spPr>
        <p:txBody>
          <a:bodyPr/>
          <a:lstStyle>
            <a:lvl1pPr algn="ctr">
              <a:defRPr/>
            </a:lvl1pPr>
          </a:lstStyle>
          <a:p>
            <a:r>
              <a:rPr lang="en-US" noProof="0"/>
              <a:t>Click icon to add picture</a:t>
            </a:r>
          </a:p>
        </p:txBody>
      </p:sp>
      <p:sp>
        <p:nvSpPr>
          <p:cNvPr id="10" name="Picture Placeholder 11"/>
          <p:cNvSpPr>
            <a:spLocks noGrp="1"/>
          </p:cNvSpPr>
          <p:nvPr>
            <p:ph type="pic" sz="quarter" idx="29"/>
          </p:nvPr>
        </p:nvSpPr>
        <p:spPr>
          <a:xfrm>
            <a:off x="504003" y="4256213"/>
            <a:ext cx="1968000" cy="1476000"/>
          </a:xfrm>
        </p:spPr>
        <p:txBody>
          <a:bodyPr/>
          <a:lstStyle>
            <a:lvl1pPr algn="ctr">
              <a:defRPr/>
            </a:lvl1pPr>
          </a:lstStyle>
          <a:p>
            <a:r>
              <a:rPr lang="en-US" noProof="0"/>
              <a:t>Click icon to add picture</a:t>
            </a:r>
          </a:p>
        </p:txBody>
      </p:sp>
      <p:sp>
        <p:nvSpPr>
          <p:cNvPr id="11" name="Picture Placeholder 11"/>
          <p:cNvSpPr>
            <a:spLocks noGrp="1"/>
          </p:cNvSpPr>
          <p:nvPr>
            <p:ph type="pic" sz="quarter" idx="31"/>
          </p:nvPr>
        </p:nvSpPr>
        <p:spPr>
          <a:xfrm>
            <a:off x="6224088" y="4256213"/>
            <a:ext cx="1968000" cy="1476000"/>
          </a:xfrm>
        </p:spPr>
        <p:txBody>
          <a:bodyPr/>
          <a:lstStyle>
            <a:lvl1pPr algn="ctr">
              <a:defRPr/>
            </a:lvl1pPr>
          </a:lstStyle>
          <a:p>
            <a:r>
              <a:rPr lang="en-US" noProof="0"/>
              <a:t>Click icon to add picture</a:t>
            </a:r>
          </a:p>
        </p:txBody>
      </p:sp>
      <p:sp>
        <p:nvSpPr>
          <p:cNvPr id="13" name="Text Placeholder 12"/>
          <p:cNvSpPr>
            <a:spLocks noGrp="1"/>
          </p:cNvSpPr>
          <p:nvPr>
            <p:ph type="body" sz="quarter" idx="32"/>
          </p:nvPr>
        </p:nvSpPr>
        <p:spPr>
          <a:xfrm>
            <a:off x="2683484" y="1880213"/>
            <a:ext cx="3288000"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4" name="Text Placeholder 12"/>
          <p:cNvSpPr>
            <a:spLocks noGrp="1"/>
          </p:cNvSpPr>
          <p:nvPr>
            <p:ph type="body" sz="quarter" idx="33"/>
          </p:nvPr>
        </p:nvSpPr>
        <p:spPr>
          <a:xfrm>
            <a:off x="8396564" y="1880213"/>
            <a:ext cx="3302591"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5" name="Text Placeholder 12"/>
          <p:cNvSpPr>
            <a:spLocks noGrp="1"/>
          </p:cNvSpPr>
          <p:nvPr>
            <p:ph type="body" sz="quarter" idx="34"/>
          </p:nvPr>
        </p:nvSpPr>
        <p:spPr>
          <a:xfrm>
            <a:off x="2683484" y="4256213"/>
            <a:ext cx="3288000"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6" name="Text Placeholder 12"/>
          <p:cNvSpPr>
            <a:spLocks noGrp="1"/>
          </p:cNvSpPr>
          <p:nvPr>
            <p:ph type="body" sz="quarter" idx="35"/>
          </p:nvPr>
        </p:nvSpPr>
        <p:spPr>
          <a:xfrm>
            <a:off x="8396564" y="4256213"/>
            <a:ext cx="3302591"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7" name="Text Placeholder 8"/>
          <p:cNvSpPr>
            <a:spLocks noGrp="1"/>
          </p:cNvSpPr>
          <p:nvPr>
            <p:ph type="body" sz="quarter" idx="13" hasCustomPrompt="1"/>
          </p:nvPr>
        </p:nvSpPr>
        <p:spPr>
          <a:xfrm>
            <a:off x="501652" y="651602"/>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2938466979"/>
      </p:ext>
    </p:extLst>
  </p:cSld>
  <p:clrMapOvr>
    <a:masterClrMapping/>
  </p:clrMapOvr>
  <p:transition>
    <p:fade/>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_Qualifications 2 x 1">
    <p:spTree>
      <p:nvGrpSpPr>
        <p:cNvPr id="1" name=""/>
        <p:cNvGrpSpPr/>
        <p:nvPr/>
      </p:nvGrpSpPr>
      <p:grpSpPr>
        <a:xfrm>
          <a:off x="0" y="0"/>
          <a:ext cx="0" cy="0"/>
          <a:chOff x="0" y="0"/>
          <a:chExt cx="0" cy="0"/>
        </a:xfrm>
      </p:grpSpPr>
      <p:sp>
        <p:nvSpPr>
          <p:cNvPr id="8" name="Text Placeholder 8"/>
          <p:cNvSpPr>
            <a:spLocks noGrp="1"/>
          </p:cNvSpPr>
          <p:nvPr>
            <p:ph type="body" sz="quarter" idx="17"/>
          </p:nvPr>
        </p:nvSpPr>
        <p:spPr>
          <a:xfrm>
            <a:off x="504002" y="1857895"/>
            <a:ext cx="5466824"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21"/>
          </p:nvPr>
        </p:nvSpPr>
        <p:spPr>
          <a:xfrm>
            <a:off x="6246195" y="1857895"/>
            <a:ext cx="5444156"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Title 1"/>
          <p:cNvSpPr>
            <a:spLocks noGrp="1"/>
          </p:cNvSpPr>
          <p:nvPr>
            <p:ph type="title"/>
          </p:nvPr>
        </p:nvSpPr>
        <p:spPr>
          <a:xfrm>
            <a:off x="501652" y="317506"/>
            <a:ext cx="11188699" cy="334099"/>
          </a:xfrm>
        </p:spPr>
        <p:txBody>
          <a:bodyPr/>
          <a:lstStyle/>
          <a:p>
            <a:r>
              <a:rPr lang="en-US" noProof="0"/>
              <a:t>Click to edit Master title style</a:t>
            </a:r>
          </a:p>
        </p:txBody>
      </p:sp>
      <p:sp>
        <p:nvSpPr>
          <p:cNvPr id="4" name="Rectangle 3"/>
          <p:cNvSpPr/>
          <p:nvPr userDrawn="1"/>
        </p:nvSpPr>
        <p:spPr>
          <a:xfrm>
            <a:off x="504002" y="1705378"/>
            <a:ext cx="5466824"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noProof="0">
              <a:solidFill>
                <a:schemeClr val="bg1"/>
              </a:solidFill>
            </a:endParaRPr>
          </a:p>
        </p:txBody>
      </p:sp>
      <p:sp>
        <p:nvSpPr>
          <p:cNvPr id="5" name="Rectangle 4"/>
          <p:cNvSpPr/>
          <p:nvPr userDrawn="1"/>
        </p:nvSpPr>
        <p:spPr>
          <a:xfrm>
            <a:off x="6246195" y="1705378"/>
            <a:ext cx="5452958"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noProof="0">
              <a:solidFill>
                <a:schemeClr val="bg1"/>
              </a:solidFill>
            </a:endParaRPr>
          </a:p>
        </p:txBody>
      </p:sp>
      <p:sp>
        <p:nvSpPr>
          <p:cNvPr id="6" name="Picture Placeholder 29"/>
          <p:cNvSpPr>
            <a:spLocks noGrp="1"/>
          </p:cNvSpPr>
          <p:nvPr>
            <p:ph type="pic" sz="quarter" idx="19" hasCustomPrompt="1"/>
          </p:nvPr>
        </p:nvSpPr>
        <p:spPr>
          <a:xfrm>
            <a:off x="4769494" y="1863918"/>
            <a:ext cx="1210206" cy="549275"/>
          </a:xfrm>
        </p:spPr>
        <p:txBody>
          <a:bodyPr/>
          <a:lstStyle>
            <a:lvl1pPr marL="0" marR="0" indent="0" algn="l" defTabSz="1150072"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7" name="Picture Placeholder 29"/>
          <p:cNvSpPr>
            <a:spLocks noGrp="1"/>
          </p:cNvSpPr>
          <p:nvPr>
            <p:ph type="pic" sz="quarter" idx="20" hasCustomPrompt="1"/>
          </p:nvPr>
        </p:nvSpPr>
        <p:spPr>
          <a:xfrm>
            <a:off x="10424620" y="1857894"/>
            <a:ext cx="1244161" cy="549275"/>
          </a:xfrm>
        </p:spPr>
        <p:txBody>
          <a:bodyPr/>
          <a:lstStyle>
            <a:lvl1pPr marL="0" marR="0" indent="0" algn="l" defTabSz="1150072"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6" name="Text Placeholder 8"/>
          <p:cNvSpPr>
            <a:spLocks noGrp="1"/>
          </p:cNvSpPr>
          <p:nvPr>
            <p:ph type="body" sz="quarter" idx="13" hasCustomPrompt="1"/>
          </p:nvPr>
        </p:nvSpPr>
        <p:spPr>
          <a:xfrm>
            <a:off x="501652" y="651602"/>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1351203359"/>
      </p:ext>
    </p:extLst>
  </p:cSld>
  <p:clrMapOvr>
    <a:masterClrMapping/>
  </p:clrMapOvr>
  <p:transition>
    <p:fade/>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_Qualifications 2 x 2">
    <p:spTree>
      <p:nvGrpSpPr>
        <p:cNvPr id="1" name=""/>
        <p:cNvGrpSpPr/>
        <p:nvPr/>
      </p:nvGrpSpPr>
      <p:grpSpPr>
        <a:xfrm>
          <a:off x="0" y="0"/>
          <a:ext cx="0" cy="0"/>
          <a:chOff x="0" y="0"/>
          <a:chExt cx="0" cy="0"/>
        </a:xfrm>
      </p:grpSpPr>
      <p:sp>
        <p:nvSpPr>
          <p:cNvPr id="8" name="Text Placeholder 8"/>
          <p:cNvSpPr>
            <a:spLocks noGrp="1"/>
          </p:cNvSpPr>
          <p:nvPr>
            <p:ph type="body" sz="quarter" idx="17"/>
          </p:nvPr>
        </p:nvSpPr>
        <p:spPr>
          <a:xfrm>
            <a:off x="504001" y="1857895"/>
            <a:ext cx="5468941"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21"/>
          </p:nvPr>
        </p:nvSpPr>
        <p:spPr>
          <a:xfrm>
            <a:off x="6246195" y="1857895"/>
            <a:ext cx="5454668"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Title 1"/>
          <p:cNvSpPr>
            <a:spLocks noGrp="1"/>
          </p:cNvSpPr>
          <p:nvPr>
            <p:ph type="title"/>
          </p:nvPr>
        </p:nvSpPr>
        <p:spPr>
          <a:xfrm>
            <a:off x="501652" y="317506"/>
            <a:ext cx="11188699" cy="334099"/>
          </a:xfrm>
        </p:spPr>
        <p:txBody>
          <a:bodyPr/>
          <a:lstStyle/>
          <a:p>
            <a:r>
              <a:rPr lang="en-US" noProof="0"/>
              <a:t>Click to edit Master title style</a:t>
            </a:r>
          </a:p>
        </p:txBody>
      </p:sp>
      <p:sp>
        <p:nvSpPr>
          <p:cNvPr id="4" name="Rectangle 3"/>
          <p:cNvSpPr/>
          <p:nvPr userDrawn="1"/>
        </p:nvSpPr>
        <p:spPr>
          <a:xfrm>
            <a:off x="504002" y="1705378"/>
            <a:ext cx="5466824"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noProof="0">
              <a:solidFill>
                <a:schemeClr val="bg1"/>
              </a:solidFill>
            </a:endParaRPr>
          </a:p>
        </p:txBody>
      </p:sp>
      <p:sp>
        <p:nvSpPr>
          <p:cNvPr id="5" name="Rectangle 4"/>
          <p:cNvSpPr/>
          <p:nvPr userDrawn="1"/>
        </p:nvSpPr>
        <p:spPr>
          <a:xfrm>
            <a:off x="6246195" y="1705378"/>
            <a:ext cx="5452958"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noProof="0">
              <a:solidFill>
                <a:schemeClr val="bg1"/>
              </a:solidFill>
            </a:endParaRPr>
          </a:p>
        </p:txBody>
      </p:sp>
      <p:sp>
        <p:nvSpPr>
          <p:cNvPr id="7" name="Picture Placeholder 29"/>
          <p:cNvSpPr>
            <a:spLocks noGrp="1"/>
          </p:cNvSpPr>
          <p:nvPr>
            <p:ph type="pic" sz="quarter" idx="20" hasCustomPrompt="1"/>
          </p:nvPr>
        </p:nvSpPr>
        <p:spPr>
          <a:xfrm>
            <a:off x="10424620" y="1857894"/>
            <a:ext cx="1244161" cy="549275"/>
          </a:xfrm>
        </p:spPr>
        <p:txBody>
          <a:bodyPr/>
          <a:lstStyle>
            <a:lvl1pPr marL="0" marR="0" indent="0" algn="l" defTabSz="1150072"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0" name="Text Placeholder 8"/>
          <p:cNvSpPr>
            <a:spLocks noGrp="1"/>
          </p:cNvSpPr>
          <p:nvPr>
            <p:ph type="body" sz="quarter" idx="22"/>
          </p:nvPr>
        </p:nvSpPr>
        <p:spPr>
          <a:xfrm>
            <a:off x="504002" y="4249685"/>
            <a:ext cx="5466824"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Text Placeholder 8"/>
          <p:cNvSpPr>
            <a:spLocks noGrp="1"/>
          </p:cNvSpPr>
          <p:nvPr>
            <p:ph type="body" sz="quarter" idx="23"/>
          </p:nvPr>
        </p:nvSpPr>
        <p:spPr>
          <a:xfrm>
            <a:off x="6246196" y="4249685"/>
            <a:ext cx="5452958"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Rectangle 11"/>
          <p:cNvSpPr/>
          <p:nvPr userDrawn="1"/>
        </p:nvSpPr>
        <p:spPr>
          <a:xfrm>
            <a:off x="504001" y="4103518"/>
            <a:ext cx="5468942"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noProof="0">
              <a:solidFill>
                <a:schemeClr val="bg1"/>
              </a:solidFill>
            </a:endParaRPr>
          </a:p>
        </p:txBody>
      </p:sp>
      <p:sp>
        <p:nvSpPr>
          <p:cNvPr id="13" name="Rectangle 12"/>
          <p:cNvSpPr/>
          <p:nvPr userDrawn="1"/>
        </p:nvSpPr>
        <p:spPr>
          <a:xfrm>
            <a:off x="6246196" y="4103518"/>
            <a:ext cx="5444716"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noProof="0">
              <a:solidFill>
                <a:schemeClr val="bg1"/>
              </a:solidFill>
            </a:endParaRPr>
          </a:p>
        </p:txBody>
      </p:sp>
      <p:sp>
        <p:nvSpPr>
          <p:cNvPr id="14" name="Picture Placeholder 29"/>
          <p:cNvSpPr>
            <a:spLocks noGrp="1"/>
          </p:cNvSpPr>
          <p:nvPr>
            <p:ph type="pic" sz="quarter" idx="24" hasCustomPrompt="1"/>
          </p:nvPr>
        </p:nvSpPr>
        <p:spPr>
          <a:xfrm>
            <a:off x="4754495" y="4255708"/>
            <a:ext cx="1239382" cy="549275"/>
          </a:xfrm>
        </p:spPr>
        <p:txBody>
          <a:bodyPr/>
          <a:lstStyle>
            <a:lvl1pPr marL="0" marR="0" indent="0" algn="l" defTabSz="1150072"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5" name="Picture Placeholder 29"/>
          <p:cNvSpPr>
            <a:spLocks noGrp="1"/>
          </p:cNvSpPr>
          <p:nvPr>
            <p:ph type="pic" sz="quarter" idx="25" hasCustomPrompt="1"/>
          </p:nvPr>
        </p:nvSpPr>
        <p:spPr>
          <a:xfrm>
            <a:off x="10424617" y="4249684"/>
            <a:ext cx="1244160" cy="549275"/>
          </a:xfrm>
        </p:spPr>
        <p:txBody>
          <a:bodyPr/>
          <a:lstStyle>
            <a:lvl1pPr marL="0" marR="0" indent="0" algn="l" defTabSz="1150072"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6" name="Text Placeholder 8"/>
          <p:cNvSpPr>
            <a:spLocks noGrp="1"/>
          </p:cNvSpPr>
          <p:nvPr>
            <p:ph type="body" sz="quarter" idx="13" hasCustomPrompt="1"/>
          </p:nvPr>
        </p:nvSpPr>
        <p:spPr>
          <a:xfrm>
            <a:off x="501651" y="651602"/>
            <a:ext cx="11197501"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7" name="Picture Placeholder 29"/>
          <p:cNvSpPr>
            <a:spLocks noGrp="1"/>
          </p:cNvSpPr>
          <p:nvPr>
            <p:ph type="pic" sz="quarter" idx="19" hasCustomPrompt="1"/>
          </p:nvPr>
        </p:nvSpPr>
        <p:spPr>
          <a:xfrm>
            <a:off x="4769494" y="1863918"/>
            <a:ext cx="1210206" cy="549275"/>
          </a:xfrm>
        </p:spPr>
        <p:txBody>
          <a:bodyPr/>
          <a:lstStyle>
            <a:lvl1pPr marL="0" marR="0" indent="0" algn="l" defTabSz="1150072"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Tree>
    <p:extLst>
      <p:ext uri="{BB962C8B-B14F-4D97-AF65-F5344CB8AC3E}">
        <p14:creationId xmlns:p14="http://schemas.microsoft.com/office/powerpoint/2010/main" val="3032739182"/>
      </p:ext>
    </p:extLst>
  </p:cSld>
  <p:clrMapOvr>
    <a:masterClrMapping/>
  </p:clrMapOvr>
  <p:transition>
    <p:fade/>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_3 column green line">
    <p:spTree>
      <p:nvGrpSpPr>
        <p:cNvPr id="1" name=""/>
        <p:cNvGrpSpPr/>
        <p:nvPr/>
      </p:nvGrpSpPr>
      <p:grpSpPr>
        <a:xfrm>
          <a:off x="0" y="0"/>
          <a:ext cx="0" cy="0"/>
          <a:chOff x="0" y="0"/>
          <a:chExt cx="0" cy="0"/>
        </a:xfrm>
      </p:grpSpPr>
      <p:sp>
        <p:nvSpPr>
          <p:cNvPr id="2" name="Title 1"/>
          <p:cNvSpPr>
            <a:spLocks noGrp="1"/>
          </p:cNvSpPr>
          <p:nvPr>
            <p:ph type="title"/>
          </p:nvPr>
        </p:nvSpPr>
        <p:spPr>
          <a:xfrm>
            <a:off x="501652" y="317506"/>
            <a:ext cx="11188699" cy="334099"/>
          </a:xfrm>
        </p:spPr>
        <p:txBody>
          <a:bodyPr/>
          <a:lstStyle/>
          <a:p>
            <a:r>
              <a:rPr lang="en-US" noProof="0"/>
              <a:t>Click to edit Master title style</a:t>
            </a:r>
          </a:p>
        </p:txBody>
      </p:sp>
      <p:sp>
        <p:nvSpPr>
          <p:cNvPr id="4" name="Rectangle 3"/>
          <p:cNvSpPr/>
          <p:nvPr userDrawn="1"/>
        </p:nvSpPr>
        <p:spPr>
          <a:xfrm>
            <a:off x="4320002" y="1705968"/>
            <a:ext cx="3556117"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5" name="Rectangle 4"/>
          <p:cNvSpPr/>
          <p:nvPr userDrawn="1"/>
        </p:nvSpPr>
        <p:spPr>
          <a:xfrm>
            <a:off x="504001" y="1700214"/>
            <a:ext cx="3560000" cy="5975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6" name="Rectangle 5"/>
          <p:cNvSpPr/>
          <p:nvPr userDrawn="1"/>
        </p:nvSpPr>
        <p:spPr>
          <a:xfrm>
            <a:off x="8115300" y="1705968"/>
            <a:ext cx="3583853"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7" name="Text Placeholder 8"/>
          <p:cNvSpPr>
            <a:spLocks noGrp="1"/>
          </p:cNvSpPr>
          <p:nvPr>
            <p:ph type="body" sz="quarter" idx="17"/>
          </p:nvPr>
        </p:nvSpPr>
        <p:spPr>
          <a:xfrm>
            <a:off x="4325712" y="1851441"/>
            <a:ext cx="3540577" cy="3845754"/>
          </a:xfrm>
        </p:spPr>
        <p:txBody>
          <a:bodyPr/>
          <a:lstStyle>
            <a:lvl1pPr>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8"/>
          <p:cNvSpPr>
            <a:spLocks noGrp="1"/>
          </p:cNvSpPr>
          <p:nvPr>
            <p:ph type="body" sz="quarter" idx="18"/>
          </p:nvPr>
        </p:nvSpPr>
        <p:spPr>
          <a:xfrm>
            <a:off x="504001" y="1851441"/>
            <a:ext cx="3560000" cy="3845754"/>
          </a:xfrm>
        </p:spPr>
        <p:txBody>
          <a:bodyPr/>
          <a:lstStyle>
            <a:lvl1pPr>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19"/>
          </p:nvPr>
        </p:nvSpPr>
        <p:spPr>
          <a:xfrm>
            <a:off x="8128002" y="1851441"/>
            <a:ext cx="3571153" cy="3845754"/>
          </a:xfrm>
        </p:spPr>
        <p:txBody>
          <a:bodyPr/>
          <a:lstStyle>
            <a:lvl1pPr>
              <a:defRPr b="1">
                <a:solidFill>
                  <a:schemeClr val="accent1"/>
                </a:solidFill>
              </a:defRPr>
            </a:lvl1pPr>
            <a:lvl2pPr>
              <a:spcAft>
                <a:spcPts val="1258"/>
              </a:spcAft>
              <a:defRPr/>
            </a:lvl2pPr>
            <a:lvl3pPr marL="0" indent="0">
              <a:spcAft>
                <a:spcPts val="1258"/>
              </a:spcAft>
              <a:buNone/>
              <a:defRPr/>
            </a:lvl3pPr>
            <a:lvl4pPr marL="221864" indent="-221864">
              <a:spcAft>
                <a:spcPts val="1258"/>
              </a:spcAft>
              <a:buFont typeface="Arial" panose="020B0604020202020204" pitchFamily="34" charset="0"/>
              <a:buChar char="•"/>
              <a:defRPr/>
            </a:lvl4pPr>
            <a:lvl5pPr marL="448256" indent="-221864">
              <a:spcAft>
                <a:spcPts val="1258"/>
              </a:spcAft>
              <a:defRPr baseline="0"/>
            </a:lvl5pPr>
            <a:lvl6pPr marL="448256" indent="-221864">
              <a:spcAft>
                <a:spcPts val="1258"/>
              </a:spcAft>
              <a:buFont typeface="Verdana" panose="020B0604030504040204" pitchFamily="34" charset="0"/>
              <a:buChar char="−"/>
              <a:defRPr/>
            </a:lvl6pPr>
            <a:lvl7pPr marL="448256" indent="-221864">
              <a:spcAft>
                <a:spcPts val="1258"/>
              </a:spcAft>
              <a:defRPr/>
            </a:lvl7pPr>
            <a:lvl8pPr marL="448256" indent="-221864">
              <a:spcAft>
                <a:spcPts val="1258"/>
              </a:spcAft>
              <a:defRPr/>
            </a:lvl8pPr>
            <a:lvl9pPr marL="448256" indent="-221864">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Text Placeholder 8"/>
          <p:cNvSpPr>
            <a:spLocks noGrp="1"/>
          </p:cNvSpPr>
          <p:nvPr>
            <p:ph type="body" sz="quarter" idx="13" hasCustomPrompt="1"/>
          </p:nvPr>
        </p:nvSpPr>
        <p:spPr>
          <a:xfrm>
            <a:off x="501652" y="651602"/>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2595856541"/>
      </p:ext>
    </p:extLst>
  </p:cSld>
  <p:clrMapOvr>
    <a:masterClrMapping/>
  </p:clrMapOvr>
  <p:transition>
    <p:fade/>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_4 column icon green">
    <p:spTree>
      <p:nvGrpSpPr>
        <p:cNvPr id="1" name=""/>
        <p:cNvGrpSpPr/>
        <p:nvPr/>
      </p:nvGrpSpPr>
      <p:grpSpPr>
        <a:xfrm>
          <a:off x="0" y="0"/>
          <a:ext cx="0" cy="0"/>
          <a:chOff x="0" y="0"/>
          <a:chExt cx="0" cy="0"/>
        </a:xfrm>
      </p:grpSpPr>
      <p:sp>
        <p:nvSpPr>
          <p:cNvPr id="2" name="Title 1"/>
          <p:cNvSpPr>
            <a:spLocks noGrp="1"/>
          </p:cNvSpPr>
          <p:nvPr>
            <p:ph type="title"/>
          </p:nvPr>
        </p:nvSpPr>
        <p:spPr>
          <a:xfrm>
            <a:off x="501650" y="317504"/>
            <a:ext cx="11188701" cy="370193"/>
          </a:xfrm>
        </p:spPr>
        <p:txBody>
          <a:bodyPr/>
          <a:lstStyle>
            <a:lvl1pPr>
              <a:defRPr>
                <a:solidFill>
                  <a:schemeClr val="bg1"/>
                </a:solidFill>
              </a:defRPr>
            </a:lvl1pPr>
          </a:lstStyle>
          <a:p>
            <a:r>
              <a:rPr lang="en-US" noProof="0"/>
              <a:t>Click to edit Master title style</a:t>
            </a:r>
          </a:p>
        </p:txBody>
      </p:sp>
      <p:sp>
        <p:nvSpPr>
          <p:cNvPr id="4" name="Text Placeholder 8"/>
          <p:cNvSpPr>
            <a:spLocks noGrp="1"/>
          </p:cNvSpPr>
          <p:nvPr>
            <p:ph type="body" sz="quarter" idx="17"/>
          </p:nvPr>
        </p:nvSpPr>
        <p:spPr>
          <a:xfrm>
            <a:off x="504000"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64" indent="-221864">
              <a:spcAft>
                <a:spcPts val="1258"/>
              </a:spcAft>
              <a:buFont typeface="Arial" panose="020B0604020202020204" pitchFamily="34" charset="0"/>
              <a:buChar char="•"/>
              <a:defRPr>
                <a:solidFill>
                  <a:schemeClr val="bg1"/>
                </a:solidFill>
              </a:defRPr>
            </a:lvl4pPr>
            <a:lvl5pPr marL="448256" indent="-221864">
              <a:spcAft>
                <a:spcPts val="1258"/>
              </a:spcAft>
              <a:defRPr baseline="0">
                <a:solidFill>
                  <a:schemeClr val="bg1"/>
                </a:solidFill>
              </a:defRPr>
            </a:lvl5pPr>
            <a:lvl6pPr marL="448256" indent="-221864">
              <a:spcAft>
                <a:spcPts val="1258"/>
              </a:spcAft>
              <a:buFont typeface="Verdana" panose="020B0604030504040204" pitchFamily="34" charset="0"/>
              <a:buChar char="−"/>
              <a:defRPr>
                <a:solidFill>
                  <a:schemeClr val="bg1"/>
                </a:solidFill>
              </a:defRPr>
            </a:lvl6pPr>
            <a:lvl7pPr marL="448256" indent="-221864">
              <a:spcAft>
                <a:spcPts val="1258"/>
              </a:spcAft>
              <a:defRPr>
                <a:solidFill>
                  <a:schemeClr val="bg1"/>
                </a:solidFill>
              </a:defRPr>
            </a:lvl7pPr>
            <a:lvl8pPr marL="448256" indent="-221864">
              <a:spcAft>
                <a:spcPts val="1258"/>
              </a:spcAft>
              <a:defRPr>
                <a:solidFill>
                  <a:schemeClr val="bg1"/>
                </a:solidFill>
              </a:defRPr>
            </a:lvl8pPr>
            <a:lvl9pPr marL="448256" indent="-221864">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Text Placeholder 8"/>
          <p:cNvSpPr>
            <a:spLocks noGrp="1"/>
          </p:cNvSpPr>
          <p:nvPr>
            <p:ph type="body" sz="quarter" idx="18"/>
          </p:nvPr>
        </p:nvSpPr>
        <p:spPr>
          <a:xfrm>
            <a:off x="9100752"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64" indent="-221864">
              <a:spcAft>
                <a:spcPts val="1258"/>
              </a:spcAft>
              <a:buFont typeface="Arial" panose="020B0604020202020204" pitchFamily="34" charset="0"/>
              <a:buChar char="•"/>
              <a:defRPr>
                <a:solidFill>
                  <a:schemeClr val="bg1"/>
                </a:solidFill>
              </a:defRPr>
            </a:lvl4pPr>
            <a:lvl5pPr marL="448256" indent="-221864">
              <a:spcAft>
                <a:spcPts val="1258"/>
              </a:spcAft>
              <a:defRPr baseline="0">
                <a:solidFill>
                  <a:schemeClr val="bg1"/>
                </a:solidFill>
              </a:defRPr>
            </a:lvl5pPr>
            <a:lvl6pPr marL="448256" indent="-221864">
              <a:spcAft>
                <a:spcPts val="1258"/>
              </a:spcAft>
              <a:buFont typeface="Verdana" panose="020B0604030504040204" pitchFamily="34" charset="0"/>
              <a:buChar char="−"/>
              <a:defRPr>
                <a:solidFill>
                  <a:schemeClr val="bg1"/>
                </a:solidFill>
              </a:defRPr>
            </a:lvl6pPr>
            <a:lvl7pPr marL="448256" indent="-221864">
              <a:spcAft>
                <a:spcPts val="1258"/>
              </a:spcAft>
              <a:defRPr>
                <a:solidFill>
                  <a:schemeClr val="bg1"/>
                </a:solidFill>
              </a:defRPr>
            </a:lvl7pPr>
            <a:lvl8pPr marL="448256" indent="-221864">
              <a:spcAft>
                <a:spcPts val="1258"/>
              </a:spcAft>
              <a:defRPr>
                <a:solidFill>
                  <a:schemeClr val="bg1"/>
                </a:solidFill>
              </a:defRPr>
            </a:lvl8pPr>
            <a:lvl9pPr marL="448256" indent="-221864">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Text Placeholder 8"/>
          <p:cNvSpPr>
            <a:spLocks noGrp="1"/>
          </p:cNvSpPr>
          <p:nvPr>
            <p:ph type="body" sz="quarter" idx="19"/>
          </p:nvPr>
        </p:nvSpPr>
        <p:spPr>
          <a:xfrm>
            <a:off x="3369584"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64" indent="-221864">
              <a:spcAft>
                <a:spcPts val="1258"/>
              </a:spcAft>
              <a:buFont typeface="Arial" panose="020B0604020202020204" pitchFamily="34" charset="0"/>
              <a:buChar char="•"/>
              <a:defRPr>
                <a:solidFill>
                  <a:schemeClr val="bg1"/>
                </a:solidFill>
              </a:defRPr>
            </a:lvl4pPr>
            <a:lvl5pPr marL="448256" indent="-221864">
              <a:spcAft>
                <a:spcPts val="1258"/>
              </a:spcAft>
              <a:defRPr baseline="0">
                <a:solidFill>
                  <a:schemeClr val="bg1"/>
                </a:solidFill>
              </a:defRPr>
            </a:lvl5pPr>
            <a:lvl6pPr marL="448256" indent="-221864">
              <a:spcAft>
                <a:spcPts val="1258"/>
              </a:spcAft>
              <a:buFont typeface="Verdana" panose="020B0604030504040204" pitchFamily="34" charset="0"/>
              <a:buChar char="−"/>
              <a:defRPr>
                <a:solidFill>
                  <a:schemeClr val="bg1"/>
                </a:solidFill>
              </a:defRPr>
            </a:lvl6pPr>
            <a:lvl7pPr marL="448256" indent="-221864">
              <a:spcAft>
                <a:spcPts val="1258"/>
              </a:spcAft>
              <a:defRPr>
                <a:solidFill>
                  <a:schemeClr val="bg1"/>
                </a:solidFill>
              </a:defRPr>
            </a:lvl7pPr>
            <a:lvl8pPr marL="448256" indent="-221864">
              <a:spcAft>
                <a:spcPts val="1258"/>
              </a:spcAft>
              <a:defRPr>
                <a:solidFill>
                  <a:schemeClr val="bg1"/>
                </a:solidFill>
              </a:defRPr>
            </a:lvl8pPr>
            <a:lvl9pPr marL="448256" indent="-221864">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Text Placeholder 8"/>
          <p:cNvSpPr>
            <a:spLocks noGrp="1"/>
          </p:cNvSpPr>
          <p:nvPr>
            <p:ph type="body" sz="quarter" idx="20"/>
          </p:nvPr>
        </p:nvSpPr>
        <p:spPr>
          <a:xfrm>
            <a:off x="6235168"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64" indent="-221864">
              <a:spcAft>
                <a:spcPts val="1258"/>
              </a:spcAft>
              <a:buFont typeface="Arial" panose="020B0604020202020204" pitchFamily="34" charset="0"/>
              <a:buChar char="•"/>
              <a:defRPr>
                <a:solidFill>
                  <a:schemeClr val="bg1"/>
                </a:solidFill>
              </a:defRPr>
            </a:lvl4pPr>
            <a:lvl5pPr marL="448256" indent="-221864">
              <a:spcAft>
                <a:spcPts val="1258"/>
              </a:spcAft>
              <a:defRPr baseline="0">
                <a:solidFill>
                  <a:schemeClr val="bg1"/>
                </a:solidFill>
              </a:defRPr>
            </a:lvl5pPr>
            <a:lvl6pPr marL="448256" indent="-221864">
              <a:spcAft>
                <a:spcPts val="1258"/>
              </a:spcAft>
              <a:buFont typeface="Verdana" panose="020B0604030504040204" pitchFamily="34" charset="0"/>
              <a:buChar char="−"/>
              <a:defRPr>
                <a:solidFill>
                  <a:schemeClr val="bg1"/>
                </a:solidFill>
              </a:defRPr>
            </a:lvl6pPr>
            <a:lvl7pPr marL="448256" indent="-221864">
              <a:spcAft>
                <a:spcPts val="1258"/>
              </a:spcAft>
              <a:defRPr>
                <a:solidFill>
                  <a:schemeClr val="bg1"/>
                </a:solidFill>
              </a:defRPr>
            </a:lvl7pPr>
            <a:lvl8pPr marL="448256" indent="-221864">
              <a:spcAft>
                <a:spcPts val="1258"/>
              </a:spcAft>
              <a:defRPr>
                <a:solidFill>
                  <a:schemeClr val="bg1"/>
                </a:solidFill>
              </a:defRPr>
            </a:lvl8pPr>
            <a:lvl9pPr marL="448256" indent="-221864">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8"/>
          <p:cNvSpPr>
            <a:spLocks noGrp="1"/>
          </p:cNvSpPr>
          <p:nvPr>
            <p:ph type="body" sz="quarter" idx="13" hasCustomPrompt="1"/>
          </p:nvPr>
        </p:nvSpPr>
        <p:spPr>
          <a:xfrm>
            <a:off x="501650" y="687694"/>
            <a:ext cx="11188701" cy="757255"/>
          </a:xfrm>
          <a:prstGeom prst="rect">
            <a:avLst/>
          </a:prstGeom>
        </p:spPr>
        <p:txBody>
          <a:bodyPr lIns="0" tIns="0" rIns="0" bIns="0">
            <a:noAutofit/>
          </a:bodyPr>
          <a:lstStyle>
            <a:lvl1pPr marL="0" indent="0">
              <a:buNone/>
              <a:defRPr sz="2282" b="0">
                <a:solidFill>
                  <a:schemeClr val="bg1"/>
                </a:solidFill>
              </a:defRPr>
            </a:lvl1pPr>
          </a:lstStyle>
          <a:p>
            <a:pPr lvl="0"/>
            <a:r>
              <a:rPr lang="en-US" noProof="0"/>
              <a:t>Click to add subtitle</a:t>
            </a:r>
          </a:p>
        </p:txBody>
      </p:sp>
      <p:sp>
        <p:nvSpPr>
          <p:cNvPr id="13" name="TextBox 12"/>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4" name="TextBox 13"/>
          <p:cNvSpPr txBox="1"/>
          <p:nvPr userDrawn="1"/>
        </p:nvSpPr>
        <p:spPr>
          <a:xfrm>
            <a:off x="501653"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5" name="TextBox 14"/>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4049900243"/>
      </p:ext>
    </p:extLst>
  </p:cSld>
  <p:clrMapOvr>
    <a:masterClrMapping/>
  </p:clrMapOvr>
  <p:transition>
    <p:fade/>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End slid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527050" y="4211959"/>
            <a:ext cx="8503538" cy="2169796"/>
          </a:xfrm>
        </p:spPr>
        <p:txBody>
          <a:bodyPr anchor="b" anchorCtr="0"/>
          <a:lstStyle>
            <a:lvl1pPr>
              <a:lnSpc>
                <a:spcPct val="100000"/>
              </a:lnSpc>
              <a:spcAft>
                <a:spcPts val="755"/>
              </a:spcAft>
              <a:defRPr sz="1133"/>
            </a:lvl1pPr>
          </a:lstStyle>
          <a:p>
            <a:pPr lvl="0"/>
            <a:r>
              <a:rPr lang="en-US"/>
              <a:t>Edit Master text styles</a:t>
            </a:r>
          </a:p>
        </p:txBody>
      </p:sp>
      <p:sp>
        <p:nvSpPr>
          <p:cNvPr id="3" name="Picture Placeholder 2"/>
          <p:cNvSpPr>
            <a:spLocks noGrp="1"/>
          </p:cNvSpPr>
          <p:nvPr>
            <p:ph type="pic" sz="quarter" idx="14" hasCustomPrompt="1"/>
          </p:nvPr>
        </p:nvSpPr>
        <p:spPr>
          <a:xfrm>
            <a:off x="9370850" y="4535908"/>
            <a:ext cx="2012854" cy="1401498"/>
          </a:xfrm>
        </p:spPr>
        <p:txBody>
          <a:bodyPr anchor="ctr" anchorCtr="0"/>
          <a:lstStyle>
            <a:lvl1pPr algn="ctr">
              <a:defRPr sz="1133"/>
            </a:lvl1pPr>
          </a:lstStyle>
          <a:p>
            <a:r>
              <a:rPr lang="en-GB" sz="1133"/>
              <a:t>Insert sponsorship mark here</a:t>
            </a:r>
            <a:endParaRPr lang="en-GB"/>
          </a:p>
        </p:txBody>
      </p:sp>
      <p:sp>
        <p:nvSpPr>
          <p:cNvPr id="8" name="Text Placeholder 7"/>
          <p:cNvSpPr>
            <a:spLocks noGrp="1"/>
          </p:cNvSpPr>
          <p:nvPr>
            <p:ph type="body" sz="quarter" idx="15"/>
          </p:nvPr>
        </p:nvSpPr>
        <p:spPr>
          <a:xfrm>
            <a:off x="9370852" y="6018032"/>
            <a:ext cx="2012852" cy="363722"/>
          </a:xfrm>
        </p:spPr>
        <p:txBody>
          <a:bodyPr anchor="b" anchorCtr="0"/>
          <a:lstStyle>
            <a:lvl1pPr>
              <a:lnSpc>
                <a:spcPct val="100000"/>
              </a:lnSpc>
              <a:defRPr sz="1195"/>
            </a:lvl1pPr>
          </a:lstStyle>
          <a:p>
            <a:pPr lvl="0"/>
            <a:r>
              <a:rPr lang="en-US"/>
              <a:t>Edit Master text styles</a:t>
            </a:r>
          </a:p>
        </p:txBody>
      </p:sp>
      <p:pic>
        <p:nvPicPr>
          <p:cNvPr id="9" name="LogoDisclaimerPage"/>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30930" y="421118"/>
            <a:ext cx="2141721" cy="938735"/>
          </a:xfrm>
          <a:prstGeom prst="rect">
            <a:avLst/>
          </a:prstGeom>
        </p:spPr>
      </p:pic>
    </p:spTree>
    <p:extLst>
      <p:ext uri="{BB962C8B-B14F-4D97-AF65-F5344CB8AC3E}">
        <p14:creationId xmlns:p14="http://schemas.microsoft.com/office/powerpoint/2010/main" val="4127710151"/>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blank">
  <p:cSld name="2_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54F2E8E-21CA-9A6F-7D9D-887075F3C158}"/>
              </a:ext>
            </a:extLst>
          </p:cNvPr>
          <p:cNvSpPr>
            <a:spLocks noGrp="1"/>
          </p:cNvSpPr>
          <p:nvPr>
            <p:ph type="dt" sz="half" idx="10"/>
          </p:nvPr>
        </p:nvSpPr>
        <p:spPr/>
        <p:txBody>
          <a:bodyPr/>
          <a:lstStyle/>
          <a:p>
            <a:fld id="{6D60A3D3-37BB-4D46-ADF0-92707FDAC84A}" type="datetimeFigureOut">
              <a:rPr lang="en-IN" smtClean="0"/>
              <a:t>FY23</a:t>
            </a:fld>
            <a:endParaRPr lang="en-IN"/>
          </a:p>
        </p:txBody>
      </p:sp>
      <p:sp>
        <p:nvSpPr>
          <p:cNvPr id="3" name="Footer Placeholder 2">
            <a:extLst>
              <a:ext uri="{FF2B5EF4-FFF2-40B4-BE49-F238E27FC236}">
                <a16:creationId xmlns:a16="http://schemas.microsoft.com/office/drawing/2014/main" id="{4C859675-6B75-439E-63FA-036D00791A56}"/>
              </a:ext>
            </a:extLst>
          </p:cNvPr>
          <p:cNvSpPr>
            <a:spLocks noGrp="1"/>
          </p:cNvSpPr>
          <p:nvPr>
            <p:ph type="ftr" sz="quarter" idx="11"/>
          </p:nvPr>
        </p:nvSpPr>
        <p:spPr/>
        <p:txBody>
          <a:bodyPr/>
          <a:lstStyle/>
          <a:p>
            <a:endParaRPr lang="en-IN"/>
          </a:p>
        </p:txBody>
      </p:sp>
      <p:sp>
        <p:nvSpPr>
          <p:cNvPr id="4" name="Slide Number Placeholder 3">
            <a:extLst>
              <a:ext uri="{FF2B5EF4-FFF2-40B4-BE49-F238E27FC236}">
                <a16:creationId xmlns:a16="http://schemas.microsoft.com/office/drawing/2014/main" id="{2CCA4C9F-FB35-A519-12D9-BBBE0A7CDB3A}"/>
              </a:ext>
            </a:extLst>
          </p:cNvPr>
          <p:cNvSpPr>
            <a:spLocks noGrp="1"/>
          </p:cNvSpPr>
          <p:nvPr>
            <p:ph type="sldNum" sz="quarter" idx="12"/>
          </p:nvPr>
        </p:nvSpPr>
        <p:spPr/>
        <p:txBody>
          <a:bodyPr/>
          <a:lstStyle/>
          <a:p>
            <a:fld id="{856E417F-8153-463D-87A7-EAD32A631768}" type="slidenum">
              <a:rPr lang="en-IN" smtClean="0"/>
              <a:t>‹#›</a:t>
            </a:fld>
            <a:endParaRPr lang="en-IN"/>
          </a:p>
        </p:txBody>
      </p:sp>
    </p:spTree>
    <p:extLst>
      <p:ext uri="{BB962C8B-B14F-4D97-AF65-F5344CB8AC3E}">
        <p14:creationId xmlns:p14="http://schemas.microsoft.com/office/powerpoint/2010/main" val="389943864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Title">
    <p:bg>
      <p:bgRef idx="1001">
        <a:schemeClr val="bg1"/>
      </p:bgRef>
    </p:bg>
    <p:spTree>
      <p:nvGrpSpPr>
        <p:cNvPr id="1" name=""/>
        <p:cNvGrpSpPr/>
        <p:nvPr/>
      </p:nvGrpSpPr>
      <p:grpSpPr>
        <a:xfrm>
          <a:off x="0" y="0"/>
          <a:ext cx="0" cy="0"/>
          <a:chOff x="0" y="0"/>
          <a:chExt cx="0" cy="0"/>
        </a:xfrm>
      </p:grpSpPr>
      <p:sp>
        <p:nvSpPr>
          <p:cNvPr id="11" name="Title Placeholder 1"/>
          <p:cNvSpPr>
            <a:spLocks noGrp="1"/>
          </p:cNvSpPr>
          <p:nvPr>
            <p:ph type="title" hasCustomPrompt="1"/>
          </p:nvPr>
        </p:nvSpPr>
        <p:spPr>
          <a:xfrm>
            <a:off x="528000" y="295684"/>
            <a:ext cx="11136000" cy="469492"/>
          </a:xfrm>
          <a:prstGeom prst="rect">
            <a:avLst/>
          </a:prstGeom>
        </p:spPr>
        <p:txBody>
          <a:bodyPr vert="horz" lIns="0" tIns="0" rIns="0" bIns="0" rtlCol="0" anchor="t" anchorCtr="0">
            <a:noAutofit/>
          </a:bodyPr>
          <a:lstStyle>
            <a:lvl1pPr>
              <a:defRPr>
                <a:solidFill>
                  <a:schemeClr val="tx1"/>
                </a:solidFill>
              </a:defRPr>
            </a:lvl1pPr>
          </a:lstStyle>
          <a:p>
            <a:r>
              <a:rPr lang="en-US"/>
              <a:t>Click to add title</a:t>
            </a:r>
          </a:p>
        </p:txBody>
      </p:sp>
      <p:sp>
        <p:nvSpPr>
          <p:cNvPr id="4" name="TextBox 3"/>
          <p:cNvSpPr txBox="1"/>
          <p:nvPr userDrawn="1"/>
        </p:nvSpPr>
        <p:spPr>
          <a:xfrm>
            <a:off x="11203771" y="6491553"/>
            <a:ext cx="463296" cy="329184"/>
          </a:xfrm>
          <a:prstGeom prst="rect">
            <a:avLst/>
          </a:prstGeom>
          <a:noFill/>
        </p:spPr>
        <p:txBody>
          <a:bodyPr wrap="square" lIns="0" tIns="0" rIns="0" bIns="0" rtlCol="0">
            <a:noAutofit/>
          </a:bodyPr>
          <a:lstStyle/>
          <a:p>
            <a:pPr marL="0" indent="0" algn="r">
              <a:spcBef>
                <a:spcPts val="600"/>
              </a:spcBef>
              <a:buSzPct val="100000"/>
              <a:buFont typeface="Arial"/>
              <a:buNone/>
            </a:pPr>
            <a:fld id="{C58DF478-B544-4ED8-9ED4-6A2648E2D233}" type="slidenum">
              <a:rPr lang="en-US" sz="650" noProof="0" smtClean="0">
                <a:solidFill>
                  <a:schemeClr val="tx1"/>
                </a:solidFill>
              </a:rPr>
              <a:pPr marL="0" indent="0" algn="r">
                <a:spcBef>
                  <a:spcPts val="600"/>
                </a:spcBef>
                <a:buSzPct val="100000"/>
                <a:buFont typeface="Arial"/>
                <a:buNone/>
              </a:pPr>
              <a:t>‹#›</a:t>
            </a:fld>
            <a:endParaRPr lang="en-US" sz="650" noProof="0">
              <a:solidFill>
                <a:schemeClr val="tx1"/>
              </a:solidFill>
            </a:endParaRPr>
          </a:p>
        </p:txBody>
      </p:sp>
    </p:spTree>
    <p:extLst>
      <p:ext uri="{BB962C8B-B14F-4D97-AF65-F5344CB8AC3E}">
        <p14:creationId xmlns:p14="http://schemas.microsoft.com/office/powerpoint/2010/main" val="170389960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userDrawn="1">
  <p:cSld name="Two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12699"/>
            <a:ext cx="12192000" cy="6844908"/>
          </a:xfrm>
          <a:custGeom>
            <a:avLst/>
            <a:gdLst/>
            <a:ahLst/>
            <a:cxnLst/>
            <a:rect l="l" t="t" r="r" b="b"/>
            <a:pathLst>
              <a:path w="20104100" h="11287760">
                <a:moveTo>
                  <a:pt x="20104099" y="0"/>
                </a:moveTo>
                <a:lnTo>
                  <a:pt x="0" y="0"/>
                </a:lnTo>
                <a:lnTo>
                  <a:pt x="0" y="11287614"/>
                </a:lnTo>
                <a:lnTo>
                  <a:pt x="20104099" y="11287614"/>
                </a:lnTo>
                <a:lnTo>
                  <a:pt x="20104099" y="0"/>
                </a:lnTo>
                <a:close/>
              </a:path>
            </a:pathLst>
          </a:custGeom>
          <a:solidFill>
            <a:srgbClr val="000000"/>
          </a:solidFill>
        </p:spPr>
        <p:txBody>
          <a:bodyPr wrap="square" lIns="0" tIns="0" rIns="0" bIns="0" rtlCol="0"/>
          <a:lstStyle/>
          <a:p>
            <a:endParaRPr sz="1092"/>
          </a:p>
        </p:txBody>
      </p:sp>
      <p:pic>
        <p:nvPicPr>
          <p:cNvPr id="17" name="bg object 17"/>
          <p:cNvPicPr/>
          <p:nvPr/>
        </p:nvPicPr>
        <p:blipFill>
          <a:blip r:embed="rId2" cstate="print"/>
          <a:stretch>
            <a:fillRect/>
          </a:stretch>
        </p:blipFill>
        <p:spPr>
          <a:xfrm>
            <a:off x="2" y="0"/>
            <a:ext cx="12191999" cy="6857519"/>
          </a:xfrm>
          <a:prstGeom prst="rect">
            <a:avLst/>
          </a:prstGeom>
        </p:spPr>
      </p:pic>
      <p:sp>
        <p:nvSpPr>
          <p:cNvPr id="2" name="Holder 2"/>
          <p:cNvSpPr>
            <a:spLocks noGrp="1"/>
          </p:cNvSpPr>
          <p:nvPr>
            <p:ph type="title"/>
          </p:nvPr>
        </p:nvSpPr>
        <p:spPr>
          <a:xfrm>
            <a:off x="1163948" y="314122"/>
            <a:ext cx="9724718" cy="690510"/>
          </a:xfrm>
        </p:spPr>
        <p:txBody>
          <a:bodyPr lIns="0" tIns="0" rIns="0" bIns="0"/>
          <a:lstStyle>
            <a:lvl1pPr>
              <a:defRPr sz="4487" b="0" i="0">
                <a:solidFill>
                  <a:schemeClr val="bg1"/>
                </a:solidFill>
                <a:latin typeface="Open Sans SemiCondensed SemiCon"/>
                <a:cs typeface="Open Sans SemiCondensed SemiCon"/>
              </a:defRPr>
            </a:lvl1pPr>
          </a:lstStyle>
          <a:p>
            <a:endParaRPr/>
          </a:p>
        </p:txBody>
      </p:sp>
    </p:spTree>
    <p:extLst>
      <p:ext uri="{BB962C8B-B14F-4D97-AF65-F5344CB8AC3E}">
        <p14:creationId xmlns:p14="http://schemas.microsoft.com/office/powerpoint/2010/main" val="2575087478"/>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Text Placeholder 8"/>
          <p:cNvSpPr>
            <a:spLocks noGrp="1"/>
          </p:cNvSpPr>
          <p:nvPr>
            <p:ph type="body" sz="quarter" idx="13" hasCustomPrompt="1"/>
          </p:nvPr>
        </p:nvSpPr>
        <p:spPr>
          <a:xfrm>
            <a:off x="501650"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a:t>Click to add subtitle</a:t>
            </a:r>
          </a:p>
        </p:txBody>
      </p:sp>
      <p:sp>
        <p:nvSpPr>
          <p:cNvPr id="4" name="Chart Placeholder 3"/>
          <p:cNvSpPr>
            <a:spLocks noGrp="1"/>
          </p:cNvSpPr>
          <p:nvPr>
            <p:ph type="chart" sz="quarter" idx="15"/>
          </p:nvPr>
        </p:nvSpPr>
        <p:spPr>
          <a:xfrm>
            <a:off x="501652" y="2052000"/>
            <a:ext cx="11188699" cy="4069013"/>
          </a:xfrm>
          <a:prstGeom prst="rect">
            <a:avLst/>
          </a:prstGeom>
        </p:spPr>
        <p:txBody>
          <a:bodyPr/>
          <a:lstStyle/>
          <a:p>
            <a:r>
              <a:rPr lang="en-US"/>
              <a:t>Click icon to add chart</a:t>
            </a:r>
            <a:endParaRPr lang="en-GB"/>
          </a:p>
        </p:txBody>
      </p:sp>
      <p:sp>
        <p:nvSpPr>
          <p:cNvPr id="5" name="Text Placeholder 8"/>
          <p:cNvSpPr>
            <a:spLocks noGrp="1"/>
          </p:cNvSpPr>
          <p:nvPr>
            <p:ph type="body" sz="quarter" idx="18"/>
          </p:nvPr>
        </p:nvSpPr>
        <p:spPr>
          <a:xfrm>
            <a:off x="501652" y="1674087"/>
            <a:ext cx="11188699" cy="357187"/>
          </a:xfrm>
        </p:spPr>
        <p:txBody>
          <a:bodyPr/>
          <a:lstStyle/>
          <a:p>
            <a:pPr lvl="0"/>
            <a:r>
              <a:rPr lang="en-US" noProof="0"/>
              <a:t>Edit Master text styles</a:t>
            </a:r>
          </a:p>
        </p:txBody>
      </p:sp>
      <p:sp>
        <p:nvSpPr>
          <p:cNvPr id="6" name="Text Placeholder 7"/>
          <p:cNvSpPr>
            <a:spLocks noGrp="1"/>
          </p:cNvSpPr>
          <p:nvPr>
            <p:ph type="body" sz="quarter" idx="23"/>
          </p:nvPr>
        </p:nvSpPr>
        <p:spPr>
          <a:xfrm>
            <a:off x="501650" y="6380255"/>
            <a:ext cx="11188700" cy="160245"/>
          </a:xfrm>
        </p:spPr>
        <p:txBody>
          <a:bodyPr>
            <a:normAutofit/>
          </a:bodyPr>
          <a:lstStyle>
            <a:lvl1pPr>
              <a:spcAft>
                <a:spcPts val="0"/>
              </a:spcAft>
              <a:defRPr sz="900"/>
            </a:lvl1pPr>
          </a:lstStyle>
          <a:p>
            <a:pPr lvl="0"/>
            <a:r>
              <a:rPr lang="en-US"/>
              <a:t>Edit Master text styles</a:t>
            </a:r>
          </a:p>
        </p:txBody>
      </p:sp>
      <p:sp>
        <p:nvSpPr>
          <p:cNvPr id="7" name="Title Placeholder 1">
            <a:extLst>
              <a:ext uri="{FF2B5EF4-FFF2-40B4-BE49-F238E27FC236}">
                <a16:creationId xmlns:a16="http://schemas.microsoft.com/office/drawing/2014/main" id="{8CFE9674-04ED-4C53-9426-4EA385799FE2}"/>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a:t>Click to add title</a:t>
            </a:r>
          </a:p>
        </p:txBody>
      </p:sp>
    </p:spTree>
    <p:extLst>
      <p:ext uri="{BB962C8B-B14F-4D97-AF65-F5344CB8AC3E}">
        <p14:creationId xmlns:p14="http://schemas.microsoft.com/office/powerpoint/2010/main" val="2143763007"/>
      </p:ext>
    </p:extLst>
  </p:cSld>
  <p:clrMapOvr>
    <a:masterClrMapping/>
  </p:clrMapOvr>
  <p:transition>
    <p:fade/>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Title, subtitle &amp; chart">
    <p:spTree>
      <p:nvGrpSpPr>
        <p:cNvPr id="1" name=""/>
        <p:cNvGrpSpPr/>
        <p:nvPr/>
      </p:nvGrpSpPr>
      <p:grpSpPr>
        <a:xfrm>
          <a:off x="0" y="0"/>
          <a:ext cx="0" cy="0"/>
          <a:chOff x="0" y="0"/>
          <a:chExt cx="0" cy="0"/>
        </a:xfrm>
      </p:grpSpPr>
      <p:sp>
        <p:nvSpPr>
          <p:cNvPr id="15" name="Text Placeholder 8"/>
          <p:cNvSpPr>
            <a:spLocks noGrp="1"/>
          </p:cNvSpPr>
          <p:nvPr>
            <p:ph type="body" sz="quarter" idx="13" hasCustomPrompt="1"/>
          </p:nvPr>
        </p:nvSpPr>
        <p:spPr>
          <a:xfrm>
            <a:off x="501650"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a:t>Click to add subtitle</a:t>
            </a:r>
          </a:p>
        </p:txBody>
      </p:sp>
      <p:sp>
        <p:nvSpPr>
          <p:cNvPr id="17" name="Chart Placeholder 3"/>
          <p:cNvSpPr>
            <a:spLocks noGrp="1"/>
          </p:cNvSpPr>
          <p:nvPr>
            <p:ph type="chart" sz="quarter" idx="15"/>
          </p:nvPr>
        </p:nvSpPr>
        <p:spPr>
          <a:xfrm>
            <a:off x="501652" y="2052000"/>
            <a:ext cx="11188699" cy="4069013"/>
          </a:xfrm>
          <a:prstGeom prst="rect">
            <a:avLst/>
          </a:prstGeom>
        </p:spPr>
        <p:txBody>
          <a:bodyPr/>
          <a:lstStyle/>
          <a:p>
            <a:r>
              <a:rPr lang="en-US"/>
              <a:t>Click icon to add chart</a:t>
            </a:r>
            <a:endParaRPr lang="en-GB"/>
          </a:p>
        </p:txBody>
      </p:sp>
      <p:sp>
        <p:nvSpPr>
          <p:cNvPr id="18" name="Text Placeholder 8"/>
          <p:cNvSpPr>
            <a:spLocks noGrp="1"/>
          </p:cNvSpPr>
          <p:nvPr>
            <p:ph type="body" sz="quarter" idx="18"/>
          </p:nvPr>
        </p:nvSpPr>
        <p:spPr>
          <a:xfrm>
            <a:off x="501652" y="1674087"/>
            <a:ext cx="11188699" cy="357187"/>
          </a:xfrm>
        </p:spPr>
        <p:txBody>
          <a:bodyPr/>
          <a:lstStyle/>
          <a:p>
            <a:pPr lvl="0"/>
            <a:r>
              <a:rPr lang="en-US" noProof="0"/>
              <a:t>Edit Master text styles</a:t>
            </a:r>
          </a:p>
        </p:txBody>
      </p:sp>
      <p:sp>
        <p:nvSpPr>
          <p:cNvPr id="7" name="Title Placeholder 1">
            <a:extLst>
              <a:ext uri="{FF2B5EF4-FFF2-40B4-BE49-F238E27FC236}">
                <a16:creationId xmlns:a16="http://schemas.microsoft.com/office/drawing/2014/main" id="{8CFE9674-04ED-4C53-9426-4EA385799FE2}"/>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a:t>Click to add title</a:t>
            </a:r>
          </a:p>
        </p:txBody>
      </p:sp>
      <p:sp>
        <p:nvSpPr>
          <p:cNvPr id="9" name="Text Placeholder 7"/>
          <p:cNvSpPr>
            <a:spLocks noGrp="1"/>
          </p:cNvSpPr>
          <p:nvPr>
            <p:ph type="body" sz="quarter" idx="23"/>
          </p:nvPr>
        </p:nvSpPr>
        <p:spPr>
          <a:xfrm>
            <a:off x="501651" y="6311156"/>
            <a:ext cx="11188700" cy="160245"/>
          </a:xfrm>
        </p:spPr>
        <p:txBody>
          <a:bodyPr>
            <a:normAutofit/>
          </a:bodyPr>
          <a:lstStyle>
            <a:lvl1pPr>
              <a:spcAft>
                <a:spcPts val="0"/>
              </a:spcAft>
              <a:defRPr sz="900"/>
            </a:lvl1pPr>
          </a:lstStyle>
          <a:p>
            <a:pPr lvl="0"/>
            <a:r>
              <a:rPr lang="en-US"/>
              <a:t>Edit Master text styles</a:t>
            </a:r>
          </a:p>
        </p:txBody>
      </p:sp>
    </p:spTree>
    <p:extLst>
      <p:ext uri="{BB962C8B-B14F-4D97-AF65-F5344CB8AC3E}">
        <p14:creationId xmlns:p14="http://schemas.microsoft.com/office/powerpoint/2010/main" val="1087429503"/>
      </p:ext>
    </p:extLst>
  </p:cSld>
  <p:clrMapOvr>
    <a:masterClrMapping/>
  </p:clrMapOvr>
  <p:transition>
    <p:fade/>
  </p:transition>
  <p:hf hdr="0" dt="0"/>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userDrawn="1">
  <p:cSld name="1_End slide">
    <p:bg>
      <p:bgPr>
        <a:solidFill>
          <a:schemeClr val="tx1"/>
        </a:solidFill>
        <a:effectLst/>
      </p:bgPr>
    </p:bg>
    <p:spTree>
      <p:nvGrpSpPr>
        <p:cNvPr id="1" name=""/>
        <p:cNvGrpSpPr/>
        <p:nvPr/>
      </p:nvGrpSpPr>
      <p:grpSpPr>
        <a:xfrm>
          <a:off x="0" y="0"/>
          <a:ext cx="0" cy="0"/>
          <a:chOff x="0" y="0"/>
          <a:chExt cx="0" cy="0"/>
        </a:xfrm>
      </p:grpSpPr>
      <p:grpSp>
        <p:nvGrpSpPr>
          <p:cNvPr id="38" name="Group 37"/>
          <p:cNvGrpSpPr>
            <a:grpSpLocks noChangeAspect="1"/>
          </p:cNvGrpSpPr>
          <p:nvPr userDrawn="1"/>
        </p:nvGrpSpPr>
        <p:grpSpPr>
          <a:xfrm>
            <a:off x="475325" y="457761"/>
            <a:ext cx="1998000" cy="374400"/>
            <a:chOff x="398463" y="404813"/>
            <a:chExt cx="1627187" cy="307976"/>
          </a:xfrm>
          <a:solidFill>
            <a:schemeClr val="tx1"/>
          </a:solidFill>
        </p:grpSpPr>
        <p:sp>
          <p:nvSpPr>
            <p:cNvPr id="39"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40"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41" name="Rectangle 7"/>
            <p:cNvSpPr>
              <a:spLocks noChangeArrowheads="1"/>
            </p:cNvSpPr>
            <p:nvPr userDrawn="1"/>
          </p:nvSpPr>
          <p:spPr bwMode="auto">
            <a:xfrm>
              <a:off x="906463" y="404813"/>
              <a:ext cx="74612" cy="3032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42"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43" name="Rectangle 9"/>
            <p:cNvSpPr>
              <a:spLocks noChangeArrowheads="1"/>
            </p:cNvSpPr>
            <p:nvPr userDrawn="1"/>
          </p:nvSpPr>
          <p:spPr bwMode="auto">
            <a:xfrm>
              <a:off x="1257300" y="482601"/>
              <a:ext cx="74612" cy="2254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44" name="Rectangle 10"/>
            <p:cNvSpPr>
              <a:spLocks noChangeArrowheads="1"/>
            </p:cNvSpPr>
            <p:nvPr userDrawn="1"/>
          </p:nvSpPr>
          <p:spPr bwMode="auto">
            <a:xfrm>
              <a:off x="1257300" y="404813"/>
              <a:ext cx="74612" cy="50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45"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46"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47"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48"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grpSp>
    </p:spTree>
    <p:extLst>
      <p:ext uri="{BB962C8B-B14F-4D97-AF65-F5344CB8AC3E}">
        <p14:creationId xmlns:p14="http://schemas.microsoft.com/office/powerpoint/2010/main" val="2188983885"/>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MAIN DTTILLP TEMPLATE">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501651" y="651601"/>
            <a:ext cx="11162350" cy="757255"/>
          </a:xfrm>
          <a:prstGeom prst="rect">
            <a:avLst/>
          </a:prstGeom>
        </p:spPr>
        <p:txBody>
          <a:bodyPr lIns="0" tIns="0" rIns="0" bIns="0">
            <a:noAutofit/>
          </a:bodyPr>
          <a:lstStyle>
            <a:lvl1pPr marL="0" indent="0">
              <a:buNone/>
              <a:defRPr sz="1632" b="0">
                <a:solidFill>
                  <a:schemeClr val="tx2">
                    <a:lumMod val="60000"/>
                    <a:lumOff val="40000"/>
                  </a:schemeClr>
                </a:solidFill>
                <a:latin typeface="+mj-lt"/>
              </a:defRPr>
            </a:lvl1pPr>
          </a:lstStyle>
          <a:p>
            <a:pPr lvl="0"/>
            <a:r>
              <a:rPr lang="en-US" noProof="0"/>
              <a:t>Click to add subtitle</a:t>
            </a:r>
          </a:p>
        </p:txBody>
      </p:sp>
      <p:sp>
        <p:nvSpPr>
          <p:cNvPr id="14" name="Title Placeholder 1"/>
          <p:cNvSpPr>
            <a:spLocks noGrp="1"/>
          </p:cNvSpPr>
          <p:nvPr>
            <p:ph type="title"/>
          </p:nvPr>
        </p:nvSpPr>
        <p:spPr>
          <a:xfrm>
            <a:off x="501651" y="317500"/>
            <a:ext cx="11162350" cy="334101"/>
          </a:xfrm>
          <a:prstGeom prst="rect">
            <a:avLst/>
          </a:prstGeom>
        </p:spPr>
        <p:txBody>
          <a:bodyPr vert="horz" lIns="0" tIns="0" rIns="0" bIns="0" rtlCol="0" anchor="t" anchorCtr="0">
            <a:noAutofit/>
          </a:bodyPr>
          <a:lstStyle>
            <a:lvl1pPr>
              <a:defRPr>
                <a:latin typeface="+mj-lt"/>
              </a:defRPr>
            </a:lvl1pPr>
          </a:lstStyle>
          <a:p>
            <a:r>
              <a:rPr lang="en-US" noProof="0"/>
              <a:t>Click to edit Master title style</a:t>
            </a:r>
          </a:p>
        </p:txBody>
      </p:sp>
      <p:sp>
        <p:nvSpPr>
          <p:cNvPr id="8" name="Text Placeholder 18"/>
          <p:cNvSpPr>
            <a:spLocks noGrp="1"/>
          </p:cNvSpPr>
          <p:nvPr>
            <p:ph idx="1"/>
          </p:nvPr>
        </p:nvSpPr>
        <p:spPr>
          <a:xfrm>
            <a:off x="501651" y="1528798"/>
            <a:ext cx="11165416" cy="4850401"/>
          </a:xfrm>
          <a:prstGeom prst="rect">
            <a:avLst/>
          </a:prstGeom>
        </p:spPr>
        <p:txBody>
          <a:bodyPr vert="horz" lIns="0" tIns="0" rIns="0" bIns="0" rtlCol="0">
            <a:noAutofit/>
          </a:bodyPr>
          <a:lstStyle>
            <a:lvl1pPr>
              <a:spcAft>
                <a:spcPts val="907"/>
              </a:spcAft>
              <a:defRPr sz="997"/>
            </a:lvl1pPr>
            <a:lvl2pPr>
              <a:spcAft>
                <a:spcPts val="907"/>
              </a:spcAft>
              <a:defRPr sz="997"/>
            </a:lvl2pPr>
            <a:lvl3pPr>
              <a:spcAft>
                <a:spcPts val="907"/>
              </a:spcAft>
              <a:defRPr sz="997"/>
            </a:lvl3pPr>
            <a:lvl4pPr>
              <a:spcAft>
                <a:spcPts val="907"/>
              </a:spcAft>
              <a:defRPr sz="997"/>
            </a:lvl4pPr>
            <a:lvl5pPr>
              <a:spcAft>
                <a:spcPts val="907"/>
              </a:spcAft>
              <a:defRPr sz="997"/>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3197759429"/>
      </p:ext>
    </p:extLst>
  </p:cSld>
  <p:clrMapOvr>
    <a:masterClrMapping/>
  </p:clrMapOvr>
  <p:transition>
    <p:fade/>
  </p:transition>
  <p:extLst>
    <p:ext uri="{DCECCB84-F9BA-43D5-87BE-67443E8EF086}">
      <p15:sldGuideLst xmlns:p15="http://schemas.microsoft.com/office/powerpoint/2012/main">
        <p15:guide id="1" orient="horz" pos="98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userDrawn="1">
  <p:cSld name="Title Slide - Black">
    <p:bg bwMode="gray">
      <p:bgPr>
        <a:blipFill dpi="0" rotWithShape="1">
          <a:blip r:embed="rId2"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9" name="Picture Placeholder 8"/>
          <p:cNvSpPr>
            <a:spLocks noGrp="1" noChangeAspect="1"/>
          </p:cNvSpPr>
          <p:nvPr>
            <p:ph type="pic" sz="quarter" idx="11"/>
          </p:nvPr>
        </p:nvSpPr>
        <p:spPr>
          <a:xfrm>
            <a:off x="2505856" y="727200"/>
            <a:ext cx="7200000" cy="5400000"/>
          </a:xfrm>
          <a:prstGeom prst="rect">
            <a:avLst/>
          </a:prstGeom>
        </p:spPr>
        <p:txBody>
          <a:bodyPr/>
          <a:lstStyle>
            <a:lvl1pPr>
              <a:defRPr>
                <a:solidFill>
                  <a:schemeClr val="bg1"/>
                </a:solidFill>
              </a:defRPr>
            </a:lvl1pPr>
          </a:lstStyle>
          <a:p>
            <a:r>
              <a:rPr lang="en-US" noProof="0"/>
              <a:t>Click icon to add picture</a:t>
            </a:r>
          </a:p>
        </p:txBody>
      </p:sp>
      <p:sp>
        <p:nvSpPr>
          <p:cNvPr id="3" name="Subtitle 2"/>
          <p:cNvSpPr>
            <a:spLocks noGrp="1"/>
          </p:cNvSpPr>
          <p:nvPr>
            <p:ph type="subTitle" idx="1" hasCustomPrompt="1"/>
          </p:nvPr>
        </p:nvSpPr>
        <p:spPr bwMode="gray">
          <a:xfrm>
            <a:off x="503990" y="5864229"/>
            <a:ext cx="5592010" cy="505645"/>
          </a:xfrm>
          <a:prstGeom prst="rect">
            <a:avLst/>
          </a:prstGeom>
        </p:spPr>
        <p:txBody>
          <a:bodyPr lIns="0" tIns="0" rIns="0" bIns="0" anchor="b" anchorCtr="0">
            <a:noAutofit/>
          </a:bodyPr>
          <a:lstStyle>
            <a:lvl1pPr marL="0" indent="0" algn="l">
              <a:lnSpc>
                <a:spcPct val="100000"/>
              </a:lnSpc>
              <a:spcAft>
                <a:spcPts val="0"/>
              </a:spcAft>
              <a:buNone/>
              <a:defRPr sz="2264" b="1">
                <a:solidFill>
                  <a:schemeClr val="bg1"/>
                </a:solidFill>
              </a:defRPr>
            </a:lvl1pPr>
            <a:lvl2pPr marL="0" marR="0" indent="0" algn="l" defTabSz="1150154" rtl="0" eaLnBrk="1" fontAlgn="auto" latinLnBrk="0" hangingPunct="1">
              <a:lnSpc>
                <a:spcPct val="100000"/>
              </a:lnSpc>
              <a:spcBef>
                <a:spcPts val="0"/>
              </a:spcBef>
              <a:spcAft>
                <a:spcPts val="0"/>
              </a:spcAft>
              <a:buClrTx/>
              <a:buSzPct val="100000"/>
              <a:buFont typeface="Arial"/>
              <a:buNone/>
              <a:tabLst/>
              <a:defRPr sz="2012" b="0">
                <a:solidFill>
                  <a:schemeClr val="bg1"/>
                </a:solidFill>
              </a:defRPr>
            </a:lvl2pPr>
            <a:lvl3pPr marL="0" indent="0" algn="l">
              <a:spcAft>
                <a:spcPts val="0"/>
              </a:spcAft>
              <a:buNone/>
              <a:defRPr sz="2012">
                <a:solidFill>
                  <a:schemeClr val="bg1"/>
                </a:solidFill>
              </a:defRPr>
            </a:lvl3pPr>
            <a:lvl4pPr marL="1725231" indent="0" algn="ctr">
              <a:buNone/>
              <a:defRPr sz="2012"/>
            </a:lvl4pPr>
            <a:lvl5pPr marL="2300309" indent="0" algn="ctr">
              <a:buNone/>
              <a:defRPr sz="2012"/>
            </a:lvl5pPr>
            <a:lvl6pPr marL="2875386" indent="0" algn="ctr">
              <a:buNone/>
              <a:defRPr sz="2012"/>
            </a:lvl6pPr>
            <a:lvl7pPr marL="3450463" indent="0" algn="ctr">
              <a:buNone/>
              <a:defRPr sz="2012"/>
            </a:lvl7pPr>
            <a:lvl8pPr marL="4025540" indent="0" algn="ctr">
              <a:buNone/>
              <a:defRPr sz="2012"/>
            </a:lvl8pPr>
            <a:lvl9pPr marL="4600616" indent="0" algn="ctr">
              <a:buNone/>
              <a:defRPr sz="2012"/>
            </a:lvl9pPr>
          </a:lstStyle>
          <a:p>
            <a:r>
              <a:rPr lang="en-US" noProof="0"/>
              <a:t>Click to edit Master title style</a:t>
            </a:r>
          </a:p>
          <a:p>
            <a:pPr marL="0" marR="0" lvl="1" indent="0" algn="l" defTabSz="1150154" rtl="0" eaLnBrk="1" fontAlgn="auto" latinLnBrk="0" hangingPunct="1">
              <a:lnSpc>
                <a:spcPct val="100000"/>
              </a:lnSpc>
              <a:spcBef>
                <a:spcPts val="0"/>
              </a:spcBef>
              <a:spcAft>
                <a:spcPts val="0"/>
              </a:spcAft>
              <a:buClrTx/>
              <a:buSzPct val="100000"/>
              <a:buFont typeface="Arial"/>
              <a:buNone/>
              <a:tabLst/>
              <a:defRPr/>
            </a:pPr>
            <a:r>
              <a:rPr lang="en-US" noProof="0"/>
              <a:t>Click to edit Master subtitle style</a:t>
            </a:r>
          </a:p>
        </p:txBody>
      </p:sp>
      <p:sp>
        <p:nvSpPr>
          <p:cNvPr id="5" name="Text Placeholder 4"/>
          <p:cNvSpPr>
            <a:spLocks noGrp="1"/>
          </p:cNvSpPr>
          <p:nvPr>
            <p:ph type="body" sz="quarter" idx="10"/>
          </p:nvPr>
        </p:nvSpPr>
        <p:spPr>
          <a:xfrm>
            <a:off x="501653" y="6381750"/>
            <a:ext cx="5594349" cy="298450"/>
          </a:xfrm>
          <a:prstGeom prst="rect">
            <a:avLst/>
          </a:prstGeom>
        </p:spPr>
        <p:txBody>
          <a:bodyPr/>
          <a:lstStyle>
            <a:lvl1pPr>
              <a:spcAft>
                <a:spcPts val="0"/>
              </a:spcAft>
              <a:defRPr sz="1258">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22" name="Group 21"/>
          <p:cNvGrpSpPr>
            <a:grpSpLocks noChangeAspect="1"/>
          </p:cNvGrpSpPr>
          <p:nvPr userDrawn="1"/>
        </p:nvGrpSpPr>
        <p:grpSpPr>
          <a:xfrm>
            <a:off x="501653" y="400898"/>
            <a:ext cx="2004206" cy="326302"/>
            <a:chOff x="398463" y="404813"/>
            <a:chExt cx="1627187" cy="307976"/>
          </a:xfrm>
          <a:solidFill>
            <a:schemeClr val="bg1"/>
          </a:solidFill>
        </p:grpSpPr>
        <p:sp>
          <p:nvSpPr>
            <p:cNvPr id="23"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4"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5"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6"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7"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8"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9"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30"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31"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32"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grpSp>
    </p:spTree>
    <p:extLst>
      <p:ext uri="{BB962C8B-B14F-4D97-AF65-F5344CB8AC3E}">
        <p14:creationId xmlns:p14="http://schemas.microsoft.com/office/powerpoint/2010/main" val="421823451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Title Slide - White">
    <p:bg bwMode="gray">
      <p:bgPr>
        <a:solidFill>
          <a:schemeClr val="bg1"/>
        </a:solidFill>
        <a:effectLst/>
      </p:bgPr>
    </p:bg>
    <p:spTree>
      <p:nvGrpSpPr>
        <p:cNvPr id="1" name=""/>
        <p:cNvGrpSpPr/>
        <p:nvPr/>
      </p:nvGrpSpPr>
      <p:grpSpPr>
        <a:xfrm>
          <a:off x="0" y="0"/>
          <a:ext cx="0" cy="0"/>
          <a:chOff x="0" y="0"/>
          <a:chExt cx="0" cy="0"/>
        </a:xfrm>
      </p:grpSpPr>
      <p:sp>
        <p:nvSpPr>
          <p:cNvPr id="9" name="Picture Placeholder 8"/>
          <p:cNvSpPr>
            <a:spLocks noGrp="1" noChangeAspect="1"/>
          </p:cNvSpPr>
          <p:nvPr>
            <p:ph type="pic" sz="quarter" idx="11"/>
          </p:nvPr>
        </p:nvSpPr>
        <p:spPr>
          <a:xfrm>
            <a:off x="2489814" y="727200"/>
            <a:ext cx="7200000" cy="5400000"/>
          </a:xfrm>
          <a:prstGeom prst="rect">
            <a:avLst/>
          </a:prstGeom>
        </p:spPr>
        <p:txBody>
          <a:bodyPr/>
          <a:lstStyle/>
          <a:p>
            <a:r>
              <a:rPr lang="en-US" noProof="0"/>
              <a:t>Click icon to add picture</a:t>
            </a:r>
          </a:p>
        </p:txBody>
      </p:sp>
      <p:sp>
        <p:nvSpPr>
          <p:cNvPr id="3" name="Subtitle 2"/>
          <p:cNvSpPr>
            <a:spLocks noGrp="1"/>
          </p:cNvSpPr>
          <p:nvPr>
            <p:ph type="subTitle" idx="1" hasCustomPrompt="1"/>
          </p:nvPr>
        </p:nvSpPr>
        <p:spPr bwMode="gray">
          <a:xfrm>
            <a:off x="501651" y="5864229"/>
            <a:ext cx="5594348" cy="505645"/>
          </a:xfrm>
          <a:prstGeom prst="rect">
            <a:avLst/>
          </a:prstGeom>
        </p:spPr>
        <p:txBody>
          <a:bodyPr lIns="0" tIns="0" rIns="0" bIns="0" anchor="b" anchorCtr="0">
            <a:noAutofit/>
          </a:bodyPr>
          <a:lstStyle>
            <a:lvl1pPr marL="0" indent="0" algn="l">
              <a:lnSpc>
                <a:spcPct val="100000"/>
              </a:lnSpc>
              <a:spcAft>
                <a:spcPts val="0"/>
              </a:spcAft>
              <a:buNone/>
              <a:defRPr sz="2264" b="1">
                <a:solidFill>
                  <a:schemeClr val="tx1"/>
                </a:solidFill>
              </a:defRPr>
            </a:lvl1pPr>
            <a:lvl2pPr marL="0" indent="0" algn="l">
              <a:buNone/>
              <a:defRPr sz="2012" b="0"/>
            </a:lvl2pPr>
            <a:lvl3pPr marL="1150154" indent="0" algn="ctr">
              <a:buNone/>
              <a:defRPr sz="2264"/>
            </a:lvl3pPr>
            <a:lvl4pPr marL="1725231" indent="0" algn="ctr">
              <a:buNone/>
              <a:defRPr sz="2012"/>
            </a:lvl4pPr>
            <a:lvl5pPr marL="2300309" indent="0" algn="ctr">
              <a:buNone/>
              <a:defRPr sz="2012"/>
            </a:lvl5pPr>
            <a:lvl6pPr marL="2875386" indent="0" algn="ctr">
              <a:buNone/>
              <a:defRPr sz="2012"/>
            </a:lvl6pPr>
            <a:lvl7pPr marL="3450463" indent="0" algn="ctr">
              <a:buNone/>
              <a:defRPr sz="2012"/>
            </a:lvl7pPr>
            <a:lvl8pPr marL="4025540" indent="0" algn="ctr">
              <a:buNone/>
              <a:defRPr sz="2012"/>
            </a:lvl8pPr>
            <a:lvl9pPr marL="4600616" indent="0" algn="ctr">
              <a:buNone/>
              <a:defRPr sz="2012"/>
            </a:lvl9pPr>
          </a:lstStyle>
          <a:p>
            <a:r>
              <a:rPr lang="en-US" noProof="0"/>
              <a:t>Click to edit Master title style</a:t>
            </a:r>
          </a:p>
          <a:p>
            <a:pPr lvl="1"/>
            <a:r>
              <a:rPr lang="en-US" noProof="0"/>
              <a:t>Click to edit Master subtitle style</a:t>
            </a:r>
          </a:p>
        </p:txBody>
      </p:sp>
      <p:sp>
        <p:nvSpPr>
          <p:cNvPr id="5" name="Text Placeholder 4"/>
          <p:cNvSpPr>
            <a:spLocks noGrp="1"/>
          </p:cNvSpPr>
          <p:nvPr>
            <p:ph type="body" sz="quarter" idx="10"/>
          </p:nvPr>
        </p:nvSpPr>
        <p:spPr>
          <a:xfrm>
            <a:off x="501653" y="6381750"/>
            <a:ext cx="5594349" cy="298450"/>
          </a:xfrm>
          <a:prstGeom prst="rect">
            <a:avLst/>
          </a:prstGeom>
        </p:spPr>
        <p:txBody>
          <a:bodyPr/>
          <a:lstStyle>
            <a:lvl1pPr>
              <a:spcAft>
                <a:spcPts val="0"/>
              </a:spcAft>
              <a:defRPr sz="1258">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6" name="Group 5"/>
          <p:cNvGrpSpPr>
            <a:grpSpLocks noChangeAspect="1"/>
          </p:cNvGrpSpPr>
          <p:nvPr userDrawn="1"/>
        </p:nvGrpSpPr>
        <p:grpSpPr>
          <a:xfrm>
            <a:off x="501653" y="400898"/>
            <a:ext cx="2004206" cy="326302"/>
            <a:chOff x="398463" y="404813"/>
            <a:chExt cx="1627187" cy="307976"/>
          </a:xfrm>
          <a:solidFill>
            <a:schemeClr val="bg1"/>
          </a:solidFill>
        </p:grpSpPr>
        <p:sp>
          <p:nvSpPr>
            <p:cNvPr id="7"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8"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10"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11"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12"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13"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14"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15"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16"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17"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grpSp>
    </p:spTree>
    <p:extLst>
      <p:ext uri="{BB962C8B-B14F-4D97-AF65-F5344CB8AC3E}">
        <p14:creationId xmlns:p14="http://schemas.microsoft.com/office/powerpoint/2010/main" val="1303047195"/>
      </p:ext>
    </p:extLst>
  </p:cSld>
  <p:clrMapOvr>
    <a:masterClrMapping/>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userDrawn="1">
  <p:cSld name="Title Slide - Circle Black">
    <p:bg bwMode="gray">
      <p:bgPr>
        <a:blipFill dpi="0" rotWithShape="1">
          <a:blip r:embed="rId2"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bwMode="gray">
          <a:xfrm>
            <a:off x="3336000" y="1368000"/>
            <a:ext cx="5520000" cy="4140000"/>
          </a:xfrm>
          <a:prstGeom prst="ellipse">
            <a:avLst/>
          </a:prstGeom>
          <a:ln w="25400">
            <a:solidFill>
              <a:schemeClr val="accent1"/>
            </a:solidFill>
          </a:ln>
        </p:spPr>
        <p:txBody>
          <a:bodyPr lIns="108000" tIns="108000" rIns="108000" bIns="108000" anchor="ctr" anchorCtr="0">
            <a:normAutofit/>
          </a:bodyPr>
          <a:lstStyle>
            <a:lvl1pPr algn="ctr">
              <a:lnSpc>
                <a:spcPts val="5283"/>
              </a:lnSpc>
              <a:defRPr sz="4528" b="0">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Subtitle 2"/>
          <p:cNvSpPr>
            <a:spLocks noGrp="1"/>
          </p:cNvSpPr>
          <p:nvPr>
            <p:ph type="subTitle" idx="1"/>
          </p:nvPr>
        </p:nvSpPr>
        <p:spPr bwMode="gray">
          <a:xfrm>
            <a:off x="503990" y="5864229"/>
            <a:ext cx="5592010" cy="505645"/>
          </a:xfrm>
          <a:prstGeom prst="rect">
            <a:avLst/>
          </a:prstGeom>
        </p:spPr>
        <p:txBody>
          <a:bodyPr lIns="0" tIns="0" rIns="0" bIns="0" anchor="b" anchorCtr="0">
            <a:noAutofit/>
          </a:bodyPr>
          <a:lstStyle>
            <a:lvl1pPr marL="0" indent="0" algn="l">
              <a:lnSpc>
                <a:spcPct val="100000"/>
              </a:lnSpc>
              <a:spcAft>
                <a:spcPts val="0"/>
              </a:spcAft>
              <a:buNone/>
              <a:defRPr sz="2012">
                <a:solidFill>
                  <a:schemeClr val="bg1"/>
                </a:solidFill>
              </a:defRPr>
            </a:lvl1pPr>
            <a:lvl2pPr marL="575077" indent="0" algn="ctr">
              <a:buNone/>
              <a:defRPr sz="2516"/>
            </a:lvl2pPr>
            <a:lvl3pPr marL="1150154" indent="0" algn="ctr">
              <a:buNone/>
              <a:defRPr sz="2264"/>
            </a:lvl3pPr>
            <a:lvl4pPr marL="1725231" indent="0" algn="ctr">
              <a:buNone/>
              <a:defRPr sz="2012"/>
            </a:lvl4pPr>
            <a:lvl5pPr marL="2300309" indent="0" algn="ctr">
              <a:buNone/>
              <a:defRPr sz="2012"/>
            </a:lvl5pPr>
            <a:lvl6pPr marL="2875386" indent="0" algn="ctr">
              <a:buNone/>
              <a:defRPr sz="2012"/>
            </a:lvl6pPr>
            <a:lvl7pPr marL="3450463" indent="0" algn="ctr">
              <a:buNone/>
              <a:defRPr sz="2012"/>
            </a:lvl7pPr>
            <a:lvl8pPr marL="4025540" indent="0" algn="ctr">
              <a:buNone/>
              <a:defRPr sz="2012"/>
            </a:lvl8pPr>
            <a:lvl9pPr marL="4600616" indent="0" algn="ctr">
              <a:buNone/>
              <a:defRPr sz="2012"/>
            </a:lvl9pPr>
          </a:lstStyle>
          <a:p>
            <a:r>
              <a:rPr lang="en-US" noProof="0"/>
              <a:t>Click to edit Master subtitle style</a:t>
            </a:r>
          </a:p>
        </p:txBody>
      </p:sp>
      <p:sp>
        <p:nvSpPr>
          <p:cNvPr id="5" name="Text Placeholder 4"/>
          <p:cNvSpPr>
            <a:spLocks noGrp="1"/>
          </p:cNvSpPr>
          <p:nvPr>
            <p:ph type="body" sz="quarter" idx="10"/>
          </p:nvPr>
        </p:nvSpPr>
        <p:spPr>
          <a:xfrm>
            <a:off x="501653" y="6381750"/>
            <a:ext cx="5594349" cy="298450"/>
          </a:xfrm>
          <a:prstGeom prst="rect">
            <a:avLst/>
          </a:prstGeom>
        </p:spPr>
        <p:txBody>
          <a:bodyPr/>
          <a:lstStyle>
            <a:lvl1pPr>
              <a:spcAft>
                <a:spcPts val="0"/>
              </a:spcAft>
              <a:defRPr sz="1258">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22" name="Group 21"/>
          <p:cNvGrpSpPr>
            <a:grpSpLocks noChangeAspect="1"/>
          </p:cNvGrpSpPr>
          <p:nvPr userDrawn="1"/>
        </p:nvGrpSpPr>
        <p:grpSpPr>
          <a:xfrm>
            <a:off x="501651" y="378003"/>
            <a:ext cx="2159032" cy="326302"/>
            <a:chOff x="398463" y="404813"/>
            <a:chExt cx="1627187" cy="307976"/>
          </a:xfrm>
          <a:solidFill>
            <a:schemeClr val="bg1"/>
          </a:solidFill>
        </p:grpSpPr>
        <p:sp>
          <p:nvSpPr>
            <p:cNvPr id="23"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4"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5"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6"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7"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8"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9"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30"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31"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32"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grpSp>
    </p:spTree>
    <p:extLst>
      <p:ext uri="{BB962C8B-B14F-4D97-AF65-F5344CB8AC3E}">
        <p14:creationId xmlns:p14="http://schemas.microsoft.com/office/powerpoint/2010/main" val="206717214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Title Slide - Circle White">
    <p:bg bwMode="gray">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bwMode="gray">
          <a:xfrm>
            <a:off x="3336000" y="1368000"/>
            <a:ext cx="5520000" cy="4140000"/>
          </a:xfrm>
          <a:prstGeom prst="ellipse">
            <a:avLst/>
          </a:prstGeom>
          <a:ln w="25400">
            <a:solidFill>
              <a:schemeClr val="accent1"/>
            </a:solidFill>
          </a:ln>
        </p:spPr>
        <p:txBody>
          <a:bodyPr lIns="108000" tIns="108000" rIns="108000" bIns="108000" anchor="ctr" anchorCtr="0">
            <a:normAutofit/>
          </a:bodyPr>
          <a:lstStyle>
            <a:lvl1pPr algn="ctr">
              <a:lnSpc>
                <a:spcPts val="5283"/>
              </a:lnSpc>
              <a:defRPr sz="4528" b="0">
                <a:solidFill>
                  <a:schemeClr val="tx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Subtitle 2"/>
          <p:cNvSpPr>
            <a:spLocks noGrp="1"/>
          </p:cNvSpPr>
          <p:nvPr>
            <p:ph type="subTitle" idx="1"/>
          </p:nvPr>
        </p:nvSpPr>
        <p:spPr bwMode="gray">
          <a:xfrm>
            <a:off x="501651" y="5864229"/>
            <a:ext cx="5594348" cy="505645"/>
          </a:xfrm>
          <a:prstGeom prst="rect">
            <a:avLst/>
          </a:prstGeom>
        </p:spPr>
        <p:txBody>
          <a:bodyPr lIns="0" tIns="0" rIns="0" bIns="0" anchor="b" anchorCtr="0">
            <a:noAutofit/>
          </a:bodyPr>
          <a:lstStyle>
            <a:lvl1pPr marL="0" indent="0" algn="l">
              <a:lnSpc>
                <a:spcPct val="100000"/>
              </a:lnSpc>
              <a:spcAft>
                <a:spcPts val="0"/>
              </a:spcAft>
              <a:buNone/>
              <a:defRPr sz="2012">
                <a:solidFill>
                  <a:schemeClr val="tx1"/>
                </a:solidFill>
              </a:defRPr>
            </a:lvl1pPr>
            <a:lvl2pPr marL="575077" indent="0" algn="ctr">
              <a:buNone/>
              <a:defRPr sz="2516"/>
            </a:lvl2pPr>
            <a:lvl3pPr marL="1150154" indent="0" algn="ctr">
              <a:buNone/>
              <a:defRPr sz="2264"/>
            </a:lvl3pPr>
            <a:lvl4pPr marL="1725231" indent="0" algn="ctr">
              <a:buNone/>
              <a:defRPr sz="2012"/>
            </a:lvl4pPr>
            <a:lvl5pPr marL="2300309" indent="0" algn="ctr">
              <a:buNone/>
              <a:defRPr sz="2012"/>
            </a:lvl5pPr>
            <a:lvl6pPr marL="2875386" indent="0" algn="ctr">
              <a:buNone/>
              <a:defRPr sz="2012"/>
            </a:lvl6pPr>
            <a:lvl7pPr marL="3450463" indent="0" algn="ctr">
              <a:buNone/>
              <a:defRPr sz="2012"/>
            </a:lvl7pPr>
            <a:lvl8pPr marL="4025540" indent="0" algn="ctr">
              <a:buNone/>
              <a:defRPr sz="2012"/>
            </a:lvl8pPr>
            <a:lvl9pPr marL="4600616" indent="0" algn="ctr">
              <a:buNone/>
              <a:defRPr sz="2012"/>
            </a:lvl9pPr>
          </a:lstStyle>
          <a:p>
            <a:r>
              <a:rPr lang="en-US" noProof="0"/>
              <a:t>Click to edit Master subtitle style</a:t>
            </a:r>
          </a:p>
        </p:txBody>
      </p:sp>
      <p:sp>
        <p:nvSpPr>
          <p:cNvPr id="5" name="Text Placeholder 4"/>
          <p:cNvSpPr>
            <a:spLocks noGrp="1"/>
          </p:cNvSpPr>
          <p:nvPr>
            <p:ph type="body" sz="quarter" idx="10"/>
          </p:nvPr>
        </p:nvSpPr>
        <p:spPr>
          <a:xfrm>
            <a:off x="501653" y="6381750"/>
            <a:ext cx="5594349" cy="298450"/>
          </a:xfrm>
          <a:prstGeom prst="rect">
            <a:avLst/>
          </a:prstGeom>
        </p:spPr>
        <p:txBody>
          <a:bodyPr/>
          <a:lstStyle>
            <a:lvl1pPr>
              <a:spcAft>
                <a:spcPts val="0"/>
              </a:spcAft>
              <a:defRPr sz="1258">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4" name="Group 3"/>
          <p:cNvGrpSpPr/>
          <p:nvPr userDrawn="1"/>
        </p:nvGrpSpPr>
        <p:grpSpPr>
          <a:xfrm>
            <a:off x="501651" y="378003"/>
            <a:ext cx="2159032" cy="326302"/>
            <a:chOff x="439792" y="416850"/>
            <a:chExt cx="1892808" cy="359839"/>
          </a:xfrm>
        </p:grpSpPr>
        <p:sp>
          <p:nvSpPr>
            <p:cNvPr id="20" name="Oval 5"/>
            <p:cNvSpPr>
              <a:spLocks noChangeArrowheads="1"/>
            </p:cNvSpPr>
            <p:nvPr userDrawn="1"/>
          </p:nvSpPr>
          <p:spPr bwMode="auto">
            <a:xfrm>
              <a:off x="2231035" y="674673"/>
              <a:ext cx="101565" cy="10201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1" name="Freeform 6"/>
            <p:cNvSpPr>
              <a:spLocks noEditPoints="1"/>
            </p:cNvSpPr>
            <p:nvPr userDrawn="1"/>
          </p:nvSpPr>
          <p:spPr bwMode="auto">
            <a:xfrm>
              <a:off x="439792" y="418705"/>
              <a:ext cx="288076" cy="352418"/>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2" name="Rectangle 7"/>
            <p:cNvSpPr>
              <a:spLocks noChangeArrowheads="1"/>
            </p:cNvSpPr>
            <p:nvPr userDrawn="1"/>
          </p:nvSpPr>
          <p:spPr bwMode="auto">
            <a:xfrm>
              <a:off x="1030718" y="416850"/>
              <a:ext cx="86792" cy="354274"/>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3" name="Freeform 8"/>
            <p:cNvSpPr>
              <a:spLocks noEditPoints="1"/>
            </p:cNvSpPr>
            <p:nvPr userDrawn="1"/>
          </p:nvSpPr>
          <p:spPr bwMode="auto">
            <a:xfrm>
              <a:off x="1152596" y="504028"/>
              <a:ext cx="251143" cy="270806"/>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4" name="Rectangle 9"/>
            <p:cNvSpPr>
              <a:spLocks noChangeArrowheads="1"/>
            </p:cNvSpPr>
            <p:nvPr userDrawn="1"/>
          </p:nvSpPr>
          <p:spPr bwMode="auto">
            <a:xfrm>
              <a:off x="1438825" y="507737"/>
              <a:ext cx="86792" cy="263386"/>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5" name="Rectangle 10"/>
            <p:cNvSpPr>
              <a:spLocks noChangeArrowheads="1"/>
            </p:cNvSpPr>
            <p:nvPr userDrawn="1"/>
          </p:nvSpPr>
          <p:spPr bwMode="auto">
            <a:xfrm>
              <a:off x="1438825" y="416850"/>
              <a:ext cx="86792" cy="59355"/>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6" name="Freeform 11"/>
            <p:cNvSpPr>
              <a:spLocks/>
            </p:cNvSpPr>
            <p:nvPr userDrawn="1"/>
          </p:nvSpPr>
          <p:spPr bwMode="auto">
            <a:xfrm>
              <a:off x="1560703" y="424269"/>
              <a:ext cx="184664" cy="350564"/>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7" name="Freeform 12"/>
            <p:cNvSpPr>
              <a:spLocks/>
            </p:cNvSpPr>
            <p:nvPr userDrawn="1"/>
          </p:nvSpPr>
          <p:spPr bwMode="auto">
            <a:xfrm>
              <a:off x="1761988" y="424269"/>
              <a:ext cx="184664" cy="350564"/>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8" name="Freeform 13"/>
            <p:cNvSpPr>
              <a:spLocks noEditPoints="1"/>
            </p:cNvSpPr>
            <p:nvPr userDrawn="1"/>
          </p:nvSpPr>
          <p:spPr bwMode="auto">
            <a:xfrm>
              <a:off x="1965119" y="504028"/>
              <a:ext cx="245603" cy="270806"/>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sp>
          <p:nvSpPr>
            <p:cNvPr id="29" name="Freeform 14"/>
            <p:cNvSpPr>
              <a:spLocks noEditPoints="1"/>
            </p:cNvSpPr>
            <p:nvPr userDrawn="1"/>
          </p:nvSpPr>
          <p:spPr bwMode="auto">
            <a:xfrm>
              <a:off x="753721" y="504028"/>
              <a:ext cx="243757" cy="270806"/>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a:solidFill>
                  <a:prstClr val="white"/>
                </a:solidFill>
              </a:endParaRPr>
            </a:p>
          </p:txBody>
        </p:sp>
      </p:grpSp>
    </p:spTree>
    <p:extLst>
      <p:ext uri="{BB962C8B-B14F-4D97-AF65-F5344CB8AC3E}">
        <p14:creationId xmlns:p14="http://schemas.microsoft.com/office/powerpoint/2010/main" val="2623869299"/>
      </p:ext>
    </p:extLst>
  </p:cSld>
  <p:clrMapOvr>
    <a:masterClrMapping/>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userDrawn="1">
  <p:cSld name="Divider - Deloitte green">
    <p:bg bwMode="gray">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2"/>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77" indent="0">
              <a:buNone/>
              <a:defRPr sz="2516">
                <a:solidFill>
                  <a:schemeClr val="tx1">
                    <a:tint val="75000"/>
                  </a:schemeClr>
                </a:solidFill>
              </a:defRPr>
            </a:lvl2pPr>
            <a:lvl3pPr marL="1150154" indent="0">
              <a:buNone/>
              <a:defRPr sz="2264">
                <a:solidFill>
                  <a:schemeClr val="tx1">
                    <a:tint val="75000"/>
                  </a:schemeClr>
                </a:solidFill>
              </a:defRPr>
            </a:lvl3pPr>
            <a:lvl4pPr marL="1725231" indent="0">
              <a:buNone/>
              <a:defRPr sz="2012">
                <a:solidFill>
                  <a:schemeClr val="tx1">
                    <a:tint val="75000"/>
                  </a:schemeClr>
                </a:solidFill>
              </a:defRPr>
            </a:lvl4pPr>
            <a:lvl5pPr marL="2300309" indent="0">
              <a:buNone/>
              <a:defRPr sz="2012">
                <a:solidFill>
                  <a:schemeClr val="tx1">
                    <a:tint val="75000"/>
                  </a:schemeClr>
                </a:solidFill>
              </a:defRPr>
            </a:lvl5pPr>
            <a:lvl6pPr marL="2875386" indent="0">
              <a:buNone/>
              <a:defRPr sz="2012">
                <a:solidFill>
                  <a:schemeClr val="tx1">
                    <a:tint val="75000"/>
                  </a:schemeClr>
                </a:solidFill>
              </a:defRPr>
            </a:lvl6pPr>
            <a:lvl7pPr marL="3450463" indent="0">
              <a:buNone/>
              <a:defRPr sz="2012">
                <a:solidFill>
                  <a:schemeClr val="tx1">
                    <a:tint val="75000"/>
                  </a:schemeClr>
                </a:solidFill>
              </a:defRPr>
            </a:lvl7pPr>
            <a:lvl8pPr marL="4025540" indent="0">
              <a:buNone/>
              <a:defRPr sz="2012">
                <a:solidFill>
                  <a:schemeClr val="tx1">
                    <a:tint val="75000"/>
                  </a:schemeClr>
                </a:solidFill>
              </a:defRPr>
            </a:lvl8pPr>
            <a:lvl9pPr marL="4600616" indent="0">
              <a:buNone/>
              <a:defRPr sz="2012">
                <a:solidFill>
                  <a:schemeClr val="tx1">
                    <a:tint val="75000"/>
                  </a:schemeClr>
                </a:solidFill>
              </a:defRPr>
            </a:lvl9pPr>
          </a:lstStyle>
          <a:p>
            <a:pPr lvl="0"/>
            <a:r>
              <a:rPr lang="en-US" noProof="0"/>
              <a:t>Edit Master text styles</a:t>
            </a:r>
          </a:p>
        </p:txBody>
      </p:sp>
      <p:sp>
        <p:nvSpPr>
          <p:cNvPr id="5" name="TextBox 4"/>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7" name="TextBox 6"/>
          <p:cNvSpPr txBox="1"/>
          <p:nvPr userDrawn="1"/>
        </p:nvSpPr>
        <p:spPr>
          <a:xfrm>
            <a:off x="501652"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8" name="TextBox 7"/>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2386821316"/>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preserve="1" userDrawn="1">
  <p:cSld name="Divider - Deloitte dark green">
    <p:bg bwMode="gray">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2"/>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3" y="3429003"/>
            <a:ext cx="10544066" cy="1566532"/>
          </a:xfrm>
        </p:spPr>
        <p:txBody>
          <a:bodyPr lIns="0" tIns="0" rIns="0" bIns="0">
            <a:noAutofit/>
          </a:bodyPr>
          <a:lstStyle>
            <a:lvl1pPr marL="0" indent="0">
              <a:lnSpc>
                <a:spcPct val="95000"/>
              </a:lnSpc>
              <a:spcAft>
                <a:spcPts val="0"/>
              </a:spcAft>
              <a:buNone/>
              <a:defRPr sz="4448">
                <a:solidFill>
                  <a:schemeClr val="bg1"/>
                </a:solidFill>
              </a:defRPr>
            </a:lvl1pPr>
            <a:lvl2pPr marL="575077" indent="0">
              <a:buNone/>
              <a:defRPr sz="2516">
                <a:solidFill>
                  <a:schemeClr val="tx1">
                    <a:tint val="75000"/>
                  </a:schemeClr>
                </a:solidFill>
              </a:defRPr>
            </a:lvl2pPr>
            <a:lvl3pPr marL="1150154" indent="0">
              <a:buNone/>
              <a:defRPr sz="2264">
                <a:solidFill>
                  <a:schemeClr val="tx1">
                    <a:tint val="75000"/>
                  </a:schemeClr>
                </a:solidFill>
              </a:defRPr>
            </a:lvl3pPr>
            <a:lvl4pPr marL="1725231" indent="0">
              <a:buNone/>
              <a:defRPr sz="2012">
                <a:solidFill>
                  <a:schemeClr val="tx1">
                    <a:tint val="75000"/>
                  </a:schemeClr>
                </a:solidFill>
              </a:defRPr>
            </a:lvl4pPr>
            <a:lvl5pPr marL="2300309" indent="0">
              <a:buNone/>
              <a:defRPr sz="2012">
                <a:solidFill>
                  <a:schemeClr val="tx1">
                    <a:tint val="75000"/>
                  </a:schemeClr>
                </a:solidFill>
              </a:defRPr>
            </a:lvl5pPr>
            <a:lvl6pPr marL="2875386" indent="0">
              <a:buNone/>
              <a:defRPr sz="2012">
                <a:solidFill>
                  <a:schemeClr val="tx1">
                    <a:tint val="75000"/>
                  </a:schemeClr>
                </a:solidFill>
              </a:defRPr>
            </a:lvl6pPr>
            <a:lvl7pPr marL="3450463" indent="0">
              <a:buNone/>
              <a:defRPr sz="2012">
                <a:solidFill>
                  <a:schemeClr val="tx1">
                    <a:tint val="75000"/>
                  </a:schemeClr>
                </a:solidFill>
              </a:defRPr>
            </a:lvl7pPr>
            <a:lvl8pPr marL="4025540" indent="0">
              <a:buNone/>
              <a:defRPr sz="2012">
                <a:solidFill>
                  <a:schemeClr val="tx1">
                    <a:tint val="75000"/>
                  </a:schemeClr>
                </a:solidFill>
              </a:defRPr>
            </a:lvl8pPr>
            <a:lvl9pPr marL="4600616" indent="0">
              <a:buNone/>
              <a:defRPr sz="2012">
                <a:solidFill>
                  <a:schemeClr val="tx1">
                    <a:tint val="75000"/>
                  </a:schemeClr>
                </a:solidFill>
              </a:defRPr>
            </a:lvl9pPr>
          </a:lstStyle>
          <a:p>
            <a:pPr lvl="0"/>
            <a:r>
              <a:rPr lang="en-US" noProof="0"/>
              <a:t>Edit Master text styles</a:t>
            </a:r>
          </a:p>
        </p:txBody>
      </p:sp>
      <p:sp>
        <p:nvSpPr>
          <p:cNvPr id="13" name="TextBox 12"/>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4" name="TextBox 13"/>
          <p:cNvSpPr txBox="1"/>
          <p:nvPr userDrawn="1"/>
        </p:nvSpPr>
        <p:spPr>
          <a:xfrm>
            <a:off x="501652"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5" name="TextBox 14"/>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1645307783"/>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preserve="1" userDrawn="1">
  <p:cSld name="Divider - Deloitte blue">
    <p:bg bwMode="gray">
      <p:bgPr>
        <a:solidFill>
          <a:schemeClr val="accent3"/>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2"/>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77" indent="0">
              <a:buNone/>
              <a:defRPr sz="2516">
                <a:solidFill>
                  <a:schemeClr val="tx1">
                    <a:tint val="75000"/>
                  </a:schemeClr>
                </a:solidFill>
              </a:defRPr>
            </a:lvl2pPr>
            <a:lvl3pPr marL="1150154" indent="0">
              <a:buNone/>
              <a:defRPr sz="2264">
                <a:solidFill>
                  <a:schemeClr val="tx1">
                    <a:tint val="75000"/>
                  </a:schemeClr>
                </a:solidFill>
              </a:defRPr>
            </a:lvl3pPr>
            <a:lvl4pPr marL="1725231" indent="0">
              <a:buNone/>
              <a:defRPr sz="2012">
                <a:solidFill>
                  <a:schemeClr val="tx1">
                    <a:tint val="75000"/>
                  </a:schemeClr>
                </a:solidFill>
              </a:defRPr>
            </a:lvl4pPr>
            <a:lvl5pPr marL="2300309" indent="0">
              <a:buNone/>
              <a:defRPr sz="2012">
                <a:solidFill>
                  <a:schemeClr val="tx1">
                    <a:tint val="75000"/>
                  </a:schemeClr>
                </a:solidFill>
              </a:defRPr>
            </a:lvl5pPr>
            <a:lvl6pPr marL="2875386" indent="0">
              <a:buNone/>
              <a:defRPr sz="2012">
                <a:solidFill>
                  <a:schemeClr val="tx1">
                    <a:tint val="75000"/>
                  </a:schemeClr>
                </a:solidFill>
              </a:defRPr>
            </a:lvl6pPr>
            <a:lvl7pPr marL="3450463" indent="0">
              <a:buNone/>
              <a:defRPr sz="2012">
                <a:solidFill>
                  <a:schemeClr val="tx1">
                    <a:tint val="75000"/>
                  </a:schemeClr>
                </a:solidFill>
              </a:defRPr>
            </a:lvl7pPr>
            <a:lvl8pPr marL="4025540" indent="0">
              <a:buNone/>
              <a:defRPr sz="2012">
                <a:solidFill>
                  <a:schemeClr val="tx1">
                    <a:tint val="75000"/>
                  </a:schemeClr>
                </a:solidFill>
              </a:defRPr>
            </a:lvl8pPr>
            <a:lvl9pPr marL="4600616" indent="0">
              <a:buNone/>
              <a:defRPr sz="2012">
                <a:solidFill>
                  <a:schemeClr val="tx1">
                    <a:tint val="75000"/>
                  </a:schemeClr>
                </a:solidFill>
              </a:defRPr>
            </a:lvl9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1661078246"/>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userDrawn="1">
  <p:cSld name="1_Divider - Deloitte dark blue">
    <p:bg bwMode="gray">
      <p:bgPr>
        <a:solidFill>
          <a:schemeClr val="accent4"/>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2"/>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77" indent="0">
              <a:buNone/>
              <a:defRPr sz="2516">
                <a:solidFill>
                  <a:schemeClr val="tx1">
                    <a:tint val="75000"/>
                  </a:schemeClr>
                </a:solidFill>
              </a:defRPr>
            </a:lvl2pPr>
            <a:lvl3pPr marL="1150154" indent="0">
              <a:buNone/>
              <a:defRPr sz="2264">
                <a:solidFill>
                  <a:schemeClr val="tx1">
                    <a:tint val="75000"/>
                  </a:schemeClr>
                </a:solidFill>
              </a:defRPr>
            </a:lvl3pPr>
            <a:lvl4pPr marL="1725231" indent="0">
              <a:buNone/>
              <a:defRPr sz="2012">
                <a:solidFill>
                  <a:schemeClr val="tx1">
                    <a:tint val="75000"/>
                  </a:schemeClr>
                </a:solidFill>
              </a:defRPr>
            </a:lvl4pPr>
            <a:lvl5pPr marL="2300309" indent="0">
              <a:buNone/>
              <a:defRPr sz="2012">
                <a:solidFill>
                  <a:schemeClr val="tx1">
                    <a:tint val="75000"/>
                  </a:schemeClr>
                </a:solidFill>
              </a:defRPr>
            </a:lvl5pPr>
            <a:lvl6pPr marL="2875386" indent="0">
              <a:buNone/>
              <a:defRPr sz="2012">
                <a:solidFill>
                  <a:schemeClr val="tx1">
                    <a:tint val="75000"/>
                  </a:schemeClr>
                </a:solidFill>
              </a:defRPr>
            </a:lvl6pPr>
            <a:lvl7pPr marL="3450463" indent="0">
              <a:buNone/>
              <a:defRPr sz="2012">
                <a:solidFill>
                  <a:schemeClr val="tx1">
                    <a:tint val="75000"/>
                  </a:schemeClr>
                </a:solidFill>
              </a:defRPr>
            </a:lvl7pPr>
            <a:lvl8pPr marL="4025540" indent="0">
              <a:buNone/>
              <a:defRPr sz="2012">
                <a:solidFill>
                  <a:schemeClr val="tx1">
                    <a:tint val="75000"/>
                  </a:schemeClr>
                </a:solidFill>
              </a:defRPr>
            </a:lvl8pPr>
            <a:lvl9pPr marL="4600616" indent="0">
              <a:buNone/>
              <a:defRPr sz="2012">
                <a:solidFill>
                  <a:schemeClr val="tx1">
                    <a:tint val="75000"/>
                  </a:schemeClr>
                </a:solidFill>
              </a:defRPr>
            </a:lvl9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1590990795"/>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Divider - Deloitte black">
    <p:bg bwMode="gray">
      <p:bgPr>
        <a:solidFill>
          <a:schemeClr val="tx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2"/>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77" indent="0">
              <a:buNone/>
              <a:defRPr sz="2516">
                <a:solidFill>
                  <a:schemeClr val="tx1">
                    <a:tint val="75000"/>
                  </a:schemeClr>
                </a:solidFill>
              </a:defRPr>
            </a:lvl2pPr>
            <a:lvl3pPr marL="1150154" indent="0">
              <a:buNone/>
              <a:defRPr sz="2264">
                <a:solidFill>
                  <a:schemeClr val="tx1">
                    <a:tint val="75000"/>
                  </a:schemeClr>
                </a:solidFill>
              </a:defRPr>
            </a:lvl3pPr>
            <a:lvl4pPr marL="1725231" indent="0">
              <a:buNone/>
              <a:defRPr sz="2012">
                <a:solidFill>
                  <a:schemeClr val="tx1">
                    <a:tint val="75000"/>
                  </a:schemeClr>
                </a:solidFill>
              </a:defRPr>
            </a:lvl4pPr>
            <a:lvl5pPr marL="2300309" indent="0">
              <a:buNone/>
              <a:defRPr sz="2012">
                <a:solidFill>
                  <a:schemeClr val="tx1">
                    <a:tint val="75000"/>
                  </a:schemeClr>
                </a:solidFill>
              </a:defRPr>
            </a:lvl5pPr>
            <a:lvl6pPr marL="2875386" indent="0">
              <a:buNone/>
              <a:defRPr sz="2012">
                <a:solidFill>
                  <a:schemeClr val="tx1">
                    <a:tint val="75000"/>
                  </a:schemeClr>
                </a:solidFill>
              </a:defRPr>
            </a:lvl6pPr>
            <a:lvl7pPr marL="3450463" indent="0">
              <a:buNone/>
              <a:defRPr sz="2012">
                <a:solidFill>
                  <a:schemeClr val="tx1">
                    <a:tint val="75000"/>
                  </a:schemeClr>
                </a:solidFill>
              </a:defRPr>
            </a:lvl7pPr>
            <a:lvl8pPr marL="4025540" indent="0">
              <a:buNone/>
              <a:defRPr sz="2012">
                <a:solidFill>
                  <a:schemeClr val="tx1">
                    <a:tint val="75000"/>
                  </a:schemeClr>
                </a:solidFill>
              </a:defRPr>
            </a:lvl8pPr>
            <a:lvl9pPr marL="4600616" indent="0">
              <a:buNone/>
              <a:defRPr sz="2012">
                <a:solidFill>
                  <a:schemeClr val="tx1">
                    <a:tint val="75000"/>
                  </a:schemeClr>
                </a:solidFill>
              </a:defRPr>
            </a:lvl9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587677245"/>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Divider - Deloitte white">
    <p:bg bwMode="gray">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2"/>
            <a:ext cx="10541000" cy="1592403"/>
          </a:xfrm>
        </p:spPr>
        <p:txBody>
          <a:bodyPr anchor="b"/>
          <a:lstStyle>
            <a:lvl1pPr>
              <a:lnSpc>
                <a:spcPct val="95000"/>
              </a:lnSpc>
              <a:defRPr sz="4448" b="1">
                <a:solidFill>
                  <a:schemeClr val="tx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tx1"/>
                </a:solidFill>
              </a:defRPr>
            </a:lvl1pPr>
            <a:lvl2pPr marL="575077" indent="0">
              <a:buNone/>
              <a:defRPr sz="2516">
                <a:solidFill>
                  <a:schemeClr val="tx1">
                    <a:tint val="75000"/>
                  </a:schemeClr>
                </a:solidFill>
              </a:defRPr>
            </a:lvl2pPr>
            <a:lvl3pPr marL="1150154" indent="0">
              <a:buNone/>
              <a:defRPr sz="2264">
                <a:solidFill>
                  <a:schemeClr val="tx1">
                    <a:tint val="75000"/>
                  </a:schemeClr>
                </a:solidFill>
              </a:defRPr>
            </a:lvl3pPr>
            <a:lvl4pPr marL="1725231" indent="0">
              <a:buNone/>
              <a:defRPr sz="2012">
                <a:solidFill>
                  <a:schemeClr val="tx1">
                    <a:tint val="75000"/>
                  </a:schemeClr>
                </a:solidFill>
              </a:defRPr>
            </a:lvl4pPr>
            <a:lvl5pPr marL="2300309" indent="0">
              <a:buNone/>
              <a:defRPr sz="2012">
                <a:solidFill>
                  <a:schemeClr val="tx1">
                    <a:tint val="75000"/>
                  </a:schemeClr>
                </a:solidFill>
              </a:defRPr>
            </a:lvl5pPr>
            <a:lvl6pPr marL="2875386" indent="0">
              <a:buNone/>
              <a:defRPr sz="2012">
                <a:solidFill>
                  <a:schemeClr val="tx1">
                    <a:tint val="75000"/>
                  </a:schemeClr>
                </a:solidFill>
              </a:defRPr>
            </a:lvl6pPr>
            <a:lvl7pPr marL="3450463" indent="0">
              <a:buNone/>
              <a:defRPr sz="2012">
                <a:solidFill>
                  <a:schemeClr val="tx1">
                    <a:tint val="75000"/>
                  </a:schemeClr>
                </a:solidFill>
              </a:defRPr>
            </a:lvl7pPr>
            <a:lvl8pPr marL="4025540" indent="0">
              <a:buNone/>
              <a:defRPr sz="2012">
                <a:solidFill>
                  <a:schemeClr val="tx1">
                    <a:tint val="75000"/>
                  </a:schemeClr>
                </a:solidFill>
              </a:defRPr>
            </a:lvl8pPr>
            <a:lvl9pPr marL="4600616" indent="0">
              <a:buNone/>
              <a:defRPr sz="2012">
                <a:solidFill>
                  <a:schemeClr val="tx1">
                    <a:tint val="75000"/>
                  </a:schemeClr>
                </a:solidFill>
              </a:defRPr>
            </a:lvl9pPr>
          </a:lstStyle>
          <a:p>
            <a:pPr lvl="0"/>
            <a:r>
              <a:rPr lang="en-US" noProof="0"/>
              <a:t>Edit Master text styles</a:t>
            </a:r>
          </a:p>
        </p:txBody>
      </p:sp>
    </p:spTree>
    <p:extLst>
      <p:ext uri="{BB962C8B-B14F-4D97-AF65-F5344CB8AC3E}">
        <p14:creationId xmlns:p14="http://schemas.microsoft.com/office/powerpoint/2010/main" val="695445815"/>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userDrawn="1">
  <p:cSld name="Key statement dark green">
    <p:bg>
      <p:bgPr>
        <a:solidFill>
          <a:schemeClr val="accent2"/>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1" y="1628777"/>
            <a:ext cx="9152370" cy="4752975"/>
          </a:xfrm>
          <a:prstGeom prst="rect">
            <a:avLst/>
          </a:prstGeom>
        </p:spPr>
        <p:txBody>
          <a:bodyPr>
            <a:noAutofit/>
          </a:bodyPr>
          <a:lstStyle>
            <a:lvl1pPr>
              <a:spcBef>
                <a:spcPts val="4528"/>
              </a:spcBef>
              <a:defRPr sz="3421">
                <a:solidFill>
                  <a:schemeClr val="bg1"/>
                </a:solidFill>
              </a:defRPr>
            </a:lvl1pPr>
            <a:lvl2pPr marL="575077" indent="-575077">
              <a:defRPr sz="3773">
                <a:solidFill>
                  <a:schemeClr val="bg2"/>
                </a:solidFill>
              </a:defRPr>
            </a:lvl2pPr>
            <a:lvl3pPr>
              <a:defRPr sz="3773">
                <a:solidFill>
                  <a:schemeClr val="bg2"/>
                </a:solidFill>
              </a:defRPr>
            </a:lvl3pPr>
            <a:lvl4pPr>
              <a:defRPr sz="3773">
                <a:solidFill>
                  <a:schemeClr val="bg2"/>
                </a:solidFill>
              </a:defRPr>
            </a:lvl4pPr>
            <a:lvl5pPr>
              <a:defRPr sz="3773">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2469650252"/>
      </p:ext>
    </p:extLst>
  </p:cSld>
  <p:clrMapOvr>
    <a:masterClrMapping/>
  </p:clrMapOvr>
  <p:transition>
    <p:fade/>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userDrawn="1">
  <p:cSld name="Key statement dark blue">
    <p:bg>
      <p:bgPr>
        <a:solidFill>
          <a:schemeClr val="accent4"/>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7203"/>
            <a:ext cx="9277350" cy="4759584"/>
          </a:xfrm>
          <a:prstGeom prst="rect">
            <a:avLst/>
          </a:prstGeom>
        </p:spPr>
        <p:txBody>
          <a:bodyPr>
            <a:noAutofit/>
          </a:bodyPr>
          <a:lstStyle>
            <a:lvl1pPr>
              <a:spcBef>
                <a:spcPts val="4528"/>
              </a:spcBef>
              <a:defRPr sz="3421">
                <a:solidFill>
                  <a:schemeClr val="bg1"/>
                </a:solidFill>
              </a:defRPr>
            </a:lvl1pPr>
            <a:lvl2pPr marL="575077" indent="-575077">
              <a:defRPr sz="3773">
                <a:solidFill>
                  <a:schemeClr val="bg2"/>
                </a:solidFill>
              </a:defRPr>
            </a:lvl2pPr>
            <a:lvl3pPr>
              <a:defRPr sz="3773">
                <a:solidFill>
                  <a:schemeClr val="bg2"/>
                </a:solidFill>
              </a:defRPr>
            </a:lvl3pPr>
            <a:lvl4pPr>
              <a:defRPr sz="3773">
                <a:solidFill>
                  <a:schemeClr val="bg2"/>
                </a:solidFill>
              </a:defRPr>
            </a:lvl4pPr>
            <a:lvl5pPr>
              <a:defRPr sz="3773">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726973719"/>
      </p:ext>
    </p:extLst>
  </p:cSld>
  <p:clrMapOvr>
    <a:masterClrMapping/>
  </p:clrMapOvr>
  <p:transition>
    <p:fade/>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userDrawn="1">
  <p:cSld name="Key statement teal">
    <p:bg>
      <p:bgPr>
        <a:solidFill>
          <a:schemeClr val="accent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8777"/>
            <a:ext cx="9277350" cy="4752975"/>
          </a:xfrm>
          <a:prstGeom prst="rect">
            <a:avLst/>
          </a:prstGeom>
        </p:spPr>
        <p:txBody>
          <a:bodyPr>
            <a:noAutofit/>
          </a:bodyPr>
          <a:lstStyle>
            <a:lvl1pPr>
              <a:spcBef>
                <a:spcPts val="4528"/>
              </a:spcBef>
              <a:defRPr sz="3421">
                <a:solidFill>
                  <a:schemeClr val="bg1"/>
                </a:solidFill>
              </a:defRPr>
            </a:lvl1pPr>
            <a:lvl2pPr marL="575077" indent="-575077">
              <a:defRPr sz="3773">
                <a:solidFill>
                  <a:schemeClr val="bg2"/>
                </a:solidFill>
              </a:defRPr>
            </a:lvl2pPr>
            <a:lvl3pPr>
              <a:defRPr sz="3773">
                <a:solidFill>
                  <a:schemeClr val="bg2"/>
                </a:solidFill>
              </a:defRPr>
            </a:lvl3pPr>
            <a:lvl4pPr>
              <a:defRPr sz="3773">
                <a:solidFill>
                  <a:schemeClr val="bg2"/>
                </a:solidFill>
              </a:defRPr>
            </a:lvl4pPr>
            <a:lvl5pPr>
              <a:defRPr sz="3773">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171978698"/>
      </p:ext>
    </p:extLst>
  </p:cSld>
  <p:clrMapOvr>
    <a:masterClrMapping/>
  </p:clrMapOvr>
  <p:transition>
    <p:fade/>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Key statement black">
    <p:bg>
      <p:bgPr>
        <a:solidFill>
          <a:schemeClr val="tx1"/>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8777"/>
            <a:ext cx="9277350" cy="4752975"/>
          </a:xfrm>
          <a:prstGeom prst="rect">
            <a:avLst/>
          </a:prstGeom>
        </p:spPr>
        <p:txBody>
          <a:bodyPr>
            <a:noAutofit/>
          </a:bodyPr>
          <a:lstStyle>
            <a:lvl1pPr>
              <a:spcBef>
                <a:spcPts val="4528"/>
              </a:spcBef>
              <a:defRPr sz="3421">
                <a:solidFill>
                  <a:schemeClr val="bg1"/>
                </a:solidFill>
              </a:defRPr>
            </a:lvl1pPr>
            <a:lvl2pPr marL="575077" indent="-575077">
              <a:defRPr sz="3773">
                <a:solidFill>
                  <a:schemeClr val="bg2"/>
                </a:solidFill>
              </a:defRPr>
            </a:lvl2pPr>
            <a:lvl3pPr>
              <a:defRPr sz="3773">
                <a:solidFill>
                  <a:schemeClr val="bg2"/>
                </a:solidFill>
              </a:defRPr>
            </a:lvl3pPr>
            <a:lvl4pPr>
              <a:defRPr sz="3773">
                <a:solidFill>
                  <a:schemeClr val="bg2"/>
                </a:solidFill>
              </a:defRPr>
            </a:lvl4pPr>
            <a:lvl5pPr>
              <a:defRPr sz="3773">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136815226"/>
      </p:ext>
    </p:extLst>
  </p:cSld>
  <p:clrMapOvr>
    <a:masterClrMapping/>
  </p:clrMapOvr>
  <p:transition>
    <p:fade/>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Key statement white">
    <p:bg>
      <p:bgRef idx="1001">
        <a:schemeClr val="bg1"/>
      </p:bgRef>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8777"/>
            <a:ext cx="9277350" cy="4752975"/>
          </a:xfrm>
          <a:prstGeom prst="rect">
            <a:avLst/>
          </a:prstGeom>
        </p:spPr>
        <p:txBody>
          <a:bodyPr>
            <a:noAutofit/>
          </a:bodyPr>
          <a:lstStyle>
            <a:lvl1pPr>
              <a:spcBef>
                <a:spcPts val="4528"/>
              </a:spcBef>
              <a:defRPr sz="3421">
                <a:solidFill>
                  <a:schemeClr val="tx1"/>
                </a:solidFill>
              </a:defRPr>
            </a:lvl1pPr>
            <a:lvl2pPr marL="575077" indent="-575077">
              <a:defRPr sz="3773">
                <a:solidFill>
                  <a:schemeClr val="bg2"/>
                </a:solidFill>
              </a:defRPr>
            </a:lvl2pPr>
            <a:lvl3pPr>
              <a:defRPr sz="3773">
                <a:solidFill>
                  <a:schemeClr val="bg2"/>
                </a:solidFill>
              </a:defRPr>
            </a:lvl3pPr>
            <a:lvl4pPr>
              <a:defRPr sz="3773">
                <a:solidFill>
                  <a:schemeClr val="bg2"/>
                </a:solidFill>
              </a:defRPr>
            </a:lvl4pPr>
            <a:lvl5pPr>
              <a:defRPr sz="3773">
                <a:solidFill>
                  <a:schemeClr val="bg2"/>
                </a:solidFill>
              </a:defRPr>
            </a:lvl5pPr>
          </a:lstStyle>
          <a:p>
            <a:pPr lvl="0"/>
            <a:r>
              <a:rPr lang="en-US" noProof="0"/>
              <a:t>Edit Master text styles</a:t>
            </a:r>
          </a:p>
        </p:txBody>
      </p:sp>
    </p:spTree>
    <p:extLst>
      <p:ext uri="{BB962C8B-B14F-4D97-AF65-F5344CB8AC3E}">
        <p14:creationId xmlns:p14="http://schemas.microsoft.com/office/powerpoint/2010/main" val="2700173269"/>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Contents">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548422504"/>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2" name="Rectangle 1" hidden="1"/>
          <p:cNvSpPr/>
          <p:nvPr userDrawn="1">
            <p:custDataLst>
              <p:tags r:id="rId2"/>
            </p:custDataLst>
          </p:nvPr>
        </p:nvSpPr>
        <p:spPr bwMode="gray">
          <a:xfrm>
            <a:off x="0" y="0"/>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176"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4" name="Content Placeholder 3"/>
          <p:cNvSpPr>
            <a:spLocks noGrp="1"/>
          </p:cNvSpPr>
          <p:nvPr>
            <p:ph sz="quarter" idx="10"/>
          </p:nvPr>
        </p:nvSpPr>
        <p:spPr>
          <a:xfrm>
            <a:off x="501652" y="1665292"/>
            <a:ext cx="9277350" cy="4716463"/>
          </a:xfrm>
          <a:prstGeom prst="rect">
            <a:avLst/>
          </a:prstGeom>
        </p:spPr>
        <p:txBody>
          <a:bodyPr/>
          <a:lstStyle>
            <a:lvl1pPr>
              <a:tabLst>
                <a:tab pos="8464418" algn="r"/>
              </a:tabLst>
              <a:defRPr/>
            </a:lvl1pPr>
            <a:lvl2pPr>
              <a:tabLst>
                <a:tab pos="8464418" algn="r"/>
              </a:tabLst>
              <a:defRPr/>
            </a:lvl2pPr>
            <a:lvl3pPr>
              <a:tabLst>
                <a:tab pos="8464418" algn="r"/>
              </a:tabLst>
              <a:defRPr/>
            </a:lvl3pPr>
            <a:lvl4pPr>
              <a:tabLst>
                <a:tab pos="8464418" algn="r"/>
              </a:tabLst>
              <a:defRPr/>
            </a:lvl4pPr>
            <a:lvl5pPr>
              <a:tabLst>
                <a:tab pos="6325849" algn="r"/>
              </a:tabLst>
              <a:defRPr baseline="0"/>
            </a:lvl5pPr>
            <a:lvl6pPr>
              <a:tabLst>
                <a:tab pos="8464418" algn="r"/>
              </a:tabLst>
              <a:defRPr/>
            </a:lvl6pPr>
            <a:lvl7pPr>
              <a:tabLst>
                <a:tab pos="8464418" algn="r"/>
              </a:tabLst>
              <a:defRPr/>
            </a:lvl7pPr>
            <a:lvl8pPr>
              <a:tabLst>
                <a:tab pos="8464418" algn="r"/>
              </a:tabLst>
              <a:defRPr/>
            </a:lvl8pPr>
            <a:lvl9pPr>
              <a:tabLst>
                <a:tab pos="8464418" algn="r"/>
              </a:tabLst>
              <a:defRPr/>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itle Placeholder 1"/>
          <p:cNvSpPr>
            <a:spLocks noGrp="1"/>
          </p:cNvSpPr>
          <p:nvPr>
            <p:ph type="title" hasCustomPrompt="1"/>
          </p:nvPr>
        </p:nvSpPr>
        <p:spPr>
          <a:xfrm>
            <a:off x="501652" y="317503"/>
            <a:ext cx="11180231" cy="698501"/>
          </a:xfrm>
          <a:prstGeom prst="rect">
            <a:avLst/>
          </a:prstGeom>
        </p:spPr>
        <p:txBody>
          <a:bodyPr vert="horz" lIns="0" tIns="0" rIns="0" bIns="0" rtlCol="0" anchor="t" anchorCtr="0">
            <a:noAutofit/>
          </a:bodyPr>
          <a:lstStyle>
            <a:lvl1pPr>
              <a:defRPr sz="2176"/>
            </a:lvl1pPr>
          </a:lstStyle>
          <a:p>
            <a:r>
              <a:rPr lang="en-US"/>
              <a:t>Click to add title</a:t>
            </a:r>
          </a:p>
        </p:txBody>
      </p:sp>
    </p:spTree>
    <p:extLst>
      <p:ext uri="{BB962C8B-B14F-4D97-AF65-F5344CB8AC3E}">
        <p14:creationId xmlns:p14="http://schemas.microsoft.com/office/powerpoint/2010/main" val="670559973"/>
      </p:ext>
    </p:extLst>
  </p:cSld>
  <p:clrMapOvr>
    <a:masterClrMapping/>
  </p:clrMapOvr>
  <p:transition>
    <p:fade/>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Contents with image">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197895616"/>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2" name="Rectangle 1" hidden="1"/>
          <p:cNvSpPr/>
          <p:nvPr userDrawn="1">
            <p:custDataLst>
              <p:tags r:id="rId2"/>
            </p:custDataLst>
          </p:nvPr>
        </p:nvSpPr>
        <p:spPr bwMode="gray">
          <a:xfrm>
            <a:off x="0" y="0"/>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176"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7" name="Title Placeholder 1"/>
          <p:cNvSpPr>
            <a:spLocks noGrp="1"/>
          </p:cNvSpPr>
          <p:nvPr>
            <p:ph type="title" hasCustomPrompt="1"/>
          </p:nvPr>
        </p:nvSpPr>
        <p:spPr>
          <a:xfrm>
            <a:off x="501651" y="286790"/>
            <a:ext cx="11188699" cy="698500"/>
          </a:xfrm>
          <a:prstGeom prst="rect">
            <a:avLst/>
          </a:prstGeom>
        </p:spPr>
        <p:txBody>
          <a:bodyPr vert="horz" lIns="0" tIns="0" rIns="0" bIns="0" rtlCol="0" anchor="t" anchorCtr="0">
            <a:noAutofit/>
          </a:bodyPr>
          <a:lstStyle>
            <a:lvl1pPr>
              <a:defRPr sz="2176"/>
            </a:lvl1pPr>
          </a:lstStyle>
          <a:p>
            <a:r>
              <a:rPr lang="en-US" noProof="0"/>
              <a:t>Click to add title</a:t>
            </a:r>
          </a:p>
        </p:txBody>
      </p:sp>
      <p:sp>
        <p:nvSpPr>
          <p:cNvPr id="5" name="Picture Placeholder 9"/>
          <p:cNvSpPr>
            <a:spLocks noGrp="1"/>
          </p:cNvSpPr>
          <p:nvPr>
            <p:ph type="pic" sz="quarter" idx="15"/>
          </p:nvPr>
        </p:nvSpPr>
        <p:spPr>
          <a:xfrm>
            <a:off x="5450353" y="1701804"/>
            <a:ext cx="6240000" cy="4679950"/>
          </a:xfrm>
        </p:spPr>
        <p:txBody>
          <a:bodyPr/>
          <a:lstStyle/>
          <a:p>
            <a:r>
              <a:rPr lang="en-US" noProof="0"/>
              <a:t>Click icon to add picture</a:t>
            </a:r>
          </a:p>
        </p:txBody>
      </p:sp>
      <p:sp>
        <p:nvSpPr>
          <p:cNvPr id="6" name="Content Placeholder 3"/>
          <p:cNvSpPr>
            <a:spLocks noGrp="1"/>
          </p:cNvSpPr>
          <p:nvPr>
            <p:ph sz="quarter" idx="10"/>
          </p:nvPr>
        </p:nvSpPr>
        <p:spPr>
          <a:xfrm>
            <a:off x="501653" y="1665292"/>
            <a:ext cx="4456429" cy="4716463"/>
          </a:xfrm>
          <a:prstGeom prst="rect">
            <a:avLst/>
          </a:prstGeom>
        </p:spPr>
        <p:txBody>
          <a:bodyPr/>
          <a:lstStyle>
            <a:lvl1pPr>
              <a:tabLst>
                <a:tab pos="6325849" algn="r"/>
              </a:tabLst>
              <a:defRPr/>
            </a:lvl1pPr>
            <a:lvl2pPr>
              <a:tabLst>
                <a:tab pos="6325849" algn="r"/>
              </a:tabLst>
              <a:defRPr/>
            </a:lvl2pPr>
            <a:lvl3pPr>
              <a:tabLst>
                <a:tab pos="6325849" algn="r"/>
              </a:tabLst>
              <a:defRPr/>
            </a:lvl3pPr>
            <a:lvl4pPr>
              <a:tabLst>
                <a:tab pos="6325849" algn="r"/>
              </a:tabLst>
              <a:defRPr/>
            </a:lvl4pPr>
            <a:lvl5pPr>
              <a:tabLst>
                <a:tab pos="6325849"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757606716"/>
      </p:ext>
    </p:extLst>
  </p:cSld>
  <p:clrMapOvr>
    <a:masterClrMapping/>
  </p:clrMapOvr>
  <p:transition>
    <p:fade/>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Title &amp; 1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1"/>
            </p:custDataLst>
            <p:extLst>
              <p:ext uri="{D42A27DB-BD31-4B8C-83A1-F6EECF244321}">
                <p14:modId xmlns:p14="http://schemas.microsoft.com/office/powerpoint/2010/main" val="1801042560"/>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4" name="Object 3"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3" name="Rectangle 2" hidden="1"/>
          <p:cNvSpPr/>
          <p:nvPr userDrawn="1">
            <p:custDataLst>
              <p:tags r:id="rId2"/>
            </p:custDataLst>
          </p:nvPr>
        </p:nvSpPr>
        <p:spPr bwMode="gray">
          <a:xfrm>
            <a:off x="0" y="0"/>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176"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a:xfrm>
            <a:off x="501651" y="317501"/>
            <a:ext cx="11188699" cy="698500"/>
          </a:xfrm>
        </p:spPr>
        <p:txBody>
          <a:bodyPr vert="horz"/>
          <a:lstStyle>
            <a:lvl1pPr>
              <a:defRPr sz="2176"/>
            </a:lvl1pPr>
          </a:lstStyle>
          <a:p>
            <a:r>
              <a:rPr lang="en-US" noProof="0"/>
              <a:t>Click to edit Master title style</a:t>
            </a:r>
          </a:p>
        </p:txBody>
      </p:sp>
      <p:sp>
        <p:nvSpPr>
          <p:cNvPr id="14" name="Text Placeholder 18"/>
          <p:cNvSpPr>
            <a:spLocks noGrp="1"/>
          </p:cNvSpPr>
          <p:nvPr>
            <p:ph idx="1"/>
          </p:nvPr>
        </p:nvSpPr>
        <p:spPr>
          <a:xfrm>
            <a:off x="501653" y="1665292"/>
            <a:ext cx="11165416" cy="4716463"/>
          </a:xfrm>
          <a:prstGeom prst="rect">
            <a:avLst/>
          </a:prstGeom>
        </p:spPr>
        <p:txBody>
          <a:bodyPr vert="horz" lIns="0" tIns="0" rIns="0" bIns="0" rtlCol="0">
            <a:noAutofit/>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70803395"/>
      </p:ext>
    </p:extLst>
  </p:cSld>
  <p:clrMapOvr>
    <a:masterClrMapping/>
  </p:clrMapOvr>
  <p:transition>
    <p:fade/>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Title, subtitle &amp; 1 column text">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1961681313"/>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2" name="Rectangle 1" hidden="1"/>
          <p:cNvSpPr/>
          <p:nvPr userDrawn="1">
            <p:custDataLst>
              <p:tags r:id="rId2"/>
            </p:custDataLst>
          </p:nvPr>
        </p:nvSpPr>
        <p:spPr bwMode="gray">
          <a:xfrm>
            <a:off x="0" y="0"/>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176"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9" name="Text Placeholder 8"/>
          <p:cNvSpPr>
            <a:spLocks noGrp="1"/>
          </p:cNvSpPr>
          <p:nvPr>
            <p:ph type="body" sz="quarter" idx="13" hasCustomPrompt="1"/>
          </p:nvPr>
        </p:nvSpPr>
        <p:spPr>
          <a:xfrm>
            <a:off x="501652" y="651601"/>
            <a:ext cx="11162350" cy="757255"/>
          </a:xfrm>
          <a:prstGeom prst="rect">
            <a:avLst/>
          </a:prstGeom>
        </p:spPr>
        <p:txBody>
          <a:bodyPr lIns="0" tIns="0" rIns="0" bIns="0">
            <a:noAutofit/>
          </a:bodyPr>
          <a:lstStyle>
            <a:lvl1pPr marL="0" indent="0">
              <a:buNone/>
              <a:defRPr sz="1814" b="0">
                <a:solidFill>
                  <a:srgbClr val="575757"/>
                </a:solidFill>
              </a:defRPr>
            </a:lvl1pPr>
          </a:lstStyle>
          <a:p>
            <a:pPr lvl="0"/>
            <a:r>
              <a:rPr lang="en-US" noProof="0"/>
              <a:t>Click to add subtitle</a:t>
            </a:r>
          </a:p>
        </p:txBody>
      </p:sp>
      <p:sp>
        <p:nvSpPr>
          <p:cNvPr id="14" name="Title Placeholder 1"/>
          <p:cNvSpPr>
            <a:spLocks noGrp="1"/>
          </p:cNvSpPr>
          <p:nvPr>
            <p:ph type="title"/>
          </p:nvPr>
        </p:nvSpPr>
        <p:spPr>
          <a:xfrm>
            <a:off x="501652" y="317502"/>
            <a:ext cx="11162350" cy="334101"/>
          </a:xfrm>
          <a:prstGeom prst="rect">
            <a:avLst/>
          </a:prstGeom>
        </p:spPr>
        <p:txBody>
          <a:bodyPr vert="horz" lIns="0" tIns="0" rIns="0" bIns="0" rtlCol="0" anchor="t" anchorCtr="0">
            <a:noAutofit/>
          </a:bodyPr>
          <a:lstStyle>
            <a:lvl1pPr>
              <a:defRPr sz="2176"/>
            </a:lvl1pPr>
          </a:lstStyle>
          <a:p>
            <a:r>
              <a:rPr lang="en-US" noProof="0"/>
              <a:t>Click to edit Master title style</a:t>
            </a:r>
          </a:p>
        </p:txBody>
      </p:sp>
      <p:sp>
        <p:nvSpPr>
          <p:cNvPr id="8" name="Text Placeholder 18"/>
          <p:cNvSpPr>
            <a:spLocks noGrp="1"/>
          </p:cNvSpPr>
          <p:nvPr>
            <p:ph idx="1"/>
          </p:nvPr>
        </p:nvSpPr>
        <p:spPr>
          <a:xfrm>
            <a:off x="498584" y="1174419"/>
            <a:ext cx="11165416" cy="4713911"/>
          </a:xfrm>
          <a:prstGeom prst="rect">
            <a:avLst/>
          </a:prstGeom>
        </p:spPr>
        <p:txBody>
          <a:bodyPr vert="horz" lIns="0" tIns="0" rIns="0" bIns="0" rtlCol="0">
            <a:noAutofit/>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01248864"/>
      </p:ext>
    </p:extLst>
  </p:cSld>
  <p:clrMapOvr>
    <a:masterClrMapping/>
  </p:clrMapOvr>
  <p:transition>
    <p:fade/>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Title, subtitle &amp; 1 column - large">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userDrawn="1">
            <p:custDataLst>
              <p:tags r:id="rId1"/>
            </p:custDataLst>
            <p:extLst>
              <p:ext uri="{D42A27DB-BD31-4B8C-83A1-F6EECF244321}">
                <p14:modId xmlns:p14="http://schemas.microsoft.com/office/powerpoint/2010/main" val="2511807169"/>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4" name="Rectangle 3" hidden="1"/>
          <p:cNvSpPr/>
          <p:nvPr userDrawn="1">
            <p:custDataLst>
              <p:tags r:id="rId2"/>
            </p:custDataLst>
          </p:nvPr>
        </p:nvSpPr>
        <p:spPr bwMode="gray">
          <a:xfrm>
            <a:off x="0" y="0"/>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176"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9" name="Text Placeholder 8"/>
          <p:cNvSpPr>
            <a:spLocks noGrp="1"/>
          </p:cNvSpPr>
          <p:nvPr>
            <p:ph type="body" sz="quarter" idx="13" hasCustomPrompt="1"/>
          </p:nvPr>
        </p:nvSpPr>
        <p:spPr>
          <a:xfrm>
            <a:off x="501652" y="651601"/>
            <a:ext cx="11162350" cy="757255"/>
          </a:xfrm>
          <a:prstGeom prst="rect">
            <a:avLst/>
          </a:prstGeom>
        </p:spPr>
        <p:txBody>
          <a:bodyPr lIns="0" tIns="0" rIns="0" bIns="0">
            <a:noAutofit/>
          </a:bodyPr>
          <a:lstStyle>
            <a:lvl1pPr marL="0" indent="0">
              <a:buNone/>
              <a:defRPr sz="1814" b="0">
                <a:solidFill>
                  <a:srgbClr val="575757"/>
                </a:solidFill>
              </a:defRPr>
            </a:lvl1pPr>
          </a:lstStyle>
          <a:p>
            <a:pPr lvl="0"/>
            <a:r>
              <a:rPr lang="en-US" noProof="0"/>
              <a:t>Click to add subtitle</a:t>
            </a:r>
          </a:p>
        </p:txBody>
      </p:sp>
      <p:sp>
        <p:nvSpPr>
          <p:cNvPr id="14" name="Title Placeholder 1"/>
          <p:cNvSpPr>
            <a:spLocks noGrp="1"/>
          </p:cNvSpPr>
          <p:nvPr>
            <p:ph type="title"/>
          </p:nvPr>
        </p:nvSpPr>
        <p:spPr>
          <a:xfrm>
            <a:off x="501652" y="317502"/>
            <a:ext cx="11162350" cy="334101"/>
          </a:xfrm>
          <a:prstGeom prst="rect">
            <a:avLst/>
          </a:prstGeom>
        </p:spPr>
        <p:txBody>
          <a:bodyPr vert="horz" lIns="0" tIns="0" rIns="0" bIns="0" rtlCol="0" anchor="t" anchorCtr="0">
            <a:noAutofit/>
          </a:bodyPr>
          <a:lstStyle>
            <a:lvl1pPr>
              <a:defRPr sz="2176"/>
            </a:lvl1pPr>
          </a:lstStyle>
          <a:p>
            <a:r>
              <a:rPr lang="en-US" noProof="0"/>
              <a:t>Click to edit Master title style</a:t>
            </a:r>
          </a:p>
        </p:txBody>
      </p:sp>
      <p:sp>
        <p:nvSpPr>
          <p:cNvPr id="8" name="Text Placeholder 18"/>
          <p:cNvSpPr>
            <a:spLocks noGrp="1"/>
          </p:cNvSpPr>
          <p:nvPr>
            <p:ph idx="1"/>
          </p:nvPr>
        </p:nvSpPr>
        <p:spPr>
          <a:xfrm>
            <a:off x="501653" y="1700213"/>
            <a:ext cx="11165416" cy="4678986"/>
          </a:xfrm>
          <a:prstGeom prst="rect">
            <a:avLst/>
          </a:prstGeom>
        </p:spPr>
        <p:txBody>
          <a:bodyPr vert="horz" lIns="0" tIns="0" rIns="0" bIns="0" rtlCol="0">
            <a:noAutofit/>
          </a:bodyPr>
          <a:lstStyle>
            <a:lvl1pPr>
              <a:defRPr sz="2012"/>
            </a:lvl1pPr>
            <a:lvl2pPr>
              <a:defRPr sz="2012"/>
            </a:lvl2pPr>
            <a:lvl3pPr>
              <a:defRPr sz="2012"/>
            </a:lvl3pPr>
            <a:lvl4pPr>
              <a:defRPr sz="2012"/>
            </a:lvl4pPr>
            <a:lvl5pPr>
              <a:defRPr sz="2012"/>
            </a:lvl5pPr>
            <a:lvl6pPr>
              <a:defRPr sz="2012"/>
            </a:lvl6pPr>
            <a:lvl7pPr>
              <a:defRPr sz="2012"/>
            </a:lvl7pPr>
            <a:lvl8pPr>
              <a:defRPr sz="2012"/>
            </a:lvl8pPr>
            <a:lvl9pPr>
              <a:defRPr sz="2012"/>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352267380"/>
      </p:ext>
    </p:extLst>
  </p:cSld>
  <p:clrMapOvr>
    <a:masterClrMapping/>
  </p:clrMapOvr>
  <p:transition>
    <p:fade/>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Title, subtitle &amp; chart">
    <p:spTree>
      <p:nvGrpSpPr>
        <p:cNvPr id="1" name=""/>
        <p:cNvGrpSpPr/>
        <p:nvPr/>
      </p:nvGrpSpPr>
      <p:grpSpPr>
        <a:xfrm>
          <a:off x="0" y="0"/>
          <a:ext cx="0" cy="0"/>
          <a:chOff x="0" y="0"/>
          <a:chExt cx="0" cy="0"/>
        </a:xfrm>
      </p:grpSpPr>
      <p:sp>
        <p:nvSpPr>
          <p:cNvPr id="15" name="Text Placeholder 8"/>
          <p:cNvSpPr>
            <a:spLocks noGrp="1"/>
          </p:cNvSpPr>
          <p:nvPr>
            <p:ph type="body" sz="quarter" idx="13" hasCustomPrompt="1"/>
          </p:nvPr>
        </p:nvSpPr>
        <p:spPr>
          <a:xfrm>
            <a:off x="501651" y="651601"/>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6" name="Title Placeholder 1"/>
          <p:cNvSpPr>
            <a:spLocks noGrp="1"/>
          </p:cNvSpPr>
          <p:nvPr>
            <p:ph type="title" hasCustomPrompt="1"/>
          </p:nvPr>
        </p:nvSpPr>
        <p:spPr>
          <a:xfrm>
            <a:off x="501651" y="317502"/>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17" name="Chart Placeholder 3"/>
          <p:cNvSpPr>
            <a:spLocks noGrp="1"/>
          </p:cNvSpPr>
          <p:nvPr>
            <p:ph type="chart" sz="quarter" idx="15"/>
          </p:nvPr>
        </p:nvSpPr>
        <p:spPr>
          <a:xfrm>
            <a:off x="501654" y="2052003"/>
            <a:ext cx="11188699" cy="4069013"/>
          </a:xfrm>
          <a:prstGeom prst="rect">
            <a:avLst/>
          </a:prstGeom>
        </p:spPr>
        <p:txBody>
          <a:bodyPr/>
          <a:lstStyle/>
          <a:p>
            <a:r>
              <a:rPr lang="en-US" noProof="0"/>
              <a:t>Click icon to add chart</a:t>
            </a:r>
          </a:p>
        </p:txBody>
      </p:sp>
      <p:sp>
        <p:nvSpPr>
          <p:cNvPr id="18" name="Text Placeholder 8"/>
          <p:cNvSpPr>
            <a:spLocks noGrp="1"/>
          </p:cNvSpPr>
          <p:nvPr>
            <p:ph type="body" sz="quarter" idx="18"/>
          </p:nvPr>
        </p:nvSpPr>
        <p:spPr>
          <a:xfrm>
            <a:off x="501654" y="1665289"/>
            <a:ext cx="11188699" cy="392112"/>
          </a:xfrm>
        </p:spPr>
        <p:txBody>
          <a:bodyPr/>
          <a:lstStyle/>
          <a:p>
            <a:pPr lvl="0"/>
            <a:r>
              <a:rPr lang="en-US" noProof="0"/>
              <a:t>Edit Master text styles</a:t>
            </a:r>
          </a:p>
        </p:txBody>
      </p:sp>
      <p:sp>
        <p:nvSpPr>
          <p:cNvPr id="19" name="Text Placeholder 7"/>
          <p:cNvSpPr>
            <a:spLocks noGrp="1"/>
          </p:cNvSpPr>
          <p:nvPr>
            <p:ph type="body" sz="quarter" idx="23"/>
          </p:nvPr>
        </p:nvSpPr>
        <p:spPr>
          <a:xfrm>
            <a:off x="501651" y="6121017"/>
            <a:ext cx="11188699" cy="260737"/>
          </a:xfrm>
        </p:spPr>
        <p:txBody>
          <a:bodyPr>
            <a:noAutofit/>
          </a:bodyPr>
          <a:lstStyle>
            <a:lvl1pPr>
              <a:spcAft>
                <a:spcPts val="0"/>
              </a:spcAft>
              <a:defRPr sz="1141"/>
            </a:lvl1pPr>
          </a:lstStyle>
          <a:p>
            <a:pPr lvl="0"/>
            <a:r>
              <a:rPr lang="en-US" noProof="0"/>
              <a:t>Edit Master text styles</a:t>
            </a:r>
          </a:p>
        </p:txBody>
      </p:sp>
    </p:spTree>
    <p:extLst>
      <p:ext uri="{BB962C8B-B14F-4D97-AF65-F5344CB8AC3E}">
        <p14:creationId xmlns:p14="http://schemas.microsoft.com/office/powerpoint/2010/main" val="713473583"/>
      </p:ext>
    </p:extLst>
  </p:cSld>
  <p:clrMapOvr>
    <a:masterClrMapping/>
  </p:clrMapOvr>
  <p:transition>
    <p:fade/>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3 chart">
    <p:spTree>
      <p:nvGrpSpPr>
        <p:cNvPr id="1" name=""/>
        <p:cNvGrpSpPr/>
        <p:nvPr/>
      </p:nvGrpSpPr>
      <p:grpSpPr>
        <a:xfrm>
          <a:off x="0" y="0"/>
          <a:ext cx="0" cy="0"/>
          <a:chOff x="0" y="0"/>
          <a:chExt cx="0" cy="0"/>
        </a:xfrm>
      </p:grpSpPr>
      <p:sp>
        <p:nvSpPr>
          <p:cNvPr id="15" name="Text Placeholder 8"/>
          <p:cNvSpPr>
            <a:spLocks noGrp="1"/>
          </p:cNvSpPr>
          <p:nvPr>
            <p:ph type="body" sz="quarter" idx="13" hasCustomPrompt="1"/>
          </p:nvPr>
        </p:nvSpPr>
        <p:spPr>
          <a:xfrm>
            <a:off x="501651" y="651601"/>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6" name="Title Placeholder 1"/>
          <p:cNvSpPr>
            <a:spLocks noGrp="1"/>
          </p:cNvSpPr>
          <p:nvPr>
            <p:ph type="title" hasCustomPrompt="1"/>
          </p:nvPr>
        </p:nvSpPr>
        <p:spPr>
          <a:xfrm>
            <a:off x="501651" y="317502"/>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17" name="Chart Placeholder 3"/>
          <p:cNvSpPr>
            <a:spLocks noGrp="1"/>
          </p:cNvSpPr>
          <p:nvPr>
            <p:ph type="chart" sz="quarter" idx="15"/>
          </p:nvPr>
        </p:nvSpPr>
        <p:spPr>
          <a:xfrm>
            <a:off x="504000" y="2051999"/>
            <a:ext cx="3549549" cy="4069014"/>
          </a:xfrm>
          <a:prstGeom prst="rect">
            <a:avLst/>
          </a:prstGeom>
        </p:spPr>
        <p:txBody>
          <a:bodyPr/>
          <a:lstStyle/>
          <a:p>
            <a:r>
              <a:rPr lang="en-US" noProof="0"/>
              <a:t>Click icon to add chart</a:t>
            </a:r>
          </a:p>
        </p:txBody>
      </p:sp>
      <p:sp>
        <p:nvSpPr>
          <p:cNvPr id="18" name="Text Placeholder 8"/>
          <p:cNvSpPr>
            <a:spLocks noGrp="1"/>
          </p:cNvSpPr>
          <p:nvPr>
            <p:ph type="body" sz="quarter" idx="18"/>
          </p:nvPr>
        </p:nvSpPr>
        <p:spPr>
          <a:xfrm>
            <a:off x="501652" y="1665289"/>
            <a:ext cx="3562351" cy="392112"/>
          </a:xfrm>
        </p:spPr>
        <p:txBody>
          <a:bodyPr/>
          <a:lstStyle/>
          <a:p>
            <a:pPr lvl="0"/>
            <a:r>
              <a:rPr lang="en-US" noProof="0"/>
              <a:t>Edit Master text styles</a:t>
            </a:r>
          </a:p>
        </p:txBody>
      </p:sp>
      <p:sp>
        <p:nvSpPr>
          <p:cNvPr id="7" name="Chart Placeholder 3"/>
          <p:cNvSpPr>
            <a:spLocks noGrp="1"/>
          </p:cNvSpPr>
          <p:nvPr>
            <p:ph type="chart" sz="quarter" idx="19"/>
          </p:nvPr>
        </p:nvSpPr>
        <p:spPr>
          <a:xfrm>
            <a:off x="4303186" y="2051999"/>
            <a:ext cx="3561616" cy="4069014"/>
          </a:xfrm>
          <a:prstGeom prst="rect">
            <a:avLst/>
          </a:prstGeom>
        </p:spPr>
        <p:txBody>
          <a:bodyPr/>
          <a:lstStyle/>
          <a:p>
            <a:r>
              <a:rPr lang="en-US" noProof="0"/>
              <a:t>Click icon to add chart</a:t>
            </a:r>
          </a:p>
        </p:txBody>
      </p:sp>
      <p:sp>
        <p:nvSpPr>
          <p:cNvPr id="8" name="Text Placeholder 8"/>
          <p:cNvSpPr>
            <a:spLocks noGrp="1"/>
          </p:cNvSpPr>
          <p:nvPr>
            <p:ph type="body" sz="quarter" idx="20"/>
          </p:nvPr>
        </p:nvSpPr>
        <p:spPr>
          <a:xfrm>
            <a:off x="4303185" y="1665289"/>
            <a:ext cx="3561615" cy="392112"/>
          </a:xfrm>
        </p:spPr>
        <p:txBody>
          <a:bodyPr/>
          <a:lstStyle/>
          <a:p>
            <a:pPr lvl="0"/>
            <a:r>
              <a:rPr lang="en-US" noProof="0"/>
              <a:t>Edit Master text styles</a:t>
            </a:r>
          </a:p>
        </p:txBody>
      </p:sp>
      <p:sp>
        <p:nvSpPr>
          <p:cNvPr id="9" name="Chart Placeholder 3"/>
          <p:cNvSpPr>
            <a:spLocks noGrp="1"/>
          </p:cNvSpPr>
          <p:nvPr>
            <p:ph type="chart" sz="quarter" idx="21"/>
          </p:nvPr>
        </p:nvSpPr>
        <p:spPr>
          <a:xfrm>
            <a:off x="8126397" y="2051999"/>
            <a:ext cx="3563953" cy="4069014"/>
          </a:xfrm>
          <a:prstGeom prst="rect">
            <a:avLst/>
          </a:prstGeom>
        </p:spPr>
        <p:txBody>
          <a:bodyPr/>
          <a:lstStyle/>
          <a:p>
            <a:r>
              <a:rPr lang="en-US" noProof="0"/>
              <a:t>Click icon to add chart</a:t>
            </a:r>
          </a:p>
        </p:txBody>
      </p:sp>
      <p:sp>
        <p:nvSpPr>
          <p:cNvPr id="10" name="Text Placeholder 8"/>
          <p:cNvSpPr>
            <a:spLocks noGrp="1"/>
          </p:cNvSpPr>
          <p:nvPr>
            <p:ph type="body" sz="quarter" idx="22"/>
          </p:nvPr>
        </p:nvSpPr>
        <p:spPr>
          <a:xfrm>
            <a:off x="8126399" y="1659145"/>
            <a:ext cx="3563954" cy="398256"/>
          </a:xfrm>
        </p:spPr>
        <p:txBody>
          <a:bodyPr/>
          <a:lstStyle/>
          <a:p>
            <a:pPr lvl="0"/>
            <a:r>
              <a:rPr lang="en-US" noProof="0"/>
              <a:t>Edit Master text styles</a:t>
            </a:r>
          </a:p>
        </p:txBody>
      </p:sp>
      <p:sp>
        <p:nvSpPr>
          <p:cNvPr id="12" name="Text Placeholder 7"/>
          <p:cNvSpPr>
            <a:spLocks noGrp="1"/>
          </p:cNvSpPr>
          <p:nvPr>
            <p:ph type="body" sz="quarter" idx="23"/>
          </p:nvPr>
        </p:nvSpPr>
        <p:spPr>
          <a:xfrm>
            <a:off x="501649" y="6121017"/>
            <a:ext cx="11165419" cy="260737"/>
          </a:xfrm>
        </p:spPr>
        <p:txBody>
          <a:bodyPr>
            <a:noAutofit/>
          </a:bodyPr>
          <a:lstStyle>
            <a:lvl1pPr>
              <a:spcAft>
                <a:spcPts val="0"/>
              </a:spcAft>
              <a:defRPr sz="1141"/>
            </a:lvl1pPr>
          </a:lstStyle>
          <a:p>
            <a:pPr lvl="0"/>
            <a:r>
              <a:rPr lang="en-US" noProof="0"/>
              <a:t>Edit Master text styles</a:t>
            </a:r>
          </a:p>
        </p:txBody>
      </p:sp>
    </p:spTree>
    <p:extLst>
      <p:ext uri="{BB962C8B-B14F-4D97-AF65-F5344CB8AC3E}">
        <p14:creationId xmlns:p14="http://schemas.microsoft.com/office/powerpoint/2010/main" val="1487042757"/>
      </p:ext>
    </p:extLst>
  </p:cSld>
  <p:clrMapOvr>
    <a:masterClrMapping/>
  </p:clrMapOvr>
  <p:transition>
    <p:fade/>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2 columns of text">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3675256775"/>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2" name="Rectangle 1" hidden="1"/>
          <p:cNvSpPr/>
          <p:nvPr userDrawn="1">
            <p:custDataLst>
              <p:tags r:id="rId2"/>
            </p:custDataLst>
          </p:nvPr>
        </p:nvSpPr>
        <p:spPr bwMode="gray">
          <a:xfrm>
            <a:off x="0" y="0"/>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539"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14" name="Title Placeholder 1"/>
          <p:cNvSpPr>
            <a:spLocks noGrp="1"/>
          </p:cNvSpPr>
          <p:nvPr>
            <p:ph type="title" hasCustomPrompt="1"/>
          </p:nvPr>
        </p:nvSpPr>
        <p:spPr>
          <a:xfrm>
            <a:off x="501653" y="317502"/>
            <a:ext cx="11202669" cy="334101"/>
          </a:xfrm>
          <a:prstGeom prst="rect">
            <a:avLst/>
          </a:prstGeom>
        </p:spPr>
        <p:txBody>
          <a:bodyPr vert="horz" lIns="0" tIns="0" rIns="0" bIns="0" rtlCol="0" anchor="t" anchorCtr="0">
            <a:noAutofit/>
          </a:bodyPr>
          <a:lstStyle>
            <a:lvl1pPr>
              <a:defRPr sz="2539"/>
            </a:lvl1pPr>
          </a:lstStyle>
          <a:p>
            <a:r>
              <a:rPr lang="en-US" noProof="0"/>
              <a:t>Click to add title</a:t>
            </a:r>
          </a:p>
        </p:txBody>
      </p:sp>
      <p:sp>
        <p:nvSpPr>
          <p:cNvPr id="9" name="Text Placeholder 8"/>
          <p:cNvSpPr>
            <a:spLocks noGrp="1"/>
          </p:cNvSpPr>
          <p:nvPr>
            <p:ph type="body" sz="quarter" idx="13" hasCustomPrompt="1"/>
          </p:nvPr>
        </p:nvSpPr>
        <p:spPr>
          <a:xfrm>
            <a:off x="501653" y="651601"/>
            <a:ext cx="11202669" cy="757255"/>
          </a:xfrm>
          <a:prstGeom prst="rect">
            <a:avLst/>
          </a:prstGeom>
        </p:spPr>
        <p:txBody>
          <a:bodyPr lIns="0" tIns="0" rIns="0" bIns="0">
            <a:noAutofit/>
          </a:bodyPr>
          <a:lstStyle>
            <a:lvl1pPr marL="0" indent="0">
              <a:buNone/>
              <a:defRPr sz="2176" b="0">
                <a:solidFill>
                  <a:srgbClr val="575757"/>
                </a:solidFill>
              </a:defRPr>
            </a:lvl1pPr>
          </a:lstStyle>
          <a:p>
            <a:pPr lvl="0"/>
            <a:r>
              <a:rPr lang="en-US" noProof="0"/>
              <a:t>Click to add subtitle</a:t>
            </a:r>
          </a:p>
        </p:txBody>
      </p:sp>
      <p:sp>
        <p:nvSpPr>
          <p:cNvPr id="13" name="Content Placeholder 3"/>
          <p:cNvSpPr>
            <a:spLocks noGrp="1"/>
          </p:cNvSpPr>
          <p:nvPr>
            <p:ph sz="quarter" idx="10"/>
          </p:nvPr>
        </p:nvSpPr>
        <p:spPr>
          <a:xfrm>
            <a:off x="501651" y="1665288"/>
            <a:ext cx="5305578" cy="4716461"/>
          </a:xfrm>
          <a:prstGeom prst="rect">
            <a:avLst/>
          </a:prstGeom>
        </p:spPr>
        <p:txBody>
          <a:bodyPr/>
          <a:lstStyle>
            <a:lvl1pPr>
              <a:tabLst>
                <a:tab pos="6325849" algn="r"/>
              </a:tabLst>
              <a:defRPr/>
            </a:lvl1pPr>
            <a:lvl2pPr>
              <a:tabLst>
                <a:tab pos="6325849" algn="r"/>
              </a:tabLst>
              <a:defRPr/>
            </a:lvl2pPr>
            <a:lvl3pPr>
              <a:tabLst>
                <a:tab pos="6325849" algn="r"/>
              </a:tabLst>
              <a:defRPr/>
            </a:lvl3pPr>
            <a:lvl4pPr>
              <a:tabLst>
                <a:tab pos="6325849" algn="r"/>
              </a:tabLst>
              <a:defRPr/>
            </a:lvl4pPr>
            <a:lvl5pPr>
              <a:tabLst>
                <a:tab pos="6325849"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5" name="Content Placeholder 3"/>
          <p:cNvSpPr>
            <a:spLocks noGrp="1"/>
          </p:cNvSpPr>
          <p:nvPr>
            <p:ph sz="quarter" idx="20"/>
          </p:nvPr>
        </p:nvSpPr>
        <p:spPr>
          <a:xfrm>
            <a:off x="6381539" y="1665288"/>
            <a:ext cx="5322781" cy="4716461"/>
          </a:xfrm>
          <a:prstGeom prst="rect">
            <a:avLst/>
          </a:prstGeom>
        </p:spPr>
        <p:txBody>
          <a:bodyPr/>
          <a:lstStyle>
            <a:lvl1pPr>
              <a:tabLst>
                <a:tab pos="6325849" algn="r"/>
              </a:tabLst>
              <a:defRPr/>
            </a:lvl1pPr>
            <a:lvl2pPr>
              <a:tabLst>
                <a:tab pos="6325849" algn="r"/>
              </a:tabLst>
              <a:defRPr/>
            </a:lvl2pPr>
            <a:lvl3pPr>
              <a:tabLst>
                <a:tab pos="6325849" algn="r"/>
              </a:tabLst>
              <a:defRPr/>
            </a:lvl3pPr>
            <a:lvl4pPr>
              <a:tabLst>
                <a:tab pos="6325849" algn="r"/>
              </a:tabLst>
              <a:defRPr/>
            </a:lvl4pPr>
            <a:lvl5pPr>
              <a:tabLst>
                <a:tab pos="6325849"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141525751"/>
      </p:ext>
    </p:extLst>
  </p:cSld>
  <p:clrMapOvr>
    <a:masterClrMapping/>
  </p:clrMapOvr>
  <p:transition>
    <p:fade/>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2 columns - large">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312963086"/>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3" name="Object 2" hidden="1"/>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2" name="Rectangle 1" hidden="1"/>
          <p:cNvSpPr/>
          <p:nvPr userDrawn="1">
            <p:custDataLst>
              <p:tags r:id="rId2"/>
            </p:custDataLst>
          </p:nvPr>
        </p:nvSpPr>
        <p:spPr bwMode="gray">
          <a:xfrm>
            <a:off x="0" y="0"/>
            <a:ext cx="143960" cy="143955"/>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176" b="0" i="0" baseline="0">
              <a:solidFill>
                <a:schemeClr val="bg1"/>
              </a:solidFill>
              <a:latin typeface="Verdana" panose="020B0604030504040204" pitchFamily="34" charset="0"/>
              <a:ea typeface="+mj-ea"/>
              <a:cs typeface="+mj-cs"/>
              <a:sym typeface="Verdana" panose="020B0604030504040204" pitchFamily="34" charset="0"/>
            </a:endParaRPr>
          </a:p>
        </p:txBody>
      </p:sp>
      <p:sp>
        <p:nvSpPr>
          <p:cNvPr id="7" name="Text Placeholder 8"/>
          <p:cNvSpPr>
            <a:spLocks noGrp="1"/>
          </p:cNvSpPr>
          <p:nvPr>
            <p:ph type="body" sz="quarter" idx="13" hasCustomPrompt="1"/>
          </p:nvPr>
        </p:nvSpPr>
        <p:spPr>
          <a:xfrm>
            <a:off x="501651" y="651601"/>
            <a:ext cx="11188699" cy="757255"/>
          </a:xfrm>
          <a:prstGeom prst="rect">
            <a:avLst/>
          </a:prstGeom>
        </p:spPr>
        <p:txBody>
          <a:bodyPr lIns="0" tIns="0" rIns="0" bIns="0">
            <a:noAutofit/>
          </a:bodyPr>
          <a:lstStyle>
            <a:lvl1pPr marL="0" indent="0">
              <a:buNone/>
              <a:defRPr sz="1814" b="0">
                <a:solidFill>
                  <a:srgbClr val="575757"/>
                </a:solidFill>
              </a:defRPr>
            </a:lvl1pPr>
          </a:lstStyle>
          <a:p>
            <a:pPr lvl="0"/>
            <a:r>
              <a:rPr lang="en-US" noProof="0"/>
              <a:t>Click to add subtitle</a:t>
            </a:r>
          </a:p>
        </p:txBody>
      </p:sp>
      <p:sp>
        <p:nvSpPr>
          <p:cNvPr id="8" name="Title Placeholder 1"/>
          <p:cNvSpPr>
            <a:spLocks noGrp="1"/>
          </p:cNvSpPr>
          <p:nvPr>
            <p:ph type="title" hasCustomPrompt="1"/>
          </p:nvPr>
        </p:nvSpPr>
        <p:spPr>
          <a:xfrm>
            <a:off x="501651" y="317500"/>
            <a:ext cx="11188699" cy="334100"/>
          </a:xfrm>
          <a:prstGeom prst="rect">
            <a:avLst/>
          </a:prstGeom>
        </p:spPr>
        <p:txBody>
          <a:bodyPr vert="horz" lIns="0" tIns="0" rIns="0" bIns="0" rtlCol="0" anchor="t" anchorCtr="0">
            <a:noAutofit/>
          </a:bodyPr>
          <a:lstStyle>
            <a:lvl1pPr>
              <a:defRPr sz="2176"/>
            </a:lvl1pPr>
          </a:lstStyle>
          <a:p>
            <a:r>
              <a:rPr lang="en-US" noProof="0"/>
              <a:t>Click to add title</a:t>
            </a:r>
          </a:p>
        </p:txBody>
      </p:sp>
      <p:sp>
        <p:nvSpPr>
          <p:cNvPr id="11" name="Content Placeholder 3"/>
          <p:cNvSpPr>
            <a:spLocks noGrp="1"/>
          </p:cNvSpPr>
          <p:nvPr>
            <p:ph sz="quarter" idx="10"/>
          </p:nvPr>
        </p:nvSpPr>
        <p:spPr>
          <a:xfrm>
            <a:off x="501650" y="1665288"/>
            <a:ext cx="5305580" cy="4716461"/>
          </a:xfrm>
          <a:prstGeom prst="rect">
            <a:avLst/>
          </a:prstGeom>
        </p:spPr>
        <p:txBody>
          <a:bodyPr>
            <a:noAutofit/>
          </a:bodyPr>
          <a:lstStyle>
            <a:lvl1pPr>
              <a:tabLst>
                <a:tab pos="6325849" algn="r"/>
              </a:tabLst>
              <a:defRPr sz="2012"/>
            </a:lvl1pPr>
            <a:lvl2pPr>
              <a:tabLst>
                <a:tab pos="6325849" algn="r"/>
              </a:tabLst>
              <a:defRPr sz="2012"/>
            </a:lvl2pPr>
            <a:lvl3pPr>
              <a:tabLst>
                <a:tab pos="6325849" algn="r"/>
              </a:tabLst>
              <a:defRPr sz="2012"/>
            </a:lvl3pPr>
            <a:lvl4pPr>
              <a:tabLst>
                <a:tab pos="6325849" algn="r"/>
              </a:tabLst>
              <a:defRPr sz="2012"/>
            </a:lvl4pPr>
            <a:lvl5pPr>
              <a:tabLst>
                <a:tab pos="6325849" algn="r"/>
              </a:tabLst>
              <a:defRPr baseline="0"/>
            </a:lvl5pPr>
            <a:lvl6pPr>
              <a:defRPr sz="2012"/>
            </a:lvl6pPr>
            <a:lvl7pPr>
              <a:defRPr sz="2012"/>
            </a:lvl7pPr>
            <a:lvl8pPr>
              <a:defRPr sz="2012"/>
            </a:lvl8pPr>
            <a:lvl9pPr>
              <a:defRPr sz="2012"/>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Content Placeholder 3"/>
          <p:cNvSpPr>
            <a:spLocks noGrp="1"/>
          </p:cNvSpPr>
          <p:nvPr>
            <p:ph sz="quarter" idx="20"/>
          </p:nvPr>
        </p:nvSpPr>
        <p:spPr>
          <a:xfrm>
            <a:off x="6384002" y="1665288"/>
            <a:ext cx="5306350" cy="4716461"/>
          </a:xfrm>
          <a:prstGeom prst="rect">
            <a:avLst/>
          </a:prstGeom>
        </p:spPr>
        <p:txBody>
          <a:bodyPr>
            <a:noAutofit/>
          </a:bodyPr>
          <a:lstStyle>
            <a:lvl1pPr>
              <a:tabLst>
                <a:tab pos="6325849" algn="r"/>
              </a:tabLst>
              <a:defRPr sz="2012"/>
            </a:lvl1pPr>
            <a:lvl2pPr>
              <a:tabLst>
                <a:tab pos="6325849" algn="r"/>
              </a:tabLst>
              <a:defRPr sz="2012"/>
            </a:lvl2pPr>
            <a:lvl3pPr>
              <a:tabLst>
                <a:tab pos="6325849" algn="r"/>
              </a:tabLst>
              <a:defRPr sz="2012"/>
            </a:lvl3pPr>
            <a:lvl4pPr>
              <a:tabLst>
                <a:tab pos="6325849" algn="r"/>
              </a:tabLst>
              <a:defRPr sz="2012"/>
            </a:lvl4pPr>
            <a:lvl5pPr>
              <a:tabLst>
                <a:tab pos="6325849" algn="r"/>
              </a:tabLst>
              <a:defRPr baseline="0"/>
            </a:lvl5pPr>
            <a:lvl6pPr>
              <a:defRPr sz="2012"/>
            </a:lvl6pPr>
            <a:lvl7pPr>
              <a:defRPr sz="2012"/>
            </a:lvl7pPr>
            <a:lvl8pPr>
              <a:defRPr sz="2012"/>
            </a:lvl8pPr>
            <a:lvl9pPr>
              <a:defRPr sz="2012"/>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898860186"/>
      </p:ext>
    </p:extLst>
  </p:cSld>
  <p:clrMapOvr>
    <a:masterClrMapping/>
  </p:clrMapOvr>
  <p:transition>
    <p:fade/>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Text and chart">
    <p:spTree>
      <p:nvGrpSpPr>
        <p:cNvPr id="1" name=""/>
        <p:cNvGrpSpPr/>
        <p:nvPr/>
      </p:nvGrpSpPr>
      <p:grpSpPr>
        <a:xfrm>
          <a:off x="0" y="0"/>
          <a:ext cx="0" cy="0"/>
          <a:chOff x="0" y="0"/>
          <a:chExt cx="0" cy="0"/>
        </a:xfrm>
      </p:grpSpPr>
      <p:sp>
        <p:nvSpPr>
          <p:cNvPr id="10" name="Content Placeholder 3"/>
          <p:cNvSpPr>
            <a:spLocks noGrp="1"/>
          </p:cNvSpPr>
          <p:nvPr>
            <p:ph sz="quarter" idx="10"/>
          </p:nvPr>
        </p:nvSpPr>
        <p:spPr>
          <a:xfrm>
            <a:off x="501653" y="1665292"/>
            <a:ext cx="5355166" cy="4455725"/>
          </a:xfrm>
          <a:prstGeom prst="rect">
            <a:avLst/>
          </a:prstGeom>
        </p:spPr>
        <p:txBody>
          <a:bodyPr/>
          <a:lstStyle>
            <a:lvl1pPr>
              <a:tabLst>
                <a:tab pos="6325849" algn="r"/>
              </a:tabLst>
              <a:defRPr/>
            </a:lvl1pPr>
            <a:lvl2pPr>
              <a:tabLst>
                <a:tab pos="6325849" algn="r"/>
              </a:tabLst>
              <a:defRPr/>
            </a:lvl2pPr>
            <a:lvl3pPr>
              <a:tabLst>
                <a:tab pos="6325849" algn="r"/>
              </a:tabLst>
              <a:defRPr/>
            </a:lvl3pPr>
            <a:lvl4pPr>
              <a:tabLst>
                <a:tab pos="6325849" algn="r"/>
              </a:tabLst>
              <a:defRPr/>
            </a:lvl4pPr>
            <a:lvl5pPr>
              <a:tabLst>
                <a:tab pos="6325849"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 name="Chart Placeholder 2"/>
          <p:cNvSpPr>
            <a:spLocks noGrp="1"/>
          </p:cNvSpPr>
          <p:nvPr>
            <p:ph type="chart" sz="quarter" idx="21"/>
          </p:nvPr>
        </p:nvSpPr>
        <p:spPr>
          <a:xfrm>
            <a:off x="6341222" y="2125013"/>
            <a:ext cx="5349128" cy="3996000"/>
          </a:xfrm>
        </p:spPr>
        <p:txBody>
          <a:bodyPr/>
          <a:lstStyle/>
          <a:p>
            <a:r>
              <a:rPr lang="en-US" noProof="0"/>
              <a:t>Click icon to add chart</a:t>
            </a:r>
          </a:p>
        </p:txBody>
      </p:sp>
      <p:sp>
        <p:nvSpPr>
          <p:cNvPr id="6" name="Text Placeholder 5"/>
          <p:cNvSpPr>
            <a:spLocks noGrp="1"/>
          </p:cNvSpPr>
          <p:nvPr>
            <p:ph type="body" sz="quarter" idx="22"/>
          </p:nvPr>
        </p:nvSpPr>
        <p:spPr>
          <a:xfrm>
            <a:off x="6341222" y="1665288"/>
            <a:ext cx="5349128" cy="420687"/>
          </a:xfrm>
        </p:spPr>
        <p:txBody>
          <a:bodyPr/>
          <a:lstStyle/>
          <a:p>
            <a:pPr lvl="0"/>
            <a:r>
              <a:rPr lang="en-US" noProof="0"/>
              <a:t>Edit Master text styles</a:t>
            </a:r>
          </a:p>
        </p:txBody>
      </p:sp>
      <p:sp>
        <p:nvSpPr>
          <p:cNvPr id="11" name="Text Placeholder 8"/>
          <p:cNvSpPr>
            <a:spLocks noGrp="1"/>
          </p:cNvSpPr>
          <p:nvPr>
            <p:ph type="body" sz="quarter" idx="13" hasCustomPrompt="1"/>
          </p:nvPr>
        </p:nvSpPr>
        <p:spPr>
          <a:xfrm>
            <a:off x="501651" y="651601"/>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3" name="Title Placeholder 1"/>
          <p:cNvSpPr>
            <a:spLocks noGrp="1"/>
          </p:cNvSpPr>
          <p:nvPr>
            <p:ph type="title" hasCustomPrompt="1"/>
          </p:nvPr>
        </p:nvSpPr>
        <p:spPr>
          <a:xfrm>
            <a:off x="501651" y="317502"/>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15" name="Text Placeholder 7"/>
          <p:cNvSpPr>
            <a:spLocks noGrp="1"/>
          </p:cNvSpPr>
          <p:nvPr>
            <p:ph type="body" sz="quarter" idx="23"/>
          </p:nvPr>
        </p:nvSpPr>
        <p:spPr>
          <a:xfrm>
            <a:off x="501651" y="6121017"/>
            <a:ext cx="11188699" cy="260737"/>
          </a:xfrm>
        </p:spPr>
        <p:txBody>
          <a:bodyPr>
            <a:normAutofit/>
          </a:bodyPr>
          <a:lstStyle>
            <a:lvl1pPr>
              <a:spcAft>
                <a:spcPts val="0"/>
              </a:spcAft>
              <a:defRPr sz="1141"/>
            </a:lvl1pPr>
          </a:lstStyle>
          <a:p>
            <a:pPr lvl="0"/>
            <a:r>
              <a:rPr lang="en-US" noProof="0"/>
              <a:t>Edit Master text styles</a:t>
            </a:r>
          </a:p>
        </p:txBody>
      </p:sp>
    </p:spTree>
    <p:extLst>
      <p:ext uri="{BB962C8B-B14F-4D97-AF65-F5344CB8AC3E}">
        <p14:creationId xmlns:p14="http://schemas.microsoft.com/office/powerpoint/2010/main" val="3261998494"/>
      </p:ext>
    </p:extLst>
  </p:cSld>
  <p:clrMapOvr>
    <a:masterClrMapping/>
  </p:clrMapOvr>
  <p:transition>
    <p:fade/>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2 chart">
    <p:spTree>
      <p:nvGrpSpPr>
        <p:cNvPr id="1" name=""/>
        <p:cNvGrpSpPr/>
        <p:nvPr/>
      </p:nvGrpSpPr>
      <p:grpSpPr>
        <a:xfrm>
          <a:off x="0" y="0"/>
          <a:ext cx="0" cy="0"/>
          <a:chOff x="0" y="0"/>
          <a:chExt cx="0" cy="0"/>
        </a:xfrm>
      </p:grpSpPr>
      <p:sp>
        <p:nvSpPr>
          <p:cNvPr id="3" name="Chart Placeholder 2"/>
          <p:cNvSpPr>
            <a:spLocks noGrp="1"/>
          </p:cNvSpPr>
          <p:nvPr>
            <p:ph type="chart" sz="quarter" idx="21"/>
          </p:nvPr>
        </p:nvSpPr>
        <p:spPr>
          <a:xfrm>
            <a:off x="6341223" y="2125013"/>
            <a:ext cx="5349129" cy="3996000"/>
          </a:xfrm>
        </p:spPr>
        <p:txBody>
          <a:bodyPr/>
          <a:lstStyle/>
          <a:p>
            <a:r>
              <a:rPr lang="en-US" noProof="0"/>
              <a:t>Click icon to add chart</a:t>
            </a:r>
          </a:p>
        </p:txBody>
      </p:sp>
      <p:sp>
        <p:nvSpPr>
          <p:cNvPr id="6" name="Text Placeholder 5"/>
          <p:cNvSpPr>
            <a:spLocks noGrp="1"/>
          </p:cNvSpPr>
          <p:nvPr>
            <p:ph type="body" sz="quarter" idx="22"/>
          </p:nvPr>
        </p:nvSpPr>
        <p:spPr>
          <a:xfrm>
            <a:off x="6341224" y="1665288"/>
            <a:ext cx="5349129" cy="420687"/>
          </a:xfrm>
        </p:spPr>
        <p:txBody>
          <a:bodyPr/>
          <a:lstStyle/>
          <a:p>
            <a:pPr lvl="0"/>
            <a:r>
              <a:rPr lang="en-US" noProof="0"/>
              <a:t>Edit Master text styles</a:t>
            </a:r>
          </a:p>
        </p:txBody>
      </p:sp>
      <p:sp>
        <p:nvSpPr>
          <p:cNvPr id="11" name="Text Placeholder 8"/>
          <p:cNvSpPr>
            <a:spLocks noGrp="1"/>
          </p:cNvSpPr>
          <p:nvPr>
            <p:ph type="body" sz="quarter" idx="13" hasCustomPrompt="1"/>
          </p:nvPr>
        </p:nvSpPr>
        <p:spPr>
          <a:xfrm>
            <a:off x="501651" y="651601"/>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3" name="Title Placeholder 1"/>
          <p:cNvSpPr>
            <a:spLocks noGrp="1"/>
          </p:cNvSpPr>
          <p:nvPr>
            <p:ph type="title" hasCustomPrompt="1"/>
          </p:nvPr>
        </p:nvSpPr>
        <p:spPr>
          <a:xfrm>
            <a:off x="501651" y="317502"/>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15" name="Text Placeholder 7"/>
          <p:cNvSpPr>
            <a:spLocks noGrp="1"/>
          </p:cNvSpPr>
          <p:nvPr>
            <p:ph type="body" sz="quarter" idx="23"/>
          </p:nvPr>
        </p:nvSpPr>
        <p:spPr>
          <a:xfrm>
            <a:off x="501649" y="6121017"/>
            <a:ext cx="11165419" cy="260737"/>
          </a:xfrm>
        </p:spPr>
        <p:txBody>
          <a:bodyPr>
            <a:normAutofit/>
          </a:bodyPr>
          <a:lstStyle>
            <a:lvl1pPr>
              <a:spcAft>
                <a:spcPts val="0"/>
              </a:spcAft>
              <a:defRPr sz="1141"/>
            </a:lvl1pPr>
          </a:lstStyle>
          <a:p>
            <a:pPr lvl="0"/>
            <a:r>
              <a:rPr lang="en-US" noProof="0"/>
              <a:t>Edit Master text styles</a:t>
            </a:r>
          </a:p>
        </p:txBody>
      </p:sp>
      <p:sp>
        <p:nvSpPr>
          <p:cNvPr id="9" name="Chart Placeholder 2"/>
          <p:cNvSpPr>
            <a:spLocks noGrp="1"/>
          </p:cNvSpPr>
          <p:nvPr>
            <p:ph type="chart" sz="quarter" idx="24"/>
          </p:nvPr>
        </p:nvSpPr>
        <p:spPr>
          <a:xfrm>
            <a:off x="501652" y="2125013"/>
            <a:ext cx="5339063" cy="3996000"/>
          </a:xfrm>
        </p:spPr>
        <p:txBody>
          <a:bodyPr/>
          <a:lstStyle/>
          <a:p>
            <a:r>
              <a:rPr lang="en-US" noProof="0"/>
              <a:t>Click icon to add chart</a:t>
            </a:r>
          </a:p>
        </p:txBody>
      </p:sp>
      <p:sp>
        <p:nvSpPr>
          <p:cNvPr id="12" name="Text Placeholder 5"/>
          <p:cNvSpPr>
            <a:spLocks noGrp="1"/>
          </p:cNvSpPr>
          <p:nvPr>
            <p:ph type="body" sz="quarter" idx="25"/>
          </p:nvPr>
        </p:nvSpPr>
        <p:spPr>
          <a:xfrm>
            <a:off x="501650" y="1665288"/>
            <a:ext cx="5339064" cy="420687"/>
          </a:xfrm>
        </p:spPr>
        <p:txBody>
          <a:bodyPr/>
          <a:lstStyle/>
          <a:p>
            <a:pPr lvl="0"/>
            <a:r>
              <a:rPr lang="en-US" noProof="0"/>
              <a:t>Edit Master text styles</a:t>
            </a:r>
          </a:p>
        </p:txBody>
      </p:sp>
    </p:spTree>
    <p:extLst>
      <p:ext uri="{BB962C8B-B14F-4D97-AF65-F5344CB8AC3E}">
        <p14:creationId xmlns:p14="http://schemas.microsoft.com/office/powerpoint/2010/main" val="3242057095"/>
      </p:ext>
    </p:extLst>
  </p:cSld>
  <p:clrMapOvr>
    <a:masterClrMapping/>
  </p:clrMapOvr>
  <p:transition>
    <p:fade/>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2 column content">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501654" y="317502"/>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6" name="Content Placeholder 3"/>
          <p:cNvSpPr>
            <a:spLocks noGrp="1"/>
          </p:cNvSpPr>
          <p:nvPr>
            <p:ph sz="quarter" idx="10"/>
          </p:nvPr>
        </p:nvSpPr>
        <p:spPr>
          <a:xfrm>
            <a:off x="501652" y="1665292"/>
            <a:ext cx="4431857" cy="4716463"/>
          </a:xfrm>
          <a:prstGeom prst="rect">
            <a:avLst/>
          </a:prstGeom>
        </p:spPr>
        <p:txBody>
          <a:bodyPr/>
          <a:lstStyle>
            <a:lvl1pPr>
              <a:tabLst>
                <a:tab pos="6325849" algn="r"/>
              </a:tabLst>
              <a:defRPr/>
            </a:lvl1pPr>
            <a:lvl2pPr>
              <a:tabLst>
                <a:tab pos="6325849" algn="r"/>
              </a:tabLst>
              <a:defRPr/>
            </a:lvl2pPr>
            <a:lvl3pPr>
              <a:tabLst>
                <a:tab pos="6325849" algn="r"/>
              </a:tabLst>
              <a:defRPr/>
            </a:lvl3pPr>
            <a:lvl4pPr>
              <a:tabLst>
                <a:tab pos="6325849" algn="r"/>
              </a:tabLst>
              <a:defRPr/>
            </a:lvl4pPr>
            <a:lvl5pPr>
              <a:tabLst>
                <a:tab pos="6325849"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Content Placeholder 3"/>
          <p:cNvSpPr>
            <a:spLocks noGrp="1"/>
          </p:cNvSpPr>
          <p:nvPr>
            <p:ph sz="quarter" idx="16"/>
          </p:nvPr>
        </p:nvSpPr>
        <p:spPr>
          <a:xfrm>
            <a:off x="5450352" y="1700217"/>
            <a:ext cx="6240000" cy="4681537"/>
          </a:xfrm>
          <a:prstGeom prst="rect">
            <a:avLst/>
          </a:prstGeom>
        </p:spPr>
        <p:txBody>
          <a:bodyPr/>
          <a:lstStyle>
            <a:lvl1pPr>
              <a:tabLst>
                <a:tab pos="6325849" algn="r"/>
              </a:tabLst>
              <a:defRPr/>
            </a:lvl1pPr>
            <a:lvl2pPr>
              <a:tabLst>
                <a:tab pos="6325849" algn="r"/>
              </a:tabLst>
              <a:defRPr/>
            </a:lvl2pPr>
            <a:lvl3pPr>
              <a:tabLst>
                <a:tab pos="6325849" algn="r"/>
              </a:tabLst>
              <a:defRPr/>
            </a:lvl3pPr>
            <a:lvl4pPr>
              <a:tabLst>
                <a:tab pos="6325849" algn="r"/>
              </a:tabLst>
              <a:defRPr/>
            </a:lvl4pPr>
            <a:lvl5pPr>
              <a:tabLst>
                <a:tab pos="6325849"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13" hasCustomPrompt="1"/>
          </p:nvPr>
        </p:nvSpPr>
        <p:spPr>
          <a:xfrm>
            <a:off x="501651" y="651601"/>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2044635312"/>
      </p:ext>
    </p:extLst>
  </p:cSld>
  <p:clrMapOvr>
    <a:masterClrMapping/>
  </p:clrMapOvr>
  <p:transition>
    <p:fade/>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2 content with quote ">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501651" y="317500"/>
            <a:ext cx="11188699" cy="334100"/>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6" name="Content Placeholder 3"/>
          <p:cNvSpPr>
            <a:spLocks noGrp="1"/>
          </p:cNvSpPr>
          <p:nvPr>
            <p:ph sz="quarter" idx="10"/>
          </p:nvPr>
        </p:nvSpPr>
        <p:spPr>
          <a:xfrm>
            <a:off x="7577884" y="1658683"/>
            <a:ext cx="4112468" cy="4723072"/>
          </a:xfrm>
          <a:prstGeom prst="rect">
            <a:avLst/>
          </a:prstGeom>
        </p:spPr>
        <p:txBody>
          <a:bodyPr>
            <a:noAutofit/>
          </a:bodyPr>
          <a:lstStyle>
            <a:lvl1pPr>
              <a:tabLst>
                <a:tab pos="6325849" algn="r"/>
              </a:tabLst>
              <a:defRPr sz="3019">
                <a:solidFill>
                  <a:schemeClr val="accent3"/>
                </a:solidFill>
              </a:defRPr>
            </a:lvl1pPr>
            <a:lvl2pPr>
              <a:tabLst>
                <a:tab pos="6325849" algn="r"/>
              </a:tabLst>
              <a:defRPr/>
            </a:lvl2pPr>
            <a:lvl3pPr>
              <a:tabLst>
                <a:tab pos="6325849" algn="r"/>
              </a:tabLst>
              <a:defRPr/>
            </a:lvl3pPr>
            <a:lvl4pPr>
              <a:tabLst>
                <a:tab pos="6325849" algn="r"/>
              </a:tabLst>
              <a:defRPr/>
            </a:lvl4pPr>
            <a:lvl5pPr>
              <a:tabLst>
                <a:tab pos="6325849" algn="r"/>
              </a:tabLst>
              <a:defRPr baseline="0"/>
            </a:lvl5pPr>
          </a:lstStyle>
          <a:p>
            <a:pPr lvl="0"/>
            <a:r>
              <a:rPr lang="en-US" noProof="0"/>
              <a:t>Edit Master text styles</a:t>
            </a:r>
          </a:p>
        </p:txBody>
      </p:sp>
      <p:sp>
        <p:nvSpPr>
          <p:cNvPr id="8" name="Content Placeholder 3"/>
          <p:cNvSpPr>
            <a:spLocks noGrp="1"/>
          </p:cNvSpPr>
          <p:nvPr>
            <p:ph sz="quarter" idx="16"/>
          </p:nvPr>
        </p:nvSpPr>
        <p:spPr>
          <a:xfrm>
            <a:off x="501651" y="1665291"/>
            <a:ext cx="6506348" cy="4716462"/>
          </a:xfrm>
          <a:prstGeom prst="rect">
            <a:avLst/>
          </a:prstGeom>
        </p:spPr>
        <p:txBody>
          <a:bodyPr/>
          <a:lstStyle>
            <a:lvl1pPr>
              <a:tabLst>
                <a:tab pos="6325849" algn="r"/>
              </a:tabLst>
              <a:defRPr/>
            </a:lvl1pPr>
            <a:lvl2pPr>
              <a:tabLst>
                <a:tab pos="6325849" algn="r"/>
              </a:tabLst>
              <a:defRPr/>
            </a:lvl2pPr>
            <a:lvl3pPr>
              <a:tabLst>
                <a:tab pos="6325849" algn="r"/>
              </a:tabLst>
              <a:defRPr/>
            </a:lvl3pPr>
            <a:lvl4pPr>
              <a:tabLst>
                <a:tab pos="6325849" algn="r"/>
              </a:tabLst>
              <a:defRPr/>
            </a:lvl4pPr>
            <a:lvl5pPr>
              <a:tabLst>
                <a:tab pos="6325849"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13" hasCustomPrompt="1"/>
          </p:nvPr>
        </p:nvSpPr>
        <p:spPr>
          <a:xfrm>
            <a:off x="501654" y="651601"/>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2078202025"/>
      </p:ext>
    </p:extLst>
  </p:cSld>
  <p:clrMapOvr>
    <a:masterClrMapping/>
  </p:clrMapOvr>
  <p:transition>
    <p:fade/>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Team profile">
    <p:spTree>
      <p:nvGrpSpPr>
        <p:cNvPr id="1" name=""/>
        <p:cNvGrpSpPr/>
        <p:nvPr/>
      </p:nvGrpSpPr>
      <p:grpSpPr>
        <a:xfrm>
          <a:off x="0" y="0"/>
          <a:ext cx="0" cy="0"/>
          <a:chOff x="0" y="0"/>
          <a:chExt cx="0" cy="0"/>
        </a:xfrm>
      </p:grpSpPr>
      <p:sp>
        <p:nvSpPr>
          <p:cNvPr id="2" name="Title 1"/>
          <p:cNvSpPr>
            <a:spLocks noGrp="1"/>
          </p:cNvSpPr>
          <p:nvPr>
            <p:ph type="title"/>
          </p:nvPr>
        </p:nvSpPr>
        <p:spPr>
          <a:xfrm>
            <a:off x="501651" y="317500"/>
            <a:ext cx="11188699" cy="334100"/>
          </a:xfrm>
        </p:spPr>
        <p:txBody>
          <a:bodyPr/>
          <a:lstStyle/>
          <a:p>
            <a:r>
              <a:rPr lang="en-US" noProof="0"/>
              <a:t>Click to edit Master title style</a:t>
            </a:r>
          </a:p>
        </p:txBody>
      </p:sp>
      <p:sp>
        <p:nvSpPr>
          <p:cNvPr id="4" name="Picture Placeholder 6"/>
          <p:cNvSpPr>
            <a:spLocks noGrp="1"/>
          </p:cNvSpPr>
          <p:nvPr>
            <p:ph type="pic" sz="quarter" idx="13"/>
          </p:nvPr>
        </p:nvSpPr>
        <p:spPr>
          <a:xfrm>
            <a:off x="501649" y="1700213"/>
            <a:ext cx="2712000" cy="1260000"/>
          </a:xfrm>
        </p:spPr>
        <p:txBody>
          <a:bodyPr lIns="0" tIns="0" rIns="0" bIns="0">
            <a:noAutofit/>
          </a:bodyPr>
          <a:lstStyle/>
          <a:p>
            <a:r>
              <a:rPr lang="en-US" noProof="0"/>
              <a:t>Click icon to add picture</a:t>
            </a:r>
          </a:p>
        </p:txBody>
      </p:sp>
      <p:sp>
        <p:nvSpPr>
          <p:cNvPr id="5" name="Picture Placeholder 6"/>
          <p:cNvSpPr>
            <a:spLocks noGrp="1"/>
          </p:cNvSpPr>
          <p:nvPr>
            <p:ph type="pic" sz="quarter" idx="14"/>
          </p:nvPr>
        </p:nvSpPr>
        <p:spPr>
          <a:xfrm>
            <a:off x="3327216" y="1700213"/>
            <a:ext cx="2712000" cy="1260000"/>
          </a:xfrm>
        </p:spPr>
        <p:txBody>
          <a:bodyPr lIns="0" tIns="0" rIns="0" bIns="0">
            <a:noAutofit/>
          </a:bodyPr>
          <a:lstStyle/>
          <a:p>
            <a:r>
              <a:rPr lang="en-US" noProof="0"/>
              <a:t>Click icon to add picture</a:t>
            </a:r>
          </a:p>
        </p:txBody>
      </p:sp>
      <p:sp>
        <p:nvSpPr>
          <p:cNvPr id="6" name="Picture Placeholder 6"/>
          <p:cNvSpPr>
            <a:spLocks noGrp="1"/>
          </p:cNvSpPr>
          <p:nvPr>
            <p:ph type="pic" sz="quarter" idx="15"/>
          </p:nvPr>
        </p:nvSpPr>
        <p:spPr>
          <a:xfrm>
            <a:off x="6152784" y="1700213"/>
            <a:ext cx="2712000" cy="1260000"/>
          </a:xfrm>
        </p:spPr>
        <p:txBody>
          <a:bodyPr lIns="0" tIns="0" rIns="0" bIns="0">
            <a:noAutofit/>
          </a:bodyPr>
          <a:lstStyle/>
          <a:p>
            <a:r>
              <a:rPr lang="en-US" noProof="0"/>
              <a:t>Click icon to add picture</a:t>
            </a:r>
          </a:p>
        </p:txBody>
      </p:sp>
      <p:sp>
        <p:nvSpPr>
          <p:cNvPr id="7" name="Picture Placeholder 6"/>
          <p:cNvSpPr>
            <a:spLocks noGrp="1"/>
          </p:cNvSpPr>
          <p:nvPr>
            <p:ph type="pic" sz="quarter" idx="16"/>
          </p:nvPr>
        </p:nvSpPr>
        <p:spPr>
          <a:xfrm>
            <a:off x="8978351" y="1700213"/>
            <a:ext cx="2712000" cy="1260000"/>
          </a:xfrm>
        </p:spPr>
        <p:txBody>
          <a:bodyPr lIns="0" tIns="0" rIns="0" bIns="0">
            <a:noAutofit/>
          </a:bodyPr>
          <a:lstStyle/>
          <a:p>
            <a:r>
              <a:rPr lang="en-US" noProof="0"/>
              <a:t>Click icon to add picture</a:t>
            </a:r>
          </a:p>
        </p:txBody>
      </p:sp>
      <p:sp>
        <p:nvSpPr>
          <p:cNvPr id="9" name="Text Placeholder 8"/>
          <p:cNvSpPr>
            <a:spLocks noGrp="1"/>
          </p:cNvSpPr>
          <p:nvPr>
            <p:ph type="body" sz="quarter" idx="17"/>
          </p:nvPr>
        </p:nvSpPr>
        <p:spPr>
          <a:xfrm>
            <a:off x="501652" y="3124200"/>
            <a:ext cx="2720468" cy="3257548"/>
          </a:xfrm>
        </p:spPr>
        <p:txBody>
          <a:bodyPr/>
          <a:lstStyle>
            <a:lvl1pPr>
              <a:defRPr b="1">
                <a:solidFill>
                  <a:schemeClr val="accent1"/>
                </a:solidFill>
              </a:defRPr>
            </a:lvl1pPr>
            <a:lvl2pPr>
              <a:spcAft>
                <a:spcPts val="0"/>
              </a:spcAft>
              <a:defRPr/>
            </a:lvl2pPr>
            <a:lvl3pPr marL="0" indent="0">
              <a:spcAft>
                <a:spcPts val="0"/>
              </a:spcAft>
              <a:buNone/>
              <a:defRPr/>
            </a:lvl3pPr>
            <a:lvl4pPr marL="221880" indent="-221880">
              <a:spcAft>
                <a:spcPts val="0"/>
              </a:spcAft>
              <a:buFont typeface="Arial" panose="020B0604020202020204" pitchFamily="34" charset="0"/>
              <a:buChar char="•"/>
              <a:defRPr/>
            </a:lvl4pPr>
            <a:lvl5pPr marL="448288" indent="-221880">
              <a:spcAft>
                <a:spcPts val="0"/>
              </a:spcAft>
              <a:defRPr baseline="0"/>
            </a:lvl5pPr>
            <a:lvl6pPr marL="448288" indent="-221880">
              <a:spcAft>
                <a:spcPts val="0"/>
              </a:spcAft>
              <a:buFont typeface="Verdana" panose="020B0604030504040204" pitchFamily="34" charset="0"/>
              <a:buChar char="−"/>
              <a:defRPr/>
            </a:lvl6pPr>
            <a:lvl7pPr marL="448288" indent="-221880">
              <a:spcAft>
                <a:spcPts val="0"/>
              </a:spcAft>
              <a:defRPr/>
            </a:lvl7pPr>
            <a:lvl8pPr marL="448288" indent="-221880">
              <a:spcAft>
                <a:spcPts val="0"/>
              </a:spcAft>
              <a:defRPr/>
            </a:lvl8pPr>
            <a:lvl9pPr marL="448288" indent="-221880">
              <a:spcAft>
                <a:spcPts val="0"/>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Text Placeholder 8"/>
          <p:cNvSpPr>
            <a:spLocks noGrp="1"/>
          </p:cNvSpPr>
          <p:nvPr>
            <p:ph type="body" sz="quarter" idx="18"/>
          </p:nvPr>
        </p:nvSpPr>
        <p:spPr>
          <a:xfrm>
            <a:off x="6149965" y="3120551"/>
            <a:ext cx="2712000" cy="3261199"/>
          </a:xfrm>
        </p:spPr>
        <p:txBody>
          <a:bodyPr/>
          <a:lstStyle>
            <a:lvl1pPr>
              <a:defRPr b="1">
                <a:solidFill>
                  <a:schemeClr val="accent1"/>
                </a:solidFill>
              </a:defRPr>
            </a:lvl1pPr>
            <a:lvl2pPr>
              <a:spcAft>
                <a:spcPts val="0"/>
              </a:spcAft>
              <a:defRPr/>
            </a:lvl2pPr>
            <a:lvl3pPr marL="0" indent="0">
              <a:spcAft>
                <a:spcPts val="0"/>
              </a:spcAft>
              <a:buNone/>
              <a:defRPr/>
            </a:lvl3pPr>
            <a:lvl4pPr marL="221880" indent="-221880">
              <a:spcAft>
                <a:spcPts val="0"/>
              </a:spcAft>
              <a:buFont typeface="Arial" panose="020B0604020202020204" pitchFamily="34" charset="0"/>
              <a:buChar char="•"/>
              <a:defRPr/>
            </a:lvl4pPr>
            <a:lvl5pPr marL="448288" indent="-221880">
              <a:spcAft>
                <a:spcPts val="0"/>
              </a:spcAft>
              <a:defRPr baseline="0"/>
            </a:lvl5pPr>
            <a:lvl6pPr marL="448288" indent="-221880">
              <a:spcAft>
                <a:spcPts val="0"/>
              </a:spcAft>
              <a:buFont typeface="Verdana" panose="020B0604030504040204" pitchFamily="34" charset="0"/>
              <a:buChar char="−"/>
              <a:defRPr/>
            </a:lvl6pPr>
            <a:lvl7pPr marL="448288" indent="-221880">
              <a:spcAft>
                <a:spcPts val="0"/>
              </a:spcAft>
              <a:defRPr/>
            </a:lvl7pPr>
            <a:lvl8pPr marL="448288" indent="-221880">
              <a:spcAft>
                <a:spcPts val="0"/>
              </a:spcAft>
              <a:defRPr/>
            </a:lvl8pPr>
            <a:lvl9pPr marL="448288" indent="-221880">
              <a:spcAft>
                <a:spcPts val="0"/>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Text Placeholder 8"/>
          <p:cNvSpPr>
            <a:spLocks noGrp="1"/>
          </p:cNvSpPr>
          <p:nvPr>
            <p:ph type="body" sz="quarter" idx="19"/>
          </p:nvPr>
        </p:nvSpPr>
        <p:spPr>
          <a:xfrm>
            <a:off x="3330040" y="3124203"/>
            <a:ext cx="2712000" cy="3257549"/>
          </a:xfrm>
        </p:spPr>
        <p:txBody>
          <a:bodyPr/>
          <a:lstStyle>
            <a:lvl1pPr>
              <a:defRPr b="1">
                <a:solidFill>
                  <a:schemeClr val="accent1"/>
                </a:solidFill>
              </a:defRPr>
            </a:lvl1pPr>
            <a:lvl2pPr>
              <a:spcAft>
                <a:spcPts val="0"/>
              </a:spcAft>
              <a:defRPr/>
            </a:lvl2pPr>
            <a:lvl3pPr marL="0" indent="0">
              <a:spcAft>
                <a:spcPts val="0"/>
              </a:spcAft>
              <a:buNone/>
              <a:defRPr/>
            </a:lvl3pPr>
            <a:lvl4pPr marL="221880" indent="-221880">
              <a:spcAft>
                <a:spcPts val="0"/>
              </a:spcAft>
              <a:buFont typeface="Arial" panose="020B0604020202020204" pitchFamily="34" charset="0"/>
              <a:buChar char="•"/>
              <a:defRPr/>
            </a:lvl4pPr>
            <a:lvl5pPr marL="448288" indent="-221880">
              <a:spcAft>
                <a:spcPts val="0"/>
              </a:spcAft>
              <a:defRPr baseline="0"/>
            </a:lvl5pPr>
            <a:lvl6pPr marL="448288" indent="-221880">
              <a:spcAft>
                <a:spcPts val="0"/>
              </a:spcAft>
              <a:buFont typeface="Verdana" panose="020B0604030504040204" pitchFamily="34" charset="0"/>
              <a:buChar char="−"/>
              <a:defRPr/>
            </a:lvl6pPr>
            <a:lvl7pPr marL="448288" indent="-221880">
              <a:spcAft>
                <a:spcPts val="0"/>
              </a:spcAft>
              <a:defRPr/>
            </a:lvl7pPr>
            <a:lvl8pPr marL="448288" indent="-221880">
              <a:spcAft>
                <a:spcPts val="0"/>
              </a:spcAft>
              <a:defRPr/>
            </a:lvl8pPr>
            <a:lvl9pPr marL="448288" indent="-221880">
              <a:spcAft>
                <a:spcPts val="0"/>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Text Placeholder 8"/>
          <p:cNvSpPr>
            <a:spLocks noGrp="1"/>
          </p:cNvSpPr>
          <p:nvPr>
            <p:ph type="body" sz="quarter" idx="20"/>
          </p:nvPr>
        </p:nvSpPr>
        <p:spPr>
          <a:xfrm>
            <a:off x="8993169" y="3108508"/>
            <a:ext cx="2697183" cy="3273240"/>
          </a:xfrm>
        </p:spPr>
        <p:txBody>
          <a:bodyPr/>
          <a:lstStyle>
            <a:lvl1pPr>
              <a:defRPr b="1">
                <a:solidFill>
                  <a:schemeClr val="accent1"/>
                </a:solidFill>
              </a:defRPr>
            </a:lvl1pPr>
            <a:lvl2pPr>
              <a:spcAft>
                <a:spcPts val="0"/>
              </a:spcAft>
              <a:defRPr/>
            </a:lvl2pPr>
            <a:lvl3pPr marL="0" indent="0">
              <a:spcAft>
                <a:spcPts val="0"/>
              </a:spcAft>
              <a:buNone/>
              <a:defRPr/>
            </a:lvl3pPr>
            <a:lvl4pPr marL="221880" indent="-221880">
              <a:spcAft>
                <a:spcPts val="0"/>
              </a:spcAft>
              <a:buFont typeface="Arial" panose="020B0604020202020204" pitchFamily="34" charset="0"/>
              <a:buChar char="•"/>
              <a:defRPr/>
            </a:lvl4pPr>
            <a:lvl5pPr marL="448288" indent="-221880">
              <a:spcAft>
                <a:spcPts val="0"/>
              </a:spcAft>
              <a:defRPr baseline="0"/>
            </a:lvl5pPr>
            <a:lvl6pPr marL="448288" indent="-221880">
              <a:spcAft>
                <a:spcPts val="0"/>
              </a:spcAft>
              <a:buFont typeface="Verdana" panose="020B0604030504040204" pitchFamily="34" charset="0"/>
              <a:buChar char="−"/>
              <a:defRPr/>
            </a:lvl6pPr>
            <a:lvl7pPr marL="448288" indent="-221880">
              <a:spcAft>
                <a:spcPts val="0"/>
              </a:spcAft>
              <a:defRPr/>
            </a:lvl7pPr>
            <a:lvl8pPr marL="448288" indent="-221880">
              <a:spcAft>
                <a:spcPts val="0"/>
              </a:spcAft>
              <a:defRPr/>
            </a:lvl8pPr>
            <a:lvl9pPr marL="448288" indent="-221880">
              <a:spcAft>
                <a:spcPts val="0"/>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Text Placeholder 8"/>
          <p:cNvSpPr>
            <a:spLocks noGrp="1"/>
          </p:cNvSpPr>
          <p:nvPr>
            <p:ph type="body" sz="quarter" idx="21" hasCustomPrompt="1"/>
          </p:nvPr>
        </p:nvSpPr>
        <p:spPr>
          <a:xfrm>
            <a:off x="501650" y="651601"/>
            <a:ext cx="11188701"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2670691000"/>
      </p:ext>
    </p:extLst>
  </p:cSld>
  <p:clrMapOvr>
    <a:masterClrMapping/>
  </p:clrMapOvr>
  <p:transition>
    <p:fade/>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Team profile 2">
    <p:spTree>
      <p:nvGrpSpPr>
        <p:cNvPr id="1" name=""/>
        <p:cNvGrpSpPr/>
        <p:nvPr/>
      </p:nvGrpSpPr>
      <p:grpSpPr>
        <a:xfrm>
          <a:off x="0" y="0"/>
          <a:ext cx="0" cy="0"/>
          <a:chOff x="0" y="0"/>
          <a:chExt cx="0" cy="0"/>
        </a:xfrm>
      </p:grpSpPr>
      <p:sp>
        <p:nvSpPr>
          <p:cNvPr id="2" name="Title 1"/>
          <p:cNvSpPr>
            <a:spLocks noGrp="1"/>
          </p:cNvSpPr>
          <p:nvPr>
            <p:ph type="title"/>
          </p:nvPr>
        </p:nvSpPr>
        <p:spPr>
          <a:xfrm>
            <a:off x="501651" y="317500"/>
            <a:ext cx="11188699" cy="334100"/>
          </a:xfrm>
        </p:spPr>
        <p:txBody>
          <a:bodyPr/>
          <a:lstStyle/>
          <a:p>
            <a:r>
              <a:rPr lang="en-US" noProof="0"/>
              <a:t>Click to edit Master title style</a:t>
            </a:r>
          </a:p>
        </p:txBody>
      </p:sp>
      <p:sp>
        <p:nvSpPr>
          <p:cNvPr id="4" name="Rectangle 3"/>
          <p:cNvSpPr/>
          <p:nvPr userDrawn="1"/>
        </p:nvSpPr>
        <p:spPr>
          <a:xfrm>
            <a:off x="504002" y="1707173"/>
            <a:ext cx="5496000"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5" name="Rectangle 4"/>
          <p:cNvSpPr/>
          <p:nvPr userDrawn="1"/>
        </p:nvSpPr>
        <p:spPr>
          <a:xfrm>
            <a:off x="6224086" y="1700216"/>
            <a:ext cx="5475066"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6" name="Rectangle 5"/>
          <p:cNvSpPr/>
          <p:nvPr userDrawn="1"/>
        </p:nvSpPr>
        <p:spPr>
          <a:xfrm>
            <a:off x="504002" y="4065173"/>
            <a:ext cx="5496000"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7" name="Rectangle 6"/>
          <p:cNvSpPr/>
          <p:nvPr userDrawn="1"/>
        </p:nvSpPr>
        <p:spPr>
          <a:xfrm>
            <a:off x="6224086" y="4065173"/>
            <a:ext cx="5475066"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8" name="Picture Placeholder 11"/>
          <p:cNvSpPr>
            <a:spLocks noGrp="1"/>
          </p:cNvSpPr>
          <p:nvPr>
            <p:ph type="pic" sz="quarter" idx="25"/>
          </p:nvPr>
        </p:nvSpPr>
        <p:spPr>
          <a:xfrm>
            <a:off x="504002" y="1880213"/>
            <a:ext cx="1968000" cy="1476000"/>
          </a:xfrm>
        </p:spPr>
        <p:txBody>
          <a:bodyPr/>
          <a:lstStyle>
            <a:lvl1pPr algn="ctr">
              <a:defRPr/>
            </a:lvl1pPr>
          </a:lstStyle>
          <a:p>
            <a:r>
              <a:rPr lang="en-US" noProof="0"/>
              <a:t>Click icon to add picture</a:t>
            </a:r>
          </a:p>
        </p:txBody>
      </p:sp>
      <p:sp>
        <p:nvSpPr>
          <p:cNvPr id="9" name="Picture Placeholder 11"/>
          <p:cNvSpPr>
            <a:spLocks noGrp="1"/>
          </p:cNvSpPr>
          <p:nvPr>
            <p:ph type="pic" sz="quarter" idx="27"/>
          </p:nvPr>
        </p:nvSpPr>
        <p:spPr>
          <a:xfrm>
            <a:off x="6224088" y="1880213"/>
            <a:ext cx="1968000" cy="1476000"/>
          </a:xfrm>
        </p:spPr>
        <p:txBody>
          <a:bodyPr/>
          <a:lstStyle>
            <a:lvl1pPr algn="ctr">
              <a:defRPr/>
            </a:lvl1pPr>
          </a:lstStyle>
          <a:p>
            <a:r>
              <a:rPr lang="en-US" noProof="0"/>
              <a:t>Click icon to add picture</a:t>
            </a:r>
          </a:p>
        </p:txBody>
      </p:sp>
      <p:sp>
        <p:nvSpPr>
          <p:cNvPr id="10" name="Picture Placeholder 11"/>
          <p:cNvSpPr>
            <a:spLocks noGrp="1"/>
          </p:cNvSpPr>
          <p:nvPr>
            <p:ph type="pic" sz="quarter" idx="29"/>
          </p:nvPr>
        </p:nvSpPr>
        <p:spPr>
          <a:xfrm>
            <a:off x="504002" y="4256213"/>
            <a:ext cx="1968000" cy="1476000"/>
          </a:xfrm>
        </p:spPr>
        <p:txBody>
          <a:bodyPr/>
          <a:lstStyle>
            <a:lvl1pPr algn="ctr">
              <a:defRPr/>
            </a:lvl1pPr>
          </a:lstStyle>
          <a:p>
            <a:r>
              <a:rPr lang="en-US" noProof="0"/>
              <a:t>Click icon to add picture</a:t>
            </a:r>
          </a:p>
        </p:txBody>
      </p:sp>
      <p:sp>
        <p:nvSpPr>
          <p:cNvPr id="11" name="Picture Placeholder 11"/>
          <p:cNvSpPr>
            <a:spLocks noGrp="1"/>
          </p:cNvSpPr>
          <p:nvPr>
            <p:ph type="pic" sz="quarter" idx="31"/>
          </p:nvPr>
        </p:nvSpPr>
        <p:spPr>
          <a:xfrm>
            <a:off x="6224088" y="4256213"/>
            <a:ext cx="1968000" cy="1476000"/>
          </a:xfrm>
        </p:spPr>
        <p:txBody>
          <a:bodyPr/>
          <a:lstStyle>
            <a:lvl1pPr algn="ctr">
              <a:defRPr/>
            </a:lvl1pPr>
          </a:lstStyle>
          <a:p>
            <a:r>
              <a:rPr lang="en-US" noProof="0"/>
              <a:t>Click icon to add picture</a:t>
            </a:r>
          </a:p>
        </p:txBody>
      </p:sp>
      <p:sp>
        <p:nvSpPr>
          <p:cNvPr id="13" name="Text Placeholder 12"/>
          <p:cNvSpPr>
            <a:spLocks noGrp="1"/>
          </p:cNvSpPr>
          <p:nvPr>
            <p:ph type="body" sz="quarter" idx="32"/>
          </p:nvPr>
        </p:nvSpPr>
        <p:spPr>
          <a:xfrm>
            <a:off x="2683484" y="1880213"/>
            <a:ext cx="3288000"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4" name="Text Placeholder 12"/>
          <p:cNvSpPr>
            <a:spLocks noGrp="1"/>
          </p:cNvSpPr>
          <p:nvPr>
            <p:ph type="body" sz="quarter" idx="33"/>
          </p:nvPr>
        </p:nvSpPr>
        <p:spPr>
          <a:xfrm>
            <a:off x="8396563" y="1880213"/>
            <a:ext cx="3302591"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5" name="Text Placeholder 12"/>
          <p:cNvSpPr>
            <a:spLocks noGrp="1"/>
          </p:cNvSpPr>
          <p:nvPr>
            <p:ph type="body" sz="quarter" idx="34"/>
          </p:nvPr>
        </p:nvSpPr>
        <p:spPr>
          <a:xfrm>
            <a:off x="2683484" y="4256213"/>
            <a:ext cx="3288000"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6" name="Text Placeholder 12"/>
          <p:cNvSpPr>
            <a:spLocks noGrp="1"/>
          </p:cNvSpPr>
          <p:nvPr>
            <p:ph type="body" sz="quarter" idx="35"/>
          </p:nvPr>
        </p:nvSpPr>
        <p:spPr>
          <a:xfrm>
            <a:off x="8396563" y="4256213"/>
            <a:ext cx="3302591"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7" name="Text Placeholder 8"/>
          <p:cNvSpPr>
            <a:spLocks noGrp="1"/>
          </p:cNvSpPr>
          <p:nvPr>
            <p:ph type="body" sz="quarter" idx="13" hasCustomPrompt="1"/>
          </p:nvPr>
        </p:nvSpPr>
        <p:spPr>
          <a:xfrm>
            <a:off x="501652" y="651601"/>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1615167604"/>
      </p:ext>
    </p:extLst>
  </p:cSld>
  <p:clrMapOvr>
    <a:masterClrMapping/>
  </p:clrMapOvr>
  <p:transition>
    <p:fade/>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3 picture and text">
    <p:spTree>
      <p:nvGrpSpPr>
        <p:cNvPr id="1" name=""/>
        <p:cNvGrpSpPr/>
        <p:nvPr/>
      </p:nvGrpSpPr>
      <p:grpSpPr>
        <a:xfrm>
          <a:off x="0" y="0"/>
          <a:ext cx="0" cy="0"/>
          <a:chOff x="0" y="0"/>
          <a:chExt cx="0" cy="0"/>
        </a:xfrm>
      </p:grpSpPr>
      <p:sp>
        <p:nvSpPr>
          <p:cNvPr id="2" name="Title 1"/>
          <p:cNvSpPr>
            <a:spLocks noGrp="1"/>
          </p:cNvSpPr>
          <p:nvPr>
            <p:ph type="title"/>
          </p:nvPr>
        </p:nvSpPr>
        <p:spPr>
          <a:xfrm>
            <a:off x="501651" y="317505"/>
            <a:ext cx="11188699" cy="334099"/>
          </a:xfrm>
        </p:spPr>
        <p:txBody>
          <a:bodyPr/>
          <a:lstStyle/>
          <a:p>
            <a:r>
              <a:rPr lang="en-US" noProof="0"/>
              <a:t>Click to edit Master title style</a:t>
            </a:r>
          </a:p>
        </p:txBody>
      </p:sp>
      <p:sp>
        <p:nvSpPr>
          <p:cNvPr id="4" name="Picture Placeholder 7"/>
          <p:cNvSpPr>
            <a:spLocks noGrp="1"/>
          </p:cNvSpPr>
          <p:nvPr>
            <p:ph type="pic" sz="quarter" idx="13"/>
          </p:nvPr>
        </p:nvSpPr>
        <p:spPr>
          <a:xfrm>
            <a:off x="501654" y="1700217"/>
            <a:ext cx="3695699" cy="1971675"/>
          </a:xfrm>
        </p:spPr>
        <p:txBody>
          <a:bodyPr/>
          <a:lstStyle/>
          <a:p>
            <a:r>
              <a:rPr lang="en-US" noProof="0"/>
              <a:t>Click icon to add picture</a:t>
            </a:r>
          </a:p>
        </p:txBody>
      </p:sp>
      <p:sp>
        <p:nvSpPr>
          <p:cNvPr id="5" name="Picture Placeholder 7"/>
          <p:cNvSpPr>
            <a:spLocks noGrp="1"/>
          </p:cNvSpPr>
          <p:nvPr>
            <p:ph type="pic" sz="quarter" idx="14"/>
          </p:nvPr>
        </p:nvSpPr>
        <p:spPr>
          <a:xfrm>
            <a:off x="8006398" y="1700217"/>
            <a:ext cx="3683953" cy="1971675"/>
          </a:xfrm>
        </p:spPr>
        <p:txBody>
          <a:bodyPr/>
          <a:lstStyle/>
          <a:p>
            <a:r>
              <a:rPr lang="en-US" noProof="0"/>
              <a:t>Click icon to add picture</a:t>
            </a:r>
          </a:p>
        </p:txBody>
      </p:sp>
      <p:sp>
        <p:nvSpPr>
          <p:cNvPr id="6" name="Picture Placeholder 7"/>
          <p:cNvSpPr>
            <a:spLocks noGrp="1"/>
          </p:cNvSpPr>
          <p:nvPr>
            <p:ph type="pic" sz="quarter" idx="15"/>
          </p:nvPr>
        </p:nvSpPr>
        <p:spPr>
          <a:xfrm>
            <a:off x="4273077" y="1700217"/>
            <a:ext cx="3657600" cy="1971675"/>
          </a:xfrm>
        </p:spPr>
        <p:txBody>
          <a:bodyPr/>
          <a:lstStyle/>
          <a:p>
            <a:r>
              <a:rPr lang="en-US" noProof="0"/>
              <a:t>Click icon to add picture</a:t>
            </a:r>
          </a:p>
        </p:txBody>
      </p:sp>
      <p:sp>
        <p:nvSpPr>
          <p:cNvPr id="9" name="Text Placeholder 18"/>
          <p:cNvSpPr>
            <a:spLocks noGrp="1"/>
          </p:cNvSpPr>
          <p:nvPr>
            <p:ph idx="1" hasCustomPrompt="1"/>
          </p:nvPr>
        </p:nvSpPr>
        <p:spPr>
          <a:xfrm>
            <a:off x="501650" y="3832225"/>
            <a:ext cx="3683950" cy="2095200"/>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Text Placeholder 18"/>
          <p:cNvSpPr>
            <a:spLocks noGrp="1"/>
          </p:cNvSpPr>
          <p:nvPr>
            <p:ph idx="16" hasCustomPrompt="1"/>
          </p:nvPr>
        </p:nvSpPr>
        <p:spPr>
          <a:xfrm>
            <a:off x="4267203" y="3832225"/>
            <a:ext cx="3657600" cy="2095200"/>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4" name="Text Placeholder 18"/>
          <p:cNvSpPr>
            <a:spLocks noGrp="1"/>
          </p:cNvSpPr>
          <p:nvPr>
            <p:ph idx="17" hasCustomPrompt="1"/>
          </p:nvPr>
        </p:nvSpPr>
        <p:spPr>
          <a:xfrm>
            <a:off x="8006398" y="3832225"/>
            <a:ext cx="3683953" cy="2095200"/>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Text Placeholder 8"/>
          <p:cNvSpPr>
            <a:spLocks noGrp="1"/>
          </p:cNvSpPr>
          <p:nvPr>
            <p:ph type="body" sz="quarter" idx="18" hasCustomPrompt="1"/>
          </p:nvPr>
        </p:nvSpPr>
        <p:spPr>
          <a:xfrm>
            <a:off x="501652" y="651601"/>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1932798642"/>
      </p:ext>
    </p:extLst>
  </p:cSld>
  <p:clrMapOvr>
    <a:masterClrMapping/>
  </p:clrMapOvr>
  <p:transition>
    <p:fade/>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Title &amp; subtitle">
    <p:spTree>
      <p:nvGrpSpPr>
        <p:cNvPr id="1" name=""/>
        <p:cNvGrpSpPr/>
        <p:nvPr/>
      </p:nvGrpSpPr>
      <p:grpSpPr>
        <a:xfrm>
          <a:off x="0" y="0"/>
          <a:ext cx="0" cy="0"/>
          <a:chOff x="0" y="0"/>
          <a:chExt cx="0" cy="0"/>
        </a:xfrm>
      </p:grpSpPr>
      <p:sp>
        <p:nvSpPr>
          <p:cNvPr id="10" name="Text Placeholder 8"/>
          <p:cNvSpPr>
            <a:spLocks noGrp="1"/>
          </p:cNvSpPr>
          <p:nvPr>
            <p:ph type="body" sz="quarter" idx="13" hasCustomPrompt="1"/>
          </p:nvPr>
        </p:nvSpPr>
        <p:spPr>
          <a:xfrm>
            <a:off x="501651" y="651601"/>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1" name="Title Placeholder 1"/>
          <p:cNvSpPr>
            <a:spLocks noGrp="1"/>
          </p:cNvSpPr>
          <p:nvPr>
            <p:ph type="title" hasCustomPrompt="1"/>
          </p:nvPr>
        </p:nvSpPr>
        <p:spPr>
          <a:xfrm>
            <a:off x="501651" y="317502"/>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Tree>
    <p:extLst>
      <p:ext uri="{BB962C8B-B14F-4D97-AF65-F5344CB8AC3E}">
        <p14:creationId xmlns:p14="http://schemas.microsoft.com/office/powerpoint/2010/main" val="398897805"/>
      </p:ext>
    </p:extLst>
  </p:cSld>
  <p:clrMapOvr>
    <a:masterClrMapping/>
  </p:clrMapOvr>
  <p:transition>
    <p:fade/>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Qualifications 2 x 1">
    <p:spTree>
      <p:nvGrpSpPr>
        <p:cNvPr id="1" name=""/>
        <p:cNvGrpSpPr/>
        <p:nvPr/>
      </p:nvGrpSpPr>
      <p:grpSpPr>
        <a:xfrm>
          <a:off x="0" y="0"/>
          <a:ext cx="0" cy="0"/>
          <a:chOff x="0" y="0"/>
          <a:chExt cx="0" cy="0"/>
        </a:xfrm>
      </p:grpSpPr>
      <p:sp>
        <p:nvSpPr>
          <p:cNvPr id="8" name="Text Placeholder 8"/>
          <p:cNvSpPr>
            <a:spLocks noGrp="1"/>
          </p:cNvSpPr>
          <p:nvPr>
            <p:ph type="body" sz="quarter" idx="17"/>
          </p:nvPr>
        </p:nvSpPr>
        <p:spPr>
          <a:xfrm>
            <a:off x="504002" y="1857895"/>
            <a:ext cx="5466824"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21"/>
          </p:nvPr>
        </p:nvSpPr>
        <p:spPr>
          <a:xfrm>
            <a:off x="6246195" y="1857895"/>
            <a:ext cx="5444156"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Title 1"/>
          <p:cNvSpPr>
            <a:spLocks noGrp="1"/>
          </p:cNvSpPr>
          <p:nvPr>
            <p:ph type="title"/>
          </p:nvPr>
        </p:nvSpPr>
        <p:spPr>
          <a:xfrm>
            <a:off x="501651" y="317505"/>
            <a:ext cx="11188699" cy="334099"/>
          </a:xfrm>
        </p:spPr>
        <p:txBody>
          <a:bodyPr/>
          <a:lstStyle/>
          <a:p>
            <a:r>
              <a:rPr lang="en-US" noProof="0"/>
              <a:t>Click to edit Master title style</a:t>
            </a:r>
          </a:p>
        </p:txBody>
      </p:sp>
      <p:sp>
        <p:nvSpPr>
          <p:cNvPr id="4" name="Rectangle 3"/>
          <p:cNvSpPr/>
          <p:nvPr userDrawn="1"/>
        </p:nvSpPr>
        <p:spPr>
          <a:xfrm>
            <a:off x="504002" y="1705378"/>
            <a:ext cx="5466824"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a:solidFill>
                <a:prstClr val="white"/>
              </a:solidFill>
            </a:endParaRPr>
          </a:p>
        </p:txBody>
      </p:sp>
      <p:sp>
        <p:nvSpPr>
          <p:cNvPr id="5" name="Rectangle 4"/>
          <p:cNvSpPr/>
          <p:nvPr userDrawn="1"/>
        </p:nvSpPr>
        <p:spPr>
          <a:xfrm>
            <a:off x="6246195" y="1705378"/>
            <a:ext cx="5452958"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a:solidFill>
                <a:prstClr val="white"/>
              </a:solidFill>
            </a:endParaRPr>
          </a:p>
        </p:txBody>
      </p:sp>
      <p:sp>
        <p:nvSpPr>
          <p:cNvPr id="6" name="Picture Placeholder 29"/>
          <p:cNvSpPr>
            <a:spLocks noGrp="1"/>
          </p:cNvSpPr>
          <p:nvPr>
            <p:ph type="pic" sz="quarter" idx="19" hasCustomPrompt="1"/>
          </p:nvPr>
        </p:nvSpPr>
        <p:spPr>
          <a:xfrm>
            <a:off x="4769494" y="1863917"/>
            <a:ext cx="1210206" cy="549275"/>
          </a:xfrm>
        </p:spPr>
        <p:txBody>
          <a:bodyPr/>
          <a:lstStyle>
            <a:lvl1pPr marL="0" marR="0" indent="0" algn="l" defTabSz="1150154"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7" name="Picture Placeholder 29"/>
          <p:cNvSpPr>
            <a:spLocks noGrp="1"/>
          </p:cNvSpPr>
          <p:nvPr>
            <p:ph type="pic" sz="quarter" idx="20" hasCustomPrompt="1"/>
          </p:nvPr>
        </p:nvSpPr>
        <p:spPr>
          <a:xfrm>
            <a:off x="10424619" y="1857893"/>
            <a:ext cx="1244161" cy="549275"/>
          </a:xfrm>
        </p:spPr>
        <p:txBody>
          <a:bodyPr/>
          <a:lstStyle>
            <a:lvl1pPr marL="0" marR="0" indent="0" algn="l" defTabSz="1150154"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6" name="Text Placeholder 8"/>
          <p:cNvSpPr>
            <a:spLocks noGrp="1"/>
          </p:cNvSpPr>
          <p:nvPr>
            <p:ph type="body" sz="quarter" idx="13" hasCustomPrompt="1"/>
          </p:nvPr>
        </p:nvSpPr>
        <p:spPr>
          <a:xfrm>
            <a:off x="501651" y="651601"/>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470225277"/>
      </p:ext>
    </p:extLst>
  </p:cSld>
  <p:clrMapOvr>
    <a:masterClrMapping/>
  </p:clrMapOvr>
  <p:transition>
    <p:fade/>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Qualifications 2 x 2">
    <p:spTree>
      <p:nvGrpSpPr>
        <p:cNvPr id="1" name=""/>
        <p:cNvGrpSpPr/>
        <p:nvPr/>
      </p:nvGrpSpPr>
      <p:grpSpPr>
        <a:xfrm>
          <a:off x="0" y="0"/>
          <a:ext cx="0" cy="0"/>
          <a:chOff x="0" y="0"/>
          <a:chExt cx="0" cy="0"/>
        </a:xfrm>
      </p:grpSpPr>
      <p:sp>
        <p:nvSpPr>
          <p:cNvPr id="8" name="Text Placeholder 8"/>
          <p:cNvSpPr>
            <a:spLocks noGrp="1"/>
          </p:cNvSpPr>
          <p:nvPr>
            <p:ph type="body" sz="quarter" idx="17"/>
          </p:nvPr>
        </p:nvSpPr>
        <p:spPr>
          <a:xfrm>
            <a:off x="504000" y="1857895"/>
            <a:ext cx="5468941"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21"/>
          </p:nvPr>
        </p:nvSpPr>
        <p:spPr>
          <a:xfrm>
            <a:off x="6246195" y="1857895"/>
            <a:ext cx="5454668"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Title 1"/>
          <p:cNvSpPr>
            <a:spLocks noGrp="1"/>
          </p:cNvSpPr>
          <p:nvPr>
            <p:ph type="title"/>
          </p:nvPr>
        </p:nvSpPr>
        <p:spPr>
          <a:xfrm>
            <a:off x="501651" y="317505"/>
            <a:ext cx="11188699" cy="334099"/>
          </a:xfrm>
        </p:spPr>
        <p:txBody>
          <a:bodyPr/>
          <a:lstStyle/>
          <a:p>
            <a:r>
              <a:rPr lang="en-US" noProof="0"/>
              <a:t>Click to edit Master title style</a:t>
            </a:r>
          </a:p>
        </p:txBody>
      </p:sp>
      <p:sp>
        <p:nvSpPr>
          <p:cNvPr id="4" name="Rectangle 3"/>
          <p:cNvSpPr/>
          <p:nvPr userDrawn="1"/>
        </p:nvSpPr>
        <p:spPr>
          <a:xfrm>
            <a:off x="504002" y="1705378"/>
            <a:ext cx="5466824"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a:solidFill>
                <a:prstClr val="white"/>
              </a:solidFill>
            </a:endParaRPr>
          </a:p>
        </p:txBody>
      </p:sp>
      <p:sp>
        <p:nvSpPr>
          <p:cNvPr id="5" name="Rectangle 4"/>
          <p:cNvSpPr/>
          <p:nvPr userDrawn="1"/>
        </p:nvSpPr>
        <p:spPr>
          <a:xfrm>
            <a:off x="6246195" y="1705378"/>
            <a:ext cx="5452958"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a:solidFill>
                <a:prstClr val="white"/>
              </a:solidFill>
            </a:endParaRPr>
          </a:p>
        </p:txBody>
      </p:sp>
      <p:sp>
        <p:nvSpPr>
          <p:cNvPr id="7" name="Picture Placeholder 29"/>
          <p:cNvSpPr>
            <a:spLocks noGrp="1"/>
          </p:cNvSpPr>
          <p:nvPr>
            <p:ph type="pic" sz="quarter" idx="20" hasCustomPrompt="1"/>
          </p:nvPr>
        </p:nvSpPr>
        <p:spPr>
          <a:xfrm>
            <a:off x="10424619" y="1857893"/>
            <a:ext cx="1244161" cy="549275"/>
          </a:xfrm>
        </p:spPr>
        <p:txBody>
          <a:bodyPr/>
          <a:lstStyle>
            <a:lvl1pPr marL="0" marR="0" indent="0" algn="l" defTabSz="1150154"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0" name="Text Placeholder 8"/>
          <p:cNvSpPr>
            <a:spLocks noGrp="1"/>
          </p:cNvSpPr>
          <p:nvPr>
            <p:ph type="body" sz="quarter" idx="22"/>
          </p:nvPr>
        </p:nvSpPr>
        <p:spPr>
          <a:xfrm>
            <a:off x="504002" y="4249685"/>
            <a:ext cx="5466824"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Text Placeholder 8"/>
          <p:cNvSpPr>
            <a:spLocks noGrp="1"/>
          </p:cNvSpPr>
          <p:nvPr>
            <p:ph type="body" sz="quarter" idx="23"/>
          </p:nvPr>
        </p:nvSpPr>
        <p:spPr>
          <a:xfrm>
            <a:off x="6246196" y="4249685"/>
            <a:ext cx="5452958"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Rectangle 11"/>
          <p:cNvSpPr/>
          <p:nvPr userDrawn="1"/>
        </p:nvSpPr>
        <p:spPr>
          <a:xfrm>
            <a:off x="504001" y="4103518"/>
            <a:ext cx="5468942"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a:solidFill>
                <a:prstClr val="white"/>
              </a:solidFill>
            </a:endParaRPr>
          </a:p>
        </p:txBody>
      </p:sp>
      <p:sp>
        <p:nvSpPr>
          <p:cNvPr id="13" name="Rectangle 12"/>
          <p:cNvSpPr/>
          <p:nvPr userDrawn="1"/>
        </p:nvSpPr>
        <p:spPr>
          <a:xfrm>
            <a:off x="6246196" y="4103518"/>
            <a:ext cx="5444716"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a:solidFill>
                <a:prstClr val="white"/>
              </a:solidFill>
            </a:endParaRPr>
          </a:p>
        </p:txBody>
      </p:sp>
      <p:sp>
        <p:nvSpPr>
          <p:cNvPr id="14" name="Picture Placeholder 29"/>
          <p:cNvSpPr>
            <a:spLocks noGrp="1"/>
          </p:cNvSpPr>
          <p:nvPr>
            <p:ph type="pic" sz="quarter" idx="24" hasCustomPrompt="1"/>
          </p:nvPr>
        </p:nvSpPr>
        <p:spPr>
          <a:xfrm>
            <a:off x="4754495" y="4255707"/>
            <a:ext cx="1239382" cy="549275"/>
          </a:xfrm>
        </p:spPr>
        <p:txBody>
          <a:bodyPr/>
          <a:lstStyle>
            <a:lvl1pPr marL="0" marR="0" indent="0" algn="l" defTabSz="1150154"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5" name="Picture Placeholder 29"/>
          <p:cNvSpPr>
            <a:spLocks noGrp="1"/>
          </p:cNvSpPr>
          <p:nvPr>
            <p:ph type="pic" sz="quarter" idx="25" hasCustomPrompt="1"/>
          </p:nvPr>
        </p:nvSpPr>
        <p:spPr>
          <a:xfrm>
            <a:off x="10424617" y="4249683"/>
            <a:ext cx="1244160" cy="549275"/>
          </a:xfrm>
        </p:spPr>
        <p:txBody>
          <a:bodyPr/>
          <a:lstStyle>
            <a:lvl1pPr marL="0" marR="0" indent="0" algn="l" defTabSz="1150154"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6" name="Text Placeholder 8"/>
          <p:cNvSpPr>
            <a:spLocks noGrp="1"/>
          </p:cNvSpPr>
          <p:nvPr>
            <p:ph type="body" sz="quarter" idx="13" hasCustomPrompt="1"/>
          </p:nvPr>
        </p:nvSpPr>
        <p:spPr>
          <a:xfrm>
            <a:off x="501651" y="651601"/>
            <a:ext cx="11197501"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7" name="Picture Placeholder 29"/>
          <p:cNvSpPr>
            <a:spLocks noGrp="1"/>
          </p:cNvSpPr>
          <p:nvPr>
            <p:ph type="pic" sz="quarter" idx="19" hasCustomPrompt="1"/>
          </p:nvPr>
        </p:nvSpPr>
        <p:spPr>
          <a:xfrm>
            <a:off x="4769494" y="1863917"/>
            <a:ext cx="1210206" cy="549275"/>
          </a:xfrm>
        </p:spPr>
        <p:txBody>
          <a:bodyPr/>
          <a:lstStyle>
            <a:lvl1pPr marL="0" marR="0" indent="0" algn="l" defTabSz="1150154"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Tree>
    <p:extLst>
      <p:ext uri="{BB962C8B-B14F-4D97-AF65-F5344CB8AC3E}">
        <p14:creationId xmlns:p14="http://schemas.microsoft.com/office/powerpoint/2010/main" val="1768215941"/>
      </p:ext>
    </p:extLst>
  </p:cSld>
  <p:clrMapOvr>
    <a:masterClrMapping/>
  </p:clrMapOvr>
  <p:transition>
    <p:fade/>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3 column green line">
    <p:spTree>
      <p:nvGrpSpPr>
        <p:cNvPr id="1" name=""/>
        <p:cNvGrpSpPr/>
        <p:nvPr/>
      </p:nvGrpSpPr>
      <p:grpSpPr>
        <a:xfrm>
          <a:off x="0" y="0"/>
          <a:ext cx="0" cy="0"/>
          <a:chOff x="0" y="0"/>
          <a:chExt cx="0" cy="0"/>
        </a:xfrm>
      </p:grpSpPr>
      <p:sp>
        <p:nvSpPr>
          <p:cNvPr id="2" name="Title 1"/>
          <p:cNvSpPr>
            <a:spLocks noGrp="1"/>
          </p:cNvSpPr>
          <p:nvPr>
            <p:ph type="title"/>
          </p:nvPr>
        </p:nvSpPr>
        <p:spPr>
          <a:xfrm>
            <a:off x="501651" y="317505"/>
            <a:ext cx="11188699" cy="334099"/>
          </a:xfrm>
        </p:spPr>
        <p:txBody>
          <a:bodyPr/>
          <a:lstStyle/>
          <a:p>
            <a:r>
              <a:rPr lang="en-US" noProof="0"/>
              <a:t>Click to edit Master title style</a:t>
            </a:r>
          </a:p>
        </p:txBody>
      </p:sp>
      <p:sp>
        <p:nvSpPr>
          <p:cNvPr id="4" name="Rectangle 3"/>
          <p:cNvSpPr/>
          <p:nvPr userDrawn="1"/>
        </p:nvSpPr>
        <p:spPr>
          <a:xfrm>
            <a:off x="4320001" y="1705968"/>
            <a:ext cx="3556117"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5" name="Rectangle 4"/>
          <p:cNvSpPr/>
          <p:nvPr userDrawn="1"/>
        </p:nvSpPr>
        <p:spPr>
          <a:xfrm>
            <a:off x="504000" y="1700214"/>
            <a:ext cx="3560000" cy="5975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6" name="Rectangle 5"/>
          <p:cNvSpPr/>
          <p:nvPr userDrawn="1"/>
        </p:nvSpPr>
        <p:spPr>
          <a:xfrm>
            <a:off x="8115300" y="1705968"/>
            <a:ext cx="3583853"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a:solidFill>
                <a:prstClr val="white"/>
              </a:solidFill>
            </a:endParaRPr>
          </a:p>
        </p:txBody>
      </p:sp>
      <p:sp>
        <p:nvSpPr>
          <p:cNvPr id="7" name="Text Placeholder 8"/>
          <p:cNvSpPr>
            <a:spLocks noGrp="1"/>
          </p:cNvSpPr>
          <p:nvPr>
            <p:ph type="body" sz="quarter" idx="17"/>
          </p:nvPr>
        </p:nvSpPr>
        <p:spPr>
          <a:xfrm>
            <a:off x="4325712" y="1851441"/>
            <a:ext cx="3540577" cy="3845754"/>
          </a:xfrm>
        </p:spPr>
        <p:txBody>
          <a:bodyPr/>
          <a:lstStyle>
            <a:lvl1pPr>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8"/>
          <p:cNvSpPr>
            <a:spLocks noGrp="1"/>
          </p:cNvSpPr>
          <p:nvPr>
            <p:ph type="body" sz="quarter" idx="18"/>
          </p:nvPr>
        </p:nvSpPr>
        <p:spPr>
          <a:xfrm>
            <a:off x="504000" y="1851441"/>
            <a:ext cx="3560000" cy="3845754"/>
          </a:xfrm>
        </p:spPr>
        <p:txBody>
          <a:bodyPr/>
          <a:lstStyle>
            <a:lvl1pPr>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19"/>
          </p:nvPr>
        </p:nvSpPr>
        <p:spPr>
          <a:xfrm>
            <a:off x="8128001" y="1851441"/>
            <a:ext cx="3571153" cy="3845754"/>
          </a:xfrm>
        </p:spPr>
        <p:txBody>
          <a:bodyPr/>
          <a:lstStyle>
            <a:lvl1pPr>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Text Placeholder 8"/>
          <p:cNvSpPr>
            <a:spLocks noGrp="1"/>
          </p:cNvSpPr>
          <p:nvPr>
            <p:ph type="body" sz="quarter" idx="13" hasCustomPrompt="1"/>
          </p:nvPr>
        </p:nvSpPr>
        <p:spPr>
          <a:xfrm>
            <a:off x="501652" y="651601"/>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2842567646"/>
      </p:ext>
    </p:extLst>
  </p:cSld>
  <p:clrMapOvr>
    <a:masterClrMapping/>
  </p:clrMapOvr>
  <p:transition>
    <p:fade/>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4 column icon">
    <p:spTree>
      <p:nvGrpSpPr>
        <p:cNvPr id="1" name=""/>
        <p:cNvGrpSpPr/>
        <p:nvPr/>
      </p:nvGrpSpPr>
      <p:grpSpPr>
        <a:xfrm>
          <a:off x="0" y="0"/>
          <a:ext cx="0" cy="0"/>
          <a:chOff x="0" y="0"/>
          <a:chExt cx="0" cy="0"/>
        </a:xfrm>
      </p:grpSpPr>
      <p:sp>
        <p:nvSpPr>
          <p:cNvPr id="2" name="Title 1"/>
          <p:cNvSpPr>
            <a:spLocks noGrp="1"/>
          </p:cNvSpPr>
          <p:nvPr>
            <p:ph type="title"/>
          </p:nvPr>
        </p:nvSpPr>
        <p:spPr>
          <a:xfrm>
            <a:off x="501651" y="317505"/>
            <a:ext cx="11188699" cy="334099"/>
          </a:xfrm>
        </p:spPr>
        <p:txBody>
          <a:bodyPr/>
          <a:lstStyle/>
          <a:p>
            <a:r>
              <a:rPr lang="en-US" noProof="0"/>
              <a:t>Click to edit Master title style</a:t>
            </a:r>
          </a:p>
        </p:txBody>
      </p:sp>
      <p:sp>
        <p:nvSpPr>
          <p:cNvPr id="4" name="Text Placeholder 8"/>
          <p:cNvSpPr>
            <a:spLocks noGrp="1"/>
          </p:cNvSpPr>
          <p:nvPr>
            <p:ph type="body" sz="quarter" idx="17"/>
          </p:nvPr>
        </p:nvSpPr>
        <p:spPr>
          <a:xfrm>
            <a:off x="504000" y="2556000"/>
            <a:ext cx="2592000" cy="3394800"/>
          </a:xfrm>
        </p:spPr>
        <p:txBody>
          <a:bodyPr/>
          <a:lstStyle>
            <a:lvl1pPr>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Text Placeholder 8"/>
          <p:cNvSpPr>
            <a:spLocks noGrp="1"/>
          </p:cNvSpPr>
          <p:nvPr>
            <p:ph type="body" sz="quarter" idx="18"/>
          </p:nvPr>
        </p:nvSpPr>
        <p:spPr>
          <a:xfrm>
            <a:off x="9096836" y="2556000"/>
            <a:ext cx="2592000" cy="3394800"/>
          </a:xfrm>
        </p:spPr>
        <p:txBody>
          <a:bodyPr/>
          <a:lstStyle>
            <a:lvl1pPr>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Text Placeholder 8"/>
          <p:cNvSpPr>
            <a:spLocks noGrp="1"/>
          </p:cNvSpPr>
          <p:nvPr>
            <p:ph type="body" sz="quarter" idx="19"/>
          </p:nvPr>
        </p:nvSpPr>
        <p:spPr>
          <a:xfrm>
            <a:off x="3368278" y="2556000"/>
            <a:ext cx="2592000" cy="3394800"/>
          </a:xfrm>
        </p:spPr>
        <p:txBody>
          <a:bodyPr/>
          <a:lstStyle>
            <a:lvl1pPr>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Text Placeholder 8"/>
          <p:cNvSpPr>
            <a:spLocks noGrp="1"/>
          </p:cNvSpPr>
          <p:nvPr>
            <p:ph type="body" sz="quarter" idx="20"/>
          </p:nvPr>
        </p:nvSpPr>
        <p:spPr>
          <a:xfrm>
            <a:off x="6232558" y="2556000"/>
            <a:ext cx="2592000" cy="3394800"/>
          </a:xfrm>
        </p:spPr>
        <p:txBody>
          <a:bodyPr/>
          <a:lstStyle>
            <a:lvl1pPr>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8"/>
          <p:cNvSpPr>
            <a:spLocks noGrp="1"/>
          </p:cNvSpPr>
          <p:nvPr>
            <p:ph type="body" sz="quarter" idx="13" hasCustomPrompt="1"/>
          </p:nvPr>
        </p:nvSpPr>
        <p:spPr>
          <a:xfrm>
            <a:off x="501651" y="651601"/>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3006297035"/>
      </p:ext>
    </p:extLst>
  </p:cSld>
  <p:clrMapOvr>
    <a:masterClrMapping/>
  </p:clrMapOvr>
  <p:transition>
    <p:fade/>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userDrawn="1">
  <p:cSld name="4 column icon green">
    <p:bg>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01650" y="317503"/>
            <a:ext cx="11188701" cy="370193"/>
          </a:xfrm>
        </p:spPr>
        <p:txBody>
          <a:bodyPr/>
          <a:lstStyle>
            <a:lvl1pPr>
              <a:defRPr>
                <a:solidFill>
                  <a:schemeClr val="bg1"/>
                </a:solidFill>
              </a:defRPr>
            </a:lvl1pPr>
          </a:lstStyle>
          <a:p>
            <a:r>
              <a:rPr lang="en-US" noProof="0"/>
              <a:t>Click to edit Master title style</a:t>
            </a:r>
          </a:p>
        </p:txBody>
      </p:sp>
      <p:sp>
        <p:nvSpPr>
          <p:cNvPr id="4" name="Text Placeholder 8"/>
          <p:cNvSpPr>
            <a:spLocks noGrp="1"/>
          </p:cNvSpPr>
          <p:nvPr>
            <p:ph type="body" sz="quarter" idx="17"/>
          </p:nvPr>
        </p:nvSpPr>
        <p:spPr>
          <a:xfrm>
            <a:off x="504000"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80" indent="-221880">
              <a:spcAft>
                <a:spcPts val="1258"/>
              </a:spcAft>
              <a:buFont typeface="Arial" panose="020B0604020202020204" pitchFamily="34" charset="0"/>
              <a:buChar char="•"/>
              <a:defRPr>
                <a:solidFill>
                  <a:schemeClr val="bg1"/>
                </a:solidFill>
              </a:defRPr>
            </a:lvl4pPr>
            <a:lvl5pPr marL="448288" indent="-221880">
              <a:spcAft>
                <a:spcPts val="1258"/>
              </a:spcAft>
              <a:defRPr baseline="0">
                <a:solidFill>
                  <a:schemeClr val="bg1"/>
                </a:solidFill>
              </a:defRPr>
            </a:lvl5pPr>
            <a:lvl6pPr marL="448288" indent="-221880">
              <a:spcAft>
                <a:spcPts val="1258"/>
              </a:spcAft>
              <a:buFont typeface="Verdana" panose="020B0604030504040204" pitchFamily="34" charset="0"/>
              <a:buChar char="−"/>
              <a:defRPr>
                <a:solidFill>
                  <a:schemeClr val="bg1"/>
                </a:solidFill>
              </a:defRPr>
            </a:lvl6pPr>
            <a:lvl7pPr marL="448288" indent="-221880">
              <a:spcAft>
                <a:spcPts val="1258"/>
              </a:spcAft>
              <a:defRPr>
                <a:solidFill>
                  <a:schemeClr val="bg1"/>
                </a:solidFill>
              </a:defRPr>
            </a:lvl7pPr>
            <a:lvl8pPr marL="448288" indent="-221880">
              <a:spcAft>
                <a:spcPts val="1258"/>
              </a:spcAft>
              <a:defRPr>
                <a:solidFill>
                  <a:schemeClr val="bg1"/>
                </a:solidFill>
              </a:defRPr>
            </a:lvl8pPr>
            <a:lvl9pPr marL="448288" indent="-221880">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Text Placeholder 8"/>
          <p:cNvSpPr>
            <a:spLocks noGrp="1"/>
          </p:cNvSpPr>
          <p:nvPr>
            <p:ph type="body" sz="quarter" idx="18"/>
          </p:nvPr>
        </p:nvSpPr>
        <p:spPr>
          <a:xfrm>
            <a:off x="9100752"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80" indent="-221880">
              <a:spcAft>
                <a:spcPts val="1258"/>
              </a:spcAft>
              <a:buFont typeface="Arial" panose="020B0604020202020204" pitchFamily="34" charset="0"/>
              <a:buChar char="•"/>
              <a:defRPr>
                <a:solidFill>
                  <a:schemeClr val="bg1"/>
                </a:solidFill>
              </a:defRPr>
            </a:lvl4pPr>
            <a:lvl5pPr marL="448288" indent="-221880">
              <a:spcAft>
                <a:spcPts val="1258"/>
              </a:spcAft>
              <a:defRPr baseline="0">
                <a:solidFill>
                  <a:schemeClr val="bg1"/>
                </a:solidFill>
              </a:defRPr>
            </a:lvl5pPr>
            <a:lvl6pPr marL="448288" indent="-221880">
              <a:spcAft>
                <a:spcPts val="1258"/>
              </a:spcAft>
              <a:buFont typeface="Verdana" panose="020B0604030504040204" pitchFamily="34" charset="0"/>
              <a:buChar char="−"/>
              <a:defRPr>
                <a:solidFill>
                  <a:schemeClr val="bg1"/>
                </a:solidFill>
              </a:defRPr>
            </a:lvl6pPr>
            <a:lvl7pPr marL="448288" indent="-221880">
              <a:spcAft>
                <a:spcPts val="1258"/>
              </a:spcAft>
              <a:defRPr>
                <a:solidFill>
                  <a:schemeClr val="bg1"/>
                </a:solidFill>
              </a:defRPr>
            </a:lvl7pPr>
            <a:lvl8pPr marL="448288" indent="-221880">
              <a:spcAft>
                <a:spcPts val="1258"/>
              </a:spcAft>
              <a:defRPr>
                <a:solidFill>
                  <a:schemeClr val="bg1"/>
                </a:solidFill>
              </a:defRPr>
            </a:lvl8pPr>
            <a:lvl9pPr marL="448288" indent="-221880">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Text Placeholder 8"/>
          <p:cNvSpPr>
            <a:spLocks noGrp="1"/>
          </p:cNvSpPr>
          <p:nvPr>
            <p:ph type="body" sz="quarter" idx="19"/>
          </p:nvPr>
        </p:nvSpPr>
        <p:spPr>
          <a:xfrm>
            <a:off x="3369584"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80" indent="-221880">
              <a:spcAft>
                <a:spcPts val="1258"/>
              </a:spcAft>
              <a:buFont typeface="Arial" panose="020B0604020202020204" pitchFamily="34" charset="0"/>
              <a:buChar char="•"/>
              <a:defRPr>
                <a:solidFill>
                  <a:schemeClr val="bg1"/>
                </a:solidFill>
              </a:defRPr>
            </a:lvl4pPr>
            <a:lvl5pPr marL="448288" indent="-221880">
              <a:spcAft>
                <a:spcPts val="1258"/>
              </a:spcAft>
              <a:defRPr baseline="0">
                <a:solidFill>
                  <a:schemeClr val="bg1"/>
                </a:solidFill>
              </a:defRPr>
            </a:lvl5pPr>
            <a:lvl6pPr marL="448288" indent="-221880">
              <a:spcAft>
                <a:spcPts val="1258"/>
              </a:spcAft>
              <a:buFont typeface="Verdana" panose="020B0604030504040204" pitchFamily="34" charset="0"/>
              <a:buChar char="−"/>
              <a:defRPr>
                <a:solidFill>
                  <a:schemeClr val="bg1"/>
                </a:solidFill>
              </a:defRPr>
            </a:lvl6pPr>
            <a:lvl7pPr marL="448288" indent="-221880">
              <a:spcAft>
                <a:spcPts val="1258"/>
              </a:spcAft>
              <a:defRPr>
                <a:solidFill>
                  <a:schemeClr val="bg1"/>
                </a:solidFill>
              </a:defRPr>
            </a:lvl7pPr>
            <a:lvl8pPr marL="448288" indent="-221880">
              <a:spcAft>
                <a:spcPts val="1258"/>
              </a:spcAft>
              <a:defRPr>
                <a:solidFill>
                  <a:schemeClr val="bg1"/>
                </a:solidFill>
              </a:defRPr>
            </a:lvl8pPr>
            <a:lvl9pPr marL="448288" indent="-221880">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Text Placeholder 8"/>
          <p:cNvSpPr>
            <a:spLocks noGrp="1"/>
          </p:cNvSpPr>
          <p:nvPr>
            <p:ph type="body" sz="quarter" idx="20"/>
          </p:nvPr>
        </p:nvSpPr>
        <p:spPr>
          <a:xfrm>
            <a:off x="6235168"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80" indent="-221880">
              <a:spcAft>
                <a:spcPts val="1258"/>
              </a:spcAft>
              <a:buFont typeface="Arial" panose="020B0604020202020204" pitchFamily="34" charset="0"/>
              <a:buChar char="•"/>
              <a:defRPr>
                <a:solidFill>
                  <a:schemeClr val="bg1"/>
                </a:solidFill>
              </a:defRPr>
            </a:lvl4pPr>
            <a:lvl5pPr marL="448288" indent="-221880">
              <a:spcAft>
                <a:spcPts val="1258"/>
              </a:spcAft>
              <a:defRPr baseline="0">
                <a:solidFill>
                  <a:schemeClr val="bg1"/>
                </a:solidFill>
              </a:defRPr>
            </a:lvl5pPr>
            <a:lvl6pPr marL="448288" indent="-221880">
              <a:spcAft>
                <a:spcPts val="1258"/>
              </a:spcAft>
              <a:buFont typeface="Verdana" panose="020B0604030504040204" pitchFamily="34" charset="0"/>
              <a:buChar char="−"/>
              <a:defRPr>
                <a:solidFill>
                  <a:schemeClr val="bg1"/>
                </a:solidFill>
              </a:defRPr>
            </a:lvl6pPr>
            <a:lvl7pPr marL="448288" indent="-221880">
              <a:spcAft>
                <a:spcPts val="1258"/>
              </a:spcAft>
              <a:defRPr>
                <a:solidFill>
                  <a:schemeClr val="bg1"/>
                </a:solidFill>
              </a:defRPr>
            </a:lvl7pPr>
            <a:lvl8pPr marL="448288" indent="-221880">
              <a:spcAft>
                <a:spcPts val="1258"/>
              </a:spcAft>
              <a:defRPr>
                <a:solidFill>
                  <a:schemeClr val="bg1"/>
                </a:solidFill>
              </a:defRPr>
            </a:lvl8pPr>
            <a:lvl9pPr marL="448288" indent="-221880">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8"/>
          <p:cNvSpPr>
            <a:spLocks noGrp="1"/>
          </p:cNvSpPr>
          <p:nvPr>
            <p:ph type="body" sz="quarter" idx="13" hasCustomPrompt="1"/>
          </p:nvPr>
        </p:nvSpPr>
        <p:spPr>
          <a:xfrm>
            <a:off x="501650" y="687694"/>
            <a:ext cx="11188701" cy="757255"/>
          </a:xfrm>
          <a:prstGeom prst="rect">
            <a:avLst/>
          </a:prstGeom>
        </p:spPr>
        <p:txBody>
          <a:bodyPr lIns="0" tIns="0" rIns="0" bIns="0">
            <a:noAutofit/>
          </a:bodyPr>
          <a:lstStyle>
            <a:lvl1pPr marL="0" indent="0">
              <a:buNone/>
              <a:defRPr sz="2282" b="0">
                <a:solidFill>
                  <a:schemeClr val="bg1"/>
                </a:solidFill>
              </a:defRPr>
            </a:lvl1pPr>
          </a:lstStyle>
          <a:p>
            <a:pPr lvl="0"/>
            <a:r>
              <a:rPr lang="en-US" noProof="0"/>
              <a:t>Click to add subtitle</a:t>
            </a:r>
          </a:p>
        </p:txBody>
      </p:sp>
      <p:sp>
        <p:nvSpPr>
          <p:cNvPr id="13" name="TextBox 12"/>
          <p:cNvSpPr txBox="1"/>
          <p:nvPr userDrawn="1"/>
        </p:nvSpPr>
        <p:spPr>
          <a:xfrm>
            <a:off x="6335184" y="6477002"/>
            <a:ext cx="4896561" cy="251736"/>
          </a:xfrm>
          <a:prstGeom prst="rect">
            <a:avLst/>
          </a:prstGeom>
          <a:noFill/>
        </p:spPr>
        <p:txBody>
          <a:bodyPr wrap="square" lIns="0" tIns="0" rIns="0" bIns="0" rtlCol="0">
            <a:spAutoFit/>
          </a:bodyPr>
          <a:lstStyle/>
          <a:p>
            <a:pPr algn="r">
              <a:buSzPct val="100000"/>
              <a:buFont typeface="Arial"/>
              <a:buNone/>
            </a:pPr>
            <a:r>
              <a:rPr lang="en-US" sz="818">
                <a:solidFill>
                  <a:prstClr val="white"/>
                </a:solidFill>
              </a:rPr>
              <a:t>Presentation title</a:t>
            </a:r>
            <a:br>
              <a:rPr lang="en-US" sz="818">
                <a:solidFill>
                  <a:prstClr val="white"/>
                </a:solidFill>
              </a:rPr>
            </a:br>
            <a:r>
              <a:rPr lang="en-US" sz="818">
                <a:solidFill>
                  <a:prstClr val="white"/>
                </a:solidFill>
              </a:rPr>
              <a:t>[To edit, click View &gt; Slide Master &gt; Slide Master]</a:t>
            </a:r>
          </a:p>
        </p:txBody>
      </p:sp>
      <p:sp>
        <p:nvSpPr>
          <p:cNvPr id="14" name="TextBox 13"/>
          <p:cNvSpPr txBox="1"/>
          <p:nvPr userDrawn="1"/>
        </p:nvSpPr>
        <p:spPr>
          <a:xfrm>
            <a:off x="501652" y="6477003"/>
            <a:ext cx="5355167" cy="125868"/>
          </a:xfrm>
          <a:prstGeom prst="rect">
            <a:avLst/>
          </a:prstGeom>
          <a:noFill/>
        </p:spPr>
        <p:txBody>
          <a:bodyPr wrap="square" lIns="0" tIns="0" rIns="0" bIns="0" rtlCol="0">
            <a:spAutoFit/>
          </a:bodyPr>
          <a:lstStyle/>
          <a:p>
            <a:pPr>
              <a:spcBef>
                <a:spcPts val="755"/>
              </a:spcBef>
              <a:buSzPct val="100000"/>
              <a:buFont typeface="Arial"/>
              <a:buNone/>
            </a:pPr>
            <a:r>
              <a:rPr lang="fr-FR" sz="818">
                <a:solidFill>
                  <a:prstClr val="white"/>
                </a:solidFill>
              </a:rPr>
              <a:t>© 2018 Deloitte Touche Tohmatsu India LLP</a:t>
            </a:r>
          </a:p>
        </p:txBody>
      </p:sp>
      <p:sp>
        <p:nvSpPr>
          <p:cNvPr id="15" name="TextBox 14"/>
          <p:cNvSpPr txBox="1"/>
          <p:nvPr userDrawn="1"/>
        </p:nvSpPr>
        <p:spPr>
          <a:xfrm>
            <a:off x="11382377" y="6477003"/>
            <a:ext cx="307974" cy="125868"/>
          </a:xfrm>
          <a:prstGeom prst="rect">
            <a:avLst/>
          </a:prstGeom>
          <a:noFill/>
        </p:spPr>
        <p:txBody>
          <a:bodyPr wrap="square" lIns="0" tIns="0" rIns="0" bIns="0" rtlCol="0">
            <a:spAutoFit/>
          </a:bodyPr>
          <a:lstStyle/>
          <a:p>
            <a:pPr algn="r">
              <a:spcBef>
                <a:spcPts val="755"/>
              </a:spcBef>
              <a:buSzPct val="100000"/>
              <a:buFont typeface="Arial"/>
              <a:buNone/>
            </a:pPr>
            <a:fld id="{C58DF478-B544-4ED8-9ED4-6A2648E2D233}" type="slidenum">
              <a:rPr lang="en-US" sz="818" smtClean="0">
                <a:solidFill>
                  <a:prstClr val="white"/>
                </a:solidFill>
              </a:rPr>
              <a:pPr algn="r">
                <a:spcBef>
                  <a:spcPts val="755"/>
                </a:spcBef>
                <a:buSzPct val="100000"/>
                <a:buFont typeface="Arial"/>
                <a:buNone/>
              </a:pPr>
              <a:t>‹#›</a:t>
            </a:fld>
            <a:endParaRPr lang="en-US" sz="818">
              <a:solidFill>
                <a:prstClr val="white"/>
              </a:solidFill>
            </a:endParaRPr>
          </a:p>
        </p:txBody>
      </p:sp>
    </p:spTree>
    <p:extLst>
      <p:ext uri="{BB962C8B-B14F-4D97-AF65-F5344CB8AC3E}">
        <p14:creationId xmlns:p14="http://schemas.microsoft.com/office/powerpoint/2010/main" val="175118422"/>
      </p:ext>
    </p:extLst>
  </p:cSld>
  <p:clrMapOvr>
    <a:masterClrMapping/>
  </p:clrMapOvr>
  <p:transition>
    <p:fade/>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Title, subtitle, 1 column text with charts">
    <p:spTree>
      <p:nvGrpSpPr>
        <p:cNvPr id="1" name=""/>
        <p:cNvGrpSpPr/>
        <p:nvPr/>
      </p:nvGrpSpPr>
      <p:grpSpPr>
        <a:xfrm>
          <a:off x="0" y="0"/>
          <a:ext cx="0" cy="0"/>
          <a:chOff x="0" y="0"/>
          <a:chExt cx="0" cy="0"/>
        </a:xfrm>
      </p:grpSpPr>
      <p:sp>
        <p:nvSpPr>
          <p:cNvPr id="8" name="Text Placeholder 8"/>
          <p:cNvSpPr>
            <a:spLocks noGrp="1"/>
          </p:cNvSpPr>
          <p:nvPr>
            <p:ph type="body" sz="quarter" idx="13" hasCustomPrompt="1"/>
          </p:nvPr>
        </p:nvSpPr>
        <p:spPr>
          <a:xfrm>
            <a:off x="501651" y="651601"/>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9" name="Title Placeholder 1"/>
          <p:cNvSpPr>
            <a:spLocks noGrp="1"/>
          </p:cNvSpPr>
          <p:nvPr>
            <p:ph type="title" hasCustomPrompt="1"/>
          </p:nvPr>
        </p:nvSpPr>
        <p:spPr>
          <a:xfrm>
            <a:off x="501651" y="317502"/>
            <a:ext cx="1118869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10" name="Text Placeholder 18"/>
          <p:cNvSpPr>
            <a:spLocks noGrp="1"/>
          </p:cNvSpPr>
          <p:nvPr>
            <p:ph idx="1"/>
          </p:nvPr>
        </p:nvSpPr>
        <p:spPr>
          <a:xfrm>
            <a:off x="501652" y="1665292"/>
            <a:ext cx="5594351" cy="4716463"/>
          </a:xfrm>
          <a:prstGeom prst="rect">
            <a:avLst/>
          </a:prstGeom>
        </p:spPr>
        <p:txBody>
          <a:bodyPr vert="horz" lIns="0" tIns="0" rIns="0" bIns="0" rtlCol="0">
            <a:noAutofit/>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883243832"/>
      </p:ext>
    </p:extLst>
  </p:cSld>
  <p:clrMapOvr>
    <a:masterClrMapping/>
  </p:clrMapOvr>
  <p:transition>
    <p:fade/>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a:t>Click to edit Master title style</a:t>
            </a:r>
          </a:p>
        </p:txBody>
      </p:sp>
    </p:spTree>
    <p:extLst>
      <p:ext uri="{BB962C8B-B14F-4D97-AF65-F5344CB8AC3E}">
        <p14:creationId xmlns:p14="http://schemas.microsoft.com/office/powerpoint/2010/main" val="1691690333"/>
      </p:ext>
    </p:extLst>
  </p:cSld>
  <p:clrMapOvr>
    <a:masterClrMapping/>
  </p:clrMapOvr>
  <p:transition>
    <p:fade/>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181518635"/>
      </p:ext>
    </p:extLst>
  </p:cSld>
  <p:clrMapOvr>
    <a:masterClrMapping/>
  </p:clrMapOvr>
  <p:transition>
    <p:fade/>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preserve="1" userDrawn="1">
  <p:cSld name="2_Title Slide - Black">
    <p:bg bwMode="gray">
      <p:bgPr>
        <a:blipFill dpi="0" rotWithShape="1">
          <a:blip r:embed="rId2"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9" name="Picture Placeholder 8"/>
          <p:cNvSpPr>
            <a:spLocks noGrp="1" noChangeAspect="1"/>
          </p:cNvSpPr>
          <p:nvPr>
            <p:ph type="pic" sz="quarter" idx="11"/>
          </p:nvPr>
        </p:nvSpPr>
        <p:spPr>
          <a:xfrm>
            <a:off x="2505856" y="727200"/>
            <a:ext cx="7200000" cy="5400000"/>
          </a:xfrm>
          <a:prstGeom prst="rect">
            <a:avLst/>
          </a:prstGeom>
        </p:spPr>
        <p:txBody>
          <a:bodyPr/>
          <a:lstStyle>
            <a:lvl1pPr>
              <a:defRPr>
                <a:solidFill>
                  <a:schemeClr val="bg1"/>
                </a:solidFill>
              </a:defRPr>
            </a:lvl1pPr>
          </a:lstStyle>
          <a:p>
            <a:r>
              <a:rPr lang="en-US" noProof="0"/>
              <a:t>Click icon to add picture</a:t>
            </a:r>
          </a:p>
        </p:txBody>
      </p:sp>
      <p:sp>
        <p:nvSpPr>
          <p:cNvPr id="3" name="Subtitle 2"/>
          <p:cNvSpPr>
            <a:spLocks noGrp="1"/>
          </p:cNvSpPr>
          <p:nvPr>
            <p:ph type="subTitle" idx="1" hasCustomPrompt="1"/>
          </p:nvPr>
        </p:nvSpPr>
        <p:spPr bwMode="gray">
          <a:xfrm>
            <a:off x="503990" y="5864229"/>
            <a:ext cx="5592010" cy="505645"/>
          </a:xfrm>
          <a:prstGeom prst="rect">
            <a:avLst/>
          </a:prstGeom>
        </p:spPr>
        <p:txBody>
          <a:bodyPr lIns="0" tIns="0" rIns="0" bIns="0" anchor="b" anchorCtr="0">
            <a:noAutofit/>
          </a:bodyPr>
          <a:lstStyle>
            <a:lvl1pPr marL="0" indent="0" algn="l">
              <a:lnSpc>
                <a:spcPct val="100000"/>
              </a:lnSpc>
              <a:spcAft>
                <a:spcPts val="0"/>
              </a:spcAft>
              <a:buNone/>
              <a:defRPr sz="2264" b="1">
                <a:solidFill>
                  <a:schemeClr val="bg1"/>
                </a:solidFill>
              </a:defRPr>
            </a:lvl1pPr>
            <a:lvl2pPr marL="0" marR="0" indent="0" algn="l" defTabSz="1150154" rtl="0" eaLnBrk="1" fontAlgn="auto" latinLnBrk="0" hangingPunct="1">
              <a:lnSpc>
                <a:spcPct val="100000"/>
              </a:lnSpc>
              <a:spcBef>
                <a:spcPts val="0"/>
              </a:spcBef>
              <a:spcAft>
                <a:spcPts val="0"/>
              </a:spcAft>
              <a:buClrTx/>
              <a:buSzPct val="100000"/>
              <a:buFont typeface="Arial"/>
              <a:buNone/>
              <a:tabLst/>
              <a:defRPr sz="2012" b="0">
                <a:solidFill>
                  <a:schemeClr val="bg1"/>
                </a:solidFill>
              </a:defRPr>
            </a:lvl2pPr>
            <a:lvl3pPr marL="0" indent="0" algn="l">
              <a:spcAft>
                <a:spcPts val="0"/>
              </a:spcAft>
              <a:buNone/>
              <a:defRPr sz="2012">
                <a:solidFill>
                  <a:schemeClr val="bg1"/>
                </a:solidFill>
              </a:defRPr>
            </a:lvl3pPr>
            <a:lvl4pPr marL="1725231" indent="0" algn="ctr">
              <a:buNone/>
              <a:defRPr sz="2012"/>
            </a:lvl4pPr>
            <a:lvl5pPr marL="2300309" indent="0" algn="ctr">
              <a:buNone/>
              <a:defRPr sz="2012"/>
            </a:lvl5pPr>
            <a:lvl6pPr marL="2875386" indent="0" algn="ctr">
              <a:buNone/>
              <a:defRPr sz="2012"/>
            </a:lvl6pPr>
            <a:lvl7pPr marL="3450463" indent="0" algn="ctr">
              <a:buNone/>
              <a:defRPr sz="2012"/>
            </a:lvl7pPr>
            <a:lvl8pPr marL="4025540" indent="0" algn="ctr">
              <a:buNone/>
              <a:defRPr sz="2012"/>
            </a:lvl8pPr>
            <a:lvl9pPr marL="4600616" indent="0" algn="ctr">
              <a:buNone/>
              <a:defRPr sz="2012"/>
            </a:lvl9pPr>
          </a:lstStyle>
          <a:p>
            <a:r>
              <a:rPr lang="en-US" noProof="0"/>
              <a:t>Click to edit Master title style</a:t>
            </a:r>
          </a:p>
          <a:p>
            <a:pPr marL="0" marR="0" lvl="1" indent="0" algn="l" defTabSz="1150154" rtl="0" eaLnBrk="1" fontAlgn="auto" latinLnBrk="0" hangingPunct="1">
              <a:lnSpc>
                <a:spcPct val="100000"/>
              </a:lnSpc>
              <a:spcBef>
                <a:spcPts val="0"/>
              </a:spcBef>
              <a:spcAft>
                <a:spcPts val="0"/>
              </a:spcAft>
              <a:buClrTx/>
              <a:buSzPct val="100000"/>
              <a:buFont typeface="Arial"/>
              <a:buNone/>
              <a:tabLst/>
              <a:defRPr/>
            </a:pPr>
            <a:r>
              <a:rPr lang="en-US" noProof="0"/>
              <a:t>Click to edit Master subtitle style</a:t>
            </a:r>
          </a:p>
        </p:txBody>
      </p:sp>
      <p:sp>
        <p:nvSpPr>
          <p:cNvPr id="5" name="Text Placeholder 4"/>
          <p:cNvSpPr>
            <a:spLocks noGrp="1"/>
          </p:cNvSpPr>
          <p:nvPr>
            <p:ph type="body" sz="quarter" idx="10"/>
          </p:nvPr>
        </p:nvSpPr>
        <p:spPr>
          <a:xfrm>
            <a:off x="501653" y="6381750"/>
            <a:ext cx="5594349" cy="298450"/>
          </a:xfrm>
          <a:prstGeom prst="rect">
            <a:avLst/>
          </a:prstGeom>
        </p:spPr>
        <p:txBody>
          <a:bodyPr/>
          <a:lstStyle>
            <a:lvl1pPr>
              <a:spcAft>
                <a:spcPts val="0"/>
              </a:spcAft>
              <a:defRPr sz="1258">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22" name="Group 21"/>
          <p:cNvGrpSpPr>
            <a:grpSpLocks noChangeAspect="1"/>
          </p:cNvGrpSpPr>
          <p:nvPr userDrawn="1"/>
        </p:nvGrpSpPr>
        <p:grpSpPr>
          <a:xfrm>
            <a:off x="501651" y="378003"/>
            <a:ext cx="2159032" cy="326302"/>
            <a:chOff x="398463" y="404813"/>
            <a:chExt cx="1627187" cy="307976"/>
          </a:xfrm>
          <a:solidFill>
            <a:schemeClr val="bg1"/>
          </a:solidFill>
        </p:grpSpPr>
        <p:sp>
          <p:nvSpPr>
            <p:cNvPr id="23"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4"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5"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6"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7"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8"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9"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30"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31"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32"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grpSp>
    </p:spTree>
    <p:extLst>
      <p:ext uri="{BB962C8B-B14F-4D97-AF65-F5344CB8AC3E}">
        <p14:creationId xmlns:p14="http://schemas.microsoft.com/office/powerpoint/2010/main" val="102562913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preserve="1" userDrawn="1">
  <p:cSld name="1_Title Slide - White">
    <p:bg bwMode="gray">
      <p:bgPr>
        <a:solidFill>
          <a:schemeClr val="bg1"/>
        </a:solidFill>
        <a:effectLst/>
      </p:bgPr>
    </p:bg>
    <p:spTree>
      <p:nvGrpSpPr>
        <p:cNvPr id="1" name=""/>
        <p:cNvGrpSpPr/>
        <p:nvPr/>
      </p:nvGrpSpPr>
      <p:grpSpPr>
        <a:xfrm>
          <a:off x="0" y="0"/>
          <a:ext cx="0" cy="0"/>
          <a:chOff x="0" y="0"/>
          <a:chExt cx="0" cy="0"/>
        </a:xfrm>
      </p:grpSpPr>
      <p:sp>
        <p:nvSpPr>
          <p:cNvPr id="9" name="Picture Placeholder 8"/>
          <p:cNvSpPr>
            <a:spLocks noGrp="1" noChangeAspect="1"/>
          </p:cNvSpPr>
          <p:nvPr>
            <p:ph type="pic" sz="quarter" idx="11"/>
          </p:nvPr>
        </p:nvSpPr>
        <p:spPr>
          <a:xfrm>
            <a:off x="2489814" y="727200"/>
            <a:ext cx="7200000" cy="5400000"/>
          </a:xfrm>
          <a:prstGeom prst="rect">
            <a:avLst/>
          </a:prstGeom>
        </p:spPr>
        <p:txBody>
          <a:bodyPr/>
          <a:lstStyle/>
          <a:p>
            <a:r>
              <a:rPr lang="en-US" noProof="0"/>
              <a:t>Click icon to add picture</a:t>
            </a:r>
          </a:p>
        </p:txBody>
      </p:sp>
      <p:sp>
        <p:nvSpPr>
          <p:cNvPr id="3" name="Subtitle 2"/>
          <p:cNvSpPr>
            <a:spLocks noGrp="1"/>
          </p:cNvSpPr>
          <p:nvPr>
            <p:ph type="subTitle" idx="1" hasCustomPrompt="1"/>
          </p:nvPr>
        </p:nvSpPr>
        <p:spPr bwMode="gray">
          <a:xfrm>
            <a:off x="501651" y="5864229"/>
            <a:ext cx="5594348" cy="505645"/>
          </a:xfrm>
          <a:prstGeom prst="rect">
            <a:avLst/>
          </a:prstGeom>
        </p:spPr>
        <p:txBody>
          <a:bodyPr lIns="0" tIns="0" rIns="0" bIns="0" anchor="b" anchorCtr="0">
            <a:noAutofit/>
          </a:bodyPr>
          <a:lstStyle>
            <a:lvl1pPr marL="0" indent="0" algn="l">
              <a:lnSpc>
                <a:spcPct val="100000"/>
              </a:lnSpc>
              <a:spcAft>
                <a:spcPts val="0"/>
              </a:spcAft>
              <a:buNone/>
              <a:defRPr sz="2264" b="1">
                <a:solidFill>
                  <a:schemeClr val="tx1"/>
                </a:solidFill>
              </a:defRPr>
            </a:lvl1pPr>
            <a:lvl2pPr marL="0" indent="0" algn="l">
              <a:buNone/>
              <a:defRPr sz="2012" b="0"/>
            </a:lvl2pPr>
            <a:lvl3pPr marL="1150154" indent="0" algn="ctr">
              <a:buNone/>
              <a:defRPr sz="2264"/>
            </a:lvl3pPr>
            <a:lvl4pPr marL="1725231" indent="0" algn="ctr">
              <a:buNone/>
              <a:defRPr sz="2012"/>
            </a:lvl4pPr>
            <a:lvl5pPr marL="2300309" indent="0" algn="ctr">
              <a:buNone/>
              <a:defRPr sz="2012"/>
            </a:lvl5pPr>
            <a:lvl6pPr marL="2875386" indent="0" algn="ctr">
              <a:buNone/>
              <a:defRPr sz="2012"/>
            </a:lvl6pPr>
            <a:lvl7pPr marL="3450463" indent="0" algn="ctr">
              <a:buNone/>
              <a:defRPr sz="2012"/>
            </a:lvl7pPr>
            <a:lvl8pPr marL="4025540" indent="0" algn="ctr">
              <a:buNone/>
              <a:defRPr sz="2012"/>
            </a:lvl8pPr>
            <a:lvl9pPr marL="4600616" indent="0" algn="ctr">
              <a:buNone/>
              <a:defRPr sz="2012"/>
            </a:lvl9pPr>
          </a:lstStyle>
          <a:p>
            <a:r>
              <a:rPr lang="en-US" noProof="0"/>
              <a:t>Click to edit Master title style</a:t>
            </a:r>
          </a:p>
          <a:p>
            <a:pPr lvl="1"/>
            <a:r>
              <a:rPr lang="en-US" noProof="0"/>
              <a:t>Click to edit Master subtitle style</a:t>
            </a:r>
          </a:p>
        </p:txBody>
      </p:sp>
      <p:sp>
        <p:nvSpPr>
          <p:cNvPr id="5" name="Text Placeholder 4"/>
          <p:cNvSpPr>
            <a:spLocks noGrp="1"/>
          </p:cNvSpPr>
          <p:nvPr>
            <p:ph type="body" sz="quarter" idx="10"/>
          </p:nvPr>
        </p:nvSpPr>
        <p:spPr>
          <a:xfrm>
            <a:off x="501653" y="6381750"/>
            <a:ext cx="5594349" cy="298450"/>
          </a:xfrm>
          <a:prstGeom prst="rect">
            <a:avLst/>
          </a:prstGeom>
        </p:spPr>
        <p:txBody>
          <a:bodyPr/>
          <a:lstStyle>
            <a:lvl1pPr>
              <a:spcAft>
                <a:spcPts val="0"/>
              </a:spcAft>
              <a:defRPr sz="1258">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19" name="Group 18"/>
          <p:cNvGrpSpPr/>
          <p:nvPr userDrawn="1"/>
        </p:nvGrpSpPr>
        <p:grpSpPr>
          <a:xfrm>
            <a:off x="501651" y="378003"/>
            <a:ext cx="2159032" cy="326302"/>
            <a:chOff x="439792" y="416850"/>
            <a:chExt cx="1892808" cy="359839"/>
          </a:xfrm>
        </p:grpSpPr>
        <p:sp>
          <p:nvSpPr>
            <p:cNvPr id="20" name="Oval 5"/>
            <p:cNvSpPr>
              <a:spLocks noChangeArrowheads="1"/>
            </p:cNvSpPr>
            <p:nvPr userDrawn="1"/>
          </p:nvSpPr>
          <p:spPr bwMode="auto">
            <a:xfrm>
              <a:off x="2231035" y="674673"/>
              <a:ext cx="101565" cy="10201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1" name="Freeform 6"/>
            <p:cNvSpPr>
              <a:spLocks noEditPoints="1"/>
            </p:cNvSpPr>
            <p:nvPr userDrawn="1"/>
          </p:nvSpPr>
          <p:spPr bwMode="auto">
            <a:xfrm>
              <a:off x="439792" y="418705"/>
              <a:ext cx="288076" cy="352418"/>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2" name="Rectangle 7"/>
            <p:cNvSpPr>
              <a:spLocks noChangeArrowheads="1"/>
            </p:cNvSpPr>
            <p:nvPr userDrawn="1"/>
          </p:nvSpPr>
          <p:spPr bwMode="auto">
            <a:xfrm>
              <a:off x="1030718" y="416850"/>
              <a:ext cx="86792" cy="354274"/>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3" name="Freeform 8"/>
            <p:cNvSpPr>
              <a:spLocks noEditPoints="1"/>
            </p:cNvSpPr>
            <p:nvPr userDrawn="1"/>
          </p:nvSpPr>
          <p:spPr bwMode="auto">
            <a:xfrm>
              <a:off x="1152596" y="504028"/>
              <a:ext cx="251143" cy="270806"/>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4" name="Rectangle 9"/>
            <p:cNvSpPr>
              <a:spLocks noChangeArrowheads="1"/>
            </p:cNvSpPr>
            <p:nvPr userDrawn="1"/>
          </p:nvSpPr>
          <p:spPr bwMode="auto">
            <a:xfrm>
              <a:off x="1438825" y="507737"/>
              <a:ext cx="86792" cy="263386"/>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5" name="Rectangle 10"/>
            <p:cNvSpPr>
              <a:spLocks noChangeArrowheads="1"/>
            </p:cNvSpPr>
            <p:nvPr userDrawn="1"/>
          </p:nvSpPr>
          <p:spPr bwMode="auto">
            <a:xfrm>
              <a:off x="1438825" y="416850"/>
              <a:ext cx="86792" cy="59355"/>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6" name="Freeform 11"/>
            <p:cNvSpPr>
              <a:spLocks/>
            </p:cNvSpPr>
            <p:nvPr userDrawn="1"/>
          </p:nvSpPr>
          <p:spPr bwMode="auto">
            <a:xfrm>
              <a:off x="1560703" y="424269"/>
              <a:ext cx="184664" cy="350564"/>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7" name="Freeform 12"/>
            <p:cNvSpPr>
              <a:spLocks/>
            </p:cNvSpPr>
            <p:nvPr userDrawn="1"/>
          </p:nvSpPr>
          <p:spPr bwMode="auto">
            <a:xfrm>
              <a:off x="1761988" y="424269"/>
              <a:ext cx="184664" cy="350564"/>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8" name="Freeform 13"/>
            <p:cNvSpPr>
              <a:spLocks noEditPoints="1"/>
            </p:cNvSpPr>
            <p:nvPr userDrawn="1"/>
          </p:nvSpPr>
          <p:spPr bwMode="auto">
            <a:xfrm>
              <a:off x="1965119" y="504028"/>
              <a:ext cx="245603" cy="270806"/>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9" name="Freeform 14"/>
            <p:cNvSpPr>
              <a:spLocks noEditPoints="1"/>
            </p:cNvSpPr>
            <p:nvPr userDrawn="1"/>
          </p:nvSpPr>
          <p:spPr bwMode="auto">
            <a:xfrm>
              <a:off x="753721" y="504028"/>
              <a:ext cx="243757" cy="270806"/>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grpSp>
    </p:spTree>
    <p:extLst>
      <p:ext uri="{BB962C8B-B14F-4D97-AF65-F5344CB8AC3E}">
        <p14:creationId xmlns:p14="http://schemas.microsoft.com/office/powerpoint/2010/main" val="134569626"/>
      </p:ext>
    </p:extLst>
  </p:cSld>
  <p:clrMapOvr>
    <a:masterClrMapping/>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userDrawn="1">
  <p:cSld name="1_Title Slide - Circle Black">
    <p:bg bwMode="gray">
      <p:bgPr>
        <a:blipFill dpi="0" rotWithShape="1">
          <a:blip r:embed="rId2"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bwMode="gray">
          <a:xfrm>
            <a:off x="3336000" y="1368000"/>
            <a:ext cx="5520000" cy="4140000"/>
          </a:xfrm>
          <a:prstGeom prst="ellipse">
            <a:avLst/>
          </a:prstGeom>
          <a:ln w="25400">
            <a:solidFill>
              <a:schemeClr val="accent1"/>
            </a:solidFill>
          </a:ln>
        </p:spPr>
        <p:txBody>
          <a:bodyPr lIns="108000" tIns="108000" rIns="108000" bIns="108000" anchor="ctr" anchorCtr="0">
            <a:normAutofit/>
          </a:bodyPr>
          <a:lstStyle>
            <a:lvl1pPr algn="ctr">
              <a:lnSpc>
                <a:spcPts val="5283"/>
              </a:lnSpc>
              <a:defRPr sz="4528" b="0">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Subtitle 2"/>
          <p:cNvSpPr>
            <a:spLocks noGrp="1"/>
          </p:cNvSpPr>
          <p:nvPr>
            <p:ph type="subTitle" idx="1"/>
          </p:nvPr>
        </p:nvSpPr>
        <p:spPr bwMode="gray">
          <a:xfrm>
            <a:off x="503990" y="5864229"/>
            <a:ext cx="5592010" cy="505645"/>
          </a:xfrm>
          <a:prstGeom prst="rect">
            <a:avLst/>
          </a:prstGeom>
        </p:spPr>
        <p:txBody>
          <a:bodyPr lIns="0" tIns="0" rIns="0" bIns="0" anchor="b" anchorCtr="0">
            <a:noAutofit/>
          </a:bodyPr>
          <a:lstStyle>
            <a:lvl1pPr marL="0" indent="0" algn="l">
              <a:lnSpc>
                <a:spcPct val="100000"/>
              </a:lnSpc>
              <a:spcAft>
                <a:spcPts val="0"/>
              </a:spcAft>
              <a:buNone/>
              <a:defRPr sz="2012">
                <a:solidFill>
                  <a:schemeClr val="bg1"/>
                </a:solidFill>
              </a:defRPr>
            </a:lvl1pPr>
            <a:lvl2pPr marL="575077" indent="0" algn="ctr">
              <a:buNone/>
              <a:defRPr sz="2516"/>
            </a:lvl2pPr>
            <a:lvl3pPr marL="1150154" indent="0" algn="ctr">
              <a:buNone/>
              <a:defRPr sz="2264"/>
            </a:lvl3pPr>
            <a:lvl4pPr marL="1725231" indent="0" algn="ctr">
              <a:buNone/>
              <a:defRPr sz="2012"/>
            </a:lvl4pPr>
            <a:lvl5pPr marL="2300309" indent="0" algn="ctr">
              <a:buNone/>
              <a:defRPr sz="2012"/>
            </a:lvl5pPr>
            <a:lvl6pPr marL="2875386" indent="0" algn="ctr">
              <a:buNone/>
              <a:defRPr sz="2012"/>
            </a:lvl6pPr>
            <a:lvl7pPr marL="3450463" indent="0" algn="ctr">
              <a:buNone/>
              <a:defRPr sz="2012"/>
            </a:lvl7pPr>
            <a:lvl8pPr marL="4025540" indent="0" algn="ctr">
              <a:buNone/>
              <a:defRPr sz="2012"/>
            </a:lvl8pPr>
            <a:lvl9pPr marL="4600616" indent="0" algn="ctr">
              <a:buNone/>
              <a:defRPr sz="2012"/>
            </a:lvl9pPr>
          </a:lstStyle>
          <a:p>
            <a:r>
              <a:rPr lang="en-US" noProof="0"/>
              <a:t>Click to edit Master subtitle style</a:t>
            </a:r>
          </a:p>
        </p:txBody>
      </p:sp>
      <p:sp>
        <p:nvSpPr>
          <p:cNvPr id="5" name="Text Placeholder 4"/>
          <p:cNvSpPr>
            <a:spLocks noGrp="1"/>
          </p:cNvSpPr>
          <p:nvPr>
            <p:ph type="body" sz="quarter" idx="10"/>
          </p:nvPr>
        </p:nvSpPr>
        <p:spPr>
          <a:xfrm>
            <a:off x="501653" y="6381750"/>
            <a:ext cx="5594349" cy="298450"/>
          </a:xfrm>
          <a:prstGeom prst="rect">
            <a:avLst/>
          </a:prstGeom>
        </p:spPr>
        <p:txBody>
          <a:bodyPr/>
          <a:lstStyle>
            <a:lvl1pPr>
              <a:spcAft>
                <a:spcPts val="0"/>
              </a:spcAft>
              <a:defRPr sz="1258">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22" name="Group 21"/>
          <p:cNvGrpSpPr>
            <a:grpSpLocks noChangeAspect="1"/>
          </p:cNvGrpSpPr>
          <p:nvPr userDrawn="1"/>
        </p:nvGrpSpPr>
        <p:grpSpPr>
          <a:xfrm>
            <a:off x="501651" y="378003"/>
            <a:ext cx="2159032" cy="326302"/>
            <a:chOff x="398463" y="404813"/>
            <a:chExt cx="1627187" cy="307976"/>
          </a:xfrm>
          <a:solidFill>
            <a:schemeClr val="bg1"/>
          </a:solidFill>
        </p:grpSpPr>
        <p:sp>
          <p:nvSpPr>
            <p:cNvPr id="23"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4"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5"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6"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7"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8"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9"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30"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31"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32"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grpSp>
    </p:spTree>
    <p:extLst>
      <p:ext uri="{BB962C8B-B14F-4D97-AF65-F5344CB8AC3E}">
        <p14:creationId xmlns:p14="http://schemas.microsoft.com/office/powerpoint/2010/main" val="209629866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userDrawn="1">
  <p:cSld name="1_Title Slide - Circle White">
    <p:bg bwMode="gray">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bwMode="gray">
          <a:xfrm>
            <a:off x="3336000" y="1368000"/>
            <a:ext cx="5520000" cy="4140000"/>
          </a:xfrm>
          <a:prstGeom prst="ellipse">
            <a:avLst/>
          </a:prstGeom>
          <a:ln w="25400">
            <a:solidFill>
              <a:schemeClr val="accent1"/>
            </a:solidFill>
          </a:ln>
        </p:spPr>
        <p:txBody>
          <a:bodyPr lIns="108000" tIns="108000" rIns="108000" bIns="108000" anchor="ctr" anchorCtr="0">
            <a:normAutofit/>
          </a:bodyPr>
          <a:lstStyle>
            <a:lvl1pPr algn="ctr">
              <a:lnSpc>
                <a:spcPts val="5283"/>
              </a:lnSpc>
              <a:defRPr sz="4528" b="0">
                <a:solidFill>
                  <a:schemeClr val="tx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Subtitle 2"/>
          <p:cNvSpPr>
            <a:spLocks noGrp="1"/>
          </p:cNvSpPr>
          <p:nvPr>
            <p:ph type="subTitle" idx="1"/>
          </p:nvPr>
        </p:nvSpPr>
        <p:spPr bwMode="gray">
          <a:xfrm>
            <a:off x="501651" y="5864229"/>
            <a:ext cx="5594348" cy="505645"/>
          </a:xfrm>
          <a:prstGeom prst="rect">
            <a:avLst/>
          </a:prstGeom>
        </p:spPr>
        <p:txBody>
          <a:bodyPr lIns="0" tIns="0" rIns="0" bIns="0" anchor="b" anchorCtr="0">
            <a:noAutofit/>
          </a:bodyPr>
          <a:lstStyle>
            <a:lvl1pPr marL="0" indent="0" algn="l">
              <a:lnSpc>
                <a:spcPct val="100000"/>
              </a:lnSpc>
              <a:spcAft>
                <a:spcPts val="0"/>
              </a:spcAft>
              <a:buNone/>
              <a:defRPr sz="2012">
                <a:solidFill>
                  <a:schemeClr val="tx1"/>
                </a:solidFill>
              </a:defRPr>
            </a:lvl1pPr>
            <a:lvl2pPr marL="575077" indent="0" algn="ctr">
              <a:buNone/>
              <a:defRPr sz="2516"/>
            </a:lvl2pPr>
            <a:lvl3pPr marL="1150154" indent="0" algn="ctr">
              <a:buNone/>
              <a:defRPr sz="2264"/>
            </a:lvl3pPr>
            <a:lvl4pPr marL="1725231" indent="0" algn="ctr">
              <a:buNone/>
              <a:defRPr sz="2012"/>
            </a:lvl4pPr>
            <a:lvl5pPr marL="2300309" indent="0" algn="ctr">
              <a:buNone/>
              <a:defRPr sz="2012"/>
            </a:lvl5pPr>
            <a:lvl6pPr marL="2875386" indent="0" algn="ctr">
              <a:buNone/>
              <a:defRPr sz="2012"/>
            </a:lvl6pPr>
            <a:lvl7pPr marL="3450463" indent="0" algn="ctr">
              <a:buNone/>
              <a:defRPr sz="2012"/>
            </a:lvl7pPr>
            <a:lvl8pPr marL="4025540" indent="0" algn="ctr">
              <a:buNone/>
              <a:defRPr sz="2012"/>
            </a:lvl8pPr>
            <a:lvl9pPr marL="4600616" indent="0" algn="ctr">
              <a:buNone/>
              <a:defRPr sz="2012"/>
            </a:lvl9pPr>
          </a:lstStyle>
          <a:p>
            <a:r>
              <a:rPr lang="en-US" noProof="0"/>
              <a:t>Click to edit Master subtitle style</a:t>
            </a:r>
          </a:p>
        </p:txBody>
      </p:sp>
      <p:sp>
        <p:nvSpPr>
          <p:cNvPr id="5" name="Text Placeholder 4"/>
          <p:cNvSpPr>
            <a:spLocks noGrp="1"/>
          </p:cNvSpPr>
          <p:nvPr>
            <p:ph type="body" sz="quarter" idx="10"/>
          </p:nvPr>
        </p:nvSpPr>
        <p:spPr>
          <a:xfrm>
            <a:off x="501653" y="6381750"/>
            <a:ext cx="5594349" cy="298450"/>
          </a:xfrm>
          <a:prstGeom prst="rect">
            <a:avLst/>
          </a:prstGeom>
        </p:spPr>
        <p:txBody>
          <a:bodyPr/>
          <a:lstStyle>
            <a:lvl1pPr>
              <a:spcAft>
                <a:spcPts val="0"/>
              </a:spcAft>
              <a:defRPr sz="1258">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4" name="Group 3"/>
          <p:cNvGrpSpPr/>
          <p:nvPr userDrawn="1"/>
        </p:nvGrpSpPr>
        <p:grpSpPr>
          <a:xfrm>
            <a:off x="501651" y="378003"/>
            <a:ext cx="2159032" cy="326302"/>
            <a:chOff x="439792" y="416850"/>
            <a:chExt cx="1892808" cy="359839"/>
          </a:xfrm>
        </p:grpSpPr>
        <p:sp>
          <p:nvSpPr>
            <p:cNvPr id="20" name="Oval 5"/>
            <p:cNvSpPr>
              <a:spLocks noChangeArrowheads="1"/>
            </p:cNvSpPr>
            <p:nvPr userDrawn="1"/>
          </p:nvSpPr>
          <p:spPr bwMode="auto">
            <a:xfrm>
              <a:off x="2231035" y="674673"/>
              <a:ext cx="101565" cy="10201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1" name="Freeform 6"/>
            <p:cNvSpPr>
              <a:spLocks noEditPoints="1"/>
            </p:cNvSpPr>
            <p:nvPr userDrawn="1"/>
          </p:nvSpPr>
          <p:spPr bwMode="auto">
            <a:xfrm>
              <a:off x="439792" y="418705"/>
              <a:ext cx="288076" cy="352418"/>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2" name="Rectangle 7"/>
            <p:cNvSpPr>
              <a:spLocks noChangeArrowheads="1"/>
            </p:cNvSpPr>
            <p:nvPr userDrawn="1"/>
          </p:nvSpPr>
          <p:spPr bwMode="auto">
            <a:xfrm>
              <a:off x="1030718" y="416850"/>
              <a:ext cx="86792" cy="354274"/>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3" name="Freeform 8"/>
            <p:cNvSpPr>
              <a:spLocks noEditPoints="1"/>
            </p:cNvSpPr>
            <p:nvPr userDrawn="1"/>
          </p:nvSpPr>
          <p:spPr bwMode="auto">
            <a:xfrm>
              <a:off x="1152596" y="504028"/>
              <a:ext cx="251143" cy="270806"/>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4" name="Rectangle 9"/>
            <p:cNvSpPr>
              <a:spLocks noChangeArrowheads="1"/>
            </p:cNvSpPr>
            <p:nvPr userDrawn="1"/>
          </p:nvSpPr>
          <p:spPr bwMode="auto">
            <a:xfrm>
              <a:off x="1438825" y="507737"/>
              <a:ext cx="86792" cy="263386"/>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5" name="Rectangle 10"/>
            <p:cNvSpPr>
              <a:spLocks noChangeArrowheads="1"/>
            </p:cNvSpPr>
            <p:nvPr userDrawn="1"/>
          </p:nvSpPr>
          <p:spPr bwMode="auto">
            <a:xfrm>
              <a:off x="1438825" y="416850"/>
              <a:ext cx="86792" cy="59355"/>
            </a:xfrm>
            <a:prstGeom prst="rect">
              <a:avLst/>
            </a:pr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6" name="Freeform 11"/>
            <p:cNvSpPr>
              <a:spLocks/>
            </p:cNvSpPr>
            <p:nvPr userDrawn="1"/>
          </p:nvSpPr>
          <p:spPr bwMode="auto">
            <a:xfrm>
              <a:off x="1560703" y="424269"/>
              <a:ext cx="184664" cy="350564"/>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7" name="Freeform 12"/>
            <p:cNvSpPr>
              <a:spLocks/>
            </p:cNvSpPr>
            <p:nvPr userDrawn="1"/>
          </p:nvSpPr>
          <p:spPr bwMode="auto">
            <a:xfrm>
              <a:off x="1761988" y="424269"/>
              <a:ext cx="184664" cy="350564"/>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8" name="Freeform 13"/>
            <p:cNvSpPr>
              <a:spLocks noEditPoints="1"/>
            </p:cNvSpPr>
            <p:nvPr userDrawn="1"/>
          </p:nvSpPr>
          <p:spPr bwMode="auto">
            <a:xfrm>
              <a:off x="1965119" y="504028"/>
              <a:ext cx="245603" cy="270806"/>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sp>
          <p:nvSpPr>
            <p:cNvPr id="29" name="Freeform 14"/>
            <p:cNvSpPr>
              <a:spLocks noEditPoints="1"/>
            </p:cNvSpPr>
            <p:nvPr userDrawn="1"/>
          </p:nvSpPr>
          <p:spPr bwMode="auto">
            <a:xfrm>
              <a:off x="753721" y="504028"/>
              <a:ext cx="243757" cy="270806"/>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solidFill>
              <a:srgbClr val="000000"/>
            </a:solidFill>
            <a:ln>
              <a:noFill/>
            </a:ln>
          </p:spPr>
          <p:txBody>
            <a:bodyPr vert="horz" wrap="square" lIns="91440" tIns="45720" rIns="91440" bIns="45720" numCol="1" anchor="t" anchorCtr="0" compatLnSpc="1">
              <a:prstTxWarp prst="textNoShape">
                <a:avLst/>
              </a:prstTxWarp>
            </a:bodyPr>
            <a:lstStyle/>
            <a:p>
              <a:endParaRPr lang="en-US" sz="2341" noProof="0">
                <a:solidFill>
                  <a:schemeClr val="bg1"/>
                </a:solidFill>
              </a:endParaRPr>
            </a:p>
          </p:txBody>
        </p:sp>
      </p:grpSp>
    </p:spTree>
    <p:extLst>
      <p:ext uri="{BB962C8B-B14F-4D97-AF65-F5344CB8AC3E}">
        <p14:creationId xmlns:p14="http://schemas.microsoft.com/office/powerpoint/2010/main" val="843428767"/>
      </p:ext>
    </p:extLst>
  </p:cSld>
  <p:clrMapOvr>
    <a:masterClrMapping/>
  </p:clrMapOvr>
  <p:transition>
    <p:fade/>
  </p:transition>
  <p:extLst>
    <p:ext uri="{DCECCB84-F9BA-43D5-87BE-67443E8EF086}">
      <p15:sldGuideLst xmlns:p15="http://schemas.microsoft.com/office/powerpoint/2012/main">
        <p15:guide id="1" orient="horz" pos="4508">
          <p15:clr>
            <a:srgbClr val="FBAE40"/>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1_Divider - Deloitte green">
    <p:bg bwMode="gray">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2"/>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77" indent="0">
              <a:buNone/>
              <a:defRPr sz="2516">
                <a:solidFill>
                  <a:schemeClr val="tx1">
                    <a:tint val="75000"/>
                  </a:schemeClr>
                </a:solidFill>
              </a:defRPr>
            </a:lvl2pPr>
            <a:lvl3pPr marL="1150154" indent="0">
              <a:buNone/>
              <a:defRPr sz="2264">
                <a:solidFill>
                  <a:schemeClr val="tx1">
                    <a:tint val="75000"/>
                  </a:schemeClr>
                </a:solidFill>
              </a:defRPr>
            </a:lvl3pPr>
            <a:lvl4pPr marL="1725231" indent="0">
              <a:buNone/>
              <a:defRPr sz="2012">
                <a:solidFill>
                  <a:schemeClr val="tx1">
                    <a:tint val="75000"/>
                  </a:schemeClr>
                </a:solidFill>
              </a:defRPr>
            </a:lvl4pPr>
            <a:lvl5pPr marL="2300309" indent="0">
              <a:buNone/>
              <a:defRPr sz="2012">
                <a:solidFill>
                  <a:schemeClr val="tx1">
                    <a:tint val="75000"/>
                  </a:schemeClr>
                </a:solidFill>
              </a:defRPr>
            </a:lvl5pPr>
            <a:lvl6pPr marL="2875386" indent="0">
              <a:buNone/>
              <a:defRPr sz="2012">
                <a:solidFill>
                  <a:schemeClr val="tx1">
                    <a:tint val="75000"/>
                  </a:schemeClr>
                </a:solidFill>
              </a:defRPr>
            </a:lvl6pPr>
            <a:lvl7pPr marL="3450463" indent="0">
              <a:buNone/>
              <a:defRPr sz="2012">
                <a:solidFill>
                  <a:schemeClr val="tx1">
                    <a:tint val="75000"/>
                  </a:schemeClr>
                </a:solidFill>
              </a:defRPr>
            </a:lvl7pPr>
            <a:lvl8pPr marL="4025540" indent="0">
              <a:buNone/>
              <a:defRPr sz="2012">
                <a:solidFill>
                  <a:schemeClr val="tx1">
                    <a:tint val="75000"/>
                  </a:schemeClr>
                </a:solidFill>
              </a:defRPr>
            </a:lvl8pPr>
            <a:lvl9pPr marL="4600616" indent="0">
              <a:buNone/>
              <a:defRPr sz="2012">
                <a:solidFill>
                  <a:schemeClr val="tx1">
                    <a:tint val="75000"/>
                  </a:schemeClr>
                </a:solidFill>
              </a:defRPr>
            </a:lvl9pPr>
          </a:lstStyle>
          <a:p>
            <a:pPr lvl="0"/>
            <a:r>
              <a:rPr lang="en-US" noProof="0"/>
              <a:t>Edit Master text styles</a:t>
            </a:r>
          </a:p>
        </p:txBody>
      </p:sp>
      <p:sp>
        <p:nvSpPr>
          <p:cNvPr id="5" name="TextBox 4"/>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7" name="TextBox 6"/>
          <p:cNvSpPr txBox="1"/>
          <p:nvPr userDrawn="1"/>
        </p:nvSpPr>
        <p:spPr>
          <a:xfrm>
            <a:off x="501652"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8" name="TextBox 7"/>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1392354145"/>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userDrawn="1">
  <p:cSld name="1_Divider - Deloitte dark green">
    <p:bg bwMode="gray">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2"/>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3" y="3429003"/>
            <a:ext cx="10544066" cy="1566532"/>
          </a:xfrm>
        </p:spPr>
        <p:txBody>
          <a:bodyPr lIns="0" tIns="0" rIns="0" bIns="0">
            <a:noAutofit/>
          </a:bodyPr>
          <a:lstStyle>
            <a:lvl1pPr marL="0" indent="0">
              <a:lnSpc>
                <a:spcPct val="95000"/>
              </a:lnSpc>
              <a:spcAft>
                <a:spcPts val="0"/>
              </a:spcAft>
              <a:buNone/>
              <a:defRPr sz="4448">
                <a:solidFill>
                  <a:schemeClr val="bg1"/>
                </a:solidFill>
              </a:defRPr>
            </a:lvl1pPr>
            <a:lvl2pPr marL="575077" indent="0">
              <a:buNone/>
              <a:defRPr sz="2516">
                <a:solidFill>
                  <a:schemeClr val="tx1">
                    <a:tint val="75000"/>
                  </a:schemeClr>
                </a:solidFill>
              </a:defRPr>
            </a:lvl2pPr>
            <a:lvl3pPr marL="1150154" indent="0">
              <a:buNone/>
              <a:defRPr sz="2264">
                <a:solidFill>
                  <a:schemeClr val="tx1">
                    <a:tint val="75000"/>
                  </a:schemeClr>
                </a:solidFill>
              </a:defRPr>
            </a:lvl3pPr>
            <a:lvl4pPr marL="1725231" indent="0">
              <a:buNone/>
              <a:defRPr sz="2012">
                <a:solidFill>
                  <a:schemeClr val="tx1">
                    <a:tint val="75000"/>
                  </a:schemeClr>
                </a:solidFill>
              </a:defRPr>
            </a:lvl4pPr>
            <a:lvl5pPr marL="2300309" indent="0">
              <a:buNone/>
              <a:defRPr sz="2012">
                <a:solidFill>
                  <a:schemeClr val="tx1">
                    <a:tint val="75000"/>
                  </a:schemeClr>
                </a:solidFill>
              </a:defRPr>
            </a:lvl5pPr>
            <a:lvl6pPr marL="2875386" indent="0">
              <a:buNone/>
              <a:defRPr sz="2012">
                <a:solidFill>
                  <a:schemeClr val="tx1">
                    <a:tint val="75000"/>
                  </a:schemeClr>
                </a:solidFill>
              </a:defRPr>
            </a:lvl6pPr>
            <a:lvl7pPr marL="3450463" indent="0">
              <a:buNone/>
              <a:defRPr sz="2012">
                <a:solidFill>
                  <a:schemeClr val="tx1">
                    <a:tint val="75000"/>
                  </a:schemeClr>
                </a:solidFill>
              </a:defRPr>
            </a:lvl7pPr>
            <a:lvl8pPr marL="4025540" indent="0">
              <a:buNone/>
              <a:defRPr sz="2012">
                <a:solidFill>
                  <a:schemeClr val="tx1">
                    <a:tint val="75000"/>
                  </a:schemeClr>
                </a:solidFill>
              </a:defRPr>
            </a:lvl8pPr>
            <a:lvl9pPr marL="4600616" indent="0">
              <a:buNone/>
              <a:defRPr sz="2012">
                <a:solidFill>
                  <a:schemeClr val="tx1">
                    <a:tint val="75000"/>
                  </a:schemeClr>
                </a:solidFill>
              </a:defRPr>
            </a:lvl9pPr>
          </a:lstStyle>
          <a:p>
            <a:pPr lvl="0"/>
            <a:r>
              <a:rPr lang="en-US" noProof="0"/>
              <a:t>Edit Master text styles</a:t>
            </a:r>
          </a:p>
        </p:txBody>
      </p:sp>
      <p:sp>
        <p:nvSpPr>
          <p:cNvPr id="13" name="TextBox 12"/>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4" name="TextBox 13"/>
          <p:cNvSpPr txBox="1"/>
          <p:nvPr userDrawn="1"/>
        </p:nvSpPr>
        <p:spPr>
          <a:xfrm>
            <a:off x="501652"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5" name="TextBox 14"/>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397869607"/>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1_Divider - Deloitte blue">
    <p:bg bwMode="gray">
      <p:bgPr>
        <a:solidFill>
          <a:schemeClr val="accent3"/>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2"/>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77" indent="0">
              <a:buNone/>
              <a:defRPr sz="2516">
                <a:solidFill>
                  <a:schemeClr val="tx1">
                    <a:tint val="75000"/>
                  </a:schemeClr>
                </a:solidFill>
              </a:defRPr>
            </a:lvl2pPr>
            <a:lvl3pPr marL="1150154" indent="0">
              <a:buNone/>
              <a:defRPr sz="2264">
                <a:solidFill>
                  <a:schemeClr val="tx1">
                    <a:tint val="75000"/>
                  </a:schemeClr>
                </a:solidFill>
              </a:defRPr>
            </a:lvl3pPr>
            <a:lvl4pPr marL="1725231" indent="0">
              <a:buNone/>
              <a:defRPr sz="2012">
                <a:solidFill>
                  <a:schemeClr val="tx1">
                    <a:tint val="75000"/>
                  </a:schemeClr>
                </a:solidFill>
              </a:defRPr>
            </a:lvl4pPr>
            <a:lvl5pPr marL="2300309" indent="0">
              <a:buNone/>
              <a:defRPr sz="2012">
                <a:solidFill>
                  <a:schemeClr val="tx1">
                    <a:tint val="75000"/>
                  </a:schemeClr>
                </a:solidFill>
              </a:defRPr>
            </a:lvl5pPr>
            <a:lvl6pPr marL="2875386" indent="0">
              <a:buNone/>
              <a:defRPr sz="2012">
                <a:solidFill>
                  <a:schemeClr val="tx1">
                    <a:tint val="75000"/>
                  </a:schemeClr>
                </a:solidFill>
              </a:defRPr>
            </a:lvl6pPr>
            <a:lvl7pPr marL="3450463" indent="0">
              <a:buNone/>
              <a:defRPr sz="2012">
                <a:solidFill>
                  <a:schemeClr val="tx1">
                    <a:tint val="75000"/>
                  </a:schemeClr>
                </a:solidFill>
              </a:defRPr>
            </a:lvl7pPr>
            <a:lvl8pPr marL="4025540" indent="0">
              <a:buNone/>
              <a:defRPr sz="2012">
                <a:solidFill>
                  <a:schemeClr val="tx1">
                    <a:tint val="75000"/>
                  </a:schemeClr>
                </a:solidFill>
              </a:defRPr>
            </a:lvl8pPr>
            <a:lvl9pPr marL="4600616" indent="0">
              <a:buNone/>
              <a:defRPr sz="2012">
                <a:solidFill>
                  <a:schemeClr val="tx1">
                    <a:tint val="75000"/>
                  </a:schemeClr>
                </a:solidFill>
              </a:defRPr>
            </a:lvl9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1317714034"/>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preserve="1" userDrawn="1">
  <p:cSld name="2_Divider - Deloitte dark blue">
    <p:bg bwMode="gray">
      <p:bgPr>
        <a:solidFill>
          <a:schemeClr val="accent4"/>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2"/>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77" indent="0">
              <a:buNone/>
              <a:defRPr sz="2516">
                <a:solidFill>
                  <a:schemeClr val="tx1">
                    <a:tint val="75000"/>
                  </a:schemeClr>
                </a:solidFill>
              </a:defRPr>
            </a:lvl2pPr>
            <a:lvl3pPr marL="1150154" indent="0">
              <a:buNone/>
              <a:defRPr sz="2264">
                <a:solidFill>
                  <a:schemeClr val="tx1">
                    <a:tint val="75000"/>
                  </a:schemeClr>
                </a:solidFill>
              </a:defRPr>
            </a:lvl3pPr>
            <a:lvl4pPr marL="1725231" indent="0">
              <a:buNone/>
              <a:defRPr sz="2012">
                <a:solidFill>
                  <a:schemeClr val="tx1">
                    <a:tint val="75000"/>
                  </a:schemeClr>
                </a:solidFill>
              </a:defRPr>
            </a:lvl4pPr>
            <a:lvl5pPr marL="2300309" indent="0">
              <a:buNone/>
              <a:defRPr sz="2012">
                <a:solidFill>
                  <a:schemeClr val="tx1">
                    <a:tint val="75000"/>
                  </a:schemeClr>
                </a:solidFill>
              </a:defRPr>
            </a:lvl5pPr>
            <a:lvl6pPr marL="2875386" indent="0">
              <a:buNone/>
              <a:defRPr sz="2012">
                <a:solidFill>
                  <a:schemeClr val="tx1">
                    <a:tint val="75000"/>
                  </a:schemeClr>
                </a:solidFill>
              </a:defRPr>
            </a:lvl6pPr>
            <a:lvl7pPr marL="3450463" indent="0">
              <a:buNone/>
              <a:defRPr sz="2012">
                <a:solidFill>
                  <a:schemeClr val="tx1">
                    <a:tint val="75000"/>
                  </a:schemeClr>
                </a:solidFill>
              </a:defRPr>
            </a:lvl7pPr>
            <a:lvl8pPr marL="4025540" indent="0">
              <a:buNone/>
              <a:defRPr sz="2012">
                <a:solidFill>
                  <a:schemeClr val="tx1">
                    <a:tint val="75000"/>
                  </a:schemeClr>
                </a:solidFill>
              </a:defRPr>
            </a:lvl8pPr>
            <a:lvl9pPr marL="4600616" indent="0">
              <a:buNone/>
              <a:defRPr sz="2012">
                <a:solidFill>
                  <a:schemeClr val="tx1">
                    <a:tint val="75000"/>
                  </a:schemeClr>
                </a:solidFill>
              </a:defRPr>
            </a:lvl9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3713283483"/>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preserve="1" userDrawn="1">
  <p:cSld name="1_Divider - Deloitte black">
    <p:bg bwMode="gray">
      <p:bgPr>
        <a:solidFill>
          <a:schemeClr val="tx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01651" y="1705672"/>
            <a:ext cx="10541000" cy="1592403"/>
          </a:xfrm>
        </p:spPr>
        <p:txBody>
          <a:bodyPr anchor="b"/>
          <a:lstStyle>
            <a:lvl1pPr>
              <a:lnSpc>
                <a:spcPct val="95000"/>
              </a:lnSpc>
              <a:defRPr sz="4448"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2"/>
          <p:cNvSpPr>
            <a:spLocks noGrp="1"/>
          </p:cNvSpPr>
          <p:nvPr>
            <p:ph type="body" idx="1"/>
          </p:nvPr>
        </p:nvSpPr>
        <p:spPr bwMode="gray">
          <a:xfrm>
            <a:off x="501651" y="3429003"/>
            <a:ext cx="10541000" cy="1566532"/>
          </a:xfrm>
        </p:spPr>
        <p:txBody>
          <a:bodyPr lIns="0" tIns="0" rIns="0" bIns="0">
            <a:noAutofit/>
          </a:bodyPr>
          <a:lstStyle>
            <a:lvl1pPr marL="0" indent="0">
              <a:lnSpc>
                <a:spcPct val="95000"/>
              </a:lnSpc>
              <a:spcAft>
                <a:spcPts val="0"/>
              </a:spcAft>
              <a:buNone/>
              <a:defRPr sz="4448">
                <a:solidFill>
                  <a:schemeClr val="bg1"/>
                </a:solidFill>
              </a:defRPr>
            </a:lvl1pPr>
            <a:lvl2pPr marL="575077" indent="0">
              <a:buNone/>
              <a:defRPr sz="2516">
                <a:solidFill>
                  <a:schemeClr val="tx1">
                    <a:tint val="75000"/>
                  </a:schemeClr>
                </a:solidFill>
              </a:defRPr>
            </a:lvl2pPr>
            <a:lvl3pPr marL="1150154" indent="0">
              <a:buNone/>
              <a:defRPr sz="2264">
                <a:solidFill>
                  <a:schemeClr val="tx1">
                    <a:tint val="75000"/>
                  </a:schemeClr>
                </a:solidFill>
              </a:defRPr>
            </a:lvl3pPr>
            <a:lvl4pPr marL="1725231" indent="0">
              <a:buNone/>
              <a:defRPr sz="2012">
                <a:solidFill>
                  <a:schemeClr val="tx1">
                    <a:tint val="75000"/>
                  </a:schemeClr>
                </a:solidFill>
              </a:defRPr>
            </a:lvl4pPr>
            <a:lvl5pPr marL="2300309" indent="0">
              <a:buNone/>
              <a:defRPr sz="2012">
                <a:solidFill>
                  <a:schemeClr val="tx1">
                    <a:tint val="75000"/>
                  </a:schemeClr>
                </a:solidFill>
              </a:defRPr>
            </a:lvl5pPr>
            <a:lvl6pPr marL="2875386" indent="0">
              <a:buNone/>
              <a:defRPr sz="2012">
                <a:solidFill>
                  <a:schemeClr val="tx1">
                    <a:tint val="75000"/>
                  </a:schemeClr>
                </a:solidFill>
              </a:defRPr>
            </a:lvl6pPr>
            <a:lvl7pPr marL="3450463" indent="0">
              <a:buNone/>
              <a:defRPr sz="2012">
                <a:solidFill>
                  <a:schemeClr val="tx1">
                    <a:tint val="75000"/>
                  </a:schemeClr>
                </a:solidFill>
              </a:defRPr>
            </a:lvl7pPr>
            <a:lvl8pPr marL="4025540" indent="0">
              <a:buNone/>
              <a:defRPr sz="2012">
                <a:solidFill>
                  <a:schemeClr val="tx1">
                    <a:tint val="75000"/>
                  </a:schemeClr>
                </a:solidFill>
              </a:defRPr>
            </a:lvl8pPr>
            <a:lvl9pPr marL="4600616" indent="0">
              <a:buNone/>
              <a:defRPr sz="2012">
                <a:solidFill>
                  <a:schemeClr val="tx1">
                    <a:tint val="75000"/>
                  </a:schemeClr>
                </a:solidFill>
              </a:defRPr>
            </a:lvl9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478528188"/>
      </p:ext>
    </p:extLst>
  </p:cSld>
  <p:clrMapOvr>
    <a:masterClrMapping/>
  </p:clrMapOvr>
  <p:transition>
    <p:fade/>
  </p:transition>
  <p:extLst>
    <p:ext uri="{DCECCB84-F9BA-43D5-87BE-67443E8EF086}">
      <p15:sldGuideLst xmlns:p15="http://schemas.microsoft.com/office/powerpoint/2012/main">
        <p15:guide id="1" orient="horz" pos="2382">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preserve="1" userDrawn="1">
  <p:cSld name="1_Key statement dark green">
    <p:bg>
      <p:bgPr>
        <a:solidFill>
          <a:schemeClr val="accent2"/>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1" y="1628777"/>
            <a:ext cx="9152370" cy="4752975"/>
          </a:xfrm>
          <a:prstGeom prst="rect">
            <a:avLst/>
          </a:prstGeom>
        </p:spPr>
        <p:txBody>
          <a:bodyPr>
            <a:noAutofit/>
          </a:bodyPr>
          <a:lstStyle>
            <a:lvl1pPr>
              <a:spcBef>
                <a:spcPts val="4528"/>
              </a:spcBef>
              <a:defRPr sz="3421">
                <a:solidFill>
                  <a:schemeClr val="bg1"/>
                </a:solidFill>
              </a:defRPr>
            </a:lvl1pPr>
            <a:lvl2pPr marL="575077" indent="-575077">
              <a:defRPr sz="3773">
                <a:solidFill>
                  <a:schemeClr val="bg2"/>
                </a:solidFill>
              </a:defRPr>
            </a:lvl2pPr>
            <a:lvl3pPr>
              <a:defRPr sz="3773">
                <a:solidFill>
                  <a:schemeClr val="bg2"/>
                </a:solidFill>
              </a:defRPr>
            </a:lvl3pPr>
            <a:lvl4pPr>
              <a:defRPr sz="3773">
                <a:solidFill>
                  <a:schemeClr val="bg2"/>
                </a:solidFill>
              </a:defRPr>
            </a:lvl4pPr>
            <a:lvl5pPr>
              <a:defRPr sz="3773">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1083994872"/>
      </p:ext>
    </p:extLst>
  </p:cSld>
  <p:clrMapOvr>
    <a:masterClrMapping/>
  </p:clrMapOvr>
  <p:transition>
    <p:fade/>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preserve="1" userDrawn="1">
  <p:cSld name="1_Key statement dark blue">
    <p:bg>
      <p:bgPr>
        <a:solidFill>
          <a:schemeClr val="accent4"/>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7203"/>
            <a:ext cx="9277350" cy="4759584"/>
          </a:xfrm>
          <a:prstGeom prst="rect">
            <a:avLst/>
          </a:prstGeom>
        </p:spPr>
        <p:txBody>
          <a:bodyPr>
            <a:noAutofit/>
          </a:bodyPr>
          <a:lstStyle>
            <a:lvl1pPr>
              <a:spcBef>
                <a:spcPts val="4528"/>
              </a:spcBef>
              <a:defRPr sz="3421">
                <a:solidFill>
                  <a:schemeClr val="bg1"/>
                </a:solidFill>
              </a:defRPr>
            </a:lvl1pPr>
            <a:lvl2pPr marL="575077" indent="-575077">
              <a:defRPr sz="3773">
                <a:solidFill>
                  <a:schemeClr val="bg2"/>
                </a:solidFill>
              </a:defRPr>
            </a:lvl2pPr>
            <a:lvl3pPr>
              <a:defRPr sz="3773">
                <a:solidFill>
                  <a:schemeClr val="bg2"/>
                </a:solidFill>
              </a:defRPr>
            </a:lvl3pPr>
            <a:lvl4pPr>
              <a:defRPr sz="3773">
                <a:solidFill>
                  <a:schemeClr val="bg2"/>
                </a:solidFill>
              </a:defRPr>
            </a:lvl4pPr>
            <a:lvl5pPr>
              <a:defRPr sz="3773">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682634777"/>
      </p:ext>
    </p:extLst>
  </p:cSld>
  <p:clrMapOvr>
    <a:masterClrMapping/>
  </p:clrMapOvr>
  <p:transition>
    <p:fade/>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preserve="1" userDrawn="1">
  <p:cSld name="1_Key statement teal">
    <p:bg>
      <p:bgPr>
        <a:solidFill>
          <a:schemeClr val="accent5"/>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8777"/>
            <a:ext cx="9277350" cy="4752975"/>
          </a:xfrm>
          <a:prstGeom prst="rect">
            <a:avLst/>
          </a:prstGeom>
        </p:spPr>
        <p:txBody>
          <a:bodyPr>
            <a:noAutofit/>
          </a:bodyPr>
          <a:lstStyle>
            <a:lvl1pPr>
              <a:spcBef>
                <a:spcPts val="4528"/>
              </a:spcBef>
              <a:defRPr sz="3421">
                <a:solidFill>
                  <a:schemeClr val="bg1"/>
                </a:solidFill>
              </a:defRPr>
            </a:lvl1pPr>
            <a:lvl2pPr marL="575077" indent="-575077">
              <a:defRPr sz="3773">
                <a:solidFill>
                  <a:schemeClr val="bg2"/>
                </a:solidFill>
              </a:defRPr>
            </a:lvl2pPr>
            <a:lvl3pPr>
              <a:defRPr sz="3773">
                <a:solidFill>
                  <a:schemeClr val="bg2"/>
                </a:solidFill>
              </a:defRPr>
            </a:lvl3pPr>
            <a:lvl4pPr>
              <a:defRPr sz="3773">
                <a:solidFill>
                  <a:schemeClr val="bg2"/>
                </a:solidFill>
              </a:defRPr>
            </a:lvl4pPr>
            <a:lvl5pPr>
              <a:defRPr sz="3773">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1999913212"/>
      </p:ext>
    </p:extLst>
  </p:cSld>
  <p:clrMapOvr>
    <a:masterClrMapping/>
  </p:clrMapOvr>
  <p:transition>
    <p:fade/>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preserve="1" userDrawn="1">
  <p:cSld name="1_Key statement black">
    <p:bg>
      <p:bgPr>
        <a:solidFill>
          <a:schemeClr val="tx1"/>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01652" y="1628777"/>
            <a:ext cx="9277350" cy="4752975"/>
          </a:xfrm>
          <a:prstGeom prst="rect">
            <a:avLst/>
          </a:prstGeom>
        </p:spPr>
        <p:txBody>
          <a:bodyPr>
            <a:noAutofit/>
          </a:bodyPr>
          <a:lstStyle>
            <a:lvl1pPr>
              <a:spcBef>
                <a:spcPts val="4528"/>
              </a:spcBef>
              <a:defRPr sz="3421">
                <a:solidFill>
                  <a:schemeClr val="bg1"/>
                </a:solidFill>
              </a:defRPr>
            </a:lvl1pPr>
            <a:lvl2pPr marL="575077" indent="-575077">
              <a:defRPr sz="3773">
                <a:solidFill>
                  <a:schemeClr val="bg2"/>
                </a:solidFill>
              </a:defRPr>
            </a:lvl2pPr>
            <a:lvl3pPr>
              <a:defRPr sz="3773">
                <a:solidFill>
                  <a:schemeClr val="bg2"/>
                </a:solidFill>
              </a:defRPr>
            </a:lvl3pPr>
            <a:lvl4pPr>
              <a:defRPr sz="3773">
                <a:solidFill>
                  <a:schemeClr val="bg2"/>
                </a:solidFill>
              </a:defRPr>
            </a:lvl4pPr>
            <a:lvl5pPr>
              <a:defRPr sz="3773">
                <a:solidFill>
                  <a:schemeClr val="bg2"/>
                </a:solidFill>
              </a:defRPr>
            </a:lvl5pPr>
          </a:lstStyle>
          <a:p>
            <a:pPr lvl="0"/>
            <a:r>
              <a:rPr lang="en-US" noProof="0"/>
              <a:t>Edit Master text styles</a:t>
            </a:r>
          </a:p>
        </p:txBody>
      </p:sp>
      <p:sp>
        <p:nvSpPr>
          <p:cNvPr id="10" name="TextBox 9"/>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1" name="TextBox 10"/>
          <p:cNvSpPr txBox="1"/>
          <p:nvPr userDrawn="1"/>
        </p:nvSpPr>
        <p:spPr>
          <a:xfrm>
            <a:off x="501652"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2" name="TextBox 11"/>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2560733503"/>
      </p:ext>
    </p:extLst>
  </p:cSld>
  <p:clrMapOvr>
    <a:masterClrMapping/>
  </p:clrMapOvr>
  <p:transition>
    <p:fade/>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1_Contents">
    <p:spTree>
      <p:nvGrpSpPr>
        <p:cNvPr id="1" name=""/>
        <p:cNvGrpSpPr/>
        <p:nvPr/>
      </p:nvGrpSpPr>
      <p:grpSpPr>
        <a:xfrm>
          <a:off x="0" y="0"/>
          <a:ext cx="0" cy="0"/>
          <a:chOff x="0" y="0"/>
          <a:chExt cx="0" cy="0"/>
        </a:xfrm>
      </p:grpSpPr>
      <p:sp>
        <p:nvSpPr>
          <p:cNvPr id="4" name="Content Placeholder 3"/>
          <p:cNvSpPr>
            <a:spLocks noGrp="1"/>
          </p:cNvSpPr>
          <p:nvPr>
            <p:ph sz="quarter" idx="10"/>
          </p:nvPr>
        </p:nvSpPr>
        <p:spPr>
          <a:xfrm>
            <a:off x="501652" y="1665292"/>
            <a:ext cx="9277350" cy="4716463"/>
          </a:xfrm>
          <a:prstGeom prst="rect">
            <a:avLst/>
          </a:prstGeom>
        </p:spPr>
        <p:txBody>
          <a:bodyPr/>
          <a:lstStyle>
            <a:lvl1pPr>
              <a:tabLst>
                <a:tab pos="8464418" algn="r"/>
              </a:tabLst>
              <a:defRPr/>
            </a:lvl1pPr>
            <a:lvl2pPr>
              <a:tabLst>
                <a:tab pos="8464418" algn="r"/>
              </a:tabLst>
              <a:defRPr/>
            </a:lvl2pPr>
            <a:lvl3pPr>
              <a:tabLst>
                <a:tab pos="8464418" algn="r"/>
              </a:tabLst>
              <a:defRPr/>
            </a:lvl3pPr>
            <a:lvl4pPr>
              <a:tabLst>
                <a:tab pos="8464418" algn="r"/>
              </a:tabLst>
              <a:defRPr/>
            </a:lvl4pPr>
            <a:lvl5pPr>
              <a:tabLst>
                <a:tab pos="6325849" algn="r"/>
              </a:tabLst>
              <a:defRPr baseline="0"/>
            </a:lvl5pPr>
            <a:lvl6pPr>
              <a:tabLst>
                <a:tab pos="8464418" algn="r"/>
              </a:tabLst>
              <a:defRPr/>
            </a:lvl6pPr>
            <a:lvl7pPr>
              <a:tabLst>
                <a:tab pos="8464418" algn="r"/>
              </a:tabLst>
              <a:defRPr/>
            </a:lvl7pPr>
            <a:lvl8pPr>
              <a:tabLst>
                <a:tab pos="8464418" algn="r"/>
              </a:tabLst>
              <a:defRPr/>
            </a:lvl8pPr>
            <a:lvl9pPr>
              <a:tabLst>
                <a:tab pos="8464418" algn="r"/>
              </a:tabLst>
              <a:defRPr/>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itle Placeholder 1"/>
          <p:cNvSpPr>
            <a:spLocks noGrp="1"/>
          </p:cNvSpPr>
          <p:nvPr>
            <p:ph type="title" hasCustomPrompt="1"/>
          </p:nvPr>
        </p:nvSpPr>
        <p:spPr>
          <a:xfrm>
            <a:off x="501652" y="317503"/>
            <a:ext cx="11180231" cy="698501"/>
          </a:xfrm>
          <a:prstGeom prst="rect">
            <a:avLst/>
          </a:prstGeom>
        </p:spPr>
        <p:txBody>
          <a:bodyPr vert="horz" lIns="0" tIns="0" rIns="0" bIns="0" rtlCol="0" anchor="t" anchorCtr="0">
            <a:noAutofit/>
          </a:bodyPr>
          <a:lstStyle>
            <a:lvl1pPr>
              <a:defRPr/>
            </a:lvl1pPr>
          </a:lstStyle>
          <a:p>
            <a:r>
              <a:rPr lang="en-US"/>
              <a:t>Click to add title</a:t>
            </a:r>
          </a:p>
        </p:txBody>
      </p:sp>
    </p:spTree>
    <p:extLst>
      <p:ext uri="{BB962C8B-B14F-4D97-AF65-F5344CB8AC3E}">
        <p14:creationId xmlns:p14="http://schemas.microsoft.com/office/powerpoint/2010/main" val="3664336014"/>
      </p:ext>
    </p:extLst>
  </p:cSld>
  <p:clrMapOvr>
    <a:masterClrMapping/>
  </p:clrMapOvr>
  <p:transition>
    <p:fade/>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_Contents with image">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501651" y="317501"/>
            <a:ext cx="11188699" cy="698500"/>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5" name="Picture Placeholder 9"/>
          <p:cNvSpPr>
            <a:spLocks noGrp="1"/>
          </p:cNvSpPr>
          <p:nvPr>
            <p:ph type="pic" sz="quarter" idx="15"/>
          </p:nvPr>
        </p:nvSpPr>
        <p:spPr>
          <a:xfrm>
            <a:off x="5450353" y="1701804"/>
            <a:ext cx="6240000" cy="4679950"/>
          </a:xfrm>
        </p:spPr>
        <p:txBody>
          <a:bodyPr/>
          <a:lstStyle/>
          <a:p>
            <a:r>
              <a:rPr lang="en-US" noProof="0"/>
              <a:t>Click icon to add picture</a:t>
            </a:r>
          </a:p>
        </p:txBody>
      </p:sp>
      <p:sp>
        <p:nvSpPr>
          <p:cNvPr id="6" name="Content Placeholder 3"/>
          <p:cNvSpPr>
            <a:spLocks noGrp="1"/>
          </p:cNvSpPr>
          <p:nvPr>
            <p:ph sz="quarter" idx="10"/>
          </p:nvPr>
        </p:nvSpPr>
        <p:spPr>
          <a:xfrm>
            <a:off x="501653" y="1665292"/>
            <a:ext cx="4456429" cy="4716463"/>
          </a:xfrm>
          <a:prstGeom prst="rect">
            <a:avLst/>
          </a:prstGeom>
        </p:spPr>
        <p:txBody>
          <a:bodyPr/>
          <a:lstStyle>
            <a:lvl1pPr>
              <a:tabLst>
                <a:tab pos="6325849" algn="r"/>
              </a:tabLst>
              <a:defRPr/>
            </a:lvl1pPr>
            <a:lvl2pPr>
              <a:tabLst>
                <a:tab pos="6325849" algn="r"/>
              </a:tabLst>
              <a:defRPr/>
            </a:lvl2pPr>
            <a:lvl3pPr>
              <a:tabLst>
                <a:tab pos="6325849" algn="r"/>
              </a:tabLst>
              <a:defRPr/>
            </a:lvl3pPr>
            <a:lvl4pPr>
              <a:tabLst>
                <a:tab pos="6325849" algn="r"/>
              </a:tabLst>
              <a:defRPr/>
            </a:lvl4pPr>
            <a:lvl5pPr>
              <a:tabLst>
                <a:tab pos="6325849"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1852693487"/>
      </p:ext>
    </p:extLst>
  </p:cSld>
  <p:clrMapOvr>
    <a:masterClrMapping/>
  </p:clrMapOvr>
  <p:transition>
    <p:fade/>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1_Title &amp; 1 column text">
    <p:spTree>
      <p:nvGrpSpPr>
        <p:cNvPr id="1" name=""/>
        <p:cNvGrpSpPr/>
        <p:nvPr/>
      </p:nvGrpSpPr>
      <p:grpSpPr>
        <a:xfrm>
          <a:off x="0" y="0"/>
          <a:ext cx="0" cy="0"/>
          <a:chOff x="0" y="0"/>
          <a:chExt cx="0" cy="0"/>
        </a:xfrm>
      </p:grpSpPr>
      <p:sp>
        <p:nvSpPr>
          <p:cNvPr id="2" name="Title 1"/>
          <p:cNvSpPr>
            <a:spLocks noGrp="1"/>
          </p:cNvSpPr>
          <p:nvPr>
            <p:ph type="title"/>
          </p:nvPr>
        </p:nvSpPr>
        <p:spPr>
          <a:xfrm>
            <a:off x="501651" y="317501"/>
            <a:ext cx="11188699" cy="698500"/>
          </a:xfrm>
        </p:spPr>
        <p:txBody>
          <a:bodyPr/>
          <a:lstStyle/>
          <a:p>
            <a:r>
              <a:rPr lang="en-US" noProof="0"/>
              <a:t>Click to edit Master title style</a:t>
            </a:r>
          </a:p>
        </p:txBody>
      </p:sp>
      <p:sp>
        <p:nvSpPr>
          <p:cNvPr id="14" name="Text Placeholder 18"/>
          <p:cNvSpPr>
            <a:spLocks noGrp="1"/>
          </p:cNvSpPr>
          <p:nvPr>
            <p:ph idx="1"/>
          </p:nvPr>
        </p:nvSpPr>
        <p:spPr>
          <a:xfrm>
            <a:off x="501653" y="1665292"/>
            <a:ext cx="11165416" cy="4716463"/>
          </a:xfrm>
          <a:prstGeom prst="rect">
            <a:avLst/>
          </a:prstGeom>
        </p:spPr>
        <p:txBody>
          <a:bodyPr vert="horz" lIns="0" tIns="0" rIns="0" bIns="0" rtlCol="0">
            <a:noAutofit/>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4016365068"/>
      </p:ext>
    </p:extLst>
  </p:cSld>
  <p:clrMapOvr>
    <a:masterClrMapping/>
  </p:clrMapOvr>
  <p:transition>
    <p:fade/>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1_Title, subtitle &amp; 1 column text">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501652" y="651601"/>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4" name="Title Placeholder 1"/>
          <p:cNvSpPr>
            <a:spLocks noGrp="1"/>
          </p:cNvSpPr>
          <p:nvPr>
            <p:ph type="title"/>
          </p:nvPr>
        </p:nvSpPr>
        <p:spPr>
          <a:xfrm>
            <a:off x="501652" y="317502"/>
            <a:ext cx="11162350" cy="334101"/>
          </a:xfrm>
          <a:prstGeom prst="rect">
            <a:avLst/>
          </a:prstGeom>
        </p:spPr>
        <p:txBody>
          <a:bodyPr vert="horz" lIns="0" tIns="0" rIns="0" bIns="0" rtlCol="0" anchor="t" anchorCtr="0">
            <a:noAutofit/>
          </a:bodyPr>
          <a:lstStyle>
            <a:lvl1pPr>
              <a:defRPr/>
            </a:lvl1pPr>
          </a:lstStyle>
          <a:p>
            <a:r>
              <a:rPr lang="en-US" noProof="0"/>
              <a:t>Click to edit Master title style</a:t>
            </a:r>
          </a:p>
        </p:txBody>
      </p:sp>
      <p:sp>
        <p:nvSpPr>
          <p:cNvPr id="8" name="Text Placeholder 18"/>
          <p:cNvSpPr>
            <a:spLocks noGrp="1"/>
          </p:cNvSpPr>
          <p:nvPr>
            <p:ph idx="1"/>
          </p:nvPr>
        </p:nvSpPr>
        <p:spPr>
          <a:xfrm>
            <a:off x="498584" y="1143708"/>
            <a:ext cx="11165416" cy="4713911"/>
          </a:xfrm>
          <a:prstGeom prst="rect">
            <a:avLst/>
          </a:prstGeom>
        </p:spPr>
        <p:txBody>
          <a:bodyPr vert="horz" lIns="0" tIns="0" rIns="0" bIns="0" rtlCol="0">
            <a:noAutofit/>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3992893447"/>
      </p:ext>
    </p:extLst>
  </p:cSld>
  <p:clrMapOvr>
    <a:masterClrMapping/>
  </p:clrMapOvr>
  <p:transition>
    <p:fade/>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1_Title, subtitle &amp; 1 column - large">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501652" y="651601"/>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4" name="Title Placeholder 1"/>
          <p:cNvSpPr>
            <a:spLocks noGrp="1"/>
          </p:cNvSpPr>
          <p:nvPr>
            <p:ph type="title"/>
          </p:nvPr>
        </p:nvSpPr>
        <p:spPr>
          <a:xfrm>
            <a:off x="501652" y="317502"/>
            <a:ext cx="11162350" cy="334101"/>
          </a:xfrm>
          <a:prstGeom prst="rect">
            <a:avLst/>
          </a:prstGeom>
        </p:spPr>
        <p:txBody>
          <a:bodyPr vert="horz" lIns="0" tIns="0" rIns="0" bIns="0" rtlCol="0" anchor="t" anchorCtr="0">
            <a:noAutofit/>
          </a:bodyPr>
          <a:lstStyle>
            <a:lvl1pPr>
              <a:defRPr/>
            </a:lvl1pPr>
          </a:lstStyle>
          <a:p>
            <a:r>
              <a:rPr lang="en-US" noProof="0"/>
              <a:t>Click to edit Master title style</a:t>
            </a:r>
          </a:p>
        </p:txBody>
      </p:sp>
      <p:sp>
        <p:nvSpPr>
          <p:cNvPr id="8" name="Text Placeholder 18"/>
          <p:cNvSpPr>
            <a:spLocks noGrp="1"/>
          </p:cNvSpPr>
          <p:nvPr>
            <p:ph idx="1"/>
          </p:nvPr>
        </p:nvSpPr>
        <p:spPr>
          <a:xfrm>
            <a:off x="501653" y="1700213"/>
            <a:ext cx="11165416" cy="4678986"/>
          </a:xfrm>
          <a:prstGeom prst="rect">
            <a:avLst/>
          </a:prstGeom>
        </p:spPr>
        <p:txBody>
          <a:bodyPr vert="horz" lIns="0" tIns="0" rIns="0" bIns="0" rtlCol="0">
            <a:noAutofit/>
          </a:bodyPr>
          <a:lstStyle>
            <a:lvl1pPr>
              <a:defRPr sz="2012"/>
            </a:lvl1pPr>
            <a:lvl2pPr>
              <a:defRPr sz="2012"/>
            </a:lvl2pPr>
            <a:lvl3pPr>
              <a:defRPr sz="2012"/>
            </a:lvl3pPr>
            <a:lvl4pPr>
              <a:defRPr sz="2012"/>
            </a:lvl4pPr>
            <a:lvl5pPr>
              <a:defRPr sz="2012"/>
            </a:lvl5pPr>
            <a:lvl6pPr>
              <a:defRPr sz="2012"/>
            </a:lvl6pPr>
            <a:lvl7pPr>
              <a:defRPr sz="2012"/>
            </a:lvl7pPr>
            <a:lvl8pPr>
              <a:defRPr sz="2012"/>
            </a:lvl8pPr>
            <a:lvl9pPr>
              <a:defRPr sz="2012"/>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3432335739"/>
      </p:ext>
    </p:extLst>
  </p:cSld>
  <p:clrMapOvr>
    <a:masterClrMapping/>
  </p:clrMapOvr>
  <p:transition>
    <p:fade/>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_2 columns of text">
    <p:spTree>
      <p:nvGrpSpPr>
        <p:cNvPr id="1" name=""/>
        <p:cNvGrpSpPr/>
        <p:nvPr/>
      </p:nvGrpSpPr>
      <p:grpSpPr>
        <a:xfrm>
          <a:off x="0" y="0"/>
          <a:ext cx="0" cy="0"/>
          <a:chOff x="0" y="0"/>
          <a:chExt cx="0" cy="0"/>
        </a:xfrm>
      </p:grpSpPr>
      <p:sp>
        <p:nvSpPr>
          <p:cNvPr id="14" name="Title Placeholder 1"/>
          <p:cNvSpPr>
            <a:spLocks noGrp="1"/>
          </p:cNvSpPr>
          <p:nvPr>
            <p:ph type="title" hasCustomPrompt="1"/>
          </p:nvPr>
        </p:nvSpPr>
        <p:spPr>
          <a:xfrm>
            <a:off x="501653" y="317502"/>
            <a:ext cx="11202669" cy="334101"/>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9" name="Text Placeholder 8"/>
          <p:cNvSpPr>
            <a:spLocks noGrp="1"/>
          </p:cNvSpPr>
          <p:nvPr>
            <p:ph type="body" sz="quarter" idx="13" hasCustomPrompt="1"/>
          </p:nvPr>
        </p:nvSpPr>
        <p:spPr>
          <a:xfrm>
            <a:off x="501653" y="651601"/>
            <a:ext cx="1120266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3" name="Content Placeholder 3"/>
          <p:cNvSpPr>
            <a:spLocks noGrp="1"/>
          </p:cNvSpPr>
          <p:nvPr>
            <p:ph sz="quarter" idx="10"/>
          </p:nvPr>
        </p:nvSpPr>
        <p:spPr>
          <a:xfrm>
            <a:off x="501651" y="1665288"/>
            <a:ext cx="5305578" cy="4716461"/>
          </a:xfrm>
          <a:prstGeom prst="rect">
            <a:avLst/>
          </a:prstGeom>
        </p:spPr>
        <p:txBody>
          <a:bodyPr/>
          <a:lstStyle>
            <a:lvl1pPr>
              <a:tabLst>
                <a:tab pos="6325849" algn="r"/>
              </a:tabLst>
              <a:defRPr/>
            </a:lvl1pPr>
            <a:lvl2pPr>
              <a:tabLst>
                <a:tab pos="6325849" algn="r"/>
              </a:tabLst>
              <a:defRPr/>
            </a:lvl2pPr>
            <a:lvl3pPr>
              <a:tabLst>
                <a:tab pos="6325849" algn="r"/>
              </a:tabLst>
              <a:defRPr/>
            </a:lvl3pPr>
            <a:lvl4pPr>
              <a:tabLst>
                <a:tab pos="6325849" algn="r"/>
              </a:tabLst>
              <a:defRPr/>
            </a:lvl4pPr>
            <a:lvl5pPr>
              <a:tabLst>
                <a:tab pos="6325849"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5" name="Content Placeholder 3"/>
          <p:cNvSpPr>
            <a:spLocks noGrp="1"/>
          </p:cNvSpPr>
          <p:nvPr>
            <p:ph sz="quarter" idx="20"/>
          </p:nvPr>
        </p:nvSpPr>
        <p:spPr>
          <a:xfrm>
            <a:off x="6381539" y="1665288"/>
            <a:ext cx="5322781" cy="4716461"/>
          </a:xfrm>
          <a:prstGeom prst="rect">
            <a:avLst/>
          </a:prstGeom>
        </p:spPr>
        <p:txBody>
          <a:bodyPr/>
          <a:lstStyle>
            <a:lvl1pPr>
              <a:tabLst>
                <a:tab pos="6325849" algn="r"/>
              </a:tabLst>
              <a:defRPr/>
            </a:lvl1pPr>
            <a:lvl2pPr>
              <a:tabLst>
                <a:tab pos="6325849" algn="r"/>
              </a:tabLst>
              <a:defRPr/>
            </a:lvl2pPr>
            <a:lvl3pPr>
              <a:tabLst>
                <a:tab pos="6325849" algn="r"/>
              </a:tabLst>
              <a:defRPr/>
            </a:lvl3pPr>
            <a:lvl4pPr>
              <a:tabLst>
                <a:tab pos="6325849" algn="r"/>
              </a:tabLst>
              <a:defRPr/>
            </a:lvl4pPr>
            <a:lvl5pPr>
              <a:tabLst>
                <a:tab pos="6325849"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3213957028"/>
      </p:ext>
    </p:extLst>
  </p:cSld>
  <p:clrMapOvr>
    <a:masterClrMapping/>
  </p:clrMapOvr>
  <p:transition>
    <p:fade/>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_2 columns - large">
    <p:spTree>
      <p:nvGrpSpPr>
        <p:cNvPr id="1" name=""/>
        <p:cNvGrpSpPr/>
        <p:nvPr/>
      </p:nvGrpSpPr>
      <p:grpSpPr>
        <a:xfrm>
          <a:off x="0" y="0"/>
          <a:ext cx="0" cy="0"/>
          <a:chOff x="0" y="0"/>
          <a:chExt cx="0" cy="0"/>
        </a:xfrm>
      </p:grpSpPr>
      <p:sp>
        <p:nvSpPr>
          <p:cNvPr id="7" name="Text Placeholder 8"/>
          <p:cNvSpPr>
            <a:spLocks noGrp="1"/>
          </p:cNvSpPr>
          <p:nvPr>
            <p:ph type="body" sz="quarter" idx="13" hasCustomPrompt="1"/>
          </p:nvPr>
        </p:nvSpPr>
        <p:spPr>
          <a:xfrm>
            <a:off x="501651" y="651601"/>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8" name="Title Placeholder 1"/>
          <p:cNvSpPr>
            <a:spLocks noGrp="1"/>
          </p:cNvSpPr>
          <p:nvPr>
            <p:ph type="title" hasCustomPrompt="1"/>
          </p:nvPr>
        </p:nvSpPr>
        <p:spPr>
          <a:xfrm>
            <a:off x="501651" y="317500"/>
            <a:ext cx="11188699" cy="334100"/>
          </a:xfrm>
          <a:prstGeom prst="rect">
            <a:avLst/>
          </a:prstGeom>
        </p:spPr>
        <p:txBody>
          <a:bodyPr vert="horz" lIns="0" tIns="0" rIns="0" bIns="0" rtlCol="0" anchor="t" anchorCtr="0">
            <a:noAutofit/>
          </a:bodyPr>
          <a:lstStyle>
            <a:lvl1pPr>
              <a:defRPr/>
            </a:lvl1pPr>
          </a:lstStyle>
          <a:p>
            <a:r>
              <a:rPr lang="en-US" noProof="0"/>
              <a:t>Click to add title</a:t>
            </a:r>
          </a:p>
        </p:txBody>
      </p:sp>
      <p:sp>
        <p:nvSpPr>
          <p:cNvPr id="11" name="Content Placeholder 3"/>
          <p:cNvSpPr>
            <a:spLocks noGrp="1"/>
          </p:cNvSpPr>
          <p:nvPr>
            <p:ph sz="quarter" idx="10"/>
          </p:nvPr>
        </p:nvSpPr>
        <p:spPr>
          <a:xfrm>
            <a:off x="501650" y="1665288"/>
            <a:ext cx="5305580" cy="4716461"/>
          </a:xfrm>
          <a:prstGeom prst="rect">
            <a:avLst/>
          </a:prstGeom>
        </p:spPr>
        <p:txBody>
          <a:bodyPr>
            <a:noAutofit/>
          </a:bodyPr>
          <a:lstStyle>
            <a:lvl1pPr>
              <a:tabLst>
                <a:tab pos="6325849" algn="r"/>
              </a:tabLst>
              <a:defRPr sz="2012"/>
            </a:lvl1pPr>
            <a:lvl2pPr>
              <a:tabLst>
                <a:tab pos="6325849" algn="r"/>
              </a:tabLst>
              <a:defRPr sz="2012"/>
            </a:lvl2pPr>
            <a:lvl3pPr>
              <a:tabLst>
                <a:tab pos="6325849" algn="r"/>
              </a:tabLst>
              <a:defRPr sz="2012"/>
            </a:lvl3pPr>
            <a:lvl4pPr>
              <a:tabLst>
                <a:tab pos="6325849" algn="r"/>
              </a:tabLst>
              <a:defRPr sz="2012"/>
            </a:lvl4pPr>
            <a:lvl5pPr>
              <a:tabLst>
                <a:tab pos="6325849" algn="r"/>
              </a:tabLst>
              <a:defRPr baseline="0"/>
            </a:lvl5pPr>
            <a:lvl6pPr>
              <a:defRPr sz="2012"/>
            </a:lvl6pPr>
            <a:lvl7pPr>
              <a:defRPr sz="2012"/>
            </a:lvl7pPr>
            <a:lvl8pPr>
              <a:defRPr sz="2012"/>
            </a:lvl8pPr>
            <a:lvl9pPr>
              <a:defRPr sz="2012"/>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Content Placeholder 3"/>
          <p:cNvSpPr>
            <a:spLocks noGrp="1"/>
          </p:cNvSpPr>
          <p:nvPr>
            <p:ph sz="quarter" idx="20"/>
          </p:nvPr>
        </p:nvSpPr>
        <p:spPr>
          <a:xfrm>
            <a:off x="6384002" y="1665288"/>
            <a:ext cx="5306350" cy="4716461"/>
          </a:xfrm>
          <a:prstGeom prst="rect">
            <a:avLst/>
          </a:prstGeom>
        </p:spPr>
        <p:txBody>
          <a:bodyPr>
            <a:noAutofit/>
          </a:bodyPr>
          <a:lstStyle>
            <a:lvl1pPr>
              <a:tabLst>
                <a:tab pos="6325849" algn="r"/>
              </a:tabLst>
              <a:defRPr sz="2012"/>
            </a:lvl1pPr>
            <a:lvl2pPr>
              <a:tabLst>
                <a:tab pos="6325849" algn="r"/>
              </a:tabLst>
              <a:defRPr sz="2012"/>
            </a:lvl2pPr>
            <a:lvl3pPr>
              <a:tabLst>
                <a:tab pos="6325849" algn="r"/>
              </a:tabLst>
              <a:defRPr sz="2012"/>
            </a:lvl3pPr>
            <a:lvl4pPr>
              <a:tabLst>
                <a:tab pos="6325849" algn="r"/>
              </a:tabLst>
              <a:defRPr sz="2012"/>
            </a:lvl4pPr>
            <a:lvl5pPr>
              <a:tabLst>
                <a:tab pos="6325849" algn="r"/>
              </a:tabLst>
              <a:defRPr baseline="0"/>
            </a:lvl5pPr>
            <a:lvl6pPr>
              <a:defRPr sz="2012"/>
            </a:lvl6pPr>
            <a:lvl7pPr>
              <a:defRPr sz="2012"/>
            </a:lvl7pPr>
            <a:lvl8pPr>
              <a:defRPr sz="2012"/>
            </a:lvl8pPr>
            <a:lvl9pPr>
              <a:defRPr sz="2012"/>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1257337430"/>
      </p:ext>
    </p:extLst>
  </p:cSld>
  <p:clrMapOvr>
    <a:masterClrMapping/>
  </p:clrMapOvr>
  <p:transition>
    <p:fade/>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_Team profile 2">
    <p:spTree>
      <p:nvGrpSpPr>
        <p:cNvPr id="1" name=""/>
        <p:cNvGrpSpPr/>
        <p:nvPr/>
      </p:nvGrpSpPr>
      <p:grpSpPr>
        <a:xfrm>
          <a:off x="0" y="0"/>
          <a:ext cx="0" cy="0"/>
          <a:chOff x="0" y="0"/>
          <a:chExt cx="0" cy="0"/>
        </a:xfrm>
      </p:grpSpPr>
      <p:sp>
        <p:nvSpPr>
          <p:cNvPr id="2" name="Title 1"/>
          <p:cNvSpPr>
            <a:spLocks noGrp="1"/>
          </p:cNvSpPr>
          <p:nvPr>
            <p:ph type="title"/>
          </p:nvPr>
        </p:nvSpPr>
        <p:spPr>
          <a:xfrm>
            <a:off x="501651" y="317500"/>
            <a:ext cx="11188699" cy="334100"/>
          </a:xfrm>
        </p:spPr>
        <p:txBody>
          <a:bodyPr/>
          <a:lstStyle/>
          <a:p>
            <a:r>
              <a:rPr lang="en-US" noProof="0"/>
              <a:t>Click to edit Master title style</a:t>
            </a:r>
          </a:p>
        </p:txBody>
      </p:sp>
      <p:sp>
        <p:nvSpPr>
          <p:cNvPr id="4" name="Rectangle 3"/>
          <p:cNvSpPr/>
          <p:nvPr userDrawn="1"/>
        </p:nvSpPr>
        <p:spPr>
          <a:xfrm>
            <a:off x="504002" y="1707173"/>
            <a:ext cx="5496000"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5" name="Rectangle 4"/>
          <p:cNvSpPr/>
          <p:nvPr userDrawn="1"/>
        </p:nvSpPr>
        <p:spPr>
          <a:xfrm>
            <a:off x="6224086" y="1700216"/>
            <a:ext cx="5475066"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6" name="Rectangle 5"/>
          <p:cNvSpPr/>
          <p:nvPr userDrawn="1"/>
        </p:nvSpPr>
        <p:spPr>
          <a:xfrm>
            <a:off x="504002" y="4065173"/>
            <a:ext cx="5496000"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7" name="Rectangle 6"/>
          <p:cNvSpPr/>
          <p:nvPr userDrawn="1"/>
        </p:nvSpPr>
        <p:spPr>
          <a:xfrm>
            <a:off x="6224086" y="4065173"/>
            <a:ext cx="5475066"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8" name="Picture Placeholder 11"/>
          <p:cNvSpPr>
            <a:spLocks noGrp="1"/>
          </p:cNvSpPr>
          <p:nvPr>
            <p:ph type="pic" sz="quarter" idx="25"/>
          </p:nvPr>
        </p:nvSpPr>
        <p:spPr>
          <a:xfrm>
            <a:off x="504002" y="1880213"/>
            <a:ext cx="1968000" cy="1476000"/>
          </a:xfrm>
        </p:spPr>
        <p:txBody>
          <a:bodyPr/>
          <a:lstStyle>
            <a:lvl1pPr algn="ctr">
              <a:defRPr/>
            </a:lvl1pPr>
          </a:lstStyle>
          <a:p>
            <a:r>
              <a:rPr lang="en-US" noProof="0"/>
              <a:t>Click icon to add picture</a:t>
            </a:r>
          </a:p>
        </p:txBody>
      </p:sp>
      <p:sp>
        <p:nvSpPr>
          <p:cNvPr id="9" name="Picture Placeholder 11"/>
          <p:cNvSpPr>
            <a:spLocks noGrp="1"/>
          </p:cNvSpPr>
          <p:nvPr>
            <p:ph type="pic" sz="quarter" idx="27"/>
          </p:nvPr>
        </p:nvSpPr>
        <p:spPr>
          <a:xfrm>
            <a:off x="6224088" y="1880213"/>
            <a:ext cx="1968000" cy="1476000"/>
          </a:xfrm>
        </p:spPr>
        <p:txBody>
          <a:bodyPr/>
          <a:lstStyle>
            <a:lvl1pPr algn="ctr">
              <a:defRPr/>
            </a:lvl1pPr>
          </a:lstStyle>
          <a:p>
            <a:r>
              <a:rPr lang="en-US" noProof="0"/>
              <a:t>Click icon to add picture</a:t>
            </a:r>
          </a:p>
        </p:txBody>
      </p:sp>
      <p:sp>
        <p:nvSpPr>
          <p:cNvPr id="10" name="Picture Placeholder 11"/>
          <p:cNvSpPr>
            <a:spLocks noGrp="1"/>
          </p:cNvSpPr>
          <p:nvPr>
            <p:ph type="pic" sz="quarter" idx="29"/>
          </p:nvPr>
        </p:nvSpPr>
        <p:spPr>
          <a:xfrm>
            <a:off x="504002" y="4256213"/>
            <a:ext cx="1968000" cy="1476000"/>
          </a:xfrm>
        </p:spPr>
        <p:txBody>
          <a:bodyPr/>
          <a:lstStyle>
            <a:lvl1pPr algn="ctr">
              <a:defRPr/>
            </a:lvl1pPr>
          </a:lstStyle>
          <a:p>
            <a:r>
              <a:rPr lang="en-US" noProof="0"/>
              <a:t>Click icon to add picture</a:t>
            </a:r>
          </a:p>
        </p:txBody>
      </p:sp>
      <p:sp>
        <p:nvSpPr>
          <p:cNvPr id="11" name="Picture Placeholder 11"/>
          <p:cNvSpPr>
            <a:spLocks noGrp="1"/>
          </p:cNvSpPr>
          <p:nvPr>
            <p:ph type="pic" sz="quarter" idx="31"/>
          </p:nvPr>
        </p:nvSpPr>
        <p:spPr>
          <a:xfrm>
            <a:off x="6224088" y="4256213"/>
            <a:ext cx="1968000" cy="1476000"/>
          </a:xfrm>
        </p:spPr>
        <p:txBody>
          <a:bodyPr/>
          <a:lstStyle>
            <a:lvl1pPr algn="ctr">
              <a:defRPr/>
            </a:lvl1pPr>
          </a:lstStyle>
          <a:p>
            <a:r>
              <a:rPr lang="en-US" noProof="0"/>
              <a:t>Click icon to add picture</a:t>
            </a:r>
          </a:p>
        </p:txBody>
      </p:sp>
      <p:sp>
        <p:nvSpPr>
          <p:cNvPr id="13" name="Text Placeholder 12"/>
          <p:cNvSpPr>
            <a:spLocks noGrp="1"/>
          </p:cNvSpPr>
          <p:nvPr>
            <p:ph type="body" sz="quarter" idx="32"/>
          </p:nvPr>
        </p:nvSpPr>
        <p:spPr>
          <a:xfrm>
            <a:off x="2683484" y="1880213"/>
            <a:ext cx="3288000"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4" name="Text Placeholder 12"/>
          <p:cNvSpPr>
            <a:spLocks noGrp="1"/>
          </p:cNvSpPr>
          <p:nvPr>
            <p:ph type="body" sz="quarter" idx="33"/>
          </p:nvPr>
        </p:nvSpPr>
        <p:spPr>
          <a:xfrm>
            <a:off x="8396563" y="1880213"/>
            <a:ext cx="3302591"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5" name="Text Placeholder 12"/>
          <p:cNvSpPr>
            <a:spLocks noGrp="1"/>
          </p:cNvSpPr>
          <p:nvPr>
            <p:ph type="body" sz="quarter" idx="34"/>
          </p:nvPr>
        </p:nvSpPr>
        <p:spPr>
          <a:xfrm>
            <a:off x="2683484" y="4256213"/>
            <a:ext cx="3288000"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6" name="Text Placeholder 12"/>
          <p:cNvSpPr>
            <a:spLocks noGrp="1"/>
          </p:cNvSpPr>
          <p:nvPr>
            <p:ph type="body" sz="quarter" idx="35"/>
          </p:nvPr>
        </p:nvSpPr>
        <p:spPr>
          <a:xfrm>
            <a:off x="8396563" y="4256213"/>
            <a:ext cx="3302591" cy="1944000"/>
          </a:xfrm>
        </p:spPr>
        <p:txBody>
          <a:bodyPr/>
          <a:lstStyle>
            <a:lvl1pPr>
              <a:spcAft>
                <a:spcPts val="0"/>
              </a:spcAft>
              <a:defRPr b="1"/>
            </a:lvl1pPr>
            <a:lvl2pPr>
              <a:spcAft>
                <a:spcPts val="0"/>
              </a:spcAft>
              <a:defRPr b="0"/>
            </a:lvl2pPr>
          </a:lstStyle>
          <a:p>
            <a:pPr lvl="0"/>
            <a:r>
              <a:rPr lang="en-US" noProof="0"/>
              <a:t>Edit Master text styles</a:t>
            </a:r>
          </a:p>
          <a:p>
            <a:pPr lvl="1"/>
            <a:r>
              <a:rPr lang="en-US" noProof="0"/>
              <a:t>Second level</a:t>
            </a:r>
          </a:p>
        </p:txBody>
      </p:sp>
      <p:sp>
        <p:nvSpPr>
          <p:cNvPr id="17" name="Text Placeholder 8"/>
          <p:cNvSpPr>
            <a:spLocks noGrp="1"/>
          </p:cNvSpPr>
          <p:nvPr>
            <p:ph type="body" sz="quarter" idx="13" hasCustomPrompt="1"/>
          </p:nvPr>
        </p:nvSpPr>
        <p:spPr>
          <a:xfrm>
            <a:off x="501652" y="651601"/>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2742056212"/>
      </p:ext>
    </p:extLst>
  </p:cSld>
  <p:clrMapOvr>
    <a:masterClrMapping/>
  </p:clrMapOvr>
  <p:transition>
    <p:fade/>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1_Qualifications 2 x 1">
    <p:spTree>
      <p:nvGrpSpPr>
        <p:cNvPr id="1" name=""/>
        <p:cNvGrpSpPr/>
        <p:nvPr/>
      </p:nvGrpSpPr>
      <p:grpSpPr>
        <a:xfrm>
          <a:off x="0" y="0"/>
          <a:ext cx="0" cy="0"/>
          <a:chOff x="0" y="0"/>
          <a:chExt cx="0" cy="0"/>
        </a:xfrm>
      </p:grpSpPr>
      <p:sp>
        <p:nvSpPr>
          <p:cNvPr id="8" name="Text Placeholder 8"/>
          <p:cNvSpPr>
            <a:spLocks noGrp="1"/>
          </p:cNvSpPr>
          <p:nvPr>
            <p:ph type="body" sz="quarter" idx="17"/>
          </p:nvPr>
        </p:nvSpPr>
        <p:spPr>
          <a:xfrm>
            <a:off x="504002" y="1857895"/>
            <a:ext cx="5466824"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21"/>
          </p:nvPr>
        </p:nvSpPr>
        <p:spPr>
          <a:xfrm>
            <a:off x="6246195" y="1857895"/>
            <a:ext cx="5444156"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Title 1"/>
          <p:cNvSpPr>
            <a:spLocks noGrp="1"/>
          </p:cNvSpPr>
          <p:nvPr>
            <p:ph type="title"/>
          </p:nvPr>
        </p:nvSpPr>
        <p:spPr>
          <a:xfrm>
            <a:off x="501651" y="317505"/>
            <a:ext cx="11188699" cy="334099"/>
          </a:xfrm>
        </p:spPr>
        <p:txBody>
          <a:bodyPr/>
          <a:lstStyle/>
          <a:p>
            <a:r>
              <a:rPr lang="en-US" noProof="0"/>
              <a:t>Click to edit Master title style</a:t>
            </a:r>
          </a:p>
        </p:txBody>
      </p:sp>
      <p:sp>
        <p:nvSpPr>
          <p:cNvPr id="4" name="Rectangle 3"/>
          <p:cNvSpPr/>
          <p:nvPr userDrawn="1"/>
        </p:nvSpPr>
        <p:spPr>
          <a:xfrm>
            <a:off x="504002" y="1705378"/>
            <a:ext cx="5466824"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noProof="0">
              <a:solidFill>
                <a:schemeClr val="bg1"/>
              </a:solidFill>
            </a:endParaRPr>
          </a:p>
        </p:txBody>
      </p:sp>
      <p:sp>
        <p:nvSpPr>
          <p:cNvPr id="5" name="Rectangle 4"/>
          <p:cNvSpPr/>
          <p:nvPr userDrawn="1"/>
        </p:nvSpPr>
        <p:spPr>
          <a:xfrm>
            <a:off x="6246195" y="1705378"/>
            <a:ext cx="5452958"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noProof="0">
              <a:solidFill>
                <a:schemeClr val="bg1"/>
              </a:solidFill>
            </a:endParaRPr>
          </a:p>
        </p:txBody>
      </p:sp>
      <p:sp>
        <p:nvSpPr>
          <p:cNvPr id="6" name="Picture Placeholder 29"/>
          <p:cNvSpPr>
            <a:spLocks noGrp="1"/>
          </p:cNvSpPr>
          <p:nvPr>
            <p:ph type="pic" sz="quarter" idx="19" hasCustomPrompt="1"/>
          </p:nvPr>
        </p:nvSpPr>
        <p:spPr>
          <a:xfrm>
            <a:off x="4769494" y="1863917"/>
            <a:ext cx="1210206" cy="549275"/>
          </a:xfrm>
        </p:spPr>
        <p:txBody>
          <a:bodyPr/>
          <a:lstStyle>
            <a:lvl1pPr marL="0" marR="0" indent="0" algn="l" defTabSz="1150154"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7" name="Picture Placeholder 29"/>
          <p:cNvSpPr>
            <a:spLocks noGrp="1"/>
          </p:cNvSpPr>
          <p:nvPr>
            <p:ph type="pic" sz="quarter" idx="20" hasCustomPrompt="1"/>
          </p:nvPr>
        </p:nvSpPr>
        <p:spPr>
          <a:xfrm>
            <a:off x="10424619" y="1857893"/>
            <a:ext cx="1244161" cy="549275"/>
          </a:xfrm>
        </p:spPr>
        <p:txBody>
          <a:bodyPr/>
          <a:lstStyle>
            <a:lvl1pPr marL="0" marR="0" indent="0" algn="l" defTabSz="1150154"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6" name="Text Placeholder 8"/>
          <p:cNvSpPr>
            <a:spLocks noGrp="1"/>
          </p:cNvSpPr>
          <p:nvPr>
            <p:ph type="body" sz="quarter" idx="13" hasCustomPrompt="1"/>
          </p:nvPr>
        </p:nvSpPr>
        <p:spPr>
          <a:xfrm>
            <a:off x="501651" y="651601"/>
            <a:ext cx="11188699"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3719353860"/>
      </p:ext>
    </p:extLst>
  </p:cSld>
  <p:clrMapOvr>
    <a:masterClrMapping/>
  </p:clrMapOvr>
  <p:transition>
    <p:fade/>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1_Qualifications 2 x 2">
    <p:spTree>
      <p:nvGrpSpPr>
        <p:cNvPr id="1" name=""/>
        <p:cNvGrpSpPr/>
        <p:nvPr/>
      </p:nvGrpSpPr>
      <p:grpSpPr>
        <a:xfrm>
          <a:off x="0" y="0"/>
          <a:ext cx="0" cy="0"/>
          <a:chOff x="0" y="0"/>
          <a:chExt cx="0" cy="0"/>
        </a:xfrm>
      </p:grpSpPr>
      <p:sp>
        <p:nvSpPr>
          <p:cNvPr id="8" name="Text Placeholder 8"/>
          <p:cNvSpPr>
            <a:spLocks noGrp="1"/>
          </p:cNvSpPr>
          <p:nvPr>
            <p:ph type="body" sz="quarter" idx="17"/>
          </p:nvPr>
        </p:nvSpPr>
        <p:spPr>
          <a:xfrm>
            <a:off x="504000" y="1857895"/>
            <a:ext cx="5468941"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21"/>
          </p:nvPr>
        </p:nvSpPr>
        <p:spPr>
          <a:xfrm>
            <a:off x="6246195" y="1857895"/>
            <a:ext cx="5454668"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Title 1"/>
          <p:cNvSpPr>
            <a:spLocks noGrp="1"/>
          </p:cNvSpPr>
          <p:nvPr>
            <p:ph type="title"/>
          </p:nvPr>
        </p:nvSpPr>
        <p:spPr>
          <a:xfrm>
            <a:off x="501651" y="317505"/>
            <a:ext cx="11188699" cy="334099"/>
          </a:xfrm>
        </p:spPr>
        <p:txBody>
          <a:bodyPr/>
          <a:lstStyle/>
          <a:p>
            <a:r>
              <a:rPr lang="en-US" noProof="0"/>
              <a:t>Click to edit Master title style</a:t>
            </a:r>
          </a:p>
        </p:txBody>
      </p:sp>
      <p:sp>
        <p:nvSpPr>
          <p:cNvPr id="4" name="Rectangle 3"/>
          <p:cNvSpPr/>
          <p:nvPr userDrawn="1"/>
        </p:nvSpPr>
        <p:spPr>
          <a:xfrm>
            <a:off x="504002" y="1705378"/>
            <a:ext cx="5466824"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noProof="0">
              <a:solidFill>
                <a:schemeClr val="bg1"/>
              </a:solidFill>
            </a:endParaRPr>
          </a:p>
        </p:txBody>
      </p:sp>
      <p:sp>
        <p:nvSpPr>
          <p:cNvPr id="5" name="Rectangle 4"/>
          <p:cNvSpPr/>
          <p:nvPr userDrawn="1"/>
        </p:nvSpPr>
        <p:spPr>
          <a:xfrm>
            <a:off x="6246195" y="1705378"/>
            <a:ext cx="5452958"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noProof="0">
              <a:solidFill>
                <a:schemeClr val="bg1"/>
              </a:solidFill>
            </a:endParaRPr>
          </a:p>
        </p:txBody>
      </p:sp>
      <p:sp>
        <p:nvSpPr>
          <p:cNvPr id="7" name="Picture Placeholder 29"/>
          <p:cNvSpPr>
            <a:spLocks noGrp="1"/>
          </p:cNvSpPr>
          <p:nvPr>
            <p:ph type="pic" sz="quarter" idx="20" hasCustomPrompt="1"/>
          </p:nvPr>
        </p:nvSpPr>
        <p:spPr>
          <a:xfrm>
            <a:off x="10424619" y="1857893"/>
            <a:ext cx="1244161" cy="549275"/>
          </a:xfrm>
        </p:spPr>
        <p:txBody>
          <a:bodyPr/>
          <a:lstStyle>
            <a:lvl1pPr marL="0" marR="0" indent="0" algn="l" defTabSz="1150154"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0" name="Text Placeholder 8"/>
          <p:cNvSpPr>
            <a:spLocks noGrp="1"/>
          </p:cNvSpPr>
          <p:nvPr>
            <p:ph type="body" sz="quarter" idx="22"/>
          </p:nvPr>
        </p:nvSpPr>
        <p:spPr>
          <a:xfrm>
            <a:off x="504002" y="4249685"/>
            <a:ext cx="5466824"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Text Placeholder 8"/>
          <p:cNvSpPr>
            <a:spLocks noGrp="1"/>
          </p:cNvSpPr>
          <p:nvPr>
            <p:ph type="body" sz="quarter" idx="23"/>
          </p:nvPr>
        </p:nvSpPr>
        <p:spPr>
          <a:xfrm>
            <a:off x="6246196" y="4249685"/>
            <a:ext cx="5452958" cy="1695450"/>
          </a:xfrm>
        </p:spPr>
        <p:txBody>
          <a:bodyPr/>
          <a:lstStyle>
            <a:lvl1pPr>
              <a:spcAft>
                <a:spcPts val="1258"/>
              </a:spcAft>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Rectangle 11"/>
          <p:cNvSpPr/>
          <p:nvPr userDrawn="1"/>
        </p:nvSpPr>
        <p:spPr>
          <a:xfrm>
            <a:off x="504001" y="4103518"/>
            <a:ext cx="5468942"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noProof="0">
              <a:solidFill>
                <a:schemeClr val="bg1"/>
              </a:solidFill>
            </a:endParaRPr>
          </a:p>
        </p:txBody>
      </p:sp>
      <p:sp>
        <p:nvSpPr>
          <p:cNvPr id="13" name="Rectangle 12"/>
          <p:cNvSpPr/>
          <p:nvPr userDrawn="1"/>
        </p:nvSpPr>
        <p:spPr>
          <a:xfrm>
            <a:off x="6246196" y="4103518"/>
            <a:ext cx="5444716"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258"/>
              </a:spcAft>
            </a:pPr>
            <a:endParaRPr lang="en-US" sz="1384" noProof="0">
              <a:solidFill>
                <a:schemeClr val="bg1"/>
              </a:solidFill>
            </a:endParaRPr>
          </a:p>
        </p:txBody>
      </p:sp>
      <p:sp>
        <p:nvSpPr>
          <p:cNvPr id="14" name="Picture Placeholder 29"/>
          <p:cNvSpPr>
            <a:spLocks noGrp="1"/>
          </p:cNvSpPr>
          <p:nvPr>
            <p:ph type="pic" sz="quarter" idx="24" hasCustomPrompt="1"/>
          </p:nvPr>
        </p:nvSpPr>
        <p:spPr>
          <a:xfrm>
            <a:off x="4754495" y="4255707"/>
            <a:ext cx="1239382" cy="549275"/>
          </a:xfrm>
        </p:spPr>
        <p:txBody>
          <a:bodyPr/>
          <a:lstStyle>
            <a:lvl1pPr marL="0" marR="0" indent="0" algn="l" defTabSz="1150154"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5" name="Picture Placeholder 29"/>
          <p:cNvSpPr>
            <a:spLocks noGrp="1"/>
          </p:cNvSpPr>
          <p:nvPr>
            <p:ph type="pic" sz="quarter" idx="25" hasCustomPrompt="1"/>
          </p:nvPr>
        </p:nvSpPr>
        <p:spPr>
          <a:xfrm>
            <a:off x="10424617" y="4249683"/>
            <a:ext cx="1244160" cy="549275"/>
          </a:xfrm>
        </p:spPr>
        <p:txBody>
          <a:bodyPr/>
          <a:lstStyle>
            <a:lvl1pPr marL="0" marR="0" indent="0" algn="l" defTabSz="1150154"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
        <p:nvSpPr>
          <p:cNvPr id="16" name="Text Placeholder 8"/>
          <p:cNvSpPr>
            <a:spLocks noGrp="1"/>
          </p:cNvSpPr>
          <p:nvPr>
            <p:ph type="body" sz="quarter" idx="13" hasCustomPrompt="1"/>
          </p:nvPr>
        </p:nvSpPr>
        <p:spPr>
          <a:xfrm>
            <a:off x="501651" y="651601"/>
            <a:ext cx="11197501"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
        <p:nvSpPr>
          <p:cNvPr id="17" name="Picture Placeholder 29"/>
          <p:cNvSpPr>
            <a:spLocks noGrp="1"/>
          </p:cNvSpPr>
          <p:nvPr>
            <p:ph type="pic" sz="quarter" idx="19" hasCustomPrompt="1"/>
          </p:nvPr>
        </p:nvSpPr>
        <p:spPr>
          <a:xfrm>
            <a:off x="4769494" y="1863917"/>
            <a:ext cx="1210206" cy="549275"/>
          </a:xfrm>
        </p:spPr>
        <p:txBody>
          <a:bodyPr/>
          <a:lstStyle>
            <a:lvl1pPr marL="0" marR="0" indent="0" algn="l" defTabSz="1150154" rtl="0" eaLnBrk="1" fontAlgn="auto" latinLnBrk="0" hangingPunct="1">
              <a:lnSpc>
                <a:spcPct val="100000"/>
              </a:lnSpc>
              <a:spcBef>
                <a:spcPts val="0"/>
              </a:spcBef>
              <a:spcAft>
                <a:spcPts val="1258"/>
              </a:spcAft>
              <a:buClrTx/>
              <a:buSzTx/>
              <a:buFont typeface="Arial" panose="020B0604020202020204" pitchFamily="34" charset="0"/>
              <a:buNone/>
              <a:tabLst/>
              <a:defRPr sz="1133"/>
            </a:lvl1pPr>
          </a:lstStyle>
          <a:p>
            <a:pPr>
              <a:spcBef>
                <a:spcPct val="0"/>
              </a:spcBef>
            </a:pPr>
            <a:r>
              <a:rPr lang="en-US" sz="1509" noProof="0">
                <a:solidFill>
                  <a:schemeClr val="bg1"/>
                </a:solidFill>
              </a:rPr>
              <a:t>Co-brand</a:t>
            </a:r>
            <a:br>
              <a:rPr lang="en-US" sz="1509" noProof="0">
                <a:solidFill>
                  <a:schemeClr val="bg1"/>
                </a:solidFill>
              </a:rPr>
            </a:br>
            <a:r>
              <a:rPr lang="en-US" sz="1509" noProof="0">
                <a:solidFill>
                  <a:schemeClr val="bg1"/>
                </a:solidFill>
              </a:rPr>
              <a:t>Logo</a:t>
            </a:r>
          </a:p>
          <a:p>
            <a:endParaRPr lang="en-US" noProof="0"/>
          </a:p>
        </p:txBody>
      </p:sp>
    </p:spTree>
    <p:extLst>
      <p:ext uri="{BB962C8B-B14F-4D97-AF65-F5344CB8AC3E}">
        <p14:creationId xmlns:p14="http://schemas.microsoft.com/office/powerpoint/2010/main" val="2765539346"/>
      </p:ext>
    </p:extLst>
  </p:cSld>
  <p:clrMapOvr>
    <a:masterClrMapping/>
  </p:clrMapOvr>
  <p:transition>
    <p:fade/>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_3 column green line">
    <p:spTree>
      <p:nvGrpSpPr>
        <p:cNvPr id="1" name=""/>
        <p:cNvGrpSpPr/>
        <p:nvPr/>
      </p:nvGrpSpPr>
      <p:grpSpPr>
        <a:xfrm>
          <a:off x="0" y="0"/>
          <a:ext cx="0" cy="0"/>
          <a:chOff x="0" y="0"/>
          <a:chExt cx="0" cy="0"/>
        </a:xfrm>
      </p:grpSpPr>
      <p:sp>
        <p:nvSpPr>
          <p:cNvPr id="2" name="Title 1"/>
          <p:cNvSpPr>
            <a:spLocks noGrp="1"/>
          </p:cNvSpPr>
          <p:nvPr>
            <p:ph type="title"/>
          </p:nvPr>
        </p:nvSpPr>
        <p:spPr>
          <a:xfrm>
            <a:off x="501651" y="317505"/>
            <a:ext cx="11188699" cy="334099"/>
          </a:xfrm>
        </p:spPr>
        <p:txBody>
          <a:bodyPr/>
          <a:lstStyle/>
          <a:p>
            <a:r>
              <a:rPr lang="en-US" noProof="0"/>
              <a:t>Click to edit Master title style</a:t>
            </a:r>
          </a:p>
        </p:txBody>
      </p:sp>
      <p:sp>
        <p:nvSpPr>
          <p:cNvPr id="4" name="Rectangle 3"/>
          <p:cNvSpPr/>
          <p:nvPr userDrawn="1"/>
        </p:nvSpPr>
        <p:spPr>
          <a:xfrm>
            <a:off x="4320001" y="1705968"/>
            <a:ext cx="3556117"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5" name="Rectangle 4"/>
          <p:cNvSpPr/>
          <p:nvPr userDrawn="1"/>
        </p:nvSpPr>
        <p:spPr>
          <a:xfrm>
            <a:off x="504000" y="1700214"/>
            <a:ext cx="3560000" cy="5975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6" name="Rectangle 5"/>
          <p:cNvSpPr/>
          <p:nvPr userDrawn="1"/>
        </p:nvSpPr>
        <p:spPr>
          <a:xfrm>
            <a:off x="8115300" y="1705968"/>
            <a:ext cx="3583853"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384" noProof="0">
              <a:solidFill>
                <a:schemeClr val="bg1"/>
              </a:solidFill>
            </a:endParaRPr>
          </a:p>
        </p:txBody>
      </p:sp>
      <p:sp>
        <p:nvSpPr>
          <p:cNvPr id="7" name="Text Placeholder 8"/>
          <p:cNvSpPr>
            <a:spLocks noGrp="1"/>
          </p:cNvSpPr>
          <p:nvPr>
            <p:ph type="body" sz="quarter" idx="17"/>
          </p:nvPr>
        </p:nvSpPr>
        <p:spPr>
          <a:xfrm>
            <a:off x="4325712" y="1851441"/>
            <a:ext cx="3540577" cy="3845754"/>
          </a:xfrm>
        </p:spPr>
        <p:txBody>
          <a:bodyPr/>
          <a:lstStyle>
            <a:lvl1pPr>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8"/>
          <p:cNvSpPr>
            <a:spLocks noGrp="1"/>
          </p:cNvSpPr>
          <p:nvPr>
            <p:ph type="body" sz="quarter" idx="18"/>
          </p:nvPr>
        </p:nvSpPr>
        <p:spPr>
          <a:xfrm>
            <a:off x="504000" y="1851441"/>
            <a:ext cx="3560000" cy="3845754"/>
          </a:xfrm>
        </p:spPr>
        <p:txBody>
          <a:bodyPr/>
          <a:lstStyle>
            <a:lvl1pPr>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ext Placeholder 8"/>
          <p:cNvSpPr>
            <a:spLocks noGrp="1"/>
          </p:cNvSpPr>
          <p:nvPr>
            <p:ph type="body" sz="quarter" idx="19"/>
          </p:nvPr>
        </p:nvSpPr>
        <p:spPr>
          <a:xfrm>
            <a:off x="8128001" y="1851441"/>
            <a:ext cx="3571153" cy="3845754"/>
          </a:xfrm>
        </p:spPr>
        <p:txBody>
          <a:bodyPr/>
          <a:lstStyle>
            <a:lvl1pPr>
              <a:defRPr b="1">
                <a:solidFill>
                  <a:schemeClr val="accent1"/>
                </a:solidFill>
              </a:defRPr>
            </a:lvl1pPr>
            <a:lvl2pPr>
              <a:spcAft>
                <a:spcPts val="1258"/>
              </a:spcAft>
              <a:defRPr/>
            </a:lvl2pPr>
            <a:lvl3pPr marL="0" indent="0">
              <a:spcAft>
                <a:spcPts val="1258"/>
              </a:spcAft>
              <a:buNone/>
              <a:defRPr/>
            </a:lvl3pPr>
            <a:lvl4pPr marL="221880" indent="-221880">
              <a:spcAft>
                <a:spcPts val="1258"/>
              </a:spcAft>
              <a:buFont typeface="Arial" panose="020B0604020202020204" pitchFamily="34" charset="0"/>
              <a:buChar char="•"/>
              <a:defRPr/>
            </a:lvl4pPr>
            <a:lvl5pPr marL="448288" indent="-221880">
              <a:spcAft>
                <a:spcPts val="1258"/>
              </a:spcAft>
              <a:defRPr baseline="0"/>
            </a:lvl5pPr>
            <a:lvl6pPr marL="448288" indent="-221880">
              <a:spcAft>
                <a:spcPts val="1258"/>
              </a:spcAft>
              <a:buFont typeface="Verdana" panose="020B0604030504040204" pitchFamily="34" charset="0"/>
              <a:buChar char="−"/>
              <a:defRPr/>
            </a:lvl6pPr>
            <a:lvl7pPr marL="448288" indent="-221880">
              <a:spcAft>
                <a:spcPts val="1258"/>
              </a:spcAft>
              <a:defRPr/>
            </a:lvl7pPr>
            <a:lvl8pPr marL="448288" indent="-221880">
              <a:spcAft>
                <a:spcPts val="1258"/>
              </a:spcAft>
              <a:defRPr/>
            </a:lvl8pPr>
            <a:lvl9pPr marL="448288" indent="-221880">
              <a:spcAft>
                <a:spcPts val="1258"/>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Text Placeholder 8"/>
          <p:cNvSpPr>
            <a:spLocks noGrp="1"/>
          </p:cNvSpPr>
          <p:nvPr>
            <p:ph type="body" sz="quarter" idx="13" hasCustomPrompt="1"/>
          </p:nvPr>
        </p:nvSpPr>
        <p:spPr>
          <a:xfrm>
            <a:off x="501652" y="651601"/>
            <a:ext cx="11162350" cy="757255"/>
          </a:xfrm>
          <a:prstGeom prst="rect">
            <a:avLst/>
          </a:prstGeom>
        </p:spPr>
        <p:txBody>
          <a:bodyPr lIns="0" tIns="0" rIns="0" bIns="0">
            <a:noAutofit/>
          </a:bodyPr>
          <a:lstStyle>
            <a:lvl1pPr marL="0" indent="0">
              <a:buNone/>
              <a:defRPr sz="2282" b="0">
                <a:solidFill>
                  <a:srgbClr val="575757"/>
                </a:solidFill>
              </a:defRPr>
            </a:lvl1pPr>
          </a:lstStyle>
          <a:p>
            <a:pPr lvl="0"/>
            <a:r>
              <a:rPr lang="en-US" noProof="0"/>
              <a:t>Click to add subtitle</a:t>
            </a:r>
          </a:p>
        </p:txBody>
      </p:sp>
    </p:spTree>
    <p:extLst>
      <p:ext uri="{BB962C8B-B14F-4D97-AF65-F5344CB8AC3E}">
        <p14:creationId xmlns:p14="http://schemas.microsoft.com/office/powerpoint/2010/main" val="97737899"/>
      </p:ext>
    </p:extLst>
  </p:cSld>
  <p:clrMapOvr>
    <a:masterClrMapping/>
  </p:clrMapOvr>
  <p:transition>
    <p:fade/>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preserve="1" userDrawn="1">
  <p:cSld name="1_4 column icon green">
    <p:bg>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01650" y="317503"/>
            <a:ext cx="11188701" cy="370193"/>
          </a:xfrm>
        </p:spPr>
        <p:txBody>
          <a:bodyPr/>
          <a:lstStyle>
            <a:lvl1pPr>
              <a:defRPr>
                <a:solidFill>
                  <a:schemeClr val="bg1"/>
                </a:solidFill>
              </a:defRPr>
            </a:lvl1pPr>
          </a:lstStyle>
          <a:p>
            <a:r>
              <a:rPr lang="en-US" noProof="0"/>
              <a:t>Click to edit Master title style</a:t>
            </a:r>
          </a:p>
        </p:txBody>
      </p:sp>
      <p:sp>
        <p:nvSpPr>
          <p:cNvPr id="4" name="Text Placeholder 8"/>
          <p:cNvSpPr>
            <a:spLocks noGrp="1"/>
          </p:cNvSpPr>
          <p:nvPr>
            <p:ph type="body" sz="quarter" idx="17"/>
          </p:nvPr>
        </p:nvSpPr>
        <p:spPr>
          <a:xfrm>
            <a:off x="504000"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80" indent="-221880">
              <a:spcAft>
                <a:spcPts val="1258"/>
              </a:spcAft>
              <a:buFont typeface="Arial" panose="020B0604020202020204" pitchFamily="34" charset="0"/>
              <a:buChar char="•"/>
              <a:defRPr>
                <a:solidFill>
                  <a:schemeClr val="bg1"/>
                </a:solidFill>
              </a:defRPr>
            </a:lvl4pPr>
            <a:lvl5pPr marL="448288" indent="-221880">
              <a:spcAft>
                <a:spcPts val="1258"/>
              </a:spcAft>
              <a:defRPr baseline="0">
                <a:solidFill>
                  <a:schemeClr val="bg1"/>
                </a:solidFill>
              </a:defRPr>
            </a:lvl5pPr>
            <a:lvl6pPr marL="448288" indent="-221880">
              <a:spcAft>
                <a:spcPts val="1258"/>
              </a:spcAft>
              <a:buFont typeface="Verdana" panose="020B0604030504040204" pitchFamily="34" charset="0"/>
              <a:buChar char="−"/>
              <a:defRPr>
                <a:solidFill>
                  <a:schemeClr val="bg1"/>
                </a:solidFill>
              </a:defRPr>
            </a:lvl6pPr>
            <a:lvl7pPr marL="448288" indent="-221880">
              <a:spcAft>
                <a:spcPts val="1258"/>
              </a:spcAft>
              <a:defRPr>
                <a:solidFill>
                  <a:schemeClr val="bg1"/>
                </a:solidFill>
              </a:defRPr>
            </a:lvl7pPr>
            <a:lvl8pPr marL="448288" indent="-221880">
              <a:spcAft>
                <a:spcPts val="1258"/>
              </a:spcAft>
              <a:defRPr>
                <a:solidFill>
                  <a:schemeClr val="bg1"/>
                </a:solidFill>
              </a:defRPr>
            </a:lvl8pPr>
            <a:lvl9pPr marL="448288" indent="-221880">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Text Placeholder 8"/>
          <p:cNvSpPr>
            <a:spLocks noGrp="1"/>
          </p:cNvSpPr>
          <p:nvPr>
            <p:ph type="body" sz="quarter" idx="18"/>
          </p:nvPr>
        </p:nvSpPr>
        <p:spPr>
          <a:xfrm>
            <a:off x="9100752"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80" indent="-221880">
              <a:spcAft>
                <a:spcPts val="1258"/>
              </a:spcAft>
              <a:buFont typeface="Arial" panose="020B0604020202020204" pitchFamily="34" charset="0"/>
              <a:buChar char="•"/>
              <a:defRPr>
                <a:solidFill>
                  <a:schemeClr val="bg1"/>
                </a:solidFill>
              </a:defRPr>
            </a:lvl4pPr>
            <a:lvl5pPr marL="448288" indent="-221880">
              <a:spcAft>
                <a:spcPts val="1258"/>
              </a:spcAft>
              <a:defRPr baseline="0">
                <a:solidFill>
                  <a:schemeClr val="bg1"/>
                </a:solidFill>
              </a:defRPr>
            </a:lvl5pPr>
            <a:lvl6pPr marL="448288" indent="-221880">
              <a:spcAft>
                <a:spcPts val="1258"/>
              </a:spcAft>
              <a:buFont typeface="Verdana" panose="020B0604030504040204" pitchFamily="34" charset="0"/>
              <a:buChar char="−"/>
              <a:defRPr>
                <a:solidFill>
                  <a:schemeClr val="bg1"/>
                </a:solidFill>
              </a:defRPr>
            </a:lvl6pPr>
            <a:lvl7pPr marL="448288" indent="-221880">
              <a:spcAft>
                <a:spcPts val="1258"/>
              </a:spcAft>
              <a:defRPr>
                <a:solidFill>
                  <a:schemeClr val="bg1"/>
                </a:solidFill>
              </a:defRPr>
            </a:lvl7pPr>
            <a:lvl8pPr marL="448288" indent="-221880">
              <a:spcAft>
                <a:spcPts val="1258"/>
              </a:spcAft>
              <a:defRPr>
                <a:solidFill>
                  <a:schemeClr val="bg1"/>
                </a:solidFill>
              </a:defRPr>
            </a:lvl8pPr>
            <a:lvl9pPr marL="448288" indent="-221880">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Text Placeholder 8"/>
          <p:cNvSpPr>
            <a:spLocks noGrp="1"/>
          </p:cNvSpPr>
          <p:nvPr>
            <p:ph type="body" sz="quarter" idx="19"/>
          </p:nvPr>
        </p:nvSpPr>
        <p:spPr>
          <a:xfrm>
            <a:off x="3369584"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80" indent="-221880">
              <a:spcAft>
                <a:spcPts val="1258"/>
              </a:spcAft>
              <a:buFont typeface="Arial" panose="020B0604020202020204" pitchFamily="34" charset="0"/>
              <a:buChar char="•"/>
              <a:defRPr>
                <a:solidFill>
                  <a:schemeClr val="bg1"/>
                </a:solidFill>
              </a:defRPr>
            </a:lvl4pPr>
            <a:lvl5pPr marL="448288" indent="-221880">
              <a:spcAft>
                <a:spcPts val="1258"/>
              </a:spcAft>
              <a:defRPr baseline="0">
                <a:solidFill>
                  <a:schemeClr val="bg1"/>
                </a:solidFill>
              </a:defRPr>
            </a:lvl5pPr>
            <a:lvl6pPr marL="448288" indent="-221880">
              <a:spcAft>
                <a:spcPts val="1258"/>
              </a:spcAft>
              <a:buFont typeface="Verdana" panose="020B0604030504040204" pitchFamily="34" charset="0"/>
              <a:buChar char="−"/>
              <a:defRPr>
                <a:solidFill>
                  <a:schemeClr val="bg1"/>
                </a:solidFill>
              </a:defRPr>
            </a:lvl6pPr>
            <a:lvl7pPr marL="448288" indent="-221880">
              <a:spcAft>
                <a:spcPts val="1258"/>
              </a:spcAft>
              <a:defRPr>
                <a:solidFill>
                  <a:schemeClr val="bg1"/>
                </a:solidFill>
              </a:defRPr>
            </a:lvl7pPr>
            <a:lvl8pPr marL="448288" indent="-221880">
              <a:spcAft>
                <a:spcPts val="1258"/>
              </a:spcAft>
              <a:defRPr>
                <a:solidFill>
                  <a:schemeClr val="bg1"/>
                </a:solidFill>
              </a:defRPr>
            </a:lvl8pPr>
            <a:lvl9pPr marL="448288" indent="-221880">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Text Placeholder 8"/>
          <p:cNvSpPr>
            <a:spLocks noGrp="1"/>
          </p:cNvSpPr>
          <p:nvPr>
            <p:ph type="body" sz="quarter" idx="20"/>
          </p:nvPr>
        </p:nvSpPr>
        <p:spPr>
          <a:xfrm>
            <a:off x="6235168" y="2556000"/>
            <a:ext cx="2592000" cy="3394800"/>
          </a:xfrm>
        </p:spPr>
        <p:txBody>
          <a:bodyPr/>
          <a:lstStyle>
            <a:lvl1pPr>
              <a:defRPr b="1">
                <a:solidFill>
                  <a:schemeClr val="bg1"/>
                </a:solidFill>
              </a:defRPr>
            </a:lvl1pPr>
            <a:lvl2pPr>
              <a:spcAft>
                <a:spcPts val="1258"/>
              </a:spcAft>
              <a:defRPr>
                <a:solidFill>
                  <a:schemeClr val="bg1"/>
                </a:solidFill>
              </a:defRPr>
            </a:lvl2pPr>
            <a:lvl3pPr marL="0" indent="0">
              <a:spcAft>
                <a:spcPts val="1258"/>
              </a:spcAft>
              <a:buNone/>
              <a:defRPr>
                <a:solidFill>
                  <a:schemeClr val="bg1"/>
                </a:solidFill>
              </a:defRPr>
            </a:lvl3pPr>
            <a:lvl4pPr marL="221880" indent="-221880">
              <a:spcAft>
                <a:spcPts val="1258"/>
              </a:spcAft>
              <a:buFont typeface="Arial" panose="020B0604020202020204" pitchFamily="34" charset="0"/>
              <a:buChar char="•"/>
              <a:defRPr>
                <a:solidFill>
                  <a:schemeClr val="bg1"/>
                </a:solidFill>
              </a:defRPr>
            </a:lvl4pPr>
            <a:lvl5pPr marL="448288" indent="-221880">
              <a:spcAft>
                <a:spcPts val="1258"/>
              </a:spcAft>
              <a:defRPr baseline="0">
                <a:solidFill>
                  <a:schemeClr val="bg1"/>
                </a:solidFill>
              </a:defRPr>
            </a:lvl5pPr>
            <a:lvl6pPr marL="448288" indent="-221880">
              <a:spcAft>
                <a:spcPts val="1258"/>
              </a:spcAft>
              <a:buFont typeface="Verdana" panose="020B0604030504040204" pitchFamily="34" charset="0"/>
              <a:buChar char="−"/>
              <a:defRPr>
                <a:solidFill>
                  <a:schemeClr val="bg1"/>
                </a:solidFill>
              </a:defRPr>
            </a:lvl6pPr>
            <a:lvl7pPr marL="448288" indent="-221880">
              <a:spcAft>
                <a:spcPts val="1258"/>
              </a:spcAft>
              <a:defRPr>
                <a:solidFill>
                  <a:schemeClr val="bg1"/>
                </a:solidFill>
              </a:defRPr>
            </a:lvl7pPr>
            <a:lvl8pPr marL="448288" indent="-221880">
              <a:spcAft>
                <a:spcPts val="1258"/>
              </a:spcAft>
              <a:defRPr>
                <a:solidFill>
                  <a:schemeClr val="bg1"/>
                </a:solidFill>
              </a:defRPr>
            </a:lvl8pPr>
            <a:lvl9pPr marL="448288" indent="-221880">
              <a:spcAft>
                <a:spcPts val="1258"/>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8"/>
          <p:cNvSpPr>
            <a:spLocks noGrp="1"/>
          </p:cNvSpPr>
          <p:nvPr>
            <p:ph type="body" sz="quarter" idx="13" hasCustomPrompt="1"/>
          </p:nvPr>
        </p:nvSpPr>
        <p:spPr>
          <a:xfrm>
            <a:off x="501650" y="687694"/>
            <a:ext cx="11188701" cy="757255"/>
          </a:xfrm>
          <a:prstGeom prst="rect">
            <a:avLst/>
          </a:prstGeom>
        </p:spPr>
        <p:txBody>
          <a:bodyPr lIns="0" tIns="0" rIns="0" bIns="0">
            <a:noAutofit/>
          </a:bodyPr>
          <a:lstStyle>
            <a:lvl1pPr marL="0" indent="0">
              <a:buNone/>
              <a:defRPr sz="2282" b="0">
                <a:solidFill>
                  <a:schemeClr val="bg1"/>
                </a:solidFill>
              </a:defRPr>
            </a:lvl1pPr>
          </a:lstStyle>
          <a:p>
            <a:pPr lvl="0"/>
            <a:r>
              <a:rPr lang="en-US" noProof="0"/>
              <a:t>Click to add subtitle</a:t>
            </a:r>
          </a:p>
        </p:txBody>
      </p:sp>
      <p:sp>
        <p:nvSpPr>
          <p:cNvPr id="13" name="TextBox 12"/>
          <p:cNvSpPr txBox="1"/>
          <p:nvPr userDrawn="1"/>
        </p:nvSpPr>
        <p:spPr>
          <a:xfrm>
            <a:off x="6335184" y="6477002"/>
            <a:ext cx="4896561" cy="251736"/>
          </a:xfrm>
          <a:prstGeom prst="rect">
            <a:avLst/>
          </a:prstGeom>
          <a:noFill/>
        </p:spPr>
        <p:txBody>
          <a:bodyPr wrap="square" lIns="0" tIns="0" rIns="0" bIns="0" rtlCol="0">
            <a:spAutoFit/>
          </a:bodyPr>
          <a:lstStyle/>
          <a:p>
            <a:pPr marL="0" indent="0" algn="r">
              <a:spcBef>
                <a:spcPts val="0"/>
              </a:spcBef>
              <a:buSzPct val="100000"/>
              <a:buFont typeface="Arial"/>
              <a:buNone/>
            </a:pPr>
            <a:r>
              <a:rPr lang="en-US" sz="818" noProof="0">
                <a:solidFill>
                  <a:schemeClr val="bg1"/>
                </a:solidFill>
              </a:rPr>
              <a:t>Presentation title</a:t>
            </a:r>
            <a:br>
              <a:rPr lang="en-US" sz="818" noProof="0">
                <a:solidFill>
                  <a:schemeClr val="bg1"/>
                </a:solidFill>
              </a:rPr>
            </a:br>
            <a:r>
              <a:rPr lang="en-US" sz="818" noProof="0">
                <a:solidFill>
                  <a:schemeClr val="bg1"/>
                </a:solidFill>
              </a:rPr>
              <a:t>[To edit, click View &gt; Slide Master &gt; Slide Master]</a:t>
            </a:r>
          </a:p>
        </p:txBody>
      </p:sp>
      <p:sp>
        <p:nvSpPr>
          <p:cNvPr id="14" name="TextBox 13"/>
          <p:cNvSpPr txBox="1"/>
          <p:nvPr userDrawn="1"/>
        </p:nvSpPr>
        <p:spPr>
          <a:xfrm>
            <a:off x="501652" y="6477003"/>
            <a:ext cx="5355167" cy="125868"/>
          </a:xfrm>
          <a:prstGeom prst="rect">
            <a:avLst/>
          </a:prstGeom>
          <a:noFill/>
        </p:spPr>
        <p:txBody>
          <a:bodyPr wrap="square" lIns="0" tIns="0" rIns="0" bIns="0" rtlCol="0">
            <a:spAutoFit/>
          </a:bodyPr>
          <a:lstStyle/>
          <a:p>
            <a:pPr marL="0" indent="0">
              <a:spcBef>
                <a:spcPts val="755"/>
              </a:spcBef>
              <a:buSzPct val="100000"/>
              <a:buFont typeface="Arial"/>
              <a:buNone/>
            </a:pPr>
            <a:r>
              <a:rPr lang="fr-FR" sz="818" noProof="0">
                <a:solidFill>
                  <a:schemeClr val="bg1"/>
                </a:solidFill>
              </a:rPr>
              <a:t>© 2018 Deloitte Touche Tohmatsu India LLP</a:t>
            </a:r>
          </a:p>
        </p:txBody>
      </p:sp>
      <p:sp>
        <p:nvSpPr>
          <p:cNvPr id="15" name="TextBox 14"/>
          <p:cNvSpPr txBox="1"/>
          <p:nvPr userDrawn="1"/>
        </p:nvSpPr>
        <p:spPr>
          <a:xfrm>
            <a:off x="11382377" y="6477003"/>
            <a:ext cx="307974" cy="125868"/>
          </a:xfrm>
          <a:prstGeom prst="rect">
            <a:avLst/>
          </a:prstGeom>
          <a:noFill/>
        </p:spPr>
        <p:txBody>
          <a:bodyPr wrap="square" lIns="0" tIns="0" rIns="0" bIns="0" rtlCol="0">
            <a:spAutoFit/>
          </a:bodyPr>
          <a:lstStyle/>
          <a:p>
            <a:pPr marL="0" indent="0" algn="r">
              <a:spcBef>
                <a:spcPts val="755"/>
              </a:spcBef>
              <a:buSzPct val="100000"/>
              <a:buFont typeface="Arial"/>
              <a:buNone/>
            </a:pPr>
            <a:fld id="{C58DF478-B544-4ED8-9ED4-6A2648E2D233}" type="slidenum">
              <a:rPr lang="en-US" sz="818" noProof="0" smtClean="0">
                <a:solidFill>
                  <a:schemeClr val="bg1"/>
                </a:solidFill>
              </a:rPr>
              <a:pPr marL="0" indent="0" algn="r">
                <a:spcBef>
                  <a:spcPts val="755"/>
                </a:spcBef>
                <a:buSzPct val="100000"/>
                <a:buFont typeface="Arial"/>
                <a:buNone/>
              </a:pPr>
              <a:t>‹#›</a:t>
            </a:fld>
            <a:endParaRPr lang="en-US" sz="818" noProof="0">
              <a:solidFill>
                <a:schemeClr val="bg1"/>
              </a:solidFill>
            </a:endParaRPr>
          </a:p>
        </p:txBody>
      </p:sp>
    </p:spTree>
    <p:extLst>
      <p:ext uri="{BB962C8B-B14F-4D97-AF65-F5344CB8AC3E}">
        <p14:creationId xmlns:p14="http://schemas.microsoft.com/office/powerpoint/2010/main" val="1194844549"/>
      </p:ext>
    </p:extLst>
  </p:cSld>
  <p:clrMapOvr>
    <a:masterClrMapping/>
  </p:clrMapOvr>
  <p:transition>
    <p:fade/>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userDrawn="1">
  <p:cSld name="End slid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527050" y="4211958"/>
            <a:ext cx="8503538" cy="2169796"/>
          </a:xfrm>
        </p:spPr>
        <p:txBody>
          <a:bodyPr anchor="b" anchorCtr="0"/>
          <a:lstStyle>
            <a:lvl1pPr>
              <a:lnSpc>
                <a:spcPct val="100000"/>
              </a:lnSpc>
              <a:spcAft>
                <a:spcPts val="755"/>
              </a:spcAft>
              <a:defRPr sz="1133"/>
            </a:lvl1pPr>
          </a:lstStyle>
          <a:p>
            <a:pPr lvl="0"/>
            <a:r>
              <a:rPr lang="en-US"/>
              <a:t>Edit Master text styles</a:t>
            </a:r>
          </a:p>
        </p:txBody>
      </p:sp>
      <p:sp>
        <p:nvSpPr>
          <p:cNvPr id="3" name="Picture Placeholder 2"/>
          <p:cNvSpPr>
            <a:spLocks noGrp="1"/>
          </p:cNvSpPr>
          <p:nvPr>
            <p:ph type="pic" sz="quarter" idx="14" hasCustomPrompt="1"/>
          </p:nvPr>
        </p:nvSpPr>
        <p:spPr>
          <a:xfrm>
            <a:off x="9370849" y="4535908"/>
            <a:ext cx="2012854" cy="1401498"/>
          </a:xfrm>
        </p:spPr>
        <p:txBody>
          <a:bodyPr anchor="ctr" anchorCtr="0"/>
          <a:lstStyle>
            <a:lvl1pPr algn="ctr">
              <a:defRPr sz="1133"/>
            </a:lvl1pPr>
          </a:lstStyle>
          <a:p>
            <a:r>
              <a:rPr lang="en-GB" sz="1133"/>
              <a:t>Insert sponsorship mark here</a:t>
            </a:r>
            <a:endParaRPr lang="en-GB"/>
          </a:p>
        </p:txBody>
      </p:sp>
      <p:sp>
        <p:nvSpPr>
          <p:cNvPr id="8" name="Text Placeholder 7"/>
          <p:cNvSpPr>
            <a:spLocks noGrp="1"/>
          </p:cNvSpPr>
          <p:nvPr>
            <p:ph type="body" sz="quarter" idx="15"/>
          </p:nvPr>
        </p:nvSpPr>
        <p:spPr>
          <a:xfrm>
            <a:off x="9370852" y="6018031"/>
            <a:ext cx="2012852" cy="363722"/>
          </a:xfrm>
        </p:spPr>
        <p:txBody>
          <a:bodyPr anchor="b" anchorCtr="0"/>
          <a:lstStyle>
            <a:lvl1pPr>
              <a:lnSpc>
                <a:spcPct val="100000"/>
              </a:lnSpc>
              <a:defRPr sz="1195"/>
            </a:lvl1pPr>
          </a:lstStyle>
          <a:p>
            <a:pPr lvl="0"/>
            <a:r>
              <a:rPr lang="en-US"/>
              <a:t>Edit Master text styles</a:t>
            </a:r>
          </a:p>
        </p:txBody>
      </p:sp>
      <p:pic>
        <p:nvPicPr>
          <p:cNvPr id="9" name="LogoDisclaimerPage"/>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30929" y="421118"/>
            <a:ext cx="2141721" cy="938735"/>
          </a:xfrm>
          <a:prstGeom prst="rect">
            <a:avLst/>
          </a:prstGeom>
        </p:spPr>
      </p:pic>
    </p:spTree>
    <p:extLst>
      <p:ext uri="{BB962C8B-B14F-4D97-AF65-F5344CB8AC3E}">
        <p14:creationId xmlns:p14="http://schemas.microsoft.com/office/powerpoint/2010/main" val="369976693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image" Target="../media/image1.emf"/><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oleObject" Target="../embeddings/oleObject1.bin"/><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ags" Target="../tags/tag2.xml"/></Relationships>
</file>

<file path=ppt/slideMasters/_rels/slideMaster2.xml.rels><?xml version="1.0" encoding="UTF-8" standalone="yes"?>
<Relationships xmlns="http://schemas.openxmlformats.org/package/2006/relationships"><Relationship Id="rId26" Type="http://schemas.openxmlformats.org/officeDocument/2006/relationships/slideLayout" Target="../slideLayouts/slideLayout38.xml"/><Relationship Id="rId21" Type="http://schemas.openxmlformats.org/officeDocument/2006/relationships/slideLayout" Target="../slideLayouts/slideLayout33.xml"/><Relationship Id="rId42" Type="http://schemas.openxmlformats.org/officeDocument/2006/relationships/slideLayout" Target="../slideLayouts/slideLayout54.xml"/><Relationship Id="rId47" Type="http://schemas.openxmlformats.org/officeDocument/2006/relationships/slideLayout" Target="../slideLayouts/slideLayout59.xml"/><Relationship Id="rId63" Type="http://schemas.openxmlformats.org/officeDocument/2006/relationships/slideLayout" Target="../slideLayouts/slideLayout75.xml"/><Relationship Id="rId68" Type="http://schemas.openxmlformats.org/officeDocument/2006/relationships/slideLayout" Target="../slideLayouts/slideLayout80.xml"/><Relationship Id="rId2" Type="http://schemas.openxmlformats.org/officeDocument/2006/relationships/slideLayout" Target="../slideLayouts/slideLayout14.xml"/><Relationship Id="rId16" Type="http://schemas.openxmlformats.org/officeDocument/2006/relationships/slideLayout" Target="../slideLayouts/slideLayout28.xml"/><Relationship Id="rId29" Type="http://schemas.openxmlformats.org/officeDocument/2006/relationships/slideLayout" Target="../slideLayouts/slideLayout41.xml"/><Relationship Id="rId11" Type="http://schemas.openxmlformats.org/officeDocument/2006/relationships/slideLayout" Target="../slideLayouts/slideLayout23.xml"/><Relationship Id="rId24" Type="http://schemas.openxmlformats.org/officeDocument/2006/relationships/slideLayout" Target="../slideLayouts/slideLayout36.xml"/><Relationship Id="rId32" Type="http://schemas.openxmlformats.org/officeDocument/2006/relationships/slideLayout" Target="../slideLayouts/slideLayout44.xml"/><Relationship Id="rId37" Type="http://schemas.openxmlformats.org/officeDocument/2006/relationships/slideLayout" Target="../slideLayouts/slideLayout49.xml"/><Relationship Id="rId40" Type="http://schemas.openxmlformats.org/officeDocument/2006/relationships/slideLayout" Target="../slideLayouts/slideLayout52.xml"/><Relationship Id="rId45" Type="http://schemas.openxmlformats.org/officeDocument/2006/relationships/slideLayout" Target="../slideLayouts/slideLayout57.xml"/><Relationship Id="rId53" Type="http://schemas.openxmlformats.org/officeDocument/2006/relationships/slideLayout" Target="../slideLayouts/slideLayout65.xml"/><Relationship Id="rId58" Type="http://schemas.openxmlformats.org/officeDocument/2006/relationships/slideLayout" Target="../slideLayouts/slideLayout70.xml"/><Relationship Id="rId66" Type="http://schemas.openxmlformats.org/officeDocument/2006/relationships/slideLayout" Target="../slideLayouts/slideLayout78.xml"/><Relationship Id="rId74" Type="http://schemas.openxmlformats.org/officeDocument/2006/relationships/tags" Target="../tags/tag5.xml"/><Relationship Id="rId5" Type="http://schemas.openxmlformats.org/officeDocument/2006/relationships/slideLayout" Target="../slideLayouts/slideLayout17.xml"/><Relationship Id="rId61" Type="http://schemas.openxmlformats.org/officeDocument/2006/relationships/slideLayout" Target="../slideLayouts/slideLayout73.xml"/><Relationship Id="rId19" Type="http://schemas.openxmlformats.org/officeDocument/2006/relationships/slideLayout" Target="../slideLayouts/slideLayout31.xml"/><Relationship Id="rId14" Type="http://schemas.openxmlformats.org/officeDocument/2006/relationships/slideLayout" Target="../slideLayouts/slideLayout26.xml"/><Relationship Id="rId22" Type="http://schemas.openxmlformats.org/officeDocument/2006/relationships/slideLayout" Target="../slideLayouts/slideLayout34.xml"/><Relationship Id="rId27" Type="http://schemas.openxmlformats.org/officeDocument/2006/relationships/slideLayout" Target="../slideLayouts/slideLayout39.xml"/><Relationship Id="rId30" Type="http://schemas.openxmlformats.org/officeDocument/2006/relationships/slideLayout" Target="../slideLayouts/slideLayout42.xml"/><Relationship Id="rId35" Type="http://schemas.openxmlformats.org/officeDocument/2006/relationships/slideLayout" Target="../slideLayouts/slideLayout47.xml"/><Relationship Id="rId43" Type="http://schemas.openxmlformats.org/officeDocument/2006/relationships/slideLayout" Target="../slideLayouts/slideLayout55.xml"/><Relationship Id="rId48" Type="http://schemas.openxmlformats.org/officeDocument/2006/relationships/slideLayout" Target="../slideLayouts/slideLayout60.xml"/><Relationship Id="rId56" Type="http://schemas.openxmlformats.org/officeDocument/2006/relationships/slideLayout" Target="../slideLayouts/slideLayout68.xml"/><Relationship Id="rId64" Type="http://schemas.openxmlformats.org/officeDocument/2006/relationships/slideLayout" Target="../slideLayouts/slideLayout76.xml"/><Relationship Id="rId69" Type="http://schemas.openxmlformats.org/officeDocument/2006/relationships/slideLayout" Target="../slideLayouts/slideLayout81.xml"/><Relationship Id="rId8" Type="http://schemas.openxmlformats.org/officeDocument/2006/relationships/slideLayout" Target="../slideLayouts/slideLayout20.xml"/><Relationship Id="rId51" Type="http://schemas.openxmlformats.org/officeDocument/2006/relationships/slideLayout" Target="../slideLayouts/slideLayout63.xml"/><Relationship Id="rId72" Type="http://schemas.openxmlformats.org/officeDocument/2006/relationships/theme" Target="../theme/theme2.xml"/><Relationship Id="rId3" Type="http://schemas.openxmlformats.org/officeDocument/2006/relationships/slideLayout" Target="../slideLayouts/slideLayout15.xml"/><Relationship Id="rId12" Type="http://schemas.openxmlformats.org/officeDocument/2006/relationships/slideLayout" Target="../slideLayouts/slideLayout24.xml"/><Relationship Id="rId17" Type="http://schemas.openxmlformats.org/officeDocument/2006/relationships/slideLayout" Target="../slideLayouts/slideLayout29.xml"/><Relationship Id="rId25" Type="http://schemas.openxmlformats.org/officeDocument/2006/relationships/slideLayout" Target="../slideLayouts/slideLayout37.xml"/><Relationship Id="rId33" Type="http://schemas.openxmlformats.org/officeDocument/2006/relationships/slideLayout" Target="../slideLayouts/slideLayout45.xml"/><Relationship Id="rId38" Type="http://schemas.openxmlformats.org/officeDocument/2006/relationships/slideLayout" Target="../slideLayouts/slideLayout50.xml"/><Relationship Id="rId46" Type="http://schemas.openxmlformats.org/officeDocument/2006/relationships/slideLayout" Target="../slideLayouts/slideLayout58.xml"/><Relationship Id="rId59" Type="http://schemas.openxmlformats.org/officeDocument/2006/relationships/slideLayout" Target="../slideLayouts/slideLayout71.xml"/><Relationship Id="rId67" Type="http://schemas.openxmlformats.org/officeDocument/2006/relationships/slideLayout" Target="../slideLayouts/slideLayout79.xml"/><Relationship Id="rId20" Type="http://schemas.openxmlformats.org/officeDocument/2006/relationships/slideLayout" Target="../slideLayouts/slideLayout32.xml"/><Relationship Id="rId41" Type="http://schemas.openxmlformats.org/officeDocument/2006/relationships/slideLayout" Target="../slideLayouts/slideLayout53.xml"/><Relationship Id="rId54" Type="http://schemas.openxmlformats.org/officeDocument/2006/relationships/slideLayout" Target="../slideLayouts/slideLayout66.xml"/><Relationship Id="rId62" Type="http://schemas.openxmlformats.org/officeDocument/2006/relationships/slideLayout" Target="../slideLayouts/slideLayout74.xml"/><Relationship Id="rId70" Type="http://schemas.openxmlformats.org/officeDocument/2006/relationships/slideLayout" Target="../slideLayouts/slideLayout82.xml"/><Relationship Id="rId75" Type="http://schemas.openxmlformats.org/officeDocument/2006/relationships/oleObject" Target="../embeddings/oleObject3.bin"/><Relationship Id="rId1" Type="http://schemas.openxmlformats.org/officeDocument/2006/relationships/slideLayout" Target="../slideLayouts/slideLayout13.xml"/><Relationship Id="rId6" Type="http://schemas.openxmlformats.org/officeDocument/2006/relationships/slideLayout" Target="../slideLayouts/slideLayout18.xml"/><Relationship Id="rId15" Type="http://schemas.openxmlformats.org/officeDocument/2006/relationships/slideLayout" Target="../slideLayouts/slideLayout27.xml"/><Relationship Id="rId23" Type="http://schemas.openxmlformats.org/officeDocument/2006/relationships/slideLayout" Target="../slideLayouts/slideLayout35.xml"/><Relationship Id="rId28" Type="http://schemas.openxmlformats.org/officeDocument/2006/relationships/slideLayout" Target="../slideLayouts/slideLayout40.xml"/><Relationship Id="rId36" Type="http://schemas.openxmlformats.org/officeDocument/2006/relationships/slideLayout" Target="../slideLayouts/slideLayout48.xml"/><Relationship Id="rId49" Type="http://schemas.openxmlformats.org/officeDocument/2006/relationships/slideLayout" Target="../slideLayouts/slideLayout61.xml"/><Relationship Id="rId57" Type="http://schemas.openxmlformats.org/officeDocument/2006/relationships/slideLayout" Target="../slideLayouts/slideLayout69.xml"/><Relationship Id="rId10" Type="http://schemas.openxmlformats.org/officeDocument/2006/relationships/slideLayout" Target="../slideLayouts/slideLayout22.xml"/><Relationship Id="rId31" Type="http://schemas.openxmlformats.org/officeDocument/2006/relationships/slideLayout" Target="../slideLayouts/slideLayout43.xml"/><Relationship Id="rId44" Type="http://schemas.openxmlformats.org/officeDocument/2006/relationships/slideLayout" Target="../slideLayouts/slideLayout56.xml"/><Relationship Id="rId52" Type="http://schemas.openxmlformats.org/officeDocument/2006/relationships/slideLayout" Target="../slideLayouts/slideLayout64.xml"/><Relationship Id="rId60" Type="http://schemas.openxmlformats.org/officeDocument/2006/relationships/slideLayout" Target="../slideLayouts/slideLayout72.xml"/><Relationship Id="rId65" Type="http://schemas.openxmlformats.org/officeDocument/2006/relationships/slideLayout" Target="../slideLayouts/slideLayout77.xml"/><Relationship Id="rId73" Type="http://schemas.openxmlformats.org/officeDocument/2006/relationships/tags" Target="../tags/tag4.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3" Type="http://schemas.openxmlformats.org/officeDocument/2006/relationships/slideLayout" Target="../slideLayouts/slideLayout25.xml"/><Relationship Id="rId18" Type="http://schemas.openxmlformats.org/officeDocument/2006/relationships/slideLayout" Target="../slideLayouts/slideLayout30.xml"/><Relationship Id="rId39" Type="http://schemas.openxmlformats.org/officeDocument/2006/relationships/slideLayout" Target="../slideLayouts/slideLayout51.xml"/><Relationship Id="rId34" Type="http://schemas.openxmlformats.org/officeDocument/2006/relationships/slideLayout" Target="../slideLayouts/slideLayout46.xml"/><Relationship Id="rId50" Type="http://schemas.openxmlformats.org/officeDocument/2006/relationships/slideLayout" Target="../slideLayouts/slideLayout62.xml"/><Relationship Id="rId55" Type="http://schemas.openxmlformats.org/officeDocument/2006/relationships/slideLayout" Target="../slideLayouts/slideLayout67.xml"/><Relationship Id="rId76" Type="http://schemas.openxmlformats.org/officeDocument/2006/relationships/image" Target="../media/image4.emf"/><Relationship Id="rId7" Type="http://schemas.openxmlformats.org/officeDocument/2006/relationships/slideLayout" Target="../slideLayouts/slideLayout19.xml"/><Relationship Id="rId71" Type="http://schemas.openxmlformats.org/officeDocument/2006/relationships/slideLayout" Target="../slideLayouts/slideLayout83.xml"/></Relationships>
</file>

<file path=ppt/slideMasters/_rels/slideMaster3.xml.rels><?xml version="1.0" encoding="UTF-8" standalone="yes"?>
<Relationships xmlns="http://schemas.openxmlformats.org/package/2006/relationships"><Relationship Id="rId26" Type="http://schemas.openxmlformats.org/officeDocument/2006/relationships/slideLayout" Target="../slideLayouts/slideLayout109.xml"/><Relationship Id="rId21" Type="http://schemas.openxmlformats.org/officeDocument/2006/relationships/slideLayout" Target="../slideLayouts/slideLayout104.xml"/><Relationship Id="rId42" Type="http://schemas.openxmlformats.org/officeDocument/2006/relationships/slideLayout" Target="../slideLayouts/slideLayout125.xml"/><Relationship Id="rId47" Type="http://schemas.openxmlformats.org/officeDocument/2006/relationships/slideLayout" Target="../slideLayouts/slideLayout130.xml"/><Relationship Id="rId63" Type="http://schemas.openxmlformats.org/officeDocument/2006/relationships/slideLayout" Target="../slideLayouts/slideLayout146.xml"/><Relationship Id="rId68" Type="http://schemas.openxmlformats.org/officeDocument/2006/relationships/slideLayout" Target="../slideLayouts/slideLayout151.xml"/><Relationship Id="rId2" Type="http://schemas.openxmlformats.org/officeDocument/2006/relationships/slideLayout" Target="../slideLayouts/slideLayout85.xml"/><Relationship Id="rId16" Type="http://schemas.openxmlformats.org/officeDocument/2006/relationships/slideLayout" Target="../slideLayouts/slideLayout99.xml"/><Relationship Id="rId29" Type="http://schemas.openxmlformats.org/officeDocument/2006/relationships/slideLayout" Target="../slideLayouts/slideLayout112.xml"/><Relationship Id="rId11" Type="http://schemas.openxmlformats.org/officeDocument/2006/relationships/slideLayout" Target="../slideLayouts/slideLayout94.xml"/><Relationship Id="rId24" Type="http://schemas.openxmlformats.org/officeDocument/2006/relationships/slideLayout" Target="../slideLayouts/slideLayout107.xml"/><Relationship Id="rId32" Type="http://schemas.openxmlformats.org/officeDocument/2006/relationships/slideLayout" Target="../slideLayouts/slideLayout115.xml"/><Relationship Id="rId37" Type="http://schemas.openxmlformats.org/officeDocument/2006/relationships/slideLayout" Target="../slideLayouts/slideLayout120.xml"/><Relationship Id="rId40" Type="http://schemas.openxmlformats.org/officeDocument/2006/relationships/slideLayout" Target="../slideLayouts/slideLayout123.xml"/><Relationship Id="rId45" Type="http://schemas.openxmlformats.org/officeDocument/2006/relationships/slideLayout" Target="../slideLayouts/slideLayout128.xml"/><Relationship Id="rId53" Type="http://schemas.openxmlformats.org/officeDocument/2006/relationships/slideLayout" Target="../slideLayouts/slideLayout136.xml"/><Relationship Id="rId58" Type="http://schemas.openxmlformats.org/officeDocument/2006/relationships/slideLayout" Target="../slideLayouts/slideLayout141.xml"/><Relationship Id="rId66" Type="http://schemas.openxmlformats.org/officeDocument/2006/relationships/slideLayout" Target="../slideLayouts/slideLayout149.xml"/><Relationship Id="rId74" Type="http://schemas.openxmlformats.org/officeDocument/2006/relationships/oleObject" Target="../embeddings/oleObject11.bin"/><Relationship Id="rId5" Type="http://schemas.openxmlformats.org/officeDocument/2006/relationships/slideLayout" Target="../slideLayouts/slideLayout88.xml"/><Relationship Id="rId61" Type="http://schemas.openxmlformats.org/officeDocument/2006/relationships/slideLayout" Target="../slideLayouts/slideLayout144.xml"/><Relationship Id="rId19" Type="http://schemas.openxmlformats.org/officeDocument/2006/relationships/slideLayout" Target="../slideLayouts/slideLayout102.xml"/><Relationship Id="rId14" Type="http://schemas.openxmlformats.org/officeDocument/2006/relationships/slideLayout" Target="../slideLayouts/slideLayout97.xml"/><Relationship Id="rId22" Type="http://schemas.openxmlformats.org/officeDocument/2006/relationships/slideLayout" Target="../slideLayouts/slideLayout105.xml"/><Relationship Id="rId27" Type="http://schemas.openxmlformats.org/officeDocument/2006/relationships/slideLayout" Target="../slideLayouts/slideLayout110.xml"/><Relationship Id="rId30" Type="http://schemas.openxmlformats.org/officeDocument/2006/relationships/slideLayout" Target="../slideLayouts/slideLayout113.xml"/><Relationship Id="rId35" Type="http://schemas.openxmlformats.org/officeDocument/2006/relationships/slideLayout" Target="../slideLayouts/slideLayout118.xml"/><Relationship Id="rId43" Type="http://schemas.openxmlformats.org/officeDocument/2006/relationships/slideLayout" Target="../slideLayouts/slideLayout126.xml"/><Relationship Id="rId48" Type="http://schemas.openxmlformats.org/officeDocument/2006/relationships/slideLayout" Target="../slideLayouts/slideLayout131.xml"/><Relationship Id="rId56" Type="http://schemas.openxmlformats.org/officeDocument/2006/relationships/slideLayout" Target="../slideLayouts/slideLayout139.xml"/><Relationship Id="rId64" Type="http://schemas.openxmlformats.org/officeDocument/2006/relationships/slideLayout" Target="../slideLayouts/slideLayout147.xml"/><Relationship Id="rId69" Type="http://schemas.openxmlformats.org/officeDocument/2006/relationships/slideLayout" Target="../slideLayouts/slideLayout152.xml"/><Relationship Id="rId8" Type="http://schemas.openxmlformats.org/officeDocument/2006/relationships/slideLayout" Target="../slideLayouts/slideLayout91.xml"/><Relationship Id="rId51" Type="http://schemas.openxmlformats.org/officeDocument/2006/relationships/slideLayout" Target="../slideLayouts/slideLayout134.xml"/><Relationship Id="rId72" Type="http://schemas.openxmlformats.org/officeDocument/2006/relationships/tags" Target="../tags/tag20.xml"/><Relationship Id="rId3" Type="http://schemas.openxmlformats.org/officeDocument/2006/relationships/slideLayout" Target="../slideLayouts/slideLayout86.xml"/><Relationship Id="rId12" Type="http://schemas.openxmlformats.org/officeDocument/2006/relationships/slideLayout" Target="../slideLayouts/slideLayout95.xml"/><Relationship Id="rId17" Type="http://schemas.openxmlformats.org/officeDocument/2006/relationships/slideLayout" Target="../slideLayouts/slideLayout100.xml"/><Relationship Id="rId25" Type="http://schemas.openxmlformats.org/officeDocument/2006/relationships/slideLayout" Target="../slideLayouts/slideLayout108.xml"/><Relationship Id="rId33" Type="http://schemas.openxmlformats.org/officeDocument/2006/relationships/slideLayout" Target="../slideLayouts/slideLayout116.xml"/><Relationship Id="rId38" Type="http://schemas.openxmlformats.org/officeDocument/2006/relationships/slideLayout" Target="../slideLayouts/slideLayout121.xml"/><Relationship Id="rId46" Type="http://schemas.openxmlformats.org/officeDocument/2006/relationships/slideLayout" Target="../slideLayouts/slideLayout129.xml"/><Relationship Id="rId59" Type="http://schemas.openxmlformats.org/officeDocument/2006/relationships/slideLayout" Target="../slideLayouts/slideLayout142.xml"/><Relationship Id="rId67" Type="http://schemas.openxmlformats.org/officeDocument/2006/relationships/slideLayout" Target="../slideLayouts/slideLayout150.xml"/><Relationship Id="rId20" Type="http://schemas.openxmlformats.org/officeDocument/2006/relationships/slideLayout" Target="../slideLayouts/slideLayout103.xml"/><Relationship Id="rId41" Type="http://schemas.openxmlformats.org/officeDocument/2006/relationships/slideLayout" Target="../slideLayouts/slideLayout124.xml"/><Relationship Id="rId54" Type="http://schemas.openxmlformats.org/officeDocument/2006/relationships/slideLayout" Target="../slideLayouts/slideLayout137.xml"/><Relationship Id="rId62" Type="http://schemas.openxmlformats.org/officeDocument/2006/relationships/slideLayout" Target="../slideLayouts/slideLayout145.xml"/><Relationship Id="rId70" Type="http://schemas.openxmlformats.org/officeDocument/2006/relationships/slideLayout" Target="../slideLayouts/slideLayout153.xml"/><Relationship Id="rId75" Type="http://schemas.openxmlformats.org/officeDocument/2006/relationships/image" Target="../media/image4.emf"/><Relationship Id="rId1" Type="http://schemas.openxmlformats.org/officeDocument/2006/relationships/slideLayout" Target="../slideLayouts/slideLayout84.xml"/><Relationship Id="rId6" Type="http://schemas.openxmlformats.org/officeDocument/2006/relationships/slideLayout" Target="../slideLayouts/slideLayout89.xml"/><Relationship Id="rId15" Type="http://schemas.openxmlformats.org/officeDocument/2006/relationships/slideLayout" Target="../slideLayouts/slideLayout98.xml"/><Relationship Id="rId23" Type="http://schemas.openxmlformats.org/officeDocument/2006/relationships/slideLayout" Target="../slideLayouts/slideLayout106.xml"/><Relationship Id="rId28" Type="http://schemas.openxmlformats.org/officeDocument/2006/relationships/slideLayout" Target="../slideLayouts/slideLayout111.xml"/><Relationship Id="rId36" Type="http://schemas.openxmlformats.org/officeDocument/2006/relationships/slideLayout" Target="../slideLayouts/slideLayout119.xml"/><Relationship Id="rId49" Type="http://schemas.openxmlformats.org/officeDocument/2006/relationships/slideLayout" Target="../slideLayouts/slideLayout132.xml"/><Relationship Id="rId57" Type="http://schemas.openxmlformats.org/officeDocument/2006/relationships/slideLayout" Target="../slideLayouts/slideLayout140.xml"/><Relationship Id="rId10" Type="http://schemas.openxmlformats.org/officeDocument/2006/relationships/slideLayout" Target="../slideLayouts/slideLayout93.xml"/><Relationship Id="rId31" Type="http://schemas.openxmlformats.org/officeDocument/2006/relationships/slideLayout" Target="../slideLayouts/slideLayout114.xml"/><Relationship Id="rId44" Type="http://schemas.openxmlformats.org/officeDocument/2006/relationships/slideLayout" Target="../slideLayouts/slideLayout127.xml"/><Relationship Id="rId52" Type="http://schemas.openxmlformats.org/officeDocument/2006/relationships/slideLayout" Target="../slideLayouts/slideLayout135.xml"/><Relationship Id="rId60" Type="http://schemas.openxmlformats.org/officeDocument/2006/relationships/slideLayout" Target="../slideLayouts/slideLayout143.xml"/><Relationship Id="rId65" Type="http://schemas.openxmlformats.org/officeDocument/2006/relationships/slideLayout" Target="../slideLayouts/slideLayout148.xml"/><Relationship Id="rId73" Type="http://schemas.openxmlformats.org/officeDocument/2006/relationships/tags" Target="../tags/tag21.xml"/><Relationship Id="rId4" Type="http://schemas.openxmlformats.org/officeDocument/2006/relationships/slideLayout" Target="../slideLayouts/slideLayout87.xml"/><Relationship Id="rId9" Type="http://schemas.openxmlformats.org/officeDocument/2006/relationships/slideLayout" Target="../slideLayouts/slideLayout92.xml"/><Relationship Id="rId13" Type="http://schemas.openxmlformats.org/officeDocument/2006/relationships/slideLayout" Target="../slideLayouts/slideLayout96.xml"/><Relationship Id="rId18" Type="http://schemas.openxmlformats.org/officeDocument/2006/relationships/slideLayout" Target="../slideLayouts/slideLayout101.xml"/><Relationship Id="rId39" Type="http://schemas.openxmlformats.org/officeDocument/2006/relationships/slideLayout" Target="../slideLayouts/slideLayout122.xml"/><Relationship Id="rId34" Type="http://schemas.openxmlformats.org/officeDocument/2006/relationships/slideLayout" Target="../slideLayouts/slideLayout117.xml"/><Relationship Id="rId50" Type="http://schemas.openxmlformats.org/officeDocument/2006/relationships/slideLayout" Target="../slideLayouts/slideLayout133.xml"/><Relationship Id="rId55" Type="http://schemas.openxmlformats.org/officeDocument/2006/relationships/slideLayout" Target="../slideLayouts/slideLayout138.xml"/><Relationship Id="rId76" Type="http://schemas.openxmlformats.org/officeDocument/2006/relationships/image" Target="../media/image8.png"/><Relationship Id="rId7" Type="http://schemas.openxmlformats.org/officeDocument/2006/relationships/slideLayout" Target="../slideLayouts/slideLayout90.xml"/><Relationship Id="rId71"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39DBD3AC-C23C-DFE3-AF18-F05BCD4D7C0B}"/>
              </a:ext>
            </a:extLst>
          </p:cNvPr>
          <p:cNvGraphicFramePr>
            <a:graphicFrameLocks noChangeAspect="1"/>
          </p:cNvGraphicFramePr>
          <p:nvPr userDrawn="1">
            <p:custDataLst>
              <p:tags r:id="rId14"/>
            </p:custDataLst>
            <p:extLst>
              <p:ext uri="{D42A27DB-BD31-4B8C-83A1-F6EECF244321}">
                <p14:modId xmlns:p14="http://schemas.microsoft.com/office/powerpoint/2010/main" val="20870931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5" imgW="415" imgH="416" progId="TCLayout.ActiveDocument.1">
                  <p:embed/>
                </p:oleObj>
              </mc:Choice>
              <mc:Fallback>
                <p:oleObj name="think-cell Slide" r:id="rId15" imgW="415" imgH="416" progId="TCLayout.ActiveDocument.1">
                  <p:embed/>
                  <p:pic>
                    <p:nvPicPr>
                      <p:cNvPr id="8" name="think-cell data - do not delete" hidden="1">
                        <a:extLst>
                          <a:ext uri="{FF2B5EF4-FFF2-40B4-BE49-F238E27FC236}">
                            <a16:creationId xmlns:a16="http://schemas.microsoft.com/office/drawing/2014/main" id="{39DBD3AC-C23C-DFE3-AF18-F05BCD4D7C0B}"/>
                          </a:ext>
                        </a:extLst>
                      </p:cNvPr>
                      <p:cNvPicPr/>
                      <p:nvPr/>
                    </p:nvPicPr>
                    <p:blipFill>
                      <a:blip r:embed="rId16"/>
                      <a:stretch>
                        <a:fillRect/>
                      </a:stretch>
                    </p:blipFill>
                    <p:spPr>
                      <a:xfrm>
                        <a:off x="1588" y="1588"/>
                        <a:ext cx="1588" cy="1588"/>
                      </a:xfrm>
                      <a:prstGeom prst="rect">
                        <a:avLst/>
                      </a:prstGeom>
                    </p:spPr>
                  </p:pic>
                </p:oleObj>
              </mc:Fallback>
            </mc:AlternateContent>
          </a:graphicData>
        </a:graphic>
      </p:graphicFrame>
      <p:sp>
        <p:nvSpPr>
          <p:cNvPr id="2" name="Title Placeholder 1">
            <a:extLst>
              <a:ext uri="{FF2B5EF4-FFF2-40B4-BE49-F238E27FC236}">
                <a16:creationId xmlns:a16="http://schemas.microsoft.com/office/drawing/2014/main" id="{DC9E5A9B-8593-E13B-E15B-165D5DC399F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12996821-DD02-8632-8E62-959152A8234C}"/>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21204F5-0F16-2600-F7F9-A2E6A9514C66}"/>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D8AF5CB-983F-4B68-8D05-C4BF00E17053}" type="datetimeFigureOut">
              <a:rPr lang="en-US" smtClean="0"/>
              <a:t>06-Aug-25</a:t>
            </a:fld>
            <a:endParaRPr lang="en-US"/>
          </a:p>
        </p:txBody>
      </p:sp>
      <p:sp>
        <p:nvSpPr>
          <p:cNvPr id="5" name="Footer Placeholder 4">
            <a:extLst>
              <a:ext uri="{FF2B5EF4-FFF2-40B4-BE49-F238E27FC236}">
                <a16:creationId xmlns:a16="http://schemas.microsoft.com/office/drawing/2014/main" id="{477B0D90-83B8-FB97-353E-425E7053F3D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9B40F21F-A9E6-1A7E-A661-65101A18DE6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E17F8B3-9A79-4614-89A2-91F7614C1421}" type="slidenum">
              <a:rPr lang="en-US" smtClean="0"/>
              <a:t>‹#›</a:t>
            </a:fld>
            <a:endParaRPr lang="en-US"/>
          </a:p>
        </p:txBody>
      </p:sp>
    </p:spTree>
    <p:extLst>
      <p:ext uri="{BB962C8B-B14F-4D97-AF65-F5344CB8AC3E}">
        <p14:creationId xmlns:p14="http://schemas.microsoft.com/office/powerpoint/2010/main" val="305716474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73"/>
            </p:custDataLst>
            <p:extLst>
              <p:ext uri="{D42A27DB-BD31-4B8C-83A1-F6EECF244321}">
                <p14:modId xmlns:p14="http://schemas.microsoft.com/office/powerpoint/2010/main" val="4180174693"/>
              </p:ext>
            </p:extLst>
          </p:nvPr>
        </p:nvGraphicFramePr>
        <p:xfrm>
          <a:off x="2119" y="1590"/>
          <a:ext cx="2116" cy="1587"/>
        </p:xfrm>
        <a:graphic>
          <a:graphicData uri="http://schemas.openxmlformats.org/presentationml/2006/ole">
            <mc:AlternateContent xmlns:mc="http://schemas.openxmlformats.org/markup-compatibility/2006">
              <mc:Choice xmlns:v="urn:schemas-microsoft-com:vml" Requires="v">
                <p:oleObj name="think-cell Slide" r:id="rId75" imgW="270" imgH="270" progId="TCLayout.ActiveDocument.1">
                  <p:embed/>
                </p:oleObj>
              </mc:Choice>
              <mc:Fallback>
                <p:oleObj name="think-cell Slide" r:id="rId75" imgW="270" imgH="270" progId="TCLayout.ActiveDocument.1">
                  <p:embed/>
                  <p:pic>
                    <p:nvPicPr>
                      <p:cNvPr id="4" name="Object 3" hidden="1"/>
                      <p:cNvPicPr/>
                      <p:nvPr/>
                    </p:nvPicPr>
                    <p:blipFill>
                      <a:blip r:embed="rId76"/>
                      <a:stretch>
                        <a:fillRect/>
                      </a:stretch>
                    </p:blipFill>
                    <p:spPr>
                      <a:xfrm>
                        <a:off x="2119" y="1590"/>
                        <a:ext cx="2116" cy="1587"/>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E77A6D44-03D8-4B5C-A44F-DFA19D29D686}"/>
              </a:ext>
            </a:extLst>
          </p:cNvPr>
          <p:cNvSpPr/>
          <p:nvPr userDrawn="1">
            <p:custDataLst>
              <p:tags r:id="rId74"/>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marL="0" lvl="0" indent="0" algn="ctr">
              <a:lnSpc>
                <a:spcPct val="106000"/>
              </a:lnSpc>
              <a:buFont typeface="Wingdings 2" pitchFamily="18" charset="2"/>
              <a:buNone/>
            </a:pPr>
            <a:endParaRPr lang="en-US" sz="2100" b="0" i="0" baseline="0">
              <a:solidFill>
                <a:schemeClr val="bg1"/>
              </a:solidFill>
              <a:latin typeface="Calibri" panose="020F0502020204030204" pitchFamily="34" charset="0"/>
              <a:ea typeface="+mj-ea"/>
              <a:cs typeface="Calibri Light" panose="020F0302020204030204" pitchFamily="34" charset="0"/>
              <a:sym typeface="Calibri" panose="020F0502020204030204" pitchFamily="34" charset="0"/>
            </a:endParaRPr>
          </a:p>
        </p:txBody>
      </p:sp>
      <p:sp>
        <p:nvSpPr>
          <p:cNvPr id="2" name="Title Placeholder 1"/>
          <p:cNvSpPr>
            <a:spLocks noGrp="1"/>
          </p:cNvSpPr>
          <p:nvPr>
            <p:ph type="title"/>
          </p:nvPr>
        </p:nvSpPr>
        <p:spPr bwMode="gray">
          <a:xfrm>
            <a:off x="501652" y="317502"/>
            <a:ext cx="11188700" cy="309820"/>
          </a:xfrm>
          <a:prstGeom prst="rect">
            <a:avLst/>
          </a:prstGeom>
        </p:spPr>
        <p:txBody>
          <a:bodyPr vert="horz" lIns="0" tIns="0" rIns="0" bIns="0" rtlCol="0" anchor="t" anchorCtr="0">
            <a:noAutofit/>
          </a:bodyPr>
          <a:lstStyle/>
          <a:p>
            <a:r>
              <a:rPr lang="en-US" noProof="0"/>
              <a:t>Click to edit Master title style</a:t>
            </a:r>
          </a:p>
        </p:txBody>
      </p:sp>
      <p:sp>
        <p:nvSpPr>
          <p:cNvPr id="19" name="Text Placeholder 18"/>
          <p:cNvSpPr>
            <a:spLocks noGrp="1"/>
          </p:cNvSpPr>
          <p:nvPr>
            <p:ph type="body" idx="1"/>
          </p:nvPr>
        </p:nvSpPr>
        <p:spPr>
          <a:xfrm>
            <a:off x="501651" y="1665290"/>
            <a:ext cx="11188700" cy="4716462"/>
          </a:xfrm>
          <a:prstGeom prst="rect">
            <a:avLst/>
          </a:prstGeom>
        </p:spPr>
        <p:txBody>
          <a:bodyPr vert="horz" lIns="0" tIns="0" rIns="0" bIns="0" rtlCol="0">
            <a:normAutofit/>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 name="Rectangle 2">
            <a:extLst>
              <a:ext uri="{FF2B5EF4-FFF2-40B4-BE49-F238E27FC236}">
                <a16:creationId xmlns:a16="http://schemas.microsoft.com/office/drawing/2014/main" id="{C69DBDC7-DF0D-40FE-8DE0-1C33F8DF42EC}"/>
              </a:ext>
            </a:extLst>
          </p:cNvPr>
          <p:cNvSpPr/>
          <p:nvPr/>
        </p:nvSpPr>
        <p:spPr>
          <a:xfrm>
            <a:off x="11826631" y="6559986"/>
            <a:ext cx="157094" cy="153888"/>
          </a:xfrm>
          <a:prstGeom prst="rect">
            <a:avLst/>
          </a:prstGeom>
        </p:spPr>
        <p:txBody>
          <a:bodyPr wrap="none" lIns="0" tIns="0" rIns="0" bIns="0">
            <a:spAutoFit/>
          </a:bodyPr>
          <a:lstStyle/>
          <a:p>
            <a:fld id="{C58DF478-B544-4ED8-9ED4-6A2648E2D233}" type="slidenum">
              <a:rPr lang="en-US" sz="1000" noProof="0" smtClean="0">
                <a:solidFill>
                  <a:schemeClr val="tx1"/>
                </a:solidFill>
                <a:latin typeface="Arial" panose="020B0604020202020204" pitchFamily="34" charset="0"/>
                <a:cs typeface="Arial" panose="020B0604020202020204" pitchFamily="34" charset="0"/>
              </a:rPr>
              <a:pPr/>
              <a:t>‹#›</a:t>
            </a:fld>
            <a:endParaRPr lang="en-US" sz="90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6172673"/>
      </p:ext>
    </p:extLst>
  </p:cSld>
  <p:clrMap bg1="lt1" tx1="dk1" bg2="lt2" tx2="dk2" accent1="accent1" accent2="accent2" accent3="accent3" accent4="accent4" accent5="accent5" accent6="accent6" hlink="hlink" folHlink="folHlink"/>
  <p:sldLayoutIdLst>
    <p:sldLayoutId id="2147483664" r:id="rId1"/>
    <p:sldLayoutId id="2147483665" r:id="rId2"/>
    <p:sldLayoutId id="2147483666" r:id="rId3"/>
    <p:sldLayoutId id="2147483667" r:id="rId4"/>
    <p:sldLayoutId id="2147483668" r:id="rId5"/>
    <p:sldLayoutId id="2147483669" r:id="rId6"/>
    <p:sldLayoutId id="2147483670" r:id="rId7"/>
    <p:sldLayoutId id="2147483671" r:id="rId8"/>
    <p:sldLayoutId id="2147483672" r:id="rId9"/>
    <p:sldLayoutId id="2147483673" r:id="rId10"/>
    <p:sldLayoutId id="2147483674" r:id="rId11"/>
    <p:sldLayoutId id="2147483675" r:id="rId12"/>
    <p:sldLayoutId id="2147483676" r:id="rId13"/>
    <p:sldLayoutId id="2147483677" r:id="rId14"/>
    <p:sldLayoutId id="2147483678" r:id="rId15"/>
    <p:sldLayoutId id="2147483679" r:id="rId16"/>
    <p:sldLayoutId id="2147483680" r:id="rId17"/>
    <p:sldLayoutId id="2147483681" r:id="rId18"/>
    <p:sldLayoutId id="2147483682" r:id="rId19"/>
    <p:sldLayoutId id="2147483683" r:id="rId20"/>
    <p:sldLayoutId id="2147483684" r:id="rId21"/>
    <p:sldLayoutId id="2147483685" r:id="rId22"/>
    <p:sldLayoutId id="2147483686" r:id="rId23"/>
    <p:sldLayoutId id="2147483687" r:id="rId24"/>
    <p:sldLayoutId id="2147483688" r:id="rId25"/>
    <p:sldLayoutId id="2147483689" r:id="rId26"/>
    <p:sldLayoutId id="2147483690" r:id="rId27"/>
    <p:sldLayoutId id="2147483691" r:id="rId28"/>
    <p:sldLayoutId id="2147483692" r:id="rId29"/>
    <p:sldLayoutId id="2147483693" r:id="rId30"/>
    <p:sldLayoutId id="2147483694" r:id="rId31"/>
    <p:sldLayoutId id="2147483695" r:id="rId32"/>
    <p:sldLayoutId id="2147483696" r:id="rId33"/>
    <p:sldLayoutId id="2147483697" r:id="rId34"/>
    <p:sldLayoutId id="2147483698" r:id="rId35"/>
    <p:sldLayoutId id="2147483699" r:id="rId36"/>
    <p:sldLayoutId id="2147483700" r:id="rId37"/>
    <p:sldLayoutId id="2147483701" r:id="rId38"/>
    <p:sldLayoutId id="2147483702" r:id="rId39"/>
    <p:sldLayoutId id="2147483703" r:id="rId40"/>
    <p:sldLayoutId id="2147483704" r:id="rId41"/>
    <p:sldLayoutId id="2147483705" r:id="rId42"/>
    <p:sldLayoutId id="2147483706" r:id="rId43"/>
    <p:sldLayoutId id="2147483707" r:id="rId44"/>
    <p:sldLayoutId id="2147483708" r:id="rId45"/>
    <p:sldLayoutId id="2147483709" r:id="rId46"/>
    <p:sldLayoutId id="2147483710" r:id="rId47"/>
    <p:sldLayoutId id="2147483711" r:id="rId48"/>
    <p:sldLayoutId id="2147483712" r:id="rId49"/>
    <p:sldLayoutId id="2147483713" r:id="rId50"/>
    <p:sldLayoutId id="2147483714" r:id="rId51"/>
    <p:sldLayoutId id="2147483715" r:id="rId52"/>
    <p:sldLayoutId id="2147483716" r:id="rId53"/>
    <p:sldLayoutId id="2147483717" r:id="rId54"/>
    <p:sldLayoutId id="2147483718" r:id="rId55"/>
    <p:sldLayoutId id="2147483719" r:id="rId56"/>
    <p:sldLayoutId id="2147483720" r:id="rId57"/>
    <p:sldLayoutId id="2147483721" r:id="rId58"/>
    <p:sldLayoutId id="2147483722" r:id="rId59"/>
    <p:sldLayoutId id="2147483723" r:id="rId60"/>
    <p:sldLayoutId id="2147483724" r:id="rId61"/>
    <p:sldLayoutId id="2147483725" r:id="rId62"/>
    <p:sldLayoutId id="2147483726" r:id="rId63"/>
    <p:sldLayoutId id="2147483727" r:id="rId64"/>
    <p:sldLayoutId id="2147483728" r:id="rId65"/>
    <p:sldLayoutId id="2147483729" r:id="rId66"/>
    <p:sldLayoutId id="2147483730" r:id="rId67"/>
    <p:sldLayoutId id="2147483731" r:id="rId68"/>
    <p:sldLayoutId id="2147483732" r:id="rId69"/>
    <p:sldLayoutId id="2147483733" r:id="rId70"/>
    <p:sldLayoutId id="2147483734" r:id="rId71"/>
  </p:sldLayoutIdLst>
  <p:transition>
    <p:fade/>
  </p:transition>
  <p:hf sldNum="0" hdr="0" dt="0"/>
  <p:txStyles>
    <p:titleStyle>
      <a:lvl1pPr algn="l" defTabSz="914335" rtl="0" eaLnBrk="1" latinLnBrk="0" hangingPunct="1">
        <a:spcBef>
          <a:spcPct val="0"/>
        </a:spcBef>
        <a:buNone/>
        <a:defRPr sz="2100" kern="1200">
          <a:solidFill>
            <a:schemeClr val="tx1"/>
          </a:solidFill>
          <a:latin typeface="+mn-lt"/>
          <a:ea typeface="+mj-ea"/>
          <a:cs typeface="Calibri Light" panose="020F0302020204030204" pitchFamily="34" charset="0"/>
        </a:defRPr>
      </a:lvl1pPr>
    </p:titleStyle>
    <p:body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p:bodyStyle>
    <p:otherStyle>
      <a:defPPr>
        <a:defRPr lang="en-US"/>
      </a:defPPr>
      <a:lvl1pPr marL="0" algn="l" defTabSz="914335" rtl="0" eaLnBrk="1" latinLnBrk="0" hangingPunct="1">
        <a:defRPr sz="1800" kern="1200">
          <a:solidFill>
            <a:schemeClr val="tx1"/>
          </a:solidFill>
          <a:latin typeface="+mn-lt"/>
          <a:ea typeface="+mn-ea"/>
          <a:cs typeface="+mn-cs"/>
        </a:defRPr>
      </a:lvl1pPr>
      <a:lvl2pPr marL="457167" algn="l" defTabSz="914335" rtl="0" eaLnBrk="1" latinLnBrk="0" hangingPunct="1">
        <a:defRPr sz="1800" kern="1200">
          <a:solidFill>
            <a:schemeClr val="tx1"/>
          </a:solidFill>
          <a:latin typeface="+mn-lt"/>
          <a:ea typeface="+mn-ea"/>
          <a:cs typeface="+mn-cs"/>
        </a:defRPr>
      </a:lvl2pPr>
      <a:lvl3pPr marL="914335" algn="l" defTabSz="914335" rtl="0" eaLnBrk="1" latinLnBrk="0" hangingPunct="1">
        <a:defRPr sz="1800" kern="1200">
          <a:solidFill>
            <a:schemeClr val="tx1"/>
          </a:solidFill>
          <a:latin typeface="+mn-lt"/>
          <a:ea typeface="+mn-ea"/>
          <a:cs typeface="+mn-cs"/>
        </a:defRPr>
      </a:lvl3pPr>
      <a:lvl4pPr marL="1371501" algn="l" defTabSz="914335" rtl="0" eaLnBrk="1" latinLnBrk="0" hangingPunct="1">
        <a:defRPr sz="1800" kern="1200">
          <a:solidFill>
            <a:schemeClr val="tx1"/>
          </a:solidFill>
          <a:latin typeface="+mn-lt"/>
          <a:ea typeface="+mn-ea"/>
          <a:cs typeface="+mn-cs"/>
        </a:defRPr>
      </a:lvl4pPr>
      <a:lvl5pPr marL="1828669" algn="l" defTabSz="914335" rtl="0" eaLnBrk="1" latinLnBrk="0" hangingPunct="1">
        <a:defRPr sz="1800" kern="1200">
          <a:solidFill>
            <a:schemeClr val="tx1"/>
          </a:solidFill>
          <a:latin typeface="+mn-lt"/>
          <a:ea typeface="+mn-ea"/>
          <a:cs typeface="+mn-cs"/>
        </a:defRPr>
      </a:lvl5pPr>
      <a:lvl6pPr marL="2285836" algn="l" defTabSz="914335" rtl="0" eaLnBrk="1" latinLnBrk="0" hangingPunct="1">
        <a:defRPr sz="1800" kern="1200">
          <a:solidFill>
            <a:schemeClr val="tx1"/>
          </a:solidFill>
          <a:latin typeface="+mn-lt"/>
          <a:ea typeface="+mn-ea"/>
          <a:cs typeface="+mn-cs"/>
        </a:defRPr>
      </a:lvl6pPr>
      <a:lvl7pPr marL="2743004" algn="l" defTabSz="914335" rtl="0" eaLnBrk="1" latinLnBrk="0" hangingPunct="1">
        <a:defRPr sz="1800" kern="1200">
          <a:solidFill>
            <a:schemeClr val="tx1"/>
          </a:solidFill>
          <a:latin typeface="+mn-lt"/>
          <a:ea typeface="+mn-ea"/>
          <a:cs typeface="+mn-cs"/>
        </a:defRPr>
      </a:lvl7pPr>
      <a:lvl8pPr marL="3200171" algn="l" defTabSz="914335" rtl="0" eaLnBrk="1" latinLnBrk="0" hangingPunct="1">
        <a:defRPr sz="1800" kern="1200">
          <a:solidFill>
            <a:schemeClr val="tx1"/>
          </a:solidFill>
          <a:latin typeface="+mn-lt"/>
          <a:ea typeface="+mn-ea"/>
          <a:cs typeface="+mn-cs"/>
        </a:defRPr>
      </a:lvl8pPr>
      <a:lvl9pPr marL="3657338" algn="l" defTabSz="914335"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p15:clr>
            <a:srgbClr val="F26B43"/>
          </p15:clr>
        </p15:guide>
        <p15:guide id="2" pos="312">
          <p15:clr>
            <a:srgbClr val="F26B43"/>
          </p15:clr>
        </p15:guide>
        <p15:guide id="3" pos="1392">
          <p15:clr>
            <a:srgbClr val="F26B43"/>
          </p15:clr>
        </p15:guide>
        <p15:guide id="4" pos="1512">
          <p15:clr>
            <a:srgbClr val="F26B43"/>
          </p15:clr>
        </p15:guide>
        <p15:guide id="5" pos="2592">
          <p15:clr>
            <a:srgbClr val="F26B43"/>
          </p15:clr>
        </p15:guide>
        <p15:guide id="6" pos="2712">
          <p15:clr>
            <a:srgbClr val="F26B43"/>
          </p15:clr>
        </p15:guide>
        <p15:guide id="7" pos="3768">
          <p15:clr>
            <a:srgbClr val="F26B43"/>
          </p15:clr>
        </p15:guide>
        <p15:guide id="8" pos="7368">
          <p15:clr>
            <a:srgbClr val="F26B43"/>
          </p15:clr>
        </p15:guide>
        <p15:guide id="9" pos="6288">
          <p15:clr>
            <a:srgbClr val="F26B43"/>
          </p15:clr>
        </p15:guide>
        <p15:guide id="10" pos="6168">
          <p15:clr>
            <a:srgbClr val="F26B43"/>
          </p15:clr>
        </p15:guide>
        <p15:guide id="11" pos="5088">
          <p15:clr>
            <a:srgbClr val="F26B43"/>
          </p15:clr>
        </p15:guide>
        <p15:guide id="12" pos="4968">
          <p15:clr>
            <a:srgbClr val="F26B43"/>
          </p15:clr>
        </p15:guide>
        <p15:guide id="13" pos="3912">
          <p15:clr>
            <a:srgbClr val="F26B43"/>
          </p15:clr>
        </p15:guide>
        <p15:guide id="14" orient="horz" pos="4104">
          <p15:clr>
            <a:srgbClr val="F26B43"/>
          </p15:clr>
        </p15:guide>
        <p15:guide id="15" orient="horz" pos="4032">
          <p15:clr>
            <a:srgbClr val="F26B43"/>
          </p15:clr>
        </p15:guide>
        <p15:guide id="16" orient="horz" pos="2232">
          <p15:clr>
            <a:srgbClr val="F26B43"/>
          </p15:clr>
        </p15:guide>
        <p15:guide id="17" orient="horz" pos="1056">
          <p15:clr>
            <a:srgbClr val="F26B43"/>
          </p15:clr>
        </p15:guide>
        <p15:guide id="18" orient="horz" pos="192">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72"/>
            </p:custDataLst>
            <p:extLst>
              <p:ext uri="{D42A27DB-BD31-4B8C-83A1-F6EECF244321}">
                <p14:modId xmlns:p14="http://schemas.microsoft.com/office/powerpoint/2010/main" val="610448718"/>
              </p:ext>
            </p:extLst>
          </p:nvPr>
        </p:nvGraphicFramePr>
        <p:xfrm>
          <a:off x="2118" y="1589"/>
          <a:ext cx="2116" cy="1587"/>
        </p:xfrm>
        <a:graphic>
          <a:graphicData uri="http://schemas.openxmlformats.org/presentationml/2006/ole">
            <mc:AlternateContent xmlns:mc="http://schemas.openxmlformats.org/markup-compatibility/2006">
              <mc:Choice xmlns:v="urn:schemas-microsoft-com:vml" Requires="v">
                <p:oleObj name="think-cell Slide" r:id="rId74" imgW="270" imgH="270" progId="TCLayout.ActiveDocument.1">
                  <p:embed/>
                </p:oleObj>
              </mc:Choice>
              <mc:Fallback>
                <p:oleObj name="think-cell Slide" r:id="rId74" imgW="270" imgH="270" progId="TCLayout.ActiveDocument.1">
                  <p:embed/>
                  <p:pic>
                    <p:nvPicPr>
                      <p:cNvPr id="4" name="Object 3" hidden="1"/>
                      <p:cNvPicPr/>
                      <p:nvPr/>
                    </p:nvPicPr>
                    <p:blipFill>
                      <a:blip r:embed="rId75"/>
                      <a:stretch>
                        <a:fillRect/>
                      </a:stretch>
                    </p:blipFill>
                    <p:spPr>
                      <a:xfrm>
                        <a:off x="2118" y="1589"/>
                        <a:ext cx="2116" cy="1587"/>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E77A6D44-03D8-4B5C-A44F-DFA19D29D686}"/>
              </a:ext>
            </a:extLst>
          </p:cNvPr>
          <p:cNvSpPr/>
          <p:nvPr userDrawn="1">
            <p:custDataLst>
              <p:tags r:id="rId7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marL="0" lvl="0" indent="0" algn="ctr">
              <a:lnSpc>
                <a:spcPct val="106000"/>
              </a:lnSpc>
              <a:buFont typeface="Wingdings 2" pitchFamily="18" charset="2"/>
              <a:buNone/>
            </a:pPr>
            <a:endParaRPr lang="en-US" sz="2100" b="0" i="0" baseline="0">
              <a:solidFill>
                <a:schemeClr val="bg1"/>
              </a:solidFill>
              <a:latin typeface="Calibri" panose="020F0502020204030204" pitchFamily="34" charset="0"/>
              <a:ea typeface="+mj-ea"/>
              <a:cs typeface="Calibri Light" panose="020F0302020204030204" pitchFamily="34" charset="0"/>
              <a:sym typeface="Calibri" panose="020F0502020204030204" pitchFamily="34" charset="0"/>
            </a:endParaRPr>
          </a:p>
        </p:txBody>
      </p:sp>
      <p:sp>
        <p:nvSpPr>
          <p:cNvPr id="2" name="Title Placeholder 1"/>
          <p:cNvSpPr>
            <a:spLocks noGrp="1"/>
          </p:cNvSpPr>
          <p:nvPr>
            <p:ph type="title"/>
          </p:nvPr>
        </p:nvSpPr>
        <p:spPr bwMode="gray">
          <a:xfrm>
            <a:off x="501651" y="317501"/>
            <a:ext cx="11188700" cy="309820"/>
          </a:xfrm>
          <a:prstGeom prst="rect">
            <a:avLst/>
          </a:prstGeom>
        </p:spPr>
        <p:txBody>
          <a:bodyPr vert="horz" lIns="0" tIns="0" rIns="0" bIns="0" rtlCol="0" anchor="t" anchorCtr="0">
            <a:noAutofit/>
          </a:bodyPr>
          <a:lstStyle/>
          <a:p>
            <a:r>
              <a:rPr lang="en-US" noProof="0"/>
              <a:t>Click to edit Master title style</a:t>
            </a:r>
          </a:p>
        </p:txBody>
      </p:sp>
      <p:sp>
        <p:nvSpPr>
          <p:cNvPr id="18" name="Copyright"/>
          <p:cNvSpPr txBox="1"/>
          <p:nvPr/>
        </p:nvSpPr>
        <p:spPr>
          <a:xfrm>
            <a:off x="740832" y="6576918"/>
            <a:ext cx="5355168" cy="138499"/>
          </a:xfrm>
          <a:prstGeom prst="rect">
            <a:avLst/>
          </a:prstGeom>
          <a:noFill/>
        </p:spPr>
        <p:txBody>
          <a:bodyPr wrap="square" lIns="0" tIns="0" rIns="0" bIns="0" rtlCol="0">
            <a:spAutoFit/>
          </a:bodyPr>
          <a:lstStyle/>
          <a:p>
            <a:pPr marL="0" indent="0">
              <a:spcBef>
                <a:spcPts val="600"/>
              </a:spcBef>
              <a:buSzPct val="100000"/>
              <a:buFont typeface="Arial"/>
              <a:buNone/>
            </a:pPr>
            <a:r>
              <a:rPr lang="fr-FR" sz="900" noProof="0">
                <a:solidFill>
                  <a:schemeClr val="tx1"/>
                </a:solidFill>
                <a:latin typeface="Calibri" panose="020F0502020204030204" pitchFamily="34" charset="0"/>
                <a:cs typeface="Calibri" panose="020F0502020204030204" pitchFamily="34" charset="0"/>
              </a:rPr>
              <a:t>© 2022 Deloitte Touche Tohmatsu India LLP </a:t>
            </a:r>
          </a:p>
        </p:txBody>
      </p:sp>
      <p:sp>
        <p:nvSpPr>
          <p:cNvPr id="19" name="Text Placeholder 18"/>
          <p:cNvSpPr>
            <a:spLocks noGrp="1"/>
          </p:cNvSpPr>
          <p:nvPr>
            <p:ph type="body" idx="1"/>
          </p:nvPr>
        </p:nvSpPr>
        <p:spPr>
          <a:xfrm>
            <a:off x="501650" y="1665289"/>
            <a:ext cx="11188700" cy="4716462"/>
          </a:xfrm>
          <a:prstGeom prst="rect">
            <a:avLst/>
          </a:prstGeom>
        </p:spPr>
        <p:txBody>
          <a:bodyPr vert="horz" lIns="0" tIns="0" rIns="0" bIns="0" rtlCol="0">
            <a:normAutofit/>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 name="Rectangle 2">
            <a:extLst>
              <a:ext uri="{FF2B5EF4-FFF2-40B4-BE49-F238E27FC236}">
                <a16:creationId xmlns:a16="http://schemas.microsoft.com/office/drawing/2014/main" id="{C69DBDC7-DF0D-40FE-8DE0-1C33F8DF42EC}"/>
              </a:ext>
            </a:extLst>
          </p:cNvPr>
          <p:cNvSpPr/>
          <p:nvPr/>
        </p:nvSpPr>
        <p:spPr>
          <a:xfrm>
            <a:off x="11555698" y="6576919"/>
            <a:ext cx="134652" cy="138499"/>
          </a:xfrm>
          <a:prstGeom prst="rect">
            <a:avLst/>
          </a:prstGeom>
        </p:spPr>
        <p:txBody>
          <a:bodyPr wrap="none" lIns="0" tIns="0" rIns="0" bIns="0">
            <a:spAutoFit/>
          </a:bodyPr>
          <a:lstStyle/>
          <a:p>
            <a:fld id="{C58DF478-B544-4ED8-9ED4-6A2648E2D233}" type="slidenum">
              <a:rPr lang="en-US" sz="900" noProof="0" smtClean="0">
                <a:solidFill>
                  <a:schemeClr val="tx1"/>
                </a:solidFill>
                <a:latin typeface="Calibri" panose="020F0502020204030204" pitchFamily="34" charset="0"/>
                <a:cs typeface="Calibri" panose="020F0502020204030204" pitchFamily="34" charset="0"/>
              </a:rPr>
              <a:pPr/>
              <a:t>‹#›</a:t>
            </a:fld>
            <a:endParaRPr lang="en-US" sz="900"/>
          </a:p>
        </p:txBody>
      </p:sp>
      <p:sp>
        <p:nvSpPr>
          <p:cNvPr id="9" name="TextBox 8">
            <a:extLst>
              <a:ext uri="{FF2B5EF4-FFF2-40B4-BE49-F238E27FC236}">
                <a16:creationId xmlns:a16="http://schemas.microsoft.com/office/drawing/2014/main" id="{6160858C-7208-417F-84BB-B0ABC8E4D7B4}"/>
              </a:ext>
            </a:extLst>
          </p:cNvPr>
          <p:cNvSpPr txBox="1"/>
          <p:nvPr userDrawn="1"/>
        </p:nvSpPr>
        <p:spPr>
          <a:xfrm>
            <a:off x="5155925" y="6525559"/>
            <a:ext cx="6097656" cy="241220"/>
          </a:xfrm>
          <a:prstGeom prst="rect">
            <a:avLst/>
          </a:prstGeom>
          <a:noFill/>
        </p:spPr>
        <p:txBody>
          <a:bodyPr wrap="square">
            <a:spAutoFit/>
          </a:bodyPr>
          <a:lstStyle/>
          <a:p>
            <a:pPr algn="r">
              <a:lnSpc>
                <a:spcPct val="114000"/>
              </a:lnSpc>
              <a:spcAft>
                <a:spcPts val="600"/>
              </a:spcAft>
            </a:pPr>
            <a:r>
              <a:rPr lang="it-IT" sz="900" b="1" kern="1200">
                <a:solidFill>
                  <a:schemeClr val="tx1"/>
                </a:solidFill>
                <a:latin typeface="Calibri" panose="020F0502020204030204" pitchFamily="34" charset="0"/>
                <a:ea typeface="+mn-ea"/>
                <a:cs typeface="Calibri" panose="020F0502020204030204" pitchFamily="34" charset="0"/>
              </a:rPr>
              <a:t>RFQ NO: </a:t>
            </a:r>
            <a:r>
              <a:rPr lang="it-IT" sz="900" kern="1200">
                <a:solidFill>
                  <a:schemeClr val="tx1"/>
                </a:solidFill>
                <a:latin typeface="Calibri" panose="020F0502020204030204" pitchFamily="34" charset="0"/>
                <a:ea typeface="+mn-ea"/>
                <a:cs typeface="Calibri" panose="020F0502020204030204" pitchFamily="34" charset="0"/>
              </a:rPr>
              <a:t>WBDPL/PUR/CORP/RFQ/110/2021-2022</a:t>
            </a:r>
            <a:endParaRPr lang="en-US" sz="900" kern="1200">
              <a:solidFill>
                <a:schemeClr val="tx1"/>
              </a:solidFill>
              <a:latin typeface="Calibri" panose="020F0502020204030204" pitchFamily="34" charset="0"/>
              <a:ea typeface="+mn-ea"/>
              <a:cs typeface="Calibri" panose="020F0502020204030204" pitchFamily="34" charset="0"/>
            </a:endParaRPr>
          </a:p>
        </p:txBody>
      </p:sp>
      <p:pic>
        <p:nvPicPr>
          <p:cNvPr id="12293" name="Picture 5" descr="Deloitte - Wikipedia">
            <a:extLst>
              <a:ext uri="{FF2B5EF4-FFF2-40B4-BE49-F238E27FC236}">
                <a16:creationId xmlns:a16="http://schemas.microsoft.com/office/drawing/2014/main" id="{AFDBB230-53A5-4679-909F-6506F735B365}"/>
              </a:ext>
            </a:extLst>
          </p:cNvPr>
          <p:cNvPicPr>
            <a:picLocks noChangeAspect="1" noChangeArrowheads="1"/>
          </p:cNvPicPr>
          <p:nvPr userDrawn="1"/>
        </p:nvPicPr>
        <p:blipFill>
          <a:blip r:embed="rId76">
            <a:extLst>
              <a:ext uri="{28A0092B-C50C-407E-A947-70E740481C1C}">
                <a14:useLocalDpi xmlns:a14="http://schemas.microsoft.com/office/drawing/2010/main" val="0"/>
              </a:ext>
            </a:extLst>
          </a:blip>
          <a:srcRect/>
          <a:stretch>
            <a:fillRect/>
          </a:stretch>
        </p:blipFill>
        <p:spPr bwMode="auto">
          <a:xfrm>
            <a:off x="501650" y="6525559"/>
            <a:ext cx="239182" cy="23918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23461056"/>
      </p:ext>
    </p:extLst>
  </p:cSld>
  <p:clrMap bg1="lt1" tx1="dk1" bg2="lt2" tx2="dk2" accent1="accent1" accent2="accent2" accent3="accent3" accent4="accent4" accent5="accent5" accent6="accent6" hlink="hlink" folHlink="folHlink"/>
  <p:sldLayoutIdLst>
    <p:sldLayoutId id="2147483736" r:id="rId1"/>
    <p:sldLayoutId id="2147483737" r:id="rId2"/>
    <p:sldLayoutId id="2147483738" r:id="rId3"/>
    <p:sldLayoutId id="2147483739" r:id="rId4"/>
    <p:sldLayoutId id="2147483740" r:id="rId5"/>
    <p:sldLayoutId id="2147483741" r:id="rId6"/>
    <p:sldLayoutId id="2147483742" r:id="rId7"/>
    <p:sldLayoutId id="2147483743" r:id="rId8"/>
    <p:sldLayoutId id="2147483744" r:id="rId9"/>
    <p:sldLayoutId id="2147483745" r:id="rId10"/>
    <p:sldLayoutId id="2147483746" r:id="rId11"/>
    <p:sldLayoutId id="2147483747" r:id="rId12"/>
    <p:sldLayoutId id="2147483748" r:id="rId13"/>
    <p:sldLayoutId id="2147483749" r:id="rId14"/>
    <p:sldLayoutId id="2147483750" r:id="rId15"/>
    <p:sldLayoutId id="2147483751" r:id="rId16"/>
    <p:sldLayoutId id="2147483752" r:id="rId17"/>
    <p:sldLayoutId id="2147483753" r:id="rId18"/>
    <p:sldLayoutId id="2147483754" r:id="rId19"/>
    <p:sldLayoutId id="2147483755" r:id="rId20"/>
    <p:sldLayoutId id="2147483756" r:id="rId21"/>
    <p:sldLayoutId id="2147483757" r:id="rId22"/>
    <p:sldLayoutId id="2147483758" r:id="rId23"/>
    <p:sldLayoutId id="2147483759" r:id="rId24"/>
    <p:sldLayoutId id="2147483760" r:id="rId25"/>
    <p:sldLayoutId id="2147483761" r:id="rId26"/>
    <p:sldLayoutId id="2147483762" r:id="rId27"/>
    <p:sldLayoutId id="2147483763" r:id="rId28"/>
    <p:sldLayoutId id="2147483764" r:id="rId29"/>
    <p:sldLayoutId id="2147483765" r:id="rId30"/>
    <p:sldLayoutId id="2147483766" r:id="rId31"/>
    <p:sldLayoutId id="2147483767" r:id="rId32"/>
    <p:sldLayoutId id="2147483768" r:id="rId33"/>
    <p:sldLayoutId id="2147483769" r:id="rId34"/>
    <p:sldLayoutId id="2147483770" r:id="rId35"/>
    <p:sldLayoutId id="2147483771" r:id="rId36"/>
    <p:sldLayoutId id="2147483772" r:id="rId37"/>
    <p:sldLayoutId id="2147483773" r:id="rId38"/>
    <p:sldLayoutId id="2147483774" r:id="rId39"/>
    <p:sldLayoutId id="2147483775" r:id="rId40"/>
    <p:sldLayoutId id="2147483776" r:id="rId41"/>
    <p:sldLayoutId id="2147483777" r:id="rId42"/>
    <p:sldLayoutId id="2147483778" r:id="rId43"/>
    <p:sldLayoutId id="2147483779" r:id="rId44"/>
    <p:sldLayoutId id="2147483780" r:id="rId45"/>
    <p:sldLayoutId id="2147483781" r:id="rId46"/>
    <p:sldLayoutId id="2147483782" r:id="rId47"/>
    <p:sldLayoutId id="2147483783" r:id="rId48"/>
    <p:sldLayoutId id="2147483784" r:id="rId49"/>
    <p:sldLayoutId id="2147483785" r:id="rId50"/>
    <p:sldLayoutId id="2147483786" r:id="rId51"/>
    <p:sldLayoutId id="2147483787" r:id="rId52"/>
    <p:sldLayoutId id="2147483788" r:id="rId53"/>
    <p:sldLayoutId id="2147483789" r:id="rId54"/>
    <p:sldLayoutId id="2147483790" r:id="rId55"/>
    <p:sldLayoutId id="2147483791" r:id="rId56"/>
    <p:sldLayoutId id="2147483792" r:id="rId57"/>
    <p:sldLayoutId id="2147483793" r:id="rId58"/>
    <p:sldLayoutId id="2147483794" r:id="rId59"/>
    <p:sldLayoutId id="2147483795" r:id="rId60"/>
    <p:sldLayoutId id="2147483796" r:id="rId61"/>
    <p:sldLayoutId id="2147483797" r:id="rId62"/>
    <p:sldLayoutId id="2147483798" r:id="rId63"/>
    <p:sldLayoutId id="2147483799" r:id="rId64"/>
    <p:sldLayoutId id="2147483800" r:id="rId65"/>
    <p:sldLayoutId id="2147483801" r:id="rId66"/>
    <p:sldLayoutId id="2147483802" r:id="rId67"/>
    <p:sldLayoutId id="2147483803" r:id="rId68"/>
    <p:sldLayoutId id="2147483804" r:id="rId69"/>
    <p:sldLayoutId id="2147483805" r:id="rId70"/>
  </p:sldLayoutIdLst>
  <p:transition>
    <p:fade/>
  </p:transition>
  <p:hf hdr="0" dt="0"/>
  <p:txStyles>
    <p:titleStyle>
      <a:lvl1pPr algn="l" defTabSz="914400" rtl="0" eaLnBrk="1" latinLnBrk="0" hangingPunct="1">
        <a:spcBef>
          <a:spcPct val="0"/>
        </a:spcBef>
        <a:buNone/>
        <a:defRPr sz="2100" kern="1200">
          <a:solidFill>
            <a:schemeClr val="tx1"/>
          </a:solidFill>
          <a:latin typeface="+mn-lt"/>
          <a:ea typeface="+mj-ea"/>
          <a:cs typeface="Calibri Light" panose="020F0302020204030204" pitchFamily="34" charset="0"/>
        </a:defRPr>
      </a:lvl1pPr>
    </p:titleStyle>
    <p:body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p15:clr>
            <a:srgbClr val="F26B43"/>
          </p15:clr>
        </p15:guide>
        <p15:guide id="2" pos="312">
          <p15:clr>
            <a:srgbClr val="F26B43"/>
          </p15:clr>
        </p15:guide>
        <p15:guide id="3" pos="1392">
          <p15:clr>
            <a:srgbClr val="F26B43"/>
          </p15:clr>
        </p15:guide>
        <p15:guide id="4" pos="1512">
          <p15:clr>
            <a:srgbClr val="F26B43"/>
          </p15:clr>
        </p15:guide>
        <p15:guide id="5" pos="2592">
          <p15:clr>
            <a:srgbClr val="F26B43"/>
          </p15:clr>
        </p15:guide>
        <p15:guide id="6" pos="2712">
          <p15:clr>
            <a:srgbClr val="F26B43"/>
          </p15:clr>
        </p15:guide>
        <p15:guide id="7" pos="3768">
          <p15:clr>
            <a:srgbClr val="F26B43"/>
          </p15:clr>
        </p15:guide>
        <p15:guide id="8" pos="7368">
          <p15:clr>
            <a:srgbClr val="F26B43"/>
          </p15:clr>
        </p15:guide>
        <p15:guide id="9" pos="6288">
          <p15:clr>
            <a:srgbClr val="F26B43"/>
          </p15:clr>
        </p15:guide>
        <p15:guide id="10" pos="6168">
          <p15:clr>
            <a:srgbClr val="F26B43"/>
          </p15:clr>
        </p15:guide>
        <p15:guide id="11" pos="5088">
          <p15:clr>
            <a:srgbClr val="F26B43"/>
          </p15:clr>
        </p15:guide>
        <p15:guide id="12" pos="4968">
          <p15:clr>
            <a:srgbClr val="F26B43"/>
          </p15:clr>
        </p15:guide>
        <p15:guide id="13" pos="3912">
          <p15:clr>
            <a:srgbClr val="F26B43"/>
          </p15:clr>
        </p15:guide>
        <p15:guide id="14" orient="horz" pos="4104">
          <p15:clr>
            <a:srgbClr val="F26B43"/>
          </p15:clr>
        </p15:guide>
        <p15:guide id="15" orient="horz" pos="4032">
          <p15:clr>
            <a:srgbClr val="F26B43"/>
          </p15:clr>
        </p15:guide>
        <p15:guide id="16" orient="horz" pos="2232">
          <p15:clr>
            <a:srgbClr val="F26B43"/>
          </p15:clr>
        </p15:guide>
        <p15:guide id="17" orient="horz" pos="1056">
          <p15:clr>
            <a:srgbClr val="F26B43"/>
          </p15:clr>
        </p15:guide>
        <p15:guide id="18" orient="horz" pos="192">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7" Type="http://schemas.openxmlformats.org/officeDocument/2006/relationships/image" Target="../media/image3.png"/><Relationship Id="rId2" Type="http://schemas.openxmlformats.org/officeDocument/2006/relationships/slideLayout" Target="../slideLayouts/slideLayout12.xml"/><Relationship Id="rId1" Type="http://schemas.openxmlformats.org/officeDocument/2006/relationships/tags" Target="../tags/tag36.xml"/><Relationship Id="rId6" Type="http://schemas.openxmlformats.org/officeDocument/2006/relationships/image" Target="../media/image10.jpeg"/><Relationship Id="rId5" Type="http://schemas.openxmlformats.org/officeDocument/2006/relationships/image" Target="../media/image1.emf"/><Relationship Id="rId4" Type="http://schemas.openxmlformats.org/officeDocument/2006/relationships/oleObject" Target="../embeddings/oleObject19.bin"/></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13.xml"/><Relationship Id="rId1" Type="http://schemas.openxmlformats.org/officeDocument/2006/relationships/tags" Target="../tags/tag37.xml"/><Relationship Id="rId5" Type="http://schemas.openxmlformats.org/officeDocument/2006/relationships/image" Target="../media/image1.emf"/><Relationship Id="rId4" Type="http://schemas.openxmlformats.org/officeDocument/2006/relationships/oleObject" Target="../embeddings/oleObject20.bin"/></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13.xml"/><Relationship Id="rId1" Type="http://schemas.openxmlformats.org/officeDocument/2006/relationships/tags" Target="../tags/tag38.xml"/><Relationship Id="rId5" Type="http://schemas.openxmlformats.org/officeDocument/2006/relationships/image" Target="../media/image1.emf"/><Relationship Id="rId4" Type="http://schemas.openxmlformats.org/officeDocument/2006/relationships/oleObject" Target="../embeddings/oleObject21.bin"/></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3.xml"/><Relationship Id="rId1" Type="http://schemas.openxmlformats.org/officeDocument/2006/relationships/tags" Target="../tags/tag39.xml"/><Relationship Id="rId5" Type="http://schemas.openxmlformats.org/officeDocument/2006/relationships/image" Target="../media/image1.emf"/><Relationship Id="rId4" Type="http://schemas.openxmlformats.org/officeDocument/2006/relationships/oleObject" Target="../embeddings/oleObject22.bin"/></Relationships>
</file>

<file path=ppt/slides/_rels/slide5.xml.rels><?xml version="1.0" encoding="UTF-8" standalone="yes"?>
<Relationships xmlns="http://schemas.openxmlformats.org/package/2006/relationships"><Relationship Id="rId8" Type="http://schemas.openxmlformats.org/officeDocument/2006/relationships/hyperlink" Target="https://calendar-nepali.com/about/Ashar.html" TargetMode="External"/><Relationship Id="rId13" Type="http://schemas.openxmlformats.org/officeDocument/2006/relationships/hyperlink" Target="https://calendar-nepali.com/about/Mangsir.html" TargetMode="External"/><Relationship Id="rId3" Type="http://schemas.openxmlformats.org/officeDocument/2006/relationships/notesSlide" Target="../notesSlides/notesSlide5.xml"/><Relationship Id="rId7" Type="http://schemas.openxmlformats.org/officeDocument/2006/relationships/hyperlink" Target="https://calendar-nepali.com/about/Jestha.html" TargetMode="External"/><Relationship Id="rId12" Type="http://schemas.openxmlformats.org/officeDocument/2006/relationships/hyperlink" Target="https://calendar-nepali.com/about/Kartik.html" TargetMode="External"/><Relationship Id="rId17" Type="http://schemas.openxmlformats.org/officeDocument/2006/relationships/hyperlink" Target="https://calendar-nepali.com/about/Chaitra.html" TargetMode="External"/><Relationship Id="rId2" Type="http://schemas.openxmlformats.org/officeDocument/2006/relationships/slideLayout" Target="../slideLayouts/slideLayout13.xml"/><Relationship Id="rId16" Type="http://schemas.openxmlformats.org/officeDocument/2006/relationships/hyperlink" Target="https://calendar-nepali.com/about/Falgun.html" TargetMode="External"/><Relationship Id="rId1" Type="http://schemas.openxmlformats.org/officeDocument/2006/relationships/tags" Target="../tags/tag40.xml"/><Relationship Id="rId6" Type="http://schemas.openxmlformats.org/officeDocument/2006/relationships/hyperlink" Target="https://calendar-nepali.com/about/Baisakh.html" TargetMode="External"/><Relationship Id="rId11" Type="http://schemas.openxmlformats.org/officeDocument/2006/relationships/hyperlink" Target="https://calendar-nepali.com/about/Ashoj.html" TargetMode="External"/><Relationship Id="rId5" Type="http://schemas.openxmlformats.org/officeDocument/2006/relationships/image" Target="../media/image1.emf"/><Relationship Id="rId15" Type="http://schemas.openxmlformats.org/officeDocument/2006/relationships/hyperlink" Target="https://calendar-nepali.com/about/Magh.html" TargetMode="External"/><Relationship Id="rId10" Type="http://schemas.openxmlformats.org/officeDocument/2006/relationships/hyperlink" Target="https://calendar-nepali.com/about/Bhadra.html" TargetMode="External"/><Relationship Id="rId4" Type="http://schemas.openxmlformats.org/officeDocument/2006/relationships/oleObject" Target="../embeddings/oleObject23.bin"/><Relationship Id="rId9" Type="http://schemas.openxmlformats.org/officeDocument/2006/relationships/hyperlink" Target="https://calendar-nepali.com/about/Shrawan.html" TargetMode="External"/><Relationship Id="rId14" Type="http://schemas.openxmlformats.org/officeDocument/2006/relationships/hyperlink" Target="https://calendar-nepali.com/about/Poush.html" TargetMode="Externa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13.xml"/><Relationship Id="rId1" Type="http://schemas.openxmlformats.org/officeDocument/2006/relationships/tags" Target="../tags/tag41.xml"/><Relationship Id="rId5" Type="http://schemas.openxmlformats.org/officeDocument/2006/relationships/image" Target="../media/image1.emf"/><Relationship Id="rId4" Type="http://schemas.openxmlformats.org/officeDocument/2006/relationships/oleObject" Target="../embeddings/oleObject24.bin"/></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13.xml"/><Relationship Id="rId1" Type="http://schemas.openxmlformats.org/officeDocument/2006/relationships/tags" Target="../tags/tag42.xml"/><Relationship Id="rId5" Type="http://schemas.openxmlformats.org/officeDocument/2006/relationships/image" Target="../media/image1.emf"/><Relationship Id="rId4" Type="http://schemas.openxmlformats.org/officeDocument/2006/relationships/oleObject" Target="../embeddings/oleObject25.bin"/></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13.xml"/><Relationship Id="rId1" Type="http://schemas.openxmlformats.org/officeDocument/2006/relationships/tags" Target="../tags/tag43.xml"/><Relationship Id="rId5" Type="http://schemas.openxmlformats.org/officeDocument/2006/relationships/image" Target="../media/image1.emf"/><Relationship Id="rId4" Type="http://schemas.openxmlformats.org/officeDocument/2006/relationships/oleObject" Target="../embeddings/oleObject25.bin"/></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13.xml"/><Relationship Id="rId1" Type="http://schemas.openxmlformats.org/officeDocument/2006/relationships/tags" Target="../tags/tag44.xml"/><Relationship Id="rId5" Type="http://schemas.openxmlformats.org/officeDocument/2006/relationships/image" Target="../media/image1.emf"/><Relationship Id="rId4" Type="http://schemas.openxmlformats.org/officeDocument/2006/relationships/oleObject" Target="../embeddings/oleObject25.bin"/></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13.xml"/><Relationship Id="rId1" Type="http://schemas.openxmlformats.org/officeDocument/2006/relationships/tags" Target="../tags/tag45.xml"/><Relationship Id="rId5" Type="http://schemas.openxmlformats.org/officeDocument/2006/relationships/image" Target="../media/image1.emf"/><Relationship Id="rId4" Type="http://schemas.openxmlformats.org/officeDocument/2006/relationships/oleObject" Target="../embeddings/oleObject25.bin"/></Relationships>
</file>

<file path=ppt/slides/_rels/slide11.xml.rels><?xml version="1.0" encoding="UTF-8" standalone="yes"?>
<Relationships xmlns="http://schemas.openxmlformats.org/package/2006/relationships"><Relationship Id="rId8" Type="http://schemas.openxmlformats.org/officeDocument/2006/relationships/slide" Target="slide103.xml"/><Relationship Id="rId3" Type="http://schemas.openxmlformats.org/officeDocument/2006/relationships/notesSlide" Target="../notesSlides/notesSlide11.xml"/><Relationship Id="rId7" Type="http://schemas.openxmlformats.org/officeDocument/2006/relationships/slide" Target="slide102.xml"/><Relationship Id="rId2" Type="http://schemas.openxmlformats.org/officeDocument/2006/relationships/slideLayout" Target="../slideLayouts/slideLayout13.xml"/><Relationship Id="rId1" Type="http://schemas.openxmlformats.org/officeDocument/2006/relationships/tags" Target="../tags/tag46.xml"/><Relationship Id="rId6" Type="http://schemas.openxmlformats.org/officeDocument/2006/relationships/slide" Target="slide46.xml"/><Relationship Id="rId5" Type="http://schemas.openxmlformats.org/officeDocument/2006/relationships/image" Target="../media/image1.emf"/><Relationship Id="rId4" Type="http://schemas.openxmlformats.org/officeDocument/2006/relationships/oleObject" Target="../embeddings/oleObject25.bin"/></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13.xml"/><Relationship Id="rId1" Type="http://schemas.openxmlformats.org/officeDocument/2006/relationships/tags" Target="../tags/tag47.xml"/><Relationship Id="rId6" Type="http://schemas.openxmlformats.org/officeDocument/2006/relationships/slide" Target="slide27.xml"/><Relationship Id="rId5" Type="http://schemas.openxmlformats.org/officeDocument/2006/relationships/image" Target="../media/image1.emf"/><Relationship Id="rId4" Type="http://schemas.openxmlformats.org/officeDocument/2006/relationships/oleObject" Target="../embeddings/oleObject25.bin"/></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7" Type="http://schemas.openxmlformats.org/officeDocument/2006/relationships/slide" Target="slide131.xml"/><Relationship Id="rId2" Type="http://schemas.openxmlformats.org/officeDocument/2006/relationships/slideLayout" Target="../slideLayouts/slideLayout13.xml"/><Relationship Id="rId1" Type="http://schemas.openxmlformats.org/officeDocument/2006/relationships/tags" Target="../tags/tag48.xml"/><Relationship Id="rId6" Type="http://schemas.openxmlformats.org/officeDocument/2006/relationships/slide" Target="slide130.xml"/><Relationship Id="rId5" Type="http://schemas.openxmlformats.org/officeDocument/2006/relationships/image" Target="../media/image1.emf"/><Relationship Id="rId4" Type="http://schemas.openxmlformats.org/officeDocument/2006/relationships/oleObject" Target="../embeddings/oleObject25.bin"/></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13.xml"/><Relationship Id="rId1" Type="http://schemas.openxmlformats.org/officeDocument/2006/relationships/tags" Target="../tags/tag49.xml"/><Relationship Id="rId5" Type="http://schemas.openxmlformats.org/officeDocument/2006/relationships/image" Target="../media/image1.emf"/><Relationship Id="rId4" Type="http://schemas.openxmlformats.org/officeDocument/2006/relationships/oleObject" Target="../embeddings/oleObject25.bin"/></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13.xml"/><Relationship Id="rId1" Type="http://schemas.openxmlformats.org/officeDocument/2006/relationships/tags" Target="../tags/tag50.xml"/><Relationship Id="rId5" Type="http://schemas.openxmlformats.org/officeDocument/2006/relationships/image" Target="../media/image1.emf"/><Relationship Id="rId4" Type="http://schemas.openxmlformats.org/officeDocument/2006/relationships/oleObject" Target="../embeddings/oleObject25.bin"/></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13.xml"/><Relationship Id="rId1" Type="http://schemas.openxmlformats.org/officeDocument/2006/relationships/tags" Target="../tags/tag51.xml"/><Relationship Id="rId5" Type="http://schemas.openxmlformats.org/officeDocument/2006/relationships/image" Target="../media/image1.emf"/><Relationship Id="rId4" Type="http://schemas.openxmlformats.org/officeDocument/2006/relationships/oleObject" Target="../embeddings/oleObject25.bin"/></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3.xml"/><Relationship Id="rId1" Type="http://schemas.openxmlformats.org/officeDocument/2006/relationships/tags" Target="../tags/tag52.xml"/><Relationship Id="rId5" Type="http://schemas.openxmlformats.org/officeDocument/2006/relationships/image" Target="../media/image1.emf"/><Relationship Id="rId4" Type="http://schemas.openxmlformats.org/officeDocument/2006/relationships/oleObject" Target="../embeddings/oleObject24.bin"/></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13.xml"/><Relationship Id="rId1" Type="http://schemas.openxmlformats.org/officeDocument/2006/relationships/tags" Target="../tags/tag53.xml"/><Relationship Id="rId6" Type="http://schemas.openxmlformats.org/officeDocument/2006/relationships/image" Target="../media/image11.jpeg"/><Relationship Id="rId5" Type="http://schemas.openxmlformats.org/officeDocument/2006/relationships/image" Target="../media/image1.emf"/><Relationship Id="rId4" Type="http://schemas.openxmlformats.org/officeDocument/2006/relationships/oleObject" Target="../embeddings/oleObject26.bin"/></Relationships>
</file>

<file path=ppt/slides/_rels/slide19.xml.rels><?xml version="1.0" encoding="UTF-8" standalone="yes"?>
<Relationships xmlns="http://schemas.openxmlformats.org/package/2006/relationships"><Relationship Id="rId13" Type="http://schemas.openxmlformats.org/officeDocument/2006/relationships/tags" Target="../tags/tag66.xml"/><Relationship Id="rId18" Type="http://schemas.openxmlformats.org/officeDocument/2006/relationships/tags" Target="../tags/tag71.xml"/><Relationship Id="rId26" Type="http://schemas.openxmlformats.org/officeDocument/2006/relationships/tags" Target="../tags/tag79.xml"/><Relationship Id="rId39" Type="http://schemas.openxmlformats.org/officeDocument/2006/relationships/tags" Target="../tags/tag92.xml"/><Relationship Id="rId21" Type="http://schemas.openxmlformats.org/officeDocument/2006/relationships/tags" Target="../tags/tag74.xml"/><Relationship Id="rId34" Type="http://schemas.openxmlformats.org/officeDocument/2006/relationships/tags" Target="../tags/tag87.xml"/><Relationship Id="rId42" Type="http://schemas.openxmlformats.org/officeDocument/2006/relationships/notesSlide" Target="../notesSlides/notesSlide19.xml"/><Relationship Id="rId7" Type="http://schemas.openxmlformats.org/officeDocument/2006/relationships/tags" Target="../tags/tag60.xml"/><Relationship Id="rId2" Type="http://schemas.openxmlformats.org/officeDocument/2006/relationships/tags" Target="../tags/tag55.xml"/><Relationship Id="rId16" Type="http://schemas.openxmlformats.org/officeDocument/2006/relationships/tags" Target="../tags/tag69.xml"/><Relationship Id="rId29" Type="http://schemas.openxmlformats.org/officeDocument/2006/relationships/tags" Target="../tags/tag82.xml"/><Relationship Id="rId1" Type="http://schemas.openxmlformats.org/officeDocument/2006/relationships/tags" Target="../tags/tag54.xml"/><Relationship Id="rId6" Type="http://schemas.openxmlformats.org/officeDocument/2006/relationships/tags" Target="../tags/tag59.xml"/><Relationship Id="rId11" Type="http://schemas.openxmlformats.org/officeDocument/2006/relationships/tags" Target="../tags/tag64.xml"/><Relationship Id="rId24" Type="http://schemas.openxmlformats.org/officeDocument/2006/relationships/tags" Target="../tags/tag77.xml"/><Relationship Id="rId32" Type="http://schemas.openxmlformats.org/officeDocument/2006/relationships/tags" Target="../tags/tag85.xml"/><Relationship Id="rId37" Type="http://schemas.openxmlformats.org/officeDocument/2006/relationships/tags" Target="../tags/tag90.xml"/><Relationship Id="rId40" Type="http://schemas.openxmlformats.org/officeDocument/2006/relationships/tags" Target="../tags/tag93.xml"/><Relationship Id="rId45" Type="http://schemas.openxmlformats.org/officeDocument/2006/relationships/chart" Target="../charts/chart1.xml"/><Relationship Id="rId5" Type="http://schemas.openxmlformats.org/officeDocument/2006/relationships/tags" Target="../tags/tag58.xml"/><Relationship Id="rId15" Type="http://schemas.openxmlformats.org/officeDocument/2006/relationships/tags" Target="../tags/tag68.xml"/><Relationship Id="rId23" Type="http://schemas.openxmlformats.org/officeDocument/2006/relationships/tags" Target="../tags/tag76.xml"/><Relationship Id="rId28" Type="http://schemas.openxmlformats.org/officeDocument/2006/relationships/tags" Target="../tags/tag81.xml"/><Relationship Id="rId36" Type="http://schemas.openxmlformats.org/officeDocument/2006/relationships/tags" Target="../tags/tag89.xml"/><Relationship Id="rId10" Type="http://schemas.openxmlformats.org/officeDocument/2006/relationships/tags" Target="../tags/tag63.xml"/><Relationship Id="rId19" Type="http://schemas.openxmlformats.org/officeDocument/2006/relationships/tags" Target="../tags/tag72.xml"/><Relationship Id="rId31" Type="http://schemas.openxmlformats.org/officeDocument/2006/relationships/tags" Target="../tags/tag84.xml"/><Relationship Id="rId44" Type="http://schemas.openxmlformats.org/officeDocument/2006/relationships/image" Target="../media/image1.emf"/><Relationship Id="rId4" Type="http://schemas.openxmlformats.org/officeDocument/2006/relationships/tags" Target="../tags/tag57.xml"/><Relationship Id="rId9" Type="http://schemas.openxmlformats.org/officeDocument/2006/relationships/tags" Target="../tags/tag62.xml"/><Relationship Id="rId14" Type="http://schemas.openxmlformats.org/officeDocument/2006/relationships/tags" Target="../tags/tag67.xml"/><Relationship Id="rId22" Type="http://schemas.openxmlformats.org/officeDocument/2006/relationships/tags" Target="../tags/tag75.xml"/><Relationship Id="rId27" Type="http://schemas.openxmlformats.org/officeDocument/2006/relationships/tags" Target="../tags/tag80.xml"/><Relationship Id="rId30" Type="http://schemas.openxmlformats.org/officeDocument/2006/relationships/tags" Target="../tags/tag83.xml"/><Relationship Id="rId35" Type="http://schemas.openxmlformats.org/officeDocument/2006/relationships/tags" Target="../tags/tag88.xml"/><Relationship Id="rId43" Type="http://schemas.openxmlformats.org/officeDocument/2006/relationships/oleObject" Target="../embeddings/oleObject27.bin"/><Relationship Id="rId8" Type="http://schemas.openxmlformats.org/officeDocument/2006/relationships/tags" Target="../tags/tag61.xml"/><Relationship Id="rId3" Type="http://schemas.openxmlformats.org/officeDocument/2006/relationships/tags" Target="../tags/tag56.xml"/><Relationship Id="rId12" Type="http://schemas.openxmlformats.org/officeDocument/2006/relationships/tags" Target="../tags/tag65.xml"/><Relationship Id="rId17" Type="http://schemas.openxmlformats.org/officeDocument/2006/relationships/tags" Target="../tags/tag70.xml"/><Relationship Id="rId25" Type="http://schemas.openxmlformats.org/officeDocument/2006/relationships/tags" Target="../tags/tag78.xml"/><Relationship Id="rId33" Type="http://schemas.openxmlformats.org/officeDocument/2006/relationships/tags" Target="../tags/tag86.xml"/><Relationship Id="rId38" Type="http://schemas.openxmlformats.org/officeDocument/2006/relationships/tags" Target="../tags/tag91.xml"/><Relationship Id="rId20" Type="http://schemas.openxmlformats.org/officeDocument/2006/relationships/tags" Target="../tags/tag73.xml"/><Relationship Id="rId4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13.xml"/><Relationship Id="rId1" Type="http://schemas.openxmlformats.org/officeDocument/2006/relationships/tags" Target="../tags/tag94.xml"/><Relationship Id="rId5" Type="http://schemas.openxmlformats.org/officeDocument/2006/relationships/image" Target="../media/image1.emf"/><Relationship Id="rId4" Type="http://schemas.openxmlformats.org/officeDocument/2006/relationships/oleObject" Target="../embeddings/oleObject28.bin"/></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13.xml"/><Relationship Id="rId1" Type="http://schemas.openxmlformats.org/officeDocument/2006/relationships/tags" Target="../tags/tag95.xml"/><Relationship Id="rId5" Type="http://schemas.openxmlformats.org/officeDocument/2006/relationships/image" Target="../media/image1.emf"/><Relationship Id="rId4" Type="http://schemas.openxmlformats.org/officeDocument/2006/relationships/oleObject" Target="../embeddings/oleObject29.bin"/></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13.xml"/><Relationship Id="rId1" Type="http://schemas.openxmlformats.org/officeDocument/2006/relationships/tags" Target="../tags/tag96.xml"/><Relationship Id="rId5" Type="http://schemas.openxmlformats.org/officeDocument/2006/relationships/image" Target="../media/image1.emf"/><Relationship Id="rId4" Type="http://schemas.openxmlformats.org/officeDocument/2006/relationships/oleObject" Target="../embeddings/oleObject30.bin"/></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13.xml"/><Relationship Id="rId1" Type="http://schemas.openxmlformats.org/officeDocument/2006/relationships/tags" Target="../tags/tag97.xml"/><Relationship Id="rId5" Type="http://schemas.openxmlformats.org/officeDocument/2006/relationships/image" Target="../media/image1.emf"/><Relationship Id="rId4" Type="http://schemas.openxmlformats.org/officeDocument/2006/relationships/oleObject" Target="../embeddings/oleObject30.bin"/></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13.xml"/><Relationship Id="rId1" Type="http://schemas.openxmlformats.org/officeDocument/2006/relationships/tags" Target="../tags/tag98.xml"/><Relationship Id="rId5" Type="http://schemas.openxmlformats.org/officeDocument/2006/relationships/image" Target="../media/image1.emf"/><Relationship Id="rId4" Type="http://schemas.openxmlformats.org/officeDocument/2006/relationships/oleObject" Target="../embeddings/oleObject31.bin"/></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13.xml"/><Relationship Id="rId1" Type="http://schemas.openxmlformats.org/officeDocument/2006/relationships/tags" Target="../tags/tag99.xml"/><Relationship Id="rId5" Type="http://schemas.openxmlformats.org/officeDocument/2006/relationships/image" Target="../media/image1.emf"/><Relationship Id="rId4" Type="http://schemas.openxmlformats.org/officeDocument/2006/relationships/oleObject" Target="../embeddings/oleObject25.bin"/></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13.xml"/><Relationship Id="rId1" Type="http://schemas.openxmlformats.org/officeDocument/2006/relationships/tags" Target="../tags/tag100.xml"/><Relationship Id="rId5" Type="http://schemas.openxmlformats.org/officeDocument/2006/relationships/image" Target="../media/image1.emf"/><Relationship Id="rId4" Type="http://schemas.openxmlformats.org/officeDocument/2006/relationships/oleObject" Target="../embeddings/oleObject32.bin"/></Relationships>
</file>

<file path=ppt/slides/_rels/slide27.xml.rels><?xml version="1.0" encoding="UTF-8" standalone="yes"?>
<Relationships xmlns="http://schemas.openxmlformats.org/package/2006/relationships"><Relationship Id="rId8" Type="http://schemas.openxmlformats.org/officeDocument/2006/relationships/tags" Target="../tags/tag108.xml"/><Relationship Id="rId13" Type="http://schemas.openxmlformats.org/officeDocument/2006/relationships/tags" Target="../tags/tag113.xml"/><Relationship Id="rId18" Type="http://schemas.openxmlformats.org/officeDocument/2006/relationships/tags" Target="../tags/tag118.xml"/><Relationship Id="rId26" Type="http://schemas.openxmlformats.org/officeDocument/2006/relationships/chart" Target="../charts/chart4.xml"/><Relationship Id="rId3" Type="http://schemas.openxmlformats.org/officeDocument/2006/relationships/tags" Target="../tags/tag103.xml"/><Relationship Id="rId21" Type="http://schemas.openxmlformats.org/officeDocument/2006/relationships/notesSlide" Target="../notesSlides/notesSlide27.xml"/><Relationship Id="rId7" Type="http://schemas.openxmlformats.org/officeDocument/2006/relationships/tags" Target="../tags/tag107.xml"/><Relationship Id="rId12" Type="http://schemas.openxmlformats.org/officeDocument/2006/relationships/tags" Target="../tags/tag112.xml"/><Relationship Id="rId17" Type="http://schemas.openxmlformats.org/officeDocument/2006/relationships/tags" Target="../tags/tag117.xml"/><Relationship Id="rId25" Type="http://schemas.openxmlformats.org/officeDocument/2006/relationships/chart" Target="../charts/chart3.xml"/><Relationship Id="rId2" Type="http://schemas.openxmlformats.org/officeDocument/2006/relationships/tags" Target="../tags/tag102.xml"/><Relationship Id="rId16" Type="http://schemas.openxmlformats.org/officeDocument/2006/relationships/tags" Target="../tags/tag116.xml"/><Relationship Id="rId20" Type="http://schemas.openxmlformats.org/officeDocument/2006/relationships/slideLayout" Target="../slideLayouts/slideLayout13.xml"/><Relationship Id="rId29" Type="http://schemas.openxmlformats.org/officeDocument/2006/relationships/hyperlink" Target="https://www.careratingsnepal.com/upload/CompanyFiles/PR/202403100445_Pan_Himalaya_Energy_Limited_-_Bank_Facilities_Rating_Reaffirmed.pdf" TargetMode="External"/><Relationship Id="rId1" Type="http://schemas.openxmlformats.org/officeDocument/2006/relationships/tags" Target="../tags/tag101.xml"/><Relationship Id="rId6" Type="http://schemas.openxmlformats.org/officeDocument/2006/relationships/tags" Target="../tags/tag106.xml"/><Relationship Id="rId11" Type="http://schemas.openxmlformats.org/officeDocument/2006/relationships/tags" Target="../tags/tag111.xml"/><Relationship Id="rId24" Type="http://schemas.openxmlformats.org/officeDocument/2006/relationships/chart" Target="../charts/chart2.xml"/><Relationship Id="rId32" Type="http://schemas.openxmlformats.org/officeDocument/2006/relationships/slide" Target="slide12.xml"/><Relationship Id="rId5" Type="http://schemas.openxmlformats.org/officeDocument/2006/relationships/tags" Target="../tags/tag105.xml"/><Relationship Id="rId15" Type="http://schemas.openxmlformats.org/officeDocument/2006/relationships/tags" Target="../tags/tag115.xml"/><Relationship Id="rId23" Type="http://schemas.openxmlformats.org/officeDocument/2006/relationships/image" Target="../media/image1.emf"/><Relationship Id="rId28" Type="http://schemas.openxmlformats.org/officeDocument/2006/relationships/image" Target="../media/image13.svg"/><Relationship Id="rId10" Type="http://schemas.openxmlformats.org/officeDocument/2006/relationships/tags" Target="../tags/tag110.xml"/><Relationship Id="rId19" Type="http://schemas.openxmlformats.org/officeDocument/2006/relationships/tags" Target="../tags/tag119.xml"/><Relationship Id="rId31" Type="http://schemas.openxmlformats.org/officeDocument/2006/relationships/hyperlink" Target="https://infomericsnepal.com/wp-content/uploads/2024/12/PR-Numbur-Himalaya-Hydropower-Limited-1.pdf" TargetMode="External"/><Relationship Id="rId4" Type="http://schemas.openxmlformats.org/officeDocument/2006/relationships/tags" Target="../tags/tag104.xml"/><Relationship Id="rId9" Type="http://schemas.openxmlformats.org/officeDocument/2006/relationships/tags" Target="../tags/tag109.xml"/><Relationship Id="rId14" Type="http://schemas.openxmlformats.org/officeDocument/2006/relationships/tags" Target="../tags/tag114.xml"/><Relationship Id="rId22" Type="http://schemas.openxmlformats.org/officeDocument/2006/relationships/oleObject" Target="../embeddings/oleObject32.bin"/><Relationship Id="rId27" Type="http://schemas.openxmlformats.org/officeDocument/2006/relationships/image" Target="../media/image12.png"/><Relationship Id="rId30" Type="http://schemas.openxmlformats.org/officeDocument/2006/relationships/hyperlink" Target="https://www.careratingsnepal.com/upload/CompanyFiles/PR/202503040327_Global_Hydropower_Associate_Limited_-_Bank_Facilities_Ratings_Revised.pdf" TargetMode="Externa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13.xml"/><Relationship Id="rId1" Type="http://schemas.openxmlformats.org/officeDocument/2006/relationships/tags" Target="../tags/tag120.xml"/><Relationship Id="rId6" Type="http://schemas.openxmlformats.org/officeDocument/2006/relationships/image" Target="../media/image11.jpeg"/><Relationship Id="rId5" Type="http://schemas.openxmlformats.org/officeDocument/2006/relationships/image" Target="../media/image1.emf"/><Relationship Id="rId4" Type="http://schemas.openxmlformats.org/officeDocument/2006/relationships/oleObject" Target="../embeddings/oleObject33.bin"/></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13.xml"/><Relationship Id="rId1" Type="http://schemas.openxmlformats.org/officeDocument/2006/relationships/tags" Target="../tags/tag121.xml"/><Relationship Id="rId5" Type="http://schemas.openxmlformats.org/officeDocument/2006/relationships/image" Target="../media/image1.emf"/><Relationship Id="rId4" Type="http://schemas.openxmlformats.org/officeDocument/2006/relationships/oleObject" Target="../embeddings/oleObject34.bin"/></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13.xml"/><Relationship Id="rId1" Type="http://schemas.openxmlformats.org/officeDocument/2006/relationships/tags" Target="../tags/tag122.xml"/><Relationship Id="rId5" Type="http://schemas.openxmlformats.org/officeDocument/2006/relationships/image" Target="../media/image1.emf"/><Relationship Id="rId4" Type="http://schemas.openxmlformats.org/officeDocument/2006/relationships/oleObject" Target="../embeddings/oleObject35.bin"/></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13.xml"/><Relationship Id="rId1" Type="http://schemas.openxmlformats.org/officeDocument/2006/relationships/tags" Target="../tags/tag123.xml"/><Relationship Id="rId5" Type="http://schemas.openxmlformats.org/officeDocument/2006/relationships/image" Target="../media/image1.emf"/><Relationship Id="rId4" Type="http://schemas.openxmlformats.org/officeDocument/2006/relationships/oleObject" Target="../embeddings/oleObject36.bin"/></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13.xml"/><Relationship Id="rId1" Type="http://schemas.openxmlformats.org/officeDocument/2006/relationships/tags" Target="../tags/tag124.xml"/><Relationship Id="rId5" Type="http://schemas.openxmlformats.org/officeDocument/2006/relationships/image" Target="../media/image1.emf"/><Relationship Id="rId4" Type="http://schemas.openxmlformats.org/officeDocument/2006/relationships/oleObject" Target="../embeddings/oleObject37.bin"/></Relationships>
</file>

<file path=ppt/slides/_rels/slide33.xml.rels><?xml version="1.0" encoding="UTF-8" standalone="yes"?>
<Relationships xmlns="http://schemas.openxmlformats.org/package/2006/relationships"><Relationship Id="rId3" Type="http://schemas.openxmlformats.org/officeDocument/2006/relationships/oleObject" Target="../embeddings/oleObject38.bin"/><Relationship Id="rId2" Type="http://schemas.openxmlformats.org/officeDocument/2006/relationships/slideLayout" Target="../slideLayouts/slideLayout14.xml"/><Relationship Id="rId1" Type="http://schemas.openxmlformats.org/officeDocument/2006/relationships/tags" Target="../tags/tag125.xml"/><Relationship Id="rId4" Type="http://schemas.openxmlformats.org/officeDocument/2006/relationships/image" Target="../media/image14.emf"/></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13.xml"/><Relationship Id="rId1" Type="http://schemas.openxmlformats.org/officeDocument/2006/relationships/tags" Target="../tags/tag126.xml"/><Relationship Id="rId5" Type="http://schemas.openxmlformats.org/officeDocument/2006/relationships/image" Target="../media/image1.emf"/><Relationship Id="rId4" Type="http://schemas.openxmlformats.org/officeDocument/2006/relationships/oleObject" Target="../embeddings/oleObject39.bin"/></Relationships>
</file>

<file path=ppt/slides/_rels/slide35.xml.rels><?xml version="1.0" encoding="UTF-8" standalone="yes"?>
<Relationships xmlns="http://schemas.openxmlformats.org/package/2006/relationships"><Relationship Id="rId13" Type="http://schemas.openxmlformats.org/officeDocument/2006/relationships/tags" Target="../tags/tag139.xml"/><Relationship Id="rId18" Type="http://schemas.openxmlformats.org/officeDocument/2006/relationships/tags" Target="../tags/tag144.xml"/><Relationship Id="rId26" Type="http://schemas.openxmlformats.org/officeDocument/2006/relationships/tags" Target="../tags/tag152.xml"/><Relationship Id="rId39" Type="http://schemas.openxmlformats.org/officeDocument/2006/relationships/chart" Target="../charts/chart5.xml"/><Relationship Id="rId21" Type="http://schemas.openxmlformats.org/officeDocument/2006/relationships/tags" Target="../tags/tag147.xml"/><Relationship Id="rId34" Type="http://schemas.openxmlformats.org/officeDocument/2006/relationships/tags" Target="../tags/tag160.xml"/><Relationship Id="rId7" Type="http://schemas.openxmlformats.org/officeDocument/2006/relationships/tags" Target="../tags/tag133.xml"/><Relationship Id="rId2" Type="http://schemas.openxmlformats.org/officeDocument/2006/relationships/tags" Target="../tags/tag128.xml"/><Relationship Id="rId16" Type="http://schemas.openxmlformats.org/officeDocument/2006/relationships/tags" Target="../tags/tag142.xml"/><Relationship Id="rId20" Type="http://schemas.openxmlformats.org/officeDocument/2006/relationships/tags" Target="../tags/tag146.xml"/><Relationship Id="rId29" Type="http://schemas.openxmlformats.org/officeDocument/2006/relationships/tags" Target="../tags/tag155.xml"/><Relationship Id="rId41" Type="http://schemas.openxmlformats.org/officeDocument/2006/relationships/chart" Target="../charts/chart6.xml"/><Relationship Id="rId1" Type="http://schemas.openxmlformats.org/officeDocument/2006/relationships/tags" Target="../tags/tag127.xml"/><Relationship Id="rId6" Type="http://schemas.openxmlformats.org/officeDocument/2006/relationships/tags" Target="../tags/tag132.xml"/><Relationship Id="rId11" Type="http://schemas.openxmlformats.org/officeDocument/2006/relationships/tags" Target="../tags/tag137.xml"/><Relationship Id="rId24" Type="http://schemas.openxmlformats.org/officeDocument/2006/relationships/tags" Target="../tags/tag150.xml"/><Relationship Id="rId32" Type="http://schemas.openxmlformats.org/officeDocument/2006/relationships/tags" Target="../tags/tag158.xml"/><Relationship Id="rId37" Type="http://schemas.openxmlformats.org/officeDocument/2006/relationships/oleObject" Target="../embeddings/oleObject40.bin"/><Relationship Id="rId40" Type="http://schemas.openxmlformats.org/officeDocument/2006/relationships/hyperlink" Target="https://www.nea.org.np/annual_report" TargetMode="External"/><Relationship Id="rId5" Type="http://schemas.openxmlformats.org/officeDocument/2006/relationships/tags" Target="../tags/tag131.xml"/><Relationship Id="rId15" Type="http://schemas.openxmlformats.org/officeDocument/2006/relationships/tags" Target="../tags/tag141.xml"/><Relationship Id="rId23" Type="http://schemas.openxmlformats.org/officeDocument/2006/relationships/tags" Target="../tags/tag149.xml"/><Relationship Id="rId28" Type="http://schemas.openxmlformats.org/officeDocument/2006/relationships/tags" Target="../tags/tag154.xml"/><Relationship Id="rId36" Type="http://schemas.openxmlformats.org/officeDocument/2006/relationships/notesSlide" Target="../notesSlides/notesSlide34.xml"/><Relationship Id="rId10" Type="http://schemas.openxmlformats.org/officeDocument/2006/relationships/tags" Target="../tags/tag136.xml"/><Relationship Id="rId19" Type="http://schemas.openxmlformats.org/officeDocument/2006/relationships/tags" Target="../tags/tag145.xml"/><Relationship Id="rId31" Type="http://schemas.openxmlformats.org/officeDocument/2006/relationships/tags" Target="../tags/tag157.xml"/><Relationship Id="rId4" Type="http://schemas.openxmlformats.org/officeDocument/2006/relationships/tags" Target="../tags/tag130.xml"/><Relationship Id="rId9" Type="http://schemas.openxmlformats.org/officeDocument/2006/relationships/tags" Target="../tags/tag135.xml"/><Relationship Id="rId14" Type="http://schemas.openxmlformats.org/officeDocument/2006/relationships/tags" Target="../tags/tag140.xml"/><Relationship Id="rId22" Type="http://schemas.openxmlformats.org/officeDocument/2006/relationships/tags" Target="../tags/tag148.xml"/><Relationship Id="rId27" Type="http://schemas.openxmlformats.org/officeDocument/2006/relationships/tags" Target="../tags/tag153.xml"/><Relationship Id="rId30" Type="http://schemas.openxmlformats.org/officeDocument/2006/relationships/tags" Target="../tags/tag156.xml"/><Relationship Id="rId35" Type="http://schemas.openxmlformats.org/officeDocument/2006/relationships/slideLayout" Target="../slideLayouts/slideLayout13.xml"/><Relationship Id="rId8" Type="http://schemas.openxmlformats.org/officeDocument/2006/relationships/tags" Target="../tags/tag134.xml"/><Relationship Id="rId3" Type="http://schemas.openxmlformats.org/officeDocument/2006/relationships/tags" Target="../tags/tag129.xml"/><Relationship Id="rId12" Type="http://schemas.openxmlformats.org/officeDocument/2006/relationships/tags" Target="../tags/tag138.xml"/><Relationship Id="rId17" Type="http://schemas.openxmlformats.org/officeDocument/2006/relationships/tags" Target="../tags/tag143.xml"/><Relationship Id="rId25" Type="http://schemas.openxmlformats.org/officeDocument/2006/relationships/tags" Target="../tags/tag151.xml"/><Relationship Id="rId33" Type="http://schemas.openxmlformats.org/officeDocument/2006/relationships/tags" Target="../tags/tag159.xml"/><Relationship Id="rId38" Type="http://schemas.openxmlformats.org/officeDocument/2006/relationships/image" Target="../media/image1.emf"/></Relationships>
</file>

<file path=ppt/slides/_rels/slide36.xml.rels><?xml version="1.0" encoding="UTF-8" standalone="yes"?>
<Relationships xmlns="http://schemas.openxmlformats.org/package/2006/relationships"><Relationship Id="rId13" Type="http://schemas.openxmlformats.org/officeDocument/2006/relationships/tags" Target="../tags/tag173.xml"/><Relationship Id="rId18" Type="http://schemas.openxmlformats.org/officeDocument/2006/relationships/tags" Target="../tags/tag178.xml"/><Relationship Id="rId26" Type="http://schemas.openxmlformats.org/officeDocument/2006/relationships/tags" Target="../tags/tag186.xml"/><Relationship Id="rId39" Type="http://schemas.openxmlformats.org/officeDocument/2006/relationships/tags" Target="../tags/tag199.xml"/><Relationship Id="rId21" Type="http://schemas.openxmlformats.org/officeDocument/2006/relationships/tags" Target="../tags/tag181.xml"/><Relationship Id="rId34" Type="http://schemas.openxmlformats.org/officeDocument/2006/relationships/tags" Target="../tags/tag194.xml"/><Relationship Id="rId42" Type="http://schemas.openxmlformats.org/officeDocument/2006/relationships/tags" Target="../tags/tag202.xml"/><Relationship Id="rId47" Type="http://schemas.openxmlformats.org/officeDocument/2006/relationships/tags" Target="../tags/tag207.xml"/><Relationship Id="rId50" Type="http://schemas.openxmlformats.org/officeDocument/2006/relationships/tags" Target="../tags/tag210.xml"/><Relationship Id="rId55" Type="http://schemas.openxmlformats.org/officeDocument/2006/relationships/slideLayout" Target="../slideLayouts/slideLayout13.xml"/><Relationship Id="rId7" Type="http://schemas.openxmlformats.org/officeDocument/2006/relationships/tags" Target="../tags/tag167.xml"/><Relationship Id="rId2" Type="http://schemas.openxmlformats.org/officeDocument/2006/relationships/tags" Target="../tags/tag162.xml"/><Relationship Id="rId16" Type="http://schemas.openxmlformats.org/officeDocument/2006/relationships/tags" Target="../tags/tag176.xml"/><Relationship Id="rId29" Type="http://schemas.openxmlformats.org/officeDocument/2006/relationships/tags" Target="../tags/tag189.xml"/><Relationship Id="rId11" Type="http://schemas.openxmlformats.org/officeDocument/2006/relationships/tags" Target="../tags/tag171.xml"/><Relationship Id="rId24" Type="http://schemas.openxmlformats.org/officeDocument/2006/relationships/tags" Target="../tags/tag184.xml"/><Relationship Id="rId32" Type="http://schemas.openxmlformats.org/officeDocument/2006/relationships/tags" Target="../tags/tag192.xml"/><Relationship Id="rId37" Type="http://schemas.openxmlformats.org/officeDocument/2006/relationships/tags" Target="../tags/tag197.xml"/><Relationship Id="rId40" Type="http://schemas.openxmlformats.org/officeDocument/2006/relationships/tags" Target="../tags/tag200.xml"/><Relationship Id="rId45" Type="http://schemas.openxmlformats.org/officeDocument/2006/relationships/tags" Target="../tags/tag205.xml"/><Relationship Id="rId53" Type="http://schemas.openxmlformats.org/officeDocument/2006/relationships/tags" Target="../tags/tag213.xml"/><Relationship Id="rId58" Type="http://schemas.openxmlformats.org/officeDocument/2006/relationships/image" Target="../media/image1.emf"/><Relationship Id="rId5" Type="http://schemas.openxmlformats.org/officeDocument/2006/relationships/tags" Target="../tags/tag165.xml"/><Relationship Id="rId61" Type="http://schemas.openxmlformats.org/officeDocument/2006/relationships/chart" Target="../charts/chart8.xml"/><Relationship Id="rId19" Type="http://schemas.openxmlformats.org/officeDocument/2006/relationships/tags" Target="../tags/tag179.xml"/><Relationship Id="rId14" Type="http://schemas.openxmlformats.org/officeDocument/2006/relationships/tags" Target="../tags/tag174.xml"/><Relationship Id="rId22" Type="http://schemas.openxmlformats.org/officeDocument/2006/relationships/tags" Target="../tags/tag182.xml"/><Relationship Id="rId27" Type="http://schemas.openxmlformats.org/officeDocument/2006/relationships/tags" Target="../tags/tag187.xml"/><Relationship Id="rId30" Type="http://schemas.openxmlformats.org/officeDocument/2006/relationships/tags" Target="../tags/tag190.xml"/><Relationship Id="rId35" Type="http://schemas.openxmlformats.org/officeDocument/2006/relationships/tags" Target="../tags/tag195.xml"/><Relationship Id="rId43" Type="http://schemas.openxmlformats.org/officeDocument/2006/relationships/tags" Target="../tags/tag203.xml"/><Relationship Id="rId48" Type="http://schemas.openxmlformats.org/officeDocument/2006/relationships/tags" Target="../tags/tag208.xml"/><Relationship Id="rId56" Type="http://schemas.openxmlformats.org/officeDocument/2006/relationships/notesSlide" Target="../notesSlides/notesSlide35.xml"/><Relationship Id="rId8" Type="http://schemas.openxmlformats.org/officeDocument/2006/relationships/tags" Target="../tags/tag168.xml"/><Relationship Id="rId51" Type="http://schemas.openxmlformats.org/officeDocument/2006/relationships/tags" Target="../tags/tag211.xml"/><Relationship Id="rId3" Type="http://schemas.openxmlformats.org/officeDocument/2006/relationships/tags" Target="../tags/tag163.xml"/><Relationship Id="rId12" Type="http://schemas.openxmlformats.org/officeDocument/2006/relationships/tags" Target="../tags/tag172.xml"/><Relationship Id="rId17" Type="http://schemas.openxmlformats.org/officeDocument/2006/relationships/tags" Target="../tags/tag177.xml"/><Relationship Id="rId25" Type="http://schemas.openxmlformats.org/officeDocument/2006/relationships/tags" Target="../tags/tag185.xml"/><Relationship Id="rId33" Type="http://schemas.openxmlformats.org/officeDocument/2006/relationships/tags" Target="../tags/tag193.xml"/><Relationship Id="rId38" Type="http://schemas.openxmlformats.org/officeDocument/2006/relationships/tags" Target="../tags/tag198.xml"/><Relationship Id="rId46" Type="http://schemas.openxmlformats.org/officeDocument/2006/relationships/tags" Target="../tags/tag206.xml"/><Relationship Id="rId59" Type="http://schemas.openxmlformats.org/officeDocument/2006/relationships/chart" Target="../charts/chart7.xml"/><Relationship Id="rId20" Type="http://schemas.openxmlformats.org/officeDocument/2006/relationships/tags" Target="../tags/tag180.xml"/><Relationship Id="rId41" Type="http://schemas.openxmlformats.org/officeDocument/2006/relationships/tags" Target="../tags/tag201.xml"/><Relationship Id="rId54" Type="http://schemas.openxmlformats.org/officeDocument/2006/relationships/tags" Target="../tags/tag214.xml"/><Relationship Id="rId1" Type="http://schemas.openxmlformats.org/officeDocument/2006/relationships/tags" Target="../tags/tag161.xml"/><Relationship Id="rId6" Type="http://schemas.openxmlformats.org/officeDocument/2006/relationships/tags" Target="../tags/tag166.xml"/><Relationship Id="rId15" Type="http://schemas.openxmlformats.org/officeDocument/2006/relationships/tags" Target="../tags/tag175.xml"/><Relationship Id="rId23" Type="http://schemas.openxmlformats.org/officeDocument/2006/relationships/tags" Target="../tags/tag183.xml"/><Relationship Id="rId28" Type="http://schemas.openxmlformats.org/officeDocument/2006/relationships/tags" Target="../tags/tag188.xml"/><Relationship Id="rId36" Type="http://schemas.openxmlformats.org/officeDocument/2006/relationships/tags" Target="../tags/tag196.xml"/><Relationship Id="rId49" Type="http://schemas.openxmlformats.org/officeDocument/2006/relationships/tags" Target="../tags/tag209.xml"/><Relationship Id="rId57" Type="http://schemas.openxmlformats.org/officeDocument/2006/relationships/oleObject" Target="../embeddings/oleObject41.bin"/><Relationship Id="rId10" Type="http://schemas.openxmlformats.org/officeDocument/2006/relationships/tags" Target="../tags/tag170.xml"/><Relationship Id="rId31" Type="http://schemas.openxmlformats.org/officeDocument/2006/relationships/tags" Target="../tags/tag191.xml"/><Relationship Id="rId44" Type="http://schemas.openxmlformats.org/officeDocument/2006/relationships/tags" Target="../tags/tag204.xml"/><Relationship Id="rId52" Type="http://schemas.openxmlformats.org/officeDocument/2006/relationships/tags" Target="../tags/tag212.xml"/><Relationship Id="rId60" Type="http://schemas.openxmlformats.org/officeDocument/2006/relationships/hyperlink" Target="https://www.nea.org.np/annual_report" TargetMode="External"/><Relationship Id="rId4" Type="http://schemas.openxmlformats.org/officeDocument/2006/relationships/tags" Target="../tags/tag164.xml"/><Relationship Id="rId9" Type="http://schemas.openxmlformats.org/officeDocument/2006/relationships/tags" Target="../tags/tag169.xml"/></Relationships>
</file>

<file path=ppt/slides/_rels/slide37.xml.rels><?xml version="1.0" encoding="UTF-8" standalone="yes"?>
<Relationships xmlns="http://schemas.openxmlformats.org/package/2006/relationships"><Relationship Id="rId13" Type="http://schemas.openxmlformats.org/officeDocument/2006/relationships/tags" Target="../tags/tag227.xml"/><Relationship Id="rId18" Type="http://schemas.openxmlformats.org/officeDocument/2006/relationships/tags" Target="../tags/tag232.xml"/><Relationship Id="rId26" Type="http://schemas.openxmlformats.org/officeDocument/2006/relationships/tags" Target="../tags/tag240.xml"/><Relationship Id="rId39" Type="http://schemas.openxmlformats.org/officeDocument/2006/relationships/tags" Target="../tags/tag253.xml"/><Relationship Id="rId21" Type="http://schemas.openxmlformats.org/officeDocument/2006/relationships/tags" Target="../tags/tag235.xml"/><Relationship Id="rId34" Type="http://schemas.openxmlformats.org/officeDocument/2006/relationships/tags" Target="../tags/tag248.xml"/><Relationship Id="rId42" Type="http://schemas.openxmlformats.org/officeDocument/2006/relationships/tags" Target="../tags/tag256.xml"/><Relationship Id="rId47" Type="http://schemas.openxmlformats.org/officeDocument/2006/relationships/tags" Target="../tags/tag261.xml"/><Relationship Id="rId50" Type="http://schemas.openxmlformats.org/officeDocument/2006/relationships/tags" Target="../tags/tag264.xml"/><Relationship Id="rId55" Type="http://schemas.openxmlformats.org/officeDocument/2006/relationships/tags" Target="../tags/tag269.xml"/><Relationship Id="rId63" Type="http://schemas.openxmlformats.org/officeDocument/2006/relationships/hyperlink" Target="https://www.nea.org.np/annual_report" TargetMode="External"/><Relationship Id="rId7" Type="http://schemas.openxmlformats.org/officeDocument/2006/relationships/tags" Target="../tags/tag221.xml"/><Relationship Id="rId2" Type="http://schemas.openxmlformats.org/officeDocument/2006/relationships/tags" Target="../tags/tag216.xml"/><Relationship Id="rId16" Type="http://schemas.openxmlformats.org/officeDocument/2006/relationships/tags" Target="../tags/tag230.xml"/><Relationship Id="rId29" Type="http://schemas.openxmlformats.org/officeDocument/2006/relationships/tags" Target="../tags/tag243.xml"/><Relationship Id="rId11" Type="http://schemas.openxmlformats.org/officeDocument/2006/relationships/tags" Target="../tags/tag225.xml"/><Relationship Id="rId24" Type="http://schemas.openxmlformats.org/officeDocument/2006/relationships/tags" Target="../tags/tag238.xml"/><Relationship Id="rId32" Type="http://schemas.openxmlformats.org/officeDocument/2006/relationships/tags" Target="../tags/tag246.xml"/><Relationship Id="rId37" Type="http://schemas.openxmlformats.org/officeDocument/2006/relationships/tags" Target="../tags/tag251.xml"/><Relationship Id="rId40" Type="http://schemas.openxmlformats.org/officeDocument/2006/relationships/tags" Target="../tags/tag254.xml"/><Relationship Id="rId45" Type="http://schemas.openxmlformats.org/officeDocument/2006/relationships/tags" Target="../tags/tag259.xml"/><Relationship Id="rId53" Type="http://schemas.openxmlformats.org/officeDocument/2006/relationships/tags" Target="../tags/tag267.xml"/><Relationship Id="rId58" Type="http://schemas.openxmlformats.org/officeDocument/2006/relationships/slideLayout" Target="../slideLayouts/slideLayout13.xml"/><Relationship Id="rId5" Type="http://schemas.openxmlformats.org/officeDocument/2006/relationships/tags" Target="../tags/tag219.xml"/><Relationship Id="rId61" Type="http://schemas.openxmlformats.org/officeDocument/2006/relationships/image" Target="../media/image1.emf"/><Relationship Id="rId19" Type="http://schemas.openxmlformats.org/officeDocument/2006/relationships/tags" Target="../tags/tag233.xml"/><Relationship Id="rId14" Type="http://schemas.openxmlformats.org/officeDocument/2006/relationships/tags" Target="../tags/tag228.xml"/><Relationship Id="rId22" Type="http://schemas.openxmlformats.org/officeDocument/2006/relationships/tags" Target="../tags/tag236.xml"/><Relationship Id="rId27" Type="http://schemas.openxmlformats.org/officeDocument/2006/relationships/tags" Target="../tags/tag241.xml"/><Relationship Id="rId30" Type="http://schemas.openxmlformats.org/officeDocument/2006/relationships/tags" Target="../tags/tag244.xml"/><Relationship Id="rId35" Type="http://schemas.openxmlformats.org/officeDocument/2006/relationships/tags" Target="../tags/tag249.xml"/><Relationship Id="rId43" Type="http://schemas.openxmlformats.org/officeDocument/2006/relationships/tags" Target="../tags/tag257.xml"/><Relationship Id="rId48" Type="http://schemas.openxmlformats.org/officeDocument/2006/relationships/tags" Target="../tags/tag262.xml"/><Relationship Id="rId56" Type="http://schemas.openxmlformats.org/officeDocument/2006/relationships/tags" Target="../tags/tag270.xml"/><Relationship Id="rId64" Type="http://schemas.openxmlformats.org/officeDocument/2006/relationships/chart" Target="../charts/chart10.xml"/><Relationship Id="rId8" Type="http://schemas.openxmlformats.org/officeDocument/2006/relationships/tags" Target="../tags/tag222.xml"/><Relationship Id="rId51" Type="http://schemas.openxmlformats.org/officeDocument/2006/relationships/tags" Target="../tags/tag265.xml"/><Relationship Id="rId3" Type="http://schemas.openxmlformats.org/officeDocument/2006/relationships/tags" Target="../tags/tag217.xml"/><Relationship Id="rId12" Type="http://schemas.openxmlformats.org/officeDocument/2006/relationships/tags" Target="../tags/tag226.xml"/><Relationship Id="rId17" Type="http://schemas.openxmlformats.org/officeDocument/2006/relationships/tags" Target="../tags/tag231.xml"/><Relationship Id="rId25" Type="http://schemas.openxmlformats.org/officeDocument/2006/relationships/tags" Target="../tags/tag239.xml"/><Relationship Id="rId33" Type="http://schemas.openxmlformats.org/officeDocument/2006/relationships/tags" Target="../tags/tag247.xml"/><Relationship Id="rId38" Type="http://schemas.openxmlformats.org/officeDocument/2006/relationships/tags" Target="../tags/tag252.xml"/><Relationship Id="rId46" Type="http://schemas.openxmlformats.org/officeDocument/2006/relationships/tags" Target="../tags/tag260.xml"/><Relationship Id="rId59" Type="http://schemas.openxmlformats.org/officeDocument/2006/relationships/notesSlide" Target="../notesSlides/notesSlide36.xml"/><Relationship Id="rId20" Type="http://schemas.openxmlformats.org/officeDocument/2006/relationships/tags" Target="../tags/tag234.xml"/><Relationship Id="rId41" Type="http://schemas.openxmlformats.org/officeDocument/2006/relationships/tags" Target="../tags/tag255.xml"/><Relationship Id="rId54" Type="http://schemas.openxmlformats.org/officeDocument/2006/relationships/tags" Target="../tags/tag268.xml"/><Relationship Id="rId62" Type="http://schemas.openxmlformats.org/officeDocument/2006/relationships/chart" Target="../charts/chart9.xml"/><Relationship Id="rId1" Type="http://schemas.openxmlformats.org/officeDocument/2006/relationships/tags" Target="../tags/tag215.xml"/><Relationship Id="rId6" Type="http://schemas.openxmlformats.org/officeDocument/2006/relationships/tags" Target="../tags/tag220.xml"/><Relationship Id="rId15" Type="http://schemas.openxmlformats.org/officeDocument/2006/relationships/tags" Target="../tags/tag229.xml"/><Relationship Id="rId23" Type="http://schemas.openxmlformats.org/officeDocument/2006/relationships/tags" Target="../tags/tag237.xml"/><Relationship Id="rId28" Type="http://schemas.openxmlformats.org/officeDocument/2006/relationships/tags" Target="../tags/tag242.xml"/><Relationship Id="rId36" Type="http://schemas.openxmlformats.org/officeDocument/2006/relationships/tags" Target="../tags/tag250.xml"/><Relationship Id="rId49" Type="http://schemas.openxmlformats.org/officeDocument/2006/relationships/tags" Target="../tags/tag263.xml"/><Relationship Id="rId57" Type="http://schemas.openxmlformats.org/officeDocument/2006/relationships/tags" Target="../tags/tag271.xml"/><Relationship Id="rId10" Type="http://schemas.openxmlformats.org/officeDocument/2006/relationships/tags" Target="../tags/tag224.xml"/><Relationship Id="rId31" Type="http://schemas.openxmlformats.org/officeDocument/2006/relationships/tags" Target="../tags/tag245.xml"/><Relationship Id="rId44" Type="http://schemas.openxmlformats.org/officeDocument/2006/relationships/tags" Target="../tags/tag258.xml"/><Relationship Id="rId52" Type="http://schemas.openxmlformats.org/officeDocument/2006/relationships/tags" Target="../tags/tag266.xml"/><Relationship Id="rId60" Type="http://schemas.openxmlformats.org/officeDocument/2006/relationships/oleObject" Target="../embeddings/oleObject42.bin"/><Relationship Id="rId4" Type="http://schemas.openxmlformats.org/officeDocument/2006/relationships/tags" Target="../tags/tag218.xml"/><Relationship Id="rId9" Type="http://schemas.openxmlformats.org/officeDocument/2006/relationships/tags" Target="../tags/tag223.xml"/></Relationships>
</file>

<file path=ppt/slides/_rels/slide38.xml.rels><?xml version="1.0" encoding="UTF-8" standalone="yes"?>
<Relationships xmlns="http://schemas.openxmlformats.org/package/2006/relationships"><Relationship Id="rId26" Type="http://schemas.openxmlformats.org/officeDocument/2006/relationships/tags" Target="../tags/tag297.xml"/><Relationship Id="rId21" Type="http://schemas.openxmlformats.org/officeDocument/2006/relationships/tags" Target="../tags/tag292.xml"/><Relationship Id="rId42" Type="http://schemas.openxmlformats.org/officeDocument/2006/relationships/tags" Target="../tags/tag313.xml"/><Relationship Id="rId47" Type="http://schemas.openxmlformats.org/officeDocument/2006/relationships/tags" Target="../tags/tag318.xml"/><Relationship Id="rId63" Type="http://schemas.openxmlformats.org/officeDocument/2006/relationships/tags" Target="../tags/tag334.xml"/><Relationship Id="rId68" Type="http://schemas.openxmlformats.org/officeDocument/2006/relationships/tags" Target="../tags/tag339.xml"/><Relationship Id="rId84" Type="http://schemas.openxmlformats.org/officeDocument/2006/relationships/tags" Target="../tags/tag355.xml"/><Relationship Id="rId89" Type="http://schemas.openxmlformats.org/officeDocument/2006/relationships/tags" Target="../tags/tag360.xml"/><Relationship Id="rId16" Type="http://schemas.openxmlformats.org/officeDocument/2006/relationships/tags" Target="../tags/tag287.xml"/><Relationship Id="rId107" Type="http://schemas.openxmlformats.org/officeDocument/2006/relationships/hyperlink" Target="https://www.nea.org.np/annual_report" TargetMode="External"/><Relationship Id="rId11" Type="http://schemas.openxmlformats.org/officeDocument/2006/relationships/tags" Target="../tags/tag282.xml"/><Relationship Id="rId32" Type="http://schemas.openxmlformats.org/officeDocument/2006/relationships/tags" Target="../tags/tag303.xml"/><Relationship Id="rId37" Type="http://schemas.openxmlformats.org/officeDocument/2006/relationships/tags" Target="../tags/tag308.xml"/><Relationship Id="rId53" Type="http://schemas.openxmlformats.org/officeDocument/2006/relationships/tags" Target="../tags/tag324.xml"/><Relationship Id="rId58" Type="http://schemas.openxmlformats.org/officeDocument/2006/relationships/tags" Target="../tags/tag329.xml"/><Relationship Id="rId74" Type="http://schemas.openxmlformats.org/officeDocument/2006/relationships/tags" Target="../tags/tag345.xml"/><Relationship Id="rId79" Type="http://schemas.openxmlformats.org/officeDocument/2006/relationships/tags" Target="../tags/tag350.xml"/><Relationship Id="rId102" Type="http://schemas.openxmlformats.org/officeDocument/2006/relationships/tags" Target="../tags/tag373.xml"/><Relationship Id="rId5" Type="http://schemas.openxmlformats.org/officeDocument/2006/relationships/tags" Target="../tags/tag276.xml"/><Relationship Id="rId90" Type="http://schemas.openxmlformats.org/officeDocument/2006/relationships/tags" Target="../tags/tag361.xml"/><Relationship Id="rId95" Type="http://schemas.openxmlformats.org/officeDocument/2006/relationships/tags" Target="../tags/tag366.xml"/><Relationship Id="rId22" Type="http://schemas.openxmlformats.org/officeDocument/2006/relationships/tags" Target="../tags/tag293.xml"/><Relationship Id="rId27" Type="http://schemas.openxmlformats.org/officeDocument/2006/relationships/tags" Target="../tags/tag298.xml"/><Relationship Id="rId43" Type="http://schemas.openxmlformats.org/officeDocument/2006/relationships/tags" Target="../tags/tag314.xml"/><Relationship Id="rId48" Type="http://schemas.openxmlformats.org/officeDocument/2006/relationships/tags" Target="../tags/tag319.xml"/><Relationship Id="rId64" Type="http://schemas.openxmlformats.org/officeDocument/2006/relationships/tags" Target="../tags/tag335.xml"/><Relationship Id="rId69" Type="http://schemas.openxmlformats.org/officeDocument/2006/relationships/tags" Target="../tags/tag340.xml"/><Relationship Id="rId80" Type="http://schemas.openxmlformats.org/officeDocument/2006/relationships/tags" Target="../tags/tag351.xml"/><Relationship Id="rId85" Type="http://schemas.openxmlformats.org/officeDocument/2006/relationships/tags" Target="../tags/tag356.xml"/><Relationship Id="rId12" Type="http://schemas.openxmlformats.org/officeDocument/2006/relationships/tags" Target="../tags/tag283.xml"/><Relationship Id="rId17" Type="http://schemas.openxmlformats.org/officeDocument/2006/relationships/tags" Target="../tags/tag288.xml"/><Relationship Id="rId33" Type="http://schemas.openxmlformats.org/officeDocument/2006/relationships/tags" Target="../tags/tag304.xml"/><Relationship Id="rId38" Type="http://schemas.openxmlformats.org/officeDocument/2006/relationships/tags" Target="../tags/tag309.xml"/><Relationship Id="rId59" Type="http://schemas.openxmlformats.org/officeDocument/2006/relationships/tags" Target="../tags/tag330.xml"/><Relationship Id="rId103" Type="http://schemas.openxmlformats.org/officeDocument/2006/relationships/slideLayout" Target="../slideLayouts/slideLayout13.xml"/><Relationship Id="rId108" Type="http://schemas.openxmlformats.org/officeDocument/2006/relationships/chart" Target="../charts/chart11.xml"/><Relationship Id="rId54" Type="http://schemas.openxmlformats.org/officeDocument/2006/relationships/tags" Target="../tags/tag325.xml"/><Relationship Id="rId70" Type="http://schemas.openxmlformats.org/officeDocument/2006/relationships/tags" Target="../tags/tag341.xml"/><Relationship Id="rId75" Type="http://schemas.openxmlformats.org/officeDocument/2006/relationships/tags" Target="../tags/tag346.xml"/><Relationship Id="rId91" Type="http://schemas.openxmlformats.org/officeDocument/2006/relationships/tags" Target="../tags/tag362.xml"/><Relationship Id="rId96" Type="http://schemas.openxmlformats.org/officeDocument/2006/relationships/tags" Target="../tags/tag367.xml"/><Relationship Id="rId1" Type="http://schemas.openxmlformats.org/officeDocument/2006/relationships/tags" Target="../tags/tag272.xml"/><Relationship Id="rId6" Type="http://schemas.openxmlformats.org/officeDocument/2006/relationships/tags" Target="../tags/tag277.xml"/><Relationship Id="rId15" Type="http://schemas.openxmlformats.org/officeDocument/2006/relationships/tags" Target="../tags/tag286.xml"/><Relationship Id="rId23" Type="http://schemas.openxmlformats.org/officeDocument/2006/relationships/tags" Target="../tags/tag294.xml"/><Relationship Id="rId28" Type="http://schemas.openxmlformats.org/officeDocument/2006/relationships/tags" Target="../tags/tag299.xml"/><Relationship Id="rId36" Type="http://schemas.openxmlformats.org/officeDocument/2006/relationships/tags" Target="../tags/tag307.xml"/><Relationship Id="rId49" Type="http://schemas.openxmlformats.org/officeDocument/2006/relationships/tags" Target="../tags/tag320.xml"/><Relationship Id="rId57" Type="http://schemas.openxmlformats.org/officeDocument/2006/relationships/tags" Target="../tags/tag328.xml"/><Relationship Id="rId106" Type="http://schemas.openxmlformats.org/officeDocument/2006/relationships/image" Target="../media/image1.emf"/><Relationship Id="rId10" Type="http://schemas.openxmlformats.org/officeDocument/2006/relationships/tags" Target="../tags/tag281.xml"/><Relationship Id="rId31" Type="http://schemas.openxmlformats.org/officeDocument/2006/relationships/tags" Target="../tags/tag302.xml"/><Relationship Id="rId44" Type="http://schemas.openxmlformats.org/officeDocument/2006/relationships/tags" Target="../tags/tag315.xml"/><Relationship Id="rId52" Type="http://schemas.openxmlformats.org/officeDocument/2006/relationships/tags" Target="../tags/tag323.xml"/><Relationship Id="rId60" Type="http://schemas.openxmlformats.org/officeDocument/2006/relationships/tags" Target="../tags/tag331.xml"/><Relationship Id="rId65" Type="http://schemas.openxmlformats.org/officeDocument/2006/relationships/tags" Target="../tags/tag336.xml"/><Relationship Id="rId73" Type="http://schemas.openxmlformats.org/officeDocument/2006/relationships/tags" Target="../tags/tag344.xml"/><Relationship Id="rId78" Type="http://schemas.openxmlformats.org/officeDocument/2006/relationships/tags" Target="../tags/tag349.xml"/><Relationship Id="rId81" Type="http://schemas.openxmlformats.org/officeDocument/2006/relationships/tags" Target="../tags/tag352.xml"/><Relationship Id="rId86" Type="http://schemas.openxmlformats.org/officeDocument/2006/relationships/tags" Target="../tags/tag357.xml"/><Relationship Id="rId94" Type="http://schemas.openxmlformats.org/officeDocument/2006/relationships/tags" Target="../tags/tag365.xml"/><Relationship Id="rId99" Type="http://schemas.openxmlformats.org/officeDocument/2006/relationships/tags" Target="../tags/tag370.xml"/><Relationship Id="rId101" Type="http://schemas.openxmlformats.org/officeDocument/2006/relationships/tags" Target="../tags/tag372.xml"/><Relationship Id="rId4" Type="http://schemas.openxmlformats.org/officeDocument/2006/relationships/tags" Target="../tags/tag275.xml"/><Relationship Id="rId9" Type="http://schemas.openxmlformats.org/officeDocument/2006/relationships/tags" Target="../tags/tag280.xml"/><Relationship Id="rId13" Type="http://schemas.openxmlformats.org/officeDocument/2006/relationships/tags" Target="../tags/tag284.xml"/><Relationship Id="rId18" Type="http://schemas.openxmlformats.org/officeDocument/2006/relationships/tags" Target="../tags/tag289.xml"/><Relationship Id="rId39" Type="http://schemas.openxmlformats.org/officeDocument/2006/relationships/tags" Target="../tags/tag310.xml"/><Relationship Id="rId109" Type="http://schemas.openxmlformats.org/officeDocument/2006/relationships/chart" Target="../charts/chart12.xml"/><Relationship Id="rId34" Type="http://schemas.openxmlformats.org/officeDocument/2006/relationships/tags" Target="../tags/tag305.xml"/><Relationship Id="rId50" Type="http://schemas.openxmlformats.org/officeDocument/2006/relationships/tags" Target="../tags/tag321.xml"/><Relationship Id="rId55" Type="http://schemas.openxmlformats.org/officeDocument/2006/relationships/tags" Target="../tags/tag326.xml"/><Relationship Id="rId76" Type="http://schemas.openxmlformats.org/officeDocument/2006/relationships/tags" Target="../tags/tag347.xml"/><Relationship Id="rId97" Type="http://schemas.openxmlformats.org/officeDocument/2006/relationships/tags" Target="../tags/tag368.xml"/><Relationship Id="rId104" Type="http://schemas.openxmlformats.org/officeDocument/2006/relationships/notesSlide" Target="../notesSlides/notesSlide37.xml"/><Relationship Id="rId7" Type="http://schemas.openxmlformats.org/officeDocument/2006/relationships/tags" Target="../tags/tag278.xml"/><Relationship Id="rId71" Type="http://schemas.openxmlformats.org/officeDocument/2006/relationships/tags" Target="../tags/tag342.xml"/><Relationship Id="rId92" Type="http://schemas.openxmlformats.org/officeDocument/2006/relationships/tags" Target="../tags/tag363.xml"/><Relationship Id="rId2" Type="http://schemas.openxmlformats.org/officeDocument/2006/relationships/tags" Target="../tags/tag273.xml"/><Relationship Id="rId29" Type="http://schemas.openxmlformats.org/officeDocument/2006/relationships/tags" Target="../tags/tag300.xml"/><Relationship Id="rId24" Type="http://schemas.openxmlformats.org/officeDocument/2006/relationships/tags" Target="../tags/tag295.xml"/><Relationship Id="rId40" Type="http://schemas.openxmlformats.org/officeDocument/2006/relationships/tags" Target="../tags/tag311.xml"/><Relationship Id="rId45" Type="http://schemas.openxmlformats.org/officeDocument/2006/relationships/tags" Target="../tags/tag316.xml"/><Relationship Id="rId66" Type="http://schemas.openxmlformats.org/officeDocument/2006/relationships/tags" Target="../tags/tag337.xml"/><Relationship Id="rId87" Type="http://schemas.openxmlformats.org/officeDocument/2006/relationships/tags" Target="../tags/tag358.xml"/><Relationship Id="rId110" Type="http://schemas.openxmlformats.org/officeDocument/2006/relationships/chart" Target="../charts/chart13.xml"/><Relationship Id="rId61" Type="http://schemas.openxmlformats.org/officeDocument/2006/relationships/tags" Target="../tags/tag332.xml"/><Relationship Id="rId82" Type="http://schemas.openxmlformats.org/officeDocument/2006/relationships/tags" Target="../tags/tag353.xml"/><Relationship Id="rId19" Type="http://schemas.openxmlformats.org/officeDocument/2006/relationships/tags" Target="../tags/tag290.xml"/><Relationship Id="rId14" Type="http://schemas.openxmlformats.org/officeDocument/2006/relationships/tags" Target="../tags/tag285.xml"/><Relationship Id="rId30" Type="http://schemas.openxmlformats.org/officeDocument/2006/relationships/tags" Target="../tags/tag301.xml"/><Relationship Id="rId35" Type="http://schemas.openxmlformats.org/officeDocument/2006/relationships/tags" Target="../tags/tag306.xml"/><Relationship Id="rId56" Type="http://schemas.openxmlformats.org/officeDocument/2006/relationships/tags" Target="../tags/tag327.xml"/><Relationship Id="rId77" Type="http://schemas.openxmlformats.org/officeDocument/2006/relationships/tags" Target="../tags/tag348.xml"/><Relationship Id="rId100" Type="http://schemas.openxmlformats.org/officeDocument/2006/relationships/tags" Target="../tags/tag371.xml"/><Relationship Id="rId105" Type="http://schemas.openxmlformats.org/officeDocument/2006/relationships/oleObject" Target="../embeddings/oleObject43.bin"/><Relationship Id="rId8" Type="http://schemas.openxmlformats.org/officeDocument/2006/relationships/tags" Target="../tags/tag279.xml"/><Relationship Id="rId51" Type="http://schemas.openxmlformats.org/officeDocument/2006/relationships/tags" Target="../tags/tag322.xml"/><Relationship Id="rId72" Type="http://schemas.openxmlformats.org/officeDocument/2006/relationships/tags" Target="../tags/tag343.xml"/><Relationship Id="rId93" Type="http://schemas.openxmlformats.org/officeDocument/2006/relationships/tags" Target="../tags/tag364.xml"/><Relationship Id="rId98" Type="http://schemas.openxmlformats.org/officeDocument/2006/relationships/tags" Target="../tags/tag369.xml"/><Relationship Id="rId3" Type="http://schemas.openxmlformats.org/officeDocument/2006/relationships/tags" Target="../tags/tag274.xml"/><Relationship Id="rId25" Type="http://schemas.openxmlformats.org/officeDocument/2006/relationships/tags" Target="../tags/tag296.xml"/><Relationship Id="rId46" Type="http://schemas.openxmlformats.org/officeDocument/2006/relationships/tags" Target="../tags/tag317.xml"/><Relationship Id="rId67" Type="http://schemas.openxmlformats.org/officeDocument/2006/relationships/tags" Target="../tags/tag338.xml"/><Relationship Id="rId20" Type="http://schemas.openxmlformats.org/officeDocument/2006/relationships/tags" Target="../tags/tag291.xml"/><Relationship Id="rId41" Type="http://schemas.openxmlformats.org/officeDocument/2006/relationships/tags" Target="../tags/tag312.xml"/><Relationship Id="rId62" Type="http://schemas.openxmlformats.org/officeDocument/2006/relationships/tags" Target="../tags/tag333.xml"/><Relationship Id="rId83" Type="http://schemas.openxmlformats.org/officeDocument/2006/relationships/tags" Target="../tags/tag354.xml"/><Relationship Id="rId88" Type="http://schemas.openxmlformats.org/officeDocument/2006/relationships/tags" Target="../tags/tag359.xml"/><Relationship Id="rId111" Type="http://schemas.openxmlformats.org/officeDocument/2006/relationships/chart" Target="../charts/chart14.xml"/></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8.xml"/><Relationship Id="rId7" Type="http://schemas.openxmlformats.org/officeDocument/2006/relationships/chart" Target="../charts/chart16.xml"/><Relationship Id="rId2" Type="http://schemas.openxmlformats.org/officeDocument/2006/relationships/slideLayout" Target="../slideLayouts/slideLayout13.xml"/><Relationship Id="rId1" Type="http://schemas.openxmlformats.org/officeDocument/2006/relationships/tags" Target="../tags/tag374.xml"/><Relationship Id="rId6" Type="http://schemas.openxmlformats.org/officeDocument/2006/relationships/chart" Target="../charts/chart15.xml"/><Relationship Id="rId5" Type="http://schemas.openxmlformats.org/officeDocument/2006/relationships/image" Target="../media/image1.emf"/><Relationship Id="rId4" Type="http://schemas.openxmlformats.org/officeDocument/2006/relationships/oleObject" Target="../embeddings/oleObject44.bin"/></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13.xml"/><Relationship Id="rId1" Type="http://schemas.openxmlformats.org/officeDocument/2006/relationships/tags" Target="../tags/tag375.xml"/><Relationship Id="rId5" Type="http://schemas.openxmlformats.org/officeDocument/2006/relationships/image" Target="../media/image1.emf"/><Relationship Id="rId4" Type="http://schemas.openxmlformats.org/officeDocument/2006/relationships/oleObject" Target="../embeddings/oleObject45.bin"/></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13.xml"/><Relationship Id="rId1" Type="http://schemas.openxmlformats.org/officeDocument/2006/relationships/tags" Target="../tags/tag376.xml"/><Relationship Id="rId5" Type="http://schemas.openxmlformats.org/officeDocument/2006/relationships/image" Target="../media/image1.emf"/><Relationship Id="rId4" Type="http://schemas.openxmlformats.org/officeDocument/2006/relationships/oleObject" Target="../embeddings/oleObject46.bin"/></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13.xml"/><Relationship Id="rId1" Type="http://schemas.openxmlformats.org/officeDocument/2006/relationships/tags" Target="../tags/tag377.xml"/><Relationship Id="rId5" Type="http://schemas.openxmlformats.org/officeDocument/2006/relationships/image" Target="../media/image1.emf"/><Relationship Id="rId4" Type="http://schemas.openxmlformats.org/officeDocument/2006/relationships/oleObject" Target="../embeddings/oleObject47.bin"/></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13.xml"/><Relationship Id="rId1" Type="http://schemas.openxmlformats.org/officeDocument/2006/relationships/tags" Target="../tags/tag378.xml"/><Relationship Id="rId5" Type="http://schemas.openxmlformats.org/officeDocument/2006/relationships/image" Target="../media/image1.emf"/><Relationship Id="rId4" Type="http://schemas.openxmlformats.org/officeDocument/2006/relationships/oleObject" Target="../embeddings/oleObject48.bin"/></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13.xml"/><Relationship Id="rId1" Type="http://schemas.openxmlformats.org/officeDocument/2006/relationships/tags" Target="../tags/tag379.xml"/><Relationship Id="rId5" Type="http://schemas.openxmlformats.org/officeDocument/2006/relationships/image" Target="../media/image1.emf"/><Relationship Id="rId4" Type="http://schemas.openxmlformats.org/officeDocument/2006/relationships/oleObject" Target="../embeddings/oleObject49.bin"/></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4.xml"/><Relationship Id="rId7" Type="http://schemas.openxmlformats.org/officeDocument/2006/relationships/image" Target="../media/image16.png"/><Relationship Id="rId2" Type="http://schemas.openxmlformats.org/officeDocument/2006/relationships/slideLayout" Target="../slideLayouts/slideLayout13.xml"/><Relationship Id="rId1" Type="http://schemas.openxmlformats.org/officeDocument/2006/relationships/tags" Target="../tags/tag380.xml"/><Relationship Id="rId6" Type="http://schemas.openxmlformats.org/officeDocument/2006/relationships/image" Target="../media/image15.png"/><Relationship Id="rId5" Type="http://schemas.openxmlformats.org/officeDocument/2006/relationships/image" Target="../media/image1.emf"/><Relationship Id="rId4" Type="http://schemas.openxmlformats.org/officeDocument/2006/relationships/oleObject" Target="../embeddings/oleObject50.bin"/></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45.xml"/><Relationship Id="rId7" Type="http://schemas.openxmlformats.org/officeDocument/2006/relationships/slide" Target="slide11.xml"/><Relationship Id="rId2" Type="http://schemas.openxmlformats.org/officeDocument/2006/relationships/slideLayout" Target="../slideLayouts/slideLayout13.xml"/><Relationship Id="rId1" Type="http://schemas.openxmlformats.org/officeDocument/2006/relationships/tags" Target="../tags/tag381.xml"/><Relationship Id="rId6" Type="http://schemas.openxmlformats.org/officeDocument/2006/relationships/chart" Target="../charts/chart17.xml"/><Relationship Id="rId5" Type="http://schemas.openxmlformats.org/officeDocument/2006/relationships/image" Target="../media/image1.emf"/><Relationship Id="rId4" Type="http://schemas.openxmlformats.org/officeDocument/2006/relationships/oleObject" Target="../embeddings/oleObject51.bin"/></Relationships>
</file>

<file path=ppt/slides/_rels/slide47.xml.rels><?xml version="1.0" encoding="UTF-8" standalone="yes"?>
<Relationships xmlns="http://schemas.openxmlformats.org/package/2006/relationships"><Relationship Id="rId8" Type="http://schemas.openxmlformats.org/officeDocument/2006/relationships/chart" Target="../charts/chart19.xml"/><Relationship Id="rId3" Type="http://schemas.openxmlformats.org/officeDocument/2006/relationships/notesSlide" Target="../notesSlides/notesSlide46.xml"/><Relationship Id="rId7" Type="http://schemas.openxmlformats.org/officeDocument/2006/relationships/chart" Target="../charts/chart18.xml"/><Relationship Id="rId2" Type="http://schemas.openxmlformats.org/officeDocument/2006/relationships/slideLayout" Target="../slideLayouts/slideLayout13.xml"/><Relationship Id="rId1" Type="http://schemas.openxmlformats.org/officeDocument/2006/relationships/tags" Target="../tags/tag382.xml"/><Relationship Id="rId6" Type="http://schemas.openxmlformats.org/officeDocument/2006/relationships/hyperlink" Target="https://www.nea.org.np/admin/assets/uploads/supportive_docs/60896609.pdf" TargetMode="External"/><Relationship Id="rId5" Type="http://schemas.openxmlformats.org/officeDocument/2006/relationships/image" Target="../media/image1.emf"/><Relationship Id="rId4" Type="http://schemas.openxmlformats.org/officeDocument/2006/relationships/oleObject" Target="../embeddings/oleObject45.bin"/></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7.xml"/><Relationship Id="rId7" Type="http://schemas.openxmlformats.org/officeDocument/2006/relationships/chart" Target="../charts/chart21.xml"/><Relationship Id="rId2" Type="http://schemas.openxmlformats.org/officeDocument/2006/relationships/slideLayout" Target="../slideLayouts/slideLayout13.xml"/><Relationship Id="rId1" Type="http://schemas.openxmlformats.org/officeDocument/2006/relationships/tags" Target="../tags/tag383.xml"/><Relationship Id="rId6" Type="http://schemas.openxmlformats.org/officeDocument/2006/relationships/chart" Target="../charts/chart20.xml"/><Relationship Id="rId5" Type="http://schemas.openxmlformats.org/officeDocument/2006/relationships/image" Target="../media/image1.emf"/><Relationship Id="rId4" Type="http://schemas.openxmlformats.org/officeDocument/2006/relationships/oleObject" Target="../embeddings/oleObject52.bin"/></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13.xml"/><Relationship Id="rId1" Type="http://schemas.openxmlformats.org/officeDocument/2006/relationships/tags" Target="../tags/tag384.xml"/><Relationship Id="rId6" Type="http://schemas.openxmlformats.org/officeDocument/2006/relationships/image" Target="../media/image17.png"/><Relationship Id="rId5" Type="http://schemas.openxmlformats.org/officeDocument/2006/relationships/image" Target="../media/image1.emf"/><Relationship Id="rId4" Type="http://schemas.openxmlformats.org/officeDocument/2006/relationships/oleObject" Target="../embeddings/oleObject48.bin"/></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13.xml"/><Relationship Id="rId1" Type="http://schemas.openxmlformats.org/officeDocument/2006/relationships/tags" Target="../tags/tag385.xml"/><Relationship Id="rId5" Type="http://schemas.openxmlformats.org/officeDocument/2006/relationships/image" Target="../media/image1.emf"/><Relationship Id="rId4" Type="http://schemas.openxmlformats.org/officeDocument/2006/relationships/oleObject" Target="../embeddings/oleObject54.bin"/></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13.xml"/><Relationship Id="rId1" Type="http://schemas.openxmlformats.org/officeDocument/2006/relationships/tags" Target="../tags/tag386.xml"/><Relationship Id="rId5" Type="http://schemas.openxmlformats.org/officeDocument/2006/relationships/image" Target="../media/image1.emf"/><Relationship Id="rId4" Type="http://schemas.openxmlformats.org/officeDocument/2006/relationships/oleObject" Target="../embeddings/oleObject54.bin"/></Relationships>
</file>

<file path=ppt/slides/_rels/slide52.xml.rels><?xml version="1.0" encoding="UTF-8" standalone="yes"?>
<Relationships xmlns="http://schemas.openxmlformats.org/package/2006/relationships"><Relationship Id="rId13" Type="http://schemas.openxmlformats.org/officeDocument/2006/relationships/tags" Target="../tags/tag399.xml"/><Relationship Id="rId18" Type="http://schemas.openxmlformats.org/officeDocument/2006/relationships/tags" Target="../tags/tag404.xml"/><Relationship Id="rId26" Type="http://schemas.openxmlformats.org/officeDocument/2006/relationships/tags" Target="../tags/tag412.xml"/><Relationship Id="rId39" Type="http://schemas.openxmlformats.org/officeDocument/2006/relationships/chart" Target="../charts/chart22.xml"/><Relationship Id="rId21" Type="http://schemas.openxmlformats.org/officeDocument/2006/relationships/tags" Target="../tags/tag407.xml"/><Relationship Id="rId34" Type="http://schemas.openxmlformats.org/officeDocument/2006/relationships/tags" Target="../tags/tag420.xml"/><Relationship Id="rId42" Type="http://schemas.openxmlformats.org/officeDocument/2006/relationships/hyperlink" Target="https://moewri.gov.np/storage/listies/May2020/electricity-demand-forecast-report-2014-2040.pdf" TargetMode="External"/><Relationship Id="rId7" Type="http://schemas.openxmlformats.org/officeDocument/2006/relationships/tags" Target="../tags/tag393.xml"/><Relationship Id="rId2" Type="http://schemas.openxmlformats.org/officeDocument/2006/relationships/tags" Target="../tags/tag388.xml"/><Relationship Id="rId16" Type="http://schemas.openxmlformats.org/officeDocument/2006/relationships/tags" Target="../tags/tag402.xml"/><Relationship Id="rId20" Type="http://schemas.openxmlformats.org/officeDocument/2006/relationships/tags" Target="../tags/tag406.xml"/><Relationship Id="rId29" Type="http://schemas.openxmlformats.org/officeDocument/2006/relationships/tags" Target="../tags/tag415.xml"/><Relationship Id="rId41" Type="http://schemas.openxmlformats.org/officeDocument/2006/relationships/hyperlink" Target="https://ibn.gov.np/uploads/documents/energy-demand-projection-2030pdf-3751-220-1671458121.pdf" TargetMode="External"/><Relationship Id="rId1" Type="http://schemas.openxmlformats.org/officeDocument/2006/relationships/tags" Target="../tags/tag387.xml"/><Relationship Id="rId6" Type="http://schemas.openxmlformats.org/officeDocument/2006/relationships/tags" Target="../tags/tag392.xml"/><Relationship Id="rId11" Type="http://schemas.openxmlformats.org/officeDocument/2006/relationships/tags" Target="../tags/tag397.xml"/><Relationship Id="rId24" Type="http://schemas.openxmlformats.org/officeDocument/2006/relationships/tags" Target="../tags/tag410.xml"/><Relationship Id="rId32" Type="http://schemas.openxmlformats.org/officeDocument/2006/relationships/tags" Target="../tags/tag418.xml"/><Relationship Id="rId37" Type="http://schemas.openxmlformats.org/officeDocument/2006/relationships/oleObject" Target="../embeddings/oleObject55.bin"/><Relationship Id="rId40" Type="http://schemas.openxmlformats.org/officeDocument/2006/relationships/hyperlink" Target="https://www.nea.org.np/annual_report" TargetMode="External"/><Relationship Id="rId5" Type="http://schemas.openxmlformats.org/officeDocument/2006/relationships/tags" Target="../tags/tag391.xml"/><Relationship Id="rId15" Type="http://schemas.openxmlformats.org/officeDocument/2006/relationships/tags" Target="../tags/tag401.xml"/><Relationship Id="rId23" Type="http://schemas.openxmlformats.org/officeDocument/2006/relationships/tags" Target="../tags/tag409.xml"/><Relationship Id="rId28" Type="http://schemas.openxmlformats.org/officeDocument/2006/relationships/tags" Target="../tags/tag414.xml"/><Relationship Id="rId36" Type="http://schemas.openxmlformats.org/officeDocument/2006/relationships/notesSlide" Target="../notesSlides/notesSlide51.xml"/><Relationship Id="rId10" Type="http://schemas.openxmlformats.org/officeDocument/2006/relationships/tags" Target="../tags/tag396.xml"/><Relationship Id="rId19" Type="http://schemas.openxmlformats.org/officeDocument/2006/relationships/tags" Target="../tags/tag405.xml"/><Relationship Id="rId31" Type="http://schemas.openxmlformats.org/officeDocument/2006/relationships/tags" Target="../tags/tag417.xml"/><Relationship Id="rId4" Type="http://schemas.openxmlformats.org/officeDocument/2006/relationships/tags" Target="../tags/tag390.xml"/><Relationship Id="rId9" Type="http://schemas.openxmlformats.org/officeDocument/2006/relationships/tags" Target="../tags/tag395.xml"/><Relationship Id="rId14" Type="http://schemas.openxmlformats.org/officeDocument/2006/relationships/tags" Target="../tags/tag400.xml"/><Relationship Id="rId22" Type="http://schemas.openxmlformats.org/officeDocument/2006/relationships/tags" Target="../tags/tag408.xml"/><Relationship Id="rId27" Type="http://schemas.openxmlformats.org/officeDocument/2006/relationships/tags" Target="../tags/tag413.xml"/><Relationship Id="rId30" Type="http://schemas.openxmlformats.org/officeDocument/2006/relationships/tags" Target="../tags/tag416.xml"/><Relationship Id="rId35" Type="http://schemas.openxmlformats.org/officeDocument/2006/relationships/slideLayout" Target="../slideLayouts/slideLayout13.xml"/><Relationship Id="rId43" Type="http://schemas.openxmlformats.org/officeDocument/2006/relationships/hyperlink" Target="https://www.nea.org.np/admin/assets/uploads/supportive_docs/LoadForecast2014_15.pdf" TargetMode="External"/><Relationship Id="rId8" Type="http://schemas.openxmlformats.org/officeDocument/2006/relationships/tags" Target="../tags/tag394.xml"/><Relationship Id="rId3" Type="http://schemas.openxmlformats.org/officeDocument/2006/relationships/tags" Target="../tags/tag389.xml"/><Relationship Id="rId12" Type="http://schemas.openxmlformats.org/officeDocument/2006/relationships/tags" Target="../tags/tag398.xml"/><Relationship Id="rId17" Type="http://schemas.openxmlformats.org/officeDocument/2006/relationships/tags" Target="../tags/tag403.xml"/><Relationship Id="rId25" Type="http://schemas.openxmlformats.org/officeDocument/2006/relationships/tags" Target="../tags/tag411.xml"/><Relationship Id="rId33" Type="http://schemas.openxmlformats.org/officeDocument/2006/relationships/tags" Target="../tags/tag419.xml"/><Relationship Id="rId38" Type="http://schemas.openxmlformats.org/officeDocument/2006/relationships/image" Target="../media/image1.emf"/></Relationships>
</file>

<file path=ppt/slides/_rels/slide53.xml.rels><?xml version="1.0" encoding="UTF-8" standalone="yes"?>
<Relationships xmlns="http://schemas.openxmlformats.org/package/2006/relationships"><Relationship Id="rId8" Type="http://schemas.openxmlformats.org/officeDocument/2006/relationships/hyperlink" Target="https://moewri.gov.np/storage/listies/May2020/electricity-demand-forecast-report-2014-2040.pdf" TargetMode="External"/><Relationship Id="rId3" Type="http://schemas.openxmlformats.org/officeDocument/2006/relationships/notesSlide" Target="../notesSlides/notesSlide52.xml"/><Relationship Id="rId7" Type="http://schemas.openxmlformats.org/officeDocument/2006/relationships/hyperlink" Target="https://ibn.gov.np/uploads/documents/energy-demand-projection-2030pdf-3751-220-1671458121.pdf" TargetMode="External"/><Relationship Id="rId2" Type="http://schemas.openxmlformats.org/officeDocument/2006/relationships/slideLayout" Target="../slideLayouts/slideLayout13.xml"/><Relationship Id="rId1" Type="http://schemas.openxmlformats.org/officeDocument/2006/relationships/tags" Target="../tags/tag421.xml"/><Relationship Id="rId6" Type="http://schemas.openxmlformats.org/officeDocument/2006/relationships/hyperlink" Target="https://www.nea.org.np/annual_report" TargetMode="External"/><Relationship Id="rId5" Type="http://schemas.openxmlformats.org/officeDocument/2006/relationships/image" Target="../media/image1.emf"/><Relationship Id="rId4" Type="http://schemas.openxmlformats.org/officeDocument/2006/relationships/oleObject" Target="../embeddings/oleObject56.bin"/><Relationship Id="rId9" Type="http://schemas.openxmlformats.org/officeDocument/2006/relationships/hyperlink" Target="https://www.nea.org.np/admin/assets/uploads/supportive_docs/LoadForecast2014_15.pdf" TargetMode="External"/></Relationships>
</file>

<file path=ppt/slides/_rels/slide54.xml.rels><?xml version="1.0" encoding="UTF-8" standalone="yes"?>
<Relationships xmlns="http://schemas.openxmlformats.org/package/2006/relationships"><Relationship Id="rId8" Type="http://schemas.openxmlformats.org/officeDocument/2006/relationships/tags" Target="../tags/tag429.xml"/><Relationship Id="rId13" Type="http://schemas.openxmlformats.org/officeDocument/2006/relationships/tags" Target="../tags/tag434.xml"/><Relationship Id="rId18" Type="http://schemas.openxmlformats.org/officeDocument/2006/relationships/tags" Target="../tags/tag439.xml"/><Relationship Id="rId26" Type="http://schemas.openxmlformats.org/officeDocument/2006/relationships/image" Target="../media/image1.emf"/><Relationship Id="rId3" Type="http://schemas.openxmlformats.org/officeDocument/2006/relationships/tags" Target="../tags/tag424.xml"/><Relationship Id="rId21" Type="http://schemas.openxmlformats.org/officeDocument/2006/relationships/tags" Target="../tags/tag442.xml"/><Relationship Id="rId7" Type="http://schemas.openxmlformats.org/officeDocument/2006/relationships/tags" Target="../tags/tag428.xml"/><Relationship Id="rId12" Type="http://schemas.openxmlformats.org/officeDocument/2006/relationships/tags" Target="../tags/tag433.xml"/><Relationship Id="rId17" Type="http://schemas.openxmlformats.org/officeDocument/2006/relationships/tags" Target="../tags/tag438.xml"/><Relationship Id="rId25" Type="http://schemas.openxmlformats.org/officeDocument/2006/relationships/oleObject" Target="../embeddings/oleObject57.bin"/><Relationship Id="rId2" Type="http://schemas.openxmlformats.org/officeDocument/2006/relationships/tags" Target="../tags/tag423.xml"/><Relationship Id="rId16" Type="http://schemas.openxmlformats.org/officeDocument/2006/relationships/tags" Target="../tags/tag437.xml"/><Relationship Id="rId20" Type="http://schemas.openxmlformats.org/officeDocument/2006/relationships/tags" Target="../tags/tag441.xml"/><Relationship Id="rId29" Type="http://schemas.openxmlformats.org/officeDocument/2006/relationships/hyperlink" Target="https://ibn.gov.np/uploads/documents/energy-demand-projection-2030pdf-3751-220-1671458121.pdf" TargetMode="External"/><Relationship Id="rId1" Type="http://schemas.openxmlformats.org/officeDocument/2006/relationships/tags" Target="../tags/tag422.xml"/><Relationship Id="rId6" Type="http://schemas.openxmlformats.org/officeDocument/2006/relationships/tags" Target="../tags/tag427.xml"/><Relationship Id="rId11" Type="http://schemas.openxmlformats.org/officeDocument/2006/relationships/tags" Target="../tags/tag432.xml"/><Relationship Id="rId24" Type="http://schemas.openxmlformats.org/officeDocument/2006/relationships/notesSlide" Target="../notesSlides/notesSlide53.xml"/><Relationship Id="rId5" Type="http://schemas.openxmlformats.org/officeDocument/2006/relationships/tags" Target="../tags/tag426.xml"/><Relationship Id="rId15" Type="http://schemas.openxmlformats.org/officeDocument/2006/relationships/tags" Target="../tags/tag436.xml"/><Relationship Id="rId23" Type="http://schemas.openxmlformats.org/officeDocument/2006/relationships/slideLayout" Target="../slideLayouts/slideLayout13.xml"/><Relationship Id="rId28" Type="http://schemas.openxmlformats.org/officeDocument/2006/relationships/hyperlink" Target="https://www.nea.org.np/annual_report" TargetMode="External"/><Relationship Id="rId10" Type="http://schemas.openxmlformats.org/officeDocument/2006/relationships/tags" Target="../tags/tag431.xml"/><Relationship Id="rId19" Type="http://schemas.openxmlformats.org/officeDocument/2006/relationships/tags" Target="../tags/tag440.xml"/><Relationship Id="rId31" Type="http://schemas.openxmlformats.org/officeDocument/2006/relationships/hyperlink" Target="https://www.nea.org.np/admin/assets/uploads/supportive_docs/LoadForecast2014_15.pdf" TargetMode="External"/><Relationship Id="rId4" Type="http://schemas.openxmlformats.org/officeDocument/2006/relationships/tags" Target="../tags/tag425.xml"/><Relationship Id="rId9" Type="http://schemas.openxmlformats.org/officeDocument/2006/relationships/tags" Target="../tags/tag430.xml"/><Relationship Id="rId14" Type="http://schemas.openxmlformats.org/officeDocument/2006/relationships/tags" Target="../tags/tag435.xml"/><Relationship Id="rId22" Type="http://schemas.openxmlformats.org/officeDocument/2006/relationships/tags" Target="../tags/tag443.xml"/><Relationship Id="rId27" Type="http://schemas.openxmlformats.org/officeDocument/2006/relationships/chart" Target="../charts/chart23.xml"/><Relationship Id="rId30" Type="http://schemas.openxmlformats.org/officeDocument/2006/relationships/hyperlink" Target="https://moewri.gov.np/storage/listies/May2020/electricity-demand-forecast-report-2014-2040.pdf" TargetMode="External"/></Relationships>
</file>

<file path=ppt/slides/_rels/slide55.xml.rels><?xml version="1.0" encoding="UTF-8" standalone="yes"?>
<Relationships xmlns="http://schemas.openxmlformats.org/package/2006/relationships"><Relationship Id="rId13" Type="http://schemas.openxmlformats.org/officeDocument/2006/relationships/tags" Target="../tags/tag456.xml"/><Relationship Id="rId18" Type="http://schemas.openxmlformats.org/officeDocument/2006/relationships/tags" Target="../tags/tag461.xml"/><Relationship Id="rId26" Type="http://schemas.openxmlformats.org/officeDocument/2006/relationships/tags" Target="../tags/tag469.xml"/><Relationship Id="rId39" Type="http://schemas.openxmlformats.org/officeDocument/2006/relationships/tags" Target="../tags/tag482.xml"/><Relationship Id="rId21" Type="http://schemas.openxmlformats.org/officeDocument/2006/relationships/tags" Target="../tags/tag464.xml"/><Relationship Id="rId34" Type="http://schemas.openxmlformats.org/officeDocument/2006/relationships/tags" Target="../tags/tag477.xml"/><Relationship Id="rId42" Type="http://schemas.openxmlformats.org/officeDocument/2006/relationships/tags" Target="../tags/tag485.xml"/><Relationship Id="rId47" Type="http://schemas.openxmlformats.org/officeDocument/2006/relationships/chart" Target="../charts/chart24.xml"/><Relationship Id="rId7" Type="http://schemas.openxmlformats.org/officeDocument/2006/relationships/tags" Target="../tags/tag450.xml"/><Relationship Id="rId2" Type="http://schemas.openxmlformats.org/officeDocument/2006/relationships/tags" Target="../tags/tag445.xml"/><Relationship Id="rId16" Type="http://schemas.openxmlformats.org/officeDocument/2006/relationships/tags" Target="../tags/tag459.xml"/><Relationship Id="rId29" Type="http://schemas.openxmlformats.org/officeDocument/2006/relationships/tags" Target="../tags/tag472.xml"/><Relationship Id="rId1" Type="http://schemas.openxmlformats.org/officeDocument/2006/relationships/tags" Target="../tags/tag444.xml"/><Relationship Id="rId6" Type="http://schemas.openxmlformats.org/officeDocument/2006/relationships/tags" Target="../tags/tag449.xml"/><Relationship Id="rId11" Type="http://schemas.openxmlformats.org/officeDocument/2006/relationships/tags" Target="../tags/tag454.xml"/><Relationship Id="rId24" Type="http://schemas.openxmlformats.org/officeDocument/2006/relationships/tags" Target="../tags/tag467.xml"/><Relationship Id="rId32" Type="http://schemas.openxmlformats.org/officeDocument/2006/relationships/tags" Target="../tags/tag475.xml"/><Relationship Id="rId37" Type="http://schemas.openxmlformats.org/officeDocument/2006/relationships/tags" Target="../tags/tag480.xml"/><Relationship Id="rId40" Type="http://schemas.openxmlformats.org/officeDocument/2006/relationships/tags" Target="../tags/tag483.xml"/><Relationship Id="rId45" Type="http://schemas.openxmlformats.org/officeDocument/2006/relationships/oleObject" Target="../embeddings/oleObject58.bin"/><Relationship Id="rId5" Type="http://schemas.openxmlformats.org/officeDocument/2006/relationships/tags" Target="../tags/tag448.xml"/><Relationship Id="rId15" Type="http://schemas.openxmlformats.org/officeDocument/2006/relationships/tags" Target="../tags/tag458.xml"/><Relationship Id="rId23" Type="http://schemas.openxmlformats.org/officeDocument/2006/relationships/tags" Target="../tags/tag466.xml"/><Relationship Id="rId28" Type="http://schemas.openxmlformats.org/officeDocument/2006/relationships/tags" Target="../tags/tag471.xml"/><Relationship Id="rId36" Type="http://schemas.openxmlformats.org/officeDocument/2006/relationships/tags" Target="../tags/tag479.xml"/><Relationship Id="rId10" Type="http://schemas.openxmlformats.org/officeDocument/2006/relationships/tags" Target="../tags/tag453.xml"/><Relationship Id="rId19" Type="http://schemas.openxmlformats.org/officeDocument/2006/relationships/tags" Target="../tags/tag462.xml"/><Relationship Id="rId31" Type="http://schemas.openxmlformats.org/officeDocument/2006/relationships/tags" Target="../tags/tag474.xml"/><Relationship Id="rId44" Type="http://schemas.openxmlformats.org/officeDocument/2006/relationships/notesSlide" Target="../notesSlides/notesSlide54.xml"/><Relationship Id="rId4" Type="http://schemas.openxmlformats.org/officeDocument/2006/relationships/tags" Target="../tags/tag447.xml"/><Relationship Id="rId9" Type="http://schemas.openxmlformats.org/officeDocument/2006/relationships/tags" Target="../tags/tag452.xml"/><Relationship Id="rId14" Type="http://schemas.openxmlformats.org/officeDocument/2006/relationships/tags" Target="../tags/tag457.xml"/><Relationship Id="rId22" Type="http://schemas.openxmlformats.org/officeDocument/2006/relationships/tags" Target="../tags/tag465.xml"/><Relationship Id="rId27" Type="http://schemas.openxmlformats.org/officeDocument/2006/relationships/tags" Target="../tags/tag470.xml"/><Relationship Id="rId30" Type="http://schemas.openxmlformats.org/officeDocument/2006/relationships/tags" Target="../tags/tag473.xml"/><Relationship Id="rId35" Type="http://schemas.openxmlformats.org/officeDocument/2006/relationships/tags" Target="../tags/tag478.xml"/><Relationship Id="rId43" Type="http://schemas.openxmlformats.org/officeDocument/2006/relationships/slideLayout" Target="../slideLayouts/slideLayout13.xml"/><Relationship Id="rId8" Type="http://schemas.openxmlformats.org/officeDocument/2006/relationships/tags" Target="../tags/tag451.xml"/><Relationship Id="rId3" Type="http://schemas.openxmlformats.org/officeDocument/2006/relationships/tags" Target="../tags/tag446.xml"/><Relationship Id="rId12" Type="http://schemas.openxmlformats.org/officeDocument/2006/relationships/tags" Target="../tags/tag455.xml"/><Relationship Id="rId17" Type="http://schemas.openxmlformats.org/officeDocument/2006/relationships/tags" Target="../tags/tag460.xml"/><Relationship Id="rId25" Type="http://schemas.openxmlformats.org/officeDocument/2006/relationships/tags" Target="../tags/tag468.xml"/><Relationship Id="rId33" Type="http://schemas.openxmlformats.org/officeDocument/2006/relationships/tags" Target="../tags/tag476.xml"/><Relationship Id="rId38" Type="http://schemas.openxmlformats.org/officeDocument/2006/relationships/tags" Target="../tags/tag481.xml"/><Relationship Id="rId46" Type="http://schemas.openxmlformats.org/officeDocument/2006/relationships/image" Target="../media/image1.emf"/><Relationship Id="rId20" Type="http://schemas.openxmlformats.org/officeDocument/2006/relationships/tags" Target="../tags/tag463.xml"/><Relationship Id="rId41" Type="http://schemas.openxmlformats.org/officeDocument/2006/relationships/tags" Target="../tags/tag484.xml"/></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13.xml"/><Relationship Id="rId1" Type="http://schemas.openxmlformats.org/officeDocument/2006/relationships/tags" Target="../tags/tag486.xml"/><Relationship Id="rId6" Type="http://schemas.openxmlformats.org/officeDocument/2006/relationships/image" Target="../media/image18.png"/><Relationship Id="rId5" Type="http://schemas.openxmlformats.org/officeDocument/2006/relationships/image" Target="../media/image1.emf"/><Relationship Id="rId4" Type="http://schemas.openxmlformats.org/officeDocument/2006/relationships/oleObject" Target="../embeddings/oleObject51.bin"/></Relationships>
</file>

<file path=ppt/slides/_rels/slide57.xml.rels><?xml version="1.0" encoding="UTF-8" standalone="yes"?>
<Relationships xmlns="http://schemas.openxmlformats.org/package/2006/relationships"><Relationship Id="rId8" Type="http://schemas.openxmlformats.org/officeDocument/2006/relationships/tags" Target="../tags/tag494.xml"/><Relationship Id="rId13" Type="http://schemas.openxmlformats.org/officeDocument/2006/relationships/tags" Target="../tags/tag499.xml"/><Relationship Id="rId18" Type="http://schemas.openxmlformats.org/officeDocument/2006/relationships/tags" Target="../tags/tag504.xml"/><Relationship Id="rId3" Type="http://schemas.openxmlformats.org/officeDocument/2006/relationships/tags" Target="../tags/tag489.xml"/><Relationship Id="rId21" Type="http://schemas.openxmlformats.org/officeDocument/2006/relationships/oleObject" Target="../embeddings/oleObject59.bin"/><Relationship Id="rId7" Type="http://schemas.openxmlformats.org/officeDocument/2006/relationships/tags" Target="../tags/tag493.xml"/><Relationship Id="rId12" Type="http://schemas.openxmlformats.org/officeDocument/2006/relationships/tags" Target="../tags/tag498.xml"/><Relationship Id="rId17" Type="http://schemas.openxmlformats.org/officeDocument/2006/relationships/tags" Target="../tags/tag503.xml"/><Relationship Id="rId2" Type="http://schemas.openxmlformats.org/officeDocument/2006/relationships/tags" Target="../tags/tag488.xml"/><Relationship Id="rId16" Type="http://schemas.openxmlformats.org/officeDocument/2006/relationships/tags" Target="../tags/tag502.xml"/><Relationship Id="rId20" Type="http://schemas.openxmlformats.org/officeDocument/2006/relationships/notesSlide" Target="../notesSlides/notesSlide56.xml"/><Relationship Id="rId1" Type="http://schemas.openxmlformats.org/officeDocument/2006/relationships/tags" Target="../tags/tag487.xml"/><Relationship Id="rId6" Type="http://schemas.openxmlformats.org/officeDocument/2006/relationships/tags" Target="../tags/tag492.xml"/><Relationship Id="rId11" Type="http://schemas.openxmlformats.org/officeDocument/2006/relationships/tags" Target="../tags/tag497.xml"/><Relationship Id="rId24" Type="http://schemas.openxmlformats.org/officeDocument/2006/relationships/chart" Target="../charts/chart26.xml"/><Relationship Id="rId5" Type="http://schemas.openxmlformats.org/officeDocument/2006/relationships/tags" Target="../tags/tag491.xml"/><Relationship Id="rId15" Type="http://schemas.openxmlformats.org/officeDocument/2006/relationships/tags" Target="../tags/tag501.xml"/><Relationship Id="rId23" Type="http://schemas.openxmlformats.org/officeDocument/2006/relationships/chart" Target="../charts/chart25.xml"/><Relationship Id="rId10" Type="http://schemas.openxmlformats.org/officeDocument/2006/relationships/tags" Target="../tags/tag496.xml"/><Relationship Id="rId19" Type="http://schemas.openxmlformats.org/officeDocument/2006/relationships/slideLayout" Target="../slideLayouts/slideLayout13.xml"/><Relationship Id="rId4" Type="http://schemas.openxmlformats.org/officeDocument/2006/relationships/tags" Target="../tags/tag490.xml"/><Relationship Id="rId9" Type="http://schemas.openxmlformats.org/officeDocument/2006/relationships/tags" Target="../tags/tag495.xml"/><Relationship Id="rId14" Type="http://schemas.openxmlformats.org/officeDocument/2006/relationships/tags" Target="../tags/tag500.xml"/><Relationship Id="rId22" Type="http://schemas.openxmlformats.org/officeDocument/2006/relationships/image" Target="../media/image1.emf"/></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57.xml"/><Relationship Id="rId7" Type="http://schemas.openxmlformats.org/officeDocument/2006/relationships/image" Target="../media/image20.png"/><Relationship Id="rId2" Type="http://schemas.openxmlformats.org/officeDocument/2006/relationships/slideLayout" Target="../slideLayouts/slideLayout13.xml"/><Relationship Id="rId1" Type="http://schemas.openxmlformats.org/officeDocument/2006/relationships/tags" Target="../tags/tag505.xml"/><Relationship Id="rId6" Type="http://schemas.openxmlformats.org/officeDocument/2006/relationships/image" Target="../media/image19.png"/><Relationship Id="rId5" Type="http://schemas.openxmlformats.org/officeDocument/2006/relationships/image" Target="../media/image1.emf"/><Relationship Id="rId4" Type="http://schemas.openxmlformats.org/officeDocument/2006/relationships/oleObject" Target="../embeddings/oleObject60.bin"/></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13.xml"/><Relationship Id="rId1" Type="http://schemas.openxmlformats.org/officeDocument/2006/relationships/tags" Target="../tags/tag506.xml"/><Relationship Id="rId5" Type="http://schemas.openxmlformats.org/officeDocument/2006/relationships/image" Target="../media/image1.emf"/><Relationship Id="rId4" Type="http://schemas.openxmlformats.org/officeDocument/2006/relationships/oleObject" Target="../embeddings/oleObject51.bin"/></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59.xml"/><Relationship Id="rId2" Type="http://schemas.openxmlformats.org/officeDocument/2006/relationships/slideLayout" Target="../slideLayouts/slideLayout13.xml"/><Relationship Id="rId1" Type="http://schemas.openxmlformats.org/officeDocument/2006/relationships/tags" Target="../tags/tag507.xml"/><Relationship Id="rId5" Type="http://schemas.openxmlformats.org/officeDocument/2006/relationships/image" Target="../media/image1.emf"/><Relationship Id="rId4" Type="http://schemas.openxmlformats.org/officeDocument/2006/relationships/oleObject" Target="../embeddings/oleObject54.bin"/></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60.xml"/><Relationship Id="rId2" Type="http://schemas.openxmlformats.org/officeDocument/2006/relationships/slideLayout" Target="../slideLayouts/slideLayout13.xml"/><Relationship Id="rId1" Type="http://schemas.openxmlformats.org/officeDocument/2006/relationships/tags" Target="../tags/tag508.xml"/><Relationship Id="rId5" Type="http://schemas.openxmlformats.org/officeDocument/2006/relationships/image" Target="../media/image1.emf"/><Relationship Id="rId4" Type="http://schemas.openxmlformats.org/officeDocument/2006/relationships/oleObject" Target="../embeddings/oleObject61.bin"/></Relationships>
</file>

<file path=ppt/slides/_rels/slide62.xml.rels><?xml version="1.0" encoding="UTF-8" standalone="yes"?>
<Relationships xmlns="http://schemas.openxmlformats.org/package/2006/relationships"><Relationship Id="rId3" Type="http://schemas.openxmlformats.org/officeDocument/2006/relationships/notesSlide" Target="../notesSlides/notesSlide61.xml"/><Relationship Id="rId2" Type="http://schemas.openxmlformats.org/officeDocument/2006/relationships/slideLayout" Target="../slideLayouts/slideLayout13.xml"/><Relationship Id="rId1" Type="http://schemas.openxmlformats.org/officeDocument/2006/relationships/tags" Target="../tags/tag509.xml"/><Relationship Id="rId5" Type="http://schemas.openxmlformats.org/officeDocument/2006/relationships/image" Target="../media/image1.emf"/><Relationship Id="rId4" Type="http://schemas.openxmlformats.org/officeDocument/2006/relationships/oleObject" Target="../embeddings/oleObject61.bin"/></Relationships>
</file>

<file path=ppt/slides/_rels/slide63.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13.xml"/><Relationship Id="rId1" Type="http://schemas.openxmlformats.org/officeDocument/2006/relationships/tags" Target="../tags/tag510.xml"/><Relationship Id="rId5" Type="http://schemas.openxmlformats.org/officeDocument/2006/relationships/image" Target="../media/image1.emf"/><Relationship Id="rId4" Type="http://schemas.openxmlformats.org/officeDocument/2006/relationships/oleObject" Target="../embeddings/oleObject61.bin"/></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63.xml"/><Relationship Id="rId2" Type="http://schemas.openxmlformats.org/officeDocument/2006/relationships/slideLayout" Target="../slideLayouts/slideLayout13.xml"/><Relationship Id="rId1" Type="http://schemas.openxmlformats.org/officeDocument/2006/relationships/tags" Target="../tags/tag511.xml"/><Relationship Id="rId5" Type="http://schemas.openxmlformats.org/officeDocument/2006/relationships/image" Target="../media/image1.emf"/><Relationship Id="rId4" Type="http://schemas.openxmlformats.org/officeDocument/2006/relationships/oleObject" Target="../embeddings/oleObject54.bin"/></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64.xml"/><Relationship Id="rId2" Type="http://schemas.openxmlformats.org/officeDocument/2006/relationships/slideLayout" Target="../slideLayouts/slideLayout13.xml"/><Relationship Id="rId1" Type="http://schemas.openxmlformats.org/officeDocument/2006/relationships/tags" Target="../tags/tag512.xml"/><Relationship Id="rId5" Type="http://schemas.openxmlformats.org/officeDocument/2006/relationships/image" Target="../media/image1.emf"/><Relationship Id="rId4" Type="http://schemas.openxmlformats.org/officeDocument/2006/relationships/oleObject" Target="../embeddings/oleObject54.bin"/></Relationships>
</file>

<file path=ppt/slides/_rels/slide66.xml.rels><?xml version="1.0" encoding="UTF-8" standalone="yes"?>
<Relationships xmlns="http://schemas.openxmlformats.org/package/2006/relationships"><Relationship Id="rId8" Type="http://schemas.openxmlformats.org/officeDocument/2006/relationships/chart" Target="../charts/chart27.xml"/><Relationship Id="rId3" Type="http://schemas.openxmlformats.org/officeDocument/2006/relationships/notesSlide" Target="../notesSlides/notesSlide65.xml"/><Relationship Id="rId7" Type="http://schemas.openxmlformats.org/officeDocument/2006/relationships/image" Target="../media/image22.svg"/><Relationship Id="rId2" Type="http://schemas.openxmlformats.org/officeDocument/2006/relationships/slideLayout" Target="../slideLayouts/slideLayout13.xml"/><Relationship Id="rId1" Type="http://schemas.openxmlformats.org/officeDocument/2006/relationships/tags" Target="../tags/tag513.xml"/><Relationship Id="rId6" Type="http://schemas.openxmlformats.org/officeDocument/2006/relationships/image" Target="../media/image21.png"/><Relationship Id="rId5" Type="http://schemas.openxmlformats.org/officeDocument/2006/relationships/image" Target="../media/image1.emf"/><Relationship Id="rId4" Type="http://schemas.openxmlformats.org/officeDocument/2006/relationships/oleObject" Target="../embeddings/oleObject61.bin"/><Relationship Id="rId9" Type="http://schemas.openxmlformats.org/officeDocument/2006/relationships/chart" Target="../charts/chart28.xml"/></Relationships>
</file>

<file path=ppt/slides/_rels/slide67.xml.rels><?xml version="1.0" encoding="UTF-8" standalone="yes"?>
<Relationships xmlns="http://schemas.openxmlformats.org/package/2006/relationships"><Relationship Id="rId8" Type="http://schemas.openxmlformats.org/officeDocument/2006/relationships/chart" Target="../charts/chart29.xml"/><Relationship Id="rId13" Type="http://schemas.openxmlformats.org/officeDocument/2006/relationships/image" Target="../media/image27.png"/><Relationship Id="rId18" Type="http://schemas.openxmlformats.org/officeDocument/2006/relationships/image" Target="../media/image32.svg"/><Relationship Id="rId3" Type="http://schemas.openxmlformats.org/officeDocument/2006/relationships/notesSlide" Target="../notesSlides/notesSlide66.xml"/><Relationship Id="rId7" Type="http://schemas.openxmlformats.org/officeDocument/2006/relationships/image" Target="../media/image22.svg"/><Relationship Id="rId12" Type="http://schemas.openxmlformats.org/officeDocument/2006/relationships/image" Target="../media/image26.svg"/><Relationship Id="rId17" Type="http://schemas.openxmlformats.org/officeDocument/2006/relationships/image" Target="../media/image31.png"/><Relationship Id="rId2" Type="http://schemas.openxmlformats.org/officeDocument/2006/relationships/slideLayout" Target="../slideLayouts/slideLayout13.xml"/><Relationship Id="rId16" Type="http://schemas.openxmlformats.org/officeDocument/2006/relationships/image" Target="../media/image30.svg"/><Relationship Id="rId1" Type="http://schemas.openxmlformats.org/officeDocument/2006/relationships/tags" Target="../tags/tag514.xml"/><Relationship Id="rId6" Type="http://schemas.openxmlformats.org/officeDocument/2006/relationships/image" Target="../media/image21.png"/><Relationship Id="rId11" Type="http://schemas.openxmlformats.org/officeDocument/2006/relationships/image" Target="../media/image25.png"/><Relationship Id="rId5" Type="http://schemas.openxmlformats.org/officeDocument/2006/relationships/image" Target="../media/image1.emf"/><Relationship Id="rId15" Type="http://schemas.openxmlformats.org/officeDocument/2006/relationships/image" Target="../media/image29.png"/><Relationship Id="rId10" Type="http://schemas.openxmlformats.org/officeDocument/2006/relationships/image" Target="../media/image24.svg"/><Relationship Id="rId4" Type="http://schemas.openxmlformats.org/officeDocument/2006/relationships/oleObject" Target="../embeddings/oleObject62.bin"/><Relationship Id="rId9" Type="http://schemas.openxmlformats.org/officeDocument/2006/relationships/image" Target="../media/image23.png"/><Relationship Id="rId14" Type="http://schemas.openxmlformats.org/officeDocument/2006/relationships/image" Target="../media/image28.svg"/></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67.xml"/><Relationship Id="rId2" Type="http://schemas.openxmlformats.org/officeDocument/2006/relationships/slideLayout" Target="../slideLayouts/slideLayout13.xml"/><Relationship Id="rId1" Type="http://schemas.openxmlformats.org/officeDocument/2006/relationships/tags" Target="../tags/tag515.xml"/><Relationship Id="rId5" Type="http://schemas.openxmlformats.org/officeDocument/2006/relationships/image" Target="../media/image1.emf"/><Relationship Id="rId4" Type="http://schemas.openxmlformats.org/officeDocument/2006/relationships/oleObject" Target="../embeddings/oleObject63.bin"/></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68.xml"/><Relationship Id="rId2" Type="http://schemas.openxmlformats.org/officeDocument/2006/relationships/slideLayout" Target="../slideLayouts/slideLayout13.xml"/><Relationship Id="rId1" Type="http://schemas.openxmlformats.org/officeDocument/2006/relationships/tags" Target="../tags/tag516.xml"/><Relationship Id="rId5" Type="http://schemas.openxmlformats.org/officeDocument/2006/relationships/image" Target="../media/image1.emf"/><Relationship Id="rId4" Type="http://schemas.openxmlformats.org/officeDocument/2006/relationships/oleObject" Target="../embeddings/oleObject64.bin"/></Relationships>
</file>

<file path=ppt/slides/_rels/slide70.xml.rels><?xml version="1.0" encoding="UTF-8" standalone="yes"?>
<Relationships xmlns="http://schemas.openxmlformats.org/package/2006/relationships"><Relationship Id="rId3" Type="http://schemas.openxmlformats.org/officeDocument/2006/relationships/notesSlide" Target="../notesSlides/notesSlide69.xml"/><Relationship Id="rId2" Type="http://schemas.openxmlformats.org/officeDocument/2006/relationships/slideLayout" Target="../slideLayouts/slideLayout13.xml"/><Relationship Id="rId1" Type="http://schemas.openxmlformats.org/officeDocument/2006/relationships/tags" Target="../tags/tag517.xml"/><Relationship Id="rId6" Type="http://schemas.openxmlformats.org/officeDocument/2006/relationships/chart" Target="../charts/chart30.xml"/><Relationship Id="rId5" Type="http://schemas.openxmlformats.org/officeDocument/2006/relationships/image" Target="../media/image1.emf"/><Relationship Id="rId4" Type="http://schemas.openxmlformats.org/officeDocument/2006/relationships/oleObject" Target="../embeddings/oleObject65.bin"/></Relationships>
</file>

<file path=ppt/slides/_rels/slide71.xml.rels><?xml version="1.0" encoding="UTF-8" standalone="yes"?>
<Relationships xmlns="http://schemas.openxmlformats.org/package/2006/relationships"><Relationship Id="rId8" Type="http://schemas.openxmlformats.org/officeDocument/2006/relationships/slide" Target="slide118.xml"/><Relationship Id="rId3" Type="http://schemas.openxmlformats.org/officeDocument/2006/relationships/notesSlide" Target="../notesSlides/notesSlide70.xml"/><Relationship Id="rId7" Type="http://schemas.openxmlformats.org/officeDocument/2006/relationships/image" Target="../media/image34.svg"/><Relationship Id="rId2" Type="http://schemas.openxmlformats.org/officeDocument/2006/relationships/slideLayout" Target="../slideLayouts/slideLayout13.xml"/><Relationship Id="rId1" Type="http://schemas.openxmlformats.org/officeDocument/2006/relationships/tags" Target="../tags/tag518.xml"/><Relationship Id="rId6" Type="http://schemas.openxmlformats.org/officeDocument/2006/relationships/image" Target="../media/image33.png"/><Relationship Id="rId11" Type="http://schemas.openxmlformats.org/officeDocument/2006/relationships/slide" Target="slide116.xml"/><Relationship Id="rId5" Type="http://schemas.openxmlformats.org/officeDocument/2006/relationships/image" Target="../media/image1.emf"/><Relationship Id="rId10" Type="http://schemas.openxmlformats.org/officeDocument/2006/relationships/slide" Target="slide119.xml"/><Relationship Id="rId4" Type="http://schemas.openxmlformats.org/officeDocument/2006/relationships/oleObject" Target="../embeddings/oleObject65.bin"/><Relationship Id="rId9" Type="http://schemas.openxmlformats.org/officeDocument/2006/relationships/slide" Target="slide117.xml"/></Relationships>
</file>

<file path=ppt/slides/_rels/slide72.xml.rels><?xml version="1.0" encoding="UTF-8" standalone="yes"?>
<Relationships xmlns="http://schemas.openxmlformats.org/package/2006/relationships"><Relationship Id="rId8" Type="http://schemas.openxmlformats.org/officeDocument/2006/relationships/image" Target="../media/image1.emf"/><Relationship Id="rId13" Type="http://schemas.openxmlformats.org/officeDocument/2006/relationships/image" Target="../media/image37.jpeg"/><Relationship Id="rId18" Type="http://schemas.openxmlformats.org/officeDocument/2006/relationships/slide" Target="slide115.xml"/><Relationship Id="rId3" Type="http://schemas.openxmlformats.org/officeDocument/2006/relationships/tags" Target="../tags/tag521.xml"/><Relationship Id="rId7" Type="http://schemas.openxmlformats.org/officeDocument/2006/relationships/oleObject" Target="../embeddings/oleObject66.bin"/><Relationship Id="rId12" Type="http://schemas.openxmlformats.org/officeDocument/2006/relationships/image" Target="../media/image36.jpeg"/><Relationship Id="rId17" Type="http://schemas.openxmlformats.org/officeDocument/2006/relationships/chart" Target="../charts/chart34.xml"/><Relationship Id="rId2" Type="http://schemas.openxmlformats.org/officeDocument/2006/relationships/tags" Target="../tags/tag520.xml"/><Relationship Id="rId16" Type="http://schemas.openxmlformats.org/officeDocument/2006/relationships/chart" Target="../charts/chart33.xml"/><Relationship Id="rId1" Type="http://schemas.openxmlformats.org/officeDocument/2006/relationships/tags" Target="../tags/tag519.xml"/><Relationship Id="rId6" Type="http://schemas.openxmlformats.org/officeDocument/2006/relationships/notesSlide" Target="../notesSlides/notesSlide71.xml"/><Relationship Id="rId11" Type="http://schemas.openxmlformats.org/officeDocument/2006/relationships/image" Target="../media/image35.jpeg"/><Relationship Id="rId5" Type="http://schemas.openxmlformats.org/officeDocument/2006/relationships/slideLayout" Target="../slideLayouts/slideLayout13.xml"/><Relationship Id="rId15" Type="http://schemas.openxmlformats.org/officeDocument/2006/relationships/image" Target="../media/image39.svg"/><Relationship Id="rId10" Type="http://schemas.openxmlformats.org/officeDocument/2006/relationships/chart" Target="../charts/chart32.xml"/><Relationship Id="rId4" Type="http://schemas.openxmlformats.org/officeDocument/2006/relationships/tags" Target="../tags/tag522.xml"/><Relationship Id="rId9" Type="http://schemas.openxmlformats.org/officeDocument/2006/relationships/chart" Target="../charts/chart31.xml"/><Relationship Id="rId14" Type="http://schemas.openxmlformats.org/officeDocument/2006/relationships/image" Target="../media/image38.png"/></Relationships>
</file>

<file path=ppt/slides/_rels/slide73.xml.rels><?xml version="1.0" encoding="UTF-8" standalone="yes"?>
<Relationships xmlns="http://schemas.openxmlformats.org/package/2006/relationships"><Relationship Id="rId8" Type="http://schemas.openxmlformats.org/officeDocument/2006/relationships/chart" Target="../charts/chart37.xml"/><Relationship Id="rId3" Type="http://schemas.openxmlformats.org/officeDocument/2006/relationships/notesSlide" Target="../notesSlides/notesSlide72.xml"/><Relationship Id="rId7" Type="http://schemas.openxmlformats.org/officeDocument/2006/relationships/chart" Target="../charts/chart36.xml"/><Relationship Id="rId2" Type="http://schemas.openxmlformats.org/officeDocument/2006/relationships/slideLayout" Target="../slideLayouts/slideLayout13.xml"/><Relationship Id="rId1" Type="http://schemas.openxmlformats.org/officeDocument/2006/relationships/tags" Target="../tags/tag523.xml"/><Relationship Id="rId6" Type="http://schemas.openxmlformats.org/officeDocument/2006/relationships/chart" Target="../charts/chart35.xml"/><Relationship Id="rId5" Type="http://schemas.openxmlformats.org/officeDocument/2006/relationships/image" Target="../media/image1.emf"/><Relationship Id="rId4" Type="http://schemas.openxmlformats.org/officeDocument/2006/relationships/oleObject" Target="../embeddings/oleObject67.bin"/></Relationships>
</file>

<file path=ppt/slides/_rels/slide74.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notesSlide" Target="../notesSlides/notesSlide73.xml"/><Relationship Id="rId7" Type="http://schemas.openxmlformats.org/officeDocument/2006/relationships/image" Target="../media/image41.png"/><Relationship Id="rId2" Type="http://schemas.openxmlformats.org/officeDocument/2006/relationships/slideLayout" Target="../slideLayouts/slideLayout13.xml"/><Relationship Id="rId1" Type="http://schemas.openxmlformats.org/officeDocument/2006/relationships/tags" Target="../tags/tag524.xml"/><Relationship Id="rId6" Type="http://schemas.openxmlformats.org/officeDocument/2006/relationships/image" Target="../media/image40.png"/><Relationship Id="rId5" Type="http://schemas.openxmlformats.org/officeDocument/2006/relationships/image" Target="../media/image1.emf"/><Relationship Id="rId4" Type="http://schemas.openxmlformats.org/officeDocument/2006/relationships/oleObject" Target="../embeddings/oleObject68.bin"/></Relationships>
</file>

<file path=ppt/slides/_rels/slide75.xml.rels><?xml version="1.0" encoding="UTF-8" standalone="yes"?>
<Relationships xmlns="http://schemas.openxmlformats.org/package/2006/relationships"><Relationship Id="rId3" Type="http://schemas.openxmlformats.org/officeDocument/2006/relationships/notesSlide" Target="../notesSlides/notesSlide74.xml"/><Relationship Id="rId2" Type="http://schemas.openxmlformats.org/officeDocument/2006/relationships/slideLayout" Target="../slideLayouts/slideLayout13.xml"/><Relationship Id="rId1" Type="http://schemas.openxmlformats.org/officeDocument/2006/relationships/tags" Target="../tags/tag525.xml"/><Relationship Id="rId5" Type="http://schemas.openxmlformats.org/officeDocument/2006/relationships/image" Target="../media/image1.emf"/><Relationship Id="rId4" Type="http://schemas.openxmlformats.org/officeDocument/2006/relationships/oleObject" Target="../embeddings/oleObject69.bin"/></Relationships>
</file>

<file path=ppt/slides/_rels/slide76.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slideLayout" Target="../slideLayouts/slideLayout13.xml"/><Relationship Id="rId7" Type="http://schemas.openxmlformats.org/officeDocument/2006/relationships/image" Target="../media/image43.png"/><Relationship Id="rId12" Type="http://schemas.openxmlformats.org/officeDocument/2006/relationships/slide" Target="slide120.xml"/><Relationship Id="rId2" Type="http://schemas.openxmlformats.org/officeDocument/2006/relationships/tags" Target="../tags/tag527.xml"/><Relationship Id="rId1" Type="http://schemas.openxmlformats.org/officeDocument/2006/relationships/tags" Target="../tags/tag526.xml"/><Relationship Id="rId6" Type="http://schemas.openxmlformats.org/officeDocument/2006/relationships/image" Target="../media/image1.emf"/><Relationship Id="rId11" Type="http://schemas.openxmlformats.org/officeDocument/2006/relationships/slide" Target="slide115.xml"/><Relationship Id="rId5" Type="http://schemas.openxmlformats.org/officeDocument/2006/relationships/oleObject" Target="../embeddings/oleObject70.bin"/><Relationship Id="rId10" Type="http://schemas.openxmlformats.org/officeDocument/2006/relationships/chart" Target="../charts/chart38.xml"/><Relationship Id="rId4" Type="http://schemas.openxmlformats.org/officeDocument/2006/relationships/notesSlide" Target="../notesSlides/notesSlide75.xml"/><Relationship Id="rId9" Type="http://schemas.openxmlformats.org/officeDocument/2006/relationships/image" Target="../media/image45.png"/></Relationships>
</file>

<file path=ppt/slides/_rels/slide77.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notesSlide" Target="../notesSlides/notesSlide76.xml"/><Relationship Id="rId7" Type="http://schemas.openxmlformats.org/officeDocument/2006/relationships/image" Target="../media/image46.png"/><Relationship Id="rId2" Type="http://schemas.openxmlformats.org/officeDocument/2006/relationships/slideLayout" Target="../slideLayouts/slideLayout13.xml"/><Relationship Id="rId1" Type="http://schemas.openxmlformats.org/officeDocument/2006/relationships/tags" Target="../tags/tag528.xml"/><Relationship Id="rId6" Type="http://schemas.openxmlformats.org/officeDocument/2006/relationships/image" Target="../media/image43.png"/><Relationship Id="rId5" Type="http://schemas.openxmlformats.org/officeDocument/2006/relationships/image" Target="../media/image1.emf"/><Relationship Id="rId4" Type="http://schemas.openxmlformats.org/officeDocument/2006/relationships/oleObject" Target="../embeddings/oleObject45.bin"/><Relationship Id="rId9" Type="http://schemas.openxmlformats.org/officeDocument/2006/relationships/slide" Target="slide121.xml"/></Relationships>
</file>

<file path=ppt/slides/_rels/slide78.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notesSlide" Target="../notesSlides/notesSlide77.xml"/><Relationship Id="rId7" Type="http://schemas.openxmlformats.org/officeDocument/2006/relationships/image" Target="../media/image49.png"/><Relationship Id="rId2" Type="http://schemas.openxmlformats.org/officeDocument/2006/relationships/slideLayout" Target="../slideLayouts/slideLayout13.xml"/><Relationship Id="rId1" Type="http://schemas.openxmlformats.org/officeDocument/2006/relationships/tags" Target="../tags/tag529.xml"/><Relationship Id="rId6" Type="http://schemas.openxmlformats.org/officeDocument/2006/relationships/image" Target="../media/image48.png"/><Relationship Id="rId11" Type="http://schemas.openxmlformats.org/officeDocument/2006/relationships/slide" Target="slide122.xml"/><Relationship Id="rId5" Type="http://schemas.openxmlformats.org/officeDocument/2006/relationships/image" Target="../media/image1.emf"/><Relationship Id="rId10" Type="http://schemas.openxmlformats.org/officeDocument/2006/relationships/image" Target="../media/image43.png"/><Relationship Id="rId4" Type="http://schemas.openxmlformats.org/officeDocument/2006/relationships/oleObject" Target="../embeddings/oleObject71.bin"/><Relationship Id="rId9" Type="http://schemas.openxmlformats.org/officeDocument/2006/relationships/image" Target="../media/image51.png"/></Relationships>
</file>

<file path=ppt/slides/_rels/slide79.xml.rels><?xml version="1.0" encoding="UTF-8" standalone="yes"?>
<Relationships xmlns="http://schemas.openxmlformats.org/package/2006/relationships"><Relationship Id="rId3" Type="http://schemas.openxmlformats.org/officeDocument/2006/relationships/notesSlide" Target="../notesSlides/notesSlide78.xml"/><Relationship Id="rId2" Type="http://schemas.openxmlformats.org/officeDocument/2006/relationships/slideLayout" Target="../slideLayouts/slideLayout13.xml"/><Relationship Id="rId1" Type="http://schemas.openxmlformats.org/officeDocument/2006/relationships/tags" Target="../tags/tag530.xml"/><Relationship Id="rId5" Type="http://schemas.openxmlformats.org/officeDocument/2006/relationships/image" Target="../media/image1.emf"/><Relationship Id="rId4" Type="http://schemas.openxmlformats.org/officeDocument/2006/relationships/oleObject" Target="../embeddings/oleObject72.bin"/></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79.xml"/><Relationship Id="rId7" Type="http://schemas.openxmlformats.org/officeDocument/2006/relationships/chart" Target="../charts/chart40.xml"/><Relationship Id="rId2" Type="http://schemas.openxmlformats.org/officeDocument/2006/relationships/slideLayout" Target="../slideLayouts/slideLayout13.xml"/><Relationship Id="rId1" Type="http://schemas.openxmlformats.org/officeDocument/2006/relationships/tags" Target="../tags/tag531.xml"/><Relationship Id="rId6" Type="http://schemas.openxmlformats.org/officeDocument/2006/relationships/chart" Target="../charts/chart39.xml"/><Relationship Id="rId5" Type="http://schemas.openxmlformats.org/officeDocument/2006/relationships/image" Target="../media/image1.emf"/><Relationship Id="rId4" Type="http://schemas.openxmlformats.org/officeDocument/2006/relationships/oleObject" Target="../embeddings/oleObject45.bin"/></Relationships>
</file>

<file path=ppt/slides/_rels/slide81.xml.rels><?xml version="1.0" encoding="UTF-8" standalone="yes"?>
<Relationships xmlns="http://schemas.openxmlformats.org/package/2006/relationships"><Relationship Id="rId3" Type="http://schemas.openxmlformats.org/officeDocument/2006/relationships/notesSlide" Target="../notesSlides/notesSlide80.xml"/><Relationship Id="rId7" Type="http://schemas.openxmlformats.org/officeDocument/2006/relationships/chart" Target="../charts/chart42.xml"/><Relationship Id="rId2" Type="http://schemas.openxmlformats.org/officeDocument/2006/relationships/slideLayout" Target="../slideLayouts/slideLayout13.xml"/><Relationship Id="rId1" Type="http://schemas.openxmlformats.org/officeDocument/2006/relationships/tags" Target="../tags/tag532.xml"/><Relationship Id="rId6" Type="http://schemas.openxmlformats.org/officeDocument/2006/relationships/chart" Target="../charts/chart41.xml"/><Relationship Id="rId5" Type="http://schemas.openxmlformats.org/officeDocument/2006/relationships/image" Target="../media/image1.emf"/><Relationship Id="rId4" Type="http://schemas.openxmlformats.org/officeDocument/2006/relationships/oleObject" Target="../embeddings/oleObject73.bin"/></Relationships>
</file>

<file path=ppt/slides/_rels/slide82.xml.rels><?xml version="1.0" encoding="UTF-8" standalone="yes"?>
<Relationships xmlns="http://schemas.openxmlformats.org/package/2006/relationships"><Relationship Id="rId3" Type="http://schemas.openxmlformats.org/officeDocument/2006/relationships/notesSlide" Target="../notesSlides/notesSlide81.xml"/><Relationship Id="rId2" Type="http://schemas.openxmlformats.org/officeDocument/2006/relationships/slideLayout" Target="../slideLayouts/slideLayout13.xml"/><Relationship Id="rId1" Type="http://schemas.openxmlformats.org/officeDocument/2006/relationships/tags" Target="../tags/tag533.xml"/><Relationship Id="rId5" Type="http://schemas.openxmlformats.org/officeDocument/2006/relationships/image" Target="../media/image1.emf"/><Relationship Id="rId4" Type="http://schemas.openxmlformats.org/officeDocument/2006/relationships/oleObject" Target="../embeddings/oleObject73.bin"/></Relationships>
</file>

<file path=ppt/slides/_rels/slide83.xml.rels><?xml version="1.0" encoding="UTF-8" standalone="yes"?>
<Relationships xmlns="http://schemas.openxmlformats.org/package/2006/relationships"><Relationship Id="rId3" Type="http://schemas.openxmlformats.org/officeDocument/2006/relationships/notesSlide" Target="../notesSlides/notesSlide82.xml"/><Relationship Id="rId2" Type="http://schemas.openxmlformats.org/officeDocument/2006/relationships/slideLayout" Target="../slideLayouts/slideLayout13.xml"/><Relationship Id="rId1" Type="http://schemas.openxmlformats.org/officeDocument/2006/relationships/tags" Target="../tags/tag534.xml"/><Relationship Id="rId5" Type="http://schemas.openxmlformats.org/officeDocument/2006/relationships/image" Target="../media/image1.emf"/><Relationship Id="rId4" Type="http://schemas.openxmlformats.org/officeDocument/2006/relationships/oleObject" Target="../embeddings/oleObject74.bin"/></Relationships>
</file>

<file path=ppt/slides/_rels/slide84.xml.rels><?xml version="1.0" encoding="UTF-8" standalone="yes"?>
<Relationships xmlns="http://schemas.openxmlformats.org/package/2006/relationships"><Relationship Id="rId13" Type="http://schemas.openxmlformats.org/officeDocument/2006/relationships/tags" Target="../tags/tag547.xml"/><Relationship Id="rId18" Type="http://schemas.openxmlformats.org/officeDocument/2006/relationships/tags" Target="../tags/tag552.xml"/><Relationship Id="rId26" Type="http://schemas.openxmlformats.org/officeDocument/2006/relationships/tags" Target="../tags/tag560.xml"/><Relationship Id="rId21" Type="http://schemas.openxmlformats.org/officeDocument/2006/relationships/tags" Target="../tags/tag555.xml"/><Relationship Id="rId34" Type="http://schemas.openxmlformats.org/officeDocument/2006/relationships/notesSlide" Target="../notesSlides/notesSlide83.xml"/><Relationship Id="rId7" Type="http://schemas.openxmlformats.org/officeDocument/2006/relationships/tags" Target="../tags/tag541.xml"/><Relationship Id="rId12" Type="http://schemas.openxmlformats.org/officeDocument/2006/relationships/tags" Target="../tags/tag546.xml"/><Relationship Id="rId17" Type="http://schemas.openxmlformats.org/officeDocument/2006/relationships/tags" Target="../tags/tag551.xml"/><Relationship Id="rId25" Type="http://schemas.openxmlformats.org/officeDocument/2006/relationships/tags" Target="../tags/tag559.xml"/><Relationship Id="rId33" Type="http://schemas.openxmlformats.org/officeDocument/2006/relationships/slideLayout" Target="../slideLayouts/slideLayout13.xml"/><Relationship Id="rId2" Type="http://schemas.openxmlformats.org/officeDocument/2006/relationships/tags" Target="../tags/tag536.xml"/><Relationship Id="rId16" Type="http://schemas.openxmlformats.org/officeDocument/2006/relationships/tags" Target="../tags/tag550.xml"/><Relationship Id="rId20" Type="http://schemas.openxmlformats.org/officeDocument/2006/relationships/tags" Target="../tags/tag554.xml"/><Relationship Id="rId29" Type="http://schemas.openxmlformats.org/officeDocument/2006/relationships/tags" Target="../tags/tag563.xml"/><Relationship Id="rId1" Type="http://schemas.openxmlformats.org/officeDocument/2006/relationships/tags" Target="../tags/tag535.xml"/><Relationship Id="rId6" Type="http://schemas.openxmlformats.org/officeDocument/2006/relationships/tags" Target="../tags/tag540.xml"/><Relationship Id="rId11" Type="http://schemas.openxmlformats.org/officeDocument/2006/relationships/tags" Target="../tags/tag545.xml"/><Relationship Id="rId24" Type="http://schemas.openxmlformats.org/officeDocument/2006/relationships/tags" Target="../tags/tag558.xml"/><Relationship Id="rId32" Type="http://schemas.openxmlformats.org/officeDocument/2006/relationships/tags" Target="../tags/tag566.xml"/><Relationship Id="rId37" Type="http://schemas.openxmlformats.org/officeDocument/2006/relationships/chart" Target="../charts/chart43.xml"/><Relationship Id="rId5" Type="http://schemas.openxmlformats.org/officeDocument/2006/relationships/tags" Target="../tags/tag539.xml"/><Relationship Id="rId15" Type="http://schemas.openxmlformats.org/officeDocument/2006/relationships/tags" Target="../tags/tag549.xml"/><Relationship Id="rId23" Type="http://schemas.openxmlformats.org/officeDocument/2006/relationships/tags" Target="../tags/tag557.xml"/><Relationship Id="rId28" Type="http://schemas.openxmlformats.org/officeDocument/2006/relationships/tags" Target="../tags/tag562.xml"/><Relationship Id="rId36" Type="http://schemas.openxmlformats.org/officeDocument/2006/relationships/image" Target="../media/image1.emf"/><Relationship Id="rId10" Type="http://schemas.openxmlformats.org/officeDocument/2006/relationships/tags" Target="../tags/tag544.xml"/><Relationship Id="rId19" Type="http://schemas.openxmlformats.org/officeDocument/2006/relationships/tags" Target="../tags/tag553.xml"/><Relationship Id="rId31" Type="http://schemas.openxmlformats.org/officeDocument/2006/relationships/tags" Target="../tags/tag565.xml"/><Relationship Id="rId4" Type="http://schemas.openxmlformats.org/officeDocument/2006/relationships/tags" Target="../tags/tag538.xml"/><Relationship Id="rId9" Type="http://schemas.openxmlformats.org/officeDocument/2006/relationships/tags" Target="../tags/tag543.xml"/><Relationship Id="rId14" Type="http://schemas.openxmlformats.org/officeDocument/2006/relationships/tags" Target="../tags/tag548.xml"/><Relationship Id="rId22" Type="http://schemas.openxmlformats.org/officeDocument/2006/relationships/tags" Target="../tags/tag556.xml"/><Relationship Id="rId27" Type="http://schemas.openxmlformats.org/officeDocument/2006/relationships/tags" Target="../tags/tag561.xml"/><Relationship Id="rId30" Type="http://schemas.openxmlformats.org/officeDocument/2006/relationships/tags" Target="../tags/tag564.xml"/><Relationship Id="rId35" Type="http://schemas.openxmlformats.org/officeDocument/2006/relationships/oleObject" Target="../embeddings/oleObject75.bin"/><Relationship Id="rId8" Type="http://schemas.openxmlformats.org/officeDocument/2006/relationships/tags" Target="../tags/tag542.xml"/><Relationship Id="rId3" Type="http://schemas.openxmlformats.org/officeDocument/2006/relationships/tags" Target="../tags/tag537.xml"/></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84.xml"/><Relationship Id="rId2" Type="http://schemas.openxmlformats.org/officeDocument/2006/relationships/slideLayout" Target="../slideLayouts/slideLayout13.xml"/><Relationship Id="rId1" Type="http://schemas.openxmlformats.org/officeDocument/2006/relationships/tags" Target="../tags/tag567.xml"/><Relationship Id="rId5" Type="http://schemas.openxmlformats.org/officeDocument/2006/relationships/image" Target="../media/image1.emf"/><Relationship Id="rId4" Type="http://schemas.openxmlformats.org/officeDocument/2006/relationships/oleObject" Target="../embeddings/oleObject51.bin"/></Relationships>
</file>

<file path=ppt/slides/_rels/slide86.xml.rels><?xml version="1.0" encoding="UTF-8" standalone="yes"?>
<Relationships xmlns="http://schemas.openxmlformats.org/package/2006/relationships"><Relationship Id="rId3" Type="http://schemas.openxmlformats.org/officeDocument/2006/relationships/notesSlide" Target="../notesSlides/notesSlide85.xml"/><Relationship Id="rId2" Type="http://schemas.openxmlformats.org/officeDocument/2006/relationships/slideLayout" Target="../slideLayouts/slideLayout13.xml"/><Relationship Id="rId1" Type="http://schemas.openxmlformats.org/officeDocument/2006/relationships/tags" Target="../tags/tag568.xml"/><Relationship Id="rId5" Type="http://schemas.openxmlformats.org/officeDocument/2006/relationships/image" Target="../media/image1.emf"/><Relationship Id="rId4" Type="http://schemas.openxmlformats.org/officeDocument/2006/relationships/oleObject" Target="../embeddings/oleObject76.bin"/></Relationships>
</file>

<file path=ppt/slides/_rels/slide87.xml.rels><?xml version="1.0" encoding="UTF-8" standalone="yes"?>
<Relationships xmlns="http://schemas.openxmlformats.org/package/2006/relationships"><Relationship Id="rId3" Type="http://schemas.openxmlformats.org/officeDocument/2006/relationships/notesSlide" Target="../notesSlides/notesSlide86.xml"/><Relationship Id="rId2" Type="http://schemas.openxmlformats.org/officeDocument/2006/relationships/slideLayout" Target="../slideLayouts/slideLayout13.xml"/><Relationship Id="rId1" Type="http://schemas.openxmlformats.org/officeDocument/2006/relationships/tags" Target="../tags/tag569.xml"/><Relationship Id="rId5" Type="http://schemas.openxmlformats.org/officeDocument/2006/relationships/image" Target="../media/image1.emf"/><Relationship Id="rId4" Type="http://schemas.openxmlformats.org/officeDocument/2006/relationships/oleObject" Target="../embeddings/oleObject76.bin"/></Relationships>
</file>

<file path=ppt/slides/_rels/slide88.xml.rels><?xml version="1.0" encoding="UTF-8" standalone="yes"?>
<Relationships xmlns="http://schemas.openxmlformats.org/package/2006/relationships"><Relationship Id="rId3" Type="http://schemas.openxmlformats.org/officeDocument/2006/relationships/notesSlide" Target="../notesSlides/notesSlide87.xml"/><Relationship Id="rId2" Type="http://schemas.openxmlformats.org/officeDocument/2006/relationships/slideLayout" Target="../slideLayouts/slideLayout13.xml"/><Relationship Id="rId1" Type="http://schemas.openxmlformats.org/officeDocument/2006/relationships/tags" Target="../tags/tag570.xml"/><Relationship Id="rId5" Type="http://schemas.openxmlformats.org/officeDocument/2006/relationships/image" Target="../media/image1.emf"/><Relationship Id="rId4" Type="http://schemas.openxmlformats.org/officeDocument/2006/relationships/oleObject" Target="../embeddings/oleObject77.bin"/></Relationships>
</file>

<file path=ppt/slides/_rels/slide89.xml.rels><?xml version="1.0" encoding="UTF-8" standalone="yes"?>
<Relationships xmlns="http://schemas.openxmlformats.org/package/2006/relationships"><Relationship Id="rId3" Type="http://schemas.openxmlformats.org/officeDocument/2006/relationships/notesSlide" Target="../notesSlides/notesSlide88.xml"/><Relationship Id="rId2" Type="http://schemas.openxmlformats.org/officeDocument/2006/relationships/slideLayout" Target="../slideLayouts/slideLayout13.xml"/><Relationship Id="rId1" Type="http://schemas.openxmlformats.org/officeDocument/2006/relationships/tags" Target="../tags/tag571.xml"/><Relationship Id="rId5" Type="http://schemas.openxmlformats.org/officeDocument/2006/relationships/image" Target="../media/image1.emf"/><Relationship Id="rId4" Type="http://schemas.openxmlformats.org/officeDocument/2006/relationships/oleObject" Target="../embeddings/oleObject76.bin"/></Relationships>
</file>

<file path=ppt/slides/_rels/slide90.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13.xml"/><Relationship Id="rId1" Type="http://schemas.openxmlformats.org/officeDocument/2006/relationships/tags" Target="../tags/tag572.xml"/><Relationship Id="rId5" Type="http://schemas.openxmlformats.org/officeDocument/2006/relationships/image" Target="../media/image1.emf"/><Relationship Id="rId4" Type="http://schemas.openxmlformats.org/officeDocument/2006/relationships/oleObject" Target="../embeddings/oleObject76.bin"/></Relationships>
</file>

<file path=ppt/slides/_rels/slide91.xml.rels><?xml version="1.0" encoding="UTF-8" standalone="yes"?>
<Relationships xmlns="http://schemas.openxmlformats.org/package/2006/relationships"><Relationship Id="rId3" Type="http://schemas.openxmlformats.org/officeDocument/2006/relationships/notesSlide" Target="../notesSlides/notesSlide90.xml"/><Relationship Id="rId7" Type="http://schemas.openxmlformats.org/officeDocument/2006/relationships/chart" Target="../charts/chart45.xml"/><Relationship Id="rId2" Type="http://schemas.openxmlformats.org/officeDocument/2006/relationships/slideLayout" Target="../slideLayouts/slideLayout13.xml"/><Relationship Id="rId1" Type="http://schemas.openxmlformats.org/officeDocument/2006/relationships/tags" Target="../tags/tag573.xml"/><Relationship Id="rId6" Type="http://schemas.openxmlformats.org/officeDocument/2006/relationships/chart" Target="../charts/chart44.xml"/><Relationship Id="rId5" Type="http://schemas.openxmlformats.org/officeDocument/2006/relationships/image" Target="../media/image1.emf"/><Relationship Id="rId4" Type="http://schemas.openxmlformats.org/officeDocument/2006/relationships/oleObject" Target="../embeddings/oleObject78.bin"/></Relationships>
</file>

<file path=ppt/slides/_rels/slide92.xml.rels><?xml version="1.0" encoding="UTF-8" standalone="yes"?>
<Relationships xmlns="http://schemas.openxmlformats.org/package/2006/relationships"><Relationship Id="rId3" Type="http://schemas.openxmlformats.org/officeDocument/2006/relationships/notesSlide" Target="../notesSlides/notesSlide91.xml"/><Relationship Id="rId2" Type="http://schemas.openxmlformats.org/officeDocument/2006/relationships/slideLayout" Target="../slideLayouts/slideLayout13.xml"/><Relationship Id="rId1" Type="http://schemas.openxmlformats.org/officeDocument/2006/relationships/tags" Target="../tags/tag574.xml"/><Relationship Id="rId5" Type="http://schemas.openxmlformats.org/officeDocument/2006/relationships/image" Target="../media/image1.emf"/><Relationship Id="rId4" Type="http://schemas.openxmlformats.org/officeDocument/2006/relationships/oleObject" Target="../embeddings/oleObject79.bin"/></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92.xml"/><Relationship Id="rId7" Type="http://schemas.openxmlformats.org/officeDocument/2006/relationships/chart" Target="../charts/chart47.xml"/><Relationship Id="rId2" Type="http://schemas.openxmlformats.org/officeDocument/2006/relationships/slideLayout" Target="../slideLayouts/slideLayout13.xml"/><Relationship Id="rId1" Type="http://schemas.openxmlformats.org/officeDocument/2006/relationships/tags" Target="../tags/tag575.xml"/><Relationship Id="rId6" Type="http://schemas.openxmlformats.org/officeDocument/2006/relationships/chart" Target="../charts/chart46.xml"/><Relationship Id="rId5" Type="http://schemas.openxmlformats.org/officeDocument/2006/relationships/image" Target="../media/image1.emf"/><Relationship Id="rId4" Type="http://schemas.openxmlformats.org/officeDocument/2006/relationships/oleObject" Target="../embeddings/oleObject80.bin"/></Relationships>
</file>

<file path=ppt/slides/_rels/slide94.xml.rels><?xml version="1.0" encoding="UTF-8" standalone="yes"?>
<Relationships xmlns="http://schemas.openxmlformats.org/package/2006/relationships"><Relationship Id="rId8" Type="http://schemas.openxmlformats.org/officeDocument/2006/relationships/image" Target="../media/image35.jpeg"/><Relationship Id="rId3" Type="http://schemas.openxmlformats.org/officeDocument/2006/relationships/notesSlide" Target="../notesSlides/notesSlide93.xml"/><Relationship Id="rId7" Type="http://schemas.openxmlformats.org/officeDocument/2006/relationships/chart" Target="../charts/chart49.xml"/><Relationship Id="rId2" Type="http://schemas.openxmlformats.org/officeDocument/2006/relationships/slideLayout" Target="../slideLayouts/slideLayout13.xml"/><Relationship Id="rId1" Type="http://schemas.openxmlformats.org/officeDocument/2006/relationships/tags" Target="../tags/tag576.xml"/><Relationship Id="rId6" Type="http://schemas.openxmlformats.org/officeDocument/2006/relationships/chart" Target="../charts/chart48.xml"/><Relationship Id="rId5" Type="http://schemas.openxmlformats.org/officeDocument/2006/relationships/image" Target="../media/image1.emf"/><Relationship Id="rId10" Type="http://schemas.openxmlformats.org/officeDocument/2006/relationships/image" Target="../media/image37.jpeg"/><Relationship Id="rId4" Type="http://schemas.openxmlformats.org/officeDocument/2006/relationships/oleObject" Target="../embeddings/oleObject81.bin"/><Relationship Id="rId9" Type="http://schemas.openxmlformats.org/officeDocument/2006/relationships/image" Target="../media/image36.jpeg"/></Relationships>
</file>

<file path=ppt/slides/_rels/slide95.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13.xml"/><Relationship Id="rId1" Type="http://schemas.openxmlformats.org/officeDocument/2006/relationships/tags" Target="../tags/tag577.xml"/><Relationship Id="rId5" Type="http://schemas.openxmlformats.org/officeDocument/2006/relationships/image" Target="../media/image1.emf"/><Relationship Id="rId4" Type="http://schemas.openxmlformats.org/officeDocument/2006/relationships/oleObject" Target="../embeddings/oleObject82.bin"/></Relationships>
</file>

<file path=ppt/slides/_rels/slide96.xml.rels><?xml version="1.0" encoding="UTF-8" standalone="yes"?>
<Relationships xmlns="http://schemas.openxmlformats.org/package/2006/relationships"><Relationship Id="rId8" Type="http://schemas.openxmlformats.org/officeDocument/2006/relationships/chart" Target="../charts/chart52.xml"/><Relationship Id="rId13" Type="http://schemas.openxmlformats.org/officeDocument/2006/relationships/image" Target="../media/image52.png"/><Relationship Id="rId3" Type="http://schemas.openxmlformats.org/officeDocument/2006/relationships/notesSlide" Target="../notesSlides/notesSlide95.xml"/><Relationship Id="rId7" Type="http://schemas.openxmlformats.org/officeDocument/2006/relationships/chart" Target="../charts/chart51.xml"/><Relationship Id="rId12" Type="http://schemas.openxmlformats.org/officeDocument/2006/relationships/chart" Target="../charts/chart56.xml"/><Relationship Id="rId2" Type="http://schemas.openxmlformats.org/officeDocument/2006/relationships/slideLayout" Target="../slideLayouts/slideLayout13.xml"/><Relationship Id="rId1" Type="http://schemas.openxmlformats.org/officeDocument/2006/relationships/tags" Target="../tags/tag578.xml"/><Relationship Id="rId6" Type="http://schemas.openxmlformats.org/officeDocument/2006/relationships/chart" Target="../charts/chart50.xml"/><Relationship Id="rId11" Type="http://schemas.openxmlformats.org/officeDocument/2006/relationships/chart" Target="../charts/chart55.xml"/><Relationship Id="rId5" Type="http://schemas.openxmlformats.org/officeDocument/2006/relationships/image" Target="../media/image1.emf"/><Relationship Id="rId15" Type="http://schemas.openxmlformats.org/officeDocument/2006/relationships/chart" Target="../charts/chart57.xml"/><Relationship Id="rId10" Type="http://schemas.openxmlformats.org/officeDocument/2006/relationships/chart" Target="../charts/chart54.xml"/><Relationship Id="rId4" Type="http://schemas.openxmlformats.org/officeDocument/2006/relationships/oleObject" Target="../embeddings/oleObject81.bin"/><Relationship Id="rId9" Type="http://schemas.openxmlformats.org/officeDocument/2006/relationships/chart" Target="../charts/chart53.xml"/><Relationship Id="rId14" Type="http://schemas.openxmlformats.org/officeDocument/2006/relationships/image" Target="../media/image53.svg"/></Relationships>
</file>

<file path=ppt/slides/_rels/slide97.xml.rels><?xml version="1.0" encoding="UTF-8" standalone="yes"?>
<Relationships xmlns="http://schemas.openxmlformats.org/package/2006/relationships"><Relationship Id="rId8" Type="http://schemas.openxmlformats.org/officeDocument/2006/relationships/tags" Target="../tags/tag586.xml"/><Relationship Id="rId13" Type="http://schemas.openxmlformats.org/officeDocument/2006/relationships/tags" Target="../tags/tag591.xml"/><Relationship Id="rId18" Type="http://schemas.openxmlformats.org/officeDocument/2006/relationships/tags" Target="../tags/tag596.xml"/><Relationship Id="rId26" Type="http://schemas.openxmlformats.org/officeDocument/2006/relationships/chart" Target="../charts/chart58.xml"/><Relationship Id="rId3" Type="http://schemas.openxmlformats.org/officeDocument/2006/relationships/tags" Target="../tags/tag581.xml"/><Relationship Id="rId21" Type="http://schemas.openxmlformats.org/officeDocument/2006/relationships/tags" Target="../tags/tag599.xml"/><Relationship Id="rId7" Type="http://schemas.openxmlformats.org/officeDocument/2006/relationships/tags" Target="../tags/tag585.xml"/><Relationship Id="rId12" Type="http://schemas.openxmlformats.org/officeDocument/2006/relationships/tags" Target="../tags/tag590.xml"/><Relationship Id="rId17" Type="http://schemas.openxmlformats.org/officeDocument/2006/relationships/tags" Target="../tags/tag595.xml"/><Relationship Id="rId25" Type="http://schemas.openxmlformats.org/officeDocument/2006/relationships/image" Target="../media/image1.emf"/><Relationship Id="rId2" Type="http://schemas.openxmlformats.org/officeDocument/2006/relationships/tags" Target="../tags/tag580.xml"/><Relationship Id="rId16" Type="http://schemas.openxmlformats.org/officeDocument/2006/relationships/tags" Target="../tags/tag594.xml"/><Relationship Id="rId20" Type="http://schemas.openxmlformats.org/officeDocument/2006/relationships/tags" Target="../tags/tag598.xml"/><Relationship Id="rId1" Type="http://schemas.openxmlformats.org/officeDocument/2006/relationships/tags" Target="../tags/tag579.xml"/><Relationship Id="rId6" Type="http://schemas.openxmlformats.org/officeDocument/2006/relationships/tags" Target="../tags/tag584.xml"/><Relationship Id="rId11" Type="http://schemas.openxmlformats.org/officeDocument/2006/relationships/tags" Target="../tags/tag589.xml"/><Relationship Id="rId24" Type="http://schemas.openxmlformats.org/officeDocument/2006/relationships/oleObject" Target="../embeddings/oleObject83.bin"/><Relationship Id="rId5" Type="http://schemas.openxmlformats.org/officeDocument/2006/relationships/tags" Target="../tags/tag583.xml"/><Relationship Id="rId15" Type="http://schemas.openxmlformats.org/officeDocument/2006/relationships/tags" Target="../tags/tag593.xml"/><Relationship Id="rId23" Type="http://schemas.openxmlformats.org/officeDocument/2006/relationships/notesSlide" Target="../notesSlides/notesSlide96.xml"/><Relationship Id="rId10" Type="http://schemas.openxmlformats.org/officeDocument/2006/relationships/tags" Target="../tags/tag588.xml"/><Relationship Id="rId19" Type="http://schemas.openxmlformats.org/officeDocument/2006/relationships/tags" Target="../tags/tag597.xml"/><Relationship Id="rId4" Type="http://schemas.openxmlformats.org/officeDocument/2006/relationships/tags" Target="../tags/tag582.xml"/><Relationship Id="rId9" Type="http://schemas.openxmlformats.org/officeDocument/2006/relationships/tags" Target="../tags/tag587.xml"/><Relationship Id="rId14" Type="http://schemas.openxmlformats.org/officeDocument/2006/relationships/tags" Target="../tags/tag592.xml"/><Relationship Id="rId22" Type="http://schemas.openxmlformats.org/officeDocument/2006/relationships/slideLayout" Target="../slideLayouts/slideLayout13.xml"/></Relationships>
</file>

<file path=ppt/slides/_rels/slide98.xml.rels><?xml version="1.0" encoding="UTF-8" standalone="yes"?>
<Relationships xmlns="http://schemas.openxmlformats.org/package/2006/relationships"><Relationship Id="rId8" Type="http://schemas.openxmlformats.org/officeDocument/2006/relationships/tags" Target="../tags/tag607.xml"/><Relationship Id="rId13" Type="http://schemas.openxmlformats.org/officeDocument/2006/relationships/tags" Target="../tags/tag612.xml"/><Relationship Id="rId18" Type="http://schemas.openxmlformats.org/officeDocument/2006/relationships/tags" Target="../tags/tag617.xml"/><Relationship Id="rId26" Type="http://schemas.openxmlformats.org/officeDocument/2006/relationships/chart" Target="../charts/chart59.xml"/><Relationship Id="rId3" Type="http://schemas.openxmlformats.org/officeDocument/2006/relationships/tags" Target="../tags/tag602.xml"/><Relationship Id="rId21" Type="http://schemas.openxmlformats.org/officeDocument/2006/relationships/tags" Target="../tags/tag620.xml"/><Relationship Id="rId7" Type="http://schemas.openxmlformats.org/officeDocument/2006/relationships/tags" Target="../tags/tag606.xml"/><Relationship Id="rId12" Type="http://schemas.openxmlformats.org/officeDocument/2006/relationships/tags" Target="../tags/tag611.xml"/><Relationship Id="rId17" Type="http://schemas.openxmlformats.org/officeDocument/2006/relationships/tags" Target="../tags/tag616.xml"/><Relationship Id="rId25" Type="http://schemas.openxmlformats.org/officeDocument/2006/relationships/image" Target="../media/image1.emf"/><Relationship Id="rId2" Type="http://schemas.openxmlformats.org/officeDocument/2006/relationships/tags" Target="../tags/tag601.xml"/><Relationship Id="rId16" Type="http://schemas.openxmlformats.org/officeDocument/2006/relationships/tags" Target="../tags/tag615.xml"/><Relationship Id="rId20" Type="http://schemas.openxmlformats.org/officeDocument/2006/relationships/tags" Target="../tags/tag619.xml"/><Relationship Id="rId1" Type="http://schemas.openxmlformats.org/officeDocument/2006/relationships/tags" Target="../tags/tag600.xml"/><Relationship Id="rId6" Type="http://schemas.openxmlformats.org/officeDocument/2006/relationships/tags" Target="../tags/tag605.xml"/><Relationship Id="rId11" Type="http://schemas.openxmlformats.org/officeDocument/2006/relationships/tags" Target="../tags/tag610.xml"/><Relationship Id="rId24" Type="http://schemas.openxmlformats.org/officeDocument/2006/relationships/oleObject" Target="../embeddings/oleObject84.bin"/><Relationship Id="rId5" Type="http://schemas.openxmlformats.org/officeDocument/2006/relationships/tags" Target="../tags/tag604.xml"/><Relationship Id="rId15" Type="http://schemas.openxmlformats.org/officeDocument/2006/relationships/tags" Target="../tags/tag614.xml"/><Relationship Id="rId23" Type="http://schemas.openxmlformats.org/officeDocument/2006/relationships/notesSlide" Target="../notesSlides/notesSlide97.xml"/><Relationship Id="rId10" Type="http://schemas.openxmlformats.org/officeDocument/2006/relationships/tags" Target="../tags/tag609.xml"/><Relationship Id="rId19" Type="http://schemas.openxmlformats.org/officeDocument/2006/relationships/tags" Target="../tags/tag618.xml"/><Relationship Id="rId4" Type="http://schemas.openxmlformats.org/officeDocument/2006/relationships/tags" Target="../tags/tag603.xml"/><Relationship Id="rId9" Type="http://schemas.openxmlformats.org/officeDocument/2006/relationships/tags" Target="../tags/tag608.xml"/><Relationship Id="rId14" Type="http://schemas.openxmlformats.org/officeDocument/2006/relationships/tags" Target="../tags/tag613.xml"/><Relationship Id="rId22" Type="http://schemas.openxmlformats.org/officeDocument/2006/relationships/slideLayout" Target="../slideLayouts/slideLayout13.xml"/></Relationships>
</file>

<file path=ppt/slides/_rels/slide99.xml.rels><?xml version="1.0" encoding="UTF-8" standalone="yes"?>
<Relationships xmlns="http://schemas.openxmlformats.org/package/2006/relationships"><Relationship Id="rId26" Type="http://schemas.openxmlformats.org/officeDocument/2006/relationships/tags" Target="../tags/tag646.xml"/><Relationship Id="rId21" Type="http://schemas.openxmlformats.org/officeDocument/2006/relationships/tags" Target="../tags/tag641.xml"/><Relationship Id="rId42" Type="http://schemas.openxmlformats.org/officeDocument/2006/relationships/tags" Target="../tags/tag662.xml"/><Relationship Id="rId47" Type="http://schemas.openxmlformats.org/officeDocument/2006/relationships/tags" Target="../tags/tag667.xml"/><Relationship Id="rId63" Type="http://schemas.openxmlformats.org/officeDocument/2006/relationships/tags" Target="../tags/tag683.xml"/><Relationship Id="rId68" Type="http://schemas.openxmlformats.org/officeDocument/2006/relationships/slideLayout" Target="../slideLayouts/slideLayout13.xml"/><Relationship Id="rId7" Type="http://schemas.openxmlformats.org/officeDocument/2006/relationships/tags" Target="../tags/tag627.xml"/><Relationship Id="rId71" Type="http://schemas.openxmlformats.org/officeDocument/2006/relationships/image" Target="../media/image1.emf"/><Relationship Id="rId2" Type="http://schemas.openxmlformats.org/officeDocument/2006/relationships/tags" Target="../tags/tag622.xml"/><Relationship Id="rId16" Type="http://schemas.openxmlformats.org/officeDocument/2006/relationships/tags" Target="../tags/tag636.xml"/><Relationship Id="rId29" Type="http://schemas.openxmlformats.org/officeDocument/2006/relationships/tags" Target="../tags/tag649.xml"/><Relationship Id="rId11" Type="http://schemas.openxmlformats.org/officeDocument/2006/relationships/tags" Target="../tags/tag631.xml"/><Relationship Id="rId24" Type="http://schemas.openxmlformats.org/officeDocument/2006/relationships/tags" Target="../tags/tag644.xml"/><Relationship Id="rId32" Type="http://schemas.openxmlformats.org/officeDocument/2006/relationships/tags" Target="../tags/tag652.xml"/><Relationship Id="rId37" Type="http://schemas.openxmlformats.org/officeDocument/2006/relationships/tags" Target="../tags/tag657.xml"/><Relationship Id="rId40" Type="http://schemas.openxmlformats.org/officeDocument/2006/relationships/tags" Target="../tags/tag660.xml"/><Relationship Id="rId45" Type="http://schemas.openxmlformats.org/officeDocument/2006/relationships/tags" Target="../tags/tag665.xml"/><Relationship Id="rId53" Type="http://schemas.openxmlformats.org/officeDocument/2006/relationships/tags" Target="../tags/tag673.xml"/><Relationship Id="rId58" Type="http://schemas.openxmlformats.org/officeDocument/2006/relationships/tags" Target="../tags/tag678.xml"/><Relationship Id="rId66" Type="http://schemas.openxmlformats.org/officeDocument/2006/relationships/tags" Target="../tags/tag686.xml"/><Relationship Id="rId5" Type="http://schemas.openxmlformats.org/officeDocument/2006/relationships/tags" Target="../tags/tag625.xml"/><Relationship Id="rId61" Type="http://schemas.openxmlformats.org/officeDocument/2006/relationships/tags" Target="../tags/tag681.xml"/><Relationship Id="rId19" Type="http://schemas.openxmlformats.org/officeDocument/2006/relationships/tags" Target="../tags/tag639.xml"/><Relationship Id="rId14" Type="http://schemas.openxmlformats.org/officeDocument/2006/relationships/tags" Target="../tags/tag634.xml"/><Relationship Id="rId22" Type="http://schemas.openxmlformats.org/officeDocument/2006/relationships/tags" Target="../tags/tag642.xml"/><Relationship Id="rId27" Type="http://schemas.openxmlformats.org/officeDocument/2006/relationships/tags" Target="../tags/tag647.xml"/><Relationship Id="rId30" Type="http://schemas.openxmlformats.org/officeDocument/2006/relationships/tags" Target="../tags/tag650.xml"/><Relationship Id="rId35" Type="http://schemas.openxmlformats.org/officeDocument/2006/relationships/tags" Target="../tags/tag655.xml"/><Relationship Id="rId43" Type="http://schemas.openxmlformats.org/officeDocument/2006/relationships/tags" Target="../tags/tag663.xml"/><Relationship Id="rId48" Type="http://schemas.openxmlformats.org/officeDocument/2006/relationships/tags" Target="../tags/tag668.xml"/><Relationship Id="rId56" Type="http://schemas.openxmlformats.org/officeDocument/2006/relationships/tags" Target="../tags/tag676.xml"/><Relationship Id="rId64" Type="http://schemas.openxmlformats.org/officeDocument/2006/relationships/tags" Target="../tags/tag684.xml"/><Relationship Id="rId69" Type="http://schemas.openxmlformats.org/officeDocument/2006/relationships/notesSlide" Target="../notesSlides/notesSlide98.xml"/><Relationship Id="rId8" Type="http://schemas.openxmlformats.org/officeDocument/2006/relationships/tags" Target="../tags/tag628.xml"/><Relationship Id="rId51" Type="http://schemas.openxmlformats.org/officeDocument/2006/relationships/tags" Target="../tags/tag671.xml"/><Relationship Id="rId72" Type="http://schemas.openxmlformats.org/officeDocument/2006/relationships/chart" Target="../charts/chart60.xml"/><Relationship Id="rId3" Type="http://schemas.openxmlformats.org/officeDocument/2006/relationships/tags" Target="../tags/tag623.xml"/><Relationship Id="rId12" Type="http://schemas.openxmlformats.org/officeDocument/2006/relationships/tags" Target="../tags/tag632.xml"/><Relationship Id="rId17" Type="http://schemas.openxmlformats.org/officeDocument/2006/relationships/tags" Target="../tags/tag637.xml"/><Relationship Id="rId25" Type="http://schemas.openxmlformats.org/officeDocument/2006/relationships/tags" Target="../tags/tag645.xml"/><Relationship Id="rId33" Type="http://schemas.openxmlformats.org/officeDocument/2006/relationships/tags" Target="../tags/tag653.xml"/><Relationship Id="rId38" Type="http://schemas.openxmlformats.org/officeDocument/2006/relationships/tags" Target="../tags/tag658.xml"/><Relationship Id="rId46" Type="http://schemas.openxmlformats.org/officeDocument/2006/relationships/tags" Target="../tags/tag666.xml"/><Relationship Id="rId59" Type="http://schemas.openxmlformats.org/officeDocument/2006/relationships/tags" Target="../tags/tag679.xml"/><Relationship Id="rId67" Type="http://schemas.openxmlformats.org/officeDocument/2006/relationships/tags" Target="../tags/tag687.xml"/><Relationship Id="rId20" Type="http://schemas.openxmlformats.org/officeDocument/2006/relationships/tags" Target="../tags/tag640.xml"/><Relationship Id="rId41" Type="http://schemas.openxmlformats.org/officeDocument/2006/relationships/tags" Target="../tags/tag661.xml"/><Relationship Id="rId54" Type="http://schemas.openxmlformats.org/officeDocument/2006/relationships/tags" Target="../tags/tag674.xml"/><Relationship Id="rId62" Type="http://schemas.openxmlformats.org/officeDocument/2006/relationships/tags" Target="../tags/tag682.xml"/><Relationship Id="rId70" Type="http://schemas.openxmlformats.org/officeDocument/2006/relationships/oleObject" Target="../embeddings/oleObject84.bin"/><Relationship Id="rId1" Type="http://schemas.openxmlformats.org/officeDocument/2006/relationships/tags" Target="../tags/tag621.xml"/><Relationship Id="rId6" Type="http://schemas.openxmlformats.org/officeDocument/2006/relationships/tags" Target="../tags/tag626.xml"/><Relationship Id="rId15" Type="http://schemas.openxmlformats.org/officeDocument/2006/relationships/tags" Target="../tags/tag635.xml"/><Relationship Id="rId23" Type="http://schemas.openxmlformats.org/officeDocument/2006/relationships/tags" Target="../tags/tag643.xml"/><Relationship Id="rId28" Type="http://schemas.openxmlformats.org/officeDocument/2006/relationships/tags" Target="../tags/tag648.xml"/><Relationship Id="rId36" Type="http://schemas.openxmlformats.org/officeDocument/2006/relationships/tags" Target="../tags/tag656.xml"/><Relationship Id="rId49" Type="http://schemas.openxmlformats.org/officeDocument/2006/relationships/tags" Target="../tags/tag669.xml"/><Relationship Id="rId57" Type="http://schemas.openxmlformats.org/officeDocument/2006/relationships/tags" Target="../tags/tag677.xml"/><Relationship Id="rId10" Type="http://schemas.openxmlformats.org/officeDocument/2006/relationships/tags" Target="../tags/tag630.xml"/><Relationship Id="rId31" Type="http://schemas.openxmlformats.org/officeDocument/2006/relationships/tags" Target="../tags/tag651.xml"/><Relationship Id="rId44" Type="http://schemas.openxmlformats.org/officeDocument/2006/relationships/tags" Target="../tags/tag664.xml"/><Relationship Id="rId52" Type="http://schemas.openxmlformats.org/officeDocument/2006/relationships/tags" Target="../tags/tag672.xml"/><Relationship Id="rId60" Type="http://schemas.openxmlformats.org/officeDocument/2006/relationships/tags" Target="../tags/tag680.xml"/><Relationship Id="rId65" Type="http://schemas.openxmlformats.org/officeDocument/2006/relationships/tags" Target="../tags/tag685.xml"/><Relationship Id="rId4" Type="http://schemas.openxmlformats.org/officeDocument/2006/relationships/tags" Target="../tags/tag624.xml"/><Relationship Id="rId9" Type="http://schemas.openxmlformats.org/officeDocument/2006/relationships/tags" Target="../tags/tag629.xml"/><Relationship Id="rId13" Type="http://schemas.openxmlformats.org/officeDocument/2006/relationships/tags" Target="../tags/tag633.xml"/><Relationship Id="rId18" Type="http://schemas.openxmlformats.org/officeDocument/2006/relationships/tags" Target="../tags/tag638.xml"/><Relationship Id="rId39" Type="http://schemas.openxmlformats.org/officeDocument/2006/relationships/tags" Target="../tags/tag659.xml"/><Relationship Id="rId34" Type="http://schemas.openxmlformats.org/officeDocument/2006/relationships/tags" Target="../tags/tag654.xml"/><Relationship Id="rId50" Type="http://schemas.openxmlformats.org/officeDocument/2006/relationships/tags" Target="../tags/tag670.xml"/><Relationship Id="rId55" Type="http://schemas.openxmlformats.org/officeDocument/2006/relationships/tags" Target="../tags/tag675.xml"/></Relationships>
</file>

<file path=ppt/slides/_rels/slide100.xml.rels><?xml version="1.0" encoding="UTF-8" standalone="yes"?>
<Relationships xmlns="http://schemas.openxmlformats.org/package/2006/relationships"><Relationship Id="rId8" Type="http://schemas.openxmlformats.org/officeDocument/2006/relationships/tags" Target="../tags/tag695.xml"/><Relationship Id="rId13" Type="http://schemas.openxmlformats.org/officeDocument/2006/relationships/tags" Target="../tags/tag700.xml"/><Relationship Id="rId18" Type="http://schemas.openxmlformats.org/officeDocument/2006/relationships/tags" Target="../tags/tag705.xml"/><Relationship Id="rId3" Type="http://schemas.openxmlformats.org/officeDocument/2006/relationships/tags" Target="../tags/tag690.xml"/><Relationship Id="rId21" Type="http://schemas.openxmlformats.org/officeDocument/2006/relationships/oleObject" Target="../embeddings/oleObject85.bin"/><Relationship Id="rId7" Type="http://schemas.openxmlformats.org/officeDocument/2006/relationships/tags" Target="../tags/tag694.xml"/><Relationship Id="rId12" Type="http://schemas.openxmlformats.org/officeDocument/2006/relationships/tags" Target="../tags/tag699.xml"/><Relationship Id="rId17" Type="http://schemas.openxmlformats.org/officeDocument/2006/relationships/tags" Target="../tags/tag704.xml"/><Relationship Id="rId2" Type="http://schemas.openxmlformats.org/officeDocument/2006/relationships/tags" Target="../tags/tag689.xml"/><Relationship Id="rId16" Type="http://schemas.openxmlformats.org/officeDocument/2006/relationships/tags" Target="../tags/tag703.xml"/><Relationship Id="rId20" Type="http://schemas.openxmlformats.org/officeDocument/2006/relationships/notesSlide" Target="../notesSlides/notesSlide99.xml"/><Relationship Id="rId1" Type="http://schemas.openxmlformats.org/officeDocument/2006/relationships/tags" Target="../tags/tag688.xml"/><Relationship Id="rId6" Type="http://schemas.openxmlformats.org/officeDocument/2006/relationships/tags" Target="../tags/tag693.xml"/><Relationship Id="rId11" Type="http://schemas.openxmlformats.org/officeDocument/2006/relationships/tags" Target="../tags/tag698.xml"/><Relationship Id="rId5" Type="http://schemas.openxmlformats.org/officeDocument/2006/relationships/tags" Target="../tags/tag692.xml"/><Relationship Id="rId15" Type="http://schemas.openxmlformats.org/officeDocument/2006/relationships/tags" Target="../tags/tag702.xml"/><Relationship Id="rId23" Type="http://schemas.openxmlformats.org/officeDocument/2006/relationships/chart" Target="../charts/chart61.xml"/><Relationship Id="rId10" Type="http://schemas.openxmlformats.org/officeDocument/2006/relationships/tags" Target="../tags/tag697.xml"/><Relationship Id="rId19" Type="http://schemas.openxmlformats.org/officeDocument/2006/relationships/slideLayout" Target="../slideLayouts/slideLayout13.xml"/><Relationship Id="rId4" Type="http://schemas.openxmlformats.org/officeDocument/2006/relationships/tags" Target="../tags/tag691.xml"/><Relationship Id="rId9" Type="http://schemas.openxmlformats.org/officeDocument/2006/relationships/tags" Target="../tags/tag696.xml"/><Relationship Id="rId14" Type="http://schemas.openxmlformats.org/officeDocument/2006/relationships/tags" Target="../tags/tag701.xml"/><Relationship Id="rId22" Type="http://schemas.openxmlformats.org/officeDocument/2006/relationships/image" Target="../media/image1.emf"/></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86.xml"/></Relationships>
</file>

<file path=ppt/slides/_rels/slide102.xml.rels><?xml version="1.0" encoding="UTF-8" standalone="yes"?>
<Relationships xmlns="http://schemas.openxmlformats.org/package/2006/relationships"><Relationship Id="rId8" Type="http://schemas.openxmlformats.org/officeDocument/2006/relationships/image" Target="../media/image56.jpeg"/><Relationship Id="rId3" Type="http://schemas.openxmlformats.org/officeDocument/2006/relationships/notesSlide" Target="../notesSlides/notesSlide101.xml"/><Relationship Id="rId7" Type="http://schemas.openxmlformats.org/officeDocument/2006/relationships/image" Target="../media/image55.png"/><Relationship Id="rId2" Type="http://schemas.openxmlformats.org/officeDocument/2006/relationships/slideLayout" Target="../slideLayouts/slideLayout13.xml"/><Relationship Id="rId1" Type="http://schemas.openxmlformats.org/officeDocument/2006/relationships/tags" Target="../tags/tag706.xml"/><Relationship Id="rId6" Type="http://schemas.openxmlformats.org/officeDocument/2006/relationships/image" Target="../media/image54.png"/><Relationship Id="rId5" Type="http://schemas.openxmlformats.org/officeDocument/2006/relationships/image" Target="../media/image1.emf"/><Relationship Id="rId4" Type="http://schemas.openxmlformats.org/officeDocument/2006/relationships/oleObject" Target="../embeddings/oleObject86.bin"/><Relationship Id="rId9" Type="http://schemas.openxmlformats.org/officeDocument/2006/relationships/slide" Target="slide11.xml"/></Relationships>
</file>

<file path=ppt/slides/_rels/slide103.xml.rels><?xml version="1.0" encoding="UTF-8" standalone="yes"?>
<Relationships xmlns="http://schemas.openxmlformats.org/package/2006/relationships"><Relationship Id="rId3" Type="http://schemas.openxmlformats.org/officeDocument/2006/relationships/notesSlide" Target="../notesSlides/notesSlide102.xml"/><Relationship Id="rId7" Type="http://schemas.openxmlformats.org/officeDocument/2006/relationships/slide" Target="slide11.xml"/><Relationship Id="rId2" Type="http://schemas.openxmlformats.org/officeDocument/2006/relationships/slideLayout" Target="../slideLayouts/slideLayout13.xml"/><Relationship Id="rId1" Type="http://schemas.openxmlformats.org/officeDocument/2006/relationships/tags" Target="../tags/tag707.xml"/><Relationship Id="rId6" Type="http://schemas.openxmlformats.org/officeDocument/2006/relationships/chart" Target="../charts/chart62.xml"/><Relationship Id="rId5" Type="http://schemas.openxmlformats.org/officeDocument/2006/relationships/image" Target="../media/image1.emf"/><Relationship Id="rId4" Type="http://schemas.openxmlformats.org/officeDocument/2006/relationships/oleObject" Target="../embeddings/oleObject86.bin"/></Relationships>
</file>

<file path=ppt/slides/_rels/slide104.xml.rels><?xml version="1.0" encoding="UTF-8" standalone="yes"?>
<Relationships xmlns="http://schemas.openxmlformats.org/package/2006/relationships"><Relationship Id="rId8" Type="http://schemas.openxmlformats.org/officeDocument/2006/relationships/tags" Target="../tags/tag715.xml"/><Relationship Id="rId13" Type="http://schemas.openxmlformats.org/officeDocument/2006/relationships/tags" Target="../tags/tag720.xml"/><Relationship Id="rId18" Type="http://schemas.openxmlformats.org/officeDocument/2006/relationships/image" Target="../media/image1.emf"/><Relationship Id="rId3" Type="http://schemas.openxmlformats.org/officeDocument/2006/relationships/tags" Target="../tags/tag710.xml"/><Relationship Id="rId7" Type="http://schemas.openxmlformats.org/officeDocument/2006/relationships/tags" Target="../tags/tag714.xml"/><Relationship Id="rId12" Type="http://schemas.openxmlformats.org/officeDocument/2006/relationships/tags" Target="../tags/tag719.xml"/><Relationship Id="rId17" Type="http://schemas.openxmlformats.org/officeDocument/2006/relationships/oleObject" Target="../embeddings/oleObject87.bin"/><Relationship Id="rId2" Type="http://schemas.openxmlformats.org/officeDocument/2006/relationships/tags" Target="../tags/tag709.xml"/><Relationship Id="rId16" Type="http://schemas.openxmlformats.org/officeDocument/2006/relationships/notesSlide" Target="../notesSlides/notesSlide103.xml"/><Relationship Id="rId1" Type="http://schemas.openxmlformats.org/officeDocument/2006/relationships/tags" Target="../tags/tag708.xml"/><Relationship Id="rId6" Type="http://schemas.openxmlformats.org/officeDocument/2006/relationships/tags" Target="../tags/tag713.xml"/><Relationship Id="rId11" Type="http://schemas.openxmlformats.org/officeDocument/2006/relationships/tags" Target="../tags/tag718.xml"/><Relationship Id="rId5" Type="http://schemas.openxmlformats.org/officeDocument/2006/relationships/tags" Target="../tags/tag712.xml"/><Relationship Id="rId15" Type="http://schemas.openxmlformats.org/officeDocument/2006/relationships/slideLayout" Target="../slideLayouts/slideLayout13.xml"/><Relationship Id="rId10" Type="http://schemas.openxmlformats.org/officeDocument/2006/relationships/tags" Target="../tags/tag717.xml"/><Relationship Id="rId19" Type="http://schemas.openxmlformats.org/officeDocument/2006/relationships/chart" Target="../charts/chart63.xml"/><Relationship Id="rId4" Type="http://schemas.openxmlformats.org/officeDocument/2006/relationships/tags" Target="../tags/tag711.xml"/><Relationship Id="rId9" Type="http://schemas.openxmlformats.org/officeDocument/2006/relationships/tags" Target="../tags/tag716.xml"/><Relationship Id="rId14" Type="http://schemas.openxmlformats.org/officeDocument/2006/relationships/tags" Target="../tags/tag721.xml"/></Relationships>
</file>

<file path=ppt/slides/_rels/slide105.xml.rels><?xml version="1.0" encoding="UTF-8" standalone="yes"?>
<Relationships xmlns="http://schemas.openxmlformats.org/package/2006/relationships"><Relationship Id="rId3" Type="http://schemas.openxmlformats.org/officeDocument/2006/relationships/notesSlide" Target="../notesSlides/notesSlide104.xml"/><Relationship Id="rId2" Type="http://schemas.openxmlformats.org/officeDocument/2006/relationships/slideLayout" Target="../slideLayouts/slideLayout13.xml"/><Relationship Id="rId1" Type="http://schemas.openxmlformats.org/officeDocument/2006/relationships/tags" Target="../tags/tag722.xml"/><Relationship Id="rId5" Type="http://schemas.openxmlformats.org/officeDocument/2006/relationships/image" Target="../media/image1.emf"/><Relationship Id="rId4" Type="http://schemas.openxmlformats.org/officeDocument/2006/relationships/oleObject" Target="../embeddings/oleObject48.bin"/></Relationships>
</file>

<file path=ppt/slides/_rels/slide106.xml.rels><?xml version="1.0" encoding="UTF-8" standalone="yes"?>
<Relationships xmlns="http://schemas.openxmlformats.org/package/2006/relationships"><Relationship Id="rId3" Type="http://schemas.openxmlformats.org/officeDocument/2006/relationships/notesSlide" Target="../notesSlides/notesSlide105.xml"/><Relationship Id="rId7" Type="http://schemas.openxmlformats.org/officeDocument/2006/relationships/image" Target="../media/image57.png"/><Relationship Id="rId2" Type="http://schemas.openxmlformats.org/officeDocument/2006/relationships/slideLayout" Target="../slideLayouts/slideLayout13.xml"/><Relationship Id="rId1" Type="http://schemas.openxmlformats.org/officeDocument/2006/relationships/tags" Target="../tags/tag723.xml"/><Relationship Id="rId6" Type="http://schemas.openxmlformats.org/officeDocument/2006/relationships/image" Target="../media/image19.png"/><Relationship Id="rId5" Type="http://schemas.openxmlformats.org/officeDocument/2006/relationships/image" Target="../media/image1.emf"/><Relationship Id="rId4" Type="http://schemas.openxmlformats.org/officeDocument/2006/relationships/oleObject" Target="../embeddings/oleObject51.bin"/></Relationships>
</file>

<file path=ppt/slides/_rels/slide107.xml.rels><?xml version="1.0" encoding="UTF-8" standalone="yes"?>
<Relationships xmlns="http://schemas.openxmlformats.org/package/2006/relationships"><Relationship Id="rId3" Type="http://schemas.openxmlformats.org/officeDocument/2006/relationships/notesSlide" Target="../notesSlides/notesSlide106.xml"/><Relationship Id="rId7" Type="http://schemas.openxmlformats.org/officeDocument/2006/relationships/image" Target="../media/image20.png"/><Relationship Id="rId2" Type="http://schemas.openxmlformats.org/officeDocument/2006/relationships/slideLayout" Target="../slideLayouts/slideLayout13.xml"/><Relationship Id="rId1" Type="http://schemas.openxmlformats.org/officeDocument/2006/relationships/tags" Target="../tags/tag724.xml"/><Relationship Id="rId6" Type="http://schemas.openxmlformats.org/officeDocument/2006/relationships/image" Target="../media/image19.png"/><Relationship Id="rId5" Type="http://schemas.openxmlformats.org/officeDocument/2006/relationships/image" Target="../media/image1.emf"/><Relationship Id="rId4" Type="http://schemas.openxmlformats.org/officeDocument/2006/relationships/oleObject" Target="../embeddings/oleObject51.bin"/></Relationships>
</file>

<file path=ppt/slides/_rels/slide108.xml.rels><?xml version="1.0" encoding="UTF-8" standalone="yes"?>
<Relationships xmlns="http://schemas.openxmlformats.org/package/2006/relationships"><Relationship Id="rId3" Type="http://schemas.openxmlformats.org/officeDocument/2006/relationships/notesSlide" Target="../notesSlides/notesSlide107.xml"/><Relationship Id="rId2" Type="http://schemas.openxmlformats.org/officeDocument/2006/relationships/slideLayout" Target="../slideLayouts/slideLayout13.xml"/><Relationship Id="rId1" Type="http://schemas.openxmlformats.org/officeDocument/2006/relationships/tags" Target="../tags/tag725.xml"/><Relationship Id="rId5" Type="http://schemas.openxmlformats.org/officeDocument/2006/relationships/image" Target="../media/image1.emf"/><Relationship Id="rId4" Type="http://schemas.openxmlformats.org/officeDocument/2006/relationships/oleObject" Target="../embeddings/oleObject51.bin"/></Relationships>
</file>

<file path=ppt/slides/_rels/slide109.xml.rels><?xml version="1.0" encoding="UTF-8" standalone="yes"?>
<Relationships xmlns="http://schemas.openxmlformats.org/package/2006/relationships"><Relationship Id="rId3" Type="http://schemas.openxmlformats.org/officeDocument/2006/relationships/notesSlide" Target="../notesSlides/notesSlide108.xml"/><Relationship Id="rId2" Type="http://schemas.openxmlformats.org/officeDocument/2006/relationships/slideLayout" Target="../slideLayouts/slideLayout13.xml"/><Relationship Id="rId1" Type="http://schemas.openxmlformats.org/officeDocument/2006/relationships/tags" Target="../tags/tag726.xml"/><Relationship Id="rId5" Type="http://schemas.openxmlformats.org/officeDocument/2006/relationships/image" Target="../media/image1.emf"/><Relationship Id="rId4" Type="http://schemas.openxmlformats.org/officeDocument/2006/relationships/oleObject" Target="../embeddings/oleObject51.bin"/></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109.xml"/><Relationship Id="rId2" Type="http://schemas.openxmlformats.org/officeDocument/2006/relationships/slideLayout" Target="../slideLayouts/slideLayout13.xml"/><Relationship Id="rId1" Type="http://schemas.openxmlformats.org/officeDocument/2006/relationships/tags" Target="../tags/tag727.xml"/><Relationship Id="rId5" Type="http://schemas.openxmlformats.org/officeDocument/2006/relationships/image" Target="../media/image1.emf"/><Relationship Id="rId4" Type="http://schemas.openxmlformats.org/officeDocument/2006/relationships/oleObject" Target="../embeddings/oleObject51.bin"/></Relationships>
</file>

<file path=ppt/slides/_rels/slide111.xml.rels><?xml version="1.0" encoding="UTF-8" standalone="yes"?>
<Relationships xmlns="http://schemas.openxmlformats.org/package/2006/relationships"><Relationship Id="rId3" Type="http://schemas.openxmlformats.org/officeDocument/2006/relationships/notesSlide" Target="../notesSlides/notesSlide110.xml"/><Relationship Id="rId2" Type="http://schemas.openxmlformats.org/officeDocument/2006/relationships/slideLayout" Target="../slideLayouts/slideLayout13.xml"/><Relationship Id="rId1" Type="http://schemas.openxmlformats.org/officeDocument/2006/relationships/tags" Target="../tags/tag728.xml"/><Relationship Id="rId5" Type="http://schemas.openxmlformats.org/officeDocument/2006/relationships/image" Target="../media/image1.emf"/><Relationship Id="rId4" Type="http://schemas.openxmlformats.org/officeDocument/2006/relationships/oleObject" Target="../embeddings/oleObject51.bin"/></Relationships>
</file>

<file path=ppt/slides/_rels/slide112.xml.rels><?xml version="1.0" encoding="UTF-8" standalone="yes"?>
<Relationships xmlns="http://schemas.openxmlformats.org/package/2006/relationships"><Relationship Id="rId3" Type="http://schemas.openxmlformats.org/officeDocument/2006/relationships/notesSlide" Target="../notesSlides/notesSlide111.xml"/><Relationship Id="rId2" Type="http://schemas.openxmlformats.org/officeDocument/2006/relationships/slideLayout" Target="../slideLayouts/slideLayout13.xml"/><Relationship Id="rId1" Type="http://schemas.openxmlformats.org/officeDocument/2006/relationships/tags" Target="../tags/tag729.xml"/><Relationship Id="rId6" Type="http://schemas.openxmlformats.org/officeDocument/2006/relationships/hyperlink" Target="https://cea.nic.in/import-export-cross-border-of-electricity/?lang=en#designate" TargetMode="External"/><Relationship Id="rId5" Type="http://schemas.openxmlformats.org/officeDocument/2006/relationships/image" Target="../media/image1.emf"/><Relationship Id="rId4" Type="http://schemas.openxmlformats.org/officeDocument/2006/relationships/oleObject" Target="../embeddings/oleObject88.bin"/></Relationships>
</file>

<file path=ppt/slides/_rels/slide113.xml.rels><?xml version="1.0" encoding="UTF-8" standalone="yes"?>
<Relationships xmlns="http://schemas.openxmlformats.org/package/2006/relationships"><Relationship Id="rId3" Type="http://schemas.openxmlformats.org/officeDocument/2006/relationships/notesSlide" Target="../notesSlides/notesSlide112.xml"/><Relationship Id="rId2" Type="http://schemas.openxmlformats.org/officeDocument/2006/relationships/slideLayout" Target="../slideLayouts/slideLayout13.xml"/><Relationship Id="rId1" Type="http://schemas.openxmlformats.org/officeDocument/2006/relationships/tags" Target="../tags/tag730.xml"/><Relationship Id="rId6" Type="http://schemas.openxmlformats.org/officeDocument/2006/relationships/hyperlink" Target="https://cea.nic.in/import-export-cross-border-of-electricity/?lang=en#designate" TargetMode="External"/><Relationship Id="rId5" Type="http://schemas.openxmlformats.org/officeDocument/2006/relationships/image" Target="../media/image1.emf"/><Relationship Id="rId4" Type="http://schemas.openxmlformats.org/officeDocument/2006/relationships/oleObject" Target="../embeddings/oleObject88.bin"/></Relationships>
</file>

<file path=ppt/slides/_rels/slide114.xml.rels><?xml version="1.0" encoding="UTF-8" standalone="yes"?>
<Relationships xmlns="http://schemas.openxmlformats.org/package/2006/relationships"><Relationship Id="rId13" Type="http://schemas.openxmlformats.org/officeDocument/2006/relationships/tags" Target="../tags/tag743.xml"/><Relationship Id="rId18" Type="http://schemas.openxmlformats.org/officeDocument/2006/relationships/tags" Target="../tags/tag748.xml"/><Relationship Id="rId26" Type="http://schemas.openxmlformats.org/officeDocument/2006/relationships/tags" Target="../tags/tag756.xml"/><Relationship Id="rId39" Type="http://schemas.openxmlformats.org/officeDocument/2006/relationships/tags" Target="../tags/tag769.xml"/><Relationship Id="rId21" Type="http://schemas.openxmlformats.org/officeDocument/2006/relationships/tags" Target="../tags/tag751.xml"/><Relationship Id="rId34" Type="http://schemas.openxmlformats.org/officeDocument/2006/relationships/tags" Target="../tags/tag764.xml"/><Relationship Id="rId42" Type="http://schemas.openxmlformats.org/officeDocument/2006/relationships/tags" Target="../tags/tag772.xml"/><Relationship Id="rId47" Type="http://schemas.openxmlformats.org/officeDocument/2006/relationships/notesSlide" Target="../notesSlides/notesSlide113.xml"/><Relationship Id="rId50" Type="http://schemas.openxmlformats.org/officeDocument/2006/relationships/hyperlink" Target="https://www.nea.org.np/annual_report" TargetMode="External"/><Relationship Id="rId7" Type="http://schemas.openxmlformats.org/officeDocument/2006/relationships/tags" Target="../tags/tag737.xml"/><Relationship Id="rId2" Type="http://schemas.openxmlformats.org/officeDocument/2006/relationships/tags" Target="../tags/tag732.xml"/><Relationship Id="rId16" Type="http://schemas.openxmlformats.org/officeDocument/2006/relationships/tags" Target="../tags/tag746.xml"/><Relationship Id="rId29" Type="http://schemas.openxmlformats.org/officeDocument/2006/relationships/tags" Target="../tags/tag759.xml"/><Relationship Id="rId11" Type="http://schemas.openxmlformats.org/officeDocument/2006/relationships/tags" Target="../tags/tag741.xml"/><Relationship Id="rId24" Type="http://schemas.openxmlformats.org/officeDocument/2006/relationships/tags" Target="../tags/tag754.xml"/><Relationship Id="rId32" Type="http://schemas.openxmlformats.org/officeDocument/2006/relationships/tags" Target="../tags/tag762.xml"/><Relationship Id="rId37" Type="http://schemas.openxmlformats.org/officeDocument/2006/relationships/tags" Target="../tags/tag767.xml"/><Relationship Id="rId40" Type="http://schemas.openxmlformats.org/officeDocument/2006/relationships/tags" Target="../tags/tag770.xml"/><Relationship Id="rId45" Type="http://schemas.openxmlformats.org/officeDocument/2006/relationships/tags" Target="../tags/tag775.xml"/><Relationship Id="rId5" Type="http://schemas.openxmlformats.org/officeDocument/2006/relationships/tags" Target="../tags/tag735.xml"/><Relationship Id="rId15" Type="http://schemas.openxmlformats.org/officeDocument/2006/relationships/tags" Target="../tags/tag745.xml"/><Relationship Id="rId23" Type="http://schemas.openxmlformats.org/officeDocument/2006/relationships/tags" Target="../tags/tag753.xml"/><Relationship Id="rId28" Type="http://schemas.openxmlformats.org/officeDocument/2006/relationships/tags" Target="../tags/tag758.xml"/><Relationship Id="rId36" Type="http://schemas.openxmlformats.org/officeDocument/2006/relationships/tags" Target="../tags/tag766.xml"/><Relationship Id="rId49" Type="http://schemas.openxmlformats.org/officeDocument/2006/relationships/image" Target="../media/image1.emf"/><Relationship Id="rId10" Type="http://schemas.openxmlformats.org/officeDocument/2006/relationships/tags" Target="../tags/tag740.xml"/><Relationship Id="rId19" Type="http://schemas.openxmlformats.org/officeDocument/2006/relationships/tags" Target="../tags/tag749.xml"/><Relationship Id="rId31" Type="http://schemas.openxmlformats.org/officeDocument/2006/relationships/tags" Target="../tags/tag761.xml"/><Relationship Id="rId44" Type="http://schemas.openxmlformats.org/officeDocument/2006/relationships/tags" Target="../tags/tag774.xml"/><Relationship Id="rId4" Type="http://schemas.openxmlformats.org/officeDocument/2006/relationships/tags" Target="../tags/tag734.xml"/><Relationship Id="rId9" Type="http://schemas.openxmlformats.org/officeDocument/2006/relationships/tags" Target="../tags/tag739.xml"/><Relationship Id="rId14" Type="http://schemas.openxmlformats.org/officeDocument/2006/relationships/tags" Target="../tags/tag744.xml"/><Relationship Id="rId22" Type="http://schemas.openxmlformats.org/officeDocument/2006/relationships/tags" Target="../tags/tag752.xml"/><Relationship Id="rId27" Type="http://schemas.openxmlformats.org/officeDocument/2006/relationships/tags" Target="../tags/tag757.xml"/><Relationship Id="rId30" Type="http://schemas.openxmlformats.org/officeDocument/2006/relationships/tags" Target="../tags/tag760.xml"/><Relationship Id="rId35" Type="http://schemas.openxmlformats.org/officeDocument/2006/relationships/tags" Target="../tags/tag765.xml"/><Relationship Id="rId43" Type="http://schemas.openxmlformats.org/officeDocument/2006/relationships/tags" Target="../tags/tag773.xml"/><Relationship Id="rId48" Type="http://schemas.openxmlformats.org/officeDocument/2006/relationships/oleObject" Target="../embeddings/oleObject89.bin"/><Relationship Id="rId8" Type="http://schemas.openxmlformats.org/officeDocument/2006/relationships/tags" Target="../tags/tag738.xml"/><Relationship Id="rId51" Type="http://schemas.openxmlformats.org/officeDocument/2006/relationships/chart" Target="../charts/chart64.xml"/><Relationship Id="rId3" Type="http://schemas.openxmlformats.org/officeDocument/2006/relationships/tags" Target="../tags/tag733.xml"/><Relationship Id="rId12" Type="http://schemas.openxmlformats.org/officeDocument/2006/relationships/tags" Target="../tags/tag742.xml"/><Relationship Id="rId17" Type="http://schemas.openxmlformats.org/officeDocument/2006/relationships/tags" Target="../tags/tag747.xml"/><Relationship Id="rId25" Type="http://schemas.openxmlformats.org/officeDocument/2006/relationships/tags" Target="../tags/tag755.xml"/><Relationship Id="rId33" Type="http://schemas.openxmlformats.org/officeDocument/2006/relationships/tags" Target="../tags/tag763.xml"/><Relationship Id="rId38" Type="http://schemas.openxmlformats.org/officeDocument/2006/relationships/tags" Target="../tags/tag768.xml"/><Relationship Id="rId46" Type="http://schemas.openxmlformats.org/officeDocument/2006/relationships/slideLayout" Target="../slideLayouts/slideLayout13.xml"/><Relationship Id="rId20" Type="http://schemas.openxmlformats.org/officeDocument/2006/relationships/tags" Target="../tags/tag750.xml"/><Relationship Id="rId41" Type="http://schemas.openxmlformats.org/officeDocument/2006/relationships/tags" Target="../tags/tag771.xml"/><Relationship Id="rId1" Type="http://schemas.openxmlformats.org/officeDocument/2006/relationships/tags" Target="../tags/tag731.xml"/><Relationship Id="rId6" Type="http://schemas.openxmlformats.org/officeDocument/2006/relationships/tags" Target="../tags/tag736.xml"/></Relationships>
</file>

<file path=ppt/slides/_rels/slide115.xml.rels><?xml version="1.0" encoding="UTF-8" standalone="yes"?>
<Relationships xmlns="http://schemas.openxmlformats.org/package/2006/relationships"><Relationship Id="rId8" Type="http://schemas.openxmlformats.org/officeDocument/2006/relationships/image" Target="../media/image37.jpeg"/><Relationship Id="rId13" Type="http://schemas.openxmlformats.org/officeDocument/2006/relationships/image" Target="../media/image61.png"/><Relationship Id="rId18" Type="http://schemas.openxmlformats.org/officeDocument/2006/relationships/image" Target="../media/image66.png"/><Relationship Id="rId3" Type="http://schemas.openxmlformats.org/officeDocument/2006/relationships/notesSlide" Target="../notesSlides/notesSlide114.xml"/><Relationship Id="rId21" Type="http://schemas.openxmlformats.org/officeDocument/2006/relationships/image" Target="../media/image69.png"/><Relationship Id="rId7" Type="http://schemas.openxmlformats.org/officeDocument/2006/relationships/image" Target="../media/image36.jpeg"/><Relationship Id="rId12" Type="http://schemas.openxmlformats.org/officeDocument/2006/relationships/image" Target="../media/image60.jpeg"/><Relationship Id="rId17" Type="http://schemas.openxmlformats.org/officeDocument/2006/relationships/image" Target="../media/image65.png"/><Relationship Id="rId25" Type="http://schemas.openxmlformats.org/officeDocument/2006/relationships/slide" Target="slide72.xml"/><Relationship Id="rId2" Type="http://schemas.openxmlformats.org/officeDocument/2006/relationships/slideLayout" Target="../slideLayouts/slideLayout13.xml"/><Relationship Id="rId16" Type="http://schemas.openxmlformats.org/officeDocument/2006/relationships/image" Target="../media/image64.png"/><Relationship Id="rId20" Type="http://schemas.openxmlformats.org/officeDocument/2006/relationships/image" Target="../media/image68.png"/><Relationship Id="rId1" Type="http://schemas.openxmlformats.org/officeDocument/2006/relationships/tags" Target="../tags/tag776.xml"/><Relationship Id="rId6" Type="http://schemas.openxmlformats.org/officeDocument/2006/relationships/image" Target="../media/image35.jpeg"/><Relationship Id="rId11" Type="http://schemas.openxmlformats.org/officeDocument/2006/relationships/image" Target="../media/image59.png"/><Relationship Id="rId24" Type="http://schemas.openxmlformats.org/officeDocument/2006/relationships/chart" Target="../charts/chart67.xml"/><Relationship Id="rId5" Type="http://schemas.openxmlformats.org/officeDocument/2006/relationships/image" Target="../media/image1.emf"/><Relationship Id="rId15" Type="http://schemas.openxmlformats.org/officeDocument/2006/relationships/image" Target="../media/image63.png"/><Relationship Id="rId23" Type="http://schemas.openxmlformats.org/officeDocument/2006/relationships/chart" Target="../charts/chart66.xml"/><Relationship Id="rId10" Type="http://schemas.microsoft.com/office/2007/relationships/hdphoto" Target="../media/hdphoto1.wdp"/><Relationship Id="rId19" Type="http://schemas.openxmlformats.org/officeDocument/2006/relationships/image" Target="../media/image67.png"/><Relationship Id="rId4" Type="http://schemas.openxmlformats.org/officeDocument/2006/relationships/oleObject" Target="../embeddings/oleObject45.bin"/><Relationship Id="rId9" Type="http://schemas.openxmlformats.org/officeDocument/2006/relationships/image" Target="../media/image58.png"/><Relationship Id="rId14" Type="http://schemas.openxmlformats.org/officeDocument/2006/relationships/image" Target="../media/image62.png"/><Relationship Id="rId22" Type="http://schemas.openxmlformats.org/officeDocument/2006/relationships/chart" Target="../charts/chart65.xml"/></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115.xml"/><Relationship Id="rId2" Type="http://schemas.openxmlformats.org/officeDocument/2006/relationships/slideLayout" Target="../slideLayouts/slideLayout13.xml"/><Relationship Id="rId1" Type="http://schemas.openxmlformats.org/officeDocument/2006/relationships/tags" Target="../tags/tag777.xml"/><Relationship Id="rId6" Type="http://schemas.openxmlformats.org/officeDocument/2006/relationships/slide" Target="slide71.xml"/><Relationship Id="rId5" Type="http://schemas.openxmlformats.org/officeDocument/2006/relationships/image" Target="../media/image1.emf"/><Relationship Id="rId4" Type="http://schemas.openxmlformats.org/officeDocument/2006/relationships/oleObject" Target="../embeddings/oleObject61.bin"/></Relationships>
</file>

<file path=ppt/slides/_rels/slide117.xml.rels><?xml version="1.0" encoding="UTF-8" standalone="yes"?>
<Relationships xmlns="http://schemas.openxmlformats.org/package/2006/relationships"><Relationship Id="rId3" Type="http://schemas.openxmlformats.org/officeDocument/2006/relationships/notesSlide" Target="../notesSlides/notesSlide116.xml"/><Relationship Id="rId2" Type="http://schemas.openxmlformats.org/officeDocument/2006/relationships/slideLayout" Target="../slideLayouts/slideLayout13.xml"/><Relationship Id="rId1" Type="http://schemas.openxmlformats.org/officeDocument/2006/relationships/tags" Target="../tags/tag778.xml"/><Relationship Id="rId6" Type="http://schemas.openxmlformats.org/officeDocument/2006/relationships/slide" Target="slide71.xml"/><Relationship Id="rId5" Type="http://schemas.openxmlformats.org/officeDocument/2006/relationships/image" Target="../media/image1.emf"/><Relationship Id="rId4" Type="http://schemas.openxmlformats.org/officeDocument/2006/relationships/oleObject" Target="../embeddings/oleObject61.bin"/></Relationships>
</file>

<file path=ppt/slides/_rels/slide118.xml.rels><?xml version="1.0" encoding="UTF-8" standalone="yes"?>
<Relationships xmlns="http://schemas.openxmlformats.org/package/2006/relationships"><Relationship Id="rId3" Type="http://schemas.openxmlformats.org/officeDocument/2006/relationships/notesSlide" Target="../notesSlides/notesSlide117.xml"/><Relationship Id="rId2" Type="http://schemas.openxmlformats.org/officeDocument/2006/relationships/slideLayout" Target="../slideLayouts/slideLayout13.xml"/><Relationship Id="rId1" Type="http://schemas.openxmlformats.org/officeDocument/2006/relationships/tags" Target="../tags/tag779.xml"/><Relationship Id="rId6" Type="http://schemas.openxmlformats.org/officeDocument/2006/relationships/slide" Target="slide71.xml"/><Relationship Id="rId5" Type="http://schemas.openxmlformats.org/officeDocument/2006/relationships/image" Target="../media/image1.emf"/><Relationship Id="rId4" Type="http://schemas.openxmlformats.org/officeDocument/2006/relationships/oleObject" Target="../embeddings/oleObject45.bin"/></Relationships>
</file>

<file path=ppt/slides/_rels/slide119.xml.rels><?xml version="1.0" encoding="UTF-8" standalone="yes"?>
<Relationships xmlns="http://schemas.openxmlformats.org/package/2006/relationships"><Relationship Id="rId3" Type="http://schemas.openxmlformats.org/officeDocument/2006/relationships/notesSlide" Target="../notesSlides/notesSlide118.xml"/><Relationship Id="rId2" Type="http://schemas.openxmlformats.org/officeDocument/2006/relationships/slideLayout" Target="../slideLayouts/slideLayout13.xml"/><Relationship Id="rId1" Type="http://schemas.openxmlformats.org/officeDocument/2006/relationships/tags" Target="../tags/tag780.xml"/><Relationship Id="rId6" Type="http://schemas.openxmlformats.org/officeDocument/2006/relationships/slide" Target="slide71.xml"/><Relationship Id="rId5" Type="http://schemas.openxmlformats.org/officeDocument/2006/relationships/image" Target="../media/image1.emf"/><Relationship Id="rId4" Type="http://schemas.openxmlformats.org/officeDocument/2006/relationships/oleObject" Target="../embeddings/oleObject45.bin"/></Relationships>
</file>

<file path=ppt/slides/_rels/slide120.xml.rels><?xml version="1.0" encoding="UTF-8" standalone="yes"?>
<Relationships xmlns="http://schemas.openxmlformats.org/package/2006/relationships"><Relationship Id="rId8" Type="http://schemas.openxmlformats.org/officeDocument/2006/relationships/notesSlide" Target="../notesSlides/notesSlide119.xml"/><Relationship Id="rId3" Type="http://schemas.openxmlformats.org/officeDocument/2006/relationships/tags" Target="../tags/tag783.xml"/><Relationship Id="rId7" Type="http://schemas.openxmlformats.org/officeDocument/2006/relationships/slideLayout" Target="../slideLayouts/slideLayout13.xml"/><Relationship Id="rId12" Type="http://schemas.openxmlformats.org/officeDocument/2006/relationships/slide" Target="slide76.xml"/><Relationship Id="rId2" Type="http://schemas.openxmlformats.org/officeDocument/2006/relationships/tags" Target="../tags/tag782.xml"/><Relationship Id="rId1" Type="http://schemas.openxmlformats.org/officeDocument/2006/relationships/tags" Target="../tags/tag781.xml"/><Relationship Id="rId6" Type="http://schemas.openxmlformats.org/officeDocument/2006/relationships/tags" Target="../tags/tag786.xml"/><Relationship Id="rId11" Type="http://schemas.openxmlformats.org/officeDocument/2006/relationships/chart" Target="../charts/chart68.xml"/><Relationship Id="rId5" Type="http://schemas.openxmlformats.org/officeDocument/2006/relationships/tags" Target="../tags/tag785.xml"/><Relationship Id="rId10" Type="http://schemas.openxmlformats.org/officeDocument/2006/relationships/image" Target="../media/image1.emf"/><Relationship Id="rId4" Type="http://schemas.openxmlformats.org/officeDocument/2006/relationships/tags" Target="../tags/tag784.xml"/><Relationship Id="rId9" Type="http://schemas.openxmlformats.org/officeDocument/2006/relationships/oleObject" Target="../embeddings/oleObject90.bin"/></Relationships>
</file>

<file path=ppt/slides/_rels/slide121.xml.rels><?xml version="1.0" encoding="UTF-8" standalone="yes"?>
<Relationships xmlns="http://schemas.openxmlformats.org/package/2006/relationships"><Relationship Id="rId3" Type="http://schemas.openxmlformats.org/officeDocument/2006/relationships/notesSlide" Target="../notesSlides/notesSlide120.xml"/><Relationship Id="rId2" Type="http://schemas.openxmlformats.org/officeDocument/2006/relationships/slideLayout" Target="../slideLayouts/slideLayout13.xml"/><Relationship Id="rId1" Type="http://schemas.openxmlformats.org/officeDocument/2006/relationships/tags" Target="../tags/tag787.xml"/><Relationship Id="rId6" Type="http://schemas.openxmlformats.org/officeDocument/2006/relationships/slide" Target="slide77.xml"/><Relationship Id="rId5" Type="http://schemas.openxmlformats.org/officeDocument/2006/relationships/image" Target="../media/image1.emf"/><Relationship Id="rId4" Type="http://schemas.openxmlformats.org/officeDocument/2006/relationships/oleObject" Target="../embeddings/oleObject88.bin"/></Relationships>
</file>

<file path=ppt/slides/_rels/slide122.xml.rels><?xml version="1.0" encoding="UTF-8" standalone="yes"?>
<Relationships xmlns="http://schemas.openxmlformats.org/package/2006/relationships"><Relationship Id="rId3" Type="http://schemas.openxmlformats.org/officeDocument/2006/relationships/notesSlide" Target="../notesSlides/notesSlide121.xml"/><Relationship Id="rId2" Type="http://schemas.openxmlformats.org/officeDocument/2006/relationships/slideLayout" Target="../slideLayouts/slideLayout13.xml"/><Relationship Id="rId1" Type="http://schemas.openxmlformats.org/officeDocument/2006/relationships/tags" Target="../tags/tag788.xml"/><Relationship Id="rId6" Type="http://schemas.openxmlformats.org/officeDocument/2006/relationships/slide" Target="slide78.xml"/><Relationship Id="rId5" Type="http://schemas.openxmlformats.org/officeDocument/2006/relationships/image" Target="../media/image1.emf"/><Relationship Id="rId4" Type="http://schemas.openxmlformats.org/officeDocument/2006/relationships/oleObject" Target="../embeddings/oleObject88.bin"/></Relationships>
</file>

<file path=ppt/slides/_rels/slide123.xml.rels><?xml version="1.0" encoding="UTF-8" standalone="yes"?>
<Relationships xmlns="http://schemas.openxmlformats.org/package/2006/relationships"><Relationship Id="rId3" Type="http://schemas.openxmlformats.org/officeDocument/2006/relationships/notesSlide" Target="../notesSlides/notesSlide122.xml"/><Relationship Id="rId2" Type="http://schemas.openxmlformats.org/officeDocument/2006/relationships/slideLayout" Target="../slideLayouts/slideLayout13.xml"/><Relationship Id="rId1" Type="http://schemas.openxmlformats.org/officeDocument/2006/relationships/tags" Target="../tags/tag789.xml"/><Relationship Id="rId5" Type="http://schemas.openxmlformats.org/officeDocument/2006/relationships/image" Target="../media/image1.emf"/><Relationship Id="rId4" Type="http://schemas.openxmlformats.org/officeDocument/2006/relationships/oleObject" Target="../embeddings/oleObject91.bin"/></Relationships>
</file>

<file path=ppt/slides/_rels/slide124.xml.rels><?xml version="1.0" encoding="UTF-8" standalone="yes"?>
<Relationships xmlns="http://schemas.openxmlformats.org/package/2006/relationships"><Relationship Id="rId3" Type="http://schemas.openxmlformats.org/officeDocument/2006/relationships/notesSlide" Target="../notesSlides/notesSlide123.xml"/><Relationship Id="rId2" Type="http://schemas.openxmlformats.org/officeDocument/2006/relationships/slideLayout" Target="../slideLayouts/slideLayout13.xml"/><Relationship Id="rId1" Type="http://schemas.openxmlformats.org/officeDocument/2006/relationships/tags" Target="../tags/tag790.xml"/><Relationship Id="rId6" Type="http://schemas.openxmlformats.org/officeDocument/2006/relationships/hyperlink" Target="https://www.nea.org.np/annual_report" TargetMode="External"/><Relationship Id="rId5" Type="http://schemas.openxmlformats.org/officeDocument/2006/relationships/image" Target="../media/image1.emf"/><Relationship Id="rId4" Type="http://schemas.openxmlformats.org/officeDocument/2006/relationships/oleObject" Target="../embeddings/oleObject92.bin"/></Relationships>
</file>

<file path=ppt/slides/_rels/slide125.xml.rels><?xml version="1.0" encoding="UTF-8" standalone="yes"?>
<Relationships xmlns="http://schemas.openxmlformats.org/package/2006/relationships"><Relationship Id="rId3" Type="http://schemas.openxmlformats.org/officeDocument/2006/relationships/notesSlide" Target="../notesSlides/notesSlide124.xml"/><Relationship Id="rId2" Type="http://schemas.openxmlformats.org/officeDocument/2006/relationships/slideLayout" Target="../slideLayouts/slideLayout13.xml"/><Relationship Id="rId1" Type="http://schemas.openxmlformats.org/officeDocument/2006/relationships/tags" Target="../tags/tag791.xml"/><Relationship Id="rId5" Type="http://schemas.openxmlformats.org/officeDocument/2006/relationships/image" Target="../media/image1.emf"/><Relationship Id="rId4" Type="http://schemas.openxmlformats.org/officeDocument/2006/relationships/oleObject" Target="../embeddings/oleObject93.bin"/></Relationships>
</file>

<file path=ppt/slides/_rels/slide126.xml.rels><?xml version="1.0" encoding="UTF-8" standalone="yes"?>
<Relationships xmlns="http://schemas.openxmlformats.org/package/2006/relationships"><Relationship Id="rId3" Type="http://schemas.openxmlformats.org/officeDocument/2006/relationships/notesSlide" Target="../notesSlides/notesSlide125.xml"/><Relationship Id="rId2" Type="http://schemas.openxmlformats.org/officeDocument/2006/relationships/slideLayout" Target="../slideLayouts/slideLayout13.xml"/><Relationship Id="rId1" Type="http://schemas.openxmlformats.org/officeDocument/2006/relationships/tags" Target="../tags/tag792.xml"/><Relationship Id="rId5" Type="http://schemas.openxmlformats.org/officeDocument/2006/relationships/image" Target="../media/image1.emf"/><Relationship Id="rId4" Type="http://schemas.openxmlformats.org/officeDocument/2006/relationships/oleObject" Target="../embeddings/oleObject81.bin"/></Relationships>
</file>

<file path=ppt/slides/_rels/slide127.xml.rels><?xml version="1.0" encoding="UTF-8" standalone="yes"?>
<Relationships xmlns="http://schemas.openxmlformats.org/package/2006/relationships"><Relationship Id="rId26" Type="http://schemas.openxmlformats.org/officeDocument/2006/relationships/tags" Target="../tags/tag818.xml"/><Relationship Id="rId21" Type="http://schemas.openxmlformats.org/officeDocument/2006/relationships/tags" Target="../tags/tag813.xml"/><Relationship Id="rId42" Type="http://schemas.openxmlformats.org/officeDocument/2006/relationships/tags" Target="../tags/tag834.xml"/><Relationship Id="rId47" Type="http://schemas.openxmlformats.org/officeDocument/2006/relationships/tags" Target="../tags/tag839.xml"/><Relationship Id="rId63" Type="http://schemas.openxmlformats.org/officeDocument/2006/relationships/oleObject" Target="../embeddings/oleObject94.bin"/><Relationship Id="rId68" Type="http://schemas.openxmlformats.org/officeDocument/2006/relationships/chart" Target="../charts/chart69.xml"/><Relationship Id="rId7" Type="http://schemas.openxmlformats.org/officeDocument/2006/relationships/tags" Target="../tags/tag799.xml"/><Relationship Id="rId2" Type="http://schemas.openxmlformats.org/officeDocument/2006/relationships/tags" Target="../tags/tag794.xml"/><Relationship Id="rId16" Type="http://schemas.openxmlformats.org/officeDocument/2006/relationships/tags" Target="../tags/tag808.xml"/><Relationship Id="rId29" Type="http://schemas.openxmlformats.org/officeDocument/2006/relationships/tags" Target="../tags/tag821.xml"/><Relationship Id="rId11" Type="http://schemas.openxmlformats.org/officeDocument/2006/relationships/tags" Target="../tags/tag803.xml"/><Relationship Id="rId24" Type="http://schemas.openxmlformats.org/officeDocument/2006/relationships/tags" Target="../tags/tag816.xml"/><Relationship Id="rId32" Type="http://schemas.openxmlformats.org/officeDocument/2006/relationships/tags" Target="../tags/tag824.xml"/><Relationship Id="rId37" Type="http://schemas.openxmlformats.org/officeDocument/2006/relationships/tags" Target="../tags/tag829.xml"/><Relationship Id="rId40" Type="http://schemas.openxmlformats.org/officeDocument/2006/relationships/tags" Target="../tags/tag832.xml"/><Relationship Id="rId45" Type="http://schemas.openxmlformats.org/officeDocument/2006/relationships/tags" Target="../tags/tag837.xml"/><Relationship Id="rId53" Type="http://schemas.openxmlformats.org/officeDocument/2006/relationships/tags" Target="../tags/tag845.xml"/><Relationship Id="rId58" Type="http://schemas.openxmlformats.org/officeDocument/2006/relationships/tags" Target="../tags/tag850.xml"/><Relationship Id="rId66" Type="http://schemas.openxmlformats.org/officeDocument/2006/relationships/hyperlink" Target="https://moewri.gov.np/storage/listies/May2020/electricity-demand-forecast-report-2014-2040.pdf" TargetMode="External"/><Relationship Id="rId5" Type="http://schemas.openxmlformats.org/officeDocument/2006/relationships/tags" Target="../tags/tag797.xml"/><Relationship Id="rId61" Type="http://schemas.openxmlformats.org/officeDocument/2006/relationships/slideLayout" Target="../slideLayouts/slideLayout13.xml"/><Relationship Id="rId19" Type="http://schemas.openxmlformats.org/officeDocument/2006/relationships/tags" Target="../tags/tag811.xml"/><Relationship Id="rId14" Type="http://schemas.openxmlformats.org/officeDocument/2006/relationships/tags" Target="../tags/tag806.xml"/><Relationship Id="rId22" Type="http://schemas.openxmlformats.org/officeDocument/2006/relationships/tags" Target="../tags/tag814.xml"/><Relationship Id="rId27" Type="http://schemas.openxmlformats.org/officeDocument/2006/relationships/tags" Target="../tags/tag819.xml"/><Relationship Id="rId30" Type="http://schemas.openxmlformats.org/officeDocument/2006/relationships/tags" Target="../tags/tag822.xml"/><Relationship Id="rId35" Type="http://schemas.openxmlformats.org/officeDocument/2006/relationships/tags" Target="../tags/tag827.xml"/><Relationship Id="rId43" Type="http://schemas.openxmlformats.org/officeDocument/2006/relationships/tags" Target="../tags/tag835.xml"/><Relationship Id="rId48" Type="http://schemas.openxmlformats.org/officeDocument/2006/relationships/tags" Target="../tags/tag840.xml"/><Relationship Id="rId56" Type="http://schemas.openxmlformats.org/officeDocument/2006/relationships/tags" Target="../tags/tag848.xml"/><Relationship Id="rId64" Type="http://schemas.openxmlformats.org/officeDocument/2006/relationships/image" Target="../media/image1.emf"/><Relationship Id="rId69" Type="http://schemas.openxmlformats.org/officeDocument/2006/relationships/chart" Target="../charts/chart70.xml"/><Relationship Id="rId8" Type="http://schemas.openxmlformats.org/officeDocument/2006/relationships/tags" Target="../tags/tag800.xml"/><Relationship Id="rId51" Type="http://schemas.openxmlformats.org/officeDocument/2006/relationships/tags" Target="../tags/tag843.xml"/><Relationship Id="rId3" Type="http://schemas.openxmlformats.org/officeDocument/2006/relationships/tags" Target="../tags/tag795.xml"/><Relationship Id="rId12" Type="http://schemas.openxmlformats.org/officeDocument/2006/relationships/tags" Target="../tags/tag804.xml"/><Relationship Id="rId17" Type="http://schemas.openxmlformats.org/officeDocument/2006/relationships/tags" Target="../tags/tag809.xml"/><Relationship Id="rId25" Type="http://schemas.openxmlformats.org/officeDocument/2006/relationships/tags" Target="../tags/tag817.xml"/><Relationship Id="rId33" Type="http://schemas.openxmlformats.org/officeDocument/2006/relationships/tags" Target="../tags/tag825.xml"/><Relationship Id="rId38" Type="http://schemas.openxmlformats.org/officeDocument/2006/relationships/tags" Target="../tags/tag830.xml"/><Relationship Id="rId46" Type="http://schemas.openxmlformats.org/officeDocument/2006/relationships/tags" Target="../tags/tag838.xml"/><Relationship Id="rId59" Type="http://schemas.openxmlformats.org/officeDocument/2006/relationships/tags" Target="../tags/tag851.xml"/><Relationship Id="rId67" Type="http://schemas.openxmlformats.org/officeDocument/2006/relationships/hyperlink" Target="https://www.nea.org.np/admin/assets/uploads/supportive_docs/LoadForecast2014_15.pdf" TargetMode="External"/><Relationship Id="rId20" Type="http://schemas.openxmlformats.org/officeDocument/2006/relationships/tags" Target="../tags/tag812.xml"/><Relationship Id="rId41" Type="http://schemas.openxmlformats.org/officeDocument/2006/relationships/tags" Target="../tags/tag833.xml"/><Relationship Id="rId54" Type="http://schemas.openxmlformats.org/officeDocument/2006/relationships/tags" Target="../tags/tag846.xml"/><Relationship Id="rId62" Type="http://schemas.openxmlformats.org/officeDocument/2006/relationships/notesSlide" Target="../notesSlides/notesSlide126.xml"/><Relationship Id="rId70" Type="http://schemas.openxmlformats.org/officeDocument/2006/relationships/hyperlink" Target="https://data.worldbank.org/indicator/NY.GDP.MKTP.KD.ZG?end=2023&amp;locations=NP&amp;start=2015&amp;view=chart" TargetMode="External"/><Relationship Id="rId1" Type="http://schemas.openxmlformats.org/officeDocument/2006/relationships/tags" Target="../tags/tag793.xml"/><Relationship Id="rId6" Type="http://schemas.openxmlformats.org/officeDocument/2006/relationships/tags" Target="../tags/tag798.xml"/><Relationship Id="rId15" Type="http://schemas.openxmlformats.org/officeDocument/2006/relationships/tags" Target="../tags/tag807.xml"/><Relationship Id="rId23" Type="http://schemas.openxmlformats.org/officeDocument/2006/relationships/tags" Target="../tags/tag815.xml"/><Relationship Id="rId28" Type="http://schemas.openxmlformats.org/officeDocument/2006/relationships/tags" Target="../tags/tag820.xml"/><Relationship Id="rId36" Type="http://schemas.openxmlformats.org/officeDocument/2006/relationships/tags" Target="../tags/tag828.xml"/><Relationship Id="rId49" Type="http://schemas.openxmlformats.org/officeDocument/2006/relationships/tags" Target="../tags/tag841.xml"/><Relationship Id="rId57" Type="http://schemas.openxmlformats.org/officeDocument/2006/relationships/tags" Target="../tags/tag849.xml"/><Relationship Id="rId10" Type="http://schemas.openxmlformats.org/officeDocument/2006/relationships/tags" Target="../tags/tag802.xml"/><Relationship Id="rId31" Type="http://schemas.openxmlformats.org/officeDocument/2006/relationships/tags" Target="../tags/tag823.xml"/><Relationship Id="rId44" Type="http://schemas.openxmlformats.org/officeDocument/2006/relationships/tags" Target="../tags/tag836.xml"/><Relationship Id="rId52" Type="http://schemas.openxmlformats.org/officeDocument/2006/relationships/tags" Target="../tags/tag844.xml"/><Relationship Id="rId60" Type="http://schemas.openxmlformats.org/officeDocument/2006/relationships/tags" Target="../tags/tag852.xml"/><Relationship Id="rId65" Type="http://schemas.openxmlformats.org/officeDocument/2006/relationships/hyperlink" Target="https://www.nea.org.np/annual_report" TargetMode="External"/><Relationship Id="rId4" Type="http://schemas.openxmlformats.org/officeDocument/2006/relationships/tags" Target="../tags/tag796.xml"/><Relationship Id="rId9" Type="http://schemas.openxmlformats.org/officeDocument/2006/relationships/tags" Target="../tags/tag801.xml"/><Relationship Id="rId13" Type="http://schemas.openxmlformats.org/officeDocument/2006/relationships/tags" Target="../tags/tag805.xml"/><Relationship Id="rId18" Type="http://schemas.openxmlformats.org/officeDocument/2006/relationships/tags" Target="../tags/tag810.xml"/><Relationship Id="rId39" Type="http://schemas.openxmlformats.org/officeDocument/2006/relationships/tags" Target="../tags/tag831.xml"/><Relationship Id="rId34" Type="http://schemas.openxmlformats.org/officeDocument/2006/relationships/tags" Target="../tags/tag826.xml"/><Relationship Id="rId50" Type="http://schemas.openxmlformats.org/officeDocument/2006/relationships/tags" Target="../tags/tag842.xml"/><Relationship Id="rId55" Type="http://schemas.openxmlformats.org/officeDocument/2006/relationships/tags" Target="../tags/tag847.xml"/></Relationships>
</file>

<file path=ppt/slides/_rels/slide128.xml.rels><?xml version="1.0" encoding="UTF-8" standalone="yes"?>
<Relationships xmlns="http://schemas.openxmlformats.org/package/2006/relationships"><Relationship Id="rId13" Type="http://schemas.openxmlformats.org/officeDocument/2006/relationships/tags" Target="../tags/tag865.xml"/><Relationship Id="rId18" Type="http://schemas.openxmlformats.org/officeDocument/2006/relationships/tags" Target="../tags/tag870.xml"/><Relationship Id="rId26" Type="http://schemas.openxmlformats.org/officeDocument/2006/relationships/tags" Target="../tags/tag878.xml"/><Relationship Id="rId3" Type="http://schemas.openxmlformats.org/officeDocument/2006/relationships/tags" Target="../tags/tag855.xml"/><Relationship Id="rId21" Type="http://schemas.openxmlformats.org/officeDocument/2006/relationships/tags" Target="../tags/tag873.xml"/><Relationship Id="rId34" Type="http://schemas.openxmlformats.org/officeDocument/2006/relationships/hyperlink" Target="https://ibn.gov.np/uploads/documents/energy-demand-projection-2030pdf-3751-220-1671458121.pdf" TargetMode="External"/><Relationship Id="rId7" Type="http://schemas.openxmlformats.org/officeDocument/2006/relationships/tags" Target="../tags/tag859.xml"/><Relationship Id="rId12" Type="http://schemas.openxmlformats.org/officeDocument/2006/relationships/tags" Target="../tags/tag864.xml"/><Relationship Id="rId17" Type="http://schemas.openxmlformats.org/officeDocument/2006/relationships/tags" Target="../tags/tag869.xml"/><Relationship Id="rId25" Type="http://schemas.openxmlformats.org/officeDocument/2006/relationships/tags" Target="../tags/tag877.xml"/><Relationship Id="rId33" Type="http://schemas.openxmlformats.org/officeDocument/2006/relationships/hyperlink" Target="https://www.nea.org.np/annual_report" TargetMode="External"/><Relationship Id="rId2" Type="http://schemas.openxmlformats.org/officeDocument/2006/relationships/tags" Target="../tags/tag854.xml"/><Relationship Id="rId16" Type="http://schemas.openxmlformats.org/officeDocument/2006/relationships/tags" Target="../tags/tag868.xml"/><Relationship Id="rId20" Type="http://schemas.openxmlformats.org/officeDocument/2006/relationships/tags" Target="../tags/tag872.xml"/><Relationship Id="rId29" Type="http://schemas.openxmlformats.org/officeDocument/2006/relationships/notesSlide" Target="../notesSlides/notesSlide127.xml"/><Relationship Id="rId1" Type="http://schemas.openxmlformats.org/officeDocument/2006/relationships/tags" Target="../tags/tag853.xml"/><Relationship Id="rId6" Type="http://schemas.openxmlformats.org/officeDocument/2006/relationships/tags" Target="../tags/tag858.xml"/><Relationship Id="rId11" Type="http://schemas.openxmlformats.org/officeDocument/2006/relationships/tags" Target="../tags/tag863.xml"/><Relationship Id="rId24" Type="http://schemas.openxmlformats.org/officeDocument/2006/relationships/tags" Target="../tags/tag876.xml"/><Relationship Id="rId32" Type="http://schemas.openxmlformats.org/officeDocument/2006/relationships/chart" Target="../charts/chart71.xml"/><Relationship Id="rId5" Type="http://schemas.openxmlformats.org/officeDocument/2006/relationships/tags" Target="../tags/tag857.xml"/><Relationship Id="rId15" Type="http://schemas.openxmlformats.org/officeDocument/2006/relationships/tags" Target="../tags/tag867.xml"/><Relationship Id="rId23" Type="http://schemas.openxmlformats.org/officeDocument/2006/relationships/tags" Target="../tags/tag875.xml"/><Relationship Id="rId28" Type="http://schemas.openxmlformats.org/officeDocument/2006/relationships/slideLayout" Target="../slideLayouts/slideLayout13.xml"/><Relationship Id="rId36" Type="http://schemas.openxmlformats.org/officeDocument/2006/relationships/hyperlink" Target="https://www.nea.org.np/admin/assets/uploads/supportive_docs/LoadForecast2014_15.pdf" TargetMode="External"/><Relationship Id="rId10" Type="http://schemas.openxmlformats.org/officeDocument/2006/relationships/tags" Target="../tags/tag862.xml"/><Relationship Id="rId19" Type="http://schemas.openxmlformats.org/officeDocument/2006/relationships/tags" Target="../tags/tag871.xml"/><Relationship Id="rId31" Type="http://schemas.openxmlformats.org/officeDocument/2006/relationships/image" Target="../media/image1.emf"/><Relationship Id="rId4" Type="http://schemas.openxmlformats.org/officeDocument/2006/relationships/tags" Target="../tags/tag856.xml"/><Relationship Id="rId9" Type="http://schemas.openxmlformats.org/officeDocument/2006/relationships/tags" Target="../tags/tag861.xml"/><Relationship Id="rId14" Type="http://schemas.openxmlformats.org/officeDocument/2006/relationships/tags" Target="../tags/tag866.xml"/><Relationship Id="rId22" Type="http://schemas.openxmlformats.org/officeDocument/2006/relationships/tags" Target="../tags/tag874.xml"/><Relationship Id="rId27" Type="http://schemas.openxmlformats.org/officeDocument/2006/relationships/tags" Target="../tags/tag879.xml"/><Relationship Id="rId30" Type="http://schemas.openxmlformats.org/officeDocument/2006/relationships/oleObject" Target="../embeddings/oleObject95.bin"/><Relationship Id="rId35" Type="http://schemas.openxmlformats.org/officeDocument/2006/relationships/hyperlink" Target="https://moewri.gov.np/storage/listies/May2020/electricity-demand-forecast-report-2014-2040.pdf" TargetMode="External"/><Relationship Id="rId8" Type="http://schemas.openxmlformats.org/officeDocument/2006/relationships/tags" Target="../tags/tag860.xml"/></Relationships>
</file>

<file path=ppt/slides/_rels/slide129.xml.rels><?xml version="1.0" encoding="UTF-8" standalone="yes"?>
<Relationships xmlns="http://schemas.openxmlformats.org/package/2006/relationships"><Relationship Id="rId3" Type="http://schemas.openxmlformats.org/officeDocument/2006/relationships/notesSlide" Target="../notesSlides/notesSlide128.xml"/><Relationship Id="rId2" Type="http://schemas.openxmlformats.org/officeDocument/2006/relationships/slideLayout" Target="../slideLayouts/slideLayout13.xml"/><Relationship Id="rId1" Type="http://schemas.openxmlformats.org/officeDocument/2006/relationships/tags" Target="../tags/tag880.xml"/><Relationship Id="rId5" Type="http://schemas.openxmlformats.org/officeDocument/2006/relationships/image" Target="../media/image1.emf"/><Relationship Id="rId4" Type="http://schemas.openxmlformats.org/officeDocument/2006/relationships/oleObject" Target="../embeddings/oleObject76.bin"/></Relationships>
</file>

<file path=ppt/slides/_rels/slide130.xml.rels><?xml version="1.0" encoding="UTF-8" standalone="yes"?>
<Relationships xmlns="http://schemas.openxmlformats.org/package/2006/relationships"><Relationship Id="rId2" Type="http://schemas.openxmlformats.org/officeDocument/2006/relationships/slide" Target="slide13.xml"/><Relationship Id="rId1" Type="http://schemas.openxmlformats.org/officeDocument/2006/relationships/slideLayout" Target="../slideLayouts/slideLayout34.xml"/></Relationships>
</file>

<file path=ppt/slides/_rels/slide131.xml.rels><?xml version="1.0" encoding="UTF-8" standalone="yes"?>
<Relationships xmlns="http://schemas.openxmlformats.org/package/2006/relationships"><Relationship Id="rId2" Type="http://schemas.openxmlformats.org/officeDocument/2006/relationships/slide" Target="slide13.xml"/><Relationship Id="rId1" Type="http://schemas.openxmlformats.org/officeDocument/2006/relationships/slideLayout" Target="../slideLayouts/slideLayout14.xml"/></Relationships>
</file>

<file path=ppt/slides/_rels/slide132.xml.rels><?xml version="1.0" encoding="UTF-8" standalone="yes"?>
<Relationships xmlns="http://schemas.openxmlformats.org/package/2006/relationships"><Relationship Id="rId2" Type="http://schemas.openxmlformats.org/officeDocument/2006/relationships/slide" Target="slide13.xml"/><Relationship Id="rId1" Type="http://schemas.openxmlformats.org/officeDocument/2006/relationships/slideLayout" Target="../slideLayouts/slideLayout14.xml"/></Relationships>
</file>

<file path=ppt/slides/_rels/slide133.xml.rels><?xml version="1.0" encoding="UTF-8" standalone="yes"?>
<Relationships xmlns="http://schemas.openxmlformats.org/package/2006/relationships"><Relationship Id="rId2" Type="http://schemas.openxmlformats.org/officeDocument/2006/relationships/slide" Target="slide13.xml"/><Relationship Id="rId1" Type="http://schemas.openxmlformats.org/officeDocument/2006/relationships/slideLayout" Target="../slideLayouts/slideLayout14.xml"/></Relationships>
</file>

<file path=ppt/slides/_rels/slide134.xml.rels><?xml version="1.0" encoding="UTF-8" standalone="yes"?>
<Relationships xmlns="http://schemas.openxmlformats.org/package/2006/relationships"><Relationship Id="rId3" Type="http://schemas.openxmlformats.org/officeDocument/2006/relationships/oleObject" Target="../embeddings/oleObject96.bin"/><Relationship Id="rId2" Type="http://schemas.openxmlformats.org/officeDocument/2006/relationships/slideLayout" Target="../slideLayouts/slideLayout14.xml"/><Relationship Id="rId1" Type="http://schemas.openxmlformats.org/officeDocument/2006/relationships/tags" Target="../tags/tag881.xml"/><Relationship Id="rId4" Type="http://schemas.openxmlformats.org/officeDocument/2006/relationships/image" Target="../media/image14.em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43C7BCB1-0811-25A1-7A9B-686C5CD7DBFC}"/>
              </a:ext>
            </a:extLst>
          </p:cNvPr>
          <p:cNvGraphicFramePr>
            <a:graphicFrameLocks noChangeAspect="1"/>
          </p:cNvGraphicFramePr>
          <p:nvPr>
            <p:custDataLst>
              <p:tags r:id="rId1"/>
            </p:custDataLst>
            <p:extLst>
              <p:ext uri="{D42A27DB-BD31-4B8C-83A1-F6EECF244321}">
                <p14:modId xmlns:p14="http://schemas.microsoft.com/office/powerpoint/2010/main" val="3617859672"/>
              </p:ext>
            </p:extLst>
          </p:nvPr>
        </p:nvGraphicFramePr>
        <p:xfrm>
          <a:off x="1144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9" name="think-cell data - do not delete" hidden="1">
                        <a:extLst>
                          <a:ext uri="{FF2B5EF4-FFF2-40B4-BE49-F238E27FC236}">
                            <a16:creationId xmlns:a16="http://schemas.microsoft.com/office/drawing/2014/main" id="{43C7BCB1-0811-25A1-7A9B-686C5CD7DBFC}"/>
                          </a:ext>
                        </a:extLst>
                      </p:cNvPr>
                      <p:cNvPicPr/>
                      <p:nvPr/>
                    </p:nvPicPr>
                    <p:blipFill>
                      <a:blip r:embed="rId5"/>
                      <a:stretch>
                        <a:fillRect/>
                      </a:stretch>
                    </p:blipFill>
                    <p:spPr>
                      <a:xfrm>
                        <a:off x="1144588" y="1588"/>
                        <a:ext cx="1588" cy="1588"/>
                      </a:xfrm>
                      <a:prstGeom prst="rect">
                        <a:avLst/>
                      </a:prstGeom>
                    </p:spPr>
                  </p:pic>
                </p:oleObj>
              </mc:Fallback>
            </mc:AlternateContent>
          </a:graphicData>
        </a:graphic>
      </p:graphicFrame>
      <p:pic>
        <p:nvPicPr>
          <p:cNvPr id="22" name="Picture Placeholder 21">
            <a:extLst>
              <a:ext uri="{FF2B5EF4-FFF2-40B4-BE49-F238E27FC236}">
                <a16:creationId xmlns:a16="http://schemas.microsoft.com/office/drawing/2014/main" id="{C0B0D5B1-F168-FEF8-EBE3-11E276FED4B8}"/>
              </a:ext>
            </a:extLst>
          </p:cNvPr>
          <p:cNvPicPr>
            <a:picLocks noGrp="1" noChangeAspect="1"/>
          </p:cNvPicPr>
          <p:nvPr>
            <p:ph type="pic" sz="quarter" idx="11"/>
          </p:nvPr>
        </p:nvPicPr>
        <p:blipFill rotWithShape="1">
          <a:blip r:embed="rId6">
            <a:extLst>
              <a:ext uri="{28A0092B-C50C-407E-A947-70E740481C1C}">
                <a14:useLocalDpi xmlns:a14="http://schemas.microsoft.com/office/drawing/2010/main" val="0"/>
              </a:ext>
            </a:extLst>
          </a:blip>
          <a:srcRect t="7733" b="7733"/>
          <a:stretch/>
        </p:blipFill>
        <p:spPr>
          <a:xfrm>
            <a:off x="0" y="1"/>
            <a:ext cx="12192000" cy="6858000"/>
          </a:xfrm>
        </p:spPr>
      </p:pic>
      <p:sp>
        <p:nvSpPr>
          <p:cNvPr id="24" name="Rectangle 23">
            <a:extLst>
              <a:ext uri="{FF2B5EF4-FFF2-40B4-BE49-F238E27FC236}">
                <a16:creationId xmlns:a16="http://schemas.microsoft.com/office/drawing/2014/main" id="{B4EF0ECF-5A70-1A26-BAE5-D900CC20A1A1}"/>
              </a:ext>
            </a:extLst>
          </p:cNvPr>
          <p:cNvSpPr/>
          <p:nvPr/>
        </p:nvSpPr>
        <p:spPr>
          <a:xfrm>
            <a:off x="0" y="0"/>
            <a:ext cx="12192000" cy="6857999"/>
          </a:xfrm>
          <a:prstGeom prst="rect">
            <a:avLst/>
          </a:prstGeom>
          <a:solidFill>
            <a:schemeClr val="tx1">
              <a:alpha val="61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021879" name="Rectangle 55"/>
          <p:cNvSpPr>
            <a:spLocks noGrp="1" noChangeArrowheads="1"/>
          </p:cNvSpPr>
          <p:nvPr>
            <p:ph type="ctrTitle"/>
          </p:nvPr>
        </p:nvSpPr>
        <p:spPr bwMode="gray">
          <a:xfrm>
            <a:off x="259972" y="5685945"/>
            <a:ext cx="8903950" cy="551010"/>
          </a:xfrm>
        </p:spPr>
        <p:txBody>
          <a:bodyPr vert="horz" anchor="ctr"/>
          <a:lstStyle/>
          <a:p>
            <a:r>
              <a:rPr lang="en-US" altLang="ja-JP" sz="3200">
                <a:solidFill>
                  <a:srgbClr val="86BC25"/>
                </a:solidFill>
                <a:latin typeface="Arial" panose="020B0604020202020204" pitchFamily="34" charset="0"/>
                <a:cs typeface="Arial" panose="020B0604020202020204" pitchFamily="34" charset="0"/>
              </a:rPr>
              <a:t>PJ_ST_CDD Final Report</a:t>
            </a:r>
            <a:endParaRPr lang="en-US" altLang="ja-JP" sz="3200">
              <a:solidFill>
                <a:schemeClr val="bg1">
                  <a:lumMod val="95000"/>
                </a:schemeClr>
              </a:solidFill>
              <a:latin typeface="Arial" panose="020B0604020202020204" pitchFamily="34" charset="0"/>
              <a:cs typeface="Arial" panose="020B0604020202020204" pitchFamily="34" charset="0"/>
            </a:endParaRPr>
          </a:p>
        </p:txBody>
      </p:sp>
      <p:sp>
        <p:nvSpPr>
          <p:cNvPr id="3021880" name="Rectangle 56"/>
          <p:cNvSpPr>
            <a:spLocks noGrp="1" noChangeArrowheads="1"/>
          </p:cNvSpPr>
          <p:nvPr>
            <p:ph type="body" sz="quarter" idx="10"/>
          </p:nvPr>
        </p:nvSpPr>
        <p:spPr bwMode="gray">
          <a:xfrm>
            <a:off x="397497" y="6301911"/>
            <a:ext cx="3888587" cy="307777"/>
          </a:xfrm>
          <a:noFill/>
        </p:spPr>
        <p:txBody>
          <a:bodyPr anchor="ctr"/>
          <a:lstStyle/>
          <a:p>
            <a:pPr marL="0" indent="0">
              <a:buNone/>
            </a:pPr>
            <a:r>
              <a:rPr lang="en-IN" altLang="ja-JP" b="1" dirty="0">
                <a:solidFill>
                  <a:schemeClr val="bg1"/>
                </a:solidFill>
                <a:latin typeface="Arial" panose="020B0604020202020204" pitchFamily="34" charset="0"/>
                <a:cs typeface="Arial" panose="020B0604020202020204" pitchFamily="34" charset="0"/>
              </a:rPr>
              <a:t>AUGUST 2025</a:t>
            </a:r>
            <a:endParaRPr lang="en-US" altLang="ja-JP" b="1" dirty="0">
              <a:solidFill>
                <a:schemeClr val="bg1"/>
              </a:solidFill>
              <a:latin typeface="Arial" panose="020B0604020202020204" pitchFamily="34" charset="0"/>
              <a:cs typeface="Arial" panose="020B0604020202020204" pitchFamily="34" charset="0"/>
            </a:endParaRPr>
          </a:p>
        </p:txBody>
      </p:sp>
      <p:sp>
        <p:nvSpPr>
          <p:cNvPr id="11" name="L-Shape 10">
            <a:extLst>
              <a:ext uri="{FF2B5EF4-FFF2-40B4-BE49-F238E27FC236}">
                <a16:creationId xmlns:a16="http://schemas.microsoft.com/office/drawing/2014/main" id="{B7A2D579-DE01-BE5C-938E-4B3DD8766BE1}"/>
              </a:ext>
            </a:extLst>
          </p:cNvPr>
          <p:cNvSpPr/>
          <p:nvPr/>
        </p:nvSpPr>
        <p:spPr bwMode="gray">
          <a:xfrm flipH="1" flipV="1">
            <a:off x="2133600" y="259254"/>
            <a:ext cx="9798428" cy="6285478"/>
          </a:xfrm>
          <a:prstGeom prst="corner">
            <a:avLst>
              <a:gd name="adj1" fmla="val 1195"/>
              <a:gd name="adj2" fmla="val 1234"/>
            </a:avLst>
          </a:prstGeom>
          <a:gradFill flip="none" rotWithShape="1">
            <a:gsLst>
              <a:gs pos="0">
                <a:srgbClr val="86BC25">
                  <a:lumMod val="5000"/>
                  <a:lumOff val="95000"/>
                  <a:alpha val="0"/>
                </a:srgbClr>
              </a:gs>
              <a:gs pos="68000">
                <a:srgbClr val="00A3E0"/>
              </a:gs>
              <a:gs pos="100000">
                <a:srgbClr val="86BC25"/>
              </a:gs>
            </a:gsLst>
            <a:lin ang="13500000" scaled="1"/>
            <a:tileRect/>
          </a:gradFill>
          <a:ln w="19050" algn="ctr">
            <a:noFill/>
            <a:miter lim="800000"/>
            <a:headEnd/>
            <a:tailEnd/>
          </a:ln>
        </p:spPr>
        <p:txBody>
          <a:bodyPr wrap="square" lIns="88900" tIns="88900" rIns="88900" bIns="88900" rtlCol="0" anchor="ctr"/>
          <a:lstStyle/>
          <a:p>
            <a:pPr marL="0" marR="0" lvl="0" indent="0" algn="ctr" defTabSz="91440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0" cap="none" spc="0" normalizeH="0" baseline="0" noProof="0">
              <a:ln>
                <a:noFill/>
              </a:ln>
              <a:solidFill>
                <a:prstClr val="white"/>
              </a:solidFill>
              <a:effectLst/>
              <a:uLnTx/>
              <a:uFillTx/>
            </a:endParaRPr>
          </a:p>
        </p:txBody>
      </p:sp>
      <p:pic>
        <p:nvPicPr>
          <p:cNvPr id="34" name="図 6">
            <a:extLst>
              <a:ext uri="{FF2B5EF4-FFF2-40B4-BE49-F238E27FC236}">
                <a16:creationId xmlns:a16="http://schemas.microsoft.com/office/drawing/2014/main" id="{F3591EAF-7466-48B5-95C7-54B6232BF231}"/>
              </a:ext>
            </a:extLst>
          </p:cNvPr>
          <p:cNvPicPr>
            <a:picLocks noChangeAspect="1"/>
          </p:cNvPicPr>
          <p:nvPr/>
        </p:nvPicPr>
        <p:blipFill>
          <a:blip r:embed="rId7" cstate="print">
            <a:lum bright="70000" contrast="-70000"/>
            <a:extLst>
              <a:ext uri="{28A0092B-C50C-407E-A947-70E740481C1C}">
                <a14:useLocalDpi xmlns:a14="http://schemas.microsoft.com/office/drawing/2010/main"/>
              </a:ext>
            </a:extLst>
          </a:blip>
          <a:stretch>
            <a:fillRect/>
          </a:stretch>
        </p:blipFill>
        <p:spPr bwMode="gray">
          <a:xfrm>
            <a:off x="397497" y="372734"/>
            <a:ext cx="1688724" cy="551010"/>
          </a:xfrm>
          <a:prstGeom prst="rect">
            <a:avLst/>
          </a:prstGeom>
        </p:spPr>
      </p:pic>
    </p:spTree>
    <p:extLst>
      <p:ext uri="{BB962C8B-B14F-4D97-AF65-F5344CB8AC3E}">
        <p14:creationId xmlns:p14="http://schemas.microsoft.com/office/powerpoint/2010/main" val="348442494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92503724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a:xfrm>
            <a:off x="501651" y="410634"/>
            <a:ext cx="11188700" cy="334099"/>
          </a:xfrm>
        </p:spPr>
        <p:txBody>
          <a:bodyPr vert="horz"/>
          <a:lstStyle/>
          <a:p>
            <a:r>
              <a:rPr lang="en-US" sz="1800" b="1">
                <a:latin typeface="Arial" panose="020B0604020202020204" pitchFamily="34" charset="0"/>
                <a:cs typeface="Arial" panose="020B0604020202020204" pitchFamily="34" charset="0"/>
              </a:rPr>
              <a:t>Disclaimer</a:t>
            </a:r>
            <a:endParaRPr lang="en-GB" sz="1800" b="1">
              <a:latin typeface="Arial" panose="020B0604020202020204" pitchFamily="34" charset="0"/>
              <a:cs typeface="Arial" panose="020B0604020202020204" pitchFamily="34" charset="0"/>
            </a:endParaRPr>
          </a:p>
        </p:txBody>
      </p:sp>
      <p:cxnSp>
        <p:nvCxnSpPr>
          <p:cNvPr id="2" name="Straight Connector 1">
            <a:extLst>
              <a:ext uri="{FF2B5EF4-FFF2-40B4-BE49-F238E27FC236}">
                <a16:creationId xmlns:a16="http://schemas.microsoft.com/office/drawing/2014/main" id="{5D045362-58E2-6EA1-EB75-9270F4B05F3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A4C5C1A4-95AE-AC82-A531-984528A2C7E7}"/>
              </a:ext>
            </a:extLst>
          </p:cNvPr>
          <p:cNvSpPr txBox="1"/>
          <p:nvPr/>
        </p:nvSpPr>
        <p:spPr>
          <a:xfrm>
            <a:off x="494792" y="1077366"/>
            <a:ext cx="11195559" cy="307777"/>
          </a:xfrm>
          <a:prstGeom prst="rect">
            <a:avLst/>
          </a:prstGeom>
          <a:noFill/>
        </p:spPr>
        <p:txBody>
          <a:bodyPr wrap="square">
            <a:spAutoFit/>
          </a:bodyPr>
          <a:lstStyle/>
          <a:p>
            <a:pPr algn="just">
              <a:spcBef>
                <a:spcPts val="600"/>
              </a:spcBef>
              <a:spcAft>
                <a:spcPts val="600"/>
              </a:spcAft>
            </a:pPr>
            <a:r>
              <a:rPr lang="en-US" sz="1400"/>
              <a:t>TO BE ADDED BY DELOITTE JAPAN</a:t>
            </a:r>
          </a:p>
        </p:txBody>
      </p:sp>
    </p:spTree>
    <p:extLst>
      <p:ext uri="{BB962C8B-B14F-4D97-AF65-F5344CB8AC3E}">
        <p14:creationId xmlns:p14="http://schemas.microsoft.com/office/powerpoint/2010/main" val="800571844"/>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481179265"/>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a:xfrm>
            <a:off x="501651" y="410634"/>
            <a:ext cx="11188700" cy="334099"/>
          </a:xfrm>
        </p:spPr>
        <p:txBody>
          <a:bodyPr vert="horz"/>
          <a:lstStyle/>
          <a:p>
            <a:r>
              <a:rPr lang="en-US" sz="1800" b="1">
                <a:latin typeface="Arial" panose="020B0604020202020204" pitchFamily="34" charset="0"/>
                <a:cs typeface="Arial" panose="020B0604020202020204" pitchFamily="34" charset="0"/>
              </a:rPr>
              <a:t>TABLE OF CONTENT </a:t>
            </a:r>
            <a:endParaRPr lang="en-GB" sz="1800" b="1">
              <a:latin typeface="Arial" panose="020B0604020202020204" pitchFamily="34" charset="0"/>
              <a:cs typeface="Arial" panose="020B0604020202020204" pitchFamily="34" charset="0"/>
            </a:endParaRPr>
          </a:p>
        </p:txBody>
      </p:sp>
      <p:graphicFrame>
        <p:nvGraphicFramePr>
          <p:cNvPr id="3" name="Table 2">
            <a:extLst>
              <a:ext uri="{FF2B5EF4-FFF2-40B4-BE49-F238E27FC236}">
                <a16:creationId xmlns:a16="http://schemas.microsoft.com/office/drawing/2014/main" id="{7AC44A76-4AD6-AAE8-1134-A59CA4EFFA1D}"/>
              </a:ext>
            </a:extLst>
          </p:cNvPr>
          <p:cNvGraphicFramePr>
            <a:graphicFrameLocks noGrp="1"/>
          </p:cNvGraphicFramePr>
          <p:nvPr>
            <p:extLst>
              <p:ext uri="{D42A27DB-BD31-4B8C-83A1-F6EECF244321}">
                <p14:modId xmlns:p14="http://schemas.microsoft.com/office/powerpoint/2010/main" val="158334791"/>
              </p:ext>
            </p:extLst>
          </p:nvPr>
        </p:nvGraphicFramePr>
        <p:xfrm>
          <a:off x="501651" y="794161"/>
          <a:ext cx="10644144" cy="5396572"/>
        </p:xfrm>
        <a:graphic>
          <a:graphicData uri="http://schemas.openxmlformats.org/drawingml/2006/table">
            <a:tbl>
              <a:tblPr firstRow="1" bandRow="1">
                <a:tableStyleId>{5C22544A-7EE6-4342-B048-85BDC9FD1C3A}</a:tableStyleId>
              </a:tblPr>
              <a:tblGrid>
                <a:gridCol w="1120922">
                  <a:extLst>
                    <a:ext uri="{9D8B030D-6E8A-4147-A177-3AD203B41FA5}">
                      <a16:colId xmlns:a16="http://schemas.microsoft.com/office/drawing/2014/main" val="3490443825"/>
                    </a:ext>
                  </a:extLst>
                </a:gridCol>
                <a:gridCol w="9523222">
                  <a:extLst>
                    <a:ext uri="{9D8B030D-6E8A-4147-A177-3AD203B41FA5}">
                      <a16:colId xmlns:a16="http://schemas.microsoft.com/office/drawing/2014/main" val="2409796114"/>
                    </a:ext>
                  </a:extLst>
                </a:gridCol>
              </a:tblGrid>
              <a:tr h="299509">
                <a:tc>
                  <a:txBody>
                    <a:bodyPr/>
                    <a:lstStyle/>
                    <a:p>
                      <a:pPr algn="ctr"/>
                      <a:r>
                        <a:rPr lang="en-US" sz="1200" b="0" dirty="0">
                          <a:solidFill>
                            <a:schemeClr val="tx1"/>
                          </a:solidFill>
                          <a:latin typeface="Arial" panose="020B0604020202020204" pitchFamily="34" charset="0"/>
                          <a:cs typeface="Arial" panose="020B0604020202020204" pitchFamily="34" charset="0"/>
                        </a:rPr>
                        <a:t>1</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DDEFE8"/>
                    </a:solidFill>
                  </a:tcPr>
                </a:tc>
                <a:tc>
                  <a:txBody>
                    <a:bodyPr/>
                    <a:lstStyle/>
                    <a:p>
                      <a:pPr marL="52388" indent="65088" algn="l" fontAlgn="b"/>
                      <a:r>
                        <a:rPr lang="en-US" sz="1200" b="0" u="none" strike="noStrike" dirty="0">
                          <a:solidFill>
                            <a:schemeClr val="tx1"/>
                          </a:solidFill>
                          <a:effectLst/>
                          <a:latin typeface="Arial" panose="020B0604020202020204" pitchFamily="34" charset="0"/>
                          <a:cs typeface="Arial" panose="020B0604020202020204" pitchFamily="34" charset="0"/>
                        </a:rPr>
                        <a:t>COMMERCIAL RISK ASSESSMENT OF PJ_ST Project</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DDEFE8"/>
                    </a:solidFill>
                  </a:tcPr>
                </a:tc>
                <a:extLst>
                  <a:ext uri="{0D108BD9-81ED-4DB2-BD59-A6C34878D82A}">
                    <a16:rowId xmlns:a16="http://schemas.microsoft.com/office/drawing/2014/main" val="4206737192"/>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1.1</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indent="0" algn="l" defTabSz="914335" rtl="0" eaLnBrk="1" fontAlgn="b" latinLnBrk="0" hangingPunct="1"/>
                      <a:r>
                        <a:rPr lang="en-US" sz="1200" b="0" u="none" strike="noStrike" kern="1200">
                          <a:solidFill>
                            <a:schemeClr val="tx1"/>
                          </a:solidFill>
                          <a:effectLst/>
                          <a:latin typeface="Arial" panose="020B0604020202020204" pitchFamily="34" charset="0"/>
                          <a:ea typeface="+mn-ea"/>
                          <a:cs typeface="Arial" panose="020B0604020202020204" pitchFamily="34" charset="0"/>
                        </a:rPr>
                        <a:t>Project Details </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96869980"/>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1.2</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indent="0" algn="l" defTabSz="914335" rtl="0" eaLnBrk="1" fontAlgn="b" latinLnBrk="0" hangingPunct="1"/>
                      <a:r>
                        <a:rPr lang="en-US" sz="1200" b="0" u="none" strike="noStrike" kern="1200">
                          <a:solidFill>
                            <a:schemeClr val="tx1"/>
                          </a:solidFill>
                          <a:effectLst/>
                          <a:latin typeface="Arial" panose="020B0604020202020204" pitchFamily="34" charset="0"/>
                          <a:ea typeface="+mn-ea"/>
                          <a:cs typeface="Arial" panose="020B0604020202020204" pitchFamily="34" charset="0"/>
                        </a:rPr>
                        <a:t>Commercial Risk Assessment </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01799490"/>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2</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DDEFE8"/>
                    </a:solidFill>
                  </a:tcPr>
                </a:tc>
                <a:tc>
                  <a:txBody>
                    <a:bodyPr/>
                    <a:lstStyle/>
                    <a:p>
                      <a:pPr marL="117475" indent="0" algn="l" defTabSz="914335" rtl="0" eaLnBrk="1" fontAlgn="b" latinLnBrk="0" hangingPunct="1"/>
                      <a:r>
                        <a:rPr lang="en-US" sz="1200" b="0" u="none" strike="noStrike" kern="1200">
                          <a:solidFill>
                            <a:schemeClr val="tx1"/>
                          </a:solidFill>
                          <a:effectLst/>
                          <a:latin typeface="Arial" panose="020B0604020202020204" pitchFamily="34" charset="0"/>
                          <a:ea typeface="+mn-ea"/>
                          <a:cs typeface="Arial" panose="020B0604020202020204" pitchFamily="34" charset="0"/>
                        </a:rPr>
                        <a:t>CURRENT STATE ASSESSMENT OF NEPAL POWER MARKET</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DDEFE8"/>
                    </a:solidFill>
                  </a:tcPr>
                </a:tc>
                <a:extLst>
                  <a:ext uri="{0D108BD9-81ED-4DB2-BD59-A6C34878D82A}">
                    <a16:rowId xmlns:a16="http://schemas.microsoft.com/office/drawing/2014/main" val="1633558430"/>
                  </a:ext>
                </a:extLst>
              </a:tr>
              <a:tr h="304919">
                <a:tc>
                  <a:txBody>
                    <a:bodyPr/>
                    <a:lstStyle/>
                    <a:p>
                      <a:pPr algn="ctr"/>
                      <a:r>
                        <a:rPr lang="en-US" sz="1200">
                          <a:solidFill>
                            <a:schemeClr val="tx1"/>
                          </a:solidFill>
                          <a:latin typeface="Arial" panose="020B0604020202020204" pitchFamily="34" charset="0"/>
                          <a:cs typeface="Arial" panose="020B0604020202020204" pitchFamily="34" charset="0"/>
                        </a:rPr>
                        <a:t>2.1</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indent="0" algn="l" defTabSz="914335" rtl="0" eaLnBrk="1" fontAlgn="b" latinLnBrk="0" hangingPunct="1"/>
                      <a:r>
                        <a:rPr lang="en-US" sz="1200" b="0" u="none" strike="noStrike" kern="1200">
                          <a:solidFill>
                            <a:schemeClr val="tx1"/>
                          </a:solidFill>
                          <a:effectLst/>
                          <a:latin typeface="Arial" panose="020B0604020202020204" pitchFamily="34" charset="0"/>
                          <a:ea typeface="+mn-ea"/>
                          <a:cs typeface="Arial" panose="020B0604020202020204" pitchFamily="34" charset="0"/>
                        </a:rPr>
                        <a:t>As-is Assessment of Electricity Sector In Nepal </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3065043"/>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2.2</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indent="0" algn="l" defTabSz="914335" rtl="0" eaLnBrk="1" fontAlgn="b" latinLnBrk="0" hangingPunct="1"/>
                      <a:r>
                        <a:rPr lang="en-US" sz="1200" b="0" u="none" strike="noStrike" kern="1200">
                          <a:solidFill>
                            <a:schemeClr val="tx1"/>
                          </a:solidFill>
                          <a:effectLst/>
                          <a:latin typeface="Arial" panose="020B0604020202020204" pitchFamily="34" charset="0"/>
                          <a:ea typeface="+mn-ea"/>
                          <a:cs typeface="Arial" panose="020B0604020202020204" pitchFamily="34" charset="0"/>
                        </a:rPr>
                        <a:t>Cross Border Electricity Trade (CBET) Landscape in Nepal </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1760151"/>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3</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DDEFE8"/>
                    </a:solidFill>
                  </a:tcPr>
                </a:tc>
                <a:tc>
                  <a:txBody>
                    <a:bodyPr/>
                    <a:lstStyle/>
                    <a:p>
                      <a:pPr marL="117475" indent="0" algn="l" defTabSz="914335" rtl="0" eaLnBrk="1" fontAlgn="b" latinLnBrk="0" hangingPunct="1"/>
                      <a:r>
                        <a:rPr lang="en-US" sz="1200" b="0" u="none" strike="noStrike" kern="1200">
                          <a:solidFill>
                            <a:schemeClr val="tx1"/>
                          </a:solidFill>
                          <a:effectLst/>
                          <a:latin typeface="Arial" panose="020B0604020202020204" pitchFamily="34" charset="0"/>
                          <a:ea typeface="+mn-ea"/>
                          <a:cs typeface="Arial" panose="020B0604020202020204" pitchFamily="34" charset="0"/>
                        </a:rPr>
                        <a:t>SECTORAL OUTLOOK IN NEPAL</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DDEFE8"/>
                    </a:solidFill>
                  </a:tcPr>
                </a:tc>
                <a:extLst>
                  <a:ext uri="{0D108BD9-81ED-4DB2-BD59-A6C34878D82A}">
                    <a16:rowId xmlns:a16="http://schemas.microsoft.com/office/drawing/2014/main" val="2641411698"/>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3.1</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indent="0" algn="l" defTabSz="914335" rtl="0" eaLnBrk="1" fontAlgn="b" latinLnBrk="0" hangingPunct="1"/>
                      <a:r>
                        <a:rPr lang="en-US" sz="1200" b="0" u="none" strike="noStrike" kern="1200">
                          <a:solidFill>
                            <a:schemeClr val="tx1"/>
                          </a:solidFill>
                          <a:effectLst/>
                          <a:latin typeface="Arial" panose="020B0604020202020204" pitchFamily="34" charset="0"/>
                          <a:ea typeface="+mn-ea"/>
                          <a:cs typeface="Arial" panose="020B0604020202020204" pitchFamily="34" charset="0"/>
                        </a:rPr>
                        <a:t>Demand Supply Outlook</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211108"/>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3.2</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marR="0" lvl="0" indent="0" algn="l" defTabSz="914335" rtl="0" eaLnBrk="1" fontAlgn="b" latinLnBrk="0" hangingPunct="1">
                        <a:lnSpc>
                          <a:spcPct val="100000"/>
                        </a:lnSpc>
                        <a:spcBef>
                          <a:spcPts val="0"/>
                        </a:spcBef>
                        <a:spcAft>
                          <a:spcPts val="0"/>
                        </a:spcAft>
                        <a:buClrTx/>
                        <a:buSzTx/>
                        <a:buFontTx/>
                        <a:buNone/>
                        <a:tabLst/>
                        <a:defRPr/>
                      </a:pPr>
                      <a:r>
                        <a:rPr lang="en-US" sz="1200" b="0" u="none" strike="noStrike" kern="1200">
                          <a:solidFill>
                            <a:schemeClr val="tx1"/>
                          </a:solidFill>
                          <a:effectLst/>
                          <a:latin typeface="Arial" panose="020B0604020202020204" pitchFamily="34" charset="0"/>
                          <a:ea typeface="+mn-ea"/>
                          <a:cs typeface="Arial" panose="020B0604020202020204" pitchFamily="34" charset="0"/>
                        </a:rPr>
                        <a:t>Policy &amp; Regulatory Outlook</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05539769"/>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4</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DDEFE8"/>
                    </a:solidFill>
                  </a:tcPr>
                </a:tc>
                <a:tc>
                  <a:txBody>
                    <a:bodyPr/>
                    <a:lstStyle/>
                    <a:p>
                      <a:pPr marL="117475" marR="0" lvl="0" indent="0" algn="l" defTabSz="914335" rtl="0" eaLnBrk="1" fontAlgn="b" latinLnBrk="0" hangingPunct="1">
                        <a:lnSpc>
                          <a:spcPct val="100000"/>
                        </a:lnSpc>
                        <a:spcBef>
                          <a:spcPts val="0"/>
                        </a:spcBef>
                        <a:spcAft>
                          <a:spcPts val="0"/>
                        </a:spcAft>
                        <a:buClrTx/>
                        <a:buSzTx/>
                        <a:buFontTx/>
                        <a:buNone/>
                        <a:tabLst/>
                        <a:defRPr/>
                      </a:pPr>
                      <a:r>
                        <a:rPr lang="en-US" sz="1200" b="0" u="none" strike="noStrike" kern="1200">
                          <a:solidFill>
                            <a:schemeClr val="tx1"/>
                          </a:solidFill>
                          <a:effectLst/>
                          <a:latin typeface="Arial" panose="020B0604020202020204" pitchFamily="34" charset="0"/>
                          <a:ea typeface="+mn-ea"/>
                          <a:cs typeface="Arial" panose="020B0604020202020204" pitchFamily="34" charset="0"/>
                        </a:rPr>
                        <a:t>INDIA POWER MARKET ASSESSMENT</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DDEFE8"/>
                    </a:solidFill>
                  </a:tcPr>
                </a:tc>
                <a:extLst>
                  <a:ext uri="{0D108BD9-81ED-4DB2-BD59-A6C34878D82A}">
                    <a16:rowId xmlns:a16="http://schemas.microsoft.com/office/drawing/2014/main" val="1991116493"/>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4.1</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marR="0" lvl="0" indent="0" algn="l" defTabSz="914335" rtl="0" eaLnBrk="1" fontAlgn="b" latinLnBrk="0" hangingPunct="1">
                        <a:lnSpc>
                          <a:spcPct val="100000"/>
                        </a:lnSpc>
                        <a:spcBef>
                          <a:spcPts val="0"/>
                        </a:spcBef>
                        <a:spcAft>
                          <a:spcPts val="0"/>
                        </a:spcAft>
                        <a:buClrTx/>
                        <a:buSzTx/>
                        <a:buFontTx/>
                        <a:buNone/>
                        <a:tabLst/>
                        <a:defRPr/>
                      </a:pPr>
                      <a:r>
                        <a:rPr lang="en-US" sz="1200" b="0" u="none" strike="noStrike" kern="1200">
                          <a:solidFill>
                            <a:schemeClr val="tx1"/>
                          </a:solidFill>
                          <a:effectLst/>
                          <a:latin typeface="Arial" panose="020B0604020202020204" pitchFamily="34" charset="0"/>
                          <a:ea typeface="+mn-ea"/>
                          <a:cs typeface="Arial" panose="020B0604020202020204" pitchFamily="34" charset="0"/>
                        </a:rPr>
                        <a:t>Electricity Trading Market and the Underlying Regulatory And Policy Landscape</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4478895"/>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4.2</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marR="0" lvl="0" indent="0" algn="l" defTabSz="914335" rtl="0" eaLnBrk="1" fontAlgn="b" latinLnBrk="0" hangingPunct="1">
                        <a:lnSpc>
                          <a:spcPct val="100000"/>
                        </a:lnSpc>
                        <a:spcBef>
                          <a:spcPts val="0"/>
                        </a:spcBef>
                        <a:spcAft>
                          <a:spcPts val="0"/>
                        </a:spcAft>
                        <a:buClrTx/>
                        <a:buSzTx/>
                        <a:buFontTx/>
                        <a:buNone/>
                        <a:tabLst/>
                        <a:defRPr/>
                      </a:pPr>
                      <a:r>
                        <a:rPr lang="en-US" sz="1200" b="0" u="none" strike="noStrike" kern="1200">
                          <a:solidFill>
                            <a:schemeClr val="tx1"/>
                          </a:solidFill>
                          <a:effectLst/>
                          <a:latin typeface="Arial" panose="020B0604020202020204" pitchFamily="34" charset="0"/>
                          <a:ea typeface="+mn-ea"/>
                          <a:cs typeface="Arial" panose="020B0604020202020204" pitchFamily="34" charset="0"/>
                        </a:rPr>
                        <a:t>Framework For Discovery of The Market Clearing Price in The Power Exchanges </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4958913"/>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4.3</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marR="0" lvl="0" indent="0" algn="l" defTabSz="914335" rtl="0" eaLnBrk="1" fontAlgn="b" latinLnBrk="0" hangingPunct="1">
                        <a:lnSpc>
                          <a:spcPct val="100000"/>
                        </a:lnSpc>
                        <a:spcBef>
                          <a:spcPts val="0"/>
                        </a:spcBef>
                        <a:spcAft>
                          <a:spcPts val="0"/>
                        </a:spcAft>
                        <a:buClrTx/>
                        <a:buSzTx/>
                        <a:buFontTx/>
                        <a:buNone/>
                        <a:tabLst/>
                        <a:defRPr/>
                      </a:pPr>
                      <a:r>
                        <a:rPr lang="en-US" sz="1200" b="0" u="none" strike="noStrike" kern="1200">
                          <a:solidFill>
                            <a:schemeClr val="tx1"/>
                          </a:solidFill>
                          <a:effectLst/>
                          <a:latin typeface="Arial" panose="020B0604020202020204" pitchFamily="34" charset="0"/>
                          <a:ea typeface="+mn-ea"/>
                          <a:cs typeface="Arial" panose="020B0604020202020204" pitchFamily="34" charset="0"/>
                        </a:rPr>
                        <a:t>Profile of Key Buyers/Off-takers in The Power Exchanges</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1042384"/>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4.4</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marR="0" lvl="0" indent="0" algn="l" defTabSz="914335" rtl="0" eaLnBrk="1" fontAlgn="b" latinLnBrk="0" hangingPunct="1">
                        <a:lnSpc>
                          <a:spcPct val="100000"/>
                        </a:lnSpc>
                        <a:spcBef>
                          <a:spcPts val="0"/>
                        </a:spcBef>
                        <a:spcAft>
                          <a:spcPts val="0"/>
                        </a:spcAft>
                        <a:buClrTx/>
                        <a:buSzTx/>
                        <a:buFontTx/>
                        <a:buNone/>
                        <a:tabLst/>
                        <a:defRPr/>
                      </a:pPr>
                      <a:r>
                        <a:rPr lang="en-US" sz="1200" b="0" u="none" strike="noStrike" kern="1200">
                          <a:solidFill>
                            <a:schemeClr val="tx1"/>
                          </a:solidFill>
                          <a:effectLst/>
                          <a:latin typeface="Arial" panose="020B0604020202020204" pitchFamily="34" charset="0"/>
                          <a:ea typeface="+mn-ea"/>
                          <a:cs typeface="Arial" panose="020B0604020202020204" pitchFamily="34" charset="0"/>
                        </a:rPr>
                        <a:t>Trends of Volumes and Average Market Clearing Prices In Power Exchange For The Past 3-5 Years</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02633647"/>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4.5</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marR="0" lvl="0" indent="0" algn="l" defTabSz="914335" rtl="0" eaLnBrk="1" fontAlgn="b" latinLnBrk="0" hangingPunct="1">
                        <a:lnSpc>
                          <a:spcPct val="100000"/>
                        </a:lnSpc>
                        <a:spcBef>
                          <a:spcPts val="0"/>
                        </a:spcBef>
                        <a:spcAft>
                          <a:spcPts val="0"/>
                        </a:spcAft>
                        <a:buClrTx/>
                        <a:buSzTx/>
                        <a:buFontTx/>
                        <a:buNone/>
                        <a:tabLst/>
                        <a:defRPr/>
                      </a:pPr>
                      <a:r>
                        <a:rPr lang="en-US" sz="1200" b="0" u="none" strike="noStrike" kern="1200">
                          <a:solidFill>
                            <a:schemeClr val="tx1"/>
                          </a:solidFill>
                          <a:effectLst/>
                          <a:latin typeface="Arial" panose="020B0604020202020204" pitchFamily="34" charset="0"/>
                          <a:ea typeface="+mn-ea"/>
                          <a:cs typeface="Arial" panose="020B0604020202020204" pitchFamily="34" charset="0"/>
                        </a:rPr>
                        <a:t>Payment Security Mechanism and Key Associated Risks</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56882081"/>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4.6</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marR="0" lvl="0" indent="0" algn="l" defTabSz="914335" rtl="0" eaLnBrk="1" fontAlgn="b" latinLnBrk="0" hangingPunct="1">
                        <a:lnSpc>
                          <a:spcPct val="100000"/>
                        </a:lnSpc>
                        <a:spcBef>
                          <a:spcPts val="0"/>
                        </a:spcBef>
                        <a:spcAft>
                          <a:spcPts val="0"/>
                        </a:spcAft>
                        <a:buClrTx/>
                        <a:buSzTx/>
                        <a:buFontTx/>
                        <a:buNone/>
                        <a:tabLst/>
                        <a:defRPr/>
                      </a:pPr>
                      <a:r>
                        <a:rPr lang="en-US" sz="1200" b="0" u="none" strike="noStrike" kern="1200">
                          <a:solidFill>
                            <a:schemeClr val="tx1"/>
                          </a:solidFill>
                          <a:effectLst/>
                          <a:latin typeface="Arial" panose="020B0604020202020204" pitchFamily="34" charset="0"/>
                          <a:ea typeface="+mn-ea"/>
                          <a:cs typeface="Arial" panose="020B0604020202020204" pitchFamily="34" charset="0"/>
                        </a:rPr>
                        <a:t>Outlook For Short-term Market in India</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95556924"/>
                  </a:ext>
                </a:extLst>
              </a:tr>
              <a:tr h="299509">
                <a:tc>
                  <a:txBody>
                    <a:bodyPr/>
                    <a:lstStyle/>
                    <a:p>
                      <a:pPr algn="ctr"/>
                      <a:r>
                        <a:rPr lang="en-US" sz="1200">
                          <a:solidFill>
                            <a:schemeClr val="tx1"/>
                          </a:solidFill>
                          <a:latin typeface="Arial" panose="020B0604020202020204" pitchFamily="34" charset="0"/>
                          <a:cs typeface="Arial" panose="020B0604020202020204" pitchFamily="34" charset="0"/>
                        </a:rPr>
                        <a:t>4.7</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marR="0" lvl="0" indent="0" algn="l" defTabSz="914335" rtl="0" eaLnBrk="1" fontAlgn="b" latinLnBrk="0" hangingPunct="1">
                        <a:lnSpc>
                          <a:spcPct val="100000"/>
                        </a:lnSpc>
                        <a:spcBef>
                          <a:spcPts val="0"/>
                        </a:spcBef>
                        <a:spcAft>
                          <a:spcPts val="0"/>
                        </a:spcAft>
                        <a:buClrTx/>
                        <a:buSzTx/>
                        <a:buFontTx/>
                        <a:buNone/>
                        <a:tabLst/>
                        <a:defRPr/>
                      </a:pPr>
                      <a:r>
                        <a:rPr lang="en-US" sz="1200" b="0" u="none" strike="noStrike" kern="1200">
                          <a:solidFill>
                            <a:schemeClr val="tx1"/>
                          </a:solidFill>
                          <a:effectLst/>
                          <a:latin typeface="Arial" panose="020B0604020202020204" pitchFamily="34" charset="0"/>
                          <a:ea typeface="+mn-ea"/>
                          <a:cs typeface="Arial" panose="020B0604020202020204" pitchFamily="34" charset="0"/>
                        </a:rPr>
                        <a:t>View on The Future Market Clearing Prices In Light Of Increase In Renewables</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70847072"/>
                  </a:ext>
                </a:extLst>
              </a:tr>
              <a:tr h="299509">
                <a:tc>
                  <a:txBody>
                    <a:bodyPr/>
                    <a:lstStyle/>
                    <a:p>
                      <a:pPr algn="ctr"/>
                      <a:endParaRPr lang="en-US" sz="1200">
                        <a:solidFill>
                          <a:schemeClr val="tx1"/>
                        </a:solidFill>
                        <a:latin typeface="Arial" panose="020B0604020202020204" pitchFamily="34"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DDEFE8"/>
                    </a:solidFill>
                  </a:tcPr>
                </a:tc>
                <a:tc>
                  <a:txBody>
                    <a:bodyPr/>
                    <a:lstStyle/>
                    <a:p>
                      <a:pPr marL="117475" marR="0" lvl="0" indent="0" algn="l" defTabSz="914335" rtl="0" eaLnBrk="1" fontAlgn="b" latinLnBrk="0" hangingPunct="1">
                        <a:lnSpc>
                          <a:spcPct val="100000"/>
                        </a:lnSpc>
                        <a:spcBef>
                          <a:spcPts val="0"/>
                        </a:spcBef>
                        <a:spcAft>
                          <a:spcPts val="0"/>
                        </a:spcAft>
                        <a:buClrTx/>
                        <a:buSzTx/>
                        <a:buFontTx/>
                        <a:buNone/>
                        <a:tabLst/>
                        <a:defRPr/>
                      </a:pPr>
                      <a:r>
                        <a:rPr lang="en-US" sz="1200" b="0" u="none" strike="noStrike" kern="1200">
                          <a:solidFill>
                            <a:schemeClr val="tx1"/>
                          </a:solidFill>
                          <a:effectLst/>
                          <a:latin typeface="Arial" panose="020B0604020202020204" pitchFamily="34" charset="0"/>
                          <a:ea typeface="+mn-ea"/>
                          <a:cs typeface="Arial" panose="020B0604020202020204" pitchFamily="34" charset="0"/>
                        </a:rPr>
                        <a:t>ANNEXURE</a:t>
                      </a:r>
                    </a:p>
                  </a:txBody>
                  <a:tcPr marL="5608" marR="5608" marT="5608"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DDEFE8"/>
                    </a:solidFill>
                  </a:tcPr>
                </a:tc>
                <a:extLst>
                  <a:ext uri="{0D108BD9-81ED-4DB2-BD59-A6C34878D82A}">
                    <a16:rowId xmlns:a16="http://schemas.microsoft.com/office/drawing/2014/main" val="1243348307"/>
                  </a:ext>
                </a:extLst>
              </a:tr>
            </a:tbl>
          </a:graphicData>
        </a:graphic>
      </p:graphicFrame>
    </p:spTree>
    <p:extLst>
      <p:ext uri="{BB962C8B-B14F-4D97-AF65-F5344CB8AC3E}">
        <p14:creationId xmlns:p14="http://schemas.microsoft.com/office/powerpoint/2010/main" val="1409076673"/>
      </p:ext>
    </p:extLst>
  </p:cSld>
  <p:clrMapOvr>
    <a:masterClrMapping/>
  </p:clrMapOvr>
  <p:transition>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793378533"/>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a:xfrm>
            <a:off x="501651" y="410634"/>
            <a:ext cx="11188700" cy="334099"/>
          </a:xfrm>
        </p:spPr>
        <p:txBody>
          <a:bodyPr vert="horz"/>
          <a:lstStyle/>
          <a:p>
            <a:r>
              <a:rPr lang="en-US" sz="1800" b="1">
                <a:latin typeface="Arial" panose="020B0604020202020204" pitchFamily="34" charset="0"/>
                <a:cs typeface="Arial" panose="020B0604020202020204" pitchFamily="34" charset="0"/>
              </a:rPr>
              <a:t>Abbreviations</a:t>
            </a:r>
            <a:endParaRPr lang="en-GB" sz="1800" b="1">
              <a:latin typeface="Arial" panose="020B0604020202020204" pitchFamily="34" charset="0"/>
              <a:cs typeface="Arial" panose="020B0604020202020204" pitchFamily="34" charset="0"/>
            </a:endParaRPr>
          </a:p>
        </p:txBody>
      </p:sp>
      <p:cxnSp>
        <p:nvCxnSpPr>
          <p:cNvPr id="2" name="Straight Connector 1">
            <a:extLst>
              <a:ext uri="{FF2B5EF4-FFF2-40B4-BE49-F238E27FC236}">
                <a16:creationId xmlns:a16="http://schemas.microsoft.com/office/drawing/2014/main" id="{5D045362-58E2-6EA1-EB75-9270F4B05F3D}"/>
              </a:ext>
            </a:extLst>
          </p:cNvPr>
          <p:cNvCxnSpPr/>
          <p:nvPr/>
        </p:nvCxnSpPr>
        <p:spPr>
          <a:xfrm flipV="1">
            <a:off x="481557" y="744733"/>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8" name="Table 7">
            <a:extLst>
              <a:ext uri="{FF2B5EF4-FFF2-40B4-BE49-F238E27FC236}">
                <a16:creationId xmlns:a16="http://schemas.microsoft.com/office/drawing/2014/main" id="{AC052450-BC1F-BC01-1579-E74ADF197A13}"/>
              </a:ext>
            </a:extLst>
          </p:cNvPr>
          <p:cNvGraphicFramePr>
            <a:graphicFrameLocks noGrp="1"/>
          </p:cNvGraphicFramePr>
          <p:nvPr>
            <p:extLst>
              <p:ext uri="{D42A27DB-BD31-4B8C-83A1-F6EECF244321}">
                <p14:modId xmlns:p14="http://schemas.microsoft.com/office/powerpoint/2010/main" val="2751469243"/>
              </p:ext>
            </p:extLst>
          </p:nvPr>
        </p:nvGraphicFramePr>
        <p:xfrm>
          <a:off x="481557" y="844227"/>
          <a:ext cx="5370339" cy="5947399"/>
        </p:xfrm>
        <a:graphic>
          <a:graphicData uri="http://schemas.openxmlformats.org/drawingml/2006/table">
            <a:tbl>
              <a:tblPr firstRow="1" firstCol="1" bandRow="1"/>
              <a:tblGrid>
                <a:gridCol w="1755123">
                  <a:extLst>
                    <a:ext uri="{9D8B030D-6E8A-4147-A177-3AD203B41FA5}">
                      <a16:colId xmlns:a16="http://schemas.microsoft.com/office/drawing/2014/main" val="3937478150"/>
                    </a:ext>
                  </a:extLst>
                </a:gridCol>
                <a:gridCol w="3615216">
                  <a:extLst>
                    <a:ext uri="{9D8B030D-6E8A-4147-A177-3AD203B41FA5}">
                      <a16:colId xmlns:a16="http://schemas.microsoft.com/office/drawing/2014/main" val="3417030852"/>
                    </a:ext>
                  </a:extLst>
                </a:gridCol>
              </a:tblGrid>
              <a:tr h="225049">
                <a:tc>
                  <a:txBody>
                    <a:bodyPr/>
                    <a:lstStyle/>
                    <a:p>
                      <a:pPr marL="0" marR="0" algn="ctr">
                        <a:lnSpc>
                          <a:spcPts val="1200"/>
                        </a:lnSpc>
                        <a:spcBef>
                          <a:spcPts val="0"/>
                        </a:spcBef>
                        <a:spcAft>
                          <a:spcPts val="0"/>
                        </a:spcAft>
                      </a:pPr>
                      <a:r>
                        <a:rPr lang="en-ZA" sz="1000" b="1">
                          <a:solidFill>
                            <a:srgbClr val="000000"/>
                          </a:solidFill>
                          <a:effectLst/>
                          <a:latin typeface="Calibri" panose="020F0502020204030204" pitchFamily="34" charset="0"/>
                          <a:ea typeface="Times New Roman" panose="02020603050405020304" pitchFamily="18" charset="0"/>
                          <a:cs typeface="Calibri" panose="020F0502020204030204" pitchFamily="34" charset="0"/>
                        </a:rPr>
                        <a:t>ACRONYM</a:t>
                      </a:r>
                      <a:endParaRPr lang="en-US" sz="1000">
                        <a:effectLst/>
                        <a:latin typeface="Calibri" panose="020F0502020204030204" pitchFamily="34" charset="0"/>
                        <a:ea typeface="Verdana" panose="020B0604030504040204" pitchFamily="34" charset="0"/>
                        <a:cs typeface="Times New Roman" panose="02020603050405020304" pitchFamily="18" charset="0"/>
                      </a:endParaRP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86BC25"/>
                    </a:solidFill>
                  </a:tcPr>
                </a:tc>
                <a:tc>
                  <a:txBody>
                    <a:bodyPr/>
                    <a:lstStyle/>
                    <a:p>
                      <a:pPr marL="0" marR="0" algn="ctr">
                        <a:lnSpc>
                          <a:spcPts val="1200"/>
                        </a:lnSpc>
                        <a:spcBef>
                          <a:spcPts val="0"/>
                        </a:spcBef>
                        <a:spcAft>
                          <a:spcPts val="0"/>
                        </a:spcAft>
                      </a:pPr>
                      <a:r>
                        <a:rPr lang="en-ZA" sz="1000" b="1">
                          <a:solidFill>
                            <a:srgbClr val="000000"/>
                          </a:solidFill>
                          <a:effectLst/>
                          <a:latin typeface="Calibri" panose="020F0502020204030204" pitchFamily="34" charset="0"/>
                          <a:ea typeface="Times New Roman" panose="02020603050405020304" pitchFamily="18" charset="0"/>
                          <a:cs typeface="Calibri" panose="020F0502020204030204" pitchFamily="34" charset="0"/>
                        </a:rPr>
                        <a:t>DESCRIPTION</a:t>
                      </a:r>
                      <a:endParaRPr lang="en-US" sz="1000">
                        <a:effectLst/>
                        <a:latin typeface="Calibri" panose="020F0502020204030204" pitchFamily="34" charset="0"/>
                        <a:ea typeface="Verdana" panose="020B0604030504040204" pitchFamily="34" charset="0"/>
                        <a:cs typeface="Times New Roman" panose="02020603050405020304" pitchFamily="18" charset="0"/>
                      </a:endParaRP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86BC25"/>
                    </a:solidFill>
                  </a:tcPr>
                </a:tc>
                <a:extLst>
                  <a:ext uri="{0D108BD9-81ED-4DB2-BD59-A6C34878D82A}">
                    <a16:rowId xmlns:a16="http://schemas.microsoft.com/office/drawing/2014/main" val="2886719938"/>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CAGR</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lvl="0" indent="0" algn="l" defTabSz="914335" rtl="0" eaLnBrk="1" fontAlgn="auto" latinLnBrk="0" hangingPunct="1">
                        <a:lnSpc>
                          <a:spcPts val="1200"/>
                        </a:lnSpc>
                        <a:spcBef>
                          <a:spcPts val="0"/>
                        </a:spcBef>
                        <a:spcAft>
                          <a:spcPts val="0"/>
                        </a:spcAft>
                        <a:buClrTx/>
                        <a:buSzTx/>
                        <a:buFontTx/>
                        <a:buNone/>
                        <a:tabLst/>
                        <a:defRPr/>
                      </a:pPr>
                      <a:r>
                        <a:rPr lang="en-US" sz="1000">
                          <a:latin typeface="Calibri" panose="020F0502020204030204" pitchFamily="34" charset="0"/>
                          <a:ea typeface="Calibri" panose="020F0502020204030204" pitchFamily="34" charset="0"/>
                          <a:cs typeface="Calibri" panose="020F0502020204030204" pitchFamily="34" charset="0"/>
                        </a:rPr>
                        <a:t>Compound Annual Growth Rate</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072060694"/>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CBET</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lvl="0" indent="0" algn="l" defTabSz="914335" rtl="0" eaLnBrk="1" fontAlgn="auto" latinLnBrk="0" hangingPunct="1">
                        <a:lnSpc>
                          <a:spcPts val="1200"/>
                        </a:lnSpc>
                        <a:spcBef>
                          <a:spcPts val="0"/>
                        </a:spcBef>
                        <a:spcAft>
                          <a:spcPts val="0"/>
                        </a:spcAft>
                        <a:buClrTx/>
                        <a:buSzTx/>
                        <a:buFontTx/>
                        <a:buNone/>
                        <a:tabLst/>
                        <a:defRPr/>
                      </a:pPr>
                      <a:r>
                        <a:rPr lang="en-US" sz="1000">
                          <a:latin typeface="Calibri" panose="020F0502020204030204" pitchFamily="34" charset="0"/>
                          <a:ea typeface="Calibri" panose="020F0502020204030204" pitchFamily="34" charset="0"/>
                          <a:cs typeface="Calibri" panose="020F0502020204030204" pitchFamily="34" charset="0"/>
                        </a:rPr>
                        <a:t>Cross Border Electricity Trade</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023698842"/>
                  </a:ext>
                </a:extLst>
              </a:tr>
              <a:tr h="228894">
                <a:tc>
                  <a:txBody>
                    <a:bodyPr/>
                    <a:lstStyle/>
                    <a:p>
                      <a:pPr marL="0" marR="0" algn="ctr">
                        <a:lnSpc>
                          <a:spcPts val="1200"/>
                        </a:lnSpc>
                        <a:spcBef>
                          <a:spcPts val="0"/>
                        </a:spcBef>
                        <a:spcAft>
                          <a:spcPts val="0"/>
                        </a:spcAft>
                      </a:pPr>
                      <a:r>
                        <a:rPr lang="en-US" sz="1000" b="0">
                          <a:latin typeface="Calibri" panose="020F0502020204030204" pitchFamily="34" charset="0"/>
                          <a:ea typeface="Calibri" panose="020F0502020204030204" pitchFamily="34" charset="0"/>
                          <a:cs typeface="Calibri" panose="020F0502020204030204" pitchFamily="34" charset="0"/>
                        </a:rPr>
                        <a:t>CEA </a:t>
                      </a:r>
                      <a:endParaRPr lang="en-US" sz="1000" b="0">
                        <a:effectLst/>
                        <a:latin typeface="Calibri" panose="020F0502020204030204" pitchFamily="34" charset="0"/>
                        <a:ea typeface="Verdana" panose="020B0604030504040204" pitchFamily="34" charset="0"/>
                        <a:cs typeface="Times New Roman" panose="02020603050405020304" pitchFamily="18" charset="0"/>
                      </a:endParaRP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lvl="0" indent="0" algn="l" defTabSz="914335" rtl="0" eaLnBrk="1" fontAlgn="auto" latinLnBrk="0" hangingPunct="1">
                        <a:lnSpc>
                          <a:spcPts val="1200"/>
                        </a:lnSpc>
                        <a:spcBef>
                          <a:spcPts val="0"/>
                        </a:spcBef>
                        <a:spcAft>
                          <a:spcPts val="0"/>
                        </a:spcAft>
                        <a:buClrTx/>
                        <a:buSzTx/>
                        <a:buFontTx/>
                        <a:buNone/>
                        <a:tabLst/>
                        <a:defRPr/>
                      </a:pPr>
                      <a:r>
                        <a:rPr lang="en-US" sz="1000">
                          <a:latin typeface="Calibri" panose="020F0502020204030204" pitchFamily="34" charset="0"/>
                          <a:ea typeface="Calibri" panose="020F0502020204030204" pitchFamily="34" charset="0"/>
                          <a:cs typeface="Calibri" panose="020F0502020204030204" pitchFamily="34" charset="0"/>
                        </a:rPr>
                        <a:t>Central Electricity Authority (India)</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58952182"/>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CERC</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latin typeface="Calibri" panose="020F0502020204030204" pitchFamily="34" charset="0"/>
                          <a:ea typeface="Calibri" panose="020F0502020204030204" pitchFamily="34" charset="0"/>
                          <a:cs typeface="Calibri" panose="020F0502020204030204" pitchFamily="34" charset="0"/>
                        </a:rPr>
                        <a:t>Central Electricity Regulatory Commission </a:t>
                      </a:r>
                      <a:endParaRPr lang="en-US" sz="1000">
                        <a:effectLst/>
                        <a:latin typeface="Calibri" panose="020F0502020204030204" pitchFamily="34" charset="0"/>
                        <a:ea typeface="Verdana" panose="020B0604030504040204" pitchFamily="34" charset="0"/>
                        <a:cs typeface="Times New Roman" panose="02020603050405020304" pitchFamily="18" charset="0"/>
                      </a:endParaRP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400513492"/>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COD</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Commercial Operation Date</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350184265"/>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DAM</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Day Ahead Market</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628796134"/>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G-G</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Government to Government</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890600152"/>
                  </a:ext>
                </a:extLst>
              </a:tr>
              <a:tr h="228894">
                <a:tc>
                  <a:txBody>
                    <a:bodyPr/>
                    <a:lstStyle/>
                    <a:p>
                      <a:pPr marL="0" marR="0" algn="ctr">
                        <a:lnSpc>
                          <a:spcPts val="1200"/>
                        </a:lnSpc>
                        <a:spcBef>
                          <a:spcPts val="0"/>
                        </a:spcBef>
                        <a:spcAft>
                          <a:spcPts val="0"/>
                        </a:spcAft>
                      </a:pPr>
                      <a:r>
                        <a:rPr lang="en-US" sz="1000" b="0" err="1">
                          <a:effectLst/>
                          <a:latin typeface="Calibri" panose="020F0502020204030204" pitchFamily="34" charset="0"/>
                          <a:ea typeface="Verdana" panose="020B0604030504040204" pitchFamily="34" charset="0"/>
                          <a:cs typeface="Times New Roman" panose="02020603050405020304" pitchFamily="18" charset="0"/>
                        </a:rPr>
                        <a:t>GoI</a:t>
                      </a:r>
                      <a:endParaRPr lang="en-US" sz="1000" b="0">
                        <a:effectLst/>
                        <a:latin typeface="Calibri" panose="020F0502020204030204" pitchFamily="34" charset="0"/>
                        <a:ea typeface="Verdana" panose="020B0604030504040204" pitchFamily="34" charset="0"/>
                        <a:cs typeface="Times New Roman" panose="02020603050405020304" pitchFamily="18" charset="0"/>
                      </a:endParaRP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Government of India</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537213823"/>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GoN</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Government of Nepal</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947495115"/>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IEX</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Indian Energy Exchange</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766835625"/>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IPP</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0" marR="0" algn="l">
                        <a:lnSpc>
                          <a:spcPts val="1200"/>
                        </a:lnSpc>
                        <a:spcBef>
                          <a:spcPts val="0"/>
                        </a:spcBef>
                        <a:spcAft>
                          <a:spcPts val="0"/>
                        </a:spcAft>
                        <a:tabLst>
                          <a:tab pos="1020445" algn="l"/>
                        </a:tabLst>
                      </a:pPr>
                      <a:r>
                        <a:rPr lang="en-US" sz="1000">
                          <a:effectLst/>
                          <a:latin typeface="Calibri" panose="020F0502020204030204" pitchFamily="34" charset="0"/>
                          <a:ea typeface="Verdana" panose="020B0604030504040204" pitchFamily="34" charset="0"/>
                          <a:cs typeface="Times New Roman" panose="02020603050405020304" pitchFamily="18" charset="0"/>
                        </a:rPr>
                        <a:t>     Independent Power Producers</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091296430"/>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DoED</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0" marR="0" algn="l">
                        <a:lnSpc>
                          <a:spcPts val="1200"/>
                        </a:lnSpc>
                        <a:spcBef>
                          <a:spcPts val="0"/>
                        </a:spcBef>
                        <a:spcAft>
                          <a:spcPts val="0"/>
                        </a:spcAft>
                        <a:tabLst>
                          <a:tab pos="1020445" algn="l"/>
                        </a:tabLst>
                      </a:pPr>
                      <a:r>
                        <a:rPr lang="en-US" sz="1000">
                          <a:effectLst/>
                          <a:latin typeface="Calibri" panose="020F0502020204030204" pitchFamily="34" charset="0"/>
                          <a:ea typeface="Verdana" panose="020B0604030504040204" pitchFamily="34" charset="0"/>
                          <a:cs typeface="Times New Roman" panose="02020603050405020304" pitchFamily="18" charset="0"/>
                        </a:rPr>
                        <a:t>     Department of  Electricity Development</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531910022"/>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ERC</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latin typeface="Calibri" panose="020F0502020204030204" pitchFamily="34" charset="0"/>
                          <a:ea typeface="Calibri" panose="020F0502020204030204" pitchFamily="34" charset="0"/>
                          <a:cs typeface="Calibri" panose="020F0502020204030204" pitchFamily="34" charset="0"/>
                        </a:rPr>
                        <a:t>Electricity Regulatory Commission, Nepal</a:t>
                      </a:r>
                      <a:endParaRPr lang="en-US" sz="1000">
                        <a:effectLst/>
                        <a:latin typeface="Calibri" panose="020F0502020204030204" pitchFamily="34" charset="0"/>
                        <a:ea typeface="Verdana" panose="020B0604030504040204" pitchFamily="34" charset="0"/>
                        <a:cs typeface="Times New Roman" panose="02020603050405020304" pitchFamily="18" charset="0"/>
                      </a:endParaRP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360801611"/>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KV</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Kilo Volt</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886207718"/>
                  </a:ext>
                </a:extLst>
              </a:tr>
              <a:tr h="228894">
                <a:tc>
                  <a:txBody>
                    <a:bodyPr/>
                    <a:lstStyle/>
                    <a:p>
                      <a:pPr marL="0" marR="0" algn="ctr">
                        <a:lnSpc>
                          <a:spcPts val="1200"/>
                        </a:lnSpc>
                        <a:spcBef>
                          <a:spcPts val="0"/>
                        </a:spcBef>
                        <a:spcAft>
                          <a:spcPts val="0"/>
                        </a:spcAft>
                      </a:pPr>
                      <a:r>
                        <a:rPr lang="en-US" sz="1000" b="0" err="1">
                          <a:effectLst/>
                          <a:latin typeface="Calibri" panose="020F0502020204030204" pitchFamily="34" charset="0"/>
                          <a:ea typeface="Verdana" panose="020B0604030504040204" pitchFamily="34" charset="0"/>
                          <a:cs typeface="Times New Roman" panose="02020603050405020304" pitchFamily="18" charset="0"/>
                        </a:rPr>
                        <a:t>KWh</a:t>
                      </a:r>
                      <a:endParaRPr lang="en-US" sz="1000" b="0">
                        <a:effectLst/>
                        <a:latin typeface="Calibri" panose="020F0502020204030204" pitchFamily="34" charset="0"/>
                        <a:ea typeface="Verdana" panose="020B0604030504040204" pitchFamily="34" charset="0"/>
                        <a:cs typeface="Times New Roman" panose="02020603050405020304" pitchFamily="18" charset="0"/>
                      </a:endParaRP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Kilo Watt Hour</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172800844"/>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MW</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Mega Watt</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336322205"/>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NDC</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Nationally Determined Contribution</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933958155"/>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NEA</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Nepal Electricity Authority</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367835266"/>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NPR</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Nepalese Rupee</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3927969898"/>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NVVN</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NTPC Vidyut Vyapar Nigam Limited</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035300908"/>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PEC</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Power Exchange Committee </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030839191"/>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PPA</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Power Purchase Agreement</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2248245510"/>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RCOD</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Required Commercial Operation Date</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153503524"/>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RTM</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Real Time Market</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044717717"/>
                  </a:ext>
                </a:extLst>
              </a:tr>
              <a:tr h="228894">
                <a:tc>
                  <a:txBody>
                    <a:bodyPr/>
                    <a:lstStyle/>
                    <a:p>
                      <a:pPr marL="0" marR="0" algn="ctr">
                        <a:lnSpc>
                          <a:spcPts val="1200"/>
                        </a:lnSpc>
                        <a:spcBef>
                          <a:spcPts val="0"/>
                        </a:spcBef>
                        <a:spcAft>
                          <a:spcPts val="0"/>
                        </a:spcAft>
                      </a:pPr>
                      <a:r>
                        <a:rPr lang="en-US" sz="1000" b="0">
                          <a:effectLst/>
                          <a:latin typeface="Calibri" panose="020F0502020204030204" pitchFamily="34" charset="0"/>
                          <a:ea typeface="Verdana" panose="020B0604030504040204" pitchFamily="34" charset="0"/>
                          <a:cs typeface="Times New Roman" panose="02020603050405020304" pitchFamily="18" charset="0"/>
                        </a:rPr>
                        <a:t>RPGCL</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solidFill>
                      <a:srgbClr val="FFFFFF"/>
                    </a:solidFill>
                  </a:tcPr>
                </a:tc>
                <a:tc>
                  <a:txBody>
                    <a:bodyPr/>
                    <a:lstStyle/>
                    <a:p>
                      <a:pPr marL="144145" marR="0" algn="l">
                        <a:lnSpc>
                          <a:spcPts val="1200"/>
                        </a:lnSpc>
                        <a:spcBef>
                          <a:spcPts val="0"/>
                        </a:spcBef>
                        <a:spcAft>
                          <a:spcPts val="0"/>
                        </a:spcAft>
                      </a:pPr>
                      <a:r>
                        <a:rPr lang="en-US" sz="1000">
                          <a:effectLst/>
                          <a:latin typeface="Calibri" panose="020F0502020204030204" pitchFamily="34" charset="0"/>
                          <a:ea typeface="Verdana" panose="020B0604030504040204" pitchFamily="34" charset="0"/>
                          <a:cs typeface="Times New Roman" panose="02020603050405020304" pitchFamily="18" charset="0"/>
                        </a:rPr>
                        <a:t>Rastriya Prasaran Grid Company Limited</a:t>
                      </a:r>
                    </a:p>
                  </a:txBody>
                  <a:tcPr marL="68580" marR="68580" marT="0" marB="0" anchor="ctr">
                    <a:lnL w="12700" cap="flat" cmpd="sng" algn="ctr">
                      <a:solidFill>
                        <a:srgbClr val="86BC25"/>
                      </a:solidFill>
                      <a:prstDash val="solid"/>
                      <a:round/>
                      <a:headEnd type="none" w="med" len="med"/>
                      <a:tailEnd type="none" w="med" len="med"/>
                    </a:lnL>
                    <a:lnR w="12700" cap="flat" cmpd="sng" algn="ctr">
                      <a:solidFill>
                        <a:srgbClr val="86BC25"/>
                      </a:solidFill>
                      <a:prstDash val="solid"/>
                      <a:round/>
                      <a:headEnd type="none" w="med" len="med"/>
                      <a:tailEnd type="none" w="med" len="med"/>
                    </a:lnR>
                    <a:lnT w="12700" cap="flat" cmpd="sng" algn="ctr">
                      <a:solidFill>
                        <a:srgbClr val="86BC25"/>
                      </a:solidFill>
                      <a:prstDash val="solid"/>
                      <a:round/>
                      <a:headEnd type="none" w="med" len="med"/>
                      <a:tailEnd type="none" w="med" len="med"/>
                    </a:lnT>
                    <a:lnB w="12700" cap="flat" cmpd="sng" algn="ctr">
                      <a:solidFill>
                        <a:srgbClr val="86BC25"/>
                      </a:solidFill>
                      <a:prstDash val="solid"/>
                      <a:round/>
                      <a:headEnd type="none" w="med" len="med"/>
                      <a:tailEnd type="none" w="med" len="med"/>
                    </a:lnB>
                    <a:noFill/>
                  </a:tcPr>
                </a:tc>
                <a:extLst>
                  <a:ext uri="{0D108BD9-81ED-4DB2-BD59-A6C34878D82A}">
                    <a16:rowId xmlns:a16="http://schemas.microsoft.com/office/drawing/2014/main" val="1420777321"/>
                  </a:ext>
                </a:extLst>
              </a:tr>
            </a:tbl>
          </a:graphicData>
        </a:graphic>
      </p:graphicFrame>
    </p:spTree>
    <p:extLst>
      <p:ext uri="{BB962C8B-B14F-4D97-AF65-F5344CB8AC3E}">
        <p14:creationId xmlns:p14="http://schemas.microsoft.com/office/powerpoint/2010/main" val="64068904"/>
      </p:ext>
    </p:extLst>
  </p:cSld>
  <p:clrMapOvr>
    <a:masterClrMapping/>
  </p:clrMapOvr>
  <p:transition>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7386374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a:xfrm>
            <a:off x="501651" y="410634"/>
            <a:ext cx="11188700" cy="334099"/>
          </a:xfrm>
        </p:spPr>
        <p:txBody>
          <a:bodyPr vert="horz"/>
          <a:lstStyle/>
          <a:p>
            <a:r>
              <a:rPr lang="en-US" sz="1800" b="1">
                <a:latin typeface="Arial" panose="020B0604020202020204" pitchFamily="34" charset="0"/>
                <a:cs typeface="Arial" panose="020B0604020202020204" pitchFamily="34" charset="0"/>
              </a:rPr>
              <a:t>Assumptions &amp; Declarations </a:t>
            </a:r>
            <a:endParaRPr lang="en-GB" sz="1800" b="1">
              <a:latin typeface="Arial" panose="020B0604020202020204" pitchFamily="34" charset="0"/>
              <a:cs typeface="Arial" panose="020B0604020202020204" pitchFamily="34" charset="0"/>
            </a:endParaRPr>
          </a:p>
        </p:txBody>
      </p:sp>
      <p:cxnSp>
        <p:nvCxnSpPr>
          <p:cNvPr id="2" name="Straight Connector 1">
            <a:extLst>
              <a:ext uri="{FF2B5EF4-FFF2-40B4-BE49-F238E27FC236}">
                <a16:creationId xmlns:a16="http://schemas.microsoft.com/office/drawing/2014/main" id="{18A42589-8DF7-59FF-0CB0-F67251FE6B65}"/>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4" name="Table 3">
            <a:extLst>
              <a:ext uri="{FF2B5EF4-FFF2-40B4-BE49-F238E27FC236}">
                <a16:creationId xmlns:a16="http://schemas.microsoft.com/office/drawing/2014/main" id="{38289FF8-D8D9-2299-E733-5C6C2D6A2236}"/>
              </a:ext>
            </a:extLst>
          </p:cNvPr>
          <p:cNvGraphicFramePr>
            <a:graphicFrameLocks noGrp="1"/>
          </p:cNvGraphicFramePr>
          <p:nvPr>
            <p:extLst>
              <p:ext uri="{D42A27DB-BD31-4B8C-83A1-F6EECF244321}">
                <p14:modId xmlns:p14="http://schemas.microsoft.com/office/powerpoint/2010/main" val="218041974"/>
              </p:ext>
            </p:extLst>
          </p:nvPr>
        </p:nvGraphicFramePr>
        <p:xfrm>
          <a:off x="514884" y="1077366"/>
          <a:ext cx="11195558" cy="4747045"/>
        </p:xfrm>
        <a:graphic>
          <a:graphicData uri="http://schemas.openxmlformats.org/drawingml/2006/table">
            <a:tbl>
              <a:tblPr/>
              <a:tblGrid>
                <a:gridCol w="898229">
                  <a:extLst>
                    <a:ext uri="{9D8B030D-6E8A-4147-A177-3AD203B41FA5}">
                      <a16:colId xmlns:a16="http://schemas.microsoft.com/office/drawing/2014/main" val="3072746250"/>
                    </a:ext>
                  </a:extLst>
                </a:gridCol>
                <a:gridCol w="2228859">
                  <a:extLst>
                    <a:ext uri="{9D8B030D-6E8A-4147-A177-3AD203B41FA5}">
                      <a16:colId xmlns:a16="http://schemas.microsoft.com/office/drawing/2014/main" val="2810565841"/>
                    </a:ext>
                  </a:extLst>
                </a:gridCol>
                <a:gridCol w="2228859">
                  <a:extLst>
                    <a:ext uri="{9D8B030D-6E8A-4147-A177-3AD203B41FA5}">
                      <a16:colId xmlns:a16="http://schemas.microsoft.com/office/drawing/2014/main" val="203075851"/>
                    </a:ext>
                  </a:extLst>
                </a:gridCol>
                <a:gridCol w="2228859">
                  <a:extLst>
                    <a:ext uri="{9D8B030D-6E8A-4147-A177-3AD203B41FA5}">
                      <a16:colId xmlns:a16="http://schemas.microsoft.com/office/drawing/2014/main" val="1094102138"/>
                    </a:ext>
                  </a:extLst>
                </a:gridCol>
                <a:gridCol w="3610752">
                  <a:extLst>
                    <a:ext uri="{9D8B030D-6E8A-4147-A177-3AD203B41FA5}">
                      <a16:colId xmlns:a16="http://schemas.microsoft.com/office/drawing/2014/main" val="139314336"/>
                    </a:ext>
                  </a:extLst>
                </a:gridCol>
              </a:tblGrid>
              <a:tr h="302701">
                <a:tc>
                  <a:txBody>
                    <a:bodyPr/>
                    <a:lstStyle/>
                    <a:p>
                      <a:pPr algn="ctr"/>
                      <a:r>
                        <a:rPr lang="en-US" sz="1050" b="1">
                          <a:effectLst/>
                          <a:latin typeface="Arial" panose="020B0604020202020204" pitchFamily="34" charset="0"/>
                          <a:cs typeface="Arial" panose="020B0604020202020204" pitchFamily="34" charset="0"/>
                        </a:rPr>
                        <a:t>No.</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b="1">
                          <a:effectLst/>
                          <a:latin typeface="Arial" panose="020B0604020202020204" pitchFamily="34" charset="0"/>
                          <a:cs typeface="Arial" panose="020B0604020202020204" pitchFamily="34" charset="0"/>
                        </a:rPr>
                        <a:t>Name</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b="1">
                          <a:effectLst/>
                          <a:latin typeface="Arial" panose="020B0604020202020204" pitchFamily="34" charset="0"/>
                          <a:cs typeface="Arial" panose="020B0604020202020204" pitchFamily="34" charset="0"/>
                        </a:rPr>
                        <a:t>Nepali</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b="1">
                          <a:effectLst/>
                          <a:latin typeface="Arial" panose="020B0604020202020204" pitchFamily="34" charset="0"/>
                          <a:cs typeface="Arial" panose="020B0604020202020204" pitchFamily="34" charset="0"/>
                        </a:rPr>
                        <a:t>Days</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b="1">
                          <a:effectLst/>
                          <a:latin typeface="Arial" panose="020B0604020202020204" pitchFamily="34" charset="0"/>
                          <a:cs typeface="Arial" panose="020B0604020202020204" pitchFamily="34" charset="0"/>
                        </a:rPr>
                        <a:t>Corresponding Gregorian months</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3750121892"/>
                  </a:ext>
                </a:extLst>
              </a:tr>
              <a:tr h="370362">
                <a:tc>
                  <a:txBody>
                    <a:bodyPr/>
                    <a:lstStyle/>
                    <a:p>
                      <a:pPr algn="ctr"/>
                      <a:r>
                        <a:rPr lang="en-US" sz="1050">
                          <a:effectLst/>
                          <a:latin typeface="Arial" panose="020B0604020202020204" pitchFamily="34" charset="0"/>
                          <a:cs typeface="Arial" panose="020B0604020202020204" pitchFamily="34" charset="0"/>
                        </a:rPr>
                        <a:t>1</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u="none" strike="noStrike">
                          <a:effectLst/>
                          <a:latin typeface="Arial" panose="020B0604020202020204" pitchFamily="34" charset="0"/>
                          <a:cs typeface="Arial" panose="020B0604020202020204" pitchFamily="34" charset="0"/>
                          <a:hlinkClick r:id="rId6" tooltip="Baishakh"/>
                        </a:rPr>
                        <a:t>Baishakh</a:t>
                      </a:r>
                      <a:endParaRPr lang="en-US" sz="1050">
                        <a:effectLst/>
                        <a:latin typeface="Arial" panose="020B0604020202020204" pitchFamily="34" charset="0"/>
                        <a:cs typeface="Arial" panose="020B0604020202020204" pitchFamily="34" charset="0"/>
                      </a:endParaRP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hi-IN" sz="1050">
                          <a:effectLst/>
                          <a:latin typeface="Arial" panose="020B0604020202020204" pitchFamily="34" charset="0"/>
                        </a:rPr>
                        <a:t>बैशाख</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30 / 31(30.950 exactly)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mid-April to mid-May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2332805541"/>
                  </a:ext>
                </a:extLst>
              </a:tr>
              <a:tr h="370362">
                <a:tc>
                  <a:txBody>
                    <a:bodyPr/>
                    <a:lstStyle/>
                    <a:p>
                      <a:pPr algn="ctr"/>
                      <a:r>
                        <a:rPr lang="en-US" sz="1050">
                          <a:effectLst/>
                          <a:latin typeface="Arial" panose="020B0604020202020204" pitchFamily="34" charset="0"/>
                          <a:cs typeface="Arial" panose="020B0604020202020204" pitchFamily="34" charset="0"/>
                        </a:rPr>
                        <a:t>2</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u="none" strike="noStrike">
                          <a:effectLst/>
                          <a:latin typeface="Arial" panose="020B0604020202020204" pitchFamily="34" charset="0"/>
                          <a:cs typeface="Arial" panose="020B0604020202020204" pitchFamily="34" charset="0"/>
                          <a:hlinkClick r:id="rId7" tooltip="Jestha (Nepali calendar)"/>
                        </a:rPr>
                        <a:t>Jestha</a:t>
                      </a:r>
                      <a:endParaRPr lang="en-US" sz="1050">
                        <a:effectLst/>
                        <a:latin typeface="Arial" panose="020B0604020202020204" pitchFamily="34" charset="0"/>
                        <a:cs typeface="Arial" panose="020B0604020202020204" pitchFamily="34" charset="0"/>
                      </a:endParaRP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hi-IN" sz="1050">
                          <a:effectLst/>
                          <a:latin typeface="Arial" panose="020B0604020202020204" pitchFamily="34" charset="0"/>
                        </a:rPr>
                        <a:t>जेष्ठ </a:t>
                      </a:r>
                      <a:r>
                        <a:rPr lang="en-US" sz="1050">
                          <a:effectLst/>
                          <a:latin typeface="Arial" panose="020B0604020202020204" pitchFamily="34" charset="0"/>
                          <a:cs typeface="Arial" panose="020B0604020202020204" pitchFamily="34" charset="0"/>
                        </a:rPr>
                        <a:t>or </a:t>
                      </a:r>
                      <a:r>
                        <a:rPr lang="hi-IN" sz="1050">
                          <a:effectLst/>
                          <a:latin typeface="Arial" panose="020B0604020202020204" pitchFamily="34" charset="0"/>
                        </a:rPr>
                        <a:t>जेठ</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31 / 32(31.429 exactly)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mid-May to mid-June</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2690258241"/>
                  </a:ext>
                </a:extLst>
              </a:tr>
              <a:tr h="370362">
                <a:tc>
                  <a:txBody>
                    <a:bodyPr/>
                    <a:lstStyle/>
                    <a:p>
                      <a:pPr algn="ctr"/>
                      <a:r>
                        <a:rPr lang="en-US" sz="1050">
                          <a:effectLst/>
                          <a:latin typeface="Arial" panose="020B0604020202020204" pitchFamily="34" charset="0"/>
                          <a:cs typeface="Arial" panose="020B0604020202020204" pitchFamily="34" charset="0"/>
                        </a:rPr>
                        <a:t>3</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u="none" strike="noStrike">
                          <a:effectLst/>
                          <a:latin typeface="Arial" panose="020B0604020202020204" pitchFamily="34" charset="0"/>
                          <a:cs typeface="Arial" panose="020B0604020202020204" pitchFamily="34" charset="0"/>
                          <a:hlinkClick r:id="rId8" tooltip="Ashadh (Nepali calendar)"/>
                        </a:rPr>
                        <a:t>Ashadh</a:t>
                      </a:r>
                      <a:endParaRPr lang="en-US" sz="1050">
                        <a:effectLst/>
                        <a:latin typeface="Arial" panose="020B0604020202020204" pitchFamily="34" charset="0"/>
                        <a:cs typeface="Arial" panose="020B0604020202020204" pitchFamily="34" charset="0"/>
                      </a:endParaRP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hi-IN" sz="1050">
                          <a:effectLst/>
                          <a:latin typeface="Arial" panose="020B0604020202020204" pitchFamily="34" charset="0"/>
                        </a:rPr>
                        <a:t>आषाढ़ </a:t>
                      </a:r>
                      <a:r>
                        <a:rPr lang="en-US" sz="1050">
                          <a:effectLst/>
                          <a:latin typeface="Arial" panose="020B0604020202020204" pitchFamily="34" charset="0"/>
                          <a:cs typeface="Arial" panose="020B0604020202020204" pitchFamily="34" charset="0"/>
                        </a:rPr>
                        <a:t>or </a:t>
                      </a:r>
                      <a:r>
                        <a:rPr lang="hi-IN" sz="1050">
                          <a:effectLst/>
                          <a:latin typeface="Arial" panose="020B0604020202020204" pitchFamily="34" charset="0"/>
                        </a:rPr>
                        <a:t>असार</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31 / 32(31.638 exactly)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mid-June to mid-July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1235874192"/>
                  </a:ext>
                </a:extLst>
              </a:tr>
              <a:tr h="370362">
                <a:tc>
                  <a:txBody>
                    <a:bodyPr/>
                    <a:lstStyle/>
                    <a:p>
                      <a:pPr algn="ctr"/>
                      <a:r>
                        <a:rPr lang="en-US" sz="1050">
                          <a:effectLst/>
                          <a:latin typeface="Arial" panose="020B0604020202020204" pitchFamily="34" charset="0"/>
                          <a:cs typeface="Arial" panose="020B0604020202020204" pitchFamily="34" charset="0"/>
                        </a:rPr>
                        <a:t>4</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u="none" strike="noStrike">
                          <a:effectLst/>
                          <a:latin typeface="Arial" panose="020B0604020202020204" pitchFamily="34" charset="0"/>
                          <a:cs typeface="Arial" panose="020B0604020202020204" pitchFamily="34" charset="0"/>
                          <a:hlinkClick r:id="rId9" tooltip="Shrawan (Nepali calendar)"/>
                        </a:rPr>
                        <a:t>Shrawan</a:t>
                      </a:r>
                      <a:endParaRPr lang="en-US" sz="1050">
                        <a:effectLst/>
                        <a:latin typeface="Arial" panose="020B0604020202020204" pitchFamily="34" charset="0"/>
                        <a:cs typeface="Arial" panose="020B0604020202020204" pitchFamily="34" charset="0"/>
                      </a:endParaRP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hi-IN" sz="1050">
                          <a:effectLst/>
                          <a:latin typeface="Arial" panose="020B0604020202020204" pitchFamily="34" charset="0"/>
                        </a:rPr>
                        <a:t>श्रावण </a:t>
                      </a:r>
                      <a:r>
                        <a:rPr lang="en-US" sz="1050">
                          <a:effectLst/>
                          <a:latin typeface="Arial" panose="020B0604020202020204" pitchFamily="34" charset="0"/>
                          <a:cs typeface="Arial" panose="020B0604020202020204" pitchFamily="34" charset="0"/>
                        </a:rPr>
                        <a:t>or </a:t>
                      </a:r>
                      <a:r>
                        <a:rPr lang="hi-IN" sz="1050">
                          <a:effectLst/>
                          <a:latin typeface="Arial" panose="020B0604020202020204" pitchFamily="34" charset="0"/>
                        </a:rPr>
                        <a:t>साउन / सावन</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31 / 32(31.463 exactly)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mid-July to mid-August</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518714766"/>
                  </a:ext>
                </a:extLst>
              </a:tr>
              <a:tr h="370362">
                <a:tc>
                  <a:txBody>
                    <a:bodyPr/>
                    <a:lstStyle/>
                    <a:p>
                      <a:pPr algn="ctr"/>
                      <a:r>
                        <a:rPr lang="en-US" sz="1050">
                          <a:effectLst/>
                          <a:latin typeface="Arial" panose="020B0604020202020204" pitchFamily="34" charset="0"/>
                          <a:cs typeface="Arial" panose="020B0604020202020204" pitchFamily="34" charset="0"/>
                        </a:rPr>
                        <a:t>5</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u="none" strike="noStrike">
                          <a:effectLst/>
                          <a:latin typeface="Arial" panose="020B0604020202020204" pitchFamily="34" charset="0"/>
                          <a:cs typeface="Arial" panose="020B0604020202020204" pitchFamily="34" charset="0"/>
                          <a:hlinkClick r:id="rId10" tooltip="Bhadra (Nepali calendar)"/>
                        </a:rPr>
                        <a:t>Bhadra</a:t>
                      </a:r>
                      <a:endParaRPr lang="en-US" sz="1050">
                        <a:effectLst/>
                        <a:latin typeface="Arial" panose="020B0604020202020204" pitchFamily="34" charset="0"/>
                        <a:cs typeface="Arial" panose="020B0604020202020204" pitchFamily="34" charset="0"/>
                      </a:endParaRP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hi-IN" sz="1050">
                          <a:effectLst/>
                          <a:latin typeface="Arial" panose="020B0604020202020204" pitchFamily="34" charset="0"/>
                        </a:rPr>
                        <a:t>भाद्र </a:t>
                      </a:r>
                      <a:r>
                        <a:rPr lang="en-US" sz="1050">
                          <a:effectLst/>
                          <a:latin typeface="Arial" panose="020B0604020202020204" pitchFamily="34" charset="0"/>
                          <a:cs typeface="Arial" panose="020B0604020202020204" pitchFamily="34" charset="0"/>
                        </a:rPr>
                        <a:t>or </a:t>
                      </a:r>
                      <a:r>
                        <a:rPr lang="hi-IN" sz="1050">
                          <a:effectLst/>
                          <a:latin typeface="Arial" panose="020B0604020202020204" pitchFamily="34" charset="0"/>
                        </a:rPr>
                        <a:t>भदौ/भादो</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31 / 32(31.012 exactly)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mid-August to mid-September</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1473949702"/>
                  </a:ext>
                </a:extLst>
              </a:tr>
              <a:tr h="370362">
                <a:tc>
                  <a:txBody>
                    <a:bodyPr/>
                    <a:lstStyle/>
                    <a:p>
                      <a:pPr algn="ctr"/>
                      <a:r>
                        <a:rPr lang="en-US" sz="1050">
                          <a:effectLst/>
                          <a:latin typeface="Arial" panose="020B0604020202020204" pitchFamily="34" charset="0"/>
                          <a:cs typeface="Arial" panose="020B0604020202020204" pitchFamily="34" charset="0"/>
                        </a:rPr>
                        <a:t>6</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u="none" strike="noStrike">
                          <a:effectLst/>
                          <a:latin typeface="Arial" panose="020B0604020202020204" pitchFamily="34" charset="0"/>
                          <a:cs typeface="Arial" panose="020B0604020202020204" pitchFamily="34" charset="0"/>
                          <a:hlinkClick r:id="rId11" tooltip="Ashwin (Nepali calendar)"/>
                        </a:rPr>
                        <a:t>Ashwin</a:t>
                      </a:r>
                      <a:endParaRPr lang="en-US" sz="1050">
                        <a:effectLst/>
                        <a:latin typeface="Arial" panose="020B0604020202020204" pitchFamily="34" charset="0"/>
                        <a:cs typeface="Arial" panose="020B0604020202020204" pitchFamily="34" charset="0"/>
                      </a:endParaRP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hi-IN" sz="1050">
                          <a:effectLst/>
                          <a:latin typeface="Arial" panose="020B0604020202020204" pitchFamily="34" charset="0"/>
                        </a:rPr>
                        <a:t>आश्विन </a:t>
                      </a:r>
                      <a:r>
                        <a:rPr lang="en-US" sz="1050">
                          <a:effectLst/>
                          <a:latin typeface="Arial" panose="020B0604020202020204" pitchFamily="34" charset="0"/>
                          <a:cs typeface="Arial" panose="020B0604020202020204" pitchFamily="34" charset="0"/>
                        </a:rPr>
                        <a:t>or </a:t>
                      </a:r>
                      <a:r>
                        <a:rPr lang="hi-IN" sz="1050">
                          <a:effectLst/>
                          <a:latin typeface="Arial" panose="020B0604020202020204" pitchFamily="34" charset="0"/>
                        </a:rPr>
                        <a:t>असोज </a:t>
                      </a:r>
                      <a:r>
                        <a:rPr lang="en-US" sz="1050">
                          <a:effectLst/>
                          <a:latin typeface="Arial" panose="020B0604020202020204" pitchFamily="34" charset="0"/>
                          <a:cs typeface="Arial" panose="020B0604020202020204" pitchFamily="34" charset="0"/>
                        </a:rPr>
                        <a:t>or </a:t>
                      </a:r>
                      <a:r>
                        <a:rPr lang="hi-IN" sz="1050">
                          <a:effectLst/>
                          <a:latin typeface="Arial" panose="020B0604020202020204" pitchFamily="34" charset="0"/>
                        </a:rPr>
                        <a:t>कुआर/क्वार</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30 / 31(30.428 exactly)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mid-September to mid-October</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1830321400"/>
                  </a:ext>
                </a:extLst>
              </a:tr>
              <a:tr h="370362">
                <a:tc>
                  <a:txBody>
                    <a:bodyPr/>
                    <a:lstStyle/>
                    <a:p>
                      <a:pPr algn="ctr"/>
                      <a:r>
                        <a:rPr lang="en-US" sz="1050">
                          <a:effectLst/>
                          <a:latin typeface="Arial" panose="020B0604020202020204" pitchFamily="34" charset="0"/>
                          <a:cs typeface="Arial" panose="020B0604020202020204" pitchFamily="34" charset="0"/>
                        </a:rPr>
                        <a:t>7</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u="none" strike="noStrike">
                          <a:effectLst/>
                          <a:latin typeface="Arial" panose="020B0604020202020204" pitchFamily="34" charset="0"/>
                          <a:cs typeface="Arial" panose="020B0604020202020204" pitchFamily="34" charset="0"/>
                          <a:hlinkClick r:id="rId12" tooltip="Kartik (Nepali calendar)"/>
                        </a:rPr>
                        <a:t>Kartik</a:t>
                      </a:r>
                      <a:endParaRPr lang="en-US" sz="1050">
                        <a:effectLst/>
                        <a:latin typeface="Arial" panose="020B0604020202020204" pitchFamily="34" charset="0"/>
                        <a:cs typeface="Arial" panose="020B0604020202020204" pitchFamily="34" charset="0"/>
                      </a:endParaRP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hi-IN" sz="1050">
                          <a:effectLst/>
                          <a:latin typeface="Arial" panose="020B0604020202020204" pitchFamily="34" charset="0"/>
                        </a:rPr>
                        <a:t>कार्तिक</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29 / 30(29.879 exactly)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mid-October to mid-November</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2806474104"/>
                  </a:ext>
                </a:extLst>
              </a:tr>
              <a:tr h="370362">
                <a:tc>
                  <a:txBody>
                    <a:bodyPr/>
                    <a:lstStyle/>
                    <a:p>
                      <a:pPr algn="ctr"/>
                      <a:r>
                        <a:rPr lang="en-US" sz="1050">
                          <a:effectLst/>
                          <a:latin typeface="Arial" panose="020B0604020202020204" pitchFamily="34" charset="0"/>
                          <a:cs typeface="Arial" panose="020B0604020202020204" pitchFamily="34" charset="0"/>
                        </a:rPr>
                        <a:t>8</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u="none" strike="noStrike">
                          <a:effectLst/>
                          <a:latin typeface="Arial" panose="020B0604020202020204" pitchFamily="34" charset="0"/>
                          <a:cs typeface="Arial" panose="020B0604020202020204" pitchFamily="34" charset="0"/>
                          <a:hlinkClick r:id="rId13" tooltip="Mangsir"/>
                        </a:rPr>
                        <a:t>Mangsir</a:t>
                      </a:r>
                      <a:endParaRPr lang="en-US" sz="1050">
                        <a:effectLst/>
                        <a:latin typeface="Arial" panose="020B0604020202020204" pitchFamily="34" charset="0"/>
                        <a:cs typeface="Arial" panose="020B0604020202020204" pitchFamily="34" charset="0"/>
                      </a:endParaRP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hi-IN" sz="1050">
                          <a:effectLst/>
                          <a:latin typeface="Arial" panose="020B0604020202020204" pitchFamily="34" charset="0"/>
                        </a:rPr>
                        <a:t>मार्ग </a:t>
                      </a:r>
                      <a:r>
                        <a:rPr lang="en-US" sz="1050">
                          <a:effectLst/>
                          <a:latin typeface="Arial" panose="020B0604020202020204" pitchFamily="34" charset="0"/>
                          <a:cs typeface="Arial" panose="020B0604020202020204" pitchFamily="34" charset="0"/>
                        </a:rPr>
                        <a:t>or </a:t>
                      </a:r>
                      <a:r>
                        <a:rPr lang="hi-IN" sz="1050">
                          <a:effectLst/>
                          <a:latin typeface="Arial" panose="020B0604020202020204" pitchFamily="34" charset="0"/>
                        </a:rPr>
                        <a:t>मंसिर/अगहन</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29 / 30(29.475 exactly)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mid-November to mid-December</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1548481393"/>
                  </a:ext>
                </a:extLst>
              </a:tr>
              <a:tr h="370362">
                <a:tc>
                  <a:txBody>
                    <a:bodyPr/>
                    <a:lstStyle/>
                    <a:p>
                      <a:pPr algn="ctr"/>
                      <a:r>
                        <a:rPr lang="en-US" sz="1050">
                          <a:effectLst/>
                          <a:latin typeface="Arial" panose="020B0604020202020204" pitchFamily="34" charset="0"/>
                          <a:cs typeface="Arial" panose="020B0604020202020204" pitchFamily="34" charset="0"/>
                        </a:rPr>
                        <a:t>9</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u="none" strike="noStrike">
                          <a:effectLst/>
                          <a:latin typeface="Arial" panose="020B0604020202020204" pitchFamily="34" charset="0"/>
                          <a:cs typeface="Arial" panose="020B0604020202020204" pitchFamily="34" charset="0"/>
                          <a:hlinkClick r:id="rId14" tooltip="Poush"/>
                        </a:rPr>
                        <a:t>Poush</a:t>
                      </a:r>
                      <a:endParaRPr lang="en-US" sz="1050">
                        <a:effectLst/>
                        <a:latin typeface="Arial" panose="020B0604020202020204" pitchFamily="34" charset="0"/>
                        <a:cs typeface="Arial" panose="020B0604020202020204" pitchFamily="34" charset="0"/>
                      </a:endParaRP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hi-IN" sz="1050">
                          <a:effectLst/>
                          <a:latin typeface="Arial" panose="020B0604020202020204" pitchFamily="34" charset="0"/>
                        </a:rPr>
                        <a:t>पौष </a:t>
                      </a:r>
                      <a:r>
                        <a:rPr lang="en-US" sz="1050">
                          <a:effectLst/>
                          <a:latin typeface="Arial" panose="020B0604020202020204" pitchFamily="34" charset="0"/>
                          <a:cs typeface="Arial" panose="020B0604020202020204" pitchFamily="34" charset="0"/>
                        </a:rPr>
                        <a:t>or </a:t>
                      </a:r>
                      <a:r>
                        <a:rPr lang="hi-IN" sz="1050">
                          <a:effectLst/>
                          <a:latin typeface="Arial" panose="020B0604020202020204" pitchFamily="34" charset="0"/>
                        </a:rPr>
                        <a:t>पुष/पूस</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29 / 30(29.310 exactly)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mid-December to mid-January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1993553651"/>
                  </a:ext>
                </a:extLst>
              </a:tr>
              <a:tr h="370362">
                <a:tc>
                  <a:txBody>
                    <a:bodyPr/>
                    <a:lstStyle/>
                    <a:p>
                      <a:pPr algn="ctr"/>
                      <a:r>
                        <a:rPr lang="en-US" sz="1050">
                          <a:effectLst/>
                          <a:latin typeface="Arial" panose="020B0604020202020204" pitchFamily="34" charset="0"/>
                          <a:cs typeface="Arial" panose="020B0604020202020204" pitchFamily="34" charset="0"/>
                        </a:rPr>
                        <a:t>10</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u="none" strike="noStrike">
                          <a:effectLst/>
                          <a:latin typeface="Arial" panose="020B0604020202020204" pitchFamily="34" charset="0"/>
                          <a:cs typeface="Arial" panose="020B0604020202020204" pitchFamily="34" charset="0"/>
                          <a:hlinkClick r:id="rId15" tooltip="Magh (Nepali calendar)"/>
                        </a:rPr>
                        <a:t>Magh</a:t>
                      </a:r>
                      <a:endParaRPr lang="en-US" sz="1050">
                        <a:effectLst/>
                        <a:latin typeface="Arial" panose="020B0604020202020204" pitchFamily="34" charset="0"/>
                        <a:cs typeface="Arial" panose="020B0604020202020204" pitchFamily="34" charset="0"/>
                      </a:endParaRP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hi-IN" sz="1050">
                          <a:effectLst/>
                          <a:latin typeface="Arial" panose="020B0604020202020204" pitchFamily="34" charset="0"/>
                        </a:rPr>
                        <a:t>माघ</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29 / 30(29.457 exactly)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mid-January to mid-February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296058888"/>
                  </a:ext>
                </a:extLst>
              </a:tr>
              <a:tr h="370362">
                <a:tc>
                  <a:txBody>
                    <a:bodyPr/>
                    <a:lstStyle/>
                    <a:p>
                      <a:pPr algn="ctr"/>
                      <a:r>
                        <a:rPr lang="en-US" sz="1050">
                          <a:effectLst/>
                          <a:latin typeface="Arial" panose="020B0604020202020204" pitchFamily="34" charset="0"/>
                          <a:cs typeface="Arial" panose="020B0604020202020204" pitchFamily="34" charset="0"/>
                        </a:rPr>
                        <a:t>11</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u="none" strike="noStrike">
                          <a:effectLst/>
                          <a:latin typeface="Arial" panose="020B0604020202020204" pitchFamily="34" charset="0"/>
                          <a:cs typeface="Arial" panose="020B0604020202020204" pitchFamily="34" charset="0"/>
                          <a:hlinkClick r:id="rId16" tooltip="Falgun"/>
                        </a:rPr>
                        <a:t>Falgun</a:t>
                      </a:r>
                      <a:endParaRPr lang="en-US" sz="1050">
                        <a:effectLst/>
                        <a:latin typeface="Arial" panose="020B0604020202020204" pitchFamily="34" charset="0"/>
                        <a:cs typeface="Arial" panose="020B0604020202020204" pitchFamily="34" charset="0"/>
                      </a:endParaRP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hi-IN" sz="1050">
                          <a:effectLst/>
                          <a:latin typeface="Arial" panose="020B0604020202020204" pitchFamily="34" charset="0"/>
                        </a:rPr>
                        <a:t>फाल्गुन </a:t>
                      </a:r>
                      <a:r>
                        <a:rPr lang="en-US" sz="1050">
                          <a:effectLst/>
                          <a:latin typeface="Arial" panose="020B0604020202020204" pitchFamily="34" charset="0"/>
                          <a:cs typeface="Arial" panose="020B0604020202020204" pitchFamily="34" charset="0"/>
                        </a:rPr>
                        <a:t>or </a:t>
                      </a:r>
                      <a:r>
                        <a:rPr lang="hi-IN" sz="1050">
                          <a:effectLst/>
                          <a:latin typeface="Arial" panose="020B0604020202020204" pitchFamily="34" charset="0"/>
                        </a:rPr>
                        <a:t>फागुन</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29 / 30(29.841 exactly)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mid-February to mid-March</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1473154990"/>
                  </a:ext>
                </a:extLst>
              </a:tr>
              <a:tr h="370362">
                <a:tc>
                  <a:txBody>
                    <a:bodyPr/>
                    <a:lstStyle/>
                    <a:p>
                      <a:pPr algn="ctr"/>
                      <a:r>
                        <a:rPr lang="en-US" sz="1050">
                          <a:effectLst/>
                          <a:latin typeface="Arial" panose="020B0604020202020204" pitchFamily="34" charset="0"/>
                          <a:cs typeface="Arial" panose="020B0604020202020204" pitchFamily="34" charset="0"/>
                        </a:rPr>
                        <a:t>12</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u="none" strike="noStrike">
                          <a:effectLst/>
                          <a:latin typeface="Arial" panose="020B0604020202020204" pitchFamily="34" charset="0"/>
                          <a:cs typeface="Arial" panose="020B0604020202020204" pitchFamily="34" charset="0"/>
                          <a:hlinkClick r:id="rId17" tooltip="Chaitra (Nepali calendar)"/>
                        </a:rPr>
                        <a:t>Chaitra</a:t>
                      </a:r>
                      <a:endParaRPr lang="en-US" sz="1050">
                        <a:effectLst/>
                        <a:latin typeface="Arial" panose="020B0604020202020204" pitchFamily="34" charset="0"/>
                        <a:cs typeface="Arial" panose="020B0604020202020204" pitchFamily="34" charset="0"/>
                      </a:endParaRP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hi-IN" sz="1050">
                          <a:effectLst/>
                          <a:latin typeface="Arial" panose="020B0604020202020204" pitchFamily="34" charset="0"/>
                        </a:rPr>
                        <a:t>चैत्र </a:t>
                      </a:r>
                      <a:r>
                        <a:rPr lang="en-US" sz="1050">
                          <a:effectLst/>
                          <a:latin typeface="Arial" panose="020B0604020202020204" pitchFamily="34" charset="0"/>
                          <a:cs typeface="Arial" panose="020B0604020202020204" pitchFamily="34" charset="0"/>
                        </a:rPr>
                        <a:t>or </a:t>
                      </a:r>
                      <a:r>
                        <a:rPr lang="hi-IN" sz="1050">
                          <a:effectLst/>
                          <a:latin typeface="Arial" panose="020B0604020202020204" pitchFamily="34" charset="0"/>
                        </a:rPr>
                        <a:t>चैत</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30 / 31(30.377 exactly)</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ctr"/>
                      <a:r>
                        <a:rPr lang="en-US" sz="1050">
                          <a:effectLst/>
                          <a:latin typeface="Arial" panose="020B0604020202020204" pitchFamily="34" charset="0"/>
                          <a:cs typeface="Arial" panose="020B0604020202020204" pitchFamily="34" charset="0"/>
                        </a:rPr>
                        <a:t>mid-March to mid-April</a:t>
                      </a:r>
                    </a:p>
                  </a:txBody>
                  <a:tcPr marL="51829" marR="51829" marT="25915" marB="25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2174922554"/>
                  </a:ext>
                </a:extLst>
              </a:tr>
            </a:tbl>
          </a:graphicData>
        </a:graphic>
      </p:graphicFrame>
    </p:spTree>
    <p:extLst>
      <p:ext uri="{BB962C8B-B14F-4D97-AF65-F5344CB8AC3E}">
        <p14:creationId xmlns:p14="http://schemas.microsoft.com/office/powerpoint/2010/main" val="2542646933"/>
      </p:ext>
    </p:extLst>
  </p:cSld>
  <p:clrMapOvr>
    <a:masterClrMapping/>
  </p:clrMapOvr>
  <p:transition>
    <p:fade/>
  </p:transition>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4">
            <a:lumMod val="50000"/>
          </a:schemeClr>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741366276"/>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2590232194"/>
              </p:ext>
            </p:extLst>
          </p:nvPr>
        </p:nvGraphicFramePr>
        <p:xfrm>
          <a:off x="500582" y="2951947"/>
          <a:ext cx="8509002" cy="954106"/>
        </p:xfrm>
        <a:graphic>
          <a:graphicData uri="http://schemas.openxmlformats.org/drawingml/2006/table">
            <a:tbl>
              <a:tblPr firstRow="1" bandRow="1">
                <a:tableStyleId>{5C22544A-7EE6-4342-B048-85BDC9FD1C3A}</a:tableStyleId>
              </a:tblPr>
              <a:tblGrid>
                <a:gridCol w="3164033">
                  <a:extLst>
                    <a:ext uri="{9D8B030D-6E8A-4147-A177-3AD203B41FA5}">
                      <a16:colId xmlns:a16="http://schemas.microsoft.com/office/drawing/2014/main" val="2744717436"/>
                    </a:ext>
                  </a:extLst>
                </a:gridCol>
                <a:gridCol w="5344969">
                  <a:extLst>
                    <a:ext uri="{9D8B030D-6E8A-4147-A177-3AD203B41FA5}">
                      <a16:colId xmlns:a16="http://schemas.microsoft.com/office/drawing/2014/main" val="570884867"/>
                    </a:ext>
                  </a:extLst>
                </a:gridCol>
              </a:tblGrid>
              <a:tr h="954106">
                <a:tc>
                  <a:txBody>
                    <a:bodyPr/>
                    <a:lstStyle/>
                    <a:p>
                      <a:endParaRPr lang="en-US" sz="3600">
                        <a:latin typeface="Arial" panose="020B0604020202020204" pitchFamily="34" charset="0"/>
                        <a:cs typeface="Arial" panose="020B0604020202020204" pitchFamily="34" charset="0"/>
                      </a:endParaRP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398463" indent="0"/>
                      <a:r>
                        <a:rPr lang="en-US" sz="2400">
                          <a:latin typeface="Arial" panose="020B0604020202020204" pitchFamily="34" charset="0"/>
                          <a:cs typeface="Arial" panose="020B0604020202020204" pitchFamily="34" charset="0"/>
                        </a:rPr>
                        <a:t>Responses to the Comments received on the Interim Report</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2537595544"/>
      </p:ext>
    </p:extLst>
  </p:cSld>
  <p:clrMapOvr>
    <a:masterClrMapping/>
  </p:clrMapOvr>
  <p:transition>
    <p:fade/>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solidFill>
                  <a:srgbClr val="007CB0"/>
                </a:solidFill>
                <a:latin typeface="Arial" panose="020B0604020202020204" pitchFamily="34" charset="0"/>
                <a:cs typeface="Arial" panose="020B0604020202020204" pitchFamily="34" charset="0"/>
              </a:rPr>
              <a:t>Response to the Comments on Interim Report</a:t>
            </a:r>
            <a:endParaRPr lang="en-GB" sz="1800" b="1">
              <a:solidFill>
                <a:srgbClr val="007CB0"/>
              </a:solidFill>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383240798"/>
              </p:ext>
            </p:extLst>
          </p:nvPr>
        </p:nvGraphicFramePr>
        <p:xfrm>
          <a:off x="514883" y="987244"/>
          <a:ext cx="11195559" cy="5401179"/>
        </p:xfrm>
        <a:graphic>
          <a:graphicData uri="http://schemas.openxmlformats.org/drawingml/2006/table">
            <a:tbl>
              <a:tblPr firstRow="1" bandRow="1">
                <a:tableStyleId>{3B4B98B0-60AC-42C2-AFA5-B58CD77FA1E5}</a:tableStyleId>
              </a:tblPr>
              <a:tblGrid>
                <a:gridCol w="673895">
                  <a:extLst>
                    <a:ext uri="{9D8B030D-6E8A-4147-A177-3AD203B41FA5}">
                      <a16:colId xmlns:a16="http://schemas.microsoft.com/office/drawing/2014/main" val="2150755601"/>
                    </a:ext>
                  </a:extLst>
                </a:gridCol>
                <a:gridCol w="1485842">
                  <a:extLst>
                    <a:ext uri="{9D8B030D-6E8A-4147-A177-3AD203B41FA5}">
                      <a16:colId xmlns:a16="http://schemas.microsoft.com/office/drawing/2014/main" val="2807376156"/>
                    </a:ext>
                  </a:extLst>
                </a:gridCol>
                <a:gridCol w="9035822">
                  <a:extLst>
                    <a:ext uri="{9D8B030D-6E8A-4147-A177-3AD203B41FA5}">
                      <a16:colId xmlns:a16="http://schemas.microsoft.com/office/drawing/2014/main" val="1355468333"/>
                    </a:ext>
                  </a:extLst>
                </a:gridCol>
              </a:tblGrid>
              <a:tr h="453338">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Queries</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Response</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271038">
                <a:tc gridSpan="3">
                  <a:txBody>
                    <a:bodyPr/>
                    <a:lstStyle/>
                    <a:p>
                      <a:pPr algn="ctr"/>
                      <a:r>
                        <a:rPr lang="en-ZA" sz="1100" b="1" dirty="0">
                          <a:solidFill>
                            <a:srgbClr val="007CB0"/>
                          </a:solidFill>
                          <a:latin typeface="Arial" panose="020B0604020202020204" pitchFamily="34" charset="0"/>
                          <a:cs typeface="Arial" panose="020B0604020202020204" pitchFamily="34" charset="0"/>
                        </a:rPr>
                        <a:t>RCOD Extension </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100" b="0" i="0" u="none" strike="noStrike">
                        <a:solidFill>
                          <a:srgbClr val="00000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100" b="0" i="0" u="none" strike="noStrike">
                        <a:solidFill>
                          <a:srgbClr val="00000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7662751"/>
                  </a:ext>
                </a:extLst>
              </a:tr>
              <a:tr h="1609623">
                <a:tc>
                  <a:txBody>
                    <a:bodyPr/>
                    <a:lstStyle/>
                    <a:p>
                      <a:pPr algn="ctr"/>
                      <a:r>
                        <a:rPr lang="en-ZA" sz="1100" b="1">
                          <a:solidFill>
                            <a:srgbClr val="007CB0"/>
                          </a:solidFill>
                          <a:latin typeface="Arial" panose="020B0604020202020204" pitchFamily="34" charset="0"/>
                          <a:cs typeface="Arial" panose="020B0604020202020204" pitchFamily="34" charset="0"/>
                        </a:rPr>
                        <a:t>1</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With regard to the RCOD extension, is the delay due to governmental agencies other than NEA (i.e. the forest authority) be recognized as a reason for extension under the PPA?</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dirty="0">
                          <a:solidFill>
                            <a:srgbClr val="007CB0"/>
                          </a:solidFill>
                          <a:effectLst/>
                          <a:latin typeface="Arial" panose="020B0604020202020204" pitchFamily="34" charset="0"/>
                        </a:rPr>
                        <a:t>As per the provisions of the PPA, extensions to the RCOD are permissible only under two scenarios:</a:t>
                      </a:r>
                    </a:p>
                    <a:p>
                      <a:pPr algn="l" fontAlgn="ctr"/>
                      <a:endParaRPr lang="en-US" sz="1100" b="0" i="0" u="none" strike="noStrike" dirty="0">
                        <a:solidFill>
                          <a:srgbClr val="007CB0"/>
                        </a:solidFill>
                        <a:effectLst/>
                        <a:latin typeface="Arial" panose="020B0604020202020204" pitchFamily="34" charset="0"/>
                      </a:endParaRPr>
                    </a:p>
                    <a:p>
                      <a:pPr marL="285750" indent="-171450" algn="l" fontAlgn="ctr">
                        <a:buFont typeface="Arial" panose="020B0604020202020204" pitchFamily="34" charset="0"/>
                        <a:buChar char="•"/>
                      </a:pPr>
                      <a:r>
                        <a:rPr lang="en-US" sz="1100" b="0" i="0" u="none" strike="noStrike" dirty="0">
                          <a:solidFill>
                            <a:srgbClr val="007CB0"/>
                          </a:solidFill>
                          <a:effectLst/>
                          <a:latin typeface="Arial" panose="020B0604020202020204" pitchFamily="34" charset="0"/>
                        </a:rPr>
                        <a:t>Force Majeure, as outlined in the PPA; or</a:t>
                      </a:r>
                    </a:p>
                    <a:p>
                      <a:pPr marL="285750" indent="-171450" algn="l" fontAlgn="ctr">
                        <a:buFont typeface="Arial" panose="020B0604020202020204" pitchFamily="34" charset="0"/>
                        <a:buChar char="•"/>
                      </a:pPr>
                      <a:r>
                        <a:rPr lang="en-US" sz="1100" b="0" i="0" u="none" strike="noStrike" dirty="0">
                          <a:solidFill>
                            <a:srgbClr val="007CB0"/>
                          </a:solidFill>
                          <a:effectLst/>
                          <a:latin typeface="Arial" panose="020B0604020202020204" pitchFamily="34" charset="0"/>
                        </a:rPr>
                        <a:t>NEA’s non-fulfilment of obligations, such as delays in the completion of transmission infrastructure.</a:t>
                      </a:r>
                    </a:p>
                    <a:p>
                      <a:pPr marL="0" indent="0" algn="l" fontAlgn="ctr">
                        <a:buFont typeface="Arial" panose="020B0604020202020204" pitchFamily="34" charset="0"/>
                        <a:buNone/>
                      </a:pPr>
                      <a:endParaRPr lang="en-US" sz="1100" b="0" i="0" u="none" strike="noStrike" dirty="0">
                        <a:solidFill>
                          <a:srgbClr val="007CB0"/>
                        </a:solidFill>
                        <a:effectLst/>
                        <a:latin typeface="Arial" panose="020B0604020202020204" pitchFamily="34" charset="0"/>
                      </a:endParaRPr>
                    </a:p>
                    <a:p>
                      <a:pPr marL="0" indent="0" algn="just" fontAlgn="ctr">
                        <a:buFont typeface="Arial" panose="020B0604020202020204" pitchFamily="34" charset="0"/>
                        <a:buNone/>
                      </a:pPr>
                      <a:r>
                        <a:rPr lang="en-US" sz="1100" b="0" i="0" u="none" strike="noStrike" dirty="0">
                          <a:solidFill>
                            <a:srgbClr val="007CB0"/>
                          </a:solidFill>
                          <a:effectLst/>
                          <a:latin typeface="Arial" panose="020B0604020202020204" pitchFamily="34" charset="0"/>
                        </a:rPr>
                        <a:t>Delays arising from the actions or inactions of other governmental agencies, such as the forest authority, are not explicitly recognized in the PPA as grounds for RCOD extension. However, based on market soundings with IPPAN and other stakeholders, this has emerged as a matter of ongoing debate. IPPs have raised concerns regarding procedural delays in securing government permits and clearances, and there have been industry-wide discussions to consider such delays as valid grounds for extension. Market feedback indicates that NEA has, in certain instances, granted RCOD extensions for projects that experienced procedural delays in securing statutory approvals. These extensions have not been automatic but granted at NEA’s discretion, contingent on the developer’s ability to substantiate that the delay was solely attributable to government processes. Such decisions appear to be case-specific and merit-based, lacking a consistent framework within the PPA. </a:t>
                      </a:r>
                    </a:p>
                    <a:p>
                      <a:pPr marL="0" indent="0" algn="just" fontAlgn="ctr">
                        <a:buFont typeface="Arial" panose="020B0604020202020204" pitchFamily="34" charset="0"/>
                        <a:buNone/>
                      </a:pPr>
                      <a:endParaRPr lang="en-US" sz="1100" b="0" i="0" u="none" strike="noStrike" dirty="0">
                        <a:solidFill>
                          <a:srgbClr val="007CB0"/>
                        </a:solidFill>
                        <a:effectLst/>
                        <a:latin typeface="Arial" panose="020B0604020202020204" pitchFamily="34" charset="0"/>
                      </a:endParaRPr>
                    </a:p>
                    <a:p>
                      <a:pPr marL="0" indent="0" algn="just" fontAlgn="ctr">
                        <a:buFont typeface="Arial" panose="020B0604020202020204" pitchFamily="34" charset="0"/>
                        <a:buNone/>
                      </a:pPr>
                      <a:r>
                        <a:rPr lang="en-US" sz="1100" b="0" i="0" u="none" strike="noStrike" dirty="0">
                          <a:solidFill>
                            <a:srgbClr val="007CB0"/>
                          </a:solidFill>
                          <a:effectLst/>
                          <a:latin typeface="Arial" panose="020B0604020202020204" pitchFamily="34" charset="0"/>
                        </a:rPr>
                        <a:t>In conclusion, while the current PPA framework does not explicitly permit RCOD extensions due to delays by government bodies other than NEA, there is limited precedent for such relief being granted in practice, albeit on a discretionary basis.</a:t>
                      </a:r>
                    </a:p>
                  </a:txBody>
                  <a:tcPr marT="9144" marB="9144"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r h="2143915">
                <a:tc>
                  <a:txBody>
                    <a:bodyPr/>
                    <a:lstStyle/>
                    <a:p>
                      <a:pPr algn="ctr"/>
                      <a:r>
                        <a:rPr lang="en-ZA" sz="1100" b="1">
                          <a:solidFill>
                            <a:srgbClr val="007CB0"/>
                          </a:solidFill>
                          <a:latin typeface="Arial" panose="020B0604020202020204" pitchFamily="34" charset="0"/>
                          <a:cs typeface="Arial" panose="020B0604020202020204" pitchFamily="34" charset="0"/>
                        </a:rPr>
                        <a:t>2</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If the force majeure was activated, did Breeze issue a notice at the time of the flood? </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fontAlgn="ctr"/>
                      <a:r>
                        <a:rPr lang="en-US" sz="1100" b="0" i="0" u="none" strike="noStrike">
                          <a:solidFill>
                            <a:srgbClr val="007CB0"/>
                          </a:solidFill>
                          <a:effectLst/>
                          <a:latin typeface="Arial" panose="020B0604020202020204" pitchFamily="34" charset="0"/>
                        </a:rPr>
                        <a:t>During the Field Visit, Breeze mentioned that they conducted a technical study on impact of the flood based on which they are seeking extension on RCOD. A confirmation on the issuance of notice at the time of flood can be gathered from either Breeze or the technical consultant. </a:t>
                      </a:r>
                    </a:p>
                    <a:p>
                      <a:pPr algn="l" fontAlgn="ctr"/>
                      <a:br>
                        <a:rPr lang="en-US" sz="1100" b="0" i="0" u="none" strike="noStrike">
                          <a:solidFill>
                            <a:srgbClr val="007CB0"/>
                          </a:solidFill>
                          <a:effectLst/>
                          <a:latin typeface="Arial" panose="020B0604020202020204" pitchFamily="34" charset="0"/>
                        </a:rPr>
                      </a:br>
                      <a:r>
                        <a:rPr lang="en-US" sz="1100" b="0" i="0" u="none" strike="noStrike">
                          <a:solidFill>
                            <a:srgbClr val="007CB0"/>
                          </a:solidFill>
                          <a:effectLst/>
                          <a:latin typeface="Arial" panose="020B0604020202020204" pitchFamily="34" charset="0"/>
                        </a:rPr>
                        <a:t>PPA Clause 15.2 on issuance of notice during force majeure - </a:t>
                      </a:r>
                      <a:br>
                        <a:rPr lang="en-US" sz="1100" b="0" i="0" u="none" strike="noStrike">
                          <a:solidFill>
                            <a:srgbClr val="007CB0"/>
                          </a:solidFill>
                          <a:effectLst/>
                          <a:latin typeface="Arial" panose="020B0604020202020204" pitchFamily="34" charset="0"/>
                        </a:rPr>
                      </a:br>
                      <a:r>
                        <a:rPr lang="en-US" sz="1100" b="0" i="1" u="none" strike="noStrike">
                          <a:solidFill>
                            <a:srgbClr val="007CB0"/>
                          </a:solidFill>
                          <a:effectLst/>
                          <a:latin typeface="Arial" panose="020B0604020202020204" pitchFamily="34" charset="0"/>
                        </a:rPr>
                        <a:t>The Party claiming the occurrence of a Force Majeure Event as specified in Clause 15.1, shall notify to the other party within 7 (seven) business days of occurrence of such event with the details of the event. Failure to notify with details within specified time shall not be considered an occurrence of Force Majeure Event. Likewise, the Party claiming a Force Majeure Event shall, after the end of such event, notify the same to the other party without any unreasonable delay. In case where the Force Majeure Event already ended at the time of notice of occurrence of Force Majeure Event, the notice shall be given together by disclosing the period of the occurrence of the Force Majeure Event</a:t>
                      </a:r>
                    </a:p>
                  </a:txBody>
                  <a:tcPr marT="9144" marB="9144"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33695119"/>
                  </a:ext>
                </a:extLst>
              </a:tr>
            </a:tbl>
          </a:graphicData>
        </a:graphic>
      </p:graphicFrame>
    </p:spTree>
    <p:extLst>
      <p:ext uri="{BB962C8B-B14F-4D97-AF65-F5344CB8AC3E}">
        <p14:creationId xmlns:p14="http://schemas.microsoft.com/office/powerpoint/2010/main" val="2377559981"/>
      </p:ext>
    </p:extLst>
  </p:cSld>
  <p:clrMapOvr>
    <a:masterClrMapping/>
  </p:clrMapOvr>
  <p:transition>
    <p:fad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solidFill>
                  <a:srgbClr val="007CB0"/>
                </a:solidFill>
                <a:latin typeface="Arial" panose="020B0604020202020204" pitchFamily="34" charset="0"/>
                <a:cs typeface="Arial" panose="020B0604020202020204" pitchFamily="34" charset="0"/>
              </a:rPr>
              <a:t>Response to the Comments on Interim Report</a:t>
            </a:r>
            <a:endParaRPr lang="en-GB" sz="1800" b="1">
              <a:solidFill>
                <a:srgbClr val="007CB0"/>
              </a:solidFill>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1774046013"/>
              </p:ext>
            </p:extLst>
          </p:nvPr>
        </p:nvGraphicFramePr>
        <p:xfrm>
          <a:off x="514883" y="987244"/>
          <a:ext cx="11195559" cy="4522918"/>
        </p:xfrm>
        <a:graphic>
          <a:graphicData uri="http://schemas.openxmlformats.org/drawingml/2006/table">
            <a:tbl>
              <a:tblPr firstRow="1" bandRow="1">
                <a:tableStyleId>{3B4B98B0-60AC-42C2-AFA5-B58CD77FA1E5}</a:tableStyleId>
              </a:tblPr>
              <a:tblGrid>
                <a:gridCol w="673895">
                  <a:extLst>
                    <a:ext uri="{9D8B030D-6E8A-4147-A177-3AD203B41FA5}">
                      <a16:colId xmlns:a16="http://schemas.microsoft.com/office/drawing/2014/main" val="2150755601"/>
                    </a:ext>
                  </a:extLst>
                </a:gridCol>
                <a:gridCol w="2571692">
                  <a:extLst>
                    <a:ext uri="{9D8B030D-6E8A-4147-A177-3AD203B41FA5}">
                      <a16:colId xmlns:a16="http://schemas.microsoft.com/office/drawing/2014/main" val="2807376156"/>
                    </a:ext>
                  </a:extLst>
                </a:gridCol>
                <a:gridCol w="7949972">
                  <a:extLst>
                    <a:ext uri="{9D8B030D-6E8A-4147-A177-3AD203B41FA5}">
                      <a16:colId xmlns:a16="http://schemas.microsoft.com/office/drawing/2014/main" val="1355468333"/>
                    </a:ext>
                  </a:extLst>
                </a:gridCol>
              </a:tblGrid>
              <a:tr h="446036">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Queries</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Response</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372660">
                <a:tc gridSpan="3">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1" dirty="0">
                          <a:solidFill>
                            <a:srgbClr val="007CB0"/>
                          </a:solidFill>
                          <a:latin typeface="Arial" panose="020B0604020202020204" pitchFamily="34" charset="0"/>
                          <a:cs typeface="Arial" panose="020B0604020202020204" pitchFamily="34" charset="0"/>
                        </a:rPr>
                        <a:t>RCOD Extension </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100" b="0" i="0" u="none" strike="noStrike" dirty="0">
                        <a:solidFill>
                          <a:srgbClr val="007CB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fontAlgn="ctr"/>
                      <a:endParaRPr lang="en-US" sz="1100" b="0" i="0" u="none" strike="noStrike" dirty="0">
                        <a:solidFill>
                          <a:srgbClr val="007CB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6911004"/>
                  </a:ext>
                </a:extLst>
              </a:tr>
              <a:tr h="1506614">
                <a:tc>
                  <a:txBody>
                    <a:bodyPr/>
                    <a:lstStyle/>
                    <a:p>
                      <a:pPr algn="ctr"/>
                      <a:r>
                        <a:rPr lang="en-ZA" sz="1100" b="1">
                          <a:solidFill>
                            <a:srgbClr val="007CB0"/>
                          </a:solidFill>
                          <a:latin typeface="Arial" panose="020B0604020202020204" pitchFamily="34" charset="0"/>
                          <a:cs typeface="Arial" panose="020B0604020202020204" pitchFamily="34" charset="0"/>
                        </a:rPr>
                        <a:t>3</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Will the flood with be recognized as a force majeure (once in a 100-year event)?</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fontAlgn="ctr"/>
                      <a:r>
                        <a:rPr lang="en-US" sz="1100" b="0" i="0" u="none" strike="noStrike" dirty="0">
                          <a:solidFill>
                            <a:srgbClr val="007CB0"/>
                          </a:solidFill>
                          <a:effectLst/>
                          <a:latin typeface="Arial" panose="020B0604020202020204" pitchFamily="34" charset="0"/>
                        </a:rPr>
                        <a:t>Clause 15.1 of the PPA provides that a flood event exceeding the one-hundred-year Design Flood Discharge, as specified in Schedule 1 of the PPA, qualifies as a Force Majeure event. In the context of the flood, recognition under Force Majeure will depend on whether the actual flood discharge exceeded the threshold defined in the PPA. A post-flood Technical Study has reportedly been undertaken by Breeze. It is essential that the Technical DD team reviews the findings of this study to determine whether the flood meets the specified criteria for a Force Majeure declaration..</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13887932"/>
                  </a:ext>
                </a:extLst>
              </a:tr>
              <a:tr h="1506614">
                <a:tc>
                  <a:txBody>
                    <a:bodyPr/>
                    <a:lstStyle/>
                    <a:p>
                      <a:pPr algn="ctr"/>
                      <a:r>
                        <a:rPr lang="en-ZA" sz="1100" b="1">
                          <a:solidFill>
                            <a:srgbClr val="007CB0"/>
                          </a:solidFill>
                          <a:latin typeface="Arial" panose="020B0604020202020204" pitchFamily="34" charset="0"/>
                          <a:cs typeface="Arial" panose="020B0604020202020204" pitchFamily="34" charset="0"/>
                        </a:rPr>
                        <a:t>4</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Are there cases of force majeure being activated for other IPPs?</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fontAlgn="ctr"/>
                      <a:endParaRPr lang="en-US" sz="1100" b="0" i="0" u="none" strike="noStrike" dirty="0">
                        <a:solidFill>
                          <a:srgbClr val="007CB0"/>
                        </a:solidFill>
                        <a:effectLst/>
                        <a:latin typeface="Arial" panose="020B0604020202020204" pitchFamily="34" charset="0"/>
                      </a:endParaRPr>
                    </a:p>
                    <a:p>
                      <a:pPr algn="just" fontAlgn="ctr"/>
                      <a:r>
                        <a:rPr lang="en-US" sz="1100" b="0" i="0" u="none" strike="noStrike" dirty="0">
                          <a:solidFill>
                            <a:srgbClr val="007CB0"/>
                          </a:solidFill>
                          <a:effectLst/>
                          <a:latin typeface="Arial" panose="020B0604020202020204" pitchFamily="34" charset="0"/>
                        </a:rPr>
                        <a:t>Force Majeure clauses are a standard feature in Power Purchase Agreements (PPAs) for hydropower projects in Nepal, given the sector's exposure to natural hazards such as floods, landslides, and earthquakes. There are precedents where IPPs have successfully invoked Force Majeure provisions to secure extensions of their Commercial Operation Date (COD) in response to such events. Notable examples include: </a:t>
                      </a:r>
                    </a:p>
                    <a:p>
                      <a:pPr algn="just" fontAlgn="ctr"/>
                      <a:endParaRPr lang="en-US" sz="1100" b="0" i="0" u="none" strike="noStrike" dirty="0">
                        <a:solidFill>
                          <a:srgbClr val="007CB0"/>
                        </a:solidFill>
                        <a:effectLst/>
                        <a:latin typeface="Arial" panose="020B0604020202020204" pitchFamily="34" charset="0"/>
                      </a:endParaRPr>
                    </a:p>
                    <a:p>
                      <a:pPr marL="228600" indent="-114300" algn="just" fontAlgn="ctr">
                        <a:buFont typeface="Arial" panose="020B0604020202020204" pitchFamily="34" charset="0"/>
                        <a:buChar char="•"/>
                      </a:pPr>
                      <a:r>
                        <a:rPr lang="en-US" sz="1100" b="0" i="0" u="none" strike="noStrike" dirty="0" err="1">
                          <a:solidFill>
                            <a:srgbClr val="007CB0"/>
                          </a:solidFill>
                          <a:effectLst/>
                          <a:latin typeface="Arial" panose="020B0604020202020204" pitchFamily="34" charset="0"/>
                        </a:rPr>
                        <a:t>Likhu</a:t>
                      </a:r>
                      <a:r>
                        <a:rPr lang="en-US" sz="1100" b="0" i="0" u="none" strike="noStrike" dirty="0">
                          <a:solidFill>
                            <a:srgbClr val="007CB0"/>
                          </a:solidFill>
                          <a:effectLst/>
                          <a:latin typeface="Arial" panose="020B0604020202020204" pitchFamily="34" charset="0"/>
                        </a:rPr>
                        <a:t> 2 Hydropower Project (L2HP): Granted a 3-month RCOD extension due to flood-related disruptions.</a:t>
                      </a:r>
                    </a:p>
                    <a:p>
                      <a:pPr marL="228600" indent="-114300" algn="just" fontAlgn="ctr">
                        <a:buFont typeface="Arial" panose="020B0604020202020204" pitchFamily="34" charset="0"/>
                        <a:buChar char="•"/>
                      </a:pPr>
                      <a:r>
                        <a:rPr lang="en-US" sz="1100" b="0" i="0" u="none" strike="noStrike" dirty="0">
                          <a:solidFill>
                            <a:srgbClr val="007CB0"/>
                          </a:solidFill>
                          <a:effectLst/>
                          <a:latin typeface="Arial" panose="020B0604020202020204" pitchFamily="34" charset="0"/>
                        </a:rPr>
                        <a:t>Middle </a:t>
                      </a:r>
                      <a:r>
                        <a:rPr lang="en-US" sz="1100" b="0" i="0" u="none" strike="noStrike" dirty="0" err="1">
                          <a:solidFill>
                            <a:srgbClr val="007CB0"/>
                          </a:solidFill>
                          <a:effectLst/>
                          <a:latin typeface="Arial" panose="020B0604020202020204" pitchFamily="34" charset="0"/>
                        </a:rPr>
                        <a:t>Bhotekoshi</a:t>
                      </a:r>
                      <a:r>
                        <a:rPr lang="en-US" sz="1100" b="0" i="0" u="none" strike="noStrike" dirty="0">
                          <a:solidFill>
                            <a:srgbClr val="007CB0"/>
                          </a:solidFill>
                          <a:effectLst/>
                          <a:latin typeface="Arial" panose="020B0604020202020204" pitchFamily="34" charset="0"/>
                        </a:rPr>
                        <a:t> Hydropower Project: Received COD extension following flood damage.</a:t>
                      </a:r>
                    </a:p>
                    <a:p>
                      <a:pPr marL="0" indent="0" algn="just" fontAlgn="ctr">
                        <a:buFont typeface="Arial" panose="020B0604020202020204" pitchFamily="34" charset="0"/>
                        <a:buNone/>
                      </a:pPr>
                      <a:endParaRPr lang="en-US" sz="1100" b="0" i="0" u="none" strike="noStrike" dirty="0">
                        <a:solidFill>
                          <a:srgbClr val="007CB0"/>
                        </a:solidFill>
                        <a:effectLst/>
                        <a:latin typeface="Arial" panose="020B0604020202020204" pitchFamily="34" charset="0"/>
                      </a:endParaRPr>
                    </a:p>
                    <a:p>
                      <a:pPr marL="0" indent="0" algn="just" fontAlgn="ctr">
                        <a:buFont typeface="Arial" panose="020B0604020202020204" pitchFamily="34" charset="0"/>
                        <a:buNone/>
                      </a:pPr>
                      <a:r>
                        <a:rPr lang="en-US" sz="1100" b="0" i="0" u="none" strike="noStrike" dirty="0">
                          <a:solidFill>
                            <a:srgbClr val="007CB0"/>
                          </a:solidFill>
                          <a:effectLst/>
                          <a:latin typeface="Arial" panose="020B0604020202020204" pitchFamily="34" charset="0"/>
                        </a:rPr>
                        <a:t>These cases demonstrate that NEA has, in practice, acknowledged natural disasters as valid Force Majeure events when supported by appropriate technical evidence. However, such extensions are typically granted on a case-by-case basis and require substantiation of the event’s severity and its direct impact on project timelines.</a:t>
                      </a:r>
                    </a:p>
                    <a:p>
                      <a:pPr marL="0" indent="0" algn="just" fontAlgn="ctr">
                        <a:buFont typeface="Arial" panose="020B0604020202020204" pitchFamily="34" charset="0"/>
                        <a:buNone/>
                      </a:pPr>
                      <a:endParaRPr lang="en-US" sz="1100" b="0" i="0" u="none" strike="noStrike" dirty="0">
                        <a:solidFill>
                          <a:srgbClr val="007CB0"/>
                        </a:solidFill>
                        <a:effectLst/>
                        <a:latin typeface="Arial" panose="020B0604020202020204" pitchFamily="34" charset="0"/>
                      </a:endParaRP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bl>
          </a:graphicData>
        </a:graphic>
      </p:graphicFrame>
    </p:spTree>
    <p:extLst>
      <p:ext uri="{BB962C8B-B14F-4D97-AF65-F5344CB8AC3E}">
        <p14:creationId xmlns:p14="http://schemas.microsoft.com/office/powerpoint/2010/main" val="435492705"/>
      </p:ext>
    </p:extLst>
  </p:cSld>
  <p:clrMapOvr>
    <a:masterClrMapping/>
  </p:clrMapOvr>
  <p:transition>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solidFill>
                  <a:srgbClr val="007CB0"/>
                </a:solidFill>
                <a:latin typeface="Arial" panose="020B0604020202020204" pitchFamily="34" charset="0"/>
                <a:cs typeface="Arial" panose="020B0604020202020204" pitchFamily="34" charset="0"/>
              </a:rPr>
              <a:t>Response to the Comments on Interim Report</a:t>
            </a:r>
            <a:endParaRPr lang="en-GB" sz="1800" b="1">
              <a:solidFill>
                <a:srgbClr val="007CB0"/>
              </a:solidFill>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1828176234"/>
              </p:ext>
            </p:extLst>
          </p:nvPr>
        </p:nvGraphicFramePr>
        <p:xfrm>
          <a:off x="514883" y="987244"/>
          <a:ext cx="11195559" cy="4533447"/>
        </p:xfrm>
        <a:graphic>
          <a:graphicData uri="http://schemas.openxmlformats.org/drawingml/2006/table">
            <a:tbl>
              <a:tblPr firstRow="1" bandRow="1">
                <a:tableStyleId>{3B4B98B0-60AC-42C2-AFA5-B58CD77FA1E5}</a:tableStyleId>
              </a:tblPr>
              <a:tblGrid>
                <a:gridCol w="673895">
                  <a:extLst>
                    <a:ext uri="{9D8B030D-6E8A-4147-A177-3AD203B41FA5}">
                      <a16:colId xmlns:a16="http://schemas.microsoft.com/office/drawing/2014/main" val="2150755601"/>
                    </a:ext>
                  </a:extLst>
                </a:gridCol>
                <a:gridCol w="2571692">
                  <a:extLst>
                    <a:ext uri="{9D8B030D-6E8A-4147-A177-3AD203B41FA5}">
                      <a16:colId xmlns:a16="http://schemas.microsoft.com/office/drawing/2014/main" val="2807376156"/>
                    </a:ext>
                  </a:extLst>
                </a:gridCol>
                <a:gridCol w="7949972">
                  <a:extLst>
                    <a:ext uri="{9D8B030D-6E8A-4147-A177-3AD203B41FA5}">
                      <a16:colId xmlns:a16="http://schemas.microsoft.com/office/drawing/2014/main" val="1355468333"/>
                    </a:ext>
                  </a:extLst>
                </a:gridCol>
              </a:tblGrid>
              <a:tr h="519939">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Queries</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Response</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501024">
                <a:tc gridSpan="3">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1" dirty="0">
                          <a:solidFill>
                            <a:srgbClr val="007CB0"/>
                          </a:solidFill>
                          <a:latin typeface="Arial" panose="020B0604020202020204" pitchFamily="34" charset="0"/>
                          <a:cs typeface="Arial" panose="020B0604020202020204" pitchFamily="34" charset="0"/>
                        </a:rPr>
                        <a:t>RCOD Extension</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100" b="0" i="0" u="none" strike="noStrike">
                        <a:solidFill>
                          <a:srgbClr val="007CB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100" b="0" i="0" u="none" strike="noStrike" dirty="0">
                        <a:solidFill>
                          <a:srgbClr val="007CB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1071781"/>
                  </a:ext>
                </a:extLst>
              </a:tr>
              <a:tr h="1756242">
                <a:tc>
                  <a:txBody>
                    <a:bodyPr/>
                    <a:lstStyle/>
                    <a:p>
                      <a:pPr algn="ctr"/>
                      <a:r>
                        <a:rPr lang="en-ZA" sz="1100" b="1" dirty="0">
                          <a:solidFill>
                            <a:srgbClr val="007CB0"/>
                          </a:solidFill>
                          <a:latin typeface="Arial" panose="020B0604020202020204" pitchFamily="34" charset="0"/>
                          <a:cs typeface="Arial" panose="020B0604020202020204" pitchFamily="34" charset="0"/>
                        </a:rPr>
                        <a:t>5</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The actual downtime due to the flooding was about a week, but how does Breeze perceive that? Even if flooding is recognized as a force majeure, how much period will the extension be granted? </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fontAlgn="ctr"/>
                      <a:r>
                        <a:rPr lang="en-US" sz="1100" b="0" i="0" u="none" strike="noStrike" dirty="0">
                          <a:solidFill>
                            <a:srgbClr val="007CB0"/>
                          </a:solidFill>
                          <a:effectLst/>
                          <a:latin typeface="Arial" panose="020B0604020202020204" pitchFamily="34" charset="0"/>
                        </a:rPr>
                        <a:t> </a:t>
                      </a:r>
                      <a:br>
                        <a:rPr lang="en-US" sz="1100" b="0" i="0" u="none" strike="noStrike" dirty="0">
                          <a:solidFill>
                            <a:srgbClr val="007CB0"/>
                          </a:solidFill>
                          <a:effectLst/>
                          <a:latin typeface="Arial" panose="020B0604020202020204" pitchFamily="34" charset="0"/>
                        </a:rPr>
                      </a:br>
                      <a:br>
                        <a:rPr lang="en-US" sz="1100" b="0" i="0" u="none" strike="noStrike" dirty="0">
                          <a:solidFill>
                            <a:srgbClr val="007CB0"/>
                          </a:solidFill>
                          <a:effectLst/>
                          <a:latin typeface="Arial" panose="020B0604020202020204" pitchFamily="34" charset="0"/>
                        </a:rPr>
                      </a:br>
                      <a:r>
                        <a:rPr lang="en-US" sz="1100" b="0" i="0" u="none" strike="noStrike" dirty="0">
                          <a:solidFill>
                            <a:srgbClr val="007CB0"/>
                          </a:solidFill>
                          <a:effectLst/>
                          <a:latin typeface="Arial" panose="020B0604020202020204" pitchFamily="34" charset="0"/>
                        </a:rPr>
                        <a:t>Technical DD team to review the technical report and its applicability as force majeure event and confirm its impact</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23325528"/>
                  </a:ext>
                </a:extLst>
              </a:tr>
              <a:tr h="1756242">
                <a:tc>
                  <a:txBody>
                    <a:bodyPr/>
                    <a:lstStyle/>
                    <a:p>
                      <a:pPr algn="ctr"/>
                      <a:r>
                        <a:rPr lang="en-ZA" sz="1100" b="1">
                          <a:solidFill>
                            <a:srgbClr val="007CB0"/>
                          </a:solidFill>
                          <a:latin typeface="Arial" panose="020B0604020202020204" pitchFamily="34" charset="0"/>
                          <a:cs typeface="Arial" panose="020B0604020202020204" pitchFamily="34" charset="0"/>
                        </a:rPr>
                        <a:t>6</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If the extension of RCOD is granted, will the PPA contract period also be extended?</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fontAlgn="ctr"/>
                      <a:r>
                        <a:rPr lang="en-US" sz="1100" b="0" i="0" u="none" strike="noStrike" dirty="0">
                          <a:solidFill>
                            <a:srgbClr val="007CB0"/>
                          </a:solidFill>
                          <a:effectLst/>
                          <a:latin typeface="Arial" panose="020B0604020202020204" pitchFamily="34" charset="0"/>
                        </a:rPr>
                        <a:t>As per Clause 2.1 of the PPA, the contract period is defined as the earlier of 30 years from the Commercial Operation Date (COD), or The validity period of the Generation License.</a:t>
                      </a:r>
                    </a:p>
                    <a:p>
                      <a:pPr algn="just" fontAlgn="ctr"/>
                      <a:endParaRPr lang="en-US" sz="1100" b="0" i="0" u="none" strike="noStrike" dirty="0">
                        <a:solidFill>
                          <a:srgbClr val="007CB0"/>
                        </a:solidFill>
                        <a:effectLst/>
                        <a:latin typeface="Arial" panose="020B0604020202020204" pitchFamily="34" charset="0"/>
                      </a:endParaRPr>
                    </a:p>
                    <a:p>
                      <a:pPr algn="just" fontAlgn="ctr"/>
                      <a:r>
                        <a:rPr lang="en-US" sz="1100" b="0" i="0" u="none" strike="noStrike" dirty="0">
                          <a:solidFill>
                            <a:srgbClr val="007CB0"/>
                          </a:solidFill>
                          <a:effectLst/>
                          <a:latin typeface="Arial" panose="020B0604020202020204" pitchFamily="34" charset="0"/>
                        </a:rPr>
                        <a:t>Accordingly, if an extension to the RCOD is granted, the term of the PPA will also shift forward and commence from the revised COD. However, this extension is bounded by the overall validity of the Generation License. In other words, while the PPA term is linked to COD, it cannot exceed the duration specified in the Generation License. This interpretation has also been reaffirmed in discussions with NEA.</a:t>
                      </a:r>
                    </a:p>
                  </a:txBody>
                  <a:tcPr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13887932"/>
                  </a:ext>
                </a:extLst>
              </a:tr>
            </a:tbl>
          </a:graphicData>
        </a:graphic>
      </p:graphicFrame>
    </p:spTree>
    <p:extLst>
      <p:ext uri="{BB962C8B-B14F-4D97-AF65-F5344CB8AC3E}">
        <p14:creationId xmlns:p14="http://schemas.microsoft.com/office/powerpoint/2010/main" val="1063364724"/>
      </p:ext>
    </p:extLst>
  </p:cSld>
  <p:clrMapOvr>
    <a:masterClrMapping/>
  </p:clrMapOvr>
  <p:transition>
    <p:fade/>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solidFill>
                  <a:srgbClr val="007CB0"/>
                </a:solidFill>
                <a:latin typeface="Arial" panose="020B0604020202020204" pitchFamily="34" charset="0"/>
                <a:cs typeface="Arial" panose="020B0604020202020204" pitchFamily="34" charset="0"/>
              </a:rPr>
              <a:t>Response to the Comments on Interim Report</a:t>
            </a:r>
            <a:endParaRPr lang="en-GB" sz="1800" b="1">
              <a:solidFill>
                <a:srgbClr val="007CB0"/>
              </a:solidFill>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1436536006"/>
              </p:ext>
            </p:extLst>
          </p:nvPr>
        </p:nvGraphicFramePr>
        <p:xfrm>
          <a:off x="514883" y="987245"/>
          <a:ext cx="11195559" cy="4434385"/>
        </p:xfrm>
        <a:graphic>
          <a:graphicData uri="http://schemas.openxmlformats.org/drawingml/2006/table">
            <a:tbl>
              <a:tblPr firstRow="1" bandRow="1">
                <a:tableStyleId>{3B4B98B0-60AC-42C2-AFA5-B58CD77FA1E5}</a:tableStyleId>
              </a:tblPr>
              <a:tblGrid>
                <a:gridCol w="673895">
                  <a:extLst>
                    <a:ext uri="{9D8B030D-6E8A-4147-A177-3AD203B41FA5}">
                      <a16:colId xmlns:a16="http://schemas.microsoft.com/office/drawing/2014/main" val="2150755601"/>
                    </a:ext>
                  </a:extLst>
                </a:gridCol>
                <a:gridCol w="1485842">
                  <a:extLst>
                    <a:ext uri="{9D8B030D-6E8A-4147-A177-3AD203B41FA5}">
                      <a16:colId xmlns:a16="http://schemas.microsoft.com/office/drawing/2014/main" val="2807376156"/>
                    </a:ext>
                  </a:extLst>
                </a:gridCol>
                <a:gridCol w="9035822">
                  <a:extLst>
                    <a:ext uri="{9D8B030D-6E8A-4147-A177-3AD203B41FA5}">
                      <a16:colId xmlns:a16="http://schemas.microsoft.com/office/drawing/2014/main" val="1355468333"/>
                    </a:ext>
                  </a:extLst>
                </a:gridCol>
              </a:tblGrid>
              <a:tr h="452376">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Queries</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Response</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446329">
                <a:tc gridSpan="3">
                  <a:txBody>
                    <a:bodyPr/>
                    <a:lstStyle/>
                    <a:p>
                      <a:pPr algn="ctr"/>
                      <a:r>
                        <a:rPr lang="en-US" sz="1100" b="1">
                          <a:solidFill>
                            <a:srgbClr val="007CB0"/>
                          </a:solidFill>
                          <a:latin typeface="Arial" panose="020B0604020202020204" pitchFamily="34" charset="0"/>
                          <a:cs typeface="Arial" panose="020B0604020202020204" pitchFamily="34" charset="0"/>
                        </a:rPr>
                        <a:t>Sales of electricity to IEX/ alternative off-takers</a:t>
                      </a:r>
                      <a:endParaRPr lang="en-ZA" sz="1100" b="1">
                        <a:solidFill>
                          <a:srgbClr val="007CB0"/>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100" b="0" i="0" u="none" strike="noStrike">
                        <a:solidFill>
                          <a:srgbClr val="00000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100" b="0" i="0" u="none" strike="noStrike">
                        <a:solidFill>
                          <a:srgbClr val="00000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7662751"/>
                  </a:ext>
                </a:extLst>
              </a:tr>
              <a:tr h="1606206">
                <a:tc>
                  <a:txBody>
                    <a:bodyPr/>
                    <a:lstStyle/>
                    <a:p>
                      <a:pPr algn="ctr"/>
                      <a:r>
                        <a:rPr lang="en-ZA" sz="1100" b="1">
                          <a:solidFill>
                            <a:srgbClr val="007CB0"/>
                          </a:solidFill>
                          <a:latin typeface="Arial" panose="020B0604020202020204" pitchFamily="34" charset="0"/>
                          <a:cs typeface="Arial" panose="020B0604020202020204" pitchFamily="34" charset="0"/>
                        </a:rPr>
                        <a:t>1</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Regarding the planned revision of Nepal's electricity law, how long is it expected to take for IPPs to actually be able to do business with off-takers other than NEAs (domestic/IEX)?</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fontAlgn="ctr"/>
                      <a:r>
                        <a:rPr lang="en-US" sz="1100" b="0" i="0" u="none" strike="noStrike" dirty="0">
                          <a:solidFill>
                            <a:srgbClr val="007CB0"/>
                          </a:solidFill>
                          <a:effectLst/>
                          <a:latin typeface="Arial" panose="020B0604020202020204" pitchFamily="34" charset="0"/>
                        </a:rPr>
                        <a:t>Estimating the timeline for legislative reforms in Nepal, particularly the enactment of a new Electricity Act, is difficult given Nepal’s track record of political instability and frequent changes in administrative leadership. Although the proposed Electricity Act has been in development for several years and has reached Parliament on multiple occasions, it has not yet been enacted.</a:t>
                      </a:r>
                    </a:p>
                    <a:p>
                      <a:pPr algn="just" fontAlgn="ctr"/>
                      <a:endParaRPr lang="en-US" sz="1100" b="0" i="0" u="none" strike="noStrike" dirty="0">
                        <a:solidFill>
                          <a:srgbClr val="007CB0"/>
                        </a:solidFill>
                        <a:effectLst/>
                        <a:latin typeface="Arial" panose="020B0604020202020204" pitchFamily="34" charset="0"/>
                      </a:endParaRPr>
                    </a:p>
                    <a:p>
                      <a:pPr algn="just" fontAlgn="ctr"/>
                      <a:r>
                        <a:rPr lang="en-US" sz="1100" b="0" i="0" u="none" strike="noStrike" dirty="0">
                          <a:solidFill>
                            <a:srgbClr val="007CB0"/>
                          </a:solidFill>
                          <a:effectLst/>
                          <a:latin typeface="Arial" panose="020B0604020202020204" pitchFamily="34" charset="0"/>
                        </a:rPr>
                        <a:t>However, recent developments offer optimism. The Draft Electricity Bill 2080 and the Draft Open Access Directives by the Electricity Regulatory Commission (ERC) signal serious intent to reform the market. These initiatives are aimed at enabling IPPs to transact with off-takers beyond the NEA.</a:t>
                      </a:r>
                    </a:p>
                    <a:p>
                      <a:pPr algn="just" fontAlgn="ctr"/>
                      <a:endParaRPr lang="en-US" sz="1100" b="0" i="0" u="none" strike="noStrike" dirty="0">
                        <a:solidFill>
                          <a:srgbClr val="007CB0"/>
                        </a:solidFill>
                        <a:effectLst/>
                        <a:latin typeface="Arial" panose="020B0604020202020204" pitchFamily="34" charset="0"/>
                      </a:endParaRPr>
                    </a:p>
                    <a:p>
                      <a:pPr algn="just" fontAlgn="ctr"/>
                      <a:r>
                        <a:rPr lang="en-US" sz="1100" b="0" i="0" u="none" strike="noStrike" dirty="0">
                          <a:solidFill>
                            <a:srgbClr val="007CB0"/>
                          </a:solidFill>
                          <a:effectLst/>
                          <a:latin typeface="Arial" panose="020B0604020202020204" pitchFamily="34" charset="0"/>
                        </a:rPr>
                        <a:t>As per discussions with ERC officials, the Draft Open Access Directives will remain open for stakeholder and public feedback for a period of two months. Following this consultation, the directives will be revised and then submitted for final approval. Based on the current trajectory, the notification of these directives is expected to take at least six to nine months from the draft stage. Further, sub-regulations to implement open access like amendments to grid code, deviation settlement mechanism, connectivity regulation, grievance redressal etc. are still under preparation. </a:t>
                      </a:r>
                    </a:p>
                    <a:p>
                      <a:pPr algn="just" fontAlgn="ctr"/>
                      <a:endParaRPr lang="en-US" sz="1100" b="0" i="0" u="none" strike="noStrike" dirty="0">
                        <a:solidFill>
                          <a:srgbClr val="007CB0"/>
                        </a:solidFill>
                        <a:effectLst/>
                        <a:latin typeface="Arial" panose="020B0604020202020204" pitchFamily="34" charset="0"/>
                      </a:endParaRPr>
                    </a:p>
                    <a:p>
                      <a:pPr algn="just" fontAlgn="ctr"/>
                      <a:r>
                        <a:rPr lang="en-US" sz="1100" b="0" i="0" u="none" strike="noStrike" dirty="0">
                          <a:solidFill>
                            <a:srgbClr val="007CB0"/>
                          </a:solidFill>
                          <a:effectLst/>
                          <a:latin typeface="Arial" panose="020B0604020202020204" pitchFamily="34" charset="0"/>
                        </a:rPr>
                        <a:t>The Energy Development Roadmap 2081, released earlier this year, reinforces this direction by calling for the passage of the revised Electricity Act within six months. IPPAN has also been actively advocating for these reforms and is engaging closely with relevant government and regulatory bodies.</a:t>
                      </a:r>
                    </a:p>
                    <a:p>
                      <a:pPr algn="just" fontAlgn="ctr"/>
                      <a:endParaRPr lang="en-US" sz="1100" b="0" i="0" u="none" strike="noStrike" dirty="0">
                        <a:solidFill>
                          <a:srgbClr val="007CB0"/>
                        </a:solidFill>
                        <a:effectLst/>
                        <a:latin typeface="Arial" panose="020B0604020202020204" pitchFamily="34" charset="0"/>
                      </a:endParaRPr>
                    </a:p>
                    <a:p>
                      <a:pPr algn="just" fontAlgn="ctr"/>
                      <a:r>
                        <a:rPr lang="en-US" sz="1100" b="0" i="0" u="none" strike="noStrike" dirty="0">
                          <a:solidFill>
                            <a:srgbClr val="007CB0"/>
                          </a:solidFill>
                          <a:effectLst/>
                          <a:latin typeface="Arial" panose="020B0604020202020204" pitchFamily="34" charset="0"/>
                        </a:rPr>
                        <a:t>In summary, while it remains difficult to provide a precise timeline, the recent policy signals and regulatory steps suggest some optimism that IPPs may gain access to non-NEA off-takers.</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bl>
          </a:graphicData>
        </a:graphic>
      </p:graphicFrame>
    </p:spTree>
    <p:extLst>
      <p:ext uri="{BB962C8B-B14F-4D97-AF65-F5344CB8AC3E}">
        <p14:creationId xmlns:p14="http://schemas.microsoft.com/office/powerpoint/2010/main" val="265512297"/>
      </p:ext>
    </p:extLst>
  </p:cSld>
  <p:clrMapOvr>
    <a:masterClrMapping/>
  </p:clrMapOvr>
  <p:transition>
    <p:fade/>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solidFill>
                  <a:srgbClr val="007CB0"/>
                </a:solidFill>
                <a:latin typeface="Arial" panose="020B0604020202020204" pitchFamily="34" charset="0"/>
                <a:cs typeface="Arial" panose="020B0604020202020204" pitchFamily="34" charset="0"/>
              </a:rPr>
              <a:t>Response to the Comments on Interim Report</a:t>
            </a:r>
            <a:endParaRPr lang="en-GB" sz="1800" b="1">
              <a:solidFill>
                <a:srgbClr val="007CB0"/>
              </a:solidFill>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2164951780"/>
              </p:ext>
            </p:extLst>
          </p:nvPr>
        </p:nvGraphicFramePr>
        <p:xfrm>
          <a:off x="514883" y="987245"/>
          <a:ext cx="11195559" cy="5249725"/>
        </p:xfrm>
        <a:graphic>
          <a:graphicData uri="http://schemas.openxmlformats.org/drawingml/2006/table">
            <a:tbl>
              <a:tblPr firstRow="1" bandRow="1">
                <a:tableStyleId>{3B4B98B0-60AC-42C2-AFA5-B58CD77FA1E5}</a:tableStyleId>
              </a:tblPr>
              <a:tblGrid>
                <a:gridCol w="673895">
                  <a:extLst>
                    <a:ext uri="{9D8B030D-6E8A-4147-A177-3AD203B41FA5}">
                      <a16:colId xmlns:a16="http://schemas.microsoft.com/office/drawing/2014/main" val="2150755601"/>
                    </a:ext>
                  </a:extLst>
                </a:gridCol>
                <a:gridCol w="1485842">
                  <a:extLst>
                    <a:ext uri="{9D8B030D-6E8A-4147-A177-3AD203B41FA5}">
                      <a16:colId xmlns:a16="http://schemas.microsoft.com/office/drawing/2014/main" val="2807376156"/>
                    </a:ext>
                  </a:extLst>
                </a:gridCol>
                <a:gridCol w="7498447">
                  <a:extLst>
                    <a:ext uri="{9D8B030D-6E8A-4147-A177-3AD203B41FA5}">
                      <a16:colId xmlns:a16="http://schemas.microsoft.com/office/drawing/2014/main" val="1355468333"/>
                    </a:ext>
                  </a:extLst>
                </a:gridCol>
                <a:gridCol w="1537375">
                  <a:extLst>
                    <a:ext uri="{9D8B030D-6E8A-4147-A177-3AD203B41FA5}">
                      <a16:colId xmlns:a16="http://schemas.microsoft.com/office/drawing/2014/main" val="1941397846"/>
                    </a:ext>
                  </a:extLst>
                </a:gridCol>
              </a:tblGrid>
              <a:tr h="508246">
                <a:tc>
                  <a:txBody>
                    <a:bodyPr/>
                    <a:lstStyle/>
                    <a:p>
                      <a:pPr algn="ctr"/>
                      <a:r>
                        <a:rPr lang="en-ZA" sz="1100" b="0" dirty="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Queries</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Responses </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Reference in the report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367599">
                <a:tc gridSpan="4">
                  <a:txBody>
                    <a:bodyPr/>
                    <a:lstStyle/>
                    <a:p>
                      <a:pPr algn="ctr"/>
                      <a:r>
                        <a:rPr lang="en-US" sz="1100" b="1" dirty="0">
                          <a:solidFill>
                            <a:srgbClr val="007CB0"/>
                          </a:solidFill>
                          <a:latin typeface="Arial" panose="020B0604020202020204" pitchFamily="34" charset="0"/>
                          <a:cs typeface="Arial" panose="020B0604020202020204" pitchFamily="34" charset="0"/>
                        </a:rPr>
                        <a:t>Sales of electricity to IEX/ alternative off-takers</a:t>
                      </a:r>
                      <a:endParaRPr lang="en-ZA" sz="1100" b="1" dirty="0">
                        <a:solidFill>
                          <a:srgbClr val="007CB0"/>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100" b="0" i="0" u="none" strike="noStrike">
                        <a:solidFill>
                          <a:srgbClr val="00000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100" b="0" i="0" u="none" strike="noStrike">
                        <a:solidFill>
                          <a:srgbClr val="00000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100">
                        <a:latin typeface="Arial" panose="020B0604020202020204" pitchFamily="34" charset="0"/>
                        <a:cs typeface="Arial" panose="020B0604020202020204" pitchFamily="34" charset="0"/>
                      </a:endParaRP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7662751"/>
                  </a:ext>
                </a:extLst>
              </a:tr>
              <a:tr h="1765084">
                <a:tc>
                  <a:txBody>
                    <a:bodyPr/>
                    <a:lstStyle/>
                    <a:p>
                      <a:pPr algn="ctr"/>
                      <a:r>
                        <a:rPr lang="en-ZA" sz="1100" b="1">
                          <a:solidFill>
                            <a:srgbClr val="007CB0"/>
                          </a:solidFill>
                          <a:latin typeface="Arial" panose="020B0604020202020204" pitchFamily="34" charset="0"/>
                          <a:cs typeface="Arial" panose="020B0604020202020204" pitchFamily="34" charset="0"/>
                        </a:rPr>
                        <a:t>2</a:t>
                      </a:r>
                    </a:p>
                  </a:txBody>
                  <a:tcPr marL="9144" marR="9144"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Please share with us specific, quantitative data, such as supply and demand trends in electricity sales to India, risks in cross-border sales, and transmission congestion trends.</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Cross Border Power Export from Nepal to India has become more than 15 times in the last 5 years from FY 2019-20 (107 GWh) to FY 2023-24 (1943 GWh). There is also dependency of import of power from India during dry seasons and net value of power import for FY 2023-24 reached 1834 GWh. </a:t>
                      </a:r>
                    </a:p>
                    <a:p>
                      <a:pPr algn="l" fontAlgn="ctr"/>
                      <a:br>
                        <a:rPr lang="en-US" sz="1100" b="0" i="0" u="none" strike="noStrike">
                          <a:solidFill>
                            <a:srgbClr val="007CB0"/>
                          </a:solidFill>
                          <a:effectLst/>
                          <a:latin typeface="Arial" panose="020B0604020202020204" pitchFamily="34" charset="0"/>
                        </a:rPr>
                      </a:br>
                      <a:br>
                        <a:rPr lang="en-US" sz="1100" b="0" i="0" u="none" strike="noStrike">
                          <a:solidFill>
                            <a:srgbClr val="007CB0"/>
                          </a:solidFill>
                          <a:effectLst/>
                          <a:latin typeface="Arial" panose="020B0604020202020204" pitchFamily="34" charset="0"/>
                        </a:rPr>
                      </a:br>
                      <a:r>
                        <a:rPr lang="en-US" sz="1100" b="1" i="0" u="none" strike="noStrike">
                          <a:solidFill>
                            <a:srgbClr val="007CB0"/>
                          </a:solidFill>
                          <a:effectLst/>
                          <a:latin typeface="Arial" panose="020B0604020202020204" pitchFamily="34" charset="0"/>
                        </a:rPr>
                        <a:t>Risks in cross-border sales </a:t>
                      </a:r>
                      <a:r>
                        <a:rPr lang="en-US" sz="1100" b="0" i="0" u="none" strike="noStrike">
                          <a:solidFill>
                            <a:srgbClr val="007CB0"/>
                          </a:solidFill>
                          <a:effectLst/>
                          <a:latin typeface="Arial" panose="020B0604020202020204" pitchFamily="34" charset="0"/>
                        </a:rPr>
                        <a:t>– </a:t>
                      </a:r>
                    </a:p>
                    <a:p>
                      <a:pPr algn="l" fontAlgn="ctr"/>
                      <a:endParaRPr lang="en-US" sz="1100" b="0" i="0" u="none" strike="noStrike">
                        <a:solidFill>
                          <a:srgbClr val="007CB0"/>
                        </a:solidFill>
                        <a:effectLst/>
                        <a:latin typeface="Arial" panose="020B0604020202020204" pitchFamily="34" charset="0"/>
                      </a:endParaRPr>
                    </a:p>
                    <a:p>
                      <a:pPr marL="342900" lvl="1" indent="-171450" algn="just" fontAlgn="ctr">
                        <a:buFont typeface="Arial" panose="020B0604020202020204" pitchFamily="34" charset="0"/>
                        <a:buChar char="•"/>
                      </a:pPr>
                      <a:r>
                        <a:rPr lang="en-US" sz="1100" b="1" i="0" u="none" strike="noStrike">
                          <a:solidFill>
                            <a:srgbClr val="007CB0"/>
                          </a:solidFill>
                          <a:effectLst/>
                          <a:latin typeface="Arial" panose="020B0604020202020204" pitchFamily="34" charset="0"/>
                        </a:rPr>
                        <a:t>Dependency on NEA - </a:t>
                      </a:r>
                      <a:r>
                        <a:rPr lang="en-US" sz="1100" b="0" i="0" u="none" strike="noStrike">
                          <a:solidFill>
                            <a:srgbClr val="007CB0"/>
                          </a:solidFill>
                          <a:effectLst/>
                          <a:latin typeface="Arial" panose="020B0604020202020204" pitchFamily="34" charset="0"/>
                        </a:rPr>
                        <a:t>As per the prevailing regulatory regime, NEA will decide on the cross-border power sale of excess power from the plant and payment will be made in PPA Rates to the IPPs</a:t>
                      </a:r>
                      <a:r>
                        <a:rPr lang="en-US" sz="1100" b="1" i="0" u="none" strike="noStrike">
                          <a:solidFill>
                            <a:srgbClr val="007CB0"/>
                          </a:solidFill>
                          <a:effectLst/>
                          <a:latin typeface="Arial" panose="020B0604020202020204" pitchFamily="34" charset="0"/>
                        </a:rPr>
                        <a:t> </a:t>
                      </a:r>
                    </a:p>
                    <a:p>
                      <a:pPr marL="342900" lvl="1" indent="-171450" algn="just" fontAlgn="ctr">
                        <a:buFont typeface="Arial" panose="020B0604020202020204" pitchFamily="34" charset="0"/>
                        <a:buChar char="•"/>
                      </a:pPr>
                      <a:r>
                        <a:rPr lang="en-US" sz="1100" b="1" i="0" u="none" strike="noStrike">
                          <a:solidFill>
                            <a:srgbClr val="007CB0"/>
                          </a:solidFill>
                          <a:effectLst/>
                          <a:latin typeface="Arial" panose="020B0604020202020204" pitchFamily="34" charset="0"/>
                        </a:rPr>
                        <a:t>Approval requirement - </a:t>
                      </a:r>
                      <a:r>
                        <a:rPr lang="en-US" sz="1100" b="0" i="0" u="none" strike="noStrike">
                          <a:solidFill>
                            <a:srgbClr val="007CB0"/>
                          </a:solidFill>
                          <a:effectLst/>
                          <a:latin typeface="Arial" panose="020B0604020202020204" pitchFamily="34" charset="0"/>
                        </a:rPr>
                        <a:t>Export approval from the Government of India (GoI) is project-specific and subject to Cross Border Trade of Electricity (CBTE) guidelines</a:t>
                      </a:r>
                      <a:endParaRPr lang="en-US" sz="1100" b="1" i="0" u="none" strike="noStrike">
                        <a:solidFill>
                          <a:srgbClr val="007CB0"/>
                        </a:solidFill>
                        <a:effectLst/>
                        <a:latin typeface="Arial" panose="020B0604020202020204" pitchFamily="34" charset="0"/>
                      </a:endParaRPr>
                    </a:p>
                    <a:p>
                      <a:pPr marL="342900" lvl="1" indent="-171450" algn="just" fontAlgn="ctr">
                        <a:buFont typeface="Arial" panose="020B0604020202020204" pitchFamily="34" charset="0"/>
                        <a:buChar char="•"/>
                      </a:pPr>
                      <a:r>
                        <a:rPr lang="en-US" sz="1100" b="1" i="0" u="none" strike="noStrike">
                          <a:solidFill>
                            <a:srgbClr val="007CB0"/>
                          </a:solidFill>
                          <a:effectLst/>
                          <a:latin typeface="Arial" panose="020B0604020202020204" pitchFamily="34" charset="0"/>
                        </a:rPr>
                        <a:t>Transmission Congestion - </a:t>
                      </a:r>
                      <a:r>
                        <a:rPr lang="en-US" sz="1100" b="0" i="0" u="none" strike="noStrike">
                          <a:solidFill>
                            <a:srgbClr val="007CB0"/>
                          </a:solidFill>
                          <a:effectLst/>
                          <a:latin typeface="Arial" panose="020B0604020202020204" pitchFamily="34" charset="0"/>
                        </a:rPr>
                        <a:t>Real-time access to Indian power exchanges can be restricted due to grid congestion</a:t>
                      </a:r>
                    </a:p>
                    <a:p>
                      <a:pPr marL="0" lvl="0" indent="0" algn="l" fontAlgn="ctr">
                        <a:buFont typeface="Arial" panose="020B0604020202020204" pitchFamily="34" charset="0"/>
                        <a:buNone/>
                      </a:pPr>
                      <a:br>
                        <a:rPr lang="en-US" sz="1100" b="0" i="0" u="none" strike="noStrike">
                          <a:solidFill>
                            <a:srgbClr val="007CB0"/>
                          </a:solidFill>
                          <a:effectLst/>
                          <a:latin typeface="Arial" panose="020B0604020202020204" pitchFamily="34" charset="0"/>
                        </a:rPr>
                      </a:br>
                      <a:br>
                        <a:rPr lang="en-US" sz="1100" b="0" i="0" u="none" strike="noStrike">
                          <a:solidFill>
                            <a:srgbClr val="007CB0"/>
                          </a:solidFill>
                          <a:effectLst/>
                          <a:latin typeface="Arial" panose="020B0604020202020204" pitchFamily="34" charset="0"/>
                        </a:rPr>
                      </a:br>
                      <a:r>
                        <a:rPr lang="en-US" sz="1100" b="1" i="0" u="none" strike="noStrike">
                          <a:solidFill>
                            <a:srgbClr val="007CB0"/>
                          </a:solidFill>
                          <a:effectLst/>
                          <a:latin typeface="Arial" panose="020B0604020202020204" pitchFamily="34" charset="0"/>
                        </a:rPr>
                        <a:t>Transmission Congestion Trends </a:t>
                      </a:r>
                      <a:r>
                        <a:rPr lang="en-US" sz="1100" b="0" i="0" u="none" strike="noStrike">
                          <a:solidFill>
                            <a:srgbClr val="007CB0"/>
                          </a:solidFill>
                          <a:effectLst/>
                          <a:latin typeface="Arial" panose="020B0604020202020204" pitchFamily="34" charset="0"/>
                        </a:rPr>
                        <a:t>– </a:t>
                      </a:r>
                    </a:p>
                    <a:p>
                      <a:pPr marL="0" lvl="0" indent="0" algn="l" fontAlgn="ctr">
                        <a:buFont typeface="Arial" panose="020B0604020202020204" pitchFamily="34" charset="0"/>
                        <a:buNone/>
                      </a:pPr>
                      <a:endParaRPr lang="en-US" sz="1100" b="0" i="0" u="none" strike="noStrike">
                        <a:solidFill>
                          <a:srgbClr val="007CB0"/>
                        </a:solidFill>
                        <a:effectLst/>
                        <a:latin typeface="Arial" panose="020B0604020202020204" pitchFamily="34" charset="0"/>
                      </a:endParaRPr>
                    </a:p>
                    <a:p>
                      <a:pPr marL="342900" lvl="0" indent="-171450" algn="just" fontAlgn="ctr">
                        <a:buFont typeface="Arial" panose="020B0604020202020204" pitchFamily="34" charset="0"/>
                        <a:buChar char="•"/>
                      </a:pPr>
                      <a:r>
                        <a:rPr lang="en-US" sz="1100" b="0" i="0" u="none" strike="noStrike">
                          <a:solidFill>
                            <a:srgbClr val="007CB0"/>
                          </a:solidFill>
                          <a:effectLst/>
                          <a:latin typeface="Arial" panose="020B0604020202020204" pitchFamily="34" charset="0"/>
                        </a:rPr>
                        <a:t>400 kV Dhalkebar-Muzzafarpur cross-border transmission line mainly involved in the cross-border transactions between India and Nepal. </a:t>
                      </a:r>
                    </a:p>
                    <a:p>
                      <a:pPr marL="342900" lvl="0" indent="-171450" algn="just" fontAlgn="ctr">
                        <a:buFont typeface="Arial" panose="020B0604020202020204" pitchFamily="34" charset="0"/>
                        <a:buChar char="•"/>
                      </a:pPr>
                      <a:r>
                        <a:rPr lang="en-US" sz="1100" b="0" i="0" u="none" strike="noStrike">
                          <a:solidFill>
                            <a:srgbClr val="007CB0"/>
                          </a:solidFill>
                          <a:effectLst/>
                          <a:latin typeface="Arial" panose="020B0604020202020204" pitchFamily="34" charset="0"/>
                        </a:rPr>
                        <a:t>As per the analysis of the latest available data (June 2024 to November 2024), considering 1000 MW as the Available Transmission Capacity of the transmission line, there is 75%-85% (approx.) utilization on the 400 kV Dhalkebar – Muzaffarpur transmission line during the dry months.</a:t>
                      </a:r>
                    </a:p>
                    <a:p>
                      <a:pPr marL="342900" lvl="0" indent="-171450" algn="just" fontAlgn="ctr">
                        <a:buFont typeface="Arial" panose="020B0604020202020204" pitchFamily="34" charset="0"/>
                        <a:buChar char="•"/>
                      </a:pPr>
                      <a:r>
                        <a:rPr lang="en-US" sz="1100" b="1" i="0" u="none" strike="noStrike">
                          <a:solidFill>
                            <a:srgbClr val="007CB0"/>
                          </a:solidFill>
                          <a:effectLst/>
                          <a:latin typeface="Arial" panose="020B0604020202020204" pitchFamily="34" charset="0"/>
                        </a:rPr>
                        <a:t>Based on the analysis of data of Monthly Grid Disturbance/Incidence reports from March 2023 to May 2025, we have not found any instance in which there were any interruptions reported in 400 kV Dhalkebar – Muzaffarpur transmission line.</a:t>
                      </a:r>
                      <a:endParaRPr lang="en-US" sz="1100" b="0" i="0" u="none" strike="noStrike">
                        <a:solidFill>
                          <a:srgbClr val="007CB0"/>
                        </a:solidFill>
                        <a:effectLst/>
                        <a:latin typeface="Arial" panose="020B0604020202020204" pitchFamily="34" charset="0"/>
                      </a:endParaRPr>
                    </a:p>
                  </a:txBody>
                  <a:tcPr marT="91440" marB="9144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100" b="1" i="0" u="none" strike="noStrike">
                          <a:solidFill>
                            <a:srgbClr val="007CB0"/>
                          </a:solidFill>
                          <a:effectLst/>
                          <a:latin typeface="Arial" panose="020B0604020202020204" pitchFamily="34" charset="0"/>
                          <a:hlinkClick r:id="rId6" action="ppaction://hlinksldjump"/>
                        </a:rPr>
                        <a:t>Page 46 </a:t>
                      </a:r>
                      <a:r>
                        <a:rPr lang="en-US" sz="1100" b="0" i="0" u="none" strike="noStrike">
                          <a:solidFill>
                            <a:srgbClr val="007CB0"/>
                          </a:solidFill>
                          <a:effectLst/>
                          <a:latin typeface="Arial" panose="020B0604020202020204" pitchFamily="34" charset="0"/>
                        </a:rPr>
                        <a:t>of includes the details of Cross Border Power Export from Nepal to India during past 5 years</a:t>
                      </a:r>
                    </a:p>
                    <a:p>
                      <a:pPr marL="0" indent="0" algn="l">
                        <a:buFont typeface="Arial" panose="020B0604020202020204" pitchFamily="34" charset="0"/>
                        <a:buNone/>
                      </a:pPr>
                      <a:endParaRPr lang="en-US" sz="1100" b="0" i="0" u="none" strike="noStrike">
                        <a:solidFill>
                          <a:srgbClr val="007CB0"/>
                        </a:solidFill>
                        <a:effectLst/>
                        <a:latin typeface="Arial" panose="020B0604020202020204" pitchFamily="34" charset="0"/>
                      </a:endParaRPr>
                    </a:p>
                    <a:p>
                      <a:pPr marL="171450" marR="0" lvl="0" indent="-171450" algn="l" defTabSz="914335"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1" i="0" u="none" strike="noStrike" kern="1200">
                          <a:solidFill>
                            <a:srgbClr val="007CB0"/>
                          </a:solidFill>
                          <a:effectLst/>
                          <a:latin typeface="Arial" panose="020B0604020202020204" pitchFamily="34" charset="0"/>
                          <a:ea typeface="+mn-ea"/>
                          <a:cs typeface="+mn-cs"/>
                          <a:hlinkClick r:id="rId7" action="ppaction://hlinksldjump"/>
                        </a:rPr>
                        <a:t>Page 102 </a:t>
                      </a:r>
                      <a:r>
                        <a:rPr lang="en-US" sz="1100" b="0" i="0" u="none" strike="noStrike" kern="1200">
                          <a:solidFill>
                            <a:srgbClr val="007CB0"/>
                          </a:solidFill>
                          <a:effectLst/>
                          <a:latin typeface="Arial" panose="020B0604020202020204" pitchFamily="34" charset="0"/>
                          <a:ea typeface="+mn-ea"/>
                          <a:cs typeface="+mn-cs"/>
                        </a:rPr>
                        <a:t>- Analysis of the supply and demand trends in electricity sales to India in past years</a:t>
                      </a:r>
                    </a:p>
                    <a:p>
                      <a:pPr marL="171450" marR="0" lvl="0" indent="-171450" algn="l" defTabSz="914335"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100" b="0" i="0" u="none" strike="noStrike" kern="1200">
                        <a:solidFill>
                          <a:srgbClr val="007CB0"/>
                        </a:solidFill>
                        <a:effectLst/>
                        <a:latin typeface="Arial" panose="020B0604020202020204" pitchFamily="34" charset="0"/>
                        <a:ea typeface="+mn-ea"/>
                        <a:cs typeface="+mn-cs"/>
                      </a:endParaRPr>
                    </a:p>
                    <a:p>
                      <a:pPr marL="171450" marR="0" lvl="0" indent="-171450" algn="l" defTabSz="914335"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0" i="0" u="none" strike="noStrike" kern="1200">
                          <a:solidFill>
                            <a:srgbClr val="007CB0"/>
                          </a:solidFill>
                          <a:effectLst/>
                          <a:latin typeface="Arial" panose="020B0604020202020204" pitchFamily="34" charset="0"/>
                          <a:ea typeface="+mn-ea"/>
                          <a:cs typeface="+mn-cs"/>
                        </a:rPr>
                        <a:t> </a:t>
                      </a:r>
                      <a:r>
                        <a:rPr lang="en-US" sz="1100" b="1" i="0" u="none" strike="noStrike" kern="1200">
                          <a:solidFill>
                            <a:srgbClr val="007CB0"/>
                          </a:solidFill>
                          <a:effectLst/>
                          <a:latin typeface="Arial" panose="020B0604020202020204" pitchFamily="34" charset="0"/>
                          <a:ea typeface="+mn-ea"/>
                          <a:cs typeface="+mn-cs"/>
                          <a:hlinkClick r:id="rId8" action="ppaction://hlinksldjump"/>
                        </a:rPr>
                        <a:t>Page 103 </a:t>
                      </a:r>
                      <a:r>
                        <a:rPr lang="en-US" sz="1100" b="0" i="0" u="none" strike="noStrike" kern="1200">
                          <a:solidFill>
                            <a:srgbClr val="007CB0"/>
                          </a:solidFill>
                          <a:effectLst/>
                          <a:latin typeface="Arial" panose="020B0604020202020204" pitchFamily="34" charset="0"/>
                          <a:ea typeface="+mn-ea"/>
                          <a:cs typeface="+mn-cs"/>
                        </a:rPr>
                        <a:t>- Analysis of the transmission utilization of 400 kV Dhalkebar-Muzzafarpur lines </a:t>
                      </a:r>
                    </a:p>
                    <a:p>
                      <a:pPr algn="ctr"/>
                      <a:endParaRPr lang="en-US" sz="1100">
                        <a:solidFill>
                          <a:srgbClr val="007CB0"/>
                        </a:solidFill>
                        <a:latin typeface="Arial" panose="020B0604020202020204" pitchFamily="34" charset="0"/>
                        <a:cs typeface="Arial" panose="020B0604020202020204" pitchFamily="34" charset="0"/>
                      </a:endParaRPr>
                    </a:p>
                  </a:txBody>
                  <a:tcPr marT="91440" marB="91440"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33695119"/>
                  </a:ext>
                </a:extLst>
              </a:tr>
            </a:tbl>
          </a:graphicData>
        </a:graphic>
      </p:graphicFrame>
    </p:spTree>
    <p:extLst>
      <p:ext uri="{BB962C8B-B14F-4D97-AF65-F5344CB8AC3E}">
        <p14:creationId xmlns:p14="http://schemas.microsoft.com/office/powerpoint/2010/main" val="3418324718"/>
      </p:ext>
    </p:extLst>
  </p:cSld>
  <p:clrMapOvr>
    <a:masterClrMapping/>
  </p:clrMapOvr>
  <p:transition>
    <p:fade/>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solidFill>
                  <a:srgbClr val="007CB0"/>
                </a:solidFill>
                <a:latin typeface="Arial" panose="020B0604020202020204" pitchFamily="34" charset="0"/>
                <a:cs typeface="Arial" panose="020B0604020202020204" pitchFamily="34" charset="0"/>
              </a:rPr>
              <a:t>Response </a:t>
            </a:r>
            <a:r>
              <a:rPr lang="en-US" sz="1800" b="1" dirty="0">
                <a:solidFill>
                  <a:srgbClr val="007CB0"/>
                </a:solidFill>
                <a:latin typeface="Arial" panose="020B0604020202020204" pitchFamily="34" charset="0"/>
                <a:cs typeface="Arial" panose="020B0604020202020204" pitchFamily="34" charset="0"/>
              </a:rPr>
              <a:t>to the Comments on Interim Report</a:t>
            </a:r>
            <a:endParaRPr lang="en-GB" sz="1800" b="1" dirty="0">
              <a:solidFill>
                <a:srgbClr val="007CB0"/>
              </a:solidFill>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1832331264"/>
              </p:ext>
            </p:extLst>
          </p:nvPr>
        </p:nvGraphicFramePr>
        <p:xfrm>
          <a:off x="514883" y="987245"/>
          <a:ext cx="11195559" cy="5246414"/>
        </p:xfrm>
        <a:graphic>
          <a:graphicData uri="http://schemas.openxmlformats.org/drawingml/2006/table">
            <a:tbl>
              <a:tblPr firstRow="1" bandRow="1">
                <a:tableStyleId>{3B4B98B0-60AC-42C2-AFA5-B58CD77FA1E5}</a:tableStyleId>
              </a:tblPr>
              <a:tblGrid>
                <a:gridCol w="673895">
                  <a:extLst>
                    <a:ext uri="{9D8B030D-6E8A-4147-A177-3AD203B41FA5}">
                      <a16:colId xmlns:a16="http://schemas.microsoft.com/office/drawing/2014/main" val="2150755601"/>
                    </a:ext>
                  </a:extLst>
                </a:gridCol>
                <a:gridCol w="2571692">
                  <a:extLst>
                    <a:ext uri="{9D8B030D-6E8A-4147-A177-3AD203B41FA5}">
                      <a16:colId xmlns:a16="http://schemas.microsoft.com/office/drawing/2014/main" val="2807376156"/>
                    </a:ext>
                  </a:extLst>
                </a:gridCol>
                <a:gridCol w="6412597">
                  <a:extLst>
                    <a:ext uri="{9D8B030D-6E8A-4147-A177-3AD203B41FA5}">
                      <a16:colId xmlns:a16="http://schemas.microsoft.com/office/drawing/2014/main" val="1355468333"/>
                    </a:ext>
                  </a:extLst>
                </a:gridCol>
                <a:gridCol w="1537375">
                  <a:extLst>
                    <a:ext uri="{9D8B030D-6E8A-4147-A177-3AD203B41FA5}">
                      <a16:colId xmlns:a16="http://schemas.microsoft.com/office/drawing/2014/main" val="1941397846"/>
                    </a:ext>
                  </a:extLst>
                </a:gridCol>
              </a:tblGrid>
              <a:tr h="520927">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Queries</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Responses </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Reference in the report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354918">
                <a:tc gridSpan="4">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1" dirty="0">
                          <a:solidFill>
                            <a:srgbClr val="007CB0"/>
                          </a:solidFill>
                          <a:latin typeface="Arial" panose="020B0604020202020204" pitchFamily="34" charset="0"/>
                          <a:cs typeface="Arial" panose="020B0604020202020204" pitchFamily="34" charset="0"/>
                        </a:rPr>
                        <a:t>Sales of electricity to IEX/ alternative off-takers</a:t>
                      </a:r>
                      <a:endParaRPr lang="en-ZA" sz="1100" b="1" dirty="0">
                        <a:solidFill>
                          <a:srgbClr val="007CB0"/>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100" b="0" i="0" u="none" strike="noStrike" dirty="0">
                        <a:solidFill>
                          <a:srgbClr val="007CB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fontAlgn="ctr"/>
                      <a:endParaRPr lang="en-US" sz="1100" b="0" i="0" u="none" strike="noStrike">
                        <a:solidFill>
                          <a:srgbClr val="007CB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100" dirty="0">
                        <a:solidFill>
                          <a:srgbClr val="007CB0"/>
                        </a:solidFill>
                        <a:latin typeface="Arial" panose="020B0604020202020204" pitchFamily="34" charset="0"/>
                        <a:cs typeface="Arial" panose="020B0604020202020204" pitchFamily="34" charset="0"/>
                      </a:endParaRP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71493301"/>
                  </a:ext>
                </a:extLst>
              </a:tr>
              <a:tr h="1965290">
                <a:tc>
                  <a:txBody>
                    <a:bodyPr/>
                    <a:lstStyle/>
                    <a:p>
                      <a:pPr algn="ctr"/>
                      <a:r>
                        <a:rPr lang="en-ZA" sz="1100" b="1">
                          <a:solidFill>
                            <a:srgbClr val="007CB0"/>
                          </a:solidFill>
                          <a:latin typeface="Arial" panose="020B0604020202020204" pitchFamily="34" charset="0"/>
                          <a:cs typeface="Arial" panose="020B0604020202020204" pitchFamily="34" charset="0"/>
                        </a:rPr>
                        <a:t>3</a:t>
                      </a:r>
                    </a:p>
                  </a:txBody>
                  <a:tcPr marL="9144" marR="9144"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At present, it is understood that electricity can only be sold to India through the NEA, but is there room for PJ ST to enter the Indian IEX market in the future?</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fontAlgn="ctr"/>
                      <a:r>
                        <a:rPr lang="en-US" sz="1100" b="0" i="0" u="none" strike="noStrike">
                          <a:solidFill>
                            <a:srgbClr val="007CB0"/>
                          </a:solidFill>
                          <a:effectLst/>
                          <a:latin typeface="Arial" panose="020B0604020202020204" pitchFamily="34" charset="0"/>
                        </a:rPr>
                        <a:t>Under Nepal’s current regulatory framework, cross-border electricity sales to India are permitted through the Nepal Electricity Authority (NEA). NEA functions as the bulk purchaser of electricity under all Power Purchase Agreements (PPAs), and payments for cross-border transactions are made at the agreed PPA rates.</a:t>
                      </a:r>
                    </a:p>
                    <a:p>
                      <a:pPr algn="just" fontAlgn="ctr"/>
                      <a:br>
                        <a:rPr lang="en-US" sz="1100" b="0" i="0" u="none" strike="noStrike">
                          <a:solidFill>
                            <a:srgbClr val="007CB0"/>
                          </a:solidFill>
                          <a:effectLst/>
                          <a:latin typeface="Arial" panose="020B0604020202020204" pitchFamily="34" charset="0"/>
                        </a:rPr>
                      </a:br>
                      <a:r>
                        <a:rPr lang="en-US" sz="1100" b="0" i="0" u="none" strike="noStrike">
                          <a:solidFill>
                            <a:srgbClr val="007CB0"/>
                          </a:solidFill>
                          <a:effectLst/>
                          <a:latin typeface="Arial" panose="020B0604020202020204" pitchFamily="34" charset="0"/>
                        </a:rPr>
                        <a:t>The Government of Nepal is currently undertaking initiatives to promote cross-border electricity trade. In June 2025, the Draft Open Access Directives were published, aiming to facilitate such transactions. Additionally, the Draft Electricity Bill, 2080, currently under parliamentary review includes provisions designed to support cross-border electricity trade.</a:t>
                      </a:r>
                      <a:r>
                        <a:rPr lang="en-US" sz="1100" b="1" i="1" u="none" strike="noStrike">
                          <a:solidFill>
                            <a:srgbClr val="007CB0"/>
                          </a:solidFill>
                          <a:effectLst/>
                          <a:latin typeface="Arial" panose="020B0604020202020204" pitchFamily="34" charset="0"/>
                        </a:rPr>
                        <a:t> If these bill and directives are enacted without any deviating amendments, PJ ST may have the opportunity to participate in the Indian power market in the future subject to applicable GoI rules.</a:t>
                      </a:r>
                      <a:endParaRPr lang="en-US" sz="1100" b="0" i="0" u="none" strike="noStrike">
                        <a:solidFill>
                          <a:srgbClr val="007CB0"/>
                        </a:solidFill>
                        <a:effectLst/>
                        <a:latin typeface="Arial" panose="020B0604020202020204" pitchFamily="34" charset="0"/>
                      </a:endParaRPr>
                    </a:p>
                  </a:txBody>
                  <a:tcPr marT="91440" marB="9144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dirty="0">
                        <a:solidFill>
                          <a:srgbClr val="007CB0"/>
                        </a:solidFill>
                        <a:latin typeface="Arial" panose="020B0604020202020204" pitchFamily="34" charset="0"/>
                        <a:cs typeface="Arial" panose="020B0604020202020204" pitchFamily="34" charset="0"/>
                      </a:endParaRPr>
                    </a:p>
                  </a:txBody>
                  <a:tcPr marT="91440" marB="91440"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r h="2343649">
                <a:tc>
                  <a:txBody>
                    <a:bodyPr/>
                    <a:lstStyle/>
                    <a:p>
                      <a:pPr algn="ctr"/>
                      <a:r>
                        <a:rPr lang="en-ZA" sz="1100" b="1">
                          <a:solidFill>
                            <a:srgbClr val="007CB0"/>
                          </a:solidFill>
                          <a:latin typeface="Arial" panose="020B0604020202020204" pitchFamily="34" charset="0"/>
                          <a:cs typeface="Arial" panose="020B0604020202020204" pitchFamily="34" charset="0"/>
                        </a:rPr>
                        <a:t>4</a:t>
                      </a:r>
                    </a:p>
                  </a:txBody>
                  <a:tcPr marL="9144" marR="9144" marT="9144" marB="9144"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Is there a trade of electricity between NEA and purely private IPP operators, rather than NEA and state-owned (i.e. NPVN)? Which companies in Nepal will be competitors if Stream enter the IEX market?</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fontAlgn="ctr"/>
                      <a:r>
                        <a:rPr lang="en-US" sz="1100" b="0" i="0" u="none" strike="noStrike" dirty="0">
                          <a:solidFill>
                            <a:srgbClr val="007CB0"/>
                          </a:solidFill>
                          <a:effectLst/>
                          <a:latin typeface="Arial" panose="020B0604020202020204" pitchFamily="34" charset="0"/>
                        </a:rPr>
                        <a:t>At present, NEA is a bulk purchaser of power from all IPPs in Nepal and payments for cross-border transactions are made at the agreed PPA rates.</a:t>
                      </a:r>
                    </a:p>
                    <a:p>
                      <a:pPr algn="l" fontAlgn="ctr"/>
                      <a:br>
                        <a:rPr lang="en-US" sz="1100" b="0" i="0" u="none" strike="noStrike" dirty="0">
                          <a:solidFill>
                            <a:srgbClr val="007CB0"/>
                          </a:solidFill>
                          <a:effectLst/>
                          <a:latin typeface="Arial" panose="020B0604020202020204" pitchFamily="34" charset="0"/>
                        </a:rPr>
                      </a:br>
                      <a:r>
                        <a:rPr lang="en-US" sz="1100" b="0" i="0" u="none" strike="noStrike" dirty="0">
                          <a:solidFill>
                            <a:srgbClr val="007CB0"/>
                          </a:solidFill>
                          <a:effectLst/>
                          <a:latin typeface="Arial" panose="020B0604020202020204" pitchFamily="34" charset="0"/>
                        </a:rPr>
                        <a:t>All the IPPs companies in Nepal (existing and upcoming) who have inclination towards participation in CBET/IEX markets and have contracted capacities under Take and Pay obligations will be the probable competitors to Stream in IEX market. </a:t>
                      </a:r>
                      <a:br>
                        <a:rPr lang="en-US" sz="1100" b="0" i="0" u="none" strike="noStrike" dirty="0">
                          <a:solidFill>
                            <a:srgbClr val="007CB0"/>
                          </a:solidFill>
                          <a:effectLst/>
                          <a:latin typeface="Arial" panose="020B0604020202020204" pitchFamily="34" charset="0"/>
                        </a:rPr>
                      </a:br>
                      <a:endParaRPr lang="en-US" sz="1100" b="0" i="0" u="none" strike="noStrike" dirty="0">
                        <a:solidFill>
                          <a:srgbClr val="007CB0"/>
                        </a:solidFill>
                        <a:effectLst/>
                        <a:latin typeface="Arial" panose="020B0604020202020204" pitchFamily="34" charset="0"/>
                      </a:endParaRPr>
                    </a:p>
                  </a:txBody>
                  <a:tcPr marT="91440" marB="9144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100" b="1" i="0" u="none" strike="noStrike">
                          <a:solidFill>
                            <a:srgbClr val="007CB0"/>
                          </a:solidFill>
                          <a:effectLst/>
                          <a:latin typeface="Arial" panose="020B0604020202020204" pitchFamily="34" charset="0"/>
                          <a:hlinkClick r:id="rId6" action="ppaction://hlinksldjump"/>
                        </a:rPr>
                        <a:t>Page 27 </a:t>
                      </a:r>
                      <a:r>
                        <a:rPr lang="en-US" sz="1100" b="0" i="0" u="none" strike="noStrike">
                          <a:solidFill>
                            <a:srgbClr val="007CB0"/>
                          </a:solidFill>
                          <a:effectLst/>
                          <a:latin typeface="Arial" panose="020B0604020202020204" pitchFamily="34" charset="0"/>
                        </a:rPr>
                        <a:t>- A few projects having take and pay obligations have been detailed.</a:t>
                      </a:r>
                      <a:endParaRPr lang="en-US" sz="1100" b="0">
                        <a:solidFill>
                          <a:srgbClr val="007CB0"/>
                        </a:solidFill>
                        <a:latin typeface="Arial" panose="020B0604020202020204" pitchFamily="34" charset="0"/>
                        <a:cs typeface="Arial" panose="020B0604020202020204" pitchFamily="34" charset="0"/>
                      </a:endParaRPr>
                    </a:p>
                  </a:txBody>
                  <a:tcPr marT="91440" marB="91440"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33695119"/>
                  </a:ext>
                </a:extLst>
              </a:tr>
            </a:tbl>
          </a:graphicData>
        </a:graphic>
      </p:graphicFrame>
    </p:spTree>
    <p:extLst>
      <p:ext uri="{BB962C8B-B14F-4D97-AF65-F5344CB8AC3E}">
        <p14:creationId xmlns:p14="http://schemas.microsoft.com/office/powerpoint/2010/main" val="3315346106"/>
      </p:ext>
    </p:extLst>
  </p:cSld>
  <p:clrMapOvr>
    <a:masterClrMapping/>
  </p:clrMapOvr>
  <p:transition>
    <p:fade/>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solidFill>
                  <a:srgbClr val="007CB0"/>
                </a:solidFill>
                <a:latin typeface="Arial" panose="020B0604020202020204" pitchFamily="34" charset="0"/>
                <a:cs typeface="Arial" panose="020B0604020202020204" pitchFamily="34" charset="0"/>
              </a:rPr>
              <a:t>Response </a:t>
            </a:r>
            <a:r>
              <a:rPr lang="en-US" sz="1800" b="1" dirty="0">
                <a:solidFill>
                  <a:srgbClr val="007CB0"/>
                </a:solidFill>
                <a:latin typeface="Arial" panose="020B0604020202020204" pitchFamily="34" charset="0"/>
                <a:cs typeface="Arial" panose="020B0604020202020204" pitchFamily="34" charset="0"/>
              </a:rPr>
              <a:t>to the Comments on Interim Report</a:t>
            </a:r>
            <a:endParaRPr lang="en-GB" sz="1800" b="1" dirty="0">
              <a:solidFill>
                <a:srgbClr val="007CB0"/>
              </a:solidFill>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1241922943"/>
              </p:ext>
            </p:extLst>
          </p:nvPr>
        </p:nvGraphicFramePr>
        <p:xfrm>
          <a:off x="514883" y="987244"/>
          <a:ext cx="11195559" cy="5520475"/>
        </p:xfrm>
        <a:graphic>
          <a:graphicData uri="http://schemas.openxmlformats.org/drawingml/2006/table">
            <a:tbl>
              <a:tblPr firstRow="1" bandRow="1">
                <a:tableStyleId>{3B4B98B0-60AC-42C2-AFA5-B58CD77FA1E5}</a:tableStyleId>
              </a:tblPr>
              <a:tblGrid>
                <a:gridCol w="673895">
                  <a:extLst>
                    <a:ext uri="{9D8B030D-6E8A-4147-A177-3AD203B41FA5}">
                      <a16:colId xmlns:a16="http://schemas.microsoft.com/office/drawing/2014/main" val="2150755601"/>
                    </a:ext>
                  </a:extLst>
                </a:gridCol>
                <a:gridCol w="3596164">
                  <a:extLst>
                    <a:ext uri="{9D8B030D-6E8A-4147-A177-3AD203B41FA5}">
                      <a16:colId xmlns:a16="http://schemas.microsoft.com/office/drawing/2014/main" val="2807376156"/>
                    </a:ext>
                  </a:extLst>
                </a:gridCol>
                <a:gridCol w="5388125">
                  <a:extLst>
                    <a:ext uri="{9D8B030D-6E8A-4147-A177-3AD203B41FA5}">
                      <a16:colId xmlns:a16="http://schemas.microsoft.com/office/drawing/2014/main" val="1355468333"/>
                    </a:ext>
                  </a:extLst>
                </a:gridCol>
                <a:gridCol w="1537375">
                  <a:extLst>
                    <a:ext uri="{9D8B030D-6E8A-4147-A177-3AD203B41FA5}">
                      <a16:colId xmlns:a16="http://schemas.microsoft.com/office/drawing/2014/main" val="1941397846"/>
                    </a:ext>
                  </a:extLst>
                </a:gridCol>
              </a:tblGrid>
              <a:tr h="512522">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Queries</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Responses </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Reference in the report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339920">
                <a:tc gridSpan="4">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1" dirty="0">
                          <a:solidFill>
                            <a:srgbClr val="007CB0"/>
                          </a:solidFill>
                          <a:latin typeface="Arial" panose="020B0604020202020204" pitchFamily="34" charset="0"/>
                          <a:cs typeface="Arial" panose="020B0604020202020204" pitchFamily="34" charset="0"/>
                        </a:rPr>
                        <a:t>Sales of electricity to IEX/ alternative off-takers</a:t>
                      </a:r>
                      <a:endParaRPr lang="en-ZA" sz="1100" b="1" dirty="0">
                        <a:solidFill>
                          <a:srgbClr val="007CB0"/>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100" b="0" i="0" u="none" strike="noStrike" dirty="0">
                        <a:solidFill>
                          <a:srgbClr val="007CB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100" b="0" i="0" u="none" strike="noStrike" dirty="0">
                        <a:solidFill>
                          <a:srgbClr val="007CB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100" dirty="0">
                        <a:solidFill>
                          <a:srgbClr val="007CB0"/>
                        </a:solidFill>
                        <a:latin typeface="Arial" panose="020B0604020202020204" pitchFamily="34" charset="0"/>
                        <a:cs typeface="Arial" panose="020B0604020202020204" pitchFamily="34" charset="0"/>
                      </a:endParaRP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1766724"/>
                  </a:ext>
                </a:extLst>
              </a:tr>
              <a:tr h="2287938">
                <a:tc>
                  <a:txBody>
                    <a:bodyPr/>
                    <a:lstStyle/>
                    <a:p>
                      <a:pPr algn="ctr"/>
                      <a:r>
                        <a:rPr lang="en-ZA" sz="1100" b="1">
                          <a:solidFill>
                            <a:srgbClr val="007CB0"/>
                          </a:solidFill>
                          <a:latin typeface="Arial" panose="020B0604020202020204" pitchFamily="34" charset="0"/>
                          <a:cs typeface="Arial" panose="020B0604020202020204" pitchFamily="34" charset="0"/>
                        </a:rPr>
                        <a:t>5</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On slide pg.87, there is a time when the price of electricity in the IEX falls below Rs 3. In that case, it is expected that the NEA will refuse to purchase power under the terms of the Take and Pay, because IEX selling price is lower than PPA Take and Pay price. Therefore, the client would like to know how frequent the price of electricity in the IEX falls below Rs 3 and what kind of transactions were made at that time (whether the NEA chose to not sell electricity to India). In addition, the client would like to receive any forecast data on the reserve rate and future prospects, and to predict the amount of additional energy purchased by the NEA for PJ ST.</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just" fontAlgn="ctr"/>
                      <a:r>
                        <a:rPr lang="en-US" sz="1100" b="0" i="0" u="none" strike="noStrike" dirty="0">
                          <a:solidFill>
                            <a:srgbClr val="007CB0"/>
                          </a:solidFill>
                          <a:effectLst/>
                          <a:latin typeface="Arial" panose="020B0604020202020204" pitchFamily="34" charset="0"/>
                        </a:rPr>
                        <a:t>As per the information shared, NEA can potentially sell the electricity from the target's hydro power plant in wet season (monsoon).</a:t>
                      </a:r>
                    </a:p>
                    <a:p>
                      <a:pPr algn="just" fontAlgn="ctr"/>
                      <a:endParaRPr lang="en-US" sz="1100" b="0" i="0" u="none" strike="noStrike" dirty="0">
                        <a:solidFill>
                          <a:srgbClr val="007CB0"/>
                        </a:solidFill>
                        <a:effectLst/>
                        <a:latin typeface="Arial" panose="020B0604020202020204" pitchFamily="34" charset="0"/>
                      </a:endParaRPr>
                    </a:p>
                    <a:p>
                      <a:pPr algn="just" fontAlgn="ctr"/>
                      <a:r>
                        <a:rPr lang="en-US" sz="1100" b="0" i="0" u="none" strike="noStrike" dirty="0">
                          <a:solidFill>
                            <a:srgbClr val="007CB0"/>
                          </a:solidFill>
                          <a:effectLst/>
                          <a:latin typeface="Arial" panose="020B0604020202020204" pitchFamily="34" charset="0"/>
                        </a:rPr>
                        <a:t>The Market Clearing Price (MCP) in the electricity exchange (IEX) is likely to below INR 3/kWh from 11 AM to about 3 PM in a typical day. There is no differentiation in the source of power sold in power exchange. While there are time blocks when the MCP falls below INR 3/kWh, there are also certain time slots when the MCP is higher than INR 5/kWh.</a:t>
                      </a:r>
                    </a:p>
                    <a:p>
                      <a:pPr algn="just" fontAlgn="ctr"/>
                      <a:endParaRPr lang="en-US" sz="1100" b="0" i="0" u="none" strike="noStrike" dirty="0">
                        <a:solidFill>
                          <a:srgbClr val="007CB0"/>
                        </a:solidFill>
                        <a:effectLst/>
                        <a:latin typeface="Arial" panose="020B0604020202020204" pitchFamily="34" charset="0"/>
                      </a:endParaRPr>
                    </a:p>
                    <a:p>
                      <a:pPr algn="just" fontAlgn="ctr"/>
                      <a:r>
                        <a:rPr lang="en-US" sz="1100" b="0" i="0" u="none" strike="noStrike" dirty="0">
                          <a:solidFill>
                            <a:srgbClr val="007CB0"/>
                          </a:solidFill>
                          <a:effectLst/>
                          <a:latin typeface="Arial" panose="020B0604020202020204" pitchFamily="34" charset="0"/>
                        </a:rPr>
                        <a:t>We understand that NEA, historically, sells power on the Indian power exchange through NVVN. NEA contracts a certain capacity (MW) for sale in the exchange.</a:t>
                      </a:r>
                    </a:p>
                    <a:p>
                      <a:pPr algn="just" fontAlgn="ctr"/>
                      <a:r>
                        <a:rPr lang="en-US" sz="1100" b="0" i="0" u="none" strike="noStrike" dirty="0">
                          <a:solidFill>
                            <a:srgbClr val="007CB0"/>
                          </a:solidFill>
                          <a:effectLst/>
                          <a:latin typeface="Arial" panose="020B0604020202020204" pitchFamily="34" charset="0"/>
                        </a:rPr>
                        <a:t>It may be appropriate to consider the average MCP in the power exchange vis-a-vis the PPA price to consider whether it will be viable for NEA to sell electricity in the Indian Power exchange or not.</a:t>
                      </a:r>
                    </a:p>
                    <a:p>
                      <a:pPr algn="just" fontAlgn="ctr"/>
                      <a:endParaRPr lang="en-US" sz="1100" b="0" i="0" u="none" strike="noStrike" dirty="0">
                        <a:solidFill>
                          <a:srgbClr val="007CB0"/>
                        </a:solidFill>
                        <a:effectLst/>
                        <a:latin typeface="Arial" panose="020B0604020202020204" pitchFamily="34" charset="0"/>
                      </a:endParaRPr>
                    </a:p>
                    <a:p>
                      <a:pPr algn="just" fontAlgn="ctr"/>
                      <a:r>
                        <a:rPr lang="en-US" sz="1100" b="0" i="0" u="none" strike="noStrike" dirty="0">
                          <a:solidFill>
                            <a:srgbClr val="007CB0"/>
                          </a:solidFill>
                          <a:effectLst/>
                          <a:latin typeface="Arial" panose="020B0604020202020204" pitchFamily="34" charset="0"/>
                        </a:rPr>
                        <a:t>Workings for the same indicate that the NEA may end up having a positive cost arbitrage in the transaction pertaining to sell electricity in the power exchanges in India.</a:t>
                      </a:r>
                    </a:p>
                  </a:txBody>
                  <a:tcPr marT="91440" marB="9144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1" i="0" u="none" strike="noStrike" kern="1200">
                          <a:solidFill>
                            <a:srgbClr val="007CB0"/>
                          </a:solidFill>
                          <a:effectLst/>
                          <a:latin typeface="Arial" panose="020B0604020202020204" pitchFamily="34" charset="0"/>
                          <a:ea typeface="+mn-ea"/>
                          <a:cs typeface="+mn-cs"/>
                          <a:hlinkClick r:id="rId6" action="ppaction://hlinksldjump"/>
                        </a:rPr>
                        <a:t>Page 130</a:t>
                      </a:r>
                      <a:r>
                        <a:rPr lang="en-US" sz="1100" b="1" i="0" u="none" strike="noStrike" kern="1200">
                          <a:solidFill>
                            <a:srgbClr val="007CB0"/>
                          </a:solidFill>
                          <a:effectLst/>
                          <a:latin typeface="Arial" panose="020B0604020202020204" pitchFamily="34" charset="0"/>
                          <a:ea typeface="+mn-ea"/>
                          <a:cs typeface="+mn-cs"/>
                        </a:rPr>
                        <a:t> </a:t>
                      </a:r>
                      <a:r>
                        <a:rPr lang="en-US" sz="1100" b="0" i="0" u="none" strike="noStrike" kern="1200">
                          <a:solidFill>
                            <a:srgbClr val="007CB0"/>
                          </a:solidFill>
                          <a:effectLst/>
                          <a:latin typeface="Arial" panose="020B0604020202020204" pitchFamily="34" charset="0"/>
                          <a:ea typeface="+mn-ea"/>
                          <a:cs typeface="+mn-cs"/>
                        </a:rPr>
                        <a:t>- Historical sale of electricity by NEA in IEX</a:t>
                      </a:r>
                    </a:p>
                  </a:txBody>
                  <a:tcPr marT="91440" marB="91440"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r h="2305833">
                <a:tc>
                  <a:txBody>
                    <a:bodyPr/>
                    <a:lstStyle/>
                    <a:p>
                      <a:pPr algn="ctr"/>
                      <a:r>
                        <a:rPr lang="en-ZA" sz="1100" b="1">
                          <a:solidFill>
                            <a:srgbClr val="007CB0"/>
                          </a:solidFill>
                          <a:latin typeface="Arial" panose="020B0604020202020204" pitchFamily="34" charset="0"/>
                          <a:cs typeface="Arial" panose="020B0604020202020204" pitchFamily="34" charset="0"/>
                        </a:rPr>
                        <a:t>6</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Based on above question, how much stress should be applied to the purchase amount of additional energy by NEA in the valuation (considering cases such as IEX selling price might fall below NEA’s Take and Pay PPA price)?</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l" fontAlgn="ctr"/>
                      <a:endParaRPr lang="en-US" sz="1100" b="0" i="0" u="none" strike="noStrike">
                        <a:solidFill>
                          <a:srgbClr val="000000"/>
                        </a:solidFill>
                        <a:effectLst/>
                        <a:latin typeface="Arial" panose="020B0604020202020204" pitchFamily="34" charset="0"/>
                      </a:endParaRPr>
                    </a:p>
                  </a:txBody>
                  <a:tcPr marL="6350" marR="6350" marT="6350" marB="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1">
                          <a:solidFill>
                            <a:srgbClr val="007CB0"/>
                          </a:solidFill>
                          <a:latin typeface="Arial" panose="020B0604020202020204" pitchFamily="34" charset="0"/>
                          <a:cs typeface="Arial" panose="020B0604020202020204" pitchFamily="34" charset="0"/>
                          <a:hlinkClick r:id="rId7" action="ppaction://hlinksldjump"/>
                        </a:rPr>
                        <a:t>Pages 131 to 133</a:t>
                      </a:r>
                      <a:r>
                        <a:rPr lang="en-US" sz="1100" b="1">
                          <a:solidFill>
                            <a:srgbClr val="007CB0"/>
                          </a:solidFill>
                          <a:latin typeface="Arial" panose="020B0604020202020204" pitchFamily="34" charset="0"/>
                          <a:cs typeface="Arial" panose="020B0604020202020204" pitchFamily="34" charset="0"/>
                        </a:rPr>
                        <a:t> </a:t>
                      </a:r>
                      <a:r>
                        <a:rPr lang="en-US" sz="1100" b="0" i="0" u="none" strike="noStrike">
                          <a:solidFill>
                            <a:srgbClr val="007CB0"/>
                          </a:solidFill>
                          <a:effectLst/>
                          <a:latin typeface="Arial" panose="020B0604020202020204" pitchFamily="34" charset="0"/>
                        </a:rPr>
                        <a:t>– Estimated impact of sale of electricity from the project in IEX</a:t>
                      </a:r>
                      <a:endParaRPr lang="en-US" sz="1100">
                        <a:solidFill>
                          <a:srgbClr val="007CB0"/>
                        </a:solidFill>
                        <a:latin typeface="Arial" panose="020B0604020202020204" pitchFamily="34" charset="0"/>
                        <a:cs typeface="Arial" panose="020B0604020202020204" pitchFamily="34" charset="0"/>
                      </a:endParaRPr>
                    </a:p>
                  </a:txBody>
                  <a:tcPr marT="91440" marB="91440"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33695119"/>
                  </a:ext>
                </a:extLst>
              </a:tr>
            </a:tbl>
          </a:graphicData>
        </a:graphic>
      </p:graphicFrame>
    </p:spTree>
    <p:extLst>
      <p:ext uri="{BB962C8B-B14F-4D97-AF65-F5344CB8AC3E}">
        <p14:creationId xmlns:p14="http://schemas.microsoft.com/office/powerpoint/2010/main" val="3709165729"/>
      </p:ext>
    </p:extLst>
  </p:cSld>
  <p:clrMapOvr>
    <a:masterClrMapping/>
  </p:clrMapOvr>
  <p:transition>
    <p:fade/>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solidFill>
                  <a:srgbClr val="007CB0"/>
                </a:solidFill>
                <a:latin typeface="Arial" panose="020B0604020202020204" pitchFamily="34" charset="0"/>
                <a:cs typeface="Arial" panose="020B0604020202020204" pitchFamily="34" charset="0"/>
              </a:rPr>
              <a:t>Response </a:t>
            </a:r>
            <a:r>
              <a:rPr lang="en-US" sz="1800" b="1" dirty="0">
                <a:solidFill>
                  <a:srgbClr val="007CB0"/>
                </a:solidFill>
                <a:latin typeface="Arial" panose="020B0604020202020204" pitchFamily="34" charset="0"/>
                <a:cs typeface="Arial" panose="020B0604020202020204" pitchFamily="34" charset="0"/>
              </a:rPr>
              <a:t>to the Comments on Interim Report</a:t>
            </a:r>
            <a:endParaRPr lang="en-GB" sz="1800" b="1" dirty="0">
              <a:solidFill>
                <a:srgbClr val="007CB0"/>
              </a:solidFill>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2" name="Table 1">
            <a:extLst>
              <a:ext uri="{FF2B5EF4-FFF2-40B4-BE49-F238E27FC236}">
                <a16:creationId xmlns:a16="http://schemas.microsoft.com/office/drawing/2014/main" id="{D87CF304-1E5D-DDC3-6220-B403C9B6E86A}"/>
              </a:ext>
            </a:extLst>
          </p:cNvPr>
          <p:cNvGraphicFramePr>
            <a:graphicFrameLocks noGrp="1"/>
          </p:cNvGraphicFramePr>
          <p:nvPr>
            <p:extLst>
              <p:ext uri="{D42A27DB-BD31-4B8C-83A1-F6EECF244321}">
                <p14:modId xmlns:p14="http://schemas.microsoft.com/office/powerpoint/2010/main" val="1632962669"/>
              </p:ext>
            </p:extLst>
          </p:nvPr>
        </p:nvGraphicFramePr>
        <p:xfrm>
          <a:off x="514883" y="987246"/>
          <a:ext cx="11188700" cy="3847644"/>
        </p:xfrm>
        <a:graphic>
          <a:graphicData uri="http://schemas.openxmlformats.org/drawingml/2006/table">
            <a:tbl>
              <a:tblPr firstRow="1" bandRow="1">
                <a:tableStyleId>{3B4B98B0-60AC-42C2-AFA5-B58CD77FA1E5}</a:tableStyleId>
              </a:tblPr>
              <a:tblGrid>
                <a:gridCol w="780686">
                  <a:extLst>
                    <a:ext uri="{9D8B030D-6E8A-4147-A177-3AD203B41FA5}">
                      <a16:colId xmlns:a16="http://schemas.microsoft.com/office/drawing/2014/main" val="2150755601"/>
                    </a:ext>
                  </a:extLst>
                </a:gridCol>
                <a:gridCol w="2979224">
                  <a:extLst>
                    <a:ext uri="{9D8B030D-6E8A-4147-A177-3AD203B41FA5}">
                      <a16:colId xmlns:a16="http://schemas.microsoft.com/office/drawing/2014/main" val="2807376156"/>
                    </a:ext>
                  </a:extLst>
                </a:gridCol>
                <a:gridCol w="7428790">
                  <a:extLst>
                    <a:ext uri="{9D8B030D-6E8A-4147-A177-3AD203B41FA5}">
                      <a16:colId xmlns:a16="http://schemas.microsoft.com/office/drawing/2014/main" val="1355468333"/>
                    </a:ext>
                  </a:extLst>
                </a:gridCol>
              </a:tblGrid>
              <a:tr h="414989">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Queries</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Responses </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1565621">
                <a:tc>
                  <a:txBody>
                    <a:bodyPr/>
                    <a:lstStyle/>
                    <a:p>
                      <a:pPr algn="ctr"/>
                      <a:r>
                        <a:rPr lang="en-ZA" sz="1100" b="1" dirty="0">
                          <a:solidFill>
                            <a:srgbClr val="007CB0"/>
                          </a:solidFill>
                          <a:latin typeface="Arial" panose="020B0604020202020204" pitchFamily="34" charset="0"/>
                          <a:cs typeface="Arial" panose="020B0604020202020204" pitchFamily="34" charset="0"/>
                        </a:rPr>
                        <a:t>1</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What positions did the interviewees hold?</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Mr. Lunar Shrestha - Manager - Power Trade Department and Ms. Mandira Adhikary Deputy Manager, Power Trade Department</a:t>
                      </a:r>
                    </a:p>
                  </a:txBody>
                  <a:tcPr marT="91440" marB="9144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r h="1867034">
                <a:tc>
                  <a:txBody>
                    <a:bodyPr/>
                    <a:lstStyle/>
                    <a:p>
                      <a:pPr algn="ctr"/>
                      <a:r>
                        <a:rPr lang="en-ZA" sz="1100" b="1" dirty="0">
                          <a:solidFill>
                            <a:srgbClr val="007CB0"/>
                          </a:solidFill>
                          <a:latin typeface="Arial" panose="020B0604020202020204" pitchFamily="34" charset="0"/>
                          <a:cs typeface="Arial" panose="020B0604020202020204" pitchFamily="34" charset="0"/>
                        </a:rPr>
                        <a:t>2</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dirty="0">
                          <a:solidFill>
                            <a:srgbClr val="007CB0"/>
                          </a:solidFill>
                          <a:effectLst/>
                          <a:latin typeface="Arial" panose="020B0604020202020204" pitchFamily="34" charset="0"/>
                        </a:rPr>
                        <a:t>Are the interviewees affiliated with departments responsible for the practical operations related to RCOD extension?</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rPr>
                        <a:t>Yes, the interviewees are affiliated with NEA's Power Trade Department which handles all PPAs of NEA.</a:t>
                      </a:r>
                    </a:p>
                  </a:txBody>
                  <a:tcPr marT="91440" marB="9144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33695119"/>
                  </a:ext>
                </a:extLst>
              </a:tr>
            </a:tbl>
          </a:graphicData>
        </a:graphic>
      </p:graphicFrame>
    </p:spTree>
    <p:extLst>
      <p:ext uri="{BB962C8B-B14F-4D97-AF65-F5344CB8AC3E}">
        <p14:creationId xmlns:p14="http://schemas.microsoft.com/office/powerpoint/2010/main" val="1425474286"/>
      </p:ext>
    </p:extLst>
  </p:cSld>
  <p:clrMapOvr>
    <a:masterClrMapping/>
  </p:clrMapOvr>
  <p:transition>
    <p:fade/>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solidFill>
                  <a:srgbClr val="007CB0"/>
                </a:solidFill>
                <a:latin typeface="Arial" panose="020B0604020202020204" pitchFamily="34" charset="0"/>
                <a:cs typeface="Arial" panose="020B0604020202020204" pitchFamily="34" charset="0"/>
              </a:rPr>
              <a:t>Response to the Comments on Interim Report</a:t>
            </a:r>
            <a:endParaRPr lang="en-GB" sz="1800" b="1">
              <a:solidFill>
                <a:srgbClr val="007CB0"/>
              </a:solidFill>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822913"/>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753035660"/>
              </p:ext>
            </p:extLst>
          </p:nvPr>
        </p:nvGraphicFramePr>
        <p:xfrm>
          <a:off x="494791" y="870776"/>
          <a:ext cx="11215651" cy="5974080"/>
        </p:xfrm>
        <a:graphic>
          <a:graphicData uri="http://schemas.openxmlformats.org/drawingml/2006/table">
            <a:tbl>
              <a:tblPr firstRow="1" bandRow="1">
                <a:tableStyleId>{3B4B98B0-60AC-42C2-AFA5-B58CD77FA1E5}</a:tableStyleId>
              </a:tblPr>
              <a:tblGrid>
                <a:gridCol w="410057">
                  <a:extLst>
                    <a:ext uri="{9D8B030D-6E8A-4147-A177-3AD203B41FA5}">
                      <a16:colId xmlns:a16="http://schemas.microsoft.com/office/drawing/2014/main" val="2150755601"/>
                    </a:ext>
                  </a:extLst>
                </a:gridCol>
                <a:gridCol w="1084998">
                  <a:extLst>
                    <a:ext uri="{9D8B030D-6E8A-4147-A177-3AD203B41FA5}">
                      <a16:colId xmlns:a16="http://schemas.microsoft.com/office/drawing/2014/main" val="2807376156"/>
                    </a:ext>
                  </a:extLst>
                </a:gridCol>
                <a:gridCol w="9720596">
                  <a:extLst>
                    <a:ext uri="{9D8B030D-6E8A-4147-A177-3AD203B41FA5}">
                      <a16:colId xmlns:a16="http://schemas.microsoft.com/office/drawing/2014/main" val="3545479150"/>
                    </a:ext>
                  </a:extLst>
                </a:gridCol>
              </a:tblGrid>
              <a:tr h="404980">
                <a:tc>
                  <a:txBody>
                    <a:bodyPr/>
                    <a:lstStyle/>
                    <a:p>
                      <a:pPr algn="ctr"/>
                      <a:r>
                        <a:rPr lang="en-ZA" sz="1100" b="0" dirty="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Queries</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Responses </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5264741">
                <a:tc>
                  <a:txBody>
                    <a:bodyPr/>
                    <a:lstStyle/>
                    <a:p>
                      <a:pPr algn="ctr"/>
                      <a:r>
                        <a:rPr lang="en-ZA" sz="1100" b="1">
                          <a:solidFill>
                            <a:srgbClr val="007CB0"/>
                          </a:solidFill>
                          <a:latin typeface="Arial" panose="020B0604020202020204" pitchFamily="34" charset="0"/>
                          <a:cs typeface="Arial" panose="020B0604020202020204" pitchFamily="34" charset="0"/>
                        </a:rPr>
                        <a:t>1</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cs typeface="Arial" panose="020B0604020202020204" pitchFamily="34" charset="0"/>
                        </a:rPr>
                        <a:t>Is it possible to investigate whether ST could also qualify as an export-eligible project for India, similar to Likhu-1 mentioned on pg.14?</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l" fontAlgn="ctr">
                        <a:buFont typeface="+mj-lt"/>
                        <a:buNone/>
                      </a:pPr>
                      <a:r>
                        <a:rPr lang="en-US" sz="1100" b="0" i="0" u="none" strike="noStrike">
                          <a:solidFill>
                            <a:srgbClr val="007CB0"/>
                          </a:solidFill>
                          <a:effectLst/>
                          <a:latin typeface="Arial" panose="020B0604020202020204" pitchFamily="34" charset="0"/>
                          <a:cs typeface="Arial" panose="020B0604020202020204" pitchFamily="34" charset="0"/>
                        </a:rPr>
                        <a:t>There are two types of export-oriented power plants in Nepal:</a:t>
                      </a:r>
                    </a:p>
                    <a:p>
                      <a:pPr marL="282575" indent="-228600" algn="just" fontAlgn="ctr">
                        <a:buFont typeface="+mj-lt"/>
                        <a:buAutoNum type="alphaLcParenR"/>
                      </a:pPr>
                      <a:r>
                        <a:rPr lang="en-US" sz="1100" b="1" i="0" u="none" strike="noStrike">
                          <a:solidFill>
                            <a:srgbClr val="007CB0"/>
                          </a:solidFill>
                          <a:effectLst/>
                          <a:latin typeface="Arial" panose="020B0604020202020204" pitchFamily="34" charset="0"/>
                          <a:cs typeface="Arial" panose="020B0604020202020204" pitchFamily="34" charset="0"/>
                        </a:rPr>
                        <a:t>Dedicated Export Plant </a:t>
                      </a:r>
                      <a:r>
                        <a:rPr lang="en-US" sz="1100" b="0" i="0" u="none" strike="noStrike">
                          <a:solidFill>
                            <a:srgbClr val="007CB0"/>
                          </a:solidFill>
                          <a:effectLst/>
                          <a:latin typeface="Arial" panose="020B0604020202020204" pitchFamily="34" charset="0"/>
                          <a:cs typeface="Arial" panose="020B0604020202020204" pitchFamily="34" charset="0"/>
                        </a:rPr>
                        <a:t>- These are 100% export-oriented power plants with entire planned generation to be exported. They have no PPA with NEA for domestic offtake. Example include the under construction 900 MW Arun 3 Hydropower Project (developed by SJVN Ltd for export of power to India via dedicated 400 kV Arun-Dhalkebar line connecting to Indian Grid)</a:t>
                      </a:r>
                    </a:p>
                    <a:p>
                      <a:pPr marL="282575" indent="-228600" algn="l" fontAlgn="ctr">
                        <a:buFont typeface="+mj-lt"/>
                        <a:buAutoNum type="alphaLcParenR"/>
                      </a:pPr>
                      <a:r>
                        <a:rPr lang="en-US" sz="1100" b="1" i="0" u="none" strike="noStrike">
                          <a:solidFill>
                            <a:srgbClr val="007CB0"/>
                          </a:solidFill>
                          <a:effectLst/>
                          <a:latin typeface="Arial" panose="020B0604020202020204" pitchFamily="34" charset="0"/>
                          <a:cs typeface="Arial" panose="020B0604020202020204" pitchFamily="34" charset="0"/>
                        </a:rPr>
                        <a:t>Export Eligible Plants </a:t>
                      </a:r>
                      <a:r>
                        <a:rPr lang="en-US" sz="1100" b="0" i="0" u="none" strike="noStrike">
                          <a:solidFill>
                            <a:srgbClr val="007CB0"/>
                          </a:solidFill>
                          <a:effectLst/>
                          <a:latin typeface="Arial" panose="020B0604020202020204" pitchFamily="34" charset="0"/>
                          <a:cs typeface="Arial" panose="020B0604020202020204" pitchFamily="34" charset="0"/>
                        </a:rPr>
                        <a:t>- These plants are allowed to participate in the Indian Power Market through NEA. The decision for determining which plants should be submitted for approval of selling power to India depends on NEA. The approval is accorded by Govt. of India based on the "Procedure for Approval and Facilitating Import/Export (Cross Border) of Electricity by the Designated Authority " and its extant amendments. (Source: Designated Authority Procedure 2021).    </a:t>
                      </a:r>
                    </a:p>
                    <a:p>
                      <a:pPr marL="53975" indent="0" algn="l" fontAlgn="ctr">
                        <a:buFont typeface="+mj-lt"/>
                        <a:buNone/>
                      </a:pPr>
                      <a:br>
                        <a:rPr lang="en-US" sz="1100" b="0" i="0" u="none" strike="noStrike">
                          <a:solidFill>
                            <a:srgbClr val="007CB0"/>
                          </a:solidFill>
                          <a:effectLst/>
                          <a:latin typeface="Arial" panose="020B0604020202020204" pitchFamily="34" charset="0"/>
                          <a:cs typeface="Arial" panose="020B0604020202020204" pitchFamily="34" charset="0"/>
                        </a:rPr>
                      </a:br>
                      <a:r>
                        <a:rPr lang="en-US" sz="1100" b="0" i="0" u="none" strike="noStrike">
                          <a:solidFill>
                            <a:srgbClr val="007CB0"/>
                          </a:solidFill>
                          <a:effectLst/>
                          <a:latin typeface="Arial" panose="020B0604020202020204" pitchFamily="34" charset="0"/>
                          <a:cs typeface="Arial" panose="020B0604020202020204" pitchFamily="34" charset="0"/>
                        </a:rPr>
                        <a:t>The Key eligibility criteria (as per Section 6.3 of the procedures) are: </a:t>
                      </a:r>
                      <a:br>
                        <a:rPr lang="en-US" sz="1100" b="0" i="0" u="none" strike="noStrike">
                          <a:solidFill>
                            <a:srgbClr val="007CB0"/>
                          </a:solidFill>
                          <a:effectLst/>
                          <a:latin typeface="Arial" panose="020B0604020202020204" pitchFamily="34" charset="0"/>
                          <a:cs typeface="Arial" panose="020B0604020202020204" pitchFamily="34" charset="0"/>
                        </a:rPr>
                      </a:br>
                      <a:endParaRPr lang="en-US" sz="1100" b="0" i="0" u="none" strike="noStrike">
                        <a:solidFill>
                          <a:srgbClr val="007CB0"/>
                        </a:solidFill>
                        <a:effectLst/>
                        <a:latin typeface="Arial" panose="020B0604020202020204" pitchFamily="34" charset="0"/>
                        <a:cs typeface="Arial" panose="020B0604020202020204" pitchFamily="34" charset="0"/>
                      </a:endParaRPr>
                    </a:p>
                    <a:p>
                      <a:pPr marL="173038" lvl="1" indent="0" algn="l" fontAlgn="ctr">
                        <a:buFont typeface="+mj-lt"/>
                        <a:buNone/>
                      </a:pPr>
                      <a:r>
                        <a:rPr lang="en-US" sz="1100" b="0" i="1" u="none" strike="noStrike">
                          <a:solidFill>
                            <a:srgbClr val="007CB0"/>
                          </a:solidFill>
                          <a:effectLst/>
                          <a:latin typeface="Arial" panose="020B0604020202020204" pitchFamily="34" charset="0"/>
                          <a:cs typeface="Arial" panose="020B0604020202020204" pitchFamily="34" charset="0"/>
                        </a:rPr>
                        <a:t>(i) Indian Entity nominated by Government of India to import electricity from generating projects of neighbouring country and sign PPAs with DISCOMs for the power being imported. </a:t>
                      </a:r>
                      <a:br>
                        <a:rPr lang="en-US" sz="1100" b="0" i="1" u="none" strike="noStrike">
                          <a:solidFill>
                            <a:srgbClr val="007CB0"/>
                          </a:solidFill>
                          <a:effectLst/>
                          <a:latin typeface="Arial" panose="020B0604020202020204" pitchFamily="34" charset="0"/>
                          <a:cs typeface="Arial" panose="020B0604020202020204" pitchFamily="34" charset="0"/>
                        </a:rPr>
                      </a:br>
                      <a:r>
                        <a:rPr lang="en-US" sz="1100" b="0" i="1" u="none" strike="noStrike">
                          <a:solidFill>
                            <a:srgbClr val="007CB0"/>
                          </a:solidFill>
                          <a:effectLst/>
                          <a:latin typeface="Arial" panose="020B0604020202020204" pitchFamily="34" charset="0"/>
                          <a:cs typeface="Arial" panose="020B0604020202020204" pitchFamily="34" charset="0"/>
                        </a:rPr>
                        <a:t>OR </a:t>
                      </a:r>
                      <a:br>
                        <a:rPr lang="en-US" sz="1100" b="0" i="1" u="none" strike="noStrike">
                          <a:solidFill>
                            <a:srgbClr val="007CB0"/>
                          </a:solidFill>
                          <a:effectLst/>
                          <a:latin typeface="Arial" panose="020B0604020202020204" pitchFamily="34" charset="0"/>
                          <a:cs typeface="Arial" panose="020B0604020202020204" pitchFamily="34" charset="0"/>
                        </a:rPr>
                      </a:br>
                      <a:r>
                        <a:rPr lang="en-US" sz="1100" b="0" i="1" u="none" strike="noStrike">
                          <a:solidFill>
                            <a:srgbClr val="007CB0"/>
                          </a:solidFill>
                          <a:effectLst/>
                          <a:latin typeface="Arial" panose="020B0604020202020204" pitchFamily="34" charset="0"/>
                          <a:cs typeface="Arial" panose="020B0604020202020204" pitchFamily="34" charset="0"/>
                        </a:rPr>
                        <a:t>Indian entities may import electricity from the generation projects located in neighbouring country(ies) directly or through Government or a Government Company or a licensed trader of that country after taking approval of the Designated Authority, provided that the generating company is not owned, directly or indirectly by any natural/ legal personality(ies) whose effective control or source of funds or residence of beneficial owner, is situated in/ citizen of a third country with whom India shares land border and that third country does not have a bilateral agreement on power sector cooperation with India. For any relaxation in this provision, the Designated Authority will consult Ministry of Power and Ministry of External Affairs. </a:t>
                      </a:r>
                      <a:br>
                        <a:rPr lang="en-US" sz="1100" b="0" i="1" u="none" strike="noStrike">
                          <a:solidFill>
                            <a:srgbClr val="007CB0"/>
                          </a:solidFill>
                          <a:effectLst/>
                          <a:latin typeface="Arial" panose="020B0604020202020204" pitchFamily="34" charset="0"/>
                          <a:cs typeface="Arial" panose="020B0604020202020204" pitchFamily="34" charset="0"/>
                        </a:rPr>
                      </a:br>
                      <a:r>
                        <a:rPr lang="en-US" sz="1100" b="0" i="1" u="none" strike="noStrike">
                          <a:solidFill>
                            <a:srgbClr val="007CB0"/>
                          </a:solidFill>
                          <a:effectLst/>
                          <a:latin typeface="Arial" panose="020B0604020202020204" pitchFamily="34" charset="0"/>
                          <a:cs typeface="Arial" panose="020B0604020202020204" pitchFamily="34" charset="0"/>
                        </a:rPr>
                        <a:t>(ii) The generation project(s) of the neighbouring country should submit the permission to export power to India from the respective Government of the neighbouring country. </a:t>
                      </a:r>
                      <a:br>
                        <a:rPr lang="en-US" sz="1100" b="0" i="1" u="none" strike="noStrike">
                          <a:solidFill>
                            <a:srgbClr val="007CB0"/>
                          </a:solidFill>
                          <a:effectLst/>
                          <a:latin typeface="Arial" panose="020B0604020202020204" pitchFamily="34" charset="0"/>
                          <a:cs typeface="Arial" panose="020B0604020202020204" pitchFamily="34" charset="0"/>
                        </a:rPr>
                      </a:br>
                      <a:r>
                        <a:rPr lang="en-US" sz="1100" b="0" i="1" u="none" strike="noStrike">
                          <a:solidFill>
                            <a:srgbClr val="007CB0"/>
                          </a:solidFill>
                          <a:effectLst/>
                          <a:latin typeface="Arial" panose="020B0604020202020204" pitchFamily="34" charset="0"/>
                          <a:cs typeface="Arial" panose="020B0604020202020204" pitchFamily="34" charset="0"/>
                        </a:rPr>
                        <a:t>(iii) The Applicant shall submit a copy of Power Purchase Agreement (PPA)/ or of Letter of Intent (LOI) from generator of neighbouring country, for import of such power. </a:t>
                      </a:r>
                      <a:br>
                        <a:rPr lang="en-US" sz="1100" b="0" i="1" u="none" strike="noStrike">
                          <a:solidFill>
                            <a:srgbClr val="007CB0"/>
                          </a:solidFill>
                          <a:effectLst/>
                          <a:latin typeface="Arial" panose="020B0604020202020204" pitchFamily="34" charset="0"/>
                          <a:cs typeface="Arial" panose="020B0604020202020204" pitchFamily="34" charset="0"/>
                        </a:rPr>
                      </a:br>
                      <a:r>
                        <a:rPr lang="en-US" sz="1100" b="0" i="1" u="none" strike="noStrike">
                          <a:solidFill>
                            <a:srgbClr val="007CB0"/>
                          </a:solidFill>
                          <a:effectLst/>
                          <a:latin typeface="Arial" panose="020B0604020202020204" pitchFamily="34" charset="0"/>
                          <a:cs typeface="Arial" panose="020B0604020202020204" pitchFamily="34" charset="0"/>
                        </a:rPr>
                        <a:t>(iv) The Applicant shall submit the application to the Nodal Officer in the format enclosed at Annex-I. </a:t>
                      </a:r>
                      <a:br>
                        <a:rPr lang="en-US" sz="1100" b="0" i="1" u="none" strike="noStrike">
                          <a:solidFill>
                            <a:srgbClr val="007CB0"/>
                          </a:solidFill>
                          <a:effectLst/>
                          <a:latin typeface="Arial" panose="020B0604020202020204" pitchFamily="34" charset="0"/>
                          <a:cs typeface="Arial" panose="020B0604020202020204" pitchFamily="34" charset="0"/>
                        </a:rPr>
                      </a:br>
                      <a:r>
                        <a:rPr lang="en-US" sz="1100" b="0" i="1" u="none" strike="noStrike">
                          <a:solidFill>
                            <a:srgbClr val="007CB0"/>
                          </a:solidFill>
                          <a:effectLst/>
                          <a:latin typeface="Arial" panose="020B0604020202020204" pitchFamily="34" charset="0"/>
                          <a:cs typeface="Arial" panose="020B0604020202020204" pitchFamily="34" charset="0"/>
                        </a:rPr>
                        <a:t>(v) The person making the application shall submit an affidavit stating that he/she is the authorized person to make an application on behalf of the entity and approval from his board need to be submitted. </a:t>
                      </a:r>
                      <a:br>
                        <a:rPr lang="en-US" sz="1100" b="0" i="1" u="none" strike="noStrike">
                          <a:solidFill>
                            <a:srgbClr val="007CB0"/>
                          </a:solidFill>
                          <a:effectLst/>
                          <a:latin typeface="Arial" panose="020B0604020202020204" pitchFamily="34" charset="0"/>
                          <a:cs typeface="Arial" panose="020B0604020202020204" pitchFamily="34" charset="0"/>
                        </a:rPr>
                      </a:br>
                      <a:r>
                        <a:rPr lang="en-US" sz="1100" b="0" i="1" u="none" strike="noStrike">
                          <a:solidFill>
                            <a:srgbClr val="007CB0"/>
                          </a:solidFill>
                          <a:effectLst/>
                          <a:latin typeface="Arial" panose="020B0604020202020204" pitchFamily="34" charset="0"/>
                          <a:cs typeface="Arial" panose="020B0604020202020204" pitchFamily="34" charset="0"/>
                        </a:rPr>
                        <a:t>(vi) The Applicant shall submit an undertaking on affidavit that any change in the equity pattern (after the date of approval by the Designated Authority) of the generating company/trading licensee of the neighbouring country from where electricity to be imported, shall be intimated to the Designated Authority, within thirty (30) days of such change. Failure to notify this change may be considered by the Designated Authority as a ground for revocation of the approval. </a:t>
                      </a:r>
                    </a:p>
                    <a:p>
                      <a:pPr marL="53975" indent="0" algn="l" fontAlgn="ctr">
                        <a:buFont typeface="+mj-lt"/>
                        <a:buNone/>
                      </a:pPr>
                      <a:br>
                        <a:rPr lang="en-US" sz="1100" b="0" i="0" u="none" strike="noStrike">
                          <a:solidFill>
                            <a:srgbClr val="007CB0"/>
                          </a:solidFill>
                          <a:effectLst/>
                          <a:latin typeface="Arial" panose="020B0604020202020204" pitchFamily="34" charset="0"/>
                          <a:cs typeface="Arial" panose="020B0604020202020204" pitchFamily="34" charset="0"/>
                        </a:rPr>
                      </a:br>
                      <a:r>
                        <a:rPr lang="en-US" sz="1100" b="0" i="0" u="none" strike="noStrike">
                          <a:solidFill>
                            <a:srgbClr val="007CB0"/>
                          </a:solidFill>
                          <a:effectLst/>
                          <a:latin typeface="Arial" panose="020B0604020202020204" pitchFamily="34" charset="0"/>
                          <a:cs typeface="Arial" panose="020B0604020202020204" pitchFamily="34" charset="0"/>
                        </a:rPr>
                        <a:t>The Applicant should obtain similar undertaking from the generating company/ trading licensee of the neighboring country in its contract. </a:t>
                      </a:r>
                    </a:p>
                  </a:txBody>
                  <a:tcPr marT="91440" marB="9144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bl>
          </a:graphicData>
        </a:graphic>
      </p:graphicFrame>
    </p:spTree>
    <p:extLst>
      <p:ext uri="{BB962C8B-B14F-4D97-AF65-F5344CB8AC3E}">
        <p14:creationId xmlns:p14="http://schemas.microsoft.com/office/powerpoint/2010/main" val="1579883202"/>
      </p:ext>
    </p:extLst>
  </p:cSld>
  <p:clrMapOvr>
    <a:masterClrMapping/>
  </p:clrMapOvr>
  <p:transition>
    <p:fade/>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solidFill>
                  <a:srgbClr val="007CB0"/>
                </a:solidFill>
                <a:latin typeface="Arial" panose="020B0604020202020204" pitchFamily="34" charset="0"/>
                <a:cs typeface="Arial" panose="020B0604020202020204" pitchFamily="34" charset="0"/>
              </a:rPr>
              <a:t>Response to the Comments on Interim Report</a:t>
            </a:r>
            <a:endParaRPr lang="en-GB" sz="1800" b="1">
              <a:solidFill>
                <a:srgbClr val="007CB0"/>
              </a:solidFill>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2" name="Table 1">
            <a:extLst>
              <a:ext uri="{FF2B5EF4-FFF2-40B4-BE49-F238E27FC236}">
                <a16:creationId xmlns:a16="http://schemas.microsoft.com/office/drawing/2014/main" id="{D87CF304-1E5D-DDC3-6220-B403C9B6E86A}"/>
              </a:ext>
            </a:extLst>
          </p:cNvPr>
          <p:cNvGraphicFramePr>
            <a:graphicFrameLocks noGrp="1"/>
          </p:cNvGraphicFramePr>
          <p:nvPr>
            <p:extLst>
              <p:ext uri="{D42A27DB-BD31-4B8C-83A1-F6EECF244321}">
                <p14:modId xmlns:p14="http://schemas.microsoft.com/office/powerpoint/2010/main" val="4225784658"/>
              </p:ext>
            </p:extLst>
          </p:nvPr>
        </p:nvGraphicFramePr>
        <p:xfrm>
          <a:off x="514883" y="987244"/>
          <a:ext cx="11175468" cy="2702854"/>
        </p:xfrm>
        <a:graphic>
          <a:graphicData uri="http://schemas.openxmlformats.org/drawingml/2006/table">
            <a:tbl>
              <a:tblPr firstRow="1" bandRow="1">
                <a:tableStyleId>{3B4B98B0-60AC-42C2-AFA5-B58CD77FA1E5}</a:tableStyleId>
              </a:tblPr>
              <a:tblGrid>
                <a:gridCol w="779763">
                  <a:extLst>
                    <a:ext uri="{9D8B030D-6E8A-4147-A177-3AD203B41FA5}">
                      <a16:colId xmlns:a16="http://schemas.microsoft.com/office/drawing/2014/main" val="2150755601"/>
                    </a:ext>
                  </a:extLst>
                </a:gridCol>
                <a:gridCol w="2975700">
                  <a:extLst>
                    <a:ext uri="{9D8B030D-6E8A-4147-A177-3AD203B41FA5}">
                      <a16:colId xmlns:a16="http://schemas.microsoft.com/office/drawing/2014/main" val="2807376156"/>
                    </a:ext>
                  </a:extLst>
                </a:gridCol>
                <a:gridCol w="7420005">
                  <a:extLst>
                    <a:ext uri="{9D8B030D-6E8A-4147-A177-3AD203B41FA5}">
                      <a16:colId xmlns:a16="http://schemas.microsoft.com/office/drawing/2014/main" val="1355468333"/>
                    </a:ext>
                  </a:extLst>
                </a:gridCol>
              </a:tblGrid>
              <a:tr h="566318">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Queries</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Responses </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2136536">
                <a:tc>
                  <a:txBody>
                    <a:bodyPr/>
                    <a:lstStyle/>
                    <a:p>
                      <a:pPr algn="ctr"/>
                      <a:r>
                        <a:rPr lang="en-ZA" sz="1100" b="1">
                          <a:solidFill>
                            <a:srgbClr val="007CB0"/>
                          </a:solidFill>
                          <a:latin typeface="Arial" panose="020B0604020202020204" pitchFamily="34" charset="0"/>
                          <a:cs typeface="Arial" panose="020B0604020202020204" pitchFamily="34" charset="0"/>
                        </a:rPr>
                        <a:t>2</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cs typeface="Arial" panose="020B0604020202020204" pitchFamily="34" charset="0"/>
                        </a:rPr>
                        <a:t>Would it be possible to investigate NEA’s sales performance by time zone as described in Pg.86, Section III?</a:t>
                      </a:r>
                    </a:p>
                  </a:txBody>
                  <a:tcPr marT="91440" marB="91440"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r>
                        <a:rPr lang="en-US" sz="1100" b="0" i="0" u="none" strike="noStrike">
                          <a:solidFill>
                            <a:srgbClr val="007CB0"/>
                          </a:solidFill>
                          <a:effectLst/>
                          <a:latin typeface="Arial" panose="020B0604020202020204" pitchFamily="34" charset="0"/>
                          <a:cs typeface="Arial" panose="020B0604020202020204" pitchFamily="34" charset="0"/>
                        </a:rPr>
                        <a:t>This information is not published by NEA or by IEX for public consumption</a:t>
                      </a:r>
                    </a:p>
                  </a:txBody>
                  <a:tcPr marT="91440" marB="91440"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bl>
          </a:graphicData>
        </a:graphic>
      </p:graphicFrame>
    </p:spTree>
    <p:extLst>
      <p:ext uri="{BB962C8B-B14F-4D97-AF65-F5344CB8AC3E}">
        <p14:creationId xmlns:p14="http://schemas.microsoft.com/office/powerpoint/2010/main" val="875349343"/>
      </p:ext>
    </p:extLst>
  </p:cSld>
  <p:clrMapOvr>
    <a:masterClrMapping/>
  </p:clrMapOvr>
  <p:transition>
    <p:fade/>
  </p:transition>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accent4">
            <a:lumMod val="50000"/>
          </a:schemeClr>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nvGraphicFramePr>
        <p:xfrm>
          <a:off x="1986482" y="2834640"/>
          <a:ext cx="8509002" cy="954106"/>
        </p:xfrm>
        <a:graphic>
          <a:graphicData uri="http://schemas.openxmlformats.org/drawingml/2006/table">
            <a:tbl>
              <a:tblPr firstRow="1" bandRow="1">
                <a:tableStyleId>{5C22544A-7EE6-4342-B048-85BDC9FD1C3A}</a:tableStyleId>
              </a:tblPr>
              <a:tblGrid>
                <a:gridCol w="3164033">
                  <a:extLst>
                    <a:ext uri="{9D8B030D-6E8A-4147-A177-3AD203B41FA5}">
                      <a16:colId xmlns:a16="http://schemas.microsoft.com/office/drawing/2014/main" val="2744717436"/>
                    </a:ext>
                  </a:extLst>
                </a:gridCol>
                <a:gridCol w="5344969">
                  <a:extLst>
                    <a:ext uri="{9D8B030D-6E8A-4147-A177-3AD203B41FA5}">
                      <a16:colId xmlns:a16="http://schemas.microsoft.com/office/drawing/2014/main" val="570884867"/>
                    </a:ext>
                  </a:extLst>
                </a:gridCol>
              </a:tblGrid>
              <a:tr h="954106">
                <a:tc>
                  <a:txBody>
                    <a:bodyPr/>
                    <a:lstStyle/>
                    <a:p>
                      <a:r>
                        <a:rPr lang="en-US" sz="3600">
                          <a:latin typeface="Arial" panose="020B0604020202020204" pitchFamily="34" charset="0"/>
                          <a:cs typeface="Arial" panose="020B0604020202020204" pitchFamily="34" charset="0"/>
                        </a:rPr>
                        <a:t>CHAPTER 1</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398463" indent="0"/>
                      <a:r>
                        <a:rPr lang="en-US" sz="2400">
                          <a:latin typeface="Arial" panose="020B0604020202020204" pitchFamily="34" charset="0"/>
                          <a:cs typeface="Arial" panose="020B0604020202020204" pitchFamily="34" charset="0"/>
                        </a:rPr>
                        <a:t>COMMERCIAL RISK ASSESSMENT OF PJ_ST Project</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892421385"/>
      </p:ext>
    </p:extLst>
  </p:cSld>
  <p:clrMapOvr>
    <a:masterClrMapping/>
  </p:clrMapOvr>
  <p:transition>
    <p:fade/>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60307983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PJ_ST Project I Current Project Structure</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dirty="0">
                <a:solidFill>
                  <a:schemeClr val="tx1">
                    <a:lumMod val="65000"/>
                    <a:lumOff val="35000"/>
                  </a:schemeClr>
                </a:solidFill>
                <a:latin typeface="Arial" panose="020B0604020202020204" pitchFamily="34" charset="0"/>
                <a:cs typeface="Arial" panose="020B0604020202020204" pitchFamily="34" charset="0"/>
              </a:rPr>
              <a:t>Sale of additional 30 MW is subject to domestic market demand, regulatory and policy framework and NEA’s participation in CBET markets</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F49C95E2-E205-6732-404C-74D19CB3D446}"/>
              </a:ext>
            </a:extLst>
          </p:cNvPr>
          <p:cNvSpPr/>
          <p:nvPr/>
        </p:nvSpPr>
        <p:spPr bwMode="gray">
          <a:xfrm>
            <a:off x="638519" y="1107636"/>
            <a:ext cx="1849465" cy="595901"/>
          </a:xfrm>
          <a:prstGeom prst="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a:solidFill>
                  <a:schemeClr val="bg1"/>
                </a:solidFill>
                <a:latin typeface="Arial" panose="020B0604020202020204" pitchFamily="34" charset="0"/>
                <a:cs typeface="Arial" panose="020B0604020202020204" pitchFamily="34" charset="0"/>
              </a:rPr>
              <a:t>PJ_ST Project </a:t>
            </a:r>
          </a:p>
        </p:txBody>
      </p:sp>
      <p:sp>
        <p:nvSpPr>
          <p:cNvPr id="5" name="Rectangle 4">
            <a:extLst>
              <a:ext uri="{FF2B5EF4-FFF2-40B4-BE49-F238E27FC236}">
                <a16:creationId xmlns:a16="http://schemas.microsoft.com/office/drawing/2014/main" id="{01F00667-7FBC-26F1-0895-56EB95DC824B}"/>
              </a:ext>
            </a:extLst>
          </p:cNvPr>
          <p:cNvSpPr/>
          <p:nvPr/>
        </p:nvSpPr>
        <p:spPr bwMode="gray">
          <a:xfrm>
            <a:off x="5045753" y="1107633"/>
            <a:ext cx="2095928" cy="595901"/>
          </a:xfrm>
          <a:prstGeom prst="rect">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a:latin typeface="Arial" panose="020B0604020202020204" pitchFamily="34" charset="0"/>
                <a:cs typeface="Arial" panose="020B0604020202020204" pitchFamily="34" charset="0"/>
              </a:rPr>
              <a:t>RCOD as per PPA</a:t>
            </a:r>
          </a:p>
          <a:p>
            <a:pPr algn="ctr">
              <a:lnSpc>
                <a:spcPct val="106000"/>
              </a:lnSpc>
              <a:buFont typeface="Wingdings 2" pitchFamily="18" charset="2"/>
              <a:buNone/>
            </a:pPr>
            <a:r>
              <a:rPr lang="en-US" sz="1600" b="1">
                <a:latin typeface="Arial" panose="020B0604020202020204" pitchFamily="34" charset="0"/>
                <a:cs typeface="Arial" panose="020B0604020202020204" pitchFamily="34" charset="0"/>
              </a:rPr>
              <a:t>28</a:t>
            </a:r>
            <a:r>
              <a:rPr lang="en-US" sz="1600" b="1" baseline="30000">
                <a:latin typeface="Arial" panose="020B0604020202020204" pitchFamily="34" charset="0"/>
                <a:cs typeface="Arial" panose="020B0604020202020204" pitchFamily="34" charset="0"/>
              </a:rPr>
              <a:t>th</a:t>
            </a:r>
            <a:r>
              <a:rPr lang="en-US" sz="1600" b="1">
                <a:latin typeface="Arial" panose="020B0604020202020204" pitchFamily="34" charset="0"/>
                <a:cs typeface="Arial" panose="020B0604020202020204" pitchFamily="34" charset="0"/>
              </a:rPr>
              <a:t> February 2026</a:t>
            </a:r>
          </a:p>
        </p:txBody>
      </p:sp>
      <p:sp>
        <p:nvSpPr>
          <p:cNvPr id="7" name="Rectangle 6">
            <a:extLst>
              <a:ext uri="{FF2B5EF4-FFF2-40B4-BE49-F238E27FC236}">
                <a16:creationId xmlns:a16="http://schemas.microsoft.com/office/drawing/2014/main" id="{E8070831-0BF6-4889-5146-272218494267}"/>
              </a:ext>
            </a:extLst>
          </p:cNvPr>
          <p:cNvSpPr/>
          <p:nvPr/>
        </p:nvSpPr>
        <p:spPr bwMode="gray">
          <a:xfrm>
            <a:off x="2859070" y="1107633"/>
            <a:ext cx="2095928" cy="595901"/>
          </a:xfrm>
          <a:prstGeom prst="rect">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a:latin typeface="Arial" panose="020B0604020202020204" pitchFamily="34" charset="0"/>
                <a:cs typeface="Arial" panose="020B0604020202020204" pitchFamily="34" charset="0"/>
              </a:rPr>
              <a:t>Installed Capacity </a:t>
            </a:r>
          </a:p>
          <a:p>
            <a:pPr algn="ctr">
              <a:lnSpc>
                <a:spcPct val="106000"/>
              </a:lnSpc>
              <a:buFont typeface="Wingdings 2" pitchFamily="18" charset="2"/>
              <a:buNone/>
            </a:pPr>
            <a:r>
              <a:rPr lang="en-US" sz="1600" b="1">
                <a:latin typeface="Arial" panose="020B0604020202020204" pitchFamily="34" charset="0"/>
                <a:cs typeface="Arial" panose="020B0604020202020204" pitchFamily="34" charset="0"/>
              </a:rPr>
              <a:t>100 MW</a:t>
            </a:r>
            <a:endParaRPr lang="en-US" b="1">
              <a:latin typeface="Arial" panose="020B0604020202020204" pitchFamily="34" charset="0"/>
              <a:cs typeface="Arial" panose="020B0604020202020204" pitchFamily="34" charset="0"/>
            </a:endParaRPr>
          </a:p>
        </p:txBody>
      </p:sp>
      <p:sp>
        <p:nvSpPr>
          <p:cNvPr id="9" name="Rectangle 8">
            <a:extLst>
              <a:ext uri="{FF2B5EF4-FFF2-40B4-BE49-F238E27FC236}">
                <a16:creationId xmlns:a16="http://schemas.microsoft.com/office/drawing/2014/main" id="{F0C4E5A1-B416-8A79-FEC5-88EF6265B9D0}"/>
              </a:ext>
            </a:extLst>
          </p:cNvPr>
          <p:cNvSpPr/>
          <p:nvPr/>
        </p:nvSpPr>
        <p:spPr bwMode="gray">
          <a:xfrm>
            <a:off x="7232436" y="1107634"/>
            <a:ext cx="2095928" cy="595901"/>
          </a:xfrm>
          <a:prstGeom prst="rect">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a:latin typeface="Arial" panose="020B0604020202020204" pitchFamily="34" charset="0"/>
                <a:cs typeface="Arial" panose="020B0604020202020204" pitchFamily="34" charset="0"/>
              </a:rPr>
              <a:t>Power Purchaser </a:t>
            </a:r>
          </a:p>
          <a:p>
            <a:pPr algn="ctr">
              <a:lnSpc>
                <a:spcPct val="106000"/>
              </a:lnSpc>
            </a:pPr>
            <a:r>
              <a:rPr lang="en-US" b="1">
                <a:latin typeface="Arial" panose="020B0604020202020204" pitchFamily="34" charset="0"/>
                <a:cs typeface="Arial" panose="020B0604020202020204" pitchFamily="34" charset="0"/>
              </a:rPr>
              <a:t>NEA</a:t>
            </a:r>
          </a:p>
        </p:txBody>
      </p:sp>
      <p:sp>
        <p:nvSpPr>
          <p:cNvPr id="11" name="Rectangle 10">
            <a:extLst>
              <a:ext uri="{FF2B5EF4-FFF2-40B4-BE49-F238E27FC236}">
                <a16:creationId xmlns:a16="http://schemas.microsoft.com/office/drawing/2014/main" id="{8381B5B9-A844-C694-4129-568BD5F4D4CF}"/>
              </a:ext>
            </a:extLst>
          </p:cNvPr>
          <p:cNvSpPr/>
          <p:nvPr/>
        </p:nvSpPr>
        <p:spPr bwMode="gray">
          <a:xfrm>
            <a:off x="9419119" y="1107633"/>
            <a:ext cx="2095928" cy="595901"/>
          </a:xfrm>
          <a:prstGeom prst="rect">
            <a:avLst/>
          </a:prstGeom>
          <a:solidFill>
            <a:schemeClr val="bg1">
              <a:lumMod val="8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a:latin typeface="Arial" panose="020B0604020202020204" pitchFamily="34" charset="0"/>
                <a:cs typeface="Arial" panose="020B0604020202020204" pitchFamily="34" charset="0"/>
              </a:rPr>
              <a:t>PPA Duration</a:t>
            </a:r>
          </a:p>
          <a:p>
            <a:pPr algn="ctr">
              <a:lnSpc>
                <a:spcPct val="106000"/>
              </a:lnSpc>
            </a:pPr>
            <a:r>
              <a:rPr lang="en-US" b="1">
                <a:latin typeface="Arial" panose="020B0604020202020204" pitchFamily="34" charset="0"/>
                <a:cs typeface="Arial" panose="020B0604020202020204" pitchFamily="34" charset="0"/>
              </a:rPr>
              <a:t>30 Years</a:t>
            </a:r>
          </a:p>
        </p:txBody>
      </p:sp>
      <p:sp>
        <p:nvSpPr>
          <p:cNvPr id="12" name="Rectangle 11">
            <a:extLst>
              <a:ext uri="{FF2B5EF4-FFF2-40B4-BE49-F238E27FC236}">
                <a16:creationId xmlns:a16="http://schemas.microsoft.com/office/drawing/2014/main" id="{5699B587-FC51-3287-CA89-B5D3CDE94AF6}"/>
              </a:ext>
            </a:extLst>
          </p:cNvPr>
          <p:cNvSpPr/>
          <p:nvPr/>
        </p:nvSpPr>
        <p:spPr bwMode="gray">
          <a:xfrm>
            <a:off x="626592" y="2322519"/>
            <a:ext cx="3767491" cy="595902"/>
          </a:xfrm>
          <a:prstGeom prst="rect">
            <a:avLst/>
          </a:prstGeom>
          <a:solidFill>
            <a:schemeClr val="accent1">
              <a:lumMod val="40000"/>
              <a:lumOff val="6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a:latin typeface="Arial" panose="020B0604020202020204" pitchFamily="34" charset="0"/>
                <a:cs typeface="Arial" panose="020B0604020202020204" pitchFamily="34" charset="0"/>
              </a:rPr>
              <a:t>Contracted PPA Capacity : </a:t>
            </a:r>
            <a:r>
              <a:rPr lang="en-US" b="1">
                <a:latin typeface="Arial" panose="020B0604020202020204" pitchFamily="34" charset="0"/>
                <a:cs typeface="Arial" panose="020B0604020202020204" pitchFamily="34" charset="0"/>
              </a:rPr>
              <a:t>70 MW</a:t>
            </a:r>
          </a:p>
        </p:txBody>
      </p:sp>
      <p:sp>
        <p:nvSpPr>
          <p:cNvPr id="13" name="Rectangle 12">
            <a:extLst>
              <a:ext uri="{FF2B5EF4-FFF2-40B4-BE49-F238E27FC236}">
                <a16:creationId xmlns:a16="http://schemas.microsoft.com/office/drawing/2014/main" id="{84560291-9203-4337-3B1D-6CA9CF8C40D7}"/>
              </a:ext>
            </a:extLst>
          </p:cNvPr>
          <p:cNvSpPr/>
          <p:nvPr/>
        </p:nvSpPr>
        <p:spPr bwMode="gray">
          <a:xfrm>
            <a:off x="4462440" y="2322515"/>
            <a:ext cx="3656576" cy="595902"/>
          </a:xfrm>
          <a:prstGeom prst="rect">
            <a:avLst/>
          </a:prstGeom>
          <a:solidFill>
            <a:schemeClr val="accent6">
              <a:lumMod val="20000"/>
              <a:lumOff val="8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a:latin typeface="Arial" panose="020B0604020202020204" pitchFamily="34" charset="0"/>
                <a:cs typeface="Arial" panose="020B0604020202020204" pitchFamily="34" charset="0"/>
              </a:rPr>
              <a:t>Project Additional Capacity : </a:t>
            </a:r>
          </a:p>
          <a:p>
            <a:pPr algn="ctr">
              <a:lnSpc>
                <a:spcPct val="106000"/>
              </a:lnSpc>
              <a:buFont typeface="Wingdings 2" pitchFamily="18" charset="2"/>
              <a:buNone/>
            </a:pPr>
            <a:r>
              <a:rPr lang="en-US" b="1">
                <a:latin typeface="Arial" panose="020B0604020202020204" pitchFamily="34" charset="0"/>
                <a:cs typeface="Arial" panose="020B0604020202020204" pitchFamily="34" charset="0"/>
              </a:rPr>
              <a:t>30 MW Offtake by NEA</a:t>
            </a:r>
          </a:p>
        </p:txBody>
      </p:sp>
      <p:cxnSp>
        <p:nvCxnSpPr>
          <p:cNvPr id="15" name="Connector: Elbow 14">
            <a:extLst>
              <a:ext uri="{FF2B5EF4-FFF2-40B4-BE49-F238E27FC236}">
                <a16:creationId xmlns:a16="http://schemas.microsoft.com/office/drawing/2014/main" id="{9E064792-C3CF-0A0E-F8DB-EE43AB5816AB}"/>
              </a:ext>
            </a:extLst>
          </p:cNvPr>
          <p:cNvCxnSpPr>
            <a:cxnSpLocks/>
            <a:stCxn id="7" idx="2"/>
            <a:endCxn id="12" idx="0"/>
          </p:cNvCxnSpPr>
          <p:nvPr/>
        </p:nvCxnSpPr>
        <p:spPr>
          <a:xfrm rot="5400000">
            <a:off x="2899194" y="1314678"/>
            <a:ext cx="618985" cy="1396696"/>
          </a:xfrm>
          <a:prstGeom prst="bentConnector3">
            <a:avLst/>
          </a:prstGeom>
          <a:ln>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 name="Connector: Elbow 16">
            <a:extLst>
              <a:ext uri="{FF2B5EF4-FFF2-40B4-BE49-F238E27FC236}">
                <a16:creationId xmlns:a16="http://schemas.microsoft.com/office/drawing/2014/main" id="{7CDA0C91-78F9-0251-639D-3B1F7485824E}"/>
              </a:ext>
            </a:extLst>
          </p:cNvPr>
          <p:cNvCxnSpPr>
            <a:cxnSpLocks/>
            <a:stCxn id="7" idx="2"/>
            <a:endCxn id="13" idx="0"/>
          </p:cNvCxnSpPr>
          <p:nvPr/>
        </p:nvCxnSpPr>
        <p:spPr>
          <a:xfrm rot="16200000" flipH="1">
            <a:off x="4789391" y="821177"/>
            <a:ext cx="618981" cy="2383694"/>
          </a:xfrm>
          <a:prstGeom prst="bentConnector3">
            <a:avLst>
              <a:gd name="adj1" fmla="val 50000"/>
            </a:avLst>
          </a:prstGeom>
          <a:ln>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D49F3608-185D-2C3F-46E7-19BC0D7CAE29}"/>
              </a:ext>
            </a:extLst>
          </p:cNvPr>
          <p:cNvSpPr/>
          <p:nvPr/>
        </p:nvSpPr>
        <p:spPr bwMode="gray">
          <a:xfrm>
            <a:off x="626592" y="2993177"/>
            <a:ext cx="3767491" cy="2376682"/>
          </a:xfrm>
          <a:prstGeom prst="rect">
            <a:avLst/>
          </a:prstGeom>
          <a:solidFill>
            <a:schemeClr val="bg1">
              <a:lumMod val="95000"/>
            </a:schemeClr>
          </a:solidFill>
          <a:ln w="19050" algn="ctr">
            <a:solidFill>
              <a:srgbClr val="D1ECA0"/>
            </a:solidFill>
            <a:miter lim="800000"/>
            <a:headEnd/>
            <a:tailEnd/>
          </a:ln>
        </p:spPr>
        <p:txBody>
          <a:bodyPr wrap="square" lIns="88900" tIns="88900" rIns="88900" bIns="88900" rtlCol="0" anchor="ctr"/>
          <a:lstStyle/>
          <a:p>
            <a:pPr marL="169863" indent="-169863">
              <a:lnSpc>
                <a:spcPct val="150000"/>
              </a:lnSpc>
              <a:buFont typeface="Arial" panose="020B0604020202020204" pitchFamily="34" charset="0"/>
              <a:buChar char="•"/>
            </a:pPr>
            <a:r>
              <a:rPr lang="en-US" sz="1400">
                <a:latin typeface="Arial" panose="020B0604020202020204" pitchFamily="34" charset="0"/>
                <a:cs typeface="Arial" panose="020B0604020202020204" pitchFamily="34" charset="0"/>
              </a:rPr>
              <a:t>Contractual Obligation for NEA – </a:t>
            </a:r>
            <a:r>
              <a:rPr lang="en-US" sz="1400" b="1">
                <a:latin typeface="Arial" panose="020B0604020202020204" pitchFamily="34" charset="0"/>
                <a:cs typeface="Arial" panose="020B0604020202020204" pitchFamily="34" charset="0"/>
              </a:rPr>
              <a:t>Take or Pay</a:t>
            </a:r>
          </a:p>
          <a:p>
            <a:pPr marL="169863" indent="-169863">
              <a:lnSpc>
                <a:spcPct val="150000"/>
              </a:lnSpc>
              <a:buFont typeface="Arial" panose="020B0604020202020204" pitchFamily="34" charset="0"/>
              <a:buChar char="•"/>
            </a:pPr>
            <a:r>
              <a:rPr lang="en-US" sz="1400">
                <a:latin typeface="Arial" panose="020B0604020202020204" pitchFamily="34" charset="0"/>
                <a:cs typeface="Arial" panose="020B0604020202020204" pitchFamily="34" charset="0"/>
              </a:rPr>
              <a:t>Purchase Season – </a:t>
            </a:r>
            <a:r>
              <a:rPr lang="en-US" sz="1400" b="1">
                <a:latin typeface="Arial" panose="020B0604020202020204" pitchFamily="34" charset="0"/>
                <a:cs typeface="Arial" panose="020B0604020202020204" pitchFamily="34" charset="0"/>
              </a:rPr>
              <a:t>Dry and Wet Months </a:t>
            </a:r>
            <a:r>
              <a:rPr lang="en-US" sz="1400">
                <a:latin typeface="Arial" panose="020B0604020202020204" pitchFamily="34" charset="0"/>
                <a:cs typeface="Arial" panose="020B0604020202020204" pitchFamily="34" charset="0"/>
              </a:rPr>
              <a:t>Electricity Purchase Price – </a:t>
            </a:r>
            <a:r>
              <a:rPr lang="en-US" sz="1400" b="1">
                <a:latin typeface="Arial" panose="020B0604020202020204" pitchFamily="34" charset="0"/>
                <a:cs typeface="Arial" panose="020B0604020202020204" pitchFamily="34" charset="0"/>
              </a:rPr>
              <a:t>As per PPA </a:t>
            </a:r>
            <a:r>
              <a:rPr lang="en-US" sz="1400">
                <a:latin typeface="Arial" panose="020B0604020202020204" pitchFamily="34" charset="0"/>
                <a:cs typeface="Arial" panose="020B0604020202020204" pitchFamily="34" charset="0"/>
              </a:rPr>
              <a:t>(dry season - NPR 8.4/kwh and wet season – NPR 4.8/kwh)</a:t>
            </a:r>
          </a:p>
          <a:p>
            <a:pPr marL="169863" indent="-169863">
              <a:lnSpc>
                <a:spcPct val="150000"/>
              </a:lnSpc>
              <a:buFont typeface="Arial" panose="020B0604020202020204" pitchFamily="34" charset="0"/>
              <a:buChar char="•"/>
            </a:pPr>
            <a:r>
              <a:rPr lang="en-US" sz="1400">
                <a:latin typeface="Arial" panose="020B0604020202020204" pitchFamily="34" charset="0"/>
                <a:cs typeface="Arial" panose="020B0604020202020204" pitchFamily="34" charset="0"/>
              </a:rPr>
              <a:t>Price Escalation – </a:t>
            </a:r>
            <a:r>
              <a:rPr lang="en-US" sz="1400" b="1">
                <a:latin typeface="Arial" panose="020B0604020202020204" pitchFamily="34" charset="0"/>
                <a:cs typeface="Arial" panose="020B0604020202020204" pitchFamily="34" charset="0"/>
              </a:rPr>
              <a:t>3% till 8 times </a:t>
            </a:r>
          </a:p>
        </p:txBody>
      </p:sp>
      <p:sp>
        <p:nvSpPr>
          <p:cNvPr id="26" name="Rectangle 25">
            <a:extLst>
              <a:ext uri="{FF2B5EF4-FFF2-40B4-BE49-F238E27FC236}">
                <a16:creationId xmlns:a16="http://schemas.microsoft.com/office/drawing/2014/main" id="{7754374F-3ABF-AC27-B47F-F495055A749B}"/>
              </a:ext>
            </a:extLst>
          </p:cNvPr>
          <p:cNvSpPr/>
          <p:nvPr/>
        </p:nvSpPr>
        <p:spPr bwMode="gray">
          <a:xfrm>
            <a:off x="4462439" y="2993176"/>
            <a:ext cx="3670803" cy="2376681"/>
          </a:xfrm>
          <a:prstGeom prst="rect">
            <a:avLst/>
          </a:prstGeom>
          <a:solidFill>
            <a:schemeClr val="bg1">
              <a:lumMod val="95000"/>
            </a:schemeClr>
          </a:solidFill>
          <a:ln w="19050" algn="ctr">
            <a:solidFill>
              <a:srgbClr val="BCEBFF"/>
            </a:solidFill>
            <a:miter lim="800000"/>
            <a:headEnd/>
            <a:tailEnd/>
          </a:ln>
        </p:spPr>
        <p:txBody>
          <a:bodyPr wrap="square" lIns="88900" tIns="88900" rIns="88900" bIns="88900" rtlCol="0" anchor="ctr"/>
          <a:lstStyle/>
          <a:p>
            <a:pPr marL="169863" indent="-169863">
              <a:lnSpc>
                <a:spcPct val="106000"/>
              </a:lnSpc>
              <a:buFont typeface="Arial" panose="020B0604020202020204" pitchFamily="34" charset="0"/>
              <a:buChar char="•"/>
            </a:pPr>
            <a:r>
              <a:rPr lang="en-US" sz="1400">
                <a:latin typeface="Arial" panose="020B0604020202020204" pitchFamily="34" charset="0"/>
                <a:cs typeface="Arial" panose="020B0604020202020204" pitchFamily="34" charset="0"/>
              </a:rPr>
              <a:t>Contractual Obligation for NEA – </a:t>
            </a:r>
            <a:r>
              <a:rPr lang="en-US" sz="1400" b="1">
                <a:latin typeface="Arial" panose="020B0604020202020204" pitchFamily="34" charset="0"/>
                <a:cs typeface="Arial" panose="020B0604020202020204" pitchFamily="34" charset="0"/>
              </a:rPr>
              <a:t>Take and Pay</a:t>
            </a:r>
          </a:p>
          <a:p>
            <a:pPr marL="169863" indent="-169863">
              <a:lnSpc>
                <a:spcPct val="150000"/>
              </a:lnSpc>
              <a:buFont typeface="Arial" panose="020B0604020202020204" pitchFamily="34" charset="0"/>
              <a:buChar char="•"/>
            </a:pPr>
            <a:r>
              <a:rPr lang="en-US" sz="1400">
                <a:latin typeface="Arial" panose="020B0604020202020204" pitchFamily="34" charset="0"/>
                <a:cs typeface="Arial" panose="020B0604020202020204" pitchFamily="34" charset="0"/>
              </a:rPr>
              <a:t>Purchase Season – </a:t>
            </a:r>
            <a:r>
              <a:rPr lang="en-US" sz="1400" b="1">
                <a:latin typeface="Arial" panose="020B0604020202020204" pitchFamily="34" charset="0"/>
                <a:cs typeface="Arial" panose="020B0604020202020204" pitchFamily="34" charset="0"/>
              </a:rPr>
              <a:t>Wet Months </a:t>
            </a:r>
          </a:p>
          <a:p>
            <a:pPr marL="169863" indent="-169863">
              <a:lnSpc>
                <a:spcPct val="150000"/>
              </a:lnSpc>
              <a:buFont typeface="Arial" panose="020B0604020202020204" pitchFamily="34" charset="0"/>
              <a:buChar char="•"/>
            </a:pPr>
            <a:r>
              <a:rPr lang="en-US" sz="1400">
                <a:latin typeface="Arial" panose="020B0604020202020204" pitchFamily="34" charset="0"/>
                <a:cs typeface="Arial" panose="020B0604020202020204" pitchFamily="34" charset="0"/>
              </a:rPr>
              <a:t>Electricity Purchase Price – </a:t>
            </a:r>
            <a:r>
              <a:rPr lang="en-US" sz="1400" b="1">
                <a:latin typeface="Arial" panose="020B0604020202020204" pitchFamily="34" charset="0"/>
                <a:cs typeface="Arial" panose="020B0604020202020204" pitchFamily="34" charset="0"/>
              </a:rPr>
              <a:t>As per PPA</a:t>
            </a:r>
          </a:p>
          <a:p>
            <a:pPr marL="169863" indent="-169863">
              <a:lnSpc>
                <a:spcPct val="150000"/>
              </a:lnSpc>
              <a:buFont typeface="Arial" panose="020B0604020202020204" pitchFamily="34" charset="0"/>
              <a:buChar char="•"/>
            </a:pPr>
            <a:r>
              <a:rPr lang="en-US" sz="1400">
                <a:latin typeface="Arial" panose="020B0604020202020204" pitchFamily="34" charset="0"/>
                <a:cs typeface="Arial" panose="020B0604020202020204" pitchFamily="34" charset="0"/>
              </a:rPr>
              <a:t>Price Escalation – </a:t>
            </a:r>
            <a:r>
              <a:rPr lang="en-US" sz="1400" b="1">
                <a:latin typeface="Arial" panose="020B0604020202020204" pitchFamily="34" charset="0"/>
                <a:cs typeface="Arial" panose="020B0604020202020204" pitchFamily="34" charset="0"/>
              </a:rPr>
              <a:t>3% till 8 times </a:t>
            </a:r>
          </a:p>
        </p:txBody>
      </p:sp>
      <p:sp>
        <p:nvSpPr>
          <p:cNvPr id="38" name="Rectangle 37">
            <a:extLst>
              <a:ext uri="{FF2B5EF4-FFF2-40B4-BE49-F238E27FC236}">
                <a16:creationId xmlns:a16="http://schemas.microsoft.com/office/drawing/2014/main" id="{A819E448-0A95-D4D7-D856-7701EA7B5F7C}"/>
              </a:ext>
            </a:extLst>
          </p:cNvPr>
          <p:cNvSpPr/>
          <p:nvPr/>
        </p:nvSpPr>
        <p:spPr bwMode="gray">
          <a:xfrm>
            <a:off x="9419118" y="2313376"/>
            <a:ext cx="2095928" cy="1424904"/>
          </a:xfrm>
          <a:prstGeom prst="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400">
                <a:solidFill>
                  <a:schemeClr val="bg1"/>
                </a:solidFill>
                <a:latin typeface="Arial" panose="020B0604020202020204" pitchFamily="34" charset="0"/>
                <a:cs typeface="Arial" panose="020B0604020202020204" pitchFamily="34" charset="0"/>
              </a:rPr>
              <a:t>NEA sells excess electricity in domestic market at PPA rates</a:t>
            </a:r>
            <a:endParaRPr lang="en-US" sz="1600" b="1">
              <a:solidFill>
                <a:schemeClr val="bg1"/>
              </a:solidFill>
              <a:latin typeface="Arial" panose="020B0604020202020204" pitchFamily="34" charset="0"/>
              <a:cs typeface="Arial" panose="020B0604020202020204" pitchFamily="34" charset="0"/>
            </a:endParaRPr>
          </a:p>
        </p:txBody>
      </p:sp>
      <p:sp>
        <p:nvSpPr>
          <p:cNvPr id="40" name="Rectangle 39">
            <a:extLst>
              <a:ext uri="{FF2B5EF4-FFF2-40B4-BE49-F238E27FC236}">
                <a16:creationId xmlns:a16="http://schemas.microsoft.com/office/drawing/2014/main" id="{DFEB95E1-0D53-21F4-FD32-F0AE309097AB}"/>
              </a:ext>
            </a:extLst>
          </p:cNvPr>
          <p:cNvSpPr/>
          <p:nvPr/>
        </p:nvSpPr>
        <p:spPr bwMode="gray">
          <a:xfrm>
            <a:off x="9419118" y="3927508"/>
            <a:ext cx="2095928" cy="1424904"/>
          </a:xfrm>
          <a:prstGeom prst="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pPr>
            <a:r>
              <a:rPr lang="en-US" sz="1400">
                <a:solidFill>
                  <a:schemeClr val="bg1"/>
                </a:solidFill>
                <a:latin typeface="Arial" panose="020B0604020202020204" pitchFamily="34" charset="0"/>
                <a:cs typeface="Arial" panose="020B0604020202020204" pitchFamily="34" charset="0"/>
              </a:rPr>
              <a:t>NEA sells excess electricity in cross border markets at PPA rates</a:t>
            </a:r>
          </a:p>
        </p:txBody>
      </p:sp>
      <p:cxnSp>
        <p:nvCxnSpPr>
          <p:cNvPr id="41" name="Connector: Elbow 40">
            <a:extLst>
              <a:ext uri="{FF2B5EF4-FFF2-40B4-BE49-F238E27FC236}">
                <a16:creationId xmlns:a16="http://schemas.microsoft.com/office/drawing/2014/main" id="{4371F386-9556-C087-42D5-D40018B051C4}"/>
              </a:ext>
            </a:extLst>
          </p:cNvPr>
          <p:cNvCxnSpPr>
            <a:cxnSpLocks/>
            <a:stCxn id="16" idx="0"/>
            <a:endCxn id="38" idx="1"/>
          </p:cNvCxnSpPr>
          <p:nvPr/>
        </p:nvCxnSpPr>
        <p:spPr>
          <a:xfrm rot="5400000" flipH="1" flipV="1">
            <a:off x="8983367" y="2847875"/>
            <a:ext cx="257797" cy="613705"/>
          </a:xfrm>
          <a:prstGeom prst="bentConnector2">
            <a:avLst/>
          </a:prstGeom>
          <a:ln>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4" name="Connector: Elbow 43">
            <a:extLst>
              <a:ext uri="{FF2B5EF4-FFF2-40B4-BE49-F238E27FC236}">
                <a16:creationId xmlns:a16="http://schemas.microsoft.com/office/drawing/2014/main" id="{5F089584-D75C-1F20-7706-78CAE56FA574}"/>
              </a:ext>
            </a:extLst>
          </p:cNvPr>
          <p:cNvCxnSpPr>
            <a:cxnSpLocks/>
            <a:stCxn id="16" idx="2"/>
            <a:endCxn id="40" idx="1"/>
          </p:cNvCxnSpPr>
          <p:nvPr/>
        </p:nvCxnSpPr>
        <p:spPr>
          <a:xfrm rot="16200000" flipH="1">
            <a:off x="9008594" y="4229436"/>
            <a:ext cx="207342" cy="613705"/>
          </a:xfrm>
          <a:prstGeom prst="bentConnector2">
            <a:avLst/>
          </a:prstGeom>
          <a:ln>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7BB89468-3665-B49D-A4BA-233FC8C70D6B}"/>
              </a:ext>
            </a:extLst>
          </p:cNvPr>
          <p:cNvSpPr/>
          <p:nvPr/>
        </p:nvSpPr>
        <p:spPr bwMode="gray">
          <a:xfrm>
            <a:off x="10268260" y="2147529"/>
            <a:ext cx="365760" cy="365760"/>
          </a:xfrm>
          <a:prstGeom prst="ellipse">
            <a:avLst/>
          </a:prstGeom>
          <a:solidFill>
            <a:schemeClr val="bg1"/>
          </a:solidFill>
          <a:ln w="19050" algn="ctr">
            <a:solidFill>
              <a:srgbClr val="007CB0"/>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a:solidFill>
                  <a:srgbClr val="007CB0"/>
                </a:solidFill>
                <a:latin typeface="Arial" panose="020B0604020202020204" pitchFamily="34" charset="0"/>
                <a:cs typeface="Arial" panose="020B0604020202020204" pitchFamily="34" charset="0"/>
              </a:rPr>
              <a:t>1</a:t>
            </a:r>
          </a:p>
        </p:txBody>
      </p:sp>
      <p:sp>
        <p:nvSpPr>
          <p:cNvPr id="48" name="Oval 47">
            <a:extLst>
              <a:ext uri="{FF2B5EF4-FFF2-40B4-BE49-F238E27FC236}">
                <a16:creationId xmlns:a16="http://schemas.microsoft.com/office/drawing/2014/main" id="{AA3F4987-F945-AA11-B67E-6FA6BC297459}"/>
              </a:ext>
            </a:extLst>
          </p:cNvPr>
          <p:cNvSpPr/>
          <p:nvPr/>
        </p:nvSpPr>
        <p:spPr bwMode="gray">
          <a:xfrm>
            <a:off x="10268260" y="3801035"/>
            <a:ext cx="365760" cy="365760"/>
          </a:xfrm>
          <a:prstGeom prst="ellipse">
            <a:avLst/>
          </a:prstGeom>
          <a:solidFill>
            <a:schemeClr val="bg1"/>
          </a:solidFill>
          <a:ln w="19050" algn="ctr">
            <a:solidFill>
              <a:srgbClr val="007CB0"/>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a:solidFill>
                  <a:srgbClr val="007CB0"/>
                </a:solidFill>
                <a:latin typeface="Arial" panose="020B0604020202020204" pitchFamily="34" charset="0"/>
                <a:cs typeface="Arial" panose="020B0604020202020204" pitchFamily="34" charset="0"/>
              </a:rPr>
              <a:t>2</a:t>
            </a:r>
          </a:p>
        </p:txBody>
      </p:sp>
      <p:grpSp>
        <p:nvGrpSpPr>
          <p:cNvPr id="50" name="Graphic 4">
            <a:extLst>
              <a:ext uri="{FF2B5EF4-FFF2-40B4-BE49-F238E27FC236}">
                <a16:creationId xmlns:a16="http://schemas.microsoft.com/office/drawing/2014/main" id="{2DC090BF-A938-C399-AAC7-00CFB9802A38}"/>
              </a:ext>
            </a:extLst>
          </p:cNvPr>
          <p:cNvGrpSpPr/>
          <p:nvPr/>
        </p:nvGrpSpPr>
        <p:grpSpPr>
          <a:xfrm>
            <a:off x="514889" y="5847760"/>
            <a:ext cx="457202" cy="457198"/>
            <a:chOff x="905454" y="2371173"/>
            <a:chExt cx="361670" cy="361333"/>
          </a:xfrm>
          <a:solidFill>
            <a:schemeClr val="accent5"/>
          </a:solidFill>
        </p:grpSpPr>
        <p:sp>
          <p:nvSpPr>
            <p:cNvPr id="51" name="Graphic 4">
              <a:extLst>
                <a:ext uri="{FF2B5EF4-FFF2-40B4-BE49-F238E27FC236}">
                  <a16:creationId xmlns:a16="http://schemas.microsoft.com/office/drawing/2014/main" id="{E3193017-033A-9FF4-6000-9BADF63D990E}"/>
                </a:ext>
              </a:extLst>
            </p:cNvPr>
            <p:cNvSpPr/>
            <p:nvPr/>
          </p:nvSpPr>
          <p:spPr>
            <a:xfrm>
              <a:off x="1109293" y="2492469"/>
              <a:ext cx="53036" cy="52987"/>
            </a:xfrm>
            <a:custGeom>
              <a:avLst/>
              <a:gdLst>
                <a:gd name="connsiteX0" fmla="*/ 0 w 53036"/>
                <a:gd name="connsiteY0" fmla="*/ 0 h 52987"/>
                <a:gd name="connsiteX1" fmla="*/ 53037 w 53036"/>
                <a:gd name="connsiteY1" fmla="*/ 0 h 52987"/>
                <a:gd name="connsiteX2" fmla="*/ 53037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7" y="0"/>
                  </a:lnTo>
                  <a:lnTo>
                    <a:pt x="53037" y="52987"/>
                  </a:lnTo>
                  <a:lnTo>
                    <a:pt x="0" y="52987"/>
                  </a:lnTo>
                  <a:close/>
                </a:path>
              </a:pathLst>
            </a:custGeom>
            <a:grpFill/>
            <a:ln w="6390" cap="flat">
              <a:noFill/>
              <a:prstDash val="solid"/>
              <a:miter/>
            </a:ln>
          </p:spPr>
          <p:txBody>
            <a:bodyPr rtlCol="0" anchor="ctr"/>
            <a:lstStyle/>
            <a:p>
              <a:endParaRPr lang="en-US"/>
            </a:p>
          </p:txBody>
        </p:sp>
        <p:sp>
          <p:nvSpPr>
            <p:cNvPr id="63" name="Graphic 4">
              <a:extLst>
                <a:ext uri="{FF2B5EF4-FFF2-40B4-BE49-F238E27FC236}">
                  <a16:creationId xmlns:a16="http://schemas.microsoft.com/office/drawing/2014/main" id="{DC1C0596-44F4-E145-C353-6D887E8542A1}"/>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250 w 361670"/>
                <a:gd name="connsiteY5" fmla="*/ 180667 h 361333"/>
                <a:gd name="connsiteX6" fmla="*/ 99044 w 361670"/>
                <a:gd name="connsiteY6" fmla="*/ 252806 h 361333"/>
                <a:gd name="connsiteX7" fmla="*/ 92654 w 361670"/>
                <a:gd name="connsiteY7" fmla="*/ 246422 h 361333"/>
                <a:gd name="connsiteX8" fmla="*/ 99044 w 361670"/>
                <a:gd name="connsiteY8" fmla="*/ 240038 h 361333"/>
                <a:gd name="connsiteX9" fmla="*/ 157831 w 361670"/>
                <a:gd name="connsiteY9" fmla="*/ 187051 h 361333"/>
                <a:gd name="connsiteX10" fmla="*/ 99044 w 361670"/>
                <a:gd name="connsiteY10" fmla="*/ 187051 h 361333"/>
                <a:gd name="connsiteX11" fmla="*/ 92654 w 361670"/>
                <a:gd name="connsiteY11" fmla="*/ 180667 h 361333"/>
                <a:gd name="connsiteX12" fmla="*/ 92654 w 361670"/>
                <a:gd name="connsiteY12" fmla="*/ 114912 h 361333"/>
                <a:gd name="connsiteX13" fmla="*/ 99044 w 361670"/>
                <a:gd name="connsiteY13" fmla="*/ 108528 h 361333"/>
                <a:gd name="connsiteX14" fmla="*/ 164860 w 361670"/>
                <a:gd name="connsiteY14" fmla="*/ 108528 h 361333"/>
                <a:gd name="connsiteX15" fmla="*/ 171250 w 361670"/>
                <a:gd name="connsiteY15" fmla="*/ 114912 h 361333"/>
                <a:gd name="connsiteX16" fmla="*/ 171250 w 361670"/>
                <a:gd name="connsiteY16" fmla="*/ 180667 h 361333"/>
                <a:gd name="connsiteX17" fmla="*/ 269655 w 361670"/>
                <a:gd name="connsiteY17" fmla="*/ 180667 h 361333"/>
                <a:gd name="connsiteX18" fmla="*/ 197449 w 361670"/>
                <a:gd name="connsiteY18" fmla="*/ 252806 h 361333"/>
                <a:gd name="connsiteX19" fmla="*/ 191059 w 361670"/>
                <a:gd name="connsiteY19" fmla="*/ 246422 h 361333"/>
                <a:gd name="connsiteX20" fmla="*/ 197449 w 361670"/>
                <a:gd name="connsiteY20" fmla="*/ 240038 h 361333"/>
                <a:gd name="connsiteX21" fmla="*/ 256237 w 361670"/>
                <a:gd name="connsiteY21" fmla="*/ 187051 h 361333"/>
                <a:gd name="connsiteX22" fmla="*/ 197449 w 361670"/>
                <a:gd name="connsiteY22" fmla="*/ 187051 h 361333"/>
                <a:gd name="connsiteX23" fmla="*/ 191059 w 361670"/>
                <a:gd name="connsiteY23" fmla="*/ 180667 h 361333"/>
                <a:gd name="connsiteX24" fmla="*/ 191059 w 361670"/>
                <a:gd name="connsiteY24" fmla="*/ 114912 h 361333"/>
                <a:gd name="connsiteX25" fmla="*/ 197449 w 361670"/>
                <a:gd name="connsiteY25" fmla="*/ 108528 h 361333"/>
                <a:gd name="connsiteX26" fmla="*/ 263265 w 361670"/>
                <a:gd name="connsiteY26" fmla="*/ 108528 h 361333"/>
                <a:gd name="connsiteX27" fmla="*/ 269655 w 361670"/>
                <a:gd name="connsiteY27" fmla="*/ 114912 h 361333"/>
                <a:gd name="connsiteX28" fmla="*/ 269655 w 361670"/>
                <a:gd name="connsiteY2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71250" y="180667"/>
                  </a:moveTo>
                  <a:cubicBezTo>
                    <a:pt x="171250" y="221524"/>
                    <a:pt x="139940" y="252806"/>
                    <a:pt x="99044" y="252806"/>
                  </a:cubicBezTo>
                  <a:cubicBezTo>
                    <a:pt x="95210" y="252806"/>
                    <a:pt x="92654" y="250252"/>
                    <a:pt x="92654" y="246422"/>
                  </a:cubicBezTo>
                  <a:cubicBezTo>
                    <a:pt x="92654" y="242591"/>
                    <a:pt x="95210" y="240038"/>
                    <a:pt x="99044" y="240038"/>
                  </a:cubicBezTo>
                  <a:cubicBezTo>
                    <a:pt x="130994" y="240038"/>
                    <a:pt x="155275" y="217694"/>
                    <a:pt x="157831" y="187051"/>
                  </a:cubicBezTo>
                  <a:lnTo>
                    <a:pt x="99044" y="187051"/>
                  </a:lnTo>
                  <a:cubicBezTo>
                    <a:pt x="95210" y="187051"/>
                    <a:pt x="92654" y="184497"/>
                    <a:pt x="92654" y="180667"/>
                  </a:cubicBezTo>
                  <a:lnTo>
                    <a:pt x="92654" y="114912"/>
                  </a:lnTo>
                  <a:cubicBezTo>
                    <a:pt x="92654" y="111081"/>
                    <a:pt x="95210" y="108528"/>
                    <a:pt x="99044" y="108528"/>
                  </a:cubicBezTo>
                  <a:lnTo>
                    <a:pt x="164860" y="108528"/>
                  </a:lnTo>
                  <a:cubicBezTo>
                    <a:pt x="168694" y="108528"/>
                    <a:pt x="171250" y="111081"/>
                    <a:pt x="171250" y="114912"/>
                  </a:cubicBezTo>
                  <a:lnTo>
                    <a:pt x="171250" y="180667"/>
                  </a:lnTo>
                  <a:close/>
                  <a:moveTo>
                    <a:pt x="269655" y="180667"/>
                  </a:moveTo>
                  <a:cubicBezTo>
                    <a:pt x="269655" y="221524"/>
                    <a:pt x="238345" y="252806"/>
                    <a:pt x="197449" y="252806"/>
                  </a:cubicBezTo>
                  <a:cubicBezTo>
                    <a:pt x="193615" y="252806"/>
                    <a:pt x="191059" y="250252"/>
                    <a:pt x="191059" y="246422"/>
                  </a:cubicBezTo>
                  <a:cubicBezTo>
                    <a:pt x="191059" y="242591"/>
                    <a:pt x="193615" y="240038"/>
                    <a:pt x="197449" y="240038"/>
                  </a:cubicBezTo>
                  <a:cubicBezTo>
                    <a:pt x="229399" y="240038"/>
                    <a:pt x="253680" y="217694"/>
                    <a:pt x="256237" y="187051"/>
                  </a:cubicBezTo>
                  <a:lnTo>
                    <a:pt x="197449" y="187051"/>
                  </a:lnTo>
                  <a:cubicBezTo>
                    <a:pt x="193615" y="187051"/>
                    <a:pt x="191059" y="184497"/>
                    <a:pt x="191059" y="180667"/>
                  </a:cubicBezTo>
                  <a:lnTo>
                    <a:pt x="191059" y="114912"/>
                  </a:lnTo>
                  <a:cubicBezTo>
                    <a:pt x="191059" y="111081"/>
                    <a:pt x="193615" y="108528"/>
                    <a:pt x="197449" y="108528"/>
                  </a:cubicBezTo>
                  <a:lnTo>
                    <a:pt x="263265" y="108528"/>
                  </a:lnTo>
                  <a:cubicBezTo>
                    <a:pt x="267099" y="108528"/>
                    <a:pt x="269655" y="111081"/>
                    <a:pt x="269655" y="114912"/>
                  </a:cubicBezTo>
                  <a:lnTo>
                    <a:pt x="269655" y="180667"/>
                  </a:lnTo>
                  <a:close/>
                </a:path>
              </a:pathLst>
            </a:custGeom>
            <a:grpFill/>
            <a:ln w="6390" cap="flat">
              <a:noFill/>
              <a:prstDash val="solid"/>
              <a:miter/>
            </a:ln>
          </p:spPr>
          <p:txBody>
            <a:bodyPr rtlCol="0" anchor="ctr"/>
            <a:lstStyle/>
            <a:p>
              <a:endParaRPr lang="en-US"/>
            </a:p>
          </p:txBody>
        </p:sp>
        <p:sp>
          <p:nvSpPr>
            <p:cNvPr id="1088" name="Graphic 4">
              <a:extLst>
                <a:ext uri="{FF2B5EF4-FFF2-40B4-BE49-F238E27FC236}">
                  <a16:creationId xmlns:a16="http://schemas.microsoft.com/office/drawing/2014/main" id="{6ED82C99-8920-A3C6-B3D7-F57AD8F288A8}"/>
                </a:ext>
              </a:extLst>
            </p:cNvPr>
            <p:cNvSpPr/>
            <p:nvPr/>
          </p:nvSpPr>
          <p:spPr>
            <a:xfrm>
              <a:off x="1010888" y="2492469"/>
              <a:ext cx="53036" cy="52987"/>
            </a:xfrm>
            <a:custGeom>
              <a:avLst/>
              <a:gdLst>
                <a:gd name="connsiteX0" fmla="*/ 0 w 53036"/>
                <a:gd name="connsiteY0" fmla="*/ 0 h 52987"/>
                <a:gd name="connsiteX1" fmla="*/ 53036 w 53036"/>
                <a:gd name="connsiteY1" fmla="*/ 0 h 52987"/>
                <a:gd name="connsiteX2" fmla="*/ 53036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6" y="0"/>
                  </a:lnTo>
                  <a:lnTo>
                    <a:pt x="53036" y="52987"/>
                  </a:lnTo>
                  <a:lnTo>
                    <a:pt x="0" y="52987"/>
                  </a:lnTo>
                  <a:close/>
                </a:path>
              </a:pathLst>
            </a:custGeom>
            <a:grpFill/>
            <a:ln w="6390" cap="flat">
              <a:noFill/>
              <a:prstDash val="solid"/>
              <a:miter/>
            </a:ln>
          </p:spPr>
          <p:txBody>
            <a:bodyPr rtlCol="0" anchor="ctr"/>
            <a:lstStyle/>
            <a:p>
              <a:endParaRPr lang="en-US"/>
            </a:p>
          </p:txBody>
        </p:sp>
      </p:grpSp>
      <p:sp>
        <p:nvSpPr>
          <p:cNvPr id="1090" name="TextBox 1089">
            <a:extLst>
              <a:ext uri="{FF2B5EF4-FFF2-40B4-BE49-F238E27FC236}">
                <a16:creationId xmlns:a16="http://schemas.microsoft.com/office/drawing/2014/main" id="{DDB4AD5F-E0F1-45E6-5F49-F365959BBFA2}"/>
              </a:ext>
            </a:extLst>
          </p:cNvPr>
          <p:cNvSpPr txBox="1"/>
          <p:nvPr/>
        </p:nvSpPr>
        <p:spPr>
          <a:xfrm>
            <a:off x="1013214" y="5599305"/>
            <a:ext cx="10623540" cy="954107"/>
          </a:xfrm>
          <a:prstGeom prst="rect">
            <a:avLst/>
          </a:prstGeom>
          <a:noFill/>
        </p:spPr>
        <p:txBody>
          <a:bodyPr wrap="square">
            <a:spAutoFit/>
          </a:bodyPr>
          <a:lstStyle/>
          <a:p>
            <a:pPr algn="just"/>
            <a:r>
              <a:rPr lang="en-US" sz="1400" dirty="0">
                <a:latin typeface="Arial" panose="020B0604020202020204" pitchFamily="34" charset="0"/>
                <a:cs typeface="Arial" panose="020B0604020202020204" pitchFamily="34" charset="0"/>
              </a:rPr>
              <a:t>The project’s current transaction structure makes </a:t>
            </a:r>
            <a:r>
              <a:rPr lang="en-US" sz="1400" b="1" dirty="0">
                <a:latin typeface="Arial" panose="020B0604020202020204" pitchFamily="34" charset="0"/>
                <a:cs typeface="Arial" panose="020B0604020202020204" pitchFamily="34" charset="0"/>
              </a:rPr>
              <a:t>sale of additional 30 MW subject to NEA’s discretion which further depends on futuristic seasonal domestic market demand, regulatory and policy framework and NEA’s participation in CBET markets.</a:t>
            </a:r>
            <a:r>
              <a:rPr lang="en-US" sz="1400" dirty="0">
                <a:latin typeface="Arial" panose="020B0604020202020204" pitchFamily="34" charset="0"/>
                <a:cs typeface="Arial" panose="020B0604020202020204" pitchFamily="34" charset="0"/>
              </a:rPr>
              <a:t> It is therefore important to assess the market and the commercial aspects of the domestic market in Nepal and export markets in India. </a:t>
            </a:r>
            <a:endParaRPr lang="en-US" sz="1400" dirty="0"/>
          </a:p>
        </p:txBody>
      </p:sp>
      <p:sp>
        <p:nvSpPr>
          <p:cNvPr id="1093" name="Isosceles Triangle 1092">
            <a:extLst>
              <a:ext uri="{FF2B5EF4-FFF2-40B4-BE49-F238E27FC236}">
                <a16:creationId xmlns:a16="http://schemas.microsoft.com/office/drawing/2014/main" id="{954463A8-5981-CFE9-7BBD-1BA58DBCAF37}"/>
              </a:ext>
            </a:extLst>
          </p:cNvPr>
          <p:cNvSpPr/>
          <p:nvPr/>
        </p:nvSpPr>
        <p:spPr bwMode="gray">
          <a:xfrm rot="5400000">
            <a:off x="2467660" y="1335575"/>
            <a:ext cx="481557" cy="155613"/>
          </a:xfrm>
          <a:prstGeom prst="triangl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6" name="Rectangle 15">
            <a:extLst>
              <a:ext uri="{FF2B5EF4-FFF2-40B4-BE49-F238E27FC236}">
                <a16:creationId xmlns:a16="http://schemas.microsoft.com/office/drawing/2014/main" id="{23CAB33A-5AFE-B508-18C7-67016C2AF8FB}"/>
              </a:ext>
            </a:extLst>
          </p:cNvPr>
          <p:cNvSpPr/>
          <p:nvPr/>
        </p:nvSpPr>
        <p:spPr bwMode="gray">
          <a:xfrm>
            <a:off x="8376221" y="3283625"/>
            <a:ext cx="858383" cy="1148993"/>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effectLst/>
              <a:uLnTx/>
              <a:uFillTx/>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id="{4F674184-FE4F-FFE3-68E6-40F6AD0907FE}"/>
              </a:ext>
            </a:extLst>
          </p:cNvPr>
          <p:cNvSpPr txBox="1"/>
          <p:nvPr/>
        </p:nvSpPr>
        <p:spPr>
          <a:xfrm>
            <a:off x="8350200" y="3927508"/>
            <a:ext cx="901368" cy="461665"/>
          </a:xfrm>
          <a:prstGeom prst="rect">
            <a:avLst/>
          </a:prstGeom>
          <a:noFill/>
        </p:spPr>
        <p:txBody>
          <a:bodyPr wrap="square" lIns="0" tIns="0" rIns="0" bIns="0" rtlCol="0">
            <a:spAutoFit/>
          </a:bodyPr>
          <a:lstStyle/>
          <a:p>
            <a:pPr marL="0" marR="0" lvl="0" indent="0" algn="ctr" defTabSz="914255" rtl="0" eaLnBrk="1" fontAlgn="auto" latinLnBrk="0" hangingPunct="1">
              <a:lnSpc>
                <a:spcPct val="100000"/>
              </a:lnSpc>
              <a:spcBef>
                <a:spcPts val="600"/>
              </a:spcBef>
              <a:spcAft>
                <a:spcPts val="0"/>
              </a:spcAft>
              <a:buClrTx/>
              <a:buSzPct val="100000"/>
              <a:buFontTx/>
              <a:buNone/>
              <a:tabLst/>
              <a:defRPr/>
            </a:pPr>
            <a:r>
              <a:rPr kumimoji="0" lang="en-US" sz="1000" b="1" i="0" u="none" strike="noStrike" kern="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Nepal Electricity Authority</a:t>
            </a:r>
          </a:p>
        </p:txBody>
      </p:sp>
      <p:pic>
        <p:nvPicPr>
          <p:cNvPr id="45" name="Picture 4" descr="Nepal Electricity Authority, Nepal | LinkedIn">
            <a:extLst>
              <a:ext uri="{FF2B5EF4-FFF2-40B4-BE49-F238E27FC236}">
                <a16:creationId xmlns:a16="http://schemas.microsoft.com/office/drawing/2014/main" id="{D7D65E00-11B0-7E58-EEC4-A883B1E6EF7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26775" y="3359338"/>
            <a:ext cx="533856" cy="533856"/>
          </a:xfrm>
          <a:prstGeom prst="rect">
            <a:avLst/>
          </a:prstGeom>
          <a:noFill/>
          <a:extLst>
            <a:ext uri="{909E8E84-426E-40DD-AFC4-6F175D3DCCD1}">
              <a14:hiddenFill xmlns:a14="http://schemas.microsoft.com/office/drawing/2010/main">
                <a:solidFill>
                  <a:srgbClr val="FFFFFF"/>
                </a:solidFill>
              </a14:hiddenFill>
            </a:ext>
          </a:extLst>
        </p:spPr>
      </p:pic>
      <p:cxnSp>
        <p:nvCxnSpPr>
          <p:cNvPr id="53" name="Connector: Elbow 52">
            <a:extLst>
              <a:ext uri="{FF2B5EF4-FFF2-40B4-BE49-F238E27FC236}">
                <a16:creationId xmlns:a16="http://schemas.microsoft.com/office/drawing/2014/main" id="{CB92D944-CED7-C4A8-D553-9FDEF921E96F}"/>
              </a:ext>
            </a:extLst>
          </p:cNvPr>
          <p:cNvCxnSpPr>
            <a:cxnSpLocks/>
            <a:stCxn id="13" idx="3"/>
            <a:endCxn id="16" idx="1"/>
          </p:cNvCxnSpPr>
          <p:nvPr/>
        </p:nvCxnSpPr>
        <p:spPr>
          <a:xfrm>
            <a:off x="8119016" y="2620466"/>
            <a:ext cx="257205" cy="1237656"/>
          </a:xfrm>
          <a:prstGeom prst="bentConnector3">
            <a:avLst>
              <a:gd name="adj1" fmla="val 50000"/>
            </a:avLst>
          </a:prstGeom>
          <a:ln>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165134"/>
      </p:ext>
    </p:extLst>
  </p:cSld>
  <p:clrMapOvr>
    <a:masterClrMapping/>
  </p:clrMapOvr>
  <p:transition>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15678418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3" imgW="415" imgH="416" progId="TCLayout.ActiveDocument.1">
                  <p:embed/>
                </p:oleObj>
              </mc:Choice>
              <mc:Fallback>
                <p:oleObj name="think-cell Slide" r:id="rId43"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44"/>
                      <a:stretch>
                        <a:fillRect/>
                      </a:stretch>
                    </p:blipFill>
                    <p:spPr>
                      <a:xfrm>
                        <a:off x="1828" y="1723"/>
                        <a:ext cx="1588" cy="1588"/>
                      </a:xfrm>
                      <a:prstGeom prst="rect">
                        <a:avLst/>
                      </a:prstGeom>
                    </p:spPr>
                  </p:pic>
                </p:oleObj>
              </mc:Fallback>
            </mc:AlternateContent>
          </a:graphicData>
        </a:graphic>
      </p:graphicFrame>
      <p:sp>
        <p:nvSpPr>
          <p:cNvPr id="1577" name="Rectangle 1576">
            <a:extLst>
              <a:ext uri="{FF2B5EF4-FFF2-40B4-BE49-F238E27FC236}">
                <a16:creationId xmlns:a16="http://schemas.microsoft.com/office/drawing/2014/main" id="{A72A65E5-B8A9-26F7-7746-7C905ECCC0F4}"/>
              </a:ext>
            </a:extLst>
          </p:cNvPr>
          <p:cNvSpPr/>
          <p:nvPr/>
        </p:nvSpPr>
        <p:spPr bwMode="gray">
          <a:xfrm>
            <a:off x="2243666" y="1401763"/>
            <a:ext cx="5165198" cy="4305476"/>
          </a:xfrm>
          <a:prstGeom prst="rect">
            <a:avLst/>
          </a:prstGeom>
          <a:solidFill>
            <a:schemeClr val="accent6">
              <a:lumMod val="20000"/>
              <a:lumOff val="80000"/>
              <a:alpha val="63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PJ_ST Project I Monthly Generation Profile</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The hydro plant is envisaged to generate additional power during the wet season</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67" name="Straight Connector 1566">
            <a:extLst>
              <a:ext uri="{FF2B5EF4-FFF2-40B4-BE49-F238E27FC236}">
                <a16:creationId xmlns:a16="http://schemas.microsoft.com/office/drawing/2014/main" id="{181DB67A-99A6-795F-8E26-4D6CACF1FF9A}"/>
              </a:ext>
            </a:extLst>
          </p:cNvPr>
          <p:cNvCxnSpPr/>
          <p:nvPr>
            <p:custDataLst>
              <p:tags r:id="rId2"/>
            </p:custDataLst>
          </p:nvPr>
        </p:nvCxnSpPr>
        <p:spPr bwMode="gray">
          <a:xfrm>
            <a:off x="952500" y="1771650"/>
            <a:ext cx="10352088" cy="0"/>
          </a:xfrm>
          <a:prstGeom prst="line">
            <a:avLst/>
          </a:prstGeom>
          <a:ln w="9525" cap="flat" cmpd="sng" algn="ctr">
            <a:solidFill>
              <a:srgbClr val="007680"/>
            </a:solidFill>
            <a:prstDash val="lg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37" name="Straight Connector 1536">
            <a:extLst>
              <a:ext uri="{FF2B5EF4-FFF2-40B4-BE49-F238E27FC236}">
                <a16:creationId xmlns:a16="http://schemas.microsoft.com/office/drawing/2014/main" id="{7ACDFBCD-0EC5-C48D-9A29-1B832249123B}"/>
              </a:ext>
            </a:extLst>
          </p:cNvPr>
          <p:cNvCxnSpPr/>
          <p:nvPr>
            <p:custDataLst>
              <p:tags r:id="rId3"/>
            </p:custDataLst>
          </p:nvPr>
        </p:nvCxnSpPr>
        <p:spPr bwMode="gray">
          <a:xfrm>
            <a:off x="952500" y="2738438"/>
            <a:ext cx="10352088" cy="0"/>
          </a:xfrm>
          <a:prstGeom prst="line">
            <a:avLst/>
          </a:prstGeom>
          <a:ln w="9525" cap="flat" cmpd="sng" algn="ctr">
            <a:solidFill>
              <a:srgbClr val="6FC2B4"/>
            </a:solidFill>
            <a:prstDash val="lg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37" name="Chart 36">
            <a:extLst>
              <a:ext uri="{FF2B5EF4-FFF2-40B4-BE49-F238E27FC236}">
                <a16:creationId xmlns:a16="http://schemas.microsoft.com/office/drawing/2014/main" id="{C20E786A-39B9-66D1-0B9C-E9537C40FDC4}"/>
              </a:ext>
            </a:extLst>
          </p:cNvPr>
          <p:cNvGraphicFramePr/>
          <p:nvPr>
            <p:custDataLst>
              <p:tags r:id="rId4"/>
            </p:custDataLst>
            <p:extLst>
              <p:ext uri="{D42A27DB-BD31-4B8C-83A1-F6EECF244321}">
                <p14:modId xmlns:p14="http://schemas.microsoft.com/office/powerpoint/2010/main" val="454164884"/>
              </p:ext>
            </p:extLst>
          </p:nvPr>
        </p:nvGraphicFramePr>
        <p:xfrm>
          <a:off x="222250" y="1358900"/>
          <a:ext cx="11601450" cy="3900488"/>
        </p:xfrm>
        <a:graphic>
          <a:graphicData uri="http://schemas.openxmlformats.org/drawingml/2006/chart">
            <c:chart xmlns:c="http://schemas.openxmlformats.org/drawingml/2006/chart" xmlns:r="http://schemas.openxmlformats.org/officeDocument/2006/relationships" r:id="rId45"/>
          </a:graphicData>
        </a:graphic>
      </p:graphicFrame>
      <p:cxnSp>
        <p:nvCxnSpPr>
          <p:cNvPr id="1541" name="Straight Connector 1540">
            <a:extLst>
              <a:ext uri="{FF2B5EF4-FFF2-40B4-BE49-F238E27FC236}">
                <a16:creationId xmlns:a16="http://schemas.microsoft.com/office/drawing/2014/main" id="{6AF510AA-61F6-0A36-645E-5990CCA0F436}"/>
              </a:ext>
            </a:extLst>
          </p:cNvPr>
          <p:cNvCxnSpPr/>
          <p:nvPr>
            <p:custDataLst>
              <p:tags r:id="rId5"/>
            </p:custDataLst>
          </p:nvPr>
        </p:nvCxnSpPr>
        <p:spPr bwMode="auto">
          <a:xfrm>
            <a:off x="11304588" y="4670425"/>
            <a:ext cx="50800" cy="0"/>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42" name="Straight Connector 1541">
            <a:extLst>
              <a:ext uri="{FF2B5EF4-FFF2-40B4-BE49-F238E27FC236}">
                <a16:creationId xmlns:a16="http://schemas.microsoft.com/office/drawing/2014/main" id="{EF57459E-DC21-25F7-AB44-435EB63D06A8}"/>
              </a:ext>
            </a:extLst>
          </p:cNvPr>
          <p:cNvCxnSpPr/>
          <p:nvPr>
            <p:custDataLst>
              <p:tags r:id="rId6"/>
            </p:custDataLst>
          </p:nvPr>
        </p:nvCxnSpPr>
        <p:spPr bwMode="auto">
          <a:xfrm>
            <a:off x="11304588" y="4348163"/>
            <a:ext cx="50800" cy="0"/>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43" name="Straight Connector 1542">
            <a:extLst>
              <a:ext uri="{FF2B5EF4-FFF2-40B4-BE49-F238E27FC236}">
                <a16:creationId xmlns:a16="http://schemas.microsoft.com/office/drawing/2014/main" id="{50FF4700-955A-90C9-83C8-1781F3B8E317}"/>
              </a:ext>
            </a:extLst>
          </p:cNvPr>
          <p:cNvCxnSpPr/>
          <p:nvPr>
            <p:custDataLst>
              <p:tags r:id="rId7"/>
            </p:custDataLst>
          </p:nvPr>
        </p:nvCxnSpPr>
        <p:spPr bwMode="auto">
          <a:xfrm>
            <a:off x="11304588" y="4025900"/>
            <a:ext cx="50800" cy="0"/>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44" name="Straight Connector 1543">
            <a:extLst>
              <a:ext uri="{FF2B5EF4-FFF2-40B4-BE49-F238E27FC236}">
                <a16:creationId xmlns:a16="http://schemas.microsoft.com/office/drawing/2014/main" id="{74E69A5E-17FC-A211-A892-A2B7F5EDF778}"/>
              </a:ext>
            </a:extLst>
          </p:cNvPr>
          <p:cNvCxnSpPr/>
          <p:nvPr>
            <p:custDataLst>
              <p:tags r:id="rId8"/>
            </p:custDataLst>
          </p:nvPr>
        </p:nvCxnSpPr>
        <p:spPr bwMode="auto">
          <a:xfrm>
            <a:off x="11304588" y="3703638"/>
            <a:ext cx="50800" cy="0"/>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45" name="Straight Connector 1544">
            <a:extLst>
              <a:ext uri="{FF2B5EF4-FFF2-40B4-BE49-F238E27FC236}">
                <a16:creationId xmlns:a16="http://schemas.microsoft.com/office/drawing/2014/main" id="{D5DF067D-8BA7-A8A4-9DD5-56EBCD7EE668}"/>
              </a:ext>
            </a:extLst>
          </p:cNvPr>
          <p:cNvCxnSpPr/>
          <p:nvPr>
            <p:custDataLst>
              <p:tags r:id="rId9"/>
            </p:custDataLst>
          </p:nvPr>
        </p:nvCxnSpPr>
        <p:spPr bwMode="auto">
          <a:xfrm>
            <a:off x="11304588" y="3382963"/>
            <a:ext cx="50800" cy="0"/>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46" name="Straight Connector 1545">
            <a:extLst>
              <a:ext uri="{FF2B5EF4-FFF2-40B4-BE49-F238E27FC236}">
                <a16:creationId xmlns:a16="http://schemas.microsoft.com/office/drawing/2014/main" id="{2C1F992F-9A57-3FC4-1BC1-D28755E86775}"/>
              </a:ext>
            </a:extLst>
          </p:cNvPr>
          <p:cNvCxnSpPr/>
          <p:nvPr>
            <p:custDataLst>
              <p:tags r:id="rId10"/>
            </p:custDataLst>
          </p:nvPr>
        </p:nvCxnSpPr>
        <p:spPr bwMode="auto">
          <a:xfrm>
            <a:off x="11304588" y="3060700"/>
            <a:ext cx="50800" cy="0"/>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47" name="Straight Connector 1546">
            <a:extLst>
              <a:ext uri="{FF2B5EF4-FFF2-40B4-BE49-F238E27FC236}">
                <a16:creationId xmlns:a16="http://schemas.microsoft.com/office/drawing/2014/main" id="{6762CA46-884E-5DE6-02C0-8DA2247DB250}"/>
              </a:ext>
            </a:extLst>
          </p:cNvPr>
          <p:cNvCxnSpPr/>
          <p:nvPr>
            <p:custDataLst>
              <p:tags r:id="rId11"/>
            </p:custDataLst>
          </p:nvPr>
        </p:nvCxnSpPr>
        <p:spPr bwMode="auto">
          <a:xfrm>
            <a:off x="11304588" y="2738438"/>
            <a:ext cx="50800" cy="0"/>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48" name="Straight Connector 1547">
            <a:extLst>
              <a:ext uri="{FF2B5EF4-FFF2-40B4-BE49-F238E27FC236}">
                <a16:creationId xmlns:a16="http://schemas.microsoft.com/office/drawing/2014/main" id="{76059847-8F77-A581-0EB8-18EEF1CA2C36}"/>
              </a:ext>
            </a:extLst>
          </p:cNvPr>
          <p:cNvCxnSpPr/>
          <p:nvPr>
            <p:custDataLst>
              <p:tags r:id="rId12"/>
            </p:custDataLst>
          </p:nvPr>
        </p:nvCxnSpPr>
        <p:spPr bwMode="auto">
          <a:xfrm>
            <a:off x="11304588" y="2416175"/>
            <a:ext cx="50800" cy="0"/>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49" name="Straight Connector 1548">
            <a:extLst>
              <a:ext uri="{FF2B5EF4-FFF2-40B4-BE49-F238E27FC236}">
                <a16:creationId xmlns:a16="http://schemas.microsoft.com/office/drawing/2014/main" id="{4C18CBC4-7E14-115F-1A46-08C3FF95D936}"/>
              </a:ext>
            </a:extLst>
          </p:cNvPr>
          <p:cNvCxnSpPr/>
          <p:nvPr>
            <p:custDataLst>
              <p:tags r:id="rId13"/>
            </p:custDataLst>
          </p:nvPr>
        </p:nvCxnSpPr>
        <p:spPr bwMode="auto">
          <a:xfrm>
            <a:off x="11304588" y="2093913"/>
            <a:ext cx="50800" cy="0"/>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40" name="Straight Connector 1539">
            <a:extLst>
              <a:ext uri="{FF2B5EF4-FFF2-40B4-BE49-F238E27FC236}">
                <a16:creationId xmlns:a16="http://schemas.microsoft.com/office/drawing/2014/main" id="{901D1655-4DC0-31B2-FC4B-2B9313D8AA5F}"/>
              </a:ext>
            </a:extLst>
          </p:cNvPr>
          <p:cNvCxnSpPr/>
          <p:nvPr>
            <p:custDataLst>
              <p:tags r:id="rId14"/>
            </p:custDataLst>
          </p:nvPr>
        </p:nvCxnSpPr>
        <p:spPr bwMode="auto">
          <a:xfrm>
            <a:off x="11304588" y="4992688"/>
            <a:ext cx="50800" cy="0"/>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useBgFill="1">
        <p:nvSpPr>
          <p:cNvPr id="1509" name="Text Placeholder 18">
            <a:extLst>
              <a:ext uri="{FF2B5EF4-FFF2-40B4-BE49-F238E27FC236}">
                <a16:creationId xmlns:a16="http://schemas.microsoft.com/office/drawing/2014/main" id="{73C2034E-F47A-3168-73B9-8D6A65697355}"/>
              </a:ext>
            </a:extLst>
          </p:cNvPr>
          <p:cNvSpPr>
            <a:spLocks noGrp="1"/>
          </p:cNvSpPr>
          <p:nvPr>
            <p:custDataLst>
              <p:tags r:id="rId15"/>
            </p:custDataLst>
          </p:nvPr>
        </p:nvSpPr>
        <p:spPr bwMode="gray">
          <a:xfrm>
            <a:off x="1273175" y="3452813"/>
            <a:ext cx="219075" cy="182563"/>
          </a:xfrm>
          <a:prstGeom prst="rect">
            <a:avLst/>
          </a:prstGeom>
          <a:ln>
            <a:noFill/>
          </a:ln>
          <a:effec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83616F6-C640-489F-890B-BB68FC388283}" type="datetime'''''''''''''''''''''''''4''''''''''''''''''''0'''">
              <a:rPr lang="en-US" altLang="en-US" sz="1200" b="1" smtClean="0">
                <a:solidFill>
                  <a:srgbClr val="009A44"/>
                </a:solidFill>
                <a:effectLst/>
                <a:latin typeface="Arial" panose="020B0604020202020204" pitchFamily="34" charset="0"/>
                <a:cs typeface="+mn-cs"/>
                <a:sym typeface="Arial" panose="020B0604020202020204" pitchFamily="34" charset="0"/>
              </a:rPr>
              <a:pPr lvl="0" algn="ctr">
                <a:spcBef>
                  <a:spcPct val="0"/>
                </a:spcBef>
                <a:spcAft>
                  <a:spcPct val="0"/>
                </a:spcAft>
              </a:pPr>
              <a:t>40</a:t>
            </a:fld>
            <a:endParaRPr lang="en-US" sz="1200" b="1" noProof="0">
              <a:solidFill>
                <a:srgbClr val="009A44"/>
              </a:solidFill>
              <a:latin typeface="Arial" panose="020B0604020202020204" pitchFamily="34" charset="0"/>
              <a:cs typeface="+mn-cs"/>
              <a:sym typeface="Arial" panose="020B0604020202020204" pitchFamily="34" charset="0"/>
            </a:endParaRPr>
          </a:p>
        </p:txBody>
      </p:sp>
      <p:sp>
        <p:nvSpPr>
          <p:cNvPr id="16" name="Text Placeholder 18">
            <a:extLst>
              <a:ext uri="{FF2B5EF4-FFF2-40B4-BE49-F238E27FC236}">
                <a16:creationId xmlns:a16="http://schemas.microsoft.com/office/drawing/2014/main" id="{7CA239B7-6842-ED36-98EA-D53BFB0977C6}"/>
              </a:ext>
            </a:extLst>
          </p:cNvPr>
          <p:cNvSpPr>
            <a:spLocks noGrp="1"/>
          </p:cNvSpPr>
          <p:nvPr>
            <p:custDataLst>
              <p:tags r:id="rId16"/>
            </p:custDataLst>
          </p:nvPr>
        </p:nvSpPr>
        <p:spPr bwMode="auto">
          <a:xfrm>
            <a:off x="1149351" y="5094288"/>
            <a:ext cx="468313"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defRPr/>
            </a:pPr>
            <a:fld id="{56D40AE5-B1E8-41F7-9AE2-A4DB9B392DAD}" type="datetime'''''''16A''''''''''''''''p''''''r''-15''''Ma''''''y'''''''">
              <a:rPr lang="en-US" altLang="en-US" sz="1200" smtClean="0">
                <a:solidFill>
                  <a:srgbClr val="000000"/>
                </a:solidFill>
                <a:latin typeface="Arial" panose="020B0604020202020204" pitchFamily="34" charset="0"/>
              </a:rPr>
              <a:pPr lvl="0" algn="ctr">
                <a:spcBef>
                  <a:spcPct val="0"/>
                </a:spcBef>
                <a:spcAft>
                  <a:spcPct val="0"/>
                </a:spcAft>
                <a:defRPr/>
              </a:pPr>
              <a:t>16Apr-15May</a:t>
            </a:fld>
            <a:endParaRPr kumimoji="0" lang="en-US" sz="1200" b="0" i="0" strike="noStrike" kern="1200" cap="none" spc="0" normalizeH="0" baseline="0" noProof="0">
              <a:ln>
                <a:noFill/>
              </a:ln>
              <a:solidFill>
                <a:srgbClr val="000000"/>
              </a:solidFill>
              <a:effectLst/>
              <a:uLnTx/>
              <a:uFillTx/>
              <a:latin typeface="Arial" panose="020B0604020202020204" pitchFamily="34" charset="0"/>
              <a:sym typeface="Arial" panose="020B0604020202020204" pitchFamily="34" charset="0"/>
            </a:endParaRPr>
          </a:p>
        </p:txBody>
      </p:sp>
      <p:sp>
        <p:nvSpPr>
          <p:cNvPr id="52" name="Text Placeholder 18">
            <a:extLst>
              <a:ext uri="{FF2B5EF4-FFF2-40B4-BE49-F238E27FC236}">
                <a16:creationId xmlns:a16="http://schemas.microsoft.com/office/drawing/2014/main" id="{FA8C18F3-6DF7-7E97-F7D8-789AAE49D11D}"/>
              </a:ext>
            </a:extLst>
          </p:cNvPr>
          <p:cNvSpPr>
            <a:spLocks noGrp="1"/>
          </p:cNvSpPr>
          <p:nvPr>
            <p:custDataLst>
              <p:tags r:id="rId17"/>
            </p:custDataLst>
          </p:nvPr>
        </p:nvSpPr>
        <p:spPr bwMode="auto">
          <a:xfrm>
            <a:off x="1985963" y="5094288"/>
            <a:ext cx="519113"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defRPr/>
            </a:pPr>
            <a:fld id="{CD46ED7A-6914-4AF5-9C25-6BDF93C0FE04}" type="datetime'''1''''''''''''6M''a''y-''1''''''5''J''''''''''''''u''n''''e'">
              <a:rPr lang="en-US" altLang="en-US" sz="1200" smtClean="0">
                <a:solidFill>
                  <a:srgbClr val="000000"/>
                </a:solidFill>
                <a:latin typeface="Arial" panose="020B0604020202020204" pitchFamily="34" charset="0"/>
              </a:rPr>
              <a:pPr lvl="0" algn="ctr">
                <a:spcBef>
                  <a:spcPct val="0"/>
                </a:spcBef>
                <a:spcAft>
                  <a:spcPct val="0"/>
                </a:spcAft>
                <a:defRPr/>
              </a:pPr>
              <a:t>16May-15June</a:t>
            </a:fld>
            <a:endParaRPr kumimoji="0" lang="en-US" sz="1200" b="0" i="0" strike="noStrike" kern="1200" cap="none" spc="0" normalizeH="0" baseline="0" noProof="0">
              <a:ln>
                <a:noFill/>
              </a:ln>
              <a:solidFill>
                <a:srgbClr val="000000"/>
              </a:solidFill>
              <a:effectLst/>
              <a:uLnTx/>
              <a:uFillTx/>
              <a:latin typeface="Arial" panose="020B0604020202020204" pitchFamily="34" charset="0"/>
              <a:sym typeface="Arial" panose="020B0604020202020204" pitchFamily="34" charset="0"/>
            </a:endParaRPr>
          </a:p>
        </p:txBody>
      </p:sp>
      <p:sp>
        <p:nvSpPr>
          <p:cNvPr id="53" name="Text Placeholder 18">
            <a:extLst>
              <a:ext uri="{FF2B5EF4-FFF2-40B4-BE49-F238E27FC236}">
                <a16:creationId xmlns:a16="http://schemas.microsoft.com/office/drawing/2014/main" id="{2BB7106D-A0C7-CEAF-C5BC-B22703E3770E}"/>
              </a:ext>
            </a:extLst>
          </p:cNvPr>
          <p:cNvSpPr>
            <a:spLocks noGrp="1"/>
          </p:cNvSpPr>
          <p:nvPr>
            <p:custDataLst>
              <p:tags r:id="rId18"/>
            </p:custDataLst>
          </p:nvPr>
        </p:nvSpPr>
        <p:spPr bwMode="auto">
          <a:xfrm>
            <a:off x="2828925" y="5094288"/>
            <a:ext cx="560388"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defRPr/>
            </a:pPr>
            <a:fld id="{BC99BCC8-3E44-4DBF-A0AA-917CB353EBCE}" type="datetime'''''''''1''''''6J''''''u''ne''-15''''''J''''''u''''''''l'''''">
              <a:rPr lang="en-US" altLang="en-US" sz="1200" smtClean="0">
                <a:solidFill>
                  <a:srgbClr val="000000"/>
                </a:solidFill>
                <a:latin typeface="Arial" panose="020B0604020202020204" pitchFamily="34" charset="0"/>
              </a:rPr>
              <a:pPr lvl="0" algn="ctr">
                <a:spcBef>
                  <a:spcPct val="0"/>
                </a:spcBef>
                <a:spcAft>
                  <a:spcPct val="0"/>
                </a:spcAft>
                <a:defRPr/>
              </a:pPr>
              <a:t>16June-15Jul</a:t>
            </a:fld>
            <a:endParaRPr kumimoji="0" lang="en-US" sz="1200" b="0" i="0" strike="noStrike" kern="1200" cap="none" spc="0" normalizeH="0" baseline="0" noProof="0">
              <a:ln>
                <a:noFill/>
              </a:ln>
              <a:solidFill>
                <a:srgbClr val="000000"/>
              </a:solidFill>
              <a:effectLst/>
              <a:uLnTx/>
              <a:uFillTx/>
              <a:latin typeface="Arial" panose="020B0604020202020204" pitchFamily="34" charset="0"/>
              <a:sym typeface="Arial" panose="020B0604020202020204" pitchFamily="34" charset="0"/>
            </a:endParaRPr>
          </a:p>
        </p:txBody>
      </p:sp>
      <p:sp>
        <p:nvSpPr>
          <p:cNvPr id="55" name="Text Placeholder 18">
            <a:extLst>
              <a:ext uri="{FF2B5EF4-FFF2-40B4-BE49-F238E27FC236}">
                <a16:creationId xmlns:a16="http://schemas.microsoft.com/office/drawing/2014/main" id="{6B078B8C-850E-9EA8-071E-BACCB0F091D5}"/>
              </a:ext>
            </a:extLst>
          </p:cNvPr>
          <p:cNvSpPr>
            <a:spLocks noGrp="1"/>
          </p:cNvSpPr>
          <p:nvPr>
            <p:custDataLst>
              <p:tags r:id="rId19"/>
            </p:custDataLst>
          </p:nvPr>
        </p:nvSpPr>
        <p:spPr bwMode="auto">
          <a:xfrm>
            <a:off x="4583113" y="5094288"/>
            <a:ext cx="501650"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defRPr/>
            </a:pPr>
            <a:fld id="{DDF18EEE-60C5-4941-9017-DB00B9B08557}" type="datetime'''16''A''''''''''''''''''u''''''''''g''''-15S''''e''''''p'">
              <a:rPr lang="en-US" altLang="en-US" sz="1200" smtClean="0">
                <a:solidFill>
                  <a:srgbClr val="000000"/>
                </a:solidFill>
                <a:latin typeface="Arial" panose="020B0604020202020204" pitchFamily="34" charset="0"/>
              </a:rPr>
              <a:pPr lvl="0" algn="ctr">
                <a:spcBef>
                  <a:spcPct val="0"/>
                </a:spcBef>
                <a:spcAft>
                  <a:spcPct val="0"/>
                </a:spcAft>
                <a:defRPr/>
              </a:pPr>
              <a:t>16Aug-15Sep</a:t>
            </a:fld>
            <a:endParaRPr kumimoji="0" lang="en-US" sz="1200" b="0" i="0" strike="noStrike" kern="1200" cap="none" spc="0" normalizeH="0" baseline="0" noProof="0">
              <a:ln>
                <a:noFill/>
              </a:ln>
              <a:solidFill>
                <a:srgbClr val="000000"/>
              </a:solidFill>
              <a:effectLst/>
              <a:uLnTx/>
              <a:uFillTx/>
              <a:latin typeface="Arial" panose="020B0604020202020204" pitchFamily="34" charset="0"/>
              <a:sym typeface="Arial" panose="020B0604020202020204" pitchFamily="34" charset="0"/>
            </a:endParaRPr>
          </a:p>
        </p:txBody>
      </p:sp>
      <p:sp>
        <p:nvSpPr>
          <p:cNvPr id="56" name="Text Placeholder 18">
            <a:extLst>
              <a:ext uri="{FF2B5EF4-FFF2-40B4-BE49-F238E27FC236}">
                <a16:creationId xmlns:a16="http://schemas.microsoft.com/office/drawing/2014/main" id="{86E98D30-F2DE-0AC2-8D99-C64DFACD4D0E}"/>
              </a:ext>
            </a:extLst>
          </p:cNvPr>
          <p:cNvSpPr>
            <a:spLocks noGrp="1"/>
          </p:cNvSpPr>
          <p:nvPr>
            <p:custDataLst>
              <p:tags r:id="rId20"/>
            </p:custDataLst>
          </p:nvPr>
        </p:nvSpPr>
        <p:spPr bwMode="auto">
          <a:xfrm>
            <a:off x="5445125" y="5094288"/>
            <a:ext cx="501650"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defRPr/>
            </a:pPr>
            <a:fld id="{9957DF72-C0D9-412D-8C03-7790D635EC91}" type="datetime'''''''1''''''''''''''''''''''6''Se''''''p-''15''''Oc''''''t'''">
              <a:rPr lang="en-US" altLang="en-US" sz="1200" smtClean="0">
                <a:solidFill>
                  <a:srgbClr val="000000"/>
                </a:solidFill>
                <a:latin typeface="Arial" panose="020B0604020202020204" pitchFamily="34" charset="0"/>
              </a:rPr>
              <a:pPr lvl="0" algn="ctr">
                <a:spcBef>
                  <a:spcPct val="0"/>
                </a:spcBef>
                <a:spcAft>
                  <a:spcPct val="0"/>
                </a:spcAft>
                <a:defRPr/>
              </a:pPr>
              <a:t>16Sep-15Oct</a:t>
            </a:fld>
            <a:endParaRPr kumimoji="0" lang="en-US" sz="1200" b="0" i="0" strike="noStrike" kern="1200" cap="none" spc="0" normalizeH="0" baseline="0" noProof="0">
              <a:ln>
                <a:noFill/>
              </a:ln>
              <a:solidFill>
                <a:srgbClr val="000000"/>
              </a:solidFill>
              <a:effectLst/>
              <a:uLnTx/>
              <a:uFillTx/>
              <a:latin typeface="Arial" panose="020B0604020202020204" pitchFamily="34" charset="0"/>
              <a:sym typeface="Arial" panose="020B0604020202020204" pitchFamily="34" charset="0"/>
            </a:endParaRPr>
          </a:p>
        </p:txBody>
      </p:sp>
      <p:sp useBgFill="1">
        <p:nvSpPr>
          <p:cNvPr id="1511" name="Text Placeholder 18">
            <a:extLst>
              <a:ext uri="{FF2B5EF4-FFF2-40B4-BE49-F238E27FC236}">
                <a16:creationId xmlns:a16="http://schemas.microsoft.com/office/drawing/2014/main" id="{DA52E89A-CE1B-7062-15FD-F310F43B5A7B}"/>
              </a:ext>
            </a:extLst>
          </p:cNvPr>
          <p:cNvSpPr>
            <a:spLocks noGrp="1"/>
          </p:cNvSpPr>
          <p:nvPr>
            <p:custDataLst>
              <p:tags r:id="rId21"/>
            </p:custDataLst>
          </p:nvPr>
        </p:nvSpPr>
        <p:spPr bwMode="gray">
          <a:xfrm>
            <a:off x="6450013" y="2852738"/>
            <a:ext cx="219075" cy="182563"/>
          </a:xfrm>
          <a:prstGeom prst="rect">
            <a:avLst/>
          </a:prstGeom>
          <a:ln>
            <a:noFill/>
          </a:ln>
          <a:effec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310EC33-AD96-4C6F-90C6-8EC4B08ECD3D}" type="datetime'''''''''''''''''''59'''''''''''''''''''''''''''''">
              <a:rPr lang="en-US" altLang="en-US" sz="1200" b="1" smtClean="0">
                <a:solidFill>
                  <a:srgbClr val="009A44"/>
                </a:solidFill>
                <a:effectLst/>
                <a:latin typeface="Arial" panose="020B0604020202020204" pitchFamily="34" charset="0"/>
                <a:cs typeface="+mn-cs"/>
                <a:sym typeface="Arial" panose="020B0604020202020204" pitchFamily="34" charset="0"/>
              </a:rPr>
              <a:pPr lvl="0" algn="ctr">
                <a:spcBef>
                  <a:spcPct val="0"/>
                </a:spcBef>
                <a:spcAft>
                  <a:spcPct val="0"/>
                </a:spcAft>
              </a:pPr>
              <a:t>59</a:t>
            </a:fld>
            <a:endParaRPr lang="en-US" sz="1200" b="1" noProof="0">
              <a:solidFill>
                <a:srgbClr val="009A44"/>
              </a:solidFill>
              <a:latin typeface="Arial" panose="020B0604020202020204" pitchFamily="34" charset="0"/>
              <a:cs typeface="+mn-cs"/>
              <a:sym typeface="Arial" panose="020B0604020202020204" pitchFamily="34" charset="0"/>
            </a:endParaRPr>
          </a:p>
        </p:txBody>
      </p:sp>
      <p:sp>
        <p:nvSpPr>
          <p:cNvPr id="57" name="Text Placeholder 18">
            <a:extLst>
              <a:ext uri="{FF2B5EF4-FFF2-40B4-BE49-F238E27FC236}">
                <a16:creationId xmlns:a16="http://schemas.microsoft.com/office/drawing/2014/main" id="{7B74A3D2-F8A0-9828-40A7-FBF2D15C5B3B}"/>
              </a:ext>
            </a:extLst>
          </p:cNvPr>
          <p:cNvSpPr>
            <a:spLocks noGrp="1"/>
          </p:cNvSpPr>
          <p:nvPr>
            <p:custDataLst>
              <p:tags r:id="rId22"/>
            </p:custDataLst>
          </p:nvPr>
        </p:nvSpPr>
        <p:spPr bwMode="auto">
          <a:xfrm>
            <a:off x="6324600" y="5094288"/>
            <a:ext cx="469900"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defRPr/>
            </a:pPr>
            <a:fld id="{01F73709-750E-4036-A14F-2111E4D98EED}" type="datetime'''''16O''''''''''''''''c''''''''''t''-1''5''No''''v'''''''''''">
              <a:rPr lang="en-US" altLang="en-US" sz="1200" smtClean="0">
                <a:solidFill>
                  <a:srgbClr val="000000"/>
                </a:solidFill>
                <a:latin typeface="Arial" panose="020B0604020202020204" pitchFamily="34" charset="0"/>
              </a:rPr>
              <a:pPr lvl="0" algn="ctr">
                <a:spcBef>
                  <a:spcPct val="0"/>
                </a:spcBef>
                <a:spcAft>
                  <a:spcPct val="0"/>
                </a:spcAft>
                <a:defRPr/>
              </a:pPr>
              <a:t>16Oct-15Nov</a:t>
            </a:fld>
            <a:endParaRPr kumimoji="0" lang="en-US" sz="1200" b="0" i="0" strike="noStrike" kern="1200" cap="none" spc="0" normalizeH="0" baseline="0" noProof="0">
              <a:ln>
                <a:noFill/>
              </a:ln>
              <a:solidFill>
                <a:srgbClr val="000000"/>
              </a:solidFill>
              <a:effectLst/>
              <a:uLnTx/>
              <a:uFillTx/>
              <a:latin typeface="Arial" panose="020B0604020202020204" pitchFamily="34" charset="0"/>
              <a:sym typeface="Arial" panose="020B0604020202020204" pitchFamily="34" charset="0"/>
            </a:endParaRPr>
          </a:p>
        </p:txBody>
      </p:sp>
      <p:sp useBgFill="1">
        <p:nvSpPr>
          <p:cNvPr id="1513" name="Text Placeholder 18">
            <a:extLst>
              <a:ext uri="{FF2B5EF4-FFF2-40B4-BE49-F238E27FC236}">
                <a16:creationId xmlns:a16="http://schemas.microsoft.com/office/drawing/2014/main" id="{66E184CA-15C1-C6EB-FB10-939901391693}"/>
              </a:ext>
            </a:extLst>
          </p:cNvPr>
          <p:cNvSpPr>
            <a:spLocks noGrp="1"/>
          </p:cNvSpPr>
          <p:nvPr>
            <p:custDataLst>
              <p:tags r:id="rId23"/>
            </p:custDataLst>
          </p:nvPr>
        </p:nvSpPr>
        <p:spPr bwMode="gray">
          <a:xfrm>
            <a:off x="7312025" y="3670300"/>
            <a:ext cx="219075" cy="182563"/>
          </a:xfrm>
          <a:prstGeom prst="rect">
            <a:avLst/>
          </a:prstGeom>
          <a:ln>
            <a:noFill/>
          </a:ln>
          <a:effec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01C2D4C3-2E7E-4583-AEEF-30913B8E5643}" type="datetime'''''''''''''''3''4'''''''''''">
              <a:rPr lang="en-US" altLang="en-US" sz="1200" b="1" smtClean="0">
                <a:solidFill>
                  <a:srgbClr val="009A44"/>
                </a:solidFill>
                <a:effectLst/>
                <a:latin typeface="Arial" panose="020B0604020202020204" pitchFamily="34" charset="0"/>
                <a:cs typeface="+mn-cs"/>
                <a:sym typeface="Arial" panose="020B0604020202020204" pitchFamily="34" charset="0"/>
              </a:rPr>
              <a:pPr lvl="0" algn="ctr">
                <a:spcBef>
                  <a:spcPct val="0"/>
                </a:spcBef>
                <a:spcAft>
                  <a:spcPct val="0"/>
                </a:spcAft>
              </a:pPr>
              <a:t>34</a:t>
            </a:fld>
            <a:endParaRPr lang="en-US" sz="1200" b="1" noProof="0">
              <a:solidFill>
                <a:srgbClr val="009A44"/>
              </a:solidFill>
              <a:latin typeface="Arial" panose="020B0604020202020204" pitchFamily="34" charset="0"/>
              <a:cs typeface="+mn-cs"/>
              <a:sym typeface="Arial" panose="020B0604020202020204" pitchFamily="34" charset="0"/>
            </a:endParaRPr>
          </a:p>
        </p:txBody>
      </p:sp>
      <p:sp>
        <p:nvSpPr>
          <p:cNvPr id="58" name="Text Placeholder 18">
            <a:extLst>
              <a:ext uri="{FF2B5EF4-FFF2-40B4-BE49-F238E27FC236}">
                <a16:creationId xmlns:a16="http://schemas.microsoft.com/office/drawing/2014/main" id="{736F10CA-2C3F-B5F9-F194-13E9239BAED5}"/>
              </a:ext>
            </a:extLst>
          </p:cNvPr>
          <p:cNvSpPr>
            <a:spLocks noGrp="1"/>
          </p:cNvSpPr>
          <p:nvPr>
            <p:custDataLst>
              <p:tags r:id="rId24"/>
            </p:custDataLst>
          </p:nvPr>
        </p:nvSpPr>
        <p:spPr bwMode="auto">
          <a:xfrm>
            <a:off x="7170738" y="5094288"/>
            <a:ext cx="501650"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defRPr/>
            </a:pPr>
            <a:fld id="{EC4255AB-EDBC-4C5D-B6B0-9ABDDD9225D4}" type="datetime'''''''''16''''Nov''-''''1''''5''''''D''''''''e''''''''c'''''''">
              <a:rPr lang="en-US" altLang="en-US" sz="1200" smtClean="0">
                <a:solidFill>
                  <a:srgbClr val="000000"/>
                </a:solidFill>
                <a:latin typeface="Arial" panose="020B0604020202020204" pitchFamily="34" charset="0"/>
              </a:rPr>
              <a:pPr lvl="0" algn="ctr">
                <a:spcBef>
                  <a:spcPct val="0"/>
                </a:spcBef>
                <a:spcAft>
                  <a:spcPct val="0"/>
                </a:spcAft>
                <a:defRPr/>
              </a:pPr>
              <a:t>16Nov-15Dec</a:t>
            </a:fld>
            <a:endParaRPr kumimoji="0" lang="en-US" sz="1200" b="0" i="0" strike="noStrike" kern="1200" cap="none" spc="0" normalizeH="0" baseline="0" noProof="0">
              <a:ln>
                <a:noFill/>
              </a:ln>
              <a:solidFill>
                <a:srgbClr val="000000"/>
              </a:solidFill>
              <a:effectLst/>
              <a:uLnTx/>
              <a:uFillTx/>
              <a:latin typeface="Arial" panose="020B0604020202020204" pitchFamily="34" charset="0"/>
              <a:sym typeface="Arial" panose="020B0604020202020204" pitchFamily="34" charset="0"/>
            </a:endParaRPr>
          </a:p>
        </p:txBody>
      </p:sp>
      <p:sp>
        <p:nvSpPr>
          <p:cNvPr id="59" name="Text Placeholder 18">
            <a:extLst>
              <a:ext uri="{FF2B5EF4-FFF2-40B4-BE49-F238E27FC236}">
                <a16:creationId xmlns:a16="http://schemas.microsoft.com/office/drawing/2014/main" id="{A88B8A0C-28CB-7B29-C07A-293A20DD0CA2}"/>
              </a:ext>
            </a:extLst>
          </p:cNvPr>
          <p:cNvSpPr>
            <a:spLocks noGrp="1"/>
          </p:cNvSpPr>
          <p:nvPr>
            <p:custDataLst>
              <p:tags r:id="rId25"/>
            </p:custDataLst>
          </p:nvPr>
        </p:nvSpPr>
        <p:spPr bwMode="auto">
          <a:xfrm>
            <a:off x="8032750" y="5094288"/>
            <a:ext cx="501650"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defRPr/>
            </a:pPr>
            <a:fld id="{217989C6-CE69-4CAA-B245-E72AFA4D09EB}" type="datetime'''1''''6''''De''''''''''c-''''''''''1''''''''''5J''''''a''n'''">
              <a:rPr lang="en-US" altLang="en-US" sz="1200" smtClean="0">
                <a:solidFill>
                  <a:srgbClr val="000000"/>
                </a:solidFill>
                <a:latin typeface="Arial" panose="020B0604020202020204" pitchFamily="34" charset="0"/>
              </a:rPr>
              <a:pPr lvl="0" algn="ctr">
                <a:spcBef>
                  <a:spcPct val="0"/>
                </a:spcBef>
                <a:spcAft>
                  <a:spcPct val="0"/>
                </a:spcAft>
                <a:defRPr/>
              </a:pPr>
              <a:t>16Dec-15Jan</a:t>
            </a:fld>
            <a:endParaRPr kumimoji="0" lang="en-US" sz="1200" b="0" i="0" strike="noStrike" kern="1200" cap="none" spc="0" normalizeH="0" baseline="0" noProof="0">
              <a:ln>
                <a:noFill/>
              </a:ln>
              <a:solidFill>
                <a:srgbClr val="000000"/>
              </a:solidFill>
              <a:effectLst/>
              <a:uLnTx/>
              <a:uFillTx/>
              <a:latin typeface="Arial" panose="020B0604020202020204" pitchFamily="34" charset="0"/>
              <a:sym typeface="Arial" panose="020B0604020202020204" pitchFamily="34" charset="0"/>
            </a:endParaRPr>
          </a:p>
        </p:txBody>
      </p:sp>
      <p:sp>
        <p:nvSpPr>
          <p:cNvPr id="60" name="Text Placeholder 18">
            <a:extLst>
              <a:ext uri="{FF2B5EF4-FFF2-40B4-BE49-F238E27FC236}">
                <a16:creationId xmlns:a16="http://schemas.microsoft.com/office/drawing/2014/main" id="{E673F912-638B-B93E-53C5-FCE3302CCD03}"/>
              </a:ext>
            </a:extLst>
          </p:cNvPr>
          <p:cNvSpPr>
            <a:spLocks noGrp="1"/>
          </p:cNvSpPr>
          <p:nvPr>
            <p:custDataLst>
              <p:tags r:id="rId26"/>
            </p:custDataLst>
          </p:nvPr>
        </p:nvSpPr>
        <p:spPr bwMode="auto">
          <a:xfrm>
            <a:off x="8909050" y="5094288"/>
            <a:ext cx="476250"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defRPr/>
            </a:pPr>
            <a:fld id="{241AF508-CC51-4375-A4FE-24470056C878}" type="datetime'''''''1''6''''J''an-''''''''''15Fe''''''''''''''''''b'''''''''">
              <a:rPr lang="en-US" altLang="en-US" sz="1200" smtClean="0">
                <a:solidFill>
                  <a:srgbClr val="000000"/>
                </a:solidFill>
                <a:latin typeface="Arial" panose="020B0604020202020204" pitchFamily="34" charset="0"/>
              </a:rPr>
              <a:pPr lvl="0" algn="ctr">
                <a:spcBef>
                  <a:spcPct val="0"/>
                </a:spcBef>
                <a:spcAft>
                  <a:spcPct val="0"/>
                </a:spcAft>
                <a:defRPr/>
              </a:pPr>
              <a:t>16Jan-15Feb</a:t>
            </a:fld>
            <a:endParaRPr kumimoji="0" lang="en-US" sz="1200" b="0" i="0" strike="noStrike" kern="1200" cap="none" spc="0" normalizeH="0" baseline="0" noProof="0">
              <a:ln>
                <a:noFill/>
              </a:ln>
              <a:solidFill>
                <a:srgbClr val="000000"/>
              </a:solidFill>
              <a:effectLst/>
              <a:uLnTx/>
              <a:uFillTx/>
              <a:latin typeface="Arial" panose="020B0604020202020204" pitchFamily="34" charset="0"/>
              <a:sym typeface="Arial" panose="020B0604020202020204" pitchFamily="34" charset="0"/>
            </a:endParaRPr>
          </a:p>
        </p:txBody>
      </p:sp>
      <p:sp>
        <p:nvSpPr>
          <p:cNvPr id="61" name="Text Placeholder 18">
            <a:extLst>
              <a:ext uri="{FF2B5EF4-FFF2-40B4-BE49-F238E27FC236}">
                <a16:creationId xmlns:a16="http://schemas.microsoft.com/office/drawing/2014/main" id="{0B97D0F2-44F0-92E1-DDA0-49A36401A6C7}"/>
              </a:ext>
            </a:extLst>
          </p:cNvPr>
          <p:cNvSpPr>
            <a:spLocks noGrp="1"/>
          </p:cNvSpPr>
          <p:nvPr>
            <p:custDataLst>
              <p:tags r:id="rId27"/>
            </p:custDataLst>
          </p:nvPr>
        </p:nvSpPr>
        <p:spPr bwMode="auto">
          <a:xfrm>
            <a:off x="9763126" y="5094288"/>
            <a:ext cx="493713"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defRPr/>
            </a:pPr>
            <a:fld id="{B3CBF856-6F51-4ADA-B4D1-E1FBD9144AFC}" type="datetime'''1''6''''''''''F''eb''''-''''''''''''''''''1''''''''5M''ar'''">
              <a:rPr lang="en-US" altLang="en-US" sz="1200" smtClean="0">
                <a:solidFill>
                  <a:srgbClr val="000000"/>
                </a:solidFill>
                <a:latin typeface="Arial" panose="020B0604020202020204" pitchFamily="34" charset="0"/>
              </a:rPr>
              <a:pPr lvl="0" algn="ctr">
                <a:spcBef>
                  <a:spcPct val="0"/>
                </a:spcBef>
                <a:spcAft>
                  <a:spcPct val="0"/>
                </a:spcAft>
                <a:defRPr/>
              </a:pPr>
              <a:t>16Feb-15Mar</a:t>
            </a:fld>
            <a:endParaRPr kumimoji="0" lang="en-US" sz="1200" b="0" i="0" strike="noStrike" kern="1200" cap="none" spc="0" normalizeH="0" baseline="0" noProof="0">
              <a:ln>
                <a:noFill/>
              </a:ln>
              <a:solidFill>
                <a:srgbClr val="000000"/>
              </a:solidFill>
              <a:effectLst/>
              <a:uLnTx/>
              <a:uFillTx/>
              <a:latin typeface="Arial" panose="020B0604020202020204" pitchFamily="34" charset="0"/>
              <a:sym typeface="Arial" panose="020B0604020202020204" pitchFamily="34" charset="0"/>
            </a:endParaRPr>
          </a:p>
        </p:txBody>
      </p:sp>
      <p:sp>
        <p:nvSpPr>
          <p:cNvPr id="62" name="Text Placeholder 18">
            <a:extLst>
              <a:ext uri="{FF2B5EF4-FFF2-40B4-BE49-F238E27FC236}">
                <a16:creationId xmlns:a16="http://schemas.microsoft.com/office/drawing/2014/main" id="{979B8E3B-5977-C864-F7E5-F2209CB67A8E}"/>
              </a:ext>
            </a:extLst>
          </p:cNvPr>
          <p:cNvSpPr>
            <a:spLocks noGrp="1"/>
          </p:cNvSpPr>
          <p:nvPr>
            <p:custDataLst>
              <p:tags r:id="rId28"/>
            </p:custDataLst>
          </p:nvPr>
        </p:nvSpPr>
        <p:spPr bwMode="auto">
          <a:xfrm>
            <a:off x="10626726" y="5094288"/>
            <a:ext cx="493713"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defRPr/>
            </a:pPr>
            <a:fld id="{6910C796-D709-4594-A6B6-C7D4A2F756C8}" type="datetime'''''''1''''6M''''''''a''''r''''-1''5A''p''''r'''">
              <a:rPr lang="en-US" altLang="en-US" sz="1200" smtClean="0">
                <a:solidFill>
                  <a:srgbClr val="000000"/>
                </a:solidFill>
                <a:latin typeface="Arial" panose="020B0604020202020204" pitchFamily="34" charset="0"/>
              </a:rPr>
              <a:pPr lvl="0" algn="ctr">
                <a:spcBef>
                  <a:spcPct val="0"/>
                </a:spcBef>
                <a:spcAft>
                  <a:spcPct val="0"/>
                </a:spcAft>
                <a:defRPr/>
              </a:pPr>
              <a:t>16Mar-15Apr</a:t>
            </a:fld>
            <a:endParaRPr kumimoji="0" lang="en-US" sz="1200" b="0" i="0" strike="noStrike" kern="1200" cap="none" spc="0" normalizeH="0" baseline="0" noProof="0">
              <a:ln>
                <a:noFill/>
              </a:ln>
              <a:solidFill>
                <a:srgbClr val="000000"/>
              </a:solidFill>
              <a:effectLst/>
              <a:uLnTx/>
              <a:uFillTx/>
              <a:latin typeface="Arial" panose="020B0604020202020204" pitchFamily="34" charset="0"/>
              <a:sym typeface="Arial" panose="020B0604020202020204" pitchFamily="34" charset="0"/>
            </a:endParaRPr>
          </a:p>
        </p:txBody>
      </p:sp>
      <p:sp useBgFill="1">
        <p:nvSpPr>
          <p:cNvPr id="12" name="Text Placeholder 18">
            <a:extLst>
              <a:ext uri="{FF2B5EF4-FFF2-40B4-BE49-F238E27FC236}">
                <a16:creationId xmlns:a16="http://schemas.microsoft.com/office/drawing/2014/main" id="{EE3A209A-F059-61C3-6D0E-01BEEFD60E62}"/>
              </a:ext>
            </a:extLst>
          </p:cNvPr>
          <p:cNvSpPr>
            <a:spLocks noGrp="1"/>
          </p:cNvSpPr>
          <p:nvPr>
            <p:custDataLst>
              <p:tags r:id="rId29"/>
            </p:custDataLst>
          </p:nvPr>
        </p:nvSpPr>
        <p:spPr bwMode="gray">
          <a:xfrm>
            <a:off x="1987550" y="2316163"/>
            <a:ext cx="514350" cy="182563"/>
          </a:xfrm>
          <a:prstGeom prst="rect">
            <a:avLst/>
          </a:prstGeom>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F67A6330-95D8-47F5-B0E4-187F13322262}" type="datetime'''''''''''''61'',3''''05'''''''''''''''''''">
              <a:rPr lang="en-US" altLang="en-US" sz="1200" b="1" smtClean="0">
                <a:latin typeface="Arial" panose="020B0604020202020204" pitchFamily="34" charset="0"/>
                <a:cs typeface="+mn-cs"/>
              </a:rPr>
              <a:pPr lvl="0" algn="ctr">
                <a:spcBef>
                  <a:spcPct val="0"/>
                </a:spcBef>
                <a:spcAft>
                  <a:spcPct val="0"/>
                </a:spcAft>
              </a:pPr>
              <a:t>61,305</a:t>
            </a:fld>
            <a:endParaRPr lang="en-US" sz="1200" b="1" noProof="0">
              <a:latin typeface="Arial" panose="020B0604020202020204" pitchFamily="34" charset="0"/>
              <a:cs typeface="+mn-cs"/>
              <a:sym typeface="Arial" panose="020B0604020202020204" pitchFamily="34" charset="0"/>
            </a:endParaRPr>
          </a:p>
        </p:txBody>
      </p:sp>
      <p:sp useBgFill="1">
        <p:nvSpPr>
          <p:cNvPr id="18" name="Text Placeholder 18">
            <a:extLst>
              <a:ext uri="{FF2B5EF4-FFF2-40B4-BE49-F238E27FC236}">
                <a16:creationId xmlns:a16="http://schemas.microsoft.com/office/drawing/2014/main" id="{55D76A64-B526-B65E-0D14-08DF00ED28BD}"/>
              </a:ext>
            </a:extLst>
          </p:cNvPr>
          <p:cNvSpPr>
            <a:spLocks noGrp="1"/>
          </p:cNvSpPr>
          <p:nvPr>
            <p:custDataLst>
              <p:tags r:id="rId30"/>
            </p:custDataLst>
          </p:nvPr>
        </p:nvSpPr>
        <p:spPr bwMode="gray">
          <a:xfrm>
            <a:off x="2851150" y="1846263"/>
            <a:ext cx="514350" cy="182563"/>
          </a:xfrm>
          <a:prstGeom prst="rect">
            <a:avLst/>
          </a:prstGeom>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DD5D892E-C57C-423B-BEB9-0751B23A2E08}" type="datetime'''''''''''''''''''''''7''''''2'''''''''''',9''91'''''''''''''">
              <a:rPr lang="en-US" altLang="en-US" sz="1200" b="1" smtClean="0">
                <a:latin typeface="Arial" panose="020B0604020202020204" pitchFamily="34" charset="0"/>
                <a:cs typeface="+mn-cs"/>
              </a:rPr>
              <a:pPr lvl="0" algn="ctr">
                <a:spcBef>
                  <a:spcPct val="0"/>
                </a:spcBef>
                <a:spcAft>
                  <a:spcPct val="0"/>
                </a:spcAft>
              </a:pPr>
              <a:t>72,991</a:t>
            </a:fld>
            <a:endParaRPr lang="en-US" sz="1200" b="1" noProof="0">
              <a:latin typeface="Arial" panose="020B0604020202020204" pitchFamily="34" charset="0"/>
              <a:cs typeface="+mn-cs"/>
              <a:sym typeface="Arial" panose="020B0604020202020204" pitchFamily="34" charset="0"/>
            </a:endParaRPr>
          </a:p>
        </p:txBody>
      </p:sp>
      <p:sp>
        <p:nvSpPr>
          <p:cNvPr id="25" name="Text Placeholder 18">
            <a:extLst>
              <a:ext uri="{FF2B5EF4-FFF2-40B4-BE49-F238E27FC236}">
                <a16:creationId xmlns:a16="http://schemas.microsoft.com/office/drawing/2014/main" id="{77CCF32C-71AE-5147-6EF4-D788A30F90B6}"/>
              </a:ext>
            </a:extLst>
          </p:cNvPr>
          <p:cNvSpPr>
            <a:spLocks noGrp="1"/>
          </p:cNvSpPr>
          <p:nvPr>
            <p:custDataLst>
              <p:tags r:id="rId31"/>
            </p:custDataLst>
          </p:nvPr>
        </p:nvSpPr>
        <p:spPr bwMode="gray">
          <a:xfrm>
            <a:off x="3713163" y="1938338"/>
            <a:ext cx="5143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4AABBBF-0D72-4954-BC71-EA6C595AD2A4}" type="datetime'7''''''''''''''0'''''',''''''''''''''''''''''7''1''''0'''''">
              <a:rPr lang="en-US" altLang="en-US" sz="1200" b="1" smtClean="0">
                <a:latin typeface="Arial" panose="020B0604020202020204" pitchFamily="34" charset="0"/>
                <a:cs typeface="+mn-cs"/>
              </a:rPr>
              <a:pPr lvl="0" algn="ctr">
                <a:spcBef>
                  <a:spcPct val="0"/>
                </a:spcBef>
                <a:spcAft>
                  <a:spcPct val="0"/>
                </a:spcAft>
              </a:pPr>
              <a:t>70,710</a:t>
            </a:fld>
            <a:endParaRPr lang="en-US" sz="1200" b="1" noProof="0">
              <a:latin typeface="Arial" panose="020B0604020202020204" pitchFamily="34" charset="0"/>
              <a:cs typeface="+mn-cs"/>
              <a:sym typeface="Arial" panose="020B0604020202020204" pitchFamily="34" charset="0"/>
            </a:endParaRPr>
          </a:p>
        </p:txBody>
      </p:sp>
      <p:sp>
        <p:nvSpPr>
          <p:cNvPr id="31" name="Text Placeholder 18">
            <a:extLst>
              <a:ext uri="{FF2B5EF4-FFF2-40B4-BE49-F238E27FC236}">
                <a16:creationId xmlns:a16="http://schemas.microsoft.com/office/drawing/2014/main" id="{FB6033D5-EFC7-73F2-E0A0-A838D2D3A621}"/>
              </a:ext>
            </a:extLst>
          </p:cNvPr>
          <p:cNvSpPr>
            <a:spLocks noGrp="1"/>
          </p:cNvSpPr>
          <p:nvPr>
            <p:custDataLst>
              <p:tags r:id="rId32"/>
            </p:custDataLst>
          </p:nvPr>
        </p:nvSpPr>
        <p:spPr bwMode="gray">
          <a:xfrm>
            <a:off x="4576763" y="1938338"/>
            <a:ext cx="5143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6B94EBF-C68D-47D6-BB90-24519A165ED1}" type="datetime'70'',''''''''''7''''''''''''''''''''''''''1''0'''''''''''">
              <a:rPr lang="en-US" altLang="en-US" sz="1200" b="1" smtClean="0">
                <a:latin typeface="Arial" panose="020B0604020202020204" pitchFamily="34" charset="0"/>
                <a:cs typeface="+mn-cs"/>
              </a:rPr>
              <a:pPr lvl="0" algn="ctr">
                <a:spcBef>
                  <a:spcPct val="0"/>
                </a:spcBef>
                <a:spcAft>
                  <a:spcPct val="0"/>
                </a:spcAft>
              </a:pPr>
              <a:t>70,710</a:t>
            </a:fld>
            <a:endParaRPr lang="en-US" sz="1200" b="1" noProof="0">
              <a:latin typeface="Arial" panose="020B0604020202020204" pitchFamily="34" charset="0"/>
              <a:cs typeface="+mn-cs"/>
              <a:sym typeface="Arial" panose="020B0604020202020204" pitchFamily="34" charset="0"/>
            </a:endParaRPr>
          </a:p>
        </p:txBody>
      </p:sp>
      <p:sp useBgFill="1">
        <p:nvSpPr>
          <p:cNvPr id="32" name="Text Placeholder 18">
            <a:extLst>
              <a:ext uri="{FF2B5EF4-FFF2-40B4-BE49-F238E27FC236}">
                <a16:creationId xmlns:a16="http://schemas.microsoft.com/office/drawing/2014/main" id="{2E317F7F-5034-3A1A-9415-8D56FF191F84}"/>
              </a:ext>
            </a:extLst>
          </p:cNvPr>
          <p:cNvSpPr>
            <a:spLocks noGrp="1"/>
          </p:cNvSpPr>
          <p:nvPr>
            <p:custDataLst>
              <p:tags r:id="rId33"/>
            </p:custDataLst>
          </p:nvPr>
        </p:nvSpPr>
        <p:spPr bwMode="gray">
          <a:xfrm>
            <a:off x="5438775" y="1938338"/>
            <a:ext cx="514350" cy="182563"/>
          </a:xfrm>
          <a:prstGeom prst="rect">
            <a:avLst/>
          </a:prstGeom>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B55E58B-D931-421A-BC7A-AB6D5C1CBCD9}" type="datetime'''''''''''''7''''''''0,''''''''''''''''''''''7''''''''1''''0'">
              <a:rPr lang="en-US" altLang="en-US" sz="1200" b="1" smtClean="0">
                <a:latin typeface="Arial" panose="020B0604020202020204" pitchFamily="34" charset="0"/>
                <a:cs typeface="+mn-cs"/>
              </a:rPr>
              <a:pPr lvl="0" algn="ctr">
                <a:spcBef>
                  <a:spcPct val="0"/>
                </a:spcBef>
                <a:spcAft>
                  <a:spcPct val="0"/>
                </a:spcAft>
              </a:pPr>
              <a:t>70,710</a:t>
            </a:fld>
            <a:endParaRPr lang="en-US" sz="1200" b="1" noProof="0">
              <a:latin typeface="Arial" panose="020B0604020202020204" pitchFamily="34" charset="0"/>
              <a:cs typeface="+mn-cs"/>
              <a:sym typeface="Arial" panose="020B0604020202020204" pitchFamily="34" charset="0"/>
            </a:endParaRPr>
          </a:p>
        </p:txBody>
      </p:sp>
      <p:sp>
        <p:nvSpPr>
          <p:cNvPr id="54" name="Text Placeholder 18">
            <a:extLst>
              <a:ext uri="{FF2B5EF4-FFF2-40B4-BE49-F238E27FC236}">
                <a16:creationId xmlns:a16="http://schemas.microsoft.com/office/drawing/2014/main" id="{5EAC3E87-F0E5-47A4-E184-447F2E8BDB9C}"/>
              </a:ext>
            </a:extLst>
          </p:cNvPr>
          <p:cNvSpPr>
            <a:spLocks noGrp="1"/>
          </p:cNvSpPr>
          <p:nvPr>
            <p:custDataLst>
              <p:tags r:id="rId34"/>
            </p:custDataLst>
          </p:nvPr>
        </p:nvSpPr>
        <p:spPr bwMode="auto">
          <a:xfrm>
            <a:off x="3744913" y="5094288"/>
            <a:ext cx="450850"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defRPr/>
            </a:pPr>
            <a:fld id="{5F54B5C6-17CF-4B8D-A2DD-FB315FC077F7}" type="datetime'''''''''''''''16J''''u''l-''1''5''''''''Au''''g'''''''''''''">
              <a:rPr lang="en-US" altLang="en-US" sz="1200" smtClean="0">
                <a:solidFill>
                  <a:srgbClr val="000000"/>
                </a:solidFill>
                <a:latin typeface="Arial" panose="020B0604020202020204" pitchFamily="34" charset="0"/>
              </a:rPr>
              <a:pPr lvl="0" algn="ctr">
                <a:spcBef>
                  <a:spcPct val="0"/>
                </a:spcBef>
                <a:spcAft>
                  <a:spcPct val="0"/>
                </a:spcAft>
                <a:defRPr/>
              </a:pPr>
              <a:t>16Jul-15Aug</a:t>
            </a:fld>
            <a:endParaRPr kumimoji="0" lang="en-US" sz="1200" b="0" i="0" strike="noStrike" kern="1200" cap="none" spc="0" normalizeH="0" baseline="0" noProof="0">
              <a:ln>
                <a:noFill/>
              </a:ln>
              <a:solidFill>
                <a:srgbClr val="000000"/>
              </a:solidFill>
              <a:effectLst/>
              <a:uLnTx/>
              <a:uFillTx/>
              <a:latin typeface="Arial" panose="020B0604020202020204" pitchFamily="34" charset="0"/>
              <a:sym typeface="Arial" panose="020B0604020202020204" pitchFamily="34" charset="0"/>
            </a:endParaRPr>
          </a:p>
        </p:txBody>
      </p:sp>
      <p:sp>
        <p:nvSpPr>
          <p:cNvPr id="1204" name="TextBox 1203">
            <a:extLst>
              <a:ext uri="{FF2B5EF4-FFF2-40B4-BE49-F238E27FC236}">
                <a16:creationId xmlns:a16="http://schemas.microsoft.com/office/drawing/2014/main" id="{EFF4D4C3-C98B-840B-AF6F-A0B9A7821965}"/>
              </a:ext>
            </a:extLst>
          </p:cNvPr>
          <p:cNvSpPr txBox="1"/>
          <p:nvPr/>
        </p:nvSpPr>
        <p:spPr>
          <a:xfrm>
            <a:off x="2766482" y="1013492"/>
            <a:ext cx="6659035"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Project Monthly Power Generation Profile (MWh)</a:t>
            </a:r>
            <a:endParaRPr kumimoji="0" lang="en-US" sz="1400" b="1" i="0" u="none" strike="noStrike" kern="1200" cap="none" spc="0" normalizeH="0" baseline="0" noProof="0">
              <a:ln>
                <a:noFill/>
              </a:ln>
              <a:solidFill>
                <a:prstClr val="black"/>
              </a:solidFill>
              <a:effectLst/>
              <a:uLnTx/>
              <a:uFillTx/>
              <a:latin typeface="Calibri"/>
              <a:ea typeface="+mn-ea"/>
              <a:cs typeface="+mn-cs"/>
            </a:endParaRPr>
          </a:p>
        </p:txBody>
      </p:sp>
      <p:sp>
        <p:nvSpPr>
          <p:cNvPr id="1210" name="TextBox 1209">
            <a:extLst>
              <a:ext uri="{FF2B5EF4-FFF2-40B4-BE49-F238E27FC236}">
                <a16:creationId xmlns:a16="http://schemas.microsoft.com/office/drawing/2014/main" id="{B481EBF7-E759-7170-2A14-310D4EC80C1B}"/>
              </a:ext>
            </a:extLst>
          </p:cNvPr>
          <p:cNvSpPr txBox="1"/>
          <p:nvPr/>
        </p:nvSpPr>
        <p:spPr>
          <a:xfrm>
            <a:off x="501651" y="6540499"/>
            <a:ext cx="3536093"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Source: </a:t>
            </a:r>
            <a:r>
              <a:rPr kumimoji="0" lang="en-US"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PPA Schedule 2.1 Table II</a:t>
            </a:r>
            <a:endParaRPr kumimoji="0" lang="en-IN"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endParaRPr>
          </a:p>
        </p:txBody>
      </p:sp>
      <p:sp>
        <p:nvSpPr>
          <p:cNvPr id="1150" name="Rectangle 1149">
            <a:extLst>
              <a:ext uri="{FF2B5EF4-FFF2-40B4-BE49-F238E27FC236}">
                <a16:creationId xmlns:a16="http://schemas.microsoft.com/office/drawing/2014/main" id="{6FF66351-F3E1-C263-C384-E312BE57C4E4}"/>
              </a:ext>
            </a:extLst>
          </p:cNvPr>
          <p:cNvSpPr/>
          <p:nvPr>
            <p:custDataLst>
              <p:tags r:id="rId35"/>
            </p:custDataLst>
          </p:nvPr>
        </p:nvSpPr>
        <p:spPr bwMode="auto">
          <a:xfrm>
            <a:off x="8928100" y="1970088"/>
            <a:ext cx="214313" cy="160338"/>
          </a:xfrm>
          <a:prstGeom prst="rect">
            <a:avLst/>
          </a:prstGeom>
          <a:solidFill>
            <a:srgbClr val="86BC25"/>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151" name="Rectangle 1150">
            <a:extLst>
              <a:ext uri="{FF2B5EF4-FFF2-40B4-BE49-F238E27FC236}">
                <a16:creationId xmlns:a16="http://schemas.microsoft.com/office/drawing/2014/main" id="{F8ECA73F-7303-DD5A-D067-366841DD2B29}"/>
              </a:ext>
            </a:extLst>
          </p:cNvPr>
          <p:cNvSpPr/>
          <p:nvPr>
            <p:custDataLst>
              <p:tags r:id="rId36"/>
            </p:custDataLst>
          </p:nvPr>
        </p:nvSpPr>
        <p:spPr bwMode="auto">
          <a:xfrm>
            <a:off x="8928100" y="2203450"/>
            <a:ext cx="214313" cy="160338"/>
          </a:xfrm>
          <a:prstGeom prst="rect">
            <a:avLst/>
          </a:prstGeom>
          <a:solidFill>
            <a:srgbClr val="01216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cxnSp>
        <p:nvCxnSpPr>
          <p:cNvPr id="1216" name="Straight Connector 1215">
            <a:extLst>
              <a:ext uri="{FF2B5EF4-FFF2-40B4-BE49-F238E27FC236}">
                <a16:creationId xmlns:a16="http://schemas.microsoft.com/office/drawing/2014/main" id="{A821A95D-67AC-68B2-0438-4D1E9B000BAC}"/>
              </a:ext>
            </a:extLst>
          </p:cNvPr>
          <p:cNvCxnSpPr/>
          <p:nvPr>
            <p:custDataLst>
              <p:tags r:id="rId37"/>
            </p:custDataLst>
          </p:nvPr>
        </p:nvCxnSpPr>
        <p:spPr bwMode="gray">
          <a:xfrm>
            <a:off x="8942388" y="2516188"/>
            <a:ext cx="185738" cy="0"/>
          </a:xfrm>
          <a:prstGeom prst="line">
            <a:avLst/>
          </a:prstGeom>
          <a:ln w="28575" cap="rnd" cmpd="sng" algn="ctr">
            <a:solidFill>
              <a:srgbClr val="009A44"/>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146" name="Text Placeholder 18">
            <a:extLst>
              <a:ext uri="{FF2B5EF4-FFF2-40B4-BE49-F238E27FC236}">
                <a16:creationId xmlns:a16="http://schemas.microsoft.com/office/drawing/2014/main" id="{E40BD5CC-6C5F-3CC6-2AD0-36D61587B2B9}"/>
              </a:ext>
            </a:extLst>
          </p:cNvPr>
          <p:cNvSpPr>
            <a:spLocks noGrp="1"/>
          </p:cNvSpPr>
          <p:nvPr>
            <p:custDataLst>
              <p:tags r:id="rId38"/>
            </p:custDataLst>
          </p:nvPr>
        </p:nvSpPr>
        <p:spPr bwMode="auto">
          <a:xfrm>
            <a:off x="9193213" y="1965325"/>
            <a:ext cx="18446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3B0C1DC9-E010-4091-B808-D79AECCFD579}" type="datetime'C''''ontr''''''a''c''t ''En''er''g''y ''''for ''''7''0 MW'">
              <a:rPr lang="en-US" altLang="en-US" sz="1200" smtClean="0">
                <a:effectLst/>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Contract Energy for 70 MW</a:t>
            </a:fld>
            <a:endParaRPr lang="en-US" sz="1200" noProof="0">
              <a:latin typeface="Arial" panose="020B0604020202020204" pitchFamily="34" charset="0"/>
              <a:cs typeface="Arial" panose="020B0604020202020204" pitchFamily="34" charset="0"/>
              <a:sym typeface="Arial" panose="020B0604020202020204" pitchFamily="34" charset="0"/>
            </a:endParaRPr>
          </a:p>
        </p:txBody>
      </p:sp>
      <p:sp>
        <p:nvSpPr>
          <p:cNvPr id="1148" name="Text Placeholder 18">
            <a:extLst>
              <a:ext uri="{FF2B5EF4-FFF2-40B4-BE49-F238E27FC236}">
                <a16:creationId xmlns:a16="http://schemas.microsoft.com/office/drawing/2014/main" id="{B297198C-8475-559E-6045-E09CD8C4F721}"/>
              </a:ext>
            </a:extLst>
          </p:cNvPr>
          <p:cNvSpPr>
            <a:spLocks noGrp="1"/>
          </p:cNvSpPr>
          <p:nvPr>
            <p:custDataLst>
              <p:tags r:id="rId39"/>
            </p:custDataLst>
          </p:nvPr>
        </p:nvSpPr>
        <p:spPr bwMode="auto">
          <a:xfrm>
            <a:off x="9193213" y="2198688"/>
            <a:ext cx="15430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D21191ED-812B-4C21-90EA-AEA4AC83D329}" type="datetime'Addit''i''on''''a''''''l'''' ''''Wet ''''''E''ne''rg''y'' '">
              <a:rPr lang="en-US" altLang="en-US" sz="1200" smtClean="0">
                <a:effectLst/>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Additional Wet Energy </a:t>
            </a:fld>
            <a:endParaRPr lang="en-US" sz="1200" noProof="0">
              <a:latin typeface="Arial" panose="020B0604020202020204" pitchFamily="34" charset="0"/>
              <a:cs typeface="Arial" panose="020B0604020202020204" pitchFamily="34" charset="0"/>
              <a:sym typeface="Arial" panose="020B0604020202020204" pitchFamily="34" charset="0"/>
            </a:endParaRPr>
          </a:p>
        </p:txBody>
      </p:sp>
      <p:sp>
        <p:nvSpPr>
          <p:cNvPr id="1166" name="Text Placeholder 18">
            <a:extLst>
              <a:ext uri="{FF2B5EF4-FFF2-40B4-BE49-F238E27FC236}">
                <a16:creationId xmlns:a16="http://schemas.microsoft.com/office/drawing/2014/main" id="{D347F988-E98B-DEFF-AD33-2C25ED34BF5E}"/>
              </a:ext>
            </a:extLst>
          </p:cNvPr>
          <p:cNvSpPr>
            <a:spLocks noGrp="1"/>
          </p:cNvSpPr>
          <p:nvPr>
            <p:custDataLst>
              <p:tags r:id="rId40"/>
            </p:custDataLst>
          </p:nvPr>
        </p:nvSpPr>
        <p:spPr bwMode="auto">
          <a:xfrm>
            <a:off x="9193213" y="2432050"/>
            <a:ext cx="846138"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02A359C3-04F4-4205-9479-640DD8EBEEB1}" type="datetime'Pow''''''''e''''''''''r'''''''' (''MW)'''''''''''''''">
              <a:rPr lang="en-US" altLang="en-US" sz="1200" smtClean="0">
                <a:latin typeface="Arial" panose="020B0604020202020204" pitchFamily="34" charset="0"/>
                <a:cs typeface="+mn-cs"/>
              </a:rPr>
              <a:pPr lvl="0">
                <a:spcBef>
                  <a:spcPct val="0"/>
                </a:spcBef>
                <a:spcAft>
                  <a:spcPct val="0"/>
                </a:spcAft>
              </a:pPr>
              <a:t>Power (MW)</a:t>
            </a:fld>
            <a:endParaRPr lang="en-US" sz="1200" noProof="0">
              <a:latin typeface="Arial" panose="020B0604020202020204" pitchFamily="34" charset="0"/>
              <a:cs typeface="+mn-cs"/>
              <a:sym typeface="Arial" panose="020B0604020202020204" pitchFamily="34" charset="0"/>
            </a:endParaRPr>
          </a:p>
        </p:txBody>
      </p:sp>
      <p:sp>
        <p:nvSpPr>
          <p:cNvPr id="1635" name="TextBox 1634">
            <a:extLst>
              <a:ext uri="{FF2B5EF4-FFF2-40B4-BE49-F238E27FC236}">
                <a16:creationId xmlns:a16="http://schemas.microsoft.com/office/drawing/2014/main" id="{B5AB4F4C-6E44-D397-A7A0-ABFED55568E5}"/>
              </a:ext>
            </a:extLst>
          </p:cNvPr>
          <p:cNvSpPr txBox="1"/>
          <p:nvPr/>
        </p:nvSpPr>
        <p:spPr>
          <a:xfrm>
            <a:off x="4331291" y="5485075"/>
            <a:ext cx="1239184" cy="254000"/>
          </a:xfrm>
          <a:prstGeom prst="rect">
            <a:avLst/>
          </a:prstGeom>
          <a:noFill/>
        </p:spPr>
        <p:txBody>
          <a:bodyPr wrap="square">
            <a:spAutoFit/>
          </a:bodyPr>
          <a:lstStyle/>
          <a:p>
            <a:pPr algn="ctr"/>
            <a:r>
              <a:rPr kumimoji="0" lang="en-US" sz="105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WET MONTHS</a:t>
            </a:r>
            <a:endParaRPr lang="en-US" sz="1050" b="1"/>
          </a:p>
        </p:txBody>
      </p:sp>
      <p:grpSp>
        <p:nvGrpSpPr>
          <p:cNvPr id="1652" name="Graphic 4">
            <a:extLst>
              <a:ext uri="{FF2B5EF4-FFF2-40B4-BE49-F238E27FC236}">
                <a16:creationId xmlns:a16="http://schemas.microsoft.com/office/drawing/2014/main" id="{C3B2DB85-07BC-FC7C-3F40-854D8CFB8DB0}"/>
              </a:ext>
            </a:extLst>
          </p:cNvPr>
          <p:cNvGrpSpPr/>
          <p:nvPr/>
        </p:nvGrpSpPr>
        <p:grpSpPr>
          <a:xfrm>
            <a:off x="514889" y="5898562"/>
            <a:ext cx="457202" cy="457198"/>
            <a:chOff x="905454" y="2371173"/>
            <a:chExt cx="361670" cy="361333"/>
          </a:xfrm>
          <a:solidFill>
            <a:schemeClr val="accent5"/>
          </a:solidFill>
        </p:grpSpPr>
        <p:sp>
          <p:nvSpPr>
            <p:cNvPr id="1653" name="Graphic 4">
              <a:extLst>
                <a:ext uri="{FF2B5EF4-FFF2-40B4-BE49-F238E27FC236}">
                  <a16:creationId xmlns:a16="http://schemas.microsoft.com/office/drawing/2014/main" id="{1471E5EE-04D8-4483-CCB4-F83B5E78302A}"/>
                </a:ext>
              </a:extLst>
            </p:cNvPr>
            <p:cNvSpPr/>
            <p:nvPr/>
          </p:nvSpPr>
          <p:spPr>
            <a:xfrm>
              <a:off x="1109293" y="2492469"/>
              <a:ext cx="53036" cy="52987"/>
            </a:xfrm>
            <a:custGeom>
              <a:avLst/>
              <a:gdLst>
                <a:gd name="connsiteX0" fmla="*/ 0 w 53036"/>
                <a:gd name="connsiteY0" fmla="*/ 0 h 52987"/>
                <a:gd name="connsiteX1" fmla="*/ 53037 w 53036"/>
                <a:gd name="connsiteY1" fmla="*/ 0 h 52987"/>
                <a:gd name="connsiteX2" fmla="*/ 53037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7" y="0"/>
                  </a:lnTo>
                  <a:lnTo>
                    <a:pt x="53037" y="52987"/>
                  </a:lnTo>
                  <a:lnTo>
                    <a:pt x="0" y="52987"/>
                  </a:lnTo>
                  <a:close/>
                </a:path>
              </a:pathLst>
            </a:custGeom>
            <a:grpFill/>
            <a:ln w="6390" cap="flat">
              <a:noFill/>
              <a:prstDash val="solid"/>
              <a:miter/>
            </a:ln>
          </p:spPr>
          <p:txBody>
            <a:bodyPr rtlCol="0" anchor="ctr"/>
            <a:lstStyle/>
            <a:p>
              <a:endParaRPr lang="en-US"/>
            </a:p>
          </p:txBody>
        </p:sp>
        <p:sp>
          <p:nvSpPr>
            <p:cNvPr id="1654" name="Graphic 4">
              <a:extLst>
                <a:ext uri="{FF2B5EF4-FFF2-40B4-BE49-F238E27FC236}">
                  <a16:creationId xmlns:a16="http://schemas.microsoft.com/office/drawing/2014/main" id="{91A4A57A-03EE-7120-B488-5C71B82BB217}"/>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250 w 361670"/>
                <a:gd name="connsiteY5" fmla="*/ 180667 h 361333"/>
                <a:gd name="connsiteX6" fmla="*/ 99044 w 361670"/>
                <a:gd name="connsiteY6" fmla="*/ 252806 h 361333"/>
                <a:gd name="connsiteX7" fmla="*/ 92654 w 361670"/>
                <a:gd name="connsiteY7" fmla="*/ 246422 h 361333"/>
                <a:gd name="connsiteX8" fmla="*/ 99044 w 361670"/>
                <a:gd name="connsiteY8" fmla="*/ 240038 h 361333"/>
                <a:gd name="connsiteX9" fmla="*/ 157831 w 361670"/>
                <a:gd name="connsiteY9" fmla="*/ 187051 h 361333"/>
                <a:gd name="connsiteX10" fmla="*/ 99044 w 361670"/>
                <a:gd name="connsiteY10" fmla="*/ 187051 h 361333"/>
                <a:gd name="connsiteX11" fmla="*/ 92654 w 361670"/>
                <a:gd name="connsiteY11" fmla="*/ 180667 h 361333"/>
                <a:gd name="connsiteX12" fmla="*/ 92654 w 361670"/>
                <a:gd name="connsiteY12" fmla="*/ 114912 h 361333"/>
                <a:gd name="connsiteX13" fmla="*/ 99044 w 361670"/>
                <a:gd name="connsiteY13" fmla="*/ 108528 h 361333"/>
                <a:gd name="connsiteX14" fmla="*/ 164860 w 361670"/>
                <a:gd name="connsiteY14" fmla="*/ 108528 h 361333"/>
                <a:gd name="connsiteX15" fmla="*/ 171250 w 361670"/>
                <a:gd name="connsiteY15" fmla="*/ 114912 h 361333"/>
                <a:gd name="connsiteX16" fmla="*/ 171250 w 361670"/>
                <a:gd name="connsiteY16" fmla="*/ 180667 h 361333"/>
                <a:gd name="connsiteX17" fmla="*/ 269655 w 361670"/>
                <a:gd name="connsiteY17" fmla="*/ 180667 h 361333"/>
                <a:gd name="connsiteX18" fmla="*/ 197449 w 361670"/>
                <a:gd name="connsiteY18" fmla="*/ 252806 h 361333"/>
                <a:gd name="connsiteX19" fmla="*/ 191059 w 361670"/>
                <a:gd name="connsiteY19" fmla="*/ 246422 h 361333"/>
                <a:gd name="connsiteX20" fmla="*/ 197449 w 361670"/>
                <a:gd name="connsiteY20" fmla="*/ 240038 h 361333"/>
                <a:gd name="connsiteX21" fmla="*/ 256237 w 361670"/>
                <a:gd name="connsiteY21" fmla="*/ 187051 h 361333"/>
                <a:gd name="connsiteX22" fmla="*/ 197449 w 361670"/>
                <a:gd name="connsiteY22" fmla="*/ 187051 h 361333"/>
                <a:gd name="connsiteX23" fmla="*/ 191059 w 361670"/>
                <a:gd name="connsiteY23" fmla="*/ 180667 h 361333"/>
                <a:gd name="connsiteX24" fmla="*/ 191059 w 361670"/>
                <a:gd name="connsiteY24" fmla="*/ 114912 h 361333"/>
                <a:gd name="connsiteX25" fmla="*/ 197449 w 361670"/>
                <a:gd name="connsiteY25" fmla="*/ 108528 h 361333"/>
                <a:gd name="connsiteX26" fmla="*/ 263265 w 361670"/>
                <a:gd name="connsiteY26" fmla="*/ 108528 h 361333"/>
                <a:gd name="connsiteX27" fmla="*/ 269655 w 361670"/>
                <a:gd name="connsiteY27" fmla="*/ 114912 h 361333"/>
                <a:gd name="connsiteX28" fmla="*/ 269655 w 361670"/>
                <a:gd name="connsiteY2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71250" y="180667"/>
                  </a:moveTo>
                  <a:cubicBezTo>
                    <a:pt x="171250" y="221524"/>
                    <a:pt x="139940" y="252806"/>
                    <a:pt x="99044" y="252806"/>
                  </a:cubicBezTo>
                  <a:cubicBezTo>
                    <a:pt x="95210" y="252806"/>
                    <a:pt x="92654" y="250252"/>
                    <a:pt x="92654" y="246422"/>
                  </a:cubicBezTo>
                  <a:cubicBezTo>
                    <a:pt x="92654" y="242591"/>
                    <a:pt x="95210" y="240038"/>
                    <a:pt x="99044" y="240038"/>
                  </a:cubicBezTo>
                  <a:cubicBezTo>
                    <a:pt x="130994" y="240038"/>
                    <a:pt x="155275" y="217694"/>
                    <a:pt x="157831" y="187051"/>
                  </a:cubicBezTo>
                  <a:lnTo>
                    <a:pt x="99044" y="187051"/>
                  </a:lnTo>
                  <a:cubicBezTo>
                    <a:pt x="95210" y="187051"/>
                    <a:pt x="92654" y="184497"/>
                    <a:pt x="92654" y="180667"/>
                  </a:cubicBezTo>
                  <a:lnTo>
                    <a:pt x="92654" y="114912"/>
                  </a:lnTo>
                  <a:cubicBezTo>
                    <a:pt x="92654" y="111081"/>
                    <a:pt x="95210" y="108528"/>
                    <a:pt x="99044" y="108528"/>
                  </a:cubicBezTo>
                  <a:lnTo>
                    <a:pt x="164860" y="108528"/>
                  </a:lnTo>
                  <a:cubicBezTo>
                    <a:pt x="168694" y="108528"/>
                    <a:pt x="171250" y="111081"/>
                    <a:pt x="171250" y="114912"/>
                  </a:cubicBezTo>
                  <a:lnTo>
                    <a:pt x="171250" y="180667"/>
                  </a:lnTo>
                  <a:close/>
                  <a:moveTo>
                    <a:pt x="269655" y="180667"/>
                  </a:moveTo>
                  <a:cubicBezTo>
                    <a:pt x="269655" y="221524"/>
                    <a:pt x="238345" y="252806"/>
                    <a:pt x="197449" y="252806"/>
                  </a:cubicBezTo>
                  <a:cubicBezTo>
                    <a:pt x="193615" y="252806"/>
                    <a:pt x="191059" y="250252"/>
                    <a:pt x="191059" y="246422"/>
                  </a:cubicBezTo>
                  <a:cubicBezTo>
                    <a:pt x="191059" y="242591"/>
                    <a:pt x="193615" y="240038"/>
                    <a:pt x="197449" y="240038"/>
                  </a:cubicBezTo>
                  <a:cubicBezTo>
                    <a:pt x="229399" y="240038"/>
                    <a:pt x="253680" y="217694"/>
                    <a:pt x="256237" y="187051"/>
                  </a:cubicBezTo>
                  <a:lnTo>
                    <a:pt x="197449" y="187051"/>
                  </a:lnTo>
                  <a:cubicBezTo>
                    <a:pt x="193615" y="187051"/>
                    <a:pt x="191059" y="184497"/>
                    <a:pt x="191059" y="180667"/>
                  </a:cubicBezTo>
                  <a:lnTo>
                    <a:pt x="191059" y="114912"/>
                  </a:lnTo>
                  <a:cubicBezTo>
                    <a:pt x="191059" y="111081"/>
                    <a:pt x="193615" y="108528"/>
                    <a:pt x="197449" y="108528"/>
                  </a:cubicBezTo>
                  <a:lnTo>
                    <a:pt x="263265" y="108528"/>
                  </a:lnTo>
                  <a:cubicBezTo>
                    <a:pt x="267099" y="108528"/>
                    <a:pt x="269655" y="111081"/>
                    <a:pt x="269655" y="114912"/>
                  </a:cubicBezTo>
                  <a:lnTo>
                    <a:pt x="269655" y="180667"/>
                  </a:lnTo>
                  <a:close/>
                </a:path>
              </a:pathLst>
            </a:custGeom>
            <a:grpFill/>
            <a:ln w="6390" cap="flat">
              <a:noFill/>
              <a:prstDash val="solid"/>
              <a:miter/>
            </a:ln>
          </p:spPr>
          <p:txBody>
            <a:bodyPr rtlCol="0" anchor="ctr"/>
            <a:lstStyle/>
            <a:p>
              <a:endParaRPr lang="en-US"/>
            </a:p>
          </p:txBody>
        </p:sp>
        <p:sp>
          <p:nvSpPr>
            <p:cNvPr id="1655" name="Graphic 4">
              <a:extLst>
                <a:ext uri="{FF2B5EF4-FFF2-40B4-BE49-F238E27FC236}">
                  <a16:creationId xmlns:a16="http://schemas.microsoft.com/office/drawing/2014/main" id="{5E875611-0CD9-0856-777F-A924EDD71371}"/>
                </a:ext>
              </a:extLst>
            </p:cNvPr>
            <p:cNvSpPr/>
            <p:nvPr/>
          </p:nvSpPr>
          <p:spPr>
            <a:xfrm>
              <a:off x="1010888" y="2492469"/>
              <a:ext cx="53036" cy="52987"/>
            </a:xfrm>
            <a:custGeom>
              <a:avLst/>
              <a:gdLst>
                <a:gd name="connsiteX0" fmla="*/ 0 w 53036"/>
                <a:gd name="connsiteY0" fmla="*/ 0 h 52987"/>
                <a:gd name="connsiteX1" fmla="*/ 53036 w 53036"/>
                <a:gd name="connsiteY1" fmla="*/ 0 h 52987"/>
                <a:gd name="connsiteX2" fmla="*/ 53036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6" y="0"/>
                  </a:lnTo>
                  <a:lnTo>
                    <a:pt x="53036" y="52987"/>
                  </a:lnTo>
                  <a:lnTo>
                    <a:pt x="0" y="52987"/>
                  </a:lnTo>
                  <a:close/>
                </a:path>
              </a:pathLst>
            </a:custGeom>
            <a:grpFill/>
            <a:ln w="6390" cap="flat">
              <a:noFill/>
              <a:prstDash val="solid"/>
              <a:miter/>
            </a:ln>
          </p:spPr>
          <p:txBody>
            <a:bodyPr rtlCol="0" anchor="ctr"/>
            <a:lstStyle/>
            <a:p>
              <a:endParaRPr lang="en-US"/>
            </a:p>
          </p:txBody>
        </p:sp>
      </p:grpSp>
      <p:sp>
        <p:nvSpPr>
          <p:cNvPr id="1656" name="TextBox 1655">
            <a:extLst>
              <a:ext uri="{FF2B5EF4-FFF2-40B4-BE49-F238E27FC236}">
                <a16:creationId xmlns:a16="http://schemas.microsoft.com/office/drawing/2014/main" id="{A73A3C62-B205-F33D-D0C6-58E991F89C3F}"/>
              </a:ext>
            </a:extLst>
          </p:cNvPr>
          <p:cNvSpPr txBox="1"/>
          <p:nvPr/>
        </p:nvSpPr>
        <p:spPr>
          <a:xfrm>
            <a:off x="1013214" y="5789615"/>
            <a:ext cx="10697229" cy="738664"/>
          </a:xfrm>
          <a:prstGeom prst="rect">
            <a:avLst/>
          </a:prstGeom>
          <a:noFill/>
        </p:spPr>
        <p:txBody>
          <a:bodyPr wrap="square">
            <a:spAutoFit/>
          </a:bodyPr>
          <a:lstStyle/>
          <a:p>
            <a:pPr algn="just"/>
            <a:r>
              <a:rPr lang="en-US" sz="1400">
                <a:latin typeface="Arial" panose="020B0604020202020204" pitchFamily="34" charset="0"/>
                <a:cs typeface="Arial" panose="020B0604020202020204" pitchFamily="34" charset="0"/>
              </a:rPr>
              <a:t>The monthly generation profile under the PPA indicates additional wet season energy generation exceeding the contracted capacity of 70 MW, reaching up to 87–100 MW. As per the PPA terms, NEA has a take-and-pay obligation to purchase this excess energy at the PPA tariff of NPR 4.80/kWh, for sale in the domestic or cross-border power markets.</a:t>
            </a:r>
            <a:endParaRPr lang="en-US" sz="1400"/>
          </a:p>
        </p:txBody>
      </p:sp>
      <p:sp>
        <p:nvSpPr>
          <p:cNvPr id="39" name="TextBox 38">
            <a:extLst>
              <a:ext uri="{FF2B5EF4-FFF2-40B4-BE49-F238E27FC236}">
                <a16:creationId xmlns:a16="http://schemas.microsoft.com/office/drawing/2014/main" id="{06DC5272-334F-42C7-A00C-769E49287860}"/>
              </a:ext>
            </a:extLst>
          </p:cNvPr>
          <p:cNvSpPr txBox="1"/>
          <p:nvPr/>
        </p:nvSpPr>
        <p:spPr>
          <a:xfrm>
            <a:off x="6669089" y="6390480"/>
            <a:ext cx="5005388" cy="415498"/>
          </a:xfrm>
          <a:prstGeom prst="rect">
            <a:avLst/>
          </a:prstGeom>
          <a:noFill/>
        </p:spPr>
        <p:txBody>
          <a:bodyPr wrap="square">
            <a:spAutoFit/>
          </a:bodyPr>
          <a:lstStyle/>
          <a:p>
            <a:r>
              <a:rPr lang="en-US" sz="1050">
                <a:latin typeface="Arial" panose="020B0604020202020204" pitchFamily="34" charset="0"/>
                <a:cs typeface="Arial" panose="020B0604020202020204" pitchFamily="34" charset="0"/>
              </a:rPr>
              <a:t>For simplification, Nepali Months have been converted as per English Calendar. For example, </a:t>
            </a:r>
            <a:r>
              <a:rPr lang="en-US" sz="1050" err="1">
                <a:latin typeface="Arial" panose="020B0604020202020204" pitchFamily="34" charset="0"/>
                <a:cs typeface="Arial" panose="020B0604020202020204" pitchFamily="34" charset="0"/>
              </a:rPr>
              <a:t>Baishakh</a:t>
            </a:r>
            <a:r>
              <a:rPr lang="en-US" sz="1050">
                <a:latin typeface="Arial" panose="020B0604020202020204" pitchFamily="34" charset="0"/>
                <a:cs typeface="Arial" panose="020B0604020202020204" pitchFamily="34" charset="0"/>
              </a:rPr>
              <a:t> month corresponds to Mid April to Mid May</a:t>
            </a:r>
            <a:endParaRPr lang="en-US" sz="1050"/>
          </a:p>
        </p:txBody>
      </p:sp>
    </p:spTree>
    <p:extLst>
      <p:ext uri="{BB962C8B-B14F-4D97-AF65-F5344CB8AC3E}">
        <p14:creationId xmlns:p14="http://schemas.microsoft.com/office/powerpoint/2010/main" val="3194277732"/>
      </p:ext>
    </p:extLst>
  </p:cSld>
  <p:clrMapOvr>
    <a:masterClrMapping/>
  </p:clrMapOvr>
  <p:transition>
    <p:fade/>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641070984"/>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PJ_ST Project I Commercial Risk Assessment Framework</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It is imperative for STHPP to evaluate the potential commercial risks and devise necessary mitigation strategies </a:t>
            </a:r>
          </a:p>
        </p:txBody>
      </p:sp>
      <p:cxnSp>
        <p:nvCxnSpPr>
          <p:cNvPr id="3" name="直接连接符 11">
            <a:extLst>
              <a:ext uri="{FF2B5EF4-FFF2-40B4-BE49-F238E27FC236}">
                <a16:creationId xmlns:a16="http://schemas.microsoft.com/office/drawing/2014/main" id="{9CF22334-5C8A-0C66-C5F9-6B5E47558F6B}"/>
              </a:ext>
            </a:extLst>
          </p:cNvPr>
          <p:cNvCxnSpPr/>
          <p:nvPr/>
        </p:nvCxnSpPr>
        <p:spPr>
          <a:xfrm flipH="1">
            <a:off x="1925195" y="2700005"/>
            <a:ext cx="1" cy="762482"/>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sp>
        <p:nvSpPr>
          <p:cNvPr id="4" name="椭圆 16">
            <a:extLst>
              <a:ext uri="{FF2B5EF4-FFF2-40B4-BE49-F238E27FC236}">
                <a16:creationId xmlns:a16="http://schemas.microsoft.com/office/drawing/2014/main" id="{948FAF32-0958-6476-546E-32348E3ECA3F}"/>
              </a:ext>
            </a:extLst>
          </p:cNvPr>
          <p:cNvSpPr/>
          <p:nvPr/>
        </p:nvSpPr>
        <p:spPr>
          <a:xfrm>
            <a:off x="1731298" y="2363081"/>
            <a:ext cx="387795" cy="3877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a:solidFill>
                  <a:schemeClr val="bg1"/>
                </a:solidFill>
              </a:rPr>
              <a:t>1</a:t>
            </a:r>
            <a:endParaRPr lang="zh-CN" altLang="en-US" b="1">
              <a:solidFill>
                <a:schemeClr val="bg1"/>
              </a:solidFill>
            </a:endParaRPr>
          </a:p>
        </p:txBody>
      </p:sp>
      <p:cxnSp>
        <p:nvCxnSpPr>
          <p:cNvPr id="5" name="直接连接符 25">
            <a:extLst>
              <a:ext uri="{FF2B5EF4-FFF2-40B4-BE49-F238E27FC236}">
                <a16:creationId xmlns:a16="http://schemas.microsoft.com/office/drawing/2014/main" id="{371F4BE0-0156-C661-E74E-43281520E30D}"/>
              </a:ext>
            </a:extLst>
          </p:cNvPr>
          <p:cNvCxnSpPr/>
          <p:nvPr/>
        </p:nvCxnSpPr>
        <p:spPr>
          <a:xfrm flipH="1">
            <a:off x="7474896" y="2700005"/>
            <a:ext cx="1" cy="762482"/>
          </a:xfrm>
          <a:prstGeom prst="line">
            <a:avLst/>
          </a:prstGeom>
          <a:ln w="19050">
            <a:solidFill>
              <a:srgbClr val="43B02A"/>
            </a:solidFill>
          </a:ln>
        </p:spPr>
        <p:style>
          <a:lnRef idx="1">
            <a:schemeClr val="accent1"/>
          </a:lnRef>
          <a:fillRef idx="0">
            <a:schemeClr val="accent1"/>
          </a:fillRef>
          <a:effectRef idx="0">
            <a:schemeClr val="accent1"/>
          </a:effectRef>
          <a:fontRef idx="minor">
            <a:schemeClr val="tx1"/>
          </a:fontRef>
        </p:style>
      </p:cxnSp>
      <p:sp>
        <p:nvSpPr>
          <p:cNvPr id="7" name="椭圆 27">
            <a:extLst>
              <a:ext uri="{FF2B5EF4-FFF2-40B4-BE49-F238E27FC236}">
                <a16:creationId xmlns:a16="http://schemas.microsoft.com/office/drawing/2014/main" id="{66060A25-024E-2C60-9CCB-67D946D1685A}"/>
              </a:ext>
            </a:extLst>
          </p:cNvPr>
          <p:cNvSpPr/>
          <p:nvPr/>
        </p:nvSpPr>
        <p:spPr>
          <a:xfrm>
            <a:off x="7280999" y="2363081"/>
            <a:ext cx="387795" cy="3877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a:solidFill>
                  <a:schemeClr val="bg1"/>
                </a:solidFill>
              </a:rPr>
              <a:t>3</a:t>
            </a:r>
            <a:endParaRPr lang="zh-CN" altLang="en-US" b="1">
              <a:solidFill>
                <a:schemeClr val="bg1"/>
              </a:solidFill>
            </a:endParaRPr>
          </a:p>
        </p:txBody>
      </p:sp>
      <p:cxnSp>
        <p:nvCxnSpPr>
          <p:cNvPr id="9" name="直接连接符 20">
            <a:extLst>
              <a:ext uri="{FF2B5EF4-FFF2-40B4-BE49-F238E27FC236}">
                <a16:creationId xmlns:a16="http://schemas.microsoft.com/office/drawing/2014/main" id="{73FE0E80-4054-5B2D-7D05-3824B345D370}"/>
              </a:ext>
            </a:extLst>
          </p:cNvPr>
          <p:cNvCxnSpPr/>
          <p:nvPr/>
        </p:nvCxnSpPr>
        <p:spPr>
          <a:xfrm flipV="1">
            <a:off x="4702894" y="4162694"/>
            <a:ext cx="0" cy="762730"/>
          </a:xfrm>
          <a:prstGeom prst="line">
            <a:avLst/>
          </a:prstGeom>
          <a:solidFill>
            <a:srgbClr val="375BA5"/>
          </a:solidFill>
          <a:ln w="19050">
            <a:solidFill>
              <a:srgbClr val="000000"/>
            </a:solidFill>
          </a:ln>
        </p:spPr>
        <p:style>
          <a:lnRef idx="1">
            <a:schemeClr val="accent1"/>
          </a:lnRef>
          <a:fillRef idx="0">
            <a:schemeClr val="accent1"/>
          </a:fillRef>
          <a:effectRef idx="0">
            <a:schemeClr val="accent1"/>
          </a:effectRef>
          <a:fontRef idx="minor">
            <a:schemeClr val="tx1"/>
          </a:fontRef>
        </p:style>
      </p:cxnSp>
      <p:sp>
        <p:nvSpPr>
          <p:cNvPr id="11" name="椭圆 22">
            <a:extLst>
              <a:ext uri="{FF2B5EF4-FFF2-40B4-BE49-F238E27FC236}">
                <a16:creationId xmlns:a16="http://schemas.microsoft.com/office/drawing/2014/main" id="{1F5D2E7B-D96C-0207-09A4-924EDF6D434E}"/>
              </a:ext>
            </a:extLst>
          </p:cNvPr>
          <p:cNvSpPr/>
          <p:nvPr/>
        </p:nvSpPr>
        <p:spPr>
          <a:xfrm rot="10800000" flipV="1">
            <a:off x="4508997" y="4874552"/>
            <a:ext cx="387795" cy="387795"/>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b="1"/>
              <a:t>2</a:t>
            </a:r>
            <a:endParaRPr lang="zh-CN" altLang="en-US" b="1"/>
          </a:p>
        </p:txBody>
      </p:sp>
      <p:cxnSp>
        <p:nvCxnSpPr>
          <p:cNvPr id="12" name="直接连接符 30">
            <a:extLst>
              <a:ext uri="{FF2B5EF4-FFF2-40B4-BE49-F238E27FC236}">
                <a16:creationId xmlns:a16="http://schemas.microsoft.com/office/drawing/2014/main" id="{BAB12F28-F72A-0922-5D91-295BC9A8DDA4}"/>
              </a:ext>
            </a:extLst>
          </p:cNvPr>
          <p:cNvCxnSpPr/>
          <p:nvPr/>
        </p:nvCxnSpPr>
        <p:spPr>
          <a:xfrm flipH="1" flipV="1">
            <a:off x="10257280" y="4162694"/>
            <a:ext cx="1" cy="762730"/>
          </a:xfrm>
          <a:prstGeom prst="line">
            <a:avLst/>
          </a:prstGeom>
          <a:solidFill>
            <a:srgbClr val="375BA5"/>
          </a:solidFill>
          <a:ln w="19050">
            <a:solidFill>
              <a:srgbClr val="000000"/>
            </a:solidFill>
          </a:ln>
        </p:spPr>
        <p:style>
          <a:lnRef idx="1">
            <a:schemeClr val="accent1"/>
          </a:lnRef>
          <a:fillRef idx="0">
            <a:schemeClr val="accent1"/>
          </a:fillRef>
          <a:effectRef idx="0">
            <a:schemeClr val="accent1"/>
          </a:effectRef>
          <a:fontRef idx="minor">
            <a:schemeClr val="tx1"/>
          </a:fontRef>
        </p:style>
      </p:cxnSp>
      <p:sp>
        <p:nvSpPr>
          <p:cNvPr id="13" name="椭圆 32">
            <a:extLst>
              <a:ext uri="{FF2B5EF4-FFF2-40B4-BE49-F238E27FC236}">
                <a16:creationId xmlns:a16="http://schemas.microsoft.com/office/drawing/2014/main" id="{1EC18D19-434D-B8AA-FCCB-84D9B53DA9DC}"/>
              </a:ext>
            </a:extLst>
          </p:cNvPr>
          <p:cNvSpPr/>
          <p:nvPr/>
        </p:nvSpPr>
        <p:spPr>
          <a:xfrm rot="10800000" flipV="1">
            <a:off x="10063383" y="4874552"/>
            <a:ext cx="387795" cy="387795"/>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b="1"/>
              <a:t>4</a:t>
            </a:r>
            <a:endParaRPr lang="zh-CN" altLang="en-US" b="1"/>
          </a:p>
        </p:txBody>
      </p:sp>
      <p:sp>
        <p:nvSpPr>
          <p:cNvPr id="14" name="文本框 34">
            <a:extLst>
              <a:ext uri="{FF2B5EF4-FFF2-40B4-BE49-F238E27FC236}">
                <a16:creationId xmlns:a16="http://schemas.microsoft.com/office/drawing/2014/main" id="{5B1664BD-7512-9C95-0947-64DEA45311AE}"/>
              </a:ext>
            </a:extLst>
          </p:cNvPr>
          <p:cNvSpPr txBox="1"/>
          <p:nvPr/>
        </p:nvSpPr>
        <p:spPr>
          <a:xfrm>
            <a:off x="753828" y="3581372"/>
            <a:ext cx="2342734" cy="369332"/>
          </a:xfrm>
          <a:prstGeom prst="rect">
            <a:avLst/>
          </a:prstGeom>
          <a:noFill/>
        </p:spPr>
        <p:txBody>
          <a:bodyPr wrap="square" rtlCol="0">
            <a:spAutoFit/>
          </a:bodyPr>
          <a:lstStyle/>
          <a:p>
            <a:pPr algn="ctr"/>
            <a:r>
              <a:rPr lang="zh-CN" altLang="en-US" b="1">
                <a:solidFill>
                  <a:schemeClr val="bg1"/>
                </a:solidFill>
              </a:rPr>
              <a:t>添加标题</a:t>
            </a:r>
          </a:p>
        </p:txBody>
      </p:sp>
      <p:sp>
        <p:nvSpPr>
          <p:cNvPr id="15" name="五边形 5">
            <a:extLst>
              <a:ext uri="{FF2B5EF4-FFF2-40B4-BE49-F238E27FC236}">
                <a16:creationId xmlns:a16="http://schemas.microsoft.com/office/drawing/2014/main" id="{97802E8F-404B-03EB-C8F1-2F53F1C707EF}"/>
              </a:ext>
            </a:extLst>
          </p:cNvPr>
          <p:cNvSpPr/>
          <p:nvPr/>
        </p:nvSpPr>
        <p:spPr>
          <a:xfrm rot="16200000">
            <a:off x="1581378" y="2253590"/>
            <a:ext cx="687635" cy="2783588"/>
          </a:xfrm>
          <a:prstGeom prst="homePlate">
            <a:avLst>
              <a:gd name="adj" fmla="val 4870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矩形 14">
            <a:extLst>
              <a:ext uri="{FF2B5EF4-FFF2-40B4-BE49-F238E27FC236}">
                <a16:creationId xmlns:a16="http://schemas.microsoft.com/office/drawing/2014/main" id="{3CDD0D03-EEF8-8474-3EC4-B20C0A0FE4A1}"/>
              </a:ext>
            </a:extLst>
          </p:cNvPr>
          <p:cNvSpPr/>
          <p:nvPr/>
        </p:nvSpPr>
        <p:spPr>
          <a:xfrm>
            <a:off x="533401" y="5605618"/>
            <a:ext cx="2783589" cy="5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矩形 21">
            <a:extLst>
              <a:ext uri="{FF2B5EF4-FFF2-40B4-BE49-F238E27FC236}">
                <a16:creationId xmlns:a16="http://schemas.microsoft.com/office/drawing/2014/main" id="{58C69E7D-CE87-D6C3-BEFB-87CE8C15BD85}"/>
              </a:ext>
            </a:extLst>
          </p:cNvPr>
          <p:cNvSpPr/>
          <p:nvPr/>
        </p:nvSpPr>
        <p:spPr>
          <a:xfrm flipV="1">
            <a:off x="3311100" y="1721130"/>
            <a:ext cx="2783589" cy="54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矩形 26">
            <a:extLst>
              <a:ext uri="{FF2B5EF4-FFF2-40B4-BE49-F238E27FC236}">
                <a16:creationId xmlns:a16="http://schemas.microsoft.com/office/drawing/2014/main" id="{211D717F-C1A6-EB7A-6D2D-F47C14E47CC8}"/>
              </a:ext>
            </a:extLst>
          </p:cNvPr>
          <p:cNvSpPr/>
          <p:nvPr/>
        </p:nvSpPr>
        <p:spPr>
          <a:xfrm>
            <a:off x="6083102" y="5605618"/>
            <a:ext cx="2783589" cy="5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31">
            <a:extLst>
              <a:ext uri="{FF2B5EF4-FFF2-40B4-BE49-F238E27FC236}">
                <a16:creationId xmlns:a16="http://schemas.microsoft.com/office/drawing/2014/main" id="{A857855E-3E89-F41C-02A8-EE2F1124CF25}"/>
              </a:ext>
            </a:extLst>
          </p:cNvPr>
          <p:cNvSpPr/>
          <p:nvPr/>
        </p:nvSpPr>
        <p:spPr>
          <a:xfrm flipV="1">
            <a:off x="8865486" y="1721130"/>
            <a:ext cx="2783589" cy="54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文本框 35">
            <a:extLst>
              <a:ext uri="{FF2B5EF4-FFF2-40B4-BE49-F238E27FC236}">
                <a16:creationId xmlns:a16="http://schemas.microsoft.com/office/drawing/2014/main" id="{E0386A4D-A076-A337-BC9C-35265709B726}"/>
              </a:ext>
            </a:extLst>
          </p:cNvPr>
          <p:cNvSpPr txBox="1"/>
          <p:nvPr/>
        </p:nvSpPr>
        <p:spPr>
          <a:xfrm>
            <a:off x="539959" y="4056423"/>
            <a:ext cx="2770472" cy="1492716"/>
          </a:xfrm>
          <a:prstGeom prst="rect">
            <a:avLst/>
          </a:prstGeom>
          <a:noFill/>
        </p:spPr>
        <p:txBody>
          <a:bodyPr wrap="square" rtlCol="0">
            <a:spAutoFit/>
          </a:bodyPr>
          <a:lstStyle/>
          <a:p>
            <a:pPr marL="342900" indent="-342900">
              <a:buFont typeface="+mj-lt"/>
              <a:buAutoNum type="arabicPeriod"/>
            </a:pPr>
            <a:r>
              <a:rPr lang="en-US" altLang="zh-CN" sz="1300" b="1">
                <a:solidFill>
                  <a:schemeClr val="tx1">
                    <a:lumMod val="75000"/>
                    <a:lumOff val="25000"/>
                  </a:schemeClr>
                </a:solidFill>
              </a:rPr>
              <a:t>Contract energy sale </a:t>
            </a:r>
            <a:r>
              <a:rPr lang="en-US" altLang="zh-CN" sz="1300">
                <a:solidFill>
                  <a:schemeClr val="tx1">
                    <a:lumMod val="75000"/>
                    <a:lumOff val="25000"/>
                  </a:schemeClr>
                </a:solidFill>
              </a:rPr>
              <a:t>– Reserve margin, transmission infrastructure, excess generation</a:t>
            </a:r>
          </a:p>
          <a:p>
            <a:pPr marL="342900" indent="-342900">
              <a:buFont typeface="+mj-lt"/>
              <a:buAutoNum type="arabicPeriod"/>
            </a:pPr>
            <a:r>
              <a:rPr lang="en-US" altLang="zh-CN" sz="1300" b="1">
                <a:solidFill>
                  <a:schemeClr val="tx1">
                    <a:lumMod val="75000"/>
                    <a:lumOff val="25000"/>
                  </a:schemeClr>
                </a:solidFill>
              </a:rPr>
              <a:t>Un-contracted or unobligated energy sale </a:t>
            </a:r>
            <a:r>
              <a:rPr lang="en-US" altLang="zh-CN" sz="1300">
                <a:solidFill>
                  <a:schemeClr val="tx1">
                    <a:lumMod val="75000"/>
                    <a:lumOff val="25000"/>
                  </a:schemeClr>
                </a:solidFill>
              </a:rPr>
              <a:t>– Domestic market, Export market</a:t>
            </a:r>
          </a:p>
          <a:p>
            <a:pPr marL="342900" indent="-342900">
              <a:buFont typeface="+mj-lt"/>
              <a:buAutoNum type="arabicPeriod"/>
            </a:pPr>
            <a:r>
              <a:rPr lang="en-US" altLang="zh-CN" sz="1300" b="1">
                <a:solidFill>
                  <a:schemeClr val="tx1">
                    <a:lumMod val="75000"/>
                    <a:lumOff val="25000"/>
                  </a:schemeClr>
                </a:solidFill>
              </a:rPr>
              <a:t>Off-take approvals</a:t>
            </a:r>
          </a:p>
        </p:txBody>
      </p:sp>
      <p:sp>
        <p:nvSpPr>
          <p:cNvPr id="21" name="五边形 24">
            <a:extLst>
              <a:ext uri="{FF2B5EF4-FFF2-40B4-BE49-F238E27FC236}">
                <a16:creationId xmlns:a16="http://schemas.microsoft.com/office/drawing/2014/main" id="{C8F97D11-7F80-A6D7-CF0A-ADD74F8A127C}"/>
              </a:ext>
            </a:extLst>
          </p:cNvPr>
          <p:cNvSpPr/>
          <p:nvPr/>
        </p:nvSpPr>
        <p:spPr>
          <a:xfrm rot="16200000">
            <a:off x="7131079" y="2253590"/>
            <a:ext cx="687635" cy="2783588"/>
          </a:xfrm>
          <a:prstGeom prst="homePlate">
            <a:avLst>
              <a:gd name="adj" fmla="val 4870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文本框 36">
            <a:extLst>
              <a:ext uri="{FF2B5EF4-FFF2-40B4-BE49-F238E27FC236}">
                <a16:creationId xmlns:a16="http://schemas.microsoft.com/office/drawing/2014/main" id="{E6D53CEA-4D2B-679E-A0F1-B43FECB6BCCD}"/>
              </a:ext>
            </a:extLst>
          </p:cNvPr>
          <p:cNvSpPr txBox="1"/>
          <p:nvPr/>
        </p:nvSpPr>
        <p:spPr>
          <a:xfrm>
            <a:off x="6303529" y="3581372"/>
            <a:ext cx="2342734" cy="338554"/>
          </a:xfrm>
          <a:prstGeom prst="rect">
            <a:avLst/>
          </a:prstGeom>
          <a:noFill/>
        </p:spPr>
        <p:txBody>
          <a:bodyPr wrap="square" rtlCol="0">
            <a:spAutoFit/>
          </a:bodyPr>
          <a:lstStyle/>
          <a:p>
            <a:pPr algn="ctr"/>
            <a:r>
              <a:rPr lang="en-US" sz="1600" b="1">
                <a:solidFill>
                  <a:srgbClr val="FFFFFF"/>
                </a:solidFill>
              </a:rPr>
              <a:t>Operational Performance</a:t>
            </a:r>
            <a:endParaRPr lang="zh-CN" altLang="en-US" sz="1600" b="1">
              <a:solidFill>
                <a:srgbClr val="FFFFFF"/>
              </a:solidFill>
            </a:endParaRPr>
          </a:p>
        </p:txBody>
      </p:sp>
      <p:sp>
        <p:nvSpPr>
          <p:cNvPr id="23" name="五边形 19">
            <a:extLst>
              <a:ext uri="{FF2B5EF4-FFF2-40B4-BE49-F238E27FC236}">
                <a16:creationId xmlns:a16="http://schemas.microsoft.com/office/drawing/2014/main" id="{C352D85D-7EF6-F4E5-4609-F163F5593A76}"/>
              </a:ext>
            </a:extLst>
          </p:cNvPr>
          <p:cNvSpPr/>
          <p:nvPr/>
        </p:nvSpPr>
        <p:spPr>
          <a:xfrm rot="5400000" flipV="1">
            <a:off x="4359077" y="2587410"/>
            <a:ext cx="687635" cy="2783588"/>
          </a:xfrm>
          <a:prstGeom prst="homePlate">
            <a:avLst>
              <a:gd name="adj" fmla="val 48709"/>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文本框 37">
            <a:extLst>
              <a:ext uri="{FF2B5EF4-FFF2-40B4-BE49-F238E27FC236}">
                <a16:creationId xmlns:a16="http://schemas.microsoft.com/office/drawing/2014/main" id="{28E9A0E8-E67C-A3BC-3C24-AC6635A3F020}"/>
              </a:ext>
            </a:extLst>
          </p:cNvPr>
          <p:cNvSpPr txBox="1"/>
          <p:nvPr/>
        </p:nvSpPr>
        <p:spPr>
          <a:xfrm>
            <a:off x="3531527" y="3699645"/>
            <a:ext cx="2342734" cy="338554"/>
          </a:xfrm>
          <a:prstGeom prst="rect">
            <a:avLst/>
          </a:prstGeom>
          <a:noFill/>
        </p:spPr>
        <p:txBody>
          <a:bodyPr wrap="square" rtlCol="0">
            <a:spAutoFit/>
          </a:bodyPr>
          <a:lstStyle/>
          <a:p>
            <a:pPr algn="ctr"/>
            <a:r>
              <a:rPr lang="en-US" sz="1600" b="1">
                <a:solidFill>
                  <a:srgbClr val="FFFFFF"/>
                </a:solidFill>
              </a:rPr>
              <a:t>Executive Risk</a:t>
            </a:r>
            <a:endParaRPr lang="zh-CN" altLang="en-US" sz="1600" b="1">
              <a:solidFill>
                <a:srgbClr val="FFFFFF"/>
              </a:solidFill>
            </a:endParaRPr>
          </a:p>
        </p:txBody>
      </p:sp>
      <p:sp>
        <p:nvSpPr>
          <p:cNvPr id="25" name="五边形 29">
            <a:extLst>
              <a:ext uri="{FF2B5EF4-FFF2-40B4-BE49-F238E27FC236}">
                <a16:creationId xmlns:a16="http://schemas.microsoft.com/office/drawing/2014/main" id="{9283A3D4-7786-E15D-61B4-C4DF96356E75}"/>
              </a:ext>
            </a:extLst>
          </p:cNvPr>
          <p:cNvSpPr/>
          <p:nvPr/>
        </p:nvSpPr>
        <p:spPr>
          <a:xfrm rot="5400000" flipV="1">
            <a:off x="9913463" y="2587410"/>
            <a:ext cx="687635" cy="2783588"/>
          </a:xfrm>
          <a:prstGeom prst="homePlate">
            <a:avLst>
              <a:gd name="adj" fmla="val 48709"/>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文本框 38">
            <a:extLst>
              <a:ext uri="{FF2B5EF4-FFF2-40B4-BE49-F238E27FC236}">
                <a16:creationId xmlns:a16="http://schemas.microsoft.com/office/drawing/2014/main" id="{198E5B88-3609-B9A3-D368-E4AC8A6C7BE1}"/>
              </a:ext>
            </a:extLst>
          </p:cNvPr>
          <p:cNvSpPr txBox="1"/>
          <p:nvPr/>
        </p:nvSpPr>
        <p:spPr>
          <a:xfrm>
            <a:off x="9085913" y="3620133"/>
            <a:ext cx="2342734" cy="584775"/>
          </a:xfrm>
          <a:prstGeom prst="rect">
            <a:avLst/>
          </a:prstGeom>
          <a:noFill/>
        </p:spPr>
        <p:txBody>
          <a:bodyPr wrap="square" rtlCol="0">
            <a:spAutoFit/>
          </a:bodyPr>
          <a:lstStyle/>
          <a:p>
            <a:pPr algn="ctr"/>
            <a:r>
              <a:rPr lang="en-US" sz="1600" b="1">
                <a:solidFill>
                  <a:srgbClr val="FFFFFF"/>
                </a:solidFill>
              </a:rPr>
              <a:t>Regulatory and Compliance</a:t>
            </a:r>
            <a:endParaRPr lang="zh-CN" altLang="en-US" sz="1600" b="1">
              <a:solidFill>
                <a:srgbClr val="FFFFFF"/>
              </a:solidFill>
            </a:endParaRPr>
          </a:p>
        </p:txBody>
      </p:sp>
      <p:sp>
        <p:nvSpPr>
          <p:cNvPr id="27" name="文本框 39">
            <a:extLst>
              <a:ext uri="{FF2B5EF4-FFF2-40B4-BE49-F238E27FC236}">
                <a16:creationId xmlns:a16="http://schemas.microsoft.com/office/drawing/2014/main" id="{B58D90C6-4174-E669-431C-F186191D8A0B}"/>
              </a:ext>
            </a:extLst>
          </p:cNvPr>
          <p:cNvSpPr txBox="1"/>
          <p:nvPr/>
        </p:nvSpPr>
        <p:spPr>
          <a:xfrm>
            <a:off x="6089660" y="4056423"/>
            <a:ext cx="2770472" cy="1492716"/>
          </a:xfrm>
          <a:prstGeom prst="rect">
            <a:avLst/>
          </a:prstGeom>
          <a:noFill/>
        </p:spPr>
        <p:txBody>
          <a:bodyPr wrap="square" rtlCol="0">
            <a:spAutoFit/>
          </a:bodyPr>
          <a:lstStyle/>
          <a:p>
            <a:pPr marL="342900" indent="-342900">
              <a:buFont typeface="+mj-lt"/>
              <a:buAutoNum type="arabicPeriod"/>
            </a:pPr>
            <a:r>
              <a:rPr lang="en-US" altLang="zh-CN" sz="1300" b="1">
                <a:solidFill>
                  <a:schemeClr val="tx1">
                    <a:lumMod val="75000"/>
                    <a:lumOff val="25000"/>
                  </a:schemeClr>
                </a:solidFill>
              </a:rPr>
              <a:t>Monthly Delivery Compliance</a:t>
            </a:r>
            <a:r>
              <a:rPr lang="en-US" altLang="zh-CN" sz="1300">
                <a:solidFill>
                  <a:schemeClr val="tx1">
                    <a:lumMod val="75000"/>
                    <a:lumOff val="25000"/>
                  </a:schemeClr>
                </a:solidFill>
              </a:rPr>
              <a:t>– &gt;80% of contract energy or availability declaration</a:t>
            </a:r>
          </a:p>
          <a:p>
            <a:pPr marL="342900" indent="-342900">
              <a:buFont typeface="+mj-lt"/>
              <a:buAutoNum type="arabicPeriod"/>
            </a:pPr>
            <a:r>
              <a:rPr lang="en-US" altLang="zh-CN" sz="1300" b="1">
                <a:solidFill>
                  <a:schemeClr val="tx1">
                    <a:lumMod val="75000"/>
                    <a:lumOff val="25000"/>
                  </a:schemeClr>
                </a:solidFill>
              </a:rPr>
              <a:t>Dry season obligation </a:t>
            </a:r>
            <a:r>
              <a:rPr lang="en-US" altLang="zh-CN" sz="1300">
                <a:solidFill>
                  <a:schemeClr val="tx1">
                    <a:lumMod val="75000"/>
                    <a:lumOff val="25000"/>
                  </a:schemeClr>
                </a:solidFill>
              </a:rPr>
              <a:t>– &gt;30% dry season energy</a:t>
            </a:r>
          </a:p>
          <a:p>
            <a:pPr marL="342900" indent="-342900">
              <a:buFont typeface="+mj-lt"/>
              <a:buAutoNum type="arabicPeriod"/>
            </a:pPr>
            <a:r>
              <a:rPr lang="en-US" altLang="zh-CN" sz="1300" b="1">
                <a:solidFill>
                  <a:schemeClr val="tx1">
                    <a:lumMod val="75000"/>
                    <a:lumOff val="25000"/>
                  </a:schemeClr>
                </a:solidFill>
              </a:rPr>
              <a:t>Hydrology variation – </a:t>
            </a:r>
            <a:r>
              <a:rPr lang="en-US" altLang="zh-CN" sz="1300">
                <a:solidFill>
                  <a:schemeClr val="tx1">
                    <a:lumMod val="75000"/>
                    <a:lumOff val="25000"/>
                  </a:schemeClr>
                </a:solidFill>
              </a:rPr>
              <a:t>Risk of hydrology with developer</a:t>
            </a:r>
            <a:endParaRPr lang="en-US" altLang="zh-CN" sz="1300" b="1">
              <a:solidFill>
                <a:schemeClr val="tx1">
                  <a:lumMod val="75000"/>
                  <a:lumOff val="25000"/>
                </a:schemeClr>
              </a:solidFill>
            </a:endParaRPr>
          </a:p>
        </p:txBody>
      </p:sp>
      <p:sp>
        <p:nvSpPr>
          <p:cNvPr id="28" name="文本框 40">
            <a:extLst>
              <a:ext uri="{FF2B5EF4-FFF2-40B4-BE49-F238E27FC236}">
                <a16:creationId xmlns:a16="http://schemas.microsoft.com/office/drawing/2014/main" id="{9FDDACA8-C7AA-C6A1-C0BA-4C773B0CF106}"/>
              </a:ext>
            </a:extLst>
          </p:cNvPr>
          <p:cNvSpPr txBox="1"/>
          <p:nvPr/>
        </p:nvSpPr>
        <p:spPr>
          <a:xfrm>
            <a:off x="3317658" y="1838464"/>
            <a:ext cx="2770472" cy="1169551"/>
          </a:xfrm>
          <a:prstGeom prst="rect">
            <a:avLst/>
          </a:prstGeom>
          <a:noFill/>
        </p:spPr>
        <p:txBody>
          <a:bodyPr wrap="square" rtlCol="0">
            <a:spAutoFit/>
          </a:bodyPr>
          <a:lstStyle/>
          <a:p>
            <a:pPr marL="342900" indent="-342900">
              <a:buFont typeface="+mj-lt"/>
              <a:buAutoNum type="arabicPeriod"/>
            </a:pPr>
            <a:r>
              <a:rPr lang="en-US" sz="1300" b="1">
                <a:solidFill>
                  <a:schemeClr val="tx1">
                    <a:lumMod val="75000"/>
                    <a:lumOff val="25000"/>
                  </a:schemeClr>
                </a:solidFill>
              </a:rPr>
              <a:t>Delay in RCOD (Commercial Operation Date):</a:t>
            </a:r>
            <a:r>
              <a:rPr lang="en-US" sz="1400" b="1"/>
              <a:t> </a:t>
            </a:r>
            <a:r>
              <a:rPr lang="en-US" sz="1400"/>
              <a:t>Increases Interest During Construction (IDC), Impacts tariff escalation schedule and returns</a:t>
            </a:r>
          </a:p>
        </p:txBody>
      </p:sp>
      <p:sp>
        <p:nvSpPr>
          <p:cNvPr id="29" name="文本框 41">
            <a:extLst>
              <a:ext uri="{FF2B5EF4-FFF2-40B4-BE49-F238E27FC236}">
                <a16:creationId xmlns:a16="http://schemas.microsoft.com/office/drawing/2014/main" id="{3CDEB462-6F6C-78E6-BEDA-C782DF14E263}"/>
              </a:ext>
            </a:extLst>
          </p:cNvPr>
          <p:cNvSpPr txBox="1"/>
          <p:nvPr/>
        </p:nvSpPr>
        <p:spPr>
          <a:xfrm>
            <a:off x="8872044" y="1838464"/>
            <a:ext cx="2770472" cy="1384995"/>
          </a:xfrm>
          <a:prstGeom prst="rect">
            <a:avLst/>
          </a:prstGeom>
          <a:noFill/>
        </p:spPr>
        <p:txBody>
          <a:bodyPr wrap="square" rtlCol="0">
            <a:spAutoFit/>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kumimoji="0" lang="en-US" sz="1300" b="1" i="0" u="none" strike="noStrike" kern="1200" cap="none" spc="0" normalizeH="0" baseline="0" noProof="0">
                <a:ln>
                  <a:noFill/>
                </a:ln>
                <a:solidFill>
                  <a:prstClr val="black">
                    <a:lumMod val="75000"/>
                    <a:lumOff val="25000"/>
                  </a:prstClr>
                </a:solidFill>
                <a:effectLst/>
                <a:uLnTx/>
                <a:uFillTx/>
                <a:latin typeface="Calibri"/>
                <a:ea typeface="+mn-ea"/>
                <a:cs typeface="+mn-cs"/>
              </a:rPr>
              <a:t>Transaction Approvals:</a:t>
            </a:r>
            <a:r>
              <a:rPr kumimoji="0" lang="en-US" sz="1400" b="1" i="0" u="none" strike="noStrike" kern="1200" cap="none" spc="0" normalizeH="0" baseline="0" noProof="0">
                <a:ln>
                  <a:noFill/>
                </a:ln>
                <a:solidFill>
                  <a:prstClr val="black"/>
                </a:solidFill>
                <a:effectLst/>
                <a:uLnTx/>
                <a:uFillTx/>
                <a:latin typeface="Calibri"/>
                <a:ea typeface="+mn-ea"/>
                <a:cs typeface="+mn-cs"/>
              </a:rPr>
              <a:t> </a:t>
            </a:r>
            <a:r>
              <a:rPr kumimoji="0" lang="en-US" sz="1400" b="0" i="0" u="none" strike="noStrike" kern="1200" cap="none" spc="0" normalizeH="0" baseline="0" noProof="0">
                <a:ln>
                  <a:noFill/>
                </a:ln>
                <a:solidFill>
                  <a:prstClr val="black"/>
                </a:solidFill>
                <a:effectLst/>
                <a:uLnTx/>
                <a:uFillTx/>
                <a:latin typeface="Calibri"/>
                <a:ea typeface="+mn-ea"/>
                <a:cs typeface="+mn-cs"/>
              </a:rPr>
              <a:t>DOED and ERC approval</a:t>
            </a: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n-US" sz="1300" b="1">
                <a:solidFill>
                  <a:prstClr val="black">
                    <a:lumMod val="75000"/>
                    <a:lumOff val="25000"/>
                  </a:prstClr>
                </a:solidFill>
                <a:latin typeface="Calibri"/>
              </a:rPr>
              <a:t>Policy and Regulatory landscape:</a:t>
            </a:r>
            <a:r>
              <a:rPr kumimoji="0" lang="en-US" sz="1400" b="0" i="0" u="none" strike="noStrike" kern="1200" cap="none" spc="0" normalizeH="0" baseline="0" noProof="0">
                <a:ln>
                  <a:noFill/>
                </a:ln>
                <a:solidFill>
                  <a:prstClr val="black"/>
                </a:solidFill>
                <a:effectLst/>
                <a:uLnTx/>
                <a:uFillTx/>
                <a:latin typeface="Calibri"/>
                <a:ea typeface="+mn-ea"/>
                <a:cs typeface="+mn-cs"/>
              </a:rPr>
              <a:t> Could pose </a:t>
            </a:r>
            <a:r>
              <a:rPr kumimoji="0" lang="en-US" sz="1400" b="0" i="0" u="none" strike="noStrike" kern="1200" cap="none" spc="0" normalizeH="0" baseline="0" noProof="0" err="1">
                <a:ln>
                  <a:noFill/>
                </a:ln>
                <a:solidFill>
                  <a:prstClr val="black"/>
                </a:solidFill>
                <a:effectLst/>
                <a:uLnTx/>
                <a:uFillTx/>
                <a:latin typeface="Calibri"/>
                <a:ea typeface="+mn-ea"/>
                <a:cs typeface="+mn-cs"/>
              </a:rPr>
              <a:t>ris</a:t>
            </a:r>
            <a:r>
              <a:rPr lang="en-US" sz="1400">
                <a:solidFill>
                  <a:prstClr val="black"/>
                </a:solidFill>
                <a:latin typeface="Calibri"/>
              </a:rPr>
              <a:t>k if planned interventions don’t happen</a:t>
            </a:r>
            <a:r>
              <a:rPr kumimoji="0" lang="en-US" sz="1400" b="0" i="0" u="none" strike="noStrike" kern="1200" cap="none" spc="0" normalizeH="0" baseline="0" noProof="0">
                <a:ln>
                  <a:noFill/>
                </a:ln>
                <a:solidFill>
                  <a:prstClr val="black"/>
                </a:solidFill>
                <a:effectLst/>
                <a:uLnTx/>
                <a:uFillTx/>
                <a:latin typeface="Calibri"/>
                <a:ea typeface="+mn-ea"/>
                <a:cs typeface="+mn-cs"/>
              </a:rPr>
              <a:t> </a:t>
            </a:r>
          </a:p>
        </p:txBody>
      </p:sp>
      <p:sp>
        <p:nvSpPr>
          <p:cNvPr id="30" name="文本框 36">
            <a:extLst>
              <a:ext uri="{FF2B5EF4-FFF2-40B4-BE49-F238E27FC236}">
                <a16:creationId xmlns:a16="http://schemas.microsoft.com/office/drawing/2014/main" id="{F1AC8C73-37CC-B08C-0BFF-09E2C56C131D}"/>
              </a:ext>
            </a:extLst>
          </p:cNvPr>
          <p:cNvSpPr txBox="1"/>
          <p:nvPr/>
        </p:nvSpPr>
        <p:spPr>
          <a:xfrm>
            <a:off x="753828" y="3632691"/>
            <a:ext cx="2342734" cy="338554"/>
          </a:xfrm>
          <a:prstGeom prst="rect">
            <a:avLst/>
          </a:prstGeom>
          <a:noFill/>
        </p:spPr>
        <p:txBody>
          <a:bodyPr wrap="square" rtlCol="0">
            <a:spAutoFit/>
          </a:bodyPr>
          <a:lstStyle/>
          <a:p>
            <a:pPr algn="ctr"/>
            <a:r>
              <a:rPr lang="en-US" sz="1600" b="1">
                <a:solidFill>
                  <a:srgbClr val="FFFFFF"/>
                </a:solidFill>
              </a:rPr>
              <a:t>Market and Off-take Risk</a:t>
            </a:r>
            <a:endParaRPr lang="zh-CN" altLang="en-US" sz="1600" b="1">
              <a:solidFill>
                <a:srgbClr val="FFFFFF"/>
              </a:solidFill>
            </a:endParaRPr>
          </a:p>
        </p:txBody>
      </p:sp>
    </p:spTree>
    <p:extLst>
      <p:ext uri="{BB962C8B-B14F-4D97-AF65-F5344CB8AC3E}">
        <p14:creationId xmlns:p14="http://schemas.microsoft.com/office/powerpoint/2010/main" val="2619249921"/>
      </p:ext>
    </p:extLst>
  </p:cSld>
  <p:clrMapOvr>
    <a:masterClrMapping/>
  </p:clrMapOvr>
  <p:transition>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4155776263"/>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PJ_ST Project I Market and Off-take assessment</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Reserve margin limits affect revenue, but expanding market access and evolving pricing may offer new offtake opportunities</a:t>
            </a:r>
          </a:p>
        </p:txBody>
      </p: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116000447"/>
              </p:ext>
            </p:extLst>
          </p:nvPr>
        </p:nvGraphicFramePr>
        <p:xfrm>
          <a:off x="514884" y="987246"/>
          <a:ext cx="11208793" cy="5672634"/>
        </p:xfrm>
        <a:graphic>
          <a:graphicData uri="http://schemas.openxmlformats.org/drawingml/2006/table">
            <a:tbl>
              <a:tblPr firstRow="1" bandRow="1">
                <a:tableStyleId>{3B4B98B0-60AC-42C2-AFA5-B58CD77FA1E5}</a:tableStyleId>
              </a:tblPr>
              <a:tblGrid>
                <a:gridCol w="525705">
                  <a:extLst>
                    <a:ext uri="{9D8B030D-6E8A-4147-A177-3AD203B41FA5}">
                      <a16:colId xmlns:a16="http://schemas.microsoft.com/office/drawing/2014/main" val="2150755601"/>
                    </a:ext>
                  </a:extLst>
                </a:gridCol>
                <a:gridCol w="1006872">
                  <a:extLst>
                    <a:ext uri="{9D8B030D-6E8A-4147-A177-3AD203B41FA5}">
                      <a16:colId xmlns:a16="http://schemas.microsoft.com/office/drawing/2014/main" val="2807376156"/>
                    </a:ext>
                  </a:extLst>
                </a:gridCol>
                <a:gridCol w="1143000">
                  <a:extLst>
                    <a:ext uri="{9D8B030D-6E8A-4147-A177-3AD203B41FA5}">
                      <a16:colId xmlns:a16="http://schemas.microsoft.com/office/drawing/2014/main" val="1981393211"/>
                    </a:ext>
                  </a:extLst>
                </a:gridCol>
                <a:gridCol w="3925956">
                  <a:extLst>
                    <a:ext uri="{9D8B030D-6E8A-4147-A177-3AD203B41FA5}">
                      <a16:colId xmlns:a16="http://schemas.microsoft.com/office/drawing/2014/main" val="1355468333"/>
                    </a:ext>
                  </a:extLst>
                </a:gridCol>
                <a:gridCol w="3369366">
                  <a:extLst>
                    <a:ext uri="{9D8B030D-6E8A-4147-A177-3AD203B41FA5}">
                      <a16:colId xmlns:a16="http://schemas.microsoft.com/office/drawing/2014/main" val="2816683286"/>
                    </a:ext>
                  </a:extLst>
                </a:gridCol>
                <a:gridCol w="1237894">
                  <a:extLst>
                    <a:ext uri="{9D8B030D-6E8A-4147-A177-3AD203B41FA5}">
                      <a16:colId xmlns:a16="http://schemas.microsoft.com/office/drawing/2014/main" val="1941397846"/>
                    </a:ext>
                  </a:extLst>
                </a:gridCol>
              </a:tblGrid>
              <a:tr h="307342">
                <a:tc>
                  <a:txBody>
                    <a:bodyPr/>
                    <a:lstStyle/>
                    <a:p>
                      <a:pPr algn="ctr"/>
                      <a:r>
                        <a:rPr lang="en-ZA" sz="1100" b="0" dirty="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Category</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a:r>
                        <a:rPr lang="en-US" sz="1100" b="0">
                          <a:solidFill>
                            <a:schemeClr val="bg1"/>
                          </a:solidFill>
                          <a:latin typeface="Arial" panose="020B0604020202020204" pitchFamily="34" charset="0"/>
                          <a:cs typeface="Arial" panose="020B0604020202020204" pitchFamily="34" charset="0"/>
                        </a:rPr>
                        <a:t>Sub-category</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Description/Reference Clause</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Impact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Reference in the report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1298754">
                <a:tc>
                  <a:txBody>
                    <a:bodyPr/>
                    <a:lstStyle/>
                    <a:p>
                      <a:pPr algn="ctr"/>
                      <a:r>
                        <a:rPr lang="en-ZA" sz="1100" b="1">
                          <a:latin typeface="Arial" panose="020B0604020202020204" pitchFamily="34" charset="0"/>
                          <a:cs typeface="Arial" panose="020B0604020202020204" pitchFamily="34" charset="0"/>
                        </a:rPr>
                        <a:t>1</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Contracted Energy Sale Risk</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a:solidFill>
                            <a:schemeClr val="dk1"/>
                          </a:solidFill>
                          <a:latin typeface="Arial" panose="020B0604020202020204" pitchFamily="34" charset="0"/>
                          <a:ea typeface="+mn-ea"/>
                          <a:cs typeface="Arial" panose="020B0604020202020204" pitchFamily="34" charset="0"/>
                        </a:rPr>
                        <a:t>Reserve Margin</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a:latin typeface="Arial" panose="020B0604020202020204" pitchFamily="34" charset="0"/>
                          <a:cs typeface="Arial" panose="020B0604020202020204" pitchFamily="34" charset="0"/>
                        </a:rPr>
                        <a:t>As per the first Amendment of PPA, during the wet season, NEA is obligated to buy only 90% of the availability and the remaining will be reserve margin. NEA will not pay for the reserve margin in case not purchased. </a:t>
                      </a:r>
                      <a:r>
                        <a:rPr lang="en-US" sz="1100" b="0">
                          <a:latin typeface="Arial" panose="020B0604020202020204" pitchFamily="34" charset="0"/>
                          <a:cs typeface="Arial" panose="020B0604020202020204" pitchFamily="34" charset="0"/>
                        </a:rPr>
                        <a:t>However, this is applicable till end of 2027-28.</a:t>
                      </a:r>
                      <a:endParaRPr lang="en-US" sz="1100" b="0" i="0" u="none">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a:latin typeface="Arial" panose="020B0604020202020204" pitchFamily="34" charset="0"/>
                          <a:cs typeface="Arial" panose="020B0604020202020204" pitchFamily="34" charset="0"/>
                        </a:rPr>
                        <a:t>Limits monetization of full generation potential in wet season; unutilized reserve margin leads to foregone revenue, affecting project returns particularly during high generation periods.</a:t>
                      </a:r>
                    </a:p>
                    <a:p>
                      <a:pPr algn="just"/>
                      <a:endParaRPr lang="en-US" sz="1100">
                        <a:latin typeface="Arial" panose="020B0604020202020204" pitchFamily="34" charset="0"/>
                        <a:cs typeface="Arial" panose="020B0604020202020204" pitchFamily="34" charset="0"/>
                      </a:endParaRPr>
                    </a:p>
                  </a:txBody>
                  <a:tcPr anchor="ctr">
                    <a:lnL w="12700" cap="flat" cmpd="sng" algn="ctr">
                      <a:solidFill>
                        <a:schemeClr val="accent1">
                          <a:lumMod val="40000"/>
                          <a:lumOff val="60000"/>
                        </a:schemeClr>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a:latin typeface="Arial" panose="020B0604020202020204" pitchFamily="34" charset="0"/>
                          <a:cs typeface="Arial" panose="020B0604020202020204" pitchFamily="34" charset="0"/>
                        </a:rPr>
                        <a:t>-</a:t>
                      </a: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r h="1196103">
                <a:tc>
                  <a:txBody>
                    <a:bodyPr/>
                    <a:lstStyle/>
                    <a:p>
                      <a:pPr algn="ctr"/>
                      <a:r>
                        <a:rPr lang="en-ZA" sz="1100" b="1">
                          <a:latin typeface="Arial" panose="020B0604020202020204" pitchFamily="34" charset="0"/>
                          <a:cs typeface="Arial" panose="020B0604020202020204" pitchFamily="34" charset="0"/>
                        </a:rPr>
                        <a:t>2</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Contracted Energy Sale Risk</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100" kern="1200">
                          <a:solidFill>
                            <a:schemeClr val="dk1"/>
                          </a:solidFill>
                          <a:latin typeface="Arial" panose="020B0604020202020204" pitchFamily="34" charset="0"/>
                          <a:ea typeface="+mn-ea"/>
                          <a:cs typeface="Arial" panose="020B0604020202020204" pitchFamily="34" charset="0"/>
                        </a:rPr>
                        <a:t>Transmission Infrastructure – Project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b="0">
                          <a:latin typeface="Arial" panose="020B0604020202020204" pitchFamily="34" charset="0"/>
                          <a:cs typeface="Arial" panose="020B0604020202020204" pitchFamily="34" charset="0"/>
                        </a:rPr>
                        <a:t>Readiness of the transmission infrastructure for evacuating power from the current project. </a:t>
                      </a:r>
                      <a:r>
                        <a:rPr lang="en-US" sz="1100">
                          <a:latin typeface="Arial" panose="020B0604020202020204" pitchFamily="34" charset="0"/>
                          <a:cs typeface="Arial" panose="020B0604020202020204" pitchFamily="34" charset="0"/>
                        </a:rPr>
                        <a:t>Though the receiving substation has been commissioned, the evacuation from project to the substation has to be completed in line within the COD or else will have impact on RCOD. </a:t>
                      </a:r>
                    </a:p>
                    <a:p>
                      <a:pPr algn="just"/>
                      <a:r>
                        <a:rPr lang="en-US" sz="1100">
                          <a:latin typeface="Arial" panose="020B0604020202020204" pitchFamily="34" charset="0"/>
                          <a:cs typeface="Arial" panose="020B0604020202020204" pitchFamily="34" charset="0"/>
                        </a:rPr>
                        <a:t>As per the discussion with NEA and Breeze, the transmission infrastructure development for this project is on track. </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a:latin typeface="Arial" panose="020B0604020202020204" pitchFamily="34" charset="0"/>
                          <a:cs typeface="Arial" panose="020B0604020202020204" pitchFamily="34" charset="0"/>
                        </a:rPr>
                        <a:t>Delay in completing project-side evacuation infrastructure could defer RCOD, triggering financial penalties, and loss of early generation revenue. </a:t>
                      </a:r>
                    </a:p>
                    <a:p>
                      <a:pPr algn="just"/>
                      <a:endParaRPr lang="en-US" sz="1100">
                        <a:latin typeface="Arial" panose="020B0604020202020204" pitchFamily="34" charset="0"/>
                        <a:cs typeface="Arial" panose="020B0604020202020204" pitchFamily="34" charset="0"/>
                      </a:endParaRPr>
                    </a:p>
                    <a:p>
                      <a:pPr algn="just"/>
                      <a:r>
                        <a:rPr lang="en-US" sz="1100">
                          <a:latin typeface="Arial" panose="020B0604020202020204" pitchFamily="34" charset="0"/>
                          <a:cs typeface="Arial" panose="020B0604020202020204" pitchFamily="34" charset="0"/>
                        </a:rPr>
                        <a:t>Incase of delay, contingency arrangements could also be discussed with NEA. There are precedent cases where contingency arrangement has been made on Take and Pay basis. </a:t>
                      </a:r>
                      <a:r>
                        <a:rPr lang="en-US" sz="1100">
                          <a:solidFill>
                            <a:srgbClr val="007CB0"/>
                          </a:solidFill>
                          <a:latin typeface="Arial" panose="020B0604020202020204" pitchFamily="34" charset="0"/>
                          <a:cs typeface="Arial" panose="020B0604020202020204" pitchFamily="34" charset="0"/>
                        </a:rPr>
                        <a:t>Few projects were this contingency plan has been implemented include: 1) Ghalemdi Khola Hydroelectric Project - 5MW; 2) Upper Khorunga small hydropower project - 7.5MW; 3) Dovan Khola Hydropower Project - 24.5 MW. the contingency arrangement above has been made on a case-to-case basis by consulting with NEA when the delay arises. Thus, PJ ST will need need to consult with NEA (Grid Operation Department and Power Trade Department) periodically to monitor and discuss if there is a risk of delay in construction of interconnection facility (either from Breeze or NEA-side). The power evacuation related aspects are handled by the Grid Operation Department at NEA. </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42508439"/>
                  </a:ext>
                </a:extLst>
              </a:tr>
            </a:tbl>
          </a:graphicData>
        </a:graphic>
      </p:graphicFrame>
    </p:spTree>
    <p:extLst>
      <p:ext uri="{BB962C8B-B14F-4D97-AF65-F5344CB8AC3E}">
        <p14:creationId xmlns:p14="http://schemas.microsoft.com/office/powerpoint/2010/main" val="2790867841"/>
      </p:ext>
    </p:extLst>
  </p:cSld>
  <p:clrMapOvr>
    <a:masterClrMapping/>
  </p:clrMapOvr>
  <p:transition>
    <p:fade/>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062901570"/>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PJ_ST Project I Market and Off-take assessment</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Reserve margin limits affect revenue, but expanding market access and evolving pricing may offer new offtake opportunities</a:t>
            </a:r>
          </a:p>
        </p:txBody>
      </p: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2284679268"/>
              </p:ext>
            </p:extLst>
          </p:nvPr>
        </p:nvGraphicFramePr>
        <p:xfrm>
          <a:off x="514884" y="987246"/>
          <a:ext cx="11208793" cy="5566923"/>
        </p:xfrm>
        <a:graphic>
          <a:graphicData uri="http://schemas.openxmlformats.org/drawingml/2006/table">
            <a:tbl>
              <a:tblPr firstRow="1" bandRow="1">
                <a:tableStyleId>{3B4B98B0-60AC-42C2-AFA5-B58CD77FA1E5}</a:tableStyleId>
              </a:tblPr>
              <a:tblGrid>
                <a:gridCol w="525705">
                  <a:extLst>
                    <a:ext uri="{9D8B030D-6E8A-4147-A177-3AD203B41FA5}">
                      <a16:colId xmlns:a16="http://schemas.microsoft.com/office/drawing/2014/main" val="2150755601"/>
                    </a:ext>
                  </a:extLst>
                </a:gridCol>
                <a:gridCol w="947237">
                  <a:extLst>
                    <a:ext uri="{9D8B030D-6E8A-4147-A177-3AD203B41FA5}">
                      <a16:colId xmlns:a16="http://schemas.microsoft.com/office/drawing/2014/main" val="2807376156"/>
                    </a:ext>
                  </a:extLst>
                </a:gridCol>
                <a:gridCol w="1083365">
                  <a:extLst>
                    <a:ext uri="{9D8B030D-6E8A-4147-A177-3AD203B41FA5}">
                      <a16:colId xmlns:a16="http://schemas.microsoft.com/office/drawing/2014/main" val="1981393211"/>
                    </a:ext>
                  </a:extLst>
                </a:gridCol>
                <a:gridCol w="4273826">
                  <a:extLst>
                    <a:ext uri="{9D8B030D-6E8A-4147-A177-3AD203B41FA5}">
                      <a16:colId xmlns:a16="http://schemas.microsoft.com/office/drawing/2014/main" val="1355468333"/>
                    </a:ext>
                  </a:extLst>
                </a:gridCol>
                <a:gridCol w="3359426">
                  <a:extLst>
                    <a:ext uri="{9D8B030D-6E8A-4147-A177-3AD203B41FA5}">
                      <a16:colId xmlns:a16="http://schemas.microsoft.com/office/drawing/2014/main" val="2816683286"/>
                    </a:ext>
                  </a:extLst>
                </a:gridCol>
                <a:gridCol w="1019234">
                  <a:extLst>
                    <a:ext uri="{9D8B030D-6E8A-4147-A177-3AD203B41FA5}">
                      <a16:colId xmlns:a16="http://schemas.microsoft.com/office/drawing/2014/main" val="1941397846"/>
                    </a:ext>
                  </a:extLst>
                </a:gridCol>
              </a:tblGrid>
              <a:tr h="662262">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Category</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a:r>
                        <a:rPr lang="en-US" sz="1100" b="0">
                          <a:solidFill>
                            <a:schemeClr val="bg1"/>
                          </a:solidFill>
                          <a:latin typeface="Arial" panose="020B0604020202020204" pitchFamily="34" charset="0"/>
                          <a:cs typeface="Arial" panose="020B0604020202020204" pitchFamily="34" charset="0"/>
                        </a:rPr>
                        <a:t>Sub-category</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Description/Reference Clause</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Impact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Reference in the report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3264004">
                <a:tc>
                  <a:txBody>
                    <a:bodyPr/>
                    <a:lstStyle/>
                    <a:p>
                      <a:pPr algn="ctr"/>
                      <a:r>
                        <a:rPr lang="en-ZA" sz="1100" b="1">
                          <a:latin typeface="Arial" panose="020B0604020202020204" pitchFamily="34" charset="0"/>
                          <a:cs typeface="Arial" panose="020B0604020202020204" pitchFamily="34" charset="0"/>
                        </a:rPr>
                        <a:t>3</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Contracted Energy Sale Risk</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100" kern="1200">
                          <a:solidFill>
                            <a:schemeClr val="dk1"/>
                          </a:solidFill>
                          <a:latin typeface="Arial" panose="020B0604020202020204" pitchFamily="34" charset="0"/>
                          <a:ea typeface="+mn-ea"/>
                          <a:cs typeface="Arial" panose="020B0604020202020204" pitchFamily="34" charset="0"/>
                        </a:rPr>
                        <a:t>Transmission Infrastructure – Cross Border</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a:solidFill>
                            <a:schemeClr val="dk1"/>
                          </a:solidFill>
                          <a:latin typeface="Arial" panose="020B0604020202020204" pitchFamily="34" charset="0"/>
                          <a:ea typeface="+mn-ea"/>
                          <a:cs typeface="Arial" panose="020B0604020202020204" pitchFamily="34" charset="0"/>
                        </a:rPr>
                        <a:t>As per the provisions of the clause 10.1 (a), NEA will not pay any compensation due to the following reasons:</a:t>
                      </a:r>
                    </a:p>
                    <a:p>
                      <a:endParaRPr lang="en-US" sz="1100" kern="1200">
                        <a:solidFill>
                          <a:schemeClr val="dk1"/>
                        </a:solidFill>
                        <a:latin typeface="Arial" panose="020B0604020202020204" pitchFamily="34" charset="0"/>
                        <a:ea typeface="+mn-ea"/>
                        <a:cs typeface="Arial" panose="020B0604020202020204" pitchFamily="34" charset="0"/>
                      </a:endParaRPr>
                    </a:p>
                    <a:p>
                      <a:pPr marL="285750" indent="-285750">
                        <a:buFont typeface="+mj-lt"/>
                        <a:buAutoNum type="romanLcPeriod"/>
                      </a:pPr>
                      <a:r>
                        <a:rPr lang="en-US" sz="1100" kern="1200">
                          <a:solidFill>
                            <a:schemeClr val="dk1"/>
                          </a:solidFill>
                          <a:latin typeface="Arial" panose="020B0604020202020204" pitchFamily="34" charset="0"/>
                          <a:ea typeface="+mn-ea"/>
                          <a:cs typeface="Arial" panose="020B0604020202020204" pitchFamily="34" charset="0"/>
                        </a:rPr>
                        <a:t>If there is any problem in one of the double circuits of Dhalkebar-Muzaffarpur 400 K.V. Transmission Line during 2022/23 A.D. to 2024/25 A.D.</a:t>
                      </a:r>
                    </a:p>
                    <a:p>
                      <a:pPr marL="285750" indent="-285750">
                        <a:buFont typeface="+mj-lt"/>
                        <a:buAutoNum type="romanLcPeriod"/>
                      </a:pPr>
                      <a:r>
                        <a:rPr lang="en-US" sz="1100" kern="1200">
                          <a:solidFill>
                            <a:schemeClr val="dk1"/>
                          </a:solidFill>
                          <a:latin typeface="Arial" panose="020B0604020202020204" pitchFamily="34" charset="0"/>
                          <a:ea typeface="+mn-ea"/>
                          <a:cs typeface="Arial" panose="020B0604020202020204" pitchFamily="34" charset="0"/>
                        </a:rPr>
                        <a:t>If there is overload in Dhalkebar-Muzaffarpur 400 K.V Transmission Line during 2022/23 A.D. to 2024/25 A.D.</a:t>
                      </a:r>
                    </a:p>
                    <a:p>
                      <a:pPr marL="285750" indent="-285750">
                        <a:buFont typeface="+mj-lt"/>
                        <a:buAutoNum type="romanLcPeriod"/>
                      </a:pPr>
                      <a:r>
                        <a:rPr lang="en-US" sz="1100" kern="1200">
                          <a:solidFill>
                            <a:schemeClr val="dk1"/>
                          </a:solidFill>
                          <a:latin typeface="Arial" panose="020B0604020202020204" pitchFamily="34" charset="0"/>
                          <a:ea typeface="+mn-ea"/>
                          <a:cs typeface="Arial" panose="020B0604020202020204" pitchFamily="34" charset="0"/>
                        </a:rPr>
                        <a:t>If the second cross border double circuit New Butwal-Gorakhpur 400 K.V.Transmission Line does not come into operation after getting constructed till 2025/26 A.D. then from 2025/26 A.D. to such Line comes into operation.</a:t>
                      </a:r>
                    </a:p>
                  </a:txBody>
                  <a:tcPr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a:latin typeface="Arial" panose="020B0604020202020204" pitchFamily="34" charset="0"/>
                          <a:cs typeface="Arial" panose="020B0604020202020204" pitchFamily="34" charset="0"/>
                        </a:rPr>
                        <a:t>Non-compensable outages or delays in cross-border infrastructure directly reduce energy evacuation and revenue; will expose project to curtailment risk in export markets during critical revenue-earning periods.</a:t>
                      </a:r>
                    </a:p>
                    <a:p>
                      <a:pPr algn="just"/>
                      <a:endParaRPr lang="en-US" sz="1100">
                        <a:latin typeface="Arial" panose="020B0604020202020204" pitchFamily="34" charset="0"/>
                        <a:cs typeface="Arial" panose="020B0604020202020204" pitchFamily="34" charset="0"/>
                      </a:endParaRPr>
                    </a:p>
                    <a:p>
                      <a:pPr algn="just"/>
                      <a:r>
                        <a:rPr lang="en-US" sz="1100">
                          <a:solidFill>
                            <a:srgbClr val="007CB0"/>
                          </a:solidFill>
                          <a:latin typeface="Arial" panose="020B0604020202020204" pitchFamily="34" charset="0"/>
                          <a:cs typeface="Arial" panose="020B0604020202020204" pitchFamily="34" charset="0"/>
                        </a:rPr>
                        <a:t>The restriction for outage or interruption or overloading, during wet-off-peak period for the Dhalkebar-Muzzaffarpur 400 kV line was limited till FY 2024-25 (15-July-2025). Since, we are past this deadline this restriction is no longer applicable.  </a:t>
                      </a:r>
                    </a:p>
                    <a:p>
                      <a:pPr algn="just"/>
                      <a:endParaRPr lang="en-US" sz="1100">
                        <a:solidFill>
                          <a:srgbClr val="007CB0"/>
                        </a:solidFill>
                        <a:latin typeface="Arial" panose="020B0604020202020204" pitchFamily="34" charset="0"/>
                        <a:cs typeface="Arial" panose="020B0604020202020204" pitchFamily="34" charset="0"/>
                      </a:endParaRPr>
                    </a:p>
                    <a:p>
                      <a:pPr algn="just"/>
                      <a:r>
                        <a:rPr lang="en-US" sz="1100">
                          <a:solidFill>
                            <a:srgbClr val="007CB0"/>
                          </a:solidFill>
                          <a:latin typeface="Arial" panose="020B0604020202020204" pitchFamily="34" charset="0"/>
                          <a:cs typeface="Arial" panose="020B0604020202020204" pitchFamily="34" charset="0"/>
                        </a:rPr>
                        <a:t>The second restriction that will be applicable in case the New Butwal–Gorakhpur 400 kV D/C transmission line is not operational and loading of any circuit of Dhalkebar–Muzaffarpur line is beyond 120% during the Wet Period. This restriction will also be applicable during the Wet Off Peak Period (irrespective of the loading of any circuit). We have also carried the review of the line utilization on a month-on-month basis for June-Nov 2024. </a:t>
                      </a:r>
                    </a:p>
                  </a:txBody>
                  <a:tcPr anchor="ctr">
                    <a:lnL w="12700" cap="flat" cmpd="sng" algn="ctr">
                      <a:solidFill>
                        <a:schemeClr val="accent1">
                          <a:lumMod val="40000"/>
                          <a:lumOff val="60000"/>
                        </a:schemeClr>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a:latin typeface="Arial" panose="020B0604020202020204" pitchFamily="34" charset="0"/>
                          <a:cs typeface="Arial" panose="020B0604020202020204" pitchFamily="34" charset="0"/>
                        </a:rPr>
                        <a:t>Chapter 2.2, 3.1 and Annexure</a:t>
                      </a: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1813786"/>
                  </a:ext>
                </a:extLst>
              </a:tr>
              <a:tr h="1292781">
                <a:tc>
                  <a:txBody>
                    <a:bodyPr/>
                    <a:lstStyle/>
                    <a:p>
                      <a:pPr algn="ctr"/>
                      <a:r>
                        <a:rPr lang="en-ZA" sz="1100" b="1">
                          <a:latin typeface="Arial" panose="020B0604020202020204" pitchFamily="34" charset="0"/>
                          <a:cs typeface="Arial" panose="020B0604020202020204" pitchFamily="34" charset="0"/>
                        </a:rPr>
                        <a:t>4</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Contracted Energy Sale Risk</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b="0" i="0" u="none">
                          <a:latin typeface="Arial" panose="020B0604020202020204" pitchFamily="34" charset="0"/>
                          <a:cs typeface="Arial" panose="020B0604020202020204" pitchFamily="34" charset="0"/>
                        </a:rPr>
                        <a:t>Excess Generation</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b="0" i="0" u="none">
                          <a:latin typeface="Arial" panose="020B0604020202020204" pitchFamily="34" charset="0"/>
                          <a:cs typeface="Arial" panose="020B0604020202020204" pitchFamily="34" charset="0"/>
                        </a:rPr>
                        <a:t>As per the provisions of the Clause 12.2 in the PPA, NEA may purchase the Excess Energy by issuing Dispatch Instruction at 50% of the PPA rate</a:t>
                      </a:r>
                    </a:p>
                    <a:p>
                      <a:pPr algn="just"/>
                      <a:endParaRPr lang="en-US" sz="1100">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a:latin typeface="Arial" panose="020B0604020202020204" pitchFamily="34" charset="0"/>
                          <a:cs typeface="Arial" panose="020B0604020202020204" pitchFamily="34" charset="0"/>
                        </a:rPr>
                        <a:t>Excess energy earns only 50% of the base tariff, which reduces project returns during high-flow months when generation is highest.</a:t>
                      </a:r>
                    </a:p>
                  </a:txBody>
                  <a:tcPr anchor="ctr">
                    <a:lnL w="12700" cap="flat" cmpd="sng" algn="ctr">
                      <a:solidFill>
                        <a:schemeClr val="accent1">
                          <a:lumMod val="40000"/>
                          <a:lumOff val="60000"/>
                        </a:schemeClr>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dirty="0">
                          <a:latin typeface="Arial" panose="020B0604020202020204" pitchFamily="34" charset="0"/>
                          <a:cs typeface="Arial" panose="020B0604020202020204" pitchFamily="34" charset="0"/>
                        </a:rPr>
                        <a:t>-</a:t>
                      </a: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90959228"/>
                  </a:ext>
                </a:extLst>
              </a:tr>
            </a:tbl>
          </a:graphicData>
        </a:graphic>
      </p:graphicFrame>
    </p:spTree>
    <p:extLst>
      <p:ext uri="{BB962C8B-B14F-4D97-AF65-F5344CB8AC3E}">
        <p14:creationId xmlns:p14="http://schemas.microsoft.com/office/powerpoint/2010/main" val="1186767632"/>
      </p:ext>
    </p:extLst>
  </p:cSld>
  <p:clrMapOvr>
    <a:masterClrMapping/>
  </p:clrMapOvr>
  <p:transition>
    <p:fade/>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PJ_ST Project I Market and Off-take assessment</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Reserve margin limits affect revenue, but expanding market access and evolving pricing may offer new offtake opportunities</a:t>
            </a:r>
          </a:p>
        </p:txBody>
      </p: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2875392159"/>
              </p:ext>
            </p:extLst>
          </p:nvPr>
        </p:nvGraphicFramePr>
        <p:xfrm>
          <a:off x="514884" y="987245"/>
          <a:ext cx="11208793" cy="5219043"/>
        </p:xfrm>
        <a:graphic>
          <a:graphicData uri="http://schemas.openxmlformats.org/drawingml/2006/table">
            <a:tbl>
              <a:tblPr firstRow="1" bandRow="1">
                <a:tableStyleId>{3B4B98B0-60AC-42C2-AFA5-B58CD77FA1E5}</a:tableStyleId>
              </a:tblPr>
              <a:tblGrid>
                <a:gridCol w="525705">
                  <a:extLst>
                    <a:ext uri="{9D8B030D-6E8A-4147-A177-3AD203B41FA5}">
                      <a16:colId xmlns:a16="http://schemas.microsoft.com/office/drawing/2014/main" val="2150755601"/>
                    </a:ext>
                  </a:extLst>
                </a:gridCol>
                <a:gridCol w="947237">
                  <a:extLst>
                    <a:ext uri="{9D8B030D-6E8A-4147-A177-3AD203B41FA5}">
                      <a16:colId xmlns:a16="http://schemas.microsoft.com/office/drawing/2014/main" val="2807376156"/>
                    </a:ext>
                  </a:extLst>
                </a:gridCol>
                <a:gridCol w="1083365">
                  <a:extLst>
                    <a:ext uri="{9D8B030D-6E8A-4147-A177-3AD203B41FA5}">
                      <a16:colId xmlns:a16="http://schemas.microsoft.com/office/drawing/2014/main" val="1981393211"/>
                    </a:ext>
                  </a:extLst>
                </a:gridCol>
                <a:gridCol w="4273826">
                  <a:extLst>
                    <a:ext uri="{9D8B030D-6E8A-4147-A177-3AD203B41FA5}">
                      <a16:colId xmlns:a16="http://schemas.microsoft.com/office/drawing/2014/main" val="1355468333"/>
                    </a:ext>
                  </a:extLst>
                </a:gridCol>
                <a:gridCol w="3359426">
                  <a:extLst>
                    <a:ext uri="{9D8B030D-6E8A-4147-A177-3AD203B41FA5}">
                      <a16:colId xmlns:a16="http://schemas.microsoft.com/office/drawing/2014/main" val="2816683286"/>
                    </a:ext>
                  </a:extLst>
                </a:gridCol>
                <a:gridCol w="1019234">
                  <a:extLst>
                    <a:ext uri="{9D8B030D-6E8A-4147-A177-3AD203B41FA5}">
                      <a16:colId xmlns:a16="http://schemas.microsoft.com/office/drawing/2014/main" val="1941397846"/>
                    </a:ext>
                  </a:extLst>
                </a:gridCol>
              </a:tblGrid>
              <a:tr h="586880">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Category</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a:r>
                        <a:rPr lang="en-US" sz="1100" b="0">
                          <a:solidFill>
                            <a:schemeClr val="bg1"/>
                          </a:solidFill>
                          <a:latin typeface="Arial" panose="020B0604020202020204" pitchFamily="34" charset="0"/>
                          <a:cs typeface="Arial" panose="020B0604020202020204" pitchFamily="34" charset="0"/>
                        </a:rPr>
                        <a:t>Sub-category</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Description/Reference Clause</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Impact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Reference in the report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1970241">
                <a:tc>
                  <a:txBody>
                    <a:bodyPr/>
                    <a:lstStyle/>
                    <a:p>
                      <a:pPr algn="ctr"/>
                      <a:r>
                        <a:rPr lang="en-ZA" sz="1100" b="1">
                          <a:latin typeface="Arial" panose="020B0604020202020204" pitchFamily="34" charset="0"/>
                          <a:cs typeface="Arial" panose="020B0604020202020204" pitchFamily="34" charset="0"/>
                        </a:rPr>
                        <a:t>5</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Uncontracted Energy Sale Risk</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a:solidFill>
                            <a:schemeClr val="dk1"/>
                          </a:solidFill>
                          <a:latin typeface="Arial" panose="020B0604020202020204" pitchFamily="34" charset="0"/>
                          <a:ea typeface="+mn-ea"/>
                          <a:cs typeface="Arial" panose="020B0604020202020204" pitchFamily="34" charset="0"/>
                        </a:rPr>
                        <a:t>Domestic market in Nepal</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kern="1200">
                          <a:solidFill>
                            <a:schemeClr val="dk1"/>
                          </a:solidFill>
                          <a:latin typeface="Arial" panose="020B0604020202020204" pitchFamily="34" charset="0"/>
                          <a:ea typeface="+mn-ea"/>
                          <a:cs typeface="Arial" panose="020B0604020202020204" pitchFamily="34" charset="0"/>
                        </a:rPr>
                        <a:t>As per the current PPA, 70 MW has been contracted capacity with NEA and there is additional 30 MW which is under ‘Take and Pay’ arrangement. </a:t>
                      </a:r>
                    </a:p>
                    <a:p>
                      <a:pPr marL="0" marR="0" lvl="0" indent="0" algn="just" defTabSz="914335" rtl="0" eaLnBrk="1" fontAlgn="auto" latinLnBrk="0" hangingPunct="1">
                        <a:lnSpc>
                          <a:spcPct val="100000"/>
                        </a:lnSpc>
                        <a:spcBef>
                          <a:spcPts val="0"/>
                        </a:spcBef>
                        <a:spcAft>
                          <a:spcPts val="0"/>
                        </a:spcAft>
                        <a:buClrTx/>
                        <a:buSzTx/>
                        <a:buFontTx/>
                        <a:buNone/>
                        <a:tabLst/>
                        <a:defRPr/>
                      </a:pPr>
                      <a:endParaRPr lang="en-US" sz="1100" kern="1200">
                        <a:solidFill>
                          <a:schemeClr val="dk1"/>
                        </a:solidFill>
                        <a:latin typeface="Arial" panose="020B0604020202020204" pitchFamily="34" charset="0"/>
                        <a:ea typeface="+mn-ea"/>
                        <a:cs typeface="Arial" panose="020B0604020202020204" pitchFamily="34" charset="0"/>
                      </a:endParaRPr>
                    </a:p>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a:latin typeface="Arial" panose="020B0604020202020204" pitchFamily="34" charset="0"/>
                          <a:cs typeface="Arial" panose="020B0604020202020204" pitchFamily="34" charset="0"/>
                        </a:rPr>
                        <a:t>Ability of Nepal to absorb the additional energy  for the domestic consumption is under the discretion of NEA based on the requirement of energy.</a:t>
                      </a:r>
                      <a:r>
                        <a:rPr lang="en-US" sz="1100" kern="1200">
                          <a:solidFill>
                            <a:schemeClr val="dk1"/>
                          </a:solidFill>
                          <a:latin typeface="Arial" panose="020B0604020202020204" pitchFamily="34" charset="0"/>
                          <a:ea typeface="+mn-ea"/>
                          <a:cs typeface="Arial" panose="020B0604020202020204" pitchFamily="34" charset="0"/>
                        </a:rPr>
                        <a:t> </a:t>
                      </a:r>
                    </a:p>
                    <a:p>
                      <a:pPr algn="just"/>
                      <a:endParaRPr lang="en-US" sz="1100" b="0">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a:latin typeface="Arial" panose="020B0604020202020204" pitchFamily="34" charset="0"/>
                          <a:cs typeface="Arial" panose="020B0604020202020204" pitchFamily="34" charset="0"/>
                        </a:rPr>
                        <a:t>Revenue realization for uncontracted energy is uncertain; reliance on NEA’s discretionary purchase introduces cash flow volatility and curtailment risk in periods of excess supply.</a:t>
                      </a:r>
                      <a:br>
                        <a:rPr lang="en-US" sz="1100">
                          <a:latin typeface="Arial" panose="020B0604020202020204" pitchFamily="34" charset="0"/>
                          <a:cs typeface="Arial" panose="020B0604020202020204" pitchFamily="34" charset="0"/>
                        </a:rPr>
                      </a:br>
                      <a:br>
                        <a:rPr lang="en-US" sz="1100">
                          <a:latin typeface="Arial" panose="020B0604020202020204" pitchFamily="34" charset="0"/>
                          <a:cs typeface="Arial" panose="020B0604020202020204" pitchFamily="34" charset="0"/>
                        </a:rPr>
                      </a:br>
                      <a:r>
                        <a:rPr lang="en-US" sz="1100">
                          <a:latin typeface="Arial" panose="020B0604020202020204" pitchFamily="34" charset="0"/>
                          <a:cs typeface="Arial" panose="020B0604020202020204" pitchFamily="34" charset="0"/>
                        </a:rPr>
                        <a:t>However, there are other projects as well in Nepal with Take and Pay clause and NEA is purchasing ‘Additional Energy’ from them (in 2023-24). </a:t>
                      </a:r>
                    </a:p>
                  </a:txBody>
                  <a:tcPr anchor="ctr">
                    <a:lnL w="12700" cap="flat" cmpd="sng" algn="ctr">
                      <a:solidFill>
                        <a:schemeClr val="accent1">
                          <a:lumMod val="40000"/>
                          <a:lumOff val="60000"/>
                        </a:schemeClr>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a:latin typeface="Arial" panose="020B0604020202020204" pitchFamily="34" charset="0"/>
                          <a:cs typeface="Arial" panose="020B0604020202020204" pitchFamily="34" charset="0"/>
                        </a:rPr>
                        <a:t>Chapter 1, 2 and 3</a:t>
                      </a: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r h="2661922">
                <a:tc>
                  <a:txBody>
                    <a:bodyPr/>
                    <a:lstStyle/>
                    <a:p>
                      <a:pPr algn="ctr"/>
                      <a:r>
                        <a:rPr lang="en-ZA" sz="1100" b="1">
                          <a:latin typeface="Arial" panose="020B0604020202020204" pitchFamily="34" charset="0"/>
                          <a:cs typeface="Arial" panose="020B0604020202020204" pitchFamily="34" charset="0"/>
                        </a:rPr>
                        <a:t>6</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kumimoji="0" lang="en-ZA" sz="11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Uncontracted Energy Sale Risk</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100" kern="1200">
                          <a:solidFill>
                            <a:schemeClr val="dk1"/>
                          </a:solidFill>
                          <a:latin typeface="Arial" panose="020B0604020202020204" pitchFamily="34" charset="0"/>
                          <a:ea typeface="+mn-ea"/>
                          <a:cs typeface="Arial" panose="020B0604020202020204" pitchFamily="34" charset="0"/>
                        </a:rPr>
                        <a:t>Export Market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kern="1200">
                          <a:solidFill>
                            <a:schemeClr val="dk1"/>
                          </a:solidFill>
                          <a:latin typeface="Arial" panose="020B0604020202020204" pitchFamily="34" charset="0"/>
                          <a:ea typeface="+mn-ea"/>
                          <a:cs typeface="Arial" panose="020B0604020202020204" pitchFamily="34" charset="0"/>
                        </a:rPr>
                        <a:t>As per the current PPA, 70 MW has been contracted capacity with NEA and there is additional 30 MW which is under ‘Take and Pay’ arrangement. </a:t>
                      </a:r>
                    </a:p>
                    <a:p>
                      <a:pPr marL="0" marR="0" lvl="0" indent="0" algn="just" defTabSz="914335" rtl="0" eaLnBrk="1" fontAlgn="auto" latinLnBrk="0" hangingPunct="1">
                        <a:lnSpc>
                          <a:spcPct val="100000"/>
                        </a:lnSpc>
                        <a:spcBef>
                          <a:spcPts val="0"/>
                        </a:spcBef>
                        <a:spcAft>
                          <a:spcPts val="0"/>
                        </a:spcAft>
                        <a:buClrTx/>
                        <a:buSzTx/>
                        <a:buFontTx/>
                        <a:buNone/>
                        <a:tabLst/>
                        <a:defRPr/>
                      </a:pPr>
                      <a:endParaRPr lang="en-US" sz="1100" b="0">
                        <a:latin typeface="Arial" panose="020B0604020202020204" pitchFamily="34" charset="0"/>
                        <a:cs typeface="Arial" panose="020B0604020202020204" pitchFamily="34" charset="0"/>
                      </a:endParaRPr>
                    </a:p>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b="0">
                          <a:latin typeface="Arial" panose="020B0604020202020204" pitchFamily="34" charset="0"/>
                          <a:cs typeface="Arial" panose="020B0604020202020204" pitchFamily="34" charset="0"/>
                        </a:rPr>
                        <a:t>Probability of Sale of excess power via cross border mechanism during wet season is subject to availability and decision by NEA and then approval by Government of India. </a:t>
                      </a:r>
                    </a:p>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b="0">
                          <a:latin typeface="Arial" panose="020B0604020202020204" pitchFamily="34" charset="0"/>
                          <a:cs typeface="Arial" panose="020B0604020202020204" pitchFamily="34" charset="0"/>
                        </a:rPr>
                        <a:t>Further, the developer will be paid only the PPA Rates which results in no price benefits for the project developer even if there is power export in the CBET mode, but it assures revenue recovery in PPA Tariff.</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a:latin typeface="Arial" panose="020B0604020202020204" pitchFamily="34" charset="0"/>
                          <a:cs typeface="Arial" panose="020B0604020202020204" pitchFamily="34" charset="0"/>
                        </a:rPr>
                        <a:t>Export provides a fallback for surplus energy, but pricing is capped at PPA rates, offering no upside from market-based prices; further, reliance on annual </a:t>
                      </a:r>
                      <a:r>
                        <a:rPr lang="en-US" sz="1100" err="1">
                          <a:latin typeface="Arial" panose="020B0604020202020204" pitchFamily="34" charset="0"/>
                          <a:cs typeface="Arial" panose="020B0604020202020204" pitchFamily="34" charset="0"/>
                        </a:rPr>
                        <a:t>GoI</a:t>
                      </a:r>
                      <a:r>
                        <a:rPr lang="en-US" sz="1100">
                          <a:latin typeface="Arial" panose="020B0604020202020204" pitchFamily="34" charset="0"/>
                          <a:cs typeface="Arial" panose="020B0604020202020204" pitchFamily="34" charset="0"/>
                        </a:rPr>
                        <a:t> approvals introduces regulatory and continuity risk for cross-border sales. </a:t>
                      </a:r>
                    </a:p>
                    <a:p>
                      <a:pPr algn="just"/>
                      <a:endParaRPr lang="en-US" sz="1100">
                        <a:latin typeface="Arial" panose="020B0604020202020204" pitchFamily="34" charset="0"/>
                        <a:cs typeface="Arial" panose="020B0604020202020204" pitchFamily="34" charset="0"/>
                      </a:endParaRPr>
                    </a:p>
                    <a:p>
                      <a:pPr algn="just"/>
                      <a:r>
                        <a:rPr lang="en-US" sz="1100">
                          <a:latin typeface="Arial" panose="020B0604020202020204" pitchFamily="34" charset="0"/>
                          <a:cs typeface="Arial" panose="020B0604020202020204" pitchFamily="34" charset="0"/>
                        </a:rPr>
                        <a:t>However, proposed market reforms (Electricity Bill and ERC initiatives) may open the export market for IPPs in Nepal.</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a:latin typeface="Arial" panose="020B0604020202020204" pitchFamily="34" charset="0"/>
                          <a:cs typeface="Arial" panose="020B0604020202020204" pitchFamily="34" charset="0"/>
                        </a:rPr>
                        <a:t>Chapter 3, 4</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42508439"/>
                  </a:ext>
                </a:extLst>
              </a:tr>
            </a:tbl>
          </a:graphicData>
        </a:graphic>
      </p:graphicFrame>
    </p:spTree>
    <p:extLst>
      <p:ext uri="{BB962C8B-B14F-4D97-AF65-F5344CB8AC3E}">
        <p14:creationId xmlns:p14="http://schemas.microsoft.com/office/powerpoint/2010/main" val="1528184014"/>
      </p:ext>
    </p:extLst>
  </p:cSld>
  <p:clrMapOvr>
    <a:masterClrMapping/>
  </p:clrMapOvr>
  <p:transition>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621237305"/>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PJ_ST Project I Execution risk</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Timely project delivery remains a challenge, but strong planning / execution and NEA buy-in crucial to avoid impact of delays</a:t>
            </a:r>
          </a:p>
        </p:txBody>
      </p: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930991547"/>
              </p:ext>
            </p:extLst>
          </p:nvPr>
        </p:nvGraphicFramePr>
        <p:xfrm>
          <a:off x="514884" y="987246"/>
          <a:ext cx="11208793" cy="5547360"/>
        </p:xfrm>
        <a:graphic>
          <a:graphicData uri="http://schemas.openxmlformats.org/drawingml/2006/table">
            <a:tbl>
              <a:tblPr firstRow="1" bandRow="1">
                <a:tableStyleId>{3B4B98B0-60AC-42C2-AFA5-B58CD77FA1E5}</a:tableStyleId>
              </a:tblPr>
              <a:tblGrid>
                <a:gridCol w="525705">
                  <a:extLst>
                    <a:ext uri="{9D8B030D-6E8A-4147-A177-3AD203B41FA5}">
                      <a16:colId xmlns:a16="http://schemas.microsoft.com/office/drawing/2014/main" val="2150755601"/>
                    </a:ext>
                  </a:extLst>
                </a:gridCol>
                <a:gridCol w="1146020">
                  <a:extLst>
                    <a:ext uri="{9D8B030D-6E8A-4147-A177-3AD203B41FA5}">
                      <a16:colId xmlns:a16="http://schemas.microsoft.com/office/drawing/2014/main" val="2807376156"/>
                    </a:ext>
                  </a:extLst>
                </a:gridCol>
                <a:gridCol w="1381539">
                  <a:extLst>
                    <a:ext uri="{9D8B030D-6E8A-4147-A177-3AD203B41FA5}">
                      <a16:colId xmlns:a16="http://schemas.microsoft.com/office/drawing/2014/main" val="1981393211"/>
                    </a:ext>
                  </a:extLst>
                </a:gridCol>
                <a:gridCol w="3442252">
                  <a:extLst>
                    <a:ext uri="{9D8B030D-6E8A-4147-A177-3AD203B41FA5}">
                      <a16:colId xmlns:a16="http://schemas.microsoft.com/office/drawing/2014/main" val="1355468333"/>
                    </a:ext>
                  </a:extLst>
                </a:gridCol>
                <a:gridCol w="3189514">
                  <a:extLst>
                    <a:ext uri="{9D8B030D-6E8A-4147-A177-3AD203B41FA5}">
                      <a16:colId xmlns:a16="http://schemas.microsoft.com/office/drawing/2014/main" val="2816683286"/>
                    </a:ext>
                  </a:extLst>
                </a:gridCol>
                <a:gridCol w="1523763">
                  <a:extLst>
                    <a:ext uri="{9D8B030D-6E8A-4147-A177-3AD203B41FA5}">
                      <a16:colId xmlns:a16="http://schemas.microsoft.com/office/drawing/2014/main" val="1941397846"/>
                    </a:ext>
                  </a:extLst>
                </a:gridCol>
              </a:tblGrid>
              <a:tr h="307342">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Category</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a:r>
                        <a:rPr lang="en-US" sz="1100" b="0">
                          <a:solidFill>
                            <a:schemeClr val="bg1"/>
                          </a:solidFill>
                          <a:latin typeface="Arial" panose="020B0604020202020204" pitchFamily="34" charset="0"/>
                          <a:cs typeface="Arial" panose="020B0604020202020204" pitchFamily="34" charset="0"/>
                        </a:rPr>
                        <a:t>Sub-category</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Description/Reference Clause</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Impact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Reference in the report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1504128">
                <a:tc>
                  <a:txBody>
                    <a:bodyPr/>
                    <a:lstStyle/>
                    <a:p>
                      <a:pPr algn="ctr"/>
                      <a:r>
                        <a:rPr lang="en-ZA" sz="1100" b="1">
                          <a:latin typeface="Arial" panose="020B0604020202020204" pitchFamily="34" charset="0"/>
                          <a:cs typeface="Arial" panose="020B0604020202020204" pitchFamily="34" charset="0"/>
                        </a:rPr>
                        <a:t>1</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Execution risk</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a:solidFill>
                            <a:schemeClr val="dk1"/>
                          </a:solidFill>
                          <a:latin typeface="Arial" panose="020B0604020202020204" pitchFamily="34" charset="0"/>
                          <a:ea typeface="+mn-ea"/>
                          <a:cs typeface="Arial" panose="020B0604020202020204" pitchFamily="34" charset="0"/>
                        </a:rPr>
                        <a:t>Delay in RCOD</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As per the second amendment of PPA, the RCOD of the project is 28</a:t>
                      </a:r>
                      <a:r>
                        <a:rPr lang="en-ZA" sz="1100" b="0" baseline="30000">
                          <a:latin typeface="Arial" panose="020B0604020202020204" pitchFamily="34" charset="0"/>
                          <a:cs typeface="Arial" panose="020B0604020202020204" pitchFamily="34" charset="0"/>
                        </a:rPr>
                        <a:t>th </a:t>
                      </a:r>
                      <a:r>
                        <a:rPr lang="en-ZA" sz="1100" b="0">
                          <a:latin typeface="Arial" panose="020B0604020202020204" pitchFamily="34" charset="0"/>
                          <a:cs typeface="Arial" panose="020B0604020202020204" pitchFamily="34" charset="0"/>
                        </a:rPr>
                        <a:t> February 2026. </a:t>
                      </a:r>
                      <a:r>
                        <a:rPr lang="en-US" sz="1100" b="0">
                          <a:latin typeface="Arial" panose="020B0604020202020204" pitchFamily="34" charset="0"/>
                          <a:cs typeface="Arial" panose="020B0604020202020204" pitchFamily="34" charset="0"/>
                        </a:rPr>
                        <a:t>Considering the current project status, there may be requirement of extension of RCOD.</a:t>
                      </a:r>
                    </a:p>
                    <a:p>
                      <a:pPr marL="0" marR="0" lvl="0" indent="0" algn="just" defTabSz="914335" rtl="0" eaLnBrk="1" fontAlgn="auto" latinLnBrk="0" hangingPunct="1">
                        <a:lnSpc>
                          <a:spcPct val="100000"/>
                        </a:lnSpc>
                        <a:spcBef>
                          <a:spcPts val="0"/>
                        </a:spcBef>
                        <a:spcAft>
                          <a:spcPts val="0"/>
                        </a:spcAft>
                        <a:buClrTx/>
                        <a:buSzTx/>
                        <a:buFontTx/>
                        <a:buNone/>
                        <a:tabLst/>
                        <a:defRPr/>
                      </a:pPr>
                      <a:endParaRPr lang="en-US" sz="1100" b="0">
                        <a:latin typeface="Arial" panose="020B0604020202020204" pitchFamily="34" charset="0"/>
                        <a:cs typeface="Arial" panose="020B0604020202020204" pitchFamily="34" charset="0"/>
                      </a:endParaRPr>
                    </a:p>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b="0">
                          <a:latin typeface="Arial" panose="020B0604020202020204" pitchFamily="34" charset="0"/>
                          <a:cs typeface="Arial" panose="020B0604020202020204" pitchFamily="34" charset="0"/>
                        </a:rPr>
                        <a:t>Based on discussion with IPPAN, the RCOD extension has been provided to generating companies (IPPs) once due to COVID.</a:t>
                      </a:r>
                    </a:p>
                    <a:p>
                      <a:pPr marL="0" marR="0" lvl="0" indent="0" algn="just" defTabSz="914335" rtl="0" eaLnBrk="1" fontAlgn="auto" latinLnBrk="0" hangingPunct="1">
                        <a:lnSpc>
                          <a:spcPct val="100000"/>
                        </a:lnSpc>
                        <a:spcBef>
                          <a:spcPts val="0"/>
                        </a:spcBef>
                        <a:spcAft>
                          <a:spcPts val="0"/>
                        </a:spcAft>
                        <a:buClrTx/>
                        <a:buSzTx/>
                        <a:buFontTx/>
                        <a:buNone/>
                        <a:tabLst/>
                        <a:defRPr/>
                      </a:pPr>
                      <a:endParaRPr lang="en-US" sz="1100" b="0">
                        <a:latin typeface="Arial" panose="020B0604020202020204" pitchFamily="34" charset="0"/>
                        <a:cs typeface="Arial" panose="020B0604020202020204" pitchFamily="34" charset="0"/>
                      </a:endParaRPr>
                    </a:p>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b="0">
                          <a:latin typeface="Arial" panose="020B0604020202020204" pitchFamily="34" charset="0"/>
                          <a:cs typeface="Arial" panose="020B0604020202020204" pitchFamily="34" charset="0"/>
                        </a:rPr>
                        <a:t>Any RCOD extension will be done by NEA, only due to two reasons:</a:t>
                      </a:r>
                    </a:p>
                    <a:p>
                      <a:pPr marL="171450" marR="0" lvl="0" indent="-171450" algn="just" defTabSz="914335"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0">
                          <a:latin typeface="Arial" panose="020B0604020202020204" pitchFamily="34" charset="0"/>
                          <a:cs typeface="Arial" panose="020B0604020202020204" pitchFamily="34" charset="0"/>
                        </a:rPr>
                        <a:t>Force Majeure - As specified under PPA</a:t>
                      </a:r>
                    </a:p>
                    <a:p>
                      <a:pPr marL="171450" marR="0" lvl="0" indent="-171450" algn="just" defTabSz="914335"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0">
                          <a:latin typeface="Arial" panose="020B0604020202020204" pitchFamily="34" charset="0"/>
                          <a:cs typeface="Arial" panose="020B0604020202020204" pitchFamily="34" charset="0"/>
                        </a:rPr>
                        <a:t>NEA's non-fulfilment of its obligations like delay in transmission infrastructure. </a:t>
                      </a:r>
                    </a:p>
                    <a:p>
                      <a:pPr marL="0" marR="0" lvl="0" indent="0" algn="just" defTabSz="914335" rtl="0" eaLnBrk="1" fontAlgn="auto" latinLnBrk="0" hangingPunct="1">
                        <a:lnSpc>
                          <a:spcPct val="100000"/>
                        </a:lnSpc>
                        <a:spcBef>
                          <a:spcPts val="0"/>
                        </a:spcBef>
                        <a:spcAft>
                          <a:spcPts val="0"/>
                        </a:spcAft>
                        <a:buClrTx/>
                        <a:buSzTx/>
                        <a:buFontTx/>
                        <a:buNone/>
                        <a:tabLst/>
                        <a:defRPr/>
                      </a:pPr>
                      <a:endParaRPr lang="en-US" sz="1100" b="0">
                        <a:latin typeface="Arial" panose="020B0604020202020204" pitchFamily="34" charset="0"/>
                        <a:cs typeface="Arial" panose="020B0604020202020204" pitchFamily="34" charset="0"/>
                      </a:endParaRPr>
                    </a:p>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b="0">
                          <a:latin typeface="Arial" panose="020B0604020202020204" pitchFamily="34" charset="0"/>
                          <a:cs typeface="Arial" panose="020B0604020202020204" pitchFamily="34" charset="0"/>
                        </a:rPr>
                        <a:t>Applications are usually submitted to NEA 2-3 months before the RCOD. </a:t>
                      </a:r>
                    </a:p>
                    <a:p>
                      <a:pPr marL="0" marR="0" lvl="0" indent="0" algn="just" defTabSz="914335" rtl="0" eaLnBrk="1" fontAlgn="auto" latinLnBrk="0" hangingPunct="1">
                        <a:lnSpc>
                          <a:spcPct val="100000"/>
                        </a:lnSpc>
                        <a:spcBef>
                          <a:spcPts val="0"/>
                        </a:spcBef>
                        <a:spcAft>
                          <a:spcPts val="0"/>
                        </a:spcAft>
                        <a:buClrTx/>
                        <a:buSzTx/>
                        <a:buFontTx/>
                        <a:buNone/>
                        <a:tabLst/>
                        <a:defRPr/>
                      </a:pPr>
                      <a:endParaRPr lang="en-US" sz="1100" b="0">
                        <a:latin typeface="Arial" panose="020B0604020202020204" pitchFamily="34" charset="0"/>
                        <a:cs typeface="Arial" panose="020B0604020202020204" pitchFamily="34" charset="0"/>
                      </a:endParaRPr>
                    </a:p>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b="0">
                          <a:latin typeface="Arial" panose="020B0604020202020204" pitchFamily="34" charset="0"/>
                          <a:cs typeface="Arial" panose="020B0604020202020204" pitchFamily="34" charset="0"/>
                        </a:rPr>
                        <a:t>In this project, initial extension of RCOD was allowed due to COVID-19. </a:t>
                      </a:r>
                    </a:p>
                    <a:p>
                      <a:pPr marL="0" marR="0" lvl="0" indent="0" algn="just" defTabSz="914335" rtl="0" eaLnBrk="1" fontAlgn="auto" latinLnBrk="0" hangingPunct="1">
                        <a:lnSpc>
                          <a:spcPct val="100000"/>
                        </a:lnSpc>
                        <a:spcBef>
                          <a:spcPts val="0"/>
                        </a:spcBef>
                        <a:spcAft>
                          <a:spcPts val="0"/>
                        </a:spcAft>
                        <a:buClrTx/>
                        <a:buSzTx/>
                        <a:buFontTx/>
                        <a:buNone/>
                        <a:tabLst/>
                        <a:defRPr/>
                      </a:pPr>
                      <a:endParaRPr lang="en-US" sz="1100" b="0">
                        <a:latin typeface="Arial" panose="020B0604020202020204" pitchFamily="34" charset="0"/>
                        <a:cs typeface="Arial" panose="020B0604020202020204" pitchFamily="34" charset="0"/>
                      </a:endParaRPr>
                    </a:p>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b="0">
                          <a:latin typeface="Arial" panose="020B0604020202020204" pitchFamily="34" charset="0"/>
                          <a:cs typeface="Arial" panose="020B0604020202020204" pitchFamily="34" charset="0"/>
                        </a:rPr>
                        <a:t>RCOD extension is common in Nepal. Based on the discussions with Breeze, they mentioned that the project was impacted by flood and the study of impact has been conducted by them. RCOD extension on account of flood will have to meet the following criteria – </a:t>
                      </a:r>
                      <a:r>
                        <a:rPr lang="en-US" sz="1100" b="0" i="1">
                          <a:latin typeface="Arial" panose="020B0604020202020204" pitchFamily="34" charset="0"/>
                          <a:cs typeface="Arial" panose="020B0604020202020204" pitchFamily="34" charset="0"/>
                        </a:rPr>
                        <a:t>“in excess of the one-hundred-year Design Flood Discharge mentioned in Schedule 1“</a:t>
                      </a:r>
                      <a:r>
                        <a:rPr lang="en-US" sz="1100" b="0">
                          <a:latin typeface="Arial" panose="020B0604020202020204" pitchFamily="34" charset="0"/>
                          <a:cs typeface="Arial" panose="020B0604020202020204" pitchFamily="34" charset="0"/>
                        </a:rPr>
                        <a:t> as mentioned in the force majeure conditions.</a:t>
                      </a:r>
                    </a:p>
                  </a:txBody>
                  <a:tcPr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just">
                        <a:buClr>
                          <a:schemeClr val="accent1"/>
                        </a:buClr>
                        <a:buFont typeface="Wingdings" panose="05000000000000000000" pitchFamily="2" charset="2"/>
                        <a:buNone/>
                      </a:pPr>
                      <a:r>
                        <a:rPr lang="en-US" sz="1100" b="1" kern="1200" dirty="0">
                          <a:solidFill>
                            <a:schemeClr val="tx1"/>
                          </a:solidFill>
                          <a:latin typeface="Arial" panose="020B0604020202020204" pitchFamily="34" charset="0"/>
                          <a:ea typeface="+mn-ea"/>
                          <a:cs typeface="Arial" panose="020B0604020202020204" pitchFamily="34" charset="0"/>
                        </a:rPr>
                        <a:t>Impact on overall project cashflow </a:t>
                      </a:r>
                      <a:r>
                        <a:rPr lang="en-US" sz="1100" b="0" kern="1200" dirty="0">
                          <a:solidFill>
                            <a:srgbClr val="FF0000"/>
                          </a:solidFill>
                          <a:latin typeface="Arial" panose="020B0604020202020204" pitchFamily="34" charset="0"/>
                          <a:ea typeface="+mn-ea"/>
                          <a:cs typeface="Arial" panose="020B0604020202020204" pitchFamily="34" charset="0"/>
                        </a:rPr>
                        <a:t>- </a:t>
                      </a:r>
                      <a:r>
                        <a:rPr lang="en-US" sz="1100" b="0" kern="1200" dirty="0">
                          <a:solidFill>
                            <a:schemeClr val="tx1"/>
                          </a:solidFill>
                          <a:latin typeface="Arial" panose="020B0604020202020204" pitchFamily="34" charset="0"/>
                          <a:ea typeface="+mn-ea"/>
                          <a:cs typeface="Arial" panose="020B0604020202020204" pitchFamily="34" charset="0"/>
                        </a:rPr>
                        <a:t>If there is delay in the RCOD, based on the delay, there will be impact on the number of escalations in the tariff (3% escalation each year up to 8 times) this will have impact on the cashflow of the project.</a:t>
                      </a:r>
                    </a:p>
                    <a:p>
                      <a:pPr marL="0" indent="0" algn="just">
                        <a:buClr>
                          <a:schemeClr val="accent1"/>
                        </a:buClr>
                        <a:buFont typeface="Wingdings" panose="05000000000000000000" pitchFamily="2" charset="2"/>
                        <a:buNone/>
                      </a:pPr>
                      <a:endParaRPr lang="en-US" sz="1100" b="0" kern="1200" dirty="0">
                        <a:solidFill>
                          <a:schemeClr val="tx1"/>
                        </a:solidFill>
                        <a:latin typeface="Arial" panose="020B0604020202020204" pitchFamily="34" charset="0"/>
                        <a:ea typeface="+mn-ea"/>
                        <a:cs typeface="Arial" panose="020B0604020202020204" pitchFamily="34" charset="0"/>
                      </a:endParaRPr>
                    </a:p>
                    <a:p>
                      <a:pPr marL="0" indent="0" algn="just">
                        <a:buClr>
                          <a:schemeClr val="accent1"/>
                        </a:buClr>
                        <a:buFont typeface="Wingdings" panose="05000000000000000000" pitchFamily="2" charset="2"/>
                        <a:buNone/>
                      </a:pPr>
                      <a:r>
                        <a:rPr lang="en-US" sz="1100" b="1" kern="1200" dirty="0">
                          <a:solidFill>
                            <a:schemeClr val="tx1"/>
                          </a:solidFill>
                          <a:latin typeface="Arial" panose="020B0604020202020204" pitchFamily="34" charset="0"/>
                          <a:ea typeface="+mn-ea"/>
                          <a:cs typeface="Arial" panose="020B0604020202020204" pitchFamily="34" charset="0"/>
                        </a:rPr>
                        <a:t>(For instance - </a:t>
                      </a:r>
                      <a:r>
                        <a:rPr lang="en-US" sz="1100" b="0" kern="1200" dirty="0">
                          <a:solidFill>
                            <a:schemeClr val="tx1"/>
                          </a:solidFill>
                          <a:latin typeface="Arial" panose="020B0604020202020204" pitchFamily="34" charset="0"/>
                          <a:ea typeface="+mn-ea"/>
                          <a:cs typeface="Arial" panose="020B0604020202020204" pitchFamily="34" charset="0"/>
                        </a:rPr>
                        <a:t>Where COD is late by more than six months and less than 18 months when compared to RCOD, then there will be only 7 price escalations).</a:t>
                      </a:r>
                    </a:p>
                    <a:p>
                      <a:pPr algn="just"/>
                      <a:br>
                        <a:rPr lang="en-US" sz="1100" dirty="0">
                          <a:latin typeface="Arial" panose="020B0604020202020204" pitchFamily="34" charset="0"/>
                          <a:cs typeface="Arial" panose="020B0604020202020204" pitchFamily="34" charset="0"/>
                        </a:rPr>
                      </a:br>
                      <a:br>
                        <a:rPr lang="en-US" sz="1100" dirty="0">
                          <a:latin typeface="Arial" panose="020B0604020202020204" pitchFamily="34" charset="0"/>
                          <a:cs typeface="Arial" panose="020B0604020202020204" pitchFamily="34" charset="0"/>
                        </a:rPr>
                      </a:br>
                      <a:r>
                        <a:rPr lang="en-US" sz="1100" i="0" dirty="0">
                          <a:latin typeface="Arial" panose="020B0604020202020204" pitchFamily="34" charset="0"/>
                          <a:cs typeface="Arial" panose="020B0604020202020204" pitchFamily="34" charset="0"/>
                        </a:rPr>
                        <a:t>There are several projects that face delay in Nepal and NEA extends the RCOD depending on the merit of the case. </a:t>
                      </a:r>
                    </a:p>
                  </a:txBody>
                  <a:tcPr anchor="ctr">
                    <a:lnL w="12700" cap="flat" cmpd="sng" algn="ctr">
                      <a:solidFill>
                        <a:schemeClr val="accent1">
                          <a:lumMod val="40000"/>
                          <a:lumOff val="60000"/>
                        </a:schemeClr>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dirty="0">
                          <a:latin typeface="Arial" panose="020B0604020202020204" pitchFamily="34" charset="0"/>
                          <a:cs typeface="Arial" panose="020B0604020202020204" pitchFamily="34" charset="0"/>
                        </a:rPr>
                        <a:t>Illustration provided in Annexure</a:t>
                      </a: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bl>
          </a:graphicData>
        </a:graphic>
      </p:graphicFrame>
    </p:spTree>
    <p:extLst>
      <p:ext uri="{BB962C8B-B14F-4D97-AF65-F5344CB8AC3E}">
        <p14:creationId xmlns:p14="http://schemas.microsoft.com/office/powerpoint/2010/main" val="821959443"/>
      </p:ext>
    </p:extLst>
  </p:cSld>
  <p:clrMapOvr>
    <a:masterClrMapping/>
  </p:clrMapOvr>
  <p:transition>
    <p:fade/>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019053438"/>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PJ_ST Project I Operational performance risk</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Hydrological and performance-linked risks exist, though prudent design, forecasting, and contractual compliance can ensure operational stability</a:t>
            </a:r>
          </a:p>
        </p:txBody>
      </p: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1446469956"/>
              </p:ext>
            </p:extLst>
          </p:nvPr>
        </p:nvGraphicFramePr>
        <p:xfrm>
          <a:off x="514884" y="987246"/>
          <a:ext cx="11208793" cy="5202816"/>
        </p:xfrm>
        <a:graphic>
          <a:graphicData uri="http://schemas.openxmlformats.org/drawingml/2006/table">
            <a:tbl>
              <a:tblPr firstRow="1" bandRow="1">
                <a:tableStyleId>{3B4B98B0-60AC-42C2-AFA5-B58CD77FA1E5}</a:tableStyleId>
              </a:tblPr>
              <a:tblGrid>
                <a:gridCol w="525705">
                  <a:extLst>
                    <a:ext uri="{9D8B030D-6E8A-4147-A177-3AD203B41FA5}">
                      <a16:colId xmlns:a16="http://schemas.microsoft.com/office/drawing/2014/main" val="2150755601"/>
                    </a:ext>
                  </a:extLst>
                </a:gridCol>
                <a:gridCol w="1146020">
                  <a:extLst>
                    <a:ext uri="{9D8B030D-6E8A-4147-A177-3AD203B41FA5}">
                      <a16:colId xmlns:a16="http://schemas.microsoft.com/office/drawing/2014/main" val="2807376156"/>
                    </a:ext>
                  </a:extLst>
                </a:gridCol>
                <a:gridCol w="1381539">
                  <a:extLst>
                    <a:ext uri="{9D8B030D-6E8A-4147-A177-3AD203B41FA5}">
                      <a16:colId xmlns:a16="http://schemas.microsoft.com/office/drawing/2014/main" val="1981393211"/>
                    </a:ext>
                  </a:extLst>
                </a:gridCol>
                <a:gridCol w="3485795">
                  <a:extLst>
                    <a:ext uri="{9D8B030D-6E8A-4147-A177-3AD203B41FA5}">
                      <a16:colId xmlns:a16="http://schemas.microsoft.com/office/drawing/2014/main" val="1355468333"/>
                    </a:ext>
                  </a:extLst>
                </a:gridCol>
                <a:gridCol w="3178628">
                  <a:extLst>
                    <a:ext uri="{9D8B030D-6E8A-4147-A177-3AD203B41FA5}">
                      <a16:colId xmlns:a16="http://schemas.microsoft.com/office/drawing/2014/main" val="2816683286"/>
                    </a:ext>
                  </a:extLst>
                </a:gridCol>
                <a:gridCol w="1491106">
                  <a:extLst>
                    <a:ext uri="{9D8B030D-6E8A-4147-A177-3AD203B41FA5}">
                      <a16:colId xmlns:a16="http://schemas.microsoft.com/office/drawing/2014/main" val="1941397846"/>
                    </a:ext>
                  </a:extLst>
                </a:gridCol>
              </a:tblGrid>
              <a:tr h="307342">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Category</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a:r>
                        <a:rPr lang="en-US" sz="1100" b="0">
                          <a:solidFill>
                            <a:schemeClr val="bg1"/>
                          </a:solidFill>
                          <a:latin typeface="Arial" panose="020B0604020202020204" pitchFamily="34" charset="0"/>
                          <a:cs typeface="Arial" panose="020B0604020202020204" pitchFamily="34" charset="0"/>
                        </a:rPr>
                        <a:t>Sub-category</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Description/Reference Clause</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Impact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Reference in the report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1504128">
                <a:tc>
                  <a:txBody>
                    <a:bodyPr/>
                    <a:lstStyle/>
                    <a:p>
                      <a:pPr algn="ctr"/>
                      <a:r>
                        <a:rPr lang="en-ZA" sz="1100" b="1">
                          <a:latin typeface="Arial" panose="020B0604020202020204" pitchFamily="34" charset="0"/>
                          <a:cs typeface="Arial" panose="020B0604020202020204" pitchFamily="34" charset="0"/>
                        </a:rPr>
                        <a:t>1</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Operational performance</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a:solidFill>
                            <a:schemeClr val="dk1"/>
                          </a:solidFill>
                          <a:latin typeface="Arial" panose="020B0604020202020204" pitchFamily="34" charset="0"/>
                          <a:ea typeface="+mn-ea"/>
                          <a:cs typeface="Arial" panose="020B0604020202020204" pitchFamily="34" charset="0"/>
                        </a:rPr>
                        <a:t>Monthly delivery compliance</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b="1" u="sng">
                          <a:latin typeface="Arial" panose="020B0604020202020204" pitchFamily="34" charset="0"/>
                          <a:cs typeface="Arial" panose="020B0604020202020204" pitchFamily="34" charset="0"/>
                        </a:rPr>
                        <a:t>Failure to Deliver Contract Energy</a:t>
                      </a:r>
                    </a:p>
                    <a:p>
                      <a:pPr algn="just"/>
                      <a:r>
                        <a:rPr lang="en-US" sz="1100">
                          <a:latin typeface="Arial" panose="020B0604020202020204" pitchFamily="34" charset="0"/>
                          <a:cs typeface="Arial" panose="020B0604020202020204" pitchFamily="34" charset="0"/>
                        </a:rPr>
                        <a:t>If monthly delivery is less than 80% of the lesser of Contract Energy or Availability Declaration (excluding Force Majeure, Scheduled Outage, or Emergency Maintenance), the Company pays compensation.</a:t>
                      </a:r>
                    </a:p>
                    <a:p>
                      <a:pPr algn="just"/>
                      <a:r>
                        <a:rPr lang="en-US" sz="1100" b="1" i="1" u="none">
                          <a:latin typeface="Arial" panose="020B0604020202020204" pitchFamily="34" charset="0"/>
                          <a:cs typeface="Arial" panose="020B0604020202020204" pitchFamily="34" charset="0"/>
                        </a:rPr>
                        <a:t>Compensation = [0.8 × Declared Energy – Delivered Energy] × Purchase Rate</a:t>
                      </a:r>
                      <a:endParaRPr lang="en-US" sz="1100">
                        <a:latin typeface="Arial" panose="020B0604020202020204" pitchFamily="34" charset="0"/>
                        <a:cs typeface="Arial" panose="020B0604020202020204" pitchFamily="34" charset="0"/>
                      </a:endParaRPr>
                    </a:p>
                    <a:p>
                      <a:pPr algn="just"/>
                      <a:endParaRPr lang="en-US" sz="1100" b="0">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a:latin typeface="Arial" panose="020B0604020202020204" pitchFamily="34" charset="0"/>
                          <a:cs typeface="Arial" panose="020B0604020202020204" pitchFamily="34" charset="0"/>
                        </a:rPr>
                        <a:t>Creates monthly cash flow volatility and exposes the project to financial penalties during low-generation periods, increasing operational risk and requiring conservative generation forecasts.</a:t>
                      </a:r>
                    </a:p>
                  </a:txBody>
                  <a:tcPr anchor="ctr">
                    <a:lnL w="12700" cap="flat" cmpd="sng" algn="ctr">
                      <a:solidFill>
                        <a:schemeClr val="accent1">
                          <a:lumMod val="40000"/>
                          <a:lumOff val="60000"/>
                        </a:schemeClr>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a:latin typeface="Arial" panose="020B0604020202020204" pitchFamily="34" charset="0"/>
                          <a:cs typeface="Arial" panose="020B0604020202020204" pitchFamily="34" charset="0"/>
                        </a:rPr>
                        <a:t>-</a:t>
                      </a: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r h="1504128">
                <a:tc>
                  <a:txBody>
                    <a:bodyPr/>
                    <a:lstStyle/>
                    <a:p>
                      <a:pPr algn="ctr"/>
                      <a:r>
                        <a:rPr lang="en-ZA" sz="1100" b="1">
                          <a:latin typeface="Arial" panose="020B0604020202020204" pitchFamily="34" charset="0"/>
                          <a:cs typeface="Arial" panose="020B0604020202020204" pitchFamily="34" charset="0"/>
                        </a:rPr>
                        <a:t>2</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Operational performance</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a:solidFill>
                            <a:schemeClr val="dk1"/>
                          </a:solidFill>
                          <a:latin typeface="Arial" panose="020B0604020202020204" pitchFamily="34" charset="0"/>
                          <a:ea typeface="+mn-ea"/>
                          <a:cs typeface="Arial" panose="020B0604020202020204" pitchFamily="34" charset="0"/>
                        </a:rPr>
                        <a:t>Dry Season Obligation</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335" rtl="0" eaLnBrk="1" fontAlgn="auto" latinLnBrk="0" hangingPunct="1">
                        <a:lnSpc>
                          <a:spcPct val="100000"/>
                        </a:lnSpc>
                        <a:spcBef>
                          <a:spcPts val="0"/>
                        </a:spcBef>
                        <a:spcAft>
                          <a:spcPts val="0"/>
                        </a:spcAft>
                        <a:buClrTx/>
                        <a:buSzTx/>
                        <a:buFontTx/>
                        <a:buNone/>
                        <a:tabLst/>
                        <a:defRPr/>
                      </a:pPr>
                      <a:r>
                        <a:rPr kumimoji="0" lang="en-US" sz="1100" b="1" i="0" u="sng"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Dry Season Minimum Delivery</a:t>
                      </a:r>
                    </a:p>
                    <a:p>
                      <a:pPr marL="0" marR="0" lvl="0" indent="0" algn="just" defTabSz="914335"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If energy delivered during Dry Months is less than 30% of annual Contract Energy, compensation is calculated and adjusted in future bills.</a:t>
                      </a:r>
                    </a:p>
                    <a:p>
                      <a:pPr marL="0" marR="0" lvl="0" indent="0" algn="just" defTabSz="914335" rtl="0" eaLnBrk="1" fontAlgn="auto" latinLnBrk="0" hangingPunct="1">
                        <a:lnSpc>
                          <a:spcPct val="100000"/>
                        </a:lnSpc>
                        <a:spcBef>
                          <a:spcPts val="0"/>
                        </a:spcBef>
                        <a:spcAft>
                          <a:spcPts val="0"/>
                        </a:spcAft>
                        <a:buClrTx/>
                        <a:buSzTx/>
                        <a:buFontTx/>
                        <a:buNone/>
                        <a:tabLst/>
                        <a:defRPr/>
                      </a:pPr>
                      <a:r>
                        <a:rPr kumimoji="0" lang="en-US" sz="1100" b="1" i="1"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Compensation = [Total Annual Energy – (Dry Season Energy / 0.30)] × Wet Season Rate</a:t>
                      </a:r>
                      <a:endParaRPr lang="en-US" sz="1100">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a:latin typeface="Arial" panose="020B0604020202020204" pitchFamily="34" charset="0"/>
                          <a:cs typeface="Arial" panose="020B0604020202020204" pitchFamily="34" charset="0"/>
                        </a:rPr>
                        <a:t>Under delivery in dry months results in revenue clawback, impacting project liquidity and financial planning; managing seasonal flows becomes critical to maintaining PPA compliance and profitability.</a:t>
                      </a:r>
                    </a:p>
                  </a:txBody>
                  <a:tcPr anchor="ctr">
                    <a:lnL w="12700" cap="flat" cmpd="sng" algn="ctr">
                      <a:solidFill>
                        <a:schemeClr val="accent1">
                          <a:lumMod val="40000"/>
                          <a:lumOff val="60000"/>
                        </a:schemeClr>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a:latin typeface="Arial" panose="020B0604020202020204" pitchFamily="34" charset="0"/>
                          <a:cs typeface="Arial" panose="020B0604020202020204" pitchFamily="34" charset="0"/>
                        </a:rPr>
                        <a:t>-</a:t>
                      </a: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33695119"/>
                  </a:ext>
                </a:extLst>
              </a:tr>
              <a:tr h="1504128">
                <a:tc>
                  <a:txBody>
                    <a:bodyPr/>
                    <a:lstStyle/>
                    <a:p>
                      <a:pPr algn="ctr"/>
                      <a:r>
                        <a:rPr lang="en-ZA" sz="1100" b="1">
                          <a:latin typeface="Arial" panose="020B0604020202020204" pitchFamily="34" charset="0"/>
                          <a:cs typeface="Arial" panose="020B0604020202020204" pitchFamily="34" charset="0"/>
                        </a:rPr>
                        <a:t>3</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Operational performance</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a:solidFill>
                            <a:schemeClr val="dk1"/>
                          </a:solidFill>
                          <a:latin typeface="Arial" panose="020B0604020202020204" pitchFamily="34" charset="0"/>
                          <a:ea typeface="+mn-ea"/>
                          <a:cs typeface="Arial" panose="020B0604020202020204" pitchFamily="34" charset="0"/>
                        </a:rPr>
                        <a:t>Hydrological risk</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b="0">
                          <a:latin typeface="Arial" panose="020B0604020202020204" pitchFamily="34" charset="0"/>
                          <a:cs typeface="Arial" panose="020B0604020202020204" pitchFamily="34" charset="0"/>
                        </a:rPr>
                        <a:t>Nepal’s run-of-river hydropower plants are highly dependent on river flow, which varies significantly across seasons—typically peaking during the monsoon and dropping sharply in the dry months. As a result, hydrological risk is effectively transferred to the developer, with no compensation for shortfalls in energy generation (below contract energy) due to low water availability or plant outages. In practice, projects in Nepal have underperformed relative to their initial energy projections</a:t>
                      </a:r>
                    </a:p>
                  </a:txBody>
                  <a:tcPr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a:latin typeface="Arial" panose="020B0604020202020204" pitchFamily="34" charset="0"/>
                          <a:cs typeface="Arial" panose="020B0604020202020204" pitchFamily="34" charset="0"/>
                        </a:rPr>
                        <a:t>High seasonal variability in river flow can lead to underperformance against PPA targets, posing long-term revenue risk and challenging debt servicing capacity without adequate hydrology buffers in the DPR or financial model.</a:t>
                      </a:r>
                    </a:p>
                  </a:txBody>
                  <a:tcPr anchor="ctr">
                    <a:lnL w="12700" cap="flat" cmpd="sng" algn="ctr">
                      <a:solidFill>
                        <a:schemeClr val="accent1">
                          <a:lumMod val="40000"/>
                          <a:lumOff val="60000"/>
                        </a:schemeClr>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a:latin typeface="Arial" panose="020B0604020202020204" pitchFamily="34" charset="0"/>
                          <a:cs typeface="Arial" panose="020B0604020202020204" pitchFamily="34" charset="0"/>
                        </a:rPr>
                        <a:t>-</a:t>
                      </a: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0567509"/>
                  </a:ext>
                </a:extLst>
              </a:tr>
            </a:tbl>
          </a:graphicData>
        </a:graphic>
      </p:graphicFrame>
    </p:spTree>
    <p:extLst>
      <p:ext uri="{BB962C8B-B14F-4D97-AF65-F5344CB8AC3E}">
        <p14:creationId xmlns:p14="http://schemas.microsoft.com/office/powerpoint/2010/main" val="4009713979"/>
      </p:ext>
    </p:extLst>
  </p:cSld>
  <p:clrMapOvr>
    <a:masterClrMapping/>
  </p:clrMapOvr>
  <p:transition>
    <p:fade/>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438500748"/>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PJ_ST Project I Regulatory and Compliance</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The regulatory landscape is evolving, and with active engagement and compliance, approval and licensing risks are largely navigable</a:t>
            </a:r>
          </a:p>
        </p:txBody>
      </p:sp>
      <p:graphicFrame>
        <p:nvGraphicFramePr>
          <p:cNvPr id="8" name="Table 7">
            <a:extLst>
              <a:ext uri="{FF2B5EF4-FFF2-40B4-BE49-F238E27FC236}">
                <a16:creationId xmlns:a16="http://schemas.microsoft.com/office/drawing/2014/main" id="{41E4B58C-7FD6-7A74-980C-75CBDA3403C5}"/>
              </a:ext>
            </a:extLst>
          </p:cNvPr>
          <p:cNvGraphicFramePr>
            <a:graphicFrameLocks noGrp="1"/>
          </p:cNvGraphicFramePr>
          <p:nvPr>
            <p:extLst>
              <p:ext uri="{D42A27DB-BD31-4B8C-83A1-F6EECF244321}">
                <p14:modId xmlns:p14="http://schemas.microsoft.com/office/powerpoint/2010/main" val="887390536"/>
              </p:ext>
            </p:extLst>
          </p:nvPr>
        </p:nvGraphicFramePr>
        <p:xfrm>
          <a:off x="514884" y="987246"/>
          <a:ext cx="11208793" cy="5562600"/>
        </p:xfrm>
        <a:graphic>
          <a:graphicData uri="http://schemas.openxmlformats.org/drawingml/2006/table">
            <a:tbl>
              <a:tblPr firstRow="1" bandRow="1">
                <a:tableStyleId>{3B4B98B0-60AC-42C2-AFA5-B58CD77FA1E5}</a:tableStyleId>
              </a:tblPr>
              <a:tblGrid>
                <a:gridCol w="525705">
                  <a:extLst>
                    <a:ext uri="{9D8B030D-6E8A-4147-A177-3AD203B41FA5}">
                      <a16:colId xmlns:a16="http://schemas.microsoft.com/office/drawing/2014/main" val="2150755601"/>
                    </a:ext>
                  </a:extLst>
                </a:gridCol>
                <a:gridCol w="1146020">
                  <a:extLst>
                    <a:ext uri="{9D8B030D-6E8A-4147-A177-3AD203B41FA5}">
                      <a16:colId xmlns:a16="http://schemas.microsoft.com/office/drawing/2014/main" val="2807376156"/>
                    </a:ext>
                  </a:extLst>
                </a:gridCol>
                <a:gridCol w="1381539">
                  <a:extLst>
                    <a:ext uri="{9D8B030D-6E8A-4147-A177-3AD203B41FA5}">
                      <a16:colId xmlns:a16="http://schemas.microsoft.com/office/drawing/2014/main" val="1981393211"/>
                    </a:ext>
                  </a:extLst>
                </a:gridCol>
                <a:gridCol w="3366052">
                  <a:extLst>
                    <a:ext uri="{9D8B030D-6E8A-4147-A177-3AD203B41FA5}">
                      <a16:colId xmlns:a16="http://schemas.microsoft.com/office/drawing/2014/main" val="1355468333"/>
                    </a:ext>
                  </a:extLst>
                </a:gridCol>
                <a:gridCol w="3254829">
                  <a:extLst>
                    <a:ext uri="{9D8B030D-6E8A-4147-A177-3AD203B41FA5}">
                      <a16:colId xmlns:a16="http://schemas.microsoft.com/office/drawing/2014/main" val="2816683286"/>
                    </a:ext>
                  </a:extLst>
                </a:gridCol>
                <a:gridCol w="1534648">
                  <a:extLst>
                    <a:ext uri="{9D8B030D-6E8A-4147-A177-3AD203B41FA5}">
                      <a16:colId xmlns:a16="http://schemas.microsoft.com/office/drawing/2014/main" val="1941397846"/>
                    </a:ext>
                  </a:extLst>
                </a:gridCol>
              </a:tblGrid>
              <a:tr h="307342">
                <a:tc>
                  <a:txBody>
                    <a:bodyPr/>
                    <a:lstStyle/>
                    <a:p>
                      <a:pPr algn="ctr"/>
                      <a:r>
                        <a:rPr lang="en-ZA" sz="1100" b="0">
                          <a:solidFill>
                            <a:schemeClr val="bg1"/>
                          </a:solidFill>
                          <a:latin typeface="Arial" panose="020B0604020202020204" pitchFamily="34" charset="0"/>
                          <a:cs typeface="Arial" panose="020B0604020202020204" pitchFamily="34" charset="0"/>
                        </a:rPr>
                        <a:t>Sl. No</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100" b="0">
                          <a:solidFill>
                            <a:schemeClr val="bg1"/>
                          </a:solidFill>
                          <a:latin typeface="Arial" panose="020B0604020202020204" pitchFamily="34" charset="0"/>
                          <a:cs typeface="Arial" panose="020B0604020202020204" pitchFamily="34" charset="0"/>
                        </a:rPr>
                        <a:t>Category</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a:r>
                        <a:rPr lang="en-US" sz="1100" b="0">
                          <a:solidFill>
                            <a:schemeClr val="bg1"/>
                          </a:solidFill>
                          <a:latin typeface="Arial" panose="020B0604020202020204" pitchFamily="34" charset="0"/>
                          <a:cs typeface="Arial" panose="020B0604020202020204" pitchFamily="34" charset="0"/>
                        </a:rPr>
                        <a:t>Sub-category</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Description/Reference Clause</a:t>
                      </a:r>
                      <a:endParaRPr lang="en-ZA" sz="1100" b="0">
                        <a:solidFill>
                          <a:schemeClr val="bg1"/>
                        </a:solidFill>
                        <a:latin typeface="Arial" panose="020B0604020202020204" pitchFamily="34" charset="0"/>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Impact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ZA" sz="1100" b="0">
                          <a:solidFill>
                            <a:schemeClr val="bg1"/>
                          </a:solidFill>
                          <a:latin typeface="Arial" panose="020B0604020202020204" pitchFamily="34" charset="0"/>
                          <a:cs typeface="Arial" panose="020B0604020202020204" pitchFamily="34" charset="0"/>
                        </a:rPr>
                        <a:t>Reference in the report</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34989797"/>
                  </a:ext>
                </a:extLst>
              </a:tr>
              <a:tr h="1504128">
                <a:tc>
                  <a:txBody>
                    <a:bodyPr/>
                    <a:lstStyle/>
                    <a:p>
                      <a:pPr algn="ctr"/>
                      <a:r>
                        <a:rPr lang="en-ZA" sz="1100" b="1">
                          <a:latin typeface="Arial" panose="020B0604020202020204" pitchFamily="34" charset="0"/>
                          <a:cs typeface="Arial" panose="020B0604020202020204" pitchFamily="34" charset="0"/>
                        </a:rPr>
                        <a:t>1</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Regulatory and compliance</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a:solidFill>
                            <a:schemeClr val="dk1"/>
                          </a:solidFill>
                          <a:latin typeface="Arial" panose="020B0604020202020204" pitchFamily="34" charset="0"/>
                          <a:ea typeface="+mn-ea"/>
                          <a:cs typeface="Arial" panose="020B0604020202020204" pitchFamily="34" charset="0"/>
                        </a:rPr>
                        <a:t>Transaction approvals</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ZA" sz="1100" b="1">
                          <a:latin typeface="Arial" panose="020B0604020202020204" pitchFamily="34" charset="0"/>
                          <a:cs typeface="Arial" panose="020B0604020202020204" pitchFamily="34" charset="0"/>
                        </a:rPr>
                        <a:t>DoED Approval Requirement </a:t>
                      </a:r>
                    </a:p>
                    <a:p>
                      <a:pPr algn="just"/>
                      <a:endParaRPr lang="en-ZA" sz="1100" b="1" kern="1200">
                        <a:solidFill>
                          <a:schemeClr val="dk1"/>
                        </a:solidFill>
                        <a:latin typeface="Arial" panose="020B0604020202020204" pitchFamily="34" charset="0"/>
                        <a:ea typeface="+mn-ea"/>
                        <a:cs typeface="Arial" panose="020B0604020202020204" pitchFamily="34" charset="0"/>
                      </a:endParaRPr>
                    </a:p>
                    <a:p>
                      <a:pPr algn="just"/>
                      <a:r>
                        <a:rPr lang="en-US" sz="1100" kern="1200">
                          <a:solidFill>
                            <a:schemeClr val="dk1"/>
                          </a:solidFill>
                          <a:latin typeface="Arial" panose="020B0604020202020204" pitchFamily="34" charset="0"/>
                          <a:ea typeface="+mn-ea"/>
                          <a:cs typeface="Arial" panose="020B0604020202020204" pitchFamily="34" charset="0"/>
                        </a:rPr>
                        <a:t>As per the Generation License, any alteration or change in the ownership structure of the organization requires prior approval from the Department of Electricity Development (DoED). </a:t>
                      </a:r>
                      <a:endParaRPr lang="en-US" sz="1050" b="1" kern="1200">
                        <a:solidFill>
                          <a:schemeClr val="tx1"/>
                        </a:solidFill>
                        <a:latin typeface="Arial" panose="020B0604020202020204" pitchFamily="34" charset="0"/>
                        <a:ea typeface="+mn-ea"/>
                        <a:cs typeface="Arial" panose="020B0604020202020204" pitchFamily="34" charset="0"/>
                      </a:endParaRPr>
                    </a:p>
                    <a:p>
                      <a:pPr algn="just"/>
                      <a:endParaRPr lang="en-US" sz="1100" b="0">
                        <a:latin typeface="Arial" panose="020B0604020202020204" pitchFamily="34" charset="0"/>
                        <a:cs typeface="Arial" panose="020B0604020202020204" pitchFamily="34" charset="0"/>
                      </a:endParaRPr>
                    </a:p>
                    <a:p>
                      <a:pPr marL="0" marR="0" lvl="0" indent="0" algn="just" defTabSz="914335" rtl="0" eaLnBrk="1" fontAlgn="auto" latinLnBrk="0" hangingPunct="1">
                        <a:lnSpc>
                          <a:spcPct val="100000"/>
                        </a:lnSpc>
                        <a:spcBef>
                          <a:spcPts val="0"/>
                        </a:spcBef>
                        <a:spcAft>
                          <a:spcPts val="0"/>
                        </a:spcAft>
                        <a:buClrTx/>
                        <a:buSzTx/>
                        <a:buFontTx/>
                        <a:buNone/>
                        <a:tabLst/>
                        <a:defRPr/>
                      </a:pPr>
                      <a:r>
                        <a:rPr lang="en-ZA" sz="1100" b="1">
                          <a:latin typeface="Arial" panose="020B0604020202020204" pitchFamily="34" charset="0"/>
                          <a:cs typeface="Arial" panose="020B0604020202020204" pitchFamily="34" charset="0"/>
                        </a:rPr>
                        <a:t>ERC  Approval Requirement </a:t>
                      </a:r>
                    </a:p>
                    <a:p>
                      <a:pPr algn="just"/>
                      <a:endParaRPr lang="en-US" sz="1100" b="0" i="0" u="none">
                        <a:latin typeface="Arial" panose="020B0604020202020204" pitchFamily="34" charset="0"/>
                        <a:cs typeface="Arial" panose="020B0604020202020204" pitchFamily="34" charset="0"/>
                      </a:endParaRPr>
                    </a:p>
                    <a:p>
                      <a:pPr algn="just"/>
                      <a:r>
                        <a:rPr lang="en-US" sz="1100" b="0" i="0" u="none">
                          <a:latin typeface="Arial" panose="020B0604020202020204" pitchFamily="34" charset="0"/>
                          <a:cs typeface="Arial" panose="020B0604020202020204" pitchFamily="34" charset="0"/>
                        </a:rPr>
                        <a:t>As per the provisions of Electricity Regulatory Commission Rules, 2018, there is requirement to obtain prior Approval of the Commission to make Change in Share Structure (more than 5% change)</a:t>
                      </a:r>
                      <a:endParaRPr lang="en-US" sz="1050" b="1" kern="1200">
                        <a:solidFill>
                          <a:schemeClr val="tx1"/>
                        </a:solidFill>
                        <a:latin typeface="Arial" panose="020B0604020202020204" pitchFamily="34" charset="0"/>
                        <a:ea typeface="+mn-ea"/>
                        <a:cs typeface="Arial" panose="020B0604020202020204" pitchFamily="34" charset="0"/>
                      </a:endParaRPr>
                    </a:p>
                  </a:txBody>
                  <a:tcPr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b="1">
                          <a:latin typeface="Arial" panose="020B0604020202020204" pitchFamily="34" charset="0"/>
                          <a:cs typeface="Arial" panose="020B0604020202020204" pitchFamily="34" charset="0"/>
                        </a:rPr>
                        <a:t>DOED - </a:t>
                      </a:r>
                      <a:r>
                        <a:rPr lang="en-US" sz="1100">
                          <a:latin typeface="Arial" panose="020B0604020202020204" pitchFamily="34" charset="0"/>
                          <a:cs typeface="Arial" panose="020B0604020202020204" pitchFamily="34" charset="0"/>
                        </a:rPr>
                        <a:t>Based on the discussions with DoED, since the Generation License includes the provision that mandates the prior approval from the Department of Electricity Development (DoED), the same should be attained.</a:t>
                      </a:r>
                    </a:p>
                    <a:p>
                      <a:pPr algn="just"/>
                      <a:endParaRPr lang="en-US" sz="1100">
                        <a:latin typeface="Arial" panose="020B0604020202020204" pitchFamily="34" charset="0"/>
                        <a:cs typeface="Arial" panose="020B0604020202020204" pitchFamily="34" charset="0"/>
                      </a:endParaRPr>
                    </a:p>
                    <a:p>
                      <a:pPr algn="just"/>
                      <a:r>
                        <a:rPr lang="en-US" sz="1100">
                          <a:latin typeface="Arial" panose="020B0604020202020204" pitchFamily="34" charset="0"/>
                          <a:cs typeface="Arial" panose="020B0604020202020204" pitchFamily="34" charset="0"/>
                        </a:rPr>
                        <a:t>It requires submission of Net Worth certificate, attested by a CA. Approval process usually takes 1 week, if all documents are in order. There is no specified format. </a:t>
                      </a:r>
                    </a:p>
                    <a:p>
                      <a:pPr algn="just"/>
                      <a:endParaRPr lang="en-US" sz="1100" b="1">
                        <a:latin typeface="Arial" panose="020B0604020202020204" pitchFamily="34" charset="0"/>
                        <a:cs typeface="Arial" panose="020B0604020202020204" pitchFamily="34" charset="0"/>
                      </a:endParaRPr>
                    </a:p>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b="1">
                          <a:latin typeface="Arial" panose="020B0604020202020204" pitchFamily="34" charset="0"/>
                          <a:cs typeface="Arial" panose="020B0604020202020204" pitchFamily="34" charset="0"/>
                        </a:rPr>
                        <a:t>ERC - </a:t>
                      </a:r>
                      <a:r>
                        <a:rPr lang="en-US" sz="1100">
                          <a:latin typeface="Arial" panose="020B0604020202020204" pitchFamily="34" charset="0"/>
                          <a:cs typeface="Arial" panose="020B0604020202020204" pitchFamily="34" charset="0"/>
                        </a:rPr>
                        <a:t>Prior approval from ERC is required for share transfer beyond 5%. The process usually takes 15 days. </a:t>
                      </a:r>
                    </a:p>
                  </a:txBody>
                  <a:tcPr anchor="ctr">
                    <a:lnL w="12700" cap="flat" cmpd="sng" algn="ctr">
                      <a:solidFill>
                        <a:schemeClr val="accent1">
                          <a:lumMod val="40000"/>
                          <a:lumOff val="60000"/>
                        </a:schemeClr>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a:latin typeface="Arial" panose="020B0604020202020204" pitchFamily="34" charset="0"/>
                          <a:cs typeface="Arial" panose="020B0604020202020204" pitchFamily="34" charset="0"/>
                        </a:rPr>
                        <a:t>-</a:t>
                      </a: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7777459"/>
                  </a:ext>
                </a:extLst>
              </a:tr>
              <a:tr h="1504128">
                <a:tc>
                  <a:txBody>
                    <a:bodyPr/>
                    <a:lstStyle/>
                    <a:p>
                      <a:pPr algn="ctr"/>
                      <a:r>
                        <a:rPr lang="en-ZA" sz="1100" b="1">
                          <a:latin typeface="Arial" panose="020B0604020202020204" pitchFamily="34" charset="0"/>
                          <a:cs typeface="Arial" panose="020B0604020202020204" pitchFamily="34" charset="0"/>
                        </a:rPr>
                        <a:t>2</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Regulatory and compliance</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a:solidFill>
                            <a:schemeClr val="dk1"/>
                          </a:solidFill>
                          <a:latin typeface="Arial" panose="020B0604020202020204" pitchFamily="34" charset="0"/>
                          <a:ea typeface="+mn-ea"/>
                          <a:cs typeface="Arial" panose="020B0604020202020204" pitchFamily="34" charset="0"/>
                        </a:rPr>
                        <a:t>Approval for sale by NEA</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a:latin typeface="Arial" panose="020B0604020202020204" pitchFamily="34" charset="0"/>
                          <a:cs typeface="Arial" panose="020B0604020202020204" pitchFamily="34" charset="0"/>
                        </a:rPr>
                        <a:t>As per Clause 5.2 of PPA, </a:t>
                      </a:r>
                      <a:r>
                        <a:rPr lang="en-US" sz="1100" kern="1200">
                          <a:solidFill>
                            <a:schemeClr val="dk1"/>
                          </a:solidFill>
                          <a:latin typeface="Arial" panose="020B0604020202020204" pitchFamily="34" charset="0"/>
                          <a:ea typeface="+mn-ea"/>
                          <a:cs typeface="Arial" panose="020B0604020202020204" pitchFamily="34" charset="0"/>
                        </a:rPr>
                        <a:t>the electric energy to be generated from the Project cannot be sold to any other entity or such rights cannot be transferred without prior approval of the Authority.</a:t>
                      </a:r>
                    </a:p>
                    <a:p>
                      <a:pPr marL="0" marR="0" lvl="0" indent="0" algn="just" defTabSz="914335" rtl="0" eaLnBrk="1" fontAlgn="auto" latinLnBrk="0" hangingPunct="1">
                        <a:lnSpc>
                          <a:spcPct val="100000"/>
                        </a:lnSpc>
                        <a:spcBef>
                          <a:spcPts val="0"/>
                        </a:spcBef>
                        <a:spcAft>
                          <a:spcPts val="0"/>
                        </a:spcAft>
                        <a:buClrTx/>
                        <a:buSzTx/>
                        <a:buFontTx/>
                        <a:buNone/>
                        <a:tabLst/>
                        <a:defRPr/>
                      </a:pPr>
                      <a:endParaRPr lang="en-US" sz="1100" kern="1200">
                        <a:solidFill>
                          <a:schemeClr val="dk1"/>
                        </a:solidFill>
                        <a:latin typeface="Arial" panose="020B0604020202020204" pitchFamily="34" charset="0"/>
                        <a:ea typeface="+mn-ea"/>
                        <a:cs typeface="Arial" panose="020B0604020202020204" pitchFamily="34" charset="0"/>
                      </a:endParaRPr>
                    </a:p>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b="0" i="0" u="none">
                          <a:latin typeface="Arial" panose="020B0604020202020204" pitchFamily="34" charset="0"/>
                          <a:cs typeface="Arial" panose="020B0604020202020204" pitchFamily="34" charset="0"/>
                        </a:rPr>
                        <a:t>As per Clause 10.1(c) of PPA, NEA allows third-party sales only if technically feasible and with NEA’s approval. NEA may permit use of its transmission system by charging a Wheeling Charge.</a:t>
                      </a:r>
                    </a:p>
                  </a:txBody>
                  <a:tcPr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a:latin typeface="Arial" panose="020B0604020202020204" pitchFamily="34" charset="0"/>
                          <a:cs typeface="Arial" panose="020B0604020202020204" pitchFamily="34" charset="0"/>
                        </a:rPr>
                        <a:t>Commercial flexibility is constrained; inability to secure timely NEA approval can constrain market-based energy sales or export opportunities (in future).</a:t>
                      </a:r>
                    </a:p>
                  </a:txBody>
                  <a:tcPr anchor="ctr">
                    <a:lnL w="12700" cap="flat" cmpd="sng" algn="ctr">
                      <a:solidFill>
                        <a:schemeClr val="accent1">
                          <a:lumMod val="40000"/>
                          <a:lumOff val="60000"/>
                        </a:schemeClr>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a:latin typeface="Arial" panose="020B0604020202020204" pitchFamily="34" charset="0"/>
                          <a:cs typeface="Arial" panose="020B0604020202020204" pitchFamily="34" charset="0"/>
                        </a:rPr>
                        <a:t>-</a:t>
                      </a: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99162688"/>
                  </a:ext>
                </a:extLst>
              </a:tr>
              <a:tr h="673914">
                <a:tc>
                  <a:txBody>
                    <a:bodyPr/>
                    <a:lstStyle/>
                    <a:p>
                      <a:pPr algn="ctr"/>
                      <a:r>
                        <a:rPr lang="en-ZA" sz="1100" b="1">
                          <a:latin typeface="Arial" panose="020B0604020202020204" pitchFamily="34" charset="0"/>
                          <a:cs typeface="Arial" panose="020B0604020202020204" pitchFamily="34" charset="0"/>
                        </a:rPr>
                        <a:t>3</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ZA" sz="1100" b="0">
                          <a:latin typeface="Arial" panose="020B0604020202020204" pitchFamily="34" charset="0"/>
                          <a:cs typeface="Arial" panose="020B0604020202020204" pitchFamily="34" charset="0"/>
                        </a:rPr>
                        <a:t>Policy and regulatory</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a:solidFill>
                            <a:schemeClr val="dk1"/>
                          </a:solidFill>
                          <a:latin typeface="Arial" panose="020B0604020202020204" pitchFamily="34" charset="0"/>
                          <a:ea typeface="+mn-ea"/>
                          <a:cs typeface="Arial" panose="020B0604020202020204" pitchFamily="34" charset="0"/>
                        </a:rPr>
                        <a:t>Anticipated reforms</a:t>
                      </a:r>
                    </a:p>
                  </a:txBody>
                  <a:tcPr anchor="ctr">
                    <a:lnL w="6350" cap="flat" cmpd="sng" algn="ctr">
                      <a:solidFill>
                        <a:schemeClr val="accent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335" rtl="0" eaLnBrk="1" fontAlgn="auto" latinLnBrk="0" hangingPunct="1">
                        <a:lnSpc>
                          <a:spcPct val="100000"/>
                        </a:lnSpc>
                        <a:spcBef>
                          <a:spcPts val="0"/>
                        </a:spcBef>
                        <a:spcAft>
                          <a:spcPts val="0"/>
                        </a:spcAft>
                        <a:buClrTx/>
                        <a:buSzTx/>
                        <a:buFontTx/>
                        <a:buNone/>
                        <a:tabLst/>
                        <a:defRPr/>
                      </a:pPr>
                      <a:r>
                        <a:rPr lang="en-US" sz="1100" kern="1200">
                          <a:solidFill>
                            <a:schemeClr val="dk1"/>
                          </a:solidFill>
                          <a:latin typeface="Arial" panose="020B0604020202020204" pitchFamily="34" charset="0"/>
                          <a:ea typeface="+mn-ea"/>
                          <a:cs typeface="Arial" panose="020B0604020202020204" pitchFamily="34" charset="0"/>
                        </a:rPr>
                        <a:t>Effect on delay in the Planned  Reforms – Open access directives, Electricity Bills</a:t>
                      </a:r>
                    </a:p>
                  </a:txBody>
                  <a:tcPr anchor="ctr">
                    <a:lnL w="6350" cap="flat" cmpd="sng" algn="ctr">
                      <a:solidFill>
                        <a:schemeClr val="accent1"/>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en-US" sz="1100">
                          <a:latin typeface="Arial" panose="020B0604020202020204" pitchFamily="34" charset="0"/>
                          <a:cs typeface="Arial" panose="020B0604020202020204" pitchFamily="34" charset="0"/>
                        </a:rPr>
                        <a:t>Slower policy evolution on Electricity Bill  may limit future upside for merchant sales (in Nepal or India), wheeling, and open access, reducing long-term monetization potential of uncontracted power beyond the current PPA framework.</a:t>
                      </a:r>
                    </a:p>
                  </a:txBody>
                  <a:tcPr anchor="ctr">
                    <a:lnL w="12700" cap="flat" cmpd="sng" algn="ctr">
                      <a:solidFill>
                        <a:schemeClr val="accent1">
                          <a:lumMod val="40000"/>
                          <a:lumOff val="60000"/>
                        </a:schemeClr>
                      </a:solidFill>
                      <a:prstDash val="solid"/>
                      <a:round/>
                      <a:headEnd type="none" w="med" len="med"/>
                      <a:tailEnd type="none" w="med" len="med"/>
                    </a:lnL>
                    <a:lnR w="12700" cap="flat" cmpd="sng" algn="ctr">
                      <a:solidFill>
                        <a:schemeClr val="accent1">
                          <a:lumMod val="40000"/>
                          <a:lumOff val="60000"/>
                        </a:schemeClr>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a:latin typeface="Arial" panose="020B0604020202020204" pitchFamily="34" charset="0"/>
                          <a:cs typeface="Arial" panose="020B0604020202020204" pitchFamily="34" charset="0"/>
                        </a:rPr>
                        <a:t>Chapter 3.2</a:t>
                      </a:r>
                    </a:p>
                  </a:txBody>
                  <a:tcPr anchor="ctr">
                    <a:lnL w="12700" cap="flat" cmpd="sng" algn="ctr">
                      <a:solidFill>
                        <a:schemeClr val="accent1">
                          <a:lumMod val="40000"/>
                          <a:lumOff val="60000"/>
                        </a:schemeClr>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76888121"/>
                  </a:ext>
                </a:extLst>
              </a:tr>
            </a:tbl>
          </a:graphicData>
        </a:graphic>
      </p:graphicFrame>
    </p:spTree>
    <p:extLst>
      <p:ext uri="{BB962C8B-B14F-4D97-AF65-F5344CB8AC3E}">
        <p14:creationId xmlns:p14="http://schemas.microsoft.com/office/powerpoint/2010/main" val="2975726096"/>
      </p:ext>
    </p:extLst>
  </p:cSld>
  <p:clrMapOvr>
    <a:masterClrMapping/>
  </p:clrMapOvr>
  <p:transition>
    <p:fade/>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22" imgW="415" imgH="416" progId="TCLayout.ActiveDocument.1">
                  <p:embed/>
                </p:oleObj>
              </mc:Choice>
              <mc:Fallback>
                <p:oleObj name="think-cell Slide" r:id="rId22"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23"/>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Similar Projects in Nepal I Mix of ‘Take or Pay’ and ‘Take and Pay’ PPAs</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Existing hydro projects with partial take-and-pay capacity are also operating in Nepal; NEA is off-taking the ‘Additional Energy’ and exporting too</a:t>
            </a:r>
          </a:p>
        </p:txBody>
      </p:sp>
      <p:graphicFrame>
        <p:nvGraphicFramePr>
          <p:cNvPr id="3" name="Table 2">
            <a:extLst>
              <a:ext uri="{FF2B5EF4-FFF2-40B4-BE49-F238E27FC236}">
                <a16:creationId xmlns:a16="http://schemas.microsoft.com/office/drawing/2014/main" id="{B1BF3854-8DA1-A531-FA6C-C2083162F722}"/>
              </a:ext>
            </a:extLst>
          </p:cNvPr>
          <p:cNvGraphicFramePr>
            <a:graphicFrameLocks noGrp="1"/>
          </p:cNvGraphicFramePr>
          <p:nvPr>
            <p:extLst>
              <p:ext uri="{D42A27DB-BD31-4B8C-83A1-F6EECF244321}">
                <p14:modId xmlns:p14="http://schemas.microsoft.com/office/powerpoint/2010/main" val="2528244933"/>
              </p:ext>
            </p:extLst>
          </p:nvPr>
        </p:nvGraphicFramePr>
        <p:xfrm>
          <a:off x="514883" y="985808"/>
          <a:ext cx="11175468" cy="4347310"/>
        </p:xfrm>
        <a:graphic>
          <a:graphicData uri="http://schemas.openxmlformats.org/drawingml/2006/table">
            <a:tbl>
              <a:tblPr firstRow="1" bandRow="1">
                <a:tableStyleId>{5C22544A-7EE6-4342-B048-85BDC9FD1C3A}</a:tableStyleId>
              </a:tblPr>
              <a:tblGrid>
                <a:gridCol w="1837792">
                  <a:extLst>
                    <a:ext uri="{9D8B030D-6E8A-4147-A177-3AD203B41FA5}">
                      <a16:colId xmlns:a16="http://schemas.microsoft.com/office/drawing/2014/main" val="3191312541"/>
                    </a:ext>
                  </a:extLst>
                </a:gridCol>
                <a:gridCol w="3143250">
                  <a:extLst>
                    <a:ext uri="{9D8B030D-6E8A-4147-A177-3AD203B41FA5}">
                      <a16:colId xmlns:a16="http://schemas.microsoft.com/office/drawing/2014/main" val="3374993929"/>
                    </a:ext>
                  </a:extLst>
                </a:gridCol>
                <a:gridCol w="3219450">
                  <a:extLst>
                    <a:ext uri="{9D8B030D-6E8A-4147-A177-3AD203B41FA5}">
                      <a16:colId xmlns:a16="http://schemas.microsoft.com/office/drawing/2014/main" val="3556859679"/>
                    </a:ext>
                  </a:extLst>
                </a:gridCol>
                <a:gridCol w="2974976">
                  <a:extLst>
                    <a:ext uri="{9D8B030D-6E8A-4147-A177-3AD203B41FA5}">
                      <a16:colId xmlns:a16="http://schemas.microsoft.com/office/drawing/2014/main" val="2817274782"/>
                    </a:ext>
                  </a:extLst>
                </a:gridCol>
              </a:tblGrid>
              <a:tr h="795056">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Details</a:t>
                      </a:r>
                    </a:p>
                  </a:txBody>
                  <a:tcPr anchor="ctr">
                    <a:solidFill>
                      <a:schemeClr val="accent3"/>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IN" sz="1400" err="1">
                          <a:latin typeface="Arial" panose="020B0604020202020204" pitchFamily="34" charset="0"/>
                          <a:ea typeface="Verdana" panose="020B0604030504040204" pitchFamily="34" charset="0"/>
                          <a:cs typeface="Arial" panose="020B0604020202020204" pitchFamily="34" charset="0"/>
                        </a:rPr>
                        <a:t>Likhu</a:t>
                      </a:r>
                      <a:r>
                        <a:rPr lang="en-IN" sz="1400">
                          <a:latin typeface="Arial" panose="020B0604020202020204" pitchFamily="34" charset="0"/>
                          <a:ea typeface="Verdana" panose="020B0604030504040204" pitchFamily="34" charset="0"/>
                          <a:cs typeface="Arial" panose="020B0604020202020204" pitchFamily="34" charset="0"/>
                        </a:rPr>
                        <a:t> 1 </a:t>
                      </a:r>
                    </a:p>
                    <a:p>
                      <a:pPr marL="0" marR="0" lvl="0" indent="0" algn="ctr" defTabSz="914335" rtl="0" eaLnBrk="1" fontAlgn="auto" latinLnBrk="0" hangingPunct="1">
                        <a:lnSpc>
                          <a:spcPct val="100000"/>
                        </a:lnSpc>
                        <a:spcBef>
                          <a:spcPts val="0"/>
                        </a:spcBef>
                        <a:spcAft>
                          <a:spcPts val="0"/>
                        </a:spcAft>
                        <a:buClrTx/>
                        <a:buSzTx/>
                        <a:buFontTx/>
                        <a:buNone/>
                        <a:tabLst/>
                        <a:defRPr/>
                      </a:pPr>
                      <a:r>
                        <a:rPr lang="en-IN" sz="1400" b="1" kern="1200">
                          <a:solidFill>
                            <a:schemeClr val="lt1"/>
                          </a:solidFill>
                          <a:latin typeface="Arial" panose="020B0604020202020204" pitchFamily="34" charset="0"/>
                          <a:ea typeface="Verdana" panose="020B0604030504040204" pitchFamily="34" charset="0"/>
                          <a:cs typeface="Arial" panose="020B0604020202020204" pitchFamily="34" charset="0"/>
                        </a:rPr>
                        <a:t>(</a:t>
                      </a:r>
                      <a:r>
                        <a:rPr lang="en-US" sz="1400" b="1" kern="1200">
                          <a:solidFill>
                            <a:schemeClr val="lt1"/>
                          </a:solidFill>
                          <a:latin typeface="Arial" panose="020B0604020202020204" pitchFamily="34" charset="0"/>
                          <a:ea typeface="Verdana" panose="020B0604030504040204" pitchFamily="34" charset="0"/>
                          <a:cs typeface="Arial" panose="020B0604020202020204" pitchFamily="34" charset="0"/>
                        </a:rPr>
                        <a:t>Pan Himachal Energy Limited )</a:t>
                      </a:r>
                    </a:p>
                  </a:txBody>
                  <a:tcPr>
                    <a:solidFill>
                      <a:schemeClr val="accent3"/>
                    </a:solidFill>
                  </a:tcPr>
                </a:tc>
                <a:tc>
                  <a:txBody>
                    <a:bodyPr/>
                    <a:lstStyle/>
                    <a:p>
                      <a:pPr algn="ctr"/>
                      <a:r>
                        <a:rPr lang="en-IN" sz="1400" err="1">
                          <a:latin typeface="Arial" panose="020B0604020202020204" pitchFamily="34" charset="0"/>
                          <a:ea typeface="Verdana" panose="020B0604030504040204" pitchFamily="34" charset="0"/>
                          <a:cs typeface="Arial" panose="020B0604020202020204" pitchFamily="34" charset="0"/>
                        </a:rPr>
                        <a:t>Likhu</a:t>
                      </a:r>
                      <a:r>
                        <a:rPr lang="en-IN" sz="1400">
                          <a:latin typeface="Arial" panose="020B0604020202020204" pitchFamily="34" charset="0"/>
                          <a:ea typeface="Verdana" panose="020B0604030504040204" pitchFamily="34" charset="0"/>
                          <a:cs typeface="Arial" panose="020B0604020202020204" pitchFamily="34" charset="0"/>
                        </a:rPr>
                        <a:t> 2</a:t>
                      </a:r>
                    </a:p>
                    <a:p>
                      <a:pPr algn="ctr"/>
                      <a:r>
                        <a:rPr lang="en-IN" sz="1400">
                          <a:latin typeface="Arial" panose="020B0604020202020204" pitchFamily="34" charset="0"/>
                          <a:ea typeface="Verdana" panose="020B0604030504040204" pitchFamily="34" charset="0"/>
                          <a:cs typeface="Arial" panose="020B0604020202020204" pitchFamily="34" charset="0"/>
                        </a:rPr>
                        <a:t>(</a:t>
                      </a:r>
                      <a:r>
                        <a:rPr lang="en-US" sz="1400">
                          <a:latin typeface="Arial" panose="020B0604020202020204" pitchFamily="34" charset="0"/>
                          <a:ea typeface="Verdana" panose="020B0604030504040204" pitchFamily="34" charset="0"/>
                          <a:cs typeface="Arial" panose="020B0604020202020204" pitchFamily="34" charset="0"/>
                        </a:rPr>
                        <a:t>Global Hydropower Associate </a:t>
                      </a:r>
                    </a:p>
                    <a:p>
                      <a:pPr algn="ctr"/>
                      <a:r>
                        <a:rPr lang="en-US" sz="1400">
                          <a:latin typeface="Arial" panose="020B0604020202020204" pitchFamily="34" charset="0"/>
                          <a:ea typeface="Verdana" panose="020B0604030504040204" pitchFamily="34" charset="0"/>
                          <a:cs typeface="Arial" panose="020B0604020202020204" pitchFamily="34" charset="0"/>
                        </a:rPr>
                        <a:t>Limited)</a:t>
                      </a:r>
                      <a:endParaRPr lang="en-IN" sz="1400">
                        <a:latin typeface="Arial" panose="020B0604020202020204" pitchFamily="34" charset="0"/>
                        <a:ea typeface="Verdana" panose="020B0604030504040204" pitchFamily="34" charset="0"/>
                        <a:cs typeface="Arial" panose="020B0604020202020204" pitchFamily="34" charset="0"/>
                      </a:endParaRPr>
                    </a:p>
                  </a:txBody>
                  <a:tcPr>
                    <a:solidFill>
                      <a:schemeClr val="accent3"/>
                    </a:solidFill>
                  </a:tcPr>
                </a:tc>
                <a:tc>
                  <a:txBody>
                    <a:bodyPr/>
                    <a:lstStyle/>
                    <a:p>
                      <a:pPr algn="ctr"/>
                      <a:r>
                        <a:rPr lang="en-IN" sz="1400" err="1">
                          <a:latin typeface="Arial" panose="020B0604020202020204" pitchFamily="34" charset="0"/>
                          <a:ea typeface="Verdana" panose="020B0604030504040204" pitchFamily="34" charset="0"/>
                          <a:cs typeface="Arial" panose="020B0604020202020204" pitchFamily="34" charset="0"/>
                        </a:rPr>
                        <a:t>Likhu</a:t>
                      </a:r>
                      <a:r>
                        <a:rPr lang="en-IN" sz="1400">
                          <a:latin typeface="Arial" panose="020B0604020202020204" pitchFamily="34" charset="0"/>
                          <a:ea typeface="Verdana" panose="020B0604030504040204" pitchFamily="34" charset="0"/>
                          <a:cs typeface="Arial" panose="020B0604020202020204" pitchFamily="34" charset="0"/>
                        </a:rPr>
                        <a:t> </a:t>
                      </a:r>
                      <a:r>
                        <a:rPr lang="en-IN" sz="1400" err="1">
                          <a:latin typeface="Arial" panose="020B0604020202020204" pitchFamily="34" charset="0"/>
                          <a:ea typeface="Verdana" panose="020B0604030504040204" pitchFamily="34" charset="0"/>
                          <a:cs typeface="Arial" panose="020B0604020202020204" pitchFamily="34" charset="0"/>
                        </a:rPr>
                        <a:t>Khola</a:t>
                      </a:r>
                      <a:r>
                        <a:rPr lang="en-IN" sz="1400">
                          <a:latin typeface="Arial" panose="020B0604020202020204" pitchFamily="34" charset="0"/>
                          <a:ea typeface="Verdana" panose="020B0604030504040204" pitchFamily="34" charset="0"/>
                          <a:cs typeface="Arial" panose="020B0604020202020204" pitchFamily="34" charset="0"/>
                        </a:rPr>
                        <a:t> A</a:t>
                      </a:r>
                    </a:p>
                    <a:p>
                      <a:pPr algn="ctr"/>
                      <a:r>
                        <a:rPr lang="en-IN" sz="1400">
                          <a:latin typeface="Arial" panose="020B0604020202020204" pitchFamily="34" charset="0"/>
                          <a:ea typeface="Verdana" panose="020B0604030504040204" pitchFamily="34" charset="0"/>
                          <a:cs typeface="Arial" panose="020B0604020202020204" pitchFamily="34" charset="0"/>
                        </a:rPr>
                        <a:t>(</a:t>
                      </a:r>
                      <a:r>
                        <a:rPr lang="en-US" sz="1400" err="1">
                          <a:latin typeface="Arial" panose="020B0604020202020204" pitchFamily="34" charset="0"/>
                          <a:ea typeface="Verdana" panose="020B0604030504040204" pitchFamily="34" charset="0"/>
                          <a:cs typeface="Arial" panose="020B0604020202020204" pitchFamily="34" charset="0"/>
                        </a:rPr>
                        <a:t>Numbur</a:t>
                      </a:r>
                      <a:r>
                        <a:rPr lang="en-US" sz="1400">
                          <a:latin typeface="Arial" panose="020B0604020202020204" pitchFamily="34" charset="0"/>
                          <a:ea typeface="Verdana" panose="020B0604030504040204" pitchFamily="34" charset="0"/>
                          <a:cs typeface="Arial" panose="020B0604020202020204" pitchFamily="34" charset="0"/>
                        </a:rPr>
                        <a:t> Himalaya Hydropower Limited)</a:t>
                      </a:r>
                    </a:p>
                  </a:txBody>
                  <a:tcPr>
                    <a:solidFill>
                      <a:schemeClr val="accent3"/>
                    </a:solidFill>
                  </a:tcPr>
                </a:tc>
                <a:extLst>
                  <a:ext uri="{0D108BD9-81ED-4DB2-BD59-A6C34878D82A}">
                    <a16:rowId xmlns:a16="http://schemas.microsoft.com/office/drawing/2014/main" val="2950592200"/>
                  </a:ext>
                </a:extLst>
              </a:tr>
              <a:tr h="435998">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Installed Capacity</a:t>
                      </a:r>
                    </a:p>
                  </a:txBody>
                  <a:tcPr anchor="ctr">
                    <a:solidFill>
                      <a:schemeClr val="tx2">
                        <a:lumMod val="20000"/>
                        <a:lumOff val="80000"/>
                      </a:schemeClr>
                    </a:solidFill>
                  </a:tcPr>
                </a:tc>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77 MW</a:t>
                      </a:r>
                    </a:p>
                  </a:txBody>
                  <a:tcPr>
                    <a:solidFill>
                      <a:schemeClr val="bg1">
                        <a:lumMod val="95000"/>
                      </a:schemeClr>
                    </a:solidFill>
                  </a:tcPr>
                </a:tc>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55 MW</a:t>
                      </a:r>
                    </a:p>
                  </a:txBody>
                  <a:tcPr>
                    <a:solidFill>
                      <a:schemeClr val="bg1">
                        <a:lumMod val="95000"/>
                      </a:schemeClr>
                    </a:solidFill>
                  </a:tcPr>
                </a:tc>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29.04 MW</a:t>
                      </a:r>
                    </a:p>
                  </a:txBody>
                  <a:tcPr>
                    <a:solidFill>
                      <a:schemeClr val="bg1">
                        <a:lumMod val="95000"/>
                      </a:schemeClr>
                    </a:solidFill>
                  </a:tcPr>
                </a:tc>
                <a:extLst>
                  <a:ext uri="{0D108BD9-81ED-4DB2-BD59-A6C34878D82A}">
                    <a16:rowId xmlns:a16="http://schemas.microsoft.com/office/drawing/2014/main" val="781680879"/>
                  </a:ext>
                </a:extLst>
              </a:tr>
              <a:tr h="435998">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Capital Cost </a:t>
                      </a:r>
                    </a:p>
                  </a:txBody>
                  <a:tcPr anchor="ctr">
                    <a:solidFill>
                      <a:schemeClr val="tx2">
                        <a:lumMod val="20000"/>
                        <a:lumOff val="80000"/>
                      </a:schemeClr>
                    </a:solidFill>
                  </a:tcPr>
                </a:tc>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NPR 15,604 Mn</a:t>
                      </a:r>
                    </a:p>
                  </a:txBody>
                  <a:tcPr anchor="ctr">
                    <a:solidFill>
                      <a:schemeClr val="bg1">
                        <a:lumMod val="95000"/>
                      </a:schemeClr>
                    </a:solidFill>
                  </a:tcPr>
                </a:tc>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NPR 9,313 Mn</a:t>
                      </a:r>
                    </a:p>
                  </a:txBody>
                  <a:tcPr anchor="ctr">
                    <a:solidFill>
                      <a:schemeClr val="bg1">
                        <a:lumMod val="95000"/>
                      </a:schemeClr>
                    </a:solidFill>
                  </a:tcPr>
                </a:tc>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NPR 7,791 Mn</a:t>
                      </a:r>
                    </a:p>
                  </a:txBody>
                  <a:tcPr anchor="ctr">
                    <a:solidFill>
                      <a:schemeClr val="bg1">
                        <a:lumMod val="95000"/>
                      </a:schemeClr>
                    </a:solidFill>
                  </a:tcPr>
                </a:tc>
                <a:extLst>
                  <a:ext uri="{0D108BD9-81ED-4DB2-BD59-A6C34878D82A}">
                    <a16:rowId xmlns:a16="http://schemas.microsoft.com/office/drawing/2014/main" val="4067353732"/>
                  </a:ext>
                </a:extLst>
              </a:tr>
              <a:tr h="267465">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COD</a:t>
                      </a:r>
                    </a:p>
                  </a:txBody>
                  <a:tcPr anchor="ctr">
                    <a:solidFill>
                      <a:schemeClr val="tx2">
                        <a:lumMod val="20000"/>
                        <a:lumOff val="80000"/>
                      </a:schemeClr>
                    </a:solidFill>
                  </a:tcPr>
                </a:tc>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March 2024</a:t>
                      </a:r>
                    </a:p>
                  </a:txBody>
                  <a:tcPr>
                    <a:solidFill>
                      <a:schemeClr val="bg1">
                        <a:lumMod val="95000"/>
                      </a:schemeClr>
                    </a:solidFill>
                  </a:tcPr>
                </a:tc>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July 2023</a:t>
                      </a:r>
                    </a:p>
                  </a:txBody>
                  <a:tcPr>
                    <a:solidFill>
                      <a:schemeClr val="bg1">
                        <a:lumMod val="95000"/>
                      </a:schemeClr>
                    </a:solidFill>
                  </a:tcPr>
                </a:tc>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February 2022</a:t>
                      </a:r>
                    </a:p>
                  </a:txBody>
                  <a:tcPr>
                    <a:solidFill>
                      <a:schemeClr val="bg1">
                        <a:lumMod val="95000"/>
                      </a:schemeClr>
                    </a:solidFill>
                  </a:tcPr>
                </a:tc>
                <a:extLst>
                  <a:ext uri="{0D108BD9-81ED-4DB2-BD59-A6C34878D82A}">
                    <a16:rowId xmlns:a16="http://schemas.microsoft.com/office/drawing/2014/main" val="3884254943"/>
                  </a:ext>
                </a:extLst>
              </a:tr>
              <a:tr h="742027">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PPA Contract</a:t>
                      </a:r>
                    </a:p>
                  </a:txBody>
                  <a:tcPr anchor="ctr">
                    <a:solidFill>
                      <a:schemeClr val="tx2">
                        <a:lumMod val="20000"/>
                        <a:lumOff val="80000"/>
                      </a:schemeClr>
                    </a:solidFill>
                  </a:tcPr>
                </a:tc>
                <a:tc>
                  <a:txBody>
                    <a:bodyPr/>
                    <a:lstStyle/>
                    <a:p>
                      <a:endParaRPr lang="en-IN" sz="1400">
                        <a:latin typeface="Arial" panose="020B0604020202020204" pitchFamily="34" charset="0"/>
                        <a:ea typeface="Verdana" panose="020B0604030504040204" pitchFamily="34" charset="0"/>
                        <a:cs typeface="Arial" panose="020B0604020202020204" pitchFamily="34" charset="0"/>
                      </a:endParaRPr>
                    </a:p>
                  </a:txBody>
                  <a:tcPr>
                    <a:solidFill>
                      <a:schemeClr val="bg1">
                        <a:lumMod val="95000"/>
                      </a:schemeClr>
                    </a:solidFill>
                  </a:tcPr>
                </a:tc>
                <a:tc>
                  <a:txBody>
                    <a:bodyPr/>
                    <a:lstStyle/>
                    <a:p>
                      <a:endParaRPr lang="en-IN" sz="1400">
                        <a:latin typeface="Arial" panose="020B0604020202020204" pitchFamily="34" charset="0"/>
                        <a:ea typeface="Verdana" panose="020B0604030504040204" pitchFamily="34" charset="0"/>
                        <a:cs typeface="Arial" panose="020B0604020202020204" pitchFamily="34" charset="0"/>
                      </a:endParaRPr>
                    </a:p>
                  </a:txBody>
                  <a:tcPr>
                    <a:solidFill>
                      <a:schemeClr val="bg1">
                        <a:lumMod val="95000"/>
                      </a:schemeClr>
                    </a:solidFill>
                  </a:tcPr>
                </a:tc>
                <a:tc>
                  <a:txBody>
                    <a:bodyPr/>
                    <a:lstStyle/>
                    <a:p>
                      <a:endParaRPr lang="en-IN" sz="1400">
                        <a:latin typeface="Arial" panose="020B0604020202020204" pitchFamily="34" charset="0"/>
                        <a:ea typeface="Verdana" panose="020B0604030504040204" pitchFamily="34" charset="0"/>
                        <a:cs typeface="Arial" panose="020B0604020202020204" pitchFamily="34" charset="0"/>
                      </a:endParaRPr>
                    </a:p>
                  </a:txBody>
                  <a:tcPr>
                    <a:solidFill>
                      <a:schemeClr val="bg1">
                        <a:lumMod val="95000"/>
                      </a:schemeClr>
                    </a:solidFill>
                  </a:tcPr>
                </a:tc>
                <a:extLst>
                  <a:ext uri="{0D108BD9-81ED-4DB2-BD59-A6C34878D82A}">
                    <a16:rowId xmlns:a16="http://schemas.microsoft.com/office/drawing/2014/main" val="2139197121"/>
                  </a:ext>
                </a:extLst>
              </a:tr>
              <a:tr h="709753">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Additional Energy Offtake by NEA (2023-24)</a:t>
                      </a:r>
                    </a:p>
                  </a:txBody>
                  <a:tcPr anchor="ctr">
                    <a:solidFill>
                      <a:schemeClr val="tx2">
                        <a:lumMod val="20000"/>
                        <a:lumOff val="80000"/>
                      </a:schemeClr>
                    </a:solidFill>
                  </a:tcPr>
                </a:tc>
                <a:tc>
                  <a:txBody>
                    <a:bodyPr/>
                    <a:lstStyle/>
                    <a:p>
                      <a:pPr algn="ctr"/>
                      <a:endParaRPr lang="en-IN" sz="1400">
                        <a:latin typeface="Arial" panose="020B0604020202020204" pitchFamily="34" charset="0"/>
                        <a:ea typeface="Verdana" panose="020B0604030504040204" pitchFamily="34" charset="0"/>
                        <a:cs typeface="Arial" panose="020B0604020202020204" pitchFamily="34" charset="0"/>
                      </a:endParaRPr>
                    </a:p>
                  </a:txBody>
                  <a:tcPr>
                    <a:solidFill>
                      <a:schemeClr val="bg1">
                        <a:lumMod val="95000"/>
                      </a:schemeClr>
                    </a:solidFill>
                  </a:tcPr>
                </a:tc>
                <a:tc>
                  <a:txBody>
                    <a:bodyPr/>
                    <a:lstStyle/>
                    <a:p>
                      <a:pPr algn="ctr"/>
                      <a:endParaRPr lang="en-IN" sz="1400">
                        <a:latin typeface="Arial" panose="020B0604020202020204" pitchFamily="34" charset="0"/>
                        <a:ea typeface="Verdana" panose="020B0604030504040204" pitchFamily="34" charset="0"/>
                        <a:cs typeface="Arial" panose="020B0604020202020204" pitchFamily="34" charset="0"/>
                      </a:endParaRPr>
                    </a:p>
                  </a:txBody>
                  <a:tcPr>
                    <a:solidFill>
                      <a:schemeClr val="bg1">
                        <a:lumMod val="95000"/>
                      </a:schemeClr>
                    </a:solidFill>
                  </a:tcPr>
                </a:tc>
                <a:tc>
                  <a:txBody>
                    <a:bodyPr/>
                    <a:lstStyle/>
                    <a:p>
                      <a:pPr algn="ctr"/>
                      <a:endParaRPr lang="en-IN" sz="1400">
                        <a:latin typeface="Arial" panose="020B0604020202020204" pitchFamily="34" charset="0"/>
                        <a:ea typeface="Verdana" panose="020B0604030504040204" pitchFamily="34" charset="0"/>
                        <a:cs typeface="Arial" panose="020B0604020202020204" pitchFamily="34" charset="0"/>
                      </a:endParaRPr>
                    </a:p>
                  </a:txBody>
                  <a:tcPr>
                    <a:solidFill>
                      <a:schemeClr val="bg1">
                        <a:lumMod val="95000"/>
                      </a:schemeClr>
                    </a:solidFill>
                  </a:tcPr>
                </a:tc>
                <a:extLst>
                  <a:ext uri="{0D108BD9-81ED-4DB2-BD59-A6C34878D82A}">
                    <a16:rowId xmlns:a16="http://schemas.microsoft.com/office/drawing/2014/main" val="414492839"/>
                  </a:ext>
                </a:extLst>
              </a:tr>
              <a:tr h="465913">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PPA Rate</a:t>
                      </a:r>
                    </a:p>
                  </a:txBody>
                  <a:tcPr anchor="ctr">
                    <a:solidFill>
                      <a:schemeClr val="tx2">
                        <a:lumMod val="20000"/>
                        <a:lumOff val="80000"/>
                      </a:schemeClr>
                    </a:solidFill>
                  </a:tcPr>
                </a:tc>
                <a:tc gridSpan="3">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Dry Season – 8.4 NPR/kWh; Wet Season 4.8 NPR/kWh</a:t>
                      </a:r>
                    </a:p>
                  </a:txBody>
                  <a:tcPr anchor="ctr">
                    <a:solidFill>
                      <a:schemeClr val="bg1">
                        <a:lumMod val="95000"/>
                      </a:schemeClr>
                    </a:solidFill>
                  </a:tcPr>
                </a:tc>
                <a:tc hMerge="1">
                  <a:txBody>
                    <a:bodyPr/>
                    <a:lstStyle/>
                    <a:p>
                      <a:pPr algn="ctr"/>
                      <a:endParaRPr lang="en-IN" sz="1400">
                        <a:latin typeface="Arial" panose="020B0604020202020204" pitchFamily="34" charset="0"/>
                        <a:ea typeface="Verdana" panose="020B0604030504040204" pitchFamily="34" charset="0"/>
                        <a:cs typeface="Arial" panose="020B0604020202020204" pitchFamily="34" charset="0"/>
                      </a:endParaRPr>
                    </a:p>
                  </a:txBody>
                  <a:tcPr anchor="ctr">
                    <a:solidFill>
                      <a:schemeClr val="bg1">
                        <a:lumMod val="95000"/>
                      </a:schemeClr>
                    </a:solidFill>
                  </a:tcPr>
                </a:tc>
                <a:tc hMerge="1">
                  <a:txBody>
                    <a:bodyPr/>
                    <a:lstStyle/>
                    <a:p>
                      <a:pPr algn="ctr"/>
                      <a:endParaRPr lang="en-IN" sz="1400">
                        <a:latin typeface="Arial" panose="020B0604020202020204" pitchFamily="34" charset="0"/>
                        <a:ea typeface="Verdana" panose="020B0604030504040204" pitchFamily="34" charset="0"/>
                        <a:cs typeface="Arial" panose="020B0604020202020204" pitchFamily="34" charset="0"/>
                      </a:endParaRPr>
                    </a:p>
                  </a:txBody>
                  <a:tcPr anchor="ctr">
                    <a:solidFill>
                      <a:schemeClr val="bg1">
                        <a:lumMod val="95000"/>
                      </a:schemeClr>
                    </a:solidFill>
                  </a:tcPr>
                </a:tc>
                <a:extLst>
                  <a:ext uri="{0D108BD9-81ED-4DB2-BD59-A6C34878D82A}">
                    <a16:rowId xmlns:a16="http://schemas.microsoft.com/office/drawing/2014/main" val="151047954"/>
                  </a:ext>
                </a:extLst>
              </a:tr>
              <a:tr h="435998">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If Exporting? </a:t>
                      </a:r>
                    </a:p>
                  </a:txBody>
                  <a:tcPr anchor="ctr">
                    <a:solidFill>
                      <a:schemeClr val="tx2">
                        <a:lumMod val="20000"/>
                        <a:lumOff val="80000"/>
                      </a:schemeClr>
                    </a:solidFill>
                  </a:tcPr>
                </a:tc>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Yes (NEA is exporting full capacity)</a:t>
                      </a:r>
                    </a:p>
                  </a:txBody>
                  <a:tcPr anchor="ctr">
                    <a:solidFill>
                      <a:schemeClr val="bg1">
                        <a:lumMod val="95000"/>
                      </a:schemeClr>
                    </a:solidFill>
                  </a:tcPr>
                </a:tc>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No</a:t>
                      </a:r>
                    </a:p>
                  </a:txBody>
                  <a:tcPr anchor="ctr">
                    <a:solidFill>
                      <a:schemeClr val="bg1">
                        <a:lumMod val="95000"/>
                      </a:schemeClr>
                    </a:solidFill>
                  </a:tcPr>
                </a:tc>
                <a:tc>
                  <a:txBody>
                    <a:bodyPr/>
                    <a:lstStyle/>
                    <a:p>
                      <a:pPr algn="ctr"/>
                      <a:r>
                        <a:rPr lang="en-IN" sz="1400">
                          <a:latin typeface="Arial" panose="020B0604020202020204" pitchFamily="34" charset="0"/>
                          <a:ea typeface="Verdana" panose="020B0604030504040204" pitchFamily="34" charset="0"/>
                          <a:cs typeface="Arial" panose="020B0604020202020204" pitchFamily="34" charset="0"/>
                        </a:rPr>
                        <a:t>No</a:t>
                      </a:r>
                    </a:p>
                  </a:txBody>
                  <a:tcPr anchor="ctr">
                    <a:solidFill>
                      <a:schemeClr val="bg1">
                        <a:lumMod val="95000"/>
                      </a:schemeClr>
                    </a:solidFill>
                  </a:tcPr>
                </a:tc>
                <a:extLst>
                  <a:ext uri="{0D108BD9-81ED-4DB2-BD59-A6C34878D82A}">
                    <a16:rowId xmlns:a16="http://schemas.microsoft.com/office/drawing/2014/main" val="1303217850"/>
                  </a:ext>
                </a:extLst>
              </a:tr>
            </a:tbl>
          </a:graphicData>
        </a:graphic>
      </p:graphicFrame>
      <p:graphicFrame>
        <p:nvGraphicFramePr>
          <p:cNvPr id="4" name="Chart 3">
            <a:extLst>
              <a:ext uri="{FF2B5EF4-FFF2-40B4-BE49-F238E27FC236}">
                <a16:creationId xmlns:a16="http://schemas.microsoft.com/office/drawing/2014/main" id="{CC859836-3955-54AD-1C8D-C7DE0C1CEB30}"/>
              </a:ext>
            </a:extLst>
          </p:cNvPr>
          <p:cNvGraphicFramePr/>
          <p:nvPr>
            <p:custDataLst>
              <p:tags r:id="rId2"/>
            </p:custDataLst>
            <p:extLst>
              <p:ext uri="{D42A27DB-BD31-4B8C-83A1-F6EECF244321}">
                <p14:modId xmlns:p14="http://schemas.microsoft.com/office/powerpoint/2010/main" val="1734278753"/>
              </p:ext>
            </p:extLst>
          </p:nvPr>
        </p:nvGraphicFramePr>
        <p:xfrm>
          <a:off x="2346325" y="2770823"/>
          <a:ext cx="2860675" cy="895350"/>
        </p:xfrm>
        <a:graphic>
          <a:graphicData uri="http://schemas.openxmlformats.org/drawingml/2006/chart">
            <c:chart xmlns:c="http://schemas.openxmlformats.org/drawingml/2006/chart" xmlns:r="http://schemas.openxmlformats.org/officeDocument/2006/relationships" r:id="rId24"/>
          </a:graphicData>
        </a:graphic>
      </p:graphicFrame>
      <p:sp>
        <p:nvSpPr>
          <p:cNvPr id="5" name="Text Placeholder 18">
            <a:extLst>
              <a:ext uri="{FF2B5EF4-FFF2-40B4-BE49-F238E27FC236}">
                <a16:creationId xmlns:a16="http://schemas.microsoft.com/office/drawing/2014/main" id="{A946C54F-BE18-4C14-6499-781B2B86CDA0}"/>
              </a:ext>
            </a:extLst>
          </p:cNvPr>
          <p:cNvSpPr>
            <a:spLocks noGrp="1"/>
          </p:cNvSpPr>
          <p:nvPr>
            <p:custDataLst>
              <p:tags r:id="rId3"/>
            </p:custDataLst>
          </p:nvPr>
        </p:nvSpPr>
        <p:spPr bwMode="gray">
          <a:xfrm>
            <a:off x="5149850" y="3126423"/>
            <a:ext cx="2063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F8F332BB-9000-4185-86C2-70C471D925B5}" type="datetime'''''''''''''7''''''''''''''7'''''''''''''''''''''''''''''''''">
              <a:rPr lang="en-US" altLang="en-US" sz="1200" b="1" smtClean="0">
                <a:latin typeface="Arial" panose="020B0604020202020204" pitchFamily="34" charset="0"/>
                <a:cs typeface="Arial" panose="020B0604020202020204" pitchFamily="34" charset="0"/>
              </a:rPr>
              <a:pPr lvl="0">
                <a:spcBef>
                  <a:spcPct val="0"/>
                </a:spcBef>
                <a:spcAft>
                  <a:spcPct val="0"/>
                </a:spcAft>
              </a:pPr>
              <a:t>77</a:t>
            </a:fld>
            <a:endParaRPr lang="en-US" sz="1200" b="1" noProof="0">
              <a:latin typeface="Arial" panose="020B0604020202020204" pitchFamily="34" charset="0"/>
              <a:cs typeface="Arial" panose="020B0604020202020204" pitchFamily="34" charset="0"/>
            </a:endParaRPr>
          </a:p>
        </p:txBody>
      </p:sp>
      <p:sp>
        <p:nvSpPr>
          <p:cNvPr id="7" name="Rectangle 6">
            <a:extLst>
              <a:ext uri="{FF2B5EF4-FFF2-40B4-BE49-F238E27FC236}">
                <a16:creationId xmlns:a16="http://schemas.microsoft.com/office/drawing/2014/main" id="{7C449555-259F-C03C-1EB8-7B46F1883268}"/>
              </a:ext>
            </a:extLst>
          </p:cNvPr>
          <p:cNvSpPr/>
          <p:nvPr>
            <p:custDataLst>
              <p:tags r:id="rId4"/>
            </p:custDataLst>
          </p:nvPr>
        </p:nvSpPr>
        <p:spPr bwMode="auto">
          <a:xfrm>
            <a:off x="2471738" y="3458210"/>
            <a:ext cx="187325" cy="139700"/>
          </a:xfrm>
          <a:prstGeom prst="rect">
            <a:avLst/>
          </a:prstGeom>
          <a:solidFill>
            <a:srgbClr val="01216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9" name="Rectangle 8">
            <a:extLst>
              <a:ext uri="{FF2B5EF4-FFF2-40B4-BE49-F238E27FC236}">
                <a16:creationId xmlns:a16="http://schemas.microsoft.com/office/drawing/2014/main" id="{451180BA-33A6-7C37-1F73-C3B1CB72D5CC}"/>
              </a:ext>
            </a:extLst>
          </p:cNvPr>
          <p:cNvSpPr/>
          <p:nvPr>
            <p:custDataLst>
              <p:tags r:id="rId5"/>
            </p:custDataLst>
          </p:nvPr>
        </p:nvSpPr>
        <p:spPr bwMode="auto">
          <a:xfrm>
            <a:off x="3778250" y="3458210"/>
            <a:ext cx="187325" cy="139700"/>
          </a:xfrm>
          <a:prstGeom prst="rect">
            <a:avLst/>
          </a:prstGeom>
          <a:solidFill>
            <a:srgbClr val="A0DCFF"/>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1" name="Text Placeholder 18">
            <a:extLst>
              <a:ext uri="{FF2B5EF4-FFF2-40B4-BE49-F238E27FC236}">
                <a16:creationId xmlns:a16="http://schemas.microsoft.com/office/drawing/2014/main" id="{EA21F8D1-5CBE-C2CF-772D-72A8F6EABFE9}"/>
              </a:ext>
            </a:extLst>
          </p:cNvPr>
          <p:cNvSpPr>
            <a:spLocks noGrp="1"/>
          </p:cNvSpPr>
          <p:nvPr>
            <p:custDataLst>
              <p:tags r:id="rId6"/>
            </p:custDataLst>
          </p:nvPr>
        </p:nvSpPr>
        <p:spPr bwMode="auto">
          <a:xfrm>
            <a:off x="2709863" y="3453448"/>
            <a:ext cx="966788"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B1422CB7-1FDF-45AF-AD34-C33D625D6F8C}" type="datetime'''Ta''ke'''''' ''''''''''or Pay'' (''''M''W'''')'''''''''''''">
              <a:rPr lang="en-US" altLang="en-US" sz="1050" smtClean="0"/>
              <a:pPr lvl="0">
                <a:spcBef>
                  <a:spcPct val="0"/>
                </a:spcBef>
                <a:spcAft>
                  <a:spcPct val="0"/>
                </a:spcAft>
              </a:pPr>
              <a:t>Take or Pay (MW)</a:t>
            </a:fld>
            <a:endParaRPr lang="en-US" sz="1050" noProof="0"/>
          </a:p>
        </p:txBody>
      </p:sp>
      <p:sp>
        <p:nvSpPr>
          <p:cNvPr id="12" name="Text Placeholder 18">
            <a:extLst>
              <a:ext uri="{FF2B5EF4-FFF2-40B4-BE49-F238E27FC236}">
                <a16:creationId xmlns:a16="http://schemas.microsoft.com/office/drawing/2014/main" id="{5FC49828-703E-A9C0-2572-FCC1DFB697D2}"/>
              </a:ext>
            </a:extLst>
          </p:cNvPr>
          <p:cNvSpPr>
            <a:spLocks noGrp="1"/>
          </p:cNvSpPr>
          <p:nvPr>
            <p:custDataLst>
              <p:tags r:id="rId7"/>
            </p:custDataLst>
          </p:nvPr>
        </p:nvSpPr>
        <p:spPr bwMode="auto">
          <a:xfrm>
            <a:off x="4016375" y="3453448"/>
            <a:ext cx="1054100"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D0AE9ED5-69F6-4258-9ABD-1EF57D83F54D}" type="datetime'''T''ake'''''''' a''''''nd ''''P''''a''''''y'''''' ''''(MW'')'">
              <a:rPr lang="en-US" altLang="en-US" sz="1050" smtClean="0"/>
              <a:pPr lvl="0">
                <a:spcBef>
                  <a:spcPct val="0"/>
                </a:spcBef>
                <a:spcAft>
                  <a:spcPct val="0"/>
                </a:spcAft>
              </a:pPr>
              <a:t>Take and Pay (MW)</a:t>
            </a:fld>
            <a:endParaRPr lang="en-US" sz="1050" noProof="0"/>
          </a:p>
        </p:txBody>
      </p:sp>
      <p:graphicFrame>
        <p:nvGraphicFramePr>
          <p:cNvPr id="13" name="Chart 12">
            <a:extLst>
              <a:ext uri="{FF2B5EF4-FFF2-40B4-BE49-F238E27FC236}">
                <a16:creationId xmlns:a16="http://schemas.microsoft.com/office/drawing/2014/main" id="{56C1CFAC-BA82-AE98-8F31-E594A76B13D3}"/>
              </a:ext>
            </a:extLst>
          </p:cNvPr>
          <p:cNvGraphicFramePr/>
          <p:nvPr>
            <p:custDataLst>
              <p:tags r:id="rId8"/>
            </p:custDataLst>
            <p:extLst>
              <p:ext uri="{D42A27DB-BD31-4B8C-83A1-F6EECF244321}">
                <p14:modId xmlns:p14="http://schemas.microsoft.com/office/powerpoint/2010/main" val="2152759508"/>
              </p:ext>
            </p:extLst>
          </p:nvPr>
        </p:nvGraphicFramePr>
        <p:xfrm>
          <a:off x="5549900" y="2770823"/>
          <a:ext cx="2892425" cy="895350"/>
        </p:xfrm>
        <a:graphic>
          <a:graphicData uri="http://schemas.openxmlformats.org/drawingml/2006/chart">
            <c:chart xmlns:c="http://schemas.openxmlformats.org/drawingml/2006/chart" xmlns:r="http://schemas.openxmlformats.org/officeDocument/2006/relationships" r:id="rId25"/>
          </a:graphicData>
        </a:graphic>
      </p:graphicFrame>
      <p:sp>
        <p:nvSpPr>
          <p:cNvPr id="14" name="Text Placeholder 18">
            <a:extLst>
              <a:ext uri="{FF2B5EF4-FFF2-40B4-BE49-F238E27FC236}">
                <a16:creationId xmlns:a16="http://schemas.microsoft.com/office/drawing/2014/main" id="{89D48A50-4190-48DF-A9FE-7CA58D67412B}"/>
              </a:ext>
            </a:extLst>
          </p:cNvPr>
          <p:cNvSpPr>
            <a:spLocks noGrp="1"/>
          </p:cNvSpPr>
          <p:nvPr>
            <p:custDataLst>
              <p:tags r:id="rId9"/>
            </p:custDataLst>
          </p:nvPr>
        </p:nvSpPr>
        <p:spPr bwMode="gray">
          <a:xfrm>
            <a:off x="8385175" y="3126423"/>
            <a:ext cx="2063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6DD8A431-43B2-4599-A8F6-3D68A8F53266}" type="datetime'''''''''''''''''''''''''''''''''''''''''''5''''3'''''''''">
              <a:rPr lang="en-US" altLang="en-US" sz="1200" b="1" smtClean="0">
                <a:latin typeface="Arial" panose="020B0604020202020204" pitchFamily="34" charset="0"/>
                <a:cs typeface="Arial" panose="020B0604020202020204" pitchFamily="34" charset="0"/>
              </a:rPr>
              <a:pPr lvl="0">
                <a:spcBef>
                  <a:spcPct val="0"/>
                </a:spcBef>
                <a:spcAft>
                  <a:spcPct val="0"/>
                </a:spcAft>
              </a:pPr>
              <a:t>53</a:t>
            </a:fld>
            <a:endParaRPr lang="en-US" sz="1200" b="1" noProof="0">
              <a:latin typeface="Arial" panose="020B0604020202020204" pitchFamily="34" charset="0"/>
              <a:cs typeface="Arial" panose="020B0604020202020204" pitchFamily="34" charset="0"/>
            </a:endParaRPr>
          </a:p>
        </p:txBody>
      </p:sp>
      <p:sp>
        <p:nvSpPr>
          <p:cNvPr id="15" name="Rectangle 14">
            <a:extLst>
              <a:ext uri="{FF2B5EF4-FFF2-40B4-BE49-F238E27FC236}">
                <a16:creationId xmlns:a16="http://schemas.microsoft.com/office/drawing/2014/main" id="{C698629F-9165-7107-D6BA-70901620B190}"/>
              </a:ext>
            </a:extLst>
          </p:cNvPr>
          <p:cNvSpPr/>
          <p:nvPr>
            <p:custDataLst>
              <p:tags r:id="rId10"/>
            </p:custDataLst>
          </p:nvPr>
        </p:nvSpPr>
        <p:spPr bwMode="auto">
          <a:xfrm>
            <a:off x="5707063" y="3467735"/>
            <a:ext cx="187325" cy="139700"/>
          </a:xfrm>
          <a:prstGeom prst="rect">
            <a:avLst/>
          </a:prstGeom>
          <a:solidFill>
            <a:srgbClr val="01216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6" name="Rectangle 15">
            <a:extLst>
              <a:ext uri="{FF2B5EF4-FFF2-40B4-BE49-F238E27FC236}">
                <a16:creationId xmlns:a16="http://schemas.microsoft.com/office/drawing/2014/main" id="{285D94BC-C2DA-61F7-A707-64797E769FB2}"/>
              </a:ext>
            </a:extLst>
          </p:cNvPr>
          <p:cNvSpPr/>
          <p:nvPr>
            <p:custDataLst>
              <p:tags r:id="rId11"/>
            </p:custDataLst>
          </p:nvPr>
        </p:nvSpPr>
        <p:spPr bwMode="auto">
          <a:xfrm>
            <a:off x="7013575" y="3467735"/>
            <a:ext cx="187325" cy="139700"/>
          </a:xfrm>
          <a:prstGeom prst="rect">
            <a:avLst/>
          </a:prstGeom>
          <a:solidFill>
            <a:srgbClr val="A0DCFF"/>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7" name="Text Placeholder 18">
            <a:extLst>
              <a:ext uri="{FF2B5EF4-FFF2-40B4-BE49-F238E27FC236}">
                <a16:creationId xmlns:a16="http://schemas.microsoft.com/office/drawing/2014/main" id="{0793C7C4-590F-E4F6-9069-3F1E6A485608}"/>
              </a:ext>
            </a:extLst>
          </p:cNvPr>
          <p:cNvSpPr>
            <a:spLocks noGrp="1"/>
          </p:cNvSpPr>
          <p:nvPr>
            <p:custDataLst>
              <p:tags r:id="rId12"/>
            </p:custDataLst>
          </p:nvPr>
        </p:nvSpPr>
        <p:spPr bwMode="auto">
          <a:xfrm>
            <a:off x="5945188" y="3462973"/>
            <a:ext cx="966788"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1B7D6999-EAF4-4119-97FD-C94056341250}" type="datetime'''T''''''ak''e'' o''r Pay ''''''''''''(''''''M''''''W)'''">
              <a:rPr lang="en-US" altLang="en-US" sz="1050" smtClean="0"/>
              <a:pPr lvl="0">
                <a:spcBef>
                  <a:spcPct val="0"/>
                </a:spcBef>
                <a:spcAft>
                  <a:spcPct val="0"/>
                </a:spcAft>
              </a:pPr>
              <a:t>Take or Pay (MW)</a:t>
            </a:fld>
            <a:endParaRPr lang="en-US" sz="1050" noProof="0"/>
          </a:p>
        </p:txBody>
      </p:sp>
      <p:sp>
        <p:nvSpPr>
          <p:cNvPr id="18" name="Text Placeholder 18">
            <a:extLst>
              <a:ext uri="{FF2B5EF4-FFF2-40B4-BE49-F238E27FC236}">
                <a16:creationId xmlns:a16="http://schemas.microsoft.com/office/drawing/2014/main" id="{E2F3DF5A-7F46-63CD-3FE3-EE03C665BCED}"/>
              </a:ext>
            </a:extLst>
          </p:cNvPr>
          <p:cNvSpPr>
            <a:spLocks noGrp="1"/>
          </p:cNvSpPr>
          <p:nvPr>
            <p:custDataLst>
              <p:tags r:id="rId13"/>
            </p:custDataLst>
          </p:nvPr>
        </p:nvSpPr>
        <p:spPr bwMode="auto">
          <a:xfrm>
            <a:off x="7251700" y="3462973"/>
            <a:ext cx="1054100"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54092197-F12E-403A-BA00-099647F8EC5A}" type="datetime'T''ak''''e ''and ''''''''''Pay'''''''' ''(''''M''W'''')'">
              <a:rPr lang="en-US" altLang="en-US" sz="1050" smtClean="0"/>
              <a:pPr lvl="0">
                <a:spcBef>
                  <a:spcPct val="0"/>
                </a:spcBef>
                <a:spcAft>
                  <a:spcPct val="0"/>
                </a:spcAft>
              </a:pPr>
              <a:t>Take and Pay (MW)</a:t>
            </a:fld>
            <a:endParaRPr lang="en-US" sz="1050" noProof="0"/>
          </a:p>
        </p:txBody>
      </p:sp>
      <p:graphicFrame>
        <p:nvGraphicFramePr>
          <p:cNvPr id="19" name="Chart 18">
            <a:extLst>
              <a:ext uri="{FF2B5EF4-FFF2-40B4-BE49-F238E27FC236}">
                <a16:creationId xmlns:a16="http://schemas.microsoft.com/office/drawing/2014/main" id="{0611B035-CD8B-9952-173A-E7E84FED6118}"/>
              </a:ext>
            </a:extLst>
          </p:cNvPr>
          <p:cNvGraphicFramePr/>
          <p:nvPr>
            <p:custDataLst>
              <p:tags r:id="rId14"/>
            </p:custDataLst>
            <p:extLst>
              <p:ext uri="{D42A27DB-BD31-4B8C-83A1-F6EECF244321}">
                <p14:modId xmlns:p14="http://schemas.microsoft.com/office/powerpoint/2010/main" val="2710940589"/>
              </p:ext>
            </p:extLst>
          </p:nvPr>
        </p:nvGraphicFramePr>
        <p:xfrm>
          <a:off x="8696325" y="2770823"/>
          <a:ext cx="2841625" cy="895350"/>
        </p:xfrm>
        <a:graphic>
          <a:graphicData uri="http://schemas.openxmlformats.org/drawingml/2006/chart">
            <c:chart xmlns:c="http://schemas.openxmlformats.org/drawingml/2006/chart" xmlns:r="http://schemas.openxmlformats.org/officeDocument/2006/relationships" r:id="rId26"/>
          </a:graphicData>
        </a:graphic>
      </p:graphicFrame>
      <p:sp>
        <p:nvSpPr>
          <p:cNvPr id="20" name="Text Placeholder 18">
            <a:extLst>
              <a:ext uri="{FF2B5EF4-FFF2-40B4-BE49-F238E27FC236}">
                <a16:creationId xmlns:a16="http://schemas.microsoft.com/office/drawing/2014/main" id="{364366D9-EF6A-46F7-AF20-2108F2CB7921}"/>
              </a:ext>
            </a:extLst>
          </p:cNvPr>
          <p:cNvSpPr>
            <a:spLocks noGrp="1"/>
          </p:cNvSpPr>
          <p:nvPr>
            <p:custDataLst>
              <p:tags r:id="rId15"/>
            </p:custDataLst>
          </p:nvPr>
        </p:nvSpPr>
        <p:spPr bwMode="gray">
          <a:xfrm>
            <a:off x="11480800" y="3126423"/>
            <a:ext cx="2063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FB3D185E-5B8A-46A4-93F7-D6AD4CA5C203}" type="datetime'''''''''''2''''9'''''''''''''''''''''''''''''''''''''''''''">
              <a:rPr lang="en-US" altLang="en-US" sz="1200" b="1" smtClean="0">
                <a:latin typeface="Arial" panose="020B0604020202020204" pitchFamily="34" charset="0"/>
                <a:cs typeface="Arial" panose="020B0604020202020204" pitchFamily="34" charset="0"/>
              </a:rPr>
              <a:pPr lvl="0">
                <a:spcBef>
                  <a:spcPct val="0"/>
                </a:spcBef>
                <a:spcAft>
                  <a:spcPct val="0"/>
                </a:spcAft>
              </a:pPr>
              <a:t>29</a:t>
            </a:fld>
            <a:endParaRPr lang="en-US" sz="1200" b="1" noProof="0">
              <a:latin typeface="Arial" panose="020B0604020202020204" pitchFamily="34" charset="0"/>
              <a:cs typeface="Arial" panose="020B0604020202020204" pitchFamily="34" charset="0"/>
            </a:endParaRPr>
          </a:p>
        </p:txBody>
      </p:sp>
      <p:sp>
        <p:nvSpPr>
          <p:cNvPr id="21" name="Rectangle 20">
            <a:extLst>
              <a:ext uri="{FF2B5EF4-FFF2-40B4-BE49-F238E27FC236}">
                <a16:creationId xmlns:a16="http://schemas.microsoft.com/office/drawing/2014/main" id="{2E2DDE62-A737-1894-B812-6E6989926B80}"/>
              </a:ext>
            </a:extLst>
          </p:cNvPr>
          <p:cNvSpPr/>
          <p:nvPr>
            <p:custDataLst>
              <p:tags r:id="rId16"/>
            </p:custDataLst>
          </p:nvPr>
        </p:nvSpPr>
        <p:spPr bwMode="auto">
          <a:xfrm>
            <a:off x="8832850" y="3458210"/>
            <a:ext cx="187325" cy="139700"/>
          </a:xfrm>
          <a:prstGeom prst="rect">
            <a:avLst/>
          </a:prstGeom>
          <a:solidFill>
            <a:srgbClr val="01216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22" name="Rectangle 21">
            <a:extLst>
              <a:ext uri="{FF2B5EF4-FFF2-40B4-BE49-F238E27FC236}">
                <a16:creationId xmlns:a16="http://schemas.microsoft.com/office/drawing/2014/main" id="{7F819F49-D9E1-725F-D220-F2B0A5BAA374}"/>
              </a:ext>
            </a:extLst>
          </p:cNvPr>
          <p:cNvSpPr/>
          <p:nvPr>
            <p:custDataLst>
              <p:tags r:id="rId17"/>
            </p:custDataLst>
          </p:nvPr>
        </p:nvSpPr>
        <p:spPr bwMode="auto">
          <a:xfrm>
            <a:off x="10139363" y="3458210"/>
            <a:ext cx="187325" cy="139700"/>
          </a:xfrm>
          <a:prstGeom prst="rect">
            <a:avLst/>
          </a:prstGeom>
          <a:solidFill>
            <a:srgbClr val="A0DCFF"/>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23" name="Text Placeholder 18">
            <a:extLst>
              <a:ext uri="{FF2B5EF4-FFF2-40B4-BE49-F238E27FC236}">
                <a16:creationId xmlns:a16="http://schemas.microsoft.com/office/drawing/2014/main" id="{3A343A01-339C-F754-5F08-9C91AF9AF5F6}"/>
              </a:ext>
            </a:extLst>
          </p:cNvPr>
          <p:cNvSpPr>
            <a:spLocks noGrp="1"/>
          </p:cNvSpPr>
          <p:nvPr>
            <p:custDataLst>
              <p:tags r:id="rId18"/>
            </p:custDataLst>
          </p:nvPr>
        </p:nvSpPr>
        <p:spPr bwMode="auto">
          <a:xfrm>
            <a:off x="9070975" y="3453448"/>
            <a:ext cx="966788"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BFE57AE3-6759-45F0-8846-091E6A4F845A}" type="datetime'Take'' ''''''or'''' P''''''a''y'' ''''''''''(MW'''''''')'">
              <a:rPr lang="en-US" altLang="en-US" sz="1050" smtClean="0"/>
              <a:pPr lvl="0">
                <a:spcBef>
                  <a:spcPct val="0"/>
                </a:spcBef>
                <a:spcAft>
                  <a:spcPct val="0"/>
                </a:spcAft>
              </a:pPr>
              <a:t>Take or Pay (MW)</a:t>
            </a:fld>
            <a:endParaRPr lang="en-US" sz="1050" noProof="0"/>
          </a:p>
        </p:txBody>
      </p:sp>
      <p:sp>
        <p:nvSpPr>
          <p:cNvPr id="24" name="Text Placeholder 18">
            <a:extLst>
              <a:ext uri="{FF2B5EF4-FFF2-40B4-BE49-F238E27FC236}">
                <a16:creationId xmlns:a16="http://schemas.microsoft.com/office/drawing/2014/main" id="{AC5CB5A1-9F7E-7D1B-A9A0-DC321F4E236B}"/>
              </a:ext>
            </a:extLst>
          </p:cNvPr>
          <p:cNvSpPr>
            <a:spLocks noGrp="1"/>
          </p:cNvSpPr>
          <p:nvPr>
            <p:custDataLst>
              <p:tags r:id="rId19"/>
            </p:custDataLst>
          </p:nvPr>
        </p:nvSpPr>
        <p:spPr bwMode="auto">
          <a:xfrm>
            <a:off x="10377488" y="3453448"/>
            <a:ext cx="1054100"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C4EA25D8-7CA8-4184-B707-1EE72D7B36F2}" type="datetime'Take'' ''and ''''''Pa''y (''M''''''''''''W'''')'''''''''''''''">
              <a:rPr lang="en-US" altLang="en-US" sz="1050" smtClean="0"/>
              <a:pPr lvl="0">
                <a:spcBef>
                  <a:spcPct val="0"/>
                </a:spcBef>
                <a:spcAft>
                  <a:spcPct val="0"/>
                </a:spcAft>
              </a:pPr>
              <a:t>Take and Pay (MW)</a:t>
            </a:fld>
            <a:endParaRPr lang="en-US" sz="1050" noProof="0"/>
          </a:p>
        </p:txBody>
      </p:sp>
      <p:pic>
        <p:nvPicPr>
          <p:cNvPr id="25" name="Graphic 24" descr="Checkmark with solid fill">
            <a:extLst>
              <a:ext uri="{FF2B5EF4-FFF2-40B4-BE49-F238E27FC236}">
                <a16:creationId xmlns:a16="http://schemas.microsoft.com/office/drawing/2014/main" id="{A1E9484B-66F8-B7E6-F97D-078A6937EEB2}"/>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3676651" y="3785340"/>
            <a:ext cx="543826" cy="543826"/>
          </a:xfrm>
          <a:prstGeom prst="rect">
            <a:avLst/>
          </a:prstGeom>
        </p:spPr>
      </p:pic>
      <p:pic>
        <p:nvPicPr>
          <p:cNvPr id="26" name="Graphic 25" descr="Checkmark with solid fill">
            <a:extLst>
              <a:ext uri="{FF2B5EF4-FFF2-40B4-BE49-F238E27FC236}">
                <a16:creationId xmlns:a16="http://schemas.microsoft.com/office/drawing/2014/main" id="{DFF7489D-C185-A894-2BE5-0DA256F533B8}"/>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6928987" y="3813390"/>
            <a:ext cx="543826" cy="543826"/>
          </a:xfrm>
          <a:prstGeom prst="rect">
            <a:avLst/>
          </a:prstGeom>
        </p:spPr>
      </p:pic>
      <p:pic>
        <p:nvPicPr>
          <p:cNvPr id="27" name="Graphic 26" descr="Checkmark with solid fill">
            <a:extLst>
              <a:ext uri="{FF2B5EF4-FFF2-40B4-BE49-F238E27FC236}">
                <a16:creationId xmlns:a16="http://schemas.microsoft.com/office/drawing/2014/main" id="{A65C4811-EB82-CFCB-C4EA-753BE7E20E5A}"/>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9845224" y="3813390"/>
            <a:ext cx="543826" cy="543826"/>
          </a:xfrm>
          <a:prstGeom prst="rect">
            <a:avLst/>
          </a:prstGeom>
        </p:spPr>
      </p:pic>
      <p:grpSp>
        <p:nvGrpSpPr>
          <p:cNvPr id="28" name="Graphic 4">
            <a:extLst>
              <a:ext uri="{FF2B5EF4-FFF2-40B4-BE49-F238E27FC236}">
                <a16:creationId xmlns:a16="http://schemas.microsoft.com/office/drawing/2014/main" id="{B0848DBB-EE67-0BA0-EE72-02CAE2DD3350}"/>
              </a:ext>
            </a:extLst>
          </p:cNvPr>
          <p:cNvGrpSpPr/>
          <p:nvPr/>
        </p:nvGrpSpPr>
        <p:grpSpPr>
          <a:xfrm>
            <a:off x="514889" y="5614082"/>
            <a:ext cx="457202" cy="457198"/>
            <a:chOff x="905454" y="2371173"/>
            <a:chExt cx="361670" cy="361333"/>
          </a:xfrm>
          <a:solidFill>
            <a:schemeClr val="accent5"/>
          </a:solidFill>
        </p:grpSpPr>
        <p:sp>
          <p:nvSpPr>
            <p:cNvPr id="29" name="Graphic 4">
              <a:extLst>
                <a:ext uri="{FF2B5EF4-FFF2-40B4-BE49-F238E27FC236}">
                  <a16:creationId xmlns:a16="http://schemas.microsoft.com/office/drawing/2014/main" id="{73260F94-B02B-C8F1-F626-0D50ED17B7A4}"/>
                </a:ext>
              </a:extLst>
            </p:cNvPr>
            <p:cNvSpPr/>
            <p:nvPr/>
          </p:nvSpPr>
          <p:spPr>
            <a:xfrm>
              <a:off x="1109293" y="2492469"/>
              <a:ext cx="53036" cy="52987"/>
            </a:xfrm>
            <a:custGeom>
              <a:avLst/>
              <a:gdLst>
                <a:gd name="connsiteX0" fmla="*/ 0 w 53036"/>
                <a:gd name="connsiteY0" fmla="*/ 0 h 52987"/>
                <a:gd name="connsiteX1" fmla="*/ 53037 w 53036"/>
                <a:gd name="connsiteY1" fmla="*/ 0 h 52987"/>
                <a:gd name="connsiteX2" fmla="*/ 53037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7" y="0"/>
                  </a:lnTo>
                  <a:lnTo>
                    <a:pt x="53037" y="52987"/>
                  </a:lnTo>
                  <a:lnTo>
                    <a:pt x="0" y="52987"/>
                  </a:lnTo>
                  <a:close/>
                </a:path>
              </a:pathLst>
            </a:custGeom>
            <a:grpFill/>
            <a:ln w="6390" cap="flat">
              <a:noFill/>
              <a:prstDash val="solid"/>
              <a:miter/>
            </a:ln>
          </p:spPr>
          <p:txBody>
            <a:bodyPr rtlCol="0" anchor="ctr"/>
            <a:lstStyle/>
            <a:p>
              <a:endParaRPr lang="en-US"/>
            </a:p>
          </p:txBody>
        </p:sp>
        <p:sp>
          <p:nvSpPr>
            <p:cNvPr id="30" name="Graphic 4">
              <a:extLst>
                <a:ext uri="{FF2B5EF4-FFF2-40B4-BE49-F238E27FC236}">
                  <a16:creationId xmlns:a16="http://schemas.microsoft.com/office/drawing/2014/main" id="{23108E37-0368-337A-720F-1832FD8389F9}"/>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250 w 361670"/>
                <a:gd name="connsiteY5" fmla="*/ 180667 h 361333"/>
                <a:gd name="connsiteX6" fmla="*/ 99044 w 361670"/>
                <a:gd name="connsiteY6" fmla="*/ 252806 h 361333"/>
                <a:gd name="connsiteX7" fmla="*/ 92654 w 361670"/>
                <a:gd name="connsiteY7" fmla="*/ 246422 h 361333"/>
                <a:gd name="connsiteX8" fmla="*/ 99044 w 361670"/>
                <a:gd name="connsiteY8" fmla="*/ 240038 h 361333"/>
                <a:gd name="connsiteX9" fmla="*/ 157831 w 361670"/>
                <a:gd name="connsiteY9" fmla="*/ 187051 h 361333"/>
                <a:gd name="connsiteX10" fmla="*/ 99044 w 361670"/>
                <a:gd name="connsiteY10" fmla="*/ 187051 h 361333"/>
                <a:gd name="connsiteX11" fmla="*/ 92654 w 361670"/>
                <a:gd name="connsiteY11" fmla="*/ 180667 h 361333"/>
                <a:gd name="connsiteX12" fmla="*/ 92654 w 361670"/>
                <a:gd name="connsiteY12" fmla="*/ 114912 h 361333"/>
                <a:gd name="connsiteX13" fmla="*/ 99044 w 361670"/>
                <a:gd name="connsiteY13" fmla="*/ 108528 h 361333"/>
                <a:gd name="connsiteX14" fmla="*/ 164860 w 361670"/>
                <a:gd name="connsiteY14" fmla="*/ 108528 h 361333"/>
                <a:gd name="connsiteX15" fmla="*/ 171250 w 361670"/>
                <a:gd name="connsiteY15" fmla="*/ 114912 h 361333"/>
                <a:gd name="connsiteX16" fmla="*/ 171250 w 361670"/>
                <a:gd name="connsiteY16" fmla="*/ 180667 h 361333"/>
                <a:gd name="connsiteX17" fmla="*/ 269655 w 361670"/>
                <a:gd name="connsiteY17" fmla="*/ 180667 h 361333"/>
                <a:gd name="connsiteX18" fmla="*/ 197449 w 361670"/>
                <a:gd name="connsiteY18" fmla="*/ 252806 h 361333"/>
                <a:gd name="connsiteX19" fmla="*/ 191059 w 361670"/>
                <a:gd name="connsiteY19" fmla="*/ 246422 h 361333"/>
                <a:gd name="connsiteX20" fmla="*/ 197449 w 361670"/>
                <a:gd name="connsiteY20" fmla="*/ 240038 h 361333"/>
                <a:gd name="connsiteX21" fmla="*/ 256237 w 361670"/>
                <a:gd name="connsiteY21" fmla="*/ 187051 h 361333"/>
                <a:gd name="connsiteX22" fmla="*/ 197449 w 361670"/>
                <a:gd name="connsiteY22" fmla="*/ 187051 h 361333"/>
                <a:gd name="connsiteX23" fmla="*/ 191059 w 361670"/>
                <a:gd name="connsiteY23" fmla="*/ 180667 h 361333"/>
                <a:gd name="connsiteX24" fmla="*/ 191059 w 361670"/>
                <a:gd name="connsiteY24" fmla="*/ 114912 h 361333"/>
                <a:gd name="connsiteX25" fmla="*/ 197449 w 361670"/>
                <a:gd name="connsiteY25" fmla="*/ 108528 h 361333"/>
                <a:gd name="connsiteX26" fmla="*/ 263265 w 361670"/>
                <a:gd name="connsiteY26" fmla="*/ 108528 h 361333"/>
                <a:gd name="connsiteX27" fmla="*/ 269655 w 361670"/>
                <a:gd name="connsiteY27" fmla="*/ 114912 h 361333"/>
                <a:gd name="connsiteX28" fmla="*/ 269655 w 361670"/>
                <a:gd name="connsiteY2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71250" y="180667"/>
                  </a:moveTo>
                  <a:cubicBezTo>
                    <a:pt x="171250" y="221524"/>
                    <a:pt x="139940" y="252806"/>
                    <a:pt x="99044" y="252806"/>
                  </a:cubicBezTo>
                  <a:cubicBezTo>
                    <a:pt x="95210" y="252806"/>
                    <a:pt x="92654" y="250252"/>
                    <a:pt x="92654" y="246422"/>
                  </a:cubicBezTo>
                  <a:cubicBezTo>
                    <a:pt x="92654" y="242591"/>
                    <a:pt x="95210" y="240038"/>
                    <a:pt x="99044" y="240038"/>
                  </a:cubicBezTo>
                  <a:cubicBezTo>
                    <a:pt x="130994" y="240038"/>
                    <a:pt x="155275" y="217694"/>
                    <a:pt x="157831" y="187051"/>
                  </a:cubicBezTo>
                  <a:lnTo>
                    <a:pt x="99044" y="187051"/>
                  </a:lnTo>
                  <a:cubicBezTo>
                    <a:pt x="95210" y="187051"/>
                    <a:pt x="92654" y="184497"/>
                    <a:pt x="92654" y="180667"/>
                  </a:cubicBezTo>
                  <a:lnTo>
                    <a:pt x="92654" y="114912"/>
                  </a:lnTo>
                  <a:cubicBezTo>
                    <a:pt x="92654" y="111081"/>
                    <a:pt x="95210" y="108528"/>
                    <a:pt x="99044" y="108528"/>
                  </a:cubicBezTo>
                  <a:lnTo>
                    <a:pt x="164860" y="108528"/>
                  </a:lnTo>
                  <a:cubicBezTo>
                    <a:pt x="168694" y="108528"/>
                    <a:pt x="171250" y="111081"/>
                    <a:pt x="171250" y="114912"/>
                  </a:cubicBezTo>
                  <a:lnTo>
                    <a:pt x="171250" y="180667"/>
                  </a:lnTo>
                  <a:close/>
                  <a:moveTo>
                    <a:pt x="269655" y="180667"/>
                  </a:moveTo>
                  <a:cubicBezTo>
                    <a:pt x="269655" y="221524"/>
                    <a:pt x="238345" y="252806"/>
                    <a:pt x="197449" y="252806"/>
                  </a:cubicBezTo>
                  <a:cubicBezTo>
                    <a:pt x="193615" y="252806"/>
                    <a:pt x="191059" y="250252"/>
                    <a:pt x="191059" y="246422"/>
                  </a:cubicBezTo>
                  <a:cubicBezTo>
                    <a:pt x="191059" y="242591"/>
                    <a:pt x="193615" y="240038"/>
                    <a:pt x="197449" y="240038"/>
                  </a:cubicBezTo>
                  <a:cubicBezTo>
                    <a:pt x="229399" y="240038"/>
                    <a:pt x="253680" y="217694"/>
                    <a:pt x="256237" y="187051"/>
                  </a:cubicBezTo>
                  <a:lnTo>
                    <a:pt x="197449" y="187051"/>
                  </a:lnTo>
                  <a:cubicBezTo>
                    <a:pt x="193615" y="187051"/>
                    <a:pt x="191059" y="184497"/>
                    <a:pt x="191059" y="180667"/>
                  </a:cubicBezTo>
                  <a:lnTo>
                    <a:pt x="191059" y="114912"/>
                  </a:lnTo>
                  <a:cubicBezTo>
                    <a:pt x="191059" y="111081"/>
                    <a:pt x="193615" y="108528"/>
                    <a:pt x="197449" y="108528"/>
                  </a:cubicBezTo>
                  <a:lnTo>
                    <a:pt x="263265" y="108528"/>
                  </a:lnTo>
                  <a:cubicBezTo>
                    <a:pt x="267099" y="108528"/>
                    <a:pt x="269655" y="111081"/>
                    <a:pt x="269655" y="114912"/>
                  </a:cubicBezTo>
                  <a:lnTo>
                    <a:pt x="269655" y="180667"/>
                  </a:lnTo>
                  <a:close/>
                </a:path>
              </a:pathLst>
            </a:custGeom>
            <a:grpFill/>
            <a:ln w="6390" cap="flat">
              <a:noFill/>
              <a:prstDash val="solid"/>
              <a:miter/>
            </a:ln>
          </p:spPr>
          <p:txBody>
            <a:bodyPr rtlCol="0" anchor="ctr"/>
            <a:lstStyle/>
            <a:p>
              <a:endParaRPr lang="en-US"/>
            </a:p>
          </p:txBody>
        </p:sp>
        <p:sp>
          <p:nvSpPr>
            <p:cNvPr id="31" name="Graphic 4">
              <a:extLst>
                <a:ext uri="{FF2B5EF4-FFF2-40B4-BE49-F238E27FC236}">
                  <a16:creationId xmlns:a16="http://schemas.microsoft.com/office/drawing/2014/main" id="{DE888312-6459-3D11-C5E2-D8BC9C28B7F2}"/>
                </a:ext>
              </a:extLst>
            </p:cNvPr>
            <p:cNvSpPr/>
            <p:nvPr/>
          </p:nvSpPr>
          <p:spPr>
            <a:xfrm>
              <a:off x="1010888" y="2492469"/>
              <a:ext cx="53036" cy="52987"/>
            </a:xfrm>
            <a:custGeom>
              <a:avLst/>
              <a:gdLst>
                <a:gd name="connsiteX0" fmla="*/ 0 w 53036"/>
                <a:gd name="connsiteY0" fmla="*/ 0 h 52987"/>
                <a:gd name="connsiteX1" fmla="*/ 53036 w 53036"/>
                <a:gd name="connsiteY1" fmla="*/ 0 h 52987"/>
                <a:gd name="connsiteX2" fmla="*/ 53036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6" y="0"/>
                  </a:lnTo>
                  <a:lnTo>
                    <a:pt x="53036" y="52987"/>
                  </a:lnTo>
                  <a:lnTo>
                    <a:pt x="0" y="52987"/>
                  </a:lnTo>
                  <a:close/>
                </a:path>
              </a:pathLst>
            </a:custGeom>
            <a:grpFill/>
            <a:ln w="6390" cap="flat">
              <a:noFill/>
              <a:prstDash val="solid"/>
              <a:miter/>
            </a:ln>
          </p:spPr>
          <p:txBody>
            <a:bodyPr rtlCol="0" anchor="ctr"/>
            <a:lstStyle/>
            <a:p>
              <a:endParaRPr lang="en-US"/>
            </a:p>
          </p:txBody>
        </p:sp>
      </p:grpSp>
      <p:sp>
        <p:nvSpPr>
          <p:cNvPr id="32" name="TextBox 31">
            <a:extLst>
              <a:ext uri="{FF2B5EF4-FFF2-40B4-BE49-F238E27FC236}">
                <a16:creationId xmlns:a16="http://schemas.microsoft.com/office/drawing/2014/main" id="{86FF7A8E-05B3-2393-FF0C-50655FE490AD}"/>
              </a:ext>
            </a:extLst>
          </p:cNvPr>
          <p:cNvSpPr txBox="1"/>
          <p:nvPr/>
        </p:nvSpPr>
        <p:spPr>
          <a:xfrm>
            <a:off x="1029444" y="5466363"/>
            <a:ext cx="10697229" cy="892552"/>
          </a:xfrm>
          <a:prstGeom prst="rect">
            <a:avLst/>
          </a:prstGeom>
          <a:noFill/>
        </p:spPr>
        <p:txBody>
          <a:bodyPr wrap="square">
            <a:spAutoFit/>
          </a:bodyPr>
          <a:lstStyle/>
          <a:p>
            <a:pPr algn="just"/>
            <a:r>
              <a:rPr lang="en-US" sz="1300">
                <a:latin typeface="Arial" panose="020B0604020202020204" pitchFamily="34" charset="0"/>
                <a:cs typeface="Arial" panose="020B0604020202020204" pitchFamily="34" charset="0"/>
              </a:rPr>
              <a:t>Some operational IPP-led hydropower projects in Nepal—including Likhu-1, Likhu-2, and </a:t>
            </a:r>
            <a:r>
              <a:rPr lang="en-US" sz="1300" err="1">
                <a:latin typeface="Arial" panose="020B0604020202020204" pitchFamily="34" charset="0"/>
                <a:cs typeface="Arial" panose="020B0604020202020204" pitchFamily="34" charset="0"/>
              </a:rPr>
              <a:t>Likhu</a:t>
            </a:r>
            <a:r>
              <a:rPr lang="en-US" sz="1300">
                <a:latin typeface="Arial" panose="020B0604020202020204" pitchFamily="34" charset="0"/>
                <a:cs typeface="Arial" panose="020B0604020202020204" pitchFamily="34" charset="0"/>
              </a:rPr>
              <a:t> </a:t>
            </a:r>
            <a:r>
              <a:rPr lang="en-US" sz="1300" err="1">
                <a:latin typeface="Arial" panose="020B0604020202020204" pitchFamily="34" charset="0"/>
                <a:cs typeface="Arial" panose="020B0604020202020204" pitchFamily="34" charset="0"/>
              </a:rPr>
              <a:t>Khola</a:t>
            </a:r>
            <a:r>
              <a:rPr lang="en-US" sz="1300">
                <a:latin typeface="Arial" panose="020B0604020202020204" pitchFamily="34" charset="0"/>
                <a:cs typeface="Arial" panose="020B0604020202020204" pitchFamily="34" charset="0"/>
              </a:rPr>
              <a:t> A—have commissioned capacities under ‘Take-and-pay’ contracts and are selling “Additional Energy” and “Excess Energy” to NEA. For </a:t>
            </a:r>
            <a:r>
              <a:rPr lang="en-US" sz="1300" err="1">
                <a:latin typeface="Arial" panose="020B0604020202020204" pitchFamily="34" charset="0"/>
                <a:cs typeface="Arial" panose="020B0604020202020204" pitchFamily="34" charset="0"/>
              </a:rPr>
              <a:t>Likhu</a:t>
            </a:r>
            <a:r>
              <a:rPr lang="en-US" sz="1300">
                <a:latin typeface="Arial" panose="020B0604020202020204" pitchFamily="34" charset="0"/>
                <a:cs typeface="Arial" panose="020B0604020202020204" pitchFamily="34" charset="0"/>
              </a:rPr>
              <a:t> 1, NEA is exporting the entire generation (approval till October 2027) to India at INR 5.4-5.5/kWh through NVVN (Settlement Nodal Agency in India). While exports are currently routed through NEA, proposed power market reforms may enable direct export access for IPPs in the future.</a:t>
            </a:r>
            <a:endParaRPr lang="en-US" sz="1300"/>
          </a:p>
        </p:txBody>
      </p:sp>
      <p:sp>
        <p:nvSpPr>
          <p:cNvPr id="33" name="TextBox 32">
            <a:extLst>
              <a:ext uri="{FF2B5EF4-FFF2-40B4-BE49-F238E27FC236}">
                <a16:creationId xmlns:a16="http://schemas.microsoft.com/office/drawing/2014/main" id="{8A56C531-E1C7-6532-913D-D00EFC036643}"/>
              </a:ext>
            </a:extLst>
          </p:cNvPr>
          <p:cNvSpPr txBox="1"/>
          <p:nvPr/>
        </p:nvSpPr>
        <p:spPr>
          <a:xfrm>
            <a:off x="501651" y="6484576"/>
            <a:ext cx="5005388" cy="253916"/>
          </a:xfrm>
          <a:prstGeom prst="rect">
            <a:avLst/>
          </a:prstGeom>
          <a:noFill/>
        </p:spPr>
        <p:txBody>
          <a:bodyPr wrap="square">
            <a:spAutoFit/>
          </a:bodyPr>
          <a:lstStyle/>
          <a:p>
            <a:r>
              <a:rPr lang="en-US" sz="1050">
                <a:latin typeface="Arial" panose="020B0604020202020204" pitchFamily="34" charset="0"/>
                <a:cs typeface="Arial" panose="020B0604020202020204" pitchFamily="34" charset="0"/>
              </a:rPr>
              <a:t>Source: </a:t>
            </a:r>
            <a:r>
              <a:rPr lang="en-US" sz="1050">
                <a:latin typeface="Arial" panose="020B0604020202020204" pitchFamily="34" charset="0"/>
                <a:cs typeface="Arial" panose="020B0604020202020204" pitchFamily="34" charset="0"/>
                <a:hlinkClick r:id="rId29"/>
              </a:rPr>
              <a:t>Likhu1</a:t>
            </a:r>
            <a:r>
              <a:rPr lang="en-US" sz="1050">
                <a:latin typeface="Arial" panose="020B0604020202020204" pitchFamily="34" charset="0"/>
                <a:cs typeface="Arial" panose="020B0604020202020204" pitchFamily="34" charset="0"/>
              </a:rPr>
              <a:t>,</a:t>
            </a:r>
            <a:r>
              <a:rPr lang="en-US" sz="1050">
                <a:latin typeface="Arial" panose="020B0604020202020204" pitchFamily="34" charset="0"/>
                <a:cs typeface="Arial" panose="020B0604020202020204" pitchFamily="34" charset="0"/>
                <a:hlinkClick r:id="rId30"/>
              </a:rPr>
              <a:t> Likhu2</a:t>
            </a:r>
            <a:r>
              <a:rPr lang="en-US" sz="1050">
                <a:latin typeface="Arial" panose="020B0604020202020204" pitchFamily="34" charset="0"/>
                <a:cs typeface="Arial" panose="020B0604020202020204" pitchFamily="34" charset="0"/>
              </a:rPr>
              <a:t>, </a:t>
            </a:r>
            <a:r>
              <a:rPr lang="en-US" sz="1050">
                <a:latin typeface="Arial" panose="020B0604020202020204" pitchFamily="34" charset="0"/>
                <a:cs typeface="Arial" panose="020B0604020202020204" pitchFamily="34" charset="0"/>
                <a:hlinkClick r:id="rId31"/>
              </a:rPr>
              <a:t>LikhukholaA</a:t>
            </a:r>
            <a:r>
              <a:rPr lang="en-US" sz="1050">
                <a:latin typeface="Arial" panose="020B0604020202020204" pitchFamily="34" charset="0"/>
                <a:cs typeface="Arial" panose="020B0604020202020204" pitchFamily="34" charset="0"/>
              </a:rPr>
              <a:t> </a:t>
            </a:r>
            <a:endParaRPr lang="en-US" sz="1050"/>
          </a:p>
        </p:txBody>
      </p:sp>
      <p:sp>
        <p:nvSpPr>
          <p:cNvPr id="34" name="TextBox 33">
            <a:extLst>
              <a:ext uri="{FF2B5EF4-FFF2-40B4-BE49-F238E27FC236}">
                <a16:creationId xmlns:a16="http://schemas.microsoft.com/office/drawing/2014/main" id="{9680DBCA-889F-6F6C-122B-9C5F7A7FED58}"/>
              </a:ext>
            </a:extLst>
          </p:cNvPr>
          <p:cNvSpPr txBox="1"/>
          <p:nvPr/>
        </p:nvSpPr>
        <p:spPr>
          <a:xfrm>
            <a:off x="5549900" y="6391891"/>
            <a:ext cx="6160543" cy="415498"/>
          </a:xfrm>
          <a:prstGeom prst="rect">
            <a:avLst/>
          </a:prstGeom>
          <a:noFill/>
        </p:spPr>
        <p:txBody>
          <a:bodyPr wrap="square">
            <a:spAutoFit/>
          </a:bodyPr>
          <a:lstStyle/>
          <a:p>
            <a:r>
              <a:rPr lang="en-US" sz="1050" i="1">
                <a:latin typeface="Arial" panose="020B0604020202020204" pitchFamily="34" charset="0"/>
                <a:cs typeface="Arial" panose="020B0604020202020204" pitchFamily="34" charset="0"/>
              </a:rPr>
              <a:t>Note: The projects highlighted are illustrative and there may be several other projects as well on similar PPA model involving both ‘Take or Pay’ and ‘Take and Pay’ arrangement.</a:t>
            </a:r>
            <a:endParaRPr lang="en-US" sz="1050" i="1"/>
          </a:p>
        </p:txBody>
      </p:sp>
      <p:sp>
        <p:nvSpPr>
          <p:cNvPr id="35" name="Arrow: Right 34">
            <a:hlinkClick r:id="rId32" action="ppaction://hlinksldjump"/>
            <a:extLst>
              <a:ext uri="{FF2B5EF4-FFF2-40B4-BE49-F238E27FC236}">
                <a16:creationId xmlns:a16="http://schemas.microsoft.com/office/drawing/2014/main" id="{92A97260-56E0-12CF-5AE4-6B9BFB9937FE}"/>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86048454"/>
      </p:ext>
    </p:extLst>
  </p:cSld>
  <p:clrMapOvr>
    <a:masterClrMapping/>
  </p:clrMapOvr>
  <p:transition>
    <p:fade/>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041389618"/>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23" name="Rectangle 22">
            <a:extLst>
              <a:ext uri="{FF2B5EF4-FFF2-40B4-BE49-F238E27FC236}">
                <a16:creationId xmlns:a16="http://schemas.microsoft.com/office/drawing/2014/main" id="{E1FFD545-B196-1E3A-E9FF-D7C775B5A3C4}"/>
              </a:ext>
            </a:extLst>
          </p:cNvPr>
          <p:cNvSpPr/>
          <p:nvPr/>
        </p:nvSpPr>
        <p:spPr bwMode="gray">
          <a:xfrm>
            <a:off x="5536601" y="1667741"/>
            <a:ext cx="1661695" cy="107592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Summarizing Additional Power Sale Scenarios (1/2)</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Possible scenarios to assess additional 30 MW power transaction during the wet season in the current context</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Rectangle: Diagonal Corners Rounded 10">
            <a:extLst>
              <a:ext uri="{FF2B5EF4-FFF2-40B4-BE49-F238E27FC236}">
                <a16:creationId xmlns:a16="http://schemas.microsoft.com/office/drawing/2014/main" id="{10895F69-9F6B-7A74-A8C7-8D0E9BCC4A8F}"/>
              </a:ext>
            </a:extLst>
          </p:cNvPr>
          <p:cNvSpPr/>
          <p:nvPr/>
        </p:nvSpPr>
        <p:spPr bwMode="gray">
          <a:xfrm>
            <a:off x="663015" y="1026951"/>
            <a:ext cx="10860118" cy="5035901"/>
          </a:xfrm>
          <a:prstGeom prst="round2DiagRect">
            <a:avLst>
              <a:gd name="adj1" fmla="val 4444"/>
              <a:gd name="adj2" fmla="val 0"/>
            </a:avLst>
          </a:prstGeom>
          <a:noFill/>
          <a:ln w="19050" algn="ctr">
            <a:solidFill>
              <a:schemeClr val="accent3"/>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13" name="Oval 12">
            <a:extLst>
              <a:ext uri="{FF2B5EF4-FFF2-40B4-BE49-F238E27FC236}">
                <a16:creationId xmlns:a16="http://schemas.microsoft.com/office/drawing/2014/main" id="{9D38633A-395F-0B50-E935-5D21A21F32A4}"/>
              </a:ext>
            </a:extLst>
          </p:cNvPr>
          <p:cNvSpPr/>
          <p:nvPr/>
        </p:nvSpPr>
        <p:spPr bwMode="gray">
          <a:xfrm>
            <a:off x="759329" y="1126457"/>
            <a:ext cx="457200" cy="457200"/>
          </a:xfrm>
          <a:prstGeom prst="ellips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1</a:t>
            </a:r>
          </a:p>
        </p:txBody>
      </p:sp>
      <p:sp>
        <p:nvSpPr>
          <p:cNvPr id="16" name="TextBox 15">
            <a:extLst>
              <a:ext uri="{FF2B5EF4-FFF2-40B4-BE49-F238E27FC236}">
                <a16:creationId xmlns:a16="http://schemas.microsoft.com/office/drawing/2014/main" id="{27107240-BB8A-2C02-76E3-EF36B3DF6F85}"/>
              </a:ext>
            </a:extLst>
          </p:cNvPr>
          <p:cNvSpPr txBox="1"/>
          <p:nvPr/>
        </p:nvSpPr>
        <p:spPr>
          <a:xfrm>
            <a:off x="2597261" y="1158612"/>
            <a:ext cx="7178937"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rPr>
              <a:t>SCENARIO 1 - EXISTING POLICY &amp; REGULATORY LANDSCAPE </a:t>
            </a:r>
            <a:endParaRPr kumimoji="0" lang="en-US" sz="1800" b="0" i="0" u="none" strike="noStrike" kern="1200" cap="none" spc="0" normalizeH="0" baseline="0" noProof="0">
              <a:ln>
                <a:noFill/>
              </a:ln>
              <a:solidFill>
                <a:srgbClr val="046A38"/>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3ED1B05E-2CA3-2E47-240A-5F319F85646A}"/>
              </a:ext>
            </a:extLst>
          </p:cNvPr>
          <p:cNvSpPr txBox="1"/>
          <p:nvPr/>
        </p:nvSpPr>
        <p:spPr>
          <a:xfrm>
            <a:off x="5752463" y="2286927"/>
            <a:ext cx="1299546" cy="369332"/>
          </a:xfrm>
          <a:prstGeom prst="rect">
            <a:avLst/>
          </a:prstGeom>
          <a:noFill/>
        </p:spPr>
        <p:txBody>
          <a:bodyPr wrap="square" lIns="0" tIns="0" rIns="0" bIns="0" rtlCol="0">
            <a:spAutoFit/>
          </a:bodyPr>
          <a:lstStyle/>
          <a:p>
            <a:pPr marL="0" marR="0" lvl="0" indent="0" algn="ctr" defTabSz="914255" rtl="0" eaLnBrk="1" fontAlgn="auto" latinLnBrk="0" hangingPunct="1">
              <a:lnSpc>
                <a:spcPct val="100000"/>
              </a:lnSpc>
              <a:spcBef>
                <a:spcPts val="600"/>
              </a:spcBef>
              <a:spcAft>
                <a:spcPts val="0"/>
              </a:spcAft>
              <a:buClrTx/>
              <a:buSzPct val="100000"/>
              <a:buFontTx/>
              <a:buNone/>
              <a:tabLst/>
              <a:defRPr/>
            </a:pPr>
            <a:r>
              <a:rPr kumimoji="0" lang="en-US" sz="1200" b="1" i="0" u="none" strike="noStrike" kern="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Nepal Electricity Authority</a:t>
            </a:r>
          </a:p>
        </p:txBody>
      </p:sp>
      <p:pic>
        <p:nvPicPr>
          <p:cNvPr id="1028" name="Picture 4" descr="Nepal Electricity Authority, Nepal | LinkedIn">
            <a:extLst>
              <a:ext uri="{FF2B5EF4-FFF2-40B4-BE49-F238E27FC236}">
                <a16:creationId xmlns:a16="http://schemas.microsoft.com/office/drawing/2014/main" id="{D07575B6-BAE7-70A8-7B1D-BDC3D4435A1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35308" y="1700489"/>
            <a:ext cx="533856" cy="533856"/>
          </a:xfrm>
          <a:prstGeom prst="rect">
            <a:avLst/>
          </a:prstGeom>
          <a:noFill/>
          <a:extLst>
            <a:ext uri="{909E8E84-426E-40DD-AFC4-6F175D3DCCD1}">
              <a14:hiddenFill xmlns:a14="http://schemas.microsoft.com/office/drawing/2010/main">
                <a:solidFill>
                  <a:srgbClr val="FFFFFF"/>
                </a:solidFill>
              </a14:hiddenFill>
            </a:ext>
          </a:extLst>
        </p:spPr>
      </p:pic>
      <p:sp>
        <p:nvSpPr>
          <p:cNvPr id="22" name="Rectangle 21">
            <a:extLst>
              <a:ext uri="{FF2B5EF4-FFF2-40B4-BE49-F238E27FC236}">
                <a16:creationId xmlns:a16="http://schemas.microsoft.com/office/drawing/2014/main" id="{C21DE973-B8F5-DF69-4A5D-9706B3C5B4A4}"/>
              </a:ext>
            </a:extLst>
          </p:cNvPr>
          <p:cNvSpPr/>
          <p:nvPr/>
        </p:nvSpPr>
        <p:spPr bwMode="gray">
          <a:xfrm>
            <a:off x="2350933" y="3220548"/>
            <a:ext cx="3927806" cy="801754"/>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r>
              <a:rPr kumimoji="0" lang="en-US" sz="1400" b="0" i="0" u="none" strike="noStrike" kern="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rPr>
              <a:t>Sell excess electricity in domestic market at PPA rates (NPR 4.8/kWh with </a:t>
            </a:r>
          </a:p>
          <a:p>
            <a:pPr marL="0" marR="0" lvl="0" indent="0" algn="ctr" defTabSz="1008309" rtl="0" eaLnBrk="1" fontAlgn="auto" latinLnBrk="0" hangingPunct="1">
              <a:lnSpc>
                <a:spcPct val="106000"/>
              </a:lnSpc>
              <a:spcBef>
                <a:spcPts val="0"/>
              </a:spcBef>
              <a:spcAft>
                <a:spcPts val="0"/>
              </a:spcAft>
              <a:buClrTx/>
              <a:buSzTx/>
              <a:buFontTx/>
              <a:buNone/>
              <a:tabLst/>
              <a:defRPr/>
            </a:pPr>
            <a:r>
              <a:rPr kumimoji="0" lang="en-US" sz="1400" b="0" i="0" u="none" strike="noStrike" kern="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rPr>
              <a:t>escalation over years)</a:t>
            </a:r>
            <a:r>
              <a:rPr kumimoji="0" lang="en-US" sz="14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a:t>
            </a:r>
          </a:p>
        </p:txBody>
      </p:sp>
      <p:sp>
        <p:nvSpPr>
          <p:cNvPr id="24" name="Rectangle 23">
            <a:extLst>
              <a:ext uri="{FF2B5EF4-FFF2-40B4-BE49-F238E27FC236}">
                <a16:creationId xmlns:a16="http://schemas.microsoft.com/office/drawing/2014/main" id="{AA2B7631-86CB-4B3F-B982-86C2EEA2C088}"/>
              </a:ext>
            </a:extLst>
          </p:cNvPr>
          <p:cNvSpPr/>
          <p:nvPr/>
        </p:nvSpPr>
        <p:spPr bwMode="gray">
          <a:xfrm>
            <a:off x="6716057" y="3220548"/>
            <a:ext cx="3927805" cy="801753"/>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r>
              <a:rPr kumimoji="0" lang="en-US" sz="1400" b="0" i="0" u="none" strike="noStrike" kern="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rPr>
              <a:t>Sell excess electricity in CBET market at PPA rates (NPR 4.8/kWh with </a:t>
            </a:r>
          </a:p>
          <a:p>
            <a:pPr marL="0" marR="0" lvl="0" indent="0" algn="ctr" defTabSz="1008309" rtl="0" eaLnBrk="1" fontAlgn="auto" latinLnBrk="0" hangingPunct="1">
              <a:lnSpc>
                <a:spcPct val="106000"/>
              </a:lnSpc>
              <a:spcBef>
                <a:spcPts val="0"/>
              </a:spcBef>
              <a:spcAft>
                <a:spcPts val="0"/>
              </a:spcAft>
              <a:buClrTx/>
              <a:buSzTx/>
              <a:buFontTx/>
              <a:buNone/>
              <a:tabLst/>
              <a:defRPr/>
            </a:pPr>
            <a:r>
              <a:rPr lang="en-US" sz="1400" kern="0">
                <a:solidFill>
                  <a:srgbClr val="046A38"/>
                </a:solidFill>
                <a:latin typeface="Arial" panose="020B0604020202020204" pitchFamily="34" charset="0"/>
                <a:cs typeface="Arial" panose="020B0604020202020204" pitchFamily="34" charset="0"/>
              </a:rPr>
              <a:t>e</a:t>
            </a:r>
            <a:r>
              <a:rPr kumimoji="0" lang="en-US" sz="1400" b="0" i="0" u="none" strike="noStrike" kern="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rPr>
              <a:t>scalation over years)</a:t>
            </a:r>
            <a:r>
              <a:rPr kumimoji="0" lang="en-US" sz="14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a:t>
            </a:r>
          </a:p>
        </p:txBody>
      </p:sp>
      <p:sp>
        <p:nvSpPr>
          <p:cNvPr id="25" name="Rectangle 24">
            <a:extLst>
              <a:ext uri="{FF2B5EF4-FFF2-40B4-BE49-F238E27FC236}">
                <a16:creationId xmlns:a16="http://schemas.microsoft.com/office/drawing/2014/main" id="{F3C15BDD-FC8B-5747-532D-8402F9BFEE4F}"/>
              </a:ext>
            </a:extLst>
          </p:cNvPr>
          <p:cNvSpPr/>
          <p:nvPr/>
        </p:nvSpPr>
        <p:spPr bwMode="gray">
          <a:xfrm>
            <a:off x="2341028" y="4167950"/>
            <a:ext cx="3927806" cy="1681085"/>
          </a:xfrm>
          <a:prstGeom prst="rect">
            <a:avLst/>
          </a:prstGeom>
          <a:solidFill>
            <a:schemeClr val="bg1">
              <a:lumMod val="95000"/>
            </a:schemeClr>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115888" marR="0" lvl="0" indent="-115888" algn="l" defTabSz="1008309" rtl="0" eaLnBrk="1" fontAlgn="auto" latinLnBrk="0" hangingPunct="1">
              <a:lnSpc>
                <a:spcPct val="106000"/>
              </a:lnSpc>
              <a:spcBef>
                <a:spcPts val="600"/>
              </a:spcBef>
              <a:spcAft>
                <a:spcPts val="600"/>
              </a:spcAft>
              <a:buClrTx/>
              <a:buSzTx/>
              <a:buFont typeface="Arial" panose="020B0604020202020204" pitchFamily="34" charset="0"/>
              <a:buChar char="•"/>
              <a:tabLst/>
              <a:defRPr/>
            </a:pPr>
            <a:r>
              <a:rPr kumimoji="0" lang="en-US" sz="1300" b="0" i="0" u="none" strike="noStrike" kern="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rPr>
              <a:t>Dependency on domestic seasonal demand – supply scenario</a:t>
            </a:r>
          </a:p>
          <a:p>
            <a:pPr marL="115888" indent="-115888" defTabSz="1008309">
              <a:lnSpc>
                <a:spcPct val="106000"/>
              </a:lnSpc>
              <a:spcBef>
                <a:spcPts val="600"/>
              </a:spcBef>
              <a:spcAft>
                <a:spcPts val="600"/>
              </a:spcAft>
              <a:buFont typeface="Arial" panose="020B0604020202020204" pitchFamily="34" charset="0"/>
              <a:buChar char="•"/>
              <a:defRPr/>
            </a:pPr>
            <a:r>
              <a:rPr lang="en-US" sz="1300" kern="0">
                <a:solidFill>
                  <a:srgbClr val="046A38"/>
                </a:solidFill>
                <a:latin typeface="Arial" panose="020B0604020202020204" pitchFamily="34" charset="0"/>
                <a:cs typeface="Arial" panose="020B0604020202020204" pitchFamily="34" charset="0"/>
              </a:rPr>
              <a:t>Dependency on NEA’s agreement to off-take</a:t>
            </a:r>
          </a:p>
          <a:p>
            <a:pPr marL="115888" indent="-115888" defTabSz="1008309">
              <a:lnSpc>
                <a:spcPct val="106000"/>
              </a:lnSpc>
              <a:spcBef>
                <a:spcPts val="600"/>
              </a:spcBef>
              <a:spcAft>
                <a:spcPts val="600"/>
              </a:spcAft>
              <a:buFont typeface="Arial" panose="020B0604020202020204" pitchFamily="34" charset="0"/>
              <a:buChar char="•"/>
              <a:defRPr/>
            </a:pPr>
            <a:r>
              <a:rPr lang="en-US" sz="1300" kern="0">
                <a:solidFill>
                  <a:srgbClr val="046A38"/>
                </a:solidFill>
                <a:latin typeface="Arial" panose="020B0604020202020204" pitchFamily="34" charset="0"/>
                <a:cs typeface="Arial" panose="020B0604020202020204" pitchFamily="34" charset="0"/>
              </a:rPr>
              <a:t>Offtake not guaranteed</a:t>
            </a:r>
          </a:p>
        </p:txBody>
      </p:sp>
      <p:sp>
        <p:nvSpPr>
          <p:cNvPr id="26" name="Rectangle 25">
            <a:extLst>
              <a:ext uri="{FF2B5EF4-FFF2-40B4-BE49-F238E27FC236}">
                <a16:creationId xmlns:a16="http://schemas.microsoft.com/office/drawing/2014/main" id="{D253389B-73DC-73DF-8436-429D48193E01}"/>
              </a:ext>
            </a:extLst>
          </p:cNvPr>
          <p:cNvSpPr/>
          <p:nvPr/>
        </p:nvSpPr>
        <p:spPr bwMode="gray">
          <a:xfrm>
            <a:off x="6716057" y="4190195"/>
            <a:ext cx="3927805" cy="1658839"/>
          </a:xfrm>
          <a:prstGeom prst="rect">
            <a:avLst/>
          </a:prstGeom>
          <a:solidFill>
            <a:schemeClr val="bg1">
              <a:lumMod val="95000"/>
            </a:schemeClr>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115888" marR="0" lvl="0" indent="-115888" defTabSz="1008309" fontAlgn="auto">
              <a:lnSpc>
                <a:spcPct val="106000"/>
              </a:lnSpc>
              <a:spcBef>
                <a:spcPts val="600"/>
              </a:spcBef>
              <a:spcAft>
                <a:spcPts val="600"/>
              </a:spcAft>
              <a:buClrTx/>
              <a:buSzTx/>
              <a:buFont typeface="Arial" panose="020B0604020202020204" pitchFamily="34" charset="0"/>
              <a:buChar char="•"/>
              <a:tabLst/>
              <a:defRPr/>
            </a:pPr>
            <a:r>
              <a:rPr lang="en-US" sz="1300" kern="0">
                <a:solidFill>
                  <a:srgbClr val="046A38"/>
                </a:solidFill>
                <a:latin typeface="Arial" panose="020B0604020202020204" pitchFamily="34" charset="0"/>
                <a:cs typeface="Arial" panose="020B0604020202020204" pitchFamily="34" charset="0"/>
              </a:rPr>
              <a:t>Dependency on wet season demand in India</a:t>
            </a:r>
          </a:p>
          <a:p>
            <a:pPr marL="115888" indent="-115888" defTabSz="1008309">
              <a:lnSpc>
                <a:spcPct val="106000"/>
              </a:lnSpc>
              <a:spcBef>
                <a:spcPts val="600"/>
              </a:spcBef>
              <a:spcAft>
                <a:spcPts val="600"/>
              </a:spcAft>
              <a:buFont typeface="Arial" panose="020B0604020202020204" pitchFamily="34" charset="0"/>
              <a:buChar char="•"/>
              <a:defRPr/>
            </a:pPr>
            <a:r>
              <a:rPr lang="en-US" sz="1300" kern="0">
                <a:solidFill>
                  <a:srgbClr val="046A38"/>
                </a:solidFill>
                <a:latin typeface="Arial" panose="020B0604020202020204" pitchFamily="34" charset="0"/>
                <a:cs typeface="Arial" panose="020B0604020202020204" pitchFamily="34" charset="0"/>
              </a:rPr>
              <a:t>Dependency on GOI approvals</a:t>
            </a:r>
          </a:p>
          <a:p>
            <a:pPr marL="115888" indent="-115888" defTabSz="1008309">
              <a:lnSpc>
                <a:spcPct val="106000"/>
              </a:lnSpc>
              <a:spcBef>
                <a:spcPts val="600"/>
              </a:spcBef>
              <a:spcAft>
                <a:spcPts val="600"/>
              </a:spcAft>
              <a:buFont typeface="Arial" panose="020B0604020202020204" pitchFamily="34" charset="0"/>
              <a:buChar char="•"/>
              <a:defRPr/>
            </a:pPr>
            <a:r>
              <a:rPr lang="en-US" sz="1300" kern="0">
                <a:solidFill>
                  <a:srgbClr val="046A38"/>
                </a:solidFill>
                <a:latin typeface="Arial" panose="020B0604020202020204" pitchFamily="34" charset="0"/>
                <a:cs typeface="Arial" panose="020B0604020202020204" pitchFamily="34" charset="0"/>
              </a:rPr>
              <a:t>Offtake not guaranteed</a:t>
            </a:r>
          </a:p>
        </p:txBody>
      </p:sp>
      <p:cxnSp>
        <p:nvCxnSpPr>
          <p:cNvPr id="28" name="Connector: Elbow 27">
            <a:extLst>
              <a:ext uri="{FF2B5EF4-FFF2-40B4-BE49-F238E27FC236}">
                <a16:creationId xmlns:a16="http://schemas.microsoft.com/office/drawing/2014/main" id="{6DB292AF-F06E-62F1-4ECA-37BF8AC3DE9B}"/>
              </a:ext>
            </a:extLst>
          </p:cNvPr>
          <p:cNvCxnSpPr>
            <a:cxnSpLocks/>
            <a:stCxn id="23" idx="2"/>
            <a:endCxn id="22" idx="0"/>
          </p:cNvCxnSpPr>
          <p:nvPr/>
        </p:nvCxnSpPr>
        <p:spPr>
          <a:xfrm rot="5400000">
            <a:off x="5102701" y="1955799"/>
            <a:ext cx="476885" cy="2052613"/>
          </a:xfrm>
          <a:prstGeom prst="bentConnector3">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9" name="Connector: Elbow 28">
            <a:extLst>
              <a:ext uri="{FF2B5EF4-FFF2-40B4-BE49-F238E27FC236}">
                <a16:creationId xmlns:a16="http://schemas.microsoft.com/office/drawing/2014/main" id="{A2298AF5-A51C-7061-2B1E-8055080F5F2D}"/>
              </a:ext>
            </a:extLst>
          </p:cNvPr>
          <p:cNvCxnSpPr>
            <a:cxnSpLocks/>
            <a:stCxn id="23" idx="2"/>
            <a:endCxn id="24" idx="0"/>
          </p:cNvCxnSpPr>
          <p:nvPr/>
        </p:nvCxnSpPr>
        <p:spPr>
          <a:xfrm rot="16200000" flipH="1">
            <a:off x="7285262" y="1825849"/>
            <a:ext cx="476885" cy="2312511"/>
          </a:xfrm>
          <a:prstGeom prst="bentConnector3">
            <a:avLst>
              <a:gd name="adj1" fmla="val 50000"/>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2821539D-2B7A-3CD0-BA75-695318720F85}"/>
              </a:ext>
            </a:extLst>
          </p:cNvPr>
          <p:cNvSpPr/>
          <p:nvPr/>
        </p:nvSpPr>
        <p:spPr bwMode="gray">
          <a:xfrm>
            <a:off x="2107843" y="3034415"/>
            <a:ext cx="365760" cy="365760"/>
          </a:xfrm>
          <a:prstGeom prst="ellips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I</a:t>
            </a:r>
          </a:p>
        </p:txBody>
      </p:sp>
      <p:sp>
        <p:nvSpPr>
          <p:cNvPr id="33" name="Oval 32">
            <a:extLst>
              <a:ext uri="{FF2B5EF4-FFF2-40B4-BE49-F238E27FC236}">
                <a16:creationId xmlns:a16="http://schemas.microsoft.com/office/drawing/2014/main" id="{0EF11ED6-5552-F34E-286F-78A30B32815A}"/>
              </a:ext>
            </a:extLst>
          </p:cNvPr>
          <p:cNvSpPr/>
          <p:nvPr/>
        </p:nvSpPr>
        <p:spPr bwMode="gray">
          <a:xfrm>
            <a:off x="10415676" y="3034415"/>
            <a:ext cx="365760" cy="365760"/>
          </a:xfrm>
          <a:prstGeom prst="ellipse">
            <a:avLst/>
          </a:prstGeom>
          <a:solidFill>
            <a:schemeClr val="accent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II</a:t>
            </a:r>
          </a:p>
        </p:txBody>
      </p:sp>
      <p:sp>
        <p:nvSpPr>
          <p:cNvPr id="27" name="Rectangle 26">
            <a:extLst>
              <a:ext uri="{FF2B5EF4-FFF2-40B4-BE49-F238E27FC236}">
                <a16:creationId xmlns:a16="http://schemas.microsoft.com/office/drawing/2014/main" id="{F165DC63-C747-791C-B2A0-C6A75C7331E6}"/>
              </a:ext>
            </a:extLst>
          </p:cNvPr>
          <p:cNvSpPr/>
          <p:nvPr/>
        </p:nvSpPr>
        <p:spPr bwMode="gray">
          <a:xfrm>
            <a:off x="852322" y="4167948"/>
            <a:ext cx="1299399" cy="1681086"/>
          </a:xfrm>
          <a:prstGeom prst="rect">
            <a:avLst/>
          </a:prstGeom>
          <a:solidFill>
            <a:srgbClr val="DDEFE8"/>
          </a:solidFill>
          <a:ln w="19050" algn="ctr">
            <a:noFill/>
            <a:miter lim="800000"/>
            <a:headEnd/>
            <a:tailEnd/>
          </a:ln>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lang="en-US" sz="1200" b="1" kern="0">
              <a:latin typeface="Arial" panose="020B0604020202020204" pitchFamily="34" charset="0"/>
              <a:cs typeface="Arial" panose="020B0604020202020204" pitchFamily="34" charset="0"/>
            </a:endParaRPr>
          </a:p>
          <a:p>
            <a:pPr marL="0" marR="0" lvl="0" indent="0" algn="ctr" defTabSz="1008309" rtl="0" eaLnBrk="1" fontAlgn="auto" latinLnBrk="0" hangingPunct="1">
              <a:lnSpc>
                <a:spcPct val="106000"/>
              </a:lnSpc>
              <a:spcBef>
                <a:spcPts val="0"/>
              </a:spcBef>
              <a:spcAft>
                <a:spcPts val="0"/>
              </a:spcAft>
              <a:buClrTx/>
              <a:buSzTx/>
              <a:buFontTx/>
              <a:buNone/>
              <a:tabLst/>
              <a:defRPr/>
            </a:pPr>
            <a:r>
              <a:rPr lang="en-US" sz="900" b="1" kern="0">
                <a:latin typeface="Arial" panose="020B0604020202020204" pitchFamily="34" charset="0"/>
                <a:cs typeface="Arial" panose="020B0604020202020204" pitchFamily="34" charset="0"/>
              </a:rPr>
              <a:t>POTENTIAL</a:t>
            </a:r>
          </a:p>
          <a:p>
            <a:pPr marL="0" marR="0" lvl="0" indent="0" algn="ctr" defTabSz="1008309" rtl="0" eaLnBrk="1" fontAlgn="auto" latinLnBrk="0" hangingPunct="1">
              <a:lnSpc>
                <a:spcPct val="106000"/>
              </a:lnSpc>
              <a:spcBef>
                <a:spcPts val="0"/>
              </a:spcBef>
              <a:spcAft>
                <a:spcPts val="0"/>
              </a:spcAft>
              <a:buClrTx/>
              <a:buSzTx/>
              <a:buFontTx/>
              <a:buNone/>
              <a:tabLst/>
              <a:defRPr/>
            </a:pPr>
            <a:r>
              <a:rPr kumimoji="0" lang="en-US" sz="900" b="1" i="0" u="none" strike="noStrike" kern="0" cap="none" spc="0" normalizeH="0" baseline="0" noProof="0">
                <a:ln>
                  <a:noFill/>
                </a:ln>
                <a:effectLst/>
                <a:uLnTx/>
                <a:uFillTx/>
                <a:latin typeface="Arial" panose="020B0604020202020204" pitchFamily="34" charset="0"/>
                <a:ea typeface="+mn-ea"/>
                <a:cs typeface="Arial" panose="020B0604020202020204" pitchFamily="34" charset="0"/>
              </a:rPr>
              <a:t>CONSIDERATIONS</a:t>
            </a:r>
          </a:p>
        </p:txBody>
      </p:sp>
      <p:grpSp>
        <p:nvGrpSpPr>
          <p:cNvPr id="31" name="Graphic 4">
            <a:extLst>
              <a:ext uri="{FF2B5EF4-FFF2-40B4-BE49-F238E27FC236}">
                <a16:creationId xmlns:a16="http://schemas.microsoft.com/office/drawing/2014/main" id="{048F44A4-09A6-DBC9-CD11-D6F2A130873B}"/>
              </a:ext>
            </a:extLst>
          </p:cNvPr>
          <p:cNvGrpSpPr/>
          <p:nvPr/>
        </p:nvGrpSpPr>
        <p:grpSpPr>
          <a:xfrm>
            <a:off x="1307853" y="4467122"/>
            <a:ext cx="362309" cy="361971"/>
            <a:chOff x="4045469" y="3339623"/>
            <a:chExt cx="362309" cy="361971"/>
          </a:xfrm>
          <a:solidFill>
            <a:srgbClr val="007680"/>
          </a:solidFill>
        </p:grpSpPr>
        <p:sp>
          <p:nvSpPr>
            <p:cNvPr id="34" name="Graphic 4">
              <a:extLst>
                <a:ext uri="{FF2B5EF4-FFF2-40B4-BE49-F238E27FC236}">
                  <a16:creationId xmlns:a16="http://schemas.microsoft.com/office/drawing/2014/main" id="{F9A8DB5C-00DE-65E7-06A1-F9277E464D97}"/>
                </a:ext>
              </a:extLst>
            </p:cNvPr>
            <p:cNvSpPr/>
            <p:nvPr/>
          </p:nvSpPr>
          <p:spPr>
            <a:xfrm>
              <a:off x="4131094" y="3433468"/>
              <a:ext cx="192336" cy="155130"/>
            </a:xfrm>
            <a:custGeom>
              <a:avLst/>
              <a:gdLst>
                <a:gd name="connsiteX0" fmla="*/ 0 w 192336"/>
                <a:gd name="connsiteY0" fmla="*/ 155131 h 155130"/>
                <a:gd name="connsiteX1" fmla="*/ 192337 w 192336"/>
                <a:gd name="connsiteY1" fmla="*/ 155131 h 155130"/>
                <a:gd name="connsiteX2" fmla="*/ 96488 w 192336"/>
                <a:gd name="connsiteY2" fmla="*/ 0 h 155130"/>
                <a:gd name="connsiteX3" fmla="*/ 0 w 192336"/>
                <a:gd name="connsiteY3" fmla="*/ 155131 h 155130"/>
                <a:gd name="connsiteX4" fmla="*/ 95849 w 192336"/>
                <a:gd name="connsiteY4" fmla="*/ 137894 h 155130"/>
                <a:gd name="connsiteX5" fmla="*/ 88820 w 192336"/>
                <a:gd name="connsiteY5" fmla="*/ 130872 h 155130"/>
                <a:gd name="connsiteX6" fmla="*/ 95849 w 192336"/>
                <a:gd name="connsiteY6" fmla="*/ 123849 h 155130"/>
                <a:gd name="connsiteX7" fmla="*/ 102878 w 192336"/>
                <a:gd name="connsiteY7" fmla="*/ 130872 h 155130"/>
                <a:gd name="connsiteX8" fmla="*/ 95849 w 192336"/>
                <a:gd name="connsiteY8" fmla="*/ 137894 h 155130"/>
                <a:gd name="connsiteX9" fmla="*/ 102239 w 192336"/>
                <a:gd name="connsiteY9" fmla="*/ 47880 h 155130"/>
                <a:gd name="connsiteX10" fmla="*/ 102239 w 192336"/>
                <a:gd name="connsiteY10" fmla="*/ 100867 h 155130"/>
                <a:gd name="connsiteX11" fmla="*/ 95849 w 192336"/>
                <a:gd name="connsiteY11" fmla="*/ 107251 h 155130"/>
                <a:gd name="connsiteX12" fmla="*/ 89459 w 192336"/>
                <a:gd name="connsiteY12" fmla="*/ 100867 h 155130"/>
                <a:gd name="connsiteX13" fmla="*/ 89459 w 192336"/>
                <a:gd name="connsiteY13" fmla="*/ 47241 h 155130"/>
                <a:gd name="connsiteX14" fmla="*/ 95849 w 192336"/>
                <a:gd name="connsiteY14" fmla="*/ 40857 h 155130"/>
                <a:gd name="connsiteX15" fmla="*/ 102239 w 192336"/>
                <a:gd name="connsiteY15" fmla="*/ 47880 h 155130"/>
                <a:gd name="connsiteX16" fmla="*/ 102239 w 192336"/>
                <a:gd name="connsiteY16" fmla="*/ 47880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2336" h="155130">
                  <a:moveTo>
                    <a:pt x="0" y="155131"/>
                  </a:moveTo>
                  <a:lnTo>
                    <a:pt x="192337" y="155131"/>
                  </a:lnTo>
                  <a:lnTo>
                    <a:pt x="96488" y="0"/>
                  </a:lnTo>
                  <a:lnTo>
                    <a:pt x="0" y="155131"/>
                  </a:lnTo>
                  <a:close/>
                  <a:moveTo>
                    <a:pt x="95849" y="137894"/>
                  </a:moveTo>
                  <a:cubicBezTo>
                    <a:pt x="92015" y="137894"/>
                    <a:pt x="88820" y="134702"/>
                    <a:pt x="88820" y="130872"/>
                  </a:cubicBezTo>
                  <a:cubicBezTo>
                    <a:pt x="88820" y="127041"/>
                    <a:pt x="92015" y="123849"/>
                    <a:pt x="95849" y="123849"/>
                  </a:cubicBezTo>
                  <a:cubicBezTo>
                    <a:pt x="99683" y="123849"/>
                    <a:pt x="102878" y="127041"/>
                    <a:pt x="102878" y="130872"/>
                  </a:cubicBezTo>
                  <a:cubicBezTo>
                    <a:pt x="102239" y="135341"/>
                    <a:pt x="99683" y="137894"/>
                    <a:pt x="95849" y="137894"/>
                  </a:cubicBezTo>
                  <a:close/>
                  <a:moveTo>
                    <a:pt x="102239" y="47880"/>
                  </a:moveTo>
                  <a:lnTo>
                    <a:pt x="102239" y="100867"/>
                  </a:lnTo>
                  <a:cubicBezTo>
                    <a:pt x="102239" y="104697"/>
                    <a:pt x="99683" y="107251"/>
                    <a:pt x="95849" y="107251"/>
                  </a:cubicBezTo>
                  <a:cubicBezTo>
                    <a:pt x="92015" y="107251"/>
                    <a:pt x="89459" y="104697"/>
                    <a:pt x="89459" y="100867"/>
                  </a:cubicBezTo>
                  <a:lnTo>
                    <a:pt x="89459" y="47241"/>
                  </a:lnTo>
                  <a:cubicBezTo>
                    <a:pt x="89459" y="43411"/>
                    <a:pt x="92015" y="40857"/>
                    <a:pt x="95849" y="40857"/>
                  </a:cubicBezTo>
                  <a:cubicBezTo>
                    <a:pt x="99683" y="40857"/>
                    <a:pt x="102239" y="44049"/>
                    <a:pt x="102239" y="47880"/>
                  </a:cubicBezTo>
                  <a:lnTo>
                    <a:pt x="102239" y="47880"/>
                  </a:lnTo>
                  <a:close/>
                </a:path>
              </a:pathLst>
            </a:custGeom>
            <a:grpFill/>
            <a:ln w="6390" cap="flat">
              <a:noFill/>
              <a:prstDash val="solid"/>
              <a:miter/>
            </a:ln>
          </p:spPr>
          <p:txBody>
            <a:bodyPr rtlCol="0" anchor="ctr"/>
            <a:lstStyle/>
            <a:p>
              <a:endParaRPr lang="en-US"/>
            </a:p>
          </p:txBody>
        </p:sp>
        <p:sp>
          <p:nvSpPr>
            <p:cNvPr id="35" name="Graphic 4">
              <a:extLst>
                <a:ext uri="{FF2B5EF4-FFF2-40B4-BE49-F238E27FC236}">
                  <a16:creationId xmlns:a16="http://schemas.microsoft.com/office/drawing/2014/main" id="{0B5270A3-57DA-2A52-0193-ED7D7AE37163}"/>
                </a:ext>
              </a:extLst>
            </p:cNvPr>
            <p:cNvSpPr/>
            <p:nvPr/>
          </p:nvSpPr>
          <p:spPr>
            <a:xfrm>
              <a:off x="4045469"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94576 w 362309"/>
                <a:gd name="connsiteY6" fmla="*/ 258551 h 361971"/>
                <a:gd name="connsiteX7" fmla="*/ 288825 w 362309"/>
                <a:gd name="connsiteY7" fmla="*/ 261743 h 361971"/>
                <a:gd name="connsiteX8" fmla="*/ 74124 w 362309"/>
                <a:gd name="connsiteY8" fmla="*/ 261743 h 361971"/>
                <a:gd name="connsiteX9" fmla="*/ 67734 w 362309"/>
                <a:gd name="connsiteY9" fmla="*/ 255359 h 361971"/>
                <a:gd name="connsiteX10" fmla="*/ 69012 w 362309"/>
                <a:gd name="connsiteY10" fmla="*/ 252167 h 361971"/>
                <a:gd name="connsiteX11" fmla="*/ 177001 w 362309"/>
                <a:gd name="connsiteY11" fmla="*/ 78523 h 361971"/>
                <a:gd name="connsiteX12" fmla="*/ 182113 w 362309"/>
                <a:gd name="connsiteY12" fmla="*/ 75331 h 361971"/>
                <a:gd name="connsiteX13" fmla="*/ 182113 w 362309"/>
                <a:gd name="connsiteY13" fmla="*/ 75331 h 361971"/>
                <a:gd name="connsiteX14" fmla="*/ 187225 w 362309"/>
                <a:gd name="connsiteY14" fmla="*/ 78523 h 361971"/>
                <a:gd name="connsiteX15" fmla="*/ 294576 w 362309"/>
                <a:gd name="connsiteY15" fmla="*/ 252167 h 361971"/>
                <a:gd name="connsiteX16" fmla="*/ 294576 w 362309"/>
                <a:gd name="connsiteY16" fmla="*/ 2585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94576" y="258551"/>
                  </a:moveTo>
                  <a:cubicBezTo>
                    <a:pt x="293298" y="260466"/>
                    <a:pt x="291381" y="261743"/>
                    <a:pt x="288825" y="261743"/>
                  </a:cubicBezTo>
                  <a:lnTo>
                    <a:pt x="74124" y="261743"/>
                  </a:lnTo>
                  <a:cubicBezTo>
                    <a:pt x="70289" y="261743"/>
                    <a:pt x="67734" y="259190"/>
                    <a:pt x="67734" y="255359"/>
                  </a:cubicBezTo>
                  <a:cubicBezTo>
                    <a:pt x="67734" y="254082"/>
                    <a:pt x="68372" y="252806"/>
                    <a:pt x="69012" y="252167"/>
                  </a:cubicBezTo>
                  <a:lnTo>
                    <a:pt x="177001" y="78523"/>
                  </a:lnTo>
                  <a:cubicBezTo>
                    <a:pt x="178279" y="76608"/>
                    <a:pt x="180196" y="75331"/>
                    <a:pt x="182113" y="75331"/>
                  </a:cubicBezTo>
                  <a:lnTo>
                    <a:pt x="182113" y="75331"/>
                  </a:lnTo>
                  <a:cubicBezTo>
                    <a:pt x="184031" y="75331"/>
                    <a:pt x="186586" y="76608"/>
                    <a:pt x="187225" y="78523"/>
                  </a:cubicBezTo>
                  <a:lnTo>
                    <a:pt x="294576" y="252167"/>
                  </a:lnTo>
                  <a:cubicBezTo>
                    <a:pt x="295854" y="254082"/>
                    <a:pt x="295854" y="256636"/>
                    <a:pt x="294576" y="258551"/>
                  </a:cubicBezTo>
                  <a:close/>
                </a:path>
              </a:pathLst>
            </a:custGeom>
            <a:grpFill/>
            <a:ln w="6390" cap="flat">
              <a:noFill/>
              <a:prstDash val="solid"/>
              <a:miter/>
            </a:ln>
          </p:spPr>
          <p:txBody>
            <a:bodyPr rtlCol="0" anchor="ctr"/>
            <a:lstStyle/>
            <a:p>
              <a:endParaRPr lang="en-US"/>
            </a:p>
          </p:txBody>
        </p:sp>
      </p:grpSp>
      <p:grpSp>
        <p:nvGrpSpPr>
          <p:cNvPr id="37" name="Graphic 4">
            <a:extLst>
              <a:ext uri="{FF2B5EF4-FFF2-40B4-BE49-F238E27FC236}">
                <a16:creationId xmlns:a16="http://schemas.microsoft.com/office/drawing/2014/main" id="{DBE2A857-455F-90D2-C387-F06FCE2E1FA9}"/>
              </a:ext>
            </a:extLst>
          </p:cNvPr>
          <p:cNvGrpSpPr/>
          <p:nvPr/>
        </p:nvGrpSpPr>
        <p:grpSpPr>
          <a:xfrm>
            <a:off x="850658" y="6178740"/>
            <a:ext cx="457202" cy="457198"/>
            <a:chOff x="905454" y="2371173"/>
            <a:chExt cx="361670" cy="361333"/>
          </a:xfrm>
          <a:solidFill>
            <a:schemeClr val="accent5"/>
          </a:solidFill>
        </p:grpSpPr>
        <p:sp>
          <p:nvSpPr>
            <p:cNvPr id="38" name="Graphic 4">
              <a:extLst>
                <a:ext uri="{FF2B5EF4-FFF2-40B4-BE49-F238E27FC236}">
                  <a16:creationId xmlns:a16="http://schemas.microsoft.com/office/drawing/2014/main" id="{DF7BBFD9-4B75-3CE8-2DB9-0A2BB7C099FA}"/>
                </a:ext>
              </a:extLst>
            </p:cNvPr>
            <p:cNvSpPr/>
            <p:nvPr/>
          </p:nvSpPr>
          <p:spPr>
            <a:xfrm>
              <a:off x="1109293" y="2492469"/>
              <a:ext cx="53036" cy="52987"/>
            </a:xfrm>
            <a:custGeom>
              <a:avLst/>
              <a:gdLst>
                <a:gd name="connsiteX0" fmla="*/ 0 w 53036"/>
                <a:gd name="connsiteY0" fmla="*/ 0 h 52987"/>
                <a:gd name="connsiteX1" fmla="*/ 53037 w 53036"/>
                <a:gd name="connsiteY1" fmla="*/ 0 h 52987"/>
                <a:gd name="connsiteX2" fmla="*/ 53037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7" y="0"/>
                  </a:lnTo>
                  <a:lnTo>
                    <a:pt x="53037" y="52987"/>
                  </a:lnTo>
                  <a:lnTo>
                    <a:pt x="0" y="52987"/>
                  </a:lnTo>
                  <a:close/>
                </a:path>
              </a:pathLst>
            </a:custGeom>
            <a:grpFill/>
            <a:ln w="6390" cap="flat">
              <a:noFill/>
              <a:prstDash val="solid"/>
              <a:miter/>
            </a:ln>
          </p:spPr>
          <p:txBody>
            <a:bodyPr rtlCol="0" anchor="ctr"/>
            <a:lstStyle/>
            <a:p>
              <a:endParaRPr lang="en-US"/>
            </a:p>
          </p:txBody>
        </p:sp>
        <p:sp>
          <p:nvSpPr>
            <p:cNvPr id="39" name="Graphic 4">
              <a:extLst>
                <a:ext uri="{FF2B5EF4-FFF2-40B4-BE49-F238E27FC236}">
                  <a16:creationId xmlns:a16="http://schemas.microsoft.com/office/drawing/2014/main" id="{21E54B87-5FDF-F314-4768-9377323AB885}"/>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250 w 361670"/>
                <a:gd name="connsiteY5" fmla="*/ 180667 h 361333"/>
                <a:gd name="connsiteX6" fmla="*/ 99044 w 361670"/>
                <a:gd name="connsiteY6" fmla="*/ 252806 h 361333"/>
                <a:gd name="connsiteX7" fmla="*/ 92654 w 361670"/>
                <a:gd name="connsiteY7" fmla="*/ 246422 h 361333"/>
                <a:gd name="connsiteX8" fmla="*/ 99044 w 361670"/>
                <a:gd name="connsiteY8" fmla="*/ 240038 h 361333"/>
                <a:gd name="connsiteX9" fmla="*/ 157831 w 361670"/>
                <a:gd name="connsiteY9" fmla="*/ 187051 h 361333"/>
                <a:gd name="connsiteX10" fmla="*/ 99044 w 361670"/>
                <a:gd name="connsiteY10" fmla="*/ 187051 h 361333"/>
                <a:gd name="connsiteX11" fmla="*/ 92654 w 361670"/>
                <a:gd name="connsiteY11" fmla="*/ 180667 h 361333"/>
                <a:gd name="connsiteX12" fmla="*/ 92654 w 361670"/>
                <a:gd name="connsiteY12" fmla="*/ 114912 h 361333"/>
                <a:gd name="connsiteX13" fmla="*/ 99044 w 361670"/>
                <a:gd name="connsiteY13" fmla="*/ 108528 h 361333"/>
                <a:gd name="connsiteX14" fmla="*/ 164860 w 361670"/>
                <a:gd name="connsiteY14" fmla="*/ 108528 h 361333"/>
                <a:gd name="connsiteX15" fmla="*/ 171250 w 361670"/>
                <a:gd name="connsiteY15" fmla="*/ 114912 h 361333"/>
                <a:gd name="connsiteX16" fmla="*/ 171250 w 361670"/>
                <a:gd name="connsiteY16" fmla="*/ 180667 h 361333"/>
                <a:gd name="connsiteX17" fmla="*/ 269655 w 361670"/>
                <a:gd name="connsiteY17" fmla="*/ 180667 h 361333"/>
                <a:gd name="connsiteX18" fmla="*/ 197449 w 361670"/>
                <a:gd name="connsiteY18" fmla="*/ 252806 h 361333"/>
                <a:gd name="connsiteX19" fmla="*/ 191059 w 361670"/>
                <a:gd name="connsiteY19" fmla="*/ 246422 h 361333"/>
                <a:gd name="connsiteX20" fmla="*/ 197449 w 361670"/>
                <a:gd name="connsiteY20" fmla="*/ 240038 h 361333"/>
                <a:gd name="connsiteX21" fmla="*/ 256237 w 361670"/>
                <a:gd name="connsiteY21" fmla="*/ 187051 h 361333"/>
                <a:gd name="connsiteX22" fmla="*/ 197449 w 361670"/>
                <a:gd name="connsiteY22" fmla="*/ 187051 h 361333"/>
                <a:gd name="connsiteX23" fmla="*/ 191059 w 361670"/>
                <a:gd name="connsiteY23" fmla="*/ 180667 h 361333"/>
                <a:gd name="connsiteX24" fmla="*/ 191059 w 361670"/>
                <a:gd name="connsiteY24" fmla="*/ 114912 h 361333"/>
                <a:gd name="connsiteX25" fmla="*/ 197449 w 361670"/>
                <a:gd name="connsiteY25" fmla="*/ 108528 h 361333"/>
                <a:gd name="connsiteX26" fmla="*/ 263265 w 361670"/>
                <a:gd name="connsiteY26" fmla="*/ 108528 h 361333"/>
                <a:gd name="connsiteX27" fmla="*/ 269655 w 361670"/>
                <a:gd name="connsiteY27" fmla="*/ 114912 h 361333"/>
                <a:gd name="connsiteX28" fmla="*/ 269655 w 361670"/>
                <a:gd name="connsiteY2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71250" y="180667"/>
                  </a:moveTo>
                  <a:cubicBezTo>
                    <a:pt x="171250" y="221524"/>
                    <a:pt x="139940" y="252806"/>
                    <a:pt x="99044" y="252806"/>
                  </a:cubicBezTo>
                  <a:cubicBezTo>
                    <a:pt x="95210" y="252806"/>
                    <a:pt x="92654" y="250252"/>
                    <a:pt x="92654" y="246422"/>
                  </a:cubicBezTo>
                  <a:cubicBezTo>
                    <a:pt x="92654" y="242591"/>
                    <a:pt x="95210" y="240038"/>
                    <a:pt x="99044" y="240038"/>
                  </a:cubicBezTo>
                  <a:cubicBezTo>
                    <a:pt x="130994" y="240038"/>
                    <a:pt x="155275" y="217694"/>
                    <a:pt x="157831" y="187051"/>
                  </a:cubicBezTo>
                  <a:lnTo>
                    <a:pt x="99044" y="187051"/>
                  </a:lnTo>
                  <a:cubicBezTo>
                    <a:pt x="95210" y="187051"/>
                    <a:pt x="92654" y="184497"/>
                    <a:pt x="92654" y="180667"/>
                  </a:cubicBezTo>
                  <a:lnTo>
                    <a:pt x="92654" y="114912"/>
                  </a:lnTo>
                  <a:cubicBezTo>
                    <a:pt x="92654" y="111081"/>
                    <a:pt x="95210" y="108528"/>
                    <a:pt x="99044" y="108528"/>
                  </a:cubicBezTo>
                  <a:lnTo>
                    <a:pt x="164860" y="108528"/>
                  </a:lnTo>
                  <a:cubicBezTo>
                    <a:pt x="168694" y="108528"/>
                    <a:pt x="171250" y="111081"/>
                    <a:pt x="171250" y="114912"/>
                  </a:cubicBezTo>
                  <a:lnTo>
                    <a:pt x="171250" y="180667"/>
                  </a:lnTo>
                  <a:close/>
                  <a:moveTo>
                    <a:pt x="269655" y="180667"/>
                  </a:moveTo>
                  <a:cubicBezTo>
                    <a:pt x="269655" y="221524"/>
                    <a:pt x="238345" y="252806"/>
                    <a:pt x="197449" y="252806"/>
                  </a:cubicBezTo>
                  <a:cubicBezTo>
                    <a:pt x="193615" y="252806"/>
                    <a:pt x="191059" y="250252"/>
                    <a:pt x="191059" y="246422"/>
                  </a:cubicBezTo>
                  <a:cubicBezTo>
                    <a:pt x="191059" y="242591"/>
                    <a:pt x="193615" y="240038"/>
                    <a:pt x="197449" y="240038"/>
                  </a:cubicBezTo>
                  <a:cubicBezTo>
                    <a:pt x="229399" y="240038"/>
                    <a:pt x="253680" y="217694"/>
                    <a:pt x="256237" y="187051"/>
                  </a:cubicBezTo>
                  <a:lnTo>
                    <a:pt x="197449" y="187051"/>
                  </a:lnTo>
                  <a:cubicBezTo>
                    <a:pt x="193615" y="187051"/>
                    <a:pt x="191059" y="184497"/>
                    <a:pt x="191059" y="180667"/>
                  </a:cubicBezTo>
                  <a:lnTo>
                    <a:pt x="191059" y="114912"/>
                  </a:lnTo>
                  <a:cubicBezTo>
                    <a:pt x="191059" y="111081"/>
                    <a:pt x="193615" y="108528"/>
                    <a:pt x="197449" y="108528"/>
                  </a:cubicBezTo>
                  <a:lnTo>
                    <a:pt x="263265" y="108528"/>
                  </a:lnTo>
                  <a:cubicBezTo>
                    <a:pt x="267099" y="108528"/>
                    <a:pt x="269655" y="111081"/>
                    <a:pt x="269655" y="114912"/>
                  </a:cubicBezTo>
                  <a:lnTo>
                    <a:pt x="269655" y="180667"/>
                  </a:lnTo>
                  <a:close/>
                </a:path>
              </a:pathLst>
            </a:custGeom>
            <a:grpFill/>
            <a:ln w="6390" cap="flat">
              <a:noFill/>
              <a:prstDash val="solid"/>
              <a:miter/>
            </a:ln>
          </p:spPr>
          <p:txBody>
            <a:bodyPr rtlCol="0" anchor="ctr"/>
            <a:lstStyle/>
            <a:p>
              <a:endParaRPr lang="en-US"/>
            </a:p>
          </p:txBody>
        </p:sp>
        <p:sp>
          <p:nvSpPr>
            <p:cNvPr id="40" name="Graphic 4">
              <a:extLst>
                <a:ext uri="{FF2B5EF4-FFF2-40B4-BE49-F238E27FC236}">
                  <a16:creationId xmlns:a16="http://schemas.microsoft.com/office/drawing/2014/main" id="{9A0941C5-1118-8E79-A66B-2CA537C6FFCD}"/>
                </a:ext>
              </a:extLst>
            </p:cNvPr>
            <p:cNvSpPr/>
            <p:nvPr/>
          </p:nvSpPr>
          <p:spPr>
            <a:xfrm>
              <a:off x="1010888" y="2492469"/>
              <a:ext cx="53036" cy="52987"/>
            </a:xfrm>
            <a:custGeom>
              <a:avLst/>
              <a:gdLst>
                <a:gd name="connsiteX0" fmla="*/ 0 w 53036"/>
                <a:gd name="connsiteY0" fmla="*/ 0 h 52987"/>
                <a:gd name="connsiteX1" fmla="*/ 53036 w 53036"/>
                <a:gd name="connsiteY1" fmla="*/ 0 h 52987"/>
                <a:gd name="connsiteX2" fmla="*/ 53036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6" y="0"/>
                  </a:lnTo>
                  <a:lnTo>
                    <a:pt x="53036" y="52987"/>
                  </a:lnTo>
                  <a:lnTo>
                    <a:pt x="0" y="52987"/>
                  </a:lnTo>
                  <a:close/>
                </a:path>
              </a:pathLst>
            </a:custGeom>
            <a:grpFill/>
            <a:ln w="6390" cap="flat">
              <a:noFill/>
              <a:prstDash val="solid"/>
              <a:miter/>
            </a:ln>
          </p:spPr>
          <p:txBody>
            <a:bodyPr rtlCol="0" anchor="ctr"/>
            <a:lstStyle/>
            <a:p>
              <a:endParaRPr lang="en-US"/>
            </a:p>
          </p:txBody>
        </p:sp>
      </p:grpSp>
      <p:sp>
        <p:nvSpPr>
          <p:cNvPr id="41" name="TextBox 40">
            <a:extLst>
              <a:ext uri="{FF2B5EF4-FFF2-40B4-BE49-F238E27FC236}">
                <a16:creationId xmlns:a16="http://schemas.microsoft.com/office/drawing/2014/main" id="{C22418AA-3754-AB42-3D78-5805774A5188}"/>
              </a:ext>
            </a:extLst>
          </p:cNvPr>
          <p:cNvSpPr txBox="1"/>
          <p:nvPr/>
        </p:nvSpPr>
        <p:spPr>
          <a:xfrm>
            <a:off x="1307853" y="6170334"/>
            <a:ext cx="10215280" cy="523220"/>
          </a:xfrm>
          <a:prstGeom prst="rect">
            <a:avLst/>
          </a:prstGeom>
          <a:noFill/>
        </p:spPr>
        <p:txBody>
          <a:bodyPr wrap="square">
            <a:spAutoFit/>
          </a:bodyPr>
          <a:lstStyle/>
          <a:p>
            <a:pPr algn="just"/>
            <a:r>
              <a:rPr lang="en-US" sz="1400">
                <a:latin typeface="Arial" panose="020B0604020202020204" pitchFamily="34" charset="0"/>
                <a:cs typeface="Arial" panose="020B0604020202020204" pitchFamily="34" charset="0"/>
              </a:rPr>
              <a:t>To enable a favorable transaction for the project, it is imperative to assess seasonal domestic power demand and CBET market outlook</a:t>
            </a:r>
            <a:endParaRPr lang="en-US" sz="1400"/>
          </a:p>
        </p:txBody>
      </p:sp>
    </p:spTree>
    <p:extLst>
      <p:ext uri="{BB962C8B-B14F-4D97-AF65-F5344CB8AC3E}">
        <p14:creationId xmlns:p14="http://schemas.microsoft.com/office/powerpoint/2010/main" val="1812119603"/>
      </p:ext>
    </p:extLst>
  </p:cSld>
  <p:clrMapOvr>
    <a:masterClrMapping/>
  </p:clrMapOvr>
  <p:transition>
    <p:fade/>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838878914"/>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Summarizing Additional Power Sale Scenarios (2/2)</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Possible scenarios to assess additional 30 MW power transaction during the wet season in case anticipated reforms happen</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Rectangle: Diagonal Corners Rounded 10">
            <a:extLst>
              <a:ext uri="{FF2B5EF4-FFF2-40B4-BE49-F238E27FC236}">
                <a16:creationId xmlns:a16="http://schemas.microsoft.com/office/drawing/2014/main" id="{10895F69-9F6B-7A74-A8C7-8D0E9BCC4A8F}"/>
              </a:ext>
            </a:extLst>
          </p:cNvPr>
          <p:cNvSpPr/>
          <p:nvPr/>
        </p:nvSpPr>
        <p:spPr bwMode="gray">
          <a:xfrm>
            <a:off x="663016" y="1026952"/>
            <a:ext cx="10843184" cy="4822894"/>
          </a:xfrm>
          <a:prstGeom prst="round2DiagRect">
            <a:avLst>
              <a:gd name="adj1" fmla="val 4444"/>
              <a:gd name="adj2" fmla="val 0"/>
            </a:avLst>
          </a:prstGeom>
          <a:noFill/>
          <a:ln w="19050" algn="ctr">
            <a:solidFill>
              <a:srgbClr val="0D8390"/>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13" name="Oval 12">
            <a:extLst>
              <a:ext uri="{FF2B5EF4-FFF2-40B4-BE49-F238E27FC236}">
                <a16:creationId xmlns:a16="http://schemas.microsoft.com/office/drawing/2014/main" id="{9D38633A-395F-0B50-E935-5D21A21F32A4}"/>
              </a:ext>
            </a:extLst>
          </p:cNvPr>
          <p:cNvSpPr/>
          <p:nvPr/>
        </p:nvSpPr>
        <p:spPr bwMode="gray">
          <a:xfrm>
            <a:off x="759329" y="1126457"/>
            <a:ext cx="457200" cy="457200"/>
          </a:xfrm>
          <a:prstGeom prst="ellipse">
            <a:avLst/>
          </a:prstGeom>
          <a:solidFill>
            <a:srgbClr val="007680"/>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2</a:t>
            </a:r>
          </a:p>
        </p:txBody>
      </p:sp>
      <p:sp>
        <p:nvSpPr>
          <p:cNvPr id="16" name="TextBox 15">
            <a:extLst>
              <a:ext uri="{FF2B5EF4-FFF2-40B4-BE49-F238E27FC236}">
                <a16:creationId xmlns:a16="http://schemas.microsoft.com/office/drawing/2014/main" id="{27107240-BB8A-2C02-76E3-EF36B3DF6F85}"/>
              </a:ext>
            </a:extLst>
          </p:cNvPr>
          <p:cNvSpPr txBox="1"/>
          <p:nvPr/>
        </p:nvSpPr>
        <p:spPr>
          <a:xfrm>
            <a:off x="1729420" y="1213116"/>
            <a:ext cx="9414934" cy="646331"/>
          </a:xfrm>
          <a:prstGeom prst="rect">
            <a:avLst/>
          </a:prstGeom>
          <a:noFill/>
        </p:spPr>
        <p:txBody>
          <a:bodyPr wrap="square">
            <a:spAutoFit/>
          </a:bodyPr>
          <a:lstStyle/>
          <a:p>
            <a:pPr algn="ctr"/>
            <a:r>
              <a:rPr lang="en-US">
                <a:solidFill>
                  <a:srgbClr val="0D8390"/>
                </a:solidFill>
                <a:latin typeface="Arial" panose="020B0604020202020204" pitchFamily="34" charset="0"/>
                <a:cs typeface="Arial" panose="020B0604020202020204" pitchFamily="34" charset="0"/>
              </a:rPr>
              <a:t>SCENARIO 2 - OUTLOOK </a:t>
            </a:r>
            <a:r>
              <a:rPr lang="en-US" sz="1800" kern="1200">
                <a:solidFill>
                  <a:srgbClr val="0D8390"/>
                </a:solidFill>
                <a:latin typeface="Arial" panose="020B0604020202020204" pitchFamily="34" charset="0"/>
                <a:ea typeface="+mn-ea"/>
                <a:cs typeface="Arial" panose="020B0604020202020204" pitchFamily="34" charset="0"/>
              </a:rPr>
              <a:t>– ANTICIPATED REGULATORY &amp; </a:t>
            </a:r>
          </a:p>
          <a:p>
            <a:pPr algn="ctr"/>
            <a:r>
              <a:rPr lang="en-US" sz="1800" kern="1200">
                <a:solidFill>
                  <a:srgbClr val="0D8390"/>
                </a:solidFill>
                <a:latin typeface="Arial" panose="020B0604020202020204" pitchFamily="34" charset="0"/>
                <a:ea typeface="+mn-ea"/>
                <a:cs typeface="Arial" panose="020B0604020202020204" pitchFamily="34" charset="0"/>
              </a:rPr>
              <a:t>POLICY FRAMEWORK DEVELOPMENTS</a:t>
            </a:r>
            <a:endParaRPr lang="en-US">
              <a:solidFill>
                <a:srgbClr val="0D8390"/>
              </a:solidFill>
            </a:endParaRPr>
          </a:p>
        </p:txBody>
      </p:sp>
      <p:sp>
        <p:nvSpPr>
          <p:cNvPr id="25" name="Rectangle 24">
            <a:extLst>
              <a:ext uri="{FF2B5EF4-FFF2-40B4-BE49-F238E27FC236}">
                <a16:creationId xmlns:a16="http://schemas.microsoft.com/office/drawing/2014/main" id="{F3C15BDD-FC8B-5747-532D-8402F9BFEE4F}"/>
              </a:ext>
            </a:extLst>
          </p:cNvPr>
          <p:cNvSpPr/>
          <p:nvPr/>
        </p:nvSpPr>
        <p:spPr bwMode="gray">
          <a:xfrm>
            <a:off x="2341028" y="4328815"/>
            <a:ext cx="4186772" cy="1311176"/>
          </a:xfrm>
          <a:prstGeom prst="rect">
            <a:avLst/>
          </a:prstGeom>
          <a:solidFill>
            <a:schemeClr val="bg1">
              <a:lumMod val="95000"/>
            </a:schemeClr>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115888" marR="0" lvl="0" indent="-115888" algn="l" defTabSz="1008309" rtl="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300" b="0" i="0" u="none" strike="noStrike" kern="0" cap="none" spc="0" normalizeH="0" baseline="0" noProof="0">
                <a:ln>
                  <a:noFill/>
                </a:ln>
                <a:solidFill>
                  <a:srgbClr val="0D8390"/>
                </a:solidFill>
                <a:effectLst/>
                <a:uLnTx/>
                <a:uFillTx/>
                <a:latin typeface="Arial" panose="020B0604020202020204" pitchFamily="34" charset="0"/>
                <a:ea typeface="+mn-ea"/>
                <a:cs typeface="Arial" panose="020B0604020202020204" pitchFamily="34" charset="0"/>
              </a:rPr>
              <a:t>Competitive pricing from other plants</a:t>
            </a:r>
          </a:p>
          <a:p>
            <a:pPr marL="115888" marR="0" lvl="0" indent="-115888" algn="l" defTabSz="1008309" rtl="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300" kern="0">
                <a:solidFill>
                  <a:srgbClr val="0D8390"/>
                </a:solidFill>
                <a:latin typeface="Arial" panose="020B0604020202020204" pitchFamily="34" charset="0"/>
                <a:cs typeface="Arial" panose="020B0604020202020204" pitchFamily="34" charset="0"/>
              </a:rPr>
              <a:t>No fixed timelines for the initiative adoption</a:t>
            </a:r>
          </a:p>
          <a:p>
            <a:pPr marL="115888" marR="0" lvl="0" indent="-115888" algn="l" defTabSz="1008309" rtl="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300" kern="0">
                <a:solidFill>
                  <a:srgbClr val="0D8390"/>
                </a:solidFill>
                <a:latin typeface="Arial" panose="020B0604020202020204" pitchFamily="34" charset="0"/>
                <a:cs typeface="Arial" panose="020B0604020202020204" pitchFamily="34" charset="0"/>
              </a:rPr>
              <a:t>Draft Open Access directives are published for public comments to be further followed by amendments in Electricity Bill/Act and trading license </a:t>
            </a:r>
            <a:endParaRPr kumimoji="0" lang="en-US" sz="1300" b="0" i="0" u="none" strike="noStrike" kern="0" cap="none" spc="0" normalizeH="0" baseline="0" noProof="0">
              <a:ln>
                <a:noFill/>
              </a:ln>
              <a:solidFill>
                <a:srgbClr val="0D8390"/>
              </a:solidFill>
              <a:effectLst/>
              <a:uLnTx/>
              <a:uFillTx/>
              <a:latin typeface="Arial" panose="020B0604020202020204" pitchFamily="34" charset="0"/>
              <a:ea typeface="+mn-ea"/>
              <a:cs typeface="Arial" panose="020B0604020202020204" pitchFamily="34" charset="0"/>
            </a:endParaRPr>
          </a:p>
        </p:txBody>
      </p:sp>
      <p:sp>
        <p:nvSpPr>
          <p:cNvPr id="26" name="Rectangle 25">
            <a:extLst>
              <a:ext uri="{FF2B5EF4-FFF2-40B4-BE49-F238E27FC236}">
                <a16:creationId xmlns:a16="http://schemas.microsoft.com/office/drawing/2014/main" id="{D253389B-73DC-73DF-8436-429D48193E01}"/>
              </a:ext>
            </a:extLst>
          </p:cNvPr>
          <p:cNvSpPr/>
          <p:nvPr/>
        </p:nvSpPr>
        <p:spPr bwMode="gray">
          <a:xfrm>
            <a:off x="6612467" y="4351059"/>
            <a:ext cx="4058331" cy="1293825"/>
          </a:xfrm>
          <a:prstGeom prst="rect">
            <a:avLst/>
          </a:prstGeom>
          <a:solidFill>
            <a:schemeClr val="bg1">
              <a:lumMod val="95000"/>
            </a:schemeClr>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115888" marR="0" lvl="0" indent="-115888" algn="l" defTabSz="1008309" rtl="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300" b="0" i="0" u="none" strike="noStrike" kern="0" cap="none" spc="0" normalizeH="0" baseline="0" noProof="0">
                <a:ln>
                  <a:noFill/>
                </a:ln>
                <a:solidFill>
                  <a:srgbClr val="0D8390"/>
                </a:solidFill>
                <a:effectLst/>
                <a:uLnTx/>
                <a:uFillTx/>
                <a:latin typeface="Arial" panose="020B0604020202020204" pitchFamily="34" charset="0"/>
                <a:ea typeface="+mn-ea"/>
                <a:cs typeface="Arial" panose="020B0604020202020204" pitchFamily="34" charset="0"/>
              </a:rPr>
              <a:t>Competitive pricing from other plants</a:t>
            </a:r>
          </a:p>
          <a:p>
            <a:pPr marL="115888" marR="0" lvl="0" indent="-115888" algn="l" defTabSz="1008309" rtl="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300" kern="0">
                <a:solidFill>
                  <a:srgbClr val="0D8390"/>
                </a:solidFill>
                <a:latin typeface="Arial" panose="020B0604020202020204" pitchFamily="34" charset="0"/>
                <a:cs typeface="Arial" panose="020B0604020202020204" pitchFamily="34" charset="0"/>
              </a:rPr>
              <a:t>No fixed timelines for the initiative adoption</a:t>
            </a:r>
          </a:p>
          <a:p>
            <a:pPr marL="115888" marR="0" lvl="0" indent="-115888" algn="l" defTabSz="1008309" rtl="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300" kern="0">
                <a:solidFill>
                  <a:srgbClr val="0D8390"/>
                </a:solidFill>
                <a:latin typeface="Arial" panose="020B0604020202020204" pitchFamily="34" charset="0"/>
                <a:cs typeface="Arial" panose="020B0604020202020204" pitchFamily="34" charset="0"/>
              </a:rPr>
              <a:t>Approval from GOI </a:t>
            </a:r>
            <a:endParaRPr kumimoji="0" lang="en-US" sz="1300" b="0" i="0" u="none" strike="noStrike" kern="0" cap="none" spc="0" normalizeH="0" baseline="0" noProof="0">
              <a:ln>
                <a:noFill/>
              </a:ln>
              <a:solidFill>
                <a:srgbClr val="0D8390"/>
              </a:solidFill>
              <a:effectLst/>
              <a:uLnTx/>
              <a:uFillTx/>
              <a:latin typeface="Arial" panose="020B0604020202020204" pitchFamily="34" charset="0"/>
              <a:ea typeface="+mn-ea"/>
              <a:cs typeface="Arial" panose="020B0604020202020204" pitchFamily="34" charset="0"/>
            </a:endParaRPr>
          </a:p>
        </p:txBody>
      </p:sp>
      <p:sp>
        <p:nvSpPr>
          <p:cNvPr id="27" name="Rectangle 26">
            <a:extLst>
              <a:ext uri="{FF2B5EF4-FFF2-40B4-BE49-F238E27FC236}">
                <a16:creationId xmlns:a16="http://schemas.microsoft.com/office/drawing/2014/main" id="{F165DC63-C747-791C-B2A0-C6A75C7331E6}"/>
              </a:ext>
            </a:extLst>
          </p:cNvPr>
          <p:cNvSpPr/>
          <p:nvPr/>
        </p:nvSpPr>
        <p:spPr bwMode="gray">
          <a:xfrm>
            <a:off x="852322" y="4328812"/>
            <a:ext cx="1299399" cy="1311177"/>
          </a:xfrm>
          <a:prstGeom prst="rect">
            <a:avLst/>
          </a:prstGeom>
          <a:solidFill>
            <a:srgbClr val="DDEFE8"/>
          </a:solidFill>
          <a:ln w="19050" algn="ctr">
            <a:noFill/>
            <a:miter lim="800000"/>
            <a:headEnd/>
            <a:tailEnd/>
          </a:ln>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algn="ctr" defTabSz="1008309">
              <a:lnSpc>
                <a:spcPct val="106000"/>
              </a:lnSpc>
              <a:defRPr/>
            </a:pPr>
            <a:r>
              <a:rPr lang="en-US" sz="900" b="1" kern="0">
                <a:latin typeface="Arial" panose="020B0604020202020204" pitchFamily="34" charset="0"/>
                <a:cs typeface="Arial" panose="020B0604020202020204" pitchFamily="34" charset="0"/>
              </a:rPr>
              <a:t>POTENTIAL</a:t>
            </a:r>
          </a:p>
          <a:p>
            <a:pPr algn="ctr" defTabSz="1008309">
              <a:lnSpc>
                <a:spcPct val="106000"/>
              </a:lnSpc>
              <a:defRPr/>
            </a:pPr>
            <a:r>
              <a:rPr lang="en-US" sz="900" b="1" kern="0">
                <a:latin typeface="Arial" panose="020B0604020202020204" pitchFamily="34" charset="0"/>
                <a:cs typeface="Arial" panose="020B0604020202020204" pitchFamily="34" charset="0"/>
              </a:rPr>
              <a:t>CONSIDERATIONS</a:t>
            </a:r>
          </a:p>
        </p:txBody>
      </p:sp>
      <p:grpSp>
        <p:nvGrpSpPr>
          <p:cNvPr id="31" name="Graphic 4">
            <a:extLst>
              <a:ext uri="{FF2B5EF4-FFF2-40B4-BE49-F238E27FC236}">
                <a16:creationId xmlns:a16="http://schemas.microsoft.com/office/drawing/2014/main" id="{048F44A4-09A6-DBC9-CD11-D6F2A130873B}"/>
              </a:ext>
            </a:extLst>
          </p:cNvPr>
          <p:cNvGrpSpPr/>
          <p:nvPr/>
        </p:nvGrpSpPr>
        <p:grpSpPr>
          <a:xfrm>
            <a:off x="1320867" y="4500986"/>
            <a:ext cx="362309" cy="361971"/>
            <a:chOff x="4045469" y="3339623"/>
            <a:chExt cx="362309" cy="361971"/>
          </a:xfrm>
          <a:solidFill>
            <a:srgbClr val="007680"/>
          </a:solidFill>
        </p:grpSpPr>
        <p:sp>
          <p:nvSpPr>
            <p:cNvPr id="34" name="Graphic 4">
              <a:extLst>
                <a:ext uri="{FF2B5EF4-FFF2-40B4-BE49-F238E27FC236}">
                  <a16:creationId xmlns:a16="http://schemas.microsoft.com/office/drawing/2014/main" id="{F9A8DB5C-00DE-65E7-06A1-F9277E464D97}"/>
                </a:ext>
              </a:extLst>
            </p:cNvPr>
            <p:cNvSpPr/>
            <p:nvPr/>
          </p:nvSpPr>
          <p:spPr>
            <a:xfrm>
              <a:off x="4131094" y="3433468"/>
              <a:ext cx="192336" cy="155130"/>
            </a:xfrm>
            <a:custGeom>
              <a:avLst/>
              <a:gdLst>
                <a:gd name="connsiteX0" fmla="*/ 0 w 192336"/>
                <a:gd name="connsiteY0" fmla="*/ 155131 h 155130"/>
                <a:gd name="connsiteX1" fmla="*/ 192337 w 192336"/>
                <a:gd name="connsiteY1" fmla="*/ 155131 h 155130"/>
                <a:gd name="connsiteX2" fmla="*/ 96488 w 192336"/>
                <a:gd name="connsiteY2" fmla="*/ 0 h 155130"/>
                <a:gd name="connsiteX3" fmla="*/ 0 w 192336"/>
                <a:gd name="connsiteY3" fmla="*/ 155131 h 155130"/>
                <a:gd name="connsiteX4" fmla="*/ 95849 w 192336"/>
                <a:gd name="connsiteY4" fmla="*/ 137894 h 155130"/>
                <a:gd name="connsiteX5" fmla="*/ 88820 w 192336"/>
                <a:gd name="connsiteY5" fmla="*/ 130872 h 155130"/>
                <a:gd name="connsiteX6" fmla="*/ 95849 w 192336"/>
                <a:gd name="connsiteY6" fmla="*/ 123849 h 155130"/>
                <a:gd name="connsiteX7" fmla="*/ 102878 w 192336"/>
                <a:gd name="connsiteY7" fmla="*/ 130872 h 155130"/>
                <a:gd name="connsiteX8" fmla="*/ 95849 w 192336"/>
                <a:gd name="connsiteY8" fmla="*/ 137894 h 155130"/>
                <a:gd name="connsiteX9" fmla="*/ 102239 w 192336"/>
                <a:gd name="connsiteY9" fmla="*/ 47880 h 155130"/>
                <a:gd name="connsiteX10" fmla="*/ 102239 w 192336"/>
                <a:gd name="connsiteY10" fmla="*/ 100867 h 155130"/>
                <a:gd name="connsiteX11" fmla="*/ 95849 w 192336"/>
                <a:gd name="connsiteY11" fmla="*/ 107251 h 155130"/>
                <a:gd name="connsiteX12" fmla="*/ 89459 w 192336"/>
                <a:gd name="connsiteY12" fmla="*/ 100867 h 155130"/>
                <a:gd name="connsiteX13" fmla="*/ 89459 w 192336"/>
                <a:gd name="connsiteY13" fmla="*/ 47241 h 155130"/>
                <a:gd name="connsiteX14" fmla="*/ 95849 w 192336"/>
                <a:gd name="connsiteY14" fmla="*/ 40857 h 155130"/>
                <a:gd name="connsiteX15" fmla="*/ 102239 w 192336"/>
                <a:gd name="connsiteY15" fmla="*/ 47880 h 155130"/>
                <a:gd name="connsiteX16" fmla="*/ 102239 w 192336"/>
                <a:gd name="connsiteY16" fmla="*/ 47880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2336" h="155130">
                  <a:moveTo>
                    <a:pt x="0" y="155131"/>
                  </a:moveTo>
                  <a:lnTo>
                    <a:pt x="192337" y="155131"/>
                  </a:lnTo>
                  <a:lnTo>
                    <a:pt x="96488" y="0"/>
                  </a:lnTo>
                  <a:lnTo>
                    <a:pt x="0" y="155131"/>
                  </a:lnTo>
                  <a:close/>
                  <a:moveTo>
                    <a:pt x="95849" y="137894"/>
                  </a:moveTo>
                  <a:cubicBezTo>
                    <a:pt x="92015" y="137894"/>
                    <a:pt x="88820" y="134702"/>
                    <a:pt x="88820" y="130872"/>
                  </a:cubicBezTo>
                  <a:cubicBezTo>
                    <a:pt x="88820" y="127041"/>
                    <a:pt x="92015" y="123849"/>
                    <a:pt x="95849" y="123849"/>
                  </a:cubicBezTo>
                  <a:cubicBezTo>
                    <a:pt x="99683" y="123849"/>
                    <a:pt x="102878" y="127041"/>
                    <a:pt x="102878" y="130872"/>
                  </a:cubicBezTo>
                  <a:cubicBezTo>
                    <a:pt x="102239" y="135341"/>
                    <a:pt x="99683" y="137894"/>
                    <a:pt x="95849" y="137894"/>
                  </a:cubicBezTo>
                  <a:close/>
                  <a:moveTo>
                    <a:pt x="102239" y="47880"/>
                  </a:moveTo>
                  <a:lnTo>
                    <a:pt x="102239" y="100867"/>
                  </a:lnTo>
                  <a:cubicBezTo>
                    <a:pt x="102239" y="104697"/>
                    <a:pt x="99683" y="107251"/>
                    <a:pt x="95849" y="107251"/>
                  </a:cubicBezTo>
                  <a:cubicBezTo>
                    <a:pt x="92015" y="107251"/>
                    <a:pt x="89459" y="104697"/>
                    <a:pt x="89459" y="100867"/>
                  </a:cubicBezTo>
                  <a:lnTo>
                    <a:pt x="89459" y="47241"/>
                  </a:lnTo>
                  <a:cubicBezTo>
                    <a:pt x="89459" y="43411"/>
                    <a:pt x="92015" y="40857"/>
                    <a:pt x="95849" y="40857"/>
                  </a:cubicBezTo>
                  <a:cubicBezTo>
                    <a:pt x="99683" y="40857"/>
                    <a:pt x="102239" y="44049"/>
                    <a:pt x="102239" y="47880"/>
                  </a:cubicBezTo>
                  <a:lnTo>
                    <a:pt x="102239" y="47880"/>
                  </a:lnTo>
                  <a:close/>
                </a:path>
              </a:pathLst>
            </a:custGeom>
            <a:grpFill/>
            <a:ln w="639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5" name="Graphic 4">
              <a:extLst>
                <a:ext uri="{FF2B5EF4-FFF2-40B4-BE49-F238E27FC236}">
                  <a16:creationId xmlns:a16="http://schemas.microsoft.com/office/drawing/2014/main" id="{0B5270A3-57DA-2A52-0193-ED7D7AE37163}"/>
                </a:ext>
              </a:extLst>
            </p:cNvPr>
            <p:cNvSpPr/>
            <p:nvPr/>
          </p:nvSpPr>
          <p:spPr>
            <a:xfrm>
              <a:off x="4045469"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94576 w 362309"/>
                <a:gd name="connsiteY6" fmla="*/ 258551 h 361971"/>
                <a:gd name="connsiteX7" fmla="*/ 288825 w 362309"/>
                <a:gd name="connsiteY7" fmla="*/ 261743 h 361971"/>
                <a:gd name="connsiteX8" fmla="*/ 74124 w 362309"/>
                <a:gd name="connsiteY8" fmla="*/ 261743 h 361971"/>
                <a:gd name="connsiteX9" fmla="*/ 67734 w 362309"/>
                <a:gd name="connsiteY9" fmla="*/ 255359 h 361971"/>
                <a:gd name="connsiteX10" fmla="*/ 69012 w 362309"/>
                <a:gd name="connsiteY10" fmla="*/ 252167 h 361971"/>
                <a:gd name="connsiteX11" fmla="*/ 177001 w 362309"/>
                <a:gd name="connsiteY11" fmla="*/ 78523 h 361971"/>
                <a:gd name="connsiteX12" fmla="*/ 182113 w 362309"/>
                <a:gd name="connsiteY12" fmla="*/ 75331 h 361971"/>
                <a:gd name="connsiteX13" fmla="*/ 182113 w 362309"/>
                <a:gd name="connsiteY13" fmla="*/ 75331 h 361971"/>
                <a:gd name="connsiteX14" fmla="*/ 187225 w 362309"/>
                <a:gd name="connsiteY14" fmla="*/ 78523 h 361971"/>
                <a:gd name="connsiteX15" fmla="*/ 294576 w 362309"/>
                <a:gd name="connsiteY15" fmla="*/ 252167 h 361971"/>
                <a:gd name="connsiteX16" fmla="*/ 294576 w 362309"/>
                <a:gd name="connsiteY16" fmla="*/ 2585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94576" y="258551"/>
                  </a:moveTo>
                  <a:cubicBezTo>
                    <a:pt x="293298" y="260466"/>
                    <a:pt x="291381" y="261743"/>
                    <a:pt x="288825" y="261743"/>
                  </a:cubicBezTo>
                  <a:lnTo>
                    <a:pt x="74124" y="261743"/>
                  </a:lnTo>
                  <a:cubicBezTo>
                    <a:pt x="70289" y="261743"/>
                    <a:pt x="67734" y="259190"/>
                    <a:pt x="67734" y="255359"/>
                  </a:cubicBezTo>
                  <a:cubicBezTo>
                    <a:pt x="67734" y="254082"/>
                    <a:pt x="68372" y="252806"/>
                    <a:pt x="69012" y="252167"/>
                  </a:cubicBezTo>
                  <a:lnTo>
                    <a:pt x="177001" y="78523"/>
                  </a:lnTo>
                  <a:cubicBezTo>
                    <a:pt x="178279" y="76608"/>
                    <a:pt x="180196" y="75331"/>
                    <a:pt x="182113" y="75331"/>
                  </a:cubicBezTo>
                  <a:lnTo>
                    <a:pt x="182113" y="75331"/>
                  </a:lnTo>
                  <a:cubicBezTo>
                    <a:pt x="184031" y="75331"/>
                    <a:pt x="186586" y="76608"/>
                    <a:pt x="187225" y="78523"/>
                  </a:cubicBezTo>
                  <a:lnTo>
                    <a:pt x="294576" y="252167"/>
                  </a:lnTo>
                  <a:cubicBezTo>
                    <a:pt x="295854" y="254082"/>
                    <a:pt x="295854" y="256636"/>
                    <a:pt x="294576" y="258551"/>
                  </a:cubicBezTo>
                  <a:close/>
                </a:path>
              </a:pathLst>
            </a:custGeom>
            <a:grpFill/>
            <a:ln w="639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3" name="Rectangle 2">
            <a:extLst>
              <a:ext uri="{FF2B5EF4-FFF2-40B4-BE49-F238E27FC236}">
                <a16:creationId xmlns:a16="http://schemas.microsoft.com/office/drawing/2014/main" id="{5D03E8FB-0254-8BA3-135D-028BF5CA752D}"/>
              </a:ext>
            </a:extLst>
          </p:cNvPr>
          <p:cNvSpPr/>
          <p:nvPr/>
        </p:nvSpPr>
        <p:spPr bwMode="gray">
          <a:xfrm>
            <a:off x="2351962" y="3439207"/>
            <a:ext cx="4175116" cy="79233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r>
              <a:rPr lang="en-US" sz="1400" kern="0">
                <a:solidFill>
                  <a:srgbClr val="0D8390"/>
                </a:solidFill>
                <a:latin typeface="Arial" panose="020B0604020202020204" pitchFamily="34" charset="0"/>
                <a:cs typeface="Arial" panose="020B0604020202020204" pitchFamily="34" charset="0"/>
              </a:rPr>
              <a:t>Sell additional power to domestic open access consumers</a:t>
            </a:r>
            <a:endParaRPr kumimoji="0" lang="en-US" sz="1400" i="0" u="none" strike="sngStrike" kern="0" cap="none" spc="0" normalizeH="0" baseline="0" noProof="0">
              <a:ln>
                <a:noFill/>
              </a:ln>
              <a:solidFill>
                <a:srgbClr val="0D8390"/>
              </a:solidFill>
              <a:effectLst/>
              <a:uLnTx/>
              <a:uFillTx/>
              <a:latin typeface="Arial" panose="020B0604020202020204" pitchFamily="34" charset="0"/>
              <a:cs typeface="Arial" panose="020B0604020202020204" pitchFamily="34" charset="0"/>
            </a:endParaRPr>
          </a:p>
        </p:txBody>
      </p:sp>
      <p:sp>
        <p:nvSpPr>
          <p:cNvPr id="4" name="Rectangle 3">
            <a:extLst>
              <a:ext uri="{FF2B5EF4-FFF2-40B4-BE49-F238E27FC236}">
                <a16:creationId xmlns:a16="http://schemas.microsoft.com/office/drawing/2014/main" id="{9E760979-944C-E42B-BE87-2C734BD1C81B}"/>
              </a:ext>
            </a:extLst>
          </p:cNvPr>
          <p:cNvSpPr/>
          <p:nvPr/>
        </p:nvSpPr>
        <p:spPr bwMode="gray">
          <a:xfrm>
            <a:off x="6612467" y="3439207"/>
            <a:ext cx="4058331" cy="79233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r>
              <a:rPr lang="en-US" sz="1400" kern="0">
                <a:solidFill>
                  <a:srgbClr val="0D8390"/>
                </a:solidFill>
                <a:latin typeface="Arial" panose="020B0604020202020204" pitchFamily="34" charset="0"/>
                <a:cs typeface="Arial" panose="020B0604020202020204" pitchFamily="34" charset="0"/>
              </a:rPr>
              <a:t>Export power through </a:t>
            </a:r>
          </a:p>
          <a:p>
            <a:pPr marL="342900" marR="0" lvl="0" indent="-342900" defTabSz="1008309" rtl="0" eaLnBrk="1" fontAlgn="auto" latinLnBrk="0" hangingPunct="1">
              <a:lnSpc>
                <a:spcPct val="106000"/>
              </a:lnSpc>
              <a:spcBef>
                <a:spcPts val="0"/>
              </a:spcBef>
              <a:spcAft>
                <a:spcPts val="0"/>
              </a:spcAft>
              <a:buClrTx/>
              <a:buSzTx/>
              <a:buFontTx/>
              <a:buAutoNum type="alphaLcParenR"/>
              <a:tabLst/>
              <a:defRPr/>
            </a:pPr>
            <a:r>
              <a:rPr kumimoji="0" lang="en-US" sz="1400" i="0" u="none" strike="noStrike" kern="0" cap="none" spc="0" normalizeH="0" baseline="0" noProof="0">
                <a:ln>
                  <a:noFill/>
                </a:ln>
                <a:solidFill>
                  <a:srgbClr val="0D8390"/>
                </a:solidFill>
                <a:effectLst/>
                <a:uLnTx/>
                <a:uFillTx/>
                <a:latin typeface="Arial" panose="020B0604020202020204" pitchFamily="34" charset="0"/>
                <a:cs typeface="Arial" panose="020B0604020202020204" pitchFamily="34" charset="0"/>
              </a:rPr>
              <a:t>Directly in exchange</a:t>
            </a:r>
            <a:endParaRPr lang="en-US" sz="1400" kern="0">
              <a:solidFill>
                <a:srgbClr val="0D8390"/>
              </a:solidFill>
              <a:latin typeface="Arial" panose="020B0604020202020204" pitchFamily="34" charset="0"/>
              <a:cs typeface="Arial" panose="020B0604020202020204" pitchFamily="34" charset="0"/>
            </a:endParaRPr>
          </a:p>
          <a:p>
            <a:pPr marL="342900" marR="0" lvl="0" indent="-342900" defTabSz="1008309" rtl="0" eaLnBrk="1" fontAlgn="auto" latinLnBrk="0" hangingPunct="1">
              <a:lnSpc>
                <a:spcPct val="106000"/>
              </a:lnSpc>
              <a:spcBef>
                <a:spcPts val="0"/>
              </a:spcBef>
              <a:spcAft>
                <a:spcPts val="0"/>
              </a:spcAft>
              <a:buClrTx/>
              <a:buSzTx/>
              <a:buFontTx/>
              <a:buAutoNum type="alphaLcParenR"/>
              <a:tabLst/>
              <a:defRPr/>
            </a:pPr>
            <a:r>
              <a:rPr kumimoji="0" lang="en-US" sz="1400" i="0" u="none" strike="noStrike" kern="0" cap="none" spc="0" normalizeH="0" baseline="0" noProof="0">
                <a:ln>
                  <a:noFill/>
                </a:ln>
                <a:solidFill>
                  <a:srgbClr val="0D8390"/>
                </a:solidFill>
                <a:effectLst/>
                <a:uLnTx/>
                <a:uFillTx/>
                <a:latin typeface="Arial" panose="020B0604020202020204" pitchFamily="34" charset="0"/>
                <a:cs typeface="Arial" panose="020B0604020202020204" pitchFamily="34" charset="0"/>
              </a:rPr>
              <a:t>Bilateral/Trilateral arrangements </a:t>
            </a:r>
          </a:p>
        </p:txBody>
      </p:sp>
      <p:sp>
        <p:nvSpPr>
          <p:cNvPr id="5" name="Oval 4">
            <a:extLst>
              <a:ext uri="{FF2B5EF4-FFF2-40B4-BE49-F238E27FC236}">
                <a16:creationId xmlns:a16="http://schemas.microsoft.com/office/drawing/2014/main" id="{FFCDBCFE-2F26-A91F-2BD5-D86FA4A8EBCE}"/>
              </a:ext>
            </a:extLst>
          </p:cNvPr>
          <p:cNvSpPr/>
          <p:nvPr/>
        </p:nvSpPr>
        <p:spPr bwMode="gray">
          <a:xfrm>
            <a:off x="2152466" y="3300261"/>
            <a:ext cx="365760" cy="365760"/>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a:solidFill>
                  <a:schemeClr val="bg1"/>
                </a:solidFill>
                <a:latin typeface="Arial" panose="020B0604020202020204" pitchFamily="34" charset="0"/>
                <a:cs typeface="Arial" panose="020B0604020202020204" pitchFamily="34" charset="0"/>
              </a:rPr>
              <a:t>I</a:t>
            </a:r>
          </a:p>
        </p:txBody>
      </p:sp>
      <p:sp>
        <p:nvSpPr>
          <p:cNvPr id="7" name="Oval 6">
            <a:extLst>
              <a:ext uri="{FF2B5EF4-FFF2-40B4-BE49-F238E27FC236}">
                <a16:creationId xmlns:a16="http://schemas.microsoft.com/office/drawing/2014/main" id="{22793296-418C-C3FD-C8B9-CD6C2BC8A593}"/>
              </a:ext>
            </a:extLst>
          </p:cNvPr>
          <p:cNvSpPr/>
          <p:nvPr/>
        </p:nvSpPr>
        <p:spPr bwMode="gray">
          <a:xfrm>
            <a:off x="10442612" y="3253074"/>
            <a:ext cx="365760" cy="365760"/>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100">
                <a:solidFill>
                  <a:schemeClr val="bg1"/>
                </a:solidFill>
                <a:latin typeface="Arial" panose="020B0604020202020204" pitchFamily="34" charset="0"/>
                <a:cs typeface="Arial" panose="020B0604020202020204" pitchFamily="34" charset="0"/>
              </a:rPr>
              <a:t>II</a:t>
            </a:r>
          </a:p>
        </p:txBody>
      </p:sp>
      <p:sp>
        <p:nvSpPr>
          <p:cNvPr id="9" name="TextBox 8">
            <a:extLst>
              <a:ext uri="{FF2B5EF4-FFF2-40B4-BE49-F238E27FC236}">
                <a16:creationId xmlns:a16="http://schemas.microsoft.com/office/drawing/2014/main" id="{DD181D30-AE2C-187A-CA89-D5DC848CF0AA}"/>
              </a:ext>
            </a:extLst>
          </p:cNvPr>
          <p:cNvSpPr txBox="1"/>
          <p:nvPr/>
        </p:nvSpPr>
        <p:spPr>
          <a:xfrm>
            <a:off x="2151721" y="1900592"/>
            <a:ext cx="8519077" cy="523220"/>
          </a:xfrm>
          <a:prstGeom prst="rect">
            <a:avLst/>
          </a:prstGeom>
          <a:noFill/>
        </p:spPr>
        <p:txBody>
          <a:bodyPr wrap="square">
            <a:spAutoFit/>
          </a:bodyPr>
          <a:lstStyle/>
          <a:p>
            <a:pPr algn="ctr"/>
            <a:r>
              <a:rPr lang="en-US" sz="1400" kern="0">
                <a:latin typeface="Arial" panose="020B0604020202020204" pitchFamily="34" charset="0"/>
                <a:cs typeface="Arial" panose="020B0604020202020204" pitchFamily="34" charset="0"/>
              </a:rPr>
              <a:t>Probable developments across enablement of </a:t>
            </a:r>
            <a:r>
              <a:rPr lang="en-US" sz="1400" b="1" kern="0">
                <a:latin typeface="Arial" panose="020B0604020202020204" pitchFamily="34" charset="0"/>
                <a:cs typeface="Arial" panose="020B0604020202020204" pitchFamily="34" charset="0"/>
              </a:rPr>
              <a:t>Open Access, Trading Licenses, Favorable provisions in Electricity Act, Direct participation in cross border power markets </a:t>
            </a:r>
            <a:r>
              <a:rPr lang="en-US" sz="1400" kern="0">
                <a:latin typeface="Arial" panose="020B0604020202020204" pitchFamily="34" charset="0"/>
                <a:cs typeface="Arial" panose="020B0604020202020204" pitchFamily="34" charset="0"/>
              </a:rPr>
              <a:t>initiatives</a:t>
            </a:r>
            <a:r>
              <a:rPr lang="en-US" sz="1400" b="1" kern="0">
                <a:latin typeface="Arial" panose="020B0604020202020204" pitchFamily="34" charset="0"/>
                <a:cs typeface="Arial" panose="020B0604020202020204" pitchFamily="34" charset="0"/>
              </a:rPr>
              <a:t>  </a:t>
            </a:r>
            <a:endParaRPr lang="en-US" sz="1400" b="1"/>
          </a:p>
        </p:txBody>
      </p:sp>
      <p:sp>
        <p:nvSpPr>
          <p:cNvPr id="12" name="Rectangle 11">
            <a:extLst>
              <a:ext uri="{FF2B5EF4-FFF2-40B4-BE49-F238E27FC236}">
                <a16:creationId xmlns:a16="http://schemas.microsoft.com/office/drawing/2014/main" id="{5C6345CE-7920-0A2B-5BB5-F428F090BE10}"/>
              </a:ext>
            </a:extLst>
          </p:cNvPr>
          <p:cNvSpPr/>
          <p:nvPr/>
        </p:nvSpPr>
        <p:spPr bwMode="gray">
          <a:xfrm>
            <a:off x="5606040" y="2560571"/>
            <a:ext cx="1661695" cy="417618"/>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r>
              <a:rPr lang="en-US" sz="1100" b="1" kern="0">
                <a:latin typeface="Arial" panose="020B0604020202020204" pitchFamily="34" charset="0"/>
                <a:cs typeface="Arial" panose="020B0604020202020204" pitchFamily="34" charset="0"/>
              </a:rPr>
              <a:t>PROJECT ST</a:t>
            </a:r>
            <a:endParaRPr kumimoji="0" lang="en-US" sz="1100" b="1" i="0" u="none" strike="noStrike" kern="0" cap="none" spc="0" normalizeH="0" baseline="0" noProof="0">
              <a:ln>
                <a:noFill/>
              </a:ln>
              <a:effectLst/>
              <a:uLnTx/>
              <a:uFillTx/>
              <a:latin typeface="Arial" panose="020B0604020202020204" pitchFamily="34" charset="0"/>
              <a:cs typeface="Arial" panose="020B0604020202020204" pitchFamily="34" charset="0"/>
            </a:endParaRPr>
          </a:p>
        </p:txBody>
      </p:sp>
      <p:cxnSp>
        <p:nvCxnSpPr>
          <p:cNvPr id="14" name="Connector: Elbow 13">
            <a:extLst>
              <a:ext uri="{FF2B5EF4-FFF2-40B4-BE49-F238E27FC236}">
                <a16:creationId xmlns:a16="http://schemas.microsoft.com/office/drawing/2014/main" id="{EC7CBB1E-37B5-F4C3-F3E6-7D7F1F621625}"/>
              </a:ext>
            </a:extLst>
          </p:cNvPr>
          <p:cNvCxnSpPr>
            <a:cxnSpLocks/>
            <a:stCxn id="12" idx="2"/>
            <a:endCxn id="3" idx="0"/>
          </p:cNvCxnSpPr>
          <p:nvPr/>
        </p:nvCxnSpPr>
        <p:spPr>
          <a:xfrm rot="5400000">
            <a:off x="5207695" y="2210014"/>
            <a:ext cx="461018" cy="1997368"/>
          </a:xfrm>
          <a:prstGeom prst="bentConnector3">
            <a:avLst>
              <a:gd name="adj1" fmla="val 50000"/>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 name="Connector: Elbow 14">
            <a:extLst>
              <a:ext uri="{FF2B5EF4-FFF2-40B4-BE49-F238E27FC236}">
                <a16:creationId xmlns:a16="http://schemas.microsoft.com/office/drawing/2014/main" id="{CAED4D94-1625-33E8-6EE9-3A51A3D97AE4}"/>
              </a:ext>
            </a:extLst>
          </p:cNvPr>
          <p:cNvCxnSpPr>
            <a:cxnSpLocks/>
            <a:stCxn id="12" idx="2"/>
            <a:endCxn id="4" idx="0"/>
          </p:cNvCxnSpPr>
          <p:nvPr/>
        </p:nvCxnSpPr>
        <p:spPr>
          <a:xfrm rot="16200000" flipH="1">
            <a:off x="7308751" y="2106325"/>
            <a:ext cx="461018" cy="2204745"/>
          </a:xfrm>
          <a:prstGeom prst="bentConnector3">
            <a:avLst>
              <a:gd name="adj1" fmla="val 50000"/>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nvGrpSpPr>
          <p:cNvPr id="47" name="Graphic 4">
            <a:extLst>
              <a:ext uri="{FF2B5EF4-FFF2-40B4-BE49-F238E27FC236}">
                <a16:creationId xmlns:a16="http://schemas.microsoft.com/office/drawing/2014/main" id="{DA22C276-F732-8803-0E15-8D5E610AE13C}"/>
              </a:ext>
            </a:extLst>
          </p:cNvPr>
          <p:cNvGrpSpPr/>
          <p:nvPr/>
        </p:nvGrpSpPr>
        <p:grpSpPr>
          <a:xfrm>
            <a:off x="663021" y="5981555"/>
            <a:ext cx="457202" cy="457198"/>
            <a:chOff x="905454" y="2371173"/>
            <a:chExt cx="361670" cy="361333"/>
          </a:xfrm>
          <a:solidFill>
            <a:schemeClr val="accent5"/>
          </a:solidFill>
        </p:grpSpPr>
        <p:sp>
          <p:nvSpPr>
            <p:cNvPr id="48" name="Graphic 4">
              <a:extLst>
                <a:ext uri="{FF2B5EF4-FFF2-40B4-BE49-F238E27FC236}">
                  <a16:creationId xmlns:a16="http://schemas.microsoft.com/office/drawing/2014/main" id="{E2121894-0B9D-30DC-EF6B-A3BE3117A08F}"/>
                </a:ext>
              </a:extLst>
            </p:cNvPr>
            <p:cNvSpPr/>
            <p:nvPr/>
          </p:nvSpPr>
          <p:spPr>
            <a:xfrm>
              <a:off x="1109293" y="2492469"/>
              <a:ext cx="53036" cy="52987"/>
            </a:xfrm>
            <a:custGeom>
              <a:avLst/>
              <a:gdLst>
                <a:gd name="connsiteX0" fmla="*/ 0 w 53036"/>
                <a:gd name="connsiteY0" fmla="*/ 0 h 52987"/>
                <a:gd name="connsiteX1" fmla="*/ 53037 w 53036"/>
                <a:gd name="connsiteY1" fmla="*/ 0 h 52987"/>
                <a:gd name="connsiteX2" fmla="*/ 53037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7" y="0"/>
                  </a:lnTo>
                  <a:lnTo>
                    <a:pt x="53037" y="52987"/>
                  </a:lnTo>
                  <a:lnTo>
                    <a:pt x="0" y="52987"/>
                  </a:lnTo>
                  <a:close/>
                </a:path>
              </a:pathLst>
            </a:custGeom>
            <a:grpFill/>
            <a:ln w="6390" cap="flat">
              <a:noFill/>
              <a:prstDash val="solid"/>
              <a:miter/>
            </a:ln>
          </p:spPr>
          <p:txBody>
            <a:bodyPr rtlCol="0" anchor="ctr"/>
            <a:lstStyle/>
            <a:p>
              <a:endParaRPr lang="en-US"/>
            </a:p>
          </p:txBody>
        </p:sp>
        <p:sp>
          <p:nvSpPr>
            <p:cNvPr id="49" name="Graphic 4">
              <a:extLst>
                <a:ext uri="{FF2B5EF4-FFF2-40B4-BE49-F238E27FC236}">
                  <a16:creationId xmlns:a16="http://schemas.microsoft.com/office/drawing/2014/main" id="{6564DE0B-7CBE-6169-2681-88EC23805282}"/>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250 w 361670"/>
                <a:gd name="connsiteY5" fmla="*/ 180667 h 361333"/>
                <a:gd name="connsiteX6" fmla="*/ 99044 w 361670"/>
                <a:gd name="connsiteY6" fmla="*/ 252806 h 361333"/>
                <a:gd name="connsiteX7" fmla="*/ 92654 w 361670"/>
                <a:gd name="connsiteY7" fmla="*/ 246422 h 361333"/>
                <a:gd name="connsiteX8" fmla="*/ 99044 w 361670"/>
                <a:gd name="connsiteY8" fmla="*/ 240038 h 361333"/>
                <a:gd name="connsiteX9" fmla="*/ 157831 w 361670"/>
                <a:gd name="connsiteY9" fmla="*/ 187051 h 361333"/>
                <a:gd name="connsiteX10" fmla="*/ 99044 w 361670"/>
                <a:gd name="connsiteY10" fmla="*/ 187051 h 361333"/>
                <a:gd name="connsiteX11" fmla="*/ 92654 w 361670"/>
                <a:gd name="connsiteY11" fmla="*/ 180667 h 361333"/>
                <a:gd name="connsiteX12" fmla="*/ 92654 w 361670"/>
                <a:gd name="connsiteY12" fmla="*/ 114912 h 361333"/>
                <a:gd name="connsiteX13" fmla="*/ 99044 w 361670"/>
                <a:gd name="connsiteY13" fmla="*/ 108528 h 361333"/>
                <a:gd name="connsiteX14" fmla="*/ 164860 w 361670"/>
                <a:gd name="connsiteY14" fmla="*/ 108528 h 361333"/>
                <a:gd name="connsiteX15" fmla="*/ 171250 w 361670"/>
                <a:gd name="connsiteY15" fmla="*/ 114912 h 361333"/>
                <a:gd name="connsiteX16" fmla="*/ 171250 w 361670"/>
                <a:gd name="connsiteY16" fmla="*/ 180667 h 361333"/>
                <a:gd name="connsiteX17" fmla="*/ 269655 w 361670"/>
                <a:gd name="connsiteY17" fmla="*/ 180667 h 361333"/>
                <a:gd name="connsiteX18" fmla="*/ 197449 w 361670"/>
                <a:gd name="connsiteY18" fmla="*/ 252806 h 361333"/>
                <a:gd name="connsiteX19" fmla="*/ 191059 w 361670"/>
                <a:gd name="connsiteY19" fmla="*/ 246422 h 361333"/>
                <a:gd name="connsiteX20" fmla="*/ 197449 w 361670"/>
                <a:gd name="connsiteY20" fmla="*/ 240038 h 361333"/>
                <a:gd name="connsiteX21" fmla="*/ 256237 w 361670"/>
                <a:gd name="connsiteY21" fmla="*/ 187051 h 361333"/>
                <a:gd name="connsiteX22" fmla="*/ 197449 w 361670"/>
                <a:gd name="connsiteY22" fmla="*/ 187051 h 361333"/>
                <a:gd name="connsiteX23" fmla="*/ 191059 w 361670"/>
                <a:gd name="connsiteY23" fmla="*/ 180667 h 361333"/>
                <a:gd name="connsiteX24" fmla="*/ 191059 w 361670"/>
                <a:gd name="connsiteY24" fmla="*/ 114912 h 361333"/>
                <a:gd name="connsiteX25" fmla="*/ 197449 w 361670"/>
                <a:gd name="connsiteY25" fmla="*/ 108528 h 361333"/>
                <a:gd name="connsiteX26" fmla="*/ 263265 w 361670"/>
                <a:gd name="connsiteY26" fmla="*/ 108528 h 361333"/>
                <a:gd name="connsiteX27" fmla="*/ 269655 w 361670"/>
                <a:gd name="connsiteY27" fmla="*/ 114912 h 361333"/>
                <a:gd name="connsiteX28" fmla="*/ 269655 w 361670"/>
                <a:gd name="connsiteY2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71250" y="180667"/>
                  </a:moveTo>
                  <a:cubicBezTo>
                    <a:pt x="171250" y="221524"/>
                    <a:pt x="139940" y="252806"/>
                    <a:pt x="99044" y="252806"/>
                  </a:cubicBezTo>
                  <a:cubicBezTo>
                    <a:pt x="95210" y="252806"/>
                    <a:pt x="92654" y="250252"/>
                    <a:pt x="92654" y="246422"/>
                  </a:cubicBezTo>
                  <a:cubicBezTo>
                    <a:pt x="92654" y="242591"/>
                    <a:pt x="95210" y="240038"/>
                    <a:pt x="99044" y="240038"/>
                  </a:cubicBezTo>
                  <a:cubicBezTo>
                    <a:pt x="130994" y="240038"/>
                    <a:pt x="155275" y="217694"/>
                    <a:pt x="157831" y="187051"/>
                  </a:cubicBezTo>
                  <a:lnTo>
                    <a:pt x="99044" y="187051"/>
                  </a:lnTo>
                  <a:cubicBezTo>
                    <a:pt x="95210" y="187051"/>
                    <a:pt x="92654" y="184497"/>
                    <a:pt x="92654" y="180667"/>
                  </a:cubicBezTo>
                  <a:lnTo>
                    <a:pt x="92654" y="114912"/>
                  </a:lnTo>
                  <a:cubicBezTo>
                    <a:pt x="92654" y="111081"/>
                    <a:pt x="95210" y="108528"/>
                    <a:pt x="99044" y="108528"/>
                  </a:cubicBezTo>
                  <a:lnTo>
                    <a:pt x="164860" y="108528"/>
                  </a:lnTo>
                  <a:cubicBezTo>
                    <a:pt x="168694" y="108528"/>
                    <a:pt x="171250" y="111081"/>
                    <a:pt x="171250" y="114912"/>
                  </a:cubicBezTo>
                  <a:lnTo>
                    <a:pt x="171250" y="180667"/>
                  </a:lnTo>
                  <a:close/>
                  <a:moveTo>
                    <a:pt x="269655" y="180667"/>
                  </a:moveTo>
                  <a:cubicBezTo>
                    <a:pt x="269655" y="221524"/>
                    <a:pt x="238345" y="252806"/>
                    <a:pt x="197449" y="252806"/>
                  </a:cubicBezTo>
                  <a:cubicBezTo>
                    <a:pt x="193615" y="252806"/>
                    <a:pt x="191059" y="250252"/>
                    <a:pt x="191059" y="246422"/>
                  </a:cubicBezTo>
                  <a:cubicBezTo>
                    <a:pt x="191059" y="242591"/>
                    <a:pt x="193615" y="240038"/>
                    <a:pt x="197449" y="240038"/>
                  </a:cubicBezTo>
                  <a:cubicBezTo>
                    <a:pt x="229399" y="240038"/>
                    <a:pt x="253680" y="217694"/>
                    <a:pt x="256237" y="187051"/>
                  </a:cubicBezTo>
                  <a:lnTo>
                    <a:pt x="197449" y="187051"/>
                  </a:lnTo>
                  <a:cubicBezTo>
                    <a:pt x="193615" y="187051"/>
                    <a:pt x="191059" y="184497"/>
                    <a:pt x="191059" y="180667"/>
                  </a:cubicBezTo>
                  <a:lnTo>
                    <a:pt x="191059" y="114912"/>
                  </a:lnTo>
                  <a:cubicBezTo>
                    <a:pt x="191059" y="111081"/>
                    <a:pt x="193615" y="108528"/>
                    <a:pt x="197449" y="108528"/>
                  </a:cubicBezTo>
                  <a:lnTo>
                    <a:pt x="263265" y="108528"/>
                  </a:lnTo>
                  <a:cubicBezTo>
                    <a:pt x="267099" y="108528"/>
                    <a:pt x="269655" y="111081"/>
                    <a:pt x="269655" y="114912"/>
                  </a:cubicBezTo>
                  <a:lnTo>
                    <a:pt x="269655" y="180667"/>
                  </a:lnTo>
                  <a:close/>
                </a:path>
              </a:pathLst>
            </a:custGeom>
            <a:grpFill/>
            <a:ln w="6390" cap="flat">
              <a:noFill/>
              <a:prstDash val="solid"/>
              <a:miter/>
            </a:ln>
          </p:spPr>
          <p:txBody>
            <a:bodyPr rtlCol="0" anchor="ctr"/>
            <a:lstStyle/>
            <a:p>
              <a:endParaRPr lang="en-US"/>
            </a:p>
          </p:txBody>
        </p:sp>
        <p:sp>
          <p:nvSpPr>
            <p:cNvPr id="50" name="Graphic 4">
              <a:extLst>
                <a:ext uri="{FF2B5EF4-FFF2-40B4-BE49-F238E27FC236}">
                  <a16:creationId xmlns:a16="http://schemas.microsoft.com/office/drawing/2014/main" id="{EC7714F1-799B-7C67-5AEB-8EBDE1DC5611}"/>
                </a:ext>
              </a:extLst>
            </p:cNvPr>
            <p:cNvSpPr/>
            <p:nvPr/>
          </p:nvSpPr>
          <p:spPr>
            <a:xfrm>
              <a:off x="1010888" y="2492469"/>
              <a:ext cx="53036" cy="52987"/>
            </a:xfrm>
            <a:custGeom>
              <a:avLst/>
              <a:gdLst>
                <a:gd name="connsiteX0" fmla="*/ 0 w 53036"/>
                <a:gd name="connsiteY0" fmla="*/ 0 h 52987"/>
                <a:gd name="connsiteX1" fmla="*/ 53036 w 53036"/>
                <a:gd name="connsiteY1" fmla="*/ 0 h 52987"/>
                <a:gd name="connsiteX2" fmla="*/ 53036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6" y="0"/>
                  </a:lnTo>
                  <a:lnTo>
                    <a:pt x="53036" y="52987"/>
                  </a:lnTo>
                  <a:lnTo>
                    <a:pt x="0" y="52987"/>
                  </a:lnTo>
                  <a:close/>
                </a:path>
              </a:pathLst>
            </a:custGeom>
            <a:grpFill/>
            <a:ln w="6390" cap="flat">
              <a:noFill/>
              <a:prstDash val="solid"/>
              <a:miter/>
            </a:ln>
          </p:spPr>
          <p:txBody>
            <a:bodyPr rtlCol="0" anchor="ctr"/>
            <a:lstStyle/>
            <a:p>
              <a:endParaRPr lang="en-US"/>
            </a:p>
          </p:txBody>
        </p:sp>
      </p:grpSp>
      <p:sp>
        <p:nvSpPr>
          <p:cNvPr id="51" name="TextBox 50">
            <a:extLst>
              <a:ext uri="{FF2B5EF4-FFF2-40B4-BE49-F238E27FC236}">
                <a16:creationId xmlns:a16="http://schemas.microsoft.com/office/drawing/2014/main" id="{CCF3365A-69D1-3942-A2D5-CCCC65A22721}"/>
              </a:ext>
            </a:extLst>
          </p:cNvPr>
          <p:cNvSpPr txBox="1"/>
          <p:nvPr/>
        </p:nvSpPr>
        <p:spPr>
          <a:xfrm>
            <a:off x="1120216" y="5973149"/>
            <a:ext cx="10276976" cy="523220"/>
          </a:xfrm>
          <a:prstGeom prst="rect">
            <a:avLst/>
          </a:prstGeom>
          <a:noFill/>
        </p:spPr>
        <p:txBody>
          <a:bodyPr wrap="square">
            <a:spAutoFit/>
          </a:bodyPr>
          <a:lstStyle/>
          <a:p>
            <a:pPr algn="just"/>
            <a:r>
              <a:rPr lang="en-US" sz="1400">
                <a:latin typeface="Arial" panose="020B0604020202020204" pitchFamily="34" charset="0"/>
                <a:cs typeface="Arial" panose="020B0604020202020204" pitchFamily="34" charset="0"/>
              </a:rPr>
              <a:t>In the subsequent sections, the report focuses on current state and outlook of Nepal’s power sector landscape (demand-supply dynamics, regulatory and policy framework) for cross-border power trade</a:t>
            </a:r>
            <a:endParaRPr lang="en-US" sz="1400"/>
          </a:p>
        </p:txBody>
      </p:sp>
    </p:spTree>
    <p:extLst>
      <p:ext uri="{BB962C8B-B14F-4D97-AF65-F5344CB8AC3E}">
        <p14:creationId xmlns:p14="http://schemas.microsoft.com/office/powerpoint/2010/main" val="810461119"/>
      </p:ext>
    </p:extLst>
  </p:cSld>
  <p:clrMapOvr>
    <a:masterClrMapping/>
  </p:clrMapOvr>
  <p:transition>
    <p:fade/>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979404490"/>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Deep-dive areas</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latin typeface="Arial" panose="020B0604020202020204" pitchFamily="34" charset="0"/>
                <a:cs typeface="Arial" panose="020B0604020202020204" pitchFamily="34" charset="0"/>
              </a:rPr>
              <a:t>Analytical Flow for the Deep-dive: Assessing Nepal’s Power Sector Context and Cross-Border Market Linkages</a:t>
            </a:r>
            <a:endParaRPr lang="en-US" sz="1400">
              <a:solidFill>
                <a:schemeClr val="tx1">
                  <a:lumMod val="65000"/>
                  <a:lumOff val="35000"/>
                </a:schemeClr>
              </a:solidFill>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 name="Freeform 39">
            <a:extLst>
              <a:ext uri="{FF2B5EF4-FFF2-40B4-BE49-F238E27FC236}">
                <a16:creationId xmlns:a16="http://schemas.microsoft.com/office/drawing/2014/main" id="{DA2C286F-B20B-A538-7B9B-DCED5804F2FE}"/>
              </a:ext>
            </a:extLst>
          </p:cNvPr>
          <p:cNvSpPr/>
          <p:nvPr/>
        </p:nvSpPr>
        <p:spPr bwMode="gray">
          <a:xfrm>
            <a:off x="803201" y="2164970"/>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chemeClr val="accent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a:solidFill>
                <a:schemeClr val="bg1"/>
              </a:solidFill>
            </a:endParaRPr>
          </a:p>
        </p:txBody>
      </p:sp>
      <p:sp>
        <p:nvSpPr>
          <p:cNvPr id="4" name="Oval 3">
            <a:extLst>
              <a:ext uri="{FF2B5EF4-FFF2-40B4-BE49-F238E27FC236}">
                <a16:creationId xmlns:a16="http://schemas.microsoft.com/office/drawing/2014/main" id="{76C7E3BD-9430-611A-356E-61AC7DA95811}"/>
              </a:ext>
            </a:extLst>
          </p:cNvPr>
          <p:cNvSpPr/>
          <p:nvPr/>
        </p:nvSpPr>
        <p:spPr bwMode="gray">
          <a:xfrm>
            <a:off x="961075" y="1464128"/>
            <a:ext cx="1520856" cy="1520856"/>
          </a:xfrm>
          <a:prstGeom prst="ellipse">
            <a:avLst/>
          </a:prstGeom>
          <a:solidFill>
            <a:srgbClr val="E3E48D"/>
          </a:solidFill>
          <a:ln w="19050" algn="ctr">
            <a:noFill/>
            <a:miter lim="800000"/>
            <a:headEnd/>
            <a:tailEnd/>
          </a:ln>
        </p:spPr>
        <p:txBody>
          <a:bodyPr wrap="square" lIns="0" tIns="0" rIns="0" bIns="0" rtlCol="0" anchor="ctr"/>
          <a:lstStyle/>
          <a:p>
            <a:pPr algn="ctr">
              <a:buFont typeface="Wingdings 2" pitchFamily="18" charset="2"/>
              <a:buNone/>
            </a:pPr>
            <a:r>
              <a:rPr lang="en-US" sz="1300" b="1"/>
              <a:t>Institutional, Policy and Regulatory Assessment of Nepal</a:t>
            </a:r>
          </a:p>
        </p:txBody>
      </p:sp>
      <p:sp>
        <p:nvSpPr>
          <p:cNvPr id="5" name="Oval 4">
            <a:extLst>
              <a:ext uri="{FF2B5EF4-FFF2-40B4-BE49-F238E27FC236}">
                <a16:creationId xmlns:a16="http://schemas.microsoft.com/office/drawing/2014/main" id="{7E116ACD-A05A-F45A-D722-D5DE173AB099}"/>
              </a:ext>
            </a:extLst>
          </p:cNvPr>
          <p:cNvSpPr/>
          <p:nvPr/>
        </p:nvSpPr>
        <p:spPr bwMode="gray">
          <a:xfrm>
            <a:off x="1590981" y="3582329"/>
            <a:ext cx="261042" cy="261042"/>
          </a:xfrm>
          <a:prstGeom prst="ellipse">
            <a:avLst/>
          </a:prstGeom>
          <a:solidFill>
            <a:schemeClr val="accent1"/>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a:solidFill>
                <a:schemeClr val="bg1"/>
              </a:solidFill>
            </a:endParaRPr>
          </a:p>
        </p:txBody>
      </p:sp>
      <p:cxnSp>
        <p:nvCxnSpPr>
          <p:cNvPr id="7" name="Straight Connector 6">
            <a:extLst>
              <a:ext uri="{FF2B5EF4-FFF2-40B4-BE49-F238E27FC236}">
                <a16:creationId xmlns:a16="http://schemas.microsoft.com/office/drawing/2014/main" id="{E592EC81-6C55-330B-D7BD-79B0F8385BD9}"/>
              </a:ext>
            </a:extLst>
          </p:cNvPr>
          <p:cNvCxnSpPr>
            <a:stCxn id="3" idx="3"/>
            <a:endCxn id="5" idx="0"/>
          </p:cNvCxnSpPr>
          <p:nvPr/>
        </p:nvCxnSpPr>
        <p:spPr>
          <a:xfrm flipH="1">
            <a:off x="1721502" y="3155228"/>
            <a:ext cx="1" cy="427101"/>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9" name="Freeform 80">
            <a:extLst>
              <a:ext uri="{FF2B5EF4-FFF2-40B4-BE49-F238E27FC236}">
                <a16:creationId xmlns:a16="http://schemas.microsoft.com/office/drawing/2014/main" id="{4F0E33E4-4D8D-CA11-67D8-203EBEDE3FCC}"/>
              </a:ext>
            </a:extLst>
          </p:cNvPr>
          <p:cNvSpPr/>
          <p:nvPr/>
        </p:nvSpPr>
        <p:spPr bwMode="gray">
          <a:xfrm>
            <a:off x="3669942" y="2164970"/>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chemeClr val="tx2"/>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a:solidFill>
                <a:schemeClr val="bg1"/>
              </a:solidFill>
            </a:endParaRPr>
          </a:p>
        </p:txBody>
      </p:sp>
      <p:sp>
        <p:nvSpPr>
          <p:cNvPr id="11" name="Oval 10">
            <a:extLst>
              <a:ext uri="{FF2B5EF4-FFF2-40B4-BE49-F238E27FC236}">
                <a16:creationId xmlns:a16="http://schemas.microsoft.com/office/drawing/2014/main" id="{49927DAA-F1AF-A677-C294-141CA0E649DB}"/>
              </a:ext>
            </a:extLst>
          </p:cNvPr>
          <p:cNvSpPr/>
          <p:nvPr/>
        </p:nvSpPr>
        <p:spPr bwMode="gray">
          <a:xfrm>
            <a:off x="3827816" y="1464128"/>
            <a:ext cx="1520856" cy="1520856"/>
          </a:xfrm>
          <a:prstGeom prst="ellipse">
            <a:avLst/>
          </a:prstGeom>
          <a:solidFill>
            <a:schemeClr val="tx2">
              <a:lumMod val="20000"/>
              <a:lumOff val="80000"/>
            </a:schemeClr>
          </a:solidFill>
          <a:ln w="19050" algn="ctr">
            <a:noFill/>
            <a:miter lim="800000"/>
            <a:headEnd/>
            <a:tailEnd/>
          </a:ln>
        </p:spPr>
        <p:txBody>
          <a:bodyPr wrap="square" lIns="0" tIns="0" rIns="0" bIns="0" rtlCol="0" anchor="ctr"/>
          <a:lstStyle/>
          <a:p>
            <a:pPr algn="ctr">
              <a:buFont typeface="Wingdings 2" pitchFamily="18" charset="2"/>
              <a:buNone/>
            </a:pPr>
            <a:r>
              <a:rPr lang="en-US" sz="1300" b="1"/>
              <a:t>As-Is Assessment of the power sector including CBET</a:t>
            </a:r>
          </a:p>
        </p:txBody>
      </p:sp>
      <p:sp>
        <p:nvSpPr>
          <p:cNvPr id="12" name="Oval 11">
            <a:extLst>
              <a:ext uri="{FF2B5EF4-FFF2-40B4-BE49-F238E27FC236}">
                <a16:creationId xmlns:a16="http://schemas.microsoft.com/office/drawing/2014/main" id="{975D7BB0-7710-48BE-B3C2-167B5E069E7E}"/>
              </a:ext>
            </a:extLst>
          </p:cNvPr>
          <p:cNvSpPr/>
          <p:nvPr/>
        </p:nvSpPr>
        <p:spPr bwMode="gray">
          <a:xfrm>
            <a:off x="4457722" y="3582329"/>
            <a:ext cx="261042" cy="261042"/>
          </a:xfrm>
          <a:prstGeom prst="ellipse">
            <a:avLst/>
          </a:prstGeom>
          <a:solidFill>
            <a:schemeClr val="tx2"/>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a:solidFill>
                <a:schemeClr val="bg1"/>
              </a:solidFill>
            </a:endParaRPr>
          </a:p>
        </p:txBody>
      </p:sp>
      <p:cxnSp>
        <p:nvCxnSpPr>
          <p:cNvPr id="13" name="Straight Connector 12">
            <a:extLst>
              <a:ext uri="{FF2B5EF4-FFF2-40B4-BE49-F238E27FC236}">
                <a16:creationId xmlns:a16="http://schemas.microsoft.com/office/drawing/2014/main" id="{9208C4DB-85F5-307C-5FBB-4345BCEB9C2A}"/>
              </a:ext>
            </a:extLst>
          </p:cNvPr>
          <p:cNvCxnSpPr>
            <a:stCxn id="9" idx="3"/>
            <a:endCxn id="12" idx="0"/>
          </p:cNvCxnSpPr>
          <p:nvPr/>
        </p:nvCxnSpPr>
        <p:spPr>
          <a:xfrm flipH="1">
            <a:off x="4588243" y="3155228"/>
            <a:ext cx="1" cy="427101"/>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14" name="Freeform 85">
            <a:extLst>
              <a:ext uri="{FF2B5EF4-FFF2-40B4-BE49-F238E27FC236}">
                <a16:creationId xmlns:a16="http://schemas.microsoft.com/office/drawing/2014/main" id="{08111270-332E-2FF8-C800-60A3A3CF1078}"/>
              </a:ext>
            </a:extLst>
          </p:cNvPr>
          <p:cNvSpPr/>
          <p:nvPr/>
        </p:nvSpPr>
        <p:spPr bwMode="gray">
          <a:xfrm>
            <a:off x="6536683" y="2164970"/>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a:solidFill>
                <a:schemeClr val="bg1"/>
              </a:solidFill>
            </a:endParaRPr>
          </a:p>
        </p:txBody>
      </p:sp>
      <p:sp>
        <p:nvSpPr>
          <p:cNvPr id="15" name="Oval 14">
            <a:extLst>
              <a:ext uri="{FF2B5EF4-FFF2-40B4-BE49-F238E27FC236}">
                <a16:creationId xmlns:a16="http://schemas.microsoft.com/office/drawing/2014/main" id="{ECB46861-E354-CA4F-8B94-7ECF94A4AC18}"/>
              </a:ext>
            </a:extLst>
          </p:cNvPr>
          <p:cNvSpPr/>
          <p:nvPr/>
        </p:nvSpPr>
        <p:spPr bwMode="gray">
          <a:xfrm>
            <a:off x="6694557" y="1464128"/>
            <a:ext cx="1520856" cy="1520856"/>
          </a:xfrm>
          <a:prstGeom prst="ellipse">
            <a:avLst/>
          </a:prstGeom>
          <a:solidFill>
            <a:srgbClr val="C4D600"/>
          </a:solidFill>
          <a:ln w="19050" algn="ctr">
            <a:noFill/>
            <a:miter lim="800000"/>
            <a:headEnd/>
            <a:tailEnd/>
          </a:ln>
        </p:spPr>
        <p:txBody>
          <a:bodyPr wrap="square" lIns="0" tIns="0" rIns="0" bIns="0" rtlCol="0" anchor="ctr"/>
          <a:lstStyle/>
          <a:p>
            <a:pPr algn="ctr">
              <a:buFont typeface="Wingdings 2" pitchFamily="18" charset="2"/>
              <a:buNone/>
            </a:pPr>
            <a:r>
              <a:rPr lang="en-US" sz="1300" b="1"/>
              <a:t>Outlook of the Nepal Power Sector</a:t>
            </a:r>
          </a:p>
        </p:txBody>
      </p:sp>
      <p:sp>
        <p:nvSpPr>
          <p:cNvPr id="16" name="Oval 15">
            <a:extLst>
              <a:ext uri="{FF2B5EF4-FFF2-40B4-BE49-F238E27FC236}">
                <a16:creationId xmlns:a16="http://schemas.microsoft.com/office/drawing/2014/main" id="{52FBEB19-1D0A-FEC8-F246-1B21D9C6DAD9}"/>
              </a:ext>
            </a:extLst>
          </p:cNvPr>
          <p:cNvSpPr/>
          <p:nvPr/>
        </p:nvSpPr>
        <p:spPr bwMode="gray">
          <a:xfrm>
            <a:off x="7324463" y="3582329"/>
            <a:ext cx="261042" cy="261042"/>
          </a:xfrm>
          <a:prstGeom prst="ellipse">
            <a:avLst/>
          </a:prstGeom>
          <a:solidFill>
            <a:schemeClr val="accent3"/>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a:solidFill>
                <a:schemeClr val="bg1"/>
              </a:solidFill>
            </a:endParaRPr>
          </a:p>
        </p:txBody>
      </p:sp>
      <p:cxnSp>
        <p:nvCxnSpPr>
          <p:cNvPr id="17" name="Straight Connector 16">
            <a:extLst>
              <a:ext uri="{FF2B5EF4-FFF2-40B4-BE49-F238E27FC236}">
                <a16:creationId xmlns:a16="http://schemas.microsoft.com/office/drawing/2014/main" id="{2530D488-756B-37B4-D5C5-8F46FF5639D4}"/>
              </a:ext>
            </a:extLst>
          </p:cNvPr>
          <p:cNvCxnSpPr>
            <a:stCxn id="14" idx="3"/>
            <a:endCxn id="16" idx="0"/>
          </p:cNvCxnSpPr>
          <p:nvPr/>
        </p:nvCxnSpPr>
        <p:spPr>
          <a:xfrm flipH="1">
            <a:off x="7454984" y="3155228"/>
            <a:ext cx="1" cy="427101"/>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9" name="Freeform 90">
            <a:extLst>
              <a:ext uri="{FF2B5EF4-FFF2-40B4-BE49-F238E27FC236}">
                <a16:creationId xmlns:a16="http://schemas.microsoft.com/office/drawing/2014/main" id="{451177A4-A885-3D86-4EF8-7D2564DD08EB}"/>
              </a:ext>
            </a:extLst>
          </p:cNvPr>
          <p:cNvSpPr/>
          <p:nvPr/>
        </p:nvSpPr>
        <p:spPr bwMode="gray">
          <a:xfrm>
            <a:off x="9403425" y="2164970"/>
            <a:ext cx="1836603" cy="990258"/>
          </a:xfrm>
          <a:custGeom>
            <a:avLst/>
            <a:gdLst>
              <a:gd name="connsiteX0" fmla="*/ 7014 w 1775792"/>
              <a:gd name="connsiteY0" fmla="*/ 0 h 957470"/>
              <a:gd name="connsiteX1" fmla="*/ 1768779 w 1775792"/>
              <a:gd name="connsiteY1" fmla="*/ 0 h 957470"/>
              <a:gd name="connsiteX2" fmla="*/ 1775792 w 1775792"/>
              <a:gd name="connsiteY2" fmla="*/ 69574 h 957470"/>
              <a:gd name="connsiteX3" fmla="*/ 887896 w 1775792"/>
              <a:gd name="connsiteY3" fmla="*/ 957470 h 957470"/>
              <a:gd name="connsiteX4" fmla="*/ 0 w 1775792"/>
              <a:gd name="connsiteY4" fmla="*/ 69574 h 95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792" h="957470">
                <a:moveTo>
                  <a:pt x="7014" y="0"/>
                </a:moveTo>
                <a:lnTo>
                  <a:pt x="1768779" y="0"/>
                </a:lnTo>
                <a:lnTo>
                  <a:pt x="1775792" y="69574"/>
                </a:lnTo>
                <a:cubicBezTo>
                  <a:pt x="1775792" y="559945"/>
                  <a:pt x="1378267" y="957470"/>
                  <a:pt x="887896" y="957470"/>
                </a:cubicBezTo>
                <a:cubicBezTo>
                  <a:pt x="397525" y="957470"/>
                  <a:pt x="0" y="559945"/>
                  <a:pt x="0" y="69574"/>
                </a:cubicBezTo>
                <a:close/>
              </a:path>
            </a:pathLst>
          </a:cu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a:solidFill>
                <a:schemeClr val="bg1"/>
              </a:solidFill>
            </a:endParaRPr>
          </a:p>
        </p:txBody>
      </p:sp>
      <p:sp>
        <p:nvSpPr>
          <p:cNvPr id="20" name="Oval 19">
            <a:extLst>
              <a:ext uri="{FF2B5EF4-FFF2-40B4-BE49-F238E27FC236}">
                <a16:creationId xmlns:a16="http://schemas.microsoft.com/office/drawing/2014/main" id="{8A9BFEC4-D391-5AEC-4128-773F191EE369}"/>
              </a:ext>
            </a:extLst>
          </p:cNvPr>
          <p:cNvSpPr/>
          <p:nvPr/>
        </p:nvSpPr>
        <p:spPr bwMode="gray">
          <a:xfrm>
            <a:off x="9561299" y="1464128"/>
            <a:ext cx="1520856" cy="1520856"/>
          </a:xfrm>
          <a:prstGeom prst="ellipse">
            <a:avLst/>
          </a:prstGeom>
          <a:solidFill>
            <a:srgbClr val="D0D0CE"/>
          </a:solidFill>
          <a:ln w="19050" algn="ctr">
            <a:noFill/>
            <a:miter lim="800000"/>
            <a:headEnd/>
            <a:tailEnd/>
          </a:ln>
        </p:spPr>
        <p:txBody>
          <a:bodyPr wrap="square" lIns="0" tIns="0" rIns="0" bIns="0" rtlCol="0" anchor="ctr"/>
          <a:lstStyle/>
          <a:p>
            <a:pPr algn="ctr">
              <a:buFont typeface="Wingdings 2" pitchFamily="18" charset="2"/>
              <a:buNone/>
            </a:pPr>
            <a:r>
              <a:rPr lang="en-US" sz="1300" b="1"/>
              <a:t>As-is Assessment and Outlook of the power market in India</a:t>
            </a:r>
          </a:p>
        </p:txBody>
      </p:sp>
      <p:sp>
        <p:nvSpPr>
          <p:cNvPr id="21" name="Oval 20">
            <a:extLst>
              <a:ext uri="{FF2B5EF4-FFF2-40B4-BE49-F238E27FC236}">
                <a16:creationId xmlns:a16="http://schemas.microsoft.com/office/drawing/2014/main" id="{67642629-6617-4229-84B3-E1B2B94D0614}"/>
              </a:ext>
            </a:extLst>
          </p:cNvPr>
          <p:cNvSpPr/>
          <p:nvPr/>
        </p:nvSpPr>
        <p:spPr bwMode="gray">
          <a:xfrm>
            <a:off x="10191205" y="3582329"/>
            <a:ext cx="261042" cy="261042"/>
          </a:xfrm>
          <a:prstGeom prst="ellipse">
            <a:avLst/>
          </a:prstGeom>
          <a:solidFill>
            <a:srgbClr val="000000"/>
          </a:solidFill>
          <a:ln w="19050" algn="ctr">
            <a:noFill/>
            <a:miter lim="800000"/>
            <a:headEnd/>
            <a:tailEnd/>
          </a:ln>
        </p:spPr>
        <p:txBody>
          <a:bodyPr wrap="square" lIns="88900" tIns="88900" rIns="88900" bIns="88900" rtlCol="0" anchor="ctr"/>
          <a:lstStyle/>
          <a:p>
            <a:pPr algn="ctr">
              <a:buFont typeface="Wingdings 2" pitchFamily="18" charset="2"/>
              <a:buNone/>
            </a:pPr>
            <a:endParaRPr lang="en-US" sz="1100" b="1">
              <a:solidFill>
                <a:schemeClr val="bg1"/>
              </a:solidFill>
            </a:endParaRPr>
          </a:p>
        </p:txBody>
      </p:sp>
      <p:cxnSp>
        <p:nvCxnSpPr>
          <p:cNvPr id="22" name="Straight Connector 21">
            <a:extLst>
              <a:ext uri="{FF2B5EF4-FFF2-40B4-BE49-F238E27FC236}">
                <a16:creationId xmlns:a16="http://schemas.microsoft.com/office/drawing/2014/main" id="{AD28F238-D817-316E-4A0D-8EB212791BC9}"/>
              </a:ext>
            </a:extLst>
          </p:cNvPr>
          <p:cNvCxnSpPr>
            <a:stCxn id="19" idx="3"/>
            <a:endCxn id="21" idx="0"/>
          </p:cNvCxnSpPr>
          <p:nvPr/>
        </p:nvCxnSpPr>
        <p:spPr>
          <a:xfrm flipH="1">
            <a:off x="10321726" y="3155228"/>
            <a:ext cx="1" cy="427101"/>
          </a:xfrm>
          <a:prstGeom prst="line">
            <a:avLst/>
          </a:prstGeom>
          <a:ln w="38100">
            <a:solidFill>
              <a:srgbClr val="00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53E01549-66D3-1EA0-69EB-D53A2B94FEA3}"/>
              </a:ext>
            </a:extLst>
          </p:cNvPr>
          <p:cNvSpPr txBox="1"/>
          <p:nvPr/>
        </p:nvSpPr>
        <p:spPr>
          <a:xfrm>
            <a:off x="400518" y="3878802"/>
            <a:ext cx="2641968" cy="2415914"/>
          </a:xfrm>
          <a:prstGeom prst="rect">
            <a:avLst/>
          </a:prstGeom>
          <a:solidFill>
            <a:schemeClr val="bg1">
              <a:lumMod val="95000"/>
            </a:schemeClr>
          </a:solidFill>
        </p:spPr>
        <p:txBody>
          <a:bodyPr wrap="square" lIns="91440" tIns="91440" rIns="91440" bIns="91440" rtlCol="0">
            <a:noAutofit/>
          </a:bodyPr>
          <a:lstStyle/>
          <a:p>
            <a:pPr marL="203200" indent="-203200" algn="just">
              <a:spcBef>
                <a:spcPts val="600"/>
              </a:spcBef>
              <a:buSzPct val="100000"/>
              <a:buFont typeface="Arial"/>
              <a:buChar char="•"/>
            </a:pPr>
            <a:r>
              <a:rPr lang="en-US" sz="1400">
                <a:solidFill>
                  <a:srgbClr val="313131"/>
                </a:solidFill>
                <a:latin typeface="Arial" panose="020B0604020202020204" pitchFamily="34" charset="0"/>
                <a:cs typeface="Arial" panose="020B0604020202020204" pitchFamily="34" charset="0"/>
              </a:rPr>
              <a:t>Power sector institutional set-up including key stakeholders</a:t>
            </a:r>
          </a:p>
          <a:p>
            <a:pPr marL="203200" indent="-203200" algn="just">
              <a:spcBef>
                <a:spcPts val="600"/>
              </a:spcBef>
              <a:buSzPct val="100000"/>
              <a:buFont typeface="Arial"/>
              <a:buChar char="•"/>
            </a:pPr>
            <a:r>
              <a:rPr lang="en-US" sz="1400">
                <a:solidFill>
                  <a:srgbClr val="313131"/>
                </a:solidFill>
                <a:latin typeface="Arial" panose="020B0604020202020204" pitchFamily="34" charset="0"/>
                <a:cs typeface="Arial" panose="020B0604020202020204" pitchFamily="34" charset="0"/>
              </a:rPr>
              <a:t>Policy and Regulatory landscape</a:t>
            </a:r>
          </a:p>
          <a:p>
            <a:pPr marL="203200" indent="-203200" algn="just">
              <a:spcBef>
                <a:spcPts val="600"/>
              </a:spcBef>
              <a:buSzPct val="100000"/>
              <a:buFont typeface="Arial"/>
              <a:buChar char="•"/>
            </a:pPr>
            <a:r>
              <a:rPr lang="en-US" sz="1400">
                <a:solidFill>
                  <a:srgbClr val="313131"/>
                </a:solidFill>
                <a:latin typeface="Arial" panose="020B0604020202020204" pitchFamily="34" charset="0"/>
                <a:cs typeface="Arial" panose="020B0604020202020204" pitchFamily="34" charset="0"/>
              </a:rPr>
              <a:t>Key regulations and development in cross border electricity trade (CBET)</a:t>
            </a:r>
          </a:p>
        </p:txBody>
      </p:sp>
      <p:sp>
        <p:nvSpPr>
          <p:cNvPr id="24" name="TextBox 23">
            <a:extLst>
              <a:ext uri="{FF2B5EF4-FFF2-40B4-BE49-F238E27FC236}">
                <a16:creationId xmlns:a16="http://schemas.microsoft.com/office/drawing/2014/main" id="{5052A470-83D7-5009-7F9C-0CEB364317C7}"/>
              </a:ext>
            </a:extLst>
          </p:cNvPr>
          <p:cNvSpPr txBox="1"/>
          <p:nvPr/>
        </p:nvSpPr>
        <p:spPr>
          <a:xfrm>
            <a:off x="3267259" y="3878802"/>
            <a:ext cx="2641968" cy="2415914"/>
          </a:xfrm>
          <a:prstGeom prst="rect">
            <a:avLst/>
          </a:prstGeom>
          <a:solidFill>
            <a:schemeClr val="bg1">
              <a:lumMod val="95000"/>
            </a:schemeClr>
          </a:solidFill>
        </p:spPr>
        <p:txBody>
          <a:bodyPr wrap="square" lIns="91440" tIns="91440" rIns="91440" bIns="91440" rtlCol="0">
            <a:noAutofit/>
          </a:bodyPr>
          <a:lstStyle/>
          <a:p>
            <a:pPr marL="203200" indent="-203200" algn="just">
              <a:spcBef>
                <a:spcPts val="600"/>
              </a:spcBef>
              <a:buSzPct val="100000"/>
              <a:buFont typeface="Arial"/>
              <a:buChar char="•"/>
            </a:pPr>
            <a:r>
              <a:rPr lang="en-US" sz="1400">
                <a:solidFill>
                  <a:srgbClr val="313131"/>
                </a:solidFill>
                <a:latin typeface="Arial" panose="020B0604020202020204" pitchFamily="34" charset="0"/>
                <a:cs typeface="Arial" panose="020B0604020202020204" pitchFamily="34" charset="0"/>
              </a:rPr>
              <a:t>Assessment of the electricity demand and supply</a:t>
            </a:r>
          </a:p>
          <a:p>
            <a:pPr marL="203200" indent="-203200" algn="just">
              <a:spcBef>
                <a:spcPts val="600"/>
              </a:spcBef>
              <a:buSzPct val="100000"/>
              <a:buFont typeface="Arial"/>
              <a:buChar char="•"/>
            </a:pPr>
            <a:r>
              <a:rPr lang="en-US" sz="1400">
                <a:solidFill>
                  <a:srgbClr val="313131"/>
                </a:solidFill>
                <a:latin typeface="Arial" panose="020B0604020202020204" pitchFamily="34" charset="0"/>
                <a:cs typeface="Arial" panose="020B0604020202020204" pitchFamily="34" charset="0"/>
              </a:rPr>
              <a:t>Assessment of the transmission infrastructure both for domestic and cross-border</a:t>
            </a:r>
          </a:p>
          <a:p>
            <a:pPr marL="203200" indent="-203200" algn="just">
              <a:spcBef>
                <a:spcPts val="600"/>
              </a:spcBef>
              <a:buSzPct val="100000"/>
              <a:buFont typeface="Arial"/>
              <a:buChar char="•"/>
            </a:pPr>
            <a:r>
              <a:rPr lang="en-US" sz="1400">
                <a:solidFill>
                  <a:srgbClr val="313131"/>
                </a:solidFill>
                <a:latin typeface="Arial" panose="020B0604020202020204" pitchFamily="34" charset="0"/>
                <a:cs typeface="Arial" panose="020B0604020202020204" pitchFamily="34" charset="0"/>
              </a:rPr>
              <a:t>Status of current CBET transactions</a:t>
            </a:r>
          </a:p>
        </p:txBody>
      </p:sp>
      <p:sp>
        <p:nvSpPr>
          <p:cNvPr id="25" name="TextBox 24">
            <a:extLst>
              <a:ext uri="{FF2B5EF4-FFF2-40B4-BE49-F238E27FC236}">
                <a16:creationId xmlns:a16="http://schemas.microsoft.com/office/drawing/2014/main" id="{55F8EDF1-20D6-B7DE-8256-4719A29D90AE}"/>
              </a:ext>
            </a:extLst>
          </p:cNvPr>
          <p:cNvSpPr txBox="1"/>
          <p:nvPr/>
        </p:nvSpPr>
        <p:spPr>
          <a:xfrm>
            <a:off x="6181642" y="3878802"/>
            <a:ext cx="2641968" cy="2415914"/>
          </a:xfrm>
          <a:prstGeom prst="rect">
            <a:avLst/>
          </a:prstGeom>
          <a:solidFill>
            <a:schemeClr val="bg1">
              <a:lumMod val="95000"/>
            </a:schemeClr>
          </a:solidFill>
        </p:spPr>
        <p:txBody>
          <a:bodyPr wrap="square" lIns="91440" tIns="91440" rIns="91440" bIns="91440" rtlCol="0">
            <a:noAutofit/>
          </a:bodyPr>
          <a:lstStyle/>
          <a:p>
            <a:pPr marL="203200" indent="-203200" algn="just">
              <a:spcBef>
                <a:spcPts val="600"/>
              </a:spcBef>
              <a:buSzPct val="100000"/>
              <a:buFont typeface="Arial"/>
              <a:buChar char="•"/>
            </a:pPr>
            <a:r>
              <a:rPr lang="en-US" sz="1400">
                <a:solidFill>
                  <a:srgbClr val="313131"/>
                </a:solidFill>
                <a:latin typeface="Arial" panose="020B0604020202020204" pitchFamily="34" charset="0"/>
                <a:cs typeface="Arial" panose="020B0604020202020204" pitchFamily="34" charset="0"/>
              </a:rPr>
              <a:t>Demand supply outlook for the next 10-15 years</a:t>
            </a:r>
          </a:p>
          <a:p>
            <a:pPr marL="203200" indent="-203200" algn="just">
              <a:spcBef>
                <a:spcPts val="600"/>
              </a:spcBef>
              <a:buSzPct val="100000"/>
              <a:buFont typeface="Arial"/>
              <a:buChar char="•"/>
            </a:pPr>
            <a:r>
              <a:rPr lang="en-US" sz="1400">
                <a:solidFill>
                  <a:srgbClr val="313131"/>
                </a:solidFill>
                <a:latin typeface="Arial" panose="020B0604020202020204" pitchFamily="34" charset="0"/>
                <a:cs typeface="Arial" panose="020B0604020202020204" pitchFamily="34" charset="0"/>
              </a:rPr>
              <a:t>Policy and regulatory outlook – focus on Electricity Bill and ERC Roadmap</a:t>
            </a:r>
          </a:p>
        </p:txBody>
      </p:sp>
      <p:sp>
        <p:nvSpPr>
          <p:cNvPr id="26" name="TextBox 25">
            <a:extLst>
              <a:ext uri="{FF2B5EF4-FFF2-40B4-BE49-F238E27FC236}">
                <a16:creationId xmlns:a16="http://schemas.microsoft.com/office/drawing/2014/main" id="{90EC3E43-C692-CA27-6588-3854EBD27F3F}"/>
              </a:ext>
            </a:extLst>
          </p:cNvPr>
          <p:cNvSpPr txBox="1"/>
          <p:nvPr/>
        </p:nvSpPr>
        <p:spPr>
          <a:xfrm>
            <a:off x="9048383" y="3878802"/>
            <a:ext cx="2641968" cy="2415914"/>
          </a:xfrm>
          <a:prstGeom prst="rect">
            <a:avLst/>
          </a:prstGeom>
          <a:solidFill>
            <a:schemeClr val="bg1">
              <a:lumMod val="95000"/>
            </a:schemeClr>
          </a:solidFill>
        </p:spPr>
        <p:txBody>
          <a:bodyPr wrap="square" lIns="91440" tIns="91440" rIns="91440" bIns="91440" rtlCol="0">
            <a:noAutofit/>
          </a:bodyPr>
          <a:lstStyle/>
          <a:p>
            <a:pPr marL="203200" indent="-203200" algn="just">
              <a:spcBef>
                <a:spcPts val="600"/>
              </a:spcBef>
              <a:buSzPct val="100000"/>
              <a:buFont typeface="Arial"/>
              <a:buChar char="•"/>
            </a:pPr>
            <a:r>
              <a:rPr lang="en-US" sz="1400">
                <a:solidFill>
                  <a:srgbClr val="313131"/>
                </a:solidFill>
                <a:latin typeface="Arial" panose="020B0604020202020204" pitchFamily="34" charset="0"/>
                <a:cs typeface="Arial" panose="020B0604020202020204" pitchFamily="34" charset="0"/>
              </a:rPr>
              <a:t>Assessment of the electricity demand and supply in India</a:t>
            </a:r>
          </a:p>
          <a:p>
            <a:pPr marL="203200" indent="-203200" algn="just">
              <a:spcBef>
                <a:spcPts val="600"/>
              </a:spcBef>
              <a:buSzPct val="100000"/>
              <a:buFont typeface="Arial"/>
              <a:buChar char="•"/>
            </a:pPr>
            <a:r>
              <a:rPr lang="en-US" sz="1400">
                <a:solidFill>
                  <a:srgbClr val="313131"/>
                </a:solidFill>
                <a:latin typeface="Arial" panose="020B0604020202020204" pitchFamily="34" charset="0"/>
                <a:cs typeface="Arial" panose="020B0604020202020204" pitchFamily="34" charset="0"/>
              </a:rPr>
              <a:t>Trends in the power market in India </a:t>
            </a:r>
          </a:p>
          <a:p>
            <a:pPr marL="203200" indent="-203200" algn="just">
              <a:spcBef>
                <a:spcPts val="600"/>
              </a:spcBef>
              <a:buSzPct val="100000"/>
              <a:buFont typeface="Arial"/>
              <a:buChar char="•"/>
            </a:pPr>
            <a:r>
              <a:rPr lang="en-US" sz="1400">
                <a:solidFill>
                  <a:srgbClr val="313131"/>
                </a:solidFill>
                <a:latin typeface="Arial" panose="020B0604020202020204" pitchFamily="34" charset="0"/>
                <a:cs typeface="Arial" panose="020B0604020202020204" pitchFamily="34" charset="0"/>
              </a:rPr>
              <a:t>Price analysis</a:t>
            </a:r>
          </a:p>
          <a:p>
            <a:pPr marL="203200" indent="-203200" algn="just">
              <a:spcBef>
                <a:spcPts val="600"/>
              </a:spcBef>
              <a:buSzPct val="100000"/>
              <a:buFont typeface="Arial"/>
              <a:buChar char="•"/>
            </a:pPr>
            <a:r>
              <a:rPr lang="en-US" sz="1400">
                <a:solidFill>
                  <a:srgbClr val="313131"/>
                </a:solidFill>
                <a:latin typeface="Arial" panose="020B0604020202020204" pitchFamily="34" charset="0"/>
                <a:cs typeface="Arial" panose="020B0604020202020204" pitchFamily="34" charset="0"/>
              </a:rPr>
              <a:t>Outlook of the pricing</a:t>
            </a:r>
          </a:p>
        </p:txBody>
      </p:sp>
      <p:sp>
        <p:nvSpPr>
          <p:cNvPr id="27" name="Oval 26">
            <a:extLst>
              <a:ext uri="{FF2B5EF4-FFF2-40B4-BE49-F238E27FC236}">
                <a16:creationId xmlns:a16="http://schemas.microsoft.com/office/drawing/2014/main" id="{83EDC242-1625-138C-B927-039644F2253F}"/>
              </a:ext>
            </a:extLst>
          </p:cNvPr>
          <p:cNvSpPr/>
          <p:nvPr/>
        </p:nvSpPr>
        <p:spPr bwMode="gray">
          <a:xfrm>
            <a:off x="1531257" y="1069172"/>
            <a:ext cx="365760" cy="365760"/>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rPr>
              <a:t>1</a:t>
            </a:r>
          </a:p>
        </p:txBody>
      </p:sp>
      <p:sp>
        <p:nvSpPr>
          <p:cNvPr id="28" name="Oval 27">
            <a:extLst>
              <a:ext uri="{FF2B5EF4-FFF2-40B4-BE49-F238E27FC236}">
                <a16:creationId xmlns:a16="http://schemas.microsoft.com/office/drawing/2014/main" id="{A550A49E-D69A-D8DF-5C63-4656C462CA80}"/>
              </a:ext>
            </a:extLst>
          </p:cNvPr>
          <p:cNvSpPr/>
          <p:nvPr/>
        </p:nvSpPr>
        <p:spPr bwMode="gray">
          <a:xfrm>
            <a:off x="4405363" y="1069172"/>
            <a:ext cx="365760" cy="365760"/>
          </a:xfrm>
          <a:prstGeom prst="ellipse">
            <a:avLst/>
          </a:prstGeom>
          <a:solidFill>
            <a:srgbClr val="53565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rPr>
              <a:t>2</a:t>
            </a:r>
          </a:p>
        </p:txBody>
      </p:sp>
      <p:sp>
        <p:nvSpPr>
          <p:cNvPr id="29" name="Oval 28">
            <a:extLst>
              <a:ext uri="{FF2B5EF4-FFF2-40B4-BE49-F238E27FC236}">
                <a16:creationId xmlns:a16="http://schemas.microsoft.com/office/drawing/2014/main" id="{B3994FB5-BC81-6536-C6E5-E5BD022BD55D}"/>
              </a:ext>
            </a:extLst>
          </p:cNvPr>
          <p:cNvSpPr/>
          <p:nvPr/>
        </p:nvSpPr>
        <p:spPr bwMode="gray">
          <a:xfrm>
            <a:off x="7272104" y="1069172"/>
            <a:ext cx="365760" cy="365760"/>
          </a:xfrm>
          <a:prstGeom prst="ellipse">
            <a:avLst/>
          </a:prstGeom>
          <a:solidFill>
            <a:srgbClr val="26890D"/>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rPr>
              <a:t>3</a:t>
            </a:r>
          </a:p>
        </p:txBody>
      </p:sp>
      <p:sp>
        <p:nvSpPr>
          <p:cNvPr id="30" name="Oval 29">
            <a:extLst>
              <a:ext uri="{FF2B5EF4-FFF2-40B4-BE49-F238E27FC236}">
                <a16:creationId xmlns:a16="http://schemas.microsoft.com/office/drawing/2014/main" id="{FE04E767-B3B7-FBCB-5230-569DC9F7B731}"/>
              </a:ext>
            </a:extLst>
          </p:cNvPr>
          <p:cNvSpPr/>
          <p:nvPr/>
        </p:nvSpPr>
        <p:spPr bwMode="gray">
          <a:xfrm>
            <a:off x="10137007" y="1069172"/>
            <a:ext cx="365760" cy="365760"/>
          </a:xfrm>
          <a:prstGeom prst="ellipse">
            <a:avLst/>
          </a:prstGeom>
          <a:solidFill>
            <a:srgbClr val="0000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rPr>
              <a:t>4</a:t>
            </a:r>
          </a:p>
        </p:txBody>
      </p:sp>
    </p:spTree>
    <p:extLst>
      <p:ext uri="{BB962C8B-B14F-4D97-AF65-F5344CB8AC3E}">
        <p14:creationId xmlns:p14="http://schemas.microsoft.com/office/powerpoint/2010/main" val="3654454948"/>
      </p:ext>
    </p:extLst>
  </p:cSld>
  <p:clrMapOvr>
    <a:masterClrMapping/>
  </p:clrMapOvr>
  <p:transition>
    <p:fade/>
  </p:transition>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accent4">
            <a:lumMod val="50000"/>
          </a:schemeClr>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4142827146"/>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1663983631"/>
              </p:ext>
            </p:extLst>
          </p:nvPr>
        </p:nvGraphicFramePr>
        <p:xfrm>
          <a:off x="2189682" y="2951947"/>
          <a:ext cx="8509002" cy="954106"/>
        </p:xfrm>
        <a:graphic>
          <a:graphicData uri="http://schemas.openxmlformats.org/drawingml/2006/table">
            <a:tbl>
              <a:tblPr firstRow="1" bandRow="1">
                <a:tableStyleId>{5C22544A-7EE6-4342-B048-85BDC9FD1C3A}</a:tableStyleId>
              </a:tblPr>
              <a:tblGrid>
                <a:gridCol w="3164033">
                  <a:extLst>
                    <a:ext uri="{9D8B030D-6E8A-4147-A177-3AD203B41FA5}">
                      <a16:colId xmlns:a16="http://schemas.microsoft.com/office/drawing/2014/main" val="2744717436"/>
                    </a:ext>
                  </a:extLst>
                </a:gridCol>
                <a:gridCol w="5344969">
                  <a:extLst>
                    <a:ext uri="{9D8B030D-6E8A-4147-A177-3AD203B41FA5}">
                      <a16:colId xmlns:a16="http://schemas.microsoft.com/office/drawing/2014/main" val="570884867"/>
                    </a:ext>
                  </a:extLst>
                </a:gridCol>
              </a:tblGrid>
              <a:tr h="954106">
                <a:tc>
                  <a:txBody>
                    <a:bodyPr/>
                    <a:lstStyle/>
                    <a:p>
                      <a:r>
                        <a:rPr lang="en-US" sz="3600">
                          <a:latin typeface="Arial" panose="020B0604020202020204" pitchFamily="34" charset="0"/>
                          <a:cs typeface="Arial" panose="020B0604020202020204" pitchFamily="34" charset="0"/>
                        </a:rPr>
                        <a:t>CHAPTER 2</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398463" indent="0"/>
                      <a:r>
                        <a:rPr lang="en-US" sz="2400">
                          <a:latin typeface="Arial" panose="020B0604020202020204" pitchFamily="34" charset="0"/>
                          <a:cs typeface="Arial" panose="020B0604020202020204" pitchFamily="34" charset="0"/>
                        </a:rPr>
                        <a:t>CURRENT STATE ASSESSMENT</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2445538933"/>
      </p:ext>
    </p:extLst>
  </p:cSld>
  <p:clrMapOvr>
    <a:masterClrMapping/>
  </p:clrMapOvr>
  <p:transition>
    <p:fade/>
  </p:transition>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188225500"/>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723768523"/>
              </p:ext>
            </p:extLst>
          </p:nvPr>
        </p:nvGraphicFramePr>
        <p:xfrm>
          <a:off x="1673719" y="2761586"/>
          <a:ext cx="9206802" cy="1334828"/>
        </p:xfrm>
        <a:graphic>
          <a:graphicData uri="http://schemas.openxmlformats.org/drawingml/2006/table">
            <a:tbl>
              <a:tblPr firstRow="1" bandRow="1">
                <a:tableStyleId>{5C22544A-7EE6-4342-B048-85BDC9FD1C3A}</a:tableStyleId>
              </a:tblPr>
              <a:tblGrid>
                <a:gridCol w="2898281">
                  <a:extLst>
                    <a:ext uri="{9D8B030D-6E8A-4147-A177-3AD203B41FA5}">
                      <a16:colId xmlns:a16="http://schemas.microsoft.com/office/drawing/2014/main" val="2744717436"/>
                    </a:ext>
                  </a:extLst>
                </a:gridCol>
                <a:gridCol w="6308521">
                  <a:extLst>
                    <a:ext uri="{9D8B030D-6E8A-4147-A177-3AD203B41FA5}">
                      <a16:colId xmlns:a16="http://schemas.microsoft.com/office/drawing/2014/main" val="570884867"/>
                    </a:ext>
                  </a:extLst>
                </a:gridCol>
              </a:tblGrid>
              <a:tr h="1334828">
                <a:tc>
                  <a:txBody>
                    <a:bodyPr/>
                    <a:lstStyle/>
                    <a:p>
                      <a:r>
                        <a:rPr lang="en-US" sz="3600">
                          <a:latin typeface="Arial" panose="020B0604020202020204" pitchFamily="34" charset="0"/>
                          <a:cs typeface="Arial" panose="020B0604020202020204" pitchFamily="34" charset="0"/>
                        </a:rPr>
                        <a:t>2.1</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398463" indent="0"/>
                      <a:r>
                        <a:rPr lang="en-US" sz="2400">
                          <a:latin typeface="Arial" panose="020B0604020202020204" pitchFamily="34" charset="0"/>
                          <a:cs typeface="Arial" panose="020B0604020202020204" pitchFamily="34" charset="0"/>
                        </a:rPr>
                        <a:t>AS-IS ASSESSMENT OF ELECTRICITY SECTOR IN NEPAL </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2671320142"/>
      </p:ext>
    </p:extLst>
  </p:cSld>
  <p:clrMapOvr>
    <a:masterClrMapping/>
  </p:clrMapOvr>
  <p:transition>
    <p:fade/>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 name="think-cell data - do not delete" hidden="1">
            <a:extLst>
              <a:ext uri="{FF2B5EF4-FFF2-40B4-BE49-F238E27FC236}">
                <a16:creationId xmlns:a16="http://schemas.microsoft.com/office/drawing/2014/main" id="{20A80B32-F209-B7E9-141A-3C8F72D567FA}"/>
              </a:ext>
            </a:extLst>
          </p:cNvPr>
          <p:cNvGraphicFramePr>
            <a:graphicFrameLocks noChangeAspect="1"/>
          </p:cNvGraphicFramePr>
          <p:nvPr>
            <p:custDataLst>
              <p:tags r:id="rId1"/>
            </p:custDataLst>
            <p:extLst>
              <p:ext uri="{D42A27DB-BD31-4B8C-83A1-F6EECF244321}">
                <p14:modId xmlns:p14="http://schemas.microsoft.com/office/powerpoint/2010/main" val="411890573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52" name="think-cell data - do not delete" hidden="1">
                        <a:extLst>
                          <a:ext uri="{FF2B5EF4-FFF2-40B4-BE49-F238E27FC236}">
                            <a16:creationId xmlns:a16="http://schemas.microsoft.com/office/drawing/2014/main" id="{20A80B32-F209-B7E9-141A-3C8F72D567F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8" name="Group 7">
            <a:extLst>
              <a:ext uri="{FF2B5EF4-FFF2-40B4-BE49-F238E27FC236}">
                <a16:creationId xmlns:a16="http://schemas.microsoft.com/office/drawing/2014/main" id="{9232EECB-D389-82C6-09B9-1DF8CFE39756}"/>
              </a:ext>
            </a:extLst>
          </p:cNvPr>
          <p:cNvGrpSpPr/>
          <p:nvPr/>
        </p:nvGrpSpPr>
        <p:grpSpPr>
          <a:xfrm>
            <a:off x="534282" y="2268542"/>
            <a:ext cx="11261277" cy="996696"/>
            <a:chOff x="449264" y="2864198"/>
            <a:chExt cx="9791699" cy="913177"/>
          </a:xfrm>
        </p:grpSpPr>
        <p:grpSp>
          <p:nvGrpSpPr>
            <p:cNvPr id="9" name="Group 8">
              <a:extLst>
                <a:ext uri="{FF2B5EF4-FFF2-40B4-BE49-F238E27FC236}">
                  <a16:creationId xmlns:a16="http://schemas.microsoft.com/office/drawing/2014/main" id="{95A31486-5D08-0AA9-3F7B-94AC426403C7}"/>
                </a:ext>
              </a:extLst>
            </p:cNvPr>
            <p:cNvGrpSpPr/>
            <p:nvPr/>
          </p:nvGrpSpPr>
          <p:grpSpPr>
            <a:xfrm>
              <a:off x="449264" y="2864198"/>
              <a:ext cx="9791699" cy="913177"/>
              <a:chOff x="449264" y="2994660"/>
              <a:chExt cx="9791699" cy="238781"/>
            </a:xfrm>
          </p:grpSpPr>
          <p:sp>
            <p:nvSpPr>
              <p:cNvPr id="21" name="Rectangle 20">
                <a:extLst>
                  <a:ext uri="{FF2B5EF4-FFF2-40B4-BE49-F238E27FC236}">
                    <a16:creationId xmlns:a16="http://schemas.microsoft.com/office/drawing/2014/main" id="{17C54474-3C15-B320-A7DD-AD2269710601}"/>
                  </a:ext>
                </a:extLst>
              </p:cNvPr>
              <p:cNvSpPr/>
              <p:nvPr/>
            </p:nvSpPr>
            <p:spPr bwMode="gray">
              <a:xfrm>
                <a:off x="449264" y="2994660"/>
                <a:ext cx="1482406" cy="238781"/>
              </a:xfrm>
              <a:prstGeom prst="rect">
                <a:avLst/>
              </a:prstGeom>
              <a:solidFill>
                <a:schemeClr val="accent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a:ln>
                      <a:noFill/>
                    </a:ln>
                    <a:solidFill>
                      <a:prstClr val="white"/>
                    </a:solidFill>
                    <a:effectLst/>
                    <a:uLnTx/>
                    <a:uFillTx/>
                    <a:latin typeface="Verdana"/>
                    <a:ea typeface="+mn-ea"/>
                    <a:cs typeface="+mn-cs"/>
                  </a:rPr>
                  <a:t>Generation</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a:ln>
                      <a:noFill/>
                    </a:ln>
                    <a:solidFill>
                      <a:prstClr val="white"/>
                    </a:solidFill>
                    <a:effectLst/>
                    <a:uLnTx/>
                    <a:uFillTx/>
                    <a:latin typeface="Verdana"/>
                    <a:ea typeface="+mn-ea"/>
                    <a:cs typeface="+mn-cs"/>
                  </a:rPr>
                  <a:t>(3157 MW)</a:t>
                </a:r>
              </a:p>
            </p:txBody>
          </p:sp>
          <p:sp>
            <p:nvSpPr>
              <p:cNvPr id="22" name="Rectangle 21">
                <a:extLst>
                  <a:ext uri="{FF2B5EF4-FFF2-40B4-BE49-F238E27FC236}">
                    <a16:creationId xmlns:a16="http://schemas.microsoft.com/office/drawing/2014/main" id="{64AB7F13-B813-E9CB-20E5-1CCD7EE65CD9}"/>
                  </a:ext>
                </a:extLst>
              </p:cNvPr>
              <p:cNvSpPr/>
              <p:nvPr/>
            </p:nvSpPr>
            <p:spPr bwMode="gray">
              <a:xfrm>
                <a:off x="1931670" y="2994660"/>
                <a:ext cx="8309293" cy="238781"/>
              </a:xfrm>
              <a:prstGeom prst="rect">
                <a:avLst/>
              </a:prstGeom>
              <a:solidFill>
                <a:schemeClr val="accent5">
                  <a:alpha val="17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a:ln>
                    <a:noFill/>
                  </a:ln>
                  <a:solidFill>
                    <a:prstClr val="white"/>
                  </a:solidFill>
                  <a:effectLst/>
                  <a:uLnTx/>
                  <a:uFillTx/>
                  <a:latin typeface="Verdana"/>
                  <a:ea typeface="+mn-ea"/>
                  <a:cs typeface="+mn-cs"/>
                </a:endParaRPr>
              </a:p>
            </p:txBody>
          </p:sp>
        </p:grpSp>
        <p:sp>
          <p:nvSpPr>
            <p:cNvPr id="16" name="Rectangle 15">
              <a:extLst>
                <a:ext uri="{FF2B5EF4-FFF2-40B4-BE49-F238E27FC236}">
                  <a16:creationId xmlns:a16="http://schemas.microsoft.com/office/drawing/2014/main" id="{B62744F5-9AEB-E9F6-A9F9-DC042EED7E2B}"/>
                </a:ext>
              </a:extLst>
            </p:cNvPr>
            <p:cNvSpPr/>
            <p:nvPr/>
          </p:nvSpPr>
          <p:spPr bwMode="gray">
            <a:xfrm>
              <a:off x="2610096" y="3053568"/>
              <a:ext cx="3021275" cy="502666"/>
            </a:xfrm>
            <a:prstGeom prst="rect">
              <a:avLst/>
            </a:prstGeom>
            <a:solidFill>
              <a:srgbClr val="FFFFFF"/>
            </a:solidFill>
            <a:ln>
              <a:solidFill>
                <a:schemeClr val="accent5"/>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Verdana"/>
                  <a:ea typeface="+mn-ea"/>
                  <a:cs typeface="+mn-cs"/>
                </a:rPr>
                <a:t>Nepal Electricity Authority</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lang="en-US" sz="900" b="1">
                  <a:solidFill>
                    <a:sysClr val="windowText" lastClr="000000"/>
                  </a:solidFill>
                  <a:latin typeface="Verdana"/>
                </a:rPr>
                <a:t>(661.57 MW)</a:t>
              </a:r>
              <a:endParaRPr kumimoji="0" lang="en-US" sz="900" b="1" i="0" u="none" strike="noStrike" kern="1200" cap="none" spc="0" normalizeH="0" baseline="0" noProof="0">
                <a:ln>
                  <a:noFill/>
                </a:ln>
                <a:solidFill>
                  <a:sysClr val="windowText" lastClr="000000"/>
                </a:solidFill>
                <a:effectLst/>
                <a:uLnTx/>
                <a:uFillTx/>
                <a:latin typeface="Verdana"/>
                <a:ea typeface="+mn-ea"/>
                <a:cs typeface="+mn-cs"/>
              </a:endParaRPr>
            </a:p>
          </p:txBody>
        </p:sp>
        <p:sp>
          <p:nvSpPr>
            <p:cNvPr id="17" name="Rectangle 16">
              <a:extLst>
                <a:ext uri="{FF2B5EF4-FFF2-40B4-BE49-F238E27FC236}">
                  <a16:creationId xmlns:a16="http://schemas.microsoft.com/office/drawing/2014/main" id="{FDE57DE8-5212-9792-F965-ED0C8F1B13E4}"/>
                </a:ext>
              </a:extLst>
            </p:cNvPr>
            <p:cNvSpPr/>
            <p:nvPr/>
          </p:nvSpPr>
          <p:spPr bwMode="gray">
            <a:xfrm>
              <a:off x="6511393" y="3051465"/>
              <a:ext cx="3021275" cy="502666"/>
            </a:xfrm>
            <a:prstGeom prst="rect">
              <a:avLst/>
            </a:prstGeom>
            <a:solidFill>
              <a:srgbClr val="FFFFFF"/>
            </a:solidFill>
            <a:ln>
              <a:solidFill>
                <a:srgbClr val="0070C0"/>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Verdana"/>
                  <a:ea typeface="+mn-ea"/>
                  <a:cs typeface="+mn-cs"/>
                </a:rPr>
                <a:t>Independent Power Producers</a:t>
              </a:r>
            </a:p>
            <a:p>
              <a:pPr algn="ctr" defTabSz="787481">
                <a:lnSpc>
                  <a:spcPct val="106000"/>
                </a:lnSpc>
                <a:defRPr/>
              </a:pPr>
              <a:r>
                <a:rPr lang="en-US" sz="900" b="1">
                  <a:solidFill>
                    <a:sysClr val="windowText" lastClr="000000"/>
                  </a:solidFill>
                  <a:latin typeface="Verdana"/>
                </a:rPr>
                <a:t>(2495.61MW)</a:t>
              </a:r>
              <a:endParaRPr kumimoji="0" lang="en-US" sz="900" b="1" i="0" u="none" strike="noStrike" kern="1200" cap="none" spc="0" normalizeH="0" baseline="0" noProof="0">
                <a:ln>
                  <a:noFill/>
                </a:ln>
                <a:solidFill>
                  <a:sysClr val="windowText" lastClr="000000"/>
                </a:solidFill>
                <a:effectLst/>
                <a:uLnTx/>
                <a:uFillTx/>
                <a:latin typeface="Verdana"/>
                <a:ea typeface="+mn-ea"/>
                <a:cs typeface="+mn-cs"/>
              </a:endParaRPr>
            </a:p>
          </p:txBody>
        </p:sp>
      </p:grpSp>
      <p:grpSp>
        <p:nvGrpSpPr>
          <p:cNvPr id="23" name="Group 22">
            <a:extLst>
              <a:ext uri="{FF2B5EF4-FFF2-40B4-BE49-F238E27FC236}">
                <a16:creationId xmlns:a16="http://schemas.microsoft.com/office/drawing/2014/main" id="{901A351C-DB2C-D811-461E-A54CFBCDE8A9}"/>
              </a:ext>
            </a:extLst>
          </p:cNvPr>
          <p:cNvGrpSpPr/>
          <p:nvPr/>
        </p:nvGrpSpPr>
        <p:grpSpPr>
          <a:xfrm>
            <a:off x="514884" y="3366593"/>
            <a:ext cx="11261277" cy="1003291"/>
            <a:chOff x="432398" y="4312886"/>
            <a:chExt cx="9791699" cy="919219"/>
          </a:xfrm>
        </p:grpSpPr>
        <p:grpSp>
          <p:nvGrpSpPr>
            <p:cNvPr id="24" name="Group 23">
              <a:extLst>
                <a:ext uri="{FF2B5EF4-FFF2-40B4-BE49-F238E27FC236}">
                  <a16:creationId xmlns:a16="http://schemas.microsoft.com/office/drawing/2014/main" id="{E6A8BB09-7B20-4BA6-FBC1-EDE13037F6A5}"/>
                </a:ext>
              </a:extLst>
            </p:cNvPr>
            <p:cNvGrpSpPr/>
            <p:nvPr/>
          </p:nvGrpSpPr>
          <p:grpSpPr>
            <a:xfrm>
              <a:off x="432398" y="4312886"/>
              <a:ext cx="9791699" cy="919219"/>
              <a:chOff x="449264" y="3763859"/>
              <a:chExt cx="9791699" cy="746494"/>
            </a:xfrm>
          </p:grpSpPr>
          <p:sp>
            <p:nvSpPr>
              <p:cNvPr id="27" name="Rectangle 26">
                <a:extLst>
                  <a:ext uri="{FF2B5EF4-FFF2-40B4-BE49-F238E27FC236}">
                    <a16:creationId xmlns:a16="http://schemas.microsoft.com/office/drawing/2014/main" id="{B6B44569-385F-F1FF-AB9C-F620A801874C}"/>
                  </a:ext>
                </a:extLst>
              </p:cNvPr>
              <p:cNvSpPr/>
              <p:nvPr/>
            </p:nvSpPr>
            <p:spPr bwMode="gray">
              <a:xfrm>
                <a:off x="449264" y="3768766"/>
                <a:ext cx="1482406" cy="741587"/>
              </a:xfrm>
              <a:prstGeom prst="rect">
                <a:avLst/>
              </a:prstGeom>
              <a:solidFill>
                <a:schemeClr val="accent4"/>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a:ln>
                      <a:noFill/>
                    </a:ln>
                    <a:solidFill>
                      <a:prstClr val="white"/>
                    </a:solidFill>
                    <a:effectLst/>
                    <a:uLnTx/>
                    <a:uFillTx/>
                    <a:latin typeface="Verdana"/>
                    <a:ea typeface="+mn-ea"/>
                    <a:cs typeface="+mn-cs"/>
                  </a:rPr>
                  <a:t>Single Buyer</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a:ln>
                      <a:noFill/>
                    </a:ln>
                    <a:solidFill>
                      <a:prstClr val="white"/>
                    </a:solidFill>
                    <a:effectLst/>
                    <a:uLnTx/>
                    <a:uFillTx/>
                    <a:latin typeface="Verdana"/>
                    <a:ea typeface="+mn-ea"/>
                    <a:cs typeface="+mn-cs"/>
                  </a:rPr>
                  <a:t>Purchase</a:t>
                </a:r>
                <a:endParaRPr kumimoji="0" lang="en-IN" sz="1000" b="1" i="0" u="none" strike="noStrike" kern="1200" cap="none" spc="0" normalizeH="0" baseline="0" noProof="0">
                  <a:ln>
                    <a:noFill/>
                  </a:ln>
                  <a:solidFill>
                    <a:prstClr val="white"/>
                  </a:solidFill>
                  <a:effectLst/>
                  <a:uLnTx/>
                  <a:uFillTx/>
                  <a:latin typeface="Verdana"/>
                  <a:ea typeface="+mn-ea"/>
                  <a:cs typeface="+mn-cs"/>
                </a:endParaRPr>
              </a:p>
            </p:txBody>
          </p:sp>
          <p:sp>
            <p:nvSpPr>
              <p:cNvPr id="28" name="Rectangle 27">
                <a:extLst>
                  <a:ext uri="{FF2B5EF4-FFF2-40B4-BE49-F238E27FC236}">
                    <a16:creationId xmlns:a16="http://schemas.microsoft.com/office/drawing/2014/main" id="{FE5B76E8-3A9C-582B-1C12-868AAC2A00DA}"/>
                  </a:ext>
                </a:extLst>
              </p:cNvPr>
              <p:cNvSpPr/>
              <p:nvPr/>
            </p:nvSpPr>
            <p:spPr bwMode="gray">
              <a:xfrm>
                <a:off x="1931670" y="3763859"/>
                <a:ext cx="8309293" cy="741587"/>
              </a:xfrm>
              <a:prstGeom prst="rect">
                <a:avLst/>
              </a:prstGeom>
              <a:solidFill>
                <a:schemeClr val="accent4">
                  <a:alpha val="7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a:ln>
                    <a:noFill/>
                  </a:ln>
                  <a:solidFill>
                    <a:prstClr val="white"/>
                  </a:solidFill>
                  <a:effectLst/>
                  <a:uLnTx/>
                  <a:uFillTx/>
                  <a:latin typeface="Verdana"/>
                  <a:ea typeface="+mn-ea"/>
                  <a:cs typeface="+mn-cs"/>
                </a:endParaRPr>
              </a:p>
            </p:txBody>
          </p:sp>
        </p:grpSp>
        <p:sp>
          <p:nvSpPr>
            <p:cNvPr id="25" name="Rectangle 24">
              <a:extLst>
                <a:ext uri="{FF2B5EF4-FFF2-40B4-BE49-F238E27FC236}">
                  <a16:creationId xmlns:a16="http://schemas.microsoft.com/office/drawing/2014/main" id="{A64F4333-682D-3CE9-678C-D56E890F288F}"/>
                </a:ext>
              </a:extLst>
            </p:cNvPr>
            <p:cNvSpPr/>
            <p:nvPr/>
          </p:nvSpPr>
          <p:spPr bwMode="gray">
            <a:xfrm>
              <a:off x="4489351" y="4498532"/>
              <a:ext cx="3443914" cy="502666"/>
            </a:xfrm>
            <a:prstGeom prst="rect">
              <a:avLst/>
            </a:prstGeom>
            <a:ln>
              <a:solidFill>
                <a:schemeClr val="accent4"/>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Verdana"/>
                  <a:ea typeface="+mn-ea"/>
                  <a:cs typeface="+mn-cs"/>
                </a:rPr>
                <a:t>Nepal Electricity Authority</a:t>
              </a:r>
              <a:endParaRPr kumimoji="0" lang="en-IN" sz="900" b="1" i="0" u="none" strike="noStrike" kern="1200" cap="none" spc="0" normalizeH="0" baseline="0" noProof="0">
                <a:ln>
                  <a:noFill/>
                </a:ln>
                <a:solidFill>
                  <a:sysClr val="windowText" lastClr="000000"/>
                </a:solidFill>
                <a:effectLst/>
                <a:uLnTx/>
                <a:uFillTx/>
                <a:latin typeface="Verdana"/>
                <a:ea typeface="+mn-ea"/>
                <a:cs typeface="+mn-cs"/>
              </a:endParaRPr>
            </a:p>
          </p:txBody>
        </p:sp>
      </p:grpSp>
      <p:grpSp>
        <p:nvGrpSpPr>
          <p:cNvPr id="30" name="Group 29">
            <a:extLst>
              <a:ext uri="{FF2B5EF4-FFF2-40B4-BE49-F238E27FC236}">
                <a16:creationId xmlns:a16="http://schemas.microsoft.com/office/drawing/2014/main" id="{C2AAC941-40EF-806E-5858-A1EBEAB948E5}"/>
              </a:ext>
            </a:extLst>
          </p:cNvPr>
          <p:cNvGrpSpPr/>
          <p:nvPr/>
        </p:nvGrpSpPr>
        <p:grpSpPr>
          <a:xfrm>
            <a:off x="514884" y="4471239"/>
            <a:ext cx="11261280" cy="996697"/>
            <a:chOff x="449264" y="4533060"/>
            <a:chExt cx="9791699" cy="756465"/>
          </a:xfrm>
        </p:grpSpPr>
        <p:sp>
          <p:nvSpPr>
            <p:cNvPr id="33" name="Rectangle 32">
              <a:extLst>
                <a:ext uri="{FF2B5EF4-FFF2-40B4-BE49-F238E27FC236}">
                  <a16:creationId xmlns:a16="http://schemas.microsoft.com/office/drawing/2014/main" id="{96BF9E64-CE7E-0917-7899-01A5EADABB96}"/>
                </a:ext>
              </a:extLst>
            </p:cNvPr>
            <p:cNvSpPr/>
            <p:nvPr/>
          </p:nvSpPr>
          <p:spPr bwMode="gray">
            <a:xfrm>
              <a:off x="449264" y="4533060"/>
              <a:ext cx="1482406" cy="756465"/>
            </a:xfrm>
            <a:prstGeom prst="rect">
              <a:avLst/>
            </a:prstGeom>
            <a:solidFill>
              <a:schemeClr val="accent1"/>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a:ln>
                    <a:noFill/>
                  </a:ln>
                  <a:solidFill>
                    <a:prstClr val="white"/>
                  </a:solidFill>
                  <a:effectLst/>
                  <a:uLnTx/>
                  <a:uFillTx/>
                  <a:latin typeface="Verdana"/>
                  <a:ea typeface="+mn-ea"/>
                  <a:cs typeface="+mn-cs"/>
                </a:rPr>
                <a:t>Transmission</a:t>
              </a:r>
            </a:p>
          </p:txBody>
        </p:sp>
        <p:sp>
          <p:nvSpPr>
            <p:cNvPr id="34" name="Rectangle 33">
              <a:extLst>
                <a:ext uri="{FF2B5EF4-FFF2-40B4-BE49-F238E27FC236}">
                  <a16:creationId xmlns:a16="http://schemas.microsoft.com/office/drawing/2014/main" id="{A73CDC95-74AC-19B5-2B1D-931B66EF7F88}"/>
                </a:ext>
              </a:extLst>
            </p:cNvPr>
            <p:cNvSpPr/>
            <p:nvPr/>
          </p:nvSpPr>
          <p:spPr bwMode="gray">
            <a:xfrm>
              <a:off x="1931670" y="4533060"/>
              <a:ext cx="8309293" cy="756464"/>
            </a:xfrm>
            <a:prstGeom prst="rect">
              <a:avLst/>
            </a:prstGeom>
            <a:solidFill>
              <a:schemeClr val="accent1">
                <a:alpha val="17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a:ln>
                  <a:noFill/>
                </a:ln>
                <a:solidFill>
                  <a:prstClr val="white"/>
                </a:solidFill>
                <a:effectLst/>
                <a:uLnTx/>
                <a:uFillTx/>
                <a:latin typeface="Verdana"/>
                <a:ea typeface="+mn-ea"/>
                <a:cs typeface="+mn-cs"/>
              </a:endParaRPr>
            </a:p>
          </p:txBody>
        </p:sp>
      </p:grpSp>
      <p:grpSp>
        <p:nvGrpSpPr>
          <p:cNvPr id="36" name="Group 35">
            <a:extLst>
              <a:ext uri="{FF2B5EF4-FFF2-40B4-BE49-F238E27FC236}">
                <a16:creationId xmlns:a16="http://schemas.microsoft.com/office/drawing/2014/main" id="{8F2932A9-C578-C4C6-CAB0-A07C0A4B1695}"/>
              </a:ext>
            </a:extLst>
          </p:cNvPr>
          <p:cNvGrpSpPr/>
          <p:nvPr/>
        </p:nvGrpSpPr>
        <p:grpSpPr>
          <a:xfrm>
            <a:off x="514884" y="5569292"/>
            <a:ext cx="11261280" cy="996695"/>
            <a:chOff x="449264" y="5283083"/>
            <a:chExt cx="9791699" cy="377975"/>
          </a:xfrm>
        </p:grpSpPr>
        <p:sp>
          <p:nvSpPr>
            <p:cNvPr id="44" name="Rectangle 43">
              <a:extLst>
                <a:ext uri="{FF2B5EF4-FFF2-40B4-BE49-F238E27FC236}">
                  <a16:creationId xmlns:a16="http://schemas.microsoft.com/office/drawing/2014/main" id="{48CFD072-8CE8-5F38-7175-EF1D3153DEF6}"/>
                </a:ext>
              </a:extLst>
            </p:cNvPr>
            <p:cNvSpPr/>
            <p:nvPr/>
          </p:nvSpPr>
          <p:spPr bwMode="gray">
            <a:xfrm>
              <a:off x="449264" y="5283083"/>
              <a:ext cx="1482406" cy="377975"/>
            </a:xfrm>
            <a:prstGeom prst="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a:ln>
                    <a:noFill/>
                  </a:ln>
                  <a:solidFill>
                    <a:prstClr val="white"/>
                  </a:solidFill>
                  <a:effectLst/>
                  <a:uLnTx/>
                  <a:uFillTx/>
                  <a:latin typeface="Verdana"/>
                  <a:ea typeface="+mn-ea"/>
                  <a:cs typeface="+mn-cs"/>
                </a:rPr>
                <a:t>Distribution</a:t>
              </a:r>
            </a:p>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lang="en-US" sz="1000" b="1">
                  <a:solidFill>
                    <a:prstClr val="white"/>
                  </a:solidFill>
                  <a:latin typeface="Verdana"/>
                </a:rPr>
                <a:t>Sales </a:t>
              </a:r>
              <a:endParaRPr kumimoji="0" lang="en-US" sz="1000" b="1" i="0" u="none" strike="noStrike" kern="1200" cap="none" spc="0" normalizeH="0" baseline="0" noProof="0">
                <a:ln>
                  <a:noFill/>
                </a:ln>
                <a:solidFill>
                  <a:prstClr val="white"/>
                </a:solidFill>
                <a:effectLst/>
                <a:uLnTx/>
                <a:uFillTx/>
                <a:latin typeface="Verdana"/>
                <a:ea typeface="+mn-ea"/>
                <a:cs typeface="+mn-cs"/>
              </a:endParaRPr>
            </a:p>
          </p:txBody>
        </p:sp>
        <p:sp>
          <p:nvSpPr>
            <p:cNvPr id="45" name="Rectangle 44">
              <a:extLst>
                <a:ext uri="{FF2B5EF4-FFF2-40B4-BE49-F238E27FC236}">
                  <a16:creationId xmlns:a16="http://schemas.microsoft.com/office/drawing/2014/main" id="{0B787590-1455-92C3-D46E-F98F02A56F2B}"/>
                </a:ext>
              </a:extLst>
            </p:cNvPr>
            <p:cNvSpPr/>
            <p:nvPr/>
          </p:nvSpPr>
          <p:spPr bwMode="gray">
            <a:xfrm>
              <a:off x="1931670" y="5283083"/>
              <a:ext cx="8309293" cy="377975"/>
            </a:xfrm>
            <a:prstGeom prst="rect">
              <a:avLst/>
            </a:prstGeom>
            <a:solidFill>
              <a:schemeClr val="accent6">
                <a:alpha val="15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a:ln>
                  <a:noFill/>
                </a:ln>
                <a:solidFill>
                  <a:prstClr val="white"/>
                </a:solidFill>
                <a:effectLst/>
                <a:uLnTx/>
                <a:uFillTx/>
                <a:latin typeface="Verdana"/>
                <a:ea typeface="+mn-ea"/>
                <a:cs typeface="+mn-cs"/>
              </a:endParaRPr>
            </a:p>
          </p:txBody>
        </p:sp>
      </p:grpSp>
      <p:sp>
        <p:nvSpPr>
          <p:cNvPr id="46" name="Down Arrow 62">
            <a:extLst>
              <a:ext uri="{FF2B5EF4-FFF2-40B4-BE49-F238E27FC236}">
                <a16:creationId xmlns:a16="http://schemas.microsoft.com/office/drawing/2014/main" id="{56B03003-A289-5EC3-A545-700346A44958}"/>
              </a:ext>
            </a:extLst>
          </p:cNvPr>
          <p:cNvSpPr/>
          <p:nvPr/>
        </p:nvSpPr>
        <p:spPr bwMode="gray">
          <a:xfrm>
            <a:off x="6779945" y="3168992"/>
            <a:ext cx="539310" cy="320273"/>
          </a:xfrm>
          <a:prstGeom prst="downArrow">
            <a:avLst/>
          </a:prstGeom>
          <a:solidFill>
            <a:schemeClr val="accent5"/>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a:ln>
                <a:noFill/>
              </a:ln>
              <a:solidFill>
                <a:prstClr val="white"/>
              </a:solidFill>
              <a:effectLst/>
              <a:uLnTx/>
              <a:uFillTx/>
              <a:latin typeface="Verdana"/>
              <a:ea typeface="+mn-ea"/>
              <a:cs typeface="+mn-cs"/>
            </a:endParaRPr>
          </a:p>
        </p:txBody>
      </p:sp>
      <p:sp>
        <p:nvSpPr>
          <p:cNvPr id="47" name="Down Arrow 68">
            <a:extLst>
              <a:ext uri="{FF2B5EF4-FFF2-40B4-BE49-F238E27FC236}">
                <a16:creationId xmlns:a16="http://schemas.microsoft.com/office/drawing/2014/main" id="{D8071F87-F4D7-861B-D611-3DBAD55E2D69}"/>
              </a:ext>
            </a:extLst>
          </p:cNvPr>
          <p:cNvSpPr/>
          <p:nvPr/>
        </p:nvSpPr>
        <p:spPr bwMode="gray">
          <a:xfrm>
            <a:off x="6779945" y="4267043"/>
            <a:ext cx="539310" cy="320273"/>
          </a:xfrm>
          <a:prstGeom prst="downArrow">
            <a:avLst/>
          </a:prstGeom>
          <a:solidFill>
            <a:schemeClr val="accent4"/>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a:ln>
                <a:noFill/>
              </a:ln>
              <a:solidFill>
                <a:prstClr val="white"/>
              </a:solidFill>
              <a:effectLst/>
              <a:uLnTx/>
              <a:uFillTx/>
              <a:latin typeface="Verdana"/>
              <a:ea typeface="+mn-ea"/>
              <a:cs typeface="+mn-cs"/>
            </a:endParaRPr>
          </a:p>
        </p:txBody>
      </p:sp>
      <p:sp>
        <p:nvSpPr>
          <p:cNvPr id="48" name="Down Arrow 69">
            <a:extLst>
              <a:ext uri="{FF2B5EF4-FFF2-40B4-BE49-F238E27FC236}">
                <a16:creationId xmlns:a16="http://schemas.microsoft.com/office/drawing/2014/main" id="{48EBA56F-8C5F-93B1-8C73-608848793790}"/>
              </a:ext>
            </a:extLst>
          </p:cNvPr>
          <p:cNvSpPr/>
          <p:nvPr/>
        </p:nvSpPr>
        <p:spPr bwMode="gray">
          <a:xfrm>
            <a:off x="6779945" y="5422367"/>
            <a:ext cx="539310" cy="320273"/>
          </a:xfrm>
          <a:prstGeom prst="downArrow">
            <a:avLst/>
          </a:prstGeom>
          <a:solidFill>
            <a:schemeClr val="accent1"/>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a:ln>
                <a:noFill/>
              </a:ln>
              <a:solidFill>
                <a:prstClr val="white"/>
              </a:solidFill>
              <a:effectLst/>
              <a:uLnTx/>
              <a:uFillTx/>
              <a:latin typeface="Verdana"/>
              <a:ea typeface="+mn-ea"/>
              <a:cs typeface="+mn-cs"/>
            </a:endParaRPr>
          </a:p>
        </p:txBody>
      </p:sp>
      <p:grpSp>
        <p:nvGrpSpPr>
          <p:cNvPr id="70" name="Group 69">
            <a:extLst>
              <a:ext uri="{FF2B5EF4-FFF2-40B4-BE49-F238E27FC236}">
                <a16:creationId xmlns:a16="http://schemas.microsoft.com/office/drawing/2014/main" id="{6D7A6EC0-11E9-50E1-8594-C69F0622DD3C}"/>
              </a:ext>
            </a:extLst>
          </p:cNvPr>
          <p:cNvGrpSpPr/>
          <p:nvPr/>
        </p:nvGrpSpPr>
        <p:grpSpPr>
          <a:xfrm>
            <a:off x="534282" y="1170491"/>
            <a:ext cx="11241879" cy="996696"/>
            <a:chOff x="534282" y="1170491"/>
            <a:chExt cx="11241879" cy="996696"/>
          </a:xfrm>
        </p:grpSpPr>
        <p:sp>
          <p:nvSpPr>
            <p:cNvPr id="7" name="Rectangle 6">
              <a:extLst>
                <a:ext uri="{FF2B5EF4-FFF2-40B4-BE49-F238E27FC236}">
                  <a16:creationId xmlns:a16="http://schemas.microsoft.com/office/drawing/2014/main" id="{D7E325E5-498F-BFF8-BE20-D73765BD1FD5}"/>
                </a:ext>
              </a:extLst>
            </p:cNvPr>
            <p:cNvSpPr/>
            <p:nvPr/>
          </p:nvSpPr>
          <p:spPr bwMode="gray">
            <a:xfrm>
              <a:off x="2244605" y="1171549"/>
              <a:ext cx="9531556" cy="994575"/>
            </a:xfrm>
            <a:prstGeom prst="rect">
              <a:avLst/>
            </a:prstGeom>
            <a:solidFill>
              <a:schemeClr val="accent2">
                <a:alpha val="17000"/>
              </a:schemeClr>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a:ln>
                  <a:noFill/>
                </a:ln>
                <a:solidFill>
                  <a:prstClr val="white"/>
                </a:solidFill>
                <a:effectLst/>
                <a:uLnTx/>
                <a:uFillTx/>
                <a:latin typeface="Verdana"/>
                <a:ea typeface="+mn-ea"/>
                <a:cs typeface="+mn-cs"/>
              </a:endParaRPr>
            </a:p>
          </p:txBody>
        </p:sp>
        <p:sp>
          <p:nvSpPr>
            <p:cNvPr id="51" name="Rectangle 50">
              <a:extLst>
                <a:ext uri="{FF2B5EF4-FFF2-40B4-BE49-F238E27FC236}">
                  <a16:creationId xmlns:a16="http://schemas.microsoft.com/office/drawing/2014/main" id="{3B96A2F2-D4A5-7C38-16F8-56E39E7D2C2D}"/>
                </a:ext>
              </a:extLst>
            </p:cNvPr>
            <p:cNvSpPr/>
            <p:nvPr/>
          </p:nvSpPr>
          <p:spPr bwMode="gray">
            <a:xfrm>
              <a:off x="534282" y="1170491"/>
              <a:ext cx="1704892" cy="996696"/>
            </a:xfrm>
            <a:prstGeom prst="rect">
              <a:avLst/>
            </a:prstGeom>
            <a:solidFill>
              <a:schemeClr val="accent2"/>
            </a:solidFill>
            <a:ln w="19050" algn="ctr">
              <a:noFill/>
              <a:miter lim="800000"/>
              <a:headEnd/>
              <a:tailEnd/>
            </a:ln>
          </p:spPr>
          <p:txBody>
            <a:bodyPr wrap="square" lIns="88900" tIns="88900" rIns="88900" bIns="889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a:ln>
                    <a:noFill/>
                  </a:ln>
                  <a:solidFill>
                    <a:prstClr val="white"/>
                  </a:solidFill>
                  <a:effectLst/>
                  <a:uLnTx/>
                  <a:uFillTx/>
                  <a:latin typeface="Verdana"/>
                  <a:ea typeface="+mn-ea"/>
                  <a:cs typeface="+mn-cs"/>
                </a:rPr>
                <a:t>Government / Regulator</a:t>
              </a:r>
              <a:endParaRPr kumimoji="0" lang="en-IN" sz="1000" b="1" i="0" u="none" strike="noStrike" kern="1200" cap="none" spc="0" normalizeH="0" baseline="0" noProof="0">
                <a:ln>
                  <a:noFill/>
                </a:ln>
                <a:solidFill>
                  <a:prstClr val="white"/>
                </a:solidFill>
                <a:effectLst/>
                <a:uLnTx/>
                <a:uFillTx/>
                <a:latin typeface="Verdana"/>
                <a:ea typeface="+mn-ea"/>
                <a:cs typeface="+mn-cs"/>
              </a:endParaRPr>
            </a:p>
          </p:txBody>
        </p:sp>
        <p:grpSp>
          <p:nvGrpSpPr>
            <p:cNvPr id="60" name="Group 59">
              <a:extLst>
                <a:ext uri="{FF2B5EF4-FFF2-40B4-BE49-F238E27FC236}">
                  <a16:creationId xmlns:a16="http://schemas.microsoft.com/office/drawing/2014/main" id="{93F3B5BA-251D-43F0-1E85-7CE9CB6F86E9}"/>
                </a:ext>
              </a:extLst>
            </p:cNvPr>
            <p:cNvGrpSpPr/>
            <p:nvPr/>
          </p:nvGrpSpPr>
          <p:grpSpPr>
            <a:xfrm>
              <a:off x="2355792" y="1235929"/>
              <a:ext cx="2181472" cy="818678"/>
              <a:chOff x="2794805" y="922820"/>
              <a:chExt cx="2797873" cy="818678"/>
            </a:xfrm>
          </p:grpSpPr>
          <p:sp>
            <p:nvSpPr>
              <p:cNvPr id="49" name="Rectangle 48">
                <a:extLst>
                  <a:ext uri="{FF2B5EF4-FFF2-40B4-BE49-F238E27FC236}">
                    <a16:creationId xmlns:a16="http://schemas.microsoft.com/office/drawing/2014/main" id="{DDD51CAA-1084-1783-E643-D13A2F393579}"/>
                  </a:ext>
                </a:extLst>
              </p:cNvPr>
              <p:cNvSpPr/>
              <p:nvPr/>
            </p:nvSpPr>
            <p:spPr bwMode="gray">
              <a:xfrm>
                <a:off x="2794805" y="922820"/>
                <a:ext cx="2797873" cy="423327"/>
              </a:xfrm>
              <a:prstGeom prst="rect">
                <a:avLst/>
              </a:prstGeom>
              <a:solidFill>
                <a:schemeClr val="accent2">
                  <a:lumMod val="20000"/>
                  <a:lumOff val="80000"/>
                </a:schemeClr>
              </a:solidFill>
              <a:ln>
                <a:solidFill>
                  <a:schemeClr val="accent2"/>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a:ln>
                      <a:noFill/>
                    </a:ln>
                    <a:solidFill>
                      <a:sysClr val="windowText" lastClr="000000"/>
                    </a:solidFill>
                    <a:effectLst/>
                    <a:uLnTx/>
                    <a:uFillTx/>
                    <a:latin typeface="Verdana"/>
                    <a:ea typeface="+mn-ea"/>
                    <a:cs typeface="+mn-cs"/>
                  </a:rPr>
                  <a:t>Ministry of Energy, Water Resources and Irrigation</a:t>
                </a:r>
                <a:endParaRPr kumimoji="0" lang="en-IN" sz="900" b="0" i="0" u="none" strike="noStrike" kern="1200" cap="none" spc="0" normalizeH="0" baseline="0" noProof="0">
                  <a:ln>
                    <a:noFill/>
                  </a:ln>
                  <a:solidFill>
                    <a:sysClr val="windowText" lastClr="000000"/>
                  </a:solidFill>
                  <a:effectLst/>
                  <a:uLnTx/>
                  <a:uFillTx/>
                  <a:latin typeface="Verdana"/>
                  <a:ea typeface="+mn-ea"/>
                  <a:cs typeface="+mn-cs"/>
                </a:endParaRPr>
              </a:p>
            </p:txBody>
          </p:sp>
          <p:sp>
            <p:nvSpPr>
              <p:cNvPr id="54" name="Rectangle 53">
                <a:extLst>
                  <a:ext uri="{FF2B5EF4-FFF2-40B4-BE49-F238E27FC236}">
                    <a16:creationId xmlns:a16="http://schemas.microsoft.com/office/drawing/2014/main" id="{F80C6ECF-80B0-EF1A-7AC0-6AFE24556D56}"/>
                  </a:ext>
                </a:extLst>
              </p:cNvPr>
              <p:cNvSpPr/>
              <p:nvPr/>
            </p:nvSpPr>
            <p:spPr bwMode="gray">
              <a:xfrm>
                <a:off x="2794805" y="1318171"/>
                <a:ext cx="2797873" cy="423327"/>
              </a:xfrm>
              <a:prstGeom prst="rect">
                <a:avLst/>
              </a:prstGeom>
              <a:solidFill>
                <a:schemeClr val="bg1"/>
              </a:solidFill>
              <a:ln>
                <a:solidFill>
                  <a:schemeClr val="accent2"/>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a:ln>
                      <a:noFill/>
                    </a:ln>
                    <a:solidFill>
                      <a:sysClr val="windowText" lastClr="000000"/>
                    </a:solidFill>
                    <a:effectLst/>
                    <a:uLnTx/>
                    <a:uFillTx/>
                    <a:latin typeface="Verdana"/>
                    <a:ea typeface="+mn-ea"/>
                    <a:cs typeface="+mn-cs"/>
                  </a:rPr>
                  <a:t>Overall Sector Planning &amp; Development</a:t>
                </a:r>
                <a:endParaRPr kumimoji="0" lang="en-IN" sz="900" b="0" i="0" u="none" strike="noStrike" kern="1200" cap="none" spc="0" normalizeH="0" baseline="0" noProof="0">
                  <a:ln>
                    <a:noFill/>
                  </a:ln>
                  <a:solidFill>
                    <a:sysClr val="windowText" lastClr="000000"/>
                  </a:solidFill>
                  <a:effectLst/>
                  <a:uLnTx/>
                  <a:uFillTx/>
                  <a:latin typeface="Verdana"/>
                  <a:ea typeface="+mn-ea"/>
                  <a:cs typeface="+mn-cs"/>
                </a:endParaRPr>
              </a:p>
            </p:txBody>
          </p:sp>
        </p:grpSp>
        <p:grpSp>
          <p:nvGrpSpPr>
            <p:cNvPr id="59" name="Group 58">
              <a:extLst>
                <a:ext uri="{FF2B5EF4-FFF2-40B4-BE49-F238E27FC236}">
                  <a16:creationId xmlns:a16="http://schemas.microsoft.com/office/drawing/2014/main" id="{87145B34-9411-D35F-0E46-98C37408D646}"/>
                </a:ext>
              </a:extLst>
            </p:cNvPr>
            <p:cNvGrpSpPr/>
            <p:nvPr/>
          </p:nvGrpSpPr>
          <p:grpSpPr>
            <a:xfrm>
              <a:off x="4837524" y="1235929"/>
              <a:ext cx="2181472" cy="827569"/>
              <a:chOff x="5739128" y="922820"/>
              <a:chExt cx="2797873" cy="827569"/>
            </a:xfrm>
          </p:grpSpPr>
          <p:sp>
            <p:nvSpPr>
              <p:cNvPr id="50" name="Rectangle 49">
                <a:extLst>
                  <a:ext uri="{FF2B5EF4-FFF2-40B4-BE49-F238E27FC236}">
                    <a16:creationId xmlns:a16="http://schemas.microsoft.com/office/drawing/2014/main" id="{A3EABF1F-7429-C7EC-B74F-225AEAAB7D14}"/>
                  </a:ext>
                </a:extLst>
              </p:cNvPr>
              <p:cNvSpPr/>
              <p:nvPr/>
            </p:nvSpPr>
            <p:spPr bwMode="gray">
              <a:xfrm>
                <a:off x="5739128" y="922820"/>
                <a:ext cx="2797873" cy="432218"/>
              </a:xfrm>
              <a:prstGeom prst="rect">
                <a:avLst/>
              </a:prstGeom>
              <a:solidFill>
                <a:schemeClr val="accent2">
                  <a:lumMod val="20000"/>
                  <a:lumOff val="80000"/>
                </a:schemeClr>
              </a:solidFill>
              <a:ln>
                <a:solidFill>
                  <a:schemeClr val="accent2"/>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a:ln>
                      <a:noFill/>
                    </a:ln>
                    <a:solidFill>
                      <a:sysClr val="windowText" lastClr="000000"/>
                    </a:solidFill>
                    <a:effectLst/>
                    <a:uLnTx/>
                    <a:uFillTx/>
                    <a:latin typeface="Verdana"/>
                    <a:ea typeface="+mn-ea"/>
                    <a:cs typeface="+mn-cs"/>
                  </a:rPr>
                  <a:t>Electricity Regulatory Commission</a:t>
                </a:r>
                <a:endParaRPr kumimoji="0" lang="en-IN" sz="900" b="0" i="0" u="none" strike="noStrike" kern="1200" cap="none" spc="0" normalizeH="0" baseline="0" noProof="0">
                  <a:ln>
                    <a:noFill/>
                  </a:ln>
                  <a:solidFill>
                    <a:sysClr val="windowText" lastClr="000000"/>
                  </a:solidFill>
                  <a:effectLst/>
                  <a:uLnTx/>
                  <a:uFillTx/>
                  <a:latin typeface="Verdana"/>
                  <a:ea typeface="+mn-ea"/>
                  <a:cs typeface="+mn-cs"/>
                </a:endParaRPr>
              </a:p>
            </p:txBody>
          </p:sp>
          <p:sp>
            <p:nvSpPr>
              <p:cNvPr id="55" name="Rectangle 54">
                <a:extLst>
                  <a:ext uri="{FF2B5EF4-FFF2-40B4-BE49-F238E27FC236}">
                    <a16:creationId xmlns:a16="http://schemas.microsoft.com/office/drawing/2014/main" id="{E2FDEC56-048D-51FF-DACA-D0FDC8139B27}"/>
                  </a:ext>
                </a:extLst>
              </p:cNvPr>
              <p:cNvSpPr/>
              <p:nvPr/>
            </p:nvSpPr>
            <p:spPr bwMode="gray">
              <a:xfrm>
                <a:off x="5739128" y="1318171"/>
                <a:ext cx="2797873" cy="432218"/>
              </a:xfrm>
              <a:prstGeom prst="rect">
                <a:avLst/>
              </a:prstGeom>
              <a:solidFill>
                <a:schemeClr val="bg1"/>
              </a:solidFill>
              <a:ln>
                <a:solidFill>
                  <a:schemeClr val="accent2"/>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lang="en-US" sz="900">
                    <a:solidFill>
                      <a:sysClr val="windowText" lastClr="000000"/>
                    </a:solidFill>
                    <a:latin typeface="Verdana"/>
                  </a:rPr>
                  <a:t>Regulation</a:t>
                </a:r>
                <a:r>
                  <a:rPr kumimoji="0" lang="en-US" sz="900" b="0" i="0" u="none" strike="noStrike" kern="1200" cap="none" spc="0" normalizeH="0" baseline="0" noProof="0">
                    <a:ln>
                      <a:noFill/>
                    </a:ln>
                    <a:solidFill>
                      <a:sysClr val="windowText" lastClr="000000"/>
                    </a:solidFill>
                    <a:effectLst/>
                    <a:uLnTx/>
                    <a:uFillTx/>
                    <a:latin typeface="Verdana"/>
                    <a:ea typeface="+mn-ea"/>
                    <a:cs typeface="+mn-cs"/>
                  </a:rPr>
                  <a:t> of power markets, tariff setting, consumer protection </a:t>
                </a:r>
                <a:endParaRPr kumimoji="0" lang="en-IN" sz="900" b="0" i="0" u="none" strike="noStrike" kern="1200" cap="none" spc="0" normalizeH="0" baseline="0" noProof="0">
                  <a:ln>
                    <a:noFill/>
                  </a:ln>
                  <a:solidFill>
                    <a:sysClr val="windowText" lastClr="000000"/>
                  </a:solidFill>
                  <a:effectLst/>
                  <a:uLnTx/>
                  <a:uFillTx/>
                  <a:latin typeface="Verdana"/>
                  <a:ea typeface="+mn-ea"/>
                  <a:cs typeface="+mn-cs"/>
                </a:endParaRPr>
              </a:p>
            </p:txBody>
          </p:sp>
        </p:grpSp>
        <p:grpSp>
          <p:nvGrpSpPr>
            <p:cNvPr id="58" name="Group 57">
              <a:extLst>
                <a:ext uri="{FF2B5EF4-FFF2-40B4-BE49-F238E27FC236}">
                  <a16:creationId xmlns:a16="http://schemas.microsoft.com/office/drawing/2014/main" id="{1A75EDBB-E2BC-A3C7-4609-DB2351A6AE30}"/>
                </a:ext>
              </a:extLst>
            </p:cNvPr>
            <p:cNvGrpSpPr/>
            <p:nvPr/>
          </p:nvGrpSpPr>
          <p:grpSpPr>
            <a:xfrm>
              <a:off x="7319255" y="1235929"/>
              <a:ext cx="2181472" cy="827569"/>
              <a:chOff x="8683451" y="922820"/>
              <a:chExt cx="2797873" cy="827569"/>
            </a:xfrm>
          </p:grpSpPr>
          <p:sp>
            <p:nvSpPr>
              <p:cNvPr id="56" name="Rectangle 55">
                <a:extLst>
                  <a:ext uri="{FF2B5EF4-FFF2-40B4-BE49-F238E27FC236}">
                    <a16:creationId xmlns:a16="http://schemas.microsoft.com/office/drawing/2014/main" id="{254268C5-4AB9-76A4-F718-1241C46DD17E}"/>
                  </a:ext>
                </a:extLst>
              </p:cNvPr>
              <p:cNvSpPr/>
              <p:nvPr/>
            </p:nvSpPr>
            <p:spPr bwMode="gray">
              <a:xfrm>
                <a:off x="8683451" y="922820"/>
                <a:ext cx="2797873" cy="432218"/>
              </a:xfrm>
              <a:prstGeom prst="rect">
                <a:avLst/>
              </a:prstGeom>
              <a:solidFill>
                <a:schemeClr val="accent2">
                  <a:lumMod val="20000"/>
                  <a:lumOff val="80000"/>
                </a:schemeClr>
              </a:solidFill>
              <a:ln>
                <a:solidFill>
                  <a:schemeClr val="accent2"/>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a:ln>
                      <a:noFill/>
                    </a:ln>
                    <a:solidFill>
                      <a:sysClr val="windowText" lastClr="000000"/>
                    </a:solidFill>
                    <a:effectLst/>
                    <a:uLnTx/>
                    <a:uFillTx/>
                    <a:latin typeface="Verdana"/>
                    <a:ea typeface="+mn-ea"/>
                    <a:cs typeface="+mn-cs"/>
                  </a:rPr>
                  <a:t>Office of Investment Board of Nepal (OIBN)</a:t>
                </a:r>
                <a:endParaRPr kumimoji="0" lang="en-IN" sz="900" b="0" i="0" u="none" strike="noStrike" kern="1200" cap="none" spc="0" normalizeH="0" baseline="0" noProof="0">
                  <a:ln>
                    <a:noFill/>
                  </a:ln>
                  <a:solidFill>
                    <a:sysClr val="windowText" lastClr="000000"/>
                  </a:solidFill>
                  <a:effectLst/>
                  <a:uLnTx/>
                  <a:uFillTx/>
                  <a:latin typeface="Verdana"/>
                  <a:ea typeface="+mn-ea"/>
                  <a:cs typeface="+mn-cs"/>
                </a:endParaRPr>
              </a:p>
            </p:txBody>
          </p:sp>
          <p:sp>
            <p:nvSpPr>
              <p:cNvPr id="57" name="Rectangle 56">
                <a:extLst>
                  <a:ext uri="{FF2B5EF4-FFF2-40B4-BE49-F238E27FC236}">
                    <a16:creationId xmlns:a16="http://schemas.microsoft.com/office/drawing/2014/main" id="{E493B588-B797-4BEC-C35D-D883858AE5D5}"/>
                  </a:ext>
                </a:extLst>
              </p:cNvPr>
              <p:cNvSpPr/>
              <p:nvPr/>
            </p:nvSpPr>
            <p:spPr bwMode="gray">
              <a:xfrm>
                <a:off x="8683451" y="1318171"/>
                <a:ext cx="2797873" cy="432218"/>
              </a:xfrm>
              <a:prstGeom prst="rect">
                <a:avLst/>
              </a:prstGeom>
              <a:solidFill>
                <a:schemeClr val="bg1"/>
              </a:solidFill>
              <a:ln>
                <a:solidFill>
                  <a:schemeClr val="accent2"/>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lang="en-US" sz="900">
                    <a:solidFill>
                      <a:sysClr val="windowText" lastClr="000000"/>
                    </a:solidFill>
                    <a:latin typeface="Verdana"/>
                  </a:rPr>
                  <a:t>Investment Appraisal and Approval for Large Projects</a:t>
                </a:r>
                <a:endParaRPr kumimoji="0" lang="en-IN" sz="900" b="0" i="0" u="none" strike="noStrike" kern="1200" cap="none" spc="0" normalizeH="0" baseline="0" noProof="0">
                  <a:ln>
                    <a:noFill/>
                  </a:ln>
                  <a:solidFill>
                    <a:sysClr val="windowText" lastClr="000000"/>
                  </a:solidFill>
                  <a:effectLst/>
                  <a:uLnTx/>
                  <a:uFillTx/>
                  <a:latin typeface="Verdana"/>
                  <a:ea typeface="+mn-ea"/>
                  <a:cs typeface="+mn-cs"/>
                </a:endParaRPr>
              </a:p>
            </p:txBody>
          </p:sp>
        </p:grpSp>
        <p:grpSp>
          <p:nvGrpSpPr>
            <p:cNvPr id="61" name="Group 60">
              <a:extLst>
                <a:ext uri="{FF2B5EF4-FFF2-40B4-BE49-F238E27FC236}">
                  <a16:creationId xmlns:a16="http://schemas.microsoft.com/office/drawing/2014/main" id="{A69C23DD-5E4E-8077-4FB7-C3C231916DDF}"/>
                </a:ext>
              </a:extLst>
            </p:cNvPr>
            <p:cNvGrpSpPr/>
            <p:nvPr/>
          </p:nvGrpSpPr>
          <p:grpSpPr>
            <a:xfrm>
              <a:off x="9800988" y="1235929"/>
              <a:ext cx="1834469" cy="827569"/>
              <a:chOff x="8683451" y="922820"/>
              <a:chExt cx="2797873" cy="827569"/>
            </a:xfrm>
          </p:grpSpPr>
          <p:sp>
            <p:nvSpPr>
              <p:cNvPr id="62" name="Rectangle 61">
                <a:extLst>
                  <a:ext uri="{FF2B5EF4-FFF2-40B4-BE49-F238E27FC236}">
                    <a16:creationId xmlns:a16="http://schemas.microsoft.com/office/drawing/2014/main" id="{B2810FD0-520A-C8DB-28FC-4481B726F948}"/>
                  </a:ext>
                </a:extLst>
              </p:cNvPr>
              <p:cNvSpPr/>
              <p:nvPr/>
            </p:nvSpPr>
            <p:spPr bwMode="gray">
              <a:xfrm>
                <a:off x="8683451" y="922820"/>
                <a:ext cx="2797873" cy="432218"/>
              </a:xfrm>
              <a:prstGeom prst="rect">
                <a:avLst/>
              </a:prstGeom>
              <a:solidFill>
                <a:schemeClr val="accent2">
                  <a:lumMod val="20000"/>
                  <a:lumOff val="80000"/>
                </a:schemeClr>
              </a:solidFill>
              <a:ln>
                <a:solidFill>
                  <a:schemeClr val="accent2"/>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a:ln>
                      <a:noFill/>
                    </a:ln>
                    <a:solidFill>
                      <a:sysClr val="windowText" lastClr="000000"/>
                    </a:solidFill>
                    <a:effectLst/>
                    <a:uLnTx/>
                    <a:uFillTx/>
                    <a:latin typeface="Verdana"/>
                    <a:ea typeface="+mn-ea"/>
                    <a:cs typeface="+mn-cs"/>
                  </a:rPr>
                  <a:t>Alternative Energy Promotion Centre</a:t>
                </a:r>
                <a:endParaRPr kumimoji="0" lang="en-IN" sz="900" b="0" i="0" u="none" strike="noStrike" kern="1200" cap="none" spc="0" normalizeH="0" baseline="0" noProof="0">
                  <a:ln>
                    <a:noFill/>
                  </a:ln>
                  <a:solidFill>
                    <a:sysClr val="windowText" lastClr="000000"/>
                  </a:solidFill>
                  <a:effectLst/>
                  <a:uLnTx/>
                  <a:uFillTx/>
                  <a:latin typeface="Verdana"/>
                  <a:ea typeface="+mn-ea"/>
                  <a:cs typeface="+mn-cs"/>
                </a:endParaRPr>
              </a:p>
            </p:txBody>
          </p:sp>
          <p:sp>
            <p:nvSpPr>
              <p:cNvPr id="63" name="Rectangle 62">
                <a:extLst>
                  <a:ext uri="{FF2B5EF4-FFF2-40B4-BE49-F238E27FC236}">
                    <a16:creationId xmlns:a16="http://schemas.microsoft.com/office/drawing/2014/main" id="{CEF56E04-A19F-1AEB-F871-A69045ECF403}"/>
                  </a:ext>
                </a:extLst>
              </p:cNvPr>
              <p:cNvSpPr/>
              <p:nvPr/>
            </p:nvSpPr>
            <p:spPr bwMode="gray">
              <a:xfrm>
                <a:off x="8683451" y="1318171"/>
                <a:ext cx="2797873" cy="432218"/>
              </a:xfrm>
              <a:prstGeom prst="rect">
                <a:avLst/>
              </a:prstGeom>
              <a:solidFill>
                <a:schemeClr val="bg1"/>
              </a:solidFill>
              <a:ln>
                <a:solidFill>
                  <a:schemeClr val="accent2"/>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t"/>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0" i="0" u="none" strike="noStrike" kern="1200" cap="none" spc="0" normalizeH="0" baseline="0" noProof="0">
                    <a:ln>
                      <a:noFill/>
                    </a:ln>
                    <a:solidFill>
                      <a:sysClr val="windowText" lastClr="000000"/>
                    </a:solidFill>
                    <a:effectLst/>
                    <a:uLnTx/>
                    <a:uFillTx/>
                    <a:latin typeface="Verdana"/>
                    <a:ea typeface="+mn-ea"/>
                    <a:cs typeface="+mn-cs"/>
                  </a:rPr>
                  <a:t>Development of RE below 10 MW</a:t>
                </a:r>
                <a:endParaRPr kumimoji="0" lang="en-IN" sz="900" b="0" i="0" u="none" strike="noStrike" kern="1200" cap="none" spc="0" normalizeH="0" baseline="0" noProof="0">
                  <a:ln>
                    <a:noFill/>
                  </a:ln>
                  <a:solidFill>
                    <a:sysClr val="windowText" lastClr="000000"/>
                  </a:solidFill>
                  <a:effectLst/>
                  <a:uLnTx/>
                  <a:uFillTx/>
                  <a:latin typeface="Verdana"/>
                  <a:ea typeface="+mn-ea"/>
                  <a:cs typeface="+mn-cs"/>
                </a:endParaRPr>
              </a:p>
            </p:txBody>
          </p:sp>
        </p:grpSp>
      </p:grpSp>
      <p:sp>
        <p:nvSpPr>
          <p:cNvPr id="65" name="Title 5">
            <a:extLst>
              <a:ext uri="{FF2B5EF4-FFF2-40B4-BE49-F238E27FC236}">
                <a16:creationId xmlns:a16="http://schemas.microsoft.com/office/drawing/2014/main" id="{BE657F88-5D33-8EF2-5866-95AF24820B5B}"/>
              </a:ext>
            </a:extLst>
          </p:cNvPr>
          <p:cNvSpPr>
            <a:spLocks noGrp="1"/>
          </p:cNvSpPr>
          <p:nvPr>
            <p:ph type="title"/>
          </p:nvPr>
        </p:nvSpPr>
        <p:spPr>
          <a:xfrm>
            <a:off x="501651" y="317501"/>
            <a:ext cx="11188700" cy="334099"/>
          </a:xfrm>
        </p:spPr>
        <p:txBody>
          <a:bodyPr vert="horz"/>
          <a:lstStyle/>
          <a:p>
            <a:r>
              <a:rPr lang="en-US" sz="1800" b="1">
                <a:latin typeface="Arial" panose="020B0604020202020204" pitchFamily="34" charset="0"/>
                <a:cs typeface="Arial" panose="020B0604020202020204" pitchFamily="34" charset="0"/>
              </a:rPr>
              <a:t>Institutional Structure of Nepal Electricity Sector</a:t>
            </a:r>
            <a:endParaRPr lang="en-GB" sz="1800" b="1">
              <a:latin typeface="Arial" panose="020B0604020202020204" pitchFamily="34" charset="0"/>
              <a:cs typeface="Arial" panose="020B0604020202020204" pitchFamily="34" charset="0"/>
            </a:endParaRPr>
          </a:p>
        </p:txBody>
      </p:sp>
      <p:cxnSp>
        <p:nvCxnSpPr>
          <p:cNvPr id="66" name="Straight Connector 65">
            <a:extLst>
              <a:ext uri="{FF2B5EF4-FFF2-40B4-BE49-F238E27FC236}">
                <a16:creationId xmlns:a16="http://schemas.microsoft.com/office/drawing/2014/main" id="{F2E12D9A-EB65-691C-D5E1-4F8EEB193106}"/>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7" name="Text Placeholder 1">
            <a:extLst>
              <a:ext uri="{FF2B5EF4-FFF2-40B4-BE49-F238E27FC236}">
                <a16:creationId xmlns:a16="http://schemas.microsoft.com/office/drawing/2014/main" id="{DD7C3F55-5297-994C-D318-3661F088179E}"/>
              </a:ext>
            </a:extLst>
          </p:cNvPr>
          <p:cNvSpPr>
            <a:spLocks noGrp="1"/>
          </p:cNvSpPr>
          <p:nvPr>
            <p:ph type="body" sz="quarter" idx="13"/>
          </p:nvPr>
        </p:nvSpPr>
        <p:spPr>
          <a:xfrm>
            <a:off x="514883" y="651709"/>
            <a:ext cx="11120573" cy="252746"/>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NEA remains the dominant actor in G-T-D segments, and power procurement, functioning as the country’s single buyer of electricity</a:t>
            </a:r>
          </a:p>
        </p:txBody>
      </p:sp>
      <p:sp>
        <p:nvSpPr>
          <p:cNvPr id="71" name="Rectangle 70">
            <a:extLst>
              <a:ext uri="{FF2B5EF4-FFF2-40B4-BE49-F238E27FC236}">
                <a16:creationId xmlns:a16="http://schemas.microsoft.com/office/drawing/2014/main" id="{80EF1BAC-A357-6788-4651-FF4A8E75165F}"/>
              </a:ext>
            </a:extLst>
          </p:cNvPr>
          <p:cNvSpPr/>
          <p:nvPr/>
        </p:nvSpPr>
        <p:spPr bwMode="gray">
          <a:xfrm>
            <a:off x="3019420" y="4696802"/>
            <a:ext cx="3474720" cy="548640"/>
          </a:xfrm>
          <a:prstGeom prst="rect">
            <a:avLst/>
          </a:prstGeom>
          <a:solidFill>
            <a:srgbClr val="FFFFFF"/>
          </a:solidFill>
          <a:ln>
            <a:solidFill>
              <a:srgbClr val="86BC25"/>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Verdana"/>
                <a:ea typeface="+mn-ea"/>
                <a:cs typeface="+mn-cs"/>
              </a:rPr>
              <a:t>Nepal Electricity Authority</a:t>
            </a:r>
          </a:p>
        </p:txBody>
      </p:sp>
      <p:sp>
        <p:nvSpPr>
          <p:cNvPr id="72" name="Rectangle 71">
            <a:extLst>
              <a:ext uri="{FF2B5EF4-FFF2-40B4-BE49-F238E27FC236}">
                <a16:creationId xmlns:a16="http://schemas.microsoft.com/office/drawing/2014/main" id="{97D764B8-A5C5-E0BE-2A28-D643C2F0F404}"/>
              </a:ext>
            </a:extLst>
          </p:cNvPr>
          <p:cNvSpPr/>
          <p:nvPr/>
        </p:nvSpPr>
        <p:spPr bwMode="gray">
          <a:xfrm>
            <a:off x="7506240" y="4694506"/>
            <a:ext cx="3474720" cy="548640"/>
          </a:xfrm>
          <a:prstGeom prst="rect">
            <a:avLst/>
          </a:prstGeom>
          <a:solidFill>
            <a:srgbClr val="FFFFFF"/>
          </a:solidFill>
          <a:ln>
            <a:solidFill>
              <a:srgbClr val="86BC25"/>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Verdana"/>
                <a:ea typeface="+mn-ea"/>
                <a:cs typeface="+mn-cs"/>
              </a:rPr>
              <a:t>RPGCL</a:t>
            </a:r>
            <a:endParaRPr kumimoji="0" lang="en-IN" sz="900" b="0" i="0" u="none" strike="noStrike" kern="1200" cap="none" spc="0" normalizeH="0" baseline="0" noProof="0">
              <a:ln>
                <a:noFill/>
              </a:ln>
              <a:solidFill>
                <a:sysClr val="windowText" lastClr="000000"/>
              </a:solidFill>
              <a:effectLst/>
              <a:uLnTx/>
              <a:uFillTx/>
              <a:latin typeface="Verdana"/>
              <a:ea typeface="+mn-ea"/>
              <a:cs typeface="+mn-cs"/>
            </a:endParaRPr>
          </a:p>
        </p:txBody>
      </p:sp>
      <p:sp>
        <p:nvSpPr>
          <p:cNvPr id="73" name="Rectangle 72">
            <a:extLst>
              <a:ext uri="{FF2B5EF4-FFF2-40B4-BE49-F238E27FC236}">
                <a16:creationId xmlns:a16="http://schemas.microsoft.com/office/drawing/2014/main" id="{D66CF4EB-A332-ABA4-FBFB-6122D25E187B}"/>
              </a:ext>
            </a:extLst>
          </p:cNvPr>
          <p:cNvSpPr/>
          <p:nvPr/>
        </p:nvSpPr>
        <p:spPr bwMode="gray">
          <a:xfrm>
            <a:off x="5180720" y="5793319"/>
            <a:ext cx="3960791" cy="548640"/>
          </a:xfrm>
          <a:prstGeom prst="rect">
            <a:avLst/>
          </a:prstGeom>
          <a:ln>
            <a:solidFill>
              <a:srgbClr val="007CB0"/>
            </a:solidFill>
            <a:headEnd/>
            <a:tailEnd/>
          </a:ln>
        </p:spPr>
        <p:style>
          <a:lnRef idx="2">
            <a:schemeClr val="accent1"/>
          </a:lnRef>
          <a:fillRef idx="1">
            <a:schemeClr val="lt1"/>
          </a:fillRef>
          <a:effectRef idx="0">
            <a:schemeClr val="accent1"/>
          </a:effectRef>
          <a:fontRef idx="minor">
            <a:schemeClr val="dk1"/>
          </a:fontRef>
        </p:style>
        <p:txBody>
          <a:bodyPr wrap="square" lIns="36000" tIns="36000" rIns="36000" bIns="36000" rtlCol="0" anchor="ctr"/>
          <a:lstStyle/>
          <a:p>
            <a:pPr marL="0" marR="0" lvl="0" indent="0" algn="ctr" defTabSz="787481"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Verdana"/>
                <a:ea typeface="+mn-ea"/>
                <a:cs typeface="+mn-cs"/>
              </a:rPr>
              <a:t>Nepal Electricity Authority</a:t>
            </a:r>
            <a:endParaRPr kumimoji="0" lang="en-IN" sz="900" b="1" i="0" u="none" strike="noStrike" kern="1200" cap="none" spc="0" normalizeH="0" baseline="0" noProof="0">
              <a:ln>
                <a:noFill/>
              </a:ln>
              <a:solidFill>
                <a:sysClr val="windowText" lastClr="000000"/>
              </a:solidFill>
              <a:effectLst/>
              <a:uLnTx/>
              <a:uFillTx/>
              <a:latin typeface="Verdana"/>
              <a:ea typeface="+mn-ea"/>
              <a:cs typeface="+mn-cs"/>
            </a:endParaRPr>
          </a:p>
        </p:txBody>
      </p:sp>
    </p:spTree>
    <p:extLst>
      <p:ext uri="{BB962C8B-B14F-4D97-AF65-F5344CB8AC3E}">
        <p14:creationId xmlns:p14="http://schemas.microsoft.com/office/powerpoint/2010/main" val="3330561846"/>
      </p:ext>
    </p:extLst>
  </p:cSld>
  <p:clrMapOvr>
    <a:masterClrMapping/>
  </p:clrMapOvr>
  <p:transition>
    <p:fade/>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45994161"/>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Evolving Policy and Regulatory Framework</a:t>
            </a:r>
            <a:endParaRPr lang="en-GB" sz="1800" b="1">
              <a:latin typeface="Arial" panose="020B0604020202020204" pitchFamily="34" charset="0"/>
              <a:cs typeface="Arial" panose="020B0604020202020204" pitchFamily="34" charset="0"/>
            </a:endParaRPr>
          </a:p>
        </p:txBody>
      </p:sp>
      <p:graphicFrame>
        <p:nvGraphicFramePr>
          <p:cNvPr id="9" name="Table 8">
            <a:extLst>
              <a:ext uri="{FF2B5EF4-FFF2-40B4-BE49-F238E27FC236}">
                <a16:creationId xmlns:a16="http://schemas.microsoft.com/office/drawing/2014/main" id="{2B5593DF-81AF-4286-19AD-55A0EDC12472}"/>
              </a:ext>
            </a:extLst>
          </p:cNvPr>
          <p:cNvGraphicFramePr>
            <a:graphicFrameLocks noGrp="1"/>
          </p:cNvGraphicFramePr>
          <p:nvPr>
            <p:extLst>
              <p:ext uri="{D42A27DB-BD31-4B8C-83A1-F6EECF244321}">
                <p14:modId xmlns:p14="http://schemas.microsoft.com/office/powerpoint/2010/main" val="210762441"/>
              </p:ext>
            </p:extLst>
          </p:nvPr>
        </p:nvGraphicFramePr>
        <p:xfrm>
          <a:off x="494792" y="5660677"/>
          <a:ext cx="11195559" cy="1029145"/>
        </p:xfrm>
        <a:graphic>
          <a:graphicData uri="http://schemas.openxmlformats.org/drawingml/2006/table">
            <a:tbl>
              <a:tblPr firstRow="1" bandRow="1">
                <a:tableStyleId>{5C22544A-7EE6-4342-B048-85BDC9FD1C3A}</a:tableStyleId>
              </a:tblPr>
              <a:tblGrid>
                <a:gridCol w="1780454">
                  <a:extLst>
                    <a:ext uri="{9D8B030D-6E8A-4147-A177-3AD203B41FA5}">
                      <a16:colId xmlns:a16="http://schemas.microsoft.com/office/drawing/2014/main" val="1601999352"/>
                    </a:ext>
                  </a:extLst>
                </a:gridCol>
                <a:gridCol w="9415105">
                  <a:extLst>
                    <a:ext uri="{9D8B030D-6E8A-4147-A177-3AD203B41FA5}">
                      <a16:colId xmlns:a16="http://schemas.microsoft.com/office/drawing/2014/main" val="2515607737"/>
                    </a:ext>
                  </a:extLst>
                </a:gridCol>
              </a:tblGrid>
              <a:tr h="207135">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569957">
                <a:tc gridSpan="2">
                  <a:txBody>
                    <a:bodyPr/>
                    <a:lstStyle/>
                    <a:p>
                      <a:pPr marL="169863" indent="-169863" algn="just" defTabSz="914335" rtl="0" eaLnBrk="1" latinLnBrk="0" hangingPunct="1">
                        <a:lnSpc>
                          <a:spcPct val="125000"/>
                        </a:lnSpc>
                        <a:buFont typeface="Arial" panose="020B0604020202020204" pitchFamily="34" charset="0"/>
                        <a:buChar char="•"/>
                      </a:pPr>
                      <a:r>
                        <a:rPr lang="en-US" sz="1200">
                          <a:latin typeface="Arial" panose="020B0604020202020204" pitchFamily="34" charset="0"/>
                          <a:cs typeface="Arial" panose="020B0604020202020204" pitchFamily="34" charset="0"/>
                        </a:rPr>
                        <a:t>In the earlier decades, the Government’s focus was on enhancing capacity and promote power trade to meet the rising demand in the country. With rising installed capacity, there has been a shift in focus from early 2010s to drive domestic electricity demand, reducing carbon emissions and position Nepal as a sustainable economy.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cxnSp>
        <p:nvCxnSpPr>
          <p:cNvPr id="37" name="Straight Connector 36">
            <a:extLst>
              <a:ext uri="{FF2B5EF4-FFF2-40B4-BE49-F238E27FC236}">
                <a16:creationId xmlns:a16="http://schemas.microsoft.com/office/drawing/2014/main" id="{F7FD1676-159A-0046-C3FB-1031F7F70472}"/>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Text Placeholder 1">
            <a:extLst>
              <a:ext uri="{FF2B5EF4-FFF2-40B4-BE49-F238E27FC236}">
                <a16:creationId xmlns:a16="http://schemas.microsoft.com/office/drawing/2014/main" id="{75D3F42A-E04F-BF20-6E0D-394A113240E8}"/>
              </a:ext>
            </a:extLst>
          </p:cNvPr>
          <p:cNvSpPr txBox="1">
            <a:spLocks/>
          </p:cNvSpPr>
          <p:nvPr/>
        </p:nvSpPr>
        <p:spPr>
          <a:xfrm>
            <a:off x="514884" y="651708"/>
            <a:ext cx="11456120" cy="259335"/>
          </a:xfrm>
          <a:prstGeom prst="rect">
            <a:avLst/>
          </a:prstGeom>
          <a:solidFill>
            <a:schemeClr val="bg1"/>
          </a:solidFill>
        </p:spPr>
        <p:txBody>
          <a:bodyPr vert="horz" lIns="0" tIns="0" rIns="0" bIns="0" rtlCol="0">
            <a:noAutofit/>
          </a:bodyPr>
          <a:lstStyle>
            <a:lvl1pPr marL="0" indent="0" algn="l" defTabSz="914335" rtl="0" eaLnBrk="1" latinLnBrk="0" hangingPunct="1">
              <a:spcBef>
                <a:spcPts val="0"/>
              </a:spcBef>
              <a:spcAft>
                <a:spcPts val="1000"/>
              </a:spcAft>
              <a:buSzPct val="100000"/>
              <a:buFontTx/>
              <a:buNone/>
              <a:defRPr sz="1800" b="0" kern="1200">
                <a:solidFill>
                  <a:srgbClr val="575757"/>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just" defTabSz="914335" rtl="0" eaLnBrk="1" fontAlgn="auto" latinLnBrk="0" hangingPunct="1">
              <a:lnSpc>
                <a:spcPct val="100000"/>
              </a:lnSpc>
              <a:spcBef>
                <a:spcPts val="0"/>
              </a:spcBef>
              <a:spcAft>
                <a:spcPts val="1000"/>
              </a:spcAft>
              <a:buClrTx/>
              <a:buSzPct val="100000"/>
              <a:buFontTx/>
              <a:buNone/>
              <a:tabLst/>
              <a:defRPr/>
            </a:pPr>
            <a:r>
              <a:rPr kumimoji="0" lang="en-US" sz="1400" b="0" i="0" u="none" strike="noStrike" kern="1200" cap="none" spc="0" normalizeH="0" baseline="0" noProof="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Recent reforms led by ERC aim to promote transparency, boost domestic demand, and enable regional electricity trade</a:t>
            </a:r>
          </a:p>
        </p:txBody>
      </p:sp>
      <p:grpSp>
        <p:nvGrpSpPr>
          <p:cNvPr id="11" name="Group 10">
            <a:extLst>
              <a:ext uri="{FF2B5EF4-FFF2-40B4-BE49-F238E27FC236}">
                <a16:creationId xmlns:a16="http://schemas.microsoft.com/office/drawing/2014/main" id="{3A8AB3F0-365F-A8A9-F6DA-FE0C3910A8B3}"/>
              </a:ext>
            </a:extLst>
          </p:cNvPr>
          <p:cNvGrpSpPr/>
          <p:nvPr/>
        </p:nvGrpSpPr>
        <p:grpSpPr>
          <a:xfrm rot="5400000">
            <a:off x="-1143560" y="3099177"/>
            <a:ext cx="3782586" cy="228600"/>
            <a:chOff x="1052820" y="3079158"/>
            <a:chExt cx="5751597" cy="228600"/>
          </a:xfrm>
          <a:solidFill>
            <a:schemeClr val="accent2"/>
          </a:solidFill>
        </p:grpSpPr>
        <p:cxnSp>
          <p:nvCxnSpPr>
            <p:cNvPr id="52" name="Straight Connector 51">
              <a:extLst>
                <a:ext uri="{FF2B5EF4-FFF2-40B4-BE49-F238E27FC236}">
                  <a16:creationId xmlns:a16="http://schemas.microsoft.com/office/drawing/2014/main" id="{BEE451FB-9A92-6F36-265B-99D19E9CCBAF}"/>
                </a:ext>
              </a:extLst>
            </p:cNvPr>
            <p:cNvCxnSpPr>
              <a:cxnSpLocks/>
              <a:endCxn id="58" idx="2"/>
            </p:cNvCxnSpPr>
            <p:nvPr/>
          </p:nvCxnSpPr>
          <p:spPr>
            <a:xfrm rot="16200000">
              <a:off x="3871467" y="489109"/>
              <a:ext cx="1" cy="5408698"/>
            </a:xfrm>
            <a:prstGeom prst="line">
              <a:avLst/>
            </a:prstGeom>
            <a:grpFill/>
            <a:ln w="28575" cap="flat" cmpd="sng" algn="ctr">
              <a:solidFill>
                <a:schemeClr val="accent1"/>
              </a:solidFill>
              <a:prstDash val="solid"/>
            </a:ln>
            <a:effectLst/>
          </p:spPr>
        </p:cxnSp>
        <p:grpSp>
          <p:nvGrpSpPr>
            <p:cNvPr id="8" name="Group 7">
              <a:extLst>
                <a:ext uri="{FF2B5EF4-FFF2-40B4-BE49-F238E27FC236}">
                  <a16:creationId xmlns:a16="http://schemas.microsoft.com/office/drawing/2014/main" id="{43AD19DF-F852-E85D-6770-7754CF1E940E}"/>
                </a:ext>
              </a:extLst>
            </p:cNvPr>
            <p:cNvGrpSpPr/>
            <p:nvPr/>
          </p:nvGrpSpPr>
          <p:grpSpPr>
            <a:xfrm>
              <a:off x="1052820" y="3079158"/>
              <a:ext cx="5751597" cy="228600"/>
              <a:chOff x="1052820" y="3079158"/>
              <a:chExt cx="5751597" cy="228600"/>
            </a:xfrm>
            <a:grpFill/>
          </p:grpSpPr>
          <p:sp>
            <p:nvSpPr>
              <p:cNvPr id="40" name="Oval 39">
                <a:extLst>
                  <a:ext uri="{FF2B5EF4-FFF2-40B4-BE49-F238E27FC236}">
                    <a16:creationId xmlns:a16="http://schemas.microsoft.com/office/drawing/2014/main" id="{2FDA1B28-F8CF-FDBE-2307-8A9E308E9E3A}"/>
                  </a:ext>
                </a:extLst>
              </p:cNvPr>
              <p:cNvSpPr/>
              <p:nvPr/>
            </p:nvSpPr>
            <p:spPr>
              <a:xfrm>
                <a:off x="2737324" y="3079158"/>
                <a:ext cx="228601" cy="228600"/>
              </a:xfrm>
              <a:prstGeom prst="ellipse">
                <a:avLst/>
              </a:prstGeom>
              <a:grpFill/>
              <a:ln w="9525" cap="flat" cmpd="sng" algn="ctr">
                <a:solidFill>
                  <a:schemeClr val="accent1"/>
                </a:solidFill>
                <a:prstDash val="solid"/>
              </a:ln>
              <a:effectLst>
                <a:outerShdw blurRad="40000" dist="23000" dir="5400000" rotWithShape="0">
                  <a:srgbClr val="000000">
                    <a:alpha val="35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effectLst/>
                  <a:uLnTx/>
                  <a:uFillTx/>
                  <a:latin typeface="Arial" panose="020B0604020202020204" pitchFamily="34" charset="0"/>
                  <a:ea typeface="+mn-ea"/>
                  <a:cs typeface="+mn-cs"/>
                </a:endParaRPr>
              </a:p>
            </p:txBody>
          </p:sp>
          <p:sp>
            <p:nvSpPr>
              <p:cNvPr id="51" name="Oval 50">
                <a:extLst>
                  <a:ext uri="{FF2B5EF4-FFF2-40B4-BE49-F238E27FC236}">
                    <a16:creationId xmlns:a16="http://schemas.microsoft.com/office/drawing/2014/main" id="{B38D0CE2-B7FD-C9AC-19C6-577CF1FB6C75}"/>
                  </a:ext>
                </a:extLst>
              </p:cNvPr>
              <p:cNvSpPr/>
              <p:nvPr/>
            </p:nvSpPr>
            <p:spPr>
              <a:xfrm>
                <a:off x="1052820" y="3079158"/>
                <a:ext cx="228600" cy="228600"/>
              </a:xfrm>
              <a:prstGeom prst="ellipse">
                <a:avLst/>
              </a:prstGeom>
              <a:grpFill/>
              <a:ln w="9525" cap="flat" cmpd="sng" algn="ctr">
                <a:solidFill>
                  <a:schemeClr val="accent1"/>
                </a:solidFill>
                <a:prstDash val="solid"/>
              </a:ln>
              <a:effectLst>
                <a:outerShdw blurRad="40000" dist="23000" dir="5400000" rotWithShape="0">
                  <a:srgbClr val="000000">
                    <a:alpha val="35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effectLst/>
                  <a:uLnTx/>
                  <a:uFillTx/>
                  <a:latin typeface="Arial" panose="020B0604020202020204" pitchFamily="34" charset="0"/>
                  <a:ea typeface="+mn-ea"/>
                  <a:cs typeface="+mn-cs"/>
                </a:endParaRPr>
              </a:p>
            </p:txBody>
          </p:sp>
          <p:sp>
            <p:nvSpPr>
              <p:cNvPr id="57" name="Oval 56">
                <a:extLst>
                  <a:ext uri="{FF2B5EF4-FFF2-40B4-BE49-F238E27FC236}">
                    <a16:creationId xmlns:a16="http://schemas.microsoft.com/office/drawing/2014/main" id="{FB461493-109D-E847-672D-78B927646FD1}"/>
                  </a:ext>
                </a:extLst>
              </p:cNvPr>
              <p:cNvSpPr/>
              <p:nvPr/>
            </p:nvSpPr>
            <p:spPr>
              <a:xfrm>
                <a:off x="4403770" y="3079158"/>
                <a:ext cx="228601" cy="228600"/>
              </a:xfrm>
              <a:prstGeom prst="ellipse">
                <a:avLst/>
              </a:prstGeom>
              <a:grpFill/>
              <a:ln w="9525" cap="flat" cmpd="sng" algn="ctr">
                <a:solidFill>
                  <a:schemeClr val="accent1"/>
                </a:solidFill>
                <a:prstDash val="solid"/>
              </a:ln>
              <a:effectLst>
                <a:outerShdw blurRad="40000" dist="23000" dir="5400000" rotWithShape="0">
                  <a:srgbClr val="000000">
                    <a:alpha val="35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effectLst/>
                  <a:uLnTx/>
                  <a:uFillTx/>
                  <a:latin typeface="Arial" panose="020B0604020202020204" pitchFamily="34" charset="0"/>
                  <a:ea typeface="+mn-ea"/>
                  <a:cs typeface="+mn-cs"/>
                </a:endParaRPr>
              </a:p>
            </p:txBody>
          </p:sp>
          <p:sp>
            <p:nvSpPr>
              <p:cNvPr id="58" name="Oval 57">
                <a:extLst>
                  <a:ext uri="{FF2B5EF4-FFF2-40B4-BE49-F238E27FC236}">
                    <a16:creationId xmlns:a16="http://schemas.microsoft.com/office/drawing/2014/main" id="{961894D3-B8CC-06F8-F7F6-CCDDC815121B}"/>
                  </a:ext>
                </a:extLst>
              </p:cNvPr>
              <p:cNvSpPr/>
              <p:nvPr/>
            </p:nvSpPr>
            <p:spPr>
              <a:xfrm>
                <a:off x="6575816" y="3079158"/>
                <a:ext cx="228601" cy="228600"/>
              </a:xfrm>
              <a:prstGeom prst="ellipse">
                <a:avLst/>
              </a:prstGeom>
              <a:grpFill/>
              <a:ln w="9525" cap="flat" cmpd="sng" algn="ctr">
                <a:solidFill>
                  <a:schemeClr val="accent1"/>
                </a:solidFill>
                <a:prstDash val="solid"/>
              </a:ln>
              <a:effectLst>
                <a:outerShdw blurRad="40000" dist="23000" dir="5400000" rotWithShape="0">
                  <a:srgbClr val="000000">
                    <a:alpha val="35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effectLst/>
                  <a:uLnTx/>
                  <a:uFillTx/>
                  <a:latin typeface="Arial" panose="020B0604020202020204" pitchFamily="34" charset="0"/>
                  <a:ea typeface="+mn-ea"/>
                  <a:cs typeface="+mn-cs"/>
                </a:endParaRPr>
              </a:p>
            </p:txBody>
          </p:sp>
        </p:grpSp>
      </p:grpSp>
      <p:sp>
        <p:nvSpPr>
          <p:cNvPr id="62" name="TextBox 61">
            <a:extLst>
              <a:ext uri="{FF2B5EF4-FFF2-40B4-BE49-F238E27FC236}">
                <a16:creationId xmlns:a16="http://schemas.microsoft.com/office/drawing/2014/main" id="{72149D3C-40BE-B2BA-D4D5-3E9E7C4A88D6}"/>
              </a:ext>
            </a:extLst>
          </p:cNvPr>
          <p:cNvSpPr txBox="1"/>
          <p:nvPr/>
        </p:nvSpPr>
        <p:spPr>
          <a:xfrm>
            <a:off x="249323" y="1006473"/>
            <a:ext cx="800100" cy="338554"/>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effectLst/>
                <a:uLnTx/>
                <a:uFillTx/>
                <a:latin typeface="Arial" panose="020B0604020202020204" pitchFamily="34" charset="0"/>
                <a:ea typeface="+mn-ea"/>
                <a:cs typeface="Arial" panose="020B0604020202020204" pitchFamily="34" charset="0"/>
              </a:rPr>
              <a:t>1992</a:t>
            </a:r>
          </a:p>
        </p:txBody>
      </p:sp>
      <p:sp>
        <p:nvSpPr>
          <p:cNvPr id="66" name="TextBox 65">
            <a:extLst>
              <a:ext uri="{FF2B5EF4-FFF2-40B4-BE49-F238E27FC236}">
                <a16:creationId xmlns:a16="http://schemas.microsoft.com/office/drawing/2014/main" id="{F6A7FF5D-8597-BBEF-6F87-2EB6B836A105}"/>
              </a:ext>
            </a:extLst>
          </p:cNvPr>
          <p:cNvSpPr txBox="1"/>
          <p:nvPr/>
        </p:nvSpPr>
        <p:spPr>
          <a:xfrm>
            <a:off x="1049423" y="1108909"/>
            <a:ext cx="3629455" cy="821763"/>
          </a:xfrm>
          <a:prstGeom prst="rect">
            <a:avLst/>
          </a:prstGeom>
          <a:solidFill>
            <a:schemeClr val="accent6">
              <a:lumMod val="20000"/>
              <a:lumOff val="80000"/>
            </a:schemeClr>
          </a:solidFill>
        </p:spPr>
        <p:txBody>
          <a:bodyPr wrap="square">
            <a:spAutoFit/>
          </a:bodyPr>
          <a:lstStyle/>
          <a:p>
            <a:pPr marL="0" marR="0" lvl="0" indent="0" algn="ctr" defTabSz="889000" rtl="0" eaLnBrk="1" fontAlgn="auto" latinLnBrk="0" hangingPunct="1">
              <a:lnSpc>
                <a:spcPct val="90000"/>
              </a:lnSpc>
              <a:spcBef>
                <a:spcPct val="0"/>
              </a:spcBef>
              <a:spcAft>
                <a:spcPct val="35000"/>
              </a:spcAft>
              <a:buClrTx/>
              <a:buSzTx/>
              <a:buFontTx/>
              <a:buNone/>
              <a:tabLst/>
              <a:defRPr/>
            </a:pPr>
            <a:r>
              <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Electricity Act, 2049</a:t>
            </a:r>
          </a:p>
          <a:p>
            <a:pPr marL="0" marR="0" lvl="0" indent="0" algn="ctr" defTabSz="8890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Governs generation, transmission and distribution of electricity; includes provisions of  Import/Export of power, </a:t>
            </a:r>
            <a:r>
              <a:rPr lang="en-US" sz="1200" b="0">
                <a:solidFill>
                  <a:prstClr val="black"/>
                </a:solidFill>
                <a:latin typeface="Arial" panose="020B0604020202020204" pitchFamily="34" charset="0"/>
                <a:cs typeface="Arial" panose="020B0604020202020204" pitchFamily="34" charset="0"/>
              </a:rPr>
              <a:t>basis </a:t>
            </a:r>
            <a:r>
              <a:rPr lang="en-US" sz="1200">
                <a:solidFill>
                  <a:prstClr val="black"/>
                </a:solidFill>
                <a:latin typeface="Arial" panose="020B0604020202020204" pitchFamily="34" charset="0"/>
                <a:cs typeface="Arial" panose="020B0604020202020204" pitchFamily="34" charset="0"/>
              </a:rPr>
              <a:t>for royalty</a:t>
            </a:r>
            <a:endParaRPr kumimoji="0" lang="en-US" sz="120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7" name="TextBox 66">
            <a:extLst>
              <a:ext uri="{FF2B5EF4-FFF2-40B4-BE49-F238E27FC236}">
                <a16:creationId xmlns:a16="http://schemas.microsoft.com/office/drawing/2014/main" id="{2162BB96-E57D-0709-225D-EB7534F46CD4}"/>
              </a:ext>
            </a:extLst>
          </p:cNvPr>
          <p:cNvSpPr txBox="1"/>
          <p:nvPr/>
        </p:nvSpPr>
        <p:spPr>
          <a:xfrm>
            <a:off x="1030346" y="2398087"/>
            <a:ext cx="3629455" cy="821763"/>
          </a:xfrm>
          <a:prstGeom prst="rect">
            <a:avLst/>
          </a:prstGeom>
          <a:solidFill>
            <a:schemeClr val="accent6">
              <a:lumMod val="20000"/>
              <a:lumOff val="80000"/>
            </a:schemeClr>
          </a:solidFill>
        </p:spPr>
        <p:txBody>
          <a:bodyPr wrap="square">
            <a:spAutoFit/>
          </a:bodyPr>
          <a:lstStyle/>
          <a:p>
            <a:pPr marL="0" marR="0" lvl="0" indent="0" algn="ctr" defTabSz="889000" rtl="0" eaLnBrk="1" fontAlgn="auto" latinLnBrk="0" hangingPunct="1">
              <a:lnSpc>
                <a:spcPct val="90000"/>
              </a:lnSpc>
              <a:spcBef>
                <a:spcPct val="0"/>
              </a:spcBef>
              <a:spcAft>
                <a:spcPct val="35000"/>
              </a:spcAft>
              <a:buClrTx/>
              <a:buSzTx/>
              <a:buFontTx/>
              <a:buNone/>
              <a:tabLst/>
              <a:defRPr/>
            </a:pPr>
            <a:r>
              <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Electricity Regulations 2050 </a:t>
            </a:r>
          </a:p>
          <a:p>
            <a:pPr marL="0" marR="0" lvl="0" indent="0" algn="ctr" defTabSz="88900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Mandated licensing regime; emphasis on the applicability of the export duty for exporting electricity</a:t>
            </a:r>
          </a:p>
        </p:txBody>
      </p:sp>
      <p:sp>
        <p:nvSpPr>
          <p:cNvPr id="68" name="TextBox 67">
            <a:extLst>
              <a:ext uri="{FF2B5EF4-FFF2-40B4-BE49-F238E27FC236}">
                <a16:creationId xmlns:a16="http://schemas.microsoft.com/office/drawing/2014/main" id="{F738D1D5-E48A-3DB1-C043-CEB4B596B676}"/>
              </a:ext>
            </a:extLst>
          </p:cNvPr>
          <p:cNvSpPr txBox="1"/>
          <p:nvPr/>
        </p:nvSpPr>
        <p:spPr>
          <a:xfrm>
            <a:off x="514884" y="2041070"/>
            <a:ext cx="800100" cy="338554"/>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effectLst/>
                <a:uLnTx/>
                <a:uFillTx/>
                <a:latin typeface="Arial" panose="020B0604020202020204" pitchFamily="34" charset="0"/>
                <a:ea typeface="+mn-ea"/>
                <a:cs typeface="Arial" panose="020B0604020202020204" pitchFamily="34" charset="0"/>
              </a:rPr>
              <a:t>1993</a:t>
            </a:r>
          </a:p>
        </p:txBody>
      </p:sp>
      <p:sp>
        <p:nvSpPr>
          <p:cNvPr id="69" name="TextBox 68">
            <a:extLst>
              <a:ext uri="{FF2B5EF4-FFF2-40B4-BE49-F238E27FC236}">
                <a16:creationId xmlns:a16="http://schemas.microsoft.com/office/drawing/2014/main" id="{0E528BEA-E14E-AD8E-4F56-5A521972F735}"/>
              </a:ext>
            </a:extLst>
          </p:cNvPr>
          <p:cNvSpPr txBox="1"/>
          <p:nvPr/>
        </p:nvSpPr>
        <p:spPr>
          <a:xfrm>
            <a:off x="614861" y="3193883"/>
            <a:ext cx="800100" cy="338554"/>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effectLst/>
                <a:uLnTx/>
                <a:uFillTx/>
                <a:latin typeface="Arial" panose="020B0604020202020204" pitchFamily="34" charset="0"/>
                <a:ea typeface="+mn-ea"/>
                <a:cs typeface="Arial" panose="020B0604020202020204" pitchFamily="34" charset="0"/>
              </a:rPr>
              <a:t>2001</a:t>
            </a:r>
          </a:p>
        </p:txBody>
      </p:sp>
      <p:sp>
        <p:nvSpPr>
          <p:cNvPr id="75" name="TextBox 74">
            <a:extLst>
              <a:ext uri="{FF2B5EF4-FFF2-40B4-BE49-F238E27FC236}">
                <a16:creationId xmlns:a16="http://schemas.microsoft.com/office/drawing/2014/main" id="{7884D1B9-2121-0C18-315B-9B10BE45F4FC}"/>
              </a:ext>
            </a:extLst>
          </p:cNvPr>
          <p:cNvSpPr txBox="1"/>
          <p:nvPr/>
        </p:nvSpPr>
        <p:spPr>
          <a:xfrm>
            <a:off x="1030347" y="3554895"/>
            <a:ext cx="3629454" cy="757130"/>
          </a:xfrm>
          <a:prstGeom prst="rect">
            <a:avLst/>
          </a:prstGeom>
          <a:solidFill>
            <a:schemeClr val="accent6">
              <a:lumMod val="20000"/>
              <a:lumOff val="80000"/>
            </a:schemeClr>
          </a:solidFill>
        </p:spPr>
        <p:txBody>
          <a:bodyPr wrap="square">
            <a:spAutoFit/>
          </a:bodyPr>
          <a:lstStyle/>
          <a:p>
            <a:pPr marL="0" marR="0" lvl="0" indent="0" algn="ctr" defTabSz="889000" rtl="0" eaLnBrk="1" fontAlgn="auto" latinLnBrk="0" hangingPunct="1">
              <a:lnSpc>
                <a:spcPct val="90000"/>
              </a:lnSpc>
              <a:spcBef>
                <a:spcPct val="0"/>
              </a:spcBef>
              <a:spcAft>
                <a:spcPct val="35000"/>
              </a:spcAft>
              <a:buClrTx/>
              <a:buSzTx/>
              <a:buFontTx/>
              <a:buNone/>
              <a:tabLst/>
              <a:defRPr/>
            </a:pPr>
            <a:r>
              <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Hydro Power Development Policy, 2058 </a:t>
            </a:r>
            <a:r>
              <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Emphasis on development of hydropower projects as export-oriented projects; royalty computation mechanism</a:t>
            </a:r>
          </a:p>
        </p:txBody>
      </p:sp>
      <p:sp>
        <p:nvSpPr>
          <p:cNvPr id="81" name="TextBox 80">
            <a:extLst>
              <a:ext uri="{FF2B5EF4-FFF2-40B4-BE49-F238E27FC236}">
                <a16:creationId xmlns:a16="http://schemas.microsoft.com/office/drawing/2014/main" id="{5437887D-5DA6-5EAC-449B-7D6EA5AD16F2}"/>
              </a:ext>
            </a:extLst>
          </p:cNvPr>
          <p:cNvSpPr txBox="1"/>
          <p:nvPr/>
        </p:nvSpPr>
        <p:spPr>
          <a:xfrm>
            <a:off x="556454" y="4427280"/>
            <a:ext cx="800100" cy="338554"/>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effectLst/>
                <a:uLnTx/>
                <a:uFillTx/>
                <a:latin typeface="Arial" panose="020B0604020202020204" pitchFamily="34" charset="0"/>
                <a:ea typeface="+mn-ea"/>
                <a:cs typeface="Arial" panose="020B0604020202020204" pitchFamily="34" charset="0"/>
              </a:rPr>
              <a:t>2017</a:t>
            </a:r>
          </a:p>
        </p:txBody>
      </p:sp>
      <p:sp>
        <p:nvSpPr>
          <p:cNvPr id="82" name="TextBox 81">
            <a:extLst>
              <a:ext uri="{FF2B5EF4-FFF2-40B4-BE49-F238E27FC236}">
                <a16:creationId xmlns:a16="http://schemas.microsoft.com/office/drawing/2014/main" id="{EAB5ABB0-CCB7-571C-E2CE-3148B3EEFA74}"/>
              </a:ext>
            </a:extLst>
          </p:cNvPr>
          <p:cNvSpPr txBox="1"/>
          <p:nvPr/>
        </p:nvSpPr>
        <p:spPr>
          <a:xfrm>
            <a:off x="1014911" y="4726677"/>
            <a:ext cx="3629455" cy="757130"/>
          </a:xfrm>
          <a:prstGeom prst="rect">
            <a:avLst/>
          </a:prstGeom>
          <a:solidFill>
            <a:schemeClr val="accent6">
              <a:lumMod val="20000"/>
              <a:lumOff val="80000"/>
            </a:schemeClr>
          </a:solidFill>
        </p:spPr>
        <p:txBody>
          <a:bodyPr wrap="square">
            <a:spAutoFit/>
          </a:bodyPr>
          <a:lstStyle/>
          <a:p>
            <a:pPr marL="0" marR="0" lvl="0" indent="0" algn="ctr" defTabSz="889000" rtl="0" eaLnBrk="1" fontAlgn="auto" latinLnBrk="0" hangingPunct="1">
              <a:lnSpc>
                <a:spcPct val="90000"/>
              </a:lnSpc>
              <a:spcBef>
                <a:spcPct val="0"/>
              </a:spcBef>
              <a:spcAft>
                <a:spcPct val="35000"/>
              </a:spcAft>
              <a:buClrTx/>
              <a:buSzTx/>
              <a:buFontTx/>
              <a:buNone/>
              <a:tabLst/>
              <a:defRPr/>
            </a:pPr>
            <a:r>
              <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Electricity Regulatory Commission Act, 2074 </a:t>
            </a:r>
            <a:r>
              <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Empowers ERC to regulate tariffs, issue licenses, resolve disputes; approves tariffs for export and trade agreements.</a:t>
            </a:r>
          </a:p>
        </p:txBody>
      </p:sp>
      <p:graphicFrame>
        <p:nvGraphicFramePr>
          <p:cNvPr id="13" name="Table 18">
            <a:extLst>
              <a:ext uri="{FF2B5EF4-FFF2-40B4-BE49-F238E27FC236}">
                <a16:creationId xmlns:a16="http://schemas.microsoft.com/office/drawing/2014/main" id="{01682D76-F06F-6A60-CEC6-7ECBAB001F1C}"/>
              </a:ext>
            </a:extLst>
          </p:cNvPr>
          <p:cNvGraphicFramePr>
            <a:graphicFrameLocks noGrp="1"/>
          </p:cNvGraphicFramePr>
          <p:nvPr>
            <p:extLst>
              <p:ext uri="{D42A27DB-BD31-4B8C-83A1-F6EECF244321}">
                <p14:modId xmlns:p14="http://schemas.microsoft.com/office/powerpoint/2010/main" val="519583733"/>
              </p:ext>
            </p:extLst>
          </p:nvPr>
        </p:nvGraphicFramePr>
        <p:xfrm>
          <a:off x="5029668" y="1047639"/>
          <a:ext cx="6637043" cy="4718168"/>
        </p:xfrm>
        <a:graphic>
          <a:graphicData uri="http://schemas.openxmlformats.org/drawingml/2006/table">
            <a:tbl>
              <a:tblPr firstRow="1" bandRow="1">
                <a:tableStyleId>{5A111915-BE36-4E01-A7E5-04B1672EAD32}</a:tableStyleId>
              </a:tblPr>
              <a:tblGrid>
                <a:gridCol w="2238018">
                  <a:extLst>
                    <a:ext uri="{9D8B030D-6E8A-4147-A177-3AD203B41FA5}">
                      <a16:colId xmlns:a16="http://schemas.microsoft.com/office/drawing/2014/main" val="2674873869"/>
                    </a:ext>
                  </a:extLst>
                </a:gridCol>
                <a:gridCol w="4399025">
                  <a:extLst>
                    <a:ext uri="{9D8B030D-6E8A-4147-A177-3AD203B41FA5}">
                      <a16:colId xmlns:a16="http://schemas.microsoft.com/office/drawing/2014/main" val="1155896765"/>
                    </a:ext>
                  </a:extLst>
                </a:gridCol>
              </a:tblGrid>
              <a:tr h="329048">
                <a:tc>
                  <a:txBody>
                    <a:bodyPr/>
                    <a:lstStyle/>
                    <a:p>
                      <a:r>
                        <a:rPr lang="en-US" sz="1200" b="1">
                          <a:solidFill>
                            <a:schemeClr val="bg1"/>
                          </a:solidFill>
                        </a:rPr>
                        <a:t>Policy/Plan/ Name, Publish Year </a:t>
                      </a:r>
                    </a:p>
                  </a:txBody>
                  <a:tcPr/>
                </a:tc>
                <a:tc>
                  <a:txBody>
                    <a:bodyPr/>
                    <a:lstStyle/>
                    <a:p>
                      <a:pPr algn="ctr"/>
                      <a:r>
                        <a:rPr lang="en-US" sz="1200" b="1">
                          <a:solidFill>
                            <a:schemeClr val="bg1"/>
                          </a:solidFill>
                        </a:rPr>
                        <a:t>Key Targets</a:t>
                      </a:r>
                    </a:p>
                  </a:txBody>
                  <a:tcPr anchor="ctr"/>
                </a:tc>
                <a:extLst>
                  <a:ext uri="{0D108BD9-81ED-4DB2-BD59-A6C34878D82A}">
                    <a16:rowId xmlns:a16="http://schemas.microsoft.com/office/drawing/2014/main" val="2818814530"/>
                  </a:ext>
                </a:extLst>
              </a:tr>
              <a:tr h="355895">
                <a:tc>
                  <a:txBody>
                    <a:bodyPr/>
                    <a:lstStyle/>
                    <a:p>
                      <a:r>
                        <a:rPr lang="en-US" sz="1200" b="1"/>
                        <a:t>National Energy Strategy of Nepal, 2013</a:t>
                      </a:r>
                    </a:p>
                  </a:txBody>
                  <a:tcPr/>
                </a:tc>
                <a:tc>
                  <a:txBody>
                    <a:bodyPr/>
                    <a:lstStyle/>
                    <a:p>
                      <a:pPr marL="171450" indent="-171450">
                        <a:buFont typeface="Arial" panose="020B0604020202020204" pitchFamily="34" charset="0"/>
                        <a:buChar char="•"/>
                      </a:pPr>
                      <a:r>
                        <a:rPr lang="en-US" sz="1200"/>
                        <a:t>Replace 50% of Traditional Cookstoves with Improved Cookstoves (ICS) by 2030</a:t>
                      </a:r>
                      <a:endParaRPr lang="en-US" sz="1200" b="0">
                        <a:solidFill>
                          <a:schemeClr val="bg2"/>
                        </a:solidFill>
                      </a:endParaRPr>
                    </a:p>
                  </a:txBody>
                  <a:tcPr/>
                </a:tc>
                <a:extLst>
                  <a:ext uri="{0D108BD9-81ED-4DB2-BD59-A6C34878D82A}">
                    <a16:rowId xmlns:a16="http://schemas.microsoft.com/office/drawing/2014/main" val="1963435167"/>
                  </a:ext>
                </a:extLst>
              </a:tr>
              <a:tr h="782970">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200" b="1" kern="1200" noProof="0">
                          <a:solidFill>
                            <a:schemeClr val="dk1"/>
                          </a:solidFill>
                        </a:rPr>
                        <a:t>Nepal's Energy Sector Vision 2050 A.D., 2013</a:t>
                      </a:r>
                      <a:endParaRPr lang="en-US" sz="1200" b="1" kern="1200" noProof="0">
                        <a:solidFill>
                          <a:schemeClr val="dk1"/>
                        </a:solidFill>
                        <a:latin typeface="+mn-lt"/>
                        <a:ea typeface="+mn-ea"/>
                        <a:cs typeface="+mn-cs"/>
                      </a:endParaRPr>
                    </a:p>
                  </a:txBody>
                  <a:tcPr/>
                </a:tc>
                <a:tc>
                  <a:txBody>
                    <a:bodyPr/>
                    <a:lstStyle/>
                    <a:p>
                      <a:pPr marL="171450" indent="-171450" algn="l" defTabSz="457200" rtl="0" eaLnBrk="1" latinLnBrk="0" hangingPunct="1">
                        <a:buFont typeface="Arial" panose="020B0604020202020204" pitchFamily="34" charset="0"/>
                        <a:buChar char="•"/>
                      </a:pPr>
                      <a:r>
                        <a:rPr lang="en-US" sz="1200" kern="1200">
                          <a:solidFill>
                            <a:schemeClr val="dk1"/>
                          </a:solidFill>
                        </a:rPr>
                        <a:t>Target to reach a share of 10% LPG, 50% fuelwood, and 40% electricity in rural cooking by 2030</a:t>
                      </a:r>
                    </a:p>
                    <a:p>
                      <a:pPr marL="171450" indent="-171450" algn="l" defTabSz="457200" rtl="0" eaLnBrk="1" latinLnBrk="0" hangingPunct="1">
                        <a:buFont typeface="Arial" panose="020B0604020202020204" pitchFamily="34" charset="0"/>
                        <a:buChar char="•"/>
                      </a:pPr>
                      <a:r>
                        <a:rPr lang="en-US" sz="1200" kern="1200">
                          <a:solidFill>
                            <a:schemeClr val="dk1"/>
                          </a:solidFill>
                        </a:rPr>
                        <a:t>100% electrification in urban cooking by 2030</a:t>
                      </a:r>
                    </a:p>
                    <a:p>
                      <a:pPr marL="171450" indent="-171450" algn="l" defTabSz="457200" rtl="0" eaLnBrk="1" latinLnBrk="0" hangingPunct="1">
                        <a:buFont typeface="Arial" panose="020B0604020202020204" pitchFamily="34" charset="0"/>
                        <a:buChar char="•"/>
                      </a:pPr>
                      <a:r>
                        <a:rPr lang="en-US" sz="1200" kern="1200">
                          <a:solidFill>
                            <a:schemeClr val="dk1"/>
                          </a:solidFill>
                        </a:rPr>
                        <a:t>Enhancing the efficiency of Improved Cookstoves to 15% by 2030 and remain constant till 2050</a:t>
                      </a:r>
                      <a:endParaRPr lang="en-US" sz="1200" kern="1200">
                        <a:solidFill>
                          <a:schemeClr val="dk1"/>
                        </a:solidFill>
                        <a:latin typeface="+mn-lt"/>
                        <a:ea typeface="+mn-ea"/>
                        <a:cs typeface="+mn-cs"/>
                      </a:endParaRPr>
                    </a:p>
                  </a:txBody>
                  <a:tcPr/>
                </a:tc>
                <a:extLst>
                  <a:ext uri="{0D108BD9-81ED-4DB2-BD59-A6C34878D82A}">
                    <a16:rowId xmlns:a16="http://schemas.microsoft.com/office/drawing/2014/main" val="887345449"/>
                  </a:ext>
                </a:extLst>
              </a:tr>
              <a:tr h="782970">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u="none" strike="noStrike" kern="1200" cap="none" spc="0" normalizeH="0" baseline="0" noProof="0">
                          <a:ln>
                            <a:noFill/>
                          </a:ln>
                          <a:solidFill>
                            <a:prstClr val="black"/>
                          </a:solidFill>
                          <a:effectLst/>
                          <a:uLnTx/>
                          <a:uFillTx/>
                        </a:rPr>
                        <a:t>Sustainable Development Goals Status and Roadmap 2016-2030, 2017</a:t>
                      </a:r>
                      <a:endParaRPr kumimoji="0" lang="en-US" sz="1200" b="1" i="0" u="none" strike="noStrike" kern="1200" cap="none" spc="0" normalizeH="0" baseline="0" noProof="0">
                        <a:ln>
                          <a:noFill/>
                        </a:ln>
                        <a:solidFill>
                          <a:prstClr val="black"/>
                        </a:solidFill>
                        <a:effectLst/>
                        <a:uLnTx/>
                        <a:uFillTx/>
                        <a:latin typeface="Gill Sans MT" panose="020B0502020104020203" pitchFamily="34" charset="0"/>
                        <a:ea typeface="+mn-ea"/>
                        <a:cs typeface="+mn-cs"/>
                      </a:endParaRPr>
                    </a:p>
                  </a:txBody>
                  <a:tcPr/>
                </a:tc>
                <a:tc>
                  <a:txBody>
                    <a:bodyPr/>
                    <a:lstStyle/>
                    <a:p>
                      <a:pPr marL="171450" indent="-171450" algn="l" defTabSz="457200" rtl="0" eaLnBrk="1" latinLnBrk="0" hangingPunct="1">
                        <a:buFont typeface="Arial" panose="020B0604020202020204" pitchFamily="34" charset="0"/>
                        <a:buChar char="•"/>
                      </a:pPr>
                      <a:r>
                        <a:rPr lang="en-US" sz="1200" kern="1200">
                          <a:solidFill>
                            <a:schemeClr val="tx1"/>
                          </a:solidFill>
                        </a:rPr>
                        <a:t>99% of population with access to electricity by 2030</a:t>
                      </a:r>
                    </a:p>
                    <a:p>
                      <a:pPr marL="171450" indent="-171450" algn="l" defTabSz="457200" rtl="0" eaLnBrk="1" latinLnBrk="0" hangingPunct="1">
                        <a:buFont typeface="Arial" panose="020B0604020202020204" pitchFamily="34" charset="0"/>
                        <a:buChar char="•"/>
                      </a:pPr>
                      <a:r>
                        <a:rPr lang="en-US" sz="1200" kern="1200">
                          <a:solidFill>
                            <a:schemeClr val="tx1"/>
                          </a:solidFill>
                        </a:rPr>
                        <a:t>Households using fossil fuels to be reduced to 30% by 2030</a:t>
                      </a:r>
                    </a:p>
                    <a:p>
                      <a:pPr marL="171450" indent="-171450" algn="l" defTabSz="457200" rtl="0" eaLnBrk="1" latinLnBrk="0" hangingPunct="1">
                        <a:buFont typeface="Arial" panose="020B0604020202020204" pitchFamily="34" charset="0"/>
                        <a:buChar char="•"/>
                      </a:pPr>
                      <a:r>
                        <a:rPr lang="en-US" sz="1200" kern="1200">
                          <a:solidFill>
                            <a:schemeClr val="tx1"/>
                          </a:solidFill>
                        </a:rPr>
                        <a:t>Share of people using LPG for cooking and heating to reach 39% by 2030</a:t>
                      </a:r>
                    </a:p>
                    <a:p>
                      <a:pPr marL="171450" indent="-171450" algn="l" defTabSz="457200" rtl="0" eaLnBrk="1" latinLnBrk="0" hangingPunct="1">
                        <a:buFont typeface="Arial" panose="020B0604020202020204" pitchFamily="34" charset="0"/>
                        <a:buChar char="•"/>
                      </a:pPr>
                      <a:r>
                        <a:rPr lang="en-US" sz="1200" kern="1200">
                          <a:solidFill>
                            <a:schemeClr val="tx1"/>
                          </a:solidFill>
                        </a:rPr>
                        <a:t>Efficiency of residential appliances to increase till 60% by 2030</a:t>
                      </a:r>
                      <a:endParaRPr lang="en-US" sz="1200" kern="1200">
                        <a:solidFill>
                          <a:schemeClr val="tx1"/>
                        </a:solidFill>
                        <a:latin typeface="+mn-lt"/>
                        <a:ea typeface="+mn-ea"/>
                        <a:cs typeface="+mn-cs"/>
                      </a:endParaRPr>
                    </a:p>
                  </a:txBody>
                  <a:tcPr/>
                </a:tc>
                <a:extLst>
                  <a:ext uri="{0D108BD9-81ED-4DB2-BD59-A6C34878D82A}">
                    <a16:rowId xmlns:a16="http://schemas.microsoft.com/office/drawing/2014/main" val="1171594453"/>
                  </a:ext>
                </a:extLst>
              </a:tr>
              <a:tr h="640612">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u="none" strike="noStrike" kern="1200" cap="none" spc="0" normalizeH="0" baseline="0" noProof="0">
                          <a:ln>
                            <a:noFill/>
                          </a:ln>
                          <a:solidFill>
                            <a:prstClr val="black"/>
                          </a:solidFill>
                          <a:effectLst/>
                          <a:uLnTx/>
                          <a:uFillTx/>
                        </a:rPr>
                        <a:t>Second Nationally Determined Contribution, 2020</a:t>
                      </a:r>
                      <a:endParaRPr kumimoji="0" lang="en-US" sz="1200" b="1" i="0" u="none" strike="noStrike" kern="1200" cap="none" spc="0" normalizeH="0" baseline="0" noProof="0">
                        <a:ln>
                          <a:noFill/>
                        </a:ln>
                        <a:solidFill>
                          <a:prstClr val="black"/>
                        </a:solidFill>
                        <a:effectLst/>
                        <a:uLnTx/>
                        <a:uFillTx/>
                        <a:latin typeface="Gill Sans MT" panose="020B0502020104020203" pitchFamily="34" charset="0"/>
                        <a:ea typeface="+mn-ea"/>
                        <a:cs typeface="+mn-cs"/>
                      </a:endParaRPr>
                    </a:p>
                  </a:txBody>
                  <a:tcPr/>
                </a:tc>
                <a:tc>
                  <a:txBody>
                    <a:bodyPr/>
                    <a:lstStyle/>
                    <a:p>
                      <a:pPr marL="171450" indent="-171450" algn="l" defTabSz="457200" rtl="0" eaLnBrk="1" latinLnBrk="0" hangingPunct="1">
                        <a:buFont typeface="Arial" panose="020B0604020202020204" pitchFamily="34" charset="0"/>
                        <a:buChar char="•"/>
                      </a:pPr>
                      <a:r>
                        <a:rPr lang="en-US" sz="1200" kern="1200">
                          <a:solidFill>
                            <a:schemeClr val="tx1"/>
                          </a:solidFill>
                        </a:rPr>
                        <a:t>By 2025 : Install 5 lakhs ICS, 2 lakhs additional household biogas plants, 500 large scale biogas plants</a:t>
                      </a:r>
                    </a:p>
                    <a:p>
                      <a:pPr marL="171450" indent="-171450" algn="l" defTabSz="457200" rtl="0" eaLnBrk="1" latinLnBrk="0" hangingPunct="1">
                        <a:buFont typeface="Arial" panose="020B0604020202020204" pitchFamily="34" charset="0"/>
                        <a:buChar char="•"/>
                      </a:pPr>
                      <a:r>
                        <a:rPr lang="en-US" sz="1200" kern="1200">
                          <a:solidFill>
                            <a:schemeClr val="tx1"/>
                          </a:solidFill>
                        </a:rPr>
                        <a:t>By 2030 – Ensure 25% of households use electric stoves as their primary mode of cooking by 2030</a:t>
                      </a:r>
                      <a:endParaRPr lang="en-US" sz="1200" kern="1200">
                        <a:solidFill>
                          <a:schemeClr val="tx1"/>
                        </a:solidFill>
                        <a:latin typeface="+mn-lt"/>
                        <a:ea typeface="+mn-ea"/>
                        <a:cs typeface="+mn-cs"/>
                      </a:endParaRPr>
                    </a:p>
                  </a:txBody>
                  <a:tcPr/>
                </a:tc>
                <a:extLst>
                  <a:ext uri="{0D108BD9-81ED-4DB2-BD59-A6C34878D82A}">
                    <a16:rowId xmlns:a16="http://schemas.microsoft.com/office/drawing/2014/main" val="2164087577"/>
                  </a:ext>
                </a:extLst>
              </a:tr>
              <a:tr h="355895">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u="none" strike="noStrike" kern="1200" cap="none" spc="0" normalizeH="0" baseline="0" noProof="0">
                          <a:ln>
                            <a:noFill/>
                          </a:ln>
                          <a:solidFill>
                            <a:prstClr val="black"/>
                          </a:solidFill>
                          <a:effectLst/>
                          <a:uLnTx/>
                          <a:uFillTx/>
                        </a:rPr>
                        <a:t>Nepal's Long -term Strategy for Net-zero emissions, 2021</a:t>
                      </a:r>
                      <a:endParaRPr kumimoji="0" lang="en-US" sz="1200" b="1" i="0" u="none" strike="noStrike" kern="1200" cap="none" spc="0" normalizeH="0" baseline="0" noProof="0">
                        <a:ln>
                          <a:noFill/>
                        </a:ln>
                        <a:solidFill>
                          <a:prstClr val="black"/>
                        </a:solidFill>
                        <a:effectLst/>
                        <a:uLnTx/>
                        <a:uFillTx/>
                        <a:latin typeface="Gill Sans MT" panose="020B0502020104020203" pitchFamily="34" charset="0"/>
                        <a:ea typeface="+mn-ea"/>
                        <a:cs typeface="+mn-cs"/>
                      </a:endParaRPr>
                    </a:p>
                  </a:txBody>
                  <a:tcPr/>
                </a:tc>
                <a:tc>
                  <a:txBody>
                    <a:bodyPr/>
                    <a:lstStyle/>
                    <a:p>
                      <a:pPr marL="171450" marR="0" lvl="0"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u="none" strike="noStrike" kern="1200" cap="none" spc="0" normalizeH="0" baseline="0" noProof="0">
                          <a:ln>
                            <a:noFill/>
                          </a:ln>
                          <a:solidFill>
                            <a:schemeClr val="tx1"/>
                          </a:solidFill>
                          <a:effectLst/>
                          <a:uLnTx/>
                          <a:uFillTx/>
                        </a:rPr>
                        <a:t>1.7 mMTCO2e reduction in emissions by 2030</a:t>
                      </a:r>
                    </a:p>
                    <a:p>
                      <a:pPr marL="171450" marR="0" lvl="0"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u="none" strike="noStrike" kern="1200" cap="none" spc="0" normalizeH="0" baseline="0" noProof="0">
                          <a:ln>
                            <a:noFill/>
                          </a:ln>
                          <a:solidFill>
                            <a:schemeClr val="tx1"/>
                          </a:solidFill>
                          <a:effectLst/>
                          <a:uLnTx/>
                          <a:uFillTx/>
                        </a:rPr>
                        <a:t>4.45 mMTCO2e reduction in emissions by 2050</a:t>
                      </a:r>
                      <a:endParaRPr kumimoji="0" lang="en-US" sz="1200" b="0" i="0" u="none" strike="noStrike" kern="1200" cap="none" spc="0" normalizeH="0" baseline="0" noProof="0">
                        <a:ln>
                          <a:noFill/>
                        </a:ln>
                        <a:solidFill>
                          <a:schemeClr val="tx1"/>
                        </a:solidFill>
                        <a:effectLst/>
                        <a:uLnTx/>
                        <a:uFillTx/>
                        <a:latin typeface="+mn-lt"/>
                        <a:ea typeface="+mn-ea"/>
                        <a:cs typeface="+mn-cs"/>
                      </a:endParaRPr>
                    </a:p>
                  </a:txBody>
                  <a:tcPr/>
                </a:tc>
                <a:extLst>
                  <a:ext uri="{0D108BD9-81ED-4DB2-BD59-A6C34878D82A}">
                    <a16:rowId xmlns:a16="http://schemas.microsoft.com/office/drawing/2014/main" val="1836712526"/>
                  </a:ext>
                </a:extLst>
              </a:tr>
              <a:tr h="498254">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200" b="1">
                          <a:solidFill>
                            <a:schemeClr val="tx1"/>
                          </a:solidFill>
                        </a:rPr>
                        <a:t>Sixteenth Plan, 2024</a:t>
                      </a:r>
                      <a:endParaRPr lang="en-US" sz="1200" b="1">
                        <a:solidFill>
                          <a:schemeClr val="tx1"/>
                        </a:solidFill>
                        <a:latin typeface="Gill Sans MT" panose="020B0502020104020203" pitchFamily="34" charset="0"/>
                      </a:endParaRPr>
                    </a:p>
                  </a:txBody>
                  <a:tcPr/>
                </a:tc>
                <a:tc>
                  <a:txBody>
                    <a:bodyPr/>
                    <a:lstStyle/>
                    <a:p>
                      <a:pPr marL="171450" marR="0" lvl="0"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u="none" strike="noStrike" kern="1200" cap="none" spc="0" normalizeH="0" baseline="0" noProof="0">
                          <a:ln>
                            <a:noFill/>
                          </a:ln>
                          <a:solidFill>
                            <a:schemeClr val="tx1"/>
                          </a:solidFill>
                          <a:effectLst/>
                          <a:uLnTx/>
                          <a:uFillTx/>
                        </a:rPr>
                        <a:t>By 2029 - 100% of households to have access to electricity, 5 lakhs households biogas plants, 10 lakhs Electric stoves connection, 6.45 lakhs improved cookstoves connection</a:t>
                      </a:r>
                      <a:endParaRPr kumimoji="0" lang="en-US" sz="1200" b="0" i="0" u="none" strike="noStrike" kern="1200" cap="none" spc="0" normalizeH="0" baseline="0" noProof="0">
                        <a:ln>
                          <a:noFill/>
                        </a:ln>
                        <a:solidFill>
                          <a:schemeClr val="tx1"/>
                        </a:solidFill>
                        <a:effectLst/>
                        <a:uLnTx/>
                        <a:uFillTx/>
                        <a:latin typeface="+mn-lt"/>
                        <a:ea typeface="+mn-ea"/>
                        <a:cs typeface="+mn-cs"/>
                      </a:endParaRPr>
                    </a:p>
                  </a:txBody>
                  <a:tcPr/>
                </a:tc>
                <a:extLst>
                  <a:ext uri="{0D108BD9-81ED-4DB2-BD59-A6C34878D82A}">
                    <a16:rowId xmlns:a16="http://schemas.microsoft.com/office/drawing/2014/main" val="4268305154"/>
                  </a:ext>
                </a:extLst>
              </a:tr>
            </a:tbl>
          </a:graphicData>
        </a:graphic>
      </p:graphicFrame>
    </p:spTree>
    <p:extLst>
      <p:ext uri="{BB962C8B-B14F-4D97-AF65-F5344CB8AC3E}">
        <p14:creationId xmlns:p14="http://schemas.microsoft.com/office/powerpoint/2010/main" val="2875953641"/>
      </p:ext>
    </p:extLst>
  </p:cSld>
  <p:clrMapOvr>
    <a:masterClrMapping/>
  </p:clrMapOvr>
  <p:transition>
    <p:fad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917954015"/>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37" imgW="415" imgH="416" progId="TCLayout.ActiveDocument.1">
                  <p:embed/>
                </p:oleObj>
              </mc:Choice>
              <mc:Fallback>
                <p:oleObj name="think-cell Slide" r:id="rId37"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38"/>
                      <a:stretch>
                        <a:fillRect/>
                      </a:stretch>
                    </p:blipFill>
                    <p:spPr>
                      <a:xfrm>
                        <a:off x="1828" y="1723"/>
                        <a:ext cx="1588" cy="1588"/>
                      </a:xfrm>
                      <a:prstGeom prst="rect">
                        <a:avLst/>
                      </a:prstGeom>
                    </p:spPr>
                  </p:pic>
                </p:oleObj>
              </mc:Fallback>
            </mc:AlternateContent>
          </a:graphicData>
        </a:graphic>
      </p:graphicFrame>
      <p:sp>
        <p:nvSpPr>
          <p:cNvPr id="382" name="Rectangle 381">
            <a:extLst>
              <a:ext uri="{FF2B5EF4-FFF2-40B4-BE49-F238E27FC236}">
                <a16:creationId xmlns:a16="http://schemas.microsoft.com/office/drawing/2014/main" id="{DF771922-1208-7DA5-FC73-F3E41DC554C3}"/>
              </a:ext>
            </a:extLst>
          </p:cNvPr>
          <p:cNvSpPr/>
          <p:nvPr/>
        </p:nvSpPr>
        <p:spPr bwMode="gray">
          <a:xfrm>
            <a:off x="493714" y="971359"/>
            <a:ext cx="7655468" cy="5497173"/>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Electricity Demand Rises Rapidly Amid Economic and Policy-Driven Growth</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Driven by rapid electrification, Nepal’s electricity consumption has surged, recording the highest growth rate in South Asia.</a:t>
            </a:r>
          </a:p>
        </p:txBody>
      </p:sp>
      <p:graphicFrame>
        <p:nvGraphicFramePr>
          <p:cNvPr id="4" name="Chart 3">
            <a:extLst>
              <a:ext uri="{FF2B5EF4-FFF2-40B4-BE49-F238E27FC236}">
                <a16:creationId xmlns:a16="http://schemas.microsoft.com/office/drawing/2014/main" id="{CC2747D1-6B02-D0D2-BBDD-AD5EB7D759D4}"/>
              </a:ext>
            </a:extLst>
          </p:cNvPr>
          <p:cNvGraphicFramePr/>
          <p:nvPr>
            <p:custDataLst>
              <p:tags r:id="rId2"/>
            </p:custDataLst>
            <p:extLst>
              <p:ext uri="{D42A27DB-BD31-4B8C-83A1-F6EECF244321}">
                <p14:modId xmlns:p14="http://schemas.microsoft.com/office/powerpoint/2010/main" val="1268386525"/>
              </p:ext>
            </p:extLst>
          </p:nvPr>
        </p:nvGraphicFramePr>
        <p:xfrm>
          <a:off x="663575" y="1370013"/>
          <a:ext cx="7235825" cy="2305050"/>
        </p:xfrm>
        <a:graphic>
          <a:graphicData uri="http://schemas.openxmlformats.org/drawingml/2006/chart">
            <c:chart xmlns:c="http://schemas.openxmlformats.org/drawingml/2006/chart" xmlns:r="http://schemas.openxmlformats.org/officeDocument/2006/relationships" r:id="rId39"/>
          </a:graphicData>
        </a:graphic>
      </p:graphicFrame>
      <p:sp>
        <p:nvSpPr>
          <p:cNvPr id="15" name="Text Placeholder 18">
            <a:extLst>
              <a:ext uri="{FF2B5EF4-FFF2-40B4-BE49-F238E27FC236}">
                <a16:creationId xmlns:a16="http://schemas.microsoft.com/office/drawing/2014/main" id="{E2C46CF7-EA53-B808-40B9-A3A7D6EDEF5D}"/>
              </a:ext>
            </a:extLst>
          </p:cNvPr>
          <p:cNvSpPr>
            <a:spLocks noGrp="1"/>
          </p:cNvSpPr>
          <p:nvPr>
            <p:custDataLst>
              <p:tags r:id="rId3"/>
            </p:custDataLst>
          </p:nvPr>
        </p:nvSpPr>
        <p:spPr bwMode="auto">
          <a:xfrm>
            <a:off x="1171575" y="3521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FC1C4639-E339-4819-800D-40770664F370}" type="datetime'''''20''''''''1''''''''''5'''''''''">
              <a:rPr kumimoji="0" lang="en-US" altLang="en-US" sz="1100" b="0"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2015</a:t>
            </a:fld>
            <a:endPar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69" name="Text Placeholder 18">
            <a:extLst>
              <a:ext uri="{FF2B5EF4-FFF2-40B4-BE49-F238E27FC236}">
                <a16:creationId xmlns:a16="http://schemas.microsoft.com/office/drawing/2014/main" id="{992605DC-756C-18F1-9D62-24427DE0177D}"/>
              </a:ext>
            </a:extLst>
          </p:cNvPr>
          <p:cNvSpPr>
            <a:spLocks noGrp="1"/>
          </p:cNvSpPr>
          <p:nvPr>
            <p:custDataLst>
              <p:tags r:id="rId4"/>
            </p:custDataLst>
          </p:nvPr>
        </p:nvSpPr>
        <p:spPr bwMode="auto">
          <a:xfrm>
            <a:off x="2351088" y="3521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CBC94059-7344-4333-AAFD-06510C16B34D}" type="datetime'''''''''''2''''''''''0''''''''''''''''17'''''''''''">
              <a:rPr kumimoji="0" lang="en-US" altLang="en-US" sz="1100" b="0" i="0" u="none" strike="noStrike" kern="1200" cap="none" spc="0" normalizeH="0" baseline="0" noProof="0" smtClean="0">
                <a:ln>
                  <a:noFill/>
                </a:ln>
                <a:solidFill>
                  <a:srgbClr val="000000"/>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2017</a:t>
            </a:fld>
            <a:endParaRPr kumimoji="0" lang="en-US" sz="1100" b="0" i="0" u="none" strike="noStrike" kern="1200" cap="none" spc="0" normalizeH="0" baseline="0" noProof="0">
              <a:ln>
                <a:noFill/>
              </a:ln>
              <a:solidFill>
                <a:srgbClr val="000000"/>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64" name="Text Placeholder 18">
            <a:extLst>
              <a:ext uri="{FF2B5EF4-FFF2-40B4-BE49-F238E27FC236}">
                <a16:creationId xmlns:a16="http://schemas.microsoft.com/office/drawing/2014/main" id="{266D7E01-B3BD-E183-3CB6-1A020434EF8C}"/>
              </a:ext>
            </a:extLst>
          </p:cNvPr>
          <p:cNvSpPr>
            <a:spLocks noGrp="1"/>
          </p:cNvSpPr>
          <p:nvPr>
            <p:custDataLst>
              <p:tags r:id="rId5"/>
            </p:custDataLst>
          </p:nvPr>
        </p:nvSpPr>
        <p:spPr bwMode="auto">
          <a:xfrm>
            <a:off x="3529013" y="3521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3473DDF1-AB55-4E6A-B1F3-78F81C1F285E}" type="datetime'''''''''''2''''''''02''0'''''''''''''''''''''''">
              <a:rPr kumimoji="0" lang="en-US" altLang="en-US" sz="1100" b="0" i="0" u="none" strike="noStrike" kern="1200" cap="none" spc="0" normalizeH="0" baseline="0" noProof="0" smtClean="0">
                <a:ln>
                  <a:noFill/>
                </a:ln>
                <a:solidFill>
                  <a:srgbClr val="000000"/>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2020</a:t>
            </a:fld>
            <a:endParaRPr kumimoji="0" lang="en-US" sz="1100" b="0" i="0" u="none" strike="noStrike" kern="1200" cap="none" spc="0" normalizeH="0" baseline="0" noProof="0">
              <a:ln>
                <a:noFill/>
              </a:ln>
              <a:solidFill>
                <a:srgbClr val="000000"/>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65" name="Text Placeholder 18">
            <a:extLst>
              <a:ext uri="{FF2B5EF4-FFF2-40B4-BE49-F238E27FC236}">
                <a16:creationId xmlns:a16="http://schemas.microsoft.com/office/drawing/2014/main" id="{DBA34273-677F-1490-3921-83F8C80476FB}"/>
              </a:ext>
            </a:extLst>
          </p:cNvPr>
          <p:cNvSpPr>
            <a:spLocks noGrp="1"/>
          </p:cNvSpPr>
          <p:nvPr>
            <p:custDataLst>
              <p:tags r:id="rId6"/>
            </p:custDataLst>
          </p:nvPr>
        </p:nvSpPr>
        <p:spPr bwMode="auto">
          <a:xfrm>
            <a:off x="4706938" y="3521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32F8E4D3-6E45-4FA0-8DE9-E15EF8F05D76}" type="datetime'2''0''''''2''''''''''''''''''''''''''''''''''''1'''''">
              <a:rPr kumimoji="0" lang="en-US" altLang="en-US" sz="1100" b="0" i="0" u="none" strike="noStrike" kern="1200" cap="none" spc="0" normalizeH="0" baseline="0" noProof="0" smtClean="0">
                <a:ln>
                  <a:noFill/>
                </a:ln>
                <a:solidFill>
                  <a:srgbClr val="000000"/>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2021</a:t>
            </a:fld>
            <a:endParaRPr kumimoji="0" lang="en-US" sz="1100" b="0" i="0" u="none" strike="noStrike" kern="1200" cap="none" spc="0" normalizeH="0" baseline="0" noProof="0">
              <a:ln>
                <a:noFill/>
              </a:ln>
              <a:solidFill>
                <a:srgbClr val="000000"/>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66" name="Text Placeholder 18">
            <a:extLst>
              <a:ext uri="{FF2B5EF4-FFF2-40B4-BE49-F238E27FC236}">
                <a16:creationId xmlns:a16="http://schemas.microsoft.com/office/drawing/2014/main" id="{E113DDB5-1CEF-1E21-76CA-7E39BC8D3FA5}"/>
              </a:ext>
            </a:extLst>
          </p:cNvPr>
          <p:cNvSpPr>
            <a:spLocks noGrp="1"/>
          </p:cNvSpPr>
          <p:nvPr>
            <p:custDataLst>
              <p:tags r:id="rId7"/>
            </p:custDataLst>
          </p:nvPr>
        </p:nvSpPr>
        <p:spPr bwMode="auto">
          <a:xfrm>
            <a:off x="5886450" y="3521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8D0927C9-AD3E-482D-A5F2-13B7B2E3FAFB}" type="datetime'''''''''2''''''''''''''''''0''''''''''''''2''''''''2'''''''">
              <a:rPr kumimoji="0" lang="en-US" altLang="en-US" sz="1100" b="0" i="0" u="none" strike="noStrike" kern="1200" cap="none" spc="0" normalizeH="0" baseline="0" noProof="0" smtClean="0">
                <a:ln>
                  <a:noFill/>
                </a:ln>
                <a:solidFill>
                  <a:srgbClr val="000000"/>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2022</a:t>
            </a:fld>
            <a:endParaRPr kumimoji="0" lang="en-US" sz="1100" b="0" i="0" u="none" strike="noStrike" kern="1200" cap="none" spc="0" normalizeH="0" baseline="0" noProof="0">
              <a:ln>
                <a:noFill/>
              </a:ln>
              <a:solidFill>
                <a:srgbClr val="000000"/>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68" name="Text Placeholder 18">
            <a:extLst>
              <a:ext uri="{FF2B5EF4-FFF2-40B4-BE49-F238E27FC236}">
                <a16:creationId xmlns:a16="http://schemas.microsoft.com/office/drawing/2014/main" id="{F098959E-8D5F-2E99-F231-DE4565BBCDD5}"/>
              </a:ext>
            </a:extLst>
          </p:cNvPr>
          <p:cNvSpPr>
            <a:spLocks noGrp="1"/>
          </p:cNvSpPr>
          <p:nvPr>
            <p:custDataLst>
              <p:tags r:id="rId8"/>
            </p:custDataLst>
          </p:nvPr>
        </p:nvSpPr>
        <p:spPr bwMode="auto">
          <a:xfrm>
            <a:off x="7064375" y="3521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C2B6DEFC-2812-4592-9B32-AE2D2B804193}" type="datetime'''''''2''''0''''''''''''2''''''''''4'''">
              <a:rPr kumimoji="0" lang="en-US" altLang="en-US" sz="1100" b="0" i="0" u="none" strike="noStrike" kern="1200" cap="none" spc="0" normalizeH="0" baseline="0" noProof="0" smtClean="0">
                <a:ln>
                  <a:noFill/>
                </a:ln>
                <a:solidFill>
                  <a:srgbClr val="000000"/>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2024</a:t>
            </a:fld>
            <a:endParaRPr kumimoji="0" lang="en-US" sz="1100" b="0" i="0" u="none" strike="noStrike" kern="1200" cap="none" spc="0" normalizeH="0" baseline="0" noProof="0">
              <a:ln>
                <a:noFill/>
              </a:ln>
              <a:solidFill>
                <a:srgbClr val="000000"/>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3" name="Rectangle 22">
            <a:extLst>
              <a:ext uri="{FF2B5EF4-FFF2-40B4-BE49-F238E27FC236}">
                <a16:creationId xmlns:a16="http://schemas.microsoft.com/office/drawing/2014/main" id="{AFEBB241-DC38-0778-5F36-A75F7B083F8E}"/>
              </a:ext>
            </a:extLst>
          </p:cNvPr>
          <p:cNvSpPr/>
          <p:nvPr>
            <p:custDataLst>
              <p:tags r:id="rId9"/>
            </p:custDataLst>
          </p:nvPr>
        </p:nvSpPr>
        <p:spPr bwMode="auto">
          <a:xfrm>
            <a:off x="806450" y="1574800"/>
            <a:ext cx="214313" cy="160338"/>
          </a:xfrm>
          <a:prstGeom prst="rect">
            <a:avLst/>
          </a:prstGeom>
          <a:solidFill>
            <a:srgbClr val="86BC25"/>
          </a:solidFill>
          <a:ln w="19050" algn="ctr">
            <a:noFill/>
            <a:miter lim="800000"/>
            <a:headEnd/>
            <a:tailEnd/>
          </a:ln>
          <a:effectLst/>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13" name="Text Placeholder 18">
            <a:extLst>
              <a:ext uri="{FF2B5EF4-FFF2-40B4-BE49-F238E27FC236}">
                <a16:creationId xmlns:a16="http://schemas.microsoft.com/office/drawing/2014/main" id="{F72B080D-E816-55E5-2DBC-B3DFFD9BB105}"/>
              </a:ext>
            </a:extLst>
          </p:cNvPr>
          <p:cNvSpPr>
            <a:spLocks noGrp="1"/>
          </p:cNvSpPr>
          <p:nvPr>
            <p:custDataLst>
              <p:tags r:id="rId10"/>
            </p:custDataLst>
          </p:nvPr>
        </p:nvSpPr>
        <p:spPr bwMode="auto">
          <a:xfrm>
            <a:off x="1071562" y="1570038"/>
            <a:ext cx="1976438"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defRPr/>
            </a:pPr>
            <a:fld id="{E114AE81-2EDA-4BE7-8616-68D7431903C2}" type="datetime'Nat''io''''''na''''''''''l P''''''''ea''''k Deman''d (MW'''')'">
              <a:rPr lang="en-US" altLang="en-US" sz="1200" smtClean="0">
                <a:solidFill>
                  <a:srgbClr val="000000"/>
                </a:solidFill>
                <a:latin typeface="Arial" panose="020B0604020202020204" pitchFamily="34" charset="0"/>
                <a:cs typeface="+mn-cs"/>
              </a:rPr>
              <a:pPr lvl="0">
                <a:spcBef>
                  <a:spcPct val="0"/>
                </a:spcBef>
                <a:spcAft>
                  <a:spcPct val="0"/>
                </a:spcAft>
                <a:defRPr/>
              </a:pPr>
              <a:t>National Peak Demand (MW)</a:t>
            </a:fld>
            <a:endParaRPr kumimoji="0" lang="en-US" sz="1200" b="0" i="0" strike="noStrike" kern="1200" cap="none" spc="0" normalizeH="0" baseline="0" noProof="0">
              <a:ln>
                <a:noFill/>
              </a:ln>
              <a:solidFill>
                <a:srgbClr val="000000"/>
              </a:solidFill>
              <a:effectLst/>
              <a:uLnTx/>
              <a:uFillTx/>
              <a:latin typeface="Arial" panose="020B0604020202020204" pitchFamily="34" charset="0"/>
              <a:cs typeface="+mn-cs"/>
              <a:sym typeface="Arial" panose="020B0604020202020204" pitchFamily="34" charset="0"/>
            </a:endParaRPr>
          </a:p>
        </p:txBody>
      </p:sp>
      <p:sp>
        <p:nvSpPr>
          <p:cNvPr id="164" name="TextBox 163">
            <a:extLst>
              <a:ext uri="{FF2B5EF4-FFF2-40B4-BE49-F238E27FC236}">
                <a16:creationId xmlns:a16="http://schemas.microsoft.com/office/drawing/2014/main" id="{D0E66F1A-D6F2-7957-D851-C6DB8281FAB2}"/>
              </a:ext>
            </a:extLst>
          </p:cNvPr>
          <p:cNvSpPr txBox="1"/>
          <p:nvPr/>
        </p:nvSpPr>
        <p:spPr>
          <a:xfrm>
            <a:off x="1421903" y="1086842"/>
            <a:ext cx="6394450"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National Peak Demand (MW) and Energy Consumption (GWh)</a:t>
            </a:r>
            <a:endParaRPr kumimoji="0" lang="en-US" sz="1400" b="1" i="0" u="none" strike="noStrike" kern="1200" cap="none" spc="0" normalizeH="0" baseline="0" noProof="0">
              <a:ln>
                <a:noFill/>
              </a:ln>
              <a:solidFill>
                <a:prstClr val="black"/>
              </a:solidFill>
              <a:effectLst/>
              <a:uLnTx/>
              <a:uFillTx/>
              <a:latin typeface="Calibri"/>
              <a:ea typeface="+mn-ea"/>
              <a:cs typeface="+mn-cs"/>
            </a:endParaRPr>
          </a:p>
        </p:txBody>
      </p:sp>
      <p:graphicFrame>
        <p:nvGraphicFramePr>
          <p:cNvPr id="491" name="Table 490">
            <a:extLst>
              <a:ext uri="{FF2B5EF4-FFF2-40B4-BE49-F238E27FC236}">
                <a16:creationId xmlns:a16="http://schemas.microsoft.com/office/drawing/2014/main" id="{BDBDA082-CA85-9FA2-A83D-133D268647FE}"/>
              </a:ext>
            </a:extLst>
          </p:cNvPr>
          <p:cNvGraphicFramePr>
            <a:graphicFrameLocks noGrp="1"/>
          </p:cNvGraphicFramePr>
          <p:nvPr>
            <p:extLst>
              <p:ext uri="{D42A27DB-BD31-4B8C-83A1-F6EECF244321}">
                <p14:modId xmlns:p14="http://schemas.microsoft.com/office/powerpoint/2010/main" val="2485856769"/>
              </p:ext>
            </p:extLst>
          </p:nvPr>
        </p:nvGraphicFramePr>
        <p:xfrm>
          <a:off x="8310563" y="3789589"/>
          <a:ext cx="3379243" cy="2686531"/>
        </p:xfrm>
        <a:graphic>
          <a:graphicData uri="http://schemas.openxmlformats.org/drawingml/2006/table">
            <a:tbl>
              <a:tblPr firstRow="1" bandRow="1">
                <a:tableStyleId>{5C22544A-7EE6-4342-B048-85BDC9FD1C3A}</a:tableStyleId>
              </a:tblPr>
              <a:tblGrid>
                <a:gridCol w="1756309">
                  <a:extLst>
                    <a:ext uri="{9D8B030D-6E8A-4147-A177-3AD203B41FA5}">
                      <a16:colId xmlns:a16="http://schemas.microsoft.com/office/drawing/2014/main" val="1601999352"/>
                    </a:ext>
                  </a:extLst>
                </a:gridCol>
                <a:gridCol w="1622934">
                  <a:extLst>
                    <a:ext uri="{9D8B030D-6E8A-4147-A177-3AD203B41FA5}">
                      <a16:colId xmlns:a16="http://schemas.microsoft.com/office/drawing/2014/main" val="2515607737"/>
                    </a:ext>
                  </a:extLst>
                </a:gridCol>
              </a:tblGrid>
              <a:tr h="266733">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2412211">
                <a:tc gridSpan="2">
                  <a:txBody>
                    <a:bodyPr/>
                    <a:lstStyle/>
                    <a:p>
                      <a:pPr marL="169863" indent="-169863" algn="just">
                        <a:buFont typeface="Arial" panose="020B0604020202020204" pitchFamily="34" charset="0"/>
                        <a:buChar char="•"/>
                      </a:pPr>
                      <a:r>
                        <a:rPr lang="en-US" sz="1200">
                          <a:latin typeface="Arial" panose="020B0604020202020204" pitchFamily="34" charset="0"/>
                          <a:cs typeface="Arial" panose="020B0604020202020204" pitchFamily="34" charset="0"/>
                        </a:rPr>
                        <a:t>Driven by policy interventions, rising consumption, rapid industrialization and expanding infrastructures, the national peak demand grew at 6% CAGR </a:t>
                      </a:r>
                    </a:p>
                    <a:p>
                      <a:pPr marL="169863" indent="-169863" algn="just">
                        <a:buFont typeface="Arial" panose="020B0604020202020204" pitchFamily="34" charset="0"/>
                        <a:buChar char="•"/>
                      </a:pPr>
                      <a:endParaRPr lang="en-US" sz="1200">
                        <a:latin typeface="Arial" panose="020B0604020202020204" pitchFamily="34" charset="0"/>
                        <a:cs typeface="Arial" panose="020B0604020202020204" pitchFamily="34" charset="0"/>
                      </a:endParaRPr>
                    </a:p>
                    <a:p>
                      <a:pPr marL="169863" indent="-169863" algn="just">
                        <a:buFont typeface="Arial" panose="020B0604020202020204" pitchFamily="34" charset="0"/>
                        <a:buChar char="•"/>
                      </a:pPr>
                      <a:r>
                        <a:rPr lang="en-US" sz="1200">
                          <a:latin typeface="Arial" panose="020B0604020202020204" pitchFamily="34" charset="0"/>
                          <a:cs typeface="Arial" panose="020B0604020202020204" pitchFamily="34" charset="0"/>
                        </a:rPr>
                        <a:t>However, the consumption mix grew with 14% CAGR over the years, export sales witnessed more than </a:t>
                      </a:r>
                      <a:r>
                        <a:rPr lang="en-US" sz="1200" b="1">
                          <a:latin typeface="Arial" panose="020B0604020202020204" pitchFamily="34" charset="0"/>
                          <a:cs typeface="Arial" panose="020B0604020202020204" pitchFamily="34" charset="0"/>
                        </a:rPr>
                        <a:t>18x exponential growth </a:t>
                      </a:r>
                      <a:r>
                        <a:rPr lang="en-US" sz="1200">
                          <a:latin typeface="Arial" panose="020B0604020202020204" pitchFamily="34" charset="0"/>
                          <a:cs typeface="Arial" panose="020B0604020202020204" pitchFamily="34" charset="0"/>
                        </a:rPr>
                        <a:t>from 2020 onwards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sp>
        <p:nvSpPr>
          <p:cNvPr id="497" name="TextBox 496">
            <a:extLst>
              <a:ext uri="{FF2B5EF4-FFF2-40B4-BE49-F238E27FC236}">
                <a16:creationId xmlns:a16="http://schemas.microsoft.com/office/drawing/2014/main" id="{E3CD61BF-5158-2CE6-D4D0-D211D840411E}"/>
              </a:ext>
            </a:extLst>
          </p:cNvPr>
          <p:cNvSpPr txBox="1"/>
          <p:nvPr/>
        </p:nvSpPr>
        <p:spPr>
          <a:xfrm>
            <a:off x="447675" y="6596933"/>
            <a:ext cx="609600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40"/>
              </a:rPr>
              <a:t>NEA Annual Report</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JICA Integrated Power System Development Plan 2024</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sp>
        <p:nvSpPr>
          <p:cNvPr id="455" name="Rectangle 454">
            <a:extLst>
              <a:ext uri="{FF2B5EF4-FFF2-40B4-BE49-F238E27FC236}">
                <a16:creationId xmlns:a16="http://schemas.microsoft.com/office/drawing/2014/main" id="{005D65B1-A64D-454A-E5BD-0B37D8DFDB82}"/>
              </a:ext>
            </a:extLst>
          </p:cNvPr>
          <p:cNvSpPr/>
          <p:nvPr/>
        </p:nvSpPr>
        <p:spPr bwMode="gray">
          <a:xfrm>
            <a:off x="8302625" y="971359"/>
            <a:ext cx="3387181" cy="270370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459" name="TextBox 458">
            <a:extLst>
              <a:ext uri="{FF2B5EF4-FFF2-40B4-BE49-F238E27FC236}">
                <a16:creationId xmlns:a16="http://schemas.microsoft.com/office/drawing/2014/main" id="{E12B4CAC-510F-77B1-496E-6ECDE0B6A911}"/>
              </a:ext>
            </a:extLst>
          </p:cNvPr>
          <p:cNvSpPr txBox="1"/>
          <p:nvPr/>
        </p:nvSpPr>
        <p:spPr>
          <a:xfrm>
            <a:off x="8464006" y="1085886"/>
            <a:ext cx="3067594" cy="276999"/>
          </a:xfrm>
          <a:prstGeom prst="rect">
            <a:avLst/>
          </a:prstGeom>
          <a:solidFill>
            <a:schemeClr val="accent4"/>
          </a:solid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Key Demand Drivers </a:t>
            </a:r>
          </a:p>
        </p:txBody>
      </p:sp>
      <p:sp>
        <p:nvSpPr>
          <p:cNvPr id="461" name="TextBox 460">
            <a:extLst>
              <a:ext uri="{FF2B5EF4-FFF2-40B4-BE49-F238E27FC236}">
                <a16:creationId xmlns:a16="http://schemas.microsoft.com/office/drawing/2014/main" id="{DFE0FF62-BE52-C523-548D-F4D9C6678C5B}"/>
              </a:ext>
            </a:extLst>
          </p:cNvPr>
          <p:cNvSpPr txBox="1"/>
          <p:nvPr/>
        </p:nvSpPr>
        <p:spPr>
          <a:xfrm>
            <a:off x="8480423" y="1426494"/>
            <a:ext cx="3048001" cy="212365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Driven by NDC targets and national goals, policy Interventions to promote increased electricity consumption across –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L="287338" indent="-287338">
              <a:buFont typeface="Wingdings" panose="05000000000000000000" pitchFamily="2" charset="2"/>
              <a:buChar char="q"/>
            </a:pPr>
            <a:r>
              <a:rPr lang="en-US" sz="1200">
                <a:solidFill>
                  <a:srgbClr val="046A38"/>
                </a:solidFill>
                <a:latin typeface="Arial" panose="020B0604020202020204" pitchFamily="34" charset="0"/>
                <a:cs typeface="Arial" panose="020B0604020202020204" pitchFamily="34" charset="0"/>
              </a:rPr>
              <a:t>ELECTRIC VEHICLES </a:t>
            </a:r>
          </a:p>
          <a:p>
            <a:pPr marL="287338" indent="-287338">
              <a:buFont typeface="Wingdings" panose="05000000000000000000" pitchFamily="2" charset="2"/>
              <a:buChar char="q"/>
            </a:pPr>
            <a:r>
              <a:rPr lang="en-US" sz="1200">
                <a:solidFill>
                  <a:srgbClr val="046A38"/>
                </a:solidFill>
                <a:latin typeface="Arial" panose="020B0604020202020204" pitchFamily="34" charset="0"/>
                <a:cs typeface="Arial" panose="020B0604020202020204" pitchFamily="34" charset="0"/>
              </a:rPr>
              <a:t>ELECTRIC COOKING</a:t>
            </a:r>
          </a:p>
          <a:p>
            <a:pPr marL="287338" indent="-287338">
              <a:buFont typeface="Wingdings" panose="05000000000000000000" pitchFamily="2" charset="2"/>
              <a:buChar char="q"/>
            </a:pPr>
            <a:r>
              <a:rPr lang="en-US" sz="1200">
                <a:solidFill>
                  <a:srgbClr val="046A38"/>
                </a:solidFill>
                <a:latin typeface="Arial" panose="020B0604020202020204" pitchFamily="34" charset="0"/>
                <a:cs typeface="Arial" panose="020B0604020202020204" pitchFamily="34" charset="0"/>
              </a:rPr>
              <a:t>SMART STREET LIGHTING </a:t>
            </a:r>
          </a:p>
          <a:p>
            <a:pPr marL="287338" indent="-287338">
              <a:buFont typeface="Wingdings" panose="05000000000000000000" pitchFamily="2" charset="2"/>
              <a:buChar char="q"/>
            </a:pPr>
            <a:r>
              <a:rPr lang="en-US" sz="1200">
                <a:solidFill>
                  <a:srgbClr val="046A38"/>
                </a:solidFill>
                <a:latin typeface="Arial" panose="020B0604020202020204" pitchFamily="34" charset="0"/>
                <a:cs typeface="Arial" panose="020B0604020202020204" pitchFamily="34" charset="0"/>
              </a:rPr>
              <a:t>ELECTRIC RAILWAYS </a:t>
            </a:r>
          </a:p>
          <a:p>
            <a:pPr marL="287338" indent="-287338">
              <a:buFont typeface="Wingdings" panose="05000000000000000000" pitchFamily="2" charset="2"/>
              <a:buChar char="q"/>
            </a:pPr>
            <a:r>
              <a:rPr lang="en-US" sz="1200">
                <a:solidFill>
                  <a:srgbClr val="046A38"/>
                </a:solidFill>
                <a:latin typeface="Arial" panose="020B0604020202020204" pitchFamily="34" charset="0"/>
                <a:cs typeface="Arial" panose="020B0604020202020204" pitchFamily="34" charset="0"/>
              </a:rPr>
              <a:t>INDUSTRIAL AND SPECIAL ECONOMIC ZONES</a:t>
            </a:r>
          </a:p>
          <a:p>
            <a:pPr marL="287338" indent="-287338">
              <a:buFont typeface="Wingdings" panose="05000000000000000000" pitchFamily="2" charset="2"/>
              <a:buChar char="q"/>
            </a:pPr>
            <a:r>
              <a:rPr lang="en-US" sz="1200">
                <a:solidFill>
                  <a:srgbClr val="046A38"/>
                </a:solidFill>
                <a:latin typeface="Arial" panose="020B0604020202020204" pitchFamily="34" charset="0"/>
                <a:cs typeface="Arial" panose="020B0604020202020204" pitchFamily="34" charset="0"/>
              </a:rPr>
              <a:t>ENERGY EFFICIENCY MEASURES</a:t>
            </a:r>
          </a:p>
        </p:txBody>
      </p:sp>
      <p:graphicFrame>
        <p:nvGraphicFramePr>
          <p:cNvPr id="5" name="Chart 4">
            <a:extLst>
              <a:ext uri="{FF2B5EF4-FFF2-40B4-BE49-F238E27FC236}">
                <a16:creationId xmlns:a16="http://schemas.microsoft.com/office/drawing/2014/main" id="{87ED4F9A-A000-1C96-CF0E-169F7A6272DF}"/>
              </a:ext>
            </a:extLst>
          </p:cNvPr>
          <p:cNvGraphicFramePr/>
          <p:nvPr>
            <p:custDataLst>
              <p:tags r:id="rId11"/>
            </p:custDataLst>
            <p:extLst>
              <p:ext uri="{D42A27DB-BD31-4B8C-83A1-F6EECF244321}">
                <p14:modId xmlns:p14="http://schemas.microsoft.com/office/powerpoint/2010/main" val="3736593697"/>
              </p:ext>
            </p:extLst>
          </p:nvPr>
        </p:nvGraphicFramePr>
        <p:xfrm>
          <a:off x="663575" y="4022725"/>
          <a:ext cx="7235825" cy="2201863"/>
        </p:xfrm>
        <a:graphic>
          <a:graphicData uri="http://schemas.openxmlformats.org/drawingml/2006/chart">
            <c:chart xmlns:c="http://schemas.openxmlformats.org/drawingml/2006/chart" xmlns:r="http://schemas.openxmlformats.org/officeDocument/2006/relationships" r:id="rId41"/>
          </a:graphicData>
        </a:graphic>
      </p:graphicFrame>
      <p:cxnSp>
        <p:nvCxnSpPr>
          <p:cNvPr id="465" name="Straight Connector 464">
            <a:extLst>
              <a:ext uri="{FF2B5EF4-FFF2-40B4-BE49-F238E27FC236}">
                <a16:creationId xmlns:a16="http://schemas.microsoft.com/office/drawing/2014/main" id="{000B8C5F-F49D-D43A-91E1-2D7F283399A8}"/>
              </a:ext>
            </a:extLst>
          </p:cNvPr>
          <p:cNvCxnSpPr/>
          <p:nvPr>
            <p:custDataLst>
              <p:tags r:id="rId12"/>
            </p:custDataLst>
          </p:nvPr>
        </p:nvCxnSpPr>
        <p:spPr bwMode="auto">
          <a:xfrm flipV="1">
            <a:off x="1333500" y="3914775"/>
            <a:ext cx="5892800" cy="1184275"/>
          </a:xfrm>
          <a:prstGeom prst="line">
            <a:avLst/>
          </a:prstGeom>
          <a:ln w="63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469" name="Text Placeholder 18">
            <a:extLst>
              <a:ext uri="{FF2B5EF4-FFF2-40B4-BE49-F238E27FC236}">
                <a16:creationId xmlns:a16="http://schemas.microsoft.com/office/drawing/2014/main" id="{7416E14F-BB26-FC61-6856-B30265524C50}"/>
              </a:ext>
            </a:extLst>
          </p:cNvPr>
          <p:cNvSpPr>
            <a:spLocks noGrp="1"/>
          </p:cNvSpPr>
          <p:nvPr>
            <p:custDataLst>
              <p:tags r:id="rId13"/>
            </p:custDataLst>
          </p:nvPr>
        </p:nvSpPr>
        <p:spPr bwMode="gray">
          <a:xfrm>
            <a:off x="1271588" y="5368925"/>
            <a:ext cx="125413"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FB8C5EB1-2E1D-45D0-B0FB-1CCFC954012A}" type="datetime'''''''''''''''''''''''''''''''''''''''''''''''''3'''''''''''">
              <a:rPr kumimoji="0" lang="en-US" altLang="en-US" sz="11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3</a:t>
            </a:fld>
            <a:endPar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70" name="Text Placeholder 18">
            <a:extLst>
              <a:ext uri="{FF2B5EF4-FFF2-40B4-BE49-F238E27FC236}">
                <a16:creationId xmlns:a16="http://schemas.microsoft.com/office/drawing/2014/main" id="{774B5326-C5BA-4DFC-7D2E-F67B804F9748}"/>
              </a:ext>
            </a:extLst>
          </p:cNvPr>
          <p:cNvSpPr>
            <a:spLocks noGrp="1"/>
          </p:cNvSpPr>
          <p:nvPr>
            <p:custDataLst>
              <p:tags r:id="rId14"/>
            </p:custDataLst>
          </p:nvPr>
        </p:nvSpPr>
        <p:spPr bwMode="auto">
          <a:xfrm>
            <a:off x="1171575" y="6070600"/>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DD79411D-1D94-4845-9227-8D84C186CBEC}" type="datetime'2''''''''''''''0''''''''''''''''''1''''''''''''''5'''''''''''">
              <a:rPr kumimoji="0" lang="en-US" altLang="en-US" sz="11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2015</a:t>
            </a:fld>
            <a:endPar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98" name="Text Placeholder 18">
            <a:extLst>
              <a:ext uri="{FF2B5EF4-FFF2-40B4-BE49-F238E27FC236}">
                <a16:creationId xmlns:a16="http://schemas.microsoft.com/office/drawing/2014/main" id="{1AED8EF2-BF0B-F729-6EAF-A370D0A3054E}"/>
              </a:ext>
            </a:extLst>
          </p:cNvPr>
          <p:cNvSpPr>
            <a:spLocks noGrp="1"/>
          </p:cNvSpPr>
          <p:nvPr>
            <p:custDataLst>
              <p:tags r:id="rId15"/>
            </p:custDataLst>
          </p:nvPr>
        </p:nvSpPr>
        <p:spPr bwMode="gray">
          <a:xfrm>
            <a:off x="2451100" y="5222875"/>
            <a:ext cx="125413"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0005EC36-FB2F-450A-AB62-F991036A89C6}" type="datetime'''''''''''''''''''''''''''''''''''3'''''''''''''">
              <a:rPr kumimoji="0" lang="en-US" altLang="en-US" sz="11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3</a:t>
            </a:fld>
            <a:endPar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88" name="Text Placeholder 18">
            <a:extLst>
              <a:ext uri="{FF2B5EF4-FFF2-40B4-BE49-F238E27FC236}">
                <a16:creationId xmlns:a16="http://schemas.microsoft.com/office/drawing/2014/main" id="{39990967-EA19-41D9-ADB8-D261611979F7}"/>
              </a:ext>
            </a:extLst>
          </p:cNvPr>
          <p:cNvSpPr>
            <a:spLocks noGrp="1"/>
          </p:cNvSpPr>
          <p:nvPr>
            <p:custDataLst>
              <p:tags r:id="rId16"/>
            </p:custDataLst>
          </p:nvPr>
        </p:nvSpPr>
        <p:spPr bwMode="auto">
          <a:xfrm>
            <a:off x="2351088" y="6070600"/>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F1CA940A-38CA-402F-A9CA-27D214C1EFD8}" type="datetime'''''2''''''''''''''''''''0''''''1''''''''''''7'''''">
              <a:rPr kumimoji="0" lang="en-US" altLang="en-US" sz="11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2017</a:t>
            </a:fld>
            <a:endPar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82" name="Text Placeholder 18">
            <a:extLst>
              <a:ext uri="{FF2B5EF4-FFF2-40B4-BE49-F238E27FC236}">
                <a16:creationId xmlns:a16="http://schemas.microsoft.com/office/drawing/2014/main" id="{47EFDD36-61A1-30CF-89D8-9403AAEACC7B}"/>
              </a:ext>
            </a:extLst>
          </p:cNvPr>
          <p:cNvSpPr>
            <a:spLocks noGrp="1"/>
          </p:cNvSpPr>
          <p:nvPr>
            <p:custDataLst>
              <p:tags r:id="rId17"/>
            </p:custDataLst>
          </p:nvPr>
        </p:nvSpPr>
        <p:spPr bwMode="gray">
          <a:xfrm>
            <a:off x="3551238" y="4984750"/>
            <a:ext cx="280988"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886B7D1B-3463-4949-9B1E-2517F43B50CE}" type="datetime'''''''1''''''''0''''''''''''''''''''''''''''''''''7'''''''''">
              <a:rPr kumimoji="0" lang="en-US" altLang="en-US" sz="11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107</a:t>
            </a:fld>
            <a:endPar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71" name="Text Placeholder 18">
            <a:extLst>
              <a:ext uri="{FF2B5EF4-FFF2-40B4-BE49-F238E27FC236}">
                <a16:creationId xmlns:a16="http://schemas.microsoft.com/office/drawing/2014/main" id="{F22D15B2-A4F2-DB20-4139-FBA9101806FF}"/>
              </a:ext>
            </a:extLst>
          </p:cNvPr>
          <p:cNvSpPr>
            <a:spLocks noGrp="1"/>
          </p:cNvSpPr>
          <p:nvPr>
            <p:custDataLst>
              <p:tags r:id="rId18"/>
            </p:custDataLst>
          </p:nvPr>
        </p:nvSpPr>
        <p:spPr bwMode="auto">
          <a:xfrm>
            <a:off x="3529013" y="6070600"/>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FA426C3D-1BC0-4597-BCF2-690E3D6A3831}" type="datetime'''''''''''''''2''''''0''''''''''''''''''''''''''20'''''''">
              <a:rPr kumimoji="0" lang="en-US" altLang="en-US" sz="11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2020</a:t>
            </a:fld>
            <a:endPar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104" name="Text Placeholder 18">
            <a:extLst>
              <a:ext uri="{FF2B5EF4-FFF2-40B4-BE49-F238E27FC236}">
                <a16:creationId xmlns:a16="http://schemas.microsoft.com/office/drawing/2014/main" id="{F488131E-F4F9-5DDB-2D06-765D97CEE4CF}"/>
              </a:ext>
            </a:extLst>
          </p:cNvPr>
          <p:cNvSpPr>
            <a:spLocks noGrp="1"/>
          </p:cNvSpPr>
          <p:nvPr>
            <p:custDataLst>
              <p:tags r:id="rId19"/>
            </p:custDataLst>
          </p:nvPr>
        </p:nvSpPr>
        <p:spPr bwMode="gray">
          <a:xfrm>
            <a:off x="4767263" y="4868863"/>
            <a:ext cx="203200"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2FD00435-A233-4A35-A076-E350176DE284}" type="datetime'''''''''''''''''''''''''''''''''''3''''''''''''''''''''8'''">
              <a:rPr kumimoji="0" lang="en-US" altLang="en-US" sz="11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38</a:t>
            </a:fld>
            <a:endPar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92" name="Text Placeholder 18">
            <a:extLst>
              <a:ext uri="{FF2B5EF4-FFF2-40B4-BE49-F238E27FC236}">
                <a16:creationId xmlns:a16="http://schemas.microsoft.com/office/drawing/2014/main" id="{D842FA91-A078-105F-EA6A-EECD3ACD375F}"/>
              </a:ext>
            </a:extLst>
          </p:cNvPr>
          <p:cNvSpPr>
            <a:spLocks noGrp="1"/>
          </p:cNvSpPr>
          <p:nvPr>
            <p:custDataLst>
              <p:tags r:id="rId20"/>
            </p:custDataLst>
          </p:nvPr>
        </p:nvSpPr>
        <p:spPr bwMode="auto">
          <a:xfrm>
            <a:off x="4706938" y="6070600"/>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16822CA1-982F-4D11-8CC9-6800C3462309}" type="datetime'''''''''''''''''''2''''''0''''''''''''''''21'''''''''''''">
              <a:rPr kumimoji="0" lang="en-US" altLang="en-US" sz="11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2021</a:t>
            </a:fld>
            <a:endPar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73" name="Text Placeholder 18">
            <a:extLst>
              <a:ext uri="{FF2B5EF4-FFF2-40B4-BE49-F238E27FC236}">
                <a16:creationId xmlns:a16="http://schemas.microsoft.com/office/drawing/2014/main" id="{66B9EE72-371D-19BF-B704-1619150C9E51}"/>
              </a:ext>
            </a:extLst>
          </p:cNvPr>
          <p:cNvSpPr>
            <a:spLocks noGrp="1"/>
          </p:cNvSpPr>
          <p:nvPr>
            <p:custDataLst>
              <p:tags r:id="rId21"/>
            </p:custDataLst>
          </p:nvPr>
        </p:nvSpPr>
        <p:spPr bwMode="gray">
          <a:xfrm>
            <a:off x="5908675" y="4616450"/>
            <a:ext cx="280988"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EA56A2E3-0E85-43DC-8723-46179E20BDF9}" type="datetime'''''''''''''4''''9''''''4'''''''''''''''''''''''''''''''''">
              <a:rPr kumimoji="0" lang="en-US" altLang="en-US" sz="11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494</a:t>
            </a:fld>
            <a:endPar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75" name="Text Placeholder 18">
            <a:extLst>
              <a:ext uri="{FF2B5EF4-FFF2-40B4-BE49-F238E27FC236}">
                <a16:creationId xmlns:a16="http://schemas.microsoft.com/office/drawing/2014/main" id="{ED84B7D5-EE99-229B-7D4D-A814908B1D9D}"/>
              </a:ext>
            </a:extLst>
          </p:cNvPr>
          <p:cNvSpPr>
            <a:spLocks noGrp="1"/>
          </p:cNvSpPr>
          <p:nvPr>
            <p:custDataLst>
              <p:tags r:id="rId22"/>
            </p:custDataLst>
          </p:nvPr>
        </p:nvSpPr>
        <p:spPr bwMode="auto">
          <a:xfrm>
            <a:off x="5886450" y="6070600"/>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86B88D65-50B5-400B-8C9A-E0A2CEFD94C5}" type="datetime'''''''''''''''''''''''''''''''''20''''''''2''''''''2'''">
              <a:rPr kumimoji="0" lang="en-US" altLang="en-US" sz="11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2022</a:t>
            </a:fld>
            <a:endPar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79" name="Text Placeholder 18">
            <a:extLst>
              <a:ext uri="{FF2B5EF4-FFF2-40B4-BE49-F238E27FC236}">
                <a16:creationId xmlns:a16="http://schemas.microsoft.com/office/drawing/2014/main" id="{04AA47CF-BFB6-05C3-9BDD-C2A6644F8561}"/>
              </a:ext>
            </a:extLst>
          </p:cNvPr>
          <p:cNvSpPr>
            <a:spLocks noGrp="1"/>
          </p:cNvSpPr>
          <p:nvPr>
            <p:custDataLst>
              <p:tags r:id="rId23"/>
            </p:custDataLst>
          </p:nvPr>
        </p:nvSpPr>
        <p:spPr bwMode="auto">
          <a:xfrm>
            <a:off x="7064375" y="6070600"/>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6A2B7D7C-DC6E-4CAE-B5DC-F85FBD335E98}" type="datetime'''''''''''''''''''''2''''''''''0''''24'''''''''''''''''''">
              <a:rPr kumimoji="0" lang="en-US" altLang="en-US" sz="11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2024</a:t>
            </a:fld>
            <a:endPar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189" name="Text Placeholder 18">
            <a:extLst>
              <a:ext uri="{FF2B5EF4-FFF2-40B4-BE49-F238E27FC236}">
                <a16:creationId xmlns:a16="http://schemas.microsoft.com/office/drawing/2014/main" id="{D9190D9C-662C-1369-9E8C-8F40A34DDB2B}"/>
              </a:ext>
            </a:extLst>
          </p:cNvPr>
          <p:cNvSpPr>
            <a:spLocks noGrp="1"/>
          </p:cNvSpPr>
          <p:nvPr>
            <p:custDataLst>
              <p:tags r:id="rId24"/>
            </p:custDataLst>
          </p:nvPr>
        </p:nvSpPr>
        <p:spPr bwMode="gray">
          <a:xfrm>
            <a:off x="1135063" y="5200650"/>
            <a:ext cx="3968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92D13903-1588-45B3-AD6B-9A4F9974FAE3}" type="datetime'''''''''3'''''''''',''''''''74''''''''4'''''''''">
              <a:rPr kumimoji="0" lang="en-US" altLang="en-US" sz="1100" b="1"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3,744</a:t>
            </a:fld>
            <a:endParaRPr kumimoji="0" lang="en-US" sz="11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190" name="Text Placeholder 18">
            <a:extLst>
              <a:ext uri="{FF2B5EF4-FFF2-40B4-BE49-F238E27FC236}">
                <a16:creationId xmlns:a16="http://schemas.microsoft.com/office/drawing/2014/main" id="{70A86492-3E3D-04CF-012B-0675F130BF14}"/>
              </a:ext>
            </a:extLst>
          </p:cNvPr>
          <p:cNvSpPr>
            <a:spLocks noGrp="1"/>
          </p:cNvSpPr>
          <p:nvPr>
            <p:custDataLst>
              <p:tags r:id="rId25"/>
            </p:custDataLst>
          </p:nvPr>
        </p:nvSpPr>
        <p:spPr bwMode="gray">
          <a:xfrm>
            <a:off x="2314575" y="5054600"/>
            <a:ext cx="3968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D8B9023F-65C3-40EE-A198-69D8FD126822}" type="datetime'''''''''4'',7''''''''''''''''7''''''7'">
              <a:rPr kumimoji="0" lang="en-US" altLang="en-US" sz="1100" b="1"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4,777</a:t>
            </a:fld>
            <a:endParaRPr kumimoji="0" lang="en-US" sz="11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191" name="Text Placeholder 18">
            <a:extLst>
              <a:ext uri="{FF2B5EF4-FFF2-40B4-BE49-F238E27FC236}">
                <a16:creationId xmlns:a16="http://schemas.microsoft.com/office/drawing/2014/main" id="{B2B76573-16F1-CA81-9877-429F0591F5DE}"/>
              </a:ext>
            </a:extLst>
          </p:cNvPr>
          <p:cNvSpPr>
            <a:spLocks noGrp="1"/>
          </p:cNvSpPr>
          <p:nvPr>
            <p:custDataLst>
              <p:tags r:id="rId26"/>
            </p:custDataLst>
          </p:nvPr>
        </p:nvSpPr>
        <p:spPr bwMode="gray">
          <a:xfrm>
            <a:off x="3492500" y="4816475"/>
            <a:ext cx="3968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24DDD2A8-7021-471F-838F-4BE0676B9AC4}" type="datetime'6'',''''''''''''''''''''52''''''''''''''5'''''''''">
              <a:rPr kumimoji="0" lang="en-US" altLang="en-US" sz="1100" b="1"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6,525</a:t>
            </a:fld>
            <a:endParaRPr kumimoji="0" lang="en-US" sz="11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192" name="Text Placeholder 18">
            <a:extLst>
              <a:ext uri="{FF2B5EF4-FFF2-40B4-BE49-F238E27FC236}">
                <a16:creationId xmlns:a16="http://schemas.microsoft.com/office/drawing/2014/main" id="{4C029B38-6E99-F67E-D9C0-46DAFB1947A3}"/>
              </a:ext>
            </a:extLst>
          </p:cNvPr>
          <p:cNvSpPr>
            <a:spLocks noGrp="1"/>
          </p:cNvSpPr>
          <p:nvPr>
            <p:custDataLst>
              <p:tags r:id="rId27"/>
            </p:custDataLst>
          </p:nvPr>
        </p:nvSpPr>
        <p:spPr bwMode="gray">
          <a:xfrm>
            <a:off x="4670425" y="4700588"/>
            <a:ext cx="3968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11373105-4D37-4279-A7BA-A628306AC11F}" type="datetime'''''''''''''7'',''''''''''''''''''''''''''''''''''''''3''''13'">
              <a:rPr kumimoji="0" lang="en-US" altLang="en-US" sz="1100" b="1"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7,313</a:t>
            </a:fld>
            <a:endParaRPr kumimoji="0" lang="en-US" sz="11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193" name="Text Placeholder 18">
            <a:extLst>
              <a:ext uri="{FF2B5EF4-FFF2-40B4-BE49-F238E27FC236}">
                <a16:creationId xmlns:a16="http://schemas.microsoft.com/office/drawing/2014/main" id="{5EF252ED-085E-AFC9-E410-E665C3652B25}"/>
              </a:ext>
            </a:extLst>
          </p:cNvPr>
          <p:cNvSpPr>
            <a:spLocks noGrp="1"/>
          </p:cNvSpPr>
          <p:nvPr>
            <p:custDataLst>
              <p:tags r:id="rId28"/>
            </p:custDataLst>
          </p:nvPr>
        </p:nvSpPr>
        <p:spPr bwMode="gray">
          <a:xfrm>
            <a:off x="5849938" y="4448175"/>
            <a:ext cx="3968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4EA568A8-2C56-4E4F-81EF-B9AE6A9DAD8D}" type="datetime'''''''''''''9'''''''''',''3''''''''3''''''''''''6'''''''">
              <a:rPr kumimoji="0" lang="en-US" altLang="en-US" sz="1100" b="1"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9,336</a:t>
            </a:fld>
            <a:endParaRPr kumimoji="0" lang="en-US" sz="11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194" name="Text Placeholder 18">
            <a:extLst>
              <a:ext uri="{FF2B5EF4-FFF2-40B4-BE49-F238E27FC236}">
                <a16:creationId xmlns:a16="http://schemas.microsoft.com/office/drawing/2014/main" id="{A5D558B2-55FF-65E8-EF75-3000A4D4A35F}"/>
              </a:ext>
            </a:extLst>
          </p:cNvPr>
          <p:cNvSpPr>
            <a:spLocks noGrp="1"/>
          </p:cNvSpPr>
          <p:nvPr>
            <p:custDataLst>
              <p:tags r:id="rId29"/>
            </p:custDataLst>
          </p:nvPr>
        </p:nvSpPr>
        <p:spPr bwMode="gray">
          <a:xfrm>
            <a:off x="6989763" y="4075113"/>
            <a:ext cx="47466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61346F3E-51CF-4C0C-90C1-F74F95775E7B}" type="datetime'''''1''''''2'''''''',''''''''''''''''''1''''''65'">
              <a:rPr kumimoji="0" lang="en-US" altLang="en-US" sz="1100" b="1"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12,165</a:t>
            </a:fld>
            <a:endParaRPr kumimoji="0" lang="en-US" sz="11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483" name="Text Placeholder 18">
            <a:extLst>
              <a:ext uri="{FF2B5EF4-FFF2-40B4-BE49-F238E27FC236}">
                <a16:creationId xmlns:a16="http://schemas.microsoft.com/office/drawing/2014/main" id="{63F705A2-0171-B504-761D-686D1BF48689}"/>
              </a:ext>
            </a:extLst>
          </p:cNvPr>
          <p:cNvSpPr>
            <a:spLocks noGrp="1"/>
          </p:cNvSpPr>
          <p:nvPr>
            <p:custDataLst>
              <p:tags r:id="rId30"/>
            </p:custDataLst>
          </p:nvPr>
        </p:nvSpPr>
        <p:spPr bwMode="auto">
          <a:xfrm>
            <a:off x="4024313" y="4387850"/>
            <a:ext cx="511175" cy="238125"/>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34C20E80-2A22-4272-8EB0-7CDB0DDAADD7}" type="datetime'+''''1''''4''''''''''%'''''''''''''''''">
              <a:rPr kumimoji="0" lang="en-US" altLang="en-US" sz="11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+14%</a:t>
            </a:fld>
            <a:endParaRPr kumimoji="0" lang="en-US" sz="11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84" name="Rectangle 483">
            <a:extLst>
              <a:ext uri="{FF2B5EF4-FFF2-40B4-BE49-F238E27FC236}">
                <a16:creationId xmlns:a16="http://schemas.microsoft.com/office/drawing/2014/main" id="{C09CBE5F-05A1-FF99-0264-52F56FA8CECB}"/>
              </a:ext>
            </a:extLst>
          </p:cNvPr>
          <p:cNvSpPr/>
          <p:nvPr>
            <p:custDataLst>
              <p:tags r:id="rId31"/>
            </p:custDataLst>
          </p:nvPr>
        </p:nvSpPr>
        <p:spPr bwMode="auto">
          <a:xfrm>
            <a:off x="806450" y="3929063"/>
            <a:ext cx="214313" cy="160338"/>
          </a:xfrm>
          <a:prstGeom prst="rect">
            <a:avLst/>
          </a:prstGeom>
          <a:solidFill>
            <a:srgbClr val="046A38"/>
          </a:solidFill>
          <a:ln w="19050" algn="ctr">
            <a:noFill/>
            <a:miter lim="800000"/>
            <a:headEnd/>
            <a:tailEnd/>
          </a:ln>
          <a:effectLst/>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486" name="Rectangle 485">
            <a:extLst>
              <a:ext uri="{FF2B5EF4-FFF2-40B4-BE49-F238E27FC236}">
                <a16:creationId xmlns:a16="http://schemas.microsoft.com/office/drawing/2014/main" id="{75567A54-95E2-9B71-4A57-F02FA39F4FE6}"/>
              </a:ext>
            </a:extLst>
          </p:cNvPr>
          <p:cNvSpPr/>
          <p:nvPr>
            <p:custDataLst>
              <p:tags r:id="rId32"/>
            </p:custDataLst>
          </p:nvPr>
        </p:nvSpPr>
        <p:spPr bwMode="auto">
          <a:xfrm>
            <a:off x="2144713" y="3929063"/>
            <a:ext cx="214313" cy="160338"/>
          </a:xfrm>
          <a:prstGeom prst="rect">
            <a:avLst/>
          </a:prstGeom>
          <a:solidFill>
            <a:srgbClr val="C4D600"/>
          </a:solidFill>
          <a:ln w="19050" algn="ctr">
            <a:noFill/>
            <a:miter lim="800000"/>
            <a:headEnd/>
            <a:tailEnd/>
          </a:ln>
          <a:effectLst/>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492" name="Text Placeholder 18">
            <a:extLst>
              <a:ext uri="{FF2B5EF4-FFF2-40B4-BE49-F238E27FC236}">
                <a16:creationId xmlns:a16="http://schemas.microsoft.com/office/drawing/2014/main" id="{7C70F158-A283-57AD-7C19-6404D58B7647}"/>
              </a:ext>
            </a:extLst>
          </p:cNvPr>
          <p:cNvSpPr>
            <a:spLocks noGrp="1"/>
          </p:cNvSpPr>
          <p:nvPr>
            <p:custDataLst>
              <p:tags r:id="rId33"/>
            </p:custDataLst>
          </p:nvPr>
        </p:nvSpPr>
        <p:spPr bwMode="auto">
          <a:xfrm>
            <a:off x="1071563" y="3924300"/>
            <a:ext cx="9715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l" defTabSz="914335" rtl="0" eaLnBrk="1" fontAlgn="auto" latinLnBrk="0" hangingPunct="1">
              <a:lnSpc>
                <a:spcPct val="100000"/>
              </a:lnSpc>
              <a:spcBef>
                <a:spcPct val="0"/>
              </a:spcBef>
              <a:spcAft>
                <a:spcPct val="0"/>
              </a:spcAft>
              <a:buClrTx/>
              <a:buSzPct val="100000"/>
              <a:buFontTx/>
              <a:buNone/>
              <a:tabLst/>
              <a:defRPr/>
            </a:pPr>
            <a:fld id="{05F77F79-B566-4475-8D22-BCBA633F8628}" type="datetime'I''''nt''e''r''''''n''a''''''l'' S''''a''''les'''''''''' '">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l" defTabSz="914335" rtl="0" eaLnBrk="1" fontAlgn="auto" latinLnBrk="0" hangingPunct="1">
                <a:lnSpc>
                  <a:spcPct val="100000"/>
                </a:lnSpc>
                <a:spcBef>
                  <a:spcPct val="0"/>
                </a:spcBef>
                <a:spcAft>
                  <a:spcPct val="0"/>
                </a:spcAft>
                <a:buClrTx/>
                <a:buSzPct val="100000"/>
                <a:buFontTx/>
                <a:buNone/>
                <a:tabLst/>
                <a:defRPr/>
              </a:pPr>
              <a:t>Internal Sales </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93" name="Text Placeholder 18">
            <a:extLst>
              <a:ext uri="{FF2B5EF4-FFF2-40B4-BE49-F238E27FC236}">
                <a16:creationId xmlns:a16="http://schemas.microsoft.com/office/drawing/2014/main" id="{B39B7EE8-1110-610F-D2D5-BEA73C688F16}"/>
              </a:ext>
            </a:extLst>
          </p:cNvPr>
          <p:cNvSpPr>
            <a:spLocks noGrp="1"/>
          </p:cNvSpPr>
          <p:nvPr>
            <p:custDataLst>
              <p:tags r:id="rId34"/>
            </p:custDataLst>
          </p:nvPr>
        </p:nvSpPr>
        <p:spPr bwMode="auto">
          <a:xfrm>
            <a:off x="2409825" y="3924300"/>
            <a:ext cx="9048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l" defTabSz="914335" rtl="0" eaLnBrk="1" fontAlgn="auto" latinLnBrk="0" hangingPunct="1">
              <a:lnSpc>
                <a:spcPct val="100000"/>
              </a:lnSpc>
              <a:spcBef>
                <a:spcPct val="0"/>
              </a:spcBef>
              <a:spcAft>
                <a:spcPct val="0"/>
              </a:spcAft>
              <a:buClrTx/>
              <a:buSzPct val="100000"/>
              <a:buFontTx/>
              <a:buNone/>
              <a:tabLst/>
              <a:defRPr/>
            </a:pPr>
            <a:fld id="{FA7BF436-F57F-4CC7-921E-1BE876716B28}" type="datetime'''Ex''p''o''''''r''''''''''t'''''''' S''a''l''''''''es'' '''">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l" defTabSz="914335" rtl="0" eaLnBrk="1" fontAlgn="auto" latinLnBrk="0" hangingPunct="1">
                <a:lnSpc>
                  <a:spcPct val="100000"/>
                </a:lnSpc>
                <a:spcBef>
                  <a:spcPct val="0"/>
                </a:spcBef>
                <a:spcAft>
                  <a:spcPct val="0"/>
                </a:spcAft>
                <a:buClrTx/>
                <a:buSzPct val="100000"/>
                <a:buFontTx/>
                <a:buNone/>
                <a:tabLst/>
                <a:defRPr/>
              </a:pPr>
              <a:t>Export Sales </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Tree>
    <p:extLst>
      <p:ext uri="{BB962C8B-B14F-4D97-AF65-F5344CB8AC3E}">
        <p14:creationId xmlns:p14="http://schemas.microsoft.com/office/powerpoint/2010/main" val="1933494725"/>
      </p:ext>
    </p:extLst>
  </p:cSld>
  <p:clrMapOvr>
    <a:masterClrMapping/>
  </p:clrMapOvr>
  <p:transition>
    <p:fade/>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566241727"/>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57" imgW="415" imgH="416" progId="TCLayout.ActiveDocument.1">
                  <p:embed/>
                </p:oleObj>
              </mc:Choice>
              <mc:Fallback>
                <p:oleObj name="think-cell Slide" r:id="rId57"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8"/>
                      <a:stretch>
                        <a:fillRect/>
                      </a:stretch>
                    </p:blipFill>
                    <p:spPr>
                      <a:xfrm>
                        <a:off x="1828" y="1723"/>
                        <a:ext cx="1588" cy="1588"/>
                      </a:xfrm>
                      <a:prstGeom prst="rect">
                        <a:avLst/>
                      </a:prstGeom>
                    </p:spPr>
                  </p:pic>
                </p:oleObj>
              </mc:Fallback>
            </mc:AlternateContent>
          </a:graphicData>
        </a:graphic>
      </p:graphicFrame>
      <p:sp>
        <p:nvSpPr>
          <p:cNvPr id="5" name="Rectangle 4">
            <a:extLst>
              <a:ext uri="{FF2B5EF4-FFF2-40B4-BE49-F238E27FC236}">
                <a16:creationId xmlns:a16="http://schemas.microsoft.com/office/drawing/2014/main" id="{90FD99C0-EE90-E103-7AA7-E74CC2200340}"/>
              </a:ext>
            </a:extLst>
          </p:cNvPr>
          <p:cNvSpPr/>
          <p:nvPr/>
        </p:nvSpPr>
        <p:spPr bwMode="gray">
          <a:xfrm>
            <a:off x="6542088" y="1018118"/>
            <a:ext cx="5147205" cy="3912275"/>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Industrial and Domestic Sectors Power Internal Electricity Demand Growth</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Expanding industrial activity and a broadening residential consumer base have significantly scaled up domestic electricity sales since 2015</a:t>
            </a:r>
          </a:p>
        </p:txBody>
      </p:sp>
      <p:sp>
        <p:nvSpPr>
          <p:cNvPr id="294" name="TextBox 293">
            <a:extLst>
              <a:ext uri="{FF2B5EF4-FFF2-40B4-BE49-F238E27FC236}">
                <a16:creationId xmlns:a16="http://schemas.microsoft.com/office/drawing/2014/main" id="{083FABDF-A287-DD0D-6C4C-B0F123695AA7}"/>
              </a:ext>
            </a:extLst>
          </p:cNvPr>
          <p:cNvSpPr txBox="1"/>
          <p:nvPr/>
        </p:nvSpPr>
        <p:spPr>
          <a:xfrm>
            <a:off x="7167498" y="1059589"/>
            <a:ext cx="4143504" cy="307777"/>
          </a:xfrm>
          <a:prstGeom prst="rect">
            <a:avLst/>
          </a:prstGeom>
          <a:noFill/>
        </p:spPr>
        <p:txBody>
          <a:bodyPr wrap="square">
            <a:spAutoFit/>
          </a:bodyPr>
          <a:lstStyle/>
          <a:p>
            <a:pPr algn="ctr"/>
            <a:r>
              <a:rPr lang="en-US" sz="1400" b="1">
                <a:latin typeface="Arial" panose="020B0604020202020204" pitchFamily="34" charset="0"/>
                <a:cs typeface="Arial" panose="020B0604020202020204" pitchFamily="34" charset="0"/>
              </a:rPr>
              <a:t>Consumers Growth (thousands) </a:t>
            </a:r>
            <a:endParaRPr lang="en-US" sz="1400" b="1"/>
          </a:p>
        </p:txBody>
      </p:sp>
      <p:graphicFrame>
        <p:nvGraphicFramePr>
          <p:cNvPr id="216" name="Chart 215">
            <a:extLst>
              <a:ext uri="{FF2B5EF4-FFF2-40B4-BE49-F238E27FC236}">
                <a16:creationId xmlns:a16="http://schemas.microsoft.com/office/drawing/2014/main" id="{35A7B3F6-0553-BBF5-F827-01DD1DF270F2}"/>
              </a:ext>
            </a:extLst>
          </p:cNvPr>
          <p:cNvGraphicFramePr/>
          <p:nvPr>
            <p:custDataLst>
              <p:tags r:id="rId2"/>
            </p:custDataLst>
            <p:extLst>
              <p:ext uri="{D42A27DB-BD31-4B8C-83A1-F6EECF244321}">
                <p14:modId xmlns:p14="http://schemas.microsoft.com/office/powerpoint/2010/main" val="71177113"/>
              </p:ext>
            </p:extLst>
          </p:nvPr>
        </p:nvGraphicFramePr>
        <p:xfrm>
          <a:off x="6619875" y="1720850"/>
          <a:ext cx="4968875" cy="2665413"/>
        </p:xfrm>
        <a:graphic>
          <a:graphicData uri="http://schemas.openxmlformats.org/drawingml/2006/chart">
            <c:chart xmlns:c="http://schemas.openxmlformats.org/drawingml/2006/chart" xmlns:r="http://schemas.openxmlformats.org/officeDocument/2006/relationships" r:id="rId59"/>
          </a:graphicData>
        </a:graphic>
      </p:graphicFrame>
      <p:cxnSp>
        <p:nvCxnSpPr>
          <p:cNvPr id="211" name="Straight Connector 210">
            <a:extLst>
              <a:ext uri="{FF2B5EF4-FFF2-40B4-BE49-F238E27FC236}">
                <a16:creationId xmlns:a16="http://schemas.microsoft.com/office/drawing/2014/main" id="{877D71A5-0ED6-B7FB-8682-F92B4BD2DEC1}"/>
              </a:ext>
            </a:extLst>
          </p:cNvPr>
          <p:cNvCxnSpPr/>
          <p:nvPr>
            <p:custDataLst>
              <p:tags r:id="rId3"/>
            </p:custDataLst>
          </p:nvPr>
        </p:nvCxnSpPr>
        <p:spPr bwMode="auto">
          <a:xfrm flipV="1">
            <a:off x="7102475" y="1479550"/>
            <a:ext cx="4003675" cy="1065213"/>
          </a:xfrm>
          <a:prstGeom prst="line">
            <a:avLst/>
          </a:prstGeom>
          <a:ln w="63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461" name="Text Placeholder 18">
            <a:extLst>
              <a:ext uri="{FF2B5EF4-FFF2-40B4-BE49-F238E27FC236}">
                <a16:creationId xmlns:a16="http://schemas.microsoft.com/office/drawing/2014/main" id="{2BBFBCCB-09CD-777C-52E6-73B1A4003431}"/>
              </a:ext>
            </a:extLst>
          </p:cNvPr>
          <p:cNvSpPr>
            <a:spLocks noGrp="1"/>
          </p:cNvSpPr>
          <p:nvPr>
            <p:custDataLst>
              <p:tags r:id="rId4"/>
            </p:custDataLst>
          </p:nvPr>
        </p:nvSpPr>
        <p:spPr bwMode="gray">
          <a:xfrm>
            <a:off x="6878638" y="2992438"/>
            <a:ext cx="180975" cy="152400"/>
          </a:xfrm>
          <a:prstGeom prst="rect">
            <a:avLst/>
          </a:prstGeom>
          <a:solidFill>
            <a:srgbClr val="046A38"/>
          </a:solidFill>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5C47E15-A3EC-4FEF-96FB-63C448A5FF14}" type="datetime'''''''''''4''''''''''''''''''''''''2'''''''''''''''">
              <a:rPr lang="en-US" altLang="en-US" sz="10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42</a:t>
            </a:fld>
            <a:endParaRPr lang="en-US" sz="1000" noProof="0">
              <a:solidFill>
                <a:schemeClr val="bg1"/>
              </a:solidFill>
              <a:latin typeface="Arial" panose="020B0604020202020204" pitchFamily="34" charset="0"/>
              <a:cs typeface="+mn-cs"/>
              <a:sym typeface="Arial" panose="020B0604020202020204" pitchFamily="34" charset="0"/>
            </a:endParaRPr>
          </a:p>
        </p:txBody>
      </p:sp>
      <p:sp>
        <p:nvSpPr>
          <p:cNvPr id="124" name="Text Placeholder 18">
            <a:extLst>
              <a:ext uri="{FF2B5EF4-FFF2-40B4-BE49-F238E27FC236}">
                <a16:creationId xmlns:a16="http://schemas.microsoft.com/office/drawing/2014/main" id="{2138C531-FD39-D9B7-A469-A56BC00443D4}"/>
              </a:ext>
            </a:extLst>
          </p:cNvPr>
          <p:cNvSpPr>
            <a:spLocks noGrp="1"/>
          </p:cNvSpPr>
          <p:nvPr>
            <p:custDataLst>
              <p:tags r:id="rId5"/>
            </p:custDataLst>
          </p:nvPr>
        </p:nvSpPr>
        <p:spPr bwMode="gray">
          <a:xfrm>
            <a:off x="7110413" y="2959100"/>
            <a:ext cx="250825" cy="152400"/>
          </a:xfrm>
          <a:prstGeom prst="rect">
            <a:avLst/>
          </a:prstGeom>
          <a:solidFill>
            <a:srgbClr val="86BC25"/>
          </a:solidFill>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D1A9DAE-3457-43CC-81D0-F33B5BC1D961}" type="datetime'''''''''''''''1''''''''''''''''''''''''''''''''''21'''''">
              <a:rPr lang="en-US" altLang="en-US" sz="1000" smtClean="0">
                <a:effectLst/>
                <a:latin typeface="Arial" panose="020B0604020202020204" pitchFamily="34" charset="0"/>
                <a:cs typeface="+mn-cs"/>
              </a:rPr>
              <a:pPr lvl="0" algn="ctr">
                <a:spcBef>
                  <a:spcPct val="0"/>
                </a:spcBef>
                <a:spcAft>
                  <a:spcPct val="0"/>
                </a:spcAft>
              </a:pPr>
              <a:t>121</a:t>
            </a:fld>
            <a:endParaRPr lang="en-US" sz="1000" noProof="0">
              <a:latin typeface="Arial" panose="020B0604020202020204" pitchFamily="34" charset="0"/>
              <a:cs typeface="+mn-cs"/>
              <a:sym typeface="Arial" panose="020B0604020202020204" pitchFamily="34" charset="0"/>
            </a:endParaRPr>
          </a:p>
        </p:txBody>
      </p:sp>
      <p:sp>
        <p:nvSpPr>
          <p:cNvPr id="400" name="Text Placeholder 18">
            <a:extLst>
              <a:ext uri="{FF2B5EF4-FFF2-40B4-BE49-F238E27FC236}">
                <a16:creationId xmlns:a16="http://schemas.microsoft.com/office/drawing/2014/main" id="{6CED8E4F-A8EB-8EDE-FA14-FDCD46041CE8}"/>
              </a:ext>
            </a:extLst>
          </p:cNvPr>
          <p:cNvSpPr>
            <a:spLocks noGrp="1"/>
          </p:cNvSpPr>
          <p:nvPr>
            <p:custDataLst>
              <p:tags r:id="rId6"/>
            </p:custDataLst>
          </p:nvPr>
        </p:nvSpPr>
        <p:spPr bwMode="auto">
          <a:xfrm>
            <a:off x="6956425" y="42465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A735A7F-DC03-4DAB-A16F-AF685EF88CD3}" type="datetime'''''''20''''''''''1''''''''''''''''''''''''''''''''''''''''5'">
              <a:rPr lang="en-US" altLang="en-US" sz="1000" smtClean="0">
                <a:latin typeface="Arial" panose="020B0604020202020204" pitchFamily="34" charset="0"/>
                <a:cs typeface="+mn-cs"/>
              </a:rPr>
              <a:pPr lvl="0" algn="ctr">
                <a:spcBef>
                  <a:spcPct val="0"/>
                </a:spcBef>
                <a:spcAft>
                  <a:spcPct val="0"/>
                </a:spcAft>
              </a:pPr>
              <a:t>2015</a:t>
            </a:fld>
            <a:endParaRPr lang="en-US" sz="1000" noProof="0">
              <a:latin typeface="Arial" panose="020B0604020202020204" pitchFamily="34" charset="0"/>
              <a:cs typeface="+mn-cs"/>
              <a:sym typeface="Arial" panose="020B0604020202020204" pitchFamily="34" charset="0"/>
            </a:endParaRPr>
          </a:p>
        </p:txBody>
      </p:sp>
      <p:sp>
        <p:nvSpPr>
          <p:cNvPr id="463" name="Text Placeholder 18">
            <a:extLst>
              <a:ext uri="{FF2B5EF4-FFF2-40B4-BE49-F238E27FC236}">
                <a16:creationId xmlns:a16="http://schemas.microsoft.com/office/drawing/2014/main" id="{9F299A46-D0D6-091B-278A-BCA6A0E27430}"/>
              </a:ext>
            </a:extLst>
          </p:cNvPr>
          <p:cNvSpPr>
            <a:spLocks noGrp="1"/>
          </p:cNvSpPr>
          <p:nvPr>
            <p:custDataLst>
              <p:tags r:id="rId7"/>
            </p:custDataLst>
          </p:nvPr>
        </p:nvSpPr>
        <p:spPr bwMode="gray">
          <a:xfrm>
            <a:off x="7678738" y="2833688"/>
            <a:ext cx="180975" cy="152400"/>
          </a:xfrm>
          <a:prstGeom prst="rect">
            <a:avLst/>
          </a:prstGeom>
          <a:solidFill>
            <a:srgbClr val="046A38"/>
          </a:solidFill>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CDB1931-F375-4027-B901-CAE43E1CFAD5}" type="datetime'''''''''''''4''''''''''6'''''''''''''''''''''''''''''''''''''">
              <a:rPr lang="en-US" altLang="en-US" sz="10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46</a:t>
            </a:fld>
            <a:endParaRPr lang="en-US" sz="1000" noProof="0">
              <a:solidFill>
                <a:schemeClr val="bg1"/>
              </a:solidFill>
              <a:latin typeface="Arial" panose="020B0604020202020204" pitchFamily="34" charset="0"/>
              <a:cs typeface="+mn-cs"/>
              <a:sym typeface="Arial" panose="020B0604020202020204" pitchFamily="34" charset="0"/>
            </a:endParaRPr>
          </a:p>
        </p:txBody>
      </p:sp>
      <p:sp>
        <p:nvSpPr>
          <p:cNvPr id="152" name="Text Placeholder 18">
            <a:extLst>
              <a:ext uri="{FF2B5EF4-FFF2-40B4-BE49-F238E27FC236}">
                <a16:creationId xmlns:a16="http://schemas.microsoft.com/office/drawing/2014/main" id="{843AA044-9449-91CC-EA37-56986CACA549}"/>
              </a:ext>
            </a:extLst>
          </p:cNvPr>
          <p:cNvSpPr>
            <a:spLocks noGrp="1"/>
          </p:cNvSpPr>
          <p:nvPr>
            <p:custDataLst>
              <p:tags r:id="rId8"/>
            </p:custDataLst>
          </p:nvPr>
        </p:nvSpPr>
        <p:spPr bwMode="gray">
          <a:xfrm>
            <a:off x="7912100" y="2792413"/>
            <a:ext cx="250825" cy="152400"/>
          </a:xfrm>
          <a:prstGeom prst="rect">
            <a:avLst/>
          </a:prstGeom>
          <a:solidFill>
            <a:srgbClr val="86BC25"/>
          </a:solidFill>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8965EB4-E50B-4F9E-9E35-AFA69B6C14C1}" type="datetime'''''''''''''''''''''''''''''''''''1''''5''''0'''''">
              <a:rPr lang="en-US" altLang="en-US" sz="1000" smtClean="0">
                <a:effectLst/>
                <a:latin typeface="Arial" panose="020B0604020202020204" pitchFamily="34" charset="0"/>
                <a:cs typeface="+mn-cs"/>
              </a:rPr>
              <a:pPr lvl="0" algn="ctr">
                <a:spcBef>
                  <a:spcPct val="0"/>
                </a:spcBef>
                <a:spcAft>
                  <a:spcPct val="0"/>
                </a:spcAft>
              </a:pPr>
              <a:t>150</a:t>
            </a:fld>
            <a:endParaRPr lang="en-US" sz="1000" noProof="0">
              <a:latin typeface="Arial" panose="020B0604020202020204" pitchFamily="34" charset="0"/>
              <a:cs typeface="+mn-cs"/>
              <a:sym typeface="Arial" panose="020B0604020202020204" pitchFamily="34" charset="0"/>
            </a:endParaRPr>
          </a:p>
        </p:txBody>
      </p:sp>
      <p:sp>
        <p:nvSpPr>
          <p:cNvPr id="34" name="Text Placeholder 18">
            <a:extLst>
              <a:ext uri="{FF2B5EF4-FFF2-40B4-BE49-F238E27FC236}">
                <a16:creationId xmlns:a16="http://schemas.microsoft.com/office/drawing/2014/main" id="{D98D6038-DA09-5972-B0EA-9B81C1B30BC0}"/>
              </a:ext>
            </a:extLst>
          </p:cNvPr>
          <p:cNvSpPr>
            <a:spLocks noGrp="1"/>
          </p:cNvSpPr>
          <p:nvPr>
            <p:custDataLst>
              <p:tags r:id="rId9"/>
            </p:custDataLst>
          </p:nvPr>
        </p:nvSpPr>
        <p:spPr bwMode="auto">
          <a:xfrm>
            <a:off x="7756525" y="42465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E39576E-9D42-4DEF-8C85-E354F4DC2D35}" type="datetime'''''2''''''''''''''''''''''''''''0''''''''1''''''''''7'''''''">
              <a:rPr lang="en-US" altLang="en-US" sz="1000" smtClean="0">
                <a:latin typeface="Arial" panose="020B0604020202020204" pitchFamily="34" charset="0"/>
                <a:cs typeface="+mn-cs"/>
              </a:rPr>
              <a:pPr lvl="0" algn="ctr">
                <a:spcBef>
                  <a:spcPct val="0"/>
                </a:spcBef>
                <a:spcAft>
                  <a:spcPct val="0"/>
                </a:spcAft>
              </a:pPr>
              <a:t>2017</a:t>
            </a:fld>
            <a:endParaRPr lang="en-US" sz="1000" noProof="0">
              <a:latin typeface="Arial" panose="020B0604020202020204" pitchFamily="34" charset="0"/>
              <a:cs typeface="+mn-cs"/>
              <a:sym typeface="Arial" panose="020B0604020202020204" pitchFamily="34" charset="0"/>
            </a:endParaRPr>
          </a:p>
        </p:txBody>
      </p:sp>
      <p:sp>
        <p:nvSpPr>
          <p:cNvPr id="464" name="Text Placeholder 18">
            <a:extLst>
              <a:ext uri="{FF2B5EF4-FFF2-40B4-BE49-F238E27FC236}">
                <a16:creationId xmlns:a16="http://schemas.microsoft.com/office/drawing/2014/main" id="{9B251AEB-18D5-E25B-5DA6-3FF1CFC2759D}"/>
              </a:ext>
            </a:extLst>
          </p:cNvPr>
          <p:cNvSpPr>
            <a:spLocks noGrp="1"/>
          </p:cNvSpPr>
          <p:nvPr>
            <p:custDataLst>
              <p:tags r:id="rId10"/>
            </p:custDataLst>
          </p:nvPr>
        </p:nvSpPr>
        <p:spPr bwMode="gray">
          <a:xfrm>
            <a:off x="8480425" y="2478088"/>
            <a:ext cx="180975" cy="152400"/>
          </a:xfrm>
          <a:prstGeom prst="rect">
            <a:avLst/>
          </a:prstGeom>
          <a:solidFill>
            <a:srgbClr val="046A38"/>
          </a:solidFill>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C412F9D-06CF-48DC-8A3C-C3E13A9F26BA}" type="datetime'''''''5''''''''''''''''''''''''6'''''''''''''''''''''">
              <a:rPr lang="en-US" altLang="en-US" sz="10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56</a:t>
            </a:fld>
            <a:endParaRPr lang="en-US" sz="1000" noProof="0">
              <a:solidFill>
                <a:schemeClr val="bg1"/>
              </a:solidFill>
              <a:latin typeface="Arial" panose="020B0604020202020204" pitchFamily="34" charset="0"/>
              <a:cs typeface="+mn-cs"/>
              <a:sym typeface="Arial" panose="020B0604020202020204" pitchFamily="34" charset="0"/>
            </a:endParaRPr>
          </a:p>
        </p:txBody>
      </p:sp>
      <p:sp>
        <p:nvSpPr>
          <p:cNvPr id="145" name="Text Placeholder 18">
            <a:extLst>
              <a:ext uri="{FF2B5EF4-FFF2-40B4-BE49-F238E27FC236}">
                <a16:creationId xmlns:a16="http://schemas.microsoft.com/office/drawing/2014/main" id="{80A63C5E-2ABB-78B6-8EEF-7ACCB5AD34D6}"/>
              </a:ext>
            </a:extLst>
          </p:cNvPr>
          <p:cNvSpPr>
            <a:spLocks noGrp="1"/>
          </p:cNvSpPr>
          <p:nvPr>
            <p:custDataLst>
              <p:tags r:id="rId11"/>
            </p:custDataLst>
          </p:nvPr>
        </p:nvSpPr>
        <p:spPr bwMode="gray">
          <a:xfrm>
            <a:off x="8712200" y="2419350"/>
            <a:ext cx="250825" cy="152400"/>
          </a:xfrm>
          <a:prstGeom prst="rect">
            <a:avLst/>
          </a:prstGeom>
          <a:solidFill>
            <a:srgbClr val="86BC25"/>
          </a:solidFill>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7E0124D-E617-49A8-BDD7-7A98770BCB51}" type="datetime'''''''''''''2''''''''''''''''''''''''''2''''''9'''">
              <a:rPr lang="en-US" altLang="en-US" sz="1000" smtClean="0">
                <a:effectLst/>
                <a:latin typeface="Arial" panose="020B0604020202020204" pitchFamily="34" charset="0"/>
                <a:cs typeface="+mn-cs"/>
              </a:rPr>
              <a:pPr lvl="0" algn="ctr">
                <a:spcBef>
                  <a:spcPct val="0"/>
                </a:spcBef>
                <a:spcAft>
                  <a:spcPct val="0"/>
                </a:spcAft>
              </a:pPr>
              <a:t>229</a:t>
            </a:fld>
            <a:endParaRPr lang="en-US" sz="1000" noProof="0">
              <a:latin typeface="Arial" panose="020B0604020202020204" pitchFamily="34" charset="0"/>
              <a:cs typeface="+mn-cs"/>
              <a:sym typeface="Arial" panose="020B0604020202020204" pitchFamily="34" charset="0"/>
            </a:endParaRPr>
          </a:p>
        </p:txBody>
      </p:sp>
      <p:sp>
        <p:nvSpPr>
          <p:cNvPr id="402" name="Text Placeholder 18">
            <a:extLst>
              <a:ext uri="{FF2B5EF4-FFF2-40B4-BE49-F238E27FC236}">
                <a16:creationId xmlns:a16="http://schemas.microsoft.com/office/drawing/2014/main" id="{C863252A-00A7-A6CD-655C-814B40B26BF9}"/>
              </a:ext>
            </a:extLst>
          </p:cNvPr>
          <p:cNvSpPr>
            <a:spLocks noGrp="1"/>
          </p:cNvSpPr>
          <p:nvPr>
            <p:custDataLst>
              <p:tags r:id="rId12"/>
            </p:custDataLst>
          </p:nvPr>
        </p:nvSpPr>
        <p:spPr bwMode="auto">
          <a:xfrm>
            <a:off x="8558213" y="42465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A396CAF-DB58-45DF-9B5A-E7EFCD584DF6}" type="datetime'2''''''''''''''''''02''''0'''''''''''''''''''''''''''">
              <a:rPr lang="en-US" altLang="en-US" sz="1000" smtClean="0">
                <a:latin typeface="Arial" panose="020B0604020202020204" pitchFamily="34" charset="0"/>
                <a:cs typeface="+mn-cs"/>
              </a:rPr>
              <a:pPr lvl="0" algn="ctr">
                <a:spcBef>
                  <a:spcPct val="0"/>
                </a:spcBef>
                <a:spcAft>
                  <a:spcPct val="0"/>
                </a:spcAft>
              </a:pPr>
              <a:t>2020</a:t>
            </a:fld>
            <a:endParaRPr lang="en-US" sz="1000" noProof="0">
              <a:latin typeface="Arial" panose="020B0604020202020204" pitchFamily="34" charset="0"/>
              <a:cs typeface="+mn-cs"/>
              <a:sym typeface="Arial" panose="020B0604020202020204" pitchFamily="34" charset="0"/>
            </a:endParaRPr>
          </a:p>
        </p:txBody>
      </p:sp>
      <p:sp>
        <p:nvSpPr>
          <p:cNvPr id="54" name="Text Placeholder 18">
            <a:extLst>
              <a:ext uri="{FF2B5EF4-FFF2-40B4-BE49-F238E27FC236}">
                <a16:creationId xmlns:a16="http://schemas.microsoft.com/office/drawing/2014/main" id="{1B43F3D3-9358-549D-C3A1-BEB2BC11276C}"/>
              </a:ext>
            </a:extLst>
          </p:cNvPr>
          <p:cNvSpPr>
            <a:spLocks noGrp="1"/>
          </p:cNvSpPr>
          <p:nvPr>
            <p:custDataLst>
              <p:tags r:id="rId13"/>
            </p:custDataLst>
          </p:nvPr>
        </p:nvSpPr>
        <p:spPr bwMode="gray">
          <a:xfrm>
            <a:off x="9280525" y="2365375"/>
            <a:ext cx="180975" cy="152400"/>
          </a:xfrm>
          <a:prstGeom prst="rect">
            <a:avLst/>
          </a:prstGeom>
          <a:solidFill>
            <a:srgbClr val="046A38"/>
          </a:solidFill>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F56596E-F7AB-4E15-BFDD-066ADBCDB641}" type="datetime'''''''''''''''''6''''''''1'''''''''''''''''''''''''''">
              <a:rPr lang="en-US" altLang="en-US" sz="10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61</a:t>
            </a:fld>
            <a:endParaRPr lang="en-US" sz="1000" noProof="0">
              <a:solidFill>
                <a:schemeClr val="bg1"/>
              </a:solidFill>
              <a:latin typeface="Arial" panose="020B0604020202020204" pitchFamily="34" charset="0"/>
              <a:cs typeface="+mn-cs"/>
              <a:sym typeface="Arial" panose="020B0604020202020204" pitchFamily="34" charset="0"/>
            </a:endParaRPr>
          </a:p>
        </p:txBody>
      </p:sp>
      <p:sp>
        <p:nvSpPr>
          <p:cNvPr id="404" name="Text Placeholder 18">
            <a:extLst>
              <a:ext uri="{FF2B5EF4-FFF2-40B4-BE49-F238E27FC236}">
                <a16:creationId xmlns:a16="http://schemas.microsoft.com/office/drawing/2014/main" id="{481A51C7-B9FF-2F5B-B069-1718A0AFABF7}"/>
              </a:ext>
            </a:extLst>
          </p:cNvPr>
          <p:cNvSpPr>
            <a:spLocks noGrp="1"/>
          </p:cNvSpPr>
          <p:nvPr>
            <p:custDataLst>
              <p:tags r:id="rId14"/>
            </p:custDataLst>
          </p:nvPr>
        </p:nvSpPr>
        <p:spPr bwMode="auto">
          <a:xfrm>
            <a:off x="9358313" y="42465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F60DDE9-CD21-4402-BC43-CE906F6BB4E3}" type="datetime'2''''''''0''''''''''''''2''''''''''''''''''''''1'''''''''">
              <a:rPr lang="en-US" altLang="en-US" sz="1000" smtClean="0">
                <a:latin typeface="Arial" panose="020B0604020202020204" pitchFamily="34" charset="0"/>
                <a:cs typeface="+mn-cs"/>
              </a:rPr>
              <a:pPr lvl="0" algn="ctr">
                <a:spcBef>
                  <a:spcPct val="0"/>
                </a:spcBef>
                <a:spcAft>
                  <a:spcPct val="0"/>
                </a:spcAft>
              </a:pPr>
              <a:t>2021</a:t>
            </a:fld>
            <a:endParaRPr lang="en-US" sz="1000" noProof="0">
              <a:latin typeface="Arial" panose="020B0604020202020204" pitchFamily="34" charset="0"/>
              <a:cs typeface="+mn-cs"/>
              <a:sym typeface="Arial" panose="020B0604020202020204" pitchFamily="34" charset="0"/>
            </a:endParaRPr>
          </a:p>
        </p:txBody>
      </p:sp>
      <p:sp>
        <p:nvSpPr>
          <p:cNvPr id="55" name="Text Placeholder 18">
            <a:extLst>
              <a:ext uri="{FF2B5EF4-FFF2-40B4-BE49-F238E27FC236}">
                <a16:creationId xmlns:a16="http://schemas.microsoft.com/office/drawing/2014/main" id="{B7A46B4C-F9F9-3ADB-3147-07D4512FF5AE}"/>
              </a:ext>
            </a:extLst>
          </p:cNvPr>
          <p:cNvSpPr>
            <a:spLocks noGrp="1"/>
          </p:cNvSpPr>
          <p:nvPr>
            <p:custDataLst>
              <p:tags r:id="rId15"/>
            </p:custDataLst>
          </p:nvPr>
        </p:nvSpPr>
        <p:spPr bwMode="gray">
          <a:xfrm>
            <a:off x="10080625" y="2278063"/>
            <a:ext cx="180975" cy="152400"/>
          </a:xfrm>
          <a:prstGeom prst="rect">
            <a:avLst/>
          </a:prstGeom>
          <a:solidFill>
            <a:srgbClr val="046A38"/>
          </a:solidFill>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9952F4A-1784-40CC-A7B8-61F601E57FBD}" type="datetime'''''''''''''6''''5'''''''''''''''''''''''">
              <a:rPr lang="en-US" altLang="en-US" sz="10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65</a:t>
            </a:fld>
            <a:endParaRPr lang="en-US" sz="1000" noProof="0">
              <a:solidFill>
                <a:schemeClr val="bg1"/>
              </a:solidFill>
              <a:latin typeface="Arial" panose="020B0604020202020204" pitchFamily="34" charset="0"/>
              <a:cs typeface="+mn-cs"/>
              <a:sym typeface="Arial" panose="020B0604020202020204" pitchFamily="34" charset="0"/>
            </a:endParaRPr>
          </a:p>
        </p:txBody>
      </p:sp>
      <p:sp>
        <p:nvSpPr>
          <p:cNvPr id="405" name="Text Placeholder 18">
            <a:extLst>
              <a:ext uri="{FF2B5EF4-FFF2-40B4-BE49-F238E27FC236}">
                <a16:creationId xmlns:a16="http://schemas.microsoft.com/office/drawing/2014/main" id="{EAF7D39E-E9B7-7CF7-2AF7-F3620D8317C5}"/>
              </a:ext>
            </a:extLst>
          </p:cNvPr>
          <p:cNvSpPr>
            <a:spLocks noGrp="1"/>
          </p:cNvSpPr>
          <p:nvPr>
            <p:custDataLst>
              <p:tags r:id="rId16"/>
            </p:custDataLst>
          </p:nvPr>
        </p:nvSpPr>
        <p:spPr bwMode="auto">
          <a:xfrm>
            <a:off x="10158413" y="42465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404CAA5-EFE3-40D0-A01A-18768AFC599F}" type="datetime'''''''2''''''''''0''''2''''''2'''''''">
              <a:rPr lang="en-US" altLang="en-US" sz="1000" smtClean="0">
                <a:latin typeface="Arial" panose="020B0604020202020204" pitchFamily="34" charset="0"/>
                <a:cs typeface="+mn-cs"/>
              </a:rPr>
              <a:pPr lvl="0" algn="ctr">
                <a:spcBef>
                  <a:spcPct val="0"/>
                </a:spcBef>
                <a:spcAft>
                  <a:spcPct val="0"/>
                </a:spcAft>
              </a:pPr>
              <a:t>2022</a:t>
            </a:fld>
            <a:endParaRPr lang="en-US" sz="1000" noProof="0">
              <a:latin typeface="Arial" panose="020B0604020202020204" pitchFamily="34" charset="0"/>
              <a:cs typeface="+mn-cs"/>
              <a:sym typeface="Arial" panose="020B0604020202020204" pitchFamily="34" charset="0"/>
            </a:endParaRPr>
          </a:p>
        </p:txBody>
      </p:sp>
      <p:sp>
        <p:nvSpPr>
          <p:cNvPr id="48" name="Text Placeholder 18">
            <a:extLst>
              <a:ext uri="{FF2B5EF4-FFF2-40B4-BE49-F238E27FC236}">
                <a16:creationId xmlns:a16="http://schemas.microsoft.com/office/drawing/2014/main" id="{A03420C5-BAB8-628D-7993-9E2A4157F08F}"/>
              </a:ext>
            </a:extLst>
          </p:cNvPr>
          <p:cNvSpPr>
            <a:spLocks noGrp="1"/>
          </p:cNvSpPr>
          <p:nvPr>
            <p:custDataLst>
              <p:tags r:id="rId17"/>
            </p:custDataLst>
          </p:nvPr>
        </p:nvSpPr>
        <p:spPr bwMode="gray">
          <a:xfrm>
            <a:off x="10882313" y="2043113"/>
            <a:ext cx="180975" cy="152400"/>
          </a:xfrm>
          <a:prstGeom prst="rect">
            <a:avLst/>
          </a:prstGeom>
          <a:solidFill>
            <a:srgbClr val="046A38"/>
          </a:solidFill>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F6F5963-0AC4-4533-A09D-3CE069FE2A80}" type="datetime'6''''''''''''''9'''''''">
              <a:rPr lang="en-US" altLang="en-US" sz="10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69</a:t>
            </a:fld>
            <a:endParaRPr lang="en-US" sz="1000" noProof="0">
              <a:solidFill>
                <a:schemeClr val="bg1"/>
              </a:solidFill>
              <a:latin typeface="Arial" panose="020B0604020202020204" pitchFamily="34" charset="0"/>
              <a:cs typeface="+mn-cs"/>
              <a:sym typeface="Arial" panose="020B0604020202020204" pitchFamily="34" charset="0"/>
            </a:endParaRPr>
          </a:p>
        </p:txBody>
      </p:sp>
      <p:sp>
        <p:nvSpPr>
          <p:cNvPr id="406" name="Text Placeholder 18">
            <a:extLst>
              <a:ext uri="{FF2B5EF4-FFF2-40B4-BE49-F238E27FC236}">
                <a16:creationId xmlns:a16="http://schemas.microsoft.com/office/drawing/2014/main" id="{E125AB66-DABC-A0BE-4237-F89B6ABDE828}"/>
              </a:ext>
            </a:extLst>
          </p:cNvPr>
          <p:cNvSpPr>
            <a:spLocks noGrp="1"/>
          </p:cNvSpPr>
          <p:nvPr>
            <p:custDataLst>
              <p:tags r:id="rId18"/>
            </p:custDataLst>
          </p:nvPr>
        </p:nvSpPr>
        <p:spPr bwMode="auto">
          <a:xfrm>
            <a:off x="10960100" y="42465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DC8BD327-AA45-45D6-BFB4-B47A5137BDCA}" type="datetime'''2''''''''''''''02''''''''''''''4'''''''''''''''''''''''''">
              <a:rPr lang="en-US" altLang="en-US" sz="1000" smtClean="0">
                <a:latin typeface="Arial" panose="020B0604020202020204" pitchFamily="34" charset="0"/>
                <a:cs typeface="+mn-cs"/>
              </a:rPr>
              <a:pPr lvl="0" algn="ctr">
                <a:spcBef>
                  <a:spcPct val="0"/>
                </a:spcBef>
                <a:spcAft>
                  <a:spcPct val="0"/>
                </a:spcAft>
              </a:pPr>
              <a:t>2024</a:t>
            </a:fld>
            <a:endParaRPr lang="en-US" sz="1000" noProof="0">
              <a:latin typeface="Arial" panose="020B0604020202020204" pitchFamily="34" charset="0"/>
              <a:cs typeface="+mn-cs"/>
              <a:sym typeface="Arial" panose="020B0604020202020204" pitchFamily="34" charset="0"/>
            </a:endParaRPr>
          </a:p>
        </p:txBody>
      </p:sp>
      <p:sp>
        <p:nvSpPr>
          <p:cNvPr id="170" name="Text Placeholder 18">
            <a:extLst>
              <a:ext uri="{FF2B5EF4-FFF2-40B4-BE49-F238E27FC236}">
                <a16:creationId xmlns:a16="http://schemas.microsoft.com/office/drawing/2014/main" id="{877D7A0F-CD0B-E464-2D66-53C91D715D1A}"/>
              </a:ext>
            </a:extLst>
          </p:cNvPr>
          <p:cNvSpPr>
            <a:spLocks noGrp="1"/>
          </p:cNvSpPr>
          <p:nvPr>
            <p:custDataLst>
              <p:tags r:id="rId19"/>
            </p:custDataLst>
          </p:nvPr>
        </p:nvSpPr>
        <p:spPr bwMode="gray">
          <a:xfrm>
            <a:off x="6924675" y="2806700"/>
            <a:ext cx="3556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BAC4AB59-9DC4-423E-AEDB-F3ADAD6A142A}" type="datetime'''2'',''''''''''''''''''8''''''34'">
              <a:rPr lang="en-US" altLang="en-US" sz="1000" b="1" smtClean="0">
                <a:latin typeface="Arial" panose="020B0604020202020204" pitchFamily="34" charset="0"/>
                <a:cs typeface="+mn-cs"/>
              </a:rPr>
              <a:pPr lvl="0" algn="ctr">
                <a:spcBef>
                  <a:spcPct val="0"/>
                </a:spcBef>
                <a:spcAft>
                  <a:spcPct val="0"/>
                </a:spcAft>
              </a:pPr>
              <a:t>2,834</a:t>
            </a:fld>
            <a:endParaRPr lang="en-US" sz="1000" b="1" noProof="0">
              <a:latin typeface="Arial" panose="020B0604020202020204" pitchFamily="34" charset="0"/>
              <a:cs typeface="+mn-cs"/>
              <a:sym typeface="Arial" panose="020B0604020202020204" pitchFamily="34" charset="0"/>
            </a:endParaRPr>
          </a:p>
        </p:txBody>
      </p:sp>
      <p:sp>
        <p:nvSpPr>
          <p:cNvPr id="171" name="Text Placeholder 18">
            <a:extLst>
              <a:ext uri="{FF2B5EF4-FFF2-40B4-BE49-F238E27FC236}">
                <a16:creationId xmlns:a16="http://schemas.microsoft.com/office/drawing/2014/main" id="{212584ED-FC0D-5D99-B863-4784E4385F3B}"/>
              </a:ext>
            </a:extLst>
          </p:cNvPr>
          <p:cNvSpPr>
            <a:spLocks noGrp="1"/>
          </p:cNvSpPr>
          <p:nvPr>
            <p:custDataLst>
              <p:tags r:id="rId20"/>
            </p:custDataLst>
          </p:nvPr>
        </p:nvSpPr>
        <p:spPr bwMode="gray">
          <a:xfrm>
            <a:off x="7724775" y="2640013"/>
            <a:ext cx="3556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979D60C-C127-4276-97ED-BD4F4194591E}" type="datetime'3'''''''''',''''''2''''''''''''59'''''''''''''''''''''''''">
              <a:rPr lang="en-US" altLang="en-US" sz="1000" b="1" smtClean="0">
                <a:latin typeface="Arial" panose="020B0604020202020204" pitchFamily="34" charset="0"/>
                <a:cs typeface="+mn-cs"/>
              </a:rPr>
              <a:pPr lvl="0" algn="ctr">
                <a:spcBef>
                  <a:spcPct val="0"/>
                </a:spcBef>
                <a:spcAft>
                  <a:spcPct val="0"/>
                </a:spcAft>
              </a:pPr>
              <a:t>3,259</a:t>
            </a:fld>
            <a:endParaRPr lang="en-US" sz="1000" b="1" noProof="0">
              <a:latin typeface="Arial" panose="020B0604020202020204" pitchFamily="34" charset="0"/>
              <a:cs typeface="+mn-cs"/>
              <a:sym typeface="Arial" panose="020B0604020202020204" pitchFamily="34" charset="0"/>
            </a:endParaRPr>
          </a:p>
        </p:txBody>
      </p:sp>
      <p:sp>
        <p:nvSpPr>
          <p:cNvPr id="172" name="Text Placeholder 18">
            <a:extLst>
              <a:ext uri="{FF2B5EF4-FFF2-40B4-BE49-F238E27FC236}">
                <a16:creationId xmlns:a16="http://schemas.microsoft.com/office/drawing/2014/main" id="{572271A4-25FA-B4E1-194C-ADFBBB332C8D}"/>
              </a:ext>
            </a:extLst>
          </p:cNvPr>
          <p:cNvSpPr>
            <a:spLocks noGrp="1"/>
          </p:cNvSpPr>
          <p:nvPr>
            <p:custDataLst>
              <p:tags r:id="rId21"/>
            </p:custDataLst>
          </p:nvPr>
        </p:nvSpPr>
        <p:spPr bwMode="gray">
          <a:xfrm>
            <a:off x="8526463" y="2266950"/>
            <a:ext cx="3556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4B79E14-6771-4212-A0C1-E14353F99F78}" type="datetime'''''''''''4'''',''''''''''2''''''''1''''''''''''''''9'">
              <a:rPr lang="en-US" altLang="en-US" sz="1000" b="1" smtClean="0">
                <a:latin typeface="Arial" panose="020B0604020202020204" pitchFamily="34" charset="0"/>
                <a:cs typeface="+mn-cs"/>
              </a:rPr>
              <a:pPr lvl="0" algn="ctr">
                <a:spcBef>
                  <a:spcPct val="0"/>
                </a:spcBef>
                <a:spcAft>
                  <a:spcPct val="0"/>
                </a:spcAft>
              </a:pPr>
              <a:t>4,219</a:t>
            </a:fld>
            <a:endParaRPr lang="en-US" sz="1000" b="1" noProof="0">
              <a:latin typeface="Arial" panose="020B0604020202020204" pitchFamily="34" charset="0"/>
              <a:cs typeface="+mn-cs"/>
              <a:sym typeface="Arial" panose="020B0604020202020204" pitchFamily="34" charset="0"/>
            </a:endParaRPr>
          </a:p>
        </p:txBody>
      </p:sp>
      <p:sp>
        <p:nvSpPr>
          <p:cNvPr id="173" name="Text Placeholder 18">
            <a:extLst>
              <a:ext uri="{FF2B5EF4-FFF2-40B4-BE49-F238E27FC236}">
                <a16:creationId xmlns:a16="http://schemas.microsoft.com/office/drawing/2014/main" id="{9D18D4DC-2D5C-206F-E8FA-1EE28D0330FB}"/>
              </a:ext>
            </a:extLst>
          </p:cNvPr>
          <p:cNvSpPr>
            <a:spLocks noGrp="1"/>
          </p:cNvSpPr>
          <p:nvPr>
            <p:custDataLst>
              <p:tags r:id="rId22"/>
            </p:custDataLst>
          </p:nvPr>
        </p:nvSpPr>
        <p:spPr bwMode="gray">
          <a:xfrm>
            <a:off x="9326563" y="2146300"/>
            <a:ext cx="3556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F3D57483-9936-45EF-9C08-AA05723FD8C8}" type="datetime'''''''''''4'''''',''''''''''''''''''''''5''2''''''''''9'">
              <a:rPr lang="en-US" altLang="en-US" sz="1000" b="1" smtClean="0">
                <a:latin typeface="Arial" panose="020B0604020202020204" pitchFamily="34" charset="0"/>
                <a:cs typeface="+mn-cs"/>
              </a:rPr>
              <a:pPr lvl="0" algn="ctr">
                <a:spcBef>
                  <a:spcPct val="0"/>
                </a:spcBef>
                <a:spcAft>
                  <a:spcPct val="0"/>
                </a:spcAft>
              </a:pPr>
              <a:t>4,529</a:t>
            </a:fld>
            <a:endParaRPr lang="en-US" sz="1000" b="1" noProof="0">
              <a:latin typeface="Arial" panose="020B0604020202020204" pitchFamily="34" charset="0"/>
              <a:cs typeface="+mn-cs"/>
              <a:sym typeface="Arial" panose="020B0604020202020204" pitchFamily="34" charset="0"/>
            </a:endParaRPr>
          </a:p>
        </p:txBody>
      </p:sp>
      <p:sp>
        <p:nvSpPr>
          <p:cNvPr id="174" name="Text Placeholder 18">
            <a:extLst>
              <a:ext uri="{FF2B5EF4-FFF2-40B4-BE49-F238E27FC236}">
                <a16:creationId xmlns:a16="http://schemas.microsoft.com/office/drawing/2014/main" id="{C3EE14CE-3978-991B-0727-FA7EF6B18869}"/>
              </a:ext>
            </a:extLst>
          </p:cNvPr>
          <p:cNvSpPr>
            <a:spLocks noGrp="1"/>
          </p:cNvSpPr>
          <p:nvPr>
            <p:custDataLst>
              <p:tags r:id="rId23"/>
            </p:custDataLst>
          </p:nvPr>
        </p:nvSpPr>
        <p:spPr bwMode="gray">
          <a:xfrm>
            <a:off x="10126663" y="2049463"/>
            <a:ext cx="3556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37692E6-DC36-44A3-83C2-01F32439809A}" type="datetime'''''''''''4'',''7''''6''''''''''''''6'''''''''''''''''''''''''">
              <a:rPr lang="en-US" altLang="en-US" sz="1000" b="1" smtClean="0">
                <a:latin typeface="Arial" panose="020B0604020202020204" pitchFamily="34" charset="0"/>
                <a:cs typeface="+mn-cs"/>
              </a:rPr>
              <a:pPr lvl="0" algn="ctr">
                <a:spcBef>
                  <a:spcPct val="0"/>
                </a:spcBef>
                <a:spcAft>
                  <a:spcPct val="0"/>
                </a:spcAft>
              </a:pPr>
              <a:t>4,766</a:t>
            </a:fld>
            <a:endParaRPr lang="en-US" sz="1000" b="1" noProof="0">
              <a:latin typeface="Arial" panose="020B0604020202020204" pitchFamily="34" charset="0"/>
              <a:cs typeface="+mn-cs"/>
              <a:sym typeface="Arial" panose="020B0604020202020204" pitchFamily="34" charset="0"/>
            </a:endParaRPr>
          </a:p>
        </p:txBody>
      </p:sp>
      <p:sp>
        <p:nvSpPr>
          <p:cNvPr id="175" name="Text Placeholder 18">
            <a:extLst>
              <a:ext uri="{FF2B5EF4-FFF2-40B4-BE49-F238E27FC236}">
                <a16:creationId xmlns:a16="http://schemas.microsoft.com/office/drawing/2014/main" id="{3F8B63E1-394F-0C97-4BB8-B873ABB5DE95}"/>
              </a:ext>
            </a:extLst>
          </p:cNvPr>
          <p:cNvSpPr>
            <a:spLocks noGrp="1"/>
          </p:cNvSpPr>
          <p:nvPr>
            <p:custDataLst>
              <p:tags r:id="rId24"/>
            </p:custDataLst>
          </p:nvPr>
        </p:nvSpPr>
        <p:spPr bwMode="gray">
          <a:xfrm>
            <a:off x="10928350" y="1768475"/>
            <a:ext cx="3556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FBA12256-5CFD-4ECA-9C45-BDB198D31E55}" type="datetime'''5,''''''''''''4''''''5''''''''''''''''''''''''''''''9'''">
              <a:rPr lang="en-US" altLang="en-US" sz="1000" b="1" smtClean="0">
                <a:latin typeface="Arial" panose="020B0604020202020204" pitchFamily="34" charset="0"/>
                <a:cs typeface="+mn-cs"/>
              </a:rPr>
              <a:pPr lvl="0" algn="ctr">
                <a:spcBef>
                  <a:spcPct val="0"/>
                </a:spcBef>
                <a:spcAft>
                  <a:spcPct val="0"/>
                </a:spcAft>
              </a:pPr>
              <a:t>5,459</a:t>
            </a:fld>
            <a:endParaRPr lang="en-US" sz="1000" b="1" noProof="0">
              <a:latin typeface="Arial" panose="020B0604020202020204" pitchFamily="34" charset="0"/>
              <a:cs typeface="+mn-cs"/>
              <a:sym typeface="Arial" panose="020B0604020202020204" pitchFamily="34" charset="0"/>
            </a:endParaRPr>
          </a:p>
        </p:txBody>
      </p:sp>
      <p:sp>
        <p:nvSpPr>
          <p:cNvPr id="213" name="Text Placeholder 18">
            <a:extLst>
              <a:ext uri="{FF2B5EF4-FFF2-40B4-BE49-F238E27FC236}">
                <a16:creationId xmlns:a16="http://schemas.microsoft.com/office/drawing/2014/main" id="{AEC5D874-E27D-F76E-980A-174FEEA2C06B}"/>
              </a:ext>
            </a:extLst>
          </p:cNvPr>
          <p:cNvSpPr>
            <a:spLocks noGrp="1"/>
          </p:cNvSpPr>
          <p:nvPr>
            <p:custDataLst>
              <p:tags r:id="rId25"/>
            </p:custDataLst>
          </p:nvPr>
        </p:nvSpPr>
        <p:spPr bwMode="gray">
          <a:xfrm>
            <a:off x="9512300" y="2300288"/>
            <a:ext cx="250825" cy="152400"/>
          </a:xfrm>
          <a:prstGeom prst="rect">
            <a:avLst/>
          </a:prstGeom>
          <a:solidFill>
            <a:srgbClr val="86BC25"/>
          </a:solidFill>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FD36342B-F1DD-4672-9B0A-019679EB3538}" type="datetime'''''''''''''''''2''''''''''6''''''''''''''''''0'''''''">
              <a:rPr lang="en-US" altLang="en-US" sz="1000" smtClean="0">
                <a:effectLst/>
                <a:latin typeface="Arial" panose="020B0604020202020204" pitchFamily="34" charset="0"/>
                <a:cs typeface="+mn-cs"/>
                <a:sym typeface="Arial" panose="020B0604020202020204" pitchFamily="34" charset="0"/>
              </a:rPr>
              <a:pPr lvl="0" algn="ctr">
                <a:spcBef>
                  <a:spcPct val="0"/>
                </a:spcBef>
                <a:spcAft>
                  <a:spcPct val="0"/>
                </a:spcAft>
              </a:pPr>
              <a:t>260</a:t>
            </a:fld>
            <a:endParaRPr lang="en-US" sz="1000" noProof="0">
              <a:latin typeface="Arial" panose="020B0604020202020204" pitchFamily="34" charset="0"/>
              <a:cs typeface="+mn-cs"/>
              <a:sym typeface="Arial" panose="020B0604020202020204" pitchFamily="34" charset="0"/>
            </a:endParaRPr>
          </a:p>
        </p:txBody>
      </p:sp>
      <p:sp>
        <p:nvSpPr>
          <p:cNvPr id="215" name="Text Placeholder 18">
            <a:extLst>
              <a:ext uri="{FF2B5EF4-FFF2-40B4-BE49-F238E27FC236}">
                <a16:creationId xmlns:a16="http://schemas.microsoft.com/office/drawing/2014/main" id="{98AF0894-4358-6982-5199-B643E1554D78}"/>
              </a:ext>
            </a:extLst>
          </p:cNvPr>
          <p:cNvSpPr>
            <a:spLocks noGrp="1"/>
          </p:cNvSpPr>
          <p:nvPr>
            <p:custDataLst>
              <p:tags r:id="rId26"/>
            </p:custDataLst>
          </p:nvPr>
        </p:nvSpPr>
        <p:spPr bwMode="gray">
          <a:xfrm>
            <a:off x="10313988" y="2208213"/>
            <a:ext cx="250825" cy="152400"/>
          </a:xfrm>
          <a:prstGeom prst="rect">
            <a:avLst/>
          </a:prstGeom>
          <a:solidFill>
            <a:srgbClr val="86BC25"/>
          </a:solidFill>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DDD722BB-B7CB-4AC5-8B44-76644E5FB07D}" type="datetime'''2''''''8''''''''3'''''''''''''''''''''">
              <a:rPr lang="en-US" altLang="en-US" sz="1000" smtClean="0">
                <a:effectLst/>
                <a:latin typeface="Arial" panose="020B0604020202020204" pitchFamily="34" charset="0"/>
                <a:cs typeface="+mn-cs"/>
                <a:sym typeface="Arial" panose="020B0604020202020204" pitchFamily="34" charset="0"/>
              </a:rPr>
              <a:pPr lvl="0" algn="ctr">
                <a:spcBef>
                  <a:spcPct val="0"/>
                </a:spcBef>
                <a:spcAft>
                  <a:spcPct val="0"/>
                </a:spcAft>
              </a:pPr>
              <a:t>283</a:t>
            </a:fld>
            <a:endParaRPr lang="en-US" sz="1000" noProof="0">
              <a:latin typeface="Arial" panose="020B0604020202020204" pitchFamily="34" charset="0"/>
              <a:cs typeface="+mn-cs"/>
              <a:sym typeface="Arial" panose="020B0604020202020204" pitchFamily="34" charset="0"/>
            </a:endParaRPr>
          </a:p>
        </p:txBody>
      </p:sp>
      <p:sp>
        <p:nvSpPr>
          <p:cNvPr id="210" name="Text Placeholder 18">
            <a:extLst>
              <a:ext uri="{FF2B5EF4-FFF2-40B4-BE49-F238E27FC236}">
                <a16:creationId xmlns:a16="http://schemas.microsoft.com/office/drawing/2014/main" id="{1BC643B5-120E-CBBC-4976-91B4D5A3F016}"/>
              </a:ext>
            </a:extLst>
          </p:cNvPr>
          <p:cNvSpPr>
            <a:spLocks noGrp="1"/>
          </p:cNvSpPr>
          <p:nvPr>
            <p:custDataLst>
              <p:tags r:id="rId27"/>
            </p:custDataLst>
          </p:nvPr>
        </p:nvSpPr>
        <p:spPr bwMode="auto">
          <a:xfrm>
            <a:off x="8921750" y="1903413"/>
            <a:ext cx="365125" cy="215900"/>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C6F95B6-E534-4F2B-941B-384254801B25}" type="datetime'''''''''''''''''''''+''8''%'''''''''''''''''''''''''''''''''">
              <a:rPr lang="en-US" altLang="en-US" sz="1000" b="1"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+8%</a:t>
            </a:fld>
            <a:endParaRPr lang="en-US" sz="1000" b="1" noProof="0">
              <a:latin typeface="Arial" panose="020B0604020202020204" pitchFamily="34" charset="0"/>
              <a:cs typeface="Arial" panose="020B0604020202020204" pitchFamily="34" charset="0"/>
              <a:sym typeface="Arial" panose="020B0604020202020204" pitchFamily="34" charset="0"/>
            </a:endParaRPr>
          </a:p>
        </p:txBody>
      </p:sp>
      <p:sp>
        <p:nvSpPr>
          <p:cNvPr id="497" name="TextBox 496">
            <a:extLst>
              <a:ext uri="{FF2B5EF4-FFF2-40B4-BE49-F238E27FC236}">
                <a16:creationId xmlns:a16="http://schemas.microsoft.com/office/drawing/2014/main" id="{E3CD61BF-5158-2CE6-D4D0-D211D840411E}"/>
              </a:ext>
            </a:extLst>
          </p:cNvPr>
          <p:cNvSpPr txBox="1"/>
          <p:nvPr/>
        </p:nvSpPr>
        <p:spPr>
          <a:xfrm>
            <a:off x="447675" y="6596933"/>
            <a:ext cx="6096000" cy="261610"/>
          </a:xfrm>
          <a:prstGeom prst="rect">
            <a:avLst/>
          </a:prstGeom>
          <a:noFill/>
        </p:spPr>
        <p:txBody>
          <a:bodyPr wrap="square">
            <a:spAutoFit/>
          </a:bodyPr>
          <a:lstStyle/>
          <a:p>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a:t>
            </a:r>
            <a:r>
              <a:rPr lang="en-US" sz="1050">
                <a:latin typeface="Arial" panose="020B0604020202020204" pitchFamily="34" charset="0"/>
                <a:cs typeface="Arial" panose="020B0604020202020204" pitchFamily="34" charset="0"/>
                <a:hlinkClick r:id="rId60"/>
              </a:rPr>
              <a:t>NEA Annual Report</a:t>
            </a:r>
            <a:r>
              <a:rPr lang="en-US" sz="1050">
                <a:latin typeface="Arial" panose="020B0604020202020204" pitchFamily="34" charset="0"/>
                <a:cs typeface="Arial" panose="020B0604020202020204" pitchFamily="34" charset="0"/>
              </a:rPr>
              <a:t>;</a:t>
            </a:r>
            <a:endParaRPr lang="en-US" sz="1050"/>
          </a:p>
        </p:txBody>
      </p:sp>
      <p:sp>
        <p:nvSpPr>
          <p:cNvPr id="4" name="Rectangle 3">
            <a:extLst>
              <a:ext uri="{FF2B5EF4-FFF2-40B4-BE49-F238E27FC236}">
                <a16:creationId xmlns:a16="http://schemas.microsoft.com/office/drawing/2014/main" id="{692AA8E3-5055-6320-F4C8-EAD679E3666D}"/>
              </a:ext>
            </a:extLst>
          </p:cNvPr>
          <p:cNvSpPr/>
          <p:nvPr/>
        </p:nvSpPr>
        <p:spPr bwMode="gray">
          <a:xfrm>
            <a:off x="511963" y="1018118"/>
            <a:ext cx="5979325" cy="3912275"/>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12" name="TextBox 11">
            <a:extLst>
              <a:ext uri="{FF2B5EF4-FFF2-40B4-BE49-F238E27FC236}">
                <a16:creationId xmlns:a16="http://schemas.microsoft.com/office/drawing/2014/main" id="{48F43408-5C1A-07A0-22E3-632522576023}"/>
              </a:ext>
            </a:extLst>
          </p:cNvPr>
          <p:cNvSpPr txBox="1"/>
          <p:nvPr/>
        </p:nvSpPr>
        <p:spPr>
          <a:xfrm>
            <a:off x="686462" y="1077383"/>
            <a:ext cx="5137543"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Internal Electricity Sales Categorization (GWh) </a:t>
            </a:r>
            <a:endParaRPr kumimoji="0" lang="en-US" sz="1400" b="1" i="0" u="none" strike="noStrike" kern="1200" cap="none" spc="0" normalizeH="0" baseline="0" noProof="0">
              <a:ln>
                <a:noFill/>
              </a:ln>
              <a:solidFill>
                <a:prstClr val="black"/>
              </a:solidFill>
              <a:effectLst/>
              <a:uLnTx/>
              <a:uFillTx/>
              <a:latin typeface="Calibri"/>
              <a:ea typeface="+mn-ea"/>
              <a:cs typeface="+mn-cs"/>
            </a:endParaRPr>
          </a:p>
        </p:txBody>
      </p:sp>
      <p:sp>
        <p:nvSpPr>
          <p:cNvPr id="160" name="Rectangle 159">
            <a:extLst>
              <a:ext uri="{FF2B5EF4-FFF2-40B4-BE49-F238E27FC236}">
                <a16:creationId xmlns:a16="http://schemas.microsoft.com/office/drawing/2014/main" id="{D64CCA36-5F2C-BD0C-EF84-D3A29A8E6746}"/>
              </a:ext>
            </a:extLst>
          </p:cNvPr>
          <p:cNvSpPr/>
          <p:nvPr>
            <p:custDataLst>
              <p:tags r:id="rId28"/>
            </p:custDataLst>
          </p:nvPr>
        </p:nvSpPr>
        <p:spPr bwMode="auto">
          <a:xfrm>
            <a:off x="8110538" y="4570413"/>
            <a:ext cx="196850" cy="147638"/>
          </a:xfrm>
          <a:prstGeom prst="rect">
            <a:avLst/>
          </a:prstGeom>
          <a:solidFill>
            <a:srgbClr val="0076A8"/>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61" name="Rectangle 160">
            <a:extLst>
              <a:ext uri="{FF2B5EF4-FFF2-40B4-BE49-F238E27FC236}">
                <a16:creationId xmlns:a16="http://schemas.microsoft.com/office/drawing/2014/main" id="{852D44E4-E0ED-8FD9-0738-D3FC745D9252}"/>
              </a:ext>
            </a:extLst>
          </p:cNvPr>
          <p:cNvSpPr/>
          <p:nvPr>
            <p:custDataLst>
              <p:tags r:id="rId29"/>
            </p:custDataLst>
          </p:nvPr>
        </p:nvSpPr>
        <p:spPr bwMode="auto">
          <a:xfrm>
            <a:off x="9042400" y="4570413"/>
            <a:ext cx="196850" cy="147638"/>
          </a:xfrm>
          <a:prstGeom prst="rect">
            <a:avLst/>
          </a:prstGeom>
          <a:solidFill>
            <a:srgbClr val="046A38"/>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62" name="Rectangle 161">
            <a:extLst>
              <a:ext uri="{FF2B5EF4-FFF2-40B4-BE49-F238E27FC236}">
                <a16:creationId xmlns:a16="http://schemas.microsoft.com/office/drawing/2014/main" id="{CC8A7937-5676-1D44-684D-4C4628BE1AEB}"/>
              </a:ext>
            </a:extLst>
          </p:cNvPr>
          <p:cNvSpPr/>
          <p:nvPr>
            <p:custDataLst>
              <p:tags r:id="rId30"/>
            </p:custDataLst>
          </p:nvPr>
        </p:nvSpPr>
        <p:spPr bwMode="auto">
          <a:xfrm>
            <a:off x="9996488" y="4570413"/>
            <a:ext cx="196850" cy="147638"/>
          </a:xfrm>
          <a:prstGeom prst="rect">
            <a:avLst/>
          </a:prstGeom>
          <a:solidFill>
            <a:srgbClr val="86BC25"/>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55" name="Text Placeholder 18">
            <a:extLst>
              <a:ext uri="{FF2B5EF4-FFF2-40B4-BE49-F238E27FC236}">
                <a16:creationId xmlns:a16="http://schemas.microsoft.com/office/drawing/2014/main" id="{83FF7B56-FF7D-CDFA-880B-7205DD2BC980}"/>
              </a:ext>
            </a:extLst>
          </p:cNvPr>
          <p:cNvSpPr>
            <a:spLocks noGrp="1"/>
          </p:cNvSpPr>
          <p:nvPr>
            <p:custDataLst>
              <p:tags r:id="rId31"/>
            </p:custDataLst>
          </p:nvPr>
        </p:nvSpPr>
        <p:spPr bwMode="auto">
          <a:xfrm>
            <a:off x="8358188" y="4565650"/>
            <a:ext cx="58261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AEAE8EF5-9846-47B7-A680-C08A920C94B3}" type="datetime'D''''o''''''''''m''es''t''''''''''''''''''''''''''''''''ic'''">
              <a:rPr lang="en-US" altLang="en-US" sz="1100" smtClean="0">
                <a:effectLst/>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Domestic</a:t>
            </a:fld>
            <a:endParaRPr lang="en-US" sz="1100" noProof="0">
              <a:latin typeface="Arial" panose="020B0604020202020204" pitchFamily="34" charset="0"/>
              <a:cs typeface="Arial" panose="020B0604020202020204" pitchFamily="34" charset="0"/>
              <a:sym typeface="Arial" panose="020B0604020202020204" pitchFamily="34" charset="0"/>
            </a:endParaRPr>
          </a:p>
        </p:txBody>
      </p:sp>
      <p:sp>
        <p:nvSpPr>
          <p:cNvPr id="157" name="Text Placeholder 18">
            <a:extLst>
              <a:ext uri="{FF2B5EF4-FFF2-40B4-BE49-F238E27FC236}">
                <a16:creationId xmlns:a16="http://schemas.microsoft.com/office/drawing/2014/main" id="{3CD98311-95A9-F8D7-ABE8-5FA813D097B8}"/>
              </a:ext>
            </a:extLst>
          </p:cNvPr>
          <p:cNvSpPr>
            <a:spLocks noGrp="1"/>
          </p:cNvSpPr>
          <p:nvPr>
            <p:custDataLst>
              <p:tags r:id="rId32"/>
            </p:custDataLst>
          </p:nvPr>
        </p:nvSpPr>
        <p:spPr bwMode="auto">
          <a:xfrm>
            <a:off x="9290050" y="4565650"/>
            <a:ext cx="60483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F3F50BB8-4D1E-450D-9EB0-04090BBEF108}" type="datetime'''''I''''''''''n''''du''s''''''''''t''ri''''a''''''''l '''''''">
              <a:rPr lang="en-US" altLang="en-US" sz="1100" smtClean="0">
                <a:effectLst/>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Industrial </a:t>
            </a:fld>
            <a:endParaRPr lang="en-US" sz="1100" noProof="0">
              <a:latin typeface="Arial" panose="020B0604020202020204" pitchFamily="34" charset="0"/>
              <a:cs typeface="Arial" panose="020B0604020202020204" pitchFamily="34" charset="0"/>
              <a:sym typeface="Arial" panose="020B0604020202020204" pitchFamily="34" charset="0"/>
            </a:endParaRPr>
          </a:p>
        </p:txBody>
      </p:sp>
      <p:sp>
        <p:nvSpPr>
          <p:cNvPr id="158" name="Text Placeholder 18">
            <a:extLst>
              <a:ext uri="{FF2B5EF4-FFF2-40B4-BE49-F238E27FC236}">
                <a16:creationId xmlns:a16="http://schemas.microsoft.com/office/drawing/2014/main" id="{C308D2DC-DE0E-AEC9-AC2D-56D6CE0036BC}"/>
              </a:ext>
            </a:extLst>
          </p:cNvPr>
          <p:cNvSpPr>
            <a:spLocks noGrp="1"/>
          </p:cNvSpPr>
          <p:nvPr>
            <p:custDataLst>
              <p:tags r:id="rId33"/>
            </p:custDataLst>
          </p:nvPr>
        </p:nvSpPr>
        <p:spPr bwMode="auto">
          <a:xfrm>
            <a:off x="10244138" y="4565650"/>
            <a:ext cx="45561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43CA2214-C8D4-44D9-A6EC-1F34DBB7765C}" type="datetime'''O''''''''''''''''''''''''t''''''''''''''h''e''r''s'''''' '''">
              <a:rPr lang="en-US" altLang="en-US" sz="1100" smtClean="0">
                <a:effectLst/>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Others </a:t>
            </a:fld>
            <a:endParaRPr lang="en-US" sz="1100" noProof="0">
              <a:latin typeface="Arial" panose="020B0604020202020204" pitchFamily="34" charset="0"/>
              <a:cs typeface="Arial" panose="020B0604020202020204" pitchFamily="34" charset="0"/>
              <a:sym typeface="Arial" panose="020B0604020202020204" pitchFamily="34" charset="0"/>
            </a:endParaRPr>
          </a:p>
        </p:txBody>
      </p:sp>
      <p:graphicFrame>
        <p:nvGraphicFramePr>
          <p:cNvPr id="66" name="Chart 65">
            <a:extLst>
              <a:ext uri="{FF2B5EF4-FFF2-40B4-BE49-F238E27FC236}">
                <a16:creationId xmlns:a16="http://schemas.microsoft.com/office/drawing/2014/main" id="{1301F5FC-3CB2-8B90-E736-40CB4BAC9578}"/>
              </a:ext>
            </a:extLst>
          </p:cNvPr>
          <p:cNvGraphicFramePr/>
          <p:nvPr>
            <p:custDataLst>
              <p:tags r:id="rId34"/>
            </p:custDataLst>
            <p:extLst>
              <p:ext uri="{D42A27DB-BD31-4B8C-83A1-F6EECF244321}">
                <p14:modId xmlns:p14="http://schemas.microsoft.com/office/powerpoint/2010/main" val="939394398"/>
              </p:ext>
            </p:extLst>
          </p:nvPr>
        </p:nvGraphicFramePr>
        <p:xfrm>
          <a:off x="666750" y="1720850"/>
          <a:ext cx="4722813" cy="2665413"/>
        </p:xfrm>
        <a:graphic>
          <a:graphicData uri="http://schemas.openxmlformats.org/drawingml/2006/chart">
            <c:chart xmlns:c="http://schemas.openxmlformats.org/drawingml/2006/chart" xmlns:r="http://schemas.openxmlformats.org/officeDocument/2006/relationships" r:id="rId61"/>
          </a:graphicData>
        </a:graphic>
      </p:graphicFrame>
      <p:cxnSp>
        <p:nvCxnSpPr>
          <p:cNvPr id="509" name="Straight Connector 508">
            <a:extLst>
              <a:ext uri="{FF2B5EF4-FFF2-40B4-BE49-F238E27FC236}">
                <a16:creationId xmlns:a16="http://schemas.microsoft.com/office/drawing/2014/main" id="{361CD88C-F6C7-5EE4-9508-59DFB6705067}"/>
              </a:ext>
            </a:extLst>
          </p:cNvPr>
          <p:cNvCxnSpPr/>
          <p:nvPr>
            <p:custDataLst>
              <p:tags r:id="rId35"/>
            </p:custDataLst>
          </p:nvPr>
        </p:nvCxnSpPr>
        <p:spPr bwMode="auto">
          <a:xfrm flipV="1">
            <a:off x="1128713" y="1495425"/>
            <a:ext cx="3797300" cy="1403350"/>
          </a:xfrm>
          <a:prstGeom prst="line">
            <a:avLst/>
          </a:prstGeom>
          <a:ln w="63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47" name="Text Placeholder 18">
            <a:extLst>
              <a:ext uri="{FF2B5EF4-FFF2-40B4-BE49-F238E27FC236}">
                <a16:creationId xmlns:a16="http://schemas.microsoft.com/office/drawing/2014/main" id="{8CBE7483-5BE4-5D60-7426-05389C4768E8}"/>
              </a:ext>
            </a:extLst>
          </p:cNvPr>
          <p:cNvSpPr>
            <a:spLocks noGrp="1"/>
          </p:cNvSpPr>
          <p:nvPr>
            <p:custDataLst>
              <p:tags r:id="rId36"/>
            </p:custDataLst>
          </p:nvPr>
        </p:nvSpPr>
        <p:spPr bwMode="auto">
          <a:xfrm>
            <a:off x="982663" y="42465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67DC798-8C2E-4B68-8C46-A2AFA32627E6}" type="datetime'''''''''''''''''''''''''''''''2''''''''01''''''''5'">
              <a:rPr lang="en-US" altLang="en-US" sz="1000" smtClean="0">
                <a:latin typeface="Arial" panose="020B0604020202020204" pitchFamily="34" charset="0"/>
                <a:cs typeface="+mn-cs"/>
              </a:rPr>
              <a:pPr lvl="0" algn="ctr">
                <a:spcBef>
                  <a:spcPct val="0"/>
                </a:spcBef>
                <a:spcAft>
                  <a:spcPct val="0"/>
                </a:spcAft>
              </a:pPr>
              <a:t>2015</a:t>
            </a:fld>
            <a:endParaRPr lang="en-US" sz="1000" noProof="0">
              <a:latin typeface="Arial" panose="020B0604020202020204" pitchFamily="34" charset="0"/>
              <a:cs typeface="+mn-cs"/>
              <a:sym typeface="Arial" panose="020B0604020202020204" pitchFamily="34" charset="0"/>
            </a:endParaRPr>
          </a:p>
        </p:txBody>
      </p:sp>
      <p:sp>
        <p:nvSpPr>
          <p:cNvPr id="249" name="Text Placeholder 18">
            <a:extLst>
              <a:ext uri="{FF2B5EF4-FFF2-40B4-BE49-F238E27FC236}">
                <a16:creationId xmlns:a16="http://schemas.microsoft.com/office/drawing/2014/main" id="{2E8ED82E-9F0E-9B52-136A-EA2D4ED6988F}"/>
              </a:ext>
            </a:extLst>
          </p:cNvPr>
          <p:cNvSpPr>
            <a:spLocks noGrp="1"/>
          </p:cNvSpPr>
          <p:nvPr>
            <p:custDataLst>
              <p:tags r:id="rId37"/>
            </p:custDataLst>
          </p:nvPr>
        </p:nvSpPr>
        <p:spPr bwMode="auto">
          <a:xfrm>
            <a:off x="1741488" y="42465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D78FAE7E-C142-46E9-A0F6-46F6303B2205}" type="datetime'''''''''201''7'''''''''''''">
              <a:rPr lang="en-US" altLang="en-US" sz="1000" smtClean="0">
                <a:latin typeface="Arial" panose="020B0604020202020204" pitchFamily="34" charset="0"/>
                <a:cs typeface="+mn-cs"/>
              </a:rPr>
              <a:pPr lvl="0" algn="ctr">
                <a:spcBef>
                  <a:spcPct val="0"/>
                </a:spcBef>
                <a:spcAft>
                  <a:spcPct val="0"/>
                </a:spcAft>
              </a:pPr>
              <a:t>2017</a:t>
            </a:fld>
            <a:endParaRPr lang="en-US" sz="1000" noProof="0">
              <a:latin typeface="Arial" panose="020B0604020202020204" pitchFamily="34" charset="0"/>
              <a:cs typeface="+mn-cs"/>
              <a:sym typeface="Arial" panose="020B0604020202020204" pitchFamily="34" charset="0"/>
            </a:endParaRPr>
          </a:p>
        </p:txBody>
      </p:sp>
      <p:sp>
        <p:nvSpPr>
          <p:cNvPr id="251" name="Text Placeholder 18">
            <a:extLst>
              <a:ext uri="{FF2B5EF4-FFF2-40B4-BE49-F238E27FC236}">
                <a16:creationId xmlns:a16="http://schemas.microsoft.com/office/drawing/2014/main" id="{DA96002F-3BE6-9D20-6AAE-26B37C05958D}"/>
              </a:ext>
            </a:extLst>
          </p:cNvPr>
          <p:cNvSpPr>
            <a:spLocks noGrp="1"/>
          </p:cNvSpPr>
          <p:nvPr>
            <p:custDataLst>
              <p:tags r:id="rId38"/>
            </p:custDataLst>
          </p:nvPr>
        </p:nvSpPr>
        <p:spPr bwMode="auto">
          <a:xfrm>
            <a:off x="2501900" y="42465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601BDF6-0371-4FD2-9421-9FB3805AC76C}" type="datetime'''''''''2''''0''''2''''''''''''0'''''''''''''">
              <a:rPr lang="en-US" altLang="en-US" sz="1000" smtClean="0">
                <a:latin typeface="Arial" panose="020B0604020202020204" pitchFamily="34" charset="0"/>
                <a:cs typeface="+mn-cs"/>
              </a:rPr>
              <a:pPr lvl="0" algn="ctr">
                <a:spcBef>
                  <a:spcPct val="0"/>
                </a:spcBef>
                <a:spcAft>
                  <a:spcPct val="0"/>
                </a:spcAft>
              </a:pPr>
              <a:t>2020</a:t>
            </a:fld>
            <a:endParaRPr lang="en-US" sz="1000" noProof="0">
              <a:latin typeface="Arial" panose="020B0604020202020204" pitchFamily="34" charset="0"/>
              <a:cs typeface="+mn-cs"/>
              <a:sym typeface="Arial" panose="020B0604020202020204" pitchFamily="34" charset="0"/>
            </a:endParaRPr>
          </a:p>
        </p:txBody>
      </p:sp>
      <p:sp>
        <p:nvSpPr>
          <p:cNvPr id="253" name="Text Placeholder 18">
            <a:extLst>
              <a:ext uri="{FF2B5EF4-FFF2-40B4-BE49-F238E27FC236}">
                <a16:creationId xmlns:a16="http://schemas.microsoft.com/office/drawing/2014/main" id="{D8E6D478-8947-A510-1AD3-3D8DA0857B61}"/>
              </a:ext>
            </a:extLst>
          </p:cNvPr>
          <p:cNvSpPr>
            <a:spLocks noGrp="1"/>
          </p:cNvSpPr>
          <p:nvPr>
            <p:custDataLst>
              <p:tags r:id="rId39"/>
            </p:custDataLst>
          </p:nvPr>
        </p:nvSpPr>
        <p:spPr bwMode="auto">
          <a:xfrm>
            <a:off x="3260725" y="42465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EDAA495-D80D-4C37-8C0F-0EB1A8E46611}" type="datetime'''2''''''0''''''''''''2''''''''''''''''''''''''''1'''''''">
              <a:rPr lang="en-US" altLang="en-US" sz="1000" smtClean="0">
                <a:latin typeface="Arial" panose="020B0604020202020204" pitchFamily="34" charset="0"/>
                <a:cs typeface="+mn-cs"/>
              </a:rPr>
              <a:pPr lvl="0" algn="ctr">
                <a:spcBef>
                  <a:spcPct val="0"/>
                </a:spcBef>
                <a:spcAft>
                  <a:spcPct val="0"/>
                </a:spcAft>
              </a:pPr>
              <a:t>2021</a:t>
            </a:fld>
            <a:endParaRPr lang="en-US" sz="1000" noProof="0">
              <a:latin typeface="Arial" panose="020B0604020202020204" pitchFamily="34" charset="0"/>
              <a:cs typeface="+mn-cs"/>
              <a:sym typeface="Arial" panose="020B0604020202020204" pitchFamily="34" charset="0"/>
            </a:endParaRPr>
          </a:p>
        </p:txBody>
      </p:sp>
      <p:sp>
        <p:nvSpPr>
          <p:cNvPr id="254" name="Text Placeholder 18">
            <a:extLst>
              <a:ext uri="{FF2B5EF4-FFF2-40B4-BE49-F238E27FC236}">
                <a16:creationId xmlns:a16="http://schemas.microsoft.com/office/drawing/2014/main" id="{71A6BFDE-2AF1-10A2-A088-D06CEF03C132}"/>
              </a:ext>
            </a:extLst>
          </p:cNvPr>
          <p:cNvSpPr>
            <a:spLocks noGrp="1"/>
          </p:cNvSpPr>
          <p:nvPr>
            <p:custDataLst>
              <p:tags r:id="rId40"/>
            </p:custDataLst>
          </p:nvPr>
        </p:nvSpPr>
        <p:spPr bwMode="auto">
          <a:xfrm>
            <a:off x="4021138" y="42465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F108C92-3BF4-4664-A68A-1517257C9450}" type="datetime'2''''''0''''2''''''''''''''''''''''2'''''''''''''">
              <a:rPr lang="en-US" altLang="en-US" sz="1000" smtClean="0">
                <a:latin typeface="Arial" panose="020B0604020202020204" pitchFamily="34" charset="0"/>
                <a:cs typeface="+mn-cs"/>
              </a:rPr>
              <a:pPr lvl="0" algn="ctr">
                <a:spcBef>
                  <a:spcPct val="0"/>
                </a:spcBef>
                <a:spcAft>
                  <a:spcPct val="0"/>
                </a:spcAft>
              </a:pPr>
              <a:t>2022</a:t>
            </a:fld>
            <a:endParaRPr lang="en-US" sz="1000" noProof="0">
              <a:latin typeface="Arial" panose="020B0604020202020204" pitchFamily="34" charset="0"/>
              <a:cs typeface="+mn-cs"/>
              <a:sym typeface="Arial" panose="020B0604020202020204" pitchFamily="34" charset="0"/>
            </a:endParaRPr>
          </a:p>
        </p:txBody>
      </p:sp>
      <p:sp>
        <p:nvSpPr>
          <p:cNvPr id="255" name="Text Placeholder 18">
            <a:extLst>
              <a:ext uri="{FF2B5EF4-FFF2-40B4-BE49-F238E27FC236}">
                <a16:creationId xmlns:a16="http://schemas.microsoft.com/office/drawing/2014/main" id="{452439EB-D827-DDE7-64FD-2774FF9D7F90}"/>
              </a:ext>
            </a:extLst>
          </p:cNvPr>
          <p:cNvSpPr>
            <a:spLocks noGrp="1"/>
          </p:cNvSpPr>
          <p:nvPr>
            <p:custDataLst>
              <p:tags r:id="rId41"/>
            </p:custDataLst>
          </p:nvPr>
        </p:nvSpPr>
        <p:spPr bwMode="auto">
          <a:xfrm>
            <a:off x="4779963" y="4246563"/>
            <a:ext cx="2921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6181F604-0CD8-4C13-9064-4006E71C5AA5}" type="datetime'''''''''''2''''''''''''''''''0''''''''''''2''''4'''''''''">
              <a:rPr lang="en-US" altLang="en-US" sz="1000" smtClean="0">
                <a:latin typeface="Arial" panose="020B0604020202020204" pitchFamily="34" charset="0"/>
                <a:cs typeface="+mn-cs"/>
              </a:rPr>
              <a:pPr lvl="0" algn="ctr">
                <a:spcBef>
                  <a:spcPct val="0"/>
                </a:spcBef>
                <a:spcAft>
                  <a:spcPct val="0"/>
                </a:spcAft>
              </a:pPr>
              <a:t>2024</a:t>
            </a:fld>
            <a:endParaRPr lang="en-US" sz="1000" noProof="0">
              <a:latin typeface="Arial" panose="020B0604020202020204" pitchFamily="34" charset="0"/>
              <a:cs typeface="+mn-cs"/>
              <a:sym typeface="Arial" panose="020B0604020202020204" pitchFamily="34" charset="0"/>
            </a:endParaRPr>
          </a:p>
        </p:txBody>
      </p:sp>
      <p:sp>
        <p:nvSpPr>
          <p:cNvPr id="256" name="Text Placeholder 18">
            <a:extLst>
              <a:ext uri="{FF2B5EF4-FFF2-40B4-BE49-F238E27FC236}">
                <a16:creationId xmlns:a16="http://schemas.microsoft.com/office/drawing/2014/main" id="{7EECC237-B434-BA8C-3DA0-8F97C0633E37}"/>
              </a:ext>
            </a:extLst>
          </p:cNvPr>
          <p:cNvSpPr>
            <a:spLocks noGrp="1"/>
          </p:cNvSpPr>
          <p:nvPr>
            <p:custDataLst>
              <p:tags r:id="rId42"/>
            </p:custDataLst>
          </p:nvPr>
        </p:nvSpPr>
        <p:spPr bwMode="gray">
          <a:xfrm>
            <a:off x="950913" y="3171825"/>
            <a:ext cx="3556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11B3548-5A99-4DC9-B169-660814572157}" type="datetime'''''''''3'''',7''''''''''''''''4''''''''1'''''''''''''">
              <a:rPr lang="en-US" altLang="en-US" sz="1000" b="1" smtClean="0">
                <a:latin typeface="Arial" panose="020B0604020202020204" pitchFamily="34" charset="0"/>
                <a:cs typeface="+mn-cs"/>
              </a:rPr>
              <a:pPr lvl="0" algn="ctr">
                <a:spcBef>
                  <a:spcPct val="0"/>
                </a:spcBef>
                <a:spcAft>
                  <a:spcPct val="0"/>
                </a:spcAft>
              </a:pPr>
              <a:t>3,741</a:t>
            </a:fld>
            <a:endParaRPr lang="en-US" sz="1000" b="1" noProof="0">
              <a:latin typeface="Arial" panose="020B0604020202020204" pitchFamily="34" charset="0"/>
              <a:cs typeface="+mn-cs"/>
              <a:sym typeface="Arial" panose="020B0604020202020204" pitchFamily="34" charset="0"/>
            </a:endParaRPr>
          </a:p>
        </p:txBody>
      </p:sp>
      <p:sp>
        <p:nvSpPr>
          <p:cNvPr id="257" name="Text Placeholder 18">
            <a:extLst>
              <a:ext uri="{FF2B5EF4-FFF2-40B4-BE49-F238E27FC236}">
                <a16:creationId xmlns:a16="http://schemas.microsoft.com/office/drawing/2014/main" id="{2DBE488C-DDD1-504E-C201-0C5EA56A0314}"/>
              </a:ext>
            </a:extLst>
          </p:cNvPr>
          <p:cNvSpPr>
            <a:spLocks noGrp="1"/>
          </p:cNvSpPr>
          <p:nvPr>
            <p:custDataLst>
              <p:tags r:id="rId43"/>
            </p:custDataLst>
          </p:nvPr>
        </p:nvSpPr>
        <p:spPr bwMode="gray">
          <a:xfrm>
            <a:off x="1709738" y="2947988"/>
            <a:ext cx="3556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B032708C-C8DC-4A8A-BF51-D368910CB1C6}" type="datetime'''''''''4'''',''''''7''''''''''''''''''''7''''4'''''''''''''''">
              <a:rPr lang="en-US" altLang="en-US" sz="1000" b="1" smtClean="0">
                <a:latin typeface="Arial" panose="020B0604020202020204" pitchFamily="34" charset="0"/>
                <a:cs typeface="+mn-cs"/>
              </a:rPr>
              <a:pPr lvl="0" algn="ctr">
                <a:spcBef>
                  <a:spcPct val="0"/>
                </a:spcBef>
                <a:spcAft>
                  <a:spcPct val="0"/>
                </a:spcAft>
              </a:pPr>
              <a:t>4,774</a:t>
            </a:fld>
            <a:endParaRPr lang="en-US" sz="1000" b="1" noProof="0">
              <a:latin typeface="Arial" panose="020B0604020202020204" pitchFamily="34" charset="0"/>
              <a:cs typeface="+mn-cs"/>
              <a:sym typeface="Arial" panose="020B0604020202020204" pitchFamily="34" charset="0"/>
            </a:endParaRPr>
          </a:p>
        </p:txBody>
      </p:sp>
      <p:sp>
        <p:nvSpPr>
          <p:cNvPr id="258" name="Text Placeholder 18">
            <a:extLst>
              <a:ext uri="{FF2B5EF4-FFF2-40B4-BE49-F238E27FC236}">
                <a16:creationId xmlns:a16="http://schemas.microsoft.com/office/drawing/2014/main" id="{F6A4BB4D-58E8-32D6-973A-53A35C361F07}"/>
              </a:ext>
            </a:extLst>
          </p:cNvPr>
          <p:cNvSpPr>
            <a:spLocks noGrp="1"/>
          </p:cNvSpPr>
          <p:nvPr>
            <p:custDataLst>
              <p:tags r:id="rId44"/>
            </p:custDataLst>
          </p:nvPr>
        </p:nvSpPr>
        <p:spPr bwMode="gray">
          <a:xfrm>
            <a:off x="2470150" y="2592388"/>
            <a:ext cx="3556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F3E3B20-131D-4E75-AB87-E50E53A48E2D}" type="datetime'''''''''6'''',4''''''''''''''''1''''''''''''''''''''''8'''''''">
              <a:rPr lang="en-US" altLang="en-US" sz="1000" b="1" smtClean="0">
                <a:latin typeface="Arial" panose="020B0604020202020204" pitchFamily="34" charset="0"/>
                <a:cs typeface="+mn-cs"/>
              </a:rPr>
              <a:pPr lvl="0" algn="ctr">
                <a:spcBef>
                  <a:spcPct val="0"/>
                </a:spcBef>
                <a:spcAft>
                  <a:spcPct val="0"/>
                </a:spcAft>
              </a:pPr>
              <a:t>6,418</a:t>
            </a:fld>
            <a:endParaRPr lang="en-US" sz="1000" b="1" noProof="0">
              <a:latin typeface="Arial" panose="020B0604020202020204" pitchFamily="34" charset="0"/>
              <a:cs typeface="+mn-cs"/>
              <a:sym typeface="Arial" panose="020B0604020202020204" pitchFamily="34" charset="0"/>
            </a:endParaRPr>
          </a:p>
        </p:txBody>
      </p:sp>
      <p:sp>
        <p:nvSpPr>
          <p:cNvPr id="259" name="Text Placeholder 18">
            <a:extLst>
              <a:ext uri="{FF2B5EF4-FFF2-40B4-BE49-F238E27FC236}">
                <a16:creationId xmlns:a16="http://schemas.microsoft.com/office/drawing/2014/main" id="{2C5E51D6-C1D1-3DDC-FB17-0FE30C494B75}"/>
              </a:ext>
            </a:extLst>
          </p:cNvPr>
          <p:cNvSpPr>
            <a:spLocks noGrp="1"/>
          </p:cNvSpPr>
          <p:nvPr>
            <p:custDataLst>
              <p:tags r:id="rId45"/>
            </p:custDataLst>
          </p:nvPr>
        </p:nvSpPr>
        <p:spPr bwMode="gray">
          <a:xfrm>
            <a:off x="3228975" y="2406650"/>
            <a:ext cx="3556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1226199-09AE-426B-97BD-82C8D454023F}" type="datetime'''7'''',''''''''''''''''''2''''''''''''7''''''''''''''''''''5'">
              <a:rPr lang="en-US" altLang="en-US" sz="1000" b="1" smtClean="0">
                <a:latin typeface="Arial" panose="020B0604020202020204" pitchFamily="34" charset="0"/>
                <a:cs typeface="+mn-cs"/>
              </a:rPr>
              <a:pPr lvl="0" algn="ctr">
                <a:spcBef>
                  <a:spcPct val="0"/>
                </a:spcBef>
                <a:spcAft>
                  <a:spcPct val="0"/>
                </a:spcAft>
              </a:pPr>
              <a:t>7,275</a:t>
            </a:fld>
            <a:endParaRPr lang="en-US" sz="1000" b="1" noProof="0">
              <a:latin typeface="Arial" panose="020B0604020202020204" pitchFamily="34" charset="0"/>
              <a:cs typeface="+mn-cs"/>
              <a:sym typeface="Arial" panose="020B0604020202020204" pitchFamily="34" charset="0"/>
            </a:endParaRPr>
          </a:p>
        </p:txBody>
      </p:sp>
      <p:sp>
        <p:nvSpPr>
          <p:cNvPr id="260" name="Text Placeholder 18">
            <a:extLst>
              <a:ext uri="{FF2B5EF4-FFF2-40B4-BE49-F238E27FC236}">
                <a16:creationId xmlns:a16="http://schemas.microsoft.com/office/drawing/2014/main" id="{C5F69622-22A9-A294-AE58-05DC24416F8B}"/>
              </a:ext>
            </a:extLst>
          </p:cNvPr>
          <p:cNvSpPr>
            <a:spLocks noGrp="1"/>
          </p:cNvSpPr>
          <p:nvPr>
            <p:custDataLst>
              <p:tags r:id="rId46"/>
            </p:custDataLst>
          </p:nvPr>
        </p:nvSpPr>
        <p:spPr bwMode="gray">
          <a:xfrm>
            <a:off x="3989388" y="2066925"/>
            <a:ext cx="35560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55DC556-EB7B-411D-B0FA-2F24DDB7D9C8}" type="datetime'''8'''''''''''''''''',''''''''''''''''8''''''''''4''''''''2'">
              <a:rPr lang="en-US" altLang="en-US" sz="1000" b="1" smtClean="0">
                <a:latin typeface="Arial" panose="020B0604020202020204" pitchFamily="34" charset="0"/>
                <a:cs typeface="+mn-cs"/>
              </a:rPr>
              <a:pPr lvl="0" algn="ctr">
                <a:spcBef>
                  <a:spcPct val="0"/>
                </a:spcBef>
                <a:spcAft>
                  <a:spcPct val="0"/>
                </a:spcAft>
              </a:pPr>
              <a:t>8,842</a:t>
            </a:fld>
            <a:endParaRPr lang="en-US" sz="1000" b="1" noProof="0">
              <a:latin typeface="Arial" panose="020B0604020202020204" pitchFamily="34" charset="0"/>
              <a:cs typeface="+mn-cs"/>
              <a:sym typeface="Arial" panose="020B0604020202020204" pitchFamily="34" charset="0"/>
            </a:endParaRPr>
          </a:p>
        </p:txBody>
      </p:sp>
      <p:sp>
        <p:nvSpPr>
          <p:cNvPr id="261" name="Text Placeholder 18">
            <a:extLst>
              <a:ext uri="{FF2B5EF4-FFF2-40B4-BE49-F238E27FC236}">
                <a16:creationId xmlns:a16="http://schemas.microsoft.com/office/drawing/2014/main" id="{A577100F-7F48-7EAF-ED63-82DD13082DB0}"/>
              </a:ext>
            </a:extLst>
          </p:cNvPr>
          <p:cNvSpPr>
            <a:spLocks noGrp="1"/>
          </p:cNvSpPr>
          <p:nvPr>
            <p:custDataLst>
              <p:tags r:id="rId47"/>
            </p:custDataLst>
          </p:nvPr>
        </p:nvSpPr>
        <p:spPr bwMode="gray">
          <a:xfrm>
            <a:off x="4713288" y="1768475"/>
            <a:ext cx="425450" cy="1524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03EE28B4-7158-4EBE-B2EF-13D3E11E36A6}" type="datetime'''1''''''''''0'''''''''''',''''''2''''''''''19'''">
              <a:rPr lang="en-US" altLang="en-US" sz="1000" b="1" smtClean="0">
                <a:latin typeface="Arial" panose="020B0604020202020204" pitchFamily="34" charset="0"/>
                <a:cs typeface="+mn-cs"/>
              </a:rPr>
              <a:pPr lvl="0" algn="ctr">
                <a:spcBef>
                  <a:spcPct val="0"/>
                </a:spcBef>
                <a:spcAft>
                  <a:spcPct val="0"/>
                </a:spcAft>
              </a:pPr>
              <a:t>10,219</a:t>
            </a:fld>
            <a:endParaRPr lang="en-US" sz="1000" b="1" noProof="0">
              <a:latin typeface="Arial" panose="020B0604020202020204" pitchFamily="34" charset="0"/>
              <a:cs typeface="+mn-cs"/>
              <a:sym typeface="Arial" panose="020B0604020202020204" pitchFamily="34" charset="0"/>
            </a:endParaRPr>
          </a:p>
        </p:txBody>
      </p:sp>
      <p:sp>
        <p:nvSpPr>
          <p:cNvPr id="508" name="Text Placeholder 18">
            <a:extLst>
              <a:ext uri="{FF2B5EF4-FFF2-40B4-BE49-F238E27FC236}">
                <a16:creationId xmlns:a16="http://schemas.microsoft.com/office/drawing/2014/main" id="{DE448E05-EB45-61FF-A2C3-6051504B691C}"/>
              </a:ext>
            </a:extLst>
          </p:cNvPr>
          <p:cNvSpPr>
            <a:spLocks noGrp="1"/>
          </p:cNvSpPr>
          <p:nvPr>
            <p:custDataLst>
              <p:tags r:id="rId48"/>
            </p:custDataLst>
          </p:nvPr>
        </p:nvSpPr>
        <p:spPr bwMode="auto">
          <a:xfrm>
            <a:off x="2795588" y="2089150"/>
            <a:ext cx="463550" cy="215900"/>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174A9D7-AAB1-482D-BB62-AC2EF4DC536D}" type="datetime'''''''''''''''''''+1''''''''2''''''%'''''''''''''">
              <a:rPr lang="en-US" altLang="en-US" sz="1000" b="1"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+12%</a:t>
            </a:fld>
            <a:endParaRPr lang="en-US" sz="1000" b="1" noProof="0">
              <a:latin typeface="Arial" panose="020B0604020202020204" pitchFamily="34" charset="0"/>
              <a:cs typeface="Arial" panose="020B0604020202020204" pitchFamily="34" charset="0"/>
              <a:sym typeface="Arial" panose="020B0604020202020204" pitchFamily="34" charset="0"/>
            </a:endParaRPr>
          </a:p>
        </p:txBody>
      </p:sp>
      <p:sp>
        <p:nvSpPr>
          <p:cNvPr id="268" name="Rectangle 267">
            <a:extLst>
              <a:ext uri="{FF2B5EF4-FFF2-40B4-BE49-F238E27FC236}">
                <a16:creationId xmlns:a16="http://schemas.microsoft.com/office/drawing/2014/main" id="{882A82F8-C598-C4C9-B4BF-7204A2E9F299}"/>
              </a:ext>
            </a:extLst>
          </p:cNvPr>
          <p:cNvSpPr/>
          <p:nvPr>
            <p:custDataLst>
              <p:tags r:id="rId49"/>
            </p:custDataLst>
          </p:nvPr>
        </p:nvSpPr>
        <p:spPr bwMode="auto">
          <a:xfrm>
            <a:off x="1982788" y="4570413"/>
            <a:ext cx="196850" cy="147638"/>
          </a:xfrm>
          <a:prstGeom prst="rect">
            <a:avLst/>
          </a:prstGeom>
          <a:solidFill>
            <a:srgbClr val="0076A8"/>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269" name="Rectangle 268">
            <a:extLst>
              <a:ext uri="{FF2B5EF4-FFF2-40B4-BE49-F238E27FC236}">
                <a16:creationId xmlns:a16="http://schemas.microsoft.com/office/drawing/2014/main" id="{7A8C900D-CC0E-F09A-29E4-FFE27AAC4E41}"/>
              </a:ext>
            </a:extLst>
          </p:cNvPr>
          <p:cNvSpPr/>
          <p:nvPr>
            <p:custDataLst>
              <p:tags r:id="rId50"/>
            </p:custDataLst>
          </p:nvPr>
        </p:nvSpPr>
        <p:spPr bwMode="auto">
          <a:xfrm>
            <a:off x="2914650" y="4570413"/>
            <a:ext cx="196850" cy="147638"/>
          </a:xfrm>
          <a:prstGeom prst="rect">
            <a:avLst/>
          </a:prstGeom>
          <a:solidFill>
            <a:srgbClr val="046A38"/>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270" name="Rectangle 269">
            <a:extLst>
              <a:ext uri="{FF2B5EF4-FFF2-40B4-BE49-F238E27FC236}">
                <a16:creationId xmlns:a16="http://schemas.microsoft.com/office/drawing/2014/main" id="{DD8D6817-EE25-EA34-22F8-7536D3C789B3}"/>
              </a:ext>
            </a:extLst>
          </p:cNvPr>
          <p:cNvSpPr/>
          <p:nvPr>
            <p:custDataLst>
              <p:tags r:id="rId51"/>
            </p:custDataLst>
          </p:nvPr>
        </p:nvSpPr>
        <p:spPr bwMode="auto">
          <a:xfrm>
            <a:off x="3868738" y="4570413"/>
            <a:ext cx="196850" cy="147638"/>
          </a:xfrm>
          <a:prstGeom prst="rect">
            <a:avLst/>
          </a:prstGeom>
          <a:solidFill>
            <a:srgbClr val="86BC25"/>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271" name="Text Placeholder 18">
            <a:extLst>
              <a:ext uri="{FF2B5EF4-FFF2-40B4-BE49-F238E27FC236}">
                <a16:creationId xmlns:a16="http://schemas.microsoft.com/office/drawing/2014/main" id="{8BD2597A-D191-A654-218E-A32CD820F87F}"/>
              </a:ext>
            </a:extLst>
          </p:cNvPr>
          <p:cNvSpPr>
            <a:spLocks noGrp="1"/>
          </p:cNvSpPr>
          <p:nvPr>
            <p:custDataLst>
              <p:tags r:id="rId52"/>
            </p:custDataLst>
          </p:nvPr>
        </p:nvSpPr>
        <p:spPr bwMode="auto">
          <a:xfrm>
            <a:off x="2230438" y="4565650"/>
            <a:ext cx="58261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E8333D06-613F-42E1-BB7A-1808F084A61C}" type="datetime'''''''''''''''''''''''''''''D''''o''''m''''e''''s''''''ti''c'">
              <a:rPr lang="en-US" altLang="en-US" sz="1100" smtClean="0">
                <a:latin typeface="Arial" panose="020B0604020202020204" pitchFamily="34" charset="0"/>
                <a:cs typeface="+mn-cs"/>
              </a:rPr>
              <a:pPr lvl="0">
                <a:spcBef>
                  <a:spcPct val="0"/>
                </a:spcBef>
                <a:spcAft>
                  <a:spcPct val="0"/>
                </a:spcAft>
              </a:pPr>
              <a:t>Domestic</a:t>
            </a:fld>
            <a:endParaRPr lang="en-US" sz="1100" noProof="0">
              <a:latin typeface="Arial" panose="020B0604020202020204" pitchFamily="34" charset="0"/>
              <a:cs typeface="+mn-cs"/>
              <a:sym typeface="Arial" panose="020B0604020202020204" pitchFamily="34" charset="0"/>
            </a:endParaRPr>
          </a:p>
        </p:txBody>
      </p:sp>
      <p:sp>
        <p:nvSpPr>
          <p:cNvPr id="272" name="Text Placeholder 18">
            <a:extLst>
              <a:ext uri="{FF2B5EF4-FFF2-40B4-BE49-F238E27FC236}">
                <a16:creationId xmlns:a16="http://schemas.microsoft.com/office/drawing/2014/main" id="{91A0CA08-075D-F1C2-596C-A29332136624}"/>
              </a:ext>
            </a:extLst>
          </p:cNvPr>
          <p:cNvSpPr>
            <a:spLocks noGrp="1"/>
          </p:cNvSpPr>
          <p:nvPr>
            <p:custDataLst>
              <p:tags r:id="rId53"/>
            </p:custDataLst>
          </p:nvPr>
        </p:nvSpPr>
        <p:spPr bwMode="auto">
          <a:xfrm>
            <a:off x="3162300" y="4565650"/>
            <a:ext cx="60483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8B6D907E-0E19-4DD8-8765-385281BA3A68}" type="datetime'''''''''''''In''''''''d''''''ust''ri''a''''''''l'''' '''''">
              <a:rPr lang="en-US" altLang="en-US" sz="1100" smtClean="0">
                <a:latin typeface="Arial" panose="020B0604020202020204" pitchFamily="34" charset="0"/>
                <a:cs typeface="+mn-cs"/>
              </a:rPr>
              <a:pPr lvl="0">
                <a:spcBef>
                  <a:spcPct val="0"/>
                </a:spcBef>
                <a:spcAft>
                  <a:spcPct val="0"/>
                </a:spcAft>
              </a:pPr>
              <a:t>Industrial </a:t>
            </a:fld>
            <a:endParaRPr lang="en-US" sz="1100" noProof="0">
              <a:latin typeface="Arial" panose="020B0604020202020204" pitchFamily="34" charset="0"/>
              <a:cs typeface="+mn-cs"/>
              <a:sym typeface="Arial" panose="020B0604020202020204" pitchFamily="34" charset="0"/>
            </a:endParaRPr>
          </a:p>
        </p:txBody>
      </p:sp>
      <p:sp>
        <p:nvSpPr>
          <p:cNvPr id="273" name="Text Placeholder 18">
            <a:extLst>
              <a:ext uri="{FF2B5EF4-FFF2-40B4-BE49-F238E27FC236}">
                <a16:creationId xmlns:a16="http://schemas.microsoft.com/office/drawing/2014/main" id="{D941612E-3CAC-9BDC-3625-2AE6251AD62B}"/>
              </a:ext>
            </a:extLst>
          </p:cNvPr>
          <p:cNvSpPr>
            <a:spLocks noGrp="1"/>
          </p:cNvSpPr>
          <p:nvPr>
            <p:custDataLst>
              <p:tags r:id="rId54"/>
            </p:custDataLst>
          </p:nvPr>
        </p:nvSpPr>
        <p:spPr bwMode="auto">
          <a:xfrm>
            <a:off x="4116388" y="4565650"/>
            <a:ext cx="45561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001DA36C-DD93-4A67-85C6-06F8253E6354}" type="datetime'''''''''''O''''t''''''''''''''''h''''e''''r''''''''s'' '''''">
              <a:rPr lang="en-US" altLang="en-US" sz="1100" smtClean="0">
                <a:latin typeface="Arial" panose="020B0604020202020204" pitchFamily="34" charset="0"/>
                <a:cs typeface="+mn-cs"/>
              </a:rPr>
              <a:pPr lvl="0">
                <a:spcBef>
                  <a:spcPct val="0"/>
                </a:spcBef>
                <a:spcAft>
                  <a:spcPct val="0"/>
                </a:spcAft>
              </a:pPr>
              <a:t>Others </a:t>
            </a:fld>
            <a:endParaRPr lang="en-US" sz="1100" noProof="0">
              <a:latin typeface="Arial" panose="020B0604020202020204" pitchFamily="34" charset="0"/>
              <a:cs typeface="+mn-cs"/>
              <a:sym typeface="Arial" panose="020B0604020202020204" pitchFamily="34" charset="0"/>
            </a:endParaRPr>
          </a:p>
        </p:txBody>
      </p:sp>
      <p:graphicFrame>
        <p:nvGraphicFramePr>
          <p:cNvPr id="385" name="Table 384">
            <a:extLst>
              <a:ext uri="{FF2B5EF4-FFF2-40B4-BE49-F238E27FC236}">
                <a16:creationId xmlns:a16="http://schemas.microsoft.com/office/drawing/2014/main" id="{AFCFFF0B-09FD-D741-9749-60DB053AF285}"/>
              </a:ext>
            </a:extLst>
          </p:cNvPr>
          <p:cNvGraphicFramePr>
            <a:graphicFrameLocks noGrp="1"/>
          </p:cNvGraphicFramePr>
          <p:nvPr>
            <p:extLst>
              <p:ext uri="{D42A27DB-BD31-4B8C-83A1-F6EECF244321}">
                <p14:modId xmlns:p14="http://schemas.microsoft.com/office/powerpoint/2010/main" val="2666981220"/>
              </p:ext>
            </p:extLst>
          </p:nvPr>
        </p:nvGraphicFramePr>
        <p:xfrm>
          <a:off x="504055" y="5054707"/>
          <a:ext cx="11216730" cy="1345758"/>
        </p:xfrm>
        <a:graphic>
          <a:graphicData uri="http://schemas.openxmlformats.org/drawingml/2006/table">
            <a:tbl>
              <a:tblPr firstRow="1" bandRow="1">
                <a:tableStyleId>{5C22544A-7EE6-4342-B048-85BDC9FD1C3A}</a:tableStyleId>
              </a:tblPr>
              <a:tblGrid>
                <a:gridCol w="1783820">
                  <a:extLst>
                    <a:ext uri="{9D8B030D-6E8A-4147-A177-3AD203B41FA5}">
                      <a16:colId xmlns:a16="http://schemas.microsoft.com/office/drawing/2014/main" val="1601999352"/>
                    </a:ext>
                  </a:extLst>
                </a:gridCol>
                <a:gridCol w="9432910">
                  <a:extLst>
                    <a:ext uri="{9D8B030D-6E8A-4147-A177-3AD203B41FA5}">
                      <a16:colId xmlns:a16="http://schemas.microsoft.com/office/drawing/2014/main" val="2515607737"/>
                    </a:ext>
                  </a:extLst>
                </a:gridCol>
              </a:tblGrid>
              <a:tr h="0">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1071438">
                <a:tc gridSpan="2">
                  <a:txBody>
                    <a:bodyPr/>
                    <a:lstStyle/>
                    <a:p>
                      <a:pPr marL="169863" indent="-169863" algn="just" defTabSz="914335" rtl="0" eaLnBrk="1" latinLnBrk="0" hangingPunct="1">
                        <a:lnSpc>
                          <a:spcPct val="125000"/>
                        </a:lnSpc>
                        <a:buFont typeface="Arial" panose="020B0604020202020204" pitchFamily="34" charset="0"/>
                        <a:buChar char="•"/>
                      </a:pPr>
                      <a:r>
                        <a:rPr lang="en-US" sz="1200" kern="1200" dirty="0">
                          <a:solidFill>
                            <a:schemeClr val="dk1"/>
                          </a:solidFill>
                          <a:latin typeface="Arial" panose="020B0604020202020204" pitchFamily="34" charset="0"/>
                          <a:ea typeface="+mn-ea"/>
                          <a:cs typeface="Arial" panose="020B0604020202020204" pitchFamily="34" charset="0"/>
                        </a:rPr>
                        <a:t>Industrial and Domestic sectors emerge as biggest power consumers fueling overall surge in internal electricity sales over years (~2.5-2.8x from 2015 levels) </a:t>
                      </a:r>
                    </a:p>
                    <a:p>
                      <a:pPr marL="169863" indent="-169863" algn="just" defTabSz="914335" rtl="0" eaLnBrk="1" latinLnBrk="0" hangingPunct="1">
                        <a:lnSpc>
                          <a:spcPct val="125000"/>
                        </a:lnSpc>
                        <a:buFont typeface="Arial" panose="020B0604020202020204" pitchFamily="34" charset="0"/>
                        <a:buChar char="•"/>
                      </a:pPr>
                      <a:r>
                        <a:rPr lang="en-US" sz="1200" kern="1200" dirty="0">
                          <a:solidFill>
                            <a:schemeClr val="dk1"/>
                          </a:solidFill>
                          <a:latin typeface="Arial" panose="020B0604020202020204" pitchFamily="34" charset="0"/>
                          <a:ea typeface="+mn-ea"/>
                          <a:cs typeface="Arial" panose="020B0604020202020204" pitchFamily="34" charset="0"/>
                        </a:rPr>
                        <a:t>While the industrial consumers grew to ~1.65X times, their consumption increased 2.7X+ indicating aggressive industrial expansion in the country</a:t>
                      </a:r>
                    </a:p>
                    <a:p>
                      <a:pPr marL="169863" indent="-169863" algn="just" defTabSz="914335" rtl="0" eaLnBrk="1" latinLnBrk="0" hangingPunct="1">
                        <a:lnSpc>
                          <a:spcPct val="125000"/>
                        </a:lnSpc>
                        <a:buFont typeface="Arial" panose="020B0604020202020204" pitchFamily="34" charset="0"/>
                        <a:buChar char="•"/>
                      </a:pPr>
                      <a:r>
                        <a:rPr lang="en-US" sz="1200" kern="1200" dirty="0">
                          <a:solidFill>
                            <a:schemeClr val="dk1"/>
                          </a:solidFill>
                          <a:latin typeface="Arial" panose="020B0604020202020204" pitchFamily="34" charset="0"/>
                          <a:ea typeface="+mn-ea"/>
                          <a:cs typeface="Arial" panose="020B0604020202020204" pitchFamily="34" charset="0"/>
                        </a:rPr>
                        <a:t>Domestic consumers continue to be the largest electricity consumer with sustained growth in consumer base over the years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sp>
        <p:nvSpPr>
          <p:cNvPr id="453" name="TextBox 452">
            <a:extLst>
              <a:ext uri="{FF2B5EF4-FFF2-40B4-BE49-F238E27FC236}">
                <a16:creationId xmlns:a16="http://schemas.microsoft.com/office/drawing/2014/main" id="{7E6441D7-1041-7A80-B927-B3AB908F7323}"/>
              </a:ext>
            </a:extLst>
          </p:cNvPr>
          <p:cNvSpPr txBox="1"/>
          <p:nvPr/>
        </p:nvSpPr>
        <p:spPr>
          <a:xfrm>
            <a:off x="5301715" y="2497343"/>
            <a:ext cx="1097280" cy="276999"/>
          </a:xfrm>
          <a:prstGeom prst="rect">
            <a:avLst/>
          </a:prstGeom>
          <a:solidFill>
            <a:srgbClr val="86BC25"/>
          </a:solid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effectLst/>
                <a:uLnTx/>
                <a:uFillTx/>
                <a:latin typeface="Arial" panose="020B0604020202020204" pitchFamily="34" charset="0"/>
                <a:cs typeface="Arial" panose="020B0604020202020204" pitchFamily="34" charset="0"/>
              </a:rPr>
              <a:t>13% CAGR</a:t>
            </a:r>
          </a:p>
        </p:txBody>
      </p:sp>
      <p:sp>
        <p:nvSpPr>
          <p:cNvPr id="456" name="TextBox 455">
            <a:extLst>
              <a:ext uri="{FF2B5EF4-FFF2-40B4-BE49-F238E27FC236}">
                <a16:creationId xmlns:a16="http://schemas.microsoft.com/office/drawing/2014/main" id="{BB6E89CD-CDDC-018A-3F64-302CC86E1B1E}"/>
              </a:ext>
            </a:extLst>
          </p:cNvPr>
          <p:cNvSpPr txBox="1"/>
          <p:nvPr/>
        </p:nvSpPr>
        <p:spPr>
          <a:xfrm>
            <a:off x="5301715" y="2828187"/>
            <a:ext cx="1097280" cy="276999"/>
          </a:xfrm>
          <a:prstGeom prst="rect">
            <a:avLst/>
          </a:prstGeom>
          <a:solidFill>
            <a:schemeClr val="accent4"/>
          </a:solid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12% CAGR</a:t>
            </a:r>
          </a:p>
        </p:txBody>
      </p:sp>
      <p:sp>
        <p:nvSpPr>
          <p:cNvPr id="458" name="TextBox 457">
            <a:extLst>
              <a:ext uri="{FF2B5EF4-FFF2-40B4-BE49-F238E27FC236}">
                <a16:creationId xmlns:a16="http://schemas.microsoft.com/office/drawing/2014/main" id="{B11302CD-D789-573D-B7E2-155D37B00816}"/>
              </a:ext>
            </a:extLst>
          </p:cNvPr>
          <p:cNvSpPr txBox="1"/>
          <p:nvPr/>
        </p:nvSpPr>
        <p:spPr>
          <a:xfrm>
            <a:off x="5301715" y="3159031"/>
            <a:ext cx="1097280" cy="276999"/>
          </a:xfrm>
          <a:prstGeom prst="rect">
            <a:avLst/>
          </a:prstGeom>
          <a:solidFill>
            <a:srgbClr val="0076A8"/>
          </a:solid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11% CAGR</a:t>
            </a:r>
          </a:p>
        </p:txBody>
      </p:sp>
      <p:sp>
        <p:nvSpPr>
          <p:cNvPr id="195" name="TextBox 194">
            <a:extLst>
              <a:ext uri="{FF2B5EF4-FFF2-40B4-BE49-F238E27FC236}">
                <a16:creationId xmlns:a16="http://schemas.microsoft.com/office/drawing/2014/main" id="{74E6AC84-29B6-5DCC-CEF3-8747DCADDA0D}"/>
              </a:ext>
            </a:extLst>
          </p:cNvPr>
          <p:cNvSpPr txBox="1"/>
          <p:nvPr/>
        </p:nvSpPr>
        <p:spPr>
          <a:xfrm>
            <a:off x="2341563" y="6424569"/>
            <a:ext cx="6096000" cy="430887"/>
          </a:xfrm>
          <a:prstGeom prst="rect">
            <a:avLst/>
          </a:prstGeom>
          <a:noFill/>
        </p:spPr>
        <p:txBody>
          <a:bodyPr wrap="square">
            <a:spAutoFit/>
          </a:bodyPr>
          <a:lstStyle/>
          <a:p>
            <a:r>
              <a:rPr lang="en-US" sz="1100" kern="1200">
                <a:solidFill>
                  <a:schemeClr val="dk1"/>
                </a:solidFill>
                <a:latin typeface="Arial" panose="020B0604020202020204" pitchFamily="34" charset="0"/>
                <a:ea typeface="+mn-ea"/>
                <a:cs typeface="Arial" panose="020B0604020202020204" pitchFamily="34" charset="0"/>
              </a:rPr>
              <a:t>Other categories cover commercial, non-commercial, water supply and irrigation, streetlight, temporary supply, transport, temple, non-domestic, entertainment and community sales</a:t>
            </a:r>
            <a:endParaRPr lang="en-US" sz="1100"/>
          </a:p>
        </p:txBody>
      </p:sp>
    </p:spTree>
    <p:extLst>
      <p:ext uri="{BB962C8B-B14F-4D97-AF65-F5344CB8AC3E}">
        <p14:creationId xmlns:p14="http://schemas.microsoft.com/office/powerpoint/2010/main" val="1656940661"/>
      </p:ext>
    </p:extLst>
  </p:cSld>
  <p:clrMapOvr>
    <a:masterClrMapping/>
  </p:clrMapOvr>
  <p:transition>
    <p:fade/>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4258251902"/>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60" imgW="415" imgH="416" progId="TCLayout.ActiveDocument.1">
                  <p:embed/>
                </p:oleObj>
              </mc:Choice>
              <mc:Fallback>
                <p:oleObj name="think-cell Slide" r:id="rId60"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61"/>
                      <a:stretch>
                        <a:fillRect/>
                      </a:stretch>
                    </p:blipFill>
                    <p:spPr>
                      <a:xfrm>
                        <a:off x="1828" y="1723"/>
                        <a:ext cx="1588" cy="1588"/>
                      </a:xfrm>
                      <a:prstGeom prst="rect">
                        <a:avLst/>
                      </a:prstGeom>
                    </p:spPr>
                  </p:pic>
                </p:oleObj>
              </mc:Fallback>
            </mc:AlternateContent>
          </a:graphicData>
        </a:graphic>
      </p:graphicFrame>
      <p:sp>
        <p:nvSpPr>
          <p:cNvPr id="260" name="Rectangle 259">
            <a:extLst>
              <a:ext uri="{FF2B5EF4-FFF2-40B4-BE49-F238E27FC236}">
                <a16:creationId xmlns:a16="http://schemas.microsoft.com/office/drawing/2014/main" id="{42BFD864-1F68-B3D9-D9CA-0B74E2EE7BD8}"/>
              </a:ext>
            </a:extLst>
          </p:cNvPr>
          <p:cNvSpPr/>
          <p:nvPr/>
        </p:nvSpPr>
        <p:spPr bwMode="gray">
          <a:xfrm>
            <a:off x="516590" y="971359"/>
            <a:ext cx="5515909" cy="2991141"/>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Hydropower Dominates Nepal’s Growing Installed Capacity Mix</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Capacity growth driven by NEA subsidiaries and IPPs has reduced reliance on Indian power imports and expanded solar capacity alongside hydro</a:t>
            </a:r>
          </a:p>
        </p:txBody>
      </p:sp>
      <p:graphicFrame>
        <p:nvGraphicFramePr>
          <p:cNvPr id="158" name="Chart 157">
            <a:extLst>
              <a:ext uri="{FF2B5EF4-FFF2-40B4-BE49-F238E27FC236}">
                <a16:creationId xmlns:a16="http://schemas.microsoft.com/office/drawing/2014/main" id="{D8C3F933-12AA-06E1-00AC-6E0ECF2E6A8F}"/>
              </a:ext>
            </a:extLst>
          </p:cNvPr>
          <p:cNvGraphicFramePr/>
          <p:nvPr>
            <p:custDataLst>
              <p:tags r:id="rId2"/>
            </p:custDataLst>
            <p:extLst>
              <p:ext uri="{D42A27DB-BD31-4B8C-83A1-F6EECF244321}">
                <p14:modId xmlns:p14="http://schemas.microsoft.com/office/powerpoint/2010/main" val="2449963542"/>
              </p:ext>
            </p:extLst>
          </p:nvPr>
        </p:nvGraphicFramePr>
        <p:xfrm>
          <a:off x="642938" y="1417638"/>
          <a:ext cx="5205412" cy="2370137"/>
        </p:xfrm>
        <a:graphic>
          <a:graphicData uri="http://schemas.openxmlformats.org/drawingml/2006/chart">
            <c:chart xmlns:c="http://schemas.openxmlformats.org/drawingml/2006/chart" xmlns:r="http://schemas.openxmlformats.org/officeDocument/2006/relationships" r:id="rId62"/>
          </a:graphicData>
        </a:graphic>
      </p:graphicFrame>
      <p:sp>
        <p:nvSpPr>
          <p:cNvPr id="99" name="Text Placeholder 18">
            <a:extLst>
              <a:ext uri="{FF2B5EF4-FFF2-40B4-BE49-F238E27FC236}">
                <a16:creationId xmlns:a16="http://schemas.microsoft.com/office/drawing/2014/main" id="{A55672B0-CCF0-E9E4-6A43-124A95FFA5C3}"/>
              </a:ext>
            </a:extLst>
          </p:cNvPr>
          <p:cNvSpPr>
            <a:spLocks noGrp="1"/>
          </p:cNvSpPr>
          <p:nvPr>
            <p:custDataLst>
              <p:tags r:id="rId3"/>
            </p:custDataLst>
          </p:nvPr>
        </p:nvSpPr>
        <p:spPr bwMode="gray">
          <a:xfrm>
            <a:off x="1443038" y="3005138"/>
            <a:ext cx="249238" cy="168275"/>
          </a:xfrm>
          <a:prstGeom prst="rect">
            <a:avLst/>
          </a:prstGeom>
          <a:solidFill>
            <a:srgbClr val="75787B"/>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62281AA-9224-4138-8D0E-964EAF50F779}" type="datetime'''''''7''''''''''%'">
              <a:rPr lang="en-US" altLang="en-US" sz="1100" smtClean="0">
                <a:solidFill>
                  <a:schemeClr val="bg1"/>
                </a:solidFill>
                <a:effectLst/>
                <a:latin typeface="Arial" panose="020B0604020202020204" pitchFamily="34" charset="0"/>
                <a:cs typeface="+mn-cs"/>
              </a:rPr>
              <a:pPr lvl="0" algn="ctr">
                <a:spcBef>
                  <a:spcPct val="0"/>
                </a:spcBef>
                <a:spcAft>
                  <a:spcPct val="0"/>
                </a:spcAft>
              </a:pPr>
              <a:t>7%</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21" name="Text Placeholder 18">
            <a:extLst>
              <a:ext uri="{FF2B5EF4-FFF2-40B4-BE49-F238E27FC236}">
                <a16:creationId xmlns:a16="http://schemas.microsoft.com/office/drawing/2014/main" id="{77813180-87B9-4046-C4B1-3492DF3CF14F}"/>
              </a:ext>
            </a:extLst>
          </p:cNvPr>
          <p:cNvSpPr>
            <a:spLocks noGrp="1"/>
          </p:cNvSpPr>
          <p:nvPr>
            <p:custDataLst>
              <p:tags r:id="rId4"/>
            </p:custDataLst>
          </p:nvPr>
        </p:nvSpPr>
        <p:spPr bwMode="auto">
          <a:xfrm>
            <a:off x="1193800" y="3633788"/>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6F8BECA-57B8-4779-8A7A-5E5E2D20CD47}" type="datetime'''''''''''2''0''''''''''''1''''''''''''''''5'''''''''">
              <a:rPr lang="en-US" altLang="en-US" sz="1100" smtClean="0">
                <a:latin typeface="Arial" panose="020B0604020202020204" pitchFamily="34" charset="0"/>
                <a:cs typeface="+mn-cs"/>
              </a:rPr>
              <a:pPr lvl="0" algn="ctr">
                <a:spcBef>
                  <a:spcPct val="0"/>
                </a:spcBef>
                <a:spcAft>
                  <a:spcPct val="0"/>
                </a:spcAft>
              </a:pPr>
              <a:t>2015</a:t>
            </a:fld>
            <a:endParaRPr lang="en-US" sz="1100" noProof="0">
              <a:latin typeface="Arial" panose="020B0604020202020204" pitchFamily="34" charset="0"/>
              <a:cs typeface="+mn-cs"/>
              <a:sym typeface="Arial" panose="020B0604020202020204" pitchFamily="34" charset="0"/>
            </a:endParaRPr>
          </a:p>
        </p:txBody>
      </p:sp>
      <p:sp>
        <p:nvSpPr>
          <p:cNvPr id="129" name="Text Placeholder 18">
            <a:extLst>
              <a:ext uri="{FF2B5EF4-FFF2-40B4-BE49-F238E27FC236}">
                <a16:creationId xmlns:a16="http://schemas.microsoft.com/office/drawing/2014/main" id="{32AE9F1D-6CBF-1DEB-9322-AFCE5A8B4B44}"/>
              </a:ext>
            </a:extLst>
          </p:cNvPr>
          <p:cNvSpPr>
            <a:spLocks noGrp="1"/>
          </p:cNvSpPr>
          <p:nvPr>
            <p:custDataLst>
              <p:tags r:id="rId5"/>
            </p:custDataLst>
          </p:nvPr>
        </p:nvSpPr>
        <p:spPr bwMode="gray">
          <a:xfrm>
            <a:off x="2514600" y="2835275"/>
            <a:ext cx="203200" cy="168275"/>
          </a:xfrm>
          <a:prstGeom prst="rect">
            <a:avLst/>
          </a:prstGeom>
          <a:solidFill>
            <a:srgbClr val="75787B"/>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D285A67A-9577-48E0-BBE5-266A7579FF6E}" type="datetime'''''''''''''''''''5''''''3'''''''''">
              <a:rPr lang="en-US" altLang="en-US" sz="11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53</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120" name="Text Placeholder 18">
            <a:extLst>
              <a:ext uri="{FF2B5EF4-FFF2-40B4-BE49-F238E27FC236}">
                <a16:creationId xmlns:a16="http://schemas.microsoft.com/office/drawing/2014/main" id="{1E2E95B4-8C9D-C383-DB0D-15185CBCFBA7}"/>
              </a:ext>
            </a:extLst>
          </p:cNvPr>
          <p:cNvSpPr>
            <a:spLocks noGrp="1"/>
          </p:cNvSpPr>
          <p:nvPr>
            <p:custDataLst>
              <p:tags r:id="rId6"/>
            </p:custDataLst>
          </p:nvPr>
        </p:nvSpPr>
        <p:spPr bwMode="auto">
          <a:xfrm>
            <a:off x="2454275" y="3633788"/>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F9F5C3C9-BBEB-489F-95A3-1EDFC190ACB1}" type="datetime'''2''''''''''''''''0''''''1''''''''''''''''''''''8'''">
              <a:rPr lang="en-US" altLang="en-US" sz="1100" smtClean="0">
                <a:latin typeface="Arial" panose="020B0604020202020204" pitchFamily="34" charset="0"/>
                <a:cs typeface="+mn-cs"/>
              </a:rPr>
              <a:pPr lvl="0" algn="ctr">
                <a:spcBef>
                  <a:spcPct val="0"/>
                </a:spcBef>
                <a:spcAft>
                  <a:spcPct val="0"/>
                </a:spcAft>
              </a:pPr>
              <a:t>2018</a:t>
            </a:fld>
            <a:endParaRPr lang="en-US" sz="1100" noProof="0">
              <a:latin typeface="Arial" panose="020B0604020202020204" pitchFamily="34" charset="0"/>
              <a:cs typeface="+mn-cs"/>
              <a:sym typeface="Arial" panose="020B0604020202020204" pitchFamily="34" charset="0"/>
            </a:endParaRPr>
          </a:p>
        </p:txBody>
      </p:sp>
      <p:sp>
        <p:nvSpPr>
          <p:cNvPr id="100" name="Text Placeholder 18">
            <a:extLst>
              <a:ext uri="{FF2B5EF4-FFF2-40B4-BE49-F238E27FC236}">
                <a16:creationId xmlns:a16="http://schemas.microsoft.com/office/drawing/2014/main" id="{97B179E8-CDBD-36F3-3F09-B5A0DC48D16D}"/>
              </a:ext>
            </a:extLst>
          </p:cNvPr>
          <p:cNvSpPr>
            <a:spLocks noGrp="1"/>
          </p:cNvSpPr>
          <p:nvPr>
            <p:custDataLst>
              <p:tags r:id="rId7"/>
            </p:custDataLst>
          </p:nvPr>
        </p:nvSpPr>
        <p:spPr bwMode="gray">
          <a:xfrm>
            <a:off x="3563938" y="2611438"/>
            <a:ext cx="203200" cy="168275"/>
          </a:xfrm>
          <a:prstGeom prst="rect">
            <a:avLst/>
          </a:prstGeom>
          <a:solidFill>
            <a:srgbClr val="75787B"/>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A0C4484-36C5-46E3-A5B2-65BD483D32E0}" type="datetime'''''''''''''''''''''''''''''''''''''''''''''''''''5''''3'">
              <a:rPr lang="en-US" altLang="en-US" sz="11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53</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508" name="Text Placeholder 18">
            <a:extLst>
              <a:ext uri="{FF2B5EF4-FFF2-40B4-BE49-F238E27FC236}">
                <a16:creationId xmlns:a16="http://schemas.microsoft.com/office/drawing/2014/main" id="{CA193954-2075-BC60-FBEF-E5153EFF7A33}"/>
              </a:ext>
            </a:extLst>
          </p:cNvPr>
          <p:cNvSpPr>
            <a:spLocks noGrp="1"/>
          </p:cNvSpPr>
          <p:nvPr>
            <p:custDataLst>
              <p:tags r:id="rId8"/>
            </p:custDataLst>
          </p:nvPr>
        </p:nvSpPr>
        <p:spPr bwMode="gray">
          <a:xfrm>
            <a:off x="4024313" y="2593975"/>
            <a:ext cx="125413" cy="168275"/>
          </a:xfrm>
          <a:prstGeom prst="rect">
            <a:avLst/>
          </a:prstGeom>
          <a:solidFill>
            <a:srgbClr val="046A38"/>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9EE6E6A-77AC-4B5A-BA1C-A99993A60D2A}" type="datetime'''''''''''''''''''1'''''''''''''''''''''''''''''">
              <a:rPr lang="en-US" altLang="en-US" sz="11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1</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498" name="Text Placeholder 18">
            <a:extLst>
              <a:ext uri="{FF2B5EF4-FFF2-40B4-BE49-F238E27FC236}">
                <a16:creationId xmlns:a16="http://schemas.microsoft.com/office/drawing/2014/main" id="{AD4DB918-0E98-DE7D-B331-6B2E241835F0}"/>
              </a:ext>
            </a:extLst>
          </p:cNvPr>
          <p:cNvSpPr>
            <a:spLocks noGrp="1"/>
          </p:cNvSpPr>
          <p:nvPr>
            <p:custDataLst>
              <p:tags r:id="rId9"/>
            </p:custDataLst>
          </p:nvPr>
        </p:nvSpPr>
        <p:spPr bwMode="auto">
          <a:xfrm>
            <a:off x="3713163" y="3633788"/>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618618BA-D712-4E4D-8561-C34666180C05}" type="datetime'''''''''''''''''2''''''''''0''''''2''1'''''''''''''''">
              <a:rPr lang="en-US" altLang="en-US" sz="1100" smtClean="0">
                <a:latin typeface="Arial" panose="020B0604020202020204" pitchFamily="34" charset="0"/>
                <a:cs typeface="+mn-cs"/>
              </a:rPr>
              <a:pPr lvl="0" algn="ctr">
                <a:spcBef>
                  <a:spcPct val="0"/>
                </a:spcBef>
                <a:spcAft>
                  <a:spcPct val="0"/>
                </a:spcAft>
              </a:pPr>
              <a:t>2021</a:t>
            </a:fld>
            <a:endParaRPr lang="en-US" sz="1100" noProof="0">
              <a:latin typeface="Arial" panose="020B0604020202020204" pitchFamily="34" charset="0"/>
              <a:cs typeface="+mn-cs"/>
              <a:sym typeface="Arial" panose="020B0604020202020204" pitchFamily="34" charset="0"/>
            </a:endParaRPr>
          </a:p>
        </p:txBody>
      </p:sp>
      <p:sp>
        <p:nvSpPr>
          <p:cNvPr id="101" name="Text Placeholder 18">
            <a:extLst>
              <a:ext uri="{FF2B5EF4-FFF2-40B4-BE49-F238E27FC236}">
                <a16:creationId xmlns:a16="http://schemas.microsoft.com/office/drawing/2014/main" id="{BF6EFBD8-6644-5FE2-124F-D92C9814E1BD}"/>
              </a:ext>
            </a:extLst>
          </p:cNvPr>
          <p:cNvSpPr>
            <a:spLocks noGrp="1"/>
          </p:cNvSpPr>
          <p:nvPr>
            <p:custDataLst>
              <p:tags r:id="rId10"/>
            </p:custDataLst>
          </p:nvPr>
        </p:nvSpPr>
        <p:spPr bwMode="gray">
          <a:xfrm>
            <a:off x="4802188" y="1662113"/>
            <a:ext cx="249238" cy="168275"/>
          </a:xfrm>
          <a:prstGeom prst="rect">
            <a:avLst/>
          </a:prstGeom>
          <a:solidFill>
            <a:srgbClr val="75787B"/>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8F2F8FB-BABA-4103-85CD-13514D7B49BD}" type="datetime'2''''''''%'''">
              <a:rPr lang="en-US" altLang="en-US" sz="1100" smtClean="0">
                <a:solidFill>
                  <a:schemeClr val="bg1"/>
                </a:solidFill>
                <a:effectLst/>
                <a:latin typeface="Arial" panose="020B0604020202020204" pitchFamily="34" charset="0"/>
                <a:cs typeface="+mn-cs"/>
              </a:rPr>
              <a:pPr lvl="0" algn="ctr">
                <a:spcBef>
                  <a:spcPct val="0"/>
                </a:spcBef>
                <a:spcAft>
                  <a:spcPct val="0"/>
                </a:spcAft>
              </a:pPr>
              <a:t>2%</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12" name="Text Placeholder 18">
            <a:extLst>
              <a:ext uri="{FF2B5EF4-FFF2-40B4-BE49-F238E27FC236}">
                <a16:creationId xmlns:a16="http://schemas.microsoft.com/office/drawing/2014/main" id="{C2341D6B-E791-4DC3-B94E-1EF60B6C99D2}"/>
              </a:ext>
            </a:extLst>
          </p:cNvPr>
          <p:cNvSpPr>
            <a:spLocks noGrp="1"/>
          </p:cNvSpPr>
          <p:nvPr>
            <p:custDataLst>
              <p:tags r:id="rId11"/>
            </p:custDataLst>
          </p:nvPr>
        </p:nvSpPr>
        <p:spPr bwMode="gray">
          <a:xfrm>
            <a:off x="5222875" y="1614488"/>
            <a:ext cx="249238" cy="168275"/>
          </a:xfrm>
          <a:prstGeom prst="rect">
            <a:avLst/>
          </a:prstGeom>
          <a:solidFill>
            <a:srgbClr val="046A38"/>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DB24001-3037-4114-BDF6-88C8C72277A9}" type="datetime'3''''''%'''''''''''''''''''''''''''''''''''''''''''''">
              <a:rPr lang="en-US" altLang="en-US" sz="1100" smtClean="0">
                <a:solidFill>
                  <a:schemeClr val="bg1"/>
                </a:solidFill>
                <a:effectLst/>
                <a:latin typeface="Arial" panose="020B0604020202020204" pitchFamily="34" charset="0"/>
                <a:cs typeface="+mn-cs"/>
              </a:rPr>
              <a:pPr lvl="0" algn="ctr">
                <a:spcBef>
                  <a:spcPct val="0"/>
                </a:spcBef>
                <a:spcAft>
                  <a:spcPct val="0"/>
                </a:spcAft>
              </a:pPr>
              <a:t>3%</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511" name="Text Placeholder 18">
            <a:extLst>
              <a:ext uri="{FF2B5EF4-FFF2-40B4-BE49-F238E27FC236}">
                <a16:creationId xmlns:a16="http://schemas.microsoft.com/office/drawing/2014/main" id="{7CD05D08-756B-A0A9-EB76-3A2391D12F5C}"/>
              </a:ext>
            </a:extLst>
          </p:cNvPr>
          <p:cNvSpPr>
            <a:spLocks noGrp="1"/>
          </p:cNvSpPr>
          <p:nvPr>
            <p:custDataLst>
              <p:tags r:id="rId12"/>
            </p:custDataLst>
          </p:nvPr>
        </p:nvSpPr>
        <p:spPr bwMode="auto">
          <a:xfrm>
            <a:off x="4973638" y="3633788"/>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70AEB5E-D579-47DF-92A5-62CC01A5507F}" type="datetime'''''''''2''0''''''''''''''''2''''''''''''''''''''4'''''''''">
              <a:rPr lang="en-US" altLang="en-US" sz="1100" smtClean="0">
                <a:latin typeface="Arial" panose="020B0604020202020204" pitchFamily="34" charset="0"/>
                <a:cs typeface="+mn-cs"/>
              </a:rPr>
              <a:pPr lvl="0" algn="ctr">
                <a:spcBef>
                  <a:spcPct val="0"/>
                </a:spcBef>
                <a:spcAft>
                  <a:spcPct val="0"/>
                </a:spcAft>
              </a:pPr>
              <a:t>2024</a:t>
            </a:fld>
            <a:endParaRPr lang="en-US" sz="1100" noProof="0">
              <a:latin typeface="Arial" panose="020B0604020202020204" pitchFamily="34" charset="0"/>
              <a:cs typeface="+mn-cs"/>
              <a:sym typeface="Arial" panose="020B0604020202020204" pitchFamily="34" charset="0"/>
            </a:endParaRPr>
          </a:p>
        </p:txBody>
      </p:sp>
      <p:sp>
        <p:nvSpPr>
          <p:cNvPr id="477" name="Text Placeholder 18">
            <a:extLst>
              <a:ext uri="{FF2B5EF4-FFF2-40B4-BE49-F238E27FC236}">
                <a16:creationId xmlns:a16="http://schemas.microsoft.com/office/drawing/2014/main" id="{47EDE3DE-9301-7F3E-C34D-7259A1F36E40}"/>
              </a:ext>
            </a:extLst>
          </p:cNvPr>
          <p:cNvSpPr>
            <a:spLocks noGrp="1"/>
          </p:cNvSpPr>
          <p:nvPr>
            <p:custDataLst>
              <p:tags r:id="rId13"/>
            </p:custDataLst>
          </p:nvPr>
        </p:nvSpPr>
        <p:spPr bwMode="gray">
          <a:xfrm>
            <a:off x="1216025" y="2836863"/>
            <a:ext cx="28098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8367890-45EF-4580-8003-AF190D9152F3}" type="datetime'''''7''''''''''''''''''8''''7'''">
              <a:rPr lang="en-US" altLang="en-US" sz="1100" b="1"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787</a:t>
            </a:fld>
            <a:endParaRPr lang="en-US" sz="1100" b="1" noProof="0">
              <a:latin typeface="Arial" panose="020B0604020202020204" pitchFamily="34" charset="0"/>
              <a:cs typeface="Arial" panose="020B0604020202020204" pitchFamily="34" charset="0"/>
              <a:sym typeface="Arial" panose="020B0604020202020204" pitchFamily="34" charset="0"/>
            </a:endParaRPr>
          </a:p>
        </p:txBody>
      </p:sp>
      <p:sp>
        <p:nvSpPr>
          <p:cNvPr id="127" name="Text Placeholder 18">
            <a:extLst>
              <a:ext uri="{FF2B5EF4-FFF2-40B4-BE49-F238E27FC236}">
                <a16:creationId xmlns:a16="http://schemas.microsoft.com/office/drawing/2014/main" id="{1785FF5C-8BD8-96CA-D492-390FF98212E3}"/>
              </a:ext>
            </a:extLst>
          </p:cNvPr>
          <p:cNvSpPr>
            <a:spLocks noGrp="1"/>
          </p:cNvSpPr>
          <p:nvPr>
            <p:custDataLst>
              <p:tags r:id="rId14"/>
            </p:custDataLst>
          </p:nvPr>
        </p:nvSpPr>
        <p:spPr bwMode="gray">
          <a:xfrm>
            <a:off x="2417763" y="2667000"/>
            <a:ext cx="3968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5AE7656-04DB-423D-8A80-F290C7965F00}" type="datetime'1'''''',''''''0''''''''''''''''''''7''''''''''''''''4'''''''">
              <a:rPr lang="en-US" altLang="en-US" sz="1100" b="1" smtClean="0">
                <a:latin typeface="Arial" panose="020B0604020202020204" pitchFamily="34" charset="0"/>
                <a:cs typeface="+mn-cs"/>
              </a:rPr>
              <a:pPr lvl="0" algn="ctr">
                <a:spcBef>
                  <a:spcPct val="0"/>
                </a:spcBef>
                <a:spcAft>
                  <a:spcPct val="0"/>
                </a:spcAft>
              </a:pPr>
              <a:t>1,074</a:t>
            </a:fld>
            <a:endParaRPr lang="en-US" sz="1100" b="1" noProof="0">
              <a:latin typeface="Arial" panose="020B0604020202020204" pitchFamily="34" charset="0"/>
              <a:cs typeface="+mn-cs"/>
              <a:sym typeface="Arial" panose="020B0604020202020204" pitchFamily="34" charset="0"/>
            </a:endParaRPr>
          </a:p>
        </p:txBody>
      </p:sp>
      <p:sp>
        <p:nvSpPr>
          <p:cNvPr id="478" name="Text Placeholder 18">
            <a:extLst>
              <a:ext uri="{FF2B5EF4-FFF2-40B4-BE49-F238E27FC236}">
                <a16:creationId xmlns:a16="http://schemas.microsoft.com/office/drawing/2014/main" id="{E41B5E61-3F7A-EA23-0066-2D6058D71A49}"/>
              </a:ext>
            </a:extLst>
          </p:cNvPr>
          <p:cNvSpPr>
            <a:spLocks noGrp="1"/>
          </p:cNvSpPr>
          <p:nvPr>
            <p:custDataLst>
              <p:tags r:id="rId15"/>
            </p:custDataLst>
          </p:nvPr>
        </p:nvSpPr>
        <p:spPr bwMode="gray">
          <a:xfrm>
            <a:off x="3676650" y="2425700"/>
            <a:ext cx="3968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1C0BE70-0550-486E-8A2A-1337C7BC8018}" type="datetime'''''''1'''',4''''''''''''''''5''1'''''''">
              <a:rPr lang="en-US" altLang="en-US" sz="1100" b="1" smtClean="0">
                <a:latin typeface="Arial" panose="020B0604020202020204" pitchFamily="34" charset="0"/>
                <a:cs typeface="+mn-cs"/>
              </a:rPr>
              <a:pPr lvl="0" algn="ctr">
                <a:spcBef>
                  <a:spcPct val="0"/>
                </a:spcBef>
                <a:spcAft>
                  <a:spcPct val="0"/>
                </a:spcAft>
              </a:pPr>
              <a:t>1,451</a:t>
            </a:fld>
            <a:endParaRPr lang="en-US" sz="1100" b="1" noProof="0">
              <a:latin typeface="Arial" panose="020B0604020202020204" pitchFamily="34" charset="0"/>
              <a:cs typeface="+mn-cs"/>
              <a:sym typeface="Arial" panose="020B0604020202020204" pitchFamily="34" charset="0"/>
            </a:endParaRPr>
          </a:p>
        </p:txBody>
      </p:sp>
      <p:sp>
        <p:nvSpPr>
          <p:cNvPr id="479" name="Text Placeholder 18">
            <a:extLst>
              <a:ext uri="{FF2B5EF4-FFF2-40B4-BE49-F238E27FC236}">
                <a16:creationId xmlns:a16="http://schemas.microsoft.com/office/drawing/2014/main" id="{28906CD2-B338-A0B5-FF2B-F7C28E49A7BC}"/>
              </a:ext>
            </a:extLst>
          </p:cNvPr>
          <p:cNvSpPr>
            <a:spLocks noGrp="1"/>
          </p:cNvSpPr>
          <p:nvPr>
            <p:custDataLst>
              <p:tags r:id="rId16"/>
            </p:custDataLst>
          </p:nvPr>
        </p:nvSpPr>
        <p:spPr bwMode="gray">
          <a:xfrm>
            <a:off x="4937125" y="1446213"/>
            <a:ext cx="3968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D879599-9BF2-4B33-8EEA-63C9CBA96B2C}" type="datetime'''''''''''''''''''''''''''3,''''''''''''157'''''''''''">
              <a:rPr lang="en-US" altLang="en-US" sz="1100" b="1" smtClean="0">
                <a:latin typeface="Arial" panose="020B0604020202020204" pitchFamily="34" charset="0"/>
                <a:cs typeface="+mn-cs"/>
              </a:rPr>
              <a:pPr lvl="0" algn="ctr">
                <a:spcBef>
                  <a:spcPct val="0"/>
                </a:spcBef>
                <a:spcAft>
                  <a:spcPct val="0"/>
                </a:spcAft>
              </a:pPr>
              <a:t>3,157</a:t>
            </a:fld>
            <a:endParaRPr lang="en-US" sz="1100" b="1" noProof="0">
              <a:latin typeface="Arial" panose="020B0604020202020204" pitchFamily="34" charset="0"/>
              <a:cs typeface="+mn-cs"/>
              <a:sym typeface="Arial" panose="020B0604020202020204" pitchFamily="34" charset="0"/>
            </a:endParaRPr>
          </a:p>
        </p:txBody>
      </p:sp>
      <p:sp>
        <p:nvSpPr>
          <p:cNvPr id="492" name="Text Placeholder 18">
            <a:extLst>
              <a:ext uri="{FF2B5EF4-FFF2-40B4-BE49-F238E27FC236}">
                <a16:creationId xmlns:a16="http://schemas.microsoft.com/office/drawing/2014/main" id="{DBEB8E4F-41DA-BED5-5363-4212B7BCCA5C}"/>
              </a:ext>
            </a:extLst>
          </p:cNvPr>
          <p:cNvSpPr>
            <a:spLocks noGrp="1"/>
          </p:cNvSpPr>
          <p:nvPr>
            <p:custDataLst>
              <p:tags r:id="rId17"/>
            </p:custDataLst>
          </p:nvPr>
        </p:nvSpPr>
        <p:spPr bwMode="gray">
          <a:xfrm>
            <a:off x="982663" y="3097213"/>
            <a:ext cx="3270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03520CA-C112-45D8-8486-2F4C156D025F}" type="datetime'''''''''''''''''''''''''''32''''%'''''''''''''''''''">
              <a:rPr lang="en-US" altLang="en-US" sz="1100" smtClean="0">
                <a:latin typeface="Arial" panose="020B0604020202020204" pitchFamily="34" charset="0"/>
                <a:cs typeface="+mn-cs"/>
              </a:rPr>
              <a:pPr lvl="0" algn="ctr">
                <a:spcBef>
                  <a:spcPct val="0"/>
                </a:spcBef>
                <a:spcAft>
                  <a:spcPct val="0"/>
                </a:spcAft>
              </a:pPr>
              <a:t>32%</a:t>
            </a:fld>
            <a:endParaRPr lang="en-US" sz="1100" noProof="0">
              <a:latin typeface="Arial" panose="020B0604020202020204" pitchFamily="34" charset="0"/>
              <a:cs typeface="+mn-cs"/>
              <a:sym typeface="Arial" panose="020B0604020202020204" pitchFamily="34" charset="0"/>
            </a:endParaRPr>
          </a:p>
        </p:txBody>
      </p:sp>
      <p:sp>
        <p:nvSpPr>
          <p:cNvPr id="504" name="Text Placeholder 18">
            <a:extLst>
              <a:ext uri="{FF2B5EF4-FFF2-40B4-BE49-F238E27FC236}">
                <a16:creationId xmlns:a16="http://schemas.microsoft.com/office/drawing/2014/main" id="{63F0CBB8-74AD-63D1-7B95-E34F1B2A265F}"/>
              </a:ext>
            </a:extLst>
          </p:cNvPr>
          <p:cNvSpPr>
            <a:spLocks noGrp="1"/>
          </p:cNvSpPr>
          <p:nvPr>
            <p:custDataLst>
              <p:tags r:id="rId18"/>
            </p:custDataLst>
          </p:nvPr>
        </p:nvSpPr>
        <p:spPr bwMode="gray">
          <a:xfrm>
            <a:off x="1192213" y="3314700"/>
            <a:ext cx="3270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3AD0BFC-2D21-4022-B9D5-8851DA444165}" type="datetime'''''''''6''''''''''''''1''''''''''''''%'''''''''''''''''''">
              <a:rPr lang="en-US" altLang="en-US" sz="1100" smtClean="0">
                <a:latin typeface="Arial" panose="020B0604020202020204" pitchFamily="34" charset="0"/>
                <a:cs typeface="+mn-cs"/>
              </a:rPr>
              <a:pPr lvl="0" algn="ctr">
                <a:spcBef>
                  <a:spcPct val="0"/>
                </a:spcBef>
                <a:spcAft>
                  <a:spcPct val="0"/>
                </a:spcAft>
              </a:pPr>
              <a:t>61%</a:t>
            </a:fld>
            <a:endParaRPr lang="en-US" sz="1100" noProof="0">
              <a:latin typeface="Arial" panose="020B0604020202020204" pitchFamily="34" charset="0"/>
              <a:cs typeface="+mn-cs"/>
              <a:sym typeface="Arial" panose="020B0604020202020204" pitchFamily="34" charset="0"/>
            </a:endParaRPr>
          </a:p>
        </p:txBody>
      </p:sp>
      <p:sp>
        <p:nvSpPr>
          <p:cNvPr id="67" name="Text Placeholder 18">
            <a:extLst>
              <a:ext uri="{FF2B5EF4-FFF2-40B4-BE49-F238E27FC236}">
                <a16:creationId xmlns:a16="http://schemas.microsoft.com/office/drawing/2014/main" id="{601AB3EA-D9B8-DC97-EFA7-AAA2E7CF8C42}"/>
              </a:ext>
            </a:extLst>
          </p:cNvPr>
          <p:cNvSpPr>
            <a:spLocks noGrp="1"/>
          </p:cNvSpPr>
          <p:nvPr>
            <p:custDataLst>
              <p:tags r:id="rId19"/>
            </p:custDataLst>
          </p:nvPr>
        </p:nvSpPr>
        <p:spPr bwMode="gray">
          <a:xfrm>
            <a:off x="4972050" y="3136900"/>
            <a:ext cx="3270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B0A2B96-DB00-4717-82C9-BAEC87301D00}" type="datetime'''''''''''''''''''34''''''''''''''''''''''''''''''%'''''''">
              <a:rPr lang="en-US" altLang="en-US" sz="1100" smtClean="0">
                <a:latin typeface="Arial" panose="020B0604020202020204" pitchFamily="34" charset="0"/>
                <a:cs typeface="+mn-cs"/>
              </a:rPr>
              <a:pPr lvl="0" algn="ctr">
                <a:spcBef>
                  <a:spcPct val="0"/>
                </a:spcBef>
                <a:spcAft>
                  <a:spcPct val="0"/>
                </a:spcAft>
              </a:pPr>
              <a:t>34%</a:t>
            </a:fld>
            <a:endParaRPr lang="en-US" sz="1100" noProof="0">
              <a:latin typeface="Arial" panose="020B0604020202020204" pitchFamily="34" charset="0"/>
              <a:cs typeface="+mn-cs"/>
              <a:sym typeface="Arial" panose="020B0604020202020204" pitchFamily="34" charset="0"/>
            </a:endParaRPr>
          </a:p>
        </p:txBody>
      </p:sp>
      <p:sp>
        <p:nvSpPr>
          <p:cNvPr id="73" name="Text Placeholder 18">
            <a:extLst>
              <a:ext uri="{FF2B5EF4-FFF2-40B4-BE49-F238E27FC236}">
                <a16:creationId xmlns:a16="http://schemas.microsoft.com/office/drawing/2014/main" id="{87137D11-52EC-16F0-FBC7-77BC2A8EC2F5}"/>
              </a:ext>
            </a:extLst>
          </p:cNvPr>
          <p:cNvSpPr>
            <a:spLocks noGrp="1"/>
          </p:cNvSpPr>
          <p:nvPr>
            <p:custDataLst>
              <p:tags r:id="rId20"/>
            </p:custDataLst>
          </p:nvPr>
        </p:nvSpPr>
        <p:spPr bwMode="gray">
          <a:xfrm>
            <a:off x="4972050" y="2247900"/>
            <a:ext cx="3270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84CC2AA-77E5-4C01-8CCA-A7905129E5CF}" type="datetime'''''''''''''''6''''''''''''1''''''''''''''''%'''">
              <a:rPr lang="en-US" altLang="en-US" sz="1100" smtClean="0">
                <a:latin typeface="Arial" panose="020B0604020202020204" pitchFamily="34" charset="0"/>
                <a:cs typeface="+mn-cs"/>
              </a:rPr>
              <a:pPr lvl="0" algn="ctr">
                <a:spcBef>
                  <a:spcPct val="0"/>
                </a:spcBef>
                <a:spcAft>
                  <a:spcPct val="0"/>
                </a:spcAft>
              </a:pPr>
              <a:t>61%</a:t>
            </a:fld>
            <a:endParaRPr lang="en-US" sz="1100" noProof="0">
              <a:latin typeface="Arial" panose="020B0604020202020204" pitchFamily="34" charset="0"/>
              <a:cs typeface="+mn-cs"/>
              <a:sym typeface="Arial" panose="020B0604020202020204" pitchFamily="34" charset="0"/>
            </a:endParaRPr>
          </a:p>
        </p:txBody>
      </p:sp>
      <p:sp>
        <p:nvSpPr>
          <p:cNvPr id="79" name="Rectangle 78">
            <a:extLst>
              <a:ext uri="{FF2B5EF4-FFF2-40B4-BE49-F238E27FC236}">
                <a16:creationId xmlns:a16="http://schemas.microsoft.com/office/drawing/2014/main" id="{237BC9B3-B1B6-5770-D2E2-8B4CA2385030}"/>
              </a:ext>
            </a:extLst>
          </p:cNvPr>
          <p:cNvSpPr/>
          <p:nvPr>
            <p:custDataLst>
              <p:tags r:id="rId21"/>
            </p:custDataLst>
          </p:nvPr>
        </p:nvSpPr>
        <p:spPr bwMode="auto">
          <a:xfrm>
            <a:off x="785813" y="1414463"/>
            <a:ext cx="214313" cy="160338"/>
          </a:xfrm>
          <a:prstGeom prst="rect">
            <a:avLst/>
          </a:prstGeom>
          <a:solidFill>
            <a:srgbClr val="86BC25"/>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65" name="Rectangle 464">
            <a:extLst>
              <a:ext uri="{FF2B5EF4-FFF2-40B4-BE49-F238E27FC236}">
                <a16:creationId xmlns:a16="http://schemas.microsoft.com/office/drawing/2014/main" id="{0E368B25-F7FE-5075-F65F-A075D8C90564}"/>
              </a:ext>
            </a:extLst>
          </p:cNvPr>
          <p:cNvSpPr/>
          <p:nvPr>
            <p:custDataLst>
              <p:tags r:id="rId22"/>
            </p:custDataLst>
          </p:nvPr>
        </p:nvSpPr>
        <p:spPr bwMode="auto">
          <a:xfrm>
            <a:off x="785813" y="1647825"/>
            <a:ext cx="214313" cy="160338"/>
          </a:xfrm>
          <a:prstGeom prst="rect">
            <a:avLst/>
          </a:prstGeom>
          <a:solidFill>
            <a:srgbClr val="046A38"/>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59" name="Rectangle 458">
            <a:extLst>
              <a:ext uri="{FF2B5EF4-FFF2-40B4-BE49-F238E27FC236}">
                <a16:creationId xmlns:a16="http://schemas.microsoft.com/office/drawing/2014/main" id="{99480BCD-4C83-0049-AF29-D52878222260}"/>
              </a:ext>
            </a:extLst>
          </p:cNvPr>
          <p:cNvSpPr/>
          <p:nvPr>
            <p:custDataLst>
              <p:tags r:id="rId23"/>
            </p:custDataLst>
          </p:nvPr>
        </p:nvSpPr>
        <p:spPr bwMode="auto">
          <a:xfrm>
            <a:off x="785813" y="1881188"/>
            <a:ext cx="214313" cy="160338"/>
          </a:xfrm>
          <a:prstGeom prst="rect">
            <a:avLst/>
          </a:prstGeom>
          <a:solidFill>
            <a:srgbClr val="75787B"/>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54" name="Rectangle 453">
            <a:extLst>
              <a:ext uri="{FF2B5EF4-FFF2-40B4-BE49-F238E27FC236}">
                <a16:creationId xmlns:a16="http://schemas.microsoft.com/office/drawing/2014/main" id="{6AE003A3-9861-9E11-8FDD-A174FB2255BF}"/>
              </a:ext>
            </a:extLst>
          </p:cNvPr>
          <p:cNvSpPr/>
          <p:nvPr>
            <p:custDataLst>
              <p:tags r:id="rId24"/>
            </p:custDataLst>
          </p:nvPr>
        </p:nvSpPr>
        <p:spPr bwMode="auto">
          <a:xfrm>
            <a:off x="785813" y="2114550"/>
            <a:ext cx="214313" cy="160338"/>
          </a:xfrm>
          <a:prstGeom prst="rect">
            <a:avLst/>
          </a:prstGeom>
          <a:solidFill>
            <a:srgbClr val="00ABAB"/>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35" name="Rectangle 34">
            <a:extLst>
              <a:ext uri="{FF2B5EF4-FFF2-40B4-BE49-F238E27FC236}">
                <a16:creationId xmlns:a16="http://schemas.microsoft.com/office/drawing/2014/main" id="{D47AD537-2A1B-5E93-CE75-84DE69239F1F}"/>
              </a:ext>
            </a:extLst>
          </p:cNvPr>
          <p:cNvSpPr/>
          <p:nvPr>
            <p:custDataLst>
              <p:tags r:id="rId25"/>
            </p:custDataLst>
          </p:nvPr>
        </p:nvSpPr>
        <p:spPr bwMode="auto">
          <a:xfrm>
            <a:off x="785813" y="2347913"/>
            <a:ext cx="214313" cy="160338"/>
          </a:xfrm>
          <a:prstGeom prst="rect">
            <a:avLst/>
          </a:prstGeom>
          <a:solidFill>
            <a:schemeClr val="hlink"/>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5" name="Text Placeholder 18">
            <a:extLst>
              <a:ext uri="{FF2B5EF4-FFF2-40B4-BE49-F238E27FC236}">
                <a16:creationId xmlns:a16="http://schemas.microsoft.com/office/drawing/2014/main" id="{C7741231-5B52-13AF-222F-E68309142F4B}"/>
              </a:ext>
            </a:extLst>
          </p:cNvPr>
          <p:cNvSpPr>
            <a:spLocks noGrp="1"/>
          </p:cNvSpPr>
          <p:nvPr>
            <p:custDataLst>
              <p:tags r:id="rId26"/>
            </p:custDataLst>
          </p:nvPr>
        </p:nvSpPr>
        <p:spPr bwMode="auto">
          <a:xfrm>
            <a:off x="1050925" y="1409700"/>
            <a:ext cx="13446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7A2A1158-2307-4446-93F2-B766CFE0FC85}" type="datetime'T''''o''''t''al'''' Ba''g''as''s''''''e'''' ''(IP''''''P'''')'">
              <a:rPr lang="en-US" altLang="en-US" sz="1200" smtClean="0">
                <a:latin typeface="Arial" panose="020B0604020202020204" pitchFamily="34" charset="0"/>
                <a:cs typeface="+mn-cs"/>
              </a:rPr>
              <a:pPr lvl="0">
                <a:spcBef>
                  <a:spcPct val="0"/>
                </a:spcBef>
                <a:spcAft>
                  <a:spcPct val="0"/>
                </a:spcAft>
              </a:pPr>
              <a:t>Total Bagasse (IPP)</a:t>
            </a:fld>
            <a:endParaRPr lang="en-US" sz="1200" noProof="0">
              <a:latin typeface="Arial" panose="020B0604020202020204" pitchFamily="34" charset="0"/>
              <a:cs typeface="+mn-cs"/>
              <a:sym typeface="Arial" panose="020B0604020202020204" pitchFamily="34" charset="0"/>
            </a:endParaRPr>
          </a:p>
        </p:txBody>
      </p:sp>
      <p:sp>
        <p:nvSpPr>
          <p:cNvPr id="460" name="Text Placeholder 18">
            <a:extLst>
              <a:ext uri="{FF2B5EF4-FFF2-40B4-BE49-F238E27FC236}">
                <a16:creationId xmlns:a16="http://schemas.microsoft.com/office/drawing/2014/main" id="{E448E32D-3818-1B3B-DA18-32FF1940884B}"/>
              </a:ext>
            </a:extLst>
          </p:cNvPr>
          <p:cNvSpPr>
            <a:spLocks noGrp="1"/>
          </p:cNvSpPr>
          <p:nvPr>
            <p:custDataLst>
              <p:tags r:id="rId27"/>
            </p:custDataLst>
          </p:nvPr>
        </p:nvSpPr>
        <p:spPr bwMode="auto">
          <a:xfrm>
            <a:off x="1050925" y="1643063"/>
            <a:ext cx="11747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F0FA8293-22C3-4791-9797-9504970F6EEB}" type="datetime'T''o''t''''''a''l'''''' ''So''''''''l''ar ''(''N''''''E''A'')'">
              <a:rPr lang="en-US" altLang="en-US" sz="1200" smtClean="0">
                <a:latin typeface="Arial" panose="020B0604020202020204" pitchFamily="34" charset="0"/>
                <a:cs typeface="+mn-cs"/>
              </a:rPr>
              <a:pPr lvl="0">
                <a:spcBef>
                  <a:spcPct val="0"/>
                </a:spcBef>
                <a:spcAft>
                  <a:spcPct val="0"/>
                </a:spcAft>
              </a:pPr>
              <a:t>Total Solar (NEA)</a:t>
            </a:fld>
            <a:endParaRPr lang="en-US" sz="1200" noProof="0">
              <a:latin typeface="Arial" panose="020B0604020202020204" pitchFamily="34" charset="0"/>
              <a:cs typeface="+mn-cs"/>
              <a:sym typeface="Arial" panose="020B0604020202020204" pitchFamily="34" charset="0"/>
            </a:endParaRPr>
          </a:p>
        </p:txBody>
      </p:sp>
      <p:sp>
        <p:nvSpPr>
          <p:cNvPr id="455" name="Text Placeholder 18">
            <a:extLst>
              <a:ext uri="{FF2B5EF4-FFF2-40B4-BE49-F238E27FC236}">
                <a16:creationId xmlns:a16="http://schemas.microsoft.com/office/drawing/2014/main" id="{690EB6B8-7F08-1EB4-6CB4-DDFEB00E7279}"/>
              </a:ext>
            </a:extLst>
          </p:cNvPr>
          <p:cNvSpPr>
            <a:spLocks noGrp="1"/>
          </p:cNvSpPr>
          <p:nvPr>
            <p:custDataLst>
              <p:tags r:id="rId28"/>
            </p:custDataLst>
          </p:nvPr>
        </p:nvSpPr>
        <p:spPr bwMode="auto">
          <a:xfrm>
            <a:off x="1050925" y="1876425"/>
            <a:ext cx="137636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82F7ED0D-72B8-496F-B9B7-548516660842}" type="datetime'''To''''t''''''al ''''''T''he''''rma''l'''''''''''''' (''NEA)'">
              <a:rPr lang="en-US" altLang="en-US" sz="1200" smtClean="0">
                <a:latin typeface="Arial" panose="020B0604020202020204" pitchFamily="34" charset="0"/>
                <a:cs typeface="+mn-cs"/>
              </a:rPr>
              <a:pPr lvl="0">
                <a:spcBef>
                  <a:spcPct val="0"/>
                </a:spcBef>
                <a:spcAft>
                  <a:spcPct val="0"/>
                </a:spcAft>
              </a:pPr>
              <a:t>Total Thermal (NEA)</a:t>
            </a:fld>
            <a:endParaRPr lang="en-US" sz="1200" noProof="0">
              <a:latin typeface="Arial" panose="020B0604020202020204" pitchFamily="34" charset="0"/>
              <a:cs typeface="+mn-cs"/>
              <a:sym typeface="Arial" panose="020B0604020202020204" pitchFamily="34" charset="0"/>
            </a:endParaRPr>
          </a:p>
        </p:txBody>
      </p:sp>
      <p:sp>
        <p:nvSpPr>
          <p:cNvPr id="451" name="Text Placeholder 18">
            <a:extLst>
              <a:ext uri="{FF2B5EF4-FFF2-40B4-BE49-F238E27FC236}">
                <a16:creationId xmlns:a16="http://schemas.microsoft.com/office/drawing/2014/main" id="{1B6463A5-EC75-3207-37B4-32B685E7C4BA}"/>
              </a:ext>
            </a:extLst>
          </p:cNvPr>
          <p:cNvSpPr>
            <a:spLocks noGrp="1"/>
          </p:cNvSpPr>
          <p:nvPr>
            <p:custDataLst>
              <p:tags r:id="rId29"/>
            </p:custDataLst>
          </p:nvPr>
        </p:nvSpPr>
        <p:spPr bwMode="auto">
          <a:xfrm>
            <a:off x="1050925" y="2109788"/>
            <a:ext cx="11588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33E941B7-5B3C-4016-AB2D-352017EEBABC}" type="datetime'''''T''''o''''''ta''l'''''''''' H''ydro ''''(I''''''P''''P)'">
              <a:rPr lang="en-US" altLang="en-US" sz="1200" smtClean="0">
                <a:latin typeface="Arial" panose="020B0604020202020204" pitchFamily="34" charset="0"/>
                <a:cs typeface="+mn-cs"/>
              </a:rPr>
              <a:pPr lvl="0">
                <a:spcBef>
                  <a:spcPct val="0"/>
                </a:spcBef>
                <a:spcAft>
                  <a:spcPct val="0"/>
                </a:spcAft>
              </a:pPr>
              <a:t>Total Hydro (IPP)</a:t>
            </a:fld>
            <a:endParaRPr lang="en-US" sz="1200" noProof="0">
              <a:latin typeface="Arial" panose="020B0604020202020204" pitchFamily="34" charset="0"/>
              <a:cs typeface="+mn-cs"/>
              <a:sym typeface="Arial" panose="020B0604020202020204" pitchFamily="34" charset="0"/>
            </a:endParaRPr>
          </a:p>
        </p:txBody>
      </p:sp>
      <p:sp>
        <p:nvSpPr>
          <p:cNvPr id="36" name="Text Placeholder 18">
            <a:extLst>
              <a:ext uri="{FF2B5EF4-FFF2-40B4-BE49-F238E27FC236}">
                <a16:creationId xmlns:a16="http://schemas.microsoft.com/office/drawing/2014/main" id="{BFB5C110-578B-5205-6375-74FEF833649E}"/>
              </a:ext>
            </a:extLst>
          </p:cNvPr>
          <p:cNvSpPr>
            <a:spLocks noGrp="1"/>
          </p:cNvSpPr>
          <p:nvPr>
            <p:custDataLst>
              <p:tags r:id="rId30"/>
            </p:custDataLst>
          </p:nvPr>
        </p:nvSpPr>
        <p:spPr bwMode="auto">
          <a:xfrm>
            <a:off x="1050925" y="2343150"/>
            <a:ext cx="2217738"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213259CA-2110-4217-B1BD-46C23161F0A3}" type="datetime'''Total H''''ydro (''NEA +'' Sub''si''d''ia''''''ri''es)'''">
              <a:rPr lang="en-US" altLang="en-US" sz="1200" smtClean="0">
                <a:latin typeface="Arial" panose="020B0604020202020204" pitchFamily="34" charset="0"/>
                <a:cs typeface="+mn-cs"/>
              </a:rPr>
              <a:pPr lvl="0">
                <a:spcBef>
                  <a:spcPct val="0"/>
                </a:spcBef>
                <a:spcAft>
                  <a:spcPct val="0"/>
                </a:spcAft>
              </a:pPr>
              <a:t>Total Hydro (NEA + Subsidiaries)</a:t>
            </a:fld>
            <a:endParaRPr lang="en-US" sz="1200" noProof="0">
              <a:latin typeface="Arial" panose="020B0604020202020204" pitchFamily="34" charset="0"/>
              <a:cs typeface="+mn-cs"/>
              <a:sym typeface="Arial" panose="020B0604020202020204" pitchFamily="34" charset="0"/>
            </a:endParaRPr>
          </a:p>
        </p:txBody>
      </p:sp>
      <p:sp>
        <p:nvSpPr>
          <p:cNvPr id="46" name="TextBox 45">
            <a:extLst>
              <a:ext uri="{FF2B5EF4-FFF2-40B4-BE49-F238E27FC236}">
                <a16:creationId xmlns:a16="http://schemas.microsoft.com/office/drawing/2014/main" id="{B27F4368-ADA9-1AD3-FB20-76556BEC22DD}"/>
              </a:ext>
            </a:extLst>
          </p:cNvPr>
          <p:cNvSpPr txBox="1"/>
          <p:nvPr/>
        </p:nvSpPr>
        <p:spPr>
          <a:xfrm>
            <a:off x="804069" y="1019022"/>
            <a:ext cx="4883149" cy="307777"/>
          </a:xfrm>
          <a:prstGeom prst="rect">
            <a:avLst/>
          </a:prstGeom>
          <a:noFill/>
        </p:spPr>
        <p:txBody>
          <a:bodyPr wrap="square">
            <a:spAutoFit/>
          </a:bodyPr>
          <a:lstStyle/>
          <a:p>
            <a:pPr algn="ctr"/>
            <a:r>
              <a:rPr lang="en-US" sz="1400" b="1">
                <a:latin typeface="Arial" panose="020B0604020202020204" pitchFamily="34" charset="0"/>
                <a:cs typeface="Arial" panose="020B0604020202020204" pitchFamily="34" charset="0"/>
              </a:rPr>
              <a:t>Installed Capacity (MW)</a:t>
            </a:r>
            <a:endParaRPr lang="en-US" sz="1400" b="1"/>
          </a:p>
        </p:txBody>
      </p:sp>
      <p:sp>
        <p:nvSpPr>
          <p:cNvPr id="274" name="TextBox 273">
            <a:extLst>
              <a:ext uri="{FF2B5EF4-FFF2-40B4-BE49-F238E27FC236}">
                <a16:creationId xmlns:a16="http://schemas.microsoft.com/office/drawing/2014/main" id="{3F6021A8-B0B3-9A65-8DD3-9A7BF295606A}"/>
              </a:ext>
            </a:extLst>
          </p:cNvPr>
          <p:cNvSpPr txBox="1"/>
          <p:nvPr/>
        </p:nvSpPr>
        <p:spPr>
          <a:xfrm>
            <a:off x="501651" y="6557494"/>
            <a:ext cx="6096000" cy="261610"/>
          </a:xfrm>
          <a:prstGeom prst="rect">
            <a:avLst/>
          </a:prstGeom>
          <a:noFill/>
        </p:spPr>
        <p:txBody>
          <a:bodyPr wrap="square">
            <a:spAutoFit/>
          </a:bodyPr>
          <a:lstStyle/>
          <a:p>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a:t>
            </a:r>
            <a:r>
              <a:rPr lang="en-US" sz="1050">
                <a:latin typeface="Arial" panose="020B0604020202020204" pitchFamily="34" charset="0"/>
                <a:cs typeface="Arial" panose="020B0604020202020204" pitchFamily="34" charset="0"/>
                <a:hlinkClick r:id="rId63"/>
              </a:rPr>
              <a:t>NEA Annual Report</a:t>
            </a:r>
            <a:endParaRPr lang="en-US" sz="1050"/>
          </a:p>
        </p:txBody>
      </p:sp>
      <p:sp>
        <p:nvSpPr>
          <p:cNvPr id="16" name="Rectangle 15">
            <a:extLst>
              <a:ext uri="{FF2B5EF4-FFF2-40B4-BE49-F238E27FC236}">
                <a16:creationId xmlns:a16="http://schemas.microsoft.com/office/drawing/2014/main" id="{622BD0B4-85FF-1CA3-0C91-A3FD528715C6}"/>
              </a:ext>
            </a:extLst>
          </p:cNvPr>
          <p:cNvSpPr/>
          <p:nvPr/>
        </p:nvSpPr>
        <p:spPr bwMode="gray">
          <a:xfrm>
            <a:off x="6112280" y="971359"/>
            <a:ext cx="5609695" cy="2991141"/>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F9F2AFC1-D42C-F7A3-2939-60D5AE4D8B76}"/>
              </a:ext>
            </a:extLst>
          </p:cNvPr>
          <p:cNvSpPr txBox="1"/>
          <p:nvPr/>
        </p:nvSpPr>
        <p:spPr>
          <a:xfrm>
            <a:off x="6597651" y="1040848"/>
            <a:ext cx="4883149" cy="307777"/>
          </a:xfrm>
          <a:prstGeom prst="rect">
            <a:avLst/>
          </a:prstGeom>
          <a:noFill/>
        </p:spPr>
        <p:txBody>
          <a:bodyPr wrap="square">
            <a:spAutoFit/>
          </a:bodyPr>
          <a:lstStyle/>
          <a:p>
            <a:pPr algn="ctr"/>
            <a:r>
              <a:rPr lang="en-US" sz="1400" b="1">
                <a:latin typeface="Arial" panose="020B0604020202020204" pitchFamily="34" charset="0"/>
                <a:cs typeface="Arial" panose="020B0604020202020204" pitchFamily="34" charset="0"/>
              </a:rPr>
              <a:t>Total Available Electricity (MU)</a:t>
            </a:r>
            <a:endParaRPr lang="en-US" sz="1400" b="1"/>
          </a:p>
        </p:txBody>
      </p:sp>
      <p:graphicFrame>
        <p:nvGraphicFramePr>
          <p:cNvPr id="161" name="Chart 160">
            <a:extLst>
              <a:ext uri="{FF2B5EF4-FFF2-40B4-BE49-F238E27FC236}">
                <a16:creationId xmlns:a16="http://schemas.microsoft.com/office/drawing/2014/main" id="{2728194A-75A8-02D1-CBD8-F8B71C4C7F80}"/>
              </a:ext>
            </a:extLst>
          </p:cNvPr>
          <p:cNvGraphicFramePr/>
          <p:nvPr>
            <p:custDataLst>
              <p:tags r:id="rId31"/>
            </p:custDataLst>
            <p:extLst>
              <p:ext uri="{D42A27DB-BD31-4B8C-83A1-F6EECF244321}">
                <p14:modId xmlns:p14="http://schemas.microsoft.com/office/powerpoint/2010/main" val="3845238111"/>
              </p:ext>
            </p:extLst>
          </p:nvPr>
        </p:nvGraphicFramePr>
        <p:xfrm>
          <a:off x="6219825" y="1417638"/>
          <a:ext cx="5343525" cy="2370137"/>
        </p:xfrm>
        <a:graphic>
          <a:graphicData uri="http://schemas.openxmlformats.org/drawingml/2006/chart">
            <c:chart xmlns:c="http://schemas.openxmlformats.org/drawingml/2006/chart" xmlns:r="http://schemas.openxmlformats.org/officeDocument/2006/relationships" r:id="rId64"/>
          </a:graphicData>
        </a:graphic>
      </p:graphicFrame>
      <p:sp>
        <p:nvSpPr>
          <p:cNvPr id="452" name="Text Placeholder 18">
            <a:extLst>
              <a:ext uri="{FF2B5EF4-FFF2-40B4-BE49-F238E27FC236}">
                <a16:creationId xmlns:a16="http://schemas.microsoft.com/office/drawing/2014/main" id="{0265DB48-86A8-60B9-B3AF-11656D333153}"/>
              </a:ext>
            </a:extLst>
          </p:cNvPr>
          <p:cNvSpPr>
            <a:spLocks noGrp="1"/>
          </p:cNvSpPr>
          <p:nvPr>
            <p:custDataLst>
              <p:tags r:id="rId32"/>
            </p:custDataLst>
          </p:nvPr>
        </p:nvSpPr>
        <p:spPr bwMode="gray">
          <a:xfrm>
            <a:off x="6610350" y="3128963"/>
            <a:ext cx="249238" cy="168275"/>
          </a:xfrm>
          <a:prstGeom prst="rect">
            <a:avLst/>
          </a:prstGeom>
          <a:solidFill>
            <a:srgbClr val="012169"/>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9B7C5C6-742D-4A82-8041-FBACDF113C9B}" type="datetime'''''''''''''3''''''''''''''''%'''''''''''''''">
              <a:rPr lang="en-US" altLang="en-US" sz="1100" smtClean="0">
                <a:solidFill>
                  <a:schemeClr val="bg1"/>
                </a:solidFill>
                <a:effectLst/>
                <a:latin typeface="Arial" panose="020B0604020202020204" pitchFamily="34" charset="0"/>
                <a:cs typeface="+mn-cs"/>
              </a:rPr>
              <a:pPr lvl="0" algn="ctr">
                <a:spcBef>
                  <a:spcPct val="0"/>
                </a:spcBef>
                <a:spcAft>
                  <a:spcPct val="0"/>
                </a:spcAft>
              </a:pPr>
              <a:t>3%</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23" name="Text Placeholder 18">
            <a:extLst>
              <a:ext uri="{FF2B5EF4-FFF2-40B4-BE49-F238E27FC236}">
                <a16:creationId xmlns:a16="http://schemas.microsoft.com/office/drawing/2014/main" id="{EE8A27AF-C637-4FAE-E040-5C7EB0B616AB}"/>
              </a:ext>
            </a:extLst>
          </p:cNvPr>
          <p:cNvSpPr>
            <a:spLocks noGrp="1"/>
          </p:cNvSpPr>
          <p:nvPr>
            <p:custDataLst>
              <p:tags r:id="rId33"/>
            </p:custDataLst>
          </p:nvPr>
        </p:nvSpPr>
        <p:spPr bwMode="auto">
          <a:xfrm>
            <a:off x="6788150" y="3633788"/>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8152DBA-2715-4785-9BFE-ABB8471EF519}" type="datetime'2''''0''''''''1''''''''5'''''''''''''''''''''''''''''''''''''">
              <a:rPr lang="en-US" altLang="en-US" sz="1100" smtClean="0">
                <a:latin typeface="Arial" panose="020B0604020202020204" pitchFamily="34" charset="0"/>
                <a:cs typeface="+mn-cs"/>
              </a:rPr>
              <a:pPr lvl="0" algn="ctr">
                <a:spcBef>
                  <a:spcPct val="0"/>
                </a:spcBef>
                <a:spcAft>
                  <a:spcPct val="0"/>
                </a:spcAft>
              </a:pPr>
              <a:t>2015</a:t>
            </a:fld>
            <a:endParaRPr lang="en-US" sz="1100" noProof="0">
              <a:latin typeface="Arial" panose="020B0604020202020204" pitchFamily="34" charset="0"/>
              <a:cs typeface="+mn-cs"/>
              <a:sym typeface="Arial" panose="020B0604020202020204" pitchFamily="34" charset="0"/>
            </a:endParaRPr>
          </a:p>
        </p:txBody>
      </p:sp>
      <p:sp>
        <p:nvSpPr>
          <p:cNvPr id="464" name="Text Placeholder 18">
            <a:extLst>
              <a:ext uri="{FF2B5EF4-FFF2-40B4-BE49-F238E27FC236}">
                <a16:creationId xmlns:a16="http://schemas.microsoft.com/office/drawing/2014/main" id="{7C6B543D-D70D-53C9-6A3B-D6745DCCEDC6}"/>
              </a:ext>
            </a:extLst>
          </p:cNvPr>
          <p:cNvSpPr>
            <a:spLocks noGrp="1"/>
          </p:cNvSpPr>
          <p:nvPr>
            <p:custDataLst>
              <p:tags r:id="rId34"/>
            </p:custDataLst>
          </p:nvPr>
        </p:nvSpPr>
        <p:spPr bwMode="gray">
          <a:xfrm>
            <a:off x="7888288" y="3136900"/>
            <a:ext cx="280988" cy="168275"/>
          </a:xfrm>
          <a:prstGeom prst="rect">
            <a:avLst/>
          </a:prstGeom>
          <a:solidFill>
            <a:srgbClr val="012169"/>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AD2A1B1-2D18-4CE7-8916-31322E483901}" type="datetime'''''''1''''4''9'''''''''''''''''''''''''''''''''''''''">
              <a:rPr lang="en-US" altLang="en-US" sz="11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149</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25" name="Text Placeholder 18">
            <a:extLst>
              <a:ext uri="{FF2B5EF4-FFF2-40B4-BE49-F238E27FC236}">
                <a16:creationId xmlns:a16="http://schemas.microsoft.com/office/drawing/2014/main" id="{683E7AF4-0206-5D31-8736-EA61C2C84F9E}"/>
              </a:ext>
            </a:extLst>
          </p:cNvPr>
          <p:cNvSpPr>
            <a:spLocks noGrp="1"/>
          </p:cNvSpPr>
          <p:nvPr>
            <p:custDataLst>
              <p:tags r:id="rId35"/>
            </p:custDataLst>
          </p:nvPr>
        </p:nvSpPr>
        <p:spPr bwMode="auto">
          <a:xfrm>
            <a:off x="8081963" y="3633788"/>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E2EA95A-94DE-450C-BE09-4C685090B431}" type="datetime'''''''''''''''''''''''2''''''''''''''''''''''01''''''8'''''">
              <a:rPr lang="en-US" altLang="en-US" sz="1100" smtClean="0">
                <a:latin typeface="Arial" panose="020B0604020202020204" pitchFamily="34" charset="0"/>
                <a:cs typeface="+mn-cs"/>
              </a:rPr>
              <a:pPr lvl="0" algn="ctr">
                <a:spcBef>
                  <a:spcPct val="0"/>
                </a:spcBef>
                <a:spcAft>
                  <a:spcPct val="0"/>
                </a:spcAft>
              </a:pPr>
              <a:t>2018</a:t>
            </a:fld>
            <a:endParaRPr lang="en-US" sz="1100" noProof="0">
              <a:latin typeface="Arial" panose="020B0604020202020204" pitchFamily="34" charset="0"/>
              <a:cs typeface="+mn-cs"/>
              <a:sym typeface="Arial" panose="020B0604020202020204" pitchFamily="34" charset="0"/>
            </a:endParaRPr>
          </a:p>
        </p:txBody>
      </p:sp>
      <p:sp>
        <p:nvSpPr>
          <p:cNvPr id="474" name="Text Placeholder 18">
            <a:extLst>
              <a:ext uri="{FF2B5EF4-FFF2-40B4-BE49-F238E27FC236}">
                <a16:creationId xmlns:a16="http://schemas.microsoft.com/office/drawing/2014/main" id="{3D0789A3-CF86-7376-6A17-04FFC5126621}"/>
              </a:ext>
            </a:extLst>
          </p:cNvPr>
          <p:cNvSpPr>
            <a:spLocks noGrp="1"/>
          </p:cNvSpPr>
          <p:nvPr>
            <p:custDataLst>
              <p:tags r:id="rId36"/>
            </p:custDataLst>
          </p:nvPr>
        </p:nvSpPr>
        <p:spPr bwMode="gray">
          <a:xfrm>
            <a:off x="9399588" y="3070225"/>
            <a:ext cx="280988" cy="168275"/>
          </a:xfrm>
          <a:prstGeom prst="rect">
            <a:avLst/>
          </a:prstGeom>
          <a:solidFill>
            <a:srgbClr val="012169"/>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811B87F-55A7-4D3E-BB76-0D5BA8006E49}" type="datetime'1''''''''''''''4''''''''''8'''''''''''''''''''''''''''''">
              <a:rPr lang="en-US" altLang="en-US" sz="11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148</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28" name="Text Placeholder 18">
            <a:extLst>
              <a:ext uri="{FF2B5EF4-FFF2-40B4-BE49-F238E27FC236}">
                <a16:creationId xmlns:a16="http://schemas.microsoft.com/office/drawing/2014/main" id="{B9CC5187-519A-BDA9-E8C7-7C0E34A6F442}"/>
              </a:ext>
            </a:extLst>
          </p:cNvPr>
          <p:cNvSpPr>
            <a:spLocks noGrp="1"/>
          </p:cNvSpPr>
          <p:nvPr>
            <p:custDataLst>
              <p:tags r:id="rId37"/>
            </p:custDataLst>
          </p:nvPr>
        </p:nvSpPr>
        <p:spPr bwMode="auto">
          <a:xfrm>
            <a:off x="9377363" y="3633788"/>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C1521B2-1C62-4A40-A3E9-96E6D3C9DA74}" type="datetime'''''''''''''''''''2''''''''''0''''21'''''''''''''">
              <a:rPr lang="en-US" altLang="en-US" sz="1100" smtClean="0">
                <a:latin typeface="Arial" panose="020B0604020202020204" pitchFamily="34" charset="0"/>
                <a:cs typeface="+mn-cs"/>
              </a:rPr>
              <a:pPr lvl="0" algn="ctr">
                <a:spcBef>
                  <a:spcPct val="0"/>
                </a:spcBef>
                <a:spcAft>
                  <a:spcPct val="0"/>
                </a:spcAft>
              </a:pPr>
              <a:t>2021</a:t>
            </a:fld>
            <a:endParaRPr lang="en-US" sz="1100" noProof="0">
              <a:latin typeface="Arial" panose="020B0604020202020204" pitchFamily="34" charset="0"/>
              <a:cs typeface="+mn-cs"/>
              <a:sym typeface="Arial" panose="020B0604020202020204" pitchFamily="34" charset="0"/>
            </a:endParaRPr>
          </a:p>
        </p:txBody>
      </p:sp>
      <p:sp>
        <p:nvSpPr>
          <p:cNvPr id="30" name="Text Placeholder 18">
            <a:extLst>
              <a:ext uri="{FF2B5EF4-FFF2-40B4-BE49-F238E27FC236}">
                <a16:creationId xmlns:a16="http://schemas.microsoft.com/office/drawing/2014/main" id="{026C0B90-B765-C26F-CC61-453753EE208D}"/>
              </a:ext>
            </a:extLst>
          </p:cNvPr>
          <p:cNvSpPr>
            <a:spLocks noGrp="1"/>
          </p:cNvSpPr>
          <p:nvPr>
            <p:custDataLst>
              <p:tags r:id="rId38"/>
            </p:custDataLst>
          </p:nvPr>
        </p:nvSpPr>
        <p:spPr bwMode="auto">
          <a:xfrm>
            <a:off x="10671175" y="3633788"/>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8406E13-85B7-412C-9DD5-D4470CD671C8}" type="datetime'2''''''''0''''''2''''''''''''''''''''''''''''''''''4'''''">
              <a:rPr lang="en-US" altLang="en-US" sz="1100" smtClean="0">
                <a:latin typeface="Arial" panose="020B0604020202020204" pitchFamily="34" charset="0"/>
                <a:cs typeface="+mn-cs"/>
              </a:rPr>
              <a:pPr lvl="0" algn="ctr">
                <a:spcBef>
                  <a:spcPct val="0"/>
                </a:spcBef>
                <a:spcAft>
                  <a:spcPct val="0"/>
                </a:spcAft>
              </a:pPr>
              <a:t>2024</a:t>
            </a:fld>
            <a:endParaRPr lang="en-US" sz="1100" noProof="0">
              <a:latin typeface="Arial" panose="020B0604020202020204" pitchFamily="34" charset="0"/>
              <a:cs typeface="+mn-cs"/>
              <a:sym typeface="Arial" panose="020B0604020202020204" pitchFamily="34" charset="0"/>
            </a:endParaRPr>
          </a:p>
        </p:txBody>
      </p:sp>
      <p:sp>
        <p:nvSpPr>
          <p:cNvPr id="31" name="Text Placeholder 18">
            <a:extLst>
              <a:ext uri="{FF2B5EF4-FFF2-40B4-BE49-F238E27FC236}">
                <a16:creationId xmlns:a16="http://schemas.microsoft.com/office/drawing/2014/main" id="{23D2ACCF-8BD0-4C0D-DC21-4C8E9C0493C6}"/>
              </a:ext>
            </a:extLst>
          </p:cNvPr>
          <p:cNvSpPr>
            <a:spLocks noGrp="1"/>
          </p:cNvSpPr>
          <p:nvPr>
            <p:custDataLst>
              <p:tags r:id="rId39"/>
            </p:custDataLst>
          </p:nvPr>
        </p:nvSpPr>
        <p:spPr bwMode="gray">
          <a:xfrm>
            <a:off x="6751638" y="2674938"/>
            <a:ext cx="3968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019A490B-8D29-4E6A-9BCC-857472208AC3}" type="datetime'''''5'''',''''''''''''''''''''''0''0''''''''''''7'">
              <a:rPr lang="en-US" altLang="en-US" sz="1100" b="1" smtClean="0">
                <a:latin typeface="Arial" panose="020B0604020202020204" pitchFamily="34" charset="0"/>
                <a:cs typeface="+mn-cs"/>
              </a:rPr>
              <a:pPr lvl="0" algn="ctr">
                <a:spcBef>
                  <a:spcPct val="0"/>
                </a:spcBef>
                <a:spcAft>
                  <a:spcPct val="0"/>
                </a:spcAft>
              </a:pPr>
              <a:t>5,007</a:t>
            </a:fld>
            <a:endParaRPr lang="en-US" sz="1100" b="1" noProof="0">
              <a:latin typeface="Arial" panose="020B0604020202020204" pitchFamily="34" charset="0"/>
              <a:cs typeface="+mn-cs"/>
              <a:sym typeface="Arial" panose="020B0604020202020204" pitchFamily="34" charset="0"/>
            </a:endParaRPr>
          </a:p>
        </p:txBody>
      </p:sp>
      <p:sp>
        <p:nvSpPr>
          <p:cNvPr id="32" name="Text Placeholder 18">
            <a:extLst>
              <a:ext uri="{FF2B5EF4-FFF2-40B4-BE49-F238E27FC236}">
                <a16:creationId xmlns:a16="http://schemas.microsoft.com/office/drawing/2014/main" id="{DCC2DD97-803C-7F39-3EEC-BE0FB93029D8}"/>
              </a:ext>
            </a:extLst>
          </p:cNvPr>
          <p:cNvSpPr>
            <a:spLocks noGrp="1"/>
          </p:cNvSpPr>
          <p:nvPr>
            <p:custDataLst>
              <p:tags r:id="rId40"/>
            </p:custDataLst>
          </p:nvPr>
        </p:nvSpPr>
        <p:spPr bwMode="gray">
          <a:xfrm>
            <a:off x="8045450" y="2398713"/>
            <a:ext cx="3968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E7ADABC-A05C-4916-BE34-0C088F96A948}" type="datetime'''''''''''''''7'''''''',''0''''''''''''58'''''">
              <a:rPr lang="en-US" altLang="en-US" sz="1100" b="1" smtClean="0">
                <a:latin typeface="Arial" panose="020B0604020202020204" pitchFamily="34" charset="0"/>
                <a:cs typeface="+mn-cs"/>
              </a:rPr>
              <a:pPr lvl="0" algn="ctr">
                <a:spcBef>
                  <a:spcPct val="0"/>
                </a:spcBef>
                <a:spcAft>
                  <a:spcPct val="0"/>
                </a:spcAft>
              </a:pPr>
              <a:t>7,058</a:t>
            </a:fld>
            <a:endParaRPr lang="en-US" sz="1100" b="1" noProof="0">
              <a:latin typeface="Arial" panose="020B0604020202020204" pitchFamily="34" charset="0"/>
              <a:cs typeface="+mn-cs"/>
              <a:sym typeface="Arial" panose="020B0604020202020204" pitchFamily="34" charset="0"/>
            </a:endParaRPr>
          </a:p>
        </p:txBody>
      </p:sp>
      <p:sp>
        <p:nvSpPr>
          <p:cNvPr id="33" name="Text Placeholder 18">
            <a:extLst>
              <a:ext uri="{FF2B5EF4-FFF2-40B4-BE49-F238E27FC236}">
                <a16:creationId xmlns:a16="http://schemas.microsoft.com/office/drawing/2014/main" id="{D92FF50A-D490-29AE-81A3-E324881B574B}"/>
              </a:ext>
            </a:extLst>
          </p:cNvPr>
          <p:cNvSpPr>
            <a:spLocks noGrp="1"/>
          </p:cNvSpPr>
          <p:nvPr>
            <p:custDataLst>
              <p:tags r:id="rId41"/>
            </p:custDataLst>
          </p:nvPr>
        </p:nvSpPr>
        <p:spPr bwMode="gray">
          <a:xfrm>
            <a:off x="9340850" y="2157413"/>
            <a:ext cx="3968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D4BD1218-0BC3-4DD9-A5A4-0AC5BDC6A7DA}" type="datetime'''8,85''''''''''''''''''''''''1'''''''''''''''''''''''''">
              <a:rPr lang="en-US" altLang="en-US" sz="1100" b="1" smtClean="0">
                <a:latin typeface="Arial" panose="020B0604020202020204" pitchFamily="34" charset="0"/>
                <a:cs typeface="+mn-cs"/>
              </a:rPr>
              <a:pPr lvl="0" algn="ctr">
                <a:spcBef>
                  <a:spcPct val="0"/>
                </a:spcBef>
                <a:spcAft>
                  <a:spcPct val="0"/>
                </a:spcAft>
              </a:pPr>
              <a:t>8,851</a:t>
            </a:fld>
            <a:endParaRPr lang="en-US" sz="1100" b="1" noProof="0">
              <a:latin typeface="Arial" panose="020B0604020202020204" pitchFamily="34" charset="0"/>
              <a:cs typeface="+mn-cs"/>
              <a:sym typeface="Arial" panose="020B0604020202020204" pitchFamily="34" charset="0"/>
            </a:endParaRPr>
          </a:p>
        </p:txBody>
      </p:sp>
      <p:sp>
        <p:nvSpPr>
          <p:cNvPr id="34" name="Text Placeholder 18">
            <a:extLst>
              <a:ext uri="{FF2B5EF4-FFF2-40B4-BE49-F238E27FC236}">
                <a16:creationId xmlns:a16="http://schemas.microsoft.com/office/drawing/2014/main" id="{D09138B7-026C-9C12-0EF6-8385132211D8}"/>
              </a:ext>
            </a:extLst>
          </p:cNvPr>
          <p:cNvSpPr>
            <a:spLocks noGrp="1"/>
          </p:cNvSpPr>
          <p:nvPr>
            <p:custDataLst>
              <p:tags r:id="rId42"/>
            </p:custDataLst>
          </p:nvPr>
        </p:nvSpPr>
        <p:spPr bwMode="gray">
          <a:xfrm>
            <a:off x="10596563" y="1470025"/>
            <a:ext cx="47466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E3F9A8A-774A-49AF-91C7-78103670A44C}" type="datetime'1''''''''''''3'''''''''''''''''',''96''''''''''''7'''''">
              <a:rPr lang="en-US" altLang="en-US" sz="1100" b="1" smtClean="0">
                <a:latin typeface="Arial" panose="020B0604020202020204" pitchFamily="34" charset="0"/>
                <a:cs typeface="+mn-cs"/>
              </a:rPr>
              <a:pPr lvl="0" algn="ctr">
                <a:spcBef>
                  <a:spcPct val="0"/>
                </a:spcBef>
                <a:spcAft>
                  <a:spcPct val="0"/>
                </a:spcAft>
              </a:pPr>
              <a:t>13,967</a:t>
            </a:fld>
            <a:endParaRPr lang="en-US" sz="1100" b="1" noProof="0">
              <a:latin typeface="Arial" panose="020B0604020202020204" pitchFamily="34" charset="0"/>
              <a:cs typeface="+mn-cs"/>
              <a:sym typeface="Arial" panose="020B0604020202020204" pitchFamily="34" charset="0"/>
            </a:endParaRPr>
          </a:p>
        </p:txBody>
      </p:sp>
      <p:sp>
        <p:nvSpPr>
          <p:cNvPr id="95" name="Text Placeholder 18">
            <a:extLst>
              <a:ext uri="{FF2B5EF4-FFF2-40B4-BE49-F238E27FC236}">
                <a16:creationId xmlns:a16="http://schemas.microsoft.com/office/drawing/2014/main" id="{DE6AD773-101B-2FBE-00C6-5EC9E0CBA209}"/>
              </a:ext>
            </a:extLst>
          </p:cNvPr>
          <p:cNvSpPr>
            <a:spLocks noGrp="1"/>
          </p:cNvSpPr>
          <p:nvPr>
            <p:custDataLst>
              <p:tags r:id="rId43"/>
            </p:custDataLst>
          </p:nvPr>
        </p:nvSpPr>
        <p:spPr bwMode="gray">
          <a:xfrm>
            <a:off x="10669588" y="2274888"/>
            <a:ext cx="3270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3711298-8149-4327-BA42-1DCDF57A5C0E}" type="datetime'''''''''''4''''''''''''''''''''''''''7''''''''%'''''''">
              <a:rPr lang="en-US" altLang="en-US" sz="1100" smtClean="0">
                <a:latin typeface="Arial" panose="020B0604020202020204" pitchFamily="34" charset="0"/>
                <a:cs typeface="+mn-cs"/>
              </a:rPr>
              <a:pPr lvl="0" algn="ctr">
                <a:spcBef>
                  <a:spcPct val="0"/>
                </a:spcBef>
                <a:spcAft>
                  <a:spcPct val="0"/>
                </a:spcAft>
              </a:pPr>
              <a:t>47%</a:t>
            </a:fld>
            <a:endParaRPr lang="en-US" sz="1100" noProof="0">
              <a:latin typeface="Arial" panose="020B0604020202020204" pitchFamily="34" charset="0"/>
              <a:cs typeface="+mn-cs"/>
              <a:sym typeface="Arial" panose="020B0604020202020204" pitchFamily="34" charset="0"/>
            </a:endParaRPr>
          </a:p>
        </p:txBody>
      </p:sp>
      <p:sp>
        <p:nvSpPr>
          <p:cNvPr id="103" name="Text Placeholder 18">
            <a:extLst>
              <a:ext uri="{FF2B5EF4-FFF2-40B4-BE49-F238E27FC236}">
                <a16:creationId xmlns:a16="http://schemas.microsoft.com/office/drawing/2014/main" id="{60893286-83D5-A393-93DB-A7A0AE663EED}"/>
              </a:ext>
            </a:extLst>
          </p:cNvPr>
          <p:cNvSpPr>
            <a:spLocks noGrp="1"/>
          </p:cNvSpPr>
          <p:nvPr>
            <p:custDataLst>
              <p:tags r:id="rId44"/>
            </p:custDataLst>
          </p:nvPr>
        </p:nvSpPr>
        <p:spPr bwMode="gray">
          <a:xfrm>
            <a:off x="10669588" y="2890838"/>
            <a:ext cx="3270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8A4D030-2A52-4F06-ADE6-45256B827E40}" type="datetime'''''''''''1''''''9''''''''''''''''''''%'''''''''''''''''''''">
              <a:rPr lang="en-US" altLang="en-US" sz="1100" smtClean="0">
                <a:solidFill>
                  <a:schemeClr val="bg1"/>
                </a:solidFill>
                <a:latin typeface="Arial" panose="020B0604020202020204" pitchFamily="34" charset="0"/>
                <a:cs typeface="+mn-cs"/>
              </a:rPr>
              <a:pPr lvl="0" algn="ctr">
                <a:spcBef>
                  <a:spcPct val="0"/>
                </a:spcBef>
                <a:spcAft>
                  <a:spcPct val="0"/>
                </a:spcAft>
              </a:pPr>
              <a:t>19%</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109" name="Text Placeholder 18">
            <a:extLst>
              <a:ext uri="{FF2B5EF4-FFF2-40B4-BE49-F238E27FC236}">
                <a16:creationId xmlns:a16="http://schemas.microsoft.com/office/drawing/2014/main" id="{52BD1FA0-AAA1-0E6C-F70F-4B22FAA7AA05}"/>
              </a:ext>
            </a:extLst>
          </p:cNvPr>
          <p:cNvSpPr>
            <a:spLocks noGrp="1"/>
          </p:cNvSpPr>
          <p:nvPr>
            <p:custDataLst>
              <p:tags r:id="rId45"/>
            </p:custDataLst>
          </p:nvPr>
        </p:nvSpPr>
        <p:spPr bwMode="gray">
          <a:xfrm>
            <a:off x="10669588" y="3260725"/>
            <a:ext cx="3270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8DC8C2E-23A2-4DE0-B24E-95B95A294AA5}" type="datetime'''''''''''''''''''2''''''''''''''''''1''''%'''''">
              <a:rPr lang="en-US" altLang="en-US" sz="1100" smtClean="0">
                <a:latin typeface="Arial" panose="020B0604020202020204" pitchFamily="34" charset="0"/>
                <a:cs typeface="+mn-cs"/>
              </a:rPr>
              <a:pPr lvl="0" algn="ctr">
                <a:spcBef>
                  <a:spcPct val="0"/>
                </a:spcBef>
                <a:spcAft>
                  <a:spcPct val="0"/>
                </a:spcAft>
              </a:pPr>
              <a:t>21%</a:t>
            </a:fld>
            <a:endParaRPr lang="en-US" sz="1100" noProof="0">
              <a:latin typeface="Arial" panose="020B0604020202020204" pitchFamily="34" charset="0"/>
              <a:cs typeface="+mn-cs"/>
              <a:sym typeface="Arial" panose="020B0604020202020204" pitchFamily="34" charset="0"/>
            </a:endParaRPr>
          </a:p>
        </p:txBody>
      </p:sp>
      <p:sp>
        <p:nvSpPr>
          <p:cNvPr id="116" name="Text Placeholder 18">
            <a:extLst>
              <a:ext uri="{FF2B5EF4-FFF2-40B4-BE49-F238E27FC236}">
                <a16:creationId xmlns:a16="http://schemas.microsoft.com/office/drawing/2014/main" id="{320A4D19-69C7-6CFA-1A40-4475BAABD705}"/>
              </a:ext>
            </a:extLst>
          </p:cNvPr>
          <p:cNvSpPr>
            <a:spLocks noGrp="1"/>
          </p:cNvSpPr>
          <p:nvPr>
            <p:custDataLst>
              <p:tags r:id="rId46"/>
            </p:custDataLst>
          </p:nvPr>
        </p:nvSpPr>
        <p:spPr bwMode="gray">
          <a:xfrm>
            <a:off x="10669588" y="1706563"/>
            <a:ext cx="3270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EC2D08E-110B-4666-8D73-DABC1F6D95E2}" type="datetime'''''''''''''''''''''1''''''''''4''''''''''''''''%'''''''''">
              <a:rPr lang="en-US" altLang="en-US" sz="1100" smtClean="0">
                <a:effectLst/>
                <a:latin typeface="Arial" panose="020B0604020202020204" pitchFamily="34" charset="0"/>
                <a:cs typeface="+mn-cs"/>
              </a:rPr>
              <a:pPr lvl="0" algn="ctr">
                <a:spcBef>
                  <a:spcPct val="0"/>
                </a:spcBef>
                <a:spcAft>
                  <a:spcPct val="0"/>
                </a:spcAft>
              </a:pPr>
              <a:t>14%</a:t>
            </a:fld>
            <a:endParaRPr lang="en-US" sz="1100" noProof="0">
              <a:latin typeface="Arial" panose="020B0604020202020204" pitchFamily="34" charset="0"/>
              <a:cs typeface="+mn-cs"/>
              <a:sym typeface="Arial" panose="020B0604020202020204" pitchFamily="34" charset="0"/>
            </a:endParaRPr>
          </a:p>
        </p:txBody>
      </p:sp>
      <p:sp>
        <p:nvSpPr>
          <p:cNvPr id="122" name="Text Placeholder 18">
            <a:extLst>
              <a:ext uri="{FF2B5EF4-FFF2-40B4-BE49-F238E27FC236}">
                <a16:creationId xmlns:a16="http://schemas.microsoft.com/office/drawing/2014/main" id="{CA66F45F-EE30-BD8F-23C1-7EFE5CD58019}"/>
              </a:ext>
            </a:extLst>
          </p:cNvPr>
          <p:cNvSpPr>
            <a:spLocks noGrp="1"/>
          </p:cNvSpPr>
          <p:nvPr>
            <p:custDataLst>
              <p:tags r:id="rId47"/>
            </p:custDataLst>
          </p:nvPr>
        </p:nvSpPr>
        <p:spPr bwMode="gray">
          <a:xfrm>
            <a:off x="6786563" y="2876550"/>
            <a:ext cx="3270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00B34C3E-8E94-41CA-B601-C1F3547A38E3}" type="datetime'2''''''''''''''''''''7''%'''">
              <a:rPr lang="en-US" altLang="en-US" sz="1100" smtClean="0">
                <a:latin typeface="Arial" panose="020B0604020202020204" pitchFamily="34" charset="0"/>
                <a:cs typeface="+mn-cs"/>
              </a:rPr>
              <a:pPr lvl="0" algn="ctr">
                <a:spcBef>
                  <a:spcPct val="0"/>
                </a:spcBef>
                <a:spcAft>
                  <a:spcPct val="0"/>
                </a:spcAft>
              </a:pPr>
              <a:t>27%</a:t>
            </a:fld>
            <a:endParaRPr lang="en-US" sz="1100" noProof="0">
              <a:latin typeface="Arial" panose="020B0604020202020204" pitchFamily="34" charset="0"/>
              <a:cs typeface="+mn-cs"/>
              <a:sym typeface="Arial" panose="020B0604020202020204" pitchFamily="34" charset="0"/>
            </a:endParaRPr>
          </a:p>
        </p:txBody>
      </p:sp>
      <p:sp>
        <p:nvSpPr>
          <p:cNvPr id="141" name="Text Placeholder 18">
            <a:extLst>
              <a:ext uri="{FF2B5EF4-FFF2-40B4-BE49-F238E27FC236}">
                <a16:creationId xmlns:a16="http://schemas.microsoft.com/office/drawing/2014/main" id="{95BDCDDC-2071-22C2-85BB-63CD2D8E1FBC}"/>
              </a:ext>
            </a:extLst>
          </p:cNvPr>
          <p:cNvSpPr>
            <a:spLocks noGrp="1"/>
          </p:cNvSpPr>
          <p:nvPr>
            <p:custDataLst>
              <p:tags r:id="rId48"/>
            </p:custDataLst>
          </p:nvPr>
        </p:nvSpPr>
        <p:spPr bwMode="gray">
          <a:xfrm>
            <a:off x="6786563" y="3297238"/>
            <a:ext cx="3270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7FA1AA4-857A-4E53-BD53-66F74943D81E}" type="datetime'''''4''''''''''''''''''''''7''''''''%'''''''''''''''">
              <a:rPr lang="en-US" altLang="en-US" sz="1100" smtClean="0">
                <a:latin typeface="Arial" panose="020B0604020202020204" pitchFamily="34" charset="0"/>
                <a:cs typeface="+mn-cs"/>
              </a:rPr>
              <a:pPr lvl="0" algn="ctr">
                <a:spcBef>
                  <a:spcPct val="0"/>
                </a:spcBef>
                <a:spcAft>
                  <a:spcPct val="0"/>
                </a:spcAft>
              </a:pPr>
              <a:t>47%</a:t>
            </a:fld>
            <a:endParaRPr lang="en-US" sz="1100" noProof="0">
              <a:latin typeface="Arial" panose="020B0604020202020204" pitchFamily="34" charset="0"/>
              <a:cs typeface="+mn-cs"/>
              <a:sym typeface="Arial" panose="020B0604020202020204" pitchFamily="34" charset="0"/>
            </a:endParaRPr>
          </a:p>
        </p:txBody>
      </p:sp>
      <p:sp>
        <p:nvSpPr>
          <p:cNvPr id="150" name="Text Placeholder 18">
            <a:extLst>
              <a:ext uri="{FF2B5EF4-FFF2-40B4-BE49-F238E27FC236}">
                <a16:creationId xmlns:a16="http://schemas.microsoft.com/office/drawing/2014/main" id="{BA05D15B-570A-C250-24A8-566D0D21A0F2}"/>
              </a:ext>
            </a:extLst>
          </p:cNvPr>
          <p:cNvSpPr>
            <a:spLocks noGrp="1"/>
          </p:cNvSpPr>
          <p:nvPr>
            <p:custDataLst>
              <p:tags r:id="rId49"/>
            </p:custDataLst>
          </p:nvPr>
        </p:nvSpPr>
        <p:spPr bwMode="gray">
          <a:xfrm>
            <a:off x="7002463" y="3043238"/>
            <a:ext cx="3270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04803EE-9464-4092-B169-F2DA69EFC183}" type="datetime'''2''''''2''''''''''''''''''''''''''''''''''''''''''''''''''%'">
              <a:rPr lang="en-US" altLang="en-US" sz="1100" smtClean="0">
                <a:latin typeface="Arial" panose="020B0604020202020204" pitchFamily="34" charset="0"/>
                <a:cs typeface="+mn-cs"/>
              </a:rPr>
              <a:pPr lvl="0" algn="ctr">
                <a:spcBef>
                  <a:spcPct val="0"/>
                </a:spcBef>
                <a:spcAft>
                  <a:spcPct val="0"/>
                </a:spcAft>
              </a:pPr>
              <a:t>22%</a:t>
            </a:fld>
            <a:endParaRPr lang="en-US" sz="1100" noProof="0">
              <a:latin typeface="Arial" panose="020B0604020202020204" pitchFamily="34" charset="0"/>
              <a:cs typeface="+mn-cs"/>
              <a:sym typeface="Arial" panose="020B0604020202020204" pitchFamily="34" charset="0"/>
            </a:endParaRPr>
          </a:p>
        </p:txBody>
      </p:sp>
      <p:sp>
        <p:nvSpPr>
          <p:cNvPr id="40" name="Rectangle 39">
            <a:extLst>
              <a:ext uri="{FF2B5EF4-FFF2-40B4-BE49-F238E27FC236}">
                <a16:creationId xmlns:a16="http://schemas.microsoft.com/office/drawing/2014/main" id="{1787769E-0D1A-7CE3-57FD-50FD826EA998}"/>
              </a:ext>
            </a:extLst>
          </p:cNvPr>
          <p:cNvSpPr/>
          <p:nvPr>
            <p:custDataLst>
              <p:tags r:id="rId50"/>
            </p:custDataLst>
          </p:nvPr>
        </p:nvSpPr>
        <p:spPr bwMode="auto">
          <a:xfrm>
            <a:off x="6362700" y="1474788"/>
            <a:ext cx="214313" cy="160338"/>
          </a:xfrm>
          <a:prstGeom prst="rect">
            <a:avLst/>
          </a:prstGeom>
          <a:solidFill>
            <a:schemeClr val="accent1"/>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1" name="Rectangle 40">
            <a:extLst>
              <a:ext uri="{FF2B5EF4-FFF2-40B4-BE49-F238E27FC236}">
                <a16:creationId xmlns:a16="http://schemas.microsoft.com/office/drawing/2014/main" id="{AD1A7D7F-3B47-0A46-30F7-01A9E7E0073F}"/>
              </a:ext>
            </a:extLst>
          </p:cNvPr>
          <p:cNvSpPr/>
          <p:nvPr>
            <p:custDataLst>
              <p:tags r:id="rId51"/>
            </p:custDataLst>
          </p:nvPr>
        </p:nvSpPr>
        <p:spPr bwMode="auto">
          <a:xfrm>
            <a:off x="6362700" y="1708150"/>
            <a:ext cx="214313" cy="160338"/>
          </a:xfrm>
          <a:prstGeom prst="rect">
            <a:avLst/>
          </a:prstGeom>
          <a:solidFill>
            <a:srgbClr val="00ABAB"/>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3" name="Rectangle 42">
            <a:extLst>
              <a:ext uri="{FF2B5EF4-FFF2-40B4-BE49-F238E27FC236}">
                <a16:creationId xmlns:a16="http://schemas.microsoft.com/office/drawing/2014/main" id="{549BBDA8-399F-3F1D-F9E9-F588976FBCCA}"/>
              </a:ext>
            </a:extLst>
          </p:cNvPr>
          <p:cNvSpPr/>
          <p:nvPr>
            <p:custDataLst>
              <p:tags r:id="rId52"/>
            </p:custDataLst>
          </p:nvPr>
        </p:nvSpPr>
        <p:spPr bwMode="auto">
          <a:xfrm>
            <a:off x="6362700" y="1941513"/>
            <a:ext cx="214313" cy="160338"/>
          </a:xfrm>
          <a:prstGeom prst="rect">
            <a:avLst/>
          </a:prstGeom>
          <a:solidFill>
            <a:srgbClr val="01216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4" name="Rectangle 43">
            <a:extLst>
              <a:ext uri="{FF2B5EF4-FFF2-40B4-BE49-F238E27FC236}">
                <a16:creationId xmlns:a16="http://schemas.microsoft.com/office/drawing/2014/main" id="{5F1C3328-C40D-3D84-A0AA-5B33C57D8E5A}"/>
              </a:ext>
            </a:extLst>
          </p:cNvPr>
          <p:cNvSpPr/>
          <p:nvPr>
            <p:custDataLst>
              <p:tags r:id="rId53"/>
            </p:custDataLst>
          </p:nvPr>
        </p:nvSpPr>
        <p:spPr bwMode="auto">
          <a:xfrm>
            <a:off x="6362700" y="2174875"/>
            <a:ext cx="214313" cy="160338"/>
          </a:xfrm>
          <a:prstGeom prst="rect">
            <a:avLst/>
          </a:prstGeom>
          <a:solidFill>
            <a:schemeClr val="hlink"/>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8" name="Text Placeholder 18">
            <a:extLst>
              <a:ext uri="{FF2B5EF4-FFF2-40B4-BE49-F238E27FC236}">
                <a16:creationId xmlns:a16="http://schemas.microsoft.com/office/drawing/2014/main" id="{980D374B-FBCF-0A50-2920-8239EB558811}"/>
              </a:ext>
            </a:extLst>
          </p:cNvPr>
          <p:cNvSpPr>
            <a:spLocks noGrp="1"/>
          </p:cNvSpPr>
          <p:nvPr>
            <p:custDataLst>
              <p:tags r:id="rId54"/>
            </p:custDataLst>
          </p:nvPr>
        </p:nvSpPr>
        <p:spPr bwMode="auto">
          <a:xfrm>
            <a:off x="6627813" y="1470025"/>
            <a:ext cx="157956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559B8A78-C06E-4673-8D96-5D755ECF921B}" type="datetime'''Power'''''''' P''''urc''''''ha''s''''e'''' ''''- I''nd''ia'">
              <a:rPr lang="en-US" altLang="en-US" sz="1200" smtClean="0">
                <a:latin typeface="Arial" panose="020B0604020202020204" pitchFamily="34" charset="0"/>
                <a:cs typeface="+mn-cs"/>
              </a:rPr>
              <a:pPr lvl="0">
                <a:spcBef>
                  <a:spcPct val="0"/>
                </a:spcBef>
                <a:spcAft>
                  <a:spcPct val="0"/>
                </a:spcAft>
              </a:pPr>
              <a:t>Power Purchase - India</a:t>
            </a:fld>
            <a:endParaRPr lang="en-US" sz="1200" noProof="0">
              <a:latin typeface="Arial" panose="020B0604020202020204" pitchFamily="34" charset="0"/>
              <a:cs typeface="+mn-cs"/>
              <a:sym typeface="Arial" panose="020B0604020202020204" pitchFamily="34" charset="0"/>
            </a:endParaRPr>
          </a:p>
        </p:txBody>
      </p:sp>
      <p:sp>
        <p:nvSpPr>
          <p:cNvPr id="49" name="Text Placeholder 18">
            <a:extLst>
              <a:ext uri="{FF2B5EF4-FFF2-40B4-BE49-F238E27FC236}">
                <a16:creationId xmlns:a16="http://schemas.microsoft.com/office/drawing/2014/main" id="{C78C0DD1-55E4-7E55-FB2E-41BCF2EFC461}"/>
              </a:ext>
            </a:extLst>
          </p:cNvPr>
          <p:cNvSpPr>
            <a:spLocks noGrp="1"/>
          </p:cNvSpPr>
          <p:nvPr>
            <p:custDataLst>
              <p:tags r:id="rId55"/>
            </p:custDataLst>
          </p:nvPr>
        </p:nvSpPr>
        <p:spPr bwMode="auto">
          <a:xfrm>
            <a:off x="6627813" y="1703388"/>
            <a:ext cx="14970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229E19A7-15D1-41AD-8D73-2A2B98AEA142}" type="datetime'P''ow''''''er ''Pu''''r''c''h''''''''''as''e'' -'' I''PP'''">
              <a:rPr lang="en-US" altLang="en-US" sz="1200" smtClean="0">
                <a:latin typeface="Arial" panose="020B0604020202020204" pitchFamily="34" charset="0"/>
                <a:cs typeface="+mn-cs"/>
              </a:rPr>
              <a:pPr lvl="0">
                <a:spcBef>
                  <a:spcPct val="0"/>
                </a:spcBef>
                <a:spcAft>
                  <a:spcPct val="0"/>
                </a:spcAft>
              </a:pPr>
              <a:t>Power Purchase - IPP</a:t>
            </a:fld>
            <a:endParaRPr lang="en-US" sz="1200" noProof="0">
              <a:latin typeface="Arial" panose="020B0604020202020204" pitchFamily="34" charset="0"/>
              <a:cs typeface="+mn-cs"/>
              <a:sym typeface="Arial" panose="020B0604020202020204" pitchFamily="34" charset="0"/>
            </a:endParaRPr>
          </a:p>
        </p:txBody>
      </p:sp>
      <p:sp>
        <p:nvSpPr>
          <p:cNvPr id="50" name="Text Placeholder 18">
            <a:extLst>
              <a:ext uri="{FF2B5EF4-FFF2-40B4-BE49-F238E27FC236}">
                <a16:creationId xmlns:a16="http://schemas.microsoft.com/office/drawing/2014/main" id="{335939FC-B60C-C005-5566-D86DF11DD911}"/>
              </a:ext>
            </a:extLst>
          </p:cNvPr>
          <p:cNvSpPr>
            <a:spLocks noGrp="1"/>
          </p:cNvSpPr>
          <p:nvPr>
            <p:custDataLst>
              <p:tags r:id="rId56"/>
            </p:custDataLst>
          </p:nvPr>
        </p:nvSpPr>
        <p:spPr bwMode="auto">
          <a:xfrm>
            <a:off x="6627813" y="1936750"/>
            <a:ext cx="1868488"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131AD1D3-EA30-41E3-A1C7-2ECFF7CE0538}" type="datetime'''''''''''Powe''''r P''ur''c''h''as''e ''-'''' ''''NEA Sub'''">
              <a:rPr lang="en-US" altLang="en-US" sz="1200" smtClean="0">
                <a:latin typeface="Arial" panose="020B0604020202020204" pitchFamily="34" charset="0"/>
                <a:cs typeface="+mn-cs"/>
              </a:rPr>
              <a:pPr lvl="0">
                <a:spcBef>
                  <a:spcPct val="0"/>
                </a:spcBef>
                <a:spcAft>
                  <a:spcPct val="0"/>
                </a:spcAft>
              </a:pPr>
              <a:t>Power Purchase - NEA Sub</a:t>
            </a:fld>
            <a:endParaRPr lang="en-US" sz="1200" noProof="0">
              <a:latin typeface="Arial" panose="020B0604020202020204" pitchFamily="34" charset="0"/>
              <a:cs typeface="+mn-cs"/>
              <a:sym typeface="Arial" panose="020B0604020202020204" pitchFamily="34" charset="0"/>
            </a:endParaRPr>
          </a:p>
        </p:txBody>
      </p:sp>
      <p:sp>
        <p:nvSpPr>
          <p:cNvPr id="51" name="Text Placeholder 18">
            <a:extLst>
              <a:ext uri="{FF2B5EF4-FFF2-40B4-BE49-F238E27FC236}">
                <a16:creationId xmlns:a16="http://schemas.microsoft.com/office/drawing/2014/main" id="{EFBF1667-16CB-B4BB-5F7B-E0B8120967ED}"/>
              </a:ext>
            </a:extLst>
          </p:cNvPr>
          <p:cNvSpPr>
            <a:spLocks noGrp="1"/>
          </p:cNvSpPr>
          <p:nvPr>
            <p:custDataLst>
              <p:tags r:id="rId57"/>
            </p:custDataLst>
          </p:nvPr>
        </p:nvSpPr>
        <p:spPr bwMode="auto">
          <a:xfrm>
            <a:off x="6627813" y="2170113"/>
            <a:ext cx="14541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5333AB3B-73A1-4513-9369-E6381272D5E3}" type="datetime'''''''NE''A'' ''''''''''O''wn'' G''''''en''''e''''''ratio''n'">
              <a:rPr lang="en-US" altLang="en-US" sz="1200" smtClean="0">
                <a:latin typeface="Arial" panose="020B0604020202020204" pitchFamily="34" charset="0"/>
                <a:cs typeface="+mn-cs"/>
              </a:rPr>
              <a:pPr lvl="0">
                <a:spcBef>
                  <a:spcPct val="0"/>
                </a:spcBef>
                <a:spcAft>
                  <a:spcPct val="0"/>
                </a:spcAft>
              </a:pPr>
              <a:t>NEA Own Generation</a:t>
            </a:fld>
            <a:endParaRPr lang="en-US" sz="1200" noProof="0">
              <a:latin typeface="Arial" panose="020B0604020202020204" pitchFamily="34" charset="0"/>
              <a:cs typeface="+mn-cs"/>
              <a:sym typeface="Arial" panose="020B0604020202020204" pitchFamily="34" charset="0"/>
            </a:endParaRPr>
          </a:p>
        </p:txBody>
      </p:sp>
      <p:graphicFrame>
        <p:nvGraphicFramePr>
          <p:cNvPr id="4" name="Table 3">
            <a:extLst>
              <a:ext uri="{FF2B5EF4-FFF2-40B4-BE49-F238E27FC236}">
                <a16:creationId xmlns:a16="http://schemas.microsoft.com/office/drawing/2014/main" id="{298541E0-E282-1187-752A-02CDAA2A540D}"/>
              </a:ext>
            </a:extLst>
          </p:cNvPr>
          <p:cNvGraphicFramePr>
            <a:graphicFrameLocks noGrp="1"/>
          </p:cNvGraphicFramePr>
          <p:nvPr>
            <p:extLst>
              <p:ext uri="{D42A27DB-BD31-4B8C-83A1-F6EECF244321}">
                <p14:modId xmlns:p14="http://schemas.microsoft.com/office/powerpoint/2010/main" val="1317704456"/>
              </p:ext>
            </p:extLst>
          </p:nvPr>
        </p:nvGraphicFramePr>
        <p:xfrm>
          <a:off x="7002463" y="4054475"/>
          <a:ext cx="4719512" cy="2420611"/>
        </p:xfrm>
        <a:graphic>
          <a:graphicData uri="http://schemas.openxmlformats.org/drawingml/2006/table">
            <a:tbl>
              <a:tblPr firstRow="1" bandRow="1">
                <a:tableStyleId>{5C22544A-7EE6-4342-B048-85BDC9FD1C3A}</a:tableStyleId>
              </a:tblPr>
              <a:tblGrid>
                <a:gridCol w="1489691">
                  <a:extLst>
                    <a:ext uri="{9D8B030D-6E8A-4147-A177-3AD203B41FA5}">
                      <a16:colId xmlns:a16="http://schemas.microsoft.com/office/drawing/2014/main" val="1601999352"/>
                    </a:ext>
                  </a:extLst>
                </a:gridCol>
                <a:gridCol w="3229821">
                  <a:extLst>
                    <a:ext uri="{9D8B030D-6E8A-4147-A177-3AD203B41FA5}">
                      <a16:colId xmlns:a16="http://schemas.microsoft.com/office/drawing/2014/main" val="2515607737"/>
                    </a:ext>
                  </a:extLst>
                </a:gridCol>
              </a:tblGrid>
              <a:tr h="294186">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2110862">
                <a:tc gridSpan="2">
                  <a:txBody>
                    <a:bodyPr/>
                    <a:lstStyle/>
                    <a:p>
                      <a:pPr marL="169863" indent="-169863" algn="just" defTabSz="914335" rtl="0" eaLnBrk="1" latinLnBrk="0" hangingPunct="1">
                        <a:lnSpc>
                          <a:spcPct val="125000"/>
                        </a:lnSpc>
                        <a:buFont typeface="Arial" panose="020B0604020202020204" pitchFamily="34" charset="0"/>
                        <a:buChar char="•"/>
                      </a:pPr>
                      <a:r>
                        <a:rPr lang="en-US" sz="1200" kern="1200">
                          <a:solidFill>
                            <a:schemeClr val="dk1"/>
                          </a:solidFill>
                          <a:latin typeface="Arial" panose="020B0604020202020204" pitchFamily="34" charset="0"/>
                          <a:ea typeface="+mn-ea"/>
                          <a:cs typeface="Arial" panose="020B0604020202020204" pitchFamily="34" charset="0"/>
                        </a:rPr>
                        <a:t>Hydro dominant IC mix has increased with ~</a:t>
                      </a:r>
                      <a:r>
                        <a:rPr lang="en-US" sz="1200" b="1" kern="1200">
                          <a:solidFill>
                            <a:schemeClr val="dk1"/>
                          </a:solidFill>
                          <a:latin typeface="Arial" panose="020B0604020202020204" pitchFamily="34" charset="0"/>
                          <a:ea typeface="+mn-ea"/>
                          <a:cs typeface="Arial" panose="020B0604020202020204" pitchFamily="34" charset="0"/>
                        </a:rPr>
                        <a:t>17% CAGR between 2015-24</a:t>
                      </a:r>
                      <a:r>
                        <a:rPr lang="en-US" sz="1200" kern="1200">
                          <a:solidFill>
                            <a:schemeClr val="dk1"/>
                          </a:solidFill>
                          <a:latin typeface="Arial" panose="020B0604020202020204" pitchFamily="34" charset="0"/>
                          <a:ea typeface="+mn-ea"/>
                          <a:cs typeface="Arial" panose="020B0604020202020204" pitchFamily="34" charset="0"/>
                        </a:rPr>
                        <a:t>. Rapid surge from 2021 onwards (30%+ CAGR). </a:t>
                      </a:r>
                      <a:r>
                        <a:rPr lang="en-US" sz="1200" b="1" kern="1200">
                          <a:solidFill>
                            <a:schemeClr val="dk1"/>
                          </a:solidFill>
                          <a:latin typeface="Arial" panose="020B0604020202020204" pitchFamily="34" charset="0"/>
                          <a:ea typeface="+mn-ea"/>
                          <a:cs typeface="Arial" panose="020B0604020202020204" pitchFamily="34" charset="0"/>
                        </a:rPr>
                        <a:t>493 MW projects from NEA subsidiaries </a:t>
                      </a:r>
                    </a:p>
                    <a:p>
                      <a:pPr marL="169863" indent="-169863" algn="just" defTabSz="914335" rtl="0" eaLnBrk="1" latinLnBrk="0" hangingPunct="1">
                        <a:lnSpc>
                          <a:spcPct val="125000"/>
                        </a:lnSpc>
                        <a:buFont typeface="Arial" panose="020B0604020202020204" pitchFamily="34" charset="0"/>
                        <a:buChar char="•"/>
                      </a:pPr>
                      <a:r>
                        <a:rPr lang="en-US" sz="1200" kern="1200">
                          <a:solidFill>
                            <a:schemeClr val="dk1"/>
                          </a:solidFill>
                          <a:latin typeface="Arial" panose="020B0604020202020204" pitchFamily="34" charset="0"/>
                          <a:ea typeface="+mn-ea"/>
                          <a:cs typeface="Arial" panose="020B0604020202020204" pitchFamily="34" charset="0"/>
                        </a:rPr>
                        <a:t>Over the years, IC mix witnessed constant 53.1MW thermal projects indicating inclination towards hydro and clean solutions </a:t>
                      </a:r>
                    </a:p>
                    <a:p>
                      <a:pPr marL="169863" indent="-169863" algn="just" defTabSz="914335" rtl="0" eaLnBrk="1" latinLnBrk="0" hangingPunct="1">
                        <a:lnSpc>
                          <a:spcPct val="125000"/>
                        </a:lnSpc>
                        <a:buFont typeface="Arial" panose="020B0604020202020204" pitchFamily="34" charset="0"/>
                        <a:buChar char="•"/>
                      </a:pPr>
                      <a:r>
                        <a:rPr lang="en-US" sz="1200" kern="1200">
                          <a:solidFill>
                            <a:schemeClr val="dk1"/>
                          </a:solidFill>
                          <a:latin typeface="Arial" panose="020B0604020202020204" pitchFamily="34" charset="0"/>
                          <a:ea typeface="+mn-ea"/>
                          <a:cs typeface="Arial" panose="020B0604020202020204" pitchFamily="34" charset="0"/>
                        </a:rPr>
                        <a:t>Additional to hydro projects, solar based projects witnessed a surge from 1 MW in 2021 to ~100 MW in 2024 </a:t>
                      </a:r>
                    </a:p>
                    <a:p>
                      <a:pPr marL="169863" indent="-169863" algn="just" defTabSz="914335" rtl="0" eaLnBrk="1" latinLnBrk="0" hangingPunct="1">
                        <a:lnSpc>
                          <a:spcPct val="125000"/>
                        </a:lnSpc>
                        <a:buFont typeface="Arial" panose="020B0604020202020204" pitchFamily="34" charset="0"/>
                        <a:buChar char="•"/>
                      </a:pPr>
                      <a:r>
                        <a:rPr lang="en-US" sz="1200" kern="1200">
                          <a:solidFill>
                            <a:schemeClr val="dk1"/>
                          </a:solidFill>
                          <a:latin typeface="Arial" panose="020B0604020202020204" pitchFamily="34" charset="0"/>
                          <a:ea typeface="+mn-ea"/>
                          <a:cs typeface="Arial" panose="020B0604020202020204" pitchFamily="34" charset="0"/>
                        </a:rPr>
                        <a:t>With increased purchase from IPPs, </a:t>
                      </a:r>
                      <a:r>
                        <a:rPr lang="en-US" sz="1200" b="1" kern="1200">
                          <a:solidFill>
                            <a:schemeClr val="dk1"/>
                          </a:solidFill>
                          <a:latin typeface="Arial" panose="020B0604020202020204" pitchFamily="34" charset="0"/>
                          <a:ea typeface="+mn-ea"/>
                          <a:cs typeface="Arial" panose="020B0604020202020204" pitchFamily="34" charset="0"/>
                        </a:rPr>
                        <a:t>power purchase from India has declined from 2021 onwards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sp>
        <p:nvSpPr>
          <p:cNvPr id="156" name="Rectangle 155">
            <a:extLst>
              <a:ext uri="{FF2B5EF4-FFF2-40B4-BE49-F238E27FC236}">
                <a16:creationId xmlns:a16="http://schemas.microsoft.com/office/drawing/2014/main" id="{8781A06C-9867-22E4-4B57-D304CB939E1B}"/>
              </a:ext>
            </a:extLst>
          </p:cNvPr>
          <p:cNvSpPr/>
          <p:nvPr/>
        </p:nvSpPr>
        <p:spPr bwMode="gray">
          <a:xfrm>
            <a:off x="516590" y="4046539"/>
            <a:ext cx="6342998" cy="242061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157" name="TextBox 156">
            <a:extLst>
              <a:ext uri="{FF2B5EF4-FFF2-40B4-BE49-F238E27FC236}">
                <a16:creationId xmlns:a16="http://schemas.microsoft.com/office/drawing/2014/main" id="{730387BF-269F-B0AE-2975-9805DE13456A}"/>
              </a:ext>
            </a:extLst>
          </p:cNvPr>
          <p:cNvSpPr txBox="1"/>
          <p:nvPr/>
        </p:nvSpPr>
        <p:spPr>
          <a:xfrm>
            <a:off x="597944" y="4086949"/>
            <a:ext cx="2119856" cy="276999"/>
          </a:xfrm>
          <a:prstGeom prst="rect">
            <a:avLst/>
          </a:prstGeom>
          <a:solidFill>
            <a:schemeClr val="accent4"/>
          </a:solid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NEA subsidiary companies </a:t>
            </a:r>
          </a:p>
        </p:txBody>
      </p:sp>
      <p:graphicFrame>
        <p:nvGraphicFramePr>
          <p:cNvPr id="164" name="Table 163">
            <a:extLst>
              <a:ext uri="{FF2B5EF4-FFF2-40B4-BE49-F238E27FC236}">
                <a16:creationId xmlns:a16="http://schemas.microsoft.com/office/drawing/2014/main" id="{B3236B87-6326-143A-63DE-C0F750C10B98}"/>
              </a:ext>
            </a:extLst>
          </p:cNvPr>
          <p:cNvGraphicFramePr>
            <a:graphicFrameLocks noGrp="1"/>
          </p:cNvGraphicFramePr>
          <p:nvPr>
            <p:extLst>
              <p:ext uri="{D42A27DB-BD31-4B8C-83A1-F6EECF244321}">
                <p14:modId xmlns:p14="http://schemas.microsoft.com/office/powerpoint/2010/main" val="2345320206"/>
              </p:ext>
            </p:extLst>
          </p:nvPr>
        </p:nvGraphicFramePr>
        <p:xfrm>
          <a:off x="597944" y="4414587"/>
          <a:ext cx="6096000" cy="1920240"/>
        </p:xfrm>
        <a:graphic>
          <a:graphicData uri="http://schemas.openxmlformats.org/drawingml/2006/table">
            <a:tbl>
              <a:tblPr firstRow="1" bandRow="1">
                <a:tableStyleId>{5C22544A-7EE6-4342-B048-85BDC9FD1C3A}</a:tableStyleId>
              </a:tblPr>
              <a:tblGrid>
                <a:gridCol w="2833153">
                  <a:extLst>
                    <a:ext uri="{9D8B030D-6E8A-4147-A177-3AD203B41FA5}">
                      <a16:colId xmlns:a16="http://schemas.microsoft.com/office/drawing/2014/main" val="4019268134"/>
                    </a:ext>
                  </a:extLst>
                </a:gridCol>
                <a:gridCol w="1392573">
                  <a:extLst>
                    <a:ext uri="{9D8B030D-6E8A-4147-A177-3AD203B41FA5}">
                      <a16:colId xmlns:a16="http://schemas.microsoft.com/office/drawing/2014/main" val="1837990360"/>
                    </a:ext>
                  </a:extLst>
                </a:gridCol>
                <a:gridCol w="848997">
                  <a:extLst>
                    <a:ext uri="{9D8B030D-6E8A-4147-A177-3AD203B41FA5}">
                      <a16:colId xmlns:a16="http://schemas.microsoft.com/office/drawing/2014/main" val="2860134227"/>
                    </a:ext>
                  </a:extLst>
                </a:gridCol>
                <a:gridCol w="1021277">
                  <a:extLst>
                    <a:ext uri="{9D8B030D-6E8A-4147-A177-3AD203B41FA5}">
                      <a16:colId xmlns:a16="http://schemas.microsoft.com/office/drawing/2014/main" val="3887329648"/>
                    </a:ext>
                  </a:extLst>
                </a:gridCol>
              </a:tblGrid>
              <a:tr h="236133">
                <a:tc>
                  <a:txBody>
                    <a:bodyPr/>
                    <a:lstStyle/>
                    <a:p>
                      <a:r>
                        <a:rPr lang="en-US" sz="1200">
                          <a:solidFill>
                            <a:schemeClr val="tx1"/>
                          </a:solidFill>
                          <a:latin typeface="Arial" panose="020B0604020202020204" pitchFamily="34" charset="0"/>
                          <a:cs typeface="Arial" panose="020B0604020202020204" pitchFamily="34" charset="0"/>
                        </a:rPr>
                        <a:t>Project Developer / Company</a:t>
                      </a:r>
                    </a:p>
                  </a:txBody>
                  <a:tcPr anchor="ctr">
                    <a:lnL w="12700" cmpd="sng">
                      <a:noFill/>
                    </a:lnL>
                    <a:lnR w="6350" cap="flat" cmpd="sng" algn="ctr">
                      <a:solidFill>
                        <a:schemeClr val="tx1"/>
                      </a:solidFill>
                      <a:prstDash val="solid"/>
                      <a:round/>
                      <a:headEnd type="none" w="med" len="med"/>
                      <a:tailEnd type="none" w="med" len="med"/>
                    </a:lnR>
                    <a:lnT w="12700" cmpd="sng">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US" sz="1200">
                          <a:solidFill>
                            <a:schemeClr val="tx1"/>
                          </a:solidFill>
                          <a:latin typeface="Arial" panose="020B0604020202020204" pitchFamily="34" charset="0"/>
                          <a:cs typeface="Arial" panose="020B0604020202020204" pitchFamily="34" charset="0"/>
                        </a:rPr>
                        <a:t>Project </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mpd="sng">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200">
                          <a:solidFill>
                            <a:schemeClr val="tx1"/>
                          </a:solidFill>
                          <a:latin typeface="Arial" panose="020B0604020202020204" pitchFamily="34" charset="0"/>
                          <a:cs typeface="Arial" panose="020B0604020202020204" pitchFamily="34" charset="0"/>
                        </a:rPr>
                        <a:t>IC (MW)</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mpd="sng">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200">
                          <a:solidFill>
                            <a:schemeClr val="tx1"/>
                          </a:solidFill>
                          <a:latin typeface="Arial" panose="020B0604020202020204" pitchFamily="34" charset="0"/>
                          <a:cs typeface="Arial" panose="020B0604020202020204" pitchFamily="34" charset="0"/>
                        </a:rPr>
                        <a:t>NEA Stake</a:t>
                      </a:r>
                    </a:p>
                  </a:txBody>
                  <a:tcPr anchor="ctr">
                    <a:lnL w="6350" cap="flat" cmpd="sng" algn="ctr">
                      <a:solidFill>
                        <a:schemeClr val="tx1"/>
                      </a:solidFill>
                      <a:prstDash val="solid"/>
                      <a:round/>
                      <a:headEnd type="none" w="med" len="med"/>
                      <a:tailEnd type="none" w="med" len="med"/>
                    </a:lnL>
                    <a:lnR w="12700" cmpd="sng">
                      <a:noFill/>
                    </a:lnR>
                    <a:lnT w="12700" cmpd="sng">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43159674"/>
                  </a:ext>
                </a:extLst>
              </a:tr>
              <a:tr h="236133">
                <a:tc>
                  <a:txBody>
                    <a:bodyPr/>
                    <a:lstStyle/>
                    <a:p>
                      <a:r>
                        <a:rPr lang="en-US" sz="1200">
                          <a:solidFill>
                            <a:schemeClr val="tx1"/>
                          </a:solidFill>
                          <a:latin typeface="Arial" panose="020B0604020202020204" pitchFamily="34" charset="0"/>
                          <a:cs typeface="Arial" panose="020B0604020202020204" pitchFamily="34" charset="0"/>
                        </a:rPr>
                        <a:t>Chilime Hydropower Company Limited</a:t>
                      </a:r>
                    </a:p>
                  </a:txBody>
                  <a:tcPr anchor="ctr">
                    <a:lnL w="12700" cmpd="sng">
                      <a:noFill/>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US" sz="1200">
                          <a:solidFill>
                            <a:schemeClr val="tx1"/>
                          </a:solidFill>
                          <a:latin typeface="Arial" panose="020B0604020202020204" pitchFamily="34" charset="0"/>
                          <a:cs typeface="Arial" panose="020B0604020202020204" pitchFamily="34" charset="0"/>
                        </a:rPr>
                        <a:t>Chilime</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200">
                          <a:solidFill>
                            <a:schemeClr val="tx1"/>
                          </a:solidFill>
                          <a:latin typeface="Arial" panose="020B0604020202020204" pitchFamily="34" charset="0"/>
                          <a:cs typeface="Arial" panose="020B0604020202020204" pitchFamily="34" charset="0"/>
                        </a:rPr>
                        <a:t>22.1</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200">
                          <a:solidFill>
                            <a:schemeClr val="tx1"/>
                          </a:solidFill>
                          <a:latin typeface="Arial" panose="020B0604020202020204" pitchFamily="34" charset="0"/>
                          <a:cs typeface="Arial" panose="020B0604020202020204" pitchFamily="34" charset="0"/>
                        </a:rPr>
                        <a:t>51%</a:t>
                      </a:r>
                    </a:p>
                  </a:txBody>
                  <a:tcPr anchor="ctr">
                    <a:lnL w="6350" cap="flat" cmpd="sng" algn="ctr">
                      <a:solidFill>
                        <a:schemeClr val="tx1"/>
                      </a:solidFill>
                      <a:prstDash val="solid"/>
                      <a:round/>
                      <a:headEnd type="none" w="med" len="med"/>
                      <a:tailEnd type="none" w="med" len="med"/>
                    </a:lnL>
                    <a:lnR w="12700" cmpd="sng">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2816062"/>
                  </a:ext>
                </a:extLst>
              </a:tr>
              <a:tr h="236133">
                <a:tc>
                  <a:txBody>
                    <a:bodyPr/>
                    <a:lstStyle/>
                    <a:p>
                      <a:r>
                        <a:rPr lang="en-US" sz="1200">
                          <a:solidFill>
                            <a:schemeClr val="tx1"/>
                          </a:solidFill>
                          <a:latin typeface="Arial" panose="020B0604020202020204" pitchFamily="34" charset="0"/>
                          <a:cs typeface="Arial" panose="020B0604020202020204" pitchFamily="34" charset="0"/>
                        </a:rPr>
                        <a:t>Upper Tamakoshi Hydropower Ltd.</a:t>
                      </a:r>
                    </a:p>
                  </a:txBody>
                  <a:tcPr anchor="ctr">
                    <a:lnL w="12700" cmpd="sng">
                      <a:noFill/>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US" sz="1200">
                          <a:solidFill>
                            <a:schemeClr val="tx1"/>
                          </a:solidFill>
                          <a:latin typeface="Arial" panose="020B0604020202020204" pitchFamily="34" charset="0"/>
                          <a:cs typeface="Arial" panose="020B0604020202020204" pitchFamily="34" charset="0"/>
                        </a:rPr>
                        <a:t>Upper Tamakoshi</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200">
                          <a:solidFill>
                            <a:schemeClr val="tx1"/>
                          </a:solidFill>
                          <a:latin typeface="Arial" panose="020B0604020202020204" pitchFamily="34" charset="0"/>
                          <a:cs typeface="Arial" panose="020B0604020202020204" pitchFamily="34" charset="0"/>
                        </a:rPr>
                        <a:t>456</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200">
                          <a:solidFill>
                            <a:schemeClr val="tx1"/>
                          </a:solidFill>
                          <a:latin typeface="Arial" panose="020B0604020202020204" pitchFamily="34" charset="0"/>
                          <a:cs typeface="Arial" panose="020B0604020202020204" pitchFamily="34" charset="0"/>
                        </a:rPr>
                        <a:t>41%</a:t>
                      </a:r>
                    </a:p>
                  </a:txBody>
                  <a:tcPr anchor="ctr">
                    <a:lnL w="6350" cap="flat" cmpd="sng" algn="ctr">
                      <a:solidFill>
                        <a:schemeClr val="tx1"/>
                      </a:solidFill>
                      <a:prstDash val="solid"/>
                      <a:round/>
                      <a:headEnd type="none" w="med" len="med"/>
                      <a:tailEnd type="none" w="med" len="med"/>
                    </a:lnL>
                    <a:lnR w="12700" cmpd="sng">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61810767"/>
                  </a:ext>
                </a:extLst>
              </a:tr>
              <a:tr h="236133">
                <a:tc>
                  <a:txBody>
                    <a:bodyPr/>
                    <a:lstStyle/>
                    <a:p>
                      <a:r>
                        <a:rPr lang="en-US" sz="1200">
                          <a:solidFill>
                            <a:schemeClr val="tx1"/>
                          </a:solidFill>
                          <a:latin typeface="Arial" panose="020B0604020202020204" pitchFamily="34" charset="0"/>
                          <a:cs typeface="Arial" panose="020B0604020202020204" pitchFamily="34" charset="0"/>
                        </a:rPr>
                        <a:t>Sanjen Hydropower Co.Limited</a:t>
                      </a:r>
                    </a:p>
                  </a:txBody>
                  <a:tcPr anchor="ctr">
                    <a:lnL w="12700" cmpd="sng">
                      <a:noFill/>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US" sz="1200">
                          <a:solidFill>
                            <a:schemeClr val="tx1"/>
                          </a:solidFill>
                          <a:latin typeface="Arial" panose="020B0604020202020204" pitchFamily="34" charset="0"/>
                          <a:cs typeface="Arial" panose="020B0604020202020204" pitchFamily="34" charset="0"/>
                        </a:rPr>
                        <a:t>Upper Sanjen</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1200">
                          <a:solidFill>
                            <a:schemeClr val="tx1"/>
                          </a:solidFill>
                          <a:latin typeface="Arial" panose="020B0604020202020204" pitchFamily="34" charset="0"/>
                          <a:cs typeface="Arial" panose="020B0604020202020204" pitchFamily="34" charset="0"/>
                        </a:rPr>
                        <a:t>14.8</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200">
                          <a:solidFill>
                            <a:schemeClr val="tx1"/>
                          </a:solidFill>
                          <a:latin typeface="Arial" panose="020B0604020202020204" pitchFamily="34" charset="0"/>
                          <a:cs typeface="Arial" panose="020B0604020202020204" pitchFamily="34" charset="0"/>
                        </a:rPr>
                        <a:t>10.4%</a:t>
                      </a:r>
                    </a:p>
                  </a:txBody>
                  <a:tcPr anchor="ctr">
                    <a:lnL w="6350" cap="flat" cmpd="sng" algn="ctr">
                      <a:solidFill>
                        <a:schemeClr val="tx1"/>
                      </a:solidFill>
                      <a:prstDash val="solid"/>
                      <a:round/>
                      <a:headEnd type="none" w="med" len="med"/>
                      <a:tailEnd type="none" w="med" len="med"/>
                    </a:lnL>
                    <a:lnR w="12700" cmpd="sng">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0265010"/>
                  </a:ext>
                </a:extLst>
              </a:tr>
              <a:tr h="236133">
                <a:tc>
                  <a:txBody>
                    <a:bodyPr/>
                    <a:lstStyle/>
                    <a:p>
                      <a:r>
                        <a:rPr lang="en-US" sz="1200">
                          <a:solidFill>
                            <a:schemeClr val="tx1"/>
                          </a:solidFill>
                          <a:latin typeface="Arial" panose="020B0604020202020204" pitchFamily="34" charset="0"/>
                          <a:cs typeface="Arial" panose="020B0604020202020204" pitchFamily="34" charset="0"/>
                        </a:rPr>
                        <a:t>Madhya Bhotekoshi Jalavidyut Co. Ltd.</a:t>
                      </a:r>
                    </a:p>
                  </a:txBody>
                  <a:tcPr anchor="ctr">
                    <a:lnL w="12700" cmpd="sng">
                      <a:noFill/>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sz="1200">
                        <a:solidFill>
                          <a:schemeClr val="tx1"/>
                        </a:solidFill>
                        <a:latin typeface="Arial" panose="020B0604020202020204" pitchFamily="34" charset="0"/>
                        <a:cs typeface="Arial" panose="020B0604020202020204" pitchFamily="34" charset="0"/>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1200">
                        <a:solidFill>
                          <a:schemeClr val="tx1"/>
                        </a:solidFill>
                        <a:latin typeface="Arial" panose="020B0604020202020204" pitchFamily="34" charset="0"/>
                        <a:cs typeface="Arial" panose="020B0604020202020204" pitchFamily="34" charset="0"/>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200">
                          <a:solidFill>
                            <a:schemeClr val="tx1"/>
                          </a:solidFill>
                          <a:latin typeface="Arial" panose="020B0604020202020204" pitchFamily="34" charset="0"/>
                          <a:cs typeface="Arial" panose="020B0604020202020204" pitchFamily="34" charset="0"/>
                        </a:rPr>
                        <a:t>10%</a:t>
                      </a:r>
                    </a:p>
                  </a:txBody>
                  <a:tcPr anchor="ctr">
                    <a:lnL w="6350" cap="flat" cmpd="sng" algn="ctr">
                      <a:solidFill>
                        <a:schemeClr val="tx1"/>
                      </a:solidFill>
                      <a:prstDash val="solid"/>
                      <a:round/>
                      <a:headEnd type="none" w="med" len="med"/>
                      <a:tailEnd type="none" w="med" len="med"/>
                    </a:lnL>
                    <a:lnR w="12700" cmpd="sng">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43220484"/>
                  </a:ext>
                </a:extLst>
              </a:tr>
              <a:tr h="236133">
                <a:tc>
                  <a:txBody>
                    <a:bodyPr/>
                    <a:lstStyle/>
                    <a:p>
                      <a:r>
                        <a:rPr lang="en-US" sz="1200">
                          <a:solidFill>
                            <a:schemeClr val="tx1"/>
                          </a:solidFill>
                          <a:latin typeface="Arial" panose="020B0604020202020204" pitchFamily="34" charset="0"/>
                          <a:cs typeface="Arial" panose="020B0604020202020204" pitchFamily="34" charset="0"/>
                        </a:rPr>
                        <a:t>Rasuwagadhi Hydropower Co. Ltd</a:t>
                      </a:r>
                    </a:p>
                  </a:txBody>
                  <a:tcPr anchor="ctr">
                    <a:lnL w="12700" cmpd="sng">
                      <a:noFill/>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en-US" sz="1200">
                        <a:solidFill>
                          <a:schemeClr val="tx1"/>
                        </a:solidFill>
                        <a:latin typeface="Arial" panose="020B0604020202020204" pitchFamily="34" charset="0"/>
                        <a:cs typeface="Arial" panose="020B0604020202020204" pitchFamily="34" charset="0"/>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1200">
                        <a:solidFill>
                          <a:schemeClr val="tx1"/>
                        </a:solidFill>
                        <a:latin typeface="Arial" panose="020B0604020202020204" pitchFamily="34" charset="0"/>
                        <a:cs typeface="Arial" panose="020B0604020202020204" pitchFamily="34" charset="0"/>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200">
                          <a:solidFill>
                            <a:schemeClr val="tx1"/>
                          </a:solidFill>
                          <a:latin typeface="Arial" panose="020B0604020202020204" pitchFamily="34" charset="0"/>
                          <a:cs typeface="Arial" panose="020B0604020202020204" pitchFamily="34" charset="0"/>
                        </a:rPr>
                        <a:t>18%</a:t>
                      </a:r>
                    </a:p>
                  </a:txBody>
                  <a:tcPr anchor="ctr">
                    <a:lnL w="6350" cap="flat" cmpd="sng" algn="ctr">
                      <a:solidFill>
                        <a:schemeClr val="tx1"/>
                      </a:solidFill>
                      <a:prstDash val="solid"/>
                      <a:round/>
                      <a:headEnd type="none" w="med" len="med"/>
                      <a:tailEnd type="none" w="med" len="med"/>
                    </a:lnL>
                    <a:lnR w="12700" cmpd="sng">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297521708"/>
                  </a:ext>
                </a:extLst>
              </a:tr>
              <a:tr h="236133">
                <a:tc>
                  <a:txBody>
                    <a:bodyPr/>
                    <a:lstStyle/>
                    <a:p>
                      <a:r>
                        <a:rPr lang="en-US" sz="1200" b="1">
                          <a:solidFill>
                            <a:schemeClr val="tx1"/>
                          </a:solidFill>
                          <a:latin typeface="Arial" panose="020B0604020202020204" pitchFamily="34" charset="0"/>
                          <a:cs typeface="Arial" panose="020B0604020202020204" pitchFamily="34" charset="0"/>
                        </a:rPr>
                        <a:t>Total </a:t>
                      </a:r>
                    </a:p>
                  </a:txBody>
                  <a:tcPr anchor="ctr">
                    <a:lnL w="12700" cmpd="sng">
                      <a:noFill/>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endParaRPr lang="en-US" sz="1200" b="1">
                        <a:solidFill>
                          <a:schemeClr val="tx1"/>
                        </a:solidFill>
                        <a:latin typeface="Arial" panose="020B0604020202020204" pitchFamily="34" charset="0"/>
                        <a:cs typeface="Arial" panose="020B0604020202020204" pitchFamily="34" charset="0"/>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200" b="1">
                          <a:solidFill>
                            <a:schemeClr val="tx1"/>
                          </a:solidFill>
                          <a:latin typeface="Arial" panose="020B0604020202020204" pitchFamily="34" charset="0"/>
                          <a:cs typeface="Arial" panose="020B0604020202020204" pitchFamily="34" charset="0"/>
                        </a:rPr>
                        <a:t>492.90</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sz="1200">
                        <a:solidFill>
                          <a:schemeClr val="tx1"/>
                        </a:solidFill>
                        <a:latin typeface="Arial" panose="020B0604020202020204" pitchFamily="34" charset="0"/>
                        <a:cs typeface="Arial" panose="020B0604020202020204" pitchFamily="34" charset="0"/>
                      </a:endParaRPr>
                    </a:p>
                  </a:txBody>
                  <a:tcPr anchor="ctr">
                    <a:lnL w="6350" cap="flat" cmpd="sng" algn="ctr">
                      <a:solidFill>
                        <a:schemeClr val="tx1"/>
                      </a:solidFill>
                      <a:prstDash val="solid"/>
                      <a:round/>
                      <a:headEnd type="none" w="med" len="med"/>
                      <a:tailEnd type="none" w="med" len="med"/>
                    </a:lnL>
                    <a:lnR w="12700" cmpd="sng">
                      <a:noFill/>
                    </a:lnR>
                    <a:lnT w="635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46154501"/>
                  </a:ext>
                </a:extLst>
              </a:tr>
            </a:tbl>
          </a:graphicData>
        </a:graphic>
      </p:graphicFrame>
    </p:spTree>
    <p:extLst>
      <p:ext uri="{BB962C8B-B14F-4D97-AF65-F5344CB8AC3E}">
        <p14:creationId xmlns:p14="http://schemas.microsoft.com/office/powerpoint/2010/main" val="2876918220"/>
      </p:ext>
    </p:extLst>
  </p:cSld>
  <p:clrMapOvr>
    <a:masterClrMapping/>
  </p:clrMapOvr>
  <p:transition>
    <p:fade/>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583390995"/>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105" imgW="415" imgH="416" progId="TCLayout.ActiveDocument.1">
                  <p:embed/>
                </p:oleObj>
              </mc:Choice>
              <mc:Fallback>
                <p:oleObj name="think-cell Slide" r:id="rId105"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106"/>
                      <a:stretch>
                        <a:fillRect/>
                      </a:stretch>
                    </p:blipFill>
                    <p:spPr>
                      <a:xfrm>
                        <a:off x="1828" y="1723"/>
                        <a:ext cx="1588" cy="1588"/>
                      </a:xfrm>
                      <a:prstGeom prst="rect">
                        <a:avLst/>
                      </a:prstGeom>
                    </p:spPr>
                  </p:pic>
                </p:oleObj>
              </mc:Fallback>
            </mc:AlternateContent>
          </a:graphicData>
        </a:graphic>
      </p:graphicFrame>
      <p:sp>
        <p:nvSpPr>
          <p:cNvPr id="515" name="Rectangle 514">
            <a:extLst>
              <a:ext uri="{FF2B5EF4-FFF2-40B4-BE49-F238E27FC236}">
                <a16:creationId xmlns:a16="http://schemas.microsoft.com/office/drawing/2014/main" id="{90A6D6F3-8778-0C7F-2767-6474550C4DED}"/>
              </a:ext>
            </a:extLst>
          </p:cNvPr>
          <p:cNvSpPr/>
          <p:nvPr/>
        </p:nvSpPr>
        <p:spPr bwMode="gray">
          <a:xfrm>
            <a:off x="492639" y="3531692"/>
            <a:ext cx="11217804" cy="2334086"/>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Nepal Became a Net Power Exporter for the First Time in FY 2023/24</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Hydropower capacity additions and strategic trade with India enabled Nepal to reverse its historic import reliance and emerge as a net exporter</a:t>
            </a:r>
          </a:p>
        </p:txBody>
      </p:sp>
      <p:sp>
        <p:nvSpPr>
          <p:cNvPr id="497" name="TextBox 496">
            <a:extLst>
              <a:ext uri="{FF2B5EF4-FFF2-40B4-BE49-F238E27FC236}">
                <a16:creationId xmlns:a16="http://schemas.microsoft.com/office/drawing/2014/main" id="{E3CD61BF-5158-2CE6-D4D0-D211D840411E}"/>
              </a:ext>
            </a:extLst>
          </p:cNvPr>
          <p:cNvSpPr txBox="1"/>
          <p:nvPr/>
        </p:nvSpPr>
        <p:spPr>
          <a:xfrm>
            <a:off x="447675" y="6586538"/>
            <a:ext cx="6096000" cy="26035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107"/>
              </a:rPr>
              <a:t>NEA Annual Report</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sp>
        <p:nvSpPr>
          <p:cNvPr id="165" name="Rectangle 164">
            <a:extLst>
              <a:ext uri="{FF2B5EF4-FFF2-40B4-BE49-F238E27FC236}">
                <a16:creationId xmlns:a16="http://schemas.microsoft.com/office/drawing/2014/main" id="{66CD98E6-F47D-4E7E-D462-D5CD376AAB33}"/>
              </a:ext>
            </a:extLst>
          </p:cNvPr>
          <p:cNvSpPr/>
          <p:nvPr/>
        </p:nvSpPr>
        <p:spPr bwMode="gray">
          <a:xfrm>
            <a:off x="447675" y="992222"/>
            <a:ext cx="11242675" cy="2471704"/>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aphicFrame>
        <p:nvGraphicFramePr>
          <p:cNvPr id="738" name="Chart 737">
            <a:extLst>
              <a:ext uri="{FF2B5EF4-FFF2-40B4-BE49-F238E27FC236}">
                <a16:creationId xmlns:a16="http://schemas.microsoft.com/office/drawing/2014/main" id="{7F3CD9A2-1552-42C9-3364-BD759D99D842}"/>
              </a:ext>
            </a:extLst>
          </p:cNvPr>
          <p:cNvGraphicFramePr/>
          <p:nvPr>
            <p:custDataLst>
              <p:tags r:id="rId2"/>
            </p:custDataLst>
            <p:extLst>
              <p:ext uri="{D42A27DB-BD31-4B8C-83A1-F6EECF244321}">
                <p14:modId xmlns:p14="http://schemas.microsoft.com/office/powerpoint/2010/main" val="973164274"/>
              </p:ext>
            </p:extLst>
          </p:nvPr>
        </p:nvGraphicFramePr>
        <p:xfrm>
          <a:off x="1176338" y="1135063"/>
          <a:ext cx="9464675" cy="2063750"/>
        </p:xfrm>
        <a:graphic>
          <a:graphicData uri="http://schemas.openxmlformats.org/drawingml/2006/chart">
            <c:chart xmlns:c="http://schemas.openxmlformats.org/drawingml/2006/chart" xmlns:r="http://schemas.openxmlformats.org/officeDocument/2006/relationships" r:id="rId108"/>
          </a:graphicData>
        </a:graphic>
      </p:graphicFrame>
      <p:cxnSp>
        <p:nvCxnSpPr>
          <p:cNvPr id="173" name="Straight Connector 172">
            <a:extLst>
              <a:ext uri="{FF2B5EF4-FFF2-40B4-BE49-F238E27FC236}">
                <a16:creationId xmlns:a16="http://schemas.microsoft.com/office/drawing/2014/main" id="{AACDC5FA-16C7-EBCD-C9DB-A9879E8503A5}"/>
              </a:ext>
            </a:extLst>
          </p:cNvPr>
          <p:cNvCxnSpPr/>
          <p:nvPr>
            <p:custDataLst>
              <p:tags r:id="rId3"/>
            </p:custDataLst>
          </p:nvPr>
        </p:nvCxnSpPr>
        <p:spPr bwMode="auto">
          <a:xfrm flipH="1" flipV="1">
            <a:off x="3357563" y="2820988"/>
            <a:ext cx="73025" cy="11112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03" name="Text Placeholder 18">
            <a:extLst>
              <a:ext uri="{FF2B5EF4-FFF2-40B4-BE49-F238E27FC236}">
                <a16:creationId xmlns:a16="http://schemas.microsoft.com/office/drawing/2014/main" id="{55E4D308-3B30-41D0-147D-6EB447505030}"/>
              </a:ext>
            </a:extLst>
          </p:cNvPr>
          <p:cNvSpPr>
            <a:spLocks noGrp="1"/>
          </p:cNvSpPr>
          <p:nvPr>
            <p:custDataLst>
              <p:tags r:id="rId4"/>
            </p:custDataLst>
          </p:nvPr>
        </p:nvSpPr>
        <p:spPr bwMode="auto">
          <a:xfrm>
            <a:off x="1290638" y="3055938"/>
            <a:ext cx="712788"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E12187F-4E09-413D-99A4-4FFF433E667F}" type="datetime'''''Ju''''''l''''-''A''''''''ug (''''Shraw''''''a''n'''')'">
              <a:rPr lang="en-US" altLang="en-US" sz="1200" smtClean="0">
                <a:latin typeface="Arial" panose="020B0604020202020204" pitchFamily="34" charset="0"/>
                <a:cs typeface="+mn-cs"/>
              </a:rPr>
              <a:pPr lvl="0" algn="ctr">
                <a:spcBef>
                  <a:spcPct val="0"/>
                </a:spcBef>
                <a:spcAft>
                  <a:spcPct val="0"/>
                </a:spcAft>
              </a:pPr>
              <a:t>Jul-Aug (Shrawan)</a:t>
            </a:fld>
            <a:endParaRPr lang="en-US" sz="1200" noProof="0">
              <a:latin typeface="Arial" panose="020B0604020202020204" pitchFamily="34" charset="0"/>
              <a:cs typeface="+mn-cs"/>
              <a:sym typeface="Arial" panose="020B0604020202020204" pitchFamily="34" charset="0"/>
            </a:endParaRPr>
          </a:p>
        </p:txBody>
      </p:sp>
      <p:sp>
        <p:nvSpPr>
          <p:cNvPr id="205" name="Text Placeholder 18">
            <a:extLst>
              <a:ext uri="{FF2B5EF4-FFF2-40B4-BE49-F238E27FC236}">
                <a16:creationId xmlns:a16="http://schemas.microsoft.com/office/drawing/2014/main" id="{EF11BD91-0054-F814-39A0-5059E8B9CF15}"/>
              </a:ext>
            </a:extLst>
          </p:cNvPr>
          <p:cNvSpPr>
            <a:spLocks noGrp="1"/>
          </p:cNvSpPr>
          <p:nvPr>
            <p:custDataLst>
              <p:tags r:id="rId5"/>
            </p:custDataLst>
          </p:nvPr>
        </p:nvSpPr>
        <p:spPr bwMode="auto">
          <a:xfrm>
            <a:off x="2119313" y="3055938"/>
            <a:ext cx="603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924E014-60F8-4EF3-82D5-193B0F1D7438}" type="datetime'''''''A''''''''''''u''''''''''''''''''''g''-''Sep'''''''''''''">
              <a:rPr lang="en-US" altLang="en-US" sz="1200" smtClean="0">
                <a:latin typeface="Arial" panose="020B0604020202020204" pitchFamily="34" charset="0"/>
                <a:cs typeface="+mn-cs"/>
              </a:rPr>
              <a:pPr lvl="0" algn="ctr">
                <a:spcBef>
                  <a:spcPct val="0"/>
                </a:spcBef>
                <a:spcAft>
                  <a:spcPct val="0"/>
                </a:spcAft>
              </a:pPr>
              <a:t>Aug-Sep</a:t>
            </a:fld>
            <a:endParaRPr lang="en-US" sz="1200" noProof="0">
              <a:latin typeface="Arial" panose="020B0604020202020204" pitchFamily="34" charset="0"/>
              <a:cs typeface="+mn-cs"/>
              <a:sym typeface="Arial" panose="020B0604020202020204" pitchFamily="34" charset="0"/>
            </a:endParaRPr>
          </a:p>
        </p:txBody>
      </p:sp>
      <p:sp>
        <p:nvSpPr>
          <p:cNvPr id="206" name="Text Placeholder 18">
            <a:extLst>
              <a:ext uri="{FF2B5EF4-FFF2-40B4-BE49-F238E27FC236}">
                <a16:creationId xmlns:a16="http://schemas.microsoft.com/office/drawing/2014/main" id="{AD456A8E-B64D-CC31-F734-63C67C0FEE1E}"/>
              </a:ext>
            </a:extLst>
          </p:cNvPr>
          <p:cNvSpPr>
            <a:spLocks noGrp="1"/>
          </p:cNvSpPr>
          <p:nvPr>
            <p:custDataLst>
              <p:tags r:id="rId6"/>
            </p:custDataLst>
          </p:nvPr>
        </p:nvSpPr>
        <p:spPr bwMode="auto">
          <a:xfrm>
            <a:off x="2909888" y="3055938"/>
            <a:ext cx="5715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145E11D-6E69-428B-8409-9148172892C8}" type="datetime'''''S''''''''e''''''p''''-''''''''Oc''''''''t'''''''''''''''''">
              <a:rPr lang="en-US" altLang="en-US" sz="1200" smtClean="0">
                <a:latin typeface="Arial" panose="020B0604020202020204" pitchFamily="34" charset="0"/>
                <a:cs typeface="+mn-cs"/>
              </a:rPr>
              <a:pPr lvl="0" algn="ctr">
                <a:spcBef>
                  <a:spcPct val="0"/>
                </a:spcBef>
                <a:spcAft>
                  <a:spcPct val="0"/>
                </a:spcAft>
              </a:pPr>
              <a:t>Sep-Oct</a:t>
            </a:fld>
            <a:endParaRPr lang="en-US" sz="1200" noProof="0">
              <a:latin typeface="Arial" panose="020B0604020202020204" pitchFamily="34" charset="0"/>
              <a:cs typeface="+mn-cs"/>
              <a:sym typeface="Arial" panose="020B0604020202020204" pitchFamily="34" charset="0"/>
            </a:endParaRPr>
          </a:p>
        </p:txBody>
      </p:sp>
      <p:sp>
        <p:nvSpPr>
          <p:cNvPr id="207" name="Text Placeholder 18">
            <a:extLst>
              <a:ext uri="{FF2B5EF4-FFF2-40B4-BE49-F238E27FC236}">
                <a16:creationId xmlns:a16="http://schemas.microsoft.com/office/drawing/2014/main" id="{2E9DA114-271B-60EC-685B-5C6ADB9DDF15}"/>
              </a:ext>
            </a:extLst>
          </p:cNvPr>
          <p:cNvSpPr>
            <a:spLocks noGrp="1"/>
          </p:cNvSpPr>
          <p:nvPr>
            <p:custDataLst>
              <p:tags r:id="rId7"/>
            </p:custDataLst>
          </p:nvPr>
        </p:nvSpPr>
        <p:spPr bwMode="auto">
          <a:xfrm>
            <a:off x="3686175" y="3055938"/>
            <a:ext cx="5715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9173713-1152-46DD-B9BE-0097D1016C85}" type="datetime'''''''''''Oc''''''''''t''-''''N''''o''''''''v'''''''''">
              <a:rPr lang="en-US" altLang="en-US" sz="1200" smtClean="0">
                <a:latin typeface="Arial" panose="020B0604020202020204" pitchFamily="34" charset="0"/>
                <a:cs typeface="+mn-cs"/>
              </a:rPr>
              <a:pPr lvl="0" algn="ctr">
                <a:spcBef>
                  <a:spcPct val="0"/>
                </a:spcBef>
                <a:spcAft>
                  <a:spcPct val="0"/>
                </a:spcAft>
              </a:pPr>
              <a:t>Oct-Nov</a:t>
            </a:fld>
            <a:endParaRPr lang="en-US" sz="1200" noProof="0">
              <a:latin typeface="Arial" panose="020B0604020202020204" pitchFamily="34" charset="0"/>
              <a:cs typeface="+mn-cs"/>
              <a:sym typeface="Arial" panose="020B0604020202020204" pitchFamily="34" charset="0"/>
            </a:endParaRPr>
          </a:p>
        </p:txBody>
      </p:sp>
      <p:sp>
        <p:nvSpPr>
          <p:cNvPr id="730" name="Text Placeholder 18">
            <a:extLst>
              <a:ext uri="{FF2B5EF4-FFF2-40B4-BE49-F238E27FC236}">
                <a16:creationId xmlns:a16="http://schemas.microsoft.com/office/drawing/2014/main" id="{7526C13C-802A-7C40-0DB3-CEB727F499A1}"/>
              </a:ext>
            </a:extLst>
          </p:cNvPr>
          <p:cNvSpPr>
            <a:spLocks noGrp="1"/>
          </p:cNvSpPr>
          <p:nvPr>
            <p:custDataLst>
              <p:tags r:id="rId8"/>
            </p:custDataLst>
          </p:nvPr>
        </p:nvSpPr>
        <p:spPr bwMode="gray">
          <a:xfrm>
            <a:off x="4679950" y="2725738"/>
            <a:ext cx="134938" cy="182563"/>
          </a:xfrm>
          <a:prstGeom prst="rect">
            <a:avLst/>
          </a:prstGeom>
          <a:solidFill>
            <a:srgbClr val="62B5E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1756E68-88EC-4345-9280-99C65533F74D}" type="datetime'''''0'''">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0</a:t>
            </a:fld>
            <a:endParaRPr lang="en-US" sz="1200" noProof="0">
              <a:latin typeface="Arial" panose="020B0604020202020204" pitchFamily="34" charset="0"/>
              <a:cs typeface="+mn-cs"/>
              <a:sym typeface="Arial" panose="020B0604020202020204" pitchFamily="34" charset="0"/>
            </a:endParaRPr>
          </a:p>
        </p:txBody>
      </p:sp>
      <p:sp>
        <p:nvSpPr>
          <p:cNvPr id="208" name="Text Placeholder 18">
            <a:extLst>
              <a:ext uri="{FF2B5EF4-FFF2-40B4-BE49-F238E27FC236}">
                <a16:creationId xmlns:a16="http://schemas.microsoft.com/office/drawing/2014/main" id="{F02BB7B9-2105-BE91-EA72-645DD7D84E63}"/>
              </a:ext>
            </a:extLst>
          </p:cNvPr>
          <p:cNvSpPr>
            <a:spLocks noGrp="1"/>
          </p:cNvSpPr>
          <p:nvPr>
            <p:custDataLst>
              <p:tags r:id="rId9"/>
            </p:custDataLst>
          </p:nvPr>
        </p:nvSpPr>
        <p:spPr bwMode="auto">
          <a:xfrm>
            <a:off x="4445000" y="3055938"/>
            <a:ext cx="603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FBBBA74-4A64-450F-AFD0-6F9999E79C21}" type="datetime'''''''''N''''''''''''ov''-D''''ec'''''''''''''''''''''">
              <a:rPr lang="en-US" altLang="en-US" sz="1200" smtClean="0">
                <a:latin typeface="Arial" panose="020B0604020202020204" pitchFamily="34" charset="0"/>
                <a:cs typeface="+mn-cs"/>
              </a:rPr>
              <a:pPr lvl="0" algn="ctr">
                <a:spcBef>
                  <a:spcPct val="0"/>
                </a:spcBef>
                <a:spcAft>
                  <a:spcPct val="0"/>
                </a:spcAft>
              </a:pPr>
              <a:t>Nov-Dec</a:t>
            </a:fld>
            <a:endParaRPr lang="en-US" sz="1200" noProof="0">
              <a:latin typeface="Arial" panose="020B0604020202020204" pitchFamily="34" charset="0"/>
              <a:cs typeface="+mn-cs"/>
              <a:sym typeface="Arial" panose="020B0604020202020204" pitchFamily="34" charset="0"/>
            </a:endParaRPr>
          </a:p>
        </p:txBody>
      </p:sp>
      <p:sp>
        <p:nvSpPr>
          <p:cNvPr id="731" name="Text Placeholder 18">
            <a:extLst>
              <a:ext uri="{FF2B5EF4-FFF2-40B4-BE49-F238E27FC236}">
                <a16:creationId xmlns:a16="http://schemas.microsoft.com/office/drawing/2014/main" id="{D03E75C4-9BB2-B8BA-B461-15A76A99F25C}"/>
              </a:ext>
            </a:extLst>
          </p:cNvPr>
          <p:cNvSpPr>
            <a:spLocks noGrp="1"/>
          </p:cNvSpPr>
          <p:nvPr>
            <p:custDataLst>
              <p:tags r:id="rId10"/>
            </p:custDataLst>
          </p:nvPr>
        </p:nvSpPr>
        <p:spPr bwMode="gray">
          <a:xfrm>
            <a:off x="5454650" y="2725738"/>
            <a:ext cx="134938" cy="182563"/>
          </a:xfrm>
          <a:prstGeom prst="rect">
            <a:avLst/>
          </a:prstGeom>
          <a:solidFill>
            <a:srgbClr val="62B5E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9FC150A-CB24-4E8A-A96E-F269FB22B1B4}" type="datetime'''''''''''''''''0'''''''''''''''">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0</a:t>
            </a:fld>
            <a:endParaRPr lang="en-US" sz="1200" noProof="0">
              <a:latin typeface="Arial" panose="020B0604020202020204" pitchFamily="34" charset="0"/>
              <a:cs typeface="+mn-cs"/>
              <a:sym typeface="Arial" panose="020B0604020202020204" pitchFamily="34" charset="0"/>
            </a:endParaRPr>
          </a:p>
        </p:txBody>
      </p:sp>
      <p:sp>
        <p:nvSpPr>
          <p:cNvPr id="210" name="Text Placeholder 18">
            <a:extLst>
              <a:ext uri="{FF2B5EF4-FFF2-40B4-BE49-F238E27FC236}">
                <a16:creationId xmlns:a16="http://schemas.microsoft.com/office/drawing/2014/main" id="{918D30E0-1190-3978-02E1-9D566CA21FF1}"/>
              </a:ext>
            </a:extLst>
          </p:cNvPr>
          <p:cNvSpPr>
            <a:spLocks noGrp="1"/>
          </p:cNvSpPr>
          <p:nvPr>
            <p:custDataLst>
              <p:tags r:id="rId11"/>
            </p:custDataLst>
          </p:nvPr>
        </p:nvSpPr>
        <p:spPr bwMode="auto">
          <a:xfrm>
            <a:off x="5232400" y="3055938"/>
            <a:ext cx="5778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00A7270-491E-4B36-8C9B-4DB4E58B0452}" type="datetime'''''D''e''''''''''''c''''''''''''''''-''''J''''''''''a''n'''">
              <a:rPr lang="en-US" altLang="en-US" sz="1200" smtClean="0">
                <a:latin typeface="Arial" panose="020B0604020202020204" pitchFamily="34" charset="0"/>
                <a:cs typeface="+mn-cs"/>
              </a:rPr>
              <a:pPr lvl="0" algn="ctr">
                <a:spcBef>
                  <a:spcPct val="0"/>
                </a:spcBef>
                <a:spcAft>
                  <a:spcPct val="0"/>
                </a:spcAft>
              </a:pPr>
              <a:t>Dec-Jan</a:t>
            </a:fld>
            <a:endParaRPr lang="en-US" sz="1200" noProof="0">
              <a:latin typeface="Arial" panose="020B0604020202020204" pitchFamily="34" charset="0"/>
              <a:cs typeface="+mn-cs"/>
              <a:sym typeface="Arial" panose="020B0604020202020204" pitchFamily="34" charset="0"/>
            </a:endParaRPr>
          </a:p>
        </p:txBody>
      </p:sp>
      <p:sp>
        <p:nvSpPr>
          <p:cNvPr id="732" name="Text Placeholder 18">
            <a:extLst>
              <a:ext uri="{FF2B5EF4-FFF2-40B4-BE49-F238E27FC236}">
                <a16:creationId xmlns:a16="http://schemas.microsoft.com/office/drawing/2014/main" id="{C4BB7E61-4D92-9221-FF31-2AA52B6019B5}"/>
              </a:ext>
            </a:extLst>
          </p:cNvPr>
          <p:cNvSpPr>
            <a:spLocks noGrp="1"/>
          </p:cNvSpPr>
          <p:nvPr>
            <p:custDataLst>
              <p:tags r:id="rId12"/>
            </p:custDataLst>
          </p:nvPr>
        </p:nvSpPr>
        <p:spPr bwMode="gray">
          <a:xfrm>
            <a:off x="6229350" y="2725738"/>
            <a:ext cx="134938" cy="182563"/>
          </a:xfrm>
          <a:prstGeom prst="rect">
            <a:avLst/>
          </a:prstGeom>
          <a:solidFill>
            <a:srgbClr val="62B5E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2961A6A-B071-43D3-930D-B427A8DFC87F}" type="datetime'''''''''''''''''''''''0'''''''''">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0</a:t>
            </a:fld>
            <a:endParaRPr lang="en-US" sz="1200" noProof="0">
              <a:latin typeface="Arial" panose="020B0604020202020204" pitchFamily="34" charset="0"/>
              <a:cs typeface="+mn-cs"/>
              <a:sym typeface="Arial" panose="020B0604020202020204" pitchFamily="34" charset="0"/>
            </a:endParaRPr>
          </a:p>
        </p:txBody>
      </p:sp>
      <p:sp>
        <p:nvSpPr>
          <p:cNvPr id="211" name="Text Placeholder 18">
            <a:extLst>
              <a:ext uri="{FF2B5EF4-FFF2-40B4-BE49-F238E27FC236}">
                <a16:creationId xmlns:a16="http://schemas.microsoft.com/office/drawing/2014/main" id="{4C5C6D9B-B55C-A2FF-B2DC-415D2131FF1A}"/>
              </a:ext>
            </a:extLst>
          </p:cNvPr>
          <p:cNvSpPr>
            <a:spLocks noGrp="1"/>
          </p:cNvSpPr>
          <p:nvPr>
            <p:custDataLst>
              <p:tags r:id="rId13"/>
            </p:custDataLst>
          </p:nvPr>
        </p:nvSpPr>
        <p:spPr bwMode="auto">
          <a:xfrm>
            <a:off x="6011863" y="3055938"/>
            <a:ext cx="5699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485AB40-5ED9-4C08-B32E-EC1CF4EEF1AE}" type="datetime'''''''J''''a''''''n''''''-''F''''''''''''''''e''b'''''''''''">
              <a:rPr lang="en-US" altLang="en-US" sz="1200" smtClean="0">
                <a:latin typeface="Arial" panose="020B0604020202020204" pitchFamily="34" charset="0"/>
                <a:cs typeface="+mn-cs"/>
              </a:rPr>
              <a:pPr lvl="0" algn="ctr">
                <a:spcBef>
                  <a:spcPct val="0"/>
                </a:spcBef>
                <a:spcAft>
                  <a:spcPct val="0"/>
                </a:spcAft>
              </a:pPr>
              <a:t>Jan-Feb</a:t>
            </a:fld>
            <a:endParaRPr lang="en-US" sz="1200" noProof="0">
              <a:latin typeface="Arial" panose="020B0604020202020204" pitchFamily="34" charset="0"/>
              <a:cs typeface="+mn-cs"/>
              <a:sym typeface="Arial" panose="020B0604020202020204" pitchFamily="34" charset="0"/>
            </a:endParaRPr>
          </a:p>
        </p:txBody>
      </p:sp>
      <p:sp>
        <p:nvSpPr>
          <p:cNvPr id="733" name="Text Placeholder 18">
            <a:extLst>
              <a:ext uri="{FF2B5EF4-FFF2-40B4-BE49-F238E27FC236}">
                <a16:creationId xmlns:a16="http://schemas.microsoft.com/office/drawing/2014/main" id="{9BEAAF0B-4A0E-6CAC-3FC2-F9C317EAFD7B}"/>
              </a:ext>
            </a:extLst>
          </p:cNvPr>
          <p:cNvSpPr>
            <a:spLocks noGrp="1"/>
          </p:cNvSpPr>
          <p:nvPr>
            <p:custDataLst>
              <p:tags r:id="rId14"/>
            </p:custDataLst>
          </p:nvPr>
        </p:nvSpPr>
        <p:spPr bwMode="gray">
          <a:xfrm>
            <a:off x="7004050" y="2725738"/>
            <a:ext cx="134938" cy="182563"/>
          </a:xfrm>
          <a:prstGeom prst="rect">
            <a:avLst/>
          </a:prstGeom>
          <a:solidFill>
            <a:srgbClr val="62B5E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1D87816-CCBE-4CD2-BA0D-90AD10B32FBB}" type="datetime'''''''''''''''''''''''0'''''">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0</a:t>
            </a:fld>
            <a:endParaRPr lang="en-US" sz="1200" noProof="0">
              <a:latin typeface="Arial" panose="020B0604020202020204" pitchFamily="34" charset="0"/>
              <a:cs typeface="+mn-cs"/>
              <a:sym typeface="Arial" panose="020B0604020202020204" pitchFamily="34" charset="0"/>
            </a:endParaRPr>
          </a:p>
        </p:txBody>
      </p:sp>
      <p:sp>
        <p:nvSpPr>
          <p:cNvPr id="212" name="Text Placeholder 18">
            <a:extLst>
              <a:ext uri="{FF2B5EF4-FFF2-40B4-BE49-F238E27FC236}">
                <a16:creationId xmlns:a16="http://schemas.microsoft.com/office/drawing/2014/main" id="{6271F2FC-0B95-6E84-69FE-B730A538BD30}"/>
              </a:ext>
            </a:extLst>
          </p:cNvPr>
          <p:cNvSpPr>
            <a:spLocks noGrp="1"/>
          </p:cNvSpPr>
          <p:nvPr>
            <p:custDataLst>
              <p:tags r:id="rId15"/>
            </p:custDataLst>
          </p:nvPr>
        </p:nvSpPr>
        <p:spPr bwMode="auto">
          <a:xfrm>
            <a:off x="6777038" y="3055938"/>
            <a:ext cx="5873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C237F85-4F8D-411F-8039-07C3AB5B80C4}" type="datetime'''''''''''''''''''''F''''''''''''eb-''''M''''''a''''''r'''''">
              <a:rPr lang="en-US" altLang="en-US" sz="1200" smtClean="0">
                <a:latin typeface="Arial" panose="020B0604020202020204" pitchFamily="34" charset="0"/>
                <a:cs typeface="+mn-cs"/>
              </a:rPr>
              <a:pPr lvl="0" algn="ctr">
                <a:spcBef>
                  <a:spcPct val="0"/>
                </a:spcBef>
                <a:spcAft>
                  <a:spcPct val="0"/>
                </a:spcAft>
              </a:pPr>
              <a:t>Feb-Mar</a:t>
            </a:fld>
            <a:endParaRPr lang="en-US" sz="1200" noProof="0">
              <a:latin typeface="Arial" panose="020B0604020202020204" pitchFamily="34" charset="0"/>
              <a:cs typeface="+mn-cs"/>
              <a:sym typeface="Arial" panose="020B0604020202020204" pitchFamily="34" charset="0"/>
            </a:endParaRPr>
          </a:p>
        </p:txBody>
      </p:sp>
      <p:sp>
        <p:nvSpPr>
          <p:cNvPr id="734" name="Text Placeholder 18">
            <a:extLst>
              <a:ext uri="{FF2B5EF4-FFF2-40B4-BE49-F238E27FC236}">
                <a16:creationId xmlns:a16="http://schemas.microsoft.com/office/drawing/2014/main" id="{3760EFDC-0B18-0576-1406-F0AE05E20B0F}"/>
              </a:ext>
            </a:extLst>
          </p:cNvPr>
          <p:cNvSpPr>
            <a:spLocks noGrp="1"/>
          </p:cNvSpPr>
          <p:nvPr>
            <p:custDataLst>
              <p:tags r:id="rId16"/>
            </p:custDataLst>
          </p:nvPr>
        </p:nvSpPr>
        <p:spPr bwMode="gray">
          <a:xfrm>
            <a:off x="7753350" y="2727325"/>
            <a:ext cx="185738" cy="182563"/>
          </a:xfrm>
          <a:prstGeom prst="rect">
            <a:avLst/>
          </a:prstGeom>
          <a:solidFill>
            <a:srgbClr val="62B5E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5D8D639-E89D-4618-B9BB-D1F1EE21EE1E}" type="datetime'''''-''''''''''''''''''''''''''3'''''''''''">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-3</a:t>
            </a:fld>
            <a:endParaRPr lang="en-US" sz="1200" noProof="0">
              <a:latin typeface="Arial" panose="020B0604020202020204" pitchFamily="34" charset="0"/>
              <a:cs typeface="+mn-cs"/>
              <a:sym typeface="Arial" panose="020B0604020202020204" pitchFamily="34" charset="0"/>
            </a:endParaRPr>
          </a:p>
        </p:txBody>
      </p:sp>
      <p:sp>
        <p:nvSpPr>
          <p:cNvPr id="213" name="Text Placeholder 18">
            <a:extLst>
              <a:ext uri="{FF2B5EF4-FFF2-40B4-BE49-F238E27FC236}">
                <a16:creationId xmlns:a16="http://schemas.microsoft.com/office/drawing/2014/main" id="{34C11895-5D9F-9A49-29B7-3C866FD38A1A}"/>
              </a:ext>
            </a:extLst>
          </p:cNvPr>
          <p:cNvSpPr>
            <a:spLocks noGrp="1"/>
          </p:cNvSpPr>
          <p:nvPr>
            <p:custDataLst>
              <p:tags r:id="rId17"/>
            </p:custDataLst>
          </p:nvPr>
        </p:nvSpPr>
        <p:spPr bwMode="auto">
          <a:xfrm>
            <a:off x="7564438" y="3055938"/>
            <a:ext cx="5619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214502C-662E-45F4-AD9B-B1490EDC272B}" type="datetime'''''''''''''''''''''Ma''''''''r''-''''''''''A''''''''''pr'">
              <a:rPr lang="en-US" altLang="en-US" sz="1200" smtClean="0">
                <a:latin typeface="Arial" panose="020B0604020202020204" pitchFamily="34" charset="0"/>
                <a:cs typeface="+mn-cs"/>
              </a:rPr>
              <a:pPr lvl="0" algn="ctr">
                <a:spcBef>
                  <a:spcPct val="0"/>
                </a:spcBef>
                <a:spcAft>
                  <a:spcPct val="0"/>
                </a:spcAft>
              </a:pPr>
              <a:t>Mar-Apr</a:t>
            </a:fld>
            <a:endParaRPr lang="en-US" sz="1200" noProof="0">
              <a:latin typeface="Arial" panose="020B0604020202020204" pitchFamily="34" charset="0"/>
              <a:cs typeface="+mn-cs"/>
              <a:sym typeface="Arial" panose="020B0604020202020204" pitchFamily="34" charset="0"/>
            </a:endParaRPr>
          </a:p>
        </p:txBody>
      </p:sp>
      <p:sp>
        <p:nvSpPr>
          <p:cNvPr id="735" name="Text Placeholder 18">
            <a:extLst>
              <a:ext uri="{FF2B5EF4-FFF2-40B4-BE49-F238E27FC236}">
                <a16:creationId xmlns:a16="http://schemas.microsoft.com/office/drawing/2014/main" id="{17160980-1972-B15E-4F1C-971B04FEC09A}"/>
              </a:ext>
            </a:extLst>
          </p:cNvPr>
          <p:cNvSpPr>
            <a:spLocks noGrp="1"/>
          </p:cNvSpPr>
          <p:nvPr>
            <p:custDataLst>
              <p:tags r:id="rId18"/>
            </p:custDataLst>
          </p:nvPr>
        </p:nvSpPr>
        <p:spPr bwMode="gray">
          <a:xfrm>
            <a:off x="8529638" y="2727325"/>
            <a:ext cx="185738" cy="182563"/>
          </a:xfrm>
          <a:prstGeom prst="rect">
            <a:avLst/>
          </a:prstGeom>
          <a:solidFill>
            <a:srgbClr val="62B5E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D2738F5-F4E4-45C7-87D7-352D6F481053}" type="datetime'-''''''''''''''2'''''''''''''''''''''''''''''''">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-2</a:t>
            </a:fld>
            <a:endParaRPr lang="en-US" sz="1200" noProof="0">
              <a:latin typeface="Arial" panose="020B0604020202020204" pitchFamily="34" charset="0"/>
              <a:cs typeface="+mn-cs"/>
              <a:sym typeface="Arial" panose="020B0604020202020204" pitchFamily="34" charset="0"/>
            </a:endParaRPr>
          </a:p>
        </p:txBody>
      </p:sp>
      <p:sp>
        <p:nvSpPr>
          <p:cNvPr id="214" name="Text Placeholder 18">
            <a:extLst>
              <a:ext uri="{FF2B5EF4-FFF2-40B4-BE49-F238E27FC236}">
                <a16:creationId xmlns:a16="http://schemas.microsoft.com/office/drawing/2014/main" id="{0E1E9F16-4434-6F15-7851-23DD90421605}"/>
              </a:ext>
            </a:extLst>
          </p:cNvPr>
          <p:cNvSpPr>
            <a:spLocks noGrp="1"/>
          </p:cNvSpPr>
          <p:nvPr>
            <p:custDataLst>
              <p:tags r:id="rId19"/>
            </p:custDataLst>
          </p:nvPr>
        </p:nvSpPr>
        <p:spPr bwMode="auto">
          <a:xfrm>
            <a:off x="8328025" y="3055938"/>
            <a:ext cx="5873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B2E3FED-C418-4B25-836C-AE03DDA2171C}" type="datetime'''A''p''''''''''''''''''''r''''''''''-''''Ma''''''''''''y'">
              <a:rPr lang="en-US" altLang="en-US" sz="1200" smtClean="0">
                <a:latin typeface="Arial" panose="020B0604020202020204" pitchFamily="34" charset="0"/>
                <a:cs typeface="+mn-cs"/>
              </a:rPr>
              <a:pPr lvl="0" algn="ctr">
                <a:spcBef>
                  <a:spcPct val="0"/>
                </a:spcBef>
                <a:spcAft>
                  <a:spcPct val="0"/>
                </a:spcAft>
              </a:pPr>
              <a:t>Apr-May</a:t>
            </a:fld>
            <a:endParaRPr lang="en-US" sz="1200" noProof="0">
              <a:latin typeface="Arial" panose="020B0604020202020204" pitchFamily="34" charset="0"/>
              <a:cs typeface="+mn-cs"/>
              <a:sym typeface="Arial" panose="020B0604020202020204" pitchFamily="34" charset="0"/>
            </a:endParaRPr>
          </a:p>
        </p:txBody>
      </p:sp>
      <p:sp>
        <p:nvSpPr>
          <p:cNvPr id="725" name="Text Placeholder 18">
            <a:extLst>
              <a:ext uri="{FF2B5EF4-FFF2-40B4-BE49-F238E27FC236}">
                <a16:creationId xmlns:a16="http://schemas.microsoft.com/office/drawing/2014/main" id="{BF7E9864-4176-6457-6F80-9BC1CBC21C84}"/>
              </a:ext>
            </a:extLst>
          </p:cNvPr>
          <p:cNvSpPr>
            <a:spLocks noGrp="1"/>
          </p:cNvSpPr>
          <p:nvPr>
            <p:custDataLst>
              <p:tags r:id="rId20"/>
            </p:custDataLst>
          </p:nvPr>
        </p:nvSpPr>
        <p:spPr bwMode="gray">
          <a:xfrm>
            <a:off x="1554163" y="2727325"/>
            <a:ext cx="185738" cy="182563"/>
          </a:xfrm>
          <a:prstGeom prst="rect">
            <a:avLst/>
          </a:prstGeom>
          <a:solidFill>
            <a:srgbClr val="62B5E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D516325-5129-4FC4-A222-2C95769B2035}" type="datetime'''''''''''-''''''''''''''2'''''''''''''''''">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-2</a:t>
            </a:fld>
            <a:endParaRPr lang="en-US" sz="1200" noProof="0">
              <a:latin typeface="Arial" panose="020B0604020202020204" pitchFamily="34" charset="0"/>
              <a:cs typeface="+mn-cs"/>
              <a:sym typeface="Arial" panose="020B0604020202020204" pitchFamily="34" charset="0"/>
            </a:endParaRPr>
          </a:p>
        </p:txBody>
      </p:sp>
      <p:sp>
        <p:nvSpPr>
          <p:cNvPr id="215" name="Text Placeholder 18">
            <a:extLst>
              <a:ext uri="{FF2B5EF4-FFF2-40B4-BE49-F238E27FC236}">
                <a16:creationId xmlns:a16="http://schemas.microsoft.com/office/drawing/2014/main" id="{BE37C567-C403-0C87-BB15-E1358C41C46C}"/>
              </a:ext>
            </a:extLst>
          </p:cNvPr>
          <p:cNvSpPr>
            <a:spLocks noGrp="1"/>
          </p:cNvSpPr>
          <p:nvPr>
            <p:custDataLst>
              <p:tags r:id="rId21"/>
            </p:custDataLst>
          </p:nvPr>
        </p:nvSpPr>
        <p:spPr bwMode="auto">
          <a:xfrm>
            <a:off x="9099550" y="3055938"/>
            <a:ext cx="5953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BB3CABE-1BA4-4DFA-9638-96CC5802826B}" type="datetime'''''''''''M''''a''''''''''''y-''J''''''''''''''u''n'''">
              <a:rPr lang="en-US" altLang="en-US" sz="1200" smtClean="0">
                <a:latin typeface="Arial" panose="020B0604020202020204" pitchFamily="34" charset="0"/>
                <a:cs typeface="+mn-cs"/>
              </a:rPr>
              <a:pPr lvl="0" algn="ctr">
                <a:spcBef>
                  <a:spcPct val="0"/>
                </a:spcBef>
                <a:spcAft>
                  <a:spcPct val="0"/>
                </a:spcAft>
              </a:pPr>
              <a:t>May-Jun</a:t>
            </a:fld>
            <a:endParaRPr lang="en-US" sz="1200" noProof="0">
              <a:latin typeface="Arial" panose="020B0604020202020204" pitchFamily="34" charset="0"/>
              <a:cs typeface="+mn-cs"/>
              <a:sym typeface="Arial" panose="020B0604020202020204" pitchFamily="34" charset="0"/>
            </a:endParaRPr>
          </a:p>
        </p:txBody>
      </p:sp>
      <p:sp>
        <p:nvSpPr>
          <p:cNvPr id="737" name="Text Placeholder 18">
            <a:extLst>
              <a:ext uri="{FF2B5EF4-FFF2-40B4-BE49-F238E27FC236}">
                <a16:creationId xmlns:a16="http://schemas.microsoft.com/office/drawing/2014/main" id="{0678577A-3829-73BB-F83E-723A56502D4E}"/>
              </a:ext>
            </a:extLst>
          </p:cNvPr>
          <p:cNvSpPr>
            <a:spLocks noGrp="1"/>
          </p:cNvSpPr>
          <p:nvPr>
            <p:custDataLst>
              <p:tags r:id="rId22"/>
            </p:custDataLst>
          </p:nvPr>
        </p:nvSpPr>
        <p:spPr bwMode="gray">
          <a:xfrm>
            <a:off x="10036175" y="2740025"/>
            <a:ext cx="269875" cy="182563"/>
          </a:xfrm>
          <a:prstGeom prst="rect">
            <a:avLst/>
          </a:prstGeom>
          <a:solidFill>
            <a:srgbClr val="62B5E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7288C5E-6DC3-4E30-9DD9-3670006943E4}" type="datetime'''''''''''''''''-''''1''''''6'">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-16</a:t>
            </a:fld>
            <a:endParaRPr lang="en-US" sz="1200" noProof="0">
              <a:latin typeface="Arial" panose="020B0604020202020204" pitchFamily="34" charset="0"/>
              <a:cs typeface="+mn-cs"/>
              <a:sym typeface="Arial" panose="020B0604020202020204" pitchFamily="34" charset="0"/>
            </a:endParaRPr>
          </a:p>
        </p:txBody>
      </p:sp>
      <p:sp>
        <p:nvSpPr>
          <p:cNvPr id="216" name="Text Placeholder 18">
            <a:extLst>
              <a:ext uri="{FF2B5EF4-FFF2-40B4-BE49-F238E27FC236}">
                <a16:creationId xmlns:a16="http://schemas.microsoft.com/office/drawing/2014/main" id="{6F8E8DD3-4E84-551A-A0F5-A990B6CB189D}"/>
              </a:ext>
            </a:extLst>
          </p:cNvPr>
          <p:cNvSpPr>
            <a:spLocks noGrp="1"/>
          </p:cNvSpPr>
          <p:nvPr>
            <p:custDataLst>
              <p:tags r:id="rId23"/>
            </p:custDataLst>
          </p:nvPr>
        </p:nvSpPr>
        <p:spPr bwMode="auto">
          <a:xfrm>
            <a:off x="9920288" y="3055938"/>
            <a:ext cx="5016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EA204A0-96AC-4891-BCCE-4BC6104FD632}" type="datetime'''''''''''''''''''''''''''''J''u''''''n''''''-Ju''l'''''''''">
              <a:rPr lang="en-US" altLang="en-US" sz="1200" smtClean="0">
                <a:latin typeface="Arial" panose="020B0604020202020204" pitchFamily="34" charset="0"/>
                <a:cs typeface="+mn-cs"/>
              </a:rPr>
              <a:pPr lvl="0" algn="ctr">
                <a:spcBef>
                  <a:spcPct val="0"/>
                </a:spcBef>
                <a:spcAft>
                  <a:spcPct val="0"/>
                </a:spcAft>
              </a:pPr>
              <a:t>Jun-Jul</a:t>
            </a:fld>
            <a:endParaRPr lang="en-US" sz="1200" noProof="0">
              <a:latin typeface="Arial" panose="020B0604020202020204" pitchFamily="34" charset="0"/>
              <a:cs typeface="+mn-cs"/>
              <a:sym typeface="Arial" panose="020B0604020202020204" pitchFamily="34" charset="0"/>
            </a:endParaRPr>
          </a:p>
        </p:txBody>
      </p:sp>
      <p:sp>
        <p:nvSpPr>
          <p:cNvPr id="226" name="Text Placeholder 18">
            <a:extLst>
              <a:ext uri="{FF2B5EF4-FFF2-40B4-BE49-F238E27FC236}">
                <a16:creationId xmlns:a16="http://schemas.microsoft.com/office/drawing/2014/main" id="{EC97313D-FDE4-D13D-9533-E5358AADD860}"/>
              </a:ext>
            </a:extLst>
          </p:cNvPr>
          <p:cNvSpPr>
            <a:spLocks noGrp="1"/>
          </p:cNvSpPr>
          <p:nvPr>
            <p:custDataLst>
              <p:tags r:id="rId24"/>
            </p:custDataLst>
          </p:nvPr>
        </p:nvSpPr>
        <p:spPr bwMode="gray">
          <a:xfrm>
            <a:off x="1495425" y="1328738"/>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F0384E0-7A3F-487B-9E6B-FFE356BD6EB7}" type="datetime'''''''''''''''''''6''''''8''''''''''9'''''''''''''''">
              <a:rPr lang="en-US" altLang="en-US" sz="1200" b="1" smtClean="0">
                <a:latin typeface="Arial" panose="020B0604020202020204" pitchFamily="34" charset="0"/>
                <a:cs typeface="+mn-cs"/>
              </a:rPr>
              <a:pPr lvl="0" algn="ctr">
                <a:spcBef>
                  <a:spcPct val="0"/>
                </a:spcBef>
                <a:spcAft>
                  <a:spcPct val="0"/>
                </a:spcAft>
              </a:pPr>
              <a:t>689</a:t>
            </a:fld>
            <a:endParaRPr lang="en-US" sz="1200" b="1" noProof="0">
              <a:latin typeface="Arial" panose="020B0604020202020204" pitchFamily="34" charset="0"/>
              <a:cs typeface="+mn-cs"/>
              <a:sym typeface="Arial" panose="020B0604020202020204" pitchFamily="34" charset="0"/>
            </a:endParaRPr>
          </a:p>
        </p:txBody>
      </p:sp>
      <p:sp>
        <p:nvSpPr>
          <p:cNvPr id="227" name="Text Placeholder 18">
            <a:extLst>
              <a:ext uri="{FF2B5EF4-FFF2-40B4-BE49-F238E27FC236}">
                <a16:creationId xmlns:a16="http://schemas.microsoft.com/office/drawing/2014/main" id="{14041C28-280A-054D-DF49-3CF23D737921}"/>
              </a:ext>
            </a:extLst>
          </p:cNvPr>
          <p:cNvSpPr>
            <a:spLocks noGrp="1"/>
          </p:cNvSpPr>
          <p:nvPr>
            <p:custDataLst>
              <p:tags r:id="rId25"/>
            </p:custDataLst>
          </p:nvPr>
        </p:nvSpPr>
        <p:spPr bwMode="gray">
          <a:xfrm>
            <a:off x="2270125" y="1352550"/>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A11ED13-AE1D-448B-97DD-5FB49F4822BB}" type="datetime'''''6''''7''5'''''''''">
              <a:rPr lang="en-US" altLang="en-US" sz="1200" b="1" smtClean="0">
                <a:latin typeface="Arial" panose="020B0604020202020204" pitchFamily="34" charset="0"/>
                <a:cs typeface="+mn-cs"/>
              </a:rPr>
              <a:pPr lvl="0" algn="ctr">
                <a:spcBef>
                  <a:spcPct val="0"/>
                </a:spcBef>
                <a:spcAft>
                  <a:spcPct val="0"/>
                </a:spcAft>
              </a:pPr>
              <a:t>675</a:t>
            </a:fld>
            <a:endParaRPr lang="en-US" sz="1200" b="1" noProof="0">
              <a:latin typeface="Arial" panose="020B0604020202020204" pitchFamily="34" charset="0"/>
              <a:cs typeface="+mn-cs"/>
              <a:sym typeface="Arial" panose="020B0604020202020204" pitchFamily="34" charset="0"/>
            </a:endParaRPr>
          </a:p>
        </p:txBody>
      </p:sp>
      <p:sp>
        <p:nvSpPr>
          <p:cNvPr id="228" name="Text Placeholder 18">
            <a:extLst>
              <a:ext uri="{FF2B5EF4-FFF2-40B4-BE49-F238E27FC236}">
                <a16:creationId xmlns:a16="http://schemas.microsoft.com/office/drawing/2014/main" id="{D8C81B71-1EB6-C149-8947-5044044AD613}"/>
              </a:ext>
            </a:extLst>
          </p:cNvPr>
          <p:cNvSpPr>
            <a:spLocks noGrp="1"/>
          </p:cNvSpPr>
          <p:nvPr>
            <p:custDataLst>
              <p:tags r:id="rId26"/>
            </p:custDataLst>
          </p:nvPr>
        </p:nvSpPr>
        <p:spPr bwMode="gray">
          <a:xfrm>
            <a:off x="3044825" y="1336675"/>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F723A1D-ADF0-43C7-AFFC-2FC49D20DB0E}" type="datetime'''''''''6''''''8''''''''''''''''''''''''''2'''''''">
              <a:rPr lang="en-US" altLang="en-US" sz="1200" b="1" smtClean="0">
                <a:latin typeface="Arial" panose="020B0604020202020204" pitchFamily="34" charset="0"/>
                <a:cs typeface="+mn-cs"/>
              </a:rPr>
              <a:pPr lvl="0" algn="ctr">
                <a:spcBef>
                  <a:spcPct val="0"/>
                </a:spcBef>
                <a:spcAft>
                  <a:spcPct val="0"/>
                </a:spcAft>
              </a:pPr>
              <a:t>682</a:t>
            </a:fld>
            <a:endParaRPr lang="en-US" sz="1200" b="1" noProof="0">
              <a:latin typeface="Arial" panose="020B0604020202020204" pitchFamily="34" charset="0"/>
              <a:cs typeface="+mn-cs"/>
              <a:sym typeface="Arial" panose="020B0604020202020204" pitchFamily="34" charset="0"/>
            </a:endParaRPr>
          </a:p>
        </p:txBody>
      </p:sp>
      <p:sp>
        <p:nvSpPr>
          <p:cNvPr id="234" name="Text Placeholder 18">
            <a:extLst>
              <a:ext uri="{FF2B5EF4-FFF2-40B4-BE49-F238E27FC236}">
                <a16:creationId xmlns:a16="http://schemas.microsoft.com/office/drawing/2014/main" id="{B57EC7D8-EFF5-60C7-A7EB-78B7807396D7}"/>
              </a:ext>
            </a:extLst>
          </p:cNvPr>
          <p:cNvSpPr>
            <a:spLocks noGrp="1"/>
          </p:cNvSpPr>
          <p:nvPr>
            <p:custDataLst>
              <p:tags r:id="rId27"/>
            </p:custDataLst>
          </p:nvPr>
        </p:nvSpPr>
        <p:spPr bwMode="gray">
          <a:xfrm>
            <a:off x="3821113" y="1622425"/>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EBAA2E2-E643-4894-AAAB-D5CBFBB1962E}" type="datetime'''''''52''''''6'''''''''''''">
              <a:rPr lang="en-US" altLang="en-US" sz="1200" b="1" smtClean="0">
                <a:latin typeface="Arial" panose="020B0604020202020204" pitchFamily="34" charset="0"/>
                <a:cs typeface="+mn-cs"/>
              </a:rPr>
              <a:pPr lvl="0" algn="ctr">
                <a:spcBef>
                  <a:spcPct val="0"/>
                </a:spcBef>
                <a:spcAft>
                  <a:spcPct val="0"/>
                </a:spcAft>
              </a:pPr>
              <a:t>526</a:t>
            </a:fld>
            <a:endParaRPr lang="en-US" sz="1200" b="1" noProof="0">
              <a:latin typeface="Arial" panose="020B0604020202020204" pitchFamily="34" charset="0"/>
              <a:cs typeface="+mn-cs"/>
              <a:sym typeface="Arial" panose="020B0604020202020204" pitchFamily="34" charset="0"/>
            </a:endParaRPr>
          </a:p>
        </p:txBody>
      </p:sp>
      <p:sp>
        <p:nvSpPr>
          <p:cNvPr id="236" name="Text Placeholder 18">
            <a:extLst>
              <a:ext uri="{FF2B5EF4-FFF2-40B4-BE49-F238E27FC236}">
                <a16:creationId xmlns:a16="http://schemas.microsoft.com/office/drawing/2014/main" id="{EE25647C-7B79-889F-19CA-2FFAE8DB7F52}"/>
              </a:ext>
            </a:extLst>
          </p:cNvPr>
          <p:cNvSpPr>
            <a:spLocks noGrp="1"/>
          </p:cNvSpPr>
          <p:nvPr>
            <p:custDataLst>
              <p:tags r:id="rId28"/>
            </p:custDataLst>
          </p:nvPr>
        </p:nvSpPr>
        <p:spPr bwMode="gray">
          <a:xfrm>
            <a:off x="4595813" y="1627188"/>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92848B1-9AC2-4FE3-BF50-746072ACFEC2}" type="datetime'5''''''''''''''3''''''''''0'''''''''''''''''''">
              <a:rPr lang="en-US" altLang="en-US" sz="1200" b="1" smtClean="0">
                <a:latin typeface="Arial" panose="020B0604020202020204" pitchFamily="34" charset="0"/>
                <a:cs typeface="+mn-cs"/>
              </a:rPr>
              <a:pPr lvl="0" algn="ctr">
                <a:spcBef>
                  <a:spcPct val="0"/>
                </a:spcBef>
                <a:spcAft>
                  <a:spcPct val="0"/>
                </a:spcAft>
              </a:pPr>
              <a:t>530</a:t>
            </a:fld>
            <a:endParaRPr lang="en-US" sz="1200" b="1" noProof="0">
              <a:latin typeface="Arial" panose="020B0604020202020204" pitchFamily="34" charset="0"/>
              <a:cs typeface="+mn-cs"/>
              <a:sym typeface="Arial" panose="020B0604020202020204" pitchFamily="34" charset="0"/>
            </a:endParaRPr>
          </a:p>
        </p:txBody>
      </p:sp>
      <p:sp>
        <p:nvSpPr>
          <p:cNvPr id="237" name="Text Placeholder 18">
            <a:extLst>
              <a:ext uri="{FF2B5EF4-FFF2-40B4-BE49-F238E27FC236}">
                <a16:creationId xmlns:a16="http://schemas.microsoft.com/office/drawing/2014/main" id="{692621E2-D478-562A-E99A-96B383DD1F14}"/>
              </a:ext>
            </a:extLst>
          </p:cNvPr>
          <p:cNvSpPr>
            <a:spLocks noGrp="1"/>
          </p:cNvSpPr>
          <p:nvPr>
            <p:custDataLst>
              <p:tags r:id="rId29"/>
            </p:custDataLst>
          </p:nvPr>
        </p:nvSpPr>
        <p:spPr bwMode="gray">
          <a:xfrm>
            <a:off x="5370513" y="1498600"/>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F10413B6-A248-4453-9E1D-86BE778771D2}" type="datetime'''''''''5''''''''''99'''''''''''''''''">
              <a:rPr lang="en-US" altLang="en-US" sz="1200" b="1" smtClean="0">
                <a:latin typeface="Arial" panose="020B0604020202020204" pitchFamily="34" charset="0"/>
                <a:cs typeface="+mn-cs"/>
              </a:rPr>
              <a:pPr lvl="0" algn="ctr">
                <a:spcBef>
                  <a:spcPct val="0"/>
                </a:spcBef>
                <a:spcAft>
                  <a:spcPct val="0"/>
                </a:spcAft>
              </a:pPr>
              <a:t>599</a:t>
            </a:fld>
            <a:endParaRPr lang="en-US" sz="1200" b="1" noProof="0">
              <a:latin typeface="Arial" panose="020B0604020202020204" pitchFamily="34" charset="0"/>
              <a:cs typeface="+mn-cs"/>
              <a:sym typeface="Arial" panose="020B0604020202020204" pitchFamily="34" charset="0"/>
            </a:endParaRPr>
          </a:p>
        </p:txBody>
      </p:sp>
      <p:sp>
        <p:nvSpPr>
          <p:cNvPr id="238" name="Text Placeholder 18">
            <a:extLst>
              <a:ext uri="{FF2B5EF4-FFF2-40B4-BE49-F238E27FC236}">
                <a16:creationId xmlns:a16="http://schemas.microsoft.com/office/drawing/2014/main" id="{9B3AAAAC-AB9F-BAFF-A538-4279B71C00D2}"/>
              </a:ext>
            </a:extLst>
          </p:cNvPr>
          <p:cNvSpPr>
            <a:spLocks noGrp="1"/>
          </p:cNvSpPr>
          <p:nvPr>
            <p:custDataLst>
              <p:tags r:id="rId30"/>
            </p:custDataLst>
          </p:nvPr>
        </p:nvSpPr>
        <p:spPr bwMode="gray">
          <a:xfrm>
            <a:off x="6145213" y="1609725"/>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07D2422-113B-4F3A-8948-A93DD34CF264}" type="datetime'5''''3''''''''''''''''9'''''">
              <a:rPr lang="en-US" altLang="en-US" sz="1200" b="1" smtClean="0">
                <a:latin typeface="Arial" panose="020B0604020202020204" pitchFamily="34" charset="0"/>
                <a:cs typeface="+mn-cs"/>
              </a:rPr>
              <a:pPr lvl="0" algn="ctr">
                <a:spcBef>
                  <a:spcPct val="0"/>
                </a:spcBef>
                <a:spcAft>
                  <a:spcPct val="0"/>
                </a:spcAft>
              </a:pPr>
              <a:t>539</a:t>
            </a:fld>
            <a:endParaRPr lang="en-US" sz="1200" b="1" noProof="0">
              <a:latin typeface="Arial" panose="020B0604020202020204" pitchFamily="34" charset="0"/>
              <a:cs typeface="+mn-cs"/>
              <a:sym typeface="Arial" panose="020B0604020202020204" pitchFamily="34" charset="0"/>
            </a:endParaRPr>
          </a:p>
        </p:txBody>
      </p:sp>
      <p:sp>
        <p:nvSpPr>
          <p:cNvPr id="239" name="Text Placeholder 18">
            <a:extLst>
              <a:ext uri="{FF2B5EF4-FFF2-40B4-BE49-F238E27FC236}">
                <a16:creationId xmlns:a16="http://schemas.microsoft.com/office/drawing/2014/main" id="{811AE97C-9D5B-97FA-64E7-2BF923CB694D}"/>
              </a:ext>
            </a:extLst>
          </p:cNvPr>
          <p:cNvSpPr>
            <a:spLocks noGrp="1"/>
          </p:cNvSpPr>
          <p:nvPr>
            <p:custDataLst>
              <p:tags r:id="rId31"/>
            </p:custDataLst>
          </p:nvPr>
        </p:nvSpPr>
        <p:spPr bwMode="gray">
          <a:xfrm>
            <a:off x="6919913" y="1574800"/>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577C2EF-F27D-41AA-B1A1-05CD0315A46A}" type="datetime'''''''''5''''''''''''''''''''5''''''''''''''''''''9'''''''">
              <a:rPr lang="en-US" altLang="en-US" sz="1200" b="1" smtClean="0">
                <a:latin typeface="Arial" panose="020B0604020202020204" pitchFamily="34" charset="0"/>
                <a:cs typeface="+mn-cs"/>
              </a:rPr>
              <a:pPr lvl="0" algn="ctr">
                <a:spcBef>
                  <a:spcPct val="0"/>
                </a:spcBef>
                <a:spcAft>
                  <a:spcPct val="0"/>
                </a:spcAft>
              </a:pPr>
              <a:t>559</a:t>
            </a:fld>
            <a:endParaRPr lang="en-US" sz="1200" b="1" noProof="0">
              <a:latin typeface="Arial" panose="020B0604020202020204" pitchFamily="34" charset="0"/>
              <a:cs typeface="+mn-cs"/>
              <a:sym typeface="Arial" panose="020B0604020202020204" pitchFamily="34" charset="0"/>
            </a:endParaRPr>
          </a:p>
        </p:txBody>
      </p:sp>
      <p:sp>
        <p:nvSpPr>
          <p:cNvPr id="240" name="Text Placeholder 18">
            <a:extLst>
              <a:ext uri="{FF2B5EF4-FFF2-40B4-BE49-F238E27FC236}">
                <a16:creationId xmlns:a16="http://schemas.microsoft.com/office/drawing/2014/main" id="{424012BA-37FE-36DB-52F4-F2C6775E02A2}"/>
              </a:ext>
            </a:extLst>
          </p:cNvPr>
          <p:cNvSpPr>
            <a:spLocks noGrp="1"/>
          </p:cNvSpPr>
          <p:nvPr>
            <p:custDataLst>
              <p:tags r:id="rId32"/>
            </p:custDataLst>
          </p:nvPr>
        </p:nvSpPr>
        <p:spPr bwMode="gray">
          <a:xfrm>
            <a:off x="7694613" y="1557338"/>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C462B5F-87FF-4CDC-9C46-A8DCCD85198A}" type="datetime'5''''''''''''''''''6''''''5'''''''''''''''''''''''''''''''">
              <a:rPr lang="en-US" altLang="en-US" sz="1200" b="1" smtClean="0">
                <a:latin typeface="Arial" panose="020B0604020202020204" pitchFamily="34" charset="0"/>
                <a:cs typeface="+mn-cs"/>
              </a:rPr>
              <a:pPr lvl="0" algn="ctr">
                <a:spcBef>
                  <a:spcPct val="0"/>
                </a:spcBef>
                <a:spcAft>
                  <a:spcPct val="0"/>
                </a:spcAft>
              </a:pPr>
              <a:t>565</a:t>
            </a:fld>
            <a:endParaRPr lang="en-US" sz="1200" b="1" noProof="0">
              <a:latin typeface="Arial" panose="020B0604020202020204" pitchFamily="34" charset="0"/>
              <a:cs typeface="+mn-cs"/>
              <a:sym typeface="Arial" panose="020B0604020202020204" pitchFamily="34" charset="0"/>
            </a:endParaRPr>
          </a:p>
        </p:txBody>
      </p:sp>
      <p:sp>
        <p:nvSpPr>
          <p:cNvPr id="241" name="Text Placeholder 18">
            <a:extLst>
              <a:ext uri="{FF2B5EF4-FFF2-40B4-BE49-F238E27FC236}">
                <a16:creationId xmlns:a16="http://schemas.microsoft.com/office/drawing/2014/main" id="{BC82DB2A-1980-F2C9-649B-0BF7AE77063C}"/>
              </a:ext>
            </a:extLst>
          </p:cNvPr>
          <p:cNvSpPr>
            <a:spLocks noGrp="1"/>
          </p:cNvSpPr>
          <p:nvPr>
            <p:custDataLst>
              <p:tags r:id="rId33"/>
            </p:custDataLst>
          </p:nvPr>
        </p:nvSpPr>
        <p:spPr bwMode="gray">
          <a:xfrm>
            <a:off x="8470900" y="1346200"/>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A8C2C1D-61EF-411A-B194-980D80CE4089}" type="datetime'6''''''''''''8''''''0'''''''''''''''''''''''''''''">
              <a:rPr lang="en-US" altLang="en-US" sz="1200" b="1" smtClean="0">
                <a:latin typeface="Arial" panose="020B0604020202020204" pitchFamily="34" charset="0"/>
                <a:cs typeface="+mn-cs"/>
              </a:rPr>
              <a:pPr lvl="0" algn="ctr">
                <a:spcBef>
                  <a:spcPct val="0"/>
                </a:spcBef>
                <a:spcAft>
                  <a:spcPct val="0"/>
                </a:spcAft>
              </a:pPr>
              <a:t>680</a:t>
            </a:fld>
            <a:endParaRPr lang="en-US" sz="1200" b="1" noProof="0">
              <a:latin typeface="Arial" panose="020B0604020202020204" pitchFamily="34" charset="0"/>
              <a:cs typeface="+mn-cs"/>
              <a:sym typeface="Arial" panose="020B0604020202020204" pitchFamily="34" charset="0"/>
            </a:endParaRPr>
          </a:p>
        </p:txBody>
      </p:sp>
      <p:sp>
        <p:nvSpPr>
          <p:cNvPr id="242" name="Text Placeholder 18">
            <a:extLst>
              <a:ext uri="{FF2B5EF4-FFF2-40B4-BE49-F238E27FC236}">
                <a16:creationId xmlns:a16="http://schemas.microsoft.com/office/drawing/2014/main" id="{B87D858B-0410-6F56-1690-CBA64FF84CF0}"/>
              </a:ext>
            </a:extLst>
          </p:cNvPr>
          <p:cNvSpPr>
            <a:spLocks noGrp="1"/>
          </p:cNvSpPr>
          <p:nvPr>
            <p:custDataLst>
              <p:tags r:id="rId34"/>
            </p:custDataLst>
          </p:nvPr>
        </p:nvSpPr>
        <p:spPr bwMode="gray">
          <a:xfrm>
            <a:off x="9245600" y="1219200"/>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8385119-D0BC-48D2-98A9-9B603801FAD5}" type="datetime'''''''''''''''''''''''''''''7''''''''''''4''''''9'''''''''''">
              <a:rPr lang="en-US" altLang="en-US" sz="1200" b="1" smtClean="0">
                <a:latin typeface="Arial" panose="020B0604020202020204" pitchFamily="34" charset="0"/>
                <a:cs typeface="+mn-cs"/>
              </a:rPr>
              <a:pPr lvl="0" algn="ctr">
                <a:spcBef>
                  <a:spcPct val="0"/>
                </a:spcBef>
                <a:spcAft>
                  <a:spcPct val="0"/>
                </a:spcAft>
              </a:pPr>
              <a:t>749</a:t>
            </a:fld>
            <a:endParaRPr lang="en-US" sz="1200" b="1" noProof="0">
              <a:latin typeface="Arial" panose="020B0604020202020204" pitchFamily="34" charset="0"/>
              <a:cs typeface="+mn-cs"/>
              <a:sym typeface="Arial" panose="020B0604020202020204" pitchFamily="34" charset="0"/>
            </a:endParaRPr>
          </a:p>
        </p:txBody>
      </p:sp>
      <p:sp>
        <p:nvSpPr>
          <p:cNvPr id="243" name="Text Placeholder 18">
            <a:extLst>
              <a:ext uri="{FF2B5EF4-FFF2-40B4-BE49-F238E27FC236}">
                <a16:creationId xmlns:a16="http://schemas.microsoft.com/office/drawing/2014/main" id="{AC51DAFC-B565-5934-1B82-65BA6B7BB801}"/>
              </a:ext>
            </a:extLst>
          </p:cNvPr>
          <p:cNvSpPr>
            <a:spLocks noGrp="1"/>
          </p:cNvSpPr>
          <p:nvPr>
            <p:custDataLst>
              <p:tags r:id="rId35"/>
            </p:custDataLst>
          </p:nvPr>
        </p:nvSpPr>
        <p:spPr bwMode="gray">
          <a:xfrm>
            <a:off x="10020300" y="1193800"/>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B756F60-4AA2-4ECF-8647-C6050318AAA6}" type="datetime'''''''''''''''''''''''''''''''''''''7''''''''4''''9'''">
              <a:rPr lang="en-US" altLang="en-US" sz="1200" b="1" smtClean="0">
                <a:latin typeface="Arial" panose="020B0604020202020204" pitchFamily="34" charset="0"/>
                <a:cs typeface="+mn-cs"/>
              </a:rPr>
              <a:pPr lvl="0" algn="ctr">
                <a:spcBef>
                  <a:spcPct val="0"/>
                </a:spcBef>
                <a:spcAft>
                  <a:spcPct val="0"/>
                </a:spcAft>
              </a:pPr>
              <a:t>749</a:t>
            </a:fld>
            <a:endParaRPr lang="en-US" sz="1200" b="1" noProof="0">
              <a:latin typeface="Arial" panose="020B0604020202020204" pitchFamily="34" charset="0"/>
              <a:cs typeface="+mn-cs"/>
              <a:sym typeface="Arial" panose="020B0604020202020204" pitchFamily="34" charset="0"/>
            </a:endParaRPr>
          </a:p>
        </p:txBody>
      </p:sp>
      <p:sp>
        <p:nvSpPr>
          <p:cNvPr id="726" name="Text Placeholder 18">
            <a:extLst>
              <a:ext uri="{FF2B5EF4-FFF2-40B4-BE49-F238E27FC236}">
                <a16:creationId xmlns:a16="http://schemas.microsoft.com/office/drawing/2014/main" id="{197DD519-7D12-0F4F-243C-129D7FD61523}"/>
              </a:ext>
            </a:extLst>
          </p:cNvPr>
          <p:cNvSpPr>
            <a:spLocks noGrp="1"/>
          </p:cNvSpPr>
          <p:nvPr>
            <p:custDataLst>
              <p:tags r:id="rId36"/>
            </p:custDataLst>
          </p:nvPr>
        </p:nvSpPr>
        <p:spPr bwMode="gray">
          <a:xfrm>
            <a:off x="2328863" y="2728914"/>
            <a:ext cx="185738" cy="182563"/>
          </a:xfrm>
          <a:prstGeom prst="rect">
            <a:avLst/>
          </a:prstGeom>
          <a:solidFill>
            <a:srgbClr val="62B5E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0D880676-BFF4-4127-A1AB-B12F19F05B67}" type="datetime'''''''''''''''''-''''''4'''''''''''''''''''''''''''">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-4</a:t>
            </a:fld>
            <a:endParaRPr lang="en-US" sz="1200" noProof="0">
              <a:latin typeface="Arial" panose="020B0604020202020204" pitchFamily="34" charset="0"/>
              <a:cs typeface="+mn-cs"/>
              <a:sym typeface="Arial" panose="020B0604020202020204" pitchFamily="34" charset="0"/>
            </a:endParaRPr>
          </a:p>
        </p:txBody>
      </p:sp>
      <p:sp>
        <p:nvSpPr>
          <p:cNvPr id="728" name="Text Placeholder 18">
            <a:extLst>
              <a:ext uri="{FF2B5EF4-FFF2-40B4-BE49-F238E27FC236}">
                <a16:creationId xmlns:a16="http://schemas.microsoft.com/office/drawing/2014/main" id="{E7A8EA96-AAB6-DF5F-5F4C-0D0F8B041492}"/>
              </a:ext>
            </a:extLst>
          </p:cNvPr>
          <p:cNvSpPr>
            <a:spLocks noGrp="1"/>
          </p:cNvSpPr>
          <p:nvPr>
            <p:custDataLst>
              <p:tags r:id="rId37"/>
            </p:custDataLst>
          </p:nvPr>
        </p:nvSpPr>
        <p:spPr bwMode="gray">
          <a:xfrm>
            <a:off x="3771900" y="2732089"/>
            <a:ext cx="185738" cy="182563"/>
          </a:xfrm>
          <a:prstGeom prst="rect">
            <a:avLst/>
          </a:prstGeom>
          <a:solidFill>
            <a:srgbClr val="62B5E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25846DE-D188-4DB5-B1D3-316A1BB75DB8}" type="datetime'''-''''''''''''''''''''''''''7'">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-7</a:t>
            </a:fld>
            <a:endParaRPr lang="en-US" sz="1200" noProof="0">
              <a:latin typeface="Arial" panose="020B0604020202020204" pitchFamily="34" charset="0"/>
              <a:cs typeface="+mn-cs"/>
              <a:sym typeface="Arial" panose="020B0604020202020204" pitchFamily="34" charset="0"/>
            </a:endParaRPr>
          </a:p>
        </p:txBody>
      </p:sp>
      <p:sp>
        <p:nvSpPr>
          <p:cNvPr id="736" name="Text Placeholder 18">
            <a:extLst>
              <a:ext uri="{FF2B5EF4-FFF2-40B4-BE49-F238E27FC236}">
                <a16:creationId xmlns:a16="http://schemas.microsoft.com/office/drawing/2014/main" id="{D036FE2A-7C71-8FF8-9B9F-146893E3A3F8}"/>
              </a:ext>
            </a:extLst>
          </p:cNvPr>
          <p:cNvSpPr>
            <a:spLocks noGrp="1"/>
          </p:cNvSpPr>
          <p:nvPr>
            <p:custDataLst>
              <p:tags r:id="rId38"/>
            </p:custDataLst>
          </p:nvPr>
        </p:nvSpPr>
        <p:spPr bwMode="gray">
          <a:xfrm>
            <a:off x="9304338" y="2727325"/>
            <a:ext cx="185738" cy="182563"/>
          </a:xfrm>
          <a:prstGeom prst="rect">
            <a:avLst/>
          </a:prstGeom>
          <a:solidFill>
            <a:srgbClr val="62B5E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D81E50F-EB2F-48F9-A218-A2D555AF8FFE}" type="datetime'''''''''''''''''''''''''''''''''''''''''''''-''''''3'''''">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-3</a:t>
            </a:fld>
            <a:endParaRPr lang="en-US" sz="1200" noProof="0">
              <a:latin typeface="Arial" panose="020B0604020202020204" pitchFamily="34" charset="0"/>
              <a:cs typeface="+mn-cs"/>
              <a:sym typeface="Arial" panose="020B0604020202020204" pitchFamily="34" charset="0"/>
            </a:endParaRPr>
          </a:p>
        </p:txBody>
      </p:sp>
      <p:sp>
        <p:nvSpPr>
          <p:cNvPr id="223" name="TextBox 222">
            <a:extLst>
              <a:ext uri="{FF2B5EF4-FFF2-40B4-BE49-F238E27FC236}">
                <a16:creationId xmlns:a16="http://schemas.microsoft.com/office/drawing/2014/main" id="{2C997ED2-B2C2-3AD5-A33F-FEC7FF21A3F7}"/>
              </a:ext>
            </a:extLst>
          </p:cNvPr>
          <p:cNvSpPr txBox="1"/>
          <p:nvPr/>
        </p:nvSpPr>
        <p:spPr>
          <a:xfrm>
            <a:off x="4000501" y="950730"/>
            <a:ext cx="3997325" cy="307777"/>
          </a:xfrm>
          <a:prstGeom prst="rect">
            <a:avLst/>
          </a:prstGeom>
          <a:noFill/>
        </p:spPr>
        <p:txBody>
          <a:bodyPr wrap="square">
            <a:spAutoFit/>
          </a:bodyPr>
          <a:lstStyle/>
          <a:p>
            <a:pPr algn="ctr"/>
            <a:r>
              <a:rPr lang="en-US" sz="1400" b="1">
                <a:latin typeface="Arial" panose="020B0604020202020204" pitchFamily="34" charset="0"/>
                <a:cs typeface="Arial" panose="020B0604020202020204" pitchFamily="34" charset="0"/>
              </a:rPr>
              <a:t>Monthly Energy Balance Curve (GWh) </a:t>
            </a:r>
            <a:endParaRPr lang="en-US" sz="1400" b="1"/>
          </a:p>
        </p:txBody>
      </p:sp>
      <p:graphicFrame>
        <p:nvGraphicFramePr>
          <p:cNvPr id="739" name="Chart 738">
            <a:extLst>
              <a:ext uri="{FF2B5EF4-FFF2-40B4-BE49-F238E27FC236}">
                <a16:creationId xmlns:a16="http://schemas.microsoft.com/office/drawing/2014/main" id="{BB128F50-450B-96A0-89C6-493D1E0DE0ED}"/>
              </a:ext>
            </a:extLst>
          </p:cNvPr>
          <p:cNvGraphicFramePr/>
          <p:nvPr>
            <p:custDataLst>
              <p:tags r:id="rId39"/>
            </p:custDataLst>
            <p:extLst>
              <p:ext uri="{D42A27DB-BD31-4B8C-83A1-F6EECF244321}">
                <p14:modId xmlns:p14="http://schemas.microsoft.com/office/powerpoint/2010/main" val="311239168"/>
              </p:ext>
            </p:extLst>
          </p:nvPr>
        </p:nvGraphicFramePr>
        <p:xfrm>
          <a:off x="998538" y="3541713"/>
          <a:ext cx="9636125" cy="1804987"/>
        </p:xfrm>
        <a:graphic>
          <a:graphicData uri="http://schemas.openxmlformats.org/drawingml/2006/chart">
            <c:chart xmlns:c="http://schemas.openxmlformats.org/drawingml/2006/chart" xmlns:r="http://schemas.openxmlformats.org/officeDocument/2006/relationships" r:id="rId109"/>
          </a:graphicData>
        </a:graphic>
      </p:graphicFrame>
      <p:cxnSp>
        <p:nvCxnSpPr>
          <p:cNvPr id="36" name="Straight Connector 35">
            <a:extLst>
              <a:ext uri="{FF2B5EF4-FFF2-40B4-BE49-F238E27FC236}">
                <a16:creationId xmlns:a16="http://schemas.microsoft.com/office/drawing/2014/main" id="{79B82A4B-D4BE-2862-E274-3F253A946322}"/>
              </a:ext>
            </a:extLst>
          </p:cNvPr>
          <p:cNvCxnSpPr/>
          <p:nvPr>
            <p:custDataLst>
              <p:tags r:id="rId40"/>
            </p:custDataLst>
          </p:nvPr>
        </p:nvCxnSpPr>
        <p:spPr bwMode="auto">
          <a:xfrm flipH="1">
            <a:off x="4795838" y="4689475"/>
            <a:ext cx="74613" cy="10795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EBAFAC87-8202-5E11-C9A7-04318842C773}"/>
              </a:ext>
            </a:extLst>
          </p:cNvPr>
          <p:cNvCxnSpPr>
            <a:cxnSpLocks/>
          </p:cNvCxnSpPr>
          <p:nvPr>
            <p:custDataLst>
              <p:tags r:id="rId41"/>
            </p:custDataLst>
          </p:nvPr>
        </p:nvCxnSpPr>
        <p:spPr bwMode="auto">
          <a:xfrm flipV="1">
            <a:off x="1649413" y="4887913"/>
            <a:ext cx="0" cy="1016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1" name="Straight Connector 40">
            <a:extLst>
              <a:ext uri="{FF2B5EF4-FFF2-40B4-BE49-F238E27FC236}">
                <a16:creationId xmlns:a16="http://schemas.microsoft.com/office/drawing/2014/main" id="{BE8949CE-EAB5-6D6B-100A-18E069AA5D88}"/>
              </a:ext>
            </a:extLst>
          </p:cNvPr>
          <p:cNvCxnSpPr/>
          <p:nvPr>
            <p:custDataLst>
              <p:tags r:id="rId42"/>
            </p:custDataLst>
          </p:nvPr>
        </p:nvCxnSpPr>
        <p:spPr bwMode="auto">
          <a:xfrm flipH="1">
            <a:off x="6375400" y="4689475"/>
            <a:ext cx="74613" cy="1174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2" name="Straight Connector 481">
            <a:extLst>
              <a:ext uri="{FF2B5EF4-FFF2-40B4-BE49-F238E27FC236}">
                <a16:creationId xmlns:a16="http://schemas.microsoft.com/office/drawing/2014/main" id="{1AE8EBB9-BC81-2BE4-8870-2CDDF544FD69}"/>
              </a:ext>
            </a:extLst>
          </p:cNvPr>
          <p:cNvCxnSpPr/>
          <p:nvPr>
            <p:custDataLst>
              <p:tags r:id="rId43"/>
            </p:custDataLst>
          </p:nvPr>
        </p:nvCxnSpPr>
        <p:spPr bwMode="auto">
          <a:xfrm flipH="1">
            <a:off x="7164388" y="4689475"/>
            <a:ext cx="74613" cy="1174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7C317565-C654-B97D-D577-2F455061C4F3}"/>
              </a:ext>
            </a:extLst>
          </p:cNvPr>
          <p:cNvCxnSpPr/>
          <p:nvPr>
            <p:custDataLst>
              <p:tags r:id="rId44"/>
            </p:custDataLst>
          </p:nvPr>
        </p:nvCxnSpPr>
        <p:spPr bwMode="auto">
          <a:xfrm flipH="1">
            <a:off x="2428875" y="4689475"/>
            <a:ext cx="74613" cy="115888"/>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380CDFE2-385F-FC83-B182-68EBA2655A34}"/>
              </a:ext>
            </a:extLst>
          </p:cNvPr>
          <p:cNvCxnSpPr/>
          <p:nvPr>
            <p:custDataLst>
              <p:tags r:id="rId45"/>
            </p:custDataLst>
          </p:nvPr>
        </p:nvCxnSpPr>
        <p:spPr bwMode="auto">
          <a:xfrm flipH="1">
            <a:off x="4006850" y="4689475"/>
            <a:ext cx="74613" cy="1174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929B586C-57A5-EB5D-4A98-31FB8E111E38}"/>
              </a:ext>
            </a:extLst>
          </p:cNvPr>
          <p:cNvCxnSpPr/>
          <p:nvPr>
            <p:custDataLst>
              <p:tags r:id="rId46"/>
            </p:custDataLst>
          </p:nvPr>
        </p:nvCxnSpPr>
        <p:spPr bwMode="auto">
          <a:xfrm flipH="1">
            <a:off x="5584825" y="4689475"/>
            <a:ext cx="74613" cy="1174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0" name="Straight Connector 479">
            <a:extLst>
              <a:ext uri="{FF2B5EF4-FFF2-40B4-BE49-F238E27FC236}">
                <a16:creationId xmlns:a16="http://schemas.microsoft.com/office/drawing/2014/main" id="{A371C79B-E5BE-1EFD-286A-7E0AC2D4337B}"/>
              </a:ext>
            </a:extLst>
          </p:cNvPr>
          <p:cNvCxnSpPr/>
          <p:nvPr>
            <p:custDataLst>
              <p:tags r:id="rId47"/>
            </p:custDataLst>
          </p:nvPr>
        </p:nvCxnSpPr>
        <p:spPr bwMode="auto">
          <a:xfrm flipH="1">
            <a:off x="3217863" y="4689475"/>
            <a:ext cx="74613" cy="115888"/>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3" name="Straight Connector 42">
            <a:extLst>
              <a:ext uri="{FF2B5EF4-FFF2-40B4-BE49-F238E27FC236}">
                <a16:creationId xmlns:a16="http://schemas.microsoft.com/office/drawing/2014/main" id="{88E74EF4-C6C8-BFAA-C3BF-81F92F101CD1}"/>
              </a:ext>
            </a:extLst>
          </p:cNvPr>
          <p:cNvCxnSpPr/>
          <p:nvPr>
            <p:custDataLst>
              <p:tags r:id="rId48"/>
            </p:custDataLst>
          </p:nvPr>
        </p:nvCxnSpPr>
        <p:spPr bwMode="auto">
          <a:xfrm flipH="1">
            <a:off x="7953375" y="4689475"/>
            <a:ext cx="74613" cy="1174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4" name="Straight Connector 43">
            <a:extLst>
              <a:ext uri="{FF2B5EF4-FFF2-40B4-BE49-F238E27FC236}">
                <a16:creationId xmlns:a16="http://schemas.microsoft.com/office/drawing/2014/main" id="{676345C6-7399-D216-EA07-DC1A0DDB200F}"/>
              </a:ext>
            </a:extLst>
          </p:cNvPr>
          <p:cNvCxnSpPr/>
          <p:nvPr>
            <p:custDataLst>
              <p:tags r:id="rId49"/>
            </p:custDataLst>
          </p:nvPr>
        </p:nvCxnSpPr>
        <p:spPr bwMode="auto">
          <a:xfrm flipH="1">
            <a:off x="8742363" y="4689475"/>
            <a:ext cx="74613" cy="1174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9085D034-E9B4-2B19-2CB2-E35855C8776F}"/>
              </a:ext>
            </a:extLst>
          </p:cNvPr>
          <p:cNvCxnSpPr/>
          <p:nvPr>
            <p:custDataLst>
              <p:tags r:id="rId50"/>
            </p:custDataLst>
          </p:nvPr>
        </p:nvCxnSpPr>
        <p:spPr bwMode="auto">
          <a:xfrm flipH="1" flipV="1">
            <a:off x="9531350" y="4827588"/>
            <a:ext cx="74613" cy="9525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3" name="Straight Connector 482">
            <a:extLst>
              <a:ext uri="{FF2B5EF4-FFF2-40B4-BE49-F238E27FC236}">
                <a16:creationId xmlns:a16="http://schemas.microsoft.com/office/drawing/2014/main" id="{0DE5C541-A134-A77C-8DF9-A782792E2F78}"/>
              </a:ext>
            </a:extLst>
          </p:cNvPr>
          <p:cNvCxnSpPr/>
          <p:nvPr>
            <p:custDataLst>
              <p:tags r:id="rId51"/>
            </p:custDataLst>
          </p:nvPr>
        </p:nvCxnSpPr>
        <p:spPr bwMode="auto">
          <a:xfrm flipH="1">
            <a:off x="10320338" y="4689475"/>
            <a:ext cx="74613" cy="11112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64" name="Text Placeholder 18">
            <a:extLst>
              <a:ext uri="{FF2B5EF4-FFF2-40B4-BE49-F238E27FC236}">
                <a16:creationId xmlns:a16="http://schemas.microsoft.com/office/drawing/2014/main" id="{34BBD889-864E-2090-3FA6-35F74B332EFA}"/>
              </a:ext>
            </a:extLst>
          </p:cNvPr>
          <p:cNvSpPr>
            <a:spLocks noGrp="1"/>
          </p:cNvSpPr>
          <p:nvPr>
            <p:custDataLst>
              <p:tags r:id="rId52"/>
            </p:custDataLst>
          </p:nvPr>
        </p:nvSpPr>
        <p:spPr bwMode="gray">
          <a:xfrm>
            <a:off x="4081463" y="4598988"/>
            <a:ext cx="134938" cy="182563"/>
          </a:xfrm>
          <a:prstGeom prst="rect">
            <a:avLst/>
          </a:prstGeom>
          <a:noFill/>
          <a:ln>
            <a:noFill/>
          </a:ln>
          <a:effectLst/>
          <a:extLst>
            <a:ext uri="{909E8E84-426E-40DD-AFC4-6F175D3DCCD1}">
              <a14:hiddenFill xmlns:a14="http://schemas.microsoft.com/office/drawing/2010/main">
                <a:solidFill>
                  <a:srgbClr val="046A38"/>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6F5F611E-CF02-46DA-8FB1-DBC22BECE9AB}" type="datetime'''''''''''''''''''''''''0'''''''''''''''''''''''''">
              <a:rPr lang="en-US" altLang="en-US" sz="1200" smtClean="0">
                <a:effectLst/>
                <a:latin typeface="Arial" panose="020B0604020202020204" pitchFamily="34" charset="0"/>
                <a:cs typeface="+mn-cs"/>
              </a:rPr>
              <a:pPr lvl="0">
                <a:spcBef>
                  <a:spcPct val="0"/>
                </a:spcBef>
                <a:spcAft>
                  <a:spcPct val="0"/>
                </a:spcAft>
              </a:pPr>
              <a:t>0</a:t>
            </a:fld>
            <a:endParaRPr lang="en-US" sz="1200" noProof="0">
              <a:latin typeface="Arial" panose="020B0604020202020204" pitchFamily="34" charset="0"/>
              <a:cs typeface="+mn-cs"/>
              <a:sym typeface="Arial" panose="020B0604020202020204" pitchFamily="34" charset="0"/>
            </a:endParaRPr>
          </a:p>
        </p:txBody>
      </p:sp>
      <p:sp>
        <p:nvSpPr>
          <p:cNvPr id="45" name="Text Placeholder 18">
            <a:extLst>
              <a:ext uri="{FF2B5EF4-FFF2-40B4-BE49-F238E27FC236}">
                <a16:creationId xmlns:a16="http://schemas.microsoft.com/office/drawing/2014/main" id="{21F6675E-2EDD-E20E-F6AE-CD8EC1B2A233}"/>
              </a:ext>
            </a:extLst>
          </p:cNvPr>
          <p:cNvSpPr>
            <a:spLocks noGrp="1"/>
          </p:cNvSpPr>
          <p:nvPr>
            <p:custDataLst>
              <p:tags r:id="rId53"/>
            </p:custDataLst>
          </p:nvPr>
        </p:nvSpPr>
        <p:spPr bwMode="auto">
          <a:xfrm>
            <a:off x="3556000" y="5222875"/>
            <a:ext cx="5715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0FF8B83A-D225-48C3-AAEB-DA966BFA565B}" type="datetime'O''''''''''''''''''''c''t''''''''-''''''''''N''''o''''''v'''''">
              <a:rPr lang="en-US" altLang="en-US" sz="1200" smtClean="0">
                <a:latin typeface="Arial" panose="020B0604020202020204" pitchFamily="34" charset="0"/>
                <a:cs typeface="+mn-cs"/>
              </a:rPr>
              <a:pPr lvl="0" algn="ctr">
                <a:spcBef>
                  <a:spcPct val="0"/>
                </a:spcBef>
                <a:spcAft>
                  <a:spcPct val="0"/>
                </a:spcAft>
              </a:pPr>
              <a:t>Oct-Nov</a:t>
            </a:fld>
            <a:endParaRPr lang="en-US" sz="1200" noProof="0">
              <a:latin typeface="Arial" panose="020B0604020202020204" pitchFamily="34" charset="0"/>
              <a:cs typeface="+mn-cs"/>
              <a:sym typeface="Arial" panose="020B0604020202020204" pitchFamily="34" charset="0"/>
            </a:endParaRPr>
          </a:p>
        </p:txBody>
      </p:sp>
      <p:sp>
        <p:nvSpPr>
          <p:cNvPr id="463" name="Text Placeholder 18">
            <a:extLst>
              <a:ext uri="{FF2B5EF4-FFF2-40B4-BE49-F238E27FC236}">
                <a16:creationId xmlns:a16="http://schemas.microsoft.com/office/drawing/2014/main" id="{A90F9E38-9832-046C-7063-06E1D593B154}"/>
              </a:ext>
            </a:extLst>
          </p:cNvPr>
          <p:cNvSpPr>
            <a:spLocks noGrp="1"/>
          </p:cNvSpPr>
          <p:nvPr>
            <p:custDataLst>
              <p:tags r:id="rId54"/>
            </p:custDataLst>
          </p:nvPr>
        </p:nvSpPr>
        <p:spPr bwMode="gray">
          <a:xfrm>
            <a:off x="3292475" y="4598988"/>
            <a:ext cx="134938" cy="182563"/>
          </a:xfrm>
          <a:prstGeom prst="rect">
            <a:avLst/>
          </a:prstGeom>
          <a:noFill/>
          <a:ln>
            <a:noFill/>
          </a:ln>
          <a:effectLst/>
          <a:extLst>
            <a:ext uri="{909E8E84-426E-40DD-AFC4-6F175D3DCCD1}">
              <a14:hiddenFill xmlns:a14="http://schemas.microsoft.com/office/drawing/2010/main">
                <a:solidFill>
                  <a:srgbClr val="046A38"/>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E9460E1A-6677-4DC9-A731-C9B0093E7C72}" type="datetime'''1'''''''''''''''''''''''''''''''''''''''''''''''">
              <a:rPr lang="en-US" altLang="en-US" sz="1200" smtClean="0">
                <a:effectLst/>
                <a:latin typeface="Arial" panose="020B0604020202020204" pitchFamily="34" charset="0"/>
                <a:cs typeface="+mn-cs"/>
              </a:rPr>
              <a:pPr lvl="0">
                <a:spcBef>
                  <a:spcPct val="0"/>
                </a:spcBef>
                <a:spcAft>
                  <a:spcPct val="0"/>
                </a:spcAft>
              </a:pPr>
              <a:t>1</a:t>
            </a:fld>
            <a:endParaRPr lang="en-US" sz="1200" noProof="0">
              <a:latin typeface="Arial" panose="020B0604020202020204" pitchFamily="34" charset="0"/>
              <a:cs typeface="+mn-cs"/>
              <a:sym typeface="Arial" panose="020B0604020202020204" pitchFamily="34" charset="0"/>
            </a:endParaRPr>
          </a:p>
        </p:txBody>
      </p:sp>
      <p:sp>
        <p:nvSpPr>
          <p:cNvPr id="457" name="Text Placeholder 18">
            <a:extLst>
              <a:ext uri="{FF2B5EF4-FFF2-40B4-BE49-F238E27FC236}">
                <a16:creationId xmlns:a16="http://schemas.microsoft.com/office/drawing/2014/main" id="{F83BA7A8-5468-7328-488F-A9146D921834}"/>
              </a:ext>
            </a:extLst>
          </p:cNvPr>
          <p:cNvSpPr>
            <a:spLocks noGrp="1"/>
          </p:cNvSpPr>
          <p:nvPr>
            <p:custDataLst>
              <p:tags r:id="rId55"/>
            </p:custDataLst>
          </p:nvPr>
        </p:nvSpPr>
        <p:spPr bwMode="gray">
          <a:xfrm>
            <a:off x="4459288" y="4751388"/>
            <a:ext cx="342900" cy="182563"/>
          </a:xfrm>
          <a:prstGeom prst="rect">
            <a:avLst/>
          </a:prstGeom>
          <a:solidFill>
            <a:srgbClr val="ED8B00"/>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32381B0-3EB5-486D-BB3C-1E8660B5B195}" type="datetime'''''''''''''''''''''''''''-''''''''''''''''1''1''4'''''''''">
              <a:rPr lang="en-US" altLang="en-US" sz="1200" smtClean="0">
                <a:effectLst/>
                <a:latin typeface="Arial" panose="020B0604020202020204" pitchFamily="34" charset="0"/>
                <a:cs typeface="+mn-cs"/>
              </a:rPr>
              <a:pPr lvl="0" algn="ctr">
                <a:spcBef>
                  <a:spcPct val="0"/>
                </a:spcBef>
                <a:spcAft>
                  <a:spcPct val="0"/>
                </a:spcAft>
              </a:pPr>
              <a:t>-114</a:t>
            </a:fld>
            <a:endParaRPr lang="en-US" sz="1200" noProof="0">
              <a:latin typeface="Arial" panose="020B0604020202020204" pitchFamily="34" charset="0"/>
              <a:cs typeface="+mn-cs"/>
              <a:sym typeface="Arial" panose="020B0604020202020204" pitchFamily="34" charset="0"/>
            </a:endParaRPr>
          </a:p>
        </p:txBody>
      </p:sp>
      <p:sp>
        <p:nvSpPr>
          <p:cNvPr id="46" name="Text Placeholder 18">
            <a:extLst>
              <a:ext uri="{FF2B5EF4-FFF2-40B4-BE49-F238E27FC236}">
                <a16:creationId xmlns:a16="http://schemas.microsoft.com/office/drawing/2014/main" id="{47D1C6B2-97DE-ACEB-FB15-C41782EF146C}"/>
              </a:ext>
            </a:extLst>
          </p:cNvPr>
          <p:cNvSpPr>
            <a:spLocks noGrp="1"/>
          </p:cNvSpPr>
          <p:nvPr>
            <p:custDataLst>
              <p:tags r:id="rId56"/>
            </p:custDataLst>
          </p:nvPr>
        </p:nvSpPr>
        <p:spPr bwMode="auto">
          <a:xfrm>
            <a:off x="4329113" y="5222875"/>
            <a:ext cx="603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D5F43C1-454D-4156-A464-80F8FBEBFCF8}" type="datetime'''''''''''N''o''v''''''''''''''''''-''Dec'''''''''''''''''">
              <a:rPr lang="en-US" altLang="en-US" sz="1200" smtClean="0">
                <a:latin typeface="Arial" panose="020B0604020202020204" pitchFamily="34" charset="0"/>
                <a:cs typeface="+mn-cs"/>
              </a:rPr>
              <a:pPr lvl="0" algn="ctr">
                <a:spcBef>
                  <a:spcPct val="0"/>
                </a:spcBef>
                <a:spcAft>
                  <a:spcPct val="0"/>
                </a:spcAft>
              </a:pPr>
              <a:t>Nov-Dec</a:t>
            </a:fld>
            <a:endParaRPr lang="en-US" sz="1200" noProof="0">
              <a:latin typeface="Arial" panose="020B0604020202020204" pitchFamily="34" charset="0"/>
              <a:cs typeface="+mn-cs"/>
              <a:sym typeface="Arial" panose="020B0604020202020204" pitchFamily="34" charset="0"/>
            </a:endParaRPr>
          </a:p>
        </p:txBody>
      </p:sp>
      <p:sp>
        <p:nvSpPr>
          <p:cNvPr id="477" name="Text Placeholder 18">
            <a:extLst>
              <a:ext uri="{FF2B5EF4-FFF2-40B4-BE49-F238E27FC236}">
                <a16:creationId xmlns:a16="http://schemas.microsoft.com/office/drawing/2014/main" id="{96596715-5190-2229-C42A-C201B41CA7E1}"/>
              </a:ext>
            </a:extLst>
          </p:cNvPr>
          <p:cNvSpPr>
            <a:spLocks noGrp="1"/>
          </p:cNvSpPr>
          <p:nvPr>
            <p:custDataLst>
              <p:tags r:id="rId57"/>
            </p:custDataLst>
          </p:nvPr>
        </p:nvSpPr>
        <p:spPr bwMode="gray">
          <a:xfrm>
            <a:off x="5268913" y="4665663"/>
            <a:ext cx="303213" cy="182563"/>
          </a:xfrm>
          <a:prstGeom prst="rect">
            <a:avLst/>
          </a:prstGeom>
          <a:solidFill>
            <a:srgbClr val="046A38"/>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1A25DB7-6BEF-496B-979E-CEECE86210D5}" type="datetime'''''''''''''1''''''''''6''''''''''''''3'''''''''''''''">
              <a:rPr lang="en-US" altLang="en-US" sz="12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163</a:t>
            </a:fld>
            <a:endParaRPr lang="en-US" sz="1200" noProof="0">
              <a:solidFill>
                <a:schemeClr val="bg1"/>
              </a:solidFill>
              <a:latin typeface="Arial" panose="020B0604020202020204" pitchFamily="34" charset="0"/>
              <a:cs typeface="+mn-cs"/>
              <a:sym typeface="Arial" panose="020B0604020202020204" pitchFamily="34" charset="0"/>
            </a:endParaRPr>
          </a:p>
        </p:txBody>
      </p:sp>
      <p:sp>
        <p:nvSpPr>
          <p:cNvPr id="47" name="Text Placeholder 18">
            <a:extLst>
              <a:ext uri="{FF2B5EF4-FFF2-40B4-BE49-F238E27FC236}">
                <a16:creationId xmlns:a16="http://schemas.microsoft.com/office/drawing/2014/main" id="{8D73E5BB-797F-6580-9C99-3F7B0C840D82}"/>
              </a:ext>
            </a:extLst>
          </p:cNvPr>
          <p:cNvSpPr>
            <a:spLocks noGrp="1"/>
          </p:cNvSpPr>
          <p:nvPr>
            <p:custDataLst>
              <p:tags r:id="rId58"/>
            </p:custDataLst>
          </p:nvPr>
        </p:nvSpPr>
        <p:spPr bwMode="gray">
          <a:xfrm>
            <a:off x="5659438" y="4598988"/>
            <a:ext cx="134938" cy="182563"/>
          </a:xfrm>
          <a:prstGeom prst="rect">
            <a:avLst/>
          </a:prstGeom>
          <a:noFill/>
          <a:ln>
            <a:noFill/>
          </a:ln>
          <a:effectLst/>
          <a:extLst>
            <a:ext uri="{909E8E84-426E-40DD-AFC4-6F175D3DCCD1}">
              <a14:hiddenFill xmlns:a14="http://schemas.microsoft.com/office/drawing/2010/main">
                <a:solidFill>
                  <a:srgbClr val="62B5E5"/>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36CEA8CD-A5A3-4E55-B6CF-081E89DBB998}" type="datetime'''''0'''''''''''''''''''''''''''''''">
              <a:rPr lang="en-US" altLang="en-US" sz="1200" smtClean="0">
                <a:latin typeface="Arial" panose="020B0604020202020204" pitchFamily="34" charset="0"/>
                <a:cs typeface="+mn-cs"/>
              </a:rPr>
              <a:pPr lvl="0">
                <a:spcBef>
                  <a:spcPct val="0"/>
                </a:spcBef>
                <a:spcAft>
                  <a:spcPct val="0"/>
                </a:spcAft>
              </a:pPr>
              <a:t>0</a:t>
            </a:fld>
            <a:endParaRPr lang="en-US" sz="1200" noProof="0">
              <a:latin typeface="Arial" panose="020B0604020202020204" pitchFamily="34" charset="0"/>
              <a:cs typeface="+mn-cs"/>
              <a:sym typeface="Arial" panose="020B0604020202020204" pitchFamily="34" charset="0"/>
            </a:endParaRPr>
          </a:p>
        </p:txBody>
      </p:sp>
      <p:sp>
        <p:nvSpPr>
          <p:cNvPr id="48" name="Text Placeholder 18">
            <a:extLst>
              <a:ext uri="{FF2B5EF4-FFF2-40B4-BE49-F238E27FC236}">
                <a16:creationId xmlns:a16="http://schemas.microsoft.com/office/drawing/2014/main" id="{F62F9018-344D-64E0-2387-611B75C06A43}"/>
              </a:ext>
            </a:extLst>
          </p:cNvPr>
          <p:cNvSpPr>
            <a:spLocks noGrp="1"/>
          </p:cNvSpPr>
          <p:nvPr>
            <p:custDataLst>
              <p:tags r:id="rId59"/>
            </p:custDataLst>
          </p:nvPr>
        </p:nvSpPr>
        <p:spPr bwMode="auto">
          <a:xfrm>
            <a:off x="5130800" y="5222875"/>
            <a:ext cx="5778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F93F30EB-565C-4AB5-BB59-9730D7E0BC0D}" type="datetime'''D''''''''''''e''''''c''''''-''''''''''''''''J''''''''''''an'">
              <a:rPr lang="en-US" altLang="en-US" sz="1200" smtClean="0">
                <a:latin typeface="Arial" panose="020B0604020202020204" pitchFamily="34" charset="0"/>
                <a:cs typeface="+mn-cs"/>
              </a:rPr>
              <a:pPr lvl="0" algn="ctr">
                <a:spcBef>
                  <a:spcPct val="0"/>
                </a:spcBef>
                <a:spcAft>
                  <a:spcPct val="0"/>
                </a:spcAft>
              </a:pPr>
              <a:t>Dec-Jan</a:t>
            </a:fld>
            <a:endParaRPr lang="en-US" sz="1200" noProof="0">
              <a:latin typeface="Arial" panose="020B0604020202020204" pitchFamily="34" charset="0"/>
              <a:cs typeface="+mn-cs"/>
              <a:sym typeface="Arial" panose="020B0604020202020204" pitchFamily="34" charset="0"/>
            </a:endParaRPr>
          </a:p>
        </p:txBody>
      </p:sp>
      <p:sp>
        <p:nvSpPr>
          <p:cNvPr id="49" name="Text Placeholder 18">
            <a:extLst>
              <a:ext uri="{FF2B5EF4-FFF2-40B4-BE49-F238E27FC236}">
                <a16:creationId xmlns:a16="http://schemas.microsoft.com/office/drawing/2014/main" id="{AB6283EE-6025-4645-F271-22BFF8CDFAE2}"/>
              </a:ext>
            </a:extLst>
          </p:cNvPr>
          <p:cNvSpPr>
            <a:spLocks noGrp="1"/>
          </p:cNvSpPr>
          <p:nvPr>
            <p:custDataLst>
              <p:tags r:id="rId60"/>
            </p:custDataLst>
          </p:nvPr>
        </p:nvSpPr>
        <p:spPr bwMode="gray">
          <a:xfrm>
            <a:off x="6450013" y="4598988"/>
            <a:ext cx="134938" cy="182563"/>
          </a:xfrm>
          <a:prstGeom prst="rect">
            <a:avLst/>
          </a:prstGeom>
          <a:noFill/>
          <a:ln>
            <a:noFill/>
          </a:ln>
          <a:effectLst/>
          <a:extLst>
            <a:ext uri="{909E8E84-426E-40DD-AFC4-6F175D3DCCD1}">
              <a14:hiddenFill xmlns:a14="http://schemas.microsoft.com/office/drawing/2010/main">
                <a:solidFill>
                  <a:srgbClr val="ED8B00"/>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5CD77657-4B69-42A1-B4B5-49F97482FE9F}" type="datetime'''''''''''''''''''''''''''''''0'''''''''''''''''''''''''''">
              <a:rPr lang="en-US" altLang="en-US" sz="1200" smtClean="0">
                <a:latin typeface="Arial" panose="020B0604020202020204" pitchFamily="34" charset="0"/>
                <a:cs typeface="+mn-cs"/>
              </a:rPr>
              <a:pPr lvl="0">
                <a:spcBef>
                  <a:spcPct val="0"/>
                </a:spcBef>
                <a:spcAft>
                  <a:spcPct val="0"/>
                </a:spcAft>
              </a:pPr>
              <a:t>0</a:t>
            </a:fld>
            <a:endParaRPr lang="en-US" sz="1200" noProof="0">
              <a:latin typeface="Arial" panose="020B0604020202020204" pitchFamily="34" charset="0"/>
              <a:cs typeface="+mn-cs"/>
              <a:sym typeface="Arial" panose="020B0604020202020204" pitchFamily="34" charset="0"/>
            </a:endParaRPr>
          </a:p>
        </p:txBody>
      </p:sp>
      <p:sp>
        <p:nvSpPr>
          <p:cNvPr id="50" name="Text Placeholder 18">
            <a:extLst>
              <a:ext uri="{FF2B5EF4-FFF2-40B4-BE49-F238E27FC236}">
                <a16:creationId xmlns:a16="http://schemas.microsoft.com/office/drawing/2014/main" id="{7F066E89-D815-DE8B-788B-20142E302E65}"/>
              </a:ext>
            </a:extLst>
          </p:cNvPr>
          <p:cNvSpPr>
            <a:spLocks noGrp="1"/>
          </p:cNvSpPr>
          <p:nvPr>
            <p:custDataLst>
              <p:tags r:id="rId61"/>
            </p:custDataLst>
          </p:nvPr>
        </p:nvSpPr>
        <p:spPr bwMode="auto">
          <a:xfrm>
            <a:off x="5926138" y="5222875"/>
            <a:ext cx="5699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FB365127-9C4C-41D1-BC79-91AD658E6B4A}" type="datetime'''''J''''''''''''a''''''''''''n-''''''''''''''Fe''''''''''''b'">
              <a:rPr lang="en-US" altLang="en-US" sz="1200" smtClean="0">
                <a:latin typeface="Arial" panose="020B0604020202020204" pitchFamily="34" charset="0"/>
                <a:cs typeface="+mn-cs"/>
              </a:rPr>
              <a:pPr lvl="0" algn="ctr">
                <a:spcBef>
                  <a:spcPct val="0"/>
                </a:spcBef>
                <a:spcAft>
                  <a:spcPct val="0"/>
                </a:spcAft>
              </a:pPr>
              <a:t>Jan-Feb</a:t>
            </a:fld>
            <a:endParaRPr lang="en-US" sz="1200" noProof="0">
              <a:latin typeface="Arial" panose="020B0604020202020204" pitchFamily="34" charset="0"/>
              <a:cs typeface="+mn-cs"/>
              <a:sym typeface="Arial" panose="020B0604020202020204" pitchFamily="34" charset="0"/>
            </a:endParaRPr>
          </a:p>
        </p:txBody>
      </p:sp>
      <p:sp>
        <p:nvSpPr>
          <p:cNvPr id="51" name="Text Placeholder 18">
            <a:extLst>
              <a:ext uri="{FF2B5EF4-FFF2-40B4-BE49-F238E27FC236}">
                <a16:creationId xmlns:a16="http://schemas.microsoft.com/office/drawing/2014/main" id="{5CE9F319-EB79-83D6-DEC5-247ABECD1610}"/>
              </a:ext>
            </a:extLst>
          </p:cNvPr>
          <p:cNvSpPr>
            <a:spLocks noGrp="1"/>
          </p:cNvSpPr>
          <p:nvPr>
            <p:custDataLst>
              <p:tags r:id="rId62"/>
            </p:custDataLst>
          </p:nvPr>
        </p:nvSpPr>
        <p:spPr bwMode="gray">
          <a:xfrm>
            <a:off x="7239000" y="4598988"/>
            <a:ext cx="134938" cy="182563"/>
          </a:xfrm>
          <a:prstGeom prst="rect">
            <a:avLst/>
          </a:prstGeom>
          <a:noFill/>
          <a:ln>
            <a:noFill/>
          </a:ln>
          <a:effectLst/>
          <a:extLst>
            <a:ext uri="{909E8E84-426E-40DD-AFC4-6F175D3DCCD1}">
              <a14:hiddenFill xmlns:a14="http://schemas.microsoft.com/office/drawing/2010/main">
                <a:solidFill>
                  <a:srgbClr val="ED8B00"/>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0A0C4D98-0F04-4115-81B6-A27394DA6538}" type="datetime'''''''''''''''''''''''''''''''''''0'''''''''">
              <a:rPr lang="en-US" altLang="en-US" sz="1200" smtClean="0">
                <a:effectLst/>
                <a:latin typeface="Arial" panose="020B0604020202020204" pitchFamily="34" charset="0"/>
                <a:cs typeface="+mn-cs"/>
              </a:rPr>
              <a:pPr lvl="0">
                <a:spcBef>
                  <a:spcPct val="0"/>
                </a:spcBef>
                <a:spcAft>
                  <a:spcPct val="0"/>
                </a:spcAft>
              </a:pPr>
              <a:t>0</a:t>
            </a:fld>
            <a:endParaRPr lang="en-US" sz="1200" noProof="0">
              <a:latin typeface="Arial" panose="020B0604020202020204" pitchFamily="34" charset="0"/>
              <a:cs typeface="+mn-cs"/>
              <a:sym typeface="Arial" panose="020B0604020202020204" pitchFamily="34" charset="0"/>
            </a:endParaRPr>
          </a:p>
        </p:txBody>
      </p:sp>
      <p:sp>
        <p:nvSpPr>
          <p:cNvPr id="52" name="Text Placeholder 18">
            <a:extLst>
              <a:ext uri="{FF2B5EF4-FFF2-40B4-BE49-F238E27FC236}">
                <a16:creationId xmlns:a16="http://schemas.microsoft.com/office/drawing/2014/main" id="{198F1AEC-3E6E-44FC-C004-BE46ED54A5D2}"/>
              </a:ext>
            </a:extLst>
          </p:cNvPr>
          <p:cNvSpPr>
            <a:spLocks noGrp="1"/>
          </p:cNvSpPr>
          <p:nvPr>
            <p:custDataLst>
              <p:tags r:id="rId63"/>
            </p:custDataLst>
          </p:nvPr>
        </p:nvSpPr>
        <p:spPr bwMode="auto">
          <a:xfrm>
            <a:off x="6705600" y="5222875"/>
            <a:ext cx="5873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F3C1267-077D-4060-B14C-68187FEE2312}" type="datetime'F''''''e''b''-''''''M''''''''''''a''''''''r'''''''''''''''''">
              <a:rPr lang="en-US" altLang="en-US" sz="1200" smtClean="0">
                <a:latin typeface="Arial" panose="020B0604020202020204" pitchFamily="34" charset="0"/>
                <a:cs typeface="+mn-cs"/>
              </a:rPr>
              <a:pPr lvl="0" algn="ctr">
                <a:spcBef>
                  <a:spcPct val="0"/>
                </a:spcBef>
                <a:spcAft>
                  <a:spcPct val="0"/>
                </a:spcAft>
              </a:pPr>
              <a:t>Feb-Mar</a:t>
            </a:fld>
            <a:endParaRPr lang="en-US" sz="1200" noProof="0">
              <a:latin typeface="Arial" panose="020B0604020202020204" pitchFamily="34" charset="0"/>
              <a:cs typeface="+mn-cs"/>
              <a:sym typeface="Arial" panose="020B0604020202020204" pitchFamily="34" charset="0"/>
            </a:endParaRPr>
          </a:p>
        </p:txBody>
      </p:sp>
      <p:sp>
        <p:nvSpPr>
          <p:cNvPr id="53" name="Text Placeholder 18">
            <a:extLst>
              <a:ext uri="{FF2B5EF4-FFF2-40B4-BE49-F238E27FC236}">
                <a16:creationId xmlns:a16="http://schemas.microsoft.com/office/drawing/2014/main" id="{1440E22B-F73A-208C-59FE-C1BF52E09496}"/>
              </a:ext>
            </a:extLst>
          </p:cNvPr>
          <p:cNvSpPr>
            <a:spLocks noGrp="1"/>
          </p:cNvSpPr>
          <p:nvPr>
            <p:custDataLst>
              <p:tags r:id="rId64"/>
            </p:custDataLst>
          </p:nvPr>
        </p:nvSpPr>
        <p:spPr bwMode="gray">
          <a:xfrm>
            <a:off x="8027988" y="4598988"/>
            <a:ext cx="134938" cy="182563"/>
          </a:xfrm>
          <a:prstGeom prst="rect">
            <a:avLst/>
          </a:prstGeom>
          <a:noFill/>
          <a:ln>
            <a:noFill/>
          </a:ln>
          <a:effectLst/>
          <a:extLst>
            <a:ext uri="{909E8E84-426E-40DD-AFC4-6F175D3DCCD1}">
              <a14:hiddenFill xmlns:a14="http://schemas.microsoft.com/office/drawing/2010/main">
                <a:solidFill>
                  <a:srgbClr val="ED8B00"/>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8A3008D5-8B38-4841-AE3B-A3F87175A02A}" type="datetime'''0'''''''''''''''''''''''''''''''''''''''''''''''''''''''">
              <a:rPr lang="en-US" altLang="en-US" sz="1200" smtClean="0">
                <a:latin typeface="Arial" panose="020B0604020202020204" pitchFamily="34" charset="0"/>
                <a:cs typeface="+mn-cs"/>
              </a:rPr>
              <a:pPr lvl="0">
                <a:spcBef>
                  <a:spcPct val="0"/>
                </a:spcBef>
                <a:spcAft>
                  <a:spcPct val="0"/>
                </a:spcAft>
              </a:pPr>
              <a:t>0</a:t>
            </a:fld>
            <a:endParaRPr lang="en-US" sz="1200" noProof="0">
              <a:latin typeface="Arial" panose="020B0604020202020204" pitchFamily="34" charset="0"/>
              <a:cs typeface="+mn-cs"/>
              <a:sym typeface="Arial" panose="020B0604020202020204" pitchFamily="34" charset="0"/>
            </a:endParaRPr>
          </a:p>
        </p:txBody>
      </p:sp>
      <p:sp>
        <p:nvSpPr>
          <p:cNvPr id="458" name="Text Placeholder 18">
            <a:extLst>
              <a:ext uri="{FF2B5EF4-FFF2-40B4-BE49-F238E27FC236}">
                <a16:creationId xmlns:a16="http://schemas.microsoft.com/office/drawing/2014/main" id="{9C875CEA-3028-FB6D-6804-D4C1D5549E32}"/>
              </a:ext>
            </a:extLst>
          </p:cNvPr>
          <p:cNvSpPr>
            <a:spLocks noGrp="1"/>
          </p:cNvSpPr>
          <p:nvPr>
            <p:custDataLst>
              <p:tags r:id="rId65"/>
            </p:custDataLst>
          </p:nvPr>
        </p:nvSpPr>
        <p:spPr bwMode="auto">
          <a:xfrm>
            <a:off x="1119188" y="5222875"/>
            <a:ext cx="712788"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49894BC-FC95-4084-882A-0671D062373B}" type="datetime'''''''J''ul-''''Aug'''' ''''''''(S''''''h''''''ra''''w''an'')'">
              <a:rPr lang="en-US" altLang="en-US" sz="1200" smtClean="0">
                <a:latin typeface="Arial" panose="020B0604020202020204" pitchFamily="34" charset="0"/>
                <a:cs typeface="+mn-cs"/>
              </a:rPr>
              <a:pPr lvl="0" algn="ctr">
                <a:spcBef>
                  <a:spcPct val="0"/>
                </a:spcBef>
                <a:spcAft>
                  <a:spcPct val="0"/>
                </a:spcAft>
              </a:pPr>
              <a:t>Jul-Aug (Shrawan)</a:t>
            </a:fld>
            <a:endParaRPr lang="en-US" sz="1200" noProof="0">
              <a:latin typeface="Arial" panose="020B0604020202020204" pitchFamily="34" charset="0"/>
              <a:cs typeface="+mn-cs"/>
              <a:sym typeface="Arial" panose="020B0604020202020204" pitchFamily="34" charset="0"/>
            </a:endParaRPr>
          </a:p>
        </p:txBody>
      </p:sp>
      <p:sp>
        <p:nvSpPr>
          <p:cNvPr id="55" name="Text Placeholder 18">
            <a:extLst>
              <a:ext uri="{FF2B5EF4-FFF2-40B4-BE49-F238E27FC236}">
                <a16:creationId xmlns:a16="http://schemas.microsoft.com/office/drawing/2014/main" id="{F3A0A4F3-5301-E067-9C24-62DCBBC38DCC}"/>
              </a:ext>
            </a:extLst>
          </p:cNvPr>
          <p:cNvSpPr>
            <a:spLocks noGrp="1"/>
          </p:cNvSpPr>
          <p:nvPr>
            <p:custDataLst>
              <p:tags r:id="rId66"/>
            </p:custDataLst>
          </p:nvPr>
        </p:nvSpPr>
        <p:spPr bwMode="auto">
          <a:xfrm>
            <a:off x="7507288" y="5222875"/>
            <a:ext cx="5619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6A2F9041-0817-4D77-A109-FD0BDCF65AD5}" type="datetime'''''M''''''''''''ar-''A''''''''p''''''''''''''''''''''''r'''">
              <a:rPr lang="en-US" altLang="en-US" sz="1200" smtClean="0">
                <a:latin typeface="Arial" panose="020B0604020202020204" pitchFamily="34" charset="0"/>
                <a:cs typeface="+mn-cs"/>
              </a:rPr>
              <a:pPr lvl="0" algn="ctr">
                <a:spcBef>
                  <a:spcPct val="0"/>
                </a:spcBef>
                <a:spcAft>
                  <a:spcPct val="0"/>
                </a:spcAft>
              </a:pPr>
              <a:t>Mar-Apr</a:t>
            </a:fld>
            <a:endParaRPr lang="en-US" sz="1200" noProof="0">
              <a:latin typeface="Arial" panose="020B0604020202020204" pitchFamily="34" charset="0"/>
              <a:cs typeface="+mn-cs"/>
              <a:sym typeface="Arial" panose="020B0604020202020204" pitchFamily="34" charset="0"/>
            </a:endParaRPr>
          </a:p>
        </p:txBody>
      </p:sp>
      <p:sp>
        <p:nvSpPr>
          <p:cNvPr id="56" name="Text Placeholder 18">
            <a:extLst>
              <a:ext uri="{FF2B5EF4-FFF2-40B4-BE49-F238E27FC236}">
                <a16:creationId xmlns:a16="http://schemas.microsoft.com/office/drawing/2014/main" id="{C773AAAC-D280-62F3-4BDA-0F10BC0C9BE7}"/>
              </a:ext>
            </a:extLst>
          </p:cNvPr>
          <p:cNvSpPr>
            <a:spLocks noGrp="1"/>
          </p:cNvSpPr>
          <p:nvPr>
            <p:custDataLst>
              <p:tags r:id="rId67"/>
            </p:custDataLst>
          </p:nvPr>
        </p:nvSpPr>
        <p:spPr bwMode="gray">
          <a:xfrm>
            <a:off x="8816975" y="4598988"/>
            <a:ext cx="134938" cy="182563"/>
          </a:xfrm>
          <a:prstGeom prst="rect">
            <a:avLst/>
          </a:prstGeom>
          <a:noFill/>
          <a:ln>
            <a:noFill/>
          </a:ln>
          <a:effectLst/>
          <a:extLst>
            <a:ext uri="{909E8E84-426E-40DD-AFC4-6F175D3DCCD1}">
              <a14:hiddenFill xmlns:a14="http://schemas.microsoft.com/office/drawing/2010/main">
                <a:solidFill>
                  <a:srgbClr val="ED8B00"/>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FE78D9D8-0BAA-4201-A798-E5791AA6283B}" type="datetime'''''''''''0'''''''''''''''''''">
              <a:rPr lang="en-US" altLang="en-US" sz="1200" smtClean="0">
                <a:latin typeface="Arial" panose="020B0604020202020204" pitchFamily="34" charset="0"/>
                <a:cs typeface="+mn-cs"/>
              </a:rPr>
              <a:pPr lvl="0">
                <a:spcBef>
                  <a:spcPct val="0"/>
                </a:spcBef>
                <a:spcAft>
                  <a:spcPct val="0"/>
                </a:spcAft>
              </a:pPr>
              <a:t>0</a:t>
            </a:fld>
            <a:endParaRPr lang="en-US" sz="1200" noProof="0">
              <a:latin typeface="Arial" panose="020B0604020202020204" pitchFamily="34" charset="0"/>
              <a:cs typeface="+mn-cs"/>
              <a:sym typeface="Arial" panose="020B0604020202020204" pitchFamily="34" charset="0"/>
            </a:endParaRPr>
          </a:p>
        </p:txBody>
      </p:sp>
      <p:sp>
        <p:nvSpPr>
          <p:cNvPr id="459" name="Text Placeholder 18">
            <a:extLst>
              <a:ext uri="{FF2B5EF4-FFF2-40B4-BE49-F238E27FC236}">
                <a16:creationId xmlns:a16="http://schemas.microsoft.com/office/drawing/2014/main" id="{8E62B979-987B-FD93-A147-C0016DC0C503}"/>
              </a:ext>
            </a:extLst>
          </p:cNvPr>
          <p:cNvSpPr>
            <a:spLocks noGrp="1"/>
          </p:cNvSpPr>
          <p:nvPr>
            <p:custDataLst>
              <p:tags r:id="rId68"/>
            </p:custDataLst>
          </p:nvPr>
        </p:nvSpPr>
        <p:spPr bwMode="gray">
          <a:xfrm>
            <a:off x="2503488" y="4598988"/>
            <a:ext cx="134938" cy="182563"/>
          </a:xfrm>
          <a:prstGeom prst="rect">
            <a:avLst/>
          </a:prstGeom>
          <a:noFill/>
          <a:ln>
            <a:noFill/>
          </a:ln>
          <a:effectLst/>
          <a:extLst>
            <a:ext uri="{909E8E84-426E-40DD-AFC4-6F175D3DCCD1}">
              <a14:hiddenFill xmlns:a14="http://schemas.microsoft.com/office/drawing/2010/main">
                <a:solidFill>
                  <a:srgbClr val="046A38"/>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5E1E7921-DB26-45B1-98FD-D3FC1C8E76F5}" type="datetime'''''''1'''''''''''''''">
              <a:rPr lang="en-US" altLang="en-US" sz="1200" smtClean="0">
                <a:latin typeface="Arial" panose="020B0604020202020204" pitchFamily="34" charset="0"/>
                <a:cs typeface="+mn-cs"/>
              </a:rPr>
              <a:pPr lvl="0">
                <a:spcBef>
                  <a:spcPct val="0"/>
                </a:spcBef>
                <a:spcAft>
                  <a:spcPct val="0"/>
                </a:spcAft>
              </a:pPr>
              <a:t>1</a:t>
            </a:fld>
            <a:endParaRPr lang="en-US" sz="1200" noProof="0">
              <a:latin typeface="Arial" panose="020B0604020202020204" pitchFamily="34" charset="0"/>
              <a:cs typeface="+mn-cs"/>
              <a:sym typeface="Arial" panose="020B0604020202020204" pitchFamily="34" charset="0"/>
            </a:endParaRPr>
          </a:p>
        </p:txBody>
      </p:sp>
      <p:sp>
        <p:nvSpPr>
          <p:cNvPr id="57" name="Text Placeholder 18">
            <a:extLst>
              <a:ext uri="{FF2B5EF4-FFF2-40B4-BE49-F238E27FC236}">
                <a16:creationId xmlns:a16="http://schemas.microsoft.com/office/drawing/2014/main" id="{B667A020-73C2-9FD3-54CA-B5CF4F26F588}"/>
              </a:ext>
            </a:extLst>
          </p:cNvPr>
          <p:cNvSpPr>
            <a:spLocks noGrp="1"/>
          </p:cNvSpPr>
          <p:nvPr>
            <p:custDataLst>
              <p:tags r:id="rId69"/>
            </p:custDataLst>
          </p:nvPr>
        </p:nvSpPr>
        <p:spPr bwMode="auto">
          <a:xfrm>
            <a:off x="8283575" y="5222875"/>
            <a:ext cx="5873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0B2C9C39-D178-4257-A673-7CFFCF5CBE22}" type="datetime'''''''''Ap''''''''''r-''''''''''M''''''''''''''''''a''y'">
              <a:rPr lang="en-US" altLang="en-US" sz="1200" smtClean="0">
                <a:latin typeface="Arial" panose="020B0604020202020204" pitchFamily="34" charset="0"/>
                <a:cs typeface="+mn-cs"/>
              </a:rPr>
              <a:pPr lvl="0" algn="ctr">
                <a:spcBef>
                  <a:spcPct val="0"/>
                </a:spcBef>
                <a:spcAft>
                  <a:spcPct val="0"/>
                </a:spcAft>
              </a:pPr>
              <a:t>Apr-May</a:t>
            </a:fld>
            <a:endParaRPr lang="en-US" sz="1200" noProof="0">
              <a:latin typeface="Arial" panose="020B0604020202020204" pitchFamily="34" charset="0"/>
              <a:cs typeface="+mn-cs"/>
              <a:sym typeface="Arial" panose="020B0604020202020204" pitchFamily="34" charset="0"/>
            </a:endParaRPr>
          </a:p>
        </p:txBody>
      </p:sp>
      <p:sp>
        <p:nvSpPr>
          <p:cNvPr id="479" name="Text Placeholder 18">
            <a:extLst>
              <a:ext uri="{FF2B5EF4-FFF2-40B4-BE49-F238E27FC236}">
                <a16:creationId xmlns:a16="http://schemas.microsoft.com/office/drawing/2014/main" id="{E8F1EDDC-2B3C-E962-1199-91E1BC58AADA}"/>
              </a:ext>
            </a:extLst>
          </p:cNvPr>
          <p:cNvSpPr>
            <a:spLocks noGrp="1"/>
          </p:cNvSpPr>
          <p:nvPr>
            <p:custDataLst>
              <p:tags r:id="rId70"/>
            </p:custDataLst>
          </p:nvPr>
        </p:nvSpPr>
        <p:spPr bwMode="gray">
          <a:xfrm>
            <a:off x="9215438" y="4657725"/>
            <a:ext cx="303213" cy="182563"/>
          </a:xfrm>
          <a:prstGeom prst="rect">
            <a:avLst/>
          </a:prstGeom>
          <a:solidFill>
            <a:srgbClr val="046A38"/>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20DC3FD-79C0-429F-A41B-D5094B3BBBC3}" type="datetime'''''''''''''''1''''''8''''''8'''''''''''''''''''''''''''">
              <a:rPr lang="en-US" altLang="en-US" sz="12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188</a:t>
            </a:fld>
            <a:endParaRPr lang="en-US" sz="1200" noProof="0">
              <a:solidFill>
                <a:schemeClr val="bg1"/>
              </a:solidFill>
              <a:latin typeface="Arial" panose="020B0604020202020204" pitchFamily="34" charset="0"/>
              <a:cs typeface="+mn-cs"/>
              <a:sym typeface="Arial" panose="020B0604020202020204" pitchFamily="34" charset="0"/>
            </a:endParaRPr>
          </a:p>
        </p:txBody>
      </p:sp>
      <p:sp>
        <p:nvSpPr>
          <p:cNvPr id="462" name="Text Placeholder 18">
            <a:extLst>
              <a:ext uri="{FF2B5EF4-FFF2-40B4-BE49-F238E27FC236}">
                <a16:creationId xmlns:a16="http://schemas.microsoft.com/office/drawing/2014/main" id="{C5E1B1FA-D4E5-511B-668B-FDB482043DCF}"/>
              </a:ext>
            </a:extLst>
          </p:cNvPr>
          <p:cNvSpPr>
            <a:spLocks noGrp="1"/>
          </p:cNvSpPr>
          <p:nvPr>
            <p:custDataLst>
              <p:tags r:id="rId71"/>
            </p:custDataLst>
          </p:nvPr>
        </p:nvSpPr>
        <p:spPr bwMode="auto">
          <a:xfrm>
            <a:off x="1962150" y="5222875"/>
            <a:ext cx="603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6496298D-9DC5-4615-A9F3-6BCC22037B02}" type="datetime'''''A''''''''''u''''g''-S''''''e''p'''''''''">
              <a:rPr lang="en-US" altLang="en-US" sz="1200" smtClean="0">
                <a:latin typeface="Arial" panose="020B0604020202020204" pitchFamily="34" charset="0"/>
                <a:cs typeface="+mn-cs"/>
              </a:rPr>
              <a:pPr lvl="0" algn="ctr">
                <a:spcBef>
                  <a:spcPct val="0"/>
                </a:spcBef>
                <a:spcAft>
                  <a:spcPct val="0"/>
                </a:spcAft>
              </a:pPr>
              <a:t>Aug-Sep</a:t>
            </a:fld>
            <a:endParaRPr lang="en-US" sz="1200" noProof="0">
              <a:latin typeface="Arial" panose="020B0604020202020204" pitchFamily="34" charset="0"/>
              <a:cs typeface="+mn-cs"/>
              <a:sym typeface="Arial" panose="020B0604020202020204" pitchFamily="34" charset="0"/>
            </a:endParaRPr>
          </a:p>
        </p:txBody>
      </p:sp>
      <p:sp>
        <p:nvSpPr>
          <p:cNvPr id="58" name="Text Placeholder 18">
            <a:extLst>
              <a:ext uri="{FF2B5EF4-FFF2-40B4-BE49-F238E27FC236}">
                <a16:creationId xmlns:a16="http://schemas.microsoft.com/office/drawing/2014/main" id="{B661AC67-DDA7-143B-948D-A0FF5D2F1608}"/>
              </a:ext>
            </a:extLst>
          </p:cNvPr>
          <p:cNvSpPr>
            <a:spLocks noGrp="1"/>
          </p:cNvSpPr>
          <p:nvPr>
            <p:custDataLst>
              <p:tags r:id="rId72"/>
            </p:custDataLst>
          </p:nvPr>
        </p:nvSpPr>
        <p:spPr bwMode="auto">
          <a:xfrm>
            <a:off x="9069388" y="5222875"/>
            <a:ext cx="5953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1A43653-7E7A-4C45-BE69-57B2F29B7996}" type="datetime'''''''''''''M''''''''''''''a''''''y''-''''''''''J''''''un'''">
              <a:rPr lang="en-US" altLang="en-US" sz="1200" smtClean="0">
                <a:latin typeface="Arial" panose="020B0604020202020204" pitchFamily="34" charset="0"/>
                <a:cs typeface="+mn-cs"/>
              </a:rPr>
              <a:pPr lvl="0" algn="ctr">
                <a:spcBef>
                  <a:spcPct val="0"/>
                </a:spcBef>
                <a:spcAft>
                  <a:spcPct val="0"/>
                </a:spcAft>
              </a:pPr>
              <a:t>May-Jun</a:t>
            </a:fld>
            <a:endParaRPr lang="en-US" sz="1200" noProof="0">
              <a:latin typeface="Arial" panose="020B0604020202020204" pitchFamily="34" charset="0"/>
              <a:cs typeface="+mn-cs"/>
              <a:sym typeface="Arial" panose="020B0604020202020204" pitchFamily="34" charset="0"/>
            </a:endParaRPr>
          </a:p>
        </p:txBody>
      </p:sp>
      <p:sp>
        <p:nvSpPr>
          <p:cNvPr id="455" name="Text Placeholder 18">
            <a:extLst>
              <a:ext uri="{FF2B5EF4-FFF2-40B4-BE49-F238E27FC236}">
                <a16:creationId xmlns:a16="http://schemas.microsoft.com/office/drawing/2014/main" id="{A94C2E2D-63D3-3E77-F6B0-ECBB9C0EC5AA}"/>
              </a:ext>
            </a:extLst>
          </p:cNvPr>
          <p:cNvSpPr>
            <a:spLocks noGrp="1"/>
          </p:cNvSpPr>
          <p:nvPr>
            <p:custDataLst>
              <p:tags r:id="rId73"/>
            </p:custDataLst>
          </p:nvPr>
        </p:nvSpPr>
        <p:spPr bwMode="gray">
          <a:xfrm>
            <a:off x="1365250" y="4713288"/>
            <a:ext cx="219075" cy="182563"/>
          </a:xfrm>
          <a:prstGeom prst="rect">
            <a:avLst/>
          </a:prstGeom>
          <a:solidFill>
            <a:srgbClr val="046A38"/>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90E0B37-A440-4BCA-A995-6DC05994A6EC}" type="datetime'''''''''''''''''''''''''''''''''''''''''''''''''10'''''">
              <a:rPr lang="en-US" altLang="en-US" sz="1200" smtClean="0">
                <a:solidFill>
                  <a:schemeClr val="bg1"/>
                </a:solidFill>
                <a:effectLst/>
                <a:latin typeface="Arial" panose="020B0604020202020204" pitchFamily="34" charset="0"/>
                <a:cs typeface="+mn-cs"/>
              </a:rPr>
              <a:pPr lvl="0" algn="ctr">
                <a:spcBef>
                  <a:spcPct val="0"/>
                </a:spcBef>
                <a:spcAft>
                  <a:spcPct val="0"/>
                </a:spcAft>
              </a:pPr>
              <a:t>10</a:t>
            </a:fld>
            <a:endParaRPr lang="en-US" sz="1200" noProof="0">
              <a:solidFill>
                <a:schemeClr val="bg1"/>
              </a:solidFill>
              <a:latin typeface="Arial" panose="020B0604020202020204" pitchFamily="34" charset="0"/>
              <a:cs typeface="+mn-cs"/>
              <a:sym typeface="Arial" panose="020B0604020202020204" pitchFamily="34" charset="0"/>
            </a:endParaRPr>
          </a:p>
        </p:txBody>
      </p:sp>
      <p:sp>
        <p:nvSpPr>
          <p:cNvPr id="460" name="Text Placeholder 18">
            <a:extLst>
              <a:ext uri="{FF2B5EF4-FFF2-40B4-BE49-F238E27FC236}">
                <a16:creationId xmlns:a16="http://schemas.microsoft.com/office/drawing/2014/main" id="{94B36B6C-2283-DB4E-C626-1E167C5AD575}"/>
              </a:ext>
            </a:extLst>
          </p:cNvPr>
          <p:cNvSpPr>
            <a:spLocks noGrp="1"/>
          </p:cNvSpPr>
          <p:nvPr>
            <p:custDataLst>
              <p:tags r:id="rId74"/>
            </p:custDataLst>
          </p:nvPr>
        </p:nvSpPr>
        <p:spPr bwMode="auto">
          <a:xfrm>
            <a:off x="9904413" y="5222875"/>
            <a:ext cx="5016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6772CDB-9082-4512-84CE-FC099E7B8319}" type="datetime'''J''u''n-''J''''''''''''u''''''''''''''''''''l'''''">
              <a:rPr lang="en-US" altLang="en-US" sz="1200" smtClean="0">
                <a:latin typeface="Arial" panose="020B0604020202020204" pitchFamily="34" charset="0"/>
                <a:cs typeface="+mn-cs"/>
              </a:rPr>
              <a:pPr lvl="0" algn="ctr">
                <a:spcBef>
                  <a:spcPct val="0"/>
                </a:spcBef>
                <a:spcAft>
                  <a:spcPct val="0"/>
                </a:spcAft>
              </a:pPr>
              <a:t>Jun-Jul</a:t>
            </a:fld>
            <a:endParaRPr lang="en-US" sz="1200" noProof="0">
              <a:latin typeface="Arial" panose="020B0604020202020204" pitchFamily="34" charset="0"/>
              <a:cs typeface="+mn-cs"/>
              <a:sym typeface="Arial" panose="020B0604020202020204" pitchFamily="34" charset="0"/>
            </a:endParaRPr>
          </a:p>
        </p:txBody>
      </p:sp>
      <p:sp>
        <p:nvSpPr>
          <p:cNvPr id="59" name="Text Placeholder 18">
            <a:extLst>
              <a:ext uri="{FF2B5EF4-FFF2-40B4-BE49-F238E27FC236}">
                <a16:creationId xmlns:a16="http://schemas.microsoft.com/office/drawing/2014/main" id="{98F4E1BC-2D6A-EE39-C685-40F24A3E3521}"/>
              </a:ext>
            </a:extLst>
          </p:cNvPr>
          <p:cNvSpPr>
            <a:spLocks noGrp="1"/>
          </p:cNvSpPr>
          <p:nvPr>
            <p:custDataLst>
              <p:tags r:id="rId75"/>
            </p:custDataLst>
          </p:nvPr>
        </p:nvSpPr>
        <p:spPr bwMode="auto">
          <a:xfrm>
            <a:off x="2767013" y="5222875"/>
            <a:ext cx="5715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2BD9840-464D-41DF-81B5-C418332D8226}" type="datetime'''S''e''''''''''''''''''''p-''''''''Oc''''''t'''''''''''''">
              <a:rPr lang="en-US" altLang="en-US" sz="1200" smtClean="0">
                <a:latin typeface="Arial" panose="020B0604020202020204" pitchFamily="34" charset="0"/>
                <a:cs typeface="+mn-cs"/>
              </a:rPr>
              <a:pPr lvl="0" algn="ctr">
                <a:spcBef>
                  <a:spcPct val="0"/>
                </a:spcBef>
                <a:spcAft>
                  <a:spcPct val="0"/>
                </a:spcAft>
              </a:pPr>
              <a:t>Sep-Oct</a:t>
            </a:fld>
            <a:endParaRPr lang="en-US" sz="1200" noProof="0">
              <a:latin typeface="Arial" panose="020B0604020202020204" pitchFamily="34" charset="0"/>
              <a:cs typeface="+mn-cs"/>
              <a:sym typeface="Arial" panose="020B0604020202020204" pitchFamily="34" charset="0"/>
            </a:endParaRPr>
          </a:p>
        </p:txBody>
      </p:sp>
      <p:sp>
        <p:nvSpPr>
          <p:cNvPr id="61" name="Text Placeholder 18">
            <a:extLst>
              <a:ext uri="{FF2B5EF4-FFF2-40B4-BE49-F238E27FC236}">
                <a16:creationId xmlns:a16="http://schemas.microsoft.com/office/drawing/2014/main" id="{DC2EC69C-5898-C75C-794A-52ED6AF8CDCB}"/>
              </a:ext>
            </a:extLst>
          </p:cNvPr>
          <p:cNvSpPr>
            <a:spLocks noGrp="1"/>
          </p:cNvSpPr>
          <p:nvPr>
            <p:custDataLst>
              <p:tags r:id="rId76"/>
            </p:custDataLst>
          </p:nvPr>
        </p:nvSpPr>
        <p:spPr bwMode="gray">
          <a:xfrm>
            <a:off x="2049463" y="3709988"/>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05726551-DEDA-4997-BA9B-39DA1900E6A2}" type="datetime'''1'''''''''''''',1''''''''''''''''''48'''''''''''''">
              <a:rPr lang="en-US" altLang="en-US" sz="1200" b="1" smtClean="0">
                <a:latin typeface="Arial" panose="020B0604020202020204" pitchFamily="34" charset="0"/>
                <a:cs typeface="+mn-cs"/>
              </a:rPr>
              <a:pPr lvl="0" algn="ctr">
                <a:spcBef>
                  <a:spcPct val="0"/>
                </a:spcBef>
                <a:spcAft>
                  <a:spcPct val="0"/>
                </a:spcAft>
              </a:pPr>
              <a:t>1,148</a:t>
            </a:fld>
            <a:endParaRPr lang="en-US" sz="1200" b="1" noProof="0">
              <a:latin typeface="Arial" panose="020B0604020202020204" pitchFamily="34" charset="0"/>
              <a:cs typeface="+mn-cs"/>
              <a:sym typeface="Arial" panose="020B0604020202020204" pitchFamily="34" charset="0"/>
            </a:endParaRPr>
          </a:p>
        </p:txBody>
      </p:sp>
      <p:sp>
        <p:nvSpPr>
          <p:cNvPr id="62" name="Text Placeholder 18">
            <a:extLst>
              <a:ext uri="{FF2B5EF4-FFF2-40B4-BE49-F238E27FC236}">
                <a16:creationId xmlns:a16="http://schemas.microsoft.com/office/drawing/2014/main" id="{7029E5AD-0549-B0AE-B0FD-A47A52ABEC84}"/>
              </a:ext>
            </a:extLst>
          </p:cNvPr>
          <p:cNvSpPr>
            <a:spLocks noGrp="1"/>
          </p:cNvSpPr>
          <p:nvPr>
            <p:custDataLst>
              <p:tags r:id="rId77"/>
            </p:custDataLst>
          </p:nvPr>
        </p:nvSpPr>
        <p:spPr bwMode="gray">
          <a:xfrm>
            <a:off x="2838450" y="3706813"/>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D5539CA2-AA4E-4408-A435-C34FACF680D5}" type="datetime'''''1,''''0''''3''''9'''''''">
              <a:rPr lang="en-US" altLang="en-US" sz="1200" b="1" smtClean="0">
                <a:latin typeface="Arial" panose="020B0604020202020204" pitchFamily="34" charset="0"/>
                <a:cs typeface="+mn-cs"/>
              </a:rPr>
              <a:pPr lvl="0" algn="ctr">
                <a:spcBef>
                  <a:spcPct val="0"/>
                </a:spcBef>
                <a:spcAft>
                  <a:spcPct val="0"/>
                </a:spcAft>
              </a:pPr>
              <a:t>1,039</a:t>
            </a:fld>
            <a:endParaRPr lang="en-US" sz="1200" b="1" noProof="0">
              <a:latin typeface="Arial" panose="020B0604020202020204" pitchFamily="34" charset="0"/>
              <a:cs typeface="+mn-cs"/>
              <a:sym typeface="Arial" panose="020B0604020202020204" pitchFamily="34" charset="0"/>
            </a:endParaRPr>
          </a:p>
        </p:txBody>
      </p:sp>
      <p:sp>
        <p:nvSpPr>
          <p:cNvPr id="63" name="Text Placeholder 18">
            <a:extLst>
              <a:ext uri="{FF2B5EF4-FFF2-40B4-BE49-F238E27FC236}">
                <a16:creationId xmlns:a16="http://schemas.microsoft.com/office/drawing/2014/main" id="{C1440EEC-25BD-380A-5538-068F6B53959E}"/>
              </a:ext>
            </a:extLst>
          </p:cNvPr>
          <p:cNvSpPr>
            <a:spLocks noGrp="1"/>
          </p:cNvSpPr>
          <p:nvPr>
            <p:custDataLst>
              <p:tags r:id="rId78"/>
            </p:custDataLst>
          </p:nvPr>
        </p:nvSpPr>
        <p:spPr bwMode="gray">
          <a:xfrm>
            <a:off x="3690938" y="3873500"/>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97247E0-D57C-4EBD-9DC9-FFE04DFF771C}" type="datetime'''''''''''''''''''''''''''''''''''''''80''''''''''''6'''''''''">
              <a:rPr lang="en-US" altLang="en-US" sz="1200" b="1" smtClean="0">
                <a:latin typeface="Arial" panose="020B0604020202020204" pitchFamily="34" charset="0"/>
                <a:cs typeface="+mn-cs"/>
              </a:rPr>
              <a:pPr lvl="0" algn="ctr">
                <a:spcBef>
                  <a:spcPct val="0"/>
                </a:spcBef>
                <a:spcAft>
                  <a:spcPct val="0"/>
                </a:spcAft>
              </a:pPr>
              <a:t>806</a:t>
            </a:fld>
            <a:endParaRPr lang="en-US" sz="1200" b="1" noProof="0">
              <a:latin typeface="Arial" panose="020B0604020202020204" pitchFamily="34" charset="0"/>
              <a:cs typeface="+mn-cs"/>
              <a:sym typeface="Arial" panose="020B0604020202020204" pitchFamily="34" charset="0"/>
            </a:endParaRPr>
          </a:p>
        </p:txBody>
      </p:sp>
      <p:sp>
        <p:nvSpPr>
          <p:cNvPr id="448" name="Text Placeholder 18">
            <a:extLst>
              <a:ext uri="{FF2B5EF4-FFF2-40B4-BE49-F238E27FC236}">
                <a16:creationId xmlns:a16="http://schemas.microsoft.com/office/drawing/2014/main" id="{F84E10A0-C6B4-860E-F63F-DF314ACE429D}"/>
              </a:ext>
            </a:extLst>
          </p:cNvPr>
          <p:cNvSpPr>
            <a:spLocks noGrp="1"/>
          </p:cNvSpPr>
          <p:nvPr>
            <p:custDataLst>
              <p:tags r:id="rId79"/>
            </p:custDataLst>
          </p:nvPr>
        </p:nvSpPr>
        <p:spPr bwMode="gray">
          <a:xfrm>
            <a:off x="4479925" y="4002088"/>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1270DF2-8E8D-441F-803A-AC5A6FC90379}" type="datetime'''''''''''''''''8''''''''''''''''''''''''6''''''''2'''''''">
              <a:rPr lang="en-US" altLang="en-US" sz="1200" b="1" smtClean="0">
                <a:latin typeface="Arial" panose="020B0604020202020204" pitchFamily="34" charset="0"/>
                <a:cs typeface="+mn-cs"/>
              </a:rPr>
              <a:pPr lvl="0" algn="ctr">
                <a:spcBef>
                  <a:spcPct val="0"/>
                </a:spcBef>
                <a:spcAft>
                  <a:spcPct val="0"/>
                </a:spcAft>
              </a:pPr>
              <a:t>862</a:t>
            </a:fld>
            <a:endParaRPr lang="en-US" sz="1200" b="1" noProof="0">
              <a:latin typeface="Arial" panose="020B0604020202020204" pitchFamily="34" charset="0"/>
              <a:cs typeface="+mn-cs"/>
              <a:sym typeface="Arial" panose="020B0604020202020204" pitchFamily="34" charset="0"/>
            </a:endParaRPr>
          </a:p>
        </p:txBody>
      </p:sp>
      <p:sp>
        <p:nvSpPr>
          <p:cNvPr id="449" name="Text Placeholder 18">
            <a:extLst>
              <a:ext uri="{FF2B5EF4-FFF2-40B4-BE49-F238E27FC236}">
                <a16:creationId xmlns:a16="http://schemas.microsoft.com/office/drawing/2014/main" id="{F6578C31-4AF1-1AC1-E840-D8F83029D66A}"/>
              </a:ext>
            </a:extLst>
          </p:cNvPr>
          <p:cNvSpPr>
            <a:spLocks noGrp="1"/>
          </p:cNvSpPr>
          <p:nvPr>
            <p:custDataLst>
              <p:tags r:id="rId80"/>
            </p:custDataLst>
          </p:nvPr>
        </p:nvSpPr>
        <p:spPr bwMode="gray">
          <a:xfrm>
            <a:off x="5268913" y="4054475"/>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5DE9892-71E5-4DBD-962E-E5767DB03E8A}" type="datetime'''8''''''''''''''9''''''''''''0'''''''''">
              <a:rPr lang="en-US" altLang="en-US" sz="1200" b="1" smtClean="0">
                <a:latin typeface="Arial" panose="020B0604020202020204" pitchFamily="34" charset="0"/>
                <a:cs typeface="+mn-cs"/>
              </a:rPr>
              <a:pPr lvl="0" algn="ctr">
                <a:spcBef>
                  <a:spcPct val="0"/>
                </a:spcBef>
                <a:spcAft>
                  <a:spcPct val="0"/>
                </a:spcAft>
              </a:pPr>
              <a:t>890</a:t>
            </a:fld>
            <a:endParaRPr lang="en-US" sz="1200" b="1" noProof="0">
              <a:latin typeface="Arial" panose="020B0604020202020204" pitchFamily="34" charset="0"/>
              <a:cs typeface="+mn-cs"/>
              <a:sym typeface="Arial" panose="020B0604020202020204" pitchFamily="34" charset="0"/>
            </a:endParaRPr>
          </a:p>
        </p:txBody>
      </p:sp>
      <p:sp>
        <p:nvSpPr>
          <p:cNvPr id="60" name="Text Placeholder 18">
            <a:extLst>
              <a:ext uri="{FF2B5EF4-FFF2-40B4-BE49-F238E27FC236}">
                <a16:creationId xmlns:a16="http://schemas.microsoft.com/office/drawing/2014/main" id="{9A9DB0CC-B429-55B5-DC2F-7093791E5B82}"/>
              </a:ext>
            </a:extLst>
          </p:cNvPr>
          <p:cNvSpPr>
            <a:spLocks noGrp="1"/>
          </p:cNvSpPr>
          <p:nvPr>
            <p:custDataLst>
              <p:tags r:id="rId81"/>
            </p:custDataLst>
          </p:nvPr>
        </p:nvSpPr>
        <p:spPr bwMode="gray">
          <a:xfrm>
            <a:off x="1260475" y="3694113"/>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18813EB-D7FA-4AA4-A254-53FEA3D87537}" type="datetime'''''''1'''''''''''''''''''''''''''''',2''2''1'">
              <a:rPr lang="en-US" altLang="en-US" sz="1200" b="1" smtClean="0">
                <a:latin typeface="Arial" panose="020B0604020202020204" pitchFamily="34" charset="0"/>
                <a:cs typeface="+mn-cs"/>
              </a:rPr>
              <a:pPr lvl="0" algn="ctr">
                <a:spcBef>
                  <a:spcPct val="0"/>
                </a:spcBef>
                <a:spcAft>
                  <a:spcPct val="0"/>
                </a:spcAft>
              </a:pPr>
              <a:t>1,221</a:t>
            </a:fld>
            <a:endParaRPr lang="en-US" sz="1200" b="1" noProof="0">
              <a:latin typeface="Arial" panose="020B0604020202020204" pitchFamily="34" charset="0"/>
              <a:cs typeface="+mn-cs"/>
              <a:sym typeface="Arial" panose="020B0604020202020204" pitchFamily="34" charset="0"/>
            </a:endParaRPr>
          </a:p>
        </p:txBody>
      </p:sp>
      <p:sp>
        <p:nvSpPr>
          <p:cNvPr id="451" name="Text Placeholder 18">
            <a:extLst>
              <a:ext uri="{FF2B5EF4-FFF2-40B4-BE49-F238E27FC236}">
                <a16:creationId xmlns:a16="http://schemas.microsoft.com/office/drawing/2014/main" id="{D1292D8C-7B91-D311-3732-EA15298DF93A}"/>
              </a:ext>
            </a:extLst>
          </p:cNvPr>
          <p:cNvSpPr>
            <a:spLocks noGrp="1"/>
          </p:cNvSpPr>
          <p:nvPr>
            <p:custDataLst>
              <p:tags r:id="rId82"/>
            </p:custDataLst>
          </p:nvPr>
        </p:nvSpPr>
        <p:spPr bwMode="gray">
          <a:xfrm>
            <a:off x="6848475" y="3994150"/>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F5C399A-7226-42D6-919D-A74F56143741}" type="datetime'''''''''''''''''''''''''''''''''''''''9''8''''7'''''">
              <a:rPr lang="en-US" altLang="en-US" sz="1200" b="1" smtClean="0">
                <a:latin typeface="Arial" panose="020B0604020202020204" pitchFamily="34" charset="0"/>
                <a:cs typeface="+mn-cs"/>
              </a:rPr>
              <a:pPr lvl="0" algn="ctr">
                <a:spcBef>
                  <a:spcPct val="0"/>
                </a:spcBef>
                <a:spcAft>
                  <a:spcPct val="0"/>
                </a:spcAft>
              </a:pPr>
              <a:t>987</a:t>
            </a:fld>
            <a:endParaRPr lang="en-US" sz="1200" b="1" noProof="0">
              <a:latin typeface="Arial" panose="020B0604020202020204" pitchFamily="34" charset="0"/>
              <a:cs typeface="+mn-cs"/>
              <a:sym typeface="Arial" panose="020B0604020202020204" pitchFamily="34" charset="0"/>
            </a:endParaRPr>
          </a:p>
        </p:txBody>
      </p:sp>
      <p:sp>
        <p:nvSpPr>
          <p:cNvPr id="452" name="Text Placeholder 18">
            <a:extLst>
              <a:ext uri="{FF2B5EF4-FFF2-40B4-BE49-F238E27FC236}">
                <a16:creationId xmlns:a16="http://schemas.microsoft.com/office/drawing/2014/main" id="{613B5F30-022E-E7C2-A826-556DFC95AC19}"/>
              </a:ext>
            </a:extLst>
          </p:cNvPr>
          <p:cNvSpPr>
            <a:spLocks noGrp="1"/>
          </p:cNvSpPr>
          <p:nvPr>
            <p:custDataLst>
              <p:tags r:id="rId83"/>
            </p:custDataLst>
          </p:nvPr>
        </p:nvSpPr>
        <p:spPr bwMode="gray">
          <a:xfrm>
            <a:off x="7637463" y="3992563"/>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CB57477-3EE8-4595-B534-B118A46869A4}" type="datetime'''''''''''''''''''''''''9''''''''''''''''''''''''91'''''''''">
              <a:rPr lang="en-US" altLang="en-US" sz="1200" b="1" smtClean="0">
                <a:latin typeface="Arial" panose="020B0604020202020204" pitchFamily="34" charset="0"/>
                <a:cs typeface="+mn-cs"/>
              </a:rPr>
              <a:pPr lvl="0" algn="ctr">
                <a:spcBef>
                  <a:spcPct val="0"/>
                </a:spcBef>
                <a:spcAft>
                  <a:spcPct val="0"/>
                </a:spcAft>
              </a:pPr>
              <a:t>991</a:t>
            </a:fld>
            <a:endParaRPr lang="en-US" sz="1200" b="1" noProof="0">
              <a:latin typeface="Arial" panose="020B0604020202020204" pitchFamily="34" charset="0"/>
              <a:cs typeface="+mn-cs"/>
              <a:sym typeface="Arial" panose="020B0604020202020204" pitchFamily="34" charset="0"/>
            </a:endParaRPr>
          </a:p>
        </p:txBody>
      </p:sp>
      <p:sp>
        <p:nvSpPr>
          <p:cNvPr id="453" name="Text Placeholder 18">
            <a:extLst>
              <a:ext uri="{FF2B5EF4-FFF2-40B4-BE49-F238E27FC236}">
                <a16:creationId xmlns:a16="http://schemas.microsoft.com/office/drawing/2014/main" id="{DD463453-E9DD-DDFC-9C89-8BF798BEA4AE}"/>
              </a:ext>
            </a:extLst>
          </p:cNvPr>
          <p:cNvSpPr>
            <a:spLocks noGrp="1"/>
          </p:cNvSpPr>
          <p:nvPr>
            <p:custDataLst>
              <p:tags r:id="rId84"/>
            </p:custDataLst>
          </p:nvPr>
        </p:nvSpPr>
        <p:spPr bwMode="gray">
          <a:xfrm>
            <a:off x="8362950" y="3868738"/>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83D3A44-F76F-4D94-9004-AF4DF0BDC2A1}" type="datetime'''''''''''1'''''''''''',''''''1''''''''''''9''3'''''''''''''''">
              <a:rPr lang="en-US" altLang="en-US" sz="1200" b="1" smtClean="0">
                <a:latin typeface="Arial" panose="020B0604020202020204" pitchFamily="34" charset="0"/>
                <a:cs typeface="+mn-cs"/>
              </a:rPr>
              <a:pPr lvl="0" algn="ctr">
                <a:spcBef>
                  <a:spcPct val="0"/>
                </a:spcBef>
                <a:spcAft>
                  <a:spcPct val="0"/>
                </a:spcAft>
              </a:pPr>
              <a:t>1,193</a:t>
            </a:fld>
            <a:endParaRPr lang="en-US" sz="1200" b="1" noProof="0">
              <a:latin typeface="Arial" panose="020B0604020202020204" pitchFamily="34" charset="0"/>
              <a:cs typeface="+mn-cs"/>
              <a:sym typeface="Arial" panose="020B0604020202020204" pitchFamily="34" charset="0"/>
            </a:endParaRPr>
          </a:p>
        </p:txBody>
      </p:sp>
      <p:sp>
        <p:nvSpPr>
          <p:cNvPr id="465" name="Text Placeholder 18">
            <a:extLst>
              <a:ext uri="{FF2B5EF4-FFF2-40B4-BE49-F238E27FC236}">
                <a16:creationId xmlns:a16="http://schemas.microsoft.com/office/drawing/2014/main" id="{87AFF506-593A-B65C-2D59-100974C1A5DC}"/>
              </a:ext>
            </a:extLst>
          </p:cNvPr>
          <p:cNvSpPr>
            <a:spLocks noGrp="1"/>
          </p:cNvSpPr>
          <p:nvPr>
            <p:custDataLst>
              <p:tags r:id="rId85"/>
            </p:custDataLst>
          </p:nvPr>
        </p:nvSpPr>
        <p:spPr bwMode="gray">
          <a:xfrm>
            <a:off x="9151938" y="3741738"/>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A4CC09E-B8F7-477D-AF61-DBD2488329E1}" type="datetime'''''1'''''''''',''''''3''''''3''''''''2'''''''''''''''">
              <a:rPr lang="en-US" altLang="en-US" sz="1200" b="1" smtClean="0">
                <a:latin typeface="Arial" panose="020B0604020202020204" pitchFamily="34" charset="0"/>
                <a:cs typeface="+mn-cs"/>
              </a:rPr>
              <a:pPr lvl="0" algn="ctr">
                <a:spcBef>
                  <a:spcPct val="0"/>
                </a:spcBef>
                <a:spcAft>
                  <a:spcPct val="0"/>
                </a:spcAft>
              </a:pPr>
              <a:t>1,332</a:t>
            </a:fld>
            <a:endParaRPr lang="en-US" sz="1200" b="1" noProof="0">
              <a:latin typeface="Arial" panose="020B0604020202020204" pitchFamily="34" charset="0"/>
              <a:cs typeface="+mn-cs"/>
              <a:sym typeface="Arial" panose="020B0604020202020204" pitchFamily="34" charset="0"/>
            </a:endParaRPr>
          </a:p>
        </p:txBody>
      </p:sp>
      <p:sp>
        <p:nvSpPr>
          <p:cNvPr id="456" name="Text Placeholder 18">
            <a:extLst>
              <a:ext uri="{FF2B5EF4-FFF2-40B4-BE49-F238E27FC236}">
                <a16:creationId xmlns:a16="http://schemas.microsoft.com/office/drawing/2014/main" id="{B776DE36-9AC4-3B06-3F3C-AA34C23C609D}"/>
              </a:ext>
            </a:extLst>
          </p:cNvPr>
          <p:cNvSpPr>
            <a:spLocks noGrp="1"/>
          </p:cNvSpPr>
          <p:nvPr>
            <p:custDataLst>
              <p:tags r:id="rId86"/>
            </p:custDataLst>
          </p:nvPr>
        </p:nvSpPr>
        <p:spPr bwMode="gray">
          <a:xfrm>
            <a:off x="9940925" y="3600450"/>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0183E5E4-8F79-425D-9487-1078F2FD255E}" type="datetime'''1'''''',''''2''30'''''''''">
              <a:rPr lang="en-US" altLang="en-US" sz="1200" b="1" smtClean="0">
                <a:latin typeface="Arial" panose="020B0604020202020204" pitchFamily="34" charset="0"/>
                <a:cs typeface="+mn-cs"/>
              </a:rPr>
              <a:pPr lvl="0" algn="ctr">
                <a:spcBef>
                  <a:spcPct val="0"/>
                </a:spcBef>
                <a:spcAft>
                  <a:spcPct val="0"/>
                </a:spcAft>
              </a:pPr>
              <a:t>1,230</a:t>
            </a:fld>
            <a:endParaRPr lang="en-US" sz="1200" b="1" noProof="0">
              <a:latin typeface="Arial" panose="020B0604020202020204" pitchFamily="34" charset="0"/>
              <a:cs typeface="+mn-cs"/>
              <a:sym typeface="Arial" panose="020B0604020202020204" pitchFamily="34" charset="0"/>
            </a:endParaRPr>
          </a:p>
        </p:txBody>
      </p:sp>
      <p:sp>
        <p:nvSpPr>
          <p:cNvPr id="450" name="Text Placeholder 18">
            <a:extLst>
              <a:ext uri="{FF2B5EF4-FFF2-40B4-BE49-F238E27FC236}">
                <a16:creationId xmlns:a16="http://schemas.microsoft.com/office/drawing/2014/main" id="{8FC8C1F2-6011-59F6-B6B9-2CB933BEBC8A}"/>
              </a:ext>
            </a:extLst>
          </p:cNvPr>
          <p:cNvSpPr>
            <a:spLocks noGrp="1"/>
          </p:cNvSpPr>
          <p:nvPr>
            <p:custDataLst>
              <p:tags r:id="rId87"/>
            </p:custDataLst>
          </p:nvPr>
        </p:nvSpPr>
        <p:spPr bwMode="gray">
          <a:xfrm>
            <a:off x="6059488" y="3998913"/>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9230C89-AFC4-4B6F-A631-19A472881D4E}" type="datetime'''''''''''''''''9''8''''''''''''''''''''''''''1'''''''''''''">
              <a:rPr lang="en-US" altLang="en-US" sz="1200" b="1" smtClean="0">
                <a:latin typeface="Arial" panose="020B0604020202020204" pitchFamily="34" charset="0"/>
                <a:cs typeface="+mn-cs"/>
              </a:rPr>
              <a:pPr lvl="0" algn="ctr">
                <a:spcBef>
                  <a:spcPct val="0"/>
                </a:spcBef>
                <a:spcAft>
                  <a:spcPct val="0"/>
                </a:spcAft>
              </a:pPr>
              <a:t>981</a:t>
            </a:fld>
            <a:endParaRPr lang="en-US" sz="1200" b="1" noProof="0">
              <a:latin typeface="Arial" panose="020B0604020202020204" pitchFamily="34" charset="0"/>
              <a:cs typeface="+mn-cs"/>
              <a:sym typeface="Arial" panose="020B0604020202020204" pitchFamily="34" charset="0"/>
            </a:endParaRPr>
          </a:p>
        </p:txBody>
      </p:sp>
      <p:sp>
        <p:nvSpPr>
          <p:cNvPr id="516" name="TextBox 515">
            <a:extLst>
              <a:ext uri="{FF2B5EF4-FFF2-40B4-BE49-F238E27FC236}">
                <a16:creationId xmlns:a16="http://schemas.microsoft.com/office/drawing/2014/main" id="{E374EA07-842E-E33E-1C86-42BED349754A}"/>
              </a:ext>
            </a:extLst>
          </p:cNvPr>
          <p:cNvSpPr txBox="1"/>
          <p:nvPr/>
        </p:nvSpPr>
        <p:spPr>
          <a:xfrm rot="5400000" flipV="1">
            <a:off x="93663" y="4579938"/>
            <a:ext cx="1344614" cy="276225"/>
          </a:xfrm>
          <a:prstGeom prst="rect">
            <a:avLst/>
          </a:prstGeom>
          <a:solidFill>
            <a:schemeClr val="accent4"/>
          </a:solid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2023/24</a:t>
            </a:r>
          </a:p>
        </p:txBody>
      </p:sp>
      <p:sp>
        <p:nvSpPr>
          <p:cNvPr id="518" name="TextBox 517">
            <a:extLst>
              <a:ext uri="{FF2B5EF4-FFF2-40B4-BE49-F238E27FC236}">
                <a16:creationId xmlns:a16="http://schemas.microsoft.com/office/drawing/2014/main" id="{B26EA2CE-62B3-F5C8-801F-FDE591DEA764}"/>
              </a:ext>
            </a:extLst>
          </p:cNvPr>
          <p:cNvSpPr txBox="1"/>
          <p:nvPr/>
        </p:nvSpPr>
        <p:spPr>
          <a:xfrm rot="5400000" flipV="1">
            <a:off x="93663" y="2033588"/>
            <a:ext cx="1344614" cy="276225"/>
          </a:xfrm>
          <a:prstGeom prst="rect">
            <a:avLst/>
          </a:prstGeom>
          <a:solidFill>
            <a:schemeClr val="accent4"/>
          </a:solid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lang="en-US" sz="1200">
                <a:solidFill>
                  <a:prstClr val="white"/>
                </a:solidFill>
                <a:latin typeface="Arial" panose="020B0604020202020204" pitchFamily="34" charset="0"/>
                <a:cs typeface="Arial" panose="020B0604020202020204" pitchFamily="34" charset="0"/>
              </a:rPr>
              <a:t>2018/19</a:t>
            </a:r>
            <a:endParaRPr kumimoji="0" lang="en-US" sz="12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596" name="Rectangle 595">
            <a:extLst>
              <a:ext uri="{FF2B5EF4-FFF2-40B4-BE49-F238E27FC236}">
                <a16:creationId xmlns:a16="http://schemas.microsoft.com/office/drawing/2014/main" id="{08A4BC73-9B12-7E47-0195-2B7838D29D93}"/>
              </a:ext>
            </a:extLst>
          </p:cNvPr>
          <p:cNvSpPr/>
          <p:nvPr>
            <p:custDataLst>
              <p:tags r:id="rId88"/>
            </p:custDataLst>
          </p:nvPr>
        </p:nvSpPr>
        <p:spPr bwMode="auto">
          <a:xfrm>
            <a:off x="2338388" y="5627688"/>
            <a:ext cx="214313" cy="160338"/>
          </a:xfrm>
          <a:prstGeom prst="rect">
            <a:avLst/>
          </a:prstGeom>
          <a:solidFill>
            <a:srgbClr val="86BC25"/>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597" name="Rectangle 596">
            <a:extLst>
              <a:ext uri="{FF2B5EF4-FFF2-40B4-BE49-F238E27FC236}">
                <a16:creationId xmlns:a16="http://schemas.microsoft.com/office/drawing/2014/main" id="{E153D509-376F-9A76-69F7-CD0237A613D6}"/>
              </a:ext>
            </a:extLst>
          </p:cNvPr>
          <p:cNvSpPr/>
          <p:nvPr>
            <p:custDataLst>
              <p:tags r:id="rId89"/>
            </p:custDataLst>
          </p:nvPr>
        </p:nvSpPr>
        <p:spPr bwMode="auto">
          <a:xfrm>
            <a:off x="8550275" y="5627688"/>
            <a:ext cx="214313" cy="160338"/>
          </a:xfrm>
          <a:prstGeom prst="rect">
            <a:avLst/>
          </a:prstGeom>
          <a:solidFill>
            <a:srgbClr val="046A38"/>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598" name="Rectangle 597">
            <a:extLst>
              <a:ext uri="{FF2B5EF4-FFF2-40B4-BE49-F238E27FC236}">
                <a16:creationId xmlns:a16="http://schemas.microsoft.com/office/drawing/2014/main" id="{0A18CA31-7C5F-62E5-0800-3F964DF08EFD}"/>
              </a:ext>
            </a:extLst>
          </p:cNvPr>
          <p:cNvSpPr/>
          <p:nvPr>
            <p:custDataLst>
              <p:tags r:id="rId90"/>
            </p:custDataLst>
          </p:nvPr>
        </p:nvSpPr>
        <p:spPr bwMode="auto">
          <a:xfrm>
            <a:off x="9391650" y="5627688"/>
            <a:ext cx="214313" cy="160338"/>
          </a:xfrm>
          <a:prstGeom prst="rect">
            <a:avLst/>
          </a:prstGeom>
          <a:solidFill>
            <a:srgbClr val="ED8B0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591" name="Text Placeholder 18">
            <a:extLst>
              <a:ext uri="{FF2B5EF4-FFF2-40B4-BE49-F238E27FC236}">
                <a16:creationId xmlns:a16="http://schemas.microsoft.com/office/drawing/2014/main" id="{F213B397-DA73-9393-3A4E-BA1C230ED1F2}"/>
              </a:ext>
            </a:extLst>
          </p:cNvPr>
          <p:cNvSpPr>
            <a:spLocks noGrp="1"/>
          </p:cNvSpPr>
          <p:nvPr>
            <p:custDataLst>
              <p:tags r:id="rId91"/>
            </p:custDataLst>
          </p:nvPr>
        </p:nvSpPr>
        <p:spPr bwMode="auto">
          <a:xfrm>
            <a:off x="2603500" y="5622925"/>
            <a:ext cx="58451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865AA38E-86F1-45EE-8169-195D45D73B00}" type="thinkcell&lt;?xml version=&quot;1.0&quot; encoding=&quot;UTF-16&quot; standalone=&quot;yes&quot;?&gt;&lt;root reqver=&quot;28224&quot;&gt;&lt;version val=&quot;35712&quot;/&gt;&lt;PersistentType&gt;&lt;m_guid val=&quot;c976a218-e423-4850-81e1-3910050ed7ab&quot;/&gt;&lt;m_prec&gt;&lt;m_yearfmt&gt;&lt;begin val=&quot;0&quot;/&gt;&lt;end val=&quot;4&quot;/&gt;&lt;/m_yearfmt&gt;&lt;/m_prec&gt;&lt;m_bUseExcelFont val=&quot;0&quot;/&gt;&lt;m_bUseExcelFontColor val=&quot;0&quot;/&gt;&lt;/PersistentType&gt;&lt;/root&gt;">
              <a:rPr lang="en-US" altLang="en-US" sz="1200" smtClean="0">
                <a:effectLst/>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Monthly System Energy Demand (IPP+NEA+NEA Sub+Storage+Thermal+Interruption)</a:t>
            </a:fld>
            <a:endParaRPr lang="en-US" sz="1200" noProof="0">
              <a:latin typeface="Arial" panose="020B0604020202020204" pitchFamily="34" charset="0"/>
              <a:cs typeface="Arial" panose="020B0604020202020204" pitchFamily="34" charset="0"/>
              <a:sym typeface="Arial" panose="020B0604020202020204" pitchFamily="34" charset="0"/>
            </a:endParaRPr>
          </a:p>
        </p:txBody>
      </p:sp>
      <p:sp>
        <p:nvSpPr>
          <p:cNvPr id="593" name="Text Placeholder 18">
            <a:extLst>
              <a:ext uri="{FF2B5EF4-FFF2-40B4-BE49-F238E27FC236}">
                <a16:creationId xmlns:a16="http://schemas.microsoft.com/office/drawing/2014/main" id="{7C9A1590-4770-3F45-7D01-D06B93C2704F}"/>
              </a:ext>
            </a:extLst>
          </p:cNvPr>
          <p:cNvSpPr>
            <a:spLocks noGrp="1"/>
          </p:cNvSpPr>
          <p:nvPr>
            <p:custDataLst>
              <p:tags r:id="rId92"/>
            </p:custDataLst>
          </p:nvPr>
        </p:nvSpPr>
        <p:spPr bwMode="auto">
          <a:xfrm>
            <a:off x="8815388" y="5622925"/>
            <a:ext cx="47466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998BDA89-EC6B-4D67-9568-792CF2A75E6F}" type="datetime'''''''I''mpo''r''''''t'''''''''''''''''''''''' '''">
              <a:rPr lang="en-US" altLang="en-US" sz="1200" smtClean="0">
                <a:effectLst/>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Import </a:t>
            </a:fld>
            <a:endParaRPr lang="en-US" sz="1200" noProof="0">
              <a:latin typeface="Arial" panose="020B0604020202020204" pitchFamily="34" charset="0"/>
              <a:cs typeface="Arial" panose="020B0604020202020204" pitchFamily="34" charset="0"/>
              <a:sym typeface="Arial" panose="020B0604020202020204" pitchFamily="34" charset="0"/>
            </a:endParaRPr>
          </a:p>
        </p:txBody>
      </p:sp>
      <p:sp>
        <p:nvSpPr>
          <p:cNvPr id="594" name="Text Placeholder 18">
            <a:extLst>
              <a:ext uri="{FF2B5EF4-FFF2-40B4-BE49-F238E27FC236}">
                <a16:creationId xmlns:a16="http://schemas.microsoft.com/office/drawing/2014/main" id="{C18F5999-7EC3-C5E3-CA85-75DDEA6D55E4}"/>
              </a:ext>
            </a:extLst>
          </p:cNvPr>
          <p:cNvSpPr>
            <a:spLocks noGrp="1"/>
          </p:cNvSpPr>
          <p:nvPr>
            <p:custDataLst>
              <p:tags r:id="rId93"/>
            </p:custDataLst>
          </p:nvPr>
        </p:nvSpPr>
        <p:spPr bwMode="auto">
          <a:xfrm>
            <a:off x="9656763" y="5622925"/>
            <a:ext cx="439738"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07FAE237-9580-4964-94AE-4933CF36D648}" type="datetime'''''Ex''''''p''''''''''''o''''''r''''t'''''''''''''''''">
              <a:rPr lang="en-US" altLang="en-US" sz="1200" smtClean="0">
                <a:effectLst/>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Export</a:t>
            </a:fld>
            <a:endParaRPr lang="en-US" sz="1200" noProof="0">
              <a:latin typeface="Arial" panose="020B0604020202020204" pitchFamily="34" charset="0"/>
              <a:cs typeface="Arial" panose="020B0604020202020204" pitchFamily="34" charset="0"/>
              <a:sym typeface="Arial" panose="020B0604020202020204" pitchFamily="34" charset="0"/>
            </a:endParaRPr>
          </a:p>
        </p:txBody>
      </p:sp>
      <p:grpSp>
        <p:nvGrpSpPr>
          <p:cNvPr id="761" name="Graphic 4">
            <a:extLst>
              <a:ext uri="{FF2B5EF4-FFF2-40B4-BE49-F238E27FC236}">
                <a16:creationId xmlns:a16="http://schemas.microsoft.com/office/drawing/2014/main" id="{417D17B0-4225-6194-FF59-EC3FF76F0D91}"/>
              </a:ext>
            </a:extLst>
          </p:cNvPr>
          <p:cNvGrpSpPr/>
          <p:nvPr/>
        </p:nvGrpSpPr>
        <p:grpSpPr>
          <a:xfrm>
            <a:off x="492639" y="5977693"/>
            <a:ext cx="457202" cy="457198"/>
            <a:chOff x="905454" y="2371173"/>
            <a:chExt cx="361670" cy="361333"/>
          </a:xfrm>
          <a:solidFill>
            <a:schemeClr val="accent5"/>
          </a:solidFill>
        </p:grpSpPr>
        <p:sp>
          <p:nvSpPr>
            <p:cNvPr id="762" name="Graphic 4">
              <a:extLst>
                <a:ext uri="{FF2B5EF4-FFF2-40B4-BE49-F238E27FC236}">
                  <a16:creationId xmlns:a16="http://schemas.microsoft.com/office/drawing/2014/main" id="{AD630D86-3A94-AA57-54BA-FAD73DF75B91}"/>
                </a:ext>
              </a:extLst>
            </p:cNvPr>
            <p:cNvSpPr/>
            <p:nvPr/>
          </p:nvSpPr>
          <p:spPr>
            <a:xfrm>
              <a:off x="1109293" y="2492469"/>
              <a:ext cx="53036" cy="52987"/>
            </a:xfrm>
            <a:custGeom>
              <a:avLst/>
              <a:gdLst>
                <a:gd name="connsiteX0" fmla="*/ 0 w 53036"/>
                <a:gd name="connsiteY0" fmla="*/ 0 h 52987"/>
                <a:gd name="connsiteX1" fmla="*/ 53037 w 53036"/>
                <a:gd name="connsiteY1" fmla="*/ 0 h 52987"/>
                <a:gd name="connsiteX2" fmla="*/ 53037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7" y="0"/>
                  </a:lnTo>
                  <a:lnTo>
                    <a:pt x="53037" y="52987"/>
                  </a:lnTo>
                  <a:lnTo>
                    <a:pt x="0" y="52987"/>
                  </a:lnTo>
                  <a:close/>
                </a:path>
              </a:pathLst>
            </a:custGeom>
            <a:grpFill/>
            <a:ln w="6390" cap="flat">
              <a:noFill/>
              <a:prstDash val="solid"/>
              <a:miter/>
            </a:ln>
          </p:spPr>
          <p:txBody>
            <a:bodyPr rtlCol="0" anchor="ctr"/>
            <a:lstStyle/>
            <a:p>
              <a:endParaRPr lang="en-US"/>
            </a:p>
          </p:txBody>
        </p:sp>
        <p:sp>
          <p:nvSpPr>
            <p:cNvPr id="763" name="Graphic 4">
              <a:extLst>
                <a:ext uri="{FF2B5EF4-FFF2-40B4-BE49-F238E27FC236}">
                  <a16:creationId xmlns:a16="http://schemas.microsoft.com/office/drawing/2014/main" id="{DE233095-C09D-AF6A-54E1-4919015EB9C3}"/>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250 w 361670"/>
                <a:gd name="connsiteY5" fmla="*/ 180667 h 361333"/>
                <a:gd name="connsiteX6" fmla="*/ 99044 w 361670"/>
                <a:gd name="connsiteY6" fmla="*/ 252806 h 361333"/>
                <a:gd name="connsiteX7" fmla="*/ 92654 w 361670"/>
                <a:gd name="connsiteY7" fmla="*/ 246422 h 361333"/>
                <a:gd name="connsiteX8" fmla="*/ 99044 w 361670"/>
                <a:gd name="connsiteY8" fmla="*/ 240038 h 361333"/>
                <a:gd name="connsiteX9" fmla="*/ 157831 w 361670"/>
                <a:gd name="connsiteY9" fmla="*/ 187051 h 361333"/>
                <a:gd name="connsiteX10" fmla="*/ 99044 w 361670"/>
                <a:gd name="connsiteY10" fmla="*/ 187051 h 361333"/>
                <a:gd name="connsiteX11" fmla="*/ 92654 w 361670"/>
                <a:gd name="connsiteY11" fmla="*/ 180667 h 361333"/>
                <a:gd name="connsiteX12" fmla="*/ 92654 w 361670"/>
                <a:gd name="connsiteY12" fmla="*/ 114912 h 361333"/>
                <a:gd name="connsiteX13" fmla="*/ 99044 w 361670"/>
                <a:gd name="connsiteY13" fmla="*/ 108528 h 361333"/>
                <a:gd name="connsiteX14" fmla="*/ 164860 w 361670"/>
                <a:gd name="connsiteY14" fmla="*/ 108528 h 361333"/>
                <a:gd name="connsiteX15" fmla="*/ 171250 w 361670"/>
                <a:gd name="connsiteY15" fmla="*/ 114912 h 361333"/>
                <a:gd name="connsiteX16" fmla="*/ 171250 w 361670"/>
                <a:gd name="connsiteY16" fmla="*/ 180667 h 361333"/>
                <a:gd name="connsiteX17" fmla="*/ 269655 w 361670"/>
                <a:gd name="connsiteY17" fmla="*/ 180667 h 361333"/>
                <a:gd name="connsiteX18" fmla="*/ 197449 w 361670"/>
                <a:gd name="connsiteY18" fmla="*/ 252806 h 361333"/>
                <a:gd name="connsiteX19" fmla="*/ 191059 w 361670"/>
                <a:gd name="connsiteY19" fmla="*/ 246422 h 361333"/>
                <a:gd name="connsiteX20" fmla="*/ 197449 w 361670"/>
                <a:gd name="connsiteY20" fmla="*/ 240038 h 361333"/>
                <a:gd name="connsiteX21" fmla="*/ 256237 w 361670"/>
                <a:gd name="connsiteY21" fmla="*/ 187051 h 361333"/>
                <a:gd name="connsiteX22" fmla="*/ 197449 w 361670"/>
                <a:gd name="connsiteY22" fmla="*/ 187051 h 361333"/>
                <a:gd name="connsiteX23" fmla="*/ 191059 w 361670"/>
                <a:gd name="connsiteY23" fmla="*/ 180667 h 361333"/>
                <a:gd name="connsiteX24" fmla="*/ 191059 w 361670"/>
                <a:gd name="connsiteY24" fmla="*/ 114912 h 361333"/>
                <a:gd name="connsiteX25" fmla="*/ 197449 w 361670"/>
                <a:gd name="connsiteY25" fmla="*/ 108528 h 361333"/>
                <a:gd name="connsiteX26" fmla="*/ 263265 w 361670"/>
                <a:gd name="connsiteY26" fmla="*/ 108528 h 361333"/>
                <a:gd name="connsiteX27" fmla="*/ 269655 w 361670"/>
                <a:gd name="connsiteY27" fmla="*/ 114912 h 361333"/>
                <a:gd name="connsiteX28" fmla="*/ 269655 w 361670"/>
                <a:gd name="connsiteY2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71250" y="180667"/>
                  </a:moveTo>
                  <a:cubicBezTo>
                    <a:pt x="171250" y="221524"/>
                    <a:pt x="139940" y="252806"/>
                    <a:pt x="99044" y="252806"/>
                  </a:cubicBezTo>
                  <a:cubicBezTo>
                    <a:pt x="95210" y="252806"/>
                    <a:pt x="92654" y="250252"/>
                    <a:pt x="92654" y="246422"/>
                  </a:cubicBezTo>
                  <a:cubicBezTo>
                    <a:pt x="92654" y="242591"/>
                    <a:pt x="95210" y="240038"/>
                    <a:pt x="99044" y="240038"/>
                  </a:cubicBezTo>
                  <a:cubicBezTo>
                    <a:pt x="130994" y="240038"/>
                    <a:pt x="155275" y="217694"/>
                    <a:pt x="157831" y="187051"/>
                  </a:cubicBezTo>
                  <a:lnTo>
                    <a:pt x="99044" y="187051"/>
                  </a:lnTo>
                  <a:cubicBezTo>
                    <a:pt x="95210" y="187051"/>
                    <a:pt x="92654" y="184497"/>
                    <a:pt x="92654" y="180667"/>
                  </a:cubicBezTo>
                  <a:lnTo>
                    <a:pt x="92654" y="114912"/>
                  </a:lnTo>
                  <a:cubicBezTo>
                    <a:pt x="92654" y="111081"/>
                    <a:pt x="95210" y="108528"/>
                    <a:pt x="99044" y="108528"/>
                  </a:cubicBezTo>
                  <a:lnTo>
                    <a:pt x="164860" y="108528"/>
                  </a:lnTo>
                  <a:cubicBezTo>
                    <a:pt x="168694" y="108528"/>
                    <a:pt x="171250" y="111081"/>
                    <a:pt x="171250" y="114912"/>
                  </a:cubicBezTo>
                  <a:lnTo>
                    <a:pt x="171250" y="180667"/>
                  </a:lnTo>
                  <a:close/>
                  <a:moveTo>
                    <a:pt x="269655" y="180667"/>
                  </a:moveTo>
                  <a:cubicBezTo>
                    <a:pt x="269655" y="221524"/>
                    <a:pt x="238345" y="252806"/>
                    <a:pt x="197449" y="252806"/>
                  </a:cubicBezTo>
                  <a:cubicBezTo>
                    <a:pt x="193615" y="252806"/>
                    <a:pt x="191059" y="250252"/>
                    <a:pt x="191059" y="246422"/>
                  </a:cubicBezTo>
                  <a:cubicBezTo>
                    <a:pt x="191059" y="242591"/>
                    <a:pt x="193615" y="240038"/>
                    <a:pt x="197449" y="240038"/>
                  </a:cubicBezTo>
                  <a:cubicBezTo>
                    <a:pt x="229399" y="240038"/>
                    <a:pt x="253680" y="217694"/>
                    <a:pt x="256237" y="187051"/>
                  </a:cubicBezTo>
                  <a:lnTo>
                    <a:pt x="197449" y="187051"/>
                  </a:lnTo>
                  <a:cubicBezTo>
                    <a:pt x="193615" y="187051"/>
                    <a:pt x="191059" y="184497"/>
                    <a:pt x="191059" y="180667"/>
                  </a:cubicBezTo>
                  <a:lnTo>
                    <a:pt x="191059" y="114912"/>
                  </a:lnTo>
                  <a:cubicBezTo>
                    <a:pt x="191059" y="111081"/>
                    <a:pt x="193615" y="108528"/>
                    <a:pt x="197449" y="108528"/>
                  </a:cubicBezTo>
                  <a:lnTo>
                    <a:pt x="263265" y="108528"/>
                  </a:lnTo>
                  <a:cubicBezTo>
                    <a:pt x="267099" y="108528"/>
                    <a:pt x="269655" y="111081"/>
                    <a:pt x="269655" y="114912"/>
                  </a:cubicBezTo>
                  <a:lnTo>
                    <a:pt x="269655" y="180667"/>
                  </a:lnTo>
                  <a:close/>
                </a:path>
              </a:pathLst>
            </a:custGeom>
            <a:grpFill/>
            <a:ln w="6390" cap="flat">
              <a:noFill/>
              <a:prstDash val="solid"/>
              <a:miter/>
            </a:ln>
          </p:spPr>
          <p:txBody>
            <a:bodyPr rtlCol="0" anchor="ctr"/>
            <a:lstStyle/>
            <a:p>
              <a:endParaRPr lang="en-US"/>
            </a:p>
          </p:txBody>
        </p:sp>
        <p:sp>
          <p:nvSpPr>
            <p:cNvPr id="764" name="Graphic 4">
              <a:extLst>
                <a:ext uri="{FF2B5EF4-FFF2-40B4-BE49-F238E27FC236}">
                  <a16:creationId xmlns:a16="http://schemas.microsoft.com/office/drawing/2014/main" id="{02509262-A759-2E75-FDE7-C973213C28D9}"/>
                </a:ext>
              </a:extLst>
            </p:cNvPr>
            <p:cNvSpPr/>
            <p:nvPr/>
          </p:nvSpPr>
          <p:spPr>
            <a:xfrm>
              <a:off x="1010888" y="2492469"/>
              <a:ext cx="53036" cy="52987"/>
            </a:xfrm>
            <a:custGeom>
              <a:avLst/>
              <a:gdLst>
                <a:gd name="connsiteX0" fmla="*/ 0 w 53036"/>
                <a:gd name="connsiteY0" fmla="*/ 0 h 52987"/>
                <a:gd name="connsiteX1" fmla="*/ 53036 w 53036"/>
                <a:gd name="connsiteY1" fmla="*/ 0 h 52987"/>
                <a:gd name="connsiteX2" fmla="*/ 53036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6" y="0"/>
                  </a:lnTo>
                  <a:lnTo>
                    <a:pt x="53036" y="52987"/>
                  </a:lnTo>
                  <a:lnTo>
                    <a:pt x="0" y="52987"/>
                  </a:lnTo>
                  <a:close/>
                </a:path>
              </a:pathLst>
            </a:custGeom>
            <a:grpFill/>
            <a:ln w="6390" cap="flat">
              <a:noFill/>
              <a:prstDash val="solid"/>
              <a:miter/>
            </a:ln>
          </p:spPr>
          <p:txBody>
            <a:bodyPr rtlCol="0" anchor="ctr"/>
            <a:lstStyle/>
            <a:p>
              <a:endParaRPr lang="en-US"/>
            </a:p>
          </p:txBody>
        </p:sp>
      </p:grpSp>
      <p:sp>
        <p:nvSpPr>
          <p:cNvPr id="765" name="TextBox 764">
            <a:extLst>
              <a:ext uri="{FF2B5EF4-FFF2-40B4-BE49-F238E27FC236}">
                <a16:creationId xmlns:a16="http://schemas.microsoft.com/office/drawing/2014/main" id="{D3DCF294-F28B-41B4-8A16-C6217C2B8D3E}"/>
              </a:ext>
            </a:extLst>
          </p:cNvPr>
          <p:cNvSpPr txBox="1"/>
          <p:nvPr/>
        </p:nvSpPr>
        <p:spPr>
          <a:xfrm>
            <a:off x="947415" y="5935440"/>
            <a:ext cx="10615184" cy="646331"/>
          </a:xfrm>
          <a:prstGeom prst="rect">
            <a:avLst/>
          </a:prstGeom>
          <a:noFill/>
        </p:spPr>
        <p:txBody>
          <a:bodyPr wrap="square">
            <a:spAutoFit/>
          </a:bodyPr>
          <a:lstStyle/>
          <a:p>
            <a:pPr algn="just"/>
            <a:r>
              <a:rPr lang="en-US" sz="1200">
                <a:latin typeface="Arial" panose="020B0604020202020204" pitchFamily="34" charset="0"/>
                <a:cs typeface="Arial" panose="020B0604020202020204" pitchFamily="34" charset="0"/>
              </a:rPr>
              <a:t>The sector has leveraged hydro capacity additions over the years to export surplus power to India. Nepal’s hydroelectric generating capacity has </a:t>
            </a:r>
            <a:r>
              <a:rPr lang="en-IN" sz="1200">
                <a:latin typeface="Arial" panose="020B0604020202020204" pitchFamily="34" charset="0"/>
                <a:cs typeface="Arial" panose="020B0604020202020204" pitchFamily="34" charset="0"/>
              </a:rPr>
              <a:t>complemented India’s growing variable renewables. </a:t>
            </a:r>
            <a:r>
              <a:rPr lang="en-IN" sz="1200" b="1">
                <a:latin typeface="Arial" panose="020B0604020202020204" pitchFamily="34" charset="0"/>
                <a:cs typeface="Arial" panose="020B0604020202020204" pitchFamily="34" charset="0"/>
              </a:rPr>
              <a:t>In 2023/24, by exporting 1,943 GWh power vis-à-vis 1,834 GWh imports, Nepal has become net exporter of power</a:t>
            </a:r>
            <a:endParaRPr lang="en-US" sz="1200" b="1">
              <a:latin typeface="Arial" panose="020B0604020202020204" pitchFamily="34" charset="0"/>
              <a:cs typeface="Arial" panose="020B0604020202020204" pitchFamily="34" charset="0"/>
            </a:endParaRPr>
          </a:p>
        </p:txBody>
      </p:sp>
      <p:sp>
        <p:nvSpPr>
          <p:cNvPr id="4" name="Arrow: Down 3">
            <a:extLst>
              <a:ext uri="{FF2B5EF4-FFF2-40B4-BE49-F238E27FC236}">
                <a16:creationId xmlns:a16="http://schemas.microsoft.com/office/drawing/2014/main" id="{A0CDFEF8-9948-E4F5-A27F-F17DD628957D}"/>
              </a:ext>
            </a:extLst>
          </p:cNvPr>
          <p:cNvSpPr/>
          <p:nvPr/>
        </p:nvSpPr>
        <p:spPr bwMode="gray">
          <a:xfrm>
            <a:off x="556824" y="3281705"/>
            <a:ext cx="240101" cy="526786"/>
          </a:xfrm>
          <a:prstGeom prst="downArrow">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5" name="Arrow: Down 4">
            <a:extLst>
              <a:ext uri="{FF2B5EF4-FFF2-40B4-BE49-F238E27FC236}">
                <a16:creationId xmlns:a16="http://schemas.microsoft.com/office/drawing/2014/main" id="{0A433F24-AA73-6021-5342-59D882B16924}"/>
              </a:ext>
            </a:extLst>
          </p:cNvPr>
          <p:cNvSpPr/>
          <p:nvPr/>
        </p:nvSpPr>
        <p:spPr bwMode="gray">
          <a:xfrm>
            <a:off x="11408235" y="3274483"/>
            <a:ext cx="240101" cy="526786"/>
          </a:xfrm>
          <a:prstGeom prst="downArrow">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aphicFrame>
        <p:nvGraphicFramePr>
          <p:cNvPr id="719" name="Chart 718">
            <a:extLst>
              <a:ext uri="{FF2B5EF4-FFF2-40B4-BE49-F238E27FC236}">
                <a16:creationId xmlns:a16="http://schemas.microsoft.com/office/drawing/2014/main" id="{02F2D1C6-4FFB-D996-DDEC-32AAA36939F6}"/>
              </a:ext>
            </a:extLst>
          </p:cNvPr>
          <p:cNvGraphicFramePr/>
          <p:nvPr>
            <p:custDataLst>
              <p:tags r:id="rId94"/>
            </p:custDataLst>
            <p:extLst>
              <p:ext uri="{D42A27DB-BD31-4B8C-83A1-F6EECF244321}">
                <p14:modId xmlns:p14="http://schemas.microsoft.com/office/powerpoint/2010/main" val="1214246909"/>
              </p:ext>
            </p:extLst>
          </p:nvPr>
        </p:nvGraphicFramePr>
        <p:xfrm>
          <a:off x="9853613" y="1096963"/>
          <a:ext cx="2635250" cy="2014537"/>
        </p:xfrm>
        <a:graphic>
          <a:graphicData uri="http://schemas.openxmlformats.org/drawingml/2006/chart">
            <c:chart xmlns:c="http://schemas.openxmlformats.org/drawingml/2006/chart" xmlns:r="http://schemas.openxmlformats.org/officeDocument/2006/relationships" r:id="rId110"/>
          </a:graphicData>
        </a:graphic>
      </p:graphicFrame>
      <p:sp>
        <p:nvSpPr>
          <p:cNvPr id="536" name="Text Placeholder 18">
            <a:extLst>
              <a:ext uri="{FF2B5EF4-FFF2-40B4-BE49-F238E27FC236}">
                <a16:creationId xmlns:a16="http://schemas.microsoft.com/office/drawing/2014/main" id="{AA29D3A4-EBFA-A683-9DD6-9449B87321FA}"/>
              </a:ext>
            </a:extLst>
          </p:cNvPr>
          <p:cNvSpPr>
            <a:spLocks noGrp="1"/>
          </p:cNvSpPr>
          <p:nvPr>
            <p:custDataLst>
              <p:tags r:id="rId95"/>
            </p:custDataLst>
          </p:nvPr>
        </p:nvSpPr>
        <p:spPr bwMode="gray">
          <a:xfrm>
            <a:off x="11034713" y="2749550"/>
            <a:ext cx="269875" cy="182563"/>
          </a:xfrm>
          <a:prstGeom prst="rect">
            <a:avLst/>
          </a:prstGeom>
          <a:solidFill>
            <a:srgbClr val="62B5E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67CAC036-FE57-42B2-8E79-C12E22B70980}" type="datetime'-''''''''''''''''''4''''''''''''''''''''''''''2'">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-42</a:t>
            </a:fld>
            <a:endParaRPr lang="en-US" sz="1200" noProof="0">
              <a:latin typeface="Arial" panose="020B0604020202020204" pitchFamily="34" charset="0"/>
              <a:cs typeface="+mn-cs"/>
              <a:sym typeface="Arial" panose="020B0604020202020204" pitchFamily="34" charset="0"/>
            </a:endParaRPr>
          </a:p>
        </p:txBody>
      </p:sp>
      <p:sp>
        <p:nvSpPr>
          <p:cNvPr id="476" name="Text Placeholder 18">
            <a:extLst>
              <a:ext uri="{FF2B5EF4-FFF2-40B4-BE49-F238E27FC236}">
                <a16:creationId xmlns:a16="http://schemas.microsoft.com/office/drawing/2014/main" id="{862A7A24-9568-5261-8F04-C230050FC7E2}"/>
              </a:ext>
            </a:extLst>
          </p:cNvPr>
          <p:cNvSpPr>
            <a:spLocks noGrp="1"/>
          </p:cNvSpPr>
          <p:nvPr>
            <p:custDataLst>
              <p:tags r:id="rId96"/>
            </p:custDataLst>
          </p:nvPr>
        </p:nvSpPr>
        <p:spPr bwMode="auto">
          <a:xfrm>
            <a:off x="10745788" y="2982913"/>
            <a:ext cx="84772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614345BD-E2B9-4533-985D-B188C74199FD}" type="datetime'T''''''''''o''''''''''t''''''al'' A''''''''''n''''''nu''''al'">
              <a:rPr lang="en-US" altLang="en-US" sz="1200" smtClean="0">
                <a:latin typeface="Arial" panose="020B0604020202020204" pitchFamily="34" charset="0"/>
                <a:cs typeface="+mn-cs"/>
              </a:rPr>
              <a:pPr lvl="0" algn="ctr">
                <a:spcBef>
                  <a:spcPct val="0"/>
                </a:spcBef>
                <a:spcAft>
                  <a:spcPct val="0"/>
                </a:spcAft>
              </a:pPr>
              <a:t>Total Annual</a:t>
            </a:fld>
            <a:endParaRPr lang="en-US" sz="1200" noProof="0">
              <a:latin typeface="Arial" panose="020B0604020202020204" pitchFamily="34" charset="0"/>
              <a:cs typeface="+mn-cs"/>
              <a:sym typeface="Arial" panose="020B0604020202020204" pitchFamily="34" charset="0"/>
            </a:endParaRPr>
          </a:p>
        </p:txBody>
      </p:sp>
      <p:sp>
        <p:nvSpPr>
          <p:cNvPr id="533" name="Text Placeholder 18">
            <a:extLst>
              <a:ext uri="{FF2B5EF4-FFF2-40B4-BE49-F238E27FC236}">
                <a16:creationId xmlns:a16="http://schemas.microsoft.com/office/drawing/2014/main" id="{25169487-24DD-A8D7-8CED-1C7A9C1B1113}"/>
              </a:ext>
            </a:extLst>
          </p:cNvPr>
          <p:cNvSpPr>
            <a:spLocks noGrp="1"/>
          </p:cNvSpPr>
          <p:nvPr>
            <p:custDataLst>
              <p:tags r:id="rId97"/>
            </p:custDataLst>
          </p:nvPr>
        </p:nvSpPr>
        <p:spPr bwMode="gray">
          <a:xfrm>
            <a:off x="10955338" y="1155700"/>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8B956DD-5F20-4E99-A952-DF63C865CA94}" type="datetime'''''7'''',''''5''''''''''4''''''''''''1'''''''''''''''''''''''">
              <a:rPr lang="en-US" altLang="en-US" sz="1200" b="1" smtClean="0">
                <a:latin typeface="Arial" panose="020B0604020202020204" pitchFamily="34" charset="0"/>
                <a:cs typeface="+mn-cs"/>
              </a:rPr>
              <a:pPr lvl="0" algn="ctr">
                <a:spcBef>
                  <a:spcPct val="0"/>
                </a:spcBef>
                <a:spcAft>
                  <a:spcPct val="0"/>
                </a:spcAft>
              </a:pPr>
              <a:t>7,541</a:t>
            </a:fld>
            <a:endParaRPr lang="en-US" sz="1200" b="1" noProof="0">
              <a:latin typeface="Arial" panose="020B0604020202020204" pitchFamily="34" charset="0"/>
              <a:cs typeface="+mn-cs"/>
              <a:sym typeface="Arial" panose="020B0604020202020204" pitchFamily="34" charset="0"/>
            </a:endParaRPr>
          </a:p>
        </p:txBody>
      </p:sp>
      <p:graphicFrame>
        <p:nvGraphicFramePr>
          <p:cNvPr id="745" name="Chart 744">
            <a:extLst>
              <a:ext uri="{FF2B5EF4-FFF2-40B4-BE49-F238E27FC236}">
                <a16:creationId xmlns:a16="http://schemas.microsoft.com/office/drawing/2014/main" id="{00244359-9214-567C-D556-0CE1234BA94F}"/>
              </a:ext>
            </a:extLst>
          </p:cNvPr>
          <p:cNvGraphicFramePr/>
          <p:nvPr>
            <p:custDataLst>
              <p:tags r:id="rId98"/>
            </p:custDataLst>
            <p:extLst>
              <p:ext uri="{D42A27DB-BD31-4B8C-83A1-F6EECF244321}">
                <p14:modId xmlns:p14="http://schemas.microsoft.com/office/powerpoint/2010/main" val="2370694720"/>
              </p:ext>
            </p:extLst>
          </p:nvPr>
        </p:nvGraphicFramePr>
        <p:xfrm>
          <a:off x="9632950" y="3535363"/>
          <a:ext cx="3055938" cy="1666875"/>
        </p:xfrm>
        <a:graphic>
          <a:graphicData uri="http://schemas.openxmlformats.org/drawingml/2006/chart">
            <c:chart xmlns:c="http://schemas.openxmlformats.org/drawingml/2006/chart" xmlns:r="http://schemas.openxmlformats.org/officeDocument/2006/relationships" r:id="rId111"/>
          </a:graphicData>
        </a:graphic>
      </p:graphicFrame>
      <p:cxnSp>
        <p:nvCxnSpPr>
          <p:cNvPr id="253" name="Straight Connector 252">
            <a:extLst>
              <a:ext uri="{FF2B5EF4-FFF2-40B4-BE49-F238E27FC236}">
                <a16:creationId xmlns:a16="http://schemas.microsoft.com/office/drawing/2014/main" id="{EBD3EE9E-0D9E-E261-8276-B8F873E1A1A7}"/>
              </a:ext>
            </a:extLst>
          </p:cNvPr>
          <p:cNvCxnSpPr/>
          <p:nvPr>
            <p:custDataLst>
              <p:tags r:id="rId99"/>
            </p:custDataLst>
          </p:nvPr>
        </p:nvCxnSpPr>
        <p:spPr bwMode="auto">
          <a:xfrm flipH="1">
            <a:off x="11339513" y="4684713"/>
            <a:ext cx="79375" cy="539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635" name="Text Placeholder 18">
            <a:extLst>
              <a:ext uri="{FF2B5EF4-FFF2-40B4-BE49-F238E27FC236}">
                <a16:creationId xmlns:a16="http://schemas.microsoft.com/office/drawing/2014/main" id="{BB89C22E-E55A-9C8B-6F70-7E8634D188F6}"/>
              </a:ext>
            </a:extLst>
          </p:cNvPr>
          <p:cNvSpPr>
            <a:spLocks noGrp="1"/>
          </p:cNvSpPr>
          <p:nvPr>
            <p:custDataLst>
              <p:tags r:id="rId100"/>
            </p:custDataLst>
          </p:nvPr>
        </p:nvSpPr>
        <p:spPr bwMode="auto">
          <a:xfrm>
            <a:off x="10734675" y="5037138"/>
            <a:ext cx="84772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4B259A4-2AC7-4171-9595-53FF007E59D6}" type="datetime'''T''''''''''o''ta''''''l'''''''''' ''A''''n''n''u''a''''''l'">
              <a:rPr lang="en-US" altLang="en-US" sz="1200" smtClean="0">
                <a:latin typeface="Arial" panose="020B0604020202020204" pitchFamily="34" charset="0"/>
                <a:cs typeface="+mn-cs"/>
              </a:rPr>
              <a:pPr lvl="0" algn="ctr">
                <a:spcBef>
                  <a:spcPct val="0"/>
                </a:spcBef>
                <a:spcAft>
                  <a:spcPct val="0"/>
                </a:spcAft>
              </a:pPr>
              <a:t>Total Annual</a:t>
            </a:fld>
            <a:endParaRPr lang="en-US" sz="1200" noProof="0">
              <a:latin typeface="Arial" panose="020B0604020202020204" pitchFamily="34" charset="0"/>
              <a:cs typeface="+mn-cs"/>
              <a:sym typeface="Arial" panose="020B0604020202020204" pitchFamily="34" charset="0"/>
            </a:endParaRPr>
          </a:p>
        </p:txBody>
      </p:sp>
      <p:sp>
        <p:nvSpPr>
          <p:cNvPr id="246" name="Text Placeholder 18">
            <a:extLst>
              <a:ext uri="{FF2B5EF4-FFF2-40B4-BE49-F238E27FC236}">
                <a16:creationId xmlns:a16="http://schemas.microsoft.com/office/drawing/2014/main" id="{51D73BEE-B789-FD8C-960D-6D0CF1EC725F}"/>
              </a:ext>
            </a:extLst>
          </p:cNvPr>
          <p:cNvSpPr>
            <a:spLocks noGrp="1"/>
          </p:cNvSpPr>
          <p:nvPr>
            <p:custDataLst>
              <p:tags r:id="rId101"/>
            </p:custDataLst>
          </p:nvPr>
        </p:nvSpPr>
        <p:spPr bwMode="gray">
          <a:xfrm>
            <a:off x="10901363" y="3594100"/>
            <a:ext cx="5143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2AAA80E-D1A8-48F7-8F3C-3AB7D9D5B4C6}" type="datetime'12,''68''''''''''''''''''''''''''''0'''''">
              <a:rPr lang="en-US" altLang="en-US" sz="1200" b="1" smtClean="0">
                <a:effectLst/>
                <a:latin typeface="Arial" panose="020B0604020202020204" pitchFamily="34" charset="0"/>
                <a:cs typeface="+mn-cs"/>
                <a:sym typeface="Arial" panose="020B0604020202020204" pitchFamily="34" charset="0"/>
              </a:rPr>
              <a:pPr lvl="0" algn="ctr">
                <a:spcBef>
                  <a:spcPct val="0"/>
                </a:spcBef>
                <a:spcAft>
                  <a:spcPct val="0"/>
                </a:spcAft>
              </a:pPr>
              <a:t>12,680</a:t>
            </a:fld>
            <a:endParaRPr lang="en-US" sz="1200" b="1" noProof="0">
              <a:latin typeface="Arial" panose="020B0604020202020204" pitchFamily="34" charset="0"/>
              <a:cs typeface="+mn-cs"/>
              <a:sym typeface="Arial" panose="020B0604020202020204" pitchFamily="34" charset="0"/>
            </a:endParaRPr>
          </a:p>
        </p:txBody>
      </p:sp>
      <p:sp>
        <p:nvSpPr>
          <p:cNvPr id="743" name="Text Placeholder 18">
            <a:extLst>
              <a:ext uri="{FF2B5EF4-FFF2-40B4-BE49-F238E27FC236}">
                <a16:creationId xmlns:a16="http://schemas.microsoft.com/office/drawing/2014/main" id="{09A056EB-E97E-808D-9D74-71D7B8C67D0E}"/>
              </a:ext>
            </a:extLst>
          </p:cNvPr>
          <p:cNvSpPr>
            <a:spLocks noGrp="1"/>
          </p:cNvSpPr>
          <p:nvPr>
            <p:custDataLst>
              <p:tags r:id="rId102"/>
            </p:custDataLst>
          </p:nvPr>
        </p:nvSpPr>
        <p:spPr bwMode="gray">
          <a:xfrm>
            <a:off x="10918825" y="4778376"/>
            <a:ext cx="481013" cy="182563"/>
          </a:xfrm>
          <a:prstGeom prst="rect">
            <a:avLst/>
          </a:prstGeom>
          <a:solidFill>
            <a:srgbClr val="ED8B00"/>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8A2D7A6-F30D-4FBE-B40D-8BE453A90B75}" type="datetime'-''''1'''',''9''4''''''''''''2'''''''''''''''''''''''''">
              <a:rPr lang="en-US" altLang="en-US" sz="1200" smtClean="0">
                <a:effectLst/>
                <a:latin typeface="Arial" panose="020B0604020202020204" pitchFamily="34" charset="0"/>
                <a:cs typeface="+mn-cs"/>
                <a:sym typeface="Arial" panose="020B0604020202020204" pitchFamily="34" charset="0"/>
              </a:rPr>
              <a:pPr lvl="0" algn="ctr">
                <a:spcBef>
                  <a:spcPct val="0"/>
                </a:spcBef>
                <a:spcAft>
                  <a:spcPct val="0"/>
                </a:spcAft>
              </a:pPr>
              <a:t>-1,942</a:t>
            </a:fld>
            <a:endParaRPr lang="en-US" sz="1200" noProof="0">
              <a:latin typeface="Arial" panose="020B0604020202020204" pitchFamily="34" charset="0"/>
              <a:cs typeface="+mn-cs"/>
              <a:sym typeface="Arial" panose="020B0604020202020204" pitchFamily="34" charset="0"/>
            </a:endParaRPr>
          </a:p>
        </p:txBody>
      </p:sp>
    </p:spTree>
    <p:extLst>
      <p:ext uri="{BB962C8B-B14F-4D97-AF65-F5344CB8AC3E}">
        <p14:creationId xmlns:p14="http://schemas.microsoft.com/office/powerpoint/2010/main" val="441514331"/>
      </p:ext>
    </p:extLst>
  </p:cSld>
  <p:clrMapOvr>
    <a:masterClrMapping/>
  </p:clrMapOvr>
  <p:transition>
    <p:fade/>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280272886"/>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588" name="Rectangle 587">
            <a:extLst>
              <a:ext uri="{FF2B5EF4-FFF2-40B4-BE49-F238E27FC236}">
                <a16:creationId xmlns:a16="http://schemas.microsoft.com/office/drawing/2014/main" id="{0F4CEADA-3DFC-09DA-782A-39438830C992}"/>
              </a:ext>
            </a:extLst>
          </p:cNvPr>
          <p:cNvSpPr/>
          <p:nvPr/>
        </p:nvSpPr>
        <p:spPr bwMode="gray">
          <a:xfrm>
            <a:off x="6182561" y="1004236"/>
            <a:ext cx="5446830" cy="3667398"/>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586" name="Rectangle 585">
            <a:extLst>
              <a:ext uri="{FF2B5EF4-FFF2-40B4-BE49-F238E27FC236}">
                <a16:creationId xmlns:a16="http://schemas.microsoft.com/office/drawing/2014/main" id="{62394488-990A-EF6B-4977-385060EAA56E}"/>
              </a:ext>
            </a:extLst>
          </p:cNvPr>
          <p:cNvSpPr/>
          <p:nvPr/>
        </p:nvSpPr>
        <p:spPr bwMode="gray">
          <a:xfrm>
            <a:off x="519868" y="992223"/>
            <a:ext cx="5446830" cy="3667398"/>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Transmission Network Growth in Nepal</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Transmission capacity at 220 kV and 400 kV levels is being scaled up to match generation growth and facilitate domestic and cross-border flow</a:t>
            </a:r>
          </a:p>
        </p:txBody>
      </p:sp>
      <p:sp>
        <p:nvSpPr>
          <p:cNvPr id="497" name="TextBox 496">
            <a:extLst>
              <a:ext uri="{FF2B5EF4-FFF2-40B4-BE49-F238E27FC236}">
                <a16:creationId xmlns:a16="http://schemas.microsoft.com/office/drawing/2014/main" id="{E3CD61BF-5158-2CE6-D4D0-D211D840411E}"/>
              </a:ext>
            </a:extLst>
          </p:cNvPr>
          <p:cNvSpPr txBox="1"/>
          <p:nvPr/>
        </p:nvSpPr>
        <p:spPr>
          <a:xfrm>
            <a:off x="447675" y="6586538"/>
            <a:ext cx="6096000" cy="26035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NEA Transmission Reports</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sp>
        <p:nvSpPr>
          <p:cNvPr id="7" name="TextBox 6">
            <a:extLst>
              <a:ext uri="{FF2B5EF4-FFF2-40B4-BE49-F238E27FC236}">
                <a16:creationId xmlns:a16="http://schemas.microsoft.com/office/drawing/2014/main" id="{DB7BFAC1-07C2-5AF0-25D1-05D1AC07A4B1}"/>
              </a:ext>
            </a:extLst>
          </p:cNvPr>
          <p:cNvSpPr txBox="1"/>
          <p:nvPr/>
        </p:nvSpPr>
        <p:spPr>
          <a:xfrm>
            <a:off x="1007687" y="4831926"/>
            <a:ext cx="10524114" cy="1744067"/>
          </a:xfrm>
          <a:prstGeom prst="rect">
            <a:avLst/>
          </a:prstGeom>
          <a:noFill/>
        </p:spPr>
        <p:txBody>
          <a:bodyPr wrap="square">
            <a:spAutoFit/>
          </a:bodyPr>
          <a:lstStyle/>
          <a:p>
            <a:pPr marL="288925" indent="-288925" algn="just">
              <a:spcAft>
                <a:spcPts val="662"/>
              </a:spcAft>
              <a:buFont typeface="Arial" panose="020B0604020202020204" pitchFamily="34" charset="0"/>
              <a:buChar char="•"/>
            </a:pPr>
            <a:r>
              <a:rPr lang="en-US" sz="1200">
                <a:latin typeface="Arial" panose="020B0604020202020204" pitchFamily="34" charset="0"/>
                <a:cs typeface="Arial" panose="020B0604020202020204" pitchFamily="34" charset="0"/>
              </a:rPr>
              <a:t>Nepal currently operates transmission lines and substations in the voltage level of 66 kV, 132 kV. 220kV and 400 kV </a:t>
            </a:r>
          </a:p>
          <a:p>
            <a:pPr marL="288925" indent="-288925" algn="just">
              <a:spcAft>
                <a:spcPts val="662"/>
              </a:spcAft>
              <a:buFont typeface="Arial" panose="020B0604020202020204" pitchFamily="34" charset="0"/>
              <a:buChar char="•"/>
            </a:pPr>
            <a:r>
              <a:rPr lang="en-US" sz="1200">
                <a:latin typeface="Arial" panose="020B0604020202020204" pitchFamily="34" charset="0"/>
                <a:cs typeface="Arial" panose="020B0604020202020204" pitchFamily="34" charset="0"/>
              </a:rPr>
              <a:t>Historically, transmission projects in Nepal are owned and implemented by NEA. RPGCL has been established to develop 220 kV and above transmission projects in the country</a:t>
            </a:r>
          </a:p>
          <a:p>
            <a:pPr marL="288925" indent="-288925" algn="just">
              <a:spcAft>
                <a:spcPts val="662"/>
              </a:spcAft>
              <a:buFont typeface="Arial" panose="020B0604020202020204" pitchFamily="34" charset="0"/>
              <a:buChar char="•"/>
            </a:pPr>
            <a:r>
              <a:rPr lang="en-US" sz="1200">
                <a:latin typeface="Arial" panose="020B0604020202020204" pitchFamily="34" charset="0"/>
                <a:cs typeface="Arial" panose="020B0604020202020204" pitchFamily="34" charset="0"/>
              </a:rPr>
              <a:t>Over the years significant the transmission system in the country has witnessed significant growth in transmission lines and transformation capacity.</a:t>
            </a:r>
          </a:p>
          <a:p>
            <a:pPr marL="288925" indent="-288925" algn="just">
              <a:spcAft>
                <a:spcPts val="662"/>
              </a:spcAft>
              <a:buFont typeface="Arial" panose="020B0604020202020204" pitchFamily="34" charset="0"/>
              <a:buChar char="•"/>
            </a:pPr>
            <a:r>
              <a:rPr lang="en-US" sz="1200">
                <a:latin typeface="Arial" panose="020B0604020202020204" pitchFamily="34" charset="0"/>
                <a:cs typeface="Arial" panose="020B0604020202020204" pitchFamily="34" charset="0"/>
              </a:rPr>
              <a:t>Initially transmission network comprised of network elements operating at 66kV and 132 kV level only</a:t>
            </a:r>
          </a:p>
          <a:p>
            <a:pPr marL="288925" indent="-288925" algn="just">
              <a:spcAft>
                <a:spcPts val="662"/>
              </a:spcAft>
              <a:buFont typeface="Arial" panose="020B0604020202020204" pitchFamily="34" charset="0"/>
              <a:buChar char="•"/>
            </a:pPr>
            <a:r>
              <a:rPr lang="en-US" sz="1200">
                <a:latin typeface="Arial" panose="020B0604020202020204" pitchFamily="34" charset="0"/>
                <a:cs typeface="Arial" panose="020B0604020202020204" pitchFamily="34" charset="0"/>
              </a:rPr>
              <a:t>However, the focus of transmission network planners has shifted towards development of transmission network (</a:t>
            </a:r>
            <a:r>
              <a:rPr lang="en-US" sz="1200" err="1">
                <a:latin typeface="Arial" panose="020B0604020202020204" pitchFamily="34" charset="0"/>
                <a:cs typeface="Arial" panose="020B0604020202020204" pitchFamily="34" charset="0"/>
              </a:rPr>
              <a:t>ckM</a:t>
            </a:r>
            <a:r>
              <a:rPr lang="en-US" sz="1200">
                <a:latin typeface="Arial" panose="020B0604020202020204" pitchFamily="34" charset="0"/>
                <a:cs typeface="Arial" panose="020B0604020202020204" pitchFamily="34" charset="0"/>
              </a:rPr>
              <a:t>) and capacity addition (MVA) at 220 kV and 400 kV level.</a:t>
            </a:r>
          </a:p>
        </p:txBody>
      </p:sp>
      <p:graphicFrame>
        <p:nvGraphicFramePr>
          <p:cNvPr id="8" name="Chart 7">
            <a:extLst>
              <a:ext uri="{FF2B5EF4-FFF2-40B4-BE49-F238E27FC236}">
                <a16:creationId xmlns:a16="http://schemas.microsoft.com/office/drawing/2014/main" id="{23C80321-3940-166E-A504-7753CA89DA17}"/>
              </a:ext>
            </a:extLst>
          </p:cNvPr>
          <p:cNvGraphicFramePr/>
          <p:nvPr>
            <p:extLst>
              <p:ext uri="{D42A27DB-BD31-4B8C-83A1-F6EECF244321}">
                <p14:modId xmlns:p14="http://schemas.microsoft.com/office/powerpoint/2010/main" val="3646351648"/>
              </p:ext>
            </p:extLst>
          </p:nvPr>
        </p:nvGraphicFramePr>
        <p:xfrm>
          <a:off x="6543674" y="1029558"/>
          <a:ext cx="5085717" cy="366739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9" name="Chart 8">
            <a:extLst>
              <a:ext uri="{FF2B5EF4-FFF2-40B4-BE49-F238E27FC236}">
                <a16:creationId xmlns:a16="http://schemas.microsoft.com/office/drawing/2014/main" id="{4F567B5E-5C4D-4A49-95BE-E0C385414DC7}"/>
              </a:ext>
            </a:extLst>
          </p:cNvPr>
          <p:cNvGraphicFramePr/>
          <p:nvPr>
            <p:extLst>
              <p:ext uri="{D42A27DB-BD31-4B8C-83A1-F6EECF244321}">
                <p14:modId xmlns:p14="http://schemas.microsoft.com/office/powerpoint/2010/main" val="1462156709"/>
              </p:ext>
            </p:extLst>
          </p:nvPr>
        </p:nvGraphicFramePr>
        <p:xfrm>
          <a:off x="526916" y="1029557"/>
          <a:ext cx="5379621" cy="3643187"/>
        </p:xfrm>
        <a:graphic>
          <a:graphicData uri="http://schemas.openxmlformats.org/drawingml/2006/chart">
            <c:chart xmlns:c="http://schemas.openxmlformats.org/drawingml/2006/chart" xmlns:r="http://schemas.openxmlformats.org/officeDocument/2006/relationships" r:id="rId7"/>
          </a:graphicData>
        </a:graphic>
      </p:graphicFrame>
      <p:grpSp>
        <p:nvGrpSpPr>
          <p:cNvPr id="581" name="Graphic 4">
            <a:extLst>
              <a:ext uri="{FF2B5EF4-FFF2-40B4-BE49-F238E27FC236}">
                <a16:creationId xmlns:a16="http://schemas.microsoft.com/office/drawing/2014/main" id="{E4A065C9-B9F6-4DC2-0199-851BBD9419E4}"/>
              </a:ext>
            </a:extLst>
          </p:cNvPr>
          <p:cNvGrpSpPr/>
          <p:nvPr/>
        </p:nvGrpSpPr>
        <p:grpSpPr>
          <a:xfrm>
            <a:off x="526916" y="5467051"/>
            <a:ext cx="457202" cy="457198"/>
            <a:chOff x="905454" y="2371173"/>
            <a:chExt cx="361670" cy="361333"/>
          </a:xfrm>
          <a:solidFill>
            <a:schemeClr val="accent5"/>
          </a:solidFill>
        </p:grpSpPr>
        <p:sp>
          <p:nvSpPr>
            <p:cNvPr id="582" name="Graphic 4">
              <a:extLst>
                <a:ext uri="{FF2B5EF4-FFF2-40B4-BE49-F238E27FC236}">
                  <a16:creationId xmlns:a16="http://schemas.microsoft.com/office/drawing/2014/main" id="{D4717971-9A8E-5AF1-C5EC-344ECF05703A}"/>
                </a:ext>
              </a:extLst>
            </p:cNvPr>
            <p:cNvSpPr/>
            <p:nvPr/>
          </p:nvSpPr>
          <p:spPr>
            <a:xfrm>
              <a:off x="1109293" y="2492469"/>
              <a:ext cx="53036" cy="52987"/>
            </a:xfrm>
            <a:custGeom>
              <a:avLst/>
              <a:gdLst>
                <a:gd name="connsiteX0" fmla="*/ 0 w 53036"/>
                <a:gd name="connsiteY0" fmla="*/ 0 h 52987"/>
                <a:gd name="connsiteX1" fmla="*/ 53037 w 53036"/>
                <a:gd name="connsiteY1" fmla="*/ 0 h 52987"/>
                <a:gd name="connsiteX2" fmla="*/ 53037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7" y="0"/>
                  </a:lnTo>
                  <a:lnTo>
                    <a:pt x="53037" y="52987"/>
                  </a:lnTo>
                  <a:lnTo>
                    <a:pt x="0" y="52987"/>
                  </a:lnTo>
                  <a:close/>
                </a:path>
              </a:pathLst>
            </a:custGeom>
            <a:grpFill/>
            <a:ln w="6390" cap="flat">
              <a:noFill/>
              <a:prstDash val="solid"/>
              <a:miter/>
            </a:ln>
          </p:spPr>
          <p:txBody>
            <a:bodyPr rtlCol="0" anchor="ctr"/>
            <a:lstStyle/>
            <a:p>
              <a:endParaRPr lang="en-US"/>
            </a:p>
          </p:txBody>
        </p:sp>
        <p:sp>
          <p:nvSpPr>
            <p:cNvPr id="583" name="Graphic 4">
              <a:extLst>
                <a:ext uri="{FF2B5EF4-FFF2-40B4-BE49-F238E27FC236}">
                  <a16:creationId xmlns:a16="http://schemas.microsoft.com/office/drawing/2014/main" id="{1097E95F-4F0D-12B4-FA38-AF4F07269FC0}"/>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250 w 361670"/>
                <a:gd name="connsiteY5" fmla="*/ 180667 h 361333"/>
                <a:gd name="connsiteX6" fmla="*/ 99044 w 361670"/>
                <a:gd name="connsiteY6" fmla="*/ 252806 h 361333"/>
                <a:gd name="connsiteX7" fmla="*/ 92654 w 361670"/>
                <a:gd name="connsiteY7" fmla="*/ 246422 h 361333"/>
                <a:gd name="connsiteX8" fmla="*/ 99044 w 361670"/>
                <a:gd name="connsiteY8" fmla="*/ 240038 h 361333"/>
                <a:gd name="connsiteX9" fmla="*/ 157831 w 361670"/>
                <a:gd name="connsiteY9" fmla="*/ 187051 h 361333"/>
                <a:gd name="connsiteX10" fmla="*/ 99044 w 361670"/>
                <a:gd name="connsiteY10" fmla="*/ 187051 h 361333"/>
                <a:gd name="connsiteX11" fmla="*/ 92654 w 361670"/>
                <a:gd name="connsiteY11" fmla="*/ 180667 h 361333"/>
                <a:gd name="connsiteX12" fmla="*/ 92654 w 361670"/>
                <a:gd name="connsiteY12" fmla="*/ 114912 h 361333"/>
                <a:gd name="connsiteX13" fmla="*/ 99044 w 361670"/>
                <a:gd name="connsiteY13" fmla="*/ 108528 h 361333"/>
                <a:gd name="connsiteX14" fmla="*/ 164860 w 361670"/>
                <a:gd name="connsiteY14" fmla="*/ 108528 h 361333"/>
                <a:gd name="connsiteX15" fmla="*/ 171250 w 361670"/>
                <a:gd name="connsiteY15" fmla="*/ 114912 h 361333"/>
                <a:gd name="connsiteX16" fmla="*/ 171250 w 361670"/>
                <a:gd name="connsiteY16" fmla="*/ 180667 h 361333"/>
                <a:gd name="connsiteX17" fmla="*/ 269655 w 361670"/>
                <a:gd name="connsiteY17" fmla="*/ 180667 h 361333"/>
                <a:gd name="connsiteX18" fmla="*/ 197449 w 361670"/>
                <a:gd name="connsiteY18" fmla="*/ 252806 h 361333"/>
                <a:gd name="connsiteX19" fmla="*/ 191059 w 361670"/>
                <a:gd name="connsiteY19" fmla="*/ 246422 h 361333"/>
                <a:gd name="connsiteX20" fmla="*/ 197449 w 361670"/>
                <a:gd name="connsiteY20" fmla="*/ 240038 h 361333"/>
                <a:gd name="connsiteX21" fmla="*/ 256237 w 361670"/>
                <a:gd name="connsiteY21" fmla="*/ 187051 h 361333"/>
                <a:gd name="connsiteX22" fmla="*/ 197449 w 361670"/>
                <a:gd name="connsiteY22" fmla="*/ 187051 h 361333"/>
                <a:gd name="connsiteX23" fmla="*/ 191059 w 361670"/>
                <a:gd name="connsiteY23" fmla="*/ 180667 h 361333"/>
                <a:gd name="connsiteX24" fmla="*/ 191059 w 361670"/>
                <a:gd name="connsiteY24" fmla="*/ 114912 h 361333"/>
                <a:gd name="connsiteX25" fmla="*/ 197449 w 361670"/>
                <a:gd name="connsiteY25" fmla="*/ 108528 h 361333"/>
                <a:gd name="connsiteX26" fmla="*/ 263265 w 361670"/>
                <a:gd name="connsiteY26" fmla="*/ 108528 h 361333"/>
                <a:gd name="connsiteX27" fmla="*/ 269655 w 361670"/>
                <a:gd name="connsiteY27" fmla="*/ 114912 h 361333"/>
                <a:gd name="connsiteX28" fmla="*/ 269655 w 361670"/>
                <a:gd name="connsiteY2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71250" y="180667"/>
                  </a:moveTo>
                  <a:cubicBezTo>
                    <a:pt x="171250" y="221524"/>
                    <a:pt x="139940" y="252806"/>
                    <a:pt x="99044" y="252806"/>
                  </a:cubicBezTo>
                  <a:cubicBezTo>
                    <a:pt x="95210" y="252806"/>
                    <a:pt x="92654" y="250252"/>
                    <a:pt x="92654" y="246422"/>
                  </a:cubicBezTo>
                  <a:cubicBezTo>
                    <a:pt x="92654" y="242591"/>
                    <a:pt x="95210" y="240038"/>
                    <a:pt x="99044" y="240038"/>
                  </a:cubicBezTo>
                  <a:cubicBezTo>
                    <a:pt x="130994" y="240038"/>
                    <a:pt x="155275" y="217694"/>
                    <a:pt x="157831" y="187051"/>
                  </a:cubicBezTo>
                  <a:lnTo>
                    <a:pt x="99044" y="187051"/>
                  </a:lnTo>
                  <a:cubicBezTo>
                    <a:pt x="95210" y="187051"/>
                    <a:pt x="92654" y="184497"/>
                    <a:pt x="92654" y="180667"/>
                  </a:cubicBezTo>
                  <a:lnTo>
                    <a:pt x="92654" y="114912"/>
                  </a:lnTo>
                  <a:cubicBezTo>
                    <a:pt x="92654" y="111081"/>
                    <a:pt x="95210" y="108528"/>
                    <a:pt x="99044" y="108528"/>
                  </a:cubicBezTo>
                  <a:lnTo>
                    <a:pt x="164860" y="108528"/>
                  </a:lnTo>
                  <a:cubicBezTo>
                    <a:pt x="168694" y="108528"/>
                    <a:pt x="171250" y="111081"/>
                    <a:pt x="171250" y="114912"/>
                  </a:cubicBezTo>
                  <a:lnTo>
                    <a:pt x="171250" y="180667"/>
                  </a:lnTo>
                  <a:close/>
                  <a:moveTo>
                    <a:pt x="269655" y="180667"/>
                  </a:moveTo>
                  <a:cubicBezTo>
                    <a:pt x="269655" y="221524"/>
                    <a:pt x="238345" y="252806"/>
                    <a:pt x="197449" y="252806"/>
                  </a:cubicBezTo>
                  <a:cubicBezTo>
                    <a:pt x="193615" y="252806"/>
                    <a:pt x="191059" y="250252"/>
                    <a:pt x="191059" y="246422"/>
                  </a:cubicBezTo>
                  <a:cubicBezTo>
                    <a:pt x="191059" y="242591"/>
                    <a:pt x="193615" y="240038"/>
                    <a:pt x="197449" y="240038"/>
                  </a:cubicBezTo>
                  <a:cubicBezTo>
                    <a:pt x="229399" y="240038"/>
                    <a:pt x="253680" y="217694"/>
                    <a:pt x="256237" y="187051"/>
                  </a:cubicBezTo>
                  <a:lnTo>
                    <a:pt x="197449" y="187051"/>
                  </a:lnTo>
                  <a:cubicBezTo>
                    <a:pt x="193615" y="187051"/>
                    <a:pt x="191059" y="184497"/>
                    <a:pt x="191059" y="180667"/>
                  </a:cubicBezTo>
                  <a:lnTo>
                    <a:pt x="191059" y="114912"/>
                  </a:lnTo>
                  <a:cubicBezTo>
                    <a:pt x="191059" y="111081"/>
                    <a:pt x="193615" y="108528"/>
                    <a:pt x="197449" y="108528"/>
                  </a:cubicBezTo>
                  <a:lnTo>
                    <a:pt x="263265" y="108528"/>
                  </a:lnTo>
                  <a:cubicBezTo>
                    <a:pt x="267099" y="108528"/>
                    <a:pt x="269655" y="111081"/>
                    <a:pt x="269655" y="114912"/>
                  </a:cubicBezTo>
                  <a:lnTo>
                    <a:pt x="269655" y="180667"/>
                  </a:lnTo>
                  <a:close/>
                </a:path>
              </a:pathLst>
            </a:custGeom>
            <a:grpFill/>
            <a:ln w="6390" cap="flat">
              <a:noFill/>
              <a:prstDash val="solid"/>
              <a:miter/>
            </a:ln>
          </p:spPr>
          <p:txBody>
            <a:bodyPr rtlCol="0" anchor="ctr"/>
            <a:lstStyle/>
            <a:p>
              <a:endParaRPr lang="en-US"/>
            </a:p>
          </p:txBody>
        </p:sp>
        <p:sp>
          <p:nvSpPr>
            <p:cNvPr id="584" name="Graphic 4">
              <a:extLst>
                <a:ext uri="{FF2B5EF4-FFF2-40B4-BE49-F238E27FC236}">
                  <a16:creationId xmlns:a16="http://schemas.microsoft.com/office/drawing/2014/main" id="{5AF56576-9CCC-578B-B6E6-EBAD799B83FF}"/>
                </a:ext>
              </a:extLst>
            </p:cNvPr>
            <p:cNvSpPr/>
            <p:nvPr/>
          </p:nvSpPr>
          <p:spPr>
            <a:xfrm>
              <a:off x="1010888" y="2492469"/>
              <a:ext cx="53036" cy="52987"/>
            </a:xfrm>
            <a:custGeom>
              <a:avLst/>
              <a:gdLst>
                <a:gd name="connsiteX0" fmla="*/ 0 w 53036"/>
                <a:gd name="connsiteY0" fmla="*/ 0 h 52987"/>
                <a:gd name="connsiteX1" fmla="*/ 53036 w 53036"/>
                <a:gd name="connsiteY1" fmla="*/ 0 h 52987"/>
                <a:gd name="connsiteX2" fmla="*/ 53036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6" y="0"/>
                  </a:lnTo>
                  <a:lnTo>
                    <a:pt x="53036" y="52987"/>
                  </a:lnTo>
                  <a:lnTo>
                    <a:pt x="0" y="52987"/>
                  </a:lnTo>
                  <a:close/>
                </a:path>
              </a:pathLst>
            </a:custGeom>
            <a:grp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4039639886"/>
      </p:ext>
    </p:extLst>
  </p:cSld>
  <p:clrMapOvr>
    <a:masterClrMapping/>
  </p:clrMapOvr>
  <p:transition>
    <p:fade/>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Decadal Shift: From Capacity Expansion to Green Growth and Market Efficiency</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30706"/>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Nepal’s energy strategy is evolving from infrastructure-led development to a focus on domestic demand stimulation, and export readiness.</a:t>
            </a:r>
          </a:p>
        </p:txBody>
      </p:sp>
      <p:sp>
        <p:nvSpPr>
          <p:cNvPr id="9" name="Rectangle 8">
            <a:extLst>
              <a:ext uri="{FF2B5EF4-FFF2-40B4-BE49-F238E27FC236}">
                <a16:creationId xmlns:a16="http://schemas.microsoft.com/office/drawing/2014/main" id="{7D10A38F-5CD9-CDFA-6B4F-3478CF6DC99F}"/>
              </a:ext>
            </a:extLst>
          </p:cNvPr>
          <p:cNvSpPr/>
          <p:nvPr/>
        </p:nvSpPr>
        <p:spPr bwMode="gray">
          <a:xfrm>
            <a:off x="501651" y="1064520"/>
            <a:ext cx="11195559" cy="4794409"/>
          </a:xfrm>
          <a:prstGeom prst="rect">
            <a:avLst/>
          </a:prstGeom>
          <a:gradFill flip="none" rotWithShape="1">
            <a:gsLst>
              <a:gs pos="67000">
                <a:schemeClr val="accent1">
                  <a:lumMod val="45000"/>
                  <a:lumOff val="55000"/>
                </a:schemeClr>
              </a:gs>
              <a:gs pos="86000">
                <a:schemeClr val="accent3"/>
              </a:gs>
              <a:gs pos="40000">
                <a:srgbClr val="DEEEC3"/>
              </a:gs>
              <a:gs pos="22000">
                <a:schemeClr val="bg1">
                  <a:lumMod val="95000"/>
                </a:schemeClr>
              </a:gs>
              <a:gs pos="0">
                <a:schemeClr val="bg1">
                  <a:lumMod val="65000"/>
                </a:schemeClr>
              </a:gs>
            </a:gsLst>
            <a:lin ang="0" scaled="0"/>
            <a:tileRect/>
          </a:gra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6" name="Rectangle: Diagonal Corners Rounded 15">
            <a:extLst>
              <a:ext uri="{FF2B5EF4-FFF2-40B4-BE49-F238E27FC236}">
                <a16:creationId xmlns:a16="http://schemas.microsoft.com/office/drawing/2014/main" id="{9B87A430-BC43-4385-FCB6-16AA8138A2FE}"/>
              </a:ext>
            </a:extLst>
          </p:cNvPr>
          <p:cNvSpPr/>
          <p:nvPr/>
        </p:nvSpPr>
        <p:spPr bwMode="gray">
          <a:xfrm>
            <a:off x="1518333" y="1186442"/>
            <a:ext cx="4858719" cy="4398692"/>
          </a:xfrm>
          <a:prstGeom prst="round2DiagRect">
            <a:avLst/>
          </a:prstGeom>
          <a:noFill/>
          <a:ln w="19050"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7" name="Rectangle: Diagonal Corners Rounded 16">
            <a:extLst>
              <a:ext uri="{FF2B5EF4-FFF2-40B4-BE49-F238E27FC236}">
                <a16:creationId xmlns:a16="http://schemas.microsoft.com/office/drawing/2014/main" id="{60CE2E82-737D-BD05-DD0F-F0358C89EE45}"/>
              </a:ext>
            </a:extLst>
          </p:cNvPr>
          <p:cNvSpPr/>
          <p:nvPr/>
        </p:nvSpPr>
        <p:spPr bwMode="gray">
          <a:xfrm>
            <a:off x="6598740" y="1177537"/>
            <a:ext cx="4709706" cy="4398691"/>
          </a:xfrm>
          <a:prstGeom prst="round2DiagRect">
            <a:avLst/>
          </a:prstGeom>
          <a:noFill/>
          <a:ln w="19050" algn="ctr">
            <a:solidFill>
              <a:schemeClr val="bg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p>
        </p:txBody>
      </p:sp>
      <p:sp>
        <p:nvSpPr>
          <p:cNvPr id="29" name="TextBox 28">
            <a:extLst>
              <a:ext uri="{FF2B5EF4-FFF2-40B4-BE49-F238E27FC236}">
                <a16:creationId xmlns:a16="http://schemas.microsoft.com/office/drawing/2014/main" id="{1367FF6E-0237-1934-2949-63C1FB5129B2}"/>
              </a:ext>
            </a:extLst>
          </p:cNvPr>
          <p:cNvSpPr txBox="1"/>
          <p:nvPr/>
        </p:nvSpPr>
        <p:spPr>
          <a:xfrm>
            <a:off x="1805845" y="1455599"/>
            <a:ext cx="4368800" cy="615553"/>
          </a:xfrm>
          <a:prstGeom prst="rect">
            <a:avLst/>
          </a:prstGeom>
          <a:noFill/>
        </p:spPr>
        <p:txBody>
          <a:bodyPr wrap="square">
            <a:spAutoFit/>
          </a:bodyPr>
          <a:lstStyle/>
          <a:p>
            <a:pPr algn="ctr"/>
            <a:r>
              <a:rPr lang="fr-FR" b="1">
                <a:latin typeface="Arial" panose="020B0604020202020204" pitchFamily="34" charset="0"/>
                <a:cs typeface="Arial" panose="020B0604020202020204" pitchFamily="34" charset="0"/>
              </a:rPr>
              <a:t>2000 - 2015</a:t>
            </a:r>
          </a:p>
          <a:p>
            <a:pPr algn="ctr"/>
            <a:r>
              <a:rPr lang="fr-FR" sz="1600">
                <a:latin typeface="Arial" panose="020B0604020202020204" pitchFamily="34" charset="0"/>
                <a:cs typeface="Arial" panose="020B0604020202020204" pitchFamily="34" charset="0"/>
              </a:rPr>
              <a:t>Infrastructure Development &amp; Expansion </a:t>
            </a:r>
            <a:r>
              <a:rPr lang="fr-FR" sz="1600" err="1">
                <a:latin typeface="Arial" panose="020B0604020202020204" pitchFamily="34" charset="0"/>
                <a:cs typeface="Arial" panose="020B0604020202020204" pitchFamily="34" charset="0"/>
              </a:rPr>
              <a:t>Era</a:t>
            </a:r>
            <a:endParaRPr lang="fr-FR" sz="160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956E2E1B-1BB3-DCBC-3155-7E4547926534}"/>
              </a:ext>
            </a:extLst>
          </p:cNvPr>
          <p:cNvSpPr txBox="1"/>
          <p:nvPr/>
        </p:nvSpPr>
        <p:spPr>
          <a:xfrm>
            <a:off x="7132183" y="1449744"/>
            <a:ext cx="3771702" cy="615553"/>
          </a:xfrm>
          <a:prstGeom prst="rect">
            <a:avLst/>
          </a:prstGeom>
          <a:noFill/>
        </p:spPr>
        <p:txBody>
          <a:bodyPr wrap="square">
            <a:spAutoFit/>
          </a:bodyPr>
          <a:lstStyle/>
          <a:p>
            <a:pPr algn="ctr"/>
            <a:r>
              <a:rPr lang="en-US" b="1">
                <a:latin typeface="Arial" panose="020B0604020202020204" pitchFamily="34" charset="0"/>
                <a:cs typeface="Arial" panose="020B0604020202020204" pitchFamily="34" charset="0"/>
              </a:rPr>
              <a:t>2015 – Present </a:t>
            </a:r>
          </a:p>
          <a:p>
            <a:pPr algn="ctr"/>
            <a:r>
              <a:rPr lang="en-US" sz="1600">
                <a:latin typeface="Arial" panose="020B0604020202020204" pitchFamily="34" charset="0"/>
                <a:cs typeface="Arial" panose="020B0604020202020204" pitchFamily="34" charset="0"/>
              </a:rPr>
              <a:t>Stabilization &amp; Green Growth Era</a:t>
            </a:r>
          </a:p>
        </p:txBody>
      </p:sp>
      <p:sp>
        <p:nvSpPr>
          <p:cNvPr id="475" name="Rectangle 474">
            <a:extLst>
              <a:ext uri="{FF2B5EF4-FFF2-40B4-BE49-F238E27FC236}">
                <a16:creationId xmlns:a16="http://schemas.microsoft.com/office/drawing/2014/main" id="{D4E0134D-1C6C-2200-CB5D-3FBEAF7725A0}"/>
              </a:ext>
            </a:extLst>
          </p:cNvPr>
          <p:cNvSpPr/>
          <p:nvPr/>
        </p:nvSpPr>
        <p:spPr bwMode="gray">
          <a:xfrm>
            <a:off x="902715" y="2101604"/>
            <a:ext cx="507039" cy="1650970"/>
          </a:xfrm>
          <a:prstGeom prst="rect">
            <a:avLst/>
          </a:prstGeom>
          <a:solidFill>
            <a:schemeClr val="accent3"/>
          </a:solidFill>
          <a:ln w="19050" algn="ctr">
            <a:noFill/>
            <a:miter lim="800000"/>
            <a:headEnd/>
            <a:tailEnd/>
          </a:ln>
        </p:spPr>
        <p:txBody>
          <a:bodyPr vert="vert270" wrap="square" lIns="88900" tIns="88900" rIns="88900" bIns="88900" rtlCol="0" anchor="ctr"/>
          <a:lstStyle/>
          <a:p>
            <a:pPr algn="ctr">
              <a:lnSpc>
                <a:spcPct val="106000"/>
              </a:lnSpc>
              <a:buFont typeface="Wingdings 2" pitchFamily="18" charset="2"/>
              <a:buNone/>
            </a:pPr>
            <a:r>
              <a:rPr lang="en-US" sz="1200">
                <a:solidFill>
                  <a:schemeClr val="bg1"/>
                </a:solidFill>
                <a:latin typeface="Arial" panose="020B0604020202020204" pitchFamily="34" charset="0"/>
                <a:cs typeface="Arial" panose="020B0604020202020204" pitchFamily="34" charset="0"/>
              </a:rPr>
              <a:t>KEY MARKET CHARACTERISTICS</a:t>
            </a:r>
          </a:p>
        </p:txBody>
      </p:sp>
      <p:sp>
        <p:nvSpPr>
          <p:cNvPr id="476" name="Rectangle 475">
            <a:extLst>
              <a:ext uri="{FF2B5EF4-FFF2-40B4-BE49-F238E27FC236}">
                <a16:creationId xmlns:a16="http://schemas.microsoft.com/office/drawing/2014/main" id="{F14EEFA4-11D0-9297-FB78-991719DEE745}"/>
              </a:ext>
            </a:extLst>
          </p:cNvPr>
          <p:cNvSpPr/>
          <p:nvPr/>
        </p:nvSpPr>
        <p:spPr bwMode="gray">
          <a:xfrm>
            <a:off x="897440" y="3925258"/>
            <a:ext cx="507039" cy="1650970"/>
          </a:xfrm>
          <a:prstGeom prst="rect">
            <a:avLst/>
          </a:prstGeom>
          <a:solidFill>
            <a:schemeClr val="accent4"/>
          </a:solidFill>
          <a:ln w="19050" algn="ctr">
            <a:noFill/>
            <a:miter lim="800000"/>
            <a:headEnd/>
            <a:tailEnd/>
          </a:ln>
        </p:spPr>
        <p:txBody>
          <a:bodyPr vert="vert270" wrap="square" lIns="88900" tIns="88900" rIns="88900" bIns="88900" rtlCol="0" anchor="ctr"/>
          <a:lstStyle/>
          <a:p>
            <a:pPr algn="ctr">
              <a:lnSpc>
                <a:spcPct val="106000"/>
              </a:lnSpc>
            </a:pPr>
            <a:r>
              <a:rPr lang="en-US" sz="1200">
                <a:solidFill>
                  <a:schemeClr val="bg1"/>
                </a:solidFill>
                <a:latin typeface="Arial" panose="020B0604020202020204" pitchFamily="34" charset="0"/>
                <a:cs typeface="Arial" panose="020B0604020202020204" pitchFamily="34" charset="0"/>
              </a:rPr>
              <a:t>KEY FOCUS AREAS</a:t>
            </a:r>
          </a:p>
        </p:txBody>
      </p:sp>
      <p:sp>
        <p:nvSpPr>
          <p:cNvPr id="479" name="TextBox 478">
            <a:extLst>
              <a:ext uri="{FF2B5EF4-FFF2-40B4-BE49-F238E27FC236}">
                <a16:creationId xmlns:a16="http://schemas.microsoft.com/office/drawing/2014/main" id="{72F26D0A-5E1B-713E-E353-6DCE9ED29875}"/>
              </a:ext>
            </a:extLst>
          </p:cNvPr>
          <p:cNvSpPr txBox="1"/>
          <p:nvPr/>
        </p:nvSpPr>
        <p:spPr>
          <a:xfrm>
            <a:off x="1676167" y="2243835"/>
            <a:ext cx="4474898" cy="1412374"/>
          </a:xfrm>
          <a:prstGeom prst="rect">
            <a:avLst/>
          </a:prstGeom>
          <a:noFill/>
        </p:spPr>
        <p:txBody>
          <a:bodyPr wrap="square">
            <a:spAutoFit/>
          </a:bodyPr>
          <a:lstStyle/>
          <a:p>
            <a:pPr marL="285750" indent="-285750">
              <a:lnSpc>
                <a:spcPct val="125000"/>
              </a:lnSpc>
              <a:buFont typeface="Wingdings" panose="05000000000000000000" pitchFamily="2" charset="2"/>
              <a:buChar char="q"/>
            </a:pPr>
            <a:r>
              <a:rPr lang="en-US" sz="1400">
                <a:latin typeface="Arial" panose="020B0604020202020204" pitchFamily="34" charset="0"/>
                <a:cs typeface="Arial" panose="020B0604020202020204" pitchFamily="34" charset="0"/>
              </a:rPr>
              <a:t>LOW ENERGY ACCESS</a:t>
            </a:r>
          </a:p>
          <a:p>
            <a:pPr marL="285750" indent="-285750">
              <a:lnSpc>
                <a:spcPct val="125000"/>
              </a:lnSpc>
              <a:buFont typeface="Wingdings" panose="05000000000000000000" pitchFamily="2" charset="2"/>
              <a:buChar char="q"/>
            </a:pPr>
            <a:r>
              <a:rPr lang="en-US" sz="1400">
                <a:latin typeface="Arial" panose="020B0604020202020204" pitchFamily="34" charset="0"/>
                <a:cs typeface="Arial" panose="020B0604020202020204" pitchFamily="34" charset="0"/>
              </a:rPr>
              <a:t>SUPPLY DEFICIT </a:t>
            </a:r>
          </a:p>
          <a:p>
            <a:pPr marL="285750" indent="-285750">
              <a:lnSpc>
                <a:spcPct val="125000"/>
              </a:lnSpc>
              <a:buFont typeface="Wingdings" panose="05000000000000000000" pitchFamily="2" charset="2"/>
              <a:buChar char="q"/>
            </a:pPr>
            <a:r>
              <a:rPr lang="en-US" sz="1400">
                <a:latin typeface="Arial" panose="020B0604020202020204" pitchFamily="34" charset="0"/>
                <a:cs typeface="Arial" panose="020B0604020202020204" pitchFamily="34" charset="0"/>
              </a:rPr>
              <a:t>POOR RELIABILITY OF SERVICES</a:t>
            </a:r>
          </a:p>
          <a:p>
            <a:pPr marL="285750" indent="-285750">
              <a:lnSpc>
                <a:spcPct val="125000"/>
              </a:lnSpc>
              <a:buFont typeface="Wingdings" panose="05000000000000000000" pitchFamily="2" charset="2"/>
              <a:buChar char="q"/>
            </a:pPr>
            <a:r>
              <a:rPr lang="en-US" sz="1400">
                <a:latin typeface="Arial" panose="020B0604020202020204" pitchFamily="34" charset="0"/>
                <a:cs typeface="Arial" panose="020B0604020202020204" pitchFamily="34" charset="0"/>
              </a:rPr>
              <a:t>IMPORT DEPENDENCE (FUEL &amp; ELECTRICITY)</a:t>
            </a:r>
          </a:p>
          <a:p>
            <a:pPr marL="285750" indent="-285750">
              <a:lnSpc>
                <a:spcPct val="125000"/>
              </a:lnSpc>
              <a:buFont typeface="Wingdings" panose="05000000000000000000" pitchFamily="2" charset="2"/>
              <a:buChar char="q"/>
            </a:pPr>
            <a:r>
              <a:rPr lang="en-US" sz="1400">
                <a:latin typeface="Arial" panose="020B0604020202020204" pitchFamily="34" charset="0"/>
                <a:cs typeface="Arial" panose="020B0604020202020204" pitchFamily="34" charset="0"/>
              </a:rPr>
              <a:t>PRIORITY-BASED PROJECT DEVELOPMENT</a:t>
            </a:r>
          </a:p>
        </p:txBody>
      </p:sp>
      <p:sp>
        <p:nvSpPr>
          <p:cNvPr id="480" name="TextBox 479">
            <a:extLst>
              <a:ext uri="{FF2B5EF4-FFF2-40B4-BE49-F238E27FC236}">
                <a16:creationId xmlns:a16="http://schemas.microsoft.com/office/drawing/2014/main" id="{22A972FC-90F8-A5C9-D35B-AF0140AD7EC4}"/>
              </a:ext>
            </a:extLst>
          </p:cNvPr>
          <p:cNvSpPr txBox="1"/>
          <p:nvPr/>
        </p:nvSpPr>
        <p:spPr>
          <a:xfrm>
            <a:off x="6812936" y="2243835"/>
            <a:ext cx="4345220" cy="1681679"/>
          </a:xfrm>
          <a:prstGeom prst="rect">
            <a:avLst/>
          </a:prstGeom>
          <a:noFill/>
        </p:spPr>
        <p:txBody>
          <a:bodyPr wrap="square">
            <a:spAutoFit/>
          </a:bodyPr>
          <a:lstStyle/>
          <a:p>
            <a:pPr marL="285750" indent="-285750">
              <a:lnSpc>
                <a:spcPct val="125000"/>
              </a:lnSpc>
              <a:buFont typeface="Wingdings" panose="05000000000000000000" pitchFamily="2" charset="2"/>
              <a:buChar char="q"/>
            </a:pPr>
            <a:r>
              <a:rPr lang="en-US" sz="1400">
                <a:latin typeface="Arial" panose="020B0604020202020204" pitchFamily="34" charset="0"/>
                <a:cs typeface="Arial" panose="020B0604020202020204" pitchFamily="34" charset="0"/>
              </a:rPr>
              <a:t>IMPROVED ENERGY ACCESS</a:t>
            </a:r>
          </a:p>
          <a:p>
            <a:pPr marL="285750" indent="-285750">
              <a:lnSpc>
                <a:spcPct val="125000"/>
              </a:lnSpc>
              <a:buFont typeface="Wingdings" panose="05000000000000000000" pitchFamily="2" charset="2"/>
              <a:buChar char="q"/>
            </a:pPr>
            <a:r>
              <a:rPr lang="en-US" sz="1400">
                <a:latin typeface="Arial" panose="020B0604020202020204" pitchFamily="34" charset="0"/>
                <a:cs typeface="Arial" panose="020B0604020202020204" pitchFamily="34" charset="0"/>
              </a:rPr>
              <a:t>SURPLUS OF SEASONAL POWER </a:t>
            </a:r>
          </a:p>
          <a:p>
            <a:pPr marL="285750" indent="-285750">
              <a:lnSpc>
                <a:spcPct val="125000"/>
              </a:lnSpc>
              <a:buFont typeface="Wingdings" panose="05000000000000000000" pitchFamily="2" charset="2"/>
              <a:buChar char="q"/>
            </a:pPr>
            <a:r>
              <a:rPr lang="en-US" sz="1400">
                <a:latin typeface="Arial" panose="020B0604020202020204" pitchFamily="34" charset="0"/>
                <a:cs typeface="Arial" panose="020B0604020202020204" pitchFamily="34" charset="0"/>
              </a:rPr>
              <a:t>IMPROVED RELIABILITY OF SERVICES</a:t>
            </a:r>
          </a:p>
          <a:p>
            <a:pPr marL="285750" indent="-285750">
              <a:lnSpc>
                <a:spcPct val="125000"/>
              </a:lnSpc>
              <a:buFont typeface="Wingdings" panose="05000000000000000000" pitchFamily="2" charset="2"/>
              <a:buChar char="q"/>
            </a:pPr>
            <a:r>
              <a:rPr lang="en-US" sz="1400">
                <a:latin typeface="Arial" panose="020B0604020202020204" pitchFamily="34" charset="0"/>
                <a:cs typeface="Arial" panose="020B0604020202020204" pitchFamily="34" charset="0"/>
              </a:rPr>
              <a:t>DOMESTIC DEMAND STIMULATION</a:t>
            </a:r>
          </a:p>
          <a:p>
            <a:pPr marL="285750" indent="-285750">
              <a:lnSpc>
                <a:spcPct val="125000"/>
              </a:lnSpc>
              <a:buFont typeface="Wingdings" panose="05000000000000000000" pitchFamily="2" charset="2"/>
              <a:buChar char="q"/>
            </a:pPr>
            <a:r>
              <a:rPr lang="en-US" sz="1400">
                <a:latin typeface="Arial" panose="020B0604020202020204" pitchFamily="34" charset="0"/>
                <a:cs typeface="Arial" panose="020B0604020202020204" pitchFamily="34" charset="0"/>
              </a:rPr>
              <a:t>TARGETING AGREEMENTS WITH INDIA/BANGLADESH</a:t>
            </a:r>
          </a:p>
        </p:txBody>
      </p:sp>
      <p:sp>
        <p:nvSpPr>
          <p:cNvPr id="482" name="TextBox 481">
            <a:extLst>
              <a:ext uri="{FF2B5EF4-FFF2-40B4-BE49-F238E27FC236}">
                <a16:creationId xmlns:a16="http://schemas.microsoft.com/office/drawing/2014/main" id="{FDFC4616-36B2-45E2-F25F-768A2E4856A5}"/>
              </a:ext>
            </a:extLst>
          </p:cNvPr>
          <p:cNvSpPr txBox="1"/>
          <p:nvPr/>
        </p:nvSpPr>
        <p:spPr>
          <a:xfrm>
            <a:off x="2036266" y="4036106"/>
            <a:ext cx="4109131" cy="332348"/>
          </a:xfrm>
          <a:prstGeom prst="rect">
            <a:avLst/>
          </a:prstGeom>
          <a:noFill/>
        </p:spPr>
        <p:txBody>
          <a:bodyPr wrap="square">
            <a:spAutoFit/>
          </a:bodyPr>
          <a:lstStyle/>
          <a:p>
            <a:pPr>
              <a:lnSpc>
                <a:spcPct val="125000"/>
              </a:lnSpc>
            </a:pPr>
            <a:r>
              <a:rPr lang="en-US" sz="1400">
                <a:latin typeface="Arial" panose="020B0604020202020204" pitchFamily="34" charset="0"/>
                <a:cs typeface="Arial" panose="020B0604020202020204" pitchFamily="34" charset="0"/>
              </a:rPr>
              <a:t>ENERGY ACCESS AND GRID EXPANSION</a:t>
            </a:r>
          </a:p>
        </p:txBody>
      </p:sp>
      <p:grpSp>
        <p:nvGrpSpPr>
          <p:cNvPr id="483" name="Group 482">
            <a:extLst>
              <a:ext uri="{FF2B5EF4-FFF2-40B4-BE49-F238E27FC236}">
                <a16:creationId xmlns:a16="http://schemas.microsoft.com/office/drawing/2014/main" id="{C25199AF-A5BC-B6A8-ED13-4A85AB62C588}"/>
              </a:ext>
            </a:extLst>
          </p:cNvPr>
          <p:cNvGrpSpPr/>
          <p:nvPr/>
        </p:nvGrpSpPr>
        <p:grpSpPr>
          <a:xfrm>
            <a:off x="1676167" y="4022717"/>
            <a:ext cx="361928" cy="361933"/>
            <a:chOff x="0" y="0"/>
            <a:chExt cx="362309" cy="361971"/>
          </a:xfrm>
          <a:solidFill>
            <a:srgbClr val="D0CECE">
              <a:lumMod val="25000"/>
            </a:srgbClr>
          </a:solidFill>
        </p:grpSpPr>
        <p:sp>
          <p:nvSpPr>
            <p:cNvPr id="484" name="Graphic 4">
              <a:extLst>
                <a:ext uri="{FF2B5EF4-FFF2-40B4-BE49-F238E27FC236}">
                  <a16:creationId xmlns:a16="http://schemas.microsoft.com/office/drawing/2014/main" id="{A6BAC306-54F5-9D8C-6540-CC2F412B31C0}"/>
                </a:ext>
              </a:extLst>
            </p:cNvPr>
            <p:cNvSpPr/>
            <p:nvPr/>
          </p:nvSpPr>
          <p:spPr>
            <a:xfrm>
              <a:off x="166777" y="148108"/>
              <a:ext cx="5750" cy="9575"/>
            </a:xfrm>
            <a:custGeom>
              <a:avLst/>
              <a:gdLst>
                <a:gd name="connsiteX0" fmla="*/ 0 w 5750"/>
                <a:gd name="connsiteY0" fmla="*/ 9576 h 9575"/>
                <a:gd name="connsiteX1" fmla="*/ 5751 w 5750"/>
                <a:gd name="connsiteY1" fmla="*/ 3830 h 9575"/>
                <a:gd name="connsiteX2" fmla="*/ 1917 w 5750"/>
                <a:gd name="connsiteY2" fmla="*/ 0 h 9575"/>
              </a:gdLst>
              <a:ahLst/>
              <a:cxnLst>
                <a:cxn ang="0">
                  <a:pos x="connsiteX0" y="connsiteY0"/>
                </a:cxn>
                <a:cxn ang="0">
                  <a:pos x="connsiteX1" y="connsiteY1"/>
                </a:cxn>
                <a:cxn ang="0">
                  <a:pos x="connsiteX2" y="connsiteY2"/>
                </a:cxn>
              </a:cxnLst>
              <a:rect l="l" t="t" r="r" b="b"/>
              <a:pathLst>
                <a:path w="5750" h="9575">
                  <a:moveTo>
                    <a:pt x="0" y="9576"/>
                  </a:moveTo>
                  <a:lnTo>
                    <a:pt x="5751" y="3830"/>
                  </a:lnTo>
                  <a:lnTo>
                    <a:pt x="1917" y="0"/>
                  </a:lnTo>
                  <a:close/>
                </a:path>
              </a:pathLst>
            </a:custGeom>
            <a:grp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185A13FB-743F-635C-6337-2C44C3CF2B85}"/>
                </a:ext>
              </a:extLst>
            </p:cNvPr>
            <p:cNvSpPr/>
            <p:nvPr/>
          </p:nvSpPr>
          <p:spPr>
            <a:xfrm>
              <a:off x="191059" y="200457"/>
              <a:ext cx="20447" cy="33196"/>
            </a:xfrm>
            <a:custGeom>
              <a:avLst/>
              <a:gdLst>
                <a:gd name="connsiteX0" fmla="*/ 12780 w 20447"/>
                <a:gd name="connsiteY0" fmla="*/ 0 h 33196"/>
                <a:gd name="connsiteX1" fmla="*/ 0 w 20447"/>
                <a:gd name="connsiteY1" fmla="*/ 13406 h 33196"/>
                <a:gd name="connsiteX2" fmla="*/ 20448 w 20447"/>
                <a:gd name="connsiteY2" fmla="*/ 33197 h 33196"/>
              </a:gdLst>
              <a:ahLst/>
              <a:cxnLst>
                <a:cxn ang="0">
                  <a:pos x="connsiteX0" y="connsiteY0"/>
                </a:cxn>
                <a:cxn ang="0">
                  <a:pos x="connsiteX1" y="connsiteY1"/>
                </a:cxn>
                <a:cxn ang="0">
                  <a:pos x="connsiteX2" y="connsiteY2"/>
                </a:cxn>
              </a:cxnLst>
              <a:rect l="l" t="t" r="r" b="b"/>
              <a:pathLst>
                <a:path w="20447" h="33196">
                  <a:moveTo>
                    <a:pt x="12780" y="0"/>
                  </a:moveTo>
                  <a:lnTo>
                    <a:pt x="0" y="13406"/>
                  </a:lnTo>
                  <a:lnTo>
                    <a:pt x="20448" y="33197"/>
                  </a:lnTo>
                  <a:close/>
                </a:path>
              </a:pathLst>
            </a:custGeom>
            <a:grpFill/>
            <a:ln w="6390" cap="flat">
              <a:noFill/>
              <a:prstDash val="solid"/>
              <a:miter/>
            </a:ln>
          </p:spPr>
          <p:txBody>
            <a:bodyPr rtlCol="0" anchor="ctr"/>
            <a:lstStyle/>
            <a:p>
              <a:endParaRPr lang="en-US"/>
            </a:p>
          </p:txBody>
        </p:sp>
        <p:sp>
          <p:nvSpPr>
            <p:cNvPr id="486" name="Graphic 4">
              <a:extLst>
                <a:ext uri="{FF2B5EF4-FFF2-40B4-BE49-F238E27FC236}">
                  <a16:creationId xmlns:a16="http://schemas.microsoft.com/office/drawing/2014/main" id="{4EFAA610-979B-21CF-2C15-954FA0A81FF1}"/>
                </a:ext>
              </a:extLst>
            </p:cNvPr>
            <p:cNvSpPr/>
            <p:nvPr/>
          </p:nvSpPr>
          <p:spPr>
            <a:xfrm>
              <a:off x="162943" y="185135"/>
              <a:ext cx="37700" cy="19151"/>
            </a:xfrm>
            <a:custGeom>
              <a:avLst/>
              <a:gdLst>
                <a:gd name="connsiteX0" fmla="*/ 0 w 37700"/>
                <a:gd name="connsiteY0" fmla="*/ 0 h 19151"/>
                <a:gd name="connsiteX1" fmla="*/ 19170 w 37700"/>
                <a:gd name="connsiteY1" fmla="*/ 19152 h 19151"/>
                <a:gd name="connsiteX2" fmla="*/ 37701 w 37700"/>
                <a:gd name="connsiteY2" fmla="*/ 0 h 19151"/>
              </a:gdLst>
              <a:ahLst/>
              <a:cxnLst>
                <a:cxn ang="0">
                  <a:pos x="connsiteX0" y="connsiteY0"/>
                </a:cxn>
                <a:cxn ang="0">
                  <a:pos x="connsiteX1" y="connsiteY1"/>
                </a:cxn>
                <a:cxn ang="0">
                  <a:pos x="connsiteX2" y="connsiteY2"/>
                </a:cxn>
              </a:cxnLst>
              <a:rect l="l" t="t" r="r" b="b"/>
              <a:pathLst>
                <a:path w="37700" h="19151">
                  <a:moveTo>
                    <a:pt x="0" y="0"/>
                  </a:moveTo>
                  <a:lnTo>
                    <a:pt x="19170" y="19152"/>
                  </a:lnTo>
                  <a:lnTo>
                    <a:pt x="37701" y="0"/>
                  </a:lnTo>
                  <a:close/>
                </a:path>
              </a:pathLst>
            </a:custGeom>
            <a:grpFill/>
            <a:ln w="6390" cap="flat">
              <a:noFill/>
              <a:prstDash val="solid"/>
              <a:miter/>
            </a:ln>
          </p:spPr>
          <p:txBody>
            <a:bodyPr rtlCol="0" anchor="ctr"/>
            <a:lstStyle/>
            <a:p>
              <a:endParaRPr lang="en-US"/>
            </a:p>
          </p:txBody>
        </p:sp>
        <p:sp>
          <p:nvSpPr>
            <p:cNvPr id="487" name="Graphic 4">
              <a:extLst>
                <a:ext uri="{FF2B5EF4-FFF2-40B4-BE49-F238E27FC236}">
                  <a16:creationId xmlns:a16="http://schemas.microsoft.com/office/drawing/2014/main" id="{ECAB761E-A57C-4B13-6824-B91030595147}"/>
                </a:ext>
              </a:extLst>
            </p:cNvPr>
            <p:cNvSpPr/>
            <p:nvPr/>
          </p:nvSpPr>
          <p:spPr>
            <a:xfrm>
              <a:off x="150802" y="199180"/>
              <a:ext cx="22364" cy="37027"/>
            </a:xfrm>
            <a:custGeom>
              <a:avLst/>
              <a:gdLst>
                <a:gd name="connsiteX0" fmla="*/ 7668 w 22364"/>
                <a:gd name="connsiteY0" fmla="*/ 0 h 37027"/>
                <a:gd name="connsiteX1" fmla="*/ 0 w 22364"/>
                <a:gd name="connsiteY1" fmla="*/ 37027 h 37027"/>
                <a:gd name="connsiteX2" fmla="*/ 22365 w 22364"/>
                <a:gd name="connsiteY2" fmla="*/ 14683 h 37027"/>
              </a:gdLst>
              <a:ahLst/>
              <a:cxnLst>
                <a:cxn ang="0">
                  <a:pos x="connsiteX0" y="connsiteY0"/>
                </a:cxn>
                <a:cxn ang="0">
                  <a:pos x="connsiteX1" y="connsiteY1"/>
                </a:cxn>
                <a:cxn ang="0">
                  <a:pos x="connsiteX2" y="connsiteY2"/>
                </a:cxn>
              </a:cxnLst>
              <a:rect l="l" t="t" r="r" b="b"/>
              <a:pathLst>
                <a:path w="22364" h="37027">
                  <a:moveTo>
                    <a:pt x="7668" y="0"/>
                  </a:moveTo>
                  <a:lnTo>
                    <a:pt x="0" y="37027"/>
                  </a:lnTo>
                  <a:lnTo>
                    <a:pt x="22365" y="14683"/>
                  </a:lnTo>
                  <a:close/>
                </a:path>
              </a:pathLst>
            </a:custGeom>
            <a:grpFill/>
            <a:ln w="6390" cap="flat">
              <a:noFill/>
              <a:prstDash val="solid"/>
              <a:miter/>
            </a:ln>
          </p:spPr>
          <p:txBody>
            <a:bodyPr rtlCol="0" anchor="ctr"/>
            <a:lstStyle/>
            <a:p>
              <a:endParaRPr lang="en-US"/>
            </a:p>
          </p:txBody>
        </p:sp>
        <p:sp>
          <p:nvSpPr>
            <p:cNvPr id="488" name="Graphic 4">
              <a:extLst>
                <a:ext uri="{FF2B5EF4-FFF2-40B4-BE49-F238E27FC236}">
                  <a16:creationId xmlns:a16="http://schemas.microsoft.com/office/drawing/2014/main" id="{50DBF3E4-D006-A216-74BD-603836E7C9BF}"/>
                </a:ext>
              </a:extLst>
            </p:cNvPr>
            <p:cNvSpPr/>
            <p:nvPr/>
          </p:nvSpPr>
          <p:spPr>
            <a:xfrm>
              <a:off x="207034" y="150662"/>
              <a:ext cx="45368" cy="21705"/>
            </a:xfrm>
            <a:custGeom>
              <a:avLst/>
              <a:gdLst>
                <a:gd name="connsiteX0" fmla="*/ 45368 w 45368"/>
                <a:gd name="connsiteY0" fmla="*/ 21706 h 21705"/>
                <a:gd name="connsiteX1" fmla="*/ 0 w 45368"/>
                <a:gd name="connsiteY1" fmla="*/ 0 h 21705"/>
                <a:gd name="connsiteX2" fmla="*/ 4473 w 45368"/>
                <a:gd name="connsiteY2" fmla="*/ 21706 h 21705"/>
              </a:gdLst>
              <a:ahLst/>
              <a:cxnLst>
                <a:cxn ang="0">
                  <a:pos x="connsiteX0" y="connsiteY0"/>
                </a:cxn>
                <a:cxn ang="0">
                  <a:pos x="connsiteX1" y="connsiteY1"/>
                </a:cxn>
                <a:cxn ang="0">
                  <a:pos x="connsiteX2" y="connsiteY2"/>
                </a:cxn>
              </a:cxnLst>
              <a:rect l="l" t="t" r="r" b="b"/>
              <a:pathLst>
                <a:path w="45368" h="21705">
                  <a:moveTo>
                    <a:pt x="45368" y="21706"/>
                  </a:moveTo>
                  <a:lnTo>
                    <a:pt x="0" y="0"/>
                  </a:lnTo>
                  <a:lnTo>
                    <a:pt x="4473" y="21706"/>
                  </a:lnTo>
                  <a:close/>
                </a:path>
              </a:pathLst>
            </a:custGeom>
            <a:grpFill/>
            <a:ln w="6390" cap="flat">
              <a:noFill/>
              <a:prstDash val="solid"/>
              <a:miter/>
            </a:ln>
          </p:spPr>
          <p:txBody>
            <a:bodyPr rtlCol="0" anchor="ctr"/>
            <a:lstStyle/>
            <a:p>
              <a:endParaRPr lang="en-US"/>
            </a:p>
          </p:txBody>
        </p:sp>
        <p:sp>
          <p:nvSpPr>
            <p:cNvPr id="489" name="Graphic 4">
              <a:extLst>
                <a:ext uri="{FF2B5EF4-FFF2-40B4-BE49-F238E27FC236}">
                  <a16:creationId xmlns:a16="http://schemas.microsoft.com/office/drawing/2014/main" id="{71F405AF-38A7-0BD2-D752-74C0A881CE9D}"/>
                </a:ext>
              </a:extLst>
            </p:cNvPr>
            <p:cNvSpPr/>
            <p:nvPr/>
          </p:nvSpPr>
          <p:spPr>
            <a:xfrm>
              <a:off x="191059" y="148747"/>
              <a:ext cx="3833" cy="7022"/>
            </a:xfrm>
            <a:custGeom>
              <a:avLst/>
              <a:gdLst>
                <a:gd name="connsiteX0" fmla="*/ 0 w 3833"/>
                <a:gd name="connsiteY0" fmla="*/ 3192 h 7022"/>
                <a:gd name="connsiteX1" fmla="*/ 3834 w 3833"/>
                <a:gd name="connsiteY1" fmla="*/ 7022 h 7022"/>
                <a:gd name="connsiteX2" fmla="*/ 2556 w 3833"/>
                <a:gd name="connsiteY2" fmla="*/ 0 h 7022"/>
              </a:gdLst>
              <a:ahLst/>
              <a:cxnLst>
                <a:cxn ang="0">
                  <a:pos x="connsiteX0" y="connsiteY0"/>
                </a:cxn>
                <a:cxn ang="0">
                  <a:pos x="connsiteX1" y="connsiteY1"/>
                </a:cxn>
                <a:cxn ang="0">
                  <a:pos x="connsiteX2" y="connsiteY2"/>
                </a:cxn>
              </a:cxnLst>
              <a:rect l="l" t="t" r="r" b="b"/>
              <a:pathLst>
                <a:path w="3833" h="7022">
                  <a:moveTo>
                    <a:pt x="0" y="3192"/>
                  </a:moveTo>
                  <a:lnTo>
                    <a:pt x="3834" y="7022"/>
                  </a:lnTo>
                  <a:lnTo>
                    <a:pt x="2556" y="0"/>
                  </a:lnTo>
                  <a:close/>
                </a:path>
              </a:pathLst>
            </a:custGeom>
            <a:grpFill/>
            <a:ln w="6390" cap="flat">
              <a:noFill/>
              <a:prstDash val="solid"/>
              <a:miter/>
            </a:ln>
          </p:spPr>
          <p:txBody>
            <a:bodyPr rtlCol="0" anchor="ctr"/>
            <a:lstStyle/>
            <a:p>
              <a:endParaRPr lang="en-US"/>
            </a:p>
          </p:txBody>
        </p:sp>
        <p:sp>
          <p:nvSpPr>
            <p:cNvPr id="490" name="Graphic 4">
              <a:extLst>
                <a:ext uri="{FF2B5EF4-FFF2-40B4-BE49-F238E27FC236}">
                  <a16:creationId xmlns:a16="http://schemas.microsoft.com/office/drawing/2014/main" id="{FBAD6F82-150A-D919-0CE4-42892F921A9B}"/>
                </a:ext>
              </a:extLst>
            </p:cNvPr>
            <p:cNvSpPr/>
            <p:nvPr/>
          </p:nvSpPr>
          <p:spPr>
            <a:xfrm>
              <a:off x="169972" y="160876"/>
              <a:ext cx="23642" cy="11491"/>
            </a:xfrm>
            <a:custGeom>
              <a:avLst/>
              <a:gdLst>
                <a:gd name="connsiteX0" fmla="*/ 23643 w 23642"/>
                <a:gd name="connsiteY0" fmla="*/ 11491 h 11491"/>
                <a:gd name="connsiteX1" fmla="*/ 11502 w 23642"/>
                <a:gd name="connsiteY1" fmla="*/ 0 h 11491"/>
                <a:gd name="connsiteX2" fmla="*/ 0 w 23642"/>
                <a:gd name="connsiteY2" fmla="*/ 11491 h 11491"/>
              </a:gdLst>
              <a:ahLst/>
              <a:cxnLst>
                <a:cxn ang="0">
                  <a:pos x="connsiteX0" y="connsiteY0"/>
                </a:cxn>
                <a:cxn ang="0">
                  <a:pos x="connsiteX1" y="connsiteY1"/>
                </a:cxn>
                <a:cxn ang="0">
                  <a:pos x="connsiteX2" y="connsiteY2"/>
                </a:cxn>
              </a:cxnLst>
              <a:rect l="l" t="t" r="r" b="b"/>
              <a:pathLst>
                <a:path w="23642" h="11491">
                  <a:moveTo>
                    <a:pt x="23643" y="11491"/>
                  </a:moveTo>
                  <a:lnTo>
                    <a:pt x="11502" y="0"/>
                  </a:lnTo>
                  <a:lnTo>
                    <a:pt x="0" y="11491"/>
                  </a:lnTo>
                  <a:close/>
                </a:path>
              </a:pathLst>
            </a:custGeom>
            <a:grpFill/>
            <a:ln w="6390" cap="flat">
              <a:noFill/>
              <a:prstDash val="solid"/>
              <a:miter/>
            </a:ln>
          </p:spPr>
          <p:txBody>
            <a:bodyPr rtlCol="0" anchor="ctr"/>
            <a:lstStyle/>
            <a:p>
              <a:endParaRPr lang="en-US"/>
            </a:p>
          </p:txBody>
        </p:sp>
        <p:sp>
          <p:nvSpPr>
            <p:cNvPr id="492" name="Graphic 4">
              <a:extLst>
                <a:ext uri="{FF2B5EF4-FFF2-40B4-BE49-F238E27FC236}">
                  <a16:creationId xmlns:a16="http://schemas.microsoft.com/office/drawing/2014/main" id="{110FFCF1-3A7F-92B4-DA99-0A97D3096864}"/>
                </a:ext>
              </a:extLst>
            </p:cNvPr>
            <p:cNvSpPr/>
            <p:nvPr/>
          </p:nvSpPr>
          <p:spPr>
            <a:xfrm>
              <a:off x="171889" y="128318"/>
              <a:ext cx="18530" cy="14044"/>
            </a:xfrm>
            <a:custGeom>
              <a:avLst/>
              <a:gdLst>
                <a:gd name="connsiteX0" fmla="*/ 9585 w 18530"/>
                <a:gd name="connsiteY0" fmla="*/ 14045 h 14044"/>
                <a:gd name="connsiteX1" fmla="*/ 18531 w 18530"/>
                <a:gd name="connsiteY1" fmla="*/ 5746 h 14044"/>
                <a:gd name="connsiteX2" fmla="*/ 17253 w 18530"/>
                <a:gd name="connsiteY2" fmla="*/ 0 h 14044"/>
                <a:gd name="connsiteX3" fmla="*/ 1278 w 18530"/>
                <a:gd name="connsiteY3" fmla="*/ 0 h 14044"/>
                <a:gd name="connsiteX4" fmla="*/ 0 w 18530"/>
                <a:gd name="connsiteY4" fmla="*/ 4469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30" h="14044">
                  <a:moveTo>
                    <a:pt x="9585" y="14045"/>
                  </a:moveTo>
                  <a:lnTo>
                    <a:pt x="18531" y="5746"/>
                  </a:lnTo>
                  <a:lnTo>
                    <a:pt x="17253" y="0"/>
                  </a:lnTo>
                  <a:lnTo>
                    <a:pt x="1278" y="0"/>
                  </a:lnTo>
                  <a:lnTo>
                    <a:pt x="0" y="4469"/>
                  </a:lnTo>
                  <a:close/>
                </a:path>
              </a:pathLst>
            </a:custGeom>
            <a:grp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150B0AB4-2DF1-39CE-EA8D-BD45587BB7F8}"/>
                </a:ext>
              </a:extLst>
            </p:cNvPr>
            <p:cNvSpPr/>
            <p:nvPr/>
          </p:nvSpPr>
          <p:spPr>
            <a:xfrm>
              <a:off x="141217" y="222801"/>
              <a:ext cx="79874" cy="59370"/>
            </a:xfrm>
            <a:custGeom>
              <a:avLst/>
              <a:gdLst>
                <a:gd name="connsiteX0" fmla="*/ 40896 w 79874"/>
                <a:gd name="connsiteY0" fmla="*/ 0 h 59370"/>
                <a:gd name="connsiteX1" fmla="*/ 4473 w 79874"/>
                <a:gd name="connsiteY1" fmla="*/ 36389 h 59370"/>
                <a:gd name="connsiteX2" fmla="*/ 0 w 79874"/>
                <a:gd name="connsiteY2" fmla="*/ 59371 h 59370"/>
                <a:gd name="connsiteX3" fmla="*/ 12141 w 79874"/>
                <a:gd name="connsiteY3" fmla="*/ 59371 h 59370"/>
                <a:gd name="connsiteX4" fmla="*/ 67733 w 79874"/>
                <a:gd name="connsiteY4" fmla="*/ 59371 h 59370"/>
                <a:gd name="connsiteX5" fmla="*/ 79874 w 79874"/>
                <a:gd name="connsiteY5" fmla="*/ 59371 h 59370"/>
                <a:gd name="connsiteX6" fmla="*/ 74762 w 79874"/>
                <a:gd name="connsiteY6" fmla="*/ 33835 h 5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74" h="59370">
                  <a:moveTo>
                    <a:pt x="40896" y="0"/>
                  </a:moveTo>
                  <a:lnTo>
                    <a:pt x="4473" y="36389"/>
                  </a:lnTo>
                  <a:lnTo>
                    <a:pt x="0" y="59371"/>
                  </a:lnTo>
                  <a:lnTo>
                    <a:pt x="12141" y="59371"/>
                  </a:lnTo>
                  <a:lnTo>
                    <a:pt x="67733" y="59371"/>
                  </a:lnTo>
                  <a:lnTo>
                    <a:pt x="79874" y="59371"/>
                  </a:lnTo>
                  <a:lnTo>
                    <a:pt x="74762" y="33835"/>
                  </a:lnTo>
                  <a:close/>
                </a:path>
              </a:pathLst>
            </a:custGeom>
            <a:grpFill/>
            <a:ln w="6390" cap="flat">
              <a:noFill/>
              <a:prstDash val="solid"/>
              <a:miter/>
            </a:ln>
          </p:spPr>
          <p:txBody>
            <a:bodyPr rtlCol="0" anchor="ctr"/>
            <a:lstStyle/>
            <a:p>
              <a:endParaRPr lang="en-US"/>
            </a:p>
          </p:txBody>
        </p:sp>
        <p:sp>
          <p:nvSpPr>
            <p:cNvPr id="494" name="Graphic 4">
              <a:extLst>
                <a:ext uri="{FF2B5EF4-FFF2-40B4-BE49-F238E27FC236}">
                  <a16:creationId xmlns:a16="http://schemas.microsoft.com/office/drawing/2014/main" id="{E603B451-B9F9-F067-C56A-F9F15FD01460}"/>
                </a:ext>
              </a:extLst>
            </p:cNvPr>
            <p:cNvSpPr/>
            <p:nvPr/>
          </p:nvSpPr>
          <p:spPr>
            <a:xfrm>
              <a:off x="0" y="0"/>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86269 w 362309"/>
                <a:gd name="connsiteY6" fmla="*/ 194711 h 361971"/>
                <a:gd name="connsiteX7" fmla="*/ 279879 w 362309"/>
                <a:gd name="connsiteY7" fmla="*/ 201095 h 361971"/>
                <a:gd name="connsiteX8" fmla="*/ 273489 w 362309"/>
                <a:gd name="connsiteY8" fmla="*/ 194711 h 361971"/>
                <a:gd name="connsiteX9" fmla="*/ 273489 w 362309"/>
                <a:gd name="connsiteY9" fmla="*/ 185774 h 361971"/>
                <a:gd name="connsiteX10" fmla="*/ 248569 w 362309"/>
                <a:gd name="connsiteY10" fmla="*/ 185774 h 361971"/>
                <a:gd name="connsiteX11" fmla="*/ 248569 w 362309"/>
                <a:gd name="connsiteY11" fmla="*/ 194711 h 361971"/>
                <a:gd name="connsiteX12" fmla="*/ 242179 w 362309"/>
                <a:gd name="connsiteY12" fmla="*/ 201095 h 361971"/>
                <a:gd name="connsiteX13" fmla="*/ 235789 w 362309"/>
                <a:gd name="connsiteY13" fmla="*/ 194711 h 361971"/>
                <a:gd name="connsiteX14" fmla="*/ 235789 w 362309"/>
                <a:gd name="connsiteY14" fmla="*/ 185774 h 361971"/>
                <a:gd name="connsiteX15" fmla="*/ 214063 w 362309"/>
                <a:gd name="connsiteY15" fmla="*/ 185774 h 361971"/>
                <a:gd name="connsiteX16" fmla="*/ 214063 w 362309"/>
                <a:gd name="connsiteY16" fmla="*/ 187689 h 361971"/>
                <a:gd name="connsiteX17" fmla="*/ 233872 w 362309"/>
                <a:gd name="connsiteY17" fmla="*/ 282172 h 361971"/>
                <a:gd name="connsiteX18" fmla="*/ 249208 w 362309"/>
                <a:gd name="connsiteY18" fmla="*/ 282172 h 361971"/>
                <a:gd name="connsiteX19" fmla="*/ 255597 w 362309"/>
                <a:gd name="connsiteY19" fmla="*/ 288556 h 361971"/>
                <a:gd name="connsiteX20" fmla="*/ 249208 w 362309"/>
                <a:gd name="connsiteY20" fmla="*/ 294940 h 361971"/>
                <a:gd name="connsiteX21" fmla="*/ 112463 w 362309"/>
                <a:gd name="connsiteY21" fmla="*/ 294940 h 361971"/>
                <a:gd name="connsiteX22" fmla="*/ 106073 w 362309"/>
                <a:gd name="connsiteY22" fmla="*/ 288556 h 361971"/>
                <a:gd name="connsiteX23" fmla="*/ 112463 w 362309"/>
                <a:gd name="connsiteY23" fmla="*/ 282172 h 361971"/>
                <a:gd name="connsiteX24" fmla="*/ 127799 w 362309"/>
                <a:gd name="connsiteY24" fmla="*/ 282172 h 361971"/>
                <a:gd name="connsiteX25" fmla="*/ 148247 w 362309"/>
                <a:gd name="connsiteY25" fmla="*/ 185135 h 361971"/>
                <a:gd name="connsiteX26" fmla="*/ 127799 w 362309"/>
                <a:gd name="connsiteY26" fmla="*/ 185135 h 361971"/>
                <a:gd name="connsiteX27" fmla="*/ 127799 w 362309"/>
                <a:gd name="connsiteY27" fmla="*/ 194073 h 361971"/>
                <a:gd name="connsiteX28" fmla="*/ 121409 w 362309"/>
                <a:gd name="connsiteY28" fmla="*/ 200457 h 361971"/>
                <a:gd name="connsiteX29" fmla="*/ 115019 w 362309"/>
                <a:gd name="connsiteY29" fmla="*/ 194073 h 361971"/>
                <a:gd name="connsiteX30" fmla="*/ 115019 w 362309"/>
                <a:gd name="connsiteY30" fmla="*/ 185135 h 361971"/>
                <a:gd name="connsiteX31" fmla="*/ 88820 w 362309"/>
                <a:gd name="connsiteY31" fmla="*/ 185135 h 361971"/>
                <a:gd name="connsiteX32" fmla="*/ 88820 w 362309"/>
                <a:gd name="connsiteY32" fmla="*/ 194073 h 361971"/>
                <a:gd name="connsiteX33" fmla="*/ 82430 w 362309"/>
                <a:gd name="connsiteY33" fmla="*/ 200457 h 361971"/>
                <a:gd name="connsiteX34" fmla="*/ 76040 w 362309"/>
                <a:gd name="connsiteY34" fmla="*/ 194073 h 361971"/>
                <a:gd name="connsiteX35" fmla="*/ 76040 w 362309"/>
                <a:gd name="connsiteY35" fmla="*/ 178752 h 361971"/>
                <a:gd name="connsiteX36" fmla="*/ 76040 w 362309"/>
                <a:gd name="connsiteY36" fmla="*/ 178752 h 361971"/>
                <a:gd name="connsiteX37" fmla="*/ 76040 w 362309"/>
                <a:gd name="connsiteY37" fmla="*/ 178113 h 361971"/>
                <a:gd name="connsiteX38" fmla="*/ 76040 w 362309"/>
                <a:gd name="connsiteY38" fmla="*/ 177475 h 361971"/>
                <a:gd name="connsiteX39" fmla="*/ 76040 w 362309"/>
                <a:gd name="connsiteY39" fmla="*/ 175560 h 361971"/>
                <a:gd name="connsiteX40" fmla="*/ 76679 w 362309"/>
                <a:gd name="connsiteY40" fmla="*/ 174921 h 361971"/>
                <a:gd name="connsiteX41" fmla="*/ 77318 w 362309"/>
                <a:gd name="connsiteY41" fmla="*/ 173644 h 361971"/>
                <a:gd name="connsiteX42" fmla="*/ 77957 w 362309"/>
                <a:gd name="connsiteY42" fmla="*/ 173006 h 361971"/>
                <a:gd name="connsiteX43" fmla="*/ 78596 w 362309"/>
                <a:gd name="connsiteY43" fmla="*/ 172368 h 361971"/>
                <a:gd name="connsiteX44" fmla="*/ 157831 w 362309"/>
                <a:gd name="connsiteY44" fmla="*/ 133425 h 361971"/>
                <a:gd name="connsiteX45" fmla="*/ 159110 w 362309"/>
                <a:gd name="connsiteY45" fmla="*/ 127041 h 361971"/>
                <a:gd name="connsiteX46" fmla="*/ 113102 w 362309"/>
                <a:gd name="connsiteY46" fmla="*/ 127041 h 361971"/>
                <a:gd name="connsiteX47" fmla="*/ 113102 w 362309"/>
                <a:gd name="connsiteY47" fmla="*/ 132148 h 361971"/>
                <a:gd name="connsiteX48" fmla="*/ 106712 w 362309"/>
                <a:gd name="connsiteY48" fmla="*/ 138532 h 361971"/>
                <a:gd name="connsiteX49" fmla="*/ 100322 w 362309"/>
                <a:gd name="connsiteY49" fmla="*/ 132148 h 361971"/>
                <a:gd name="connsiteX50" fmla="*/ 100322 w 362309"/>
                <a:gd name="connsiteY50" fmla="*/ 120657 h 361971"/>
                <a:gd name="connsiteX51" fmla="*/ 100322 w 362309"/>
                <a:gd name="connsiteY51" fmla="*/ 120019 h 361971"/>
                <a:gd name="connsiteX52" fmla="*/ 100961 w 362309"/>
                <a:gd name="connsiteY52" fmla="*/ 118742 h 361971"/>
                <a:gd name="connsiteX53" fmla="*/ 101600 w 362309"/>
                <a:gd name="connsiteY53" fmla="*/ 118104 h 361971"/>
                <a:gd name="connsiteX54" fmla="*/ 102239 w 362309"/>
                <a:gd name="connsiteY54" fmla="*/ 116827 h 361971"/>
                <a:gd name="connsiteX55" fmla="*/ 103517 w 362309"/>
                <a:gd name="connsiteY55" fmla="*/ 116188 h 361971"/>
                <a:gd name="connsiteX56" fmla="*/ 104156 w 362309"/>
                <a:gd name="connsiteY56" fmla="*/ 115550 h 361971"/>
                <a:gd name="connsiteX57" fmla="*/ 168694 w 362309"/>
                <a:gd name="connsiteY57" fmla="*/ 84269 h 361971"/>
                <a:gd name="connsiteX58" fmla="*/ 174445 w 362309"/>
                <a:gd name="connsiteY58" fmla="*/ 57456 h 361971"/>
                <a:gd name="connsiteX59" fmla="*/ 179557 w 362309"/>
                <a:gd name="connsiteY59" fmla="*/ 51710 h 361971"/>
                <a:gd name="connsiteX60" fmla="*/ 184030 w 362309"/>
                <a:gd name="connsiteY60" fmla="*/ 52349 h 361971"/>
                <a:gd name="connsiteX61" fmla="*/ 187864 w 362309"/>
                <a:gd name="connsiteY61" fmla="*/ 58094 h 361971"/>
                <a:gd name="connsiteX62" fmla="*/ 193615 w 362309"/>
                <a:gd name="connsiteY62" fmla="*/ 84269 h 361971"/>
                <a:gd name="connsiteX63" fmla="*/ 257514 w 362309"/>
                <a:gd name="connsiteY63" fmla="*/ 115550 h 361971"/>
                <a:gd name="connsiteX64" fmla="*/ 257514 w 362309"/>
                <a:gd name="connsiteY64" fmla="*/ 115550 h 361971"/>
                <a:gd name="connsiteX65" fmla="*/ 258154 w 362309"/>
                <a:gd name="connsiteY65" fmla="*/ 115550 h 361971"/>
                <a:gd name="connsiteX66" fmla="*/ 258792 w 362309"/>
                <a:gd name="connsiteY66" fmla="*/ 116188 h 361971"/>
                <a:gd name="connsiteX67" fmla="*/ 260070 w 362309"/>
                <a:gd name="connsiteY67" fmla="*/ 117465 h 361971"/>
                <a:gd name="connsiteX68" fmla="*/ 260709 w 362309"/>
                <a:gd name="connsiteY68" fmla="*/ 118104 h 361971"/>
                <a:gd name="connsiteX69" fmla="*/ 261348 w 362309"/>
                <a:gd name="connsiteY69" fmla="*/ 119380 h 361971"/>
                <a:gd name="connsiteX70" fmla="*/ 261348 w 362309"/>
                <a:gd name="connsiteY70" fmla="*/ 120657 h 361971"/>
                <a:gd name="connsiteX71" fmla="*/ 261348 w 362309"/>
                <a:gd name="connsiteY71" fmla="*/ 121934 h 361971"/>
                <a:gd name="connsiteX72" fmla="*/ 261348 w 362309"/>
                <a:gd name="connsiteY72" fmla="*/ 133425 h 361971"/>
                <a:gd name="connsiteX73" fmla="*/ 254959 w 362309"/>
                <a:gd name="connsiteY73" fmla="*/ 139809 h 361971"/>
                <a:gd name="connsiteX74" fmla="*/ 248569 w 362309"/>
                <a:gd name="connsiteY74" fmla="*/ 133425 h 361971"/>
                <a:gd name="connsiteX75" fmla="*/ 248569 w 362309"/>
                <a:gd name="connsiteY75" fmla="*/ 128318 h 361971"/>
                <a:gd name="connsiteX76" fmla="*/ 202561 w 362309"/>
                <a:gd name="connsiteY76" fmla="*/ 128318 h 361971"/>
                <a:gd name="connsiteX77" fmla="*/ 203839 w 362309"/>
                <a:gd name="connsiteY77" fmla="*/ 134702 h 361971"/>
                <a:gd name="connsiteX78" fmla="*/ 283074 w 362309"/>
                <a:gd name="connsiteY78" fmla="*/ 173644 h 361971"/>
                <a:gd name="connsiteX79" fmla="*/ 283713 w 362309"/>
                <a:gd name="connsiteY79" fmla="*/ 174283 h 361971"/>
                <a:gd name="connsiteX80" fmla="*/ 284991 w 362309"/>
                <a:gd name="connsiteY80" fmla="*/ 174921 h 361971"/>
                <a:gd name="connsiteX81" fmla="*/ 285630 w 362309"/>
                <a:gd name="connsiteY81" fmla="*/ 175560 h 361971"/>
                <a:gd name="connsiteX82" fmla="*/ 286269 w 362309"/>
                <a:gd name="connsiteY82" fmla="*/ 176836 h 361971"/>
                <a:gd name="connsiteX83" fmla="*/ 286908 w 362309"/>
                <a:gd name="connsiteY83" fmla="*/ 179390 h 361971"/>
                <a:gd name="connsiteX84" fmla="*/ 286269 w 362309"/>
                <a:gd name="connsiteY84" fmla="*/ 1947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86269" y="194711"/>
                  </a:moveTo>
                  <a:cubicBezTo>
                    <a:pt x="286269" y="198542"/>
                    <a:pt x="283713" y="201095"/>
                    <a:pt x="279879" y="201095"/>
                  </a:cubicBezTo>
                  <a:cubicBezTo>
                    <a:pt x="276045" y="201095"/>
                    <a:pt x="273489" y="198542"/>
                    <a:pt x="273489" y="194711"/>
                  </a:cubicBezTo>
                  <a:lnTo>
                    <a:pt x="273489" y="185774"/>
                  </a:lnTo>
                  <a:lnTo>
                    <a:pt x="248569" y="185774"/>
                  </a:lnTo>
                  <a:lnTo>
                    <a:pt x="248569" y="194711"/>
                  </a:lnTo>
                  <a:cubicBezTo>
                    <a:pt x="248569" y="198542"/>
                    <a:pt x="246013" y="201095"/>
                    <a:pt x="242179" y="201095"/>
                  </a:cubicBezTo>
                  <a:cubicBezTo>
                    <a:pt x="238345" y="201095"/>
                    <a:pt x="235789" y="198542"/>
                    <a:pt x="235789" y="194711"/>
                  </a:cubicBezTo>
                  <a:lnTo>
                    <a:pt x="235789" y="185774"/>
                  </a:lnTo>
                  <a:lnTo>
                    <a:pt x="214063" y="185774"/>
                  </a:lnTo>
                  <a:cubicBezTo>
                    <a:pt x="214063" y="186412"/>
                    <a:pt x="214063" y="187051"/>
                    <a:pt x="214063" y="187689"/>
                  </a:cubicBezTo>
                  <a:lnTo>
                    <a:pt x="233872" y="282172"/>
                  </a:lnTo>
                  <a:lnTo>
                    <a:pt x="249208" y="282172"/>
                  </a:lnTo>
                  <a:cubicBezTo>
                    <a:pt x="253042" y="282172"/>
                    <a:pt x="255597" y="284726"/>
                    <a:pt x="255597" y="288556"/>
                  </a:cubicBezTo>
                  <a:cubicBezTo>
                    <a:pt x="255597" y="292386"/>
                    <a:pt x="253042" y="294940"/>
                    <a:pt x="249208" y="294940"/>
                  </a:cubicBezTo>
                  <a:lnTo>
                    <a:pt x="112463" y="294940"/>
                  </a:lnTo>
                  <a:cubicBezTo>
                    <a:pt x="108629" y="294940"/>
                    <a:pt x="106073" y="292386"/>
                    <a:pt x="106073" y="288556"/>
                  </a:cubicBezTo>
                  <a:cubicBezTo>
                    <a:pt x="106073" y="284726"/>
                    <a:pt x="108629" y="282172"/>
                    <a:pt x="112463" y="282172"/>
                  </a:cubicBezTo>
                  <a:lnTo>
                    <a:pt x="127799" y="282172"/>
                  </a:lnTo>
                  <a:lnTo>
                    <a:pt x="148247" y="185135"/>
                  </a:lnTo>
                  <a:lnTo>
                    <a:pt x="127799" y="185135"/>
                  </a:lnTo>
                  <a:lnTo>
                    <a:pt x="127799" y="194073"/>
                  </a:lnTo>
                  <a:cubicBezTo>
                    <a:pt x="127799" y="197903"/>
                    <a:pt x="125243" y="200457"/>
                    <a:pt x="121409" y="200457"/>
                  </a:cubicBezTo>
                  <a:cubicBezTo>
                    <a:pt x="117575" y="200457"/>
                    <a:pt x="115019" y="197903"/>
                    <a:pt x="115019" y="194073"/>
                  </a:cubicBezTo>
                  <a:lnTo>
                    <a:pt x="115019" y="185135"/>
                  </a:lnTo>
                  <a:lnTo>
                    <a:pt x="88820" y="185135"/>
                  </a:lnTo>
                  <a:lnTo>
                    <a:pt x="88820" y="194073"/>
                  </a:lnTo>
                  <a:cubicBezTo>
                    <a:pt x="88820" y="197903"/>
                    <a:pt x="86264" y="200457"/>
                    <a:pt x="82430" y="200457"/>
                  </a:cubicBezTo>
                  <a:cubicBezTo>
                    <a:pt x="78596" y="200457"/>
                    <a:pt x="76040" y="197903"/>
                    <a:pt x="76040" y="194073"/>
                  </a:cubicBezTo>
                  <a:lnTo>
                    <a:pt x="76040" y="178752"/>
                  </a:lnTo>
                  <a:lnTo>
                    <a:pt x="76040" y="178752"/>
                  </a:lnTo>
                  <a:lnTo>
                    <a:pt x="76040" y="178113"/>
                  </a:lnTo>
                  <a:cubicBezTo>
                    <a:pt x="76040" y="178113"/>
                    <a:pt x="76040" y="177475"/>
                    <a:pt x="76040" y="177475"/>
                  </a:cubicBezTo>
                  <a:cubicBezTo>
                    <a:pt x="76040" y="176836"/>
                    <a:pt x="76040" y="176198"/>
                    <a:pt x="76040" y="175560"/>
                  </a:cubicBezTo>
                  <a:cubicBezTo>
                    <a:pt x="76040" y="175560"/>
                    <a:pt x="76040" y="174921"/>
                    <a:pt x="76679" y="174921"/>
                  </a:cubicBezTo>
                  <a:cubicBezTo>
                    <a:pt x="76679" y="174283"/>
                    <a:pt x="77318" y="174283"/>
                    <a:pt x="77318" y="173644"/>
                  </a:cubicBezTo>
                  <a:lnTo>
                    <a:pt x="77957" y="173006"/>
                  </a:lnTo>
                  <a:cubicBezTo>
                    <a:pt x="77957" y="173006"/>
                    <a:pt x="78596" y="172368"/>
                    <a:pt x="78596" y="172368"/>
                  </a:cubicBezTo>
                  <a:lnTo>
                    <a:pt x="157831" y="133425"/>
                  </a:lnTo>
                  <a:lnTo>
                    <a:pt x="159110" y="127041"/>
                  </a:lnTo>
                  <a:lnTo>
                    <a:pt x="113102" y="127041"/>
                  </a:lnTo>
                  <a:lnTo>
                    <a:pt x="113102" y="132148"/>
                  </a:lnTo>
                  <a:cubicBezTo>
                    <a:pt x="113102" y="135979"/>
                    <a:pt x="110546" y="138532"/>
                    <a:pt x="106712" y="138532"/>
                  </a:cubicBezTo>
                  <a:cubicBezTo>
                    <a:pt x="102878" y="138532"/>
                    <a:pt x="100322" y="135979"/>
                    <a:pt x="100322" y="132148"/>
                  </a:cubicBezTo>
                  <a:lnTo>
                    <a:pt x="100322" y="120657"/>
                  </a:lnTo>
                  <a:cubicBezTo>
                    <a:pt x="100322" y="120657"/>
                    <a:pt x="100322" y="120019"/>
                    <a:pt x="100322" y="120019"/>
                  </a:cubicBezTo>
                  <a:cubicBezTo>
                    <a:pt x="100322" y="119380"/>
                    <a:pt x="100322" y="118742"/>
                    <a:pt x="100961" y="118742"/>
                  </a:cubicBezTo>
                  <a:cubicBezTo>
                    <a:pt x="100961" y="118104"/>
                    <a:pt x="100961" y="118104"/>
                    <a:pt x="101600" y="118104"/>
                  </a:cubicBezTo>
                  <a:cubicBezTo>
                    <a:pt x="101600" y="117465"/>
                    <a:pt x="102239" y="117465"/>
                    <a:pt x="102239" y="116827"/>
                  </a:cubicBezTo>
                  <a:cubicBezTo>
                    <a:pt x="102878" y="116188"/>
                    <a:pt x="102878" y="116188"/>
                    <a:pt x="103517" y="116188"/>
                  </a:cubicBezTo>
                  <a:lnTo>
                    <a:pt x="104156" y="115550"/>
                  </a:lnTo>
                  <a:lnTo>
                    <a:pt x="168694" y="84269"/>
                  </a:lnTo>
                  <a:lnTo>
                    <a:pt x="174445" y="57456"/>
                  </a:lnTo>
                  <a:cubicBezTo>
                    <a:pt x="174445" y="54902"/>
                    <a:pt x="176362" y="52349"/>
                    <a:pt x="179557" y="51710"/>
                  </a:cubicBezTo>
                  <a:cubicBezTo>
                    <a:pt x="180835" y="51072"/>
                    <a:pt x="182752" y="51710"/>
                    <a:pt x="184030" y="52349"/>
                  </a:cubicBezTo>
                  <a:cubicBezTo>
                    <a:pt x="185947" y="53626"/>
                    <a:pt x="187864" y="55541"/>
                    <a:pt x="187864" y="58094"/>
                  </a:cubicBezTo>
                  <a:lnTo>
                    <a:pt x="193615" y="84269"/>
                  </a:lnTo>
                  <a:lnTo>
                    <a:pt x="257514" y="115550"/>
                  </a:lnTo>
                  <a:lnTo>
                    <a:pt x="257514" y="115550"/>
                  </a:lnTo>
                  <a:lnTo>
                    <a:pt x="258154" y="115550"/>
                  </a:lnTo>
                  <a:cubicBezTo>
                    <a:pt x="258154" y="115550"/>
                    <a:pt x="258154" y="115550"/>
                    <a:pt x="258792" y="116188"/>
                  </a:cubicBezTo>
                  <a:cubicBezTo>
                    <a:pt x="259431" y="116188"/>
                    <a:pt x="259431" y="116827"/>
                    <a:pt x="260070" y="117465"/>
                  </a:cubicBezTo>
                  <a:cubicBezTo>
                    <a:pt x="260070" y="117465"/>
                    <a:pt x="260709" y="118104"/>
                    <a:pt x="260709" y="118104"/>
                  </a:cubicBezTo>
                  <a:cubicBezTo>
                    <a:pt x="260709" y="118742"/>
                    <a:pt x="261348" y="118742"/>
                    <a:pt x="261348" y="119380"/>
                  </a:cubicBezTo>
                  <a:cubicBezTo>
                    <a:pt x="261348" y="120019"/>
                    <a:pt x="261348" y="120019"/>
                    <a:pt x="261348" y="120657"/>
                  </a:cubicBezTo>
                  <a:cubicBezTo>
                    <a:pt x="261348" y="121296"/>
                    <a:pt x="261348" y="121296"/>
                    <a:pt x="261348" y="121934"/>
                  </a:cubicBezTo>
                  <a:lnTo>
                    <a:pt x="261348" y="133425"/>
                  </a:lnTo>
                  <a:cubicBezTo>
                    <a:pt x="261348" y="137256"/>
                    <a:pt x="258792" y="139809"/>
                    <a:pt x="254959" y="139809"/>
                  </a:cubicBezTo>
                  <a:cubicBezTo>
                    <a:pt x="251125" y="139809"/>
                    <a:pt x="248569" y="137256"/>
                    <a:pt x="248569" y="133425"/>
                  </a:cubicBezTo>
                  <a:lnTo>
                    <a:pt x="248569" y="128318"/>
                  </a:lnTo>
                  <a:lnTo>
                    <a:pt x="202561" y="128318"/>
                  </a:lnTo>
                  <a:lnTo>
                    <a:pt x="203839" y="134702"/>
                  </a:lnTo>
                  <a:lnTo>
                    <a:pt x="283074" y="173644"/>
                  </a:lnTo>
                  <a:cubicBezTo>
                    <a:pt x="283074" y="173644"/>
                    <a:pt x="283713" y="174283"/>
                    <a:pt x="283713" y="174283"/>
                  </a:cubicBezTo>
                  <a:cubicBezTo>
                    <a:pt x="284352" y="174283"/>
                    <a:pt x="284352" y="174921"/>
                    <a:pt x="284991" y="174921"/>
                  </a:cubicBezTo>
                  <a:cubicBezTo>
                    <a:pt x="284991" y="174921"/>
                    <a:pt x="285630" y="175560"/>
                    <a:pt x="285630" y="175560"/>
                  </a:cubicBezTo>
                  <a:cubicBezTo>
                    <a:pt x="285630" y="176198"/>
                    <a:pt x="286269" y="176198"/>
                    <a:pt x="286269" y="176836"/>
                  </a:cubicBezTo>
                  <a:cubicBezTo>
                    <a:pt x="286269" y="177475"/>
                    <a:pt x="286269" y="178113"/>
                    <a:pt x="286908" y="179390"/>
                  </a:cubicBezTo>
                  <a:lnTo>
                    <a:pt x="286269" y="194711"/>
                  </a:lnTo>
                  <a:close/>
                </a:path>
              </a:pathLst>
            </a:custGeom>
            <a:grpFill/>
            <a:ln w="6390" cap="flat">
              <a:noFill/>
              <a:prstDash val="solid"/>
              <a:miter/>
            </a:ln>
          </p:spPr>
          <p:txBody>
            <a:bodyPr rtlCol="0" anchor="ctr"/>
            <a:lstStyle/>
            <a:p>
              <a:endParaRPr lang="en-US"/>
            </a:p>
          </p:txBody>
        </p:sp>
        <p:sp>
          <p:nvSpPr>
            <p:cNvPr id="495" name="Graphic 4">
              <a:extLst>
                <a:ext uri="{FF2B5EF4-FFF2-40B4-BE49-F238E27FC236}">
                  <a16:creationId xmlns:a16="http://schemas.microsoft.com/office/drawing/2014/main" id="{98E4BB29-EDBC-8A0A-9AA9-53BA45F65D7F}"/>
                </a:ext>
              </a:extLst>
            </p:cNvPr>
            <p:cNvSpPr/>
            <p:nvPr/>
          </p:nvSpPr>
          <p:spPr>
            <a:xfrm>
              <a:off x="196171" y="100867"/>
              <a:ext cx="30671" cy="14683"/>
            </a:xfrm>
            <a:custGeom>
              <a:avLst/>
              <a:gdLst>
                <a:gd name="connsiteX0" fmla="*/ 30672 w 30671"/>
                <a:gd name="connsiteY0" fmla="*/ 14683 h 14683"/>
                <a:gd name="connsiteX1" fmla="*/ 0 w 30671"/>
                <a:gd name="connsiteY1" fmla="*/ 0 h 14683"/>
                <a:gd name="connsiteX2" fmla="*/ 3195 w 30671"/>
                <a:gd name="connsiteY2" fmla="*/ 14683 h 14683"/>
              </a:gdLst>
              <a:ahLst/>
              <a:cxnLst>
                <a:cxn ang="0">
                  <a:pos x="connsiteX0" y="connsiteY0"/>
                </a:cxn>
                <a:cxn ang="0">
                  <a:pos x="connsiteX1" y="connsiteY1"/>
                </a:cxn>
                <a:cxn ang="0">
                  <a:pos x="connsiteX2" y="connsiteY2"/>
                </a:cxn>
              </a:cxnLst>
              <a:rect l="l" t="t" r="r" b="b"/>
              <a:pathLst>
                <a:path w="30671" h="14683">
                  <a:moveTo>
                    <a:pt x="30672" y="14683"/>
                  </a:moveTo>
                  <a:lnTo>
                    <a:pt x="0" y="0"/>
                  </a:lnTo>
                  <a:lnTo>
                    <a:pt x="3195" y="14683"/>
                  </a:lnTo>
                  <a:close/>
                </a:path>
              </a:pathLst>
            </a:custGeom>
            <a:grpFill/>
            <a:ln w="6390" cap="flat">
              <a:noFill/>
              <a:prstDash val="solid"/>
              <a:miter/>
            </a:ln>
          </p:spPr>
          <p:txBody>
            <a:bodyPr rtlCol="0" anchor="ctr"/>
            <a:lstStyle/>
            <a:p>
              <a:endParaRPr lang="en-US"/>
            </a:p>
          </p:txBody>
        </p:sp>
        <p:sp>
          <p:nvSpPr>
            <p:cNvPr id="496" name="Graphic 4">
              <a:extLst>
                <a:ext uri="{FF2B5EF4-FFF2-40B4-BE49-F238E27FC236}">
                  <a16:creationId xmlns:a16="http://schemas.microsoft.com/office/drawing/2014/main" id="{4AD730E9-C190-0278-BD14-F01762A69027}"/>
                </a:ext>
              </a:extLst>
            </p:cNvPr>
            <p:cNvSpPr/>
            <p:nvPr/>
          </p:nvSpPr>
          <p:spPr>
            <a:xfrm>
              <a:off x="109906" y="150662"/>
              <a:ext cx="45368" cy="21705"/>
            </a:xfrm>
            <a:custGeom>
              <a:avLst/>
              <a:gdLst>
                <a:gd name="connsiteX0" fmla="*/ 0 w 45368"/>
                <a:gd name="connsiteY0" fmla="*/ 21706 h 21705"/>
                <a:gd name="connsiteX1" fmla="*/ 40896 w 45368"/>
                <a:gd name="connsiteY1" fmla="*/ 21706 h 21705"/>
                <a:gd name="connsiteX2" fmla="*/ 45369 w 45368"/>
                <a:gd name="connsiteY2" fmla="*/ 0 h 21705"/>
              </a:gdLst>
              <a:ahLst/>
              <a:cxnLst>
                <a:cxn ang="0">
                  <a:pos x="connsiteX0" y="connsiteY0"/>
                </a:cxn>
                <a:cxn ang="0">
                  <a:pos x="connsiteX1" y="connsiteY1"/>
                </a:cxn>
                <a:cxn ang="0">
                  <a:pos x="connsiteX2" y="connsiteY2"/>
                </a:cxn>
              </a:cxnLst>
              <a:rect l="l" t="t" r="r" b="b"/>
              <a:pathLst>
                <a:path w="45368" h="21705">
                  <a:moveTo>
                    <a:pt x="0" y="21706"/>
                  </a:moveTo>
                  <a:lnTo>
                    <a:pt x="40896" y="21706"/>
                  </a:lnTo>
                  <a:lnTo>
                    <a:pt x="45369" y="0"/>
                  </a:lnTo>
                  <a:close/>
                </a:path>
              </a:pathLst>
            </a:custGeom>
            <a:grpFill/>
            <a:ln w="6390" cap="flat">
              <a:noFill/>
              <a:prstDash val="solid"/>
              <a:miter/>
            </a:ln>
          </p:spPr>
          <p:txBody>
            <a:bodyPr rtlCol="0" anchor="ctr"/>
            <a:lstStyle/>
            <a:p>
              <a:endParaRPr lang="en-US"/>
            </a:p>
          </p:txBody>
        </p:sp>
        <p:sp>
          <p:nvSpPr>
            <p:cNvPr id="498" name="Graphic 4">
              <a:extLst>
                <a:ext uri="{FF2B5EF4-FFF2-40B4-BE49-F238E27FC236}">
                  <a16:creationId xmlns:a16="http://schemas.microsoft.com/office/drawing/2014/main" id="{DF656693-E869-7A87-AFA4-3295840470BC}"/>
                </a:ext>
              </a:extLst>
            </p:cNvPr>
            <p:cNvSpPr/>
            <p:nvPr/>
          </p:nvSpPr>
          <p:spPr>
            <a:xfrm>
              <a:off x="135466" y="100867"/>
              <a:ext cx="30671" cy="14683"/>
            </a:xfrm>
            <a:custGeom>
              <a:avLst/>
              <a:gdLst>
                <a:gd name="connsiteX0" fmla="*/ 0 w 30671"/>
                <a:gd name="connsiteY0" fmla="*/ 14683 h 14683"/>
                <a:gd name="connsiteX1" fmla="*/ 27477 w 30671"/>
                <a:gd name="connsiteY1" fmla="*/ 14683 h 14683"/>
                <a:gd name="connsiteX2" fmla="*/ 30672 w 30671"/>
                <a:gd name="connsiteY2" fmla="*/ 0 h 14683"/>
              </a:gdLst>
              <a:ahLst/>
              <a:cxnLst>
                <a:cxn ang="0">
                  <a:pos x="connsiteX0" y="connsiteY0"/>
                </a:cxn>
                <a:cxn ang="0">
                  <a:pos x="connsiteX1" y="connsiteY1"/>
                </a:cxn>
                <a:cxn ang="0">
                  <a:pos x="connsiteX2" y="connsiteY2"/>
                </a:cxn>
              </a:cxnLst>
              <a:rect l="l" t="t" r="r" b="b"/>
              <a:pathLst>
                <a:path w="30671" h="14683">
                  <a:moveTo>
                    <a:pt x="0" y="14683"/>
                  </a:moveTo>
                  <a:lnTo>
                    <a:pt x="27477" y="14683"/>
                  </a:lnTo>
                  <a:lnTo>
                    <a:pt x="30672" y="0"/>
                  </a:lnTo>
                  <a:close/>
                </a:path>
              </a:pathLst>
            </a:custGeom>
            <a:grpFill/>
            <a:ln w="6390" cap="flat">
              <a:noFill/>
              <a:prstDash val="solid"/>
              <a:miter/>
            </a:ln>
          </p:spPr>
          <p:txBody>
            <a:bodyPr rtlCol="0" anchor="ctr"/>
            <a:lstStyle/>
            <a:p>
              <a:endParaRPr lang="en-US"/>
            </a:p>
          </p:txBody>
        </p:sp>
        <p:sp>
          <p:nvSpPr>
            <p:cNvPr id="499" name="Graphic 4">
              <a:extLst>
                <a:ext uri="{FF2B5EF4-FFF2-40B4-BE49-F238E27FC236}">
                  <a16:creationId xmlns:a16="http://schemas.microsoft.com/office/drawing/2014/main" id="{92C299A5-5B31-D697-CDFB-CEE14C6C6DB4}"/>
                </a:ext>
              </a:extLst>
            </p:cNvPr>
            <p:cNvSpPr/>
            <p:nvPr/>
          </p:nvSpPr>
          <p:spPr>
            <a:xfrm>
              <a:off x="175723" y="90014"/>
              <a:ext cx="10862" cy="25535"/>
            </a:xfrm>
            <a:custGeom>
              <a:avLst/>
              <a:gdLst>
                <a:gd name="connsiteX0" fmla="*/ 10863 w 10862"/>
                <a:gd name="connsiteY0" fmla="*/ 25536 h 25535"/>
                <a:gd name="connsiteX1" fmla="*/ 5112 w 10862"/>
                <a:gd name="connsiteY1" fmla="*/ 0 h 25535"/>
                <a:gd name="connsiteX2" fmla="*/ 0 w 10862"/>
                <a:gd name="connsiteY2" fmla="*/ 25536 h 25535"/>
              </a:gdLst>
              <a:ahLst/>
              <a:cxnLst>
                <a:cxn ang="0">
                  <a:pos x="connsiteX0" y="connsiteY0"/>
                </a:cxn>
                <a:cxn ang="0">
                  <a:pos x="connsiteX1" y="connsiteY1"/>
                </a:cxn>
                <a:cxn ang="0">
                  <a:pos x="connsiteX2" y="connsiteY2"/>
                </a:cxn>
              </a:cxnLst>
              <a:rect l="l" t="t" r="r" b="b"/>
              <a:pathLst>
                <a:path w="10862" h="25535">
                  <a:moveTo>
                    <a:pt x="10863" y="25536"/>
                  </a:moveTo>
                  <a:lnTo>
                    <a:pt x="5112" y="0"/>
                  </a:lnTo>
                  <a:lnTo>
                    <a:pt x="0" y="25536"/>
                  </a:lnTo>
                  <a:close/>
                </a:path>
              </a:pathLst>
            </a:custGeom>
            <a:grpFill/>
            <a:ln w="6390" cap="flat">
              <a:noFill/>
              <a:prstDash val="solid"/>
              <a:miter/>
            </a:ln>
          </p:spPr>
          <p:txBody>
            <a:bodyPr rtlCol="0" anchor="ctr"/>
            <a:lstStyle/>
            <a:p>
              <a:endParaRPr lang="en-US"/>
            </a:p>
          </p:txBody>
        </p:sp>
      </p:grpSp>
      <p:sp>
        <p:nvSpPr>
          <p:cNvPr id="501" name="TextBox 500">
            <a:extLst>
              <a:ext uri="{FF2B5EF4-FFF2-40B4-BE49-F238E27FC236}">
                <a16:creationId xmlns:a16="http://schemas.microsoft.com/office/drawing/2014/main" id="{06F88344-68FE-F9AD-7BA4-7441FAF91AFB}"/>
              </a:ext>
            </a:extLst>
          </p:cNvPr>
          <p:cNvSpPr txBox="1"/>
          <p:nvPr/>
        </p:nvSpPr>
        <p:spPr>
          <a:xfrm>
            <a:off x="2018317" y="4512917"/>
            <a:ext cx="4132748" cy="335156"/>
          </a:xfrm>
          <a:prstGeom prst="rect">
            <a:avLst/>
          </a:prstGeom>
          <a:noFill/>
        </p:spPr>
        <p:txBody>
          <a:bodyPr wrap="square">
            <a:spAutoFit/>
          </a:bodyPr>
          <a:lstStyle/>
          <a:p>
            <a:pPr>
              <a:lnSpc>
                <a:spcPct val="125000"/>
              </a:lnSpc>
            </a:pPr>
            <a:r>
              <a:rPr lang="en-US" sz="1400">
                <a:latin typeface="Arial" panose="020B0604020202020204" pitchFamily="34" charset="0"/>
                <a:cs typeface="Arial" panose="020B0604020202020204" pitchFamily="34" charset="0"/>
              </a:rPr>
              <a:t>CAPACITY ADDITION IN MW (HYDROPOWER)</a:t>
            </a:r>
          </a:p>
        </p:txBody>
      </p:sp>
      <p:sp>
        <p:nvSpPr>
          <p:cNvPr id="502" name="Graphic 6">
            <a:extLst>
              <a:ext uri="{FF2B5EF4-FFF2-40B4-BE49-F238E27FC236}">
                <a16:creationId xmlns:a16="http://schemas.microsoft.com/office/drawing/2014/main" id="{1B45BC73-A9E9-A0A9-1876-754516F16D59}"/>
              </a:ext>
            </a:extLst>
          </p:cNvPr>
          <p:cNvSpPr/>
          <p:nvPr/>
        </p:nvSpPr>
        <p:spPr>
          <a:xfrm>
            <a:off x="1676167" y="4515808"/>
            <a:ext cx="361950" cy="361950"/>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181474 w 362313"/>
              <a:gd name="connsiteY4" fmla="*/ 0 h 361971"/>
              <a:gd name="connsiteX5" fmla="*/ 127160 w 362313"/>
              <a:gd name="connsiteY5" fmla="*/ 268127 h 361971"/>
              <a:gd name="connsiteX6" fmla="*/ 123326 w 362313"/>
              <a:gd name="connsiteY6" fmla="*/ 282172 h 361971"/>
              <a:gd name="connsiteX7" fmla="*/ 116936 w 362313"/>
              <a:gd name="connsiteY7" fmla="*/ 287279 h 361971"/>
              <a:gd name="connsiteX8" fmla="*/ 115658 w 362313"/>
              <a:gd name="connsiteY8" fmla="*/ 287279 h 361971"/>
              <a:gd name="connsiteX9" fmla="*/ 111185 w 362313"/>
              <a:gd name="connsiteY9" fmla="*/ 279618 h 361971"/>
              <a:gd name="connsiteX10" fmla="*/ 115019 w 362313"/>
              <a:gd name="connsiteY10" fmla="*/ 265574 h 361971"/>
              <a:gd name="connsiteX11" fmla="*/ 122687 w 362313"/>
              <a:gd name="connsiteY11" fmla="*/ 261105 h 361971"/>
              <a:gd name="connsiteX12" fmla="*/ 127160 w 362313"/>
              <a:gd name="connsiteY12" fmla="*/ 268127 h 361971"/>
              <a:gd name="connsiteX13" fmla="*/ 138023 w 362313"/>
              <a:gd name="connsiteY13" fmla="*/ 225355 h 361971"/>
              <a:gd name="connsiteX14" fmla="*/ 134189 w 362313"/>
              <a:gd name="connsiteY14" fmla="*/ 239399 h 361971"/>
              <a:gd name="connsiteX15" fmla="*/ 127799 w 362313"/>
              <a:gd name="connsiteY15" fmla="*/ 244506 h 361971"/>
              <a:gd name="connsiteX16" fmla="*/ 126521 w 362313"/>
              <a:gd name="connsiteY16" fmla="*/ 244506 h 361971"/>
              <a:gd name="connsiteX17" fmla="*/ 122048 w 362313"/>
              <a:gd name="connsiteY17" fmla="*/ 236846 h 361971"/>
              <a:gd name="connsiteX18" fmla="*/ 125882 w 362313"/>
              <a:gd name="connsiteY18" fmla="*/ 222801 h 361971"/>
              <a:gd name="connsiteX19" fmla="*/ 133550 w 362313"/>
              <a:gd name="connsiteY19" fmla="*/ 218332 h 361971"/>
              <a:gd name="connsiteX20" fmla="*/ 138023 w 362313"/>
              <a:gd name="connsiteY20" fmla="*/ 225355 h 361971"/>
              <a:gd name="connsiteX21" fmla="*/ 177002 w 362313"/>
              <a:gd name="connsiteY21" fmla="*/ 268127 h 361971"/>
              <a:gd name="connsiteX22" fmla="*/ 173168 w 362313"/>
              <a:gd name="connsiteY22" fmla="*/ 282172 h 361971"/>
              <a:gd name="connsiteX23" fmla="*/ 166778 w 362313"/>
              <a:gd name="connsiteY23" fmla="*/ 287279 h 361971"/>
              <a:gd name="connsiteX24" fmla="*/ 165500 w 362313"/>
              <a:gd name="connsiteY24" fmla="*/ 287279 h 361971"/>
              <a:gd name="connsiteX25" fmla="*/ 161027 w 362313"/>
              <a:gd name="connsiteY25" fmla="*/ 279618 h 361971"/>
              <a:gd name="connsiteX26" fmla="*/ 164861 w 362313"/>
              <a:gd name="connsiteY26" fmla="*/ 265574 h 361971"/>
              <a:gd name="connsiteX27" fmla="*/ 172528 w 362313"/>
              <a:gd name="connsiteY27" fmla="*/ 261105 h 361971"/>
              <a:gd name="connsiteX28" fmla="*/ 177002 w 362313"/>
              <a:gd name="connsiteY28" fmla="*/ 268127 h 361971"/>
              <a:gd name="connsiteX29" fmla="*/ 187864 w 362313"/>
              <a:gd name="connsiteY29" fmla="*/ 225355 h 361971"/>
              <a:gd name="connsiteX30" fmla="*/ 184031 w 362313"/>
              <a:gd name="connsiteY30" fmla="*/ 239399 h 361971"/>
              <a:gd name="connsiteX31" fmla="*/ 177641 w 362313"/>
              <a:gd name="connsiteY31" fmla="*/ 244506 h 361971"/>
              <a:gd name="connsiteX32" fmla="*/ 176363 w 362313"/>
              <a:gd name="connsiteY32" fmla="*/ 244506 h 361971"/>
              <a:gd name="connsiteX33" fmla="*/ 171889 w 362313"/>
              <a:gd name="connsiteY33" fmla="*/ 236846 h 361971"/>
              <a:gd name="connsiteX34" fmla="*/ 175723 w 362313"/>
              <a:gd name="connsiteY34" fmla="*/ 222801 h 361971"/>
              <a:gd name="connsiteX35" fmla="*/ 183392 w 362313"/>
              <a:gd name="connsiteY35" fmla="*/ 218332 h 361971"/>
              <a:gd name="connsiteX36" fmla="*/ 187864 w 362313"/>
              <a:gd name="connsiteY36" fmla="*/ 225355 h 361971"/>
              <a:gd name="connsiteX37" fmla="*/ 226843 w 362313"/>
              <a:gd name="connsiteY37" fmla="*/ 268127 h 361971"/>
              <a:gd name="connsiteX38" fmla="*/ 223009 w 362313"/>
              <a:gd name="connsiteY38" fmla="*/ 282172 h 361971"/>
              <a:gd name="connsiteX39" fmla="*/ 216619 w 362313"/>
              <a:gd name="connsiteY39" fmla="*/ 287279 h 361971"/>
              <a:gd name="connsiteX40" fmla="*/ 215341 w 362313"/>
              <a:gd name="connsiteY40" fmla="*/ 287279 h 361971"/>
              <a:gd name="connsiteX41" fmla="*/ 210868 w 362313"/>
              <a:gd name="connsiteY41" fmla="*/ 279618 h 361971"/>
              <a:gd name="connsiteX42" fmla="*/ 214703 w 362313"/>
              <a:gd name="connsiteY42" fmla="*/ 265574 h 361971"/>
              <a:gd name="connsiteX43" fmla="*/ 222370 w 362313"/>
              <a:gd name="connsiteY43" fmla="*/ 261105 h 361971"/>
              <a:gd name="connsiteX44" fmla="*/ 226843 w 362313"/>
              <a:gd name="connsiteY44" fmla="*/ 268127 h 361971"/>
              <a:gd name="connsiteX45" fmla="*/ 237706 w 362313"/>
              <a:gd name="connsiteY45" fmla="*/ 225355 h 361971"/>
              <a:gd name="connsiteX46" fmla="*/ 233872 w 362313"/>
              <a:gd name="connsiteY46" fmla="*/ 239399 h 361971"/>
              <a:gd name="connsiteX47" fmla="*/ 227482 w 362313"/>
              <a:gd name="connsiteY47" fmla="*/ 244506 h 361971"/>
              <a:gd name="connsiteX48" fmla="*/ 226204 w 362313"/>
              <a:gd name="connsiteY48" fmla="*/ 244506 h 361971"/>
              <a:gd name="connsiteX49" fmla="*/ 221731 w 362313"/>
              <a:gd name="connsiteY49" fmla="*/ 236846 h 361971"/>
              <a:gd name="connsiteX50" fmla="*/ 225565 w 362313"/>
              <a:gd name="connsiteY50" fmla="*/ 222801 h 361971"/>
              <a:gd name="connsiteX51" fmla="*/ 233233 w 362313"/>
              <a:gd name="connsiteY51" fmla="*/ 218332 h 361971"/>
              <a:gd name="connsiteX52" fmla="*/ 237706 w 362313"/>
              <a:gd name="connsiteY52" fmla="*/ 225355 h 361971"/>
              <a:gd name="connsiteX53" fmla="*/ 253042 w 362313"/>
              <a:gd name="connsiteY53" fmla="*/ 201734 h 361971"/>
              <a:gd name="connsiteX54" fmla="*/ 122048 w 362313"/>
              <a:gd name="connsiteY54" fmla="*/ 201734 h 361971"/>
              <a:gd name="connsiteX55" fmla="*/ 75402 w 362313"/>
              <a:gd name="connsiteY55" fmla="*/ 155131 h 361971"/>
              <a:gd name="connsiteX56" fmla="*/ 122048 w 362313"/>
              <a:gd name="connsiteY56" fmla="*/ 108528 h 361971"/>
              <a:gd name="connsiteX57" fmla="*/ 138023 w 362313"/>
              <a:gd name="connsiteY57" fmla="*/ 112358 h 361971"/>
              <a:gd name="connsiteX58" fmla="*/ 192338 w 362313"/>
              <a:gd name="connsiteY58" fmla="*/ 75331 h 361971"/>
              <a:gd name="connsiteX59" fmla="*/ 249208 w 362313"/>
              <a:gd name="connsiteY59" fmla="*/ 132149 h 361971"/>
              <a:gd name="connsiteX60" fmla="*/ 249208 w 362313"/>
              <a:gd name="connsiteY60" fmla="*/ 132787 h 361971"/>
              <a:gd name="connsiteX61" fmla="*/ 253042 w 362313"/>
              <a:gd name="connsiteY61" fmla="*/ 132787 h 361971"/>
              <a:gd name="connsiteX62" fmla="*/ 288187 w 362313"/>
              <a:gd name="connsiteY62" fmla="*/ 167899 h 361971"/>
              <a:gd name="connsiteX63" fmla="*/ 253042 w 362313"/>
              <a:gd name="connsiteY63" fmla="*/ 20173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2313"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949" y="81077"/>
                  <a:pt x="281797" y="0"/>
                  <a:pt x="181474" y="0"/>
                </a:cubicBezTo>
                <a:close/>
                <a:moveTo>
                  <a:pt x="127160" y="268127"/>
                </a:moveTo>
                <a:lnTo>
                  <a:pt x="123326" y="282172"/>
                </a:lnTo>
                <a:cubicBezTo>
                  <a:pt x="122687" y="285364"/>
                  <a:pt x="120131" y="287279"/>
                  <a:pt x="116936" y="287279"/>
                </a:cubicBezTo>
                <a:cubicBezTo>
                  <a:pt x="116297" y="287279"/>
                  <a:pt x="115658" y="287279"/>
                  <a:pt x="115658" y="287279"/>
                </a:cubicBezTo>
                <a:cubicBezTo>
                  <a:pt x="112464" y="286641"/>
                  <a:pt x="109907" y="282810"/>
                  <a:pt x="111185" y="279618"/>
                </a:cubicBezTo>
                <a:lnTo>
                  <a:pt x="115019" y="265574"/>
                </a:lnTo>
                <a:cubicBezTo>
                  <a:pt x="115658" y="262382"/>
                  <a:pt x="119492" y="259828"/>
                  <a:pt x="122687" y="261105"/>
                </a:cubicBezTo>
                <a:cubicBezTo>
                  <a:pt x="125882" y="261105"/>
                  <a:pt x="127799" y="264935"/>
                  <a:pt x="127160" y="268127"/>
                </a:cubicBezTo>
                <a:close/>
                <a:moveTo>
                  <a:pt x="138023" y="225355"/>
                </a:moveTo>
                <a:lnTo>
                  <a:pt x="134189" y="239399"/>
                </a:lnTo>
                <a:cubicBezTo>
                  <a:pt x="133550" y="242591"/>
                  <a:pt x="130994" y="244506"/>
                  <a:pt x="127799" y="244506"/>
                </a:cubicBezTo>
                <a:cubicBezTo>
                  <a:pt x="127160" y="244506"/>
                  <a:pt x="126521" y="244506"/>
                  <a:pt x="126521" y="244506"/>
                </a:cubicBezTo>
                <a:cubicBezTo>
                  <a:pt x="123326" y="243868"/>
                  <a:pt x="120770" y="240038"/>
                  <a:pt x="122048" y="236846"/>
                </a:cubicBezTo>
                <a:lnTo>
                  <a:pt x="125882" y="222801"/>
                </a:lnTo>
                <a:cubicBezTo>
                  <a:pt x="126521" y="219609"/>
                  <a:pt x="130355" y="217055"/>
                  <a:pt x="133550" y="218332"/>
                </a:cubicBezTo>
                <a:cubicBezTo>
                  <a:pt x="136745" y="218332"/>
                  <a:pt x="138662" y="222163"/>
                  <a:pt x="138023" y="225355"/>
                </a:cubicBezTo>
                <a:close/>
                <a:moveTo>
                  <a:pt x="177002" y="268127"/>
                </a:moveTo>
                <a:lnTo>
                  <a:pt x="173168" y="282172"/>
                </a:lnTo>
                <a:cubicBezTo>
                  <a:pt x="172528" y="285364"/>
                  <a:pt x="169973" y="287279"/>
                  <a:pt x="166778" y="287279"/>
                </a:cubicBezTo>
                <a:cubicBezTo>
                  <a:pt x="166138" y="287279"/>
                  <a:pt x="165500" y="287279"/>
                  <a:pt x="165500" y="287279"/>
                </a:cubicBezTo>
                <a:cubicBezTo>
                  <a:pt x="162305" y="286641"/>
                  <a:pt x="159748" y="282810"/>
                  <a:pt x="161027" y="279618"/>
                </a:cubicBezTo>
                <a:lnTo>
                  <a:pt x="164861" y="265574"/>
                </a:lnTo>
                <a:cubicBezTo>
                  <a:pt x="165500" y="262382"/>
                  <a:pt x="169333" y="259828"/>
                  <a:pt x="172528" y="261105"/>
                </a:cubicBezTo>
                <a:cubicBezTo>
                  <a:pt x="175723" y="261105"/>
                  <a:pt x="177641" y="264935"/>
                  <a:pt x="177002" y="268127"/>
                </a:cubicBezTo>
                <a:close/>
                <a:moveTo>
                  <a:pt x="187864" y="225355"/>
                </a:moveTo>
                <a:lnTo>
                  <a:pt x="184031" y="239399"/>
                </a:lnTo>
                <a:cubicBezTo>
                  <a:pt x="183392" y="242591"/>
                  <a:pt x="180836" y="244506"/>
                  <a:pt x="177641" y="244506"/>
                </a:cubicBezTo>
                <a:cubicBezTo>
                  <a:pt x="177002" y="244506"/>
                  <a:pt x="176363" y="244506"/>
                  <a:pt x="176363" y="244506"/>
                </a:cubicBezTo>
                <a:cubicBezTo>
                  <a:pt x="173168" y="243868"/>
                  <a:pt x="170612" y="240038"/>
                  <a:pt x="171889" y="236846"/>
                </a:cubicBezTo>
                <a:lnTo>
                  <a:pt x="175723" y="222801"/>
                </a:lnTo>
                <a:cubicBezTo>
                  <a:pt x="176363" y="219609"/>
                  <a:pt x="180197" y="217055"/>
                  <a:pt x="183392" y="218332"/>
                </a:cubicBezTo>
                <a:cubicBezTo>
                  <a:pt x="186587" y="218332"/>
                  <a:pt x="188503" y="222163"/>
                  <a:pt x="187864" y="225355"/>
                </a:cubicBezTo>
                <a:close/>
                <a:moveTo>
                  <a:pt x="226843" y="268127"/>
                </a:moveTo>
                <a:lnTo>
                  <a:pt x="223009" y="282172"/>
                </a:lnTo>
                <a:cubicBezTo>
                  <a:pt x="222370" y="285364"/>
                  <a:pt x="219814" y="287279"/>
                  <a:pt x="216619" y="287279"/>
                </a:cubicBezTo>
                <a:cubicBezTo>
                  <a:pt x="215980" y="287279"/>
                  <a:pt x="215341" y="287279"/>
                  <a:pt x="215341" y="287279"/>
                </a:cubicBezTo>
                <a:cubicBezTo>
                  <a:pt x="212146" y="286641"/>
                  <a:pt x="209590" y="282810"/>
                  <a:pt x="210868" y="279618"/>
                </a:cubicBezTo>
                <a:lnTo>
                  <a:pt x="214703" y="265574"/>
                </a:lnTo>
                <a:cubicBezTo>
                  <a:pt x="215341" y="262382"/>
                  <a:pt x="219175" y="259828"/>
                  <a:pt x="222370" y="261105"/>
                </a:cubicBezTo>
                <a:cubicBezTo>
                  <a:pt x="225565" y="261105"/>
                  <a:pt x="227482" y="264935"/>
                  <a:pt x="226843" y="268127"/>
                </a:cubicBezTo>
                <a:close/>
                <a:moveTo>
                  <a:pt x="237706" y="225355"/>
                </a:moveTo>
                <a:lnTo>
                  <a:pt x="233872" y="239399"/>
                </a:lnTo>
                <a:cubicBezTo>
                  <a:pt x="233233" y="242591"/>
                  <a:pt x="230677" y="244506"/>
                  <a:pt x="227482" y="244506"/>
                </a:cubicBezTo>
                <a:cubicBezTo>
                  <a:pt x="226843" y="244506"/>
                  <a:pt x="226204" y="244506"/>
                  <a:pt x="226204" y="244506"/>
                </a:cubicBezTo>
                <a:cubicBezTo>
                  <a:pt x="223009" y="243868"/>
                  <a:pt x="220453" y="240038"/>
                  <a:pt x="221731" y="236846"/>
                </a:cubicBezTo>
                <a:lnTo>
                  <a:pt x="225565" y="222801"/>
                </a:lnTo>
                <a:cubicBezTo>
                  <a:pt x="226204" y="219609"/>
                  <a:pt x="230038" y="217055"/>
                  <a:pt x="233233" y="218332"/>
                </a:cubicBezTo>
                <a:cubicBezTo>
                  <a:pt x="236428" y="218332"/>
                  <a:pt x="238345" y="222163"/>
                  <a:pt x="237706" y="225355"/>
                </a:cubicBezTo>
                <a:close/>
                <a:moveTo>
                  <a:pt x="253042" y="201734"/>
                </a:moveTo>
                <a:lnTo>
                  <a:pt x="122048" y="201734"/>
                </a:lnTo>
                <a:cubicBezTo>
                  <a:pt x="96489" y="201734"/>
                  <a:pt x="75402" y="180667"/>
                  <a:pt x="75402" y="155131"/>
                </a:cubicBezTo>
                <a:cubicBezTo>
                  <a:pt x="75402" y="129595"/>
                  <a:pt x="96489" y="108528"/>
                  <a:pt x="122048" y="108528"/>
                </a:cubicBezTo>
                <a:cubicBezTo>
                  <a:pt x="128438" y="108528"/>
                  <a:pt x="133550" y="109805"/>
                  <a:pt x="138023" y="112358"/>
                </a:cubicBezTo>
                <a:cubicBezTo>
                  <a:pt x="146330" y="90653"/>
                  <a:pt x="168056" y="75331"/>
                  <a:pt x="192338" y="75331"/>
                </a:cubicBezTo>
                <a:cubicBezTo>
                  <a:pt x="223648" y="75331"/>
                  <a:pt x="249208" y="100867"/>
                  <a:pt x="249208" y="132149"/>
                </a:cubicBezTo>
                <a:lnTo>
                  <a:pt x="249208" y="132787"/>
                </a:lnTo>
                <a:cubicBezTo>
                  <a:pt x="250486" y="132787"/>
                  <a:pt x="251764" y="132787"/>
                  <a:pt x="253042" y="132787"/>
                </a:cubicBezTo>
                <a:cubicBezTo>
                  <a:pt x="272212" y="132787"/>
                  <a:pt x="288187" y="148747"/>
                  <a:pt x="288187" y="167899"/>
                </a:cubicBezTo>
                <a:cubicBezTo>
                  <a:pt x="287547" y="186412"/>
                  <a:pt x="272212" y="201734"/>
                  <a:pt x="253042" y="201734"/>
                </a:cubicBezTo>
                <a:close/>
              </a:path>
            </a:pathLst>
          </a:custGeom>
          <a:solidFill>
            <a:srgbClr val="D0CECE">
              <a:lumMod val="25000"/>
            </a:srgbClr>
          </a:solidFill>
          <a:ln w="6390" cap="flat">
            <a:noFill/>
            <a:prstDash val="solid"/>
            <a:miter/>
          </a:ln>
        </p:spPr>
        <p:txBody>
          <a:bodyPr rtlCol="0" anchor="ctr"/>
          <a:lstStyle/>
          <a:p>
            <a:endParaRPr lang="en-US"/>
          </a:p>
        </p:txBody>
      </p:sp>
      <p:sp>
        <p:nvSpPr>
          <p:cNvPr id="504" name="TextBox 503">
            <a:extLst>
              <a:ext uri="{FF2B5EF4-FFF2-40B4-BE49-F238E27FC236}">
                <a16:creationId xmlns:a16="http://schemas.microsoft.com/office/drawing/2014/main" id="{7796DAC6-439A-5B7B-4EDE-1AC96C1C2E14}"/>
              </a:ext>
            </a:extLst>
          </p:cNvPr>
          <p:cNvSpPr txBox="1"/>
          <p:nvPr/>
        </p:nvSpPr>
        <p:spPr>
          <a:xfrm>
            <a:off x="2036266" y="4992536"/>
            <a:ext cx="3513666" cy="307777"/>
          </a:xfrm>
          <a:prstGeom prst="rect">
            <a:avLst/>
          </a:prstGeom>
          <a:noFill/>
        </p:spPr>
        <p:txBody>
          <a:bodyPr wrap="square">
            <a:spAutoFit/>
          </a:bodyPr>
          <a:lstStyle/>
          <a:p>
            <a:r>
              <a:rPr lang="en-US" sz="1400">
                <a:latin typeface="Arial" panose="020B0604020202020204" pitchFamily="34" charset="0"/>
                <a:cs typeface="Arial" panose="020B0604020202020204" pitchFamily="34" charset="0"/>
              </a:rPr>
              <a:t>WEAK POLICY LANDSCAPE</a:t>
            </a:r>
          </a:p>
        </p:txBody>
      </p:sp>
      <p:grpSp>
        <p:nvGrpSpPr>
          <p:cNvPr id="506" name="Group 505">
            <a:extLst>
              <a:ext uri="{FF2B5EF4-FFF2-40B4-BE49-F238E27FC236}">
                <a16:creationId xmlns:a16="http://schemas.microsoft.com/office/drawing/2014/main" id="{5F675798-ED8F-777C-7F28-49B02BED4EA2}"/>
              </a:ext>
            </a:extLst>
          </p:cNvPr>
          <p:cNvGrpSpPr/>
          <p:nvPr/>
        </p:nvGrpSpPr>
        <p:grpSpPr>
          <a:xfrm>
            <a:off x="1685411" y="4991043"/>
            <a:ext cx="361950" cy="361950"/>
            <a:chOff x="0" y="0"/>
            <a:chExt cx="362309" cy="362450"/>
          </a:xfrm>
          <a:solidFill>
            <a:srgbClr val="D0CECE">
              <a:lumMod val="25000"/>
            </a:srgbClr>
          </a:solidFill>
        </p:grpSpPr>
        <p:sp>
          <p:nvSpPr>
            <p:cNvPr id="507" name="Graphic 4">
              <a:extLst>
                <a:ext uri="{FF2B5EF4-FFF2-40B4-BE49-F238E27FC236}">
                  <a16:creationId xmlns:a16="http://schemas.microsoft.com/office/drawing/2014/main" id="{2CCEE7E8-FD84-93A3-E45C-85D49E0A4AAA}"/>
                </a:ext>
              </a:extLst>
            </p:cNvPr>
            <p:cNvSpPr/>
            <p:nvPr/>
          </p:nvSpPr>
          <p:spPr>
            <a:xfrm>
              <a:off x="0" y="0"/>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784 h 362450"/>
                <a:gd name="connsiteX4" fmla="*/ 180835 w 362309"/>
                <a:gd name="connsiteY4" fmla="*/ 479 h 362450"/>
                <a:gd name="connsiteX5" fmla="*/ 180835 w 362309"/>
                <a:gd name="connsiteY5" fmla="*/ 479 h 362450"/>
                <a:gd name="connsiteX6" fmla="*/ 93293 w 362309"/>
                <a:gd name="connsiteY6" fmla="*/ 121774 h 362450"/>
                <a:gd name="connsiteX7" fmla="*/ 177640 w 362309"/>
                <a:gd name="connsiteY7" fmla="*/ 75810 h 362450"/>
                <a:gd name="connsiteX8" fmla="*/ 184030 w 362309"/>
                <a:gd name="connsiteY8" fmla="*/ 75810 h 362450"/>
                <a:gd name="connsiteX9" fmla="*/ 268377 w 362309"/>
                <a:gd name="connsiteY9" fmla="*/ 121774 h 362450"/>
                <a:gd name="connsiteX10" fmla="*/ 271572 w 362309"/>
                <a:gd name="connsiteY10" fmla="*/ 128797 h 362450"/>
                <a:gd name="connsiteX11" fmla="*/ 265182 w 362309"/>
                <a:gd name="connsiteY11" fmla="*/ 133904 h 362450"/>
                <a:gd name="connsiteX12" fmla="*/ 95849 w 362309"/>
                <a:gd name="connsiteY12" fmla="*/ 133904 h 362450"/>
                <a:gd name="connsiteX13" fmla="*/ 89459 w 362309"/>
                <a:gd name="connsiteY13" fmla="*/ 128797 h 362450"/>
                <a:gd name="connsiteX14" fmla="*/ 93293 w 362309"/>
                <a:gd name="connsiteY14" fmla="*/ 121774 h 362450"/>
                <a:gd name="connsiteX15" fmla="*/ 93293 w 362309"/>
                <a:gd name="connsiteY15" fmla="*/ 121774 h 362450"/>
                <a:gd name="connsiteX16" fmla="*/ 256237 w 362309"/>
                <a:gd name="connsiteY16" fmla="*/ 157525 h 362450"/>
                <a:gd name="connsiteX17" fmla="*/ 256237 w 362309"/>
                <a:gd name="connsiteY17" fmla="*/ 218811 h 362450"/>
                <a:gd name="connsiteX18" fmla="*/ 249847 w 362309"/>
                <a:gd name="connsiteY18" fmla="*/ 225195 h 362450"/>
                <a:gd name="connsiteX19" fmla="*/ 243457 w 362309"/>
                <a:gd name="connsiteY19" fmla="*/ 218811 h 362450"/>
                <a:gd name="connsiteX20" fmla="*/ 243457 w 362309"/>
                <a:gd name="connsiteY20" fmla="*/ 157525 h 362450"/>
                <a:gd name="connsiteX21" fmla="*/ 249847 w 362309"/>
                <a:gd name="connsiteY21" fmla="*/ 151141 h 362450"/>
                <a:gd name="connsiteX22" fmla="*/ 256237 w 362309"/>
                <a:gd name="connsiteY22" fmla="*/ 157525 h 362450"/>
                <a:gd name="connsiteX23" fmla="*/ 210229 w 362309"/>
                <a:gd name="connsiteY23" fmla="*/ 157525 h 362450"/>
                <a:gd name="connsiteX24" fmla="*/ 210229 w 362309"/>
                <a:gd name="connsiteY24" fmla="*/ 218811 h 362450"/>
                <a:gd name="connsiteX25" fmla="*/ 203839 w 362309"/>
                <a:gd name="connsiteY25" fmla="*/ 225195 h 362450"/>
                <a:gd name="connsiteX26" fmla="*/ 197449 w 362309"/>
                <a:gd name="connsiteY26" fmla="*/ 218811 h 362450"/>
                <a:gd name="connsiteX27" fmla="*/ 197449 w 362309"/>
                <a:gd name="connsiteY27" fmla="*/ 157525 h 362450"/>
                <a:gd name="connsiteX28" fmla="*/ 203839 w 362309"/>
                <a:gd name="connsiteY28" fmla="*/ 151141 h 362450"/>
                <a:gd name="connsiteX29" fmla="*/ 210229 w 362309"/>
                <a:gd name="connsiteY29" fmla="*/ 157525 h 362450"/>
                <a:gd name="connsiteX30" fmla="*/ 164221 w 362309"/>
                <a:gd name="connsiteY30" fmla="*/ 157525 h 362450"/>
                <a:gd name="connsiteX31" fmla="*/ 164221 w 362309"/>
                <a:gd name="connsiteY31" fmla="*/ 218811 h 362450"/>
                <a:gd name="connsiteX32" fmla="*/ 157832 w 362309"/>
                <a:gd name="connsiteY32" fmla="*/ 225195 h 362450"/>
                <a:gd name="connsiteX33" fmla="*/ 151442 w 362309"/>
                <a:gd name="connsiteY33" fmla="*/ 218811 h 362450"/>
                <a:gd name="connsiteX34" fmla="*/ 151442 w 362309"/>
                <a:gd name="connsiteY34" fmla="*/ 157525 h 362450"/>
                <a:gd name="connsiteX35" fmla="*/ 157832 w 362309"/>
                <a:gd name="connsiteY35" fmla="*/ 151141 h 362450"/>
                <a:gd name="connsiteX36" fmla="*/ 164221 w 362309"/>
                <a:gd name="connsiteY36" fmla="*/ 157525 h 362450"/>
                <a:gd name="connsiteX37" fmla="*/ 118214 w 362309"/>
                <a:gd name="connsiteY37" fmla="*/ 157525 h 362450"/>
                <a:gd name="connsiteX38" fmla="*/ 118214 w 362309"/>
                <a:gd name="connsiteY38" fmla="*/ 218811 h 362450"/>
                <a:gd name="connsiteX39" fmla="*/ 111824 w 362309"/>
                <a:gd name="connsiteY39" fmla="*/ 225195 h 362450"/>
                <a:gd name="connsiteX40" fmla="*/ 105434 w 362309"/>
                <a:gd name="connsiteY40" fmla="*/ 218811 h 362450"/>
                <a:gd name="connsiteX41" fmla="*/ 105434 w 362309"/>
                <a:gd name="connsiteY41" fmla="*/ 157525 h 362450"/>
                <a:gd name="connsiteX42" fmla="*/ 111824 w 362309"/>
                <a:gd name="connsiteY42" fmla="*/ 151141 h 362450"/>
                <a:gd name="connsiteX43" fmla="*/ 118214 w 362309"/>
                <a:gd name="connsiteY43" fmla="*/ 157525 h 362450"/>
                <a:gd name="connsiteX44" fmla="*/ 278602 w 362309"/>
                <a:gd name="connsiteY44" fmla="*/ 283928 h 362450"/>
                <a:gd name="connsiteX45" fmla="*/ 273489 w 362309"/>
                <a:gd name="connsiteY45" fmla="*/ 287120 h 362450"/>
                <a:gd name="connsiteX46" fmla="*/ 88820 w 362309"/>
                <a:gd name="connsiteY46" fmla="*/ 287120 h 362450"/>
                <a:gd name="connsiteX47" fmla="*/ 82430 w 362309"/>
                <a:gd name="connsiteY47" fmla="*/ 280736 h 362450"/>
                <a:gd name="connsiteX48" fmla="*/ 83069 w 362309"/>
                <a:gd name="connsiteY48" fmla="*/ 277544 h 362450"/>
                <a:gd name="connsiteX49" fmla="*/ 98405 w 362309"/>
                <a:gd name="connsiteY49" fmla="*/ 246900 h 362450"/>
                <a:gd name="connsiteX50" fmla="*/ 104156 w 362309"/>
                <a:gd name="connsiteY50" fmla="*/ 243708 h 362450"/>
                <a:gd name="connsiteX51" fmla="*/ 258154 w 362309"/>
                <a:gd name="connsiteY51" fmla="*/ 243708 h 362450"/>
                <a:gd name="connsiteX52" fmla="*/ 263905 w 362309"/>
                <a:gd name="connsiteY52" fmla="*/ 246900 h 362450"/>
                <a:gd name="connsiteX53" fmla="*/ 279879 w 362309"/>
                <a:gd name="connsiteY53" fmla="*/ 278182 h 362450"/>
                <a:gd name="connsiteX54" fmla="*/ 278602 w 362309"/>
                <a:gd name="connsiteY54" fmla="*/ 283928 h 362450"/>
                <a:gd name="connsiteX55" fmla="*/ 278602 w 362309"/>
                <a:gd name="connsiteY55" fmla="*/ 283928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2309" h="362450">
                  <a:moveTo>
                    <a:pt x="180835" y="479"/>
                  </a:moveTo>
                  <a:cubicBezTo>
                    <a:pt x="80513" y="479"/>
                    <a:pt x="0" y="81555"/>
                    <a:pt x="0" y="181784"/>
                  </a:cubicBezTo>
                  <a:cubicBezTo>
                    <a:pt x="0" y="282012"/>
                    <a:pt x="81152" y="362451"/>
                    <a:pt x="181474" y="362451"/>
                  </a:cubicBezTo>
                  <a:cubicBezTo>
                    <a:pt x="281157" y="362451"/>
                    <a:pt x="362310" y="281374"/>
                    <a:pt x="362310" y="181784"/>
                  </a:cubicBezTo>
                  <a:cubicBezTo>
                    <a:pt x="362310" y="80917"/>
                    <a:pt x="281157" y="479"/>
                    <a:pt x="180835" y="479"/>
                  </a:cubicBezTo>
                  <a:cubicBezTo>
                    <a:pt x="180835" y="-160"/>
                    <a:pt x="180835" y="-160"/>
                    <a:pt x="180835" y="479"/>
                  </a:cubicBezTo>
                  <a:close/>
                  <a:moveTo>
                    <a:pt x="93293" y="121774"/>
                  </a:moveTo>
                  <a:lnTo>
                    <a:pt x="177640" y="75810"/>
                  </a:lnTo>
                  <a:cubicBezTo>
                    <a:pt x="179557" y="74533"/>
                    <a:pt x="182113" y="74533"/>
                    <a:pt x="184030" y="75810"/>
                  </a:cubicBezTo>
                  <a:lnTo>
                    <a:pt x="268377" y="121774"/>
                  </a:lnTo>
                  <a:cubicBezTo>
                    <a:pt x="270934" y="123051"/>
                    <a:pt x="272211" y="126243"/>
                    <a:pt x="271572" y="128797"/>
                  </a:cubicBezTo>
                  <a:cubicBezTo>
                    <a:pt x="270934" y="131989"/>
                    <a:pt x="268377" y="133904"/>
                    <a:pt x="265182" y="133904"/>
                  </a:cubicBezTo>
                  <a:lnTo>
                    <a:pt x="95849" y="133904"/>
                  </a:lnTo>
                  <a:cubicBezTo>
                    <a:pt x="92654" y="133904"/>
                    <a:pt x="90098" y="131989"/>
                    <a:pt x="89459" y="128797"/>
                  </a:cubicBezTo>
                  <a:cubicBezTo>
                    <a:pt x="89459" y="125605"/>
                    <a:pt x="90737" y="123051"/>
                    <a:pt x="93293" y="121774"/>
                  </a:cubicBezTo>
                  <a:lnTo>
                    <a:pt x="93293" y="121774"/>
                  </a:lnTo>
                  <a:close/>
                  <a:moveTo>
                    <a:pt x="256237" y="157525"/>
                  </a:moveTo>
                  <a:lnTo>
                    <a:pt x="256237" y="218811"/>
                  </a:lnTo>
                  <a:cubicBezTo>
                    <a:pt x="256237" y="222641"/>
                    <a:pt x="253681" y="225195"/>
                    <a:pt x="249847" y="225195"/>
                  </a:cubicBezTo>
                  <a:cubicBezTo>
                    <a:pt x="246013" y="225195"/>
                    <a:pt x="243457" y="222641"/>
                    <a:pt x="243457" y="218811"/>
                  </a:cubicBezTo>
                  <a:lnTo>
                    <a:pt x="243457" y="157525"/>
                  </a:lnTo>
                  <a:cubicBezTo>
                    <a:pt x="243457" y="153694"/>
                    <a:pt x="246013" y="151141"/>
                    <a:pt x="249847" y="151141"/>
                  </a:cubicBezTo>
                  <a:cubicBezTo>
                    <a:pt x="253681" y="151141"/>
                    <a:pt x="256237" y="154333"/>
                    <a:pt x="256237" y="157525"/>
                  </a:cubicBezTo>
                  <a:close/>
                  <a:moveTo>
                    <a:pt x="210229" y="157525"/>
                  </a:moveTo>
                  <a:lnTo>
                    <a:pt x="210229" y="218811"/>
                  </a:lnTo>
                  <a:cubicBezTo>
                    <a:pt x="210229" y="222641"/>
                    <a:pt x="207673" y="225195"/>
                    <a:pt x="203839" y="225195"/>
                  </a:cubicBezTo>
                  <a:cubicBezTo>
                    <a:pt x="200005" y="225195"/>
                    <a:pt x="197449" y="222641"/>
                    <a:pt x="197449" y="218811"/>
                  </a:cubicBezTo>
                  <a:lnTo>
                    <a:pt x="197449" y="157525"/>
                  </a:lnTo>
                  <a:cubicBezTo>
                    <a:pt x="197449" y="153694"/>
                    <a:pt x="200005" y="151141"/>
                    <a:pt x="203839" y="151141"/>
                  </a:cubicBezTo>
                  <a:cubicBezTo>
                    <a:pt x="207673" y="151141"/>
                    <a:pt x="210229" y="154333"/>
                    <a:pt x="210229" y="157525"/>
                  </a:cubicBezTo>
                  <a:close/>
                  <a:moveTo>
                    <a:pt x="164221" y="157525"/>
                  </a:moveTo>
                  <a:lnTo>
                    <a:pt x="164221" y="218811"/>
                  </a:lnTo>
                  <a:cubicBezTo>
                    <a:pt x="164221" y="222641"/>
                    <a:pt x="161666" y="225195"/>
                    <a:pt x="157832" y="225195"/>
                  </a:cubicBezTo>
                  <a:cubicBezTo>
                    <a:pt x="153998" y="225195"/>
                    <a:pt x="151442" y="222641"/>
                    <a:pt x="151442" y="218811"/>
                  </a:cubicBezTo>
                  <a:lnTo>
                    <a:pt x="151442" y="157525"/>
                  </a:lnTo>
                  <a:cubicBezTo>
                    <a:pt x="151442" y="153694"/>
                    <a:pt x="153998" y="151141"/>
                    <a:pt x="157832" y="151141"/>
                  </a:cubicBezTo>
                  <a:cubicBezTo>
                    <a:pt x="161666" y="151141"/>
                    <a:pt x="164221" y="154333"/>
                    <a:pt x="164221" y="157525"/>
                  </a:cubicBezTo>
                  <a:close/>
                  <a:moveTo>
                    <a:pt x="118214" y="157525"/>
                  </a:moveTo>
                  <a:lnTo>
                    <a:pt x="118214" y="218811"/>
                  </a:lnTo>
                  <a:cubicBezTo>
                    <a:pt x="118214" y="222641"/>
                    <a:pt x="115658" y="225195"/>
                    <a:pt x="111824" y="225195"/>
                  </a:cubicBezTo>
                  <a:cubicBezTo>
                    <a:pt x="107990" y="225195"/>
                    <a:pt x="105434" y="222641"/>
                    <a:pt x="105434" y="218811"/>
                  </a:cubicBezTo>
                  <a:lnTo>
                    <a:pt x="105434" y="157525"/>
                  </a:lnTo>
                  <a:cubicBezTo>
                    <a:pt x="105434" y="153694"/>
                    <a:pt x="107990" y="151141"/>
                    <a:pt x="111824" y="151141"/>
                  </a:cubicBezTo>
                  <a:cubicBezTo>
                    <a:pt x="115658" y="151141"/>
                    <a:pt x="118214" y="154333"/>
                    <a:pt x="118214" y="157525"/>
                  </a:cubicBezTo>
                  <a:close/>
                  <a:moveTo>
                    <a:pt x="278602" y="283928"/>
                  </a:moveTo>
                  <a:cubicBezTo>
                    <a:pt x="277323" y="285843"/>
                    <a:pt x="275407" y="287120"/>
                    <a:pt x="273489" y="287120"/>
                  </a:cubicBezTo>
                  <a:lnTo>
                    <a:pt x="88820" y="287120"/>
                  </a:lnTo>
                  <a:cubicBezTo>
                    <a:pt x="84986" y="287120"/>
                    <a:pt x="82430" y="284566"/>
                    <a:pt x="82430" y="280736"/>
                  </a:cubicBezTo>
                  <a:cubicBezTo>
                    <a:pt x="82430" y="279459"/>
                    <a:pt x="82430" y="278820"/>
                    <a:pt x="83069" y="277544"/>
                  </a:cubicBezTo>
                  <a:lnTo>
                    <a:pt x="98405" y="246900"/>
                  </a:lnTo>
                  <a:cubicBezTo>
                    <a:pt x="99683" y="244985"/>
                    <a:pt x="101600" y="243070"/>
                    <a:pt x="104156" y="243708"/>
                  </a:cubicBezTo>
                  <a:lnTo>
                    <a:pt x="258154" y="243708"/>
                  </a:lnTo>
                  <a:cubicBezTo>
                    <a:pt x="260710" y="243708"/>
                    <a:pt x="262626" y="244985"/>
                    <a:pt x="263905" y="246900"/>
                  </a:cubicBezTo>
                  <a:lnTo>
                    <a:pt x="279879" y="278182"/>
                  </a:lnTo>
                  <a:cubicBezTo>
                    <a:pt x="279879" y="280097"/>
                    <a:pt x="279879" y="282651"/>
                    <a:pt x="278602" y="283928"/>
                  </a:cubicBezTo>
                  <a:lnTo>
                    <a:pt x="278602" y="283928"/>
                  </a:lnTo>
                  <a:close/>
                </a:path>
              </a:pathLst>
            </a:custGeom>
            <a:grpFill/>
            <a:ln w="6390" cap="flat">
              <a:noFill/>
              <a:prstDash val="solid"/>
              <a:miter/>
            </a:ln>
          </p:spPr>
          <p:txBody>
            <a:bodyPr rtlCol="0" anchor="ctr"/>
            <a:lstStyle/>
            <a:p>
              <a:endParaRPr lang="en-US"/>
            </a:p>
          </p:txBody>
        </p:sp>
        <p:sp>
          <p:nvSpPr>
            <p:cNvPr id="508" name="Graphic 4">
              <a:extLst>
                <a:ext uri="{FF2B5EF4-FFF2-40B4-BE49-F238E27FC236}">
                  <a16:creationId xmlns:a16="http://schemas.microsoft.com/office/drawing/2014/main" id="{8B6CA416-E58E-31C8-EE90-6B101AF8F552}"/>
                </a:ext>
              </a:extLst>
            </p:cNvPr>
            <p:cNvSpPr/>
            <p:nvPr/>
          </p:nvSpPr>
          <p:spPr>
            <a:xfrm>
              <a:off x="99044" y="256476"/>
              <a:ext cx="163582" cy="18513"/>
            </a:xfrm>
            <a:custGeom>
              <a:avLst/>
              <a:gdLst>
                <a:gd name="connsiteX0" fmla="*/ 8946 w 163582"/>
                <a:gd name="connsiteY0" fmla="*/ 0 h 18513"/>
                <a:gd name="connsiteX1" fmla="*/ 0 w 163582"/>
                <a:gd name="connsiteY1" fmla="*/ 18514 h 18513"/>
                <a:gd name="connsiteX2" fmla="*/ 163582 w 163582"/>
                <a:gd name="connsiteY2" fmla="*/ 18514 h 18513"/>
                <a:gd name="connsiteX3" fmla="*/ 154637 w 163582"/>
                <a:gd name="connsiteY3" fmla="*/ 0 h 18513"/>
              </a:gdLst>
              <a:ahLst/>
              <a:cxnLst>
                <a:cxn ang="0">
                  <a:pos x="connsiteX0" y="connsiteY0"/>
                </a:cxn>
                <a:cxn ang="0">
                  <a:pos x="connsiteX1" y="connsiteY1"/>
                </a:cxn>
                <a:cxn ang="0">
                  <a:pos x="connsiteX2" y="connsiteY2"/>
                </a:cxn>
                <a:cxn ang="0">
                  <a:pos x="connsiteX3" y="connsiteY3"/>
                </a:cxn>
              </a:cxnLst>
              <a:rect l="l" t="t" r="r" b="b"/>
              <a:pathLst>
                <a:path w="163582" h="18513">
                  <a:moveTo>
                    <a:pt x="8946" y="0"/>
                  </a:moveTo>
                  <a:lnTo>
                    <a:pt x="0" y="18514"/>
                  </a:lnTo>
                  <a:lnTo>
                    <a:pt x="163582" y="18514"/>
                  </a:lnTo>
                  <a:lnTo>
                    <a:pt x="154637" y="0"/>
                  </a:lnTo>
                  <a:close/>
                </a:path>
              </a:pathLst>
            </a:custGeom>
            <a:grpFill/>
            <a:ln w="6390" cap="flat">
              <a:noFill/>
              <a:prstDash val="solid"/>
              <a:miter/>
            </a:ln>
          </p:spPr>
          <p:txBody>
            <a:bodyPr rtlCol="0" anchor="ctr"/>
            <a:lstStyle/>
            <a:p>
              <a:endParaRPr lang="en-US"/>
            </a:p>
          </p:txBody>
        </p:sp>
        <p:sp>
          <p:nvSpPr>
            <p:cNvPr id="509" name="Graphic 4">
              <a:extLst>
                <a:ext uri="{FF2B5EF4-FFF2-40B4-BE49-F238E27FC236}">
                  <a16:creationId xmlns:a16="http://schemas.microsoft.com/office/drawing/2014/main" id="{BB0166A0-8BEF-7EBD-4CDD-704D63F3DEB7}"/>
                </a:ext>
              </a:extLst>
            </p:cNvPr>
            <p:cNvSpPr/>
            <p:nvPr/>
          </p:nvSpPr>
          <p:spPr>
            <a:xfrm>
              <a:off x="121409" y="88577"/>
              <a:ext cx="118852" cy="32558"/>
            </a:xfrm>
            <a:custGeom>
              <a:avLst/>
              <a:gdLst>
                <a:gd name="connsiteX0" fmla="*/ 59427 w 118852"/>
                <a:gd name="connsiteY0" fmla="*/ 0 h 32558"/>
                <a:gd name="connsiteX1" fmla="*/ 0 w 118852"/>
                <a:gd name="connsiteY1" fmla="*/ 32558 h 32558"/>
                <a:gd name="connsiteX2" fmla="*/ 118853 w 118852"/>
                <a:gd name="connsiteY2" fmla="*/ 32558 h 32558"/>
              </a:gdLst>
              <a:ahLst/>
              <a:cxnLst>
                <a:cxn ang="0">
                  <a:pos x="connsiteX0" y="connsiteY0"/>
                </a:cxn>
                <a:cxn ang="0">
                  <a:pos x="connsiteX1" y="connsiteY1"/>
                </a:cxn>
                <a:cxn ang="0">
                  <a:pos x="connsiteX2" y="connsiteY2"/>
                </a:cxn>
              </a:cxnLst>
              <a:rect l="l" t="t" r="r" b="b"/>
              <a:pathLst>
                <a:path w="118852" h="32558">
                  <a:moveTo>
                    <a:pt x="59427" y="0"/>
                  </a:moveTo>
                  <a:lnTo>
                    <a:pt x="0" y="32558"/>
                  </a:lnTo>
                  <a:lnTo>
                    <a:pt x="118853" y="32558"/>
                  </a:lnTo>
                  <a:close/>
                </a:path>
              </a:pathLst>
            </a:custGeom>
            <a:grpFill/>
            <a:ln w="6390" cap="flat">
              <a:noFill/>
              <a:prstDash val="solid"/>
              <a:miter/>
            </a:ln>
          </p:spPr>
          <p:txBody>
            <a:bodyPr rtlCol="0" anchor="ctr"/>
            <a:lstStyle/>
            <a:p>
              <a:endParaRPr lang="en-US"/>
            </a:p>
          </p:txBody>
        </p:sp>
      </p:grpSp>
      <p:sp>
        <p:nvSpPr>
          <p:cNvPr id="510" name="TextBox 509">
            <a:extLst>
              <a:ext uri="{FF2B5EF4-FFF2-40B4-BE49-F238E27FC236}">
                <a16:creationId xmlns:a16="http://schemas.microsoft.com/office/drawing/2014/main" id="{30E45BD8-6BAA-73AE-BD00-EAC92496FC6F}"/>
              </a:ext>
            </a:extLst>
          </p:cNvPr>
          <p:cNvSpPr txBox="1"/>
          <p:nvPr/>
        </p:nvSpPr>
        <p:spPr>
          <a:xfrm>
            <a:off x="7150132" y="4019865"/>
            <a:ext cx="4109131" cy="332348"/>
          </a:xfrm>
          <a:prstGeom prst="rect">
            <a:avLst/>
          </a:prstGeom>
          <a:noFill/>
        </p:spPr>
        <p:txBody>
          <a:bodyPr wrap="square">
            <a:spAutoFit/>
          </a:bodyPr>
          <a:lstStyle/>
          <a:p>
            <a:pPr>
              <a:lnSpc>
                <a:spcPct val="125000"/>
              </a:lnSpc>
            </a:pPr>
            <a:r>
              <a:rPr lang="en-US" sz="1400">
                <a:latin typeface="Arial" panose="020B0604020202020204" pitchFamily="34" charset="0"/>
                <a:cs typeface="Arial" panose="020B0604020202020204" pitchFamily="34" charset="0"/>
              </a:rPr>
              <a:t>GRID EXPANSION &amp; MODERNIZATION</a:t>
            </a:r>
          </a:p>
        </p:txBody>
      </p:sp>
      <p:sp>
        <p:nvSpPr>
          <p:cNvPr id="511" name="TextBox 510">
            <a:extLst>
              <a:ext uri="{FF2B5EF4-FFF2-40B4-BE49-F238E27FC236}">
                <a16:creationId xmlns:a16="http://schemas.microsoft.com/office/drawing/2014/main" id="{8104B1FE-4C56-7503-18F1-8B32ECCE6474}"/>
              </a:ext>
            </a:extLst>
          </p:cNvPr>
          <p:cNvSpPr txBox="1"/>
          <p:nvPr/>
        </p:nvSpPr>
        <p:spPr>
          <a:xfrm>
            <a:off x="7132183" y="4496676"/>
            <a:ext cx="4132748" cy="335156"/>
          </a:xfrm>
          <a:prstGeom prst="rect">
            <a:avLst/>
          </a:prstGeom>
          <a:noFill/>
        </p:spPr>
        <p:txBody>
          <a:bodyPr wrap="square">
            <a:spAutoFit/>
          </a:bodyPr>
          <a:lstStyle/>
          <a:p>
            <a:pPr>
              <a:lnSpc>
                <a:spcPct val="125000"/>
              </a:lnSpc>
            </a:pPr>
            <a:r>
              <a:rPr lang="en-US" sz="1400">
                <a:latin typeface="Arial" panose="020B0604020202020204" pitchFamily="34" charset="0"/>
                <a:cs typeface="Arial" panose="020B0604020202020204" pitchFamily="34" charset="0"/>
              </a:rPr>
              <a:t>FOCUS ON OTHER RENEWABLES</a:t>
            </a:r>
          </a:p>
        </p:txBody>
      </p:sp>
      <p:sp>
        <p:nvSpPr>
          <p:cNvPr id="512" name="TextBox 511">
            <a:extLst>
              <a:ext uri="{FF2B5EF4-FFF2-40B4-BE49-F238E27FC236}">
                <a16:creationId xmlns:a16="http://schemas.microsoft.com/office/drawing/2014/main" id="{E5A24F6F-6FF4-B3F9-E6C0-8990A7191119}"/>
              </a:ext>
            </a:extLst>
          </p:cNvPr>
          <p:cNvSpPr txBox="1"/>
          <p:nvPr/>
        </p:nvSpPr>
        <p:spPr>
          <a:xfrm>
            <a:off x="7158700" y="4986522"/>
            <a:ext cx="4132748" cy="307777"/>
          </a:xfrm>
          <a:prstGeom prst="rect">
            <a:avLst/>
          </a:prstGeom>
          <a:noFill/>
        </p:spPr>
        <p:txBody>
          <a:bodyPr wrap="square">
            <a:spAutoFit/>
          </a:bodyPr>
          <a:lstStyle/>
          <a:p>
            <a:r>
              <a:rPr lang="en-US" sz="1400">
                <a:latin typeface="Arial" panose="020B0604020202020204" pitchFamily="34" charset="0"/>
                <a:cs typeface="Arial" panose="020B0604020202020204" pitchFamily="34" charset="0"/>
              </a:rPr>
              <a:t>POLICY AND REGULATORY REFORMS</a:t>
            </a:r>
          </a:p>
        </p:txBody>
      </p:sp>
      <p:grpSp>
        <p:nvGrpSpPr>
          <p:cNvPr id="513" name="Group 512">
            <a:extLst>
              <a:ext uri="{FF2B5EF4-FFF2-40B4-BE49-F238E27FC236}">
                <a16:creationId xmlns:a16="http://schemas.microsoft.com/office/drawing/2014/main" id="{1FD5DC62-BFA2-5558-A91F-879D55C5452C}"/>
              </a:ext>
            </a:extLst>
          </p:cNvPr>
          <p:cNvGrpSpPr/>
          <p:nvPr/>
        </p:nvGrpSpPr>
        <p:grpSpPr>
          <a:xfrm>
            <a:off x="6740597" y="4039876"/>
            <a:ext cx="361928" cy="361933"/>
            <a:chOff x="0" y="0"/>
            <a:chExt cx="362309" cy="361971"/>
          </a:xfrm>
          <a:solidFill>
            <a:schemeClr val="bg2">
              <a:lumMod val="25000"/>
            </a:schemeClr>
          </a:solidFill>
        </p:grpSpPr>
        <p:sp>
          <p:nvSpPr>
            <p:cNvPr id="514" name="Graphic 4">
              <a:extLst>
                <a:ext uri="{FF2B5EF4-FFF2-40B4-BE49-F238E27FC236}">
                  <a16:creationId xmlns:a16="http://schemas.microsoft.com/office/drawing/2014/main" id="{60D5A044-9A71-F092-8AA9-830FF743BE8F}"/>
                </a:ext>
              </a:extLst>
            </p:cNvPr>
            <p:cNvSpPr/>
            <p:nvPr/>
          </p:nvSpPr>
          <p:spPr>
            <a:xfrm>
              <a:off x="166777" y="148108"/>
              <a:ext cx="5750" cy="9575"/>
            </a:xfrm>
            <a:custGeom>
              <a:avLst/>
              <a:gdLst>
                <a:gd name="connsiteX0" fmla="*/ 0 w 5750"/>
                <a:gd name="connsiteY0" fmla="*/ 9576 h 9575"/>
                <a:gd name="connsiteX1" fmla="*/ 5751 w 5750"/>
                <a:gd name="connsiteY1" fmla="*/ 3830 h 9575"/>
                <a:gd name="connsiteX2" fmla="*/ 1917 w 5750"/>
                <a:gd name="connsiteY2" fmla="*/ 0 h 9575"/>
              </a:gdLst>
              <a:ahLst/>
              <a:cxnLst>
                <a:cxn ang="0">
                  <a:pos x="connsiteX0" y="connsiteY0"/>
                </a:cxn>
                <a:cxn ang="0">
                  <a:pos x="connsiteX1" y="connsiteY1"/>
                </a:cxn>
                <a:cxn ang="0">
                  <a:pos x="connsiteX2" y="connsiteY2"/>
                </a:cxn>
              </a:cxnLst>
              <a:rect l="l" t="t" r="r" b="b"/>
              <a:pathLst>
                <a:path w="5750" h="9575">
                  <a:moveTo>
                    <a:pt x="0" y="9576"/>
                  </a:moveTo>
                  <a:lnTo>
                    <a:pt x="5751" y="3830"/>
                  </a:lnTo>
                  <a:lnTo>
                    <a:pt x="1917" y="0"/>
                  </a:lnTo>
                  <a:close/>
                </a:path>
              </a:pathLst>
            </a:custGeom>
            <a:grpFill/>
            <a:ln w="6390" cap="flat">
              <a:noFill/>
              <a:prstDash val="solid"/>
              <a:miter/>
            </a:ln>
          </p:spPr>
          <p:txBody>
            <a:bodyPr rtlCol="0" anchor="ctr"/>
            <a:lstStyle/>
            <a:p>
              <a:endParaRPr lang="en-US"/>
            </a:p>
          </p:txBody>
        </p:sp>
        <p:sp>
          <p:nvSpPr>
            <p:cNvPr id="515" name="Graphic 4">
              <a:extLst>
                <a:ext uri="{FF2B5EF4-FFF2-40B4-BE49-F238E27FC236}">
                  <a16:creationId xmlns:a16="http://schemas.microsoft.com/office/drawing/2014/main" id="{CA53A24E-B888-4EE1-B106-EFEEEDCC3B54}"/>
                </a:ext>
              </a:extLst>
            </p:cNvPr>
            <p:cNvSpPr/>
            <p:nvPr/>
          </p:nvSpPr>
          <p:spPr>
            <a:xfrm>
              <a:off x="191059" y="200457"/>
              <a:ext cx="20447" cy="33196"/>
            </a:xfrm>
            <a:custGeom>
              <a:avLst/>
              <a:gdLst>
                <a:gd name="connsiteX0" fmla="*/ 12780 w 20447"/>
                <a:gd name="connsiteY0" fmla="*/ 0 h 33196"/>
                <a:gd name="connsiteX1" fmla="*/ 0 w 20447"/>
                <a:gd name="connsiteY1" fmla="*/ 13406 h 33196"/>
                <a:gd name="connsiteX2" fmla="*/ 20448 w 20447"/>
                <a:gd name="connsiteY2" fmla="*/ 33197 h 33196"/>
              </a:gdLst>
              <a:ahLst/>
              <a:cxnLst>
                <a:cxn ang="0">
                  <a:pos x="connsiteX0" y="connsiteY0"/>
                </a:cxn>
                <a:cxn ang="0">
                  <a:pos x="connsiteX1" y="connsiteY1"/>
                </a:cxn>
                <a:cxn ang="0">
                  <a:pos x="connsiteX2" y="connsiteY2"/>
                </a:cxn>
              </a:cxnLst>
              <a:rect l="l" t="t" r="r" b="b"/>
              <a:pathLst>
                <a:path w="20447" h="33196">
                  <a:moveTo>
                    <a:pt x="12780" y="0"/>
                  </a:moveTo>
                  <a:lnTo>
                    <a:pt x="0" y="13406"/>
                  </a:lnTo>
                  <a:lnTo>
                    <a:pt x="20448" y="33197"/>
                  </a:lnTo>
                  <a:close/>
                </a:path>
              </a:pathLst>
            </a:custGeom>
            <a:grpFill/>
            <a:ln w="6390" cap="flat">
              <a:noFill/>
              <a:prstDash val="solid"/>
              <a:miter/>
            </a:ln>
          </p:spPr>
          <p:txBody>
            <a:bodyPr rtlCol="0" anchor="ctr"/>
            <a:lstStyle/>
            <a:p>
              <a:endParaRPr lang="en-US"/>
            </a:p>
          </p:txBody>
        </p:sp>
        <p:sp>
          <p:nvSpPr>
            <p:cNvPr id="516" name="Graphic 4">
              <a:extLst>
                <a:ext uri="{FF2B5EF4-FFF2-40B4-BE49-F238E27FC236}">
                  <a16:creationId xmlns:a16="http://schemas.microsoft.com/office/drawing/2014/main" id="{82038254-866D-76C5-1456-435FDAC9799F}"/>
                </a:ext>
              </a:extLst>
            </p:cNvPr>
            <p:cNvSpPr/>
            <p:nvPr/>
          </p:nvSpPr>
          <p:spPr>
            <a:xfrm>
              <a:off x="162943" y="185135"/>
              <a:ext cx="37700" cy="19151"/>
            </a:xfrm>
            <a:custGeom>
              <a:avLst/>
              <a:gdLst>
                <a:gd name="connsiteX0" fmla="*/ 0 w 37700"/>
                <a:gd name="connsiteY0" fmla="*/ 0 h 19151"/>
                <a:gd name="connsiteX1" fmla="*/ 19170 w 37700"/>
                <a:gd name="connsiteY1" fmla="*/ 19152 h 19151"/>
                <a:gd name="connsiteX2" fmla="*/ 37701 w 37700"/>
                <a:gd name="connsiteY2" fmla="*/ 0 h 19151"/>
              </a:gdLst>
              <a:ahLst/>
              <a:cxnLst>
                <a:cxn ang="0">
                  <a:pos x="connsiteX0" y="connsiteY0"/>
                </a:cxn>
                <a:cxn ang="0">
                  <a:pos x="connsiteX1" y="connsiteY1"/>
                </a:cxn>
                <a:cxn ang="0">
                  <a:pos x="connsiteX2" y="connsiteY2"/>
                </a:cxn>
              </a:cxnLst>
              <a:rect l="l" t="t" r="r" b="b"/>
              <a:pathLst>
                <a:path w="37700" h="19151">
                  <a:moveTo>
                    <a:pt x="0" y="0"/>
                  </a:moveTo>
                  <a:lnTo>
                    <a:pt x="19170" y="19152"/>
                  </a:lnTo>
                  <a:lnTo>
                    <a:pt x="37701" y="0"/>
                  </a:lnTo>
                  <a:close/>
                </a:path>
              </a:pathLst>
            </a:custGeom>
            <a:grpFill/>
            <a:ln w="6390" cap="flat">
              <a:noFill/>
              <a:prstDash val="solid"/>
              <a:miter/>
            </a:ln>
          </p:spPr>
          <p:txBody>
            <a:bodyPr rtlCol="0" anchor="ctr"/>
            <a:lstStyle/>
            <a:p>
              <a:endParaRPr lang="en-US"/>
            </a:p>
          </p:txBody>
        </p:sp>
        <p:sp>
          <p:nvSpPr>
            <p:cNvPr id="517" name="Graphic 4">
              <a:extLst>
                <a:ext uri="{FF2B5EF4-FFF2-40B4-BE49-F238E27FC236}">
                  <a16:creationId xmlns:a16="http://schemas.microsoft.com/office/drawing/2014/main" id="{1520F0CE-6B65-6FDE-4DDF-9E2CD0656F14}"/>
                </a:ext>
              </a:extLst>
            </p:cNvPr>
            <p:cNvSpPr/>
            <p:nvPr/>
          </p:nvSpPr>
          <p:spPr>
            <a:xfrm>
              <a:off x="150802" y="199180"/>
              <a:ext cx="22364" cy="37027"/>
            </a:xfrm>
            <a:custGeom>
              <a:avLst/>
              <a:gdLst>
                <a:gd name="connsiteX0" fmla="*/ 7668 w 22364"/>
                <a:gd name="connsiteY0" fmla="*/ 0 h 37027"/>
                <a:gd name="connsiteX1" fmla="*/ 0 w 22364"/>
                <a:gd name="connsiteY1" fmla="*/ 37027 h 37027"/>
                <a:gd name="connsiteX2" fmla="*/ 22365 w 22364"/>
                <a:gd name="connsiteY2" fmla="*/ 14683 h 37027"/>
              </a:gdLst>
              <a:ahLst/>
              <a:cxnLst>
                <a:cxn ang="0">
                  <a:pos x="connsiteX0" y="connsiteY0"/>
                </a:cxn>
                <a:cxn ang="0">
                  <a:pos x="connsiteX1" y="connsiteY1"/>
                </a:cxn>
                <a:cxn ang="0">
                  <a:pos x="connsiteX2" y="connsiteY2"/>
                </a:cxn>
              </a:cxnLst>
              <a:rect l="l" t="t" r="r" b="b"/>
              <a:pathLst>
                <a:path w="22364" h="37027">
                  <a:moveTo>
                    <a:pt x="7668" y="0"/>
                  </a:moveTo>
                  <a:lnTo>
                    <a:pt x="0" y="37027"/>
                  </a:lnTo>
                  <a:lnTo>
                    <a:pt x="22365" y="14683"/>
                  </a:lnTo>
                  <a:close/>
                </a:path>
              </a:pathLst>
            </a:custGeom>
            <a:grpFill/>
            <a:ln w="6390" cap="flat">
              <a:noFill/>
              <a:prstDash val="solid"/>
              <a:miter/>
            </a:ln>
          </p:spPr>
          <p:txBody>
            <a:bodyPr rtlCol="0" anchor="ctr"/>
            <a:lstStyle/>
            <a:p>
              <a:endParaRPr lang="en-US"/>
            </a:p>
          </p:txBody>
        </p:sp>
        <p:sp>
          <p:nvSpPr>
            <p:cNvPr id="518" name="Graphic 4">
              <a:extLst>
                <a:ext uri="{FF2B5EF4-FFF2-40B4-BE49-F238E27FC236}">
                  <a16:creationId xmlns:a16="http://schemas.microsoft.com/office/drawing/2014/main" id="{995EA691-573D-1BA9-5241-31F4C443DF6E}"/>
                </a:ext>
              </a:extLst>
            </p:cNvPr>
            <p:cNvSpPr/>
            <p:nvPr/>
          </p:nvSpPr>
          <p:spPr>
            <a:xfrm>
              <a:off x="207034" y="150662"/>
              <a:ext cx="45368" cy="21705"/>
            </a:xfrm>
            <a:custGeom>
              <a:avLst/>
              <a:gdLst>
                <a:gd name="connsiteX0" fmla="*/ 45368 w 45368"/>
                <a:gd name="connsiteY0" fmla="*/ 21706 h 21705"/>
                <a:gd name="connsiteX1" fmla="*/ 0 w 45368"/>
                <a:gd name="connsiteY1" fmla="*/ 0 h 21705"/>
                <a:gd name="connsiteX2" fmla="*/ 4473 w 45368"/>
                <a:gd name="connsiteY2" fmla="*/ 21706 h 21705"/>
              </a:gdLst>
              <a:ahLst/>
              <a:cxnLst>
                <a:cxn ang="0">
                  <a:pos x="connsiteX0" y="connsiteY0"/>
                </a:cxn>
                <a:cxn ang="0">
                  <a:pos x="connsiteX1" y="connsiteY1"/>
                </a:cxn>
                <a:cxn ang="0">
                  <a:pos x="connsiteX2" y="connsiteY2"/>
                </a:cxn>
              </a:cxnLst>
              <a:rect l="l" t="t" r="r" b="b"/>
              <a:pathLst>
                <a:path w="45368" h="21705">
                  <a:moveTo>
                    <a:pt x="45368" y="21706"/>
                  </a:moveTo>
                  <a:lnTo>
                    <a:pt x="0" y="0"/>
                  </a:lnTo>
                  <a:lnTo>
                    <a:pt x="4473" y="21706"/>
                  </a:lnTo>
                  <a:close/>
                </a:path>
              </a:pathLst>
            </a:custGeom>
            <a:grpFill/>
            <a:ln w="6390" cap="flat">
              <a:noFill/>
              <a:prstDash val="solid"/>
              <a:miter/>
            </a:ln>
          </p:spPr>
          <p:txBody>
            <a:bodyPr rtlCol="0" anchor="ctr"/>
            <a:lstStyle/>
            <a:p>
              <a:endParaRPr lang="en-US"/>
            </a:p>
          </p:txBody>
        </p:sp>
        <p:sp>
          <p:nvSpPr>
            <p:cNvPr id="519" name="Graphic 4">
              <a:extLst>
                <a:ext uri="{FF2B5EF4-FFF2-40B4-BE49-F238E27FC236}">
                  <a16:creationId xmlns:a16="http://schemas.microsoft.com/office/drawing/2014/main" id="{2726FF05-0F97-5FC6-D47E-511C62B1BEF1}"/>
                </a:ext>
              </a:extLst>
            </p:cNvPr>
            <p:cNvSpPr/>
            <p:nvPr/>
          </p:nvSpPr>
          <p:spPr>
            <a:xfrm>
              <a:off x="191059" y="148747"/>
              <a:ext cx="3833" cy="7022"/>
            </a:xfrm>
            <a:custGeom>
              <a:avLst/>
              <a:gdLst>
                <a:gd name="connsiteX0" fmla="*/ 0 w 3833"/>
                <a:gd name="connsiteY0" fmla="*/ 3192 h 7022"/>
                <a:gd name="connsiteX1" fmla="*/ 3834 w 3833"/>
                <a:gd name="connsiteY1" fmla="*/ 7022 h 7022"/>
                <a:gd name="connsiteX2" fmla="*/ 2556 w 3833"/>
                <a:gd name="connsiteY2" fmla="*/ 0 h 7022"/>
              </a:gdLst>
              <a:ahLst/>
              <a:cxnLst>
                <a:cxn ang="0">
                  <a:pos x="connsiteX0" y="connsiteY0"/>
                </a:cxn>
                <a:cxn ang="0">
                  <a:pos x="connsiteX1" y="connsiteY1"/>
                </a:cxn>
                <a:cxn ang="0">
                  <a:pos x="connsiteX2" y="connsiteY2"/>
                </a:cxn>
              </a:cxnLst>
              <a:rect l="l" t="t" r="r" b="b"/>
              <a:pathLst>
                <a:path w="3833" h="7022">
                  <a:moveTo>
                    <a:pt x="0" y="3192"/>
                  </a:moveTo>
                  <a:lnTo>
                    <a:pt x="3834" y="7022"/>
                  </a:lnTo>
                  <a:lnTo>
                    <a:pt x="2556" y="0"/>
                  </a:lnTo>
                  <a:close/>
                </a:path>
              </a:pathLst>
            </a:custGeom>
            <a:grpFill/>
            <a:ln w="6390" cap="flat">
              <a:noFill/>
              <a:prstDash val="solid"/>
              <a:miter/>
            </a:ln>
          </p:spPr>
          <p:txBody>
            <a:bodyPr rtlCol="0" anchor="ctr"/>
            <a:lstStyle/>
            <a:p>
              <a:endParaRPr lang="en-US"/>
            </a:p>
          </p:txBody>
        </p:sp>
        <p:sp>
          <p:nvSpPr>
            <p:cNvPr id="520" name="Graphic 4">
              <a:extLst>
                <a:ext uri="{FF2B5EF4-FFF2-40B4-BE49-F238E27FC236}">
                  <a16:creationId xmlns:a16="http://schemas.microsoft.com/office/drawing/2014/main" id="{9416EBE7-1118-FC1B-A5B7-DDC7C6CF90F2}"/>
                </a:ext>
              </a:extLst>
            </p:cNvPr>
            <p:cNvSpPr/>
            <p:nvPr/>
          </p:nvSpPr>
          <p:spPr>
            <a:xfrm>
              <a:off x="169972" y="160876"/>
              <a:ext cx="23642" cy="11491"/>
            </a:xfrm>
            <a:custGeom>
              <a:avLst/>
              <a:gdLst>
                <a:gd name="connsiteX0" fmla="*/ 23643 w 23642"/>
                <a:gd name="connsiteY0" fmla="*/ 11491 h 11491"/>
                <a:gd name="connsiteX1" fmla="*/ 11502 w 23642"/>
                <a:gd name="connsiteY1" fmla="*/ 0 h 11491"/>
                <a:gd name="connsiteX2" fmla="*/ 0 w 23642"/>
                <a:gd name="connsiteY2" fmla="*/ 11491 h 11491"/>
              </a:gdLst>
              <a:ahLst/>
              <a:cxnLst>
                <a:cxn ang="0">
                  <a:pos x="connsiteX0" y="connsiteY0"/>
                </a:cxn>
                <a:cxn ang="0">
                  <a:pos x="connsiteX1" y="connsiteY1"/>
                </a:cxn>
                <a:cxn ang="0">
                  <a:pos x="connsiteX2" y="connsiteY2"/>
                </a:cxn>
              </a:cxnLst>
              <a:rect l="l" t="t" r="r" b="b"/>
              <a:pathLst>
                <a:path w="23642" h="11491">
                  <a:moveTo>
                    <a:pt x="23643" y="11491"/>
                  </a:moveTo>
                  <a:lnTo>
                    <a:pt x="11502" y="0"/>
                  </a:lnTo>
                  <a:lnTo>
                    <a:pt x="0" y="11491"/>
                  </a:lnTo>
                  <a:close/>
                </a:path>
              </a:pathLst>
            </a:custGeom>
            <a:grpFill/>
            <a:ln w="6390" cap="flat">
              <a:noFill/>
              <a:prstDash val="solid"/>
              <a:miter/>
            </a:ln>
          </p:spPr>
          <p:txBody>
            <a:bodyPr rtlCol="0" anchor="ctr"/>
            <a:lstStyle/>
            <a:p>
              <a:endParaRPr lang="en-US"/>
            </a:p>
          </p:txBody>
        </p:sp>
        <p:sp>
          <p:nvSpPr>
            <p:cNvPr id="523" name="Graphic 4">
              <a:extLst>
                <a:ext uri="{FF2B5EF4-FFF2-40B4-BE49-F238E27FC236}">
                  <a16:creationId xmlns:a16="http://schemas.microsoft.com/office/drawing/2014/main" id="{3064C1DB-9F75-C4C2-A877-3F23792E51DC}"/>
                </a:ext>
              </a:extLst>
            </p:cNvPr>
            <p:cNvSpPr/>
            <p:nvPr/>
          </p:nvSpPr>
          <p:spPr>
            <a:xfrm>
              <a:off x="171889" y="128318"/>
              <a:ext cx="18530" cy="14044"/>
            </a:xfrm>
            <a:custGeom>
              <a:avLst/>
              <a:gdLst>
                <a:gd name="connsiteX0" fmla="*/ 9585 w 18530"/>
                <a:gd name="connsiteY0" fmla="*/ 14045 h 14044"/>
                <a:gd name="connsiteX1" fmla="*/ 18531 w 18530"/>
                <a:gd name="connsiteY1" fmla="*/ 5746 h 14044"/>
                <a:gd name="connsiteX2" fmla="*/ 17253 w 18530"/>
                <a:gd name="connsiteY2" fmla="*/ 0 h 14044"/>
                <a:gd name="connsiteX3" fmla="*/ 1278 w 18530"/>
                <a:gd name="connsiteY3" fmla="*/ 0 h 14044"/>
                <a:gd name="connsiteX4" fmla="*/ 0 w 18530"/>
                <a:gd name="connsiteY4" fmla="*/ 4469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30" h="14044">
                  <a:moveTo>
                    <a:pt x="9585" y="14045"/>
                  </a:moveTo>
                  <a:lnTo>
                    <a:pt x="18531" y="5746"/>
                  </a:lnTo>
                  <a:lnTo>
                    <a:pt x="17253" y="0"/>
                  </a:lnTo>
                  <a:lnTo>
                    <a:pt x="1278" y="0"/>
                  </a:lnTo>
                  <a:lnTo>
                    <a:pt x="0" y="4469"/>
                  </a:lnTo>
                  <a:close/>
                </a:path>
              </a:pathLst>
            </a:custGeom>
            <a:grpFill/>
            <a:ln w="6390" cap="flat">
              <a:noFill/>
              <a:prstDash val="solid"/>
              <a:miter/>
            </a:ln>
          </p:spPr>
          <p:txBody>
            <a:bodyPr rtlCol="0" anchor="ctr"/>
            <a:lstStyle/>
            <a:p>
              <a:endParaRPr lang="en-US"/>
            </a:p>
          </p:txBody>
        </p:sp>
        <p:sp>
          <p:nvSpPr>
            <p:cNvPr id="524" name="Graphic 4">
              <a:extLst>
                <a:ext uri="{FF2B5EF4-FFF2-40B4-BE49-F238E27FC236}">
                  <a16:creationId xmlns:a16="http://schemas.microsoft.com/office/drawing/2014/main" id="{4BCBBF75-8C73-A435-5131-A5A2303CC75C}"/>
                </a:ext>
              </a:extLst>
            </p:cNvPr>
            <p:cNvSpPr/>
            <p:nvPr/>
          </p:nvSpPr>
          <p:spPr>
            <a:xfrm>
              <a:off x="141217" y="222801"/>
              <a:ext cx="79874" cy="59370"/>
            </a:xfrm>
            <a:custGeom>
              <a:avLst/>
              <a:gdLst>
                <a:gd name="connsiteX0" fmla="*/ 40896 w 79874"/>
                <a:gd name="connsiteY0" fmla="*/ 0 h 59370"/>
                <a:gd name="connsiteX1" fmla="*/ 4473 w 79874"/>
                <a:gd name="connsiteY1" fmla="*/ 36389 h 59370"/>
                <a:gd name="connsiteX2" fmla="*/ 0 w 79874"/>
                <a:gd name="connsiteY2" fmla="*/ 59371 h 59370"/>
                <a:gd name="connsiteX3" fmla="*/ 12141 w 79874"/>
                <a:gd name="connsiteY3" fmla="*/ 59371 h 59370"/>
                <a:gd name="connsiteX4" fmla="*/ 67733 w 79874"/>
                <a:gd name="connsiteY4" fmla="*/ 59371 h 59370"/>
                <a:gd name="connsiteX5" fmla="*/ 79874 w 79874"/>
                <a:gd name="connsiteY5" fmla="*/ 59371 h 59370"/>
                <a:gd name="connsiteX6" fmla="*/ 74762 w 79874"/>
                <a:gd name="connsiteY6" fmla="*/ 33835 h 5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74" h="59370">
                  <a:moveTo>
                    <a:pt x="40896" y="0"/>
                  </a:moveTo>
                  <a:lnTo>
                    <a:pt x="4473" y="36389"/>
                  </a:lnTo>
                  <a:lnTo>
                    <a:pt x="0" y="59371"/>
                  </a:lnTo>
                  <a:lnTo>
                    <a:pt x="12141" y="59371"/>
                  </a:lnTo>
                  <a:lnTo>
                    <a:pt x="67733" y="59371"/>
                  </a:lnTo>
                  <a:lnTo>
                    <a:pt x="79874" y="59371"/>
                  </a:lnTo>
                  <a:lnTo>
                    <a:pt x="74762" y="33835"/>
                  </a:lnTo>
                  <a:close/>
                </a:path>
              </a:pathLst>
            </a:custGeom>
            <a:grpFill/>
            <a:ln w="6390" cap="flat">
              <a:noFill/>
              <a:prstDash val="solid"/>
              <a:miter/>
            </a:ln>
          </p:spPr>
          <p:txBody>
            <a:bodyPr rtlCol="0" anchor="ctr"/>
            <a:lstStyle/>
            <a:p>
              <a:endParaRPr lang="en-US"/>
            </a:p>
          </p:txBody>
        </p:sp>
        <p:sp>
          <p:nvSpPr>
            <p:cNvPr id="525" name="Graphic 4">
              <a:extLst>
                <a:ext uri="{FF2B5EF4-FFF2-40B4-BE49-F238E27FC236}">
                  <a16:creationId xmlns:a16="http://schemas.microsoft.com/office/drawing/2014/main" id="{F11B649D-4156-CF08-3D77-FC8E27446103}"/>
                </a:ext>
              </a:extLst>
            </p:cNvPr>
            <p:cNvSpPr/>
            <p:nvPr/>
          </p:nvSpPr>
          <p:spPr>
            <a:xfrm>
              <a:off x="0" y="0"/>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86269 w 362309"/>
                <a:gd name="connsiteY6" fmla="*/ 194711 h 361971"/>
                <a:gd name="connsiteX7" fmla="*/ 279879 w 362309"/>
                <a:gd name="connsiteY7" fmla="*/ 201095 h 361971"/>
                <a:gd name="connsiteX8" fmla="*/ 273489 w 362309"/>
                <a:gd name="connsiteY8" fmla="*/ 194711 h 361971"/>
                <a:gd name="connsiteX9" fmla="*/ 273489 w 362309"/>
                <a:gd name="connsiteY9" fmla="*/ 185774 h 361971"/>
                <a:gd name="connsiteX10" fmla="*/ 248569 w 362309"/>
                <a:gd name="connsiteY10" fmla="*/ 185774 h 361971"/>
                <a:gd name="connsiteX11" fmla="*/ 248569 w 362309"/>
                <a:gd name="connsiteY11" fmla="*/ 194711 h 361971"/>
                <a:gd name="connsiteX12" fmla="*/ 242179 w 362309"/>
                <a:gd name="connsiteY12" fmla="*/ 201095 h 361971"/>
                <a:gd name="connsiteX13" fmla="*/ 235789 w 362309"/>
                <a:gd name="connsiteY13" fmla="*/ 194711 h 361971"/>
                <a:gd name="connsiteX14" fmla="*/ 235789 w 362309"/>
                <a:gd name="connsiteY14" fmla="*/ 185774 h 361971"/>
                <a:gd name="connsiteX15" fmla="*/ 214063 w 362309"/>
                <a:gd name="connsiteY15" fmla="*/ 185774 h 361971"/>
                <a:gd name="connsiteX16" fmla="*/ 214063 w 362309"/>
                <a:gd name="connsiteY16" fmla="*/ 187689 h 361971"/>
                <a:gd name="connsiteX17" fmla="*/ 233872 w 362309"/>
                <a:gd name="connsiteY17" fmla="*/ 282172 h 361971"/>
                <a:gd name="connsiteX18" fmla="*/ 249208 w 362309"/>
                <a:gd name="connsiteY18" fmla="*/ 282172 h 361971"/>
                <a:gd name="connsiteX19" fmla="*/ 255597 w 362309"/>
                <a:gd name="connsiteY19" fmla="*/ 288556 h 361971"/>
                <a:gd name="connsiteX20" fmla="*/ 249208 w 362309"/>
                <a:gd name="connsiteY20" fmla="*/ 294940 h 361971"/>
                <a:gd name="connsiteX21" fmla="*/ 112463 w 362309"/>
                <a:gd name="connsiteY21" fmla="*/ 294940 h 361971"/>
                <a:gd name="connsiteX22" fmla="*/ 106073 w 362309"/>
                <a:gd name="connsiteY22" fmla="*/ 288556 h 361971"/>
                <a:gd name="connsiteX23" fmla="*/ 112463 w 362309"/>
                <a:gd name="connsiteY23" fmla="*/ 282172 h 361971"/>
                <a:gd name="connsiteX24" fmla="*/ 127799 w 362309"/>
                <a:gd name="connsiteY24" fmla="*/ 282172 h 361971"/>
                <a:gd name="connsiteX25" fmla="*/ 148247 w 362309"/>
                <a:gd name="connsiteY25" fmla="*/ 185135 h 361971"/>
                <a:gd name="connsiteX26" fmla="*/ 127799 w 362309"/>
                <a:gd name="connsiteY26" fmla="*/ 185135 h 361971"/>
                <a:gd name="connsiteX27" fmla="*/ 127799 w 362309"/>
                <a:gd name="connsiteY27" fmla="*/ 194073 h 361971"/>
                <a:gd name="connsiteX28" fmla="*/ 121409 w 362309"/>
                <a:gd name="connsiteY28" fmla="*/ 200457 h 361971"/>
                <a:gd name="connsiteX29" fmla="*/ 115019 w 362309"/>
                <a:gd name="connsiteY29" fmla="*/ 194073 h 361971"/>
                <a:gd name="connsiteX30" fmla="*/ 115019 w 362309"/>
                <a:gd name="connsiteY30" fmla="*/ 185135 h 361971"/>
                <a:gd name="connsiteX31" fmla="*/ 88820 w 362309"/>
                <a:gd name="connsiteY31" fmla="*/ 185135 h 361971"/>
                <a:gd name="connsiteX32" fmla="*/ 88820 w 362309"/>
                <a:gd name="connsiteY32" fmla="*/ 194073 h 361971"/>
                <a:gd name="connsiteX33" fmla="*/ 82430 w 362309"/>
                <a:gd name="connsiteY33" fmla="*/ 200457 h 361971"/>
                <a:gd name="connsiteX34" fmla="*/ 76040 w 362309"/>
                <a:gd name="connsiteY34" fmla="*/ 194073 h 361971"/>
                <a:gd name="connsiteX35" fmla="*/ 76040 w 362309"/>
                <a:gd name="connsiteY35" fmla="*/ 178752 h 361971"/>
                <a:gd name="connsiteX36" fmla="*/ 76040 w 362309"/>
                <a:gd name="connsiteY36" fmla="*/ 178752 h 361971"/>
                <a:gd name="connsiteX37" fmla="*/ 76040 w 362309"/>
                <a:gd name="connsiteY37" fmla="*/ 178113 h 361971"/>
                <a:gd name="connsiteX38" fmla="*/ 76040 w 362309"/>
                <a:gd name="connsiteY38" fmla="*/ 177475 h 361971"/>
                <a:gd name="connsiteX39" fmla="*/ 76040 w 362309"/>
                <a:gd name="connsiteY39" fmla="*/ 175560 h 361971"/>
                <a:gd name="connsiteX40" fmla="*/ 76679 w 362309"/>
                <a:gd name="connsiteY40" fmla="*/ 174921 h 361971"/>
                <a:gd name="connsiteX41" fmla="*/ 77318 w 362309"/>
                <a:gd name="connsiteY41" fmla="*/ 173644 h 361971"/>
                <a:gd name="connsiteX42" fmla="*/ 77957 w 362309"/>
                <a:gd name="connsiteY42" fmla="*/ 173006 h 361971"/>
                <a:gd name="connsiteX43" fmla="*/ 78596 w 362309"/>
                <a:gd name="connsiteY43" fmla="*/ 172368 h 361971"/>
                <a:gd name="connsiteX44" fmla="*/ 157831 w 362309"/>
                <a:gd name="connsiteY44" fmla="*/ 133425 h 361971"/>
                <a:gd name="connsiteX45" fmla="*/ 159110 w 362309"/>
                <a:gd name="connsiteY45" fmla="*/ 127041 h 361971"/>
                <a:gd name="connsiteX46" fmla="*/ 113102 w 362309"/>
                <a:gd name="connsiteY46" fmla="*/ 127041 h 361971"/>
                <a:gd name="connsiteX47" fmla="*/ 113102 w 362309"/>
                <a:gd name="connsiteY47" fmla="*/ 132148 h 361971"/>
                <a:gd name="connsiteX48" fmla="*/ 106712 w 362309"/>
                <a:gd name="connsiteY48" fmla="*/ 138532 h 361971"/>
                <a:gd name="connsiteX49" fmla="*/ 100322 w 362309"/>
                <a:gd name="connsiteY49" fmla="*/ 132148 h 361971"/>
                <a:gd name="connsiteX50" fmla="*/ 100322 w 362309"/>
                <a:gd name="connsiteY50" fmla="*/ 120657 h 361971"/>
                <a:gd name="connsiteX51" fmla="*/ 100322 w 362309"/>
                <a:gd name="connsiteY51" fmla="*/ 120019 h 361971"/>
                <a:gd name="connsiteX52" fmla="*/ 100961 w 362309"/>
                <a:gd name="connsiteY52" fmla="*/ 118742 h 361971"/>
                <a:gd name="connsiteX53" fmla="*/ 101600 w 362309"/>
                <a:gd name="connsiteY53" fmla="*/ 118104 h 361971"/>
                <a:gd name="connsiteX54" fmla="*/ 102239 w 362309"/>
                <a:gd name="connsiteY54" fmla="*/ 116827 h 361971"/>
                <a:gd name="connsiteX55" fmla="*/ 103517 w 362309"/>
                <a:gd name="connsiteY55" fmla="*/ 116188 h 361971"/>
                <a:gd name="connsiteX56" fmla="*/ 104156 w 362309"/>
                <a:gd name="connsiteY56" fmla="*/ 115550 h 361971"/>
                <a:gd name="connsiteX57" fmla="*/ 168694 w 362309"/>
                <a:gd name="connsiteY57" fmla="*/ 84269 h 361971"/>
                <a:gd name="connsiteX58" fmla="*/ 174445 w 362309"/>
                <a:gd name="connsiteY58" fmla="*/ 57456 h 361971"/>
                <a:gd name="connsiteX59" fmla="*/ 179557 w 362309"/>
                <a:gd name="connsiteY59" fmla="*/ 51710 h 361971"/>
                <a:gd name="connsiteX60" fmla="*/ 184030 w 362309"/>
                <a:gd name="connsiteY60" fmla="*/ 52349 h 361971"/>
                <a:gd name="connsiteX61" fmla="*/ 187864 w 362309"/>
                <a:gd name="connsiteY61" fmla="*/ 58094 h 361971"/>
                <a:gd name="connsiteX62" fmla="*/ 193615 w 362309"/>
                <a:gd name="connsiteY62" fmla="*/ 84269 h 361971"/>
                <a:gd name="connsiteX63" fmla="*/ 257514 w 362309"/>
                <a:gd name="connsiteY63" fmla="*/ 115550 h 361971"/>
                <a:gd name="connsiteX64" fmla="*/ 257514 w 362309"/>
                <a:gd name="connsiteY64" fmla="*/ 115550 h 361971"/>
                <a:gd name="connsiteX65" fmla="*/ 258154 w 362309"/>
                <a:gd name="connsiteY65" fmla="*/ 115550 h 361971"/>
                <a:gd name="connsiteX66" fmla="*/ 258792 w 362309"/>
                <a:gd name="connsiteY66" fmla="*/ 116188 h 361971"/>
                <a:gd name="connsiteX67" fmla="*/ 260070 w 362309"/>
                <a:gd name="connsiteY67" fmla="*/ 117465 h 361971"/>
                <a:gd name="connsiteX68" fmla="*/ 260709 w 362309"/>
                <a:gd name="connsiteY68" fmla="*/ 118104 h 361971"/>
                <a:gd name="connsiteX69" fmla="*/ 261348 w 362309"/>
                <a:gd name="connsiteY69" fmla="*/ 119380 h 361971"/>
                <a:gd name="connsiteX70" fmla="*/ 261348 w 362309"/>
                <a:gd name="connsiteY70" fmla="*/ 120657 h 361971"/>
                <a:gd name="connsiteX71" fmla="*/ 261348 w 362309"/>
                <a:gd name="connsiteY71" fmla="*/ 121934 h 361971"/>
                <a:gd name="connsiteX72" fmla="*/ 261348 w 362309"/>
                <a:gd name="connsiteY72" fmla="*/ 133425 h 361971"/>
                <a:gd name="connsiteX73" fmla="*/ 254959 w 362309"/>
                <a:gd name="connsiteY73" fmla="*/ 139809 h 361971"/>
                <a:gd name="connsiteX74" fmla="*/ 248569 w 362309"/>
                <a:gd name="connsiteY74" fmla="*/ 133425 h 361971"/>
                <a:gd name="connsiteX75" fmla="*/ 248569 w 362309"/>
                <a:gd name="connsiteY75" fmla="*/ 128318 h 361971"/>
                <a:gd name="connsiteX76" fmla="*/ 202561 w 362309"/>
                <a:gd name="connsiteY76" fmla="*/ 128318 h 361971"/>
                <a:gd name="connsiteX77" fmla="*/ 203839 w 362309"/>
                <a:gd name="connsiteY77" fmla="*/ 134702 h 361971"/>
                <a:gd name="connsiteX78" fmla="*/ 283074 w 362309"/>
                <a:gd name="connsiteY78" fmla="*/ 173644 h 361971"/>
                <a:gd name="connsiteX79" fmla="*/ 283713 w 362309"/>
                <a:gd name="connsiteY79" fmla="*/ 174283 h 361971"/>
                <a:gd name="connsiteX80" fmla="*/ 284991 w 362309"/>
                <a:gd name="connsiteY80" fmla="*/ 174921 h 361971"/>
                <a:gd name="connsiteX81" fmla="*/ 285630 w 362309"/>
                <a:gd name="connsiteY81" fmla="*/ 175560 h 361971"/>
                <a:gd name="connsiteX82" fmla="*/ 286269 w 362309"/>
                <a:gd name="connsiteY82" fmla="*/ 176836 h 361971"/>
                <a:gd name="connsiteX83" fmla="*/ 286908 w 362309"/>
                <a:gd name="connsiteY83" fmla="*/ 179390 h 361971"/>
                <a:gd name="connsiteX84" fmla="*/ 286269 w 362309"/>
                <a:gd name="connsiteY84" fmla="*/ 1947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86269" y="194711"/>
                  </a:moveTo>
                  <a:cubicBezTo>
                    <a:pt x="286269" y="198542"/>
                    <a:pt x="283713" y="201095"/>
                    <a:pt x="279879" y="201095"/>
                  </a:cubicBezTo>
                  <a:cubicBezTo>
                    <a:pt x="276045" y="201095"/>
                    <a:pt x="273489" y="198542"/>
                    <a:pt x="273489" y="194711"/>
                  </a:cubicBezTo>
                  <a:lnTo>
                    <a:pt x="273489" y="185774"/>
                  </a:lnTo>
                  <a:lnTo>
                    <a:pt x="248569" y="185774"/>
                  </a:lnTo>
                  <a:lnTo>
                    <a:pt x="248569" y="194711"/>
                  </a:lnTo>
                  <a:cubicBezTo>
                    <a:pt x="248569" y="198542"/>
                    <a:pt x="246013" y="201095"/>
                    <a:pt x="242179" y="201095"/>
                  </a:cubicBezTo>
                  <a:cubicBezTo>
                    <a:pt x="238345" y="201095"/>
                    <a:pt x="235789" y="198542"/>
                    <a:pt x="235789" y="194711"/>
                  </a:cubicBezTo>
                  <a:lnTo>
                    <a:pt x="235789" y="185774"/>
                  </a:lnTo>
                  <a:lnTo>
                    <a:pt x="214063" y="185774"/>
                  </a:lnTo>
                  <a:cubicBezTo>
                    <a:pt x="214063" y="186412"/>
                    <a:pt x="214063" y="187051"/>
                    <a:pt x="214063" y="187689"/>
                  </a:cubicBezTo>
                  <a:lnTo>
                    <a:pt x="233872" y="282172"/>
                  </a:lnTo>
                  <a:lnTo>
                    <a:pt x="249208" y="282172"/>
                  </a:lnTo>
                  <a:cubicBezTo>
                    <a:pt x="253042" y="282172"/>
                    <a:pt x="255597" y="284726"/>
                    <a:pt x="255597" y="288556"/>
                  </a:cubicBezTo>
                  <a:cubicBezTo>
                    <a:pt x="255597" y="292386"/>
                    <a:pt x="253042" y="294940"/>
                    <a:pt x="249208" y="294940"/>
                  </a:cubicBezTo>
                  <a:lnTo>
                    <a:pt x="112463" y="294940"/>
                  </a:lnTo>
                  <a:cubicBezTo>
                    <a:pt x="108629" y="294940"/>
                    <a:pt x="106073" y="292386"/>
                    <a:pt x="106073" y="288556"/>
                  </a:cubicBezTo>
                  <a:cubicBezTo>
                    <a:pt x="106073" y="284726"/>
                    <a:pt x="108629" y="282172"/>
                    <a:pt x="112463" y="282172"/>
                  </a:cubicBezTo>
                  <a:lnTo>
                    <a:pt x="127799" y="282172"/>
                  </a:lnTo>
                  <a:lnTo>
                    <a:pt x="148247" y="185135"/>
                  </a:lnTo>
                  <a:lnTo>
                    <a:pt x="127799" y="185135"/>
                  </a:lnTo>
                  <a:lnTo>
                    <a:pt x="127799" y="194073"/>
                  </a:lnTo>
                  <a:cubicBezTo>
                    <a:pt x="127799" y="197903"/>
                    <a:pt x="125243" y="200457"/>
                    <a:pt x="121409" y="200457"/>
                  </a:cubicBezTo>
                  <a:cubicBezTo>
                    <a:pt x="117575" y="200457"/>
                    <a:pt x="115019" y="197903"/>
                    <a:pt x="115019" y="194073"/>
                  </a:cubicBezTo>
                  <a:lnTo>
                    <a:pt x="115019" y="185135"/>
                  </a:lnTo>
                  <a:lnTo>
                    <a:pt x="88820" y="185135"/>
                  </a:lnTo>
                  <a:lnTo>
                    <a:pt x="88820" y="194073"/>
                  </a:lnTo>
                  <a:cubicBezTo>
                    <a:pt x="88820" y="197903"/>
                    <a:pt x="86264" y="200457"/>
                    <a:pt x="82430" y="200457"/>
                  </a:cubicBezTo>
                  <a:cubicBezTo>
                    <a:pt x="78596" y="200457"/>
                    <a:pt x="76040" y="197903"/>
                    <a:pt x="76040" y="194073"/>
                  </a:cubicBezTo>
                  <a:lnTo>
                    <a:pt x="76040" y="178752"/>
                  </a:lnTo>
                  <a:lnTo>
                    <a:pt x="76040" y="178752"/>
                  </a:lnTo>
                  <a:lnTo>
                    <a:pt x="76040" y="178113"/>
                  </a:lnTo>
                  <a:cubicBezTo>
                    <a:pt x="76040" y="178113"/>
                    <a:pt x="76040" y="177475"/>
                    <a:pt x="76040" y="177475"/>
                  </a:cubicBezTo>
                  <a:cubicBezTo>
                    <a:pt x="76040" y="176836"/>
                    <a:pt x="76040" y="176198"/>
                    <a:pt x="76040" y="175560"/>
                  </a:cubicBezTo>
                  <a:cubicBezTo>
                    <a:pt x="76040" y="175560"/>
                    <a:pt x="76040" y="174921"/>
                    <a:pt x="76679" y="174921"/>
                  </a:cubicBezTo>
                  <a:cubicBezTo>
                    <a:pt x="76679" y="174283"/>
                    <a:pt x="77318" y="174283"/>
                    <a:pt x="77318" y="173644"/>
                  </a:cubicBezTo>
                  <a:lnTo>
                    <a:pt x="77957" y="173006"/>
                  </a:lnTo>
                  <a:cubicBezTo>
                    <a:pt x="77957" y="173006"/>
                    <a:pt x="78596" y="172368"/>
                    <a:pt x="78596" y="172368"/>
                  </a:cubicBezTo>
                  <a:lnTo>
                    <a:pt x="157831" y="133425"/>
                  </a:lnTo>
                  <a:lnTo>
                    <a:pt x="159110" y="127041"/>
                  </a:lnTo>
                  <a:lnTo>
                    <a:pt x="113102" y="127041"/>
                  </a:lnTo>
                  <a:lnTo>
                    <a:pt x="113102" y="132148"/>
                  </a:lnTo>
                  <a:cubicBezTo>
                    <a:pt x="113102" y="135979"/>
                    <a:pt x="110546" y="138532"/>
                    <a:pt x="106712" y="138532"/>
                  </a:cubicBezTo>
                  <a:cubicBezTo>
                    <a:pt x="102878" y="138532"/>
                    <a:pt x="100322" y="135979"/>
                    <a:pt x="100322" y="132148"/>
                  </a:cubicBezTo>
                  <a:lnTo>
                    <a:pt x="100322" y="120657"/>
                  </a:lnTo>
                  <a:cubicBezTo>
                    <a:pt x="100322" y="120657"/>
                    <a:pt x="100322" y="120019"/>
                    <a:pt x="100322" y="120019"/>
                  </a:cubicBezTo>
                  <a:cubicBezTo>
                    <a:pt x="100322" y="119380"/>
                    <a:pt x="100322" y="118742"/>
                    <a:pt x="100961" y="118742"/>
                  </a:cubicBezTo>
                  <a:cubicBezTo>
                    <a:pt x="100961" y="118104"/>
                    <a:pt x="100961" y="118104"/>
                    <a:pt x="101600" y="118104"/>
                  </a:cubicBezTo>
                  <a:cubicBezTo>
                    <a:pt x="101600" y="117465"/>
                    <a:pt x="102239" y="117465"/>
                    <a:pt x="102239" y="116827"/>
                  </a:cubicBezTo>
                  <a:cubicBezTo>
                    <a:pt x="102878" y="116188"/>
                    <a:pt x="102878" y="116188"/>
                    <a:pt x="103517" y="116188"/>
                  </a:cubicBezTo>
                  <a:lnTo>
                    <a:pt x="104156" y="115550"/>
                  </a:lnTo>
                  <a:lnTo>
                    <a:pt x="168694" y="84269"/>
                  </a:lnTo>
                  <a:lnTo>
                    <a:pt x="174445" y="57456"/>
                  </a:lnTo>
                  <a:cubicBezTo>
                    <a:pt x="174445" y="54902"/>
                    <a:pt x="176362" y="52349"/>
                    <a:pt x="179557" y="51710"/>
                  </a:cubicBezTo>
                  <a:cubicBezTo>
                    <a:pt x="180835" y="51072"/>
                    <a:pt x="182752" y="51710"/>
                    <a:pt x="184030" y="52349"/>
                  </a:cubicBezTo>
                  <a:cubicBezTo>
                    <a:pt x="185947" y="53626"/>
                    <a:pt x="187864" y="55541"/>
                    <a:pt x="187864" y="58094"/>
                  </a:cubicBezTo>
                  <a:lnTo>
                    <a:pt x="193615" y="84269"/>
                  </a:lnTo>
                  <a:lnTo>
                    <a:pt x="257514" y="115550"/>
                  </a:lnTo>
                  <a:lnTo>
                    <a:pt x="257514" y="115550"/>
                  </a:lnTo>
                  <a:lnTo>
                    <a:pt x="258154" y="115550"/>
                  </a:lnTo>
                  <a:cubicBezTo>
                    <a:pt x="258154" y="115550"/>
                    <a:pt x="258154" y="115550"/>
                    <a:pt x="258792" y="116188"/>
                  </a:cubicBezTo>
                  <a:cubicBezTo>
                    <a:pt x="259431" y="116188"/>
                    <a:pt x="259431" y="116827"/>
                    <a:pt x="260070" y="117465"/>
                  </a:cubicBezTo>
                  <a:cubicBezTo>
                    <a:pt x="260070" y="117465"/>
                    <a:pt x="260709" y="118104"/>
                    <a:pt x="260709" y="118104"/>
                  </a:cubicBezTo>
                  <a:cubicBezTo>
                    <a:pt x="260709" y="118742"/>
                    <a:pt x="261348" y="118742"/>
                    <a:pt x="261348" y="119380"/>
                  </a:cubicBezTo>
                  <a:cubicBezTo>
                    <a:pt x="261348" y="120019"/>
                    <a:pt x="261348" y="120019"/>
                    <a:pt x="261348" y="120657"/>
                  </a:cubicBezTo>
                  <a:cubicBezTo>
                    <a:pt x="261348" y="121296"/>
                    <a:pt x="261348" y="121296"/>
                    <a:pt x="261348" y="121934"/>
                  </a:cubicBezTo>
                  <a:lnTo>
                    <a:pt x="261348" y="133425"/>
                  </a:lnTo>
                  <a:cubicBezTo>
                    <a:pt x="261348" y="137256"/>
                    <a:pt x="258792" y="139809"/>
                    <a:pt x="254959" y="139809"/>
                  </a:cubicBezTo>
                  <a:cubicBezTo>
                    <a:pt x="251125" y="139809"/>
                    <a:pt x="248569" y="137256"/>
                    <a:pt x="248569" y="133425"/>
                  </a:cubicBezTo>
                  <a:lnTo>
                    <a:pt x="248569" y="128318"/>
                  </a:lnTo>
                  <a:lnTo>
                    <a:pt x="202561" y="128318"/>
                  </a:lnTo>
                  <a:lnTo>
                    <a:pt x="203839" y="134702"/>
                  </a:lnTo>
                  <a:lnTo>
                    <a:pt x="283074" y="173644"/>
                  </a:lnTo>
                  <a:cubicBezTo>
                    <a:pt x="283074" y="173644"/>
                    <a:pt x="283713" y="174283"/>
                    <a:pt x="283713" y="174283"/>
                  </a:cubicBezTo>
                  <a:cubicBezTo>
                    <a:pt x="284352" y="174283"/>
                    <a:pt x="284352" y="174921"/>
                    <a:pt x="284991" y="174921"/>
                  </a:cubicBezTo>
                  <a:cubicBezTo>
                    <a:pt x="284991" y="174921"/>
                    <a:pt x="285630" y="175560"/>
                    <a:pt x="285630" y="175560"/>
                  </a:cubicBezTo>
                  <a:cubicBezTo>
                    <a:pt x="285630" y="176198"/>
                    <a:pt x="286269" y="176198"/>
                    <a:pt x="286269" y="176836"/>
                  </a:cubicBezTo>
                  <a:cubicBezTo>
                    <a:pt x="286269" y="177475"/>
                    <a:pt x="286269" y="178113"/>
                    <a:pt x="286908" y="179390"/>
                  </a:cubicBezTo>
                  <a:lnTo>
                    <a:pt x="286269" y="194711"/>
                  </a:lnTo>
                  <a:close/>
                </a:path>
              </a:pathLst>
            </a:custGeom>
            <a:grpFill/>
            <a:ln w="6390" cap="flat">
              <a:noFill/>
              <a:prstDash val="solid"/>
              <a:miter/>
            </a:ln>
          </p:spPr>
          <p:txBody>
            <a:bodyPr rtlCol="0" anchor="ctr"/>
            <a:lstStyle/>
            <a:p>
              <a:endParaRPr lang="en-US"/>
            </a:p>
          </p:txBody>
        </p:sp>
        <p:sp>
          <p:nvSpPr>
            <p:cNvPr id="526" name="Graphic 4">
              <a:extLst>
                <a:ext uri="{FF2B5EF4-FFF2-40B4-BE49-F238E27FC236}">
                  <a16:creationId xmlns:a16="http://schemas.microsoft.com/office/drawing/2014/main" id="{4F414DA6-B972-C403-E72E-F3845F5CC0E6}"/>
                </a:ext>
              </a:extLst>
            </p:cNvPr>
            <p:cNvSpPr/>
            <p:nvPr/>
          </p:nvSpPr>
          <p:spPr>
            <a:xfrm>
              <a:off x="196171" y="100867"/>
              <a:ext cx="30671" cy="14683"/>
            </a:xfrm>
            <a:custGeom>
              <a:avLst/>
              <a:gdLst>
                <a:gd name="connsiteX0" fmla="*/ 30672 w 30671"/>
                <a:gd name="connsiteY0" fmla="*/ 14683 h 14683"/>
                <a:gd name="connsiteX1" fmla="*/ 0 w 30671"/>
                <a:gd name="connsiteY1" fmla="*/ 0 h 14683"/>
                <a:gd name="connsiteX2" fmla="*/ 3195 w 30671"/>
                <a:gd name="connsiteY2" fmla="*/ 14683 h 14683"/>
              </a:gdLst>
              <a:ahLst/>
              <a:cxnLst>
                <a:cxn ang="0">
                  <a:pos x="connsiteX0" y="connsiteY0"/>
                </a:cxn>
                <a:cxn ang="0">
                  <a:pos x="connsiteX1" y="connsiteY1"/>
                </a:cxn>
                <a:cxn ang="0">
                  <a:pos x="connsiteX2" y="connsiteY2"/>
                </a:cxn>
              </a:cxnLst>
              <a:rect l="l" t="t" r="r" b="b"/>
              <a:pathLst>
                <a:path w="30671" h="14683">
                  <a:moveTo>
                    <a:pt x="30672" y="14683"/>
                  </a:moveTo>
                  <a:lnTo>
                    <a:pt x="0" y="0"/>
                  </a:lnTo>
                  <a:lnTo>
                    <a:pt x="3195" y="14683"/>
                  </a:lnTo>
                  <a:close/>
                </a:path>
              </a:pathLst>
            </a:custGeom>
            <a:grpFill/>
            <a:ln w="6390" cap="flat">
              <a:noFill/>
              <a:prstDash val="solid"/>
              <a:miter/>
            </a:ln>
          </p:spPr>
          <p:txBody>
            <a:bodyPr rtlCol="0" anchor="ctr"/>
            <a:lstStyle/>
            <a:p>
              <a:endParaRPr lang="en-US"/>
            </a:p>
          </p:txBody>
        </p:sp>
        <p:sp>
          <p:nvSpPr>
            <p:cNvPr id="527" name="Graphic 4">
              <a:extLst>
                <a:ext uri="{FF2B5EF4-FFF2-40B4-BE49-F238E27FC236}">
                  <a16:creationId xmlns:a16="http://schemas.microsoft.com/office/drawing/2014/main" id="{027DFC45-367E-0D75-0C61-428A65D50DF6}"/>
                </a:ext>
              </a:extLst>
            </p:cNvPr>
            <p:cNvSpPr/>
            <p:nvPr/>
          </p:nvSpPr>
          <p:spPr>
            <a:xfrm>
              <a:off x="109906" y="150662"/>
              <a:ext cx="45368" cy="21705"/>
            </a:xfrm>
            <a:custGeom>
              <a:avLst/>
              <a:gdLst>
                <a:gd name="connsiteX0" fmla="*/ 0 w 45368"/>
                <a:gd name="connsiteY0" fmla="*/ 21706 h 21705"/>
                <a:gd name="connsiteX1" fmla="*/ 40896 w 45368"/>
                <a:gd name="connsiteY1" fmla="*/ 21706 h 21705"/>
                <a:gd name="connsiteX2" fmla="*/ 45369 w 45368"/>
                <a:gd name="connsiteY2" fmla="*/ 0 h 21705"/>
              </a:gdLst>
              <a:ahLst/>
              <a:cxnLst>
                <a:cxn ang="0">
                  <a:pos x="connsiteX0" y="connsiteY0"/>
                </a:cxn>
                <a:cxn ang="0">
                  <a:pos x="connsiteX1" y="connsiteY1"/>
                </a:cxn>
                <a:cxn ang="0">
                  <a:pos x="connsiteX2" y="connsiteY2"/>
                </a:cxn>
              </a:cxnLst>
              <a:rect l="l" t="t" r="r" b="b"/>
              <a:pathLst>
                <a:path w="45368" h="21705">
                  <a:moveTo>
                    <a:pt x="0" y="21706"/>
                  </a:moveTo>
                  <a:lnTo>
                    <a:pt x="40896" y="21706"/>
                  </a:lnTo>
                  <a:lnTo>
                    <a:pt x="45369" y="0"/>
                  </a:lnTo>
                  <a:close/>
                </a:path>
              </a:pathLst>
            </a:custGeom>
            <a:grpFill/>
            <a:ln w="6390" cap="flat">
              <a:noFill/>
              <a:prstDash val="solid"/>
              <a:miter/>
            </a:ln>
          </p:spPr>
          <p:txBody>
            <a:bodyPr rtlCol="0" anchor="ctr"/>
            <a:lstStyle/>
            <a:p>
              <a:endParaRPr lang="en-US"/>
            </a:p>
          </p:txBody>
        </p:sp>
        <p:sp>
          <p:nvSpPr>
            <p:cNvPr id="528" name="Graphic 4">
              <a:extLst>
                <a:ext uri="{FF2B5EF4-FFF2-40B4-BE49-F238E27FC236}">
                  <a16:creationId xmlns:a16="http://schemas.microsoft.com/office/drawing/2014/main" id="{1BA53DFE-9684-BA68-039F-3AD04B90E3D6}"/>
                </a:ext>
              </a:extLst>
            </p:cNvPr>
            <p:cNvSpPr/>
            <p:nvPr/>
          </p:nvSpPr>
          <p:spPr>
            <a:xfrm>
              <a:off x="135466" y="100867"/>
              <a:ext cx="30671" cy="14683"/>
            </a:xfrm>
            <a:custGeom>
              <a:avLst/>
              <a:gdLst>
                <a:gd name="connsiteX0" fmla="*/ 0 w 30671"/>
                <a:gd name="connsiteY0" fmla="*/ 14683 h 14683"/>
                <a:gd name="connsiteX1" fmla="*/ 27477 w 30671"/>
                <a:gd name="connsiteY1" fmla="*/ 14683 h 14683"/>
                <a:gd name="connsiteX2" fmla="*/ 30672 w 30671"/>
                <a:gd name="connsiteY2" fmla="*/ 0 h 14683"/>
              </a:gdLst>
              <a:ahLst/>
              <a:cxnLst>
                <a:cxn ang="0">
                  <a:pos x="connsiteX0" y="connsiteY0"/>
                </a:cxn>
                <a:cxn ang="0">
                  <a:pos x="connsiteX1" y="connsiteY1"/>
                </a:cxn>
                <a:cxn ang="0">
                  <a:pos x="connsiteX2" y="connsiteY2"/>
                </a:cxn>
              </a:cxnLst>
              <a:rect l="l" t="t" r="r" b="b"/>
              <a:pathLst>
                <a:path w="30671" h="14683">
                  <a:moveTo>
                    <a:pt x="0" y="14683"/>
                  </a:moveTo>
                  <a:lnTo>
                    <a:pt x="27477" y="14683"/>
                  </a:lnTo>
                  <a:lnTo>
                    <a:pt x="30672" y="0"/>
                  </a:lnTo>
                  <a:close/>
                </a:path>
              </a:pathLst>
            </a:custGeom>
            <a:grpFill/>
            <a:ln w="6390" cap="flat">
              <a:noFill/>
              <a:prstDash val="solid"/>
              <a:miter/>
            </a:ln>
          </p:spPr>
          <p:txBody>
            <a:bodyPr rtlCol="0" anchor="ctr"/>
            <a:lstStyle/>
            <a:p>
              <a:endParaRPr lang="en-US"/>
            </a:p>
          </p:txBody>
        </p:sp>
        <p:sp>
          <p:nvSpPr>
            <p:cNvPr id="529" name="Graphic 4">
              <a:extLst>
                <a:ext uri="{FF2B5EF4-FFF2-40B4-BE49-F238E27FC236}">
                  <a16:creationId xmlns:a16="http://schemas.microsoft.com/office/drawing/2014/main" id="{0910FBD8-2651-22F9-EA8D-9ADD7BA761A8}"/>
                </a:ext>
              </a:extLst>
            </p:cNvPr>
            <p:cNvSpPr/>
            <p:nvPr/>
          </p:nvSpPr>
          <p:spPr>
            <a:xfrm>
              <a:off x="175723" y="90014"/>
              <a:ext cx="10862" cy="25535"/>
            </a:xfrm>
            <a:custGeom>
              <a:avLst/>
              <a:gdLst>
                <a:gd name="connsiteX0" fmla="*/ 10863 w 10862"/>
                <a:gd name="connsiteY0" fmla="*/ 25536 h 25535"/>
                <a:gd name="connsiteX1" fmla="*/ 5112 w 10862"/>
                <a:gd name="connsiteY1" fmla="*/ 0 h 25535"/>
                <a:gd name="connsiteX2" fmla="*/ 0 w 10862"/>
                <a:gd name="connsiteY2" fmla="*/ 25536 h 25535"/>
              </a:gdLst>
              <a:ahLst/>
              <a:cxnLst>
                <a:cxn ang="0">
                  <a:pos x="connsiteX0" y="connsiteY0"/>
                </a:cxn>
                <a:cxn ang="0">
                  <a:pos x="connsiteX1" y="connsiteY1"/>
                </a:cxn>
                <a:cxn ang="0">
                  <a:pos x="connsiteX2" y="connsiteY2"/>
                </a:cxn>
              </a:cxnLst>
              <a:rect l="l" t="t" r="r" b="b"/>
              <a:pathLst>
                <a:path w="10862" h="25535">
                  <a:moveTo>
                    <a:pt x="10863" y="25536"/>
                  </a:moveTo>
                  <a:lnTo>
                    <a:pt x="5112" y="0"/>
                  </a:lnTo>
                  <a:lnTo>
                    <a:pt x="0" y="25536"/>
                  </a:lnTo>
                  <a:close/>
                </a:path>
              </a:pathLst>
            </a:custGeom>
            <a:grpFill/>
            <a:ln w="6390" cap="flat">
              <a:noFill/>
              <a:prstDash val="solid"/>
              <a:miter/>
            </a:ln>
          </p:spPr>
          <p:txBody>
            <a:bodyPr rtlCol="0" anchor="ctr"/>
            <a:lstStyle/>
            <a:p>
              <a:endParaRPr lang="en-US"/>
            </a:p>
          </p:txBody>
        </p:sp>
      </p:grpSp>
      <p:grpSp>
        <p:nvGrpSpPr>
          <p:cNvPr id="530" name="Group 529">
            <a:extLst>
              <a:ext uri="{FF2B5EF4-FFF2-40B4-BE49-F238E27FC236}">
                <a16:creationId xmlns:a16="http://schemas.microsoft.com/office/drawing/2014/main" id="{5758B654-73B5-3242-2E54-AE3E579462C5}"/>
              </a:ext>
            </a:extLst>
          </p:cNvPr>
          <p:cNvGrpSpPr/>
          <p:nvPr/>
        </p:nvGrpSpPr>
        <p:grpSpPr>
          <a:xfrm>
            <a:off x="6766513" y="4973486"/>
            <a:ext cx="361950" cy="361950"/>
            <a:chOff x="0" y="0"/>
            <a:chExt cx="362309" cy="362450"/>
          </a:xfrm>
          <a:solidFill>
            <a:schemeClr val="bg2">
              <a:lumMod val="25000"/>
            </a:schemeClr>
          </a:solidFill>
        </p:grpSpPr>
        <p:sp>
          <p:nvSpPr>
            <p:cNvPr id="531" name="Graphic 4">
              <a:extLst>
                <a:ext uri="{FF2B5EF4-FFF2-40B4-BE49-F238E27FC236}">
                  <a16:creationId xmlns:a16="http://schemas.microsoft.com/office/drawing/2014/main" id="{F28E45F8-C80F-B89D-F1BC-80B5673AA14F}"/>
                </a:ext>
              </a:extLst>
            </p:cNvPr>
            <p:cNvSpPr/>
            <p:nvPr/>
          </p:nvSpPr>
          <p:spPr>
            <a:xfrm>
              <a:off x="0" y="0"/>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784 h 362450"/>
                <a:gd name="connsiteX4" fmla="*/ 180835 w 362309"/>
                <a:gd name="connsiteY4" fmla="*/ 479 h 362450"/>
                <a:gd name="connsiteX5" fmla="*/ 180835 w 362309"/>
                <a:gd name="connsiteY5" fmla="*/ 479 h 362450"/>
                <a:gd name="connsiteX6" fmla="*/ 93293 w 362309"/>
                <a:gd name="connsiteY6" fmla="*/ 121774 h 362450"/>
                <a:gd name="connsiteX7" fmla="*/ 177640 w 362309"/>
                <a:gd name="connsiteY7" fmla="*/ 75810 h 362450"/>
                <a:gd name="connsiteX8" fmla="*/ 184030 w 362309"/>
                <a:gd name="connsiteY8" fmla="*/ 75810 h 362450"/>
                <a:gd name="connsiteX9" fmla="*/ 268377 w 362309"/>
                <a:gd name="connsiteY9" fmla="*/ 121774 h 362450"/>
                <a:gd name="connsiteX10" fmla="*/ 271572 w 362309"/>
                <a:gd name="connsiteY10" fmla="*/ 128797 h 362450"/>
                <a:gd name="connsiteX11" fmla="*/ 265182 w 362309"/>
                <a:gd name="connsiteY11" fmla="*/ 133904 h 362450"/>
                <a:gd name="connsiteX12" fmla="*/ 95849 w 362309"/>
                <a:gd name="connsiteY12" fmla="*/ 133904 h 362450"/>
                <a:gd name="connsiteX13" fmla="*/ 89459 w 362309"/>
                <a:gd name="connsiteY13" fmla="*/ 128797 h 362450"/>
                <a:gd name="connsiteX14" fmla="*/ 93293 w 362309"/>
                <a:gd name="connsiteY14" fmla="*/ 121774 h 362450"/>
                <a:gd name="connsiteX15" fmla="*/ 93293 w 362309"/>
                <a:gd name="connsiteY15" fmla="*/ 121774 h 362450"/>
                <a:gd name="connsiteX16" fmla="*/ 256237 w 362309"/>
                <a:gd name="connsiteY16" fmla="*/ 157525 h 362450"/>
                <a:gd name="connsiteX17" fmla="*/ 256237 w 362309"/>
                <a:gd name="connsiteY17" fmla="*/ 218811 h 362450"/>
                <a:gd name="connsiteX18" fmla="*/ 249847 w 362309"/>
                <a:gd name="connsiteY18" fmla="*/ 225195 h 362450"/>
                <a:gd name="connsiteX19" fmla="*/ 243457 w 362309"/>
                <a:gd name="connsiteY19" fmla="*/ 218811 h 362450"/>
                <a:gd name="connsiteX20" fmla="*/ 243457 w 362309"/>
                <a:gd name="connsiteY20" fmla="*/ 157525 h 362450"/>
                <a:gd name="connsiteX21" fmla="*/ 249847 w 362309"/>
                <a:gd name="connsiteY21" fmla="*/ 151141 h 362450"/>
                <a:gd name="connsiteX22" fmla="*/ 256237 w 362309"/>
                <a:gd name="connsiteY22" fmla="*/ 157525 h 362450"/>
                <a:gd name="connsiteX23" fmla="*/ 210229 w 362309"/>
                <a:gd name="connsiteY23" fmla="*/ 157525 h 362450"/>
                <a:gd name="connsiteX24" fmla="*/ 210229 w 362309"/>
                <a:gd name="connsiteY24" fmla="*/ 218811 h 362450"/>
                <a:gd name="connsiteX25" fmla="*/ 203839 w 362309"/>
                <a:gd name="connsiteY25" fmla="*/ 225195 h 362450"/>
                <a:gd name="connsiteX26" fmla="*/ 197449 w 362309"/>
                <a:gd name="connsiteY26" fmla="*/ 218811 h 362450"/>
                <a:gd name="connsiteX27" fmla="*/ 197449 w 362309"/>
                <a:gd name="connsiteY27" fmla="*/ 157525 h 362450"/>
                <a:gd name="connsiteX28" fmla="*/ 203839 w 362309"/>
                <a:gd name="connsiteY28" fmla="*/ 151141 h 362450"/>
                <a:gd name="connsiteX29" fmla="*/ 210229 w 362309"/>
                <a:gd name="connsiteY29" fmla="*/ 157525 h 362450"/>
                <a:gd name="connsiteX30" fmla="*/ 164221 w 362309"/>
                <a:gd name="connsiteY30" fmla="*/ 157525 h 362450"/>
                <a:gd name="connsiteX31" fmla="*/ 164221 w 362309"/>
                <a:gd name="connsiteY31" fmla="*/ 218811 h 362450"/>
                <a:gd name="connsiteX32" fmla="*/ 157832 w 362309"/>
                <a:gd name="connsiteY32" fmla="*/ 225195 h 362450"/>
                <a:gd name="connsiteX33" fmla="*/ 151442 w 362309"/>
                <a:gd name="connsiteY33" fmla="*/ 218811 h 362450"/>
                <a:gd name="connsiteX34" fmla="*/ 151442 w 362309"/>
                <a:gd name="connsiteY34" fmla="*/ 157525 h 362450"/>
                <a:gd name="connsiteX35" fmla="*/ 157832 w 362309"/>
                <a:gd name="connsiteY35" fmla="*/ 151141 h 362450"/>
                <a:gd name="connsiteX36" fmla="*/ 164221 w 362309"/>
                <a:gd name="connsiteY36" fmla="*/ 157525 h 362450"/>
                <a:gd name="connsiteX37" fmla="*/ 118214 w 362309"/>
                <a:gd name="connsiteY37" fmla="*/ 157525 h 362450"/>
                <a:gd name="connsiteX38" fmla="*/ 118214 w 362309"/>
                <a:gd name="connsiteY38" fmla="*/ 218811 h 362450"/>
                <a:gd name="connsiteX39" fmla="*/ 111824 w 362309"/>
                <a:gd name="connsiteY39" fmla="*/ 225195 h 362450"/>
                <a:gd name="connsiteX40" fmla="*/ 105434 w 362309"/>
                <a:gd name="connsiteY40" fmla="*/ 218811 h 362450"/>
                <a:gd name="connsiteX41" fmla="*/ 105434 w 362309"/>
                <a:gd name="connsiteY41" fmla="*/ 157525 h 362450"/>
                <a:gd name="connsiteX42" fmla="*/ 111824 w 362309"/>
                <a:gd name="connsiteY42" fmla="*/ 151141 h 362450"/>
                <a:gd name="connsiteX43" fmla="*/ 118214 w 362309"/>
                <a:gd name="connsiteY43" fmla="*/ 157525 h 362450"/>
                <a:gd name="connsiteX44" fmla="*/ 278602 w 362309"/>
                <a:gd name="connsiteY44" fmla="*/ 283928 h 362450"/>
                <a:gd name="connsiteX45" fmla="*/ 273489 w 362309"/>
                <a:gd name="connsiteY45" fmla="*/ 287120 h 362450"/>
                <a:gd name="connsiteX46" fmla="*/ 88820 w 362309"/>
                <a:gd name="connsiteY46" fmla="*/ 287120 h 362450"/>
                <a:gd name="connsiteX47" fmla="*/ 82430 w 362309"/>
                <a:gd name="connsiteY47" fmla="*/ 280736 h 362450"/>
                <a:gd name="connsiteX48" fmla="*/ 83069 w 362309"/>
                <a:gd name="connsiteY48" fmla="*/ 277544 h 362450"/>
                <a:gd name="connsiteX49" fmla="*/ 98405 w 362309"/>
                <a:gd name="connsiteY49" fmla="*/ 246900 h 362450"/>
                <a:gd name="connsiteX50" fmla="*/ 104156 w 362309"/>
                <a:gd name="connsiteY50" fmla="*/ 243708 h 362450"/>
                <a:gd name="connsiteX51" fmla="*/ 258154 w 362309"/>
                <a:gd name="connsiteY51" fmla="*/ 243708 h 362450"/>
                <a:gd name="connsiteX52" fmla="*/ 263905 w 362309"/>
                <a:gd name="connsiteY52" fmla="*/ 246900 h 362450"/>
                <a:gd name="connsiteX53" fmla="*/ 279879 w 362309"/>
                <a:gd name="connsiteY53" fmla="*/ 278182 h 362450"/>
                <a:gd name="connsiteX54" fmla="*/ 278602 w 362309"/>
                <a:gd name="connsiteY54" fmla="*/ 283928 h 362450"/>
                <a:gd name="connsiteX55" fmla="*/ 278602 w 362309"/>
                <a:gd name="connsiteY55" fmla="*/ 283928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2309" h="362450">
                  <a:moveTo>
                    <a:pt x="180835" y="479"/>
                  </a:moveTo>
                  <a:cubicBezTo>
                    <a:pt x="80513" y="479"/>
                    <a:pt x="0" y="81555"/>
                    <a:pt x="0" y="181784"/>
                  </a:cubicBezTo>
                  <a:cubicBezTo>
                    <a:pt x="0" y="282012"/>
                    <a:pt x="81152" y="362451"/>
                    <a:pt x="181474" y="362451"/>
                  </a:cubicBezTo>
                  <a:cubicBezTo>
                    <a:pt x="281157" y="362451"/>
                    <a:pt x="362310" y="281374"/>
                    <a:pt x="362310" y="181784"/>
                  </a:cubicBezTo>
                  <a:cubicBezTo>
                    <a:pt x="362310" y="80917"/>
                    <a:pt x="281157" y="479"/>
                    <a:pt x="180835" y="479"/>
                  </a:cubicBezTo>
                  <a:cubicBezTo>
                    <a:pt x="180835" y="-160"/>
                    <a:pt x="180835" y="-160"/>
                    <a:pt x="180835" y="479"/>
                  </a:cubicBezTo>
                  <a:close/>
                  <a:moveTo>
                    <a:pt x="93293" y="121774"/>
                  </a:moveTo>
                  <a:lnTo>
                    <a:pt x="177640" y="75810"/>
                  </a:lnTo>
                  <a:cubicBezTo>
                    <a:pt x="179557" y="74533"/>
                    <a:pt x="182113" y="74533"/>
                    <a:pt x="184030" y="75810"/>
                  </a:cubicBezTo>
                  <a:lnTo>
                    <a:pt x="268377" y="121774"/>
                  </a:lnTo>
                  <a:cubicBezTo>
                    <a:pt x="270934" y="123051"/>
                    <a:pt x="272211" y="126243"/>
                    <a:pt x="271572" y="128797"/>
                  </a:cubicBezTo>
                  <a:cubicBezTo>
                    <a:pt x="270934" y="131989"/>
                    <a:pt x="268377" y="133904"/>
                    <a:pt x="265182" y="133904"/>
                  </a:cubicBezTo>
                  <a:lnTo>
                    <a:pt x="95849" y="133904"/>
                  </a:lnTo>
                  <a:cubicBezTo>
                    <a:pt x="92654" y="133904"/>
                    <a:pt x="90098" y="131989"/>
                    <a:pt x="89459" y="128797"/>
                  </a:cubicBezTo>
                  <a:cubicBezTo>
                    <a:pt x="89459" y="125605"/>
                    <a:pt x="90737" y="123051"/>
                    <a:pt x="93293" y="121774"/>
                  </a:cubicBezTo>
                  <a:lnTo>
                    <a:pt x="93293" y="121774"/>
                  </a:lnTo>
                  <a:close/>
                  <a:moveTo>
                    <a:pt x="256237" y="157525"/>
                  </a:moveTo>
                  <a:lnTo>
                    <a:pt x="256237" y="218811"/>
                  </a:lnTo>
                  <a:cubicBezTo>
                    <a:pt x="256237" y="222641"/>
                    <a:pt x="253681" y="225195"/>
                    <a:pt x="249847" y="225195"/>
                  </a:cubicBezTo>
                  <a:cubicBezTo>
                    <a:pt x="246013" y="225195"/>
                    <a:pt x="243457" y="222641"/>
                    <a:pt x="243457" y="218811"/>
                  </a:cubicBezTo>
                  <a:lnTo>
                    <a:pt x="243457" y="157525"/>
                  </a:lnTo>
                  <a:cubicBezTo>
                    <a:pt x="243457" y="153694"/>
                    <a:pt x="246013" y="151141"/>
                    <a:pt x="249847" y="151141"/>
                  </a:cubicBezTo>
                  <a:cubicBezTo>
                    <a:pt x="253681" y="151141"/>
                    <a:pt x="256237" y="154333"/>
                    <a:pt x="256237" y="157525"/>
                  </a:cubicBezTo>
                  <a:close/>
                  <a:moveTo>
                    <a:pt x="210229" y="157525"/>
                  </a:moveTo>
                  <a:lnTo>
                    <a:pt x="210229" y="218811"/>
                  </a:lnTo>
                  <a:cubicBezTo>
                    <a:pt x="210229" y="222641"/>
                    <a:pt x="207673" y="225195"/>
                    <a:pt x="203839" y="225195"/>
                  </a:cubicBezTo>
                  <a:cubicBezTo>
                    <a:pt x="200005" y="225195"/>
                    <a:pt x="197449" y="222641"/>
                    <a:pt x="197449" y="218811"/>
                  </a:cubicBezTo>
                  <a:lnTo>
                    <a:pt x="197449" y="157525"/>
                  </a:lnTo>
                  <a:cubicBezTo>
                    <a:pt x="197449" y="153694"/>
                    <a:pt x="200005" y="151141"/>
                    <a:pt x="203839" y="151141"/>
                  </a:cubicBezTo>
                  <a:cubicBezTo>
                    <a:pt x="207673" y="151141"/>
                    <a:pt x="210229" y="154333"/>
                    <a:pt x="210229" y="157525"/>
                  </a:cubicBezTo>
                  <a:close/>
                  <a:moveTo>
                    <a:pt x="164221" y="157525"/>
                  </a:moveTo>
                  <a:lnTo>
                    <a:pt x="164221" y="218811"/>
                  </a:lnTo>
                  <a:cubicBezTo>
                    <a:pt x="164221" y="222641"/>
                    <a:pt x="161666" y="225195"/>
                    <a:pt x="157832" y="225195"/>
                  </a:cubicBezTo>
                  <a:cubicBezTo>
                    <a:pt x="153998" y="225195"/>
                    <a:pt x="151442" y="222641"/>
                    <a:pt x="151442" y="218811"/>
                  </a:cubicBezTo>
                  <a:lnTo>
                    <a:pt x="151442" y="157525"/>
                  </a:lnTo>
                  <a:cubicBezTo>
                    <a:pt x="151442" y="153694"/>
                    <a:pt x="153998" y="151141"/>
                    <a:pt x="157832" y="151141"/>
                  </a:cubicBezTo>
                  <a:cubicBezTo>
                    <a:pt x="161666" y="151141"/>
                    <a:pt x="164221" y="154333"/>
                    <a:pt x="164221" y="157525"/>
                  </a:cubicBezTo>
                  <a:close/>
                  <a:moveTo>
                    <a:pt x="118214" y="157525"/>
                  </a:moveTo>
                  <a:lnTo>
                    <a:pt x="118214" y="218811"/>
                  </a:lnTo>
                  <a:cubicBezTo>
                    <a:pt x="118214" y="222641"/>
                    <a:pt x="115658" y="225195"/>
                    <a:pt x="111824" y="225195"/>
                  </a:cubicBezTo>
                  <a:cubicBezTo>
                    <a:pt x="107990" y="225195"/>
                    <a:pt x="105434" y="222641"/>
                    <a:pt x="105434" y="218811"/>
                  </a:cubicBezTo>
                  <a:lnTo>
                    <a:pt x="105434" y="157525"/>
                  </a:lnTo>
                  <a:cubicBezTo>
                    <a:pt x="105434" y="153694"/>
                    <a:pt x="107990" y="151141"/>
                    <a:pt x="111824" y="151141"/>
                  </a:cubicBezTo>
                  <a:cubicBezTo>
                    <a:pt x="115658" y="151141"/>
                    <a:pt x="118214" y="154333"/>
                    <a:pt x="118214" y="157525"/>
                  </a:cubicBezTo>
                  <a:close/>
                  <a:moveTo>
                    <a:pt x="278602" y="283928"/>
                  </a:moveTo>
                  <a:cubicBezTo>
                    <a:pt x="277323" y="285843"/>
                    <a:pt x="275407" y="287120"/>
                    <a:pt x="273489" y="287120"/>
                  </a:cubicBezTo>
                  <a:lnTo>
                    <a:pt x="88820" y="287120"/>
                  </a:lnTo>
                  <a:cubicBezTo>
                    <a:pt x="84986" y="287120"/>
                    <a:pt x="82430" y="284566"/>
                    <a:pt x="82430" y="280736"/>
                  </a:cubicBezTo>
                  <a:cubicBezTo>
                    <a:pt x="82430" y="279459"/>
                    <a:pt x="82430" y="278820"/>
                    <a:pt x="83069" y="277544"/>
                  </a:cubicBezTo>
                  <a:lnTo>
                    <a:pt x="98405" y="246900"/>
                  </a:lnTo>
                  <a:cubicBezTo>
                    <a:pt x="99683" y="244985"/>
                    <a:pt x="101600" y="243070"/>
                    <a:pt x="104156" y="243708"/>
                  </a:cubicBezTo>
                  <a:lnTo>
                    <a:pt x="258154" y="243708"/>
                  </a:lnTo>
                  <a:cubicBezTo>
                    <a:pt x="260710" y="243708"/>
                    <a:pt x="262626" y="244985"/>
                    <a:pt x="263905" y="246900"/>
                  </a:cubicBezTo>
                  <a:lnTo>
                    <a:pt x="279879" y="278182"/>
                  </a:lnTo>
                  <a:cubicBezTo>
                    <a:pt x="279879" y="280097"/>
                    <a:pt x="279879" y="282651"/>
                    <a:pt x="278602" y="283928"/>
                  </a:cubicBezTo>
                  <a:lnTo>
                    <a:pt x="278602" y="283928"/>
                  </a:lnTo>
                  <a:close/>
                </a:path>
              </a:pathLst>
            </a:custGeom>
            <a:grpFill/>
            <a:ln w="6390" cap="flat">
              <a:noFill/>
              <a:prstDash val="solid"/>
              <a:miter/>
            </a:ln>
          </p:spPr>
          <p:txBody>
            <a:bodyPr rtlCol="0" anchor="ctr"/>
            <a:lstStyle/>
            <a:p>
              <a:endParaRPr lang="en-US"/>
            </a:p>
          </p:txBody>
        </p:sp>
        <p:sp>
          <p:nvSpPr>
            <p:cNvPr id="532" name="Graphic 4">
              <a:extLst>
                <a:ext uri="{FF2B5EF4-FFF2-40B4-BE49-F238E27FC236}">
                  <a16:creationId xmlns:a16="http://schemas.microsoft.com/office/drawing/2014/main" id="{1AB34E94-4C4F-05DC-EE20-94F850D9F311}"/>
                </a:ext>
              </a:extLst>
            </p:cNvPr>
            <p:cNvSpPr/>
            <p:nvPr/>
          </p:nvSpPr>
          <p:spPr>
            <a:xfrm>
              <a:off x="99044" y="256476"/>
              <a:ext cx="163582" cy="18513"/>
            </a:xfrm>
            <a:custGeom>
              <a:avLst/>
              <a:gdLst>
                <a:gd name="connsiteX0" fmla="*/ 8946 w 163582"/>
                <a:gd name="connsiteY0" fmla="*/ 0 h 18513"/>
                <a:gd name="connsiteX1" fmla="*/ 0 w 163582"/>
                <a:gd name="connsiteY1" fmla="*/ 18514 h 18513"/>
                <a:gd name="connsiteX2" fmla="*/ 163582 w 163582"/>
                <a:gd name="connsiteY2" fmla="*/ 18514 h 18513"/>
                <a:gd name="connsiteX3" fmla="*/ 154637 w 163582"/>
                <a:gd name="connsiteY3" fmla="*/ 0 h 18513"/>
              </a:gdLst>
              <a:ahLst/>
              <a:cxnLst>
                <a:cxn ang="0">
                  <a:pos x="connsiteX0" y="connsiteY0"/>
                </a:cxn>
                <a:cxn ang="0">
                  <a:pos x="connsiteX1" y="connsiteY1"/>
                </a:cxn>
                <a:cxn ang="0">
                  <a:pos x="connsiteX2" y="connsiteY2"/>
                </a:cxn>
                <a:cxn ang="0">
                  <a:pos x="connsiteX3" y="connsiteY3"/>
                </a:cxn>
              </a:cxnLst>
              <a:rect l="l" t="t" r="r" b="b"/>
              <a:pathLst>
                <a:path w="163582" h="18513">
                  <a:moveTo>
                    <a:pt x="8946" y="0"/>
                  </a:moveTo>
                  <a:lnTo>
                    <a:pt x="0" y="18514"/>
                  </a:lnTo>
                  <a:lnTo>
                    <a:pt x="163582" y="18514"/>
                  </a:lnTo>
                  <a:lnTo>
                    <a:pt x="154637" y="0"/>
                  </a:lnTo>
                  <a:close/>
                </a:path>
              </a:pathLst>
            </a:custGeom>
            <a:grpFill/>
            <a:ln w="6390" cap="flat">
              <a:noFill/>
              <a:prstDash val="solid"/>
              <a:miter/>
            </a:ln>
          </p:spPr>
          <p:txBody>
            <a:bodyPr rtlCol="0" anchor="ctr"/>
            <a:lstStyle/>
            <a:p>
              <a:endParaRPr lang="en-US"/>
            </a:p>
          </p:txBody>
        </p:sp>
        <p:sp>
          <p:nvSpPr>
            <p:cNvPr id="533" name="Graphic 4">
              <a:extLst>
                <a:ext uri="{FF2B5EF4-FFF2-40B4-BE49-F238E27FC236}">
                  <a16:creationId xmlns:a16="http://schemas.microsoft.com/office/drawing/2014/main" id="{19B5A88A-75A9-2159-1CDE-EB753614CF9C}"/>
                </a:ext>
              </a:extLst>
            </p:cNvPr>
            <p:cNvSpPr/>
            <p:nvPr/>
          </p:nvSpPr>
          <p:spPr>
            <a:xfrm>
              <a:off x="121409" y="88577"/>
              <a:ext cx="118852" cy="32558"/>
            </a:xfrm>
            <a:custGeom>
              <a:avLst/>
              <a:gdLst>
                <a:gd name="connsiteX0" fmla="*/ 59427 w 118852"/>
                <a:gd name="connsiteY0" fmla="*/ 0 h 32558"/>
                <a:gd name="connsiteX1" fmla="*/ 0 w 118852"/>
                <a:gd name="connsiteY1" fmla="*/ 32558 h 32558"/>
                <a:gd name="connsiteX2" fmla="*/ 118853 w 118852"/>
                <a:gd name="connsiteY2" fmla="*/ 32558 h 32558"/>
              </a:gdLst>
              <a:ahLst/>
              <a:cxnLst>
                <a:cxn ang="0">
                  <a:pos x="connsiteX0" y="connsiteY0"/>
                </a:cxn>
                <a:cxn ang="0">
                  <a:pos x="connsiteX1" y="connsiteY1"/>
                </a:cxn>
                <a:cxn ang="0">
                  <a:pos x="connsiteX2" y="connsiteY2"/>
                </a:cxn>
              </a:cxnLst>
              <a:rect l="l" t="t" r="r" b="b"/>
              <a:pathLst>
                <a:path w="118852" h="32558">
                  <a:moveTo>
                    <a:pt x="59427" y="0"/>
                  </a:moveTo>
                  <a:lnTo>
                    <a:pt x="0" y="32558"/>
                  </a:lnTo>
                  <a:lnTo>
                    <a:pt x="118853" y="32558"/>
                  </a:lnTo>
                  <a:close/>
                </a:path>
              </a:pathLst>
            </a:custGeom>
            <a:grpFill/>
            <a:ln w="6390" cap="flat">
              <a:noFill/>
              <a:prstDash val="solid"/>
              <a:miter/>
            </a:ln>
          </p:spPr>
          <p:txBody>
            <a:bodyPr rtlCol="0" anchor="ctr"/>
            <a:lstStyle/>
            <a:p>
              <a:endParaRPr lang="en-US"/>
            </a:p>
          </p:txBody>
        </p:sp>
      </p:grpSp>
      <p:grpSp>
        <p:nvGrpSpPr>
          <p:cNvPr id="534" name="Group 533">
            <a:extLst>
              <a:ext uri="{FF2B5EF4-FFF2-40B4-BE49-F238E27FC236}">
                <a16:creationId xmlns:a16="http://schemas.microsoft.com/office/drawing/2014/main" id="{2C15B2DC-3A91-95E7-A541-656AF276B726}"/>
              </a:ext>
            </a:extLst>
          </p:cNvPr>
          <p:cNvGrpSpPr/>
          <p:nvPr/>
        </p:nvGrpSpPr>
        <p:grpSpPr>
          <a:xfrm>
            <a:off x="6760371" y="4510033"/>
            <a:ext cx="361316" cy="361953"/>
            <a:chOff x="0" y="0"/>
            <a:chExt cx="361674" cy="361971"/>
          </a:xfrm>
          <a:solidFill>
            <a:schemeClr val="bg2">
              <a:lumMod val="25000"/>
            </a:schemeClr>
          </a:solidFill>
        </p:grpSpPr>
        <p:sp>
          <p:nvSpPr>
            <p:cNvPr id="535" name="Graphic 4">
              <a:extLst>
                <a:ext uri="{FF2B5EF4-FFF2-40B4-BE49-F238E27FC236}">
                  <a16:creationId xmlns:a16="http://schemas.microsoft.com/office/drawing/2014/main" id="{C3951CBC-AA5F-CC2A-4A9F-E47EA73A3FCF}"/>
                </a:ext>
              </a:extLst>
            </p:cNvPr>
            <p:cNvSpPr/>
            <p:nvPr/>
          </p:nvSpPr>
          <p:spPr>
            <a:xfrm>
              <a:off x="152081" y="101505"/>
              <a:ext cx="67733" cy="57455"/>
            </a:xfrm>
            <a:custGeom>
              <a:avLst/>
              <a:gdLst>
                <a:gd name="connsiteX0" fmla="*/ 38978 w 67733"/>
                <a:gd name="connsiteY0" fmla="*/ 57456 h 57455"/>
                <a:gd name="connsiteX1" fmla="*/ 58148 w 67733"/>
                <a:gd name="connsiteY1" fmla="*/ 38942 h 57455"/>
                <a:gd name="connsiteX2" fmla="*/ 58148 w 67733"/>
                <a:gd name="connsiteY2" fmla="*/ 18513 h 57455"/>
                <a:gd name="connsiteX3" fmla="*/ 60704 w 67733"/>
                <a:gd name="connsiteY3" fmla="*/ 13406 h 57455"/>
                <a:gd name="connsiteX4" fmla="*/ 67733 w 67733"/>
                <a:gd name="connsiteY4" fmla="*/ 3830 h 57455"/>
                <a:gd name="connsiteX5" fmla="*/ 67733 w 67733"/>
                <a:gd name="connsiteY5" fmla="*/ 0 h 57455"/>
                <a:gd name="connsiteX6" fmla="*/ 0 w 67733"/>
                <a:gd name="connsiteY6" fmla="*/ 0 h 57455"/>
                <a:gd name="connsiteX7" fmla="*/ 0 w 67733"/>
                <a:gd name="connsiteY7" fmla="*/ 3830 h 57455"/>
                <a:gd name="connsiteX8" fmla="*/ 7029 w 67733"/>
                <a:gd name="connsiteY8" fmla="*/ 13406 h 57455"/>
                <a:gd name="connsiteX9" fmla="*/ 9585 w 67733"/>
                <a:gd name="connsiteY9" fmla="*/ 18513 h 57455"/>
                <a:gd name="connsiteX10" fmla="*/ 9585 w 67733"/>
                <a:gd name="connsiteY10" fmla="*/ 38942 h 57455"/>
                <a:gd name="connsiteX11" fmla="*/ 28115 w 67733"/>
                <a:gd name="connsiteY11" fmla="*/ 57456 h 57455"/>
                <a:gd name="connsiteX12" fmla="*/ 38978 w 67733"/>
                <a:gd name="connsiteY12" fmla="*/ 57456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733" h="57455">
                  <a:moveTo>
                    <a:pt x="38978" y="57456"/>
                  </a:moveTo>
                  <a:cubicBezTo>
                    <a:pt x="49202" y="57456"/>
                    <a:pt x="58148" y="49157"/>
                    <a:pt x="58148" y="38942"/>
                  </a:cubicBezTo>
                  <a:lnTo>
                    <a:pt x="58148" y="18513"/>
                  </a:lnTo>
                  <a:cubicBezTo>
                    <a:pt x="58148" y="16598"/>
                    <a:pt x="59426" y="14683"/>
                    <a:pt x="60704" y="13406"/>
                  </a:cubicBezTo>
                  <a:cubicBezTo>
                    <a:pt x="63260" y="12129"/>
                    <a:pt x="67733" y="7022"/>
                    <a:pt x="67733" y="3830"/>
                  </a:cubicBezTo>
                  <a:lnTo>
                    <a:pt x="67733" y="0"/>
                  </a:lnTo>
                  <a:lnTo>
                    <a:pt x="0" y="0"/>
                  </a:lnTo>
                  <a:lnTo>
                    <a:pt x="0" y="3830"/>
                  </a:lnTo>
                  <a:cubicBezTo>
                    <a:pt x="0" y="7661"/>
                    <a:pt x="5111" y="12129"/>
                    <a:pt x="7029" y="13406"/>
                  </a:cubicBezTo>
                  <a:cubicBezTo>
                    <a:pt x="8945" y="14683"/>
                    <a:pt x="9585" y="16598"/>
                    <a:pt x="9585" y="18513"/>
                  </a:cubicBezTo>
                  <a:lnTo>
                    <a:pt x="9585" y="38942"/>
                  </a:lnTo>
                  <a:cubicBezTo>
                    <a:pt x="9585" y="49157"/>
                    <a:pt x="17891" y="57456"/>
                    <a:pt x="28115" y="57456"/>
                  </a:cubicBezTo>
                  <a:lnTo>
                    <a:pt x="38978" y="57456"/>
                  </a:lnTo>
                  <a:close/>
                </a:path>
              </a:pathLst>
            </a:custGeom>
            <a:grpFill/>
            <a:ln w="6390" cap="flat">
              <a:noFill/>
              <a:prstDash val="solid"/>
              <a:miter/>
            </a:ln>
          </p:spPr>
          <p:txBody>
            <a:bodyPr rtlCol="0" anchor="ctr"/>
            <a:lstStyle/>
            <a:p>
              <a:endParaRPr lang="en-US"/>
            </a:p>
          </p:txBody>
        </p:sp>
        <p:sp>
          <p:nvSpPr>
            <p:cNvPr id="536" name="Graphic 4">
              <a:extLst>
                <a:ext uri="{FF2B5EF4-FFF2-40B4-BE49-F238E27FC236}">
                  <a16:creationId xmlns:a16="http://schemas.microsoft.com/office/drawing/2014/main" id="{907512D8-8501-5406-37E5-AFA4352A6032}"/>
                </a:ext>
              </a:extLst>
            </p:cNvPr>
            <p:cNvSpPr/>
            <p:nvPr/>
          </p:nvSpPr>
          <p:spPr>
            <a:xfrm>
              <a:off x="216619" y="176611"/>
              <a:ext cx="70928" cy="45242"/>
            </a:xfrm>
            <a:custGeom>
              <a:avLst/>
              <a:gdLst>
                <a:gd name="connsiteX0" fmla="*/ 12780 w 70928"/>
                <a:gd name="connsiteY0" fmla="*/ 3417 h 45242"/>
                <a:gd name="connsiteX1" fmla="*/ 0 w 70928"/>
                <a:gd name="connsiteY1" fmla="*/ 24485 h 45242"/>
                <a:gd name="connsiteX2" fmla="*/ 42812 w 70928"/>
                <a:gd name="connsiteY2" fmla="*/ 11078 h 45242"/>
                <a:gd name="connsiteX3" fmla="*/ 51119 w 70928"/>
                <a:gd name="connsiteY3" fmla="*/ 9163 h 45242"/>
                <a:gd name="connsiteX4" fmla="*/ 58787 w 70928"/>
                <a:gd name="connsiteY4" fmla="*/ 13632 h 45242"/>
                <a:gd name="connsiteX5" fmla="*/ 54314 w 70928"/>
                <a:gd name="connsiteY5" fmla="*/ 21293 h 45242"/>
                <a:gd name="connsiteX6" fmla="*/ 46007 w 70928"/>
                <a:gd name="connsiteY6" fmla="*/ 23208 h 45242"/>
                <a:gd name="connsiteX7" fmla="*/ 5111 w 70928"/>
                <a:gd name="connsiteY7" fmla="*/ 35976 h 45242"/>
                <a:gd name="connsiteX8" fmla="*/ 8946 w 70928"/>
                <a:gd name="connsiteY8" fmla="*/ 37253 h 45242"/>
                <a:gd name="connsiteX9" fmla="*/ 37061 w 70928"/>
                <a:gd name="connsiteY9" fmla="*/ 44275 h 45242"/>
                <a:gd name="connsiteX10" fmla="*/ 70928 w 70928"/>
                <a:gd name="connsiteY10" fmla="*/ 7886 h 45242"/>
                <a:gd name="connsiteX11" fmla="*/ 49202 w 70928"/>
                <a:gd name="connsiteY11" fmla="*/ 3417 h 45242"/>
                <a:gd name="connsiteX12" fmla="*/ 12780 w 70928"/>
                <a:gd name="connsiteY12" fmla="*/ 3417 h 4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928" h="45242">
                  <a:moveTo>
                    <a:pt x="12780" y="3417"/>
                  </a:moveTo>
                  <a:cubicBezTo>
                    <a:pt x="5751" y="7886"/>
                    <a:pt x="639" y="16185"/>
                    <a:pt x="0" y="24485"/>
                  </a:cubicBezTo>
                  <a:cubicBezTo>
                    <a:pt x="13419" y="18101"/>
                    <a:pt x="28116" y="13632"/>
                    <a:pt x="42812" y="11078"/>
                  </a:cubicBezTo>
                  <a:lnTo>
                    <a:pt x="51119" y="9163"/>
                  </a:lnTo>
                  <a:cubicBezTo>
                    <a:pt x="54314" y="8525"/>
                    <a:pt x="58148" y="10440"/>
                    <a:pt x="58787" y="13632"/>
                  </a:cubicBezTo>
                  <a:cubicBezTo>
                    <a:pt x="59426" y="16824"/>
                    <a:pt x="57509" y="20654"/>
                    <a:pt x="54314" y="21293"/>
                  </a:cubicBezTo>
                  <a:lnTo>
                    <a:pt x="46007" y="23208"/>
                  </a:lnTo>
                  <a:cubicBezTo>
                    <a:pt x="31950" y="25761"/>
                    <a:pt x="18531" y="30230"/>
                    <a:pt x="5111" y="35976"/>
                  </a:cubicBezTo>
                  <a:cubicBezTo>
                    <a:pt x="6390" y="35976"/>
                    <a:pt x="7668" y="36614"/>
                    <a:pt x="8946" y="37253"/>
                  </a:cubicBezTo>
                  <a:cubicBezTo>
                    <a:pt x="16614" y="44275"/>
                    <a:pt x="26837" y="46828"/>
                    <a:pt x="37061" y="44275"/>
                  </a:cubicBezTo>
                  <a:cubicBezTo>
                    <a:pt x="53676" y="39168"/>
                    <a:pt x="67094" y="25123"/>
                    <a:pt x="70928" y="7886"/>
                  </a:cubicBezTo>
                  <a:cubicBezTo>
                    <a:pt x="63261" y="7248"/>
                    <a:pt x="56231" y="5971"/>
                    <a:pt x="49202" y="3417"/>
                  </a:cubicBezTo>
                  <a:cubicBezTo>
                    <a:pt x="36422" y="226"/>
                    <a:pt x="26199" y="-2328"/>
                    <a:pt x="12780" y="3417"/>
                  </a:cubicBezTo>
                  <a:close/>
                </a:path>
              </a:pathLst>
            </a:custGeom>
            <a:grpFill/>
            <a:ln w="6390" cap="flat">
              <a:noFill/>
              <a:prstDash val="solid"/>
              <a:miter/>
            </a:ln>
          </p:spPr>
          <p:txBody>
            <a:bodyPr rtlCol="0" anchor="ctr"/>
            <a:lstStyle/>
            <a:p>
              <a:endParaRPr lang="en-US"/>
            </a:p>
          </p:txBody>
        </p:sp>
        <p:sp>
          <p:nvSpPr>
            <p:cNvPr id="537" name="Graphic 4">
              <a:extLst>
                <a:ext uri="{FF2B5EF4-FFF2-40B4-BE49-F238E27FC236}">
                  <a16:creationId xmlns:a16="http://schemas.microsoft.com/office/drawing/2014/main" id="{1BE6C943-ECD0-358D-4A3D-9B88BF39C83C}"/>
                </a:ext>
              </a:extLst>
            </p:cNvPr>
            <p:cNvSpPr/>
            <p:nvPr/>
          </p:nvSpPr>
          <p:spPr>
            <a:xfrm>
              <a:off x="0" y="0"/>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57515 w 361674"/>
                <a:gd name="connsiteY7" fmla="*/ 233654 h 361971"/>
                <a:gd name="connsiteX8" fmla="*/ 245374 w 361674"/>
                <a:gd name="connsiteY8" fmla="*/ 235569 h 361971"/>
                <a:gd name="connsiteX9" fmla="*/ 217258 w 361674"/>
                <a:gd name="connsiteY9" fmla="*/ 224078 h 361971"/>
                <a:gd name="connsiteX10" fmla="*/ 215980 w 361674"/>
                <a:gd name="connsiteY10" fmla="*/ 215779 h 361971"/>
                <a:gd name="connsiteX11" fmla="*/ 192976 w 361674"/>
                <a:gd name="connsiteY11" fmla="*/ 237484 h 361971"/>
                <a:gd name="connsiteX12" fmla="*/ 192976 w 361674"/>
                <a:gd name="connsiteY12" fmla="*/ 301324 h 361971"/>
                <a:gd name="connsiteX13" fmla="*/ 186586 w 361674"/>
                <a:gd name="connsiteY13" fmla="*/ 307708 h 361971"/>
                <a:gd name="connsiteX14" fmla="*/ 180196 w 361674"/>
                <a:gd name="connsiteY14" fmla="*/ 301324 h 361971"/>
                <a:gd name="connsiteX15" fmla="*/ 180196 w 361674"/>
                <a:gd name="connsiteY15" fmla="*/ 273234 h 361971"/>
                <a:gd name="connsiteX16" fmla="*/ 103517 w 361674"/>
                <a:gd name="connsiteY16" fmla="*/ 220247 h 361971"/>
                <a:gd name="connsiteX17" fmla="*/ 93932 w 361674"/>
                <a:gd name="connsiteY17" fmla="*/ 217055 h 361971"/>
                <a:gd name="connsiteX18" fmla="*/ 90098 w 361674"/>
                <a:gd name="connsiteY18" fmla="*/ 208756 h 361971"/>
                <a:gd name="connsiteX19" fmla="*/ 90098 w 361674"/>
                <a:gd name="connsiteY19" fmla="*/ 208756 h 361971"/>
                <a:gd name="connsiteX20" fmla="*/ 98405 w 361674"/>
                <a:gd name="connsiteY20" fmla="*/ 204926 h 361971"/>
                <a:gd name="connsiteX21" fmla="*/ 107990 w 361674"/>
                <a:gd name="connsiteY21" fmla="*/ 208118 h 361971"/>
                <a:gd name="connsiteX22" fmla="*/ 156553 w 361674"/>
                <a:gd name="connsiteY22" fmla="*/ 229185 h 361971"/>
                <a:gd name="connsiteX23" fmla="*/ 143774 w 361674"/>
                <a:gd name="connsiteY23" fmla="*/ 200457 h 361971"/>
                <a:gd name="connsiteX24" fmla="*/ 102239 w 361674"/>
                <a:gd name="connsiteY24" fmla="*/ 197265 h 361971"/>
                <a:gd name="connsiteX25" fmla="*/ 75402 w 361674"/>
                <a:gd name="connsiteY25" fmla="*/ 199819 h 361971"/>
                <a:gd name="connsiteX26" fmla="*/ 110546 w 361674"/>
                <a:gd name="connsiteY26" fmla="*/ 247698 h 361971"/>
                <a:gd name="connsiteX27" fmla="*/ 144412 w 361674"/>
                <a:gd name="connsiteY27" fmla="*/ 242591 h 361971"/>
                <a:gd name="connsiteX28" fmla="*/ 153358 w 361674"/>
                <a:gd name="connsiteY28" fmla="*/ 243868 h 361971"/>
                <a:gd name="connsiteX29" fmla="*/ 152081 w 361674"/>
                <a:gd name="connsiteY29" fmla="*/ 252806 h 361971"/>
                <a:gd name="connsiteX30" fmla="*/ 152081 w 361674"/>
                <a:gd name="connsiteY30" fmla="*/ 252806 h 361971"/>
                <a:gd name="connsiteX31" fmla="*/ 122686 w 361674"/>
                <a:gd name="connsiteY31" fmla="*/ 262382 h 361971"/>
                <a:gd name="connsiteX32" fmla="*/ 105434 w 361674"/>
                <a:gd name="connsiteY32" fmla="*/ 258551 h 361971"/>
                <a:gd name="connsiteX33" fmla="*/ 63261 w 361674"/>
                <a:gd name="connsiteY33" fmla="*/ 190881 h 361971"/>
                <a:gd name="connsiteX34" fmla="*/ 65817 w 361674"/>
                <a:gd name="connsiteY34" fmla="*/ 186412 h 361971"/>
                <a:gd name="connsiteX35" fmla="*/ 70928 w 361674"/>
                <a:gd name="connsiteY35" fmla="*/ 185774 h 361971"/>
                <a:gd name="connsiteX36" fmla="*/ 99683 w 361674"/>
                <a:gd name="connsiteY36" fmla="*/ 184497 h 361971"/>
                <a:gd name="connsiteX37" fmla="*/ 149525 w 361674"/>
                <a:gd name="connsiteY37" fmla="*/ 188966 h 361971"/>
                <a:gd name="connsiteX38" fmla="*/ 167416 w 361674"/>
                <a:gd name="connsiteY38" fmla="*/ 237484 h 361971"/>
                <a:gd name="connsiteX39" fmla="*/ 180196 w 361674"/>
                <a:gd name="connsiteY39" fmla="*/ 250252 h 361971"/>
                <a:gd name="connsiteX40" fmla="*/ 180196 w 361674"/>
                <a:gd name="connsiteY40" fmla="*/ 237484 h 361971"/>
                <a:gd name="connsiteX41" fmla="*/ 180196 w 361674"/>
                <a:gd name="connsiteY41" fmla="*/ 234292 h 361971"/>
                <a:gd name="connsiteX42" fmla="*/ 180196 w 361674"/>
                <a:gd name="connsiteY42" fmla="*/ 171729 h 361971"/>
                <a:gd name="connsiteX43" fmla="*/ 150164 w 361674"/>
                <a:gd name="connsiteY43" fmla="*/ 140448 h 361971"/>
                <a:gd name="connsiteX44" fmla="*/ 150164 w 361674"/>
                <a:gd name="connsiteY44" fmla="*/ 123211 h 361971"/>
                <a:gd name="connsiteX45" fmla="*/ 139940 w 361674"/>
                <a:gd name="connsiteY45" fmla="*/ 104697 h 361971"/>
                <a:gd name="connsiteX46" fmla="*/ 139940 w 361674"/>
                <a:gd name="connsiteY46" fmla="*/ 94483 h 361971"/>
                <a:gd name="connsiteX47" fmla="*/ 146330 w 361674"/>
                <a:gd name="connsiteY47" fmla="*/ 88099 h 361971"/>
                <a:gd name="connsiteX48" fmla="*/ 160387 w 361674"/>
                <a:gd name="connsiteY48" fmla="*/ 88099 h 361971"/>
                <a:gd name="connsiteX49" fmla="*/ 160387 w 361674"/>
                <a:gd name="connsiteY49" fmla="*/ 59371 h 361971"/>
                <a:gd name="connsiteX50" fmla="*/ 166777 w 361674"/>
                <a:gd name="connsiteY50" fmla="*/ 52987 h 361971"/>
                <a:gd name="connsiteX51" fmla="*/ 173167 w 361674"/>
                <a:gd name="connsiteY51" fmla="*/ 59371 h 361971"/>
                <a:gd name="connsiteX52" fmla="*/ 173167 w 361674"/>
                <a:gd name="connsiteY52" fmla="*/ 88099 h 361971"/>
                <a:gd name="connsiteX53" fmla="*/ 200644 w 361674"/>
                <a:gd name="connsiteY53" fmla="*/ 88099 h 361971"/>
                <a:gd name="connsiteX54" fmla="*/ 200644 w 361674"/>
                <a:gd name="connsiteY54" fmla="*/ 59371 h 361971"/>
                <a:gd name="connsiteX55" fmla="*/ 207034 w 361674"/>
                <a:gd name="connsiteY55" fmla="*/ 52987 h 361971"/>
                <a:gd name="connsiteX56" fmla="*/ 213424 w 361674"/>
                <a:gd name="connsiteY56" fmla="*/ 59371 h 361971"/>
                <a:gd name="connsiteX57" fmla="*/ 213424 w 361674"/>
                <a:gd name="connsiteY57" fmla="*/ 88099 h 361971"/>
                <a:gd name="connsiteX58" fmla="*/ 227482 w 361674"/>
                <a:gd name="connsiteY58" fmla="*/ 88099 h 361971"/>
                <a:gd name="connsiteX59" fmla="*/ 233872 w 361674"/>
                <a:gd name="connsiteY59" fmla="*/ 94483 h 361971"/>
                <a:gd name="connsiteX60" fmla="*/ 233872 w 361674"/>
                <a:gd name="connsiteY60" fmla="*/ 104697 h 361971"/>
                <a:gd name="connsiteX61" fmla="*/ 223648 w 361674"/>
                <a:gd name="connsiteY61" fmla="*/ 123211 h 361971"/>
                <a:gd name="connsiteX62" fmla="*/ 223648 w 361674"/>
                <a:gd name="connsiteY62" fmla="*/ 140448 h 361971"/>
                <a:gd name="connsiteX63" fmla="*/ 193615 w 361674"/>
                <a:gd name="connsiteY63" fmla="*/ 171729 h 361971"/>
                <a:gd name="connsiteX64" fmla="*/ 193615 w 361674"/>
                <a:gd name="connsiteY64" fmla="*/ 217694 h 361971"/>
                <a:gd name="connsiteX65" fmla="*/ 205117 w 361674"/>
                <a:gd name="connsiteY65" fmla="*/ 208118 h 361971"/>
                <a:gd name="connsiteX66" fmla="*/ 225565 w 361674"/>
                <a:gd name="connsiteY66" fmla="*/ 167899 h 361971"/>
                <a:gd name="connsiteX67" fmla="*/ 269655 w 361674"/>
                <a:gd name="connsiteY67" fmla="*/ 168537 h 361971"/>
                <a:gd name="connsiteX68" fmla="*/ 293937 w 361674"/>
                <a:gd name="connsiteY68" fmla="*/ 172368 h 361971"/>
                <a:gd name="connsiteX69" fmla="*/ 300966 w 361674"/>
                <a:gd name="connsiteY69" fmla="*/ 178113 h 361971"/>
                <a:gd name="connsiteX70" fmla="*/ 300966 w 361674"/>
                <a:gd name="connsiteY70" fmla="*/ 178752 h 361971"/>
                <a:gd name="connsiteX71" fmla="*/ 257515 w 361674"/>
                <a:gd name="connsiteY71" fmla="*/ 233654 h 361971"/>
                <a:gd name="connsiteX72" fmla="*/ 257515 w 361674"/>
                <a:gd name="connsiteY72" fmla="*/ 23365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61674"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257515" y="233654"/>
                  </a:moveTo>
                  <a:cubicBezTo>
                    <a:pt x="253680" y="234930"/>
                    <a:pt x="249846" y="235569"/>
                    <a:pt x="245374" y="235569"/>
                  </a:cubicBezTo>
                  <a:cubicBezTo>
                    <a:pt x="235150" y="234930"/>
                    <a:pt x="224925" y="231100"/>
                    <a:pt x="217258" y="224078"/>
                  </a:cubicBezTo>
                  <a:cubicBezTo>
                    <a:pt x="214702" y="222163"/>
                    <a:pt x="214063" y="218971"/>
                    <a:pt x="215980" y="215779"/>
                  </a:cubicBezTo>
                  <a:cubicBezTo>
                    <a:pt x="207034" y="221524"/>
                    <a:pt x="198727" y="228546"/>
                    <a:pt x="192976" y="237484"/>
                  </a:cubicBezTo>
                  <a:lnTo>
                    <a:pt x="192976" y="301324"/>
                  </a:lnTo>
                  <a:cubicBezTo>
                    <a:pt x="192976" y="305154"/>
                    <a:pt x="190420" y="307708"/>
                    <a:pt x="186586" y="307708"/>
                  </a:cubicBezTo>
                  <a:cubicBezTo>
                    <a:pt x="182752" y="307708"/>
                    <a:pt x="180196" y="305154"/>
                    <a:pt x="180196" y="301324"/>
                  </a:cubicBezTo>
                  <a:lnTo>
                    <a:pt x="180196" y="273234"/>
                  </a:lnTo>
                  <a:cubicBezTo>
                    <a:pt x="161666" y="238761"/>
                    <a:pt x="127799" y="227908"/>
                    <a:pt x="103517" y="220247"/>
                  </a:cubicBezTo>
                  <a:lnTo>
                    <a:pt x="93932" y="217055"/>
                  </a:lnTo>
                  <a:cubicBezTo>
                    <a:pt x="90737" y="215779"/>
                    <a:pt x="88820" y="211948"/>
                    <a:pt x="90098" y="208756"/>
                  </a:cubicBezTo>
                  <a:cubicBezTo>
                    <a:pt x="90098" y="208756"/>
                    <a:pt x="90098" y="208756"/>
                    <a:pt x="90098" y="208756"/>
                  </a:cubicBezTo>
                  <a:cubicBezTo>
                    <a:pt x="91376" y="205564"/>
                    <a:pt x="95210" y="203649"/>
                    <a:pt x="98405" y="204926"/>
                  </a:cubicBezTo>
                  <a:lnTo>
                    <a:pt x="107990" y="208118"/>
                  </a:lnTo>
                  <a:cubicBezTo>
                    <a:pt x="125243" y="213225"/>
                    <a:pt x="141217" y="220247"/>
                    <a:pt x="156553" y="229185"/>
                  </a:cubicBezTo>
                  <a:cubicBezTo>
                    <a:pt x="157192" y="218332"/>
                    <a:pt x="152720" y="207479"/>
                    <a:pt x="143774" y="200457"/>
                  </a:cubicBezTo>
                  <a:cubicBezTo>
                    <a:pt x="129076" y="192158"/>
                    <a:pt x="116297" y="194711"/>
                    <a:pt x="102239" y="197265"/>
                  </a:cubicBezTo>
                  <a:cubicBezTo>
                    <a:pt x="93293" y="199180"/>
                    <a:pt x="84347" y="199819"/>
                    <a:pt x="75402" y="199819"/>
                  </a:cubicBezTo>
                  <a:cubicBezTo>
                    <a:pt x="77318" y="220886"/>
                    <a:pt x="91376" y="239399"/>
                    <a:pt x="110546" y="247698"/>
                  </a:cubicBezTo>
                  <a:cubicBezTo>
                    <a:pt x="122048" y="252167"/>
                    <a:pt x="134828" y="250252"/>
                    <a:pt x="144412" y="242591"/>
                  </a:cubicBezTo>
                  <a:cubicBezTo>
                    <a:pt x="147607" y="240676"/>
                    <a:pt x="151441" y="241314"/>
                    <a:pt x="153358" y="243868"/>
                  </a:cubicBezTo>
                  <a:cubicBezTo>
                    <a:pt x="155276" y="247060"/>
                    <a:pt x="154636" y="250890"/>
                    <a:pt x="152081" y="252806"/>
                  </a:cubicBezTo>
                  <a:cubicBezTo>
                    <a:pt x="152081" y="252806"/>
                    <a:pt x="152081" y="252806"/>
                    <a:pt x="152081" y="252806"/>
                  </a:cubicBezTo>
                  <a:cubicBezTo>
                    <a:pt x="143774" y="259190"/>
                    <a:pt x="133550" y="262382"/>
                    <a:pt x="122686" y="262382"/>
                  </a:cubicBezTo>
                  <a:cubicBezTo>
                    <a:pt x="116936" y="262382"/>
                    <a:pt x="110546" y="261105"/>
                    <a:pt x="105434" y="258551"/>
                  </a:cubicBezTo>
                  <a:cubicBezTo>
                    <a:pt x="77957" y="245783"/>
                    <a:pt x="60066" y="217055"/>
                    <a:pt x="63261" y="190881"/>
                  </a:cubicBezTo>
                  <a:cubicBezTo>
                    <a:pt x="63261" y="188966"/>
                    <a:pt x="64538" y="187689"/>
                    <a:pt x="65817" y="186412"/>
                  </a:cubicBezTo>
                  <a:cubicBezTo>
                    <a:pt x="67094" y="185135"/>
                    <a:pt x="69012" y="185135"/>
                    <a:pt x="70928" y="185774"/>
                  </a:cubicBezTo>
                  <a:cubicBezTo>
                    <a:pt x="80513" y="187689"/>
                    <a:pt x="90098" y="187051"/>
                    <a:pt x="99683" y="184497"/>
                  </a:cubicBezTo>
                  <a:cubicBezTo>
                    <a:pt x="114380" y="181944"/>
                    <a:pt x="130994" y="178752"/>
                    <a:pt x="149525" y="188966"/>
                  </a:cubicBezTo>
                  <a:cubicBezTo>
                    <a:pt x="164861" y="199819"/>
                    <a:pt x="171889" y="218971"/>
                    <a:pt x="167416" y="237484"/>
                  </a:cubicBezTo>
                  <a:cubicBezTo>
                    <a:pt x="171889" y="241314"/>
                    <a:pt x="176362" y="245783"/>
                    <a:pt x="180196" y="250252"/>
                  </a:cubicBezTo>
                  <a:lnTo>
                    <a:pt x="180196" y="237484"/>
                  </a:lnTo>
                  <a:cubicBezTo>
                    <a:pt x="180196" y="236207"/>
                    <a:pt x="180196" y="235569"/>
                    <a:pt x="180196" y="234292"/>
                  </a:cubicBezTo>
                  <a:lnTo>
                    <a:pt x="180196" y="171729"/>
                  </a:lnTo>
                  <a:cubicBezTo>
                    <a:pt x="163582" y="171091"/>
                    <a:pt x="150164" y="157046"/>
                    <a:pt x="150164" y="140448"/>
                  </a:cubicBezTo>
                  <a:lnTo>
                    <a:pt x="150164" y="123211"/>
                  </a:lnTo>
                  <a:cubicBezTo>
                    <a:pt x="144412" y="118742"/>
                    <a:pt x="140579" y="112358"/>
                    <a:pt x="139940" y="104697"/>
                  </a:cubicBezTo>
                  <a:lnTo>
                    <a:pt x="139940" y="94483"/>
                  </a:lnTo>
                  <a:cubicBezTo>
                    <a:pt x="139940" y="90653"/>
                    <a:pt x="142496" y="88099"/>
                    <a:pt x="146330" y="88099"/>
                  </a:cubicBezTo>
                  <a:lnTo>
                    <a:pt x="160387" y="88099"/>
                  </a:lnTo>
                  <a:lnTo>
                    <a:pt x="160387" y="59371"/>
                  </a:lnTo>
                  <a:cubicBezTo>
                    <a:pt x="160387" y="55541"/>
                    <a:pt x="162943" y="52987"/>
                    <a:pt x="166777" y="52987"/>
                  </a:cubicBezTo>
                  <a:cubicBezTo>
                    <a:pt x="170611" y="52987"/>
                    <a:pt x="173167" y="55541"/>
                    <a:pt x="173167" y="59371"/>
                  </a:cubicBezTo>
                  <a:lnTo>
                    <a:pt x="173167" y="88099"/>
                  </a:lnTo>
                  <a:lnTo>
                    <a:pt x="200644" y="88099"/>
                  </a:lnTo>
                  <a:lnTo>
                    <a:pt x="200644" y="59371"/>
                  </a:lnTo>
                  <a:cubicBezTo>
                    <a:pt x="200644" y="55541"/>
                    <a:pt x="203200" y="52987"/>
                    <a:pt x="207034" y="52987"/>
                  </a:cubicBezTo>
                  <a:cubicBezTo>
                    <a:pt x="210868" y="52987"/>
                    <a:pt x="213424" y="55541"/>
                    <a:pt x="213424" y="59371"/>
                  </a:cubicBezTo>
                  <a:lnTo>
                    <a:pt x="213424" y="88099"/>
                  </a:lnTo>
                  <a:lnTo>
                    <a:pt x="227482" y="88099"/>
                  </a:lnTo>
                  <a:cubicBezTo>
                    <a:pt x="231315" y="88099"/>
                    <a:pt x="233872" y="90653"/>
                    <a:pt x="233872" y="94483"/>
                  </a:cubicBezTo>
                  <a:lnTo>
                    <a:pt x="233872" y="104697"/>
                  </a:lnTo>
                  <a:cubicBezTo>
                    <a:pt x="233233" y="111720"/>
                    <a:pt x="229399" y="118742"/>
                    <a:pt x="223648" y="123211"/>
                  </a:cubicBezTo>
                  <a:lnTo>
                    <a:pt x="223648" y="140448"/>
                  </a:lnTo>
                  <a:cubicBezTo>
                    <a:pt x="223648" y="157046"/>
                    <a:pt x="210229" y="171091"/>
                    <a:pt x="193615" y="171729"/>
                  </a:cubicBezTo>
                  <a:lnTo>
                    <a:pt x="193615" y="217694"/>
                  </a:lnTo>
                  <a:cubicBezTo>
                    <a:pt x="197449" y="213863"/>
                    <a:pt x="201283" y="210671"/>
                    <a:pt x="205117" y="208118"/>
                  </a:cubicBezTo>
                  <a:cubicBezTo>
                    <a:pt x="203200" y="191519"/>
                    <a:pt x="210868" y="176198"/>
                    <a:pt x="225565" y="167899"/>
                  </a:cubicBezTo>
                  <a:cubicBezTo>
                    <a:pt x="242818" y="160238"/>
                    <a:pt x="256875" y="164707"/>
                    <a:pt x="269655" y="168537"/>
                  </a:cubicBezTo>
                  <a:cubicBezTo>
                    <a:pt x="277323" y="171729"/>
                    <a:pt x="285630" y="173006"/>
                    <a:pt x="293937" y="172368"/>
                  </a:cubicBezTo>
                  <a:cubicBezTo>
                    <a:pt x="297132" y="171729"/>
                    <a:pt x="300966" y="174283"/>
                    <a:pt x="300966" y="178113"/>
                  </a:cubicBezTo>
                  <a:cubicBezTo>
                    <a:pt x="300966" y="178113"/>
                    <a:pt x="300966" y="178752"/>
                    <a:pt x="300966" y="178752"/>
                  </a:cubicBezTo>
                  <a:cubicBezTo>
                    <a:pt x="300327" y="201734"/>
                    <a:pt x="282435" y="224716"/>
                    <a:pt x="257515" y="233654"/>
                  </a:cubicBezTo>
                  <a:lnTo>
                    <a:pt x="257515" y="233654"/>
                  </a:lnTo>
                  <a:close/>
                </a:path>
              </a:pathLst>
            </a:custGeom>
            <a:grpFill/>
            <a:ln w="6390" cap="flat">
              <a:noFill/>
              <a:prstDash val="solid"/>
              <a:miter/>
            </a:ln>
          </p:spPr>
          <p:txBody>
            <a:bodyPr rtlCol="0" anchor="ctr"/>
            <a:lstStyle/>
            <a:p>
              <a:endParaRPr lang="en-US"/>
            </a:p>
          </p:txBody>
        </p:sp>
      </p:grpSp>
      <p:grpSp>
        <p:nvGrpSpPr>
          <p:cNvPr id="3" name="Graphic 4">
            <a:extLst>
              <a:ext uri="{FF2B5EF4-FFF2-40B4-BE49-F238E27FC236}">
                <a16:creationId xmlns:a16="http://schemas.microsoft.com/office/drawing/2014/main" id="{06BAEAC1-33D0-E154-04C1-A7FB7BBF75DE}"/>
              </a:ext>
            </a:extLst>
          </p:cNvPr>
          <p:cNvGrpSpPr/>
          <p:nvPr/>
        </p:nvGrpSpPr>
        <p:grpSpPr>
          <a:xfrm>
            <a:off x="637620" y="6072225"/>
            <a:ext cx="457202" cy="457198"/>
            <a:chOff x="905454" y="2371173"/>
            <a:chExt cx="361670" cy="361333"/>
          </a:xfrm>
          <a:solidFill>
            <a:schemeClr val="accent5"/>
          </a:solidFill>
        </p:grpSpPr>
        <p:sp>
          <p:nvSpPr>
            <p:cNvPr id="4" name="Graphic 4">
              <a:extLst>
                <a:ext uri="{FF2B5EF4-FFF2-40B4-BE49-F238E27FC236}">
                  <a16:creationId xmlns:a16="http://schemas.microsoft.com/office/drawing/2014/main" id="{E63B8D83-6A55-888F-E90E-7D924F118767}"/>
                </a:ext>
              </a:extLst>
            </p:cNvPr>
            <p:cNvSpPr/>
            <p:nvPr/>
          </p:nvSpPr>
          <p:spPr>
            <a:xfrm>
              <a:off x="1109293" y="2492469"/>
              <a:ext cx="53036" cy="52987"/>
            </a:xfrm>
            <a:custGeom>
              <a:avLst/>
              <a:gdLst>
                <a:gd name="connsiteX0" fmla="*/ 0 w 53036"/>
                <a:gd name="connsiteY0" fmla="*/ 0 h 52987"/>
                <a:gd name="connsiteX1" fmla="*/ 53037 w 53036"/>
                <a:gd name="connsiteY1" fmla="*/ 0 h 52987"/>
                <a:gd name="connsiteX2" fmla="*/ 53037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7" y="0"/>
                  </a:lnTo>
                  <a:lnTo>
                    <a:pt x="53037" y="52987"/>
                  </a:lnTo>
                  <a:lnTo>
                    <a:pt x="0" y="52987"/>
                  </a:lnTo>
                  <a:close/>
                </a:path>
              </a:pathLst>
            </a:custGeom>
            <a:grpFill/>
            <a:ln w="6390" cap="flat">
              <a:noFill/>
              <a:prstDash val="solid"/>
              <a:miter/>
            </a:ln>
          </p:spPr>
          <p:txBody>
            <a:bodyPr rtlCol="0" anchor="ctr"/>
            <a:lstStyle/>
            <a:p>
              <a:endParaRPr lang="en-US"/>
            </a:p>
          </p:txBody>
        </p:sp>
        <p:sp>
          <p:nvSpPr>
            <p:cNvPr id="5" name="Graphic 4">
              <a:extLst>
                <a:ext uri="{FF2B5EF4-FFF2-40B4-BE49-F238E27FC236}">
                  <a16:creationId xmlns:a16="http://schemas.microsoft.com/office/drawing/2014/main" id="{183696B5-FC88-12C9-6780-621569288C56}"/>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250 w 361670"/>
                <a:gd name="connsiteY5" fmla="*/ 180667 h 361333"/>
                <a:gd name="connsiteX6" fmla="*/ 99044 w 361670"/>
                <a:gd name="connsiteY6" fmla="*/ 252806 h 361333"/>
                <a:gd name="connsiteX7" fmla="*/ 92654 w 361670"/>
                <a:gd name="connsiteY7" fmla="*/ 246422 h 361333"/>
                <a:gd name="connsiteX8" fmla="*/ 99044 w 361670"/>
                <a:gd name="connsiteY8" fmla="*/ 240038 h 361333"/>
                <a:gd name="connsiteX9" fmla="*/ 157831 w 361670"/>
                <a:gd name="connsiteY9" fmla="*/ 187051 h 361333"/>
                <a:gd name="connsiteX10" fmla="*/ 99044 w 361670"/>
                <a:gd name="connsiteY10" fmla="*/ 187051 h 361333"/>
                <a:gd name="connsiteX11" fmla="*/ 92654 w 361670"/>
                <a:gd name="connsiteY11" fmla="*/ 180667 h 361333"/>
                <a:gd name="connsiteX12" fmla="*/ 92654 w 361670"/>
                <a:gd name="connsiteY12" fmla="*/ 114912 h 361333"/>
                <a:gd name="connsiteX13" fmla="*/ 99044 w 361670"/>
                <a:gd name="connsiteY13" fmla="*/ 108528 h 361333"/>
                <a:gd name="connsiteX14" fmla="*/ 164860 w 361670"/>
                <a:gd name="connsiteY14" fmla="*/ 108528 h 361333"/>
                <a:gd name="connsiteX15" fmla="*/ 171250 w 361670"/>
                <a:gd name="connsiteY15" fmla="*/ 114912 h 361333"/>
                <a:gd name="connsiteX16" fmla="*/ 171250 w 361670"/>
                <a:gd name="connsiteY16" fmla="*/ 180667 h 361333"/>
                <a:gd name="connsiteX17" fmla="*/ 269655 w 361670"/>
                <a:gd name="connsiteY17" fmla="*/ 180667 h 361333"/>
                <a:gd name="connsiteX18" fmla="*/ 197449 w 361670"/>
                <a:gd name="connsiteY18" fmla="*/ 252806 h 361333"/>
                <a:gd name="connsiteX19" fmla="*/ 191059 w 361670"/>
                <a:gd name="connsiteY19" fmla="*/ 246422 h 361333"/>
                <a:gd name="connsiteX20" fmla="*/ 197449 w 361670"/>
                <a:gd name="connsiteY20" fmla="*/ 240038 h 361333"/>
                <a:gd name="connsiteX21" fmla="*/ 256237 w 361670"/>
                <a:gd name="connsiteY21" fmla="*/ 187051 h 361333"/>
                <a:gd name="connsiteX22" fmla="*/ 197449 w 361670"/>
                <a:gd name="connsiteY22" fmla="*/ 187051 h 361333"/>
                <a:gd name="connsiteX23" fmla="*/ 191059 w 361670"/>
                <a:gd name="connsiteY23" fmla="*/ 180667 h 361333"/>
                <a:gd name="connsiteX24" fmla="*/ 191059 w 361670"/>
                <a:gd name="connsiteY24" fmla="*/ 114912 h 361333"/>
                <a:gd name="connsiteX25" fmla="*/ 197449 w 361670"/>
                <a:gd name="connsiteY25" fmla="*/ 108528 h 361333"/>
                <a:gd name="connsiteX26" fmla="*/ 263265 w 361670"/>
                <a:gd name="connsiteY26" fmla="*/ 108528 h 361333"/>
                <a:gd name="connsiteX27" fmla="*/ 269655 w 361670"/>
                <a:gd name="connsiteY27" fmla="*/ 114912 h 361333"/>
                <a:gd name="connsiteX28" fmla="*/ 269655 w 361670"/>
                <a:gd name="connsiteY2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71250" y="180667"/>
                  </a:moveTo>
                  <a:cubicBezTo>
                    <a:pt x="171250" y="221524"/>
                    <a:pt x="139940" y="252806"/>
                    <a:pt x="99044" y="252806"/>
                  </a:cubicBezTo>
                  <a:cubicBezTo>
                    <a:pt x="95210" y="252806"/>
                    <a:pt x="92654" y="250252"/>
                    <a:pt x="92654" y="246422"/>
                  </a:cubicBezTo>
                  <a:cubicBezTo>
                    <a:pt x="92654" y="242591"/>
                    <a:pt x="95210" y="240038"/>
                    <a:pt x="99044" y="240038"/>
                  </a:cubicBezTo>
                  <a:cubicBezTo>
                    <a:pt x="130994" y="240038"/>
                    <a:pt x="155275" y="217694"/>
                    <a:pt x="157831" y="187051"/>
                  </a:cubicBezTo>
                  <a:lnTo>
                    <a:pt x="99044" y="187051"/>
                  </a:lnTo>
                  <a:cubicBezTo>
                    <a:pt x="95210" y="187051"/>
                    <a:pt x="92654" y="184497"/>
                    <a:pt x="92654" y="180667"/>
                  </a:cubicBezTo>
                  <a:lnTo>
                    <a:pt x="92654" y="114912"/>
                  </a:lnTo>
                  <a:cubicBezTo>
                    <a:pt x="92654" y="111081"/>
                    <a:pt x="95210" y="108528"/>
                    <a:pt x="99044" y="108528"/>
                  </a:cubicBezTo>
                  <a:lnTo>
                    <a:pt x="164860" y="108528"/>
                  </a:lnTo>
                  <a:cubicBezTo>
                    <a:pt x="168694" y="108528"/>
                    <a:pt x="171250" y="111081"/>
                    <a:pt x="171250" y="114912"/>
                  </a:cubicBezTo>
                  <a:lnTo>
                    <a:pt x="171250" y="180667"/>
                  </a:lnTo>
                  <a:close/>
                  <a:moveTo>
                    <a:pt x="269655" y="180667"/>
                  </a:moveTo>
                  <a:cubicBezTo>
                    <a:pt x="269655" y="221524"/>
                    <a:pt x="238345" y="252806"/>
                    <a:pt x="197449" y="252806"/>
                  </a:cubicBezTo>
                  <a:cubicBezTo>
                    <a:pt x="193615" y="252806"/>
                    <a:pt x="191059" y="250252"/>
                    <a:pt x="191059" y="246422"/>
                  </a:cubicBezTo>
                  <a:cubicBezTo>
                    <a:pt x="191059" y="242591"/>
                    <a:pt x="193615" y="240038"/>
                    <a:pt x="197449" y="240038"/>
                  </a:cubicBezTo>
                  <a:cubicBezTo>
                    <a:pt x="229399" y="240038"/>
                    <a:pt x="253680" y="217694"/>
                    <a:pt x="256237" y="187051"/>
                  </a:cubicBezTo>
                  <a:lnTo>
                    <a:pt x="197449" y="187051"/>
                  </a:lnTo>
                  <a:cubicBezTo>
                    <a:pt x="193615" y="187051"/>
                    <a:pt x="191059" y="184497"/>
                    <a:pt x="191059" y="180667"/>
                  </a:cubicBezTo>
                  <a:lnTo>
                    <a:pt x="191059" y="114912"/>
                  </a:lnTo>
                  <a:cubicBezTo>
                    <a:pt x="191059" y="111081"/>
                    <a:pt x="193615" y="108528"/>
                    <a:pt x="197449" y="108528"/>
                  </a:cubicBezTo>
                  <a:lnTo>
                    <a:pt x="263265" y="108528"/>
                  </a:lnTo>
                  <a:cubicBezTo>
                    <a:pt x="267099" y="108528"/>
                    <a:pt x="269655" y="111081"/>
                    <a:pt x="269655" y="114912"/>
                  </a:cubicBezTo>
                  <a:lnTo>
                    <a:pt x="269655" y="180667"/>
                  </a:lnTo>
                  <a:close/>
                </a:path>
              </a:pathLst>
            </a:custGeom>
            <a:grpFill/>
            <a:ln w="6390" cap="flat">
              <a:noFill/>
              <a:prstDash val="solid"/>
              <a:miter/>
            </a:ln>
          </p:spPr>
          <p:txBody>
            <a:bodyPr rtlCol="0" anchor="ctr"/>
            <a:lstStyle/>
            <a:p>
              <a:endParaRPr lang="en-US"/>
            </a:p>
          </p:txBody>
        </p:sp>
        <p:sp>
          <p:nvSpPr>
            <p:cNvPr id="7" name="Graphic 4">
              <a:extLst>
                <a:ext uri="{FF2B5EF4-FFF2-40B4-BE49-F238E27FC236}">
                  <a16:creationId xmlns:a16="http://schemas.microsoft.com/office/drawing/2014/main" id="{5DD8ED8B-7D9D-AD25-A6C7-949A6678279C}"/>
                </a:ext>
              </a:extLst>
            </p:cNvPr>
            <p:cNvSpPr/>
            <p:nvPr/>
          </p:nvSpPr>
          <p:spPr>
            <a:xfrm>
              <a:off x="1010888" y="2492469"/>
              <a:ext cx="53036" cy="52987"/>
            </a:xfrm>
            <a:custGeom>
              <a:avLst/>
              <a:gdLst>
                <a:gd name="connsiteX0" fmla="*/ 0 w 53036"/>
                <a:gd name="connsiteY0" fmla="*/ 0 h 52987"/>
                <a:gd name="connsiteX1" fmla="*/ 53036 w 53036"/>
                <a:gd name="connsiteY1" fmla="*/ 0 h 52987"/>
                <a:gd name="connsiteX2" fmla="*/ 53036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6" y="0"/>
                  </a:lnTo>
                  <a:lnTo>
                    <a:pt x="53036" y="52987"/>
                  </a:lnTo>
                  <a:lnTo>
                    <a:pt x="0" y="52987"/>
                  </a:lnTo>
                  <a:close/>
                </a:path>
              </a:pathLst>
            </a:custGeom>
            <a:grpFill/>
            <a:ln w="6390" cap="flat">
              <a:noFill/>
              <a:prstDash val="solid"/>
              <a:miter/>
            </a:ln>
          </p:spPr>
          <p:txBody>
            <a:bodyPr rtlCol="0" anchor="ctr"/>
            <a:lstStyle/>
            <a:p>
              <a:endParaRPr lang="en-US"/>
            </a:p>
          </p:txBody>
        </p:sp>
      </p:grpSp>
      <p:sp>
        <p:nvSpPr>
          <p:cNvPr id="8" name="TextBox 7">
            <a:extLst>
              <a:ext uri="{FF2B5EF4-FFF2-40B4-BE49-F238E27FC236}">
                <a16:creationId xmlns:a16="http://schemas.microsoft.com/office/drawing/2014/main" id="{4DB5F02D-ECEC-D643-12E5-C5AC15422951}"/>
              </a:ext>
            </a:extLst>
          </p:cNvPr>
          <p:cNvSpPr txBox="1"/>
          <p:nvPr/>
        </p:nvSpPr>
        <p:spPr>
          <a:xfrm>
            <a:off x="1095259" y="5971816"/>
            <a:ext cx="10615184" cy="738664"/>
          </a:xfrm>
          <a:prstGeom prst="rect">
            <a:avLst/>
          </a:prstGeom>
          <a:noFill/>
        </p:spPr>
        <p:txBody>
          <a:bodyPr wrap="square">
            <a:spAutoFit/>
          </a:bodyPr>
          <a:lstStyle/>
          <a:p>
            <a:pPr algn="just"/>
            <a:r>
              <a:rPr lang="en-US" sz="1400">
                <a:latin typeface="Arial" panose="020B0604020202020204" pitchFamily="34" charset="0"/>
                <a:cs typeface="Arial" panose="020B0604020202020204" pitchFamily="34" charset="0"/>
              </a:rPr>
              <a:t>This decadal shift in energy landscape over the decades has resulted a positive surge in demand-supply dynamics in the country. The consumer mix witnessed increased industrial consumers. Similarly, inclusion of several hydro projects have enabled Nepal to meet its domestic demand and export surplus power in the wet season  </a:t>
            </a:r>
          </a:p>
        </p:txBody>
      </p:sp>
    </p:spTree>
    <p:extLst>
      <p:ext uri="{BB962C8B-B14F-4D97-AF65-F5344CB8AC3E}">
        <p14:creationId xmlns:p14="http://schemas.microsoft.com/office/powerpoint/2010/main" val="2738235827"/>
      </p:ext>
    </p:extLst>
  </p:cSld>
  <p:clrMapOvr>
    <a:masterClrMapping/>
  </p:clrMapOvr>
  <p:transition>
    <p:fade/>
  </p:transition>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906908154"/>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784840336"/>
              </p:ext>
            </p:extLst>
          </p:nvPr>
        </p:nvGraphicFramePr>
        <p:xfrm>
          <a:off x="1673719" y="2761586"/>
          <a:ext cx="9206802" cy="1334828"/>
        </p:xfrm>
        <a:graphic>
          <a:graphicData uri="http://schemas.openxmlformats.org/drawingml/2006/table">
            <a:tbl>
              <a:tblPr firstRow="1" bandRow="1">
                <a:tableStyleId>{5C22544A-7EE6-4342-B048-85BDC9FD1C3A}</a:tableStyleId>
              </a:tblPr>
              <a:tblGrid>
                <a:gridCol w="2898281">
                  <a:extLst>
                    <a:ext uri="{9D8B030D-6E8A-4147-A177-3AD203B41FA5}">
                      <a16:colId xmlns:a16="http://schemas.microsoft.com/office/drawing/2014/main" val="2744717436"/>
                    </a:ext>
                  </a:extLst>
                </a:gridCol>
                <a:gridCol w="6308521">
                  <a:extLst>
                    <a:ext uri="{9D8B030D-6E8A-4147-A177-3AD203B41FA5}">
                      <a16:colId xmlns:a16="http://schemas.microsoft.com/office/drawing/2014/main" val="570884867"/>
                    </a:ext>
                  </a:extLst>
                </a:gridCol>
              </a:tblGrid>
              <a:tr h="1334828">
                <a:tc>
                  <a:txBody>
                    <a:bodyPr/>
                    <a:lstStyle/>
                    <a:p>
                      <a:r>
                        <a:rPr lang="en-US" sz="3600">
                          <a:latin typeface="Arial" panose="020B0604020202020204" pitchFamily="34" charset="0"/>
                          <a:cs typeface="Arial" panose="020B0604020202020204" pitchFamily="34" charset="0"/>
                        </a:rPr>
                        <a:t>2.2</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398463" indent="0"/>
                      <a:r>
                        <a:rPr lang="en-US" sz="2400">
                          <a:latin typeface="Arial" panose="020B0604020202020204" pitchFamily="34" charset="0"/>
                          <a:cs typeface="Arial" panose="020B0604020202020204" pitchFamily="34" charset="0"/>
                        </a:rPr>
                        <a:t>CROSS-BORDER ELECTRICITY TRADE FROM NEPAL</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596637054"/>
      </p:ext>
    </p:extLst>
  </p:cSld>
  <p:clrMapOvr>
    <a:masterClrMapping/>
  </p:clrMapOvr>
  <p:transition>
    <p:fade/>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509216578"/>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Evolution of Cross Border Electricity Trade (CBET) Landscape of Nepal with India (1/2) </a:t>
            </a:r>
            <a:endParaRPr lang="en-GB" sz="1800" b="1">
              <a:latin typeface="Arial" panose="020B0604020202020204" pitchFamily="34" charset="0"/>
              <a:cs typeface="Arial" panose="020B0604020202020204" pitchFamily="34" charset="0"/>
            </a:endParaRPr>
          </a:p>
        </p:txBody>
      </p:sp>
      <p:graphicFrame>
        <p:nvGraphicFramePr>
          <p:cNvPr id="120" name="Table 119">
            <a:extLst>
              <a:ext uri="{FF2B5EF4-FFF2-40B4-BE49-F238E27FC236}">
                <a16:creationId xmlns:a16="http://schemas.microsoft.com/office/drawing/2014/main" id="{8714A904-D334-7910-DAD6-855D562EE720}"/>
              </a:ext>
            </a:extLst>
          </p:cNvPr>
          <p:cNvGraphicFramePr>
            <a:graphicFrameLocks noGrp="1"/>
          </p:cNvGraphicFramePr>
          <p:nvPr>
            <p:extLst>
              <p:ext uri="{D42A27DB-BD31-4B8C-83A1-F6EECF244321}">
                <p14:modId xmlns:p14="http://schemas.microsoft.com/office/powerpoint/2010/main" val="11488307"/>
              </p:ext>
            </p:extLst>
          </p:nvPr>
        </p:nvGraphicFramePr>
        <p:xfrm>
          <a:off x="355999" y="5236278"/>
          <a:ext cx="11559986" cy="1486345"/>
        </p:xfrm>
        <a:graphic>
          <a:graphicData uri="http://schemas.openxmlformats.org/drawingml/2006/table">
            <a:tbl>
              <a:tblPr firstRow="1" bandRow="1">
                <a:tableStyleId>{5C22544A-7EE6-4342-B048-85BDC9FD1C3A}</a:tableStyleId>
              </a:tblPr>
              <a:tblGrid>
                <a:gridCol w="1838409">
                  <a:extLst>
                    <a:ext uri="{9D8B030D-6E8A-4147-A177-3AD203B41FA5}">
                      <a16:colId xmlns:a16="http://schemas.microsoft.com/office/drawing/2014/main" val="1601999352"/>
                    </a:ext>
                  </a:extLst>
                </a:gridCol>
                <a:gridCol w="9721577">
                  <a:extLst>
                    <a:ext uri="{9D8B030D-6E8A-4147-A177-3AD203B41FA5}">
                      <a16:colId xmlns:a16="http://schemas.microsoft.com/office/drawing/2014/main" val="2515607737"/>
                    </a:ext>
                  </a:extLst>
                </a:gridCol>
              </a:tblGrid>
              <a:tr h="167776">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848456">
                <a:tc gridSpan="2">
                  <a:txBody>
                    <a:bodyPr/>
                    <a:lstStyle/>
                    <a:p>
                      <a:pPr marL="169863" indent="-169863" algn="just" defTabSz="914335" rtl="0" eaLnBrk="1" latinLnBrk="0" hangingPunct="1">
                        <a:lnSpc>
                          <a:spcPct val="125000"/>
                        </a:lnSpc>
                        <a:buFont typeface="Arial" panose="020B0604020202020204" pitchFamily="34" charset="0"/>
                        <a:buChar char="•"/>
                      </a:pPr>
                      <a:r>
                        <a:rPr lang="en-US" sz="1200" b="0" kern="1200">
                          <a:solidFill>
                            <a:schemeClr val="dk1"/>
                          </a:solidFill>
                          <a:latin typeface="Arial" panose="020B0604020202020204" pitchFamily="34" charset="0"/>
                          <a:ea typeface="+mn-ea"/>
                          <a:cs typeface="Arial" panose="020B0604020202020204" pitchFamily="34" charset="0"/>
                        </a:rPr>
                        <a:t>Till the late 2000s, cross border power trading for Nepal was mainly governed through bilateral treaties which led to support of India in development of specific river basin projects in Nepal.</a:t>
                      </a:r>
                    </a:p>
                    <a:p>
                      <a:pPr marL="169863" indent="-169863" algn="just" defTabSz="914335" rtl="0" eaLnBrk="1" latinLnBrk="0" hangingPunct="1">
                        <a:lnSpc>
                          <a:spcPct val="125000"/>
                        </a:lnSpc>
                        <a:buFont typeface="Arial" panose="020B0604020202020204" pitchFamily="34" charset="0"/>
                        <a:buChar char="•"/>
                      </a:pPr>
                      <a:r>
                        <a:rPr lang="en-US" sz="1200" b="0" kern="1200">
                          <a:solidFill>
                            <a:schemeClr val="dk1"/>
                          </a:solidFill>
                          <a:latin typeface="Arial" panose="020B0604020202020204" pitchFamily="34" charset="0"/>
                          <a:ea typeface="+mn-ea"/>
                          <a:cs typeface="Arial" panose="020B0604020202020204" pitchFamily="34" charset="0"/>
                        </a:rPr>
                        <a:t>In 2014, India and Nepal signed a Power Trading Agreement ushering reforms such as non-discriminatory access to their transmission systems for power trading, encourage investment in power generation and transmission infrastructure, enable private sector participation along with G2G-level coordination and establish long-term cooperation for regional energy security.</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sp>
        <p:nvSpPr>
          <p:cNvPr id="107" name="Text Placeholder 1">
            <a:extLst>
              <a:ext uri="{FF2B5EF4-FFF2-40B4-BE49-F238E27FC236}">
                <a16:creationId xmlns:a16="http://schemas.microsoft.com/office/drawing/2014/main" id="{5D5A593D-2D19-3EFC-D16F-042E419712D7}"/>
              </a:ext>
            </a:extLst>
          </p:cNvPr>
          <p:cNvSpPr txBox="1">
            <a:spLocks/>
          </p:cNvSpPr>
          <p:nvPr/>
        </p:nvSpPr>
        <p:spPr>
          <a:xfrm>
            <a:off x="514884" y="651708"/>
            <a:ext cx="11456120" cy="259335"/>
          </a:xfrm>
          <a:prstGeom prst="rect">
            <a:avLst/>
          </a:prstGeom>
          <a:solidFill>
            <a:schemeClr val="bg1"/>
          </a:solidFill>
        </p:spPr>
        <p:txBody>
          <a:bodyPr vert="horz" lIns="0" tIns="0" rIns="0" bIns="0" rtlCol="0">
            <a:noAutofit/>
          </a:bodyPr>
          <a:lstStyle>
            <a:lvl1pPr marL="0" indent="0" algn="l" defTabSz="914335" rtl="0" eaLnBrk="1" latinLnBrk="0" hangingPunct="1">
              <a:spcBef>
                <a:spcPts val="0"/>
              </a:spcBef>
              <a:spcAft>
                <a:spcPts val="1000"/>
              </a:spcAft>
              <a:buSzPct val="100000"/>
              <a:buFontTx/>
              <a:buNone/>
              <a:defRPr sz="1800" b="0" kern="1200">
                <a:solidFill>
                  <a:srgbClr val="575757"/>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CBET landscape has evolved significantly, driven by vast hydropower potential, regional energy demands, and strategic geopolitical positioning</a:t>
            </a:r>
          </a:p>
        </p:txBody>
      </p:sp>
      <p:cxnSp>
        <p:nvCxnSpPr>
          <p:cNvPr id="108" name="Straight Connector 107">
            <a:extLst>
              <a:ext uri="{FF2B5EF4-FFF2-40B4-BE49-F238E27FC236}">
                <a16:creationId xmlns:a16="http://schemas.microsoft.com/office/drawing/2014/main" id="{C18571E3-EC12-E930-F963-815380067844}"/>
              </a:ext>
            </a:extLst>
          </p:cNvPr>
          <p:cNvCxnSpPr/>
          <p:nvPr/>
        </p:nvCxnSpPr>
        <p:spPr>
          <a:xfrm flipV="1">
            <a:off x="3759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B2C51D10-7501-B526-BF9C-F85BAA8A7BC4}"/>
              </a:ext>
            </a:extLst>
          </p:cNvPr>
          <p:cNvGrpSpPr/>
          <p:nvPr/>
        </p:nvGrpSpPr>
        <p:grpSpPr>
          <a:xfrm>
            <a:off x="0" y="1092408"/>
            <a:ext cx="12143386" cy="4032114"/>
            <a:chOff x="0" y="1224756"/>
            <a:chExt cx="12143386" cy="4032114"/>
          </a:xfrm>
        </p:grpSpPr>
        <p:cxnSp>
          <p:nvCxnSpPr>
            <p:cNvPr id="109" name="Straight Connector 108">
              <a:extLst>
                <a:ext uri="{FF2B5EF4-FFF2-40B4-BE49-F238E27FC236}">
                  <a16:creationId xmlns:a16="http://schemas.microsoft.com/office/drawing/2014/main" id="{6A04AF0A-83E7-1323-3C6A-EE0B13DB6276}"/>
                </a:ext>
              </a:extLst>
            </p:cNvPr>
            <p:cNvCxnSpPr>
              <a:cxnSpLocks/>
            </p:cNvCxnSpPr>
            <p:nvPr/>
          </p:nvCxnSpPr>
          <p:spPr>
            <a:xfrm>
              <a:off x="0" y="3162053"/>
              <a:ext cx="12143386" cy="0"/>
            </a:xfrm>
            <a:prstGeom prst="line">
              <a:avLst/>
            </a:prstGeom>
            <a:noFill/>
            <a:ln w="28575" cap="flat" cmpd="sng" algn="ctr">
              <a:solidFill>
                <a:schemeClr val="tx1"/>
              </a:solidFill>
              <a:prstDash val="solid"/>
            </a:ln>
            <a:effectLst/>
          </p:spPr>
        </p:cxnSp>
        <p:grpSp>
          <p:nvGrpSpPr>
            <p:cNvPr id="18" name="Group 17">
              <a:extLst>
                <a:ext uri="{FF2B5EF4-FFF2-40B4-BE49-F238E27FC236}">
                  <a16:creationId xmlns:a16="http://schemas.microsoft.com/office/drawing/2014/main" id="{06A7C316-17B3-6B7C-3249-9A6912EF3E90}"/>
                </a:ext>
              </a:extLst>
            </p:cNvPr>
            <p:cNvGrpSpPr/>
            <p:nvPr/>
          </p:nvGrpSpPr>
          <p:grpSpPr>
            <a:xfrm>
              <a:off x="621976" y="1224756"/>
              <a:ext cx="365760" cy="2122486"/>
              <a:chOff x="152742" y="1224756"/>
              <a:chExt cx="365760" cy="2122486"/>
            </a:xfrm>
          </p:grpSpPr>
          <p:grpSp>
            <p:nvGrpSpPr>
              <p:cNvPr id="113" name="Group 112">
                <a:extLst>
                  <a:ext uri="{FF2B5EF4-FFF2-40B4-BE49-F238E27FC236}">
                    <a16:creationId xmlns:a16="http://schemas.microsoft.com/office/drawing/2014/main" id="{6A9D25BB-7D59-F11B-94FA-0C946D924E31}"/>
                  </a:ext>
                </a:extLst>
              </p:cNvPr>
              <p:cNvGrpSpPr/>
              <p:nvPr/>
            </p:nvGrpSpPr>
            <p:grpSpPr>
              <a:xfrm>
                <a:off x="152742" y="2981482"/>
                <a:ext cx="365760" cy="365760"/>
                <a:chOff x="5079999" y="1447800"/>
                <a:chExt cx="365760" cy="365760"/>
              </a:xfrm>
            </p:grpSpPr>
            <p:sp>
              <p:nvSpPr>
                <p:cNvPr id="114" name="Oval 113">
                  <a:extLst>
                    <a:ext uri="{FF2B5EF4-FFF2-40B4-BE49-F238E27FC236}">
                      <a16:creationId xmlns:a16="http://schemas.microsoft.com/office/drawing/2014/main" id="{225D50A5-2133-E32D-424B-9335FFDCE291}"/>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115" name="Oval 114">
                  <a:extLst>
                    <a:ext uri="{FF2B5EF4-FFF2-40B4-BE49-F238E27FC236}">
                      <a16:creationId xmlns:a16="http://schemas.microsoft.com/office/drawing/2014/main" id="{9FB005A1-4C76-AD12-0933-4625B409A8F6}"/>
                    </a:ext>
                  </a:extLst>
                </p:cNvPr>
                <p:cNvSpPr/>
                <p:nvPr/>
              </p:nvSpPr>
              <p:spPr bwMode="gray">
                <a:xfrm>
                  <a:off x="5171439" y="1539240"/>
                  <a:ext cx="182880" cy="182880"/>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154" name="Straight Connector 153">
                <a:extLst>
                  <a:ext uri="{FF2B5EF4-FFF2-40B4-BE49-F238E27FC236}">
                    <a16:creationId xmlns:a16="http://schemas.microsoft.com/office/drawing/2014/main" id="{3DAF6B9B-01BB-2573-37A7-A6A907F01D7F}"/>
                  </a:ext>
                </a:extLst>
              </p:cNvPr>
              <p:cNvCxnSpPr>
                <a:cxnSpLocks/>
              </p:cNvCxnSpPr>
              <p:nvPr/>
            </p:nvCxnSpPr>
            <p:spPr>
              <a:xfrm flipV="1">
                <a:off x="335622" y="1224756"/>
                <a:ext cx="0" cy="1756726"/>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7EBFCA91-9A69-C710-43CB-E785DEDF9E44}"/>
                </a:ext>
              </a:extLst>
            </p:cNvPr>
            <p:cNvGrpSpPr/>
            <p:nvPr/>
          </p:nvGrpSpPr>
          <p:grpSpPr>
            <a:xfrm>
              <a:off x="1954760" y="2981482"/>
              <a:ext cx="365760" cy="2106357"/>
              <a:chOff x="988822" y="2981482"/>
              <a:chExt cx="365760" cy="2106357"/>
            </a:xfrm>
          </p:grpSpPr>
          <p:grpSp>
            <p:nvGrpSpPr>
              <p:cNvPr id="112" name="Group 111">
                <a:extLst>
                  <a:ext uri="{FF2B5EF4-FFF2-40B4-BE49-F238E27FC236}">
                    <a16:creationId xmlns:a16="http://schemas.microsoft.com/office/drawing/2014/main" id="{6DA75C70-35A0-F512-2FE5-6AA782BBA6C3}"/>
                  </a:ext>
                </a:extLst>
              </p:cNvPr>
              <p:cNvGrpSpPr/>
              <p:nvPr/>
            </p:nvGrpSpPr>
            <p:grpSpPr>
              <a:xfrm>
                <a:off x="988822" y="2981482"/>
                <a:ext cx="365760" cy="365760"/>
                <a:chOff x="5079999" y="1447800"/>
                <a:chExt cx="365760" cy="365760"/>
              </a:xfrm>
            </p:grpSpPr>
            <p:sp>
              <p:nvSpPr>
                <p:cNvPr id="110" name="Oval 109">
                  <a:extLst>
                    <a:ext uri="{FF2B5EF4-FFF2-40B4-BE49-F238E27FC236}">
                      <a16:creationId xmlns:a16="http://schemas.microsoft.com/office/drawing/2014/main" id="{57EA8E87-368B-0232-5745-2625D01A0B19}"/>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111" name="Oval 110">
                  <a:extLst>
                    <a:ext uri="{FF2B5EF4-FFF2-40B4-BE49-F238E27FC236}">
                      <a16:creationId xmlns:a16="http://schemas.microsoft.com/office/drawing/2014/main" id="{A413370B-8CA2-1FDA-DCEA-4B8D5D36BA96}"/>
                    </a:ext>
                  </a:extLst>
                </p:cNvPr>
                <p:cNvSpPr/>
                <p:nvPr/>
              </p:nvSpPr>
              <p:spPr bwMode="gray">
                <a:xfrm>
                  <a:off x="5171439" y="1539240"/>
                  <a:ext cx="182880" cy="182880"/>
                </a:xfrm>
                <a:prstGeom prst="ellipse">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157" name="Straight Connector 156">
                <a:extLst>
                  <a:ext uri="{FF2B5EF4-FFF2-40B4-BE49-F238E27FC236}">
                    <a16:creationId xmlns:a16="http://schemas.microsoft.com/office/drawing/2014/main" id="{E926216A-9EF2-FA4C-B88B-CDE1E3635FD9}"/>
                  </a:ext>
                </a:extLst>
              </p:cNvPr>
              <p:cNvCxnSpPr>
                <a:cxnSpLocks/>
              </p:cNvCxnSpPr>
              <p:nvPr/>
            </p:nvCxnSpPr>
            <p:spPr>
              <a:xfrm flipV="1">
                <a:off x="1171702" y="3347242"/>
                <a:ext cx="0" cy="1740597"/>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0EF98A6C-B01D-21F4-BA86-D1DB9FEFF5B7}"/>
                </a:ext>
              </a:extLst>
            </p:cNvPr>
            <p:cNvGrpSpPr/>
            <p:nvPr/>
          </p:nvGrpSpPr>
          <p:grpSpPr>
            <a:xfrm>
              <a:off x="3287544" y="1224756"/>
              <a:ext cx="365760" cy="2122486"/>
              <a:chOff x="1820675" y="1224756"/>
              <a:chExt cx="365760" cy="2122486"/>
            </a:xfrm>
          </p:grpSpPr>
          <p:grpSp>
            <p:nvGrpSpPr>
              <p:cNvPr id="119" name="Group 118">
                <a:extLst>
                  <a:ext uri="{FF2B5EF4-FFF2-40B4-BE49-F238E27FC236}">
                    <a16:creationId xmlns:a16="http://schemas.microsoft.com/office/drawing/2014/main" id="{D9C38422-C2C9-FF55-EC0B-4BB92F762A15}"/>
                  </a:ext>
                </a:extLst>
              </p:cNvPr>
              <p:cNvGrpSpPr/>
              <p:nvPr/>
            </p:nvGrpSpPr>
            <p:grpSpPr>
              <a:xfrm>
                <a:off x="1820675" y="2981482"/>
                <a:ext cx="365760" cy="365760"/>
                <a:chOff x="5079999" y="1447800"/>
                <a:chExt cx="365760" cy="365760"/>
              </a:xfrm>
            </p:grpSpPr>
            <p:sp>
              <p:nvSpPr>
                <p:cNvPr id="121" name="Oval 120">
                  <a:extLst>
                    <a:ext uri="{FF2B5EF4-FFF2-40B4-BE49-F238E27FC236}">
                      <a16:creationId xmlns:a16="http://schemas.microsoft.com/office/drawing/2014/main" id="{8FF385F5-DCAA-0676-7BEF-78054645FFE9}"/>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122" name="Oval 121">
                  <a:extLst>
                    <a:ext uri="{FF2B5EF4-FFF2-40B4-BE49-F238E27FC236}">
                      <a16:creationId xmlns:a16="http://schemas.microsoft.com/office/drawing/2014/main" id="{3D520D70-3FBF-2A51-9B51-F5407C976C62}"/>
                    </a:ext>
                  </a:extLst>
                </p:cNvPr>
                <p:cNvSpPr/>
                <p:nvPr/>
              </p:nvSpPr>
              <p:spPr bwMode="gray">
                <a:xfrm>
                  <a:off x="5171439" y="1539240"/>
                  <a:ext cx="182880" cy="182880"/>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163" name="Straight Connector 162">
                <a:extLst>
                  <a:ext uri="{FF2B5EF4-FFF2-40B4-BE49-F238E27FC236}">
                    <a16:creationId xmlns:a16="http://schemas.microsoft.com/office/drawing/2014/main" id="{92098D42-5EF7-4867-A6B4-0111D531F741}"/>
                  </a:ext>
                </a:extLst>
              </p:cNvPr>
              <p:cNvCxnSpPr>
                <a:cxnSpLocks/>
              </p:cNvCxnSpPr>
              <p:nvPr/>
            </p:nvCxnSpPr>
            <p:spPr>
              <a:xfrm flipV="1">
                <a:off x="2003555" y="1224756"/>
                <a:ext cx="0" cy="1756726"/>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4CB40FEE-1C7A-5AAE-860E-56EB2134075A}"/>
                </a:ext>
              </a:extLst>
            </p:cNvPr>
            <p:cNvGrpSpPr/>
            <p:nvPr/>
          </p:nvGrpSpPr>
          <p:grpSpPr>
            <a:xfrm>
              <a:off x="5953112" y="1224756"/>
              <a:ext cx="365760" cy="2120177"/>
              <a:chOff x="3514010" y="1224756"/>
              <a:chExt cx="365760" cy="2120177"/>
            </a:xfrm>
          </p:grpSpPr>
          <p:grpSp>
            <p:nvGrpSpPr>
              <p:cNvPr id="126" name="Group 125">
                <a:extLst>
                  <a:ext uri="{FF2B5EF4-FFF2-40B4-BE49-F238E27FC236}">
                    <a16:creationId xmlns:a16="http://schemas.microsoft.com/office/drawing/2014/main" id="{9A9AE394-16C5-3473-ABEF-2C39E68AA970}"/>
                  </a:ext>
                </a:extLst>
              </p:cNvPr>
              <p:cNvGrpSpPr/>
              <p:nvPr/>
            </p:nvGrpSpPr>
            <p:grpSpPr>
              <a:xfrm>
                <a:off x="3514010" y="2979173"/>
                <a:ext cx="365760" cy="365760"/>
                <a:chOff x="5079999" y="1447800"/>
                <a:chExt cx="365760" cy="365760"/>
              </a:xfrm>
            </p:grpSpPr>
            <p:sp>
              <p:nvSpPr>
                <p:cNvPr id="127" name="Oval 126">
                  <a:extLst>
                    <a:ext uri="{FF2B5EF4-FFF2-40B4-BE49-F238E27FC236}">
                      <a16:creationId xmlns:a16="http://schemas.microsoft.com/office/drawing/2014/main" id="{73073F47-9D58-0EA0-FA08-65310757804D}"/>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128" name="Oval 127">
                  <a:extLst>
                    <a:ext uri="{FF2B5EF4-FFF2-40B4-BE49-F238E27FC236}">
                      <a16:creationId xmlns:a16="http://schemas.microsoft.com/office/drawing/2014/main" id="{5A370B89-0B8D-2154-0F24-18C0FA7F686D}"/>
                    </a:ext>
                  </a:extLst>
                </p:cNvPr>
                <p:cNvSpPr/>
                <p:nvPr/>
              </p:nvSpPr>
              <p:spPr bwMode="gray">
                <a:xfrm>
                  <a:off x="5171439" y="1539240"/>
                  <a:ext cx="182880" cy="182880"/>
                </a:xfrm>
                <a:prstGeom prst="ellipse">
                  <a:avLst/>
                </a:prstGeom>
                <a:solidFill>
                  <a:srgbClr val="009A4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166" name="Straight Connector 165">
                <a:extLst>
                  <a:ext uri="{FF2B5EF4-FFF2-40B4-BE49-F238E27FC236}">
                    <a16:creationId xmlns:a16="http://schemas.microsoft.com/office/drawing/2014/main" id="{BD35A5A9-DCC0-3CD8-E433-95CDAB5E6EA6}"/>
                  </a:ext>
                </a:extLst>
              </p:cNvPr>
              <p:cNvCxnSpPr>
                <a:cxnSpLocks/>
              </p:cNvCxnSpPr>
              <p:nvPr/>
            </p:nvCxnSpPr>
            <p:spPr>
              <a:xfrm flipV="1">
                <a:off x="3696890" y="1224756"/>
                <a:ext cx="0" cy="1754417"/>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F37D5DCA-854B-3286-35C6-DACE77CFC4CB}"/>
                </a:ext>
              </a:extLst>
            </p:cNvPr>
            <p:cNvGrpSpPr/>
            <p:nvPr/>
          </p:nvGrpSpPr>
          <p:grpSpPr>
            <a:xfrm>
              <a:off x="8618680" y="1224756"/>
              <a:ext cx="365760" cy="2120177"/>
              <a:chOff x="5190410" y="1224756"/>
              <a:chExt cx="365760" cy="2120177"/>
            </a:xfrm>
          </p:grpSpPr>
          <p:grpSp>
            <p:nvGrpSpPr>
              <p:cNvPr id="132" name="Group 131">
                <a:extLst>
                  <a:ext uri="{FF2B5EF4-FFF2-40B4-BE49-F238E27FC236}">
                    <a16:creationId xmlns:a16="http://schemas.microsoft.com/office/drawing/2014/main" id="{DA7D2464-6E5C-FDA3-E46E-38AB3ACDB0FB}"/>
                  </a:ext>
                </a:extLst>
              </p:cNvPr>
              <p:cNvGrpSpPr/>
              <p:nvPr/>
            </p:nvGrpSpPr>
            <p:grpSpPr>
              <a:xfrm>
                <a:off x="5190410" y="2979173"/>
                <a:ext cx="365760" cy="365760"/>
                <a:chOff x="5079999" y="1447800"/>
                <a:chExt cx="365760" cy="365760"/>
              </a:xfrm>
            </p:grpSpPr>
            <p:sp>
              <p:nvSpPr>
                <p:cNvPr id="133" name="Oval 132">
                  <a:extLst>
                    <a:ext uri="{FF2B5EF4-FFF2-40B4-BE49-F238E27FC236}">
                      <a16:creationId xmlns:a16="http://schemas.microsoft.com/office/drawing/2014/main" id="{0D65B8CC-AF03-367C-B5E9-D9E247E921B0}"/>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134" name="Oval 133">
                  <a:extLst>
                    <a:ext uri="{FF2B5EF4-FFF2-40B4-BE49-F238E27FC236}">
                      <a16:creationId xmlns:a16="http://schemas.microsoft.com/office/drawing/2014/main" id="{BD630DB3-0819-2925-82A0-5FC2207FFC75}"/>
                    </a:ext>
                  </a:extLst>
                </p:cNvPr>
                <p:cNvSpPr/>
                <p:nvPr/>
              </p:nvSpPr>
              <p:spPr bwMode="gray">
                <a:xfrm>
                  <a:off x="5171439" y="1539240"/>
                  <a:ext cx="182880" cy="182880"/>
                </a:xfrm>
                <a:prstGeom prst="ellipse">
                  <a:avLst/>
                </a:prstGeom>
                <a:solidFill>
                  <a:srgbClr val="00768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170" name="Straight Connector 169">
                <a:extLst>
                  <a:ext uri="{FF2B5EF4-FFF2-40B4-BE49-F238E27FC236}">
                    <a16:creationId xmlns:a16="http://schemas.microsoft.com/office/drawing/2014/main" id="{1AE48EFF-547D-DB76-B716-84B59F4923E7}"/>
                  </a:ext>
                </a:extLst>
              </p:cNvPr>
              <p:cNvCxnSpPr>
                <a:cxnSpLocks/>
              </p:cNvCxnSpPr>
              <p:nvPr/>
            </p:nvCxnSpPr>
            <p:spPr>
              <a:xfrm flipV="1">
                <a:off x="5373290" y="1224756"/>
                <a:ext cx="0" cy="1754417"/>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B9F563C0-51B1-78C8-BFAF-1E68EA573D05}"/>
                </a:ext>
              </a:extLst>
            </p:cNvPr>
            <p:cNvGrpSpPr/>
            <p:nvPr/>
          </p:nvGrpSpPr>
          <p:grpSpPr>
            <a:xfrm>
              <a:off x="4620328" y="2981482"/>
              <a:ext cx="365760" cy="2120177"/>
              <a:chOff x="2716024" y="2981482"/>
              <a:chExt cx="365760" cy="2120177"/>
            </a:xfrm>
          </p:grpSpPr>
          <p:grpSp>
            <p:nvGrpSpPr>
              <p:cNvPr id="116" name="Group 115">
                <a:extLst>
                  <a:ext uri="{FF2B5EF4-FFF2-40B4-BE49-F238E27FC236}">
                    <a16:creationId xmlns:a16="http://schemas.microsoft.com/office/drawing/2014/main" id="{3AFA15F6-1772-6AC8-957F-92E6766044A9}"/>
                  </a:ext>
                </a:extLst>
              </p:cNvPr>
              <p:cNvGrpSpPr/>
              <p:nvPr/>
            </p:nvGrpSpPr>
            <p:grpSpPr>
              <a:xfrm>
                <a:off x="2716024" y="2981482"/>
                <a:ext cx="365760" cy="365760"/>
                <a:chOff x="5079999" y="1447800"/>
                <a:chExt cx="365760" cy="365760"/>
              </a:xfrm>
            </p:grpSpPr>
            <p:sp>
              <p:nvSpPr>
                <p:cNvPr id="117" name="Oval 116">
                  <a:extLst>
                    <a:ext uri="{FF2B5EF4-FFF2-40B4-BE49-F238E27FC236}">
                      <a16:creationId xmlns:a16="http://schemas.microsoft.com/office/drawing/2014/main" id="{C89CD50B-98E3-680E-1271-B89076067187}"/>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118" name="Oval 117">
                  <a:extLst>
                    <a:ext uri="{FF2B5EF4-FFF2-40B4-BE49-F238E27FC236}">
                      <a16:creationId xmlns:a16="http://schemas.microsoft.com/office/drawing/2014/main" id="{4368BA41-DEDA-51A2-6D23-E06DE41AAE53}"/>
                    </a:ext>
                  </a:extLst>
                </p:cNvPr>
                <p:cNvSpPr/>
                <p:nvPr/>
              </p:nvSpPr>
              <p:spPr bwMode="gray">
                <a:xfrm>
                  <a:off x="5171439" y="1539240"/>
                  <a:ext cx="182880" cy="182880"/>
                </a:xfrm>
                <a:prstGeom prst="ellipse">
                  <a:avLst/>
                </a:prstGeom>
                <a:solidFill>
                  <a:schemeClr val="tx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176" name="Straight Connector 175">
                <a:extLst>
                  <a:ext uri="{FF2B5EF4-FFF2-40B4-BE49-F238E27FC236}">
                    <a16:creationId xmlns:a16="http://schemas.microsoft.com/office/drawing/2014/main" id="{BF550BD6-EA87-8F73-FAF7-72750662D633}"/>
                  </a:ext>
                </a:extLst>
              </p:cNvPr>
              <p:cNvCxnSpPr>
                <a:cxnSpLocks/>
              </p:cNvCxnSpPr>
              <p:nvPr/>
            </p:nvCxnSpPr>
            <p:spPr>
              <a:xfrm flipV="1">
                <a:off x="2875146" y="3344933"/>
                <a:ext cx="0" cy="1756726"/>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CABE720C-FBE4-D2A7-9F2B-007401DE7D5F}"/>
                </a:ext>
              </a:extLst>
            </p:cNvPr>
            <p:cNvGrpSpPr/>
            <p:nvPr/>
          </p:nvGrpSpPr>
          <p:grpSpPr>
            <a:xfrm>
              <a:off x="7285896" y="2979173"/>
              <a:ext cx="365760" cy="2120177"/>
              <a:chOff x="4400892" y="2979173"/>
              <a:chExt cx="365760" cy="2120177"/>
            </a:xfrm>
          </p:grpSpPr>
          <p:grpSp>
            <p:nvGrpSpPr>
              <p:cNvPr id="123" name="Group 122">
                <a:extLst>
                  <a:ext uri="{FF2B5EF4-FFF2-40B4-BE49-F238E27FC236}">
                    <a16:creationId xmlns:a16="http://schemas.microsoft.com/office/drawing/2014/main" id="{5DC3E467-6B86-ABFF-8163-17BBBE0A01CF}"/>
                  </a:ext>
                </a:extLst>
              </p:cNvPr>
              <p:cNvGrpSpPr/>
              <p:nvPr/>
            </p:nvGrpSpPr>
            <p:grpSpPr>
              <a:xfrm>
                <a:off x="4400892" y="2979173"/>
                <a:ext cx="365760" cy="365760"/>
                <a:chOff x="5079999" y="1447800"/>
                <a:chExt cx="365760" cy="365760"/>
              </a:xfrm>
            </p:grpSpPr>
            <p:sp>
              <p:nvSpPr>
                <p:cNvPr id="124" name="Oval 123">
                  <a:extLst>
                    <a:ext uri="{FF2B5EF4-FFF2-40B4-BE49-F238E27FC236}">
                      <a16:creationId xmlns:a16="http://schemas.microsoft.com/office/drawing/2014/main" id="{816D6864-A866-BA63-382E-9EB7BA42E4AF}"/>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125" name="Oval 124">
                  <a:extLst>
                    <a:ext uri="{FF2B5EF4-FFF2-40B4-BE49-F238E27FC236}">
                      <a16:creationId xmlns:a16="http://schemas.microsoft.com/office/drawing/2014/main" id="{16FEA4ED-5836-FF87-80DD-799D4E2920CA}"/>
                    </a:ext>
                  </a:extLst>
                </p:cNvPr>
                <p:cNvSpPr/>
                <p:nvPr/>
              </p:nvSpPr>
              <p:spPr bwMode="gray">
                <a:xfrm>
                  <a:off x="5171439" y="1539240"/>
                  <a:ext cx="182880" cy="182880"/>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177" name="Straight Connector 176">
                <a:extLst>
                  <a:ext uri="{FF2B5EF4-FFF2-40B4-BE49-F238E27FC236}">
                    <a16:creationId xmlns:a16="http://schemas.microsoft.com/office/drawing/2014/main" id="{B03A0984-7A54-0705-9B14-28F28F1D851D}"/>
                  </a:ext>
                </a:extLst>
              </p:cNvPr>
              <p:cNvCxnSpPr>
                <a:cxnSpLocks/>
              </p:cNvCxnSpPr>
              <p:nvPr/>
            </p:nvCxnSpPr>
            <p:spPr>
              <a:xfrm flipV="1">
                <a:off x="4568481" y="3344933"/>
                <a:ext cx="0" cy="1754417"/>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1B80ACD4-A7BD-15E4-9578-17EF5B5976AF}"/>
                </a:ext>
              </a:extLst>
            </p:cNvPr>
            <p:cNvGrpSpPr/>
            <p:nvPr/>
          </p:nvGrpSpPr>
          <p:grpSpPr>
            <a:xfrm>
              <a:off x="9951465" y="2979173"/>
              <a:ext cx="365760" cy="2120177"/>
              <a:chOff x="6077292" y="2979173"/>
              <a:chExt cx="365760" cy="2120177"/>
            </a:xfrm>
          </p:grpSpPr>
          <p:grpSp>
            <p:nvGrpSpPr>
              <p:cNvPr id="129" name="Group 128">
                <a:extLst>
                  <a:ext uri="{FF2B5EF4-FFF2-40B4-BE49-F238E27FC236}">
                    <a16:creationId xmlns:a16="http://schemas.microsoft.com/office/drawing/2014/main" id="{ED9C10D2-429A-27A2-6BF1-DE9C2CB3056B}"/>
                  </a:ext>
                </a:extLst>
              </p:cNvPr>
              <p:cNvGrpSpPr/>
              <p:nvPr/>
            </p:nvGrpSpPr>
            <p:grpSpPr>
              <a:xfrm>
                <a:off x="6077292" y="2979173"/>
                <a:ext cx="365760" cy="365760"/>
                <a:chOff x="5079999" y="1447800"/>
                <a:chExt cx="365760" cy="365760"/>
              </a:xfrm>
            </p:grpSpPr>
            <p:sp>
              <p:nvSpPr>
                <p:cNvPr id="130" name="Oval 129">
                  <a:extLst>
                    <a:ext uri="{FF2B5EF4-FFF2-40B4-BE49-F238E27FC236}">
                      <a16:creationId xmlns:a16="http://schemas.microsoft.com/office/drawing/2014/main" id="{298CE77C-413D-D224-FE86-E20B50CD903D}"/>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131" name="Oval 130">
                  <a:extLst>
                    <a:ext uri="{FF2B5EF4-FFF2-40B4-BE49-F238E27FC236}">
                      <a16:creationId xmlns:a16="http://schemas.microsoft.com/office/drawing/2014/main" id="{35F29C66-B6D3-66DA-6B67-1C5F25EE7C94}"/>
                    </a:ext>
                  </a:extLst>
                </p:cNvPr>
                <p:cNvSpPr/>
                <p:nvPr/>
              </p:nvSpPr>
              <p:spPr bwMode="gray">
                <a:xfrm>
                  <a:off x="5171439" y="1539240"/>
                  <a:ext cx="182880" cy="182880"/>
                </a:xfrm>
                <a:prstGeom prst="ellipse">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178" name="Straight Connector 177">
                <a:extLst>
                  <a:ext uri="{FF2B5EF4-FFF2-40B4-BE49-F238E27FC236}">
                    <a16:creationId xmlns:a16="http://schemas.microsoft.com/office/drawing/2014/main" id="{ED811874-33CC-A835-63E5-317EC62B9E97}"/>
                  </a:ext>
                </a:extLst>
              </p:cNvPr>
              <p:cNvCxnSpPr>
                <a:cxnSpLocks/>
              </p:cNvCxnSpPr>
              <p:nvPr/>
            </p:nvCxnSpPr>
            <p:spPr>
              <a:xfrm flipV="1">
                <a:off x="6244881" y="3344933"/>
                <a:ext cx="0" cy="1754417"/>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sp>
          <p:nvSpPr>
            <p:cNvPr id="182" name="TextBox 181">
              <a:extLst>
                <a:ext uri="{FF2B5EF4-FFF2-40B4-BE49-F238E27FC236}">
                  <a16:creationId xmlns:a16="http://schemas.microsoft.com/office/drawing/2014/main" id="{EBCBDE8F-3DD3-7D7D-0802-8A6779665E95}"/>
                </a:ext>
              </a:extLst>
            </p:cNvPr>
            <p:cNvSpPr txBox="1"/>
            <p:nvPr/>
          </p:nvSpPr>
          <p:spPr>
            <a:xfrm>
              <a:off x="246288" y="2819686"/>
              <a:ext cx="761375" cy="276999"/>
            </a:xfrm>
            <a:prstGeom prst="rect">
              <a:avLst/>
            </a:prstGeom>
            <a:noFill/>
          </p:spPr>
          <p:txBody>
            <a:bodyPr wrap="square">
              <a:spAutoFit/>
            </a:bodyPr>
            <a:lstStyle/>
            <a:p>
              <a:pPr marL="0" marR="0" lvl="0" indent="0" algn="l"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1954</a:t>
              </a:r>
            </a:p>
          </p:txBody>
        </p:sp>
        <p:sp>
          <p:nvSpPr>
            <p:cNvPr id="184" name="TextBox 183">
              <a:extLst>
                <a:ext uri="{FF2B5EF4-FFF2-40B4-BE49-F238E27FC236}">
                  <a16:creationId xmlns:a16="http://schemas.microsoft.com/office/drawing/2014/main" id="{5EF88744-0328-E7A5-AAC6-41A1F06557E1}"/>
                </a:ext>
              </a:extLst>
            </p:cNvPr>
            <p:cNvSpPr txBox="1"/>
            <p:nvPr/>
          </p:nvSpPr>
          <p:spPr>
            <a:xfrm>
              <a:off x="853158" y="1834925"/>
              <a:ext cx="2515111" cy="800219"/>
            </a:xfrm>
            <a:prstGeom prst="rect">
              <a:avLst/>
            </a:prstGeom>
            <a:no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err="1">
                  <a:ln>
                    <a:noFill/>
                  </a:ln>
                  <a:solidFill>
                    <a:prstClr val="black"/>
                  </a:solidFill>
                  <a:effectLst/>
                  <a:uLnTx/>
                  <a:uFillTx/>
                  <a:latin typeface="Arial" panose="020B0604020202020204" pitchFamily="34" charset="0"/>
                  <a:ea typeface="+mn-ea"/>
                  <a:cs typeface="Arial" panose="020B0604020202020204" pitchFamily="34" charset="0"/>
                </a:rPr>
                <a:t>Koshi</a:t>
              </a:r>
              <a:r>
                <a:rPr kumimoji="0" lang="en-US"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Treaty</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bilateral agreement between India and Nepal for construction, operation, and maintenance of the </a:t>
              </a:r>
              <a:r>
                <a:rPr kumimoji="0" lang="en-US" sz="1000" i="0" u="none" strike="noStrike" kern="0" cap="none" spc="0" normalizeH="0" baseline="0" noProof="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Koshi</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Barrage </a:t>
              </a:r>
            </a:p>
          </p:txBody>
        </p:sp>
        <p:sp>
          <p:nvSpPr>
            <p:cNvPr id="190" name="TextBox 189">
              <a:extLst>
                <a:ext uri="{FF2B5EF4-FFF2-40B4-BE49-F238E27FC236}">
                  <a16:creationId xmlns:a16="http://schemas.microsoft.com/office/drawing/2014/main" id="{CDA55A89-5DA7-E51A-098B-174EF173A014}"/>
                </a:ext>
              </a:extLst>
            </p:cNvPr>
            <p:cNvSpPr txBox="1"/>
            <p:nvPr/>
          </p:nvSpPr>
          <p:spPr>
            <a:xfrm>
              <a:off x="824343" y="3182242"/>
              <a:ext cx="1247277" cy="276999"/>
            </a:xfrm>
            <a:prstGeom prst="rect">
              <a:avLst/>
            </a:prstGeom>
            <a:noFill/>
          </p:spPr>
          <p:txBody>
            <a:bodyPr wrap="square">
              <a:spAutoFit/>
            </a:bodyPr>
            <a:lstStyle/>
            <a:p>
              <a:pPr marL="0" marR="0" lvl="0" indent="0" algn="l"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1958</a:t>
              </a:r>
            </a:p>
          </p:txBody>
        </p:sp>
        <p:sp>
          <p:nvSpPr>
            <p:cNvPr id="198" name="TextBox 197">
              <a:extLst>
                <a:ext uri="{FF2B5EF4-FFF2-40B4-BE49-F238E27FC236}">
                  <a16:creationId xmlns:a16="http://schemas.microsoft.com/office/drawing/2014/main" id="{D67E7496-CAD9-FDE3-E3F5-9A22F0417062}"/>
                </a:ext>
              </a:extLst>
            </p:cNvPr>
            <p:cNvSpPr txBox="1"/>
            <p:nvPr/>
          </p:nvSpPr>
          <p:spPr>
            <a:xfrm>
              <a:off x="2208217" y="3779665"/>
              <a:ext cx="2256152" cy="1292662"/>
            </a:xfrm>
            <a:prstGeom prst="rect">
              <a:avLst/>
            </a:prstGeom>
            <a:no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The </a:t>
              </a:r>
              <a:r>
                <a:rPr kumimoji="0" lang="en-US" sz="1600" b="1" i="0" u="none" strike="noStrike" kern="0" cap="none" spc="0" normalizeH="0" baseline="0" noProof="0" err="1">
                  <a:ln>
                    <a:noFill/>
                  </a:ln>
                  <a:solidFill>
                    <a:prstClr val="black"/>
                  </a:solidFill>
                  <a:effectLst/>
                  <a:uLnTx/>
                  <a:uFillTx/>
                  <a:latin typeface="Arial" panose="020B0604020202020204" pitchFamily="34" charset="0"/>
                  <a:ea typeface="+mn-ea"/>
                  <a:cs typeface="Arial" panose="020B0604020202020204" pitchFamily="34" charset="0"/>
                </a:rPr>
                <a:t>Gandak</a:t>
              </a:r>
              <a:r>
                <a:rPr kumimoji="0" lang="en-US"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Irrigation and Power Project</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joint India-Nepal initiative under the 1959 agreement for shared use of the </a:t>
              </a:r>
              <a:r>
                <a:rPr kumimoji="0" lang="en-US" sz="1000" i="0" u="none" strike="noStrike" kern="0" cap="none" spc="0" normalizeH="0" baseline="0" noProof="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Gandak</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River’s </a:t>
              </a:r>
            </a:p>
          </p:txBody>
        </p:sp>
        <p:sp>
          <p:nvSpPr>
            <p:cNvPr id="199" name="TextBox 198">
              <a:extLst>
                <a:ext uri="{FF2B5EF4-FFF2-40B4-BE49-F238E27FC236}">
                  <a16:creationId xmlns:a16="http://schemas.microsoft.com/office/drawing/2014/main" id="{CC15E00C-0374-E51E-6C86-BEB01EBEE885}"/>
                </a:ext>
              </a:extLst>
            </p:cNvPr>
            <p:cNvSpPr txBox="1"/>
            <p:nvPr/>
          </p:nvSpPr>
          <p:spPr>
            <a:xfrm>
              <a:off x="4910257" y="3711383"/>
              <a:ext cx="2345058" cy="1138773"/>
            </a:xfrm>
            <a:prstGeom prst="rect">
              <a:avLst/>
            </a:prstGeom>
            <a:no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Nepal - India Power Exchange Committee (PEC) </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constituted for consultation of power trade. This mechanism has been used mainly for imports</a:t>
              </a:r>
            </a:p>
          </p:txBody>
        </p:sp>
        <p:sp>
          <p:nvSpPr>
            <p:cNvPr id="200" name="TextBox 199">
              <a:extLst>
                <a:ext uri="{FF2B5EF4-FFF2-40B4-BE49-F238E27FC236}">
                  <a16:creationId xmlns:a16="http://schemas.microsoft.com/office/drawing/2014/main" id="{F43BB5D6-105E-994D-9545-C1381B7CA407}"/>
                </a:ext>
              </a:extLst>
            </p:cNvPr>
            <p:cNvSpPr txBox="1"/>
            <p:nvPr/>
          </p:nvSpPr>
          <p:spPr>
            <a:xfrm>
              <a:off x="7621075" y="3748765"/>
              <a:ext cx="2391297" cy="1508105"/>
            </a:xfrm>
            <a:prstGeom prst="rect">
              <a:avLst/>
            </a:prstGeom>
            <a:no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Mahakali Treaty</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bilateral agreement between India and Nepal for the integrated development of the Mahakali River</a:t>
              </a:r>
            </a:p>
          </p:txBody>
        </p:sp>
        <p:sp>
          <p:nvSpPr>
            <p:cNvPr id="204" name="TextBox 203">
              <a:extLst>
                <a:ext uri="{FF2B5EF4-FFF2-40B4-BE49-F238E27FC236}">
                  <a16:creationId xmlns:a16="http://schemas.microsoft.com/office/drawing/2014/main" id="{432327C5-927F-9905-14A8-F50BC5F8349C}"/>
                </a:ext>
              </a:extLst>
            </p:cNvPr>
            <p:cNvSpPr txBox="1"/>
            <p:nvPr/>
          </p:nvSpPr>
          <p:spPr>
            <a:xfrm>
              <a:off x="112974" y="3699505"/>
              <a:ext cx="1963580" cy="1508105"/>
            </a:xfrm>
            <a:prstGeom prst="rect">
              <a:avLst/>
            </a:prstGeom>
            <a:no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err="1">
                  <a:ln>
                    <a:noFill/>
                  </a:ln>
                  <a:solidFill>
                    <a:prstClr val="black"/>
                  </a:solidFill>
                  <a:effectLst/>
                  <a:uLnTx/>
                  <a:uFillTx/>
                  <a:latin typeface="Arial" panose="020B0604020202020204" pitchFamily="34" charset="0"/>
                  <a:ea typeface="+mn-ea"/>
                  <a:cs typeface="Arial" panose="020B0604020202020204" pitchFamily="34" charset="0"/>
                </a:rPr>
                <a:t>Trisuli</a:t>
              </a:r>
              <a:r>
                <a:rPr kumimoji="0" lang="en-US"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Hydro-electric Project</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landmark India-Nepal collaboration initiated in 1958 for developing Nepal’s hydroelectric capacity with Indian technical and financial support.</a:t>
              </a:r>
            </a:p>
          </p:txBody>
        </p:sp>
        <p:sp>
          <p:nvSpPr>
            <p:cNvPr id="205" name="TextBox 204">
              <a:extLst>
                <a:ext uri="{FF2B5EF4-FFF2-40B4-BE49-F238E27FC236}">
                  <a16:creationId xmlns:a16="http://schemas.microsoft.com/office/drawing/2014/main" id="{A545A9D5-4DDC-B651-93CF-76C4CA55BEA6}"/>
                </a:ext>
              </a:extLst>
            </p:cNvPr>
            <p:cNvSpPr txBox="1"/>
            <p:nvPr/>
          </p:nvSpPr>
          <p:spPr>
            <a:xfrm>
              <a:off x="3572580" y="1598211"/>
              <a:ext cx="2399133" cy="1107996"/>
            </a:xfrm>
            <a:prstGeom prst="rect">
              <a:avLst/>
            </a:prstGeom>
            <a:no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err="1">
                  <a:ln>
                    <a:noFill/>
                  </a:ln>
                  <a:solidFill>
                    <a:prstClr val="black"/>
                  </a:solidFill>
                  <a:effectLst/>
                  <a:uLnTx/>
                  <a:uFillTx/>
                  <a:latin typeface="Arial" panose="020B0604020202020204" pitchFamily="34" charset="0"/>
                  <a:ea typeface="+mn-ea"/>
                  <a:cs typeface="Arial" panose="020B0604020202020204" pitchFamily="34" charset="0"/>
                </a:rPr>
                <a:t>Koshi</a:t>
              </a:r>
              <a:r>
                <a:rPr kumimoji="0" lang="en-US"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Treaty</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Originally signed in 1954, the </a:t>
              </a:r>
              <a:r>
                <a:rPr kumimoji="0" lang="en-US" sz="1000" i="0" u="none" strike="noStrike" kern="0" cap="none" spc="0" normalizeH="0" baseline="0" noProof="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Koshi</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Treaty was amended in 1966 to strengthen Nepal’s sovereignty, clarify water and irrigation rights, and address concerns over Indian control.</a:t>
              </a:r>
            </a:p>
          </p:txBody>
        </p:sp>
        <p:sp>
          <p:nvSpPr>
            <p:cNvPr id="206" name="TextBox 205">
              <a:extLst>
                <a:ext uri="{FF2B5EF4-FFF2-40B4-BE49-F238E27FC236}">
                  <a16:creationId xmlns:a16="http://schemas.microsoft.com/office/drawing/2014/main" id="{FDB3C3C9-B663-B0C6-2905-6D58F5EC2EE9}"/>
                </a:ext>
              </a:extLst>
            </p:cNvPr>
            <p:cNvSpPr txBox="1"/>
            <p:nvPr/>
          </p:nvSpPr>
          <p:spPr>
            <a:xfrm>
              <a:off x="6359000" y="1581125"/>
              <a:ext cx="2323543" cy="1123384"/>
            </a:xfrm>
            <a:prstGeom prst="rect">
              <a:avLst/>
            </a:prstGeom>
            <a:no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sv-SE"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Power Tx via 132 KV</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The 132 kV </a:t>
              </a:r>
              <a:r>
                <a:rPr kumimoji="0" lang="en-US" sz="1000" i="0" u="none" strike="noStrike" kern="0" cap="none" spc="0" normalizeH="0" baseline="0" noProof="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Kataiya</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a:t>
              </a:r>
              <a:r>
                <a:rPr kumimoji="0" lang="en-US" sz="1000" i="0" u="none" strike="noStrike" kern="0" cap="none" spc="0" normalizeH="0" baseline="0" noProof="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Kusaha</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and </a:t>
              </a:r>
              <a:r>
                <a:rPr kumimoji="0" lang="en-US" sz="1000" i="0" u="none" strike="noStrike" kern="0" cap="none" spc="0" normalizeH="0" baseline="0" noProof="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Ramnagar</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a:t>
              </a:r>
              <a:r>
                <a:rPr kumimoji="0" lang="en-US" sz="1000" i="0" u="none" strike="noStrike" kern="0" cap="none" spc="0" normalizeH="0" baseline="0" noProof="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Gandak</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lines are key cross-border </a:t>
              </a:r>
              <a:r>
                <a:rPr kumimoji="0" lang="en-US" sz="11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transmission</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links enabling electricity trade between India and Nepal</a:t>
              </a:r>
            </a:p>
          </p:txBody>
        </p:sp>
        <p:sp>
          <p:nvSpPr>
            <p:cNvPr id="207" name="TextBox 206">
              <a:extLst>
                <a:ext uri="{FF2B5EF4-FFF2-40B4-BE49-F238E27FC236}">
                  <a16:creationId xmlns:a16="http://schemas.microsoft.com/office/drawing/2014/main" id="{517D0E4C-BDE9-AA33-EA44-FF40D4C911D4}"/>
                </a:ext>
              </a:extLst>
            </p:cNvPr>
            <p:cNvSpPr txBox="1"/>
            <p:nvPr/>
          </p:nvSpPr>
          <p:spPr>
            <a:xfrm>
              <a:off x="8933680" y="1465419"/>
              <a:ext cx="2414430" cy="1107996"/>
            </a:xfrm>
            <a:prstGeom prst="rect">
              <a:avLst/>
            </a:prstGeom>
            <a:no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sv-SE"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Power Tx via 132 KV</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The 132 kV </a:t>
              </a:r>
              <a:r>
                <a:rPr kumimoji="0" lang="en-US" sz="1000" i="0" u="none" strike="noStrike" kern="0" cap="none" spc="0" normalizeH="0" baseline="0" noProof="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Tanakpur</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a:t>
              </a:r>
              <a:r>
                <a:rPr kumimoji="0" lang="en-US" sz="1000" i="0" u="none" strike="noStrike" kern="0" cap="none" spc="0" normalizeH="0" baseline="0" noProof="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Mahendranagar</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line is a key cross-border transmission corridor facilitating electricity exchange between India and Nepal under the Mahakali Treaty.</a:t>
              </a:r>
            </a:p>
          </p:txBody>
        </p:sp>
        <p:sp>
          <p:nvSpPr>
            <p:cNvPr id="21" name="TextBox 20">
              <a:extLst>
                <a:ext uri="{FF2B5EF4-FFF2-40B4-BE49-F238E27FC236}">
                  <a16:creationId xmlns:a16="http://schemas.microsoft.com/office/drawing/2014/main" id="{04282FD8-6A65-A28C-60E7-46F7B17B7F2C}"/>
                </a:ext>
              </a:extLst>
            </p:cNvPr>
            <p:cNvSpPr txBox="1"/>
            <p:nvPr/>
          </p:nvSpPr>
          <p:spPr>
            <a:xfrm>
              <a:off x="2337832" y="3185178"/>
              <a:ext cx="1248281" cy="276999"/>
            </a:xfrm>
            <a:prstGeom prst="rect">
              <a:avLst/>
            </a:prstGeom>
            <a:noFill/>
          </p:spPr>
          <p:txBody>
            <a:bodyPr wrap="square">
              <a:spAutoFit/>
            </a:bodyPr>
            <a:lstStyle/>
            <a:p>
              <a:pPr marL="0" marR="0" lvl="0" indent="0" algn="l"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1959</a:t>
              </a:r>
            </a:p>
          </p:txBody>
        </p:sp>
        <p:sp>
          <p:nvSpPr>
            <p:cNvPr id="22" name="TextBox 21">
              <a:extLst>
                <a:ext uri="{FF2B5EF4-FFF2-40B4-BE49-F238E27FC236}">
                  <a16:creationId xmlns:a16="http://schemas.microsoft.com/office/drawing/2014/main" id="{AD649EAC-355A-F53D-5C0E-15000B678288}"/>
                </a:ext>
              </a:extLst>
            </p:cNvPr>
            <p:cNvSpPr txBox="1"/>
            <p:nvPr/>
          </p:nvSpPr>
          <p:spPr>
            <a:xfrm>
              <a:off x="3572580" y="2838365"/>
              <a:ext cx="1178633" cy="276999"/>
            </a:xfrm>
            <a:prstGeom prst="rect">
              <a:avLst/>
            </a:prstGeom>
            <a:noFill/>
          </p:spPr>
          <p:txBody>
            <a:bodyPr wrap="square">
              <a:spAutoFit/>
            </a:bodyPr>
            <a:lstStyle/>
            <a:p>
              <a:pPr marL="0" marR="0" lvl="0" indent="0" algn="l"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1966</a:t>
              </a:r>
            </a:p>
          </p:txBody>
        </p:sp>
        <p:sp>
          <p:nvSpPr>
            <p:cNvPr id="23" name="TextBox 22">
              <a:extLst>
                <a:ext uri="{FF2B5EF4-FFF2-40B4-BE49-F238E27FC236}">
                  <a16:creationId xmlns:a16="http://schemas.microsoft.com/office/drawing/2014/main" id="{FCB83A3E-73FF-FADC-050A-4E47D49D69BB}"/>
                </a:ext>
              </a:extLst>
            </p:cNvPr>
            <p:cNvSpPr txBox="1"/>
            <p:nvPr/>
          </p:nvSpPr>
          <p:spPr>
            <a:xfrm>
              <a:off x="4573236" y="3202851"/>
              <a:ext cx="1179252" cy="276999"/>
            </a:xfrm>
            <a:prstGeom prst="rect">
              <a:avLst/>
            </a:prstGeom>
            <a:no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1992</a:t>
              </a:r>
            </a:p>
          </p:txBody>
        </p:sp>
        <p:sp>
          <p:nvSpPr>
            <p:cNvPr id="24" name="TextBox 23">
              <a:extLst>
                <a:ext uri="{FF2B5EF4-FFF2-40B4-BE49-F238E27FC236}">
                  <a16:creationId xmlns:a16="http://schemas.microsoft.com/office/drawing/2014/main" id="{A88BADE4-DD22-1B38-2D47-51010108FEBD}"/>
                </a:ext>
              </a:extLst>
            </p:cNvPr>
            <p:cNvSpPr txBox="1"/>
            <p:nvPr/>
          </p:nvSpPr>
          <p:spPr>
            <a:xfrm>
              <a:off x="5923765" y="2841621"/>
              <a:ext cx="1179252" cy="276999"/>
            </a:xfrm>
            <a:prstGeom prst="rect">
              <a:avLst/>
            </a:prstGeom>
            <a:no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1995</a:t>
              </a:r>
            </a:p>
          </p:txBody>
        </p:sp>
        <p:sp>
          <p:nvSpPr>
            <p:cNvPr id="25" name="TextBox 24">
              <a:extLst>
                <a:ext uri="{FF2B5EF4-FFF2-40B4-BE49-F238E27FC236}">
                  <a16:creationId xmlns:a16="http://schemas.microsoft.com/office/drawing/2014/main" id="{90933675-1A02-5CCA-022F-B183765D3CA1}"/>
                </a:ext>
              </a:extLst>
            </p:cNvPr>
            <p:cNvSpPr txBox="1"/>
            <p:nvPr/>
          </p:nvSpPr>
          <p:spPr>
            <a:xfrm>
              <a:off x="7274018" y="3197631"/>
              <a:ext cx="1179252" cy="276999"/>
            </a:xfrm>
            <a:prstGeom prst="rect">
              <a:avLst/>
            </a:prstGeom>
            <a:no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1996</a:t>
              </a:r>
            </a:p>
          </p:txBody>
        </p:sp>
        <p:sp>
          <p:nvSpPr>
            <p:cNvPr id="26" name="TextBox 25">
              <a:extLst>
                <a:ext uri="{FF2B5EF4-FFF2-40B4-BE49-F238E27FC236}">
                  <a16:creationId xmlns:a16="http://schemas.microsoft.com/office/drawing/2014/main" id="{84AA492D-79D6-F13E-28C2-83BBD252BE3F}"/>
                </a:ext>
              </a:extLst>
            </p:cNvPr>
            <p:cNvSpPr txBox="1"/>
            <p:nvPr/>
          </p:nvSpPr>
          <p:spPr>
            <a:xfrm>
              <a:off x="8606803" y="2856755"/>
              <a:ext cx="1179252" cy="276999"/>
            </a:xfrm>
            <a:prstGeom prst="rect">
              <a:avLst/>
            </a:prstGeom>
            <a:no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1999</a:t>
              </a:r>
            </a:p>
          </p:txBody>
        </p:sp>
        <p:sp>
          <p:nvSpPr>
            <p:cNvPr id="27" name="TextBox 26">
              <a:extLst>
                <a:ext uri="{FF2B5EF4-FFF2-40B4-BE49-F238E27FC236}">
                  <a16:creationId xmlns:a16="http://schemas.microsoft.com/office/drawing/2014/main" id="{0415D807-CAC9-5D38-C541-0691225B295C}"/>
                </a:ext>
              </a:extLst>
            </p:cNvPr>
            <p:cNvSpPr txBox="1"/>
            <p:nvPr/>
          </p:nvSpPr>
          <p:spPr>
            <a:xfrm>
              <a:off x="9948052" y="3182242"/>
              <a:ext cx="1179252" cy="276999"/>
            </a:xfrm>
            <a:prstGeom prst="rect">
              <a:avLst/>
            </a:prstGeom>
            <a:no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2014</a:t>
              </a:r>
            </a:p>
          </p:txBody>
        </p:sp>
        <p:sp>
          <p:nvSpPr>
            <p:cNvPr id="33" name="TextBox 32">
              <a:extLst>
                <a:ext uri="{FF2B5EF4-FFF2-40B4-BE49-F238E27FC236}">
                  <a16:creationId xmlns:a16="http://schemas.microsoft.com/office/drawing/2014/main" id="{DA05D3DA-6EB9-F167-D36B-F9EA07AC734E}"/>
                </a:ext>
              </a:extLst>
            </p:cNvPr>
            <p:cNvSpPr txBox="1"/>
            <p:nvPr/>
          </p:nvSpPr>
          <p:spPr>
            <a:xfrm>
              <a:off x="10225737" y="3562534"/>
              <a:ext cx="1684359" cy="1261884"/>
            </a:xfrm>
            <a:prstGeom prst="rect">
              <a:avLst/>
            </a:prstGeom>
            <a:solidFill>
              <a:schemeClr val="accent1">
                <a:lumMod val="20000"/>
                <a:lumOff val="80000"/>
              </a:schemeClr>
            </a:solid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G to G Trade</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power trading between Nepal and India for a period of 25 years. After 25 years, the contract will be automatically renewed every 10 year</a:t>
              </a:r>
            </a:p>
          </p:txBody>
        </p:sp>
      </p:grpSp>
    </p:spTree>
    <p:extLst>
      <p:ext uri="{BB962C8B-B14F-4D97-AF65-F5344CB8AC3E}">
        <p14:creationId xmlns:p14="http://schemas.microsoft.com/office/powerpoint/2010/main" val="213098655"/>
      </p:ext>
    </p:extLst>
  </p:cSld>
  <p:clrMapOvr>
    <a:masterClrMapping/>
  </p:clrMapOvr>
  <p:transition>
    <p:fade/>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515353061"/>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Evolution of Cross Border Electricity Trade (CBET) Landscape of Nepal with India (2/2) </a:t>
            </a:r>
            <a:endParaRPr lang="en-GB" sz="1800" b="1">
              <a:latin typeface="Arial" panose="020B0604020202020204" pitchFamily="34" charset="0"/>
              <a:cs typeface="Arial" panose="020B0604020202020204" pitchFamily="34" charset="0"/>
            </a:endParaRPr>
          </a:p>
        </p:txBody>
      </p:sp>
      <p:graphicFrame>
        <p:nvGraphicFramePr>
          <p:cNvPr id="120" name="Table 119">
            <a:extLst>
              <a:ext uri="{FF2B5EF4-FFF2-40B4-BE49-F238E27FC236}">
                <a16:creationId xmlns:a16="http://schemas.microsoft.com/office/drawing/2014/main" id="{8714A904-D334-7910-DAD6-855D562EE720}"/>
              </a:ext>
            </a:extLst>
          </p:cNvPr>
          <p:cNvGraphicFramePr>
            <a:graphicFrameLocks noGrp="1"/>
          </p:cNvGraphicFramePr>
          <p:nvPr>
            <p:extLst>
              <p:ext uri="{D42A27DB-BD31-4B8C-83A1-F6EECF244321}">
                <p14:modId xmlns:p14="http://schemas.microsoft.com/office/powerpoint/2010/main" val="926991908"/>
              </p:ext>
            </p:extLst>
          </p:nvPr>
        </p:nvGraphicFramePr>
        <p:xfrm>
          <a:off x="286551" y="5425902"/>
          <a:ext cx="11559986" cy="1122776"/>
        </p:xfrm>
        <a:graphic>
          <a:graphicData uri="http://schemas.openxmlformats.org/drawingml/2006/table">
            <a:tbl>
              <a:tblPr firstRow="1" bandRow="1">
                <a:tableStyleId>{5C22544A-7EE6-4342-B048-85BDC9FD1C3A}</a:tableStyleId>
              </a:tblPr>
              <a:tblGrid>
                <a:gridCol w="1838409">
                  <a:extLst>
                    <a:ext uri="{9D8B030D-6E8A-4147-A177-3AD203B41FA5}">
                      <a16:colId xmlns:a16="http://schemas.microsoft.com/office/drawing/2014/main" val="1601999352"/>
                    </a:ext>
                  </a:extLst>
                </a:gridCol>
                <a:gridCol w="9721577">
                  <a:extLst>
                    <a:ext uri="{9D8B030D-6E8A-4147-A177-3AD203B41FA5}">
                      <a16:colId xmlns:a16="http://schemas.microsoft.com/office/drawing/2014/main" val="2515607737"/>
                    </a:ext>
                  </a:extLst>
                </a:gridCol>
              </a:tblGrid>
              <a:tr h="167776">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848456">
                <a:tc gridSpan="2">
                  <a:txBody>
                    <a:bodyPr/>
                    <a:lstStyle/>
                    <a:p>
                      <a:pPr marL="169863" indent="-169863" algn="just" defTabSz="914335" rtl="0" eaLnBrk="1" latinLnBrk="0" hangingPunct="1">
                        <a:lnSpc>
                          <a:spcPct val="125000"/>
                        </a:lnSpc>
                        <a:buFont typeface="Arial" panose="020B0604020202020204" pitchFamily="34" charset="0"/>
                        <a:buChar char="•"/>
                      </a:pPr>
                      <a:r>
                        <a:rPr lang="en-US" sz="1200" b="0" kern="1200">
                          <a:solidFill>
                            <a:schemeClr val="dk1"/>
                          </a:solidFill>
                          <a:latin typeface="Arial" panose="020B0604020202020204" pitchFamily="34" charset="0"/>
                          <a:ea typeface="+mn-ea"/>
                          <a:cs typeface="Arial" panose="020B0604020202020204" pitchFamily="34" charset="0"/>
                        </a:rPr>
                        <a:t>The CBET mechanism has significantly evolved over the last decade with Nepal participating in Indian Power Exchange, selling power bilaterally to Indian discoms, exporting to Bangladesh via India</a:t>
                      </a:r>
                    </a:p>
                    <a:p>
                      <a:pPr marL="169863" indent="-169863" algn="just" defTabSz="914335" rtl="0" eaLnBrk="1" latinLnBrk="0" hangingPunct="1">
                        <a:lnSpc>
                          <a:spcPct val="125000"/>
                        </a:lnSpc>
                        <a:buFont typeface="Arial" panose="020B0604020202020204" pitchFamily="34" charset="0"/>
                        <a:buChar char="•"/>
                      </a:pPr>
                      <a:r>
                        <a:rPr lang="en-US" sz="1200" b="0" kern="1200">
                          <a:solidFill>
                            <a:schemeClr val="dk1"/>
                          </a:solidFill>
                          <a:latin typeface="Arial" panose="020B0604020202020204" pitchFamily="34" charset="0"/>
                          <a:ea typeface="+mn-ea"/>
                          <a:cs typeface="Arial" panose="020B0604020202020204" pitchFamily="34" charset="0"/>
                        </a:rPr>
                        <a:t>The transmission capacity has also expanded to meet the rising CBET transactions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sp>
        <p:nvSpPr>
          <p:cNvPr id="107" name="Text Placeholder 1">
            <a:extLst>
              <a:ext uri="{FF2B5EF4-FFF2-40B4-BE49-F238E27FC236}">
                <a16:creationId xmlns:a16="http://schemas.microsoft.com/office/drawing/2014/main" id="{5D5A593D-2D19-3EFC-D16F-042E419712D7}"/>
              </a:ext>
            </a:extLst>
          </p:cNvPr>
          <p:cNvSpPr txBox="1">
            <a:spLocks/>
          </p:cNvSpPr>
          <p:nvPr/>
        </p:nvSpPr>
        <p:spPr>
          <a:xfrm>
            <a:off x="514884" y="651708"/>
            <a:ext cx="11456120" cy="259335"/>
          </a:xfrm>
          <a:prstGeom prst="rect">
            <a:avLst/>
          </a:prstGeom>
          <a:solidFill>
            <a:schemeClr val="bg1"/>
          </a:solidFill>
        </p:spPr>
        <p:txBody>
          <a:bodyPr vert="horz" lIns="0" tIns="0" rIns="0" bIns="0" rtlCol="0">
            <a:noAutofit/>
          </a:bodyPr>
          <a:lstStyle>
            <a:lvl1pPr marL="0" indent="0" algn="l" defTabSz="914335" rtl="0" eaLnBrk="1" latinLnBrk="0" hangingPunct="1">
              <a:spcBef>
                <a:spcPts val="0"/>
              </a:spcBef>
              <a:spcAft>
                <a:spcPts val="1000"/>
              </a:spcAft>
              <a:buSzPct val="100000"/>
              <a:buFontTx/>
              <a:buNone/>
              <a:defRPr sz="1800" b="0" kern="1200">
                <a:solidFill>
                  <a:srgbClr val="575757"/>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CBET landscape has evolved significantly, driven by vast hydropower potential, regional energy demands, and strategic geopolitical positioning</a:t>
            </a:r>
          </a:p>
        </p:txBody>
      </p:sp>
      <p:cxnSp>
        <p:nvCxnSpPr>
          <p:cNvPr id="2" name="Straight Connector 1">
            <a:extLst>
              <a:ext uri="{FF2B5EF4-FFF2-40B4-BE49-F238E27FC236}">
                <a16:creationId xmlns:a16="http://schemas.microsoft.com/office/drawing/2014/main" id="{EE637AF0-A55D-17D6-66EA-3844819B90FA}"/>
              </a:ext>
            </a:extLst>
          </p:cNvPr>
          <p:cNvCxnSpPr>
            <a:cxnSpLocks/>
          </p:cNvCxnSpPr>
          <p:nvPr/>
        </p:nvCxnSpPr>
        <p:spPr>
          <a:xfrm>
            <a:off x="0" y="3029701"/>
            <a:ext cx="12143386" cy="0"/>
          </a:xfrm>
          <a:prstGeom prst="line">
            <a:avLst/>
          </a:prstGeom>
          <a:noFill/>
          <a:ln w="28575" cap="flat" cmpd="sng" algn="ctr">
            <a:solidFill>
              <a:schemeClr val="tx1"/>
            </a:solidFill>
            <a:prstDash val="solid"/>
          </a:ln>
          <a:effectLst/>
        </p:spPr>
      </p:cxnSp>
      <p:grpSp>
        <p:nvGrpSpPr>
          <p:cNvPr id="78" name="Group 77">
            <a:extLst>
              <a:ext uri="{FF2B5EF4-FFF2-40B4-BE49-F238E27FC236}">
                <a16:creationId xmlns:a16="http://schemas.microsoft.com/office/drawing/2014/main" id="{94A8E6E2-78BE-0AC0-0B45-8AD9D6681449}"/>
              </a:ext>
            </a:extLst>
          </p:cNvPr>
          <p:cNvGrpSpPr/>
          <p:nvPr/>
        </p:nvGrpSpPr>
        <p:grpSpPr>
          <a:xfrm>
            <a:off x="246288" y="1092404"/>
            <a:ext cx="2974754" cy="2122486"/>
            <a:chOff x="246288" y="1092404"/>
            <a:chExt cx="2974754" cy="2122486"/>
          </a:xfrm>
        </p:grpSpPr>
        <p:grpSp>
          <p:nvGrpSpPr>
            <p:cNvPr id="3" name="Group 2">
              <a:extLst>
                <a:ext uri="{FF2B5EF4-FFF2-40B4-BE49-F238E27FC236}">
                  <a16:creationId xmlns:a16="http://schemas.microsoft.com/office/drawing/2014/main" id="{A7A7531D-E1EC-07CC-7007-B57A75CC793D}"/>
                </a:ext>
              </a:extLst>
            </p:cNvPr>
            <p:cNvGrpSpPr/>
            <p:nvPr/>
          </p:nvGrpSpPr>
          <p:grpSpPr>
            <a:xfrm>
              <a:off x="621976" y="1092404"/>
              <a:ext cx="365760" cy="2122486"/>
              <a:chOff x="152742" y="1224756"/>
              <a:chExt cx="365760" cy="2122486"/>
            </a:xfrm>
          </p:grpSpPr>
          <p:grpSp>
            <p:nvGrpSpPr>
              <p:cNvPr id="7" name="Group 6">
                <a:extLst>
                  <a:ext uri="{FF2B5EF4-FFF2-40B4-BE49-F238E27FC236}">
                    <a16:creationId xmlns:a16="http://schemas.microsoft.com/office/drawing/2014/main" id="{4801AC7E-5600-8CAB-6943-6F99D3A543A5}"/>
                  </a:ext>
                </a:extLst>
              </p:cNvPr>
              <p:cNvGrpSpPr/>
              <p:nvPr/>
            </p:nvGrpSpPr>
            <p:grpSpPr>
              <a:xfrm>
                <a:off x="152742" y="2981482"/>
                <a:ext cx="365760" cy="365760"/>
                <a:chOff x="5079999" y="1447800"/>
                <a:chExt cx="365760" cy="365760"/>
              </a:xfrm>
            </p:grpSpPr>
            <p:sp>
              <p:nvSpPr>
                <p:cNvPr id="9" name="Oval 8">
                  <a:extLst>
                    <a:ext uri="{FF2B5EF4-FFF2-40B4-BE49-F238E27FC236}">
                      <a16:creationId xmlns:a16="http://schemas.microsoft.com/office/drawing/2014/main" id="{7D4389E5-6384-77E6-E330-E3AAD7567DE9}"/>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11" name="Oval 10">
                  <a:extLst>
                    <a:ext uri="{FF2B5EF4-FFF2-40B4-BE49-F238E27FC236}">
                      <a16:creationId xmlns:a16="http://schemas.microsoft.com/office/drawing/2014/main" id="{9D93702E-43EB-3009-824B-4743B65F3F80}"/>
                    </a:ext>
                  </a:extLst>
                </p:cNvPr>
                <p:cNvSpPr/>
                <p:nvPr/>
              </p:nvSpPr>
              <p:spPr bwMode="gray">
                <a:xfrm>
                  <a:off x="5171439" y="1539240"/>
                  <a:ext cx="182880" cy="182880"/>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8" name="Straight Connector 7">
                <a:extLst>
                  <a:ext uri="{FF2B5EF4-FFF2-40B4-BE49-F238E27FC236}">
                    <a16:creationId xmlns:a16="http://schemas.microsoft.com/office/drawing/2014/main" id="{D60F15B1-07D8-028A-0908-858EEAFB3185}"/>
                  </a:ext>
                </a:extLst>
              </p:cNvPr>
              <p:cNvCxnSpPr>
                <a:cxnSpLocks/>
              </p:cNvCxnSpPr>
              <p:nvPr/>
            </p:nvCxnSpPr>
            <p:spPr>
              <a:xfrm flipV="1">
                <a:off x="335622" y="1224756"/>
                <a:ext cx="0" cy="1756726"/>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sp>
          <p:nvSpPr>
            <p:cNvPr id="47" name="TextBox 46">
              <a:extLst>
                <a:ext uri="{FF2B5EF4-FFF2-40B4-BE49-F238E27FC236}">
                  <a16:creationId xmlns:a16="http://schemas.microsoft.com/office/drawing/2014/main" id="{129DED87-7BCC-CE0C-B83D-A460C196DE7C}"/>
                </a:ext>
              </a:extLst>
            </p:cNvPr>
            <p:cNvSpPr txBox="1"/>
            <p:nvPr/>
          </p:nvSpPr>
          <p:spPr>
            <a:xfrm>
              <a:off x="246288" y="2687334"/>
              <a:ext cx="761375" cy="276999"/>
            </a:xfrm>
            <a:prstGeom prst="rect">
              <a:avLst/>
            </a:prstGeom>
            <a:noFill/>
          </p:spPr>
          <p:txBody>
            <a:bodyPr wrap="square">
              <a:spAutoFit/>
            </a:bodyPr>
            <a:lstStyle/>
            <a:p>
              <a:pPr marL="0" marR="0" lvl="0" indent="0" algn="l"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2016</a:t>
              </a:r>
            </a:p>
          </p:txBody>
        </p:sp>
        <p:sp>
          <p:nvSpPr>
            <p:cNvPr id="65" name="TextBox 64">
              <a:extLst>
                <a:ext uri="{FF2B5EF4-FFF2-40B4-BE49-F238E27FC236}">
                  <a16:creationId xmlns:a16="http://schemas.microsoft.com/office/drawing/2014/main" id="{BD2CD5DF-2F61-012D-F45F-A584B3B59CDF}"/>
                </a:ext>
              </a:extLst>
            </p:cNvPr>
            <p:cNvSpPr txBox="1"/>
            <p:nvPr/>
          </p:nvSpPr>
          <p:spPr>
            <a:xfrm>
              <a:off x="912814" y="1300228"/>
              <a:ext cx="2308228" cy="1508105"/>
            </a:xfrm>
            <a:prstGeom prst="rect">
              <a:avLst/>
            </a:prstGeom>
            <a:no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Power Tx via 132KV NVVN – DM Line</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The 132 kV </a:t>
              </a:r>
              <a:r>
                <a:rPr kumimoji="0" lang="en-US" sz="1000" i="0" u="none" strike="noStrike" kern="0" cap="none" spc="0" normalizeH="0" baseline="0" noProof="0" dirty="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Dhalkebar</a:t>
              </a:r>
              <a:r>
                <a:rPr kumimoji="0" lang="en-US" sz="100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–Muzaffarpur line, operated by NVVN, was the first high-capacity cross-border transmission link enabling grid-to-grid power trade between India and Nepal.</a:t>
              </a:r>
            </a:p>
          </p:txBody>
        </p:sp>
      </p:grpSp>
      <p:grpSp>
        <p:nvGrpSpPr>
          <p:cNvPr id="77" name="Group 76">
            <a:extLst>
              <a:ext uri="{FF2B5EF4-FFF2-40B4-BE49-F238E27FC236}">
                <a16:creationId xmlns:a16="http://schemas.microsoft.com/office/drawing/2014/main" id="{76750E14-44C5-1FD2-8D37-5AF19160DB33}"/>
              </a:ext>
            </a:extLst>
          </p:cNvPr>
          <p:cNvGrpSpPr/>
          <p:nvPr/>
        </p:nvGrpSpPr>
        <p:grpSpPr>
          <a:xfrm>
            <a:off x="2397308" y="2849130"/>
            <a:ext cx="2581488" cy="2106357"/>
            <a:chOff x="1954760" y="2849130"/>
            <a:chExt cx="2581488" cy="2106357"/>
          </a:xfrm>
        </p:grpSpPr>
        <p:grpSp>
          <p:nvGrpSpPr>
            <p:cNvPr id="12" name="Group 11">
              <a:extLst>
                <a:ext uri="{FF2B5EF4-FFF2-40B4-BE49-F238E27FC236}">
                  <a16:creationId xmlns:a16="http://schemas.microsoft.com/office/drawing/2014/main" id="{C688A69E-DD2F-F382-A912-126138E9C8EB}"/>
                </a:ext>
              </a:extLst>
            </p:cNvPr>
            <p:cNvGrpSpPr/>
            <p:nvPr/>
          </p:nvGrpSpPr>
          <p:grpSpPr>
            <a:xfrm>
              <a:off x="1954760" y="2849130"/>
              <a:ext cx="365760" cy="2106357"/>
              <a:chOff x="988822" y="2981482"/>
              <a:chExt cx="365760" cy="2106357"/>
            </a:xfrm>
          </p:grpSpPr>
          <p:grpSp>
            <p:nvGrpSpPr>
              <p:cNvPr id="13" name="Group 12">
                <a:extLst>
                  <a:ext uri="{FF2B5EF4-FFF2-40B4-BE49-F238E27FC236}">
                    <a16:creationId xmlns:a16="http://schemas.microsoft.com/office/drawing/2014/main" id="{758F0D2C-5C6B-CCB2-56D4-6FE69A0E3D48}"/>
                  </a:ext>
                </a:extLst>
              </p:cNvPr>
              <p:cNvGrpSpPr/>
              <p:nvPr/>
            </p:nvGrpSpPr>
            <p:grpSpPr>
              <a:xfrm>
                <a:off x="988822" y="2981482"/>
                <a:ext cx="365760" cy="365760"/>
                <a:chOff x="5079999" y="1447800"/>
                <a:chExt cx="365760" cy="365760"/>
              </a:xfrm>
            </p:grpSpPr>
            <p:sp>
              <p:nvSpPr>
                <p:cNvPr id="15" name="Oval 14">
                  <a:extLst>
                    <a:ext uri="{FF2B5EF4-FFF2-40B4-BE49-F238E27FC236}">
                      <a16:creationId xmlns:a16="http://schemas.microsoft.com/office/drawing/2014/main" id="{783DF146-34C5-172B-44C3-727F1155B687}"/>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16" name="Oval 15">
                  <a:extLst>
                    <a:ext uri="{FF2B5EF4-FFF2-40B4-BE49-F238E27FC236}">
                      <a16:creationId xmlns:a16="http://schemas.microsoft.com/office/drawing/2014/main" id="{EDC9274C-A270-C300-4A47-08E03164D7EA}"/>
                    </a:ext>
                  </a:extLst>
                </p:cNvPr>
                <p:cNvSpPr/>
                <p:nvPr/>
              </p:nvSpPr>
              <p:spPr bwMode="gray">
                <a:xfrm>
                  <a:off x="5171439" y="1539240"/>
                  <a:ext cx="182880" cy="182880"/>
                </a:xfrm>
                <a:prstGeom prst="ellipse">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14" name="Straight Connector 13">
                <a:extLst>
                  <a:ext uri="{FF2B5EF4-FFF2-40B4-BE49-F238E27FC236}">
                    <a16:creationId xmlns:a16="http://schemas.microsoft.com/office/drawing/2014/main" id="{E0DDD115-7281-5908-980C-F4CCBDE868D4}"/>
                  </a:ext>
                </a:extLst>
              </p:cNvPr>
              <p:cNvCxnSpPr>
                <a:cxnSpLocks/>
              </p:cNvCxnSpPr>
              <p:nvPr/>
            </p:nvCxnSpPr>
            <p:spPr>
              <a:xfrm flipV="1">
                <a:off x="1171702" y="3347242"/>
                <a:ext cx="0" cy="1740597"/>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sp>
          <p:nvSpPr>
            <p:cNvPr id="58" name="TextBox 57">
              <a:extLst>
                <a:ext uri="{FF2B5EF4-FFF2-40B4-BE49-F238E27FC236}">
                  <a16:creationId xmlns:a16="http://schemas.microsoft.com/office/drawing/2014/main" id="{79553F71-4B39-59E5-00A4-D7BB81CBC241}"/>
                </a:ext>
              </a:extLst>
            </p:cNvPr>
            <p:cNvSpPr txBox="1"/>
            <p:nvPr/>
          </p:nvSpPr>
          <p:spPr>
            <a:xfrm>
              <a:off x="2337832" y="3052826"/>
              <a:ext cx="1248281" cy="276999"/>
            </a:xfrm>
            <a:prstGeom prst="rect">
              <a:avLst/>
            </a:prstGeom>
            <a:noFill/>
          </p:spPr>
          <p:txBody>
            <a:bodyPr wrap="square">
              <a:spAutoFit/>
            </a:bodyPr>
            <a:lstStyle/>
            <a:p>
              <a:pPr marL="0" marR="0" lvl="0" indent="0" algn="l" defTabSz="914255" rtl="0" eaLnBrk="1" fontAlgn="auto" latinLnBrk="0" hangingPunct="1">
                <a:lnSpc>
                  <a:spcPct val="100000"/>
                </a:lnSpc>
                <a:spcBef>
                  <a:spcPts val="0"/>
                </a:spcBef>
                <a:spcAft>
                  <a:spcPts val="0"/>
                </a:spcAft>
                <a:buClrTx/>
                <a:buSzTx/>
                <a:buFontTx/>
                <a:buNone/>
                <a:tabLst/>
                <a:defRPr/>
              </a:pPr>
              <a:r>
                <a:rPr lang="en-US" sz="1200" b="1" kern="0">
                  <a:solidFill>
                    <a:prstClr val="black"/>
                  </a:solidFill>
                  <a:latin typeface="Arial" panose="020B0604020202020204" pitchFamily="34" charset="0"/>
                  <a:cs typeface="Arial" panose="020B0604020202020204" pitchFamily="34" charset="0"/>
                </a:rPr>
                <a:t>2018</a:t>
              </a:r>
              <a:endPar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8" name="TextBox 67">
              <a:extLst>
                <a:ext uri="{FF2B5EF4-FFF2-40B4-BE49-F238E27FC236}">
                  <a16:creationId xmlns:a16="http://schemas.microsoft.com/office/drawing/2014/main" id="{74C523C0-0B6B-03A2-18C6-2649D0058914}"/>
                </a:ext>
              </a:extLst>
            </p:cNvPr>
            <p:cNvSpPr txBox="1"/>
            <p:nvPr/>
          </p:nvSpPr>
          <p:spPr>
            <a:xfrm>
              <a:off x="2260198" y="3453427"/>
              <a:ext cx="2276050" cy="1354217"/>
            </a:xfrm>
            <a:prstGeom prst="rect">
              <a:avLst/>
            </a:prstGeom>
            <a:no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Power Tx via 400 KV NVVN – DM Line</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Dhalkebar</a:t>
              </a:r>
              <a:r>
                <a:rPr kumimoji="0" lang="en-US" sz="100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–Muzaffarpur line, upgraded to 400 kV, is the main India–Nepal transmission corridor enabling large-scale, grid-to-grid electricity trade through NVVN</a:t>
              </a:r>
            </a:p>
          </p:txBody>
        </p:sp>
      </p:grpSp>
      <p:grpSp>
        <p:nvGrpSpPr>
          <p:cNvPr id="76" name="Group 75">
            <a:extLst>
              <a:ext uri="{FF2B5EF4-FFF2-40B4-BE49-F238E27FC236}">
                <a16:creationId xmlns:a16="http://schemas.microsoft.com/office/drawing/2014/main" id="{AD4B3193-DB19-CDCD-B0DB-57C6B422088C}"/>
              </a:ext>
            </a:extLst>
          </p:cNvPr>
          <p:cNvGrpSpPr/>
          <p:nvPr/>
        </p:nvGrpSpPr>
        <p:grpSpPr>
          <a:xfrm>
            <a:off x="4155062" y="1092404"/>
            <a:ext cx="2617201" cy="2122486"/>
            <a:chOff x="3287544" y="1092404"/>
            <a:chExt cx="2617201" cy="2122486"/>
          </a:xfrm>
        </p:grpSpPr>
        <p:grpSp>
          <p:nvGrpSpPr>
            <p:cNvPr id="17" name="Group 16">
              <a:extLst>
                <a:ext uri="{FF2B5EF4-FFF2-40B4-BE49-F238E27FC236}">
                  <a16:creationId xmlns:a16="http://schemas.microsoft.com/office/drawing/2014/main" id="{74E53E3A-A09B-7A69-802B-33087DAA6F90}"/>
                </a:ext>
              </a:extLst>
            </p:cNvPr>
            <p:cNvGrpSpPr/>
            <p:nvPr/>
          </p:nvGrpSpPr>
          <p:grpSpPr>
            <a:xfrm>
              <a:off x="3287544" y="1092404"/>
              <a:ext cx="365760" cy="2122486"/>
              <a:chOff x="1820675" y="1224756"/>
              <a:chExt cx="365760" cy="2122486"/>
            </a:xfrm>
          </p:grpSpPr>
          <p:grpSp>
            <p:nvGrpSpPr>
              <p:cNvPr id="18" name="Group 17">
                <a:extLst>
                  <a:ext uri="{FF2B5EF4-FFF2-40B4-BE49-F238E27FC236}">
                    <a16:creationId xmlns:a16="http://schemas.microsoft.com/office/drawing/2014/main" id="{2FD122ED-CCCA-4752-0897-F360968CBF00}"/>
                  </a:ext>
                </a:extLst>
              </p:cNvPr>
              <p:cNvGrpSpPr/>
              <p:nvPr/>
            </p:nvGrpSpPr>
            <p:grpSpPr>
              <a:xfrm>
                <a:off x="1820675" y="2981482"/>
                <a:ext cx="365760" cy="365760"/>
                <a:chOff x="5079999" y="1447800"/>
                <a:chExt cx="365760" cy="365760"/>
              </a:xfrm>
            </p:grpSpPr>
            <p:sp>
              <p:nvSpPr>
                <p:cNvPr id="20" name="Oval 19">
                  <a:extLst>
                    <a:ext uri="{FF2B5EF4-FFF2-40B4-BE49-F238E27FC236}">
                      <a16:creationId xmlns:a16="http://schemas.microsoft.com/office/drawing/2014/main" id="{C61BD973-1A16-BCE4-907C-211BE85CB132}"/>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21" name="Oval 20">
                  <a:extLst>
                    <a:ext uri="{FF2B5EF4-FFF2-40B4-BE49-F238E27FC236}">
                      <a16:creationId xmlns:a16="http://schemas.microsoft.com/office/drawing/2014/main" id="{71658857-74C2-0403-5EA0-21FCCDE901E3}"/>
                    </a:ext>
                  </a:extLst>
                </p:cNvPr>
                <p:cNvSpPr/>
                <p:nvPr/>
              </p:nvSpPr>
              <p:spPr bwMode="gray">
                <a:xfrm>
                  <a:off x="5171439" y="1539240"/>
                  <a:ext cx="182880" cy="182880"/>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19" name="Straight Connector 18">
                <a:extLst>
                  <a:ext uri="{FF2B5EF4-FFF2-40B4-BE49-F238E27FC236}">
                    <a16:creationId xmlns:a16="http://schemas.microsoft.com/office/drawing/2014/main" id="{035A906B-371C-3F81-14BD-3E34F5783B3E}"/>
                  </a:ext>
                </a:extLst>
              </p:cNvPr>
              <p:cNvCxnSpPr>
                <a:cxnSpLocks/>
              </p:cNvCxnSpPr>
              <p:nvPr/>
            </p:nvCxnSpPr>
            <p:spPr>
              <a:xfrm flipV="1">
                <a:off x="2003555" y="1224756"/>
                <a:ext cx="0" cy="1756726"/>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sp>
          <p:nvSpPr>
            <p:cNvPr id="59" name="TextBox 58">
              <a:extLst>
                <a:ext uri="{FF2B5EF4-FFF2-40B4-BE49-F238E27FC236}">
                  <a16:creationId xmlns:a16="http://schemas.microsoft.com/office/drawing/2014/main" id="{A7D40EF6-0285-F057-3AD7-3292EF095641}"/>
                </a:ext>
              </a:extLst>
            </p:cNvPr>
            <p:cNvSpPr txBox="1"/>
            <p:nvPr/>
          </p:nvSpPr>
          <p:spPr>
            <a:xfrm>
              <a:off x="3572580" y="2706013"/>
              <a:ext cx="1178633" cy="276999"/>
            </a:xfrm>
            <a:prstGeom prst="rect">
              <a:avLst/>
            </a:prstGeom>
            <a:noFill/>
          </p:spPr>
          <p:txBody>
            <a:bodyPr wrap="square">
              <a:spAutoFit/>
            </a:bodyPr>
            <a:lstStyle/>
            <a:p>
              <a:pPr marL="0" marR="0" lvl="0" indent="0" algn="l"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2021</a:t>
              </a:r>
            </a:p>
          </p:txBody>
        </p:sp>
        <p:sp>
          <p:nvSpPr>
            <p:cNvPr id="69" name="TextBox 68">
              <a:extLst>
                <a:ext uri="{FF2B5EF4-FFF2-40B4-BE49-F238E27FC236}">
                  <a16:creationId xmlns:a16="http://schemas.microsoft.com/office/drawing/2014/main" id="{575CE667-8C2F-6150-9E33-49FA16807E99}"/>
                </a:ext>
              </a:extLst>
            </p:cNvPr>
            <p:cNvSpPr txBox="1"/>
            <p:nvPr/>
          </p:nvSpPr>
          <p:spPr>
            <a:xfrm>
              <a:off x="3628696" y="1207149"/>
              <a:ext cx="2276049" cy="1354217"/>
            </a:xfrm>
            <a:prstGeom prst="rect">
              <a:avLst/>
            </a:prstGeom>
            <a:solidFill>
              <a:schemeClr val="accent1">
                <a:lumMod val="20000"/>
                <a:lumOff val="80000"/>
              </a:schemeClr>
            </a:solid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Power Exchange via  IEX </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Power exports through IEX has started in October 2021. The list of power plants for this trade will be renewed annually.  RTM trading was opened from October 2023.</a:t>
              </a:r>
            </a:p>
          </p:txBody>
        </p:sp>
      </p:grpSp>
      <p:grpSp>
        <p:nvGrpSpPr>
          <p:cNvPr id="75" name="Group 74">
            <a:extLst>
              <a:ext uri="{FF2B5EF4-FFF2-40B4-BE49-F238E27FC236}">
                <a16:creationId xmlns:a16="http://schemas.microsoft.com/office/drawing/2014/main" id="{FED7ED0A-C48C-35FD-1167-A972B0D838F0}"/>
              </a:ext>
            </a:extLst>
          </p:cNvPr>
          <p:cNvGrpSpPr/>
          <p:nvPr/>
        </p:nvGrpSpPr>
        <p:grpSpPr>
          <a:xfrm>
            <a:off x="5948529" y="2849130"/>
            <a:ext cx="2529781" cy="2120177"/>
            <a:chOff x="4573236" y="2849130"/>
            <a:chExt cx="2529781" cy="2120177"/>
          </a:xfrm>
        </p:grpSpPr>
        <p:grpSp>
          <p:nvGrpSpPr>
            <p:cNvPr id="32" name="Group 31">
              <a:extLst>
                <a:ext uri="{FF2B5EF4-FFF2-40B4-BE49-F238E27FC236}">
                  <a16:creationId xmlns:a16="http://schemas.microsoft.com/office/drawing/2014/main" id="{F1C8DF03-CBEE-CE26-D6C9-77DE134230EA}"/>
                </a:ext>
              </a:extLst>
            </p:cNvPr>
            <p:cNvGrpSpPr/>
            <p:nvPr/>
          </p:nvGrpSpPr>
          <p:grpSpPr>
            <a:xfrm>
              <a:off x="4620328" y="2849130"/>
              <a:ext cx="365760" cy="2120177"/>
              <a:chOff x="2716024" y="2981482"/>
              <a:chExt cx="365760" cy="2120177"/>
            </a:xfrm>
          </p:grpSpPr>
          <p:grpSp>
            <p:nvGrpSpPr>
              <p:cNvPr id="33" name="Group 32">
                <a:extLst>
                  <a:ext uri="{FF2B5EF4-FFF2-40B4-BE49-F238E27FC236}">
                    <a16:creationId xmlns:a16="http://schemas.microsoft.com/office/drawing/2014/main" id="{3DC34E73-4C15-3B96-D23F-1839E8D3DF5D}"/>
                  </a:ext>
                </a:extLst>
              </p:cNvPr>
              <p:cNvGrpSpPr/>
              <p:nvPr/>
            </p:nvGrpSpPr>
            <p:grpSpPr>
              <a:xfrm>
                <a:off x="2716024" y="2981482"/>
                <a:ext cx="365760" cy="365760"/>
                <a:chOff x="5079999" y="1447800"/>
                <a:chExt cx="365760" cy="365760"/>
              </a:xfrm>
            </p:grpSpPr>
            <p:sp>
              <p:nvSpPr>
                <p:cNvPr id="35" name="Oval 34">
                  <a:extLst>
                    <a:ext uri="{FF2B5EF4-FFF2-40B4-BE49-F238E27FC236}">
                      <a16:creationId xmlns:a16="http://schemas.microsoft.com/office/drawing/2014/main" id="{8CF6C12B-0DAE-95AD-8556-9ACA1EE52B99}"/>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36" name="Oval 35">
                  <a:extLst>
                    <a:ext uri="{FF2B5EF4-FFF2-40B4-BE49-F238E27FC236}">
                      <a16:creationId xmlns:a16="http://schemas.microsoft.com/office/drawing/2014/main" id="{E86B3B93-4029-3FAC-F69A-95664B1A8DEF}"/>
                    </a:ext>
                  </a:extLst>
                </p:cNvPr>
                <p:cNvSpPr/>
                <p:nvPr/>
              </p:nvSpPr>
              <p:spPr bwMode="gray">
                <a:xfrm>
                  <a:off x="5171439" y="1539240"/>
                  <a:ext cx="182880" cy="182880"/>
                </a:xfrm>
                <a:prstGeom prst="ellipse">
                  <a:avLst/>
                </a:prstGeom>
                <a:solidFill>
                  <a:schemeClr val="tx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34" name="Straight Connector 33">
                <a:extLst>
                  <a:ext uri="{FF2B5EF4-FFF2-40B4-BE49-F238E27FC236}">
                    <a16:creationId xmlns:a16="http://schemas.microsoft.com/office/drawing/2014/main" id="{3D0BD816-050B-0DD4-CBC2-5EE49AF902A0}"/>
                  </a:ext>
                </a:extLst>
              </p:cNvPr>
              <p:cNvCxnSpPr>
                <a:cxnSpLocks/>
              </p:cNvCxnSpPr>
              <p:nvPr/>
            </p:nvCxnSpPr>
            <p:spPr>
              <a:xfrm flipV="1">
                <a:off x="2875146" y="3344933"/>
                <a:ext cx="0" cy="1756726"/>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sp>
          <p:nvSpPr>
            <p:cNvPr id="60" name="TextBox 59">
              <a:extLst>
                <a:ext uri="{FF2B5EF4-FFF2-40B4-BE49-F238E27FC236}">
                  <a16:creationId xmlns:a16="http://schemas.microsoft.com/office/drawing/2014/main" id="{2494D95C-AE75-94D9-6125-88FF845765EA}"/>
                </a:ext>
              </a:extLst>
            </p:cNvPr>
            <p:cNvSpPr txBox="1"/>
            <p:nvPr/>
          </p:nvSpPr>
          <p:spPr>
            <a:xfrm>
              <a:off x="4573236" y="3070499"/>
              <a:ext cx="1179252" cy="276999"/>
            </a:xfrm>
            <a:prstGeom prst="rect">
              <a:avLst/>
            </a:prstGeom>
            <a:no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2023</a:t>
              </a:r>
            </a:p>
          </p:txBody>
        </p:sp>
        <p:sp>
          <p:nvSpPr>
            <p:cNvPr id="70" name="TextBox 69">
              <a:extLst>
                <a:ext uri="{FF2B5EF4-FFF2-40B4-BE49-F238E27FC236}">
                  <a16:creationId xmlns:a16="http://schemas.microsoft.com/office/drawing/2014/main" id="{DF1CE2D4-6271-CF62-0F5E-AB1AC22BB35A}"/>
                </a:ext>
              </a:extLst>
            </p:cNvPr>
            <p:cNvSpPr txBox="1"/>
            <p:nvPr/>
          </p:nvSpPr>
          <p:spPr>
            <a:xfrm>
              <a:off x="4888477" y="3572049"/>
              <a:ext cx="2214540" cy="1200329"/>
            </a:xfrm>
            <a:prstGeom prst="rect">
              <a:avLst/>
            </a:prstGeom>
            <a:solidFill>
              <a:schemeClr val="accent1">
                <a:lumMod val="20000"/>
                <a:lumOff val="80000"/>
              </a:schemeClr>
            </a:solid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lang="en-US" sz="1600" b="1" kern="0">
                  <a:solidFill>
                    <a:prstClr val="black"/>
                  </a:solidFill>
                  <a:latin typeface="Arial" panose="020B0604020202020204" pitchFamily="34" charset="0"/>
                  <a:cs typeface="Arial" panose="020B0604020202020204" pitchFamily="34" charset="0"/>
                </a:rPr>
                <a:t>Power trade </a:t>
              </a:r>
              <a:r>
                <a:rPr kumimoji="0" lang="en-US"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Haryana</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Discom</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Mid-term RTC cross-border power export June to Oct months for 5 years from FY23-24 to FY 27-28 for onward supply to HPPC, Haryana.</a:t>
              </a:r>
            </a:p>
          </p:txBody>
        </p:sp>
      </p:grpSp>
      <p:grpSp>
        <p:nvGrpSpPr>
          <p:cNvPr id="74" name="Group 73">
            <a:extLst>
              <a:ext uri="{FF2B5EF4-FFF2-40B4-BE49-F238E27FC236}">
                <a16:creationId xmlns:a16="http://schemas.microsoft.com/office/drawing/2014/main" id="{67C0B4DA-668F-87A3-21CD-41624FF78D4A}"/>
              </a:ext>
            </a:extLst>
          </p:cNvPr>
          <p:cNvGrpSpPr/>
          <p:nvPr/>
        </p:nvGrpSpPr>
        <p:grpSpPr>
          <a:xfrm>
            <a:off x="7654576" y="1092404"/>
            <a:ext cx="2536671" cy="2120177"/>
            <a:chOff x="5923765" y="1092404"/>
            <a:chExt cx="2536671" cy="2120177"/>
          </a:xfrm>
        </p:grpSpPr>
        <p:grpSp>
          <p:nvGrpSpPr>
            <p:cNvPr id="22" name="Group 21">
              <a:extLst>
                <a:ext uri="{FF2B5EF4-FFF2-40B4-BE49-F238E27FC236}">
                  <a16:creationId xmlns:a16="http://schemas.microsoft.com/office/drawing/2014/main" id="{26370EA1-FF84-91F7-D29A-80838209D58F}"/>
                </a:ext>
              </a:extLst>
            </p:cNvPr>
            <p:cNvGrpSpPr/>
            <p:nvPr/>
          </p:nvGrpSpPr>
          <p:grpSpPr>
            <a:xfrm>
              <a:off x="5953112" y="1092404"/>
              <a:ext cx="365760" cy="2120177"/>
              <a:chOff x="3514010" y="1224756"/>
              <a:chExt cx="365760" cy="2120177"/>
            </a:xfrm>
          </p:grpSpPr>
          <p:grpSp>
            <p:nvGrpSpPr>
              <p:cNvPr id="23" name="Group 22">
                <a:extLst>
                  <a:ext uri="{FF2B5EF4-FFF2-40B4-BE49-F238E27FC236}">
                    <a16:creationId xmlns:a16="http://schemas.microsoft.com/office/drawing/2014/main" id="{6D99FB87-B539-3494-70FF-20AFE2B9D191}"/>
                  </a:ext>
                </a:extLst>
              </p:cNvPr>
              <p:cNvGrpSpPr/>
              <p:nvPr/>
            </p:nvGrpSpPr>
            <p:grpSpPr>
              <a:xfrm>
                <a:off x="3514010" y="2979173"/>
                <a:ext cx="365760" cy="365760"/>
                <a:chOff x="5079999" y="1447800"/>
                <a:chExt cx="365760" cy="365760"/>
              </a:xfrm>
            </p:grpSpPr>
            <p:sp>
              <p:nvSpPr>
                <p:cNvPr id="25" name="Oval 24">
                  <a:extLst>
                    <a:ext uri="{FF2B5EF4-FFF2-40B4-BE49-F238E27FC236}">
                      <a16:creationId xmlns:a16="http://schemas.microsoft.com/office/drawing/2014/main" id="{D28B286B-390E-68B4-E86D-4F614BC8C14F}"/>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26" name="Oval 25">
                  <a:extLst>
                    <a:ext uri="{FF2B5EF4-FFF2-40B4-BE49-F238E27FC236}">
                      <a16:creationId xmlns:a16="http://schemas.microsoft.com/office/drawing/2014/main" id="{408F1618-7FF5-A284-FAA5-A5837C8D6A90}"/>
                    </a:ext>
                  </a:extLst>
                </p:cNvPr>
                <p:cNvSpPr/>
                <p:nvPr/>
              </p:nvSpPr>
              <p:spPr bwMode="gray">
                <a:xfrm>
                  <a:off x="5171439" y="1539240"/>
                  <a:ext cx="182880" cy="182880"/>
                </a:xfrm>
                <a:prstGeom prst="ellipse">
                  <a:avLst/>
                </a:prstGeom>
                <a:solidFill>
                  <a:srgbClr val="009A4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24" name="Straight Connector 23">
                <a:extLst>
                  <a:ext uri="{FF2B5EF4-FFF2-40B4-BE49-F238E27FC236}">
                    <a16:creationId xmlns:a16="http://schemas.microsoft.com/office/drawing/2014/main" id="{9176244E-D929-63FD-E94B-54BFC2600601}"/>
                  </a:ext>
                </a:extLst>
              </p:cNvPr>
              <p:cNvCxnSpPr>
                <a:cxnSpLocks/>
              </p:cNvCxnSpPr>
              <p:nvPr/>
            </p:nvCxnSpPr>
            <p:spPr>
              <a:xfrm flipV="1">
                <a:off x="3696890" y="1224756"/>
                <a:ext cx="0" cy="1754417"/>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sp>
          <p:nvSpPr>
            <p:cNvPr id="61" name="TextBox 60">
              <a:extLst>
                <a:ext uri="{FF2B5EF4-FFF2-40B4-BE49-F238E27FC236}">
                  <a16:creationId xmlns:a16="http://schemas.microsoft.com/office/drawing/2014/main" id="{9FB1E364-FDA3-B83F-14AB-BA9ED0827234}"/>
                </a:ext>
              </a:extLst>
            </p:cNvPr>
            <p:cNvSpPr txBox="1"/>
            <p:nvPr/>
          </p:nvSpPr>
          <p:spPr>
            <a:xfrm>
              <a:off x="5923765" y="2709269"/>
              <a:ext cx="1179252" cy="276999"/>
            </a:xfrm>
            <a:prstGeom prst="rect">
              <a:avLst/>
            </a:prstGeom>
            <a:no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2024</a:t>
              </a:r>
            </a:p>
          </p:txBody>
        </p:sp>
        <p:sp>
          <p:nvSpPr>
            <p:cNvPr id="71" name="TextBox 70">
              <a:extLst>
                <a:ext uri="{FF2B5EF4-FFF2-40B4-BE49-F238E27FC236}">
                  <a16:creationId xmlns:a16="http://schemas.microsoft.com/office/drawing/2014/main" id="{203BED02-7309-44E9-19AD-AC165995F871}"/>
                </a:ext>
              </a:extLst>
            </p:cNvPr>
            <p:cNvSpPr txBox="1"/>
            <p:nvPr/>
          </p:nvSpPr>
          <p:spPr>
            <a:xfrm>
              <a:off x="6294235" y="1242978"/>
              <a:ext cx="2166201" cy="1177245"/>
            </a:xfrm>
            <a:prstGeom prst="rect">
              <a:avLst/>
            </a:prstGeom>
            <a:solidFill>
              <a:schemeClr val="accent1">
                <a:lumMod val="20000"/>
                <a:lumOff val="80000"/>
              </a:schemeClr>
            </a:solid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G to G trade </a:t>
              </a:r>
              <a:r>
                <a:rPr lang="en-US" sz="1050" kern="0">
                  <a:solidFill>
                    <a:prstClr val="black"/>
                  </a:solidFill>
                  <a:latin typeface="Arial" panose="020B0604020202020204" pitchFamily="34" charset="0"/>
                  <a:ea typeface="Verdana" panose="020B0604030504040204" pitchFamily="34" charset="0"/>
                  <a:cs typeface="Arial" panose="020B0604020202020204" pitchFamily="34" charset="0"/>
                </a:rPr>
                <a:t>between Nepal and India was which is a 25-year energy trade deal under which Nepal will export 10,000MW of electricity to India over the next 10 years.</a:t>
              </a:r>
            </a:p>
          </p:txBody>
        </p:sp>
      </p:grpSp>
      <p:grpSp>
        <p:nvGrpSpPr>
          <p:cNvPr id="73" name="Group 72">
            <a:extLst>
              <a:ext uri="{FF2B5EF4-FFF2-40B4-BE49-F238E27FC236}">
                <a16:creationId xmlns:a16="http://schemas.microsoft.com/office/drawing/2014/main" id="{2C229D73-5406-7759-70A2-17D381A30B9F}"/>
              </a:ext>
            </a:extLst>
          </p:cNvPr>
          <p:cNvGrpSpPr/>
          <p:nvPr/>
        </p:nvGrpSpPr>
        <p:grpSpPr>
          <a:xfrm>
            <a:off x="9367513" y="2846821"/>
            <a:ext cx="2460759" cy="2120177"/>
            <a:chOff x="9367513" y="2846821"/>
            <a:chExt cx="2460759" cy="2120177"/>
          </a:xfrm>
        </p:grpSpPr>
        <p:grpSp>
          <p:nvGrpSpPr>
            <p:cNvPr id="37" name="Group 36">
              <a:extLst>
                <a:ext uri="{FF2B5EF4-FFF2-40B4-BE49-F238E27FC236}">
                  <a16:creationId xmlns:a16="http://schemas.microsoft.com/office/drawing/2014/main" id="{F4C6B598-4298-E856-BE0E-EF94CCB0BE9F}"/>
                </a:ext>
              </a:extLst>
            </p:cNvPr>
            <p:cNvGrpSpPr/>
            <p:nvPr/>
          </p:nvGrpSpPr>
          <p:grpSpPr>
            <a:xfrm>
              <a:off x="9379391" y="2846821"/>
              <a:ext cx="365760" cy="2120177"/>
              <a:chOff x="4400892" y="2979173"/>
              <a:chExt cx="365760" cy="2120177"/>
            </a:xfrm>
          </p:grpSpPr>
          <p:grpSp>
            <p:nvGrpSpPr>
              <p:cNvPr id="38" name="Group 37">
                <a:extLst>
                  <a:ext uri="{FF2B5EF4-FFF2-40B4-BE49-F238E27FC236}">
                    <a16:creationId xmlns:a16="http://schemas.microsoft.com/office/drawing/2014/main" id="{E995A3A6-4A88-BCE2-E6C7-63C0C35065FD}"/>
                  </a:ext>
                </a:extLst>
              </p:cNvPr>
              <p:cNvGrpSpPr/>
              <p:nvPr/>
            </p:nvGrpSpPr>
            <p:grpSpPr>
              <a:xfrm>
                <a:off x="4400892" y="2979173"/>
                <a:ext cx="365760" cy="365760"/>
                <a:chOff x="5079999" y="1447800"/>
                <a:chExt cx="365760" cy="365760"/>
              </a:xfrm>
            </p:grpSpPr>
            <p:sp>
              <p:nvSpPr>
                <p:cNvPr id="40" name="Oval 39">
                  <a:extLst>
                    <a:ext uri="{FF2B5EF4-FFF2-40B4-BE49-F238E27FC236}">
                      <a16:creationId xmlns:a16="http://schemas.microsoft.com/office/drawing/2014/main" id="{7B9F0A7A-F1B2-2125-6585-96ED9B7C3965}"/>
                    </a:ext>
                  </a:extLst>
                </p:cNvPr>
                <p:cNvSpPr/>
                <p:nvPr/>
              </p:nvSpPr>
              <p:spPr bwMode="gray">
                <a:xfrm>
                  <a:off x="5079999" y="1447800"/>
                  <a:ext cx="365760" cy="36576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41" name="Oval 40">
                  <a:extLst>
                    <a:ext uri="{FF2B5EF4-FFF2-40B4-BE49-F238E27FC236}">
                      <a16:creationId xmlns:a16="http://schemas.microsoft.com/office/drawing/2014/main" id="{28B4760B-63AE-CD90-C545-C82D2AF18394}"/>
                    </a:ext>
                  </a:extLst>
                </p:cNvPr>
                <p:cNvSpPr/>
                <p:nvPr/>
              </p:nvSpPr>
              <p:spPr bwMode="gray">
                <a:xfrm>
                  <a:off x="5171439" y="1539240"/>
                  <a:ext cx="182880" cy="182880"/>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cxnSp>
            <p:nvCxnSpPr>
              <p:cNvPr id="39" name="Straight Connector 38">
                <a:extLst>
                  <a:ext uri="{FF2B5EF4-FFF2-40B4-BE49-F238E27FC236}">
                    <a16:creationId xmlns:a16="http://schemas.microsoft.com/office/drawing/2014/main" id="{B317C6DC-9E63-5CC5-446E-7E723C461402}"/>
                  </a:ext>
                </a:extLst>
              </p:cNvPr>
              <p:cNvCxnSpPr>
                <a:cxnSpLocks/>
              </p:cNvCxnSpPr>
              <p:nvPr/>
            </p:nvCxnSpPr>
            <p:spPr>
              <a:xfrm flipV="1">
                <a:off x="4568481" y="3344933"/>
                <a:ext cx="0" cy="1754417"/>
              </a:xfrm>
              <a:prstGeom prst="line">
                <a:avLst/>
              </a:prstGeom>
              <a:ln w="19050">
                <a:solidFill>
                  <a:schemeClr val="tx2"/>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sp>
          <p:nvSpPr>
            <p:cNvPr id="62" name="TextBox 61">
              <a:extLst>
                <a:ext uri="{FF2B5EF4-FFF2-40B4-BE49-F238E27FC236}">
                  <a16:creationId xmlns:a16="http://schemas.microsoft.com/office/drawing/2014/main" id="{59E90219-5008-469C-09F3-40F5023ECBD7}"/>
                </a:ext>
              </a:extLst>
            </p:cNvPr>
            <p:cNvSpPr txBox="1"/>
            <p:nvPr/>
          </p:nvSpPr>
          <p:spPr>
            <a:xfrm>
              <a:off x="9367513" y="3065279"/>
              <a:ext cx="1179252" cy="276999"/>
            </a:xfrm>
            <a:prstGeom prst="rect">
              <a:avLst/>
            </a:prstGeom>
            <a:noFill/>
          </p:spPr>
          <p:txBody>
            <a:bodyPr wrap="square">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2024</a:t>
              </a:r>
            </a:p>
          </p:txBody>
        </p:sp>
        <p:sp>
          <p:nvSpPr>
            <p:cNvPr id="72" name="TextBox 71">
              <a:extLst>
                <a:ext uri="{FF2B5EF4-FFF2-40B4-BE49-F238E27FC236}">
                  <a16:creationId xmlns:a16="http://schemas.microsoft.com/office/drawing/2014/main" id="{57BBEA91-FE00-E1A7-CD7D-BA6942762343}"/>
                </a:ext>
              </a:extLst>
            </p:cNvPr>
            <p:cNvSpPr txBox="1"/>
            <p:nvPr/>
          </p:nvSpPr>
          <p:spPr>
            <a:xfrm>
              <a:off x="9726448" y="3561148"/>
              <a:ext cx="2101824" cy="1138773"/>
            </a:xfrm>
            <a:prstGeom prst="rect">
              <a:avLst/>
            </a:prstGeom>
            <a:solidFill>
              <a:schemeClr val="accent1">
                <a:lumMod val="20000"/>
                <a:lumOff val="80000"/>
              </a:schemeClr>
            </a:solidFill>
          </p:spPr>
          <p:txBody>
            <a:bodyPr wrap="square">
              <a:sp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G to G Trade</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Bangladesh via India</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For five years starting in 2024, 40 MW will be exported to Bangladesh via India from 15</a:t>
              </a:r>
              <a:r>
                <a:rPr kumimoji="0" lang="en-US" sz="1000" i="0" u="none" strike="noStrike" kern="0" cap="none" spc="0" normalizeH="0" baseline="3000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th</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June  to 15</a:t>
              </a:r>
              <a:r>
                <a:rPr kumimoji="0" lang="en-US" sz="1000" i="0" u="none" strike="noStrike" kern="0" cap="none" spc="0" normalizeH="0" baseline="3000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th</a:t>
              </a:r>
              <a:r>
                <a:rPr kumimoji="0" lang="en-US" sz="1000" i="0" u="none" strike="noStrike" kern="0" cap="none" spc="0" normalizeH="0" baseline="0" noProof="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November.</a:t>
              </a:r>
            </a:p>
          </p:txBody>
        </p:sp>
      </p:grpSp>
    </p:spTree>
    <p:extLst>
      <p:ext uri="{BB962C8B-B14F-4D97-AF65-F5344CB8AC3E}">
        <p14:creationId xmlns:p14="http://schemas.microsoft.com/office/powerpoint/2010/main" val="2695118106"/>
      </p:ext>
    </p:extLst>
  </p:cSld>
  <p:clrMapOvr>
    <a:masterClrMapping/>
  </p:clrMapOvr>
  <p:transition>
    <p:fade/>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874038635"/>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Involved Stakeholders for Cross Border Electricity Trade (CBET) in Nepal </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Key stakeholders involved and their roles in the CBET</a:t>
            </a:r>
          </a:p>
        </p:txBody>
      </p:sp>
      <p:sp>
        <p:nvSpPr>
          <p:cNvPr id="3" name="Rectangle 2">
            <a:extLst>
              <a:ext uri="{FF2B5EF4-FFF2-40B4-BE49-F238E27FC236}">
                <a16:creationId xmlns:a16="http://schemas.microsoft.com/office/drawing/2014/main" id="{7544473C-0B57-39F4-DD91-3DAF5F45A8B8}"/>
              </a:ext>
            </a:extLst>
          </p:cNvPr>
          <p:cNvSpPr/>
          <p:nvPr/>
        </p:nvSpPr>
        <p:spPr bwMode="gray">
          <a:xfrm>
            <a:off x="1476710" y="2616295"/>
            <a:ext cx="1971334" cy="448636"/>
          </a:xfrm>
          <a:prstGeom prst="rect">
            <a:avLst/>
          </a:prstGeom>
          <a:solidFill>
            <a:schemeClr val="accent1">
              <a:lumMod val="20000"/>
              <a:lumOff val="80000"/>
            </a:schemeClr>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en-US" sz="1000">
                <a:solidFill>
                  <a:prstClr val="black"/>
                </a:solidFill>
                <a:latin typeface="Arial" panose="020B0604020202020204" pitchFamily="34" charset="0"/>
                <a:ea typeface="Calibri" panose="020F0502020204030204" pitchFamily="34" charset="0"/>
                <a:cs typeface="Arial" panose="020B0604020202020204" pitchFamily="34" charset="0"/>
              </a:rPr>
              <a:t> Li</a:t>
            </a:r>
            <a:r>
              <a:rPr lang="en-IN" sz="1000">
                <a:solidFill>
                  <a:prstClr val="black"/>
                </a:solidFill>
                <a:latin typeface="Arial" panose="020B0604020202020204" pitchFamily="34" charset="0"/>
                <a:ea typeface="Calibri" panose="020F0502020204030204" pitchFamily="34" charset="0"/>
                <a:cs typeface="Arial" panose="020B0604020202020204" pitchFamily="34" charset="0"/>
              </a:rPr>
              <a:t>c</a:t>
            </a:r>
            <a:r>
              <a:rPr lang="en-US" sz="1000" err="1">
                <a:solidFill>
                  <a:prstClr val="black"/>
                </a:solidFill>
                <a:latin typeface="Arial" panose="020B0604020202020204" pitchFamily="34" charset="0"/>
                <a:ea typeface="Calibri" panose="020F0502020204030204" pitchFamily="34" charset="0"/>
                <a:cs typeface="Arial" panose="020B0604020202020204" pitchFamily="34" charset="0"/>
              </a:rPr>
              <a:t>ensing</a:t>
            </a:r>
            <a:r>
              <a:rPr lang="en-US" sz="1000">
                <a:solidFill>
                  <a:prstClr val="black"/>
                </a:solidFill>
                <a:latin typeface="Arial" panose="020B0604020202020204" pitchFamily="34" charset="0"/>
                <a:ea typeface="Calibri" panose="020F0502020204030204" pitchFamily="34" charset="0"/>
                <a:cs typeface="Arial" panose="020B0604020202020204" pitchFamily="34" charset="0"/>
              </a:rPr>
              <a:t> Requirements </a:t>
            </a:r>
          </a:p>
        </p:txBody>
      </p:sp>
      <p:graphicFrame>
        <p:nvGraphicFramePr>
          <p:cNvPr id="4" name="Table 9">
            <a:extLst>
              <a:ext uri="{FF2B5EF4-FFF2-40B4-BE49-F238E27FC236}">
                <a16:creationId xmlns:a16="http://schemas.microsoft.com/office/drawing/2014/main" id="{02C0FF1E-AE2A-A2EA-5DC4-76C9A131D349}"/>
              </a:ext>
            </a:extLst>
          </p:cNvPr>
          <p:cNvGraphicFramePr>
            <a:graphicFrameLocks noGrp="1"/>
          </p:cNvGraphicFramePr>
          <p:nvPr/>
        </p:nvGraphicFramePr>
        <p:xfrm>
          <a:off x="1476710" y="3219831"/>
          <a:ext cx="1937809" cy="1698025"/>
        </p:xfrm>
        <a:graphic>
          <a:graphicData uri="http://schemas.openxmlformats.org/drawingml/2006/table">
            <a:tbl>
              <a:tblPr firstRow="1" bandRow="1">
                <a:tableStyleId>{5C22544A-7EE6-4342-B048-85BDC9FD1C3A}</a:tableStyleId>
              </a:tblPr>
              <a:tblGrid>
                <a:gridCol w="1937809">
                  <a:extLst>
                    <a:ext uri="{9D8B030D-6E8A-4147-A177-3AD203B41FA5}">
                      <a16:colId xmlns:a16="http://schemas.microsoft.com/office/drawing/2014/main" val="4011603893"/>
                    </a:ext>
                  </a:extLst>
                </a:gridCol>
              </a:tblGrid>
              <a:tr h="1698025">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IN" sz="1200" kern="100">
                          <a:solidFill>
                            <a:schemeClr val="tx1"/>
                          </a:solidFill>
                          <a:effectLst/>
                          <a:latin typeface="Arial" panose="020B0604020202020204" pitchFamily="34" charset="0"/>
                          <a:ea typeface="Calibri" panose="020F0502020204030204" pitchFamily="34" charset="0"/>
                          <a:cs typeface="Arial" panose="020B0604020202020204" pitchFamily="34" charset="0"/>
                        </a:rPr>
                        <a:t>Feasibility Study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IN" sz="1200" kern="100">
                          <a:solidFill>
                            <a:schemeClr val="tx1"/>
                          </a:solidFill>
                          <a:effectLst/>
                          <a:latin typeface="Arial" panose="020B0604020202020204" pitchFamily="34" charset="0"/>
                          <a:ea typeface="Calibri" panose="020F0502020204030204" pitchFamily="34" charset="0"/>
                          <a:cs typeface="Arial" panose="020B0604020202020204" pitchFamily="34" charset="0"/>
                        </a:rPr>
                        <a:t>Environmental Clearance (EIA/IEE),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IN" sz="1200" kern="100">
                          <a:solidFill>
                            <a:schemeClr val="tx1"/>
                          </a:solidFill>
                          <a:effectLst/>
                          <a:latin typeface="Arial" panose="020B0604020202020204" pitchFamily="34" charset="0"/>
                          <a:ea typeface="Calibri" panose="020F0502020204030204" pitchFamily="34" charset="0"/>
                          <a:cs typeface="Arial" panose="020B0604020202020204" pitchFamily="34" charset="0"/>
                        </a:rPr>
                        <a:t>Land acquisition,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IN" sz="1200" kern="100">
                          <a:solidFill>
                            <a:schemeClr val="tx1"/>
                          </a:solidFill>
                          <a:effectLst/>
                          <a:latin typeface="Arial" panose="020B0604020202020204" pitchFamily="34" charset="0"/>
                          <a:ea typeface="Calibri" panose="020F0502020204030204" pitchFamily="34" charset="0"/>
                          <a:cs typeface="Arial" panose="020B0604020202020204" pitchFamily="34" charset="0"/>
                        </a:rPr>
                        <a:t>Grid connection plans and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IN" sz="1200" kern="100">
                          <a:solidFill>
                            <a:schemeClr val="tx1"/>
                          </a:solidFill>
                          <a:effectLst/>
                          <a:latin typeface="Arial" panose="020B0604020202020204" pitchFamily="34" charset="0"/>
                          <a:ea typeface="Calibri" panose="020F0502020204030204" pitchFamily="34" charset="0"/>
                          <a:cs typeface="Arial" panose="020B0604020202020204" pitchFamily="34" charset="0"/>
                        </a:rPr>
                        <a:t>Financial Closure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097320337"/>
                  </a:ext>
                </a:extLst>
              </a:tr>
            </a:tbl>
          </a:graphicData>
        </a:graphic>
      </p:graphicFrame>
      <p:cxnSp>
        <p:nvCxnSpPr>
          <p:cNvPr id="5" name="Straight Connector 4">
            <a:extLst>
              <a:ext uri="{FF2B5EF4-FFF2-40B4-BE49-F238E27FC236}">
                <a16:creationId xmlns:a16="http://schemas.microsoft.com/office/drawing/2014/main" id="{EF772D89-665B-DEA8-C090-E3DB5DE5C825}"/>
              </a:ext>
            </a:extLst>
          </p:cNvPr>
          <p:cNvCxnSpPr>
            <a:cxnSpLocks/>
          </p:cNvCxnSpPr>
          <p:nvPr/>
        </p:nvCxnSpPr>
        <p:spPr>
          <a:xfrm>
            <a:off x="2091454" y="3066125"/>
            <a:ext cx="0" cy="152514"/>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cxnSp>
        <p:nvCxnSpPr>
          <p:cNvPr id="7" name="Straight Connector 6">
            <a:extLst>
              <a:ext uri="{FF2B5EF4-FFF2-40B4-BE49-F238E27FC236}">
                <a16:creationId xmlns:a16="http://schemas.microsoft.com/office/drawing/2014/main" id="{91023339-DB66-A2A1-0550-F62667B6B791}"/>
              </a:ext>
            </a:extLst>
          </p:cNvPr>
          <p:cNvCxnSpPr>
            <a:cxnSpLocks/>
          </p:cNvCxnSpPr>
          <p:nvPr/>
        </p:nvCxnSpPr>
        <p:spPr>
          <a:xfrm>
            <a:off x="2770797" y="3066124"/>
            <a:ext cx="0" cy="152514"/>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sp>
        <p:nvSpPr>
          <p:cNvPr id="8" name="Rectangle 7">
            <a:extLst>
              <a:ext uri="{FF2B5EF4-FFF2-40B4-BE49-F238E27FC236}">
                <a16:creationId xmlns:a16="http://schemas.microsoft.com/office/drawing/2014/main" id="{427041C6-8E6E-FBAF-5DF5-7C1E3CBDA58A}"/>
              </a:ext>
            </a:extLst>
          </p:cNvPr>
          <p:cNvSpPr/>
          <p:nvPr/>
        </p:nvSpPr>
        <p:spPr bwMode="gray">
          <a:xfrm>
            <a:off x="1496802" y="1123988"/>
            <a:ext cx="1971334" cy="654173"/>
          </a:xfrm>
          <a:prstGeom prst="rect">
            <a:avLst/>
          </a:prstGeom>
          <a:solidFill>
            <a:schemeClr val="accent4"/>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100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Department of Electricity Development (DoED) </a:t>
            </a:r>
            <a:endPar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endParaRPr>
          </a:p>
        </p:txBody>
      </p:sp>
      <p:cxnSp>
        <p:nvCxnSpPr>
          <p:cNvPr id="9" name="Straight Connector 8">
            <a:extLst>
              <a:ext uri="{FF2B5EF4-FFF2-40B4-BE49-F238E27FC236}">
                <a16:creationId xmlns:a16="http://schemas.microsoft.com/office/drawing/2014/main" id="{7AF533C2-8F22-A677-8759-3E8A1531ACC7}"/>
              </a:ext>
            </a:extLst>
          </p:cNvPr>
          <p:cNvCxnSpPr>
            <a:cxnSpLocks/>
            <a:endCxn id="3" idx="0"/>
          </p:cNvCxnSpPr>
          <p:nvPr/>
        </p:nvCxnSpPr>
        <p:spPr>
          <a:xfrm>
            <a:off x="2461379" y="2391380"/>
            <a:ext cx="998" cy="224915"/>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sp>
        <p:nvSpPr>
          <p:cNvPr id="11" name="Rectangle 10">
            <a:extLst>
              <a:ext uri="{FF2B5EF4-FFF2-40B4-BE49-F238E27FC236}">
                <a16:creationId xmlns:a16="http://schemas.microsoft.com/office/drawing/2014/main" id="{82ED22A1-FB72-8036-4459-6F8B73D9AAE7}"/>
              </a:ext>
            </a:extLst>
          </p:cNvPr>
          <p:cNvSpPr/>
          <p:nvPr/>
        </p:nvSpPr>
        <p:spPr bwMode="gray">
          <a:xfrm>
            <a:off x="3585317" y="2625027"/>
            <a:ext cx="1971334" cy="448636"/>
          </a:xfrm>
          <a:prstGeom prst="rect">
            <a:avLst/>
          </a:prstGeom>
          <a:solidFill>
            <a:schemeClr val="accent1">
              <a:lumMod val="20000"/>
              <a:lumOff val="80000"/>
            </a:schemeClr>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en-US" sz="1000">
                <a:solidFill>
                  <a:prstClr val="black"/>
                </a:solidFill>
                <a:latin typeface="Arial" panose="020B0604020202020204" pitchFamily="34" charset="0"/>
                <a:ea typeface="Calibri" panose="020F0502020204030204" pitchFamily="34" charset="0"/>
                <a:cs typeface="Arial" panose="020B0604020202020204" pitchFamily="34" charset="0"/>
              </a:rPr>
              <a:t> Grid Connection Application </a:t>
            </a:r>
          </a:p>
        </p:txBody>
      </p:sp>
      <p:graphicFrame>
        <p:nvGraphicFramePr>
          <p:cNvPr id="12" name="Table 9">
            <a:extLst>
              <a:ext uri="{FF2B5EF4-FFF2-40B4-BE49-F238E27FC236}">
                <a16:creationId xmlns:a16="http://schemas.microsoft.com/office/drawing/2014/main" id="{B6A730AC-5F9F-9888-9A82-2E2114E69082}"/>
              </a:ext>
            </a:extLst>
          </p:cNvPr>
          <p:cNvGraphicFramePr>
            <a:graphicFrameLocks noGrp="1"/>
          </p:cNvGraphicFramePr>
          <p:nvPr/>
        </p:nvGraphicFramePr>
        <p:xfrm>
          <a:off x="3585317" y="3228563"/>
          <a:ext cx="1937809" cy="1700830"/>
        </p:xfrm>
        <a:graphic>
          <a:graphicData uri="http://schemas.openxmlformats.org/drawingml/2006/table">
            <a:tbl>
              <a:tblPr firstRow="1" bandRow="1">
                <a:tableStyleId>{5C22544A-7EE6-4342-B048-85BDC9FD1C3A}</a:tableStyleId>
              </a:tblPr>
              <a:tblGrid>
                <a:gridCol w="1937809">
                  <a:extLst>
                    <a:ext uri="{9D8B030D-6E8A-4147-A177-3AD203B41FA5}">
                      <a16:colId xmlns:a16="http://schemas.microsoft.com/office/drawing/2014/main" val="4011603893"/>
                    </a:ext>
                  </a:extLst>
                </a:gridCol>
              </a:tblGrid>
              <a:tr h="1700830">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1" kern="100">
                          <a:solidFill>
                            <a:schemeClr val="tx1"/>
                          </a:solidFill>
                          <a:effectLst/>
                          <a:latin typeface="Arial" panose="020B0604020202020204" pitchFamily="34" charset="0"/>
                          <a:ea typeface="Calibri" panose="020F0502020204030204" pitchFamily="34" charset="0"/>
                          <a:cs typeface="Arial" panose="020B0604020202020204" pitchFamily="34" charset="0"/>
                        </a:rPr>
                        <a:t>Submit power flow studies, evacuation plan</a:t>
                      </a:r>
                    </a:p>
                    <a:p>
                      <a:pPr marL="0" indent="0" algn="l">
                        <a:buFont typeface="Arial" panose="020B0604020202020204" pitchFamily="34" charset="0"/>
                        <a:buNone/>
                      </a:pPr>
                      <a:endParaRPr lang="en-US" sz="900" b="0" kern="1200">
                        <a:solidFill>
                          <a:schemeClr val="tx1"/>
                        </a:solidFill>
                        <a:effectLst/>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097320337"/>
                  </a:ext>
                </a:extLst>
              </a:tr>
            </a:tbl>
          </a:graphicData>
        </a:graphic>
      </p:graphicFrame>
      <p:cxnSp>
        <p:nvCxnSpPr>
          <p:cNvPr id="13" name="Straight Connector 12">
            <a:extLst>
              <a:ext uri="{FF2B5EF4-FFF2-40B4-BE49-F238E27FC236}">
                <a16:creationId xmlns:a16="http://schemas.microsoft.com/office/drawing/2014/main" id="{BA96EC38-FBBF-46F4-1E34-D0F00702AE2F}"/>
              </a:ext>
            </a:extLst>
          </p:cNvPr>
          <p:cNvCxnSpPr>
            <a:cxnSpLocks/>
          </p:cNvCxnSpPr>
          <p:nvPr/>
        </p:nvCxnSpPr>
        <p:spPr>
          <a:xfrm>
            <a:off x="4200061" y="3074857"/>
            <a:ext cx="0" cy="152514"/>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cxnSp>
        <p:nvCxnSpPr>
          <p:cNvPr id="14" name="Straight Connector 13">
            <a:extLst>
              <a:ext uri="{FF2B5EF4-FFF2-40B4-BE49-F238E27FC236}">
                <a16:creationId xmlns:a16="http://schemas.microsoft.com/office/drawing/2014/main" id="{89B4E886-272C-51F1-185F-AC205B5D4B51}"/>
              </a:ext>
            </a:extLst>
          </p:cNvPr>
          <p:cNvCxnSpPr>
            <a:cxnSpLocks/>
          </p:cNvCxnSpPr>
          <p:nvPr/>
        </p:nvCxnSpPr>
        <p:spPr>
          <a:xfrm>
            <a:off x="4879404" y="3074856"/>
            <a:ext cx="0" cy="152514"/>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sp>
        <p:nvSpPr>
          <p:cNvPr id="15" name="Rectangle 14">
            <a:extLst>
              <a:ext uri="{FF2B5EF4-FFF2-40B4-BE49-F238E27FC236}">
                <a16:creationId xmlns:a16="http://schemas.microsoft.com/office/drawing/2014/main" id="{EF70AC5E-8C4C-DC93-056C-B305C4AD3088}"/>
              </a:ext>
            </a:extLst>
          </p:cNvPr>
          <p:cNvSpPr/>
          <p:nvPr/>
        </p:nvSpPr>
        <p:spPr bwMode="gray">
          <a:xfrm>
            <a:off x="3605409" y="1132720"/>
            <a:ext cx="1971334" cy="654173"/>
          </a:xfrm>
          <a:prstGeom prst="rect">
            <a:avLst/>
          </a:prstGeom>
          <a:solidFill>
            <a:schemeClr val="accent4"/>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100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NEA</a:t>
            </a:r>
          </a:p>
          <a:p>
            <a:pPr marL="0" marR="0" lvl="0" indent="0" algn="ctr" defTabSz="914400" rtl="0" eaLnBrk="1" fontAlgn="auto" latinLnBrk="0" hangingPunct="1">
              <a:lnSpc>
                <a:spcPct val="107000"/>
              </a:lnSpc>
              <a:spcBef>
                <a:spcPts val="0"/>
              </a:spcBef>
              <a:spcAft>
                <a:spcPts val="800"/>
              </a:spcAft>
              <a:buClrTx/>
              <a:buSzTx/>
              <a:buFontTx/>
              <a:buNone/>
              <a:tabLst/>
              <a:defRPr/>
            </a:pPr>
            <a:r>
              <a:rPr lang="en-US" sz="1000">
                <a:solidFill>
                  <a:schemeClr val="bg1"/>
                </a:solidFill>
                <a:latin typeface="Arial" panose="020B0604020202020204" pitchFamily="34" charset="0"/>
                <a:ea typeface="Calibri" panose="020F0502020204030204" pitchFamily="34" charset="0"/>
                <a:cs typeface="Arial" panose="020B0604020202020204" pitchFamily="34" charset="0"/>
              </a:rPr>
              <a:t>(Grid Operation Department)</a:t>
            </a:r>
            <a:r>
              <a:rPr kumimoji="0" lang="en-US" sz="100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 </a:t>
            </a:r>
            <a:endPar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endParaRPr>
          </a:p>
        </p:txBody>
      </p:sp>
      <p:cxnSp>
        <p:nvCxnSpPr>
          <p:cNvPr id="16" name="Straight Connector 15">
            <a:extLst>
              <a:ext uri="{FF2B5EF4-FFF2-40B4-BE49-F238E27FC236}">
                <a16:creationId xmlns:a16="http://schemas.microsoft.com/office/drawing/2014/main" id="{AEC761DB-A98C-4A35-E549-CF244EBBEBCF}"/>
              </a:ext>
            </a:extLst>
          </p:cNvPr>
          <p:cNvCxnSpPr>
            <a:cxnSpLocks/>
            <a:endCxn id="11" idx="0"/>
          </p:cNvCxnSpPr>
          <p:nvPr/>
        </p:nvCxnSpPr>
        <p:spPr>
          <a:xfrm>
            <a:off x="4569986" y="2400112"/>
            <a:ext cx="998" cy="224915"/>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sp>
        <p:nvSpPr>
          <p:cNvPr id="17" name="Rectangle 16">
            <a:extLst>
              <a:ext uri="{FF2B5EF4-FFF2-40B4-BE49-F238E27FC236}">
                <a16:creationId xmlns:a16="http://schemas.microsoft.com/office/drawing/2014/main" id="{4D873F17-371F-CCF9-F3F3-A01C38F70F99}"/>
              </a:ext>
            </a:extLst>
          </p:cNvPr>
          <p:cNvSpPr/>
          <p:nvPr/>
        </p:nvSpPr>
        <p:spPr bwMode="gray">
          <a:xfrm>
            <a:off x="7782175" y="2645799"/>
            <a:ext cx="1971334" cy="448636"/>
          </a:xfrm>
          <a:prstGeom prst="rect">
            <a:avLst/>
          </a:prstGeom>
          <a:solidFill>
            <a:schemeClr val="accent1">
              <a:lumMod val="20000"/>
              <a:lumOff val="80000"/>
            </a:schemeClr>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en-US" sz="1000">
                <a:solidFill>
                  <a:prstClr val="black"/>
                </a:solidFill>
                <a:latin typeface="Arial" panose="020B0604020202020204" pitchFamily="34" charset="0"/>
                <a:ea typeface="Calibri" panose="020F0502020204030204" pitchFamily="34" charset="0"/>
                <a:cs typeface="Arial" panose="020B0604020202020204" pitchFamily="34" charset="0"/>
              </a:rPr>
              <a:t> Approval of PPA</a:t>
            </a:r>
          </a:p>
        </p:txBody>
      </p:sp>
      <p:graphicFrame>
        <p:nvGraphicFramePr>
          <p:cNvPr id="18" name="Table 9">
            <a:extLst>
              <a:ext uri="{FF2B5EF4-FFF2-40B4-BE49-F238E27FC236}">
                <a16:creationId xmlns:a16="http://schemas.microsoft.com/office/drawing/2014/main" id="{710AA5DA-C3EE-26B6-9F77-03BC9C25285C}"/>
              </a:ext>
            </a:extLst>
          </p:cNvPr>
          <p:cNvGraphicFramePr>
            <a:graphicFrameLocks noGrp="1"/>
          </p:cNvGraphicFramePr>
          <p:nvPr/>
        </p:nvGraphicFramePr>
        <p:xfrm>
          <a:off x="7782175" y="3249335"/>
          <a:ext cx="1937809" cy="1700830"/>
        </p:xfrm>
        <a:graphic>
          <a:graphicData uri="http://schemas.openxmlformats.org/drawingml/2006/table">
            <a:tbl>
              <a:tblPr firstRow="1" bandRow="1">
                <a:tableStyleId>{5C22544A-7EE6-4342-B048-85BDC9FD1C3A}</a:tableStyleId>
              </a:tblPr>
              <a:tblGrid>
                <a:gridCol w="1937809">
                  <a:extLst>
                    <a:ext uri="{9D8B030D-6E8A-4147-A177-3AD203B41FA5}">
                      <a16:colId xmlns:a16="http://schemas.microsoft.com/office/drawing/2014/main" val="4011603893"/>
                    </a:ext>
                  </a:extLst>
                </a:gridCol>
              </a:tblGrid>
              <a:tr h="1700830">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1" kern="100">
                          <a:solidFill>
                            <a:schemeClr val="tx1"/>
                          </a:solidFill>
                          <a:effectLst/>
                          <a:latin typeface="Arial" panose="020B0604020202020204" pitchFamily="34" charset="0"/>
                          <a:ea typeface="Calibri" panose="020F0502020204030204" pitchFamily="34" charset="0"/>
                          <a:cs typeface="Arial" panose="020B0604020202020204" pitchFamily="34" charset="0"/>
                        </a:rPr>
                        <a:t>Submit final PPA for approval</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097320337"/>
                  </a:ext>
                </a:extLst>
              </a:tr>
            </a:tbl>
          </a:graphicData>
        </a:graphic>
      </p:graphicFrame>
      <p:cxnSp>
        <p:nvCxnSpPr>
          <p:cNvPr id="19" name="Straight Connector 18">
            <a:extLst>
              <a:ext uri="{FF2B5EF4-FFF2-40B4-BE49-F238E27FC236}">
                <a16:creationId xmlns:a16="http://schemas.microsoft.com/office/drawing/2014/main" id="{3F1A4BD6-823E-69DA-CFC2-AD035D44D33E}"/>
              </a:ext>
            </a:extLst>
          </p:cNvPr>
          <p:cNvCxnSpPr>
            <a:cxnSpLocks/>
          </p:cNvCxnSpPr>
          <p:nvPr/>
        </p:nvCxnSpPr>
        <p:spPr>
          <a:xfrm>
            <a:off x="8396919" y="3095629"/>
            <a:ext cx="0" cy="152514"/>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cxnSp>
        <p:nvCxnSpPr>
          <p:cNvPr id="20" name="Straight Connector 19">
            <a:extLst>
              <a:ext uri="{FF2B5EF4-FFF2-40B4-BE49-F238E27FC236}">
                <a16:creationId xmlns:a16="http://schemas.microsoft.com/office/drawing/2014/main" id="{4B896B99-F26B-CFC7-FCE9-55FB6599718D}"/>
              </a:ext>
            </a:extLst>
          </p:cNvPr>
          <p:cNvCxnSpPr>
            <a:cxnSpLocks/>
          </p:cNvCxnSpPr>
          <p:nvPr/>
        </p:nvCxnSpPr>
        <p:spPr>
          <a:xfrm>
            <a:off x="9076262" y="3095628"/>
            <a:ext cx="0" cy="152514"/>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sp>
        <p:nvSpPr>
          <p:cNvPr id="21" name="Rectangle 20">
            <a:extLst>
              <a:ext uri="{FF2B5EF4-FFF2-40B4-BE49-F238E27FC236}">
                <a16:creationId xmlns:a16="http://schemas.microsoft.com/office/drawing/2014/main" id="{CE5FB26D-7D90-8F85-0324-9E2F791D5FAB}"/>
              </a:ext>
            </a:extLst>
          </p:cNvPr>
          <p:cNvSpPr/>
          <p:nvPr/>
        </p:nvSpPr>
        <p:spPr bwMode="gray">
          <a:xfrm>
            <a:off x="7802267" y="1118178"/>
            <a:ext cx="1971334" cy="689487"/>
          </a:xfrm>
          <a:prstGeom prst="rect">
            <a:avLst/>
          </a:prstGeom>
          <a:solidFill>
            <a:schemeClr val="accent4"/>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Nepal Electricity Regulatory Commission (NERC) </a:t>
            </a:r>
          </a:p>
        </p:txBody>
      </p:sp>
      <p:cxnSp>
        <p:nvCxnSpPr>
          <p:cNvPr id="22" name="Straight Connector 21">
            <a:extLst>
              <a:ext uri="{FF2B5EF4-FFF2-40B4-BE49-F238E27FC236}">
                <a16:creationId xmlns:a16="http://schemas.microsoft.com/office/drawing/2014/main" id="{9414C8A9-19CE-83C2-B70B-2DE2C16026A4}"/>
              </a:ext>
            </a:extLst>
          </p:cNvPr>
          <p:cNvCxnSpPr>
            <a:cxnSpLocks/>
          </p:cNvCxnSpPr>
          <p:nvPr/>
        </p:nvCxnSpPr>
        <p:spPr>
          <a:xfrm>
            <a:off x="8783778" y="2412417"/>
            <a:ext cx="998" cy="224915"/>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sp>
        <p:nvSpPr>
          <p:cNvPr id="23" name="Rectangle 22">
            <a:extLst>
              <a:ext uri="{FF2B5EF4-FFF2-40B4-BE49-F238E27FC236}">
                <a16:creationId xmlns:a16="http://schemas.microsoft.com/office/drawing/2014/main" id="{C9C87F02-6B63-8041-4C2E-94BEA594967B}"/>
              </a:ext>
            </a:extLst>
          </p:cNvPr>
          <p:cNvSpPr/>
          <p:nvPr/>
        </p:nvSpPr>
        <p:spPr bwMode="gray">
          <a:xfrm>
            <a:off x="9885039" y="2645799"/>
            <a:ext cx="1971334" cy="448636"/>
          </a:xfrm>
          <a:prstGeom prst="rect">
            <a:avLst/>
          </a:prstGeom>
          <a:solidFill>
            <a:schemeClr val="accent1">
              <a:lumMod val="20000"/>
              <a:lumOff val="80000"/>
            </a:schemeClr>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en-US" sz="1000">
                <a:solidFill>
                  <a:prstClr val="black"/>
                </a:solidFill>
                <a:latin typeface="Arial" panose="020B0604020202020204" pitchFamily="34" charset="0"/>
                <a:ea typeface="Calibri" panose="020F0502020204030204" pitchFamily="34" charset="0"/>
                <a:cs typeface="Arial" panose="020B0604020202020204" pitchFamily="34" charset="0"/>
              </a:rPr>
              <a:t> Cabinet-Level Approval </a:t>
            </a:r>
          </a:p>
        </p:txBody>
      </p:sp>
      <p:graphicFrame>
        <p:nvGraphicFramePr>
          <p:cNvPr id="24" name="Table 9">
            <a:extLst>
              <a:ext uri="{FF2B5EF4-FFF2-40B4-BE49-F238E27FC236}">
                <a16:creationId xmlns:a16="http://schemas.microsoft.com/office/drawing/2014/main" id="{887AC61B-E601-13AE-4A2F-FF1AA911219F}"/>
              </a:ext>
            </a:extLst>
          </p:cNvPr>
          <p:cNvGraphicFramePr>
            <a:graphicFrameLocks noGrp="1"/>
          </p:cNvGraphicFramePr>
          <p:nvPr/>
        </p:nvGraphicFramePr>
        <p:xfrm>
          <a:off x="9885039" y="3249335"/>
          <a:ext cx="1937809" cy="1700830"/>
        </p:xfrm>
        <a:graphic>
          <a:graphicData uri="http://schemas.openxmlformats.org/drawingml/2006/table">
            <a:tbl>
              <a:tblPr firstRow="1" bandRow="1">
                <a:tableStyleId>{5C22544A-7EE6-4342-B048-85BDC9FD1C3A}</a:tableStyleId>
              </a:tblPr>
              <a:tblGrid>
                <a:gridCol w="1937809">
                  <a:extLst>
                    <a:ext uri="{9D8B030D-6E8A-4147-A177-3AD203B41FA5}">
                      <a16:colId xmlns:a16="http://schemas.microsoft.com/office/drawing/2014/main" val="4011603893"/>
                    </a:ext>
                  </a:extLst>
                </a:gridCol>
              </a:tblGrid>
              <a:tr h="1700830">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1" kern="100">
                          <a:solidFill>
                            <a:schemeClr val="tx1"/>
                          </a:solidFill>
                          <a:effectLst/>
                          <a:latin typeface="Arial" panose="020B0604020202020204" pitchFamily="34" charset="0"/>
                          <a:ea typeface="Calibri" panose="020F0502020204030204" pitchFamily="34" charset="0"/>
                          <a:cs typeface="Arial" panose="020B0604020202020204" pitchFamily="34" charset="0"/>
                        </a:rPr>
                        <a:t>NEA approaches GoN for final export approval.</a:t>
                      </a:r>
                    </a:p>
                    <a:p>
                      <a:pPr marL="0" indent="0" algn="l">
                        <a:buFont typeface="Arial" panose="020B0604020202020204" pitchFamily="34" charset="0"/>
                        <a:buNone/>
                      </a:pPr>
                      <a:endParaRPr lang="en-US" sz="900" b="0" kern="1200">
                        <a:solidFill>
                          <a:schemeClr val="tx1"/>
                        </a:solidFill>
                        <a:effectLst/>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097320337"/>
                  </a:ext>
                </a:extLst>
              </a:tr>
            </a:tbl>
          </a:graphicData>
        </a:graphic>
      </p:graphicFrame>
      <p:cxnSp>
        <p:nvCxnSpPr>
          <p:cNvPr id="25" name="Straight Connector 24">
            <a:extLst>
              <a:ext uri="{FF2B5EF4-FFF2-40B4-BE49-F238E27FC236}">
                <a16:creationId xmlns:a16="http://schemas.microsoft.com/office/drawing/2014/main" id="{2FD06CEE-4EEC-651E-8771-0AECA40856ED}"/>
              </a:ext>
            </a:extLst>
          </p:cNvPr>
          <p:cNvCxnSpPr>
            <a:cxnSpLocks/>
          </p:cNvCxnSpPr>
          <p:nvPr/>
        </p:nvCxnSpPr>
        <p:spPr>
          <a:xfrm>
            <a:off x="10499783" y="3095629"/>
            <a:ext cx="0" cy="152514"/>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cxnSp>
        <p:nvCxnSpPr>
          <p:cNvPr id="26" name="Straight Connector 25">
            <a:extLst>
              <a:ext uri="{FF2B5EF4-FFF2-40B4-BE49-F238E27FC236}">
                <a16:creationId xmlns:a16="http://schemas.microsoft.com/office/drawing/2014/main" id="{41F88D24-69D9-0F8F-A5E6-2A140258B410}"/>
              </a:ext>
            </a:extLst>
          </p:cNvPr>
          <p:cNvCxnSpPr>
            <a:cxnSpLocks/>
          </p:cNvCxnSpPr>
          <p:nvPr/>
        </p:nvCxnSpPr>
        <p:spPr>
          <a:xfrm>
            <a:off x="11179126" y="3095628"/>
            <a:ext cx="0" cy="152514"/>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sp>
        <p:nvSpPr>
          <p:cNvPr id="27" name="Rectangle 26">
            <a:extLst>
              <a:ext uri="{FF2B5EF4-FFF2-40B4-BE49-F238E27FC236}">
                <a16:creationId xmlns:a16="http://schemas.microsoft.com/office/drawing/2014/main" id="{D27BF92B-2E25-6205-4245-C8EABF9E452C}"/>
              </a:ext>
            </a:extLst>
          </p:cNvPr>
          <p:cNvSpPr/>
          <p:nvPr/>
        </p:nvSpPr>
        <p:spPr bwMode="gray">
          <a:xfrm>
            <a:off x="9905131" y="1118178"/>
            <a:ext cx="1941825" cy="689487"/>
          </a:xfrm>
          <a:prstGeom prst="rect">
            <a:avLst/>
          </a:prstGeom>
          <a:solidFill>
            <a:schemeClr val="accent4"/>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100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Government of Nepal</a:t>
            </a:r>
          </a:p>
        </p:txBody>
      </p:sp>
      <p:cxnSp>
        <p:nvCxnSpPr>
          <p:cNvPr id="28" name="Straight Connector 27">
            <a:extLst>
              <a:ext uri="{FF2B5EF4-FFF2-40B4-BE49-F238E27FC236}">
                <a16:creationId xmlns:a16="http://schemas.microsoft.com/office/drawing/2014/main" id="{9F3E26CB-8A76-8F62-38E4-2CD3A496FFD4}"/>
              </a:ext>
            </a:extLst>
          </p:cNvPr>
          <p:cNvCxnSpPr>
            <a:cxnSpLocks/>
            <a:stCxn id="40" idx="2"/>
            <a:endCxn id="23" idx="0"/>
          </p:cNvCxnSpPr>
          <p:nvPr/>
        </p:nvCxnSpPr>
        <p:spPr>
          <a:xfrm flipH="1">
            <a:off x="10870706" y="2383545"/>
            <a:ext cx="3988" cy="262254"/>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sp>
        <p:nvSpPr>
          <p:cNvPr id="29" name="Rectangle 28">
            <a:extLst>
              <a:ext uri="{FF2B5EF4-FFF2-40B4-BE49-F238E27FC236}">
                <a16:creationId xmlns:a16="http://schemas.microsoft.com/office/drawing/2014/main" id="{BC0C37F8-EF22-0F38-CE3C-77A28B52A414}"/>
              </a:ext>
            </a:extLst>
          </p:cNvPr>
          <p:cNvSpPr/>
          <p:nvPr/>
        </p:nvSpPr>
        <p:spPr bwMode="gray">
          <a:xfrm>
            <a:off x="5698449" y="2651609"/>
            <a:ext cx="1971334" cy="448636"/>
          </a:xfrm>
          <a:prstGeom prst="rect">
            <a:avLst/>
          </a:prstGeom>
          <a:solidFill>
            <a:schemeClr val="accent1">
              <a:lumMod val="20000"/>
              <a:lumOff val="80000"/>
            </a:schemeClr>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en-US" sz="1000">
                <a:solidFill>
                  <a:prstClr val="black"/>
                </a:solidFill>
                <a:latin typeface="Arial" panose="020B0604020202020204" pitchFamily="34" charset="0"/>
                <a:ea typeface="Calibri" panose="020F0502020204030204" pitchFamily="34" charset="0"/>
                <a:cs typeface="Arial" panose="020B0604020202020204" pitchFamily="34" charset="0"/>
              </a:rPr>
              <a:t> PPA including export provision </a:t>
            </a:r>
          </a:p>
        </p:txBody>
      </p:sp>
      <p:graphicFrame>
        <p:nvGraphicFramePr>
          <p:cNvPr id="30" name="Table 9">
            <a:extLst>
              <a:ext uri="{FF2B5EF4-FFF2-40B4-BE49-F238E27FC236}">
                <a16:creationId xmlns:a16="http://schemas.microsoft.com/office/drawing/2014/main" id="{92E20DA9-31F9-FA0B-F777-49971462E20F}"/>
              </a:ext>
            </a:extLst>
          </p:cNvPr>
          <p:cNvGraphicFramePr>
            <a:graphicFrameLocks noGrp="1"/>
          </p:cNvGraphicFramePr>
          <p:nvPr/>
        </p:nvGraphicFramePr>
        <p:xfrm>
          <a:off x="5698449" y="3255145"/>
          <a:ext cx="1981379" cy="1700830"/>
        </p:xfrm>
        <a:graphic>
          <a:graphicData uri="http://schemas.openxmlformats.org/drawingml/2006/table">
            <a:tbl>
              <a:tblPr firstRow="1" bandRow="1">
                <a:tableStyleId>{5C22544A-7EE6-4342-B048-85BDC9FD1C3A}</a:tableStyleId>
              </a:tblPr>
              <a:tblGrid>
                <a:gridCol w="1981379">
                  <a:extLst>
                    <a:ext uri="{9D8B030D-6E8A-4147-A177-3AD203B41FA5}">
                      <a16:colId xmlns:a16="http://schemas.microsoft.com/office/drawing/2014/main" val="4011603893"/>
                    </a:ext>
                  </a:extLst>
                </a:gridCol>
              </a:tblGrid>
              <a:tr h="1700830">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1" kern="100">
                          <a:solidFill>
                            <a:schemeClr val="tx1"/>
                          </a:solidFill>
                          <a:effectLst/>
                          <a:latin typeface="Arial" panose="020B0604020202020204" pitchFamily="34" charset="0"/>
                          <a:ea typeface="Calibri" panose="020F0502020204030204" pitchFamily="34" charset="0"/>
                          <a:cs typeface="Arial" panose="020B0604020202020204" pitchFamily="34" charset="0"/>
                        </a:rPr>
                        <a:t>PPA execution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1" kern="100">
                          <a:solidFill>
                            <a:schemeClr val="tx1"/>
                          </a:solidFill>
                          <a:effectLst/>
                          <a:latin typeface="Arial" panose="020B0604020202020204" pitchFamily="34" charset="0"/>
                          <a:ea typeface="Calibri" panose="020F0502020204030204" pitchFamily="34" charset="0"/>
                          <a:cs typeface="Arial" panose="020B0604020202020204" pitchFamily="34" charset="0"/>
                        </a:rPr>
                        <a:t>NEA acts as the off-taker and trading intermediary</a:t>
                      </a:r>
                    </a:p>
                    <a:p>
                      <a:pPr marL="0" indent="0" algn="l">
                        <a:buFont typeface="Arial" panose="020B0604020202020204" pitchFamily="34" charset="0"/>
                        <a:buNone/>
                      </a:pPr>
                      <a:endParaRPr lang="en-US" sz="900" b="0" kern="1200">
                        <a:solidFill>
                          <a:schemeClr val="tx1"/>
                        </a:solidFill>
                        <a:effectLst/>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097320337"/>
                  </a:ext>
                </a:extLst>
              </a:tr>
            </a:tbl>
          </a:graphicData>
        </a:graphic>
      </p:graphicFrame>
      <p:cxnSp>
        <p:nvCxnSpPr>
          <p:cNvPr id="31" name="Straight Connector 30">
            <a:extLst>
              <a:ext uri="{FF2B5EF4-FFF2-40B4-BE49-F238E27FC236}">
                <a16:creationId xmlns:a16="http://schemas.microsoft.com/office/drawing/2014/main" id="{7CEEC066-4035-41B7-4316-ADBFBF6B9183}"/>
              </a:ext>
            </a:extLst>
          </p:cNvPr>
          <p:cNvCxnSpPr>
            <a:cxnSpLocks/>
          </p:cNvCxnSpPr>
          <p:nvPr/>
        </p:nvCxnSpPr>
        <p:spPr>
          <a:xfrm>
            <a:off x="6313193" y="3101439"/>
            <a:ext cx="0" cy="152514"/>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cxnSp>
        <p:nvCxnSpPr>
          <p:cNvPr id="32" name="Straight Connector 31">
            <a:extLst>
              <a:ext uri="{FF2B5EF4-FFF2-40B4-BE49-F238E27FC236}">
                <a16:creationId xmlns:a16="http://schemas.microsoft.com/office/drawing/2014/main" id="{5A68D7B6-D83E-C3FB-FA13-23C619F4ADB9}"/>
              </a:ext>
            </a:extLst>
          </p:cNvPr>
          <p:cNvCxnSpPr>
            <a:cxnSpLocks/>
          </p:cNvCxnSpPr>
          <p:nvPr/>
        </p:nvCxnSpPr>
        <p:spPr>
          <a:xfrm>
            <a:off x="6992536" y="3101438"/>
            <a:ext cx="0" cy="152514"/>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sp>
        <p:nvSpPr>
          <p:cNvPr id="33" name="Rectangle 32">
            <a:extLst>
              <a:ext uri="{FF2B5EF4-FFF2-40B4-BE49-F238E27FC236}">
                <a16:creationId xmlns:a16="http://schemas.microsoft.com/office/drawing/2014/main" id="{E1A1B662-0747-F11B-FB23-E8358E0B7B4C}"/>
              </a:ext>
            </a:extLst>
          </p:cNvPr>
          <p:cNvSpPr/>
          <p:nvPr/>
        </p:nvSpPr>
        <p:spPr bwMode="gray">
          <a:xfrm>
            <a:off x="5718541" y="1123988"/>
            <a:ext cx="1932561" cy="654173"/>
          </a:xfrm>
          <a:prstGeom prst="rect">
            <a:avLst/>
          </a:prstGeom>
          <a:solidFill>
            <a:schemeClr val="accent4"/>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100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NEA </a:t>
            </a:r>
            <a:endPar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endParaRPr>
          </a:p>
        </p:txBody>
      </p:sp>
      <p:cxnSp>
        <p:nvCxnSpPr>
          <p:cNvPr id="34" name="Straight Connector 33">
            <a:extLst>
              <a:ext uri="{FF2B5EF4-FFF2-40B4-BE49-F238E27FC236}">
                <a16:creationId xmlns:a16="http://schemas.microsoft.com/office/drawing/2014/main" id="{FB6928E2-EC3B-C82C-B7CE-609B69ADD7A8}"/>
              </a:ext>
            </a:extLst>
          </p:cNvPr>
          <p:cNvCxnSpPr>
            <a:cxnSpLocks/>
            <a:stCxn id="38" idx="2"/>
            <a:endCxn id="29" idx="0"/>
          </p:cNvCxnSpPr>
          <p:nvPr/>
        </p:nvCxnSpPr>
        <p:spPr>
          <a:xfrm flipH="1">
            <a:off x="6684116" y="2389355"/>
            <a:ext cx="705" cy="262254"/>
          </a:xfrm>
          <a:prstGeom prst="line">
            <a:avLst/>
          </a:prstGeom>
          <a:ln w="28575">
            <a:solidFill>
              <a:srgbClr val="2C5234"/>
            </a:solidFill>
          </a:ln>
        </p:spPr>
        <p:style>
          <a:lnRef idx="2">
            <a:schemeClr val="accent5"/>
          </a:lnRef>
          <a:fillRef idx="0">
            <a:schemeClr val="accent5"/>
          </a:fillRef>
          <a:effectRef idx="1">
            <a:schemeClr val="accent5"/>
          </a:effectRef>
          <a:fontRef idx="minor">
            <a:schemeClr val="tx1"/>
          </a:fontRef>
        </p:style>
      </p:cxnSp>
      <p:sp>
        <p:nvSpPr>
          <p:cNvPr id="35" name="TextBox 34">
            <a:extLst>
              <a:ext uri="{FF2B5EF4-FFF2-40B4-BE49-F238E27FC236}">
                <a16:creationId xmlns:a16="http://schemas.microsoft.com/office/drawing/2014/main" id="{FC97FE8B-7E44-CD94-6F44-78E1A84522BA}"/>
              </a:ext>
            </a:extLst>
          </p:cNvPr>
          <p:cNvSpPr txBox="1"/>
          <p:nvPr/>
        </p:nvSpPr>
        <p:spPr>
          <a:xfrm>
            <a:off x="329366" y="6581723"/>
            <a:ext cx="8713034" cy="153888"/>
          </a:xfrm>
          <a:prstGeom prst="rect">
            <a:avLst/>
          </a:prstGeom>
          <a:noFill/>
        </p:spPr>
        <p:txBody>
          <a:bodyPr wrap="square" lIns="0" tIns="0" rIns="0" bIns="0" rtlCol="0">
            <a:spAutoFit/>
          </a:bodyPr>
          <a:lstStyle/>
          <a:p>
            <a:pPr>
              <a:spcBef>
                <a:spcPts val="600"/>
              </a:spcBef>
              <a:buSzPct val="100000"/>
            </a:pPr>
            <a:r>
              <a:rPr lang="en-US" sz="1000">
                <a:solidFill>
                  <a:srgbClr val="313131"/>
                </a:solidFill>
                <a:latin typeface="Arial" panose="020B0604020202020204" pitchFamily="34" charset="0"/>
                <a:cs typeface="Arial" panose="020B0604020202020204" pitchFamily="34" charset="0"/>
              </a:rPr>
              <a:t>Source - Electricity Act 2049 (1992), DoED – License related documents,</a:t>
            </a:r>
            <a:r>
              <a:rPr lang="en-IN" sz="1000" kern="100">
                <a:effectLst/>
                <a:latin typeface="Arial" panose="020B0604020202020204" pitchFamily="34" charset="0"/>
                <a:ea typeface="Calibri" panose="020F0502020204030204" pitchFamily="34" charset="0"/>
                <a:cs typeface="Arial" panose="020B0604020202020204" pitchFamily="34" charset="0"/>
              </a:rPr>
              <a:t> Nepal Electricity Grid Code 2080, Hydropower Development Policy, 2058 (2001)</a:t>
            </a:r>
            <a:endParaRPr lang="en-IN" sz="1000">
              <a:solidFill>
                <a:srgbClr val="313131"/>
              </a:solidFill>
              <a:latin typeface="Arial" panose="020B0604020202020204" pitchFamily="34" charset="0"/>
              <a:cs typeface="Arial" panose="020B0604020202020204" pitchFamily="34" charset="0"/>
            </a:endParaRPr>
          </a:p>
        </p:txBody>
      </p:sp>
      <p:sp>
        <p:nvSpPr>
          <p:cNvPr id="36" name="Rectangle 35">
            <a:extLst>
              <a:ext uri="{FF2B5EF4-FFF2-40B4-BE49-F238E27FC236}">
                <a16:creationId xmlns:a16="http://schemas.microsoft.com/office/drawing/2014/main" id="{FC34F988-A061-5955-A874-138F06D63612}"/>
              </a:ext>
            </a:extLst>
          </p:cNvPr>
          <p:cNvSpPr/>
          <p:nvPr/>
        </p:nvSpPr>
        <p:spPr bwMode="gray">
          <a:xfrm>
            <a:off x="1496802" y="1783630"/>
            <a:ext cx="1971334" cy="612443"/>
          </a:xfrm>
          <a:prstGeom prst="rect">
            <a:avLst/>
          </a:prstGeom>
          <a:solidFill>
            <a:schemeClr val="bg1"/>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en-US" sz="900">
                <a:solidFill>
                  <a:prstClr val="black"/>
                </a:solidFill>
                <a:latin typeface="Arial" panose="020B0604020202020204" pitchFamily="34" charset="0"/>
                <a:ea typeface="Calibri" panose="020F0502020204030204" pitchFamily="34" charset="0"/>
                <a:cs typeface="Arial" panose="020B0604020202020204" pitchFamily="34" charset="0"/>
              </a:rPr>
              <a:t>Oversees hydropower procurement, grants licenses, and ensures compliance.</a:t>
            </a:r>
          </a:p>
        </p:txBody>
      </p:sp>
      <p:sp>
        <p:nvSpPr>
          <p:cNvPr id="37" name="Rectangle 36">
            <a:extLst>
              <a:ext uri="{FF2B5EF4-FFF2-40B4-BE49-F238E27FC236}">
                <a16:creationId xmlns:a16="http://schemas.microsoft.com/office/drawing/2014/main" id="{CF9B5927-E8BD-2F4F-B18C-3121CAC2DA43}"/>
              </a:ext>
            </a:extLst>
          </p:cNvPr>
          <p:cNvSpPr/>
          <p:nvPr/>
        </p:nvSpPr>
        <p:spPr bwMode="gray">
          <a:xfrm>
            <a:off x="3605409" y="1771182"/>
            <a:ext cx="1971334" cy="612443"/>
          </a:xfrm>
          <a:prstGeom prst="rect">
            <a:avLst/>
          </a:prstGeom>
          <a:solidFill>
            <a:schemeClr val="bg1"/>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en-US" sz="800">
                <a:solidFill>
                  <a:prstClr val="black"/>
                </a:solidFill>
                <a:latin typeface="Arial" panose="020B0604020202020204" pitchFamily="34" charset="0"/>
                <a:ea typeface="Calibri" panose="020F0502020204030204" pitchFamily="34" charset="0"/>
                <a:cs typeface="Arial" panose="020B0604020202020204" pitchFamily="34" charset="0"/>
              </a:rPr>
              <a:t>Primary utility; manages procurement of power, generation, transmission, distribution, and export-import operations</a:t>
            </a:r>
            <a:r>
              <a:rPr lang="en-US" sz="900">
                <a:solidFill>
                  <a:prstClr val="black"/>
                </a:solidFill>
                <a:latin typeface="Arial" panose="020B0604020202020204" pitchFamily="34" charset="0"/>
                <a:ea typeface="Calibri" panose="020F0502020204030204" pitchFamily="34" charset="0"/>
                <a:cs typeface="Arial" panose="020B0604020202020204" pitchFamily="34" charset="0"/>
              </a:rPr>
              <a:t>.</a:t>
            </a:r>
          </a:p>
        </p:txBody>
      </p:sp>
      <p:sp>
        <p:nvSpPr>
          <p:cNvPr id="38" name="Rectangle 37">
            <a:extLst>
              <a:ext uri="{FF2B5EF4-FFF2-40B4-BE49-F238E27FC236}">
                <a16:creationId xmlns:a16="http://schemas.microsoft.com/office/drawing/2014/main" id="{C286B1AA-C40F-51A7-5E40-2842A5698EC3}"/>
              </a:ext>
            </a:extLst>
          </p:cNvPr>
          <p:cNvSpPr/>
          <p:nvPr/>
        </p:nvSpPr>
        <p:spPr bwMode="gray">
          <a:xfrm>
            <a:off x="5718540" y="1778161"/>
            <a:ext cx="1932561" cy="611194"/>
          </a:xfrm>
          <a:prstGeom prst="rect">
            <a:avLst/>
          </a:prstGeom>
          <a:solidFill>
            <a:schemeClr val="bg1"/>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en-US" sz="800">
                <a:solidFill>
                  <a:prstClr val="black"/>
                </a:solidFill>
                <a:latin typeface="Arial" panose="020B0604020202020204" pitchFamily="34" charset="0"/>
                <a:ea typeface="Calibri" panose="020F0502020204030204" pitchFamily="34" charset="0"/>
                <a:cs typeface="Arial" panose="020B0604020202020204" pitchFamily="34" charset="0"/>
              </a:rPr>
              <a:t>Primary utility; manages procurement of power, generation, transmission, distribution, and export-import operations</a:t>
            </a:r>
            <a:r>
              <a:rPr lang="en-US" sz="900">
                <a:solidFill>
                  <a:prstClr val="black"/>
                </a:solidFill>
                <a:latin typeface="Arial" panose="020B0604020202020204" pitchFamily="34" charset="0"/>
                <a:ea typeface="Calibri" panose="020F0502020204030204" pitchFamily="34" charset="0"/>
                <a:cs typeface="Arial" panose="020B0604020202020204" pitchFamily="34" charset="0"/>
              </a:rPr>
              <a:t>.</a:t>
            </a:r>
          </a:p>
        </p:txBody>
      </p:sp>
      <p:sp>
        <p:nvSpPr>
          <p:cNvPr id="39" name="Rectangle 38">
            <a:extLst>
              <a:ext uri="{FF2B5EF4-FFF2-40B4-BE49-F238E27FC236}">
                <a16:creationId xmlns:a16="http://schemas.microsoft.com/office/drawing/2014/main" id="{150F0093-7D91-ABE6-F52F-24268A21D950}"/>
              </a:ext>
            </a:extLst>
          </p:cNvPr>
          <p:cNvSpPr/>
          <p:nvPr/>
        </p:nvSpPr>
        <p:spPr bwMode="gray">
          <a:xfrm>
            <a:off x="7802267" y="1826092"/>
            <a:ext cx="1971334" cy="560257"/>
          </a:xfrm>
          <a:prstGeom prst="rect">
            <a:avLst/>
          </a:prstGeom>
          <a:solidFill>
            <a:schemeClr val="bg1"/>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en-US" sz="900">
                <a:solidFill>
                  <a:prstClr val="black"/>
                </a:solidFill>
                <a:latin typeface="Arial" panose="020B0604020202020204" pitchFamily="34" charset="0"/>
                <a:ea typeface="Calibri" panose="020F0502020204030204" pitchFamily="34" charset="0"/>
                <a:cs typeface="Arial" panose="020B0604020202020204" pitchFamily="34" charset="0"/>
              </a:rPr>
              <a:t>Regulate the generation, transmission, distribution or the business of electricity.</a:t>
            </a:r>
          </a:p>
        </p:txBody>
      </p:sp>
      <p:sp>
        <p:nvSpPr>
          <p:cNvPr id="40" name="Rectangle 39">
            <a:extLst>
              <a:ext uri="{FF2B5EF4-FFF2-40B4-BE49-F238E27FC236}">
                <a16:creationId xmlns:a16="http://schemas.microsoft.com/office/drawing/2014/main" id="{51472597-28B0-C287-A8B0-B3D24F156184}"/>
              </a:ext>
            </a:extLst>
          </p:cNvPr>
          <p:cNvSpPr/>
          <p:nvPr/>
        </p:nvSpPr>
        <p:spPr bwMode="gray">
          <a:xfrm>
            <a:off x="9902431" y="1814476"/>
            <a:ext cx="1944525" cy="569069"/>
          </a:xfrm>
          <a:prstGeom prst="rect">
            <a:avLst/>
          </a:prstGeom>
          <a:solidFill>
            <a:schemeClr val="bg1"/>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en-US" sz="900">
                <a:solidFill>
                  <a:prstClr val="black"/>
                </a:solidFill>
                <a:latin typeface="Arial" panose="020B0604020202020204" pitchFamily="34" charset="0"/>
                <a:ea typeface="Calibri" panose="020F0502020204030204" pitchFamily="34" charset="0"/>
                <a:cs typeface="Arial" panose="020B0604020202020204" pitchFamily="34" charset="0"/>
              </a:rPr>
              <a:t>Provides approval for the power export</a:t>
            </a:r>
          </a:p>
        </p:txBody>
      </p:sp>
      <p:sp>
        <p:nvSpPr>
          <p:cNvPr id="41" name="Rectangle 40">
            <a:extLst>
              <a:ext uri="{FF2B5EF4-FFF2-40B4-BE49-F238E27FC236}">
                <a16:creationId xmlns:a16="http://schemas.microsoft.com/office/drawing/2014/main" id="{A46E5B64-1290-99A6-1903-94363A1C1BA2}"/>
              </a:ext>
            </a:extLst>
          </p:cNvPr>
          <p:cNvSpPr/>
          <p:nvPr/>
        </p:nvSpPr>
        <p:spPr bwMode="gray">
          <a:xfrm>
            <a:off x="1475712" y="5057948"/>
            <a:ext cx="1971334" cy="654173"/>
          </a:xfrm>
          <a:prstGeom prst="rect">
            <a:avLst/>
          </a:prstGeom>
          <a:solidFill>
            <a:schemeClr val="accent3"/>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100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Issues Survey and Generation License </a:t>
            </a:r>
            <a:endPar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endParaRPr>
          </a:p>
        </p:txBody>
      </p:sp>
      <p:sp>
        <p:nvSpPr>
          <p:cNvPr id="43" name="Rectangle 42">
            <a:extLst>
              <a:ext uri="{FF2B5EF4-FFF2-40B4-BE49-F238E27FC236}">
                <a16:creationId xmlns:a16="http://schemas.microsoft.com/office/drawing/2014/main" id="{1FD5079F-37E5-5256-FF24-D7D167919D1A}"/>
              </a:ext>
            </a:extLst>
          </p:cNvPr>
          <p:cNvSpPr/>
          <p:nvPr/>
        </p:nvSpPr>
        <p:spPr bwMode="gray">
          <a:xfrm>
            <a:off x="3605409" y="5061350"/>
            <a:ext cx="1917717" cy="654173"/>
          </a:xfrm>
          <a:prstGeom prst="rect">
            <a:avLst/>
          </a:prstGeom>
          <a:solidFill>
            <a:schemeClr val="accent3"/>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100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NEA conducts System Impact Study and grants technical clearance for interconnection.</a:t>
            </a:r>
          </a:p>
        </p:txBody>
      </p:sp>
      <p:sp>
        <p:nvSpPr>
          <p:cNvPr id="44" name="Rectangle 43">
            <a:extLst>
              <a:ext uri="{FF2B5EF4-FFF2-40B4-BE49-F238E27FC236}">
                <a16:creationId xmlns:a16="http://schemas.microsoft.com/office/drawing/2014/main" id="{4F41AB17-21EA-1069-F3FE-DF397F5E540D}"/>
              </a:ext>
            </a:extLst>
          </p:cNvPr>
          <p:cNvSpPr/>
          <p:nvPr/>
        </p:nvSpPr>
        <p:spPr bwMode="gray">
          <a:xfrm>
            <a:off x="7802267" y="5056888"/>
            <a:ext cx="1917717" cy="654173"/>
          </a:xfrm>
          <a:prstGeom prst="rect">
            <a:avLst/>
          </a:prstGeom>
          <a:solidFill>
            <a:schemeClr val="accent3"/>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100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Approval of PPA</a:t>
            </a:r>
          </a:p>
        </p:txBody>
      </p:sp>
      <p:sp>
        <p:nvSpPr>
          <p:cNvPr id="45" name="Rectangle 44">
            <a:extLst>
              <a:ext uri="{FF2B5EF4-FFF2-40B4-BE49-F238E27FC236}">
                <a16:creationId xmlns:a16="http://schemas.microsoft.com/office/drawing/2014/main" id="{65FC9AE7-7A86-4E74-8ECD-4E309E99046F}"/>
              </a:ext>
            </a:extLst>
          </p:cNvPr>
          <p:cNvSpPr/>
          <p:nvPr/>
        </p:nvSpPr>
        <p:spPr bwMode="gray">
          <a:xfrm>
            <a:off x="9893225" y="5043671"/>
            <a:ext cx="1929623" cy="654173"/>
          </a:xfrm>
          <a:prstGeom prst="rect">
            <a:avLst/>
          </a:prstGeom>
          <a:solidFill>
            <a:schemeClr val="accent3"/>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100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Final approval for power export</a:t>
            </a:r>
          </a:p>
        </p:txBody>
      </p:sp>
      <p:sp>
        <p:nvSpPr>
          <p:cNvPr id="46" name="Rectangle 45">
            <a:extLst>
              <a:ext uri="{FF2B5EF4-FFF2-40B4-BE49-F238E27FC236}">
                <a16:creationId xmlns:a16="http://schemas.microsoft.com/office/drawing/2014/main" id="{6C6B8421-567E-5D8B-DF0C-83C2D2B006DE}"/>
              </a:ext>
            </a:extLst>
          </p:cNvPr>
          <p:cNvSpPr/>
          <p:nvPr/>
        </p:nvSpPr>
        <p:spPr bwMode="gray">
          <a:xfrm>
            <a:off x="5708494" y="5057946"/>
            <a:ext cx="1971334" cy="654173"/>
          </a:xfrm>
          <a:prstGeom prst="rect">
            <a:avLst/>
          </a:prstGeom>
          <a:solidFill>
            <a:schemeClr val="accent3"/>
          </a:solidFill>
          <a:ln w="19050" algn="ctr">
            <a:solidFill>
              <a:schemeClr val="bg1">
                <a:lumMod val="6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5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1000" i="0" u="none" strike="noStrike" kern="1200" cap="none" spc="0" normalizeH="0" baseline="0" noProof="0">
                <a:ln>
                  <a:noFill/>
                </a:ln>
                <a:solidFill>
                  <a:schemeClr val="bg1"/>
                </a:solidFill>
                <a:effectLst/>
                <a:uLnTx/>
                <a:uFillTx/>
                <a:latin typeface="Arial" panose="020B0604020202020204" pitchFamily="34" charset="0"/>
                <a:ea typeface="Calibri" panose="020F0502020204030204" pitchFamily="34" charset="0"/>
                <a:cs typeface="Arial" panose="020B0604020202020204" pitchFamily="34" charset="0"/>
              </a:rPr>
              <a:t>Final negotiation of PPA</a:t>
            </a:r>
          </a:p>
        </p:txBody>
      </p:sp>
      <p:sp>
        <p:nvSpPr>
          <p:cNvPr id="51" name="Rectangle: Rounded Corners 50">
            <a:extLst>
              <a:ext uri="{FF2B5EF4-FFF2-40B4-BE49-F238E27FC236}">
                <a16:creationId xmlns:a16="http://schemas.microsoft.com/office/drawing/2014/main" id="{7DA96699-567C-A969-BD5C-84F8D1D95103}"/>
              </a:ext>
            </a:extLst>
          </p:cNvPr>
          <p:cNvSpPr/>
          <p:nvPr/>
        </p:nvSpPr>
        <p:spPr bwMode="gray">
          <a:xfrm>
            <a:off x="183592" y="1247187"/>
            <a:ext cx="1174246" cy="334082"/>
          </a:xfrm>
          <a:prstGeom prst="roundRect">
            <a:avLst/>
          </a:prstGeom>
          <a:ln>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ctr">
              <a:lnSpc>
                <a:spcPct val="106000"/>
              </a:lnSpc>
              <a:buFont typeface="Wingdings 2" pitchFamily="18" charset="2"/>
              <a:buNone/>
            </a:pPr>
            <a:r>
              <a:rPr lang="en-US" sz="1100" b="1">
                <a:solidFill>
                  <a:schemeClr val="tx1"/>
                </a:solidFill>
                <a:latin typeface="Arial" panose="020B0604020202020204" pitchFamily="34" charset="0"/>
                <a:cs typeface="Arial" panose="020B0604020202020204" pitchFamily="34" charset="0"/>
              </a:rPr>
              <a:t>Entity</a:t>
            </a:r>
          </a:p>
        </p:txBody>
      </p:sp>
      <p:sp>
        <p:nvSpPr>
          <p:cNvPr id="52" name="Rectangle: Rounded Corners 51">
            <a:extLst>
              <a:ext uri="{FF2B5EF4-FFF2-40B4-BE49-F238E27FC236}">
                <a16:creationId xmlns:a16="http://schemas.microsoft.com/office/drawing/2014/main" id="{9D07B3FB-DFE7-1030-6310-44C83B4BC5C9}"/>
              </a:ext>
            </a:extLst>
          </p:cNvPr>
          <p:cNvSpPr/>
          <p:nvPr/>
        </p:nvSpPr>
        <p:spPr bwMode="gray">
          <a:xfrm>
            <a:off x="182783" y="1877042"/>
            <a:ext cx="1174246" cy="334082"/>
          </a:xfrm>
          <a:prstGeom prst="roundRect">
            <a:avLst/>
          </a:prstGeom>
          <a:ln>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ctr">
              <a:lnSpc>
                <a:spcPct val="106000"/>
              </a:lnSpc>
              <a:buFont typeface="Wingdings 2" pitchFamily="18" charset="2"/>
              <a:buNone/>
            </a:pPr>
            <a:r>
              <a:rPr lang="en-US" sz="1100" b="1">
                <a:solidFill>
                  <a:schemeClr val="tx1"/>
                </a:solidFill>
                <a:latin typeface="Arial" panose="020B0604020202020204" pitchFamily="34" charset="0"/>
                <a:cs typeface="Arial" panose="020B0604020202020204" pitchFamily="34" charset="0"/>
              </a:rPr>
              <a:t>Role</a:t>
            </a:r>
          </a:p>
        </p:txBody>
      </p:sp>
      <p:sp>
        <p:nvSpPr>
          <p:cNvPr id="53" name="Rectangle: Rounded Corners 52">
            <a:extLst>
              <a:ext uri="{FF2B5EF4-FFF2-40B4-BE49-F238E27FC236}">
                <a16:creationId xmlns:a16="http://schemas.microsoft.com/office/drawing/2014/main" id="{793A1A94-F733-4413-6FD1-E0A96AD36146}"/>
              </a:ext>
            </a:extLst>
          </p:cNvPr>
          <p:cNvSpPr/>
          <p:nvPr/>
        </p:nvSpPr>
        <p:spPr bwMode="gray">
          <a:xfrm>
            <a:off x="148145" y="3659385"/>
            <a:ext cx="1174246" cy="700251"/>
          </a:xfrm>
          <a:prstGeom prst="roundRect">
            <a:avLst/>
          </a:prstGeom>
          <a:ln>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ctr">
              <a:lnSpc>
                <a:spcPct val="106000"/>
              </a:lnSpc>
              <a:buFont typeface="Wingdings 2" pitchFamily="18" charset="2"/>
              <a:buNone/>
            </a:pPr>
            <a:r>
              <a:rPr lang="en-US" sz="1100" b="1">
                <a:solidFill>
                  <a:schemeClr val="tx1"/>
                </a:solidFill>
                <a:latin typeface="Arial" panose="020B0604020202020204" pitchFamily="34" charset="0"/>
                <a:cs typeface="Arial" panose="020B0604020202020204" pitchFamily="34" charset="0"/>
              </a:rPr>
              <a:t>IPP requirements</a:t>
            </a:r>
          </a:p>
        </p:txBody>
      </p:sp>
      <p:sp>
        <p:nvSpPr>
          <p:cNvPr id="54" name="Rectangle: Rounded Corners 53">
            <a:extLst>
              <a:ext uri="{FF2B5EF4-FFF2-40B4-BE49-F238E27FC236}">
                <a16:creationId xmlns:a16="http://schemas.microsoft.com/office/drawing/2014/main" id="{4220A2CF-B0B4-A5F2-9A95-1D23E5E9CAC9}"/>
              </a:ext>
            </a:extLst>
          </p:cNvPr>
          <p:cNvSpPr/>
          <p:nvPr/>
        </p:nvSpPr>
        <p:spPr bwMode="gray">
          <a:xfrm>
            <a:off x="146906" y="5071933"/>
            <a:ext cx="1174246" cy="617355"/>
          </a:xfrm>
          <a:prstGeom prst="roundRect">
            <a:avLst/>
          </a:prstGeom>
          <a:ln>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ctr">
              <a:lnSpc>
                <a:spcPct val="106000"/>
              </a:lnSpc>
              <a:buFont typeface="Wingdings 2" pitchFamily="18" charset="2"/>
              <a:buNone/>
            </a:pPr>
            <a:r>
              <a:rPr lang="en-US" sz="1100" b="1">
                <a:solidFill>
                  <a:schemeClr val="tx1"/>
                </a:solidFill>
                <a:latin typeface="Arial" panose="020B0604020202020204" pitchFamily="34" charset="0"/>
                <a:cs typeface="Arial" panose="020B0604020202020204" pitchFamily="34" charset="0"/>
              </a:rPr>
              <a:t>Entity Action</a:t>
            </a:r>
          </a:p>
        </p:txBody>
      </p:sp>
    </p:spTree>
    <p:extLst>
      <p:ext uri="{BB962C8B-B14F-4D97-AF65-F5344CB8AC3E}">
        <p14:creationId xmlns:p14="http://schemas.microsoft.com/office/powerpoint/2010/main" val="635488669"/>
      </p:ext>
    </p:extLst>
  </p:cSld>
  <p:clrMapOvr>
    <a:masterClrMapping/>
  </p:clrMapOvr>
  <p:transition>
    <p:fade/>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22504829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Cross Border Electricity Trade (CBET) Landscape of Nepal and India</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Current practice of CBET between India and Nepal</a:t>
            </a:r>
          </a:p>
        </p:txBody>
      </p:sp>
      <p:cxnSp>
        <p:nvCxnSpPr>
          <p:cNvPr id="57" name="Connector: Elbow 56">
            <a:extLst>
              <a:ext uri="{FF2B5EF4-FFF2-40B4-BE49-F238E27FC236}">
                <a16:creationId xmlns:a16="http://schemas.microsoft.com/office/drawing/2014/main" id="{423A8457-9975-A84E-AA33-095A087AD019}"/>
              </a:ext>
            </a:extLst>
          </p:cNvPr>
          <p:cNvCxnSpPr>
            <a:cxnSpLocks/>
          </p:cNvCxnSpPr>
          <p:nvPr/>
        </p:nvCxnSpPr>
        <p:spPr>
          <a:xfrm rot="16200000" flipH="1">
            <a:off x="5995296" y="2576023"/>
            <a:ext cx="712258" cy="264978"/>
          </a:xfrm>
          <a:prstGeom prst="bentConnector3">
            <a:avLst>
              <a:gd name="adj1" fmla="val 50000"/>
            </a:avLst>
          </a:prstGeom>
          <a:noFill/>
          <a:ln w="28575" cap="flat" cmpd="sng" algn="ctr">
            <a:solidFill>
              <a:sysClr val="windowText" lastClr="000000">
                <a:lumMod val="65000"/>
                <a:lumOff val="35000"/>
              </a:sysClr>
            </a:solidFill>
            <a:prstDash val="solid"/>
            <a:headEnd type="triangle"/>
            <a:tailEnd type="triangle"/>
          </a:ln>
          <a:effectLst/>
        </p:spPr>
      </p:cxnSp>
      <p:grpSp>
        <p:nvGrpSpPr>
          <p:cNvPr id="5" name="Group 4">
            <a:extLst>
              <a:ext uri="{FF2B5EF4-FFF2-40B4-BE49-F238E27FC236}">
                <a16:creationId xmlns:a16="http://schemas.microsoft.com/office/drawing/2014/main" id="{89CF3380-0AA7-7D28-1737-A84C2B8DAEC9}"/>
              </a:ext>
            </a:extLst>
          </p:cNvPr>
          <p:cNvGrpSpPr/>
          <p:nvPr/>
        </p:nvGrpSpPr>
        <p:grpSpPr>
          <a:xfrm>
            <a:off x="842211" y="981518"/>
            <a:ext cx="10431378" cy="4491465"/>
            <a:chOff x="2451297" y="981518"/>
            <a:chExt cx="7535926" cy="4491465"/>
          </a:xfrm>
        </p:grpSpPr>
        <p:grpSp>
          <p:nvGrpSpPr>
            <p:cNvPr id="40" name="Group 39">
              <a:extLst>
                <a:ext uri="{FF2B5EF4-FFF2-40B4-BE49-F238E27FC236}">
                  <a16:creationId xmlns:a16="http://schemas.microsoft.com/office/drawing/2014/main" id="{1E6847FD-E609-98BC-BBF3-0BD588A8398B}"/>
                </a:ext>
              </a:extLst>
            </p:cNvPr>
            <p:cNvGrpSpPr/>
            <p:nvPr/>
          </p:nvGrpSpPr>
          <p:grpSpPr>
            <a:xfrm>
              <a:off x="5527304" y="981518"/>
              <a:ext cx="1616586" cy="1370865"/>
              <a:chOff x="4180390" y="1112189"/>
              <a:chExt cx="2273574" cy="2316420"/>
            </a:xfrm>
          </p:grpSpPr>
          <p:grpSp>
            <p:nvGrpSpPr>
              <p:cNvPr id="84" name="Group 83">
                <a:extLst>
                  <a:ext uri="{FF2B5EF4-FFF2-40B4-BE49-F238E27FC236}">
                    <a16:creationId xmlns:a16="http://schemas.microsoft.com/office/drawing/2014/main" id="{C0758296-6DD7-A72C-C801-ED1C8886DB21}"/>
                  </a:ext>
                </a:extLst>
              </p:cNvPr>
              <p:cNvGrpSpPr/>
              <p:nvPr/>
            </p:nvGrpSpPr>
            <p:grpSpPr>
              <a:xfrm>
                <a:off x="4180390" y="1112189"/>
                <a:ext cx="2273574" cy="2316420"/>
                <a:chOff x="370731" y="1758226"/>
                <a:chExt cx="3636000" cy="2109513"/>
              </a:xfrm>
            </p:grpSpPr>
            <p:grpSp>
              <p:nvGrpSpPr>
                <p:cNvPr id="87" name="Group 86">
                  <a:extLst>
                    <a:ext uri="{FF2B5EF4-FFF2-40B4-BE49-F238E27FC236}">
                      <a16:creationId xmlns:a16="http://schemas.microsoft.com/office/drawing/2014/main" id="{35E26A8A-8673-3EDC-E4E7-1913B7B17943}"/>
                    </a:ext>
                  </a:extLst>
                </p:cNvPr>
                <p:cNvGrpSpPr/>
                <p:nvPr/>
              </p:nvGrpSpPr>
              <p:grpSpPr>
                <a:xfrm>
                  <a:off x="370731" y="1758226"/>
                  <a:ext cx="3636000" cy="2109513"/>
                  <a:chOff x="370731" y="1758226"/>
                  <a:chExt cx="3636000" cy="2109513"/>
                </a:xfrm>
              </p:grpSpPr>
              <p:grpSp>
                <p:nvGrpSpPr>
                  <p:cNvPr id="89" name="Group 88">
                    <a:extLst>
                      <a:ext uri="{FF2B5EF4-FFF2-40B4-BE49-F238E27FC236}">
                        <a16:creationId xmlns:a16="http://schemas.microsoft.com/office/drawing/2014/main" id="{A2DBEE90-680D-5947-23E2-98773A9B2378}"/>
                      </a:ext>
                    </a:extLst>
                  </p:cNvPr>
                  <p:cNvGrpSpPr/>
                  <p:nvPr/>
                </p:nvGrpSpPr>
                <p:grpSpPr>
                  <a:xfrm>
                    <a:off x="734264" y="1758226"/>
                    <a:ext cx="2908937" cy="228600"/>
                    <a:chOff x="833432" y="2405743"/>
                    <a:chExt cx="2908937" cy="228600"/>
                  </a:xfrm>
                </p:grpSpPr>
                <p:sp>
                  <p:nvSpPr>
                    <p:cNvPr id="93" name="Isosceles Triangle 31">
                      <a:extLst>
                        <a:ext uri="{FF2B5EF4-FFF2-40B4-BE49-F238E27FC236}">
                          <a16:creationId xmlns:a16="http://schemas.microsoft.com/office/drawing/2014/main" id="{511FA9E5-D521-F6C5-4C3E-EB43040DC6E8}"/>
                        </a:ext>
                      </a:extLst>
                    </p:cNvPr>
                    <p:cNvSpPr/>
                    <p:nvPr/>
                  </p:nvSpPr>
                  <p:spPr bwMode="gray">
                    <a:xfrm>
                      <a:off x="3576634" y="2405743"/>
                      <a:ext cx="165735" cy="228600"/>
                    </a:xfrm>
                    <a:prstGeom prst="triangle">
                      <a:avLst/>
                    </a:prstGeom>
                    <a:solidFill>
                      <a:sysClr val="windowText" lastClr="000000"/>
                    </a:solidFill>
                    <a:ln w="19050" algn="ctr">
                      <a:noFill/>
                      <a:miter lim="800000"/>
                      <a:headEnd/>
                      <a:tailEnd/>
                    </a:ln>
                  </p:spPr>
                  <p:txBody>
                    <a:bodyPr wrap="square" lIns="88900" tIns="88900" rIns="88900" bIns="88900" rtlCol="0" anchor="ctr"/>
                    <a:lstStyle/>
                    <a:p>
                      <a:pPr marL="0" marR="0" lvl="0" indent="0" algn="ctr" defTabSz="914255" eaLnBrk="1" fontAlgn="auto" latinLnBrk="0" hangingPunct="1">
                        <a:lnSpc>
                          <a:spcPct val="106000"/>
                        </a:lnSpc>
                        <a:spcBef>
                          <a:spcPts val="0"/>
                        </a:spcBef>
                        <a:spcAft>
                          <a:spcPts val="0"/>
                        </a:spcAft>
                        <a:buClrTx/>
                        <a:buSzTx/>
                        <a:buFont typeface="Wingdings 2" pitchFamily="18" charset="2"/>
                        <a:buNone/>
                        <a:tabLst/>
                        <a:defRPr/>
                      </a:pPr>
                      <a:endParaRPr kumimoji="0" lang="en-US" sz="1200" b="1" i="0" u="none" strike="noStrike" kern="0" cap="none" spc="0" normalizeH="0" baseline="0" noProof="0" err="1">
                        <a:ln>
                          <a:noFill/>
                        </a:ln>
                        <a:solidFill>
                          <a:prstClr val="white"/>
                        </a:solidFill>
                        <a:effectLst/>
                        <a:uLnTx/>
                        <a:uFillTx/>
                        <a:latin typeface="Arial" panose="020B0604020202020204" pitchFamily="34" charset="0"/>
                        <a:cs typeface="Arial" panose="020B0604020202020204" pitchFamily="34" charset="0"/>
                      </a:endParaRPr>
                    </a:p>
                  </p:txBody>
                </p:sp>
                <p:sp>
                  <p:nvSpPr>
                    <p:cNvPr id="94" name="Isosceles Triangle 5">
                      <a:extLst>
                        <a:ext uri="{FF2B5EF4-FFF2-40B4-BE49-F238E27FC236}">
                          <a16:creationId xmlns:a16="http://schemas.microsoft.com/office/drawing/2014/main" id="{9F2D1A6F-FF49-046F-24A4-2352A740FBAE}"/>
                        </a:ext>
                      </a:extLst>
                    </p:cNvPr>
                    <p:cNvSpPr/>
                    <p:nvPr/>
                  </p:nvSpPr>
                  <p:spPr bwMode="gray">
                    <a:xfrm>
                      <a:off x="833432" y="2405743"/>
                      <a:ext cx="165735" cy="228600"/>
                    </a:xfrm>
                    <a:prstGeom prst="triangle">
                      <a:avLst/>
                    </a:prstGeom>
                    <a:solidFill>
                      <a:sysClr val="windowText" lastClr="000000"/>
                    </a:solidFill>
                    <a:ln w="19050" algn="ctr">
                      <a:noFill/>
                      <a:miter lim="800000"/>
                      <a:headEnd/>
                      <a:tailEnd/>
                    </a:ln>
                  </p:spPr>
                  <p:txBody>
                    <a:bodyPr wrap="square" lIns="88900" tIns="88900" rIns="88900" bIns="88900" rtlCol="0" anchor="ctr"/>
                    <a:lstStyle/>
                    <a:p>
                      <a:pPr marL="0" marR="0" lvl="0" indent="0" algn="ctr" defTabSz="914255" eaLnBrk="1" fontAlgn="auto" latinLnBrk="0" hangingPunct="1">
                        <a:lnSpc>
                          <a:spcPct val="106000"/>
                        </a:lnSpc>
                        <a:spcBef>
                          <a:spcPts val="0"/>
                        </a:spcBef>
                        <a:spcAft>
                          <a:spcPts val="0"/>
                        </a:spcAft>
                        <a:buClrTx/>
                        <a:buSzTx/>
                        <a:buFont typeface="Wingdings 2" pitchFamily="18" charset="2"/>
                        <a:buNone/>
                        <a:tabLst/>
                        <a:defRPr/>
                      </a:pPr>
                      <a:endParaRPr kumimoji="0" lang="en-US" sz="1200" b="1" i="0" u="none" strike="noStrike" kern="0" cap="none" spc="0" normalizeH="0" baseline="0" noProof="0" err="1">
                        <a:ln>
                          <a:noFill/>
                        </a:ln>
                        <a:solidFill>
                          <a:prstClr val="white"/>
                        </a:solidFill>
                        <a:effectLst/>
                        <a:uLnTx/>
                        <a:uFillTx/>
                        <a:latin typeface="Arial" panose="020B0604020202020204" pitchFamily="34" charset="0"/>
                        <a:cs typeface="Arial" panose="020B0604020202020204" pitchFamily="34" charset="0"/>
                      </a:endParaRPr>
                    </a:p>
                  </p:txBody>
                </p:sp>
              </p:grpSp>
              <p:grpSp>
                <p:nvGrpSpPr>
                  <p:cNvPr id="90" name="Group 89">
                    <a:extLst>
                      <a:ext uri="{FF2B5EF4-FFF2-40B4-BE49-F238E27FC236}">
                        <a16:creationId xmlns:a16="http://schemas.microsoft.com/office/drawing/2014/main" id="{F707C7E2-4BFD-14F6-4FB7-D70B0262C011}"/>
                      </a:ext>
                    </a:extLst>
                  </p:cNvPr>
                  <p:cNvGrpSpPr/>
                  <p:nvPr/>
                </p:nvGrpSpPr>
                <p:grpSpPr>
                  <a:xfrm>
                    <a:off x="370731" y="1758226"/>
                    <a:ext cx="3636000" cy="2109513"/>
                    <a:chOff x="370731" y="1758226"/>
                    <a:chExt cx="3636000" cy="2109513"/>
                  </a:xfrm>
                </p:grpSpPr>
                <p:sp>
                  <p:nvSpPr>
                    <p:cNvPr id="91" name="Rectangle: Rounded Corners 90">
                      <a:extLst>
                        <a:ext uri="{FF2B5EF4-FFF2-40B4-BE49-F238E27FC236}">
                          <a16:creationId xmlns:a16="http://schemas.microsoft.com/office/drawing/2014/main" id="{A30DEBE0-CF2B-E250-4DFD-9D4A3B53B0A0}"/>
                        </a:ext>
                      </a:extLst>
                    </p:cNvPr>
                    <p:cNvSpPr/>
                    <p:nvPr/>
                  </p:nvSpPr>
                  <p:spPr bwMode="gray">
                    <a:xfrm>
                      <a:off x="370731" y="1986826"/>
                      <a:ext cx="3636000" cy="1880913"/>
                    </a:xfrm>
                    <a:prstGeom prst="roundRect">
                      <a:avLst>
                        <a:gd name="adj" fmla="val 6603"/>
                      </a:avLst>
                    </a:prstGeom>
                    <a:solidFill>
                      <a:srgbClr val="F7F7F7"/>
                    </a:solidFill>
                    <a:ln w="19050" algn="ctr">
                      <a:solidFill>
                        <a:srgbClr val="43B02A">
                          <a:lumMod val="75000"/>
                        </a:srgbClr>
                      </a:solidFill>
                      <a:miter lim="800000"/>
                      <a:headEnd/>
                      <a:tailEnd/>
                    </a:ln>
                  </p:spPr>
                  <p:txBody>
                    <a:bodyPr wrap="square" lIns="88900" tIns="182880" rIns="88900" bIns="88900" rtlCol="0" anchor="t"/>
                    <a:lstStyle/>
                    <a:p>
                      <a:pPr marL="185738" marR="0" lvl="0" indent="-185738" defTabSz="914255" eaLnBrk="1" fontAlgn="auto" latinLnBrk="0" hangingPunct="1">
                        <a:lnSpc>
                          <a:spcPct val="107000"/>
                        </a:lnSpc>
                        <a:spcBef>
                          <a:spcPts val="0"/>
                        </a:spcBef>
                        <a:spcAft>
                          <a:spcPts val="800"/>
                        </a:spcAft>
                        <a:buClrTx/>
                        <a:buSzPts val="1000"/>
                        <a:buFont typeface="Wingdings" panose="05000000000000000000" pitchFamily="2" charset="2"/>
                        <a:buChar char="v"/>
                        <a:tabLst/>
                        <a:defRPr/>
                      </a:pPr>
                      <a:endParaRPr kumimoji="0" lang="en-IN" sz="1050" b="0" i="0" u="none" strike="noStrike" kern="100" cap="none" spc="0" normalizeH="0" baseline="0" noProof="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p:txBody>
                </p:sp>
                <p:sp>
                  <p:nvSpPr>
                    <p:cNvPr id="92" name="Rectangle: Top Corners Rounded 12">
                      <a:extLst>
                        <a:ext uri="{FF2B5EF4-FFF2-40B4-BE49-F238E27FC236}">
                          <a16:creationId xmlns:a16="http://schemas.microsoft.com/office/drawing/2014/main" id="{18C80E74-F997-135A-388A-99951D42B803}"/>
                        </a:ext>
                      </a:extLst>
                    </p:cNvPr>
                    <p:cNvSpPr/>
                    <p:nvPr/>
                  </p:nvSpPr>
                  <p:spPr bwMode="gray">
                    <a:xfrm flipV="1">
                      <a:off x="817131" y="1758226"/>
                      <a:ext cx="2743200" cy="457200"/>
                    </a:xfrm>
                    <a:prstGeom prst="round2SameRect">
                      <a:avLst/>
                    </a:prstGeom>
                    <a:solidFill>
                      <a:srgbClr val="43B02A">
                        <a:lumMod val="75000"/>
                      </a:srgbClr>
                    </a:solidFill>
                    <a:ln w="19050" algn="ctr">
                      <a:noFill/>
                      <a:miter lim="800000"/>
                      <a:headEnd/>
                      <a:tailEnd/>
                    </a:ln>
                  </p:spPr>
                  <p:txBody>
                    <a:bodyPr wrap="square" lIns="88900" tIns="88900" rIns="88900" bIns="88900" rtlCol="0" anchor="ctr"/>
                    <a:lstStyle/>
                    <a:p>
                      <a:pPr marL="0" marR="0" lvl="0" indent="0" algn="ctr" defTabSz="914255" eaLnBrk="1" fontAlgn="auto" latinLnBrk="0" hangingPunct="1">
                        <a:lnSpc>
                          <a:spcPct val="106000"/>
                        </a:lnSpc>
                        <a:spcBef>
                          <a:spcPts val="0"/>
                        </a:spcBef>
                        <a:spcAft>
                          <a:spcPts val="0"/>
                        </a:spcAft>
                        <a:buClrTx/>
                        <a:buSzTx/>
                        <a:buFont typeface="Wingdings 2" pitchFamily="18" charset="2"/>
                        <a:buNone/>
                        <a:tabLst/>
                        <a:defRPr/>
                      </a:pPr>
                      <a:endParaRPr kumimoji="0" lang="en-GB" sz="105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grpSp>
            <p:sp>
              <p:nvSpPr>
                <p:cNvPr id="88" name="Rectangle 87">
                  <a:extLst>
                    <a:ext uri="{FF2B5EF4-FFF2-40B4-BE49-F238E27FC236}">
                      <a16:creationId xmlns:a16="http://schemas.microsoft.com/office/drawing/2014/main" id="{B518D2A3-658C-0934-7736-37C217AC35AA}"/>
                    </a:ext>
                  </a:extLst>
                </p:cNvPr>
                <p:cNvSpPr/>
                <p:nvPr/>
              </p:nvSpPr>
              <p:spPr>
                <a:xfrm>
                  <a:off x="1107105" y="1894493"/>
                  <a:ext cx="2163270" cy="236806"/>
                </a:xfrm>
                <a:prstGeom prst="rect">
                  <a:avLst/>
                </a:prstGeom>
              </p:spPr>
              <p:txBody>
                <a:bodyPr wrap="none" lIns="0" tIns="0" rIns="0" bIns="0">
                  <a:spAutoFit/>
                </a:bodyPr>
                <a:lstStyle/>
                <a:p>
                  <a:pPr marL="0" marR="0" lvl="0" indent="0" algn="ctr" defTabSz="914255"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rPr>
                    <a:t>Nodal Authority</a:t>
                  </a:r>
                </a:p>
              </p:txBody>
            </p:sp>
          </p:grpSp>
          <p:pic>
            <p:nvPicPr>
              <p:cNvPr id="85" name="Picture 84">
                <a:extLst>
                  <a:ext uri="{FF2B5EF4-FFF2-40B4-BE49-F238E27FC236}">
                    <a16:creationId xmlns:a16="http://schemas.microsoft.com/office/drawing/2014/main" id="{E6EB1CDF-3EE7-E02F-3E1D-B8303867AE4F}"/>
                  </a:ext>
                </a:extLst>
              </p:cNvPr>
              <p:cNvPicPr>
                <a:picLocks noChangeAspect="1"/>
              </p:cNvPicPr>
              <p:nvPr/>
            </p:nvPicPr>
            <p:blipFill>
              <a:blip r:embed="rId6"/>
              <a:stretch>
                <a:fillRect/>
              </a:stretch>
            </p:blipFill>
            <p:spPr>
              <a:xfrm>
                <a:off x="4823791" y="1680128"/>
                <a:ext cx="909048" cy="938204"/>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
            <p:nvSpPr>
              <p:cNvPr id="86" name="TextBox 85">
                <a:extLst>
                  <a:ext uri="{FF2B5EF4-FFF2-40B4-BE49-F238E27FC236}">
                    <a16:creationId xmlns:a16="http://schemas.microsoft.com/office/drawing/2014/main" id="{E8F735E1-8FFF-5593-6F0F-05B18C71ECD6}"/>
                  </a:ext>
                </a:extLst>
              </p:cNvPr>
              <p:cNvSpPr txBox="1"/>
              <p:nvPr/>
            </p:nvSpPr>
            <p:spPr>
              <a:xfrm>
                <a:off x="4436993" y="2704855"/>
                <a:ext cx="1827687" cy="546068"/>
              </a:xfrm>
              <a:prstGeom prst="rect">
                <a:avLst/>
              </a:prstGeom>
              <a:noFill/>
            </p:spPr>
            <p:txBody>
              <a:bodyPr wrap="square" lIns="0" tIns="0" rIns="0" bIns="0" rtlCol="0">
                <a:spAutoFit/>
              </a:bodyPr>
              <a:lstStyle/>
              <a:p>
                <a:pPr marL="0" marR="0" lvl="0" indent="0" algn="ctr" defTabSz="914255" eaLnBrk="1" fontAlgn="auto" latinLnBrk="0" hangingPunct="1">
                  <a:lnSpc>
                    <a:spcPct val="100000"/>
                  </a:lnSpc>
                  <a:spcBef>
                    <a:spcPts val="600"/>
                  </a:spcBef>
                  <a:spcAft>
                    <a:spcPts val="0"/>
                  </a:spcAft>
                  <a:buClrTx/>
                  <a:buSzPct val="100000"/>
                  <a:buFontTx/>
                  <a:buNone/>
                  <a:tabLst/>
                  <a:defRPr/>
                </a:pPr>
                <a: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Nepal Electricity Authority</a:t>
                </a:r>
              </a:p>
            </p:txBody>
          </p:sp>
        </p:grpSp>
        <p:grpSp>
          <p:nvGrpSpPr>
            <p:cNvPr id="43" name="Group 42">
              <a:extLst>
                <a:ext uri="{FF2B5EF4-FFF2-40B4-BE49-F238E27FC236}">
                  <a16:creationId xmlns:a16="http://schemas.microsoft.com/office/drawing/2014/main" id="{00C6273C-EDDC-0BA3-DEC7-98FEEA4FBAAD}"/>
                </a:ext>
              </a:extLst>
            </p:cNvPr>
            <p:cNvGrpSpPr/>
            <p:nvPr/>
          </p:nvGrpSpPr>
          <p:grpSpPr>
            <a:xfrm>
              <a:off x="2630614" y="1125042"/>
              <a:ext cx="1590334" cy="1221592"/>
              <a:chOff x="1337961" y="2529380"/>
              <a:chExt cx="1888392" cy="1503954"/>
            </a:xfrm>
          </p:grpSpPr>
          <p:grpSp>
            <p:nvGrpSpPr>
              <p:cNvPr id="78" name="Group 77">
                <a:extLst>
                  <a:ext uri="{FF2B5EF4-FFF2-40B4-BE49-F238E27FC236}">
                    <a16:creationId xmlns:a16="http://schemas.microsoft.com/office/drawing/2014/main" id="{3E53F002-C386-A12F-0AFB-DDDFC22C2548}"/>
                  </a:ext>
                </a:extLst>
              </p:cNvPr>
              <p:cNvGrpSpPr/>
              <p:nvPr/>
            </p:nvGrpSpPr>
            <p:grpSpPr>
              <a:xfrm>
                <a:off x="1337961" y="2529380"/>
                <a:ext cx="1888392" cy="1503954"/>
                <a:chOff x="30556" y="4347224"/>
                <a:chExt cx="2273574" cy="2065395"/>
              </a:xfrm>
            </p:grpSpPr>
            <p:sp>
              <p:nvSpPr>
                <p:cNvPr id="80" name="Rectangle: Rounded Corners 79">
                  <a:extLst>
                    <a:ext uri="{FF2B5EF4-FFF2-40B4-BE49-F238E27FC236}">
                      <a16:creationId xmlns:a16="http://schemas.microsoft.com/office/drawing/2014/main" id="{E345E049-7098-4D34-4DDE-0CD1CFB4941A}"/>
                    </a:ext>
                  </a:extLst>
                </p:cNvPr>
                <p:cNvSpPr/>
                <p:nvPr/>
              </p:nvSpPr>
              <p:spPr bwMode="gray">
                <a:xfrm>
                  <a:off x="30556" y="4347224"/>
                  <a:ext cx="2273574" cy="2065395"/>
                </a:xfrm>
                <a:prstGeom prst="roundRect">
                  <a:avLst>
                    <a:gd name="adj" fmla="val 6603"/>
                  </a:avLst>
                </a:prstGeom>
                <a:solidFill>
                  <a:srgbClr val="F7F7F7"/>
                </a:solidFill>
                <a:ln w="19050" algn="ctr">
                  <a:solidFill>
                    <a:srgbClr val="43B02A">
                      <a:lumMod val="75000"/>
                    </a:srgbClr>
                  </a:solidFill>
                  <a:miter lim="800000"/>
                  <a:headEnd/>
                  <a:tailEnd/>
                </a:ln>
              </p:spPr>
              <p:txBody>
                <a:bodyPr wrap="square" lIns="88900" tIns="182880" rIns="88900" bIns="88900" rtlCol="0" anchor="t"/>
                <a:lstStyle/>
                <a:p>
                  <a:pPr marL="185738" marR="0" lvl="0" indent="-185738" defTabSz="914255" eaLnBrk="1" fontAlgn="auto" latinLnBrk="0" hangingPunct="1">
                    <a:lnSpc>
                      <a:spcPct val="107000"/>
                    </a:lnSpc>
                    <a:spcBef>
                      <a:spcPts val="0"/>
                    </a:spcBef>
                    <a:spcAft>
                      <a:spcPts val="800"/>
                    </a:spcAft>
                    <a:buClrTx/>
                    <a:buSzPts val="1000"/>
                    <a:buFont typeface="Wingdings" panose="05000000000000000000" pitchFamily="2" charset="2"/>
                    <a:buChar char="v"/>
                    <a:tabLst/>
                    <a:defRPr/>
                  </a:pPr>
                  <a:endParaRPr kumimoji="0" lang="en-IN" sz="1050" b="0" i="0" u="none" strike="noStrike" kern="100" cap="none" spc="0" normalizeH="0" baseline="0" noProof="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p:txBody>
            </p:sp>
            <p:sp>
              <p:nvSpPr>
                <p:cNvPr id="81" name="TextBox 80">
                  <a:extLst>
                    <a:ext uri="{FF2B5EF4-FFF2-40B4-BE49-F238E27FC236}">
                      <a16:creationId xmlns:a16="http://schemas.microsoft.com/office/drawing/2014/main" id="{6489A4C5-8887-BAEB-8280-033DD4B7D64B}"/>
                    </a:ext>
                  </a:extLst>
                </p:cNvPr>
                <p:cNvSpPr txBox="1"/>
                <p:nvPr/>
              </p:nvSpPr>
              <p:spPr>
                <a:xfrm>
                  <a:off x="277762" y="5377610"/>
                  <a:ext cx="1827688" cy="949675"/>
                </a:xfrm>
                <a:prstGeom prst="rect">
                  <a:avLst/>
                </a:prstGeom>
                <a:noFill/>
              </p:spPr>
              <p:txBody>
                <a:bodyPr wrap="square" lIns="0" tIns="0" rIns="0" bIns="0" rtlCol="0">
                  <a:spAutoFit/>
                </a:bodyPr>
                <a:lstStyle/>
                <a:p>
                  <a:pPr marL="0" marR="0" lvl="0" indent="0" algn="ctr" defTabSz="914255" eaLnBrk="1" fontAlgn="auto" latinLnBrk="0" hangingPunct="1">
                    <a:lnSpc>
                      <a:spcPct val="100000"/>
                    </a:lnSpc>
                    <a:spcBef>
                      <a:spcPts val="600"/>
                    </a:spcBef>
                    <a:spcAft>
                      <a:spcPts val="0"/>
                    </a:spcAft>
                    <a:buClrTx/>
                    <a:buSzPct val="100000"/>
                    <a:buFontTx/>
                    <a:buNone/>
                    <a:tabLst/>
                    <a:defRPr/>
                  </a:pPr>
                  <a: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Government Of Nepal </a:t>
                  </a:r>
                </a:p>
                <a:p>
                  <a:pPr marL="0" marR="0" lvl="0" indent="0" algn="ctr" defTabSz="914255" eaLnBrk="1" fontAlgn="auto" latinLnBrk="0" hangingPunct="1">
                    <a:lnSpc>
                      <a:spcPct val="100000"/>
                    </a:lnSpc>
                    <a:spcBef>
                      <a:spcPts val="600"/>
                    </a:spcBef>
                    <a:spcAft>
                      <a:spcPts val="0"/>
                    </a:spcAft>
                    <a:buClrTx/>
                    <a:buSzPct val="100000"/>
                    <a:buFontTx/>
                    <a:buNone/>
                    <a:tabLst/>
                    <a:defRPr/>
                  </a:pPr>
                  <a: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(MoEWRI)</a:t>
                  </a:r>
                </a:p>
              </p:txBody>
            </p:sp>
          </p:grpSp>
          <p:pic>
            <p:nvPicPr>
              <p:cNvPr id="79" name="Picture 78">
                <a:extLst>
                  <a:ext uri="{FF2B5EF4-FFF2-40B4-BE49-F238E27FC236}">
                    <a16:creationId xmlns:a16="http://schemas.microsoft.com/office/drawing/2014/main" id="{B841F8BC-149D-0E49-C704-AFA4D4C423B4}"/>
                  </a:ext>
                </a:extLst>
              </p:cNvPr>
              <p:cNvPicPr>
                <a:picLocks noChangeAspect="1"/>
              </p:cNvPicPr>
              <p:nvPr/>
            </p:nvPicPr>
            <p:blipFill>
              <a:blip r:embed="rId7"/>
              <a:stretch>
                <a:fillRect/>
              </a:stretch>
            </p:blipFill>
            <p:spPr>
              <a:xfrm>
                <a:off x="1948834" y="2590387"/>
                <a:ext cx="706947" cy="667702"/>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grpSp>
          <p:nvGrpSpPr>
            <p:cNvPr id="44" name="Group 43">
              <a:extLst>
                <a:ext uri="{FF2B5EF4-FFF2-40B4-BE49-F238E27FC236}">
                  <a16:creationId xmlns:a16="http://schemas.microsoft.com/office/drawing/2014/main" id="{AED9671C-9EF7-DAED-3EDF-77B516688FC9}"/>
                </a:ext>
              </a:extLst>
            </p:cNvPr>
            <p:cNvGrpSpPr/>
            <p:nvPr/>
          </p:nvGrpSpPr>
          <p:grpSpPr>
            <a:xfrm>
              <a:off x="2605444" y="3047774"/>
              <a:ext cx="2081000" cy="385397"/>
              <a:chOff x="7769298" y="1369103"/>
              <a:chExt cx="2020186" cy="775995"/>
            </a:xfrm>
          </p:grpSpPr>
          <p:sp>
            <p:nvSpPr>
              <p:cNvPr id="76" name="Rectangle: Rounded Corners 75">
                <a:extLst>
                  <a:ext uri="{FF2B5EF4-FFF2-40B4-BE49-F238E27FC236}">
                    <a16:creationId xmlns:a16="http://schemas.microsoft.com/office/drawing/2014/main" id="{9DA78843-4A7B-6FD8-3517-0AB1339351F9}"/>
                  </a:ext>
                </a:extLst>
              </p:cNvPr>
              <p:cNvSpPr/>
              <p:nvPr/>
            </p:nvSpPr>
            <p:spPr bwMode="gray">
              <a:xfrm>
                <a:off x="7769298" y="1369103"/>
                <a:ext cx="2020186" cy="763827"/>
              </a:xfrm>
              <a:prstGeom prst="roundRect">
                <a:avLst>
                  <a:gd name="adj" fmla="val 6603"/>
                </a:avLst>
              </a:prstGeom>
              <a:solidFill>
                <a:schemeClr val="accent6">
                  <a:lumMod val="20000"/>
                  <a:lumOff val="80000"/>
                </a:schemeClr>
              </a:solidFill>
              <a:ln w="19050" algn="ctr">
                <a:solidFill>
                  <a:srgbClr val="43B02A">
                    <a:lumMod val="75000"/>
                  </a:srgbClr>
                </a:solidFill>
                <a:miter lim="800000"/>
                <a:headEnd/>
                <a:tailEnd/>
              </a:ln>
            </p:spPr>
            <p:txBody>
              <a:bodyPr wrap="square" lIns="88900" tIns="182880" rIns="88900" bIns="88900" rtlCol="0" anchor="t"/>
              <a:lstStyle/>
              <a:p>
                <a:pPr marL="185738" marR="0" lvl="0" indent="-185738" defTabSz="914255" eaLnBrk="1" fontAlgn="auto" latinLnBrk="0" hangingPunct="1">
                  <a:lnSpc>
                    <a:spcPct val="107000"/>
                  </a:lnSpc>
                  <a:spcBef>
                    <a:spcPts val="0"/>
                  </a:spcBef>
                  <a:spcAft>
                    <a:spcPts val="800"/>
                  </a:spcAft>
                  <a:buClrTx/>
                  <a:buSzPts val="1000"/>
                  <a:buFont typeface="Wingdings" panose="05000000000000000000" pitchFamily="2" charset="2"/>
                  <a:buChar char="v"/>
                  <a:tabLst/>
                  <a:defRPr/>
                </a:pPr>
                <a:endParaRPr kumimoji="0" lang="en-IN" sz="1050" b="0" i="0" u="none" strike="noStrike" kern="100" cap="none" spc="0" normalizeH="0" baseline="0" noProof="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p:txBody>
          </p:sp>
          <p:sp>
            <p:nvSpPr>
              <p:cNvPr id="77" name="TextBox 76">
                <a:extLst>
                  <a:ext uri="{FF2B5EF4-FFF2-40B4-BE49-F238E27FC236}">
                    <a16:creationId xmlns:a16="http://schemas.microsoft.com/office/drawing/2014/main" id="{07DE9E1F-88F6-9A2B-3FBB-140AA71744D2}"/>
                  </a:ext>
                </a:extLst>
              </p:cNvPr>
              <p:cNvSpPr txBox="1"/>
              <p:nvPr/>
            </p:nvSpPr>
            <p:spPr>
              <a:xfrm>
                <a:off x="7859604" y="1401450"/>
                <a:ext cx="1827688" cy="743648"/>
              </a:xfrm>
              <a:prstGeom prst="rect">
                <a:avLst/>
              </a:prstGeom>
              <a:noFill/>
              <a:ln>
                <a:noFill/>
              </a:ln>
            </p:spPr>
            <p:txBody>
              <a:bodyPr wrap="square" lIns="0" tIns="0" rIns="0" bIns="0" rtlCol="0">
                <a:spAutoFit/>
              </a:bodyPr>
              <a:lstStyle/>
              <a:p>
                <a:pPr marL="0" marR="0" lvl="0" indent="0" algn="ctr" defTabSz="914255" eaLnBrk="1" fontAlgn="auto" latinLnBrk="0" hangingPunct="1">
                  <a:lnSpc>
                    <a:spcPct val="100000"/>
                  </a:lnSpc>
                  <a:spcBef>
                    <a:spcPts val="600"/>
                  </a:spcBef>
                  <a:spcAft>
                    <a:spcPts val="0"/>
                  </a:spcAft>
                  <a:buClrTx/>
                  <a:buSzPct val="100000"/>
                  <a:buFontTx/>
                  <a:buNone/>
                  <a:tabLst/>
                  <a:defRPr/>
                </a:pPr>
                <a:r>
                  <a:rPr kumimoji="0" lang="en-US" sz="80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Bilateral Framework through Power Exchange Committee (PEC) Mechanism</a:t>
                </a:r>
              </a:p>
            </p:txBody>
          </p:sp>
        </p:grpSp>
        <p:grpSp>
          <p:nvGrpSpPr>
            <p:cNvPr id="45" name="Group 44">
              <a:extLst>
                <a:ext uri="{FF2B5EF4-FFF2-40B4-BE49-F238E27FC236}">
                  <a16:creationId xmlns:a16="http://schemas.microsoft.com/office/drawing/2014/main" id="{37077077-7C38-3A76-8D8B-BD577AD837E1}"/>
                </a:ext>
              </a:extLst>
            </p:cNvPr>
            <p:cNvGrpSpPr/>
            <p:nvPr/>
          </p:nvGrpSpPr>
          <p:grpSpPr>
            <a:xfrm>
              <a:off x="7938194" y="3056088"/>
              <a:ext cx="1892266" cy="379354"/>
              <a:chOff x="3800740" y="1385842"/>
              <a:chExt cx="2020186" cy="763827"/>
            </a:xfrm>
          </p:grpSpPr>
          <p:sp>
            <p:nvSpPr>
              <p:cNvPr id="74" name="Rectangle: Rounded Corners 73">
                <a:extLst>
                  <a:ext uri="{FF2B5EF4-FFF2-40B4-BE49-F238E27FC236}">
                    <a16:creationId xmlns:a16="http://schemas.microsoft.com/office/drawing/2014/main" id="{5E903380-DA3E-54AD-9918-F41914719AF7}"/>
                  </a:ext>
                </a:extLst>
              </p:cNvPr>
              <p:cNvSpPr/>
              <p:nvPr/>
            </p:nvSpPr>
            <p:spPr bwMode="gray">
              <a:xfrm>
                <a:off x="3800740" y="1385842"/>
                <a:ext cx="2020186" cy="763827"/>
              </a:xfrm>
              <a:prstGeom prst="roundRect">
                <a:avLst>
                  <a:gd name="adj" fmla="val 6603"/>
                </a:avLst>
              </a:prstGeom>
              <a:solidFill>
                <a:schemeClr val="accent6">
                  <a:lumMod val="20000"/>
                  <a:lumOff val="80000"/>
                </a:schemeClr>
              </a:solidFill>
              <a:ln w="19050" algn="ctr">
                <a:solidFill>
                  <a:srgbClr val="43B02A">
                    <a:lumMod val="75000"/>
                  </a:srgbClr>
                </a:solidFill>
                <a:miter lim="800000"/>
                <a:headEnd/>
                <a:tailEnd/>
              </a:ln>
            </p:spPr>
            <p:txBody>
              <a:bodyPr wrap="square" lIns="88900" tIns="182880" rIns="88900" bIns="88900" rtlCol="0" anchor="t"/>
              <a:lstStyle/>
              <a:p>
                <a:pPr marL="185738" marR="0" lvl="0" indent="-185738" defTabSz="914255" eaLnBrk="1" fontAlgn="auto" latinLnBrk="0" hangingPunct="1">
                  <a:lnSpc>
                    <a:spcPct val="107000"/>
                  </a:lnSpc>
                  <a:spcBef>
                    <a:spcPts val="0"/>
                  </a:spcBef>
                  <a:spcAft>
                    <a:spcPts val="800"/>
                  </a:spcAft>
                  <a:buClrTx/>
                  <a:buSzPts val="1000"/>
                  <a:buFont typeface="Wingdings" panose="05000000000000000000" pitchFamily="2" charset="2"/>
                  <a:buChar char="v"/>
                  <a:tabLst/>
                  <a:defRPr/>
                </a:pPr>
                <a:endParaRPr kumimoji="0" lang="en-IN" sz="1050" b="0" i="0" u="none" strike="noStrike" kern="100" cap="none" spc="0" normalizeH="0" baseline="0" noProof="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F30A95A7-5297-3E11-F1A6-649577EF643F}"/>
                  </a:ext>
                </a:extLst>
              </p:cNvPr>
              <p:cNvSpPr txBox="1"/>
              <p:nvPr/>
            </p:nvSpPr>
            <p:spPr>
              <a:xfrm>
                <a:off x="3833320" y="1613075"/>
                <a:ext cx="1827687" cy="325346"/>
              </a:xfrm>
              <a:prstGeom prst="rect">
                <a:avLst/>
              </a:prstGeom>
              <a:noFill/>
            </p:spPr>
            <p:txBody>
              <a:bodyPr wrap="square" lIns="0" tIns="0" rIns="0" bIns="0" rtlCol="0">
                <a:spAutoFit/>
              </a:bodyPr>
              <a:lstStyle/>
              <a:p>
                <a:pPr marL="0" marR="0" lvl="0" indent="0" algn="ctr" defTabSz="914255" eaLnBrk="1" fontAlgn="auto" latinLnBrk="0" hangingPunct="1">
                  <a:lnSpc>
                    <a:spcPct val="100000"/>
                  </a:lnSpc>
                  <a:spcBef>
                    <a:spcPts val="600"/>
                  </a:spcBef>
                  <a:spcAft>
                    <a:spcPts val="0"/>
                  </a:spcAft>
                  <a:buClrTx/>
                  <a:buSzPct val="100000"/>
                  <a:buFontTx/>
                  <a:buNone/>
                  <a:tabLst/>
                  <a:defRPr/>
                </a:pPr>
                <a: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Tripartite Framework</a:t>
                </a:r>
              </a:p>
            </p:txBody>
          </p:sp>
        </p:grpSp>
        <p:cxnSp>
          <p:nvCxnSpPr>
            <p:cNvPr id="3" name="Connector: Elbow 2">
              <a:extLst>
                <a:ext uri="{FF2B5EF4-FFF2-40B4-BE49-F238E27FC236}">
                  <a16:creationId xmlns:a16="http://schemas.microsoft.com/office/drawing/2014/main" id="{3ABC34BC-9B96-F58E-6701-0E60A50AE8DE}"/>
                </a:ext>
              </a:extLst>
            </p:cNvPr>
            <p:cNvCxnSpPr>
              <a:cxnSpLocks/>
              <a:stCxn id="76" idx="0"/>
              <a:endCxn id="91" idx="2"/>
            </p:cNvCxnSpPr>
            <p:nvPr/>
          </p:nvCxnSpPr>
          <p:spPr>
            <a:xfrm rot="5400000" flipH="1" flipV="1">
              <a:off x="4643074" y="1355253"/>
              <a:ext cx="695392" cy="2689653"/>
            </a:xfrm>
            <a:prstGeom prst="bentConnector3">
              <a:avLst>
                <a:gd name="adj1" fmla="val 50000"/>
              </a:avLst>
            </a:prstGeom>
            <a:noFill/>
            <a:ln w="28575" cap="flat" cmpd="sng" algn="ctr">
              <a:solidFill>
                <a:sysClr val="windowText" lastClr="000000">
                  <a:lumMod val="65000"/>
                  <a:lumOff val="35000"/>
                </a:sysClr>
              </a:solidFill>
              <a:prstDash val="solid"/>
              <a:headEnd type="triangle"/>
              <a:tailEnd type="triangle"/>
            </a:ln>
            <a:effectLst/>
          </p:spPr>
        </p:cxnSp>
        <p:cxnSp>
          <p:nvCxnSpPr>
            <p:cNvPr id="7" name="Connector: Elbow 6">
              <a:extLst>
                <a:ext uri="{FF2B5EF4-FFF2-40B4-BE49-F238E27FC236}">
                  <a16:creationId xmlns:a16="http://schemas.microsoft.com/office/drawing/2014/main" id="{75FC11F0-440E-B7AD-CF7A-67C728458D28}"/>
                </a:ext>
              </a:extLst>
            </p:cNvPr>
            <p:cNvCxnSpPr>
              <a:cxnSpLocks/>
              <a:stCxn id="91" idx="2"/>
              <a:endCxn id="74" idx="0"/>
            </p:cNvCxnSpPr>
            <p:nvPr/>
          </p:nvCxnSpPr>
          <p:spPr>
            <a:xfrm rot="16200000" flipH="1">
              <a:off x="7258110" y="1429870"/>
              <a:ext cx="703705" cy="2548730"/>
            </a:xfrm>
            <a:prstGeom prst="bentConnector3">
              <a:avLst>
                <a:gd name="adj1" fmla="val 50000"/>
              </a:avLst>
            </a:prstGeom>
            <a:noFill/>
            <a:ln w="28575" cap="flat" cmpd="sng" algn="ctr">
              <a:solidFill>
                <a:sysClr val="windowText" lastClr="000000">
                  <a:lumMod val="65000"/>
                  <a:lumOff val="35000"/>
                </a:sysClr>
              </a:solidFill>
              <a:prstDash val="solid"/>
              <a:headEnd type="triangle"/>
              <a:tailEnd type="triangle"/>
            </a:ln>
            <a:effectLst/>
          </p:spPr>
        </p:cxnSp>
        <p:grpSp>
          <p:nvGrpSpPr>
            <p:cNvPr id="51" name="Group 50">
              <a:extLst>
                <a:ext uri="{FF2B5EF4-FFF2-40B4-BE49-F238E27FC236}">
                  <a16:creationId xmlns:a16="http://schemas.microsoft.com/office/drawing/2014/main" id="{3F6829B2-C2DA-6157-6DA3-D9825588C491}"/>
                </a:ext>
              </a:extLst>
            </p:cNvPr>
            <p:cNvGrpSpPr/>
            <p:nvPr/>
          </p:nvGrpSpPr>
          <p:grpSpPr>
            <a:xfrm>
              <a:off x="5226509" y="3049388"/>
              <a:ext cx="2432853" cy="2405415"/>
              <a:chOff x="6772888" y="5161884"/>
              <a:chExt cx="2196155" cy="2696746"/>
            </a:xfrm>
          </p:grpSpPr>
          <p:grpSp>
            <p:nvGrpSpPr>
              <p:cNvPr id="68" name="Group 67">
                <a:extLst>
                  <a:ext uri="{FF2B5EF4-FFF2-40B4-BE49-F238E27FC236}">
                    <a16:creationId xmlns:a16="http://schemas.microsoft.com/office/drawing/2014/main" id="{EF77B70E-582B-3C23-9BB8-28A88306E662}"/>
                  </a:ext>
                </a:extLst>
              </p:cNvPr>
              <p:cNvGrpSpPr/>
              <p:nvPr/>
            </p:nvGrpSpPr>
            <p:grpSpPr>
              <a:xfrm>
                <a:off x="6883437" y="5954339"/>
                <a:ext cx="2015369" cy="453872"/>
                <a:chOff x="5958226" y="2795614"/>
                <a:chExt cx="1842043" cy="815146"/>
              </a:xfrm>
            </p:grpSpPr>
            <p:sp>
              <p:nvSpPr>
                <p:cNvPr id="72" name="Rectangle: Rounded Corners 71">
                  <a:extLst>
                    <a:ext uri="{FF2B5EF4-FFF2-40B4-BE49-F238E27FC236}">
                      <a16:creationId xmlns:a16="http://schemas.microsoft.com/office/drawing/2014/main" id="{DD6F5C41-487B-EEBB-F1CA-2EAC771F7BA1}"/>
                    </a:ext>
                  </a:extLst>
                </p:cNvPr>
                <p:cNvSpPr/>
                <p:nvPr/>
              </p:nvSpPr>
              <p:spPr bwMode="gray">
                <a:xfrm>
                  <a:off x="5958226" y="2795614"/>
                  <a:ext cx="1811266" cy="815146"/>
                </a:xfrm>
                <a:prstGeom prst="roundRect">
                  <a:avLst>
                    <a:gd name="adj" fmla="val 6603"/>
                  </a:avLst>
                </a:prstGeom>
                <a:solidFill>
                  <a:srgbClr val="F7F7F7"/>
                </a:solidFill>
                <a:ln w="19050" algn="ctr">
                  <a:solidFill>
                    <a:srgbClr val="43B02A">
                      <a:lumMod val="75000"/>
                    </a:srgbClr>
                  </a:solidFill>
                  <a:miter lim="800000"/>
                  <a:headEnd/>
                  <a:tailEnd/>
                </a:ln>
              </p:spPr>
              <p:txBody>
                <a:bodyPr wrap="square" lIns="88900" tIns="182880" rIns="88900" bIns="88900" rtlCol="0" anchor="t"/>
                <a:lstStyle/>
                <a:p>
                  <a:pPr marL="185738" marR="0" lvl="0" indent="-185738" defTabSz="914255" eaLnBrk="1" fontAlgn="auto" latinLnBrk="0" hangingPunct="1">
                    <a:lnSpc>
                      <a:spcPct val="107000"/>
                    </a:lnSpc>
                    <a:spcBef>
                      <a:spcPts val="0"/>
                    </a:spcBef>
                    <a:spcAft>
                      <a:spcPts val="800"/>
                    </a:spcAft>
                    <a:buClrTx/>
                    <a:buSzPts val="1000"/>
                    <a:buFont typeface="Wingdings" panose="05000000000000000000" pitchFamily="2" charset="2"/>
                    <a:buChar char="v"/>
                    <a:tabLst/>
                    <a:defRPr/>
                  </a:pPr>
                  <a:endParaRPr kumimoji="0" lang="en-IN" sz="1050" b="0" i="0" u="none" strike="noStrike" kern="100" cap="none" spc="0" normalizeH="0" baseline="0" noProof="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p:txBody>
            </p:sp>
            <p:sp>
              <p:nvSpPr>
                <p:cNvPr id="73" name="TextBox 72">
                  <a:extLst>
                    <a:ext uri="{FF2B5EF4-FFF2-40B4-BE49-F238E27FC236}">
                      <a16:creationId xmlns:a16="http://schemas.microsoft.com/office/drawing/2014/main" id="{3A03D096-BE92-84DE-F7DB-4C8226955781}"/>
                    </a:ext>
                  </a:extLst>
                </p:cNvPr>
                <p:cNvSpPr txBox="1"/>
                <p:nvPr/>
              </p:nvSpPr>
              <p:spPr>
                <a:xfrm>
                  <a:off x="5989003" y="2812795"/>
                  <a:ext cx="1811266" cy="650693"/>
                </a:xfrm>
                <a:prstGeom prst="rect">
                  <a:avLst/>
                </a:prstGeom>
                <a:noFill/>
              </p:spPr>
              <p:txBody>
                <a:bodyPr wrap="square" lIns="0" tIns="0" rIns="0" bIns="0" rtlCol="0">
                  <a:spAutoFit/>
                </a:bodyPr>
                <a:lstStyle/>
                <a:p>
                  <a:pPr marL="0" marR="0" lvl="0" indent="0" defTabSz="914255" eaLnBrk="1" fontAlgn="auto" latinLnBrk="0" hangingPunct="1">
                    <a:lnSpc>
                      <a:spcPct val="100000"/>
                    </a:lnSpc>
                    <a:spcBef>
                      <a:spcPts val="600"/>
                    </a:spcBef>
                    <a:spcAft>
                      <a:spcPts val="0"/>
                    </a:spcAft>
                    <a:buClrTx/>
                    <a:buSzPct val="100000"/>
                    <a:buFontTx/>
                    <a:buNone/>
                    <a:tabLst/>
                    <a:defRPr/>
                  </a:pPr>
                  <a: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NVVN</a:t>
                  </a:r>
                  <a:b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br>
                  <a: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(NTPC Vidyut </a:t>
                  </a:r>
                  <a:r>
                    <a:rPr kumimoji="0" lang="en-US" sz="1050" b="1" i="0" u="none" strike="noStrike" kern="0" cap="none" spc="0" normalizeH="0" baseline="0" noProof="0" err="1">
                      <a:ln>
                        <a:noFill/>
                      </a:ln>
                      <a:solidFill>
                        <a:srgbClr val="313131"/>
                      </a:solidFill>
                      <a:effectLst/>
                      <a:uLnTx/>
                      <a:uFillTx/>
                      <a:latin typeface="Arial" panose="020B0604020202020204" pitchFamily="34" charset="0"/>
                      <a:cs typeface="Arial" panose="020B0604020202020204" pitchFamily="34" charset="0"/>
                    </a:rPr>
                    <a:t>Vyapar</a:t>
                  </a:r>
                  <a: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 Nigam Ltd)</a:t>
                  </a:r>
                </a:p>
              </p:txBody>
            </p:sp>
          </p:grpSp>
          <p:sp>
            <p:nvSpPr>
              <p:cNvPr id="69" name="Rectangle: Rounded Corners 68">
                <a:extLst>
                  <a:ext uri="{FF2B5EF4-FFF2-40B4-BE49-F238E27FC236}">
                    <a16:creationId xmlns:a16="http://schemas.microsoft.com/office/drawing/2014/main" id="{9DD6D836-1C9F-7056-13E7-9AA89247C5B3}"/>
                  </a:ext>
                </a:extLst>
              </p:cNvPr>
              <p:cNvSpPr/>
              <p:nvPr/>
            </p:nvSpPr>
            <p:spPr bwMode="gray">
              <a:xfrm>
                <a:off x="6883438" y="7011021"/>
                <a:ext cx="1981695" cy="628829"/>
              </a:xfrm>
              <a:prstGeom prst="roundRect">
                <a:avLst>
                  <a:gd name="adj" fmla="val 6603"/>
                </a:avLst>
              </a:prstGeom>
              <a:solidFill>
                <a:srgbClr val="F7F7F7"/>
              </a:solidFill>
              <a:ln w="19050" algn="ctr">
                <a:solidFill>
                  <a:srgbClr val="43B02A">
                    <a:lumMod val="75000"/>
                  </a:srgbClr>
                </a:solidFill>
                <a:miter lim="800000"/>
                <a:headEnd/>
                <a:tailEnd/>
              </a:ln>
            </p:spPr>
            <p:txBody>
              <a:bodyPr wrap="square" lIns="88900" tIns="182880" rIns="88900" bIns="88900" rtlCol="0" anchor="t"/>
              <a:lstStyle/>
              <a:p>
                <a:pPr marL="0" marR="0" lvl="0" indent="0" algn="ctr" defTabSz="914255" eaLnBrk="1" fontAlgn="auto" latinLnBrk="0" hangingPunct="1">
                  <a:lnSpc>
                    <a:spcPct val="100000"/>
                  </a:lnSpc>
                  <a:spcBef>
                    <a:spcPts val="0"/>
                  </a:spcBef>
                  <a:spcAft>
                    <a:spcPts val="0"/>
                  </a:spcAft>
                  <a:buClrTx/>
                  <a:buSzTx/>
                  <a:buFontTx/>
                  <a:buNone/>
                  <a:tabLst/>
                  <a:defRPr/>
                </a:pPr>
                <a:endParaRPr kumimoji="0" lang="en-US" sz="105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70" name="Rectangle: Rounded Corners 69">
                <a:extLst>
                  <a:ext uri="{FF2B5EF4-FFF2-40B4-BE49-F238E27FC236}">
                    <a16:creationId xmlns:a16="http://schemas.microsoft.com/office/drawing/2014/main" id="{7EEA7341-BA7E-C3B5-0162-E36C0BB27D75}"/>
                  </a:ext>
                </a:extLst>
              </p:cNvPr>
              <p:cNvSpPr/>
              <p:nvPr/>
            </p:nvSpPr>
            <p:spPr bwMode="gray">
              <a:xfrm>
                <a:off x="6772888" y="5161884"/>
                <a:ext cx="2196155" cy="2696746"/>
              </a:xfrm>
              <a:prstGeom prst="roundRect">
                <a:avLst>
                  <a:gd name="adj" fmla="val 6603"/>
                </a:avLst>
              </a:prstGeom>
              <a:noFill/>
              <a:ln w="19050" algn="ctr">
                <a:solidFill>
                  <a:srgbClr val="43B02A">
                    <a:lumMod val="75000"/>
                  </a:srgbClr>
                </a:solidFill>
                <a:prstDash val="dash"/>
                <a:miter lim="800000"/>
                <a:headEnd/>
                <a:tailEnd/>
              </a:ln>
            </p:spPr>
            <p:txBody>
              <a:bodyPr wrap="square" lIns="88900" tIns="182880" rIns="88900" bIns="88900" rtlCol="0" anchor="t"/>
              <a:lstStyle/>
              <a:p>
                <a:pPr marL="185738" marR="0" lvl="0" indent="-185738" defTabSz="914255" eaLnBrk="1" fontAlgn="auto" latinLnBrk="0" hangingPunct="1">
                  <a:lnSpc>
                    <a:spcPct val="107000"/>
                  </a:lnSpc>
                  <a:spcBef>
                    <a:spcPts val="0"/>
                  </a:spcBef>
                  <a:spcAft>
                    <a:spcPts val="800"/>
                  </a:spcAft>
                  <a:buClrTx/>
                  <a:buSzPts val="1000"/>
                  <a:buFont typeface="Wingdings" panose="05000000000000000000" pitchFamily="2" charset="2"/>
                  <a:buChar char="v"/>
                  <a:tabLst/>
                  <a:defRPr/>
                </a:pPr>
                <a:endParaRPr kumimoji="0" lang="en-IN" sz="1050" b="0" i="0" u="none" strike="noStrike" kern="100" cap="none" spc="0" normalizeH="0" baseline="0" noProof="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p:txBody>
          </p:sp>
        </p:grpSp>
        <p:sp>
          <p:nvSpPr>
            <p:cNvPr id="52" name="TextBox 51">
              <a:extLst>
                <a:ext uri="{FF2B5EF4-FFF2-40B4-BE49-F238E27FC236}">
                  <a16:creationId xmlns:a16="http://schemas.microsoft.com/office/drawing/2014/main" id="{E02051B6-34ED-FC04-78FF-7AFE3216ECFB}"/>
                </a:ext>
              </a:extLst>
            </p:cNvPr>
            <p:cNvSpPr txBox="1"/>
            <p:nvPr/>
          </p:nvSpPr>
          <p:spPr>
            <a:xfrm>
              <a:off x="6806942" y="4340309"/>
              <a:ext cx="573593" cy="161583"/>
            </a:xfrm>
            <a:prstGeom prst="rect">
              <a:avLst/>
            </a:prstGeom>
            <a:noFill/>
          </p:spPr>
          <p:txBody>
            <a:bodyPr wrap="square" lIns="0" tIns="0" rIns="0" bIns="0" rtlCol="0">
              <a:spAutoFit/>
            </a:bodyPr>
            <a:lstStyle/>
            <a:p>
              <a:pPr marL="0" marR="0" lvl="0" indent="0" defTabSz="914255" eaLnBrk="1" fontAlgn="auto" latinLnBrk="0" hangingPunct="1">
                <a:lnSpc>
                  <a:spcPct val="100000"/>
                </a:lnSpc>
                <a:spcBef>
                  <a:spcPts val="600"/>
                </a:spcBef>
                <a:spcAft>
                  <a:spcPts val="0"/>
                </a:spcAft>
                <a:buClrTx/>
                <a:buSzPct val="100000"/>
                <a:buFontTx/>
                <a:buNone/>
                <a:tabLst/>
                <a:defRPr/>
              </a:pPr>
              <a: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Export</a:t>
              </a:r>
            </a:p>
          </p:txBody>
        </p:sp>
        <p:sp>
          <p:nvSpPr>
            <p:cNvPr id="53" name="TextBox 52">
              <a:extLst>
                <a:ext uri="{FF2B5EF4-FFF2-40B4-BE49-F238E27FC236}">
                  <a16:creationId xmlns:a16="http://schemas.microsoft.com/office/drawing/2014/main" id="{C4C8FB6E-0BFB-215D-8EA1-AF7A633FE8EA}"/>
                </a:ext>
              </a:extLst>
            </p:cNvPr>
            <p:cNvSpPr txBox="1"/>
            <p:nvPr/>
          </p:nvSpPr>
          <p:spPr>
            <a:xfrm>
              <a:off x="5483414" y="4356758"/>
              <a:ext cx="467548" cy="161583"/>
            </a:xfrm>
            <a:prstGeom prst="rect">
              <a:avLst/>
            </a:prstGeom>
            <a:noFill/>
          </p:spPr>
          <p:txBody>
            <a:bodyPr wrap="square" lIns="0" tIns="0" rIns="0" bIns="0" rtlCol="0">
              <a:spAutoFit/>
            </a:bodyPr>
            <a:lstStyle/>
            <a:p>
              <a:pPr marL="0" marR="0" lvl="0" indent="0" defTabSz="914255" eaLnBrk="1" fontAlgn="auto" latinLnBrk="0" hangingPunct="1">
                <a:lnSpc>
                  <a:spcPct val="100000"/>
                </a:lnSpc>
                <a:spcBef>
                  <a:spcPts val="600"/>
                </a:spcBef>
                <a:spcAft>
                  <a:spcPts val="0"/>
                </a:spcAft>
                <a:buClrTx/>
                <a:buSzPct val="100000"/>
                <a:buFontTx/>
                <a:buNone/>
                <a:tabLst/>
                <a:defRPr/>
              </a:pPr>
              <a: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Import</a:t>
              </a:r>
            </a:p>
          </p:txBody>
        </p:sp>
        <p:sp>
          <p:nvSpPr>
            <p:cNvPr id="58" name="TextBox 57">
              <a:extLst>
                <a:ext uri="{FF2B5EF4-FFF2-40B4-BE49-F238E27FC236}">
                  <a16:creationId xmlns:a16="http://schemas.microsoft.com/office/drawing/2014/main" id="{64EBA2FF-119B-6777-0915-2F4632DC1219}"/>
                </a:ext>
              </a:extLst>
            </p:cNvPr>
            <p:cNvSpPr txBox="1"/>
            <p:nvPr/>
          </p:nvSpPr>
          <p:spPr>
            <a:xfrm>
              <a:off x="5313792" y="2769953"/>
              <a:ext cx="1039243" cy="161583"/>
            </a:xfrm>
            <a:prstGeom prst="rect">
              <a:avLst/>
            </a:prstGeom>
            <a:noFill/>
          </p:spPr>
          <p:txBody>
            <a:bodyPr wrap="square" lIns="0" tIns="0" rIns="0" bIns="0" rtlCol="0">
              <a:spAutoFit/>
            </a:bodyPr>
            <a:lstStyle/>
            <a:p>
              <a:pPr marL="0" marR="0" lvl="0" indent="0" defTabSz="914255" eaLnBrk="1" fontAlgn="auto" latinLnBrk="0" hangingPunct="1">
                <a:lnSpc>
                  <a:spcPct val="100000"/>
                </a:lnSpc>
                <a:spcBef>
                  <a:spcPts val="600"/>
                </a:spcBef>
                <a:spcAft>
                  <a:spcPts val="0"/>
                </a:spcAft>
                <a:buClrTx/>
                <a:buSzPct val="100000"/>
                <a:buFontTx/>
                <a:buNone/>
                <a:tabLst/>
                <a:defRPr/>
              </a:pPr>
              <a: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Import &amp; Export</a:t>
              </a:r>
            </a:p>
          </p:txBody>
        </p:sp>
        <p:sp>
          <p:nvSpPr>
            <p:cNvPr id="59" name="TextBox 58">
              <a:extLst>
                <a:ext uri="{FF2B5EF4-FFF2-40B4-BE49-F238E27FC236}">
                  <a16:creationId xmlns:a16="http://schemas.microsoft.com/office/drawing/2014/main" id="{60D76CA8-8E46-8149-A115-E96951592A39}"/>
                </a:ext>
              </a:extLst>
            </p:cNvPr>
            <p:cNvSpPr txBox="1"/>
            <p:nvPr/>
          </p:nvSpPr>
          <p:spPr>
            <a:xfrm>
              <a:off x="8947979" y="2763096"/>
              <a:ext cx="1039244" cy="161583"/>
            </a:xfrm>
            <a:prstGeom prst="rect">
              <a:avLst/>
            </a:prstGeom>
            <a:noFill/>
          </p:spPr>
          <p:txBody>
            <a:bodyPr wrap="square" lIns="0" tIns="0" rIns="0" bIns="0" rtlCol="0">
              <a:spAutoFit/>
            </a:bodyPr>
            <a:lstStyle/>
            <a:p>
              <a:pPr marL="0" marR="0" lvl="0" indent="0" defTabSz="914255" eaLnBrk="1" fontAlgn="auto" latinLnBrk="0" hangingPunct="1">
                <a:lnSpc>
                  <a:spcPct val="100000"/>
                </a:lnSpc>
                <a:spcBef>
                  <a:spcPts val="600"/>
                </a:spcBef>
                <a:spcAft>
                  <a:spcPts val="0"/>
                </a:spcAft>
                <a:buClrTx/>
                <a:buSzPct val="100000"/>
                <a:buFontTx/>
                <a:buNone/>
                <a:tabLst/>
                <a:defRPr/>
              </a:pPr>
              <a: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Import &amp; Export</a:t>
              </a:r>
            </a:p>
          </p:txBody>
        </p:sp>
        <p:sp>
          <p:nvSpPr>
            <p:cNvPr id="60" name="Rectangle 59">
              <a:extLst>
                <a:ext uri="{FF2B5EF4-FFF2-40B4-BE49-F238E27FC236}">
                  <a16:creationId xmlns:a16="http://schemas.microsoft.com/office/drawing/2014/main" id="{9AB5CDC8-D6DF-7515-9A24-CFBF66D6A53D}"/>
                </a:ext>
              </a:extLst>
            </p:cNvPr>
            <p:cNvSpPr/>
            <p:nvPr/>
          </p:nvSpPr>
          <p:spPr bwMode="gray">
            <a:xfrm>
              <a:off x="2605434" y="3508781"/>
              <a:ext cx="2080999" cy="1964202"/>
            </a:xfrm>
            <a:prstGeom prst="rect">
              <a:avLst/>
            </a:prstGeom>
            <a:solidFill>
              <a:sysClr val="window" lastClr="FFFFFF">
                <a:lumMod val="95000"/>
              </a:sysClr>
            </a:solidFill>
            <a:ln w="19050" algn="ctr">
              <a:solidFill>
                <a:srgbClr val="43B02A">
                  <a:lumMod val="75000"/>
                </a:srgbClr>
              </a:solidFill>
              <a:miter lim="800000"/>
              <a:headEnd/>
              <a:tailEnd/>
            </a:ln>
          </p:spPr>
          <p:txBody>
            <a:bodyPr wrap="square" lIns="88900" tIns="88900" rIns="88900" bIns="88900" rtlCol="0" anchor="ctr"/>
            <a:lstStyle/>
            <a:p>
              <a:pPr marL="171450" marR="0" lvl="0" indent="-171450" defTabSz="914255"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00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33 KV - 132 kV</a:t>
              </a:r>
              <a:r>
                <a:rPr kumimoji="0" lang="en-US" sz="10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 Transmission lines With Distribution Company {in Bihar, </a:t>
              </a:r>
              <a:r>
                <a:rPr lang="en-US" sz="1000" kern="0">
                  <a:solidFill>
                    <a:prstClr val="black"/>
                  </a:solidFill>
                  <a:latin typeface="Arial" panose="020B0604020202020204" pitchFamily="34" charset="0"/>
                  <a:cs typeface="Arial" panose="020B0604020202020204" pitchFamily="34" charset="0"/>
                </a:rPr>
                <a:t>U</a:t>
              </a:r>
              <a:r>
                <a:rPr kumimoji="0" lang="en-US" sz="1000" b="0" i="0" u="none" strike="noStrike" kern="0" cap="none" spc="0" normalizeH="0" baseline="0" noProof="0" err="1">
                  <a:ln>
                    <a:noFill/>
                  </a:ln>
                  <a:solidFill>
                    <a:prstClr val="black"/>
                  </a:solidFill>
                  <a:effectLst/>
                  <a:uLnTx/>
                  <a:uFillTx/>
                  <a:latin typeface="Arial" panose="020B0604020202020204" pitchFamily="34" charset="0"/>
                  <a:cs typeface="Arial" panose="020B0604020202020204" pitchFamily="34" charset="0"/>
                </a:rPr>
                <a:t>ttar</a:t>
              </a:r>
              <a:r>
                <a:rPr kumimoji="0" lang="en-US" sz="10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 Pradesh, Uttarakhand state of India, </a:t>
              </a:r>
              <a:r>
                <a:rPr kumimoji="0" lang="en-IN" sz="100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Bihar State Power Transmission Company Ltd (BSPTCL), </a:t>
              </a:r>
              <a:r>
                <a:rPr kumimoji="0" lang="en-US" sz="100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Uttar Pradesh Power Corporation Limited (UPPCL) &amp; </a:t>
              </a:r>
              <a:r>
                <a:rPr kumimoji="0" lang="en-IN" sz="100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Uttarakhand Power Corporation Limited (UPCL</a:t>
              </a:r>
              <a:r>
                <a:rPr kumimoji="0" lang="en-US" sz="10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 </a:t>
              </a:r>
            </a:p>
          </p:txBody>
        </p:sp>
        <p:sp>
          <p:nvSpPr>
            <p:cNvPr id="61" name="TextBox 60">
              <a:extLst>
                <a:ext uri="{FF2B5EF4-FFF2-40B4-BE49-F238E27FC236}">
                  <a16:creationId xmlns:a16="http://schemas.microsoft.com/office/drawing/2014/main" id="{8154D6B7-843B-6C97-12AC-6303C2C58321}"/>
                </a:ext>
              </a:extLst>
            </p:cNvPr>
            <p:cNvSpPr txBox="1"/>
            <p:nvPr/>
          </p:nvSpPr>
          <p:spPr>
            <a:xfrm>
              <a:off x="7938199" y="3513559"/>
              <a:ext cx="1892267" cy="1956498"/>
            </a:xfrm>
            <a:prstGeom prst="rect">
              <a:avLst/>
            </a:prstGeom>
            <a:solidFill>
              <a:sysClr val="window" lastClr="FFFFFF">
                <a:lumMod val="95000"/>
              </a:sysClr>
            </a:solidFill>
            <a:ln w="19050" algn="ctr">
              <a:solidFill>
                <a:srgbClr val="43B02A">
                  <a:lumMod val="75000"/>
                </a:srgbClr>
              </a:solidFill>
              <a:miter lim="800000"/>
              <a:headEnd/>
              <a:tailEnd/>
            </a:ln>
          </p:spPr>
          <p:txBody>
            <a:bodyPr wrap="square" lIns="88900" tIns="88900" rIns="88900" bIns="88900" rtlCol="0" anchor="ctr"/>
            <a:lstStyle>
              <a:defPPr>
                <a:defRPr lang="en-US"/>
              </a:defPPr>
              <a:lvl1pPr marL="171450" indent="-171450">
                <a:lnSpc>
                  <a:spcPct val="106000"/>
                </a:lnSpc>
                <a:buFont typeface="Arial" panose="020B0604020202020204" pitchFamily="34" charset="0"/>
                <a:buChar char="•"/>
                <a:defRPr kumimoji="0" sz="1100" b="0" i="0" u="none" strike="noStrike" kern="0" cap="none" spc="0" normalizeH="0" baseline="0">
                  <a:ln>
                    <a:noFill/>
                  </a:ln>
                  <a:solidFill>
                    <a:prstClr val="black"/>
                  </a:solidFill>
                  <a:effectLst/>
                  <a:uLnTx/>
                  <a:uFillTx/>
                </a:defRPr>
              </a:lvl1pPr>
            </a:lstStyle>
            <a:p>
              <a:pPr marL="171450" marR="0" lvl="0" indent="-171450" defTabSz="914255"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00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G to G Trade Bangladesh via India- </a:t>
              </a:r>
              <a:r>
                <a:rPr lang="en-US" sz="1000">
                  <a:latin typeface="Arial" panose="020B0604020202020204" pitchFamily="34" charset="0"/>
                  <a:cs typeface="Arial" panose="020B0604020202020204" pitchFamily="34" charset="0"/>
                </a:rPr>
                <a:t>Export of 40 megawatts (MW) of electricity to Bangladesh via India. This arrangement is set to continue for a period of five years from 2024.  </a:t>
              </a:r>
            </a:p>
          </p:txBody>
        </p:sp>
        <p:sp>
          <p:nvSpPr>
            <p:cNvPr id="62" name="TextBox 61">
              <a:extLst>
                <a:ext uri="{FF2B5EF4-FFF2-40B4-BE49-F238E27FC236}">
                  <a16:creationId xmlns:a16="http://schemas.microsoft.com/office/drawing/2014/main" id="{C92BBC40-F8D7-426B-DED8-91BB1C66E92C}"/>
                </a:ext>
              </a:extLst>
            </p:cNvPr>
            <p:cNvSpPr txBox="1"/>
            <p:nvPr/>
          </p:nvSpPr>
          <p:spPr>
            <a:xfrm>
              <a:off x="2451297" y="2779669"/>
              <a:ext cx="1039244" cy="161583"/>
            </a:xfrm>
            <a:prstGeom prst="rect">
              <a:avLst/>
            </a:prstGeom>
            <a:noFill/>
          </p:spPr>
          <p:txBody>
            <a:bodyPr wrap="square" lIns="0" tIns="0" rIns="0" bIns="0" rtlCol="0">
              <a:spAutoFit/>
            </a:bodyPr>
            <a:lstStyle/>
            <a:p>
              <a:pPr marL="0" marR="0" lvl="0" indent="0" defTabSz="914255" eaLnBrk="1" fontAlgn="auto" latinLnBrk="0" hangingPunct="1">
                <a:lnSpc>
                  <a:spcPct val="100000"/>
                </a:lnSpc>
                <a:spcBef>
                  <a:spcPts val="600"/>
                </a:spcBef>
                <a:spcAft>
                  <a:spcPts val="0"/>
                </a:spcAft>
                <a:buClrTx/>
                <a:buSzPct val="100000"/>
                <a:buFontTx/>
                <a:buNone/>
                <a:tabLst/>
                <a:defRPr/>
              </a:pPr>
              <a:r>
                <a:rPr kumimoji="0" lang="en-US" sz="1050" b="1" i="0" u="none" strike="noStrike" kern="0" cap="none" spc="0" normalizeH="0" baseline="0" noProof="0">
                  <a:ln>
                    <a:noFill/>
                  </a:ln>
                  <a:solidFill>
                    <a:srgbClr val="313131"/>
                  </a:solidFill>
                  <a:effectLst/>
                  <a:uLnTx/>
                  <a:uFillTx/>
                  <a:latin typeface="Arial" panose="020B0604020202020204" pitchFamily="34" charset="0"/>
                  <a:cs typeface="Arial" panose="020B0604020202020204" pitchFamily="34" charset="0"/>
                </a:rPr>
                <a:t>Import &amp; Export</a:t>
              </a:r>
            </a:p>
          </p:txBody>
        </p:sp>
        <p:cxnSp>
          <p:nvCxnSpPr>
            <p:cNvPr id="63" name="Straight Arrow Connector 62">
              <a:extLst>
                <a:ext uri="{FF2B5EF4-FFF2-40B4-BE49-F238E27FC236}">
                  <a16:creationId xmlns:a16="http://schemas.microsoft.com/office/drawing/2014/main" id="{9D8BD0F5-3129-FD9F-F83D-A03128C57B29}"/>
                </a:ext>
              </a:extLst>
            </p:cNvPr>
            <p:cNvCxnSpPr>
              <a:cxnSpLocks/>
            </p:cNvCxnSpPr>
            <p:nvPr/>
          </p:nvCxnSpPr>
          <p:spPr>
            <a:xfrm flipV="1">
              <a:off x="6701024" y="4153383"/>
              <a:ext cx="0" cy="521307"/>
            </a:xfrm>
            <a:prstGeom prst="straightConnector1">
              <a:avLst/>
            </a:prstGeom>
            <a:noFill/>
            <a:ln w="28575" cap="flat" cmpd="sng" algn="ctr">
              <a:solidFill>
                <a:sysClr val="windowText" lastClr="000000">
                  <a:lumMod val="65000"/>
                  <a:lumOff val="35000"/>
                </a:sysClr>
              </a:solidFill>
              <a:prstDash val="solid"/>
              <a:tailEnd type="triangle"/>
            </a:ln>
            <a:effectLst/>
          </p:spPr>
        </p:cxnSp>
        <p:cxnSp>
          <p:nvCxnSpPr>
            <p:cNvPr id="64" name="Straight Arrow Connector 63">
              <a:extLst>
                <a:ext uri="{FF2B5EF4-FFF2-40B4-BE49-F238E27FC236}">
                  <a16:creationId xmlns:a16="http://schemas.microsoft.com/office/drawing/2014/main" id="{02D81909-8894-85FC-80BB-2ADC435735B2}"/>
                </a:ext>
              </a:extLst>
            </p:cNvPr>
            <p:cNvCxnSpPr>
              <a:cxnSpLocks/>
            </p:cNvCxnSpPr>
            <p:nvPr/>
          </p:nvCxnSpPr>
          <p:spPr>
            <a:xfrm>
              <a:off x="5984783" y="4179469"/>
              <a:ext cx="0" cy="519293"/>
            </a:xfrm>
            <a:prstGeom prst="straightConnector1">
              <a:avLst/>
            </a:prstGeom>
            <a:noFill/>
            <a:ln w="28575" cap="flat" cmpd="sng" algn="ctr">
              <a:solidFill>
                <a:sysClr val="windowText" lastClr="000000">
                  <a:lumMod val="65000"/>
                  <a:lumOff val="35000"/>
                </a:sysClr>
              </a:solidFill>
              <a:prstDash val="solid"/>
              <a:tailEnd type="triangle"/>
            </a:ln>
            <a:effectLst/>
          </p:spPr>
        </p:cxnSp>
        <p:sp>
          <p:nvSpPr>
            <p:cNvPr id="65" name="Rectangle: Top Corners Rounded 12">
              <a:extLst>
                <a:ext uri="{FF2B5EF4-FFF2-40B4-BE49-F238E27FC236}">
                  <a16:creationId xmlns:a16="http://schemas.microsoft.com/office/drawing/2014/main" id="{73BD7CD9-0D80-30C9-90D8-B266388AB7BD}"/>
                </a:ext>
              </a:extLst>
            </p:cNvPr>
            <p:cNvSpPr/>
            <p:nvPr/>
          </p:nvSpPr>
          <p:spPr bwMode="gray">
            <a:xfrm flipV="1">
              <a:off x="6085029" y="3559057"/>
              <a:ext cx="1296488" cy="369142"/>
            </a:xfrm>
            <a:prstGeom prst="round2SameRect">
              <a:avLst/>
            </a:prstGeom>
            <a:solidFill>
              <a:srgbClr val="43B02A">
                <a:lumMod val="75000"/>
              </a:srgbClr>
            </a:solidFill>
            <a:ln w="19050" algn="ctr">
              <a:noFill/>
              <a:miter lim="800000"/>
              <a:headEnd/>
              <a:tailEnd/>
            </a:ln>
          </p:spPr>
          <p:txBody>
            <a:bodyPr vert="horz" wrap="square" lIns="88900" tIns="88900" rIns="88900" bIns="88900" rtlCol="0" anchor="ctr"/>
            <a:lstStyle/>
            <a:p>
              <a:pPr marL="0" marR="0" lvl="0" indent="0" algn="ctr" defTabSz="914255" eaLnBrk="1" fontAlgn="auto" latinLnBrk="0" hangingPunct="1">
                <a:lnSpc>
                  <a:spcPct val="106000"/>
                </a:lnSpc>
                <a:spcBef>
                  <a:spcPts val="0"/>
                </a:spcBef>
                <a:spcAft>
                  <a:spcPts val="0"/>
                </a:spcAft>
                <a:buClrTx/>
                <a:buSzTx/>
                <a:buFont typeface="Wingdings 2" pitchFamily="18" charset="2"/>
                <a:buNone/>
                <a:tabLst/>
                <a:defRPr/>
              </a:pPr>
              <a:endParaRPr kumimoji="0" lang="en-GB" sz="105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66" name="TextBox 65">
              <a:extLst>
                <a:ext uri="{FF2B5EF4-FFF2-40B4-BE49-F238E27FC236}">
                  <a16:creationId xmlns:a16="http://schemas.microsoft.com/office/drawing/2014/main" id="{0949C066-C8B5-8893-2270-34ABADCB524E}"/>
                </a:ext>
              </a:extLst>
            </p:cNvPr>
            <p:cNvSpPr txBox="1"/>
            <p:nvPr/>
          </p:nvSpPr>
          <p:spPr>
            <a:xfrm>
              <a:off x="6225480" y="3561374"/>
              <a:ext cx="1215430" cy="323165"/>
            </a:xfrm>
            <a:prstGeom prst="rect">
              <a:avLst/>
            </a:prstGeom>
            <a:noFill/>
          </p:spPr>
          <p:txBody>
            <a:bodyPr wrap="square" lIns="0" tIns="0" rIns="0" bIns="0" rtlCol="0">
              <a:spAutoFit/>
            </a:bodyPr>
            <a:lstStyle/>
            <a:p>
              <a:pPr marL="0" marR="0" lvl="0" indent="0" defTabSz="914255" eaLnBrk="1" fontAlgn="auto" latinLnBrk="0" hangingPunct="1">
                <a:lnSpc>
                  <a:spcPct val="100000"/>
                </a:lnSpc>
                <a:spcBef>
                  <a:spcPts val="600"/>
                </a:spcBef>
                <a:spcAft>
                  <a:spcPts val="0"/>
                </a:spcAft>
                <a:buClrTx/>
                <a:buSzPct val="100000"/>
                <a:buFontTx/>
                <a:buNone/>
                <a:tabLst/>
                <a:defRPr/>
              </a:pPr>
              <a:r>
                <a:rPr kumimoji="0" lang="en-US" sz="105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As a Settlement Nodal Agency</a:t>
              </a:r>
            </a:p>
          </p:txBody>
        </p:sp>
        <p:sp>
          <p:nvSpPr>
            <p:cNvPr id="67" name="TextBox 66">
              <a:extLst>
                <a:ext uri="{FF2B5EF4-FFF2-40B4-BE49-F238E27FC236}">
                  <a16:creationId xmlns:a16="http://schemas.microsoft.com/office/drawing/2014/main" id="{E762C69B-0128-56F8-CA73-75ABD25A95E0}"/>
                </a:ext>
              </a:extLst>
            </p:cNvPr>
            <p:cNvSpPr txBox="1"/>
            <p:nvPr/>
          </p:nvSpPr>
          <p:spPr>
            <a:xfrm>
              <a:off x="5520038" y="4709018"/>
              <a:ext cx="1729710" cy="553998"/>
            </a:xfrm>
            <a:prstGeom prst="rect">
              <a:avLst/>
            </a:prstGeom>
            <a:noFill/>
          </p:spPr>
          <p:txBody>
            <a:bodyPr wrap="square">
              <a:spAutoFit/>
            </a:bodyPr>
            <a:lstStyle/>
            <a:p>
              <a:pPr marL="0" marR="0" lvl="0" indent="0" algn="ctr" defTabSz="914255"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IEX</a:t>
              </a:r>
            </a:p>
            <a:p>
              <a:pPr marL="0" marR="0" lvl="0" indent="0" algn="ctr" defTabSz="914255"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(Indian Exchange Market) – Day Ahead Market and Real Time Market</a:t>
              </a:r>
            </a:p>
          </p:txBody>
        </p:sp>
        <p:sp>
          <p:nvSpPr>
            <p:cNvPr id="95" name="Rectangle: Rounded Corners 94">
              <a:extLst>
                <a:ext uri="{FF2B5EF4-FFF2-40B4-BE49-F238E27FC236}">
                  <a16:creationId xmlns:a16="http://schemas.microsoft.com/office/drawing/2014/main" id="{786CB6F4-563A-E85F-4677-69E8A04E5536}"/>
                </a:ext>
              </a:extLst>
            </p:cNvPr>
            <p:cNvSpPr/>
            <p:nvPr/>
          </p:nvSpPr>
          <p:spPr bwMode="gray">
            <a:xfrm>
              <a:off x="5537787" y="3147688"/>
              <a:ext cx="1892264" cy="379354"/>
            </a:xfrm>
            <a:prstGeom prst="roundRect">
              <a:avLst>
                <a:gd name="adj" fmla="val 6603"/>
              </a:avLst>
            </a:prstGeom>
            <a:solidFill>
              <a:schemeClr val="accent6">
                <a:lumMod val="20000"/>
                <a:lumOff val="80000"/>
              </a:schemeClr>
            </a:solidFill>
            <a:ln w="19050" algn="ctr">
              <a:solidFill>
                <a:srgbClr val="43B02A">
                  <a:lumMod val="75000"/>
                </a:srgbClr>
              </a:solidFill>
              <a:miter lim="800000"/>
              <a:headEnd/>
              <a:tailEnd/>
            </a:ln>
          </p:spPr>
          <p:txBody>
            <a:bodyPr wrap="square" lIns="88900" tIns="182880" rIns="88900" bIns="88900" rtlCol="0" anchor="t"/>
            <a:lstStyle/>
            <a:p>
              <a:pPr marR="0" lvl="0" algn="ctr" defTabSz="914255" eaLnBrk="1" fontAlgn="auto" latinLnBrk="0" hangingPunct="1">
                <a:lnSpc>
                  <a:spcPct val="107000"/>
                </a:lnSpc>
                <a:spcBef>
                  <a:spcPts val="0"/>
                </a:spcBef>
                <a:spcAft>
                  <a:spcPts val="800"/>
                </a:spcAft>
                <a:buClrTx/>
                <a:buSzPts val="1000"/>
                <a:tabLst/>
                <a:defRPr/>
              </a:pPr>
              <a:endParaRPr lang="en-IN" sz="1050" b="1" kern="0">
                <a:solidFill>
                  <a:srgbClr val="313131"/>
                </a:solidFill>
                <a:latin typeface="Arial" panose="020B0604020202020204" pitchFamily="34" charset="0"/>
                <a:cs typeface="Arial" panose="020B0604020202020204" pitchFamily="34" charset="0"/>
              </a:endParaRPr>
            </a:p>
          </p:txBody>
        </p:sp>
        <p:sp>
          <p:nvSpPr>
            <p:cNvPr id="96" name="TextBox 95">
              <a:extLst>
                <a:ext uri="{FF2B5EF4-FFF2-40B4-BE49-F238E27FC236}">
                  <a16:creationId xmlns:a16="http://schemas.microsoft.com/office/drawing/2014/main" id="{9E7392EB-53C2-ABAE-3D6F-7C8BFB64FD09}"/>
                </a:ext>
              </a:extLst>
            </p:cNvPr>
            <p:cNvSpPr txBox="1"/>
            <p:nvPr/>
          </p:nvSpPr>
          <p:spPr>
            <a:xfrm>
              <a:off x="5521406" y="3208111"/>
              <a:ext cx="1892264" cy="260328"/>
            </a:xfrm>
            <a:prstGeom prst="rect">
              <a:avLst/>
            </a:prstGeom>
            <a:noFill/>
          </p:spPr>
          <p:txBody>
            <a:bodyPr wrap="square">
              <a:spAutoFit/>
            </a:bodyPr>
            <a:lstStyle/>
            <a:p>
              <a:pPr marR="0" lvl="0" algn="ctr" defTabSz="914255" eaLnBrk="1" fontAlgn="auto" latinLnBrk="0" hangingPunct="1">
                <a:lnSpc>
                  <a:spcPct val="107000"/>
                </a:lnSpc>
                <a:spcBef>
                  <a:spcPts val="0"/>
                </a:spcBef>
                <a:spcAft>
                  <a:spcPts val="800"/>
                </a:spcAft>
                <a:buClrTx/>
                <a:buSzPts val="1000"/>
                <a:tabLst/>
                <a:defRPr/>
              </a:pPr>
              <a:r>
                <a:rPr lang="en-IN" sz="1050" b="1" kern="0">
                  <a:solidFill>
                    <a:srgbClr val="313131"/>
                  </a:solidFill>
                  <a:latin typeface="Arial" panose="020B0604020202020204" pitchFamily="34" charset="0"/>
                  <a:cs typeface="Arial" panose="020B0604020202020204" pitchFamily="34" charset="0"/>
                </a:rPr>
                <a:t>Exchange Market</a:t>
              </a:r>
            </a:p>
          </p:txBody>
        </p:sp>
        <p:cxnSp>
          <p:nvCxnSpPr>
            <p:cNvPr id="99" name="Straight Arrow Connector 98">
              <a:extLst>
                <a:ext uri="{FF2B5EF4-FFF2-40B4-BE49-F238E27FC236}">
                  <a16:creationId xmlns:a16="http://schemas.microsoft.com/office/drawing/2014/main" id="{4C2A527E-34DA-5C0D-7220-8B1459B6AB15}"/>
                </a:ext>
              </a:extLst>
            </p:cNvPr>
            <p:cNvCxnSpPr>
              <a:cxnSpLocks/>
            </p:cNvCxnSpPr>
            <p:nvPr/>
          </p:nvCxnSpPr>
          <p:spPr>
            <a:xfrm>
              <a:off x="4220951" y="1735839"/>
              <a:ext cx="1306357" cy="5387"/>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106" name="Table 105">
            <a:extLst>
              <a:ext uri="{FF2B5EF4-FFF2-40B4-BE49-F238E27FC236}">
                <a16:creationId xmlns:a16="http://schemas.microsoft.com/office/drawing/2014/main" id="{CA883A39-8B9C-722C-BDDE-0F120DB1C1C9}"/>
              </a:ext>
            </a:extLst>
          </p:cNvPr>
          <p:cNvGraphicFramePr>
            <a:graphicFrameLocks noGrp="1"/>
          </p:cNvGraphicFramePr>
          <p:nvPr>
            <p:extLst>
              <p:ext uri="{D42A27DB-BD31-4B8C-83A1-F6EECF244321}">
                <p14:modId xmlns:p14="http://schemas.microsoft.com/office/powerpoint/2010/main" val="4260785234"/>
              </p:ext>
            </p:extLst>
          </p:nvPr>
        </p:nvGraphicFramePr>
        <p:xfrm>
          <a:off x="514884" y="5622145"/>
          <a:ext cx="11216730" cy="914400"/>
        </p:xfrm>
        <a:graphic>
          <a:graphicData uri="http://schemas.openxmlformats.org/drawingml/2006/table">
            <a:tbl>
              <a:tblPr firstRow="1" bandRow="1">
                <a:tableStyleId>{5C22544A-7EE6-4342-B048-85BDC9FD1C3A}</a:tableStyleId>
              </a:tblPr>
              <a:tblGrid>
                <a:gridCol w="1783820">
                  <a:extLst>
                    <a:ext uri="{9D8B030D-6E8A-4147-A177-3AD203B41FA5}">
                      <a16:colId xmlns:a16="http://schemas.microsoft.com/office/drawing/2014/main" val="1601999352"/>
                    </a:ext>
                  </a:extLst>
                </a:gridCol>
                <a:gridCol w="9432910">
                  <a:extLst>
                    <a:ext uri="{9D8B030D-6E8A-4147-A177-3AD203B41FA5}">
                      <a16:colId xmlns:a16="http://schemas.microsoft.com/office/drawing/2014/main" val="2515607737"/>
                    </a:ext>
                  </a:extLst>
                </a:gridCol>
              </a:tblGrid>
              <a:tr h="167776">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504631">
                <a:tc gridSpan="2">
                  <a:txBody>
                    <a:bodyPr/>
                    <a:lstStyle/>
                    <a:p>
                      <a:pPr marL="169863" indent="-169863" algn="just" defTabSz="914335" rtl="0" eaLnBrk="1" latinLnBrk="0" hangingPunct="1">
                        <a:lnSpc>
                          <a:spcPct val="100000"/>
                        </a:lnSpc>
                        <a:buFont typeface="Arial" panose="020B0604020202020204" pitchFamily="34" charset="0"/>
                        <a:buChar char="•"/>
                      </a:pPr>
                      <a:r>
                        <a:rPr lang="en-US" sz="1200" b="1">
                          <a:latin typeface="Arial" panose="020B0604020202020204" pitchFamily="34" charset="0"/>
                          <a:cs typeface="Arial" panose="020B0604020202020204" pitchFamily="34" charset="0"/>
                        </a:rPr>
                        <a:t>Nepal Electricity Authority (NEA) </a:t>
                      </a:r>
                      <a:r>
                        <a:rPr lang="en-US" sz="1200">
                          <a:latin typeface="Arial" panose="020B0604020202020204" pitchFamily="34" charset="0"/>
                          <a:cs typeface="Arial" panose="020B0604020202020204" pitchFamily="34" charset="0"/>
                        </a:rPr>
                        <a:t>serves as the primary trader, sourcing electricity from its own plants and IPPs to export surplus power to India from selected approved projects</a:t>
                      </a:r>
                    </a:p>
                    <a:p>
                      <a:pPr marL="169863" indent="-169863" algn="just" defTabSz="914335" rtl="0" eaLnBrk="1" latinLnBrk="0" hangingPunct="1">
                        <a:lnSpc>
                          <a:spcPct val="100000"/>
                        </a:lnSpc>
                        <a:buFont typeface="Arial" panose="020B0604020202020204" pitchFamily="34" charset="0"/>
                        <a:buChar char="•"/>
                      </a:pPr>
                      <a:r>
                        <a:rPr lang="en-US" sz="1200">
                          <a:latin typeface="Arial" panose="020B0604020202020204" pitchFamily="34" charset="0"/>
                          <a:cs typeface="Arial" panose="020B0604020202020204" pitchFamily="34" charset="0"/>
                        </a:rPr>
                        <a:t>India-Nepal CBET is </a:t>
                      </a:r>
                      <a:r>
                        <a:rPr lang="en-US" sz="1200" b="1">
                          <a:latin typeface="Arial" panose="020B0604020202020204" pitchFamily="34" charset="0"/>
                          <a:cs typeface="Arial" panose="020B0604020202020204" pitchFamily="34" charset="0"/>
                        </a:rPr>
                        <a:t>moving from a bilateral model to a market-based model </a:t>
                      </a:r>
                      <a:r>
                        <a:rPr lang="en-US" sz="1200">
                          <a:latin typeface="Arial" panose="020B0604020202020204" pitchFamily="34" charset="0"/>
                          <a:cs typeface="Arial" panose="020B0604020202020204" pitchFamily="34" charset="0"/>
                        </a:rPr>
                        <a:t>with strong momentum towards trilateral trade (Nepal–India–Bangladesh)</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sp>
        <p:nvSpPr>
          <p:cNvPr id="4" name="TextBox 3">
            <a:extLst>
              <a:ext uri="{FF2B5EF4-FFF2-40B4-BE49-F238E27FC236}">
                <a16:creationId xmlns:a16="http://schemas.microsoft.com/office/drawing/2014/main" id="{59B6FF90-4AE7-7A71-D749-6502FE62C7F9}"/>
              </a:ext>
            </a:extLst>
          </p:cNvPr>
          <p:cNvSpPr txBox="1"/>
          <p:nvPr/>
        </p:nvSpPr>
        <p:spPr>
          <a:xfrm>
            <a:off x="9943095" y="5540533"/>
            <a:ext cx="1788519" cy="233734"/>
          </a:xfrm>
          <a:prstGeom prst="rect">
            <a:avLst/>
          </a:prstGeom>
          <a:noFill/>
        </p:spPr>
        <p:txBody>
          <a:bodyPr wrap="square">
            <a:spAutoFit/>
          </a:bodyPr>
          <a:lstStyle/>
          <a:p>
            <a:pPr algn="r"/>
            <a:r>
              <a:rPr lang="en-US" sz="900">
                <a:latin typeface="Arial" panose="020B0604020202020204" pitchFamily="34" charset="0"/>
                <a:cs typeface="Arial" panose="020B0604020202020204" pitchFamily="34" charset="0"/>
              </a:rPr>
              <a:t>Source – JICA report</a:t>
            </a:r>
          </a:p>
        </p:txBody>
      </p:sp>
    </p:spTree>
    <p:extLst>
      <p:ext uri="{BB962C8B-B14F-4D97-AF65-F5344CB8AC3E}">
        <p14:creationId xmlns:p14="http://schemas.microsoft.com/office/powerpoint/2010/main" val="1666254033"/>
      </p:ext>
    </p:extLst>
  </p:cSld>
  <p:clrMapOvr>
    <a:masterClrMapping/>
  </p:clrMapOvr>
  <p:transition>
    <p:fade/>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629677796"/>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Nepal became a net exporter of electricity in 2023-24</a:t>
            </a:r>
          </a:p>
        </p:txBody>
      </p: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Nepal's electricity exports have witnessed a remarkable surge over the past five years; became net exporter last year</a:t>
            </a:r>
          </a:p>
        </p:txBody>
      </p:sp>
      <p:sp>
        <p:nvSpPr>
          <p:cNvPr id="7" name="TextBox 6">
            <a:extLst>
              <a:ext uri="{FF2B5EF4-FFF2-40B4-BE49-F238E27FC236}">
                <a16:creationId xmlns:a16="http://schemas.microsoft.com/office/drawing/2014/main" id="{2CF3648E-06F6-D8F7-7558-18341459079A}"/>
              </a:ext>
            </a:extLst>
          </p:cNvPr>
          <p:cNvSpPr txBox="1"/>
          <p:nvPr/>
        </p:nvSpPr>
        <p:spPr>
          <a:xfrm>
            <a:off x="542963" y="6611243"/>
            <a:ext cx="11272888" cy="161583"/>
          </a:xfrm>
          <a:prstGeom prst="rect">
            <a:avLst/>
          </a:prstGeom>
          <a:noFill/>
        </p:spPr>
        <p:txBody>
          <a:bodyPr wrap="square" lIns="0" tIns="0" rIns="0" bIns="0" rtlCol="0">
            <a:spAutoFit/>
          </a:bodyPr>
          <a:lstStyle/>
          <a:p>
            <a:pPr>
              <a:spcBef>
                <a:spcPts val="600"/>
              </a:spcBef>
              <a:buSzPct val="100000"/>
            </a:pPr>
            <a:r>
              <a:rPr lang="en-IN" sz="1050">
                <a:solidFill>
                  <a:srgbClr val="313131"/>
                </a:solidFill>
                <a:latin typeface="Arial" panose="020B0604020202020204" pitchFamily="34" charset="0"/>
                <a:cs typeface="Arial" panose="020B0604020202020204" pitchFamily="34" charset="0"/>
              </a:rPr>
              <a:t>Source : NEA Annual Report 2023/24, NEA Annual Report 2021/22, NEA Annual Report 2019/20 </a:t>
            </a:r>
          </a:p>
        </p:txBody>
      </p:sp>
      <p:cxnSp>
        <p:nvCxnSpPr>
          <p:cNvPr id="4" name="Straight Connector 3">
            <a:extLst>
              <a:ext uri="{FF2B5EF4-FFF2-40B4-BE49-F238E27FC236}">
                <a16:creationId xmlns:a16="http://schemas.microsoft.com/office/drawing/2014/main" id="{217A6A9F-9401-C4B9-FFD5-8CD26808BF65}"/>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3" name="Chart 2">
            <a:extLst>
              <a:ext uri="{FF2B5EF4-FFF2-40B4-BE49-F238E27FC236}">
                <a16:creationId xmlns:a16="http://schemas.microsoft.com/office/drawing/2014/main" id="{60670FB8-B08A-16A4-BE26-C53B8A3C5C3E}"/>
              </a:ext>
            </a:extLst>
          </p:cNvPr>
          <p:cNvGraphicFramePr/>
          <p:nvPr>
            <p:extLst>
              <p:ext uri="{D42A27DB-BD31-4B8C-83A1-F6EECF244321}">
                <p14:modId xmlns:p14="http://schemas.microsoft.com/office/powerpoint/2010/main" val="3961268811"/>
              </p:ext>
            </p:extLst>
          </p:nvPr>
        </p:nvGraphicFramePr>
        <p:xfrm>
          <a:off x="544261" y="1040698"/>
          <a:ext cx="11157975" cy="320366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 name="Table 7">
            <a:extLst>
              <a:ext uri="{FF2B5EF4-FFF2-40B4-BE49-F238E27FC236}">
                <a16:creationId xmlns:a16="http://schemas.microsoft.com/office/drawing/2014/main" id="{873523D5-70F0-5C43-D30F-DC21FEF63689}"/>
              </a:ext>
            </a:extLst>
          </p:cNvPr>
          <p:cNvGraphicFramePr>
            <a:graphicFrameLocks noGrp="1"/>
          </p:cNvGraphicFramePr>
          <p:nvPr>
            <p:extLst>
              <p:ext uri="{D42A27DB-BD31-4B8C-83A1-F6EECF244321}">
                <p14:modId xmlns:p14="http://schemas.microsoft.com/office/powerpoint/2010/main" val="581308926"/>
              </p:ext>
            </p:extLst>
          </p:nvPr>
        </p:nvGraphicFramePr>
        <p:xfrm>
          <a:off x="542963" y="4303049"/>
          <a:ext cx="11216730" cy="2186891"/>
        </p:xfrm>
        <a:graphic>
          <a:graphicData uri="http://schemas.openxmlformats.org/drawingml/2006/table">
            <a:tbl>
              <a:tblPr firstRow="1" bandRow="1">
                <a:tableStyleId>{5C22544A-7EE6-4342-B048-85BDC9FD1C3A}</a:tableStyleId>
              </a:tblPr>
              <a:tblGrid>
                <a:gridCol w="1783820">
                  <a:extLst>
                    <a:ext uri="{9D8B030D-6E8A-4147-A177-3AD203B41FA5}">
                      <a16:colId xmlns:a16="http://schemas.microsoft.com/office/drawing/2014/main" val="1601999352"/>
                    </a:ext>
                  </a:extLst>
                </a:gridCol>
                <a:gridCol w="9432910">
                  <a:extLst>
                    <a:ext uri="{9D8B030D-6E8A-4147-A177-3AD203B41FA5}">
                      <a16:colId xmlns:a16="http://schemas.microsoft.com/office/drawing/2014/main" val="2515607737"/>
                    </a:ext>
                  </a:extLst>
                </a:gridCol>
              </a:tblGrid>
              <a:tr h="289066">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1470732">
                <a:tc gridSpan="2">
                  <a:txBody>
                    <a:bodyPr/>
                    <a:lstStyle/>
                    <a:p>
                      <a:pPr marL="169863" indent="-169863" algn="just" defTabSz="914335" rtl="0" eaLnBrk="1" latinLnBrk="0" hangingPunct="1">
                        <a:lnSpc>
                          <a:spcPct val="125000"/>
                        </a:lnSpc>
                        <a:buFont typeface="Arial" panose="020B0604020202020204" pitchFamily="34" charset="0"/>
                        <a:buChar char="•"/>
                      </a:pPr>
                      <a:r>
                        <a:rPr lang="en-US" sz="1200" b="0">
                          <a:latin typeface="Arial" panose="020B0604020202020204" pitchFamily="34" charset="0"/>
                          <a:cs typeface="Arial" panose="020B0604020202020204" pitchFamily="34" charset="0"/>
                        </a:rPr>
                        <a:t>Cross Border Power Export from Nepal to India has </a:t>
                      </a:r>
                      <a:r>
                        <a:rPr lang="en-US" sz="1200" b="1">
                          <a:latin typeface="Arial" panose="020B0604020202020204" pitchFamily="34" charset="0"/>
                          <a:cs typeface="Arial" panose="020B0604020202020204" pitchFamily="34" charset="0"/>
                        </a:rPr>
                        <a:t>become more than 10 times </a:t>
                      </a:r>
                      <a:r>
                        <a:rPr lang="en-US" sz="1200" b="0">
                          <a:latin typeface="Arial" panose="020B0604020202020204" pitchFamily="34" charset="0"/>
                          <a:cs typeface="Arial" panose="020B0604020202020204" pitchFamily="34" charset="0"/>
                        </a:rPr>
                        <a:t>in the last 5 years from FY 2019-20 to FY 2023-24.</a:t>
                      </a:r>
                    </a:p>
                    <a:p>
                      <a:pPr marL="169863" indent="-169863" algn="just" defTabSz="914335" rtl="0" eaLnBrk="1" latinLnBrk="0" hangingPunct="1">
                        <a:lnSpc>
                          <a:spcPct val="125000"/>
                        </a:lnSpc>
                        <a:buFont typeface="Arial" panose="020B0604020202020204" pitchFamily="34" charset="0"/>
                        <a:buChar char="•"/>
                      </a:pPr>
                      <a:r>
                        <a:rPr lang="en-US" sz="1200">
                          <a:latin typeface="Arial" panose="020B0604020202020204" pitchFamily="34" charset="0"/>
                          <a:cs typeface="Arial" panose="020B0604020202020204" pitchFamily="34" charset="0"/>
                        </a:rPr>
                        <a:t>Some of the key factors which driven the increase in power export includes:</a:t>
                      </a:r>
                    </a:p>
                    <a:p>
                      <a:pPr marL="628617" lvl="1" indent="-171450" algn="just" defTabSz="914335" rtl="0" eaLnBrk="1" latinLnBrk="0" hangingPunct="1">
                        <a:lnSpc>
                          <a:spcPct val="125000"/>
                        </a:lnSpc>
                        <a:buFont typeface="Courier New" panose="02070309020205020404" pitchFamily="49" charset="0"/>
                        <a:buChar char="o"/>
                      </a:pPr>
                      <a:r>
                        <a:rPr lang="en-US" sz="1200" b="1">
                          <a:latin typeface="Arial" panose="020B0604020202020204" pitchFamily="34" charset="0"/>
                          <a:cs typeface="Arial" panose="020B0604020202020204" pitchFamily="34" charset="0"/>
                        </a:rPr>
                        <a:t>Surplus Generation - </a:t>
                      </a:r>
                      <a:r>
                        <a:rPr lang="en-US" sz="1200" b="0" kern="1200">
                          <a:solidFill>
                            <a:schemeClr val="dk1"/>
                          </a:solidFill>
                          <a:latin typeface="Arial" panose="020B0604020202020204" pitchFamily="34" charset="0"/>
                          <a:ea typeface="+mn-ea"/>
                          <a:cs typeface="Arial" panose="020B0604020202020204" pitchFamily="34" charset="0"/>
                        </a:rPr>
                        <a:t>Increase in generation capacity in Nepal with peak generation exceeding domestic demand during monsoon months.</a:t>
                      </a:r>
                    </a:p>
                    <a:p>
                      <a:pPr marL="628617" lvl="1" indent="-171450" algn="just" defTabSz="914335" rtl="0" eaLnBrk="1" latinLnBrk="0" hangingPunct="1">
                        <a:lnSpc>
                          <a:spcPct val="125000"/>
                        </a:lnSpc>
                        <a:buFont typeface="Courier New" panose="02070309020205020404" pitchFamily="49" charset="0"/>
                        <a:buChar char="o"/>
                      </a:pPr>
                      <a:r>
                        <a:rPr lang="en-US" sz="1200" b="1">
                          <a:latin typeface="Arial" panose="020B0604020202020204" pitchFamily="34" charset="0"/>
                          <a:cs typeface="Arial" panose="020B0604020202020204" pitchFamily="34" charset="0"/>
                        </a:rPr>
                        <a:t>Power Markets Access - </a:t>
                      </a:r>
                      <a:r>
                        <a:rPr lang="en-US" sz="1200" b="0">
                          <a:latin typeface="Arial" panose="020B0604020202020204" pitchFamily="34" charset="0"/>
                          <a:cs typeface="Arial" panose="020B0604020202020204" pitchFamily="34" charset="0"/>
                        </a:rPr>
                        <a:t>Since November 2021,</a:t>
                      </a:r>
                      <a:r>
                        <a:rPr lang="en-US" sz="1200" b="1">
                          <a:latin typeface="Arial" panose="020B0604020202020204" pitchFamily="34" charset="0"/>
                          <a:cs typeface="Arial" panose="020B0604020202020204" pitchFamily="34" charset="0"/>
                        </a:rPr>
                        <a:t> NEA and select Nepalese IPPs (through NEA) have gained access to the Indian Day-Ahead Market (DAM) and Real-Time Market (RTM) on IEX. </a:t>
                      </a:r>
                    </a:p>
                    <a:p>
                      <a:pPr marL="628617" lvl="1" indent="-171450" algn="just" defTabSz="914335" rtl="0" eaLnBrk="1" latinLnBrk="0" hangingPunct="1">
                        <a:lnSpc>
                          <a:spcPct val="125000"/>
                        </a:lnSpc>
                        <a:buFont typeface="Courier New" panose="02070309020205020404" pitchFamily="49" charset="0"/>
                        <a:buChar char="o"/>
                      </a:pPr>
                      <a:r>
                        <a:rPr lang="en-US" sz="1200" b="1">
                          <a:latin typeface="Arial" panose="020B0604020202020204" pitchFamily="34" charset="0"/>
                          <a:cs typeface="Arial" panose="020B0604020202020204" pitchFamily="34" charset="0"/>
                        </a:rPr>
                        <a:t>Transmission Links -  </a:t>
                      </a:r>
                      <a:r>
                        <a:rPr lang="en-US" sz="1200" b="0">
                          <a:latin typeface="Arial" panose="020B0604020202020204" pitchFamily="34" charset="0"/>
                          <a:cs typeface="Arial" panose="020B0604020202020204" pitchFamily="34" charset="0"/>
                        </a:rPr>
                        <a:t>Nepal and India currently have </a:t>
                      </a:r>
                      <a:r>
                        <a:rPr lang="en-US" sz="1200" b="1">
                          <a:latin typeface="Arial" panose="020B0604020202020204" pitchFamily="34" charset="0"/>
                          <a:cs typeface="Arial" panose="020B0604020202020204" pitchFamily="34" charset="0"/>
                        </a:rPr>
                        <a:t>over 11 cross-border transmission links (33 kV, 132 kV, and 400 kV), enabling both grid support and commercial trade.</a:t>
                      </a:r>
                    </a:p>
                    <a:p>
                      <a:pPr marL="171450" marR="0" lvl="0" indent="-171450" algn="just" defTabSz="914335" rtl="0" eaLnBrk="1" fontAlgn="auto" latinLnBrk="0" hangingPunct="1">
                        <a:lnSpc>
                          <a:spcPct val="125000"/>
                        </a:lnSpc>
                        <a:spcBef>
                          <a:spcPts val="0"/>
                        </a:spcBef>
                        <a:spcAft>
                          <a:spcPts val="0"/>
                        </a:spcAft>
                        <a:buClrTx/>
                        <a:buSzTx/>
                        <a:buFont typeface="Arial" panose="020B0604020202020204" pitchFamily="34" charset="0"/>
                        <a:buChar char="•"/>
                        <a:tabLst/>
                        <a:defRPr/>
                      </a:pPr>
                      <a:r>
                        <a:rPr lang="en-US" sz="1200" b="0" kern="1200">
                          <a:solidFill>
                            <a:schemeClr val="dk1"/>
                          </a:solidFill>
                          <a:latin typeface="Arial" panose="020B0604020202020204" pitchFamily="34" charset="0"/>
                          <a:ea typeface="+mn-ea"/>
                          <a:cs typeface="Arial" panose="020B0604020202020204" pitchFamily="34" charset="0"/>
                        </a:rPr>
                        <a:t>I</a:t>
                      </a:r>
                      <a:r>
                        <a:rPr lang="en-US" sz="1200" b="0">
                          <a:solidFill>
                            <a:schemeClr val="tx1"/>
                          </a:solidFill>
                          <a:latin typeface="Arial" panose="020B0604020202020204" pitchFamily="34" charset="0"/>
                          <a:cs typeface="Arial" panose="020B0604020202020204" pitchFamily="34" charset="0"/>
                        </a:rPr>
                        <a:t>n</a:t>
                      </a:r>
                      <a:r>
                        <a:rPr lang="en-US" sz="1200" b="1">
                          <a:solidFill>
                            <a:schemeClr val="tx1"/>
                          </a:solidFill>
                          <a:latin typeface="Arial" panose="020B0604020202020204" pitchFamily="34" charset="0"/>
                          <a:cs typeface="Arial" panose="020B0604020202020204" pitchFamily="34" charset="0"/>
                        </a:rPr>
                        <a:t> FY 2023-24, Nepal has become Net Exporter of Power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sp>
        <p:nvSpPr>
          <p:cNvPr id="9" name="Arrow: Right 8">
            <a:hlinkClick r:id="rId7" action="ppaction://hlinksldjump"/>
            <a:extLst>
              <a:ext uri="{FF2B5EF4-FFF2-40B4-BE49-F238E27FC236}">
                <a16:creationId xmlns:a16="http://schemas.microsoft.com/office/drawing/2014/main" id="{D0B8830C-D33B-88B1-7116-890C14F7C67F}"/>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47596823"/>
      </p:ext>
    </p:extLst>
  </p:cSld>
  <p:clrMapOvr>
    <a:masterClrMapping/>
  </p:clrMapOvr>
  <p:transition>
    <p:fade/>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Monthly Electricity Export and Import between Nepal and India (GWh)</a:t>
            </a:r>
          </a:p>
        </p:txBody>
      </p: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During the last 3 years wet season exports have surged, whereas the dry season imports have remained at similar levels</a:t>
            </a:r>
          </a:p>
        </p:txBody>
      </p:sp>
      <p:sp>
        <p:nvSpPr>
          <p:cNvPr id="7" name="TextBox 6">
            <a:extLst>
              <a:ext uri="{FF2B5EF4-FFF2-40B4-BE49-F238E27FC236}">
                <a16:creationId xmlns:a16="http://schemas.microsoft.com/office/drawing/2014/main" id="{2CF3648E-06F6-D8F7-7558-18341459079A}"/>
              </a:ext>
            </a:extLst>
          </p:cNvPr>
          <p:cNvSpPr txBox="1"/>
          <p:nvPr/>
        </p:nvSpPr>
        <p:spPr>
          <a:xfrm>
            <a:off x="476219" y="6540499"/>
            <a:ext cx="11272888" cy="169277"/>
          </a:xfrm>
          <a:prstGeom prst="rect">
            <a:avLst/>
          </a:prstGeom>
          <a:noFill/>
        </p:spPr>
        <p:txBody>
          <a:bodyPr wrap="square" lIns="0" tIns="0" rIns="0" bIns="0" rtlCol="0">
            <a:spAutoFit/>
          </a:bodyPr>
          <a:lstStyle/>
          <a:p>
            <a:pPr>
              <a:spcBef>
                <a:spcPts val="600"/>
              </a:spcBef>
              <a:buSzPct val="100000"/>
            </a:pPr>
            <a:r>
              <a:rPr lang="en-IN" sz="1100">
                <a:solidFill>
                  <a:srgbClr val="313131"/>
                </a:solidFill>
                <a:latin typeface="Arial" panose="020B0604020202020204" pitchFamily="34" charset="0"/>
                <a:cs typeface="Arial" panose="020B0604020202020204" pitchFamily="34" charset="0"/>
              </a:rPr>
              <a:t>Source: </a:t>
            </a:r>
            <a:r>
              <a:rPr lang="en-US" sz="1000">
                <a:latin typeface="Arial" panose="020B0604020202020204" pitchFamily="34" charset="0"/>
                <a:cs typeface="Arial" panose="020B0604020202020204" pitchFamily="34" charset="0"/>
                <a:hlinkClick r:id="rId6"/>
              </a:rPr>
              <a:t>Annual Report 23/24</a:t>
            </a:r>
            <a:r>
              <a:rPr lang="en-IN" sz="1100">
                <a:solidFill>
                  <a:srgbClr val="313131"/>
                </a:solidFill>
                <a:latin typeface="Arial" panose="020B0604020202020204" pitchFamily="34" charset="0"/>
                <a:cs typeface="Arial" panose="020B0604020202020204" pitchFamily="34" charset="0"/>
              </a:rPr>
              <a:t> </a:t>
            </a:r>
          </a:p>
        </p:txBody>
      </p:sp>
      <p:cxnSp>
        <p:nvCxnSpPr>
          <p:cNvPr id="4" name="Straight Connector 3">
            <a:extLst>
              <a:ext uri="{FF2B5EF4-FFF2-40B4-BE49-F238E27FC236}">
                <a16:creationId xmlns:a16="http://schemas.microsoft.com/office/drawing/2014/main" id="{217A6A9F-9401-C4B9-FFD5-8CD26808BF65}"/>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8" name="Table 7">
            <a:extLst>
              <a:ext uri="{FF2B5EF4-FFF2-40B4-BE49-F238E27FC236}">
                <a16:creationId xmlns:a16="http://schemas.microsoft.com/office/drawing/2014/main" id="{873523D5-70F0-5C43-D30F-DC21FEF63689}"/>
              </a:ext>
            </a:extLst>
          </p:cNvPr>
          <p:cNvGraphicFramePr>
            <a:graphicFrameLocks noGrp="1"/>
          </p:cNvGraphicFramePr>
          <p:nvPr>
            <p:extLst>
              <p:ext uri="{D42A27DB-BD31-4B8C-83A1-F6EECF244321}">
                <p14:modId xmlns:p14="http://schemas.microsoft.com/office/powerpoint/2010/main" val="1345525001"/>
              </p:ext>
            </p:extLst>
          </p:nvPr>
        </p:nvGraphicFramePr>
        <p:xfrm>
          <a:off x="532377" y="4638043"/>
          <a:ext cx="11216730" cy="1773390"/>
        </p:xfrm>
        <a:graphic>
          <a:graphicData uri="http://schemas.openxmlformats.org/drawingml/2006/table">
            <a:tbl>
              <a:tblPr firstRow="1" bandRow="1">
                <a:tableStyleId>{5C22544A-7EE6-4342-B048-85BDC9FD1C3A}</a:tableStyleId>
              </a:tblPr>
              <a:tblGrid>
                <a:gridCol w="4074511">
                  <a:extLst>
                    <a:ext uri="{9D8B030D-6E8A-4147-A177-3AD203B41FA5}">
                      <a16:colId xmlns:a16="http://schemas.microsoft.com/office/drawing/2014/main" val="1601999352"/>
                    </a:ext>
                  </a:extLst>
                </a:gridCol>
                <a:gridCol w="7142219">
                  <a:extLst>
                    <a:ext uri="{9D8B030D-6E8A-4147-A177-3AD203B41FA5}">
                      <a16:colId xmlns:a16="http://schemas.microsoft.com/office/drawing/2014/main" val="2515607737"/>
                    </a:ext>
                  </a:extLst>
                </a:gridCol>
              </a:tblGrid>
              <a:tr h="386784">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1386606">
                <a:tc gridSpan="2">
                  <a:txBody>
                    <a:bodyPr/>
                    <a:lstStyle/>
                    <a:p>
                      <a:pPr marL="169863" marR="0" lvl="0" indent="-169863" algn="just" defTabSz="914335" rtl="0" eaLnBrk="1" fontAlgn="auto" latinLnBrk="0" hangingPunct="1">
                        <a:lnSpc>
                          <a:spcPct val="125000"/>
                        </a:lnSpc>
                        <a:spcBef>
                          <a:spcPts val="0"/>
                        </a:spcBef>
                        <a:spcAft>
                          <a:spcPts val="0"/>
                        </a:spcAft>
                        <a:buClrTx/>
                        <a:buSzTx/>
                        <a:buFont typeface="Arial" panose="020B0604020202020204" pitchFamily="34" charset="0"/>
                        <a:buChar char="•"/>
                        <a:tabLst/>
                        <a:defRPr/>
                      </a:pPr>
                      <a:r>
                        <a:rPr lang="en-US" sz="1200" b="1" dirty="0">
                          <a:latin typeface="Arial" panose="020B0604020202020204" pitchFamily="34" charset="0"/>
                          <a:cs typeface="Arial" panose="020B0604020202020204" pitchFamily="34" charset="0"/>
                        </a:rPr>
                        <a:t>Power export has been increased </a:t>
                      </a:r>
                      <a:r>
                        <a:rPr lang="en-US" sz="1200" b="0" dirty="0">
                          <a:latin typeface="Arial" panose="020B0604020202020204" pitchFamily="34" charset="0"/>
                          <a:cs typeface="Arial" panose="020B0604020202020204" pitchFamily="34" charset="0"/>
                        </a:rPr>
                        <a:t>from 494 GWh in FY 2021-22 to 1943 GWh in FY 2023-24 </a:t>
                      </a:r>
                      <a:r>
                        <a:rPr lang="en-US" sz="1200" b="1" dirty="0">
                          <a:latin typeface="Arial" panose="020B0604020202020204" pitchFamily="34" charset="0"/>
                          <a:cs typeface="Arial" panose="020B0604020202020204" pitchFamily="34" charset="0"/>
                        </a:rPr>
                        <a:t>at a CAGR of 58% </a:t>
                      </a:r>
                      <a:r>
                        <a:rPr lang="en-US" sz="1200" b="0" dirty="0">
                          <a:latin typeface="Arial" panose="020B0604020202020204" pitchFamily="34" charset="0"/>
                          <a:cs typeface="Arial" panose="020B0604020202020204" pitchFamily="34" charset="0"/>
                        </a:rPr>
                        <a:t>whereas there has been a very steady increase rate in the Power import  from 1543 GWh in FY 2021-22 to 1834 GWh in FY 2023-24 to the tune of </a:t>
                      </a:r>
                      <a:r>
                        <a:rPr lang="en-US" sz="1200" b="1" dirty="0">
                          <a:latin typeface="Arial" panose="020B0604020202020204" pitchFamily="34" charset="0"/>
                          <a:cs typeface="Arial" panose="020B0604020202020204" pitchFamily="34" charset="0"/>
                        </a:rPr>
                        <a:t>CAGR of 5.9% </a:t>
                      </a:r>
                      <a:r>
                        <a:rPr lang="en-US" sz="1200" b="0" dirty="0">
                          <a:latin typeface="Arial" panose="020B0604020202020204" pitchFamily="34" charset="0"/>
                          <a:cs typeface="Arial" panose="020B0604020202020204" pitchFamily="34" charset="0"/>
                        </a:rPr>
                        <a:t>during FY 2021-22 to FY 2023-24 </a:t>
                      </a:r>
                    </a:p>
                    <a:p>
                      <a:pPr marL="169863" marR="0" lvl="0" indent="-169863" algn="just" defTabSz="914335" rtl="0" eaLnBrk="1" fontAlgn="auto" latinLnBrk="0" hangingPunct="1">
                        <a:lnSpc>
                          <a:spcPct val="125000"/>
                        </a:lnSpc>
                        <a:spcBef>
                          <a:spcPts val="0"/>
                        </a:spcBef>
                        <a:spcAft>
                          <a:spcPts val="0"/>
                        </a:spcAft>
                        <a:buClrTx/>
                        <a:buSzTx/>
                        <a:buFont typeface="Arial" panose="020B0604020202020204" pitchFamily="34" charset="0"/>
                        <a:buChar char="•"/>
                        <a:tabLst/>
                        <a:defRPr/>
                      </a:pPr>
                      <a:r>
                        <a:rPr lang="en-US" sz="1200" b="0" dirty="0">
                          <a:latin typeface="Arial" panose="020B0604020202020204" pitchFamily="34" charset="0"/>
                          <a:cs typeface="Arial" panose="020B0604020202020204" pitchFamily="34" charset="0"/>
                        </a:rPr>
                        <a:t>Exports to India in recent years has increased from the months of Mid-July to and mid-December and </a:t>
                      </a:r>
                      <a:r>
                        <a:rPr lang="en-US" sz="1200" b="1" dirty="0">
                          <a:latin typeface="Arial" panose="020B0604020202020204" pitchFamily="34" charset="0"/>
                          <a:cs typeface="Arial" panose="020B0604020202020204" pitchFamily="34" charset="0"/>
                        </a:rPr>
                        <a:t>reaching peak around mid-September.</a:t>
                      </a:r>
                    </a:p>
                    <a:p>
                      <a:pPr marL="169863" indent="-169863" algn="just" defTabSz="914335" rtl="0" eaLnBrk="1" latinLnBrk="0" hangingPunct="1">
                        <a:lnSpc>
                          <a:spcPct val="125000"/>
                        </a:lnSpc>
                        <a:buFont typeface="Arial" panose="020B0604020202020204" pitchFamily="34" charset="0"/>
                        <a:buChar char="•"/>
                      </a:pPr>
                      <a:r>
                        <a:rPr lang="en-US" sz="1200" b="0" dirty="0">
                          <a:latin typeface="Arial" panose="020B0604020202020204" pitchFamily="34" charset="0"/>
                          <a:cs typeface="Arial" panose="020B0604020202020204" pitchFamily="34" charset="0"/>
                        </a:rPr>
                        <a:t>Then after the </a:t>
                      </a:r>
                      <a:r>
                        <a:rPr lang="en-US" sz="1200" b="1" dirty="0">
                          <a:latin typeface="Arial" panose="020B0604020202020204" pitchFamily="34" charset="0"/>
                          <a:cs typeface="Arial" panose="020B0604020202020204" pitchFamily="34" charset="0"/>
                        </a:rPr>
                        <a:t>dry season (mid – December to mid April) in which minimal export (NIL)</a:t>
                      </a:r>
                      <a:r>
                        <a:rPr lang="en-US" sz="1200" b="0" dirty="0">
                          <a:latin typeface="Arial" panose="020B0604020202020204" pitchFamily="34" charset="0"/>
                          <a:cs typeface="Arial" panose="020B0604020202020204" pitchFamily="34" charset="0"/>
                        </a:rPr>
                        <a:t>; the power export gradually increase and reaches to peak levels.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graphicFrame>
        <p:nvGraphicFramePr>
          <p:cNvPr id="5" name="Chart 4">
            <a:extLst>
              <a:ext uri="{FF2B5EF4-FFF2-40B4-BE49-F238E27FC236}">
                <a16:creationId xmlns:a16="http://schemas.microsoft.com/office/drawing/2014/main" id="{E7683FC9-BE04-5D84-B78B-0379E66743EE}"/>
              </a:ext>
            </a:extLst>
          </p:cNvPr>
          <p:cNvGraphicFramePr/>
          <p:nvPr>
            <p:extLst>
              <p:ext uri="{D42A27DB-BD31-4B8C-83A1-F6EECF244321}">
                <p14:modId xmlns:p14="http://schemas.microsoft.com/office/powerpoint/2010/main" val="1237390865"/>
              </p:ext>
            </p:extLst>
          </p:nvPr>
        </p:nvGraphicFramePr>
        <p:xfrm>
          <a:off x="532377" y="980883"/>
          <a:ext cx="5494419" cy="3528087"/>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3" name="Chart 2">
            <a:extLst>
              <a:ext uri="{FF2B5EF4-FFF2-40B4-BE49-F238E27FC236}">
                <a16:creationId xmlns:a16="http://schemas.microsoft.com/office/drawing/2014/main" id="{581BE098-F3E8-2BA5-1046-CB9D61B953E4}"/>
              </a:ext>
            </a:extLst>
          </p:cNvPr>
          <p:cNvGraphicFramePr>
            <a:graphicFrameLocks/>
          </p:cNvGraphicFramePr>
          <p:nvPr>
            <p:extLst>
              <p:ext uri="{D42A27DB-BD31-4B8C-83A1-F6EECF244321}">
                <p14:modId xmlns:p14="http://schemas.microsoft.com/office/powerpoint/2010/main" val="1837858943"/>
              </p:ext>
            </p:extLst>
          </p:nvPr>
        </p:nvGraphicFramePr>
        <p:xfrm>
          <a:off x="6140742" y="1005616"/>
          <a:ext cx="5569701" cy="3503351"/>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1776672718"/>
      </p:ext>
    </p:extLst>
  </p:cSld>
  <p:clrMapOvr>
    <a:masterClrMapping/>
  </p:clrMapOvr>
  <p:transition>
    <p:fade/>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69089360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Trading for hydropower projects from Nepal to India</a:t>
            </a:r>
          </a:p>
        </p:txBody>
      </p:sp>
      <p:sp>
        <p:nvSpPr>
          <p:cNvPr id="2" name="Text Placeholder 1"/>
          <p:cNvSpPr>
            <a:spLocks noGrp="1"/>
          </p:cNvSpPr>
          <p:nvPr>
            <p:ph type="body" sz="quarter" idx="13"/>
          </p:nvPr>
        </p:nvSpPr>
        <p:spPr>
          <a:xfrm>
            <a:off x="533440" y="65266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Significant quantum of IPP power is traded with India; it is managed by NEA</a:t>
            </a:r>
          </a:p>
        </p:txBody>
      </p:sp>
      <p:sp>
        <p:nvSpPr>
          <p:cNvPr id="31" name="TextBox 30">
            <a:extLst>
              <a:ext uri="{FF2B5EF4-FFF2-40B4-BE49-F238E27FC236}">
                <a16:creationId xmlns:a16="http://schemas.microsoft.com/office/drawing/2014/main" id="{BA8AF029-F530-EDF7-8B4D-DE6EF312B540}"/>
              </a:ext>
            </a:extLst>
          </p:cNvPr>
          <p:cNvSpPr txBox="1"/>
          <p:nvPr/>
        </p:nvSpPr>
        <p:spPr>
          <a:xfrm>
            <a:off x="631206" y="6540499"/>
            <a:ext cx="9362557"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0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Source: </a:t>
            </a:r>
            <a:r>
              <a:rPr kumimoji="0" lang="en-US" sz="100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 NVVN Directors Report 2023-24, CEA Report</a:t>
            </a:r>
          </a:p>
        </p:txBody>
      </p:sp>
      <p:graphicFrame>
        <p:nvGraphicFramePr>
          <p:cNvPr id="4" name="Chart 3">
            <a:extLst>
              <a:ext uri="{FF2B5EF4-FFF2-40B4-BE49-F238E27FC236}">
                <a16:creationId xmlns:a16="http://schemas.microsoft.com/office/drawing/2014/main" id="{E59E3C7F-4941-E300-5C61-16CB208A0D7A}"/>
              </a:ext>
            </a:extLst>
          </p:cNvPr>
          <p:cNvGraphicFramePr>
            <a:graphicFrameLocks/>
          </p:cNvGraphicFramePr>
          <p:nvPr>
            <p:extLst>
              <p:ext uri="{D42A27DB-BD31-4B8C-83A1-F6EECF244321}">
                <p14:modId xmlns:p14="http://schemas.microsoft.com/office/powerpoint/2010/main" val="4215512390"/>
              </p:ext>
            </p:extLst>
          </p:nvPr>
        </p:nvGraphicFramePr>
        <p:xfrm>
          <a:off x="4517694" y="1032642"/>
          <a:ext cx="3590065" cy="1371884"/>
        </p:xfrm>
        <a:graphic>
          <a:graphicData uri="http://schemas.openxmlformats.org/drawingml/2006/chart">
            <c:chart xmlns:c="http://schemas.openxmlformats.org/drawingml/2006/chart" xmlns:r="http://schemas.openxmlformats.org/officeDocument/2006/relationships" r:id="rId6"/>
          </a:graphicData>
        </a:graphic>
      </p:graphicFrame>
      <p:cxnSp>
        <p:nvCxnSpPr>
          <p:cNvPr id="5" name="Straight Connector 4">
            <a:extLst>
              <a:ext uri="{FF2B5EF4-FFF2-40B4-BE49-F238E27FC236}">
                <a16:creationId xmlns:a16="http://schemas.microsoft.com/office/drawing/2014/main" id="{CD544D56-25E0-36A7-DF4F-0FF7F0C8CC1D}"/>
              </a:ext>
            </a:extLst>
          </p:cNvPr>
          <p:cNvCxnSpPr/>
          <p:nvPr/>
        </p:nvCxnSpPr>
        <p:spPr>
          <a:xfrm flipV="1">
            <a:off x="496596"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5F8A467-F273-E3A5-2EB9-C22474A5D7A5}"/>
              </a:ext>
            </a:extLst>
          </p:cNvPr>
          <p:cNvCxnSpPr>
            <a:cxnSpLocks/>
          </p:cNvCxnSpPr>
          <p:nvPr/>
        </p:nvCxnSpPr>
        <p:spPr>
          <a:xfrm>
            <a:off x="4283901" y="976950"/>
            <a:ext cx="0" cy="3320323"/>
          </a:xfrm>
          <a:prstGeom prst="line">
            <a:avLst/>
          </a:prstGeom>
          <a:ln w="9525" cap="flat" cmpd="sng" algn="ctr">
            <a:solidFill>
              <a:schemeClr val="accent2"/>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7" name="Straight Connector 16">
            <a:extLst>
              <a:ext uri="{FF2B5EF4-FFF2-40B4-BE49-F238E27FC236}">
                <a16:creationId xmlns:a16="http://schemas.microsoft.com/office/drawing/2014/main" id="{1AC7709E-E894-6B70-C086-805BD26690DD}"/>
              </a:ext>
            </a:extLst>
          </p:cNvPr>
          <p:cNvCxnSpPr>
            <a:cxnSpLocks/>
          </p:cNvCxnSpPr>
          <p:nvPr/>
        </p:nvCxnSpPr>
        <p:spPr>
          <a:xfrm>
            <a:off x="8341551" y="976949"/>
            <a:ext cx="72984" cy="3153262"/>
          </a:xfrm>
          <a:prstGeom prst="line">
            <a:avLst/>
          </a:prstGeom>
          <a:ln w="9525" cap="flat" cmpd="sng" algn="ctr">
            <a:solidFill>
              <a:schemeClr val="accent2"/>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aphicFrame>
        <p:nvGraphicFramePr>
          <p:cNvPr id="19" name="Table 18">
            <a:extLst>
              <a:ext uri="{FF2B5EF4-FFF2-40B4-BE49-F238E27FC236}">
                <a16:creationId xmlns:a16="http://schemas.microsoft.com/office/drawing/2014/main" id="{6F823566-5EA2-C66E-04BD-2DF001922906}"/>
              </a:ext>
            </a:extLst>
          </p:cNvPr>
          <p:cNvGraphicFramePr>
            <a:graphicFrameLocks noGrp="1"/>
          </p:cNvGraphicFramePr>
          <p:nvPr>
            <p:extLst>
              <p:ext uri="{D42A27DB-BD31-4B8C-83A1-F6EECF244321}">
                <p14:modId xmlns:p14="http://schemas.microsoft.com/office/powerpoint/2010/main" val="2042074084"/>
              </p:ext>
            </p:extLst>
          </p:nvPr>
        </p:nvGraphicFramePr>
        <p:xfrm>
          <a:off x="631206" y="1032642"/>
          <a:ext cx="3262697" cy="1371884"/>
        </p:xfrm>
        <a:graphic>
          <a:graphicData uri="http://schemas.openxmlformats.org/drawingml/2006/table">
            <a:tbl>
              <a:tblPr>
                <a:tableStyleId>{5DA37D80-6434-44D0-A028-1B22A696006F}</a:tableStyleId>
              </a:tblPr>
              <a:tblGrid>
                <a:gridCol w="611967">
                  <a:extLst>
                    <a:ext uri="{9D8B030D-6E8A-4147-A177-3AD203B41FA5}">
                      <a16:colId xmlns:a16="http://schemas.microsoft.com/office/drawing/2014/main" val="230883518"/>
                    </a:ext>
                  </a:extLst>
                </a:gridCol>
                <a:gridCol w="1315365">
                  <a:extLst>
                    <a:ext uri="{9D8B030D-6E8A-4147-A177-3AD203B41FA5}">
                      <a16:colId xmlns:a16="http://schemas.microsoft.com/office/drawing/2014/main" val="3044202973"/>
                    </a:ext>
                  </a:extLst>
                </a:gridCol>
                <a:gridCol w="1335365">
                  <a:extLst>
                    <a:ext uri="{9D8B030D-6E8A-4147-A177-3AD203B41FA5}">
                      <a16:colId xmlns:a16="http://schemas.microsoft.com/office/drawing/2014/main" val="590225627"/>
                    </a:ext>
                  </a:extLst>
                </a:gridCol>
              </a:tblGrid>
              <a:tr h="360410">
                <a:tc>
                  <a:txBody>
                    <a:bodyPr/>
                    <a:lstStyle/>
                    <a:p>
                      <a:pPr algn="l" fontAlgn="b"/>
                      <a:endParaRPr lang="en-US" sz="14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b"/>
                </a:tc>
                <a:tc>
                  <a:txBody>
                    <a:bodyPr/>
                    <a:lstStyle/>
                    <a:p>
                      <a:pPr algn="ctr" fontAlgn="b"/>
                      <a:r>
                        <a:rPr lang="en-US" sz="1400" b="1" u="none" strike="noStrike">
                          <a:effectLst/>
                          <a:latin typeface="Arial" panose="020B0604020202020204" pitchFamily="34" charset="0"/>
                          <a:cs typeface="Arial" panose="020B0604020202020204" pitchFamily="34" charset="0"/>
                        </a:rPr>
                        <a:t>No. of projects</a:t>
                      </a:r>
                      <a:endParaRPr lang="en-US" sz="1400" b="1"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rtl="0" fontAlgn="ctr"/>
                      <a:r>
                        <a:rPr lang="en-US" sz="1400" b="1" u="none" strike="noStrike">
                          <a:effectLst/>
                          <a:latin typeface="Arial" panose="020B0604020202020204" pitchFamily="34" charset="0"/>
                          <a:cs typeface="Arial" panose="020B0604020202020204" pitchFamily="34" charset="0"/>
                        </a:rPr>
                        <a:t>Quantum (MW)</a:t>
                      </a:r>
                      <a:endParaRPr lang="en-US" sz="1400" b="1"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368501559"/>
                  </a:ext>
                </a:extLst>
              </a:tr>
              <a:tr h="337158">
                <a:tc>
                  <a:txBody>
                    <a:bodyPr/>
                    <a:lstStyle/>
                    <a:p>
                      <a:pPr algn="l" fontAlgn="b"/>
                      <a:r>
                        <a:rPr lang="en-US" sz="1400" u="none" strike="noStrike">
                          <a:effectLst/>
                          <a:latin typeface="Arial" panose="020B0604020202020204" pitchFamily="34" charset="0"/>
                          <a:cs typeface="Arial" panose="020B0604020202020204" pitchFamily="34" charset="0"/>
                        </a:rPr>
                        <a:t>NEA</a:t>
                      </a:r>
                      <a:endParaRPr lang="en-US" sz="14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fontAlgn="b"/>
                      <a:r>
                        <a:rPr lang="en-US" sz="1400" u="none" strike="noStrike">
                          <a:effectLst/>
                          <a:latin typeface="Arial" panose="020B0604020202020204" pitchFamily="34" charset="0"/>
                          <a:cs typeface="Arial" panose="020B0604020202020204" pitchFamily="34" charset="0"/>
                        </a:rPr>
                        <a:t>5</a:t>
                      </a:r>
                      <a:endParaRPr lang="en-US" sz="14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fontAlgn="b"/>
                      <a:r>
                        <a:rPr lang="en-US" sz="1400" u="none" strike="noStrike">
                          <a:effectLst/>
                          <a:latin typeface="Arial" panose="020B0604020202020204" pitchFamily="34" charset="0"/>
                          <a:cs typeface="Arial" panose="020B0604020202020204" pitchFamily="34" charset="0"/>
                        </a:rPr>
                        <a:t>194.27</a:t>
                      </a:r>
                      <a:endParaRPr lang="en-US" sz="14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1328139814"/>
                  </a:ext>
                </a:extLst>
              </a:tr>
              <a:tr h="337158">
                <a:tc>
                  <a:txBody>
                    <a:bodyPr/>
                    <a:lstStyle/>
                    <a:p>
                      <a:pPr algn="l" fontAlgn="b"/>
                      <a:r>
                        <a:rPr lang="en-US" sz="1400" u="none" strike="noStrike">
                          <a:effectLst/>
                          <a:latin typeface="Arial" panose="020B0604020202020204" pitchFamily="34" charset="0"/>
                          <a:cs typeface="Arial" panose="020B0604020202020204" pitchFamily="34" charset="0"/>
                        </a:rPr>
                        <a:t>IPPs</a:t>
                      </a:r>
                      <a:endParaRPr lang="en-US" sz="14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fontAlgn="b"/>
                      <a:r>
                        <a:rPr lang="en-US" sz="1400" u="none" strike="noStrike">
                          <a:effectLst/>
                          <a:latin typeface="Arial" panose="020B0604020202020204" pitchFamily="34" charset="0"/>
                          <a:cs typeface="Arial" panose="020B0604020202020204" pitchFamily="34" charset="0"/>
                        </a:rPr>
                        <a:t>15</a:t>
                      </a:r>
                      <a:endParaRPr lang="en-US" sz="14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fontAlgn="b"/>
                      <a:r>
                        <a:rPr lang="en-US" sz="1400" u="none" strike="noStrike">
                          <a:effectLst/>
                          <a:latin typeface="Arial" panose="020B0604020202020204" pitchFamily="34" charset="0"/>
                          <a:cs typeface="Arial" panose="020B0604020202020204" pitchFamily="34" charset="0"/>
                        </a:rPr>
                        <a:t>701.74</a:t>
                      </a:r>
                      <a:endParaRPr lang="en-US" sz="14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2602943239"/>
                  </a:ext>
                </a:extLst>
              </a:tr>
              <a:tr h="337158">
                <a:tc>
                  <a:txBody>
                    <a:bodyPr/>
                    <a:lstStyle/>
                    <a:p>
                      <a:pPr algn="l" fontAlgn="b"/>
                      <a:r>
                        <a:rPr lang="en-US" sz="1400" b="1" u="none" strike="noStrike">
                          <a:effectLst/>
                          <a:latin typeface="Arial" panose="020B0604020202020204" pitchFamily="34" charset="0"/>
                          <a:cs typeface="Arial" panose="020B0604020202020204" pitchFamily="34" charset="0"/>
                        </a:rPr>
                        <a:t>Total</a:t>
                      </a:r>
                      <a:endParaRPr lang="en-US" sz="1400" b="1"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fontAlgn="b"/>
                      <a:r>
                        <a:rPr lang="en-US" sz="1400" b="1" u="none" strike="noStrike">
                          <a:effectLst/>
                          <a:latin typeface="Arial" panose="020B0604020202020204" pitchFamily="34" charset="0"/>
                          <a:cs typeface="Arial" panose="020B0604020202020204" pitchFamily="34" charset="0"/>
                        </a:rPr>
                        <a:t>20</a:t>
                      </a:r>
                      <a:endParaRPr lang="en-US" sz="1400" b="1"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fontAlgn="b"/>
                      <a:r>
                        <a:rPr lang="en-US" sz="1400" b="1" u="none" strike="noStrike">
                          <a:effectLst/>
                          <a:latin typeface="Arial" panose="020B0604020202020204" pitchFamily="34" charset="0"/>
                          <a:cs typeface="Arial" panose="020B0604020202020204" pitchFamily="34" charset="0"/>
                        </a:rPr>
                        <a:t>896.01</a:t>
                      </a:r>
                      <a:endParaRPr lang="en-US" sz="1400" b="1"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339029956"/>
                  </a:ext>
                </a:extLst>
              </a:tr>
            </a:tbl>
          </a:graphicData>
        </a:graphic>
      </p:graphicFrame>
      <p:graphicFrame>
        <p:nvGraphicFramePr>
          <p:cNvPr id="20" name="Chart 19">
            <a:extLst>
              <a:ext uri="{FF2B5EF4-FFF2-40B4-BE49-F238E27FC236}">
                <a16:creationId xmlns:a16="http://schemas.microsoft.com/office/drawing/2014/main" id="{E3F0816A-BDA8-644E-7393-7102B39B0999}"/>
              </a:ext>
            </a:extLst>
          </p:cNvPr>
          <p:cNvGraphicFramePr/>
          <p:nvPr>
            <p:extLst>
              <p:ext uri="{D42A27DB-BD31-4B8C-83A1-F6EECF244321}">
                <p14:modId xmlns:p14="http://schemas.microsoft.com/office/powerpoint/2010/main" val="4088904951"/>
              </p:ext>
            </p:extLst>
          </p:nvPr>
        </p:nvGraphicFramePr>
        <p:xfrm>
          <a:off x="8575344" y="996035"/>
          <a:ext cx="3356134" cy="1542659"/>
        </p:xfrm>
        <a:graphic>
          <a:graphicData uri="http://schemas.openxmlformats.org/drawingml/2006/chart">
            <c:chart xmlns:c="http://schemas.openxmlformats.org/drawingml/2006/chart" xmlns:r="http://schemas.openxmlformats.org/officeDocument/2006/relationships" r:id="rId7"/>
          </a:graphicData>
        </a:graphic>
      </p:graphicFrame>
      <p:cxnSp>
        <p:nvCxnSpPr>
          <p:cNvPr id="22" name="Straight Connector 21">
            <a:extLst>
              <a:ext uri="{FF2B5EF4-FFF2-40B4-BE49-F238E27FC236}">
                <a16:creationId xmlns:a16="http://schemas.microsoft.com/office/drawing/2014/main" id="{27871B49-8D65-9018-7DAC-23C5640486E6}"/>
              </a:ext>
            </a:extLst>
          </p:cNvPr>
          <p:cNvCxnSpPr>
            <a:cxnSpLocks/>
          </p:cNvCxnSpPr>
          <p:nvPr/>
        </p:nvCxnSpPr>
        <p:spPr>
          <a:xfrm flipH="1">
            <a:off x="496596" y="4176086"/>
            <a:ext cx="11695404" cy="9879"/>
          </a:xfrm>
          <a:prstGeom prst="line">
            <a:avLst/>
          </a:prstGeom>
          <a:ln w="9525" cap="flat" cmpd="sng" algn="ctr">
            <a:solidFill>
              <a:schemeClr val="accent2"/>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37" name="Rectangle 36">
            <a:extLst>
              <a:ext uri="{FF2B5EF4-FFF2-40B4-BE49-F238E27FC236}">
                <a16:creationId xmlns:a16="http://schemas.microsoft.com/office/drawing/2014/main" id="{1B68B0A7-D14C-1081-71AA-CB816BDD914A}"/>
              </a:ext>
            </a:extLst>
          </p:cNvPr>
          <p:cNvSpPr/>
          <p:nvPr/>
        </p:nvSpPr>
        <p:spPr bwMode="gray">
          <a:xfrm>
            <a:off x="631206" y="2488809"/>
            <a:ext cx="3262693" cy="1580344"/>
          </a:xfrm>
          <a:prstGeom prst="rect">
            <a:avLst/>
          </a:prstGeom>
          <a:solidFill>
            <a:schemeClr val="bg1">
              <a:lumMod val="95000"/>
            </a:schemeClr>
          </a:solidFill>
          <a:ln>
            <a:prstDash val="sysDash"/>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marL="171450" indent="-171450" algn="just">
              <a:lnSpc>
                <a:spcPct val="100000"/>
              </a:lnSpc>
              <a:spcBef>
                <a:spcPts val="200"/>
              </a:spcBef>
              <a:buFont typeface="Arial" panose="020B0604020202020204" pitchFamily="34" charset="0"/>
              <a:buChar char="•"/>
            </a:pPr>
            <a:r>
              <a:rPr lang="en-US" sz="1100">
                <a:latin typeface="Arial" panose="020B0604020202020204" pitchFamily="34" charset="0"/>
                <a:cs typeface="Arial" panose="020B0604020202020204" pitchFamily="34" charset="0"/>
              </a:rPr>
              <a:t>Above table shows the number of projects and Total Quantum involved in the CBET between Nepal and India based on the approval of India</a:t>
            </a:r>
          </a:p>
          <a:p>
            <a:pPr marL="171450" indent="-171450" algn="just">
              <a:lnSpc>
                <a:spcPct val="100000"/>
              </a:lnSpc>
              <a:spcBef>
                <a:spcPts val="200"/>
              </a:spcBef>
              <a:buFont typeface="Arial" panose="020B0604020202020204" pitchFamily="34" charset="0"/>
              <a:buChar char="•"/>
            </a:pPr>
            <a:endParaRPr lang="en-US" sz="1100">
              <a:latin typeface="Arial" panose="020B0604020202020204" pitchFamily="34" charset="0"/>
              <a:cs typeface="Arial" panose="020B0604020202020204" pitchFamily="34" charset="0"/>
            </a:endParaRPr>
          </a:p>
          <a:p>
            <a:pPr marL="171450" indent="-171450" algn="just">
              <a:lnSpc>
                <a:spcPct val="100000"/>
              </a:lnSpc>
              <a:spcBef>
                <a:spcPts val="200"/>
              </a:spcBef>
              <a:buFont typeface="Arial" panose="020B0604020202020204" pitchFamily="34" charset="0"/>
              <a:buChar char="•"/>
            </a:pPr>
            <a:r>
              <a:rPr lang="en-US" sz="1100">
                <a:latin typeface="Arial" panose="020B0604020202020204" pitchFamily="34" charset="0"/>
                <a:cs typeface="Arial" panose="020B0604020202020204" pitchFamily="34" charset="0"/>
              </a:rPr>
              <a:t>As compared to number of projects from NEA,  </a:t>
            </a:r>
            <a:r>
              <a:rPr lang="en-US" sz="1100" b="1">
                <a:latin typeface="Arial" panose="020B0604020202020204" pitchFamily="34" charset="0"/>
                <a:cs typeface="Arial" panose="020B0604020202020204" pitchFamily="34" charset="0"/>
              </a:rPr>
              <a:t>there are more number of IPPs  involved in power export from Nepal to India. All the transactions are handled by NEA. </a:t>
            </a:r>
          </a:p>
        </p:txBody>
      </p:sp>
      <p:sp>
        <p:nvSpPr>
          <p:cNvPr id="38" name="Rectangle 37">
            <a:extLst>
              <a:ext uri="{FF2B5EF4-FFF2-40B4-BE49-F238E27FC236}">
                <a16:creationId xmlns:a16="http://schemas.microsoft.com/office/drawing/2014/main" id="{79625349-1113-1893-822B-6FE2C33307EE}"/>
              </a:ext>
            </a:extLst>
          </p:cNvPr>
          <p:cNvSpPr/>
          <p:nvPr/>
        </p:nvSpPr>
        <p:spPr bwMode="gray">
          <a:xfrm>
            <a:off x="4517694" y="2488809"/>
            <a:ext cx="3590063" cy="1580344"/>
          </a:xfrm>
          <a:prstGeom prst="rect">
            <a:avLst/>
          </a:prstGeom>
          <a:solidFill>
            <a:schemeClr val="bg1">
              <a:lumMod val="95000"/>
            </a:schemeClr>
          </a:solidFill>
          <a:ln>
            <a:prstDash val="sysDash"/>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marL="171450" indent="-171450" algn="just">
              <a:lnSpc>
                <a:spcPct val="100000"/>
              </a:lnSpc>
              <a:spcBef>
                <a:spcPts val="200"/>
              </a:spcBef>
              <a:buFont typeface="Arial" panose="020B0604020202020204" pitchFamily="34" charset="0"/>
              <a:buChar char="•"/>
            </a:pPr>
            <a:r>
              <a:rPr lang="en-US" sz="1100">
                <a:latin typeface="Arial" panose="020B0604020202020204" pitchFamily="34" charset="0"/>
                <a:cs typeface="Arial" panose="020B0604020202020204" pitchFamily="34" charset="0"/>
              </a:rPr>
              <a:t>Majority of the power export (79%) has been done through the DAM and RTM Market of the power exchange. </a:t>
            </a:r>
          </a:p>
          <a:p>
            <a:pPr marL="171450" indent="-171450" algn="just">
              <a:lnSpc>
                <a:spcPct val="100000"/>
              </a:lnSpc>
              <a:spcBef>
                <a:spcPts val="200"/>
              </a:spcBef>
              <a:buFont typeface="Arial" panose="020B0604020202020204" pitchFamily="34" charset="0"/>
              <a:buChar char="•"/>
            </a:pPr>
            <a:endParaRPr lang="en-US" sz="1100">
              <a:latin typeface="Arial" panose="020B0604020202020204" pitchFamily="34" charset="0"/>
              <a:cs typeface="Arial" panose="020B0604020202020204" pitchFamily="34" charset="0"/>
            </a:endParaRPr>
          </a:p>
          <a:p>
            <a:pPr marL="171450" indent="-171450" algn="just">
              <a:lnSpc>
                <a:spcPct val="100000"/>
              </a:lnSpc>
              <a:spcBef>
                <a:spcPts val="200"/>
              </a:spcBef>
              <a:buFont typeface="Arial" panose="020B0604020202020204" pitchFamily="34" charset="0"/>
              <a:buChar char="•"/>
            </a:pPr>
            <a:r>
              <a:rPr lang="en-US" sz="1100">
                <a:latin typeface="Arial" panose="020B0604020202020204" pitchFamily="34" charset="0"/>
                <a:cs typeface="Arial" panose="020B0604020202020204" pitchFamily="34" charset="0"/>
              </a:rPr>
              <a:t>Bilateral transactions to Haryana has been done via  NTPC Vidyut </a:t>
            </a:r>
            <a:r>
              <a:rPr lang="en-US" sz="1100" err="1">
                <a:latin typeface="Arial" panose="020B0604020202020204" pitchFamily="34" charset="0"/>
                <a:cs typeface="Arial" panose="020B0604020202020204" pitchFamily="34" charset="0"/>
              </a:rPr>
              <a:t>Vyapar</a:t>
            </a:r>
            <a:r>
              <a:rPr lang="en-US" sz="1100">
                <a:latin typeface="Arial" panose="020B0604020202020204" pitchFamily="34" charset="0"/>
                <a:cs typeface="Arial" panose="020B0604020202020204" pitchFamily="34" charset="0"/>
              </a:rPr>
              <a:t> Nigam Limited (NVVN) as the trader and settlement and nodal agency.</a:t>
            </a:r>
          </a:p>
        </p:txBody>
      </p:sp>
      <p:sp>
        <p:nvSpPr>
          <p:cNvPr id="39" name="Rectangle 38">
            <a:extLst>
              <a:ext uri="{FF2B5EF4-FFF2-40B4-BE49-F238E27FC236}">
                <a16:creationId xmlns:a16="http://schemas.microsoft.com/office/drawing/2014/main" id="{E60C0760-67F5-E038-8809-6CEA3E320532}"/>
              </a:ext>
            </a:extLst>
          </p:cNvPr>
          <p:cNvSpPr/>
          <p:nvPr/>
        </p:nvSpPr>
        <p:spPr bwMode="gray">
          <a:xfrm>
            <a:off x="8575342" y="2601645"/>
            <a:ext cx="3356135" cy="1473324"/>
          </a:xfrm>
          <a:prstGeom prst="rect">
            <a:avLst/>
          </a:prstGeom>
          <a:solidFill>
            <a:schemeClr val="bg1">
              <a:lumMod val="95000"/>
            </a:schemeClr>
          </a:solidFill>
          <a:ln>
            <a:prstDash val="sysDash"/>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marL="171450" indent="-171450" algn="just">
              <a:lnSpc>
                <a:spcPct val="100000"/>
              </a:lnSpc>
              <a:spcBef>
                <a:spcPts val="200"/>
              </a:spcBef>
              <a:buFont typeface="Arial" panose="020B0604020202020204" pitchFamily="34" charset="0"/>
              <a:buChar char="•"/>
            </a:pPr>
            <a:r>
              <a:rPr lang="en-US" sz="1100">
                <a:latin typeface="Arial" panose="020B0604020202020204" pitchFamily="34" charset="0"/>
                <a:cs typeface="Arial" panose="020B0604020202020204" pitchFamily="34" charset="0"/>
              </a:rPr>
              <a:t>Significant increase in export capacity proposals, but approval rates remain moderate relative to proposals</a:t>
            </a:r>
          </a:p>
          <a:p>
            <a:pPr marL="171450" indent="-171450" algn="just">
              <a:lnSpc>
                <a:spcPct val="100000"/>
              </a:lnSpc>
              <a:spcBef>
                <a:spcPts val="200"/>
              </a:spcBef>
              <a:buFont typeface="Arial" panose="020B0604020202020204" pitchFamily="34" charset="0"/>
              <a:buChar char="•"/>
            </a:pPr>
            <a:endParaRPr lang="en-US" sz="1100">
              <a:latin typeface="Arial" panose="020B0604020202020204" pitchFamily="34" charset="0"/>
              <a:cs typeface="Arial" panose="020B0604020202020204" pitchFamily="34" charset="0"/>
            </a:endParaRPr>
          </a:p>
          <a:p>
            <a:pPr marL="171450" indent="-171450" algn="just">
              <a:lnSpc>
                <a:spcPct val="100000"/>
              </a:lnSpc>
              <a:spcBef>
                <a:spcPts val="200"/>
              </a:spcBef>
              <a:buFont typeface="Arial" panose="020B0604020202020204" pitchFamily="34" charset="0"/>
              <a:buChar char="•"/>
            </a:pPr>
            <a:r>
              <a:rPr lang="en-US" sz="1100">
                <a:latin typeface="Arial" panose="020B0604020202020204" pitchFamily="34" charset="0"/>
                <a:cs typeface="Arial" panose="020B0604020202020204" pitchFamily="34" charset="0"/>
              </a:rPr>
              <a:t>Projects which are considered are having approval validity till 31</a:t>
            </a:r>
            <a:r>
              <a:rPr lang="en-US" sz="1100" baseline="30000">
                <a:latin typeface="Arial" panose="020B0604020202020204" pitchFamily="34" charset="0"/>
                <a:cs typeface="Arial" panose="020B0604020202020204" pitchFamily="34" charset="0"/>
              </a:rPr>
              <a:t>st</a:t>
            </a:r>
            <a:r>
              <a:rPr lang="en-US" sz="1100">
                <a:latin typeface="Arial" panose="020B0604020202020204" pitchFamily="34" charset="0"/>
                <a:cs typeface="Arial" panose="020B0604020202020204" pitchFamily="34" charset="0"/>
              </a:rPr>
              <a:t> October 2027</a:t>
            </a:r>
          </a:p>
        </p:txBody>
      </p:sp>
      <p:grpSp>
        <p:nvGrpSpPr>
          <p:cNvPr id="40" name="Group 39">
            <a:extLst>
              <a:ext uri="{FF2B5EF4-FFF2-40B4-BE49-F238E27FC236}">
                <a16:creationId xmlns:a16="http://schemas.microsoft.com/office/drawing/2014/main" id="{E25EA049-E90F-DFA4-0287-1C89C4DA9667}"/>
              </a:ext>
            </a:extLst>
          </p:cNvPr>
          <p:cNvGrpSpPr/>
          <p:nvPr/>
        </p:nvGrpSpPr>
        <p:grpSpPr>
          <a:xfrm>
            <a:off x="671515" y="4695050"/>
            <a:ext cx="10850061" cy="1432578"/>
            <a:chOff x="1900238" y="1926520"/>
            <a:chExt cx="8391524" cy="854781"/>
          </a:xfrm>
        </p:grpSpPr>
        <p:sp>
          <p:nvSpPr>
            <p:cNvPr id="41" name="Oval 40">
              <a:extLst>
                <a:ext uri="{FF2B5EF4-FFF2-40B4-BE49-F238E27FC236}">
                  <a16:creationId xmlns:a16="http://schemas.microsoft.com/office/drawing/2014/main" id="{C1DD7254-E2B7-91F7-EC64-82EF1693A72D}"/>
                </a:ext>
              </a:extLst>
            </p:cNvPr>
            <p:cNvSpPr/>
            <p:nvPr/>
          </p:nvSpPr>
          <p:spPr bwMode="gray">
            <a:xfrm>
              <a:off x="9171954" y="1926520"/>
              <a:ext cx="378120" cy="378120"/>
            </a:xfrm>
            <a:prstGeom prst="ellipse">
              <a:avLst/>
            </a:prstGeom>
            <a:solidFill>
              <a:schemeClr val="accent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42" name="Oval 41">
              <a:extLst>
                <a:ext uri="{FF2B5EF4-FFF2-40B4-BE49-F238E27FC236}">
                  <a16:creationId xmlns:a16="http://schemas.microsoft.com/office/drawing/2014/main" id="{6AE9DF59-A352-59A2-912B-0E55E538B6DF}"/>
                </a:ext>
              </a:extLst>
            </p:cNvPr>
            <p:cNvSpPr/>
            <p:nvPr/>
          </p:nvSpPr>
          <p:spPr bwMode="gray">
            <a:xfrm>
              <a:off x="7521052" y="1926520"/>
              <a:ext cx="378120" cy="378120"/>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43" name="Oval 42">
              <a:extLst>
                <a:ext uri="{FF2B5EF4-FFF2-40B4-BE49-F238E27FC236}">
                  <a16:creationId xmlns:a16="http://schemas.microsoft.com/office/drawing/2014/main" id="{BF563BAE-4EEE-FFD7-FD41-A6D39D8AA95C}"/>
                </a:ext>
              </a:extLst>
            </p:cNvPr>
            <p:cNvSpPr/>
            <p:nvPr/>
          </p:nvSpPr>
          <p:spPr bwMode="gray">
            <a:xfrm>
              <a:off x="2577244" y="1926520"/>
              <a:ext cx="378120" cy="378120"/>
            </a:xfrm>
            <a:prstGeom prst="ellipse">
              <a:avLst/>
            </a:prstGeom>
            <a:solidFill>
              <a:schemeClr val="tx2">
                <a:lumMod val="60000"/>
                <a:lumOff val="4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44" name="Oval 43">
              <a:extLst>
                <a:ext uri="{FF2B5EF4-FFF2-40B4-BE49-F238E27FC236}">
                  <a16:creationId xmlns:a16="http://schemas.microsoft.com/office/drawing/2014/main" id="{82CAB7AE-DC7A-2C16-94F9-FE9F5812E102}"/>
                </a:ext>
              </a:extLst>
            </p:cNvPr>
            <p:cNvSpPr/>
            <p:nvPr/>
          </p:nvSpPr>
          <p:spPr bwMode="gray">
            <a:xfrm>
              <a:off x="4228145" y="1926520"/>
              <a:ext cx="378120" cy="378120"/>
            </a:xfrm>
            <a:prstGeom prst="ellipse">
              <a:avLst/>
            </a:prstGeom>
            <a:solidFill>
              <a:schemeClr val="accent2"/>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sp>
          <p:nvSpPr>
            <p:cNvPr id="45" name="Freeform 7">
              <a:extLst>
                <a:ext uri="{FF2B5EF4-FFF2-40B4-BE49-F238E27FC236}">
                  <a16:creationId xmlns:a16="http://schemas.microsoft.com/office/drawing/2014/main" id="{2D7AD688-3C24-A8C1-AC45-97B5DDEA33B5}"/>
                </a:ext>
              </a:extLst>
            </p:cNvPr>
            <p:cNvSpPr>
              <a:spLocks/>
            </p:cNvSpPr>
            <p:nvPr/>
          </p:nvSpPr>
          <p:spPr bwMode="auto">
            <a:xfrm>
              <a:off x="1900238" y="2141936"/>
              <a:ext cx="384995" cy="226871"/>
            </a:xfrm>
            <a:custGeom>
              <a:avLst/>
              <a:gdLst>
                <a:gd name="T0" fmla="*/ 176 w 337"/>
                <a:gd name="T1" fmla="*/ 0 h 198"/>
                <a:gd name="T2" fmla="*/ 337 w 337"/>
                <a:gd name="T3" fmla="*/ 0 h 198"/>
                <a:gd name="T4" fmla="*/ 337 w 337"/>
                <a:gd name="T5" fmla="*/ 198 h 198"/>
                <a:gd name="T6" fmla="*/ 0 w 337"/>
                <a:gd name="T7" fmla="*/ 198 h 198"/>
                <a:gd name="T8" fmla="*/ 176 w 337"/>
                <a:gd name="T9" fmla="*/ 0 h 198"/>
              </a:gdLst>
              <a:ahLst/>
              <a:cxnLst>
                <a:cxn ang="0">
                  <a:pos x="T0" y="T1"/>
                </a:cxn>
                <a:cxn ang="0">
                  <a:pos x="T2" y="T3"/>
                </a:cxn>
                <a:cxn ang="0">
                  <a:pos x="T4" y="T5"/>
                </a:cxn>
                <a:cxn ang="0">
                  <a:pos x="T6" y="T7"/>
                </a:cxn>
                <a:cxn ang="0">
                  <a:pos x="T8" y="T9"/>
                </a:cxn>
              </a:cxnLst>
              <a:rect l="0" t="0" r="r" b="b"/>
              <a:pathLst>
                <a:path w="337" h="198">
                  <a:moveTo>
                    <a:pt x="176" y="0"/>
                  </a:moveTo>
                  <a:lnTo>
                    <a:pt x="337" y="0"/>
                  </a:lnTo>
                  <a:lnTo>
                    <a:pt x="337" y="198"/>
                  </a:lnTo>
                  <a:lnTo>
                    <a:pt x="0" y="198"/>
                  </a:lnTo>
                  <a:lnTo>
                    <a:pt x="176" y="0"/>
                  </a:lnTo>
                  <a:close/>
                </a:path>
              </a:pathLst>
            </a:custGeom>
            <a:solidFill>
              <a:schemeClr val="tx2">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46" name="Freeform 11">
              <a:extLst>
                <a:ext uri="{FF2B5EF4-FFF2-40B4-BE49-F238E27FC236}">
                  <a16:creationId xmlns:a16="http://schemas.microsoft.com/office/drawing/2014/main" id="{E21D6022-0A14-D152-169D-30A222A93B15}"/>
                </a:ext>
              </a:extLst>
            </p:cNvPr>
            <p:cNvSpPr>
              <a:spLocks/>
            </p:cNvSpPr>
            <p:nvPr/>
          </p:nvSpPr>
          <p:spPr bwMode="auto">
            <a:xfrm>
              <a:off x="2101901" y="2687344"/>
              <a:ext cx="1604144" cy="93956"/>
            </a:xfrm>
            <a:custGeom>
              <a:avLst/>
              <a:gdLst>
                <a:gd name="T0" fmla="*/ 0 w 1400"/>
                <a:gd name="T1" fmla="*/ 0 h 81"/>
                <a:gd name="T2" fmla="*/ 1133 w 1400"/>
                <a:gd name="T3" fmla="*/ 0 h 81"/>
                <a:gd name="T4" fmla="*/ 1400 w 1400"/>
                <a:gd name="T5" fmla="*/ 81 h 81"/>
                <a:gd name="T6" fmla="*/ 267 w 1400"/>
                <a:gd name="T7" fmla="*/ 81 h 81"/>
                <a:gd name="T8" fmla="*/ 0 w 1400"/>
                <a:gd name="T9" fmla="*/ 0 h 81"/>
              </a:gdLst>
              <a:ahLst/>
              <a:cxnLst>
                <a:cxn ang="0">
                  <a:pos x="T0" y="T1"/>
                </a:cxn>
                <a:cxn ang="0">
                  <a:pos x="T2" y="T3"/>
                </a:cxn>
                <a:cxn ang="0">
                  <a:pos x="T4" y="T5"/>
                </a:cxn>
                <a:cxn ang="0">
                  <a:pos x="T6" y="T7"/>
                </a:cxn>
                <a:cxn ang="0">
                  <a:pos x="T8" y="T9"/>
                </a:cxn>
              </a:cxnLst>
              <a:rect l="0" t="0" r="r" b="b"/>
              <a:pathLst>
                <a:path w="1400" h="81">
                  <a:moveTo>
                    <a:pt x="0" y="0"/>
                  </a:moveTo>
                  <a:lnTo>
                    <a:pt x="1133" y="0"/>
                  </a:lnTo>
                  <a:lnTo>
                    <a:pt x="1400" y="81"/>
                  </a:lnTo>
                  <a:lnTo>
                    <a:pt x="267" y="81"/>
                  </a:lnTo>
                  <a:lnTo>
                    <a:pt x="0" y="0"/>
                  </a:lnTo>
                  <a:close/>
                </a:path>
              </a:pathLst>
            </a:custGeom>
            <a:solidFill>
              <a:schemeClr val="tx2">
                <a:lumMod val="20000"/>
                <a:lumOff val="80000"/>
              </a:schemeClr>
            </a:solidFill>
            <a:ln w="0">
              <a:solidFill>
                <a:srgbClr val="C9D6D6"/>
              </a:solid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47" name="Freeform 13">
              <a:extLst>
                <a:ext uri="{FF2B5EF4-FFF2-40B4-BE49-F238E27FC236}">
                  <a16:creationId xmlns:a16="http://schemas.microsoft.com/office/drawing/2014/main" id="{F814DD7E-3A7E-C40C-6DA2-3ECD4E63DD94}"/>
                </a:ext>
              </a:extLst>
            </p:cNvPr>
            <p:cNvSpPr>
              <a:spLocks/>
            </p:cNvSpPr>
            <p:nvPr/>
          </p:nvSpPr>
          <p:spPr bwMode="auto">
            <a:xfrm>
              <a:off x="2101901" y="2141936"/>
              <a:ext cx="1604144" cy="639365"/>
            </a:xfrm>
            <a:custGeom>
              <a:avLst/>
              <a:gdLst>
                <a:gd name="T0" fmla="*/ 0 w 1400"/>
                <a:gd name="T1" fmla="*/ 0 h 558"/>
                <a:gd name="T2" fmla="*/ 384 w 1400"/>
                <a:gd name="T3" fmla="*/ 0 h 558"/>
                <a:gd name="T4" fmla="*/ 393 w 1400"/>
                <a:gd name="T5" fmla="*/ 41 h 558"/>
                <a:gd name="T6" fmla="*/ 411 w 1400"/>
                <a:gd name="T7" fmla="*/ 79 h 558"/>
                <a:gd name="T8" fmla="*/ 434 w 1400"/>
                <a:gd name="T9" fmla="*/ 113 h 558"/>
                <a:gd name="T10" fmla="*/ 465 w 1400"/>
                <a:gd name="T11" fmla="*/ 140 h 558"/>
                <a:gd name="T12" fmla="*/ 501 w 1400"/>
                <a:gd name="T13" fmla="*/ 160 h 558"/>
                <a:gd name="T14" fmla="*/ 541 w 1400"/>
                <a:gd name="T15" fmla="*/ 174 h 558"/>
                <a:gd name="T16" fmla="*/ 584 w 1400"/>
                <a:gd name="T17" fmla="*/ 178 h 558"/>
                <a:gd name="T18" fmla="*/ 627 w 1400"/>
                <a:gd name="T19" fmla="*/ 174 h 558"/>
                <a:gd name="T20" fmla="*/ 667 w 1400"/>
                <a:gd name="T21" fmla="*/ 160 h 558"/>
                <a:gd name="T22" fmla="*/ 701 w 1400"/>
                <a:gd name="T23" fmla="*/ 140 h 558"/>
                <a:gd name="T24" fmla="*/ 732 w 1400"/>
                <a:gd name="T25" fmla="*/ 113 h 558"/>
                <a:gd name="T26" fmla="*/ 757 w 1400"/>
                <a:gd name="T27" fmla="*/ 79 h 558"/>
                <a:gd name="T28" fmla="*/ 773 w 1400"/>
                <a:gd name="T29" fmla="*/ 41 h 558"/>
                <a:gd name="T30" fmla="*/ 782 w 1400"/>
                <a:gd name="T31" fmla="*/ 0 h 558"/>
                <a:gd name="T32" fmla="*/ 1133 w 1400"/>
                <a:gd name="T33" fmla="*/ 0 h 558"/>
                <a:gd name="T34" fmla="*/ 1400 w 1400"/>
                <a:gd name="T35" fmla="*/ 558 h 558"/>
                <a:gd name="T36" fmla="*/ 267 w 1400"/>
                <a:gd name="T37" fmla="*/ 558 h 558"/>
                <a:gd name="T38" fmla="*/ 0 w 1400"/>
                <a:gd name="T39"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558">
                  <a:moveTo>
                    <a:pt x="0" y="0"/>
                  </a:moveTo>
                  <a:lnTo>
                    <a:pt x="384" y="0"/>
                  </a:lnTo>
                  <a:lnTo>
                    <a:pt x="393" y="41"/>
                  </a:lnTo>
                  <a:lnTo>
                    <a:pt x="411" y="79"/>
                  </a:lnTo>
                  <a:lnTo>
                    <a:pt x="434" y="113"/>
                  </a:lnTo>
                  <a:lnTo>
                    <a:pt x="465" y="140"/>
                  </a:lnTo>
                  <a:lnTo>
                    <a:pt x="501" y="160"/>
                  </a:lnTo>
                  <a:lnTo>
                    <a:pt x="541" y="174"/>
                  </a:lnTo>
                  <a:lnTo>
                    <a:pt x="584" y="178"/>
                  </a:lnTo>
                  <a:lnTo>
                    <a:pt x="627" y="174"/>
                  </a:lnTo>
                  <a:lnTo>
                    <a:pt x="667" y="160"/>
                  </a:lnTo>
                  <a:lnTo>
                    <a:pt x="701" y="140"/>
                  </a:lnTo>
                  <a:lnTo>
                    <a:pt x="732" y="113"/>
                  </a:lnTo>
                  <a:lnTo>
                    <a:pt x="757" y="79"/>
                  </a:lnTo>
                  <a:lnTo>
                    <a:pt x="773" y="41"/>
                  </a:lnTo>
                  <a:lnTo>
                    <a:pt x="782" y="0"/>
                  </a:lnTo>
                  <a:lnTo>
                    <a:pt x="1133" y="0"/>
                  </a:lnTo>
                  <a:lnTo>
                    <a:pt x="1400" y="558"/>
                  </a:lnTo>
                  <a:lnTo>
                    <a:pt x="267" y="558"/>
                  </a:lnTo>
                  <a:lnTo>
                    <a:pt x="0" y="0"/>
                  </a:lnTo>
                  <a:close/>
                </a:path>
              </a:pathLst>
            </a:custGeom>
            <a:solidFill>
              <a:schemeClr val="tx2">
                <a:lumMod val="60000"/>
                <a:lumOff val="4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48" name="Freeform 7">
              <a:extLst>
                <a:ext uri="{FF2B5EF4-FFF2-40B4-BE49-F238E27FC236}">
                  <a16:creationId xmlns:a16="http://schemas.microsoft.com/office/drawing/2014/main" id="{AF3D4127-EA30-746B-3DA8-80B1A888FBB7}"/>
                </a:ext>
              </a:extLst>
            </p:cNvPr>
            <p:cNvSpPr>
              <a:spLocks/>
            </p:cNvSpPr>
            <p:nvPr/>
          </p:nvSpPr>
          <p:spPr bwMode="auto">
            <a:xfrm>
              <a:off x="3546667" y="2141936"/>
              <a:ext cx="384995" cy="226871"/>
            </a:xfrm>
            <a:custGeom>
              <a:avLst/>
              <a:gdLst>
                <a:gd name="T0" fmla="*/ 176 w 337"/>
                <a:gd name="T1" fmla="*/ 0 h 198"/>
                <a:gd name="T2" fmla="*/ 337 w 337"/>
                <a:gd name="T3" fmla="*/ 0 h 198"/>
                <a:gd name="T4" fmla="*/ 337 w 337"/>
                <a:gd name="T5" fmla="*/ 198 h 198"/>
                <a:gd name="T6" fmla="*/ 0 w 337"/>
                <a:gd name="T7" fmla="*/ 198 h 198"/>
                <a:gd name="T8" fmla="*/ 176 w 337"/>
                <a:gd name="T9" fmla="*/ 0 h 198"/>
              </a:gdLst>
              <a:ahLst/>
              <a:cxnLst>
                <a:cxn ang="0">
                  <a:pos x="T0" y="T1"/>
                </a:cxn>
                <a:cxn ang="0">
                  <a:pos x="T2" y="T3"/>
                </a:cxn>
                <a:cxn ang="0">
                  <a:pos x="T4" y="T5"/>
                </a:cxn>
                <a:cxn ang="0">
                  <a:pos x="T6" y="T7"/>
                </a:cxn>
                <a:cxn ang="0">
                  <a:pos x="T8" y="T9"/>
                </a:cxn>
              </a:cxnLst>
              <a:rect l="0" t="0" r="r" b="b"/>
              <a:pathLst>
                <a:path w="337" h="198">
                  <a:moveTo>
                    <a:pt x="176" y="0"/>
                  </a:moveTo>
                  <a:lnTo>
                    <a:pt x="337" y="0"/>
                  </a:lnTo>
                  <a:lnTo>
                    <a:pt x="337" y="198"/>
                  </a:lnTo>
                  <a:lnTo>
                    <a:pt x="0" y="198"/>
                  </a:lnTo>
                  <a:lnTo>
                    <a:pt x="176" y="0"/>
                  </a:lnTo>
                  <a:close/>
                </a:path>
              </a:pathLst>
            </a:custGeom>
            <a:solidFill>
              <a:schemeClr val="accent2">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49" name="Freeform 11">
              <a:extLst>
                <a:ext uri="{FF2B5EF4-FFF2-40B4-BE49-F238E27FC236}">
                  <a16:creationId xmlns:a16="http://schemas.microsoft.com/office/drawing/2014/main" id="{314C78EB-A973-0496-7FB4-CFA397915866}"/>
                </a:ext>
              </a:extLst>
            </p:cNvPr>
            <p:cNvSpPr>
              <a:spLocks/>
            </p:cNvSpPr>
            <p:nvPr/>
          </p:nvSpPr>
          <p:spPr bwMode="auto">
            <a:xfrm>
              <a:off x="3748330" y="2687344"/>
              <a:ext cx="1604144" cy="93956"/>
            </a:xfrm>
            <a:custGeom>
              <a:avLst/>
              <a:gdLst>
                <a:gd name="T0" fmla="*/ 0 w 1400"/>
                <a:gd name="T1" fmla="*/ 0 h 81"/>
                <a:gd name="T2" fmla="*/ 1133 w 1400"/>
                <a:gd name="T3" fmla="*/ 0 h 81"/>
                <a:gd name="T4" fmla="*/ 1400 w 1400"/>
                <a:gd name="T5" fmla="*/ 81 h 81"/>
                <a:gd name="T6" fmla="*/ 267 w 1400"/>
                <a:gd name="T7" fmla="*/ 81 h 81"/>
                <a:gd name="T8" fmla="*/ 0 w 1400"/>
                <a:gd name="T9" fmla="*/ 0 h 81"/>
              </a:gdLst>
              <a:ahLst/>
              <a:cxnLst>
                <a:cxn ang="0">
                  <a:pos x="T0" y="T1"/>
                </a:cxn>
                <a:cxn ang="0">
                  <a:pos x="T2" y="T3"/>
                </a:cxn>
                <a:cxn ang="0">
                  <a:pos x="T4" y="T5"/>
                </a:cxn>
                <a:cxn ang="0">
                  <a:pos x="T6" y="T7"/>
                </a:cxn>
                <a:cxn ang="0">
                  <a:pos x="T8" y="T9"/>
                </a:cxn>
              </a:cxnLst>
              <a:rect l="0" t="0" r="r" b="b"/>
              <a:pathLst>
                <a:path w="1400" h="81">
                  <a:moveTo>
                    <a:pt x="0" y="0"/>
                  </a:moveTo>
                  <a:lnTo>
                    <a:pt x="1133" y="0"/>
                  </a:lnTo>
                  <a:lnTo>
                    <a:pt x="1400" y="81"/>
                  </a:lnTo>
                  <a:lnTo>
                    <a:pt x="267" y="81"/>
                  </a:lnTo>
                  <a:lnTo>
                    <a:pt x="0" y="0"/>
                  </a:lnTo>
                  <a:close/>
                </a:path>
              </a:pathLst>
            </a:custGeom>
            <a:solidFill>
              <a:schemeClr val="tx2">
                <a:lumMod val="20000"/>
                <a:lumOff val="80000"/>
              </a:schemeClr>
            </a:solidFill>
            <a:ln w="0">
              <a:solidFill>
                <a:srgbClr val="C9D6D6"/>
              </a:solid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50" name="Freeform 13">
              <a:extLst>
                <a:ext uri="{FF2B5EF4-FFF2-40B4-BE49-F238E27FC236}">
                  <a16:creationId xmlns:a16="http://schemas.microsoft.com/office/drawing/2014/main" id="{FCF7E967-0A6A-4AB3-0225-F4C96F9242BA}"/>
                </a:ext>
              </a:extLst>
            </p:cNvPr>
            <p:cNvSpPr>
              <a:spLocks/>
            </p:cNvSpPr>
            <p:nvPr/>
          </p:nvSpPr>
          <p:spPr bwMode="auto">
            <a:xfrm>
              <a:off x="3748330" y="2141936"/>
              <a:ext cx="1604144" cy="639365"/>
            </a:xfrm>
            <a:custGeom>
              <a:avLst/>
              <a:gdLst>
                <a:gd name="T0" fmla="*/ 0 w 1400"/>
                <a:gd name="T1" fmla="*/ 0 h 558"/>
                <a:gd name="T2" fmla="*/ 384 w 1400"/>
                <a:gd name="T3" fmla="*/ 0 h 558"/>
                <a:gd name="T4" fmla="*/ 393 w 1400"/>
                <a:gd name="T5" fmla="*/ 41 h 558"/>
                <a:gd name="T6" fmla="*/ 411 w 1400"/>
                <a:gd name="T7" fmla="*/ 79 h 558"/>
                <a:gd name="T8" fmla="*/ 434 w 1400"/>
                <a:gd name="T9" fmla="*/ 113 h 558"/>
                <a:gd name="T10" fmla="*/ 465 w 1400"/>
                <a:gd name="T11" fmla="*/ 140 h 558"/>
                <a:gd name="T12" fmla="*/ 501 w 1400"/>
                <a:gd name="T13" fmla="*/ 160 h 558"/>
                <a:gd name="T14" fmla="*/ 541 w 1400"/>
                <a:gd name="T15" fmla="*/ 174 h 558"/>
                <a:gd name="T16" fmla="*/ 584 w 1400"/>
                <a:gd name="T17" fmla="*/ 178 h 558"/>
                <a:gd name="T18" fmla="*/ 627 w 1400"/>
                <a:gd name="T19" fmla="*/ 174 h 558"/>
                <a:gd name="T20" fmla="*/ 667 w 1400"/>
                <a:gd name="T21" fmla="*/ 160 h 558"/>
                <a:gd name="T22" fmla="*/ 701 w 1400"/>
                <a:gd name="T23" fmla="*/ 140 h 558"/>
                <a:gd name="T24" fmla="*/ 732 w 1400"/>
                <a:gd name="T25" fmla="*/ 113 h 558"/>
                <a:gd name="T26" fmla="*/ 757 w 1400"/>
                <a:gd name="T27" fmla="*/ 79 h 558"/>
                <a:gd name="T28" fmla="*/ 773 w 1400"/>
                <a:gd name="T29" fmla="*/ 41 h 558"/>
                <a:gd name="T30" fmla="*/ 782 w 1400"/>
                <a:gd name="T31" fmla="*/ 0 h 558"/>
                <a:gd name="T32" fmla="*/ 1133 w 1400"/>
                <a:gd name="T33" fmla="*/ 0 h 558"/>
                <a:gd name="T34" fmla="*/ 1400 w 1400"/>
                <a:gd name="T35" fmla="*/ 558 h 558"/>
                <a:gd name="T36" fmla="*/ 267 w 1400"/>
                <a:gd name="T37" fmla="*/ 558 h 558"/>
                <a:gd name="T38" fmla="*/ 0 w 1400"/>
                <a:gd name="T39"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558">
                  <a:moveTo>
                    <a:pt x="0" y="0"/>
                  </a:moveTo>
                  <a:lnTo>
                    <a:pt x="384" y="0"/>
                  </a:lnTo>
                  <a:lnTo>
                    <a:pt x="393" y="41"/>
                  </a:lnTo>
                  <a:lnTo>
                    <a:pt x="411" y="79"/>
                  </a:lnTo>
                  <a:lnTo>
                    <a:pt x="434" y="113"/>
                  </a:lnTo>
                  <a:lnTo>
                    <a:pt x="465" y="140"/>
                  </a:lnTo>
                  <a:lnTo>
                    <a:pt x="501" y="160"/>
                  </a:lnTo>
                  <a:lnTo>
                    <a:pt x="541" y="174"/>
                  </a:lnTo>
                  <a:lnTo>
                    <a:pt x="584" y="178"/>
                  </a:lnTo>
                  <a:lnTo>
                    <a:pt x="627" y="174"/>
                  </a:lnTo>
                  <a:lnTo>
                    <a:pt x="667" y="160"/>
                  </a:lnTo>
                  <a:lnTo>
                    <a:pt x="701" y="140"/>
                  </a:lnTo>
                  <a:lnTo>
                    <a:pt x="732" y="113"/>
                  </a:lnTo>
                  <a:lnTo>
                    <a:pt x="757" y="79"/>
                  </a:lnTo>
                  <a:lnTo>
                    <a:pt x="773" y="41"/>
                  </a:lnTo>
                  <a:lnTo>
                    <a:pt x="782" y="0"/>
                  </a:lnTo>
                  <a:lnTo>
                    <a:pt x="1133" y="0"/>
                  </a:lnTo>
                  <a:lnTo>
                    <a:pt x="1400" y="558"/>
                  </a:lnTo>
                  <a:lnTo>
                    <a:pt x="267" y="558"/>
                  </a:lnTo>
                  <a:lnTo>
                    <a:pt x="0"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51" name="Freeform 7">
              <a:extLst>
                <a:ext uri="{FF2B5EF4-FFF2-40B4-BE49-F238E27FC236}">
                  <a16:creationId xmlns:a16="http://schemas.microsoft.com/office/drawing/2014/main" id="{E02F3028-0F40-9EAE-DAF6-1833FE47C664}"/>
                </a:ext>
              </a:extLst>
            </p:cNvPr>
            <p:cNvSpPr>
              <a:spLocks/>
            </p:cNvSpPr>
            <p:nvPr/>
          </p:nvSpPr>
          <p:spPr bwMode="auto">
            <a:xfrm>
              <a:off x="5193096" y="2141936"/>
              <a:ext cx="384995" cy="226871"/>
            </a:xfrm>
            <a:custGeom>
              <a:avLst/>
              <a:gdLst>
                <a:gd name="T0" fmla="*/ 176 w 337"/>
                <a:gd name="T1" fmla="*/ 0 h 198"/>
                <a:gd name="T2" fmla="*/ 337 w 337"/>
                <a:gd name="T3" fmla="*/ 0 h 198"/>
                <a:gd name="T4" fmla="*/ 337 w 337"/>
                <a:gd name="T5" fmla="*/ 198 h 198"/>
                <a:gd name="T6" fmla="*/ 0 w 337"/>
                <a:gd name="T7" fmla="*/ 198 h 198"/>
                <a:gd name="T8" fmla="*/ 176 w 337"/>
                <a:gd name="T9" fmla="*/ 0 h 198"/>
              </a:gdLst>
              <a:ahLst/>
              <a:cxnLst>
                <a:cxn ang="0">
                  <a:pos x="T0" y="T1"/>
                </a:cxn>
                <a:cxn ang="0">
                  <a:pos x="T2" y="T3"/>
                </a:cxn>
                <a:cxn ang="0">
                  <a:pos x="T4" y="T5"/>
                </a:cxn>
                <a:cxn ang="0">
                  <a:pos x="T6" y="T7"/>
                </a:cxn>
                <a:cxn ang="0">
                  <a:pos x="T8" y="T9"/>
                </a:cxn>
              </a:cxnLst>
              <a:rect l="0" t="0" r="r" b="b"/>
              <a:pathLst>
                <a:path w="337" h="198">
                  <a:moveTo>
                    <a:pt x="176" y="0"/>
                  </a:moveTo>
                  <a:lnTo>
                    <a:pt x="337" y="0"/>
                  </a:lnTo>
                  <a:lnTo>
                    <a:pt x="337" y="198"/>
                  </a:lnTo>
                  <a:lnTo>
                    <a:pt x="0" y="198"/>
                  </a:lnTo>
                  <a:lnTo>
                    <a:pt x="176" y="0"/>
                  </a:lnTo>
                  <a:close/>
                </a:path>
              </a:pathLst>
            </a:custGeom>
            <a:solidFill>
              <a:schemeClr val="accent3">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52" name="Freeform 11">
              <a:extLst>
                <a:ext uri="{FF2B5EF4-FFF2-40B4-BE49-F238E27FC236}">
                  <a16:creationId xmlns:a16="http://schemas.microsoft.com/office/drawing/2014/main" id="{5AE33A5D-D369-1638-6244-3D36B2D39267}"/>
                </a:ext>
              </a:extLst>
            </p:cNvPr>
            <p:cNvSpPr>
              <a:spLocks/>
            </p:cNvSpPr>
            <p:nvPr/>
          </p:nvSpPr>
          <p:spPr bwMode="auto">
            <a:xfrm>
              <a:off x="5394759" y="2687344"/>
              <a:ext cx="1604144" cy="93956"/>
            </a:xfrm>
            <a:custGeom>
              <a:avLst/>
              <a:gdLst>
                <a:gd name="T0" fmla="*/ 0 w 1400"/>
                <a:gd name="T1" fmla="*/ 0 h 81"/>
                <a:gd name="T2" fmla="*/ 1133 w 1400"/>
                <a:gd name="T3" fmla="*/ 0 h 81"/>
                <a:gd name="T4" fmla="*/ 1400 w 1400"/>
                <a:gd name="T5" fmla="*/ 81 h 81"/>
                <a:gd name="T6" fmla="*/ 267 w 1400"/>
                <a:gd name="T7" fmla="*/ 81 h 81"/>
                <a:gd name="T8" fmla="*/ 0 w 1400"/>
                <a:gd name="T9" fmla="*/ 0 h 81"/>
              </a:gdLst>
              <a:ahLst/>
              <a:cxnLst>
                <a:cxn ang="0">
                  <a:pos x="T0" y="T1"/>
                </a:cxn>
                <a:cxn ang="0">
                  <a:pos x="T2" y="T3"/>
                </a:cxn>
                <a:cxn ang="0">
                  <a:pos x="T4" y="T5"/>
                </a:cxn>
                <a:cxn ang="0">
                  <a:pos x="T6" y="T7"/>
                </a:cxn>
                <a:cxn ang="0">
                  <a:pos x="T8" y="T9"/>
                </a:cxn>
              </a:cxnLst>
              <a:rect l="0" t="0" r="r" b="b"/>
              <a:pathLst>
                <a:path w="1400" h="81">
                  <a:moveTo>
                    <a:pt x="0" y="0"/>
                  </a:moveTo>
                  <a:lnTo>
                    <a:pt x="1133" y="0"/>
                  </a:lnTo>
                  <a:lnTo>
                    <a:pt x="1400" y="81"/>
                  </a:lnTo>
                  <a:lnTo>
                    <a:pt x="267" y="81"/>
                  </a:lnTo>
                  <a:lnTo>
                    <a:pt x="0" y="0"/>
                  </a:lnTo>
                  <a:close/>
                </a:path>
              </a:pathLst>
            </a:custGeom>
            <a:solidFill>
              <a:schemeClr val="tx2">
                <a:lumMod val="20000"/>
                <a:lumOff val="80000"/>
              </a:schemeClr>
            </a:solidFill>
            <a:ln w="0">
              <a:solidFill>
                <a:srgbClr val="C9D6D6"/>
              </a:solid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53" name="Freeform 13">
              <a:extLst>
                <a:ext uri="{FF2B5EF4-FFF2-40B4-BE49-F238E27FC236}">
                  <a16:creationId xmlns:a16="http://schemas.microsoft.com/office/drawing/2014/main" id="{5F6B9C3A-5ECF-3910-7298-FB44891EAB91}"/>
                </a:ext>
              </a:extLst>
            </p:cNvPr>
            <p:cNvSpPr>
              <a:spLocks/>
            </p:cNvSpPr>
            <p:nvPr/>
          </p:nvSpPr>
          <p:spPr bwMode="auto">
            <a:xfrm>
              <a:off x="5394759" y="2141936"/>
              <a:ext cx="1604144" cy="639365"/>
            </a:xfrm>
            <a:custGeom>
              <a:avLst/>
              <a:gdLst>
                <a:gd name="T0" fmla="*/ 0 w 1400"/>
                <a:gd name="T1" fmla="*/ 0 h 558"/>
                <a:gd name="T2" fmla="*/ 384 w 1400"/>
                <a:gd name="T3" fmla="*/ 0 h 558"/>
                <a:gd name="T4" fmla="*/ 393 w 1400"/>
                <a:gd name="T5" fmla="*/ 41 h 558"/>
                <a:gd name="T6" fmla="*/ 411 w 1400"/>
                <a:gd name="T7" fmla="*/ 79 h 558"/>
                <a:gd name="T8" fmla="*/ 434 w 1400"/>
                <a:gd name="T9" fmla="*/ 113 h 558"/>
                <a:gd name="T10" fmla="*/ 465 w 1400"/>
                <a:gd name="T11" fmla="*/ 140 h 558"/>
                <a:gd name="T12" fmla="*/ 501 w 1400"/>
                <a:gd name="T13" fmla="*/ 160 h 558"/>
                <a:gd name="T14" fmla="*/ 541 w 1400"/>
                <a:gd name="T15" fmla="*/ 174 h 558"/>
                <a:gd name="T16" fmla="*/ 584 w 1400"/>
                <a:gd name="T17" fmla="*/ 178 h 558"/>
                <a:gd name="T18" fmla="*/ 627 w 1400"/>
                <a:gd name="T19" fmla="*/ 174 h 558"/>
                <a:gd name="T20" fmla="*/ 667 w 1400"/>
                <a:gd name="T21" fmla="*/ 160 h 558"/>
                <a:gd name="T22" fmla="*/ 701 w 1400"/>
                <a:gd name="T23" fmla="*/ 140 h 558"/>
                <a:gd name="T24" fmla="*/ 732 w 1400"/>
                <a:gd name="T25" fmla="*/ 113 h 558"/>
                <a:gd name="T26" fmla="*/ 757 w 1400"/>
                <a:gd name="T27" fmla="*/ 79 h 558"/>
                <a:gd name="T28" fmla="*/ 773 w 1400"/>
                <a:gd name="T29" fmla="*/ 41 h 558"/>
                <a:gd name="T30" fmla="*/ 782 w 1400"/>
                <a:gd name="T31" fmla="*/ 0 h 558"/>
                <a:gd name="T32" fmla="*/ 1133 w 1400"/>
                <a:gd name="T33" fmla="*/ 0 h 558"/>
                <a:gd name="T34" fmla="*/ 1400 w 1400"/>
                <a:gd name="T35" fmla="*/ 558 h 558"/>
                <a:gd name="T36" fmla="*/ 267 w 1400"/>
                <a:gd name="T37" fmla="*/ 558 h 558"/>
                <a:gd name="T38" fmla="*/ 0 w 1400"/>
                <a:gd name="T39"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558">
                  <a:moveTo>
                    <a:pt x="0" y="0"/>
                  </a:moveTo>
                  <a:lnTo>
                    <a:pt x="384" y="0"/>
                  </a:lnTo>
                  <a:lnTo>
                    <a:pt x="393" y="41"/>
                  </a:lnTo>
                  <a:lnTo>
                    <a:pt x="411" y="79"/>
                  </a:lnTo>
                  <a:lnTo>
                    <a:pt x="434" y="113"/>
                  </a:lnTo>
                  <a:lnTo>
                    <a:pt x="465" y="140"/>
                  </a:lnTo>
                  <a:lnTo>
                    <a:pt x="501" y="160"/>
                  </a:lnTo>
                  <a:lnTo>
                    <a:pt x="541" y="174"/>
                  </a:lnTo>
                  <a:lnTo>
                    <a:pt x="584" y="178"/>
                  </a:lnTo>
                  <a:lnTo>
                    <a:pt x="627" y="174"/>
                  </a:lnTo>
                  <a:lnTo>
                    <a:pt x="667" y="160"/>
                  </a:lnTo>
                  <a:lnTo>
                    <a:pt x="701" y="140"/>
                  </a:lnTo>
                  <a:lnTo>
                    <a:pt x="732" y="113"/>
                  </a:lnTo>
                  <a:lnTo>
                    <a:pt x="757" y="79"/>
                  </a:lnTo>
                  <a:lnTo>
                    <a:pt x="773" y="41"/>
                  </a:lnTo>
                  <a:lnTo>
                    <a:pt x="782" y="0"/>
                  </a:lnTo>
                  <a:lnTo>
                    <a:pt x="1133" y="0"/>
                  </a:lnTo>
                  <a:lnTo>
                    <a:pt x="1400" y="558"/>
                  </a:lnTo>
                  <a:lnTo>
                    <a:pt x="267" y="558"/>
                  </a:lnTo>
                  <a:lnTo>
                    <a:pt x="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54" name="Freeform 7">
              <a:extLst>
                <a:ext uri="{FF2B5EF4-FFF2-40B4-BE49-F238E27FC236}">
                  <a16:creationId xmlns:a16="http://schemas.microsoft.com/office/drawing/2014/main" id="{AA097F3A-1E20-49A3-5576-A9AC4CCC98D9}"/>
                </a:ext>
              </a:extLst>
            </p:cNvPr>
            <p:cNvSpPr>
              <a:spLocks/>
            </p:cNvSpPr>
            <p:nvPr/>
          </p:nvSpPr>
          <p:spPr bwMode="auto">
            <a:xfrm>
              <a:off x="6839525" y="2141936"/>
              <a:ext cx="384995" cy="226871"/>
            </a:xfrm>
            <a:custGeom>
              <a:avLst/>
              <a:gdLst>
                <a:gd name="T0" fmla="*/ 176 w 337"/>
                <a:gd name="T1" fmla="*/ 0 h 198"/>
                <a:gd name="T2" fmla="*/ 337 w 337"/>
                <a:gd name="T3" fmla="*/ 0 h 198"/>
                <a:gd name="T4" fmla="*/ 337 w 337"/>
                <a:gd name="T5" fmla="*/ 198 h 198"/>
                <a:gd name="T6" fmla="*/ 0 w 337"/>
                <a:gd name="T7" fmla="*/ 198 h 198"/>
                <a:gd name="T8" fmla="*/ 176 w 337"/>
                <a:gd name="T9" fmla="*/ 0 h 198"/>
              </a:gdLst>
              <a:ahLst/>
              <a:cxnLst>
                <a:cxn ang="0">
                  <a:pos x="T0" y="T1"/>
                </a:cxn>
                <a:cxn ang="0">
                  <a:pos x="T2" y="T3"/>
                </a:cxn>
                <a:cxn ang="0">
                  <a:pos x="T4" y="T5"/>
                </a:cxn>
                <a:cxn ang="0">
                  <a:pos x="T6" y="T7"/>
                </a:cxn>
                <a:cxn ang="0">
                  <a:pos x="T8" y="T9"/>
                </a:cxn>
              </a:cxnLst>
              <a:rect l="0" t="0" r="r" b="b"/>
              <a:pathLst>
                <a:path w="337" h="198">
                  <a:moveTo>
                    <a:pt x="176" y="0"/>
                  </a:moveTo>
                  <a:lnTo>
                    <a:pt x="337" y="0"/>
                  </a:lnTo>
                  <a:lnTo>
                    <a:pt x="337" y="198"/>
                  </a:lnTo>
                  <a:lnTo>
                    <a:pt x="0" y="198"/>
                  </a:lnTo>
                  <a:lnTo>
                    <a:pt x="176" y="0"/>
                  </a:lnTo>
                  <a:close/>
                </a:path>
              </a:pathLst>
            </a:custGeom>
            <a:solidFill>
              <a:schemeClr val="accent4">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55" name="Freeform 11">
              <a:extLst>
                <a:ext uri="{FF2B5EF4-FFF2-40B4-BE49-F238E27FC236}">
                  <a16:creationId xmlns:a16="http://schemas.microsoft.com/office/drawing/2014/main" id="{4047480F-4791-C23A-9D26-CD69B63E439B}"/>
                </a:ext>
              </a:extLst>
            </p:cNvPr>
            <p:cNvSpPr>
              <a:spLocks/>
            </p:cNvSpPr>
            <p:nvPr/>
          </p:nvSpPr>
          <p:spPr bwMode="auto">
            <a:xfrm>
              <a:off x="7041188" y="2687344"/>
              <a:ext cx="1604144" cy="93956"/>
            </a:xfrm>
            <a:custGeom>
              <a:avLst/>
              <a:gdLst>
                <a:gd name="T0" fmla="*/ 0 w 1400"/>
                <a:gd name="T1" fmla="*/ 0 h 81"/>
                <a:gd name="T2" fmla="*/ 1133 w 1400"/>
                <a:gd name="T3" fmla="*/ 0 h 81"/>
                <a:gd name="T4" fmla="*/ 1400 w 1400"/>
                <a:gd name="T5" fmla="*/ 81 h 81"/>
                <a:gd name="T6" fmla="*/ 267 w 1400"/>
                <a:gd name="T7" fmla="*/ 81 h 81"/>
                <a:gd name="T8" fmla="*/ 0 w 1400"/>
                <a:gd name="T9" fmla="*/ 0 h 81"/>
              </a:gdLst>
              <a:ahLst/>
              <a:cxnLst>
                <a:cxn ang="0">
                  <a:pos x="T0" y="T1"/>
                </a:cxn>
                <a:cxn ang="0">
                  <a:pos x="T2" y="T3"/>
                </a:cxn>
                <a:cxn ang="0">
                  <a:pos x="T4" y="T5"/>
                </a:cxn>
                <a:cxn ang="0">
                  <a:pos x="T6" y="T7"/>
                </a:cxn>
                <a:cxn ang="0">
                  <a:pos x="T8" y="T9"/>
                </a:cxn>
              </a:cxnLst>
              <a:rect l="0" t="0" r="r" b="b"/>
              <a:pathLst>
                <a:path w="1400" h="81">
                  <a:moveTo>
                    <a:pt x="0" y="0"/>
                  </a:moveTo>
                  <a:lnTo>
                    <a:pt x="1133" y="0"/>
                  </a:lnTo>
                  <a:lnTo>
                    <a:pt x="1400" y="81"/>
                  </a:lnTo>
                  <a:lnTo>
                    <a:pt x="267" y="81"/>
                  </a:lnTo>
                  <a:lnTo>
                    <a:pt x="0" y="0"/>
                  </a:lnTo>
                  <a:close/>
                </a:path>
              </a:pathLst>
            </a:custGeom>
            <a:solidFill>
              <a:schemeClr val="tx2">
                <a:lumMod val="20000"/>
                <a:lumOff val="80000"/>
              </a:schemeClr>
            </a:solidFill>
            <a:ln w="0">
              <a:solidFill>
                <a:srgbClr val="C9D6D6"/>
              </a:solid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56" name="Freeform 13">
              <a:extLst>
                <a:ext uri="{FF2B5EF4-FFF2-40B4-BE49-F238E27FC236}">
                  <a16:creationId xmlns:a16="http://schemas.microsoft.com/office/drawing/2014/main" id="{46863DD7-36C4-B90C-43CA-0A0B3829660A}"/>
                </a:ext>
              </a:extLst>
            </p:cNvPr>
            <p:cNvSpPr>
              <a:spLocks/>
            </p:cNvSpPr>
            <p:nvPr/>
          </p:nvSpPr>
          <p:spPr bwMode="auto">
            <a:xfrm>
              <a:off x="7041188" y="2141936"/>
              <a:ext cx="1604144" cy="639365"/>
            </a:xfrm>
            <a:custGeom>
              <a:avLst/>
              <a:gdLst>
                <a:gd name="T0" fmla="*/ 0 w 1400"/>
                <a:gd name="T1" fmla="*/ 0 h 558"/>
                <a:gd name="T2" fmla="*/ 384 w 1400"/>
                <a:gd name="T3" fmla="*/ 0 h 558"/>
                <a:gd name="T4" fmla="*/ 393 w 1400"/>
                <a:gd name="T5" fmla="*/ 41 h 558"/>
                <a:gd name="T6" fmla="*/ 411 w 1400"/>
                <a:gd name="T7" fmla="*/ 79 h 558"/>
                <a:gd name="T8" fmla="*/ 434 w 1400"/>
                <a:gd name="T9" fmla="*/ 113 h 558"/>
                <a:gd name="T10" fmla="*/ 465 w 1400"/>
                <a:gd name="T11" fmla="*/ 140 h 558"/>
                <a:gd name="T12" fmla="*/ 501 w 1400"/>
                <a:gd name="T13" fmla="*/ 160 h 558"/>
                <a:gd name="T14" fmla="*/ 541 w 1400"/>
                <a:gd name="T15" fmla="*/ 174 h 558"/>
                <a:gd name="T16" fmla="*/ 584 w 1400"/>
                <a:gd name="T17" fmla="*/ 178 h 558"/>
                <a:gd name="T18" fmla="*/ 627 w 1400"/>
                <a:gd name="T19" fmla="*/ 174 h 558"/>
                <a:gd name="T20" fmla="*/ 667 w 1400"/>
                <a:gd name="T21" fmla="*/ 160 h 558"/>
                <a:gd name="T22" fmla="*/ 701 w 1400"/>
                <a:gd name="T23" fmla="*/ 140 h 558"/>
                <a:gd name="T24" fmla="*/ 732 w 1400"/>
                <a:gd name="T25" fmla="*/ 113 h 558"/>
                <a:gd name="T26" fmla="*/ 757 w 1400"/>
                <a:gd name="T27" fmla="*/ 79 h 558"/>
                <a:gd name="T28" fmla="*/ 773 w 1400"/>
                <a:gd name="T29" fmla="*/ 41 h 558"/>
                <a:gd name="T30" fmla="*/ 782 w 1400"/>
                <a:gd name="T31" fmla="*/ 0 h 558"/>
                <a:gd name="T32" fmla="*/ 1133 w 1400"/>
                <a:gd name="T33" fmla="*/ 0 h 558"/>
                <a:gd name="T34" fmla="*/ 1400 w 1400"/>
                <a:gd name="T35" fmla="*/ 558 h 558"/>
                <a:gd name="T36" fmla="*/ 267 w 1400"/>
                <a:gd name="T37" fmla="*/ 558 h 558"/>
                <a:gd name="T38" fmla="*/ 0 w 1400"/>
                <a:gd name="T39"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558">
                  <a:moveTo>
                    <a:pt x="0" y="0"/>
                  </a:moveTo>
                  <a:lnTo>
                    <a:pt x="384" y="0"/>
                  </a:lnTo>
                  <a:lnTo>
                    <a:pt x="393" y="41"/>
                  </a:lnTo>
                  <a:lnTo>
                    <a:pt x="411" y="79"/>
                  </a:lnTo>
                  <a:lnTo>
                    <a:pt x="434" y="113"/>
                  </a:lnTo>
                  <a:lnTo>
                    <a:pt x="465" y="140"/>
                  </a:lnTo>
                  <a:lnTo>
                    <a:pt x="501" y="160"/>
                  </a:lnTo>
                  <a:lnTo>
                    <a:pt x="541" y="174"/>
                  </a:lnTo>
                  <a:lnTo>
                    <a:pt x="584" y="178"/>
                  </a:lnTo>
                  <a:lnTo>
                    <a:pt x="627" y="174"/>
                  </a:lnTo>
                  <a:lnTo>
                    <a:pt x="667" y="160"/>
                  </a:lnTo>
                  <a:lnTo>
                    <a:pt x="701" y="140"/>
                  </a:lnTo>
                  <a:lnTo>
                    <a:pt x="732" y="113"/>
                  </a:lnTo>
                  <a:lnTo>
                    <a:pt x="757" y="79"/>
                  </a:lnTo>
                  <a:lnTo>
                    <a:pt x="773" y="41"/>
                  </a:lnTo>
                  <a:lnTo>
                    <a:pt x="782" y="0"/>
                  </a:lnTo>
                  <a:lnTo>
                    <a:pt x="1133" y="0"/>
                  </a:lnTo>
                  <a:lnTo>
                    <a:pt x="1400" y="558"/>
                  </a:lnTo>
                  <a:lnTo>
                    <a:pt x="267" y="558"/>
                  </a:lnTo>
                  <a:lnTo>
                    <a:pt x="0"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57" name="Freeform 7">
              <a:extLst>
                <a:ext uri="{FF2B5EF4-FFF2-40B4-BE49-F238E27FC236}">
                  <a16:creationId xmlns:a16="http://schemas.microsoft.com/office/drawing/2014/main" id="{8F3BF9B2-4071-5FCA-898B-354C1DDFC2D5}"/>
                </a:ext>
              </a:extLst>
            </p:cNvPr>
            <p:cNvSpPr>
              <a:spLocks/>
            </p:cNvSpPr>
            <p:nvPr/>
          </p:nvSpPr>
          <p:spPr bwMode="auto">
            <a:xfrm>
              <a:off x="8485955" y="2141936"/>
              <a:ext cx="384995" cy="226871"/>
            </a:xfrm>
            <a:custGeom>
              <a:avLst/>
              <a:gdLst>
                <a:gd name="T0" fmla="*/ 176 w 337"/>
                <a:gd name="T1" fmla="*/ 0 h 198"/>
                <a:gd name="T2" fmla="*/ 337 w 337"/>
                <a:gd name="T3" fmla="*/ 0 h 198"/>
                <a:gd name="T4" fmla="*/ 337 w 337"/>
                <a:gd name="T5" fmla="*/ 198 h 198"/>
                <a:gd name="T6" fmla="*/ 0 w 337"/>
                <a:gd name="T7" fmla="*/ 198 h 198"/>
                <a:gd name="T8" fmla="*/ 176 w 337"/>
                <a:gd name="T9" fmla="*/ 0 h 198"/>
              </a:gdLst>
              <a:ahLst/>
              <a:cxnLst>
                <a:cxn ang="0">
                  <a:pos x="T0" y="T1"/>
                </a:cxn>
                <a:cxn ang="0">
                  <a:pos x="T2" y="T3"/>
                </a:cxn>
                <a:cxn ang="0">
                  <a:pos x="T4" y="T5"/>
                </a:cxn>
                <a:cxn ang="0">
                  <a:pos x="T6" y="T7"/>
                </a:cxn>
                <a:cxn ang="0">
                  <a:pos x="T8" y="T9"/>
                </a:cxn>
              </a:cxnLst>
              <a:rect l="0" t="0" r="r" b="b"/>
              <a:pathLst>
                <a:path w="337" h="198">
                  <a:moveTo>
                    <a:pt x="176" y="0"/>
                  </a:moveTo>
                  <a:lnTo>
                    <a:pt x="337" y="0"/>
                  </a:lnTo>
                  <a:lnTo>
                    <a:pt x="337" y="198"/>
                  </a:lnTo>
                  <a:lnTo>
                    <a:pt x="0" y="198"/>
                  </a:lnTo>
                  <a:lnTo>
                    <a:pt x="176" y="0"/>
                  </a:lnTo>
                  <a:close/>
                </a:path>
              </a:pathLst>
            </a:custGeom>
            <a:solidFill>
              <a:schemeClr val="accent5">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58" name="Freeform 11">
              <a:extLst>
                <a:ext uri="{FF2B5EF4-FFF2-40B4-BE49-F238E27FC236}">
                  <a16:creationId xmlns:a16="http://schemas.microsoft.com/office/drawing/2014/main" id="{F9F3F2BC-DDAE-E4BD-00A9-EFFA8E5081BA}"/>
                </a:ext>
              </a:extLst>
            </p:cNvPr>
            <p:cNvSpPr>
              <a:spLocks/>
            </p:cNvSpPr>
            <p:nvPr/>
          </p:nvSpPr>
          <p:spPr bwMode="auto">
            <a:xfrm>
              <a:off x="8687618" y="2687344"/>
              <a:ext cx="1604144" cy="93956"/>
            </a:xfrm>
            <a:custGeom>
              <a:avLst/>
              <a:gdLst>
                <a:gd name="T0" fmla="*/ 0 w 1400"/>
                <a:gd name="T1" fmla="*/ 0 h 81"/>
                <a:gd name="T2" fmla="*/ 1133 w 1400"/>
                <a:gd name="T3" fmla="*/ 0 h 81"/>
                <a:gd name="T4" fmla="*/ 1400 w 1400"/>
                <a:gd name="T5" fmla="*/ 81 h 81"/>
                <a:gd name="T6" fmla="*/ 267 w 1400"/>
                <a:gd name="T7" fmla="*/ 81 h 81"/>
                <a:gd name="T8" fmla="*/ 0 w 1400"/>
                <a:gd name="T9" fmla="*/ 0 h 81"/>
              </a:gdLst>
              <a:ahLst/>
              <a:cxnLst>
                <a:cxn ang="0">
                  <a:pos x="T0" y="T1"/>
                </a:cxn>
                <a:cxn ang="0">
                  <a:pos x="T2" y="T3"/>
                </a:cxn>
                <a:cxn ang="0">
                  <a:pos x="T4" y="T5"/>
                </a:cxn>
                <a:cxn ang="0">
                  <a:pos x="T6" y="T7"/>
                </a:cxn>
                <a:cxn ang="0">
                  <a:pos x="T8" y="T9"/>
                </a:cxn>
              </a:cxnLst>
              <a:rect l="0" t="0" r="r" b="b"/>
              <a:pathLst>
                <a:path w="1400" h="81">
                  <a:moveTo>
                    <a:pt x="0" y="0"/>
                  </a:moveTo>
                  <a:lnTo>
                    <a:pt x="1133" y="0"/>
                  </a:lnTo>
                  <a:lnTo>
                    <a:pt x="1400" y="81"/>
                  </a:lnTo>
                  <a:lnTo>
                    <a:pt x="267" y="81"/>
                  </a:lnTo>
                  <a:lnTo>
                    <a:pt x="0" y="0"/>
                  </a:lnTo>
                  <a:close/>
                </a:path>
              </a:pathLst>
            </a:custGeom>
            <a:solidFill>
              <a:schemeClr val="tx2">
                <a:lumMod val="20000"/>
                <a:lumOff val="80000"/>
              </a:schemeClr>
            </a:solidFill>
            <a:ln w="0">
              <a:solidFill>
                <a:srgbClr val="C9D6D6"/>
              </a:solid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59" name="Freeform 13">
              <a:extLst>
                <a:ext uri="{FF2B5EF4-FFF2-40B4-BE49-F238E27FC236}">
                  <a16:creationId xmlns:a16="http://schemas.microsoft.com/office/drawing/2014/main" id="{839A8F1C-A57D-054E-25DC-C8D0B5CD5E97}"/>
                </a:ext>
              </a:extLst>
            </p:cNvPr>
            <p:cNvSpPr>
              <a:spLocks/>
            </p:cNvSpPr>
            <p:nvPr/>
          </p:nvSpPr>
          <p:spPr bwMode="auto">
            <a:xfrm>
              <a:off x="8687618" y="2141936"/>
              <a:ext cx="1604144" cy="639365"/>
            </a:xfrm>
            <a:custGeom>
              <a:avLst/>
              <a:gdLst>
                <a:gd name="T0" fmla="*/ 0 w 1400"/>
                <a:gd name="T1" fmla="*/ 0 h 558"/>
                <a:gd name="T2" fmla="*/ 384 w 1400"/>
                <a:gd name="T3" fmla="*/ 0 h 558"/>
                <a:gd name="T4" fmla="*/ 393 w 1400"/>
                <a:gd name="T5" fmla="*/ 41 h 558"/>
                <a:gd name="T6" fmla="*/ 411 w 1400"/>
                <a:gd name="T7" fmla="*/ 79 h 558"/>
                <a:gd name="T8" fmla="*/ 434 w 1400"/>
                <a:gd name="T9" fmla="*/ 113 h 558"/>
                <a:gd name="T10" fmla="*/ 465 w 1400"/>
                <a:gd name="T11" fmla="*/ 140 h 558"/>
                <a:gd name="T12" fmla="*/ 501 w 1400"/>
                <a:gd name="T13" fmla="*/ 160 h 558"/>
                <a:gd name="T14" fmla="*/ 541 w 1400"/>
                <a:gd name="T15" fmla="*/ 174 h 558"/>
                <a:gd name="T16" fmla="*/ 584 w 1400"/>
                <a:gd name="T17" fmla="*/ 178 h 558"/>
                <a:gd name="T18" fmla="*/ 627 w 1400"/>
                <a:gd name="T19" fmla="*/ 174 h 558"/>
                <a:gd name="T20" fmla="*/ 667 w 1400"/>
                <a:gd name="T21" fmla="*/ 160 h 558"/>
                <a:gd name="T22" fmla="*/ 701 w 1400"/>
                <a:gd name="T23" fmla="*/ 140 h 558"/>
                <a:gd name="T24" fmla="*/ 732 w 1400"/>
                <a:gd name="T25" fmla="*/ 113 h 558"/>
                <a:gd name="T26" fmla="*/ 757 w 1400"/>
                <a:gd name="T27" fmla="*/ 79 h 558"/>
                <a:gd name="T28" fmla="*/ 773 w 1400"/>
                <a:gd name="T29" fmla="*/ 41 h 558"/>
                <a:gd name="T30" fmla="*/ 782 w 1400"/>
                <a:gd name="T31" fmla="*/ 0 h 558"/>
                <a:gd name="T32" fmla="*/ 1133 w 1400"/>
                <a:gd name="T33" fmla="*/ 0 h 558"/>
                <a:gd name="T34" fmla="*/ 1400 w 1400"/>
                <a:gd name="T35" fmla="*/ 558 h 558"/>
                <a:gd name="T36" fmla="*/ 267 w 1400"/>
                <a:gd name="T37" fmla="*/ 558 h 558"/>
                <a:gd name="T38" fmla="*/ 0 w 1400"/>
                <a:gd name="T39"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558">
                  <a:moveTo>
                    <a:pt x="0" y="0"/>
                  </a:moveTo>
                  <a:lnTo>
                    <a:pt x="384" y="0"/>
                  </a:lnTo>
                  <a:lnTo>
                    <a:pt x="393" y="41"/>
                  </a:lnTo>
                  <a:lnTo>
                    <a:pt x="411" y="79"/>
                  </a:lnTo>
                  <a:lnTo>
                    <a:pt x="434" y="113"/>
                  </a:lnTo>
                  <a:lnTo>
                    <a:pt x="465" y="140"/>
                  </a:lnTo>
                  <a:lnTo>
                    <a:pt x="501" y="160"/>
                  </a:lnTo>
                  <a:lnTo>
                    <a:pt x="541" y="174"/>
                  </a:lnTo>
                  <a:lnTo>
                    <a:pt x="584" y="178"/>
                  </a:lnTo>
                  <a:lnTo>
                    <a:pt x="627" y="174"/>
                  </a:lnTo>
                  <a:lnTo>
                    <a:pt x="667" y="160"/>
                  </a:lnTo>
                  <a:lnTo>
                    <a:pt x="701" y="140"/>
                  </a:lnTo>
                  <a:lnTo>
                    <a:pt x="732" y="113"/>
                  </a:lnTo>
                  <a:lnTo>
                    <a:pt x="757" y="79"/>
                  </a:lnTo>
                  <a:lnTo>
                    <a:pt x="773" y="41"/>
                  </a:lnTo>
                  <a:lnTo>
                    <a:pt x="782" y="0"/>
                  </a:lnTo>
                  <a:lnTo>
                    <a:pt x="1133" y="0"/>
                  </a:lnTo>
                  <a:lnTo>
                    <a:pt x="1400" y="558"/>
                  </a:lnTo>
                  <a:lnTo>
                    <a:pt x="267" y="558"/>
                  </a:lnTo>
                  <a:lnTo>
                    <a:pt x="0" y="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b="1"/>
            </a:p>
          </p:txBody>
        </p:sp>
        <p:sp>
          <p:nvSpPr>
            <p:cNvPr id="60" name="Rectangle 59">
              <a:extLst>
                <a:ext uri="{FF2B5EF4-FFF2-40B4-BE49-F238E27FC236}">
                  <a16:creationId xmlns:a16="http://schemas.microsoft.com/office/drawing/2014/main" id="{B5807B93-6A54-0232-D5FB-A02807E39CD9}"/>
                </a:ext>
              </a:extLst>
            </p:cNvPr>
            <p:cNvSpPr/>
            <p:nvPr/>
          </p:nvSpPr>
          <p:spPr>
            <a:xfrm>
              <a:off x="2364411" y="2415383"/>
              <a:ext cx="1217699" cy="251385"/>
            </a:xfrm>
            <a:prstGeom prst="rect">
              <a:avLst/>
            </a:prstGeom>
          </p:spPr>
          <p:txBody>
            <a:bodyPr wrap="square" lIns="0" tIns="0" rIns="0" bIns="0">
              <a:spAutoFit/>
            </a:bodyPr>
            <a:lstStyle/>
            <a:p>
              <a:pPr algn="ctr"/>
              <a:r>
                <a:rPr lang="en-US" sz="1400" b="1">
                  <a:solidFill>
                    <a:schemeClr val="bg1"/>
                  </a:solidFill>
                </a:rPr>
                <a:t>Ownership Restrictions</a:t>
              </a:r>
            </a:p>
          </p:txBody>
        </p:sp>
        <p:sp>
          <p:nvSpPr>
            <p:cNvPr id="61" name="Rectangle 60">
              <a:extLst>
                <a:ext uri="{FF2B5EF4-FFF2-40B4-BE49-F238E27FC236}">
                  <a16:creationId xmlns:a16="http://schemas.microsoft.com/office/drawing/2014/main" id="{B200F9E6-AB39-7B06-6BE3-CF1F36CCADA0}"/>
                </a:ext>
              </a:extLst>
            </p:cNvPr>
            <p:cNvSpPr/>
            <p:nvPr/>
          </p:nvSpPr>
          <p:spPr>
            <a:xfrm>
              <a:off x="3940501" y="2423706"/>
              <a:ext cx="1187820" cy="251385"/>
            </a:xfrm>
            <a:prstGeom prst="rect">
              <a:avLst/>
            </a:prstGeom>
          </p:spPr>
          <p:txBody>
            <a:bodyPr wrap="square" lIns="0" tIns="0" rIns="0" bIns="0">
              <a:spAutoFit/>
            </a:bodyPr>
            <a:lstStyle/>
            <a:p>
              <a:pPr algn="ctr"/>
              <a:r>
                <a:rPr lang="en-US" sz="1400" b="1">
                  <a:solidFill>
                    <a:schemeClr val="bg1"/>
                  </a:solidFill>
                </a:rPr>
                <a:t>Government Approval</a:t>
              </a:r>
            </a:p>
          </p:txBody>
        </p:sp>
        <p:sp>
          <p:nvSpPr>
            <p:cNvPr id="62" name="Rectangle 61">
              <a:extLst>
                <a:ext uri="{FF2B5EF4-FFF2-40B4-BE49-F238E27FC236}">
                  <a16:creationId xmlns:a16="http://schemas.microsoft.com/office/drawing/2014/main" id="{2D337BEE-1531-BFDB-0A43-14C55DC1014A}"/>
                </a:ext>
              </a:extLst>
            </p:cNvPr>
            <p:cNvSpPr/>
            <p:nvPr/>
          </p:nvSpPr>
          <p:spPr>
            <a:xfrm>
              <a:off x="5670489" y="2430134"/>
              <a:ext cx="1196022" cy="257099"/>
            </a:xfrm>
            <a:prstGeom prst="rect">
              <a:avLst/>
            </a:prstGeom>
          </p:spPr>
          <p:txBody>
            <a:bodyPr wrap="square" lIns="0" tIns="0" rIns="0" bIns="0">
              <a:spAutoFit/>
            </a:bodyPr>
            <a:lstStyle/>
            <a:p>
              <a:pPr algn="ctr"/>
              <a:r>
                <a:rPr lang="en-US" sz="1400" b="1">
                  <a:solidFill>
                    <a:schemeClr val="bg1"/>
                  </a:solidFill>
                </a:rPr>
                <a:t>Detailed project documentation</a:t>
              </a:r>
            </a:p>
          </p:txBody>
        </p:sp>
        <p:sp>
          <p:nvSpPr>
            <p:cNvPr id="63" name="Rectangle 62">
              <a:extLst>
                <a:ext uri="{FF2B5EF4-FFF2-40B4-BE49-F238E27FC236}">
                  <a16:creationId xmlns:a16="http://schemas.microsoft.com/office/drawing/2014/main" id="{CD7C82D8-9A7E-3C78-F1ED-485FF75EAC73}"/>
                </a:ext>
              </a:extLst>
            </p:cNvPr>
            <p:cNvSpPr/>
            <p:nvPr/>
          </p:nvSpPr>
          <p:spPr>
            <a:xfrm>
              <a:off x="7257512" y="2423710"/>
              <a:ext cx="1305132" cy="251385"/>
            </a:xfrm>
            <a:prstGeom prst="rect">
              <a:avLst/>
            </a:prstGeom>
          </p:spPr>
          <p:txBody>
            <a:bodyPr wrap="square" lIns="0" tIns="0" rIns="0" bIns="0">
              <a:spAutoFit/>
            </a:bodyPr>
            <a:lstStyle/>
            <a:p>
              <a:pPr algn="ctr"/>
              <a:r>
                <a:rPr lang="en-US" sz="1400" b="1">
                  <a:solidFill>
                    <a:schemeClr val="bg1"/>
                  </a:solidFill>
                </a:rPr>
                <a:t>Documentation &amp; clearances</a:t>
              </a:r>
            </a:p>
          </p:txBody>
        </p:sp>
        <p:sp>
          <p:nvSpPr>
            <p:cNvPr id="64" name="Rectangle 63">
              <a:extLst>
                <a:ext uri="{FF2B5EF4-FFF2-40B4-BE49-F238E27FC236}">
                  <a16:creationId xmlns:a16="http://schemas.microsoft.com/office/drawing/2014/main" id="{9DBE7494-1C42-74E2-4A8A-9B9175628253}"/>
                </a:ext>
              </a:extLst>
            </p:cNvPr>
            <p:cNvSpPr/>
            <p:nvPr/>
          </p:nvSpPr>
          <p:spPr>
            <a:xfrm>
              <a:off x="8887991" y="2436565"/>
              <a:ext cx="1233362" cy="251385"/>
            </a:xfrm>
            <a:prstGeom prst="rect">
              <a:avLst/>
            </a:prstGeom>
          </p:spPr>
          <p:txBody>
            <a:bodyPr wrap="square" lIns="0" tIns="0" rIns="0" bIns="0">
              <a:spAutoFit/>
            </a:bodyPr>
            <a:lstStyle/>
            <a:p>
              <a:pPr algn="ctr"/>
              <a:r>
                <a:rPr lang="en-US" sz="1400" b="1">
                  <a:solidFill>
                    <a:schemeClr val="bg1"/>
                  </a:solidFill>
                </a:rPr>
                <a:t>Intimation of change in equity</a:t>
              </a:r>
            </a:p>
          </p:txBody>
        </p:sp>
        <p:grpSp>
          <p:nvGrpSpPr>
            <p:cNvPr id="65" name="Group 521">
              <a:extLst>
                <a:ext uri="{FF2B5EF4-FFF2-40B4-BE49-F238E27FC236}">
                  <a16:creationId xmlns:a16="http://schemas.microsoft.com/office/drawing/2014/main" id="{04085C0E-92E8-AC75-BF37-673A7D423B5E}"/>
                </a:ext>
              </a:extLst>
            </p:cNvPr>
            <p:cNvGrpSpPr>
              <a:grpSpLocks noChangeAspect="1"/>
            </p:cNvGrpSpPr>
            <p:nvPr/>
          </p:nvGrpSpPr>
          <p:grpSpPr bwMode="auto">
            <a:xfrm>
              <a:off x="2631912" y="1981869"/>
              <a:ext cx="268805" cy="268802"/>
              <a:chOff x="3476" y="2032"/>
              <a:chExt cx="340" cy="340"/>
            </a:xfrm>
            <a:solidFill>
              <a:schemeClr val="bg1"/>
            </a:solidFill>
          </p:grpSpPr>
          <p:sp>
            <p:nvSpPr>
              <p:cNvPr id="81" name="Freeform 522">
                <a:extLst>
                  <a:ext uri="{FF2B5EF4-FFF2-40B4-BE49-F238E27FC236}">
                    <a16:creationId xmlns:a16="http://schemas.microsoft.com/office/drawing/2014/main" id="{42A66BB9-1A8A-E24C-DA06-15D3085C6F95}"/>
                  </a:ext>
                </a:extLst>
              </p:cNvPr>
              <p:cNvSpPr>
                <a:spLocks noEditPoints="1"/>
              </p:cNvSpPr>
              <p:nvPr/>
            </p:nvSpPr>
            <p:spPr bwMode="auto">
              <a:xfrm>
                <a:off x="3625" y="2266"/>
                <a:ext cx="42" cy="42"/>
              </a:xfrm>
              <a:custGeom>
                <a:avLst/>
                <a:gdLst>
                  <a:gd name="T0" fmla="*/ 32 w 64"/>
                  <a:gd name="T1" fmla="*/ 0 h 64"/>
                  <a:gd name="T2" fmla="*/ 0 w 64"/>
                  <a:gd name="T3" fmla="*/ 32 h 64"/>
                  <a:gd name="T4" fmla="*/ 32 w 64"/>
                  <a:gd name="T5" fmla="*/ 64 h 64"/>
                  <a:gd name="T6" fmla="*/ 64 w 64"/>
                  <a:gd name="T7" fmla="*/ 32 h 64"/>
                  <a:gd name="T8" fmla="*/ 32 w 64"/>
                  <a:gd name="T9" fmla="*/ 0 h 64"/>
                  <a:gd name="T10" fmla="*/ 32 w 64"/>
                  <a:gd name="T11" fmla="*/ 42 h 64"/>
                  <a:gd name="T12" fmla="*/ 21 w 64"/>
                  <a:gd name="T13" fmla="*/ 32 h 64"/>
                  <a:gd name="T14" fmla="*/ 32 w 64"/>
                  <a:gd name="T15" fmla="*/ 21 h 64"/>
                  <a:gd name="T16" fmla="*/ 42 w 64"/>
                  <a:gd name="T17" fmla="*/ 32 h 64"/>
                  <a:gd name="T18" fmla="*/ 32 w 64"/>
                  <a:gd name="T19"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0"/>
                    </a:moveTo>
                    <a:cubicBezTo>
                      <a:pt x="14" y="0"/>
                      <a:pt x="0" y="14"/>
                      <a:pt x="0" y="32"/>
                    </a:cubicBezTo>
                    <a:cubicBezTo>
                      <a:pt x="0" y="49"/>
                      <a:pt x="14" y="64"/>
                      <a:pt x="32" y="64"/>
                    </a:cubicBezTo>
                    <a:cubicBezTo>
                      <a:pt x="49" y="64"/>
                      <a:pt x="64" y="49"/>
                      <a:pt x="64" y="32"/>
                    </a:cubicBezTo>
                    <a:cubicBezTo>
                      <a:pt x="64" y="14"/>
                      <a:pt x="49" y="0"/>
                      <a:pt x="32" y="0"/>
                    </a:cubicBezTo>
                    <a:close/>
                    <a:moveTo>
                      <a:pt x="32" y="42"/>
                    </a:moveTo>
                    <a:cubicBezTo>
                      <a:pt x="26" y="42"/>
                      <a:pt x="21" y="38"/>
                      <a:pt x="21" y="32"/>
                    </a:cubicBezTo>
                    <a:cubicBezTo>
                      <a:pt x="21" y="26"/>
                      <a:pt x="26" y="21"/>
                      <a:pt x="32" y="21"/>
                    </a:cubicBezTo>
                    <a:cubicBezTo>
                      <a:pt x="38" y="21"/>
                      <a:pt x="42" y="26"/>
                      <a:pt x="42" y="32"/>
                    </a:cubicBezTo>
                    <a:cubicBezTo>
                      <a:pt x="42" y="38"/>
                      <a:pt x="38" y="42"/>
                      <a:pt x="32" y="4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sp>
            <p:nvSpPr>
              <p:cNvPr id="82" name="Freeform 523">
                <a:extLst>
                  <a:ext uri="{FF2B5EF4-FFF2-40B4-BE49-F238E27FC236}">
                    <a16:creationId xmlns:a16="http://schemas.microsoft.com/office/drawing/2014/main" id="{805C2564-ABDB-ADF8-67AB-0E6B2E546E58}"/>
                  </a:ext>
                </a:extLst>
              </p:cNvPr>
              <p:cNvSpPr>
                <a:spLocks noEditPoints="1"/>
              </p:cNvSpPr>
              <p:nvPr/>
            </p:nvSpPr>
            <p:spPr bwMode="auto">
              <a:xfrm>
                <a:off x="3617" y="2096"/>
                <a:ext cx="58" cy="155"/>
              </a:xfrm>
              <a:custGeom>
                <a:avLst/>
                <a:gdLst>
                  <a:gd name="T0" fmla="*/ 21 w 86"/>
                  <a:gd name="T1" fmla="*/ 234 h 234"/>
                  <a:gd name="T2" fmla="*/ 21 w 86"/>
                  <a:gd name="T3" fmla="*/ 234 h 234"/>
                  <a:gd name="T4" fmla="*/ 22 w 86"/>
                  <a:gd name="T5" fmla="*/ 234 h 234"/>
                  <a:gd name="T6" fmla="*/ 63 w 86"/>
                  <a:gd name="T7" fmla="*/ 234 h 234"/>
                  <a:gd name="T8" fmla="*/ 64 w 86"/>
                  <a:gd name="T9" fmla="*/ 234 h 234"/>
                  <a:gd name="T10" fmla="*/ 64 w 86"/>
                  <a:gd name="T11" fmla="*/ 234 h 234"/>
                  <a:gd name="T12" fmla="*/ 75 w 86"/>
                  <a:gd name="T13" fmla="*/ 224 h 234"/>
                  <a:gd name="T14" fmla="*/ 85 w 86"/>
                  <a:gd name="T15" fmla="*/ 11 h 234"/>
                  <a:gd name="T16" fmla="*/ 75 w 86"/>
                  <a:gd name="T17" fmla="*/ 0 h 234"/>
                  <a:gd name="T18" fmla="*/ 75 w 86"/>
                  <a:gd name="T19" fmla="*/ 0 h 234"/>
                  <a:gd name="T20" fmla="*/ 11 w 86"/>
                  <a:gd name="T21" fmla="*/ 0 h 234"/>
                  <a:gd name="T22" fmla="*/ 10 w 86"/>
                  <a:gd name="T23" fmla="*/ 0 h 234"/>
                  <a:gd name="T24" fmla="*/ 0 w 86"/>
                  <a:gd name="T25" fmla="*/ 11 h 234"/>
                  <a:gd name="T26" fmla="*/ 11 w 86"/>
                  <a:gd name="T27" fmla="*/ 224 h 234"/>
                  <a:gd name="T28" fmla="*/ 21 w 86"/>
                  <a:gd name="T29" fmla="*/ 234 h 234"/>
                  <a:gd name="T30" fmla="*/ 63 w 86"/>
                  <a:gd name="T31" fmla="*/ 21 h 234"/>
                  <a:gd name="T32" fmla="*/ 54 w 86"/>
                  <a:gd name="T33" fmla="*/ 213 h 234"/>
                  <a:gd name="T34" fmla="*/ 31 w 86"/>
                  <a:gd name="T35" fmla="*/ 213 h 234"/>
                  <a:gd name="T36" fmla="*/ 22 w 86"/>
                  <a:gd name="T37" fmla="*/ 21 h 234"/>
                  <a:gd name="T38" fmla="*/ 63 w 86"/>
                  <a:gd name="T39" fmla="*/ 2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6" h="234">
                    <a:moveTo>
                      <a:pt x="21" y="234"/>
                    </a:moveTo>
                    <a:cubicBezTo>
                      <a:pt x="21" y="234"/>
                      <a:pt x="21" y="234"/>
                      <a:pt x="21" y="234"/>
                    </a:cubicBezTo>
                    <a:cubicBezTo>
                      <a:pt x="22" y="234"/>
                      <a:pt x="22" y="234"/>
                      <a:pt x="22" y="234"/>
                    </a:cubicBezTo>
                    <a:cubicBezTo>
                      <a:pt x="63" y="234"/>
                      <a:pt x="63" y="234"/>
                      <a:pt x="63" y="234"/>
                    </a:cubicBezTo>
                    <a:cubicBezTo>
                      <a:pt x="64" y="234"/>
                      <a:pt x="64" y="234"/>
                      <a:pt x="64" y="234"/>
                    </a:cubicBezTo>
                    <a:cubicBezTo>
                      <a:pt x="64" y="234"/>
                      <a:pt x="64" y="234"/>
                      <a:pt x="64" y="234"/>
                    </a:cubicBezTo>
                    <a:cubicBezTo>
                      <a:pt x="70" y="234"/>
                      <a:pt x="74" y="230"/>
                      <a:pt x="75" y="224"/>
                    </a:cubicBezTo>
                    <a:cubicBezTo>
                      <a:pt x="85" y="11"/>
                      <a:pt x="85" y="11"/>
                      <a:pt x="85" y="11"/>
                    </a:cubicBezTo>
                    <a:cubicBezTo>
                      <a:pt x="86" y="5"/>
                      <a:pt x="81" y="0"/>
                      <a:pt x="75" y="0"/>
                    </a:cubicBezTo>
                    <a:cubicBezTo>
                      <a:pt x="75" y="0"/>
                      <a:pt x="75" y="0"/>
                      <a:pt x="75" y="0"/>
                    </a:cubicBezTo>
                    <a:cubicBezTo>
                      <a:pt x="11" y="0"/>
                      <a:pt x="11" y="0"/>
                      <a:pt x="11" y="0"/>
                    </a:cubicBezTo>
                    <a:cubicBezTo>
                      <a:pt x="11" y="0"/>
                      <a:pt x="10" y="0"/>
                      <a:pt x="10" y="0"/>
                    </a:cubicBezTo>
                    <a:cubicBezTo>
                      <a:pt x="4" y="0"/>
                      <a:pt x="0" y="5"/>
                      <a:pt x="0" y="11"/>
                    </a:cubicBezTo>
                    <a:cubicBezTo>
                      <a:pt x="11" y="224"/>
                      <a:pt x="11" y="224"/>
                      <a:pt x="11" y="224"/>
                    </a:cubicBezTo>
                    <a:cubicBezTo>
                      <a:pt x="11" y="230"/>
                      <a:pt x="16" y="234"/>
                      <a:pt x="21" y="234"/>
                    </a:cubicBezTo>
                    <a:close/>
                    <a:moveTo>
                      <a:pt x="63" y="21"/>
                    </a:moveTo>
                    <a:cubicBezTo>
                      <a:pt x="54" y="213"/>
                      <a:pt x="54" y="213"/>
                      <a:pt x="54" y="213"/>
                    </a:cubicBezTo>
                    <a:cubicBezTo>
                      <a:pt x="31" y="213"/>
                      <a:pt x="31" y="213"/>
                      <a:pt x="31" y="213"/>
                    </a:cubicBezTo>
                    <a:cubicBezTo>
                      <a:pt x="22" y="21"/>
                      <a:pt x="22" y="21"/>
                      <a:pt x="22" y="21"/>
                    </a:cubicBezTo>
                    <a:lnTo>
                      <a:pt x="63"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sp>
            <p:nvSpPr>
              <p:cNvPr id="83" name="Freeform 524">
                <a:extLst>
                  <a:ext uri="{FF2B5EF4-FFF2-40B4-BE49-F238E27FC236}">
                    <a16:creationId xmlns:a16="http://schemas.microsoft.com/office/drawing/2014/main" id="{89049A16-8339-C558-6F69-45E7451D7974}"/>
                  </a:ext>
                </a:extLst>
              </p:cNvPr>
              <p:cNvSpPr>
                <a:spLocks noEditPoints="1"/>
              </p:cNvSpPr>
              <p:nvPr/>
            </p:nvSpPr>
            <p:spPr bwMode="auto">
              <a:xfrm>
                <a:off x="3476" y="2032"/>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grpSp>
        <p:grpSp>
          <p:nvGrpSpPr>
            <p:cNvPr id="66" name="Group 675">
              <a:extLst>
                <a:ext uri="{FF2B5EF4-FFF2-40B4-BE49-F238E27FC236}">
                  <a16:creationId xmlns:a16="http://schemas.microsoft.com/office/drawing/2014/main" id="{E1919731-5F89-6A0F-E82C-E78CC7EB0759}"/>
                </a:ext>
              </a:extLst>
            </p:cNvPr>
            <p:cNvGrpSpPr>
              <a:grpSpLocks noChangeAspect="1"/>
            </p:cNvGrpSpPr>
            <p:nvPr/>
          </p:nvGrpSpPr>
          <p:grpSpPr bwMode="auto">
            <a:xfrm>
              <a:off x="4284617" y="1982992"/>
              <a:ext cx="265176" cy="265176"/>
              <a:chOff x="6583" y="2681"/>
              <a:chExt cx="340" cy="340"/>
            </a:xfrm>
            <a:solidFill>
              <a:schemeClr val="bg1"/>
            </a:solidFill>
          </p:grpSpPr>
          <p:sp>
            <p:nvSpPr>
              <p:cNvPr id="78" name="Freeform 676">
                <a:extLst>
                  <a:ext uri="{FF2B5EF4-FFF2-40B4-BE49-F238E27FC236}">
                    <a16:creationId xmlns:a16="http://schemas.microsoft.com/office/drawing/2014/main" id="{7518DB38-A4CC-4112-CACF-EE2B977B9DA3}"/>
                  </a:ext>
                </a:extLst>
              </p:cNvPr>
              <p:cNvSpPr>
                <a:spLocks noEditPoints="1"/>
              </p:cNvSpPr>
              <p:nvPr/>
            </p:nvSpPr>
            <p:spPr bwMode="auto">
              <a:xfrm>
                <a:off x="6583" y="268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sp>
            <p:nvSpPr>
              <p:cNvPr id="79" name="Freeform 677">
                <a:extLst>
                  <a:ext uri="{FF2B5EF4-FFF2-40B4-BE49-F238E27FC236}">
                    <a16:creationId xmlns:a16="http://schemas.microsoft.com/office/drawing/2014/main" id="{898EFC43-B4F5-F54E-A010-84B3432D4049}"/>
                  </a:ext>
                </a:extLst>
              </p:cNvPr>
              <p:cNvSpPr>
                <a:spLocks noEditPoints="1"/>
              </p:cNvSpPr>
              <p:nvPr/>
            </p:nvSpPr>
            <p:spPr bwMode="auto">
              <a:xfrm>
                <a:off x="6672" y="2741"/>
                <a:ext cx="162" cy="224"/>
              </a:xfrm>
              <a:custGeom>
                <a:avLst/>
                <a:gdLst>
                  <a:gd name="T0" fmla="*/ 233 w 244"/>
                  <a:gd name="T1" fmla="*/ 122 h 336"/>
                  <a:gd name="T2" fmla="*/ 241 w 244"/>
                  <a:gd name="T3" fmla="*/ 90 h 336"/>
                  <a:gd name="T4" fmla="*/ 218 w 244"/>
                  <a:gd name="T5" fmla="*/ 67 h 336"/>
                  <a:gd name="T6" fmla="*/ 209 w 244"/>
                  <a:gd name="T7" fmla="*/ 35 h 336"/>
                  <a:gd name="T8" fmla="*/ 177 w 244"/>
                  <a:gd name="T9" fmla="*/ 26 h 336"/>
                  <a:gd name="T10" fmla="*/ 154 w 244"/>
                  <a:gd name="T11" fmla="*/ 2 h 336"/>
                  <a:gd name="T12" fmla="*/ 122 w 244"/>
                  <a:gd name="T13" fmla="*/ 11 h 336"/>
                  <a:gd name="T14" fmla="*/ 90 w 244"/>
                  <a:gd name="T15" fmla="*/ 2 h 336"/>
                  <a:gd name="T16" fmla="*/ 66 w 244"/>
                  <a:gd name="T17" fmla="*/ 26 h 336"/>
                  <a:gd name="T18" fmla="*/ 34 w 244"/>
                  <a:gd name="T19" fmla="*/ 35 h 336"/>
                  <a:gd name="T20" fmla="*/ 26 w 244"/>
                  <a:gd name="T21" fmla="*/ 67 h 336"/>
                  <a:gd name="T22" fmla="*/ 2 w 244"/>
                  <a:gd name="T23" fmla="*/ 90 h 336"/>
                  <a:gd name="T24" fmla="*/ 11 w 244"/>
                  <a:gd name="T25" fmla="*/ 122 h 336"/>
                  <a:gd name="T26" fmla="*/ 2 w 244"/>
                  <a:gd name="T27" fmla="*/ 154 h 336"/>
                  <a:gd name="T28" fmla="*/ 26 w 244"/>
                  <a:gd name="T29" fmla="*/ 177 h 336"/>
                  <a:gd name="T30" fmla="*/ 34 w 244"/>
                  <a:gd name="T31" fmla="*/ 209 h 336"/>
                  <a:gd name="T32" fmla="*/ 58 w 244"/>
                  <a:gd name="T33" fmla="*/ 217 h 336"/>
                  <a:gd name="T34" fmla="*/ 63 w 244"/>
                  <a:gd name="T35" fmla="*/ 334 h 336"/>
                  <a:gd name="T36" fmla="*/ 122 w 244"/>
                  <a:gd name="T37" fmla="*/ 305 h 336"/>
                  <a:gd name="T38" fmla="*/ 175 w 244"/>
                  <a:gd name="T39" fmla="*/ 335 h 336"/>
                  <a:gd name="T40" fmla="*/ 186 w 244"/>
                  <a:gd name="T41" fmla="*/ 325 h 336"/>
                  <a:gd name="T42" fmla="*/ 186 w 244"/>
                  <a:gd name="T43" fmla="*/ 217 h 336"/>
                  <a:gd name="T44" fmla="*/ 217 w 244"/>
                  <a:gd name="T45" fmla="*/ 187 h 336"/>
                  <a:gd name="T46" fmla="*/ 225 w 244"/>
                  <a:gd name="T47" fmla="*/ 172 h 336"/>
                  <a:gd name="T48" fmla="*/ 236 w 244"/>
                  <a:gd name="T49" fmla="*/ 131 h 336"/>
                  <a:gd name="T50" fmla="*/ 116 w 244"/>
                  <a:gd name="T51" fmla="*/ 284 h 336"/>
                  <a:gd name="T52" fmla="*/ 79 w 244"/>
                  <a:gd name="T53" fmla="*/ 235 h 336"/>
                  <a:gd name="T54" fmla="*/ 95 w 244"/>
                  <a:gd name="T55" fmla="*/ 242 h 336"/>
                  <a:gd name="T56" fmla="*/ 122 w 244"/>
                  <a:gd name="T57" fmla="*/ 233 h 336"/>
                  <a:gd name="T58" fmla="*/ 154 w 244"/>
                  <a:gd name="T59" fmla="*/ 242 h 336"/>
                  <a:gd name="T60" fmla="*/ 164 w 244"/>
                  <a:gd name="T61" fmla="*/ 306 h 336"/>
                  <a:gd name="T62" fmla="*/ 213 w 244"/>
                  <a:gd name="T63" fmla="*/ 154 h 336"/>
                  <a:gd name="T64" fmla="*/ 195 w 244"/>
                  <a:gd name="T65" fmla="*/ 185 h 336"/>
                  <a:gd name="T66" fmla="*/ 185 w 244"/>
                  <a:gd name="T67" fmla="*/ 195 h 336"/>
                  <a:gd name="T68" fmla="*/ 154 w 244"/>
                  <a:gd name="T69" fmla="*/ 212 h 336"/>
                  <a:gd name="T70" fmla="*/ 148 w 244"/>
                  <a:gd name="T71" fmla="*/ 218 h 336"/>
                  <a:gd name="T72" fmla="*/ 122 w 244"/>
                  <a:gd name="T73" fmla="*/ 212 h 336"/>
                  <a:gd name="T74" fmla="*/ 95 w 244"/>
                  <a:gd name="T75" fmla="*/ 221 h 336"/>
                  <a:gd name="T76" fmla="*/ 77 w 244"/>
                  <a:gd name="T77" fmla="*/ 200 h 336"/>
                  <a:gd name="T78" fmla="*/ 49 w 244"/>
                  <a:gd name="T79" fmla="*/ 195 h 336"/>
                  <a:gd name="T80" fmla="*/ 44 w 244"/>
                  <a:gd name="T81" fmla="*/ 167 h 336"/>
                  <a:gd name="T82" fmla="*/ 23 w 244"/>
                  <a:gd name="T83" fmla="*/ 149 h 336"/>
                  <a:gd name="T84" fmla="*/ 32 w 244"/>
                  <a:gd name="T85" fmla="*/ 122 h 336"/>
                  <a:gd name="T86" fmla="*/ 23 w 244"/>
                  <a:gd name="T87" fmla="*/ 96 h 336"/>
                  <a:gd name="T88" fmla="*/ 44 w 244"/>
                  <a:gd name="T89" fmla="*/ 77 h 336"/>
                  <a:gd name="T90" fmla="*/ 49 w 244"/>
                  <a:gd name="T91" fmla="*/ 50 h 336"/>
                  <a:gd name="T92" fmla="*/ 77 w 244"/>
                  <a:gd name="T93" fmla="*/ 45 h 336"/>
                  <a:gd name="T94" fmla="*/ 95 w 244"/>
                  <a:gd name="T95" fmla="*/ 26 h 336"/>
                  <a:gd name="T96" fmla="*/ 103 w 244"/>
                  <a:gd name="T97" fmla="*/ 28 h 336"/>
                  <a:gd name="T98" fmla="*/ 140 w 244"/>
                  <a:gd name="T99" fmla="*/ 27 h 336"/>
                  <a:gd name="T100" fmla="*/ 154 w 244"/>
                  <a:gd name="T101" fmla="*/ 30 h 336"/>
                  <a:gd name="T102" fmla="*/ 185 w 244"/>
                  <a:gd name="T103" fmla="*/ 48 h 336"/>
                  <a:gd name="T104" fmla="*/ 195 w 244"/>
                  <a:gd name="T105" fmla="*/ 59 h 336"/>
                  <a:gd name="T106" fmla="*/ 213 w 244"/>
                  <a:gd name="T107" fmla="*/ 90 h 336"/>
                  <a:gd name="T108" fmla="*/ 217 w 244"/>
                  <a:gd name="T109" fmla="*/ 104 h 336"/>
                  <a:gd name="T110" fmla="*/ 217 w 244"/>
                  <a:gd name="T111" fmla="*/ 140 h 336"/>
                  <a:gd name="T112" fmla="*/ 213 w 244"/>
                  <a:gd name="T113" fmla="*/ 15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336">
                    <a:moveTo>
                      <a:pt x="236" y="131"/>
                    </a:moveTo>
                    <a:cubicBezTo>
                      <a:pt x="235" y="128"/>
                      <a:pt x="233" y="124"/>
                      <a:pt x="233" y="122"/>
                    </a:cubicBezTo>
                    <a:cubicBezTo>
                      <a:pt x="233" y="120"/>
                      <a:pt x="235" y="116"/>
                      <a:pt x="236" y="113"/>
                    </a:cubicBezTo>
                    <a:cubicBezTo>
                      <a:pt x="239" y="107"/>
                      <a:pt x="244" y="99"/>
                      <a:pt x="241" y="90"/>
                    </a:cubicBezTo>
                    <a:cubicBezTo>
                      <a:pt x="239" y="81"/>
                      <a:pt x="231" y="76"/>
                      <a:pt x="225" y="72"/>
                    </a:cubicBezTo>
                    <a:cubicBezTo>
                      <a:pt x="222" y="70"/>
                      <a:pt x="219" y="68"/>
                      <a:pt x="218" y="67"/>
                    </a:cubicBezTo>
                    <a:cubicBezTo>
                      <a:pt x="217" y="65"/>
                      <a:pt x="217" y="61"/>
                      <a:pt x="217" y="57"/>
                    </a:cubicBezTo>
                    <a:cubicBezTo>
                      <a:pt x="216" y="50"/>
                      <a:pt x="216" y="41"/>
                      <a:pt x="209" y="35"/>
                    </a:cubicBezTo>
                    <a:cubicBezTo>
                      <a:pt x="203" y="28"/>
                      <a:pt x="194" y="28"/>
                      <a:pt x="186" y="27"/>
                    </a:cubicBezTo>
                    <a:cubicBezTo>
                      <a:pt x="183" y="27"/>
                      <a:pt x="179" y="27"/>
                      <a:pt x="177" y="26"/>
                    </a:cubicBezTo>
                    <a:cubicBezTo>
                      <a:pt x="176" y="25"/>
                      <a:pt x="173" y="21"/>
                      <a:pt x="172" y="19"/>
                    </a:cubicBezTo>
                    <a:cubicBezTo>
                      <a:pt x="168" y="13"/>
                      <a:pt x="163" y="5"/>
                      <a:pt x="154" y="2"/>
                    </a:cubicBezTo>
                    <a:cubicBezTo>
                      <a:pt x="145" y="0"/>
                      <a:pt x="137" y="4"/>
                      <a:pt x="130" y="8"/>
                    </a:cubicBezTo>
                    <a:cubicBezTo>
                      <a:pt x="128" y="9"/>
                      <a:pt x="123" y="11"/>
                      <a:pt x="122" y="11"/>
                    </a:cubicBezTo>
                    <a:cubicBezTo>
                      <a:pt x="120" y="11"/>
                      <a:pt x="116" y="9"/>
                      <a:pt x="113" y="8"/>
                    </a:cubicBezTo>
                    <a:cubicBezTo>
                      <a:pt x="106" y="4"/>
                      <a:pt x="98" y="0"/>
                      <a:pt x="90" y="2"/>
                    </a:cubicBezTo>
                    <a:cubicBezTo>
                      <a:pt x="81" y="5"/>
                      <a:pt x="76" y="13"/>
                      <a:pt x="72" y="19"/>
                    </a:cubicBezTo>
                    <a:cubicBezTo>
                      <a:pt x="70" y="21"/>
                      <a:pt x="68" y="25"/>
                      <a:pt x="66" y="26"/>
                    </a:cubicBezTo>
                    <a:cubicBezTo>
                      <a:pt x="65" y="27"/>
                      <a:pt x="60" y="27"/>
                      <a:pt x="57" y="27"/>
                    </a:cubicBezTo>
                    <a:cubicBezTo>
                      <a:pt x="50" y="28"/>
                      <a:pt x="41" y="28"/>
                      <a:pt x="34" y="35"/>
                    </a:cubicBezTo>
                    <a:cubicBezTo>
                      <a:pt x="28" y="41"/>
                      <a:pt x="27" y="50"/>
                      <a:pt x="27" y="57"/>
                    </a:cubicBezTo>
                    <a:cubicBezTo>
                      <a:pt x="27" y="61"/>
                      <a:pt x="26" y="65"/>
                      <a:pt x="26" y="67"/>
                    </a:cubicBezTo>
                    <a:cubicBezTo>
                      <a:pt x="25" y="68"/>
                      <a:pt x="21" y="70"/>
                      <a:pt x="18" y="72"/>
                    </a:cubicBezTo>
                    <a:cubicBezTo>
                      <a:pt x="12" y="76"/>
                      <a:pt x="5" y="81"/>
                      <a:pt x="2" y="90"/>
                    </a:cubicBezTo>
                    <a:cubicBezTo>
                      <a:pt x="0" y="99"/>
                      <a:pt x="4" y="107"/>
                      <a:pt x="7" y="113"/>
                    </a:cubicBezTo>
                    <a:cubicBezTo>
                      <a:pt x="9" y="116"/>
                      <a:pt x="11" y="120"/>
                      <a:pt x="11" y="122"/>
                    </a:cubicBezTo>
                    <a:cubicBezTo>
                      <a:pt x="11" y="124"/>
                      <a:pt x="9" y="128"/>
                      <a:pt x="7" y="131"/>
                    </a:cubicBezTo>
                    <a:cubicBezTo>
                      <a:pt x="4" y="137"/>
                      <a:pt x="0" y="145"/>
                      <a:pt x="2" y="154"/>
                    </a:cubicBezTo>
                    <a:cubicBezTo>
                      <a:pt x="5" y="163"/>
                      <a:pt x="12" y="168"/>
                      <a:pt x="18" y="172"/>
                    </a:cubicBezTo>
                    <a:cubicBezTo>
                      <a:pt x="21" y="174"/>
                      <a:pt x="25" y="176"/>
                      <a:pt x="26" y="177"/>
                    </a:cubicBezTo>
                    <a:cubicBezTo>
                      <a:pt x="26" y="179"/>
                      <a:pt x="27" y="183"/>
                      <a:pt x="27" y="187"/>
                    </a:cubicBezTo>
                    <a:cubicBezTo>
                      <a:pt x="27" y="194"/>
                      <a:pt x="28" y="203"/>
                      <a:pt x="34" y="209"/>
                    </a:cubicBezTo>
                    <a:cubicBezTo>
                      <a:pt x="41" y="216"/>
                      <a:pt x="50" y="216"/>
                      <a:pt x="57" y="217"/>
                    </a:cubicBezTo>
                    <a:cubicBezTo>
                      <a:pt x="57" y="217"/>
                      <a:pt x="57" y="217"/>
                      <a:pt x="58" y="217"/>
                    </a:cubicBezTo>
                    <a:cubicBezTo>
                      <a:pt x="58" y="325"/>
                      <a:pt x="58" y="325"/>
                      <a:pt x="58" y="325"/>
                    </a:cubicBezTo>
                    <a:cubicBezTo>
                      <a:pt x="58" y="329"/>
                      <a:pt x="60" y="332"/>
                      <a:pt x="63" y="334"/>
                    </a:cubicBezTo>
                    <a:cubicBezTo>
                      <a:pt x="66" y="336"/>
                      <a:pt x="71" y="336"/>
                      <a:pt x="74" y="334"/>
                    </a:cubicBezTo>
                    <a:cubicBezTo>
                      <a:pt x="122" y="305"/>
                      <a:pt x="122" y="305"/>
                      <a:pt x="122" y="305"/>
                    </a:cubicBezTo>
                    <a:cubicBezTo>
                      <a:pt x="170" y="334"/>
                      <a:pt x="170" y="334"/>
                      <a:pt x="170" y="334"/>
                    </a:cubicBezTo>
                    <a:cubicBezTo>
                      <a:pt x="171" y="335"/>
                      <a:pt x="173" y="335"/>
                      <a:pt x="175" y="335"/>
                    </a:cubicBezTo>
                    <a:cubicBezTo>
                      <a:pt x="177" y="335"/>
                      <a:pt x="179" y="335"/>
                      <a:pt x="180" y="334"/>
                    </a:cubicBezTo>
                    <a:cubicBezTo>
                      <a:pt x="184" y="332"/>
                      <a:pt x="186" y="329"/>
                      <a:pt x="186" y="325"/>
                    </a:cubicBezTo>
                    <a:cubicBezTo>
                      <a:pt x="186" y="217"/>
                      <a:pt x="186" y="217"/>
                      <a:pt x="186" y="217"/>
                    </a:cubicBezTo>
                    <a:cubicBezTo>
                      <a:pt x="186" y="217"/>
                      <a:pt x="186" y="217"/>
                      <a:pt x="186" y="217"/>
                    </a:cubicBezTo>
                    <a:cubicBezTo>
                      <a:pt x="194" y="216"/>
                      <a:pt x="203" y="216"/>
                      <a:pt x="209" y="209"/>
                    </a:cubicBezTo>
                    <a:cubicBezTo>
                      <a:pt x="216" y="203"/>
                      <a:pt x="216" y="194"/>
                      <a:pt x="217" y="187"/>
                    </a:cubicBezTo>
                    <a:cubicBezTo>
                      <a:pt x="217" y="183"/>
                      <a:pt x="217" y="179"/>
                      <a:pt x="218" y="177"/>
                    </a:cubicBezTo>
                    <a:cubicBezTo>
                      <a:pt x="219" y="176"/>
                      <a:pt x="222" y="174"/>
                      <a:pt x="225" y="172"/>
                    </a:cubicBezTo>
                    <a:cubicBezTo>
                      <a:pt x="231" y="168"/>
                      <a:pt x="239" y="163"/>
                      <a:pt x="241" y="154"/>
                    </a:cubicBezTo>
                    <a:cubicBezTo>
                      <a:pt x="244" y="145"/>
                      <a:pt x="239" y="137"/>
                      <a:pt x="236" y="131"/>
                    </a:cubicBezTo>
                    <a:close/>
                    <a:moveTo>
                      <a:pt x="127" y="284"/>
                    </a:moveTo>
                    <a:cubicBezTo>
                      <a:pt x="124" y="282"/>
                      <a:pt x="120" y="282"/>
                      <a:pt x="116" y="284"/>
                    </a:cubicBezTo>
                    <a:cubicBezTo>
                      <a:pt x="79" y="306"/>
                      <a:pt x="79" y="306"/>
                      <a:pt x="79" y="306"/>
                    </a:cubicBezTo>
                    <a:cubicBezTo>
                      <a:pt x="79" y="235"/>
                      <a:pt x="79" y="235"/>
                      <a:pt x="79" y="235"/>
                    </a:cubicBezTo>
                    <a:cubicBezTo>
                      <a:pt x="82" y="238"/>
                      <a:pt x="85" y="240"/>
                      <a:pt x="90" y="242"/>
                    </a:cubicBezTo>
                    <a:cubicBezTo>
                      <a:pt x="91" y="242"/>
                      <a:pt x="93" y="242"/>
                      <a:pt x="95" y="242"/>
                    </a:cubicBezTo>
                    <a:cubicBezTo>
                      <a:pt x="102" y="242"/>
                      <a:pt x="108" y="239"/>
                      <a:pt x="113" y="236"/>
                    </a:cubicBezTo>
                    <a:cubicBezTo>
                      <a:pt x="116" y="235"/>
                      <a:pt x="120" y="233"/>
                      <a:pt x="122" y="233"/>
                    </a:cubicBezTo>
                    <a:cubicBezTo>
                      <a:pt x="123" y="233"/>
                      <a:pt x="128" y="235"/>
                      <a:pt x="130" y="236"/>
                    </a:cubicBezTo>
                    <a:cubicBezTo>
                      <a:pt x="137" y="240"/>
                      <a:pt x="145" y="244"/>
                      <a:pt x="154" y="242"/>
                    </a:cubicBezTo>
                    <a:cubicBezTo>
                      <a:pt x="158" y="240"/>
                      <a:pt x="161" y="238"/>
                      <a:pt x="164" y="235"/>
                    </a:cubicBezTo>
                    <a:cubicBezTo>
                      <a:pt x="164" y="306"/>
                      <a:pt x="164" y="306"/>
                      <a:pt x="164" y="306"/>
                    </a:cubicBezTo>
                    <a:lnTo>
                      <a:pt x="127" y="284"/>
                    </a:lnTo>
                    <a:close/>
                    <a:moveTo>
                      <a:pt x="213" y="154"/>
                    </a:moveTo>
                    <a:cubicBezTo>
                      <a:pt x="208" y="157"/>
                      <a:pt x="203" y="161"/>
                      <a:pt x="199" y="167"/>
                    </a:cubicBezTo>
                    <a:cubicBezTo>
                      <a:pt x="196" y="173"/>
                      <a:pt x="196" y="179"/>
                      <a:pt x="195" y="185"/>
                    </a:cubicBezTo>
                    <a:cubicBezTo>
                      <a:pt x="195" y="188"/>
                      <a:pt x="195" y="193"/>
                      <a:pt x="194" y="194"/>
                    </a:cubicBezTo>
                    <a:cubicBezTo>
                      <a:pt x="193" y="195"/>
                      <a:pt x="188" y="195"/>
                      <a:pt x="185" y="195"/>
                    </a:cubicBezTo>
                    <a:cubicBezTo>
                      <a:pt x="179" y="195"/>
                      <a:pt x="172" y="195"/>
                      <a:pt x="166" y="199"/>
                    </a:cubicBezTo>
                    <a:cubicBezTo>
                      <a:pt x="161" y="202"/>
                      <a:pt x="157" y="207"/>
                      <a:pt x="154" y="212"/>
                    </a:cubicBezTo>
                    <a:cubicBezTo>
                      <a:pt x="152" y="215"/>
                      <a:pt x="149" y="218"/>
                      <a:pt x="148" y="218"/>
                    </a:cubicBezTo>
                    <a:cubicBezTo>
                      <a:pt x="148" y="218"/>
                      <a:pt x="148" y="218"/>
                      <a:pt x="148" y="218"/>
                    </a:cubicBezTo>
                    <a:cubicBezTo>
                      <a:pt x="147" y="218"/>
                      <a:pt x="143" y="217"/>
                      <a:pt x="140" y="216"/>
                    </a:cubicBezTo>
                    <a:cubicBezTo>
                      <a:pt x="135" y="213"/>
                      <a:pt x="129" y="212"/>
                      <a:pt x="122" y="212"/>
                    </a:cubicBezTo>
                    <a:cubicBezTo>
                      <a:pt x="115" y="212"/>
                      <a:pt x="109" y="215"/>
                      <a:pt x="103" y="217"/>
                    </a:cubicBezTo>
                    <a:cubicBezTo>
                      <a:pt x="101" y="219"/>
                      <a:pt x="96" y="221"/>
                      <a:pt x="95" y="221"/>
                    </a:cubicBezTo>
                    <a:cubicBezTo>
                      <a:pt x="94" y="220"/>
                      <a:pt x="91" y="216"/>
                      <a:pt x="90" y="214"/>
                    </a:cubicBezTo>
                    <a:cubicBezTo>
                      <a:pt x="86" y="209"/>
                      <a:pt x="83" y="203"/>
                      <a:pt x="77" y="200"/>
                    </a:cubicBezTo>
                    <a:cubicBezTo>
                      <a:pt x="71" y="196"/>
                      <a:pt x="64" y="196"/>
                      <a:pt x="58" y="196"/>
                    </a:cubicBezTo>
                    <a:cubicBezTo>
                      <a:pt x="55" y="195"/>
                      <a:pt x="50" y="195"/>
                      <a:pt x="49" y="195"/>
                    </a:cubicBezTo>
                    <a:cubicBezTo>
                      <a:pt x="49" y="193"/>
                      <a:pt x="48" y="188"/>
                      <a:pt x="48" y="185"/>
                    </a:cubicBezTo>
                    <a:cubicBezTo>
                      <a:pt x="48" y="179"/>
                      <a:pt x="47" y="173"/>
                      <a:pt x="44" y="167"/>
                    </a:cubicBezTo>
                    <a:cubicBezTo>
                      <a:pt x="41" y="161"/>
                      <a:pt x="35" y="157"/>
                      <a:pt x="30" y="154"/>
                    </a:cubicBezTo>
                    <a:cubicBezTo>
                      <a:pt x="28" y="152"/>
                      <a:pt x="23" y="150"/>
                      <a:pt x="23" y="149"/>
                    </a:cubicBezTo>
                    <a:cubicBezTo>
                      <a:pt x="23" y="147"/>
                      <a:pt x="25" y="143"/>
                      <a:pt x="26" y="140"/>
                    </a:cubicBezTo>
                    <a:cubicBezTo>
                      <a:pt x="29" y="135"/>
                      <a:pt x="32" y="129"/>
                      <a:pt x="32" y="122"/>
                    </a:cubicBezTo>
                    <a:cubicBezTo>
                      <a:pt x="32" y="115"/>
                      <a:pt x="29" y="109"/>
                      <a:pt x="26" y="104"/>
                    </a:cubicBezTo>
                    <a:cubicBezTo>
                      <a:pt x="25" y="101"/>
                      <a:pt x="23" y="97"/>
                      <a:pt x="23" y="96"/>
                    </a:cubicBezTo>
                    <a:cubicBezTo>
                      <a:pt x="23" y="94"/>
                      <a:pt x="28" y="92"/>
                      <a:pt x="30" y="90"/>
                    </a:cubicBezTo>
                    <a:cubicBezTo>
                      <a:pt x="35" y="87"/>
                      <a:pt x="41" y="83"/>
                      <a:pt x="44" y="77"/>
                    </a:cubicBezTo>
                    <a:cubicBezTo>
                      <a:pt x="47" y="71"/>
                      <a:pt x="48" y="65"/>
                      <a:pt x="48" y="59"/>
                    </a:cubicBezTo>
                    <a:cubicBezTo>
                      <a:pt x="48" y="56"/>
                      <a:pt x="49" y="51"/>
                      <a:pt x="49" y="50"/>
                    </a:cubicBezTo>
                    <a:cubicBezTo>
                      <a:pt x="50" y="49"/>
                      <a:pt x="55" y="49"/>
                      <a:pt x="58" y="49"/>
                    </a:cubicBezTo>
                    <a:cubicBezTo>
                      <a:pt x="64" y="49"/>
                      <a:pt x="71" y="49"/>
                      <a:pt x="77" y="45"/>
                    </a:cubicBezTo>
                    <a:cubicBezTo>
                      <a:pt x="83" y="42"/>
                      <a:pt x="86" y="37"/>
                      <a:pt x="90" y="32"/>
                    </a:cubicBezTo>
                    <a:cubicBezTo>
                      <a:pt x="91" y="29"/>
                      <a:pt x="94" y="26"/>
                      <a:pt x="95" y="26"/>
                    </a:cubicBezTo>
                    <a:cubicBezTo>
                      <a:pt x="95" y="26"/>
                      <a:pt x="95" y="26"/>
                      <a:pt x="95" y="26"/>
                    </a:cubicBezTo>
                    <a:cubicBezTo>
                      <a:pt x="96" y="26"/>
                      <a:pt x="101" y="27"/>
                      <a:pt x="103" y="28"/>
                    </a:cubicBezTo>
                    <a:cubicBezTo>
                      <a:pt x="109" y="31"/>
                      <a:pt x="115" y="32"/>
                      <a:pt x="122" y="32"/>
                    </a:cubicBezTo>
                    <a:cubicBezTo>
                      <a:pt x="129" y="32"/>
                      <a:pt x="135" y="29"/>
                      <a:pt x="140" y="27"/>
                    </a:cubicBezTo>
                    <a:cubicBezTo>
                      <a:pt x="143" y="25"/>
                      <a:pt x="147" y="23"/>
                      <a:pt x="148" y="23"/>
                    </a:cubicBezTo>
                    <a:cubicBezTo>
                      <a:pt x="149" y="24"/>
                      <a:pt x="152" y="28"/>
                      <a:pt x="154" y="30"/>
                    </a:cubicBezTo>
                    <a:cubicBezTo>
                      <a:pt x="157" y="35"/>
                      <a:pt x="161" y="41"/>
                      <a:pt x="166" y="44"/>
                    </a:cubicBezTo>
                    <a:cubicBezTo>
                      <a:pt x="172" y="48"/>
                      <a:pt x="179" y="48"/>
                      <a:pt x="185" y="48"/>
                    </a:cubicBezTo>
                    <a:cubicBezTo>
                      <a:pt x="188" y="49"/>
                      <a:pt x="193" y="49"/>
                      <a:pt x="194" y="49"/>
                    </a:cubicBezTo>
                    <a:cubicBezTo>
                      <a:pt x="195" y="51"/>
                      <a:pt x="195" y="56"/>
                      <a:pt x="195" y="59"/>
                    </a:cubicBezTo>
                    <a:cubicBezTo>
                      <a:pt x="196" y="65"/>
                      <a:pt x="196" y="71"/>
                      <a:pt x="199" y="77"/>
                    </a:cubicBezTo>
                    <a:cubicBezTo>
                      <a:pt x="203" y="83"/>
                      <a:pt x="208" y="87"/>
                      <a:pt x="213" y="90"/>
                    </a:cubicBezTo>
                    <a:cubicBezTo>
                      <a:pt x="216" y="92"/>
                      <a:pt x="220" y="94"/>
                      <a:pt x="221" y="95"/>
                    </a:cubicBezTo>
                    <a:cubicBezTo>
                      <a:pt x="221" y="97"/>
                      <a:pt x="218" y="101"/>
                      <a:pt x="217" y="104"/>
                    </a:cubicBezTo>
                    <a:cubicBezTo>
                      <a:pt x="214" y="109"/>
                      <a:pt x="211" y="115"/>
                      <a:pt x="211" y="122"/>
                    </a:cubicBezTo>
                    <a:cubicBezTo>
                      <a:pt x="211" y="129"/>
                      <a:pt x="214" y="135"/>
                      <a:pt x="217" y="140"/>
                    </a:cubicBezTo>
                    <a:cubicBezTo>
                      <a:pt x="218" y="143"/>
                      <a:pt x="221" y="147"/>
                      <a:pt x="221" y="148"/>
                    </a:cubicBezTo>
                    <a:cubicBezTo>
                      <a:pt x="220" y="150"/>
                      <a:pt x="216" y="152"/>
                      <a:pt x="213" y="1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sp>
            <p:nvSpPr>
              <p:cNvPr id="80" name="Freeform 678">
                <a:extLst>
                  <a:ext uri="{FF2B5EF4-FFF2-40B4-BE49-F238E27FC236}">
                    <a16:creationId xmlns:a16="http://schemas.microsoft.com/office/drawing/2014/main" id="{841A8D1A-974F-EED2-1A58-232A6A8222EA}"/>
                  </a:ext>
                </a:extLst>
              </p:cNvPr>
              <p:cNvSpPr>
                <a:spLocks noEditPoints="1"/>
              </p:cNvSpPr>
              <p:nvPr/>
            </p:nvSpPr>
            <p:spPr bwMode="auto">
              <a:xfrm>
                <a:off x="6717" y="2787"/>
                <a:ext cx="71" cy="71"/>
              </a:xfrm>
              <a:custGeom>
                <a:avLst/>
                <a:gdLst>
                  <a:gd name="T0" fmla="*/ 54 w 107"/>
                  <a:gd name="T1" fmla="*/ 0 h 106"/>
                  <a:gd name="T2" fmla="*/ 0 w 107"/>
                  <a:gd name="T3" fmla="*/ 53 h 106"/>
                  <a:gd name="T4" fmla="*/ 54 w 107"/>
                  <a:gd name="T5" fmla="*/ 106 h 106"/>
                  <a:gd name="T6" fmla="*/ 107 w 107"/>
                  <a:gd name="T7" fmla="*/ 53 h 106"/>
                  <a:gd name="T8" fmla="*/ 54 w 107"/>
                  <a:gd name="T9" fmla="*/ 0 h 106"/>
                  <a:gd name="T10" fmla="*/ 54 w 107"/>
                  <a:gd name="T11" fmla="*/ 85 h 106"/>
                  <a:gd name="T12" fmla="*/ 22 w 107"/>
                  <a:gd name="T13" fmla="*/ 53 h 106"/>
                  <a:gd name="T14" fmla="*/ 54 w 107"/>
                  <a:gd name="T15" fmla="*/ 21 h 106"/>
                  <a:gd name="T16" fmla="*/ 86 w 107"/>
                  <a:gd name="T17" fmla="*/ 53 h 106"/>
                  <a:gd name="T18" fmla="*/ 54 w 107"/>
                  <a:gd name="T19" fmla="*/ 8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4" y="0"/>
                    </a:moveTo>
                    <a:cubicBezTo>
                      <a:pt x="24" y="0"/>
                      <a:pt x="0" y="24"/>
                      <a:pt x="0" y="53"/>
                    </a:cubicBezTo>
                    <a:cubicBezTo>
                      <a:pt x="0" y="82"/>
                      <a:pt x="24" y="106"/>
                      <a:pt x="54" y="106"/>
                    </a:cubicBezTo>
                    <a:cubicBezTo>
                      <a:pt x="83" y="106"/>
                      <a:pt x="107" y="82"/>
                      <a:pt x="107" y="53"/>
                    </a:cubicBezTo>
                    <a:cubicBezTo>
                      <a:pt x="107" y="24"/>
                      <a:pt x="83" y="0"/>
                      <a:pt x="54" y="0"/>
                    </a:cubicBezTo>
                    <a:close/>
                    <a:moveTo>
                      <a:pt x="54" y="85"/>
                    </a:moveTo>
                    <a:cubicBezTo>
                      <a:pt x="36" y="85"/>
                      <a:pt x="22" y="71"/>
                      <a:pt x="22" y="53"/>
                    </a:cubicBezTo>
                    <a:cubicBezTo>
                      <a:pt x="22" y="35"/>
                      <a:pt x="36" y="21"/>
                      <a:pt x="54" y="21"/>
                    </a:cubicBezTo>
                    <a:cubicBezTo>
                      <a:pt x="71" y="21"/>
                      <a:pt x="86" y="35"/>
                      <a:pt x="86" y="53"/>
                    </a:cubicBezTo>
                    <a:cubicBezTo>
                      <a:pt x="86" y="71"/>
                      <a:pt x="71" y="85"/>
                      <a:pt x="54" y="8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grpSp>
        <p:grpSp>
          <p:nvGrpSpPr>
            <p:cNvPr id="67" name="Group 405">
              <a:extLst>
                <a:ext uri="{FF2B5EF4-FFF2-40B4-BE49-F238E27FC236}">
                  <a16:creationId xmlns:a16="http://schemas.microsoft.com/office/drawing/2014/main" id="{A92D904D-E130-3143-2A65-C1631855AD8F}"/>
                </a:ext>
              </a:extLst>
            </p:cNvPr>
            <p:cNvGrpSpPr>
              <a:grpSpLocks noChangeAspect="1"/>
            </p:cNvGrpSpPr>
            <p:nvPr/>
          </p:nvGrpSpPr>
          <p:grpSpPr bwMode="auto">
            <a:xfrm>
              <a:off x="9228036" y="1982992"/>
              <a:ext cx="265956" cy="265176"/>
              <a:chOff x="1918" y="1516"/>
              <a:chExt cx="341" cy="340"/>
            </a:xfrm>
            <a:solidFill>
              <a:schemeClr val="bg1"/>
            </a:solidFill>
          </p:grpSpPr>
          <p:sp>
            <p:nvSpPr>
              <p:cNvPr id="75" name="Freeform 406">
                <a:extLst>
                  <a:ext uri="{FF2B5EF4-FFF2-40B4-BE49-F238E27FC236}">
                    <a16:creationId xmlns:a16="http://schemas.microsoft.com/office/drawing/2014/main" id="{6454575B-F5B5-22CD-B3A8-2D90361E0658}"/>
                  </a:ext>
                </a:extLst>
              </p:cNvPr>
              <p:cNvSpPr>
                <a:spLocks noEditPoints="1"/>
              </p:cNvSpPr>
              <p:nvPr/>
            </p:nvSpPr>
            <p:spPr bwMode="auto">
              <a:xfrm>
                <a:off x="1918" y="1516"/>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sp>
            <p:nvSpPr>
              <p:cNvPr id="76" name="Freeform 407">
                <a:extLst>
                  <a:ext uri="{FF2B5EF4-FFF2-40B4-BE49-F238E27FC236}">
                    <a16:creationId xmlns:a16="http://schemas.microsoft.com/office/drawing/2014/main" id="{518834C0-EC80-A4E8-9104-C9A704D5762B}"/>
                  </a:ext>
                </a:extLst>
              </p:cNvPr>
              <p:cNvSpPr>
                <a:spLocks/>
              </p:cNvSpPr>
              <p:nvPr/>
            </p:nvSpPr>
            <p:spPr bwMode="auto">
              <a:xfrm>
                <a:off x="2102" y="1608"/>
                <a:ext cx="64" cy="63"/>
              </a:xfrm>
              <a:custGeom>
                <a:avLst/>
                <a:gdLst>
                  <a:gd name="T0" fmla="*/ 90 w 97"/>
                  <a:gd name="T1" fmla="*/ 1 h 96"/>
                  <a:gd name="T2" fmla="*/ 86 w 97"/>
                  <a:gd name="T3" fmla="*/ 0 h 96"/>
                  <a:gd name="T4" fmla="*/ 22 w 97"/>
                  <a:gd name="T5" fmla="*/ 0 h 96"/>
                  <a:gd name="T6" fmla="*/ 12 w 97"/>
                  <a:gd name="T7" fmla="*/ 11 h 96"/>
                  <a:gd name="T8" fmla="*/ 22 w 97"/>
                  <a:gd name="T9" fmla="*/ 22 h 96"/>
                  <a:gd name="T10" fmla="*/ 61 w 97"/>
                  <a:gd name="T11" fmla="*/ 22 h 96"/>
                  <a:gd name="T12" fmla="*/ 4 w 97"/>
                  <a:gd name="T13" fmla="*/ 78 h 96"/>
                  <a:gd name="T14" fmla="*/ 4 w 97"/>
                  <a:gd name="T15" fmla="*/ 93 h 96"/>
                  <a:gd name="T16" fmla="*/ 12 w 97"/>
                  <a:gd name="T17" fmla="*/ 96 h 96"/>
                  <a:gd name="T18" fmla="*/ 19 w 97"/>
                  <a:gd name="T19" fmla="*/ 93 h 96"/>
                  <a:gd name="T20" fmla="*/ 76 w 97"/>
                  <a:gd name="T21" fmla="*/ 37 h 96"/>
                  <a:gd name="T22" fmla="*/ 76 w 97"/>
                  <a:gd name="T23" fmla="*/ 75 h 96"/>
                  <a:gd name="T24" fmla="*/ 86 w 97"/>
                  <a:gd name="T25" fmla="*/ 86 h 96"/>
                  <a:gd name="T26" fmla="*/ 97 w 97"/>
                  <a:gd name="T27" fmla="*/ 75 h 96"/>
                  <a:gd name="T28" fmla="*/ 97 w 97"/>
                  <a:gd name="T29" fmla="*/ 11 h 96"/>
                  <a:gd name="T30" fmla="*/ 90 w 97"/>
                  <a:gd name="T31"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7" h="96">
                    <a:moveTo>
                      <a:pt x="90" y="1"/>
                    </a:moveTo>
                    <a:cubicBezTo>
                      <a:pt x="89" y="1"/>
                      <a:pt x="88" y="0"/>
                      <a:pt x="86" y="0"/>
                    </a:cubicBezTo>
                    <a:cubicBezTo>
                      <a:pt x="22" y="0"/>
                      <a:pt x="22" y="0"/>
                      <a:pt x="22" y="0"/>
                    </a:cubicBezTo>
                    <a:cubicBezTo>
                      <a:pt x="16" y="0"/>
                      <a:pt x="12" y="5"/>
                      <a:pt x="12" y="11"/>
                    </a:cubicBezTo>
                    <a:cubicBezTo>
                      <a:pt x="12" y="17"/>
                      <a:pt x="16" y="22"/>
                      <a:pt x="22" y="22"/>
                    </a:cubicBezTo>
                    <a:cubicBezTo>
                      <a:pt x="61" y="22"/>
                      <a:pt x="61" y="22"/>
                      <a:pt x="61" y="22"/>
                    </a:cubicBezTo>
                    <a:cubicBezTo>
                      <a:pt x="4" y="78"/>
                      <a:pt x="4" y="78"/>
                      <a:pt x="4" y="78"/>
                    </a:cubicBezTo>
                    <a:cubicBezTo>
                      <a:pt x="0" y="82"/>
                      <a:pt x="0" y="89"/>
                      <a:pt x="4" y="93"/>
                    </a:cubicBezTo>
                    <a:cubicBezTo>
                      <a:pt x="6" y="95"/>
                      <a:pt x="9" y="96"/>
                      <a:pt x="12" y="96"/>
                    </a:cubicBezTo>
                    <a:cubicBezTo>
                      <a:pt x="14" y="96"/>
                      <a:pt x="17" y="95"/>
                      <a:pt x="19" y="93"/>
                    </a:cubicBezTo>
                    <a:cubicBezTo>
                      <a:pt x="76" y="37"/>
                      <a:pt x="76" y="37"/>
                      <a:pt x="76" y="37"/>
                    </a:cubicBezTo>
                    <a:cubicBezTo>
                      <a:pt x="76" y="75"/>
                      <a:pt x="76" y="75"/>
                      <a:pt x="76" y="75"/>
                    </a:cubicBezTo>
                    <a:cubicBezTo>
                      <a:pt x="76" y="81"/>
                      <a:pt x="80" y="86"/>
                      <a:pt x="86" y="86"/>
                    </a:cubicBezTo>
                    <a:cubicBezTo>
                      <a:pt x="92" y="86"/>
                      <a:pt x="97" y="81"/>
                      <a:pt x="97" y="75"/>
                    </a:cubicBezTo>
                    <a:cubicBezTo>
                      <a:pt x="97" y="11"/>
                      <a:pt x="97" y="11"/>
                      <a:pt x="97" y="11"/>
                    </a:cubicBezTo>
                    <a:cubicBezTo>
                      <a:pt x="97" y="7"/>
                      <a:pt x="94" y="3"/>
                      <a:pt x="9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sp>
            <p:nvSpPr>
              <p:cNvPr id="77" name="Freeform 408">
                <a:extLst>
                  <a:ext uri="{FF2B5EF4-FFF2-40B4-BE49-F238E27FC236}">
                    <a16:creationId xmlns:a16="http://schemas.microsoft.com/office/drawing/2014/main" id="{DA6CF57C-7783-4893-CFF4-D1F3FCD33F3D}"/>
                  </a:ext>
                </a:extLst>
              </p:cNvPr>
              <p:cNvSpPr>
                <a:spLocks/>
              </p:cNvSpPr>
              <p:nvPr/>
            </p:nvSpPr>
            <p:spPr bwMode="auto">
              <a:xfrm>
                <a:off x="2010" y="1699"/>
                <a:ext cx="65" cy="65"/>
              </a:xfrm>
              <a:custGeom>
                <a:avLst/>
                <a:gdLst>
                  <a:gd name="T0" fmla="*/ 78 w 97"/>
                  <a:gd name="T1" fmla="*/ 4 h 97"/>
                  <a:gd name="T2" fmla="*/ 22 w 97"/>
                  <a:gd name="T3" fmla="*/ 61 h 97"/>
                  <a:gd name="T4" fmla="*/ 22 w 97"/>
                  <a:gd name="T5" fmla="*/ 22 h 97"/>
                  <a:gd name="T6" fmla="*/ 11 w 97"/>
                  <a:gd name="T7" fmla="*/ 12 h 97"/>
                  <a:gd name="T8" fmla="*/ 0 w 97"/>
                  <a:gd name="T9" fmla="*/ 22 h 97"/>
                  <a:gd name="T10" fmla="*/ 0 w 97"/>
                  <a:gd name="T11" fmla="*/ 86 h 97"/>
                  <a:gd name="T12" fmla="*/ 11 w 97"/>
                  <a:gd name="T13" fmla="*/ 97 h 97"/>
                  <a:gd name="T14" fmla="*/ 75 w 97"/>
                  <a:gd name="T15" fmla="*/ 97 h 97"/>
                  <a:gd name="T16" fmla="*/ 86 w 97"/>
                  <a:gd name="T17" fmla="*/ 86 h 97"/>
                  <a:gd name="T18" fmla="*/ 75 w 97"/>
                  <a:gd name="T19" fmla="*/ 76 h 97"/>
                  <a:gd name="T20" fmla="*/ 37 w 97"/>
                  <a:gd name="T21" fmla="*/ 76 h 97"/>
                  <a:gd name="T22" fmla="*/ 93 w 97"/>
                  <a:gd name="T23" fmla="*/ 19 h 97"/>
                  <a:gd name="T24" fmla="*/ 93 w 97"/>
                  <a:gd name="T25" fmla="*/ 4 h 97"/>
                  <a:gd name="T26" fmla="*/ 78 w 97"/>
                  <a:gd name="T27"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 h="97">
                    <a:moveTo>
                      <a:pt x="78" y="4"/>
                    </a:moveTo>
                    <a:cubicBezTo>
                      <a:pt x="22" y="61"/>
                      <a:pt x="22" y="61"/>
                      <a:pt x="22" y="61"/>
                    </a:cubicBezTo>
                    <a:cubicBezTo>
                      <a:pt x="22" y="22"/>
                      <a:pt x="22" y="22"/>
                      <a:pt x="22" y="22"/>
                    </a:cubicBezTo>
                    <a:cubicBezTo>
                      <a:pt x="22" y="16"/>
                      <a:pt x="17" y="12"/>
                      <a:pt x="11" y="12"/>
                    </a:cubicBezTo>
                    <a:cubicBezTo>
                      <a:pt x="5" y="12"/>
                      <a:pt x="0" y="16"/>
                      <a:pt x="0" y="22"/>
                    </a:cubicBezTo>
                    <a:cubicBezTo>
                      <a:pt x="0" y="86"/>
                      <a:pt x="0" y="86"/>
                      <a:pt x="0" y="86"/>
                    </a:cubicBezTo>
                    <a:cubicBezTo>
                      <a:pt x="0" y="92"/>
                      <a:pt x="5" y="97"/>
                      <a:pt x="11" y="97"/>
                    </a:cubicBezTo>
                    <a:cubicBezTo>
                      <a:pt x="75" y="97"/>
                      <a:pt x="75" y="97"/>
                      <a:pt x="75" y="97"/>
                    </a:cubicBezTo>
                    <a:cubicBezTo>
                      <a:pt x="81" y="97"/>
                      <a:pt x="86" y="92"/>
                      <a:pt x="86" y="86"/>
                    </a:cubicBezTo>
                    <a:cubicBezTo>
                      <a:pt x="86" y="80"/>
                      <a:pt x="81" y="76"/>
                      <a:pt x="75" y="76"/>
                    </a:cubicBezTo>
                    <a:cubicBezTo>
                      <a:pt x="37" y="76"/>
                      <a:pt x="37" y="76"/>
                      <a:pt x="37" y="76"/>
                    </a:cubicBezTo>
                    <a:cubicBezTo>
                      <a:pt x="93" y="19"/>
                      <a:pt x="93" y="19"/>
                      <a:pt x="93" y="19"/>
                    </a:cubicBezTo>
                    <a:cubicBezTo>
                      <a:pt x="97" y="15"/>
                      <a:pt x="97" y="8"/>
                      <a:pt x="93" y="4"/>
                    </a:cubicBezTo>
                    <a:cubicBezTo>
                      <a:pt x="89" y="0"/>
                      <a:pt x="82" y="0"/>
                      <a:pt x="78" y="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grpSp>
        <p:grpSp>
          <p:nvGrpSpPr>
            <p:cNvPr id="68" name="Group 262">
              <a:extLst>
                <a:ext uri="{FF2B5EF4-FFF2-40B4-BE49-F238E27FC236}">
                  <a16:creationId xmlns:a16="http://schemas.microsoft.com/office/drawing/2014/main" id="{02C67758-DAEC-8C4C-795B-E88FD1B671F7}"/>
                </a:ext>
              </a:extLst>
            </p:cNvPr>
            <p:cNvGrpSpPr>
              <a:grpSpLocks noChangeAspect="1"/>
            </p:cNvGrpSpPr>
            <p:nvPr/>
          </p:nvGrpSpPr>
          <p:grpSpPr bwMode="auto">
            <a:xfrm>
              <a:off x="7577524" y="1982992"/>
              <a:ext cx="265176" cy="265176"/>
              <a:chOff x="5792" y="779"/>
              <a:chExt cx="340" cy="340"/>
            </a:xfrm>
            <a:solidFill>
              <a:schemeClr val="bg1"/>
            </a:solidFill>
          </p:grpSpPr>
          <p:sp>
            <p:nvSpPr>
              <p:cNvPr id="73" name="Freeform 263">
                <a:extLst>
                  <a:ext uri="{FF2B5EF4-FFF2-40B4-BE49-F238E27FC236}">
                    <a16:creationId xmlns:a16="http://schemas.microsoft.com/office/drawing/2014/main" id="{02588860-7919-18E1-85BC-701E0E2478AB}"/>
                  </a:ext>
                </a:extLst>
              </p:cNvPr>
              <p:cNvSpPr>
                <a:spLocks noEditPoints="1"/>
              </p:cNvSpPr>
              <p:nvPr/>
            </p:nvSpPr>
            <p:spPr bwMode="auto">
              <a:xfrm>
                <a:off x="5870" y="843"/>
                <a:ext cx="184" cy="212"/>
              </a:xfrm>
              <a:custGeom>
                <a:avLst/>
                <a:gdLst>
                  <a:gd name="T0" fmla="*/ 267 w 277"/>
                  <a:gd name="T1" fmla="*/ 128 h 320"/>
                  <a:gd name="T2" fmla="*/ 149 w 277"/>
                  <a:gd name="T3" fmla="*/ 128 h 320"/>
                  <a:gd name="T4" fmla="*/ 149 w 277"/>
                  <a:gd name="T5" fmla="*/ 106 h 320"/>
                  <a:gd name="T6" fmla="*/ 224 w 277"/>
                  <a:gd name="T7" fmla="*/ 106 h 320"/>
                  <a:gd name="T8" fmla="*/ 230 w 277"/>
                  <a:gd name="T9" fmla="*/ 104 h 320"/>
                  <a:gd name="T10" fmla="*/ 273 w 277"/>
                  <a:gd name="T11" fmla="*/ 72 h 320"/>
                  <a:gd name="T12" fmla="*/ 277 w 277"/>
                  <a:gd name="T13" fmla="*/ 64 h 320"/>
                  <a:gd name="T14" fmla="*/ 273 w 277"/>
                  <a:gd name="T15" fmla="*/ 55 h 320"/>
                  <a:gd name="T16" fmla="*/ 230 w 277"/>
                  <a:gd name="T17" fmla="*/ 23 h 320"/>
                  <a:gd name="T18" fmla="*/ 224 w 277"/>
                  <a:gd name="T19" fmla="*/ 21 h 320"/>
                  <a:gd name="T20" fmla="*/ 149 w 277"/>
                  <a:gd name="T21" fmla="*/ 21 h 320"/>
                  <a:gd name="T22" fmla="*/ 149 w 277"/>
                  <a:gd name="T23" fmla="*/ 10 h 320"/>
                  <a:gd name="T24" fmla="*/ 139 w 277"/>
                  <a:gd name="T25" fmla="*/ 0 h 320"/>
                  <a:gd name="T26" fmla="*/ 128 w 277"/>
                  <a:gd name="T27" fmla="*/ 10 h 320"/>
                  <a:gd name="T28" fmla="*/ 128 w 277"/>
                  <a:gd name="T29" fmla="*/ 21 h 320"/>
                  <a:gd name="T30" fmla="*/ 11 w 277"/>
                  <a:gd name="T31" fmla="*/ 21 h 320"/>
                  <a:gd name="T32" fmla="*/ 0 w 277"/>
                  <a:gd name="T33" fmla="*/ 32 h 320"/>
                  <a:gd name="T34" fmla="*/ 0 w 277"/>
                  <a:gd name="T35" fmla="*/ 96 h 320"/>
                  <a:gd name="T36" fmla="*/ 11 w 277"/>
                  <a:gd name="T37" fmla="*/ 106 h 320"/>
                  <a:gd name="T38" fmla="*/ 128 w 277"/>
                  <a:gd name="T39" fmla="*/ 106 h 320"/>
                  <a:gd name="T40" fmla="*/ 128 w 277"/>
                  <a:gd name="T41" fmla="*/ 128 h 320"/>
                  <a:gd name="T42" fmla="*/ 53 w 277"/>
                  <a:gd name="T43" fmla="*/ 128 h 320"/>
                  <a:gd name="T44" fmla="*/ 47 w 277"/>
                  <a:gd name="T45" fmla="*/ 130 h 320"/>
                  <a:gd name="T46" fmla="*/ 4 w 277"/>
                  <a:gd name="T47" fmla="*/ 162 h 320"/>
                  <a:gd name="T48" fmla="*/ 0 w 277"/>
                  <a:gd name="T49" fmla="*/ 170 h 320"/>
                  <a:gd name="T50" fmla="*/ 4 w 277"/>
                  <a:gd name="T51" fmla="*/ 179 h 320"/>
                  <a:gd name="T52" fmla="*/ 47 w 277"/>
                  <a:gd name="T53" fmla="*/ 211 h 320"/>
                  <a:gd name="T54" fmla="*/ 53 w 277"/>
                  <a:gd name="T55" fmla="*/ 213 h 320"/>
                  <a:gd name="T56" fmla="*/ 128 w 277"/>
                  <a:gd name="T57" fmla="*/ 213 h 320"/>
                  <a:gd name="T58" fmla="*/ 128 w 277"/>
                  <a:gd name="T59" fmla="*/ 309 h 320"/>
                  <a:gd name="T60" fmla="*/ 139 w 277"/>
                  <a:gd name="T61" fmla="*/ 320 h 320"/>
                  <a:gd name="T62" fmla="*/ 149 w 277"/>
                  <a:gd name="T63" fmla="*/ 309 h 320"/>
                  <a:gd name="T64" fmla="*/ 149 w 277"/>
                  <a:gd name="T65" fmla="*/ 213 h 320"/>
                  <a:gd name="T66" fmla="*/ 267 w 277"/>
                  <a:gd name="T67" fmla="*/ 213 h 320"/>
                  <a:gd name="T68" fmla="*/ 277 w 277"/>
                  <a:gd name="T69" fmla="*/ 202 h 320"/>
                  <a:gd name="T70" fmla="*/ 277 w 277"/>
                  <a:gd name="T71" fmla="*/ 138 h 320"/>
                  <a:gd name="T72" fmla="*/ 267 w 277"/>
                  <a:gd name="T73" fmla="*/ 128 h 320"/>
                  <a:gd name="T74" fmla="*/ 21 w 277"/>
                  <a:gd name="T75" fmla="*/ 85 h 320"/>
                  <a:gd name="T76" fmla="*/ 21 w 277"/>
                  <a:gd name="T77" fmla="*/ 42 h 320"/>
                  <a:gd name="T78" fmla="*/ 220 w 277"/>
                  <a:gd name="T79" fmla="*/ 42 h 320"/>
                  <a:gd name="T80" fmla="*/ 249 w 277"/>
                  <a:gd name="T81" fmla="*/ 64 h 320"/>
                  <a:gd name="T82" fmla="*/ 220 w 277"/>
                  <a:gd name="T83" fmla="*/ 85 h 320"/>
                  <a:gd name="T84" fmla="*/ 21 w 277"/>
                  <a:gd name="T85" fmla="*/ 85 h 320"/>
                  <a:gd name="T86" fmla="*/ 256 w 277"/>
                  <a:gd name="T87" fmla="*/ 192 h 320"/>
                  <a:gd name="T88" fmla="*/ 57 w 277"/>
                  <a:gd name="T89" fmla="*/ 192 h 320"/>
                  <a:gd name="T90" fmla="*/ 28 w 277"/>
                  <a:gd name="T91" fmla="*/ 170 h 320"/>
                  <a:gd name="T92" fmla="*/ 57 w 277"/>
                  <a:gd name="T93" fmla="*/ 149 h 320"/>
                  <a:gd name="T94" fmla="*/ 256 w 277"/>
                  <a:gd name="T95" fmla="*/ 149 h 320"/>
                  <a:gd name="T96" fmla="*/ 256 w 277"/>
                  <a:gd name="T97"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7" h="320">
                    <a:moveTo>
                      <a:pt x="267" y="128"/>
                    </a:moveTo>
                    <a:cubicBezTo>
                      <a:pt x="149" y="128"/>
                      <a:pt x="149" y="128"/>
                      <a:pt x="149" y="128"/>
                    </a:cubicBezTo>
                    <a:cubicBezTo>
                      <a:pt x="149" y="106"/>
                      <a:pt x="149" y="106"/>
                      <a:pt x="149" y="106"/>
                    </a:cubicBezTo>
                    <a:cubicBezTo>
                      <a:pt x="224" y="106"/>
                      <a:pt x="224" y="106"/>
                      <a:pt x="224" y="106"/>
                    </a:cubicBezTo>
                    <a:cubicBezTo>
                      <a:pt x="226" y="106"/>
                      <a:pt x="229" y="106"/>
                      <a:pt x="230" y="104"/>
                    </a:cubicBezTo>
                    <a:cubicBezTo>
                      <a:pt x="273" y="72"/>
                      <a:pt x="273" y="72"/>
                      <a:pt x="273" y="72"/>
                    </a:cubicBezTo>
                    <a:cubicBezTo>
                      <a:pt x="276" y="70"/>
                      <a:pt x="277" y="67"/>
                      <a:pt x="277" y="64"/>
                    </a:cubicBezTo>
                    <a:cubicBezTo>
                      <a:pt x="277" y="60"/>
                      <a:pt x="276" y="57"/>
                      <a:pt x="273" y="55"/>
                    </a:cubicBezTo>
                    <a:cubicBezTo>
                      <a:pt x="230" y="23"/>
                      <a:pt x="230" y="23"/>
                      <a:pt x="230" y="23"/>
                    </a:cubicBezTo>
                    <a:cubicBezTo>
                      <a:pt x="229" y="22"/>
                      <a:pt x="226" y="21"/>
                      <a:pt x="224" y="21"/>
                    </a:cubicBezTo>
                    <a:cubicBezTo>
                      <a:pt x="149" y="21"/>
                      <a:pt x="149" y="21"/>
                      <a:pt x="149" y="21"/>
                    </a:cubicBezTo>
                    <a:cubicBezTo>
                      <a:pt x="149" y="10"/>
                      <a:pt x="149" y="10"/>
                      <a:pt x="149" y="10"/>
                    </a:cubicBezTo>
                    <a:cubicBezTo>
                      <a:pt x="149" y="4"/>
                      <a:pt x="145" y="0"/>
                      <a:pt x="139" y="0"/>
                    </a:cubicBezTo>
                    <a:cubicBezTo>
                      <a:pt x="133" y="0"/>
                      <a:pt x="128" y="4"/>
                      <a:pt x="128" y="10"/>
                    </a:cubicBezTo>
                    <a:cubicBezTo>
                      <a:pt x="128" y="21"/>
                      <a:pt x="128" y="21"/>
                      <a:pt x="128" y="21"/>
                    </a:cubicBezTo>
                    <a:cubicBezTo>
                      <a:pt x="11" y="21"/>
                      <a:pt x="11" y="21"/>
                      <a:pt x="11" y="21"/>
                    </a:cubicBezTo>
                    <a:cubicBezTo>
                      <a:pt x="5" y="21"/>
                      <a:pt x="0" y="26"/>
                      <a:pt x="0" y="32"/>
                    </a:cubicBezTo>
                    <a:cubicBezTo>
                      <a:pt x="0" y="96"/>
                      <a:pt x="0" y="96"/>
                      <a:pt x="0" y="96"/>
                    </a:cubicBezTo>
                    <a:cubicBezTo>
                      <a:pt x="0" y="102"/>
                      <a:pt x="5" y="106"/>
                      <a:pt x="11" y="106"/>
                    </a:cubicBezTo>
                    <a:cubicBezTo>
                      <a:pt x="128" y="106"/>
                      <a:pt x="128" y="106"/>
                      <a:pt x="128" y="106"/>
                    </a:cubicBezTo>
                    <a:cubicBezTo>
                      <a:pt x="128" y="128"/>
                      <a:pt x="128" y="128"/>
                      <a:pt x="128" y="128"/>
                    </a:cubicBezTo>
                    <a:cubicBezTo>
                      <a:pt x="53" y="128"/>
                      <a:pt x="53" y="128"/>
                      <a:pt x="53" y="128"/>
                    </a:cubicBezTo>
                    <a:cubicBezTo>
                      <a:pt x="51" y="128"/>
                      <a:pt x="49" y="128"/>
                      <a:pt x="47" y="130"/>
                    </a:cubicBezTo>
                    <a:cubicBezTo>
                      <a:pt x="4" y="162"/>
                      <a:pt x="4" y="162"/>
                      <a:pt x="4" y="162"/>
                    </a:cubicBezTo>
                    <a:cubicBezTo>
                      <a:pt x="2" y="164"/>
                      <a:pt x="0" y="167"/>
                      <a:pt x="0" y="170"/>
                    </a:cubicBezTo>
                    <a:cubicBezTo>
                      <a:pt x="0" y="174"/>
                      <a:pt x="2" y="177"/>
                      <a:pt x="4" y="179"/>
                    </a:cubicBezTo>
                    <a:cubicBezTo>
                      <a:pt x="47" y="211"/>
                      <a:pt x="47" y="211"/>
                      <a:pt x="47" y="211"/>
                    </a:cubicBezTo>
                    <a:cubicBezTo>
                      <a:pt x="49" y="212"/>
                      <a:pt x="51" y="213"/>
                      <a:pt x="53" y="213"/>
                    </a:cubicBezTo>
                    <a:cubicBezTo>
                      <a:pt x="128" y="213"/>
                      <a:pt x="128" y="213"/>
                      <a:pt x="128" y="213"/>
                    </a:cubicBezTo>
                    <a:cubicBezTo>
                      <a:pt x="128" y="309"/>
                      <a:pt x="128" y="309"/>
                      <a:pt x="128" y="309"/>
                    </a:cubicBezTo>
                    <a:cubicBezTo>
                      <a:pt x="128" y="315"/>
                      <a:pt x="133" y="320"/>
                      <a:pt x="139" y="320"/>
                    </a:cubicBezTo>
                    <a:cubicBezTo>
                      <a:pt x="145" y="320"/>
                      <a:pt x="149" y="315"/>
                      <a:pt x="149" y="309"/>
                    </a:cubicBezTo>
                    <a:cubicBezTo>
                      <a:pt x="149" y="213"/>
                      <a:pt x="149" y="213"/>
                      <a:pt x="149" y="213"/>
                    </a:cubicBezTo>
                    <a:cubicBezTo>
                      <a:pt x="267" y="213"/>
                      <a:pt x="267" y="213"/>
                      <a:pt x="267" y="213"/>
                    </a:cubicBezTo>
                    <a:cubicBezTo>
                      <a:pt x="273" y="213"/>
                      <a:pt x="277" y="208"/>
                      <a:pt x="277" y="202"/>
                    </a:cubicBezTo>
                    <a:cubicBezTo>
                      <a:pt x="277" y="138"/>
                      <a:pt x="277" y="138"/>
                      <a:pt x="277" y="138"/>
                    </a:cubicBezTo>
                    <a:cubicBezTo>
                      <a:pt x="277" y="132"/>
                      <a:pt x="273" y="128"/>
                      <a:pt x="267" y="128"/>
                    </a:cubicBezTo>
                    <a:close/>
                    <a:moveTo>
                      <a:pt x="21" y="85"/>
                    </a:moveTo>
                    <a:cubicBezTo>
                      <a:pt x="21" y="42"/>
                      <a:pt x="21" y="42"/>
                      <a:pt x="21" y="42"/>
                    </a:cubicBezTo>
                    <a:cubicBezTo>
                      <a:pt x="220" y="42"/>
                      <a:pt x="220" y="42"/>
                      <a:pt x="220" y="42"/>
                    </a:cubicBezTo>
                    <a:cubicBezTo>
                      <a:pt x="249" y="64"/>
                      <a:pt x="249" y="64"/>
                      <a:pt x="249" y="64"/>
                    </a:cubicBezTo>
                    <a:cubicBezTo>
                      <a:pt x="220" y="85"/>
                      <a:pt x="220" y="85"/>
                      <a:pt x="220" y="85"/>
                    </a:cubicBezTo>
                    <a:lnTo>
                      <a:pt x="21" y="85"/>
                    </a:lnTo>
                    <a:close/>
                    <a:moveTo>
                      <a:pt x="256" y="192"/>
                    </a:moveTo>
                    <a:cubicBezTo>
                      <a:pt x="57" y="192"/>
                      <a:pt x="57" y="192"/>
                      <a:pt x="57" y="192"/>
                    </a:cubicBezTo>
                    <a:cubicBezTo>
                      <a:pt x="28" y="170"/>
                      <a:pt x="28" y="170"/>
                      <a:pt x="28" y="170"/>
                    </a:cubicBezTo>
                    <a:cubicBezTo>
                      <a:pt x="57" y="149"/>
                      <a:pt x="57" y="149"/>
                      <a:pt x="57" y="149"/>
                    </a:cubicBezTo>
                    <a:cubicBezTo>
                      <a:pt x="256" y="149"/>
                      <a:pt x="256" y="149"/>
                      <a:pt x="256" y="149"/>
                    </a:cubicBezTo>
                    <a:lnTo>
                      <a:pt x="256" y="19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sp>
            <p:nvSpPr>
              <p:cNvPr id="74" name="Freeform 264">
                <a:extLst>
                  <a:ext uri="{FF2B5EF4-FFF2-40B4-BE49-F238E27FC236}">
                    <a16:creationId xmlns:a16="http://schemas.microsoft.com/office/drawing/2014/main" id="{59D5B6C7-CFA9-85DC-1C56-C498A4C10B27}"/>
                  </a:ext>
                </a:extLst>
              </p:cNvPr>
              <p:cNvSpPr>
                <a:spLocks noEditPoints="1"/>
              </p:cNvSpPr>
              <p:nvPr/>
            </p:nvSpPr>
            <p:spPr bwMode="auto">
              <a:xfrm>
                <a:off x="5792" y="77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grpSp>
        <p:sp>
          <p:nvSpPr>
            <p:cNvPr id="69" name="Oval 68">
              <a:extLst>
                <a:ext uri="{FF2B5EF4-FFF2-40B4-BE49-F238E27FC236}">
                  <a16:creationId xmlns:a16="http://schemas.microsoft.com/office/drawing/2014/main" id="{44ECC3C0-7D6E-26ED-FFC3-EACB0B02F51F}"/>
                </a:ext>
              </a:extLst>
            </p:cNvPr>
            <p:cNvSpPr/>
            <p:nvPr/>
          </p:nvSpPr>
          <p:spPr bwMode="gray">
            <a:xfrm>
              <a:off x="5873709" y="1926520"/>
              <a:ext cx="378120" cy="378120"/>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00" b="1">
                <a:solidFill>
                  <a:schemeClr val="bg1"/>
                </a:solidFill>
              </a:endParaRPr>
            </a:p>
          </p:txBody>
        </p:sp>
        <p:grpSp>
          <p:nvGrpSpPr>
            <p:cNvPr id="70" name="Group 271">
              <a:extLst>
                <a:ext uri="{FF2B5EF4-FFF2-40B4-BE49-F238E27FC236}">
                  <a16:creationId xmlns:a16="http://schemas.microsoft.com/office/drawing/2014/main" id="{6AE58AF0-92BC-C3AE-B0AE-500C6552ECD2}"/>
                </a:ext>
              </a:extLst>
            </p:cNvPr>
            <p:cNvGrpSpPr>
              <a:grpSpLocks noChangeAspect="1"/>
            </p:cNvGrpSpPr>
            <p:nvPr/>
          </p:nvGrpSpPr>
          <p:grpSpPr bwMode="auto">
            <a:xfrm>
              <a:off x="5931328" y="1984138"/>
              <a:ext cx="265176" cy="265176"/>
              <a:chOff x="6585" y="783"/>
              <a:chExt cx="340" cy="340"/>
            </a:xfrm>
            <a:solidFill>
              <a:schemeClr val="bg1"/>
            </a:solidFill>
          </p:grpSpPr>
          <p:sp>
            <p:nvSpPr>
              <p:cNvPr id="71" name="Freeform 272">
                <a:extLst>
                  <a:ext uri="{FF2B5EF4-FFF2-40B4-BE49-F238E27FC236}">
                    <a16:creationId xmlns:a16="http://schemas.microsoft.com/office/drawing/2014/main" id="{2378DBE9-5A42-4667-F5D6-46B71803701F}"/>
                  </a:ext>
                </a:extLst>
              </p:cNvPr>
              <p:cNvSpPr>
                <a:spLocks noEditPoints="1"/>
              </p:cNvSpPr>
              <p:nvPr/>
            </p:nvSpPr>
            <p:spPr bwMode="auto">
              <a:xfrm>
                <a:off x="6648" y="874"/>
                <a:ext cx="213" cy="157"/>
              </a:xfrm>
              <a:custGeom>
                <a:avLst/>
                <a:gdLst>
                  <a:gd name="T0" fmla="*/ 1 w 321"/>
                  <a:gd name="T1" fmla="*/ 51 h 236"/>
                  <a:gd name="T2" fmla="*/ 4 w 321"/>
                  <a:gd name="T3" fmla="*/ 47 h 236"/>
                  <a:gd name="T4" fmla="*/ 46 w 321"/>
                  <a:gd name="T5" fmla="*/ 4 h 236"/>
                  <a:gd name="T6" fmla="*/ 62 w 321"/>
                  <a:gd name="T7" fmla="*/ 4 h 236"/>
                  <a:gd name="T8" fmla="*/ 62 w 321"/>
                  <a:gd name="T9" fmla="*/ 20 h 236"/>
                  <a:gd name="T10" fmla="*/ 37 w 321"/>
                  <a:gd name="T11" fmla="*/ 44 h 236"/>
                  <a:gd name="T12" fmla="*/ 310 w 321"/>
                  <a:gd name="T13" fmla="*/ 44 h 236"/>
                  <a:gd name="T14" fmla="*/ 321 w 321"/>
                  <a:gd name="T15" fmla="*/ 55 h 236"/>
                  <a:gd name="T16" fmla="*/ 310 w 321"/>
                  <a:gd name="T17" fmla="*/ 65 h 236"/>
                  <a:gd name="T18" fmla="*/ 37 w 321"/>
                  <a:gd name="T19" fmla="*/ 65 h 236"/>
                  <a:gd name="T20" fmla="*/ 62 w 321"/>
                  <a:gd name="T21" fmla="*/ 90 h 236"/>
                  <a:gd name="T22" fmla="*/ 62 w 321"/>
                  <a:gd name="T23" fmla="*/ 105 h 236"/>
                  <a:gd name="T24" fmla="*/ 54 w 321"/>
                  <a:gd name="T25" fmla="*/ 108 h 236"/>
                  <a:gd name="T26" fmla="*/ 46 w 321"/>
                  <a:gd name="T27" fmla="*/ 105 h 236"/>
                  <a:gd name="T28" fmla="*/ 4 w 321"/>
                  <a:gd name="T29" fmla="*/ 62 h 236"/>
                  <a:gd name="T30" fmla="*/ 1 w 321"/>
                  <a:gd name="T31" fmla="*/ 59 h 236"/>
                  <a:gd name="T32" fmla="*/ 1 w 321"/>
                  <a:gd name="T33" fmla="*/ 51 h 236"/>
                  <a:gd name="T34" fmla="*/ 320 w 321"/>
                  <a:gd name="T35" fmla="*/ 179 h 236"/>
                  <a:gd name="T36" fmla="*/ 318 w 321"/>
                  <a:gd name="T37" fmla="*/ 175 h 236"/>
                  <a:gd name="T38" fmla="*/ 275 w 321"/>
                  <a:gd name="T39" fmla="*/ 132 h 236"/>
                  <a:gd name="T40" fmla="*/ 260 w 321"/>
                  <a:gd name="T41" fmla="*/ 132 h 236"/>
                  <a:gd name="T42" fmla="*/ 260 w 321"/>
                  <a:gd name="T43" fmla="*/ 148 h 236"/>
                  <a:gd name="T44" fmla="*/ 284 w 321"/>
                  <a:gd name="T45" fmla="*/ 172 h 236"/>
                  <a:gd name="T46" fmla="*/ 11 w 321"/>
                  <a:gd name="T47" fmla="*/ 172 h 236"/>
                  <a:gd name="T48" fmla="*/ 1 w 321"/>
                  <a:gd name="T49" fmla="*/ 183 h 236"/>
                  <a:gd name="T50" fmla="*/ 11 w 321"/>
                  <a:gd name="T51" fmla="*/ 193 h 236"/>
                  <a:gd name="T52" fmla="*/ 284 w 321"/>
                  <a:gd name="T53" fmla="*/ 193 h 236"/>
                  <a:gd name="T54" fmla="*/ 260 w 321"/>
                  <a:gd name="T55" fmla="*/ 218 h 236"/>
                  <a:gd name="T56" fmla="*/ 260 w 321"/>
                  <a:gd name="T57" fmla="*/ 233 h 236"/>
                  <a:gd name="T58" fmla="*/ 267 w 321"/>
                  <a:gd name="T59" fmla="*/ 236 h 236"/>
                  <a:gd name="T60" fmla="*/ 275 w 321"/>
                  <a:gd name="T61" fmla="*/ 233 h 236"/>
                  <a:gd name="T62" fmla="*/ 318 w 321"/>
                  <a:gd name="T63" fmla="*/ 190 h 236"/>
                  <a:gd name="T64" fmla="*/ 320 w 321"/>
                  <a:gd name="T65" fmla="*/ 187 h 236"/>
                  <a:gd name="T66" fmla="*/ 320 w 321"/>
                  <a:gd name="T67" fmla="*/ 17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236">
                    <a:moveTo>
                      <a:pt x="1" y="51"/>
                    </a:moveTo>
                    <a:cubicBezTo>
                      <a:pt x="2" y="49"/>
                      <a:pt x="3" y="48"/>
                      <a:pt x="4" y="47"/>
                    </a:cubicBezTo>
                    <a:cubicBezTo>
                      <a:pt x="46" y="4"/>
                      <a:pt x="46" y="4"/>
                      <a:pt x="46" y="4"/>
                    </a:cubicBezTo>
                    <a:cubicBezTo>
                      <a:pt x="51" y="0"/>
                      <a:pt x="57" y="0"/>
                      <a:pt x="62" y="4"/>
                    </a:cubicBezTo>
                    <a:cubicBezTo>
                      <a:pt x="66" y="9"/>
                      <a:pt x="66" y="15"/>
                      <a:pt x="62" y="20"/>
                    </a:cubicBezTo>
                    <a:cubicBezTo>
                      <a:pt x="37" y="44"/>
                      <a:pt x="37" y="44"/>
                      <a:pt x="37" y="44"/>
                    </a:cubicBezTo>
                    <a:cubicBezTo>
                      <a:pt x="310" y="44"/>
                      <a:pt x="310" y="44"/>
                      <a:pt x="310" y="44"/>
                    </a:cubicBezTo>
                    <a:cubicBezTo>
                      <a:pt x="316" y="44"/>
                      <a:pt x="321" y="49"/>
                      <a:pt x="321" y="55"/>
                    </a:cubicBezTo>
                    <a:cubicBezTo>
                      <a:pt x="321" y="61"/>
                      <a:pt x="316" y="65"/>
                      <a:pt x="310" y="65"/>
                    </a:cubicBezTo>
                    <a:cubicBezTo>
                      <a:pt x="37" y="65"/>
                      <a:pt x="37" y="65"/>
                      <a:pt x="37" y="65"/>
                    </a:cubicBezTo>
                    <a:cubicBezTo>
                      <a:pt x="62" y="90"/>
                      <a:pt x="62" y="90"/>
                      <a:pt x="62" y="90"/>
                    </a:cubicBezTo>
                    <a:cubicBezTo>
                      <a:pt x="66" y="94"/>
                      <a:pt x="66" y="101"/>
                      <a:pt x="62" y="105"/>
                    </a:cubicBezTo>
                    <a:cubicBezTo>
                      <a:pt x="59" y="107"/>
                      <a:pt x="57" y="108"/>
                      <a:pt x="54" y="108"/>
                    </a:cubicBezTo>
                    <a:cubicBezTo>
                      <a:pt x="51" y="108"/>
                      <a:pt x="49" y="107"/>
                      <a:pt x="46" y="105"/>
                    </a:cubicBezTo>
                    <a:cubicBezTo>
                      <a:pt x="4" y="62"/>
                      <a:pt x="4" y="62"/>
                      <a:pt x="4" y="62"/>
                    </a:cubicBezTo>
                    <a:cubicBezTo>
                      <a:pt x="3" y="61"/>
                      <a:pt x="2" y="60"/>
                      <a:pt x="1" y="59"/>
                    </a:cubicBezTo>
                    <a:cubicBezTo>
                      <a:pt x="0" y="56"/>
                      <a:pt x="0" y="53"/>
                      <a:pt x="1" y="51"/>
                    </a:cubicBezTo>
                    <a:close/>
                    <a:moveTo>
                      <a:pt x="320" y="179"/>
                    </a:moveTo>
                    <a:cubicBezTo>
                      <a:pt x="319" y="177"/>
                      <a:pt x="319" y="176"/>
                      <a:pt x="318" y="175"/>
                    </a:cubicBezTo>
                    <a:cubicBezTo>
                      <a:pt x="275" y="132"/>
                      <a:pt x="275" y="132"/>
                      <a:pt x="275" y="132"/>
                    </a:cubicBezTo>
                    <a:cubicBezTo>
                      <a:pt x="271" y="128"/>
                      <a:pt x="264" y="128"/>
                      <a:pt x="260" y="132"/>
                    </a:cubicBezTo>
                    <a:cubicBezTo>
                      <a:pt x="256" y="137"/>
                      <a:pt x="256" y="143"/>
                      <a:pt x="260" y="148"/>
                    </a:cubicBezTo>
                    <a:cubicBezTo>
                      <a:pt x="284" y="172"/>
                      <a:pt x="284" y="172"/>
                      <a:pt x="284" y="172"/>
                    </a:cubicBezTo>
                    <a:cubicBezTo>
                      <a:pt x="11" y="172"/>
                      <a:pt x="11" y="172"/>
                      <a:pt x="11" y="172"/>
                    </a:cubicBezTo>
                    <a:cubicBezTo>
                      <a:pt x="5" y="172"/>
                      <a:pt x="1" y="177"/>
                      <a:pt x="1" y="183"/>
                    </a:cubicBezTo>
                    <a:cubicBezTo>
                      <a:pt x="1" y="189"/>
                      <a:pt x="5" y="193"/>
                      <a:pt x="11" y="193"/>
                    </a:cubicBezTo>
                    <a:cubicBezTo>
                      <a:pt x="284" y="193"/>
                      <a:pt x="284" y="193"/>
                      <a:pt x="284" y="193"/>
                    </a:cubicBezTo>
                    <a:cubicBezTo>
                      <a:pt x="260" y="218"/>
                      <a:pt x="260" y="218"/>
                      <a:pt x="260" y="218"/>
                    </a:cubicBezTo>
                    <a:cubicBezTo>
                      <a:pt x="256" y="222"/>
                      <a:pt x="256" y="229"/>
                      <a:pt x="260" y="233"/>
                    </a:cubicBezTo>
                    <a:cubicBezTo>
                      <a:pt x="262" y="235"/>
                      <a:pt x="265" y="236"/>
                      <a:pt x="267" y="236"/>
                    </a:cubicBezTo>
                    <a:cubicBezTo>
                      <a:pt x="270" y="236"/>
                      <a:pt x="273" y="235"/>
                      <a:pt x="275" y="233"/>
                    </a:cubicBezTo>
                    <a:cubicBezTo>
                      <a:pt x="318" y="190"/>
                      <a:pt x="318" y="190"/>
                      <a:pt x="318" y="190"/>
                    </a:cubicBezTo>
                    <a:cubicBezTo>
                      <a:pt x="319" y="189"/>
                      <a:pt x="319" y="188"/>
                      <a:pt x="320" y="187"/>
                    </a:cubicBezTo>
                    <a:cubicBezTo>
                      <a:pt x="321" y="184"/>
                      <a:pt x="321" y="181"/>
                      <a:pt x="320" y="17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sp>
            <p:nvSpPr>
              <p:cNvPr id="72" name="Freeform 273">
                <a:extLst>
                  <a:ext uri="{FF2B5EF4-FFF2-40B4-BE49-F238E27FC236}">
                    <a16:creationId xmlns:a16="http://schemas.microsoft.com/office/drawing/2014/main" id="{D879AA87-2583-F801-F5A0-D1AFDDCDBA06}"/>
                  </a:ext>
                </a:extLst>
              </p:cNvPr>
              <p:cNvSpPr>
                <a:spLocks noEditPoints="1"/>
              </p:cNvSpPr>
              <p:nvPr/>
            </p:nvSpPr>
            <p:spPr bwMode="auto">
              <a:xfrm>
                <a:off x="6585" y="78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400" b="1"/>
              </a:p>
            </p:txBody>
          </p:sp>
        </p:grpSp>
      </p:grpSp>
      <p:sp>
        <p:nvSpPr>
          <p:cNvPr id="84" name="Rectangle 83">
            <a:extLst>
              <a:ext uri="{FF2B5EF4-FFF2-40B4-BE49-F238E27FC236}">
                <a16:creationId xmlns:a16="http://schemas.microsoft.com/office/drawing/2014/main" id="{7FD3A024-8EFD-503F-09B9-56F520D7A327}"/>
              </a:ext>
            </a:extLst>
          </p:cNvPr>
          <p:cNvSpPr/>
          <p:nvPr/>
        </p:nvSpPr>
        <p:spPr>
          <a:xfrm>
            <a:off x="577380" y="4296583"/>
            <a:ext cx="11114521" cy="225126"/>
          </a:xfrm>
          <a:prstGeom prst="rect">
            <a:avLst/>
          </a:prstGeom>
          <a:solidFill>
            <a:schemeClr val="accent1">
              <a:lumMod val="60000"/>
              <a:lumOff val="40000"/>
            </a:schemeClr>
          </a:solidFill>
        </p:spPr>
        <p:txBody>
          <a:bodyPr wrap="square" lIns="0" tIns="0" rIns="0" bIns="0">
            <a:spAutoFit/>
          </a:bodyPr>
          <a:lstStyle/>
          <a:p>
            <a:pPr lvl="0" algn="ctr">
              <a:lnSpc>
                <a:spcPct val="110000"/>
              </a:lnSpc>
            </a:pPr>
            <a:r>
              <a:rPr lang="en-IE" sz="1400" b="1">
                <a:solidFill>
                  <a:prstClr val="black"/>
                </a:solidFill>
                <a:latin typeface="Calibri" panose="020F0502020204030204" pitchFamily="34" charset="0"/>
                <a:ea typeface="Open Sans Semibold" panose="020B0706030804020204" pitchFamily="34" charset="0"/>
                <a:cs typeface="Calibri" panose="020F0502020204030204" pitchFamily="34" charset="0"/>
              </a:rPr>
              <a:t>Key Enablers/ Restrictions for participating in the cross-border transactions with India</a:t>
            </a:r>
          </a:p>
        </p:txBody>
      </p:sp>
    </p:spTree>
    <p:extLst>
      <p:ext uri="{BB962C8B-B14F-4D97-AF65-F5344CB8AC3E}">
        <p14:creationId xmlns:p14="http://schemas.microsoft.com/office/powerpoint/2010/main" val="1388631427"/>
      </p:ext>
    </p:extLst>
  </p:cSld>
  <p:clrMapOvr>
    <a:masterClrMapping/>
  </p:clrMapOvr>
  <p:transition>
    <p:fade/>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940349973"/>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Transmission Lines involved in CBET</a:t>
            </a:r>
            <a:endParaRPr lang="en-GB" sz="1800" b="1">
              <a:latin typeface="Arial" panose="020B0604020202020204" pitchFamily="34" charset="0"/>
              <a:cs typeface="Arial" panose="020B0604020202020204" pitchFamily="34" charset="0"/>
            </a:endParaRP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Overview of the key transmission lines involved CBET between Nepal and India</a:t>
            </a:r>
          </a:p>
        </p:txBody>
      </p:sp>
      <p:graphicFrame>
        <p:nvGraphicFramePr>
          <p:cNvPr id="5" name="Table 4">
            <a:extLst>
              <a:ext uri="{FF2B5EF4-FFF2-40B4-BE49-F238E27FC236}">
                <a16:creationId xmlns:a16="http://schemas.microsoft.com/office/drawing/2014/main" id="{750E65B0-52BE-DB76-74F9-BB5242672CC4}"/>
              </a:ext>
            </a:extLst>
          </p:cNvPr>
          <p:cNvGraphicFramePr>
            <a:graphicFrameLocks noGrp="1"/>
          </p:cNvGraphicFramePr>
          <p:nvPr>
            <p:extLst>
              <p:ext uri="{D42A27DB-BD31-4B8C-83A1-F6EECF244321}">
                <p14:modId xmlns:p14="http://schemas.microsoft.com/office/powerpoint/2010/main" val="2973686937"/>
              </p:ext>
            </p:extLst>
          </p:nvPr>
        </p:nvGraphicFramePr>
        <p:xfrm>
          <a:off x="531399" y="1622240"/>
          <a:ext cx="5467272" cy="2915725"/>
        </p:xfrm>
        <a:graphic>
          <a:graphicData uri="http://schemas.openxmlformats.org/drawingml/2006/table">
            <a:tbl>
              <a:tblPr>
                <a:tableStyleId>{3B4B98B0-60AC-42C2-AFA5-B58CD77FA1E5}</a:tableStyleId>
              </a:tblPr>
              <a:tblGrid>
                <a:gridCol w="612084">
                  <a:extLst>
                    <a:ext uri="{9D8B030D-6E8A-4147-A177-3AD203B41FA5}">
                      <a16:colId xmlns:a16="http://schemas.microsoft.com/office/drawing/2014/main" val="3071374873"/>
                    </a:ext>
                  </a:extLst>
                </a:gridCol>
                <a:gridCol w="2641117">
                  <a:extLst>
                    <a:ext uri="{9D8B030D-6E8A-4147-A177-3AD203B41FA5}">
                      <a16:colId xmlns:a16="http://schemas.microsoft.com/office/drawing/2014/main" val="1893327031"/>
                    </a:ext>
                  </a:extLst>
                </a:gridCol>
                <a:gridCol w="1049867">
                  <a:extLst>
                    <a:ext uri="{9D8B030D-6E8A-4147-A177-3AD203B41FA5}">
                      <a16:colId xmlns:a16="http://schemas.microsoft.com/office/drawing/2014/main" val="3002502649"/>
                    </a:ext>
                  </a:extLst>
                </a:gridCol>
                <a:gridCol w="1164204">
                  <a:extLst>
                    <a:ext uri="{9D8B030D-6E8A-4147-A177-3AD203B41FA5}">
                      <a16:colId xmlns:a16="http://schemas.microsoft.com/office/drawing/2014/main" val="4093770840"/>
                    </a:ext>
                  </a:extLst>
                </a:gridCol>
              </a:tblGrid>
              <a:tr h="209905">
                <a:tc>
                  <a:txBody>
                    <a:bodyPr/>
                    <a:lstStyle/>
                    <a:p>
                      <a:pPr algn="ctr" fontAlgn="ctr"/>
                      <a:r>
                        <a:rPr lang="en-IN" sz="1000" b="1" u="none" strike="noStrike" dirty="0">
                          <a:solidFill>
                            <a:schemeClr val="bg1"/>
                          </a:solidFill>
                          <a:effectLst/>
                          <a:latin typeface="Arial" panose="020B0604020202020204" pitchFamily="34" charset="0"/>
                          <a:cs typeface="Arial" panose="020B0604020202020204" pitchFamily="34" charset="0"/>
                        </a:rPr>
                        <a:t>Sl. No.</a:t>
                      </a:r>
                      <a:endParaRPr lang="en-IN" sz="1000" b="1" i="0" u="none" strike="noStrike" dirty="0">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000" b="1" u="none" strike="noStrike">
                          <a:solidFill>
                            <a:schemeClr val="bg1"/>
                          </a:solidFill>
                          <a:effectLst/>
                          <a:latin typeface="Arial" panose="020B0604020202020204" pitchFamily="34" charset="0"/>
                          <a:cs typeface="Arial" panose="020B0604020202020204" pitchFamily="34" charset="0"/>
                        </a:rPr>
                        <a:t>Project Name</a:t>
                      </a:r>
                      <a:endParaRPr lang="en-IN" sz="10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000" b="1" u="none" strike="noStrike">
                          <a:solidFill>
                            <a:schemeClr val="bg1"/>
                          </a:solidFill>
                          <a:effectLst/>
                          <a:latin typeface="Arial" panose="020B0604020202020204" pitchFamily="34" charset="0"/>
                          <a:cs typeface="Arial" panose="020B0604020202020204" pitchFamily="34" charset="0"/>
                        </a:rPr>
                        <a:t>Voltage  (kV)</a:t>
                      </a:r>
                      <a:endParaRPr lang="en-IN" sz="10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000" b="1" u="none" strike="noStrike">
                          <a:solidFill>
                            <a:schemeClr val="bg1"/>
                          </a:solidFill>
                          <a:effectLst/>
                          <a:latin typeface="Arial" panose="020B0604020202020204" pitchFamily="34" charset="0"/>
                          <a:cs typeface="Arial" panose="020B0604020202020204" pitchFamily="34" charset="0"/>
                        </a:rPr>
                        <a:t>Quantum (MW)</a:t>
                      </a:r>
                      <a:endParaRPr lang="en-IN" sz="10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extLst>
                  <a:ext uri="{0D108BD9-81ED-4DB2-BD59-A6C34878D82A}">
                    <a16:rowId xmlns:a16="http://schemas.microsoft.com/office/drawing/2014/main" val="52627781"/>
                  </a:ext>
                </a:extLst>
              </a:tr>
              <a:tr h="242838">
                <a:tc>
                  <a:txBody>
                    <a:bodyPr/>
                    <a:lstStyle/>
                    <a:p>
                      <a:pPr algn="ctr" fontAlgn="ctr"/>
                      <a:r>
                        <a:rPr lang="en-IN" sz="1000" u="none" strike="noStrike">
                          <a:effectLst/>
                          <a:latin typeface="Arial" panose="020B0604020202020204" pitchFamily="34" charset="0"/>
                          <a:cs typeface="Arial" panose="020B0604020202020204" pitchFamily="34" charset="0"/>
                        </a:rPr>
                        <a:t>1</a:t>
                      </a:r>
                      <a:endParaRPr lang="en-IN" sz="10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000" b="0">
                          <a:latin typeface="Arial" panose="020B0604020202020204" pitchFamily="34" charset="0"/>
                          <a:cs typeface="Arial" panose="020B0604020202020204" pitchFamily="34" charset="0"/>
                        </a:rPr>
                        <a:t>Dhalkebar - Muzaffarpur</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a:latin typeface="Arial" panose="020B0604020202020204" pitchFamily="34" charset="0"/>
                          <a:cs typeface="Arial" panose="020B0604020202020204" pitchFamily="34" charset="0"/>
                        </a:rPr>
                        <a:t>400</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dirty="0">
                          <a:latin typeface="Arial" panose="020B0604020202020204" pitchFamily="34" charset="0"/>
                          <a:cs typeface="Arial" panose="020B0604020202020204" pitchFamily="34" charset="0"/>
                        </a:rPr>
                        <a:t>1000</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2388872996"/>
                  </a:ext>
                </a:extLst>
              </a:tr>
              <a:tr h="242838">
                <a:tc>
                  <a:txBody>
                    <a:bodyPr/>
                    <a:lstStyle/>
                    <a:p>
                      <a:pPr algn="ctr" fontAlgn="ctr"/>
                      <a:r>
                        <a:rPr lang="en-IN" sz="1000" u="none" strike="noStrike">
                          <a:effectLst/>
                          <a:latin typeface="Arial" panose="020B0604020202020204" pitchFamily="34" charset="0"/>
                          <a:cs typeface="Arial" panose="020B0604020202020204" pitchFamily="34" charset="0"/>
                        </a:rPr>
                        <a:t>2</a:t>
                      </a:r>
                      <a:endParaRPr lang="en-IN" sz="10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000" b="0">
                          <a:latin typeface="Arial" panose="020B0604020202020204" pitchFamily="34" charset="0"/>
                          <a:cs typeface="Arial" panose="020B0604020202020204" pitchFamily="34" charset="0"/>
                        </a:rPr>
                        <a:t>Kusaha –Kataiya (I &amp; II)</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a:latin typeface="Arial" panose="020B0604020202020204" pitchFamily="34" charset="0"/>
                          <a:cs typeface="Arial" panose="020B0604020202020204" pitchFamily="34" charset="0"/>
                        </a:rPr>
                        <a:t>132</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a:latin typeface="Arial" panose="020B0604020202020204" pitchFamily="34" charset="0"/>
                          <a:cs typeface="Arial" panose="020B0604020202020204" pitchFamily="34" charset="0"/>
                        </a:rPr>
                        <a:t>280</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50899134"/>
                  </a:ext>
                </a:extLst>
              </a:tr>
              <a:tr h="242838">
                <a:tc>
                  <a:txBody>
                    <a:bodyPr/>
                    <a:lstStyle/>
                    <a:p>
                      <a:pPr algn="ctr" fontAlgn="ctr"/>
                      <a:r>
                        <a:rPr lang="en-IN" sz="1000" u="none" strike="noStrike">
                          <a:effectLst/>
                          <a:latin typeface="Arial" panose="020B0604020202020204" pitchFamily="34" charset="0"/>
                          <a:cs typeface="Arial" panose="020B0604020202020204" pitchFamily="34" charset="0"/>
                        </a:rPr>
                        <a:t>3</a:t>
                      </a:r>
                      <a:endParaRPr lang="en-IN" sz="10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000" b="0">
                          <a:latin typeface="Arial" panose="020B0604020202020204" pitchFamily="34" charset="0"/>
                          <a:cs typeface="Arial" panose="020B0604020202020204" pitchFamily="34" charset="0"/>
                        </a:rPr>
                        <a:t>Parwanipur  – Raxaul (I &amp; II)</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132</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a:latin typeface="Arial" panose="020B0604020202020204" pitchFamily="34" charset="0"/>
                          <a:cs typeface="Arial" panose="020B0604020202020204" pitchFamily="34" charset="0"/>
                        </a:rPr>
                        <a:t>160</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890728846"/>
                  </a:ext>
                </a:extLst>
              </a:tr>
              <a:tr h="260139">
                <a:tc>
                  <a:txBody>
                    <a:bodyPr/>
                    <a:lstStyle/>
                    <a:p>
                      <a:pPr algn="ctr" fontAlgn="ctr"/>
                      <a:r>
                        <a:rPr lang="en-IN" sz="1000" u="none" strike="noStrike">
                          <a:effectLst/>
                          <a:latin typeface="Arial" panose="020B0604020202020204" pitchFamily="34" charset="0"/>
                          <a:cs typeface="Arial" panose="020B0604020202020204" pitchFamily="34" charset="0"/>
                        </a:rPr>
                        <a:t>4</a:t>
                      </a:r>
                      <a:endParaRPr lang="en-IN" sz="10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000" b="0">
                          <a:latin typeface="Arial" panose="020B0604020202020204" pitchFamily="34" charset="0"/>
                          <a:cs typeface="Arial" panose="020B0604020202020204" pitchFamily="34" charset="0"/>
                        </a:rPr>
                        <a:t>Mainahiya - </a:t>
                      </a:r>
                      <a:r>
                        <a:rPr lang="en-US" sz="1000" b="0">
                          <a:latin typeface="Arial" panose="020B0604020202020204" pitchFamily="34" charset="0"/>
                          <a:cs typeface="Arial" panose="020B0604020202020204" pitchFamily="34" charset="0"/>
                        </a:rPr>
                        <a:t>Sampatiya (Nautanwa) (I &amp; II)</a:t>
                      </a:r>
                      <a:endParaRPr lang="en-IN" sz="1000" b="0">
                        <a:latin typeface="Arial" panose="020B0604020202020204" pitchFamily="34" charset="0"/>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132</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a:latin typeface="Arial" panose="020B0604020202020204" pitchFamily="34" charset="0"/>
                          <a:cs typeface="Arial" panose="020B0604020202020204" pitchFamily="34" charset="0"/>
                        </a:rPr>
                        <a:t>160</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329575203"/>
                  </a:ext>
                </a:extLst>
              </a:tr>
              <a:tr h="242838">
                <a:tc>
                  <a:txBody>
                    <a:bodyPr/>
                    <a:lstStyle/>
                    <a:p>
                      <a:pPr algn="ctr" fontAlgn="ctr"/>
                      <a:r>
                        <a:rPr lang="en-IN" sz="1000" u="none" strike="noStrike">
                          <a:effectLst/>
                          <a:latin typeface="Arial" panose="020B0604020202020204" pitchFamily="34" charset="0"/>
                          <a:cs typeface="Arial" panose="020B0604020202020204" pitchFamily="34" charset="0"/>
                        </a:rPr>
                        <a:t>5</a:t>
                      </a:r>
                      <a:endParaRPr lang="en-IN" sz="10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000" b="0" err="1">
                          <a:latin typeface="Arial" panose="020B0604020202020204" pitchFamily="34" charset="0"/>
                          <a:cs typeface="Arial" panose="020B0604020202020204" pitchFamily="34" charset="0"/>
                        </a:rPr>
                        <a:t>Tanakpur</a:t>
                      </a:r>
                      <a:r>
                        <a:rPr lang="en-IN" sz="1000" b="0">
                          <a:latin typeface="Arial" panose="020B0604020202020204" pitchFamily="34" charset="0"/>
                          <a:cs typeface="Arial" panose="020B0604020202020204" pitchFamily="34" charset="0"/>
                        </a:rPr>
                        <a:t> - </a:t>
                      </a:r>
                      <a:r>
                        <a:rPr lang="en-IN" sz="1000" b="0" err="1">
                          <a:latin typeface="Arial" panose="020B0604020202020204" pitchFamily="34" charset="0"/>
                          <a:cs typeface="Arial" panose="020B0604020202020204" pitchFamily="34" charset="0"/>
                        </a:rPr>
                        <a:t>Mahendranagar</a:t>
                      </a:r>
                      <a:endParaRPr lang="en-IN" sz="1000" b="0">
                        <a:latin typeface="Arial" panose="020B0604020202020204" pitchFamily="34" charset="0"/>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132</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a:latin typeface="Arial" panose="020B0604020202020204" pitchFamily="34" charset="0"/>
                          <a:cs typeface="Arial" panose="020B0604020202020204" pitchFamily="34" charset="0"/>
                        </a:rPr>
                        <a:t>75</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931984293"/>
                  </a:ext>
                </a:extLst>
              </a:tr>
              <a:tr h="260139">
                <a:tc>
                  <a:txBody>
                    <a:bodyPr/>
                    <a:lstStyle/>
                    <a:p>
                      <a:pPr algn="ctr" fontAlgn="ctr"/>
                      <a:r>
                        <a:rPr lang="en-IN" sz="1000" u="none" strike="noStrike">
                          <a:effectLst/>
                          <a:latin typeface="Arial" panose="020B0604020202020204" pitchFamily="34" charset="0"/>
                          <a:cs typeface="Arial" panose="020B0604020202020204" pitchFamily="34" charset="0"/>
                        </a:rPr>
                        <a:t>6</a:t>
                      </a:r>
                      <a:endParaRPr lang="en-IN" sz="10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000" b="0">
                          <a:latin typeface="Arial" panose="020B0604020202020204" pitchFamily="34" charset="0"/>
                          <a:cs typeface="Arial" panose="020B0604020202020204" pitchFamily="34" charset="0"/>
                        </a:rPr>
                        <a:t>Gandak – Ramnagar and Muzaffarpur</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132</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a:latin typeface="Arial" panose="020B0604020202020204" pitchFamily="34" charset="0"/>
                          <a:cs typeface="Arial" panose="020B0604020202020204" pitchFamily="34" charset="0"/>
                        </a:rPr>
                        <a:t>60</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2538581662"/>
                  </a:ext>
                </a:extLst>
              </a:tr>
              <a:tr h="242838">
                <a:tc>
                  <a:txBody>
                    <a:bodyPr/>
                    <a:lstStyle/>
                    <a:p>
                      <a:pPr algn="ctr" fontAlgn="ctr"/>
                      <a:r>
                        <a:rPr lang="en-IN" sz="1000" u="none" strike="noStrike">
                          <a:effectLst/>
                          <a:latin typeface="Arial" panose="020B0604020202020204" pitchFamily="34" charset="0"/>
                          <a:cs typeface="Arial" panose="020B0604020202020204" pitchFamily="34" charset="0"/>
                        </a:rPr>
                        <a:t>7</a:t>
                      </a:r>
                      <a:endParaRPr lang="en-IN" sz="10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000" b="0">
                          <a:latin typeface="Arial" panose="020B0604020202020204" pitchFamily="34" charset="0"/>
                          <a:cs typeface="Arial" panose="020B0604020202020204" pitchFamily="34" charset="0"/>
                        </a:rPr>
                        <a:t>Jaleshwar – Sursand</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a:latin typeface="Arial" panose="020B0604020202020204" pitchFamily="34" charset="0"/>
                          <a:cs typeface="Arial" panose="020B0604020202020204" pitchFamily="34" charset="0"/>
                        </a:rPr>
                        <a:t>33</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a:latin typeface="Arial" panose="020B0604020202020204" pitchFamily="34" charset="0"/>
                          <a:cs typeface="Arial" panose="020B0604020202020204" pitchFamily="34" charset="0"/>
                        </a:rPr>
                        <a:t>12</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873688153"/>
                  </a:ext>
                </a:extLst>
              </a:tr>
              <a:tr h="242838">
                <a:tc>
                  <a:txBody>
                    <a:bodyPr/>
                    <a:lstStyle/>
                    <a:p>
                      <a:pPr algn="ctr" fontAlgn="ctr"/>
                      <a:r>
                        <a:rPr lang="en-IN" sz="1000" u="none" strike="noStrike">
                          <a:effectLst/>
                          <a:latin typeface="Arial" panose="020B0604020202020204" pitchFamily="34" charset="0"/>
                          <a:cs typeface="Arial" panose="020B0604020202020204" pitchFamily="34" charset="0"/>
                        </a:rPr>
                        <a:t>8</a:t>
                      </a:r>
                      <a:endParaRPr lang="en-IN" sz="10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000" b="0">
                          <a:latin typeface="Arial" panose="020B0604020202020204" pitchFamily="34" charset="0"/>
                          <a:cs typeface="Arial" panose="020B0604020202020204" pitchFamily="34" charset="0"/>
                        </a:rPr>
                        <a:t>Birgunj – Raxaul</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33</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a:latin typeface="Arial" panose="020B0604020202020204" pitchFamily="34" charset="0"/>
                          <a:cs typeface="Arial" panose="020B0604020202020204" pitchFamily="34" charset="0"/>
                        </a:rPr>
                        <a:t>12</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834269572"/>
                  </a:ext>
                </a:extLst>
              </a:tr>
              <a:tr h="242838">
                <a:tc>
                  <a:txBody>
                    <a:bodyPr/>
                    <a:lstStyle/>
                    <a:p>
                      <a:pPr algn="ctr" fontAlgn="ctr"/>
                      <a:r>
                        <a:rPr lang="en-IN" sz="1000" u="none" strike="noStrike">
                          <a:effectLst/>
                          <a:latin typeface="Arial" panose="020B0604020202020204" pitchFamily="34" charset="0"/>
                          <a:cs typeface="Arial" panose="020B0604020202020204" pitchFamily="34" charset="0"/>
                        </a:rPr>
                        <a:t>9</a:t>
                      </a:r>
                      <a:endParaRPr lang="en-IN" sz="10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1000" b="0">
                          <a:latin typeface="Arial" panose="020B0604020202020204" pitchFamily="34" charset="0"/>
                          <a:cs typeface="Arial" panose="020B0604020202020204" pitchFamily="34" charset="0"/>
                        </a:rPr>
                        <a:t>Nepalgunj – Nanpara</a:t>
                      </a:r>
                      <a:endParaRPr lang="en-IN" sz="1000" b="0">
                        <a:latin typeface="Arial" panose="020B0604020202020204" pitchFamily="34" charset="0"/>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33</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a:latin typeface="Arial" panose="020B0604020202020204" pitchFamily="34" charset="0"/>
                          <a:cs typeface="Arial" panose="020B0604020202020204" pitchFamily="34" charset="0"/>
                        </a:rPr>
                        <a:t>12</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730353228"/>
                  </a:ext>
                </a:extLst>
              </a:tr>
              <a:tr h="242838">
                <a:tc>
                  <a:txBody>
                    <a:bodyPr/>
                    <a:lstStyle/>
                    <a:p>
                      <a:pPr algn="ctr" fontAlgn="ctr"/>
                      <a:r>
                        <a:rPr lang="en-IN" sz="1000" u="none" strike="noStrike">
                          <a:effectLst/>
                          <a:latin typeface="Arial" panose="020B0604020202020204" pitchFamily="34" charset="0"/>
                          <a:cs typeface="Arial" panose="020B0604020202020204" pitchFamily="34" charset="0"/>
                        </a:rPr>
                        <a:t>10</a:t>
                      </a:r>
                      <a:endParaRPr lang="en-IN" sz="10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000" b="0">
                          <a:latin typeface="Arial" panose="020B0604020202020204" pitchFamily="34" charset="0"/>
                          <a:cs typeface="Arial" panose="020B0604020202020204" pitchFamily="34" charset="0"/>
                        </a:rPr>
                        <a:t>Rajbiraj – Kataiya</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33</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a:latin typeface="Arial" panose="020B0604020202020204" pitchFamily="34" charset="0"/>
                          <a:cs typeface="Arial" panose="020B0604020202020204" pitchFamily="34" charset="0"/>
                        </a:rPr>
                        <a:t>8</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291136720"/>
                  </a:ext>
                </a:extLst>
              </a:tr>
              <a:tr h="242838">
                <a:tc>
                  <a:txBody>
                    <a:bodyPr/>
                    <a:lstStyle/>
                    <a:p>
                      <a:pPr algn="ctr" fontAlgn="ctr"/>
                      <a:r>
                        <a:rPr lang="en-IN" sz="1000" u="none" strike="noStrike">
                          <a:effectLst/>
                          <a:latin typeface="Arial" panose="020B0604020202020204" pitchFamily="34" charset="0"/>
                          <a:cs typeface="Arial" panose="020B0604020202020204" pitchFamily="34" charset="0"/>
                        </a:rPr>
                        <a:t>11</a:t>
                      </a:r>
                      <a:endParaRPr lang="en-IN" sz="10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000" b="0">
                          <a:latin typeface="Arial" panose="020B0604020202020204" pitchFamily="34" charset="0"/>
                          <a:cs typeface="Arial" panose="020B0604020202020204" pitchFamily="34" charset="0"/>
                        </a:rPr>
                        <a:t>Siraha – Jaynagar</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000">
                          <a:latin typeface="Arial" panose="020B0604020202020204" pitchFamily="34" charset="0"/>
                          <a:cs typeface="Arial" panose="020B0604020202020204" pitchFamily="34" charset="0"/>
                        </a:rPr>
                        <a:t>33</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000" dirty="0">
                          <a:latin typeface="Arial" panose="020B0604020202020204" pitchFamily="34" charset="0"/>
                          <a:cs typeface="Arial" panose="020B0604020202020204" pitchFamily="34" charset="0"/>
                        </a:rPr>
                        <a:t>7</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4134305693"/>
                  </a:ext>
                </a:extLst>
              </a:tr>
            </a:tbl>
          </a:graphicData>
        </a:graphic>
      </p:graphicFrame>
      <p:sp>
        <p:nvSpPr>
          <p:cNvPr id="3" name="Rectangle: Rounded Corners 2">
            <a:extLst>
              <a:ext uri="{FF2B5EF4-FFF2-40B4-BE49-F238E27FC236}">
                <a16:creationId xmlns:a16="http://schemas.microsoft.com/office/drawing/2014/main" id="{D583C2F4-A6F8-BC1B-E6E8-715903AB6FDA}"/>
              </a:ext>
            </a:extLst>
          </p:cNvPr>
          <p:cNvSpPr/>
          <p:nvPr/>
        </p:nvSpPr>
        <p:spPr bwMode="gray">
          <a:xfrm>
            <a:off x="514883" y="1207962"/>
            <a:ext cx="5500304" cy="367790"/>
          </a:xfrm>
          <a:prstGeom prst="roundRect">
            <a:avLst/>
          </a:prstGeom>
          <a:solidFill>
            <a:schemeClr val="accent4"/>
          </a:solidFill>
          <a:ln>
            <a:noFill/>
            <a:headEnd/>
            <a:tailEnd/>
          </a:ln>
        </p:spPr>
        <p:style>
          <a:lnRef idx="2">
            <a:schemeClr val="accent1"/>
          </a:lnRef>
          <a:fillRef idx="1">
            <a:schemeClr val="lt1"/>
          </a:fillRef>
          <a:effectRef idx="0">
            <a:schemeClr val="accent1"/>
          </a:effectRef>
          <a:fontRef idx="minor">
            <a:schemeClr val="dk1"/>
          </a:fontRef>
        </p:style>
        <p:txBody>
          <a:bodyPr wrap="square" lIns="88900" tIns="88900" rIns="88900" bIns="88900" rtlCol="0" anchor="ctr"/>
          <a:lstStyle/>
          <a:p>
            <a:pPr algn="ctr">
              <a:lnSpc>
                <a:spcPct val="106000"/>
              </a:lnSpc>
            </a:pPr>
            <a:r>
              <a:rPr lang="en-US" sz="1400" b="1">
                <a:solidFill>
                  <a:schemeClr val="bg1"/>
                </a:solidFill>
                <a:latin typeface="Arial" panose="020B0604020202020204" pitchFamily="34" charset="0"/>
                <a:cs typeface="Arial" panose="020B0604020202020204" pitchFamily="34" charset="0"/>
              </a:rPr>
              <a:t>Existing </a:t>
            </a:r>
            <a:r>
              <a:rPr lang="en-IN" sz="1400" b="1">
                <a:solidFill>
                  <a:schemeClr val="bg1"/>
                </a:solidFill>
                <a:latin typeface="Arial" panose="020B0604020202020204" pitchFamily="34" charset="0"/>
                <a:cs typeface="Arial" panose="020B0604020202020204" pitchFamily="34" charset="0"/>
              </a:rPr>
              <a:t>Cross Border </a:t>
            </a:r>
            <a:r>
              <a:rPr lang="en-US" sz="1400" b="1">
                <a:solidFill>
                  <a:schemeClr val="bg1"/>
                </a:solidFill>
                <a:latin typeface="Arial" panose="020B0604020202020204" pitchFamily="34" charset="0"/>
                <a:cs typeface="Arial" panose="020B0604020202020204" pitchFamily="34" charset="0"/>
              </a:rPr>
              <a:t>Transmission Lines</a:t>
            </a:r>
            <a:r>
              <a:rPr lang="en-IN" sz="1400" b="1">
                <a:solidFill>
                  <a:schemeClr val="bg1"/>
                </a:solidFill>
                <a:latin typeface="Arial" panose="020B0604020202020204" pitchFamily="34" charset="0"/>
                <a:cs typeface="Arial" panose="020B0604020202020204" pitchFamily="34" charset="0"/>
              </a:rPr>
              <a:t> </a:t>
            </a:r>
          </a:p>
        </p:txBody>
      </p:sp>
      <p:cxnSp>
        <p:nvCxnSpPr>
          <p:cNvPr id="4" name="Straight Connector 3">
            <a:extLst>
              <a:ext uri="{FF2B5EF4-FFF2-40B4-BE49-F238E27FC236}">
                <a16:creationId xmlns:a16="http://schemas.microsoft.com/office/drawing/2014/main" id="{A90A4303-A972-AF44-DDED-3F6988B46FCC}"/>
              </a:ext>
            </a:extLst>
          </p:cNvPr>
          <p:cNvCxnSpPr>
            <a:cxnSpLocks/>
          </p:cNvCxnSpPr>
          <p:nvPr/>
        </p:nvCxnSpPr>
        <p:spPr>
          <a:xfrm>
            <a:off x="6176814" y="1201631"/>
            <a:ext cx="0" cy="4123404"/>
          </a:xfrm>
          <a:prstGeom prst="line">
            <a:avLst/>
          </a:prstGeom>
          <a:ln w="9525" cap="flat" cmpd="sng" algn="ctr">
            <a:solidFill>
              <a:schemeClr val="accent2"/>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9" name="Rectangle: Rounded Corners 8">
            <a:extLst>
              <a:ext uri="{FF2B5EF4-FFF2-40B4-BE49-F238E27FC236}">
                <a16:creationId xmlns:a16="http://schemas.microsoft.com/office/drawing/2014/main" id="{325418F7-D80E-AA4D-DB2B-7899F30B2B1A}"/>
              </a:ext>
            </a:extLst>
          </p:cNvPr>
          <p:cNvSpPr/>
          <p:nvPr/>
        </p:nvSpPr>
        <p:spPr bwMode="gray">
          <a:xfrm>
            <a:off x="6371470" y="1201631"/>
            <a:ext cx="5403069" cy="518399"/>
          </a:xfrm>
          <a:prstGeom prst="roundRect">
            <a:avLst/>
          </a:prstGeom>
          <a:solidFill>
            <a:schemeClr val="accent4"/>
          </a:solidFill>
          <a:ln>
            <a:noFill/>
            <a:headEnd/>
            <a:tailEnd/>
          </a:ln>
        </p:spPr>
        <p:style>
          <a:lnRef idx="2">
            <a:schemeClr val="accent1"/>
          </a:lnRef>
          <a:fillRef idx="1">
            <a:schemeClr val="lt1"/>
          </a:fillRef>
          <a:effectRef idx="0">
            <a:schemeClr val="accent1"/>
          </a:effectRef>
          <a:fontRef idx="minor">
            <a:schemeClr val="dk1"/>
          </a:fontRef>
        </p:style>
        <p:txBody>
          <a:bodyPr wrap="square" lIns="88900" tIns="88900" rIns="88900" bIns="88900" rtlCol="0" anchor="ctr"/>
          <a:lstStyle/>
          <a:p>
            <a:pPr algn="ctr">
              <a:lnSpc>
                <a:spcPct val="106000"/>
              </a:lnSpc>
            </a:pPr>
            <a:r>
              <a:rPr lang="en-US" sz="1400" b="1">
                <a:solidFill>
                  <a:schemeClr val="bg1"/>
                </a:solidFill>
                <a:latin typeface="Arial" panose="020B0604020202020204" pitchFamily="34" charset="0"/>
                <a:cs typeface="Arial" panose="020B0604020202020204" pitchFamily="34" charset="0"/>
              </a:rPr>
              <a:t>Updates related to Existing </a:t>
            </a:r>
            <a:r>
              <a:rPr lang="en-IN" sz="1400" b="1">
                <a:solidFill>
                  <a:schemeClr val="bg1"/>
                </a:solidFill>
                <a:latin typeface="Arial" panose="020B0604020202020204" pitchFamily="34" charset="0"/>
                <a:cs typeface="Arial" panose="020B0604020202020204" pitchFamily="34" charset="0"/>
              </a:rPr>
              <a:t>Cross Border </a:t>
            </a:r>
            <a:r>
              <a:rPr lang="en-US" sz="1400" b="1">
                <a:solidFill>
                  <a:schemeClr val="bg1"/>
                </a:solidFill>
                <a:latin typeface="Arial" panose="020B0604020202020204" pitchFamily="34" charset="0"/>
                <a:cs typeface="Arial" panose="020B0604020202020204" pitchFamily="34" charset="0"/>
              </a:rPr>
              <a:t>Transmission Lines</a:t>
            </a:r>
            <a:r>
              <a:rPr lang="en-IN" sz="1400" b="1">
                <a:solidFill>
                  <a:schemeClr val="bg1"/>
                </a:solidFill>
                <a:latin typeface="Arial" panose="020B0604020202020204" pitchFamily="34" charset="0"/>
                <a:cs typeface="Arial" panose="020B0604020202020204" pitchFamily="34" charset="0"/>
              </a:rPr>
              <a:t> </a:t>
            </a:r>
            <a:r>
              <a:rPr lang="en-US" sz="1400" b="1">
                <a:solidFill>
                  <a:schemeClr val="bg1"/>
                </a:solidFill>
                <a:latin typeface="Arial" panose="020B0604020202020204" pitchFamily="34" charset="0"/>
                <a:cs typeface="Arial" panose="020B0604020202020204" pitchFamily="34" charset="0"/>
              </a:rPr>
              <a:t> </a:t>
            </a:r>
            <a:endParaRPr lang="en-IN" sz="1400" b="1">
              <a:solidFill>
                <a:schemeClr val="bg1"/>
              </a:solidFill>
              <a:latin typeface="Arial" panose="020B0604020202020204" pitchFamily="34" charset="0"/>
              <a:cs typeface="Arial" panose="020B0604020202020204" pitchFamily="34" charset="0"/>
            </a:endParaRPr>
          </a:p>
        </p:txBody>
      </p:sp>
      <p:sp>
        <p:nvSpPr>
          <p:cNvPr id="12" name="TextBox 11">
            <a:extLst>
              <a:ext uri="{FF2B5EF4-FFF2-40B4-BE49-F238E27FC236}">
                <a16:creationId xmlns:a16="http://schemas.microsoft.com/office/drawing/2014/main" id="{DB004833-8A60-0CC1-95EF-A38AFD6887E6}"/>
              </a:ext>
            </a:extLst>
          </p:cNvPr>
          <p:cNvSpPr txBox="1"/>
          <p:nvPr/>
        </p:nvSpPr>
        <p:spPr>
          <a:xfrm>
            <a:off x="514883" y="6440754"/>
            <a:ext cx="7274450" cy="307179"/>
          </a:xfrm>
          <a:prstGeom prst="rect">
            <a:avLst/>
          </a:prstGeom>
          <a:noFill/>
        </p:spPr>
        <p:txBody>
          <a:bodyPr wrap="square" lIns="0" tIns="0" rIns="0" bIns="0" rtlCol="0">
            <a:spAutoFit/>
          </a:bodyPr>
          <a:lstStyle/>
          <a:p>
            <a:pPr>
              <a:spcBef>
                <a:spcPts val="600"/>
              </a:spcBef>
              <a:buSzPct val="100000"/>
            </a:pPr>
            <a:r>
              <a:rPr lang="en-IN" sz="1000">
                <a:solidFill>
                  <a:srgbClr val="313131"/>
                </a:solidFill>
                <a:latin typeface="Arial" panose="020B0604020202020204" pitchFamily="34" charset="0"/>
                <a:cs typeface="Arial" panose="020B0604020202020204" pitchFamily="34" charset="0"/>
              </a:rPr>
              <a:t>Source: </a:t>
            </a:r>
            <a:r>
              <a:rPr lang="en-US" sz="1000">
                <a:solidFill>
                  <a:srgbClr val="313131"/>
                </a:solidFill>
                <a:latin typeface="Arial" panose="020B0604020202020204" pitchFamily="34" charset="0"/>
                <a:cs typeface="Arial" panose="020B0604020202020204" pitchFamily="34" charset="0"/>
              </a:rPr>
              <a:t>South Asia Regional Energy Partnership (SAREP), South Asia Subregional Economic Cooperation (SASEC), Press Information Bureau (PIB), Kathmandu Post, Engineering </a:t>
            </a:r>
            <a:r>
              <a:rPr lang="en-US" sz="1000" err="1">
                <a:solidFill>
                  <a:srgbClr val="313131"/>
                </a:solidFill>
                <a:latin typeface="Arial" panose="020B0604020202020204" pitchFamily="34" charset="0"/>
                <a:cs typeface="Arial" panose="020B0604020202020204" pitchFamily="34" charset="0"/>
              </a:rPr>
              <a:t>Sarokar</a:t>
            </a:r>
            <a:r>
              <a:rPr lang="en-US" sz="1000">
                <a:solidFill>
                  <a:srgbClr val="313131"/>
                </a:solidFill>
                <a:latin typeface="Arial" panose="020B0604020202020204" pitchFamily="34" charset="0"/>
                <a:cs typeface="Arial" panose="020B0604020202020204" pitchFamily="34" charset="0"/>
              </a:rPr>
              <a:t>, The Annapurna Express, NLDC Data</a:t>
            </a:r>
            <a:endParaRPr lang="en-IN" sz="1000">
              <a:solidFill>
                <a:srgbClr val="313131"/>
              </a:solidFill>
              <a:latin typeface="Arial" panose="020B0604020202020204" pitchFamily="34" charset="0"/>
              <a:cs typeface="Arial" panose="020B0604020202020204" pitchFamily="34" charset="0"/>
            </a:endParaRPr>
          </a:p>
        </p:txBody>
      </p:sp>
      <p:pic>
        <p:nvPicPr>
          <p:cNvPr id="8" name="Picture 7">
            <a:extLst>
              <a:ext uri="{FF2B5EF4-FFF2-40B4-BE49-F238E27FC236}">
                <a16:creationId xmlns:a16="http://schemas.microsoft.com/office/drawing/2014/main" id="{ECAD9399-F523-BEA8-73FB-EE591771A409}"/>
              </a:ext>
            </a:extLst>
          </p:cNvPr>
          <p:cNvPicPr>
            <a:picLocks noChangeAspect="1"/>
          </p:cNvPicPr>
          <p:nvPr/>
        </p:nvPicPr>
        <p:blipFill>
          <a:blip r:embed="rId6"/>
          <a:stretch>
            <a:fillRect/>
          </a:stretch>
        </p:blipFill>
        <p:spPr>
          <a:xfrm>
            <a:off x="6371469" y="1854865"/>
            <a:ext cx="5570813" cy="3408828"/>
          </a:xfrm>
          <a:prstGeom prst="rect">
            <a:avLst/>
          </a:prstGeom>
        </p:spPr>
      </p:pic>
      <p:graphicFrame>
        <p:nvGraphicFramePr>
          <p:cNvPr id="11" name="Table 10">
            <a:extLst>
              <a:ext uri="{FF2B5EF4-FFF2-40B4-BE49-F238E27FC236}">
                <a16:creationId xmlns:a16="http://schemas.microsoft.com/office/drawing/2014/main" id="{2D70BA01-60F5-BA6A-EA9C-89230DB8F05E}"/>
              </a:ext>
            </a:extLst>
          </p:cNvPr>
          <p:cNvGraphicFramePr>
            <a:graphicFrameLocks noGrp="1"/>
          </p:cNvGraphicFramePr>
          <p:nvPr>
            <p:extLst>
              <p:ext uri="{D42A27DB-BD31-4B8C-83A1-F6EECF244321}">
                <p14:modId xmlns:p14="http://schemas.microsoft.com/office/powerpoint/2010/main" val="2445964389"/>
              </p:ext>
            </p:extLst>
          </p:nvPr>
        </p:nvGraphicFramePr>
        <p:xfrm>
          <a:off x="514883" y="5276508"/>
          <a:ext cx="11216730" cy="1125025"/>
        </p:xfrm>
        <a:graphic>
          <a:graphicData uri="http://schemas.openxmlformats.org/drawingml/2006/table">
            <a:tbl>
              <a:tblPr firstRow="1" bandRow="1">
                <a:tableStyleId>{5C22544A-7EE6-4342-B048-85BDC9FD1C3A}</a:tableStyleId>
              </a:tblPr>
              <a:tblGrid>
                <a:gridCol w="1783820">
                  <a:extLst>
                    <a:ext uri="{9D8B030D-6E8A-4147-A177-3AD203B41FA5}">
                      <a16:colId xmlns:a16="http://schemas.microsoft.com/office/drawing/2014/main" val="1601999352"/>
                    </a:ext>
                  </a:extLst>
                </a:gridCol>
                <a:gridCol w="9432910">
                  <a:extLst>
                    <a:ext uri="{9D8B030D-6E8A-4147-A177-3AD203B41FA5}">
                      <a16:colId xmlns:a16="http://schemas.microsoft.com/office/drawing/2014/main" val="2515607737"/>
                    </a:ext>
                  </a:extLst>
                </a:gridCol>
              </a:tblGrid>
              <a:tr h="302065">
                <a:tc>
                  <a:txBody>
                    <a:bodyPr/>
                    <a:lstStyle/>
                    <a:p>
                      <a:pPr marL="0" indent="0" algn="just">
                        <a:buFont typeface="Arial" panose="020B0604020202020204" pitchFamily="34" charset="0"/>
                        <a:buNone/>
                      </a:pPr>
                      <a:r>
                        <a:rPr lang="en-US" sz="1200" dirty="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775258">
                <a:tc gridSpan="2">
                  <a:txBody>
                    <a:bodyPr/>
                    <a:lstStyle/>
                    <a:p>
                      <a:pPr marL="169863" indent="-169863" algn="just" defTabSz="914335" rtl="0" eaLnBrk="1" latinLnBrk="0" hangingPunct="1">
                        <a:lnSpc>
                          <a:spcPct val="100000"/>
                        </a:lnSpc>
                        <a:buFont typeface="Arial" panose="020B0604020202020204" pitchFamily="34" charset="0"/>
                        <a:buChar char="•"/>
                      </a:pPr>
                      <a:r>
                        <a:rPr lang="en-US" sz="1200" b="0">
                          <a:latin typeface="Arial" panose="020B0604020202020204" pitchFamily="34" charset="0"/>
                          <a:cs typeface="Arial" panose="020B0604020202020204" pitchFamily="34" charset="0"/>
                        </a:rPr>
                        <a:t>The </a:t>
                      </a:r>
                      <a:r>
                        <a:rPr lang="en-US" sz="1200" b="1">
                          <a:latin typeface="Arial" panose="020B0604020202020204" pitchFamily="34" charset="0"/>
                          <a:cs typeface="Arial" panose="020B0604020202020204" pitchFamily="34" charset="0"/>
                        </a:rPr>
                        <a:t>Dhalkebar–Muzaffarpur transmission line </a:t>
                      </a:r>
                      <a:r>
                        <a:rPr lang="en-US" sz="1200" b="0">
                          <a:latin typeface="Arial" panose="020B0604020202020204" pitchFamily="34" charset="0"/>
                          <a:cs typeface="Arial" panose="020B0604020202020204" pitchFamily="34" charset="0"/>
                        </a:rPr>
                        <a:t>has played a transformational role in enabling and expanding cross-border electricity trade (CBET) between Nepal and India. It enabled Nepal Electricity Authority (NEA) to begin commercial exports to India via the Indian Energy Exchange (IEX) starting in June 2021.</a:t>
                      </a:r>
                    </a:p>
                    <a:p>
                      <a:pPr marL="0" indent="0" algn="just" defTabSz="914335" rtl="0" eaLnBrk="1" latinLnBrk="0" hangingPunct="1">
                        <a:lnSpc>
                          <a:spcPct val="100000"/>
                        </a:lnSpc>
                        <a:buFont typeface="Arial" panose="020B0604020202020204" pitchFamily="34" charset="0"/>
                        <a:buNone/>
                      </a:pPr>
                      <a:endParaRPr lang="en-US" sz="1200" b="0">
                        <a:latin typeface="Arial" panose="020B0604020202020204" pitchFamily="34" charset="0"/>
                        <a:cs typeface="Arial" panose="020B0604020202020204" pitchFamily="34" charset="0"/>
                      </a:endParaRPr>
                    </a:p>
                    <a:p>
                      <a:pPr marL="169863" indent="-169863" algn="just" defTabSz="914335" rtl="0" eaLnBrk="1" latinLnBrk="0" hangingPunct="1">
                        <a:lnSpc>
                          <a:spcPct val="100000"/>
                        </a:lnSpc>
                        <a:buFont typeface="Arial" panose="020B0604020202020204" pitchFamily="34" charset="0"/>
                        <a:buChar char="•"/>
                      </a:pPr>
                      <a:r>
                        <a:rPr lang="en-US" sz="1200" b="0">
                          <a:latin typeface="Arial" panose="020B0604020202020204" pitchFamily="34" charset="0"/>
                          <a:cs typeface="Arial" panose="020B0604020202020204" pitchFamily="34" charset="0"/>
                        </a:rPr>
                        <a:t>The project is strategically located between the two main demand centres in Nepal – Kathmandu and Pokhara</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cxnSp>
        <p:nvCxnSpPr>
          <p:cNvPr id="7" name="Straight Connector 6">
            <a:extLst>
              <a:ext uri="{FF2B5EF4-FFF2-40B4-BE49-F238E27FC236}">
                <a16:creationId xmlns:a16="http://schemas.microsoft.com/office/drawing/2014/main" id="{78C08BA1-6510-3B71-15C3-E8A9CD7FA19E}"/>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 name="Rectangle: Rounded Corners 13">
            <a:extLst>
              <a:ext uri="{FF2B5EF4-FFF2-40B4-BE49-F238E27FC236}">
                <a16:creationId xmlns:a16="http://schemas.microsoft.com/office/drawing/2014/main" id="{77A63B1E-A7E2-66BA-81C8-49CBA6F7BCE7}"/>
              </a:ext>
            </a:extLst>
          </p:cNvPr>
          <p:cNvSpPr/>
          <p:nvPr/>
        </p:nvSpPr>
        <p:spPr bwMode="gray">
          <a:xfrm>
            <a:off x="481855" y="4661403"/>
            <a:ext cx="5500304" cy="574356"/>
          </a:xfrm>
          <a:prstGeom prst="roundRect">
            <a:avLst/>
          </a:prstGeom>
          <a:solidFill>
            <a:schemeClr val="accent1">
              <a:lumMod val="60000"/>
              <a:lumOff val="40000"/>
            </a:schemeClr>
          </a:solidFill>
          <a:ln>
            <a:noFill/>
            <a:headEnd/>
            <a:tailEnd/>
          </a:ln>
        </p:spPr>
        <p:style>
          <a:lnRef idx="2">
            <a:schemeClr val="accent1"/>
          </a:lnRef>
          <a:fillRef idx="1">
            <a:schemeClr val="lt1"/>
          </a:fillRef>
          <a:effectRef idx="0">
            <a:schemeClr val="accent1"/>
          </a:effectRef>
          <a:fontRef idx="minor">
            <a:schemeClr val="dk1"/>
          </a:fontRef>
        </p:style>
        <p:txBody>
          <a:bodyPr wrap="square" lIns="88900" tIns="88900" rIns="88900" bIns="88900" rtlCol="0" anchor="ctr"/>
          <a:lstStyle/>
          <a:p>
            <a:pPr marL="285750" indent="-285750">
              <a:lnSpc>
                <a:spcPct val="106000"/>
              </a:lnSpc>
              <a:buFont typeface="Arial" panose="020B0604020202020204" pitchFamily="34" charset="0"/>
              <a:buChar char="•"/>
            </a:pPr>
            <a:r>
              <a:rPr lang="en-IN" sz="1000">
                <a:solidFill>
                  <a:schemeClr val="tx1"/>
                </a:solidFill>
                <a:latin typeface="Arial" panose="020B0604020202020204" pitchFamily="34" charset="0"/>
                <a:cs typeface="Arial" panose="020B0604020202020204" pitchFamily="34" charset="0"/>
              </a:rPr>
              <a:t>As per the latest data (June 2024 to November 2024), </a:t>
            </a:r>
            <a:r>
              <a:rPr lang="en-IN" sz="1000">
                <a:solidFill>
                  <a:srgbClr val="000000"/>
                </a:solidFill>
                <a:latin typeface="Arial" panose="020B0604020202020204" pitchFamily="34" charset="0"/>
                <a:cs typeface="Arial" panose="020B0604020202020204" pitchFamily="34" charset="0"/>
              </a:rPr>
              <a:t>there is 75%-85% utilization </a:t>
            </a:r>
            <a:r>
              <a:rPr lang="en-IN" sz="1000">
                <a:solidFill>
                  <a:schemeClr val="tx1"/>
                </a:solidFill>
                <a:latin typeface="Arial" panose="020B0604020202020204" pitchFamily="34" charset="0"/>
                <a:cs typeface="Arial" panose="020B0604020202020204" pitchFamily="34" charset="0"/>
              </a:rPr>
              <a:t>on the 400 kV  </a:t>
            </a:r>
            <a:r>
              <a:rPr lang="en-IN" sz="1000" b="0" err="1">
                <a:latin typeface="Arial" panose="020B0604020202020204" pitchFamily="34" charset="0"/>
                <a:cs typeface="Arial" panose="020B0604020202020204" pitchFamily="34" charset="0"/>
              </a:rPr>
              <a:t>Dhalkebar</a:t>
            </a:r>
            <a:r>
              <a:rPr lang="en-IN" sz="1000" b="0">
                <a:latin typeface="Arial" panose="020B0604020202020204" pitchFamily="34" charset="0"/>
                <a:cs typeface="Arial" panose="020B0604020202020204" pitchFamily="34" charset="0"/>
              </a:rPr>
              <a:t> – Muzaffarpur transmission line and 85% - 95% utilization on 132 kV </a:t>
            </a:r>
            <a:r>
              <a:rPr lang="en-IN" sz="1000" b="0" err="1">
                <a:latin typeface="Arial" panose="020B0604020202020204" pitchFamily="34" charset="0"/>
                <a:cs typeface="Arial" panose="020B0604020202020204" pitchFamily="34" charset="0"/>
              </a:rPr>
              <a:t>Tanakpur</a:t>
            </a:r>
            <a:r>
              <a:rPr lang="en-IN" sz="1000" b="0">
                <a:latin typeface="Arial" panose="020B0604020202020204" pitchFamily="34" charset="0"/>
                <a:cs typeface="Arial" panose="020B0604020202020204" pitchFamily="34" charset="0"/>
              </a:rPr>
              <a:t> – </a:t>
            </a:r>
            <a:r>
              <a:rPr lang="en-IN" sz="1000" b="0" err="1">
                <a:latin typeface="Arial" panose="020B0604020202020204" pitchFamily="34" charset="0"/>
                <a:cs typeface="Arial" panose="020B0604020202020204" pitchFamily="34" charset="0"/>
              </a:rPr>
              <a:t>Mahendranagar</a:t>
            </a:r>
            <a:r>
              <a:rPr lang="en-IN" sz="1000" b="0">
                <a:solidFill>
                  <a:schemeClr val="tx1"/>
                </a:solidFill>
                <a:latin typeface="Arial" panose="020B0604020202020204" pitchFamily="34" charset="0"/>
                <a:cs typeface="Arial" panose="020B0604020202020204" pitchFamily="34" charset="0"/>
              </a:rPr>
              <a:t> </a:t>
            </a:r>
            <a:r>
              <a:rPr lang="en-IN" sz="1000" b="0">
                <a:latin typeface="Arial" panose="020B0604020202020204" pitchFamily="34" charset="0"/>
                <a:cs typeface="Arial" panose="020B0604020202020204" pitchFamily="34" charset="0"/>
              </a:rPr>
              <a:t>transmission line</a:t>
            </a:r>
          </a:p>
        </p:txBody>
      </p:sp>
      <p:sp>
        <p:nvSpPr>
          <p:cNvPr id="13" name="Oval 12">
            <a:extLst>
              <a:ext uri="{FF2B5EF4-FFF2-40B4-BE49-F238E27FC236}">
                <a16:creationId xmlns:a16="http://schemas.microsoft.com/office/drawing/2014/main" id="{82A8B1D1-4A5E-A950-E571-D944DF9BD6C5}"/>
              </a:ext>
            </a:extLst>
          </p:cNvPr>
          <p:cNvSpPr/>
          <p:nvPr/>
        </p:nvSpPr>
        <p:spPr bwMode="gray">
          <a:xfrm>
            <a:off x="9326814" y="3572094"/>
            <a:ext cx="182880" cy="182880"/>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2000" b="1">
              <a:solidFill>
                <a:schemeClr val="bg1"/>
              </a:solidFill>
            </a:endParaRPr>
          </a:p>
        </p:txBody>
      </p:sp>
      <p:cxnSp>
        <p:nvCxnSpPr>
          <p:cNvPr id="15" name="Straight Arrow Connector 14">
            <a:extLst>
              <a:ext uri="{FF2B5EF4-FFF2-40B4-BE49-F238E27FC236}">
                <a16:creationId xmlns:a16="http://schemas.microsoft.com/office/drawing/2014/main" id="{1ED875A7-04B6-194B-3EAA-08A4E80C57AC}"/>
              </a:ext>
            </a:extLst>
          </p:cNvPr>
          <p:cNvCxnSpPr>
            <a:cxnSpLocks/>
          </p:cNvCxnSpPr>
          <p:nvPr/>
        </p:nvCxnSpPr>
        <p:spPr>
          <a:xfrm>
            <a:off x="9418254" y="2920861"/>
            <a:ext cx="0" cy="651233"/>
          </a:xfrm>
          <a:prstGeom prst="straightConnector1">
            <a:avLst/>
          </a:prstGeom>
          <a:ln>
            <a:tailEnd type="triangle"/>
          </a:ln>
        </p:spPr>
        <p:style>
          <a:lnRef idx="3">
            <a:schemeClr val="accent6"/>
          </a:lnRef>
          <a:fillRef idx="0">
            <a:schemeClr val="accent6"/>
          </a:fillRef>
          <a:effectRef idx="2">
            <a:schemeClr val="accent6"/>
          </a:effectRef>
          <a:fontRef idx="minor">
            <a:schemeClr val="tx1"/>
          </a:fontRef>
        </p:style>
      </p:cxnSp>
      <p:sp>
        <p:nvSpPr>
          <p:cNvPr id="19" name="Rectangle: Rounded Corners 18">
            <a:extLst>
              <a:ext uri="{FF2B5EF4-FFF2-40B4-BE49-F238E27FC236}">
                <a16:creationId xmlns:a16="http://schemas.microsoft.com/office/drawing/2014/main" id="{9058F3B2-9AB5-78B7-B575-1D088856466D}"/>
              </a:ext>
            </a:extLst>
          </p:cNvPr>
          <p:cNvSpPr/>
          <p:nvPr/>
        </p:nvSpPr>
        <p:spPr bwMode="gray">
          <a:xfrm>
            <a:off x="8836179" y="2695069"/>
            <a:ext cx="1066768" cy="182880"/>
          </a:xfrm>
          <a:prstGeom prst="roundRect">
            <a:avLst/>
          </a:prstGeom>
          <a:ln>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ctr">
              <a:lnSpc>
                <a:spcPct val="106000"/>
              </a:lnSpc>
              <a:buFont typeface="Wingdings 2" pitchFamily="18" charset="2"/>
              <a:buNone/>
            </a:pPr>
            <a:r>
              <a:rPr lang="en-US" sz="700" b="1">
                <a:solidFill>
                  <a:schemeClr val="tx1"/>
                </a:solidFill>
                <a:latin typeface="Arial" panose="020B0604020202020204" pitchFamily="34" charset="0"/>
                <a:cs typeface="Arial" panose="020B0604020202020204" pitchFamily="34" charset="0"/>
              </a:rPr>
              <a:t>PJ_ST Project</a:t>
            </a:r>
          </a:p>
        </p:txBody>
      </p:sp>
    </p:spTree>
    <p:extLst>
      <p:ext uri="{BB962C8B-B14F-4D97-AF65-F5344CB8AC3E}">
        <p14:creationId xmlns:p14="http://schemas.microsoft.com/office/powerpoint/2010/main" val="518600892"/>
      </p:ext>
    </p:extLst>
  </p:cSld>
  <p:clrMapOvr>
    <a:masterClrMapping/>
  </p:clrMapOvr>
  <p:transition>
    <p:fade/>
  </p:transition>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accent4">
            <a:lumMod val="50000"/>
          </a:schemeClr>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2345754706"/>
              </p:ext>
            </p:extLst>
          </p:nvPr>
        </p:nvGraphicFramePr>
        <p:xfrm>
          <a:off x="2189682" y="2951947"/>
          <a:ext cx="8509002" cy="954106"/>
        </p:xfrm>
        <a:graphic>
          <a:graphicData uri="http://schemas.openxmlformats.org/drawingml/2006/table">
            <a:tbl>
              <a:tblPr firstRow="1" bandRow="1">
                <a:tableStyleId>{5C22544A-7EE6-4342-B048-85BDC9FD1C3A}</a:tableStyleId>
              </a:tblPr>
              <a:tblGrid>
                <a:gridCol w="3164033">
                  <a:extLst>
                    <a:ext uri="{9D8B030D-6E8A-4147-A177-3AD203B41FA5}">
                      <a16:colId xmlns:a16="http://schemas.microsoft.com/office/drawing/2014/main" val="2744717436"/>
                    </a:ext>
                  </a:extLst>
                </a:gridCol>
                <a:gridCol w="5344969">
                  <a:extLst>
                    <a:ext uri="{9D8B030D-6E8A-4147-A177-3AD203B41FA5}">
                      <a16:colId xmlns:a16="http://schemas.microsoft.com/office/drawing/2014/main" val="570884867"/>
                    </a:ext>
                  </a:extLst>
                </a:gridCol>
              </a:tblGrid>
              <a:tr h="954106">
                <a:tc>
                  <a:txBody>
                    <a:bodyPr/>
                    <a:lstStyle/>
                    <a:p>
                      <a:r>
                        <a:rPr lang="en-US" sz="3600">
                          <a:latin typeface="Arial" panose="020B0604020202020204" pitchFamily="34" charset="0"/>
                          <a:cs typeface="Arial" panose="020B0604020202020204" pitchFamily="34" charset="0"/>
                        </a:rPr>
                        <a:t>CHAPTER 3</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398463" indent="0"/>
                      <a:r>
                        <a:rPr lang="en-US" sz="2400">
                          <a:latin typeface="Arial" panose="020B0604020202020204" pitchFamily="34" charset="0"/>
                          <a:cs typeface="Arial" panose="020B0604020202020204" pitchFamily="34" charset="0"/>
                        </a:rPr>
                        <a:t>OUTLOOK</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3206760638"/>
      </p:ext>
    </p:extLst>
  </p:cSld>
  <p:clrMapOvr>
    <a:masterClrMapping/>
  </p:clrMapOvr>
  <p:transition>
    <p:fade/>
  </p:transition>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416159072"/>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3654846568"/>
              </p:ext>
            </p:extLst>
          </p:nvPr>
        </p:nvGraphicFramePr>
        <p:xfrm>
          <a:off x="1673719" y="2761586"/>
          <a:ext cx="9206802" cy="1334828"/>
        </p:xfrm>
        <a:graphic>
          <a:graphicData uri="http://schemas.openxmlformats.org/drawingml/2006/table">
            <a:tbl>
              <a:tblPr firstRow="1" bandRow="1">
                <a:tableStyleId>{5C22544A-7EE6-4342-B048-85BDC9FD1C3A}</a:tableStyleId>
              </a:tblPr>
              <a:tblGrid>
                <a:gridCol w="2703548">
                  <a:extLst>
                    <a:ext uri="{9D8B030D-6E8A-4147-A177-3AD203B41FA5}">
                      <a16:colId xmlns:a16="http://schemas.microsoft.com/office/drawing/2014/main" val="2744717436"/>
                    </a:ext>
                  </a:extLst>
                </a:gridCol>
                <a:gridCol w="6503254">
                  <a:extLst>
                    <a:ext uri="{9D8B030D-6E8A-4147-A177-3AD203B41FA5}">
                      <a16:colId xmlns:a16="http://schemas.microsoft.com/office/drawing/2014/main" val="570884867"/>
                    </a:ext>
                  </a:extLst>
                </a:gridCol>
              </a:tblGrid>
              <a:tr h="1334828">
                <a:tc>
                  <a:txBody>
                    <a:bodyPr/>
                    <a:lstStyle/>
                    <a:p>
                      <a:r>
                        <a:rPr lang="en-US" sz="3600">
                          <a:latin typeface="Arial" panose="020B0604020202020204" pitchFamily="34" charset="0"/>
                          <a:cs typeface="Arial" panose="020B0604020202020204" pitchFamily="34" charset="0"/>
                        </a:rPr>
                        <a:t>3.1</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398463" indent="0"/>
                      <a:r>
                        <a:rPr lang="en-US" sz="2400">
                          <a:latin typeface="Arial" panose="020B0604020202020204" pitchFamily="34" charset="0"/>
                          <a:cs typeface="Arial" panose="020B0604020202020204" pitchFamily="34" charset="0"/>
                        </a:rPr>
                        <a:t>DEMAND-SUPPLY OUTLOOK</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4210828814"/>
      </p:ext>
    </p:extLst>
  </p:cSld>
  <p:clrMapOvr>
    <a:masterClrMapping/>
  </p:clrMapOvr>
  <p:transition>
    <p:fade/>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665532188"/>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37" imgW="415" imgH="416" progId="TCLayout.ActiveDocument.1">
                  <p:embed/>
                </p:oleObj>
              </mc:Choice>
              <mc:Fallback>
                <p:oleObj name="think-cell Slide" r:id="rId37"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38"/>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Nepal Power Sector Future Outlook | Demand Projections</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High electricity demand growth anticipated, driven by low base, clean energy transition, and rapid economic development</a:t>
            </a:r>
          </a:p>
        </p:txBody>
      </p:sp>
      <p:sp>
        <p:nvSpPr>
          <p:cNvPr id="4" name="Rectangle 3">
            <a:extLst>
              <a:ext uri="{FF2B5EF4-FFF2-40B4-BE49-F238E27FC236}">
                <a16:creationId xmlns:a16="http://schemas.microsoft.com/office/drawing/2014/main" id="{C2FA7F77-5700-3A87-9ADA-E869269335EB}"/>
              </a:ext>
            </a:extLst>
          </p:cNvPr>
          <p:cNvSpPr/>
          <p:nvPr/>
        </p:nvSpPr>
        <p:spPr bwMode="gray">
          <a:xfrm>
            <a:off x="528371" y="989014"/>
            <a:ext cx="11348196" cy="4129524"/>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graphicFrame>
        <p:nvGraphicFramePr>
          <p:cNvPr id="39" name="Chart 38">
            <a:extLst>
              <a:ext uri="{FF2B5EF4-FFF2-40B4-BE49-F238E27FC236}">
                <a16:creationId xmlns:a16="http://schemas.microsoft.com/office/drawing/2014/main" id="{C3A532B0-BB78-8EE2-2517-80E5193854F9}"/>
              </a:ext>
            </a:extLst>
          </p:cNvPr>
          <p:cNvGraphicFramePr/>
          <p:nvPr>
            <p:custDataLst>
              <p:tags r:id="rId2"/>
            </p:custDataLst>
            <p:extLst>
              <p:ext uri="{D42A27DB-BD31-4B8C-83A1-F6EECF244321}">
                <p14:modId xmlns:p14="http://schemas.microsoft.com/office/powerpoint/2010/main" val="1159811280"/>
              </p:ext>
            </p:extLst>
          </p:nvPr>
        </p:nvGraphicFramePr>
        <p:xfrm>
          <a:off x="617538" y="1087438"/>
          <a:ext cx="10842625" cy="3095625"/>
        </p:xfrm>
        <a:graphic>
          <a:graphicData uri="http://schemas.openxmlformats.org/drawingml/2006/chart">
            <c:chart xmlns:c="http://schemas.openxmlformats.org/drawingml/2006/chart" xmlns:r="http://schemas.openxmlformats.org/officeDocument/2006/relationships" r:id="rId39"/>
          </a:graphicData>
        </a:graphic>
      </p:graphicFrame>
      <p:cxnSp>
        <p:nvCxnSpPr>
          <p:cNvPr id="17" name="Straight Connector 16">
            <a:extLst>
              <a:ext uri="{FF2B5EF4-FFF2-40B4-BE49-F238E27FC236}">
                <a16:creationId xmlns:a16="http://schemas.microsoft.com/office/drawing/2014/main" id="{CBB3B803-98DC-C67A-D41B-DEAC3253A16D}"/>
              </a:ext>
            </a:extLst>
          </p:cNvPr>
          <p:cNvCxnSpPr/>
          <p:nvPr>
            <p:custDataLst>
              <p:tags r:id="rId3"/>
            </p:custDataLst>
          </p:nvPr>
        </p:nvCxnSpPr>
        <p:spPr bwMode="auto">
          <a:xfrm>
            <a:off x="2751138" y="3460750"/>
            <a:ext cx="0" cy="1016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AE707DF2-BF68-4F55-6047-5D3144751A02}"/>
              </a:ext>
            </a:extLst>
          </p:cNvPr>
          <p:cNvCxnSpPr/>
          <p:nvPr>
            <p:custDataLst>
              <p:tags r:id="rId4"/>
            </p:custDataLst>
          </p:nvPr>
        </p:nvCxnSpPr>
        <p:spPr bwMode="auto">
          <a:xfrm>
            <a:off x="5253038" y="3144838"/>
            <a:ext cx="0" cy="1016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01117EF3-C3B7-4B48-80C9-FE2920E076A7}"/>
              </a:ext>
            </a:extLst>
          </p:cNvPr>
          <p:cNvCxnSpPr/>
          <p:nvPr>
            <p:custDataLst>
              <p:tags r:id="rId5"/>
            </p:custDataLst>
          </p:nvPr>
        </p:nvCxnSpPr>
        <p:spPr bwMode="auto">
          <a:xfrm>
            <a:off x="7756525" y="2690813"/>
            <a:ext cx="0" cy="1016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EA9CB768-E7A1-7981-36F8-E630C823799B}"/>
              </a:ext>
            </a:extLst>
          </p:cNvPr>
          <p:cNvCxnSpPr/>
          <p:nvPr>
            <p:custDataLst>
              <p:tags r:id="rId6"/>
            </p:custDataLst>
          </p:nvPr>
        </p:nvCxnSpPr>
        <p:spPr bwMode="auto">
          <a:xfrm>
            <a:off x="10258425" y="1766888"/>
            <a:ext cx="0" cy="1016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 name="Text Placeholder 18">
            <a:extLst>
              <a:ext uri="{FF2B5EF4-FFF2-40B4-BE49-F238E27FC236}">
                <a16:creationId xmlns:a16="http://schemas.microsoft.com/office/drawing/2014/main" id="{76CD3154-26EA-41F8-4ABF-7485780FD0FE}"/>
              </a:ext>
            </a:extLst>
          </p:cNvPr>
          <p:cNvSpPr>
            <a:spLocks noGrp="1"/>
          </p:cNvSpPr>
          <p:nvPr>
            <p:custDataLst>
              <p:tags r:id="rId7"/>
            </p:custDataLst>
          </p:nvPr>
        </p:nvSpPr>
        <p:spPr bwMode="gray">
          <a:xfrm>
            <a:off x="2778125" y="3738564"/>
            <a:ext cx="474663" cy="168275"/>
          </a:xfrm>
          <a:prstGeom prst="rect">
            <a:avLst/>
          </a:prstGeom>
          <a:solidFill>
            <a:srgbClr val="A7A8AA"/>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50203E2-B633-4494-80D7-6E6661F070B6}" type="datetime'''''''''''''1''''2,''''''1''''''''''9''1'''''">
              <a:rPr lang="en-US" altLang="en-US" sz="1100"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12,191</a:t>
            </a:fld>
            <a:endParaRPr lang="en-US" sz="1100" noProof="0">
              <a:latin typeface="Arial" panose="020B0604020202020204" pitchFamily="34" charset="0"/>
              <a:cs typeface="Arial" panose="020B0604020202020204" pitchFamily="34" charset="0"/>
              <a:sym typeface="Arial" panose="020B0604020202020204" pitchFamily="34" charset="0"/>
            </a:endParaRPr>
          </a:p>
        </p:txBody>
      </p:sp>
      <p:sp>
        <p:nvSpPr>
          <p:cNvPr id="955" name="Text Placeholder 18">
            <a:extLst>
              <a:ext uri="{FF2B5EF4-FFF2-40B4-BE49-F238E27FC236}">
                <a16:creationId xmlns:a16="http://schemas.microsoft.com/office/drawing/2014/main" id="{B82CAFA4-380F-2BD7-6DCE-B2B010F29EC1}"/>
              </a:ext>
            </a:extLst>
          </p:cNvPr>
          <p:cNvSpPr>
            <a:spLocks noGrp="1"/>
          </p:cNvSpPr>
          <p:nvPr>
            <p:custDataLst>
              <p:tags r:id="rId8"/>
            </p:custDataLst>
          </p:nvPr>
        </p:nvSpPr>
        <p:spPr bwMode="auto">
          <a:xfrm>
            <a:off x="2457450" y="4029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39471AB-1E13-4A13-8E05-C1486A5C4E96}" type="datetime'''''''''''''''''''''2''''''''''''''0''''''''''''''''''2''5'">
              <a:rPr lang="en-US" altLang="en-US" sz="1100" smtClean="0">
                <a:latin typeface="Arial" panose="020B0604020202020204" pitchFamily="34" charset="0"/>
                <a:cs typeface="+mn-cs"/>
              </a:rPr>
              <a:pPr lvl="0" algn="ctr">
                <a:spcBef>
                  <a:spcPct val="0"/>
                </a:spcBef>
                <a:spcAft>
                  <a:spcPct val="0"/>
                </a:spcAft>
              </a:pPr>
              <a:t>2025</a:t>
            </a:fld>
            <a:endParaRPr lang="en-US" sz="1100" noProof="0">
              <a:latin typeface="Arial" panose="020B0604020202020204" pitchFamily="34" charset="0"/>
              <a:cs typeface="+mn-cs"/>
              <a:sym typeface="Arial" panose="020B0604020202020204" pitchFamily="34" charset="0"/>
            </a:endParaRPr>
          </a:p>
        </p:txBody>
      </p:sp>
      <p:sp>
        <p:nvSpPr>
          <p:cNvPr id="491" name="Text Placeholder 18">
            <a:extLst>
              <a:ext uri="{FF2B5EF4-FFF2-40B4-BE49-F238E27FC236}">
                <a16:creationId xmlns:a16="http://schemas.microsoft.com/office/drawing/2014/main" id="{5DD06709-36E4-1DBA-11D0-C32CF71890A9}"/>
              </a:ext>
            </a:extLst>
          </p:cNvPr>
          <p:cNvSpPr>
            <a:spLocks noGrp="1"/>
          </p:cNvSpPr>
          <p:nvPr>
            <p:custDataLst>
              <p:tags r:id="rId9"/>
            </p:custDataLst>
          </p:nvPr>
        </p:nvSpPr>
        <p:spPr bwMode="auto">
          <a:xfrm>
            <a:off x="4959350" y="4029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BD587004-FC24-442F-9530-A34F7D4F1749}" type="datetime'''''''2''''''''''''''''03''''''''''''''''''''''''''''0'''''">
              <a:rPr lang="en-US" altLang="en-US" sz="1100" smtClean="0">
                <a:latin typeface="Arial" panose="020B0604020202020204" pitchFamily="34" charset="0"/>
                <a:cs typeface="+mn-cs"/>
              </a:rPr>
              <a:pPr lvl="0" algn="ctr">
                <a:spcBef>
                  <a:spcPct val="0"/>
                </a:spcBef>
                <a:spcAft>
                  <a:spcPct val="0"/>
                </a:spcAft>
              </a:pPr>
              <a:t>2030</a:t>
            </a:fld>
            <a:endParaRPr lang="en-US" sz="1100" noProof="0">
              <a:latin typeface="Arial" panose="020B0604020202020204" pitchFamily="34" charset="0"/>
              <a:cs typeface="+mn-cs"/>
              <a:sym typeface="Arial" panose="020B0604020202020204" pitchFamily="34" charset="0"/>
            </a:endParaRPr>
          </a:p>
        </p:txBody>
      </p:sp>
      <p:sp>
        <p:nvSpPr>
          <p:cNvPr id="494" name="Text Placeholder 18">
            <a:extLst>
              <a:ext uri="{FF2B5EF4-FFF2-40B4-BE49-F238E27FC236}">
                <a16:creationId xmlns:a16="http://schemas.microsoft.com/office/drawing/2014/main" id="{B91FF844-0572-7749-D100-9C8F83C462B3}"/>
              </a:ext>
            </a:extLst>
          </p:cNvPr>
          <p:cNvSpPr>
            <a:spLocks noGrp="1"/>
          </p:cNvSpPr>
          <p:nvPr>
            <p:custDataLst>
              <p:tags r:id="rId10"/>
            </p:custDataLst>
          </p:nvPr>
        </p:nvSpPr>
        <p:spPr bwMode="auto">
          <a:xfrm>
            <a:off x="7462838" y="4029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6CEE3385-89FD-4B86-8552-122029ACCCBD}" type="datetime'''''2''''''''''''''''''''0''''''''''''''''''''''35'''''''''">
              <a:rPr lang="en-US" altLang="en-US" sz="1100" smtClean="0">
                <a:latin typeface="Arial" panose="020B0604020202020204" pitchFamily="34" charset="0"/>
                <a:cs typeface="+mn-cs"/>
              </a:rPr>
              <a:pPr lvl="0" algn="ctr">
                <a:spcBef>
                  <a:spcPct val="0"/>
                </a:spcBef>
                <a:spcAft>
                  <a:spcPct val="0"/>
                </a:spcAft>
              </a:pPr>
              <a:t>2035</a:t>
            </a:fld>
            <a:endParaRPr lang="en-US" sz="1100" noProof="0">
              <a:latin typeface="Arial" panose="020B0604020202020204" pitchFamily="34" charset="0"/>
              <a:cs typeface="+mn-cs"/>
              <a:sym typeface="Arial" panose="020B0604020202020204" pitchFamily="34" charset="0"/>
            </a:endParaRPr>
          </a:p>
        </p:txBody>
      </p:sp>
      <p:sp>
        <p:nvSpPr>
          <p:cNvPr id="12" name="Text Placeholder 18">
            <a:extLst>
              <a:ext uri="{FF2B5EF4-FFF2-40B4-BE49-F238E27FC236}">
                <a16:creationId xmlns:a16="http://schemas.microsoft.com/office/drawing/2014/main" id="{4255328D-B9D2-B5DB-F365-49C7F890438B}"/>
              </a:ext>
            </a:extLst>
          </p:cNvPr>
          <p:cNvSpPr>
            <a:spLocks noGrp="1"/>
          </p:cNvSpPr>
          <p:nvPr>
            <p:custDataLst>
              <p:tags r:id="rId11"/>
            </p:custDataLst>
          </p:nvPr>
        </p:nvSpPr>
        <p:spPr bwMode="gray">
          <a:xfrm>
            <a:off x="8967788" y="3452813"/>
            <a:ext cx="474663"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0994EDEB-3807-4262-8E0F-57366244511E}" type="datetime'4''''''''''''''''3'''',''01''''''''''''''''''7'''''''''''">
              <a:rPr lang="en-US" altLang="en-US" sz="1100" smtClean="0">
                <a:effectLst/>
                <a:latin typeface="Arial" panose="020B0604020202020204" pitchFamily="34" charset="0"/>
                <a:cs typeface="+mn-cs"/>
                <a:sym typeface="Arial" panose="020B0604020202020204" pitchFamily="34" charset="0"/>
              </a:rPr>
              <a:pPr lvl="0" algn="ctr">
                <a:spcBef>
                  <a:spcPct val="0"/>
                </a:spcBef>
                <a:spcAft>
                  <a:spcPct val="0"/>
                </a:spcAft>
              </a:pPr>
              <a:t>43,017</a:t>
            </a:fld>
            <a:endParaRPr lang="en-US" sz="1100" noProof="0">
              <a:latin typeface="Arial" panose="020B0604020202020204" pitchFamily="34" charset="0"/>
              <a:cs typeface="+mn-cs"/>
              <a:sym typeface="Arial" panose="020B0604020202020204" pitchFamily="34" charset="0"/>
            </a:endParaRPr>
          </a:p>
        </p:txBody>
      </p:sp>
      <p:sp>
        <p:nvSpPr>
          <p:cNvPr id="8" name="Text Placeholder 18">
            <a:extLst>
              <a:ext uri="{FF2B5EF4-FFF2-40B4-BE49-F238E27FC236}">
                <a16:creationId xmlns:a16="http://schemas.microsoft.com/office/drawing/2014/main" id="{D3C495FC-2975-CD82-17BC-9DE5AEDD278C}"/>
              </a:ext>
            </a:extLst>
          </p:cNvPr>
          <p:cNvSpPr>
            <a:spLocks noGrp="1"/>
          </p:cNvSpPr>
          <p:nvPr>
            <p:custDataLst>
              <p:tags r:id="rId12"/>
            </p:custDataLst>
          </p:nvPr>
        </p:nvSpPr>
        <p:spPr bwMode="gray">
          <a:xfrm>
            <a:off x="10772775" y="2614613"/>
            <a:ext cx="552450" cy="168275"/>
          </a:xfrm>
          <a:prstGeom prst="rect">
            <a:avLst/>
          </a:prstGeom>
          <a:solidFill>
            <a:srgbClr val="0000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80CDD51-0F5B-4D45-B4C4-F49AAA6DDAC0}" type="datetime'133'''''',''''1''''''''''''''''''''8''''''5'''''''''''''''">
              <a:rPr lang="en-US" altLang="en-US" sz="11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133,185</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497" name="Text Placeholder 18">
            <a:extLst>
              <a:ext uri="{FF2B5EF4-FFF2-40B4-BE49-F238E27FC236}">
                <a16:creationId xmlns:a16="http://schemas.microsoft.com/office/drawing/2014/main" id="{782BC23E-278C-7AFB-5164-8B94ECF90360}"/>
              </a:ext>
            </a:extLst>
          </p:cNvPr>
          <p:cNvSpPr>
            <a:spLocks noGrp="1"/>
          </p:cNvSpPr>
          <p:nvPr>
            <p:custDataLst>
              <p:tags r:id="rId13"/>
            </p:custDataLst>
          </p:nvPr>
        </p:nvSpPr>
        <p:spPr bwMode="auto">
          <a:xfrm>
            <a:off x="9964738" y="4029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20A5D23-A3E1-4205-91BA-6F182A2BD62F}" type="datetime'''''''''''''''''''''2''''0''''''''4''''''''''''''0'''''''''''">
              <a:rPr lang="en-US" altLang="en-US" sz="1100" smtClean="0">
                <a:latin typeface="Arial" panose="020B0604020202020204" pitchFamily="34" charset="0"/>
                <a:cs typeface="+mn-cs"/>
              </a:rPr>
              <a:pPr lvl="0" algn="ctr">
                <a:spcBef>
                  <a:spcPct val="0"/>
                </a:spcBef>
                <a:spcAft>
                  <a:spcPct val="0"/>
                </a:spcAft>
              </a:pPr>
              <a:t>2040</a:t>
            </a:fld>
            <a:endParaRPr lang="en-US" sz="1100" noProof="0">
              <a:latin typeface="Arial" panose="020B0604020202020204" pitchFamily="34" charset="0"/>
              <a:cs typeface="+mn-cs"/>
              <a:sym typeface="Arial" panose="020B0604020202020204" pitchFamily="34" charset="0"/>
            </a:endParaRPr>
          </a:p>
        </p:txBody>
      </p:sp>
      <p:sp>
        <p:nvSpPr>
          <p:cNvPr id="3" name="Text Placeholder 18">
            <a:extLst>
              <a:ext uri="{FF2B5EF4-FFF2-40B4-BE49-F238E27FC236}">
                <a16:creationId xmlns:a16="http://schemas.microsoft.com/office/drawing/2014/main" id="{FECA9917-0143-BF5D-24CC-95B22FE14594}"/>
              </a:ext>
            </a:extLst>
          </p:cNvPr>
          <p:cNvSpPr>
            <a:spLocks noGrp="1"/>
          </p:cNvSpPr>
          <p:nvPr>
            <p:custDataLst>
              <p:tags r:id="rId14"/>
            </p:custDataLst>
          </p:nvPr>
        </p:nvSpPr>
        <p:spPr bwMode="gray">
          <a:xfrm>
            <a:off x="1460500" y="3732213"/>
            <a:ext cx="474663"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49BB108-4E4F-4322-895E-989E3A089FF2}" type="datetime'''''''''''1''''''''2'''''''''''''''''''''',9''''''9''''''9'">
              <a:rPr lang="en-US" altLang="en-US" sz="1100" smtClean="0">
                <a:effectLst/>
                <a:latin typeface="Arial" panose="020B0604020202020204" pitchFamily="34" charset="0"/>
                <a:cs typeface="+mn-cs"/>
                <a:sym typeface="Arial" panose="020B0604020202020204" pitchFamily="34" charset="0"/>
              </a:rPr>
              <a:pPr lvl="0" algn="ctr">
                <a:spcBef>
                  <a:spcPct val="0"/>
                </a:spcBef>
                <a:spcAft>
                  <a:spcPct val="0"/>
                </a:spcAft>
              </a:pPr>
              <a:t>12,999</a:t>
            </a:fld>
            <a:endParaRPr lang="en-US" sz="1100" noProof="0">
              <a:latin typeface="Arial" panose="020B0604020202020204" pitchFamily="34" charset="0"/>
              <a:cs typeface="+mn-cs"/>
              <a:sym typeface="Arial" panose="020B0604020202020204" pitchFamily="34" charset="0"/>
            </a:endParaRPr>
          </a:p>
        </p:txBody>
      </p:sp>
      <p:sp>
        <p:nvSpPr>
          <p:cNvPr id="19" name="Text Placeholder 18">
            <a:extLst>
              <a:ext uri="{FF2B5EF4-FFF2-40B4-BE49-F238E27FC236}">
                <a16:creationId xmlns:a16="http://schemas.microsoft.com/office/drawing/2014/main" id="{41A3A6CD-A450-A198-6B4E-FAA9DC593CFE}"/>
              </a:ext>
            </a:extLst>
          </p:cNvPr>
          <p:cNvSpPr>
            <a:spLocks noGrp="1"/>
          </p:cNvSpPr>
          <p:nvPr>
            <p:custDataLst>
              <p:tags r:id="rId15"/>
            </p:custDataLst>
          </p:nvPr>
        </p:nvSpPr>
        <p:spPr bwMode="gray">
          <a:xfrm>
            <a:off x="3305176" y="3697288"/>
            <a:ext cx="474663" cy="168275"/>
          </a:xfrm>
          <a:prstGeom prst="rect">
            <a:avLst/>
          </a:prstGeom>
          <a:solidFill>
            <a:srgbClr val="0000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F965592-41C7-4998-AE23-EDEAE95B7323}" type="datetime'''''''1''''''''''''''''''6,''''''''''''''6''9''''''''0'''''''">
              <a:rPr lang="en-US" altLang="en-US" sz="11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16,690</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22" name="Text Placeholder 18">
            <a:extLst>
              <a:ext uri="{FF2B5EF4-FFF2-40B4-BE49-F238E27FC236}">
                <a16:creationId xmlns:a16="http://schemas.microsoft.com/office/drawing/2014/main" id="{6F9317F7-B4B6-8434-2E67-5F024BA2DCB4}"/>
              </a:ext>
            </a:extLst>
          </p:cNvPr>
          <p:cNvSpPr>
            <a:spLocks noGrp="1"/>
          </p:cNvSpPr>
          <p:nvPr>
            <p:custDataLst>
              <p:tags r:id="rId16"/>
            </p:custDataLst>
          </p:nvPr>
        </p:nvSpPr>
        <p:spPr bwMode="gray">
          <a:xfrm>
            <a:off x="3962400" y="3665538"/>
            <a:ext cx="474663"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D7FA151-A1A5-48E0-A711-7A371749B90A}" type="datetime'''2''0'''''''''''''''''''''''',''''''''07''''''''''''''4'''">
              <a:rPr lang="en-US" altLang="en-US" sz="1100" smtClean="0">
                <a:effectLst/>
                <a:latin typeface="Arial" panose="020B0604020202020204" pitchFamily="34" charset="0"/>
                <a:cs typeface="+mn-cs"/>
                <a:sym typeface="Arial" panose="020B0604020202020204" pitchFamily="34" charset="0"/>
              </a:rPr>
              <a:pPr lvl="0" algn="ctr">
                <a:spcBef>
                  <a:spcPct val="0"/>
                </a:spcBef>
                <a:spcAft>
                  <a:spcPct val="0"/>
                </a:spcAft>
              </a:pPr>
              <a:t>20,074</a:t>
            </a:fld>
            <a:endParaRPr lang="en-US" sz="1100" noProof="0">
              <a:latin typeface="Arial" panose="020B0604020202020204" pitchFamily="34" charset="0"/>
              <a:cs typeface="+mn-cs"/>
              <a:sym typeface="Arial" panose="020B0604020202020204" pitchFamily="34" charset="0"/>
            </a:endParaRPr>
          </a:p>
        </p:txBody>
      </p:sp>
      <p:sp>
        <p:nvSpPr>
          <p:cNvPr id="28" name="Text Placeholder 18">
            <a:extLst>
              <a:ext uri="{FF2B5EF4-FFF2-40B4-BE49-F238E27FC236}">
                <a16:creationId xmlns:a16="http://schemas.microsoft.com/office/drawing/2014/main" id="{1F7357AE-F25F-D835-F464-280FAE322EF7}"/>
              </a:ext>
            </a:extLst>
          </p:cNvPr>
          <p:cNvSpPr>
            <a:spLocks noGrp="1"/>
          </p:cNvSpPr>
          <p:nvPr>
            <p:custDataLst>
              <p:tags r:id="rId17"/>
            </p:custDataLst>
          </p:nvPr>
        </p:nvSpPr>
        <p:spPr bwMode="gray">
          <a:xfrm>
            <a:off x="5807075" y="3565525"/>
            <a:ext cx="474663" cy="168275"/>
          </a:xfrm>
          <a:prstGeom prst="rect">
            <a:avLst/>
          </a:prstGeom>
          <a:solidFill>
            <a:srgbClr val="0000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0966C50-F2C0-4CB0-83E2-194ED59B37DE}" type="datetime'''''''''''''''''''''''''3''''0'''''',''''''8''7''''''''9'''">
              <a:rPr lang="en-US" altLang="en-US" sz="11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30,879</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31" name="Text Placeholder 18">
            <a:extLst>
              <a:ext uri="{FF2B5EF4-FFF2-40B4-BE49-F238E27FC236}">
                <a16:creationId xmlns:a16="http://schemas.microsoft.com/office/drawing/2014/main" id="{FE83A606-9387-1652-C15E-9940301E4D92}"/>
              </a:ext>
            </a:extLst>
          </p:cNvPr>
          <p:cNvSpPr>
            <a:spLocks noGrp="1"/>
          </p:cNvSpPr>
          <p:nvPr>
            <p:custDataLst>
              <p:tags r:id="rId18"/>
            </p:custDataLst>
          </p:nvPr>
        </p:nvSpPr>
        <p:spPr bwMode="gray">
          <a:xfrm>
            <a:off x="6465888" y="3576638"/>
            <a:ext cx="474663"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7BF292B-47DB-4559-83F3-55A254515D96}" type="datetime'2''''''''''''''''''''''''''''9,''''''''''''7''''''45'''">
              <a:rPr lang="en-US" altLang="en-US" sz="1100" smtClean="0">
                <a:effectLst/>
                <a:latin typeface="Arial" panose="020B0604020202020204" pitchFamily="34" charset="0"/>
                <a:cs typeface="+mn-cs"/>
                <a:sym typeface="Arial" panose="020B0604020202020204" pitchFamily="34" charset="0"/>
              </a:rPr>
              <a:pPr lvl="0" algn="ctr">
                <a:spcBef>
                  <a:spcPct val="0"/>
                </a:spcBef>
                <a:spcAft>
                  <a:spcPct val="0"/>
                </a:spcAft>
              </a:pPr>
              <a:t>29,745</a:t>
            </a:fld>
            <a:endParaRPr lang="en-US" sz="1100" noProof="0">
              <a:latin typeface="Arial" panose="020B0604020202020204" pitchFamily="34" charset="0"/>
              <a:cs typeface="+mn-cs"/>
              <a:sym typeface="Arial" panose="020B0604020202020204" pitchFamily="34" charset="0"/>
            </a:endParaRPr>
          </a:p>
        </p:txBody>
      </p:sp>
      <p:sp>
        <p:nvSpPr>
          <p:cNvPr id="461" name="Rectangle 460">
            <a:extLst>
              <a:ext uri="{FF2B5EF4-FFF2-40B4-BE49-F238E27FC236}">
                <a16:creationId xmlns:a16="http://schemas.microsoft.com/office/drawing/2014/main" id="{B867BE08-5CED-4510-360E-01D66AD4D719}"/>
              </a:ext>
            </a:extLst>
          </p:cNvPr>
          <p:cNvSpPr/>
          <p:nvPr>
            <p:custDataLst>
              <p:tags r:id="rId19"/>
            </p:custDataLst>
          </p:nvPr>
        </p:nvSpPr>
        <p:spPr bwMode="auto">
          <a:xfrm>
            <a:off x="1689100" y="4303713"/>
            <a:ext cx="196850" cy="147638"/>
          </a:xfrm>
          <a:prstGeom prst="rect">
            <a:avLst/>
          </a:prstGeom>
          <a:solidFill>
            <a:srgbClr val="C4D60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62" name="Rectangle 461">
            <a:extLst>
              <a:ext uri="{FF2B5EF4-FFF2-40B4-BE49-F238E27FC236}">
                <a16:creationId xmlns:a16="http://schemas.microsoft.com/office/drawing/2014/main" id="{AC729286-FE20-674E-2EBB-CF99CA754FA6}"/>
              </a:ext>
            </a:extLst>
          </p:cNvPr>
          <p:cNvSpPr/>
          <p:nvPr>
            <p:custDataLst>
              <p:tags r:id="rId20"/>
            </p:custDataLst>
          </p:nvPr>
        </p:nvSpPr>
        <p:spPr bwMode="auto">
          <a:xfrm>
            <a:off x="1689100" y="4522788"/>
            <a:ext cx="196850" cy="147638"/>
          </a:xfrm>
          <a:prstGeom prst="rect">
            <a:avLst/>
          </a:prstGeom>
          <a:solidFill>
            <a:srgbClr val="6FC2B4"/>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63" name="Rectangle 462">
            <a:extLst>
              <a:ext uri="{FF2B5EF4-FFF2-40B4-BE49-F238E27FC236}">
                <a16:creationId xmlns:a16="http://schemas.microsoft.com/office/drawing/2014/main" id="{8B0EC9F9-B1AC-3624-852B-982054F9F1B1}"/>
              </a:ext>
            </a:extLst>
          </p:cNvPr>
          <p:cNvSpPr/>
          <p:nvPr>
            <p:custDataLst>
              <p:tags r:id="rId21"/>
            </p:custDataLst>
          </p:nvPr>
        </p:nvSpPr>
        <p:spPr bwMode="auto">
          <a:xfrm>
            <a:off x="1689100" y="4741863"/>
            <a:ext cx="196850" cy="147638"/>
          </a:xfrm>
          <a:prstGeom prst="rect">
            <a:avLst/>
          </a:prstGeom>
          <a:solidFill>
            <a:srgbClr val="A0DCFF"/>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64" name="Rectangle 463">
            <a:extLst>
              <a:ext uri="{FF2B5EF4-FFF2-40B4-BE49-F238E27FC236}">
                <a16:creationId xmlns:a16="http://schemas.microsoft.com/office/drawing/2014/main" id="{C9B930B5-FB52-9357-90D4-92607C0D0FD3}"/>
              </a:ext>
            </a:extLst>
          </p:cNvPr>
          <p:cNvSpPr/>
          <p:nvPr>
            <p:custDataLst>
              <p:tags r:id="rId22"/>
            </p:custDataLst>
          </p:nvPr>
        </p:nvSpPr>
        <p:spPr bwMode="auto">
          <a:xfrm>
            <a:off x="4451350" y="4303713"/>
            <a:ext cx="196850" cy="147638"/>
          </a:xfrm>
          <a:prstGeom prst="rect">
            <a:avLst/>
          </a:prstGeom>
          <a:solidFill>
            <a:srgbClr val="00768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65" name="Rectangle 464">
            <a:extLst>
              <a:ext uri="{FF2B5EF4-FFF2-40B4-BE49-F238E27FC236}">
                <a16:creationId xmlns:a16="http://schemas.microsoft.com/office/drawing/2014/main" id="{95C1E8EC-17FF-5537-866F-911CF7470E0F}"/>
              </a:ext>
            </a:extLst>
          </p:cNvPr>
          <p:cNvSpPr/>
          <p:nvPr>
            <p:custDataLst>
              <p:tags r:id="rId23"/>
            </p:custDataLst>
          </p:nvPr>
        </p:nvSpPr>
        <p:spPr bwMode="auto">
          <a:xfrm>
            <a:off x="4451350" y="4522788"/>
            <a:ext cx="196850" cy="147638"/>
          </a:xfrm>
          <a:prstGeom prst="rect">
            <a:avLst/>
          </a:prstGeom>
          <a:solidFill>
            <a:srgbClr val="01216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66" name="Rectangle 465">
            <a:extLst>
              <a:ext uri="{FF2B5EF4-FFF2-40B4-BE49-F238E27FC236}">
                <a16:creationId xmlns:a16="http://schemas.microsoft.com/office/drawing/2014/main" id="{C8860B97-6842-0E20-E68B-322401CFB546}"/>
              </a:ext>
            </a:extLst>
          </p:cNvPr>
          <p:cNvSpPr/>
          <p:nvPr>
            <p:custDataLst>
              <p:tags r:id="rId24"/>
            </p:custDataLst>
          </p:nvPr>
        </p:nvSpPr>
        <p:spPr bwMode="auto">
          <a:xfrm>
            <a:off x="4451350" y="4741863"/>
            <a:ext cx="196850" cy="147638"/>
          </a:xfrm>
          <a:prstGeom prst="rect">
            <a:avLst/>
          </a:prstGeom>
          <a:solidFill>
            <a:srgbClr val="A7A8AA"/>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67" name="Rectangle 466">
            <a:extLst>
              <a:ext uri="{FF2B5EF4-FFF2-40B4-BE49-F238E27FC236}">
                <a16:creationId xmlns:a16="http://schemas.microsoft.com/office/drawing/2014/main" id="{E094548F-B4ED-1DF7-9EC8-B53F24A55891}"/>
              </a:ext>
            </a:extLst>
          </p:cNvPr>
          <p:cNvSpPr/>
          <p:nvPr>
            <p:custDataLst>
              <p:tags r:id="rId25"/>
            </p:custDataLst>
          </p:nvPr>
        </p:nvSpPr>
        <p:spPr bwMode="auto">
          <a:xfrm>
            <a:off x="6994525" y="4303713"/>
            <a:ext cx="196850" cy="147638"/>
          </a:xfrm>
          <a:prstGeom prst="rect">
            <a:avLst/>
          </a:prstGeom>
          <a:solidFill>
            <a:srgbClr val="53565A"/>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68" name="Rectangle 467">
            <a:extLst>
              <a:ext uri="{FF2B5EF4-FFF2-40B4-BE49-F238E27FC236}">
                <a16:creationId xmlns:a16="http://schemas.microsoft.com/office/drawing/2014/main" id="{21D2D9D5-D06D-A3A5-CAD9-278458F69A1F}"/>
              </a:ext>
            </a:extLst>
          </p:cNvPr>
          <p:cNvSpPr/>
          <p:nvPr>
            <p:custDataLst>
              <p:tags r:id="rId26"/>
            </p:custDataLst>
          </p:nvPr>
        </p:nvSpPr>
        <p:spPr bwMode="auto">
          <a:xfrm>
            <a:off x="6994525" y="4522788"/>
            <a:ext cx="196850" cy="147638"/>
          </a:xfrm>
          <a:prstGeom prst="rect">
            <a:avLst/>
          </a:prstGeom>
          <a:solidFill>
            <a:srgbClr val="00000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74" name="Text Placeholder 18">
            <a:extLst>
              <a:ext uri="{FF2B5EF4-FFF2-40B4-BE49-F238E27FC236}">
                <a16:creationId xmlns:a16="http://schemas.microsoft.com/office/drawing/2014/main" id="{5DC4366C-7052-54EA-3CE1-240B45D82B07}"/>
              </a:ext>
            </a:extLst>
          </p:cNvPr>
          <p:cNvSpPr>
            <a:spLocks noGrp="1"/>
          </p:cNvSpPr>
          <p:nvPr>
            <p:custDataLst>
              <p:tags r:id="rId27"/>
            </p:custDataLst>
          </p:nvPr>
        </p:nvSpPr>
        <p:spPr bwMode="auto">
          <a:xfrm>
            <a:off x="1936750" y="4298950"/>
            <a:ext cx="241300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501A6375-0827-4E3C-9216-6F8AEE5FC8B3}" type="datetime'W''ECS'''' E''D'' (2015-40'')'' BAU (4.5''''%'' ''GD''P'')'''">
              <a:rPr lang="de-DE" altLang="en-US" sz="1100" smtClean="0">
                <a:latin typeface="Arial" panose="020B0604020202020204" pitchFamily="34" charset="0"/>
                <a:cs typeface="+mn-cs"/>
              </a:rPr>
              <a:pPr lvl="0">
                <a:spcBef>
                  <a:spcPct val="0"/>
                </a:spcBef>
                <a:spcAft>
                  <a:spcPct val="0"/>
                </a:spcAft>
              </a:pPr>
              <a:t>WECS ED (2015-40) BAU (4.5% GDP)</a:t>
            </a:fld>
            <a:endParaRPr lang="en-US" sz="1100" noProof="0">
              <a:latin typeface="Arial" panose="020B0604020202020204" pitchFamily="34" charset="0"/>
              <a:cs typeface="+mn-cs"/>
              <a:sym typeface="Arial" panose="020B0604020202020204" pitchFamily="34" charset="0"/>
            </a:endParaRPr>
          </a:p>
        </p:txBody>
      </p:sp>
      <p:sp>
        <p:nvSpPr>
          <p:cNvPr id="475" name="Text Placeholder 18">
            <a:extLst>
              <a:ext uri="{FF2B5EF4-FFF2-40B4-BE49-F238E27FC236}">
                <a16:creationId xmlns:a16="http://schemas.microsoft.com/office/drawing/2014/main" id="{0E1169DF-A18E-DCA6-9B99-BCAA0B1A856A}"/>
              </a:ext>
            </a:extLst>
          </p:cNvPr>
          <p:cNvSpPr>
            <a:spLocks noGrp="1"/>
          </p:cNvSpPr>
          <p:nvPr>
            <p:custDataLst>
              <p:tags r:id="rId28"/>
            </p:custDataLst>
          </p:nvPr>
        </p:nvSpPr>
        <p:spPr bwMode="auto">
          <a:xfrm>
            <a:off x="1936750" y="4518025"/>
            <a:ext cx="234156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BDE99A16-9F24-4599-B088-232B1E5C5E8D}" type="datetime'W''EC''S ED'' ''''(''20''15-40'')'' Ref ''''(7''.''2% ''GDP)'">
              <a:rPr lang="en-US" altLang="en-US" sz="1100" smtClean="0">
                <a:latin typeface="Arial" panose="020B0604020202020204" pitchFamily="34" charset="0"/>
                <a:cs typeface="+mn-cs"/>
              </a:rPr>
              <a:pPr lvl="0">
                <a:spcBef>
                  <a:spcPct val="0"/>
                </a:spcBef>
                <a:spcAft>
                  <a:spcPct val="0"/>
                </a:spcAft>
              </a:pPr>
              <a:t>WECS ED (2015-40) Ref (7.2% GDP)</a:t>
            </a:fld>
            <a:endParaRPr lang="en-US" sz="1100" noProof="0">
              <a:latin typeface="Arial" panose="020B0604020202020204" pitchFamily="34" charset="0"/>
              <a:cs typeface="+mn-cs"/>
              <a:sym typeface="Arial" panose="020B0604020202020204" pitchFamily="34" charset="0"/>
            </a:endParaRPr>
          </a:p>
        </p:txBody>
      </p:sp>
      <p:sp>
        <p:nvSpPr>
          <p:cNvPr id="476" name="Text Placeholder 18">
            <a:extLst>
              <a:ext uri="{FF2B5EF4-FFF2-40B4-BE49-F238E27FC236}">
                <a16:creationId xmlns:a16="http://schemas.microsoft.com/office/drawing/2014/main" id="{E6FFC8EB-E641-8825-7CCE-64E6307B06C9}"/>
              </a:ext>
            </a:extLst>
          </p:cNvPr>
          <p:cNvSpPr>
            <a:spLocks noGrp="1"/>
          </p:cNvSpPr>
          <p:nvPr>
            <p:custDataLst>
              <p:tags r:id="rId29"/>
            </p:custDataLst>
          </p:nvPr>
        </p:nvSpPr>
        <p:spPr bwMode="auto">
          <a:xfrm>
            <a:off x="1936750" y="4737100"/>
            <a:ext cx="241300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9B1C0F3E-2443-4F95-824C-501E6D107569}" type="datetime'''WECS ''ED (2015-40'')'' H''igh (''''9.2% ''G''''''DP)'''''">
              <a:rPr lang="en-US" altLang="en-US" sz="1100" smtClean="0">
                <a:latin typeface="Arial" panose="020B0604020202020204" pitchFamily="34" charset="0"/>
                <a:cs typeface="+mn-cs"/>
              </a:rPr>
              <a:pPr lvl="0">
                <a:spcBef>
                  <a:spcPct val="0"/>
                </a:spcBef>
                <a:spcAft>
                  <a:spcPct val="0"/>
                </a:spcAft>
              </a:pPr>
              <a:t>WECS ED (2015-40) High (9.2% GDP)</a:t>
            </a:fld>
            <a:endParaRPr lang="en-US" sz="1100" noProof="0">
              <a:latin typeface="Arial" panose="020B0604020202020204" pitchFamily="34" charset="0"/>
              <a:cs typeface="+mn-cs"/>
              <a:sym typeface="Arial" panose="020B0604020202020204" pitchFamily="34" charset="0"/>
            </a:endParaRPr>
          </a:p>
        </p:txBody>
      </p:sp>
      <p:sp>
        <p:nvSpPr>
          <p:cNvPr id="477" name="Text Placeholder 18">
            <a:extLst>
              <a:ext uri="{FF2B5EF4-FFF2-40B4-BE49-F238E27FC236}">
                <a16:creationId xmlns:a16="http://schemas.microsoft.com/office/drawing/2014/main" id="{F33C19C4-F9F1-551D-3974-C5674A038F37}"/>
              </a:ext>
            </a:extLst>
          </p:cNvPr>
          <p:cNvSpPr>
            <a:spLocks noGrp="1"/>
          </p:cNvSpPr>
          <p:nvPr>
            <p:custDataLst>
              <p:tags r:id="rId30"/>
            </p:custDataLst>
          </p:nvPr>
        </p:nvSpPr>
        <p:spPr bwMode="auto">
          <a:xfrm>
            <a:off x="4699000" y="4298950"/>
            <a:ext cx="212248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E8E57F28-144E-47D7-9AA8-4AE3EF6667F6}" type="datetime'WE''CS'' E''''D (201''5''''-40) ''''''''''Ref +'' P''olic''y '">
              <a:rPr lang="en-US" altLang="en-US" sz="1100" smtClean="0">
                <a:latin typeface="Arial" panose="020B0604020202020204" pitchFamily="34" charset="0"/>
                <a:cs typeface="+mn-cs"/>
              </a:rPr>
              <a:pPr lvl="0">
                <a:spcBef>
                  <a:spcPct val="0"/>
                </a:spcBef>
                <a:spcAft>
                  <a:spcPct val="0"/>
                </a:spcAft>
              </a:pPr>
              <a:t>WECS ED (2015-40) Ref + Policy </a:t>
            </a:fld>
            <a:endParaRPr lang="en-US" sz="1100" noProof="0">
              <a:latin typeface="Arial" panose="020B0604020202020204" pitchFamily="34" charset="0"/>
              <a:cs typeface="+mn-cs"/>
              <a:sym typeface="Arial" panose="020B0604020202020204" pitchFamily="34" charset="0"/>
            </a:endParaRPr>
          </a:p>
        </p:txBody>
      </p:sp>
      <p:sp>
        <p:nvSpPr>
          <p:cNvPr id="478" name="Text Placeholder 18">
            <a:extLst>
              <a:ext uri="{FF2B5EF4-FFF2-40B4-BE49-F238E27FC236}">
                <a16:creationId xmlns:a16="http://schemas.microsoft.com/office/drawing/2014/main" id="{94F821BD-D4EE-A176-7870-BE82FA842D87}"/>
              </a:ext>
            </a:extLst>
          </p:cNvPr>
          <p:cNvSpPr>
            <a:spLocks noGrp="1"/>
          </p:cNvSpPr>
          <p:nvPr>
            <p:custDataLst>
              <p:tags r:id="rId31"/>
            </p:custDataLst>
          </p:nvPr>
        </p:nvSpPr>
        <p:spPr bwMode="auto">
          <a:xfrm>
            <a:off x="4699000" y="4518025"/>
            <a:ext cx="21939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E90246CD-E267-49C9-BEBC-F587FA9559A9}" type="datetime'WE''''C''S E''D (2015-40) ''''Hig''''h +'' ''Po''licy'''''' '">
              <a:rPr lang="en-US" altLang="en-US" sz="1100" smtClean="0">
                <a:latin typeface="Arial" panose="020B0604020202020204" pitchFamily="34" charset="0"/>
                <a:cs typeface="+mn-cs"/>
              </a:rPr>
              <a:pPr lvl="0">
                <a:spcBef>
                  <a:spcPct val="0"/>
                </a:spcBef>
                <a:spcAft>
                  <a:spcPct val="0"/>
                </a:spcAft>
              </a:pPr>
              <a:t>WECS ED (2015-40) High + Policy </a:t>
            </a:fld>
            <a:endParaRPr lang="en-US" sz="1100" noProof="0">
              <a:latin typeface="Arial" panose="020B0604020202020204" pitchFamily="34" charset="0"/>
              <a:cs typeface="+mn-cs"/>
              <a:sym typeface="Arial" panose="020B0604020202020204" pitchFamily="34" charset="0"/>
            </a:endParaRPr>
          </a:p>
        </p:txBody>
      </p:sp>
      <p:sp>
        <p:nvSpPr>
          <p:cNvPr id="479" name="Text Placeholder 18">
            <a:extLst>
              <a:ext uri="{FF2B5EF4-FFF2-40B4-BE49-F238E27FC236}">
                <a16:creationId xmlns:a16="http://schemas.microsoft.com/office/drawing/2014/main" id="{43B71FB0-6B91-AEFA-54C3-BF003359935D}"/>
              </a:ext>
            </a:extLst>
          </p:cNvPr>
          <p:cNvSpPr>
            <a:spLocks noGrp="1"/>
          </p:cNvSpPr>
          <p:nvPr>
            <p:custDataLst>
              <p:tags r:id="rId32"/>
            </p:custDataLst>
          </p:nvPr>
        </p:nvSpPr>
        <p:spPr bwMode="auto">
          <a:xfrm>
            <a:off x="4699000" y="4737100"/>
            <a:ext cx="166846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3B0D4774-A39B-47D1-9A9F-A6270AC52195}" type="datetime'N''E''''A'' Lo''a''d F''''or''''e''''''''''cast'' (B''ase)'">
              <a:rPr lang="en-US" altLang="en-US" sz="1100" smtClean="0">
                <a:latin typeface="Arial" panose="020B0604020202020204" pitchFamily="34" charset="0"/>
                <a:cs typeface="+mn-cs"/>
              </a:rPr>
              <a:pPr lvl="0">
                <a:spcBef>
                  <a:spcPct val="0"/>
                </a:spcBef>
                <a:spcAft>
                  <a:spcPct val="0"/>
                </a:spcAft>
              </a:pPr>
              <a:t>NEA Load Forecast (Base)</a:t>
            </a:fld>
            <a:endParaRPr lang="en-US" sz="1100" noProof="0">
              <a:latin typeface="Arial" panose="020B0604020202020204" pitchFamily="34" charset="0"/>
              <a:cs typeface="+mn-cs"/>
              <a:sym typeface="Arial" panose="020B0604020202020204" pitchFamily="34" charset="0"/>
            </a:endParaRPr>
          </a:p>
        </p:txBody>
      </p:sp>
      <p:sp>
        <p:nvSpPr>
          <p:cNvPr id="480" name="Text Placeholder 18">
            <a:extLst>
              <a:ext uri="{FF2B5EF4-FFF2-40B4-BE49-F238E27FC236}">
                <a16:creationId xmlns:a16="http://schemas.microsoft.com/office/drawing/2014/main" id="{83B83B16-79CB-0A99-CBE6-7B4DE535C10F}"/>
              </a:ext>
            </a:extLst>
          </p:cNvPr>
          <p:cNvSpPr>
            <a:spLocks noGrp="1"/>
          </p:cNvSpPr>
          <p:nvPr>
            <p:custDataLst>
              <p:tags r:id="rId33"/>
            </p:custDataLst>
          </p:nvPr>
        </p:nvSpPr>
        <p:spPr bwMode="auto">
          <a:xfrm>
            <a:off x="7242175" y="4298950"/>
            <a:ext cx="19621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8F5CB350-05F1-4996-BBFF-7AF65397D20A}" type="datetime'NEA'' ''''Load Fore''cast'''' (O''''p''''''ti''mist''ic'''')'">
              <a:rPr lang="en-US" altLang="en-US" sz="1100" smtClean="0">
                <a:latin typeface="Arial" panose="020B0604020202020204" pitchFamily="34" charset="0"/>
                <a:cs typeface="+mn-cs"/>
              </a:rPr>
              <a:pPr lvl="0">
                <a:spcBef>
                  <a:spcPct val="0"/>
                </a:spcBef>
                <a:spcAft>
                  <a:spcPct val="0"/>
                </a:spcAft>
              </a:pPr>
              <a:t>NEA Load Forecast (Optimistic)</a:t>
            </a:fld>
            <a:endParaRPr lang="en-US" sz="1100" noProof="0">
              <a:latin typeface="Arial" panose="020B0604020202020204" pitchFamily="34" charset="0"/>
              <a:cs typeface="+mn-cs"/>
              <a:sym typeface="Arial" panose="020B0604020202020204" pitchFamily="34" charset="0"/>
            </a:endParaRPr>
          </a:p>
        </p:txBody>
      </p:sp>
      <p:sp>
        <p:nvSpPr>
          <p:cNvPr id="481" name="Text Placeholder 18">
            <a:extLst>
              <a:ext uri="{FF2B5EF4-FFF2-40B4-BE49-F238E27FC236}">
                <a16:creationId xmlns:a16="http://schemas.microsoft.com/office/drawing/2014/main" id="{D9014AE8-A293-8DB5-AD68-0BF688AA359E}"/>
              </a:ext>
            </a:extLst>
          </p:cNvPr>
          <p:cNvSpPr>
            <a:spLocks noGrp="1"/>
          </p:cNvSpPr>
          <p:nvPr>
            <p:custDataLst>
              <p:tags r:id="rId34"/>
            </p:custDataLst>
          </p:nvPr>
        </p:nvSpPr>
        <p:spPr bwMode="auto">
          <a:xfrm>
            <a:off x="7242175" y="4518025"/>
            <a:ext cx="17811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0E38819F-22E0-4650-846C-D948D5E9DCCC}" type="datetime'''J''I''''''''C''''''A'' Master ''''Pl''a''n (Opt''imu''m)'''">
              <a:rPr lang="en-US" altLang="en-US" sz="1100" smtClean="0">
                <a:latin typeface="Arial" panose="020B0604020202020204" pitchFamily="34" charset="0"/>
                <a:cs typeface="+mn-cs"/>
              </a:rPr>
              <a:pPr lvl="0">
                <a:spcBef>
                  <a:spcPct val="0"/>
                </a:spcBef>
                <a:spcAft>
                  <a:spcPct val="0"/>
                </a:spcAft>
              </a:pPr>
              <a:t>JICA Master Plan (Optimum)</a:t>
            </a:fld>
            <a:endParaRPr lang="en-US" sz="1100" noProof="0">
              <a:latin typeface="Arial" panose="020B0604020202020204" pitchFamily="34" charset="0"/>
              <a:cs typeface="+mn-cs"/>
              <a:sym typeface="Arial" panose="020B0604020202020204" pitchFamily="34" charset="0"/>
            </a:endParaRPr>
          </a:p>
        </p:txBody>
      </p:sp>
      <p:sp>
        <p:nvSpPr>
          <p:cNvPr id="522" name="TextBox 521">
            <a:extLst>
              <a:ext uri="{FF2B5EF4-FFF2-40B4-BE49-F238E27FC236}">
                <a16:creationId xmlns:a16="http://schemas.microsoft.com/office/drawing/2014/main" id="{27A97377-DE24-8705-5F2E-1519C49336C3}"/>
              </a:ext>
            </a:extLst>
          </p:cNvPr>
          <p:cNvSpPr txBox="1"/>
          <p:nvPr/>
        </p:nvSpPr>
        <p:spPr>
          <a:xfrm>
            <a:off x="447674" y="6596933"/>
            <a:ext cx="7953375"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40"/>
              </a:rPr>
              <a:t>NEA Annual Report</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41"/>
              </a:rPr>
              <a:t>IBN Energy Demand – MAED</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42"/>
              </a:rPr>
              <a:t>Electricity Demand Forecast (2015-40) WECS</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43"/>
              </a:rPr>
              <a:t>NEA Load Forecast </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graphicFrame>
        <p:nvGraphicFramePr>
          <p:cNvPr id="528" name="Table 527">
            <a:extLst>
              <a:ext uri="{FF2B5EF4-FFF2-40B4-BE49-F238E27FC236}">
                <a16:creationId xmlns:a16="http://schemas.microsoft.com/office/drawing/2014/main" id="{B9514A34-DCEE-2FF1-17CC-55B9CB20660A}"/>
              </a:ext>
            </a:extLst>
          </p:cNvPr>
          <p:cNvGraphicFramePr>
            <a:graphicFrameLocks noGrp="1"/>
          </p:cNvGraphicFramePr>
          <p:nvPr>
            <p:extLst>
              <p:ext uri="{D42A27DB-BD31-4B8C-83A1-F6EECF244321}">
                <p14:modId xmlns:p14="http://schemas.microsoft.com/office/powerpoint/2010/main" val="2282882539"/>
              </p:ext>
            </p:extLst>
          </p:nvPr>
        </p:nvGraphicFramePr>
        <p:xfrm>
          <a:off x="514884" y="5304343"/>
          <a:ext cx="11216730" cy="1097280"/>
        </p:xfrm>
        <a:graphic>
          <a:graphicData uri="http://schemas.openxmlformats.org/drawingml/2006/table">
            <a:tbl>
              <a:tblPr firstRow="1" bandRow="1">
                <a:tableStyleId>{5C22544A-7EE6-4342-B048-85BDC9FD1C3A}</a:tableStyleId>
              </a:tblPr>
              <a:tblGrid>
                <a:gridCol w="1783820">
                  <a:extLst>
                    <a:ext uri="{9D8B030D-6E8A-4147-A177-3AD203B41FA5}">
                      <a16:colId xmlns:a16="http://schemas.microsoft.com/office/drawing/2014/main" val="1601999352"/>
                    </a:ext>
                  </a:extLst>
                </a:gridCol>
                <a:gridCol w="9432910">
                  <a:extLst>
                    <a:ext uri="{9D8B030D-6E8A-4147-A177-3AD203B41FA5}">
                      <a16:colId xmlns:a16="http://schemas.microsoft.com/office/drawing/2014/main" val="2515607737"/>
                    </a:ext>
                  </a:extLst>
                </a:gridCol>
              </a:tblGrid>
              <a:tr h="167776">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641667">
                <a:tc gridSpan="2">
                  <a:txBody>
                    <a:bodyPr/>
                    <a:lstStyle/>
                    <a:p>
                      <a:pPr marL="0" marR="0" lvl="0" indent="0" algn="just" defTabSz="914335"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b="0" kern="1200">
                          <a:solidFill>
                            <a:schemeClr val="dk1"/>
                          </a:solidFill>
                          <a:latin typeface="Arial" panose="020B0604020202020204" pitchFamily="34" charset="0"/>
                          <a:ea typeface="+mn-ea"/>
                          <a:cs typeface="Arial" panose="020B0604020202020204" pitchFamily="34" charset="0"/>
                        </a:rPr>
                        <a:t>Several factors are driving the rising electricity demand in Nepal, as reflected in the projections above. One of the key drivers is the low base effect—Nepal’s current </a:t>
                      </a:r>
                      <a:r>
                        <a:rPr lang="en-US" sz="1200" b="1" kern="1200">
                          <a:solidFill>
                            <a:schemeClr val="dk1"/>
                          </a:solidFill>
                          <a:latin typeface="Arial" panose="020B0604020202020204" pitchFamily="34" charset="0"/>
                          <a:ea typeface="+mn-ea"/>
                          <a:cs typeface="Arial" panose="020B0604020202020204" pitchFamily="34" charset="0"/>
                        </a:rPr>
                        <a:t>per capita electricity consumption </a:t>
                      </a:r>
                      <a:r>
                        <a:rPr lang="en-US" sz="1200" b="0" kern="1200">
                          <a:solidFill>
                            <a:schemeClr val="dk1"/>
                          </a:solidFill>
                          <a:latin typeface="Arial" panose="020B0604020202020204" pitchFamily="34" charset="0"/>
                          <a:ea typeface="+mn-ea"/>
                          <a:cs typeface="Arial" panose="020B0604020202020204" pitchFamily="34" charset="0"/>
                        </a:rPr>
                        <a:t>stands at approximately 320 kWh/year, while the government aims to increase this to 1,500 kWh by 2035. In addition, various government initiatives are </a:t>
                      </a:r>
                      <a:r>
                        <a:rPr lang="en-US" sz="1200" b="1" kern="1200">
                          <a:solidFill>
                            <a:schemeClr val="dk1"/>
                          </a:solidFill>
                          <a:latin typeface="Arial" panose="020B0604020202020204" pitchFamily="34" charset="0"/>
                          <a:ea typeface="+mn-ea"/>
                          <a:cs typeface="Arial" panose="020B0604020202020204" pitchFamily="34" charset="0"/>
                        </a:rPr>
                        <a:t>stimulating domestic demand</a:t>
                      </a:r>
                      <a:r>
                        <a:rPr lang="en-US" sz="1200" b="0" kern="1200">
                          <a:solidFill>
                            <a:schemeClr val="dk1"/>
                          </a:solidFill>
                          <a:latin typeface="Arial" panose="020B0604020202020204" pitchFamily="34" charset="0"/>
                          <a:ea typeface="+mn-ea"/>
                          <a:cs typeface="Arial" panose="020B0604020202020204" pitchFamily="34" charset="0"/>
                        </a:rPr>
                        <a:t>, further contributing to growth. The ongoing </a:t>
                      </a:r>
                      <a:r>
                        <a:rPr lang="en-US" sz="1200" b="1" kern="1200">
                          <a:solidFill>
                            <a:schemeClr val="dk1"/>
                          </a:solidFill>
                          <a:latin typeface="Arial" panose="020B0604020202020204" pitchFamily="34" charset="0"/>
                          <a:ea typeface="+mn-ea"/>
                          <a:cs typeface="Arial" panose="020B0604020202020204" pitchFamily="34" charset="0"/>
                        </a:rPr>
                        <a:t>energy transition</a:t>
                      </a:r>
                      <a:r>
                        <a:rPr lang="en-US" sz="1200" b="0" kern="1200">
                          <a:solidFill>
                            <a:schemeClr val="dk1"/>
                          </a:solidFill>
                          <a:latin typeface="Arial" panose="020B0604020202020204" pitchFamily="34" charset="0"/>
                          <a:ea typeface="+mn-ea"/>
                          <a:cs typeface="Arial" panose="020B0604020202020204" pitchFamily="34" charset="0"/>
                        </a:rPr>
                        <a:t>, including the broader adoption of electric stoves, electric vehicles, and other clean technologies, is also expected to significantly boost electricity consumption in the coming years</a:t>
                      </a:r>
                      <a:endParaRPr lang="en-US" sz="1200" b="1" kern="1200">
                        <a:solidFill>
                          <a:schemeClr val="dk1"/>
                        </a:solidFill>
                        <a:latin typeface="Arial" panose="020B0604020202020204" pitchFamily="34" charset="0"/>
                        <a:ea typeface="+mn-ea"/>
                        <a:cs typeface="Arial" panose="020B0604020202020204" pitchFamily="34" charset="0"/>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sp>
        <p:nvSpPr>
          <p:cNvPr id="531" name="TextBox 530">
            <a:extLst>
              <a:ext uri="{FF2B5EF4-FFF2-40B4-BE49-F238E27FC236}">
                <a16:creationId xmlns:a16="http://schemas.microsoft.com/office/drawing/2014/main" id="{FE2F2FEB-AB14-72AB-FF3C-79AC42C9AE2B}"/>
              </a:ext>
            </a:extLst>
          </p:cNvPr>
          <p:cNvSpPr txBox="1"/>
          <p:nvPr/>
        </p:nvSpPr>
        <p:spPr>
          <a:xfrm>
            <a:off x="3801369" y="1025853"/>
            <a:ext cx="4883149" cy="307777"/>
          </a:xfrm>
          <a:prstGeom prst="rect">
            <a:avLst/>
          </a:prstGeom>
          <a:noFill/>
        </p:spPr>
        <p:txBody>
          <a:bodyPr wrap="square">
            <a:spAutoFit/>
          </a:bodyPr>
          <a:lstStyle/>
          <a:p>
            <a:pPr algn="ctr"/>
            <a:r>
              <a:rPr lang="en-US" sz="1400" b="1">
                <a:latin typeface="Arial" panose="020B0604020202020204" pitchFamily="34" charset="0"/>
                <a:cs typeface="Arial" panose="020B0604020202020204" pitchFamily="34" charset="0"/>
              </a:rPr>
              <a:t>Demand Projections from various sources (GWh) </a:t>
            </a:r>
            <a:endParaRPr lang="en-US" sz="1400" b="1"/>
          </a:p>
        </p:txBody>
      </p:sp>
      <p:graphicFrame>
        <p:nvGraphicFramePr>
          <p:cNvPr id="9" name="Table 8">
            <a:extLst>
              <a:ext uri="{FF2B5EF4-FFF2-40B4-BE49-F238E27FC236}">
                <a16:creationId xmlns:a16="http://schemas.microsoft.com/office/drawing/2014/main" id="{9DA27B56-08DC-9637-6773-62F245B93A79}"/>
              </a:ext>
            </a:extLst>
          </p:cNvPr>
          <p:cNvGraphicFramePr>
            <a:graphicFrameLocks noGrp="1"/>
          </p:cNvGraphicFramePr>
          <p:nvPr>
            <p:extLst>
              <p:ext uri="{D42A27DB-BD31-4B8C-83A1-F6EECF244321}">
                <p14:modId xmlns:p14="http://schemas.microsoft.com/office/powerpoint/2010/main" val="2900871085"/>
              </p:ext>
            </p:extLst>
          </p:nvPr>
        </p:nvGraphicFramePr>
        <p:xfrm>
          <a:off x="1460499" y="1335371"/>
          <a:ext cx="3229488" cy="1676400"/>
        </p:xfrm>
        <a:graphic>
          <a:graphicData uri="http://schemas.openxmlformats.org/drawingml/2006/table">
            <a:tbl>
              <a:tblPr firstRow="1" firstCol="1">
                <a:tableStyleId>{9D7B26C5-4107-4FEC-AEDC-1716B250A1EF}</a:tableStyleId>
              </a:tblPr>
              <a:tblGrid>
                <a:gridCol w="810753">
                  <a:extLst>
                    <a:ext uri="{9D8B030D-6E8A-4147-A177-3AD203B41FA5}">
                      <a16:colId xmlns:a16="http://schemas.microsoft.com/office/drawing/2014/main" val="1770530940"/>
                    </a:ext>
                  </a:extLst>
                </a:gridCol>
                <a:gridCol w="1140542">
                  <a:extLst>
                    <a:ext uri="{9D8B030D-6E8A-4147-A177-3AD203B41FA5}">
                      <a16:colId xmlns:a16="http://schemas.microsoft.com/office/drawing/2014/main" val="3438853725"/>
                    </a:ext>
                  </a:extLst>
                </a:gridCol>
                <a:gridCol w="1278193">
                  <a:extLst>
                    <a:ext uri="{9D8B030D-6E8A-4147-A177-3AD203B41FA5}">
                      <a16:colId xmlns:a16="http://schemas.microsoft.com/office/drawing/2014/main" val="2923936701"/>
                    </a:ext>
                  </a:extLst>
                </a:gridCol>
              </a:tblGrid>
              <a:tr h="0">
                <a:tc>
                  <a:txBody>
                    <a:bodyPr/>
                    <a:lstStyle/>
                    <a:p>
                      <a:pPr marL="0" marR="0">
                        <a:spcBef>
                          <a:spcPts val="0"/>
                        </a:spcBef>
                        <a:spcAft>
                          <a:spcPts val="0"/>
                        </a:spcAft>
                      </a:pPr>
                      <a:r>
                        <a:rPr lang="en-PH" sz="1200">
                          <a:effectLst/>
                        </a:rPr>
                        <a:t> </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solidFill>
                      <a:schemeClr val="tx1">
                        <a:lumMod val="50000"/>
                        <a:lumOff val="50000"/>
                      </a:schemeClr>
                    </a:solidFill>
                  </a:tcPr>
                </a:tc>
                <a:tc>
                  <a:txBody>
                    <a:bodyPr/>
                    <a:lstStyle/>
                    <a:p>
                      <a:pPr marL="0" marR="0" algn="ctr">
                        <a:spcBef>
                          <a:spcPts val="0"/>
                        </a:spcBef>
                        <a:spcAft>
                          <a:spcPts val="0"/>
                        </a:spcAft>
                      </a:pPr>
                      <a:r>
                        <a:rPr lang="en-PH" sz="1000">
                          <a:solidFill>
                            <a:schemeClr val="bg1"/>
                          </a:solidFill>
                          <a:effectLst/>
                        </a:rPr>
                        <a:t>Electric Power Consumption (kWh per capita) </a:t>
                      </a:r>
                      <a:endParaRPr lang="en-US" sz="120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solidFill>
                      <a:schemeClr val="tx1">
                        <a:lumMod val="50000"/>
                        <a:lumOff val="50000"/>
                      </a:schemeClr>
                    </a:solidFill>
                  </a:tcPr>
                </a:tc>
                <a:tc>
                  <a:txBody>
                    <a:bodyPr/>
                    <a:lstStyle/>
                    <a:p>
                      <a:pPr marL="0" marR="0" algn="ctr">
                        <a:spcBef>
                          <a:spcPts val="0"/>
                        </a:spcBef>
                        <a:spcAft>
                          <a:spcPts val="0"/>
                        </a:spcAft>
                      </a:pPr>
                      <a:r>
                        <a:rPr lang="en-PH" sz="1000">
                          <a:solidFill>
                            <a:schemeClr val="bg1"/>
                          </a:solidFill>
                          <a:effectLst/>
                        </a:rPr>
                        <a:t>Annual Growth of RE Capacity - 2013 – 2023 (%)</a:t>
                      </a:r>
                      <a:endParaRPr lang="en-US" sz="120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solidFill>
                      <a:schemeClr val="tx1">
                        <a:lumMod val="50000"/>
                        <a:lumOff val="50000"/>
                      </a:schemeClr>
                    </a:solidFill>
                  </a:tcPr>
                </a:tc>
                <a:extLst>
                  <a:ext uri="{0D108BD9-81ED-4DB2-BD59-A6C34878D82A}">
                    <a16:rowId xmlns:a16="http://schemas.microsoft.com/office/drawing/2014/main" val="897348938"/>
                  </a:ext>
                </a:extLst>
              </a:tr>
              <a:tr h="0">
                <a:tc>
                  <a:txBody>
                    <a:bodyPr/>
                    <a:lstStyle/>
                    <a:p>
                      <a:pPr marL="0" marR="0">
                        <a:spcBef>
                          <a:spcPts val="0"/>
                        </a:spcBef>
                        <a:spcAft>
                          <a:spcPts val="0"/>
                        </a:spcAft>
                      </a:pPr>
                      <a:r>
                        <a:rPr lang="en-PH" sz="1000" b="0">
                          <a:effectLst/>
                        </a:rPr>
                        <a:t>Bangladesh</a:t>
                      </a:r>
                      <a:endParaRPr lang="en-US" sz="1200" b="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603</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9.4%</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extLst>
                  <a:ext uri="{0D108BD9-81ED-4DB2-BD59-A6C34878D82A}">
                    <a16:rowId xmlns:a16="http://schemas.microsoft.com/office/drawing/2014/main" val="56623040"/>
                  </a:ext>
                </a:extLst>
              </a:tr>
              <a:tr h="0">
                <a:tc>
                  <a:txBody>
                    <a:bodyPr/>
                    <a:lstStyle/>
                    <a:p>
                      <a:pPr marL="0" marR="0">
                        <a:spcBef>
                          <a:spcPts val="0"/>
                        </a:spcBef>
                        <a:spcAft>
                          <a:spcPts val="0"/>
                        </a:spcAft>
                      </a:pPr>
                      <a:r>
                        <a:rPr lang="en-PH" sz="1000" b="0">
                          <a:effectLst/>
                        </a:rPr>
                        <a:t>Bhutan</a:t>
                      </a:r>
                      <a:endParaRPr lang="en-US" sz="1200" b="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3,160</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4.6%</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extLst>
                  <a:ext uri="{0D108BD9-81ED-4DB2-BD59-A6C34878D82A}">
                    <a16:rowId xmlns:a16="http://schemas.microsoft.com/office/drawing/2014/main" val="3906476919"/>
                  </a:ext>
                </a:extLst>
              </a:tr>
              <a:tr h="0">
                <a:tc>
                  <a:txBody>
                    <a:bodyPr/>
                    <a:lstStyle/>
                    <a:p>
                      <a:pPr marL="0" marR="0">
                        <a:spcBef>
                          <a:spcPts val="0"/>
                        </a:spcBef>
                        <a:spcAft>
                          <a:spcPts val="0"/>
                        </a:spcAft>
                      </a:pPr>
                      <a:r>
                        <a:rPr lang="en-PH" sz="1000" b="0">
                          <a:effectLst/>
                        </a:rPr>
                        <a:t>India</a:t>
                      </a:r>
                      <a:endParaRPr lang="en-US" sz="1200" b="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1,075</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10.7%</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extLst>
                  <a:ext uri="{0D108BD9-81ED-4DB2-BD59-A6C34878D82A}">
                    <a16:rowId xmlns:a16="http://schemas.microsoft.com/office/drawing/2014/main" val="3933156983"/>
                  </a:ext>
                </a:extLst>
              </a:tr>
              <a:tr h="0">
                <a:tc>
                  <a:txBody>
                    <a:bodyPr/>
                    <a:lstStyle/>
                    <a:p>
                      <a:pPr marL="0" marR="0">
                        <a:spcBef>
                          <a:spcPts val="0"/>
                        </a:spcBef>
                        <a:spcAft>
                          <a:spcPts val="0"/>
                        </a:spcAft>
                      </a:pPr>
                      <a:r>
                        <a:rPr lang="en-PH" sz="1000" b="0">
                          <a:effectLst/>
                        </a:rPr>
                        <a:t>Maldives</a:t>
                      </a:r>
                      <a:endParaRPr lang="en-US" sz="1200" b="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1,490</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33.5%</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extLst>
                  <a:ext uri="{0D108BD9-81ED-4DB2-BD59-A6C34878D82A}">
                    <a16:rowId xmlns:a16="http://schemas.microsoft.com/office/drawing/2014/main" val="3784193132"/>
                  </a:ext>
                </a:extLst>
              </a:tr>
              <a:tr h="0">
                <a:tc>
                  <a:txBody>
                    <a:bodyPr/>
                    <a:lstStyle/>
                    <a:p>
                      <a:pPr marL="0" marR="0">
                        <a:spcBef>
                          <a:spcPts val="0"/>
                        </a:spcBef>
                        <a:spcAft>
                          <a:spcPts val="0"/>
                        </a:spcAft>
                      </a:pPr>
                      <a:r>
                        <a:rPr lang="en-PH" sz="1000" b="0">
                          <a:effectLst/>
                        </a:rPr>
                        <a:t>Myanmar</a:t>
                      </a:r>
                      <a:endParaRPr lang="en-US" sz="1200" b="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319</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1.4%</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extLst>
                  <a:ext uri="{0D108BD9-81ED-4DB2-BD59-A6C34878D82A}">
                    <a16:rowId xmlns:a16="http://schemas.microsoft.com/office/drawing/2014/main" val="1795640242"/>
                  </a:ext>
                </a:extLst>
              </a:tr>
              <a:tr h="0">
                <a:tc>
                  <a:txBody>
                    <a:bodyPr/>
                    <a:lstStyle/>
                    <a:p>
                      <a:pPr marL="0" marR="0">
                        <a:spcBef>
                          <a:spcPts val="0"/>
                        </a:spcBef>
                        <a:spcAft>
                          <a:spcPts val="0"/>
                        </a:spcAft>
                      </a:pPr>
                      <a:r>
                        <a:rPr lang="en-PH" sz="1000" b="1">
                          <a:effectLst/>
                        </a:rPr>
                        <a:t>Nepal</a:t>
                      </a:r>
                      <a:endParaRPr lang="en-US" sz="1200" b="1" i="1">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b="1">
                          <a:effectLst/>
                        </a:rPr>
                        <a:t>321</a:t>
                      </a:r>
                      <a:endParaRPr lang="en-US" sz="1200" b="1" i="1">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b="1">
                          <a:effectLst/>
                        </a:rPr>
                        <a:t>14.2%</a:t>
                      </a:r>
                      <a:endParaRPr lang="en-US" sz="1200" b="1" i="1">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extLst>
                  <a:ext uri="{0D108BD9-81ED-4DB2-BD59-A6C34878D82A}">
                    <a16:rowId xmlns:a16="http://schemas.microsoft.com/office/drawing/2014/main" val="505867050"/>
                  </a:ext>
                </a:extLst>
              </a:tr>
              <a:tr h="0">
                <a:tc>
                  <a:txBody>
                    <a:bodyPr/>
                    <a:lstStyle/>
                    <a:p>
                      <a:pPr marL="0" marR="0">
                        <a:spcBef>
                          <a:spcPts val="0"/>
                        </a:spcBef>
                        <a:spcAft>
                          <a:spcPts val="0"/>
                        </a:spcAft>
                      </a:pPr>
                      <a:r>
                        <a:rPr lang="en-PH" sz="1000" b="0">
                          <a:effectLst/>
                        </a:rPr>
                        <a:t>Sri Lanka</a:t>
                      </a:r>
                      <a:endParaRPr lang="en-US" sz="1200" b="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636</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6.1%</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extLst>
                  <a:ext uri="{0D108BD9-81ED-4DB2-BD59-A6C34878D82A}">
                    <a16:rowId xmlns:a16="http://schemas.microsoft.com/office/drawing/2014/main" val="192294291"/>
                  </a:ext>
                </a:extLst>
              </a:tr>
              <a:tr h="43180">
                <a:tc>
                  <a:txBody>
                    <a:bodyPr/>
                    <a:lstStyle/>
                    <a:p>
                      <a:pPr marL="0" marR="0">
                        <a:spcBef>
                          <a:spcPts val="0"/>
                        </a:spcBef>
                        <a:spcAft>
                          <a:spcPts val="0"/>
                        </a:spcAft>
                      </a:pPr>
                      <a:r>
                        <a:rPr lang="en-PH" sz="1000" b="0">
                          <a:effectLst/>
                        </a:rPr>
                        <a:t>South Asia</a:t>
                      </a:r>
                      <a:endParaRPr lang="en-US" sz="1200" b="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984.31</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tc>
                  <a:txBody>
                    <a:bodyPr/>
                    <a:lstStyle/>
                    <a:p>
                      <a:pPr marL="0" marR="0" algn="ctr">
                        <a:spcBef>
                          <a:spcPts val="0"/>
                        </a:spcBef>
                        <a:spcAft>
                          <a:spcPts val="0"/>
                        </a:spcAft>
                      </a:pPr>
                      <a:r>
                        <a:rPr lang="en-PH" sz="1000">
                          <a:effectLst/>
                        </a:rPr>
                        <a:t>10.3%</a:t>
                      </a:r>
                      <a:endParaRPr lang="en-US" sz="120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tc>
                <a:extLst>
                  <a:ext uri="{0D108BD9-81ED-4DB2-BD59-A6C34878D82A}">
                    <a16:rowId xmlns:a16="http://schemas.microsoft.com/office/drawing/2014/main" val="1119099993"/>
                  </a:ext>
                </a:extLst>
              </a:tr>
            </a:tbl>
          </a:graphicData>
        </a:graphic>
      </p:graphicFrame>
    </p:spTree>
    <p:extLst>
      <p:ext uri="{BB962C8B-B14F-4D97-AF65-F5344CB8AC3E}">
        <p14:creationId xmlns:p14="http://schemas.microsoft.com/office/powerpoint/2010/main" val="3339078526"/>
      </p:ext>
    </p:extLst>
  </p:cSld>
  <p:clrMapOvr>
    <a:masterClrMapping/>
  </p:clrMapOvr>
  <p:transition>
    <p:fade/>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669453496"/>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Drivers of Demand Growth I Domestic and Export Aspirations</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Sectoral electrification and export ambitions to India and Bangladesh anchor Nepal’s long-term demand surge</a:t>
            </a:r>
          </a:p>
        </p:txBody>
      </p:sp>
      <p:sp>
        <p:nvSpPr>
          <p:cNvPr id="522" name="TextBox 521">
            <a:extLst>
              <a:ext uri="{FF2B5EF4-FFF2-40B4-BE49-F238E27FC236}">
                <a16:creationId xmlns:a16="http://schemas.microsoft.com/office/drawing/2014/main" id="{27A97377-DE24-8705-5F2E-1519C49336C3}"/>
              </a:ext>
            </a:extLst>
          </p:cNvPr>
          <p:cNvSpPr txBox="1"/>
          <p:nvPr/>
        </p:nvSpPr>
        <p:spPr>
          <a:xfrm>
            <a:off x="447674" y="6596933"/>
            <a:ext cx="7953375"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6"/>
              </a:rPr>
              <a:t>NEA Annual Report</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7"/>
              </a:rPr>
              <a:t>IBN Energy Demand – MAED</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8"/>
              </a:rPr>
              <a:t>Electricity Demand Forecast (2015-40) WECS</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9"/>
              </a:rPr>
              <a:t>NEA Load Forecast </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sp>
        <p:nvSpPr>
          <p:cNvPr id="53" name="Rectangle 52">
            <a:extLst>
              <a:ext uri="{FF2B5EF4-FFF2-40B4-BE49-F238E27FC236}">
                <a16:creationId xmlns:a16="http://schemas.microsoft.com/office/drawing/2014/main" id="{48FBC3AE-2EA2-7700-E343-5FA1CE25455E}"/>
              </a:ext>
            </a:extLst>
          </p:cNvPr>
          <p:cNvSpPr/>
          <p:nvPr/>
        </p:nvSpPr>
        <p:spPr>
          <a:xfrm>
            <a:off x="514883" y="1117357"/>
            <a:ext cx="11155680" cy="278662"/>
          </a:xfrm>
          <a:prstGeom prst="rect">
            <a:avLst/>
          </a:prstGeom>
          <a:solidFill>
            <a:schemeClr val="tx1"/>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Gill Sans MT"/>
                <a:ea typeface="+mn-ea"/>
                <a:cs typeface="+mn-cs"/>
              </a:rPr>
              <a:t>Key Aspirations across various sectors - domestic</a:t>
            </a:r>
          </a:p>
        </p:txBody>
      </p:sp>
      <p:sp>
        <p:nvSpPr>
          <p:cNvPr id="48" name="Rectangle 47">
            <a:extLst>
              <a:ext uri="{FF2B5EF4-FFF2-40B4-BE49-F238E27FC236}">
                <a16:creationId xmlns:a16="http://schemas.microsoft.com/office/drawing/2014/main" id="{44596328-AA8D-9351-C55A-0A065E8BC123}"/>
              </a:ext>
            </a:extLst>
          </p:cNvPr>
          <p:cNvSpPr/>
          <p:nvPr/>
        </p:nvSpPr>
        <p:spPr>
          <a:xfrm>
            <a:off x="514883" y="1500844"/>
            <a:ext cx="2159025" cy="328887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1200"/>
              </a:spcAft>
              <a:buClrTx/>
              <a:buSzTx/>
              <a:buFontTx/>
              <a:buNone/>
              <a:tabLst/>
              <a:defRPr/>
            </a:pPr>
            <a:r>
              <a:rPr kumimoji="0" lang="en-US" b="1"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Residential</a:t>
            </a:r>
          </a:p>
          <a:p>
            <a:pPr marL="285750" marR="0" lvl="0" indent="-285750"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285750" marR="0" lvl="0" indent="-285750"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173038" marR="0" lvl="0" indent="-173038"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E-cooking in 25% Households by 2030</a:t>
            </a:r>
          </a:p>
          <a:p>
            <a:pPr marL="173038" marR="0" lvl="0" indent="-173038"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LPG use capping to 40% by promoting e-cooking</a:t>
            </a:r>
          </a:p>
        </p:txBody>
      </p:sp>
      <p:grpSp>
        <p:nvGrpSpPr>
          <p:cNvPr id="54" name="Graphic 4">
            <a:extLst>
              <a:ext uri="{FF2B5EF4-FFF2-40B4-BE49-F238E27FC236}">
                <a16:creationId xmlns:a16="http://schemas.microsoft.com/office/drawing/2014/main" id="{93C3287D-22D6-2C6E-57E1-6BCCBEEA99DE}"/>
              </a:ext>
            </a:extLst>
          </p:cNvPr>
          <p:cNvGrpSpPr/>
          <p:nvPr/>
        </p:nvGrpSpPr>
        <p:grpSpPr>
          <a:xfrm>
            <a:off x="1375932" y="1901981"/>
            <a:ext cx="457200" cy="457200"/>
            <a:chOff x="8840477" y="2855717"/>
            <a:chExt cx="362312" cy="361971"/>
          </a:xfrm>
          <a:solidFill>
            <a:schemeClr val="bg1"/>
          </a:solidFill>
        </p:grpSpPr>
        <p:sp>
          <p:nvSpPr>
            <p:cNvPr id="55" name="Graphic 4">
              <a:extLst>
                <a:ext uri="{FF2B5EF4-FFF2-40B4-BE49-F238E27FC236}">
                  <a16:creationId xmlns:a16="http://schemas.microsoft.com/office/drawing/2014/main" id="{2624B1C0-1A16-74E7-3926-BC542D7795FF}"/>
                </a:ext>
              </a:extLst>
            </p:cNvPr>
            <p:cNvSpPr/>
            <p:nvPr/>
          </p:nvSpPr>
          <p:spPr>
            <a:xfrm>
              <a:off x="8840477" y="2855717"/>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234"/>
                    <a:pt x="274767" y="348565"/>
                    <a:pt x="181474" y="349204"/>
                  </a:cubicBezTo>
                  <a:close/>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sp>
          <p:nvSpPr>
            <p:cNvPr id="56" name="Graphic 4">
              <a:extLst>
                <a:ext uri="{FF2B5EF4-FFF2-40B4-BE49-F238E27FC236}">
                  <a16:creationId xmlns:a16="http://schemas.microsoft.com/office/drawing/2014/main" id="{C2B0477A-8A2D-BCCA-5C00-883F6235F1CD}"/>
                </a:ext>
              </a:extLst>
            </p:cNvPr>
            <p:cNvSpPr/>
            <p:nvPr/>
          </p:nvSpPr>
          <p:spPr>
            <a:xfrm>
              <a:off x="8965081" y="3022978"/>
              <a:ext cx="42173" cy="42134"/>
            </a:xfrm>
            <a:custGeom>
              <a:avLst/>
              <a:gdLst>
                <a:gd name="connsiteX0" fmla="*/ 35145 w 42173"/>
                <a:gd name="connsiteY0" fmla="*/ 0 h 42134"/>
                <a:gd name="connsiteX1" fmla="*/ 6390 w 42173"/>
                <a:gd name="connsiteY1" fmla="*/ 0 h 42134"/>
                <a:gd name="connsiteX2" fmla="*/ 0 w 42173"/>
                <a:gd name="connsiteY2" fmla="*/ 6384 h 42134"/>
                <a:gd name="connsiteX3" fmla="*/ 0 w 42173"/>
                <a:gd name="connsiteY3" fmla="*/ 35750 h 42134"/>
                <a:gd name="connsiteX4" fmla="*/ 6390 w 42173"/>
                <a:gd name="connsiteY4" fmla="*/ 42134 h 42134"/>
                <a:gd name="connsiteX5" fmla="*/ 35783 w 42173"/>
                <a:gd name="connsiteY5" fmla="*/ 42134 h 42134"/>
                <a:gd name="connsiteX6" fmla="*/ 42173 w 42173"/>
                <a:gd name="connsiteY6" fmla="*/ 35750 h 42134"/>
                <a:gd name="connsiteX7" fmla="*/ 42173 w 42173"/>
                <a:gd name="connsiteY7" fmla="*/ 6384 h 42134"/>
                <a:gd name="connsiteX8" fmla="*/ 35145 w 42173"/>
                <a:gd name="connsiteY8" fmla="*/ 0 h 42134"/>
                <a:gd name="connsiteX9" fmla="*/ 35145 w 42173"/>
                <a:gd name="connsiteY9" fmla="*/ 0 h 42134"/>
                <a:gd name="connsiteX10" fmla="*/ 28755 w 42173"/>
                <a:gd name="connsiteY10" fmla="*/ 28728 h 42134"/>
                <a:gd name="connsiteX11" fmla="*/ 12780 w 42173"/>
                <a:gd name="connsiteY11" fmla="*/ 28728 h 42134"/>
                <a:gd name="connsiteX12" fmla="*/ 12780 w 42173"/>
                <a:gd name="connsiteY12" fmla="*/ 12130 h 42134"/>
                <a:gd name="connsiteX13" fmla="*/ 29394 w 42173"/>
                <a:gd name="connsiteY13" fmla="*/ 12130 h 42134"/>
                <a:gd name="connsiteX14" fmla="*/ 28755 w 42173"/>
                <a:gd name="connsiteY14" fmla="*/ 2872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73" h="42134">
                  <a:moveTo>
                    <a:pt x="35145" y="0"/>
                  </a:moveTo>
                  <a:lnTo>
                    <a:pt x="6390" y="0"/>
                  </a:lnTo>
                  <a:cubicBezTo>
                    <a:pt x="2556" y="0"/>
                    <a:pt x="0" y="2554"/>
                    <a:pt x="0" y="6384"/>
                  </a:cubicBezTo>
                  <a:lnTo>
                    <a:pt x="0" y="35750"/>
                  </a:lnTo>
                  <a:cubicBezTo>
                    <a:pt x="0" y="39581"/>
                    <a:pt x="2556" y="42134"/>
                    <a:pt x="6390" y="42134"/>
                  </a:cubicBezTo>
                  <a:lnTo>
                    <a:pt x="35783" y="42134"/>
                  </a:lnTo>
                  <a:cubicBezTo>
                    <a:pt x="39617" y="42134"/>
                    <a:pt x="42173" y="39581"/>
                    <a:pt x="42173" y="35750"/>
                  </a:cubicBezTo>
                  <a:lnTo>
                    <a:pt x="42173" y="6384"/>
                  </a:lnTo>
                  <a:cubicBezTo>
                    <a:pt x="42173" y="2554"/>
                    <a:pt x="38978" y="0"/>
                    <a:pt x="35145" y="0"/>
                  </a:cubicBezTo>
                  <a:cubicBezTo>
                    <a:pt x="35145" y="0"/>
                    <a:pt x="35145" y="0"/>
                    <a:pt x="35145" y="0"/>
                  </a:cubicBezTo>
                  <a:close/>
                  <a:moveTo>
                    <a:pt x="28755" y="28728"/>
                  </a:moveTo>
                  <a:lnTo>
                    <a:pt x="12780" y="28728"/>
                  </a:lnTo>
                  <a:lnTo>
                    <a:pt x="12780" y="12130"/>
                  </a:lnTo>
                  <a:lnTo>
                    <a:pt x="29394" y="12130"/>
                  </a:lnTo>
                  <a:lnTo>
                    <a:pt x="28755" y="28728"/>
                  </a:lnTo>
                  <a:close/>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sp>
          <p:nvSpPr>
            <p:cNvPr id="57" name="Graphic 4">
              <a:extLst>
                <a:ext uri="{FF2B5EF4-FFF2-40B4-BE49-F238E27FC236}">
                  <a16:creationId xmlns:a16="http://schemas.microsoft.com/office/drawing/2014/main" id="{A1672E82-C4DD-BE8C-92F2-5894EC4B8AB5}"/>
                </a:ext>
              </a:extLst>
            </p:cNvPr>
            <p:cNvSpPr/>
            <p:nvPr/>
          </p:nvSpPr>
          <p:spPr>
            <a:xfrm>
              <a:off x="9037927" y="3022339"/>
              <a:ext cx="42173" cy="42134"/>
            </a:xfrm>
            <a:custGeom>
              <a:avLst/>
              <a:gdLst>
                <a:gd name="connsiteX0" fmla="*/ 6390 w 42173"/>
                <a:gd name="connsiteY0" fmla="*/ 42134 h 42134"/>
                <a:gd name="connsiteX1" fmla="*/ 35783 w 42173"/>
                <a:gd name="connsiteY1" fmla="*/ 42134 h 42134"/>
                <a:gd name="connsiteX2" fmla="*/ 42173 w 42173"/>
                <a:gd name="connsiteY2" fmla="*/ 35750 h 42134"/>
                <a:gd name="connsiteX3" fmla="*/ 42173 w 42173"/>
                <a:gd name="connsiteY3" fmla="*/ 6384 h 42134"/>
                <a:gd name="connsiteX4" fmla="*/ 35783 w 42173"/>
                <a:gd name="connsiteY4" fmla="*/ 0 h 42134"/>
                <a:gd name="connsiteX5" fmla="*/ 6390 w 42173"/>
                <a:gd name="connsiteY5" fmla="*/ 0 h 42134"/>
                <a:gd name="connsiteX6" fmla="*/ 0 w 42173"/>
                <a:gd name="connsiteY6" fmla="*/ 6384 h 42134"/>
                <a:gd name="connsiteX7" fmla="*/ 0 w 42173"/>
                <a:gd name="connsiteY7" fmla="*/ 35750 h 42134"/>
                <a:gd name="connsiteX8" fmla="*/ 6390 w 42173"/>
                <a:gd name="connsiteY8" fmla="*/ 42134 h 42134"/>
                <a:gd name="connsiteX9" fmla="*/ 12780 w 42173"/>
                <a:gd name="connsiteY9" fmla="*/ 13406 h 42134"/>
                <a:gd name="connsiteX10" fmla="*/ 29394 w 42173"/>
                <a:gd name="connsiteY10" fmla="*/ 13406 h 42134"/>
                <a:gd name="connsiteX11" fmla="*/ 29394 w 42173"/>
                <a:gd name="connsiteY11" fmla="*/ 30005 h 42134"/>
                <a:gd name="connsiteX12" fmla="*/ 12780 w 42173"/>
                <a:gd name="connsiteY12" fmla="*/ 30005 h 42134"/>
                <a:gd name="connsiteX13" fmla="*/ 12780 w 42173"/>
                <a:gd name="connsiteY13" fmla="*/ 13406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173" h="42134">
                  <a:moveTo>
                    <a:pt x="6390" y="42134"/>
                  </a:moveTo>
                  <a:lnTo>
                    <a:pt x="35783" y="42134"/>
                  </a:lnTo>
                  <a:cubicBezTo>
                    <a:pt x="39617" y="42134"/>
                    <a:pt x="42173" y="39581"/>
                    <a:pt x="42173" y="35750"/>
                  </a:cubicBezTo>
                  <a:lnTo>
                    <a:pt x="42173" y="6384"/>
                  </a:lnTo>
                  <a:cubicBezTo>
                    <a:pt x="42173" y="2554"/>
                    <a:pt x="39617" y="0"/>
                    <a:pt x="35783" y="0"/>
                  </a:cubicBezTo>
                  <a:lnTo>
                    <a:pt x="6390" y="0"/>
                  </a:lnTo>
                  <a:cubicBezTo>
                    <a:pt x="2556" y="0"/>
                    <a:pt x="0" y="2554"/>
                    <a:pt x="0" y="6384"/>
                  </a:cubicBezTo>
                  <a:lnTo>
                    <a:pt x="0" y="35750"/>
                  </a:lnTo>
                  <a:cubicBezTo>
                    <a:pt x="0" y="39581"/>
                    <a:pt x="2556" y="42134"/>
                    <a:pt x="6390" y="42134"/>
                  </a:cubicBezTo>
                  <a:close/>
                  <a:moveTo>
                    <a:pt x="12780" y="13406"/>
                  </a:moveTo>
                  <a:lnTo>
                    <a:pt x="29394" y="13406"/>
                  </a:lnTo>
                  <a:lnTo>
                    <a:pt x="29394" y="30005"/>
                  </a:lnTo>
                  <a:lnTo>
                    <a:pt x="12780" y="30005"/>
                  </a:lnTo>
                  <a:lnTo>
                    <a:pt x="12780" y="13406"/>
                  </a:lnTo>
                  <a:close/>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sp>
          <p:nvSpPr>
            <p:cNvPr id="58" name="Graphic 4">
              <a:extLst>
                <a:ext uri="{FF2B5EF4-FFF2-40B4-BE49-F238E27FC236}">
                  <a16:creationId xmlns:a16="http://schemas.microsoft.com/office/drawing/2014/main" id="{FE094C9B-7393-4FF6-F368-F6132940E999}"/>
                </a:ext>
              </a:extLst>
            </p:cNvPr>
            <p:cNvSpPr/>
            <p:nvPr/>
          </p:nvSpPr>
          <p:spPr>
            <a:xfrm>
              <a:off x="8913613" y="2935358"/>
              <a:ext cx="216568" cy="202531"/>
            </a:xfrm>
            <a:custGeom>
              <a:avLst/>
              <a:gdLst>
                <a:gd name="connsiteX0" fmla="*/ 112812 w 216568"/>
                <a:gd name="connsiteY0" fmla="*/ 1436 h 202531"/>
                <a:gd name="connsiteX1" fmla="*/ 104505 w 216568"/>
                <a:gd name="connsiteY1" fmla="*/ 1436 h 202531"/>
                <a:gd name="connsiteX2" fmla="*/ 2266 w 216568"/>
                <a:gd name="connsiteY2" fmla="*/ 88897 h 202531"/>
                <a:gd name="connsiteX3" fmla="*/ 1627 w 216568"/>
                <a:gd name="connsiteY3" fmla="*/ 97835 h 202531"/>
                <a:gd name="connsiteX4" fmla="*/ 6739 w 216568"/>
                <a:gd name="connsiteY4" fmla="*/ 100388 h 202531"/>
                <a:gd name="connsiteX5" fmla="*/ 22075 w 216568"/>
                <a:gd name="connsiteY5" fmla="*/ 100388 h 202531"/>
                <a:gd name="connsiteX6" fmla="*/ 22075 w 216568"/>
                <a:gd name="connsiteY6" fmla="*/ 196148 h 202531"/>
                <a:gd name="connsiteX7" fmla="*/ 28465 w 216568"/>
                <a:gd name="connsiteY7" fmla="*/ 202532 h 202531"/>
                <a:gd name="connsiteX8" fmla="*/ 94281 w 216568"/>
                <a:gd name="connsiteY8" fmla="*/ 202532 h 202531"/>
                <a:gd name="connsiteX9" fmla="*/ 100671 w 216568"/>
                <a:gd name="connsiteY9" fmla="*/ 196148 h 202531"/>
                <a:gd name="connsiteX10" fmla="*/ 100671 w 216568"/>
                <a:gd name="connsiteY10" fmla="*/ 158482 h 202531"/>
                <a:gd name="connsiteX11" fmla="*/ 117285 w 216568"/>
                <a:gd name="connsiteY11" fmla="*/ 158482 h 202531"/>
                <a:gd name="connsiteX12" fmla="*/ 117285 w 216568"/>
                <a:gd name="connsiteY12" fmla="*/ 195509 h 202531"/>
                <a:gd name="connsiteX13" fmla="*/ 123675 w 216568"/>
                <a:gd name="connsiteY13" fmla="*/ 201893 h 202531"/>
                <a:gd name="connsiteX14" fmla="*/ 188852 w 216568"/>
                <a:gd name="connsiteY14" fmla="*/ 201893 h 202531"/>
                <a:gd name="connsiteX15" fmla="*/ 195242 w 216568"/>
                <a:gd name="connsiteY15" fmla="*/ 195509 h 202531"/>
                <a:gd name="connsiteX16" fmla="*/ 195242 w 216568"/>
                <a:gd name="connsiteY16" fmla="*/ 99750 h 202531"/>
                <a:gd name="connsiteX17" fmla="*/ 210578 w 216568"/>
                <a:gd name="connsiteY17" fmla="*/ 99750 h 202531"/>
                <a:gd name="connsiteX18" fmla="*/ 216329 w 216568"/>
                <a:gd name="connsiteY18" fmla="*/ 95281 h 202531"/>
                <a:gd name="connsiteX19" fmla="*/ 214412 w 216568"/>
                <a:gd name="connsiteY19" fmla="*/ 88259 h 202531"/>
                <a:gd name="connsiteX20" fmla="*/ 112812 w 216568"/>
                <a:gd name="connsiteY20" fmla="*/ 1436 h 202531"/>
                <a:gd name="connsiteX21" fmla="*/ 188852 w 216568"/>
                <a:gd name="connsiteY21" fmla="*/ 87620 h 202531"/>
                <a:gd name="connsiteX22" fmla="*/ 182462 w 216568"/>
                <a:gd name="connsiteY22" fmla="*/ 94004 h 202531"/>
                <a:gd name="connsiteX23" fmla="*/ 182462 w 216568"/>
                <a:gd name="connsiteY23" fmla="*/ 189764 h 202531"/>
                <a:gd name="connsiteX24" fmla="*/ 130065 w 216568"/>
                <a:gd name="connsiteY24" fmla="*/ 189764 h 202531"/>
                <a:gd name="connsiteX25" fmla="*/ 130065 w 216568"/>
                <a:gd name="connsiteY25" fmla="*/ 152098 h 202531"/>
                <a:gd name="connsiteX26" fmla="*/ 123675 w 216568"/>
                <a:gd name="connsiteY26" fmla="*/ 145714 h 202531"/>
                <a:gd name="connsiteX27" fmla="*/ 94281 w 216568"/>
                <a:gd name="connsiteY27" fmla="*/ 145714 h 202531"/>
                <a:gd name="connsiteX28" fmla="*/ 87891 w 216568"/>
                <a:gd name="connsiteY28" fmla="*/ 152098 h 202531"/>
                <a:gd name="connsiteX29" fmla="*/ 87891 w 216568"/>
                <a:gd name="connsiteY29" fmla="*/ 189125 h 202531"/>
                <a:gd name="connsiteX30" fmla="*/ 34855 w 216568"/>
                <a:gd name="connsiteY30" fmla="*/ 189125 h 202531"/>
                <a:gd name="connsiteX31" fmla="*/ 34855 w 216568"/>
                <a:gd name="connsiteY31" fmla="*/ 93366 h 202531"/>
                <a:gd name="connsiteX32" fmla="*/ 28465 w 216568"/>
                <a:gd name="connsiteY32" fmla="*/ 86982 h 202531"/>
                <a:gd name="connsiteX33" fmla="*/ 23991 w 216568"/>
                <a:gd name="connsiteY33" fmla="*/ 86982 h 202531"/>
                <a:gd name="connsiteX34" fmla="*/ 108339 w 216568"/>
                <a:gd name="connsiteY34" fmla="*/ 14204 h 202531"/>
                <a:gd name="connsiteX35" fmla="*/ 192686 w 216568"/>
                <a:gd name="connsiteY35" fmla="*/ 86982 h 202531"/>
                <a:gd name="connsiteX36" fmla="*/ 188852 w 216568"/>
                <a:gd name="connsiteY36" fmla="*/ 86982 h 20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6568" h="202531">
                  <a:moveTo>
                    <a:pt x="112812" y="1436"/>
                  </a:moveTo>
                  <a:cubicBezTo>
                    <a:pt x="110256" y="-479"/>
                    <a:pt x="107061" y="-479"/>
                    <a:pt x="104505" y="1436"/>
                  </a:cubicBezTo>
                  <a:lnTo>
                    <a:pt x="2266" y="88897"/>
                  </a:lnTo>
                  <a:cubicBezTo>
                    <a:pt x="-290" y="91451"/>
                    <a:pt x="-929" y="95281"/>
                    <a:pt x="1627" y="97835"/>
                  </a:cubicBezTo>
                  <a:cubicBezTo>
                    <a:pt x="2905" y="99111"/>
                    <a:pt x="4822" y="100388"/>
                    <a:pt x="6739" y="100388"/>
                  </a:cubicBezTo>
                  <a:lnTo>
                    <a:pt x="22075" y="100388"/>
                  </a:lnTo>
                  <a:lnTo>
                    <a:pt x="22075" y="196148"/>
                  </a:lnTo>
                  <a:cubicBezTo>
                    <a:pt x="22075" y="199978"/>
                    <a:pt x="24631" y="202532"/>
                    <a:pt x="28465" y="202532"/>
                  </a:cubicBezTo>
                  <a:lnTo>
                    <a:pt x="94281" y="202532"/>
                  </a:lnTo>
                  <a:cubicBezTo>
                    <a:pt x="98115" y="202532"/>
                    <a:pt x="100671" y="199978"/>
                    <a:pt x="100671" y="196148"/>
                  </a:cubicBezTo>
                  <a:lnTo>
                    <a:pt x="100671" y="158482"/>
                  </a:lnTo>
                  <a:lnTo>
                    <a:pt x="117285" y="158482"/>
                  </a:lnTo>
                  <a:lnTo>
                    <a:pt x="117285" y="195509"/>
                  </a:lnTo>
                  <a:cubicBezTo>
                    <a:pt x="117285" y="199340"/>
                    <a:pt x="119841" y="201893"/>
                    <a:pt x="123675" y="201893"/>
                  </a:cubicBezTo>
                  <a:lnTo>
                    <a:pt x="188852" y="201893"/>
                  </a:lnTo>
                  <a:cubicBezTo>
                    <a:pt x="192686" y="201893"/>
                    <a:pt x="195242" y="199340"/>
                    <a:pt x="195242" y="195509"/>
                  </a:cubicBezTo>
                  <a:lnTo>
                    <a:pt x="195242" y="99750"/>
                  </a:lnTo>
                  <a:lnTo>
                    <a:pt x="210578" y="99750"/>
                  </a:lnTo>
                  <a:cubicBezTo>
                    <a:pt x="213134" y="99750"/>
                    <a:pt x="215690" y="97835"/>
                    <a:pt x="216329" y="95281"/>
                  </a:cubicBezTo>
                  <a:cubicBezTo>
                    <a:pt x="216968" y="92727"/>
                    <a:pt x="216329" y="90174"/>
                    <a:pt x="214412" y="88259"/>
                  </a:cubicBezTo>
                  <a:lnTo>
                    <a:pt x="112812" y="1436"/>
                  </a:lnTo>
                  <a:close/>
                  <a:moveTo>
                    <a:pt x="188852" y="87620"/>
                  </a:moveTo>
                  <a:cubicBezTo>
                    <a:pt x="185018" y="87620"/>
                    <a:pt x="182462" y="90174"/>
                    <a:pt x="182462" y="94004"/>
                  </a:cubicBezTo>
                  <a:lnTo>
                    <a:pt x="182462" y="189764"/>
                  </a:lnTo>
                  <a:lnTo>
                    <a:pt x="130065" y="189764"/>
                  </a:lnTo>
                  <a:lnTo>
                    <a:pt x="130065" y="152098"/>
                  </a:lnTo>
                  <a:cubicBezTo>
                    <a:pt x="130065" y="148268"/>
                    <a:pt x="127509" y="145714"/>
                    <a:pt x="123675" y="145714"/>
                  </a:cubicBezTo>
                  <a:lnTo>
                    <a:pt x="94281" y="145714"/>
                  </a:lnTo>
                  <a:cubicBezTo>
                    <a:pt x="90447" y="145714"/>
                    <a:pt x="87891" y="148268"/>
                    <a:pt x="87891" y="152098"/>
                  </a:cubicBezTo>
                  <a:lnTo>
                    <a:pt x="87891" y="189125"/>
                  </a:lnTo>
                  <a:lnTo>
                    <a:pt x="34855" y="189125"/>
                  </a:lnTo>
                  <a:lnTo>
                    <a:pt x="34855" y="93366"/>
                  </a:lnTo>
                  <a:cubicBezTo>
                    <a:pt x="34855" y="89535"/>
                    <a:pt x="32299" y="86982"/>
                    <a:pt x="28465" y="86982"/>
                  </a:cubicBezTo>
                  <a:lnTo>
                    <a:pt x="23991" y="86982"/>
                  </a:lnTo>
                  <a:lnTo>
                    <a:pt x="108339" y="14204"/>
                  </a:lnTo>
                  <a:lnTo>
                    <a:pt x="192686" y="86982"/>
                  </a:lnTo>
                  <a:lnTo>
                    <a:pt x="188852" y="86982"/>
                  </a:lnTo>
                  <a:close/>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grpSp>
      <p:sp>
        <p:nvSpPr>
          <p:cNvPr id="49" name="Rectangle 48">
            <a:extLst>
              <a:ext uri="{FF2B5EF4-FFF2-40B4-BE49-F238E27FC236}">
                <a16:creationId xmlns:a16="http://schemas.microsoft.com/office/drawing/2014/main" id="{D18F3B98-22D2-010F-F5E3-DC1FB2825E8C}"/>
              </a:ext>
            </a:extLst>
          </p:cNvPr>
          <p:cNvSpPr/>
          <p:nvPr/>
        </p:nvSpPr>
        <p:spPr>
          <a:xfrm>
            <a:off x="3436528" y="1497874"/>
            <a:ext cx="2157984" cy="3291840"/>
          </a:xfrm>
          <a:prstGeom prst="rect">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1200"/>
              </a:spcAft>
              <a:buClrTx/>
              <a:buSzTx/>
              <a:buFontTx/>
              <a:buNone/>
              <a:tabLst/>
              <a:defRPr/>
            </a:pPr>
            <a:r>
              <a:rPr kumimoji="0" lang="en-US" b="1"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Industrial</a:t>
            </a:r>
            <a:endParaRPr kumimoji="0" lang="en-US"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285750" marR="0" lvl="0" indent="-285750"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285750" marR="0" lvl="0" indent="-285750"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173038" marR="0" lvl="0" indent="-173038"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lang="en-US" sz="1600">
                <a:solidFill>
                  <a:srgbClr val="FFFFFF"/>
                </a:solidFill>
                <a:latin typeface="Arial" panose="020B0604020202020204" pitchFamily="34" charset="0"/>
                <a:cs typeface="Arial" panose="020B0604020202020204" pitchFamily="34" charset="0"/>
              </a:rPr>
              <a:t>95% emission reduction by 2050</a:t>
            </a:r>
            <a:endPar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173038" marR="0" lvl="0" indent="-173038"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Use of green fuels in Thermal Processes</a:t>
            </a:r>
          </a:p>
        </p:txBody>
      </p:sp>
      <p:grpSp>
        <p:nvGrpSpPr>
          <p:cNvPr id="59" name="Graphic 4">
            <a:extLst>
              <a:ext uri="{FF2B5EF4-FFF2-40B4-BE49-F238E27FC236}">
                <a16:creationId xmlns:a16="http://schemas.microsoft.com/office/drawing/2014/main" id="{874F56FD-3072-4A62-C0D2-B9CF9E4E1A21}"/>
              </a:ext>
            </a:extLst>
          </p:cNvPr>
          <p:cNvGrpSpPr/>
          <p:nvPr/>
        </p:nvGrpSpPr>
        <p:grpSpPr>
          <a:xfrm>
            <a:off x="4284501" y="1899012"/>
            <a:ext cx="457200" cy="457200"/>
            <a:chOff x="467104" y="918179"/>
            <a:chExt cx="362309" cy="361971"/>
          </a:xfrm>
          <a:solidFill>
            <a:schemeClr val="bg1"/>
          </a:solidFill>
        </p:grpSpPr>
        <p:sp>
          <p:nvSpPr>
            <p:cNvPr id="60" name="Graphic 4">
              <a:extLst>
                <a:ext uri="{FF2B5EF4-FFF2-40B4-BE49-F238E27FC236}">
                  <a16:creationId xmlns:a16="http://schemas.microsoft.com/office/drawing/2014/main" id="{9AA181A2-9310-AAF1-94E1-8C2C79B22DA9}"/>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sp>
          <p:nvSpPr>
            <p:cNvPr id="61" name="Graphic 4">
              <a:extLst>
                <a:ext uri="{FF2B5EF4-FFF2-40B4-BE49-F238E27FC236}">
                  <a16:creationId xmlns:a16="http://schemas.microsoft.com/office/drawing/2014/main" id="{121B2019-4F33-D0B4-0B3D-B041BF6291E4}"/>
                </a:ext>
              </a:extLst>
            </p:cNvPr>
            <p:cNvSpPr/>
            <p:nvPr/>
          </p:nvSpPr>
          <p:spPr>
            <a:xfrm>
              <a:off x="540588" y="1007554"/>
              <a:ext cx="216618" cy="182581"/>
            </a:xfrm>
            <a:custGeom>
              <a:avLst/>
              <a:gdLst>
                <a:gd name="connsiteX0" fmla="*/ 209590 w 216618"/>
                <a:gd name="connsiteY0" fmla="*/ 82992 h 182581"/>
                <a:gd name="connsiteX1" fmla="*/ 198727 w 216618"/>
                <a:gd name="connsiteY1" fmla="*/ 82992 h 182581"/>
                <a:gd name="connsiteX2" fmla="*/ 198727 w 216618"/>
                <a:gd name="connsiteY2" fmla="*/ 63840 h 182581"/>
                <a:gd name="connsiteX3" fmla="*/ 205117 w 216618"/>
                <a:gd name="connsiteY3" fmla="*/ 63840 h 182581"/>
                <a:gd name="connsiteX4" fmla="*/ 211507 w 216618"/>
                <a:gd name="connsiteY4" fmla="*/ 57456 h 182581"/>
                <a:gd name="connsiteX5" fmla="*/ 205117 w 216618"/>
                <a:gd name="connsiteY5" fmla="*/ 51072 h 182581"/>
                <a:gd name="connsiteX6" fmla="*/ 155914 w 216618"/>
                <a:gd name="connsiteY6" fmla="*/ 51072 h 182581"/>
                <a:gd name="connsiteX7" fmla="*/ 149525 w 216618"/>
                <a:gd name="connsiteY7" fmla="*/ 57456 h 182581"/>
                <a:gd name="connsiteX8" fmla="*/ 155914 w 216618"/>
                <a:gd name="connsiteY8" fmla="*/ 63840 h 182581"/>
                <a:gd name="connsiteX9" fmla="*/ 159748 w 216618"/>
                <a:gd name="connsiteY9" fmla="*/ 63840 h 182581"/>
                <a:gd name="connsiteX10" fmla="*/ 159748 w 216618"/>
                <a:gd name="connsiteY10" fmla="*/ 76608 h 182581"/>
                <a:gd name="connsiteX11" fmla="*/ 130355 w 216618"/>
                <a:gd name="connsiteY11" fmla="*/ 76608 h 182581"/>
                <a:gd name="connsiteX12" fmla="*/ 123965 w 216618"/>
                <a:gd name="connsiteY12" fmla="*/ 82992 h 182581"/>
                <a:gd name="connsiteX13" fmla="*/ 123965 w 216618"/>
                <a:gd name="connsiteY13" fmla="*/ 94483 h 182581"/>
                <a:gd name="connsiteX14" fmla="*/ 120131 w 216618"/>
                <a:gd name="connsiteY14" fmla="*/ 94483 h 182581"/>
                <a:gd name="connsiteX15" fmla="*/ 114380 w 216618"/>
                <a:gd name="connsiteY15" fmla="*/ 34474 h 182581"/>
                <a:gd name="connsiteX16" fmla="*/ 107990 w 216618"/>
                <a:gd name="connsiteY16" fmla="*/ 28728 h 182581"/>
                <a:gd name="connsiteX17" fmla="*/ 84347 w 216618"/>
                <a:gd name="connsiteY17" fmla="*/ 28728 h 182581"/>
                <a:gd name="connsiteX18" fmla="*/ 77957 w 216618"/>
                <a:gd name="connsiteY18" fmla="*/ 34474 h 182581"/>
                <a:gd name="connsiteX19" fmla="*/ 72845 w 216618"/>
                <a:gd name="connsiteY19" fmla="*/ 87461 h 182581"/>
                <a:gd name="connsiteX20" fmla="*/ 63899 w 216618"/>
                <a:gd name="connsiteY20" fmla="*/ 5746 h 182581"/>
                <a:gd name="connsiteX21" fmla="*/ 57509 w 216618"/>
                <a:gd name="connsiteY21" fmla="*/ 0 h 182581"/>
                <a:gd name="connsiteX22" fmla="*/ 29394 w 216618"/>
                <a:gd name="connsiteY22" fmla="*/ 0 h 182581"/>
                <a:gd name="connsiteX23" fmla="*/ 23004 w 216618"/>
                <a:gd name="connsiteY23" fmla="*/ 5746 h 182581"/>
                <a:gd name="connsiteX24" fmla="*/ 15336 w 216618"/>
                <a:gd name="connsiteY24" fmla="*/ 89376 h 182581"/>
                <a:gd name="connsiteX25" fmla="*/ 3834 w 216618"/>
                <a:gd name="connsiteY25" fmla="*/ 94483 h 182581"/>
                <a:gd name="connsiteX26" fmla="*/ 0 w 216618"/>
                <a:gd name="connsiteY26" fmla="*/ 100229 h 182581"/>
                <a:gd name="connsiteX27" fmla="*/ 0 w 216618"/>
                <a:gd name="connsiteY27" fmla="*/ 176198 h 182581"/>
                <a:gd name="connsiteX28" fmla="*/ 6390 w 216618"/>
                <a:gd name="connsiteY28" fmla="*/ 182582 h 182581"/>
                <a:gd name="connsiteX29" fmla="*/ 210229 w 216618"/>
                <a:gd name="connsiteY29" fmla="*/ 182582 h 182581"/>
                <a:gd name="connsiteX30" fmla="*/ 216619 w 216618"/>
                <a:gd name="connsiteY30" fmla="*/ 176198 h 182581"/>
                <a:gd name="connsiteX31" fmla="*/ 216619 w 216618"/>
                <a:gd name="connsiteY31" fmla="*/ 89376 h 182581"/>
                <a:gd name="connsiteX32" fmla="*/ 209590 w 216618"/>
                <a:gd name="connsiteY32" fmla="*/ 82992 h 182581"/>
                <a:gd name="connsiteX33" fmla="*/ 209590 w 216618"/>
                <a:gd name="connsiteY33" fmla="*/ 82992 h 182581"/>
                <a:gd name="connsiteX34" fmla="*/ 203200 w 216618"/>
                <a:gd name="connsiteY34" fmla="*/ 169814 h 182581"/>
                <a:gd name="connsiteX35" fmla="*/ 12141 w 216618"/>
                <a:gd name="connsiteY35" fmla="*/ 169814 h 182581"/>
                <a:gd name="connsiteX36" fmla="*/ 12141 w 216618"/>
                <a:gd name="connsiteY36" fmla="*/ 104697 h 182581"/>
                <a:gd name="connsiteX37" fmla="*/ 23643 w 216618"/>
                <a:gd name="connsiteY37" fmla="*/ 99590 h 182581"/>
                <a:gd name="connsiteX38" fmla="*/ 27477 w 216618"/>
                <a:gd name="connsiteY38" fmla="*/ 94483 h 182581"/>
                <a:gd name="connsiteX39" fmla="*/ 35145 w 216618"/>
                <a:gd name="connsiteY39" fmla="*/ 12768 h 182581"/>
                <a:gd name="connsiteX40" fmla="*/ 51758 w 216618"/>
                <a:gd name="connsiteY40" fmla="*/ 12768 h 182581"/>
                <a:gd name="connsiteX41" fmla="*/ 61343 w 216618"/>
                <a:gd name="connsiteY41" fmla="*/ 100229 h 182581"/>
                <a:gd name="connsiteX42" fmla="*/ 67733 w 216618"/>
                <a:gd name="connsiteY42" fmla="*/ 105974 h 182581"/>
                <a:gd name="connsiteX43" fmla="*/ 77957 w 216618"/>
                <a:gd name="connsiteY43" fmla="*/ 105974 h 182581"/>
                <a:gd name="connsiteX44" fmla="*/ 84347 w 216618"/>
                <a:gd name="connsiteY44" fmla="*/ 100229 h 182581"/>
                <a:gd name="connsiteX45" fmla="*/ 89459 w 216618"/>
                <a:gd name="connsiteY45" fmla="*/ 40858 h 182581"/>
                <a:gd name="connsiteX46" fmla="*/ 101600 w 216618"/>
                <a:gd name="connsiteY46" fmla="*/ 40858 h 182581"/>
                <a:gd name="connsiteX47" fmla="*/ 107351 w 216618"/>
                <a:gd name="connsiteY47" fmla="*/ 100867 h 182581"/>
                <a:gd name="connsiteX48" fmla="*/ 113741 w 216618"/>
                <a:gd name="connsiteY48" fmla="*/ 106612 h 182581"/>
                <a:gd name="connsiteX49" fmla="*/ 129716 w 216618"/>
                <a:gd name="connsiteY49" fmla="*/ 106612 h 182581"/>
                <a:gd name="connsiteX50" fmla="*/ 136106 w 216618"/>
                <a:gd name="connsiteY50" fmla="*/ 100229 h 182581"/>
                <a:gd name="connsiteX51" fmla="*/ 136106 w 216618"/>
                <a:gd name="connsiteY51" fmla="*/ 88737 h 182581"/>
                <a:gd name="connsiteX52" fmla="*/ 165499 w 216618"/>
                <a:gd name="connsiteY52" fmla="*/ 88737 h 182581"/>
                <a:gd name="connsiteX53" fmla="*/ 171889 w 216618"/>
                <a:gd name="connsiteY53" fmla="*/ 82353 h 182581"/>
                <a:gd name="connsiteX54" fmla="*/ 171889 w 216618"/>
                <a:gd name="connsiteY54" fmla="*/ 63201 h 182581"/>
                <a:gd name="connsiteX55" fmla="*/ 185947 w 216618"/>
                <a:gd name="connsiteY55" fmla="*/ 63201 h 182581"/>
                <a:gd name="connsiteX56" fmla="*/ 185947 w 216618"/>
                <a:gd name="connsiteY56" fmla="*/ 88737 h 182581"/>
                <a:gd name="connsiteX57" fmla="*/ 192337 w 216618"/>
                <a:gd name="connsiteY57" fmla="*/ 95121 h 182581"/>
                <a:gd name="connsiteX58" fmla="*/ 203200 w 216618"/>
                <a:gd name="connsiteY58" fmla="*/ 95121 h 182581"/>
                <a:gd name="connsiteX59" fmla="*/ 203200 w 216618"/>
                <a:gd name="connsiteY59" fmla="*/ 169814 h 182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16618" h="182581">
                  <a:moveTo>
                    <a:pt x="209590" y="82992"/>
                  </a:moveTo>
                  <a:lnTo>
                    <a:pt x="198727" y="82992"/>
                  </a:lnTo>
                  <a:lnTo>
                    <a:pt x="198727" y="63840"/>
                  </a:lnTo>
                  <a:lnTo>
                    <a:pt x="205117" y="63840"/>
                  </a:lnTo>
                  <a:cubicBezTo>
                    <a:pt x="208951" y="63840"/>
                    <a:pt x="211507" y="61286"/>
                    <a:pt x="211507" y="57456"/>
                  </a:cubicBezTo>
                  <a:cubicBezTo>
                    <a:pt x="211507" y="53626"/>
                    <a:pt x="208951" y="51072"/>
                    <a:pt x="205117" y="51072"/>
                  </a:cubicBezTo>
                  <a:lnTo>
                    <a:pt x="155914" y="51072"/>
                  </a:lnTo>
                  <a:cubicBezTo>
                    <a:pt x="152081" y="51072"/>
                    <a:pt x="149525" y="53626"/>
                    <a:pt x="149525" y="57456"/>
                  </a:cubicBezTo>
                  <a:cubicBezTo>
                    <a:pt x="149525" y="61286"/>
                    <a:pt x="152081" y="63840"/>
                    <a:pt x="155914" y="63840"/>
                  </a:cubicBezTo>
                  <a:lnTo>
                    <a:pt x="159748" y="63840"/>
                  </a:lnTo>
                  <a:lnTo>
                    <a:pt x="159748" y="76608"/>
                  </a:lnTo>
                  <a:lnTo>
                    <a:pt x="130355" y="76608"/>
                  </a:lnTo>
                  <a:cubicBezTo>
                    <a:pt x="126521" y="76608"/>
                    <a:pt x="123965" y="79161"/>
                    <a:pt x="123965" y="82992"/>
                  </a:cubicBezTo>
                  <a:lnTo>
                    <a:pt x="123965" y="94483"/>
                  </a:lnTo>
                  <a:lnTo>
                    <a:pt x="120131" y="94483"/>
                  </a:lnTo>
                  <a:lnTo>
                    <a:pt x="114380" y="34474"/>
                  </a:lnTo>
                  <a:cubicBezTo>
                    <a:pt x="113741" y="31282"/>
                    <a:pt x="111185" y="28728"/>
                    <a:pt x="107990" y="28728"/>
                  </a:cubicBezTo>
                  <a:lnTo>
                    <a:pt x="84347" y="28728"/>
                  </a:lnTo>
                  <a:cubicBezTo>
                    <a:pt x="81152" y="28728"/>
                    <a:pt x="77957" y="31282"/>
                    <a:pt x="77957" y="34474"/>
                  </a:cubicBezTo>
                  <a:lnTo>
                    <a:pt x="72845" y="87461"/>
                  </a:lnTo>
                  <a:lnTo>
                    <a:pt x="63899" y="5746"/>
                  </a:lnTo>
                  <a:cubicBezTo>
                    <a:pt x="63260" y="2554"/>
                    <a:pt x="60704" y="0"/>
                    <a:pt x="57509" y="0"/>
                  </a:cubicBezTo>
                  <a:lnTo>
                    <a:pt x="29394" y="0"/>
                  </a:lnTo>
                  <a:cubicBezTo>
                    <a:pt x="26199" y="0"/>
                    <a:pt x="23643" y="2554"/>
                    <a:pt x="23004" y="5746"/>
                  </a:cubicBezTo>
                  <a:lnTo>
                    <a:pt x="15336" y="89376"/>
                  </a:lnTo>
                  <a:lnTo>
                    <a:pt x="3834" y="94483"/>
                  </a:lnTo>
                  <a:cubicBezTo>
                    <a:pt x="1278" y="95760"/>
                    <a:pt x="0" y="97675"/>
                    <a:pt x="0" y="100229"/>
                  </a:cubicBezTo>
                  <a:lnTo>
                    <a:pt x="0" y="176198"/>
                  </a:lnTo>
                  <a:cubicBezTo>
                    <a:pt x="0" y="180028"/>
                    <a:pt x="2556" y="182582"/>
                    <a:pt x="6390" y="182582"/>
                  </a:cubicBezTo>
                  <a:lnTo>
                    <a:pt x="210229" y="182582"/>
                  </a:lnTo>
                  <a:cubicBezTo>
                    <a:pt x="214063" y="182582"/>
                    <a:pt x="216619" y="180028"/>
                    <a:pt x="216619" y="176198"/>
                  </a:cubicBezTo>
                  <a:lnTo>
                    <a:pt x="216619" y="89376"/>
                  </a:lnTo>
                  <a:cubicBezTo>
                    <a:pt x="216619" y="86184"/>
                    <a:pt x="213424" y="82992"/>
                    <a:pt x="209590" y="82992"/>
                  </a:cubicBezTo>
                  <a:cubicBezTo>
                    <a:pt x="210229" y="82992"/>
                    <a:pt x="210229" y="82992"/>
                    <a:pt x="209590" y="82992"/>
                  </a:cubicBezTo>
                  <a:close/>
                  <a:moveTo>
                    <a:pt x="203200" y="169814"/>
                  </a:moveTo>
                  <a:lnTo>
                    <a:pt x="12141" y="169814"/>
                  </a:lnTo>
                  <a:lnTo>
                    <a:pt x="12141" y="104697"/>
                  </a:lnTo>
                  <a:lnTo>
                    <a:pt x="23643" y="99590"/>
                  </a:lnTo>
                  <a:cubicBezTo>
                    <a:pt x="25560" y="98952"/>
                    <a:pt x="27477" y="96398"/>
                    <a:pt x="27477" y="94483"/>
                  </a:cubicBezTo>
                  <a:lnTo>
                    <a:pt x="35145" y="12768"/>
                  </a:lnTo>
                  <a:lnTo>
                    <a:pt x="51758" y="12768"/>
                  </a:lnTo>
                  <a:lnTo>
                    <a:pt x="61343" y="100229"/>
                  </a:lnTo>
                  <a:cubicBezTo>
                    <a:pt x="61982" y="103420"/>
                    <a:pt x="64538" y="105974"/>
                    <a:pt x="67733" y="105974"/>
                  </a:cubicBezTo>
                  <a:lnTo>
                    <a:pt x="77957" y="105974"/>
                  </a:lnTo>
                  <a:cubicBezTo>
                    <a:pt x="81152" y="105974"/>
                    <a:pt x="84347" y="103420"/>
                    <a:pt x="84347" y="100229"/>
                  </a:cubicBezTo>
                  <a:lnTo>
                    <a:pt x="89459" y="40858"/>
                  </a:lnTo>
                  <a:lnTo>
                    <a:pt x="101600" y="40858"/>
                  </a:lnTo>
                  <a:lnTo>
                    <a:pt x="107351" y="100867"/>
                  </a:lnTo>
                  <a:cubicBezTo>
                    <a:pt x="107990" y="104059"/>
                    <a:pt x="110546" y="106612"/>
                    <a:pt x="113741" y="106612"/>
                  </a:cubicBezTo>
                  <a:lnTo>
                    <a:pt x="129716" y="106612"/>
                  </a:lnTo>
                  <a:cubicBezTo>
                    <a:pt x="133550" y="106612"/>
                    <a:pt x="136106" y="104059"/>
                    <a:pt x="136106" y="100229"/>
                  </a:cubicBezTo>
                  <a:lnTo>
                    <a:pt x="136106" y="88737"/>
                  </a:lnTo>
                  <a:lnTo>
                    <a:pt x="165499" y="88737"/>
                  </a:lnTo>
                  <a:cubicBezTo>
                    <a:pt x="169333" y="88737"/>
                    <a:pt x="171889" y="86184"/>
                    <a:pt x="171889" y="82353"/>
                  </a:cubicBezTo>
                  <a:lnTo>
                    <a:pt x="171889" y="63201"/>
                  </a:lnTo>
                  <a:lnTo>
                    <a:pt x="185947" y="63201"/>
                  </a:lnTo>
                  <a:lnTo>
                    <a:pt x="185947" y="88737"/>
                  </a:lnTo>
                  <a:cubicBezTo>
                    <a:pt x="185947" y="92568"/>
                    <a:pt x="188503" y="95121"/>
                    <a:pt x="192337" y="95121"/>
                  </a:cubicBezTo>
                  <a:lnTo>
                    <a:pt x="203200" y="95121"/>
                  </a:lnTo>
                  <a:lnTo>
                    <a:pt x="203200" y="169814"/>
                  </a:lnTo>
                  <a:close/>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sp>
          <p:nvSpPr>
            <p:cNvPr id="62" name="Graphic 4">
              <a:extLst>
                <a:ext uri="{FF2B5EF4-FFF2-40B4-BE49-F238E27FC236}">
                  <a16:creationId xmlns:a16="http://schemas.microsoft.com/office/drawing/2014/main" id="{DAEC488F-05AB-2F85-D750-BB9A1252A9EB}"/>
                </a:ext>
              </a:extLst>
            </p:cNvPr>
            <p:cNvSpPr/>
            <p:nvPr/>
          </p:nvSpPr>
          <p:spPr>
            <a:xfrm>
              <a:off x="567426" y="1144172"/>
              <a:ext cx="38978" cy="12767"/>
            </a:xfrm>
            <a:custGeom>
              <a:avLst/>
              <a:gdLst>
                <a:gd name="connsiteX0" fmla="*/ 32589 w 38978"/>
                <a:gd name="connsiteY0" fmla="*/ 0 h 12767"/>
                <a:gd name="connsiteX1" fmla="*/ 6390 w 38978"/>
                <a:gd name="connsiteY1" fmla="*/ 0 h 12767"/>
                <a:gd name="connsiteX2" fmla="*/ 0 w 38978"/>
                <a:gd name="connsiteY2" fmla="*/ 6384 h 12767"/>
                <a:gd name="connsiteX3" fmla="*/ 6390 w 38978"/>
                <a:gd name="connsiteY3" fmla="*/ 12768 h 12767"/>
                <a:gd name="connsiteX4" fmla="*/ 32589 w 38978"/>
                <a:gd name="connsiteY4" fmla="*/ 12768 h 12767"/>
                <a:gd name="connsiteX5" fmla="*/ 38979 w 38978"/>
                <a:gd name="connsiteY5" fmla="*/ 6384 h 12767"/>
                <a:gd name="connsiteX6" fmla="*/ 32589 w 38978"/>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78" h="12767">
                  <a:moveTo>
                    <a:pt x="32589" y="0"/>
                  </a:moveTo>
                  <a:lnTo>
                    <a:pt x="6390" y="0"/>
                  </a:lnTo>
                  <a:cubicBezTo>
                    <a:pt x="2556" y="0"/>
                    <a:pt x="0" y="2554"/>
                    <a:pt x="0" y="6384"/>
                  </a:cubicBezTo>
                  <a:cubicBezTo>
                    <a:pt x="0" y="10214"/>
                    <a:pt x="2556" y="12768"/>
                    <a:pt x="6390" y="12768"/>
                  </a:cubicBezTo>
                  <a:lnTo>
                    <a:pt x="32589" y="12768"/>
                  </a:lnTo>
                  <a:cubicBezTo>
                    <a:pt x="36423" y="12768"/>
                    <a:pt x="38979" y="10214"/>
                    <a:pt x="38979" y="6384"/>
                  </a:cubicBezTo>
                  <a:cubicBezTo>
                    <a:pt x="38979" y="2554"/>
                    <a:pt x="36423" y="0"/>
                    <a:pt x="32589" y="0"/>
                  </a:cubicBezTo>
                  <a:close/>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sp>
          <p:nvSpPr>
            <p:cNvPr id="63" name="Graphic 4">
              <a:extLst>
                <a:ext uri="{FF2B5EF4-FFF2-40B4-BE49-F238E27FC236}">
                  <a16:creationId xmlns:a16="http://schemas.microsoft.com/office/drawing/2014/main" id="{A6A90567-AEDA-72FC-4FF1-6429684484C3}"/>
                </a:ext>
              </a:extLst>
            </p:cNvPr>
            <p:cNvSpPr/>
            <p:nvPr/>
          </p:nvSpPr>
          <p:spPr>
            <a:xfrm>
              <a:off x="625574" y="1144172"/>
              <a:ext cx="54953" cy="12767"/>
            </a:xfrm>
            <a:custGeom>
              <a:avLst/>
              <a:gdLst>
                <a:gd name="connsiteX0" fmla="*/ 48564 w 54953"/>
                <a:gd name="connsiteY0" fmla="*/ 0 h 12767"/>
                <a:gd name="connsiteX1" fmla="*/ 6390 w 54953"/>
                <a:gd name="connsiteY1" fmla="*/ 0 h 12767"/>
                <a:gd name="connsiteX2" fmla="*/ 0 w 54953"/>
                <a:gd name="connsiteY2" fmla="*/ 6384 h 12767"/>
                <a:gd name="connsiteX3" fmla="*/ 6390 w 54953"/>
                <a:gd name="connsiteY3" fmla="*/ 12768 h 12767"/>
                <a:gd name="connsiteX4" fmla="*/ 48564 w 54953"/>
                <a:gd name="connsiteY4" fmla="*/ 12768 h 12767"/>
                <a:gd name="connsiteX5" fmla="*/ 54953 w 54953"/>
                <a:gd name="connsiteY5" fmla="*/ 6384 h 12767"/>
                <a:gd name="connsiteX6" fmla="*/ 48564 w 5495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953" h="12767">
                  <a:moveTo>
                    <a:pt x="48564" y="0"/>
                  </a:moveTo>
                  <a:lnTo>
                    <a:pt x="6390" y="0"/>
                  </a:lnTo>
                  <a:cubicBezTo>
                    <a:pt x="2556" y="0"/>
                    <a:pt x="0" y="2554"/>
                    <a:pt x="0" y="6384"/>
                  </a:cubicBezTo>
                  <a:cubicBezTo>
                    <a:pt x="0" y="10214"/>
                    <a:pt x="2556" y="12768"/>
                    <a:pt x="6390" y="12768"/>
                  </a:cubicBezTo>
                  <a:lnTo>
                    <a:pt x="48564" y="12768"/>
                  </a:lnTo>
                  <a:cubicBezTo>
                    <a:pt x="52397" y="12768"/>
                    <a:pt x="54953" y="10214"/>
                    <a:pt x="54953" y="6384"/>
                  </a:cubicBezTo>
                  <a:cubicBezTo>
                    <a:pt x="54953" y="2554"/>
                    <a:pt x="51758" y="0"/>
                    <a:pt x="48564" y="0"/>
                  </a:cubicBezTo>
                  <a:close/>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sp>
          <p:nvSpPr>
            <p:cNvPr id="448" name="Graphic 4">
              <a:extLst>
                <a:ext uri="{FF2B5EF4-FFF2-40B4-BE49-F238E27FC236}">
                  <a16:creationId xmlns:a16="http://schemas.microsoft.com/office/drawing/2014/main" id="{8F3355DA-FE11-505A-B1E5-2EA20B0D209A}"/>
                </a:ext>
              </a:extLst>
            </p:cNvPr>
            <p:cNvSpPr/>
            <p:nvPr/>
          </p:nvSpPr>
          <p:spPr>
            <a:xfrm>
              <a:off x="703532" y="1144172"/>
              <a:ext cx="30671" cy="12767"/>
            </a:xfrm>
            <a:custGeom>
              <a:avLst/>
              <a:gdLst>
                <a:gd name="connsiteX0" fmla="*/ 24282 w 30671"/>
                <a:gd name="connsiteY0" fmla="*/ 0 h 12767"/>
                <a:gd name="connsiteX1" fmla="*/ 6390 w 30671"/>
                <a:gd name="connsiteY1" fmla="*/ 0 h 12767"/>
                <a:gd name="connsiteX2" fmla="*/ 0 w 30671"/>
                <a:gd name="connsiteY2" fmla="*/ 6384 h 12767"/>
                <a:gd name="connsiteX3" fmla="*/ 6390 w 30671"/>
                <a:gd name="connsiteY3" fmla="*/ 12768 h 12767"/>
                <a:gd name="connsiteX4" fmla="*/ 24282 w 30671"/>
                <a:gd name="connsiteY4" fmla="*/ 12768 h 12767"/>
                <a:gd name="connsiteX5" fmla="*/ 30672 w 30671"/>
                <a:gd name="connsiteY5" fmla="*/ 6384 h 12767"/>
                <a:gd name="connsiteX6" fmla="*/ 24282 w 3067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1" h="12767">
                  <a:moveTo>
                    <a:pt x="24282" y="0"/>
                  </a:moveTo>
                  <a:lnTo>
                    <a:pt x="6390" y="0"/>
                  </a:lnTo>
                  <a:cubicBezTo>
                    <a:pt x="2556" y="0"/>
                    <a:pt x="0" y="2554"/>
                    <a:pt x="0" y="6384"/>
                  </a:cubicBezTo>
                  <a:cubicBezTo>
                    <a:pt x="0" y="10214"/>
                    <a:pt x="2556" y="12768"/>
                    <a:pt x="6390" y="12768"/>
                  </a:cubicBezTo>
                  <a:lnTo>
                    <a:pt x="24282" y="12768"/>
                  </a:lnTo>
                  <a:cubicBezTo>
                    <a:pt x="28116" y="12768"/>
                    <a:pt x="30672" y="10214"/>
                    <a:pt x="30672" y="6384"/>
                  </a:cubicBezTo>
                  <a:cubicBezTo>
                    <a:pt x="30672" y="2554"/>
                    <a:pt x="28116" y="0"/>
                    <a:pt x="24282" y="0"/>
                  </a:cubicBezTo>
                  <a:close/>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grpSp>
      <p:sp>
        <p:nvSpPr>
          <p:cNvPr id="51" name="Rectangle 50">
            <a:extLst>
              <a:ext uri="{FF2B5EF4-FFF2-40B4-BE49-F238E27FC236}">
                <a16:creationId xmlns:a16="http://schemas.microsoft.com/office/drawing/2014/main" id="{5370A7C7-D4B4-6430-42ED-C6AF66D92737}"/>
              </a:ext>
            </a:extLst>
          </p:cNvPr>
          <p:cNvSpPr/>
          <p:nvPr/>
        </p:nvSpPr>
        <p:spPr>
          <a:xfrm>
            <a:off x="6597489" y="1497874"/>
            <a:ext cx="2157984" cy="3291840"/>
          </a:xfrm>
          <a:prstGeom prst="rect">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1200"/>
              </a:spcAft>
              <a:buClrTx/>
              <a:buSzTx/>
              <a:buFontTx/>
              <a:buNone/>
              <a:tabLst/>
              <a:defRPr/>
            </a:pPr>
            <a:r>
              <a:rPr kumimoji="0" lang="en-US" b="1"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Transport</a:t>
            </a:r>
          </a:p>
          <a:p>
            <a:pPr marL="0" marR="0" lvl="0" indent="0" algn="l" defTabSz="457200" rtl="0" eaLnBrk="1" fontAlgn="auto" latinLnBrk="0" hangingPunct="1">
              <a:lnSpc>
                <a:spcPct val="100000"/>
              </a:lnSpc>
              <a:spcBef>
                <a:spcPts val="0"/>
              </a:spcBef>
              <a:spcAft>
                <a:spcPts val="12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285750" marR="0" lvl="0" indent="-285750"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173038" marR="0" lvl="0" indent="-173038"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Electrification of 90% Private vehicles by 2030</a:t>
            </a:r>
          </a:p>
          <a:p>
            <a:pPr marL="173038" marR="0" lvl="0" indent="-173038"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Development of 200-kilometer electric rail network by 2030</a:t>
            </a:r>
          </a:p>
        </p:txBody>
      </p:sp>
      <p:grpSp>
        <p:nvGrpSpPr>
          <p:cNvPr id="454" name="Graphic 4">
            <a:extLst>
              <a:ext uri="{FF2B5EF4-FFF2-40B4-BE49-F238E27FC236}">
                <a16:creationId xmlns:a16="http://schemas.microsoft.com/office/drawing/2014/main" id="{998360E3-E04F-4481-1C7A-46E3006F2AE6}"/>
              </a:ext>
            </a:extLst>
          </p:cNvPr>
          <p:cNvGrpSpPr/>
          <p:nvPr/>
        </p:nvGrpSpPr>
        <p:grpSpPr>
          <a:xfrm>
            <a:off x="7447881" y="1937058"/>
            <a:ext cx="457200" cy="457200"/>
            <a:chOff x="4660820" y="3339623"/>
            <a:chExt cx="362312" cy="361971"/>
          </a:xfrm>
          <a:solidFill>
            <a:schemeClr val="bg1"/>
          </a:solidFill>
        </p:grpSpPr>
        <p:sp>
          <p:nvSpPr>
            <p:cNvPr id="455" name="Graphic 4">
              <a:extLst>
                <a:ext uri="{FF2B5EF4-FFF2-40B4-BE49-F238E27FC236}">
                  <a16:creationId xmlns:a16="http://schemas.microsoft.com/office/drawing/2014/main" id="{DBBF5C10-3775-F072-6F9E-C7B109769C45}"/>
                </a:ext>
              </a:extLst>
            </p:cNvPr>
            <p:cNvSpPr/>
            <p:nvPr/>
          </p:nvSpPr>
          <p:spPr>
            <a:xfrm>
              <a:off x="4660820" y="33396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sp>
          <p:nvSpPr>
            <p:cNvPr id="456" name="Graphic 4">
              <a:extLst>
                <a:ext uri="{FF2B5EF4-FFF2-40B4-BE49-F238E27FC236}">
                  <a16:creationId xmlns:a16="http://schemas.microsoft.com/office/drawing/2014/main" id="{0ED3FB5B-0F62-F9B7-FF88-03DDB5235846}"/>
                </a:ext>
              </a:extLst>
            </p:cNvPr>
            <p:cNvSpPr/>
            <p:nvPr/>
          </p:nvSpPr>
          <p:spPr>
            <a:xfrm>
              <a:off x="4733026" y="3448151"/>
              <a:ext cx="218018" cy="145396"/>
            </a:xfrm>
            <a:custGeom>
              <a:avLst/>
              <a:gdLst>
                <a:gd name="connsiteX0" fmla="*/ 198088 w 218018"/>
                <a:gd name="connsiteY0" fmla="*/ 44050 h 145396"/>
                <a:gd name="connsiteX1" fmla="*/ 160387 w 218018"/>
                <a:gd name="connsiteY1" fmla="*/ 44050 h 145396"/>
                <a:gd name="connsiteX2" fmla="*/ 160387 w 218018"/>
                <a:gd name="connsiteY2" fmla="*/ 6384 h 145396"/>
                <a:gd name="connsiteX3" fmla="*/ 153997 w 218018"/>
                <a:gd name="connsiteY3" fmla="*/ 0 h 145396"/>
                <a:gd name="connsiteX4" fmla="*/ 6390 w 218018"/>
                <a:gd name="connsiteY4" fmla="*/ 0 h 145396"/>
                <a:gd name="connsiteX5" fmla="*/ 0 w 218018"/>
                <a:gd name="connsiteY5" fmla="*/ 6384 h 145396"/>
                <a:gd name="connsiteX6" fmla="*/ 0 w 218018"/>
                <a:gd name="connsiteY6" fmla="*/ 124488 h 145396"/>
                <a:gd name="connsiteX7" fmla="*/ 6390 w 218018"/>
                <a:gd name="connsiteY7" fmla="*/ 130872 h 145396"/>
                <a:gd name="connsiteX8" fmla="*/ 23004 w 218018"/>
                <a:gd name="connsiteY8" fmla="*/ 130872 h 145396"/>
                <a:gd name="connsiteX9" fmla="*/ 49203 w 218018"/>
                <a:gd name="connsiteY9" fmla="*/ 144278 h 145396"/>
                <a:gd name="connsiteX10" fmla="*/ 62621 w 218018"/>
                <a:gd name="connsiteY10" fmla="*/ 130872 h 145396"/>
                <a:gd name="connsiteX11" fmla="*/ 147607 w 218018"/>
                <a:gd name="connsiteY11" fmla="*/ 130872 h 145396"/>
                <a:gd name="connsiteX12" fmla="*/ 173806 w 218018"/>
                <a:gd name="connsiteY12" fmla="*/ 144278 h 145396"/>
                <a:gd name="connsiteX13" fmla="*/ 187225 w 218018"/>
                <a:gd name="connsiteY13" fmla="*/ 130872 h 145396"/>
                <a:gd name="connsiteX14" fmla="*/ 211507 w 218018"/>
                <a:gd name="connsiteY14" fmla="*/ 130872 h 145396"/>
                <a:gd name="connsiteX15" fmla="*/ 217897 w 218018"/>
                <a:gd name="connsiteY15" fmla="*/ 124488 h 145396"/>
                <a:gd name="connsiteX16" fmla="*/ 217897 w 218018"/>
                <a:gd name="connsiteY16" fmla="*/ 65755 h 145396"/>
                <a:gd name="connsiteX17" fmla="*/ 198088 w 218018"/>
                <a:gd name="connsiteY17" fmla="*/ 44050 h 145396"/>
                <a:gd name="connsiteX18" fmla="*/ 198088 w 218018"/>
                <a:gd name="connsiteY18" fmla="*/ 44050 h 145396"/>
                <a:gd name="connsiteX19" fmla="*/ 42813 w 218018"/>
                <a:gd name="connsiteY19" fmla="*/ 132149 h 145396"/>
                <a:gd name="connsiteX20" fmla="*/ 35145 w 218018"/>
                <a:gd name="connsiteY20" fmla="*/ 123211 h 145396"/>
                <a:gd name="connsiteX21" fmla="*/ 42813 w 218018"/>
                <a:gd name="connsiteY21" fmla="*/ 115550 h 145396"/>
                <a:gd name="connsiteX22" fmla="*/ 51758 w 218018"/>
                <a:gd name="connsiteY22" fmla="*/ 123211 h 145396"/>
                <a:gd name="connsiteX23" fmla="*/ 44090 w 218018"/>
                <a:gd name="connsiteY23" fmla="*/ 132149 h 145396"/>
                <a:gd name="connsiteX24" fmla="*/ 42813 w 218018"/>
                <a:gd name="connsiteY24" fmla="*/ 132149 h 145396"/>
                <a:gd name="connsiteX25" fmla="*/ 168055 w 218018"/>
                <a:gd name="connsiteY25" fmla="*/ 132149 h 145396"/>
                <a:gd name="connsiteX26" fmla="*/ 159748 w 218018"/>
                <a:gd name="connsiteY26" fmla="*/ 123849 h 145396"/>
                <a:gd name="connsiteX27" fmla="*/ 168055 w 218018"/>
                <a:gd name="connsiteY27" fmla="*/ 115550 h 145396"/>
                <a:gd name="connsiteX28" fmla="*/ 176362 w 218018"/>
                <a:gd name="connsiteY28" fmla="*/ 123849 h 145396"/>
                <a:gd name="connsiteX29" fmla="*/ 176362 w 218018"/>
                <a:gd name="connsiteY29" fmla="*/ 123849 h 145396"/>
                <a:gd name="connsiteX30" fmla="*/ 168055 w 218018"/>
                <a:gd name="connsiteY30" fmla="*/ 132149 h 145396"/>
                <a:gd name="connsiteX31" fmla="*/ 168055 w 218018"/>
                <a:gd name="connsiteY31" fmla="*/ 132149 h 145396"/>
                <a:gd name="connsiteX32" fmla="*/ 168055 w 218018"/>
                <a:gd name="connsiteY32" fmla="*/ 132149 h 145396"/>
                <a:gd name="connsiteX33" fmla="*/ 206395 w 218018"/>
                <a:gd name="connsiteY33" fmla="*/ 118104 h 145396"/>
                <a:gd name="connsiteX34" fmla="*/ 188503 w 218018"/>
                <a:gd name="connsiteY34" fmla="*/ 118104 h 145396"/>
                <a:gd name="connsiteX35" fmla="*/ 162304 w 218018"/>
                <a:gd name="connsiteY35" fmla="*/ 104059 h 145396"/>
                <a:gd name="connsiteX36" fmla="*/ 148247 w 218018"/>
                <a:gd name="connsiteY36" fmla="*/ 118104 h 145396"/>
                <a:gd name="connsiteX37" fmla="*/ 62621 w 218018"/>
                <a:gd name="connsiteY37" fmla="*/ 118104 h 145396"/>
                <a:gd name="connsiteX38" fmla="*/ 36423 w 218018"/>
                <a:gd name="connsiteY38" fmla="*/ 104697 h 145396"/>
                <a:gd name="connsiteX39" fmla="*/ 23004 w 218018"/>
                <a:gd name="connsiteY39" fmla="*/ 118104 h 145396"/>
                <a:gd name="connsiteX40" fmla="*/ 12780 w 218018"/>
                <a:gd name="connsiteY40" fmla="*/ 118104 h 145396"/>
                <a:gd name="connsiteX41" fmla="*/ 12780 w 218018"/>
                <a:gd name="connsiteY41" fmla="*/ 12768 h 145396"/>
                <a:gd name="connsiteX42" fmla="*/ 146969 w 218018"/>
                <a:gd name="connsiteY42" fmla="*/ 12768 h 145396"/>
                <a:gd name="connsiteX43" fmla="*/ 146969 w 218018"/>
                <a:gd name="connsiteY43" fmla="*/ 79800 h 145396"/>
                <a:gd name="connsiteX44" fmla="*/ 153358 w 218018"/>
                <a:gd name="connsiteY44" fmla="*/ 86184 h 145396"/>
                <a:gd name="connsiteX45" fmla="*/ 159748 w 218018"/>
                <a:gd name="connsiteY45" fmla="*/ 79800 h 145396"/>
                <a:gd name="connsiteX46" fmla="*/ 159748 w 218018"/>
                <a:gd name="connsiteY46" fmla="*/ 56818 h 145396"/>
                <a:gd name="connsiteX47" fmla="*/ 197449 w 218018"/>
                <a:gd name="connsiteY47" fmla="*/ 56818 h 145396"/>
                <a:gd name="connsiteX48" fmla="*/ 205756 w 218018"/>
                <a:gd name="connsiteY48" fmla="*/ 65117 h 145396"/>
                <a:gd name="connsiteX49" fmla="*/ 206395 w 218018"/>
                <a:gd name="connsiteY49" fmla="*/ 118104 h 145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18018" h="145396">
                  <a:moveTo>
                    <a:pt x="198088" y="44050"/>
                  </a:moveTo>
                  <a:lnTo>
                    <a:pt x="160387" y="44050"/>
                  </a:lnTo>
                  <a:lnTo>
                    <a:pt x="160387" y="6384"/>
                  </a:lnTo>
                  <a:cubicBezTo>
                    <a:pt x="160387" y="2554"/>
                    <a:pt x="157832" y="0"/>
                    <a:pt x="153997" y="0"/>
                  </a:cubicBezTo>
                  <a:lnTo>
                    <a:pt x="6390" y="0"/>
                  </a:lnTo>
                  <a:cubicBezTo>
                    <a:pt x="2556" y="0"/>
                    <a:pt x="0" y="2554"/>
                    <a:pt x="0" y="6384"/>
                  </a:cubicBezTo>
                  <a:lnTo>
                    <a:pt x="0" y="124488"/>
                  </a:lnTo>
                  <a:cubicBezTo>
                    <a:pt x="0" y="128318"/>
                    <a:pt x="2556" y="130872"/>
                    <a:pt x="6390" y="130872"/>
                  </a:cubicBezTo>
                  <a:lnTo>
                    <a:pt x="23004" y="130872"/>
                  </a:lnTo>
                  <a:cubicBezTo>
                    <a:pt x="26199" y="141724"/>
                    <a:pt x="38340" y="148108"/>
                    <a:pt x="49203" y="144278"/>
                  </a:cubicBezTo>
                  <a:cubicBezTo>
                    <a:pt x="55593" y="142363"/>
                    <a:pt x="60704" y="137256"/>
                    <a:pt x="62621" y="130872"/>
                  </a:cubicBezTo>
                  <a:lnTo>
                    <a:pt x="147607" y="130872"/>
                  </a:lnTo>
                  <a:cubicBezTo>
                    <a:pt x="151442" y="141724"/>
                    <a:pt x="162943" y="148108"/>
                    <a:pt x="173806" y="144278"/>
                  </a:cubicBezTo>
                  <a:cubicBezTo>
                    <a:pt x="180196" y="142363"/>
                    <a:pt x="185308" y="137256"/>
                    <a:pt x="187225" y="130872"/>
                  </a:cubicBezTo>
                  <a:lnTo>
                    <a:pt x="211507" y="130872"/>
                  </a:lnTo>
                  <a:cubicBezTo>
                    <a:pt x="215341" y="130872"/>
                    <a:pt x="217897" y="128318"/>
                    <a:pt x="217897" y="124488"/>
                  </a:cubicBezTo>
                  <a:lnTo>
                    <a:pt x="217897" y="65755"/>
                  </a:lnTo>
                  <a:cubicBezTo>
                    <a:pt x="219175" y="54264"/>
                    <a:pt x="210229" y="44050"/>
                    <a:pt x="198088" y="44050"/>
                  </a:cubicBezTo>
                  <a:cubicBezTo>
                    <a:pt x="198088" y="44050"/>
                    <a:pt x="198088" y="44050"/>
                    <a:pt x="198088" y="44050"/>
                  </a:cubicBezTo>
                  <a:close/>
                  <a:moveTo>
                    <a:pt x="42813" y="132149"/>
                  </a:moveTo>
                  <a:cubicBezTo>
                    <a:pt x="38340" y="131510"/>
                    <a:pt x="34505" y="127680"/>
                    <a:pt x="35145" y="123211"/>
                  </a:cubicBezTo>
                  <a:cubicBezTo>
                    <a:pt x="35783" y="119381"/>
                    <a:pt x="38978" y="116189"/>
                    <a:pt x="42813" y="115550"/>
                  </a:cubicBezTo>
                  <a:cubicBezTo>
                    <a:pt x="47285" y="114912"/>
                    <a:pt x="51758" y="118742"/>
                    <a:pt x="51758" y="123211"/>
                  </a:cubicBezTo>
                  <a:cubicBezTo>
                    <a:pt x="52398" y="127680"/>
                    <a:pt x="48563" y="132149"/>
                    <a:pt x="44090" y="132149"/>
                  </a:cubicBezTo>
                  <a:cubicBezTo>
                    <a:pt x="44090" y="132787"/>
                    <a:pt x="43451" y="132787"/>
                    <a:pt x="42813" y="132149"/>
                  </a:cubicBezTo>
                  <a:close/>
                  <a:moveTo>
                    <a:pt x="168055" y="132149"/>
                  </a:moveTo>
                  <a:cubicBezTo>
                    <a:pt x="163582" y="132149"/>
                    <a:pt x="159748" y="128318"/>
                    <a:pt x="159748" y="123849"/>
                  </a:cubicBezTo>
                  <a:cubicBezTo>
                    <a:pt x="159748" y="119381"/>
                    <a:pt x="163582" y="115550"/>
                    <a:pt x="168055" y="115550"/>
                  </a:cubicBezTo>
                  <a:cubicBezTo>
                    <a:pt x="172528" y="115550"/>
                    <a:pt x="176362" y="119381"/>
                    <a:pt x="176362" y="123849"/>
                  </a:cubicBezTo>
                  <a:cubicBezTo>
                    <a:pt x="176362" y="123849"/>
                    <a:pt x="176362" y="123849"/>
                    <a:pt x="176362" y="123849"/>
                  </a:cubicBezTo>
                  <a:cubicBezTo>
                    <a:pt x="176362" y="128957"/>
                    <a:pt x="172528" y="132787"/>
                    <a:pt x="168055" y="132149"/>
                  </a:cubicBezTo>
                  <a:cubicBezTo>
                    <a:pt x="168055" y="132787"/>
                    <a:pt x="168055" y="132787"/>
                    <a:pt x="168055" y="132149"/>
                  </a:cubicBezTo>
                  <a:lnTo>
                    <a:pt x="168055" y="132149"/>
                  </a:lnTo>
                  <a:close/>
                  <a:moveTo>
                    <a:pt x="206395" y="118104"/>
                  </a:moveTo>
                  <a:lnTo>
                    <a:pt x="188503" y="118104"/>
                  </a:lnTo>
                  <a:cubicBezTo>
                    <a:pt x="185308" y="107251"/>
                    <a:pt x="173167" y="100867"/>
                    <a:pt x="162304" y="104059"/>
                  </a:cubicBezTo>
                  <a:cubicBezTo>
                    <a:pt x="155914" y="105974"/>
                    <a:pt x="150164" y="111081"/>
                    <a:pt x="148247" y="118104"/>
                  </a:cubicBezTo>
                  <a:lnTo>
                    <a:pt x="62621" y="118104"/>
                  </a:lnTo>
                  <a:cubicBezTo>
                    <a:pt x="59426" y="107251"/>
                    <a:pt x="47285" y="100867"/>
                    <a:pt x="36423" y="104697"/>
                  </a:cubicBezTo>
                  <a:cubicBezTo>
                    <a:pt x="30033" y="106613"/>
                    <a:pt x="24921" y="111720"/>
                    <a:pt x="23004" y="118104"/>
                  </a:cubicBezTo>
                  <a:lnTo>
                    <a:pt x="12780" y="118104"/>
                  </a:lnTo>
                  <a:lnTo>
                    <a:pt x="12780" y="12768"/>
                  </a:lnTo>
                  <a:lnTo>
                    <a:pt x="146969" y="12768"/>
                  </a:lnTo>
                  <a:lnTo>
                    <a:pt x="146969" y="79800"/>
                  </a:lnTo>
                  <a:cubicBezTo>
                    <a:pt x="146969" y="83630"/>
                    <a:pt x="149524" y="86184"/>
                    <a:pt x="153358" y="86184"/>
                  </a:cubicBezTo>
                  <a:cubicBezTo>
                    <a:pt x="157192" y="86184"/>
                    <a:pt x="159748" y="83630"/>
                    <a:pt x="159748" y="79800"/>
                  </a:cubicBezTo>
                  <a:lnTo>
                    <a:pt x="159748" y="56818"/>
                  </a:lnTo>
                  <a:lnTo>
                    <a:pt x="197449" y="56818"/>
                  </a:lnTo>
                  <a:cubicBezTo>
                    <a:pt x="201922" y="56818"/>
                    <a:pt x="205756" y="60648"/>
                    <a:pt x="205756" y="65117"/>
                  </a:cubicBezTo>
                  <a:lnTo>
                    <a:pt x="206395" y="118104"/>
                  </a:lnTo>
                  <a:close/>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grpSp>
      <p:sp>
        <p:nvSpPr>
          <p:cNvPr id="52" name="Rectangle 51">
            <a:extLst>
              <a:ext uri="{FF2B5EF4-FFF2-40B4-BE49-F238E27FC236}">
                <a16:creationId xmlns:a16="http://schemas.microsoft.com/office/drawing/2014/main" id="{A4107F20-F377-A3EF-0750-A83ED1BA1D2B}"/>
              </a:ext>
            </a:extLst>
          </p:cNvPr>
          <p:cNvSpPr/>
          <p:nvPr/>
        </p:nvSpPr>
        <p:spPr>
          <a:xfrm>
            <a:off x="9512579" y="1500843"/>
            <a:ext cx="2157984" cy="329184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1200"/>
              </a:spcAft>
              <a:buClrTx/>
              <a:buSzTx/>
              <a:buFontTx/>
              <a:buNone/>
              <a:tabLst/>
              <a:defRPr/>
            </a:pPr>
            <a:r>
              <a:rPr kumimoji="0" lang="en-US" b="1"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Agri &amp; Waste</a:t>
            </a:r>
            <a:endParaRPr kumimoji="0" lang="en-US"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285750" marR="0" lvl="0" indent="-285750"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285750" marR="0" lvl="0" indent="-285750"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a:p>
            <a:pPr marL="173038" marR="0" lvl="0" indent="-173038"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Electrification in farm machinery and promotion of solar PV pumping</a:t>
            </a:r>
          </a:p>
          <a:p>
            <a:pPr marL="173038" marR="0" lvl="0" indent="-173038"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Maintaining 45% forest cover across Nepal by 2030</a:t>
            </a:r>
          </a:p>
          <a:p>
            <a:pPr marL="285750" marR="0" lvl="0" indent="-285750"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grpSp>
        <p:nvGrpSpPr>
          <p:cNvPr id="457" name="Graphic 6">
            <a:extLst>
              <a:ext uri="{FF2B5EF4-FFF2-40B4-BE49-F238E27FC236}">
                <a16:creationId xmlns:a16="http://schemas.microsoft.com/office/drawing/2014/main" id="{42844C5B-F6C1-06BE-FBAA-7F3AA9B91E46}"/>
              </a:ext>
            </a:extLst>
          </p:cNvPr>
          <p:cNvGrpSpPr/>
          <p:nvPr/>
        </p:nvGrpSpPr>
        <p:grpSpPr>
          <a:xfrm>
            <a:off x="10342301" y="1971407"/>
            <a:ext cx="449212" cy="442231"/>
            <a:chOff x="6753524" y="3824806"/>
            <a:chExt cx="362309" cy="361971"/>
          </a:xfrm>
          <a:solidFill>
            <a:schemeClr val="bg1"/>
          </a:solidFill>
        </p:grpSpPr>
        <p:sp>
          <p:nvSpPr>
            <p:cNvPr id="458" name="Graphic 6">
              <a:extLst>
                <a:ext uri="{FF2B5EF4-FFF2-40B4-BE49-F238E27FC236}">
                  <a16:creationId xmlns:a16="http://schemas.microsoft.com/office/drawing/2014/main" id="{949C824F-CB62-25B4-EA16-571AF20AA96B}"/>
                </a:ext>
              </a:extLst>
            </p:cNvPr>
            <p:cNvSpPr/>
            <p:nvPr/>
          </p:nvSpPr>
          <p:spPr>
            <a:xfrm>
              <a:off x="6753524" y="3824806"/>
              <a:ext cx="362309" cy="361971"/>
            </a:xfrm>
            <a:custGeom>
              <a:avLst/>
              <a:gdLst>
                <a:gd name="connsiteX0" fmla="*/ 180835 w 362309"/>
                <a:gd name="connsiteY0" fmla="*/ 349204 h 361971"/>
                <a:gd name="connsiteX1" fmla="*/ 12780 w 362309"/>
                <a:gd name="connsiteY1" fmla="*/ 180667 h 361971"/>
                <a:gd name="connsiteX2" fmla="*/ 181474 w 362309"/>
                <a:gd name="connsiteY2" fmla="*/ 12768 h 361971"/>
                <a:gd name="connsiteX3" fmla="*/ 349529 w 362309"/>
                <a:gd name="connsiteY3" fmla="*/ 181305 h 361971"/>
                <a:gd name="connsiteX4" fmla="*/ 180835 w 362309"/>
                <a:gd name="connsiteY4" fmla="*/ 349204 h 361971"/>
                <a:gd name="connsiteX5" fmla="*/ 181474 w 362309"/>
                <a:gd name="connsiteY5" fmla="*/ 0 h 361971"/>
                <a:gd name="connsiteX6" fmla="*/ 0 w 362309"/>
                <a:gd name="connsiteY6" fmla="*/ 180667 h 361971"/>
                <a:gd name="connsiteX7" fmla="*/ 180835 w 362309"/>
                <a:gd name="connsiteY7" fmla="*/ 361972 h 361971"/>
                <a:gd name="connsiteX8" fmla="*/ 362309 w 362309"/>
                <a:gd name="connsiteY8" fmla="*/ 181305 h 361971"/>
                <a:gd name="connsiteX9" fmla="*/ 181474 w 362309"/>
                <a:gd name="connsiteY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0835" y="349204"/>
                  </a:moveTo>
                  <a:cubicBezTo>
                    <a:pt x="88181" y="349204"/>
                    <a:pt x="12780" y="273873"/>
                    <a:pt x="12780" y="180667"/>
                  </a:cubicBezTo>
                  <a:cubicBezTo>
                    <a:pt x="12780" y="88099"/>
                    <a:pt x="88181" y="12768"/>
                    <a:pt x="181474" y="12768"/>
                  </a:cubicBezTo>
                  <a:cubicBezTo>
                    <a:pt x="274128" y="12768"/>
                    <a:pt x="349529" y="88099"/>
                    <a:pt x="349529" y="181305"/>
                  </a:cubicBezTo>
                  <a:cubicBezTo>
                    <a:pt x="349529" y="273873"/>
                    <a:pt x="274128" y="349204"/>
                    <a:pt x="180835" y="349204"/>
                  </a:cubicBezTo>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81077"/>
                    <a:pt x="281157" y="0"/>
                    <a:pt x="181474" y="0"/>
                  </a:cubicBezTo>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sp>
          <p:nvSpPr>
            <p:cNvPr id="459" name="Graphic 6">
              <a:extLst>
                <a:ext uri="{FF2B5EF4-FFF2-40B4-BE49-F238E27FC236}">
                  <a16:creationId xmlns:a16="http://schemas.microsoft.com/office/drawing/2014/main" id="{82F17C18-92B8-9D50-3DA5-1BF71BAEEAA9}"/>
                </a:ext>
              </a:extLst>
            </p:cNvPr>
            <p:cNvSpPr/>
            <p:nvPr/>
          </p:nvSpPr>
          <p:spPr>
            <a:xfrm>
              <a:off x="6824841" y="3912402"/>
              <a:ext cx="219037" cy="186276"/>
            </a:xfrm>
            <a:custGeom>
              <a:avLst/>
              <a:gdLst>
                <a:gd name="connsiteX0" fmla="*/ 116548 w 219037"/>
                <a:gd name="connsiteY0" fmla="*/ 72642 h 186276"/>
                <a:gd name="connsiteX1" fmla="*/ 103768 w 219037"/>
                <a:gd name="connsiteY1" fmla="*/ 54767 h 186276"/>
                <a:gd name="connsiteX2" fmla="*/ 103768 w 219037"/>
                <a:gd name="connsiteY2" fmla="*/ 54128 h 186276"/>
                <a:gd name="connsiteX3" fmla="*/ 110158 w 219037"/>
                <a:gd name="connsiteY3" fmla="*/ 26039 h 186276"/>
                <a:gd name="connsiteX4" fmla="*/ 153609 w 219037"/>
                <a:gd name="connsiteY4" fmla="*/ 13271 h 186276"/>
                <a:gd name="connsiteX5" fmla="*/ 200895 w 219037"/>
                <a:gd name="connsiteY5" fmla="*/ 19016 h 186276"/>
                <a:gd name="connsiteX6" fmla="*/ 116548 w 219037"/>
                <a:gd name="connsiteY6" fmla="*/ 72642 h 186276"/>
                <a:gd name="connsiteX7" fmla="*/ 81403 w 219037"/>
                <a:gd name="connsiteY7" fmla="*/ 76472 h 186276"/>
                <a:gd name="connsiteX8" fmla="*/ 19420 w 219037"/>
                <a:gd name="connsiteY8" fmla="*/ 42637 h 186276"/>
                <a:gd name="connsiteX9" fmla="*/ 85237 w 219037"/>
                <a:gd name="connsiteY9" fmla="*/ 44552 h 186276"/>
                <a:gd name="connsiteX10" fmla="*/ 89710 w 219037"/>
                <a:gd name="connsiteY10" fmla="*/ 50298 h 186276"/>
                <a:gd name="connsiteX11" fmla="*/ 90988 w 219037"/>
                <a:gd name="connsiteY11" fmla="*/ 57320 h 186276"/>
                <a:gd name="connsiteX12" fmla="*/ 91627 w 219037"/>
                <a:gd name="connsiteY12" fmla="*/ 60512 h 186276"/>
                <a:gd name="connsiteX13" fmla="*/ 90988 w 219037"/>
                <a:gd name="connsiteY13" fmla="*/ 62427 h 186276"/>
                <a:gd name="connsiteX14" fmla="*/ 81403 w 219037"/>
                <a:gd name="connsiteY14" fmla="*/ 76472 h 186276"/>
                <a:gd name="connsiteX15" fmla="*/ 214314 w 219037"/>
                <a:gd name="connsiteY15" fmla="*/ 8164 h 186276"/>
                <a:gd name="connsiteX16" fmla="*/ 100573 w 219037"/>
                <a:gd name="connsiteY16" fmla="*/ 17101 h 186276"/>
                <a:gd name="connsiteX17" fmla="*/ 90988 w 219037"/>
                <a:gd name="connsiteY17" fmla="*/ 33700 h 186276"/>
                <a:gd name="connsiteX18" fmla="*/ 4724 w 219037"/>
                <a:gd name="connsiteY18" fmla="*/ 33061 h 186276"/>
                <a:gd name="connsiteX19" fmla="*/ 251 w 219037"/>
                <a:gd name="connsiteY19" fmla="*/ 37530 h 186276"/>
                <a:gd name="connsiteX20" fmla="*/ 1529 w 219037"/>
                <a:gd name="connsiteY20" fmla="*/ 43914 h 186276"/>
                <a:gd name="connsiteX21" fmla="*/ 76930 w 219037"/>
                <a:gd name="connsiteY21" fmla="*/ 89878 h 186276"/>
                <a:gd name="connsiteX22" fmla="*/ 84598 w 219037"/>
                <a:gd name="connsiteY22" fmla="*/ 88602 h 186276"/>
                <a:gd name="connsiteX23" fmla="*/ 88432 w 219037"/>
                <a:gd name="connsiteY23" fmla="*/ 87325 h 186276"/>
                <a:gd name="connsiteX24" fmla="*/ 88432 w 219037"/>
                <a:gd name="connsiteY24" fmla="*/ 179893 h 186276"/>
                <a:gd name="connsiteX25" fmla="*/ 94822 w 219037"/>
                <a:gd name="connsiteY25" fmla="*/ 186277 h 186276"/>
                <a:gd name="connsiteX26" fmla="*/ 101212 w 219037"/>
                <a:gd name="connsiteY26" fmla="*/ 179893 h 186276"/>
                <a:gd name="connsiteX27" fmla="*/ 101212 w 219037"/>
                <a:gd name="connsiteY27" fmla="*/ 78387 h 186276"/>
                <a:gd name="connsiteX28" fmla="*/ 113353 w 219037"/>
                <a:gd name="connsiteY28" fmla="*/ 85410 h 186276"/>
                <a:gd name="connsiteX29" fmla="*/ 120382 w 219037"/>
                <a:gd name="connsiteY29" fmla="*/ 86048 h 186276"/>
                <a:gd name="connsiteX30" fmla="*/ 217508 w 219037"/>
                <a:gd name="connsiteY30" fmla="*/ 19016 h 186276"/>
                <a:gd name="connsiteX31" fmla="*/ 218787 w 219037"/>
                <a:gd name="connsiteY31" fmla="*/ 12632 h 186276"/>
                <a:gd name="connsiteX32" fmla="*/ 214314 w 219037"/>
                <a:gd name="connsiteY32" fmla="*/ 8164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19037" h="186276">
                  <a:moveTo>
                    <a:pt x="116548" y="72642"/>
                  </a:moveTo>
                  <a:cubicBezTo>
                    <a:pt x="113992" y="72003"/>
                    <a:pt x="106963" y="70088"/>
                    <a:pt x="103768" y="54767"/>
                  </a:cubicBezTo>
                  <a:cubicBezTo>
                    <a:pt x="103768" y="54767"/>
                    <a:pt x="103768" y="54767"/>
                    <a:pt x="103768" y="54128"/>
                  </a:cubicBezTo>
                  <a:cubicBezTo>
                    <a:pt x="103768" y="53490"/>
                    <a:pt x="99295" y="37530"/>
                    <a:pt x="110158" y="26039"/>
                  </a:cubicBezTo>
                  <a:cubicBezTo>
                    <a:pt x="116548" y="19655"/>
                    <a:pt x="129328" y="13271"/>
                    <a:pt x="153609" y="13271"/>
                  </a:cubicBezTo>
                  <a:cubicBezTo>
                    <a:pt x="165750" y="13271"/>
                    <a:pt x="181725" y="15186"/>
                    <a:pt x="200895" y="19016"/>
                  </a:cubicBezTo>
                  <a:cubicBezTo>
                    <a:pt x="175974" y="44552"/>
                    <a:pt x="136357" y="77749"/>
                    <a:pt x="116548" y="72642"/>
                  </a:cubicBezTo>
                  <a:moveTo>
                    <a:pt x="81403" y="76472"/>
                  </a:moveTo>
                  <a:cubicBezTo>
                    <a:pt x="67345" y="80303"/>
                    <a:pt x="38590" y="60512"/>
                    <a:pt x="19420" y="42637"/>
                  </a:cubicBezTo>
                  <a:cubicBezTo>
                    <a:pt x="59677" y="34338"/>
                    <a:pt x="77569" y="38807"/>
                    <a:pt x="85237" y="44552"/>
                  </a:cubicBezTo>
                  <a:cubicBezTo>
                    <a:pt x="87154" y="45829"/>
                    <a:pt x="89071" y="47744"/>
                    <a:pt x="89710" y="50298"/>
                  </a:cubicBezTo>
                  <a:cubicBezTo>
                    <a:pt x="90349" y="54128"/>
                    <a:pt x="90349" y="56682"/>
                    <a:pt x="90988" y="57320"/>
                  </a:cubicBezTo>
                  <a:cubicBezTo>
                    <a:pt x="90988" y="58597"/>
                    <a:pt x="91627" y="59235"/>
                    <a:pt x="91627" y="60512"/>
                  </a:cubicBezTo>
                  <a:cubicBezTo>
                    <a:pt x="90988" y="61151"/>
                    <a:pt x="90988" y="61789"/>
                    <a:pt x="90988" y="62427"/>
                  </a:cubicBezTo>
                  <a:cubicBezTo>
                    <a:pt x="88432" y="74557"/>
                    <a:pt x="83320" y="75834"/>
                    <a:pt x="81403" y="76472"/>
                  </a:cubicBezTo>
                  <a:moveTo>
                    <a:pt x="214314" y="8164"/>
                  </a:moveTo>
                  <a:cubicBezTo>
                    <a:pt x="156804" y="-5243"/>
                    <a:pt x="119103" y="-2051"/>
                    <a:pt x="100573" y="17101"/>
                  </a:cubicBezTo>
                  <a:cubicBezTo>
                    <a:pt x="95461" y="22208"/>
                    <a:pt x="92905" y="28592"/>
                    <a:pt x="90988" y="33700"/>
                  </a:cubicBezTo>
                  <a:cubicBezTo>
                    <a:pt x="75013" y="23485"/>
                    <a:pt x="46259" y="22847"/>
                    <a:pt x="4724" y="33061"/>
                  </a:cubicBezTo>
                  <a:cubicBezTo>
                    <a:pt x="2807" y="33700"/>
                    <a:pt x="889" y="35615"/>
                    <a:pt x="251" y="37530"/>
                  </a:cubicBezTo>
                  <a:cubicBezTo>
                    <a:pt x="-388" y="39445"/>
                    <a:pt x="251" y="41999"/>
                    <a:pt x="1529" y="43914"/>
                  </a:cubicBezTo>
                  <a:cubicBezTo>
                    <a:pt x="6641" y="49021"/>
                    <a:pt x="47536" y="89878"/>
                    <a:pt x="76930" y="89878"/>
                  </a:cubicBezTo>
                  <a:cubicBezTo>
                    <a:pt x="79486" y="89878"/>
                    <a:pt x="82042" y="89878"/>
                    <a:pt x="84598" y="88602"/>
                  </a:cubicBezTo>
                  <a:cubicBezTo>
                    <a:pt x="85876" y="87963"/>
                    <a:pt x="87154" y="87963"/>
                    <a:pt x="88432" y="87325"/>
                  </a:cubicBezTo>
                  <a:lnTo>
                    <a:pt x="88432" y="179893"/>
                  </a:lnTo>
                  <a:cubicBezTo>
                    <a:pt x="88432" y="183723"/>
                    <a:pt x="90988" y="186277"/>
                    <a:pt x="94822" y="186277"/>
                  </a:cubicBezTo>
                  <a:cubicBezTo>
                    <a:pt x="98656" y="186277"/>
                    <a:pt x="101212" y="183723"/>
                    <a:pt x="101212" y="179893"/>
                  </a:cubicBezTo>
                  <a:lnTo>
                    <a:pt x="101212" y="78387"/>
                  </a:lnTo>
                  <a:cubicBezTo>
                    <a:pt x="104407" y="81579"/>
                    <a:pt x="108241" y="84133"/>
                    <a:pt x="113353" y="85410"/>
                  </a:cubicBezTo>
                  <a:cubicBezTo>
                    <a:pt x="115908" y="86048"/>
                    <a:pt x="117826" y="86048"/>
                    <a:pt x="120382" y="86048"/>
                  </a:cubicBezTo>
                  <a:cubicBezTo>
                    <a:pt x="156804" y="86048"/>
                    <a:pt x="211119" y="26677"/>
                    <a:pt x="217508" y="19016"/>
                  </a:cubicBezTo>
                  <a:cubicBezTo>
                    <a:pt x="218787" y="17101"/>
                    <a:pt x="219426" y="15186"/>
                    <a:pt x="218787" y="12632"/>
                  </a:cubicBezTo>
                  <a:cubicBezTo>
                    <a:pt x="218787" y="10717"/>
                    <a:pt x="216870" y="8802"/>
                    <a:pt x="214314" y="8164"/>
                  </a:cubicBezTo>
                </a:path>
              </a:pathLst>
            </a:custGeom>
            <a:grpFill/>
            <a:ln w="6390"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a:ea typeface="+mn-ea"/>
                <a:cs typeface="+mn-cs"/>
              </a:endParaRPr>
            </a:p>
          </p:txBody>
        </p:sp>
      </p:grpSp>
      <p:sp>
        <p:nvSpPr>
          <p:cNvPr id="473" name="Rectangle 472">
            <a:extLst>
              <a:ext uri="{FF2B5EF4-FFF2-40B4-BE49-F238E27FC236}">
                <a16:creationId xmlns:a16="http://schemas.microsoft.com/office/drawing/2014/main" id="{28DDE73C-33A1-7E26-D70D-521F407A7AFD}"/>
              </a:ext>
            </a:extLst>
          </p:cNvPr>
          <p:cNvSpPr/>
          <p:nvPr/>
        </p:nvSpPr>
        <p:spPr>
          <a:xfrm>
            <a:off x="505136" y="5030616"/>
            <a:ext cx="11155680" cy="278662"/>
          </a:xfrm>
          <a:prstGeom prst="rect">
            <a:avLst/>
          </a:prstGeom>
          <a:solidFill>
            <a:schemeClr val="tx1"/>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Gill Sans MT"/>
                <a:ea typeface="+mn-ea"/>
                <a:cs typeface="+mn-cs"/>
              </a:rPr>
              <a:t>Key Aspirations across various sectors - exports</a:t>
            </a:r>
          </a:p>
        </p:txBody>
      </p:sp>
      <p:sp>
        <p:nvSpPr>
          <p:cNvPr id="482" name="Oval 481">
            <a:extLst>
              <a:ext uri="{FF2B5EF4-FFF2-40B4-BE49-F238E27FC236}">
                <a16:creationId xmlns:a16="http://schemas.microsoft.com/office/drawing/2014/main" id="{1591C927-3F24-6120-0BCB-0BEBE7688EDE}"/>
              </a:ext>
            </a:extLst>
          </p:cNvPr>
          <p:cNvSpPr/>
          <p:nvPr/>
        </p:nvSpPr>
        <p:spPr bwMode="gray">
          <a:xfrm>
            <a:off x="2368285" y="5457804"/>
            <a:ext cx="1481138" cy="573935"/>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rPr>
              <a:t>10 GW MW</a:t>
            </a:r>
          </a:p>
        </p:txBody>
      </p:sp>
      <p:sp>
        <p:nvSpPr>
          <p:cNvPr id="483" name="Oval 482">
            <a:extLst>
              <a:ext uri="{FF2B5EF4-FFF2-40B4-BE49-F238E27FC236}">
                <a16:creationId xmlns:a16="http://schemas.microsoft.com/office/drawing/2014/main" id="{84FDB6AA-EF0C-E814-75E6-53B4E26BF1E5}"/>
              </a:ext>
            </a:extLst>
          </p:cNvPr>
          <p:cNvSpPr/>
          <p:nvPr/>
        </p:nvSpPr>
        <p:spPr bwMode="gray">
          <a:xfrm>
            <a:off x="5318389" y="5457804"/>
            <a:ext cx="1481138" cy="573935"/>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rPr>
              <a:t>5 GW MW</a:t>
            </a:r>
          </a:p>
        </p:txBody>
      </p:sp>
      <p:sp>
        <p:nvSpPr>
          <p:cNvPr id="484" name="Oval 483">
            <a:extLst>
              <a:ext uri="{FF2B5EF4-FFF2-40B4-BE49-F238E27FC236}">
                <a16:creationId xmlns:a16="http://schemas.microsoft.com/office/drawing/2014/main" id="{BE939CA0-59FD-C571-7CC5-C6A1C8FF7FD6}"/>
              </a:ext>
            </a:extLst>
          </p:cNvPr>
          <p:cNvSpPr/>
          <p:nvPr/>
        </p:nvSpPr>
        <p:spPr bwMode="gray">
          <a:xfrm>
            <a:off x="8268494" y="5457803"/>
            <a:ext cx="1481138" cy="573935"/>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rPr>
              <a:t>15 GW</a:t>
            </a:r>
          </a:p>
        </p:txBody>
      </p:sp>
      <p:sp>
        <p:nvSpPr>
          <p:cNvPr id="485" name="Plus Sign 484">
            <a:extLst>
              <a:ext uri="{FF2B5EF4-FFF2-40B4-BE49-F238E27FC236}">
                <a16:creationId xmlns:a16="http://schemas.microsoft.com/office/drawing/2014/main" id="{607B34D2-301C-4EC6-8DD5-9C72884C3DBC}"/>
              </a:ext>
            </a:extLst>
          </p:cNvPr>
          <p:cNvSpPr/>
          <p:nvPr/>
        </p:nvSpPr>
        <p:spPr bwMode="gray">
          <a:xfrm>
            <a:off x="4327410" y="5482309"/>
            <a:ext cx="540657" cy="573930"/>
          </a:xfrm>
          <a:prstGeom prst="mathPlus">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86" name="Equals 485">
            <a:extLst>
              <a:ext uri="{FF2B5EF4-FFF2-40B4-BE49-F238E27FC236}">
                <a16:creationId xmlns:a16="http://schemas.microsoft.com/office/drawing/2014/main" id="{F1DEFFE9-CB49-428D-4506-0403797EA32A}"/>
              </a:ext>
            </a:extLst>
          </p:cNvPr>
          <p:cNvSpPr/>
          <p:nvPr/>
        </p:nvSpPr>
        <p:spPr bwMode="gray">
          <a:xfrm>
            <a:off x="7319169" y="5599318"/>
            <a:ext cx="636587" cy="283893"/>
          </a:xfrm>
          <a:prstGeom prst="mathEqual">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87" name="TextBox 486">
            <a:extLst>
              <a:ext uri="{FF2B5EF4-FFF2-40B4-BE49-F238E27FC236}">
                <a16:creationId xmlns:a16="http://schemas.microsoft.com/office/drawing/2014/main" id="{15F40D39-1303-4186-9EBB-9F678A1515E9}"/>
              </a:ext>
            </a:extLst>
          </p:cNvPr>
          <p:cNvSpPr txBox="1"/>
          <p:nvPr/>
        </p:nvSpPr>
        <p:spPr>
          <a:xfrm>
            <a:off x="2079564" y="6206292"/>
            <a:ext cx="2058580" cy="215444"/>
          </a:xfrm>
          <a:prstGeom prst="rect">
            <a:avLst/>
          </a:prstGeom>
          <a:noFill/>
        </p:spPr>
        <p:txBody>
          <a:bodyPr wrap="square" lIns="0" tIns="0" rIns="0" bIns="0" rtlCol="0">
            <a:spAutoFit/>
          </a:bodyPr>
          <a:lstStyle/>
          <a:p>
            <a:pPr algn="ctr">
              <a:spcBef>
                <a:spcPts val="600"/>
              </a:spcBef>
              <a:buSzPct val="100000"/>
            </a:pPr>
            <a:r>
              <a:rPr lang="en-US" sz="1400">
                <a:solidFill>
                  <a:srgbClr val="313131"/>
                </a:solidFill>
                <a:latin typeface="Arial" panose="020B0604020202020204" pitchFamily="34" charset="0"/>
                <a:cs typeface="Arial" panose="020B0604020202020204" pitchFamily="34" charset="0"/>
              </a:rPr>
              <a:t>Exports to India</a:t>
            </a:r>
          </a:p>
        </p:txBody>
      </p:sp>
      <p:sp>
        <p:nvSpPr>
          <p:cNvPr id="488" name="TextBox 487">
            <a:extLst>
              <a:ext uri="{FF2B5EF4-FFF2-40B4-BE49-F238E27FC236}">
                <a16:creationId xmlns:a16="http://schemas.microsoft.com/office/drawing/2014/main" id="{864504A3-9383-E8DF-EC62-849FC902B614}"/>
              </a:ext>
            </a:extLst>
          </p:cNvPr>
          <p:cNvSpPr txBox="1"/>
          <p:nvPr/>
        </p:nvSpPr>
        <p:spPr>
          <a:xfrm>
            <a:off x="5066710" y="6206292"/>
            <a:ext cx="2058580" cy="215444"/>
          </a:xfrm>
          <a:prstGeom prst="rect">
            <a:avLst/>
          </a:prstGeom>
          <a:noFill/>
        </p:spPr>
        <p:txBody>
          <a:bodyPr wrap="square" lIns="0" tIns="0" rIns="0" bIns="0" rtlCol="0">
            <a:spAutoFit/>
          </a:bodyPr>
          <a:lstStyle/>
          <a:p>
            <a:pPr algn="ctr">
              <a:spcBef>
                <a:spcPts val="600"/>
              </a:spcBef>
              <a:buSzPct val="100000"/>
            </a:pPr>
            <a:r>
              <a:rPr lang="en-US" sz="1400">
                <a:solidFill>
                  <a:srgbClr val="313131"/>
                </a:solidFill>
                <a:latin typeface="Arial" panose="020B0604020202020204" pitchFamily="34" charset="0"/>
                <a:cs typeface="Arial" panose="020B0604020202020204" pitchFamily="34" charset="0"/>
              </a:rPr>
              <a:t>Exports to Bangladesh</a:t>
            </a:r>
          </a:p>
        </p:txBody>
      </p:sp>
      <p:sp>
        <p:nvSpPr>
          <p:cNvPr id="489" name="TextBox 488">
            <a:extLst>
              <a:ext uri="{FF2B5EF4-FFF2-40B4-BE49-F238E27FC236}">
                <a16:creationId xmlns:a16="http://schemas.microsoft.com/office/drawing/2014/main" id="{80252418-2766-A549-9439-DE0DE4E7F346}"/>
              </a:ext>
            </a:extLst>
          </p:cNvPr>
          <p:cNvSpPr txBox="1"/>
          <p:nvPr/>
        </p:nvSpPr>
        <p:spPr>
          <a:xfrm>
            <a:off x="8002428" y="6206292"/>
            <a:ext cx="2058580" cy="215444"/>
          </a:xfrm>
          <a:prstGeom prst="rect">
            <a:avLst/>
          </a:prstGeom>
          <a:noFill/>
        </p:spPr>
        <p:txBody>
          <a:bodyPr wrap="square" lIns="0" tIns="0" rIns="0" bIns="0" rtlCol="0">
            <a:spAutoFit/>
          </a:bodyPr>
          <a:lstStyle/>
          <a:p>
            <a:pPr algn="ctr">
              <a:spcBef>
                <a:spcPts val="600"/>
              </a:spcBef>
              <a:buSzPct val="100000"/>
            </a:pPr>
            <a:r>
              <a:rPr lang="en-US" sz="1400">
                <a:solidFill>
                  <a:srgbClr val="313131"/>
                </a:solidFill>
                <a:latin typeface="Arial" panose="020B0604020202020204" pitchFamily="34" charset="0"/>
                <a:cs typeface="Arial" panose="020B0604020202020204" pitchFamily="34" charset="0"/>
              </a:rPr>
              <a:t>Total Exports by 2035</a:t>
            </a:r>
          </a:p>
        </p:txBody>
      </p:sp>
    </p:spTree>
    <p:extLst>
      <p:ext uri="{BB962C8B-B14F-4D97-AF65-F5344CB8AC3E}">
        <p14:creationId xmlns:p14="http://schemas.microsoft.com/office/powerpoint/2010/main" val="603604539"/>
      </p:ext>
    </p:extLst>
  </p:cSld>
  <p:clrMapOvr>
    <a:masterClrMapping/>
  </p:clrMapOvr>
  <p:transition>
    <p:fade/>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306501111"/>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25" imgW="415" imgH="416" progId="TCLayout.ActiveDocument.1">
                  <p:embed/>
                </p:oleObj>
              </mc:Choice>
              <mc:Fallback>
                <p:oleObj name="think-cell Slide" r:id="rId25"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26"/>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Installed Capacity Outlook | Scaling to Meet Demand and Enable Exports</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Planned capacity additions are aligned with national demand growth and regional power trade commitments</a:t>
            </a:r>
          </a:p>
        </p:txBody>
      </p:sp>
      <p:sp>
        <p:nvSpPr>
          <p:cNvPr id="14" name="Rectangle 13">
            <a:extLst>
              <a:ext uri="{FF2B5EF4-FFF2-40B4-BE49-F238E27FC236}">
                <a16:creationId xmlns:a16="http://schemas.microsoft.com/office/drawing/2014/main" id="{26BD710F-A4BB-0573-FF71-2BA932EE1538}"/>
              </a:ext>
            </a:extLst>
          </p:cNvPr>
          <p:cNvSpPr/>
          <p:nvPr/>
        </p:nvSpPr>
        <p:spPr bwMode="gray">
          <a:xfrm>
            <a:off x="528371" y="989013"/>
            <a:ext cx="11195559" cy="4237138"/>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graphicFrame>
        <p:nvGraphicFramePr>
          <p:cNvPr id="9" name="Chart 8">
            <a:extLst>
              <a:ext uri="{FF2B5EF4-FFF2-40B4-BE49-F238E27FC236}">
                <a16:creationId xmlns:a16="http://schemas.microsoft.com/office/drawing/2014/main" id="{F9DE14B6-CDC3-7D6E-FED0-F8A531A76CE1}"/>
              </a:ext>
            </a:extLst>
          </p:cNvPr>
          <p:cNvGraphicFramePr/>
          <p:nvPr>
            <p:custDataLst>
              <p:tags r:id="rId2"/>
            </p:custDataLst>
            <p:extLst>
              <p:ext uri="{D42A27DB-BD31-4B8C-83A1-F6EECF244321}">
                <p14:modId xmlns:p14="http://schemas.microsoft.com/office/powerpoint/2010/main" val="3557091867"/>
              </p:ext>
            </p:extLst>
          </p:nvPr>
        </p:nvGraphicFramePr>
        <p:xfrm>
          <a:off x="695325" y="1198563"/>
          <a:ext cx="10815638" cy="3033712"/>
        </p:xfrm>
        <a:graphic>
          <a:graphicData uri="http://schemas.openxmlformats.org/drawingml/2006/chart">
            <c:chart xmlns:c="http://schemas.openxmlformats.org/drawingml/2006/chart" xmlns:r="http://schemas.openxmlformats.org/officeDocument/2006/relationships" r:id="rId27"/>
          </a:graphicData>
        </a:graphic>
      </p:graphicFrame>
      <p:sp>
        <p:nvSpPr>
          <p:cNvPr id="7" name="Text Placeholder 18">
            <a:extLst>
              <a:ext uri="{FF2B5EF4-FFF2-40B4-BE49-F238E27FC236}">
                <a16:creationId xmlns:a16="http://schemas.microsoft.com/office/drawing/2014/main" id="{E2D54931-C80F-2FAC-CDAA-D5DBE7C5544C}"/>
              </a:ext>
            </a:extLst>
          </p:cNvPr>
          <p:cNvSpPr>
            <a:spLocks noGrp="1"/>
          </p:cNvSpPr>
          <p:nvPr>
            <p:custDataLst>
              <p:tags r:id="rId3"/>
            </p:custDataLst>
          </p:nvPr>
        </p:nvSpPr>
        <p:spPr bwMode="gray">
          <a:xfrm>
            <a:off x="1587500" y="3836988"/>
            <a:ext cx="396875"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4B31263-0C8E-4DA5-908F-B0A118E3C075}" type="datetime'''''''''5'''',''''7''''''''''8''''''7'''''''''''''''''''">
              <a:rPr lang="en-US" altLang="en-US" sz="1100" smtClean="0">
                <a:effectLst/>
                <a:latin typeface="Arial" panose="020B0604020202020204" pitchFamily="34" charset="0"/>
                <a:cs typeface="+mn-cs"/>
                <a:sym typeface="Arial" panose="020B0604020202020204" pitchFamily="34" charset="0"/>
              </a:rPr>
              <a:pPr lvl="0" algn="ctr">
                <a:spcBef>
                  <a:spcPct val="0"/>
                </a:spcBef>
                <a:spcAft>
                  <a:spcPct val="0"/>
                </a:spcAft>
              </a:pPr>
              <a:t>5,787</a:t>
            </a:fld>
            <a:endParaRPr lang="en-US" sz="1100" noProof="0">
              <a:latin typeface="Arial" panose="020B0604020202020204" pitchFamily="34" charset="0"/>
              <a:cs typeface="+mn-cs"/>
              <a:sym typeface="Arial" panose="020B0604020202020204" pitchFamily="34" charset="0"/>
            </a:endParaRPr>
          </a:p>
        </p:txBody>
      </p:sp>
      <p:sp>
        <p:nvSpPr>
          <p:cNvPr id="11" name="Text Placeholder 18">
            <a:extLst>
              <a:ext uri="{FF2B5EF4-FFF2-40B4-BE49-F238E27FC236}">
                <a16:creationId xmlns:a16="http://schemas.microsoft.com/office/drawing/2014/main" id="{545048FF-EC3D-DE71-508A-35485C5C0BA5}"/>
              </a:ext>
            </a:extLst>
          </p:cNvPr>
          <p:cNvSpPr>
            <a:spLocks noGrp="1"/>
          </p:cNvSpPr>
          <p:nvPr>
            <p:custDataLst>
              <p:tags r:id="rId4"/>
            </p:custDataLst>
          </p:nvPr>
        </p:nvSpPr>
        <p:spPr bwMode="gray">
          <a:xfrm>
            <a:off x="2892425" y="3714750"/>
            <a:ext cx="474663" cy="168275"/>
          </a:xfrm>
          <a:prstGeom prst="rect">
            <a:avLst/>
          </a:prstGeom>
          <a:solidFill>
            <a:srgbClr val="012169"/>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B04B51A-C2D3-4126-962B-BE942CE42420}" type="datetime'''''''''''''''1''''''''''''0'''',''8''03'''''''''''">
              <a:rPr lang="en-US" altLang="en-US" sz="11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10,803</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16" name="Text Placeholder 18">
            <a:extLst>
              <a:ext uri="{FF2B5EF4-FFF2-40B4-BE49-F238E27FC236}">
                <a16:creationId xmlns:a16="http://schemas.microsoft.com/office/drawing/2014/main" id="{B01B707F-554A-85DB-AAB3-DF954AD9CE1F}"/>
              </a:ext>
            </a:extLst>
          </p:cNvPr>
          <p:cNvSpPr>
            <a:spLocks noGrp="1"/>
          </p:cNvSpPr>
          <p:nvPr>
            <p:custDataLst>
              <p:tags r:id="rId5"/>
            </p:custDataLst>
          </p:nvPr>
        </p:nvSpPr>
        <p:spPr bwMode="auto">
          <a:xfrm>
            <a:off x="2463800" y="4156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D62C1DD7-8FBB-4C4E-A3DB-781255795631}" type="datetime'''2''''''''''0''''''''2''''''''''''''''''''''''''''5'">
              <a:rPr lang="en-US" altLang="en-US" sz="1100" smtClean="0">
                <a:latin typeface="Arial" panose="020B0604020202020204" pitchFamily="34" charset="0"/>
                <a:cs typeface="+mn-cs"/>
              </a:rPr>
              <a:pPr lvl="0" algn="ctr">
                <a:spcBef>
                  <a:spcPct val="0"/>
                </a:spcBef>
                <a:spcAft>
                  <a:spcPct val="0"/>
                </a:spcAft>
              </a:pPr>
              <a:t>2025</a:t>
            </a:fld>
            <a:endParaRPr lang="en-US" sz="1100" noProof="0">
              <a:latin typeface="Arial" panose="020B0604020202020204" pitchFamily="34" charset="0"/>
              <a:cs typeface="+mn-cs"/>
              <a:sym typeface="Arial" panose="020B0604020202020204" pitchFamily="34" charset="0"/>
            </a:endParaRPr>
          </a:p>
        </p:txBody>
      </p:sp>
      <p:sp>
        <p:nvSpPr>
          <p:cNvPr id="17" name="Text Placeholder 18">
            <a:extLst>
              <a:ext uri="{FF2B5EF4-FFF2-40B4-BE49-F238E27FC236}">
                <a16:creationId xmlns:a16="http://schemas.microsoft.com/office/drawing/2014/main" id="{13A108FA-3F3B-2CD6-7987-6FCE404F0354}"/>
              </a:ext>
            </a:extLst>
          </p:cNvPr>
          <p:cNvSpPr>
            <a:spLocks noGrp="1"/>
          </p:cNvSpPr>
          <p:nvPr>
            <p:custDataLst>
              <p:tags r:id="rId6"/>
            </p:custDataLst>
          </p:nvPr>
        </p:nvSpPr>
        <p:spPr bwMode="auto">
          <a:xfrm>
            <a:off x="4978400" y="4156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41B430D-42CA-48F8-9A7B-77FA10F023FC}" type="datetime'''''2''''''''''''''''''''''''''''''''''0''''3''''''''''0'''''">
              <a:rPr lang="en-US" altLang="en-US" sz="1100" smtClean="0">
                <a:latin typeface="Arial" panose="020B0604020202020204" pitchFamily="34" charset="0"/>
                <a:cs typeface="+mn-cs"/>
              </a:rPr>
              <a:pPr lvl="0" algn="ctr">
                <a:spcBef>
                  <a:spcPct val="0"/>
                </a:spcBef>
                <a:spcAft>
                  <a:spcPct val="0"/>
                </a:spcAft>
              </a:pPr>
              <a:t>2030</a:t>
            </a:fld>
            <a:endParaRPr lang="en-US" sz="1100" noProof="0">
              <a:latin typeface="Arial" panose="020B0604020202020204" pitchFamily="34" charset="0"/>
              <a:cs typeface="+mn-cs"/>
              <a:sym typeface="Arial" panose="020B0604020202020204" pitchFamily="34" charset="0"/>
            </a:endParaRPr>
          </a:p>
        </p:txBody>
      </p:sp>
      <p:sp>
        <p:nvSpPr>
          <p:cNvPr id="18" name="Text Placeholder 18">
            <a:extLst>
              <a:ext uri="{FF2B5EF4-FFF2-40B4-BE49-F238E27FC236}">
                <a16:creationId xmlns:a16="http://schemas.microsoft.com/office/drawing/2014/main" id="{BA759C29-0D90-79C4-ED6A-17C344E06350}"/>
              </a:ext>
            </a:extLst>
          </p:cNvPr>
          <p:cNvSpPr>
            <a:spLocks noGrp="1"/>
          </p:cNvSpPr>
          <p:nvPr>
            <p:custDataLst>
              <p:tags r:id="rId7"/>
            </p:custDataLst>
          </p:nvPr>
        </p:nvSpPr>
        <p:spPr bwMode="auto">
          <a:xfrm>
            <a:off x="7494588" y="4156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0C17A39-F9A8-46A4-ABCF-9B077A96A301}" type="datetime'''''''2''''''''''''0''''3''''''''''''''5'''''''">
              <a:rPr lang="en-US" altLang="en-US" sz="1100" smtClean="0">
                <a:latin typeface="Arial" panose="020B0604020202020204" pitchFamily="34" charset="0"/>
                <a:cs typeface="+mn-cs"/>
              </a:rPr>
              <a:pPr lvl="0" algn="ctr">
                <a:spcBef>
                  <a:spcPct val="0"/>
                </a:spcBef>
                <a:spcAft>
                  <a:spcPct val="0"/>
                </a:spcAft>
              </a:pPr>
              <a:t>2035</a:t>
            </a:fld>
            <a:endParaRPr lang="en-US" sz="1100" noProof="0">
              <a:latin typeface="Arial" panose="020B0604020202020204" pitchFamily="34" charset="0"/>
              <a:cs typeface="+mn-cs"/>
              <a:sym typeface="Arial" panose="020B0604020202020204" pitchFamily="34" charset="0"/>
            </a:endParaRPr>
          </a:p>
        </p:txBody>
      </p:sp>
      <p:sp>
        <p:nvSpPr>
          <p:cNvPr id="15" name="Text Placeholder 18">
            <a:extLst>
              <a:ext uri="{FF2B5EF4-FFF2-40B4-BE49-F238E27FC236}">
                <a16:creationId xmlns:a16="http://schemas.microsoft.com/office/drawing/2014/main" id="{4E9C565D-8621-AF45-4232-6441BA76BA70}"/>
              </a:ext>
            </a:extLst>
          </p:cNvPr>
          <p:cNvSpPr>
            <a:spLocks noGrp="1"/>
          </p:cNvSpPr>
          <p:nvPr>
            <p:custDataLst>
              <p:tags r:id="rId8"/>
            </p:custDataLst>
          </p:nvPr>
        </p:nvSpPr>
        <p:spPr bwMode="gray">
          <a:xfrm>
            <a:off x="9094788" y="3509963"/>
            <a:ext cx="474663"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0E8206F-8320-42BB-969C-A5DE6AD51E6A}" type="datetime'''''''''1''''''''9,''1''''5''''''''1'''''">
              <a:rPr lang="en-US" altLang="en-US" sz="1100" smtClean="0">
                <a:effectLst/>
                <a:latin typeface="Arial" panose="020B0604020202020204" pitchFamily="34" charset="0"/>
                <a:cs typeface="+mn-cs"/>
                <a:sym typeface="Arial" panose="020B0604020202020204" pitchFamily="34" charset="0"/>
              </a:rPr>
              <a:pPr lvl="0" algn="ctr">
                <a:spcBef>
                  <a:spcPct val="0"/>
                </a:spcBef>
                <a:spcAft>
                  <a:spcPct val="0"/>
                </a:spcAft>
              </a:pPr>
              <a:t>19,151</a:t>
            </a:fld>
            <a:endParaRPr lang="en-US" sz="1100" noProof="0">
              <a:latin typeface="Arial" panose="020B0604020202020204" pitchFamily="34" charset="0"/>
              <a:cs typeface="+mn-cs"/>
              <a:sym typeface="Arial" panose="020B0604020202020204" pitchFamily="34" charset="0"/>
            </a:endParaRPr>
          </a:p>
        </p:txBody>
      </p:sp>
      <p:sp>
        <p:nvSpPr>
          <p:cNvPr id="4" name="Text Placeholder 18">
            <a:extLst>
              <a:ext uri="{FF2B5EF4-FFF2-40B4-BE49-F238E27FC236}">
                <a16:creationId xmlns:a16="http://schemas.microsoft.com/office/drawing/2014/main" id="{A00BEC36-BFD5-BA4D-99B6-3C3BD1427965}"/>
              </a:ext>
            </a:extLst>
          </p:cNvPr>
          <p:cNvSpPr>
            <a:spLocks noGrp="1"/>
          </p:cNvSpPr>
          <p:nvPr>
            <p:custDataLst>
              <p:tags r:id="rId9"/>
            </p:custDataLst>
          </p:nvPr>
        </p:nvSpPr>
        <p:spPr bwMode="gray">
          <a:xfrm>
            <a:off x="10437813" y="2720976"/>
            <a:ext cx="474663" cy="168275"/>
          </a:xfrm>
          <a:prstGeom prst="rect">
            <a:avLst/>
          </a:prstGeom>
          <a:solidFill>
            <a:srgbClr val="012169"/>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5B1522C-1774-4E18-932E-67ECEB359D7D}" type="datetime'''5''''''1'',''''''3''''''''''''3''''''''''0'">
              <a:rPr lang="en-US" altLang="en-US" sz="1100" smtClean="0">
                <a:solidFill>
                  <a:schemeClr val="bg1"/>
                </a:solidFill>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51,330</a:t>
            </a:fld>
            <a:endParaRPr lang="en-US" sz="1100" noProof="0">
              <a:solidFill>
                <a:schemeClr val="bg1"/>
              </a:solidFill>
              <a:latin typeface="Arial" panose="020B0604020202020204" pitchFamily="34" charset="0"/>
              <a:cs typeface="Arial" panose="020B0604020202020204" pitchFamily="34" charset="0"/>
              <a:sym typeface="Arial" panose="020B0604020202020204" pitchFamily="34" charset="0"/>
            </a:endParaRPr>
          </a:p>
        </p:txBody>
      </p:sp>
      <p:sp>
        <p:nvSpPr>
          <p:cNvPr id="19" name="Text Placeholder 18">
            <a:extLst>
              <a:ext uri="{FF2B5EF4-FFF2-40B4-BE49-F238E27FC236}">
                <a16:creationId xmlns:a16="http://schemas.microsoft.com/office/drawing/2014/main" id="{538A241F-C639-4AFD-1F3E-B3AFAE691E10}"/>
              </a:ext>
            </a:extLst>
          </p:cNvPr>
          <p:cNvSpPr>
            <a:spLocks noGrp="1"/>
          </p:cNvSpPr>
          <p:nvPr>
            <p:custDataLst>
              <p:tags r:id="rId10"/>
            </p:custDataLst>
          </p:nvPr>
        </p:nvSpPr>
        <p:spPr bwMode="auto">
          <a:xfrm>
            <a:off x="10009188" y="415607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6AE05ABB-22B8-43DE-8356-24E1063C62FA}" type="datetime'''''''2''''''''''''''''''0''''''''''''''''''''''''4''''0'''''">
              <a:rPr lang="en-US" altLang="en-US" sz="1100" smtClean="0">
                <a:latin typeface="Arial" panose="020B0604020202020204" pitchFamily="34" charset="0"/>
                <a:cs typeface="+mn-cs"/>
              </a:rPr>
              <a:pPr lvl="0" algn="ctr">
                <a:spcBef>
                  <a:spcPct val="0"/>
                </a:spcBef>
                <a:spcAft>
                  <a:spcPct val="0"/>
                </a:spcAft>
              </a:pPr>
              <a:t>2040</a:t>
            </a:fld>
            <a:endParaRPr lang="en-US" sz="1100" noProof="0">
              <a:latin typeface="Arial" panose="020B0604020202020204" pitchFamily="34" charset="0"/>
              <a:cs typeface="+mn-cs"/>
              <a:sym typeface="Arial" panose="020B0604020202020204" pitchFamily="34" charset="0"/>
            </a:endParaRPr>
          </a:p>
        </p:txBody>
      </p:sp>
      <p:sp>
        <p:nvSpPr>
          <p:cNvPr id="67" name="Rectangle 66">
            <a:extLst>
              <a:ext uri="{FF2B5EF4-FFF2-40B4-BE49-F238E27FC236}">
                <a16:creationId xmlns:a16="http://schemas.microsoft.com/office/drawing/2014/main" id="{B40D9D1C-BBBC-1267-11D4-4C75331542B0}"/>
              </a:ext>
            </a:extLst>
          </p:cNvPr>
          <p:cNvSpPr/>
          <p:nvPr>
            <p:custDataLst>
              <p:tags r:id="rId11"/>
            </p:custDataLst>
          </p:nvPr>
        </p:nvSpPr>
        <p:spPr bwMode="auto">
          <a:xfrm>
            <a:off x="2768600" y="4484688"/>
            <a:ext cx="196850" cy="147638"/>
          </a:xfrm>
          <a:prstGeom prst="rect">
            <a:avLst/>
          </a:prstGeom>
          <a:solidFill>
            <a:srgbClr val="C4D60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7" name="Rectangle 76">
            <a:extLst>
              <a:ext uri="{FF2B5EF4-FFF2-40B4-BE49-F238E27FC236}">
                <a16:creationId xmlns:a16="http://schemas.microsoft.com/office/drawing/2014/main" id="{3659CC57-0ADE-5886-8A47-23471A3B439F}"/>
              </a:ext>
            </a:extLst>
          </p:cNvPr>
          <p:cNvSpPr/>
          <p:nvPr>
            <p:custDataLst>
              <p:tags r:id="rId12"/>
            </p:custDataLst>
          </p:nvPr>
        </p:nvSpPr>
        <p:spPr bwMode="auto">
          <a:xfrm>
            <a:off x="2768600" y="4703763"/>
            <a:ext cx="196850" cy="147638"/>
          </a:xfrm>
          <a:prstGeom prst="rect">
            <a:avLst/>
          </a:prstGeom>
          <a:solidFill>
            <a:srgbClr val="6FC2B4"/>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7" name="Rectangle 86">
            <a:extLst>
              <a:ext uri="{FF2B5EF4-FFF2-40B4-BE49-F238E27FC236}">
                <a16:creationId xmlns:a16="http://schemas.microsoft.com/office/drawing/2014/main" id="{6B4C80CA-E43B-9CAF-6CFB-EAC2068224DD}"/>
              </a:ext>
            </a:extLst>
          </p:cNvPr>
          <p:cNvSpPr/>
          <p:nvPr>
            <p:custDataLst>
              <p:tags r:id="rId13"/>
            </p:custDataLst>
          </p:nvPr>
        </p:nvSpPr>
        <p:spPr bwMode="auto">
          <a:xfrm>
            <a:off x="2768600" y="4922838"/>
            <a:ext cx="196850" cy="147638"/>
          </a:xfrm>
          <a:prstGeom prst="rect">
            <a:avLst/>
          </a:prstGeom>
          <a:solidFill>
            <a:srgbClr val="A0DCFF"/>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09" name="Rectangle 108">
            <a:extLst>
              <a:ext uri="{FF2B5EF4-FFF2-40B4-BE49-F238E27FC236}">
                <a16:creationId xmlns:a16="http://schemas.microsoft.com/office/drawing/2014/main" id="{AA090BD6-D2E9-835D-0F38-78753934A3CA}"/>
              </a:ext>
            </a:extLst>
          </p:cNvPr>
          <p:cNvSpPr/>
          <p:nvPr>
            <p:custDataLst>
              <p:tags r:id="rId14"/>
            </p:custDataLst>
          </p:nvPr>
        </p:nvSpPr>
        <p:spPr bwMode="auto">
          <a:xfrm>
            <a:off x="5530850" y="4484688"/>
            <a:ext cx="196850" cy="147638"/>
          </a:xfrm>
          <a:prstGeom prst="rect">
            <a:avLst/>
          </a:prstGeom>
          <a:solidFill>
            <a:srgbClr val="00768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20" name="Rectangle 119">
            <a:extLst>
              <a:ext uri="{FF2B5EF4-FFF2-40B4-BE49-F238E27FC236}">
                <a16:creationId xmlns:a16="http://schemas.microsoft.com/office/drawing/2014/main" id="{DF289074-53EA-1B07-79B7-ED40093DE4E3}"/>
              </a:ext>
            </a:extLst>
          </p:cNvPr>
          <p:cNvSpPr/>
          <p:nvPr>
            <p:custDataLst>
              <p:tags r:id="rId15"/>
            </p:custDataLst>
          </p:nvPr>
        </p:nvSpPr>
        <p:spPr bwMode="auto">
          <a:xfrm>
            <a:off x="5530850" y="4703763"/>
            <a:ext cx="196850" cy="147638"/>
          </a:xfrm>
          <a:prstGeom prst="rect">
            <a:avLst/>
          </a:prstGeom>
          <a:solidFill>
            <a:srgbClr val="01216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12" name="Rectangle 711">
            <a:extLst>
              <a:ext uri="{FF2B5EF4-FFF2-40B4-BE49-F238E27FC236}">
                <a16:creationId xmlns:a16="http://schemas.microsoft.com/office/drawing/2014/main" id="{D819C2CC-FFD7-0E5C-99A6-5552B5009D6F}"/>
              </a:ext>
            </a:extLst>
          </p:cNvPr>
          <p:cNvSpPr/>
          <p:nvPr>
            <p:custDataLst>
              <p:tags r:id="rId16"/>
            </p:custDataLst>
          </p:nvPr>
        </p:nvSpPr>
        <p:spPr bwMode="auto">
          <a:xfrm>
            <a:off x="5530850" y="4922838"/>
            <a:ext cx="196850" cy="147638"/>
          </a:xfrm>
          <a:prstGeom prst="rect">
            <a:avLst/>
          </a:prstGeom>
          <a:solidFill>
            <a:srgbClr val="00000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64" name="Text Placeholder 18">
            <a:extLst>
              <a:ext uri="{FF2B5EF4-FFF2-40B4-BE49-F238E27FC236}">
                <a16:creationId xmlns:a16="http://schemas.microsoft.com/office/drawing/2014/main" id="{A6C753F3-9F69-981E-694F-CE1D989E2CFD}"/>
              </a:ext>
            </a:extLst>
          </p:cNvPr>
          <p:cNvSpPr>
            <a:spLocks noGrp="1"/>
          </p:cNvSpPr>
          <p:nvPr>
            <p:custDataLst>
              <p:tags r:id="rId17"/>
            </p:custDataLst>
          </p:nvPr>
        </p:nvSpPr>
        <p:spPr bwMode="auto">
          <a:xfrm>
            <a:off x="3016250" y="4479925"/>
            <a:ext cx="241300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F1C9FA82-6350-4BD1-9ECA-63C4D11F16AD}" type="datetime'WECS ''ED (''2''0''1''5-40'')'' ''B''AU (''4''.5''%'' ''GDP)'">
              <a:rPr lang="de-DE" altLang="en-US" sz="1100" smtClean="0">
                <a:latin typeface="Arial" panose="020B0604020202020204" pitchFamily="34" charset="0"/>
                <a:cs typeface="+mn-cs"/>
              </a:rPr>
              <a:pPr lvl="0">
                <a:spcBef>
                  <a:spcPct val="0"/>
                </a:spcBef>
                <a:spcAft>
                  <a:spcPct val="0"/>
                </a:spcAft>
              </a:pPr>
              <a:t>WECS ED (2015-40) BAU (4.5% GDP)</a:t>
            </a:fld>
            <a:endParaRPr lang="en-US" sz="1100" noProof="0">
              <a:latin typeface="Arial" panose="020B0604020202020204" pitchFamily="34" charset="0"/>
              <a:cs typeface="+mn-cs"/>
              <a:sym typeface="Arial" panose="020B0604020202020204" pitchFamily="34" charset="0"/>
            </a:endParaRPr>
          </a:p>
        </p:txBody>
      </p:sp>
      <p:sp>
        <p:nvSpPr>
          <p:cNvPr id="74" name="Text Placeholder 18">
            <a:extLst>
              <a:ext uri="{FF2B5EF4-FFF2-40B4-BE49-F238E27FC236}">
                <a16:creationId xmlns:a16="http://schemas.microsoft.com/office/drawing/2014/main" id="{5CAB7797-7267-5AF2-04FF-03D471FF9F8D}"/>
              </a:ext>
            </a:extLst>
          </p:cNvPr>
          <p:cNvSpPr>
            <a:spLocks noGrp="1"/>
          </p:cNvSpPr>
          <p:nvPr>
            <p:custDataLst>
              <p:tags r:id="rId18"/>
            </p:custDataLst>
          </p:nvPr>
        </p:nvSpPr>
        <p:spPr bwMode="auto">
          <a:xfrm>
            <a:off x="3016250" y="4699000"/>
            <a:ext cx="234156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394A78FC-C835-4244-9DAC-61065DDA7E9A}" type="datetime'W''''EC''S'' E''D (20''1''''5-40)'''''' Ref (7.2% GD''''P)'''">
              <a:rPr lang="en-US" altLang="en-US" sz="1100" smtClean="0">
                <a:latin typeface="Arial" panose="020B0604020202020204" pitchFamily="34" charset="0"/>
                <a:cs typeface="+mn-cs"/>
              </a:rPr>
              <a:pPr lvl="0">
                <a:spcBef>
                  <a:spcPct val="0"/>
                </a:spcBef>
                <a:spcAft>
                  <a:spcPct val="0"/>
                </a:spcAft>
              </a:pPr>
              <a:t>WECS ED (2015-40) Ref (7.2% GDP)</a:t>
            </a:fld>
            <a:endParaRPr lang="en-US" sz="1100" noProof="0">
              <a:latin typeface="Arial" panose="020B0604020202020204" pitchFamily="34" charset="0"/>
              <a:cs typeface="+mn-cs"/>
              <a:sym typeface="Arial" panose="020B0604020202020204" pitchFamily="34" charset="0"/>
            </a:endParaRPr>
          </a:p>
        </p:txBody>
      </p:sp>
      <p:sp>
        <p:nvSpPr>
          <p:cNvPr id="84" name="Text Placeholder 18">
            <a:extLst>
              <a:ext uri="{FF2B5EF4-FFF2-40B4-BE49-F238E27FC236}">
                <a16:creationId xmlns:a16="http://schemas.microsoft.com/office/drawing/2014/main" id="{7659F6E6-1545-EFCD-D70D-6F2C6BC773C9}"/>
              </a:ext>
            </a:extLst>
          </p:cNvPr>
          <p:cNvSpPr>
            <a:spLocks noGrp="1"/>
          </p:cNvSpPr>
          <p:nvPr>
            <p:custDataLst>
              <p:tags r:id="rId19"/>
            </p:custDataLst>
          </p:nvPr>
        </p:nvSpPr>
        <p:spPr bwMode="auto">
          <a:xfrm>
            <a:off x="3016250" y="4918075"/>
            <a:ext cx="241300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2D858193-142B-4DB4-8D6E-000820EFFB6D}" type="datetime'''WE''CS ''''ED (''2015''''''-40) Hi''gh'' (9''.2% ''GD''''P)'">
              <a:rPr lang="en-US" altLang="en-US" sz="1100" smtClean="0">
                <a:latin typeface="Arial" panose="020B0604020202020204" pitchFamily="34" charset="0"/>
                <a:cs typeface="+mn-cs"/>
              </a:rPr>
              <a:pPr lvl="0">
                <a:spcBef>
                  <a:spcPct val="0"/>
                </a:spcBef>
                <a:spcAft>
                  <a:spcPct val="0"/>
                </a:spcAft>
              </a:pPr>
              <a:t>WECS ED (2015-40) High (9.2% GDP)</a:t>
            </a:fld>
            <a:endParaRPr lang="en-US" sz="1100" noProof="0">
              <a:latin typeface="Arial" panose="020B0604020202020204" pitchFamily="34" charset="0"/>
              <a:cs typeface="+mn-cs"/>
              <a:sym typeface="Arial" panose="020B0604020202020204" pitchFamily="34" charset="0"/>
            </a:endParaRPr>
          </a:p>
        </p:txBody>
      </p:sp>
      <p:sp>
        <p:nvSpPr>
          <p:cNvPr id="106" name="Text Placeholder 18">
            <a:extLst>
              <a:ext uri="{FF2B5EF4-FFF2-40B4-BE49-F238E27FC236}">
                <a16:creationId xmlns:a16="http://schemas.microsoft.com/office/drawing/2014/main" id="{1B8031E1-11A3-DD42-A449-C993CA77395A}"/>
              </a:ext>
            </a:extLst>
          </p:cNvPr>
          <p:cNvSpPr>
            <a:spLocks noGrp="1"/>
          </p:cNvSpPr>
          <p:nvPr>
            <p:custDataLst>
              <p:tags r:id="rId20"/>
            </p:custDataLst>
          </p:nvPr>
        </p:nvSpPr>
        <p:spPr bwMode="auto">
          <a:xfrm>
            <a:off x="5778500" y="4479925"/>
            <a:ext cx="212248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014657C4-49A5-4276-BDFB-64D31DBC1F60}" type="datetime'''''W''''E''C''''S ''ED'' (2015-40'''''''') ''Ref + Policy '">
              <a:rPr lang="en-US" altLang="en-US" sz="1100" smtClean="0">
                <a:latin typeface="Arial" panose="020B0604020202020204" pitchFamily="34" charset="0"/>
                <a:cs typeface="+mn-cs"/>
              </a:rPr>
              <a:pPr lvl="0">
                <a:spcBef>
                  <a:spcPct val="0"/>
                </a:spcBef>
                <a:spcAft>
                  <a:spcPct val="0"/>
                </a:spcAft>
              </a:pPr>
              <a:t>WECS ED (2015-40) Ref + Policy </a:t>
            </a:fld>
            <a:endParaRPr lang="en-US" sz="1100" noProof="0">
              <a:latin typeface="Arial" panose="020B0604020202020204" pitchFamily="34" charset="0"/>
              <a:cs typeface="+mn-cs"/>
              <a:sym typeface="Arial" panose="020B0604020202020204" pitchFamily="34" charset="0"/>
            </a:endParaRPr>
          </a:p>
        </p:txBody>
      </p:sp>
      <p:sp>
        <p:nvSpPr>
          <p:cNvPr id="117" name="Text Placeholder 18">
            <a:extLst>
              <a:ext uri="{FF2B5EF4-FFF2-40B4-BE49-F238E27FC236}">
                <a16:creationId xmlns:a16="http://schemas.microsoft.com/office/drawing/2014/main" id="{D08E86A5-6A63-13BC-AC4C-D0B8D65E9AED}"/>
              </a:ext>
            </a:extLst>
          </p:cNvPr>
          <p:cNvSpPr>
            <a:spLocks noGrp="1"/>
          </p:cNvSpPr>
          <p:nvPr>
            <p:custDataLst>
              <p:tags r:id="rId21"/>
            </p:custDataLst>
          </p:nvPr>
        </p:nvSpPr>
        <p:spPr bwMode="auto">
          <a:xfrm>
            <a:off x="5778500" y="4699000"/>
            <a:ext cx="21939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7AF71659-FA1F-4EF5-A5CF-FE0CAEC7AD5C}" type="datetime'''WECS'' ED (''''2015''-40'''''') ''H''''igh + Pol''ic''y '">
              <a:rPr lang="en-US" altLang="en-US" sz="1100" smtClean="0">
                <a:latin typeface="Arial" panose="020B0604020202020204" pitchFamily="34" charset="0"/>
                <a:cs typeface="+mn-cs"/>
              </a:rPr>
              <a:pPr lvl="0">
                <a:spcBef>
                  <a:spcPct val="0"/>
                </a:spcBef>
                <a:spcAft>
                  <a:spcPct val="0"/>
                </a:spcAft>
              </a:pPr>
              <a:t>WECS ED (2015-40) High + Policy </a:t>
            </a:fld>
            <a:endParaRPr lang="en-US" sz="1100" noProof="0">
              <a:latin typeface="Arial" panose="020B0604020202020204" pitchFamily="34" charset="0"/>
              <a:cs typeface="+mn-cs"/>
              <a:sym typeface="Arial" panose="020B0604020202020204" pitchFamily="34" charset="0"/>
            </a:endParaRPr>
          </a:p>
        </p:txBody>
      </p:sp>
      <p:sp>
        <p:nvSpPr>
          <p:cNvPr id="709" name="Text Placeholder 18">
            <a:extLst>
              <a:ext uri="{FF2B5EF4-FFF2-40B4-BE49-F238E27FC236}">
                <a16:creationId xmlns:a16="http://schemas.microsoft.com/office/drawing/2014/main" id="{E89BCB0A-5D92-8EFE-CC57-523E6572836A}"/>
              </a:ext>
            </a:extLst>
          </p:cNvPr>
          <p:cNvSpPr>
            <a:spLocks noGrp="1"/>
          </p:cNvSpPr>
          <p:nvPr>
            <p:custDataLst>
              <p:tags r:id="rId22"/>
            </p:custDataLst>
          </p:nvPr>
        </p:nvSpPr>
        <p:spPr bwMode="auto">
          <a:xfrm>
            <a:off x="5778500" y="4918075"/>
            <a:ext cx="17811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A3F157CC-6EC5-44E7-B1F5-EF5B8E676380}" type="datetime'''J''ICA'' Ma''''s''ter ''P''lan'' (''O''''pti''m''um'''''')'">
              <a:rPr lang="en-US" altLang="en-US" sz="1100" smtClean="0">
                <a:latin typeface="Arial" panose="020B0604020202020204" pitchFamily="34" charset="0"/>
                <a:cs typeface="+mn-cs"/>
              </a:rPr>
              <a:pPr lvl="0">
                <a:spcBef>
                  <a:spcPct val="0"/>
                </a:spcBef>
                <a:spcAft>
                  <a:spcPct val="0"/>
                </a:spcAft>
              </a:pPr>
              <a:t>JICA Master Plan (Optimum)</a:t>
            </a:fld>
            <a:endParaRPr lang="en-US" sz="1100" noProof="0">
              <a:latin typeface="Arial" panose="020B0604020202020204" pitchFamily="34" charset="0"/>
              <a:cs typeface="+mn-cs"/>
              <a:sym typeface="Arial" panose="020B0604020202020204" pitchFamily="34" charset="0"/>
            </a:endParaRPr>
          </a:p>
        </p:txBody>
      </p:sp>
      <p:sp>
        <p:nvSpPr>
          <p:cNvPr id="43" name="TextBox 42">
            <a:extLst>
              <a:ext uri="{FF2B5EF4-FFF2-40B4-BE49-F238E27FC236}">
                <a16:creationId xmlns:a16="http://schemas.microsoft.com/office/drawing/2014/main" id="{4C79EA70-1EAC-8FD7-D8F6-5BF40C49FE05}"/>
              </a:ext>
            </a:extLst>
          </p:cNvPr>
          <p:cNvSpPr txBox="1"/>
          <p:nvPr/>
        </p:nvSpPr>
        <p:spPr>
          <a:xfrm>
            <a:off x="181238" y="6604084"/>
            <a:ext cx="7953375"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28"/>
              </a:rPr>
              <a:t>NEA Annual Report</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29"/>
              </a:rPr>
              <a:t>IBN Energy Demand – MAED</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30"/>
              </a:rPr>
              <a:t>Electricity Demand Forecast (2015-40) WECS</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31"/>
              </a:rPr>
              <a:t>NEA Load Forecast </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graphicFrame>
        <p:nvGraphicFramePr>
          <p:cNvPr id="44" name="Table 43">
            <a:extLst>
              <a:ext uri="{FF2B5EF4-FFF2-40B4-BE49-F238E27FC236}">
                <a16:creationId xmlns:a16="http://schemas.microsoft.com/office/drawing/2014/main" id="{6ED6BA6A-0E64-E99E-08B1-03338199DFB5}"/>
              </a:ext>
            </a:extLst>
          </p:cNvPr>
          <p:cNvGraphicFramePr>
            <a:graphicFrameLocks noGrp="1"/>
          </p:cNvGraphicFramePr>
          <p:nvPr>
            <p:extLst>
              <p:ext uri="{D42A27DB-BD31-4B8C-83A1-F6EECF244321}">
                <p14:modId xmlns:p14="http://schemas.microsoft.com/office/powerpoint/2010/main" val="2389824274"/>
              </p:ext>
            </p:extLst>
          </p:nvPr>
        </p:nvGraphicFramePr>
        <p:xfrm>
          <a:off x="528371" y="5365030"/>
          <a:ext cx="11216730" cy="1103503"/>
        </p:xfrm>
        <a:graphic>
          <a:graphicData uri="http://schemas.openxmlformats.org/drawingml/2006/table">
            <a:tbl>
              <a:tblPr firstRow="1" bandRow="1">
                <a:tableStyleId>{5C22544A-7EE6-4342-B048-85BDC9FD1C3A}</a:tableStyleId>
              </a:tblPr>
              <a:tblGrid>
                <a:gridCol w="1783820">
                  <a:extLst>
                    <a:ext uri="{9D8B030D-6E8A-4147-A177-3AD203B41FA5}">
                      <a16:colId xmlns:a16="http://schemas.microsoft.com/office/drawing/2014/main" val="1601999352"/>
                    </a:ext>
                  </a:extLst>
                </a:gridCol>
                <a:gridCol w="9432910">
                  <a:extLst>
                    <a:ext uri="{9D8B030D-6E8A-4147-A177-3AD203B41FA5}">
                      <a16:colId xmlns:a16="http://schemas.microsoft.com/office/drawing/2014/main" val="2515607737"/>
                    </a:ext>
                  </a:extLst>
                </a:gridCol>
              </a:tblGrid>
              <a:tr h="167776">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829183">
                <a:tc gridSpan="2">
                  <a:txBody>
                    <a:bodyPr/>
                    <a:lstStyle/>
                    <a:p>
                      <a:pPr marL="0" marR="0" lvl="0" indent="0" algn="just" defTabSz="914335"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b="0" kern="1200">
                          <a:solidFill>
                            <a:schemeClr val="dk1"/>
                          </a:solidFill>
                          <a:latin typeface="Arial" panose="020B0604020202020204" pitchFamily="34" charset="0"/>
                          <a:ea typeface="+mn-ea"/>
                          <a:cs typeface="Arial" panose="020B0604020202020204" pitchFamily="34" charset="0"/>
                        </a:rPr>
                        <a:t>The future outlook indicates a continued </a:t>
                      </a:r>
                      <a:r>
                        <a:rPr lang="en-US" sz="1200" b="1" kern="1200">
                          <a:solidFill>
                            <a:schemeClr val="dk1"/>
                          </a:solidFill>
                          <a:latin typeface="Arial" panose="020B0604020202020204" pitchFamily="34" charset="0"/>
                          <a:ea typeface="+mn-ea"/>
                          <a:cs typeface="Arial" panose="020B0604020202020204" pitchFamily="34" charset="0"/>
                        </a:rPr>
                        <a:t>upward trend in electricity supply</a:t>
                      </a:r>
                      <a:r>
                        <a:rPr lang="en-US" sz="1200" b="0" kern="1200">
                          <a:solidFill>
                            <a:schemeClr val="dk1"/>
                          </a:solidFill>
                          <a:latin typeface="Arial" panose="020B0604020202020204" pitchFamily="34" charset="0"/>
                          <a:ea typeface="+mn-ea"/>
                          <a:cs typeface="Arial" panose="020B0604020202020204" pitchFamily="34" charset="0"/>
                        </a:rPr>
                        <a:t>, reflecting Nepal’s growing capacity and commitment to meeting both domestic and regional energy demands. As outlined in the </a:t>
                      </a:r>
                      <a:r>
                        <a:rPr lang="en-US" sz="1200" b="1" kern="1200">
                          <a:solidFill>
                            <a:schemeClr val="dk1"/>
                          </a:solidFill>
                          <a:latin typeface="Arial" panose="020B0604020202020204" pitchFamily="34" charset="0"/>
                          <a:ea typeface="+mn-ea"/>
                          <a:cs typeface="Arial" panose="020B0604020202020204" pitchFamily="34" charset="0"/>
                        </a:rPr>
                        <a:t>Energy Development Roadmap</a:t>
                      </a:r>
                      <a:r>
                        <a:rPr lang="en-US" sz="1200" b="0" kern="1200">
                          <a:solidFill>
                            <a:schemeClr val="dk1"/>
                          </a:solidFill>
                          <a:latin typeface="Arial" panose="020B0604020202020204" pitchFamily="34" charset="0"/>
                          <a:ea typeface="+mn-ea"/>
                          <a:cs typeface="Arial" panose="020B0604020202020204" pitchFamily="34" charset="0"/>
                        </a:rPr>
                        <a:t>, Nepal aims to reach an installed capacity of 13,000 MW by 2030, with plans to export 10,000 MW to India and 5,000 MW to Bangladesh. This reflects a strong commitment to regional energy cooperation through power exports. The projected capacity additions are expected to not only meet domestic demand but also position Nepal as a leading player in the cross-border electricity trade market.</a:t>
                      </a:r>
                      <a:endParaRPr lang="en-US" sz="1200" b="1" kern="1200">
                        <a:solidFill>
                          <a:schemeClr val="dk1"/>
                        </a:solidFill>
                        <a:latin typeface="Arial" panose="020B0604020202020204" pitchFamily="34" charset="0"/>
                        <a:ea typeface="+mn-ea"/>
                        <a:cs typeface="Arial" panose="020B0604020202020204" pitchFamily="34" charset="0"/>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sp>
        <p:nvSpPr>
          <p:cNvPr id="45" name="TextBox 44">
            <a:extLst>
              <a:ext uri="{FF2B5EF4-FFF2-40B4-BE49-F238E27FC236}">
                <a16:creationId xmlns:a16="http://schemas.microsoft.com/office/drawing/2014/main" id="{9BB23DB8-3A5C-5BF6-E721-CDBB94010225}"/>
              </a:ext>
            </a:extLst>
          </p:cNvPr>
          <p:cNvSpPr txBox="1"/>
          <p:nvPr/>
        </p:nvSpPr>
        <p:spPr>
          <a:xfrm>
            <a:off x="3267781" y="1059684"/>
            <a:ext cx="5689764" cy="307777"/>
          </a:xfrm>
          <a:prstGeom prst="rect">
            <a:avLst/>
          </a:prstGeom>
          <a:noFill/>
        </p:spPr>
        <p:txBody>
          <a:bodyPr wrap="square">
            <a:spAutoFit/>
          </a:bodyPr>
          <a:lstStyle/>
          <a:p>
            <a:pPr algn="ctr"/>
            <a:r>
              <a:rPr lang="en-US" sz="1400" b="1">
                <a:latin typeface="Arial" panose="020B0604020202020204" pitchFamily="34" charset="0"/>
                <a:cs typeface="Arial" panose="020B0604020202020204" pitchFamily="34" charset="0"/>
              </a:rPr>
              <a:t>Installed Capacity targets of various projections (MW) </a:t>
            </a:r>
            <a:endParaRPr lang="en-US" sz="1400" b="1"/>
          </a:p>
        </p:txBody>
      </p:sp>
      <p:sp>
        <p:nvSpPr>
          <p:cNvPr id="3" name="Rectangle 2">
            <a:extLst>
              <a:ext uri="{FF2B5EF4-FFF2-40B4-BE49-F238E27FC236}">
                <a16:creationId xmlns:a16="http://schemas.microsoft.com/office/drawing/2014/main" id="{CFACEA99-0E39-F5A6-8B66-D1F572F72EF4}"/>
              </a:ext>
            </a:extLst>
          </p:cNvPr>
          <p:cNvSpPr/>
          <p:nvPr/>
        </p:nvSpPr>
        <p:spPr bwMode="gray">
          <a:xfrm>
            <a:off x="6087397" y="1768978"/>
            <a:ext cx="3138231" cy="521110"/>
          </a:xfrm>
          <a:prstGeom prst="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400" b="1" i="1">
                <a:solidFill>
                  <a:schemeClr val="bg1"/>
                </a:solidFill>
              </a:rPr>
              <a:t>Energy Development Roadmap targets 28,500 MW IC by 2035 – Feb 2025</a:t>
            </a:r>
          </a:p>
        </p:txBody>
      </p:sp>
    </p:spTree>
    <p:extLst>
      <p:ext uri="{BB962C8B-B14F-4D97-AF65-F5344CB8AC3E}">
        <p14:creationId xmlns:p14="http://schemas.microsoft.com/office/powerpoint/2010/main" val="3919554651"/>
      </p:ext>
    </p:extLst>
  </p:cSld>
  <p:clrMapOvr>
    <a:masterClrMapping/>
  </p:clrMapOvr>
  <p:transition>
    <p:fade/>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064741692"/>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5" imgW="415" imgH="416" progId="TCLayout.ActiveDocument.1">
                  <p:embed/>
                </p:oleObj>
              </mc:Choice>
              <mc:Fallback>
                <p:oleObj name="think-cell Slide" r:id="rId45"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46"/>
                      <a:stretch>
                        <a:fillRect/>
                      </a:stretch>
                    </p:blipFill>
                    <p:spPr>
                      <a:xfrm>
                        <a:off x="1828" y="1723"/>
                        <a:ext cx="1588" cy="1588"/>
                      </a:xfrm>
                      <a:prstGeom prst="rect">
                        <a:avLst/>
                      </a:prstGeom>
                    </p:spPr>
                  </p:pic>
                </p:oleObj>
              </mc:Fallback>
            </mc:AlternateContent>
          </a:graphicData>
        </a:graphic>
      </p:graphicFrame>
      <p:sp>
        <p:nvSpPr>
          <p:cNvPr id="49" name="Rectangle 48">
            <a:extLst>
              <a:ext uri="{FF2B5EF4-FFF2-40B4-BE49-F238E27FC236}">
                <a16:creationId xmlns:a16="http://schemas.microsoft.com/office/drawing/2014/main" id="{6FC72071-2B71-1DE6-6F20-C56D553DE2EE}"/>
              </a:ext>
            </a:extLst>
          </p:cNvPr>
          <p:cNvSpPr/>
          <p:nvPr/>
        </p:nvSpPr>
        <p:spPr bwMode="gray">
          <a:xfrm>
            <a:off x="528371" y="949895"/>
            <a:ext cx="11196638" cy="2479105"/>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6" name="Title 5"/>
          <p:cNvSpPr>
            <a:spLocks noGrp="1"/>
          </p:cNvSpPr>
          <p:nvPr>
            <p:ph type="title"/>
          </p:nvPr>
        </p:nvSpPr>
        <p:spPr/>
        <p:txBody>
          <a:bodyPr vert="horz"/>
          <a:lstStyle/>
          <a:p>
            <a:r>
              <a:rPr lang="en-GB" sz="1800" b="1">
                <a:latin typeface="Arial" panose="020B0604020202020204" pitchFamily="34" charset="0"/>
                <a:cs typeface="Arial" panose="020B0604020202020204" pitchFamily="34" charset="0"/>
              </a:rPr>
              <a:t>Installed Capacity Pipeline I </a:t>
            </a:r>
            <a:r>
              <a:rPr lang="en-US" sz="1800" b="1">
                <a:latin typeface="Arial" panose="020B0604020202020204" pitchFamily="34" charset="0"/>
                <a:cs typeface="Arial" panose="020B0604020202020204" pitchFamily="34" charset="0"/>
              </a:rPr>
              <a:t>Insights from JICA's Optimum Generation Scenario</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Visibility of ~10 GW capacity under various stages of development; will position Nepal as a surplus generator</a:t>
            </a:r>
          </a:p>
        </p:txBody>
      </p:sp>
      <p:graphicFrame>
        <p:nvGraphicFramePr>
          <p:cNvPr id="986" name="Chart 985">
            <a:extLst>
              <a:ext uri="{FF2B5EF4-FFF2-40B4-BE49-F238E27FC236}">
                <a16:creationId xmlns:a16="http://schemas.microsoft.com/office/drawing/2014/main" id="{81D75631-86C0-F25E-130E-A60FA4638C36}"/>
              </a:ext>
            </a:extLst>
          </p:cNvPr>
          <p:cNvGraphicFramePr/>
          <p:nvPr>
            <p:custDataLst>
              <p:tags r:id="rId2"/>
            </p:custDataLst>
          </p:nvPr>
        </p:nvGraphicFramePr>
        <p:xfrm>
          <a:off x="1046163" y="1077913"/>
          <a:ext cx="10064750" cy="2587625"/>
        </p:xfrm>
        <a:graphic>
          <a:graphicData uri="http://schemas.openxmlformats.org/drawingml/2006/chart">
            <c:chart xmlns:c="http://schemas.openxmlformats.org/drawingml/2006/chart" xmlns:r="http://schemas.openxmlformats.org/officeDocument/2006/relationships" r:id="rId47"/>
          </a:graphicData>
        </a:graphic>
      </p:graphicFrame>
      <p:cxnSp>
        <p:nvCxnSpPr>
          <p:cNvPr id="711" name="Straight Connector 710">
            <a:extLst>
              <a:ext uri="{FF2B5EF4-FFF2-40B4-BE49-F238E27FC236}">
                <a16:creationId xmlns:a16="http://schemas.microsoft.com/office/drawing/2014/main" id="{64681F22-9A49-DEB0-7A61-0DFFB4671E3D}"/>
              </a:ext>
            </a:extLst>
          </p:cNvPr>
          <p:cNvCxnSpPr>
            <a:cxnSpLocks/>
          </p:cNvCxnSpPr>
          <p:nvPr>
            <p:custDataLst>
              <p:tags r:id="rId3"/>
            </p:custDataLst>
          </p:nvPr>
        </p:nvCxnSpPr>
        <p:spPr bwMode="auto">
          <a:xfrm flipH="1">
            <a:off x="1860550" y="1393825"/>
            <a:ext cx="14288" cy="1682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12" name="Straight Connector 711">
            <a:extLst>
              <a:ext uri="{FF2B5EF4-FFF2-40B4-BE49-F238E27FC236}">
                <a16:creationId xmlns:a16="http://schemas.microsoft.com/office/drawing/2014/main" id="{27CB0E7B-63E2-7D7F-9DE0-6161563FCCC7}"/>
              </a:ext>
            </a:extLst>
          </p:cNvPr>
          <p:cNvCxnSpPr>
            <a:cxnSpLocks/>
          </p:cNvCxnSpPr>
          <p:nvPr>
            <p:custDataLst>
              <p:tags r:id="rId4"/>
            </p:custDataLst>
          </p:nvPr>
        </p:nvCxnSpPr>
        <p:spPr bwMode="auto">
          <a:xfrm flipH="1">
            <a:off x="2516188" y="1947863"/>
            <a:ext cx="236538" cy="1555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25" name="Straight Connector 924">
            <a:extLst>
              <a:ext uri="{FF2B5EF4-FFF2-40B4-BE49-F238E27FC236}">
                <a16:creationId xmlns:a16="http://schemas.microsoft.com/office/drawing/2014/main" id="{3DE41426-F51E-5A62-A17E-AEFC4905B0FB}"/>
              </a:ext>
            </a:extLst>
          </p:cNvPr>
          <p:cNvCxnSpPr/>
          <p:nvPr>
            <p:custDataLst>
              <p:tags r:id="rId5"/>
            </p:custDataLst>
          </p:nvPr>
        </p:nvCxnSpPr>
        <p:spPr bwMode="auto">
          <a:xfrm flipH="1">
            <a:off x="4297363" y="2979738"/>
            <a:ext cx="141288" cy="1555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42" name="Straight Connector 941">
            <a:extLst>
              <a:ext uri="{FF2B5EF4-FFF2-40B4-BE49-F238E27FC236}">
                <a16:creationId xmlns:a16="http://schemas.microsoft.com/office/drawing/2014/main" id="{AF03F392-4B5C-BAF0-E4E4-4C11A836525D}"/>
              </a:ext>
            </a:extLst>
          </p:cNvPr>
          <p:cNvCxnSpPr/>
          <p:nvPr>
            <p:custDataLst>
              <p:tags r:id="rId6"/>
            </p:custDataLst>
          </p:nvPr>
        </p:nvCxnSpPr>
        <p:spPr bwMode="auto">
          <a:xfrm flipH="1">
            <a:off x="3225800" y="2441575"/>
            <a:ext cx="168275" cy="173038"/>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51" name="Straight Connector 950">
            <a:extLst>
              <a:ext uri="{FF2B5EF4-FFF2-40B4-BE49-F238E27FC236}">
                <a16:creationId xmlns:a16="http://schemas.microsoft.com/office/drawing/2014/main" id="{76C8607E-3DC1-314F-5557-7BD8DC5F120A}"/>
              </a:ext>
            </a:extLst>
          </p:cNvPr>
          <p:cNvCxnSpPr/>
          <p:nvPr>
            <p:custDataLst>
              <p:tags r:id="rId7"/>
            </p:custDataLst>
          </p:nvPr>
        </p:nvCxnSpPr>
        <p:spPr bwMode="auto">
          <a:xfrm flipH="1" flipV="1">
            <a:off x="1131888" y="1716088"/>
            <a:ext cx="119063" cy="52388"/>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52" name="Straight Connector 951">
            <a:extLst>
              <a:ext uri="{FF2B5EF4-FFF2-40B4-BE49-F238E27FC236}">
                <a16:creationId xmlns:a16="http://schemas.microsoft.com/office/drawing/2014/main" id="{8DFA8F56-73B5-53EF-5120-39E9935FB65C}"/>
              </a:ext>
            </a:extLst>
          </p:cNvPr>
          <p:cNvCxnSpPr/>
          <p:nvPr>
            <p:custDataLst>
              <p:tags r:id="rId8"/>
            </p:custDataLst>
          </p:nvPr>
        </p:nvCxnSpPr>
        <p:spPr bwMode="auto">
          <a:xfrm flipH="1" flipV="1">
            <a:off x="1362075" y="1716088"/>
            <a:ext cx="82550" cy="52388"/>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53" name="Straight Connector 952">
            <a:extLst>
              <a:ext uri="{FF2B5EF4-FFF2-40B4-BE49-F238E27FC236}">
                <a16:creationId xmlns:a16="http://schemas.microsoft.com/office/drawing/2014/main" id="{26CC618F-6CA5-D5E0-847A-D24CBB23FE6D}"/>
              </a:ext>
            </a:extLst>
          </p:cNvPr>
          <p:cNvCxnSpPr/>
          <p:nvPr>
            <p:custDataLst>
              <p:tags r:id="rId9"/>
            </p:custDataLst>
          </p:nvPr>
        </p:nvCxnSpPr>
        <p:spPr bwMode="auto">
          <a:xfrm flipH="1" flipV="1">
            <a:off x="1135063" y="2236788"/>
            <a:ext cx="77788" cy="52388"/>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54" name="Straight Connector 953">
            <a:extLst>
              <a:ext uri="{FF2B5EF4-FFF2-40B4-BE49-F238E27FC236}">
                <a16:creationId xmlns:a16="http://schemas.microsoft.com/office/drawing/2014/main" id="{3974FC87-2326-AC05-0205-516292814E10}"/>
              </a:ext>
            </a:extLst>
          </p:cNvPr>
          <p:cNvCxnSpPr/>
          <p:nvPr>
            <p:custDataLst>
              <p:tags r:id="rId10"/>
            </p:custDataLst>
          </p:nvPr>
        </p:nvCxnSpPr>
        <p:spPr bwMode="auto">
          <a:xfrm flipH="1" flipV="1">
            <a:off x="1135063" y="2755900"/>
            <a:ext cx="77788" cy="52388"/>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55" name="Straight Connector 954">
            <a:extLst>
              <a:ext uri="{FF2B5EF4-FFF2-40B4-BE49-F238E27FC236}">
                <a16:creationId xmlns:a16="http://schemas.microsoft.com/office/drawing/2014/main" id="{58F0A5C8-DBB3-837D-DD5D-B3B1C55252CF}"/>
              </a:ext>
            </a:extLst>
          </p:cNvPr>
          <p:cNvCxnSpPr/>
          <p:nvPr>
            <p:custDataLst>
              <p:tags r:id="rId11"/>
            </p:custDataLst>
          </p:nvPr>
        </p:nvCxnSpPr>
        <p:spPr bwMode="auto">
          <a:xfrm flipH="1" flipV="1">
            <a:off x="1135063" y="3276600"/>
            <a:ext cx="77788" cy="52388"/>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87" name="Text Placeholder 18">
            <a:extLst>
              <a:ext uri="{FF2B5EF4-FFF2-40B4-BE49-F238E27FC236}">
                <a16:creationId xmlns:a16="http://schemas.microsoft.com/office/drawing/2014/main" id="{AFE2D869-C787-501B-CAD6-3E9FFF212BC4}"/>
              </a:ext>
            </a:extLst>
          </p:cNvPr>
          <p:cNvSpPr>
            <a:spLocks noGrp="1"/>
          </p:cNvSpPr>
          <p:nvPr>
            <p:custDataLst>
              <p:tags r:id="rId12"/>
            </p:custDataLst>
          </p:nvPr>
        </p:nvSpPr>
        <p:spPr bwMode="auto">
          <a:xfrm>
            <a:off x="628650" y="1527175"/>
            <a:ext cx="298450"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r">
              <a:spcBef>
                <a:spcPct val="0"/>
              </a:spcBef>
              <a:spcAft>
                <a:spcPct val="0"/>
              </a:spcAft>
            </a:pPr>
            <a:fld id="{1F87763B-3428-400E-A920-6EE3F72B8FE0}" type="datetime'''''''''20''''''''''''''''2''''''''''5'''''''''">
              <a:rPr lang="en-US" altLang="en-US" sz="1050" smtClean="0">
                <a:latin typeface="Arial" panose="020B0604020202020204" pitchFamily="34" charset="0"/>
                <a:cs typeface="Arial" panose="020B0604020202020204" pitchFamily="34" charset="0"/>
                <a:sym typeface="Arial" panose="020B0604020202020204" pitchFamily="34" charset="0"/>
              </a:rPr>
              <a:pPr lvl="0" algn="r">
                <a:spcBef>
                  <a:spcPct val="0"/>
                </a:spcBef>
                <a:spcAft>
                  <a:spcPct val="0"/>
                </a:spcAft>
              </a:pPr>
              <a:t>2025</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123" name="Text Placeholder 18">
            <a:extLst>
              <a:ext uri="{FF2B5EF4-FFF2-40B4-BE49-F238E27FC236}">
                <a16:creationId xmlns:a16="http://schemas.microsoft.com/office/drawing/2014/main" id="{4F8E7701-DFE6-80BE-76D3-6A503875282E}"/>
              </a:ext>
            </a:extLst>
          </p:cNvPr>
          <p:cNvSpPr>
            <a:spLocks noGrp="1"/>
          </p:cNvSpPr>
          <p:nvPr>
            <p:custDataLst>
              <p:tags r:id="rId13"/>
            </p:custDataLst>
          </p:nvPr>
        </p:nvSpPr>
        <p:spPr bwMode="gray">
          <a:xfrm>
            <a:off x="1154113" y="2289175"/>
            <a:ext cx="119063" cy="160338"/>
          </a:xfrm>
          <a:prstGeom prst="rect">
            <a:avLst/>
          </a:prstGeom>
          <a:noFill/>
          <a:ln>
            <a:noFill/>
          </a:ln>
          <a:effectLst/>
          <a:extLst>
            <a:ext uri="{909E8E84-426E-40DD-AFC4-6F175D3DCCD1}">
              <a14:hiddenFill xmlns:a14="http://schemas.microsoft.com/office/drawing/2010/main">
                <a:solidFill>
                  <a:srgbClr val="43B02A"/>
                </a:solidFill>
              </a14:hiddenFill>
            </a:ext>
          </a:extLst>
        </p:spPr>
        <p:txBody>
          <a:bodyPr vert="horz" wrap="none" lIns="22225" tIns="0" rIns="22225"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BEE4712-C679-48E9-B218-5BB08C0CF7A0}" type="datetime'''''''''''''''''''''''''''''''''''''''6'''''''''''">
              <a:rPr lang="en-US" altLang="en-US" sz="1050"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6</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488" name="Text Placeholder 18">
            <a:extLst>
              <a:ext uri="{FF2B5EF4-FFF2-40B4-BE49-F238E27FC236}">
                <a16:creationId xmlns:a16="http://schemas.microsoft.com/office/drawing/2014/main" id="{EBB8446D-F98E-E9CC-CD39-281CA63551D9}"/>
              </a:ext>
            </a:extLst>
          </p:cNvPr>
          <p:cNvSpPr>
            <a:spLocks noGrp="1"/>
          </p:cNvSpPr>
          <p:nvPr>
            <p:custDataLst>
              <p:tags r:id="rId14"/>
            </p:custDataLst>
          </p:nvPr>
        </p:nvSpPr>
        <p:spPr bwMode="auto">
          <a:xfrm>
            <a:off x="628650" y="2047875"/>
            <a:ext cx="298450"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r">
              <a:spcBef>
                <a:spcPct val="0"/>
              </a:spcBef>
              <a:spcAft>
                <a:spcPct val="0"/>
              </a:spcAft>
            </a:pPr>
            <a:fld id="{E0B04696-67EC-42FF-8750-90F7880206DE}" type="datetime'''''''''''''''''''''2''0''''''''''3''''''''''''''''''0'''">
              <a:rPr lang="en-US" altLang="en-US" sz="1050" smtClean="0">
                <a:latin typeface="Arial" panose="020B0604020202020204" pitchFamily="34" charset="0"/>
                <a:cs typeface="Arial" panose="020B0604020202020204" pitchFamily="34" charset="0"/>
                <a:sym typeface="Arial" panose="020B0604020202020204" pitchFamily="34" charset="0"/>
              </a:rPr>
              <a:pPr lvl="0" algn="r">
                <a:spcBef>
                  <a:spcPct val="0"/>
                </a:spcBef>
                <a:spcAft>
                  <a:spcPct val="0"/>
                </a:spcAft>
              </a:pPr>
              <a:t>2030</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520" name="Text Placeholder 18">
            <a:extLst>
              <a:ext uri="{FF2B5EF4-FFF2-40B4-BE49-F238E27FC236}">
                <a16:creationId xmlns:a16="http://schemas.microsoft.com/office/drawing/2014/main" id="{36525D93-28F1-1AA8-D2B6-58A5F16257F2}"/>
              </a:ext>
            </a:extLst>
          </p:cNvPr>
          <p:cNvSpPr>
            <a:spLocks noGrp="1"/>
          </p:cNvSpPr>
          <p:nvPr>
            <p:custDataLst>
              <p:tags r:id="rId15"/>
            </p:custDataLst>
          </p:nvPr>
        </p:nvSpPr>
        <p:spPr bwMode="gray">
          <a:xfrm>
            <a:off x="1154113" y="2808288"/>
            <a:ext cx="119063" cy="160338"/>
          </a:xfrm>
          <a:prstGeom prst="rect">
            <a:avLst/>
          </a:prstGeom>
          <a:noFill/>
          <a:ln>
            <a:noFill/>
          </a:ln>
          <a:effectLst/>
          <a:extLst>
            <a:ext uri="{909E8E84-426E-40DD-AFC4-6F175D3DCCD1}">
              <a14:hiddenFill xmlns:a14="http://schemas.microsoft.com/office/drawing/2010/main">
                <a:solidFill>
                  <a:srgbClr val="43B02A"/>
                </a:solidFill>
              </a14:hiddenFill>
            </a:ext>
          </a:extLst>
        </p:spPr>
        <p:txBody>
          <a:bodyPr vert="horz" wrap="none" lIns="22225" tIns="0" rIns="22225"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F6BC7BEA-15E2-44C4-B48A-971F514AB575}" type="datetime'''''''''''''''''''''''''''''''''6'">
              <a:rPr lang="en-US" altLang="en-US" sz="1050" smtClean="0">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6</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511" name="Text Placeholder 18">
            <a:extLst>
              <a:ext uri="{FF2B5EF4-FFF2-40B4-BE49-F238E27FC236}">
                <a16:creationId xmlns:a16="http://schemas.microsoft.com/office/drawing/2014/main" id="{9864DD44-D658-A746-DF09-EB1ACD7E6D61}"/>
              </a:ext>
            </a:extLst>
          </p:cNvPr>
          <p:cNvSpPr>
            <a:spLocks noGrp="1"/>
          </p:cNvSpPr>
          <p:nvPr>
            <p:custDataLst>
              <p:tags r:id="rId16"/>
            </p:custDataLst>
          </p:nvPr>
        </p:nvSpPr>
        <p:spPr bwMode="auto">
          <a:xfrm>
            <a:off x="628650" y="2568575"/>
            <a:ext cx="298450"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r">
              <a:spcBef>
                <a:spcPct val="0"/>
              </a:spcBef>
              <a:spcAft>
                <a:spcPct val="0"/>
              </a:spcAft>
            </a:pPr>
            <a:fld id="{4F031CFC-2607-4121-B366-2E796E9ECBC8}" type="datetime'''2''''0''''''''''''''''''''3''''''5'''''''''''">
              <a:rPr lang="en-US" altLang="en-US" sz="1050" smtClean="0">
                <a:latin typeface="Arial" panose="020B0604020202020204" pitchFamily="34" charset="0"/>
                <a:cs typeface="Arial" panose="020B0604020202020204" pitchFamily="34" charset="0"/>
                <a:sym typeface="Arial" panose="020B0604020202020204" pitchFamily="34" charset="0"/>
              </a:rPr>
              <a:pPr lvl="0" algn="r">
                <a:spcBef>
                  <a:spcPct val="0"/>
                </a:spcBef>
                <a:spcAft>
                  <a:spcPct val="0"/>
                </a:spcAft>
              </a:pPr>
              <a:t>2035</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521" name="Text Placeholder 18">
            <a:extLst>
              <a:ext uri="{FF2B5EF4-FFF2-40B4-BE49-F238E27FC236}">
                <a16:creationId xmlns:a16="http://schemas.microsoft.com/office/drawing/2014/main" id="{8AB22E91-0C52-28FE-0764-6441EB8CBA3D}"/>
              </a:ext>
            </a:extLst>
          </p:cNvPr>
          <p:cNvSpPr>
            <a:spLocks noGrp="1"/>
          </p:cNvSpPr>
          <p:nvPr>
            <p:custDataLst>
              <p:tags r:id="rId17"/>
            </p:custDataLst>
          </p:nvPr>
        </p:nvSpPr>
        <p:spPr bwMode="gray">
          <a:xfrm>
            <a:off x="1154113" y="3328988"/>
            <a:ext cx="119063" cy="160338"/>
          </a:xfrm>
          <a:prstGeom prst="rect">
            <a:avLst/>
          </a:prstGeom>
          <a:noFill/>
          <a:ln>
            <a:noFill/>
          </a:ln>
          <a:effectLst/>
          <a:extLst>
            <a:ext uri="{909E8E84-426E-40DD-AFC4-6F175D3DCCD1}">
              <a14:hiddenFill xmlns:a14="http://schemas.microsoft.com/office/drawing/2010/main">
                <a:solidFill>
                  <a:srgbClr val="43B02A"/>
                </a:solidFill>
              </a14:hiddenFill>
            </a:ext>
          </a:extLst>
        </p:spPr>
        <p:txBody>
          <a:bodyPr vert="horz" wrap="none" lIns="22225" tIns="0" rIns="22225"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EE09B5E-8A3B-4F50-BA20-A41E5E6FF397}" type="datetime'''''''''''''''''''''''''''''6'''''">
              <a:rPr lang="en-US" altLang="en-US" sz="1050" smtClean="0">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6</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525" name="Text Placeholder 18">
            <a:extLst>
              <a:ext uri="{FF2B5EF4-FFF2-40B4-BE49-F238E27FC236}">
                <a16:creationId xmlns:a16="http://schemas.microsoft.com/office/drawing/2014/main" id="{22057521-0620-B5B5-DCCE-4D01FF61961A}"/>
              </a:ext>
            </a:extLst>
          </p:cNvPr>
          <p:cNvSpPr>
            <a:spLocks noGrp="1"/>
          </p:cNvSpPr>
          <p:nvPr>
            <p:custDataLst>
              <p:tags r:id="rId18"/>
            </p:custDataLst>
          </p:nvPr>
        </p:nvSpPr>
        <p:spPr bwMode="gray">
          <a:xfrm>
            <a:off x="1035050" y="3087688"/>
            <a:ext cx="193675" cy="160338"/>
          </a:xfrm>
          <a:prstGeom prst="rect">
            <a:avLst/>
          </a:prstGeom>
          <a:solidFill>
            <a:srgbClr val="046A38"/>
          </a:solidFill>
          <a:ln>
            <a:noFill/>
          </a:ln>
          <a:effectLst/>
        </p:spPr>
        <p:txBody>
          <a:bodyPr vert="horz" wrap="none" lIns="22225" tIns="0" rIns="22225"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5EAD0E2-6304-4BCC-98CF-5AA40859610E}" type="datetime'''''''''''2''1'''''''''''''''''''''''''''''''''''">
              <a:rPr lang="en-US" altLang="en-US" sz="1050" smtClean="0">
                <a:solidFill>
                  <a:schemeClr val="bg1"/>
                </a:solidFill>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21</a:t>
            </a:fld>
            <a:endParaRPr lang="en-US" sz="1050" noProof="0">
              <a:solidFill>
                <a:schemeClr val="bg1"/>
              </a:solidFill>
              <a:latin typeface="Arial" panose="020B0604020202020204" pitchFamily="34" charset="0"/>
              <a:cs typeface="Arial" panose="020B0604020202020204" pitchFamily="34" charset="0"/>
              <a:sym typeface="Arial" panose="020B0604020202020204" pitchFamily="34" charset="0"/>
            </a:endParaRPr>
          </a:p>
        </p:txBody>
      </p:sp>
      <p:sp>
        <p:nvSpPr>
          <p:cNvPr id="66" name="Text Placeholder 18">
            <a:extLst>
              <a:ext uri="{FF2B5EF4-FFF2-40B4-BE49-F238E27FC236}">
                <a16:creationId xmlns:a16="http://schemas.microsoft.com/office/drawing/2014/main" id="{BBF7F916-D676-0F6F-B7B6-CD6D60FDC823}"/>
              </a:ext>
            </a:extLst>
          </p:cNvPr>
          <p:cNvSpPr>
            <a:spLocks noGrp="1"/>
          </p:cNvSpPr>
          <p:nvPr>
            <p:custDataLst>
              <p:tags r:id="rId19"/>
            </p:custDataLst>
          </p:nvPr>
        </p:nvSpPr>
        <p:spPr bwMode="auto">
          <a:xfrm>
            <a:off x="628650" y="3087688"/>
            <a:ext cx="298450"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r">
              <a:spcBef>
                <a:spcPct val="0"/>
              </a:spcBef>
              <a:spcAft>
                <a:spcPct val="0"/>
              </a:spcAft>
            </a:pPr>
            <a:fld id="{FE07AB94-1AC9-4DE3-A7DB-1EF5D09362EB}" type="datetime'2''''''''''''''''''''''''''0''''''''4''''''''''''''0'''">
              <a:rPr lang="en-US" altLang="en-US" sz="1050" smtClean="0">
                <a:latin typeface="Arial" panose="020B0604020202020204" pitchFamily="34" charset="0"/>
                <a:cs typeface="Arial" panose="020B0604020202020204" pitchFamily="34" charset="0"/>
                <a:sym typeface="Arial" panose="020B0604020202020204" pitchFamily="34" charset="0"/>
              </a:rPr>
              <a:pPr lvl="0" algn="r">
                <a:spcBef>
                  <a:spcPct val="0"/>
                </a:spcBef>
                <a:spcAft>
                  <a:spcPct val="0"/>
                </a:spcAft>
              </a:pPr>
              <a:t>2040</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491" name="Text Placeholder 18">
            <a:extLst>
              <a:ext uri="{FF2B5EF4-FFF2-40B4-BE49-F238E27FC236}">
                <a16:creationId xmlns:a16="http://schemas.microsoft.com/office/drawing/2014/main" id="{767C18D5-010B-0CC8-6B0F-4D637D1192CE}"/>
              </a:ext>
            </a:extLst>
          </p:cNvPr>
          <p:cNvSpPr>
            <a:spLocks noGrp="1"/>
          </p:cNvSpPr>
          <p:nvPr>
            <p:custDataLst>
              <p:tags r:id="rId20"/>
            </p:custDataLst>
          </p:nvPr>
        </p:nvSpPr>
        <p:spPr bwMode="gray">
          <a:xfrm>
            <a:off x="2868613" y="1527175"/>
            <a:ext cx="379413" cy="1603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2225" tIns="0" rIns="22225"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866BC082-90AF-4366-B4E4-3084C31211D3}" type="datetime'''''''''''''6,''''2''''''''8''''''''''''9'">
              <a:rPr lang="en-US" altLang="en-US" sz="105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6,289</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492" name="Text Placeholder 18">
            <a:extLst>
              <a:ext uri="{FF2B5EF4-FFF2-40B4-BE49-F238E27FC236}">
                <a16:creationId xmlns:a16="http://schemas.microsoft.com/office/drawing/2014/main" id="{B0917ECD-46BE-C8E6-E1D2-C42B087FEA6B}"/>
              </a:ext>
            </a:extLst>
          </p:cNvPr>
          <p:cNvSpPr>
            <a:spLocks noGrp="1"/>
          </p:cNvSpPr>
          <p:nvPr>
            <p:custDataLst>
              <p:tags r:id="rId21"/>
            </p:custDataLst>
          </p:nvPr>
        </p:nvSpPr>
        <p:spPr bwMode="gray">
          <a:xfrm>
            <a:off x="5118100" y="2047875"/>
            <a:ext cx="454025" cy="1603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2225" tIns="0" rIns="22225"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728C9FB7-1CD3-4699-B26C-2AAB1A206493}" type="datetime'''''1''4'''''''''''''''''''',''5''''''''''''''''''''4''''6'">
              <a:rPr lang="en-US" altLang="en-US" sz="105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14,546</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524" name="Text Placeholder 18">
            <a:extLst>
              <a:ext uri="{FF2B5EF4-FFF2-40B4-BE49-F238E27FC236}">
                <a16:creationId xmlns:a16="http://schemas.microsoft.com/office/drawing/2014/main" id="{77B02244-62D1-06F5-4733-531EB0485A89}"/>
              </a:ext>
            </a:extLst>
          </p:cNvPr>
          <p:cNvSpPr>
            <a:spLocks noGrp="1"/>
          </p:cNvSpPr>
          <p:nvPr>
            <p:custDataLst>
              <p:tags r:id="rId22"/>
            </p:custDataLst>
          </p:nvPr>
        </p:nvSpPr>
        <p:spPr bwMode="gray">
          <a:xfrm>
            <a:off x="8842375" y="2568575"/>
            <a:ext cx="454025"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E86FD420-96DA-4C39-B861-5D6F168DA8BF}" type="datetime'''''''2''''''''''8'''''''''''',''''21''5'">
              <a:rPr lang="en-US" altLang="en-US" sz="105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28,215</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526" name="Text Placeholder 18">
            <a:extLst>
              <a:ext uri="{FF2B5EF4-FFF2-40B4-BE49-F238E27FC236}">
                <a16:creationId xmlns:a16="http://schemas.microsoft.com/office/drawing/2014/main" id="{73340A7C-CB0F-78E4-2AFD-4E0534501FD5}"/>
              </a:ext>
            </a:extLst>
          </p:cNvPr>
          <p:cNvSpPr>
            <a:spLocks noGrp="1"/>
          </p:cNvSpPr>
          <p:nvPr>
            <p:custDataLst>
              <p:tags r:id="rId23"/>
            </p:custDataLst>
          </p:nvPr>
        </p:nvSpPr>
        <p:spPr bwMode="gray">
          <a:xfrm>
            <a:off x="11053763" y="3087688"/>
            <a:ext cx="454025" cy="1603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2225" tIns="0" rIns="22225"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E0B65614-FE26-4D49-9437-663DA0B9D284}" type="datetime'36'''',''''''''''''''''''''''''''''''32''''''''''''''7'">
              <a:rPr lang="en-US" altLang="en-US" sz="105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36,327</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924" name="Text Placeholder 18">
            <a:extLst>
              <a:ext uri="{FF2B5EF4-FFF2-40B4-BE49-F238E27FC236}">
                <a16:creationId xmlns:a16="http://schemas.microsoft.com/office/drawing/2014/main" id="{805E8700-65E0-E5AB-814E-5B39FB969DFD}"/>
              </a:ext>
            </a:extLst>
          </p:cNvPr>
          <p:cNvSpPr>
            <a:spLocks noGrp="1"/>
          </p:cNvSpPr>
          <p:nvPr>
            <p:custDataLst>
              <p:tags r:id="rId24"/>
            </p:custDataLst>
          </p:nvPr>
        </p:nvSpPr>
        <p:spPr bwMode="gray">
          <a:xfrm>
            <a:off x="2260600" y="2047875"/>
            <a:ext cx="379413" cy="160338"/>
          </a:xfrm>
          <a:prstGeom prst="rect">
            <a:avLst/>
          </a:prstGeom>
          <a:solidFill>
            <a:srgbClr val="00A3E0"/>
          </a:solidFill>
          <a:ln>
            <a:noFill/>
          </a:ln>
          <a:effectLst/>
        </p:spPr>
        <p:txBody>
          <a:bodyPr vert="horz" wrap="none" lIns="22225" tIns="0" rIns="22225"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C50EB75-3BC2-48CC-BA1B-25A19529F955}" type="datetime'''3'''''''',''''''7''''''''''''1''''''''''2'''''">
              <a:rPr lang="en-US" altLang="en-US" sz="1050" smtClean="0">
                <a:effectLst/>
                <a:latin typeface="Arial" panose="020B0604020202020204" pitchFamily="34" charset="0"/>
                <a:cs typeface="+mn-cs"/>
                <a:sym typeface="Arial" panose="020B0604020202020204" pitchFamily="34" charset="0"/>
              </a:rPr>
              <a:pPr lvl="0" algn="ctr">
                <a:spcBef>
                  <a:spcPct val="0"/>
                </a:spcBef>
                <a:spcAft>
                  <a:spcPct val="0"/>
                </a:spcAft>
              </a:pPr>
              <a:t>3,712</a:t>
            </a:fld>
            <a:endParaRPr lang="en-US" sz="1050" noProof="0">
              <a:latin typeface="Arial" panose="020B0604020202020204" pitchFamily="34" charset="0"/>
              <a:cs typeface="+mn-cs"/>
              <a:sym typeface="Arial" panose="020B0604020202020204" pitchFamily="34" charset="0"/>
            </a:endParaRPr>
          </a:p>
        </p:txBody>
      </p:sp>
      <p:sp>
        <p:nvSpPr>
          <p:cNvPr id="929" name="Text Placeholder 18">
            <a:extLst>
              <a:ext uri="{FF2B5EF4-FFF2-40B4-BE49-F238E27FC236}">
                <a16:creationId xmlns:a16="http://schemas.microsoft.com/office/drawing/2014/main" id="{9CF93C64-50F2-713A-513A-5B847EC2470A}"/>
              </a:ext>
            </a:extLst>
          </p:cNvPr>
          <p:cNvSpPr>
            <a:spLocks noGrp="1"/>
          </p:cNvSpPr>
          <p:nvPr>
            <p:custDataLst>
              <p:tags r:id="rId25"/>
            </p:custDataLst>
          </p:nvPr>
        </p:nvSpPr>
        <p:spPr bwMode="gray">
          <a:xfrm>
            <a:off x="1703388" y="2047875"/>
            <a:ext cx="268288" cy="160338"/>
          </a:xfrm>
          <a:prstGeom prst="rect">
            <a:avLst/>
          </a:prstGeom>
          <a:solidFill>
            <a:srgbClr val="012169"/>
          </a:solidFill>
          <a:ln>
            <a:noFill/>
          </a:ln>
          <a:effectLst/>
        </p:spPr>
        <p:txBody>
          <a:bodyPr vert="horz" wrap="none" lIns="22225" tIns="0" rIns="22225"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F2FE9C2-D506-480D-8ACA-98B88D8D7ED6}" type="datetime'7''''''8''''''''''''''''''''''''''''''''1'''''''''''''">
              <a:rPr lang="en-US" altLang="en-US" sz="105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781</a:t>
            </a:fld>
            <a:endParaRPr lang="en-US" sz="1050" noProof="0">
              <a:solidFill>
                <a:schemeClr val="bg1"/>
              </a:solidFill>
              <a:latin typeface="Arial" panose="020B0604020202020204" pitchFamily="34" charset="0"/>
              <a:cs typeface="+mn-cs"/>
              <a:sym typeface="Arial" panose="020B0604020202020204" pitchFamily="34" charset="0"/>
            </a:endParaRPr>
          </a:p>
        </p:txBody>
      </p:sp>
      <p:sp>
        <p:nvSpPr>
          <p:cNvPr id="931" name="Text Placeholder 18">
            <a:extLst>
              <a:ext uri="{FF2B5EF4-FFF2-40B4-BE49-F238E27FC236}">
                <a16:creationId xmlns:a16="http://schemas.microsoft.com/office/drawing/2014/main" id="{7E3825E2-08F1-6993-325B-A73298F28407}"/>
              </a:ext>
            </a:extLst>
          </p:cNvPr>
          <p:cNvSpPr>
            <a:spLocks noGrp="1"/>
          </p:cNvSpPr>
          <p:nvPr>
            <p:custDataLst>
              <p:tags r:id="rId26"/>
            </p:custDataLst>
          </p:nvPr>
        </p:nvSpPr>
        <p:spPr bwMode="gray">
          <a:xfrm>
            <a:off x="1035050" y="2568575"/>
            <a:ext cx="193675" cy="160338"/>
          </a:xfrm>
          <a:prstGeom prst="rect">
            <a:avLst/>
          </a:prstGeom>
          <a:solidFill>
            <a:srgbClr val="046A38"/>
          </a:solidFill>
          <a:ln>
            <a:noFill/>
          </a:ln>
          <a:effectLst/>
        </p:spPr>
        <p:txBody>
          <a:bodyPr vert="horz" wrap="none" lIns="22225" tIns="0" rIns="22225"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5E79D06-627F-4F44-8C53-5C545642C75D}" type="datetime'''21'''''''''''''''''''''''''''''''''''''''''''''''''''''''''">
              <a:rPr lang="en-US" altLang="en-US" sz="105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21</a:t>
            </a:fld>
            <a:endParaRPr lang="en-US" sz="1050" noProof="0">
              <a:solidFill>
                <a:schemeClr val="bg1"/>
              </a:solidFill>
              <a:latin typeface="Arial" panose="020B0604020202020204" pitchFamily="34" charset="0"/>
              <a:cs typeface="+mn-cs"/>
              <a:sym typeface="Arial" panose="020B0604020202020204" pitchFamily="34" charset="0"/>
            </a:endParaRPr>
          </a:p>
        </p:txBody>
      </p:sp>
      <p:sp>
        <p:nvSpPr>
          <p:cNvPr id="939" name="Text Placeholder 18">
            <a:extLst>
              <a:ext uri="{FF2B5EF4-FFF2-40B4-BE49-F238E27FC236}">
                <a16:creationId xmlns:a16="http://schemas.microsoft.com/office/drawing/2014/main" id="{7B6C89E3-C752-A8A0-6192-527046F9B64B}"/>
              </a:ext>
            </a:extLst>
          </p:cNvPr>
          <p:cNvSpPr>
            <a:spLocks noGrp="1"/>
          </p:cNvSpPr>
          <p:nvPr>
            <p:custDataLst>
              <p:tags r:id="rId27"/>
            </p:custDataLst>
          </p:nvPr>
        </p:nvSpPr>
        <p:spPr bwMode="gray">
          <a:xfrm>
            <a:off x="1035050" y="2047875"/>
            <a:ext cx="193675" cy="160338"/>
          </a:xfrm>
          <a:prstGeom prst="rect">
            <a:avLst/>
          </a:prstGeom>
          <a:solidFill>
            <a:srgbClr val="046A38"/>
          </a:solidFill>
          <a:ln>
            <a:noFill/>
          </a:ln>
          <a:effectLst/>
        </p:spPr>
        <p:txBody>
          <a:bodyPr vert="horz" wrap="none" lIns="22225" tIns="0" rIns="22225"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043DB544-E1C8-4286-9340-5FD7E537DDC2}" type="datetime'''''''''''''''2''1'''">
              <a:rPr lang="en-US" altLang="en-US" sz="105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21</a:t>
            </a:fld>
            <a:endParaRPr lang="en-US" sz="1050" noProof="0">
              <a:solidFill>
                <a:schemeClr val="bg1"/>
              </a:solidFill>
              <a:latin typeface="Arial" panose="020B0604020202020204" pitchFamily="34" charset="0"/>
              <a:cs typeface="+mn-cs"/>
              <a:sym typeface="Arial" panose="020B0604020202020204" pitchFamily="34" charset="0"/>
            </a:endParaRPr>
          </a:p>
        </p:txBody>
      </p:sp>
      <p:cxnSp>
        <p:nvCxnSpPr>
          <p:cNvPr id="496" name="Straight Connector 495">
            <a:extLst>
              <a:ext uri="{FF2B5EF4-FFF2-40B4-BE49-F238E27FC236}">
                <a16:creationId xmlns:a16="http://schemas.microsoft.com/office/drawing/2014/main" id="{8EC1360D-C804-4269-CF31-7CA1B830151D}"/>
              </a:ext>
            </a:extLst>
          </p:cNvPr>
          <p:cNvCxnSpPr/>
          <p:nvPr>
            <p:custDataLst>
              <p:tags r:id="rId28"/>
            </p:custDataLst>
          </p:nvPr>
        </p:nvCxnSpPr>
        <p:spPr bwMode="gray">
          <a:xfrm>
            <a:off x="7445376" y="1638300"/>
            <a:ext cx="206375" cy="0"/>
          </a:xfrm>
          <a:prstGeom prst="line">
            <a:avLst/>
          </a:prstGeom>
          <a:ln w="28575" cap="rnd" cmpd="sng" algn="ctr">
            <a:solidFill>
              <a:srgbClr val="F94D2E"/>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97" name="Rectangle 496">
            <a:extLst>
              <a:ext uri="{FF2B5EF4-FFF2-40B4-BE49-F238E27FC236}">
                <a16:creationId xmlns:a16="http://schemas.microsoft.com/office/drawing/2014/main" id="{D59B3F36-54B7-BFA7-FDEE-4447E9580094}"/>
              </a:ext>
            </a:extLst>
          </p:cNvPr>
          <p:cNvSpPr/>
          <p:nvPr>
            <p:custDataLst>
              <p:tags r:id="rId29"/>
            </p:custDataLst>
          </p:nvPr>
        </p:nvSpPr>
        <p:spPr bwMode="auto">
          <a:xfrm>
            <a:off x="7478713" y="1779588"/>
            <a:ext cx="187325" cy="139700"/>
          </a:xfrm>
          <a:prstGeom prst="rect">
            <a:avLst/>
          </a:prstGeom>
          <a:solidFill>
            <a:srgbClr val="A0DCFF"/>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98" name="Rectangle 497">
            <a:extLst>
              <a:ext uri="{FF2B5EF4-FFF2-40B4-BE49-F238E27FC236}">
                <a16:creationId xmlns:a16="http://schemas.microsoft.com/office/drawing/2014/main" id="{3FF3D11E-9BDE-7A9E-9F1F-3653A2A8F05D}"/>
              </a:ext>
            </a:extLst>
          </p:cNvPr>
          <p:cNvSpPr/>
          <p:nvPr>
            <p:custDataLst>
              <p:tags r:id="rId30"/>
            </p:custDataLst>
          </p:nvPr>
        </p:nvSpPr>
        <p:spPr bwMode="auto">
          <a:xfrm>
            <a:off x="8713788" y="1568450"/>
            <a:ext cx="187325" cy="139700"/>
          </a:xfrm>
          <a:prstGeom prst="rect">
            <a:avLst/>
          </a:prstGeom>
          <a:solidFill>
            <a:srgbClr val="00A3E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91" name="Rectangle 90">
            <a:extLst>
              <a:ext uri="{FF2B5EF4-FFF2-40B4-BE49-F238E27FC236}">
                <a16:creationId xmlns:a16="http://schemas.microsoft.com/office/drawing/2014/main" id="{FF700EE8-7B57-FAE4-3EE0-A36378404682}"/>
              </a:ext>
            </a:extLst>
          </p:cNvPr>
          <p:cNvSpPr/>
          <p:nvPr>
            <p:custDataLst>
              <p:tags r:id="rId31"/>
            </p:custDataLst>
          </p:nvPr>
        </p:nvSpPr>
        <p:spPr bwMode="auto">
          <a:xfrm>
            <a:off x="8713788" y="1779588"/>
            <a:ext cx="187325" cy="139700"/>
          </a:xfrm>
          <a:prstGeom prst="rect">
            <a:avLst/>
          </a:prstGeom>
          <a:solidFill>
            <a:srgbClr val="01216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97" name="Rectangle 96">
            <a:extLst>
              <a:ext uri="{FF2B5EF4-FFF2-40B4-BE49-F238E27FC236}">
                <a16:creationId xmlns:a16="http://schemas.microsoft.com/office/drawing/2014/main" id="{1009FECF-84DC-AC08-A415-6A1DB3285F35}"/>
              </a:ext>
            </a:extLst>
          </p:cNvPr>
          <p:cNvSpPr/>
          <p:nvPr>
            <p:custDataLst>
              <p:tags r:id="rId32"/>
            </p:custDataLst>
          </p:nvPr>
        </p:nvSpPr>
        <p:spPr bwMode="auto">
          <a:xfrm>
            <a:off x="9486900" y="1568450"/>
            <a:ext cx="187325" cy="139700"/>
          </a:xfrm>
          <a:prstGeom prst="rect">
            <a:avLst/>
          </a:prstGeom>
          <a:solidFill>
            <a:srgbClr val="C4D60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05" name="Rectangle 104">
            <a:extLst>
              <a:ext uri="{FF2B5EF4-FFF2-40B4-BE49-F238E27FC236}">
                <a16:creationId xmlns:a16="http://schemas.microsoft.com/office/drawing/2014/main" id="{131EEE84-A5B6-4AFE-DEEF-C611178ACE74}"/>
              </a:ext>
            </a:extLst>
          </p:cNvPr>
          <p:cNvSpPr/>
          <p:nvPr>
            <p:custDataLst>
              <p:tags r:id="rId33"/>
            </p:custDataLst>
          </p:nvPr>
        </p:nvSpPr>
        <p:spPr bwMode="auto">
          <a:xfrm>
            <a:off x="9486900" y="1779588"/>
            <a:ext cx="187325" cy="139700"/>
          </a:xfrm>
          <a:prstGeom prst="rect">
            <a:avLst/>
          </a:prstGeom>
          <a:solidFill>
            <a:srgbClr val="43B02A"/>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08" name="Rectangle 107">
            <a:extLst>
              <a:ext uri="{FF2B5EF4-FFF2-40B4-BE49-F238E27FC236}">
                <a16:creationId xmlns:a16="http://schemas.microsoft.com/office/drawing/2014/main" id="{C9C0A6BD-F6C5-7214-A1F6-4D9966DDC515}"/>
              </a:ext>
            </a:extLst>
          </p:cNvPr>
          <p:cNvSpPr/>
          <p:nvPr>
            <p:custDataLst>
              <p:tags r:id="rId34"/>
            </p:custDataLst>
          </p:nvPr>
        </p:nvSpPr>
        <p:spPr bwMode="auto">
          <a:xfrm>
            <a:off x="10186988" y="1568450"/>
            <a:ext cx="187325" cy="139700"/>
          </a:xfrm>
          <a:prstGeom prst="rect">
            <a:avLst/>
          </a:prstGeom>
          <a:solidFill>
            <a:srgbClr val="046A38"/>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685" name="Diamond 684">
            <a:extLst>
              <a:ext uri="{FF2B5EF4-FFF2-40B4-BE49-F238E27FC236}">
                <a16:creationId xmlns:a16="http://schemas.microsoft.com/office/drawing/2014/main" id="{C0F5052A-268E-7431-12BC-702259DB6163}"/>
              </a:ext>
            </a:extLst>
          </p:cNvPr>
          <p:cNvSpPr/>
          <p:nvPr>
            <p:custDataLst>
              <p:tags r:id="rId35"/>
            </p:custDataLst>
          </p:nvPr>
        </p:nvSpPr>
        <p:spPr bwMode="auto">
          <a:xfrm>
            <a:off x="7529513" y="1619250"/>
            <a:ext cx="38100" cy="38100"/>
          </a:xfrm>
          <a:prstGeom prst="diamond">
            <a:avLst/>
          </a:prstGeom>
          <a:solidFill>
            <a:srgbClr val="F94D2E"/>
          </a:solidFill>
          <a:ln w="9525" cmpd="sng" algn="ctr">
            <a:solidFill>
              <a:srgbClr val="F94D2E"/>
            </a:solid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84" name="Text Placeholder 18">
            <a:extLst>
              <a:ext uri="{FF2B5EF4-FFF2-40B4-BE49-F238E27FC236}">
                <a16:creationId xmlns:a16="http://schemas.microsoft.com/office/drawing/2014/main" id="{D8EB8CE0-74D2-6FED-243E-40D86A7E8C25}"/>
              </a:ext>
            </a:extLst>
          </p:cNvPr>
          <p:cNvSpPr>
            <a:spLocks noGrp="1"/>
          </p:cNvSpPr>
          <p:nvPr>
            <p:custDataLst>
              <p:tags r:id="rId36"/>
            </p:custDataLst>
          </p:nvPr>
        </p:nvSpPr>
        <p:spPr bwMode="auto">
          <a:xfrm>
            <a:off x="7716838" y="1563688"/>
            <a:ext cx="847725"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8935D98E-0C61-41A4-9C05-F81BF2EC498F}" type="datetime'''''''''''''''Pea''k'''''' ''''D''''''''em''''''an''d'''''''">
              <a:rPr lang="en-US" altLang="en-US" sz="105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Peak Demand</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485" name="Text Placeholder 18">
            <a:extLst>
              <a:ext uri="{FF2B5EF4-FFF2-40B4-BE49-F238E27FC236}">
                <a16:creationId xmlns:a16="http://schemas.microsoft.com/office/drawing/2014/main" id="{3D7A9279-6605-F1A5-01AD-1DB851E4481D}"/>
              </a:ext>
            </a:extLst>
          </p:cNvPr>
          <p:cNvSpPr>
            <a:spLocks noGrp="1"/>
          </p:cNvSpPr>
          <p:nvPr>
            <p:custDataLst>
              <p:tags r:id="rId37"/>
            </p:custDataLst>
          </p:nvPr>
        </p:nvSpPr>
        <p:spPr bwMode="auto">
          <a:xfrm>
            <a:off x="7716838" y="1774825"/>
            <a:ext cx="296863"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059544FD-BFEB-41A6-A807-0376BA769E73}" type="datetime'''''R''O''''''''''''''''''''''''''''''''''''''''''''''R'''''">
              <a:rPr lang="en-US" altLang="en-US" sz="105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ROR</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486" name="Text Placeholder 18">
            <a:extLst>
              <a:ext uri="{FF2B5EF4-FFF2-40B4-BE49-F238E27FC236}">
                <a16:creationId xmlns:a16="http://schemas.microsoft.com/office/drawing/2014/main" id="{C386198A-E5E1-5DC8-F459-DB41C1A1A7D0}"/>
              </a:ext>
            </a:extLst>
          </p:cNvPr>
          <p:cNvSpPr>
            <a:spLocks noGrp="1"/>
          </p:cNvSpPr>
          <p:nvPr>
            <p:custDataLst>
              <p:tags r:id="rId38"/>
            </p:custDataLst>
          </p:nvPr>
        </p:nvSpPr>
        <p:spPr bwMode="auto">
          <a:xfrm>
            <a:off x="8951913" y="1563688"/>
            <a:ext cx="385763"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BCAA72B4-86AE-4A64-99FF-C658B8208D97}" type="datetime'''''''''''P''''''''R''''''''''''''O''''R'''''''">
              <a:rPr lang="en-US" altLang="en-US" sz="105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PROR</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86" name="Text Placeholder 18">
            <a:extLst>
              <a:ext uri="{FF2B5EF4-FFF2-40B4-BE49-F238E27FC236}">
                <a16:creationId xmlns:a16="http://schemas.microsoft.com/office/drawing/2014/main" id="{3CB86E16-CA1E-4A00-3C0B-15651B5F0F0C}"/>
              </a:ext>
            </a:extLst>
          </p:cNvPr>
          <p:cNvSpPr>
            <a:spLocks noGrp="1"/>
          </p:cNvSpPr>
          <p:nvPr>
            <p:custDataLst>
              <p:tags r:id="rId39"/>
            </p:custDataLst>
          </p:nvPr>
        </p:nvSpPr>
        <p:spPr bwMode="auto">
          <a:xfrm>
            <a:off x="8951913" y="1774825"/>
            <a:ext cx="273050"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8D25D07B-307F-43D0-9B93-1A773E2F9BB9}" type="datetime'''''''''''''''''''''''''''''''''''''''''''''S''''T''''''O'''">
              <a:rPr lang="en-US" altLang="en-US" sz="105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STO</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92" name="Text Placeholder 18">
            <a:extLst>
              <a:ext uri="{FF2B5EF4-FFF2-40B4-BE49-F238E27FC236}">
                <a16:creationId xmlns:a16="http://schemas.microsoft.com/office/drawing/2014/main" id="{C3A3AD8F-3F76-F5F7-01C5-22120102A381}"/>
              </a:ext>
            </a:extLst>
          </p:cNvPr>
          <p:cNvSpPr>
            <a:spLocks noGrp="1"/>
          </p:cNvSpPr>
          <p:nvPr>
            <p:custDataLst>
              <p:tags r:id="rId40"/>
            </p:custDataLst>
          </p:nvPr>
        </p:nvSpPr>
        <p:spPr bwMode="auto">
          <a:xfrm>
            <a:off x="9725025" y="1563688"/>
            <a:ext cx="312738"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85A5C777-97EA-4108-BF8D-C7C5B28C0289}" type="datetime'S''''''ol''''''''''''a''''''''''''''''''''''''''''''''''r'''">
              <a:rPr lang="en-US" altLang="en-US" sz="105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Solar</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99" name="Text Placeholder 18">
            <a:extLst>
              <a:ext uri="{FF2B5EF4-FFF2-40B4-BE49-F238E27FC236}">
                <a16:creationId xmlns:a16="http://schemas.microsoft.com/office/drawing/2014/main" id="{B35A941A-A088-7CDB-061B-DDD0FB8A6FC1}"/>
              </a:ext>
            </a:extLst>
          </p:cNvPr>
          <p:cNvSpPr>
            <a:spLocks noGrp="1"/>
          </p:cNvSpPr>
          <p:nvPr>
            <p:custDataLst>
              <p:tags r:id="rId41"/>
            </p:custDataLst>
          </p:nvPr>
        </p:nvSpPr>
        <p:spPr bwMode="auto">
          <a:xfrm>
            <a:off x="9725025" y="1774825"/>
            <a:ext cx="304800"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B8F7AF16-8DEE-4540-A444-D4B47AA8ED35}" type="datetime'''''''''''''W''''''''''i''''''''''''''''''''''''''n''''d'">
              <a:rPr lang="en-US" altLang="en-US" sz="105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Wind</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100" name="Text Placeholder 18">
            <a:extLst>
              <a:ext uri="{FF2B5EF4-FFF2-40B4-BE49-F238E27FC236}">
                <a16:creationId xmlns:a16="http://schemas.microsoft.com/office/drawing/2014/main" id="{8CE0513F-4107-D655-E33C-D290C1FDC4D3}"/>
              </a:ext>
            </a:extLst>
          </p:cNvPr>
          <p:cNvSpPr>
            <a:spLocks noGrp="1"/>
          </p:cNvSpPr>
          <p:nvPr>
            <p:custDataLst>
              <p:tags r:id="rId42"/>
            </p:custDataLst>
          </p:nvPr>
        </p:nvSpPr>
        <p:spPr bwMode="auto">
          <a:xfrm>
            <a:off x="10425113" y="1563688"/>
            <a:ext cx="549275" cy="16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FA1DC23D-E2E8-42F7-A125-A3BDD2EC5336}" type="datetime'''''B''''''''''i''''''''''''''''o''''''m''as''''s'' '''''''">
              <a:rPr lang="en-US" altLang="en-US" sz="105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Biomass </a:t>
            </a:fld>
            <a:endParaRPr lang="en-US" sz="1050" noProof="0">
              <a:latin typeface="Arial" panose="020B0604020202020204" pitchFamily="34" charset="0"/>
              <a:cs typeface="Arial" panose="020B0604020202020204" pitchFamily="34" charset="0"/>
              <a:sym typeface="Arial" panose="020B0604020202020204" pitchFamily="34" charset="0"/>
            </a:endParaRPr>
          </a:p>
        </p:txBody>
      </p:sp>
      <p:sp>
        <p:nvSpPr>
          <p:cNvPr id="762" name="TextBox 761">
            <a:extLst>
              <a:ext uri="{FF2B5EF4-FFF2-40B4-BE49-F238E27FC236}">
                <a16:creationId xmlns:a16="http://schemas.microsoft.com/office/drawing/2014/main" id="{2BA59C26-EAAE-6CB6-A35D-CE09550F3E75}"/>
              </a:ext>
            </a:extLst>
          </p:cNvPr>
          <p:cNvSpPr txBox="1"/>
          <p:nvPr/>
        </p:nvSpPr>
        <p:spPr>
          <a:xfrm>
            <a:off x="1577974" y="952905"/>
            <a:ext cx="9121776" cy="307777"/>
          </a:xfrm>
          <a:prstGeom prst="rect">
            <a:avLst/>
          </a:prstGeom>
          <a:noFill/>
        </p:spPr>
        <p:txBody>
          <a:bodyPr wrap="square">
            <a:spAutoFit/>
          </a:bodyPr>
          <a:lstStyle/>
          <a:p>
            <a:pPr algn="ctr"/>
            <a:r>
              <a:rPr lang="en-US" sz="1400" b="1">
                <a:latin typeface="Arial" panose="020B0604020202020204" pitchFamily="34" charset="0"/>
                <a:cs typeface="Arial" panose="020B0604020202020204" pitchFamily="34" charset="0"/>
              </a:rPr>
              <a:t>Installed Capacity (MW) Projections till 2040 </a:t>
            </a:r>
            <a:endParaRPr lang="en-US" sz="1400" b="1"/>
          </a:p>
        </p:txBody>
      </p:sp>
      <p:sp>
        <p:nvSpPr>
          <p:cNvPr id="767" name="TextBox 766">
            <a:extLst>
              <a:ext uri="{FF2B5EF4-FFF2-40B4-BE49-F238E27FC236}">
                <a16:creationId xmlns:a16="http://schemas.microsoft.com/office/drawing/2014/main" id="{FDE1561C-00D3-79F8-9777-923973AE0AA1}"/>
              </a:ext>
            </a:extLst>
          </p:cNvPr>
          <p:cNvSpPr txBox="1"/>
          <p:nvPr/>
        </p:nvSpPr>
        <p:spPr>
          <a:xfrm>
            <a:off x="447675" y="6596933"/>
            <a:ext cx="10873468"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JICA Integrated Power System Development Plan 2024; STO – Storage; NEA Annual Report; Deloitte Insights</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graphicFrame>
        <p:nvGraphicFramePr>
          <p:cNvPr id="8" name="Table 7">
            <a:extLst>
              <a:ext uri="{FF2B5EF4-FFF2-40B4-BE49-F238E27FC236}">
                <a16:creationId xmlns:a16="http://schemas.microsoft.com/office/drawing/2014/main" id="{E9DF4775-5C58-2706-FBB1-ADA8D6427A0E}"/>
              </a:ext>
            </a:extLst>
          </p:cNvPr>
          <p:cNvGraphicFramePr>
            <a:graphicFrameLocks noGrp="1"/>
          </p:cNvGraphicFramePr>
          <p:nvPr>
            <p:extLst>
              <p:ext uri="{D42A27DB-BD31-4B8C-83A1-F6EECF244321}">
                <p14:modId xmlns:p14="http://schemas.microsoft.com/office/powerpoint/2010/main" val="839797960"/>
              </p:ext>
            </p:extLst>
          </p:nvPr>
        </p:nvGraphicFramePr>
        <p:xfrm>
          <a:off x="518325" y="5395621"/>
          <a:ext cx="11216730" cy="1097280"/>
        </p:xfrm>
        <a:graphic>
          <a:graphicData uri="http://schemas.openxmlformats.org/drawingml/2006/table">
            <a:tbl>
              <a:tblPr firstRow="1" bandRow="1">
                <a:tableStyleId>{5C22544A-7EE6-4342-B048-85BDC9FD1C3A}</a:tableStyleId>
              </a:tblPr>
              <a:tblGrid>
                <a:gridCol w="1783820">
                  <a:extLst>
                    <a:ext uri="{9D8B030D-6E8A-4147-A177-3AD203B41FA5}">
                      <a16:colId xmlns:a16="http://schemas.microsoft.com/office/drawing/2014/main" val="1601999352"/>
                    </a:ext>
                  </a:extLst>
                </a:gridCol>
                <a:gridCol w="9432910">
                  <a:extLst>
                    <a:ext uri="{9D8B030D-6E8A-4147-A177-3AD203B41FA5}">
                      <a16:colId xmlns:a16="http://schemas.microsoft.com/office/drawing/2014/main" val="2515607737"/>
                    </a:ext>
                  </a:extLst>
                </a:gridCol>
              </a:tblGrid>
              <a:tr h="222576">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672777">
                <a:tc gridSpan="2">
                  <a:txBody>
                    <a:bodyPr/>
                    <a:lstStyle/>
                    <a:p>
                      <a:pPr marL="0" marR="0" lvl="0" indent="0" algn="just" defTabSz="914335"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a:latin typeface="Arial" panose="020B0604020202020204" pitchFamily="34" charset="0"/>
                          <a:cs typeface="Arial" panose="020B0604020202020204" pitchFamily="34" charset="0"/>
                        </a:rPr>
                        <a:t>As of FY 2024, NEA had tied-up generation capacity totaling 10,961 MW. This figure is expected to have increased in FY 2025, with updated data to be released in NEA’s forthcoming annual report. Based on market insights and stakeholder discussions, NEA is anticipated to sign additional PPAs amounting to approximately 5,000 MW over the next 2–3 years. Cumulatively, this positions Nepal as an emerging surplus power nation, with a growing strategic emphasis on export-led monetization.</a:t>
                      </a:r>
                      <a:endParaRPr lang="en-US" sz="1200" b="1" kern="1200">
                        <a:solidFill>
                          <a:schemeClr val="dk1"/>
                        </a:solidFill>
                        <a:latin typeface="Arial" panose="020B0604020202020204" pitchFamily="34" charset="0"/>
                        <a:ea typeface="+mn-ea"/>
                        <a:cs typeface="Arial" panose="020B0604020202020204" pitchFamily="34" charset="0"/>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cxnSp>
        <p:nvCxnSpPr>
          <p:cNvPr id="4" name="Straight Connector 3">
            <a:extLst>
              <a:ext uri="{FF2B5EF4-FFF2-40B4-BE49-F238E27FC236}">
                <a16:creationId xmlns:a16="http://schemas.microsoft.com/office/drawing/2014/main" id="{D4C96106-5B96-A25C-CC15-CA1BD703E473}"/>
              </a:ext>
            </a:extLst>
          </p:cNvPr>
          <p:cNvCxnSpPr/>
          <p:nvPr/>
        </p:nvCxnSpPr>
        <p:spPr>
          <a:xfrm>
            <a:off x="528371" y="3668488"/>
            <a:ext cx="1128262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7F928AC1-B790-E4B6-15AB-4C9A9C495BD8}"/>
              </a:ext>
            </a:extLst>
          </p:cNvPr>
          <p:cNvSpPr/>
          <p:nvPr/>
        </p:nvSpPr>
        <p:spPr bwMode="gray">
          <a:xfrm>
            <a:off x="4212771" y="3587300"/>
            <a:ext cx="3504067" cy="195262"/>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a:t>Projects under Pipeline</a:t>
            </a:r>
          </a:p>
        </p:txBody>
      </p:sp>
      <p:sp>
        <p:nvSpPr>
          <p:cNvPr id="7" name="Oval 6">
            <a:extLst>
              <a:ext uri="{FF2B5EF4-FFF2-40B4-BE49-F238E27FC236}">
                <a16:creationId xmlns:a16="http://schemas.microsoft.com/office/drawing/2014/main" id="{917426A3-6C6F-CB66-87B6-3CD15FAC4888}"/>
              </a:ext>
            </a:extLst>
          </p:cNvPr>
          <p:cNvSpPr/>
          <p:nvPr/>
        </p:nvSpPr>
        <p:spPr bwMode="gray">
          <a:xfrm>
            <a:off x="4137554" y="4267200"/>
            <a:ext cx="1481138" cy="573935"/>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rPr>
              <a:t>3,905 MW</a:t>
            </a:r>
          </a:p>
        </p:txBody>
      </p:sp>
      <p:sp>
        <p:nvSpPr>
          <p:cNvPr id="11" name="Oval 10">
            <a:extLst>
              <a:ext uri="{FF2B5EF4-FFF2-40B4-BE49-F238E27FC236}">
                <a16:creationId xmlns:a16="http://schemas.microsoft.com/office/drawing/2014/main" id="{F6F4DDDE-5E05-0EFD-FBE9-8E3BB8228C42}"/>
              </a:ext>
            </a:extLst>
          </p:cNvPr>
          <p:cNvSpPr/>
          <p:nvPr/>
        </p:nvSpPr>
        <p:spPr bwMode="gray">
          <a:xfrm>
            <a:off x="1187450" y="4267200"/>
            <a:ext cx="1481138" cy="573935"/>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rPr>
              <a:t>3,157 MW</a:t>
            </a:r>
          </a:p>
        </p:txBody>
      </p:sp>
      <p:sp>
        <p:nvSpPr>
          <p:cNvPr id="12" name="Oval 11">
            <a:extLst>
              <a:ext uri="{FF2B5EF4-FFF2-40B4-BE49-F238E27FC236}">
                <a16:creationId xmlns:a16="http://schemas.microsoft.com/office/drawing/2014/main" id="{118C4E8F-A6EA-9045-AD3B-22B230498616}"/>
              </a:ext>
            </a:extLst>
          </p:cNvPr>
          <p:cNvSpPr/>
          <p:nvPr/>
        </p:nvSpPr>
        <p:spPr bwMode="gray">
          <a:xfrm>
            <a:off x="7087658" y="4267200"/>
            <a:ext cx="1481138" cy="573935"/>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rPr>
              <a:t>3,899 MW</a:t>
            </a:r>
          </a:p>
        </p:txBody>
      </p:sp>
      <p:sp>
        <p:nvSpPr>
          <p:cNvPr id="13" name="Oval 12">
            <a:extLst>
              <a:ext uri="{FF2B5EF4-FFF2-40B4-BE49-F238E27FC236}">
                <a16:creationId xmlns:a16="http://schemas.microsoft.com/office/drawing/2014/main" id="{ABE3EA46-BA64-AB74-A20A-29B8E44EAD4C}"/>
              </a:ext>
            </a:extLst>
          </p:cNvPr>
          <p:cNvSpPr/>
          <p:nvPr/>
        </p:nvSpPr>
        <p:spPr bwMode="gray">
          <a:xfrm>
            <a:off x="10037763" y="4267199"/>
            <a:ext cx="1481138" cy="573935"/>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rPr>
              <a:t>10,961 MW</a:t>
            </a:r>
          </a:p>
        </p:txBody>
      </p:sp>
      <p:sp>
        <p:nvSpPr>
          <p:cNvPr id="15" name="Plus Sign 14">
            <a:extLst>
              <a:ext uri="{FF2B5EF4-FFF2-40B4-BE49-F238E27FC236}">
                <a16:creationId xmlns:a16="http://schemas.microsoft.com/office/drawing/2014/main" id="{9C68E380-7301-EC57-6658-0A6C733FF064}"/>
              </a:ext>
            </a:extLst>
          </p:cNvPr>
          <p:cNvSpPr/>
          <p:nvPr/>
        </p:nvSpPr>
        <p:spPr bwMode="gray">
          <a:xfrm>
            <a:off x="6096679" y="4291705"/>
            <a:ext cx="540657" cy="573930"/>
          </a:xfrm>
          <a:prstGeom prst="mathPlus">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6" name="Plus Sign 15">
            <a:extLst>
              <a:ext uri="{FF2B5EF4-FFF2-40B4-BE49-F238E27FC236}">
                <a16:creationId xmlns:a16="http://schemas.microsoft.com/office/drawing/2014/main" id="{88E6B34B-EE87-315E-5F6C-7B7288E723A3}"/>
              </a:ext>
            </a:extLst>
          </p:cNvPr>
          <p:cNvSpPr/>
          <p:nvPr/>
        </p:nvSpPr>
        <p:spPr bwMode="gray">
          <a:xfrm>
            <a:off x="3146575" y="4276837"/>
            <a:ext cx="540657" cy="573930"/>
          </a:xfrm>
          <a:prstGeom prst="mathPlus">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7" name="Equals 16">
            <a:extLst>
              <a:ext uri="{FF2B5EF4-FFF2-40B4-BE49-F238E27FC236}">
                <a16:creationId xmlns:a16="http://schemas.microsoft.com/office/drawing/2014/main" id="{A723CFED-8089-8F17-1B17-EBE4CB17C867}"/>
              </a:ext>
            </a:extLst>
          </p:cNvPr>
          <p:cNvSpPr/>
          <p:nvPr/>
        </p:nvSpPr>
        <p:spPr bwMode="gray">
          <a:xfrm>
            <a:off x="9088438" y="4408714"/>
            <a:ext cx="636587" cy="283893"/>
          </a:xfrm>
          <a:prstGeom prst="mathEqual">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8" name="TextBox 17">
            <a:extLst>
              <a:ext uri="{FF2B5EF4-FFF2-40B4-BE49-F238E27FC236}">
                <a16:creationId xmlns:a16="http://schemas.microsoft.com/office/drawing/2014/main" id="{F87104AD-F347-F596-70C9-8FCE91DF6B8E}"/>
              </a:ext>
            </a:extLst>
          </p:cNvPr>
          <p:cNvSpPr txBox="1"/>
          <p:nvPr/>
        </p:nvSpPr>
        <p:spPr>
          <a:xfrm>
            <a:off x="889092" y="4985853"/>
            <a:ext cx="2058580" cy="267547"/>
          </a:xfrm>
          <a:prstGeom prst="rect">
            <a:avLst/>
          </a:prstGeom>
          <a:noFill/>
        </p:spPr>
        <p:txBody>
          <a:bodyPr wrap="square" lIns="0" tIns="0" rIns="0" bIns="0" rtlCol="0">
            <a:spAutoFit/>
          </a:bodyPr>
          <a:lstStyle/>
          <a:p>
            <a:pPr algn="ctr">
              <a:spcBef>
                <a:spcPts val="600"/>
              </a:spcBef>
              <a:buSzPct val="100000"/>
            </a:pPr>
            <a:r>
              <a:rPr lang="en-US" sz="1400">
                <a:solidFill>
                  <a:srgbClr val="313131"/>
                </a:solidFill>
                <a:latin typeface="Arial" panose="020B0604020202020204" pitchFamily="34" charset="0"/>
                <a:cs typeface="Arial" panose="020B0604020202020204" pitchFamily="34" charset="0"/>
              </a:rPr>
              <a:t>FY 24 Installed Capacity</a:t>
            </a:r>
          </a:p>
        </p:txBody>
      </p:sp>
      <p:sp>
        <p:nvSpPr>
          <p:cNvPr id="19" name="TextBox 18">
            <a:extLst>
              <a:ext uri="{FF2B5EF4-FFF2-40B4-BE49-F238E27FC236}">
                <a16:creationId xmlns:a16="http://schemas.microsoft.com/office/drawing/2014/main" id="{28F86983-F845-7C6A-13BF-AECF3C189D30}"/>
              </a:ext>
            </a:extLst>
          </p:cNvPr>
          <p:cNvSpPr txBox="1"/>
          <p:nvPr/>
        </p:nvSpPr>
        <p:spPr>
          <a:xfrm>
            <a:off x="3848833" y="5015688"/>
            <a:ext cx="2058580" cy="215444"/>
          </a:xfrm>
          <a:prstGeom prst="rect">
            <a:avLst/>
          </a:prstGeom>
          <a:noFill/>
        </p:spPr>
        <p:txBody>
          <a:bodyPr wrap="square" lIns="0" tIns="0" rIns="0" bIns="0" rtlCol="0">
            <a:spAutoFit/>
          </a:bodyPr>
          <a:lstStyle/>
          <a:p>
            <a:pPr algn="ctr">
              <a:spcBef>
                <a:spcPts val="600"/>
              </a:spcBef>
              <a:buSzPct val="100000"/>
            </a:pPr>
            <a:r>
              <a:rPr lang="en-US" sz="1400">
                <a:solidFill>
                  <a:srgbClr val="313131"/>
                </a:solidFill>
                <a:latin typeface="Arial" panose="020B0604020202020204" pitchFamily="34" charset="0"/>
                <a:cs typeface="Arial" panose="020B0604020202020204" pitchFamily="34" charset="0"/>
              </a:rPr>
              <a:t>Under Construction</a:t>
            </a:r>
          </a:p>
        </p:txBody>
      </p:sp>
      <p:sp>
        <p:nvSpPr>
          <p:cNvPr id="20" name="TextBox 19">
            <a:extLst>
              <a:ext uri="{FF2B5EF4-FFF2-40B4-BE49-F238E27FC236}">
                <a16:creationId xmlns:a16="http://schemas.microsoft.com/office/drawing/2014/main" id="{D60FCCC4-1A06-9978-D9FF-5F448D1FD5BE}"/>
              </a:ext>
            </a:extLst>
          </p:cNvPr>
          <p:cNvSpPr txBox="1"/>
          <p:nvPr/>
        </p:nvSpPr>
        <p:spPr>
          <a:xfrm>
            <a:off x="6835979" y="5015688"/>
            <a:ext cx="2058580" cy="430887"/>
          </a:xfrm>
          <a:prstGeom prst="rect">
            <a:avLst/>
          </a:prstGeom>
          <a:noFill/>
        </p:spPr>
        <p:txBody>
          <a:bodyPr wrap="square" lIns="0" tIns="0" rIns="0" bIns="0" rtlCol="0">
            <a:spAutoFit/>
          </a:bodyPr>
          <a:lstStyle/>
          <a:p>
            <a:pPr algn="ctr">
              <a:spcBef>
                <a:spcPts val="600"/>
              </a:spcBef>
              <a:buSzPct val="100000"/>
            </a:pPr>
            <a:r>
              <a:rPr lang="en-US" sz="1400">
                <a:solidFill>
                  <a:srgbClr val="313131"/>
                </a:solidFill>
                <a:latin typeface="Arial" panose="020B0604020202020204" pitchFamily="34" charset="0"/>
                <a:cs typeface="Arial" panose="020B0604020202020204" pitchFamily="34" charset="0"/>
              </a:rPr>
              <a:t>PPA Signed – Awaiting Financial Closure</a:t>
            </a:r>
          </a:p>
        </p:txBody>
      </p:sp>
      <p:sp>
        <p:nvSpPr>
          <p:cNvPr id="21" name="TextBox 20">
            <a:extLst>
              <a:ext uri="{FF2B5EF4-FFF2-40B4-BE49-F238E27FC236}">
                <a16:creationId xmlns:a16="http://schemas.microsoft.com/office/drawing/2014/main" id="{52E40A3D-A9E5-38C9-E287-DD4437F5F8B2}"/>
              </a:ext>
            </a:extLst>
          </p:cNvPr>
          <p:cNvSpPr txBox="1"/>
          <p:nvPr/>
        </p:nvSpPr>
        <p:spPr>
          <a:xfrm>
            <a:off x="9771697" y="5015688"/>
            <a:ext cx="2058580" cy="215444"/>
          </a:xfrm>
          <a:prstGeom prst="rect">
            <a:avLst/>
          </a:prstGeom>
          <a:noFill/>
        </p:spPr>
        <p:txBody>
          <a:bodyPr wrap="square" lIns="0" tIns="0" rIns="0" bIns="0" rtlCol="0">
            <a:spAutoFit/>
          </a:bodyPr>
          <a:lstStyle/>
          <a:p>
            <a:pPr algn="ctr">
              <a:spcBef>
                <a:spcPts val="600"/>
              </a:spcBef>
              <a:buSzPct val="100000"/>
            </a:pPr>
            <a:r>
              <a:rPr lang="en-US" sz="1400">
                <a:solidFill>
                  <a:srgbClr val="313131"/>
                </a:solidFill>
                <a:latin typeface="Arial" panose="020B0604020202020204" pitchFamily="34" charset="0"/>
                <a:cs typeface="Arial" panose="020B0604020202020204" pitchFamily="34" charset="0"/>
              </a:rPr>
              <a:t>Total PPA tied capacity</a:t>
            </a:r>
          </a:p>
        </p:txBody>
      </p:sp>
    </p:spTree>
    <p:extLst>
      <p:ext uri="{BB962C8B-B14F-4D97-AF65-F5344CB8AC3E}">
        <p14:creationId xmlns:p14="http://schemas.microsoft.com/office/powerpoint/2010/main" val="3849840973"/>
      </p:ext>
    </p:extLst>
  </p:cSld>
  <p:clrMapOvr>
    <a:masterClrMapping/>
  </p:clrMapOvr>
  <p:transition>
    <p:fade/>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81275602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Forecasted Seasonal Demand-Supply Dynamics I Monthly Generation and Load Profile</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Nepal is expected to maintain seasonal and annual electricity surpluses, as early as 2030 due to improved dry season supply</a:t>
            </a:r>
          </a:p>
        </p:txBody>
      </p:sp>
      <p:sp>
        <p:nvSpPr>
          <p:cNvPr id="4" name="Rectangle 3">
            <a:extLst>
              <a:ext uri="{FF2B5EF4-FFF2-40B4-BE49-F238E27FC236}">
                <a16:creationId xmlns:a16="http://schemas.microsoft.com/office/drawing/2014/main" id="{C2FA7F77-5700-3A87-9ADA-E869269335EB}"/>
              </a:ext>
            </a:extLst>
          </p:cNvPr>
          <p:cNvSpPr/>
          <p:nvPr/>
        </p:nvSpPr>
        <p:spPr bwMode="gray">
          <a:xfrm>
            <a:off x="528371" y="989013"/>
            <a:ext cx="7840566" cy="5527675"/>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pic>
        <p:nvPicPr>
          <p:cNvPr id="7" name="Picture 6">
            <a:extLst>
              <a:ext uri="{FF2B5EF4-FFF2-40B4-BE49-F238E27FC236}">
                <a16:creationId xmlns:a16="http://schemas.microsoft.com/office/drawing/2014/main" id="{01FF7D00-068F-E550-E427-21D4192267E7}"/>
              </a:ext>
            </a:extLst>
          </p:cNvPr>
          <p:cNvPicPr>
            <a:picLocks noChangeAspect="1"/>
          </p:cNvPicPr>
          <p:nvPr/>
        </p:nvPicPr>
        <p:blipFill rotWithShape="1">
          <a:blip r:embed="rId6"/>
          <a:srcRect r="3903"/>
          <a:stretch/>
        </p:blipFill>
        <p:spPr>
          <a:xfrm>
            <a:off x="528371" y="989006"/>
            <a:ext cx="7700888" cy="5390773"/>
          </a:xfrm>
          <a:prstGeom prst="rect">
            <a:avLst/>
          </a:prstGeom>
        </p:spPr>
      </p:pic>
      <p:graphicFrame>
        <p:nvGraphicFramePr>
          <p:cNvPr id="14" name="Table 13">
            <a:extLst>
              <a:ext uri="{FF2B5EF4-FFF2-40B4-BE49-F238E27FC236}">
                <a16:creationId xmlns:a16="http://schemas.microsoft.com/office/drawing/2014/main" id="{129EF414-2E81-D4F7-6649-9B5BCB5A71CD}"/>
              </a:ext>
            </a:extLst>
          </p:cNvPr>
          <p:cNvGraphicFramePr>
            <a:graphicFrameLocks noGrp="1"/>
          </p:cNvGraphicFramePr>
          <p:nvPr>
            <p:extLst>
              <p:ext uri="{D42A27DB-BD31-4B8C-83A1-F6EECF244321}">
                <p14:modId xmlns:p14="http://schemas.microsoft.com/office/powerpoint/2010/main" val="4002236709"/>
              </p:ext>
            </p:extLst>
          </p:nvPr>
        </p:nvGraphicFramePr>
        <p:xfrm>
          <a:off x="8453929" y="1121603"/>
          <a:ext cx="3256513" cy="5407569"/>
        </p:xfrm>
        <a:graphic>
          <a:graphicData uri="http://schemas.openxmlformats.org/drawingml/2006/table">
            <a:tbl>
              <a:tblPr firstRow="1" bandRow="1">
                <a:tableStyleId>{5C22544A-7EE6-4342-B048-85BDC9FD1C3A}</a:tableStyleId>
              </a:tblPr>
              <a:tblGrid>
                <a:gridCol w="2466319">
                  <a:extLst>
                    <a:ext uri="{9D8B030D-6E8A-4147-A177-3AD203B41FA5}">
                      <a16:colId xmlns:a16="http://schemas.microsoft.com/office/drawing/2014/main" val="1601999352"/>
                    </a:ext>
                  </a:extLst>
                </a:gridCol>
                <a:gridCol w="790194">
                  <a:extLst>
                    <a:ext uri="{9D8B030D-6E8A-4147-A177-3AD203B41FA5}">
                      <a16:colId xmlns:a16="http://schemas.microsoft.com/office/drawing/2014/main" val="2515607737"/>
                    </a:ext>
                  </a:extLst>
                </a:gridCol>
              </a:tblGrid>
              <a:tr h="444715">
                <a:tc>
                  <a:txBody>
                    <a:bodyPr/>
                    <a:lstStyle/>
                    <a:p>
                      <a:pPr marL="0" marR="0" lvl="0" indent="0" algn="just" defTabSz="914335"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a:latin typeface="Arial" panose="020B0604020202020204" pitchFamily="34" charset="0"/>
                          <a:cs typeface="Arial" panose="020B0604020202020204" pitchFamily="34" charset="0"/>
                        </a:rPr>
                        <a:t>Key Inferences from JICA Study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4950369">
                <a:tc gridSpan="2">
                  <a:txBody>
                    <a:bodyPr/>
                    <a:lstStyle/>
                    <a:p>
                      <a:pPr marL="169863" indent="-169863" algn="just" defTabSz="914335" rtl="0" eaLnBrk="1" latinLnBrk="0" hangingPunct="1">
                        <a:lnSpc>
                          <a:spcPct val="125000"/>
                        </a:lnSpc>
                        <a:buFont typeface="Arial" panose="020B0604020202020204" pitchFamily="34" charset="0"/>
                        <a:buChar char="•"/>
                      </a:pPr>
                      <a:r>
                        <a:rPr lang="en-US" sz="1200" b="0" kern="1200">
                          <a:solidFill>
                            <a:schemeClr val="dk1"/>
                          </a:solidFill>
                          <a:latin typeface="Arial" panose="020B0604020202020204" pitchFamily="34" charset="0"/>
                          <a:ea typeface="+mn-ea"/>
                          <a:cs typeface="Arial" panose="020B0604020202020204" pitchFamily="34" charset="0"/>
                        </a:rPr>
                        <a:t>Monthly variations across different years indicate a rise in the installed capacity of hydropower plants, leading to an overall increase in electricity supply.</a:t>
                      </a:r>
                    </a:p>
                    <a:p>
                      <a:pPr marL="169863" indent="-169863" algn="just" defTabSz="914335" rtl="0" eaLnBrk="1" latinLnBrk="0" hangingPunct="1">
                        <a:lnSpc>
                          <a:spcPct val="125000"/>
                        </a:lnSpc>
                        <a:buFont typeface="Arial" panose="020B0604020202020204" pitchFamily="34" charset="0"/>
                        <a:buChar char="•"/>
                      </a:pPr>
                      <a:endParaRPr lang="en-US" sz="1200" b="0" kern="1200">
                        <a:solidFill>
                          <a:schemeClr val="dk1"/>
                        </a:solidFill>
                        <a:latin typeface="Arial" panose="020B0604020202020204" pitchFamily="34" charset="0"/>
                        <a:ea typeface="+mn-ea"/>
                        <a:cs typeface="Arial" panose="020B0604020202020204" pitchFamily="34" charset="0"/>
                      </a:endParaRPr>
                    </a:p>
                    <a:p>
                      <a:pPr marL="169863" indent="-169863" algn="just" defTabSz="914335" rtl="0" eaLnBrk="1" latinLnBrk="0" hangingPunct="1">
                        <a:lnSpc>
                          <a:spcPct val="125000"/>
                        </a:lnSpc>
                        <a:buFont typeface="Arial" panose="020B0604020202020204" pitchFamily="34" charset="0"/>
                        <a:buChar char="•"/>
                      </a:pPr>
                      <a:r>
                        <a:rPr lang="en-US" sz="1200" b="0" kern="1200">
                          <a:solidFill>
                            <a:schemeClr val="dk1"/>
                          </a:solidFill>
                          <a:latin typeface="Arial" panose="020B0604020202020204" pitchFamily="34" charset="0"/>
                          <a:ea typeface="+mn-ea"/>
                          <a:cs typeface="Arial" panose="020B0604020202020204" pitchFamily="34" charset="0"/>
                        </a:rPr>
                        <a:t>Monthly load curve clearly illustrates a </a:t>
                      </a:r>
                      <a:r>
                        <a:rPr lang="en-US" sz="1200" b="1" kern="1200">
                          <a:solidFill>
                            <a:schemeClr val="dk1"/>
                          </a:solidFill>
                          <a:latin typeface="Arial" panose="020B0604020202020204" pitchFamily="34" charset="0"/>
                          <a:ea typeface="+mn-ea"/>
                          <a:cs typeface="Arial" panose="020B0604020202020204" pitchFamily="34" charset="0"/>
                        </a:rPr>
                        <a:t>reduction in power import requirements during the dry season</a:t>
                      </a:r>
                      <a:r>
                        <a:rPr lang="en-US" sz="1200" b="0" kern="1200">
                          <a:solidFill>
                            <a:schemeClr val="dk1"/>
                          </a:solidFill>
                          <a:latin typeface="Arial" panose="020B0604020202020204" pitchFamily="34" charset="0"/>
                          <a:ea typeface="+mn-ea"/>
                          <a:cs typeface="Arial" panose="020B0604020202020204" pitchFamily="34" charset="0"/>
                        </a:rPr>
                        <a:t>, reflecting improved supply capacity from FY 2025 to FY 2040.</a:t>
                      </a:r>
                    </a:p>
                    <a:p>
                      <a:pPr marL="169863" indent="-169863" algn="just" defTabSz="914335" rtl="0" eaLnBrk="1" latinLnBrk="0" hangingPunct="1">
                        <a:lnSpc>
                          <a:spcPct val="125000"/>
                        </a:lnSpc>
                        <a:buFont typeface="Arial" panose="020B0604020202020204" pitchFamily="34" charset="0"/>
                        <a:buChar char="•"/>
                      </a:pPr>
                      <a:endParaRPr lang="en-US" sz="1200" b="0" kern="1200">
                        <a:solidFill>
                          <a:schemeClr val="dk1"/>
                        </a:solidFill>
                        <a:latin typeface="Arial" panose="020B0604020202020204" pitchFamily="34" charset="0"/>
                        <a:ea typeface="+mn-ea"/>
                        <a:cs typeface="Arial" panose="020B0604020202020204" pitchFamily="34" charset="0"/>
                      </a:endParaRPr>
                    </a:p>
                    <a:p>
                      <a:pPr marL="169863" indent="-169863" algn="just" defTabSz="914335" rtl="0" eaLnBrk="1" latinLnBrk="0" hangingPunct="1">
                        <a:lnSpc>
                          <a:spcPct val="125000"/>
                        </a:lnSpc>
                        <a:buFont typeface="Arial" panose="020B0604020202020204" pitchFamily="34" charset="0"/>
                        <a:buChar char="•"/>
                      </a:pPr>
                      <a:r>
                        <a:rPr lang="en-US" sz="1200" b="0" kern="1200">
                          <a:solidFill>
                            <a:schemeClr val="dk1"/>
                          </a:solidFill>
                          <a:latin typeface="Arial" panose="020B0604020202020204" pitchFamily="34" charset="0"/>
                          <a:ea typeface="+mn-ea"/>
                          <a:cs typeface="Arial" panose="020B0604020202020204" pitchFamily="34" charset="0"/>
                        </a:rPr>
                        <a:t>From 2030 onwards, operations during February—when power generation is at its lowest, shall be optimized to manage peak demand periods more efficiently.</a:t>
                      </a:r>
                    </a:p>
                    <a:p>
                      <a:pPr marL="169863" indent="-169863" algn="just" defTabSz="914335" rtl="0" eaLnBrk="1" latinLnBrk="0" hangingPunct="1">
                        <a:lnSpc>
                          <a:spcPct val="125000"/>
                        </a:lnSpc>
                        <a:buFont typeface="Arial" panose="020B0604020202020204" pitchFamily="34" charset="0"/>
                        <a:buChar char="•"/>
                      </a:pPr>
                      <a:endParaRPr lang="en-US" sz="1200" b="0" kern="1200">
                        <a:solidFill>
                          <a:schemeClr val="dk1"/>
                        </a:solidFill>
                        <a:latin typeface="Arial" panose="020B0604020202020204" pitchFamily="34" charset="0"/>
                        <a:ea typeface="+mn-ea"/>
                        <a:cs typeface="Arial" panose="020B0604020202020204" pitchFamily="34" charset="0"/>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spTree>
    <p:extLst>
      <p:ext uri="{BB962C8B-B14F-4D97-AF65-F5344CB8AC3E}">
        <p14:creationId xmlns:p14="http://schemas.microsoft.com/office/powerpoint/2010/main" val="735806695"/>
      </p:ext>
    </p:extLst>
  </p:cSld>
  <p:clrMapOvr>
    <a:masterClrMapping/>
  </p:clrMapOvr>
  <p:transition>
    <p:fade/>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373780860"/>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21" imgW="415" imgH="416" progId="TCLayout.ActiveDocument.1">
                  <p:embed/>
                </p:oleObj>
              </mc:Choice>
              <mc:Fallback>
                <p:oleObj name="think-cell Slide" r:id="rId21"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22"/>
                      <a:stretch>
                        <a:fillRect/>
                      </a:stretch>
                    </p:blipFill>
                    <p:spPr>
                      <a:xfrm>
                        <a:off x="1828" y="1723"/>
                        <a:ext cx="1588" cy="1588"/>
                      </a:xfrm>
                      <a:prstGeom prst="rect">
                        <a:avLst/>
                      </a:prstGeom>
                    </p:spPr>
                  </p:pic>
                </p:oleObj>
              </mc:Fallback>
            </mc:AlternateContent>
          </a:graphicData>
        </a:graphic>
      </p:graphicFrame>
      <p:sp>
        <p:nvSpPr>
          <p:cNvPr id="588" name="Rectangle 587">
            <a:extLst>
              <a:ext uri="{FF2B5EF4-FFF2-40B4-BE49-F238E27FC236}">
                <a16:creationId xmlns:a16="http://schemas.microsoft.com/office/drawing/2014/main" id="{0F4CEADA-3DFC-09DA-782A-39438830C992}"/>
              </a:ext>
            </a:extLst>
          </p:cNvPr>
          <p:cNvSpPr/>
          <p:nvPr/>
        </p:nvSpPr>
        <p:spPr bwMode="gray">
          <a:xfrm>
            <a:off x="4453352" y="1016986"/>
            <a:ext cx="7218779" cy="4194327"/>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586" name="Rectangle 585">
            <a:extLst>
              <a:ext uri="{FF2B5EF4-FFF2-40B4-BE49-F238E27FC236}">
                <a16:creationId xmlns:a16="http://schemas.microsoft.com/office/drawing/2014/main" id="{62394488-990A-EF6B-4977-385060EAA56E}"/>
              </a:ext>
            </a:extLst>
          </p:cNvPr>
          <p:cNvSpPr/>
          <p:nvPr/>
        </p:nvSpPr>
        <p:spPr bwMode="gray">
          <a:xfrm>
            <a:off x="519868" y="992223"/>
            <a:ext cx="3577999" cy="423815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Scaling Transmission Infrastructure to Match Supply and Demand Growth</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Nepal is reinforcing its grid through 220 kV and 400 kV systems to integrate generation additions and support both domestic and regional flows.</a:t>
            </a:r>
          </a:p>
        </p:txBody>
      </p:sp>
      <p:sp>
        <p:nvSpPr>
          <p:cNvPr id="497" name="TextBox 496">
            <a:extLst>
              <a:ext uri="{FF2B5EF4-FFF2-40B4-BE49-F238E27FC236}">
                <a16:creationId xmlns:a16="http://schemas.microsoft.com/office/drawing/2014/main" id="{E3CD61BF-5158-2CE6-D4D0-D211D840411E}"/>
              </a:ext>
            </a:extLst>
          </p:cNvPr>
          <p:cNvSpPr txBox="1"/>
          <p:nvPr/>
        </p:nvSpPr>
        <p:spPr>
          <a:xfrm>
            <a:off x="447675" y="6586538"/>
            <a:ext cx="6096000" cy="26035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Grid Operations Department, Deloitte Analysis</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sp>
        <p:nvSpPr>
          <p:cNvPr id="7" name="TextBox 6">
            <a:extLst>
              <a:ext uri="{FF2B5EF4-FFF2-40B4-BE49-F238E27FC236}">
                <a16:creationId xmlns:a16="http://schemas.microsoft.com/office/drawing/2014/main" id="{DB7BFAC1-07C2-5AF0-25D1-05D1AC07A4B1}"/>
              </a:ext>
            </a:extLst>
          </p:cNvPr>
          <p:cNvSpPr txBox="1"/>
          <p:nvPr/>
        </p:nvSpPr>
        <p:spPr>
          <a:xfrm>
            <a:off x="791577" y="5355741"/>
            <a:ext cx="10923073" cy="1195199"/>
          </a:xfrm>
          <a:prstGeom prst="rect">
            <a:avLst/>
          </a:prstGeom>
          <a:noFill/>
        </p:spPr>
        <p:txBody>
          <a:bodyPr wrap="square">
            <a:spAutoFit/>
          </a:bodyPr>
          <a:lstStyle/>
          <a:p>
            <a:pPr algn="just">
              <a:spcAft>
                <a:spcPts val="662"/>
              </a:spcAft>
            </a:pPr>
            <a:r>
              <a:rPr lang="en-US" sz="1200">
                <a:latin typeface="Arial" panose="020B0604020202020204" pitchFamily="34" charset="0"/>
                <a:cs typeface="Arial" panose="020B0604020202020204" pitchFamily="34" charset="0"/>
              </a:rPr>
              <a:t>A total of 46 sub-stations with total transformation capacity of 7501 MVA are under various stages of construction. These will be supported by 2281 </a:t>
            </a:r>
            <a:r>
              <a:rPr lang="en-US" sz="1200" err="1">
                <a:latin typeface="Arial" panose="020B0604020202020204" pitchFamily="34" charset="0"/>
                <a:cs typeface="Arial" panose="020B0604020202020204" pitchFamily="34" charset="0"/>
              </a:rPr>
              <a:t>Ckm</a:t>
            </a:r>
            <a:r>
              <a:rPr lang="en-US" sz="1200">
                <a:latin typeface="Arial" panose="020B0604020202020204" pitchFamily="34" charset="0"/>
                <a:cs typeface="Arial" panose="020B0604020202020204" pitchFamily="34" charset="0"/>
              </a:rPr>
              <a:t> (including 132 kV, 220 kV and 400 kV) of Transmission lines which are also under various stages of construction</a:t>
            </a:r>
          </a:p>
          <a:p>
            <a:pPr algn="just">
              <a:spcAft>
                <a:spcPts val="662"/>
              </a:spcAft>
            </a:pPr>
            <a:r>
              <a:rPr lang="en-US" sz="1200">
                <a:latin typeface="Arial" panose="020B0604020202020204" pitchFamily="34" charset="0"/>
                <a:cs typeface="Arial" panose="020B0604020202020204" pitchFamily="34" charset="0"/>
              </a:rPr>
              <a:t>A total of 38 sub-stations with total transformation capacity of 15750 MVA have been planned.</a:t>
            </a:r>
          </a:p>
          <a:p>
            <a:pPr algn="just">
              <a:spcAft>
                <a:spcPts val="662"/>
              </a:spcAft>
            </a:pPr>
            <a:r>
              <a:rPr lang="en-US" sz="1200">
                <a:latin typeface="Arial" panose="020B0604020202020204" pitchFamily="34" charset="0"/>
                <a:cs typeface="Arial" panose="020B0604020202020204" pitchFamily="34" charset="0"/>
              </a:rPr>
              <a:t>To meet the energy demand of Kathmandu, a Kathmandu Valley Transmission System Expansion project has been planned with construction of 31 sub-stations (4129 MVA) and ~ 160 Km of Transmission line</a:t>
            </a:r>
          </a:p>
        </p:txBody>
      </p:sp>
      <p:grpSp>
        <p:nvGrpSpPr>
          <p:cNvPr id="581" name="Graphic 4">
            <a:extLst>
              <a:ext uri="{FF2B5EF4-FFF2-40B4-BE49-F238E27FC236}">
                <a16:creationId xmlns:a16="http://schemas.microsoft.com/office/drawing/2014/main" id="{E4A065C9-B9F6-4DC2-0199-851BBD9419E4}"/>
              </a:ext>
            </a:extLst>
          </p:cNvPr>
          <p:cNvGrpSpPr/>
          <p:nvPr/>
        </p:nvGrpSpPr>
        <p:grpSpPr>
          <a:xfrm>
            <a:off x="277022" y="5526039"/>
            <a:ext cx="457202" cy="457198"/>
            <a:chOff x="905454" y="2371173"/>
            <a:chExt cx="361670" cy="361333"/>
          </a:xfrm>
          <a:solidFill>
            <a:schemeClr val="accent5"/>
          </a:solidFill>
        </p:grpSpPr>
        <p:sp>
          <p:nvSpPr>
            <p:cNvPr id="582" name="Graphic 4">
              <a:extLst>
                <a:ext uri="{FF2B5EF4-FFF2-40B4-BE49-F238E27FC236}">
                  <a16:creationId xmlns:a16="http://schemas.microsoft.com/office/drawing/2014/main" id="{D4717971-9A8E-5AF1-C5EC-344ECF05703A}"/>
                </a:ext>
              </a:extLst>
            </p:cNvPr>
            <p:cNvSpPr/>
            <p:nvPr/>
          </p:nvSpPr>
          <p:spPr>
            <a:xfrm>
              <a:off x="1109293" y="2492469"/>
              <a:ext cx="53036" cy="52987"/>
            </a:xfrm>
            <a:custGeom>
              <a:avLst/>
              <a:gdLst>
                <a:gd name="connsiteX0" fmla="*/ 0 w 53036"/>
                <a:gd name="connsiteY0" fmla="*/ 0 h 52987"/>
                <a:gd name="connsiteX1" fmla="*/ 53037 w 53036"/>
                <a:gd name="connsiteY1" fmla="*/ 0 h 52987"/>
                <a:gd name="connsiteX2" fmla="*/ 53037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7" y="0"/>
                  </a:lnTo>
                  <a:lnTo>
                    <a:pt x="53037" y="52987"/>
                  </a:lnTo>
                  <a:lnTo>
                    <a:pt x="0" y="52987"/>
                  </a:lnTo>
                  <a:close/>
                </a:path>
              </a:pathLst>
            </a:custGeom>
            <a:grpFill/>
            <a:ln w="6390" cap="flat">
              <a:noFill/>
              <a:prstDash val="solid"/>
              <a:miter/>
            </a:ln>
          </p:spPr>
          <p:txBody>
            <a:bodyPr rtlCol="0" anchor="ctr"/>
            <a:lstStyle/>
            <a:p>
              <a:endParaRPr lang="en-US"/>
            </a:p>
          </p:txBody>
        </p:sp>
        <p:sp>
          <p:nvSpPr>
            <p:cNvPr id="583" name="Graphic 4">
              <a:extLst>
                <a:ext uri="{FF2B5EF4-FFF2-40B4-BE49-F238E27FC236}">
                  <a16:creationId xmlns:a16="http://schemas.microsoft.com/office/drawing/2014/main" id="{1097E95F-4F0D-12B4-FA38-AF4F07269FC0}"/>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250 w 361670"/>
                <a:gd name="connsiteY5" fmla="*/ 180667 h 361333"/>
                <a:gd name="connsiteX6" fmla="*/ 99044 w 361670"/>
                <a:gd name="connsiteY6" fmla="*/ 252806 h 361333"/>
                <a:gd name="connsiteX7" fmla="*/ 92654 w 361670"/>
                <a:gd name="connsiteY7" fmla="*/ 246422 h 361333"/>
                <a:gd name="connsiteX8" fmla="*/ 99044 w 361670"/>
                <a:gd name="connsiteY8" fmla="*/ 240038 h 361333"/>
                <a:gd name="connsiteX9" fmla="*/ 157831 w 361670"/>
                <a:gd name="connsiteY9" fmla="*/ 187051 h 361333"/>
                <a:gd name="connsiteX10" fmla="*/ 99044 w 361670"/>
                <a:gd name="connsiteY10" fmla="*/ 187051 h 361333"/>
                <a:gd name="connsiteX11" fmla="*/ 92654 w 361670"/>
                <a:gd name="connsiteY11" fmla="*/ 180667 h 361333"/>
                <a:gd name="connsiteX12" fmla="*/ 92654 w 361670"/>
                <a:gd name="connsiteY12" fmla="*/ 114912 h 361333"/>
                <a:gd name="connsiteX13" fmla="*/ 99044 w 361670"/>
                <a:gd name="connsiteY13" fmla="*/ 108528 h 361333"/>
                <a:gd name="connsiteX14" fmla="*/ 164860 w 361670"/>
                <a:gd name="connsiteY14" fmla="*/ 108528 h 361333"/>
                <a:gd name="connsiteX15" fmla="*/ 171250 w 361670"/>
                <a:gd name="connsiteY15" fmla="*/ 114912 h 361333"/>
                <a:gd name="connsiteX16" fmla="*/ 171250 w 361670"/>
                <a:gd name="connsiteY16" fmla="*/ 180667 h 361333"/>
                <a:gd name="connsiteX17" fmla="*/ 269655 w 361670"/>
                <a:gd name="connsiteY17" fmla="*/ 180667 h 361333"/>
                <a:gd name="connsiteX18" fmla="*/ 197449 w 361670"/>
                <a:gd name="connsiteY18" fmla="*/ 252806 h 361333"/>
                <a:gd name="connsiteX19" fmla="*/ 191059 w 361670"/>
                <a:gd name="connsiteY19" fmla="*/ 246422 h 361333"/>
                <a:gd name="connsiteX20" fmla="*/ 197449 w 361670"/>
                <a:gd name="connsiteY20" fmla="*/ 240038 h 361333"/>
                <a:gd name="connsiteX21" fmla="*/ 256237 w 361670"/>
                <a:gd name="connsiteY21" fmla="*/ 187051 h 361333"/>
                <a:gd name="connsiteX22" fmla="*/ 197449 w 361670"/>
                <a:gd name="connsiteY22" fmla="*/ 187051 h 361333"/>
                <a:gd name="connsiteX23" fmla="*/ 191059 w 361670"/>
                <a:gd name="connsiteY23" fmla="*/ 180667 h 361333"/>
                <a:gd name="connsiteX24" fmla="*/ 191059 w 361670"/>
                <a:gd name="connsiteY24" fmla="*/ 114912 h 361333"/>
                <a:gd name="connsiteX25" fmla="*/ 197449 w 361670"/>
                <a:gd name="connsiteY25" fmla="*/ 108528 h 361333"/>
                <a:gd name="connsiteX26" fmla="*/ 263265 w 361670"/>
                <a:gd name="connsiteY26" fmla="*/ 108528 h 361333"/>
                <a:gd name="connsiteX27" fmla="*/ 269655 w 361670"/>
                <a:gd name="connsiteY27" fmla="*/ 114912 h 361333"/>
                <a:gd name="connsiteX28" fmla="*/ 269655 w 361670"/>
                <a:gd name="connsiteY2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71250" y="180667"/>
                  </a:moveTo>
                  <a:cubicBezTo>
                    <a:pt x="171250" y="221524"/>
                    <a:pt x="139940" y="252806"/>
                    <a:pt x="99044" y="252806"/>
                  </a:cubicBezTo>
                  <a:cubicBezTo>
                    <a:pt x="95210" y="252806"/>
                    <a:pt x="92654" y="250252"/>
                    <a:pt x="92654" y="246422"/>
                  </a:cubicBezTo>
                  <a:cubicBezTo>
                    <a:pt x="92654" y="242591"/>
                    <a:pt x="95210" y="240038"/>
                    <a:pt x="99044" y="240038"/>
                  </a:cubicBezTo>
                  <a:cubicBezTo>
                    <a:pt x="130994" y="240038"/>
                    <a:pt x="155275" y="217694"/>
                    <a:pt x="157831" y="187051"/>
                  </a:cubicBezTo>
                  <a:lnTo>
                    <a:pt x="99044" y="187051"/>
                  </a:lnTo>
                  <a:cubicBezTo>
                    <a:pt x="95210" y="187051"/>
                    <a:pt x="92654" y="184497"/>
                    <a:pt x="92654" y="180667"/>
                  </a:cubicBezTo>
                  <a:lnTo>
                    <a:pt x="92654" y="114912"/>
                  </a:lnTo>
                  <a:cubicBezTo>
                    <a:pt x="92654" y="111081"/>
                    <a:pt x="95210" y="108528"/>
                    <a:pt x="99044" y="108528"/>
                  </a:cubicBezTo>
                  <a:lnTo>
                    <a:pt x="164860" y="108528"/>
                  </a:lnTo>
                  <a:cubicBezTo>
                    <a:pt x="168694" y="108528"/>
                    <a:pt x="171250" y="111081"/>
                    <a:pt x="171250" y="114912"/>
                  </a:cubicBezTo>
                  <a:lnTo>
                    <a:pt x="171250" y="180667"/>
                  </a:lnTo>
                  <a:close/>
                  <a:moveTo>
                    <a:pt x="269655" y="180667"/>
                  </a:moveTo>
                  <a:cubicBezTo>
                    <a:pt x="269655" y="221524"/>
                    <a:pt x="238345" y="252806"/>
                    <a:pt x="197449" y="252806"/>
                  </a:cubicBezTo>
                  <a:cubicBezTo>
                    <a:pt x="193615" y="252806"/>
                    <a:pt x="191059" y="250252"/>
                    <a:pt x="191059" y="246422"/>
                  </a:cubicBezTo>
                  <a:cubicBezTo>
                    <a:pt x="191059" y="242591"/>
                    <a:pt x="193615" y="240038"/>
                    <a:pt x="197449" y="240038"/>
                  </a:cubicBezTo>
                  <a:cubicBezTo>
                    <a:pt x="229399" y="240038"/>
                    <a:pt x="253680" y="217694"/>
                    <a:pt x="256237" y="187051"/>
                  </a:cubicBezTo>
                  <a:lnTo>
                    <a:pt x="197449" y="187051"/>
                  </a:lnTo>
                  <a:cubicBezTo>
                    <a:pt x="193615" y="187051"/>
                    <a:pt x="191059" y="184497"/>
                    <a:pt x="191059" y="180667"/>
                  </a:cubicBezTo>
                  <a:lnTo>
                    <a:pt x="191059" y="114912"/>
                  </a:lnTo>
                  <a:cubicBezTo>
                    <a:pt x="191059" y="111081"/>
                    <a:pt x="193615" y="108528"/>
                    <a:pt x="197449" y="108528"/>
                  </a:cubicBezTo>
                  <a:lnTo>
                    <a:pt x="263265" y="108528"/>
                  </a:lnTo>
                  <a:cubicBezTo>
                    <a:pt x="267099" y="108528"/>
                    <a:pt x="269655" y="111081"/>
                    <a:pt x="269655" y="114912"/>
                  </a:cubicBezTo>
                  <a:lnTo>
                    <a:pt x="269655" y="180667"/>
                  </a:lnTo>
                  <a:close/>
                </a:path>
              </a:pathLst>
            </a:custGeom>
            <a:grpFill/>
            <a:ln w="6390" cap="flat">
              <a:noFill/>
              <a:prstDash val="solid"/>
              <a:miter/>
            </a:ln>
          </p:spPr>
          <p:txBody>
            <a:bodyPr rtlCol="0" anchor="ctr"/>
            <a:lstStyle/>
            <a:p>
              <a:endParaRPr lang="en-US"/>
            </a:p>
          </p:txBody>
        </p:sp>
        <p:sp>
          <p:nvSpPr>
            <p:cNvPr id="584" name="Graphic 4">
              <a:extLst>
                <a:ext uri="{FF2B5EF4-FFF2-40B4-BE49-F238E27FC236}">
                  <a16:creationId xmlns:a16="http://schemas.microsoft.com/office/drawing/2014/main" id="{5AF56576-9CCC-578B-B6E6-EBAD799B83FF}"/>
                </a:ext>
              </a:extLst>
            </p:cNvPr>
            <p:cNvSpPr/>
            <p:nvPr/>
          </p:nvSpPr>
          <p:spPr>
            <a:xfrm>
              <a:off x="1010888" y="2492469"/>
              <a:ext cx="53036" cy="52987"/>
            </a:xfrm>
            <a:custGeom>
              <a:avLst/>
              <a:gdLst>
                <a:gd name="connsiteX0" fmla="*/ 0 w 53036"/>
                <a:gd name="connsiteY0" fmla="*/ 0 h 52987"/>
                <a:gd name="connsiteX1" fmla="*/ 53036 w 53036"/>
                <a:gd name="connsiteY1" fmla="*/ 0 h 52987"/>
                <a:gd name="connsiteX2" fmla="*/ 53036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6" y="0"/>
                  </a:lnTo>
                  <a:lnTo>
                    <a:pt x="53036" y="52987"/>
                  </a:lnTo>
                  <a:lnTo>
                    <a:pt x="0" y="52987"/>
                  </a:lnTo>
                  <a:close/>
                </a:path>
              </a:pathLst>
            </a:custGeom>
            <a:grpFill/>
            <a:ln w="6390" cap="flat">
              <a:noFill/>
              <a:prstDash val="solid"/>
              <a:miter/>
            </a:ln>
          </p:spPr>
          <p:txBody>
            <a:bodyPr rtlCol="0" anchor="ctr"/>
            <a:lstStyle/>
            <a:p>
              <a:endParaRPr lang="en-US"/>
            </a:p>
          </p:txBody>
        </p:sp>
      </p:grpSp>
      <p:grpSp>
        <p:nvGrpSpPr>
          <p:cNvPr id="21" name="Group 20">
            <a:extLst>
              <a:ext uri="{FF2B5EF4-FFF2-40B4-BE49-F238E27FC236}">
                <a16:creationId xmlns:a16="http://schemas.microsoft.com/office/drawing/2014/main" id="{4AA0314D-274E-8FBD-31B5-92CD965646F2}"/>
              </a:ext>
            </a:extLst>
          </p:cNvPr>
          <p:cNvGrpSpPr/>
          <p:nvPr/>
        </p:nvGrpSpPr>
        <p:grpSpPr>
          <a:xfrm>
            <a:off x="4768557" y="1170496"/>
            <a:ext cx="2455449" cy="3646158"/>
            <a:chOff x="4453351" y="1527920"/>
            <a:chExt cx="1721777" cy="2477350"/>
          </a:xfrm>
        </p:grpSpPr>
        <p:sp>
          <p:nvSpPr>
            <p:cNvPr id="15" name="Rectangle 14">
              <a:extLst>
                <a:ext uri="{FF2B5EF4-FFF2-40B4-BE49-F238E27FC236}">
                  <a16:creationId xmlns:a16="http://schemas.microsoft.com/office/drawing/2014/main" id="{EC776173-50A4-4228-25ED-79D406C17493}"/>
                </a:ext>
              </a:extLst>
            </p:cNvPr>
            <p:cNvSpPr/>
            <p:nvPr/>
          </p:nvSpPr>
          <p:spPr>
            <a:xfrm>
              <a:off x="4478939" y="1945646"/>
              <a:ext cx="1684084" cy="353387"/>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rial" panose="020B0604020202020204" pitchFamily="34" charset="0"/>
                  <a:cs typeface="Arial" panose="020B0604020202020204" pitchFamily="34" charset="0"/>
                </a:rPr>
                <a:t>Kathmandu Valley Reinforcement</a:t>
              </a:r>
            </a:p>
          </p:txBody>
        </p:sp>
        <p:sp>
          <p:nvSpPr>
            <p:cNvPr id="16" name="Rectangle 15">
              <a:extLst>
                <a:ext uri="{FF2B5EF4-FFF2-40B4-BE49-F238E27FC236}">
                  <a16:creationId xmlns:a16="http://schemas.microsoft.com/office/drawing/2014/main" id="{0BB7D60F-CEF1-DC86-626C-2ADB608E5DC7}"/>
                </a:ext>
              </a:extLst>
            </p:cNvPr>
            <p:cNvSpPr/>
            <p:nvPr/>
          </p:nvSpPr>
          <p:spPr>
            <a:xfrm>
              <a:off x="4453351" y="1527920"/>
              <a:ext cx="1709672" cy="35474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a:solidFill>
                    <a:schemeClr val="tx1"/>
                  </a:solidFill>
                  <a:latin typeface="Arial" panose="020B0604020202020204" pitchFamily="34" charset="0"/>
                  <a:cs typeface="Arial" panose="020B0604020202020204" pitchFamily="34" charset="0"/>
                </a:rPr>
                <a:t>Major Planned Projects</a:t>
              </a:r>
              <a:endParaRPr kumimoji="0" lang="en-US" sz="1400" b="0" i="0" u="none" strike="noStrike" kern="1200" cap="none" spc="0" normalizeH="0" baseline="0" noProof="0">
                <a:ln>
                  <a:noFill/>
                </a:ln>
                <a:solidFill>
                  <a:schemeClr val="tx1"/>
                </a:solidFill>
                <a:effectLst/>
                <a:uLnTx/>
                <a:uFillTx/>
                <a:latin typeface="Arial" panose="020B0604020202020204" pitchFamily="34" charset="0"/>
                <a:cs typeface="Arial" panose="020B0604020202020204" pitchFamily="34" charset="0"/>
              </a:endParaRPr>
            </a:p>
          </p:txBody>
        </p:sp>
        <p:sp>
          <p:nvSpPr>
            <p:cNvPr id="17" name="Rectangle 16">
              <a:extLst>
                <a:ext uri="{FF2B5EF4-FFF2-40B4-BE49-F238E27FC236}">
                  <a16:creationId xmlns:a16="http://schemas.microsoft.com/office/drawing/2014/main" id="{F6FDF6B0-056F-A269-AD1E-086311CB0F70}"/>
                </a:ext>
              </a:extLst>
            </p:cNvPr>
            <p:cNvSpPr/>
            <p:nvPr/>
          </p:nvSpPr>
          <p:spPr>
            <a:xfrm>
              <a:off x="4462820" y="2374802"/>
              <a:ext cx="1684084" cy="353387"/>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rial" panose="020B0604020202020204" pitchFamily="34" charset="0"/>
                  <a:cs typeface="Arial" panose="020B0604020202020204" pitchFamily="34" charset="0"/>
                </a:rPr>
                <a:t>Arun-</a:t>
              </a:r>
              <a:r>
                <a:rPr kumimoji="0" lang="en-US" sz="1200" b="0" i="0" u="none" strike="noStrike" kern="1200" cap="none" spc="0" normalizeH="0" baseline="0" noProof="0" err="1">
                  <a:ln>
                    <a:noFill/>
                  </a:ln>
                  <a:solidFill>
                    <a:schemeClr val="tx1"/>
                  </a:solidFill>
                  <a:effectLst/>
                  <a:uLnTx/>
                  <a:uFillTx/>
                  <a:latin typeface="Arial" panose="020B0604020202020204" pitchFamily="34" charset="0"/>
                  <a:cs typeface="Arial" panose="020B0604020202020204" pitchFamily="34" charset="0"/>
                </a:rPr>
                <a:t>InaruwaTingla</a:t>
              </a:r>
              <a:r>
                <a:rPr kumimoji="0" lang="en-US" sz="1200" b="0" i="0" u="none" strike="noStrike" kern="1200" cap="none" spc="0" normalizeH="0" baseline="0" noProof="0">
                  <a:ln>
                    <a:noFill/>
                  </a:ln>
                  <a:solidFill>
                    <a:schemeClr val="tx1"/>
                  </a:solidFill>
                  <a:effectLst/>
                  <a:uLnTx/>
                  <a:uFillTx/>
                  <a:latin typeface="Arial" panose="020B0604020202020204" pitchFamily="34" charset="0"/>
                  <a:cs typeface="Arial" panose="020B0604020202020204" pitchFamily="34" charset="0"/>
                </a:rPr>
                <a:t>-</a:t>
              </a:r>
              <a:r>
                <a:rPr kumimoji="0" lang="en-US" sz="1200" b="0" i="0" u="none" strike="noStrike" kern="1200" cap="none" spc="0" normalizeH="0" baseline="0" noProof="0" err="1">
                  <a:ln>
                    <a:noFill/>
                  </a:ln>
                  <a:solidFill>
                    <a:schemeClr val="tx1"/>
                  </a:solidFill>
                  <a:effectLst/>
                  <a:uLnTx/>
                  <a:uFillTx/>
                  <a:latin typeface="Arial" panose="020B0604020202020204" pitchFamily="34" charset="0"/>
                  <a:cs typeface="Arial" panose="020B0604020202020204" pitchFamily="34" charset="0"/>
                </a:rPr>
                <a:t>Mirchaiya</a:t>
              </a:r>
              <a:r>
                <a:rPr kumimoji="0" lang="en-US" sz="1200" b="0" i="0" u="none" strike="noStrike" kern="1200" cap="none" spc="0" normalizeH="0" baseline="0" noProof="0">
                  <a:ln>
                    <a:noFill/>
                  </a:ln>
                  <a:solidFill>
                    <a:schemeClr val="tx1"/>
                  </a:solidFill>
                  <a:effectLst/>
                  <a:uLnTx/>
                  <a:uFillTx/>
                  <a:latin typeface="Arial" panose="020B0604020202020204" pitchFamily="34" charset="0"/>
                  <a:cs typeface="Arial" panose="020B0604020202020204" pitchFamily="34" charset="0"/>
                </a:rPr>
                <a:t> 400 kV </a:t>
              </a:r>
            </a:p>
          </p:txBody>
        </p:sp>
        <p:sp>
          <p:nvSpPr>
            <p:cNvPr id="18" name="Rectangle 17">
              <a:extLst>
                <a:ext uri="{FF2B5EF4-FFF2-40B4-BE49-F238E27FC236}">
                  <a16:creationId xmlns:a16="http://schemas.microsoft.com/office/drawing/2014/main" id="{B80FE312-6DF3-0CFE-05E7-DE9E1EB553EC}"/>
                </a:ext>
              </a:extLst>
            </p:cNvPr>
            <p:cNvSpPr/>
            <p:nvPr/>
          </p:nvSpPr>
          <p:spPr>
            <a:xfrm>
              <a:off x="4462820" y="2820757"/>
              <a:ext cx="1684084" cy="353387"/>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err="1">
                  <a:ln>
                    <a:noFill/>
                  </a:ln>
                  <a:solidFill>
                    <a:schemeClr val="tx1"/>
                  </a:solidFill>
                  <a:effectLst/>
                  <a:uLnTx/>
                  <a:uFillTx/>
                  <a:latin typeface="Arial" panose="020B0604020202020204" pitchFamily="34" charset="0"/>
                  <a:cs typeface="Arial" panose="020B0604020202020204" pitchFamily="34" charset="0"/>
                </a:rPr>
                <a:t>Dudhkoshi-Dhalkebar</a:t>
              </a:r>
              <a:r>
                <a:rPr kumimoji="0" lang="en-US" sz="1200" b="0" i="0" u="none" strike="noStrike" kern="1200" cap="none" spc="0" normalizeH="0" baseline="0" noProof="0">
                  <a:ln>
                    <a:noFill/>
                  </a:ln>
                  <a:solidFill>
                    <a:schemeClr val="tx1"/>
                  </a:solidFill>
                  <a:effectLst/>
                  <a:uLnTx/>
                  <a:uFillTx/>
                  <a:latin typeface="Arial" panose="020B0604020202020204" pitchFamily="34" charset="0"/>
                  <a:cs typeface="Arial" panose="020B0604020202020204" pitchFamily="34" charset="0"/>
                </a:rPr>
                <a:t> 400 kV Project 	</a:t>
              </a:r>
            </a:p>
          </p:txBody>
        </p:sp>
        <p:sp>
          <p:nvSpPr>
            <p:cNvPr id="19" name="Rectangle 18">
              <a:extLst>
                <a:ext uri="{FF2B5EF4-FFF2-40B4-BE49-F238E27FC236}">
                  <a16:creationId xmlns:a16="http://schemas.microsoft.com/office/drawing/2014/main" id="{D94CC509-B118-2521-0296-9C2E2D123CFE}"/>
                </a:ext>
              </a:extLst>
            </p:cNvPr>
            <p:cNvSpPr/>
            <p:nvPr/>
          </p:nvSpPr>
          <p:spPr>
            <a:xfrm>
              <a:off x="4478939" y="3238925"/>
              <a:ext cx="1684084" cy="353387"/>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rial" panose="020B0604020202020204" pitchFamily="34" charset="0"/>
                  <a:cs typeface="Arial" panose="020B0604020202020204" pitchFamily="34" charset="0"/>
                </a:rPr>
                <a:t>New Butwal-</a:t>
              </a:r>
              <a:r>
                <a:rPr kumimoji="0" lang="en-US" sz="1200" b="0" i="0" u="none" strike="noStrike" kern="1200" cap="none" spc="0" normalizeH="0" baseline="0" noProof="0" err="1">
                  <a:ln>
                    <a:noFill/>
                  </a:ln>
                  <a:solidFill>
                    <a:schemeClr val="tx1"/>
                  </a:solidFill>
                  <a:effectLst/>
                  <a:uLnTx/>
                  <a:uFillTx/>
                  <a:latin typeface="Arial" panose="020B0604020202020204" pitchFamily="34" charset="0"/>
                  <a:cs typeface="Arial" panose="020B0604020202020204" pitchFamily="34" charset="0"/>
                </a:rPr>
                <a:t>Lamhi</a:t>
              </a:r>
              <a:r>
                <a:rPr kumimoji="0" lang="en-US" sz="1200" b="0" i="0" u="none" strike="noStrike" kern="1200" cap="none" spc="0" normalizeH="0" baseline="0" noProof="0">
                  <a:ln>
                    <a:noFill/>
                  </a:ln>
                  <a:solidFill>
                    <a:schemeClr val="tx1"/>
                  </a:solidFill>
                  <a:effectLst/>
                  <a:uLnTx/>
                  <a:uFillTx/>
                  <a:latin typeface="Arial" panose="020B0604020202020204" pitchFamily="34" charset="0"/>
                  <a:cs typeface="Arial" panose="020B0604020202020204" pitchFamily="34" charset="0"/>
                </a:rPr>
                <a:t> 400 kV Project</a:t>
              </a:r>
            </a:p>
          </p:txBody>
        </p:sp>
        <p:sp>
          <p:nvSpPr>
            <p:cNvPr id="20" name="Rectangle 19">
              <a:extLst>
                <a:ext uri="{FF2B5EF4-FFF2-40B4-BE49-F238E27FC236}">
                  <a16:creationId xmlns:a16="http://schemas.microsoft.com/office/drawing/2014/main" id="{72AAA6CE-6AF9-CCC5-2CB2-1C4EA8707F2B}"/>
                </a:ext>
              </a:extLst>
            </p:cNvPr>
            <p:cNvSpPr/>
            <p:nvPr/>
          </p:nvSpPr>
          <p:spPr>
            <a:xfrm>
              <a:off x="4491044" y="3651883"/>
              <a:ext cx="1684084" cy="353387"/>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err="1">
                  <a:ln>
                    <a:noFill/>
                  </a:ln>
                  <a:solidFill>
                    <a:schemeClr val="tx1"/>
                  </a:solidFill>
                  <a:effectLst/>
                  <a:uLnTx/>
                  <a:uFillTx/>
                  <a:latin typeface="Arial" panose="020B0604020202020204" pitchFamily="34" charset="0"/>
                  <a:cs typeface="Arial" panose="020B0604020202020204" pitchFamily="34" charset="0"/>
                </a:rPr>
                <a:t>Marsyangdi</a:t>
              </a:r>
              <a:r>
                <a:rPr kumimoji="0" lang="en-US" sz="1200" b="0" i="0" u="none" strike="noStrike" kern="1200" cap="none" spc="0" normalizeH="0" baseline="0" noProof="0">
                  <a:ln>
                    <a:noFill/>
                  </a:ln>
                  <a:solidFill>
                    <a:schemeClr val="tx1"/>
                  </a:solidFill>
                  <a:effectLst/>
                  <a:uLnTx/>
                  <a:uFillTx/>
                  <a:latin typeface="Arial" panose="020B0604020202020204" pitchFamily="34" charset="0"/>
                  <a:cs typeface="Arial" panose="020B0604020202020204" pitchFamily="34" charset="0"/>
                </a:rPr>
                <a:t> Corridor 220 kV Project</a:t>
              </a:r>
            </a:p>
          </p:txBody>
        </p:sp>
      </p:grpSp>
      <p:graphicFrame>
        <p:nvGraphicFramePr>
          <p:cNvPr id="28" name="Table 27">
            <a:extLst>
              <a:ext uri="{FF2B5EF4-FFF2-40B4-BE49-F238E27FC236}">
                <a16:creationId xmlns:a16="http://schemas.microsoft.com/office/drawing/2014/main" id="{C896BB52-AC21-ACC9-1008-64D6799EC05C}"/>
              </a:ext>
            </a:extLst>
          </p:cNvPr>
          <p:cNvGraphicFramePr>
            <a:graphicFrameLocks noGrp="1"/>
          </p:cNvGraphicFramePr>
          <p:nvPr>
            <p:extLst>
              <p:ext uri="{D42A27DB-BD31-4B8C-83A1-F6EECF244321}">
                <p14:modId xmlns:p14="http://schemas.microsoft.com/office/powerpoint/2010/main" val="2574798287"/>
              </p:ext>
            </p:extLst>
          </p:nvPr>
        </p:nvGraphicFramePr>
        <p:xfrm>
          <a:off x="7451960" y="1170498"/>
          <a:ext cx="3919068" cy="3646150"/>
        </p:xfrm>
        <a:graphic>
          <a:graphicData uri="http://schemas.openxmlformats.org/drawingml/2006/table">
            <a:tbl>
              <a:tblPr firstRow="1" bandRow="1">
                <a:tableStyleId>{21E4AEA4-8DFA-4A89-87EB-49C32662AFE0}</a:tableStyleId>
              </a:tblPr>
              <a:tblGrid>
                <a:gridCol w="1354285">
                  <a:extLst>
                    <a:ext uri="{9D8B030D-6E8A-4147-A177-3AD203B41FA5}">
                      <a16:colId xmlns:a16="http://schemas.microsoft.com/office/drawing/2014/main" val="1583114042"/>
                    </a:ext>
                  </a:extLst>
                </a:gridCol>
                <a:gridCol w="1323736">
                  <a:extLst>
                    <a:ext uri="{9D8B030D-6E8A-4147-A177-3AD203B41FA5}">
                      <a16:colId xmlns:a16="http://schemas.microsoft.com/office/drawing/2014/main" val="1038853195"/>
                    </a:ext>
                  </a:extLst>
                </a:gridCol>
                <a:gridCol w="1241047">
                  <a:extLst>
                    <a:ext uri="{9D8B030D-6E8A-4147-A177-3AD203B41FA5}">
                      <a16:colId xmlns:a16="http://schemas.microsoft.com/office/drawing/2014/main" val="670544483"/>
                    </a:ext>
                  </a:extLst>
                </a:gridCol>
              </a:tblGrid>
              <a:tr h="364615">
                <a:tc>
                  <a:txBody>
                    <a:bodyPr/>
                    <a:lstStyle/>
                    <a:p>
                      <a:r>
                        <a:rPr lang="en-IN" sz="1400"/>
                        <a:t>Parameter</a:t>
                      </a:r>
                    </a:p>
                  </a:txBody>
                  <a:tcPr marL="100834" marR="100834" marT="50417" marB="50417" anchor="ctr"/>
                </a:tc>
                <a:tc>
                  <a:txBody>
                    <a:bodyPr/>
                    <a:lstStyle/>
                    <a:p>
                      <a:pPr algn="ctr"/>
                      <a:r>
                        <a:rPr lang="en-IN" sz="1400"/>
                        <a:t>Voltage</a:t>
                      </a:r>
                    </a:p>
                  </a:txBody>
                  <a:tcPr marL="100834" marR="100834" marT="50417" marB="50417" anchor="ctr"/>
                </a:tc>
                <a:tc>
                  <a:txBody>
                    <a:bodyPr/>
                    <a:lstStyle/>
                    <a:p>
                      <a:pPr algn="ctr"/>
                      <a:r>
                        <a:rPr lang="en-US" sz="1400"/>
                        <a:t>Planned</a:t>
                      </a:r>
                      <a:endParaRPr lang="en-IN" sz="1400"/>
                    </a:p>
                  </a:txBody>
                  <a:tcPr marL="100834" marR="100834" marT="50417" marB="50417" anchor="ctr"/>
                </a:tc>
                <a:extLst>
                  <a:ext uri="{0D108BD9-81ED-4DB2-BD59-A6C34878D82A}">
                    <a16:rowId xmlns:a16="http://schemas.microsoft.com/office/drawing/2014/main" val="622514241"/>
                  </a:ext>
                </a:extLst>
              </a:tr>
              <a:tr h="364615">
                <a:tc rowSpan="4">
                  <a:txBody>
                    <a:bodyPr/>
                    <a:lstStyle/>
                    <a:p>
                      <a:r>
                        <a:rPr lang="en-US" sz="1400"/>
                        <a:t>Line (Ckt KM)</a:t>
                      </a:r>
                      <a:endParaRPr lang="en-IN" sz="1400"/>
                    </a:p>
                  </a:txBody>
                  <a:tcPr marL="100834" marR="100834" marT="50417" marB="50417" anchor="ctr"/>
                </a:tc>
                <a:tc>
                  <a:txBody>
                    <a:bodyPr/>
                    <a:lstStyle/>
                    <a:p>
                      <a:pPr algn="ctr"/>
                      <a:r>
                        <a:rPr lang="en-IN" sz="1400" u="none" strike="noStrike" kern="1200" baseline="0"/>
                        <a:t>66kV</a:t>
                      </a:r>
                      <a:endParaRPr lang="en-IN" sz="1400" b="0" i="0" u="none" strike="noStrike" kern="1200" baseline="0">
                        <a:solidFill>
                          <a:schemeClr val="dk1"/>
                        </a:solidFill>
                        <a:latin typeface="+mn-lt"/>
                        <a:ea typeface="+mn-ea"/>
                        <a:cs typeface="+mn-cs"/>
                      </a:endParaRPr>
                    </a:p>
                  </a:txBody>
                  <a:tcPr marL="100834" marR="100834" marT="50417" marB="50417" anchor="ctr"/>
                </a:tc>
                <a:tc>
                  <a:txBody>
                    <a:bodyPr/>
                    <a:lstStyle/>
                    <a:p>
                      <a:pPr algn="ctr"/>
                      <a:r>
                        <a:rPr lang="en-IN" sz="1400"/>
                        <a:t>-</a:t>
                      </a:r>
                    </a:p>
                  </a:txBody>
                  <a:tcPr marL="100834" marR="100834" marT="50417" marB="50417" anchor="ctr"/>
                </a:tc>
                <a:extLst>
                  <a:ext uri="{0D108BD9-81ED-4DB2-BD59-A6C34878D82A}">
                    <a16:rowId xmlns:a16="http://schemas.microsoft.com/office/drawing/2014/main" val="2370900951"/>
                  </a:ext>
                </a:extLst>
              </a:tr>
              <a:tr h="364615">
                <a:tc vMerge="1">
                  <a:txBody>
                    <a:bodyPr/>
                    <a:lstStyle/>
                    <a:p>
                      <a:endParaRPr lang="en-IN"/>
                    </a:p>
                  </a:txBody>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IN" sz="1400" u="none" strike="noStrike" kern="1200" baseline="0"/>
                        <a:t>132kV</a:t>
                      </a:r>
                      <a:endParaRPr lang="en-IN" sz="1400" b="0" i="0" u="none" strike="noStrike" kern="1200" baseline="0">
                        <a:solidFill>
                          <a:schemeClr val="dk1"/>
                        </a:solidFill>
                        <a:latin typeface="+mn-lt"/>
                        <a:ea typeface="+mn-ea"/>
                        <a:cs typeface="+mn-cs"/>
                      </a:endParaRPr>
                    </a:p>
                  </a:txBody>
                  <a:tcPr marL="100834" marR="100834" marT="50417" marB="50417" anchor="ctr"/>
                </a:tc>
                <a:tc>
                  <a:txBody>
                    <a:bodyPr/>
                    <a:lstStyle/>
                    <a:p>
                      <a:pPr algn="ctr"/>
                      <a:r>
                        <a:rPr lang="en-IN" sz="1400" b="0" i="0" u="none" strike="noStrike" baseline="0">
                          <a:latin typeface="+mn-lt"/>
                        </a:rPr>
                        <a:t>936</a:t>
                      </a:r>
                    </a:p>
                  </a:txBody>
                  <a:tcPr marL="100834" marR="100834" marT="50417" marB="50417" anchor="ctr"/>
                </a:tc>
                <a:extLst>
                  <a:ext uri="{0D108BD9-81ED-4DB2-BD59-A6C34878D82A}">
                    <a16:rowId xmlns:a16="http://schemas.microsoft.com/office/drawing/2014/main" val="2081613159"/>
                  </a:ext>
                </a:extLst>
              </a:tr>
              <a:tr h="364615">
                <a:tc vMerge="1">
                  <a:txBody>
                    <a:bodyPr/>
                    <a:lstStyle/>
                    <a:p>
                      <a:endParaRPr lang="en-IN"/>
                    </a:p>
                  </a:txBody>
                  <a:tcPr/>
                </a:tc>
                <a:tc>
                  <a:txBody>
                    <a:bodyPr/>
                    <a:lstStyle/>
                    <a:p>
                      <a:pPr algn="ctr"/>
                      <a:r>
                        <a:rPr lang="en-US" sz="1400"/>
                        <a:t>220 kV</a:t>
                      </a:r>
                      <a:endParaRPr lang="en-IN" sz="1400"/>
                    </a:p>
                  </a:txBody>
                  <a:tcPr marL="100834" marR="100834" marT="50417" marB="50417" anchor="ctr"/>
                </a:tc>
                <a:tc>
                  <a:txBody>
                    <a:bodyPr/>
                    <a:lstStyle/>
                    <a:p>
                      <a:pPr algn="ctr"/>
                      <a:r>
                        <a:rPr lang="en-IN" sz="1400" b="0" i="0" u="none" strike="noStrike" baseline="0">
                          <a:latin typeface="+mn-lt"/>
                        </a:rPr>
                        <a:t>1780</a:t>
                      </a:r>
                    </a:p>
                  </a:txBody>
                  <a:tcPr marL="100834" marR="100834" marT="50417" marB="50417" anchor="ctr"/>
                </a:tc>
                <a:extLst>
                  <a:ext uri="{0D108BD9-81ED-4DB2-BD59-A6C34878D82A}">
                    <a16:rowId xmlns:a16="http://schemas.microsoft.com/office/drawing/2014/main" val="1799200313"/>
                  </a:ext>
                </a:extLst>
              </a:tr>
              <a:tr h="364615">
                <a:tc vMerge="1">
                  <a:txBody>
                    <a:bodyPr/>
                    <a:lstStyle/>
                    <a:p>
                      <a:endParaRPr lang="en-IN"/>
                    </a:p>
                  </a:txBody>
                  <a:tcPr/>
                </a:tc>
                <a:tc>
                  <a:txBody>
                    <a:bodyPr/>
                    <a:lstStyle/>
                    <a:p>
                      <a:pPr algn="ctr"/>
                      <a:r>
                        <a:rPr lang="en-US" sz="1400"/>
                        <a:t>400 kV</a:t>
                      </a:r>
                      <a:endParaRPr lang="en-IN" sz="1400"/>
                    </a:p>
                  </a:txBody>
                  <a:tcPr marL="100834" marR="100834" marT="50417" marB="50417" anchor="ctr"/>
                </a:tc>
                <a:tc>
                  <a:txBody>
                    <a:bodyPr/>
                    <a:lstStyle/>
                    <a:p>
                      <a:pPr algn="ctr"/>
                      <a:r>
                        <a:rPr lang="en-IN" sz="1400" b="0" i="0" u="none" strike="noStrike" baseline="0">
                          <a:latin typeface="+mn-lt"/>
                        </a:rPr>
                        <a:t>3634</a:t>
                      </a:r>
                      <a:endParaRPr lang="en-IN" sz="900">
                        <a:latin typeface="+mn-lt"/>
                      </a:endParaRPr>
                    </a:p>
                  </a:txBody>
                  <a:tcPr marL="100834" marR="100834" marT="50417" marB="50417" anchor="ctr"/>
                </a:tc>
                <a:extLst>
                  <a:ext uri="{0D108BD9-81ED-4DB2-BD59-A6C34878D82A}">
                    <a16:rowId xmlns:a16="http://schemas.microsoft.com/office/drawing/2014/main" val="867605146"/>
                  </a:ext>
                </a:extLst>
              </a:tr>
              <a:tr h="364615">
                <a:tc rowSpan="5">
                  <a:txBody>
                    <a:bodyPr/>
                    <a:lstStyle/>
                    <a:p>
                      <a:r>
                        <a:rPr lang="en-US" sz="1400"/>
                        <a:t>Sub-station (MVA)</a:t>
                      </a:r>
                      <a:r>
                        <a:rPr lang="en-US" sz="1400" baseline="0"/>
                        <a:t> </a:t>
                      </a:r>
                      <a:endParaRPr lang="en-IN" sz="1400"/>
                    </a:p>
                  </a:txBody>
                  <a:tcPr marL="100834" marR="100834" marT="50417" marB="50417" anchor="ctr"/>
                </a:tc>
                <a:tc>
                  <a:txBody>
                    <a:bodyPr/>
                    <a:lstStyle/>
                    <a:p>
                      <a:pPr algn="ctr"/>
                      <a:r>
                        <a:rPr lang="en-IN" sz="1400" u="none" strike="noStrike" kern="1200" baseline="0"/>
                        <a:t>33kV</a:t>
                      </a:r>
                      <a:endParaRPr lang="en-IN" sz="1400" b="0" i="0" u="none" strike="noStrike" kern="1200" baseline="0">
                        <a:solidFill>
                          <a:schemeClr val="dk1"/>
                        </a:solidFill>
                        <a:latin typeface="+mn-lt"/>
                        <a:ea typeface="+mn-ea"/>
                        <a:cs typeface="+mn-cs"/>
                      </a:endParaRPr>
                    </a:p>
                  </a:txBody>
                  <a:tcPr marL="100834" marR="100834" marT="50417" marB="50417" anchor="ctr"/>
                </a:tc>
                <a:tc>
                  <a:txBody>
                    <a:bodyPr/>
                    <a:lstStyle/>
                    <a:p>
                      <a:pPr algn="ctr"/>
                      <a:r>
                        <a:rPr lang="en-IN" sz="1400"/>
                        <a:t>176.5</a:t>
                      </a:r>
                    </a:p>
                  </a:txBody>
                  <a:tcPr marL="100834" marR="100834" marT="50417" marB="50417" anchor="ctr"/>
                </a:tc>
                <a:extLst>
                  <a:ext uri="{0D108BD9-81ED-4DB2-BD59-A6C34878D82A}">
                    <a16:rowId xmlns:a16="http://schemas.microsoft.com/office/drawing/2014/main" val="2809516563"/>
                  </a:ext>
                </a:extLst>
              </a:tr>
              <a:tr h="364615">
                <a:tc vMerge="1">
                  <a:txBody>
                    <a:bodyPr/>
                    <a:lstStyle/>
                    <a:p>
                      <a:endParaRPr lang="en-IN" sz="1100"/>
                    </a:p>
                  </a:txBody>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IN" sz="1400" u="none" strike="noStrike" kern="1200" baseline="0"/>
                        <a:t>132kV</a:t>
                      </a:r>
                      <a:endParaRPr lang="en-IN" sz="1400" b="0" i="0" u="none" strike="noStrike" kern="1200" baseline="0">
                        <a:solidFill>
                          <a:schemeClr val="dk1"/>
                        </a:solidFill>
                        <a:latin typeface="+mn-lt"/>
                        <a:ea typeface="+mn-ea"/>
                        <a:cs typeface="+mn-cs"/>
                      </a:endParaRPr>
                    </a:p>
                  </a:txBody>
                  <a:tcPr marL="100834" marR="100834" marT="50417" marB="50417" anchor="ctr"/>
                </a:tc>
                <a:tc>
                  <a:txBody>
                    <a:bodyPr/>
                    <a:lstStyle/>
                    <a:p>
                      <a:pPr algn="ctr"/>
                      <a:r>
                        <a:rPr lang="en-IN" sz="1400"/>
                        <a:t>2935</a:t>
                      </a:r>
                    </a:p>
                  </a:txBody>
                  <a:tcPr marL="100834" marR="100834" marT="50417" marB="50417" anchor="ctr"/>
                </a:tc>
                <a:extLst>
                  <a:ext uri="{0D108BD9-81ED-4DB2-BD59-A6C34878D82A}">
                    <a16:rowId xmlns:a16="http://schemas.microsoft.com/office/drawing/2014/main" val="3447165847"/>
                  </a:ext>
                </a:extLst>
              </a:tr>
              <a:tr h="364615">
                <a:tc vMerge="1">
                  <a:txBody>
                    <a:bodyPr/>
                    <a:lstStyle/>
                    <a:p>
                      <a:endParaRPr lang="en-IN" sz="1100"/>
                    </a:p>
                  </a:txBody>
                  <a:tcPr/>
                </a:tc>
                <a:tc>
                  <a:txBody>
                    <a:bodyPr/>
                    <a:lstStyle/>
                    <a:p>
                      <a:pPr algn="ctr"/>
                      <a:r>
                        <a:rPr lang="en-US" sz="1400"/>
                        <a:t>220 kV</a:t>
                      </a:r>
                      <a:endParaRPr lang="en-IN" sz="1400"/>
                    </a:p>
                  </a:txBody>
                  <a:tcPr marL="100834" marR="100834" marT="50417" marB="50417" anchor="ctr"/>
                </a:tc>
                <a:tc>
                  <a:txBody>
                    <a:bodyPr/>
                    <a:lstStyle/>
                    <a:p>
                      <a:pPr algn="ctr"/>
                      <a:r>
                        <a:rPr lang="en-IN" sz="1400"/>
                        <a:t>1840</a:t>
                      </a:r>
                    </a:p>
                  </a:txBody>
                  <a:tcPr marL="100834" marR="100834" marT="50417" marB="50417" anchor="ctr"/>
                </a:tc>
                <a:extLst>
                  <a:ext uri="{0D108BD9-81ED-4DB2-BD59-A6C34878D82A}">
                    <a16:rowId xmlns:a16="http://schemas.microsoft.com/office/drawing/2014/main" val="345013678"/>
                  </a:ext>
                </a:extLst>
              </a:tr>
              <a:tr h="364615">
                <a:tc vMerge="1">
                  <a:txBody>
                    <a:bodyPr/>
                    <a:lstStyle/>
                    <a:p>
                      <a:endParaRPr lang="en-IN" sz="1100"/>
                    </a:p>
                  </a:txBody>
                  <a:tcPr/>
                </a:tc>
                <a:tc>
                  <a:txBody>
                    <a:bodyPr/>
                    <a:lstStyle/>
                    <a:p>
                      <a:pPr algn="ctr"/>
                      <a:r>
                        <a:rPr lang="en-US" sz="1400"/>
                        <a:t>400 kV</a:t>
                      </a:r>
                      <a:endParaRPr lang="en-IN" sz="1400"/>
                    </a:p>
                  </a:txBody>
                  <a:tcPr marL="100834" marR="100834" marT="50417" marB="50417" anchor="ctr"/>
                </a:tc>
                <a:tc>
                  <a:txBody>
                    <a:bodyPr/>
                    <a:lstStyle/>
                    <a:p>
                      <a:pPr algn="ctr"/>
                      <a:r>
                        <a:rPr lang="en-IN" sz="1400"/>
                        <a:t>6670</a:t>
                      </a:r>
                    </a:p>
                  </a:txBody>
                  <a:tcPr marL="100834" marR="100834" marT="50417" marB="50417" anchor="ctr"/>
                </a:tc>
                <a:extLst>
                  <a:ext uri="{0D108BD9-81ED-4DB2-BD59-A6C34878D82A}">
                    <a16:rowId xmlns:a16="http://schemas.microsoft.com/office/drawing/2014/main" val="3902969553"/>
                  </a:ext>
                </a:extLst>
              </a:tr>
              <a:tr h="364615">
                <a:tc vMerge="1">
                  <a:txBody>
                    <a:bodyPr/>
                    <a:lstStyle/>
                    <a:p>
                      <a:endParaRPr lang="en-IN" sz="1200"/>
                    </a:p>
                  </a:txBody>
                  <a:tcPr marL="100834" marR="100834" marT="50417" marB="50417" anchor="ctr"/>
                </a:tc>
                <a:tc>
                  <a:txBody>
                    <a:bodyPr/>
                    <a:lstStyle/>
                    <a:p>
                      <a:pPr algn="ctr"/>
                      <a:r>
                        <a:rPr lang="en-IN" sz="1400"/>
                        <a:t>Aggregate*</a:t>
                      </a:r>
                    </a:p>
                  </a:txBody>
                  <a:tcPr marL="100834" marR="100834" marT="50417" marB="50417" anchor="ctr"/>
                </a:tc>
                <a:tc>
                  <a:txBody>
                    <a:bodyPr/>
                    <a:lstStyle/>
                    <a:p>
                      <a:pPr algn="ctr"/>
                      <a:r>
                        <a:rPr lang="en-IN" sz="1400"/>
                        <a:t>4129</a:t>
                      </a:r>
                    </a:p>
                  </a:txBody>
                  <a:tcPr marL="100834" marR="100834" marT="50417" marB="50417" anchor="ctr"/>
                </a:tc>
                <a:extLst>
                  <a:ext uri="{0D108BD9-81ED-4DB2-BD59-A6C34878D82A}">
                    <a16:rowId xmlns:a16="http://schemas.microsoft.com/office/drawing/2014/main" val="1153494904"/>
                  </a:ext>
                </a:extLst>
              </a:tr>
            </a:tbl>
          </a:graphicData>
        </a:graphic>
      </p:graphicFrame>
      <p:graphicFrame>
        <p:nvGraphicFramePr>
          <p:cNvPr id="474" name="Chart 473">
            <a:extLst>
              <a:ext uri="{FF2B5EF4-FFF2-40B4-BE49-F238E27FC236}">
                <a16:creationId xmlns:a16="http://schemas.microsoft.com/office/drawing/2014/main" id="{5CA01FDE-D309-F02D-B06F-2F165AEAE671}"/>
              </a:ext>
            </a:extLst>
          </p:cNvPr>
          <p:cNvGraphicFramePr/>
          <p:nvPr>
            <p:custDataLst>
              <p:tags r:id="rId2"/>
            </p:custDataLst>
            <p:extLst>
              <p:ext uri="{D42A27DB-BD31-4B8C-83A1-F6EECF244321}">
                <p14:modId xmlns:p14="http://schemas.microsoft.com/office/powerpoint/2010/main" val="2815326907"/>
              </p:ext>
            </p:extLst>
          </p:nvPr>
        </p:nvGraphicFramePr>
        <p:xfrm>
          <a:off x="2200275" y="1087438"/>
          <a:ext cx="1709738" cy="1709737"/>
        </p:xfrm>
        <a:graphic>
          <a:graphicData uri="http://schemas.openxmlformats.org/drawingml/2006/chart">
            <c:chart xmlns:c="http://schemas.openxmlformats.org/drawingml/2006/chart" xmlns:r="http://schemas.openxmlformats.org/officeDocument/2006/relationships" r:id="rId23"/>
          </a:graphicData>
        </a:graphic>
      </p:graphicFrame>
      <p:sp>
        <p:nvSpPr>
          <p:cNvPr id="46" name="Text Placeholder 18">
            <a:extLst>
              <a:ext uri="{FF2B5EF4-FFF2-40B4-BE49-F238E27FC236}">
                <a16:creationId xmlns:a16="http://schemas.microsoft.com/office/drawing/2014/main" id="{103B60C8-2414-03D8-EEE5-C64D3CE7DCE7}"/>
              </a:ext>
            </a:extLst>
          </p:cNvPr>
          <p:cNvSpPr>
            <a:spLocks noGrp="1"/>
          </p:cNvSpPr>
          <p:nvPr>
            <p:custDataLst>
              <p:tags r:id="rId3"/>
            </p:custDataLst>
          </p:nvPr>
        </p:nvSpPr>
        <p:spPr bwMode="gray">
          <a:xfrm>
            <a:off x="3386138" y="1838325"/>
            <a:ext cx="407988"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1BE5E96-43AC-41D3-8670-538CA2E66E25}" type="datetime'''''''''''''''1'''''''',''''2''''''4''''''''''''''''8'''">
              <a:rPr lang="en-US" altLang="en-US" sz="1200" smtClean="0">
                <a:solidFill>
                  <a:schemeClr val="bg1"/>
                </a:solidFill>
                <a:effectLst/>
              </a:rPr>
              <a:pPr lvl="0" algn="ctr">
                <a:spcBef>
                  <a:spcPct val="0"/>
                </a:spcBef>
                <a:spcAft>
                  <a:spcPct val="0"/>
                </a:spcAft>
              </a:pPr>
              <a:t>1,248</a:t>
            </a:fld>
            <a:br>
              <a:rPr lang="en-US" altLang="en-US" sz="1200">
                <a:solidFill>
                  <a:schemeClr val="bg1"/>
                </a:solidFill>
                <a:effectLst/>
              </a:rPr>
            </a:br>
            <a:r>
              <a:rPr lang="en-US" altLang="en-US" sz="1200">
                <a:solidFill>
                  <a:schemeClr val="bg1"/>
                </a:solidFill>
                <a:effectLst/>
              </a:rPr>
              <a:t>(</a:t>
            </a:r>
            <a:fld id="{8C5627C3-C6C7-45D6-A4BD-4DE74A7FAF6D}" type="datetime'5''5''''''''%'''''''''''''''''''''''''''''''''''''''''''''''">
              <a:rPr lang="en-US" altLang="en-US" sz="1200" smtClean="0">
                <a:solidFill>
                  <a:schemeClr val="bg1"/>
                </a:solidFill>
                <a:effectLst/>
              </a:rPr>
              <a:pPr lvl="0" algn="ctr">
                <a:spcBef>
                  <a:spcPct val="0"/>
                </a:spcBef>
                <a:spcAft>
                  <a:spcPct val="0"/>
                </a:spcAft>
              </a:pPr>
              <a:t>55%</a:t>
            </a:fld>
            <a:r>
              <a:rPr lang="en-US" sz="1200" noProof="0">
                <a:solidFill>
                  <a:schemeClr val="bg1"/>
                </a:solidFill>
              </a:rPr>
              <a:t>)</a:t>
            </a:r>
          </a:p>
        </p:txBody>
      </p:sp>
      <p:sp>
        <p:nvSpPr>
          <p:cNvPr id="47" name="Text Placeholder 18">
            <a:extLst>
              <a:ext uri="{FF2B5EF4-FFF2-40B4-BE49-F238E27FC236}">
                <a16:creationId xmlns:a16="http://schemas.microsoft.com/office/drawing/2014/main" id="{AEFA2E6B-32BC-BE51-E200-275B60348431}"/>
              </a:ext>
            </a:extLst>
          </p:cNvPr>
          <p:cNvSpPr>
            <a:spLocks noGrp="1"/>
          </p:cNvSpPr>
          <p:nvPr>
            <p:custDataLst>
              <p:tags r:id="rId4"/>
            </p:custDataLst>
          </p:nvPr>
        </p:nvSpPr>
        <p:spPr bwMode="gray">
          <a:xfrm>
            <a:off x="2392363" y="1992313"/>
            <a:ext cx="407988"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C9A8E12-C76E-49EB-81EC-6C35E28DFBC8}" type="datetime'''''''''''''''''''''5''83'''">
              <a:rPr lang="en-US" altLang="en-US" sz="1200" smtClean="0">
                <a:effectLst/>
              </a:rPr>
              <a:pPr lvl="0" algn="ctr">
                <a:spcBef>
                  <a:spcPct val="0"/>
                </a:spcBef>
                <a:spcAft>
                  <a:spcPct val="0"/>
                </a:spcAft>
              </a:pPr>
              <a:t>583</a:t>
            </a:fld>
            <a:br>
              <a:rPr lang="en-US" altLang="en-US" sz="1200">
                <a:effectLst/>
              </a:rPr>
            </a:br>
            <a:r>
              <a:rPr lang="en-US" altLang="en-US" sz="1200">
                <a:effectLst/>
              </a:rPr>
              <a:t>(</a:t>
            </a:r>
            <a:fld id="{1E98BCBD-AE3A-4CAD-BC48-1E5338DE464F}" type="datetime'''2''''''''6''''''''''''''''''''''''''''''''''%'''''''''''''''">
              <a:rPr lang="en-US" altLang="en-US" sz="1200" smtClean="0">
                <a:effectLst/>
              </a:rPr>
              <a:pPr lvl="0" algn="ctr">
                <a:spcBef>
                  <a:spcPct val="0"/>
                </a:spcBef>
                <a:spcAft>
                  <a:spcPct val="0"/>
                </a:spcAft>
              </a:pPr>
              <a:t>26%</a:t>
            </a:fld>
            <a:r>
              <a:rPr lang="en-US" sz="1200" noProof="0"/>
              <a:t>)</a:t>
            </a:r>
          </a:p>
        </p:txBody>
      </p:sp>
      <p:sp>
        <p:nvSpPr>
          <p:cNvPr id="48" name="Text Placeholder 18">
            <a:extLst>
              <a:ext uri="{FF2B5EF4-FFF2-40B4-BE49-F238E27FC236}">
                <a16:creationId xmlns:a16="http://schemas.microsoft.com/office/drawing/2014/main" id="{3F6AFB57-015C-E114-90F5-04EC89187FBE}"/>
              </a:ext>
            </a:extLst>
          </p:cNvPr>
          <p:cNvSpPr>
            <a:spLocks noGrp="1"/>
          </p:cNvSpPr>
          <p:nvPr>
            <p:custDataLst>
              <p:tags r:id="rId5"/>
            </p:custDataLst>
          </p:nvPr>
        </p:nvSpPr>
        <p:spPr bwMode="gray">
          <a:xfrm>
            <a:off x="2555875" y="1346200"/>
            <a:ext cx="407988"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1D06549-72C0-4663-8176-9BA45C2746AA}" type="datetime'''''''''''''''''''4''50'''''''''''''''''''''''''''''''">
              <a:rPr lang="en-US" altLang="en-US" sz="1200" smtClean="0">
                <a:solidFill>
                  <a:schemeClr val="bg1"/>
                </a:solidFill>
                <a:effectLst/>
              </a:rPr>
              <a:pPr lvl="0" algn="ctr">
                <a:spcBef>
                  <a:spcPct val="0"/>
                </a:spcBef>
                <a:spcAft>
                  <a:spcPct val="0"/>
                </a:spcAft>
              </a:pPr>
              <a:t>450</a:t>
            </a:fld>
            <a:br>
              <a:rPr lang="en-US" altLang="en-US" sz="1200">
                <a:solidFill>
                  <a:schemeClr val="bg1"/>
                </a:solidFill>
                <a:effectLst/>
              </a:rPr>
            </a:br>
            <a:r>
              <a:rPr lang="en-US" altLang="en-US" sz="1200">
                <a:solidFill>
                  <a:schemeClr val="bg1"/>
                </a:solidFill>
                <a:effectLst/>
              </a:rPr>
              <a:t>(</a:t>
            </a:r>
            <a:fld id="{3B859282-6513-44D8-A8EC-8D950E1A3718}" type="datetime'''''2''0''''''%'''''''''">
              <a:rPr lang="en-US" altLang="en-US" sz="1200" smtClean="0">
                <a:solidFill>
                  <a:schemeClr val="bg1"/>
                </a:solidFill>
                <a:effectLst/>
              </a:rPr>
              <a:pPr lvl="0" algn="ctr">
                <a:spcBef>
                  <a:spcPct val="0"/>
                </a:spcBef>
                <a:spcAft>
                  <a:spcPct val="0"/>
                </a:spcAft>
              </a:pPr>
              <a:t>20%</a:t>
            </a:fld>
            <a:r>
              <a:rPr lang="en-US" sz="1200" noProof="0">
                <a:solidFill>
                  <a:schemeClr val="bg1"/>
                </a:solidFill>
              </a:rPr>
              <a:t>)</a:t>
            </a:r>
          </a:p>
        </p:txBody>
      </p:sp>
      <p:sp>
        <p:nvSpPr>
          <p:cNvPr id="51" name="TextBox 50">
            <a:extLst>
              <a:ext uri="{FF2B5EF4-FFF2-40B4-BE49-F238E27FC236}">
                <a16:creationId xmlns:a16="http://schemas.microsoft.com/office/drawing/2014/main" id="{F62C5F21-ECDB-C30F-197F-D87426F94522}"/>
              </a:ext>
            </a:extLst>
          </p:cNvPr>
          <p:cNvSpPr txBox="1"/>
          <p:nvPr/>
        </p:nvSpPr>
        <p:spPr>
          <a:xfrm>
            <a:off x="379914" y="1558534"/>
            <a:ext cx="1950641" cy="430887"/>
          </a:xfrm>
          <a:prstGeom prst="rect">
            <a:avLst/>
          </a:prstGeom>
          <a:noFill/>
        </p:spPr>
        <p:txBody>
          <a:bodyPr wrap="square" lIns="0" tIns="0" rIns="0" bIns="0" rtlCol="0">
            <a:spAutoFit/>
          </a:bodyPr>
          <a:lstStyle/>
          <a:p>
            <a:pPr algn="ctr">
              <a:spcBef>
                <a:spcPts val="600"/>
              </a:spcBef>
              <a:buSzPct val="100000"/>
            </a:pPr>
            <a:r>
              <a:rPr lang="en-US" sz="1400" b="1"/>
              <a:t>Under Construction Transmission Network (</a:t>
            </a:r>
            <a:r>
              <a:rPr lang="en-US" sz="1400" b="1" err="1"/>
              <a:t>Ckm</a:t>
            </a:r>
            <a:r>
              <a:rPr lang="en-US" sz="1400" b="1"/>
              <a:t>)</a:t>
            </a:r>
          </a:p>
        </p:txBody>
      </p:sp>
      <p:graphicFrame>
        <p:nvGraphicFramePr>
          <p:cNvPr id="475" name="Chart 474">
            <a:extLst>
              <a:ext uri="{FF2B5EF4-FFF2-40B4-BE49-F238E27FC236}">
                <a16:creationId xmlns:a16="http://schemas.microsoft.com/office/drawing/2014/main" id="{50B5E813-992C-99CF-7D13-32D5323259E0}"/>
              </a:ext>
            </a:extLst>
          </p:cNvPr>
          <p:cNvGraphicFramePr/>
          <p:nvPr>
            <p:custDataLst>
              <p:tags r:id="rId6"/>
            </p:custDataLst>
            <p:extLst>
              <p:ext uri="{D42A27DB-BD31-4B8C-83A1-F6EECF244321}">
                <p14:modId xmlns:p14="http://schemas.microsoft.com/office/powerpoint/2010/main" val="560075219"/>
              </p:ext>
            </p:extLst>
          </p:nvPr>
        </p:nvGraphicFramePr>
        <p:xfrm>
          <a:off x="2208213" y="3449638"/>
          <a:ext cx="1731962" cy="1731962"/>
        </p:xfrm>
        <a:graphic>
          <a:graphicData uri="http://schemas.openxmlformats.org/drawingml/2006/chart">
            <c:chart xmlns:c="http://schemas.openxmlformats.org/drawingml/2006/chart" xmlns:r="http://schemas.openxmlformats.org/officeDocument/2006/relationships" r:id="rId24"/>
          </a:graphicData>
        </a:graphic>
      </p:graphicFrame>
      <p:sp>
        <p:nvSpPr>
          <p:cNvPr id="56" name="Text Placeholder 18">
            <a:extLst>
              <a:ext uri="{FF2B5EF4-FFF2-40B4-BE49-F238E27FC236}">
                <a16:creationId xmlns:a16="http://schemas.microsoft.com/office/drawing/2014/main" id="{5F21FFAE-9122-7BD0-27FA-B0858956539B}"/>
              </a:ext>
            </a:extLst>
          </p:cNvPr>
          <p:cNvSpPr>
            <a:spLocks noGrp="1"/>
          </p:cNvSpPr>
          <p:nvPr>
            <p:custDataLst>
              <p:tags r:id="rId7"/>
            </p:custDataLst>
          </p:nvPr>
        </p:nvSpPr>
        <p:spPr bwMode="gray">
          <a:xfrm>
            <a:off x="2995613" y="3578225"/>
            <a:ext cx="330200" cy="365125"/>
          </a:xfrm>
          <a:prstGeom prst="rect">
            <a:avLst/>
          </a:prstGeom>
          <a:solidFill>
            <a:srgbClr val="86BC2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BA93969F-A167-478C-8626-9E4F218998B5}" type="datetime'''''''''''''''''''''''3''''''''''''''''7''''4'''''''''''''''">
              <a:rPr lang="en-US" altLang="en-US" sz="1200" smtClean="0"/>
              <a:pPr lvl="0" algn="ctr">
                <a:spcBef>
                  <a:spcPct val="0"/>
                </a:spcBef>
                <a:spcAft>
                  <a:spcPct val="0"/>
                </a:spcAft>
              </a:pPr>
              <a:t>374</a:t>
            </a:fld>
            <a:br>
              <a:rPr lang="en-US" altLang="en-US" sz="1200">
                <a:effectLst/>
              </a:rPr>
            </a:br>
            <a:r>
              <a:rPr lang="en-US" altLang="en-US" sz="1200">
                <a:effectLst/>
              </a:rPr>
              <a:t>(</a:t>
            </a:r>
            <a:fld id="{42444655-8365-43A6-BA18-1C984BD024B8}" type="datetime'''''''''''''''''''''''''''''''''''''''''''''''''''''5%'''''">
              <a:rPr lang="en-US" altLang="en-US" sz="1200" smtClean="0"/>
              <a:pPr lvl="0" algn="ctr">
                <a:spcBef>
                  <a:spcPct val="0"/>
                </a:spcBef>
                <a:spcAft>
                  <a:spcPct val="0"/>
                </a:spcAft>
              </a:pPr>
              <a:t>5%</a:t>
            </a:fld>
            <a:r>
              <a:rPr lang="en-US" sz="1200" noProof="0"/>
              <a:t>)</a:t>
            </a:r>
          </a:p>
        </p:txBody>
      </p:sp>
      <p:sp>
        <p:nvSpPr>
          <p:cNvPr id="57" name="Text Placeholder 18">
            <a:extLst>
              <a:ext uri="{FF2B5EF4-FFF2-40B4-BE49-F238E27FC236}">
                <a16:creationId xmlns:a16="http://schemas.microsoft.com/office/drawing/2014/main" id="{D6CA995B-9C4C-C330-4DAB-E748EBD6694F}"/>
              </a:ext>
            </a:extLst>
          </p:cNvPr>
          <p:cNvSpPr>
            <a:spLocks noGrp="1"/>
          </p:cNvSpPr>
          <p:nvPr>
            <p:custDataLst>
              <p:tags r:id="rId8"/>
            </p:custDataLst>
          </p:nvPr>
        </p:nvSpPr>
        <p:spPr bwMode="gray">
          <a:xfrm>
            <a:off x="3411538" y="4225925"/>
            <a:ext cx="407988"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84FE958-7836-4E4D-9371-625C79703517}" type="datetime'''''3'''''''',''''''''''''''''4''''''''''1''''4'''''">
              <a:rPr lang="en-US" altLang="en-US" sz="1200" smtClean="0">
                <a:solidFill>
                  <a:schemeClr val="bg1"/>
                </a:solidFill>
              </a:rPr>
              <a:pPr lvl="0" algn="ctr">
                <a:spcBef>
                  <a:spcPct val="0"/>
                </a:spcBef>
                <a:spcAft>
                  <a:spcPct val="0"/>
                </a:spcAft>
              </a:pPr>
              <a:t>3,414</a:t>
            </a:fld>
            <a:br>
              <a:rPr lang="en-US" altLang="en-US" sz="1200">
                <a:solidFill>
                  <a:schemeClr val="bg1"/>
                </a:solidFill>
                <a:effectLst/>
              </a:rPr>
            </a:br>
            <a:r>
              <a:rPr lang="en-US" altLang="en-US" sz="1200">
                <a:solidFill>
                  <a:schemeClr val="bg1"/>
                </a:solidFill>
                <a:effectLst/>
              </a:rPr>
              <a:t>(</a:t>
            </a:r>
            <a:fld id="{53E17486-F07E-440F-A14C-20F614F921F9}" type="datetime'''''''''''''''''''''''''4''''''6''''''''''''''''''''''''''%'''">
              <a:rPr lang="en-US" altLang="en-US" sz="1200" smtClean="0">
                <a:solidFill>
                  <a:schemeClr val="bg1"/>
                </a:solidFill>
              </a:rPr>
              <a:pPr lvl="0" algn="ctr">
                <a:spcBef>
                  <a:spcPct val="0"/>
                </a:spcBef>
                <a:spcAft>
                  <a:spcPct val="0"/>
                </a:spcAft>
              </a:pPr>
              <a:t>46%</a:t>
            </a:fld>
            <a:r>
              <a:rPr lang="en-US" sz="1200" noProof="0">
                <a:solidFill>
                  <a:schemeClr val="bg1"/>
                </a:solidFill>
              </a:rPr>
              <a:t>)</a:t>
            </a:r>
          </a:p>
        </p:txBody>
      </p:sp>
      <p:sp>
        <p:nvSpPr>
          <p:cNvPr id="58" name="Text Placeholder 18">
            <a:extLst>
              <a:ext uri="{FF2B5EF4-FFF2-40B4-BE49-F238E27FC236}">
                <a16:creationId xmlns:a16="http://schemas.microsoft.com/office/drawing/2014/main" id="{097D7FB6-F6B4-4584-1520-CEFFE459B8FB}"/>
              </a:ext>
            </a:extLst>
          </p:cNvPr>
          <p:cNvSpPr>
            <a:spLocks noGrp="1"/>
          </p:cNvSpPr>
          <p:nvPr>
            <p:custDataLst>
              <p:tags r:id="rId9"/>
            </p:custDataLst>
          </p:nvPr>
        </p:nvSpPr>
        <p:spPr bwMode="gray">
          <a:xfrm>
            <a:off x="2414588" y="4389438"/>
            <a:ext cx="407988"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D56F53F4-BBB4-4F27-8DD7-785720C20E16}" type="datetime'''''''2'''''''''''''''''''''',''44''9'''''''''">
              <a:rPr lang="en-US" altLang="en-US" sz="1200" smtClean="0"/>
              <a:pPr lvl="0" algn="ctr">
                <a:spcBef>
                  <a:spcPct val="0"/>
                </a:spcBef>
                <a:spcAft>
                  <a:spcPct val="0"/>
                </a:spcAft>
              </a:pPr>
              <a:t>2,449</a:t>
            </a:fld>
            <a:br>
              <a:rPr lang="en-US" altLang="en-US" sz="1200">
                <a:effectLst/>
              </a:rPr>
            </a:br>
            <a:r>
              <a:rPr lang="en-US" altLang="en-US" sz="1200">
                <a:effectLst/>
              </a:rPr>
              <a:t>(</a:t>
            </a:r>
            <a:fld id="{52C9D3BE-5290-4B5F-A955-4F0444A4B925}" type="datetime'''''''''''''''''''''''3''''''''''''3''''''''''%'''''''''''''''">
              <a:rPr lang="en-US" altLang="en-US" sz="1200" smtClean="0"/>
              <a:pPr lvl="0" algn="ctr">
                <a:spcBef>
                  <a:spcPct val="0"/>
                </a:spcBef>
                <a:spcAft>
                  <a:spcPct val="0"/>
                </a:spcAft>
              </a:pPr>
              <a:t>33%</a:t>
            </a:fld>
            <a:r>
              <a:rPr lang="en-US" sz="1200" noProof="0"/>
              <a:t>)</a:t>
            </a:r>
          </a:p>
        </p:txBody>
      </p:sp>
      <p:sp>
        <p:nvSpPr>
          <p:cNvPr id="63" name="Text Placeholder 18">
            <a:extLst>
              <a:ext uri="{FF2B5EF4-FFF2-40B4-BE49-F238E27FC236}">
                <a16:creationId xmlns:a16="http://schemas.microsoft.com/office/drawing/2014/main" id="{3F37661A-077F-BFEB-A75E-3FA78C33CDFD}"/>
              </a:ext>
            </a:extLst>
          </p:cNvPr>
          <p:cNvSpPr>
            <a:spLocks noGrp="1"/>
          </p:cNvSpPr>
          <p:nvPr>
            <p:custDataLst>
              <p:tags r:id="rId10"/>
            </p:custDataLst>
          </p:nvPr>
        </p:nvSpPr>
        <p:spPr bwMode="gray">
          <a:xfrm>
            <a:off x="2606675" y="3681413"/>
            <a:ext cx="407988" cy="365125"/>
          </a:xfrm>
          <a:prstGeom prst="rect">
            <a:avLst/>
          </a:prstGeom>
          <a:no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605D18C-63D8-4D46-B32E-66ED96271ABB}" type="datetime'''''''1,''''''2''6''''''''''5'''''''''''">
              <a:rPr lang="en-US" altLang="en-US" sz="1200" smtClean="0">
                <a:solidFill>
                  <a:schemeClr val="bg1"/>
                </a:solidFill>
              </a:rPr>
              <a:pPr lvl="0" algn="ctr">
                <a:spcBef>
                  <a:spcPct val="0"/>
                </a:spcBef>
                <a:spcAft>
                  <a:spcPct val="0"/>
                </a:spcAft>
              </a:pPr>
              <a:t>1,265</a:t>
            </a:fld>
            <a:br>
              <a:rPr lang="en-US" altLang="en-US" sz="1200">
                <a:solidFill>
                  <a:schemeClr val="bg1"/>
                </a:solidFill>
              </a:rPr>
            </a:br>
            <a:r>
              <a:rPr lang="en-US" altLang="en-US" sz="1200">
                <a:solidFill>
                  <a:schemeClr val="bg1"/>
                </a:solidFill>
              </a:rPr>
              <a:t>(</a:t>
            </a:r>
            <a:fld id="{74DD069D-9C4A-4F3D-A19E-B6DE999BD391}" type="datetime'''''''''''''''''''''''''''''''''''''''''''1''7''''%'''''''">
              <a:rPr lang="en-US" altLang="en-US" sz="1200" smtClean="0">
                <a:solidFill>
                  <a:schemeClr val="bg1"/>
                </a:solidFill>
              </a:rPr>
              <a:pPr lvl="0" algn="ctr">
                <a:spcBef>
                  <a:spcPct val="0"/>
                </a:spcBef>
                <a:spcAft>
                  <a:spcPct val="0"/>
                </a:spcAft>
              </a:pPr>
              <a:t>17%</a:t>
            </a:fld>
            <a:r>
              <a:rPr lang="en-US" sz="1200" noProof="0">
                <a:solidFill>
                  <a:schemeClr val="bg1"/>
                </a:solidFill>
              </a:rPr>
              <a:t>)</a:t>
            </a:r>
          </a:p>
        </p:txBody>
      </p:sp>
      <p:sp>
        <p:nvSpPr>
          <p:cNvPr id="59" name="TextBox 58">
            <a:extLst>
              <a:ext uri="{FF2B5EF4-FFF2-40B4-BE49-F238E27FC236}">
                <a16:creationId xmlns:a16="http://schemas.microsoft.com/office/drawing/2014/main" id="{AA20C9F7-8006-8789-9D58-BE3FE34E2F4B}"/>
              </a:ext>
            </a:extLst>
          </p:cNvPr>
          <p:cNvSpPr txBox="1"/>
          <p:nvPr/>
        </p:nvSpPr>
        <p:spPr>
          <a:xfrm>
            <a:off x="568225" y="4170317"/>
            <a:ext cx="1605718" cy="646331"/>
          </a:xfrm>
          <a:prstGeom prst="rect">
            <a:avLst/>
          </a:prstGeom>
          <a:noFill/>
        </p:spPr>
        <p:txBody>
          <a:bodyPr wrap="square" lIns="0" tIns="0" rIns="0" bIns="0" rtlCol="0">
            <a:spAutoFit/>
          </a:bodyPr>
          <a:lstStyle/>
          <a:p>
            <a:pPr algn="ctr">
              <a:spcBef>
                <a:spcPts val="600"/>
              </a:spcBef>
              <a:buSzPct val="100000"/>
            </a:pPr>
            <a:r>
              <a:rPr lang="en-US" sz="1400" b="1"/>
              <a:t>Under Construction Transformer Capacity (MVA)</a:t>
            </a:r>
          </a:p>
        </p:txBody>
      </p:sp>
      <p:sp>
        <p:nvSpPr>
          <p:cNvPr id="453" name="Rectangle 452">
            <a:extLst>
              <a:ext uri="{FF2B5EF4-FFF2-40B4-BE49-F238E27FC236}">
                <a16:creationId xmlns:a16="http://schemas.microsoft.com/office/drawing/2014/main" id="{B481AC71-022B-B244-B809-05FFE3920CAF}"/>
              </a:ext>
            </a:extLst>
          </p:cNvPr>
          <p:cNvSpPr/>
          <p:nvPr>
            <p:custDataLst>
              <p:tags r:id="rId11"/>
            </p:custDataLst>
          </p:nvPr>
        </p:nvSpPr>
        <p:spPr bwMode="auto">
          <a:xfrm>
            <a:off x="1001713" y="3038475"/>
            <a:ext cx="214313" cy="160338"/>
          </a:xfrm>
          <a:prstGeom prst="rect">
            <a:avLst/>
          </a:prstGeom>
          <a:solidFill>
            <a:srgbClr val="86BC25"/>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54" name="Rectangle 453">
            <a:extLst>
              <a:ext uri="{FF2B5EF4-FFF2-40B4-BE49-F238E27FC236}">
                <a16:creationId xmlns:a16="http://schemas.microsoft.com/office/drawing/2014/main" id="{7F16A408-29BF-BD46-C3E5-2A204F756202}"/>
              </a:ext>
            </a:extLst>
          </p:cNvPr>
          <p:cNvSpPr/>
          <p:nvPr>
            <p:custDataLst>
              <p:tags r:id="rId12"/>
            </p:custDataLst>
          </p:nvPr>
        </p:nvSpPr>
        <p:spPr bwMode="auto">
          <a:xfrm>
            <a:off x="1679575" y="3038475"/>
            <a:ext cx="214313" cy="160338"/>
          </a:xfrm>
          <a:prstGeom prst="rect">
            <a:avLst/>
          </a:prstGeom>
          <a:solidFill>
            <a:srgbClr val="046A38"/>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55" name="Rectangle 454">
            <a:extLst>
              <a:ext uri="{FF2B5EF4-FFF2-40B4-BE49-F238E27FC236}">
                <a16:creationId xmlns:a16="http://schemas.microsoft.com/office/drawing/2014/main" id="{02ADFFF1-20BF-B4D6-B8A2-49176D0509BC}"/>
              </a:ext>
            </a:extLst>
          </p:cNvPr>
          <p:cNvSpPr/>
          <p:nvPr>
            <p:custDataLst>
              <p:tags r:id="rId13"/>
            </p:custDataLst>
          </p:nvPr>
        </p:nvSpPr>
        <p:spPr bwMode="auto">
          <a:xfrm>
            <a:off x="2435225" y="3038475"/>
            <a:ext cx="214313" cy="160338"/>
          </a:xfrm>
          <a:prstGeom prst="rect">
            <a:avLst/>
          </a:prstGeom>
          <a:solidFill>
            <a:srgbClr val="62B5E5"/>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456" name="Rectangle 455">
            <a:extLst>
              <a:ext uri="{FF2B5EF4-FFF2-40B4-BE49-F238E27FC236}">
                <a16:creationId xmlns:a16="http://schemas.microsoft.com/office/drawing/2014/main" id="{5FD7A1D5-BF1D-0F16-3576-EF464C1ADEEE}"/>
              </a:ext>
            </a:extLst>
          </p:cNvPr>
          <p:cNvSpPr/>
          <p:nvPr>
            <p:custDataLst>
              <p:tags r:id="rId14"/>
            </p:custDataLst>
          </p:nvPr>
        </p:nvSpPr>
        <p:spPr bwMode="auto">
          <a:xfrm>
            <a:off x="3225800" y="3038475"/>
            <a:ext cx="214313" cy="160338"/>
          </a:xfrm>
          <a:prstGeom prst="rect">
            <a:avLst/>
          </a:prstGeom>
          <a:solidFill>
            <a:srgbClr val="01216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53" name="Text Placeholder 18">
            <a:extLst>
              <a:ext uri="{FF2B5EF4-FFF2-40B4-BE49-F238E27FC236}">
                <a16:creationId xmlns:a16="http://schemas.microsoft.com/office/drawing/2014/main" id="{F89A1954-E51E-6BA3-B2BF-5182C8D8C19A}"/>
              </a:ext>
            </a:extLst>
          </p:cNvPr>
          <p:cNvSpPr>
            <a:spLocks noGrp="1"/>
          </p:cNvSpPr>
          <p:nvPr>
            <p:custDataLst>
              <p:tags r:id="rId15"/>
            </p:custDataLst>
          </p:nvPr>
        </p:nvSpPr>
        <p:spPr bwMode="auto">
          <a:xfrm>
            <a:off x="1266825" y="3033713"/>
            <a:ext cx="3111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4EAF7481-9F9A-41AA-B653-49BB5E6A26DA}" type="datetime'''''''''''3''''''''''''3''''''''''''''''k''''V'">
              <a:rPr lang="en-US" altLang="en-US" sz="1200" smtClean="0"/>
              <a:pPr lvl="0">
                <a:spcBef>
                  <a:spcPct val="0"/>
                </a:spcBef>
                <a:spcAft>
                  <a:spcPct val="0"/>
                </a:spcAft>
              </a:pPr>
              <a:t>33kV</a:t>
            </a:fld>
            <a:endParaRPr lang="en-US" sz="1200" noProof="0"/>
          </a:p>
        </p:txBody>
      </p:sp>
      <p:sp>
        <p:nvSpPr>
          <p:cNvPr id="54" name="Text Placeholder 18">
            <a:extLst>
              <a:ext uri="{FF2B5EF4-FFF2-40B4-BE49-F238E27FC236}">
                <a16:creationId xmlns:a16="http://schemas.microsoft.com/office/drawing/2014/main" id="{FAFA4230-58A3-B64D-2537-CE1A14170A36}"/>
              </a:ext>
            </a:extLst>
          </p:cNvPr>
          <p:cNvSpPr>
            <a:spLocks noGrp="1"/>
          </p:cNvSpPr>
          <p:nvPr>
            <p:custDataLst>
              <p:tags r:id="rId16"/>
            </p:custDataLst>
          </p:nvPr>
        </p:nvSpPr>
        <p:spPr bwMode="auto">
          <a:xfrm>
            <a:off x="1944688" y="3033713"/>
            <a:ext cx="388938"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C6D1A80A-FD7F-4452-90FC-5C945498C9AD}" type="datetime'''''''''1''''''''3''''''''2''k''V'''''''''''''">
              <a:rPr lang="en-US" altLang="en-US" sz="1200" smtClean="0"/>
              <a:pPr lvl="0">
                <a:spcBef>
                  <a:spcPct val="0"/>
                </a:spcBef>
                <a:spcAft>
                  <a:spcPct val="0"/>
                </a:spcAft>
              </a:pPr>
              <a:t>132kV</a:t>
            </a:fld>
            <a:endParaRPr lang="en-US" sz="1200" noProof="0"/>
          </a:p>
        </p:txBody>
      </p:sp>
      <p:sp>
        <p:nvSpPr>
          <p:cNvPr id="55" name="Text Placeholder 18">
            <a:extLst>
              <a:ext uri="{FF2B5EF4-FFF2-40B4-BE49-F238E27FC236}">
                <a16:creationId xmlns:a16="http://schemas.microsoft.com/office/drawing/2014/main" id="{BE0F30B4-CF6E-6EFE-434D-56A3FCC4A480}"/>
              </a:ext>
            </a:extLst>
          </p:cNvPr>
          <p:cNvSpPr>
            <a:spLocks noGrp="1"/>
          </p:cNvSpPr>
          <p:nvPr>
            <p:custDataLst>
              <p:tags r:id="rId17"/>
            </p:custDataLst>
          </p:nvPr>
        </p:nvSpPr>
        <p:spPr bwMode="auto">
          <a:xfrm>
            <a:off x="2700338" y="3033713"/>
            <a:ext cx="42386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96334B31-DAA2-45BF-8EC8-51B2DA125D5A}" type="datetime'''''2''''2''''0 ''''''''''''''''''''k''''''''''''''V'''''''''">
              <a:rPr lang="en-US" altLang="en-US" sz="1200" smtClean="0"/>
              <a:pPr lvl="0">
                <a:spcBef>
                  <a:spcPct val="0"/>
                </a:spcBef>
                <a:spcAft>
                  <a:spcPct val="0"/>
                </a:spcAft>
              </a:pPr>
              <a:t>220 kV</a:t>
            </a:fld>
            <a:endParaRPr lang="en-US" sz="1200" noProof="0"/>
          </a:p>
        </p:txBody>
      </p:sp>
      <p:sp>
        <p:nvSpPr>
          <p:cNvPr id="448" name="Text Placeholder 18">
            <a:extLst>
              <a:ext uri="{FF2B5EF4-FFF2-40B4-BE49-F238E27FC236}">
                <a16:creationId xmlns:a16="http://schemas.microsoft.com/office/drawing/2014/main" id="{4310570E-6FF7-3898-923C-8173328EED9A}"/>
              </a:ext>
            </a:extLst>
          </p:cNvPr>
          <p:cNvSpPr>
            <a:spLocks noGrp="1"/>
          </p:cNvSpPr>
          <p:nvPr>
            <p:custDataLst>
              <p:tags r:id="rId18"/>
            </p:custDataLst>
          </p:nvPr>
        </p:nvSpPr>
        <p:spPr bwMode="auto">
          <a:xfrm>
            <a:off x="3490913" y="3033713"/>
            <a:ext cx="42386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866CA6E4-FA74-4A45-A0E5-82C4C8582AC2}" type="datetime'4''''''''''''''''0''''''''''''''''0'''' ''''kV'''''''">
              <a:rPr lang="en-US" altLang="en-US" sz="1200" smtClean="0"/>
              <a:pPr lvl="0">
                <a:spcBef>
                  <a:spcPct val="0"/>
                </a:spcBef>
                <a:spcAft>
                  <a:spcPct val="0"/>
                </a:spcAft>
              </a:pPr>
              <a:t>400 kV</a:t>
            </a:fld>
            <a:endParaRPr lang="en-US" sz="1200" noProof="0"/>
          </a:p>
        </p:txBody>
      </p:sp>
    </p:spTree>
    <p:extLst>
      <p:ext uri="{BB962C8B-B14F-4D97-AF65-F5344CB8AC3E}">
        <p14:creationId xmlns:p14="http://schemas.microsoft.com/office/powerpoint/2010/main" val="4937435"/>
      </p:ext>
    </p:extLst>
  </p:cSld>
  <p:clrMapOvr>
    <a:masterClrMapping/>
  </p:clrMapOvr>
  <p:transition>
    <p:fade/>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606050145"/>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Transmission Readiness for PJ ST – Evacuation via New-</a:t>
            </a:r>
            <a:r>
              <a:rPr lang="en-US" sz="1800" b="1" err="1">
                <a:latin typeface="Arial" panose="020B0604020202020204" pitchFamily="34" charset="0"/>
                <a:cs typeface="Arial" panose="020B0604020202020204" pitchFamily="34" charset="0"/>
              </a:rPr>
              <a:t>Marsyangdi</a:t>
            </a:r>
            <a:r>
              <a:rPr lang="en-US" sz="1800" b="1">
                <a:latin typeface="Arial" panose="020B0604020202020204" pitchFamily="34" charset="0"/>
                <a:cs typeface="Arial" panose="020B0604020202020204" pitchFamily="34" charset="0"/>
              </a:rPr>
              <a:t> Substation</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New-</a:t>
            </a:r>
            <a:r>
              <a:rPr lang="en-US" sz="1400" err="1">
                <a:solidFill>
                  <a:schemeClr val="tx1">
                    <a:lumMod val="65000"/>
                    <a:lumOff val="35000"/>
                  </a:schemeClr>
                </a:solidFill>
                <a:latin typeface="Arial" panose="020B0604020202020204" pitchFamily="34" charset="0"/>
                <a:cs typeface="Arial" panose="020B0604020202020204" pitchFamily="34" charset="0"/>
              </a:rPr>
              <a:t>Marsyangdi</a:t>
            </a:r>
            <a:r>
              <a:rPr lang="en-US" sz="1400">
                <a:solidFill>
                  <a:schemeClr val="tx1">
                    <a:lumMod val="65000"/>
                    <a:lumOff val="35000"/>
                  </a:schemeClr>
                </a:solidFill>
                <a:latin typeface="Arial" panose="020B0604020202020204" pitchFamily="34" charset="0"/>
                <a:cs typeface="Arial" panose="020B0604020202020204" pitchFamily="34" charset="0"/>
              </a:rPr>
              <a:t> substation, energized in Jan-2025, is the designated evacuation point for PJ_ST Project, with transmission work on track</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3" name="Table 6">
            <a:extLst>
              <a:ext uri="{FF2B5EF4-FFF2-40B4-BE49-F238E27FC236}">
                <a16:creationId xmlns:a16="http://schemas.microsoft.com/office/drawing/2014/main" id="{BB7BB4E9-744D-C8FD-8BA9-27D225AE11BC}"/>
              </a:ext>
            </a:extLst>
          </p:cNvPr>
          <p:cNvGraphicFramePr>
            <a:graphicFrameLocks/>
          </p:cNvGraphicFramePr>
          <p:nvPr/>
        </p:nvGraphicFramePr>
        <p:xfrm>
          <a:off x="514884" y="997947"/>
          <a:ext cx="6358078" cy="1539264"/>
        </p:xfrm>
        <a:graphic>
          <a:graphicData uri="http://schemas.openxmlformats.org/drawingml/2006/table">
            <a:tbl>
              <a:tblPr firstRow="1" bandRow="1">
                <a:solidFill>
                  <a:schemeClr val="bg1">
                    <a:lumMod val="95000"/>
                  </a:schemeClr>
                </a:solidFill>
                <a:tableStyleId>{21E4AEA4-8DFA-4A89-87EB-49C32662AFE0}</a:tableStyleId>
              </a:tblPr>
              <a:tblGrid>
                <a:gridCol w="1907370">
                  <a:extLst>
                    <a:ext uri="{9D8B030D-6E8A-4147-A177-3AD203B41FA5}">
                      <a16:colId xmlns:a16="http://schemas.microsoft.com/office/drawing/2014/main" val="725845397"/>
                    </a:ext>
                  </a:extLst>
                </a:gridCol>
                <a:gridCol w="4450708">
                  <a:extLst>
                    <a:ext uri="{9D8B030D-6E8A-4147-A177-3AD203B41FA5}">
                      <a16:colId xmlns:a16="http://schemas.microsoft.com/office/drawing/2014/main" val="3681363094"/>
                    </a:ext>
                  </a:extLst>
                </a:gridCol>
              </a:tblGrid>
              <a:tr h="230183">
                <a:tc>
                  <a:txBody>
                    <a:bodyPr/>
                    <a:lstStyle/>
                    <a:p>
                      <a:pPr algn="just"/>
                      <a:r>
                        <a:rPr lang="en-US" sz="1100" b="0" kern="1200">
                          <a:solidFill>
                            <a:schemeClr val="bg1"/>
                          </a:solidFill>
                          <a:latin typeface="Arial" panose="020B0604020202020204" pitchFamily="34" charset="0"/>
                          <a:cs typeface="Arial" panose="020B0604020202020204" pitchFamily="34" charset="0"/>
                        </a:rPr>
                        <a:t>Particulars</a:t>
                      </a:r>
                      <a:endParaRPr lang="en-US" sz="1100" b="0" kern="1200">
                        <a:solidFill>
                          <a:schemeClr val="bg1"/>
                        </a:solidFill>
                        <a:latin typeface="Arial" panose="020B0604020202020204" pitchFamily="34" charset="0"/>
                        <a:ea typeface="+mn-ea"/>
                        <a:cs typeface="Arial" panose="020B0604020202020204" pitchFamily="34" charset="0"/>
                      </a:endParaRPr>
                    </a:p>
                  </a:txBody>
                  <a:tcPr marT="45723" marB="45723" anchor="ctr">
                    <a:lnL w="12700" cmpd="sng">
                      <a:noFill/>
                    </a:lnL>
                    <a:lnR w="12700" cap="flat" cmpd="sng" algn="ctr">
                      <a:solidFill>
                        <a:schemeClr val="bg1"/>
                      </a:solidFill>
                      <a:prstDash val="solid"/>
                      <a:round/>
                      <a:headEnd type="none" w="med" len="med"/>
                      <a:tailEnd type="none" w="med" len="med"/>
                    </a:lnR>
                    <a:lnT w="19050" cap="flat" cmpd="sng" algn="ctr">
                      <a:noFill/>
                      <a:prstDash val="solid"/>
                    </a:lnT>
                    <a:lnB w="38100" cmpd="sng">
                      <a:noFill/>
                    </a:lnB>
                    <a:solidFill>
                      <a:schemeClr val="accent3"/>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Details</a:t>
                      </a:r>
                    </a:p>
                  </a:txBody>
                  <a:tcPr marT="45723" marB="45723" anchor="ctr">
                    <a:lnL w="12700" cap="flat" cmpd="sng" algn="ctr">
                      <a:solidFill>
                        <a:schemeClr val="bg1"/>
                      </a:solidFill>
                      <a:prstDash val="solid"/>
                      <a:round/>
                      <a:headEnd type="none" w="med" len="med"/>
                      <a:tailEnd type="none" w="med" len="med"/>
                    </a:lnL>
                    <a:lnR w="12700" cmpd="sng">
                      <a:noFill/>
                    </a:lnR>
                    <a:lnT w="19050" cap="flat" cmpd="sng" algn="ctr">
                      <a:noFill/>
                      <a:prstDash val="solid"/>
                    </a:lnT>
                    <a:lnB w="38100" cmpd="sng">
                      <a:noFill/>
                    </a:lnB>
                    <a:solidFill>
                      <a:schemeClr val="accent3"/>
                    </a:solidFill>
                  </a:tcPr>
                </a:tc>
                <a:extLst>
                  <a:ext uri="{0D108BD9-81ED-4DB2-BD59-A6C34878D82A}">
                    <a16:rowId xmlns:a16="http://schemas.microsoft.com/office/drawing/2014/main" val="949417615"/>
                  </a:ext>
                </a:extLst>
              </a:tr>
              <a:tr h="358561">
                <a:tc>
                  <a:txBody>
                    <a:bodyPr/>
                    <a:lstStyle/>
                    <a:p>
                      <a:pPr algn="l"/>
                      <a:r>
                        <a:rPr lang="en-US" sz="1100" b="1" kern="1200">
                          <a:solidFill>
                            <a:schemeClr val="tx1"/>
                          </a:solidFill>
                          <a:latin typeface="Arial" panose="020B0604020202020204" pitchFamily="34" charset="0"/>
                          <a:cs typeface="Arial" panose="020B0604020202020204" pitchFamily="34" charset="0"/>
                        </a:rPr>
                        <a:t>Capacity (Unit Configuration)</a:t>
                      </a:r>
                      <a:endParaRPr lang="en-US" sz="11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38100" cmpd="sng">
                      <a:noFill/>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100" b="0" kern="1200">
                          <a:solidFill>
                            <a:schemeClr val="tx1"/>
                          </a:solidFill>
                          <a:latin typeface="Arial" panose="020B0604020202020204" pitchFamily="34" charset="0"/>
                          <a:cs typeface="Arial" panose="020B0604020202020204" pitchFamily="34" charset="0"/>
                        </a:rPr>
                        <a:t>100 MW</a:t>
                      </a:r>
                      <a:endParaRPr lang="en-US" sz="1100">
                        <a:solidFill>
                          <a:schemeClr val="tx1"/>
                        </a:solidFill>
                        <a:latin typeface="Arial" panose="020B0604020202020204" pitchFamily="34" charset="0"/>
                        <a:cs typeface="Arial" panose="020B0604020202020204" pitchFamily="34" charset="0"/>
                      </a:endParaRPr>
                    </a:p>
                  </a:txBody>
                  <a:tcPr marT="45723" marB="45723" anchor="ctr">
                    <a:lnL w="12700" cap="flat" cmpd="sng" algn="ctr">
                      <a:solidFill>
                        <a:schemeClr val="bg1"/>
                      </a:solidFill>
                      <a:prstDash val="solid"/>
                      <a:round/>
                      <a:headEnd type="none" w="med" len="med"/>
                      <a:tailEnd type="none" w="med" len="med"/>
                    </a:lnL>
                    <a:lnR w="12700" cmpd="sng">
                      <a:noFill/>
                      <a:prstDash val="solid"/>
                    </a:lnR>
                    <a:lnT w="38100" cmpd="sng">
                      <a:noFill/>
                    </a:lnT>
                    <a:lnB w="9525" cap="flat" cmpd="sng" algn="ctr">
                      <a:solidFill>
                        <a:schemeClr val="tx1">
                          <a:lumMod val="50000"/>
                          <a:lumOff val="50000"/>
                        </a:schemeClr>
                      </a:solidFill>
                      <a:prstDash val="solid"/>
                    </a:lnB>
                    <a:solidFill>
                      <a:schemeClr val="bg1">
                        <a:lumMod val="95000"/>
                      </a:schemeClr>
                    </a:solidFill>
                  </a:tcPr>
                </a:tc>
                <a:extLst>
                  <a:ext uri="{0D108BD9-81ED-4DB2-BD59-A6C34878D82A}">
                    <a16:rowId xmlns:a16="http://schemas.microsoft.com/office/drawing/2014/main" val="4158972743"/>
                  </a:ext>
                </a:extLst>
              </a:tr>
              <a:tr h="358561">
                <a:tc>
                  <a:txBody>
                    <a:bodyPr/>
                    <a:lstStyle/>
                    <a:p>
                      <a:pPr algn="l"/>
                      <a:r>
                        <a:rPr lang="en-US" sz="1100" b="1" kern="1200">
                          <a:solidFill>
                            <a:schemeClr val="tx1"/>
                          </a:solidFill>
                          <a:latin typeface="Arial" panose="020B0604020202020204" pitchFamily="34" charset="0"/>
                          <a:cs typeface="Arial" panose="020B0604020202020204" pitchFamily="34" charset="0"/>
                        </a:rPr>
                        <a:t>Location</a:t>
                      </a:r>
                      <a:endParaRPr lang="en-US" sz="11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100">
                          <a:solidFill>
                            <a:schemeClr val="tx1"/>
                          </a:solidFill>
                          <a:latin typeface="Arial" panose="020B0604020202020204" pitchFamily="34" charset="0"/>
                          <a:cs typeface="Arial" panose="020B0604020202020204" pitchFamily="34" charset="0"/>
                        </a:rPr>
                        <a:t>100km west of Kathmandu on Prithvi highway</a:t>
                      </a:r>
                    </a:p>
                    <a:p>
                      <a:pPr marL="0" marR="0" lvl="0" indent="0" algn="just" defTabSz="914400" rtl="0" eaLnBrk="1" fontAlgn="auto" latinLnBrk="0" hangingPunct="1">
                        <a:lnSpc>
                          <a:spcPct val="100000"/>
                        </a:lnSpc>
                        <a:spcBef>
                          <a:spcPts val="0"/>
                        </a:spcBef>
                        <a:spcAft>
                          <a:spcPts val="0"/>
                        </a:spcAft>
                        <a:buClrTx/>
                        <a:buSzTx/>
                        <a:buFontTx/>
                        <a:buNone/>
                        <a:tabLst/>
                        <a:defRPr/>
                      </a:pPr>
                      <a:r>
                        <a:rPr lang="en-US" sz="1100">
                          <a:solidFill>
                            <a:schemeClr val="tx1"/>
                          </a:solidFill>
                          <a:latin typeface="Arial" panose="020B0604020202020204" pitchFamily="34" charset="0"/>
                          <a:cs typeface="Arial" panose="020B0604020202020204" pitchFamily="34" charset="0"/>
                        </a:rPr>
                        <a:t>Gorkha-Zone, Chitwan District </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lnB>
                    <a:solidFill>
                      <a:schemeClr val="bg1">
                        <a:lumMod val="95000"/>
                      </a:schemeClr>
                    </a:solidFill>
                  </a:tcPr>
                </a:tc>
                <a:extLst>
                  <a:ext uri="{0D108BD9-81ED-4DB2-BD59-A6C34878D82A}">
                    <a16:rowId xmlns:a16="http://schemas.microsoft.com/office/drawing/2014/main" val="1476698230"/>
                  </a:ext>
                </a:extLst>
              </a:tr>
              <a:tr h="358561">
                <a:tc>
                  <a:txBody>
                    <a:bodyPr/>
                    <a:lstStyle/>
                    <a:p>
                      <a:pPr algn="l"/>
                      <a:r>
                        <a:rPr lang="en-US" sz="1100" b="1" kern="1200">
                          <a:solidFill>
                            <a:schemeClr val="tx1"/>
                          </a:solidFill>
                          <a:latin typeface="Arial" panose="020B0604020202020204" pitchFamily="34" charset="0"/>
                          <a:cs typeface="Arial" panose="020B0604020202020204" pitchFamily="34" charset="0"/>
                        </a:rPr>
                        <a:t>Transmission Evacuation details</a:t>
                      </a:r>
                      <a:endParaRPr lang="en-US" sz="11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100">
                          <a:solidFill>
                            <a:schemeClr val="tx1"/>
                          </a:solidFill>
                          <a:latin typeface="Arial" panose="020B0604020202020204" pitchFamily="34" charset="0"/>
                          <a:cs typeface="Arial" panose="020B0604020202020204" pitchFamily="34" charset="0"/>
                        </a:rPr>
                        <a:t>About 18.8 km long 220kV double circuit transmission line to New </a:t>
                      </a:r>
                      <a:r>
                        <a:rPr lang="en-US" sz="1100" err="1">
                          <a:solidFill>
                            <a:schemeClr val="tx1"/>
                          </a:solidFill>
                          <a:latin typeface="Arial" panose="020B0604020202020204" pitchFamily="34" charset="0"/>
                          <a:cs typeface="Arial" panose="020B0604020202020204" pitchFamily="34" charset="0"/>
                        </a:rPr>
                        <a:t>Markichauk</a:t>
                      </a:r>
                      <a:r>
                        <a:rPr lang="en-US" sz="1100">
                          <a:solidFill>
                            <a:schemeClr val="tx1"/>
                          </a:solidFill>
                          <a:latin typeface="Arial" panose="020B0604020202020204" pitchFamily="34" charset="0"/>
                          <a:cs typeface="Arial" panose="020B0604020202020204" pitchFamily="34" charset="0"/>
                        </a:rPr>
                        <a:t> substation</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207771065"/>
                  </a:ext>
                </a:extLst>
              </a:tr>
            </a:tbl>
          </a:graphicData>
        </a:graphic>
      </p:graphicFrame>
      <p:pic>
        <p:nvPicPr>
          <p:cNvPr id="1026" name="Picture 2">
            <a:extLst>
              <a:ext uri="{FF2B5EF4-FFF2-40B4-BE49-F238E27FC236}">
                <a16:creationId xmlns:a16="http://schemas.microsoft.com/office/drawing/2014/main" id="{FFA8F04C-8C9E-949F-1D69-23604C3C31C2}"/>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t="-1333" b="-693"/>
          <a:stretch/>
        </p:blipFill>
        <p:spPr bwMode="auto">
          <a:xfrm>
            <a:off x="6970039" y="3947345"/>
            <a:ext cx="4837479" cy="2910652"/>
          </a:xfrm>
          <a:prstGeom prst="rect">
            <a:avLst/>
          </a:prstGeom>
          <a:noFill/>
          <a:ln>
            <a:noFill/>
          </a:ln>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5AC44471-B78D-D922-FA88-CC4D8A8711C8}"/>
              </a:ext>
            </a:extLst>
          </p:cNvPr>
          <p:cNvSpPr txBox="1"/>
          <p:nvPr/>
        </p:nvSpPr>
        <p:spPr>
          <a:xfrm>
            <a:off x="6970039" y="6503191"/>
            <a:ext cx="1731432" cy="24622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Photo Credit – Blue Energy</a:t>
            </a:r>
            <a:endParaRPr kumimoji="0" lang="en-US" sz="1000" b="0" i="1" u="none" strike="noStrike" kern="1200" cap="none" spc="0" normalizeH="0" baseline="0" noProof="0">
              <a:ln>
                <a:noFill/>
              </a:ln>
              <a:solidFill>
                <a:prstClr val="black"/>
              </a:solidFill>
              <a:effectLst/>
              <a:uLnTx/>
              <a:uFillTx/>
              <a:latin typeface="Calibri"/>
              <a:ea typeface="+mn-ea"/>
              <a:cs typeface="+mn-cs"/>
            </a:endParaRPr>
          </a:p>
        </p:txBody>
      </p:sp>
      <p:sp>
        <p:nvSpPr>
          <p:cNvPr id="9" name="TextBox 8">
            <a:extLst>
              <a:ext uri="{FF2B5EF4-FFF2-40B4-BE49-F238E27FC236}">
                <a16:creationId xmlns:a16="http://schemas.microsoft.com/office/drawing/2014/main" id="{5D203BA5-EFD0-BFAF-9D39-54C2606C8F4C}"/>
              </a:ext>
            </a:extLst>
          </p:cNvPr>
          <p:cNvSpPr txBox="1"/>
          <p:nvPr/>
        </p:nvSpPr>
        <p:spPr>
          <a:xfrm>
            <a:off x="6970039" y="3692871"/>
            <a:ext cx="1731432" cy="24622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Photo Credit – ESRI</a:t>
            </a:r>
            <a:endParaRPr kumimoji="0" lang="en-US" sz="1000" b="0" i="1" u="none" strike="noStrike" kern="1200" cap="none" spc="0" normalizeH="0" baseline="0" noProof="0">
              <a:ln>
                <a:noFill/>
              </a:ln>
              <a:solidFill>
                <a:prstClr val="black"/>
              </a:solidFill>
              <a:effectLst/>
              <a:uLnTx/>
              <a:uFillTx/>
              <a:latin typeface="Calibri"/>
              <a:ea typeface="+mn-ea"/>
              <a:cs typeface="+mn-cs"/>
            </a:endParaRPr>
          </a:p>
        </p:txBody>
      </p:sp>
      <p:pic>
        <p:nvPicPr>
          <p:cNvPr id="11" name="Picture 10">
            <a:extLst>
              <a:ext uri="{FF2B5EF4-FFF2-40B4-BE49-F238E27FC236}">
                <a16:creationId xmlns:a16="http://schemas.microsoft.com/office/drawing/2014/main" id="{B41C8BCE-7EF2-96B4-F366-2FF3B17112E3}"/>
              </a:ext>
            </a:extLst>
          </p:cNvPr>
          <p:cNvPicPr>
            <a:picLocks noChangeAspect="1"/>
          </p:cNvPicPr>
          <p:nvPr/>
        </p:nvPicPr>
        <p:blipFill>
          <a:blip r:embed="rId7"/>
          <a:stretch>
            <a:fillRect/>
          </a:stretch>
        </p:blipFill>
        <p:spPr>
          <a:xfrm>
            <a:off x="6970039" y="985807"/>
            <a:ext cx="4740404" cy="2658863"/>
          </a:xfrm>
          <a:prstGeom prst="rect">
            <a:avLst/>
          </a:prstGeom>
        </p:spPr>
      </p:pic>
      <p:cxnSp>
        <p:nvCxnSpPr>
          <p:cNvPr id="13" name="Straight Arrow Connector 12">
            <a:extLst>
              <a:ext uri="{FF2B5EF4-FFF2-40B4-BE49-F238E27FC236}">
                <a16:creationId xmlns:a16="http://schemas.microsoft.com/office/drawing/2014/main" id="{E5307F49-F608-E3B7-E7A0-D498665DFEE2}"/>
              </a:ext>
            </a:extLst>
          </p:cNvPr>
          <p:cNvCxnSpPr>
            <a:cxnSpLocks/>
          </p:cNvCxnSpPr>
          <p:nvPr/>
        </p:nvCxnSpPr>
        <p:spPr>
          <a:xfrm flipH="1" flipV="1">
            <a:off x="8158347" y="3135356"/>
            <a:ext cx="1840676" cy="1591023"/>
          </a:xfrm>
          <a:prstGeom prst="straightConnector1">
            <a:avLst/>
          </a:prstGeom>
          <a:ln>
            <a:tailEnd type="triangle"/>
          </a:ln>
        </p:spPr>
        <p:style>
          <a:lnRef idx="3">
            <a:schemeClr val="accent6"/>
          </a:lnRef>
          <a:fillRef idx="0">
            <a:schemeClr val="accent6"/>
          </a:fillRef>
          <a:effectRef idx="2">
            <a:schemeClr val="accent6"/>
          </a:effectRef>
          <a:fontRef idx="minor">
            <a:schemeClr val="tx1"/>
          </a:fontRef>
        </p:style>
      </p:cxnSp>
      <p:grpSp>
        <p:nvGrpSpPr>
          <p:cNvPr id="18" name="Group 17">
            <a:extLst>
              <a:ext uri="{FF2B5EF4-FFF2-40B4-BE49-F238E27FC236}">
                <a16:creationId xmlns:a16="http://schemas.microsoft.com/office/drawing/2014/main" id="{2E858A32-C35F-721B-B898-DAF3DD8C75C4}"/>
              </a:ext>
            </a:extLst>
          </p:cNvPr>
          <p:cNvGrpSpPr/>
          <p:nvPr/>
        </p:nvGrpSpPr>
        <p:grpSpPr>
          <a:xfrm>
            <a:off x="501651" y="2656896"/>
            <a:ext cx="6358078" cy="1804591"/>
            <a:chOff x="370731" y="1758226"/>
            <a:chExt cx="3636000" cy="1931627"/>
          </a:xfrm>
        </p:grpSpPr>
        <p:grpSp>
          <p:nvGrpSpPr>
            <p:cNvPr id="19" name="Group 18">
              <a:extLst>
                <a:ext uri="{FF2B5EF4-FFF2-40B4-BE49-F238E27FC236}">
                  <a16:creationId xmlns:a16="http://schemas.microsoft.com/office/drawing/2014/main" id="{1866098A-5EC6-3FD7-4F04-50C1E786BB2E}"/>
                </a:ext>
              </a:extLst>
            </p:cNvPr>
            <p:cNvGrpSpPr/>
            <p:nvPr/>
          </p:nvGrpSpPr>
          <p:grpSpPr>
            <a:xfrm>
              <a:off x="370731" y="1758226"/>
              <a:ext cx="3636000" cy="1931627"/>
              <a:chOff x="370731" y="1758226"/>
              <a:chExt cx="3636000" cy="1931627"/>
            </a:xfrm>
          </p:grpSpPr>
          <p:grpSp>
            <p:nvGrpSpPr>
              <p:cNvPr id="21" name="Group 20">
                <a:extLst>
                  <a:ext uri="{FF2B5EF4-FFF2-40B4-BE49-F238E27FC236}">
                    <a16:creationId xmlns:a16="http://schemas.microsoft.com/office/drawing/2014/main" id="{1EBE8F8F-CEF6-C723-46C2-A2260E3F3724}"/>
                  </a:ext>
                </a:extLst>
              </p:cNvPr>
              <p:cNvGrpSpPr/>
              <p:nvPr/>
            </p:nvGrpSpPr>
            <p:grpSpPr>
              <a:xfrm>
                <a:off x="734264" y="1758226"/>
                <a:ext cx="2908937" cy="228600"/>
                <a:chOff x="833432" y="2405743"/>
                <a:chExt cx="2908937" cy="228600"/>
              </a:xfrm>
            </p:grpSpPr>
            <p:sp>
              <p:nvSpPr>
                <p:cNvPr id="25" name="Isosceles Triangle 31">
                  <a:extLst>
                    <a:ext uri="{FF2B5EF4-FFF2-40B4-BE49-F238E27FC236}">
                      <a16:creationId xmlns:a16="http://schemas.microsoft.com/office/drawing/2014/main" id="{2C111836-C76C-C328-50E0-BFC360121CFE}"/>
                    </a:ext>
                  </a:extLst>
                </p:cNvPr>
                <p:cNvSpPr/>
                <p:nvPr/>
              </p:nvSpPr>
              <p:spPr bwMode="gray">
                <a:xfrm>
                  <a:off x="3576634"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marL="0" marR="0" lvl="0" indent="0" algn="ctr" defTabSz="914255"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err="1">
                    <a:ln>
                      <a:noFill/>
                    </a:ln>
                    <a:solidFill>
                      <a:prstClr val="white"/>
                    </a:solidFill>
                    <a:effectLst/>
                    <a:uLnTx/>
                    <a:uFillTx/>
                    <a:latin typeface="Calibri"/>
                    <a:ea typeface="+mn-ea"/>
                    <a:cs typeface="+mn-cs"/>
                  </a:endParaRPr>
                </a:p>
              </p:txBody>
            </p:sp>
            <p:sp>
              <p:nvSpPr>
                <p:cNvPr id="26" name="Isosceles Triangle 5">
                  <a:extLst>
                    <a:ext uri="{FF2B5EF4-FFF2-40B4-BE49-F238E27FC236}">
                      <a16:creationId xmlns:a16="http://schemas.microsoft.com/office/drawing/2014/main" id="{1661DA36-7BD0-3805-E3CE-B1DA759108A7}"/>
                    </a:ext>
                  </a:extLst>
                </p:cNvPr>
                <p:cNvSpPr/>
                <p:nvPr/>
              </p:nvSpPr>
              <p:spPr bwMode="gray">
                <a:xfrm>
                  <a:off x="833432"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marL="0" marR="0" lvl="0" indent="0" algn="ctr" defTabSz="914255"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err="1">
                    <a:ln>
                      <a:noFill/>
                    </a:ln>
                    <a:solidFill>
                      <a:prstClr val="white"/>
                    </a:solidFill>
                    <a:effectLst/>
                    <a:uLnTx/>
                    <a:uFillTx/>
                    <a:latin typeface="Calibri"/>
                    <a:ea typeface="+mn-ea"/>
                    <a:cs typeface="+mn-cs"/>
                  </a:endParaRPr>
                </a:p>
              </p:txBody>
            </p:sp>
          </p:grpSp>
          <p:grpSp>
            <p:nvGrpSpPr>
              <p:cNvPr id="22" name="Group 21">
                <a:extLst>
                  <a:ext uri="{FF2B5EF4-FFF2-40B4-BE49-F238E27FC236}">
                    <a16:creationId xmlns:a16="http://schemas.microsoft.com/office/drawing/2014/main" id="{2B3C2FB5-0121-AAAA-0B17-BB388BCD81BD}"/>
                  </a:ext>
                </a:extLst>
              </p:cNvPr>
              <p:cNvGrpSpPr/>
              <p:nvPr/>
            </p:nvGrpSpPr>
            <p:grpSpPr>
              <a:xfrm>
                <a:off x="370731" y="1758227"/>
                <a:ext cx="3636000" cy="1931626"/>
                <a:chOff x="370731" y="1758227"/>
                <a:chExt cx="3636000" cy="1931626"/>
              </a:xfrm>
            </p:grpSpPr>
            <p:sp>
              <p:nvSpPr>
                <p:cNvPr id="23" name="Rectangle: Rounded Corners 7">
                  <a:extLst>
                    <a:ext uri="{FF2B5EF4-FFF2-40B4-BE49-F238E27FC236}">
                      <a16:creationId xmlns:a16="http://schemas.microsoft.com/office/drawing/2014/main" id="{04B62004-548C-7A42-FB69-A69A6FEA18B2}"/>
                    </a:ext>
                  </a:extLst>
                </p:cNvPr>
                <p:cNvSpPr/>
                <p:nvPr/>
              </p:nvSpPr>
              <p:spPr bwMode="gray">
                <a:xfrm>
                  <a:off x="370731" y="1986827"/>
                  <a:ext cx="3636000" cy="1703026"/>
                </a:xfrm>
                <a:prstGeom prst="roundRect">
                  <a:avLst>
                    <a:gd name="adj" fmla="val 6603"/>
                  </a:avLst>
                </a:prstGeom>
                <a:solidFill>
                  <a:schemeClr val="bg1">
                    <a:lumMod val="95000"/>
                  </a:schemeClr>
                </a:solidFill>
                <a:ln w="19050" algn="ctr">
                  <a:noFill/>
                  <a:miter lim="800000"/>
                  <a:headEnd/>
                  <a:tailEnd/>
                </a:ln>
              </p:spPr>
              <p:txBody>
                <a:bodyPr wrap="square" lIns="88900" tIns="182880" rIns="88900" bIns="88900" rtlCol="0" anchor="t"/>
                <a:lstStyle/>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The project is located in between the Demand Centres of Kathmandu (100 km) and Pokhara (109 km).</a:t>
                  </a:r>
                </a:p>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r>
                    <a:rPr kumimoji="0" lang="en-US" sz="1200" b="1"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a:t>
                  </a: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This river basin is one of the most developed basins in Nepal. </a:t>
                  </a:r>
                </a:p>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The project's strategic location helps reduce the congestion in the transmission network, facilitates its optimal year-round utilization, and contributes to more efficient load management, thereby enhancing overall grid stability and reliability.</a:t>
                  </a:r>
                  <a:endParaRPr kumimoji="0" lang="en-IN"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24" name="Rectangle: Top Corners Rounded 12">
                  <a:extLst>
                    <a:ext uri="{FF2B5EF4-FFF2-40B4-BE49-F238E27FC236}">
                      <a16:creationId xmlns:a16="http://schemas.microsoft.com/office/drawing/2014/main" id="{03332FCE-B125-ED7B-D8BC-F29D177FBC3F}"/>
                    </a:ext>
                  </a:extLst>
                </p:cNvPr>
                <p:cNvSpPr/>
                <p:nvPr/>
              </p:nvSpPr>
              <p:spPr bwMode="gray">
                <a:xfrm flipV="1">
                  <a:off x="817131" y="1758227"/>
                  <a:ext cx="2743200" cy="457201"/>
                </a:xfrm>
                <a:prstGeom prst="round2SameRect">
                  <a:avLst/>
                </a:prstGeom>
                <a:solidFill>
                  <a:schemeClr val="accent2">
                    <a:lumMod val="75000"/>
                  </a:schemeClr>
                </a:solidFill>
                <a:ln w="19050" algn="ctr">
                  <a:noFill/>
                  <a:miter lim="800000"/>
                  <a:headEnd/>
                  <a:tailEnd/>
                </a:ln>
              </p:spPr>
              <p:txBody>
                <a:bodyPr wrap="square" lIns="88900" tIns="88900" rIns="88900" bIns="88900" rtlCol="0" anchor="ctr"/>
                <a:lstStyle/>
                <a:p>
                  <a:pPr marL="0" marR="0" lvl="0" indent="0" algn="ctr" defTabSz="914255" rtl="0" eaLnBrk="1" fontAlgn="auto" latinLnBrk="0" hangingPunct="1">
                    <a:lnSpc>
                      <a:spcPct val="106000"/>
                    </a:lnSpc>
                    <a:spcBef>
                      <a:spcPts val="0"/>
                    </a:spcBef>
                    <a:spcAft>
                      <a:spcPts val="0"/>
                    </a:spcAft>
                    <a:buClrTx/>
                    <a:buSzTx/>
                    <a:buFont typeface="Wingdings 2" pitchFamily="18" charset="2"/>
                    <a:buNone/>
                    <a:tabLst/>
                    <a:defRPr/>
                  </a:pPr>
                  <a:endParaRPr kumimoji="0" lang="en-GB" sz="1200" b="1"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20" name="Rectangle 19">
              <a:extLst>
                <a:ext uri="{FF2B5EF4-FFF2-40B4-BE49-F238E27FC236}">
                  <a16:creationId xmlns:a16="http://schemas.microsoft.com/office/drawing/2014/main" id="{E8B31E24-6E44-7B14-BF3A-0B95DBAAC1D5}"/>
                </a:ext>
              </a:extLst>
            </p:cNvPr>
            <p:cNvSpPr/>
            <p:nvPr/>
          </p:nvSpPr>
          <p:spPr>
            <a:xfrm>
              <a:off x="1499337" y="1894493"/>
              <a:ext cx="1378807" cy="230611"/>
            </a:xfrm>
            <a:prstGeom prst="rect">
              <a:avLst/>
            </a:prstGeom>
          </p:spPr>
          <p:txBody>
            <a:bodyPr wrap="none" lIns="0" tIns="0" rIns="0" bIns="0">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Calibri"/>
                  <a:ea typeface="+mn-ea"/>
                  <a:cs typeface="+mn-cs"/>
                </a:rPr>
                <a:t>Strategic Location of the project </a:t>
              </a:r>
            </a:p>
          </p:txBody>
        </p:sp>
      </p:grpSp>
      <p:sp>
        <p:nvSpPr>
          <p:cNvPr id="27" name="Isosceles Triangle 26">
            <a:extLst>
              <a:ext uri="{FF2B5EF4-FFF2-40B4-BE49-F238E27FC236}">
                <a16:creationId xmlns:a16="http://schemas.microsoft.com/office/drawing/2014/main" id="{D077A57A-A5CF-6CD2-193E-9154B8E695D7}"/>
              </a:ext>
            </a:extLst>
          </p:cNvPr>
          <p:cNvSpPr/>
          <p:nvPr/>
        </p:nvSpPr>
        <p:spPr bwMode="gray">
          <a:xfrm>
            <a:off x="9387352" y="5285678"/>
            <a:ext cx="122664" cy="133815"/>
          </a:xfrm>
          <a:prstGeom prst="triangle">
            <a:avLst/>
          </a:prstGeom>
          <a:solidFill>
            <a:srgbClr val="FF0000"/>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28" name="Isosceles Triangle 27">
            <a:extLst>
              <a:ext uri="{FF2B5EF4-FFF2-40B4-BE49-F238E27FC236}">
                <a16:creationId xmlns:a16="http://schemas.microsoft.com/office/drawing/2014/main" id="{89B878FB-CC9A-231E-698F-2331A1480AFC}"/>
              </a:ext>
            </a:extLst>
          </p:cNvPr>
          <p:cNvSpPr/>
          <p:nvPr/>
        </p:nvSpPr>
        <p:spPr bwMode="gray">
          <a:xfrm>
            <a:off x="9748757" y="5872193"/>
            <a:ext cx="122664" cy="133815"/>
          </a:xfrm>
          <a:prstGeom prst="triangle">
            <a:avLst/>
          </a:prstGeom>
          <a:solidFill>
            <a:srgbClr val="FF0000"/>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grpSp>
        <p:nvGrpSpPr>
          <p:cNvPr id="30" name="Group 29">
            <a:extLst>
              <a:ext uri="{FF2B5EF4-FFF2-40B4-BE49-F238E27FC236}">
                <a16:creationId xmlns:a16="http://schemas.microsoft.com/office/drawing/2014/main" id="{5FF20D0C-4DF0-B96E-0099-5F97E54F30A1}"/>
              </a:ext>
            </a:extLst>
          </p:cNvPr>
          <p:cNvGrpSpPr/>
          <p:nvPr/>
        </p:nvGrpSpPr>
        <p:grpSpPr>
          <a:xfrm>
            <a:off x="501651" y="4673176"/>
            <a:ext cx="6358078" cy="1806468"/>
            <a:chOff x="370731" y="1756217"/>
            <a:chExt cx="3636000" cy="1933636"/>
          </a:xfrm>
        </p:grpSpPr>
        <p:grpSp>
          <p:nvGrpSpPr>
            <p:cNvPr id="31" name="Group 30">
              <a:extLst>
                <a:ext uri="{FF2B5EF4-FFF2-40B4-BE49-F238E27FC236}">
                  <a16:creationId xmlns:a16="http://schemas.microsoft.com/office/drawing/2014/main" id="{14E095D0-AE7E-DED2-5D44-DF4F28A4EC47}"/>
                </a:ext>
              </a:extLst>
            </p:cNvPr>
            <p:cNvGrpSpPr/>
            <p:nvPr/>
          </p:nvGrpSpPr>
          <p:grpSpPr>
            <a:xfrm>
              <a:off x="370731" y="1758226"/>
              <a:ext cx="3636000" cy="1931627"/>
              <a:chOff x="370731" y="1758226"/>
              <a:chExt cx="3636000" cy="1931627"/>
            </a:xfrm>
          </p:grpSpPr>
          <p:grpSp>
            <p:nvGrpSpPr>
              <p:cNvPr id="33" name="Group 32">
                <a:extLst>
                  <a:ext uri="{FF2B5EF4-FFF2-40B4-BE49-F238E27FC236}">
                    <a16:creationId xmlns:a16="http://schemas.microsoft.com/office/drawing/2014/main" id="{0C682DE3-19AF-6B08-12D5-138AA5C03460}"/>
                  </a:ext>
                </a:extLst>
              </p:cNvPr>
              <p:cNvGrpSpPr/>
              <p:nvPr/>
            </p:nvGrpSpPr>
            <p:grpSpPr>
              <a:xfrm>
                <a:off x="734264" y="1758226"/>
                <a:ext cx="2908937" cy="228600"/>
                <a:chOff x="833432" y="2405743"/>
                <a:chExt cx="2908937" cy="228600"/>
              </a:xfrm>
            </p:grpSpPr>
            <p:sp>
              <p:nvSpPr>
                <p:cNvPr id="37" name="Isosceles Triangle 31">
                  <a:extLst>
                    <a:ext uri="{FF2B5EF4-FFF2-40B4-BE49-F238E27FC236}">
                      <a16:creationId xmlns:a16="http://schemas.microsoft.com/office/drawing/2014/main" id="{169A5063-A8AB-3D73-5E98-7AF4C4E094EF}"/>
                    </a:ext>
                  </a:extLst>
                </p:cNvPr>
                <p:cNvSpPr/>
                <p:nvPr/>
              </p:nvSpPr>
              <p:spPr bwMode="gray">
                <a:xfrm>
                  <a:off x="3576634"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marL="0" marR="0" lvl="0" indent="0" algn="ctr" defTabSz="914255"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err="1">
                    <a:ln>
                      <a:noFill/>
                    </a:ln>
                    <a:solidFill>
                      <a:prstClr val="white"/>
                    </a:solidFill>
                    <a:effectLst/>
                    <a:uLnTx/>
                    <a:uFillTx/>
                    <a:latin typeface="Calibri"/>
                    <a:ea typeface="+mn-ea"/>
                    <a:cs typeface="+mn-cs"/>
                  </a:endParaRPr>
                </a:p>
              </p:txBody>
            </p:sp>
            <p:sp>
              <p:nvSpPr>
                <p:cNvPr id="38" name="Isosceles Triangle 5">
                  <a:extLst>
                    <a:ext uri="{FF2B5EF4-FFF2-40B4-BE49-F238E27FC236}">
                      <a16:creationId xmlns:a16="http://schemas.microsoft.com/office/drawing/2014/main" id="{52E80506-633B-9554-EABA-D23D1A884956}"/>
                    </a:ext>
                  </a:extLst>
                </p:cNvPr>
                <p:cNvSpPr/>
                <p:nvPr/>
              </p:nvSpPr>
              <p:spPr bwMode="gray">
                <a:xfrm>
                  <a:off x="833432"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marL="0" marR="0" lvl="0" indent="0" algn="ctr" defTabSz="914255"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err="1">
                    <a:ln>
                      <a:noFill/>
                    </a:ln>
                    <a:solidFill>
                      <a:prstClr val="white"/>
                    </a:solidFill>
                    <a:effectLst/>
                    <a:uLnTx/>
                    <a:uFillTx/>
                    <a:latin typeface="Calibri"/>
                    <a:ea typeface="+mn-ea"/>
                    <a:cs typeface="+mn-cs"/>
                  </a:endParaRPr>
                </a:p>
              </p:txBody>
            </p:sp>
          </p:grpSp>
          <p:grpSp>
            <p:nvGrpSpPr>
              <p:cNvPr id="34" name="Group 33">
                <a:extLst>
                  <a:ext uri="{FF2B5EF4-FFF2-40B4-BE49-F238E27FC236}">
                    <a16:creationId xmlns:a16="http://schemas.microsoft.com/office/drawing/2014/main" id="{077D3926-CB10-808B-7B29-21B50AA6BA43}"/>
                  </a:ext>
                </a:extLst>
              </p:cNvPr>
              <p:cNvGrpSpPr/>
              <p:nvPr/>
            </p:nvGrpSpPr>
            <p:grpSpPr>
              <a:xfrm>
                <a:off x="370731" y="1758226"/>
                <a:ext cx="3636000" cy="1931627"/>
                <a:chOff x="370731" y="1758226"/>
                <a:chExt cx="3636000" cy="1931627"/>
              </a:xfrm>
            </p:grpSpPr>
            <p:sp>
              <p:nvSpPr>
                <p:cNvPr id="35" name="Rectangle: Rounded Corners 7">
                  <a:extLst>
                    <a:ext uri="{FF2B5EF4-FFF2-40B4-BE49-F238E27FC236}">
                      <a16:creationId xmlns:a16="http://schemas.microsoft.com/office/drawing/2014/main" id="{9ABE155C-01F1-5CE9-DB92-B96A5483C503}"/>
                    </a:ext>
                  </a:extLst>
                </p:cNvPr>
                <p:cNvSpPr/>
                <p:nvPr/>
              </p:nvSpPr>
              <p:spPr bwMode="gray">
                <a:xfrm>
                  <a:off x="370731" y="1986827"/>
                  <a:ext cx="3636000" cy="1703026"/>
                </a:xfrm>
                <a:prstGeom prst="roundRect">
                  <a:avLst>
                    <a:gd name="adj" fmla="val 6603"/>
                  </a:avLst>
                </a:prstGeom>
                <a:solidFill>
                  <a:schemeClr val="bg1">
                    <a:lumMod val="95000"/>
                  </a:schemeClr>
                </a:solidFill>
                <a:ln w="19050" algn="ctr">
                  <a:noFill/>
                  <a:miter lim="800000"/>
                  <a:headEnd/>
                  <a:tailEnd/>
                </a:ln>
              </p:spPr>
              <p:txBody>
                <a:bodyPr wrap="square" lIns="88900" tIns="182880" rIns="88900" bIns="88900" rtlCol="0" anchor="t"/>
                <a:lstStyle/>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As per the DPR, 220/132 kV New-</a:t>
                  </a:r>
                  <a:r>
                    <a:rPr kumimoji="0" lang="en-US" sz="1200" b="0" i="0" u="none" strike="noStrike" kern="100" cap="none" spc="0" normalizeH="0" baseline="0" noProof="0" err="1">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Marsyangdi</a:t>
                  </a: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a:t>
                  </a:r>
                  <a:r>
                    <a:rPr kumimoji="0" lang="en-US" sz="1200" b="0" i="0" u="none" strike="noStrike" kern="100" cap="none" spc="0" normalizeH="0" baseline="0" noProof="0" err="1">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Marki</a:t>
                  </a: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Chowk) substation has been most optimised transmission network for evacuation of 100 MW power from PJ_ST Project .</a:t>
                  </a:r>
                </a:p>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220/132 kV New-</a:t>
                  </a:r>
                  <a:r>
                    <a:rPr kumimoji="0" lang="en-US" sz="1200" b="0" i="0" u="none" strike="noStrike" kern="100" cap="none" spc="0" normalizeH="0" baseline="0" noProof="0" err="1">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Marsyangdi</a:t>
                  </a: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a:t>
                  </a:r>
                  <a:r>
                    <a:rPr kumimoji="0" lang="en-US" sz="1200" b="0" i="0" u="none" strike="noStrike" kern="100" cap="none" spc="0" normalizeH="0" baseline="0" noProof="0" err="1">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Marki</a:t>
                  </a: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Chowk) substation, located in </a:t>
                  </a:r>
                  <a:r>
                    <a:rPr kumimoji="0" lang="en-US" sz="1200" b="0" i="0" u="none" strike="noStrike" kern="100" cap="none" spc="0" normalizeH="0" baseline="0" noProof="0" err="1">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Tanahun</a:t>
                  </a: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Nepal, was officially energized on January 2, 2025.</a:t>
                  </a:r>
                </a:p>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Based on the discussion with NEA and Breeze, the transmission infrastructure development for this project is on track.</a:t>
                  </a:r>
                </a:p>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endParaRPr kumimoji="0" lang="en-IN"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36" name="Rectangle: Top Corners Rounded 12">
                  <a:extLst>
                    <a:ext uri="{FF2B5EF4-FFF2-40B4-BE49-F238E27FC236}">
                      <a16:creationId xmlns:a16="http://schemas.microsoft.com/office/drawing/2014/main" id="{B4251849-1D80-6D37-3C0D-46D61013968E}"/>
                    </a:ext>
                  </a:extLst>
                </p:cNvPr>
                <p:cNvSpPr/>
                <p:nvPr/>
              </p:nvSpPr>
              <p:spPr bwMode="gray">
                <a:xfrm flipV="1">
                  <a:off x="817131" y="1758226"/>
                  <a:ext cx="2743200" cy="457201"/>
                </a:xfrm>
                <a:prstGeom prst="round2SameRect">
                  <a:avLst/>
                </a:prstGeom>
                <a:solidFill>
                  <a:schemeClr val="accent2">
                    <a:lumMod val="75000"/>
                  </a:schemeClr>
                </a:solidFill>
                <a:ln w="19050" algn="ctr">
                  <a:noFill/>
                  <a:miter lim="800000"/>
                  <a:headEnd/>
                  <a:tailEnd/>
                </a:ln>
              </p:spPr>
              <p:txBody>
                <a:bodyPr wrap="square" lIns="88900" tIns="88900" rIns="88900" bIns="88900" rtlCol="0" anchor="ctr"/>
                <a:lstStyle/>
                <a:p>
                  <a:pPr marL="0" marR="0" lvl="0" indent="0" algn="ctr" defTabSz="914255" rtl="0" eaLnBrk="1" fontAlgn="auto" latinLnBrk="0" hangingPunct="1">
                    <a:lnSpc>
                      <a:spcPct val="106000"/>
                    </a:lnSpc>
                    <a:spcBef>
                      <a:spcPts val="0"/>
                    </a:spcBef>
                    <a:spcAft>
                      <a:spcPts val="0"/>
                    </a:spcAft>
                    <a:buClrTx/>
                    <a:buSzTx/>
                    <a:buFont typeface="Wingdings 2" pitchFamily="18" charset="2"/>
                    <a:buNone/>
                    <a:tabLst/>
                    <a:defRPr/>
                  </a:pPr>
                  <a:endParaRPr kumimoji="0" lang="en-GB" sz="1200" b="1"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32" name="Rectangle 31">
              <a:extLst>
                <a:ext uri="{FF2B5EF4-FFF2-40B4-BE49-F238E27FC236}">
                  <a16:creationId xmlns:a16="http://schemas.microsoft.com/office/drawing/2014/main" id="{ACFB1194-0149-5147-005E-3226A330DF5B}"/>
                </a:ext>
              </a:extLst>
            </p:cNvPr>
            <p:cNvSpPr/>
            <p:nvPr/>
          </p:nvSpPr>
          <p:spPr>
            <a:xfrm>
              <a:off x="1206074" y="1756217"/>
              <a:ext cx="1965318" cy="461220"/>
            </a:xfrm>
            <a:prstGeom prst="rect">
              <a:avLst/>
            </a:prstGeom>
          </p:spPr>
          <p:txBody>
            <a:bodyPr wrap="none" lIns="0" tIns="0" rIns="0" bIns="0">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Calibri"/>
                  <a:ea typeface="+mn-ea"/>
                  <a:cs typeface="+mn-cs"/>
                </a:rPr>
                <a:t>Current Status of the transmission evacuation </a:t>
              </a:r>
            </a:p>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Calibri"/>
                  <a:ea typeface="+mn-ea"/>
                  <a:cs typeface="+mn-cs"/>
                </a:rPr>
                <a:t>infrastructure of the project</a:t>
              </a:r>
            </a:p>
          </p:txBody>
        </p:sp>
      </p:grpSp>
    </p:spTree>
    <p:extLst>
      <p:ext uri="{BB962C8B-B14F-4D97-AF65-F5344CB8AC3E}">
        <p14:creationId xmlns:p14="http://schemas.microsoft.com/office/powerpoint/2010/main" val="535652946"/>
      </p:ext>
    </p:extLst>
  </p:cSld>
  <p:clrMapOvr>
    <a:masterClrMapping/>
  </p:clrMapOvr>
  <p:transition>
    <p:fade/>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137555103"/>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Upcoming Cross Border Transmission Lines I Enabling export targets </a:t>
            </a:r>
            <a:endParaRPr lang="en-GB" sz="1800" b="1">
              <a:latin typeface="Arial" panose="020B0604020202020204" pitchFamily="34" charset="0"/>
              <a:cs typeface="Arial" panose="020B0604020202020204" pitchFamily="34" charset="0"/>
            </a:endParaRPr>
          </a:p>
        </p:txBody>
      </p:sp>
      <p:sp>
        <p:nvSpPr>
          <p:cNvPr id="2" name="Text Placeholder 1"/>
          <p:cNvSpPr>
            <a:spLocks noGrp="1"/>
          </p:cNvSpPr>
          <p:nvPr>
            <p:ph type="body" sz="quarter" idx="13"/>
          </p:nvPr>
        </p:nvSpPr>
        <p:spPr>
          <a:xfrm>
            <a:off x="501651" y="711677"/>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Ongoing and planned transmission corridors with India is in line with the export targets of Nepal</a:t>
            </a:r>
          </a:p>
        </p:txBody>
      </p:sp>
      <p:sp>
        <p:nvSpPr>
          <p:cNvPr id="9" name="Rectangle: Rounded Corners 8">
            <a:extLst>
              <a:ext uri="{FF2B5EF4-FFF2-40B4-BE49-F238E27FC236}">
                <a16:creationId xmlns:a16="http://schemas.microsoft.com/office/drawing/2014/main" id="{325418F7-D80E-AA4D-DB2B-7899F30B2B1A}"/>
              </a:ext>
            </a:extLst>
          </p:cNvPr>
          <p:cNvSpPr/>
          <p:nvPr/>
        </p:nvSpPr>
        <p:spPr bwMode="gray">
          <a:xfrm>
            <a:off x="1928096" y="1061800"/>
            <a:ext cx="8054952" cy="334100"/>
          </a:xfrm>
          <a:prstGeom prst="roundRect">
            <a:avLst>
              <a:gd name="adj" fmla="val 0"/>
            </a:avLst>
          </a:prstGeom>
          <a:solidFill>
            <a:schemeClr val="accent4"/>
          </a:solidFill>
          <a:ln>
            <a:noFill/>
            <a:headEnd/>
            <a:tailEnd/>
          </a:ln>
        </p:spPr>
        <p:style>
          <a:lnRef idx="2">
            <a:schemeClr val="accent1"/>
          </a:lnRef>
          <a:fillRef idx="1">
            <a:schemeClr val="lt1"/>
          </a:fillRef>
          <a:effectRef idx="0">
            <a:schemeClr val="accent1"/>
          </a:effectRef>
          <a:fontRef idx="minor">
            <a:schemeClr val="dk1"/>
          </a:fontRef>
        </p:style>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Tx/>
              <a:buNone/>
              <a:tabLst/>
              <a:defRPr/>
            </a:pPr>
            <a:r>
              <a:rPr kumimoji="0" lang="en-US" sz="1400" b="1"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Upcoming </a:t>
            </a:r>
            <a:r>
              <a:rPr kumimoji="0" lang="en-IN" sz="1400" b="1"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Cross Border </a:t>
            </a:r>
            <a:r>
              <a:rPr kumimoji="0" lang="en-US" sz="1400" b="1"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Transmission Lines &amp; their present status</a:t>
            </a:r>
            <a:endParaRPr kumimoji="0" lang="en-IN" sz="1400" b="1"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endParaRPr>
          </a:p>
        </p:txBody>
      </p:sp>
      <p:graphicFrame>
        <p:nvGraphicFramePr>
          <p:cNvPr id="11" name="Table 10">
            <a:extLst>
              <a:ext uri="{FF2B5EF4-FFF2-40B4-BE49-F238E27FC236}">
                <a16:creationId xmlns:a16="http://schemas.microsoft.com/office/drawing/2014/main" id="{1BFB2BB6-A290-D7E2-3213-01013FD54E53}"/>
              </a:ext>
            </a:extLst>
          </p:cNvPr>
          <p:cNvGraphicFramePr>
            <a:graphicFrameLocks noGrp="1"/>
          </p:cNvGraphicFramePr>
          <p:nvPr>
            <p:extLst>
              <p:ext uri="{D42A27DB-BD31-4B8C-83A1-F6EECF244321}">
                <p14:modId xmlns:p14="http://schemas.microsoft.com/office/powerpoint/2010/main" val="1889086675"/>
              </p:ext>
            </p:extLst>
          </p:nvPr>
        </p:nvGraphicFramePr>
        <p:xfrm>
          <a:off x="534976" y="1489740"/>
          <a:ext cx="11175467" cy="4558480"/>
        </p:xfrm>
        <a:graphic>
          <a:graphicData uri="http://schemas.openxmlformats.org/drawingml/2006/table">
            <a:tbl>
              <a:tblPr>
                <a:tableStyleId>{3B4B98B0-60AC-42C2-AFA5-B58CD77FA1E5}</a:tableStyleId>
              </a:tblPr>
              <a:tblGrid>
                <a:gridCol w="502661">
                  <a:extLst>
                    <a:ext uri="{9D8B030D-6E8A-4147-A177-3AD203B41FA5}">
                      <a16:colId xmlns:a16="http://schemas.microsoft.com/office/drawing/2014/main" val="3071374873"/>
                    </a:ext>
                  </a:extLst>
                </a:gridCol>
                <a:gridCol w="2318322">
                  <a:extLst>
                    <a:ext uri="{9D8B030D-6E8A-4147-A177-3AD203B41FA5}">
                      <a16:colId xmlns:a16="http://schemas.microsoft.com/office/drawing/2014/main" val="1893327031"/>
                    </a:ext>
                  </a:extLst>
                </a:gridCol>
                <a:gridCol w="763522">
                  <a:extLst>
                    <a:ext uri="{9D8B030D-6E8A-4147-A177-3AD203B41FA5}">
                      <a16:colId xmlns:a16="http://schemas.microsoft.com/office/drawing/2014/main" val="3002502649"/>
                    </a:ext>
                  </a:extLst>
                </a:gridCol>
                <a:gridCol w="1590211">
                  <a:extLst>
                    <a:ext uri="{9D8B030D-6E8A-4147-A177-3AD203B41FA5}">
                      <a16:colId xmlns:a16="http://schemas.microsoft.com/office/drawing/2014/main" val="4093770840"/>
                    </a:ext>
                  </a:extLst>
                </a:gridCol>
                <a:gridCol w="1134533">
                  <a:extLst>
                    <a:ext uri="{9D8B030D-6E8A-4147-A177-3AD203B41FA5}">
                      <a16:colId xmlns:a16="http://schemas.microsoft.com/office/drawing/2014/main" val="2170761961"/>
                    </a:ext>
                  </a:extLst>
                </a:gridCol>
                <a:gridCol w="4866218">
                  <a:extLst>
                    <a:ext uri="{9D8B030D-6E8A-4147-A177-3AD203B41FA5}">
                      <a16:colId xmlns:a16="http://schemas.microsoft.com/office/drawing/2014/main" val="1499542819"/>
                    </a:ext>
                  </a:extLst>
                </a:gridCol>
              </a:tblGrid>
              <a:tr h="485456">
                <a:tc>
                  <a:txBody>
                    <a:bodyPr/>
                    <a:lstStyle/>
                    <a:p>
                      <a:pPr algn="ctr" fontAlgn="ctr"/>
                      <a:r>
                        <a:rPr lang="en-IN" sz="1200" b="0" u="none" strike="noStrike">
                          <a:solidFill>
                            <a:schemeClr val="bg1"/>
                          </a:solidFill>
                          <a:effectLst/>
                          <a:latin typeface="Arial" panose="020B0604020202020204" pitchFamily="34" charset="0"/>
                          <a:cs typeface="Arial" panose="020B0604020202020204" pitchFamily="34" charset="0"/>
                        </a:rPr>
                        <a:t>Sl. No.</a:t>
                      </a:r>
                      <a:endParaRPr lang="en-IN" sz="1200" b="0"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l" fontAlgn="ctr"/>
                      <a:r>
                        <a:rPr lang="en-IN" sz="1200" b="0" u="none" strike="noStrike">
                          <a:solidFill>
                            <a:schemeClr val="bg1"/>
                          </a:solidFill>
                          <a:effectLst/>
                          <a:latin typeface="Arial" panose="020B0604020202020204" pitchFamily="34" charset="0"/>
                          <a:cs typeface="Arial" panose="020B0604020202020204" pitchFamily="34" charset="0"/>
                        </a:rPr>
                        <a:t>  Project Name</a:t>
                      </a:r>
                      <a:endParaRPr lang="en-IN" sz="1200" b="0"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0" u="none" strike="noStrike">
                          <a:solidFill>
                            <a:schemeClr val="bg1"/>
                          </a:solidFill>
                          <a:effectLst/>
                          <a:latin typeface="Arial" panose="020B0604020202020204" pitchFamily="34" charset="0"/>
                          <a:cs typeface="Arial" panose="020B0604020202020204" pitchFamily="34" charset="0"/>
                        </a:rPr>
                        <a:t>Voltage  (kV)</a:t>
                      </a:r>
                      <a:endParaRPr lang="en-IN" sz="1200" b="0"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0" u="none" strike="noStrike">
                          <a:solidFill>
                            <a:schemeClr val="bg1"/>
                          </a:solidFill>
                          <a:effectLst/>
                          <a:latin typeface="Arial" panose="020B0604020202020204" pitchFamily="34" charset="0"/>
                          <a:cs typeface="Arial" panose="020B0604020202020204" pitchFamily="34" charset="0"/>
                        </a:rPr>
                        <a:t>Quantum</a:t>
                      </a:r>
                    </a:p>
                    <a:p>
                      <a:pPr algn="ctr" fontAlgn="ctr"/>
                      <a:r>
                        <a:rPr lang="en-IN" sz="1200" b="0" u="none" strike="noStrike">
                          <a:solidFill>
                            <a:schemeClr val="bg1"/>
                          </a:solidFill>
                          <a:effectLst/>
                          <a:latin typeface="Arial" panose="020B0604020202020204" pitchFamily="34" charset="0"/>
                          <a:cs typeface="Arial" panose="020B0604020202020204" pitchFamily="34" charset="0"/>
                        </a:rPr>
                        <a:t> (MW)</a:t>
                      </a:r>
                      <a:endParaRPr lang="en-IN" sz="1200" b="0"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0" i="0" u="none" strike="noStrike">
                          <a:solidFill>
                            <a:schemeClr val="bg1"/>
                          </a:solidFill>
                          <a:effectLst/>
                          <a:latin typeface="Arial" panose="020B0604020202020204" pitchFamily="34" charset="0"/>
                          <a:cs typeface="Arial" panose="020B0604020202020204" pitchFamily="34" charset="0"/>
                        </a:rPr>
                        <a:t>Proposed </a:t>
                      </a:r>
                    </a:p>
                    <a:p>
                      <a:pPr algn="ctr" fontAlgn="ctr"/>
                      <a:r>
                        <a:rPr lang="en-IN" sz="1200" b="0" i="0" u="none" strike="noStrike">
                          <a:solidFill>
                            <a:schemeClr val="bg1"/>
                          </a:solidFill>
                          <a:effectLst/>
                          <a:latin typeface="Arial" panose="020B0604020202020204" pitchFamily="34" charset="0"/>
                          <a:cs typeface="Arial" panose="020B0604020202020204" pitchFamily="34" charset="0"/>
                        </a:rPr>
                        <a:t>COD</a:t>
                      </a: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l" fontAlgn="ctr"/>
                      <a:r>
                        <a:rPr lang="en-IN" sz="1200" b="0" i="0" u="none" strike="noStrike">
                          <a:solidFill>
                            <a:schemeClr val="bg1"/>
                          </a:solidFill>
                          <a:effectLst/>
                          <a:latin typeface="Arial" panose="020B0604020202020204" pitchFamily="34" charset="0"/>
                          <a:cs typeface="Arial" panose="020B0604020202020204" pitchFamily="34" charset="0"/>
                        </a:rPr>
                        <a:t>  Current Status of the project</a:t>
                      </a: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extLst>
                  <a:ext uri="{0D108BD9-81ED-4DB2-BD59-A6C34878D82A}">
                    <a16:rowId xmlns:a16="http://schemas.microsoft.com/office/drawing/2014/main" val="52627781"/>
                  </a:ext>
                </a:extLst>
              </a:tr>
              <a:tr h="509128">
                <a:tc>
                  <a:txBody>
                    <a:bodyPr/>
                    <a:lstStyle/>
                    <a:p>
                      <a:pPr algn="ctr" fontAlgn="ctr"/>
                      <a:r>
                        <a:rPr lang="en-IN" sz="1200" b="0" u="none" strike="noStrike">
                          <a:effectLst/>
                          <a:latin typeface="Arial" panose="020B0604020202020204" pitchFamily="34" charset="0"/>
                          <a:cs typeface="Arial" panose="020B0604020202020204" pitchFamily="34" charset="0"/>
                        </a:rPr>
                        <a:t>1</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nSpc>
                          <a:spcPct val="90000"/>
                        </a:lnSpc>
                      </a:pPr>
                      <a:r>
                        <a:rPr lang="en-IN" sz="1200" b="1" kern="1200">
                          <a:solidFill>
                            <a:schemeClr val="dk1"/>
                          </a:solidFill>
                          <a:effectLst/>
                          <a:latin typeface="Arial" panose="020B0604020202020204" pitchFamily="34" charset="0"/>
                          <a:cs typeface="Arial" panose="020B0604020202020204" pitchFamily="34" charset="0"/>
                        </a:rPr>
                        <a:t>Inaruwa – New Purnea</a:t>
                      </a:r>
                      <a:endParaRPr lang="en-IN" sz="1200" b="1" i="0" kern="1200">
                        <a:solidFill>
                          <a:schemeClr val="dk1"/>
                        </a:solidFill>
                        <a:effectLst/>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1">
                          <a:latin typeface="Arial" panose="020B0604020202020204" pitchFamily="34" charset="0"/>
                          <a:cs typeface="Arial" panose="020B0604020202020204" pitchFamily="34" charset="0"/>
                        </a:rPr>
                        <a:t>400</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200" b="1">
                          <a:latin typeface="Arial" panose="020B0604020202020204" pitchFamily="34" charset="0"/>
                          <a:cs typeface="Arial" panose="020B0604020202020204" pitchFamily="34" charset="0"/>
                        </a:rPr>
                        <a:t>2500 (Planned)</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200" b="1">
                          <a:latin typeface="Arial" panose="020B0604020202020204" pitchFamily="34" charset="0"/>
                          <a:cs typeface="Arial" panose="020B0604020202020204" pitchFamily="34" charset="0"/>
                        </a:rPr>
                        <a:t>2027-28</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just">
                        <a:lnSpc>
                          <a:spcPct val="90000"/>
                        </a:lnSpc>
                      </a:pPr>
                      <a:r>
                        <a:rPr lang="en-IN" sz="1200" b="1">
                          <a:latin typeface="Arial" panose="020B0604020202020204" pitchFamily="34" charset="0"/>
                          <a:cs typeface="Arial" panose="020B0604020202020204" pitchFamily="34" charset="0"/>
                        </a:rPr>
                        <a:t>MoU signed between GON and GOI for the development of transmission line on April,2025</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2388872996"/>
                  </a:ext>
                </a:extLst>
              </a:tr>
              <a:tr h="509128">
                <a:tc>
                  <a:txBody>
                    <a:bodyPr/>
                    <a:lstStyle/>
                    <a:p>
                      <a:pPr algn="ctr" fontAlgn="ctr"/>
                      <a:r>
                        <a:rPr lang="en-IN" sz="1200" b="0" u="none" strike="noStrike">
                          <a:effectLst/>
                          <a:latin typeface="Arial" panose="020B0604020202020204" pitchFamily="34" charset="0"/>
                          <a:cs typeface="Arial" panose="020B0604020202020204" pitchFamily="34" charset="0"/>
                        </a:rPr>
                        <a:t>2</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200" b="1" kern="1200">
                          <a:solidFill>
                            <a:schemeClr val="dk1"/>
                          </a:solidFill>
                          <a:effectLst/>
                          <a:latin typeface="Arial" panose="020B0604020202020204" pitchFamily="34" charset="0"/>
                          <a:cs typeface="Arial" panose="020B0604020202020204" pitchFamily="34" charset="0"/>
                        </a:rPr>
                        <a:t>Dododhara – Bareilly </a:t>
                      </a:r>
                      <a:endParaRPr lang="en-IN" sz="1200" b="1" i="0" kern="1200">
                        <a:solidFill>
                          <a:schemeClr val="dk1"/>
                        </a:solidFill>
                        <a:effectLst/>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1">
                          <a:latin typeface="Arial" panose="020B0604020202020204" pitchFamily="34" charset="0"/>
                          <a:cs typeface="Arial" panose="020B0604020202020204" pitchFamily="34" charset="0"/>
                        </a:rPr>
                        <a:t>400</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200" b="1">
                          <a:latin typeface="Arial" panose="020B0604020202020204" pitchFamily="34" charset="0"/>
                          <a:cs typeface="Arial" panose="020B0604020202020204" pitchFamily="34" charset="0"/>
                        </a:rPr>
                        <a:t>2500 (Planned)</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200" b="1">
                          <a:latin typeface="Arial" panose="020B0604020202020204" pitchFamily="34" charset="0"/>
                          <a:cs typeface="Arial" panose="020B0604020202020204" pitchFamily="34" charset="0"/>
                        </a:rPr>
                        <a:t>2028-29</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just" defTabSz="914335" rtl="0" eaLnBrk="1" fontAlgn="auto" latinLnBrk="0" hangingPunct="1">
                        <a:lnSpc>
                          <a:spcPct val="90000"/>
                        </a:lnSpc>
                        <a:spcBef>
                          <a:spcPts val="0"/>
                        </a:spcBef>
                        <a:spcAft>
                          <a:spcPts val="0"/>
                        </a:spcAft>
                        <a:buClrTx/>
                        <a:buSzTx/>
                        <a:buFontTx/>
                        <a:buNone/>
                        <a:tabLst/>
                        <a:defRPr/>
                      </a:pPr>
                      <a:r>
                        <a:rPr lang="en-IN" sz="1200" b="1">
                          <a:latin typeface="Arial" panose="020B0604020202020204" pitchFamily="34" charset="0"/>
                          <a:cs typeface="Arial" panose="020B0604020202020204" pitchFamily="34" charset="0"/>
                        </a:rPr>
                        <a:t>MoU signed between GON and GOI for the development of transmission line on April,2025</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50899134"/>
                  </a:ext>
                </a:extLst>
              </a:tr>
              <a:tr h="509128">
                <a:tc>
                  <a:txBody>
                    <a:bodyPr/>
                    <a:lstStyle/>
                    <a:p>
                      <a:pPr algn="ctr" fontAlgn="ctr"/>
                      <a:r>
                        <a:rPr lang="en-IN" sz="1200" b="0" u="none" strike="noStrike">
                          <a:effectLst/>
                          <a:latin typeface="Arial" panose="020B0604020202020204" pitchFamily="34" charset="0"/>
                          <a:cs typeface="Arial" panose="020B0604020202020204" pitchFamily="34" charset="0"/>
                        </a:rPr>
                        <a:t>3</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200" b="0">
                          <a:latin typeface="Arial" panose="020B0604020202020204" pitchFamily="34" charset="0"/>
                          <a:cs typeface="Arial" panose="020B0604020202020204" pitchFamily="34" charset="0"/>
                        </a:rPr>
                        <a:t>New Butwal – Gorakhpur (MCC Nepal)</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a:latin typeface="Arial" panose="020B0604020202020204" pitchFamily="34" charset="0"/>
                          <a:cs typeface="Arial" panose="020B0604020202020204" pitchFamily="34" charset="0"/>
                        </a:rPr>
                        <a:t>400</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200" b="0">
                          <a:latin typeface="Arial" panose="020B0604020202020204" pitchFamily="34" charset="0"/>
                          <a:cs typeface="Arial" panose="020B0604020202020204" pitchFamily="34" charset="0"/>
                        </a:rPr>
                        <a:t>2500 (Planned)</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200" b="0">
                          <a:latin typeface="Arial" panose="020B0604020202020204" pitchFamily="34" charset="0"/>
                          <a:cs typeface="Arial" panose="020B0604020202020204" pitchFamily="34" charset="0"/>
                        </a:rPr>
                        <a:t>2026-27</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just">
                        <a:lnSpc>
                          <a:spcPct val="90000"/>
                        </a:lnSpc>
                      </a:pPr>
                      <a:r>
                        <a:rPr lang="en-IN" sz="1200" b="0">
                          <a:latin typeface="Arial" panose="020B0604020202020204" pitchFamily="34" charset="0"/>
                          <a:cs typeface="Arial" panose="020B0604020202020204" pitchFamily="34" charset="0"/>
                        </a:rPr>
                        <a:t>Though there has been some delay in the development in Nepal side, the work is expected to resume soon</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890728846"/>
                  </a:ext>
                </a:extLst>
              </a:tr>
              <a:tr h="509128">
                <a:tc>
                  <a:txBody>
                    <a:bodyPr/>
                    <a:lstStyle/>
                    <a:p>
                      <a:pPr algn="ctr" fontAlgn="ctr"/>
                      <a:r>
                        <a:rPr lang="en-IN" sz="1200" b="0" u="none" strike="noStrike">
                          <a:effectLst/>
                          <a:latin typeface="Arial" panose="020B0604020202020204" pitchFamily="34" charset="0"/>
                          <a:cs typeface="Arial" panose="020B0604020202020204" pitchFamily="34" charset="0"/>
                        </a:rPr>
                        <a:t>4</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200" b="0" err="1">
                          <a:latin typeface="Arial" panose="020B0604020202020204" pitchFamily="34" charset="0"/>
                          <a:cs typeface="Arial" panose="020B0604020202020204" pitchFamily="34" charset="0"/>
                        </a:rPr>
                        <a:t>Dhalkebar</a:t>
                      </a:r>
                      <a:r>
                        <a:rPr lang="en-IN" sz="1200" b="0">
                          <a:latin typeface="Arial" panose="020B0604020202020204" pitchFamily="34" charset="0"/>
                          <a:cs typeface="Arial" panose="020B0604020202020204" pitchFamily="34" charset="0"/>
                        </a:rPr>
                        <a:t> – Sitamarhi (Arun 3)</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a:latin typeface="Arial" panose="020B0604020202020204" pitchFamily="34" charset="0"/>
                          <a:cs typeface="Arial" panose="020B0604020202020204" pitchFamily="34" charset="0"/>
                        </a:rPr>
                        <a:t>400</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r>
                        <a:rPr lang="en-IN" sz="1200" b="0">
                          <a:latin typeface="Arial" panose="020B0604020202020204" pitchFamily="34" charset="0"/>
                          <a:cs typeface="Arial" panose="020B0604020202020204" pitchFamily="34" charset="0"/>
                        </a:rPr>
                        <a:t>2500 (Planned)</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a:lnSpc>
                          <a:spcPct val="90000"/>
                        </a:lnSpc>
                      </a:pPr>
                      <a:endParaRPr lang="en-IN" sz="1200" b="0">
                        <a:latin typeface="Arial" panose="020B0604020202020204" pitchFamily="34" charset="0"/>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just">
                        <a:lnSpc>
                          <a:spcPct val="90000"/>
                        </a:lnSpc>
                      </a:pPr>
                      <a:r>
                        <a:rPr lang="en-IN" sz="1200" b="0">
                          <a:latin typeface="Arial" panose="020B0604020202020204" pitchFamily="34" charset="0"/>
                          <a:cs typeface="Arial" panose="020B0604020202020204" pitchFamily="34" charset="0"/>
                        </a:rPr>
                        <a:t>Transmission project is under construction and p</a:t>
                      </a:r>
                      <a:r>
                        <a:rPr lang="en-US" sz="1200" b="0">
                          <a:latin typeface="Arial" panose="020B0604020202020204" pitchFamily="34" charset="0"/>
                          <a:cs typeface="Arial" panose="020B0604020202020204" pitchFamily="34" charset="0"/>
                        </a:rPr>
                        <a:t>roject is dedicated to evacuating power generated by the Arun-3 hydropower project</a:t>
                      </a:r>
                      <a:r>
                        <a:rPr lang="en-IN" sz="1200" b="0">
                          <a:latin typeface="Arial" panose="020B0604020202020204" pitchFamily="34" charset="0"/>
                          <a:cs typeface="Arial" panose="020B0604020202020204" pitchFamily="34" charset="0"/>
                        </a:rPr>
                        <a:t>  </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329575203"/>
                  </a:ext>
                </a:extLst>
              </a:tr>
              <a:tr h="509128">
                <a:tc>
                  <a:txBody>
                    <a:bodyPr/>
                    <a:lstStyle/>
                    <a:p>
                      <a:pPr algn="ctr" fontAlgn="ctr"/>
                      <a:r>
                        <a:rPr lang="en-IN" sz="1200" b="0" u="none" strike="noStrike">
                          <a:effectLst/>
                          <a:latin typeface="Arial" panose="020B0604020202020204" pitchFamily="34" charset="0"/>
                          <a:cs typeface="Arial" panose="020B0604020202020204" pitchFamily="34" charset="0"/>
                        </a:rPr>
                        <a:t>5</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sv-SE" sz="1200" b="0" kern="1200">
                          <a:solidFill>
                            <a:schemeClr val="dk1"/>
                          </a:solidFill>
                          <a:effectLst/>
                          <a:latin typeface="Arial" panose="020B0604020202020204" pitchFamily="34" charset="0"/>
                          <a:cs typeface="Arial" panose="020B0604020202020204" pitchFamily="34" charset="0"/>
                        </a:rPr>
                        <a:t>Nijgadh (Bara)-Motihari (Bihar)</a:t>
                      </a:r>
                      <a:endParaRPr lang="en-IN" sz="1200" b="0" i="0" kern="1200">
                        <a:solidFill>
                          <a:schemeClr val="dk1"/>
                        </a:solidFill>
                        <a:effectLst/>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kern="1200">
                          <a:solidFill>
                            <a:schemeClr val="dk1"/>
                          </a:solidFill>
                          <a:effectLst/>
                          <a:latin typeface="Arial" panose="020B0604020202020204" pitchFamily="34" charset="0"/>
                          <a:cs typeface="Arial" panose="020B0604020202020204" pitchFamily="34" charset="0"/>
                        </a:rPr>
                        <a:t>400</a:t>
                      </a:r>
                      <a:endParaRPr lang="en-IN" sz="1200" b="0" i="0" kern="1200">
                        <a:solidFill>
                          <a:schemeClr val="dk1"/>
                        </a:solidFill>
                        <a:effectLst/>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kern="1200">
                          <a:solidFill>
                            <a:schemeClr val="dk1"/>
                          </a:solidFill>
                          <a:effectLst/>
                          <a:latin typeface="Arial" panose="020B0604020202020204" pitchFamily="34" charset="0"/>
                          <a:cs typeface="Arial" panose="020B0604020202020204" pitchFamily="34" charset="0"/>
                        </a:rPr>
                        <a:t>NA</a:t>
                      </a:r>
                      <a:endParaRPr lang="en-IN" sz="1200" b="0" i="0" kern="1200">
                        <a:solidFill>
                          <a:schemeClr val="dk1"/>
                        </a:solidFill>
                        <a:effectLst/>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i="0" kern="1200">
                          <a:solidFill>
                            <a:schemeClr val="dk1"/>
                          </a:solidFill>
                          <a:effectLst/>
                          <a:latin typeface="Arial" panose="020B0604020202020204" pitchFamily="34" charset="0"/>
                          <a:ea typeface="+mn-ea"/>
                          <a:cs typeface="Arial" panose="020B0604020202020204" pitchFamily="34" charset="0"/>
                        </a:rPr>
                        <a:t>2028-29</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just" defTabSz="914400" rtl="0" eaLnBrk="1" fontAlgn="auto" latinLnBrk="0" hangingPunct="1">
                        <a:lnSpc>
                          <a:spcPct val="90000"/>
                        </a:lnSpc>
                        <a:spcBef>
                          <a:spcPts val="0"/>
                        </a:spcBef>
                        <a:spcAft>
                          <a:spcPts val="0"/>
                        </a:spcAft>
                        <a:buClrTx/>
                        <a:buSzTx/>
                        <a:buFontTx/>
                        <a:buNone/>
                        <a:tabLst/>
                        <a:defRPr/>
                      </a:pPr>
                      <a:r>
                        <a:rPr lang="en-IN" sz="1200" b="0" i="0" kern="1200">
                          <a:solidFill>
                            <a:schemeClr val="dk1"/>
                          </a:solidFill>
                          <a:effectLst/>
                          <a:latin typeface="Arial" panose="020B0604020202020204" pitchFamily="34" charset="0"/>
                          <a:ea typeface="+mn-ea"/>
                          <a:cs typeface="Arial" panose="020B0604020202020204" pitchFamily="34" charset="0"/>
                        </a:rPr>
                        <a:t>Study of cross-border transmission line has been completed</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931984293"/>
                  </a:ext>
                </a:extLst>
              </a:tr>
              <a:tr h="509128">
                <a:tc>
                  <a:txBody>
                    <a:bodyPr/>
                    <a:lstStyle/>
                    <a:p>
                      <a:pPr algn="ctr" fontAlgn="ctr"/>
                      <a:r>
                        <a:rPr lang="en-IN" sz="1200" b="0" u="none" strike="noStrike">
                          <a:effectLst/>
                          <a:latin typeface="Arial" panose="020B0604020202020204" pitchFamily="34" charset="0"/>
                          <a:cs typeface="Arial" panose="020B0604020202020204" pitchFamily="34" charset="0"/>
                        </a:rPr>
                        <a:t>6</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200" b="0" kern="1200">
                          <a:solidFill>
                            <a:schemeClr val="dk1"/>
                          </a:solidFill>
                          <a:effectLst/>
                          <a:latin typeface="Arial" panose="020B0604020202020204" pitchFamily="34" charset="0"/>
                          <a:cs typeface="Arial" panose="020B0604020202020204" pitchFamily="34" charset="0"/>
                        </a:rPr>
                        <a:t>Kohalpur-Lucknow</a:t>
                      </a:r>
                      <a:endParaRPr lang="en-IN" sz="1200" b="0" i="0" kern="1200">
                        <a:solidFill>
                          <a:schemeClr val="dk1"/>
                        </a:solidFill>
                        <a:effectLst/>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kern="1200">
                          <a:solidFill>
                            <a:schemeClr val="dk1"/>
                          </a:solidFill>
                          <a:effectLst/>
                          <a:latin typeface="Arial" panose="020B0604020202020204" pitchFamily="34" charset="0"/>
                          <a:cs typeface="Arial" panose="020B0604020202020204" pitchFamily="34" charset="0"/>
                        </a:rPr>
                        <a:t>400</a:t>
                      </a:r>
                      <a:endParaRPr lang="en-IN" sz="1200" b="0" i="0" kern="1200">
                        <a:solidFill>
                          <a:schemeClr val="dk1"/>
                        </a:solidFill>
                        <a:effectLst/>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kern="1200">
                          <a:solidFill>
                            <a:schemeClr val="dk1"/>
                          </a:solidFill>
                          <a:effectLst/>
                          <a:latin typeface="Arial" panose="020B0604020202020204" pitchFamily="34" charset="0"/>
                          <a:cs typeface="Arial" panose="020B0604020202020204" pitchFamily="34" charset="0"/>
                        </a:rPr>
                        <a:t>NA</a:t>
                      </a:r>
                      <a:endParaRPr lang="en-IN" sz="1200" b="0" i="0" kern="1200">
                        <a:solidFill>
                          <a:schemeClr val="dk1"/>
                        </a:solidFill>
                        <a:effectLst/>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i="0" kern="1200">
                          <a:solidFill>
                            <a:schemeClr val="dk1"/>
                          </a:solidFill>
                          <a:effectLst/>
                          <a:latin typeface="Arial" panose="020B0604020202020204" pitchFamily="34" charset="0"/>
                          <a:ea typeface="+mn-ea"/>
                          <a:cs typeface="Arial" panose="020B0604020202020204" pitchFamily="34" charset="0"/>
                        </a:rPr>
                        <a:t>2028-29</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just" defTabSz="914400" rtl="0" eaLnBrk="1" fontAlgn="auto" latinLnBrk="0" hangingPunct="1">
                        <a:lnSpc>
                          <a:spcPct val="90000"/>
                        </a:lnSpc>
                        <a:spcBef>
                          <a:spcPts val="0"/>
                        </a:spcBef>
                        <a:spcAft>
                          <a:spcPts val="0"/>
                        </a:spcAft>
                        <a:buClrTx/>
                        <a:buSzTx/>
                        <a:buFontTx/>
                        <a:buNone/>
                        <a:tabLst/>
                        <a:defRPr/>
                      </a:pPr>
                      <a:r>
                        <a:rPr lang="en-IN" sz="1200" b="0" i="0" kern="1200">
                          <a:solidFill>
                            <a:schemeClr val="dk1"/>
                          </a:solidFill>
                          <a:effectLst/>
                          <a:latin typeface="Arial" panose="020B0604020202020204" pitchFamily="34" charset="0"/>
                          <a:ea typeface="+mn-ea"/>
                          <a:cs typeface="Arial" panose="020B0604020202020204" pitchFamily="34" charset="0"/>
                        </a:rPr>
                        <a:t>Study of cross-border transmission line has been completed</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2538581662"/>
                  </a:ext>
                </a:extLst>
              </a:tr>
              <a:tr h="509128">
                <a:tc>
                  <a:txBody>
                    <a:bodyPr/>
                    <a:lstStyle/>
                    <a:p>
                      <a:pPr algn="ctr" fontAlgn="ctr"/>
                      <a:r>
                        <a:rPr lang="en-IN" sz="1200" b="0" u="none" strike="noStrike">
                          <a:effectLst/>
                          <a:latin typeface="Arial" panose="020B0604020202020204" pitchFamily="34" charset="0"/>
                          <a:cs typeface="Arial" panose="020B0604020202020204" pitchFamily="34" charset="0"/>
                        </a:rPr>
                        <a:t>7</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IN" sz="1200" b="0" kern="1200">
                          <a:solidFill>
                            <a:schemeClr val="dk1"/>
                          </a:solidFill>
                          <a:effectLst/>
                          <a:latin typeface="Arial" panose="020B0604020202020204" pitchFamily="34" charset="0"/>
                          <a:cs typeface="Arial" panose="020B0604020202020204" pitchFamily="34" charset="0"/>
                        </a:rPr>
                        <a:t>Chameliya-Jaulajiwi</a:t>
                      </a:r>
                      <a:endParaRPr lang="en-IN" sz="1200" b="0" i="0" kern="1200">
                        <a:solidFill>
                          <a:schemeClr val="dk1"/>
                        </a:solidFill>
                        <a:effectLst/>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kern="1200">
                          <a:solidFill>
                            <a:schemeClr val="dk1"/>
                          </a:solidFill>
                          <a:effectLst/>
                          <a:latin typeface="Arial" panose="020B0604020202020204" pitchFamily="34" charset="0"/>
                          <a:cs typeface="Arial" panose="020B0604020202020204" pitchFamily="34" charset="0"/>
                        </a:rPr>
                        <a:t>220</a:t>
                      </a:r>
                      <a:endParaRPr lang="en-IN" sz="1200" b="0" i="0" kern="1200">
                        <a:solidFill>
                          <a:schemeClr val="dk1"/>
                        </a:solidFill>
                        <a:effectLst/>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kern="1200">
                          <a:solidFill>
                            <a:schemeClr val="dk1"/>
                          </a:solidFill>
                          <a:effectLst/>
                          <a:latin typeface="Arial" panose="020B0604020202020204" pitchFamily="34" charset="0"/>
                          <a:cs typeface="Arial" panose="020B0604020202020204" pitchFamily="34" charset="0"/>
                        </a:rPr>
                        <a:t>NA</a:t>
                      </a:r>
                      <a:endParaRPr lang="en-IN" sz="1200" b="0" i="0" kern="1200">
                        <a:solidFill>
                          <a:schemeClr val="dk1"/>
                        </a:solidFill>
                        <a:effectLst/>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i="0" kern="1200">
                          <a:solidFill>
                            <a:schemeClr val="dk1"/>
                          </a:solidFill>
                          <a:effectLst/>
                          <a:latin typeface="Arial" panose="020B0604020202020204" pitchFamily="34" charset="0"/>
                          <a:ea typeface="+mn-ea"/>
                          <a:cs typeface="Arial" panose="020B0604020202020204" pitchFamily="34" charset="0"/>
                        </a:rPr>
                        <a:t>NA</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just" defTabSz="914400" rtl="0" eaLnBrk="1" fontAlgn="auto" latinLnBrk="0" hangingPunct="1">
                        <a:lnSpc>
                          <a:spcPct val="90000"/>
                        </a:lnSpc>
                        <a:spcBef>
                          <a:spcPts val="0"/>
                        </a:spcBef>
                        <a:spcAft>
                          <a:spcPts val="0"/>
                        </a:spcAft>
                        <a:buClrTx/>
                        <a:buSzTx/>
                        <a:buFontTx/>
                        <a:buNone/>
                        <a:tabLst/>
                        <a:defRPr/>
                      </a:pPr>
                      <a:r>
                        <a:rPr lang="en-IN" sz="1200" b="0" i="0" kern="1200">
                          <a:solidFill>
                            <a:schemeClr val="dk1"/>
                          </a:solidFill>
                          <a:effectLst/>
                          <a:latin typeface="Arial" panose="020B0604020202020204" pitchFamily="34" charset="0"/>
                          <a:ea typeface="+mn-ea"/>
                          <a:cs typeface="Arial" panose="020B0604020202020204" pitchFamily="34" charset="0"/>
                        </a:rPr>
                        <a:t>Feasibility Study under progress</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873688153"/>
                  </a:ext>
                </a:extLst>
              </a:tr>
              <a:tr h="509128">
                <a:tc>
                  <a:txBody>
                    <a:bodyPr/>
                    <a:lstStyle/>
                    <a:p>
                      <a:pPr algn="ctr" fontAlgn="ctr"/>
                      <a:r>
                        <a:rPr lang="en-IN" sz="1200" b="0" u="none" strike="noStrike">
                          <a:effectLst/>
                          <a:latin typeface="Arial" panose="020B0604020202020204" pitchFamily="34" charset="0"/>
                          <a:cs typeface="Arial" panose="020B0604020202020204" pitchFamily="34" charset="0"/>
                        </a:rPr>
                        <a:t>8</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1200" b="0">
                          <a:latin typeface="Arial" panose="020B0604020202020204" pitchFamily="34" charset="0"/>
                          <a:cs typeface="Arial" panose="020B0604020202020204" pitchFamily="34" charset="0"/>
                        </a:rPr>
                        <a:t>Nepalgunj – Nanpara</a:t>
                      </a:r>
                      <a:endParaRPr lang="en-IN" sz="1200" b="0">
                        <a:latin typeface="Arial" panose="020B0604020202020204" pitchFamily="34" charset="0"/>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i="0" kern="1200">
                          <a:solidFill>
                            <a:schemeClr val="dk1"/>
                          </a:solidFill>
                          <a:effectLst/>
                          <a:latin typeface="Arial" panose="020B0604020202020204" pitchFamily="34" charset="0"/>
                          <a:ea typeface="+mn-ea"/>
                          <a:cs typeface="Arial" panose="020B0604020202020204" pitchFamily="34" charset="0"/>
                        </a:rPr>
                        <a:t>132</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i="0" kern="1200">
                          <a:solidFill>
                            <a:schemeClr val="dk1"/>
                          </a:solidFill>
                          <a:effectLst/>
                          <a:latin typeface="Arial" panose="020B0604020202020204" pitchFamily="34" charset="0"/>
                          <a:ea typeface="+mn-ea"/>
                          <a:cs typeface="Arial" panose="020B0604020202020204" pitchFamily="34" charset="0"/>
                        </a:rPr>
                        <a:t>200</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IN" sz="1200" b="0" i="0" kern="1200">
                          <a:solidFill>
                            <a:schemeClr val="dk1"/>
                          </a:solidFill>
                          <a:effectLst/>
                          <a:latin typeface="Arial" panose="020B0604020202020204" pitchFamily="34" charset="0"/>
                          <a:ea typeface="+mn-ea"/>
                          <a:cs typeface="Arial" panose="020B0604020202020204" pitchFamily="34" charset="0"/>
                        </a:rPr>
                        <a:t>2025-26</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marL="0" marR="0" lvl="0" indent="0" algn="just" defTabSz="914400" rtl="0" eaLnBrk="1" fontAlgn="auto" latinLnBrk="0" hangingPunct="1">
                        <a:lnSpc>
                          <a:spcPct val="90000"/>
                        </a:lnSpc>
                        <a:spcBef>
                          <a:spcPts val="0"/>
                        </a:spcBef>
                        <a:spcAft>
                          <a:spcPts val="0"/>
                        </a:spcAft>
                        <a:buClrTx/>
                        <a:buSzTx/>
                        <a:buFontTx/>
                        <a:buNone/>
                        <a:tabLst/>
                        <a:defRPr/>
                      </a:pPr>
                      <a:r>
                        <a:rPr lang="en-IN" sz="1200" b="0" i="0" kern="1200">
                          <a:solidFill>
                            <a:schemeClr val="dk1"/>
                          </a:solidFill>
                          <a:effectLst/>
                          <a:latin typeface="Arial" panose="020B0604020202020204" pitchFamily="34" charset="0"/>
                          <a:ea typeface="+mn-ea"/>
                          <a:cs typeface="Arial" panose="020B0604020202020204" pitchFamily="34" charset="0"/>
                        </a:rPr>
                        <a:t>Project is under-construction with primary focus of importing power from India to </a:t>
                      </a:r>
                      <a:r>
                        <a:rPr lang="en-IN" sz="1200" b="0" i="0" kern="1200" err="1">
                          <a:solidFill>
                            <a:schemeClr val="dk1"/>
                          </a:solidFill>
                          <a:effectLst/>
                          <a:latin typeface="Arial" panose="020B0604020202020204" pitchFamily="34" charset="0"/>
                          <a:ea typeface="+mn-ea"/>
                          <a:cs typeface="Arial" panose="020B0604020202020204" pitchFamily="34" charset="0"/>
                        </a:rPr>
                        <a:t>Nepalganj</a:t>
                      </a:r>
                      <a:endParaRPr lang="en-IN" sz="1200" b="0" i="0" kern="1200">
                        <a:solidFill>
                          <a:schemeClr val="dk1"/>
                        </a:solidFill>
                        <a:effectLst/>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834269572"/>
                  </a:ext>
                </a:extLst>
              </a:tr>
            </a:tbl>
          </a:graphicData>
        </a:graphic>
      </p:graphicFrame>
      <p:sp>
        <p:nvSpPr>
          <p:cNvPr id="12" name="TextBox 11">
            <a:extLst>
              <a:ext uri="{FF2B5EF4-FFF2-40B4-BE49-F238E27FC236}">
                <a16:creationId xmlns:a16="http://schemas.microsoft.com/office/drawing/2014/main" id="{DB004833-8A60-0CC1-95EF-A38AFD6887E6}"/>
              </a:ext>
            </a:extLst>
          </p:cNvPr>
          <p:cNvSpPr txBox="1"/>
          <p:nvPr/>
        </p:nvSpPr>
        <p:spPr>
          <a:xfrm>
            <a:off x="514884" y="6224682"/>
            <a:ext cx="9362557" cy="32316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Source: </a:t>
            </a:r>
            <a:r>
              <a:rPr kumimoji="0" lang="en-US"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South Asia Regional Energy Partnership (SAREP), South Asia Subregional Economic Cooperation (SASEC), Press Information Bureau (PIB), Kathmandu Post, Engineering </a:t>
            </a:r>
            <a:r>
              <a:rPr kumimoji="0" lang="en-US" sz="1050" b="0" u="none" strike="noStrike" kern="1200" cap="none" spc="0" normalizeH="0" baseline="0" noProof="0" err="1">
                <a:ln>
                  <a:noFill/>
                </a:ln>
                <a:solidFill>
                  <a:srgbClr val="313131"/>
                </a:solidFill>
                <a:effectLst/>
                <a:uLnTx/>
                <a:uFillTx/>
                <a:latin typeface="Arial" panose="020B0604020202020204" pitchFamily="34" charset="0"/>
                <a:cs typeface="Arial" panose="020B0604020202020204" pitchFamily="34" charset="0"/>
              </a:rPr>
              <a:t>Sarokar</a:t>
            </a:r>
            <a:r>
              <a:rPr kumimoji="0" lang="en-US"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 The Annapurna Express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cxnSp>
        <p:nvCxnSpPr>
          <p:cNvPr id="3" name="Straight Connector 2">
            <a:extLst>
              <a:ext uri="{FF2B5EF4-FFF2-40B4-BE49-F238E27FC236}">
                <a16:creationId xmlns:a16="http://schemas.microsoft.com/office/drawing/2014/main" id="{D9FC0740-88F2-F455-5F73-0BAC3852C14D}"/>
              </a:ext>
            </a:extLst>
          </p:cNvPr>
          <p:cNvCxnSpPr/>
          <p:nvPr/>
        </p:nvCxnSpPr>
        <p:spPr>
          <a:xfrm flipV="1">
            <a:off x="514884" y="100936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63250413"/>
      </p:ext>
    </p:extLst>
  </p:cSld>
  <p:clrMapOvr>
    <a:masterClrMapping/>
  </p:clrMapOvr>
  <p:transition>
    <p:fade/>
  </p:transition>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3956307666"/>
              </p:ext>
            </p:extLst>
          </p:nvPr>
        </p:nvGraphicFramePr>
        <p:xfrm>
          <a:off x="1673719" y="2761586"/>
          <a:ext cx="9206802" cy="1334828"/>
        </p:xfrm>
        <a:graphic>
          <a:graphicData uri="http://schemas.openxmlformats.org/drawingml/2006/table">
            <a:tbl>
              <a:tblPr firstRow="1" bandRow="1">
                <a:tableStyleId>{5C22544A-7EE6-4342-B048-85BDC9FD1C3A}</a:tableStyleId>
              </a:tblPr>
              <a:tblGrid>
                <a:gridCol w="2923681">
                  <a:extLst>
                    <a:ext uri="{9D8B030D-6E8A-4147-A177-3AD203B41FA5}">
                      <a16:colId xmlns:a16="http://schemas.microsoft.com/office/drawing/2014/main" val="2744717436"/>
                    </a:ext>
                  </a:extLst>
                </a:gridCol>
                <a:gridCol w="6283121">
                  <a:extLst>
                    <a:ext uri="{9D8B030D-6E8A-4147-A177-3AD203B41FA5}">
                      <a16:colId xmlns:a16="http://schemas.microsoft.com/office/drawing/2014/main" val="570884867"/>
                    </a:ext>
                  </a:extLst>
                </a:gridCol>
              </a:tblGrid>
              <a:tr h="1334828">
                <a:tc>
                  <a:txBody>
                    <a:bodyPr/>
                    <a:lstStyle/>
                    <a:p>
                      <a:r>
                        <a:rPr lang="en-US" sz="3600">
                          <a:latin typeface="Arial" panose="020B0604020202020204" pitchFamily="34" charset="0"/>
                          <a:cs typeface="Arial" panose="020B0604020202020204" pitchFamily="34" charset="0"/>
                        </a:rPr>
                        <a:t>3.2</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398463" indent="0"/>
                      <a:r>
                        <a:rPr lang="en-US" sz="2400">
                          <a:latin typeface="Arial" panose="020B0604020202020204" pitchFamily="34" charset="0"/>
                          <a:cs typeface="Arial" panose="020B0604020202020204" pitchFamily="34" charset="0"/>
                        </a:rPr>
                        <a:t>POLICY &amp; REGULATORY OUTLOOK</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3795430405"/>
      </p:ext>
    </p:extLst>
  </p:cSld>
  <p:clrMapOvr>
    <a:masterClrMapping/>
  </p:clrMapOvr>
  <p:transition>
    <p:fade/>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577571067"/>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Policy &amp; Regulatory Outlook</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The Draft Electricity Bill 2080 ERC Roadmap (2024–2029) signal Nepal’s intent to strengthen regulatory frameworks and foster greater competition in the electricity market.</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1123991"/>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58998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Source: Draft </a:t>
            </a:r>
            <a:r>
              <a:rPr kumimoji="0" lang="en-US"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Five-year Roadmap for ERC (2024-2029), Association of Power Producers Comments Draft Electricity Amendment Bill, 2080 </a:t>
            </a:r>
            <a:endParaRPr kumimoji="0" lang="en-IN"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endParaRPr>
          </a:p>
        </p:txBody>
      </p:sp>
      <p:sp>
        <p:nvSpPr>
          <p:cNvPr id="31" name="Rectangle: Rounded Corners 30">
            <a:extLst>
              <a:ext uri="{FF2B5EF4-FFF2-40B4-BE49-F238E27FC236}">
                <a16:creationId xmlns:a16="http://schemas.microsoft.com/office/drawing/2014/main" id="{C4CF28BA-CD5F-6840-51E2-56B103C3B7BE}"/>
              </a:ext>
            </a:extLst>
          </p:cNvPr>
          <p:cNvSpPr/>
          <p:nvPr/>
        </p:nvSpPr>
        <p:spPr bwMode="gray">
          <a:xfrm>
            <a:off x="791976" y="1194534"/>
            <a:ext cx="10567686" cy="729202"/>
          </a:xfrm>
          <a:prstGeom prst="roundRect">
            <a:avLst/>
          </a:prstGeom>
          <a:solidFill>
            <a:srgbClr val="D0D0CE"/>
          </a:solidFill>
          <a:ln>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ctr">
              <a:lnSpc>
                <a:spcPct val="106000"/>
              </a:lnSpc>
              <a:buFont typeface="Wingdings 2" pitchFamily="18" charset="2"/>
              <a:buNone/>
            </a:pPr>
            <a:r>
              <a:rPr lang="en-US" sz="1600" b="1"/>
              <a:t>Nepal’s policy and regulatory regime is evolving to support a more efficient and investment-ready power market.</a:t>
            </a:r>
            <a:br>
              <a:rPr lang="en-US" sz="1600"/>
            </a:br>
            <a:r>
              <a:rPr lang="en-US" sz="1600"/>
              <a:t>Several ongoing reforms and initiatives are aimed at improving market efficiency, strengthening regulatory oversight, and creating a more conducive environment for private sector participation across the electricity value chain.</a:t>
            </a:r>
            <a:endParaRPr lang="en-US" sz="1600" b="1">
              <a:solidFill>
                <a:schemeClr val="tx1"/>
              </a:solidFill>
            </a:endParaRPr>
          </a:p>
        </p:txBody>
      </p:sp>
      <p:grpSp>
        <p:nvGrpSpPr>
          <p:cNvPr id="41" name="Group 40">
            <a:extLst>
              <a:ext uri="{FF2B5EF4-FFF2-40B4-BE49-F238E27FC236}">
                <a16:creationId xmlns:a16="http://schemas.microsoft.com/office/drawing/2014/main" id="{CC842A70-F956-A7AB-62E2-E067BA3B042A}"/>
              </a:ext>
            </a:extLst>
          </p:cNvPr>
          <p:cNvGrpSpPr/>
          <p:nvPr/>
        </p:nvGrpSpPr>
        <p:grpSpPr>
          <a:xfrm>
            <a:off x="2065599" y="2170798"/>
            <a:ext cx="3345865" cy="4172121"/>
            <a:chOff x="383479" y="947008"/>
            <a:chExt cx="2003681" cy="1881556"/>
          </a:xfrm>
        </p:grpSpPr>
        <p:grpSp>
          <p:nvGrpSpPr>
            <p:cNvPr id="42" name="Group 41">
              <a:extLst>
                <a:ext uri="{FF2B5EF4-FFF2-40B4-BE49-F238E27FC236}">
                  <a16:creationId xmlns:a16="http://schemas.microsoft.com/office/drawing/2014/main" id="{09EBE37B-CB84-82A5-73FB-8992D542E45D}"/>
                </a:ext>
              </a:extLst>
            </p:cNvPr>
            <p:cNvGrpSpPr/>
            <p:nvPr/>
          </p:nvGrpSpPr>
          <p:grpSpPr>
            <a:xfrm>
              <a:off x="383479" y="947008"/>
              <a:ext cx="1944822" cy="358455"/>
              <a:chOff x="413228" y="1371600"/>
              <a:chExt cx="1947702" cy="476173"/>
            </a:xfrm>
          </p:grpSpPr>
          <p:sp>
            <p:nvSpPr>
              <p:cNvPr id="46" name="Right Triangle 49">
                <a:extLst>
                  <a:ext uri="{FF2B5EF4-FFF2-40B4-BE49-F238E27FC236}">
                    <a16:creationId xmlns:a16="http://schemas.microsoft.com/office/drawing/2014/main" id="{97856F46-C9FA-AF35-FCE2-3178A522945F}"/>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50006" tIns="50006" rIns="50006" bIns="50006" rtlCol="0" anchor="ctr"/>
              <a:lstStyle/>
              <a:p>
                <a:pPr algn="ctr" defTabSz="685800">
                  <a:lnSpc>
                    <a:spcPct val="106000"/>
                  </a:lnSpc>
                  <a:defRPr/>
                </a:pPr>
                <a:endParaRPr lang="en-US" sz="825">
                  <a:solidFill>
                    <a:prstClr val="white"/>
                  </a:solidFill>
                  <a:latin typeface="Calibri Light"/>
                </a:endParaRPr>
              </a:p>
            </p:txBody>
          </p:sp>
          <p:sp>
            <p:nvSpPr>
              <p:cNvPr id="47" name="Right Triangle 49">
                <a:extLst>
                  <a:ext uri="{FF2B5EF4-FFF2-40B4-BE49-F238E27FC236}">
                    <a16:creationId xmlns:a16="http://schemas.microsoft.com/office/drawing/2014/main" id="{B6D8DA53-F4A5-5B88-5516-73BD844D670B}"/>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50006" tIns="50006" rIns="50006" bIns="50006" rtlCol="0" anchor="ctr"/>
              <a:lstStyle/>
              <a:p>
                <a:pPr algn="ctr" defTabSz="685800">
                  <a:lnSpc>
                    <a:spcPct val="106000"/>
                  </a:lnSpc>
                  <a:defRPr/>
                </a:pPr>
                <a:endParaRPr lang="en-US" sz="825">
                  <a:solidFill>
                    <a:prstClr val="white"/>
                  </a:solidFill>
                  <a:latin typeface="Calibri Light"/>
                </a:endParaRPr>
              </a:p>
            </p:txBody>
          </p:sp>
          <p:sp>
            <p:nvSpPr>
              <p:cNvPr id="48" name="Round Same Side Corner Rectangle 43">
                <a:extLst>
                  <a:ext uri="{FF2B5EF4-FFF2-40B4-BE49-F238E27FC236}">
                    <a16:creationId xmlns:a16="http://schemas.microsoft.com/office/drawing/2014/main" id="{0A5B8728-49C9-CEEE-EFE0-05D0B6C1BE29}"/>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solidFill>
                <a:schemeClr val="accent1"/>
              </a:solidFill>
              <a:ln w="19050" algn="ctr">
                <a:noFill/>
                <a:miter lim="800000"/>
                <a:headEnd/>
                <a:tailEnd/>
              </a:ln>
            </p:spPr>
            <p:txBody>
              <a:bodyPr wrap="square" lIns="50006" tIns="50006" rIns="50006" bIns="60750" rtlCol="0" anchor="ctr"/>
              <a:lstStyle/>
              <a:p>
                <a:pPr algn="ctr"/>
                <a:endParaRPr lang="en-US" sz="1600" b="1">
                  <a:solidFill>
                    <a:schemeClr val="bg1"/>
                  </a:solidFill>
                </a:endParaRPr>
              </a:p>
              <a:p>
                <a:pPr algn="ctr"/>
                <a:r>
                  <a:rPr lang="en-US" sz="1600" b="1">
                    <a:solidFill>
                      <a:schemeClr val="bg1"/>
                    </a:solidFill>
                  </a:rPr>
                  <a:t>Draft Electricity Amendment Bill, 2080 </a:t>
                </a:r>
              </a:p>
              <a:p>
                <a:pPr lvl="0" algn="ctr"/>
                <a:endParaRPr lang="en-US" sz="1000" b="1">
                  <a:solidFill>
                    <a:prstClr val="white"/>
                  </a:solidFill>
                  <a:latin typeface="Calibri" panose="020F0502020204030204" pitchFamily="34" charset="0"/>
                  <a:cs typeface="Calibri" panose="020F0502020204030204" pitchFamily="34" charset="0"/>
                </a:endParaRPr>
              </a:p>
            </p:txBody>
          </p:sp>
        </p:grpSp>
        <p:grpSp>
          <p:nvGrpSpPr>
            <p:cNvPr id="43" name="Group 42">
              <a:extLst>
                <a:ext uri="{FF2B5EF4-FFF2-40B4-BE49-F238E27FC236}">
                  <a16:creationId xmlns:a16="http://schemas.microsoft.com/office/drawing/2014/main" id="{024B3D3E-0832-E931-9862-F86D1C30D48E}"/>
                </a:ext>
              </a:extLst>
            </p:cNvPr>
            <p:cNvGrpSpPr/>
            <p:nvPr/>
          </p:nvGrpSpPr>
          <p:grpSpPr>
            <a:xfrm>
              <a:off x="442337" y="1370765"/>
              <a:ext cx="1944823" cy="1457799"/>
              <a:chOff x="662890" y="3831190"/>
              <a:chExt cx="2642778" cy="2333283"/>
            </a:xfrm>
          </p:grpSpPr>
          <p:sp>
            <p:nvSpPr>
              <p:cNvPr id="44" name="Rectangle 43">
                <a:extLst>
                  <a:ext uri="{FF2B5EF4-FFF2-40B4-BE49-F238E27FC236}">
                    <a16:creationId xmlns:a16="http://schemas.microsoft.com/office/drawing/2014/main" id="{CB59049A-1C18-1BBB-CCF5-8BB1BB3C1598}"/>
                  </a:ext>
                </a:extLst>
              </p:cNvPr>
              <p:cNvSpPr/>
              <p:nvPr/>
            </p:nvSpPr>
            <p:spPr bwMode="gray">
              <a:xfrm>
                <a:off x="662890" y="3831190"/>
                <a:ext cx="2642778" cy="2113975"/>
              </a:xfrm>
              <a:prstGeom prst="rect">
                <a:avLst/>
              </a:prstGeom>
              <a:solidFill>
                <a:schemeClr val="bg1">
                  <a:lumMod val="95000"/>
                </a:schemeClr>
              </a:solidFill>
              <a:ln w="19050" algn="ctr">
                <a:noFill/>
                <a:miter lim="800000"/>
                <a:headEnd/>
                <a:tailEnd/>
              </a:ln>
            </p:spPr>
            <p:txBody>
              <a:bodyPr wrap="square" lIns="30375" tIns="30375" rIns="20250" bIns="20250" rtlCol="0" anchor="t"/>
              <a:lstStyle/>
              <a:p>
                <a:pPr marL="19288" algn="just" defTabSz="685800">
                  <a:spcBef>
                    <a:spcPts val="338"/>
                  </a:spcBef>
                  <a:defRPr/>
                </a:pPr>
                <a:endParaRPr lang="en-US" sz="1400" b="1">
                  <a:solidFill>
                    <a:prstClr val="black"/>
                  </a:solidFill>
                  <a:latin typeface="Calibri Light"/>
                </a:endParaRPr>
              </a:p>
            </p:txBody>
          </p:sp>
          <p:sp>
            <p:nvSpPr>
              <p:cNvPr id="45" name="Rectangle 44">
                <a:extLst>
                  <a:ext uri="{FF2B5EF4-FFF2-40B4-BE49-F238E27FC236}">
                    <a16:creationId xmlns:a16="http://schemas.microsoft.com/office/drawing/2014/main" id="{024153EE-3378-E4ED-FFA3-6E1F4468A309}"/>
                  </a:ext>
                </a:extLst>
              </p:cNvPr>
              <p:cNvSpPr/>
              <p:nvPr/>
            </p:nvSpPr>
            <p:spPr bwMode="gray">
              <a:xfrm>
                <a:off x="857663" y="6076777"/>
                <a:ext cx="2295650" cy="87696"/>
              </a:xfrm>
              <a:prstGeom prst="rect">
                <a:avLst/>
              </a:prstGeom>
              <a:solidFill>
                <a:schemeClr val="accent1"/>
              </a:solidFill>
              <a:ln w="19050" algn="ctr">
                <a:noFill/>
                <a:miter lim="800000"/>
                <a:headEnd/>
                <a:tailEnd/>
              </a:ln>
            </p:spPr>
            <p:txBody>
              <a:bodyPr wrap="square" lIns="50006" tIns="50006" rIns="50006" bIns="50006" rtlCol="0" anchor="ctr"/>
              <a:lstStyle/>
              <a:p>
                <a:pPr algn="ctr" defTabSz="685800">
                  <a:lnSpc>
                    <a:spcPct val="106000"/>
                  </a:lnSpc>
                  <a:defRPr/>
                </a:pPr>
                <a:endParaRPr lang="en-US" sz="825">
                  <a:solidFill>
                    <a:prstClr val="white"/>
                  </a:solidFill>
                  <a:latin typeface="Calibri Light"/>
                </a:endParaRPr>
              </a:p>
            </p:txBody>
          </p:sp>
        </p:grpSp>
      </p:grpSp>
      <p:sp>
        <p:nvSpPr>
          <p:cNvPr id="53" name="TextBox 52">
            <a:extLst>
              <a:ext uri="{FF2B5EF4-FFF2-40B4-BE49-F238E27FC236}">
                <a16:creationId xmlns:a16="http://schemas.microsoft.com/office/drawing/2014/main" id="{44823FCD-F2AF-EA13-6EA5-BF43E5B3E674}"/>
              </a:ext>
            </a:extLst>
          </p:cNvPr>
          <p:cNvSpPr txBox="1"/>
          <p:nvPr/>
        </p:nvSpPr>
        <p:spPr>
          <a:xfrm>
            <a:off x="2215626" y="3303022"/>
            <a:ext cx="3196219" cy="2677656"/>
          </a:xfrm>
          <a:prstGeom prst="rect">
            <a:avLst/>
          </a:prstGeom>
          <a:noFill/>
        </p:spPr>
        <p:txBody>
          <a:bodyPr wrap="square">
            <a:spAutoFit/>
          </a:bodyPr>
          <a:lstStyle/>
          <a:p>
            <a:pPr marL="285750" indent="-285750">
              <a:buFont typeface="Wingdings" panose="05000000000000000000" pitchFamily="2" charset="2"/>
              <a:buChar char="v"/>
            </a:pPr>
            <a:r>
              <a:rPr lang="en-US" sz="1400">
                <a:latin typeface="Arial" panose="020B0604020202020204" pitchFamily="34" charset="0"/>
                <a:cs typeface="Arial" panose="020B0604020202020204" pitchFamily="34" charset="0"/>
              </a:rPr>
              <a:t>Structural Reforms</a:t>
            </a:r>
          </a:p>
          <a:p>
            <a:pPr marL="285750" indent="-285750">
              <a:buFont typeface="Wingdings" panose="05000000000000000000" pitchFamily="2" charset="2"/>
              <a:buChar char="v"/>
            </a:pPr>
            <a:endParaRPr lang="en-US" sz="1400">
              <a:latin typeface="Arial" panose="020B0604020202020204" pitchFamily="34" charset="0"/>
              <a:cs typeface="Arial" panose="020B0604020202020204" pitchFamily="34" charset="0"/>
            </a:endParaRPr>
          </a:p>
          <a:p>
            <a:pPr marL="285750" indent="-285750">
              <a:buFont typeface="Wingdings" panose="05000000000000000000" pitchFamily="2" charset="2"/>
              <a:buChar char="v"/>
            </a:pPr>
            <a:r>
              <a:rPr lang="en-US" sz="1400">
                <a:latin typeface="Arial" panose="020B0604020202020204" pitchFamily="34" charset="0"/>
                <a:cs typeface="Arial" panose="020B0604020202020204" pitchFamily="34" charset="0"/>
              </a:rPr>
              <a:t>Provision of Payment Security Mechanism</a:t>
            </a:r>
          </a:p>
          <a:p>
            <a:pPr marL="285750" indent="-285750">
              <a:buFont typeface="Wingdings" panose="05000000000000000000" pitchFamily="2" charset="2"/>
              <a:buChar char="v"/>
            </a:pPr>
            <a:endParaRPr lang="en-US" sz="1400">
              <a:latin typeface="Arial" panose="020B0604020202020204" pitchFamily="34" charset="0"/>
              <a:cs typeface="Arial" panose="020B0604020202020204" pitchFamily="34" charset="0"/>
            </a:endParaRPr>
          </a:p>
          <a:p>
            <a:pPr marL="285750" indent="-285750">
              <a:buFont typeface="Wingdings" panose="05000000000000000000" pitchFamily="2" charset="2"/>
              <a:buChar char="v"/>
            </a:pPr>
            <a:r>
              <a:rPr lang="en-US" sz="1400">
                <a:latin typeface="Arial" panose="020B0604020202020204" pitchFamily="34" charset="0"/>
                <a:cs typeface="Arial" panose="020B0604020202020204" pitchFamily="34" charset="0"/>
              </a:rPr>
              <a:t>Electricity Trading</a:t>
            </a:r>
          </a:p>
          <a:p>
            <a:pPr marL="285750" indent="-285750">
              <a:buFont typeface="Wingdings" panose="05000000000000000000" pitchFamily="2" charset="2"/>
              <a:buChar char="v"/>
            </a:pPr>
            <a:endParaRPr lang="en-US" sz="1400">
              <a:latin typeface="Arial" panose="020B0604020202020204" pitchFamily="34" charset="0"/>
              <a:cs typeface="Arial" panose="020B0604020202020204" pitchFamily="34" charset="0"/>
            </a:endParaRPr>
          </a:p>
          <a:p>
            <a:pPr marL="285750" indent="-285750">
              <a:buFont typeface="Wingdings" panose="05000000000000000000" pitchFamily="2" charset="2"/>
              <a:buChar char="v"/>
            </a:pPr>
            <a:r>
              <a:rPr lang="en-US" sz="1400">
                <a:latin typeface="Arial" panose="020B0604020202020204" pitchFamily="34" charset="0"/>
                <a:cs typeface="Arial" panose="020B0604020202020204" pitchFamily="34" charset="0"/>
              </a:rPr>
              <a:t>Open Access</a:t>
            </a:r>
          </a:p>
          <a:p>
            <a:pPr marL="285750" indent="-285750">
              <a:buFont typeface="Wingdings" panose="05000000000000000000" pitchFamily="2" charset="2"/>
              <a:buChar char="v"/>
            </a:pPr>
            <a:endParaRPr lang="en-US" sz="1400">
              <a:latin typeface="Arial" panose="020B0604020202020204" pitchFamily="34" charset="0"/>
              <a:cs typeface="Arial" panose="020B0604020202020204" pitchFamily="34" charset="0"/>
            </a:endParaRPr>
          </a:p>
          <a:p>
            <a:pPr marL="285750" indent="-285750">
              <a:buFont typeface="Wingdings" panose="05000000000000000000" pitchFamily="2" charset="2"/>
              <a:buChar char="v"/>
            </a:pPr>
            <a:r>
              <a:rPr lang="en-US" sz="1400">
                <a:latin typeface="Arial" panose="020B0604020202020204" pitchFamily="34" charset="0"/>
                <a:cs typeface="Arial" panose="020B0604020202020204" pitchFamily="34" charset="0"/>
              </a:rPr>
              <a:t>Extensions for Export-Oriented Projects</a:t>
            </a:r>
          </a:p>
          <a:p>
            <a:pPr marL="285750" indent="-285750">
              <a:buFont typeface="Wingdings" panose="05000000000000000000" pitchFamily="2" charset="2"/>
              <a:buChar char="v"/>
            </a:pPr>
            <a:endParaRPr lang="en-US" sz="1400">
              <a:latin typeface="Arial" panose="020B0604020202020204" pitchFamily="34" charset="0"/>
              <a:cs typeface="Arial" panose="020B0604020202020204" pitchFamily="34" charset="0"/>
            </a:endParaRPr>
          </a:p>
        </p:txBody>
      </p:sp>
      <p:grpSp>
        <p:nvGrpSpPr>
          <p:cNvPr id="49" name="Group 48">
            <a:extLst>
              <a:ext uri="{FF2B5EF4-FFF2-40B4-BE49-F238E27FC236}">
                <a16:creationId xmlns:a16="http://schemas.microsoft.com/office/drawing/2014/main" id="{6CD57636-A6EF-7335-143E-364EA62EC270}"/>
              </a:ext>
            </a:extLst>
          </p:cNvPr>
          <p:cNvGrpSpPr/>
          <p:nvPr/>
        </p:nvGrpSpPr>
        <p:grpSpPr>
          <a:xfrm>
            <a:off x="6780157" y="2170798"/>
            <a:ext cx="3345865" cy="4172121"/>
            <a:chOff x="383479" y="947008"/>
            <a:chExt cx="2003681" cy="1881556"/>
          </a:xfrm>
        </p:grpSpPr>
        <p:grpSp>
          <p:nvGrpSpPr>
            <p:cNvPr id="51" name="Group 50">
              <a:extLst>
                <a:ext uri="{FF2B5EF4-FFF2-40B4-BE49-F238E27FC236}">
                  <a16:creationId xmlns:a16="http://schemas.microsoft.com/office/drawing/2014/main" id="{39C95A15-5ABA-552C-1BDB-A11A9AF849CB}"/>
                </a:ext>
              </a:extLst>
            </p:cNvPr>
            <p:cNvGrpSpPr/>
            <p:nvPr/>
          </p:nvGrpSpPr>
          <p:grpSpPr>
            <a:xfrm>
              <a:off x="383479" y="947008"/>
              <a:ext cx="1944822" cy="358455"/>
              <a:chOff x="413228" y="1371600"/>
              <a:chExt cx="1947702" cy="476173"/>
            </a:xfrm>
          </p:grpSpPr>
          <p:sp>
            <p:nvSpPr>
              <p:cNvPr id="56" name="Right Triangle 49">
                <a:extLst>
                  <a:ext uri="{FF2B5EF4-FFF2-40B4-BE49-F238E27FC236}">
                    <a16:creationId xmlns:a16="http://schemas.microsoft.com/office/drawing/2014/main" id="{A376012C-15C9-57D9-B6C1-BAF151D6A71B}"/>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50006" tIns="50006" rIns="50006" bIns="50006" rtlCol="0" anchor="ctr"/>
              <a:lstStyle/>
              <a:p>
                <a:pPr algn="ctr" defTabSz="685800">
                  <a:lnSpc>
                    <a:spcPct val="106000"/>
                  </a:lnSpc>
                  <a:defRPr/>
                </a:pPr>
                <a:endParaRPr lang="en-US" sz="825">
                  <a:solidFill>
                    <a:prstClr val="white"/>
                  </a:solidFill>
                  <a:latin typeface="Calibri Light"/>
                </a:endParaRPr>
              </a:p>
            </p:txBody>
          </p:sp>
          <p:sp>
            <p:nvSpPr>
              <p:cNvPr id="57" name="Right Triangle 49">
                <a:extLst>
                  <a:ext uri="{FF2B5EF4-FFF2-40B4-BE49-F238E27FC236}">
                    <a16:creationId xmlns:a16="http://schemas.microsoft.com/office/drawing/2014/main" id="{756451D4-B058-2D5E-0718-756EDD15075A}"/>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50006" tIns="50006" rIns="50006" bIns="50006" rtlCol="0" anchor="ctr"/>
              <a:lstStyle/>
              <a:p>
                <a:pPr algn="ctr" defTabSz="685800">
                  <a:lnSpc>
                    <a:spcPct val="106000"/>
                  </a:lnSpc>
                  <a:defRPr/>
                </a:pPr>
                <a:endParaRPr lang="en-US" sz="825">
                  <a:solidFill>
                    <a:prstClr val="white"/>
                  </a:solidFill>
                  <a:latin typeface="Calibri Light"/>
                </a:endParaRPr>
              </a:p>
            </p:txBody>
          </p:sp>
          <p:sp>
            <p:nvSpPr>
              <p:cNvPr id="58" name="Round Same Side Corner Rectangle 43">
                <a:extLst>
                  <a:ext uri="{FF2B5EF4-FFF2-40B4-BE49-F238E27FC236}">
                    <a16:creationId xmlns:a16="http://schemas.microsoft.com/office/drawing/2014/main" id="{4483D48B-1EEF-C11A-370A-7500B630D3D5}"/>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solidFill>
                <a:schemeClr val="accent1"/>
              </a:solidFill>
              <a:ln w="19050" algn="ctr">
                <a:noFill/>
                <a:miter lim="800000"/>
                <a:headEnd/>
                <a:tailEnd/>
              </a:ln>
            </p:spPr>
            <p:txBody>
              <a:bodyPr wrap="square" lIns="50006" tIns="50006" rIns="50006" bIns="60750" rtlCol="0" anchor="ctr"/>
              <a:lstStyle/>
              <a:p>
                <a:pPr algn="ctr"/>
                <a:endParaRPr lang="en-US" sz="1600" b="1">
                  <a:solidFill>
                    <a:schemeClr val="bg1"/>
                  </a:solidFill>
                </a:endParaRPr>
              </a:p>
              <a:p>
                <a:pPr algn="ctr"/>
                <a:r>
                  <a:rPr lang="en-US" sz="1600" b="1">
                    <a:solidFill>
                      <a:schemeClr val="bg1"/>
                    </a:solidFill>
                  </a:rPr>
                  <a:t>Draft ERC Roadmap (2024-2029)</a:t>
                </a:r>
              </a:p>
              <a:p>
                <a:pPr lvl="0" algn="ctr"/>
                <a:endParaRPr lang="en-US" sz="1000" b="1">
                  <a:solidFill>
                    <a:prstClr val="white"/>
                  </a:solidFill>
                  <a:latin typeface="Calibri" panose="020F0502020204030204" pitchFamily="34" charset="0"/>
                  <a:cs typeface="Calibri" panose="020F0502020204030204" pitchFamily="34" charset="0"/>
                </a:endParaRPr>
              </a:p>
            </p:txBody>
          </p:sp>
        </p:grpSp>
        <p:grpSp>
          <p:nvGrpSpPr>
            <p:cNvPr id="52" name="Group 51">
              <a:extLst>
                <a:ext uri="{FF2B5EF4-FFF2-40B4-BE49-F238E27FC236}">
                  <a16:creationId xmlns:a16="http://schemas.microsoft.com/office/drawing/2014/main" id="{A00F185C-BEB3-417A-A58F-ECBBEC54F0CE}"/>
                </a:ext>
              </a:extLst>
            </p:cNvPr>
            <p:cNvGrpSpPr/>
            <p:nvPr/>
          </p:nvGrpSpPr>
          <p:grpSpPr>
            <a:xfrm>
              <a:off x="442337" y="1370765"/>
              <a:ext cx="1944823" cy="1457799"/>
              <a:chOff x="662890" y="3831190"/>
              <a:chExt cx="2642778" cy="2333283"/>
            </a:xfrm>
          </p:grpSpPr>
          <p:sp>
            <p:nvSpPr>
              <p:cNvPr id="54" name="Rectangle 53">
                <a:extLst>
                  <a:ext uri="{FF2B5EF4-FFF2-40B4-BE49-F238E27FC236}">
                    <a16:creationId xmlns:a16="http://schemas.microsoft.com/office/drawing/2014/main" id="{9089EF03-8FF8-921B-9D66-D5CAF0042CA4}"/>
                  </a:ext>
                </a:extLst>
              </p:cNvPr>
              <p:cNvSpPr/>
              <p:nvPr/>
            </p:nvSpPr>
            <p:spPr bwMode="gray">
              <a:xfrm>
                <a:off x="662890" y="3831190"/>
                <a:ext cx="2642778" cy="2113975"/>
              </a:xfrm>
              <a:prstGeom prst="rect">
                <a:avLst/>
              </a:prstGeom>
              <a:solidFill>
                <a:schemeClr val="bg1">
                  <a:lumMod val="95000"/>
                </a:schemeClr>
              </a:solidFill>
              <a:ln w="19050" algn="ctr">
                <a:noFill/>
                <a:miter lim="800000"/>
                <a:headEnd/>
                <a:tailEnd/>
              </a:ln>
            </p:spPr>
            <p:txBody>
              <a:bodyPr wrap="square" lIns="30375" tIns="30375" rIns="20250" bIns="20250" rtlCol="0" anchor="t"/>
              <a:lstStyle/>
              <a:p>
                <a:pPr marL="19288" algn="just" defTabSz="685800">
                  <a:spcBef>
                    <a:spcPts val="338"/>
                  </a:spcBef>
                  <a:defRPr/>
                </a:pPr>
                <a:endParaRPr lang="en-US" sz="1400" b="1">
                  <a:solidFill>
                    <a:prstClr val="black"/>
                  </a:solidFill>
                  <a:latin typeface="Calibri Light"/>
                </a:endParaRPr>
              </a:p>
            </p:txBody>
          </p:sp>
          <p:sp>
            <p:nvSpPr>
              <p:cNvPr id="55" name="Rectangle 54">
                <a:extLst>
                  <a:ext uri="{FF2B5EF4-FFF2-40B4-BE49-F238E27FC236}">
                    <a16:creationId xmlns:a16="http://schemas.microsoft.com/office/drawing/2014/main" id="{5545676E-2EAF-F547-AA83-5188316F94C2}"/>
                  </a:ext>
                </a:extLst>
              </p:cNvPr>
              <p:cNvSpPr/>
              <p:nvPr/>
            </p:nvSpPr>
            <p:spPr bwMode="gray">
              <a:xfrm>
                <a:off x="857663" y="6076777"/>
                <a:ext cx="2295650" cy="87696"/>
              </a:xfrm>
              <a:prstGeom prst="rect">
                <a:avLst/>
              </a:prstGeom>
              <a:solidFill>
                <a:schemeClr val="accent1"/>
              </a:solidFill>
              <a:ln w="19050" algn="ctr">
                <a:noFill/>
                <a:miter lim="800000"/>
                <a:headEnd/>
                <a:tailEnd/>
              </a:ln>
            </p:spPr>
            <p:txBody>
              <a:bodyPr wrap="square" lIns="50006" tIns="50006" rIns="50006" bIns="50006" rtlCol="0" anchor="ctr"/>
              <a:lstStyle/>
              <a:p>
                <a:pPr algn="ctr" defTabSz="685800">
                  <a:lnSpc>
                    <a:spcPct val="106000"/>
                  </a:lnSpc>
                  <a:defRPr/>
                </a:pPr>
                <a:endParaRPr lang="en-US" sz="825">
                  <a:solidFill>
                    <a:prstClr val="white"/>
                  </a:solidFill>
                  <a:latin typeface="Calibri Light"/>
                </a:endParaRPr>
              </a:p>
            </p:txBody>
          </p:sp>
        </p:grpSp>
      </p:grpSp>
      <p:sp>
        <p:nvSpPr>
          <p:cNvPr id="59" name="TextBox 58">
            <a:extLst>
              <a:ext uri="{FF2B5EF4-FFF2-40B4-BE49-F238E27FC236}">
                <a16:creationId xmlns:a16="http://schemas.microsoft.com/office/drawing/2014/main" id="{7EBD4D32-0F4E-74AB-6F35-6419C98DBC9D}"/>
              </a:ext>
            </a:extLst>
          </p:cNvPr>
          <p:cNvSpPr txBox="1"/>
          <p:nvPr/>
        </p:nvSpPr>
        <p:spPr>
          <a:xfrm>
            <a:off x="6912123" y="3255380"/>
            <a:ext cx="3196219" cy="2677656"/>
          </a:xfrm>
          <a:prstGeom prst="rect">
            <a:avLst/>
          </a:prstGeom>
          <a:noFill/>
        </p:spPr>
        <p:txBody>
          <a:bodyPr wrap="square">
            <a:spAutoFit/>
          </a:bodyPr>
          <a:lstStyle/>
          <a:p>
            <a:pPr marL="285750" indent="-285750">
              <a:buFont typeface="Wingdings" panose="05000000000000000000" pitchFamily="2" charset="2"/>
              <a:buChar char="v"/>
            </a:pPr>
            <a:r>
              <a:rPr lang="en-US" sz="1400">
                <a:latin typeface="Arial" panose="020B0604020202020204" pitchFamily="34" charset="0"/>
                <a:cs typeface="Arial" panose="020B0604020202020204" pitchFamily="34" charset="0"/>
              </a:rPr>
              <a:t>Directives of Open Access to Transmission Network</a:t>
            </a:r>
          </a:p>
          <a:p>
            <a:pPr marL="285750" indent="-285750">
              <a:buFont typeface="Wingdings" panose="05000000000000000000" pitchFamily="2" charset="2"/>
              <a:buChar char="v"/>
            </a:pPr>
            <a:r>
              <a:rPr lang="en-US" sz="1400">
                <a:latin typeface="Arial" panose="020B0604020202020204" pitchFamily="34" charset="0"/>
                <a:cs typeface="Arial" panose="020B0604020202020204" pitchFamily="34" charset="0"/>
              </a:rPr>
              <a:t>Directives to determine Transmission and Distribution Wheeling Charges </a:t>
            </a:r>
          </a:p>
          <a:p>
            <a:pPr marL="285750" indent="-285750">
              <a:buFont typeface="Wingdings" panose="05000000000000000000" pitchFamily="2" charset="2"/>
              <a:buChar char="v"/>
            </a:pPr>
            <a:r>
              <a:rPr lang="en-US" sz="1400">
                <a:latin typeface="Arial" panose="020B0604020202020204" pitchFamily="34" charset="0"/>
                <a:cs typeface="Arial" panose="020B0604020202020204" pitchFamily="34" charset="0"/>
              </a:rPr>
              <a:t>Directives of Cross-Border Electricity Trade</a:t>
            </a:r>
          </a:p>
          <a:p>
            <a:pPr marL="285750" indent="-285750">
              <a:buFont typeface="Wingdings" panose="05000000000000000000" pitchFamily="2" charset="2"/>
              <a:buChar char="v"/>
            </a:pPr>
            <a:r>
              <a:rPr lang="en-US" sz="1400">
                <a:latin typeface="Arial" panose="020B0604020202020204" pitchFamily="34" charset="0"/>
                <a:cs typeface="Arial" panose="020B0604020202020204" pitchFamily="34" charset="0"/>
              </a:rPr>
              <a:t>Studies on Wholesale and Retail Market Studies </a:t>
            </a:r>
          </a:p>
          <a:p>
            <a:pPr marL="285750" indent="-285750">
              <a:buFont typeface="Wingdings" panose="05000000000000000000" pitchFamily="2" charset="2"/>
              <a:buChar char="v"/>
            </a:pPr>
            <a:r>
              <a:rPr lang="en-US" sz="1400">
                <a:latin typeface="Arial" panose="020B0604020202020204" pitchFamily="34" charset="0"/>
                <a:cs typeface="Arial" panose="020B0604020202020204" pitchFamily="34" charset="0"/>
              </a:rPr>
              <a:t>Measuring Key Performance Indicators (KPI) of generation licensees.</a:t>
            </a:r>
          </a:p>
        </p:txBody>
      </p:sp>
    </p:spTree>
    <p:extLst>
      <p:ext uri="{BB962C8B-B14F-4D97-AF65-F5344CB8AC3E}">
        <p14:creationId xmlns:p14="http://schemas.microsoft.com/office/powerpoint/2010/main" val="3478248756"/>
      </p:ext>
    </p:extLst>
  </p:cSld>
  <p:clrMapOvr>
    <a:masterClrMapping/>
  </p:clrMapOvr>
  <p:transition>
    <p:fade/>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Policy Outlook I Draft Electricity Amendment Bill, 2080 and Its Implications for PJ_ST Project </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300">
                <a:solidFill>
                  <a:schemeClr val="tx1">
                    <a:lumMod val="65000"/>
                    <a:lumOff val="35000"/>
                  </a:schemeClr>
                </a:solidFill>
                <a:latin typeface="Arial" panose="020B0604020202020204" pitchFamily="34" charset="0"/>
                <a:cs typeface="Arial" panose="020B0604020202020204" pitchFamily="34" charset="0"/>
              </a:rPr>
              <a:t>The draft bill introduces key reforms that enhance IPP viability and create enabling conditions for merchant capacity projects like PJ_ST Project </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615033"/>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Source: </a:t>
            </a:r>
            <a:r>
              <a:rPr kumimoji="0" lang="en-US"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Association of Power Producers Comments Draft Electricity Amendment Bill, 2080 </a:t>
            </a:r>
            <a:endParaRPr kumimoji="0" lang="en-IN"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endParaRPr>
          </a:p>
        </p:txBody>
      </p:sp>
      <p:sp>
        <p:nvSpPr>
          <p:cNvPr id="3" name="Rectangle 2">
            <a:extLst>
              <a:ext uri="{FF2B5EF4-FFF2-40B4-BE49-F238E27FC236}">
                <a16:creationId xmlns:a16="http://schemas.microsoft.com/office/drawing/2014/main" id="{DEF8E47E-0CFB-5939-55CE-6EA237607B66}"/>
              </a:ext>
            </a:extLst>
          </p:cNvPr>
          <p:cNvSpPr/>
          <p:nvPr/>
        </p:nvSpPr>
        <p:spPr bwMode="gray">
          <a:xfrm>
            <a:off x="514885" y="1703513"/>
            <a:ext cx="2403680" cy="726988"/>
          </a:xfrm>
          <a:prstGeom prst="rect">
            <a:avLst/>
          </a:prstGeom>
          <a:solidFill>
            <a:srgbClr val="046A38"/>
          </a:solidFill>
          <a:ln w="19050" algn="ctr">
            <a:solidFill>
              <a:srgbClr val="046A38"/>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noProof="0">
                <a:solidFill>
                  <a:schemeClr val="bg1"/>
                </a:solidFill>
                <a:latin typeface="Arial" panose="020B0604020202020204" pitchFamily="34" charset="0"/>
                <a:cs typeface="Arial" panose="020B0604020202020204" pitchFamily="34" charset="0"/>
              </a:rPr>
              <a:t>Provision of Payment Security Mechanism</a:t>
            </a:r>
            <a:endParaRPr lang="en-IN" sz="1200" b="1" noProof="0">
              <a:solidFill>
                <a:schemeClr val="bg1"/>
              </a:solidFill>
              <a:latin typeface="Arial" panose="020B0604020202020204" pitchFamily="34" charset="0"/>
              <a:cs typeface="Arial" panose="020B0604020202020204" pitchFamily="34" charset="0"/>
            </a:endParaRPr>
          </a:p>
        </p:txBody>
      </p:sp>
      <p:sp>
        <p:nvSpPr>
          <p:cNvPr id="4" name="Rectangle 3">
            <a:extLst>
              <a:ext uri="{FF2B5EF4-FFF2-40B4-BE49-F238E27FC236}">
                <a16:creationId xmlns:a16="http://schemas.microsoft.com/office/drawing/2014/main" id="{2168B85D-0C43-96F3-3C89-03D8CCCC86FF}"/>
              </a:ext>
            </a:extLst>
          </p:cNvPr>
          <p:cNvSpPr/>
          <p:nvPr/>
        </p:nvSpPr>
        <p:spPr bwMode="gray">
          <a:xfrm>
            <a:off x="3116813" y="1703513"/>
            <a:ext cx="4105064"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Inclusion of the provision of Payment Security Mechanism in the PPA</a:t>
            </a:r>
          </a:p>
        </p:txBody>
      </p:sp>
      <p:sp>
        <p:nvSpPr>
          <p:cNvPr id="5" name="Rectangle 4">
            <a:extLst>
              <a:ext uri="{FF2B5EF4-FFF2-40B4-BE49-F238E27FC236}">
                <a16:creationId xmlns:a16="http://schemas.microsoft.com/office/drawing/2014/main" id="{AFA355D9-B9E7-2D86-D9B7-C3A45F47EDD5}"/>
              </a:ext>
            </a:extLst>
          </p:cNvPr>
          <p:cNvSpPr/>
          <p:nvPr/>
        </p:nvSpPr>
        <p:spPr bwMode="gray">
          <a:xfrm>
            <a:off x="7605377" y="1688778"/>
            <a:ext cx="4105065"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This may be applicable for future projects</a:t>
            </a:r>
            <a:endParaRPr lang="en-IN" sz="1200" kern="1200">
              <a:latin typeface="Arial" panose="020B0604020202020204" pitchFamily="34" charset="0"/>
              <a:cs typeface="Arial" panose="020B0604020202020204" pitchFamily="34" charset="0"/>
            </a:endParaRPr>
          </a:p>
        </p:txBody>
      </p:sp>
      <p:sp>
        <p:nvSpPr>
          <p:cNvPr id="7" name="Rectangle 6">
            <a:extLst>
              <a:ext uri="{FF2B5EF4-FFF2-40B4-BE49-F238E27FC236}">
                <a16:creationId xmlns:a16="http://schemas.microsoft.com/office/drawing/2014/main" id="{BE057D84-46D1-8AFD-E5E9-A25EE77141AD}"/>
              </a:ext>
            </a:extLst>
          </p:cNvPr>
          <p:cNvSpPr/>
          <p:nvPr/>
        </p:nvSpPr>
        <p:spPr bwMode="gray">
          <a:xfrm>
            <a:off x="514885" y="1078098"/>
            <a:ext cx="2403680" cy="334100"/>
          </a:xfrm>
          <a:prstGeom prst="rect">
            <a:avLst/>
          </a:prstGeom>
          <a:solidFill>
            <a:schemeClr val="tx2"/>
          </a:solid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noProof="0">
                <a:solidFill>
                  <a:schemeClr val="bg1"/>
                </a:solidFill>
                <a:latin typeface="Arial" panose="020B0604020202020204" pitchFamily="34" charset="0"/>
                <a:cs typeface="Arial" panose="020B0604020202020204" pitchFamily="34" charset="0"/>
              </a:rPr>
              <a:t>Initiatives</a:t>
            </a:r>
            <a:endParaRPr lang="en-IN" sz="1200" b="1" noProof="0">
              <a:solidFill>
                <a:schemeClr val="bg1"/>
              </a:solidFill>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C21CDD2A-61F4-8AFF-10C5-6BBA9EB74301}"/>
              </a:ext>
            </a:extLst>
          </p:cNvPr>
          <p:cNvSpPr/>
          <p:nvPr/>
        </p:nvSpPr>
        <p:spPr bwMode="gray">
          <a:xfrm>
            <a:off x="3523601" y="1084492"/>
            <a:ext cx="2938355" cy="334100"/>
          </a:xfrm>
          <a:prstGeom prst="rect">
            <a:avLst/>
          </a:prstGeom>
          <a:solidFill>
            <a:schemeClr val="tx2"/>
          </a:solid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a:solidFill>
                  <a:schemeClr val="bg1"/>
                </a:solidFill>
                <a:latin typeface="Arial" panose="020B0604020202020204" pitchFamily="34" charset="0"/>
                <a:cs typeface="Arial" panose="020B0604020202020204" pitchFamily="34" charset="0"/>
              </a:rPr>
              <a:t>Description on the Initiative</a:t>
            </a:r>
            <a:endParaRPr lang="en-IN" sz="1200" b="1" noProof="0">
              <a:solidFill>
                <a:schemeClr val="bg1"/>
              </a:solidFill>
              <a:latin typeface="Arial" panose="020B0604020202020204" pitchFamily="34" charset="0"/>
              <a:cs typeface="Arial" panose="020B0604020202020204" pitchFamily="34" charset="0"/>
            </a:endParaRPr>
          </a:p>
        </p:txBody>
      </p:sp>
      <p:sp>
        <p:nvSpPr>
          <p:cNvPr id="13" name="Rectangle 12">
            <a:extLst>
              <a:ext uri="{FF2B5EF4-FFF2-40B4-BE49-F238E27FC236}">
                <a16:creationId xmlns:a16="http://schemas.microsoft.com/office/drawing/2014/main" id="{FC0520CF-B19B-A802-92DF-F0CC85850ED6}"/>
              </a:ext>
            </a:extLst>
          </p:cNvPr>
          <p:cNvSpPr/>
          <p:nvPr/>
        </p:nvSpPr>
        <p:spPr bwMode="gray">
          <a:xfrm>
            <a:off x="7948977" y="1078098"/>
            <a:ext cx="2938356" cy="334100"/>
          </a:xfrm>
          <a:prstGeom prst="rect">
            <a:avLst/>
          </a:prstGeom>
          <a:solidFill>
            <a:schemeClr val="tx2"/>
          </a:solid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a:solidFill>
                  <a:schemeClr val="bg1"/>
                </a:solidFill>
                <a:latin typeface="Arial" panose="020B0604020202020204" pitchFamily="34" charset="0"/>
                <a:cs typeface="Arial" panose="020B0604020202020204" pitchFamily="34" charset="0"/>
              </a:rPr>
              <a:t>Possible impact on this Project</a:t>
            </a:r>
            <a:endParaRPr lang="en-IN" sz="1200" b="1" noProof="0">
              <a:solidFill>
                <a:schemeClr val="bg1"/>
              </a:solidFill>
              <a:latin typeface="Arial" panose="020B0604020202020204" pitchFamily="34" charset="0"/>
              <a:cs typeface="Arial" panose="020B0604020202020204" pitchFamily="34" charset="0"/>
            </a:endParaRPr>
          </a:p>
        </p:txBody>
      </p:sp>
      <p:sp>
        <p:nvSpPr>
          <p:cNvPr id="14" name="Rectangle 13">
            <a:extLst>
              <a:ext uri="{FF2B5EF4-FFF2-40B4-BE49-F238E27FC236}">
                <a16:creationId xmlns:a16="http://schemas.microsoft.com/office/drawing/2014/main" id="{6ED1E78D-05CE-A3B7-A9B7-51BD9E47CCF0}"/>
              </a:ext>
            </a:extLst>
          </p:cNvPr>
          <p:cNvSpPr/>
          <p:nvPr/>
        </p:nvSpPr>
        <p:spPr bwMode="gray">
          <a:xfrm>
            <a:off x="528118" y="3655309"/>
            <a:ext cx="2403680" cy="726988"/>
          </a:xfrm>
          <a:prstGeom prst="rect">
            <a:avLst/>
          </a:prstGeom>
          <a:solidFill>
            <a:schemeClr val="accent2"/>
          </a:solidFill>
          <a:ln w="19050" algn="ctr">
            <a:solidFill>
              <a:srgbClr val="43B02A"/>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noProof="0">
                <a:solidFill>
                  <a:schemeClr val="bg1"/>
                </a:solidFill>
                <a:latin typeface="Arial" panose="020B0604020202020204" pitchFamily="34" charset="0"/>
                <a:cs typeface="Arial" panose="020B0604020202020204" pitchFamily="34" charset="0"/>
              </a:rPr>
              <a:t> Electricity Trading</a:t>
            </a:r>
            <a:endParaRPr lang="en-IN" sz="1200" b="1" noProof="0">
              <a:solidFill>
                <a:schemeClr val="bg1"/>
              </a:solidFill>
              <a:latin typeface="Arial" panose="020B0604020202020204" pitchFamily="34" charset="0"/>
              <a:cs typeface="Arial" panose="020B0604020202020204" pitchFamily="34" charset="0"/>
            </a:endParaRPr>
          </a:p>
        </p:txBody>
      </p:sp>
      <p:sp>
        <p:nvSpPr>
          <p:cNvPr id="15" name="Rectangle 14">
            <a:extLst>
              <a:ext uri="{FF2B5EF4-FFF2-40B4-BE49-F238E27FC236}">
                <a16:creationId xmlns:a16="http://schemas.microsoft.com/office/drawing/2014/main" id="{54F1A4AE-7A04-8C78-F183-8FE9AA11976C}"/>
              </a:ext>
            </a:extLst>
          </p:cNvPr>
          <p:cNvSpPr/>
          <p:nvPr/>
        </p:nvSpPr>
        <p:spPr bwMode="gray">
          <a:xfrm>
            <a:off x="3130046" y="3661703"/>
            <a:ext cx="4105064"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Bill proposes electricity trading licenses for private entities, enabling domestic and international electricity trade</a:t>
            </a:r>
          </a:p>
        </p:txBody>
      </p:sp>
      <p:sp>
        <p:nvSpPr>
          <p:cNvPr id="16" name="Rectangle 15">
            <a:extLst>
              <a:ext uri="{FF2B5EF4-FFF2-40B4-BE49-F238E27FC236}">
                <a16:creationId xmlns:a16="http://schemas.microsoft.com/office/drawing/2014/main" id="{3641CA3D-1102-86F0-B59B-C2921EDA7447}"/>
              </a:ext>
            </a:extLst>
          </p:cNvPr>
          <p:cNvSpPr/>
          <p:nvPr/>
        </p:nvSpPr>
        <p:spPr bwMode="gray">
          <a:xfrm>
            <a:off x="7618610" y="3646968"/>
            <a:ext cx="4105065"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algn="just" defTabSz="889000">
              <a:lnSpc>
                <a:spcPct val="90000"/>
              </a:lnSpc>
              <a:spcBef>
                <a:spcPct val="0"/>
              </a:spcBef>
              <a:spcAft>
                <a:spcPct val="35000"/>
              </a:spcAft>
            </a:pPr>
            <a:r>
              <a:rPr lang="en-US" sz="1200">
                <a:latin typeface="Arial" panose="020B0604020202020204" pitchFamily="34" charset="0"/>
                <a:cs typeface="Arial" panose="020B0604020202020204" pitchFamily="34" charset="0"/>
              </a:rPr>
              <a:t>Opens up opportunities for IPPs to sell surplus electricity, especially during the monsoon season when Nepal often has excess generation capacity.</a:t>
            </a:r>
            <a:endParaRPr lang="en-IN" sz="1200" kern="1200">
              <a:latin typeface="Arial" panose="020B0604020202020204" pitchFamily="34" charset="0"/>
              <a:cs typeface="Arial" panose="020B0604020202020204" pitchFamily="34" charset="0"/>
            </a:endParaRPr>
          </a:p>
        </p:txBody>
      </p:sp>
      <p:sp>
        <p:nvSpPr>
          <p:cNvPr id="17" name="Rectangle 16">
            <a:extLst>
              <a:ext uri="{FF2B5EF4-FFF2-40B4-BE49-F238E27FC236}">
                <a16:creationId xmlns:a16="http://schemas.microsoft.com/office/drawing/2014/main" id="{FF356097-40EF-E4AB-BFD4-2F3BF6C6CDB5}"/>
              </a:ext>
            </a:extLst>
          </p:cNvPr>
          <p:cNvSpPr/>
          <p:nvPr/>
        </p:nvSpPr>
        <p:spPr bwMode="gray">
          <a:xfrm>
            <a:off x="514885" y="2679411"/>
            <a:ext cx="2403680" cy="726988"/>
          </a:xfrm>
          <a:prstGeom prst="rect">
            <a:avLst/>
          </a:prstGeom>
          <a:solidFill>
            <a:schemeClr val="accent3"/>
          </a:solidFill>
          <a:ln w="19050" algn="ctr">
            <a:solidFill>
              <a:schemeClr val="accent3"/>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noProof="0">
                <a:solidFill>
                  <a:schemeClr val="bg1"/>
                </a:solidFill>
                <a:latin typeface="Arial" panose="020B0604020202020204" pitchFamily="34" charset="0"/>
                <a:cs typeface="Arial" panose="020B0604020202020204" pitchFamily="34" charset="0"/>
              </a:rPr>
              <a:t>Structural Reforms </a:t>
            </a:r>
            <a:endParaRPr lang="en-IN" sz="1200" b="1" noProof="0">
              <a:solidFill>
                <a:schemeClr val="bg1"/>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9CD1D1DC-2F17-2791-4676-A6394F221A7F}"/>
              </a:ext>
            </a:extLst>
          </p:cNvPr>
          <p:cNvSpPr/>
          <p:nvPr/>
        </p:nvSpPr>
        <p:spPr bwMode="gray">
          <a:xfrm>
            <a:off x="3116813" y="2685805"/>
            <a:ext cx="4105064"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Breaking the monopoly of the Nepal Electricity Authority (NEA) by separating electricity generation, transmission, and distribution into distinct entities </a:t>
            </a:r>
          </a:p>
        </p:txBody>
      </p:sp>
      <p:sp>
        <p:nvSpPr>
          <p:cNvPr id="19" name="Rectangle 18">
            <a:extLst>
              <a:ext uri="{FF2B5EF4-FFF2-40B4-BE49-F238E27FC236}">
                <a16:creationId xmlns:a16="http://schemas.microsoft.com/office/drawing/2014/main" id="{9BAF8190-5054-50A3-ABCD-22695F833676}"/>
              </a:ext>
            </a:extLst>
          </p:cNvPr>
          <p:cNvSpPr/>
          <p:nvPr/>
        </p:nvSpPr>
        <p:spPr bwMode="gray">
          <a:xfrm>
            <a:off x="7605377" y="2692346"/>
            <a:ext cx="4105065" cy="705711"/>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Structural reforms point towards wider benefits for private sector</a:t>
            </a:r>
          </a:p>
        </p:txBody>
      </p:sp>
      <p:sp>
        <p:nvSpPr>
          <p:cNvPr id="20" name="Rectangle 19">
            <a:extLst>
              <a:ext uri="{FF2B5EF4-FFF2-40B4-BE49-F238E27FC236}">
                <a16:creationId xmlns:a16="http://schemas.microsoft.com/office/drawing/2014/main" id="{299AA40E-0FD3-A568-279C-DEDF7274E7D3}"/>
              </a:ext>
            </a:extLst>
          </p:cNvPr>
          <p:cNvSpPr/>
          <p:nvPr/>
        </p:nvSpPr>
        <p:spPr bwMode="gray">
          <a:xfrm>
            <a:off x="501652" y="4637600"/>
            <a:ext cx="2403680" cy="726988"/>
          </a:xfrm>
          <a:prstGeom prst="rect">
            <a:avLst/>
          </a:prstGeom>
          <a:solidFill>
            <a:schemeClr val="accent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noProof="0">
                <a:solidFill>
                  <a:schemeClr val="bg1"/>
                </a:solidFill>
                <a:latin typeface="Arial" panose="020B0604020202020204" pitchFamily="34" charset="0"/>
                <a:cs typeface="Arial" panose="020B0604020202020204" pitchFamily="34" charset="0"/>
              </a:rPr>
              <a:t>Open Access</a:t>
            </a:r>
            <a:endParaRPr lang="en-IN" sz="1200" b="1" noProof="0">
              <a:solidFill>
                <a:schemeClr val="bg1"/>
              </a:solidFill>
              <a:latin typeface="Arial" panose="020B0604020202020204" pitchFamily="34" charset="0"/>
              <a:cs typeface="Arial" panose="020B0604020202020204" pitchFamily="34" charset="0"/>
            </a:endParaRPr>
          </a:p>
        </p:txBody>
      </p:sp>
      <p:sp>
        <p:nvSpPr>
          <p:cNvPr id="21" name="Rectangle 20">
            <a:extLst>
              <a:ext uri="{FF2B5EF4-FFF2-40B4-BE49-F238E27FC236}">
                <a16:creationId xmlns:a16="http://schemas.microsoft.com/office/drawing/2014/main" id="{833BAE86-0E91-7AF9-FCD1-7C9CD0D89EB6}"/>
              </a:ext>
            </a:extLst>
          </p:cNvPr>
          <p:cNvSpPr/>
          <p:nvPr/>
        </p:nvSpPr>
        <p:spPr bwMode="gray">
          <a:xfrm>
            <a:off x="3103580" y="4643994"/>
            <a:ext cx="4105064"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Provisions for open access, allowing licensed entities to use transmission and distribution infrastructure without discrimination</a:t>
            </a:r>
          </a:p>
        </p:txBody>
      </p:sp>
      <p:sp>
        <p:nvSpPr>
          <p:cNvPr id="22" name="Rectangle 21">
            <a:extLst>
              <a:ext uri="{FF2B5EF4-FFF2-40B4-BE49-F238E27FC236}">
                <a16:creationId xmlns:a16="http://schemas.microsoft.com/office/drawing/2014/main" id="{B52E353C-AF5C-380E-4039-13D297FE79F4}"/>
              </a:ext>
            </a:extLst>
          </p:cNvPr>
          <p:cNvSpPr/>
          <p:nvPr/>
        </p:nvSpPr>
        <p:spPr bwMode="gray">
          <a:xfrm>
            <a:off x="7592144" y="4629259"/>
            <a:ext cx="4105065"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algn="just" defTabSz="889000">
              <a:lnSpc>
                <a:spcPct val="90000"/>
              </a:lnSpc>
              <a:spcBef>
                <a:spcPct val="0"/>
              </a:spcBef>
              <a:spcAft>
                <a:spcPct val="35000"/>
              </a:spcAft>
            </a:pPr>
            <a:r>
              <a:rPr lang="en-US" sz="1200">
                <a:latin typeface="Arial" panose="020B0604020202020204" pitchFamily="34" charset="0"/>
                <a:cs typeface="Arial" panose="020B0604020202020204" pitchFamily="34" charset="0"/>
              </a:rPr>
              <a:t>Option of selling power directly to large consumers or other licensees</a:t>
            </a:r>
          </a:p>
        </p:txBody>
      </p:sp>
      <p:sp>
        <p:nvSpPr>
          <p:cNvPr id="23" name="Rectangle 22">
            <a:extLst>
              <a:ext uri="{FF2B5EF4-FFF2-40B4-BE49-F238E27FC236}">
                <a16:creationId xmlns:a16="http://schemas.microsoft.com/office/drawing/2014/main" id="{F9EC9FCA-9E88-0C5D-837B-59FBFBF0FC79}"/>
              </a:ext>
            </a:extLst>
          </p:cNvPr>
          <p:cNvSpPr/>
          <p:nvPr/>
        </p:nvSpPr>
        <p:spPr bwMode="gray">
          <a:xfrm>
            <a:off x="501652" y="5664748"/>
            <a:ext cx="2403680" cy="726988"/>
          </a:xfrm>
          <a:prstGeom prst="rect">
            <a:avLst/>
          </a:prstGeom>
          <a:solidFill>
            <a:srgbClr val="046A38"/>
          </a:solidFill>
          <a:ln w="19050"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noProof="0">
                <a:solidFill>
                  <a:schemeClr val="bg1"/>
                </a:solidFill>
                <a:latin typeface="Arial" panose="020B0604020202020204" pitchFamily="34" charset="0"/>
                <a:cs typeface="Arial" panose="020B0604020202020204" pitchFamily="34" charset="0"/>
              </a:rPr>
              <a:t>Extensions for Export-Oriented Projects</a:t>
            </a:r>
            <a:endParaRPr lang="en-IN" sz="1200" b="1" noProof="0">
              <a:solidFill>
                <a:schemeClr val="bg1"/>
              </a:solidFill>
              <a:latin typeface="Arial" panose="020B0604020202020204" pitchFamily="34" charset="0"/>
              <a:cs typeface="Arial" panose="020B0604020202020204" pitchFamily="34" charset="0"/>
            </a:endParaRPr>
          </a:p>
        </p:txBody>
      </p:sp>
      <p:sp>
        <p:nvSpPr>
          <p:cNvPr id="24" name="Rectangle 23">
            <a:extLst>
              <a:ext uri="{FF2B5EF4-FFF2-40B4-BE49-F238E27FC236}">
                <a16:creationId xmlns:a16="http://schemas.microsoft.com/office/drawing/2014/main" id="{397BDA54-D4B6-8CDB-200A-F7B2A2C92945}"/>
              </a:ext>
            </a:extLst>
          </p:cNvPr>
          <p:cNvSpPr/>
          <p:nvPr/>
        </p:nvSpPr>
        <p:spPr bwMode="gray">
          <a:xfrm>
            <a:off x="3103580" y="5671142"/>
            <a:ext cx="4105064"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Export-oriented hydropower projects may be granted longer permit durations (up to 40 years), </a:t>
            </a:r>
          </a:p>
        </p:txBody>
      </p:sp>
      <p:sp>
        <p:nvSpPr>
          <p:cNvPr id="25" name="Rectangle 24">
            <a:extLst>
              <a:ext uri="{FF2B5EF4-FFF2-40B4-BE49-F238E27FC236}">
                <a16:creationId xmlns:a16="http://schemas.microsoft.com/office/drawing/2014/main" id="{D4DA11D9-A340-A84D-672D-D2213575CE91}"/>
              </a:ext>
            </a:extLst>
          </p:cNvPr>
          <p:cNvSpPr/>
          <p:nvPr/>
        </p:nvSpPr>
        <p:spPr bwMode="gray">
          <a:xfrm>
            <a:off x="7592144" y="5656407"/>
            <a:ext cx="4105065"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algn="just" defTabSz="889000">
              <a:lnSpc>
                <a:spcPct val="90000"/>
              </a:lnSpc>
              <a:spcBef>
                <a:spcPct val="0"/>
              </a:spcBef>
              <a:spcAft>
                <a:spcPct val="35000"/>
              </a:spcAft>
            </a:pPr>
            <a:r>
              <a:rPr lang="en-US" sz="1200">
                <a:latin typeface="Arial" panose="020B0604020202020204" pitchFamily="34" charset="0"/>
                <a:cs typeface="Arial" panose="020B0604020202020204" pitchFamily="34" charset="0"/>
              </a:rPr>
              <a:t>Improving investment security for IPPs targeting export markets.</a:t>
            </a:r>
            <a:endParaRPr lang="en-IN" sz="1200" kern="120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34708085"/>
      </p:ext>
    </p:extLst>
  </p:cSld>
  <p:clrMapOvr>
    <a:masterClrMapping/>
  </p:clrMapOvr>
  <p:transition>
    <p:fade/>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Strengthening Market Structures I Key Provisions from the Draft ERC Roadmap (2024–2029)</a:t>
            </a:r>
          </a:p>
        </p:txBody>
      </p:sp>
      <p:sp>
        <p:nvSpPr>
          <p:cNvPr id="2" name="Text Placeholder 1"/>
          <p:cNvSpPr>
            <a:spLocks noGrp="1"/>
          </p:cNvSpPr>
          <p:nvPr>
            <p:ph type="body" sz="quarter" idx="13"/>
          </p:nvPr>
        </p:nvSpPr>
        <p:spPr>
          <a:xfrm>
            <a:off x="514884" y="651708"/>
            <a:ext cx="11468214"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Focus areas include open access, pricing, cross-border trade, market design, and performance benchmarking to advance sectoral reform</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615033"/>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Source: Draft </a:t>
            </a:r>
            <a:r>
              <a:rPr kumimoji="0" lang="en-US"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Five-year Roadmap for ERC (2024-2029), Deloitte Research</a:t>
            </a:r>
            <a:endParaRPr kumimoji="0" lang="en-IN"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endParaRPr>
          </a:p>
        </p:txBody>
      </p:sp>
      <p:sp>
        <p:nvSpPr>
          <p:cNvPr id="3" name="Rectangle 2">
            <a:extLst>
              <a:ext uri="{FF2B5EF4-FFF2-40B4-BE49-F238E27FC236}">
                <a16:creationId xmlns:a16="http://schemas.microsoft.com/office/drawing/2014/main" id="{DEF8E47E-0CFB-5939-55CE-6EA237607B66}"/>
              </a:ext>
            </a:extLst>
          </p:cNvPr>
          <p:cNvSpPr/>
          <p:nvPr/>
        </p:nvSpPr>
        <p:spPr bwMode="gray">
          <a:xfrm>
            <a:off x="514885" y="1703513"/>
            <a:ext cx="2403680" cy="726988"/>
          </a:xfrm>
          <a:prstGeom prst="rect">
            <a:avLst/>
          </a:prstGeom>
          <a:solidFill>
            <a:srgbClr val="046A38"/>
          </a:solidFill>
          <a:ln w="19050" algn="ctr">
            <a:solidFill>
              <a:srgbClr val="046A38"/>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noProof="0">
                <a:solidFill>
                  <a:schemeClr val="bg1"/>
                </a:solidFill>
                <a:latin typeface="Arial" panose="020B0604020202020204" pitchFamily="34" charset="0"/>
                <a:cs typeface="Arial" panose="020B0604020202020204" pitchFamily="34" charset="0"/>
              </a:rPr>
              <a:t>Directives of Open Access to Transmission Network</a:t>
            </a:r>
            <a:endParaRPr lang="en-IN" sz="1200" b="1" noProof="0">
              <a:solidFill>
                <a:schemeClr val="bg1"/>
              </a:solidFill>
              <a:latin typeface="Arial" panose="020B0604020202020204" pitchFamily="34" charset="0"/>
              <a:cs typeface="Arial" panose="020B0604020202020204" pitchFamily="34" charset="0"/>
            </a:endParaRPr>
          </a:p>
        </p:txBody>
      </p:sp>
      <p:sp>
        <p:nvSpPr>
          <p:cNvPr id="4" name="Rectangle 3">
            <a:extLst>
              <a:ext uri="{FF2B5EF4-FFF2-40B4-BE49-F238E27FC236}">
                <a16:creationId xmlns:a16="http://schemas.microsoft.com/office/drawing/2014/main" id="{2168B85D-0C43-96F3-3C89-03D8CCCC86FF}"/>
              </a:ext>
            </a:extLst>
          </p:cNvPr>
          <p:cNvSpPr/>
          <p:nvPr/>
        </p:nvSpPr>
        <p:spPr bwMode="gray">
          <a:xfrm>
            <a:off x="3116813" y="1703513"/>
            <a:ext cx="3559976"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Open Access Directives to allow multiple buyers and sellers to use the transmission network.</a:t>
            </a:r>
          </a:p>
        </p:txBody>
      </p:sp>
      <p:sp>
        <p:nvSpPr>
          <p:cNvPr id="5" name="Rectangle 4">
            <a:extLst>
              <a:ext uri="{FF2B5EF4-FFF2-40B4-BE49-F238E27FC236}">
                <a16:creationId xmlns:a16="http://schemas.microsoft.com/office/drawing/2014/main" id="{AFA355D9-B9E7-2D86-D9B7-C3A45F47EDD5}"/>
              </a:ext>
            </a:extLst>
          </p:cNvPr>
          <p:cNvSpPr/>
          <p:nvPr/>
        </p:nvSpPr>
        <p:spPr bwMode="gray">
          <a:xfrm>
            <a:off x="6850004" y="1703513"/>
            <a:ext cx="3559976"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Option of selling power directly to large consumers or other licensees, bypassing NEA (Nepal Electricity Authority).</a:t>
            </a:r>
            <a:endParaRPr lang="en-IN" sz="1200" kern="1200">
              <a:latin typeface="Arial" panose="020B0604020202020204" pitchFamily="34" charset="0"/>
              <a:cs typeface="Arial" panose="020B0604020202020204" pitchFamily="34" charset="0"/>
            </a:endParaRPr>
          </a:p>
        </p:txBody>
      </p:sp>
      <p:sp>
        <p:nvSpPr>
          <p:cNvPr id="7" name="Rectangle 6">
            <a:extLst>
              <a:ext uri="{FF2B5EF4-FFF2-40B4-BE49-F238E27FC236}">
                <a16:creationId xmlns:a16="http://schemas.microsoft.com/office/drawing/2014/main" id="{BE057D84-46D1-8AFD-E5E9-A25EE77141AD}"/>
              </a:ext>
            </a:extLst>
          </p:cNvPr>
          <p:cNvSpPr/>
          <p:nvPr/>
        </p:nvSpPr>
        <p:spPr bwMode="gray">
          <a:xfrm>
            <a:off x="514885" y="1078098"/>
            <a:ext cx="2403680" cy="334100"/>
          </a:xfrm>
          <a:prstGeom prst="rect">
            <a:avLst/>
          </a:prstGeom>
          <a:solidFill>
            <a:schemeClr val="tx2"/>
          </a:solid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noProof="0">
                <a:solidFill>
                  <a:schemeClr val="bg1"/>
                </a:solidFill>
                <a:latin typeface="Arial" panose="020B0604020202020204" pitchFamily="34" charset="0"/>
                <a:cs typeface="Arial" panose="020B0604020202020204" pitchFamily="34" charset="0"/>
              </a:rPr>
              <a:t>Initiatives</a:t>
            </a:r>
            <a:endParaRPr lang="en-IN" sz="1200" b="1" noProof="0">
              <a:solidFill>
                <a:schemeClr val="bg1"/>
              </a:solidFill>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C21CDD2A-61F4-8AFF-10C5-6BBA9EB74301}"/>
              </a:ext>
            </a:extLst>
          </p:cNvPr>
          <p:cNvSpPr/>
          <p:nvPr/>
        </p:nvSpPr>
        <p:spPr bwMode="gray">
          <a:xfrm>
            <a:off x="3523602" y="1084492"/>
            <a:ext cx="2548188" cy="334100"/>
          </a:xfrm>
          <a:prstGeom prst="rect">
            <a:avLst/>
          </a:prstGeom>
          <a:solidFill>
            <a:schemeClr val="tx2"/>
          </a:solid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a:solidFill>
                  <a:schemeClr val="bg1"/>
                </a:solidFill>
                <a:latin typeface="Arial" panose="020B0604020202020204" pitchFamily="34" charset="0"/>
                <a:cs typeface="Arial" panose="020B0604020202020204" pitchFamily="34" charset="0"/>
              </a:rPr>
              <a:t>Description on the Initiative</a:t>
            </a:r>
            <a:endParaRPr lang="en-IN" sz="1200" b="1" noProof="0">
              <a:solidFill>
                <a:schemeClr val="bg1"/>
              </a:solidFill>
              <a:latin typeface="Arial" panose="020B0604020202020204" pitchFamily="34" charset="0"/>
              <a:cs typeface="Arial" panose="020B0604020202020204" pitchFamily="34" charset="0"/>
            </a:endParaRPr>
          </a:p>
        </p:txBody>
      </p:sp>
      <p:sp>
        <p:nvSpPr>
          <p:cNvPr id="13" name="Rectangle 12">
            <a:extLst>
              <a:ext uri="{FF2B5EF4-FFF2-40B4-BE49-F238E27FC236}">
                <a16:creationId xmlns:a16="http://schemas.microsoft.com/office/drawing/2014/main" id="{FC0520CF-B19B-A802-92DF-F0CC85850ED6}"/>
              </a:ext>
            </a:extLst>
          </p:cNvPr>
          <p:cNvSpPr/>
          <p:nvPr/>
        </p:nvSpPr>
        <p:spPr bwMode="gray">
          <a:xfrm>
            <a:off x="7193603" y="1092833"/>
            <a:ext cx="2548188" cy="334100"/>
          </a:xfrm>
          <a:prstGeom prst="rect">
            <a:avLst/>
          </a:prstGeom>
          <a:solidFill>
            <a:schemeClr val="tx2"/>
          </a:solid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a:solidFill>
                  <a:schemeClr val="bg1"/>
                </a:solidFill>
                <a:latin typeface="Arial" panose="020B0604020202020204" pitchFamily="34" charset="0"/>
                <a:cs typeface="Arial" panose="020B0604020202020204" pitchFamily="34" charset="0"/>
              </a:rPr>
              <a:t>Relevance for the project</a:t>
            </a:r>
            <a:endParaRPr lang="en-IN" sz="1200" b="1" noProof="0">
              <a:solidFill>
                <a:schemeClr val="bg1"/>
              </a:solidFill>
              <a:latin typeface="Arial" panose="020B0604020202020204" pitchFamily="34" charset="0"/>
              <a:cs typeface="Arial" panose="020B0604020202020204" pitchFamily="34" charset="0"/>
            </a:endParaRPr>
          </a:p>
        </p:txBody>
      </p:sp>
      <p:sp>
        <p:nvSpPr>
          <p:cNvPr id="14" name="Rectangle 13">
            <a:extLst>
              <a:ext uri="{FF2B5EF4-FFF2-40B4-BE49-F238E27FC236}">
                <a16:creationId xmlns:a16="http://schemas.microsoft.com/office/drawing/2014/main" id="{6ED1E78D-05CE-A3B7-A9B7-51BD9E47CCF0}"/>
              </a:ext>
            </a:extLst>
          </p:cNvPr>
          <p:cNvSpPr/>
          <p:nvPr/>
        </p:nvSpPr>
        <p:spPr bwMode="gray">
          <a:xfrm>
            <a:off x="528118" y="3655309"/>
            <a:ext cx="2403680" cy="726988"/>
          </a:xfrm>
          <a:prstGeom prst="rect">
            <a:avLst/>
          </a:prstGeom>
          <a:solidFill>
            <a:schemeClr val="accent2"/>
          </a:solidFill>
          <a:ln w="19050" algn="ctr">
            <a:solidFill>
              <a:srgbClr val="43B02A"/>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noProof="0">
                <a:solidFill>
                  <a:schemeClr val="bg1"/>
                </a:solidFill>
                <a:latin typeface="Arial" panose="020B0604020202020204" pitchFamily="34" charset="0"/>
                <a:cs typeface="Arial" panose="020B0604020202020204" pitchFamily="34" charset="0"/>
              </a:rPr>
              <a:t>Directives of Cross-Border Electricity Trade</a:t>
            </a:r>
            <a:endParaRPr lang="en-IN" sz="1200" b="1" noProof="0">
              <a:solidFill>
                <a:schemeClr val="bg1"/>
              </a:solidFill>
              <a:latin typeface="Arial" panose="020B0604020202020204" pitchFamily="34" charset="0"/>
              <a:cs typeface="Arial" panose="020B0604020202020204" pitchFamily="34" charset="0"/>
            </a:endParaRPr>
          </a:p>
        </p:txBody>
      </p:sp>
      <p:sp>
        <p:nvSpPr>
          <p:cNvPr id="15" name="Rectangle 14">
            <a:extLst>
              <a:ext uri="{FF2B5EF4-FFF2-40B4-BE49-F238E27FC236}">
                <a16:creationId xmlns:a16="http://schemas.microsoft.com/office/drawing/2014/main" id="{54F1A4AE-7A04-8C78-F183-8FE9AA11976C}"/>
              </a:ext>
            </a:extLst>
          </p:cNvPr>
          <p:cNvSpPr/>
          <p:nvPr/>
        </p:nvSpPr>
        <p:spPr bwMode="gray">
          <a:xfrm>
            <a:off x="3130046" y="3661703"/>
            <a:ext cx="3559976"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Will facilitate direct international sales by licensees.</a:t>
            </a:r>
          </a:p>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Aims to unlock export potential and reduce dependency on domestic off-takers.</a:t>
            </a:r>
          </a:p>
        </p:txBody>
      </p:sp>
      <p:sp>
        <p:nvSpPr>
          <p:cNvPr id="16" name="Rectangle 15">
            <a:extLst>
              <a:ext uri="{FF2B5EF4-FFF2-40B4-BE49-F238E27FC236}">
                <a16:creationId xmlns:a16="http://schemas.microsoft.com/office/drawing/2014/main" id="{3641CA3D-1102-86F0-B59B-C2921EDA7447}"/>
              </a:ext>
            </a:extLst>
          </p:cNvPr>
          <p:cNvSpPr/>
          <p:nvPr/>
        </p:nvSpPr>
        <p:spPr bwMode="gray">
          <a:xfrm>
            <a:off x="6863237" y="3661703"/>
            <a:ext cx="3559976"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algn="just" defTabSz="889000">
              <a:lnSpc>
                <a:spcPct val="90000"/>
              </a:lnSpc>
              <a:spcBef>
                <a:spcPct val="0"/>
              </a:spcBef>
              <a:spcAft>
                <a:spcPct val="35000"/>
              </a:spcAft>
            </a:pPr>
            <a:endParaRPr lang="en-US" sz="1200">
              <a:latin typeface="Arial" panose="020B0604020202020204" pitchFamily="34" charset="0"/>
              <a:cs typeface="Arial" panose="020B0604020202020204" pitchFamily="34" charset="0"/>
            </a:endParaRPr>
          </a:p>
          <a:p>
            <a:pPr algn="just" defTabSz="889000">
              <a:lnSpc>
                <a:spcPct val="90000"/>
              </a:lnSpc>
              <a:spcBef>
                <a:spcPct val="0"/>
              </a:spcBef>
              <a:spcAft>
                <a:spcPct val="35000"/>
              </a:spcAft>
            </a:pPr>
            <a:r>
              <a:rPr lang="en-US" sz="1200">
                <a:latin typeface="Arial" panose="020B0604020202020204" pitchFamily="34" charset="0"/>
                <a:cs typeface="Arial" panose="020B0604020202020204" pitchFamily="34" charset="0"/>
              </a:rPr>
              <a:t>Direct access to regional markets, improving revenue certainty and project bankability.</a:t>
            </a:r>
            <a:endParaRPr lang="en-IN" sz="1200" kern="1200">
              <a:latin typeface="Arial" panose="020B0604020202020204" pitchFamily="34" charset="0"/>
              <a:cs typeface="Arial" panose="020B0604020202020204" pitchFamily="34" charset="0"/>
            </a:endParaRPr>
          </a:p>
          <a:p>
            <a:pPr marL="0" lvl="0" indent="0" algn="just" defTabSz="889000">
              <a:lnSpc>
                <a:spcPct val="90000"/>
              </a:lnSpc>
              <a:spcBef>
                <a:spcPct val="0"/>
              </a:spcBef>
              <a:spcAft>
                <a:spcPct val="35000"/>
              </a:spcAft>
              <a:buNone/>
            </a:pPr>
            <a:endParaRPr lang="en-IN" sz="1200" kern="1200">
              <a:latin typeface="Arial" panose="020B0604020202020204" pitchFamily="34" charset="0"/>
              <a:cs typeface="Arial" panose="020B0604020202020204" pitchFamily="34" charset="0"/>
            </a:endParaRPr>
          </a:p>
        </p:txBody>
      </p:sp>
      <p:sp>
        <p:nvSpPr>
          <p:cNvPr id="17" name="Rectangle 16">
            <a:extLst>
              <a:ext uri="{FF2B5EF4-FFF2-40B4-BE49-F238E27FC236}">
                <a16:creationId xmlns:a16="http://schemas.microsoft.com/office/drawing/2014/main" id="{FF356097-40EF-E4AB-BFD4-2F3BF6C6CDB5}"/>
              </a:ext>
            </a:extLst>
          </p:cNvPr>
          <p:cNvSpPr/>
          <p:nvPr/>
        </p:nvSpPr>
        <p:spPr bwMode="gray">
          <a:xfrm>
            <a:off x="514885" y="2679411"/>
            <a:ext cx="2403680" cy="726988"/>
          </a:xfrm>
          <a:prstGeom prst="rect">
            <a:avLst/>
          </a:prstGeom>
          <a:solidFill>
            <a:schemeClr val="accent3"/>
          </a:solidFill>
          <a:ln w="19050" algn="ctr">
            <a:solidFill>
              <a:schemeClr val="accent3"/>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noProof="0">
                <a:solidFill>
                  <a:schemeClr val="bg1"/>
                </a:solidFill>
                <a:latin typeface="Arial" panose="020B0604020202020204" pitchFamily="34" charset="0"/>
                <a:cs typeface="Arial" panose="020B0604020202020204" pitchFamily="34" charset="0"/>
              </a:rPr>
              <a:t>Directives to </a:t>
            </a:r>
            <a:r>
              <a:rPr lang="en-US" sz="1200" b="1" noProof="0" err="1">
                <a:solidFill>
                  <a:schemeClr val="bg1"/>
                </a:solidFill>
                <a:latin typeface="Arial" panose="020B0604020202020204" pitchFamily="34" charset="0"/>
                <a:cs typeface="Arial" panose="020B0604020202020204" pitchFamily="34" charset="0"/>
              </a:rPr>
              <a:t>determin</a:t>
            </a:r>
            <a:r>
              <a:rPr lang="en-US" sz="1200" b="1">
                <a:solidFill>
                  <a:schemeClr val="bg1"/>
                </a:solidFill>
                <a:latin typeface="Arial" panose="020B0604020202020204" pitchFamily="34" charset="0"/>
                <a:cs typeface="Arial" panose="020B0604020202020204" pitchFamily="34" charset="0"/>
              </a:rPr>
              <a:t>e Transmission and Distribution Wheeling Charges  </a:t>
            </a:r>
            <a:endParaRPr lang="en-IN" sz="1200" b="1" noProof="0">
              <a:solidFill>
                <a:schemeClr val="bg1"/>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9CD1D1DC-2F17-2791-4676-A6394F221A7F}"/>
              </a:ext>
            </a:extLst>
          </p:cNvPr>
          <p:cNvSpPr/>
          <p:nvPr/>
        </p:nvSpPr>
        <p:spPr bwMode="gray">
          <a:xfrm>
            <a:off x="3116813" y="2685805"/>
            <a:ext cx="3559976"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To determine wheeling charges for using the grid.</a:t>
            </a:r>
          </a:p>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This is essential for enabling open access and fair competition.</a:t>
            </a:r>
          </a:p>
        </p:txBody>
      </p:sp>
      <p:sp>
        <p:nvSpPr>
          <p:cNvPr id="19" name="Rectangle 18">
            <a:extLst>
              <a:ext uri="{FF2B5EF4-FFF2-40B4-BE49-F238E27FC236}">
                <a16:creationId xmlns:a16="http://schemas.microsoft.com/office/drawing/2014/main" id="{9BAF8190-5054-50A3-ABCD-22695F833676}"/>
              </a:ext>
            </a:extLst>
          </p:cNvPr>
          <p:cNvSpPr/>
          <p:nvPr/>
        </p:nvSpPr>
        <p:spPr bwMode="gray">
          <a:xfrm>
            <a:off x="6850004" y="2707081"/>
            <a:ext cx="3559976" cy="705711"/>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More clarity on costs for using the grid, aiding financial planning and tariff setting</a:t>
            </a:r>
          </a:p>
        </p:txBody>
      </p:sp>
      <p:sp>
        <p:nvSpPr>
          <p:cNvPr id="20" name="Rectangle 19">
            <a:extLst>
              <a:ext uri="{FF2B5EF4-FFF2-40B4-BE49-F238E27FC236}">
                <a16:creationId xmlns:a16="http://schemas.microsoft.com/office/drawing/2014/main" id="{299AA40E-0FD3-A568-279C-DEDF7274E7D3}"/>
              </a:ext>
            </a:extLst>
          </p:cNvPr>
          <p:cNvSpPr/>
          <p:nvPr/>
        </p:nvSpPr>
        <p:spPr bwMode="gray">
          <a:xfrm>
            <a:off x="501652" y="4637600"/>
            <a:ext cx="2403680" cy="726988"/>
          </a:xfrm>
          <a:prstGeom prst="rect">
            <a:avLst/>
          </a:prstGeom>
          <a:solidFill>
            <a:schemeClr val="accent1"/>
          </a:solidFill>
          <a:ln w="19050" algn="ctr">
            <a:solidFill>
              <a:schemeClr val="accent1"/>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noProof="0">
                <a:solidFill>
                  <a:schemeClr val="bg1"/>
                </a:solidFill>
                <a:latin typeface="Arial" panose="020B0604020202020204" pitchFamily="34" charset="0"/>
                <a:cs typeface="Arial" panose="020B0604020202020204" pitchFamily="34" charset="0"/>
              </a:rPr>
              <a:t>Studies on Wholesale and Retail Market Studies </a:t>
            </a:r>
            <a:endParaRPr lang="en-IN" sz="1200" b="1" noProof="0">
              <a:solidFill>
                <a:schemeClr val="bg1"/>
              </a:solidFill>
              <a:latin typeface="Arial" panose="020B0604020202020204" pitchFamily="34" charset="0"/>
              <a:cs typeface="Arial" panose="020B0604020202020204" pitchFamily="34" charset="0"/>
            </a:endParaRPr>
          </a:p>
        </p:txBody>
      </p:sp>
      <p:sp>
        <p:nvSpPr>
          <p:cNvPr id="21" name="Rectangle 20">
            <a:extLst>
              <a:ext uri="{FF2B5EF4-FFF2-40B4-BE49-F238E27FC236}">
                <a16:creationId xmlns:a16="http://schemas.microsoft.com/office/drawing/2014/main" id="{833BAE86-0E91-7AF9-FCD1-7C9CD0D89EB6}"/>
              </a:ext>
            </a:extLst>
          </p:cNvPr>
          <p:cNvSpPr/>
          <p:nvPr/>
        </p:nvSpPr>
        <p:spPr bwMode="gray">
          <a:xfrm>
            <a:off x="3103580" y="4643994"/>
            <a:ext cx="3559976"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Conducting studies on Wholesale competitive markets (e.g., power exchanges, OTC platforms)</a:t>
            </a:r>
          </a:p>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Retail competition, allowing consumers to choose suppliers </a:t>
            </a:r>
          </a:p>
        </p:txBody>
      </p:sp>
      <p:sp>
        <p:nvSpPr>
          <p:cNvPr id="22" name="Rectangle 21">
            <a:extLst>
              <a:ext uri="{FF2B5EF4-FFF2-40B4-BE49-F238E27FC236}">
                <a16:creationId xmlns:a16="http://schemas.microsoft.com/office/drawing/2014/main" id="{B52E353C-AF5C-380E-4039-13D297FE79F4}"/>
              </a:ext>
            </a:extLst>
          </p:cNvPr>
          <p:cNvSpPr/>
          <p:nvPr/>
        </p:nvSpPr>
        <p:spPr bwMode="gray">
          <a:xfrm>
            <a:off x="6836771" y="4643994"/>
            <a:ext cx="3559976"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algn="just" defTabSz="889000">
              <a:lnSpc>
                <a:spcPct val="90000"/>
              </a:lnSpc>
              <a:spcBef>
                <a:spcPct val="0"/>
              </a:spcBef>
              <a:spcAft>
                <a:spcPct val="35000"/>
              </a:spcAft>
            </a:pPr>
            <a:r>
              <a:rPr lang="en-US" sz="1200">
                <a:latin typeface="Arial" panose="020B0604020202020204" pitchFamily="34" charset="0"/>
                <a:cs typeface="Arial" panose="020B0604020202020204" pitchFamily="34" charset="0"/>
              </a:rPr>
              <a:t>In the long term, option of participating in power exchanges or sell directly to consumers, increasing flexibility and market access</a:t>
            </a:r>
            <a:endParaRPr lang="en-IN" sz="1200" kern="1200">
              <a:latin typeface="Arial" panose="020B0604020202020204" pitchFamily="34" charset="0"/>
              <a:cs typeface="Arial" panose="020B0604020202020204" pitchFamily="34" charset="0"/>
            </a:endParaRPr>
          </a:p>
        </p:txBody>
      </p:sp>
      <p:sp>
        <p:nvSpPr>
          <p:cNvPr id="23" name="Rectangle 22">
            <a:extLst>
              <a:ext uri="{FF2B5EF4-FFF2-40B4-BE49-F238E27FC236}">
                <a16:creationId xmlns:a16="http://schemas.microsoft.com/office/drawing/2014/main" id="{F9EC9FCA-9E88-0C5D-837B-59FBFBF0FC79}"/>
              </a:ext>
            </a:extLst>
          </p:cNvPr>
          <p:cNvSpPr/>
          <p:nvPr/>
        </p:nvSpPr>
        <p:spPr bwMode="gray">
          <a:xfrm>
            <a:off x="501652" y="5664748"/>
            <a:ext cx="2403680" cy="726988"/>
          </a:xfrm>
          <a:prstGeom prst="rect">
            <a:avLst/>
          </a:prstGeom>
          <a:solidFill>
            <a:srgbClr val="046A38"/>
          </a:solidFill>
          <a:ln w="19050" algn="ctr">
            <a:solidFill>
              <a:schemeClr val="accent4"/>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noProof="0">
                <a:solidFill>
                  <a:schemeClr val="bg1"/>
                </a:solidFill>
                <a:latin typeface="Arial" panose="020B0604020202020204" pitchFamily="34" charset="0"/>
                <a:cs typeface="Arial" panose="020B0604020202020204" pitchFamily="34" charset="0"/>
              </a:rPr>
              <a:t>Measuring Key </a:t>
            </a:r>
            <a:r>
              <a:rPr lang="en-US" sz="1200" b="1">
                <a:solidFill>
                  <a:schemeClr val="bg1"/>
                </a:solidFill>
                <a:latin typeface="Arial" panose="020B0604020202020204" pitchFamily="34" charset="0"/>
                <a:cs typeface="Arial" panose="020B0604020202020204" pitchFamily="34" charset="0"/>
              </a:rPr>
              <a:t>P</a:t>
            </a:r>
            <a:r>
              <a:rPr lang="en-US" sz="1200" b="1" noProof="0" err="1">
                <a:solidFill>
                  <a:schemeClr val="bg1"/>
                </a:solidFill>
                <a:latin typeface="Arial" panose="020B0604020202020204" pitchFamily="34" charset="0"/>
                <a:cs typeface="Arial" panose="020B0604020202020204" pitchFamily="34" charset="0"/>
              </a:rPr>
              <a:t>erformance</a:t>
            </a:r>
            <a:r>
              <a:rPr lang="en-US" sz="1200" b="1" noProof="0">
                <a:solidFill>
                  <a:schemeClr val="bg1"/>
                </a:solidFill>
                <a:latin typeface="Arial" panose="020B0604020202020204" pitchFamily="34" charset="0"/>
                <a:cs typeface="Arial" panose="020B0604020202020204" pitchFamily="34" charset="0"/>
              </a:rPr>
              <a:t> Indicators (KPI) of generation licensees</a:t>
            </a:r>
            <a:endParaRPr lang="en-IN" sz="1200" b="1" noProof="0">
              <a:solidFill>
                <a:schemeClr val="bg1"/>
              </a:solidFill>
              <a:latin typeface="Arial" panose="020B0604020202020204" pitchFamily="34" charset="0"/>
              <a:cs typeface="Arial" panose="020B0604020202020204" pitchFamily="34" charset="0"/>
            </a:endParaRPr>
          </a:p>
        </p:txBody>
      </p:sp>
      <p:sp>
        <p:nvSpPr>
          <p:cNvPr id="24" name="Rectangle 23">
            <a:extLst>
              <a:ext uri="{FF2B5EF4-FFF2-40B4-BE49-F238E27FC236}">
                <a16:creationId xmlns:a16="http://schemas.microsoft.com/office/drawing/2014/main" id="{397BDA54-D4B6-8CDB-200A-F7B2A2C92945}"/>
              </a:ext>
            </a:extLst>
          </p:cNvPr>
          <p:cNvSpPr/>
          <p:nvPr/>
        </p:nvSpPr>
        <p:spPr bwMode="gray">
          <a:xfrm>
            <a:off x="3103580" y="5671142"/>
            <a:ext cx="3559976"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just" defTabSz="889000">
              <a:lnSpc>
                <a:spcPct val="90000"/>
              </a:lnSpc>
              <a:spcBef>
                <a:spcPct val="0"/>
              </a:spcBef>
              <a:spcAft>
                <a:spcPct val="35000"/>
              </a:spcAft>
              <a:buNone/>
            </a:pPr>
            <a:r>
              <a:rPr lang="en-US" sz="1200">
                <a:latin typeface="Arial" panose="020B0604020202020204" pitchFamily="34" charset="0"/>
                <a:cs typeface="Arial" panose="020B0604020202020204" pitchFamily="34" charset="0"/>
              </a:rPr>
              <a:t>KPIs for measuring the performance of generation licensees and for implementing mechanisms that ties the achievement of these targets to certain discounts and prioritizations.</a:t>
            </a:r>
          </a:p>
        </p:txBody>
      </p:sp>
      <p:sp>
        <p:nvSpPr>
          <p:cNvPr id="25" name="Rectangle 24">
            <a:extLst>
              <a:ext uri="{FF2B5EF4-FFF2-40B4-BE49-F238E27FC236}">
                <a16:creationId xmlns:a16="http://schemas.microsoft.com/office/drawing/2014/main" id="{D4DA11D9-A340-A84D-672D-D2213575CE91}"/>
              </a:ext>
            </a:extLst>
          </p:cNvPr>
          <p:cNvSpPr/>
          <p:nvPr/>
        </p:nvSpPr>
        <p:spPr bwMode="gray">
          <a:xfrm>
            <a:off x="6836771" y="5671142"/>
            <a:ext cx="3559976"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algn="just" defTabSz="889000">
              <a:lnSpc>
                <a:spcPct val="90000"/>
              </a:lnSpc>
              <a:spcBef>
                <a:spcPct val="0"/>
              </a:spcBef>
              <a:spcAft>
                <a:spcPct val="35000"/>
              </a:spcAft>
            </a:pPr>
            <a:r>
              <a:rPr lang="en-US" sz="1200">
                <a:latin typeface="Arial" panose="020B0604020202020204" pitchFamily="34" charset="0"/>
                <a:cs typeface="Arial" panose="020B0604020202020204" pitchFamily="34" charset="0"/>
              </a:rPr>
              <a:t>Improving the Operational Performance parameters, performance &amp; incentives and improved financial planning </a:t>
            </a:r>
            <a:endParaRPr lang="en-IN" sz="1200" kern="1200">
              <a:latin typeface="Arial" panose="020B0604020202020204" pitchFamily="34" charset="0"/>
              <a:cs typeface="Arial" panose="020B0604020202020204" pitchFamily="34" charset="0"/>
            </a:endParaRPr>
          </a:p>
        </p:txBody>
      </p:sp>
      <p:sp>
        <p:nvSpPr>
          <p:cNvPr id="9" name="Rectangle 8">
            <a:extLst>
              <a:ext uri="{FF2B5EF4-FFF2-40B4-BE49-F238E27FC236}">
                <a16:creationId xmlns:a16="http://schemas.microsoft.com/office/drawing/2014/main" id="{9E46BBA3-D93E-2DA7-72C1-07ACAC9521BA}"/>
              </a:ext>
            </a:extLst>
          </p:cNvPr>
          <p:cNvSpPr/>
          <p:nvPr/>
        </p:nvSpPr>
        <p:spPr bwMode="gray">
          <a:xfrm>
            <a:off x="10647679" y="1146106"/>
            <a:ext cx="1335419" cy="239912"/>
          </a:xfrm>
          <a:prstGeom prst="rect">
            <a:avLst/>
          </a:prstGeom>
          <a:solidFill>
            <a:schemeClr val="tx2"/>
          </a:solid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r>
              <a:rPr lang="en-IN" sz="1200" b="1" noProof="0">
                <a:solidFill>
                  <a:schemeClr val="bg1"/>
                </a:solidFill>
                <a:latin typeface="Arial" panose="020B0604020202020204" pitchFamily="34" charset="0"/>
                <a:cs typeface="Arial" panose="020B0604020202020204" pitchFamily="34" charset="0"/>
              </a:rPr>
              <a:t>Current Status</a:t>
            </a:r>
          </a:p>
        </p:txBody>
      </p:sp>
      <p:sp>
        <p:nvSpPr>
          <p:cNvPr id="26" name="Rectangle 25">
            <a:extLst>
              <a:ext uri="{FF2B5EF4-FFF2-40B4-BE49-F238E27FC236}">
                <a16:creationId xmlns:a16="http://schemas.microsoft.com/office/drawing/2014/main" id="{F681D46D-6AC3-4DDE-A110-A9FF38778D29}"/>
              </a:ext>
            </a:extLst>
          </p:cNvPr>
          <p:cNvSpPr/>
          <p:nvPr/>
        </p:nvSpPr>
        <p:spPr bwMode="gray">
          <a:xfrm>
            <a:off x="10647679" y="1697301"/>
            <a:ext cx="1349353"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ctr" defTabSz="889000">
              <a:lnSpc>
                <a:spcPct val="90000"/>
              </a:lnSpc>
              <a:spcBef>
                <a:spcPct val="0"/>
              </a:spcBef>
              <a:spcAft>
                <a:spcPct val="35000"/>
              </a:spcAft>
              <a:buNone/>
            </a:pPr>
            <a:r>
              <a:rPr lang="en-IN" sz="1200" kern="1200">
                <a:latin typeface="Arial" panose="020B0604020202020204" pitchFamily="34" charset="0"/>
                <a:cs typeface="Arial" panose="020B0604020202020204" pitchFamily="34" charset="0"/>
              </a:rPr>
              <a:t>Draft Directives issued for stakeholder comments</a:t>
            </a:r>
          </a:p>
        </p:txBody>
      </p:sp>
      <p:sp>
        <p:nvSpPr>
          <p:cNvPr id="27" name="Rectangle 26">
            <a:extLst>
              <a:ext uri="{FF2B5EF4-FFF2-40B4-BE49-F238E27FC236}">
                <a16:creationId xmlns:a16="http://schemas.microsoft.com/office/drawing/2014/main" id="{80591487-9C4B-E15E-CF07-012DCED30E23}"/>
              </a:ext>
            </a:extLst>
          </p:cNvPr>
          <p:cNvSpPr/>
          <p:nvPr/>
        </p:nvSpPr>
        <p:spPr bwMode="gray">
          <a:xfrm>
            <a:off x="10647679" y="2747823"/>
            <a:ext cx="1349353"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ctr" defTabSz="889000">
              <a:lnSpc>
                <a:spcPct val="90000"/>
              </a:lnSpc>
              <a:spcBef>
                <a:spcPct val="0"/>
              </a:spcBef>
              <a:spcAft>
                <a:spcPct val="35000"/>
              </a:spcAft>
              <a:buNone/>
            </a:pPr>
            <a:r>
              <a:rPr lang="en-IN" sz="1200" kern="1200">
                <a:latin typeface="Arial" panose="020B0604020202020204" pitchFamily="34" charset="0"/>
                <a:cs typeface="Arial" panose="020B0604020202020204" pitchFamily="34" charset="0"/>
              </a:rPr>
              <a:t>Under preparation</a:t>
            </a:r>
          </a:p>
        </p:txBody>
      </p:sp>
      <p:sp>
        <p:nvSpPr>
          <p:cNvPr id="28" name="Rectangle 27">
            <a:extLst>
              <a:ext uri="{FF2B5EF4-FFF2-40B4-BE49-F238E27FC236}">
                <a16:creationId xmlns:a16="http://schemas.microsoft.com/office/drawing/2014/main" id="{A8B134E9-84C0-25B7-6A93-784B2DCA9716}"/>
              </a:ext>
            </a:extLst>
          </p:cNvPr>
          <p:cNvSpPr/>
          <p:nvPr/>
        </p:nvSpPr>
        <p:spPr bwMode="gray">
          <a:xfrm>
            <a:off x="10675969" y="3706724"/>
            <a:ext cx="1349353"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ctr" defTabSz="889000">
              <a:lnSpc>
                <a:spcPct val="90000"/>
              </a:lnSpc>
              <a:spcBef>
                <a:spcPct val="0"/>
              </a:spcBef>
              <a:spcAft>
                <a:spcPct val="35000"/>
              </a:spcAft>
              <a:buNone/>
            </a:pPr>
            <a:r>
              <a:rPr lang="en-IN" sz="1200" kern="1200">
                <a:latin typeface="Arial" panose="020B0604020202020204" pitchFamily="34" charset="0"/>
                <a:cs typeface="Arial" panose="020B0604020202020204" pitchFamily="34" charset="0"/>
              </a:rPr>
              <a:t>Under preparation</a:t>
            </a:r>
          </a:p>
        </p:txBody>
      </p:sp>
      <p:sp>
        <p:nvSpPr>
          <p:cNvPr id="29" name="Rectangle 28">
            <a:extLst>
              <a:ext uri="{FF2B5EF4-FFF2-40B4-BE49-F238E27FC236}">
                <a16:creationId xmlns:a16="http://schemas.microsoft.com/office/drawing/2014/main" id="{FCEDFBF6-AFE6-4D98-D384-C302209F61B8}"/>
              </a:ext>
            </a:extLst>
          </p:cNvPr>
          <p:cNvSpPr/>
          <p:nvPr/>
        </p:nvSpPr>
        <p:spPr bwMode="gray">
          <a:xfrm>
            <a:off x="10675969" y="4757246"/>
            <a:ext cx="1349353"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ctr" defTabSz="889000">
              <a:lnSpc>
                <a:spcPct val="90000"/>
              </a:lnSpc>
              <a:spcBef>
                <a:spcPct val="0"/>
              </a:spcBef>
              <a:spcAft>
                <a:spcPct val="35000"/>
              </a:spcAft>
              <a:buNone/>
            </a:pPr>
            <a:r>
              <a:rPr lang="en-IN" sz="1200" kern="1200">
                <a:latin typeface="Arial" panose="020B0604020202020204" pitchFamily="34" charset="0"/>
                <a:cs typeface="Arial" panose="020B0604020202020204" pitchFamily="34" charset="0"/>
              </a:rPr>
              <a:t>Planning phase</a:t>
            </a:r>
          </a:p>
        </p:txBody>
      </p:sp>
      <p:sp>
        <p:nvSpPr>
          <p:cNvPr id="30" name="Rectangle 29">
            <a:extLst>
              <a:ext uri="{FF2B5EF4-FFF2-40B4-BE49-F238E27FC236}">
                <a16:creationId xmlns:a16="http://schemas.microsoft.com/office/drawing/2014/main" id="{B5A80F54-662C-93BF-1DDD-22490045DF15}"/>
              </a:ext>
            </a:extLst>
          </p:cNvPr>
          <p:cNvSpPr/>
          <p:nvPr/>
        </p:nvSpPr>
        <p:spPr bwMode="gray">
          <a:xfrm>
            <a:off x="10647679" y="5671142"/>
            <a:ext cx="1349353" cy="726988"/>
          </a:xfrm>
          <a:prstGeom prst="rect">
            <a:avLst/>
          </a:prstGeom>
          <a:solidFill>
            <a:schemeClr val="bg1">
              <a:lumMod val="95000"/>
            </a:schemeClr>
          </a:solidFill>
          <a:ln w="19050" algn="ctr">
            <a:solidFill>
              <a:schemeClr val="bg1">
                <a:lumMod val="95000"/>
              </a:schemeClr>
            </a:solidFill>
            <a:miter lim="800000"/>
            <a:headEnd/>
            <a:tailEnd/>
          </a:ln>
        </p:spPr>
        <p:txBody>
          <a:bodyPr wrap="square" lIns="88900" tIns="88900" rIns="88900" bIns="88900" rtlCol="0" anchor="ctr"/>
          <a:lstStyle/>
          <a:p>
            <a:pPr marL="0" lvl="0" indent="0" algn="ctr" defTabSz="889000">
              <a:lnSpc>
                <a:spcPct val="90000"/>
              </a:lnSpc>
              <a:spcBef>
                <a:spcPct val="0"/>
              </a:spcBef>
              <a:spcAft>
                <a:spcPct val="35000"/>
              </a:spcAft>
              <a:buNone/>
            </a:pPr>
            <a:r>
              <a:rPr lang="en-IN" sz="1200" kern="1200">
                <a:latin typeface="Arial" panose="020B0604020202020204" pitchFamily="34" charset="0"/>
                <a:cs typeface="Arial" panose="020B0604020202020204" pitchFamily="34" charset="0"/>
              </a:rPr>
              <a:t>Planning phase</a:t>
            </a:r>
          </a:p>
        </p:txBody>
      </p:sp>
    </p:spTree>
    <p:extLst>
      <p:ext uri="{BB962C8B-B14F-4D97-AF65-F5344CB8AC3E}">
        <p14:creationId xmlns:p14="http://schemas.microsoft.com/office/powerpoint/2010/main" val="1040626728"/>
      </p:ext>
    </p:extLst>
  </p:cSld>
  <p:clrMapOvr>
    <a:masterClrMapping/>
  </p:clrMapOvr>
  <p:transition>
    <p:fade/>
  </p:transition>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accent4">
            <a:lumMod val="50000"/>
          </a:schemeClr>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2677092483"/>
              </p:ext>
            </p:extLst>
          </p:nvPr>
        </p:nvGraphicFramePr>
        <p:xfrm>
          <a:off x="2189682" y="2951947"/>
          <a:ext cx="8509002" cy="954106"/>
        </p:xfrm>
        <a:graphic>
          <a:graphicData uri="http://schemas.openxmlformats.org/drawingml/2006/table">
            <a:tbl>
              <a:tblPr firstRow="1" bandRow="1">
                <a:tableStyleId>{5C22544A-7EE6-4342-B048-85BDC9FD1C3A}</a:tableStyleId>
              </a:tblPr>
              <a:tblGrid>
                <a:gridCol w="3164033">
                  <a:extLst>
                    <a:ext uri="{9D8B030D-6E8A-4147-A177-3AD203B41FA5}">
                      <a16:colId xmlns:a16="http://schemas.microsoft.com/office/drawing/2014/main" val="2744717436"/>
                    </a:ext>
                  </a:extLst>
                </a:gridCol>
                <a:gridCol w="5344969">
                  <a:extLst>
                    <a:ext uri="{9D8B030D-6E8A-4147-A177-3AD203B41FA5}">
                      <a16:colId xmlns:a16="http://schemas.microsoft.com/office/drawing/2014/main" val="570884867"/>
                    </a:ext>
                  </a:extLst>
                </a:gridCol>
              </a:tblGrid>
              <a:tr h="954106">
                <a:tc>
                  <a:txBody>
                    <a:bodyPr/>
                    <a:lstStyle/>
                    <a:p>
                      <a:r>
                        <a:rPr lang="en-US" sz="3600">
                          <a:latin typeface="Arial" panose="020B0604020202020204" pitchFamily="34" charset="0"/>
                          <a:cs typeface="Arial" panose="020B0604020202020204" pitchFamily="34" charset="0"/>
                        </a:rPr>
                        <a:t>CHAPTER 4</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398463" indent="0"/>
                      <a:r>
                        <a:rPr lang="en-US" sz="2400">
                          <a:latin typeface="Arial" panose="020B0604020202020204" pitchFamily="34" charset="0"/>
                          <a:cs typeface="Arial" panose="020B0604020202020204" pitchFamily="34" charset="0"/>
                        </a:rPr>
                        <a:t>INDIA POWER MARKET ASSESSMENT</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165949121"/>
      </p:ext>
    </p:extLst>
  </p:cSld>
  <p:clrMapOvr>
    <a:masterClrMapping/>
  </p:clrMapOvr>
  <p:transition>
    <p:fade/>
  </p:transition>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4152241333"/>
              </p:ext>
            </p:extLst>
          </p:nvPr>
        </p:nvGraphicFramePr>
        <p:xfrm>
          <a:off x="1673719" y="2761586"/>
          <a:ext cx="9206802" cy="1334828"/>
        </p:xfrm>
        <a:graphic>
          <a:graphicData uri="http://schemas.openxmlformats.org/drawingml/2006/table">
            <a:tbl>
              <a:tblPr firstRow="1" bandRow="1">
                <a:tableStyleId>{5C22544A-7EE6-4342-B048-85BDC9FD1C3A}</a:tableStyleId>
              </a:tblPr>
              <a:tblGrid>
                <a:gridCol w="2923681">
                  <a:extLst>
                    <a:ext uri="{9D8B030D-6E8A-4147-A177-3AD203B41FA5}">
                      <a16:colId xmlns:a16="http://schemas.microsoft.com/office/drawing/2014/main" val="2744717436"/>
                    </a:ext>
                  </a:extLst>
                </a:gridCol>
                <a:gridCol w="6283121">
                  <a:extLst>
                    <a:ext uri="{9D8B030D-6E8A-4147-A177-3AD203B41FA5}">
                      <a16:colId xmlns:a16="http://schemas.microsoft.com/office/drawing/2014/main" val="570884867"/>
                    </a:ext>
                  </a:extLst>
                </a:gridCol>
              </a:tblGrid>
              <a:tr h="1334828">
                <a:tc>
                  <a:txBody>
                    <a:bodyPr/>
                    <a:lstStyle/>
                    <a:p>
                      <a:r>
                        <a:rPr lang="en-US" sz="3600">
                          <a:latin typeface="Arial" panose="020B0604020202020204" pitchFamily="34" charset="0"/>
                          <a:cs typeface="Arial" panose="020B0604020202020204" pitchFamily="34" charset="0"/>
                        </a:rPr>
                        <a:t>4.1</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r>
                        <a:rPr lang="en-US" sz="2400">
                          <a:latin typeface="Arial" panose="020B0604020202020204" pitchFamily="34" charset="0"/>
                          <a:cs typeface="Arial" panose="020B0604020202020204" pitchFamily="34" charset="0"/>
                        </a:rPr>
                        <a:t>ELECTRICITY TRADING MARKET AND THE UNDERLYING REGULATORY AND POLICY LANDSCAPE</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3695771366"/>
      </p:ext>
    </p:extLst>
  </p:cSld>
  <p:clrMapOvr>
    <a:masterClrMapping/>
  </p:clrMapOvr>
  <p:transition>
    <p:fade/>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14473130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2000" b="1">
                <a:latin typeface="Arial" panose="020B0604020202020204" pitchFamily="34" charset="0"/>
                <a:cs typeface="Arial" panose="020B0604020202020204" pitchFamily="34" charset="0"/>
              </a:rPr>
              <a:t>Electricity sector in India | Overview of capacity additions and generation mix trends</a:t>
            </a:r>
            <a:endParaRPr lang="en-US" sz="2400" b="1">
              <a:latin typeface="Arial" panose="020B0604020202020204" pitchFamily="34" charset="0"/>
              <a:cs typeface="Arial" panose="020B0604020202020204" pitchFamily="34" charset="0"/>
            </a:endParaRPr>
          </a:p>
        </p:txBody>
      </p:sp>
      <p:sp>
        <p:nvSpPr>
          <p:cNvPr id="2" name="Text Placeholder 1"/>
          <p:cNvSpPr>
            <a:spLocks noGrp="1"/>
          </p:cNvSpPr>
          <p:nvPr>
            <p:ph type="body" sz="quarter" idx="13"/>
          </p:nvPr>
        </p:nvSpPr>
        <p:spPr>
          <a:xfrm>
            <a:off x="514884" y="638165"/>
            <a:ext cx="11121870" cy="251014"/>
          </a:xfrm>
          <a:solidFill>
            <a:schemeClr val="bg1"/>
          </a:solidFill>
        </p:spPr>
        <p:txBody>
          <a:bodyPr/>
          <a:lstStyle/>
          <a:p>
            <a:pPr rtl="0"/>
            <a:r>
              <a:rPr lang="en-US" sz="1400" b="0" i="0" u="none" strike="noStrike" kern="1200" baseline="0">
                <a:solidFill>
                  <a:srgbClr val="575757"/>
                </a:solidFill>
                <a:latin typeface="Arial" panose="020B0604020202020204" pitchFamily="34" charset="0"/>
                <a:cs typeface="Arial" panose="020B0604020202020204" pitchFamily="34" charset="0"/>
              </a:rPr>
              <a:t>89 GW of non-fossil power generation capacity was added in the last five years vis-a-vis 16 GW of coal-based capacity</a:t>
            </a:r>
          </a:p>
        </p:txBody>
      </p:sp>
      <p:sp>
        <p:nvSpPr>
          <p:cNvPr id="12" name="TextBox 11">
            <a:extLst>
              <a:ext uri="{FF2B5EF4-FFF2-40B4-BE49-F238E27FC236}">
                <a16:creationId xmlns:a16="http://schemas.microsoft.com/office/drawing/2014/main" id="{5567C519-2DE6-2FDE-F221-D16F8983C59F}"/>
              </a:ext>
            </a:extLst>
          </p:cNvPr>
          <p:cNvSpPr txBox="1"/>
          <p:nvPr/>
        </p:nvSpPr>
        <p:spPr>
          <a:xfrm>
            <a:off x="501651" y="6615033"/>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B5CF450B-10ED-DDB5-70D8-EF83C4E02E72}"/>
              </a:ext>
            </a:extLst>
          </p:cNvPr>
          <p:cNvSpPr txBox="1"/>
          <p:nvPr/>
        </p:nvSpPr>
        <p:spPr>
          <a:xfrm>
            <a:off x="501651" y="1072024"/>
            <a:ext cx="3584757" cy="461665"/>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300" b="0"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sz="1200" b="1"/>
              <a:t>Electricity generation installed capacity (India)</a:t>
            </a:r>
          </a:p>
          <a:p>
            <a:r>
              <a:rPr lang="en-US" sz="1200"/>
              <a:t>FY20-25, GW</a:t>
            </a:r>
          </a:p>
        </p:txBody>
      </p:sp>
      <p:sp>
        <p:nvSpPr>
          <p:cNvPr id="26" name="Freeform 607">
            <a:extLst>
              <a:ext uri="{FF2B5EF4-FFF2-40B4-BE49-F238E27FC236}">
                <a16:creationId xmlns:a16="http://schemas.microsoft.com/office/drawing/2014/main" id="{60210F7E-008E-7AB5-DAA5-ED0EE37B13DE}"/>
              </a:ext>
            </a:extLst>
          </p:cNvPr>
          <p:cNvSpPr>
            <a:spLocks noChangeAspect="1" noEditPoints="1"/>
          </p:cNvSpPr>
          <p:nvPr/>
        </p:nvSpPr>
        <p:spPr bwMode="auto">
          <a:xfrm>
            <a:off x="817806" y="4243770"/>
            <a:ext cx="379214" cy="379214"/>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 name="T20" fmla="*/ 405 w 512"/>
              <a:gd name="T21" fmla="*/ 170 h 512"/>
              <a:gd name="T22" fmla="*/ 106 w 512"/>
              <a:gd name="T23" fmla="*/ 170 h 512"/>
              <a:gd name="T24" fmla="*/ 96 w 512"/>
              <a:gd name="T25" fmla="*/ 160 h 512"/>
              <a:gd name="T26" fmla="*/ 106 w 512"/>
              <a:gd name="T27" fmla="*/ 149 h 512"/>
              <a:gd name="T28" fmla="*/ 405 w 512"/>
              <a:gd name="T29" fmla="*/ 149 h 512"/>
              <a:gd name="T30" fmla="*/ 416 w 512"/>
              <a:gd name="T31" fmla="*/ 160 h 512"/>
              <a:gd name="T32" fmla="*/ 405 w 512"/>
              <a:gd name="T33" fmla="*/ 170 h 512"/>
              <a:gd name="T34" fmla="*/ 416 w 512"/>
              <a:gd name="T35" fmla="*/ 224 h 512"/>
              <a:gd name="T36" fmla="*/ 405 w 512"/>
              <a:gd name="T37" fmla="*/ 213 h 512"/>
              <a:gd name="T38" fmla="*/ 106 w 512"/>
              <a:gd name="T39" fmla="*/ 213 h 512"/>
              <a:gd name="T40" fmla="*/ 96 w 512"/>
              <a:gd name="T41" fmla="*/ 224 h 512"/>
              <a:gd name="T42" fmla="*/ 106 w 512"/>
              <a:gd name="T43" fmla="*/ 234 h 512"/>
              <a:gd name="T44" fmla="*/ 405 w 512"/>
              <a:gd name="T45" fmla="*/ 234 h 512"/>
              <a:gd name="T46" fmla="*/ 416 w 512"/>
              <a:gd name="T47" fmla="*/ 224 h 512"/>
              <a:gd name="T48" fmla="*/ 416 w 512"/>
              <a:gd name="T49" fmla="*/ 288 h 512"/>
              <a:gd name="T50" fmla="*/ 405 w 512"/>
              <a:gd name="T51" fmla="*/ 277 h 512"/>
              <a:gd name="T52" fmla="*/ 106 w 512"/>
              <a:gd name="T53" fmla="*/ 277 h 512"/>
              <a:gd name="T54" fmla="*/ 96 w 512"/>
              <a:gd name="T55" fmla="*/ 288 h 512"/>
              <a:gd name="T56" fmla="*/ 106 w 512"/>
              <a:gd name="T57" fmla="*/ 298 h 512"/>
              <a:gd name="T58" fmla="*/ 405 w 512"/>
              <a:gd name="T59" fmla="*/ 298 h 512"/>
              <a:gd name="T60" fmla="*/ 416 w 512"/>
              <a:gd name="T61" fmla="*/ 288 h 512"/>
              <a:gd name="T62" fmla="*/ 416 w 512"/>
              <a:gd name="T63" fmla="*/ 352 h 512"/>
              <a:gd name="T64" fmla="*/ 405 w 512"/>
              <a:gd name="T65" fmla="*/ 341 h 512"/>
              <a:gd name="T66" fmla="*/ 106 w 512"/>
              <a:gd name="T67" fmla="*/ 341 h 512"/>
              <a:gd name="T68" fmla="*/ 96 w 512"/>
              <a:gd name="T69" fmla="*/ 352 h 512"/>
              <a:gd name="T70" fmla="*/ 106 w 512"/>
              <a:gd name="T71" fmla="*/ 362 h 512"/>
              <a:gd name="T72" fmla="*/ 405 w 512"/>
              <a:gd name="T73" fmla="*/ 362 h 512"/>
              <a:gd name="T74" fmla="*/ 416 w 512"/>
              <a:gd name="T75" fmla="*/ 35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170"/>
                </a:moveTo>
                <a:cubicBezTo>
                  <a:pt x="106" y="170"/>
                  <a:pt x="106" y="170"/>
                  <a:pt x="106" y="170"/>
                </a:cubicBezTo>
                <a:cubicBezTo>
                  <a:pt x="100" y="170"/>
                  <a:pt x="96" y="166"/>
                  <a:pt x="96" y="160"/>
                </a:cubicBezTo>
                <a:cubicBezTo>
                  <a:pt x="96" y="154"/>
                  <a:pt x="100" y="149"/>
                  <a:pt x="106" y="149"/>
                </a:cubicBezTo>
                <a:cubicBezTo>
                  <a:pt x="405" y="149"/>
                  <a:pt x="405" y="149"/>
                  <a:pt x="405" y="149"/>
                </a:cubicBezTo>
                <a:cubicBezTo>
                  <a:pt x="411" y="149"/>
                  <a:pt x="416" y="154"/>
                  <a:pt x="416" y="160"/>
                </a:cubicBezTo>
                <a:cubicBezTo>
                  <a:pt x="416" y="166"/>
                  <a:pt x="411" y="170"/>
                  <a:pt x="405" y="170"/>
                </a:cubicBezTo>
                <a:close/>
                <a:moveTo>
                  <a:pt x="416" y="224"/>
                </a:moveTo>
                <a:cubicBezTo>
                  <a:pt x="416" y="218"/>
                  <a:pt x="411" y="213"/>
                  <a:pt x="405" y="213"/>
                </a:cubicBezTo>
                <a:cubicBezTo>
                  <a:pt x="106" y="213"/>
                  <a:pt x="106" y="213"/>
                  <a:pt x="106" y="213"/>
                </a:cubicBezTo>
                <a:cubicBezTo>
                  <a:pt x="100" y="213"/>
                  <a:pt x="96" y="218"/>
                  <a:pt x="96" y="224"/>
                </a:cubicBezTo>
                <a:cubicBezTo>
                  <a:pt x="96" y="230"/>
                  <a:pt x="100" y="234"/>
                  <a:pt x="106" y="234"/>
                </a:cubicBezTo>
                <a:cubicBezTo>
                  <a:pt x="405" y="234"/>
                  <a:pt x="405" y="234"/>
                  <a:pt x="405" y="234"/>
                </a:cubicBezTo>
                <a:cubicBezTo>
                  <a:pt x="411" y="234"/>
                  <a:pt x="416" y="230"/>
                  <a:pt x="416" y="224"/>
                </a:cubicBezTo>
                <a:close/>
                <a:moveTo>
                  <a:pt x="416" y="288"/>
                </a:moveTo>
                <a:cubicBezTo>
                  <a:pt x="416" y="282"/>
                  <a:pt x="411" y="277"/>
                  <a:pt x="405" y="277"/>
                </a:cubicBezTo>
                <a:cubicBezTo>
                  <a:pt x="106" y="277"/>
                  <a:pt x="106" y="277"/>
                  <a:pt x="106" y="277"/>
                </a:cubicBezTo>
                <a:cubicBezTo>
                  <a:pt x="100" y="277"/>
                  <a:pt x="96" y="282"/>
                  <a:pt x="96" y="288"/>
                </a:cubicBezTo>
                <a:cubicBezTo>
                  <a:pt x="96" y="294"/>
                  <a:pt x="100" y="298"/>
                  <a:pt x="106" y="298"/>
                </a:cubicBezTo>
                <a:cubicBezTo>
                  <a:pt x="405" y="298"/>
                  <a:pt x="405" y="298"/>
                  <a:pt x="405" y="298"/>
                </a:cubicBezTo>
                <a:cubicBezTo>
                  <a:pt x="411" y="298"/>
                  <a:pt x="416" y="294"/>
                  <a:pt x="416" y="288"/>
                </a:cubicBezTo>
                <a:close/>
                <a:moveTo>
                  <a:pt x="416" y="352"/>
                </a:moveTo>
                <a:cubicBezTo>
                  <a:pt x="416" y="346"/>
                  <a:pt x="411" y="341"/>
                  <a:pt x="405" y="341"/>
                </a:cubicBezTo>
                <a:cubicBezTo>
                  <a:pt x="106" y="341"/>
                  <a:pt x="106" y="341"/>
                  <a:pt x="106" y="341"/>
                </a:cubicBezTo>
                <a:cubicBezTo>
                  <a:pt x="100" y="341"/>
                  <a:pt x="96" y="346"/>
                  <a:pt x="96" y="352"/>
                </a:cubicBezTo>
                <a:cubicBezTo>
                  <a:pt x="96" y="358"/>
                  <a:pt x="100" y="362"/>
                  <a:pt x="106" y="362"/>
                </a:cubicBezTo>
                <a:cubicBezTo>
                  <a:pt x="405" y="362"/>
                  <a:pt x="405" y="362"/>
                  <a:pt x="405" y="362"/>
                </a:cubicBezTo>
                <a:cubicBezTo>
                  <a:pt x="411" y="362"/>
                  <a:pt x="416" y="358"/>
                  <a:pt x="416" y="352"/>
                </a:cubicBezTo>
                <a:close/>
              </a:path>
            </a:pathLst>
          </a:custGeom>
          <a:solidFill>
            <a:srgbClr val="FFFFFF"/>
          </a:solidFill>
          <a:ln>
            <a:noFill/>
          </a:ln>
        </p:spPr>
        <p:txBody>
          <a:bodyPr vert="horz" wrap="square" lIns="74295" tIns="37148" rIns="74295" bIns="3714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sz="1463">
              <a:latin typeface="+mj-lt"/>
              <a:ea typeface="华文细黑" panose="02010600040101010101" pitchFamily="2" charset="-122"/>
            </a:endParaRPr>
          </a:p>
        </p:txBody>
      </p:sp>
      <p:pic>
        <p:nvPicPr>
          <p:cNvPr id="27" name="Graphic 26" descr="Solar Panels with solid fill">
            <a:extLst>
              <a:ext uri="{FF2B5EF4-FFF2-40B4-BE49-F238E27FC236}">
                <a16:creationId xmlns:a16="http://schemas.microsoft.com/office/drawing/2014/main" id="{9F046A70-D9F4-6A20-C3AF-E672986823B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16977" y="4705234"/>
            <a:ext cx="379214" cy="379214"/>
          </a:xfrm>
          <a:prstGeom prst="rect">
            <a:avLst/>
          </a:prstGeom>
        </p:spPr>
      </p:pic>
      <p:graphicFrame>
        <p:nvGraphicFramePr>
          <p:cNvPr id="28" name="Chart 27">
            <a:extLst>
              <a:ext uri="{FF2B5EF4-FFF2-40B4-BE49-F238E27FC236}">
                <a16:creationId xmlns:a16="http://schemas.microsoft.com/office/drawing/2014/main" id="{E18DDC90-5015-0402-018C-451194E5B882}"/>
              </a:ext>
            </a:extLst>
          </p:cNvPr>
          <p:cNvGraphicFramePr/>
          <p:nvPr>
            <p:extLst>
              <p:ext uri="{D42A27DB-BD31-4B8C-83A1-F6EECF244321}">
                <p14:modId xmlns:p14="http://schemas.microsoft.com/office/powerpoint/2010/main" val="628729460"/>
              </p:ext>
            </p:extLst>
          </p:nvPr>
        </p:nvGraphicFramePr>
        <p:xfrm>
          <a:off x="501651" y="1681503"/>
          <a:ext cx="3609790" cy="2024987"/>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29" name="Table 28">
            <a:extLst>
              <a:ext uri="{FF2B5EF4-FFF2-40B4-BE49-F238E27FC236}">
                <a16:creationId xmlns:a16="http://schemas.microsoft.com/office/drawing/2014/main" id="{66D2AF17-9540-C0CF-1D71-38D4E3B06329}"/>
              </a:ext>
            </a:extLst>
          </p:cNvPr>
          <p:cNvGraphicFramePr>
            <a:graphicFrameLocks noGrp="1"/>
          </p:cNvGraphicFramePr>
          <p:nvPr>
            <p:extLst>
              <p:ext uri="{D42A27DB-BD31-4B8C-83A1-F6EECF244321}">
                <p14:modId xmlns:p14="http://schemas.microsoft.com/office/powerpoint/2010/main" val="4017365345"/>
              </p:ext>
            </p:extLst>
          </p:nvPr>
        </p:nvGraphicFramePr>
        <p:xfrm>
          <a:off x="4301943" y="1681503"/>
          <a:ext cx="3584757" cy="1631745"/>
        </p:xfrm>
        <a:graphic>
          <a:graphicData uri="http://schemas.openxmlformats.org/drawingml/2006/table">
            <a:tbl>
              <a:tblPr firstRow="1">
                <a:tableStyleId>{7DF18680-E054-41AD-8BC1-D1AEF772440D}</a:tableStyleId>
              </a:tblPr>
              <a:tblGrid>
                <a:gridCol w="1171926">
                  <a:extLst>
                    <a:ext uri="{9D8B030D-6E8A-4147-A177-3AD203B41FA5}">
                      <a16:colId xmlns:a16="http://schemas.microsoft.com/office/drawing/2014/main" val="3761897127"/>
                    </a:ext>
                  </a:extLst>
                </a:gridCol>
                <a:gridCol w="804277">
                  <a:extLst>
                    <a:ext uri="{9D8B030D-6E8A-4147-A177-3AD203B41FA5}">
                      <a16:colId xmlns:a16="http://schemas.microsoft.com/office/drawing/2014/main" val="85882756"/>
                    </a:ext>
                  </a:extLst>
                </a:gridCol>
                <a:gridCol w="804277">
                  <a:extLst>
                    <a:ext uri="{9D8B030D-6E8A-4147-A177-3AD203B41FA5}">
                      <a16:colId xmlns:a16="http://schemas.microsoft.com/office/drawing/2014/main" val="1057220027"/>
                    </a:ext>
                  </a:extLst>
                </a:gridCol>
                <a:gridCol w="804277">
                  <a:extLst>
                    <a:ext uri="{9D8B030D-6E8A-4147-A177-3AD203B41FA5}">
                      <a16:colId xmlns:a16="http://schemas.microsoft.com/office/drawing/2014/main" val="4128941401"/>
                    </a:ext>
                  </a:extLst>
                </a:gridCol>
              </a:tblGrid>
              <a:tr h="291063">
                <a:tc>
                  <a:txBody>
                    <a:bodyPr/>
                    <a:lstStyle/>
                    <a:p>
                      <a:pPr algn="ctr" fontAlgn="b"/>
                      <a:r>
                        <a:rPr lang="en-US" sz="1000" b="1" u="none" strike="noStrike">
                          <a:effectLst/>
                          <a:latin typeface="Arial" panose="020B0604020202020204" pitchFamily="34" charset="0"/>
                          <a:cs typeface="Arial" panose="020B0604020202020204" pitchFamily="34" charset="0"/>
                        </a:rPr>
                        <a:t>Source</a:t>
                      </a:r>
                      <a:endParaRPr lang="en-US" sz="1000" b="1"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solidFill>
                        <a:schemeClr val="accent5"/>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tcPr>
                </a:tc>
                <a:tc>
                  <a:txBody>
                    <a:bodyPr/>
                    <a:lstStyle/>
                    <a:p>
                      <a:pPr algn="r" fontAlgn="b"/>
                      <a:r>
                        <a:rPr lang="en-US" sz="1000" b="1" u="none" strike="noStrike">
                          <a:effectLst/>
                          <a:latin typeface="Arial" panose="020B0604020202020204" pitchFamily="34" charset="0"/>
                          <a:cs typeface="Arial" panose="020B0604020202020204" pitchFamily="34" charset="0"/>
                        </a:rPr>
                        <a:t>FY20</a:t>
                      </a:r>
                      <a:endParaRPr lang="en-US" sz="1000" b="1"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tcPr>
                </a:tc>
                <a:tc>
                  <a:txBody>
                    <a:bodyPr/>
                    <a:lstStyle/>
                    <a:p>
                      <a:pPr algn="r" fontAlgn="b"/>
                      <a:r>
                        <a:rPr lang="en-US" sz="1000" b="1" u="none" strike="noStrike">
                          <a:effectLst/>
                          <a:latin typeface="Arial" panose="020B0604020202020204" pitchFamily="34" charset="0"/>
                          <a:cs typeface="Arial" panose="020B0604020202020204" pitchFamily="34" charset="0"/>
                        </a:rPr>
                        <a:t>FY25</a:t>
                      </a:r>
                      <a:endParaRPr lang="en-US" sz="1000" b="1"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tcPr>
                </a:tc>
                <a:tc>
                  <a:txBody>
                    <a:bodyPr/>
                    <a:lstStyle/>
                    <a:p>
                      <a:pPr algn="r" fontAlgn="b"/>
                      <a:r>
                        <a:rPr lang="en-US" sz="1000" b="1" u="none" strike="noStrike">
                          <a:solidFill>
                            <a:schemeClr val="bg1"/>
                          </a:solidFill>
                          <a:effectLst/>
                          <a:latin typeface="Arial" panose="020B0604020202020204" pitchFamily="34" charset="0"/>
                          <a:cs typeface="Arial" panose="020B0604020202020204" pitchFamily="34" charset="0"/>
                        </a:rPr>
                        <a:t>Net change</a:t>
                      </a:r>
                      <a:endParaRPr lang="en-US" sz="1000" b="1" i="0" u="none" strike="noStrike">
                        <a:solidFill>
                          <a:schemeClr val="bg1"/>
                        </a:solidFill>
                        <a:effectLst/>
                        <a:latin typeface="Arial" panose="020B0604020202020204" pitchFamily="34" charset="0"/>
                        <a:cs typeface="Arial" panose="020B0604020202020204" pitchFamily="34" charset="0"/>
                      </a:endParaRPr>
                    </a:p>
                  </a:txBody>
                  <a:tcPr marL="45720" marR="45720" marT="18288" marB="18288" anchor="ctr">
                    <a:lnL w="6350" cap="flat" cmpd="sng" algn="ctr">
                      <a:solidFill>
                        <a:schemeClr val="bg1"/>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tcPr>
                </a:tc>
                <a:extLst>
                  <a:ext uri="{0D108BD9-81ED-4DB2-BD59-A6C34878D82A}">
                    <a16:rowId xmlns:a16="http://schemas.microsoft.com/office/drawing/2014/main" val="3634210671"/>
                  </a:ext>
                </a:extLst>
              </a:tr>
              <a:tr h="191526">
                <a:tc>
                  <a:txBody>
                    <a:bodyPr/>
                    <a:lstStyle/>
                    <a:p>
                      <a:pPr algn="l" fontAlgn="b"/>
                      <a:r>
                        <a:rPr lang="en-US" sz="1000" u="none" strike="noStrike">
                          <a:effectLst/>
                          <a:latin typeface="Arial" panose="020B0604020202020204" pitchFamily="34" charset="0"/>
                          <a:cs typeface="Arial" panose="020B0604020202020204" pitchFamily="34" charset="0"/>
                        </a:rPr>
                        <a:t>Coal/ lignite</a:t>
                      </a:r>
                      <a:endParaRPr lang="en-US" sz="1000" b="1"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fontAlgn="b"/>
                      <a:r>
                        <a:rPr lang="en-US" sz="1000" u="none" strike="noStrike">
                          <a:effectLst/>
                          <a:latin typeface="Arial" panose="020B0604020202020204" pitchFamily="34" charset="0"/>
                          <a:cs typeface="Arial" panose="020B0604020202020204" pitchFamily="34" charset="0"/>
                        </a:rPr>
                        <a:t>994</a:t>
                      </a: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fontAlgn="b"/>
                      <a:r>
                        <a:rPr lang="en-US" sz="1000" u="none" strike="noStrike">
                          <a:effectLst/>
                          <a:latin typeface="Arial" panose="020B0604020202020204" pitchFamily="34" charset="0"/>
                          <a:cs typeface="Arial" panose="020B0604020202020204" pitchFamily="34" charset="0"/>
                        </a:rPr>
                        <a:t>1,332 </a:t>
                      </a: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rtl="0" fontAlgn="b"/>
                      <a:r>
                        <a:rPr lang="en-US" sz="1000" b="1" i="0" u="none" strike="noStrike">
                          <a:solidFill>
                            <a:srgbClr val="000000"/>
                          </a:solidFill>
                          <a:effectLst/>
                          <a:latin typeface="Arial" panose="020B0604020202020204" pitchFamily="34" charset="0"/>
                          <a:cs typeface="Arial" panose="020B0604020202020204" pitchFamily="34" charset="0"/>
                        </a:rPr>
                        <a:t>338</a:t>
                      </a:r>
                    </a:p>
                  </a:txBody>
                  <a:tcPr marL="45720" marR="45720" marT="18288" marB="18288"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extLst>
                  <a:ext uri="{0D108BD9-81ED-4DB2-BD59-A6C34878D82A}">
                    <a16:rowId xmlns:a16="http://schemas.microsoft.com/office/drawing/2014/main" val="451092942"/>
                  </a:ext>
                </a:extLst>
              </a:tr>
              <a:tr h="191526">
                <a:tc>
                  <a:txBody>
                    <a:bodyPr/>
                    <a:lstStyle/>
                    <a:p>
                      <a:pPr algn="l" fontAlgn="b"/>
                      <a:r>
                        <a:rPr lang="en-US" sz="1000" u="none" strike="noStrike">
                          <a:effectLst/>
                          <a:latin typeface="Arial" panose="020B0604020202020204" pitchFamily="34" charset="0"/>
                          <a:cs typeface="Arial" panose="020B0604020202020204" pitchFamily="34" charset="0"/>
                        </a:rPr>
                        <a:t>Natural gas</a:t>
                      </a:r>
                      <a:endParaRPr lang="en-US" sz="1000" b="1"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fontAlgn="b"/>
                      <a:r>
                        <a:rPr lang="en-US" sz="1000" u="none" strike="noStrike">
                          <a:effectLst/>
                          <a:latin typeface="Arial" panose="020B0604020202020204" pitchFamily="34" charset="0"/>
                          <a:cs typeface="Arial" panose="020B0604020202020204" pitchFamily="34" charset="0"/>
                        </a:rPr>
                        <a:t>49 </a:t>
                      </a: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fontAlgn="b"/>
                      <a:r>
                        <a:rPr lang="en-US" sz="1000" u="none" strike="noStrike">
                          <a:effectLst/>
                          <a:latin typeface="Arial" panose="020B0604020202020204" pitchFamily="34" charset="0"/>
                          <a:cs typeface="Arial" panose="020B0604020202020204" pitchFamily="34" charset="0"/>
                        </a:rPr>
                        <a:t>32 </a:t>
                      </a: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rtl="0" fontAlgn="b"/>
                      <a:r>
                        <a:rPr lang="en-US" sz="1000" b="1" i="0" u="none" strike="noStrike">
                          <a:solidFill>
                            <a:srgbClr val="000000"/>
                          </a:solidFill>
                          <a:effectLst/>
                          <a:latin typeface="Arial" panose="020B0604020202020204" pitchFamily="34" charset="0"/>
                          <a:cs typeface="Arial" panose="020B0604020202020204" pitchFamily="34" charset="0"/>
                        </a:rPr>
                        <a:t>(17)</a:t>
                      </a:r>
                    </a:p>
                  </a:txBody>
                  <a:tcPr marL="45720" marR="45720" marT="18288" marB="18288"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extLst>
                  <a:ext uri="{0D108BD9-81ED-4DB2-BD59-A6C34878D82A}">
                    <a16:rowId xmlns:a16="http://schemas.microsoft.com/office/drawing/2014/main" val="3038781872"/>
                  </a:ext>
                </a:extLst>
              </a:tr>
              <a:tr h="191526">
                <a:tc>
                  <a:txBody>
                    <a:bodyPr/>
                    <a:lstStyle/>
                    <a:p>
                      <a:pPr algn="l" fontAlgn="b"/>
                      <a:r>
                        <a:rPr lang="en-US" sz="1000" u="none" strike="noStrike">
                          <a:effectLst/>
                          <a:latin typeface="Arial" panose="020B0604020202020204" pitchFamily="34" charset="0"/>
                          <a:cs typeface="Arial" panose="020B0604020202020204" pitchFamily="34" charset="0"/>
                        </a:rPr>
                        <a:t>Nuclear</a:t>
                      </a:r>
                      <a:endParaRPr lang="en-US" sz="1000" b="1"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fontAlgn="b"/>
                      <a:r>
                        <a:rPr lang="en-US" sz="1000" u="none" strike="noStrike">
                          <a:effectLst/>
                          <a:latin typeface="Arial" panose="020B0604020202020204" pitchFamily="34" charset="0"/>
                          <a:cs typeface="Arial" panose="020B0604020202020204" pitchFamily="34" charset="0"/>
                        </a:rPr>
                        <a:t>46 </a:t>
                      </a: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fontAlgn="b"/>
                      <a:r>
                        <a:rPr lang="en-US" sz="1000" u="none" strike="noStrike">
                          <a:effectLst/>
                          <a:latin typeface="Arial" panose="020B0604020202020204" pitchFamily="34" charset="0"/>
                          <a:cs typeface="Arial" panose="020B0604020202020204" pitchFamily="34" charset="0"/>
                        </a:rPr>
                        <a:t>57 </a:t>
                      </a: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rtl="0" fontAlgn="b"/>
                      <a:r>
                        <a:rPr lang="en-US" sz="1000" b="1" i="0" u="none" strike="noStrike">
                          <a:solidFill>
                            <a:srgbClr val="000000"/>
                          </a:solidFill>
                          <a:effectLst/>
                          <a:latin typeface="Arial" panose="020B0604020202020204" pitchFamily="34" charset="0"/>
                          <a:cs typeface="Arial" panose="020B0604020202020204" pitchFamily="34" charset="0"/>
                        </a:rPr>
                        <a:t>11</a:t>
                      </a:r>
                    </a:p>
                  </a:txBody>
                  <a:tcPr marL="45720" marR="45720" marT="18288" marB="18288"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extLst>
                  <a:ext uri="{0D108BD9-81ED-4DB2-BD59-A6C34878D82A}">
                    <a16:rowId xmlns:a16="http://schemas.microsoft.com/office/drawing/2014/main" val="2662321491"/>
                  </a:ext>
                </a:extLst>
              </a:tr>
              <a:tr h="191526">
                <a:tc>
                  <a:txBody>
                    <a:bodyPr/>
                    <a:lstStyle/>
                    <a:p>
                      <a:pPr algn="l" fontAlgn="b"/>
                      <a:r>
                        <a:rPr lang="en-US" sz="1000" u="none" strike="noStrike">
                          <a:effectLst/>
                          <a:latin typeface="Arial" panose="020B0604020202020204" pitchFamily="34" charset="0"/>
                          <a:cs typeface="Arial" panose="020B0604020202020204" pitchFamily="34" charset="0"/>
                        </a:rPr>
                        <a:t>Hydro</a:t>
                      </a:r>
                      <a:endParaRPr lang="en-US" sz="1000" b="1"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fontAlgn="b"/>
                      <a:r>
                        <a:rPr lang="en-US" sz="1000" u="none" strike="noStrike">
                          <a:effectLst/>
                          <a:latin typeface="Arial" panose="020B0604020202020204" pitchFamily="34" charset="0"/>
                          <a:cs typeface="Arial" panose="020B0604020202020204" pitchFamily="34" charset="0"/>
                        </a:rPr>
                        <a:t>156 </a:t>
                      </a: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fontAlgn="b"/>
                      <a:r>
                        <a:rPr lang="en-US" sz="1000" u="none" strike="noStrike">
                          <a:effectLst/>
                          <a:latin typeface="Arial" panose="020B0604020202020204" pitchFamily="34" charset="0"/>
                          <a:cs typeface="Arial" panose="020B0604020202020204" pitchFamily="34" charset="0"/>
                        </a:rPr>
                        <a:t>149 </a:t>
                      </a: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rtl="0" fontAlgn="b"/>
                      <a:r>
                        <a:rPr lang="en-US" sz="1000" b="1" i="0" u="none" strike="noStrike">
                          <a:solidFill>
                            <a:srgbClr val="000000"/>
                          </a:solidFill>
                          <a:effectLst/>
                          <a:latin typeface="Arial" panose="020B0604020202020204" pitchFamily="34" charset="0"/>
                          <a:cs typeface="Arial" panose="020B0604020202020204" pitchFamily="34" charset="0"/>
                        </a:rPr>
                        <a:t>(7)</a:t>
                      </a:r>
                    </a:p>
                  </a:txBody>
                  <a:tcPr marL="45720" marR="45720" marT="18288" marB="18288"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extLst>
                  <a:ext uri="{0D108BD9-81ED-4DB2-BD59-A6C34878D82A}">
                    <a16:rowId xmlns:a16="http://schemas.microsoft.com/office/drawing/2014/main" val="2367442732"/>
                  </a:ext>
                </a:extLst>
              </a:tr>
              <a:tr h="191526">
                <a:tc>
                  <a:txBody>
                    <a:bodyPr/>
                    <a:lstStyle/>
                    <a:p>
                      <a:pPr algn="l" fontAlgn="b"/>
                      <a:r>
                        <a:rPr lang="en-US" sz="1000" u="none" strike="noStrike">
                          <a:effectLst/>
                          <a:latin typeface="Arial" panose="020B0604020202020204" pitchFamily="34" charset="0"/>
                          <a:cs typeface="Arial" panose="020B0604020202020204" pitchFamily="34" charset="0"/>
                        </a:rPr>
                        <a:t>Renewables</a:t>
                      </a:r>
                      <a:endParaRPr lang="en-US" sz="1000" b="1"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fontAlgn="b"/>
                      <a:r>
                        <a:rPr lang="en-US" sz="1000" u="none" strike="noStrike">
                          <a:effectLst/>
                          <a:latin typeface="Arial" panose="020B0604020202020204" pitchFamily="34" charset="0"/>
                          <a:cs typeface="Arial" panose="020B0604020202020204" pitchFamily="34" charset="0"/>
                        </a:rPr>
                        <a:t>138 </a:t>
                      </a: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fontAlgn="b"/>
                      <a:r>
                        <a:rPr lang="en-US" sz="1000" u="none" strike="noStrike">
                          <a:effectLst/>
                          <a:latin typeface="Arial" panose="020B0604020202020204" pitchFamily="34" charset="0"/>
                          <a:cs typeface="Arial" panose="020B0604020202020204" pitchFamily="34" charset="0"/>
                        </a:rPr>
                        <a:t>255 </a:t>
                      </a: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rtl="0" fontAlgn="b"/>
                      <a:r>
                        <a:rPr lang="en-US" sz="1000" b="1" i="0" u="none" strike="noStrike">
                          <a:solidFill>
                            <a:schemeClr val="accent6"/>
                          </a:solidFill>
                          <a:effectLst/>
                          <a:latin typeface="Arial" panose="020B0604020202020204" pitchFamily="34" charset="0"/>
                          <a:cs typeface="Arial" panose="020B0604020202020204" pitchFamily="34" charset="0"/>
                        </a:rPr>
                        <a:t>117</a:t>
                      </a:r>
                    </a:p>
                  </a:txBody>
                  <a:tcPr marL="45720" marR="45720" marT="18288" marB="18288"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extLst>
                  <a:ext uri="{0D108BD9-81ED-4DB2-BD59-A6C34878D82A}">
                    <a16:rowId xmlns:a16="http://schemas.microsoft.com/office/drawing/2014/main" val="3261026898"/>
                  </a:ext>
                </a:extLst>
              </a:tr>
              <a:tr h="191526">
                <a:tc>
                  <a:txBody>
                    <a:bodyPr/>
                    <a:lstStyle/>
                    <a:p>
                      <a:pPr algn="l" fontAlgn="b"/>
                      <a:r>
                        <a:rPr lang="en-US" sz="1000" b="0" i="0" u="none" strike="noStrike">
                          <a:solidFill>
                            <a:srgbClr val="000000"/>
                          </a:solidFill>
                          <a:effectLst/>
                          <a:latin typeface="Arial" panose="020B0604020202020204" pitchFamily="34" charset="0"/>
                          <a:cs typeface="Arial" panose="020B0604020202020204" pitchFamily="34" charset="0"/>
                        </a:rPr>
                        <a:t>Import</a:t>
                      </a:r>
                    </a:p>
                  </a:txBody>
                  <a:tcPr marL="45720" marR="45720" marT="18288" marB="18288"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fontAlgn="b"/>
                      <a:r>
                        <a:rPr lang="en-US" sz="1000" b="0" i="0" u="none" strike="noStrike">
                          <a:solidFill>
                            <a:srgbClr val="000000"/>
                          </a:solidFill>
                          <a:effectLst/>
                          <a:latin typeface="Arial" panose="020B0604020202020204" pitchFamily="34" charset="0"/>
                          <a:cs typeface="Arial" panose="020B0604020202020204" pitchFamily="34" charset="0"/>
                        </a:rPr>
                        <a:t>6</a:t>
                      </a: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fontAlgn="b"/>
                      <a:r>
                        <a:rPr lang="en-US" sz="1000" b="0" i="0" u="none" strike="noStrike">
                          <a:solidFill>
                            <a:srgbClr val="000000"/>
                          </a:solidFill>
                          <a:effectLst/>
                          <a:latin typeface="Arial" panose="020B0604020202020204" pitchFamily="34" charset="0"/>
                          <a:cs typeface="Arial" panose="020B0604020202020204" pitchFamily="34" charset="0"/>
                        </a:rPr>
                        <a:t>5</a:t>
                      </a: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tc>
                  <a:txBody>
                    <a:bodyPr/>
                    <a:lstStyle/>
                    <a:p>
                      <a:pPr algn="r" rtl="0" fontAlgn="b"/>
                      <a:r>
                        <a:rPr lang="en-US" sz="1000" b="1" i="0" u="none" strike="noStrike">
                          <a:solidFill>
                            <a:srgbClr val="000000"/>
                          </a:solidFill>
                          <a:effectLst/>
                          <a:latin typeface="Arial" panose="020B0604020202020204" pitchFamily="34" charset="0"/>
                          <a:cs typeface="Arial" panose="020B0604020202020204" pitchFamily="34" charset="0"/>
                        </a:rPr>
                        <a:t>(1)</a:t>
                      </a:r>
                    </a:p>
                  </a:txBody>
                  <a:tcPr marL="45720" marR="45720" marT="18288" marB="18288"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bg1"/>
                    </a:solidFill>
                  </a:tcPr>
                </a:tc>
                <a:extLst>
                  <a:ext uri="{0D108BD9-81ED-4DB2-BD59-A6C34878D82A}">
                    <a16:rowId xmlns:a16="http://schemas.microsoft.com/office/drawing/2014/main" val="3478848146"/>
                  </a:ext>
                </a:extLst>
              </a:tr>
              <a:tr h="191526">
                <a:tc>
                  <a:txBody>
                    <a:bodyPr/>
                    <a:lstStyle/>
                    <a:p>
                      <a:pPr algn="l" fontAlgn="b"/>
                      <a:r>
                        <a:rPr lang="en-US" sz="1000" b="1" u="none" strike="noStrike">
                          <a:effectLst/>
                          <a:latin typeface="Arial" panose="020B0604020202020204" pitchFamily="34" charset="0"/>
                          <a:cs typeface="Arial" panose="020B0604020202020204" pitchFamily="34" charset="0"/>
                        </a:rPr>
                        <a:t>Total</a:t>
                      </a:r>
                      <a:endParaRPr lang="en-US" sz="1000" b="1"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b"/>
                      <a:r>
                        <a:rPr lang="en-US" sz="1000" b="1" u="none" strike="noStrike">
                          <a:effectLst/>
                          <a:latin typeface="Arial" panose="020B0604020202020204" pitchFamily="34" charset="0"/>
                          <a:cs typeface="Arial" panose="020B0604020202020204" pitchFamily="34" charset="0"/>
                        </a:rPr>
                        <a:t>1,391</a:t>
                      </a:r>
                      <a:endParaRPr lang="en-US" sz="1000" b="1"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b"/>
                      <a:r>
                        <a:rPr lang="en-US" sz="1000" b="1" u="none" strike="noStrike">
                          <a:effectLst/>
                          <a:latin typeface="Arial" panose="020B0604020202020204" pitchFamily="34" charset="0"/>
                          <a:cs typeface="Arial" panose="020B0604020202020204" pitchFamily="34" charset="0"/>
                        </a:rPr>
                        <a:t>1,830 </a:t>
                      </a:r>
                      <a:endParaRPr lang="en-US" sz="1000" b="1" i="0" u="none" strike="noStrike">
                        <a:solidFill>
                          <a:srgbClr val="000000"/>
                        </a:solidFill>
                        <a:effectLst/>
                        <a:latin typeface="Arial" panose="020B0604020202020204" pitchFamily="34" charset="0"/>
                        <a:cs typeface="Arial" panose="020B0604020202020204" pitchFamily="34" charset="0"/>
                      </a:endParaRPr>
                    </a:p>
                  </a:txBody>
                  <a:tcPr marL="45720" marR="45720"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rtl="0" fontAlgn="b"/>
                      <a:r>
                        <a:rPr lang="en-US" sz="1000" b="1" i="0" u="none" strike="noStrike">
                          <a:solidFill>
                            <a:srgbClr val="000000"/>
                          </a:solidFill>
                          <a:effectLst/>
                          <a:latin typeface="Arial" panose="020B0604020202020204" pitchFamily="34" charset="0"/>
                          <a:cs typeface="Arial" panose="020B0604020202020204" pitchFamily="34" charset="0"/>
                        </a:rPr>
                        <a:t>441</a:t>
                      </a:r>
                    </a:p>
                  </a:txBody>
                  <a:tcPr marL="45720" marR="45720" marT="18288" marB="18288"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343995998"/>
                  </a:ext>
                </a:extLst>
              </a:tr>
            </a:tbl>
          </a:graphicData>
        </a:graphic>
      </p:graphicFrame>
      <p:graphicFrame>
        <p:nvGraphicFramePr>
          <p:cNvPr id="30" name="Chart 29">
            <a:extLst>
              <a:ext uri="{FF2B5EF4-FFF2-40B4-BE49-F238E27FC236}">
                <a16:creationId xmlns:a16="http://schemas.microsoft.com/office/drawing/2014/main" id="{A0346029-7201-A65C-FFBB-647FF19B2843}"/>
              </a:ext>
            </a:extLst>
          </p:cNvPr>
          <p:cNvGraphicFramePr/>
          <p:nvPr>
            <p:extLst>
              <p:ext uri="{D42A27DB-BD31-4B8C-83A1-F6EECF244321}">
                <p14:modId xmlns:p14="http://schemas.microsoft.com/office/powerpoint/2010/main" val="2743191399"/>
              </p:ext>
            </p:extLst>
          </p:nvPr>
        </p:nvGraphicFramePr>
        <p:xfrm>
          <a:off x="8077201" y="1681503"/>
          <a:ext cx="3633242" cy="2015935"/>
        </p:xfrm>
        <a:graphic>
          <a:graphicData uri="http://schemas.openxmlformats.org/drawingml/2006/chart">
            <c:chart xmlns:c="http://schemas.openxmlformats.org/drawingml/2006/chart" xmlns:r="http://schemas.openxmlformats.org/officeDocument/2006/relationships" r:id="rId9"/>
          </a:graphicData>
        </a:graphic>
      </p:graphicFrame>
      <p:sp>
        <p:nvSpPr>
          <p:cNvPr id="35" name="TextBox 34">
            <a:extLst>
              <a:ext uri="{FF2B5EF4-FFF2-40B4-BE49-F238E27FC236}">
                <a16:creationId xmlns:a16="http://schemas.microsoft.com/office/drawing/2014/main" id="{CBB7CEEF-FE8C-04C9-7146-15B59BF198C2}"/>
              </a:ext>
            </a:extLst>
          </p:cNvPr>
          <p:cNvSpPr txBox="1"/>
          <p:nvPr/>
        </p:nvSpPr>
        <p:spPr>
          <a:xfrm>
            <a:off x="4301943" y="1072024"/>
            <a:ext cx="3584757" cy="461665"/>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300" b="0"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sz="1200" b="1"/>
              <a:t>Source-wise electricity supply change</a:t>
            </a:r>
          </a:p>
          <a:p>
            <a:r>
              <a:rPr lang="en-US" sz="1200"/>
              <a:t>FY20-25, BU</a:t>
            </a:r>
          </a:p>
        </p:txBody>
      </p:sp>
      <p:sp>
        <p:nvSpPr>
          <p:cNvPr id="36" name="TextBox 35">
            <a:extLst>
              <a:ext uri="{FF2B5EF4-FFF2-40B4-BE49-F238E27FC236}">
                <a16:creationId xmlns:a16="http://schemas.microsoft.com/office/drawing/2014/main" id="{BF6FB87B-10AE-29DC-4ECE-B47211163818}"/>
              </a:ext>
            </a:extLst>
          </p:cNvPr>
          <p:cNvSpPr txBox="1"/>
          <p:nvPr/>
        </p:nvSpPr>
        <p:spPr>
          <a:xfrm>
            <a:off x="514883" y="4419514"/>
            <a:ext cx="11175467" cy="1754326"/>
          </a:xfrm>
          <a:prstGeom prst="rect">
            <a:avLst/>
          </a:prstGeom>
          <a:noFill/>
        </p:spPr>
        <p:txBody>
          <a:bodyPr wrap="square">
            <a:spAutoFit/>
          </a:bodyPr>
          <a:lstStyle/>
          <a:p>
            <a:pPr marL="139303" indent="-139303">
              <a:spcAft>
                <a:spcPts val="600"/>
              </a:spcAft>
              <a:buFont typeface="Arial" panose="020B0604020202020204" pitchFamily="34" charset="0"/>
              <a:buChar char="•"/>
            </a:pPr>
            <a:r>
              <a:rPr lang="en-US" sz="1100">
                <a:solidFill>
                  <a:srgbClr val="000000"/>
                </a:solidFill>
                <a:latin typeface="Arial" panose="020B0604020202020204" pitchFamily="34" charset="0"/>
                <a:ea typeface="Lato" pitchFamily="34" charset="0"/>
                <a:cs typeface="Arial" panose="020B0604020202020204" pitchFamily="34" charset="0"/>
              </a:rPr>
              <a:t>India has a lower </a:t>
            </a:r>
            <a:r>
              <a:rPr lang="en-US" sz="1100" b="1">
                <a:solidFill>
                  <a:srgbClr val="000000"/>
                </a:solidFill>
                <a:latin typeface="Arial" panose="020B0604020202020204" pitchFamily="34" charset="0"/>
                <a:ea typeface="Lato" pitchFamily="34" charset="0"/>
                <a:cs typeface="Arial" panose="020B0604020202020204" pitchFamily="34" charset="0"/>
              </a:rPr>
              <a:t>share of natural gas (5%) and nuclear (2%) </a:t>
            </a:r>
            <a:r>
              <a:rPr lang="en-US" sz="1100">
                <a:solidFill>
                  <a:srgbClr val="000000"/>
                </a:solidFill>
                <a:latin typeface="Arial" panose="020B0604020202020204" pitchFamily="34" charset="0"/>
                <a:ea typeface="Lato" pitchFamily="34" charset="0"/>
                <a:cs typeface="Arial" panose="020B0604020202020204" pitchFamily="34" charset="0"/>
              </a:rPr>
              <a:t>based power capacity hence, majority of the electricity requirement is met through coal. Coal-based plants supplied </a:t>
            </a:r>
            <a:r>
              <a:rPr lang="en-US" sz="1100" b="1">
                <a:solidFill>
                  <a:srgbClr val="000000"/>
                </a:solidFill>
                <a:latin typeface="Arial" panose="020B0604020202020204" pitchFamily="34" charset="0"/>
                <a:ea typeface="Lato" pitchFamily="34" charset="0"/>
                <a:cs typeface="Arial" panose="020B0604020202020204" pitchFamily="34" charset="0"/>
              </a:rPr>
              <a:t>~77% i.e., ~338 BU of incremental electricity requirement from FY20 to FY25</a:t>
            </a:r>
          </a:p>
          <a:p>
            <a:pPr marL="139303" indent="-139303">
              <a:spcAft>
                <a:spcPts val="600"/>
              </a:spcAft>
              <a:buFont typeface="Arial" panose="020B0604020202020204" pitchFamily="34" charset="0"/>
              <a:buChar char="•"/>
            </a:pPr>
            <a:r>
              <a:rPr lang="en-US" sz="1100">
                <a:solidFill>
                  <a:srgbClr val="000000"/>
                </a:solidFill>
                <a:latin typeface="Arial" panose="020B0604020202020204" pitchFamily="34" charset="0"/>
                <a:ea typeface="Lato" pitchFamily="34" charset="0"/>
                <a:cs typeface="Arial" panose="020B0604020202020204" pitchFamily="34" charset="0"/>
              </a:rPr>
              <a:t>Gas-based plants are used sparingly due to the high cost of generation on account of high-cost imported Liquified Natural Gas and the low availability of cheaper domestic gas leading to a decline in utilization of gas-based power plants in the last 5 years.</a:t>
            </a:r>
          </a:p>
          <a:p>
            <a:pPr marL="139303" indent="-139303">
              <a:spcAft>
                <a:spcPts val="600"/>
              </a:spcAft>
              <a:buFont typeface="Arial" panose="020B0604020202020204" pitchFamily="34" charset="0"/>
              <a:buChar char="•"/>
            </a:pPr>
            <a:r>
              <a:rPr lang="en-US" sz="1100">
                <a:solidFill>
                  <a:srgbClr val="000000"/>
                </a:solidFill>
                <a:latin typeface="Arial" panose="020B0604020202020204" pitchFamily="34" charset="0"/>
                <a:ea typeface="Lato" pitchFamily="34" charset="0"/>
                <a:cs typeface="Arial" panose="020B0604020202020204" pitchFamily="34" charset="0"/>
              </a:rPr>
              <a:t>Share of renewables (excluding large hydro) in total electricity generation installed capacity </a:t>
            </a:r>
            <a:r>
              <a:rPr lang="en-US" sz="1100" b="1">
                <a:solidFill>
                  <a:srgbClr val="000000"/>
                </a:solidFill>
                <a:latin typeface="Arial" panose="020B0604020202020204" pitchFamily="34" charset="0"/>
                <a:ea typeface="Lato" pitchFamily="34" charset="0"/>
                <a:cs typeface="Arial" panose="020B0604020202020204" pitchFamily="34" charset="0"/>
              </a:rPr>
              <a:t>increased from 24% in FY20 to 36% at the end of FY24</a:t>
            </a:r>
            <a:r>
              <a:rPr lang="en-US" sz="1100">
                <a:solidFill>
                  <a:srgbClr val="000000"/>
                </a:solidFill>
                <a:latin typeface="Arial" panose="020B0604020202020204" pitchFamily="34" charset="0"/>
                <a:ea typeface="Lato" pitchFamily="34" charset="0"/>
                <a:cs typeface="Arial" panose="020B0604020202020204" pitchFamily="34" charset="0"/>
              </a:rPr>
              <a:t> mainly driven by </a:t>
            </a:r>
            <a:r>
              <a:rPr lang="en-US" sz="1100" b="1">
                <a:solidFill>
                  <a:srgbClr val="000000"/>
                </a:solidFill>
                <a:latin typeface="Arial" panose="020B0604020202020204" pitchFamily="34" charset="0"/>
                <a:ea typeface="Lato" pitchFamily="34" charset="0"/>
                <a:cs typeface="Arial" panose="020B0604020202020204" pitchFamily="34" charset="0"/>
              </a:rPr>
              <a:t>70 GW of solar and 12 GW of wind utility scale capacities added</a:t>
            </a:r>
            <a:r>
              <a:rPr lang="en-US" sz="1100">
                <a:solidFill>
                  <a:srgbClr val="000000"/>
                </a:solidFill>
                <a:latin typeface="Arial" panose="020B0604020202020204" pitchFamily="34" charset="0"/>
                <a:ea typeface="Lato" pitchFamily="34" charset="0"/>
                <a:cs typeface="Arial" panose="020B0604020202020204" pitchFamily="34" charset="0"/>
              </a:rPr>
              <a:t> over the same period</a:t>
            </a:r>
          </a:p>
          <a:p>
            <a:pPr marL="139303" indent="-139303">
              <a:spcAft>
                <a:spcPts val="600"/>
              </a:spcAft>
              <a:buFont typeface="Arial" panose="020B0604020202020204" pitchFamily="34" charset="0"/>
              <a:buChar char="•"/>
            </a:pPr>
            <a:r>
              <a:rPr lang="en-US" sz="1100">
                <a:solidFill>
                  <a:srgbClr val="000000"/>
                </a:solidFill>
                <a:latin typeface="Arial" panose="020B0604020202020204" pitchFamily="34" charset="0"/>
                <a:ea typeface="Lato" pitchFamily="34" charset="0"/>
                <a:cs typeface="Arial" panose="020B0604020202020204" pitchFamily="34" charset="0"/>
              </a:rPr>
              <a:t>In addition to above, </a:t>
            </a:r>
            <a:r>
              <a:rPr lang="en-US" sz="1100" b="1">
                <a:solidFill>
                  <a:srgbClr val="000000"/>
                </a:solidFill>
                <a:latin typeface="Arial" panose="020B0604020202020204" pitchFamily="34" charset="0"/>
                <a:ea typeface="Lato" pitchFamily="34" charset="0"/>
                <a:cs typeface="Arial" panose="020B0604020202020204" pitchFamily="34" charset="0"/>
              </a:rPr>
              <a:t>~7-10 GW of solar and wind</a:t>
            </a:r>
            <a:r>
              <a:rPr lang="en-US" sz="1100">
                <a:solidFill>
                  <a:srgbClr val="000000"/>
                </a:solidFill>
                <a:latin typeface="Arial" panose="020B0604020202020204" pitchFamily="34" charset="0"/>
                <a:ea typeface="Lato" pitchFamily="34" charset="0"/>
                <a:cs typeface="Arial" panose="020B0604020202020204" pitchFamily="34" charset="0"/>
              </a:rPr>
              <a:t> capacities are estimated to have been installed by large Commercial &amp; Industrial (C&amp;I) consumers for captive or self-use</a:t>
            </a:r>
          </a:p>
          <a:p>
            <a:pPr marL="139303" indent="-139303">
              <a:spcAft>
                <a:spcPts val="600"/>
              </a:spcAft>
              <a:buFont typeface="Arial" panose="020B0604020202020204" pitchFamily="34" charset="0"/>
              <a:buChar char="•"/>
            </a:pPr>
            <a:r>
              <a:rPr lang="en-US" sz="1100">
                <a:solidFill>
                  <a:srgbClr val="000000"/>
                </a:solidFill>
                <a:latin typeface="Arial" panose="020B0604020202020204" pitchFamily="34" charset="0"/>
                <a:ea typeface="Lato" pitchFamily="34" charset="0"/>
                <a:cs typeface="Arial" panose="020B0604020202020204" pitchFamily="34" charset="0"/>
              </a:rPr>
              <a:t>Government of India has target to have a capacity of </a:t>
            </a:r>
            <a:r>
              <a:rPr lang="en-US" sz="1100" b="1">
                <a:solidFill>
                  <a:srgbClr val="000000"/>
                </a:solidFill>
                <a:latin typeface="Arial" panose="020B0604020202020204" pitchFamily="34" charset="0"/>
                <a:ea typeface="Lato" pitchFamily="34" charset="0"/>
                <a:cs typeface="Arial" panose="020B0604020202020204" pitchFamily="34" charset="0"/>
              </a:rPr>
              <a:t>430 GW of solar and wind</a:t>
            </a:r>
            <a:r>
              <a:rPr lang="en-US" sz="1100">
                <a:solidFill>
                  <a:srgbClr val="000000"/>
                </a:solidFill>
                <a:latin typeface="Arial" panose="020B0604020202020204" pitchFamily="34" charset="0"/>
                <a:ea typeface="Lato" pitchFamily="34" charset="0"/>
                <a:cs typeface="Arial" panose="020B0604020202020204" pitchFamily="34" charset="0"/>
              </a:rPr>
              <a:t> generation by 2030; this will require </a:t>
            </a:r>
            <a:r>
              <a:rPr lang="en-US" sz="1100" b="1">
                <a:solidFill>
                  <a:srgbClr val="000000"/>
                </a:solidFill>
                <a:latin typeface="Arial" panose="020B0604020202020204" pitchFamily="34" charset="0"/>
                <a:ea typeface="Lato" pitchFamily="34" charset="0"/>
                <a:cs typeface="Arial" panose="020B0604020202020204" pitchFamily="34" charset="0"/>
              </a:rPr>
              <a:t>~55 GW of installation each year</a:t>
            </a:r>
            <a:r>
              <a:rPr lang="en-US" sz="1100">
                <a:solidFill>
                  <a:srgbClr val="000000"/>
                </a:solidFill>
                <a:latin typeface="Arial" panose="020B0604020202020204" pitchFamily="34" charset="0"/>
                <a:ea typeface="Lato" pitchFamily="34" charset="0"/>
                <a:cs typeface="Arial" panose="020B0604020202020204" pitchFamily="34" charset="0"/>
              </a:rPr>
              <a:t> for next 5 years</a:t>
            </a:r>
          </a:p>
        </p:txBody>
      </p:sp>
      <p:sp>
        <p:nvSpPr>
          <p:cNvPr id="38" name="TextBox 37">
            <a:extLst>
              <a:ext uri="{FF2B5EF4-FFF2-40B4-BE49-F238E27FC236}">
                <a16:creationId xmlns:a16="http://schemas.microsoft.com/office/drawing/2014/main" id="{8BC388C2-EC5E-7C4E-8DB1-E9F6B0001C06}"/>
              </a:ext>
            </a:extLst>
          </p:cNvPr>
          <p:cNvSpPr txBox="1"/>
          <p:nvPr/>
        </p:nvSpPr>
        <p:spPr>
          <a:xfrm>
            <a:off x="514883" y="4133639"/>
            <a:ext cx="3357851" cy="184666"/>
          </a:xfrm>
          <a:prstGeom prst="rect">
            <a:avLst/>
          </a:prstGeom>
          <a:noFill/>
        </p:spPr>
        <p:txBody>
          <a:bodyPr wrap="square" lIns="0" tIns="0" rIns="0" bIns="0" rtlCol="0">
            <a:spAutoFit/>
          </a:bodyPr>
          <a:lstStyle/>
          <a:p>
            <a:pPr>
              <a:spcBef>
                <a:spcPts val="0"/>
              </a:spcBef>
              <a:buSzPct val="100000"/>
            </a:pPr>
            <a:r>
              <a:rPr lang="en-US" sz="1200" b="1">
                <a:latin typeface="Arial" panose="020B0604020202020204" pitchFamily="34" charset="0"/>
                <a:cs typeface="Arial" panose="020B0604020202020204" pitchFamily="34" charset="0"/>
              </a:rPr>
              <a:t>Key observations</a:t>
            </a:r>
            <a:endParaRPr lang="en-US" sz="1200">
              <a:latin typeface="Arial" panose="020B0604020202020204" pitchFamily="34" charset="0"/>
              <a:cs typeface="Arial" panose="020B0604020202020204" pitchFamily="34" charset="0"/>
            </a:endParaRPr>
          </a:p>
        </p:txBody>
      </p:sp>
      <p:sp>
        <p:nvSpPr>
          <p:cNvPr id="39" name="TextBox 38">
            <a:extLst>
              <a:ext uri="{FF2B5EF4-FFF2-40B4-BE49-F238E27FC236}">
                <a16:creationId xmlns:a16="http://schemas.microsoft.com/office/drawing/2014/main" id="{2C4EA31E-1BFD-55A2-581F-77EF8F499669}"/>
              </a:ext>
            </a:extLst>
          </p:cNvPr>
          <p:cNvSpPr txBox="1"/>
          <p:nvPr/>
        </p:nvSpPr>
        <p:spPr>
          <a:xfrm>
            <a:off x="8264907" y="1072024"/>
            <a:ext cx="2812995" cy="461665"/>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300" b="0"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sz="1200" b="1"/>
              <a:t>Capacity utilization of plants</a:t>
            </a:r>
          </a:p>
          <a:p>
            <a:r>
              <a:rPr lang="en-US" sz="1200"/>
              <a:t>FY20-25, %</a:t>
            </a:r>
          </a:p>
        </p:txBody>
      </p:sp>
      <p:sp>
        <p:nvSpPr>
          <p:cNvPr id="40" name="Speech Bubble: Rectangle 39">
            <a:extLst>
              <a:ext uri="{FF2B5EF4-FFF2-40B4-BE49-F238E27FC236}">
                <a16:creationId xmlns:a16="http://schemas.microsoft.com/office/drawing/2014/main" id="{B4F3C21A-9FCF-334E-C760-197F6BBB59C5}"/>
              </a:ext>
            </a:extLst>
          </p:cNvPr>
          <p:cNvSpPr/>
          <p:nvPr/>
        </p:nvSpPr>
        <p:spPr bwMode="gray">
          <a:xfrm>
            <a:off x="5981700" y="3677560"/>
            <a:ext cx="4223475" cy="436131"/>
          </a:xfrm>
          <a:prstGeom prst="wedgeRectCallout">
            <a:avLst>
              <a:gd name="adj1" fmla="val 20709"/>
              <a:gd name="adj2" fmla="val -83886"/>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90564" fontAlgn="auto">
              <a:spcBef>
                <a:spcPts val="0"/>
              </a:spcBef>
              <a:spcAft>
                <a:spcPts val="0"/>
              </a:spcAft>
              <a:buSzPct val="100000"/>
            </a:pPr>
            <a:r>
              <a:rPr lang="en-US" sz="1000" b="1">
                <a:latin typeface="Arial" panose="020B0604020202020204" pitchFamily="34" charset="0"/>
                <a:cs typeface="Arial" panose="020B0604020202020204" pitchFamily="34" charset="0"/>
              </a:rPr>
              <a:t>Utilization of coal plants increased to 69% in FY25 from 55% in FY20</a:t>
            </a:r>
            <a:r>
              <a:rPr lang="en-US" sz="1000">
                <a:latin typeface="Arial" panose="020B0604020202020204" pitchFamily="34" charset="0"/>
                <a:cs typeface="Arial" panose="020B0604020202020204" pitchFamily="34" charset="0"/>
              </a:rPr>
              <a:t>, with improvements in domestic coal supply</a:t>
            </a:r>
          </a:p>
        </p:txBody>
      </p:sp>
      <p:sp>
        <p:nvSpPr>
          <p:cNvPr id="41" name="Rectangle 40">
            <a:extLst>
              <a:ext uri="{FF2B5EF4-FFF2-40B4-BE49-F238E27FC236}">
                <a16:creationId xmlns:a16="http://schemas.microsoft.com/office/drawing/2014/main" id="{9D0E32AD-82FD-7555-7099-46467B3F281E}"/>
              </a:ext>
            </a:extLst>
          </p:cNvPr>
          <p:cNvSpPr/>
          <p:nvPr/>
        </p:nvSpPr>
        <p:spPr bwMode="gray">
          <a:xfrm>
            <a:off x="4251012" y="2694679"/>
            <a:ext cx="3686617" cy="242926"/>
          </a:xfrm>
          <a:prstGeom prst="rect">
            <a:avLst/>
          </a:prstGeom>
          <a:noFill/>
          <a:ln w="12700" algn="ctr">
            <a:solidFill>
              <a:srgbClr val="DA291C"/>
            </a:solidFill>
            <a:prstDash val="lgDash"/>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3" name="TextBox 2">
            <a:extLst>
              <a:ext uri="{FF2B5EF4-FFF2-40B4-BE49-F238E27FC236}">
                <a16:creationId xmlns:a16="http://schemas.microsoft.com/office/drawing/2014/main" id="{28566937-D8AE-434C-50C6-6FA107DC3FE5}"/>
              </a:ext>
            </a:extLst>
          </p:cNvPr>
          <p:cNvSpPr txBox="1"/>
          <p:nvPr/>
        </p:nvSpPr>
        <p:spPr>
          <a:xfrm>
            <a:off x="514883" y="3761971"/>
            <a:ext cx="3357851" cy="246221"/>
          </a:xfrm>
          <a:prstGeom prst="rect">
            <a:avLst/>
          </a:prstGeom>
          <a:noFill/>
        </p:spPr>
        <p:txBody>
          <a:bodyPr wrap="square" lIns="0" tIns="0" rIns="0" bIns="0" rtlCol="0">
            <a:spAutoFit/>
          </a:bodyPr>
          <a:lstStyle/>
          <a:p>
            <a:pPr algn="r">
              <a:spcBef>
                <a:spcPts val="0"/>
              </a:spcBef>
              <a:buSzPct val="100000"/>
            </a:pPr>
            <a:r>
              <a:rPr lang="en-US" sz="800">
                <a:latin typeface="Arial" panose="020B0604020202020204" pitchFamily="34" charset="0"/>
                <a:cs typeface="Arial" panose="020B0604020202020204" pitchFamily="34" charset="0"/>
              </a:rPr>
              <a:t>RES: Renewable Energy Sources (includes small hydro power plants of capacity less than 25 kW</a:t>
            </a:r>
          </a:p>
        </p:txBody>
      </p:sp>
      <p:cxnSp>
        <p:nvCxnSpPr>
          <p:cNvPr id="4" name="Straight Connector 3">
            <a:extLst>
              <a:ext uri="{FF2B5EF4-FFF2-40B4-BE49-F238E27FC236}">
                <a16:creationId xmlns:a16="http://schemas.microsoft.com/office/drawing/2014/main" id="{7A78B66A-1602-7ABE-5686-8029F7F4FD7F}"/>
              </a:ext>
            </a:extLst>
          </p:cNvPr>
          <p:cNvCxnSpPr/>
          <p:nvPr/>
        </p:nvCxnSpPr>
        <p:spPr>
          <a:xfrm flipV="1">
            <a:off x="514884" y="922066"/>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04345410"/>
      </p:ext>
    </p:extLst>
  </p:cSld>
  <p:clrMapOvr>
    <a:masterClrMapping/>
  </p:clrMapOvr>
  <p:transition>
    <p:fade/>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469809198"/>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defTabSz="914400">
              <a:spcBef>
                <a:spcPts val="0"/>
              </a:spcBef>
              <a:buSzPct val="100000"/>
            </a:pPr>
            <a:r>
              <a:rPr lang="en-US" sz="2000" b="1">
                <a:latin typeface="Arial" panose="020B0604020202020204" pitchFamily="34" charset="0"/>
                <a:cs typeface="Arial" panose="020B0604020202020204" pitchFamily="34" charset="0"/>
              </a:rPr>
              <a:t>Electricity sector in India | Electricity supply position and seasonal variations</a:t>
            </a:r>
            <a:endParaRPr lang="en-US" sz="2000" b="1">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r>
              <a:rPr lang="en-US" sz="1400">
                <a:latin typeface="Arial" panose="020B0604020202020204" pitchFamily="34" charset="0"/>
                <a:cs typeface="Arial" panose="020B0604020202020204" pitchFamily="34" charset="0"/>
              </a:rPr>
              <a:t>Firm electricity supply varies across seasons, with the deficit peaking in summers and winters</a:t>
            </a:r>
          </a:p>
          <a:p>
            <a:endParaRPr lang="en-US" sz="1400">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22066"/>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B5CF450B-10ED-DDB5-70D8-EF83C4E02E72}"/>
              </a:ext>
            </a:extLst>
          </p:cNvPr>
          <p:cNvSpPr txBox="1"/>
          <p:nvPr/>
        </p:nvSpPr>
        <p:spPr>
          <a:xfrm>
            <a:off x="500542" y="1625361"/>
            <a:ext cx="6714158" cy="276999"/>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300" b="0"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sz="1200" b="1" u="sng"/>
              <a:t>Anticipated</a:t>
            </a:r>
            <a:r>
              <a:rPr lang="en-US" sz="1200" b="1"/>
              <a:t> seasonal electricity supply position in Indian regions (Mn kWh | FY26 )</a:t>
            </a:r>
          </a:p>
        </p:txBody>
      </p:sp>
      <p:sp>
        <p:nvSpPr>
          <p:cNvPr id="26" name="Freeform 607">
            <a:extLst>
              <a:ext uri="{FF2B5EF4-FFF2-40B4-BE49-F238E27FC236}">
                <a16:creationId xmlns:a16="http://schemas.microsoft.com/office/drawing/2014/main" id="{60210F7E-008E-7AB5-DAA5-ED0EE37B13DE}"/>
              </a:ext>
            </a:extLst>
          </p:cNvPr>
          <p:cNvSpPr>
            <a:spLocks noChangeAspect="1" noEditPoints="1"/>
          </p:cNvSpPr>
          <p:nvPr/>
        </p:nvSpPr>
        <p:spPr bwMode="auto">
          <a:xfrm>
            <a:off x="947458" y="4254787"/>
            <a:ext cx="451819" cy="379214"/>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 name="T20" fmla="*/ 405 w 512"/>
              <a:gd name="T21" fmla="*/ 170 h 512"/>
              <a:gd name="T22" fmla="*/ 106 w 512"/>
              <a:gd name="T23" fmla="*/ 170 h 512"/>
              <a:gd name="T24" fmla="*/ 96 w 512"/>
              <a:gd name="T25" fmla="*/ 160 h 512"/>
              <a:gd name="T26" fmla="*/ 106 w 512"/>
              <a:gd name="T27" fmla="*/ 149 h 512"/>
              <a:gd name="T28" fmla="*/ 405 w 512"/>
              <a:gd name="T29" fmla="*/ 149 h 512"/>
              <a:gd name="T30" fmla="*/ 416 w 512"/>
              <a:gd name="T31" fmla="*/ 160 h 512"/>
              <a:gd name="T32" fmla="*/ 405 w 512"/>
              <a:gd name="T33" fmla="*/ 170 h 512"/>
              <a:gd name="T34" fmla="*/ 416 w 512"/>
              <a:gd name="T35" fmla="*/ 224 h 512"/>
              <a:gd name="T36" fmla="*/ 405 w 512"/>
              <a:gd name="T37" fmla="*/ 213 h 512"/>
              <a:gd name="T38" fmla="*/ 106 w 512"/>
              <a:gd name="T39" fmla="*/ 213 h 512"/>
              <a:gd name="T40" fmla="*/ 96 w 512"/>
              <a:gd name="T41" fmla="*/ 224 h 512"/>
              <a:gd name="T42" fmla="*/ 106 w 512"/>
              <a:gd name="T43" fmla="*/ 234 h 512"/>
              <a:gd name="T44" fmla="*/ 405 w 512"/>
              <a:gd name="T45" fmla="*/ 234 h 512"/>
              <a:gd name="T46" fmla="*/ 416 w 512"/>
              <a:gd name="T47" fmla="*/ 224 h 512"/>
              <a:gd name="T48" fmla="*/ 416 w 512"/>
              <a:gd name="T49" fmla="*/ 288 h 512"/>
              <a:gd name="T50" fmla="*/ 405 w 512"/>
              <a:gd name="T51" fmla="*/ 277 h 512"/>
              <a:gd name="T52" fmla="*/ 106 w 512"/>
              <a:gd name="T53" fmla="*/ 277 h 512"/>
              <a:gd name="T54" fmla="*/ 96 w 512"/>
              <a:gd name="T55" fmla="*/ 288 h 512"/>
              <a:gd name="T56" fmla="*/ 106 w 512"/>
              <a:gd name="T57" fmla="*/ 298 h 512"/>
              <a:gd name="T58" fmla="*/ 405 w 512"/>
              <a:gd name="T59" fmla="*/ 298 h 512"/>
              <a:gd name="T60" fmla="*/ 416 w 512"/>
              <a:gd name="T61" fmla="*/ 288 h 512"/>
              <a:gd name="T62" fmla="*/ 416 w 512"/>
              <a:gd name="T63" fmla="*/ 352 h 512"/>
              <a:gd name="T64" fmla="*/ 405 w 512"/>
              <a:gd name="T65" fmla="*/ 341 h 512"/>
              <a:gd name="T66" fmla="*/ 106 w 512"/>
              <a:gd name="T67" fmla="*/ 341 h 512"/>
              <a:gd name="T68" fmla="*/ 96 w 512"/>
              <a:gd name="T69" fmla="*/ 352 h 512"/>
              <a:gd name="T70" fmla="*/ 106 w 512"/>
              <a:gd name="T71" fmla="*/ 362 h 512"/>
              <a:gd name="T72" fmla="*/ 405 w 512"/>
              <a:gd name="T73" fmla="*/ 362 h 512"/>
              <a:gd name="T74" fmla="*/ 416 w 512"/>
              <a:gd name="T75" fmla="*/ 35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170"/>
                </a:moveTo>
                <a:cubicBezTo>
                  <a:pt x="106" y="170"/>
                  <a:pt x="106" y="170"/>
                  <a:pt x="106" y="170"/>
                </a:cubicBezTo>
                <a:cubicBezTo>
                  <a:pt x="100" y="170"/>
                  <a:pt x="96" y="166"/>
                  <a:pt x="96" y="160"/>
                </a:cubicBezTo>
                <a:cubicBezTo>
                  <a:pt x="96" y="154"/>
                  <a:pt x="100" y="149"/>
                  <a:pt x="106" y="149"/>
                </a:cubicBezTo>
                <a:cubicBezTo>
                  <a:pt x="405" y="149"/>
                  <a:pt x="405" y="149"/>
                  <a:pt x="405" y="149"/>
                </a:cubicBezTo>
                <a:cubicBezTo>
                  <a:pt x="411" y="149"/>
                  <a:pt x="416" y="154"/>
                  <a:pt x="416" y="160"/>
                </a:cubicBezTo>
                <a:cubicBezTo>
                  <a:pt x="416" y="166"/>
                  <a:pt x="411" y="170"/>
                  <a:pt x="405" y="170"/>
                </a:cubicBezTo>
                <a:close/>
                <a:moveTo>
                  <a:pt x="416" y="224"/>
                </a:moveTo>
                <a:cubicBezTo>
                  <a:pt x="416" y="218"/>
                  <a:pt x="411" y="213"/>
                  <a:pt x="405" y="213"/>
                </a:cubicBezTo>
                <a:cubicBezTo>
                  <a:pt x="106" y="213"/>
                  <a:pt x="106" y="213"/>
                  <a:pt x="106" y="213"/>
                </a:cubicBezTo>
                <a:cubicBezTo>
                  <a:pt x="100" y="213"/>
                  <a:pt x="96" y="218"/>
                  <a:pt x="96" y="224"/>
                </a:cubicBezTo>
                <a:cubicBezTo>
                  <a:pt x="96" y="230"/>
                  <a:pt x="100" y="234"/>
                  <a:pt x="106" y="234"/>
                </a:cubicBezTo>
                <a:cubicBezTo>
                  <a:pt x="405" y="234"/>
                  <a:pt x="405" y="234"/>
                  <a:pt x="405" y="234"/>
                </a:cubicBezTo>
                <a:cubicBezTo>
                  <a:pt x="411" y="234"/>
                  <a:pt x="416" y="230"/>
                  <a:pt x="416" y="224"/>
                </a:cubicBezTo>
                <a:close/>
                <a:moveTo>
                  <a:pt x="416" y="288"/>
                </a:moveTo>
                <a:cubicBezTo>
                  <a:pt x="416" y="282"/>
                  <a:pt x="411" y="277"/>
                  <a:pt x="405" y="277"/>
                </a:cubicBezTo>
                <a:cubicBezTo>
                  <a:pt x="106" y="277"/>
                  <a:pt x="106" y="277"/>
                  <a:pt x="106" y="277"/>
                </a:cubicBezTo>
                <a:cubicBezTo>
                  <a:pt x="100" y="277"/>
                  <a:pt x="96" y="282"/>
                  <a:pt x="96" y="288"/>
                </a:cubicBezTo>
                <a:cubicBezTo>
                  <a:pt x="96" y="294"/>
                  <a:pt x="100" y="298"/>
                  <a:pt x="106" y="298"/>
                </a:cubicBezTo>
                <a:cubicBezTo>
                  <a:pt x="405" y="298"/>
                  <a:pt x="405" y="298"/>
                  <a:pt x="405" y="298"/>
                </a:cubicBezTo>
                <a:cubicBezTo>
                  <a:pt x="411" y="298"/>
                  <a:pt x="416" y="294"/>
                  <a:pt x="416" y="288"/>
                </a:cubicBezTo>
                <a:close/>
                <a:moveTo>
                  <a:pt x="416" y="352"/>
                </a:moveTo>
                <a:cubicBezTo>
                  <a:pt x="416" y="346"/>
                  <a:pt x="411" y="341"/>
                  <a:pt x="405" y="341"/>
                </a:cubicBezTo>
                <a:cubicBezTo>
                  <a:pt x="106" y="341"/>
                  <a:pt x="106" y="341"/>
                  <a:pt x="106" y="341"/>
                </a:cubicBezTo>
                <a:cubicBezTo>
                  <a:pt x="100" y="341"/>
                  <a:pt x="96" y="346"/>
                  <a:pt x="96" y="352"/>
                </a:cubicBezTo>
                <a:cubicBezTo>
                  <a:pt x="96" y="358"/>
                  <a:pt x="100" y="362"/>
                  <a:pt x="106" y="362"/>
                </a:cubicBezTo>
                <a:cubicBezTo>
                  <a:pt x="405" y="362"/>
                  <a:pt x="405" y="362"/>
                  <a:pt x="405" y="362"/>
                </a:cubicBezTo>
                <a:cubicBezTo>
                  <a:pt x="411" y="362"/>
                  <a:pt x="416" y="358"/>
                  <a:pt x="416" y="352"/>
                </a:cubicBezTo>
                <a:close/>
              </a:path>
            </a:pathLst>
          </a:custGeom>
          <a:solidFill>
            <a:srgbClr val="FFFFFF"/>
          </a:solidFill>
          <a:ln>
            <a:noFill/>
          </a:ln>
        </p:spPr>
        <p:txBody>
          <a:bodyPr vert="horz" wrap="square" lIns="74295" tIns="37148" rIns="74295" bIns="3714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sz="1000">
              <a:latin typeface="Arial" panose="020B0604020202020204" pitchFamily="34" charset="0"/>
              <a:ea typeface="华文细黑" panose="02010600040101010101" pitchFamily="2" charset="-122"/>
              <a:cs typeface="Arial" panose="020B0604020202020204" pitchFamily="34" charset="0"/>
            </a:endParaRPr>
          </a:p>
        </p:txBody>
      </p:sp>
      <p:pic>
        <p:nvPicPr>
          <p:cNvPr id="27" name="Graphic 26" descr="Solar Panels with solid fill">
            <a:extLst>
              <a:ext uri="{FF2B5EF4-FFF2-40B4-BE49-F238E27FC236}">
                <a16:creationId xmlns:a16="http://schemas.microsoft.com/office/drawing/2014/main" id="{9F046A70-D9F4-6A20-C3AF-E672986823B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13852" y="4873265"/>
            <a:ext cx="441779" cy="379214"/>
          </a:xfrm>
          <a:prstGeom prst="rect">
            <a:avLst/>
          </a:prstGeom>
        </p:spPr>
      </p:pic>
      <p:sp>
        <p:nvSpPr>
          <p:cNvPr id="9" name="Text Placeholder 1">
            <a:extLst>
              <a:ext uri="{FF2B5EF4-FFF2-40B4-BE49-F238E27FC236}">
                <a16:creationId xmlns:a16="http://schemas.microsoft.com/office/drawing/2014/main" id="{0AFDA83C-F259-DFFA-219C-6A1E2C291773}"/>
              </a:ext>
            </a:extLst>
          </p:cNvPr>
          <p:cNvSpPr txBox="1">
            <a:spLocks/>
          </p:cNvSpPr>
          <p:nvPr/>
        </p:nvSpPr>
        <p:spPr>
          <a:xfrm>
            <a:off x="475422" y="1072024"/>
            <a:ext cx="11121870" cy="492443"/>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300" b="0"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r>
              <a:rPr lang="en-US"/>
              <a:t>The variation in supply is </a:t>
            </a:r>
            <a:r>
              <a:rPr lang="en-US" b="1"/>
              <a:t>based on weather conditions, variability of RE generation, and varied regional demands in agriculture, industry, and residential categories</a:t>
            </a:r>
          </a:p>
        </p:txBody>
      </p:sp>
      <p:sp>
        <p:nvSpPr>
          <p:cNvPr id="3" name="TextBox 2">
            <a:extLst>
              <a:ext uri="{FF2B5EF4-FFF2-40B4-BE49-F238E27FC236}">
                <a16:creationId xmlns:a16="http://schemas.microsoft.com/office/drawing/2014/main" id="{AFC58763-9E32-A000-4955-FCF076981663}"/>
              </a:ext>
            </a:extLst>
          </p:cNvPr>
          <p:cNvSpPr txBox="1"/>
          <p:nvPr/>
        </p:nvSpPr>
        <p:spPr>
          <a:xfrm>
            <a:off x="501651" y="6615033"/>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grpSp>
        <p:nvGrpSpPr>
          <p:cNvPr id="20" name="Group 19">
            <a:extLst>
              <a:ext uri="{FF2B5EF4-FFF2-40B4-BE49-F238E27FC236}">
                <a16:creationId xmlns:a16="http://schemas.microsoft.com/office/drawing/2014/main" id="{480054DA-2EFB-BA30-03FE-CEE98EF8B8B5}"/>
              </a:ext>
            </a:extLst>
          </p:cNvPr>
          <p:cNvGrpSpPr/>
          <p:nvPr/>
        </p:nvGrpSpPr>
        <p:grpSpPr>
          <a:xfrm>
            <a:off x="565664" y="2023653"/>
            <a:ext cx="9204247" cy="2958759"/>
            <a:chOff x="793101" y="1511558"/>
            <a:chExt cx="8705462" cy="4889242"/>
          </a:xfrm>
        </p:grpSpPr>
        <p:grpSp>
          <p:nvGrpSpPr>
            <p:cNvPr id="21" name="Group 20">
              <a:extLst>
                <a:ext uri="{FF2B5EF4-FFF2-40B4-BE49-F238E27FC236}">
                  <a16:creationId xmlns:a16="http://schemas.microsoft.com/office/drawing/2014/main" id="{89188D4B-6A6C-7804-F3FA-B4AF17DA2677}"/>
                </a:ext>
              </a:extLst>
            </p:cNvPr>
            <p:cNvGrpSpPr/>
            <p:nvPr/>
          </p:nvGrpSpPr>
          <p:grpSpPr>
            <a:xfrm>
              <a:off x="793101" y="1511558"/>
              <a:ext cx="8518850" cy="4889241"/>
              <a:chOff x="501649" y="1474234"/>
              <a:chExt cx="10627047" cy="4926566"/>
            </a:xfrm>
          </p:grpSpPr>
          <p:sp>
            <p:nvSpPr>
              <p:cNvPr id="23" name="Rectangle 22">
                <a:extLst>
                  <a:ext uri="{FF2B5EF4-FFF2-40B4-BE49-F238E27FC236}">
                    <a16:creationId xmlns:a16="http://schemas.microsoft.com/office/drawing/2014/main" id="{10C2626F-66F8-0035-DB80-B670F9518AEB}"/>
                  </a:ext>
                </a:extLst>
              </p:cNvPr>
              <p:cNvSpPr/>
              <p:nvPr/>
            </p:nvSpPr>
            <p:spPr bwMode="gray">
              <a:xfrm>
                <a:off x="501649" y="1474237"/>
                <a:ext cx="3093782" cy="4926563"/>
              </a:xfrm>
              <a:prstGeom prst="rect">
                <a:avLst/>
              </a:prstGeom>
              <a:gradFill flip="none" rotWithShape="1">
                <a:gsLst>
                  <a:gs pos="0">
                    <a:srgbClr val="FFCD00">
                      <a:tint val="66000"/>
                      <a:satMod val="160000"/>
                    </a:srgbClr>
                  </a:gs>
                  <a:gs pos="50000">
                    <a:srgbClr val="FFCD00">
                      <a:tint val="44500"/>
                      <a:satMod val="160000"/>
                    </a:srgbClr>
                  </a:gs>
                  <a:gs pos="100000">
                    <a:srgbClr val="FFCD00">
                      <a:tint val="23500"/>
                      <a:satMod val="160000"/>
                    </a:srgbClr>
                  </a:gs>
                </a:gsLst>
                <a:path path="circle">
                  <a:fillToRect l="50000" t="50000" r="50000" b="50000"/>
                </a:path>
                <a:tileRect/>
              </a:gradFill>
              <a:ln w="19050" algn="ctr">
                <a:noFill/>
                <a:miter lim="800000"/>
                <a:headEnd/>
                <a:tailEnd/>
              </a:ln>
            </p:spPr>
            <p:txBody>
              <a:bodyPr wrap="square" lIns="72231" tIns="72231" rIns="72231" bIns="72231" rtlCol="0" anchor="ctr"/>
              <a:lstStyle/>
              <a:p>
                <a:pPr algn="ctr" defTabSz="742950">
                  <a:lnSpc>
                    <a:spcPct val="106000"/>
                  </a:lnSpc>
                  <a:defRPr/>
                </a:pPr>
                <a:endParaRPr lang="en-US" sz="1000" b="1">
                  <a:solidFill>
                    <a:prstClr val="white"/>
                  </a:solidFill>
                  <a:latin typeface="Arial" panose="020B0604020202020204" pitchFamily="34" charset="0"/>
                  <a:cs typeface="Arial" panose="020B0604020202020204" pitchFamily="34" charset="0"/>
                </a:endParaRPr>
              </a:p>
            </p:txBody>
          </p:sp>
          <p:sp>
            <p:nvSpPr>
              <p:cNvPr id="24" name="Rectangle 23">
                <a:extLst>
                  <a:ext uri="{FF2B5EF4-FFF2-40B4-BE49-F238E27FC236}">
                    <a16:creationId xmlns:a16="http://schemas.microsoft.com/office/drawing/2014/main" id="{32ADB53D-9D18-E084-4C4A-DCF729241824}"/>
                  </a:ext>
                </a:extLst>
              </p:cNvPr>
              <p:cNvSpPr/>
              <p:nvPr/>
            </p:nvSpPr>
            <p:spPr bwMode="gray">
              <a:xfrm>
                <a:off x="3601872" y="1474235"/>
                <a:ext cx="2203969" cy="4926563"/>
              </a:xfrm>
              <a:prstGeom prst="rect">
                <a:avLst/>
              </a:prstGeom>
              <a:gradFill flip="none" rotWithShape="1">
                <a:gsLst>
                  <a:gs pos="0">
                    <a:schemeClr val="accent6">
                      <a:tint val="66000"/>
                      <a:satMod val="160000"/>
                    </a:schemeClr>
                  </a:gs>
                  <a:gs pos="50000">
                    <a:schemeClr val="accent6">
                      <a:tint val="44500"/>
                      <a:satMod val="160000"/>
                    </a:schemeClr>
                  </a:gs>
                  <a:gs pos="100000">
                    <a:schemeClr val="accent6">
                      <a:tint val="23500"/>
                      <a:satMod val="160000"/>
                    </a:schemeClr>
                  </a:gs>
                </a:gsLst>
                <a:path path="circle">
                  <a:fillToRect l="50000" t="50000" r="50000" b="50000"/>
                </a:path>
                <a:tileRect/>
              </a:gradFill>
              <a:ln w="19050" algn="ctr">
                <a:noFill/>
                <a:miter lim="800000"/>
                <a:headEnd/>
                <a:tailEnd/>
              </a:ln>
            </p:spPr>
            <p:txBody>
              <a:bodyPr wrap="square" lIns="72231" tIns="72231" rIns="72231" bIns="72231" rtlCol="0" anchor="ctr"/>
              <a:lstStyle/>
              <a:p>
                <a:pPr algn="ctr" defTabSz="742950">
                  <a:lnSpc>
                    <a:spcPct val="106000"/>
                  </a:lnSpc>
                  <a:defRPr/>
                </a:pPr>
                <a:endParaRPr lang="en-US" sz="1000" b="1">
                  <a:solidFill>
                    <a:prstClr val="white"/>
                  </a:solidFill>
                  <a:latin typeface="Arial" panose="020B0604020202020204" pitchFamily="34" charset="0"/>
                  <a:cs typeface="Arial" panose="020B0604020202020204" pitchFamily="34" charset="0"/>
                </a:endParaRPr>
              </a:p>
            </p:txBody>
          </p:sp>
          <p:sp>
            <p:nvSpPr>
              <p:cNvPr id="31" name="Rectangle 30">
                <a:extLst>
                  <a:ext uri="{FF2B5EF4-FFF2-40B4-BE49-F238E27FC236}">
                    <a16:creationId xmlns:a16="http://schemas.microsoft.com/office/drawing/2014/main" id="{500C24D2-ECE2-F5A4-A0DF-0AAECBD5AB7D}"/>
                  </a:ext>
                </a:extLst>
              </p:cNvPr>
              <p:cNvSpPr/>
              <p:nvPr/>
            </p:nvSpPr>
            <p:spPr bwMode="gray">
              <a:xfrm>
                <a:off x="5805841" y="1474235"/>
                <a:ext cx="2661428" cy="4926563"/>
              </a:xfrm>
              <a:prstGeom prst="rect">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path path="circle">
                  <a:fillToRect l="50000" t="50000" r="50000" b="50000"/>
                </a:path>
                <a:tileRect/>
              </a:gradFill>
              <a:ln w="19050" algn="ctr">
                <a:noFill/>
                <a:miter lim="800000"/>
                <a:headEnd/>
                <a:tailEnd/>
              </a:ln>
            </p:spPr>
            <p:txBody>
              <a:bodyPr wrap="square" lIns="72231" tIns="72231" rIns="72231" bIns="72231" rtlCol="0" anchor="ctr"/>
              <a:lstStyle/>
              <a:p>
                <a:pPr algn="ctr" defTabSz="742950">
                  <a:lnSpc>
                    <a:spcPct val="106000"/>
                  </a:lnSpc>
                  <a:defRPr/>
                </a:pPr>
                <a:endParaRPr lang="en-US" sz="1000" b="1">
                  <a:solidFill>
                    <a:prstClr val="white"/>
                  </a:solidFill>
                  <a:latin typeface="Arial" panose="020B0604020202020204" pitchFamily="34" charset="0"/>
                  <a:cs typeface="Arial" panose="020B0604020202020204" pitchFamily="34" charset="0"/>
                </a:endParaRPr>
              </a:p>
            </p:txBody>
          </p:sp>
          <p:sp>
            <p:nvSpPr>
              <p:cNvPr id="32" name="Rectangle 31">
                <a:extLst>
                  <a:ext uri="{FF2B5EF4-FFF2-40B4-BE49-F238E27FC236}">
                    <a16:creationId xmlns:a16="http://schemas.microsoft.com/office/drawing/2014/main" id="{F8DB1D05-589D-48E0-3FDB-9D3D08FFBEAD}"/>
                  </a:ext>
                </a:extLst>
              </p:cNvPr>
              <p:cNvSpPr/>
              <p:nvPr/>
            </p:nvSpPr>
            <p:spPr bwMode="gray">
              <a:xfrm>
                <a:off x="8044176" y="1474234"/>
                <a:ext cx="3084520" cy="4926563"/>
              </a:xfrm>
              <a:prstGeom prst="rect">
                <a:avLst/>
              </a:prstGeom>
              <a:solidFill>
                <a:schemeClr val="accent6">
                  <a:lumMod val="20000"/>
                  <a:lumOff val="80000"/>
                </a:schemeClr>
              </a:solidFill>
              <a:ln w="19050" algn="ctr">
                <a:noFill/>
                <a:miter lim="800000"/>
                <a:headEnd/>
                <a:tailEnd/>
              </a:ln>
            </p:spPr>
            <p:txBody>
              <a:bodyPr wrap="square" lIns="72231" tIns="72231" rIns="72231" bIns="72231" rtlCol="0" anchor="ctr"/>
              <a:lstStyle/>
              <a:p>
                <a:pPr algn="ctr" defTabSz="742950">
                  <a:lnSpc>
                    <a:spcPct val="106000"/>
                  </a:lnSpc>
                  <a:defRPr/>
                </a:pPr>
                <a:endParaRPr lang="en-US" sz="1000" b="1">
                  <a:solidFill>
                    <a:prstClr val="white"/>
                  </a:solidFill>
                  <a:latin typeface="Arial" panose="020B0604020202020204" pitchFamily="34" charset="0"/>
                  <a:cs typeface="Arial" panose="020B0604020202020204" pitchFamily="34" charset="0"/>
                </a:endParaRPr>
              </a:p>
            </p:txBody>
          </p:sp>
        </p:grpSp>
        <p:sp>
          <p:nvSpPr>
            <p:cNvPr id="22" name="Rectangle 21">
              <a:extLst>
                <a:ext uri="{FF2B5EF4-FFF2-40B4-BE49-F238E27FC236}">
                  <a16:creationId xmlns:a16="http://schemas.microsoft.com/office/drawing/2014/main" id="{90759295-491A-67F7-CA8F-8D838626AE7F}"/>
                </a:ext>
              </a:extLst>
            </p:cNvPr>
            <p:cNvSpPr/>
            <p:nvPr/>
          </p:nvSpPr>
          <p:spPr bwMode="gray">
            <a:xfrm>
              <a:off x="8798767" y="1511562"/>
              <a:ext cx="699796" cy="4889238"/>
            </a:xfrm>
            <a:prstGeom prst="rect">
              <a:avLst/>
            </a:prstGeom>
            <a:gradFill flip="none" rotWithShape="1">
              <a:gsLst>
                <a:gs pos="0">
                  <a:srgbClr val="FFCD00">
                    <a:tint val="66000"/>
                    <a:satMod val="160000"/>
                  </a:srgbClr>
                </a:gs>
                <a:gs pos="50000">
                  <a:srgbClr val="FFCD00">
                    <a:tint val="44500"/>
                    <a:satMod val="160000"/>
                  </a:srgbClr>
                </a:gs>
                <a:gs pos="100000">
                  <a:srgbClr val="FFCD00">
                    <a:tint val="23500"/>
                    <a:satMod val="160000"/>
                  </a:srgbClr>
                </a:gs>
              </a:gsLst>
              <a:path path="circle">
                <a:fillToRect l="50000" t="50000" r="50000" b="50000"/>
              </a:path>
              <a:tileRect/>
            </a:gradFill>
            <a:ln w="19050" algn="ctr">
              <a:noFill/>
              <a:miter lim="800000"/>
              <a:headEnd/>
              <a:tailEnd/>
            </a:ln>
          </p:spPr>
          <p:txBody>
            <a:bodyPr wrap="square" lIns="72231" tIns="72231" rIns="72231" bIns="72231" rtlCol="0" anchor="ctr"/>
            <a:lstStyle/>
            <a:p>
              <a:pPr algn="ctr" defTabSz="742950">
                <a:lnSpc>
                  <a:spcPct val="106000"/>
                </a:lnSpc>
                <a:defRPr/>
              </a:pPr>
              <a:endParaRPr lang="en-US" sz="1000" b="1">
                <a:solidFill>
                  <a:prstClr val="white"/>
                </a:solidFill>
                <a:latin typeface="Arial" panose="020B0604020202020204" pitchFamily="34" charset="0"/>
                <a:cs typeface="Arial" panose="020B0604020202020204" pitchFamily="34" charset="0"/>
              </a:endParaRPr>
            </a:p>
          </p:txBody>
        </p:sp>
      </p:grpSp>
      <p:graphicFrame>
        <p:nvGraphicFramePr>
          <p:cNvPr id="33" name="Chart 32">
            <a:extLst>
              <a:ext uri="{FF2B5EF4-FFF2-40B4-BE49-F238E27FC236}">
                <a16:creationId xmlns:a16="http://schemas.microsoft.com/office/drawing/2014/main" id="{8BD002B8-3615-1B0B-CC9B-80D36B4F19DE}"/>
              </a:ext>
            </a:extLst>
          </p:cNvPr>
          <p:cNvGraphicFramePr/>
          <p:nvPr>
            <p:extLst>
              <p:ext uri="{D42A27DB-BD31-4B8C-83A1-F6EECF244321}">
                <p14:modId xmlns:p14="http://schemas.microsoft.com/office/powerpoint/2010/main" val="1988598004"/>
              </p:ext>
            </p:extLst>
          </p:nvPr>
        </p:nvGraphicFramePr>
        <p:xfrm>
          <a:off x="340659" y="2045064"/>
          <a:ext cx="9586528" cy="2901553"/>
        </p:xfrm>
        <a:graphic>
          <a:graphicData uri="http://schemas.openxmlformats.org/drawingml/2006/chart">
            <c:chart xmlns:c="http://schemas.openxmlformats.org/drawingml/2006/chart" xmlns:r="http://schemas.openxmlformats.org/officeDocument/2006/relationships" r:id="rId8"/>
          </a:graphicData>
        </a:graphic>
      </p:graphicFrame>
      <p:pic>
        <p:nvPicPr>
          <p:cNvPr id="34" name="Graphic 33" descr="Dim (Smaller Sun) with solid fill">
            <a:extLst>
              <a:ext uri="{FF2B5EF4-FFF2-40B4-BE49-F238E27FC236}">
                <a16:creationId xmlns:a16="http://schemas.microsoft.com/office/drawing/2014/main" id="{AADD4973-441F-8723-CADD-90C428EBF61F}"/>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72576" y="2046178"/>
            <a:ext cx="361380" cy="271460"/>
          </a:xfrm>
          <a:prstGeom prst="rect">
            <a:avLst/>
          </a:prstGeom>
        </p:spPr>
      </p:pic>
      <p:sp>
        <p:nvSpPr>
          <p:cNvPr id="42" name="TextBox 41">
            <a:extLst>
              <a:ext uri="{FF2B5EF4-FFF2-40B4-BE49-F238E27FC236}">
                <a16:creationId xmlns:a16="http://schemas.microsoft.com/office/drawing/2014/main" id="{3B050E64-14A1-BEC2-3EF0-412FF33B309E}"/>
              </a:ext>
            </a:extLst>
          </p:cNvPr>
          <p:cNvSpPr txBox="1"/>
          <p:nvPr/>
        </p:nvSpPr>
        <p:spPr>
          <a:xfrm>
            <a:off x="853429" y="2104964"/>
            <a:ext cx="708709" cy="153888"/>
          </a:xfrm>
          <a:prstGeom prst="rect">
            <a:avLst/>
          </a:prstGeom>
          <a:noFill/>
        </p:spPr>
        <p:txBody>
          <a:bodyPr wrap="square" lIns="0" tIns="0" rIns="0" bIns="0" rtlCol="0">
            <a:spAutoFit/>
          </a:bodyPr>
          <a:lstStyle/>
          <a:p>
            <a:pPr defTabSz="742950">
              <a:spcBef>
                <a:spcPts val="488"/>
              </a:spcBef>
              <a:buSzPct val="100000"/>
              <a:defRPr/>
            </a:pPr>
            <a:r>
              <a:rPr lang="en-US" sz="1000" b="1">
                <a:solidFill>
                  <a:prstClr val="black"/>
                </a:solidFill>
                <a:latin typeface="Arial" panose="020B0604020202020204" pitchFamily="34" charset="0"/>
                <a:cs typeface="Arial" panose="020B0604020202020204" pitchFamily="34" charset="0"/>
              </a:rPr>
              <a:t>Summer</a:t>
            </a:r>
          </a:p>
        </p:txBody>
      </p:sp>
      <p:pic>
        <p:nvPicPr>
          <p:cNvPr id="43" name="Graphic 42" descr="Rain with solid fill">
            <a:extLst>
              <a:ext uri="{FF2B5EF4-FFF2-40B4-BE49-F238E27FC236}">
                <a16:creationId xmlns:a16="http://schemas.microsoft.com/office/drawing/2014/main" id="{B223ED72-5F03-F3C2-7945-E1934890176E}"/>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3192870" y="2025208"/>
            <a:ext cx="422718" cy="313401"/>
          </a:xfrm>
          <a:prstGeom prst="rect">
            <a:avLst/>
          </a:prstGeom>
        </p:spPr>
      </p:pic>
      <p:sp>
        <p:nvSpPr>
          <p:cNvPr id="44" name="TextBox 43">
            <a:extLst>
              <a:ext uri="{FF2B5EF4-FFF2-40B4-BE49-F238E27FC236}">
                <a16:creationId xmlns:a16="http://schemas.microsoft.com/office/drawing/2014/main" id="{0FE569CA-A667-99CD-1D18-ACDAA3DD1438}"/>
              </a:ext>
            </a:extLst>
          </p:cNvPr>
          <p:cNvSpPr txBox="1"/>
          <p:nvPr/>
        </p:nvSpPr>
        <p:spPr>
          <a:xfrm>
            <a:off x="3561470" y="2104964"/>
            <a:ext cx="775231" cy="153888"/>
          </a:xfrm>
          <a:prstGeom prst="rect">
            <a:avLst/>
          </a:prstGeom>
          <a:noFill/>
        </p:spPr>
        <p:txBody>
          <a:bodyPr wrap="square" lIns="0" tIns="0" rIns="0" bIns="0" rtlCol="0">
            <a:spAutoFit/>
          </a:bodyPr>
          <a:lstStyle/>
          <a:p>
            <a:pPr defTabSz="742950">
              <a:spcBef>
                <a:spcPts val="488"/>
              </a:spcBef>
              <a:buSzPct val="100000"/>
              <a:defRPr/>
            </a:pPr>
            <a:r>
              <a:rPr lang="en-US" sz="1000" b="1">
                <a:solidFill>
                  <a:prstClr val="black"/>
                </a:solidFill>
                <a:latin typeface="Arial" panose="020B0604020202020204" pitchFamily="34" charset="0"/>
                <a:cs typeface="Arial" panose="020B0604020202020204" pitchFamily="34" charset="0"/>
              </a:rPr>
              <a:t>Monsoon</a:t>
            </a:r>
          </a:p>
        </p:txBody>
      </p:sp>
      <p:pic>
        <p:nvPicPr>
          <p:cNvPr id="45" name="Graphic 44" descr="Maple Leaf with solid fill">
            <a:extLst>
              <a:ext uri="{FF2B5EF4-FFF2-40B4-BE49-F238E27FC236}">
                <a16:creationId xmlns:a16="http://schemas.microsoft.com/office/drawing/2014/main" id="{5A119A7A-7C98-693B-A2BE-FA788AF2B0DD}"/>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5054811" y="2060461"/>
            <a:ext cx="313369" cy="242895"/>
          </a:xfrm>
          <a:prstGeom prst="rect">
            <a:avLst/>
          </a:prstGeom>
        </p:spPr>
      </p:pic>
      <p:sp>
        <p:nvSpPr>
          <p:cNvPr id="46" name="TextBox 45">
            <a:extLst>
              <a:ext uri="{FF2B5EF4-FFF2-40B4-BE49-F238E27FC236}">
                <a16:creationId xmlns:a16="http://schemas.microsoft.com/office/drawing/2014/main" id="{7E1F391A-4138-32F8-8BD8-1CD2948ECA11}"/>
              </a:ext>
            </a:extLst>
          </p:cNvPr>
          <p:cNvSpPr txBox="1"/>
          <p:nvPr/>
        </p:nvSpPr>
        <p:spPr>
          <a:xfrm>
            <a:off x="5331992" y="2104964"/>
            <a:ext cx="622392" cy="153888"/>
          </a:xfrm>
          <a:prstGeom prst="rect">
            <a:avLst/>
          </a:prstGeom>
          <a:noFill/>
        </p:spPr>
        <p:txBody>
          <a:bodyPr wrap="square" lIns="0" tIns="0" rIns="0" bIns="0" rtlCol="0">
            <a:spAutoFit/>
          </a:bodyPr>
          <a:lstStyle/>
          <a:p>
            <a:pPr defTabSz="742950">
              <a:spcBef>
                <a:spcPts val="488"/>
              </a:spcBef>
              <a:buSzPct val="100000"/>
              <a:defRPr/>
            </a:pPr>
            <a:r>
              <a:rPr lang="en-US" sz="1000" b="1">
                <a:solidFill>
                  <a:prstClr val="black"/>
                </a:solidFill>
                <a:latin typeface="Arial" panose="020B0604020202020204" pitchFamily="34" charset="0"/>
                <a:cs typeface="Arial" panose="020B0604020202020204" pitchFamily="34" charset="0"/>
              </a:rPr>
              <a:t>Autumn</a:t>
            </a:r>
          </a:p>
        </p:txBody>
      </p:sp>
      <p:pic>
        <p:nvPicPr>
          <p:cNvPr id="47" name="Graphic 46" descr="Snowflake with solid fill">
            <a:extLst>
              <a:ext uri="{FF2B5EF4-FFF2-40B4-BE49-F238E27FC236}">
                <a16:creationId xmlns:a16="http://schemas.microsoft.com/office/drawing/2014/main" id="{586BA006-F8AD-B682-D8CC-1FEC6CAC667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6965010" y="2056265"/>
            <a:ext cx="276125" cy="251287"/>
          </a:xfrm>
          <a:prstGeom prst="rect">
            <a:avLst/>
          </a:prstGeom>
        </p:spPr>
      </p:pic>
      <p:sp>
        <p:nvSpPr>
          <p:cNvPr id="48" name="TextBox 47">
            <a:extLst>
              <a:ext uri="{FF2B5EF4-FFF2-40B4-BE49-F238E27FC236}">
                <a16:creationId xmlns:a16="http://schemas.microsoft.com/office/drawing/2014/main" id="{BF075784-09AC-CA4B-DBC9-EEF8D6AED35F}"/>
              </a:ext>
            </a:extLst>
          </p:cNvPr>
          <p:cNvSpPr txBox="1"/>
          <p:nvPr/>
        </p:nvSpPr>
        <p:spPr>
          <a:xfrm>
            <a:off x="7221663" y="2104964"/>
            <a:ext cx="422032" cy="153888"/>
          </a:xfrm>
          <a:prstGeom prst="rect">
            <a:avLst/>
          </a:prstGeom>
          <a:noFill/>
        </p:spPr>
        <p:txBody>
          <a:bodyPr wrap="square" lIns="0" tIns="0" rIns="0" bIns="0" rtlCol="0">
            <a:spAutoFit/>
          </a:bodyPr>
          <a:lstStyle/>
          <a:p>
            <a:pPr defTabSz="742950">
              <a:spcBef>
                <a:spcPts val="488"/>
              </a:spcBef>
              <a:buSzPct val="100000"/>
              <a:defRPr/>
            </a:pPr>
            <a:r>
              <a:rPr lang="en-US" sz="1000" b="1">
                <a:solidFill>
                  <a:prstClr val="black"/>
                </a:solidFill>
                <a:latin typeface="Arial" panose="020B0604020202020204" pitchFamily="34" charset="0"/>
                <a:cs typeface="Arial" panose="020B0604020202020204" pitchFamily="34" charset="0"/>
              </a:rPr>
              <a:t>Winter</a:t>
            </a:r>
          </a:p>
        </p:txBody>
      </p:sp>
      <p:pic>
        <p:nvPicPr>
          <p:cNvPr id="49" name="Graphic 48" descr="Dim (Smaller Sun) with solid fill">
            <a:extLst>
              <a:ext uri="{FF2B5EF4-FFF2-40B4-BE49-F238E27FC236}">
                <a16:creationId xmlns:a16="http://schemas.microsoft.com/office/drawing/2014/main" id="{66A9AA0B-AB27-EA03-124B-16EA62D865D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037187" y="2046179"/>
            <a:ext cx="349594" cy="271459"/>
          </a:xfrm>
          <a:prstGeom prst="rect">
            <a:avLst/>
          </a:prstGeom>
        </p:spPr>
      </p:pic>
      <p:sp>
        <p:nvSpPr>
          <p:cNvPr id="50" name="TextBox 49">
            <a:extLst>
              <a:ext uri="{FF2B5EF4-FFF2-40B4-BE49-F238E27FC236}">
                <a16:creationId xmlns:a16="http://schemas.microsoft.com/office/drawing/2014/main" id="{20D8E9E4-7A91-DE09-EC87-2141A459FB22}"/>
              </a:ext>
            </a:extLst>
          </p:cNvPr>
          <p:cNvSpPr txBox="1"/>
          <p:nvPr/>
        </p:nvSpPr>
        <p:spPr>
          <a:xfrm>
            <a:off x="9288481" y="2104964"/>
            <a:ext cx="690392" cy="153888"/>
          </a:xfrm>
          <a:prstGeom prst="rect">
            <a:avLst/>
          </a:prstGeom>
          <a:noFill/>
        </p:spPr>
        <p:txBody>
          <a:bodyPr wrap="square" lIns="0" tIns="0" rIns="0" bIns="0" rtlCol="0">
            <a:spAutoFit/>
          </a:bodyPr>
          <a:lstStyle/>
          <a:p>
            <a:pPr defTabSz="742950">
              <a:spcBef>
                <a:spcPts val="488"/>
              </a:spcBef>
              <a:buSzPct val="100000"/>
              <a:defRPr/>
            </a:pPr>
            <a:r>
              <a:rPr lang="en-US" sz="1000" b="1">
                <a:solidFill>
                  <a:prstClr val="black"/>
                </a:solidFill>
                <a:latin typeface="Arial" panose="020B0604020202020204" pitchFamily="34" charset="0"/>
                <a:cs typeface="Arial" panose="020B0604020202020204" pitchFamily="34" charset="0"/>
              </a:rPr>
              <a:t>Summer</a:t>
            </a:r>
          </a:p>
        </p:txBody>
      </p:sp>
      <p:sp>
        <p:nvSpPr>
          <p:cNvPr id="51" name="Rectangle: Rounded Corners 50">
            <a:extLst>
              <a:ext uri="{FF2B5EF4-FFF2-40B4-BE49-F238E27FC236}">
                <a16:creationId xmlns:a16="http://schemas.microsoft.com/office/drawing/2014/main" id="{E5524D29-1AE1-56A6-7E18-C0DEDF618197}"/>
              </a:ext>
            </a:extLst>
          </p:cNvPr>
          <p:cNvSpPr/>
          <p:nvPr/>
        </p:nvSpPr>
        <p:spPr bwMode="gray">
          <a:xfrm>
            <a:off x="5631147" y="2323219"/>
            <a:ext cx="2039665" cy="900000"/>
          </a:xfrm>
          <a:prstGeom prst="roundRect">
            <a:avLst/>
          </a:prstGeom>
          <a:noFill/>
          <a:ln w="3175" algn="ctr">
            <a:solidFill>
              <a:schemeClr val="tx2"/>
            </a:solidFill>
            <a:miter lim="800000"/>
            <a:headEnd/>
            <a:tailEnd/>
          </a:ln>
        </p:spPr>
        <p:txBody>
          <a:bodyPr wrap="square" lIns="0" tIns="72231" rIns="72231" bIns="72231" rtlCol="0" anchor="ctr"/>
          <a:lstStyle/>
          <a:p>
            <a:pPr defTabSz="742950">
              <a:lnSpc>
                <a:spcPct val="106000"/>
              </a:lnSpc>
              <a:defRPr/>
            </a:pPr>
            <a:r>
              <a:rPr lang="en-US" sz="800" b="1">
                <a:solidFill>
                  <a:prstClr val="black"/>
                </a:solidFill>
                <a:latin typeface="Arial" panose="020B0604020202020204" pitchFamily="34" charset="0"/>
                <a:cs typeface="Arial" panose="020B0604020202020204" pitchFamily="34" charset="0"/>
              </a:rPr>
              <a:t>Demand-supply situation</a:t>
            </a:r>
            <a:r>
              <a:rPr lang="en-US" sz="800">
                <a:solidFill>
                  <a:prstClr val="black"/>
                </a:solidFill>
                <a:latin typeface="Arial" panose="020B0604020202020204" pitchFamily="34" charset="0"/>
                <a:cs typeface="Arial" panose="020B0604020202020204" pitchFamily="34" charset="0"/>
              </a:rPr>
              <a:t>:</a:t>
            </a:r>
          </a:p>
          <a:p>
            <a:pPr marL="139303" indent="-139303" defTabSz="742950">
              <a:lnSpc>
                <a:spcPct val="106000"/>
              </a:lnSpc>
              <a:buFont typeface="Arial" panose="020B0604020202020204" pitchFamily="34" charset="0"/>
              <a:buChar char="•"/>
              <a:defRPr/>
            </a:pPr>
            <a:r>
              <a:rPr lang="en-US" sz="800">
                <a:solidFill>
                  <a:prstClr val="black"/>
                </a:solidFill>
                <a:latin typeface="Arial" panose="020B0604020202020204" pitchFamily="34" charset="0"/>
                <a:cs typeface="Arial" panose="020B0604020202020204" pitchFamily="34" charset="0"/>
              </a:rPr>
              <a:t>Agricultural demand continues to remain high</a:t>
            </a:r>
          </a:p>
          <a:p>
            <a:pPr marL="139303" indent="-139303" defTabSz="742950">
              <a:lnSpc>
                <a:spcPct val="106000"/>
              </a:lnSpc>
              <a:buFont typeface="Arial" panose="020B0604020202020204" pitchFamily="34" charset="0"/>
              <a:buChar char="•"/>
              <a:defRPr/>
            </a:pPr>
            <a:r>
              <a:rPr lang="en-US" sz="800">
                <a:solidFill>
                  <a:prstClr val="black"/>
                </a:solidFill>
                <a:latin typeface="Arial" panose="020B0604020202020204" pitchFamily="34" charset="0"/>
                <a:cs typeface="Arial" panose="020B0604020202020204" pitchFamily="34" charset="0"/>
              </a:rPr>
              <a:t>Improvement in coal plant generation vis-à-vis previous season</a:t>
            </a:r>
          </a:p>
        </p:txBody>
      </p:sp>
      <p:sp>
        <p:nvSpPr>
          <p:cNvPr id="52" name="Rectangle: Rounded Corners 51">
            <a:extLst>
              <a:ext uri="{FF2B5EF4-FFF2-40B4-BE49-F238E27FC236}">
                <a16:creationId xmlns:a16="http://schemas.microsoft.com/office/drawing/2014/main" id="{1AE152FF-5353-517A-418D-8F7744FED6C2}"/>
              </a:ext>
            </a:extLst>
          </p:cNvPr>
          <p:cNvSpPr/>
          <p:nvPr/>
        </p:nvSpPr>
        <p:spPr bwMode="gray">
          <a:xfrm>
            <a:off x="1075639" y="2323219"/>
            <a:ext cx="2169645" cy="900000"/>
          </a:xfrm>
          <a:prstGeom prst="roundRect">
            <a:avLst/>
          </a:prstGeom>
          <a:noFill/>
          <a:ln w="3175" algn="ctr">
            <a:solidFill>
              <a:schemeClr val="tx2"/>
            </a:solidFill>
            <a:miter lim="800000"/>
            <a:headEnd/>
            <a:tailEnd/>
          </a:ln>
        </p:spPr>
        <p:txBody>
          <a:bodyPr wrap="square" lIns="0" tIns="72231" rIns="72231" bIns="72231" rtlCol="0" anchor="ctr"/>
          <a:lstStyle/>
          <a:p>
            <a:pPr defTabSz="742950">
              <a:lnSpc>
                <a:spcPct val="106000"/>
              </a:lnSpc>
              <a:defRPr/>
            </a:pPr>
            <a:r>
              <a:rPr lang="en-US" sz="800" b="1">
                <a:solidFill>
                  <a:prstClr val="black"/>
                </a:solidFill>
                <a:latin typeface="Arial" panose="020B0604020202020204" pitchFamily="34" charset="0"/>
                <a:cs typeface="Arial" panose="020B0604020202020204" pitchFamily="34" charset="0"/>
              </a:rPr>
              <a:t>Demand-supply situation</a:t>
            </a:r>
            <a:r>
              <a:rPr lang="en-US" sz="800">
                <a:solidFill>
                  <a:prstClr val="black"/>
                </a:solidFill>
                <a:latin typeface="Arial" panose="020B0604020202020204" pitchFamily="34" charset="0"/>
                <a:cs typeface="Arial" panose="020B0604020202020204" pitchFamily="34" charset="0"/>
              </a:rPr>
              <a:t>:</a:t>
            </a:r>
          </a:p>
          <a:p>
            <a:pPr marL="139303" indent="-139303" defTabSz="742950">
              <a:lnSpc>
                <a:spcPct val="106000"/>
              </a:lnSpc>
              <a:buFont typeface="Arial" panose="020B0604020202020204" pitchFamily="34" charset="0"/>
              <a:buChar char="•"/>
              <a:defRPr/>
            </a:pPr>
            <a:r>
              <a:rPr lang="en-US" sz="800">
                <a:solidFill>
                  <a:prstClr val="black"/>
                </a:solidFill>
                <a:latin typeface="Arial" panose="020B0604020202020204" pitchFamily="34" charset="0"/>
                <a:cs typeface="Arial" panose="020B0604020202020204" pitchFamily="34" charset="0"/>
              </a:rPr>
              <a:t>Increase in cooling / air-conditioning demand</a:t>
            </a:r>
          </a:p>
          <a:p>
            <a:pPr marL="139303" indent="-139303" defTabSz="742950">
              <a:lnSpc>
                <a:spcPct val="106000"/>
              </a:lnSpc>
              <a:buFont typeface="Arial" panose="020B0604020202020204" pitchFamily="34" charset="0"/>
              <a:buChar char="•"/>
              <a:defRPr/>
            </a:pPr>
            <a:r>
              <a:rPr lang="en-US" sz="800">
                <a:solidFill>
                  <a:prstClr val="black"/>
                </a:solidFill>
                <a:latin typeface="Arial" panose="020B0604020202020204" pitchFamily="34" charset="0"/>
                <a:cs typeface="Arial" panose="020B0604020202020204" pitchFamily="34" charset="0"/>
              </a:rPr>
              <a:t>Increase in agricultural (irrigation) demand in pre-monsoon period</a:t>
            </a:r>
          </a:p>
          <a:p>
            <a:pPr marL="139303" indent="-139303" defTabSz="742950">
              <a:lnSpc>
                <a:spcPct val="106000"/>
              </a:lnSpc>
              <a:buFont typeface="Arial" panose="020B0604020202020204" pitchFamily="34" charset="0"/>
              <a:buChar char="•"/>
              <a:defRPr/>
            </a:pPr>
            <a:r>
              <a:rPr lang="en-US" sz="800">
                <a:solidFill>
                  <a:prstClr val="black"/>
                </a:solidFill>
                <a:latin typeface="Arial" panose="020B0604020202020204" pitchFamily="34" charset="0"/>
                <a:cs typeface="Arial" panose="020B0604020202020204" pitchFamily="34" charset="0"/>
              </a:rPr>
              <a:t>Low wind and hydro-generation</a:t>
            </a:r>
          </a:p>
        </p:txBody>
      </p:sp>
      <p:sp>
        <p:nvSpPr>
          <p:cNvPr id="53" name="Rectangle: Rounded Corners 52">
            <a:extLst>
              <a:ext uri="{FF2B5EF4-FFF2-40B4-BE49-F238E27FC236}">
                <a16:creationId xmlns:a16="http://schemas.microsoft.com/office/drawing/2014/main" id="{BF13188F-D711-A00C-5526-439F67AE3B16}"/>
              </a:ext>
            </a:extLst>
          </p:cNvPr>
          <p:cNvSpPr/>
          <p:nvPr/>
        </p:nvSpPr>
        <p:spPr bwMode="gray">
          <a:xfrm>
            <a:off x="3384824" y="2323219"/>
            <a:ext cx="2106783" cy="900000"/>
          </a:xfrm>
          <a:prstGeom prst="roundRect">
            <a:avLst/>
          </a:prstGeom>
          <a:noFill/>
          <a:ln w="3175" algn="ctr">
            <a:solidFill>
              <a:schemeClr val="tx2"/>
            </a:solidFill>
            <a:miter lim="800000"/>
            <a:headEnd/>
            <a:tailEnd/>
          </a:ln>
        </p:spPr>
        <p:txBody>
          <a:bodyPr wrap="square" lIns="0" tIns="72231" rIns="72231" bIns="72231" rtlCol="0" anchor="ctr"/>
          <a:lstStyle/>
          <a:p>
            <a:pPr defTabSz="742950">
              <a:lnSpc>
                <a:spcPct val="106000"/>
              </a:lnSpc>
              <a:defRPr/>
            </a:pPr>
            <a:r>
              <a:rPr lang="en-US" sz="800" b="1">
                <a:solidFill>
                  <a:prstClr val="black"/>
                </a:solidFill>
                <a:latin typeface="Arial" panose="020B0604020202020204" pitchFamily="34" charset="0"/>
                <a:cs typeface="Arial" panose="020B0604020202020204" pitchFamily="34" charset="0"/>
              </a:rPr>
              <a:t>Demand-supply situation</a:t>
            </a:r>
            <a:r>
              <a:rPr lang="en-US" sz="800">
                <a:solidFill>
                  <a:prstClr val="black"/>
                </a:solidFill>
                <a:latin typeface="Arial" panose="020B0604020202020204" pitchFamily="34" charset="0"/>
                <a:cs typeface="Arial" panose="020B0604020202020204" pitchFamily="34" charset="0"/>
              </a:rPr>
              <a:t>:</a:t>
            </a:r>
          </a:p>
          <a:p>
            <a:pPr marL="139303" indent="-139303" defTabSz="742950">
              <a:lnSpc>
                <a:spcPct val="106000"/>
              </a:lnSpc>
              <a:buFont typeface="Arial" panose="020B0604020202020204" pitchFamily="34" charset="0"/>
              <a:buChar char="•"/>
              <a:defRPr/>
            </a:pPr>
            <a:r>
              <a:rPr lang="en-US" sz="800">
                <a:solidFill>
                  <a:prstClr val="black"/>
                </a:solidFill>
                <a:latin typeface="Arial" panose="020B0604020202020204" pitchFamily="34" charset="0"/>
                <a:cs typeface="Arial" panose="020B0604020202020204" pitchFamily="34" charset="0"/>
              </a:rPr>
              <a:t>Increase in agricultural demand</a:t>
            </a:r>
          </a:p>
          <a:p>
            <a:pPr marL="139303" indent="-139303" defTabSz="742950">
              <a:lnSpc>
                <a:spcPct val="106000"/>
              </a:lnSpc>
              <a:buFont typeface="Arial" panose="020B0604020202020204" pitchFamily="34" charset="0"/>
              <a:buChar char="•"/>
              <a:defRPr/>
            </a:pPr>
            <a:r>
              <a:rPr lang="en-US" sz="800">
                <a:solidFill>
                  <a:prstClr val="black"/>
                </a:solidFill>
                <a:latin typeface="Arial" panose="020B0604020202020204" pitchFamily="34" charset="0"/>
                <a:cs typeface="Arial" panose="020B0604020202020204" pitchFamily="34" charset="0"/>
              </a:rPr>
              <a:t>Low solar generation, high hydro generation period</a:t>
            </a:r>
          </a:p>
          <a:p>
            <a:pPr marL="139303" indent="-139303" defTabSz="742950">
              <a:lnSpc>
                <a:spcPct val="106000"/>
              </a:lnSpc>
              <a:buFont typeface="Arial" panose="020B0604020202020204" pitchFamily="34" charset="0"/>
              <a:buChar char="•"/>
              <a:defRPr/>
            </a:pPr>
            <a:r>
              <a:rPr lang="en-US" sz="800">
                <a:solidFill>
                  <a:prstClr val="black"/>
                </a:solidFill>
                <a:latin typeface="Arial" panose="020B0604020202020204" pitchFamily="34" charset="0"/>
                <a:cs typeface="Arial" panose="020B0604020202020204" pitchFamily="34" charset="0"/>
              </a:rPr>
              <a:t>Decrease in coal plant generation due to supply chain issues</a:t>
            </a:r>
          </a:p>
        </p:txBody>
      </p:sp>
      <p:sp>
        <p:nvSpPr>
          <p:cNvPr id="54" name="Rectangle: Rounded Corners 53">
            <a:extLst>
              <a:ext uri="{FF2B5EF4-FFF2-40B4-BE49-F238E27FC236}">
                <a16:creationId xmlns:a16="http://schemas.microsoft.com/office/drawing/2014/main" id="{3A5D3FA5-8964-2F52-3678-A13F59964D6A}"/>
              </a:ext>
            </a:extLst>
          </p:cNvPr>
          <p:cNvSpPr/>
          <p:nvPr/>
        </p:nvSpPr>
        <p:spPr bwMode="gray">
          <a:xfrm>
            <a:off x="7810353" y="2323219"/>
            <a:ext cx="1633560" cy="900000"/>
          </a:xfrm>
          <a:prstGeom prst="roundRect">
            <a:avLst/>
          </a:prstGeom>
          <a:noFill/>
          <a:ln w="3175" algn="ctr">
            <a:solidFill>
              <a:schemeClr val="tx2"/>
            </a:solidFill>
            <a:miter lim="800000"/>
            <a:headEnd/>
            <a:tailEnd/>
          </a:ln>
        </p:spPr>
        <p:txBody>
          <a:bodyPr wrap="square" lIns="0" tIns="72231" rIns="72231" bIns="72231" rtlCol="0" anchor="ctr"/>
          <a:lstStyle/>
          <a:p>
            <a:pPr defTabSz="742950">
              <a:lnSpc>
                <a:spcPct val="106000"/>
              </a:lnSpc>
              <a:defRPr/>
            </a:pPr>
            <a:r>
              <a:rPr lang="en-US" sz="800" b="1">
                <a:solidFill>
                  <a:prstClr val="black"/>
                </a:solidFill>
                <a:latin typeface="Arial" panose="020B0604020202020204" pitchFamily="34" charset="0"/>
                <a:cs typeface="Arial" panose="020B0604020202020204" pitchFamily="34" charset="0"/>
              </a:rPr>
              <a:t>Demand supply situation</a:t>
            </a:r>
          </a:p>
          <a:p>
            <a:pPr marL="139303" indent="-139303" defTabSz="742950">
              <a:lnSpc>
                <a:spcPct val="106000"/>
              </a:lnSpc>
              <a:buFont typeface="Arial" panose="020B0604020202020204" pitchFamily="34" charset="0"/>
              <a:buChar char="•"/>
              <a:defRPr/>
            </a:pPr>
            <a:r>
              <a:rPr lang="en-US" sz="800">
                <a:solidFill>
                  <a:prstClr val="black"/>
                </a:solidFill>
                <a:latin typeface="Arial" panose="020B0604020202020204" pitchFamily="34" charset="0"/>
                <a:cs typeface="Arial" panose="020B0604020202020204" pitchFamily="34" charset="0"/>
              </a:rPr>
              <a:t>Increase in tourism related demand</a:t>
            </a:r>
          </a:p>
          <a:p>
            <a:pPr marL="139303" indent="-139303" defTabSz="742950">
              <a:lnSpc>
                <a:spcPct val="106000"/>
              </a:lnSpc>
              <a:buFont typeface="Arial" panose="020B0604020202020204" pitchFamily="34" charset="0"/>
              <a:buChar char="•"/>
              <a:defRPr/>
            </a:pPr>
            <a:r>
              <a:rPr lang="en-US" sz="800">
                <a:solidFill>
                  <a:prstClr val="black"/>
                </a:solidFill>
                <a:latin typeface="Arial" panose="020B0604020202020204" pitchFamily="34" charset="0"/>
                <a:cs typeface="Arial" panose="020B0604020202020204" pitchFamily="34" charset="0"/>
              </a:rPr>
              <a:t>Decrease in hydro and wind generation </a:t>
            </a:r>
          </a:p>
        </p:txBody>
      </p:sp>
      <p:sp>
        <p:nvSpPr>
          <p:cNvPr id="55" name="TextBox 54">
            <a:extLst>
              <a:ext uri="{FF2B5EF4-FFF2-40B4-BE49-F238E27FC236}">
                <a16:creationId xmlns:a16="http://schemas.microsoft.com/office/drawing/2014/main" id="{AF4EA305-6637-AC64-FBCD-050C0DD32425}"/>
              </a:ext>
            </a:extLst>
          </p:cNvPr>
          <p:cNvSpPr txBox="1"/>
          <p:nvPr/>
        </p:nvSpPr>
        <p:spPr>
          <a:xfrm>
            <a:off x="5879566" y="1890905"/>
            <a:ext cx="3861573" cy="123111"/>
          </a:xfrm>
          <a:prstGeom prst="rect">
            <a:avLst/>
          </a:prstGeom>
          <a:noFill/>
        </p:spPr>
        <p:txBody>
          <a:bodyPr wrap="square" lIns="0" tIns="0" rIns="0" bIns="0" rtlCol="0">
            <a:spAutoFit/>
          </a:bodyPr>
          <a:lstStyle/>
          <a:p>
            <a:pPr algn="r" defTabSz="742950">
              <a:spcBef>
                <a:spcPts val="488"/>
              </a:spcBef>
              <a:buSzPct val="100000"/>
              <a:defRPr/>
            </a:pPr>
            <a:r>
              <a:rPr lang="en-US" sz="800" i="1">
                <a:solidFill>
                  <a:prstClr val="black"/>
                </a:solidFill>
                <a:latin typeface="Arial" panose="020B0604020202020204" pitchFamily="34" charset="0"/>
                <a:cs typeface="Arial" panose="020B0604020202020204" pitchFamily="34" charset="0"/>
              </a:rPr>
              <a:t>Deficit is gap between electricity demand (MU) and electricity supply (MU) (ex-bus)</a:t>
            </a:r>
          </a:p>
        </p:txBody>
      </p:sp>
      <p:grpSp>
        <p:nvGrpSpPr>
          <p:cNvPr id="56" name="Group 55">
            <a:extLst>
              <a:ext uri="{FF2B5EF4-FFF2-40B4-BE49-F238E27FC236}">
                <a16:creationId xmlns:a16="http://schemas.microsoft.com/office/drawing/2014/main" id="{A71E0D53-EB44-A663-A048-F1D24385CE56}"/>
              </a:ext>
            </a:extLst>
          </p:cNvPr>
          <p:cNvGrpSpPr/>
          <p:nvPr/>
        </p:nvGrpSpPr>
        <p:grpSpPr>
          <a:xfrm>
            <a:off x="10145955" y="2279995"/>
            <a:ext cx="1504928" cy="1550946"/>
            <a:chOff x="1009903" y="1156821"/>
            <a:chExt cx="5086097" cy="4966147"/>
          </a:xfrm>
        </p:grpSpPr>
        <p:sp>
          <p:nvSpPr>
            <p:cNvPr id="57" name="Freeform 6">
              <a:extLst>
                <a:ext uri="{FF2B5EF4-FFF2-40B4-BE49-F238E27FC236}">
                  <a16:creationId xmlns:a16="http://schemas.microsoft.com/office/drawing/2014/main" id="{4260A840-75D9-38CB-7E8E-FB6319223D14}"/>
                </a:ext>
              </a:extLst>
            </p:cNvPr>
            <p:cNvSpPr>
              <a:spLocks noEditPoints="1"/>
            </p:cNvSpPr>
            <p:nvPr/>
          </p:nvSpPr>
          <p:spPr bwMode="auto">
            <a:xfrm>
              <a:off x="4086841" y="2966576"/>
              <a:ext cx="707453" cy="981087"/>
            </a:xfrm>
            <a:custGeom>
              <a:avLst/>
              <a:gdLst>
                <a:gd name="T0" fmla="*/ 215 w 375"/>
                <a:gd name="T1" fmla="*/ 567 h 580"/>
                <a:gd name="T2" fmla="*/ 212 w 375"/>
                <a:gd name="T3" fmla="*/ 538 h 580"/>
                <a:gd name="T4" fmla="*/ 368 w 375"/>
                <a:gd name="T5" fmla="*/ 57 h 580"/>
                <a:gd name="T6" fmla="*/ 305 w 375"/>
                <a:gd name="T7" fmla="*/ 46 h 580"/>
                <a:gd name="T8" fmla="*/ 269 w 375"/>
                <a:gd name="T9" fmla="*/ 11 h 580"/>
                <a:gd name="T10" fmla="*/ 208 w 375"/>
                <a:gd name="T11" fmla="*/ 6 h 580"/>
                <a:gd name="T12" fmla="*/ 215 w 375"/>
                <a:gd name="T13" fmla="*/ 61 h 580"/>
                <a:gd name="T14" fmla="*/ 225 w 375"/>
                <a:gd name="T15" fmla="*/ 89 h 580"/>
                <a:gd name="T16" fmla="*/ 202 w 375"/>
                <a:gd name="T17" fmla="*/ 114 h 580"/>
                <a:gd name="T18" fmla="*/ 183 w 375"/>
                <a:gd name="T19" fmla="*/ 141 h 580"/>
                <a:gd name="T20" fmla="*/ 206 w 375"/>
                <a:gd name="T21" fmla="*/ 177 h 580"/>
                <a:gd name="T22" fmla="*/ 179 w 375"/>
                <a:gd name="T23" fmla="*/ 188 h 580"/>
                <a:gd name="T24" fmla="*/ 187 w 375"/>
                <a:gd name="T25" fmla="*/ 203 h 580"/>
                <a:gd name="T26" fmla="*/ 189 w 375"/>
                <a:gd name="T27" fmla="*/ 253 h 580"/>
                <a:gd name="T28" fmla="*/ 191 w 375"/>
                <a:gd name="T29" fmla="*/ 268 h 580"/>
                <a:gd name="T30" fmla="*/ 181 w 375"/>
                <a:gd name="T31" fmla="*/ 279 h 580"/>
                <a:gd name="T32" fmla="*/ 170 w 375"/>
                <a:gd name="T33" fmla="*/ 310 h 580"/>
                <a:gd name="T34" fmla="*/ 151 w 375"/>
                <a:gd name="T35" fmla="*/ 331 h 580"/>
                <a:gd name="T36" fmla="*/ 133 w 375"/>
                <a:gd name="T37" fmla="*/ 342 h 580"/>
                <a:gd name="T38" fmla="*/ 112 w 375"/>
                <a:gd name="T39" fmla="*/ 350 h 580"/>
                <a:gd name="T40" fmla="*/ 76 w 375"/>
                <a:gd name="T41" fmla="*/ 363 h 580"/>
                <a:gd name="T42" fmla="*/ 31 w 375"/>
                <a:gd name="T43" fmla="*/ 384 h 580"/>
                <a:gd name="T44" fmla="*/ 0 w 375"/>
                <a:gd name="T45" fmla="*/ 384 h 580"/>
                <a:gd name="T46" fmla="*/ 8 w 375"/>
                <a:gd name="T47" fmla="*/ 416 h 580"/>
                <a:gd name="T48" fmla="*/ 61 w 375"/>
                <a:gd name="T49" fmla="*/ 435 h 580"/>
                <a:gd name="T50" fmla="*/ 76 w 375"/>
                <a:gd name="T51" fmla="*/ 473 h 580"/>
                <a:gd name="T52" fmla="*/ 90 w 375"/>
                <a:gd name="T53" fmla="*/ 496 h 580"/>
                <a:gd name="T54" fmla="*/ 90 w 375"/>
                <a:gd name="T55" fmla="*/ 517 h 580"/>
                <a:gd name="T56" fmla="*/ 118 w 375"/>
                <a:gd name="T57" fmla="*/ 538 h 580"/>
                <a:gd name="T58" fmla="*/ 172 w 375"/>
                <a:gd name="T59" fmla="*/ 569 h 580"/>
                <a:gd name="T60" fmla="*/ 215 w 375"/>
                <a:gd name="T61" fmla="*/ 517 h 580"/>
                <a:gd name="T62" fmla="*/ 208 w 375"/>
                <a:gd name="T63" fmla="*/ 510 h 580"/>
                <a:gd name="T64" fmla="*/ 223 w 375"/>
                <a:gd name="T65" fmla="*/ 572 h 580"/>
                <a:gd name="T66" fmla="*/ 233 w 375"/>
                <a:gd name="T67" fmla="*/ 570 h 580"/>
                <a:gd name="T68" fmla="*/ 244 w 375"/>
                <a:gd name="T69" fmla="*/ 561 h 580"/>
                <a:gd name="T70" fmla="*/ 250 w 375"/>
                <a:gd name="T71" fmla="*/ 569 h 580"/>
                <a:gd name="T72" fmla="*/ 259 w 375"/>
                <a:gd name="T73" fmla="*/ 557 h 580"/>
                <a:gd name="T74" fmla="*/ 265 w 375"/>
                <a:gd name="T75" fmla="*/ 513 h 580"/>
                <a:gd name="T76" fmla="*/ 265 w 375"/>
                <a:gd name="T77" fmla="*/ 525 h 580"/>
                <a:gd name="T78" fmla="*/ 274 w 375"/>
                <a:gd name="T79" fmla="*/ 576 h 580"/>
                <a:gd name="T80" fmla="*/ 282 w 375"/>
                <a:gd name="T81" fmla="*/ 557 h 580"/>
                <a:gd name="T82" fmla="*/ 294 w 375"/>
                <a:gd name="T83" fmla="*/ 544 h 580"/>
                <a:gd name="T84" fmla="*/ 297 w 375"/>
                <a:gd name="T85" fmla="*/ 521 h 580"/>
                <a:gd name="T86" fmla="*/ 290 w 375"/>
                <a:gd name="T87" fmla="*/ 472 h 580"/>
                <a:gd name="T88" fmla="*/ 290 w 375"/>
                <a:gd name="T89" fmla="*/ 414 h 580"/>
                <a:gd name="T90" fmla="*/ 265 w 375"/>
                <a:gd name="T91" fmla="*/ 384 h 580"/>
                <a:gd name="T92" fmla="*/ 255 w 375"/>
                <a:gd name="T93" fmla="*/ 346 h 580"/>
                <a:gd name="T94" fmla="*/ 269 w 375"/>
                <a:gd name="T95" fmla="*/ 314 h 580"/>
                <a:gd name="T96" fmla="*/ 208 w 375"/>
                <a:gd name="T97" fmla="*/ 270 h 580"/>
                <a:gd name="T98" fmla="*/ 223 w 375"/>
                <a:gd name="T99" fmla="*/ 240 h 580"/>
                <a:gd name="T100" fmla="*/ 263 w 375"/>
                <a:gd name="T101" fmla="*/ 213 h 580"/>
                <a:gd name="T102" fmla="*/ 280 w 375"/>
                <a:gd name="T103" fmla="*/ 198 h 580"/>
                <a:gd name="T104" fmla="*/ 252 w 375"/>
                <a:gd name="T105" fmla="*/ 181 h 580"/>
                <a:gd name="T106" fmla="*/ 210 w 375"/>
                <a:gd name="T107" fmla="*/ 137 h 580"/>
                <a:gd name="T108" fmla="*/ 240 w 375"/>
                <a:gd name="T109" fmla="*/ 95 h 580"/>
                <a:gd name="T110" fmla="*/ 236 w 375"/>
                <a:gd name="T111" fmla="*/ 66 h 580"/>
                <a:gd name="T112" fmla="*/ 263 w 375"/>
                <a:gd name="T113" fmla="*/ 89 h 580"/>
                <a:gd name="T114" fmla="*/ 295 w 375"/>
                <a:gd name="T115" fmla="*/ 103 h 580"/>
                <a:gd name="T116" fmla="*/ 299 w 375"/>
                <a:gd name="T117" fmla="*/ 93 h 580"/>
                <a:gd name="T118" fmla="*/ 330 w 375"/>
                <a:gd name="T119" fmla="*/ 127 h 580"/>
                <a:gd name="T120" fmla="*/ 347 w 375"/>
                <a:gd name="T121" fmla="*/ 120 h 580"/>
                <a:gd name="T122" fmla="*/ 362 w 375"/>
                <a:gd name="T123" fmla="*/ 104 h 580"/>
                <a:gd name="T124" fmla="*/ 375 w 375"/>
                <a:gd name="T125" fmla="*/ 65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5" h="580">
                  <a:moveTo>
                    <a:pt x="284" y="574"/>
                  </a:moveTo>
                  <a:lnTo>
                    <a:pt x="284" y="574"/>
                  </a:lnTo>
                  <a:lnTo>
                    <a:pt x="282" y="572"/>
                  </a:lnTo>
                  <a:lnTo>
                    <a:pt x="278" y="572"/>
                  </a:lnTo>
                  <a:lnTo>
                    <a:pt x="278" y="574"/>
                  </a:lnTo>
                  <a:lnTo>
                    <a:pt x="278" y="580"/>
                  </a:lnTo>
                  <a:lnTo>
                    <a:pt x="280" y="580"/>
                  </a:lnTo>
                  <a:lnTo>
                    <a:pt x="282" y="580"/>
                  </a:lnTo>
                  <a:lnTo>
                    <a:pt x="284" y="580"/>
                  </a:lnTo>
                  <a:lnTo>
                    <a:pt x="286" y="580"/>
                  </a:lnTo>
                  <a:lnTo>
                    <a:pt x="286" y="578"/>
                  </a:lnTo>
                  <a:lnTo>
                    <a:pt x="286" y="576"/>
                  </a:lnTo>
                  <a:lnTo>
                    <a:pt x="284" y="574"/>
                  </a:lnTo>
                  <a:close/>
                  <a:moveTo>
                    <a:pt x="212" y="548"/>
                  </a:moveTo>
                  <a:lnTo>
                    <a:pt x="210" y="551"/>
                  </a:lnTo>
                  <a:lnTo>
                    <a:pt x="206" y="563"/>
                  </a:lnTo>
                  <a:lnTo>
                    <a:pt x="206" y="565"/>
                  </a:lnTo>
                  <a:lnTo>
                    <a:pt x="206" y="567"/>
                  </a:lnTo>
                  <a:lnTo>
                    <a:pt x="206" y="567"/>
                  </a:lnTo>
                  <a:lnTo>
                    <a:pt x="206" y="569"/>
                  </a:lnTo>
                  <a:lnTo>
                    <a:pt x="208" y="569"/>
                  </a:lnTo>
                  <a:lnTo>
                    <a:pt x="210" y="569"/>
                  </a:lnTo>
                  <a:lnTo>
                    <a:pt x="212" y="570"/>
                  </a:lnTo>
                  <a:lnTo>
                    <a:pt x="213" y="570"/>
                  </a:lnTo>
                  <a:lnTo>
                    <a:pt x="213" y="570"/>
                  </a:lnTo>
                  <a:lnTo>
                    <a:pt x="215" y="569"/>
                  </a:lnTo>
                  <a:lnTo>
                    <a:pt x="215" y="567"/>
                  </a:lnTo>
                  <a:lnTo>
                    <a:pt x="213" y="565"/>
                  </a:lnTo>
                  <a:lnTo>
                    <a:pt x="217" y="563"/>
                  </a:lnTo>
                  <a:lnTo>
                    <a:pt x="217" y="557"/>
                  </a:lnTo>
                  <a:lnTo>
                    <a:pt x="215" y="546"/>
                  </a:lnTo>
                  <a:lnTo>
                    <a:pt x="212" y="548"/>
                  </a:lnTo>
                  <a:close/>
                  <a:moveTo>
                    <a:pt x="261" y="540"/>
                  </a:moveTo>
                  <a:lnTo>
                    <a:pt x="259" y="540"/>
                  </a:lnTo>
                  <a:lnTo>
                    <a:pt x="259" y="544"/>
                  </a:lnTo>
                  <a:lnTo>
                    <a:pt x="257" y="546"/>
                  </a:lnTo>
                  <a:lnTo>
                    <a:pt x="255" y="550"/>
                  </a:lnTo>
                  <a:lnTo>
                    <a:pt x="255" y="550"/>
                  </a:lnTo>
                  <a:lnTo>
                    <a:pt x="255" y="550"/>
                  </a:lnTo>
                  <a:lnTo>
                    <a:pt x="255" y="551"/>
                  </a:lnTo>
                  <a:lnTo>
                    <a:pt x="255" y="553"/>
                  </a:lnTo>
                  <a:lnTo>
                    <a:pt x="257" y="553"/>
                  </a:lnTo>
                  <a:lnTo>
                    <a:pt x="259" y="553"/>
                  </a:lnTo>
                  <a:lnTo>
                    <a:pt x="261" y="553"/>
                  </a:lnTo>
                  <a:lnTo>
                    <a:pt x="261" y="550"/>
                  </a:lnTo>
                  <a:lnTo>
                    <a:pt x="261" y="546"/>
                  </a:lnTo>
                  <a:lnTo>
                    <a:pt x="263" y="544"/>
                  </a:lnTo>
                  <a:lnTo>
                    <a:pt x="263" y="542"/>
                  </a:lnTo>
                  <a:lnTo>
                    <a:pt x="263" y="540"/>
                  </a:lnTo>
                  <a:lnTo>
                    <a:pt x="261" y="540"/>
                  </a:lnTo>
                  <a:close/>
                  <a:moveTo>
                    <a:pt x="212" y="548"/>
                  </a:moveTo>
                  <a:lnTo>
                    <a:pt x="213" y="544"/>
                  </a:lnTo>
                  <a:lnTo>
                    <a:pt x="213" y="542"/>
                  </a:lnTo>
                  <a:lnTo>
                    <a:pt x="212" y="538"/>
                  </a:lnTo>
                  <a:lnTo>
                    <a:pt x="212" y="538"/>
                  </a:lnTo>
                  <a:lnTo>
                    <a:pt x="210" y="540"/>
                  </a:lnTo>
                  <a:lnTo>
                    <a:pt x="210" y="540"/>
                  </a:lnTo>
                  <a:lnTo>
                    <a:pt x="208" y="542"/>
                  </a:lnTo>
                  <a:lnTo>
                    <a:pt x="208" y="544"/>
                  </a:lnTo>
                  <a:lnTo>
                    <a:pt x="208" y="546"/>
                  </a:lnTo>
                  <a:lnTo>
                    <a:pt x="208" y="548"/>
                  </a:lnTo>
                  <a:lnTo>
                    <a:pt x="210" y="548"/>
                  </a:lnTo>
                  <a:lnTo>
                    <a:pt x="212" y="548"/>
                  </a:lnTo>
                  <a:close/>
                  <a:moveTo>
                    <a:pt x="375" y="65"/>
                  </a:moveTo>
                  <a:lnTo>
                    <a:pt x="374" y="63"/>
                  </a:lnTo>
                  <a:lnTo>
                    <a:pt x="372" y="57"/>
                  </a:lnTo>
                  <a:lnTo>
                    <a:pt x="374" y="55"/>
                  </a:lnTo>
                  <a:lnTo>
                    <a:pt x="372" y="55"/>
                  </a:lnTo>
                  <a:lnTo>
                    <a:pt x="372" y="55"/>
                  </a:lnTo>
                  <a:lnTo>
                    <a:pt x="372" y="55"/>
                  </a:lnTo>
                  <a:lnTo>
                    <a:pt x="372" y="55"/>
                  </a:lnTo>
                  <a:lnTo>
                    <a:pt x="370" y="55"/>
                  </a:lnTo>
                  <a:lnTo>
                    <a:pt x="370" y="55"/>
                  </a:lnTo>
                  <a:lnTo>
                    <a:pt x="370" y="55"/>
                  </a:lnTo>
                  <a:lnTo>
                    <a:pt x="370" y="55"/>
                  </a:lnTo>
                  <a:lnTo>
                    <a:pt x="370" y="57"/>
                  </a:lnTo>
                  <a:lnTo>
                    <a:pt x="370" y="57"/>
                  </a:lnTo>
                  <a:lnTo>
                    <a:pt x="370" y="57"/>
                  </a:lnTo>
                  <a:lnTo>
                    <a:pt x="370" y="59"/>
                  </a:lnTo>
                  <a:lnTo>
                    <a:pt x="370" y="59"/>
                  </a:lnTo>
                  <a:lnTo>
                    <a:pt x="368" y="57"/>
                  </a:lnTo>
                  <a:lnTo>
                    <a:pt x="368" y="57"/>
                  </a:lnTo>
                  <a:lnTo>
                    <a:pt x="364" y="57"/>
                  </a:lnTo>
                  <a:lnTo>
                    <a:pt x="364" y="57"/>
                  </a:lnTo>
                  <a:lnTo>
                    <a:pt x="362" y="57"/>
                  </a:lnTo>
                  <a:lnTo>
                    <a:pt x="356" y="55"/>
                  </a:lnTo>
                  <a:lnTo>
                    <a:pt x="354" y="55"/>
                  </a:lnTo>
                  <a:lnTo>
                    <a:pt x="353" y="57"/>
                  </a:lnTo>
                  <a:lnTo>
                    <a:pt x="351" y="57"/>
                  </a:lnTo>
                  <a:lnTo>
                    <a:pt x="349" y="55"/>
                  </a:lnTo>
                  <a:lnTo>
                    <a:pt x="351" y="53"/>
                  </a:lnTo>
                  <a:lnTo>
                    <a:pt x="351" y="51"/>
                  </a:lnTo>
                  <a:lnTo>
                    <a:pt x="349" y="49"/>
                  </a:lnTo>
                  <a:lnTo>
                    <a:pt x="345" y="47"/>
                  </a:lnTo>
                  <a:lnTo>
                    <a:pt x="341" y="47"/>
                  </a:lnTo>
                  <a:lnTo>
                    <a:pt x="335" y="47"/>
                  </a:lnTo>
                  <a:lnTo>
                    <a:pt x="332" y="46"/>
                  </a:lnTo>
                  <a:lnTo>
                    <a:pt x="328" y="44"/>
                  </a:lnTo>
                  <a:lnTo>
                    <a:pt x="326" y="42"/>
                  </a:lnTo>
                  <a:lnTo>
                    <a:pt x="322" y="42"/>
                  </a:lnTo>
                  <a:lnTo>
                    <a:pt x="320" y="42"/>
                  </a:lnTo>
                  <a:lnTo>
                    <a:pt x="318" y="44"/>
                  </a:lnTo>
                  <a:lnTo>
                    <a:pt x="318" y="44"/>
                  </a:lnTo>
                  <a:lnTo>
                    <a:pt x="316" y="44"/>
                  </a:lnTo>
                  <a:lnTo>
                    <a:pt x="316" y="46"/>
                  </a:lnTo>
                  <a:lnTo>
                    <a:pt x="313" y="46"/>
                  </a:lnTo>
                  <a:lnTo>
                    <a:pt x="311" y="46"/>
                  </a:lnTo>
                  <a:lnTo>
                    <a:pt x="305" y="46"/>
                  </a:lnTo>
                  <a:lnTo>
                    <a:pt x="303" y="46"/>
                  </a:lnTo>
                  <a:lnTo>
                    <a:pt x="301" y="44"/>
                  </a:lnTo>
                  <a:lnTo>
                    <a:pt x="301" y="42"/>
                  </a:lnTo>
                  <a:lnTo>
                    <a:pt x="299" y="38"/>
                  </a:lnTo>
                  <a:lnTo>
                    <a:pt x="297" y="38"/>
                  </a:lnTo>
                  <a:lnTo>
                    <a:pt x="295" y="36"/>
                  </a:lnTo>
                  <a:lnTo>
                    <a:pt x="294" y="34"/>
                  </a:lnTo>
                  <a:lnTo>
                    <a:pt x="292" y="34"/>
                  </a:lnTo>
                  <a:lnTo>
                    <a:pt x="290" y="36"/>
                  </a:lnTo>
                  <a:lnTo>
                    <a:pt x="290" y="36"/>
                  </a:lnTo>
                  <a:lnTo>
                    <a:pt x="288" y="36"/>
                  </a:lnTo>
                  <a:lnTo>
                    <a:pt x="288" y="34"/>
                  </a:lnTo>
                  <a:lnTo>
                    <a:pt x="286" y="34"/>
                  </a:lnTo>
                  <a:lnTo>
                    <a:pt x="288" y="32"/>
                  </a:lnTo>
                  <a:lnTo>
                    <a:pt x="288" y="32"/>
                  </a:lnTo>
                  <a:lnTo>
                    <a:pt x="286" y="30"/>
                  </a:lnTo>
                  <a:lnTo>
                    <a:pt x="286" y="28"/>
                  </a:lnTo>
                  <a:lnTo>
                    <a:pt x="284" y="28"/>
                  </a:lnTo>
                  <a:lnTo>
                    <a:pt x="282" y="30"/>
                  </a:lnTo>
                  <a:lnTo>
                    <a:pt x="280" y="32"/>
                  </a:lnTo>
                  <a:lnTo>
                    <a:pt x="280" y="27"/>
                  </a:lnTo>
                  <a:lnTo>
                    <a:pt x="280" y="21"/>
                  </a:lnTo>
                  <a:lnTo>
                    <a:pt x="278" y="19"/>
                  </a:lnTo>
                  <a:lnTo>
                    <a:pt x="278" y="17"/>
                  </a:lnTo>
                  <a:lnTo>
                    <a:pt x="276" y="15"/>
                  </a:lnTo>
                  <a:lnTo>
                    <a:pt x="271" y="11"/>
                  </a:lnTo>
                  <a:lnTo>
                    <a:pt x="269" y="11"/>
                  </a:lnTo>
                  <a:lnTo>
                    <a:pt x="269" y="11"/>
                  </a:lnTo>
                  <a:lnTo>
                    <a:pt x="269" y="11"/>
                  </a:lnTo>
                  <a:lnTo>
                    <a:pt x="265" y="11"/>
                  </a:lnTo>
                  <a:lnTo>
                    <a:pt x="263" y="9"/>
                  </a:lnTo>
                  <a:lnTo>
                    <a:pt x="263" y="9"/>
                  </a:lnTo>
                  <a:lnTo>
                    <a:pt x="257" y="9"/>
                  </a:lnTo>
                  <a:lnTo>
                    <a:pt x="252" y="7"/>
                  </a:lnTo>
                  <a:lnTo>
                    <a:pt x="250" y="7"/>
                  </a:lnTo>
                  <a:lnTo>
                    <a:pt x="242" y="15"/>
                  </a:lnTo>
                  <a:lnTo>
                    <a:pt x="240" y="17"/>
                  </a:lnTo>
                  <a:lnTo>
                    <a:pt x="238" y="17"/>
                  </a:lnTo>
                  <a:lnTo>
                    <a:pt x="236" y="17"/>
                  </a:lnTo>
                  <a:lnTo>
                    <a:pt x="234" y="17"/>
                  </a:lnTo>
                  <a:lnTo>
                    <a:pt x="234" y="17"/>
                  </a:lnTo>
                  <a:lnTo>
                    <a:pt x="233" y="17"/>
                  </a:lnTo>
                  <a:lnTo>
                    <a:pt x="233" y="17"/>
                  </a:lnTo>
                  <a:lnTo>
                    <a:pt x="223" y="13"/>
                  </a:lnTo>
                  <a:lnTo>
                    <a:pt x="219" y="11"/>
                  </a:lnTo>
                  <a:lnTo>
                    <a:pt x="215" y="13"/>
                  </a:lnTo>
                  <a:lnTo>
                    <a:pt x="212" y="13"/>
                  </a:lnTo>
                  <a:lnTo>
                    <a:pt x="212" y="11"/>
                  </a:lnTo>
                  <a:lnTo>
                    <a:pt x="210" y="11"/>
                  </a:lnTo>
                  <a:lnTo>
                    <a:pt x="210" y="9"/>
                  </a:lnTo>
                  <a:lnTo>
                    <a:pt x="210" y="9"/>
                  </a:lnTo>
                  <a:lnTo>
                    <a:pt x="210" y="7"/>
                  </a:lnTo>
                  <a:lnTo>
                    <a:pt x="208" y="6"/>
                  </a:lnTo>
                  <a:lnTo>
                    <a:pt x="208" y="6"/>
                  </a:lnTo>
                  <a:lnTo>
                    <a:pt x="204" y="4"/>
                  </a:lnTo>
                  <a:lnTo>
                    <a:pt x="204" y="2"/>
                  </a:lnTo>
                  <a:lnTo>
                    <a:pt x="202" y="0"/>
                  </a:lnTo>
                  <a:lnTo>
                    <a:pt x="200" y="4"/>
                  </a:lnTo>
                  <a:lnTo>
                    <a:pt x="200" y="11"/>
                  </a:lnTo>
                  <a:lnTo>
                    <a:pt x="198" y="15"/>
                  </a:lnTo>
                  <a:lnTo>
                    <a:pt x="198" y="15"/>
                  </a:lnTo>
                  <a:lnTo>
                    <a:pt x="198" y="15"/>
                  </a:lnTo>
                  <a:lnTo>
                    <a:pt x="198" y="17"/>
                  </a:lnTo>
                  <a:lnTo>
                    <a:pt x="200" y="19"/>
                  </a:lnTo>
                  <a:lnTo>
                    <a:pt x="202" y="23"/>
                  </a:lnTo>
                  <a:lnTo>
                    <a:pt x="204" y="23"/>
                  </a:lnTo>
                  <a:lnTo>
                    <a:pt x="206" y="23"/>
                  </a:lnTo>
                  <a:lnTo>
                    <a:pt x="206" y="25"/>
                  </a:lnTo>
                  <a:lnTo>
                    <a:pt x="208" y="27"/>
                  </a:lnTo>
                  <a:lnTo>
                    <a:pt x="210" y="30"/>
                  </a:lnTo>
                  <a:lnTo>
                    <a:pt x="212" y="34"/>
                  </a:lnTo>
                  <a:lnTo>
                    <a:pt x="213" y="36"/>
                  </a:lnTo>
                  <a:lnTo>
                    <a:pt x="215" y="40"/>
                  </a:lnTo>
                  <a:lnTo>
                    <a:pt x="215" y="40"/>
                  </a:lnTo>
                  <a:lnTo>
                    <a:pt x="215" y="42"/>
                  </a:lnTo>
                  <a:lnTo>
                    <a:pt x="215" y="47"/>
                  </a:lnTo>
                  <a:lnTo>
                    <a:pt x="217" y="51"/>
                  </a:lnTo>
                  <a:lnTo>
                    <a:pt x="217" y="53"/>
                  </a:lnTo>
                  <a:lnTo>
                    <a:pt x="217" y="55"/>
                  </a:lnTo>
                  <a:lnTo>
                    <a:pt x="217" y="57"/>
                  </a:lnTo>
                  <a:lnTo>
                    <a:pt x="215" y="61"/>
                  </a:lnTo>
                  <a:lnTo>
                    <a:pt x="212" y="70"/>
                  </a:lnTo>
                  <a:lnTo>
                    <a:pt x="210" y="74"/>
                  </a:lnTo>
                  <a:lnTo>
                    <a:pt x="212" y="74"/>
                  </a:lnTo>
                  <a:lnTo>
                    <a:pt x="213" y="76"/>
                  </a:lnTo>
                  <a:lnTo>
                    <a:pt x="213" y="74"/>
                  </a:lnTo>
                  <a:lnTo>
                    <a:pt x="215" y="74"/>
                  </a:lnTo>
                  <a:lnTo>
                    <a:pt x="219" y="72"/>
                  </a:lnTo>
                  <a:lnTo>
                    <a:pt x="221" y="74"/>
                  </a:lnTo>
                  <a:lnTo>
                    <a:pt x="221" y="74"/>
                  </a:lnTo>
                  <a:lnTo>
                    <a:pt x="219" y="76"/>
                  </a:lnTo>
                  <a:lnTo>
                    <a:pt x="219" y="78"/>
                  </a:lnTo>
                  <a:lnTo>
                    <a:pt x="219" y="78"/>
                  </a:lnTo>
                  <a:lnTo>
                    <a:pt x="219" y="78"/>
                  </a:lnTo>
                  <a:lnTo>
                    <a:pt x="219" y="78"/>
                  </a:lnTo>
                  <a:lnTo>
                    <a:pt x="221" y="80"/>
                  </a:lnTo>
                  <a:lnTo>
                    <a:pt x="221" y="80"/>
                  </a:lnTo>
                  <a:lnTo>
                    <a:pt x="223" y="80"/>
                  </a:lnTo>
                  <a:lnTo>
                    <a:pt x="223" y="82"/>
                  </a:lnTo>
                  <a:lnTo>
                    <a:pt x="227" y="84"/>
                  </a:lnTo>
                  <a:lnTo>
                    <a:pt x="227" y="85"/>
                  </a:lnTo>
                  <a:lnTo>
                    <a:pt x="227" y="85"/>
                  </a:lnTo>
                  <a:lnTo>
                    <a:pt x="227" y="85"/>
                  </a:lnTo>
                  <a:lnTo>
                    <a:pt x="227" y="85"/>
                  </a:lnTo>
                  <a:lnTo>
                    <a:pt x="225" y="87"/>
                  </a:lnTo>
                  <a:lnTo>
                    <a:pt x="225" y="87"/>
                  </a:lnTo>
                  <a:lnTo>
                    <a:pt x="225" y="87"/>
                  </a:lnTo>
                  <a:lnTo>
                    <a:pt x="225" y="89"/>
                  </a:lnTo>
                  <a:lnTo>
                    <a:pt x="225" y="89"/>
                  </a:lnTo>
                  <a:lnTo>
                    <a:pt x="227" y="89"/>
                  </a:lnTo>
                  <a:lnTo>
                    <a:pt x="229" y="91"/>
                  </a:lnTo>
                  <a:lnTo>
                    <a:pt x="229" y="91"/>
                  </a:lnTo>
                  <a:lnTo>
                    <a:pt x="229" y="93"/>
                  </a:lnTo>
                  <a:lnTo>
                    <a:pt x="229" y="93"/>
                  </a:lnTo>
                  <a:lnTo>
                    <a:pt x="229" y="95"/>
                  </a:lnTo>
                  <a:lnTo>
                    <a:pt x="229" y="95"/>
                  </a:lnTo>
                  <a:lnTo>
                    <a:pt x="229" y="95"/>
                  </a:lnTo>
                  <a:lnTo>
                    <a:pt x="229" y="95"/>
                  </a:lnTo>
                  <a:lnTo>
                    <a:pt x="227" y="95"/>
                  </a:lnTo>
                  <a:lnTo>
                    <a:pt x="225" y="95"/>
                  </a:lnTo>
                  <a:lnTo>
                    <a:pt x="225" y="97"/>
                  </a:lnTo>
                  <a:lnTo>
                    <a:pt x="221" y="99"/>
                  </a:lnTo>
                  <a:lnTo>
                    <a:pt x="221" y="99"/>
                  </a:lnTo>
                  <a:lnTo>
                    <a:pt x="217" y="101"/>
                  </a:lnTo>
                  <a:lnTo>
                    <a:pt x="217" y="101"/>
                  </a:lnTo>
                  <a:lnTo>
                    <a:pt x="215" y="103"/>
                  </a:lnTo>
                  <a:lnTo>
                    <a:pt x="212" y="106"/>
                  </a:lnTo>
                  <a:lnTo>
                    <a:pt x="210" y="108"/>
                  </a:lnTo>
                  <a:lnTo>
                    <a:pt x="210" y="110"/>
                  </a:lnTo>
                  <a:lnTo>
                    <a:pt x="208" y="110"/>
                  </a:lnTo>
                  <a:lnTo>
                    <a:pt x="206" y="112"/>
                  </a:lnTo>
                  <a:lnTo>
                    <a:pt x="206" y="112"/>
                  </a:lnTo>
                  <a:lnTo>
                    <a:pt x="202" y="114"/>
                  </a:lnTo>
                  <a:lnTo>
                    <a:pt x="202" y="114"/>
                  </a:lnTo>
                  <a:lnTo>
                    <a:pt x="202" y="114"/>
                  </a:lnTo>
                  <a:lnTo>
                    <a:pt x="200" y="114"/>
                  </a:lnTo>
                  <a:lnTo>
                    <a:pt x="200" y="114"/>
                  </a:lnTo>
                  <a:lnTo>
                    <a:pt x="200" y="114"/>
                  </a:lnTo>
                  <a:lnTo>
                    <a:pt x="198" y="116"/>
                  </a:lnTo>
                  <a:lnTo>
                    <a:pt x="196" y="120"/>
                  </a:lnTo>
                  <a:lnTo>
                    <a:pt x="189" y="125"/>
                  </a:lnTo>
                  <a:lnTo>
                    <a:pt x="187" y="127"/>
                  </a:lnTo>
                  <a:lnTo>
                    <a:pt x="185" y="129"/>
                  </a:lnTo>
                  <a:lnTo>
                    <a:pt x="185" y="129"/>
                  </a:lnTo>
                  <a:lnTo>
                    <a:pt x="185" y="129"/>
                  </a:lnTo>
                  <a:lnTo>
                    <a:pt x="185" y="129"/>
                  </a:lnTo>
                  <a:lnTo>
                    <a:pt x="185" y="131"/>
                  </a:lnTo>
                  <a:lnTo>
                    <a:pt x="185" y="131"/>
                  </a:lnTo>
                  <a:lnTo>
                    <a:pt x="185" y="133"/>
                  </a:lnTo>
                  <a:lnTo>
                    <a:pt x="185" y="137"/>
                  </a:lnTo>
                  <a:lnTo>
                    <a:pt x="185" y="137"/>
                  </a:lnTo>
                  <a:lnTo>
                    <a:pt x="185" y="137"/>
                  </a:lnTo>
                  <a:lnTo>
                    <a:pt x="183" y="137"/>
                  </a:lnTo>
                  <a:lnTo>
                    <a:pt x="183" y="137"/>
                  </a:lnTo>
                  <a:lnTo>
                    <a:pt x="181" y="139"/>
                  </a:lnTo>
                  <a:lnTo>
                    <a:pt x="181" y="139"/>
                  </a:lnTo>
                  <a:lnTo>
                    <a:pt x="181" y="139"/>
                  </a:lnTo>
                  <a:lnTo>
                    <a:pt x="181" y="139"/>
                  </a:lnTo>
                  <a:lnTo>
                    <a:pt x="183" y="141"/>
                  </a:lnTo>
                  <a:lnTo>
                    <a:pt x="183" y="141"/>
                  </a:lnTo>
                  <a:lnTo>
                    <a:pt x="183" y="141"/>
                  </a:lnTo>
                  <a:lnTo>
                    <a:pt x="183" y="141"/>
                  </a:lnTo>
                  <a:lnTo>
                    <a:pt x="183" y="143"/>
                  </a:lnTo>
                  <a:lnTo>
                    <a:pt x="183" y="143"/>
                  </a:lnTo>
                  <a:lnTo>
                    <a:pt x="185" y="144"/>
                  </a:lnTo>
                  <a:lnTo>
                    <a:pt x="189" y="144"/>
                  </a:lnTo>
                  <a:lnTo>
                    <a:pt x="189" y="146"/>
                  </a:lnTo>
                  <a:lnTo>
                    <a:pt x="191" y="148"/>
                  </a:lnTo>
                  <a:lnTo>
                    <a:pt x="191" y="148"/>
                  </a:lnTo>
                  <a:lnTo>
                    <a:pt x="191" y="148"/>
                  </a:lnTo>
                  <a:lnTo>
                    <a:pt x="191" y="150"/>
                  </a:lnTo>
                  <a:lnTo>
                    <a:pt x="193" y="152"/>
                  </a:lnTo>
                  <a:lnTo>
                    <a:pt x="193" y="152"/>
                  </a:lnTo>
                  <a:lnTo>
                    <a:pt x="193" y="154"/>
                  </a:lnTo>
                  <a:lnTo>
                    <a:pt x="194" y="156"/>
                  </a:lnTo>
                  <a:lnTo>
                    <a:pt x="196" y="156"/>
                  </a:lnTo>
                  <a:lnTo>
                    <a:pt x="202" y="160"/>
                  </a:lnTo>
                  <a:lnTo>
                    <a:pt x="204" y="162"/>
                  </a:lnTo>
                  <a:lnTo>
                    <a:pt x="206" y="163"/>
                  </a:lnTo>
                  <a:lnTo>
                    <a:pt x="206" y="163"/>
                  </a:lnTo>
                  <a:lnTo>
                    <a:pt x="206" y="165"/>
                  </a:lnTo>
                  <a:lnTo>
                    <a:pt x="206" y="167"/>
                  </a:lnTo>
                  <a:lnTo>
                    <a:pt x="206" y="169"/>
                  </a:lnTo>
                  <a:lnTo>
                    <a:pt x="206" y="169"/>
                  </a:lnTo>
                  <a:lnTo>
                    <a:pt x="206" y="173"/>
                  </a:lnTo>
                  <a:lnTo>
                    <a:pt x="206" y="175"/>
                  </a:lnTo>
                  <a:lnTo>
                    <a:pt x="206" y="177"/>
                  </a:lnTo>
                  <a:lnTo>
                    <a:pt x="206" y="177"/>
                  </a:lnTo>
                  <a:lnTo>
                    <a:pt x="206" y="177"/>
                  </a:lnTo>
                  <a:lnTo>
                    <a:pt x="208" y="177"/>
                  </a:lnTo>
                  <a:lnTo>
                    <a:pt x="208" y="179"/>
                  </a:lnTo>
                  <a:lnTo>
                    <a:pt x="208" y="179"/>
                  </a:lnTo>
                  <a:lnTo>
                    <a:pt x="208" y="181"/>
                  </a:lnTo>
                  <a:lnTo>
                    <a:pt x="208" y="182"/>
                  </a:lnTo>
                  <a:lnTo>
                    <a:pt x="202" y="181"/>
                  </a:lnTo>
                  <a:lnTo>
                    <a:pt x="200" y="181"/>
                  </a:lnTo>
                  <a:lnTo>
                    <a:pt x="200" y="179"/>
                  </a:lnTo>
                  <a:lnTo>
                    <a:pt x="200" y="179"/>
                  </a:lnTo>
                  <a:lnTo>
                    <a:pt x="198" y="179"/>
                  </a:lnTo>
                  <a:lnTo>
                    <a:pt x="198" y="177"/>
                  </a:lnTo>
                  <a:lnTo>
                    <a:pt x="196" y="179"/>
                  </a:lnTo>
                  <a:lnTo>
                    <a:pt x="194" y="179"/>
                  </a:lnTo>
                  <a:lnTo>
                    <a:pt x="191" y="181"/>
                  </a:lnTo>
                  <a:lnTo>
                    <a:pt x="191" y="181"/>
                  </a:lnTo>
                  <a:lnTo>
                    <a:pt x="191" y="181"/>
                  </a:lnTo>
                  <a:lnTo>
                    <a:pt x="191" y="181"/>
                  </a:lnTo>
                  <a:lnTo>
                    <a:pt x="191" y="181"/>
                  </a:lnTo>
                  <a:lnTo>
                    <a:pt x="189" y="182"/>
                  </a:lnTo>
                  <a:lnTo>
                    <a:pt x="189" y="182"/>
                  </a:lnTo>
                  <a:lnTo>
                    <a:pt x="187" y="184"/>
                  </a:lnTo>
                  <a:lnTo>
                    <a:pt x="185" y="184"/>
                  </a:lnTo>
                  <a:lnTo>
                    <a:pt x="181" y="186"/>
                  </a:lnTo>
                  <a:lnTo>
                    <a:pt x="179" y="186"/>
                  </a:lnTo>
                  <a:lnTo>
                    <a:pt x="179" y="188"/>
                  </a:lnTo>
                  <a:lnTo>
                    <a:pt x="179" y="188"/>
                  </a:lnTo>
                  <a:lnTo>
                    <a:pt x="179" y="188"/>
                  </a:lnTo>
                  <a:lnTo>
                    <a:pt x="179" y="188"/>
                  </a:lnTo>
                  <a:lnTo>
                    <a:pt x="179" y="188"/>
                  </a:lnTo>
                  <a:lnTo>
                    <a:pt x="179" y="190"/>
                  </a:lnTo>
                  <a:lnTo>
                    <a:pt x="177" y="190"/>
                  </a:lnTo>
                  <a:lnTo>
                    <a:pt x="177" y="190"/>
                  </a:lnTo>
                  <a:lnTo>
                    <a:pt x="177" y="190"/>
                  </a:lnTo>
                  <a:lnTo>
                    <a:pt x="177" y="192"/>
                  </a:lnTo>
                  <a:lnTo>
                    <a:pt x="179" y="192"/>
                  </a:lnTo>
                  <a:lnTo>
                    <a:pt x="179" y="192"/>
                  </a:lnTo>
                  <a:lnTo>
                    <a:pt x="179" y="192"/>
                  </a:lnTo>
                  <a:lnTo>
                    <a:pt x="179" y="192"/>
                  </a:lnTo>
                  <a:lnTo>
                    <a:pt x="181" y="194"/>
                  </a:lnTo>
                  <a:lnTo>
                    <a:pt x="181" y="194"/>
                  </a:lnTo>
                  <a:lnTo>
                    <a:pt x="181" y="194"/>
                  </a:lnTo>
                  <a:lnTo>
                    <a:pt x="181" y="194"/>
                  </a:lnTo>
                  <a:lnTo>
                    <a:pt x="181" y="194"/>
                  </a:lnTo>
                  <a:lnTo>
                    <a:pt x="181" y="194"/>
                  </a:lnTo>
                  <a:lnTo>
                    <a:pt x="183" y="194"/>
                  </a:lnTo>
                  <a:lnTo>
                    <a:pt x="183" y="194"/>
                  </a:lnTo>
                  <a:lnTo>
                    <a:pt x="183" y="194"/>
                  </a:lnTo>
                  <a:lnTo>
                    <a:pt x="183" y="196"/>
                  </a:lnTo>
                  <a:lnTo>
                    <a:pt x="185" y="196"/>
                  </a:lnTo>
                  <a:lnTo>
                    <a:pt x="185" y="198"/>
                  </a:lnTo>
                  <a:lnTo>
                    <a:pt x="185" y="200"/>
                  </a:lnTo>
                  <a:lnTo>
                    <a:pt x="185" y="201"/>
                  </a:lnTo>
                  <a:lnTo>
                    <a:pt x="187" y="201"/>
                  </a:lnTo>
                  <a:lnTo>
                    <a:pt x="187" y="203"/>
                  </a:lnTo>
                  <a:lnTo>
                    <a:pt x="185" y="207"/>
                  </a:lnTo>
                  <a:lnTo>
                    <a:pt x="181" y="209"/>
                  </a:lnTo>
                  <a:lnTo>
                    <a:pt x="181" y="211"/>
                  </a:lnTo>
                  <a:lnTo>
                    <a:pt x="181" y="213"/>
                  </a:lnTo>
                  <a:lnTo>
                    <a:pt x="181" y="213"/>
                  </a:lnTo>
                  <a:lnTo>
                    <a:pt x="179" y="215"/>
                  </a:lnTo>
                  <a:lnTo>
                    <a:pt x="179" y="215"/>
                  </a:lnTo>
                  <a:lnTo>
                    <a:pt x="181" y="217"/>
                  </a:lnTo>
                  <a:lnTo>
                    <a:pt x="181" y="219"/>
                  </a:lnTo>
                  <a:lnTo>
                    <a:pt x="181" y="220"/>
                  </a:lnTo>
                  <a:lnTo>
                    <a:pt x="181" y="220"/>
                  </a:lnTo>
                  <a:lnTo>
                    <a:pt x="181" y="222"/>
                  </a:lnTo>
                  <a:lnTo>
                    <a:pt x="181" y="222"/>
                  </a:lnTo>
                  <a:lnTo>
                    <a:pt x="181" y="222"/>
                  </a:lnTo>
                  <a:lnTo>
                    <a:pt x="183" y="222"/>
                  </a:lnTo>
                  <a:lnTo>
                    <a:pt x="183" y="222"/>
                  </a:lnTo>
                  <a:lnTo>
                    <a:pt x="187" y="226"/>
                  </a:lnTo>
                  <a:lnTo>
                    <a:pt x="187" y="228"/>
                  </a:lnTo>
                  <a:lnTo>
                    <a:pt x="187" y="228"/>
                  </a:lnTo>
                  <a:lnTo>
                    <a:pt x="189" y="230"/>
                  </a:lnTo>
                  <a:lnTo>
                    <a:pt x="191" y="238"/>
                  </a:lnTo>
                  <a:lnTo>
                    <a:pt x="191" y="240"/>
                  </a:lnTo>
                  <a:lnTo>
                    <a:pt x="191" y="243"/>
                  </a:lnTo>
                  <a:lnTo>
                    <a:pt x="191" y="243"/>
                  </a:lnTo>
                  <a:lnTo>
                    <a:pt x="189" y="245"/>
                  </a:lnTo>
                  <a:lnTo>
                    <a:pt x="189" y="247"/>
                  </a:lnTo>
                  <a:lnTo>
                    <a:pt x="189" y="253"/>
                  </a:lnTo>
                  <a:lnTo>
                    <a:pt x="189" y="253"/>
                  </a:lnTo>
                  <a:lnTo>
                    <a:pt x="189" y="253"/>
                  </a:lnTo>
                  <a:lnTo>
                    <a:pt x="187" y="253"/>
                  </a:lnTo>
                  <a:lnTo>
                    <a:pt x="187" y="253"/>
                  </a:lnTo>
                  <a:lnTo>
                    <a:pt x="185" y="253"/>
                  </a:lnTo>
                  <a:lnTo>
                    <a:pt x="185" y="253"/>
                  </a:lnTo>
                  <a:lnTo>
                    <a:pt x="185" y="253"/>
                  </a:lnTo>
                  <a:lnTo>
                    <a:pt x="185" y="253"/>
                  </a:lnTo>
                  <a:lnTo>
                    <a:pt x="185" y="255"/>
                  </a:lnTo>
                  <a:lnTo>
                    <a:pt x="185" y="255"/>
                  </a:lnTo>
                  <a:lnTo>
                    <a:pt x="185" y="255"/>
                  </a:lnTo>
                  <a:lnTo>
                    <a:pt x="185" y="257"/>
                  </a:lnTo>
                  <a:lnTo>
                    <a:pt x="189" y="257"/>
                  </a:lnTo>
                  <a:lnTo>
                    <a:pt x="189" y="257"/>
                  </a:lnTo>
                  <a:lnTo>
                    <a:pt x="189" y="257"/>
                  </a:lnTo>
                  <a:lnTo>
                    <a:pt x="189" y="259"/>
                  </a:lnTo>
                  <a:lnTo>
                    <a:pt x="191" y="259"/>
                  </a:lnTo>
                  <a:lnTo>
                    <a:pt x="191" y="260"/>
                  </a:lnTo>
                  <a:lnTo>
                    <a:pt x="191" y="262"/>
                  </a:lnTo>
                  <a:lnTo>
                    <a:pt x="191" y="262"/>
                  </a:lnTo>
                  <a:lnTo>
                    <a:pt x="191" y="264"/>
                  </a:lnTo>
                  <a:lnTo>
                    <a:pt x="191" y="264"/>
                  </a:lnTo>
                  <a:lnTo>
                    <a:pt x="193" y="264"/>
                  </a:lnTo>
                  <a:lnTo>
                    <a:pt x="193" y="266"/>
                  </a:lnTo>
                  <a:lnTo>
                    <a:pt x="191" y="266"/>
                  </a:lnTo>
                  <a:lnTo>
                    <a:pt x="191" y="268"/>
                  </a:lnTo>
                  <a:lnTo>
                    <a:pt x="191" y="268"/>
                  </a:lnTo>
                  <a:lnTo>
                    <a:pt x="189" y="268"/>
                  </a:lnTo>
                  <a:lnTo>
                    <a:pt x="191" y="270"/>
                  </a:lnTo>
                  <a:lnTo>
                    <a:pt x="191" y="270"/>
                  </a:lnTo>
                  <a:lnTo>
                    <a:pt x="191" y="270"/>
                  </a:lnTo>
                  <a:lnTo>
                    <a:pt x="193" y="270"/>
                  </a:lnTo>
                  <a:lnTo>
                    <a:pt x="193" y="272"/>
                  </a:lnTo>
                  <a:lnTo>
                    <a:pt x="191" y="272"/>
                  </a:lnTo>
                  <a:lnTo>
                    <a:pt x="191" y="274"/>
                  </a:lnTo>
                  <a:lnTo>
                    <a:pt x="189" y="274"/>
                  </a:lnTo>
                  <a:lnTo>
                    <a:pt x="187" y="274"/>
                  </a:lnTo>
                  <a:lnTo>
                    <a:pt x="187" y="274"/>
                  </a:lnTo>
                  <a:lnTo>
                    <a:pt x="185" y="274"/>
                  </a:lnTo>
                  <a:lnTo>
                    <a:pt x="185" y="274"/>
                  </a:lnTo>
                  <a:lnTo>
                    <a:pt x="183" y="274"/>
                  </a:lnTo>
                  <a:lnTo>
                    <a:pt x="183" y="272"/>
                  </a:lnTo>
                  <a:lnTo>
                    <a:pt x="181" y="272"/>
                  </a:lnTo>
                  <a:lnTo>
                    <a:pt x="179" y="272"/>
                  </a:lnTo>
                  <a:lnTo>
                    <a:pt x="179" y="272"/>
                  </a:lnTo>
                  <a:lnTo>
                    <a:pt x="179" y="274"/>
                  </a:lnTo>
                  <a:lnTo>
                    <a:pt x="179" y="274"/>
                  </a:lnTo>
                  <a:lnTo>
                    <a:pt x="179" y="274"/>
                  </a:lnTo>
                  <a:lnTo>
                    <a:pt x="181" y="274"/>
                  </a:lnTo>
                  <a:lnTo>
                    <a:pt x="181" y="276"/>
                  </a:lnTo>
                  <a:lnTo>
                    <a:pt x="181" y="276"/>
                  </a:lnTo>
                  <a:lnTo>
                    <a:pt x="183" y="276"/>
                  </a:lnTo>
                  <a:lnTo>
                    <a:pt x="181" y="279"/>
                  </a:lnTo>
                  <a:lnTo>
                    <a:pt x="181" y="279"/>
                  </a:lnTo>
                  <a:lnTo>
                    <a:pt x="183" y="281"/>
                  </a:lnTo>
                  <a:lnTo>
                    <a:pt x="183" y="281"/>
                  </a:lnTo>
                  <a:lnTo>
                    <a:pt x="183" y="281"/>
                  </a:lnTo>
                  <a:lnTo>
                    <a:pt x="183" y="283"/>
                  </a:lnTo>
                  <a:lnTo>
                    <a:pt x="183" y="283"/>
                  </a:lnTo>
                  <a:lnTo>
                    <a:pt x="181" y="285"/>
                  </a:lnTo>
                  <a:lnTo>
                    <a:pt x="181" y="285"/>
                  </a:lnTo>
                  <a:lnTo>
                    <a:pt x="181" y="285"/>
                  </a:lnTo>
                  <a:lnTo>
                    <a:pt x="181" y="287"/>
                  </a:lnTo>
                  <a:lnTo>
                    <a:pt x="181" y="287"/>
                  </a:lnTo>
                  <a:lnTo>
                    <a:pt x="181" y="289"/>
                  </a:lnTo>
                  <a:lnTo>
                    <a:pt x="181" y="291"/>
                  </a:lnTo>
                  <a:lnTo>
                    <a:pt x="177" y="298"/>
                  </a:lnTo>
                  <a:lnTo>
                    <a:pt x="175" y="300"/>
                  </a:lnTo>
                  <a:lnTo>
                    <a:pt x="173" y="302"/>
                  </a:lnTo>
                  <a:lnTo>
                    <a:pt x="170" y="304"/>
                  </a:lnTo>
                  <a:lnTo>
                    <a:pt x="170" y="304"/>
                  </a:lnTo>
                  <a:lnTo>
                    <a:pt x="168" y="306"/>
                  </a:lnTo>
                  <a:lnTo>
                    <a:pt x="166" y="306"/>
                  </a:lnTo>
                  <a:lnTo>
                    <a:pt x="166" y="308"/>
                  </a:lnTo>
                  <a:lnTo>
                    <a:pt x="166" y="308"/>
                  </a:lnTo>
                  <a:lnTo>
                    <a:pt x="166" y="310"/>
                  </a:lnTo>
                  <a:lnTo>
                    <a:pt x="166" y="310"/>
                  </a:lnTo>
                  <a:lnTo>
                    <a:pt x="168" y="310"/>
                  </a:lnTo>
                  <a:lnTo>
                    <a:pt x="168" y="310"/>
                  </a:lnTo>
                  <a:lnTo>
                    <a:pt x="168" y="310"/>
                  </a:lnTo>
                  <a:lnTo>
                    <a:pt x="170" y="310"/>
                  </a:lnTo>
                  <a:lnTo>
                    <a:pt x="170" y="310"/>
                  </a:lnTo>
                  <a:lnTo>
                    <a:pt x="170" y="312"/>
                  </a:lnTo>
                  <a:lnTo>
                    <a:pt x="170" y="314"/>
                  </a:lnTo>
                  <a:lnTo>
                    <a:pt x="170" y="316"/>
                  </a:lnTo>
                  <a:lnTo>
                    <a:pt x="168" y="316"/>
                  </a:lnTo>
                  <a:lnTo>
                    <a:pt x="166" y="314"/>
                  </a:lnTo>
                  <a:lnTo>
                    <a:pt x="164" y="316"/>
                  </a:lnTo>
                  <a:lnTo>
                    <a:pt x="164" y="316"/>
                  </a:lnTo>
                  <a:lnTo>
                    <a:pt x="164" y="317"/>
                  </a:lnTo>
                  <a:lnTo>
                    <a:pt x="162" y="319"/>
                  </a:lnTo>
                  <a:lnTo>
                    <a:pt x="162" y="321"/>
                  </a:lnTo>
                  <a:lnTo>
                    <a:pt x="162" y="321"/>
                  </a:lnTo>
                  <a:lnTo>
                    <a:pt x="160" y="321"/>
                  </a:lnTo>
                  <a:lnTo>
                    <a:pt x="158" y="319"/>
                  </a:lnTo>
                  <a:lnTo>
                    <a:pt x="156" y="319"/>
                  </a:lnTo>
                  <a:lnTo>
                    <a:pt x="156" y="319"/>
                  </a:lnTo>
                  <a:lnTo>
                    <a:pt x="154" y="319"/>
                  </a:lnTo>
                  <a:lnTo>
                    <a:pt x="154" y="319"/>
                  </a:lnTo>
                  <a:lnTo>
                    <a:pt x="154" y="321"/>
                  </a:lnTo>
                  <a:lnTo>
                    <a:pt x="154" y="323"/>
                  </a:lnTo>
                  <a:lnTo>
                    <a:pt x="154" y="325"/>
                  </a:lnTo>
                  <a:lnTo>
                    <a:pt x="154" y="327"/>
                  </a:lnTo>
                  <a:lnTo>
                    <a:pt x="154" y="329"/>
                  </a:lnTo>
                  <a:lnTo>
                    <a:pt x="154" y="329"/>
                  </a:lnTo>
                  <a:lnTo>
                    <a:pt x="153" y="329"/>
                  </a:lnTo>
                  <a:lnTo>
                    <a:pt x="151" y="331"/>
                  </a:lnTo>
                  <a:lnTo>
                    <a:pt x="151" y="331"/>
                  </a:lnTo>
                  <a:lnTo>
                    <a:pt x="147" y="331"/>
                  </a:lnTo>
                  <a:lnTo>
                    <a:pt x="145" y="331"/>
                  </a:lnTo>
                  <a:lnTo>
                    <a:pt x="141" y="333"/>
                  </a:lnTo>
                  <a:lnTo>
                    <a:pt x="139" y="333"/>
                  </a:lnTo>
                  <a:lnTo>
                    <a:pt x="139" y="333"/>
                  </a:lnTo>
                  <a:lnTo>
                    <a:pt x="139" y="331"/>
                  </a:lnTo>
                  <a:lnTo>
                    <a:pt x="139" y="329"/>
                  </a:lnTo>
                  <a:lnTo>
                    <a:pt x="139" y="329"/>
                  </a:lnTo>
                  <a:lnTo>
                    <a:pt x="139" y="327"/>
                  </a:lnTo>
                  <a:lnTo>
                    <a:pt x="137" y="327"/>
                  </a:lnTo>
                  <a:lnTo>
                    <a:pt x="137" y="327"/>
                  </a:lnTo>
                  <a:lnTo>
                    <a:pt x="133" y="329"/>
                  </a:lnTo>
                  <a:lnTo>
                    <a:pt x="132" y="329"/>
                  </a:lnTo>
                  <a:lnTo>
                    <a:pt x="130" y="329"/>
                  </a:lnTo>
                  <a:lnTo>
                    <a:pt x="130" y="331"/>
                  </a:lnTo>
                  <a:lnTo>
                    <a:pt x="130" y="331"/>
                  </a:lnTo>
                  <a:lnTo>
                    <a:pt x="132" y="333"/>
                  </a:lnTo>
                  <a:lnTo>
                    <a:pt x="132" y="333"/>
                  </a:lnTo>
                  <a:lnTo>
                    <a:pt x="132" y="333"/>
                  </a:lnTo>
                  <a:lnTo>
                    <a:pt x="132" y="335"/>
                  </a:lnTo>
                  <a:lnTo>
                    <a:pt x="133" y="335"/>
                  </a:lnTo>
                  <a:lnTo>
                    <a:pt x="135" y="337"/>
                  </a:lnTo>
                  <a:lnTo>
                    <a:pt x="135" y="337"/>
                  </a:lnTo>
                  <a:lnTo>
                    <a:pt x="135" y="338"/>
                  </a:lnTo>
                  <a:lnTo>
                    <a:pt x="135" y="340"/>
                  </a:lnTo>
                  <a:lnTo>
                    <a:pt x="135" y="342"/>
                  </a:lnTo>
                  <a:lnTo>
                    <a:pt x="133" y="342"/>
                  </a:lnTo>
                  <a:lnTo>
                    <a:pt x="133" y="342"/>
                  </a:lnTo>
                  <a:lnTo>
                    <a:pt x="132" y="342"/>
                  </a:lnTo>
                  <a:lnTo>
                    <a:pt x="132" y="344"/>
                  </a:lnTo>
                  <a:lnTo>
                    <a:pt x="132" y="346"/>
                  </a:lnTo>
                  <a:lnTo>
                    <a:pt x="132" y="346"/>
                  </a:lnTo>
                  <a:lnTo>
                    <a:pt x="132" y="348"/>
                  </a:lnTo>
                  <a:lnTo>
                    <a:pt x="130" y="348"/>
                  </a:lnTo>
                  <a:lnTo>
                    <a:pt x="130" y="348"/>
                  </a:lnTo>
                  <a:lnTo>
                    <a:pt x="130" y="346"/>
                  </a:lnTo>
                  <a:lnTo>
                    <a:pt x="128" y="346"/>
                  </a:lnTo>
                  <a:lnTo>
                    <a:pt x="128" y="346"/>
                  </a:lnTo>
                  <a:lnTo>
                    <a:pt x="126" y="346"/>
                  </a:lnTo>
                  <a:lnTo>
                    <a:pt x="124" y="346"/>
                  </a:lnTo>
                  <a:lnTo>
                    <a:pt x="124" y="344"/>
                  </a:lnTo>
                  <a:lnTo>
                    <a:pt x="122" y="346"/>
                  </a:lnTo>
                  <a:lnTo>
                    <a:pt x="122" y="346"/>
                  </a:lnTo>
                  <a:lnTo>
                    <a:pt x="122" y="346"/>
                  </a:lnTo>
                  <a:lnTo>
                    <a:pt x="122" y="348"/>
                  </a:lnTo>
                  <a:lnTo>
                    <a:pt x="122" y="348"/>
                  </a:lnTo>
                  <a:lnTo>
                    <a:pt x="124" y="350"/>
                  </a:lnTo>
                  <a:lnTo>
                    <a:pt x="124" y="350"/>
                  </a:lnTo>
                  <a:lnTo>
                    <a:pt x="124" y="350"/>
                  </a:lnTo>
                  <a:lnTo>
                    <a:pt x="124" y="352"/>
                  </a:lnTo>
                  <a:lnTo>
                    <a:pt x="122" y="354"/>
                  </a:lnTo>
                  <a:lnTo>
                    <a:pt x="116" y="352"/>
                  </a:lnTo>
                  <a:lnTo>
                    <a:pt x="114" y="350"/>
                  </a:lnTo>
                  <a:lnTo>
                    <a:pt x="112" y="350"/>
                  </a:lnTo>
                  <a:lnTo>
                    <a:pt x="111" y="348"/>
                  </a:lnTo>
                  <a:lnTo>
                    <a:pt x="111" y="346"/>
                  </a:lnTo>
                  <a:lnTo>
                    <a:pt x="109" y="346"/>
                  </a:lnTo>
                  <a:lnTo>
                    <a:pt x="107" y="346"/>
                  </a:lnTo>
                  <a:lnTo>
                    <a:pt x="105" y="346"/>
                  </a:lnTo>
                  <a:lnTo>
                    <a:pt x="101" y="342"/>
                  </a:lnTo>
                  <a:lnTo>
                    <a:pt x="99" y="342"/>
                  </a:lnTo>
                  <a:lnTo>
                    <a:pt x="97" y="342"/>
                  </a:lnTo>
                  <a:lnTo>
                    <a:pt x="97" y="342"/>
                  </a:lnTo>
                  <a:lnTo>
                    <a:pt x="97" y="342"/>
                  </a:lnTo>
                  <a:lnTo>
                    <a:pt x="97" y="344"/>
                  </a:lnTo>
                  <a:lnTo>
                    <a:pt x="95" y="344"/>
                  </a:lnTo>
                  <a:lnTo>
                    <a:pt x="95" y="344"/>
                  </a:lnTo>
                  <a:lnTo>
                    <a:pt x="95" y="346"/>
                  </a:lnTo>
                  <a:lnTo>
                    <a:pt x="95" y="346"/>
                  </a:lnTo>
                  <a:lnTo>
                    <a:pt x="93" y="348"/>
                  </a:lnTo>
                  <a:lnTo>
                    <a:pt x="93" y="348"/>
                  </a:lnTo>
                  <a:lnTo>
                    <a:pt x="92" y="350"/>
                  </a:lnTo>
                  <a:lnTo>
                    <a:pt x="92" y="352"/>
                  </a:lnTo>
                  <a:lnTo>
                    <a:pt x="92" y="352"/>
                  </a:lnTo>
                  <a:lnTo>
                    <a:pt x="92" y="352"/>
                  </a:lnTo>
                  <a:lnTo>
                    <a:pt x="92" y="354"/>
                  </a:lnTo>
                  <a:lnTo>
                    <a:pt x="93" y="356"/>
                  </a:lnTo>
                  <a:lnTo>
                    <a:pt x="92" y="357"/>
                  </a:lnTo>
                  <a:lnTo>
                    <a:pt x="92" y="361"/>
                  </a:lnTo>
                  <a:lnTo>
                    <a:pt x="88" y="361"/>
                  </a:lnTo>
                  <a:lnTo>
                    <a:pt x="76" y="363"/>
                  </a:lnTo>
                  <a:lnTo>
                    <a:pt x="71" y="365"/>
                  </a:lnTo>
                  <a:lnTo>
                    <a:pt x="67" y="367"/>
                  </a:lnTo>
                  <a:lnTo>
                    <a:pt x="59" y="369"/>
                  </a:lnTo>
                  <a:lnTo>
                    <a:pt x="55" y="371"/>
                  </a:lnTo>
                  <a:lnTo>
                    <a:pt x="52" y="373"/>
                  </a:lnTo>
                  <a:lnTo>
                    <a:pt x="50" y="375"/>
                  </a:lnTo>
                  <a:lnTo>
                    <a:pt x="50" y="376"/>
                  </a:lnTo>
                  <a:lnTo>
                    <a:pt x="48" y="378"/>
                  </a:lnTo>
                  <a:lnTo>
                    <a:pt x="48" y="378"/>
                  </a:lnTo>
                  <a:lnTo>
                    <a:pt x="48" y="380"/>
                  </a:lnTo>
                  <a:lnTo>
                    <a:pt x="48" y="382"/>
                  </a:lnTo>
                  <a:lnTo>
                    <a:pt x="48" y="382"/>
                  </a:lnTo>
                  <a:lnTo>
                    <a:pt x="48" y="382"/>
                  </a:lnTo>
                  <a:lnTo>
                    <a:pt x="48" y="384"/>
                  </a:lnTo>
                  <a:lnTo>
                    <a:pt x="48" y="384"/>
                  </a:lnTo>
                  <a:lnTo>
                    <a:pt x="48" y="384"/>
                  </a:lnTo>
                  <a:lnTo>
                    <a:pt x="46" y="384"/>
                  </a:lnTo>
                  <a:lnTo>
                    <a:pt x="46" y="384"/>
                  </a:lnTo>
                  <a:lnTo>
                    <a:pt x="44" y="386"/>
                  </a:lnTo>
                  <a:lnTo>
                    <a:pt x="42" y="388"/>
                  </a:lnTo>
                  <a:lnTo>
                    <a:pt x="40" y="390"/>
                  </a:lnTo>
                  <a:lnTo>
                    <a:pt x="38" y="390"/>
                  </a:lnTo>
                  <a:lnTo>
                    <a:pt x="36" y="388"/>
                  </a:lnTo>
                  <a:lnTo>
                    <a:pt x="36" y="388"/>
                  </a:lnTo>
                  <a:lnTo>
                    <a:pt x="34" y="386"/>
                  </a:lnTo>
                  <a:lnTo>
                    <a:pt x="31" y="384"/>
                  </a:lnTo>
                  <a:lnTo>
                    <a:pt x="31" y="384"/>
                  </a:lnTo>
                  <a:lnTo>
                    <a:pt x="29" y="384"/>
                  </a:lnTo>
                  <a:lnTo>
                    <a:pt x="29" y="384"/>
                  </a:lnTo>
                  <a:lnTo>
                    <a:pt x="29" y="384"/>
                  </a:lnTo>
                  <a:lnTo>
                    <a:pt x="29" y="384"/>
                  </a:lnTo>
                  <a:lnTo>
                    <a:pt x="29" y="384"/>
                  </a:lnTo>
                  <a:lnTo>
                    <a:pt x="29" y="382"/>
                  </a:lnTo>
                  <a:lnTo>
                    <a:pt x="29" y="376"/>
                  </a:lnTo>
                  <a:lnTo>
                    <a:pt x="29" y="375"/>
                  </a:lnTo>
                  <a:lnTo>
                    <a:pt x="27" y="375"/>
                  </a:lnTo>
                  <a:lnTo>
                    <a:pt x="23" y="373"/>
                  </a:lnTo>
                  <a:lnTo>
                    <a:pt x="21" y="373"/>
                  </a:lnTo>
                  <a:lnTo>
                    <a:pt x="19" y="373"/>
                  </a:lnTo>
                  <a:lnTo>
                    <a:pt x="19" y="373"/>
                  </a:lnTo>
                  <a:lnTo>
                    <a:pt x="17" y="375"/>
                  </a:lnTo>
                  <a:lnTo>
                    <a:pt x="17" y="375"/>
                  </a:lnTo>
                  <a:lnTo>
                    <a:pt x="17" y="375"/>
                  </a:lnTo>
                  <a:lnTo>
                    <a:pt x="17" y="376"/>
                  </a:lnTo>
                  <a:lnTo>
                    <a:pt x="17" y="380"/>
                  </a:lnTo>
                  <a:lnTo>
                    <a:pt x="19" y="380"/>
                  </a:lnTo>
                  <a:lnTo>
                    <a:pt x="17" y="382"/>
                  </a:lnTo>
                  <a:lnTo>
                    <a:pt x="17" y="382"/>
                  </a:lnTo>
                  <a:lnTo>
                    <a:pt x="17" y="382"/>
                  </a:lnTo>
                  <a:lnTo>
                    <a:pt x="11" y="382"/>
                  </a:lnTo>
                  <a:lnTo>
                    <a:pt x="10" y="382"/>
                  </a:lnTo>
                  <a:lnTo>
                    <a:pt x="8" y="382"/>
                  </a:lnTo>
                  <a:lnTo>
                    <a:pt x="2" y="384"/>
                  </a:lnTo>
                  <a:lnTo>
                    <a:pt x="0" y="384"/>
                  </a:lnTo>
                  <a:lnTo>
                    <a:pt x="0" y="386"/>
                  </a:lnTo>
                  <a:lnTo>
                    <a:pt x="0" y="386"/>
                  </a:lnTo>
                  <a:lnTo>
                    <a:pt x="0" y="388"/>
                  </a:lnTo>
                  <a:lnTo>
                    <a:pt x="2" y="388"/>
                  </a:lnTo>
                  <a:lnTo>
                    <a:pt x="2" y="390"/>
                  </a:lnTo>
                  <a:lnTo>
                    <a:pt x="2" y="390"/>
                  </a:lnTo>
                  <a:lnTo>
                    <a:pt x="2" y="390"/>
                  </a:lnTo>
                  <a:lnTo>
                    <a:pt x="6" y="390"/>
                  </a:lnTo>
                  <a:lnTo>
                    <a:pt x="6" y="390"/>
                  </a:lnTo>
                  <a:lnTo>
                    <a:pt x="8" y="392"/>
                  </a:lnTo>
                  <a:lnTo>
                    <a:pt x="8" y="392"/>
                  </a:lnTo>
                  <a:lnTo>
                    <a:pt x="6" y="394"/>
                  </a:lnTo>
                  <a:lnTo>
                    <a:pt x="6" y="394"/>
                  </a:lnTo>
                  <a:lnTo>
                    <a:pt x="6" y="397"/>
                  </a:lnTo>
                  <a:lnTo>
                    <a:pt x="6" y="397"/>
                  </a:lnTo>
                  <a:lnTo>
                    <a:pt x="6" y="399"/>
                  </a:lnTo>
                  <a:lnTo>
                    <a:pt x="4" y="401"/>
                  </a:lnTo>
                  <a:lnTo>
                    <a:pt x="2" y="403"/>
                  </a:lnTo>
                  <a:lnTo>
                    <a:pt x="2" y="405"/>
                  </a:lnTo>
                  <a:lnTo>
                    <a:pt x="2" y="407"/>
                  </a:lnTo>
                  <a:lnTo>
                    <a:pt x="2" y="409"/>
                  </a:lnTo>
                  <a:lnTo>
                    <a:pt x="6" y="413"/>
                  </a:lnTo>
                  <a:lnTo>
                    <a:pt x="6" y="414"/>
                  </a:lnTo>
                  <a:lnTo>
                    <a:pt x="6" y="416"/>
                  </a:lnTo>
                  <a:lnTo>
                    <a:pt x="6" y="416"/>
                  </a:lnTo>
                  <a:lnTo>
                    <a:pt x="6" y="416"/>
                  </a:lnTo>
                  <a:lnTo>
                    <a:pt x="8" y="416"/>
                  </a:lnTo>
                  <a:lnTo>
                    <a:pt x="11" y="414"/>
                  </a:lnTo>
                  <a:lnTo>
                    <a:pt x="13" y="414"/>
                  </a:lnTo>
                  <a:lnTo>
                    <a:pt x="15" y="416"/>
                  </a:lnTo>
                  <a:lnTo>
                    <a:pt x="17" y="416"/>
                  </a:lnTo>
                  <a:lnTo>
                    <a:pt x="19" y="418"/>
                  </a:lnTo>
                  <a:lnTo>
                    <a:pt x="31" y="430"/>
                  </a:lnTo>
                  <a:lnTo>
                    <a:pt x="32" y="432"/>
                  </a:lnTo>
                  <a:lnTo>
                    <a:pt x="32" y="433"/>
                  </a:lnTo>
                  <a:lnTo>
                    <a:pt x="34" y="433"/>
                  </a:lnTo>
                  <a:lnTo>
                    <a:pt x="36" y="432"/>
                  </a:lnTo>
                  <a:lnTo>
                    <a:pt x="36" y="432"/>
                  </a:lnTo>
                  <a:lnTo>
                    <a:pt x="40" y="432"/>
                  </a:lnTo>
                  <a:lnTo>
                    <a:pt x="46" y="432"/>
                  </a:lnTo>
                  <a:lnTo>
                    <a:pt x="59" y="433"/>
                  </a:lnTo>
                  <a:lnTo>
                    <a:pt x="59" y="433"/>
                  </a:lnTo>
                  <a:lnTo>
                    <a:pt x="59" y="433"/>
                  </a:lnTo>
                  <a:lnTo>
                    <a:pt x="59" y="433"/>
                  </a:lnTo>
                  <a:lnTo>
                    <a:pt x="59" y="433"/>
                  </a:lnTo>
                  <a:lnTo>
                    <a:pt x="59" y="433"/>
                  </a:lnTo>
                  <a:lnTo>
                    <a:pt x="61" y="433"/>
                  </a:lnTo>
                  <a:lnTo>
                    <a:pt x="63" y="433"/>
                  </a:lnTo>
                  <a:lnTo>
                    <a:pt x="63" y="433"/>
                  </a:lnTo>
                  <a:lnTo>
                    <a:pt x="63" y="435"/>
                  </a:lnTo>
                  <a:lnTo>
                    <a:pt x="63" y="435"/>
                  </a:lnTo>
                  <a:lnTo>
                    <a:pt x="63" y="435"/>
                  </a:lnTo>
                  <a:lnTo>
                    <a:pt x="63" y="435"/>
                  </a:lnTo>
                  <a:lnTo>
                    <a:pt x="61" y="435"/>
                  </a:lnTo>
                  <a:lnTo>
                    <a:pt x="59" y="435"/>
                  </a:lnTo>
                  <a:lnTo>
                    <a:pt x="59" y="437"/>
                  </a:lnTo>
                  <a:lnTo>
                    <a:pt x="57" y="437"/>
                  </a:lnTo>
                  <a:lnTo>
                    <a:pt x="55" y="439"/>
                  </a:lnTo>
                  <a:lnTo>
                    <a:pt x="55" y="439"/>
                  </a:lnTo>
                  <a:lnTo>
                    <a:pt x="55" y="441"/>
                  </a:lnTo>
                  <a:lnTo>
                    <a:pt x="55" y="441"/>
                  </a:lnTo>
                  <a:lnTo>
                    <a:pt x="55" y="443"/>
                  </a:lnTo>
                  <a:lnTo>
                    <a:pt x="55" y="443"/>
                  </a:lnTo>
                  <a:lnTo>
                    <a:pt x="53" y="447"/>
                  </a:lnTo>
                  <a:lnTo>
                    <a:pt x="53" y="447"/>
                  </a:lnTo>
                  <a:lnTo>
                    <a:pt x="53" y="449"/>
                  </a:lnTo>
                  <a:lnTo>
                    <a:pt x="53" y="453"/>
                  </a:lnTo>
                  <a:lnTo>
                    <a:pt x="53" y="453"/>
                  </a:lnTo>
                  <a:lnTo>
                    <a:pt x="53" y="454"/>
                  </a:lnTo>
                  <a:lnTo>
                    <a:pt x="59" y="458"/>
                  </a:lnTo>
                  <a:lnTo>
                    <a:pt x="61" y="458"/>
                  </a:lnTo>
                  <a:lnTo>
                    <a:pt x="61" y="458"/>
                  </a:lnTo>
                  <a:lnTo>
                    <a:pt x="63" y="458"/>
                  </a:lnTo>
                  <a:lnTo>
                    <a:pt x="63" y="458"/>
                  </a:lnTo>
                  <a:lnTo>
                    <a:pt x="65" y="460"/>
                  </a:lnTo>
                  <a:lnTo>
                    <a:pt x="71" y="466"/>
                  </a:lnTo>
                  <a:lnTo>
                    <a:pt x="72" y="470"/>
                  </a:lnTo>
                  <a:lnTo>
                    <a:pt x="72" y="472"/>
                  </a:lnTo>
                  <a:lnTo>
                    <a:pt x="72" y="473"/>
                  </a:lnTo>
                  <a:lnTo>
                    <a:pt x="74" y="473"/>
                  </a:lnTo>
                  <a:lnTo>
                    <a:pt x="76" y="473"/>
                  </a:lnTo>
                  <a:lnTo>
                    <a:pt x="80" y="473"/>
                  </a:lnTo>
                  <a:lnTo>
                    <a:pt x="82" y="475"/>
                  </a:lnTo>
                  <a:lnTo>
                    <a:pt x="84" y="475"/>
                  </a:lnTo>
                  <a:lnTo>
                    <a:pt x="86" y="477"/>
                  </a:lnTo>
                  <a:lnTo>
                    <a:pt x="86" y="479"/>
                  </a:lnTo>
                  <a:lnTo>
                    <a:pt x="86" y="481"/>
                  </a:lnTo>
                  <a:lnTo>
                    <a:pt x="88" y="481"/>
                  </a:lnTo>
                  <a:lnTo>
                    <a:pt x="88" y="483"/>
                  </a:lnTo>
                  <a:lnTo>
                    <a:pt x="86" y="483"/>
                  </a:lnTo>
                  <a:lnTo>
                    <a:pt x="86" y="483"/>
                  </a:lnTo>
                  <a:lnTo>
                    <a:pt x="86" y="483"/>
                  </a:lnTo>
                  <a:lnTo>
                    <a:pt x="84" y="483"/>
                  </a:lnTo>
                  <a:lnTo>
                    <a:pt x="82" y="483"/>
                  </a:lnTo>
                  <a:lnTo>
                    <a:pt x="82" y="483"/>
                  </a:lnTo>
                  <a:lnTo>
                    <a:pt x="82" y="483"/>
                  </a:lnTo>
                  <a:lnTo>
                    <a:pt x="82" y="483"/>
                  </a:lnTo>
                  <a:lnTo>
                    <a:pt x="82" y="483"/>
                  </a:lnTo>
                  <a:lnTo>
                    <a:pt x="82" y="485"/>
                  </a:lnTo>
                  <a:lnTo>
                    <a:pt x="82" y="485"/>
                  </a:lnTo>
                  <a:lnTo>
                    <a:pt x="84" y="487"/>
                  </a:lnTo>
                  <a:lnTo>
                    <a:pt x="84" y="487"/>
                  </a:lnTo>
                  <a:lnTo>
                    <a:pt x="84" y="489"/>
                  </a:lnTo>
                  <a:lnTo>
                    <a:pt x="88" y="489"/>
                  </a:lnTo>
                  <a:lnTo>
                    <a:pt x="88" y="491"/>
                  </a:lnTo>
                  <a:lnTo>
                    <a:pt x="90" y="492"/>
                  </a:lnTo>
                  <a:lnTo>
                    <a:pt x="90" y="494"/>
                  </a:lnTo>
                  <a:lnTo>
                    <a:pt x="90" y="496"/>
                  </a:lnTo>
                  <a:lnTo>
                    <a:pt x="92" y="498"/>
                  </a:lnTo>
                  <a:lnTo>
                    <a:pt x="92" y="500"/>
                  </a:lnTo>
                  <a:lnTo>
                    <a:pt x="93" y="500"/>
                  </a:lnTo>
                  <a:lnTo>
                    <a:pt x="95" y="502"/>
                  </a:lnTo>
                  <a:lnTo>
                    <a:pt x="95" y="504"/>
                  </a:lnTo>
                  <a:lnTo>
                    <a:pt x="95" y="504"/>
                  </a:lnTo>
                  <a:lnTo>
                    <a:pt x="93" y="504"/>
                  </a:lnTo>
                  <a:lnTo>
                    <a:pt x="90" y="504"/>
                  </a:lnTo>
                  <a:lnTo>
                    <a:pt x="90" y="504"/>
                  </a:lnTo>
                  <a:lnTo>
                    <a:pt x="88" y="506"/>
                  </a:lnTo>
                  <a:lnTo>
                    <a:pt x="88" y="506"/>
                  </a:lnTo>
                  <a:lnTo>
                    <a:pt x="88" y="508"/>
                  </a:lnTo>
                  <a:lnTo>
                    <a:pt x="88" y="508"/>
                  </a:lnTo>
                  <a:lnTo>
                    <a:pt x="88" y="510"/>
                  </a:lnTo>
                  <a:lnTo>
                    <a:pt x="86" y="510"/>
                  </a:lnTo>
                  <a:lnTo>
                    <a:pt x="84" y="508"/>
                  </a:lnTo>
                  <a:lnTo>
                    <a:pt x="84" y="508"/>
                  </a:lnTo>
                  <a:lnTo>
                    <a:pt x="84" y="510"/>
                  </a:lnTo>
                  <a:lnTo>
                    <a:pt x="82" y="510"/>
                  </a:lnTo>
                  <a:lnTo>
                    <a:pt x="80" y="511"/>
                  </a:lnTo>
                  <a:lnTo>
                    <a:pt x="80" y="511"/>
                  </a:lnTo>
                  <a:lnTo>
                    <a:pt x="82" y="515"/>
                  </a:lnTo>
                  <a:lnTo>
                    <a:pt x="82" y="515"/>
                  </a:lnTo>
                  <a:lnTo>
                    <a:pt x="84" y="515"/>
                  </a:lnTo>
                  <a:lnTo>
                    <a:pt x="86" y="515"/>
                  </a:lnTo>
                  <a:lnTo>
                    <a:pt x="88" y="517"/>
                  </a:lnTo>
                  <a:lnTo>
                    <a:pt x="90" y="517"/>
                  </a:lnTo>
                  <a:lnTo>
                    <a:pt x="93" y="521"/>
                  </a:lnTo>
                  <a:lnTo>
                    <a:pt x="95" y="521"/>
                  </a:lnTo>
                  <a:lnTo>
                    <a:pt x="97" y="521"/>
                  </a:lnTo>
                  <a:lnTo>
                    <a:pt x="97" y="521"/>
                  </a:lnTo>
                  <a:lnTo>
                    <a:pt x="99" y="521"/>
                  </a:lnTo>
                  <a:lnTo>
                    <a:pt x="103" y="523"/>
                  </a:lnTo>
                  <a:lnTo>
                    <a:pt x="107" y="525"/>
                  </a:lnTo>
                  <a:lnTo>
                    <a:pt x="109" y="527"/>
                  </a:lnTo>
                  <a:lnTo>
                    <a:pt x="109" y="527"/>
                  </a:lnTo>
                  <a:lnTo>
                    <a:pt x="109" y="529"/>
                  </a:lnTo>
                  <a:lnTo>
                    <a:pt x="109" y="529"/>
                  </a:lnTo>
                  <a:lnTo>
                    <a:pt x="109" y="530"/>
                  </a:lnTo>
                  <a:lnTo>
                    <a:pt x="109" y="532"/>
                  </a:lnTo>
                  <a:lnTo>
                    <a:pt x="109" y="532"/>
                  </a:lnTo>
                  <a:lnTo>
                    <a:pt x="109" y="532"/>
                  </a:lnTo>
                  <a:lnTo>
                    <a:pt x="109" y="536"/>
                  </a:lnTo>
                  <a:lnTo>
                    <a:pt x="109" y="538"/>
                  </a:lnTo>
                  <a:lnTo>
                    <a:pt x="109" y="540"/>
                  </a:lnTo>
                  <a:lnTo>
                    <a:pt x="112" y="542"/>
                  </a:lnTo>
                  <a:lnTo>
                    <a:pt x="114" y="542"/>
                  </a:lnTo>
                  <a:lnTo>
                    <a:pt x="114" y="542"/>
                  </a:lnTo>
                  <a:lnTo>
                    <a:pt x="114" y="542"/>
                  </a:lnTo>
                  <a:lnTo>
                    <a:pt x="116" y="540"/>
                  </a:lnTo>
                  <a:lnTo>
                    <a:pt x="116" y="540"/>
                  </a:lnTo>
                  <a:lnTo>
                    <a:pt x="116" y="540"/>
                  </a:lnTo>
                  <a:lnTo>
                    <a:pt x="118" y="538"/>
                  </a:lnTo>
                  <a:lnTo>
                    <a:pt x="118" y="538"/>
                  </a:lnTo>
                  <a:lnTo>
                    <a:pt x="118" y="536"/>
                  </a:lnTo>
                  <a:lnTo>
                    <a:pt x="120" y="536"/>
                  </a:lnTo>
                  <a:lnTo>
                    <a:pt x="120" y="536"/>
                  </a:lnTo>
                  <a:lnTo>
                    <a:pt x="122" y="536"/>
                  </a:lnTo>
                  <a:lnTo>
                    <a:pt x="124" y="536"/>
                  </a:lnTo>
                  <a:lnTo>
                    <a:pt x="126" y="538"/>
                  </a:lnTo>
                  <a:lnTo>
                    <a:pt x="128" y="538"/>
                  </a:lnTo>
                  <a:lnTo>
                    <a:pt x="130" y="540"/>
                  </a:lnTo>
                  <a:lnTo>
                    <a:pt x="130" y="544"/>
                  </a:lnTo>
                  <a:lnTo>
                    <a:pt x="130" y="546"/>
                  </a:lnTo>
                  <a:lnTo>
                    <a:pt x="130" y="548"/>
                  </a:lnTo>
                  <a:lnTo>
                    <a:pt x="132" y="550"/>
                  </a:lnTo>
                  <a:lnTo>
                    <a:pt x="132" y="551"/>
                  </a:lnTo>
                  <a:lnTo>
                    <a:pt x="135" y="551"/>
                  </a:lnTo>
                  <a:lnTo>
                    <a:pt x="147" y="555"/>
                  </a:lnTo>
                  <a:lnTo>
                    <a:pt x="149" y="555"/>
                  </a:lnTo>
                  <a:lnTo>
                    <a:pt x="149" y="557"/>
                  </a:lnTo>
                  <a:lnTo>
                    <a:pt x="149" y="559"/>
                  </a:lnTo>
                  <a:lnTo>
                    <a:pt x="149" y="561"/>
                  </a:lnTo>
                  <a:lnTo>
                    <a:pt x="149" y="563"/>
                  </a:lnTo>
                  <a:lnTo>
                    <a:pt x="149" y="565"/>
                  </a:lnTo>
                  <a:lnTo>
                    <a:pt x="149" y="565"/>
                  </a:lnTo>
                  <a:lnTo>
                    <a:pt x="153" y="570"/>
                  </a:lnTo>
                  <a:lnTo>
                    <a:pt x="153" y="572"/>
                  </a:lnTo>
                  <a:lnTo>
                    <a:pt x="166" y="569"/>
                  </a:lnTo>
                  <a:lnTo>
                    <a:pt x="168" y="569"/>
                  </a:lnTo>
                  <a:lnTo>
                    <a:pt x="172" y="569"/>
                  </a:lnTo>
                  <a:lnTo>
                    <a:pt x="173" y="567"/>
                  </a:lnTo>
                  <a:lnTo>
                    <a:pt x="179" y="563"/>
                  </a:lnTo>
                  <a:lnTo>
                    <a:pt x="187" y="561"/>
                  </a:lnTo>
                  <a:lnTo>
                    <a:pt x="189" y="557"/>
                  </a:lnTo>
                  <a:lnTo>
                    <a:pt x="191" y="555"/>
                  </a:lnTo>
                  <a:lnTo>
                    <a:pt x="193" y="555"/>
                  </a:lnTo>
                  <a:lnTo>
                    <a:pt x="193" y="553"/>
                  </a:lnTo>
                  <a:lnTo>
                    <a:pt x="193" y="553"/>
                  </a:lnTo>
                  <a:lnTo>
                    <a:pt x="193" y="553"/>
                  </a:lnTo>
                  <a:lnTo>
                    <a:pt x="193" y="553"/>
                  </a:lnTo>
                  <a:lnTo>
                    <a:pt x="196" y="550"/>
                  </a:lnTo>
                  <a:lnTo>
                    <a:pt x="198" y="550"/>
                  </a:lnTo>
                  <a:lnTo>
                    <a:pt x="198" y="550"/>
                  </a:lnTo>
                  <a:lnTo>
                    <a:pt x="200" y="548"/>
                  </a:lnTo>
                  <a:lnTo>
                    <a:pt x="204" y="538"/>
                  </a:lnTo>
                  <a:lnTo>
                    <a:pt x="206" y="536"/>
                  </a:lnTo>
                  <a:lnTo>
                    <a:pt x="206" y="534"/>
                  </a:lnTo>
                  <a:lnTo>
                    <a:pt x="206" y="534"/>
                  </a:lnTo>
                  <a:lnTo>
                    <a:pt x="206" y="532"/>
                  </a:lnTo>
                  <a:lnTo>
                    <a:pt x="206" y="530"/>
                  </a:lnTo>
                  <a:lnTo>
                    <a:pt x="206" y="530"/>
                  </a:lnTo>
                  <a:lnTo>
                    <a:pt x="210" y="530"/>
                  </a:lnTo>
                  <a:lnTo>
                    <a:pt x="212" y="530"/>
                  </a:lnTo>
                  <a:lnTo>
                    <a:pt x="213" y="527"/>
                  </a:lnTo>
                  <a:lnTo>
                    <a:pt x="217" y="525"/>
                  </a:lnTo>
                  <a:lnTo>
                    <a:pt x="217" y="521"/>
                  </a:lnTo>
                  <a:lnTo>
                    <a:pt x="215" y="517"/>
                  </a:lnTo>
                  <a:lnTo>
                    <a:pt x="213" y="515"/>
                  </a:lnTo>
                  <a:lnTo>
                    <a:pt x="210" y="513"/>
                  </a:lnTo>
                  <a:lnTo>
                    <a:pt x="206" y="513"/>
                  </a:lnTo>
                  <a:lnTo>
                    <a:pt x="204" y="513"/>
                  </a:lnTo>
                  <a:lnTo>
                    <a:pt x="202" y="513"/>
                  </a:lnTo>
                  <a:lnTo>
                    <a:pt x="200" y="511"/>
                  </a:lnTo>
                  <a:lnTo>
                    <a:pt x="198" y="510"/>
                  </a:lnTo>
                  <a:lnTo>
                    <a:pt x="196" y="508"/>
                  </a:lnTo>
                  <a:lnTo>
                    <a:pt x="196" y="506"/>
                  </a:lnTo>
                  <a:lnTo>
                    <a:pt x="196" y="498"/>
                  </a:lnTo>
                  <a:lnTo>
                    <a:pt x="194" y="494"/>
                  </a:lnTo>
                  <a:lnTo>
                    <a:pt x="193" y="491"/>
                  </a:lnTo>
                  <a:lnTo>
                    <a:pt x="193" y="491"/>
                  </a:lnTo>
                  <a:lnTo>
                    <a:pt x="194" y="491"/>
                  </a:lnTo>
                  <a:lnTo>
                    <a:pt x="196" y="492"/>
                  </a:lnTo>
                  <a:lnTo>
                    <a:pt x="196" y="494"/>
                  </a:lnTo>
                  <a:lnTo>
                    <a:pt x="196" y="496"/>
                  </a:lnTo>
                  <a:lnTo>
                    <a:pt x="196" y="498"/>
                  </a:lnTo>
                  <a:lnTo>
                    <a:pt x="198" y="502"/>
                  </a:lnTo>
                  <a:lnTo>
                    <a:pt x="198" y="504"/>
                  </a:lnTo>
                  <a:lnTo>
                    <a:pt x="198" y="506"/>
                  </a:lnTo>
                  <a:lnTo>
                    <a:pt x="200" y="506"/>
                  </a:lnTo>
                  <a:lnTo>
                    <a:pt x="202" y="510"/>
                  </a:lnTo>
                  <a:lnTo>
                    <a:pt x="204" y="510"/>
                  </a:lnTo>
                  <a:lnTo>
                    <a:pt x="206" y="511"/>
                  </a:lnTo>
                  <a:lnTo>
                    <a:pt x="208" y="510"/>
                  </a:lnTo>
                  <a:lnTo>
                    <a:pt x="208" y="510"/>
                  </a:lnTo>
                  <a:lnTo>
                    <a:pt x="210" y="511"/>
                  </a:lnTo>
                  <a:lnTo>
                    <a:pt x="212" y="513"/>
                  </a:lnTo>
                  <a:lnTo>
                    <a:pt x="217" y="515"/>
                  </a:lnTo>
                  <a:lnTo>
                    <a:pt x="219" y="517"/>
                  </a:lnTo>
                  <a:lnTo>
                    <a:pt x="221" y="517"/>
                  </a:lnTo>
                  <a:lnTo>
                    <a:pt x="221" y="523"/>
                  </a:lnTo>
                  <a:lnTo>
                    <a:pt x="221" y="525"/>
                  </a:lnTo>
                  <a:lnTo>
                    <a:pt x="221" y="529"/>
                  </a:lnTo>
                  <a:lnTo>
                    <a:pt x="217" y="532"/>
                  </a:lnTo>
                  <a:lnTo>
                    <a:pt x="215" y="534"/>
                  </a:lnTo>
                  <a:lnTo>
                    <a:pt x="215" y="536"/>
                  </a:lnTo>
                  <a:lnTo>
                    <a:pt x="215" y="538"/>
                  </a:lnTo>
                  <a:lnTo>
                    <a:pt x="215" y="542"/>
                  </a:lnTo>
                  <a:lnTo>
                    <a:pt x="215" y="544"/>
                  </a:lnTo>
                  <a:lnTo>
                    <a:pt x="215" y="544"/>
                  </a:lnTo>
                  <a:lnTo>
                    <a:pt x="221" y="553"/>
                  </a:lnTo>
                  <a:lnTo>
                    <a:pt x="221" y="553"/>
                  </a:lnTo>
                  <a:lnTo>
                    <a:pt x="219" y="555"/>
                  </a:lnTo>
                  <a:lnTo>
                    <a:pt x="221" y="559"/>
                  </a:lnTo>
                  <a:lnTo>
                    <a:pt x="221" y="561"/>
                  </a:lnTo>
                  <a:lnTo>
                    <a:pt x="219" y="563"/>
                  </a:lnTo>
                  <a:lnTo>
                    <a:pt x="217" y="565"/>
                  </a:lnTo>
                  <a:lnTo>
                    <a:pt x="217" y="567"/>
                  </a:lnTo>
                  <a:lnTo>
                    <a:pt x="219" y="569"/>
                  </a:lnTo>
                  <a:lnTo>
                    <a:pt x="221" y="572"/>
                  </a:lnTo>
                  <a:lnTo>
                    <a:pt x="223" y="572"/>
                  </a:lnTo>
                  <a:lnTo>
                    <a:pt x="223" y="572"/>
                  </a:lnTo>
                  <a:lnTo>
                    <a:pt x="225" y="574"/>
                  </a:lnTo>
                  <a:lnTo>
                    <a:pt x="225" y="576"/>
                  </a:lnTo>
                  <a:lnTo>
                    <a:pt x="225" y="578"/>
                  </a:lnTo>
                  <a:lnTo>
                    <a:pt x="227" y="578"/>
                  </a:lnTo>
                  <a:lnTo>
                    <a:pt x="227" y="578"/>
                  </a:lnTo>
                  <a:lnTo>
                    <a:pt x="229" y="576"/>
                  </a:lnTo>
                  <a:lnTo>
                    <a:pt x="229" y="576"/>
                  </a:lnTo>
                  <a:lnTo>
                    <a:pt x="229" y="576"/>
                  </a:lnTo>
                  <a:lnTo>
                    <a:pt x="229" y="576"/>
                  </a:lnTo>
                  <a:lnTo>
                    <a:pt x="229" y="574"/>
                  </a:lnTo>
                  <a:lnTo>
                    <a:pt x="229" y="574"/>
                  </a:lnTo>
                  <a:lnTo>
                    <a:pt x="229" y="572"/>
                  </a:lnTo>
                  <a:lnTo>
                    <a:pt x="227" y="572"/>
                  </a:lnTo>
                  <a:lnTo>
                    <a:pt x="227" y="570"/>
                  </a:lnTo>
                  <a:lnTo>
                    <a:pt x="229" y="569"/>
                  </a:lnTo>
                  <a:lnTo>
                    <a:pt x="229" y="567"/>
                  </a:lnTo>
                  <a:lnTo>
                    <a:pt x="229" y="565"/>
                  </a:lnTo>
                  <a:lnTo>
                    <a:pt x="225" y="555"/>
                  </a:lnTo>
                  <a:lnTo>
                    <a:pt x="225" y="553"/>
                  </a:lnTo>
                  <a:lnTo>
                    <a:pt x="227" y="553"/>
                  </a:lnTo>
                  <a:lnTo>
                    <a:pt x="229" y="555"/>
                  </a:lnTo>
                  <a:lnTo>
                    <a:pt x="229" y="557"/>
                  </a:lnTo>
                  <a:lnTo>
                    <a:pt x="229" y="559"/>
                  </a:lnTo>
                  <a:lnTo>
                    <a:pt x="229" y="570"/>
                  </a:lnTo>
                  <a:lnTo>
                    <a:pt x="231" y="572"/>
                  </a:lnTo>
                  <a:lnTo>
                    <a:pt x="231" y="572"/>
                  </a:lnTo>
                  <a:lnTo>
                    <a:pt x="233" y="570"/>
                  </a:lnTo>
                  <a:lnTo>
                    <a:pt x="233" y="569"/>
                  </a:lnTo>
                  <a:lnTo>
                    <a:pt x="234" y="569"/>
                  </a:lnTo>
                  <a:lnTo>
                    <a:pt x="234" y="567"/>
                  </a:lnTo>
                  <a:lnTo>
                    <a:pt x="233" y="567"/>
                  </a:lnTo>
                  <a:lnTo>
                    <a:pt x="233" y="563"/>
                  </a:lnTo>
                  <a:lnTo>
                    <a:pt x="231" y="563"/>
                  </a:lnTo>
                  <a:lnTo>
                    <a:pt x="231" y="561"/>
                  </a:lnTo>
                  <a:lnTo>
                    <a:pt x="233" y="561"/>
                  </a:lnTo>
                  <a:lnTo>
                    <a:pt x="233" y="563"/>
                  </a:lnTo>
                  <a:lnTo>
                    <a:pt x="233" y="563"/>
                  </a:lnTo>
                  <a:lnTo>
                    <a:pt x="233" y="565"/>
                  </a:lnTo>
                  <a:lnTo>
                    <a:pt x="234" y="565"/>
                  </a:lnTo>
                  <a:lnTo>
                    <a:pt x="234" y="565"/>
                  </a:lnTo>
                  <a:lnTo>
                    <a:pt x="236" y="563"/>
                  </a:lnTo>
                  <a:lnTo>
                    <a:pt x="238" y="563"/>
                  </a:lnTo>
                  <a:lnTo>
                    <a:pt x="236" y="567"/>
                  </a:lnTo>
                  <a:lnTo>
                    <a:pt x="236" y="570"/>
                  </a:lnTo>
                  <a:lnTo>
                    <a:pt x="238" y="572"/>
                  </a:lnTo>
                  <a:lnTo>
                    <a:pt x="240" y="572"/>
                  </a:lnTo>
                  <a:lnTo>
                    <a:pt x="240" y="572"/>
                  </a:lnTo>
                  <a:lnTo>
                    <a:pt x="242" y="570"/>
                  </a:lnTo>
                  <a:lnTo>
                    <a:pt x="244" y="570"/>
                  </a:lnTo>
                  <a:lnTo>
                    <a:pt x="244" y="569"/>
                  </a:lnTo>
                  <a:lnTo>
                    <a:pt x="246" y="567"/>
                  </a:lnTo>
                  <a:lnTo>
                    <a:pt x="244" y="565"/>
                  </a:lnTo>
                  <a:lnTo>
                    <a:pt x="244" y="563"/>
                  </a:lnTo>
                  <a:lnTo>
                    <a:pt x="244" y="561"/>
                  </a:lnTo>
                  <a:lnTo>
                    <a:pt x="244" y="559"/>
                  </a:lnTo>
                  <a:lnTo>
                    <a:pt x="244" y="557"/>
                  </a:lnTo>
                  <a:lnTo>
                    <a:pt x="244" y="555"/>
                  </a:lnTo>
                  <a:lnTo>
                    <a:pt x="246" y="553"/>
                  </a:lnTo>
                  <a:lnTo>
                    <a:pt x="246" y="553"/>
                  </a:lnTo>
                  <a:lnTo>
                    <a:pt x="246" y="553"/>
                  </a:lnTo>
                  <a:lnTo>
                    <a:pt x="248" y="553"/>
                  </a:lnTo>
                  <a:lnTo>
                    <a:pt x="248" y="551"/>
                  </a:lnTo>
                  <a:lnTo>
                    <a:pt x="248" y="550"/>
                  </a:lnTo>
                  <a:lnTo>
                    <a:pt x="246" y="546"/>
                  </a:lnTo>
                  <a:lnTo>
                    <a:pt x="246" y="544"/>
                  </a:lnTo>
                  <a:lnTo>
                    <a:pt x="246" y="542"/>
                  </a:lnTo>
                  <a:lnTo>
                    <a:pt x="248" y="540"/>
                  </a:lnTo>
                  <a:lnTo>
                    <a:pt x="248" y="540"/>
                  </a:lnTo>
                  <a:lnTo>
                    <a:pt x="248" y="538"/>
                  </a:lnTo>
                  <a:lnTo>
                    <a:pt x="250" y="540"/>
                  </a:lnTo>
                  <a:lnTo>
                    <a:pt x="250" y="542"/>
                  </a:lnTo>
                  <a:lnTo>
                    <a:pt x="248" y="546"/>
                  </a:lnTo>
                  <a:lnTo>
                    <a:pt x="250" y="548"/>
                  </a:lnTo>
                  <a:lnTo>
                    <a:pt x="250" y="551"/>
                  </a:lnTo>
                  <a:lnTo>
                    <a:pt x="250" y="553"/>
                  </a:lnTo>
                  <a:lnTo>
                    <a:pt x="250" y="557"/>
                  </a:lnTo>
                  <a:lnTo>
                    <a:pt x="248" y="559"/>
                  </a:lnTo>
                  <a:lnTo>
                    <a:pt x="248" y="561"/>
                  </a:lnTo>
                  <a:lnTo>
                    <a:pt x="250" y="567"/>
                  </a:lnTo>
                  <a:lnTo>
                    <a:pt x="250" y="569"/>
                  </a:lnTo>
                  <a:lnTo>
                    <a:pt x="250" y="569"/>
                  </a:lnTo>
                  <a:lnTo>
                    <a:pt x="250" y="570"/>
                  </a:lnTo>
                  <a:lnTo>
                    <a:pt x="250" y="572"/>
                  </a:lnTo>
                  <a:lnTo>
                    <a:pt x="250" y="572"/>
                  </a:lnTo>
                  <a:lnTo>
                    <a:pt x="248" y="574"/>
                  </a:lnTo>
                  <a:lnTo>
                    <a:pt x="248" y="574"/>
                  </a:lnTo>
                  <a:lnTo>
                    <a:pt x="248" y="574"/>
                  </a:lnTo>
                  <a:lnTo>
                    <a:pt x="246" y="578"/>
                  </a:lnTo>
                  <a:lnTo>
                    <a:pt x="248" y="580"/>
                  </a:lnTo>
                  <a:lnTo>
                    <a:pt x="250" y="580"/>
                  </a:lnTo>
                  <a:lnTo>
                    <a:pt x="252" y="580"/>
                  </a:lnTo>
                  <a:lnTo>
                    <a:pt x="252" y="578"/>
                  </a:lnTo>
                  <a:lnTo>
                    <a:pt x="250" y="578"/>
                  </a:lnTo>
                  <a:lnTo>
                    <a:pt x="250" y="576"/>
                  </a:lnTo>
                  <a:lnTo>
                    <a:pt x="252" y="576"/>
                  </a:lnTo>
                  <a:lnTo>
                    <a:pt x="252" y="576"/>
                  </a:lnTo>
                  <a:lnTo>
                    <a:pt x="254" y="578"/>
                  </a:lnTo>
                  <a:lnTo>
                    <a:pt x="254" y="576"/>
                  </a:lnTo>
                  <a:lnTo>
                    <a:pt x="255" y="576"/>
                  </a:lnTo>
                  <a:lnTo>
                    <a:pt x="255" y="570"/>
                  </a:lnTo>
                  <a:lnTo>
                    <a:pt x="255" y="572"/>
                  </a:lnTo>
                  <a:lnTo>
                    <a:pt x="257" y="569"/>
                  </a:lnTo>
                  <a:lnTo>
                    <a:pt x="255" y="563"/>
                  </a:lnTo>
                  <a:lnTo>
                    <a:pt x="257" y="563"/>
                  </a:lnTo>
                  <a:lnTo>
                    <a:pt x="257" y="563"/>
                  </a:lnTo>
                  <a:lnTo>
                    <a:pt x="259" y="561"/>
                  </a:lnTo>
                  <a:lnTo>
                    <a:pt x="259" y="559"/>
                  </a:lnTo>
                  <a:lnTo>
                    <a:pt x="259" y="557"/>
                  </a:lnTo>
                  <a:lnTo>
                    <a:pt x="259" y="555"/>
                  </a:lnTo>
                  <a:lnTo>
                    <a:pt x="257" y="555"/>
                  </a:lnTo>
                  <a:lnTo>
                    <a:pt x="255" y="555"/>
                  </a:lnTo>
                  <a:lnTo>
                    <a:pt x="254" y="557"/>
                  </a:lnTo>
                  <a:lnTo>
                    <a:pt x="254" y="555"/>
                  </a:lnTo>
                  <a:lnTo>
                    <a:pt x="254" y="550"/>
                  </a:lnTo>
                  <a:lnTo>
                    <a:pt x="254" y="548"/>
                  </a:lnTo>
                  <a:lnTo>
                    <a:pt x="257" y="540"/>
                  </a:lnTo>
                  <a:lnTo>
                    <a:pt x="257" y="538"/>
                  </a:lnTo>
                  <a:lnTo>
                    <a:pt x="257" y="534"/>
                  </a:lnTo>
                  <a:lnTo>
                    <a:pt x="257" y="532"/>
                  </a:lnTo>
                  <a:lnTo>
                    <a:pt x="259" y="530"/>
                  </a:lnTo>
                  <a:lnTo>
                    <a:pt x="259" y="529"/>
                  </a:lnTo>
                  <a:lnTo>
                    <a:pt x="259" y="527"/>
                  </a:lnTo>
                  <a:lnTo>
                    <a:pt x="259" y="525"/>
                  </a:lnTo>
                  <a:lnTo>
                    <a:pt x="259" y="523"/>
                  </a:lnTo>
                  <a:lnTo>
                    <a:pt x="259" y="523"/>
                  </a:lnTo>
                  <a:lnTo>
                    <a:pt x="259" y="521"/>
                  </a:lnTo>
                  <a:lnTo>
                    <a:pt x="259" y="521"/>
                  </a:lnTo>
                  <a:lnTo>
                    <a:pt x="259" y="519"/>
                  </a:lnTo>
                  <a:lnTo>
                    <a:pt x="261" y="517"/>
                  </a:lnTo>
                  <a:lnTo>
                    <a:pt x="261" y="517"/>
                  </a:lnTo>
                  <a:lnTo>
                    <a:pt x="261" y="517"/>
                  </a:lnTo>
                  <a:lnTo>
                    <a:pt x="261" y="515"/>
                  </a:lnTo>
                  <a:lnTo>
                    <a:pt x="263" y="513"/>
                  </a:lnTo>
                  <a:lnTo>
                    <a:pt x="263" y="513"/>
                  </a:lnTo>
                  <a:lnTo>
                    <a:pt x="265" y="513"/>
                  </a:lnTo>
                  <a:lnTo>
                    <a:pt x="265" y="515"/>
                  </a:lnTo>
                  <a:lnTo>
                    <a:pt x="263" y="517"/>
                  </a:lnTo>
                  <a:lnTo>
                    <a:pt x="261" y="517"/>
                  </a:lnTo>
                  <a:lnTo>
                    <a:pt x="261" y="523"/>
                  </a:lnTo>
                  <a:lnTo>
                    <a:pt x="261" y="523"/>
                  </a:lnTo>
                  <a:lnTo>
                    <a:pt x="261" y="525"/>
                  </a:lnTo>
                  <a:lnTo>
                    <a:pt x="261" y="529"/>
                  </a:lnTo>
                  <a:lnTo>
                    <a:pt x="261" y="530"/>
                  </a:lnTo>
                  <a:lnTo>
                    <a:pt x="261" y="530"/>
                  </a:lnTo>
                  <a:lnTo>
                    <a:pt x="261" y="532"/>
                  </a:lnTo>
                  <a:lnTo>
                    <a:pt x="259" y="534"/>
                  </a:lnTo>
                  <a:lnTo>
                    <a:pt x="259" y="536"/>
                  </a:lnTo>
                  <a:lnTo>
                    <a:pt x="259" y="538"/>
                  </a:lnTo>
                  <a:lnTo>
                    <a:pt x="259" y="538"/>
                  </a:lnTo>
                  <a:lnTo>
                    <a:pt x="261" y="538"/>
                  </a:lnTo>
                  <a:lnTo>
                    <a:pt x="261" y="538"/>
                  </a:lnTo>
                  <a:lnTo>
                    <a:pt x="263" y="538"/>
                  </a:lnTo>
                  <a:lnTo>
                    <a:pt x="265" y="540"/>
                  </a:lnTo>
                  <a:lnTo>
                    <a:pt x="265" y="538"/>
                  </a:lnTo>
                  <a:lnTo>
                    <a:pt x="267" y="536"/>
                  </a:lnTo>
                  <a:lnTo>
                    <a:pt x="267" y="536"/>
                  </a:lnTo>
                  <a:lnTo>
                    <a:pt x="269" y="532"/>
                  </a:lnTo>
                  <a:lnTo>
                    <a:pt x="269" y="529"/>
                  </a:lnTo>
                  <a:lnTo>
                    <a:pt x="267" y="529"/>
                  </a:lnTo>
                  <a:lnTo>
                    <a:pt x="267" y="529"/>
                  </a:lnTo>
                  <a:lnTo>
                    <a:pt x="265" y="527"/>
                  </a:lnTo>
                  <a:lnTo>
                    <a:pt x="265" y="525"/>
                  </a:lnTo>
                  <a:lnTo>
                    <a:pt x="267" y="523"/>
                  </a:lnTo>
                  <a:lnTo>
                    <a:pt x="267" y="523"/>
                  </a:lnTo>
                  <a:lnTo>
                    <a:pt x="269" y="521"/>
                  </a:lnTo>
                  <a:lnTo>
                    <a:pt x="271" y="521"/>
                  </a:lnTo>
                  <a:lnTo>
                    <a:pt x="273" y="521"/>
                  </a:lnTo>
                  <a:lnTo>
                    <a:pt x="269" y="523"/>
                  </a:lnTo>
                  <a:lnTo>
                    <a:pt x="267" y="525"/>
                  </a:lnTo>
                  <a:lnTo>
                    <a:pt x="267" y="527"/>
                  </a:lnTo>
                  <a:lnTo>
                    <a:pt x="267" y="527"/>
                  </a:lnTo>
                  <a:lnTo>
                    <a:pt x="271" y="529"/>
                  </a:lnTo>
                  <a:lnTo>
                    <a:pt x="273" y="530"/>
                  </a:lnTo>
                  <a:lnTo>
                    <a:pt x="271" y="532"/>
                  </a:lnTo>
                  <a:lnTo>
                    <a:pt x="271" y="534"/>
                  </a:lnTo>
                  <a:lnTo>
                    <a:pt x="269" y="536"/>
                  </a:lnTo>
                  <a:lnTo>
                    <a:pt x="269" y="536"/>
                  </a:lnTo>
                  <a:lnTo>
                    <a:pt x="267" y="538"/>
                  </a:lnTo>
                  <a:lnTo>
                    <a:pt x="267" y="544"/>
                  </a:lnTo>
                  <a:lnTo>
                    <a:pt x="265" y="550"/>
                  </a:lnTo>
                  <a:lnTo>
                    <a:pt x="265" y="550"/>
                  </a:lnTo>
                  <a:lnTo>
                    <a:pt x="267" y="551"/>
                  </a:lnTo>
                  <a:lnTo>
                    <a:pt x="265" y="563"/>
                  </a:lnTo>
                  <a:lnTo>
                    <a:pt x="265" y="565"/>
                  </a:lnTo>
                  <a:lnTo>
                    <a:pt x="269" y="572"/>
                  </a:lnTo>
                  <a:lnTo>
                    <a:pt x="267" y="574"/>
                  </a:lnTo>
                  <a:lnTo>
                    <a:pt x="269" y="576"/>
                  </a:lnTo>
                  <a:lnTo>
                    <a:pt x="273" y="578"/>
                  </a:lnTo>
                  <a:lnTo>
                    <a:pt x="274" y="576"/>
                  </a:lnTo>
                  <a:lnTo>
                    <a:pt x="274" y="574"/>
                  </a:lnTo>
                  <a:lnTo>
                    <a:pt x="274" y="572"/>
                  </a:lnTo>
                  <a:lnTo>
                    <a:pt x="274" y="572"/>
                  </a:lnTo>
                  <a:lnTo>
                    <a:pt x="273" y="570"/>
                  </a:lnTo>
                  <a:lnTo>
                    <a:pt x="273" y="569"/>
                  </a:lnTo>
                  <a:lnTo>
                    <a:pt x="273" y="569"/>
                  </a:lnTo>
                  <a:lnTo>
                    <a:pt x="274" y="567"/>
                  </a:lnTo>
                  <a:lnTo>
                    <a:pt x="274" y="567"/>
                  </a:lnTo>
                  <a:lnTo>
                    <a:pt x="274" y="567"/>
                  </a:lnTo>
                  <a:lnTo>
                    <a:pt x="276" y="565"/>
                  </a:lnTo>
                  <a:lnTo>
                    <a:pt x="276" y="563"/>
                  </a:lnTo>
                  <a:lnTo>
                    <a:pt x="276" y="565"/>
                  </a:lnTo>
                  <a:lnTo>
                    <a:pt x="276" y="567"/>
                  </a:lnTo>
                  <a:lnTo>
                    <a:pt x="276" y="567"/>
                  </a:lnTo>
                  <a:lnTo>
                    <a:pt x="276" y="567"/>
                  </a:lnTo>
                  <a:lnTo>
                    <a:pt x="274" y="569"/>
                  </a:lnTo>
                  <a:lnTo>
                    <a:pt x="276" y="570"/>
                  </a:lnTo>
                  <a:lnTo>
                    <a:pt x="278" y="570"/>
                  </a:lnTo>
                  <a:lnTo>
                    <a:pt x="280" y="570"/>
                  </a:lnTo>
                  <a:lnTo>
                    <a:pt x="280" y="569"/>
                  </a:lnTo>
                  <a:lnTo>
                    <a:pt x="280" y="569"/>
                  </a:lnTo>
                  <a:lnTo>
                    <a:pt x="280" y="565"/>
                  </a:lnTo>
                  <a:lnTo>
                    <a:pt x="278" y="563"/>
                  </a:lnTo>
                  <a:lnTo>
                    <a:pt x="278" y="561"/>
                  </a:lnTo>
                  <a:lnTo>
                    <a:pt x="280" y="557"/>
                  </a:lnTo>
                  <a:lnTo>
                    <a:pt x="280" y="557"/>
                  </a:lnTo>
                  <a:lnTo>
                    <a:pt x="282" y="557"/>
                  </a:lnTo>
                  <a:lnTo>
                    <a:pt x="282" y="557"/>
                  </a:lnTo>
                  <a:lnTo>
                    <a:pt x="282" y="565"/>
                  </a:lnTo>
                  <a:lnTo>
                    <a:pt x="284" y="567"/>
                  </a:lnTo>
                  <a:lnTo>
                    <a:pt x="284" y="567"/>
                  </a:lnTo>
                  <a:lnTo>
                    <a:pt x="284" y="569"/>
                  </a:lnTo>
                  <a:lnTo>
                    <a:pt x="288" y="569"/>
                  </a:lnTo>
                  <a:lnTo>
                    <a:pt x="292" y="570"/>
                  </a:lnTo>
                  <a:lnTo>
                    <a:pt x="294" y="572"/>
                  </a:lnTo>
                  <a:lnTo>
                    <a:pt x="295" y="572"/>
                  </a:lnTo>
                  <a:lnTo>
                    <a:pt x="295" y="572"/>
                  </a:lnTo>
                  <a:lnTo>
                    <a:pt x="295" y="570"/>
                  </a:lnTo>
                  <a:lnTo>
                    <a:pt x="297" y="570"/>
                  </a:lnTo>
                  <a:lnTo>
                    <a:pt x="297" y="570"/>
                  </a:lnTo>
                  <a:lnTo>
                    <a:pt x="297" y="570"/>
                  </a:lnTo>
                  <a:lnTo>
                    <a:pt x="297" y="572"/>
                  </a:lnTo>
                  <a:lnTo>
                    <a:pt x="299" y="572"/>
                  </a:lnTo>
                  <a:lnTo>
                    <a:pt x="299" y="572"/>
                  </a:lnTo>
                  <a:lnTo>
                    <a:pt x="301" y="570"/>
                  </a:lnTo>
                  <a:lnTo>
                    <a:pt x="301" y="569"/>
                  </a:lnTo>
                  <a:lnTo>
                    <a:pt x="301" y="565"/>
                  </a:lnTo>
                  <a:lnTo>
                    <a:pt x="301" y="565"/>
                  </a:lnTo>
                  <a:lnTo>
                    <a:pt x="299" y="563"/>
                  </a:lnTo>
                  <a:lnTo>
                    <a:pt x="297" y="561"/>
                  </a:lnTo>
                  <a:lnTo>
                    <a:pt x="297" y="559"/>
                  </a:lnTo>
                  <a:lnTo>
                    <a:pt x="297" y="555"/>
                  </a:lnTo>
                  <a:lnTo>
                    <a:pt x="295" y="548"/>
                  </a:lnTo>
                  <a:lnTo>
                    <a:pt x="294" y="544"/>
                  </a:lnTo>
                  <a:lnTo>
                    <a:pt x="292" y="542"/>
                  </a:lnTo>
                  <a:lnTo>
                    <a:pt x="290" y="542"/>
                  </a:lnTo>
                  <a:lnTo>
                    <a:pt x="288" y="542"/>
                  </a:lnTo>
                  <a:lnTo>
                    <a:pt x="286" y="540"/>
                  </a:lnTo>
                  <a:lnTo>
                    <a:pt x="286" y="538"/>
                  </a:lnTo>
                  <a:lnTo>
                    <a:pt x="286" y="536"/>
                  </a:lnTo>
                  <a:lnTo>
                    <a:pt x="286" y="534"/>
                  </a:lnTo>
                  <a:lnTo>
                    <a:pt x="288" y="534"/>
                  </a:lnTo>
                  <a:lnTo>
                    <a:pt x="288" y="536"/>
                  </a:lnTo>
                  <a:lnTo>
                    <a:pt x="288" y="538"/>
                  </a:lnTo>
                  <a:lnTo>
                    <a:pt x="288" y="540"/>
                  </a:lnTo>
                  <a:lnTo>
                    <a:pt x="290" y="540"/>
                  </a:lnTo>
                  <a:lnTo>
                    <a:pt x="294" y="542"/>
                  </a:lnTo>
                  <a:lnTo>
                    <a:pt x="295" y="542"/>
                  </a:lnTo>
                  <a:lnTo>
                    <a:pt x="295" y="542"/>
                  </a:lnTo>
                  <a:lnTo>
                    <a:pt x="295" y="540"/>
                  </a:lnTo>
                  <a:lnTo>
                    <a:pt x="295" y="540"/>
                  </a:lnTo>
                  <a:lnTo>
                    <a:pt x="297" y="540"/>
                  </a:lnTo>
                  <a:lnTo>
                    <a:pt x="299" y="540"/>
                  </a:lnTo>
                  <a:lnTo>
                    <a:pt x="299" y="536"/>
                  </a:lnTo>
                  <a:lnTo>
                    <a:pt x="299" y="530"/>
                  </a:lnTo>
                  <a:lnTo>
                    <a:pt x="299" y="529"/>
                  </a:lnTo>
                  <a:lnTo>
                    <a:pt x="297" y="527"/>
                  </a:lnTo>
                  <a:lnTo>
                    <a:pt x="297" y="525"/>
                  </a:lnTo>
                  <a:lnTo>
                    <a:pt x="297" y="523"/>
                  </a:lnTo>
                  <a:lnTo>
                    <a:pt x="297" y="523"/>
                  </a:lnTo>
                  <a:lnTo>
                    <a:pt x="297" y="521"/>
                  </a:lnTo>
                  <a:lnTo>
                    <a:pt x="297" y="519"/>
                  </a:lnTo>
                  <a:lnTo>
                    <a:pt x="299" y="521"/>
                  </a:lnTo>
                  <a:lnTo>
                    <a:pt x="299" y="521"/>
                  </a:lnTo>
                  <a:lnTo>
                    <a:pt x="299" y="521"/>
                  </a:lnTo>
                  <a:lnTo>
                    <a:pt x="299" y="521"/>
                  </a:lnTo>
                  <a:lnTo>
                    <a:pt x="301" y="517"/>
                  </a:lnTo>
                  <a:lnTo>
                    <a:pt x="301" y="515"/>
                  </a:lnTo>
                  <a:lnTo>
                    <a:pt x="301" y="513"/>
                  </a:lnTo>
                  <a:lnTo>
                    <a:pt x="299" y="511"/>
                  </a:lnTo>
                  <a:lnTo>
                    <a:pt x="295" y="508"/>
                  </a:lnTo>
                  <a:lnTo>
                    <a:pt x="295" y="504"/>
                  </a:lnTo>
                  <a:lnTo>
                    <a:pt x="295" y="504"/>
                  </a:lnTo>
                  <a:lnTo>
                    <a:pt x="294" y="502"/>
                  </a:lnTo>
                  <a:lnTo>
                    <a:pt x="294" y="500"/>
                  </a:lnTo>
                  <a:lnTo>
                    <a:pt x="294" y="494"/>
                  </a:lnTo>
                  <a:lnTo>
                    <a:pt x="294" y="494"/>
                  </a:lnTo>
                  <a:lnTo>
                    <a:pt x="294" y="492"/>
                  </a:lnTo>
                  <a:lnTo>
                    <a:pt x="294" y="491"/>
                  </a:lnTo>
                  <a:lnTo>
                    <a:pt x="294" y="491"/>
                  </a:lnTo>
                  <a:lnTo>
                    <a:pt x="294" y="489"/>
                  </a:lnTo>
                  <a:lnTo>
                    <a:pt x="292" y="485"/>
                  </a:lnTo>
                  <a:lnTo>
                    <a:pt x="292" y="481"/>
                  </a:lnTo>
                  <a:lnTo>
                    <a:pt x="290" y="479"/>
                  </a:lnTo>
                  <a:lnTo>
                    <a:pt x="288" y="479"/>
                  </a:lnTo>
                  <a:lnTo>
                    <a:pt x="290" y="477"/>
                  </a:lnTo>
                  <a:lnTo>
                    <a:pt x="290" y="475"/>
                  </a:lnTo>
                  <a:lnTo>
                    <a:pt x="290" y="472"/>
                  </a:lnTo>
                  <a:lnTo>
                    <a:pt x="288" y="470"/>
                  </a:lnTo>
                  <a:lnTo>
                    <a:pt x="288" y="468"/>
                  </a:lnTo>
                  <a:lnTo>
                    <a:pt x="288" y="466"/>
                  </a:lnTo>
                  <a:lnTo>
                    <a:pt x="286" y="464"/>
                  </a:lnTo>
                  <a:lnTo>
                    <a:pt x="286" y="462"/>
                  </a:lnTo>
                  <a:lnTo>
                    <a:pt x="286" y="460"/>
                  </a:lnTo>
                  <a:lnTo>
                    <a:pt x="286" y="458"/>
                  </a:lnTo>
                  <a:lnTo>
                    <a:pt x="288" y="456"/>
                  </a:lnTo>
                  <a:lnTo>
                    <a:pt x="288" y="454"/>
                  </a:lnTo>
                  <a:lnTo>
                    <a:pt x="288" y="454"/>
                  </a:lnTo>
                  <a:lnTo>
                    <a:pt x="288" y="453"/>
                  </a:lnTo>
                  <a:lnTo>
                    <a:pt x="290" y="451"/>
                  </a:lnTo>
                  <a:lnTo>
                    <a:pt x="288" y="449"/>
                  </a:lnTo>
                  <a:lnTo>
                    <a:pt x="288" y="447"/>
                  </a:lnTo>
                  <a:lnTo>
                    <a:pt x="286" y="447"/>
                  </a:lnTo>
                  <a:lnTo>
                    <a:pt x="284" y="445"/>
                  </a:lnTo>
                  <a:lnTo>
                    <a:pt x="282" y="441"/>
                  </a:lnTo>
                  <a:lnTo>
                    <a:pt x="280" y="439"/>
                  </a:lnTo>
                  <a:lnTo>
                    <a:pt x="278" y="437"/>
                  </a:lnTo>
                  <a:lnTo>
                    <a:pt x="278" y="435"/>
                  </a:lnTo>
                  <a:lnTo>
                    <a:pt x="278" y="433"/>
                  </a:lnTo>
                  <a:lnTo>
                    <a:pt x="280" y="432"/>
                  </a:lnTo>
                  <a:lnTo>
                    <a:pt x="280" y="426"/>
                  </a:lnTo>
                  <a:lnTo>
                    <a:pt x="282" y="424"/>
                  </a:lnTo>
                  <a:lnTo>
                    <a:pt x="286" y="418"/>
                  </a:lnTo>
                  <a:lnTo>
                    <a:pt x="288" y="416"/>
                  </a:lnTo>
                  <a:lnTo>
                    <a:pt x="290" y="414"/>
                  </a:lnTo>
                  <a:lnTo>
                    <a:pt x="290" y="414"/>
                  </a:lnTo>
                  <a:lnTo>
                    <a:pt x="290" y="413"/>
                  </a:lnTo>
                  <a:lnTo>
                    <a:pt x="290" y="413"/>
                  </a:lnTo>
                  <a:lnTo>
                    <a:pt x="288" y="413"/>
                  </a:lnTo>
                  <a:lnTo>
                    <a:pt x="286" y="413"/>
                  </a:lnTo>
                  <a:lnTo>
                    <a:pt x="286" y="413"/>
                  </a:lnTo>
                  <a:lnTo>
                    <a:pt x="278" y="411"/>
                  </a:lnTo>
                  <a:lnTo>
                    <a:pt x="278" y="409"/>
                  </a:lnTo>
                  <a:lnTo>
                    <a:pt x="276" y="409"/>
                  </a:lnTo>
                  <a:lnTo>
                    <a:pt x="274" y="411"/>
                  </a:lnTo>
                  <a:lnTo>
                    <a:pt x="274" y="411"/>
                  </a:lnTo>
                  <a:lnTo>
                    <a:pt x="274" y="411"/>
                  </a:lnTo>
                  <a:lnTo>
                    <a:pt x="273" y="411"/>
                  </a:lnTo>
                  <a:lnTo>
                    <a:pt x="267" y="409"/>
                  </a:lnTo>
                  <a:lnTo>
                    <a:pt x="265" y="409"/>
                  </a:lnTo>
                  <a:lnTo>
                    <a:pt x="265" y="407"/>
                  </a:lnTo>
                  <a:lnTo>
                    <a:pt x="265" y="403"/>
                  </a:lnTo>
                  <a:lnTo>
                    <a:pt x="265" y="401"/>
                  </a:lnTo>
                  <a:lnTo>
                    <a:pt x="269" y="399"/>
                  </a:lnTo>
                  <a:lnTo>
                    <a:pt x="273" y="386"/>
                  </a:lnTo>
                  <a:lnTo>
                    <a:pt x="273" y="384"/>
                  </a:lnTo>
                  <a:lnTo>
                    <a:pt x="271" y="384"/>
                  </a:lnTo>
                  <a:lnTo>
                    <a:pt x="271" y="384"/>
                  </a:lnTo>
                  <a:lnTo>
                    <a:pt x="269" y="386"/>
                  </a:lnTo>
                  <a:lnTo>
                    <a:pt x="269" y="386"/>
                  </a:lnTo>
                  <a:lnTo>
                    <a:pt x="267" y="384"/>
                  </a:lnTo>
                  <a:lnTo>
                    <a:pt x="265" y="384"/>
                  </a:lnTo>
                  <a:lnTo>
                    <a:pt x="263" y="382"/>
                  </a:lnTo>
                  <a:lnTo>
                    <a:pt x="261" y="380"/>
                  </a:lnTo>
                  <a:lnTo>
                    <a:pt x="259" y="376"/>
                  </a:lnTo>
                  <a:lnTo>
                    <a:pt x="257" y="375"/>
                  </a:lnTo>
                  <a:lnTo>
                    <a:pt x="257" y="375"/>
                  </a:lnTo>
                  <a:lnTo>
                    <a:pt x="255" y="375"/>
                  </a:lnTo>
                  <a:lnTo>
                    <a:pt x="254" y="375"/>
                  </a:lnTo>
                  <a:lnTo>
                    <a:pt x="254" y="373"/>
                  </a:lnTo>
                  <a:lnTo>
                    <a:pt x="254" y="373"/>
                  </a:lnTo>
                  <a:lnTo>
                    <a:pt x="254" y="371"/>
                  </a:lnTo>
                  <a:lnTo>
                    <a:pt x="254" y="371"/>
                  </a:lnTo>
                  <a:lnTo>
                    <a:pt x="254" y="371"/>
                  </a:lnTo>
                  <a:lnTo>
                    <a:pt x="252" y="369"/>
                  </a:lnTo>
                  <a:lnTo>
                    <a:pt x="252" y="369"/>
                  </a:lnTo>
                  <a:lnTo>
                    <a:pt x="252" y="369"/>
                  </a:lnTo>
                  <a:lnTo>
                    <a:pt x="254" y="359"/>
                  </a:lnTo>
                  <a:lnTo>
                    <a:pt x="254" y="357"/>
                  </a:lnTo>
                  <a:lnTo>
                    <a:pt x="252" y="357"/>
                  </a:lnTo>
                  <a:lnTo>
                    <a:pt x="252" y="356"/>
                  </a:lnTo>
                  <a:lnTo>
                    <a:pt x="254" y="354"/>
                  </a:lnTo>
                  <a:lnTo>
                    <a:pt x="254" y="352"/>
                  </a:lnTo>
                  <a:lnTo>
                    <a:pt x="255" y="352"/>
                  </a:lnTo>
                  <a:lnTo>
                    <a:pt x="255" y="350"/>
                  </a:lnTo>
                  <a:lnTo>
                    <a:pt x="255" y="350"/>
                  </a:lnTo>
                  <a:lnTo>
                    <a:pt x="254" y="348"/>
                  </a:lnTo>
                  <a:lnTo>
                    <a:pt x="255" y="348"/>
                  </a:lnTo>
                  <a:lnTo>
                    <a:pt x="255" y="346"/>
                  </a:lnTo>
                  <a:lnTo>
                    <a:pt x="257" y="346"/>
                  </a:lnTo>
                  <a:lnTo>
                    <a:pt x="259" y="346"/>
                  </a:lnTo>
                  <a:lnTo>
                    <a:pt x="261" y="346"/>
                  </a:lnTo>
                  <a:lnTo>
                    <a:pt x="263" y="344"/>
                  </a:lnTo>
                  <a:lnTo>
                    <a:pt x="267" y="342"/>
                  </a:lnTo>
                  <a:lnTo>
                    <a:pt x="267" y="340"/>
                  </a:lnTo>
                  <a:lnTo>
                    <a:pt x="267" y="338"/>
                  </a:lnTo>
                  <a:lnTo>
                    <a:pt x="267" y="337"/>
                  </a:lnTo>
                  <a:lnTo>
                    <a:pt x="267" y="335"/>
                  </a:lnTo>
                  <a:lnTo>
                    <a:pt x="267" y="333"/>
                  </a:lnTo>
                  <a:lnTo>
                    <a:pt x="267" y="331"/>
                  </a:lnTo>
                  <a:lnTo>
                    <a:pt x="269" y="331"/>
                  </a:lnTo>
                  <a:lnTo>
                    <a:pt x="269" y="329"/>
                  </a:lnTo>
                  <a:lnTo>
                    <a:pt x="267" y="329"/>
                  </a:lnTo>
                  <a:lnTo>
                    <a:pt x="265" y="327"/>
                  </a:lnTo>
                  <a:lnTo>
                    <a:pt x="265" y="325"/>
                  </a:lnTo>
                  <a:lnTo>
                    <a:pt x="263" y="325"/>
                  </a:lnTo>
                  <a:lnTo>
                    <a:pt x="263" y="323"/>
                  </a:lnTo>
                  <a:lnTo>
                    <a:pt x="265" y="321"/>
                  </a:lnTo>
                  <a:lnTo>
                    <a:pt x="265" y="321"/>
                  </a:lnTo>
                  <a:lnTo>
                    <a:pt x="265" y="317"/>
                  </a:lnTo>
                  <a:lnTo>
                    <a:pt x="265" y="317"/>
                  </a:lnTo>
                  <a:lnTo>
                    <a:pt x="265" y="316"/>
                  </a:lnTo>
                  <a:lnTo>
                    <a:pt x="265" y="316"/>
                  </a:lnTo>
                  <a:lnTo>
                    <a:pt x="267" y="314"/>
                  </a:lnTo>
                  <a:lnTo>
                    <a:pt x="269" y="314"/>
                  </a:lnTo>
                  <a:lnTo>
                    <a:pt x="269" y="314"/>
                  </a:lnTo>
                  <a:lnTo>
                    <a:pt x="269" y="314"/>
                  </a:lnTo>
                  <a:lnTo>
                    <a:pt x="271" y="312"/>
                  </a:lnTo>
                  <a:lnTo>
                    <a:pt x="271" y="310"/>
                  </a:lnTo>
                  <a:lnTo>
                    <a:pt x="271" y="310"/>
                  </a:lnTo>
                  <a:lnTo>
                    <a:pt x="271" y="308"/>
                  </a:lnTo>
                  <a:lnTo>
                    <a:pt x="271" y="308"/>
                  </a:lnTo>
                  <a:lnTo>
                    <a:pt x="269" y="304"/>
                  </a:lnTo>
                  <a:lnTo>
                    <a:pt x="267" y="300"/>
                  </a:lnTo>
                  <a:lnTo>
                    <a:pt x="265" y="298"/>
                  </a:lnTo>
                  <a:lnTo>
                    <a:pt x="263" y="298"/>
                  </a:lnTo>
                  <a:lnTo>
                    <a:pt x="261" y="300"/>
                  </a:lnTo>
                  <a:lnTo>
                    <a:pt x="259" y="302"/>
                  </a:lnTo>
                  <a:lnTo>
                    <a:pt x="257" y="304"/>
                  </a:lnTo>
                  <a:lnTo>
                    <a:pt x="254" y="302"/>
                  </a:lnTo>
                  <a:lnTo>
                    <a:pt x="248" y="302"/>
                  </a:lnTo>
                  <a:lnTo>
                    <a:pt x="246" y="300"/>
                  </a:lnTo>
                  <a:lnTo>
                    <a:pt x="238" y="295"/>
                  </a:lnTo>
                  <a:lnTo>
                    <a:pt x="213" y="283"/>
                  </a:lnTo>
                  <a:lnTo>
                    <a:pt x="212" y="281"/>
                  </a:lnTo>
                  <a:lnTo>
                    <a:pt x="212" y="281"/>
                  </a:lnTo>
                  <a:lnTo>
                    <a:pt x="210" y="279"/>
                  </a:lnTo>
                  <a:lnTo>
                    <a:pt x="210" y="279"/>
                  </a:lnTo>
                  <a:lnTo>
                    <a:pt x="210" y="279"/>
                  </a:lnTo>
                  <a:lnTo>
                    <a:pt x="210" y="278"/>
                  </a:lnTo>
                  <a:lnTo>
                    <a:pt x="210" y="274"/>
                  </a:lnTo>
                  <a:lnTo>
                    <a:pt x="210" y="272"/>
                  </a:lnTo>
                  <a:lnTo>
                    <a:pt x="208" y="270"/>
                  </a:lnTo>
                  <a:lnTo>
                    <a:pt x="206" y="268"/>
                  </a:lnTo>
                  <a:lnTo>
                    <a:pt x="206" y="268"/>
                  </a:lnTo>
                  <a:lnTo>
                    <a:pt x="204" y="268"/>
                  </a:lnTo>
                  <a:lnTo>
                    <a:pt x="204" y="264"/>
                  </a:lnTo>
                  <a:lnTo>
                    <a:pt x="204" y="262"/>
                  </a:lnTo>
                  <a:lnTo>
                    <a:pt x="206" y="260"/>
                  </a:lnTo>
                  <a:lnTo>
                    <a:pt x="206" y="257"/>
                  </a:lnTo>
                  <a:lnTo>
                    <a:pt x="208" y="257"/>
                  </a:lnTo>
                  <a:lnTo>
                    <a:pt x="208" y="257"/>
                  </a:lnTo>
                  <a:lnTo>
                    <a:pt x="210" y="255"/>
                  </a:lnTo>
                  <a:lnTo>
                    <a:pt x="210" y="253"/>
                  </a:lnTo>
                  <a:lnTo>
                    <a:pt x="210" y="253"/>
                  </a:lnTo>
                  <a:lnTo>
                    <a:pt x="210" y="251"/>
                  </a:lnTo>
                  <a:lnTo>
                    <a:pt x="212" y="251"/>
                  </a:lnTo>
                  <a:lnTo>
                    <a:pt x="212" y="251"/>
                  </a:lnTo>
                  <a:lnTo>
                    <a:pt x="213" y="249"/>
                  </a:lnTo>
                  <a:lnTo>
                    <a:pt x="213" y="247"/>
                  </a:lnTo>
                  <a:lnTo>
                    <a:pt x="213" y="245"/>
                  </a:lnTo>
                  <a:lnTo>
                    <a:pt x="213" y="241"/>
                  </a:lnTo>
                  <a:lnTo>
                    <a:pt x="212" y="241"/>
                  </a:lnTo>
                  <a:lnTo>
                    <a:pt x="212" y="241"/>
                  </a:lnTo>
                  <a:lnTo>
                    <a:pt x="212" y="240"/>
                  </a:lnTo>
                  <a:lnTo>
                    <a:pt x="217" y="238"/>
                  </a:lnTo>
                  <a:lnTo>
                    <a:pt x="219" y="238"/>
                  </a:lnTo>
                  <a:lnTo>
                    <a:pt x="219" y="238"/>
                  </a:lnTo>
                  <a:lnTo>
                    <a:pt x="221" y="238"/>
                  </a:lnTo>
                  <a:lnTo>
                    <a:pt x="223" y="240"/>
                  </a:lnTo>
                  <a:lnTo>
                    <a:pt x="223" y="241"/>
                  </a:lnTo>
                  <a:lnTo>
                    <a:pt x="223" y="243"/>
                  </a:lnTo>
                  <a:lnTo>
                    <a:pt x="225" y="243"/>
                  </a:lnTo>
                  <a:lnTo>
                    <a:pt x="229" y="245"/>
                  </a:lnTo>
                  <a:lnTo>
                    <a:pt x="231" y="245"/>
                  </a:lnTo>
                  <a:lnTo>
                    <a:pt x="231" y="245"/>
                  </a:lnTo>
                  <a:lnTo>
                    <a:pt x="233" y="241"/>
                  </a:lnTo>
                  <a:lnTo>
                    <a:pt x="236" y="238"/>
                  </a:lnTo>
                  <a:lnTo>
                    <a:pt x="236" y="236"/>
                  </a:lnTo>
                  <a:lnTo>
                    <a:pt x="238" y="232"/>
                  </a:lnTo>
                  <a:lnTo>
                    <a:pt x="240" y="230"/>
                  </a:lnTo>
                  <a:lnTo>
                    <a:pt x="240" y="226"/>
                  </a:lnTo>
                  <a:lnTo>
                    <a:pt x="242" y="220"/>
                  </a:lnTo>
                  <a:lnTo>
                    <a:pt x="242" y="215"/>
                  </a:lnTo>
                  <a:lnTo>
                    <a:pt x="242" y="213"/>
                  </a:lnTo>
                  <a:lnTo>
                    <a:pt x="246" y="211"/>
                  </a:lnTo>
                  <a:lnTo>
                    <a:pt x="246" y="213"/>
                  </a:lnTo>
                  <a:lnTo>
                    <a:pt x="250" y="213"/>
                  </a:lnTo>
                  <a:lnTo>
                    <a:pt x="252" y="215"/>
                  </a:lnTo>
                  <a:lnTo>
                    <a:pt x="254" y="215"/>
                  </a:lnTo>
                  <a:lnTo>
                    <a:pt x="254" y="215"/>
                  </a:lnTo>
                  <a:lnTo>
                    <a:pt x="254" y="215"/>
                  </a:lnTo>
                  <a:lnTo>
                    <a:pt x="255" y="213"/>
                  </a:lnTo>
                  <a:lnTo>
                    <a:pt x="255" y="213"/>
                  </a:lnTo>
                  <a:lnTo>
                    <a:pt x="257" y="213"/>
                  </a:lnTo>
                  <a:lnTo>
                    <a:pt x="259" y="213"/>
                  </a:lnTo>
                  <a:lnTo>
                    <a:pt x="263" y="213"/>
                  </a:lnTo>
                  <a:lnTo>
                    <a:pt x="269" y="215"/>
                  </a:lnTo>
                  <a:lnTo>
                    <a:pt x="274" y="215"/>
                  </a:lnTo>
                  <a:lnTo>
                    <a:pt x="274" y="215"/>
                  </a:lnTo>
                  <a:lnTo>
                    <a:pt x="276" y="213"/>
                  </a:lnTo>
                  <a:lnTo>
                    <a:pt x="276" y="211"/>
                  </a:lnTo>
                  <a:lnTo>
                    <a:pt x="276" y="211"/>
                  </a:lnTo>
                  <a:lnTo>
                    <a:pt x="278" y="211"/>
                  </a:lnTo>
                  <a:lnTo>
                    <a:pt x="278" y="213"/>
                  </a:lnTo>
                  <a:lnTo>
                    <a:pt x="284" y="215"/>
                  </a:lnTo>
                  <a:lnTo>
                    <a:pt x="286" y="215"/>
                  </a:lnTo>
                  <a:lnTo>
                    <a:pt x="286" y="213"/>
                  </a:lnTo>
                  <a:lnTo>
                    <a:pt x="288" y="213"/>
                  </a:lnTo>
                  <a:lnTo>
                    <a:pt x="288" y="211"/>
                  </a:lnTo>
                  <a:lnTo>
                    <a:pt x="288" y="209"/>
                  </a:lnTo>
                  <a:lnTo>
                    <a:pt x="288" y="209"/>
                  </a:lnTo>
                  <a:lnTo>
                    <a:pt x="288" y="207"/>
                  </a:lnTo>
                  <a:lnTo>
                    <a:pt x="292" y="205"/>
                  </a:lnTo>
                  <a:lnTo>
                    <a:pt x="292" y="203"/>
                  </a:lnTo>
                  <a:lnTo>
                    <a:pt x="292" y="203"/>
                  </a:lnTo>
                  <a:lnTo>
                    <a:pt x="292" y="201"/>
                  </a:lnTo>
                  <a:lnTo>
                    <a:pt x="292" y="201"/>
                  </a:lnTo>
                  <a:lnTo>
                    <a:pt x="288" y="201"/>
                  </a:lnTo>
                  <a:lnTo>
                    <a:pt x="284" y="201"/>
                  </a:lnTo>
                  <a:lnTo>
                    <a:pt x="284" y="200"/>
                  </a:lnTo>
                  <a:lnTo>
                    <a:pt x="282" y="200"/>
                  </a:lnTo>
                  <a:lnTo>
                    <a:pt x="280" y="198"/>
                  </a:lnTo>
                  <a:lnTo>
                    <a:pt x="280" y="198"/>
                  </a:lnTo>
                  <a:lnTo>
                    <a:pt x="278" y="198"/>
                  </a:lnTo>
                  <a:lnTo>
                    <a:pt x="276" y="196"/>
                  </a:lnTo>
                  <a:lnTo>
                    <a:pt x="276" y="194"/>
                  </a:lnTo>
                  <a:lnTo>
                    <a:pt x="276" y="194"/>
                  </a:lnTo>
                  <a:lnTo>
                    <a:pt x="276" y="192"/>
                  </a:lnTo>
                  <a:lnTo>
                    <a:pt x="274" y="192"/>
                  </a:lnTo>
                  <a:lnTo>
                    <a:pt x="274" y="190"/>
                  </a:lnTo>
                  <a:lnTo>
                    <a:pt x="276" y="186"/>
                  </a:lnTo>
                  <a:lnTo>
                    <a:pt x="276" y="184"/>
                  </a:lnTo>
                  <a:lnTo>
                    <a:pt x="276" y="184"/>
                  </a:lnTo>
                  <a:lnTo>
                    <a:pt x="274" y="182"/>
                  </a:lnTo>
                  <a:lnTo>
                    <a:pt x="274" y="181"/>
                  </a:lnTo>
                  <a:lnTo>
                    <a:pt x="273" y="181"/>
                  </a:lnTo>
                  <a:lnTo>
                    <a:pt x="271" y="179"/>
                  </a:lnTo>
                  <a:lnTo>
                    <a:pt x="271" y="181"/>
                  </a:lnTo>
                  <a:lnTo>
                    <a:pt x="269" y="182"/>
                  </a:lnTo>
                  <a:lnTo>
                    <a:pt x="269" y="182"/>
                  </a:lnTo>
                  <a:lnTo>
                    <a:pt x="267" y="181"/>
                  </a:lnTo>
                  <a:lnTo>
                    <a:pt x="267" y="182"/>
                  </a:lnTo>
                  <a:lnTo>
                    <a:pt x="265" y="182"/>
                  </a:lnTo>
                  <a:lnTo>
                    <a:pt x="265" y="182"/>
                  </a:lnTo>
                  <a:lnTo>
                    <a:pt x="265" y="184"/>
                  </a:lnTo>
                  <a:lnTo>
                    <a:pt x="263" y="184"/>
                  </a:lnTo>
                  <a:lnTo>
                    <a:pt x="261" y="184"/>
                  </a:lnTo>
                  <a:lnTo>
                    <a:pt x="257" y="182"/>
                  </a:lnTo>
                  <a:lnTo>
                    <a:pt x="255" y="181"/>
                  </a:lnTo>
                  <a:lnTo>
                    <a:pt x="252" y="181"/>
                  </a:lnTo>
                  <a:lnTo>
                    <a:pt x="250" y="181"/>
                  </a:lnTo>
                  <a:lnTo>
                    <a:pt x="250" y="181"/>
                  </a:lnTo>
                  <a:lnTo>
                    <a:pt x="250" y="179"/>
                  </a:lnTo>
                  <a:lnTo>
                    <a:pt x="246" y="177"/>
                  </a:lnTo>
                  <a:lnTo>
                    <a:pt x="246" y="175"/>
                  </a:lnTo>
                  <a:lnTo>
                    <a:pt x="242" y="173"/>
                  </a:lnTo>
                  <a:lnTo>
                    <a:pt x="240" y="171"/>
                  </a:lnTo>
                  <a:lnTo>
                    <a:pt x="240" y="165"/>
                  </a:lnTo>
                  <a:lnTo>
                    <a:pt x="238" y="162"/>
                  </a:lnTo>
                  <a:lnTo>
                    <a:pt x="231" y="158"/>
                  </a:lnTo>
                  <a:lnTo>
                    <a:pt x="225" y="152"/>
                  </a:lnTo>
                  <a:lnTo>
                    <a:pt x="223" y="150"/>
                  </a:lnTo>
                  <a:lnTo>
                    <a:pt x="219" y="150"/>
                  </a:lnTo>
                  <a:lnTo>
                    <a:pt x="217" y="152"/>
                  </a:lnTo>
                  <a:lnTo>
                    <a:pt x="215" y="152"/>
                  </a:lnTo>
                  <a:lnTo>
                    <a:pt x="213" y="152"/>
                  </a:lnTo>
                  <a:lnTo>
                    <a:pt x="212" y="152"/>
                  </a:lnTo>
                  <a:lnTo>
                    <a:pt x="212" y="150"/>
                  </a:lnTo>
                  <a:lnTo>
                    <a:pt x="212" y="148"/>
                  </a:lnTo>
                  <a:lnTo>
                    <a:pt x="210" y="146"/>
                  </a:lnTo>
                  <a:lnTo>
                    <a:pt x="210" y="146"/>
                  </a:lnTo>
                  <a:lnTo>
                    <a:pt x="210" y="144"/>
                  </a:lnTo>
                  <a:lnTo>
                    <a:pt x="210" y="144"/>
                  </a:lnTo>
                  <a:lnTo>
                    <a:pt x="208" y="139"/>
                  </a:lnTo>
                  <a:lnTo>
                    <a:pt x="208" y="139"/>
                  </a:lnTo>
                  <a:lnTo>
                    <a:pt x="210" y="139"/>
                  </a:lnTo>
                  <a:lnTo>
                    <a:pt x="210" y="137"/>
                  </a:lnTo>
                  <a:lnTo>
                    <a:pt x="212" y="131"/>
                  </a:lnTo>
                  <a:lnTo>
                    <a:pt x="213" y="127"/>
                  </a:lnTo>
                  <a:lnTo>
                    <a:pt x="215" y="125"/>
                  </a:lnTo>
                  <a:lnTo>
                    <a:pt x="215" y="123"/>
                  </a:lnTo>
                  <a:lnTo>
                    <a:pt x="215" y="123"/>
                  </a:lnTo>
                  <a:lnTo>
                    <a:pt x="215" y="123"/>
                  </a:lnTo>
                  <a:lnTo>
                    <a:pt x="215" y="122"/>
                  </a:lnTo>
                  <a:lnTo>
                    <a:pt x="215" y="122"/>
                  </a:lnTo>
                  <a:lnTo>
                    <a:pt x="213" y="122"/>
                  </a:lnTo>
                  <a:lnTo>
                    <a:pt x="215" y="120"/>
                  </a:lnTo>
                  <a:lnTo>
                    <a:pt x="215" y="120"/>
                  </a:lnTo>
                  <a:lnTo>
                    <a:pt x="215" y="116"/>
                  </a:lnTo>
                  <a:lnTo>
                    <a:pt x="217" y="116"/>
                  </a:lnTo>
                  <a:lnTo>
                    <a:pt x="219" y="114"/>
                  </a:lnTo>
                  <a:lnTo>
                    <a:pt x="221" y="112"/>
                  </a:lnTo>
                  <a:lnTo>
                    <a:pt x="221" y="112"/>
                  </a:lnTo>
                  <a:lnTo>
                    <a:pt x="221" y="110"/>
                  </a:lnTo>
                  <a:lnTo>
                    <a:pt x="223" y="110"/>
                  </a:lnTo>
                  <a:lnTo>
                    <a:pt x="225" y="110"/>
                  </a:lnTo>
                  <a:lnTo>
                    <a:pt x="231" y="108"/>
                  </a:lnTo>
                  <a:lnTo>
                    <a:pt x="231" y="108"/>
                  </a:lnTo>
                  <a:lnTo>
                    <a:pt x="233" y="106"/>
                  </a:lnTo>
                  <a:lnTo>
                    <a:pt x="233" y="103"/>
                  </a:lnTo>
                  <a:lnTo>
                    <a:pt x="233" y="101"/>
                  </a:lnTo>
                  <a:lnTo>
                    <a:pt x="234" y="99"/>
                  </a:lnTo>
                  <a:lnTo>
                    <a:pt x="234" y="97"/>
                  </a:lnTo>
                  <a:lnTo>
                    <a:pt x="240" y="95"/>
                  </a:lnTo>
                  <a:lnTo>
                    <a:pt x="240" y="93"/>
                  </a:lnTo>
                  <a:lnTo>
                    <a:pt x="240" y="93"/>
                  </a:lnTo>
                  <a:lnTo>
                    <a:pt x="242" y="93"/>
                  </a:lnTo>
                  <a:lnTo>
                    <a:pt x="242" y="93"/>
                  </a:lnTo>
                  <a:lnTo>
                    <a:pt x="242" y="93"/>
                  </a:lnTo>
                  <a:lnTo>
                    <a:pt x="244" y="93"/>
                  </a:lnTo>
                  <a:lnTo>
                    <a:pt x="244" y="93"/>
                  </a:lnTo>
                  <a:lnTo>
                    <a:pt x="246" y="93"/>
                  </a:lnTo>
                  <a:lnTo>
                    <a:pt x="248" y="93"/>
                  </a:lnTo>
                  <a:lnTo>
                    <a:pt x="248" y="91"/>
                  </a:lnTo>
                  <a:lnTo>
                    <a:pt x="246" y="85"/>
                  </a:lnTo>
                  <a:lnTo>
                    <a:pt x="244" y="84"/>
                  </a:lnTo>
                  <a:lnTo>
                    <a:pt x="242" y="82"/>
                  </a:lnTo>
                  <a:lnTo>
                    <a:pt x="236" y="82"/>
                  </a:lnTo>
                  <a:lnTo>
                    <a:pt x="234" y="80"/>
                  </a:lnTo>
                  <a:lnTo>
                    <a:pt x="233" y="80"/>
                  </a:lnTo>
                  <a:lnTo>
                    <a:pt x="233" y="80"/>
                  </a:lnTo>
                  <a:lnTo>
                    <a:pt x="233" y="84"/>
                  </a:lnTo>
                  <a:lnTo>
                    <a:pt x="233" y="84"/>
                  </a:lnTo>
                  <a:lnTo>
                    <a:pt x="231" y="84"/>
                  </a:lnTo>
                  <a:lnTo>
                    <a:pt x="231" y="82"/>
                  </a:lnTo>
                  <a:lnTo>
                    <a:pt x="231" y="80"/>
                  </a:lnTo>
                  <a:lnTo>
                    <a:pt x="231" y="78"/>
                  </a:lnTo>
                  <a:lnTo>
                    <a:pt x="233" y="76"/>
                  </a:lnTo>
                  <a:lnTo>
                    <a:pt x="234" y="70"/>
                  </a:lnTo>
                  <a:lnTo>
                    <a:pt x="234" y="68"/>
                  </a:lnTo>
                  <a:lnTo>
                    <a:pt x="236" y="66"/>
                  </a:lnTo>
                  <a:lnTo>
                    <a:pt x="236" y="65"/>
                  </a:lnTo>
                  <a:lnTo>
                    <a:pt x="238" y="66"/>
                  </a:lnTo>
                  <a:lnTo>
                    <a:pt x="238" y="68"/>
                  </a:lnTo>
                  <a:lnTo>
                    <a:pt x="238" y="70"/>
                  </a:lnTo>
                  <a:lnTo>
                    <a:pt x="238" y="72"/>
                  </a:lnTo>
                  <a:lnTo>
                    <a:pt x="240" y="74"/>
                  </a:lnTo>
                  <a:lnTo>
                    <a:pt x="242" y="74"/>
                  </a:lnTo>
                  <a:lnTo>
                    <a:pt x="244" y="76"/>
                  </a:lnTo>
                  <a:lnTo>
                    <a:pt x="246" y="76"/>
                  </a:lnTo>
                  <a:lnTo>
                    <a:pt x="246" y="78"/>
                  </a:lnTo>
                  <a:lnTo>
                    <a:pt x="248" y="78"/>
                  </a:lnTo>
                  <a:lnTo>
                    <a:pt x="248" y="80"/>
                  </a:lnTo>
                  <a:lnTo>
                    <a:pt x="250" y="80"/>
                  </a:lnTo>
                  <a:lnTo>
                    <a:pt x="252" y="82"/>
                  </a:lnTo>
                  <a:lnTo>
                    <a:pt x="254" y="82"/>
                  </a:lnTo>
                  <a:lnTo>
                    <a:pt x="255" y="82"/>
                  </a:lnTo>
                  <a:lnTo>
                    <a:pt x="255" y="82"/>
                  </a:lnTo>
                  <a:lnTo>
                    <a:pt x="257" y="84"/>
                  </a:lnTo>
                  <a:lnTo>
                    <a:pt x="257" y="84"/>
                  </a:lnTo>
                  <a:lnTo>
                    <a:pt x="257" y="85"/>
                  </a:lnTo>
                  <a:lnTo>
                    <a:pt x="259" y="85"/>
                  </a:lnTo>
                  <a:lnTo>
                    <a:pt x="259" y="85"/>
                  </a:lnTo>
                  <a:lnTo>
                    <a:pt x="261" y="87"/>
                  </a:lnTo>
                  <a:lnTo>
                    <a:pt x="261" y="87"/>
                  </a:lnTo>
                  <a:lnTo>
                    <a:pt x="261" y="89"/>
                  </a:lnTo>
                  <a:lnTo>
                    <a:pt x="261" y="89"/>
                  </a:lnTo>
                  <a:lnTo>
                    <a:pt x="263" y="89"/>
                  </a:lnTo>
                  <a:lnTo>
                    <a:pt x="263" y="89"/>
                  </a:lnTo>
                  <a:lnTo>
                    <a:pt x="263" y="91"/>
                  </a:lnTo>
                  <a:lnTo>
                    <a:pt x="263" y="93"/>
                  </a:lnTo>
                  <a:lnTo>
                    <a:pt x="265" y="93"/>
                  </a:lnTo>
                  <a:lnTo>
                    <a:pt x="267" y="95"/>
                  </a:lnTo>
                  <a:lnTo>
                    <a:pt x="267" y="95"/>
                  </a:lnTo>
                  <a:lnTo>
                    <a:pt x="267" y="97"/>
                  </a:lnTo>
                  <a:lnTo>
                    <a:pt x="265" y="99"/>
                  </a:lnTo>
                  <a:lnTo>
                    <a:pt x="261" y="101"/>
                  </a:lnTo>
                  <a:lnTo>
                    <a:pt x="261" y="101"/>
                  </a:lnTo>
                  <a:lnTo>
                    <a:pt x="263" y="103"/>
                  </a:lnTo>
                  <a:lnTo>
                    <a:pt x="271" y="99"/>
                  </a:lnTo>
                  <a:lnTo>
                    <a:pt x="274" y="101"/>
                  </a:lnTo>
                  <a:lnTo>
                    <a:pt x="274" y="103"/>
                  </a:lnTo>
                  <a:lnTo>
                    <a:pt x="274" y="104"/>
                  </a:lnTo>
                  <a:lnTo>
                    <a:pt x="276" y="106"/>
                  </a:lnTo>
                  <a:lnTo>
                    <a:pt x="278" y="106"/>
                  </a:lnTo>
                  <a:lnTo>
                    <a:pt x="278" y="106"/>
                  </a:lnTo>
                  <a:lnTo>
                    <a:pt x="280" y="103"/>
                  </a:lnTo>
                  <a:lnTo>
                    <a:pt x="282" y="101"/>
                  </a:lnTo>
                  <a:lnTo>
                    <a:pt x="284" y="101"/>
                  </a:lnTo>
                  <a:lnTo>
                    <a:pt x="290" y="106"/>
                  </a:lnTo>
                  <a:lnTo>
                    <a:pt x="292" y="106"/>
                  </a:lnTo>
                  <a:lnTo>
                    <a:pt x="295" y="106"/>
                  </a:lnTo>
                  <a:lnTo>
                    <a:pt x="297" y="104"/>
                  </a:lnTo>
                  <a:lnTo>
                    <a:pt x="297" y="103"/>
                  </a:lnTo>
                  <a:lnTo>
                    <a:pt x="295" y="103"/>
                  </a:lnTo>
                  <a:lnTo>
                    <a:pt x="295" y="103"/>
                  </a:lnTo>
                  <a:lnTo>
                    <a:pt x="294" y="101"/>
                  </a:lnTo>
                  <a:lnTo>
                    <a:pt x="295" y="99"/>
                  </a:lnTo>
                  <a:lnTo>
                    <a:pt x="294" y="99"/>
                  </a:lnTo>
                  <a:lnTo>
                    <a:pt x="294" y="101"/>
                  </a:lnTo>
                  <a:lnTo>
                    <a:pt x="292" y="99"/>
                  </a:lnTo>
                  <a:lnTo>
                    <a:pt x="292" y="99"/>
                  </a:lnTo>
                  <a:lnTo>
                    <a:pt x="290" y="95"/>
                  </a:lnTo>
                  <a:lnTo>
                    <a:pt x="288" y="95"/>
                  </a:lnTo>
                  <a:lnTo>
                    <a:pt x="286" y="93"/>
                  </a:lnTo>
                  <a:lnTo>
                    <a:pt x="284" y="91"/>
                  </a:lnTo>
                  <a:lnTo>
                    <a:pt x="284" y="89"/>
                  </a:lnTo>
                  <a:lnTo>
                    <a:pt x="284" y="87"/>
                  </a:lnTo>
                  <a:lnTo>
                    <a:pt x="286" y="85"/>
                  </a:lnTo>
                  <a:lnTo>
                    <a:pt x="286" y="85"/>
                  </a:lnTo>
                  <a:lnTo>
                    <a:pt x="288" y="84"/>
                  </a:lnTo>
                  <a:lnTo>
                    <a:pt x="290" y="85"/>
                  </a:lnTo>
                  <a:lnTo>
                    <a:pt x="290" y="85"/>
                  </a:lnTo>
                  <a:lnTo>
                    <a:pt x="292" y="87"/>
                  </a:lnTo>
                  <a:lnTo>
                    <a:pt x="292" y="87"/>
                  </a:lnTo>
                  <a:lnTo>
                    <a:pt x="294" y="89"/>
                  </a:lnTo>
                  <a:lnTo>
                    <a:pt x="295" y="89"/>
                  </a:lnTo>
                  <a:lnTo>
                    <a:pt x="295" y="89"/>
                  </a:lnTo>
                  <a:lnTo>
                    <a:pt x="297" y="91"/>
                  </a:lnTo>
                  <a:lnTo>
                    <a:pt x="299" y="91"/>
                  </a:lnTo>
                  <a:lnTo>
                    <a:pt x="299" y="93"/>
                  </a:lnTo>
                  <a:lnTo>
                    <a:pt x="299" y="93"/>
                  </a:lnTo>
                  <a:lnTo>
                    <a:pt x="299" y="93"/>
                  </a:lnTo>
                  <a:lnTo>
                    <a:pt x="301" y="95"/>
                  </a:lnTo>
                  <a:lnTo>
                    <a:pt x="303" y="95"/>
                  </a:lnTo>
                  <a:lnTo>
                    <a:pt x="303" y="97"/>
                  </a:lnTo>
                  <a:lnTo>
                    <a:pt x="303" y="97"/>
                  </a:lnTo>
                  <a:lnTo>
                    <a:pt x="303" y="97"/>
                  </a:lnTo>
                  <a:lnTo>
                    <a:pt x="301" y="97"/>
                  </a:lnTo>
                  <a:lnTo>
                    <a:pt x="299" y="97"/>
                  </a:lnTo>
                  <a:lnTo>
                    <a:pt x="299" y="101"/>
                  </a:lnTo>
                  <a:lnTo>
                    <a:pt x="301" y="103"/>
                  </a:lnTo>
                  <a:lnTo>
                    <a:pt x="303" y="104"/>
                  </a:lnTo>
                  <a:lnTo>
                    <a:pt x="303" y="106"/>
                  </a:lnTo>
                  <a:lnTo>
                    <a:pt x="305" y="112"/>
                  </a:lnTo>
                  <a:lnTo>
                    <a:pt x="305" y="114"/>
                  </a:lnTo>
                  <a:lnTo>
                    <a:pt x="305" y="116"/>
                  </a:lnTo>
                  <a:lnTo>
                    <a:pt x="313" y="118"/>
                  </a:lnTo>
                  <a:lnTo>
                    <a:pt x="313" y="120"/>
                  </a:lnTo>
                  <a:lnTo>
                    <a:pt x="314" y="122"/>
                  </a:lnTo>
                  <a:lnTo>
                    <a:pt x="314" y="123"/>
                  </a:lnTo>
                  <a:lnTo>
                    <a:pt x="316" y="123"/>
                  </a:lnTo>
                  <a:lnTo>
                    <a:pt x="318" y="125"/>
                  </a:lnTo>
                  <a:lnTo>
                    <a:pt x="322" y="127"/>
                  </a:lnTo>
                  <a:lnTo>
                    <a:pt x="322" y="129"/>
                  </a:lnTo>
                  <a:lnTo>
                    <a:pt x="324" y="129"/>
                  </a:lnTo>
                  <a:lnTo>
                    <a:pt x="326" y="129"/>
                  </a:lnTo>
                  <a:lnTo>
                    <a:pt x="328" y="129"/>
                  </a:lnTo>
                  <a:lnTo>
                    <a:pt x="330" y="127"/>
                  </a:lnTo>
                  <a:lnTo>
                    <a:pt x="330" y="127"/>
                  </a:lnTo>
                  <a:lnTo>
                    <a:pt x="332" y="129"/>
                  </a:lnTo>
                  <a:lnTo>
                    <a:pt x="332" y="131"/>
                  </a:lnTo>
                  <a:lnTo>
                    <a:pt x="332" y="131"/>
                  </a:lnTo>
                  <a:lnTo>
                    <a:pt x="334" y="131"/>
                  </a:lnTo>
                  <a:lnTo>
                    <a:pt x="334" y="129"/>
                  </a:lnTo>
                  <a:lnTo>
                    <a:pt x="334" y="129"/>
                  </a:lnTo>
                  <a:lnTo>
                    <a:pt x="334" y="129"/>
                  </a:lnTo>
                  <a:lnTo>
                    <a:pt x="337" y="129"/>
                  </a:lnTo>
                  <a:lnTo>
                    <a:pt x="339" y="129"/>
                  </a:lnTo>
                  <a:lnTo>
                    <a:pt x="339" y="129"/>
                  </a:lnTo>
                  <a:lnTo>
                    <a:pt x="339" y="129"/>
                  </a:lnTo>
                  <a:lnTo>
                    <a:pt x="341" y="133"/>
                  </a:lnTo>
                  <a:lnTo>
                    <a:pt x="341" y="133"/>
                  </a:lnTo>
                  <a:lnTo>
                    <a:pt x="343" y="133"/>
                  </a:lnTo>
                  <a:lnTo>
                    <a:pt x="343" y="133"/>
                  </a:lnTo>
                  <a:lnTo>
                    <a:pt x="345" y="133"/>
                  </a:lnTo>
                  <a:lnTo>
                    <a:pt x="345" y="131"/>
                  </a:lnTo>
                  <a:lnTo>
                    <a:pt x="345" y="129"/>
                  </a:lnTo>
                  <a:lnTo>
                    <a:pt x="345" y="127"/>
                  </a:lnTo>
                  <a:lnTo>
                    <a:pt x="349" y="123"/>
                  </a:lnTo>
                  <a:lnTo>
                    <a:pt x="351" y="122"/>
                  </a:lnTo>
                  <a:lnTo>
                    <a:pt x="349" y="122"/>
                  </a:lnTo>
                  <a:lnTo>
                    <a:pt x="349" y="122"/>
                  </a:lnTo>
                  <a:lnTo>
                    <a:pt x="347" y="122"/>
                  </a:lnTo>
                  <a:lnTo>
                    <a:pt x="347" y="120"/>
                  </a:lnTo>
                  <a:lnTo>
                    <a:pt x="347" y="120"/>
                  </a:lnTo>
                  <a:lnTo>
                    <a:pt x="347" y="118"/>
                  </a:lnTo>
                  <a:lnTo>
                    <a:pt x="349" y="118"/>
                  </a:lnTo>
                  <a:lnTo>
                    <a:pt x="349" y="118"/>
                  </a:lnTo>
                  <a:lnTo>
                    <a:pt x="347" y="118"/>
                  </a:lnTo>
                  <a:lnTo>
                    <a:pt x="347" y="116"/>
                  </a:lnTo>
                  <a:lnTo>
                    <a:pt x="345" y="114"/>
                  </a:lnTo>
                  <a:lnTo>
                    <a:pt x="347" y="114"/>
                  </a:lnTo>
                  <a:lnTo>
                    <a:pt x="347" y="112"/>
                  </a:lnTo>
                  <a:lnTo>
                    <a:pt x="349" y="112"/>
                  </a:lnTo>
                  <a:lnTo>
                    <a:pt x="349" y="112"/>
                  </a:lnTo>
                  <a:lnTo>
                    <a:pt x="351" y="112"/>
                  </a:lnTo>
                  <a:lnTo>
                    <a:pt x="351" y="112"/>
                  </a:lnTo>
                  <a:lnTo>
                    <a:pt x="351" y="110"/>
                  </a:lnTo>
                  <a:lnTo>
                    <a:pt x="349" y="108"/>
                  </a:lnTo>
                  <a:lnTo>
                    <a:pt x="351" y="106"/>
                  </a:lnTo>
                  <a:lnTo>
                    <a:pt x="353" y="106"/>
                  </a:lnTo>
                  <a:lnTo>
                    <a:pt x="354" y="106"/>
                  </a:lnTo>
                  <a:lnTo>
                    <a:pt x="354" y="108"/>
                  </a:lnTo>
                  <a:lnTo>
                    <a:pt x="354" y="110"/>
                  </a:lnTo>
                  <a:lnTo>
                    <a:pt x="356" y="110"/>
                  </a:lnTo>
                  <a:lnTo>
                    <a:pt x="358" y="108"/>
                  </a:lnTo>
                  <a:lnTo>
                    <a:pt x="360" y="108"/>
                  </a:lnTo>
                  <a:lnTo>
                    <a:pt x="362" y="108"/>
                  </a:lnTo>
                  <a:lnTo>
                    <a:pt x="362" y="106"/>
                  </a:lnTo>
                  <a:lnTo>
                    <a:pt x="362" y="106"/>
                  </a:lnTo>
                  <a:lnTo>
                    <a:pt x="362" y="104"/>
                  </a:lnTo>
                  <a:lnTo>
                    <a:pt x="362" y="104"/>
                  </a:lnTo>
                  <a:lnTo>
                    <a:pt x="362" y="104"/>
                  </a:lnTo>
                  <a:lnTo>
                    <a:pt x="362" y="103"/>
                  </a:lnTo>
                  <a:lnTo>
                    <a:pt x="364" y="103"/>
                  </a:lnTo>
                  <a:lnTo>
                    <a:pt x="366" y="99"/>
                  </a:lnTo>
                  <a:lnTo>
                    <a:pt x="366" y="99"/>
                  </a:lnTo>
                  <a:lnTo>
                    <a:pt x="366" y="99"/>
                  </a:lnTo>
                  <a:lnTo>
                    <a:pt x="368" y="97"/>
                  </a:lnTo>
                  <a:lnTo>
                    <a:pt x="370" y="97"/>
                  </a:lnTo>
                  <a:lnTo>
                    <a:pt x="370" y="95"/>
                  </a:lnTo>
                  <a:lnTo>
                    <a:pt x="370" y="95"/>
                  </a:lnTo>
                  <a:lnTo>
                    <a:pt x="370" y="95"/>
                  </a:lnTo>
                  <a:lnTo>
                    <a:pt x="370" y="93"/>
                  </a:lnTo>
                  <a:lnTo>
                    <a:pt x="370" y="93"/>
                  </a:lnTo>
                  <a:lnTo>
                    <a:pt x="370" y="93"/>
                  </a:lnTo>
                  <a:lnTo>
                    <a:pt x="370" y="93"/>
                  </a:lnTo>
                  <a:lnTo>
                    <a:pt x="370" y="91"/>
                  </a:lnTo>
                  <a:lnTo>
                    <a:pt x="372" y="91"/>
                  </a:lnTo>
                  <a:lnTo>
                    <a:pt x="372" y="91"/>
                  </a:lnTo>
                  <a:lnTo>
                    <a:pt x="372" y="91"/>
                  </a:lnTo>
                  <a:lnTo>
                    <a:pt x="372" y="84"/>
                  </a:lnTo>
                  <a:lnTo>
                    <a:pt x="374" y="82"/>
                  </a:lnTo>
                  <a:lnTo>
                    <a:pt x="374" y="78"/>
                  </a:lnTo>
                  <a:lnTo>
                    <a:pt x="374" y="78"/>
                  </a:lnTo>
                  <a:lnTo>
                    <a:pt x="374" y="78"/>
                  </a:lnTo>
                  <a:lnTo>
                    <a:pt x="374" y="78"/>
                  </a:lnTo>
                  <a:lnTo>
                    <a:pt x="375" y="74"/>
                  </a:lnTo>
                  <a:lnTo>
                    <a:pt x="375" y="65"/>
                  </a:lnTo>
                  <a:close/>
                </a:path>
              </a:pathLst>
            </a:custGeom>
            <a:solidFill>
              <a:schemeClr val="tx2"/>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58" name="Freeform 7">
              <a:extLst>
                <a:ext uri="{FF2B5EF4-FFF2-40B4-BE49-F238E27FC236}">
                  <a16:creationId xmlns:a16="http://schemas.microsoft.com/office/drawing/2014/main" id="{13716840-530B-E2CE-9D50-6E887C1FFA3C}"/>
                </a:ext>
              </a:extLst>
            </p:cNvPr>
            <p:cNvSpPr>
              <a:spLocks noEditPoints="1"/>
            </p:cNvSpPr>
            <p:nvPr/>
          </p:nvSpPr>
          <p:spPr bwMode="auto">
            <a:xfrm>
              <a:off x="4086841" y="2966576"/>
              <a:ext cx="707453" cy="981087"/>
            </a:xfrm>
            <a:custGeom>
              <a:avLst/>
              <a:gdLst>
                <a:gd name="T0" fmla="*/ 215 w 375"/>
                <a:gd name="T1" fmla="*/ 567 h 580"/>
                <a:gd name="T2" fmla="*/ 212 w 375"/>
                <a:gd name="T3" fmla="*/ 538 h 580"/>
                <a:gd name="T4" fmla="*/ 368 w 375"/>
                <a:gd name="T5" fmla="*/ 57 h 580"/>
                <a:gd name="T6" fmla="*/ 305 w 375"/>
                <a:gd name="T7" fmla="*/ 46 h 580"/>
                <a:gd name="T8" fmla="*/ 269 w 375"/>
                <a:gd name="T9" fmla="*/ 11 h 580"/>
                <a:gd name="T10" fmla="*/ 208 w 375"/>
                <a:gd name="T11" fmla="*/ 6 h 580"/>
                <a:gd name="T12" fmla="*/ 215 w 375"/>
                <a:gd name="T13" fmla="*/ 61 h 580"/>
                <a:gd name="T14" fmla="*/ 225 w 375"/>
                <a:gd name="T15" fmla="*/ 89 h 580"/>
                <a:gd name="T16" fmla="*/ 202 w 375"/>
                <a:gd name="T17" fmla="*/ 114 h 580"/>
                <a:gd name="T18" fmla="*/ 183 w 375"/>
                <a:gd name="T19" fmla="*/ 141 h 580"/>
                <a:gd name="T20" fmla="*/ 206 w 375"/>
                <a:gd name="T21" fmla="*/ 177 h 580"/>
                <a:gd name="T22" fmla="*/ 179 w 375"/>
                <a:gd name="T23" fmla="*/ 188 h 580"/>
                <a:gd name="T24" fmla="*/ 187 w 375"/>
                <a:gd name="T25" fmla="*/ 203 h 580"/>
                <a:gd name="T26" fmla="*/ 189 w 375"/>
                <a:gd name="T27" fmla="*/ 253 h 580"/>
                <a:gd name="T28" fmla="*/ 191 w 375"/>
                <a:gd name="T29" fmla="*/ 268 h 580"/>
                <a:gd name="T30" fmla="*/ 181 w 375"/>
                <a:gd name="T31" fmla="*/ 279 h 580"/>
                <a:gd name="T32" fmla="*/ 170 w 375"/>
                <a:gd name="T33" fmla="*/ 310 h 580"/>
                <a:gd name="T34" fmla="*/ 151 w 375"/>
                <a:gd name="T35" fmla="*/ 331 h 580"/>
                <a:gd name="T36" fmla="*/ 133 w 375"/>
                <a:gd name="T37" fmla="*/ 342 h 580"/>
                <a:gd name="T38" fmla="*/ 112 w 375"/>
                <a:gd name="T39" fmla="*/ 350 h 580"/>
                <a:gd name="T40" fmla="*/ 76 w 375"/>
                <a:gd name="T41" fmla="*/ 363 h 580"/>
                <a:gd name="T42" fmla="*/ 31 w 375"/>
                <a:gd name="T43" fmla="*/ 384 h 580"/>
                <a:gd name="T44" fmla="*/ 0 w 375"/>
                <a:gd name="T45" fmla="*/ 384 h 580"/>
                <a:gd name="T46" fmla="*/ 8 w 375"/>
                <a:gd name="T47" fmla="*/ 416 h 580"/>
                <a:gd name="T48" fmla="*/ 61 w 375"/>
                <a:gd name="T49" fmla="*/ 435 h 580"/>
                <a:gd name="T50" fmla="*/ 76 w 375"/>
                <a:gd name="T51" fmla="*/ 473 h 580"/>
                <a:gd name="T52" fmla="*/ 90 w 375"/>
                <a:gd name="T53" fmla="*/ 496 h 580"/>
                <a:gd name="T54" fmla="*/ 90 w 375"/>
                <a:gd name="T55" fmla="*/ 517 h 580"/>
                <a:gd name="T56" fmla="*/ 118 w 375"/>
                <a:gd name="T57" fmla="*/ 538 h 580"/>
                <a:gd name="T58" fmla="*/ 172 w 375"/>
                <a:gd name="T59" fmla="*/ 569 h 580"/>
                <a:gd name="T60" fmla="*/ 215 w 375"/>
                <a:gd name="T61" fmla="*/ 517 h 580"/>
                <a:gd name="T62" fmla="*/ 208 w 375"/>
                <a:gd name="T63" fmla="*/ 510 h 580"/>
                <a:gd name="T64" fmla="*/ 223 w 375"/>
                <a:gd name="T65" fmla="*/ 572 h 580"/>
                <a:gd name="T66" fmla="*/ 233 w 375"/>
                <a:gd name="T67" fmla="*/ 570 h 580"/>
                <a:gd name="T68" fmla="*/ 244 w 375"/>
                <a:gd name="T69" fmla="*/ 561 h 580"/>
                <a:gd name="T70" fmla="*/ 250 w 375"/>
                <a:gd name="T71" fmla="*/ 569 h 580"/>
                <a:gd name="T72" fmla="*/ 259 w 375"/>
                <a:gd name="T73" fmla="*/ 557 h 580"/>
                <a:gd name="T74" fmla="*/ 265 w 375"/>
                <a:gd name="T75" fmla="*/ 513 h 580"/>
                <a:gd name="T76" fmla="*/ 265 w 375"/>
                <a:gd name="T77" fmla="*/ 525 h 580"/>
                <a:gd name="T78" fmla="*/ 274 w 375"/>
                <a:gd name="T79" fmla="*/ 576 h 580"/>
                <a:gd name="T80" fmla="*/ 282 w 375"/>
                <a:gd name="T81" fmla="*/ 557 h 580"/>
                <a:gd name="T82" fmla="*/ 294 w 375"/>
                <a:gd name="T83" fmla="*/ 544 h 580"/>
                <a:gd name="T84" fmla="*/ 297 w 375"/>
                <a:gd name="T85" fmla="*/ 521 h 580"/>
                <a:gd name="T86" fmla="*/ 290 w 375"/>
                <a:gd name="T87" fmla="*/ 472 h 580"/>
                <a:gd name="T88" fmla="*/ 290 w 375"/>
                <a:gd name="T89" fmla="*/ 414 h 580"/>
                <a:gd name="T90" fmla="*/ 265 w 375"/>
                <a:gd name="T91" fmla="*/ 384 h 580"/>
                <a:gd name="T92" fmla="*/ 255 w 375"/>
                <a:gd name="T93" fmla="*/ 346 h 580"/>
                <a:gd name="T94" fmla="*/ 269 w 375"/>
                <a:gd name="T95" fmla="*/ 314 h 580"/>
                <a:gd name="T96" fmla="*/ 208 w 375"/>
                <a:gd name="T97" fmla="*/ 270 h 580"/>
                <a:gd name="T98" fmla="*/ 223 w 375"/>
                <a:gd name="T99" fmla="*/ 240 h 580"/>
                <a:gd name="T100" fmla="*/ 263 w 375"/>
                <a:gd name="T101" fmla="*/ 213 h 580"/>
                <a:gd name="T102" fmla="*/ 280 w 375"/>
                <a:gd name="T103" fmla="*/ 198 h 580"/>
                <a:gd name="T104" fmla="*/ 252 w 375"/>
                <a:gd name="T105" fmla="*/ 181 h 580"/>
                <a:gd name="T106" fmla="*/ 210 w 375"/>
                <a:gd name="T107" fmla="*/ 137 h 580"/>
                <a:gd name="T108" fmla="*/ 240 w 375"/>
                <a:gd name="T109" fmla="*/ 95 h 580"/>
                <a:gd name="T110" fmla="*/ 236 w 375"/>
                <a:gd name="T111" fmla="*/ 66 h 580"/>
                <a:gd name="T112" fmla="*/ 263 w 375"/>
                <a:gd name="T113" fmla="*/ 89 h 580"/>
                <a:gd name="T114" fmla="*/ 295 w 375"/>
                <a:gd name="T115" fmla="*/ 103 h 580"/>
                <a:gd name="T116" fmla="*/ 299 w 375"/>
                <a:gd name="T117" fmla="*/ 93 h 580"/>
                <a:gd name="T118" fmla="*/ 330 w 375"/>
                <a:gd name="T119" fmla="*/ 127 h 580"/>
                <a:gd name="T120" fmla="*/ 347 w 375"/>
                <a:gd name="T121" fmla="*/ 120 h 580"/>
                <a:gd name="T122" fmla="*/ 362 w 375"/>
                <a:gd name="T123" fmla="*/ 104 h 580"/>
                <a:gd name="T124" fmla="*/ 375 w 375"/>
                <a:gd name="T125" fmla="*/ 65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5" h="580">
                  <a:moveTo>
                    <a:pt x="284" y="574"/>
                  </a:moveTo>
                  <a:lnTo>
                    <a:pt x="284" y="574"/>
                  </a:lnTo>
                  <a:lnTo>
                    <a:pt x="282" y="572"/>
                  </a:lnTo>
                  <a:lnTo>
                    <a:pt x="278" y="572"/>
                  </a:lnTo>
                  <a:lnTo>
                    <a:pt x="278" y="574"/>
                  </a:lnTo>
                  <a:lnTo>
                    <a:pt x="278" y="580"/>
                  </a:lnTo>
                  <a:lnTo>
                    <a:pt x="280" y="580"/>
                  </a:lnTo>
                  <a:lnTo>
                    <a:pt x="282" y="580"/>
                  </a:lnTo>
                  <a:lnTo>
                    <a:pt x="284" y="580"/>
                  </a:lnTo>
                  <a:lnTo>
                    <a:pt x="286" y="580"/>
                  </a:lnTo>
                  <a:lnTo>
                    <a:pt x="286" y="578"/>
                  </a:lnTo>
                  <a:lnTo>
                    <a:pt x="286" y="576"/>
                  </a:lnTo>
                  <a:lnTo>
                    <a:pt x="284" y="574"/>
                  </a:lnTo>
                  <a:close/>
                  <a:moveTo>
                    <a:pt x="212" y="548"/>
                  </a:moveTo>
                  <a:lnTo>
                    <a:pt x="210" y="551"/>
                  </a:lnTo>
                  <a:lnTo>
                    <a:pt x="206" y="563"/>
                  </a:lnTo>
                  <a:lnTo>
                    <a:pt x="206" y="565"/>
                  </a:lnTo>
                  <a:lnTo>
                    <a:pt x="206" y="567"/>
                  </a:lnTo>
                  <a:lnTo>
                    <a:pt x="206" y="567"/>
                  </a:lnTo>
                  <a:lnTo>
                    <a:pt x="206" y="569"/>
                  </a:lnTo>
                  <a:lnTo>
                    <a:pt x="208" y="569"/>
                  </a:lnTo>
                  <a:lnTo>
                    <a:pt x="210" y="569"/>
                  </a:lnTo>
                  <a:lnTo>
                    <a:pt x="212" y="570"/>
                  </a:lnTo>
                  <a:lnTo>
                    <a:pt x="213" y="570"/>
                  </a:lnTo>
                  <a:lnTo>
                    <a:pt x="213" y="570"/>
                  </a:lnTo>
                  <a:lnTo>
                    <a:pt x="215" y="569"/>
                  </a:lnTo>
                  <a:lnTo>
                    <a:pt x="215" y="567"/>
                  </a:lnTo>
                  <a:lnTo>
                    <a:pt x="213" y="565"/>
                  </a:lnTo>
                  <a:lnTo>
                    <a:pt x="217" y="563"/>
                  </a:lnTo>
                  <a:lnTo>
                    <a:pt x="217" y="557"/>
                  </a:lnTo>
                  <a:lnTo>
                    <a:pt x="215" y="546"/>
                  </a:lnTo>
                  <a:lnTo>
                    <a:pt x="212" y="548"/>
                  </a:lnTo>
                  <a:close/>
                  <a:moveTo>
                    <a:pt x="261" y="540"/>
                  </a:moveTo>
                  <a:lnTo>
                    <a:pt x="259" y="540"/>
                  </a:lnTo>
                  <a:lnTo>
                    <a:pt x="259" y="544"/>
                  </a:lnTo>
                  <a:lnTo>
                    <a:pt x="257" y="546"/>
                  </a:lnTo>
                  <a:lnTo>
                    <a:pt x="255" y="550"/>
                  </a:lnTo>
                  <a:lnTo>
                    <a:pt x="255" y="550"/>
                  </a:lnTo>
                  <a:lnTo>
                    <a:pt x="255" y="550"/>
                  </a:lnTo>
                  <a:lnTo>
                    <a:pt x="255" y="551"/>
                  </a:lnTo>
                  <a:lnTo>
                    <a:pt x="255" y="553"/>
                  </a:lnTo>
                  <a:lnTo>
                    <a:pt x="257" y="553"/>
                  </a:lnTo>
                  <a:lnTo>
                    <a:pt x="259" y="553"/>
                  </a:lnTo>
                  <a:lnTo>
                    <a:pt x="261" y="553"/>
                  </a:lnTo>
                  <a:lnTo>
                    <a:pt x="261" y="550"/>
                  </a:lnTo>
                  <a:lnTo>
                    <a:pt x="261" y="546"/>
                  </a:lnTo>
                  <a:lnTo>
                    <a:pt x="263" y="544"/>
                  </a:lnTo>
                  <a:lnTo>
                    <a:pt x="263" y="542"/>
                  </a:lnTo>
                  <a:lnTo>
                    <a:pt x="263" y="540"/>
                  </a:lnTo>
                  <a:lnTo>
                    <a:pt x="261" y="540"/>
                  </a:lnTo>
                  <a:close/>
                  <a:moveTo>
                    <a:pt x="212" y="548"/>
                  </a:moveTo>
                  <a:lnTo>
                    <a:pt x="213" y="544"/>
                  </a:lnTo>
                  <a:lnTo>
                    <a:pt x="213" y="542"/>
                  </a:lnTo>
                  <a:lnTo>
                    <a:pt x="212" y="538"/>
                  </a:lnTo>
                  <a:lnTo>
                    <a:pt x="212" y="538"/>
                  </a:lnTo>
                  <a:lnTo>
                    <a:pt x="210" y="540"/>
                  </a:lnTo>
                  <a:lnTo>
                    <a:pt x="210" y="540"/>
                  </a:lnTo>
                  <a:lnTo>
                    <a:pt x="208" y="542"/>
                  </a:lnTo>
                  <a:lnTo>
                    <a:pt x="208" y="544"/>
                  </a:lnTo>
                  <a:lnTo>
                    <a:pt x="208" y="546"/>
                  </a:lnTo>
                  <a:lnTo>
                    <a:pt x="208" y="548"/>
                  </a:lnTo>
                  <a:lnTo>
                    <a:pt x="210" y="548"/>
                  </a:lnTo>
                  <a:lnTo>
                    <a:pt x="212" y="548"/>
                  </a:lnTo>
                  <a:close/>
                  <a:moveTo>
                    <a:pt x="375" y="65"/>
                  </a:moveTo>
                  <a:lnTo>
                    <a:pt x="374" y="63"/>
                  </a:lnTo>
                  <a:lnTo>
                    <a:pt x="372" y="57"/>
                  </a:lnTo>
                  <a:lnTo>
                    <a:pt x="374" y="55"/>
                  </a:lnTo>
                  <a:lnTo>
                    <a:pt x="372" y="55"/>
                  </a:lnTo>
                  <a:lnTo>
                    <a:pt x="372" y="55"/>
                  </a:lnTo>
                  <a:lnTo>
                    <a:pt x="372" y="55"/>
                  </a:lnTo>
                  <a:lnTo>
                    <a:pt x="372" y="55"/>
                  </a:lnTo>
                  <a:lnTo>
                    <a:pt x="370" y="55"/>
                  </a:lnTo>
                  <a:lnTo>
                    <a:pt x="370" y="55"/>
                  </a:lnTo>
                  <a:lnTo>
                    <a:pt x="370" y="55"/>
                  </a:lnTo>
                  <a:lnTo>
                    <a:pt x="370" y="55"/>
                  </a:lnTo>
                  <a:lnTo>
                    <a:pt x="370" y="57"/>
                  </a:lnTo>
                  <a:lnTo>
                    <a:pt x="370" y="57"/>
                  </a:lnTo>
                  <a:lnTo>
                    <a:pt x="370" y="57"/>
                  </a:lnTo>
                  <a:lnTo>
                    <a:pt x="370" y="59"/>
                  </a:lnTo>
                  <a:lnTo>
                    <a:pt x="370" y="59"/>
                  </a:lnTo>
                  <a:lnTo>
                    <a:pt x="368" y="57"/>
                  </a:lnTo>
                  <a:lnTo>
                    <a:pt x="368" y="57"/>
                  </a:lnTo>
                  <a:lnTo>
                    <a:pt x="364" y="57"/>
                  </a:lnTo>
                  <a:lnTo>
                    <a:pt x="364" y="57"/>
                  </a:lnTo>
                  <a:lnTo>
                    <a:pt x="362" y="57"/>
                  </a:lnTo>
                  <a:lnTo>
                    <a:pt x="356" y="55"/>
                  </a:lnTo>
                  <a:lnTo>
                    <a:pt x="354" y="55"/>
                  </a:lnTo>
                  <a:lnTo>
                    <a:pt x="353" y="57"/>
                  </a:lnTo>
                  <a:lnTo>
                    <a:pt x="351" y="57"/>
                  </a:lnTo>
                  <a:lnTo>
                    <a:pt x="349" y="55"/>
                  </a:lnTo>
                  <a:lnTo>
                    <a:pt x="351" y="53"/>
                  </a:lnTo>
                  <a:lnTo>
                    <a:pt x="351" y="51"/>
                  </a:lnTo>
                  <a:lnTo>
                    <a:pt x="349" y="49"/>
                  </a:lnTo>
                  <a:lnTo>
                    <a:pt x="345" y="47"/>
                  </a:lnTo>
                  <a:lnTo>
                    <a:pt x="341" y="47"/>
                  </a:lnTo>
                  <a:lnTo>
                    <a:pt x="335" y="47"/>
                  </a:lnTo>
                  <a:lnTo>
                    <a:pt x="332" y="46"/>
                  </a:lnTo>
                  <a:lnTo>
                    <a:pt x="328" y="44"/>
                  </a:lnTo>
                  <a:lnTo>
                    <a:pt x="326" y="42"/>
                  </a:lnTo>
                  <a:lnTo>
                    <a:pt x="322" y="42"/>
                  </a:lnTo>
                  <a:lnTo>
                    <a:pt x="320" y="42"/>
                  </a:lnTo>
                  <a:lnTo>
                    <a:pt x="318" y="44"/>
                  </a:lnTo>
                  <a:lnTo>
                    <a:pt x="318" y="44"/>
                  </a:lnTo>
                  <a:lnTo>
                    <a:pt x="316" y="44"/>
                  </a:lnTo>
                  <a:lnTo>
                    <a:pt x="316" y="46"/>
                  </a:lnTo>
                  <a:lnTo>
                    <a:pt x="313" y="46"/>
                  </a:lnTo>
                  <a:lnTo>
                    <a:pt x="311" y="46"/>
                  </a:lnTo>
                  <a:lnTo>
                    <a:pt x="305" y="46"/>
                  </a:lnTo>
                  <a:lnTo>
                    <a:pt x="303" y="46"/>
                  </a:lnTo>
                  <a:lnTo>
                    <a:pt x="301" y="44"/>
                  </a:lnTo>
                  <a:lnTo>
                    <a:pt x="301" y="42"/>
                  </a:lnTo>
                  <a:lnTo>
                    <a:pt x="299" y="38"/>
                  </a:lnTo>
                  <a:lnTo>
                    <a:pt x="297" y="38"/>
                  </a:lnTo>
                  <a:lnTo>
                    <a:pt x="295" y="36"/>
                  </a:lnTo>
                  <a:lnTo>
                    <a:pt x="294" y="34"/>
                  </a:lnTo>
                  <a:lnTo>
                    <a:pt x="292" y="34"/>
                  </a:lnTo>
                  <a:lnTo>
                    <a:pt x="290" y="36"/>
                  </a:lnTo>
                  <a:lnTo>
                    <a:pt x="290" y="36"/>
                  </a:lnTo>
                  <a:lnTo>
                    <a:pt x="288" y="36"/>
                  </a:lnTo>
                  <a:lnTo>
                    <a:pt x="288" y="34"/>
                  </a:lnTo>
                  <a:lnTo>
                    <a:pt x="286" y="34"/>
                  </a:lnTo>
                  <a:lnTo>
                    <a:pt x="288" y="32"/>
                  </a:lnTo>
                  <a:lnTo>
                    <a:pt x="288" y="32"/>
                  </a:lnTo>
                  <a:lnTo>
                    <a:pt x="286" y="30"/>
                  </a:lnTo>
                  <a:lnTo>
                    <a:pt x="286" y="28"/>
                  </a:lnTo>
                  <a:lnTo>
                    <a:pt x="284" y="28"/>
                  </a:lnTo>
                  <a:lnTo>
                    <a:pt x="282" y="30"/>
                  </a:lnTo>
                  <a:lnTo>
                    <a:pt x="280" y="32"/>
                  </a:lnTo>
                  <a:lnTo>
                    <a:pt x="280" y="27"/>
                  </a:lnTo>
                  <a:lnTo>
                    <a:pt x="280" y="21"/>
                  </a:lnTo>
                  <a:lnTo>
                    <a:pt x="278" y="19"/>
                  </a:lnTo>
                  <a:lnTo>
                    <a:pt x="278" y="17"/>
                  </a:lnTo>
                  <a:lnTo>
                    <a:pt x="276" y="15"/>
                  </a:lnTo>
                  <a:lnTo>
                    <a:pt x="271" y="11"/>
                  </a:lnTo>
                  <a:lnTo>
                    <a:pt x="269" y="11"/>
                  </a:lnTo>
                  <a:lnTo>
                    <a:pt x="269" y="11"/>
                  </a:lnTo>
                  <a:lnTo>
                    <a:pt x="269" y="11"/>
                  </a:lnTo>
                  <a:lnTo>
                    <a:pt x="265" y="11"/>
                  </a:lnTo>
                  <a:lnTo>
                    <a:pt x="263" y="9"/>
                  </a:lnTo>
                  <a:lnTo>
                    <a:pt x="263" y="9"/>
                  </a:lnTo>
                  <a:lnTo>
                    <a:pt x="257" y="9"/>
                  </a:lnTo>
                  <a:lnTo>
                    <a:pt x="252" y="7"/>
                  </a:lnTo>
                  <a:lnTo>
                    <a:pt x="250" y="7"/>
                  </a:lnTo>
                  <a:lnTo>
                    <a:pt x="242" y="15"/>
                  </a:lnTo>
                  <a:lnTo>
                    <a:pt x="240" y="17"/>
                  </a:lnTo>
                  <a:lnTo>
                    <a:pt x="238" y="17"/>
                  </a:lnTo>
                  <a:lnTo>
                    <a:pt x="236" y="17"/>
                  </a:lnTo>
                  <a:lnTo>
                    <a:pt x="234" y="17"/>
                  </a:lnTo>
                  <a:lnTo>
                    <a:pt x="234" y="17"/>
                  </a:lnTo>
                  <a:lnTo>
                    <a:pt x="233" y="17"/>
                  </a:lnTo>
                  <a:lnTo>
                    <a:pt x="233" y="17"/>
                  </a:lnTo>
                  <a:lnTo>
                    <a:pt x="223" y="13"/>
                  </a:lnTo>
                  <a:lnTo>
                    <a:pt x="219" y="11"/>
                  </a:lnTo>
                  <a:lnTo>
                    <a:pt x="215" y="13"/>
                  </a:lnTo>
                  <a:lnTo>
                    <a:pt x="212" y="13"/>
                  </a:lnTo>
                  <a:lnTo>
                    <a:pt x="212" y="11"/>
                  </a:lnTo>
                  <a:lnTo>
                    <a:pt x="210" y="11"/>
                  </a:lnTo>
                  <a:lnTo>
                    <a:pt x="210" y="9"/>
                  </a:lnTo>
                  <a:lnTo>
                    <a:pt x="210" y="9"/>
                  </a:lnTo>
                  <a:lnTo>
                    <a:pt x="210" y="7"/>
                  </a:lnTo>
                  <a:lnTo>
                    <a:pt x="208" y="6"/>
                  </a:lnTo>
                  <a:lnTo>
                    <a:pt x="208" y="6"/>
                  </a:lnTo>
                  <a:lnTo>
                    <a:pt x="204" y="4"/>
                  </a:lnTo>
                  <a:lnTo>
                    <a:pt x="204" y="2"/>
                  </a:lnTo>
                  <a:lnTo>
                    <a:pt x="202" y="0"/>
                  </a:lnTo>
                  <a:lnTo>
                    <a:pt x="200" y="4"/>
                  </a:lnTo>
                  <a:lnTo>
                    <a:pt x="200" y="11"/>
                  </a:lnTo>
                  <a:lnTo>
                    <a:pt x="198" y="15"/>
                  </a:lnTo>
                  <a:lnTo>
                    <a:pt x="198" y="15"/>
                  </a:lnTo>
                  <a:lnTo>
                    <a:pt x="198" y="15"/>
                  </a:lnTo>
                  <a:lnTo>
                    <a:pt x="198" y="17"/>
                  </a:lnTo>
                  <a:lnTo>
                    <a:pt x="200" y="19"/>
                  </a:lnTo>
                  <a:lnTo>
                    <a:pt x="202" y="23"/>
                  </a:lnTo>
                  <a:lnTo>
                    <a:pt x="204" y="23"/>
                  </a:lnTo>
                  <a:lnTo>
                    <a:pt x="206" y="23"/>
                  </a:lnTo>
                  <a:lnTo>
                    <a:pt x="206" y="25"/>
                  </a:lnTo>
                  <a:lnTo>
                    <a:pt x="208" y="27"/>
                  </a:lnTo>
                  <a:lnTo>
                    <a:pt x="210" y="30"/>
                  </a:lnTo>
                  <a:lnTo>
                    <a:pt x="212" y="34"/>
                  </a:lnTo>
                  <a:lnTo>
                    <a:pt x="213" y="36"/>
                  </a:lnTo>
                  <a:lnTo>
                    <a:pt x="215" y="40"/>
                  </a:lnTo>
                  <a:lnTo>
                    <a:pt x="215" y="40"/>
                  </a:lnTo>
                  <a:lnTo>
                    <a:pt x="215" y="42"/>
                  </a:lnTo>
                  <a:lnTo>
                    <a:pt x="215" y="47"/>
                  </a:lnTo>
                  <a:lnTo>
                    <a:pt x="217" y="51"/>
                  </a:lnTo>
                  <a:lnTo>
                    <a:pt x="217" y="53"/>
                  </a:lnTo>
                  <a:lnTo>
                    <a:pt x="217" y="55"/>
                  </a:lnTo>
                  <a:lnTo>
                    <a:pt x="217" y="57"/>
                  </a:lnTo>
                  <a:lnTo>
                    <a:pt x="215" y="61"/>
                  </a:lnTo>
                  <a:lnTo>
                    <a:pt x="212" y="70"/>
                  </a:lnTo>
                  <a:lnTo>
                    <a:pt x="210" y="74"/>
                  </a:lnTo>
                  <a:lnTo>
                    <a:pt x="212" y="74"/>
                  </a:lnTo>
                  <a:lnTo>
                    <a:pt x="213" y="76"/>
                  </a:lnTo>
                  <a:lnTo>
                    <a:pt x="213" y="74"/>
                  </a:lnTo>
                  <a:lnTo>
                    <a:pt x="215" y="74"/>
                  </a:lnTo>
                  <a:lnTo>
                    <a:pt x="219" y="72"/>
                  </a:lnTo>
                  <a:lnTo>
                    <a:pt x="221" y="74"/>
                  </a:lnTo>
                  <a:lnTo>
                    <a:pt x="221" y="74"/>
                  </a:lnTo>
                  <a:lnTo>
                    <a:pt x="219" y="76"/>
                  </a:lnTo>
                  <a:lnTo>
                    <a:pt x="219" y="78"/>
                  </a:lnTo>
                  <a:lnTo>
                    <a:pt x="219" y="78"/>
                  </a:lnTo>
                  <a:lnTo>
                    <a:pt x="219" y="78"/>
                  </a:lnTo>
                  <a:lnTo>
                    <a:pt x="219" y="78"/>
                  </a:lnTo>
                  <a:lnTo>
                    <a:pt x="221" y="80"/>
                  </a:lnTo>
                  <a:lnTo>
                    <a:pt x="221" y="80"/>
                  </a:lnTo>
                  <a:lnTo>
                    <a:pt x="223" y="80"/>
                  </a:lnTo>
                  <a:lnTo>
                    <a:pt x="223" y="82"/>
                  </a:lnTo>
                  <a:lnTo>
                    <a:pt x="227" y="84"/>
                  </a:lnTo>
                  <a:lnTo>
                    <a:pt x="227" y="85"/>
                  </a:lnTo>
                  <a:lnTo>
                    <a:pt x="227" y="85"/>
                  </a:lnTo>
                  <a:lnTo>
                    <a:pt x="227" y="85"/>
                  </a:lnTo>
                  <a:lnTo>
                    <a:pt x="227" y="85"/>
                  </a:lnTo>
                  <a:lnTo>
                    <a:pt x="225" y="87"/>
                  </a:lnTo>
                  <a:lnTo>
                    <a:pt x="225" y="87"/>
                  </a:lnTo>
                  <a:lnTo>
                    <a:pt x="225" y="87"/>
                  </a:lnTo>
                  <a:lnTo>
                    <a:pt x="225" y="89"/>
                  </a:lnTo>
                  <a:lnTo>
                    <a:pt x="225" y="89"/>
                  </a:lnTo>
                  <a:lnTo>
                    <a:pt x="227" y="89"/>
                  </a:lnTo>
                  <a:lnTo>
                    <a:pt x="229" y="91"/>
                  </a:lnTo>
                  <a:lnTo>
                    <a:pt x="229" y="91"/>
                  </a:lnTo>
                  <a:lnTo>
                    <a:pt x="229" y="93"/>
                  </a:lnTo>
                  <a:lnTo>
                    <a:pt x="229" y="93"/>
                  </a:lnTo>
                  <a:lnTo>
                    <a:pt x="229" y="95"/>
                  </a:lnTo>
                  <a:lnTo>
                    <a:pt x="229" y="95"/>
                  </a:lnTo>
                  <a:lnTo>
                    <a:pt x="229" y="95"/>
                  </a:lnTo>
                  <a:lnTo>
                    <a:pt x="229" y="95"/>
                  </a:lnTo>
                  <a:lnTo>
                    <a:pt x="227" y="95"/>
                  </a:lnTo>
                  <a:lnTo>
                    <a:pt x="225" y="95"/>
                  </a:lnTo>
                  <a:lnTo>
                    <a:pt x="225" y="97"/>
                  </a:lnTo>
                  <a:lnTo>
                    <a:pt x="221" y="99"/>
                  </a:lnTo>
                  <a:lnTo>
                    <a:pt x="221" y="99"/>
                  </a:lnTo>
                  <a:lnTo>
                    <a:pt x="217" y="101"/>
                  </a:lnTo>
                  <a:lnTo>
                    <a:pt x="217" y="101"/>
                  </a:lnTo>
                  <a:lnTo>
                    <a:pt x="215" y="103"/>
                  </a:lnTo>
                  <a:lnTo>
                    <a:pt x="212" y="106"/>
                  </a:lnTo>
                  <a:lnTo>
                    <a:pt x="210" y="108"/>
                  </a:lnTo>
                  <a:lnTo>
                    <a:pt x="210" y="110"/>
                  </a:lnTo>
                  <a:lnTo>
                    <a:pt x="208" y="110"/>
                  </a:lnTo>
                  <a:lnTo>
                    <a:pt x="206" y="112"/>
                  </a:lnTo>
                  <a:lnTo>
                    <a:pt x="206" y="112"/>
                  </a:lnTo>
                  <a:lnTo>
                    <a:pt x="202" y="114"/>
                  </a:lnTo>
                  <a:lnTo>
                    <a:pt x="202" y="114"/>
                  </a:lnTo>
                  <a:lnTo>
                    <a:pt x="202" y="114"/>
                  </a:lnTo>
                  <a:lnTo>
                    <a:pt x="200" y="114"/>
                  </a:lnTo>
                  <a:lnTo>
                    <a:pt x="200" y="114"/>
                  </a:lnTo>
                  <a:lnTo>
                    <a:pt x="200" y="114"/>
                  </a:lnTo>
                  <a:lnTo>
                    <a:pt x="198" y="116"/>
                  </a:lnTo>
                  <a:lnTo>
                    <a:pt x="196" y="120"/>
                  </a:lnTo>
                  <a:lnTo>
                    <a:pt x="189" y="125"/>
                  </a:lnTo>
                  <a:lnTo>
                    <a:pt x="187" y="127"/>
                  </a:lnTo>
                  <a:lnTo>
                    <a:pt x="185" y="129"/>
                  </a:lnTo>
                  <a:lnTo>
                    <a:pt x="185" y="129"/>
                  </a:lnTo>
                  <a:lnTo>
                    <a:pt x="185" y="129"/>
                  </a:lnTo>
                  <a:lnTo>
                    <a:pt x="185" y="129"/>
                  </a:lnTo>
                  <a:lnTo>
                    <a:pt x="185" y="131"/>
                  </a:lnTo>
                  <a:lnTo>
                    <a:pt x="185" y="131"/>
                  </a:lnTo>
                  <a:lnTo>
                    <a:pt x="185" y="133"/>
                  </a:lnTo>
                  <a:lnTo>
                    <a:pt x="185" y="137"/>
                  </a:lnTo>
                  <a:lnTo>
                    <a:pt x="185" y="137"/>
                  </a:lnTo>
                  <a:lnTo>
                    <a:pt x="185" y="137"/>
                  </a:lnTo>
                  <a:lnTo>
                    <a:pt x="183" y="137"/>
                  </a:lnTo>
                  <a:lnTo>
                    <a:pt x="183" y="137"/>
                  </a:lnTo>
                  <a:lnTo>
                    <a:pt x="181" y="139"/>
                  </a:lnTo>
                  <a:lnTo>
                    <a:pt x="181" y="139"/>
                  </a:lnTo>
                  <a:lnTo>
                    <a:pt x="181" y="139"/>
                  </a:lnTo>
                  <a:lnTo>
                    <a:pt x="181" y="139"/>
                  </a:lnTo>
                  <a:lnTo>
                    <a:pt x="183" y="141"/>
                  </a:lnTo>
                  <a:lnTo>
                    <a:pt x="183" y="141"/>
                  </a:lnTo>
                  <a:lnTo>
                    <a:pt x="183" y="141"/>
                  </a:lnTo>
                  <a:lnTo>
                    <a:pt x="183" y="141"/>
                  </a:lnTo>
                  <a:lnTo>
                    <a:pt x="183" y="143"/>
                  </a:lnTo>
                  <a:lnTo>
                    <a:pt x="183" y="143"/>
                  </a:lnTo>
                  <a:lnTo>
                    <a:pt x="185" y="144"/>
                  </a:lnTo>
                  <a:lnTo>
                    <a:pt x="189" y="144"/>
                  </a:lnTo>
                  <a:lnTo>
                    <a:pt x="189" y="146"/>
                  </a:lnTo>
                  <a:lnTo>
                    <a:pt x="191" y="148"/>
                  </a:lnTo>
                  <a:lnTo>
                    <a:pt x="191" y="148"/>
                  </a:lnTo>
                  <a:lnTo>
                    <a:pt x="191" y="148"/>
                  </a:lnTo>
                  <a:lnTo>
                    <a:pt x="191" y="150"/>
                  </a:lnTo>
                  <a:lnTo>
                    <a:pt x="193" y="152"/>
                  </a:lnTo>
                  <a:lnTo>
                    <a:pt x="193" y="152"/>
                  </a:lnTo>
                  <a:lnTo>
                    <a:pt x="193" y="154"/>
                  </a:lnTo>
                  <a:lnTo>
                    <a:pt x="194" y="156"/>
                  </a:lnTo>
                  <a:lnTo>
                    <a:pt x="196" y="156"/>
                  </a:lnTo>
                  <a:lnTo>
                    <a:pt x="202" y="160"/>
                  </a:lnTo>
                  <a:lnTo>
                    <a:pt x="204" y="162"/>
                  </a:lnTo>
                  <a:lnTo>
                    <a:pt x="206" y="163"/>
                  </a:lnTo>
                  <a:lnTo>
                    <a:pt x="206" y="163"/>
                  </a:lnTo>
                  <a:lnTo>
                    <a:pt x="206" y="165"/>
                  </a:lnTo>
                  <a:lnTo>
                    <a:pt x="206" y="167"/>
                  </a:lnTo>
                  <a:lnTo>
                    <a:pt x="206" y="169"/>
                  </a:lnTo>
                  <a:lnTo>
                    <a:pt x="206" y="169"/>
                  </a:lnTo>
                  <a:lnTo>
                    <a:pt x="206" y="173"/>
                  </a:lnTo>
                  <a:lnTo>
                    <a:pt x="206" y="175"/>
                  </a:lnTo>
                  <a:lnTo>
                    <a:pt x="206" y="177"/>
                  </a:lnTo>
                  <a:lnTo>
                    <a:pt x="206" y="177"/>
                  </a:lnTo>
                  <a:lnTo>
                    <a:pt x="206" y="177"/>
                  </a:lnTo>
                  <a:lnTo>
                    <a:pt x="208" y="177"/>
                  </a:lnTo>
                  <a:lnTo>
                    <a:pt x="208" y="179"/>
                  </a:lnTo>
                  <a:lnTo>
                    <a:pt x="208" y="179"/>
                  </a:lnTo>
                  <a:lnTo>
                    <a:pt x="208" y="181"/>
                  </a:lnTo>
                  <a:lnTo>
                    <a:pt x="208" y="182"/>
                  </a:lnTo>
                  <a:lnTo>
                    <a:pt x="202" y="181"/>
                  </a:lnTo>
                  <a:lnTo>
                    <a:pt x="200" y="181"/>
                  </a:lnTo>
                  <a:lnTo>
                    <a:pt x="200" y="179"/>
                  </a:lnTo>
                  <a:lnTo>
                    <a:pt x="200" y="179"/>
                  </a:lnTo>
                  <a:lnTo>
                    <a:pt x="198" y="179"/>
                  </a:lnTo>
                  <a:lnTo>
                    <a:pt x="198" y="177"/>
                  </a:lnTo>
                  <a:lnTo>
                    <a:pt x="196" y="179"/>
                  </a:lnTo>
                  <a:lnTo>
                    <a:pt x="194" y="179"/>
                  </a:lnTo>
                  <a:lnTo>
                    <a:pt x="191" y="181"/>
                  </a:lnTo>
                  <a:lnTo>
                    <a:pt x="191" y="181"/>
                  </a:lnTo>
                  <a:lnTo>
                    <a:pt x="191" y="181"/>
                  </a:lnTo>
                  <a:lnTo>
                    <a:pt x="191" y="181"/>
                  </a:lnTo>
                  <a:lnTo>
                    <a:pt x="191" y="181"/>
                  </a:lnTo>
                  <a:lnTo>
                    <a:pt x="189" y="182"/>
                  </a:lnTo>
                  <a:lnTo>
                    <a:pt x="189" y="182"/>
                  </a:lnTo>
                  <a:lnTo>
                    <a:pt x="187" y="184"/>
                  </a:lnTo>
                  <a:lnTo>
                    <a:pt x="185" y="184"/>
                  </a:lnTo>
                  <a:lnTo>
                    <a:pt x="181" y="186"/>
                  </a:lnTo>
                  <a:lnTo>
                    <a:pt x="179" y="186"/>
                  </a:lnTo>
                  <a:lnTo>
                    <a:pt x="179" y="188"/>
                  </a:lnTo>
                  <a:lnTo>
                    <a:pt x="179" y="188"/>
                  </a:lnTo>
                  <a:lnTo>
                    <a:pt x="179" y="188"/>
                  </a:lnTo>
                  <a:lnTo>
                    <a:pt x="179" y="188"/>
                  </a:lnTo>
                  <a:lnTo>
                    <a:pt x="179" y="188"/>
                  </a:lnTo>
                  <a:lnTo>
                    <a:pt x="179" y="190"/>
                  </a:lnTo>
                  <a:lnTo>
                    <a:pt x="177" y="190"/>
                  </a:lnTo>
                  <a:lnTo>
                    <a:pt x="177" y="190"/>
                  </a:lnTo>
                  <a:lnTo>
                    <a:pt x="177" y="190"/>
                  </a:lnTo>
                  <a:lnTo>
                    <a:pt x="177" y="192"/>
                  </a:lnTo>
                  <a:lnTo>
                    <a:pt x="179" y="192"/>
                  </a:lnTo>
                  <a:lnTo>
                    <a:pt x="179" y="192"/>
                  </a:lnTo>
                  <a:lnTo>
                    <a:pt x="179" y="192"/>
                  </a:lnTo>
                  <a:lnTo>
                    <a:pt x="179" y="192"/>
                  </a:lnTo>
                  <a:lnTo>
                    <a:pt x="181" y="194"/>
                  </a:lnTo>
                  <a:lnTo>
                    <a:pt x="181" y="194"/>
                  </a:lnTo>
                  <a:lnTo>
                    <a:pt x="181" y="194"/>
                  </a:lnTo>
                  <a:lnTo>
                    <a:pt x="181" y="194"/>
                  </a:lnTo>
                  <a:lnTo>
                    <a:pt x="181" y="194"/>
                  </a:lnTo>
                  <a:lnTo>
                    <a:pt x="181" y="194"/>
                  </a:lnTo>
                  <a:lnTo>
                    <a:pt x="183" y="194"/>
                  </a:lnTo>
                  <a:lnTo>
                    <a:pt x="183" y="194"/>
                  </a:lnTo>
                  <a:lnTo>
                    <a:pt x="183" y="194"/>
                  </a:lnTo>
                  <a:lnTo>
                    <a:pt x="183" y="196"/>
                  </a:lnTo>
                  <a:lnTo>
                    <a:pt x="185" y="196"/>
                  </a:lnTo>
                  <a:lnTo>
                    <a:pt x="185" y="198"/>
                  </a:lnTo>
                  <a:lnTo>
                    <a:pt x="185" y="200"/>
                  </a:lnTo>
                  <a:lnTo>
                    <a:pt x="185" y="201"/>
                  </a:lnTo>
                  <a:lnTo>
                    <a:pt x="187" y="201"/>
                  </a:lnTo>
                  <a:lnTo>
                    <a:pt x="187" y="203"/>
                  </a:lnTo>
                  <a:lnTo>
                    <a:pt x="185" y="207"/>
                  </a:lnTo>
                  <a:lnTo>
                    <a:pt x="181" y="209"/>
                  </a:lnTo>
                  <a:lnTo>
                    <a:pt x="181" y="211"/>
                  </a:lnTo>
                  <a:lnTo>
                    <a:pt x="181" y="213"/>
                  </a:lnTo>
                  <a:lnTo>
                    <a:pt x="181" y="213"/>
                  </a:lnTo>
                  <a:lnTo>
                    <a:pt x="179" y="215"/>
                  </a:lnTo>
                  <a:lnTo>
                    <a:pt x="179" y="215"/>
                  </a:lnTo>
                  <a:lnTo>
                    <a:pt x="181" y="217"/>
                  </a:lnTo>
                  <a:lnTo>
                    <a:pt x="181" y="219"/>
                  </a:lnTo>
                  <a:lnTo>
                    <a:pt x="181" y="220"/>
                  </a:lnTo>
                  <a:lnTo>
                    <a:pt x="181" y="220"/>
                  </a:lnTo>
                  <a:lnTo>
                    <a:pt x="181" y="222"/>
                  </a:lnTo>
                  <a:lnTo>
                    <a:pt x="181" y="222"/>
                  </a:lnTo>
                  <a:lnTo>
                    <a:pt x="181" y="222"/>
                  </a:lnTo>
                  <a:lnTo>
                    <a:pt x="183" y="222"/>
                  </a:lnTo>
                  <a:lnTo>
                    <a:pt x="183" y="222"/>
                  </a:lnTo>
                  <a:lnTo>
                    <a:pt x="187" y="226"/>
                  </a:lnTo>
                  <a:lnTo>
                    <a:pt x="187" y="228"/>
                  </a:lnTo>
                  <a:lnTo>
                    <a:pt x="187" y="228"/>
                  </a:lnTo>
                  <a:lnTo>
                    <a:pt x="189" y="230"/>
                  </a:lnTo>
                  <a:lnTo>
                    <a:pt x="191" y="238"/>
                  </a:lnTo>
                  <a:lnTo>
                    <a:pt x="191" y="240"/>
                  </a:lnTo>
                  <a:lnTo>
                    <a:pt x="191" y="243"/>
                  </a:lnTo>
                  <a:lnTo>
                    <a:pt x="191" y="243"/>
                  </a:lnTo>
                  <a:lnTo>
                    <a:pt x="189" y="245"/>
                  </a:lnTo>
                  <a:lnTo>
                    <a:pt x="189" y="247"/>
                  </a:lnTo>
                  <a:lnTo>
                    <a:pt x="189" y="253"/>
                  </a:lnTo>
                  <a:lnTo>
                    <a:pt x="189" y="253"/>
                  </a:lnTo>
                  <a:lnTo>
                    <a:pt x="189" y="253"/>
                  </a:lnTo>
                  <a:lnTo>
                    <a:pt x="187" y="253"/>
                  </a:lnTo>
                  <a:lnTo>
                    <a:pt x="187" y="253"/>
                  </a:lnTo>
                  <a:lnTo>
                    <a:pt x="185" y="253"/>
                  </a:lnTo>
                  <a:lnTo>
                    <a:pt x="185" y="253"/>
                  </a:lnTo>
                  <a:lnTo>
                    <a:pt x="185" y="253"/>
                  </a:lnTo>
                  <a:lnTo>
                    <a:pt x="185" y="253"/>
                  </a:lnTo>
                  <a:lnTo>
                    <a:pt x="185" y="255"/>
                  </a:lnTo>
                  <a:lnTo>
                    <a:pt x="185" y="255"/>
                  </a:lnTo>
                  <a:lnTo>
                    <a:pt x="185" y="255"/>
                  </a:lnTo>
                  <a:lnTo>
                    <a:pt x="185" y="257"/>
                  </a:lnTo>
                  <a:lnTo>
                    <a:pt x="189" y="257"/>
                  </a:lnTo>
                  <a:lnTo>
                    <a:pt x="189" y="257"/>
                  </a:lnTo>
                  <a:lnTo>
                    <a:pt x="189" y="257"/>
                  </a:lnTo>
                  <a:lnTo>
                    <a:pt x="189" y="259"/>
                  </a:lnTo>
                  <a:lnTo>
                    <a:pt x="191" y="259"/>
                  </a:lnTo>
                  <a:lnTo>
                    <a:pt x="191" y="260"/>
                  </a:lnTo>
                  <a:lnTo>
                    <a:pt x="191" y="262"/>
                  </a:lnTo>
                  <a:lnTo>
                    <a:pt x="191" y="262"/>
                  </a:lnTo>
                  <a:lnTo>
                    <a:pt x="191" y="264"/>
                  </a:lnTo>
                  <a:lnTo>
                    <a:pt x="191" y="264"/>
                  </a:lnTo>
                  <a:lnTo>
                    <a:pt x="193" y="264"/>
                  </a:lnTo>
                  <a:lnTo>
                    <a:pt x="193" y="266"/>
                  </a:lnTo>
                  <a:lnTo>
                    <a:pt x="191" y="266"/>
                  </a:lnTo>
                  <a:lnTo>
                    <a:pt x="191" y="268"/>
                  </a:lnTo>
                  <a:lnTo>
                    <a:pt x="191" y="268"/>
                  </a:lnTo>
                  <a:lnTo>
                    <a:pt x="189" y="268"/>
                  </a:lnTo>
                  <a:lnTo>
                    <a:pt x="191" y="270"/>
                  </a:lnTo>
                  <a:lnTo>
                    <a:pt x="191" y="270"/>
                  </a:lnTo>
                  <a:lnTo>
                    <a:pt x="191" y="270"/>
                  </a:lnTo>
                  <a:lnTo>
                    <a:pt x="193" y="270"/>
                  </a:lnTo>
                  <a:lnTo>
                    <a:pt x="193" y="272"/>
                  </a:lnTo>
                  <a:lnTo>
                    <a:pt x="191" y="272"/>
                  </a:lnTo>
                  <a:lnTo>
                    <a:pt x="191" y="274"/>
                  </a:lnTo>
                  <a:lnTo>
                    <a:pt x="189" y="274"/>
                  </a:lnTo>
                  <a:lnTo>
                    <a:pt x="187" y="274"/>
                  </a:lnTo>
                  <a:lnTo>
                    <a:pt x="187" y="274"/>
                  </a:lnTo>
                  <a:lnTo>
                    <a:pt x="185" y="274"/>
                  </a:lnTo>
                  <a:lnTo>
                    <a:pt x="185" y="274"/>
                  </a:lnTo>
                  <a:lnTo>
                    <a:pt x="183" y="274"/>
                  </a:lnTo>
                  <a:lnTo>
                    <a:pt x="183" y="272"/>
                  </a:lnTo>
                  <a:lnTo>
                    <a:pt x="181" y="272"/>
                  </a:lnTo>
                  <a:lnTo>
                    <a:pt x="179" y="272"/>
                  </a:lnTo>
                  <a:lnTo>
                    <a:pt x="179" y="272"/>
                  </a:lnTo>
                  <a:lnTo>
                    <a:pt x="179" y="274"/>
                  </a:lnTo>
                  <a:lnTo>
                    <a:pt x="179" y="274"/>
                  </a:lnTo>
                  <a:lnTo>
                    <a:pt x="179" y="274"/>
                  </a:lnTo>
                  <a:lnTo>
                    <a:pt x="181" y="274"/>
                  </a:lnTo>
                  <a:lnTo>
                    <a:pt x="181" y="276"/>
                  </a:lnTo>
                  <a:lnTo>
                    <a:pt x="181" y="276"/>
                  </a:lnTo>
                  <a:lnTo>
                    <a:pt x="183" y="276"/>
                  </a:lnTo>
                  <a:lnTo>
                    <a:pt x="181" y="279"/>
                  </a:lnTo>
                  <a:lnTo>
                    <a:pt x="181" y="279"/>
                  </a:lnTo>
                  <a:lnTo>
                    <a:pt x="183" y="281"/>
                  </a:lnTo>
                  <a:lnTo>
                    <a:pt x="183" y="281"/>
                  </a:lnTo>
                  <a:lnTo>
                    <a:pt x="183" y="281"/>
                  </a:lnTo>
                  <a:lnTo>
                    <a:pt x="183" y="283"/>
                  </a:lnTo>
                  <a:lnTo>
                    <a:pt x="183" y="283"/>
                  </a:lnTo>
                  <a:lnTo>
                    <a:pt x="181" y="285"/>
                  </a:lnTo>
                  <a:lnTo>
                    <a:pt x="181" y="285"/>
                  </a:lnTo>
                  <a:lnTo>
                    <a:pt x="181" y="285"/>
                  </a:lnTo>
                  <a:lnTo>
                    <a:pt x="181" y="287"/>
                  </a:lnTo>
                  <a:lnTo>
                    <a:pt x="181" y="287"/>
                  </a:lnTo>
                  <a:lnTo>
                    <a:pt x="181" y="289"/>
                  </a:lnTo>
                  <a:lnTo>
                    <a:pt x="181" y="291"/>
                  </a:lnTo>
                  <a:lnTo>
                    <a:pt x="177" y="298"/>
                  </a:lnTo>
                  <a:lnTo>
                    <a:pt x="175" y="300"/>
                  </a:lnTo>
                  <a:lnTo>
                    <a:pt x="173" y="302"/>
                  </a:lnTo>
                  <a:lnTo>
                    <a:pt x="170" y="304"/>
                  </a:lnTo>
                  <a:lnTo>
                    <a:pt x="170" y="304"/>
                  </a:lnTo>
                  <a:lnTo>
                    <a:pt x="168" y="306"/>
                  </a:lnTo>
                  <a:lnTo>
                    <a:pt x="166" y="306"/>
                  </a:lnTo>
                  <a:lnTo>
                    <a:pt x="166" y="308"/>
                  </a:lnTo>
                  <a:lnTo>
                    <a:pt x="166" y="308"/>
                  </a:lnTo>
                  <a:lnTo>
                    <a:pt x="166" y="310"/>
                  </a:lnTo>
                  <a:lnTo>
                    <a:pt x="166" y="310"/>
                  </a:lnTo>
                  <a:lnTo>
                    <a:pt x="168" y="310"/>
                  </a:lnTo>
                  <a:lnTo>
                    <a:pt x="168" y="310"/>
                  </a:lnTo>
                  <a:lnTo>
                    <a:pt x="168" y="310"/>
                  </a:lnTo>
                  <a:lnTo>
                    <a:pt x="170" y="310"/>
                  </a:lnTo>
                  <a:lnTo>
                    <a:pt x="170" y="310"/>
                  </a:lnTo>
                  <a:lnTo>
                    <a:pt x="170" y="312"/>
                  </a:lnTo>
                  <a:lnTo>
                    <a:pt x="170" y="314"/>
                  </a:lnTo>
                  <a:lnTo>
                    <a:pt x="170" y="316"/>
                  </a:lnTo>
                  <a:lnTo>
                    <a:pt x="168" y="316"/>
                  </a:lnTo>
                  <a:lnTo>
                    <a:pt x="166" y="314"/>
                  </a:lnTo>
                  <a:lnTo>
                    <a:pt x="164" y="316"/>
                  </a:lnTo>
                  <a:lnTo>
                    <a:pt x="164" y="316"/>
                  </a:lnTo>
                  <a:lnTo>
                    <a:pt x="164" y="317"/>
                  </a:lnTo>
                  <a:lnTo>
                    <a:pt x="162" y="319"/>
                  </a:lnTo>
                  <a:lnTo>
                    <a:pt x="162" y="321"/>
                  </a:lnTo>
                  <a:lnTo>
                    <a:pt x="162" y="321"/>
                  </a:lnTo>
                  <a:lnTo>
                    <a:pt x="160" y="321"/>
                  </a:lnTo>
                  <a:lnTo>
                    <a:pt x="158" y="319"/>
                  </a:lnTo>
                  <a:lnTo>
                    <a:pt x="156" y="319"/>
                  </a:lnTo>
                  <a:lnTo>
                    <a:pt x="156" y="319"/>
                  </a:lnTo>
                  <a:lnTo>
                    <a:pt x="154" y="319"/>
                  </a:lnTo>
                  <a:lnTo>
                    <a:pt x="154" y="319"/>
                  </a:lnTo>
                  <a:lnTo>
                    <a:pt x="154" y="321"/>
                  </a:lnTo>
                  <a:lnTo>
                    <a:pt x="154" y="323"/>
                  </a:lnTo>
                  <a:lnTo>
                    <a:pt x="154" y="325"/>
                  </a:lnTo>
                  <a:lnTo>
                    <a:pt x="154" y="327"/>
                  </a:lnTo>
                  <a:lnTo>
                    <a:pt x="154" y="329"/>
                  </a:lnTo>
                  <a:lnTo>
                    <a:pt x="154" y="329"/>
                  </a:lnTo>
                  <a:lnTo>
                    <a:pt x="153" y="329"/>
                  </a:lnTo>
                  <a:lnTo>
                    <a:pt x="151" y="331"/>
                  </a:lnTo>
                  <a:lnTo>
                    <a:pt x="151" y="331"/>
                  </a:lnTo>
                  <a:lnTo>
                    <a:pt x="147" y="331"/>
                  </a:lnTo>
                  <a:lnTo>
                    <a:pt x="145" y="331"/>
                  </a:lnTo>
                  <a:lnTo>
                    <a:pt x="141" y="333"/>
                  </a:lnTo>
                  <a:lnTo>
                    <a:pt x="139" y="333"/>
                  </a:lnTo>
                  <a:lnTo>
                    <a:pt x="139" y="333"/>
                  </a:lnTo>
                  <a:lnTo>
                    <a:pt x="139" y="331"/>
                  </a:lnTo>
                  <a:lnTo>
                    <a:pt x="139" y="329"/>
                  </a:lnTo>
                  <a:lnTo>
                    <a:pt x="139" y="329"/>
                  </a:lnTo>
                  <a:lnTo>
                    <a:pt x="139" y="327"/>
                  </a:lnTo>
                  <a:lnTo>
                    <a:pt x="137" y="327"/>
                  </a:lnTo>
                  <a:lnTo>
                    <a:pt x="137" y="327"/>
                  </a:lnTo>
                  <a:lnTo>
                    <a:pt x="133" y="329"/>
                  </a:lnTo>
                  <a:lnTo>
                    <a:pt x="132" y="329"/>
                  </a:lnTo>
                  <a:lnTo>
                    <a:pt x="130" y="329"/>
                  </a:lnTo>
                  <a:lnTo>
                    <a:pt x="130" y="331"/>
                  </a:lnTo>
                  <a:lnTo>
                    <a:pt x="130" y="331"/>
                  </a:lnTo>
                  <a:lnTo>
                    <a:pt x="132" y="333"/>
                  </a:lnTo>
                  <a:lnTo>
                    <a:pt x="132" y="333"/>
                  </a:lnTo>
                  <a:lnTo>
                    <a:pt x="132" y="333"/>
                  </a:lnTo>
                  <a:lnTo>
                    <a:pt x="132" y="335"/>
                  </a:lnTo>
                  <a:lnTo>
                    <a:pt x="133" y="335"/>
                  </a:lnTo>
                  <a:lnTo>
                    <a:pt x="135" y="337"/>
                  </a:lnTo>
                  <a:lnTo>
                    <a:pt x="135" y="337"/>
                  </a:lnTo>
                  <a:lnTo>
                    <a:pt x="135" y="338"/>
                  </a:lnTo>
                  <a:lnTo>
                    <a:pt x="135" y="340"/>
                  </a:lnTo>
                  <a:lnTo>
                    <a:pt x="135" y="342"/>
                  </a:lnTo>
                  <a:lnTo>
                    <a:pt x="133" y="342"/>
                  </a:lnTo>
                  <a:lnTo>
                    <a:pt x="133" y="342"/>
                  </a:lnTo>
                  <a:lnTo>
                    <a:pt x="132" y="342"/>
                  </a:lnTo>
                  <a:lnTo>
                    <a:pt x="132" y="344"/>
                  </a:lnTo>
                  <a:lnTo>
                    <a:pt x="132" y="346"/>
                  </a:lnTo>
                  <a:lnTo>
                    <a:pt x="132" y="346"/>
                  </a:lnTo>
                  <a:lnTo>
                    <a:pt x="132" y="348"/>
                  </a:lnTo>
                  <a:lnTo>
                    <a:pt x="130" y="348"/>
                  </a:lnTo>
                  <a:lnTo>
                    <a:pt x="130" y="348"/>
                  </a:lnTo>
                  <a:lnTo>
                    <a:pt x="130" y="346"/>
                  </a:lnTo>
                  <a:lnTo>
                    <a:pt x="128" y="346"/>
                  </a:lnTo>
                  <a:lnTo>
                    <a:pt x="128" y="346"/>
                  </a:lnTo>
                  <a:lnTo>
                    <a:pt x="126" y="346"/>
                  </a:lnTo>
                  <a:lnTo>
                    <a:pt x="124" y="346"/>
                  </a:lnTo>
                  <a:lnTo>
                    <a:pt x="124" y="344"/>
                  </a:lnTo>
                  <a:lnTo>
                    <a:pt x="122" y="346"/>
                  </a:lnTo>
                  <a:lnTo>
                    <a:pt x="122" y="346"/>
                  </a:lnTo>
                  <a:lnTo>
                    <a:pt x="122" y="346"/>
                  </a:lnTo>
                  <a:lnTo>
                    <a:pt x="122" y="348"/>
                  </a:lnTo>
                  <a:lnTo>
                    <a:pt x="122" y="348"/>
                  </a:lnTo>
                  <a:lnTo>
                    <a:pt x="124" y="350"/>
                  </a:lnTo>
                  <a:lnTo>
                    <a:pt x="124" y="350"/>
                  </a:lnTo>
                  <a:lnTo>
                    <a:pt x="124" y="350"/>
                  </a:lnTo>
                  <a:lnTo>
                    <a:pt x="124" y="352"/>
                  </a:lnTo>
                  <a:lnTo>
                    <a:pt x="122" y="354"/>
                  </a:lnTo>
                  <a:lnTo>
                    <a:pt x="116" y="352"/>
                  </a:lnTo>
                  <a:lnTo>
                    <a:pt x="114" y="350"/>
                  </a:lnTo>
                  <a:lnTo>
                    <a:pt x="112" y="350"/>
                  </a:lnTo>
                  <a:lnTo>
                    <a:pt x="111" y="348"/>
                  </a:lnTo>
                  <a:lnTo>
                    <a:pt x="111" y="346"/>
                  </a:lnTo>
                  <a:lnTo>
                    <a:pt x="109" y="346"/>
                  </a:lnTo>
                  <a:lnTo>
                    <a:pt x="107" y="346"/>
                  </a:lnTo>
                  <a:lnTo>
                    <a:pt x="105" y="346"/>
                  </a:lnTo>
                  <a:lnTo>
                    <a:pt x="101" y="342"/>
                  </a:lnTo>
                  <a:lnTo>
                    <a:pt x="99" y="342"/>
                  </a:lnTo>
                  <a:lnTo>
                    <a:pt x="97" y="342"/>
                  </a:lnTo>
                  <a:lnTo>
                    <a:pt x="97" y="342"/>
                  </a:lnTo>
                  <a:lnTo>
                    <a:pt x="97" y="342"/>
                  </a:lnTo>
                  <a:lnTo>
                    <a:pt x="97" y="344"/>
                  </a:lnTo>
                  <a:lnTo>
                    <a:pt x="95" y="344"/>
                  </a:lnTo>
                  <a:lnTo>
                    <a:pt x="95" y="344"/>
                  </a:lnTo>
                  <a:lnTo>
                    <a:pt x="95" y="346"/>
                  </a:lnTo>
                  <a:lnTo>
                    <a:pt x="95" y="346"/>
                  </a:lnTo>
                  <a:lnTo>
                    <a:pt x="93" y="348"/>
                  </a:lnTo>
                  <a:lnTo>
                    <a:pt x="93" y="348"/>
                  </a:lnTo>
                  <a:lnTo>
                    <a:pt x="92" y="350"/>
                  </a:lnTo>
                  <a:lnTo>
                    <a:pt x="92" y="352"/>
                  </a:lnTo>
                  <a:lnTo>
                    <a:pt x="92" y="352"/>
                  </a:lnTo>
                  <a:lnTo>
                    <a:pt x="92" y="352"/>
                  </a:lnTo>
                  <a:lnTo>
                    <a:pt x="92" y="354"/>
                  </a:lnTo>
                  <a:lnTo>
                    <a:pt x="93" y="356"/>
                  </a:lnTo>
                  <a:lnTo>
                    <a:pt x="92" y="357"/>
                  </a:lnTo>
                  <a:lnTo>
                    <a:pt x="92" y="361"/>
                  </a:lnTo>
                  <a:lnTo>
                    <a:pt x="88" y="361"/>
                  </a:lnTo>
                  <a:lnTo>
                    <a:pt x="76" y="363"/>
                  </a:lnTo>
                  <a:lnTo>
                    <a:pt x="71" y="365"/>
                  </a:lnTo>
                  <a:lnTo>
                    <a:pt x="67" y="367"/>
                  </a:lnTo>
                  <a:lnTo>
                    <a:pt x="59" y="369"/>
                  </a:lnTo>
                  <a:lnTo>
                    <a:pt x="55" y="371"/>
                  </a:lnTo>
                  <a:lnTo>
                    <a:pt x="52" y="373"/>
                  </a:lnTo>
                  <a:lnTo>
                    <a:pt x="50" y="375"/>
                  </a:lnTo>
                  <a:lnTo>
                    <a:pt x="50" y="376"/>
                  </a:lnTo>
                  <a:lnTo>
                    <a:pt x="48" y="378"/>
                  </a:lnTo>
                  <a:lnTo>
                    <a:pt x="48" y="378"/>
                  </a:lnTo>
                  <a:lnTo>
                    <a:pt x="48" y="380"/>
                  </a:lnTo>
                  <a:lnTo>
                    <a:pt x="48" y="382"/>
                  </a:lnTo>
                  <a:lnTo>
                    <a:pt x="48" y="382"/>
                  </a:lnTo>
                  <a:lnTo>
                    <a:pt x="48" y="382"/>
                  </a:lnTo>
                  <a:lnTo>
                    <a:pt x="48" y="384"/>
                  </a:lnTo>
                  <a:lnTo>
                    <a:pt x="48" y="384"/>
                  </a:lnTo>
                  <a:lnTo>
                    <a:pt x="48" y="384"/>
                  </a:lnTo>
                  <a:lnTo>
                    <a:pt x="46" y="384"/>
                  </a:lnTo>
                  <a:lnTo>
                    <a:pt x="46" y="384"/>
                  </a:lnTo>
                  <a:lnTo>
                    <a:pt x="44" y="386"/>
                  </a:lnTo>
                  <a:lnTo>
                    <a:pt x="42" y="388"/>
                  </a:lnTo>
                  <a:lnTo>
                    <a:pt x="40" y="390"/>
                  </a:lnTo>
                  <a:lnTo>
                    <a:pt x="38" y="390"/>
                  </a:lnTo>
                  <a:lnTo>
                    <a:pt x="36" y="388"/>
                  </a:lnTo>
                  <a:lnTo>
                    <a:pt x="36" y="388"/>
                  </a:lnTo>
                  <a:lnTo>
                    <a:pt x="34" y="386"/>
                  </a:lnTo>
                  <a:lnTo>
                    <a:pt x="31" y="384"/>
                  </a:lnTo>
                  <a:lnTo>
                    <a:pt x="31" y="384"/>
                  </a:lnTo>
                  <a:lnTo>
                    <a:pt x="29" y="384"/>
                  </a:lnTo>
                  <a:lnTo>
                    <a:pt x="29" y="384"/>
                  </a:lnTo>
                  <a:lnTo>
                    <a:pt x="29" y="384"/>
                  </a:lnTo>
                  <a:lnTo>
                    <a:pt x="29" y="384"/>
                  </a:lnTo>
                  <a:lnTo>
                    <a:pt x="29" y="384"/>
                  </a:lnTo>
                  <a:lnTo>
                    <a:pt x="29" y="382"/>
                  </a:lnTo>
                  <a:lnTo>
                    <a:pt x="29" y="376"/>
                  </a:lnTo>
                  <a:lnTo>
                    <a:pt x="29" y="375"/>
                  </a:lnTo>
                  <a:lnTo>
                    <a:pt x="27" y="375"/>
                  </a:lnTo>
                  <a:lnTo>
                    <a:pt x="23" y="373"/>
                  </a:lnTo>
                  <a:lnTo>
                    <a:pt x="21" y="373"/>
                  </a:lnTo>
                  <a:lnTo>
                    <a:pt x="19" y="373"/>
                  </a:lnTo>
                  <a:lnTo>
                    <a:pt x="19" y="373"/>
                  </a:lnTo>
                  <a:lnTo>
                    <a:pt x="17" y="375"/>
                  </a:lnTo>
                  <a:lnTo>
                    <a:pt x="17" y="375"/>
                  </a:lnTo>
                  <a:lnTo>
                    <a:pt x="17" y="375"/>
                  </a:lnTo>
                  <a:lnTo>
                    <a:pt x="17" y="376"/>
                  </a:lnTo>
                  <a:lnTo>
                    <a:pt x="17" y="380"/>
                  </a:lnTo>
                  <a:lnTo>
                    <a:pt x="19" y="380"/>
                  </a:lnTo>
                  <a:lnTo>
                    <a:pt x="17" y="382"/>
                  </a:lnTo>
                  <a:lnTo>
                    <a:pt x="17" y="382"/>
                  </a:lnTo>
                  <a:lnTo>
                    <a:pt x="17" y="382"/>
                  </a:lnTo>
                  <a:lnTo>
                    <a:pt x="11" y="382"/>
                  </a:lnTo>
                  <a:lnTo>
                    <a:pt x="10" y="382"/>
                  </a:lnTo>
                  <a:lnTo>
                    <a:pt x="8" y="382"/>
                  </a:lnTo>
                  <a:lnTo>
                    <a:pt x="2" y="384"/>
                  </a:lnTo>
                  <a:lnTo>
                    <a:pt x="0" y="384"/>
                  </a:lnTo>
                  <a:lnTo>
                    <a:pt x="0" y="386"/>
                  </a:lnTo>
                  <a:lnTo>
                    <a:pt x="0" y="386"/>
                  </a:lnTo>
                  <a:lnTo>
                    <a:pt x="0" y="388"/>
                  </a:lnTo>
                  <a:lnTo>
                    <a:pt x="2" y="388"/>
                  </a:lnTo>
                  <a:lnTo>
                    <a:pt x="2" y="390"/>
                  </a:lnTo>
                  <a:lnTo>
                    <a:pt x="2" y="390"/>
                  </a:lnTo>
                  <a:lnTo>
                    <a:pt x="2" y="390"/>
                  </a:lnTo>
                  <a:lnTo>
                    <a:pt x="6" y="390"/>
                  </a:lnTo>
                  <a:lnTo>
                    <a:pt x="6" y="390"/>
                  </a:lnTo>
                  <a:lnTo>
                    <a:pt x="8" y="392"/>
                  </a:lnTo>
                  <a:lnTo>
                    <a:pt x="8" y="392"/>
                  </a:lnTo>
                  <a:lnTo>
                    <a:pt x="6" y="394"/>
                  </a:lnTo>
                  <a:lnTo>
                    <a:pt x="6" y="394"/>
                  </a:lnTo>
                  <a:lnTo>
                    <a:pt x="6" y="397"/>
                  </a:lnTo>
                  <a:lnTo>
                    <a:pt x="6" y="397"/>
                  </a:lnTo>
                  <a:lnTo>
                    <a:pt x="6" y="399"/>
                  </a:lnTo>
                  <a:lnTo>
                    <a:pt x="4" y="401"/>
                  </a:lnTo>
                  <a:lnTo>
                    <a:pt x="2" y="403"/>
                  </a:lnTo>
                  <a:lnTo>
                    <a:pt x="2" y="405"/>
                  </a:lnTo>
                  <a:lnTo>
                    <a:pt x="2" y="407"/>
                  </a:lnTo>
                  <a:lnTo>
                    <a:pt x="2" y="409"/>
                  </a:lnTo>
                  <a:lnTo>
                    <a:pt x="6" y="413"/>
                  </a:lnTo>
                  <a:lnTo>
                    <a:pt x="6" y="414"/>
                  </a:lnTo>
                  <a:lnTo>
                    <a:pt x="6" y="416"/>
                  </a:lnTo>
                  <a:lnTo>
                    <a:pt x="6" y="416"/>
                  </a:lnTo>
                  <a:lnTo>
                    <a:pt x="6" y="416"/>
                  </a:lnTo>
                  <a:lnTo>
                    <a:pt x="8" y="416"/>
                  </a:lnTo>
                  <a:lnTo>
                    <a:pt x="11" y="414"/>
                  </a:lnTo>
                  <a:lnTo>
                    <a:pt x="13" y="414"/>
                  </a:lnTo>
                  <a:lnTo>
                    <a:pt x="15" y="416"/>
                  </a:lnTo>
                  <a:lnTo>
                    <a:pt x="17" y="416"/>
                  </a:lnTo>
                  <a:lnTo>
                    <a:pt x="19" y="418"/>
                  </a:lnTo>
                  <a:lnTo>
                    <a:pt x="31" y="430"/>
                  </a:lnTo>
                  <a:lnTo>
                    <a:pt x="32" y="432"/>
                  </a:lnTo>
                  <a:lnTo>
                    <a:pt x="32" y="433"/>
                  </a:lnTo>
                  <a:lnTo>
                    <a:pt x="34" y="433"/>
                  </a:lnTo>
                  <a:lnTo>
                    <a:pt x="36" y="432"/>
                  </a:lnTo>
                  <a:lnTo>
                    <a:pt x="36" y="432"/>
                  </a:lnTo>
                  <a:lnTo>
                    <a:pt x="40" y="432"/>
                  </a:lnTo>
                  <a:lnTo>
                    <a:pt x="46" y="432"/>
                  </a:lnTo>
                  <a:lnTo>
                    <a:pt x="59" y="433"/>
                  </a:lnTo>
                  <a:lnTo>
                    <a:pt x="59" y="433"/>
                  </a:lnTo>
                  <a:lnTo>
                    <a:pt x="59" y="433"/>
                  </a:lnTo>
                  <a:lnTo>
                    <a:pt x="59" y="433"/>
                  </a:lnTo>
                  <a:lnTo>
                    <a:pt x="59" y="433"/>
                  </a:lnTo>
                  <a:lnTo>
                    <a:pt x="59" y="433"/>
                  </a:lnTo>
                  <a:lnTo>
                    <a:pt x="61" y="433"/>
                  </a:lnTo>
                  <a:lnTo>
                    <a:pt x="63" y="433"/>
                  </a:lnTo>
                  <a:lnTo>
                    <a:pt x="63" y="433"/>
                  </a:lnTo>
                  <a:lnTo>
                    <a:pt x="63" y="435"/>
                  </a:lnTo>
                  <a:lnTo>
                    <a:pt x="63" y="435"/>
                  </a:lnTo>
                  <a:lnTo>
                    <a:pt x="63" y="435"/>
                  </a:lnTo>
                  <a:lnTo>
                    <a:pt x="63" y="435"/>
                  </a:lnTo>
                  <a:lnTo>
                    <a:pt x="61" y="435"/>
                  </a:lnTo>
                  <a:lnTo>
                    <a:pt x="59" y="435"/>
                  </a:lnTo>
                  <a:lnTo>
                    <a:pt x="59" y="437"/>
                  </a:lnTo>
                  <a:lnTo>
                    <a:pt x="57" y="437"/>
                  </a:lnTo>
                  <a:lnTo>
                    <a:pt x="55" y="439"/>
                  </a:lnTo>
                  <a:lnTo>
                    <a:pt x="55" y="439"/>
                  </a:lnTo>
                  <a:lnTo>
                    <a:pt x="55" y="441"/>
                  </a:lnTo>
                  <a:lnTo>
                    <a:pt x="55" y="441"/>
                  </a:lnTo>
                  <a:lnTo>
                    <a:pt x="55" y="443"/>
                  </a:lnTo>
                  <a:lnTo>
                    <a:pt x="55" y="443"/>
                  </a:lnTo>
                  <a:lnTo>
                    <a:pt x="53" y="447"/>
                  </a:lnTo>
                  <a:lnTo>
                    <a:pt x="53" y="447"/>
                  </a:lnTo>
                  <a:lnTo>
                    <a:pt x="53" y="449"/>
                  </a:lnTo>
                  <a:lnTo>
                    <a:pt x="53" y="453"/>
                  </a:lnTo>
                  <a:lnTo>
                    <a:pt x="53" y="453"/>
                  </a:lnTo>
                  <a:lnTo>
                    <a:pt x="53" y="454"/>
                  </a:lnTo>
                  <a:lnTo>
                    <a:pt x="59" y="458"/>
                  </a:lnTo>
                  <a:lnTo>
                    <a:pt x="61" y="458"/>
                  </a:lnTo>
                  <a:lnTo>
                    <a:pt x="61" y="458"/>
                  </a:lnTo>
                  <a:lnTo>
                    <a:pt x="63" y="458"/>
                  </a:lnTo>
                  <a:lnTo>
                    <a:pt x="63" y="458"/>
                  </a:lnTo>
                  <a:lnTo>
                    <a:pt x="65" y="460"/>
                  </a:lnTo>
                  <a:lnTo>
                    <a:pt x="71" y="466"/>
                  </a:lnTo>
                  <a:lnTo>
                    <a:pt x="72" y="470"/>
                  </a:lnTo>
                  <a:lnTo>
                    <a:pt x="72" y="472"/>
                  </a:lnTo>
                  <a:lnTo>
                    <a:pt x="72" y="473"/>
                  </a:lnTo>
                  <a:lnTo>
                    <a:pt x="74" y="473"/>
                  </a:lnTo>
                  <a:lnTo>
                    <a:pt x="76" y="473"/>
                  </a:lnTo>
                  <a:lnTo>
                    <a:pt x="80" y="473"/>
                  </a:lnTo>
                  <a:lnTo>
                    <a:pt x="82" y="475"/>
                  </a:lnTo>
                  <a:lnTo>
                    <a:pt x="84" y="475"/>
                  </a:lnTo>
                  <a:lnTo>
                    <a:pt x="86" y="477"/>
                  </a:lnTo>
                  <a:lnTo>
                    <a:pt x="86" y="479"/>
                  </a:lnTo>
                  <a:lnTo>
                    <a:pt x="86" y="481"/>
                  </a:lnTo>
                  <a:lnTo>
                    <a:pt x="88" y="481"/>
                  </a:lnTo>
                  <a:lnTo>
                    <a:pt x="88" y="483"/>
                  </a:lnTo>
                  <a:lnTo>
                    <a:pt x="86" y="483"/>
                  </a:lnTo>
                  <a:lnTo>
                    <a:pt x="86" y="483"/>
                  </a:lnTo>
                  <a:lnTo>
                    <a:pt x="86" y="483"/>
                  </a:lnTo>
                  <a:lnTo>
                    <a:pt x="84" y="483"/>
                  </a:lnTo>
                  <a:lnTo>
                    <a:pt x="82" y="483"/>
                  </a:lnTo>
                  <a:lnTo>
                    <a:pt x="82" y="483"/>
                  </a:lnTo>
                  <a:lnTo>
                    <a:pt x="82" y="483"/>
                  </a:lnTo>
                  <a:lnTo>
                    <a:pt x="82" y="483"/>
                  </a:lnTo>
                  <a:lnTo>
                    <a:pt x="82" y="483"/>
                  </a:lnTo>
                  <a:lnTo>
                    <a:pt x="82" y="485"/>
                  </a:lnTo>
                  <a:lnTo>
                    <a:pt x="82" y="485"/>
                  </a:lnTo>
                  <a:lnTo>
                    <a:pt x="84" y="487"/>
                  </a:lnTo>
                  <a:lnTo>
                    <a:pt x="84" y="487"/>
                  </a:lnTo>
                  <a:lnTo>
                    <a:pt x="84" y="489"/>
                  </a:lnTo>
                  <a:lnTo>
                    <a:pt x="88" y="489"/>
                  </a:lnTo>
                  <a:lnTo>
                    <a:pt x="88" y="491"/>
                  </a:lnTo>
                  <a:lnTo>
                    <a:pt x="90" y="492"/>
                  </a:lnTo>
                  <a:lnTo>
                    <a:pt x="90" y="494"/>
                  </a:lnTo>
                  <a:lnTo>
                    <a:pt x="90" y="496"/>
                  </a:lnTo>
                  <a:lnTo>
                    <a:pt x="92" y="498"/>
                  </a:lnTo>
                  <a:lnTo>
                    <a:pt x="92" y="500"/>
                  </a:lnTo>
                  <a:lnTo>
                    <a:pt x="93" y="500"/>
                  </a:lnTo>
                  <a:lnTo>
                    <a:pt x="95" y="502"/>
                  </a:lnTo>
                  <a:lnTo>
                    <a:pt x="95" y="504"/>
                  </a:lnTo>
                  <a:lnTo>
                    <a:pt x="95" y="504"/>
                  </a:lnTo>
                  <a:lnTo>
                    <a:pt x="93" y="504"/>
                  </a:lnTo>
                  <a:lnTo>
                    <a:pt x="90" y="504"/>
                  </a:lnTo>
                  <a:lnTo>
                    <a:pt x="90" y="504"/>
                  </a:lnTo>
                  <a:lnTo>
                    <a:pt x="88" y="506"/>
                  </a:lnTo>
                  <a:lnTo>
                    <a:pt x="88" y="506"/>
                  </a:lnTo>
                  <a:lnTo>
                    <a:pt x="88" y="508"/>
                  </a:lnTo>
                  <a:lnTo>
                    <a:pt x="88" y="508"/>
                  </a:lnTo>
                  <a:lnTo>
                    <a:pt x="88" y="510"/>
                  </a:lnTo>
                  <a:lnTo>
                    <a:pt x="86" y="510"/>
                  </a:lnTo>
                  <a:lnTo>
                    <a:pt x="84" y="508"/>
                  </a:lnTo>
                  <a:lnTo>
                    <a:pt x="84" y="508"/>
                  </a:lnTo>
                  <a:lnTo>
                    <a:pt x="84" y="510"/>
                  </a:lnTo>
                  <a:lnTo>
                    <a:pt x="82" y="510"/>
                  </a:lnTo>
                  <a:lnTo>
                    <a:pt x="80" y="511"/>
                  </a:lnTo>
                  <a:lnTo>
                    <a:pt x="80" y="511"/>
                  </a:lnTo>
                  <a:lnTo>
                    <a:pt x="82" y="515"/>
                  </a:lnTo>
                  <a:lnTo>
                    <a:pt x="82" y="515"/>
                  </a:lnTo>
                  <a:lnTo>
                    <a:pt x="84" y="515"/>
                  </a:lnTo>
                  <a:lnTo>
                    <a:pt x="86" y="515"/>
                  </a:lnTo>
                  <a:lnTo>
                    <a:pt x="88" y="517"/>
                  </a:lnTo>
                  <a:lnTo>
                    <a:pt x="90" y="517"/>
                  </a:lnTo>
                  <a:lnTo>
                    <a:pt x="93" y="521"/>
                  </a:lnTo>
                  <a:lnTo>
                    <a:pt x="95" y="521"/>
                  </a:lnTo>
                  <a:lnTo>
                    <a:pt x="97" y="521"/>
                  </a:lnTo>
                  <a:lnTo>
                    <a:pt x="97" y="521"/>
                  </a:lnTo>
                  <a:lnTo>
                    <a:pt x="99" y="521"/>
                  </a:lnTo>
                  <a:lnTo>
                    <a:pt x="103" y="523"/>
                  </a:lnTo>
                  <a:lnTo>
                    <a:pt x="107" y="525"/>
                  </a:lnTo>
                  <a:lnTo>
                    <a:pt x="109" y="527"/>
                  </a:lnTo>
                  <a:lnTo>
                    <a:pt x="109" y="527"/>
                  </a:lnTo>
                  <a:lnTo>
                    <a:pt x="109" y="529"/>
                  </a:lnTo>
                  <a:lnTo>
                    <a:pt x="109" y="529"/>
                  </a:lnTo>
                  <a:lnTo>
                    <a:pt x="109" y="530"/>
                  </a:lnTo>
                  <a:lnTo>
                    <a:pt x="109" y="532"/>
                  </a:lnTo>
                  <a:lnTo>
                    <a:pt x="109" y="532"/>
                  </a:lnTo>
                  <a:lnTo>
                    <a:pt x="109" y="532"/>
                  </a:lnTo>
                  <a:lnTo>
                    <a:pt x="109" y="536"/>
                  </a:lnTo>
                  <a:lnTo>
                    <a:pt x="109" y="538"/>
                  </a:lnTo>
                  <a:lnTo>
                    <a:pt x="109" y="540"/>
                  </a:lnTo>
                  <a:lnTo>
                    <a:pt x="112" y="542"/>
                  </a:lnTo>
                  <a:lnTo>
                    <a:pt x="114" y="542"/>
                  </a:lnTo>
                  <a:lnTo>
                    <a:pt x="114" y="542"/>
                  </a:lnTo>
                  <a:lnTo>
                    <a:pt x="114" y="542"/>
                  </a:lnTo>
                  <a:lnTo>
                    <a:pt x="116" y="540"/>
                  </a:lnTo>
                  <a:lnTo>
                    <a:pt x="116" y="540"/>
                  </a:lnTo>
                  <a:lnTo>
                    <a:pt x="116" y="540"/>
                  </a:lnTo>
                  <a:lnTo>
                    <a:pt x="118" y="538"/>
                  </a:lnTo>
                  <a:lnTo>
                    <a:pt x="118" y="538"/>
                  </a:lnTo>
                  <a:lnTo>
                    <a:pt x="118" y="536"/>
                  </a:lnTo>
                  <a:lnTo>
                    <a:pt x="120" y="536"/>
                  </a:lnTo>
                  <a:lnTo>
                    <a:pt x="120" y="536"/>
                  </a:lnTo>
                  <a:lnTo>
                    <a:pt x="122" y="536"/>
                  </a:lnTo>
                  <a:lnTo>
                    <a:pt x="124" y="536"/>
                  </a:lnTo>
                  <a:lnTo>
                    <a:pt x="126" y="538"/>
                  </a:lnTo>
                  <a:lnTo>
                    <a:pt x="128" y="538"/>
                  </a:lnTo>
                  <a:lnTo>
                    <a:pt x="130" y="540"/>
                  </a:lnTo>
                  <a:lnTo>
                    <a:pt x="130" y="544"/>
                  </a:lnTo>
                  <a:lnTo>
                    <a:pt x="130" y="546"/>
                  </a:lnTo>
                  <a:lnTo>
                    <a:pt x="130" y="548"/>
                  </a:lnTo>
                  <a:lnTo>
                    <a:pt x="132" y="550"/>
                  </a:lnTo>
                  <a:lnTo>
                    <a:pt x="132" y="551"/>
                  </a:lnTo>
                  <a:lnTo>
                    <a:pt x="135" y="551"/>
                  </a:lnTo>
                  <a:lnTo>
                    <a:pt x="147" y="555"/>
                  </a:lnTo>
                  <a:lnTo>
                    <a:pt x="149" y="555"/>
                  </a:lnTo>
                  <a:lnTo>
                    <a:pt x="149" y="557"/>
                  </a:lnTo>
                  <a:lnTo>
                    <a:pt x="149" y="559"/>
                  </a:lnTo>
                  <a:lnTo>
                    <a:pt x="149" y="561"/>
                  </a:lnTo>
                  <a:lnTo>
                    <a:pt x="149" y="563"/>
                  </a:lnTo>
                  <a:lnTo>
                    <a:pt x="149" y="565"/>
                  </a:lnTo>
                  <a:lnTo>
                    <a:pt x="149" y="565"/>
                  </a:lnTo>
                  <a:lnTo>
                    <a:pt x="153" y="570"/>
                  </a:lnTo>
                  <a:lnTo>
                    <a:pt x="153" y="572"/>
                  </a:lnTo>
                  <a:lnTo>
                    <a:pt x="166" y="569"/>
                  </a:lnTo>
                  <a:lnTo>
                    <a:pt x="168" y="569"/>
                  </a:lnTo>
                  <a:lnTo>
                    <a:pt x="172" y="569"/>
                  </a:lnTo>
                  <a:lnTo>
                    <a:pt x="173" y="567"/>
                  </a:lnTo>
                  <a:lnTo>
                    <a:pt x="179" y="563"/>
                  </a:lnTo>
                  <a:lnTo>
                    <a:pt x="187" y="561"/>
                  </a:lnTo>
                  <a:lnTo>
                    <a:pt x="189" y="557"/>
                  </a:lnTo>
                  <a:lnTo>
                    <a:pt x="191" y="555"/>
                  </a:lnTo>
                  <a:lnTo>
                    <a:pt x="193" y="555"/>
                  </a:lnTo>
                  <a:lnTo>
                    <a:pt x="193" y="553"/>
                  </a:lnTo>
                  <a:lnTo>
                    <a:pt x="193" y="553"/>
                  </a:lnTo>
                  <a:lnTo>
                    <a:pt x="193" y="553"/>
                  </a:lnTo>
                  <a:lnTo>
                    <a:pt x="193" y="553"/>
                  </a:lnTo>
                  <a:lnTo>
                    <a:pt x="196" y="550"/>
                  </a:lnTo>
                  <a:lnTo>
                    <a:pt x="198" y="550"/>
                  </a:lnTo>
                  <a:lnTo>
                    <a:pt x="198" y="550"/>
                  </a:lnTo>
                  <a:lnTo>
                    <a:pt x="200" y="548"/>
                  </a:lnTo>
                  <a:lnTo>
                    <a:pt x="204" y="538"/>
                  </a:lnTo>
                  <a:lnTo>
                    <a:pt x="206" y="536"/>
                  </a:lnTo>
                  <a:lnTo>
                    <a:pt x="206" y="534"/>
                  </a:lnTo>
                  <a:lnTo>
                    <a:pt x="206" y="534"/>
                  </a:lnTo>
                  <a:lnTo>
                    <a:pt x="206" y="532"/>
                  </a:lnTo>
                  <a:lnTo>
                    <a:pt x="206" y="530"/>
                  </a:lnTo>
                  <a:lnTo>
                    <a:pt x="206" y="530"/>
                  </a:lnTo>
                  <a:lnTo>
                    <a:pt x="210" y="530"/>
                  </a:lnTo>
                  <a:lnTo>
                    <a:pt x="212" y="530"/>
                  </a:lnTo>
                  <a:lnTo>
                    <a:pt x="213" y="527"/>
                  </a:lnTo>
                  <a:lnTo>
                    <a:pt x="217" y="525"/>
                  </a:lnTo>
                  <a:lnTo>
                    <a:pt x="217" y="521"/>
                  </a:lnTo>
                  <a:lnTo>
                    <a:pt x="215" y="517"/>
                  </a:lnTo>
                  <a:lnTo>
                    <a:pt x="213" y="515"/>
                  </a:lnTo>
                  <a:lnTo>
                    <a:pt x="210" y="513"/>
                  </a:lnTo>
                  <a:lnTo>
                    <a:pt x="206" y="513"/>
                  </a:lnTo>
                  <a:lnTo>
                    <a:pt x="204" y="513"/>
                  </a:lnTo>
                  <a:lnTo>
                    <a:pt x="202" y="513"/>
                  </a:lnTo>
                  <a:lnTo>
                    <a:pt x="200" y="511"/>
                  </a:lnTo>
                  <a:lnTo>
                    <a:pt x="198" y="510"/>
                  </a:lnTo>
                  <a:lnTo>
                    <a:pt x="196" y="508"/>
                  </a:lnTo>
                  <a:lnTo>
                    <a:pt x="196" y="506"/>
                  </a:lnTo>
                  <a:lnTo>
                    <a:pt x="196" y="498"/>
                  </a:lnTo>
                  <a:lnTo>
                    <a:pt x="194" y="494"/>
                  </a:lnTo>
                  <a:lnTo>
                    <a:pt x="193" y="491"/>
                  </a:lnTo>
                  <a:lnTo>
                    <a:pt x="193" y="491"/>
                  </a:lnTo>
                  <a:lnTo>
                    <a:pt x="194" y="491"/>
                  </a:lnTo>
                  <a:lnTo>
                    <a:pt x="196" y="492"/>
                  </a:lnTo>
                  <a:lnTo>
                    <a:pt x="196" y="494"/>
                  </a:lnTo>
                  <a:lnTo>
                    <a:pt x="196" y="496"/>
                  </a:lnTo>
                  <a:lnTo>
                    <a:pt x="196" y="498"/>
                  </a:lnTo>
                  <a:lnTo>
                    <a:pt x="198" y="502"/>
                  </a:lnTo>
                  <a:lnTo>
                    <a:pt x="198" y="504"/>
                  </a:lnTo>
                  <a:lnTo>
                    <a:pt x="198" y="506"/>
                  </a:lnTo>
                  <a:lnTo>
                    <a:pt x="200" y="506"/>
                  </a:lnTo>
                  <a:lnTo>
                    <a:pt x="202" y="510"/>
                  </a:lnTo>
                  <a:lnTo>
                    <a:pt x="204" y="510"/>
                  </a:lnTo>
                  <a:lnTo>
                    <a:pt x="206" y="511"/>
                  </a:lnTo>
                  <a:lnTo>
                    <a:pt x="208" y="510"/>
                  </a:lnTo>
                  <a:lnTo>
                    <a:pt x="208" y="510"/>
                  </a:lnTo>
                  <a:lnTo>
                    <a:pt x="210" y="511"/>
                  </a:lnTo>
                  <a:lnTo>
                    <a:pt x="212" y="513"/>
                  </a:lnTo>
                  <a:lnTo>
                    <a:pt x="217" y="515"/>
                  </a:lnTo>
                  <a:lnTo>
                    <a:pt x="219" y="517"/>
                  </a:lnTo>
                  <a:lnTo>
                    <a:pt x="221" y="517"/>
                  </a:lnTo>
                  <a:lnTo>
                    <a:pt x="221" y="523"/>
                  </a:lnTo>
                  <a:lnTo>
                    <a:pt x="221" y="525"/>
                  </a:lnTo>
                  <a:lnTo>
                    <a:pt x="221" y="529"/>
                  </a:lnTo>
                  <a:lnTo>
                    <a:pt x="217" y="532"/>
                  </a:lnTo>
                  <a:lnTo>
                    <a:pt x="215" y="534"/>
                  </a:lnTo>
                  <a:lnTo>
                    <a:pt x="215" y="536"/>
                  </a:lnTo>
                  <a:lnTo>
                    <a:pt x="215" y="538"/>
                  </a:lnTo>
                  <a:lnTo>
                    <a:pt x="215" y="542"/>
                  </a:lnTo>
                  <a:lnTo>
                    <a:pt x="215" y="544"/>
                  </a:lnTo>
                  <a:lnTo>
                    <a:pt x="215" y="544"/>
                  </a:lnTo>
                  <a:lnTo>
                    <a:pt x="221" y="553"/>
                  </a:lnTo>
                  <a:lnTo>
                    <a:pt x="221" y="553"/>
                  </a:lnTo>
                  <a:lnTo>
                    <a:pt x="219" y="555"/>
                  </a:lnTo>
                  <a:lnTo>
                    <a:pt x="221" y="559"/>
                  </a:lnTo>
                  <a:lnTo>
                    <a:pt x="221" y="561"/>
                  </a:lnTo>
                  <a:lnTo>
                    <a:pt x="219" y="563"/>
                  </a:lnTo>
                  <a:lnTo>
                    <a:pt x="217" y="565"/>
                  </a:lnTo>
                  <a:lnTo>
                    <a:pt x="217" y="567"/>
                  </a:lnTo>
                  <a:lnTo>
                    <a:pt x="219" y="569"/>
                  </a:lnTo>
                  <a:lnTo>
                    <a:pt x="221" y="572"/>
                  </a:lnTo>
                  <a:lnTo>
                    <a:pt x="223" y="572"/>
                  </a:lnTo>
                  <a:lnTo>
                    <a:pt x="223" y="572"/>
                  </a:lnTo>
                  <a:lnTo>
                    <a:pt x="225" y="574"/>
                  </a:lnTo>
                  <a:lnTo>
                    <a:pt x="225" y="576"/>
                  </a:lnTo>
                  <a:lnTo>
                    <a:pt x="225" y="578"/>
                  </a:lnTo>
                  <a:lnTo>
                    <a:pt x="227" y="578"/>
                  </a:lnTo>
                  <a:lnTo>
                    <a:pt x="227" y="578"/>
                  </a:lnTo>
                  <a:lnTo>
                    <a:pt x="229" y="576"/>
                  </a:lnTo>
                  <a:lnTo>
                    <a:pt x="229" y="576"/>
                  </a:lnTo>
                  <a:lnTo>
                    <a:pt x="229" y="576"/>
                  </a:lnTo>
                  <a:lnTo>
                    <a:pt x="229" y="576"/>
                  </a:lnTo>
                  <a:lnTo>
                    <a:pt x="229" y="574"/>
                  </a:lnTo>
                  <a:lnTo>
                    <a:pt x="229" y="574"/>
                  </a:lnTo>
                  <a:lnTo>
                    <a:pt x="229" y="572"/>
                  </a:lnTo>
                  <a:lnTo>
                    <a:pt x="227" y="572"/>
                  </a:lnTo>
                  <a:lnTo>
                    <a:pt x="227" y="570"/>
                  </a:lnTo>
                  <a:lnTo>
                    <a:pt x="229" y="569"/>
                  </a:lnTo>
                  <a:lnTo>
                    <a:pt x="229" y="567"/>
                  </a:lnTo>
                  <a:lnTo>
                    <a:pt x="229" y="565"/>
                  </a:lnTo>
                  <a:lnTo>
                    <a:pt x="225" y="555"/>
                  </a:lnTo>
                  <a:lnTo>
                    <a:pt x="225" y="553"/>
                  </a:lnTo>
                  <a:lnTo>
                    <a:pt x="227" y="553"/>
                  </a:lnTo>
                  <a:lnTo>
                    <a:pt x="229" y="555"/>
                  </a:lnTo>
                  <a:lnTo>
                    <a:pt x="229" y="557"/>
                  </a:lnTo>
                  <a:lnTo>
                    <a:pt x="229" y="559"/>
                  </a:lnTo>
                  <a:lnTo>
                    <a:pt x="229" y="570"/>
                  </a:lnTo>
                  <a:lnTo>
                    <a:pt x="231" y="572"/>
                  </a:lnTo>
                  <a:lnTo>
                    <a:pt x="231" y="572"/>
                  </a:lnTo>
                  <a:lnTo>
                    <a:pt x="233" y="570"/>
                  </a:lnTo>
                  <a:lnTo>
                    <a:pt x="233" y="569"/>
                  </a:lnTo>
                  <a:lnTo>
                    <a:pt x="234" y="569"/>
                  </a:lnTo>
                  <a:lnTo>
                    <a:pt x="234" y="567"/>
                  </a:lnTo>
                  <a:lnTo>
                    <a:pt x="233" y="567"/>
                  </a:lnTo>
                  <a:lnTo>
                    <a:pt x="233" y="563"/>
                  </a:lnTo>
                  <a:lnTo>
                    <a:pt x="231" y="563"/>
                  </a:lnTo>
                  <a:lnTo>
                    <a:pt x="231" y="561"/>
                  </a:lnTo>
                  <a:lnTo>
                    <a:pt x="233" y="561"/>
                  </a:lnTo>
                  <a:lnTo>
                    <a:pt x="233" y="563"/>
                  </a:lnTo>
                  <a:lnTo>
                    <a:pt x="233" y="563"/>
                  </a:lnTo>
                  <a:lnTo>
                    <a:pt x="233" y="565"/>
                  </a:lnTo>
                  <a:lnTo>
                    <a:pt x="234" y="565"/>
                  </a:lnTo>
                  <a:lnTo>
                    <a:pt x="234" y="565"/>
                  </a:lnTo>
                  <a:lnTo>
                    <a:pt x="236" y="563"/>
                  </a:lnTo>
                  <a:lnTo>
                    <a:pt x="238" y="563"/>
                  </a:lnTo>
                  <a:lnTo>
                    <a:pt x="236" y="567"/>
                  </a:lnTo>
                  <a:lnTo>
                    <a:pt x="236" y="570"/>
                  </a:lnTo>
                  <a:lnTo>
                    <a:pt x="238" y="572"/>
                  </a:lnTo>
                  <a:lnTo>
                    <a:pt x="240" y="572"/>
                  </a:lnTo>
                  <a:lnTo>
                    <a:pt x="240" y="572"/>
                  </a:lnTo>
                  <a:lnTo>
                    <a:pt x="242" y="570"/>
                  </a:lnTo>
                  <a:lnTo>
                    <a:pt x="244" y="570"/>
                  </a:lnTo>
                  <a:lnTo>
                    <a:pt x="244" y="569"/>
                  </a:lnTo>
                  <a:lnTo>
                    <a:pt x="246" y="567"/>
                  </a:lnTo>
                  <a:lnTo>
                    <a:pt x="244" y="565"/>
                  </a:lnTo>
                  <a:lnTo>
                    <a:pt x="244" y="563"/>
                  </a:lnTo>
                  <a:lnTo>
                    <a:pt x="244" y="561"/>
                  </a:lnTo>
                  <a:lnTo>
                    <a:pt x="244" y="559"/>
                  </a:lnTo>
                  <a:lnTo>
                    <a:pt x="244" y="557"/>
                  </a:lnTo>
                  <a:lnTo>
                    <a:pt x="244" y="555"/>
                  </a:lnTo>
                  <a:lnTo>
                    <a:pt x="246" y="553"/>
                  </a:lnTo>
                  <a:lnTo>
                    <a:pt x="246" y="553"/>
                  </a:lnTo>
                  <a:lnTo>
                    <a:pt x="246" y="553"/>
                  </a:lnTo>
                  <a:lnTo>
                    <a:pt x="248" y="553"/>
                  </a:lnTo>
                  <a:lnTo>
                    <a:pt x="248" y="551"/>
                  </a:lnTo>
                  <a:lnTo>
                    <a:pt x="248" y="550"/>
                  </a:lnTo>
                  <a:lnTo>
                    <a:pt x="246" y="546"/>
                  </a:lnTo>
                  <a:lnTo>
                    <a:pt x="246" y="544"/>
                  </a:lnTo>
                  <a:lnTo>
                    <a:pt x="246" y="542"/>
                  </a:lnTo>
                  <a:lnTo>
                    <a:pt x="248" y="540"/>
                  </a:lnTo>
                  <a:lnTo>
                    <a:pt x="248" y="540"/>
                  </a:lnTo>
                  <a:lnTo>
                    <a:pt x="248" y="538"/>
                  </a:lnTo>
                  <a:lnTo>
                    <a:pt x="250" y="540"/>
                  </a:lnTo>
                  <a:lnTo>
                    <a:pt x="250" y="542"/>
                  </a:lnTo>
                  <a:lnTo>
                    <a:pt x="248" y="546"/>
                  </a:lnTo>
                  <a:lnTo>
                    <a:pt x="250" y="548"/>
                  </a:lnTo>
                  <a:lnTo>
                    <a:pt x="250" y="551"/>
                  </a:lnTo>
                  <a:lnTo>
                    <a:pt x="250" y="553"/>
                  </a:lnTo>
                  <a:lnTo>
                    <a:pt x="250" y="557"/>
                  </a:lnTo>
                  <a:lnTo>
                    <a:pt x="248" y="559"/>
                  </a:lnTo>
                  <a:lnTo>
                    <a:pt x="248" y="561"/>
                  </a:lnTo>
                  <a:lnTo>
                    <a:pt x="250" y="567"/>
                  </a:lnTo>
                  <a:lnTo>
                    <a:pt x="250" y="569"/>
                  </a:lnTo>
                  <a:lnTo>
                    <a:pt x="250" y="569"/>
                  </a:lnTo>
                  <a:lnTo>
                    <a:pt x="250" y="570"/>
                  </a:lnTo>
                  <a:lnTo>
                    <a:pt x="250" y="572"/>
                  </a:lnTo>
                  <a:lnTo>
                    <a:pt x="250" y="572"/>
                  </a:lnTo>
                  <a:lnTo>
                    <a:pt x="248" y="574"/>
                  </a:lnTo>
                  <a:lnTo>
                    <a:pt x="248" y="574"/>
                  </a:lnTo>
                  <a:lnTo>
                    <a:pt x="248" y="574"/>
                  </a:lnTo>
                  <a:lnTo>
                    <a:pt x="246" y="578"/>
                  </a:lnTo>
                  <a:lnTo>
                    <a:pt x="248" y="580"/>
                  </a:lnTo>
                  <a:lnTo>
                    <a:pt x="250" y="580"/>
                  </a:lnTo>
                  <a:lnTo>
                    <a:pt x="252" y="580"/>
                  </a:lnTo>
                  <a:lnTo>
                    <a:pt x="252" y="578"/>
                  </a:lnTo>
                  <a:lnTo>
                    <a:pt x="250" y="578"/>
                  </a:lnTo>
                  <a:lnTo>
                    <a:pt x="250" y="576"/>
                  </a:lnTo>
                  <a:lnTo>
                    <a:pt x="252" y="576"/>
                  </a:lnTo>
                  <a:lnTo>
                    <a:pt x="252" y="576"/>
                  </a:lnTo>
                  <a:lnTo>
                    <a:pt x="254" y="578"/>
                  </a:lnTo>
                  <a:lnTo>
                    <a:pt x="254" y="576"/>
                  </a:lnTo>
                  <a:lnTo>
                    <a:pt x="255" y="576"/>
                  </a:lnTo>
                  <a:lnTo>
                    <a:pt x="255" y="570"/>
                  </a:lnTo>
                  <a:lnTo>
                    <a:pt x="255" y="572"/>
                  </a:lnTo>
                  <a:lnTo>
                    <a:pt x="257" y="569"/>
                  </a:lnTo>
                  <a:lnTo>
                    <a:pt x="255" y="563"/>
                  </a:lnTo>
                  <a:lnTo>
                    <a:pt x="257" y="563"/>
                  </a:lnTo>
                  <a:lnTo>
                    <a:pt x="257" y="563"/>
                  </a:lnTo>
                  <a:lnTo>
                    <a:pt x="259" y="561"/>
                  </a:lnTo>
                  <a:lnTo>
                    <a:pt x="259" y="559"/>
                  </a:lnTo>
                  <a:lnTo>
                    <a:pt x="259" y="557"/>
                  </a:lnTo>
                  <a:lnTo>
                    <a:pt x="259" y="555"/>
                  </a:lnTo>
                  <a:lnTo>
                    <a:pt x="257" y="555"/>
                  </a:lnTo>
                  <a:lnTo>
                    <a:pt x="255" y="555"/>
                  </a:lnTo>
                  <a:lnTo>
                    <a:pt x="254" y="557"/>
                  </a:lnTo>
                  <a:lnTo>
                    <a:pt x="254" y="555"/>
                  </a:lnTo>
                  <a:lnTo>
                    <a:pt x="254" y="550"/>
                  </a:lnTo>
                  <a:lnTo>
                    <a:pt x="254" y="548"/>
                  </a:lnTo>
                  <a:lnTo>
                    <a:pt x="257" y="540"/>
                  </a:lnTo>
                  <a:lnTo>
                    <a:pt x="257" y="538"/>
                  </a:lnTo>
                  <a:lnTo>
                    <a:pt x="257" y="534"/>
                  </a:lnTo>
                  <a:lnTo>
                    <a:pt x="257" y="532"/>
                  </a:lnTo>
                  <a:lnTo>
                    <a:pt x="259" y="530"/>
                  </a:lnTo>
                  <a:lnTo>
                    <a:pt x="259" y="529"/>
                  </a:lnTo>
                  <a:lnTo>
                    <a:pt x="259" y="527"/>
                  </a:lnTo>
                  <a:lnTo>
                    <a:pt x="259" y="525"/>
                  </a:lnTo>
                  <a:lnTo>
                    <a:pt x="259" y="523"/>
                  </a:lnTo>
                  <a:lnTo>
                    <a:pt x="259" y="523"/>
                  </a:lnTo>
                  <a:lnTo>
                    <a:pt x="259" y="521"/>
                  </a:lnTo>
                  <a:lnTo>
                    <a:pt x="259" y="521"/>
                  </a:lnTo>
                  <a:lnTo>
                    <a:pt x="259" y="519"/>
                  </a:lnTo>
                  <a:lnTo>
                    <a:pt x="261" y="517"/>
                  </a:lnTo>
                  <a:lnTo>
                    <a:pt x="261" y="517"/>
                  </a:lnTo>
                  <a:lnTo>
                    <a:pt x="261" y="517"/>
                  </a:lnTo>
                  <a:lnTo>
                    <a:pt x="261" y="515"/>
                  </a:lnTo>
                  <a:lnTo>
                    <a:pt x="263" y="513"/>
                  </a:lnTo>
                  <a:lnTo>
                    <a:pt x="263" y="513"/>
                  </a:lnTo>
                  <a:lnTo>
                    <a:pt x="265" y="513"/>
                  </a:lnTo>
                  <a:lnTo>
                    <a:pt x="265" y="515"/>
                  </a:lnTo>
                  <a:lnTo>
                    <a:pt x="263" y="517"/>
                  </a:lnTo>
                  <a:lnTo>
                    <a:pt x="261" y="517"/>
                  </a:lnTo>
                  <a:lnTo>
                    <a:pt x="261" y="523"/>
                  </a:lnTo>
                  <a:lnTo>
                    <a:pt x="261" y="523"/>
                  </a:lnTo>
                  <a:lnTo>
                    <a:pt x="261" y="525"/>
                  </a:lnTo>
                  <a:lnTo>
                    <a:pt x="261" y="529"/>
                  </a:lnTo>
                  <a:lnTo>
                    <a:pt x="261" y="530"/>
                  </a:lnTo>
                  <a:lnTo>
                    <a:pt x="261" y="530"/>
                  </a:lnTo>
                  <a:lnTo>
                    <a:pt x="261" y="532"/>
                  </a:lnTo>
                  <a:lnTo>
                    <a:pt x="259" y="534"/>
                  </a:lnTo>
                  <a:lnTo>
                    <a:pt x="259" y="536"/>
                  </a:lnTo>
                  <a:lnTo>
                    <a:pt x="259" y="538"/>
                  </a:lnTo>
                  <a:lnTo>
                    <a:pt x="259" y="538"/>
                  </a:lnTo>
                  <a:lnTo>
                    <a:pt x="261" y="538"/>
                  </a:lnTo>
                  <a:lnTo>
                    <a:pt x="261" y="538"/>
                  </a:lnTo>
                  <a:lnTo>
                    <a:pt x="263" y="538"/>
                  </a:lnTo>
                  <a:lnTo>
                    <a:pt x="265" y="540"/>
                  </a:lnTo>
                  <a:lnTo>
                    <a:pt x="265" y="538"/>
                  </a:lnTo>
                  <a:lnTo>
                    <a:pt x="267" y="536"/>
                  </a:lnTo>
                  <a:lnTo>
                    <a:pt x="267" y="536"/>
                  </a:lnTo>
                  <a:lnTo>
                    <a:pt x="269" y="532"/>
                  </a:lnTo>
                  <a:lnTo>
                    <a:pt x="269" y="529"/>
                  </a:lnTo>
                  <a:lnTo>
                    <a:pt x="267" y="529"/>
                  </a:lnTo>
                  <a:lnTo>
                    <a:pt x="267" y="529"/>
                  </a:lnTo>
                  <a:lnTo>
                    <a:pt x="265" y="527"/>
                  </a:lnTo>
                  <a:lnTo>
                    <a:pt x="265" y="525"/>
                  </a:lnTo>
                  <a:lnTo>
                    <a:pt x="267" y="523"/>
                  </a:lnTo>
                  <a:lnTo>
                    <a:pt x="267" y="523"/>
                  </a:lnTo>
                  <a:lnTo>
                    <a:pt x="269" y="521"/>
                  </a:lnTo>
                  <a:lnTo>
                    <a:pt x="271" y="521"/>
                  </a:lnTo>
                  <a:lnTo>
                    <a:pt x="273" y="521"/>
                  </a:lnTo>
                  <a:lnTo>
                    <a:pt x="269" y="523"/>
                  </a:lnTo>
                  <a:lnTo>
                    <a:pt x="267" y="525"/>
                  </a:lnTo>
                  <a:lnTo>
                    <a:pt x="267" y="527"/>
                  </a:lnTo>
                  <a:lnTo>
                    <a:pt x="267" y="527"/>
                  </a:lnTo>
                  <a:lnTo>
                    <a:pt x="271" y="529"/>
                  </a:lnTo>
                  <a:lnTo>
                    <a:pt x="273" y="530"/>
                  </a:lnTo>
                  <a:lnTo>
                    <a:pt x="271" y="532"/>
                  </a:lnTo>
                  <a:lnTo>
                    <a:pt x="271" y="534"/>
                  </a:lnTo>
                  <a:lnTo>
                    <a:pt x="269" y="536"/>
                  </a:lnTo>
                  <a:lnTo>
                    <a:pt x="269" y="536"/>
                  </a:lnTo>
                  <a:lnTo>
                    <a:pt x="267" y="538"/>
                  </a:lnTo>
                  <a:lnTo>
                    <a:pt x="267" y="544"/>
                  </a:lnTo>
                  <a:lnTo>
                    <a:pt x="265" y="550"/>
                  </a:lnTo>
                  <a:lnTo>
                    <a:pt x="265" y="550"/>
                  </a:lnTo>
                  <a:lnTo>
                    <a:pt x="267" y="551"/>
                  </a:lnTo>
                  <a:lnTo>
                    <a:pt x="265" y="563"/>
                  </a:lnTo>
                  <a:lnTo>
                    <a:pt x="265" y="565"/>
                  </a:lnTo>
                  <a:lnTo>
                    <a:pt x="269" y="572"/>
                  </a:lnTo>
                  <a:lnTo>
                    <a:pt x="267" y="574"/>
                  </a:lnTo>
                  <a:lnTo>
                    <a:pt x="269" y="576"/>
                  </a:lnTo>
                  <a:lnTo>
                    <a:pt x="273" y="578"/>
                  </a:lnTo>
                  <a:lnTo>
                    <a:pt x="274" y="576"/>
                  </a:lnTo>
                  <a:lnTo>
                    <a:pt x="274" y="574"/>
                  </a:lnTo>
                  <a:lnTo>
                    <a:pt x="274" y="572"/>
                  </a:lnTo>
                  <a:lnTo>
                    <a:pt x="274" y="572"/>
                  </a:lnTo>
                  <a:lnTo>
                    <a:pt x="273" y="570"/>
                  </a:lnTo>
                  <a:lnTo>
                    <a:pt x="273" y="569"/>
                  </a:lnTo>
                  <a:lnTo>
                    <a:pt x="273" y="569"/>
                  </a:lnTo>
                  <a:lnTo>
                    <a:pt x="274" y="567"/>
                  </a:lnTo>
                  <a:lnTo>
                    <a:pt x="274" y="567"/>
                  </a:lnTo>
                  <a:lnTo>
                    <a:pt x="274" y="567"/>
                  </a:lnTo>
                  <a:lnTo>
                    <a:pt x="276" y="565"/>
                  </a:lnTo>
                  <a:lnTo>
                    <a:pt x="276" y="563"/>
                  </a:lnTo>
                  <a:lnTo>
                    <a:pt x="276" y="565"/>
                  </a:lnTo>
                  <a:lnTo>
                    <a:pt x="276" y="567"/>
                  </a:lnTo>
                  <a:lnTo>
                    <a:pt x="276" y="567"/>
                  </a:lnTo>
                  <a:lnTo>
                    <a:pt x="276" y="567"/>
                  </a:lnTo>
                  <a:lnTo>
                    <a:pt x="274" y="569"/>
                  </a:lnTo>
                  <a:lnTo>
                    <a:pt x="276" y="570"/>
                  </a:lnTo>
                  <a:lnTo>
                    <a:pt x="278" y="570"/>
                  </a:lnTo>
                  <a:lnTo>
                    <a:pt x="280" y="570"/>
                  </a:lnTo>
                  <a:lnTo>
                    <a:pt x="280" y="569"/>
                  </a:lnTo>
                  <a:lnTo>
                    <a:pt x="280" y="569"/>
                  </a:lnTo>
                  <a:lnTo>
                    <a:pt x="280" y="565"/>
                  </a:lnTo>
                  <a:lnTo>
                    <a:pt x="278" y="563"/>
                  </a:lnTo>
                  <a:lnTo>
                    <a:pt x="278" y="561"/>
                  </a:lnTo>
                  <a:lnTo>
                    <a:pt x="280" y="557"/>
                  </a:lnTo>
                  <a:lnTo>
                    <a:pt x="280" y="557"/>
                  </a:lnTo>
                  <a:lnTo>
                    <a:pt x="282" y="557"/>
                  </a:lnTo>
                  <a:lnTo>
                    <a:pt x="282" y="557"/>
                  </a:lnTo>
                  <a:lnTo>
                    <a:pt x="282" y="565"/>
                  </a:lnTo>
                  <a:lnTo>
                    <a:pt x="284" y="567"/>
                  </a:lnTo>
                  <a:lnTo>
                    <a:pt x="284" y="567"/>
                  </a:lnTo>
                  <a:lnTo>
                    <a:pt x="284" y="569"/>
                  </a:lnTo>
                  <a:lnTo>
                    <a:pt x="288" y="569"/>
                  </a:lnTo>
                  <a:lnTo>
                    <a:pt x="292" y="570"/>
                  </a:lnTo>
                  <a:lnTo>
                    <a:pt x="294" y="572"/>
                  </a:lnTo>
                  <a:lnTo>
                    <a:pt x="295" y="572"/>
                  </a:lnTo>
                  <a:lnTo>
                    <a:pt x="295" y="572"/>
                  </a:lnTo>
                  <a:lnTo>
                    <a:pt x="295" y="570"/>
                  </a:lnTo>
                  <a:lnTo>
                    <a:pt x="297" y="570"/>
                  </a:lnTo>
                  <a:lnTo>
                    <a:pt x="297" y="570"/>
                  </a:lnTo>
                  <a:lnTo>
                    <a:pt x="297" y="570"/>
                  </a:lnTo>
                  <a:lnTo>
                    <a:pt x="297" y="572"/>
                  </a:lnTo>
                  <a:lnTo>
                    <a:pt x="299" y="572"/>
                  </a:lnTo>
                  <a:lnTo>
                    <a:pt x="299" y="572"/>
                  </a:lnTo>
                  <a:lnTo>
                    <a:pt x="301" y="570"/>
                  </a:lnTo>
                  <a:lnTo>
                    <a:pt x="301" y="569"/>
                  </a:lnTo>
                  <a:lnTo>
                    <a:pt x="301" y="565"/>
                  </a:lnTo>
                  <a:lnTo>
                    <a:pt x="301" y="565"/>
                  </a:lnTo>
                  <a:lnTo>
                    <a:pt x="299" y="563"/>
                  </a:lnTo>
                  <a:lnTo>
                    <a:pt x="297" y="561"/>
                  </a:lnTo>
                  <a:lnTo>
                    <a:pt x="297" y="559"/>
                  </a:lnTo>
                  <a:lnTo>
                    <a:pt x="297" y="555"/>
                  </a:lnTo>
                  <a:lnTo>
                    <a:pt x="295" y="548"/>
                  </a:lnTo>
                  <a:lnTo>
                    <a:pt x="294" y="544"/>
                  </a:lnTo>
                  <a:lnTo>
                    <a:pt x="292" y="542"/>
                  </a:lnTo>
                  <a:lnTo>
                    <a:pt x="290" y="542"/>
                  </a:lnTo>
                  <a:lnTo>
                    <a:pt x="288" y="542"/>
                  </a:lnTo>
                  <a:lnTo>
                    <a:pt x="286" y="540"/>
                  </a:lnTo>
                  <a:lnTo>
                    <a:pt x="286" y="538"/>
                  </a:lnTo>
                  <a:lnTo>
                    <a:pt x="286" y="536"/>
                  </a:lnTo>
                  <a:lnTo>
                    <a:pt x="286" y="534"/>
                  </a:lnTo>
                  <a:lnTo>
                    <a:pt x="288" y="534"/>
                  </a:lnTo>
                  <a:lnTo>
                    <a:pt x="288" y="536"/>
                  </a:lnTo>
                  <a:lnTo>
                    <a:pt x="288" y="538"/>
                  </a:lnTo>
                  <a:lnTo>
                    <a:pt x="288" y="540"/>
                  </a:lnTo>
                  <a:lnTo>
                    <a:pt x="290" y="540"/>
                  </a:lnTo>
                  <a:lnTo>
                    <a:pt x="294" y="542"/>
                  </a:lnTo>
                  <a:lnTo>
                    <a:pt x="295" y="542"/>
                  </a:lnTo>
                  <a:lnTo>
                    <a:pt x="295" y="542"/>
                  </a:lnTo>
                  <a:lnTo>
                    <a:pt x="295" y="540"/>
                  </a:lnTo>
                  <a:lnTo>
                    <a:pt x="295" y="540"/>
                  </a:lnTo>
                  <a:lnTo>
                    <a:pt x="297" y="540"/>
                  </a:lnTo>
                  <a:lnTo>
                    <a:pt x="299" y="540"/>
                  </a:lnTo>
                  <a:lnTo>
                    <a:pt x="299" y="536"/>
                  </a:lnTo>
                  <a:lnTo>
                    <a:pt x="299" y="530"/>
                  </a:lnTo>
                  <a:lnTo>
                    <a:pt x="299" y="529"/>
                  </a:lnTo>
                  <a:lnTo>
                    <a:pt x="297" y="527"/>
                  </a:lnTo>
                  <a:lnTo>
                    <a:pt x="297" y="525"/>
                  </a:lnTo>
                  <a:lnTo>
                    <a:pt x="297" y="523"/>
                  </a:lnTo>
                  <a:lnTo>
                    <a:pt x="297" y="523"/>
                  </a:lnTo>
                  <a:lnTo>
                    <a:pt x="297" y="521"/>
                  </a:lnTo>
                  <a:lnTo>
                    <a:pt x="297" y="519"/>
                  </a:lnTo>
                  <a:lnTo>
                    <a:pt x="299" y="521"/>
                  </a:lnTo>
                  <a:lnTo>
                    <a:pt x="299" y="521"/>
                  </a:lnTo>
                  <a:lnTo>
                    <a:pt x="299" y="521"/>
                  </a:lnTo>
                  <a:lnTo>
                    <a:pt x="299" y="521"/>
                  </a:lnTo>
                  <a:lnTo>
                    <a:pt x="301" y="517"/>
                  </a:lnTo>
                  <a:lnTo>
                    <a:pt x="301" y="515"/>
                  </a:lnTo>
                  <a:lnTo>
                    <a:pt x="301" y="513"/>
                  </a:lnTo>
                  <a:lnTo>
                    <a:pt x="299" y="511"/>
                  </a:lnTo>
                  <a:lnTo>
                    <a:pt x="295" y="508"/>
                  </a:lnTo>
                  <a:lnTo>
                    <a:pt x="295" y="504"/>
                  </a:lnTo>
                  <a:lnTo>
                    <a:pt x="295" y="504"/>
                  </a:lnTo>
                  <a:lnTo>
                    <a:pt x="294" y="502"/>
                  </a:lnTo>
                  <a:lnTo>
                    <a:pt x="294" y="500"/>
                  </a:lnTo>
                  <a:lnTo>
                    <a:pt x="294" y="494"/>
                  </a:lnTo>
                  <a:lnTo>
                    <a:pt x="294" y="494"/>
                  </a:lnTo>
                  <a:lnTo>
                    <a:pt x="294" y="492"/>
                  </a:lnTo>
                  <a:lnTo>
                    <a:pt x="294" y="491"/>
                  </a:lnTo>
                  <a:lnTo>
                    <a:pt x="294" y="491"/>
                  </a:lnTo>
                  <a:lnTo>
                    <a:pt x="294" y="489"/>
                  </a:lnTo>
                  <a:lnTo>
                    <a:pt x="292" y="485"/>
                  </a:lnTo>
                  <a:lnTo>
                    <a:pt x="292" y="481"/>
                  </a:lnTo>
                  <a:lnTo>
                    <a:pt x="290" y="479"/>
                  </a:lnTo>
                  <a:lnTo>
                    <a:pt x="288" y="479"/>
                  </a:lnTo>
                  <a:lnTo>
                    <a:pt x="290" y="477"/>
                  </a:lnTo>
                  <a:lnTo>
                    <a:pt x="290" y="475"/>
                  </a:lnTo>
                  <a:lnTo>
                    <a:pt x="290" y="472"/>
                  </a:lnTo>
                  <a:lnTo>
                    <a:pt x="288" y="470"/>
                  </a:lnTo>
                  <a:lnTo>
                    <a:pt x="288" y="468"/>
                  </a:lnTo>
                  <a:lnTo>
                    <a:pt x="288" y="466"/>
                  </a:lnTo>
                  <a:lnTo>
                    <a:pt x="286" y="464"/>
                  </a:lnTo>
                  <a:lnTo>
                    <a:pt x="286" y="462"/>
                  </a:lnTo>
                  <a:lnTo>
                    <a:pt x="286" y="460"/>
                  </a:lnTo>
                  <a:lnTo>
                    <a:pt x="286" y="458"/>
                  </a:lnTo>
                  <a:lnTo>
                    <a:pt x="288" y="456"/>
                  </a:lnTo>
                  <a:lnTo>
                    <a:pt x="288" y="454"/>
                  </a:lnTo>
                  <a:lnTo>
                    <a:pt x="288" y="454"/>
                  </a:lnTo>
                  <a:lnTo>
                    <a:pt x="288" y="453"/>
                  </a:lnTo>
                  <a:lnTo>
                    <a:pt x="290" y="451"/>
                  </a:lnTo>
                  <a:lnTo>
                    <a:pt x="288" y="449"/>
                  </a:lnTo>
                  <a:lnTo>
                    <a:pt x="288" y="447"/>
                  </a:lnTo>
                  <a:lnTo>
                    <a:pt x="286" y="447"/>
                  </a:lnTo>
                  <a:lnTo>
                    <a:pt x="284" y="445"/>
                  </a:lnTo>
                  <a:lnTo>
                    <a:pt x="282" y="441"/>
                  </a:lnTo>
                  <a:lnTo>
                    <a:pt x="280" y="439"/>
                  </a:lnTo>
                  <a:lnTo>
                    <a:pt x="278" y="437"/>
                  </a:lnTo>
                  <a:lnTo>
                    <a:pt x="278" y="435"/>
                  </a:lnTo>
                  <a:lnTo>
                    <a:pt x="278" y="433"/>
                  </a:lnTo>
                  <a:lnTo>
                    <a:pt x="280" y="432"/>
                  </a:lnTo>
                  <a:lnTo>
                    <a:pt x="280" y="426"/>
                  </a:lnTo>
                  <a:lnTo>
                    <a:pt x="282" y="424"/>
                  </a:lnTo>
                  <a:lnTo>
                    <a:pt x="286" y="418"/>
                  </a:lnTo>
                  <a:lnTo>
                    <a:pt x="288" y="416"/>
                  </a:lnTo>
                  <a:lnTo>
                    <a:pt x="290" y="414"/>
                  </a:lnTo>
                  <a:lnTo>
                    <a:pt x="290" y="414"/>
                  </a:lnTo>
                  <a:lnTo>
                    <a:pt x="290" y="413"/>
                  </a:lnTo>
                  <a:lnTo>
                    <a:pt x="290" y="413"/>
                  </a:lnTo>
                  <a:lnTo>
                    <a:pt x="288" y="413"/>
                  </a:lnTo>
                  <a:lnTo>
                    <a:pt x="286" y="413"/>
                  </a:lnTo>
                  <a:lnTo>
                    <a:pt x="286" y="413"/>
                  </a:lnTo>
                  <a:lnTo>
                    <a:pt x="278" y="411"/>
                  </a:lnTo>
                  <a:lnTo>
                    <a:pt x="278" y="409"/>
                  </a:lnTo>
                  <a:lnTo>
                    <a:pt x="276" y="409"/>
                  </a:lnTo>
                  <a:lnTo>
                    <a:pt x="274" y="411"/>
                  </a:lnTo>
                  <a:lnTo>
                    <a:pt x="274" y="411"/>
                  </a:lnTo>
                  <a:lnTo>
                    <a:pt x="274" y="411"/>
                  </a:lnTo>
                  <a:lnTo>
                    <a:pt x="273" y="411"/>
                  </a:lnTo>
                  <a:lnTo>
                    <a:pt x="267" y="409"/>
                  </a:lnTo>
                  <a:lnTo>
                    <a:pt x="265" y="409"/>
                  </a:lnTo>
                  <a:lnTo>
                    <a:pt x="265" y="407"/>
                  </a:lnTo>
                  <a:lnTo>
                    <a:pt x="265" y="403"/>
                  </a:lnTo>
                  <a:lnTo>
                    <a:pt x="265" y="401"/>
                  </a:lnTo>
                  <a:lnTo>
                    <a:pt x="269" y="399"/>
                  </a:lnTo>
                  <a:lnTo>
                    <a:pt x="273" y="386"/>
                  </a:lnTo>
                  <a:lnTo>
                    <a:pt x="273" y="384"/>
                  </a:lnTo>
                  <a:lnTo>
                    <a:pt x="271" y="384"/>
                  </a:lnTo>
                  <a:lnTo>
                    <a:pt x="271" y="384"/>
                  </a:lnTo>
                  <a:lnTo>
                    <a:pt x="269" y="386"/>
                  </a:lnTo>
                  <a:lnTo>
                    <a:pt x="269" y="386"/>
                  </a:lnTo>
                  <a:lnTo>
                    <a:pt x="267" y="384"/>
                  </a:lnTo>
                  <a:lnTo>
                    <a:pt x="265" y="384"/>
                  </a:lnTo>
                  <a:lnTo>
                    <a:pt x="263" y="382"/>
                  </a:lnTo>
                  <a:lnTo>
                    <a:pt x="261" y="380"/>
                  </a:lnTo>
                  <a:lnTo>
                    <a:pt x="259" y="376"/>
                  </a:lnTo>
                  <a:lnTo>
                    <a:pt x="257" y="375"/>
                  </a:lnTo>
                  <a:lnTo>
                    <a:pt x="257" y="375"/>
                  </a:lnTo>
                  <a:lnTo>
                    <a:pt x="255" y="375"/>
                  </a:lnTo>
                  <a:lnTo>
                    <a:pt x="254" y="375"/>
                  </a:lnTo>
                  <a:lnTo>
                    <a:pt x="254" y="373"/>
                  </a:lnTo>
                  <a:lnTo>
                    <a:pt x="254" y="373"/>
                  </a:lnTo>
                  <a:lnTo>
                    <a:pt x="254" y="371"/>
                  </a:lnTo>
                  <a:lnTo>
                    <a:pt x="254" y="371"/>
                  </a:lnTo>
                  <a:lnTo>
                    <a:pt x="254" y="371"/>
                  </a:lnTo>
                  <a:lnTo>
                    <a:pt x="252" y="369"/>
                  </a:lnTo>
                  <a:lnTo>
                    <a:pt x="252" y="369"/>
                  </a:lnTo>
                  <a:lnTo>
                    <a:pt x="252" y="369"/>
                  </a:lnTo>
                  <a:lnTo>
                    <a:pt x="254" y="359"/>
                  </a:lnTo>
                  <a:lnTo>
                    <a:pt x="254" y="357"/>
                  </a:lnTo>
                  <a:lnTo>
                    <a:pt x="252" y="357"/>
                  </a:lnTo>
                  <a:lnTo>
                    <a:pt x="252" y="356"/>
                  </a:lnTo>
                  <a:lnTo>
                    <a:pt x="254" y="354"/>
                  </a:lnTo>
                  <a:lnTo>
                    <a:pt x="254" y="352"/>
                  </a:lnTo>
                  <a:lnTo>
                    <a:pt x="255" y="352"/>
                  </a:lnTo>
                  <a:lnTo>
                    <a:pt x="255" y="350"/>
                  </a:lnTo>
                  <a:lnTo>
                    <a:pt x="255" y="350"/>
                  </a:lnTo>
                  <a:lnTo>
                    <a:pt x="254" y="348"/>
                  </a:lnTo>
                  <a:lnTo>
                    <a:pt x="255" y="348"/>
                  </a:lnTo>
                  <a:lnTo>
                    <a:pt x="255" y="346"/>
                  </a:lnTo>
                  <a:lnTo>
                    <a:pt x="257" y="346"/>
                  </a:lnTo>
                  <a:lnTo>
                    <a:pt x="259" y="346"/>
                  </a:lnTo>
                  <a:lnTo>
                    <a:pt x="261" y="346"/>
                  </a:lnTo>
                  <a:lnTo>
                    <a:pt x="263" y="344"/>
                  </a:lnTo>
                  <a:lnTo>
                    <a:pt x="267" y="342"/>
                  </a:lnTo>
                  <a:lnTo>
                    <a:pt x="267" y="340"/>
                  </a:lnTo>
                  <a:lnTo>
                    <a:pt x="267" y="338"/>
                  </a:lnTo>
                  <a:lnTo>
                    <a:pt x="267" y="337"/>
                  </a:lnTo>
                  <a:lnTo>
                    <a:pt x="267" y="335"/>
                  </a:lnTo>
                  <a:lnTo>
                    <a:pt x="267" y="333"/>
                  </a:lnTo>
                  <a:lnTo>
                    <a:pt x="267" y="331"/>
                  </a:lnTo>
                  <a:lnTo>
                    <a:pt x="269" y="331"/>
                  </a:lnTo>
                  <a:lnTo>
                    <a:pt x="269" y="329"/>
                  </a:lnTo>
                  <a:lnTo>
                    <a:pt x="267" y="329"/>
                  </a:lnTo>
                  <a:lnTo>
                    <a:pt x="265" y="327"/>
                  </a:lnTo>
                  <a:lnTo>
                    <a:pt x="265" y="325"/>
                  </a:lnTo>
                  <a:lnTo>
                    <a:pt x="263" y="325"/>
                  </a:lnTo>
                  <a:lnTo>
                    <a:pt x="263" y="323"/>
                  </a:lnTo>
                  <a:lnTo>
                    <a:pt x="265" y="321"/>
                  </a:lnTo>
                  <a:lnTo>
                    <a:pt x="265" y="321"/>
                  </a:lnTo>
                  <a:lnTo>
                    <a:pt x="265" y="317"/>
                  </a:lnTo>
                  <a:lnTo>
                    <a:pt x="265" y="317"/>
                  </a:lnTo>
                  <a:lnTo>
                    <a:pt x="265" y="316"/>
                  </a:lnTo>
                  <a:lnTo>
                    <a:pt x="265" y="316"/>
                  </a:lnTo>
                  <a:lnTo>
                    <a:pt x="267" y="314"/>
                  </a:lnTo>
                  <a:lnTo>
                    <a:pt x="269" y="314"/>
                  </a:lnTo>
                  <a:lnTo>
                    <a:pt x="269" y="314"/>
                  </a:lnTo>
                  <a:lnTo>
                    <a:pt x="269" y="314"/>
                  </a:lnTo>
                  <a:lnTo>
                    <a:pt x="271" y="312"/>
                  </a:lnTo>
                  <a:lnTo>
                    <a:pt x="271" y="310"/>
                  </a:lnTo>
                  <a:lnTo>
                    <a:pt x="271" y="310"/>
                  </a:lnTo>
                  <a:lnTo>
                    <a:pt x="271" y="308"/>
                  </a:lnTo>
                  <a:lnTo>
                    <a:pt x="271" y="308"/>
                  </a:lnTo>
                  <a:lnTo>
                    <a:pt x="269" y="304"/>
                  </a:lnTo>
                  <a:lnTo>
                    <a:pt x="267" y="300"/>
                  </a:lnTo>
                  <a:lnTo>
                    <a:pt x="265" y="298"/>
                  </a:lnTo>
                  <a:lnTo>
                    <a:pt x="263" y="298"/>
                  </a:lnTo>
                  <a:lnTo>
                    <a:pt x="261" y="300"/>
                  </a:lnTo>
                  <a:lnTo>
                    <a:pt x="259" y="302"/>
                  </a:lnTo>
                  <a:lnTo>
                    <a:pt x="257" y="304"/>
                  </a:lnTo>
                  <a:lnTo>
                    <a:pt x="254" y="302"/>
                  </a:lnTo>
                  <a:lnTo>
                    <a:pt x="248" y="302"/>
                  </a:lnTo>
                  <a:lnTo>
                    <a:pt x="246" y="300"/>
                  </a:lnTo>
                  <a:lnTo>
                    <a:pt x="238" y="295"/>
                  </a:lnTo>
                  <a:lnTo>
                    <a:pt x="213" y="283"/>
                  </a:lnTo>
                  <a:lnTo>
                    <a:pt x="212" y="281"/>
                  </a:lnTo>
                  <a:lnTo>
                    <a:pt x="212" y="281"/>
                  </a:lnTo>
                  <a:lnTo>
                    <a:pt x="210" y="279"/>
                  </a:lnTo>
                  <a:lnTo>
                    <a:pt x="210" y="279"/>
                  </a:lnTo>
                  <a:lnTo>
                    <a:pt x="210" y="279"/>
                  </a:lnTo>
                  <a:lnTo>
                    <a:pt x="210" y="278"/>
                  </a:lnTo>
                  <a:lnTo>
                    <a:pt x="210" y="274"/>
                  </a:lnTo>
                  <a:lnTo>
                    <a:pt x="210" y="272"/>
                  </a:lnTo>
                  <a:lnTo>
                    <a:pt x="208" y="270"/>
                  </a:lnTo>
                  <a:lnTo>
                    <a:pt x="206" y="268"/>
                  </a:lnTo>
                  <a:lnTo>
                    <a:pt x="206" y="268"/>
                  </a:lnTo>
                  <a:lnTo>
                    <a:pt x="204" y="268"/>
                  </a:lnTo>
                  <a:lnTo>
                    <a:pt x="204" y="264"/>
                  </a:lnTo>
                  <a:lnTo>
                    <a:pt x="204" y="262"/>
                  </a:lnTo>
                  <a:lnTo>
                    <a:pt x="206" y="260"/>
                  </a:lnTo>
                  <a:lnTo>
                    <a:pt x="206" y="257"/>
                  </a:lnTo>
                  <a:lnTo>
                    <a:pt x="208" y="257"/>
                  </a:lnTo>
                  <a:lnTo>
                    <a:pt x="208" y="257"/>
                  </a:lnTo>
                  <a:lnTo>
                    <a:pt x="210" y="255"/>
                  </a:lnTo>
                  <a:lnTo>
                    <a:pt x="210" y="253"/>
                  </a:lnTo>
                  <a:lnTo>
                    <a:pt x="210" y="253"/>
                  </a:lnTo>
                  <a:lnTo>
                    <a:pt x="210" y="251"/>
                  </a:lnTo>
                  <a:lnTo>
                    <a:pt x="212" y="251"/>
                  </a:lnTo>
                  <a:lnTo>
                    <a:pt x="212" y="251"/>
                  </a:lnTo>
                  <a:lnTo>
                    <a:pt x="213" y="249"/>
                  </a:lnTo>
                  <a:lnTo>
                    <a:pt x="213" y="247"/>
                  </a:lnTo>
                  <a:lnTo>
                    <a:pt x="213" y="245"/>
                  </a:lnTo>
                  <a:lnTo>
                    <a:pt x="213" y="241"/>
                  </a:lnTo>
                  <a:lnTo>
                    <a:pt x="212" y="241"/>
                  </a:lnTo>
                  <a:lnTo>
                    <a:pt x="212" y="241"/>
                  </a:lnTo>
                  <a:lnTo>
                    <a:pt x="212" y="240"/>
                  </a:lnTo>
                  <a:lnTo>
                    <a:pt x="217" y="238"/>
                  </a:lnTo>
                  <a:lnTo>
                    <a:pt x="219" y="238"/>
                  </a:lnTo>
                  <a:lnTo>
                    <a:pt x="219" y="238"/>
                  </a:lnTo>
                  <a:lnTo>
                    <a:pt x="221" y="238"/>
                  </a:lnTo>
                  <a:lnTo>
                    <a:pt x="223" y="240"/>
                  </a:lnTo>
                  <a:lnTo>
                    <a:pt x="223" y="241"/>
                  </a:lnTo>
                  <a:lnTo>
                    <a:pt x="223" y="243"/>
                  </a:lnTo>
                  <a:lnTo>
                    <a:pt x="225" y="243"/>
                  </a:lnTo>
                  <a:lnTo>
                    <a:pt x="229" y="245"/>
                  </a:lnTo>
                  <a:lnTo>
                    <a:pt x="231" y="245"/>
                  </a:lnTo>
                  <a:lnTo>
                    <a:pt x="231" y="245"/>
                  </a:lnTo>
                  <a:lnTo>
                    <a:pt x="233" y="241"/>
                  </a:lnTo>
                  <a:lnTo>
                    <a:pt x="236" y="238"/>
                  </a:lnTo>
                  <a:lnTo>
                    <a:pt x="236" y="236"/>
                  </a:lnTo>
                  <a:lnTo>
                    <a:pt x="238" y="232"/>
                  </a:lnTo>
                  <a:lnTo>
                    <a:pt x="240" y="230"/>
                  </a:lnTo>
                  <a:lnTo>
                    <a:pt x="240" y="226"/>
                  </a:lnTo>
                  <a:lnTo>
                    <a:pt x="242" y="220"/>
                  </a:lnTo>
                  <a:lnTo>
                    <a:pt x="242" y="215"/>
                  </a:lnTo>
                  <a:lnTo>
                    <a:pt x="242" y="213"/>
                  </a:lnTo>
                  <a:lnTo>
                    <a:pt x="246" y="211"/>
                  </a:lnTo>
                  <a:lnTo>
                    <a:pt x="246" y="213"/>
                  </a:lnTo>
                  <a:lnTo>
                    <a:pt x="250" y="213"/>
                  </a:lnTo>
                  <a:lnTo>
                    <a:pt x="252" y="215"/>
                  </a:lnTo>
                  <a:lnTo>
                    <a:pt x="254" y="215"/>
                  </a:lnTo>
                  <a:lnTo>
                    <a:pt x="254" y="215"/>
                  </a:lnTo>
                  <a:lnTo>
                    <a:pt x="254" y="215"/>
                  </a:lnTo>
                  <a:lnTo>
                    <a:pt x="255" y="213"/>
                  </a:lnTo>
                  <a:lnTo>
                    <a:pt x="255" y="213"/>
                  </a:lnTo>
                  <a:lnTo>
                    <a:pt x="257" y="213"/>
                  </a:lnTo>
                  <a:lnTo>
                    <a:pt x="259" y="213"/>
                  </a:lnTo>
                  <a:lnTo>
                    <a:pt x="263" y="213"/>
                  </a:lnTo>
                  <a:lnTo>
                    <a:pt x="269" y="215"/>
                  </a:lnTo>
                  <a:lnTo>
                    <a:pt x="274" y="215"/>
                  </a:lnTo>
                  <a:lnTo>
                    <a:pt x="274" y="215"/>
                  </a:lnTo>
                  <a:lnTo>
                    <a:pt x="276" y="213"/>
                  </a:lnTo>
                  <a:lnTo>
                    <a:pt x="276" y="211"/>
                  </a:lnTo>
                  <a:lnTo>
                    <a:pt x="276" y="211"/>
                  </a:lnTo>
                  <a:lnTo>
                    <a:pt x="278" y="211"/>
                  </a:lnTo>
                  <a:lnTo>
                    <a:pt x="278" y="213"/>
                  </a:lnTo>
                  <a:lnTo>
                    <a:pt x="284" y="215"/>
                  </a:lnTo>
                  <a:lnTo>
                    <a:pt x="286" y="215"/>
                  </a:lnTo>
                  <a:lnTo>
                    <a:pt x="286" y="213"/>
                  </a:lnTo>
                  <a:lnTo>
                    <a:pt x="288" y="213"/>
                  </a:lnTo>
                  <a:lnTo>
                    <a:pt x="288" y="211"/>
                  </a:lnTo>
                  <a:lnTo>
                    <a:pt x="288" y="209"/>
                  </a:lnTo>
                  <a:lnTo>
                    <a:pt x="288" y="209"/>
                  </a:lnTo>
                  <a:lnTo>
                    <a:pt x="288" y="207"/>
                  </a:lnTo>
                  <a:lnTo>
                    <a:pt x="292" y="205"/>
                  </a:lnTo>
                  <a:lnTo>
                    <a:pt x="292" y="203"/>
                  </a:lnTo>
                  <a:lnTo>
                    <a:pt x="292" y="203"/>
                  </a:lnTo>
                  <a:lnTo>
                    <a:pt x="292" y="201"/>
                  </a:lnTo>
                  <a:lnTo>
                    <a:pt x="292" y="201"/>
                  </a:lnTo>
                  <a:lnTo>
                    <a:pt x="288" y="201"/>
                  </a:lnTo>
                  <a:lnTo>
                    <a:pt x="284" y="201"/>
                  </a:lnTo>
                  <a:lnTo>
                    <a:pt x="284" y="200"/>
                  </a:lnTo>
                  <a:lnTo>
                    <a:pt x="282" y="200"/>
                  </a:lnTo>
                  <a:lnTo>
                    <a:pt x="280" y="198"/>
                  </a:lnTo>
                  <a:lnTo>
                    <a:pt x="280" y="198"/>
                  </a:lnTo>
                  <a:lnTo>
                    <a:pt x="278" y="198"/>
                  </a:lnTo>
                  <a:lnTo>
                    <a:pt x="276" y="196"/>
                  </a:lnTo>
                  <a:lnTo>
                    <a:pt x="276" y="194"/>
                  </a:lnTo>
                  <a:lnTo>
                    <a:pt x="276" y="194"/>
                  </a:lnTo>
                  <a:lnTo>
                    <a:pt x="276" y="192"/>
                  </a:lnTo>
                  <a:lnTo>
                    <a:pt x="274" y="192"/>
                  </a:lnTo>
                  <a:lnTo>
                    <a:pt x="274" y="190"/>
                  </a:lnTo>
                  <a:lnTo>
                    <a:pt x="276" y="186"/>
                  </a:lnTo>
                  <a:lnTo>
                    <a:pt x="276" y="184"/>
                  </a:lnTo>
                  <a:lnTo>
                    <a:pt x="276" y="184"/>
                  </a:lnTo>
                  <a:lnTo>
                    <a:pt x="274" y="182"/>
                  </a:lnTo>
                  <a:lnTo>
                    <a:pt x="274" y="181"/>
                  </a:lnTo>
                  <a:lnTo>
                    <a:pt x="273" y="181"/>
                  </a:lnTo>
                  <a:lnTo>
                    <a:pt x="271" y="179"/>
                  </a:lnTo>
                  <a:lnTo>
                    <a:pt x="271" y="181"/>
                  </a:lnTo>
                  <a:lnTo>
                    <a:pt x="269" y="182"/>
                  </a:lnTo>
                  <a:lnTo>
                    <a:pt x="269" y="182"/>
                  </a:lnTo>
                  <a:lnTo>
                    <a:pt x="267" y="181"/>
                  </a:lnTo>
                  <a:lnTo>
                    <a:pt x="267" y="182"/>
                  </a:lnTo>
                  <a:lnTo>
                    <a:pt x="265" y="182"/>
                  </a:lnTo>
                  <a:lnTo>
                    <a:pt x="265" y="182"/>
                  </a:lnTo>
                  <a:lnTo>
                    <a:pt x="265" y="184"/>
                  </a:lnTo>
                  <a:lnTo>
                    <a:pt x="263" y="184"/>
                  </a:lnTo>
                  <a:lnTo>
                    <a:pt x="261" y="184"/>
                  </a:lnTo>
                  <a:lnTo>
                    <a:pt x="257" y="182"/>
                  </a:lnTo>
                  <a:lnTo>
                    <a:pt x="255" y="181"/>
                  </a:lnTo>
                  <a:lnTo>
                    <a:pt x="252" y="181"/>
                  </a:lnTo>
                  <a:lnTo>
                    <a:pt x="250" y="181"/>
                  </a:lnTo>
                  <a:lnTo>
                    <a:pt x="250" y="181"/>
                  </a:lnTo>
                  <a:lnTo>
                    <a:pt x="250" y="179"/>
                  </a:lnTo>
                  <a:lnTo>
                    <a:pt x="246" y="177"/>
                  </a:lnTo>
                  <a:lnTo>
                    <a:pt x="246" y="175"/>
                  </a:lnTo>
                  <a:lnTo>
                    <a:pt x="242" y="173"/>
                  </a:lnTo>
                  <a:lnTo>
                    <a:pt x="240" y="171"/>
                  </a:lnTo>
                  <a:lnTo>
                    <a:pt x="240" y="165"/>
                  </a:lnTo>
                  <a:lnTo>
                    <a:pt x="238" y="162"/>
                  </a:lnTo>
                  <a:lnTo>
                    <a:pt x="231" y="158"/>
                  </a:lnTo>
                  <a:lnTo>
                    <a:pt x="225" y="152"/>
                  </a:lnTo>
                  <a:lnTo>
                    <a:pt x="223" y="150"/>
                  </a:lnTo>
                  <a:lnTo>
                    <a:pt x="219" y="150"/>
                  </a:lnTo>
                  <a:lnTo>
                    <a:pt x="217" y="152"/>
                  </a:lnTo>
                  <a:lnTo>
                    <a:pt x="215" y="152"/>
                  </a:lnTo>
                  <a:lnTo>
                    <a:pt x="213" y="152"/>
                  </a:lnTo>
                  <a:lnTo>
                    <a:pt x="212" y="152"/>
                  </a:lnTo>
                  <a:lnTo>
                    <a:pt x="212" y="150"/>
                  </a:lnTo>
                  <a:lnTo>
                    <a:pt x="212" y="148"/>
                  </a:lnTo>
                  <a:lnTo>
                    <a:pt x="210" y="146"/>
                  </a:lnTo>
                  <a:lnTo>
                    <a:pt x="210" y="146"/>
                  </a:lnTo>
                  <a:lnTo>
                    <a:pt x="210" y="144"/>
                  </a:lnTo>
                  <a:lnTo>
                    <a:pt x="210" y="144"/>
                  </a:lnTo>
                  <a:lnTo>
                    <a:pt x="208" y="139"/>
                  </a:lnTo>
                  <a:lnTo>
                    <a:pt x="208" y="139"/>
                  </a:lnTo>
                  <a:lnTo>
                    <a:pt x="210" y="139"/>
                  </a:lnTo>
                  <a:lnTo>
                    <a:pt x="210" y="137"/>
                  </a:lnTo>
                  <a:lnTo>
                    <a:pt x="212" y="131"/>
                  </a:lnTo>
                  <a:lnTo>
                    <a:pt x="213" y="127"/>
                  </a:lnTo>
                  <a:lnTo>
                    <a:pt x="215" y="125"/>
                  </a:lnTo>
                  <a:lnTo>
                    <a:pt x="215" y="123"/>
                  </a:lnTo>
                  <a:lnTo>
                    <a:pt x="215" y="123"/>
                  </a:lnTo>
                  <a:lnTo>
                    <a:pt x="215" y="123"/>
                  </a:lnTo>
                  <a:lnTo>
                    <a:pt x="215" y="122"/>
                  </a:lnTo>
                  <a:lnTo>
                    <a:pt x="215" y="122"/>
                  </a:lnTo>
                  <a:lnTo>
                    <a:pt x="213" y="122"/>
                  </a:lnTo>
                  <a:lnTo>
                    <a:pt x="215" y="120"/>
                  </a:lnTo>
                  <a:lnTo>
                    <a:pt x="215" y="120"/>
                  </a:lnTo>
                  <a:lnTo>
                    <a:pt x="215" y="116"/>
                  </a:lnTo>
                  <a:lnTo>
                    <a:pt x="217" y="116"/>
                  </a:lnTo>
                  <a:lnTo>
                    <a:pt x="219" y="114"/>
                  </a:lnTo>
                  <a:lnTo>
                    <a:pt x="221" y="112"/>
                  </a:lnTo>
                  <a:lnTo>
                    <a:pt x="221" y="112"/>
                  </a:lnTo>
                  <a:lnTo>
                    <a:pt x="221" y="110"/>
                  </a:lnTo>
                  <a:lnTo>
                    <a:pt x="223" y="110"/>
                  </a:lnTo>
                  <a:lnTo>
                    <a:pt x="225" y="110"/>
                  </a:lnTo>
                  <a:lnTo>
                    <a:pt x="231" y="108"/>
                  </a:lnTo>
                  <a:lnTo>
                    <a:pt x="231" y="108"/>
                  </a:lnTo>
                  <a:lnTo>
                    <a:pt x="233" y="106"/>
                  </a:lnTo>
                  <a:lnTo>
                    <a:pt x="233" y="103"/>
                  </a:lnTo>
                  <a:lnTo>
                    <a:pt x="233" y="101"/>
                  </a:lnTo>
                  <a:lnTo>
                    <a:pt x="234" y="99"/>
                  </a:lnTo>
                  <a:lnTo>
                    <a:pt x="234" y="97"/>
                  </a:lnTo>
                  <a:lnTo>
                    <a:pt x="240" y="95"/>
                  </a:lnTo>
                  <a:lnTo>
                    <a:pt x="240" y="93"/>
                  </a:lnTo>
                  <a:lnTo>
                    <a:pt x="240" y="93"/>
                  </a:lnTo>
                  <a:lnTo>
                    <a:pt x="242" y="93"/>
                  </a:lnTo>
                  <a:lnTo>
                    <a:pt x="242" y="93"/>
                  </a:lnTo>
                  <a:lnTo>
                    <a:pt x="242" y="93"/>
                  </a:lnTo>
                  <a:lnTo>
                    <a:pt x="244" y="93"/>
                  </a:lnTo>
                  <a:lnTo>
                    <a:pt x="244" y="93"/>
                  </a:lnTo>
                  <a:lnTo>
                    <a:pt x="246" y="93"/>
                  </a:lnTo>
                  <a:lnTo>
                    <a:pt x="248" y="93"/>
                  </a:lnTo>
                  <a:lnTo>
                    <a:pt x="248" y="91"/>
                  </a:lnTo>
                  <a:lnTo>
                    <a:pt x="246" y="85"/>
                  </a:lnTo>
                  <a:lnTo>
                    <a:pt x="244" y="84"/>
                  </a:lnTo>
                  <a:lnTo>
                    <a:pt x="242" y="82"/>
                  </a:lnTo>
                  <a:lnTo>
                    <a:pt x="236" y="82"/>
                  </a:lnTo>
                  <a:lnTo>
                    <a:pt x="234" y="80"/>
                  </a:lnTo>
                  <a:lnTo>
                    <a:pt x="233" y="80"/>
                  </a:lnTo>
                  <a:lnTo>
                    <a:pt x="233" y="80"/>
                  </a:lnTo>
                  <a:lnTo>
                    <a:pt x="233" y="84"/>
                  </a:lnTo>
                  <a:lnTo>
                    <a:pt x="233" y="84"/>
                  </a:lnTo>
                  <a:lnTo>
                    <a:pt x="231" y="84"/>
                  </a:lnTo>
                  <a:lnTo>
                    <a:pt x="231" y="82"/>
                  </a:lnTo>
                  <a:lnTo>
                    <a:pt x="231" y="80"/>
                  </a:lnTo>
                  <a:lnTo>
                    <a:pt x="231" y="78"/>
                  </a:lnTo>
                  <a:lnTo>
                    <a:pt x="233" y="76"/>
                  </a:lnTo>
                  <a:lnTo>
                    <a:pt x="234" y="70"/>
                  </a:lnTo>
                  <a:lnTo>
                    <a:pt x="234" y="68"/>
                  </a:lnTo>
                  <a:lnTo>
                    <a:pt x="236" y="66"/>
                  </a:lnTo>
                  <a:lnTo>
                    <a:pt x="236" y="65"/>
                  </a:lnTo>
                  <a:lnTo>
                    <a:pt x="238" y="66"/>
                  </a:lnTo>
                  <a:lnTo>
                    <a:pt x="238" y="68"/>
                  </a:lnTo>
                  <a:lnTo>
                    <a:pt x="238" y="70"/>
                  </a:lnTo>
                  <a:lnTo>
                    <a:pt x="238" y="72"/>
                  </a:lnTo>
                  <a:lnTo>
                    <a:pt x="240" y="74"/>
                  </a:lnTo>
                  <a:lnTo>
                    <a:pt x="242" y="74"/>
                  </a:lnTo>
                  <a:lnTo>
                    <a:pt x="244" y="76"/>
                  </a:lnTo>
                  <a:lnTo>
                    <a:pt x="246" y="76"/>
                  </a:lnTo>
                  <a:lnTo>
                    <a:pt x="246" y="78"/>
                  </a:lnTo>
                  <a:lnTo>
                    <a:pt x="248" y="78"/>
                  </a:lnTo>
                  <a:lnTo>
                    <a:pt x="248" y="80"/>
                  </a:lnTo>
                  <a:lnTo>
                    <a:pt x="250" y="80"/>
                  </a:lnTo>
                  <a:lnTo>
                    <a:pt x="252" y="82"/>
                  </a:lnTo>
                  <a:lnTo>
                    <a:pt x="254" y="82"/>
                  </a:lnTo>
                  <a:lnTo>
                    <a:pt x="255" y="82"/>
                  </a:lnTo>
                  <a:lnTo>
                    <a:pt x="255" y="82"/>
                  </a:lnTo>
                  <a:lnTo>
                    <a:pt x="257" y="84"/>
                  </a:lnTo>
                  <a:lnTo>
                    <a:pt x="257" y="84"/>
                  </a:lnTo>
                  <a:lnTo>
                    <a:pt x="257" y="85"/>
                  </a:lnTo>
                  <a:lnTo>
                    <a:pt x="259" y="85"/>
                  </a:lnTo>
                  <a:lnTo>
                    <a:pt x="259" y="85"/>
                  </a:lnTo>
                  <a:lnTo>
                    <a:pt x="261" y="87"/>
                  </a:lnTo>
                  <a:lnTo>
                    <a:pt x="261" y="87"/>
                  </a:lnTo>
                  <a:lnTo>
                    <a:pt x="261" y="89"/>
                  </a:lnTo>
                  <a:lnTo>
                    <a:pt x="261" y="89"/>
                  </a:lnTo>
                  <a:lnTo>
                    <a:pt x="263" y="89"/>
                  </a:lnTo>
                  <a:lnTo>
                    <a:pt x="263" y="89"/>
                  </a:lnTo>
                  <a:lnTo>
                    <a:pt x="263" y="91"/>
                  </a:lnTo>
                  <a:lnTo>
                    <a:pt x="263" y="93"/>
                  </a:lnTo>
                  <a:lnTo>
                    <a:pt x="265" y="93"/>
                  </a:lnTo>
                  <a:lnTo>
                    <a:pt x="267" y="95"/>
                  </a:lnTo>
                  <a:lnTo>
                    <a:pt x="267" y="95"/>
                  </a:lnTo>
                  <a:lnTo>
                    <a:pt x="267" y="97"/>
                  </a:lnTo>
                  <a:lnTo>
                    <a:pt x="265" y="99"/>
                  </a:lnTo>
                  <a:lnTo>
                    <a:pt x="261" y="101"/>
                  </a:lnTo>
                  <a:lnTo>
                    <a:pt x="261" y="101"/>
                  </a:lnTo>
                  <a:lnTo>
                    <a:pt x="263" y="103"/>
                  </a:lnTo>
                  <a:lnTo>
                    <a:pt x="271" y="99"/>
                  </a:lnTo>
                  <a:lnTo>
                    <a:pt x="274" y="101"/>
                  </a:lnTo>
                  <a:lnTo>
                    <a:pt x="274" y="103"/>
                  </a:lnTo>
                  <a:lnTo>
                    <a:pt x="274" y="104"/>
                  </a:lnTo>
                  <a:lnTo>
                    <a:pt x="276" y="106"/>
                  </a:lnTo>
                  <a:lnTo>
                    <a:pt x="278" y="106"/>
                  </a:lnTo>
                  <a:lnTo>
                    <a:pt x="278" y="106"/>
                  </a:lnTo>
                  <a:lnTo>
                    <a:pt x="280" y="103"/>
                  </a:lnTo>
                  <a:lnTo>
                    <a:pt x="282" y="101"/>
                  </a:lnTo>
                  <a:lnTo>
                    <a:pt x="284" y="101"/>
                  </a:lnTo>
                  <a:lnTo>
                    <a:pt x="290" y="106"/>
                  </a:lnTo>
                  <a:lnTo>
                    <a:pt x="292" y="106"/>
                  </a:lnTo>
                  <a:lnTo>
                    <a:pt x="295" y="106"/>
                  </a:lnTo>
                  <a:lnTo>
                    <a:pt x="297" y="104"/>
                  </a:lnTo>
                  <a:lnTo>
                    <a:pt x="297" y="103"/>
                  </a:lnTo>
                  <a:lnTo>
                    <a:pt x="295" y="103"/>
                  </a:lnTo>
                  <a:lnTo>
                    <a:pt x="295" y="103"/>
                  </a:lnTo>
                  <a:lnTo>
                    <a:pt x="294" y="101"/>
                  </a:lnTo>
                  <a:lnTo>
                    <a:pt x="295" y="99"/>
                  </a:lnTo>
                  <a:lnTo>
                    <a:pt x="294" y="99"/>
                  </a:lnTo>
                  <a:lnTo>
                    <a:pt x="294" y="101"/>
                  </a:lnTo>
                  <a:lnTo>
                    <a:pt x="292" y="99"/>
                  </a:lnTo>
                  <a:lnTo>
                    <a:pt x="292" y="99"/>
                  </a:lnTo>
                  <a:lnTo>
                    <a:pt x="290" y="95"/>
                  </a:lnTo>
                  <a:lnTo>
                    <a:pt x="288" y="95"/>
                  </a:lnTo>
                  <a:lnTo>
                    <a:pt x="286" y="93"/>
                  </a:lnTo>
                  <a:lnTo>
                    <a:pt x="284" y="91"/>
                  </a:lnTo>
                  <a:lnTo>
                    <a:pt x="284" y="89"/>
                  </a:lnTo>
                  <a:lnTo>
                    <a:pt x="284" y="87"/>
                  </a:lnTo>
                  <a:lnTo>
                    <a:pt x="286" y="85"/>
                  </a:lnTo>
                  <a:lnTo>
                    <a:pt x="286" y="85"/>
                  </a:lnTo>
                  <a:lnTo>
                    <a:pt x="288" y="84"/>
                  </a:lnTo>
                  <a:lnTo>
                    <a:pt x="290" y="85"/>
                  </a:lnTo>
                  <a:lnTo>
                    <a:pt x="290" y="85"/>
                  </a:lnTo>
                  <a:lnTo>
                    <a:pt x="292" y="87"/>
                  </a:lnTo>
                  <a:lnTo>
                    <a:pt x="292" y="87"/>
                  </a:lnTo>
                  <a:lnTo>
                    <a:pt x="294" y="89"/>
                  </a:lnTo>
                  <a:lnTo>
                    <a:pt x="295" y="89"/>
                  </a:lnTo>
                  <a:lnTo>
                    <a:pt x="295" y="89"/>
                  </a:lnTo>
                  <a:lnTo>
                    <a:pt x="297" y="91"/>
                  </a:lnTo>
                  <a:lnTo>
                    <a:pt x="299" y="91"/>
                  </a:lnTo>
                  <a:lnTo>
                    <a:pt x="299" y="93"/>
                  </a:lnTo>
                  <a:lnTo>
                    <a:pt x="299" y="93"/>
                  </a:lnTo>
                  <a:lnTo>
                    <a:pt x="299" y="93"/>
                  </a:lnTo>
                  <a:lnTo>
                    <a:pt x="301" y="95"/>
                  </a:lnTo>
                  <a:lnTo>
                    <a:pt x="303" y="95"/>
                  </a:lnTo>
                  <a:lnTo>
                    <a:pt x="303" y="97"/>
                  </a:lnTo>
                  <a:lnTo>
                    <a:pt x="303" y="97"/>
                  </a:lnTo>
                  <a:lnTo>
                    <a:pt x="303" y="97"/>
                  </a:lnTo>
                  <a:lnTo>
                    <a:pt x="301" y="97"/>
                  </a:lnTo>
                  <a:lnTo>
                    <a:pt x="299" y="97"/>
                  </a:lnTo>
                  <a:lnTo>
                    <a:pt x="299" y="101"/>
                  </a:lnTo>
                  <a:lnTo>
                    <a:pt x="301" y="103"/>
                  </a:lnTo>
                  <a:lnTo>
                    <a:pt x="303" y="104"/>
                  </a:lnTo>
                  <a:lnTo>
                    <a:pt x="303" y="106"/>
                  </a:lnTo>
                  <a:lnTo>
                    <a:pt x="305" y="112"/>
                  </a:lnTo>
                  <a:lnTo>
                    <a:pt x="305" y="114"/>
                  </a:lnTo>
                  <a:lnTo>
                    <a:pt x="305" y="116"/>
                  </a:lnTo>
                  <a:lnTo>
                    <a:pt x="313" y="118"/>
                  </a:lnTo>
                  <a:lnTo>
                    <a:pt x="313" y="120"/>
                  </a:lnTo>
                  <a:lnTo>
                    <a:pt x="314" y="122"/>
                  </a:lnTo>
                  <a:lnTo>
                    <a:pt x="314" y="123"/>
                  </a:lnTo>
                  <a:lnTo>
                    <a:pt x="316" y="123"/>
                  </a:lnTo>
                  <a:lnTo>
                    <a:pt x="318" y="125"/>
                  </a:lnTo>
                  <a:lnTo>
                    <a:pt x="322" y="127"/>
                  </a:lnTo>
                  <a:lnTo>
                    <a:pt x="322" y="129"/>
                  </a:lnTo>
                  <a:lnTo>
                    <a:pt x="324" y="129"/>
                  </a:lnTo>
                  <a:lnTo>
                    <a:pt x="326" y="129"/>
                  </a:lnTo>
                  <a:lnTo>
                    <a:pt x="328" y="129"/>
                  </a:lnTo>
                  <a:lnTo>
                    <a:pt x="330" y="127"/>
                  </a:lnTo>
                  <a:lnTo>
                    <a:pt x="330" y="127"/>
                  </a:lnTo>
                  <a:lnTo>
                    <a:pt x="332" y="129"/>
                  </a:lnTo>
                  <a:lnTo>
                    <a:pt x="332" y="131"/>
                  </a:lnTo>
                  <a:lnTo>
                    <a:pt x="332" y="131"/>
                  </a:lnTo>
                  <a:lnTo>
                    <a:pt x="334" y="131"/>
                  </a:lnTo>
                  <a:lnTo>
                    <a:pt x="334" y="129"/>
                  </a:lnTo>
                  <a:lnTo>
                    <a:pt x="334" y="129"/>
                  </a:lnTo>
                  <a:lnTo>
                    <a:pt x="334" y="129"/>
                  </a:lnTo>
                  <a:lnTo>
                    <a:pt x="337" y="129"/>
                  </a:lnTo>
                  <a:lnTo>
                    <a:pt x="339" y="129"/>
                  </a:lnTo>
                  <a:lnTo>
                    <a:pt x="339" y="129"/>
                  </a:lnTo>
                  <a:lnTo>
                    <a:pt x="339" y="129"/>
                  </a:lnTo>
                  <a:lnTo>
                    <a:pt x="341" y="133"/>
                  </a:lnTo>
                  <a:lnTo>
                    <a:pt x="341" y="133"/>
                  </a:lnTo>
                  <a:lnTo>
                    <a:pt x="343" y="133"/>
                  </a:lnTo>
                  <a:lnTo>
                    <a:pt x="343" y="133"/>
                  </a:lnTo>
                  <a:lnTo>
                    <a:pt x="345" y="133"/>
                  </a:lnTo>
                  <a:lnTo>
                    <a:pt x="345" y="131"/>
                  </a:lnTo>
                  <a:lnTo>
                    <a:pt x="345" y="129"/>
                  </a:lnTo>
                  <a:lnTo>
                    <a:pt x="345" y="127"/>
                  </a:lnTo>
                  <a:lnTo>
                    <a:pt x="349" y="123"/>
                  </a:lnTo>
                  <a:lnTo>
                    <a:pt x="351" y="122"/>
                  </a:lnTo>
                  <a:lnTo>
                    <a:pt x="349" y="122"/>
                  </a:lnTo>
                  <a:lnTo>
                    <a:pt x="349" y="122"/>
                  </a:lnTo>
                  <a:lnTo>
                    <a:pt x="347" y="122"/>
                  </a:lnTo>
                  <a:lnTo>
                    <a:pt x="347" y="120"/>
                  </a:lnTo>
                  <a:lnTo>
                    <a:pt x="347" y="120"/>
                  </a:lnTo>
                  <a:lnTo>
                    <a:pt x="347" y="118"/>
                  </a:lnTo>
                  <a:lnTo>
                    <a:pt x="349" y="118"/>
                  </a:lnTo>
                  <a:lnTo>
                    <a:pt x="349" y="118"/>
                  </a:lnTo>
                  <a:lnTo>
                    <a:pt x="347" y="118"/>
                  </a:lnTo>
                  <a:lnTo>
                    <a:pt x="347" y="116"/>
                  </a:lnTo>
                  <a:lnTo>
                    <a:pt x="345" y="114"/>
                  </a:lnTo>
                  <a:lnTo>
                    <a:pt x="347" y="114"/>
                  </a:lnTo>
                  <a:lnTo>
                    <a:pt x="347" y="112"/>
                  </a:lnTo>
                  <a:lnTo>
                    <a:pt x="349" y="112"/>
                  </a:lnTo>
                  <a:lnTo>
                    <a:pt x="349" y="112"/>
                  </a:lnTo>
                  <a:lnTo>
                    <a:pt x="351" y="112"/>
                  </a:lnTo>
                  <a:lnTo>
                    <a:pt x="351" y="112"/>
                  </a:lnTo>
                  <a:lnTo>
                    <a:pt x="351" y="110"/>
                  </a:lnTo>
                  <a:lnTo>
                    <a:pt x="349" y="108"/>
                  </a:lnTo>
                  <a:lnTo>
                    <a:pt x="351" y="106"/>
                  </a:lnTo>
                  <a:lnTo>
                    <a:pt x="353" y="106"/>
                  </a:lnTo>
                  <a:lnTo>
                    <a:pt x="354" y="106"/>
                  </a:lnTo>
                  <a:lnTo>
                    <a:pt x="354" y="108"/>
                  </a:lnTo>
                  <a:lnTo>
                    <a:pt x="354" y="110"/>
                  </a:lnTo>
                  <a:lnTo>
                    <a:pt x="356" y="110"/>
                  </a:lnTo>
                  <a:lnTo>
                    <a:pt x="358" y="108"/>
                  </a:lnTo>
                  <a:lnTo>
                    <a:pt x="360" y="108"/>
                  </a:lnTo>
                  <a:lnTo>
                    <a:pt x="362" y="108"/>
                  </a:lnTo>
                  <a:lnTo>
                    <a:pt x="362" y="106"/>
                  </a:lnTo>
                  <a:lnTo>
                    <a:pt x="362" y="106"/>
                  </a:lnTo>
                  <a:lnTo>
                    <a:pt x="362" y="104"/>
                  </a:lnTo>
                  <a:lnTo>
                    <a:pt x="362" y="104"/>
                  </a:lnTo>
                  <a:lnTo>
                    <a:pt x="362" y="104"/>
                  </a:lnTo>
                  <a:lnTo>
                    <a:pt x="362" y="103"/>
                  </a:lnTo>
                  <a:lnTo>
                    <a:pt x="364" y="103"/>
                  </a:lnTo>
                  <a:lnTo>
                    <a:pt x="366" y="99"/>
                  </a:lnTo>
                  <a:lnTo>
                    <a:pt x="366" y="99"/>
                  </a:lnTo>
                  <a:lnTo>
                    <a:pt x="366" y="99"/>
                  </a:lnTo>
                  <a:lnTo>
                    <a:pt x="368" y="97"/>
                  </a:lnTo>
                  <a:lnTo>
                    <a:pt x="370" y="97"/>
                  </a:lnTo>
                  <a:lnTo>
                    <a:pt x="370" y="95"/>
                  </a:lnTo>
                  <a:lnTo>
                    <a:pt x="370" y="95"/>
                  </a:lnTo>
                  <a:lnTo>
                    <a:pt x="370" y="95"/>
                  </a:lnTo>
                  <a:lnTo>
                    <a:pt x="370" y="93"/>
                  </a:lnTo>
                  <a:lnTo>
                    <a:pt x="370" y="93"/>
                  </a:lnTo>
                  <a:lnTo>
                    <a:pt x="370" y="93"/>
                  </a:lnTo>
                  <a:lnTo>
                    <a:pt x="370" y="93"/>
                  </a:lnTo>
                  <a:lnTo>
                    <a:pt x="370" y="91"/>
                  </a:lnTo>
                  <a:lnTo>
                    <a:pt x="372" y="91"/>
                  </a:lnTo>
                  <a:lnTo>
                    <a:pt x="372" y="91"/>
                  </a:lnTo>
                  <a:lnTo>
                    <a:pt x="372" y="91"/>
                  </a:lnTo>
                  <a:lnTo>
                    <a:pt x="372" y="84"/>
                  </a:lnTo>
                  <a:lnTo>
                    <a:pt x="374" y="82"/>
                  </a:lnTo>
                  <a:lnTo>
                    <a:pt x="374" y="78"/>
                  </a:lnTo>
                  <a:lnTo>
                    <a:pt x="374" y="78"/>
                  </a:lnTo>
                  <a:lnTo>
                    <a:pt x="374" y="78"/>
                  </a:lnTo>
                  <a:lnTo>
                    <a:pt x="374" y="78"/>
                  </a:lnTo>
                  <a:lnTo>
                    <a:pt x="375" y="74"/>
                  </a:lnTo>
                  <a:lnTo>
                    <a:pt x="375" y="65"/>
                  </a:lnTo>
                  <a:close/>
                </a:path>
              </a:pathLst>
            </a:custGeom>
            <a:solidFill>
              <a:schemeClr val="tx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59" name="Freeform 8">
              <a:extLst>
                <a:ext uri="{FF2B5EF4-FFF2-40B4-BE49-F238E27FC236}">
                  <a16:creationId xmlns:a16="http://schemas.microsoft.com/office/drawing/2014/main" id="{0275B6E3-43C4-4E90-855C-192B9221D943}"/>
                </a:ext>
              </a:extLst>
            </p:cNvPr>
            <p:cNvSpPr>
              <a:spLocks/>
            </p:cNvSpPr>
            <p:nvPr/>
          </p:nvSpPr>
          <p:spPr bwMode="auto">
            <a:xfrm>
              <a:off x="2649302" y="2220612"/>
              <a:ext cx="599917" cy="485469"/>
            </a:xfrm>
            <a:custGeom>
              <a:avLst/>
              <a:gdLst>
                <a:gd name="T0" fmla="*/ 293 w 318"/>
                <a:gd name="T1" fmla="*/ 112 h 287"/>
                <a:gd name="T2" fmla="*/ 272 w 318"/>
                <a:gd name="T3" fmla="*/ 104 h 287"/>
                <a:gd name="T4" fmla="*/ 244 w 318"/>
                <a:gd name="T5" fmla="*/ 89 h 287"/>
                <a:gd name="T6" fmla="*/ 242 w 318"/>
                <a:gd name="T7" fmla="*/ 80 h 287"/>
                <a:gd name="T8" fmla="*/ 240 w 318"/>
                <a:gd name="T9" fmla="*/ 68 h 287"/>
                <a:gd name="T10" fmla="*/ 219 w 318"/>
                <a:gd name="T11" fmla="*/ 61 h 287"/>
                <a:gd name="T12" fmla="*/ 202 w 318"/>
                <a:gd name="T13" fmla="*/ 49 h 287"/>
                <a:gd name="T14" fmla="*/ 183 w 318"/>
                <a:gd name="T15" fmla="*/ 51 h 287"/>
                <a:gd name="T16" fmla="*/ 177 w 318"/>
                <a:gd name="T17" fmla="*/ 45 h 287"/>
                <a:gd name="T18" fmla="*/ 168 w 318"/>
                <a:gd name="T19" fmla="*/ 38 h 287"/>
                <a:gd name="T20" fmla="*/ 158 w 318"/>
                <a:gd name="T21" fmla="*/ 26 h 287"/>
                <a:gd name="T22" fmla="*/ 152 w 318"/>
                <a:gd name="T23" fmla="*/ 17 h 287"/>
                <a:gd name="T24" fmla="*/ 150 w 318"/>
                <a:gd name="T25" fmla="*/ 9 h 287"/>
                <a:gd name="T26" fmla="*/ 139 w 318"/>
                <a:gd name="T27" fmla="*/ 0 h 287"/>
                <a:gd name="T28" fmla="*/ 124 w 318"/>
                <a:gd name="T29" fmla="*/ 11 h 287"/>
                <a:gd name="T30" fmla="*/ 131 w 318"/>
                <a:gd name="T31" fmla="*/ 30 h 287"/>
                <a:gd name="T32" fmla="*/ 116 w 318"/>
                <a:gd name="T33" fmla="*/ 28 h 287"/>
                <a:gd name="T34" fmla="*/ 101 w 318"/>
                <a:gd name="T35" fmla="*/ 22 h 287"/>
                <a:gd name="T36" fmla="*/ 86 w 318"/>
                <a:gd name="T37" fmla="*/ 22 h 287"/>
                <a:gd name="T38" fmla="*/ 76 w 318"/>
                <a:gd name="T39" fmla="*/ 15 h 287"/>
                <a:gd name="T40" fmla="*/ 57 w 318"/>
                <a:gd name="T41" fmla="*/ 19 h 287"/>
                <a:gd name="T42" fmla="*/ 34 w 318"/>
                <a:gd name="T43" fmla="*/ 28 h 287"/>
                <a:gd name="T44" fmla="*/ 23 w 318"/>
                <a:gd name="T45" fmla="*/ 45 h 287"/>
                <a:gd name="T46" fmla="*/ 17 w 318"/>
                <a:gd name="T47" fmla="*/ 49 h 287"/>
                <a:gd name="T48" fmla="*/ 19 w 318"/>
                <a:gd name="T49" fmla="*/ 61 h 287"/>
                <a:gd name="T50" fmla="*/ 13 w 318"/>
                <a:gd name="T51" fmla="*/ 72 h 287"/>
                <a:gd name="T52" fmla="*/ 19 w 318"/>
                <a:gd name="T53" fmla="*/ 87 h 287"/>
                <a:gd name="T54" fmla="*/ 23 w 318"/>
                <a:gd name="T55" fmla="*/ 95 h 287"/>
                <a:gd name="T56" fmla="*/ 11 w 318"/>
                <a:gd name="T57" fmla="*/ 104 h 287"/>
                <a:gd name="T58" fmla="*/ 2 w 318"/>
                <a:gd name="T59" fmla="*/ 112 h 287"/>
                <a:gd name="T60" fmla="*/ 36 w 318"/>
                <a:gd name="T61" fmla="*/ 129 h 287"/>
                <a:gd name="T62" fmla="*/ 17 w 318"/>
                <a:gd name="T63" fmla="*/ 161 h 287"/>
                <a:gd name="T64" fmla="*/ 36 w 318"/>
                <a:gd name="T65" fmla="*/ 182 h 287"/>
                <a:gd name="T66" fmla="*/ 57 w 318"/>
                <a:gd name="T67" fmla="*/ 184 h 287"/>
                <a:gd name="T68" fmla="*/ 57 w 318"/>
                <a:gd name="T69" fmla="*/ 157 h 287"/>
                <a:gd name="T70" fmla="*/ 74 w 318"/>
                <a:gd name="T71" fmla="*/ 177 h 287"/>
                <a:gd name="T72" fmla="*/ 114 w 318"/>
                <a:gd name="T73" fmla="*/ 211 h 287"/>
                <a:gd name="T74" fmla="*/ 118 w 318"/>
                <a:gd name="T75" fmla="*/ 222 h 287"/>
                <a:gd name="T76" fmla="*/ 112 w 318"/>
                <a:gd name="T77" fmla="*/ 224 h 287"/>
                <a:gd name="T78" fmla="*/ 107 w 318"/>
                <a:gd name="T79" fmla="*/ 226 h 287"/>
                <a:gd name="T80" fmla="*/ 124 w 318"/>
                <a:gd name="T81" fmla="*/ 241 h 287"/>
                <a:gd name="T82" fmla="*/ 145 w 318"/>
                <a:gd name="T83" fmla="*/ 247 h 287"/>
                <a:gd name="T84" fmla="*/ 164 w 318"/>
                <a:gd name="T85" fmla="*/ 262 h 287"/>
                <a:gd name="T86" fmla="*/ 171 w 318"/>
                <a:gd name="T87" fmla="*/ 268 h 287"/>
                <a:gd name="T88" fmla="*/ 188 w 318"/>
                <a:gd name="T89" fmla="*/ 275 h 287"/>
                <a:gd name="T90" fmla="*/ 202 w 318"/>
                <a:gd name="T91" fmla="*/ 272 h 287"/>
                <a:gd name="T92" fmla="*/ 209 w 318"/>
                <a:gd name="T93" fmla="*/ 279 h 287"/>
                <a:gd name="T94" fmla="*/ 215 w 318"/>
                <a:gd name="T95" fmla="*/ 283 h 287"/>
                <a:gd name="T96" fmla="*/ 221 w 318"/>
                <a:gd name="T97" fmla="*/ 287 h 287"/>
                <a:gd name="T98" fmla="*/ 230 w 318"/>
                <a:gd name="T99" fmla="*/ 279 h 287"/>
                <a:gd name="T100" fmla="*/ 230 w 318"/>
                <a:gd name="T101" fmla="*/ 264 h 287"/>
                <a:gd name="T102" fmla="*/ 236 w 318"/>
                <a:gd name="T103" fmla="*/ 247 h 287"/>
                <a:gd name="T104" fmla="*/ 246 w 318"/>
                <a:gd name="T105" fmla="*/ 237 h 287"/>
                <a:gd name="T106" fmla="*/ 249 w 318"/>
                <a:gd name="T107" fmla="*/ 226 h 287"/>
                <a:gd name="T108" fmla="*/ 249 w 318"/>
                <a:gd name="T109" fmla="*/ 211 h 287"/>
                <a:gd name="T110" fmla="*/ 255 w 318"/>
                <a:gd name="T111" fmla="*/ 205 h 287"/>
                <a:gd name="T112" fmla="*/ 257 w 318"/>
                <a:gd name="T113" fmla="*/ 199 h 287"/>
                <a:gd name="T114" fmla="*/ 259 w 318"/>
                <a:gd name="T115" fmla="*/ 178 h 287"/>
                <a:gd name="T116" fmla="*/ 278 w 318"/>
                <a:gd name="T117" fmla="*/ 157 h 287"/>
                <a:gd name="T118" fmla="*/ 295 w 318"/>
                <a:gd name="T119" fmla="*/ 144 h 287"/>
                <a:gd name="T120" fmla="*/ 309 w 318"/>
                <a:gd name="T121" fmla="*/ 135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8" h="287">
                  <a:moveTo>
                    <a:pt x="316" y="129"/>
                  </a:moveTo>
                  <a:lnTo>
                    <a:pt x="314" y="125"/>
                  </a:lnTo>
                  <a:lnTo>
                    <a:pt x="312" y="123"/>
                  </a:lnTo>
                  <a:lnTo>
                    <a:pt x="305" y="121"/>
                  </a:lnTo>
                  <a:lnTo>
                    <a:pt x="297" y="119"/>
                  </a:lnTo>
                  <a:lnTo>
                    <a:pt x="295" y="118"/>
                  </a:lnTo>
                  <a:lnTo>
                    <a:pt x="295" y="116"/>
                  </a:lnTo>
                  <a:lnTo>
                    <a:pt x="293" y="112"/>
                  </a:lnTo>
                  <a:lnTo>
                    <a:pt x="291" y="112"/>
                  </a:lnTo>
                  <a:lnTo>
                    <a:pt x="289" y="110"/>
                  </a:lnTo>
                  <a:lnTo>
                    <a:pt x="280" y="104"/>
                  </a:lnTo>
                  <a:lnTo>
                    <a:pt x="278" y="102"/>
                  </a:lnTo>
                  <a:lnTo>
                    <a:pt x="276" y="104"/>
                  </a:lnTo>
                  <a:lnTo>
                    <a:pt x="274" y="104"/>
                  </a:lnTo>
                  <a:lnTo>
                    <a:pt x="274" y="104"/>
                  </a:lnTo>
                  <a:lnTo>
                    <a:pt x="272" y="104"/>
                  </a:lnTo>
                  <a:lnTo>
                    <a:pt x="269" y="102"/>
                  </a:lnTo>
                  <a:lnTo>
                    <a:pt x="265" y="100"/>
                  </a:lnTo>
                  <a:lnTo>
                    <a:pt x="255" y="95"/>
                  </a:lnTo>
                  <a:lnTo>
                    <a:pt x="248" y="93"/>
                  </a:lnTo>
                  <a:lnTo>
                    <a:pt x="246" y="93"/>
                  </a:lnTo>
                  <a:lnTo>
                    <a:pt x="242" y="93"/>
                  </a:lnTo>
                  <a:lnTo>
                    <a:pt x="242" y="91"/>
                  </a:lnTo>
                  <a:lnTo>
                    <a:pt x="244" y="89"/>
                  </a:lnTo>
                  <a:lnTo>
                    <a:pt x="244" y="89"/>
                  </a:lnTo>
                  <a:lnTo>
                    <a:pt x="244" y="85"/>
                  </a:lnTo>
                  <a:lnTo>
                    <a:pt x="242" y="85"/>
                  </a:lnTo>
                  <a:lnTo>
                    <a:pt x="242" y="83"/>
                  </a:lnTo>
                  <a:lnTo>
                    <a:pt x="240" y="81"/>
                  </a:lnTo>
                  <a:lnTo>
                    <a:pt x="240" y="81"/>
                  </a:lnTo>
                  <a:lnTo>
                    <a:pt x="240" y="80"/>
                  </a:lnTo>
                  <a:lnTo>
                    <a:pt x="242" y="80"/>
                  </a:lnTo>
                  <a:lnTo>
                    <a:pt x="242" y="80"/>
                  </a:lnTo>
                  <a:lnTo>
                    <a:pt x="244" y="80"/>
                  </a:lnTo>
                  <a:lnTo>
                    <a:pt x="244" y="80"/>
                  </a:lnTo>
                  <a:lnTo>
                    <a:pt x="246" y="76"/>
                  </a:lnTo>
                  <a:lnTo>
                    <a:pt x="246" y="74"/>
                  </a:lnTo>
                  <a:lnTo>
                    <a:pt x="244" y="74"/>
                  </a:lnTo>
                  <a:lnTo>
                    <a:pt x="240" y="70"/>
                  </a:lnTo>
                  <a:lnTo>
                    <a:pt x="240" y="68"/>
                  </a:lnTo>
                  <a:lnTo>
                    <a:pt x="238" y="68"/>
                  </a:lnTo>
                  <a:lnTo>
                    <a:pt x="234" y="70"/>
                  </a:lnTo>
                  <a:lnTo>
                    <a:pt x="234" y="70"/>
                  </a:lnTo>
                  <a:lnTo>
                    <a:pt x="230" y="70"/>
                  </a:lnTo>
                  <a:lnTo>
                    <a:pt x="229" y="66"/>
                  </a:lnTo>
                  <a:lnTo>
                    <a:pt x="227" y="64"/>
                  </a:lnTo>
                  <a:lnTo>
                    <a:pt x="225" y="62"/>
                  </a:lnTo>
                  <a:lnTo>
                    <a:pt x="219" y="61"/>
                  </a:lnTo>
                  <a:lnTo>
                    <a:pt x="217" y="59"/>
                  </a:lnTo>
                  <a:lnTo>
                    <a:pt x="217" y="59"/>
                  </a:lnTo>
                  <a:lnTo>
                    <a:pt x="215" y="59"/>
                  </a:lnTo>
                  <a:lnTo>
                    <a:pt x="213" y="55"/>
                  </a:lnTo>
                  <a:lnTo>
                    <a:pt x="211" y="53"/>
                  </a:lnTo>
                  <a:lnTo>
                    <a:pt x="211" y="51"/>
                  </a:lnTo>
                  <a:lnTo>
                    <a:pt x="209" y="51"/>
                  </a:lnTo>
                  <a:lnTo>
                    <a:pt x="202" y="49"/>
                  </a:lnTo>
                  <a:lnTo>
                    <a:pt x="200" y="49"/>
                  </a:lnTo>
                  <a:lnTo>
                    <a:pt x="196" y="49"/>
                  </a:lnTo>
                  <a:lnTo>
                    <a:pt x="192" y="49"/>
                  </a:lnTo>
                  <a:lnTo>
                    <a:pt x="190" y="51"/>
                  </a:lnTo>
                  <a:lnTo>
                    <a:pt x="187" y="53"/>
                  </a:lnTo>
                  <a:lnTo>
                    <a:pt x="187" y="53"/>
                  </a:lnTo>
                  <a:lnTo>
                    <a:pt x="185" y="53"/>
                  </a:lnTo>
                  <a:lnTo>
                    <a:pt x="183" y="51"/>
                  </a:lnTo>
                  <a:lnTo>
                    <a:pt x="181" y="51"/>
                  </a:lnTo>
                  <a:lnTo>
                    <a:pt x="179" y="49"/>
                  </a:lnTo>
                  <a:lnTo>
                    <a:pt x="179" y="47"/>
                  </a:lnTo>
                  <a:lnTo>
                    <a:pt x="177" y="47"/>
                  </a:lnTo>
                  <a:lnTo>
                    <a:pt x="177" y="45"/>
                  </a:lnTo>
                  <a:lnTo>
                    <a:pt x="177" y="45"/>
                  </a:lnTo>
                  <a:lnTo>
                    <a:pt x="177" y="45"/>
                  </a:lnTo>
                  <a:lnTo>
                    <a:pt x="177" y="45"/>
                  </a:lnTo>
                  <a:lnTo>
                    <a:pt x="175" y="43"/>
                  </a:lnTo>
                  <a:lnTo>
                    <a:pt x="173" y="43"/>
                  </a:lnTo>
                  <a:lnTo>
                    <a:pt x="171" y="43"/>
                  </a:lnTo>
                  <a:lnTo>
                    <a:pt x="171" y="43"/>
                  </a:lnTo>
                  <a:lnTo>
                    <a:pt x="169" y="43"/>
                  </a:lnTo>
                  <a:lnTo>
                    <a:pt x="169" y="41"/>
                  </a:lnTo>
                  <a:lnTo>
                    <a:pt x="168" y="38"/>
                  </a:lnTo>
                  <a:lnTo>
                    <a:pt x="168" y="38"/>
                  </a:lnTo>
                  <a:lnTo>
                    <a:pt x="168" y="36"/>
                  </a:lnTo>
                  <a:lnTo>
                    <a:pt x="164" y="34"/>
                  </a:lnTo>
                  <a:lnTo>
                    <a:pt x="162" y="34"/>
                  </a:lnTo>
                  <a:lnTo>
                    <a:pt x="160" y="32"/>
                  </a:lnTo>
                  <a:lnTo>
                    <a:pt x="158" y="32"/>
                  </a:lnTo>
                  <a:lnTo>
                    <a:pt x="158" y="30"/>
                  </a:lnTo>
                  <a:lnTo>
                    <a:pt x="158" y="28"/>
                  </a:lnTo>
                  <a:lnTo>
                    <a:pt x="158" y="26"/>
                  </a:lnTo>
                  <a:lnTo>
                    <a:pt x="158" y="22"/>
                  </a:lnTo>
                  <a:lnTo>
                    <a:pt x="156" y="22"/>
                  </a:lnTo>
                  <a:lnTo>
                    <a:pt x="154" y="22"/>
                  </a:lnTo>
                  <a:lnTo>
                    <a:pt x="152" y="21"/>
                  </a:lnTo>
                  <a:lnTo>
                    <a:pt x="152" y="21"/>
                  </a:lnTo>
                  <a:lnTo>
                    <a:pt x="152" y="19"/>
                  </a:lnTo>
                  <a:lnTo>
                    <a:pt x="152" y="19"/>
                  </a:lnTo>
                  <a:lnTo>
                    <a:pt x="152" y="17"/>
                  </a:lnTo>
                  <a:lnTo>
                    <a:pt x="152" y="17"/>
                  </a:lnTo>
                  <a:lnTo>
                    <a:pt x="150" y="15"/>
                  </a:lnTo>
                  <a:lnTo>
                    <a:pt x="150" y="15"/>
                  </a:lnTo>
                  <a:lnTo>
                    <a:pt x="150" y="13"/>
                  </a:lnTo>
                  <a:lnTo>
                    <a:pt x="150" y="13"/>
                  </a:lnTo>
                  <a:lnTo>
                    <a:pt x="150" y="11"/>
                  </a:lnTo>
                  <a:lnTo>
                    <a:pt x="150" y="9"/>
                  </a:lnTo>
                  <a:lnTo>
                    <a:pt x="150" y="9"/>
                  </a:lnTo>
                  <a:lnTo>
                    <a:pt x="148" y="9"/>
                  </a:lnTo>
                  <a:lnTo>
                    <a:pt x="147" y="9"/>
                  </a:lnTo>
                  <a:lnTo>
                    <a:pt x="147" y="7"/>
                  </a:lnTo>
                  <a:lnTo>
                    <a:pt x="147" y="5"/>
                  </a:lnTo>
                  <a:lnTo>
                    <a:pt x="145" y="3"/>
                  </a:lnTo>
                  <a:lnTo>
                    <a:pt x="143" y="2"/>
                  </a:lnTo>
                  <a:lnTo>
                    <a:pt x="139" y="0"/>
                  </a:lnTo>
                  <a:lnTo>
                    <a:pt x="139" y="0"/>
                  </a:lnTo>
                  <a:lnTo>
                    <a:pt x="133" y="0"/>
                  </a:lnTo>
                  <a:lnTo>
                    <a:pt x="131" y="3"/>
                  </a:lnTo>
                  <a:lnTo>
                    <a:pt x="131" y="9"/>
                  </a:lnTo>
                  <a:lnTo>
                    <a:pt x="129" y="11"/>
                  </a:lnTo>
                  <a:lnTo>
                    <a:pt x="129" y="11"/>
                  </a:lnTo>
                  <a:lnTo>
                    <a:pt x="126" y="9"/>
                  </a:lnTo>
                  <a:lnTo>
                    <a:pt x="126" y="7"/>
                  </a:lnTo>
                  <a:lnTo>
                    <a:pt x="124" y="11"/>
                  </a:lnTo>
                  <a:lnTo>
                    <a:pt x="122" y="13"/>
                  </a:lnTo>
                  <a:lnTo>
                    <a:pt x="122" y="13"/>
                  </a:lnTo>
                  <a:lnTo>
                    <a:pt x="124" y="17"/>
                  </a:lnTo>
                  <a:lnTo>
                    <a:pt x="124" y="17"/>
                  </a:lnTo>
                  <a:lnTo>
                    <a:pt x="128" y="21"/>
                  </a:lnTo>
                  <a:lnTo>
                    <a:pt x="129" y="24"/>
                  </a:lnTo>
                  <a:lnTo>
                    <a:pt x="131" y="28"/>
                  </a:lnTo>
                  <a:lnTo>
                    <a:pt x="131" y="30"/>
                  </a:lnTo>
                  <a:lnTo>
                    <a:pt x="131" y="32"/>
                  </a:lnTo>
                  <a:lnTo>
                    <a:pt x="129" y="32"/>
                  </a:lnTo>
                  <a:lnTo>
                    <a:pt x="128" y="34"/>
                  </a:lnTo>
                  <a:lnTo>
                    <a:pt x="126" y="34"/>
                  </a:lnTo>
                  <a:lnTo>
                    <a:pt x="120" y="32"/>
                  </a:lnTo>
                  <a:lnTo>
                    <a:pt x="118" y="32"/>
                  </a:lnTo>
                  <a:lnTo>
                    <a:pt x="118" y="30"/>
                  </a:lnTo>
                  <a:lnTo>
                    <a:pt x="116" y="28"/>
                  </a:lnTo>
                  <a:lnTo>
                    <a:pt x="114" y="24"/>
                  </a:lnTo>
                  <a:lnTo>
                    <a:pt x="114" y="24"/>
                  </a:lnTo>
                  <a:lnTo>
                    <a:pt x="112" y="24"/>
                  </a:lnTo>
                  <a:lnTo>
                    <a:pt x="110" y="24"/>
                  </a:lnTo>
                  <a:lnTo>
                    <a:pt x="107" y="22"/>
                  </a:lnTo>
                  <a:lnTo>
                    <a:pt x="103" y="22"/>
                  </a:lnTo>
                  <a:lnTo>
                    <a:pt x="101" y="22"/>
                  </a:lnTo>
                  <a:lnTo>
                    <a:pt x="101" y="22"/>
                  </a:lnTo>
                  <a:lnTo>
                    <a:pt x="99" y="22"/>
                  </a:lnTo>
                  <a:lnTo>
                    <a:pt x="97" y="22"/>
                  </a:lnTo>
                  <a:lnTo>
                    <a:pt x="95" y="21"/>
                  </a:lnTo>
                  <a:lnTo>
                    <a:pt x="93" y="21"/>
                  </a:lnTo>
                  <a:lnTo>
                    <a:pt x="89" y="22"/>
                  </a:lnTo>
                  <a:lnTo>
                    <a:pt x="87" y="22"/>
                  </a:lnTo>
                  <a:lnTo>
                    <a:pt x="86" y="22"/>
                  </a:lnTo>
                  <a:lnTo>
                    <a:pt x="86" y="22"/>
                  </a:lnTo>
                  <a:lnTo>
                    <a:pt x="84" y="21"/>
                  </a:lnTo>
                  <a:lnTo>
                    <a:pt x="82" y="19"/>
                  </a:lnTo>
                  <a:lnTo>
                    <a:pt x="80" y="17"/>
                  </a:lnTo>
                  <a:lnTo>
                    <a:pt x="80" y="17"/>
                  </a:lnTo>
                  <a:lnTo>
                    <a:pt x="78" y="17"/>
                  </a:lnTo>
                  <a:lnTo>
                    <a:pt x="78" y="17"/>
                  </a:lnTo>
                  <a:lnTo>
                    <a:pt x="76" y="17"/>
                  </a:lnTo>
                  <a:lnTo>
                    <a:pt x="76" y="15"/>
                  </a:lnTo>
                  <a:lnTo>
                    <a:pt x="76" y="15"/>
                  </a:lnTo>
                  <a:lnTo>
                    <a:pt x="74" y="15"/>
                  </a:lnTo>
                  <a:lnTo>
                    <a:pt x="72" y="15"/>
                  </a:lnTo>
                  <a:lnTo>
                    <a:pt x="68" y="15"/>
                  </a:lnTo>
                  <a:lnTo>
                    <a:pt x="68" y="15"/>
                  </a:lnTo>
                  <a:lnTo>
                    <a:pt x="67" y="15"/>
                  </a:lnTo>
                  <a:lnTo>
                    <a:pt x="63" y="19"/>
                  </a:lnTo>
                  <a:lnTo>
                    <a:pt x="57" y="19"/>
                  </a:lnTo>
                  <a:lnTo>
                    <a:pt x="51" y="22"/>
                  </a:lnTo>
                  <a:lnTo>
                    <a:pt x="47" y="26"/>
                  </a:lnTo>
                  <a:lnTo>
                    <a:pt x="44" y="28"/>
                  </a:lnTo>
                  <a:lnTo>
                    <a:pt x="44" y="28"/>
                  </a:lnTo>
                  <a:lnTo>
                    <a:pt x="42" y="28"/>
                  </a:lnTo>
                  <a:lnTo>
                    <a:pt x="36" y="26"/>
                  </a:lnTo>
                  <a:lnTo>
                    <a:pt x="36" y="26"/>
                  </a:lnTo>
                  <a:lnTo>
                    <a:pt x="34" y="28"/>
                  </a:lnTo>
                  <a:lnTo>
                    <a:pt x="34" y="28"/>
                  </a:lnTo>
                  <a:lnTo>
                    <a:pt x="30" y="32"/>
                  </a:lnTo>
                  <a:lnTo>
                    <a:pt x="28" y="36"/>
                  </a:lnTo>
                  <a:lnTo>
                    <a:pt x="23" y="41"/>
                  </a:lnTo>
                  <a:lnTo>
                    <a:pt x="21" y="41"/>
                  </a:lnTo>
                  <a:lnTo>
                    <a:pt x="21" y="43"/>
                  </a:lnTo>
                  <a:lnTo>
                    <a:pt x="23" y="45"/>
                  </a:lnTo>
                  <a:lnTo>
                    <a:pt x="23" y="45"/>
                  </a:lnTo>
                  <a:lnTo>
                    <a:pt x="23" y="47"/>
                  </a:lnTo>
                  <a:lnTo>
                    <a:pt x="21" y="47"/>
                  </a:lnTo>
                  <a:lnTo>
                    <a:pt x="21" y="49"/>
                  </a:lnTo>
                  <a:lnTo>
                    <a:pt x="19" y="49"/>
                  </a:lnTo>
                  <a:lnTo>
                    <a:pt x="19" y="47"/>
                  </a:lnTo>
                  <a:lnTo>
                    <a:pt x="17" y="47"/>
                  </a:lnTo>
                  <a:lnTo>
                    <a:pt x="17" y="49"/>
                  </a:lnTo>
                  <a:lnTo>
                    <a:pt x="17" y="49"/>
                  </a:lnTo>
                  <a:lnTo>
                    <a:pt x="19" y="51"/>
                  </a:lnTo>
                  <a:lnTo>
                    <a:pt x="19" y="53"/>
                  </a:lnTo>
                  <a:lnTo>
                    <a:pt x="21" y="53"/>
                  </a:lnTo>
                  <a:lnTo>
                    <a:pt x="21" y="53"/>
                  </a:lnTo>
                  <a:lnTo>
                    <a:pt x="21" y="55"/>
                  </a:lnTo>
                  <a:lnTo>
                    <a:pt x="21" y="57"/>
                  </a:lnTo>
                  <a:lnTo>
                    <a:pt x="21" y="61"/>
                  </a:lnTo>
                  <a:lnTo>
                    <a:pt x="19" y="61"/>
                  </a:lnTo>
                  <a:lnTo>
                    <a:pt x="19" y="59"/>
                  </a:lnTo>
                  <a:lnTo>
                    <a:pt x="19" y="59"/>
                  </a:lnTo>
                  <a:lnTo>
                    <a:pt x="17" y="59"/>
                  </a:lnTo>
                  <a:lnTo>
                    <a:pt x="17" y="61"/>
                  </a:lnTo>
                  <a:lnTo>
                    <a:pt x="15" y="64"/>
                  </a:lnTo>
                  <a:lnTo>
                    <a:pt x="13" y="68"/>
                  </a:lnTo>
                  <a:lnTo>
                    <a:pt x="13" y="70"/>
                  </a:lnTo>
                  <a:lnTo>
                    <a:pt x="13" y="72"/>
                  </a:lnTo>
                  <a:lnTo>
                    <a:pt x="15" y="74"/>
                  </a:lnTo>
                  <a:lnTo>
                    <a:pt x="17" y="76"/>
                  </a:lnTo>
                  <a:lnTo>
                    <a:pt x="17" y="78"/>
                  </a:lnTo>
                  <a:lnTo>
                    <a:pt x="17" y="80"/>
                  </a:lnTo>
                  <a:lnTo>
                    <a:pt x="19" y="81"/>
                  </a:lnTo>
                  <a:lnTo>
                    <a:pt x="19" y="83"/>
                  </a:lnTo>
                  <a:lnTo>
                    <a:pt x="19" y="85"/>
                  </a:lnTo>
                  <a:lnTo>
                    <a:pt x="19" y="87"/>
                  </a:lnTo>
                  <a:lnTo>
                    <a:pt x="19" y="87"/>
                  </a:lnTo>
                  <a:lnTo>
                    <a:pt x="17" y="89"/>
                  </a:lnTo>
                  <a:lnTo>
                    <a:pt x="17" y="89"/>
                  </a:lnTo>
                  <a:lnTo>
                    <a:pt x="19" y="93"/>
                  </a:lnTo>
                  <a:lnTo>
                    <a:pt x="19" y="93"/>
                  </a:lnTo>
                  <a:lnTo>
                    <a:pt x="21" y="95"/>
                  </a:lnTo>
                  <a:lnTo>
                    <a:pt x="21" y="95"/>
                  </a:lnTo>
                  <a:lnTo>
                    <a:pt x="23" y="95"/>
                  </a:lnTo>
                  <a:lnTo>
                    <a:pt x="23" y="95"/>
                  </a:lnTo>
                  <a:lnTo>
                    <a:pt x="23" y="95"/>
                  </a:lnTo>
                  <a:lnTo>
                    <a:pt x="23" y="97"/>
                  </a:lnTo>
                  <a:lnTo>
                    <a:pt x="23" y="97"/>
                  </a:lnTo>
                  <a:lnTo>
                    <a:pt x="23" y="99"/>
                  </a:lnTo>
                  <a:lnTo>
                    <a:pt x="21" y="99"/>
                  </a:lnTo>
                  <a:lnTo>
                    <a:pt x="19" y="100"/>
                  </a:lnTo>
                  <a:lnTo>
                    <a:pt x="11" y="104"/>
                  </a:lnTo>
                  <a:lnTo>
                    <a:pt x="9" y="106"/>
                  </a:lnTo>
                  <a:lnTo>
                    <a:pt x="7" y="106"/>
                  </a:lnTo>
                  <a:lnTo>
                    <a:pt x="6" y="106"/>
                  </a:lnTo>
                  <a:lnTo>
                    <a:pt x="4" y="106"/>
                  </a:lnTo>
                  <a:lnTo>
                    <a:pt x="2" y="108"/>
                  </a:lnTo>
                  <a:lnTo>
                    <a:pt x="0" y="108"/>
                  </a:lnTo>
                  <a:lnTo>
                    <a:pt x="0" y="110"/>
                  </a:lnTo>
                  <a:lnTo>
                    <a:pt x="2" y="112"/>
                  </a:lnTo>
                  <a:lnTo>
                    <a:pt x="2" y="112"/>
                  </a:lnTo>
                  <a:lnTo>
                    <a:pt x="6" y="110"/>
                  </a:lnTo>
                  <a:lnTo>
                    <a:pt x="7" y="110"/>
                  </a:lnTo>
                  <a:lnTo>
                    <a:pt x="9" y="110"/>
                  </a:lnTo>
                  <a:lnTo>
                    <a:pt x="17" y="118"/>
                  </a:lnTo>
                  <a:lnTo>
                    <a:pt x="23" y="121"/>
                  </a:lnTo>
                  <a:lnTo>
                    <a:pt x="34" y="127"/>
                  </a:lnTo>
                  <a:lnTo>
                    <a:pt x="36" y="129"/>
                  </a:lnTo>
                  <a:lnTo>
                    <a:pt x="34" y="131"/>
                  </a:lnTo>
                  <a:lnTo>
                    <a:pt x="32" y="131"/>
                  </a:lnTo>
                  <a:lnTo>
                    <a:pt x="28" y="135"/>
                  </a:lnTo>
                  <a:lnTo>
                    <a:pt x="25" y="138"/>
                  </a:lnTo>
                  <a:lnTo>
                    <a:pt x="21" y="148"/>
                  </a:lnTo>
                  <a:lnTo>
                    <a:pt x="17" y="156"/>
                  </a:lnTo>
                  <a:lnTo>
                    <a:pt x="17" y="157"/>
                  </a:lnTo>
                  <a:lnTo>
                    <a:pt x="17" y="161"/>
                  </a:lnTo>
                  <a:lnTo>
                    <a:pt x="17" y="165"/>
                  </a:lnTo>
                  <a:lnTo>
                    <a:pt x="17" y="167"/>
                  </a:lnTo>
                  <a:lnTo>
                    <a:pt x="19" y="173"/>
                  </a:lnTo>
                  <a:lnTo>
                    <a:pt x="19" y="178"/>
                  </a:lnTo>
                  <a:lnTo>
                    <a:pt x="21" y="180"/>
                  </a:lnTo>
                  <a:lnTo>
                    <a:pt x="25" y="190"/>
                  </a:lnTo>
                  <a:lnTo>
                    <a:pt x="32" y="184"/>
                  </a:lnTo>
                  <a:lnTo>
                    <a:pt x="36" y="182"/>
                  </a:lnTo>
                  <a:lnTo>
                    <a:pt x="38" y="182"/>
                  </a:lnTo>
                  <a:lnTo>
                    <a:pt x="38" y="182"/>
                  </a:lnTo>
                  <a:lnTo>
                    <a:pt x="44" y="186"/>
                  </a:lnTo>
                  <a:lnTo>
                    <a:pt x="47" y="188"/>
                  </a:lnTo>
                  <a:lnTo>
                    <a:pt x="47" y="190"/>
                  </a:lnTo>
                  <a:lnTo>
                    <a:pt x="49" y="190"/>
                  </a:lnTo>
                  <a:lnTo>
                    <a:pt x="55" y="188"/>
                  </a:lnTo>
                  <a:lnTo>
                    <a:pt x="57" y="184"/>
                  </a:lnTo>
                  <a:lnTo>
                    <a:pt x="59" y="180"/>
                  </a:lnTo>
                  <a:lnTo>
                    <a:pt x="57" y="175"/>
                  </a:lnTo>
                  <a:lnTo>
                    <a:pt x="55" y="165"/>
                  </a:lnTo>
                  <a:lnTo>
                    <a:pt x="55" y="163"/>
                  </a:lnTo>
                  <a:lnTo>
                    <a:pt x="55" y="161"/>
                  </a:lnTo>
                  <a:lnTo>
                    <a:pt x="55" y="159"/>
                  </a:lnTo>
                  <a:lnTo>
                    <a:pt x="55" y="159"/>
                  </a:lnTo>
                  <a:lnTo>
                    <a:pt x="57" y="157"/>
                  </a:lnTo>
                  <a:lnTo>
                    <a:pt x="59" y="157"/>
                  </a:lnTo>
                  <a:lnTo>
                    <a:pt x="59" y="157"/>
                  </a:lnTo>
                  <a:lnTo>
                    <a:pt x="61" y="157"/>
                  </a:lnTo>
                  <a:lnTo>
                    <a:pt x="61" y="159"/>
                  </a:lnTo>
                  <a:lnTo>
                    <a:pt x="67" y="165"/>
                  </a:lnTo>
                  <a:lnTo>
                    <a:pt x="70" y="169"/>
                  </a:lnTo>
                  <a:lnTo>
                    <a:pt x="72" y="175"/>
                  </a:lnTo>
                  <a:lnTo>
                    <a:pt x="74" y="177"/>
                  </a:lnTo>
                  <a:lnTo>
                    <a:pt x="76" y="178"/>
                  </a:lnTo>
                  <a:lnTo>
                    <a:pt x="84" y="182"/>
                  </a:lnTo>
                  <a:lnTo>
                    <a:pt x="87" y="186"/>
                  </a:lnTo>
                  <a:lnTo>
                    <a:pt x="89" y="190"/>
                  </a:lnTo>
                  <a:lnTo>
                    <a:pt x="91" y="194"/>
                  </a:lnTo>
                  <a:lnTo>
                    <a:pt x="95" y="197"/>
                  </a:lnTo>
                  <a:lnTo>
                    <a:pt x="99" y="201"/>
                  </a:lnTo>
                  <a:lnTo>
                    <a:pt x="114" y="211"/>
                  </a:lnTo>
                  <a:lnTo>
                    <a:pt x="118" y="213"/>
                  </a:lnTo>
                  <a:lnTo>
                    <a:pt x="124" y="213"/>
                  </a:lnTo>
                  <a:lnTo>
                    <a:pt x="126" y="215"/>
                  </a:lnTo>
                  <a:lnTo>
                    <a:pt x="126" y="215"/>
                  </a:lnTo>
                  <a:lnTo>
                    <a:pt x="126" y="216"/>
                  </a:lnTo>
                  <a:lnTo>
                    <a:pt x="124" y="218"/>
                  </a:lnTo>
                  <a:lnTo>
                    <a:pt x="120" y="222"/>
                  </a:lnTo>
                  <a:lnTo>
                    <a:pt x="118" y="222"/>
                  </a:lnTo>
                  <a:lnTo>
                    <a:pt x="118" y="222"/>
                  </a:lnTo>
                  <a:lnTo>
                    <a:pt x="116" y="222"/>
                  </a:lnTo>
                  <a:lnTo>
                    <a:pt x="116" y="222"/>
                  </a:lnTo>
                  <a:lnTo>
                    <a:pt x="116" y="222"/>
                  </a:lnTo>
                  <a:lnTo>
                    <a:pt x="114" y="222"/>
                  </a:lnTo>
                  <a:lnTo>
                    <a:pt x="114" y="224"/>
                  </a:lnTo>
                  <a:lnTo>
                    <a:pt x="112" y="226"/>
                  </a:lnTo>
                  <a:lnTo>
                    <a:pt x="112" y="224"/>
                  </a:lnTo>
                  <a:lnTo>
                    <a:pt x="110" y="224"/>
                  </a:lnTo>
                  <a:lnTo>
                    <a:pt x="110" y="224"/>
                  </a:lnTo>
                  <a:lnTo>
                    <a:pt x="110" y="224"/>
                  </a:lnTo>
                  <a:lnTo>
                    <a:pt x="108" y="224"/>
                  </a:lnTo>
                  <a:lnTo>
                    <a:pt x="108" y="226"/>
                  </a:lnTo>
                  <a:lnTo>
                    <a:pt x="107" y="226"/>
                  </a:lnTo>
                  <a:lnTo>
                    <a:pt x="107" y="226"/>
                  </a:lnTo>
                  <a:lnTo>
                    <a:pt x="107" y="226"/>
                  </a:lnTo>
                  <a:lnTo>
                    <a:pt x="107" y="228"/>
                  </a:lnTo>
                  <a:lnTo>
                    <a:pt x="107" y="228"/>
                  </a:lnTo>
                  <a:lnTo>
                    <a:pt x="107" y="228"/>
                  </a:lnTo>
                  <a:lnTo>
                    <a:pt x="107" y="230"/>
                  </a:lnTo>
                  <a:lnTo>
                    <a:pt x="120" y="235"/>
                  </a:lnTo>
                  <a:lnTo>
                    <a:pt x="122" y="237"/>
                  </a:lnTo>
                  <a:lnTo>
                    <a:pt x="124" y="239"/>
                  </a:lnTo>
                  <a:lnTo>
                    <a:pt x="124" y="241"/>
                  </a:lnTo>
                  <a:lnTo>
                    <a:pt x="124" y="247"/>
                  </a:lnTo>
                  <a:lnTo>
                    <a:pt x="128" y="245"/>
                  </a:lnTo>
                  <a:lnTo>
                    <a:pt x="133" y="243"/>
                  </a:lnTo>
                  <a:lnTo>
                    <a:pt x="135" y="243"/>
                  </a:lnTo>
                  <a:lnTo>
                    <a:pt x="137" y="243"/>
                  </a:lnTo>
                  <a:lnTo>
                    <a:pt x="137" y="243"/>
                  </a:lnTo>
                  <a:lnTo>
                    <a:pt x="145" y="247"/>
                  </a:lnTo>
                  <a:lnTo>
                    <a:pt x="145" y="247"/>
                  </a:lnTo>
                  <a:lnTo>
                    <a:pt x="147" y="249"/>
                  </a:lnTo>
                  <a:lnTo>
                    <a:pt x="147" y="249"/>
                  </a:lnTo>
                  <a:lnTo>
                    <a:pt x="147" y="251"/>
                  </a:lnTo>
                  <a:lnTo>
                    <a:pt x="147" y="253"/>
                  </a:lnTo>
                  <a:lnTo>
                    <a:pt x="148" y="253"/>
                  </a:lnTo>
                  <a:lnTo>
                    <a:pt x="160" y="262"/>
                  </a:lnTo>
                  <a:lnTo>
                    <a:pt x="162" y="262"/>
                  </a:lnTo>
                  <a:lnTo>
                    <a:pt x="164" y="262"/>
                  </a:lnTo>
                  <a:lnTo>
                    <a:pt x="166" y="262"/>
                  </a:lnTo>
                  <a:lnTo>
                    <a:pt x="166" y="262"/>
                  </a:lnTo>
                  <a:lnTo>
                    <a:pt x="168" y="262"/>
                  </a:lnTo>
                  <a:lnTo>
                    <a:pt x="168" y="262"/>
                  </a:lnTo>
                  <a:lnTo>
                    <a:pt x="168" y="264"/>
                  </a:lnTo>
                  <a:lnTo>
                    <a:pt x="169" y="266"/>
                  </a:lnTo>
                  <a:lnTo>
                    <a:pt x="169" y="266"/>
                  </a:lnTo>
                  <a:lnTo>
                    <a:pt x="171" y="268"/>
                  </a:lnTo>
                  <a:lnTo>
                    <a:pt x="171" y="272"/>
                  </a:lnTo>
                  <a:lnTo>
                    <a:pt x="173" y="275"/>
                  </a:lnTo>
                  <a:lnTo>
                    <a:pt x="181" y="272"/>
                  </a:lnTo>
                  <a:lnTo>
                    <a:pt x="185" y="272"/>
                  </a:lnTo>
                  <a:lnTo>
                    <a:pt x="185" y="272"/>
                  </a:lnTo>
                  <a:lnTo>
                    <a:pt x="187" y="274"/>
                  </a:lnTo>
                  <a:lnTo>
                    <a:pt x="187" y="275"/>
                  </a:lnTo>
                  <a:lnTo>
                    <a:pt x="188" y="275"/>
                  </a:lnTo>
                  <a:lnTo>
                    <a:pt x="188" y="274"/>
                  </a:lnTo>
                  <a:lnTo>
                    <a:pt x="190" y="274"/>
                  </a:lnTo>
                  <a:lnTo>
                    <a:pt x="198" y="275"/>
                  </a:lnTo>
                  <a:lnTo>
                    <a:pt x="200" y="274"/>
                  </a:lnTo>
                  <a:lnTo>
                    <a:pt x="200" y="274"/>
                  </a:lnTo>
                  <a:lnTo>
                    <a:pt x="200" y="272"/>
                  </a:lnTo>
                  <a:lnTo>
                    <a:pt x="200" y="272"/>
                  </a:lnTo>
                  <a:lnTo>
                    <a:pt x="202" y="272"/>
                  </a:lnTo>
                  <a:lnTo>
                    <a:pt x="204" y="272"/>
                  </a:lnTo>
                  <a:lnTo>
                    <a:pt x="208" y="272"/>
                  </a:lnTo>
                  <a:lnTo>
                    <a:pt x="209" y="274"/>
                  </a:lnTo>
                  <a:lnTo>
                    <a:pt x="209" y="274"/>
                  </a:lnTo>
                  <a:lnTo>
                    <a:pt x="209" y="275"/>
                  </a:lnTo>
                  <a:lnTo>
                    <a:pt x="209" y="277"/>
                  </a:lnTo>
                  <a:lnTo>
                    <a:pt x="209" y="279"/>
                  </a:lnTo>
                  <a:lnTo>
                    <a:pt x="209" y="279"/>
                  </a:lnTo>
                  <a:lnTo>
                    <a:pt x="211" y="279"/>
                  </a:lnTo>
                  <a:lnTo>
                    <a:pt x="213" y="277"/>
                  </a:lnTo>
                  <a:lnTo>
                    <a:pt x="215" y="277"/>
                  </a:lnTo>
                  <a:lnTo>
                    <a:pt x="215" y="279"/>
                  </a:lnTo>
                  <a:lnTo>
                    <a:pt x="215" y="279"/>
                  </a:lnTo>
                  <a:lnTo>
                    <a:pt x="215" y="281"/>
                  </a:lnTo>
                  <a:lnTo>
                    <a:pt x="215" y="281"/>
                  </a:lnTo>
                  <a:lnTo>
                    <a:pt x="215" y="283"/>
                  </a:lnTo>
                  <a:lnTo>
                    <a:pt x="217" y="283"/>
                  </a:lnTo>
                  <a:lnTo>
                    <a:pt x="217" y="281"/>
                  </a:lnTo>
                  <a:lnTo>
                    <a:pt x="219" y="281"/>
                  </a:lnTo>
                  <a:lnTo>
                    <a:pt x="219" y="283"/>
                  </a:lnTo>
                  <a:lnTo>
                    <a:pt x="219" y="283"/>
                  </a:lnTo>
                  <a:lnTo>
                    <a:pt x="219" y="285"/>
                  </a:lnTo>
                  <a:lnTo>
                    <a:pt x="219" y="285"/>
                  </a:lnTo>
                  <a:lnTo>
                    <a:pt x="221" y="287"/>
                  </a:lnTo>
                  <a:lnTo>
                    <a:pt x="223" y="287"/>
                  </a:lnTo>
                  <a:lnTo>
                    <a:pt x="223" y="287"/>
                  </a:lnTo>
                  <a:lnTo>
                    <a:pt x="225" y="287"/>
                  </a:lnTo>
                  <a:lnTo>
                    <a:pt x="227" y="285"/>
                  </a:lnTo>
                  <a:lnTo>
                    <a:pt x="227" y="285"/>
                  </a:lnTo>
                  <a:lnTo>
                    <a:pt x="230" y="283"/>
                  </a:lnTo>
                  <a:lnTo>
                    <a:pt x="230" y="281"/>
                  </a:lnTo>
                  <a:lnTo>
                    <a:pt x="230" y="279"/>
                  </a:lnTo>
                  <a:lnTo>
                    <a:pt x="232" y="277"/>
                  </a:lnTo>
                  <a:lnTo>
                    <a:pt x="230" y="277"/>
                  </a:lnTo>
                  <a:lnTo>
                    <a:pt x="229" y="275"/>
                  </a:lnTo>
                  <a:lnTo>
                    <a:pt x="229" y="272"/>
                  </a:lnTo>
                  <a:lnTo>
                    <a:pt x="229" y="270"/>
                  </a:lnTo>
                  <a:lnTo>
                    <a:pt x="229" y="268"/>
                  </a:lnTo>
                  <a:lnTo>
                    <a:pt x="229" y="266"/>
                  </a:lnTo>
                  <a:lnTo>
                    <a:pt x="230" y="264"/>
                  </a:lnTo>
                  <a:lnTo>
                    <a:pt x="230" y="264"/>
                  </a:lnTo>
                  <a:lnTo>
                    <a:pt x="232" y="262"/>
                  </a:lnTo>
                  <a:lnTo>
                    <a:pt x="234" y="262"/>
                  </a:lnTo>
                  <a:lnTo>
                    <a:pt x="234" y="260"/>
                  </a:lnTo>
                  <a:lnTo>
                    <a:pt x="234" y="260"/>
                  </a:lnTo>
                  <a:lnTo>
                    <a:pt x="234" y="256"/>
                  </a:lnTo>
                  <a:lnTo>
                    <a:pt x="236" y="251"/>
                  </a:lnTo>
                  <a:lnTo>
                    <a:pt x="236" y="247"/>
                  </a:lnTo>
                  <a:lnTo>
                    <a:pt x="240" y="245"/>
                  </a:lnTo>
                  <a:lnTo>
                    <a:pt x="242" y="247"/>
                  </a:lnTo>
                  <a:lnTo>
                    <a:pt x="244" y="247"/>
                  </a:lnTo>
                  <a:lnTo>
                    <a:pt x="246" y="245"/>
                  </a:lnTo>
                  <a:lnTo>
                    <a:pt x="246" y="245"/>
                  </a:lnTo>
                  <a:lnTo>
                    <a:pt x="246" y="243"/>
                  </a:lnTo>
                  <a:lnTo>
                    <a:pt x="244" y="237"/>
                  </a:lnTo>
                  <a:lnTo>
                    <a:pt x="246" y="237"/>
                  </a:lnTo>
                  <a:lnTo>
                    <a:pt x="248" y="235"/>
                  </a:lnTo>
                  <a:lnTo>
                    <a:pt x="248" y="237"/>
                  </a:lnTo>
                  <a:lnTo>
                    <a:pt x="249" y="237"/>
                  </a:lnTo>
                  <a:lnTo>
                    <a:pt x="251" y="230"/>
                  </a:lnTo>
                  <a:lnTo>
                    <a:pt x="251" y="228"/>
                  </a:lnTo>
                  <a:lnTo>
                    <a:pt x="251" y="226"/>
                  </a:lnTo>
                  <a:lnTo>
                    <a:pt x="249" y="226"/>
                  </a:lnTo>
                  <a:lnTo>
                    <a:pt x="249" y="226"/>
                  </a:lnTo>
                  <a:lnTo>
                    <a:pt x="248" y="226"/>
                  </a:lnTo>
                  <a:lnTo>
                    <a:pt x="248" y="224"/>
                  </a:lnTo>
                  <a:lnTo>
                    <a:pt x="248" y="220"/>
                  </a:lnTo>
                  <a:lnTo>
                    <a:pt x="246" y="216"/>
                  </a:lnTo>
                  <a:lnTo>
                    <a:pt x="244" y="215"/>
                  </a:lnTo>
                  <a:lnTo>
                    <a:pt x="246" y="213"/>
                  </a:lnTo>
                  <a:lnTo>
                    <a:pt x="246" y="213"/>
                  </a:lnTo>
                  <a:lnTo>
                    <a:pt x="249" y="211"/>
                  </a:lnTo>
                  <a:lnTo>
                    <a:pt x="249" y="211"/>
                  </a:lnTo>
                  <a:lnTo>
                    <a:pt x="249" y="209"/>
                  </a:lnTo>
                  <a:lnTo>
                    <a:pt x="249" y="209"/>
                  </a:lnTo>
                  <a:lnTo>
                    <a:pt x="251" y="207"/>
                  </a:lnTo>
                  <a:lnTo>
                    <a:pt x="251" y="207"/>
                  </a:lnTo>
                  <a:lnTo>
                    <a:pt x="251" y="207"/>
                  </a:lnTo>
                  <a:lnTo>
                    <a:pt x="253" y="205"/>
                  </a:lnTo>
                  <a:lnTo>
                    <a:pt x="255" y="205"/>
                  </a:lnTo>
                  <a:lnTo>
                    <a:pt x="255" y="203"/>
                  </a:lnTo>
                  <a:lnTo>
                    <a:pt x="255" y="203"/>
                  </a:lnTo>
                  <a:lnTo>
                    <a:pt x="255" y="203"/>
                  </a:lnTo>
                  <a:lnTo>
                    <a:pt x="255" y="201"/>
                  </a:lnTo>
                  <a:lnTo>
                    <a:pt x="255" y="201"/>
                  </a:lnTo>
                  <a:lnTo>
                    <a:pt x="255" y="201"/>
                  </a:lnTo>
                  <a:lnTo>
                    <a:pt x="257" y="199"/>
                  </a:lnTo>
                  <a:lnTo>
                    <a:pt x="257" y="199"/>
                  </a:lnTo>
                  <a:lnTo>
                    <a:pt x="259" y="197"/>
                  </a:lnTo>
                  <a:lnTo>
                    <a:pt x="261" y="196"/>
                  </a:lnTo>
                  <a:lnTo>
                    <a:pt x="261" y="192"/>
                  </a:lnTo>
                  <a:lnTo>
                    <a:pt x="259" y="190"/>
                  </a:lnTo>
                  <a:lnTo>
                    <a:pt x="259" y="188"/>
                  </a:lnTo>
                  <a:lnTo>
                    <a:pt x="257" y="184"/>
                  </a:lnTo>
                  <a:lnTo>
                    <a:pt x="257" y="182"/>
                  </a:lnTo>
                  <a:lnTo>
                    <a:pt x="259" y="178"/>
                  </a:lnTo>
                  <a:lnTo>
                    <a:pt x="261" y="177"/>
                  </a:lnTo>
                  <a:lnTo>
                    <a:pt x="267" y="175"/>
                  </a:lnTo>
                  <a:lnTo>
                    <a:pt x="269" y="173"/>
                  </a:lnTo>
                  <a:lnTo>
                    <a:pt x="274" y="167"/>
                  </a:lnTo>
                  <a:lnTo>
                    <a:pt x="276" y="165"/>
                  </a:lnTo>
                  <a:lnTo>
                    <a:pt x="276" y="161"/>
                  </a:lnTo>
                  <a:lnTo>
                    <a:pt x="278" y="159"/>
                  </a:lnTo>
                  <a:lnTo>
                    <a:pt x="278" y="157"/>
                  </a:lnTo>
                  <a:lnTo>
                    <a:pt x="282" y="157"/>
                  </a:lnTo>
                  <a:lnTo>
                    <a:pt x="284" y="157"/>
                  </a:lnTo>
                  <a:lnTo>
                    <a:pt x="286" y="156"/>
                  </a:lnTo>
                  <a:lnTo>
                    <a:pt x="288" y="154"/>
                  </a:lnTo>
                  <a:lnTo>
                    <a:pt x="291" y="152"/>
                  </a:lnTo>
                  <a:lnTo>
                    <a:pt x="291" y="150"/>
                  </a:lnTo>
                  <a:lnTo>
                    <a:pt x="295" y="146"/>
                  </a:lnTo>
                  <a:lnTo>
                    <a:pt x="295" y="144"/>
                  </a:lnTo>
                  <a:lnTo>
                    <a:pt x="301" y="140"/>
                  </a:lnTo>
                  <a:lnTo>
                    <a:pt x="303" y="138"/>
                  </a:lnTo>
                  <a:lnTo>
                    <a:pt x="303" y="135"/>
                  </a:lnTo>
                  <a:lnTo>
                    <a:pt x="303" y="133"/>
                  </a:lnTo>
                  <a:lnTo>
                    <a:pt x="305" y="131"/>
                  </a:lnTo>
                  <a:lnTo>
                    <a:pt x="307" y="131"/>
                  </a:lnTo>
                  <a:lnTo>
                    <a:pt x="307" y="133"/>
                  </a:lnTo>
                  <a:lnTo>
                    <a:pt x="309" y="135"/>
                  </a:lnTo>
                  <a:lnTo>
                    <a:pt x="310" y="135"/>
                  </a:lnTo>
                  <a:lnTo>
                    <a:pt x="316" y="133"/>
                  </a:lnTo>
                  <a:lnTo>
                    <a:pt x="316" y="133"/>
                  </a:lnTo>
                  <a:lnTo>
                    <a:pt x="318" y="131"/>
                  </a:lnTo>
                  <a:lnTo>
                    <a:pt x="316" y="129"/>
                  </a:lnTo>
                  <a:close/>
                </a:path>
              </a:pathLst>
            </a:custGeom>
            <a:solidFill>
              <a:srgbClr val="DCDDDF"/>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60" name="Freeform 9">
              <a:extLst>
                <a:ext uri="{FF2B5EF4-FFF2-40B4-BE49-F238E27FC236}">
                  <a16:creationId xmlns:a16="http://schemas.microsoft.com/office/drawing/2014/main" id="{DE4099BB-D156-4588-D3F5-A5E7A1E2152C}"/>
                </a:ext>
              </a:extLst>
            </p:cNvPr>
            <p:cNvSpPr>
              <a:spLocks/>
            </p:cNvSpPr>
            <p:nvPr/>
          </p:nvSpPr>
          <p:spPr bwMode="auto">
            <a:xfrm>
              <a:off x="2648609" y="2219934"/>
              <a:ext cx="599917" cy="485469"/>
            </a:xfrm>
            <a:custGeom>
              <a:avLst/>
              <a:gdLst>
                <a:gd name="T0" fmla="*/ 293 w 318"/>
                <a:gd name="T1" fmla="*/ 112 h 287"/>
                <a:gd name="T2" fmla="*/ 272 w 318"/>
                <a:gd name="T3" fmla="*/ 104 h 287"/>
                <a:gd name="T4" fmla="*/ 244 w 318"/>
                <a:gd name="T5" fmla="*/ 89 h 287"/>
                <a:gd name="T6" fmla="*/ 242 w 318"/>
                <a:gd name="T7" fmla="*/ 80 h 287"/>
                <a:gd name="T8" fmla="*/ 240 w 318"/>
                <a:gd name="T9" fmla="*/ 68 h 287"/>
                <a:gd name="T10" fmla="*/ 219 w 318"/>
                <a:gd name="T11" fmla="*/ 61 h 287"/>
                <a:gd name="T12" fmla="*/ 202 w 318"/>
                <a:gd name="T13" fmla="*/ 49 h 287"/>
                <a:gd name="T14" fmla="*/ 183 w 318"/>
                <a:gd name="T15" fmla="*/ 51 h 287"/>
                <a:gd name="T16" fmla="*/ 177 w 318"/>
                <a:gd name="T17" fmla="*/ 45 h 287"/>
                <a:gd name="T18" fmla="*/ 168 w 318"/>
                <a:gd name="T19" fmla="*/ 38 h 287"/>
                <a:gd name="T20" fmla="*/ 158 w 318"/>
                <a:gd name="T21" fmla="*/ 26 h 287"/>
                <a:gd name="T22" fmla="*/ 152 w 318"/>
                <a:gd name="T23" fmla="*/ 17 h 287"/>
                <a:gd name="T24" fmla="*/ 150 w 318"/>
                <a:gd name="T25" fmla="*/ 9 h 287"/>
                <a:gd name="T26" fmla="*/ 139 w 318"/>
                <a:gd name="T27" fmla="*/ 0 h 287"/>
                <a:gd name="T28" fmla="*/ 124 w 318"/>
                <a:gd name="T29" fmla="*/ 11 h 287"/>
                <a:gd name="T30" fmla="*/ 131 w 318"/>
                <a:gd name="T31" fmla="*/ 30 h 287"/>
                <a:gd name="T32" fmla="*/ 116 w 318"/>
                <a:gd name="T33" fmla="*/ 28 h 287"/>
                <a:gd name="T34" fmla="*/ 101 w 318"/>
                <a:gd name="T35" fmla="*/ 22 h 287"/>
                <a:gd name="T36" fmla="*/ 86 w 318"/>
                <a:gd name="T37" fmla="*/ 22 h 287"/>
                <a:gd name="T38" fmla="*/ 76 w 318"/>
                <a:gd name="T39" fmla="*/ 15 h 287"/>
                <a:gd name="T40" fmla="*/ 57 w 318"/>
                <a:gd name="T41" fmla="*/ 19 h 287"/>
                <a:gd name="T42" fmla="*/ 34 w 318"/>
                <a:gd name="T43" fmla="*/ 28 h 287"/>
                <a:gd name="T44" fmla="*/ 23 w 318"/>
                <a:gd name="T45" fmla="*/ 45 h 287"/>
                <a:gd name="T46" fmla="*/ 17 w 318"/>
                <a:gd name="T47" fmla="*/ 49 h 287"/>
                <a:gd name="T48" fmla="*/ 19 w 318"/>
                <a:gd name="T49" fmla="*/ 61 h 287"/>
                <a:gd name="T50" fmla="*/ 13 w 318"/>
                <a:gd name="T51" fmla="*/ 72 h 287"/>
                <a:gd name="T52" fmla="*/ 19 w 318"/>
                <a:gd name="T53" fmla="*/ 87 h 287"/>
                <a:gd name="T54" fmla="*/ 23 w 318"/>
                <a:gd name="T55" fmla="*/ 95 h 287"/>
                <a:gd name="T56" fmla="*/ 11 w 318"/>
                <a:gd name="T57" fmla="*/ 104 h 287"/>
                <a:gd name="T58" fmla="*/ 2 w 318"/>
                <a:gd name="T59" fmla="*/ 112 h 287"/>
                <a:gd name="T60" fmla="*/ 36 w 318"/>
                <a:gd name="T61" fmla="*/ 129 h 287"/>
                <a:gd name="T62" fmla="*/ 17 w 318"/>
                <a:gd name="T63" fmla="*/ 161 h 287"/>
                <a:gd name="T64" fmla="*/ 36 w 318"/>
                <a:gd name="T65" fmla="*/ 182 h 287"/>
                <a:gd name="T66" fmla="*/ 57 w 318"/>
                <a:gd name="T67" fmla="*/ 184 h 287"/>
                <a:gd name="T68" fmla="*/ 57 w 318"/>
                <a:gd name="T69" fmla="*/ 157 h 287"/>
                <a:gd name="T70" fmla="*/ 74 w 318"/>
                <a:gd name="T71" fmla="*/ 177 h 287"/>
                <a:gd name="T72" fmla="*/ 114 w 318"/>
                <a:gd name="T73" fmla="*/ 211 h 287"/>
                <a:gd name="T74" fmla="*/ 118 w 318"/>
                <a:gd name="T75" fmla="*/ 222 h 287"/>
                <a:gd name="T76" fmla="*/ 112 w 318"/>
                <a:gd name="T77" fmla="*/ 224 h 287"/>
                <a:gd name="T78" fmla="*/ 107 w 318"/>
                <a:gd name="T79" fmla="*/ 226 h 287"/>
                <a:gd name="T80" fmla="*/ 124 w 318"/>
                <a:gd name="T81" fmla="*/ 241 h 287"/>
                <a:gd name="T82" fmla="*/ 145 w 318"/>
                <a:gd name="T83" fmla="*/ 247 h 287"/>
                <a:gd name="T84" fmla="*/ 164 w 318"/>
                <a:gd name="T85" fmla="*/ 262 h 287"/>
                <a:gd name="T86" fmla="*/ 171 w 318"/>
                <a:gd name="T87" fmla="*/ 268 h 287"/>
                <a:gd name="T88" fmla="*/ 188 w 318"/>
                <a:gd name="T89" fmla="*/ 275 h 287"/>
                <a:gd name="T90" fmla="*/ 202 w 318"/>
                <a:gd name="T91" fmla="*/ 272 h 287"/>
                <a:gd name="T92" fmla="*/ 209 w 318"/>
                <a:gd name="T93" fmla="*/ 279 h 287"/>
                <a:gd name="T94" fmla="*/ 215 w 318"/>
                <a:gd name="T95" fmla="*/ 283 h 287"/>
                <a:gd name="T96" fmla="*/ 221 w 318"/>
                <a:gd name="T97" fmla="*/ 287 h 287"/>
                <a:gd name="T98" fmla="*/ 230 w 318"/>
                <a:gd name="T99" fmla="*/ 279 h 287"/>
                <a:gd name="T100" fmla="*/ 230 w 318"/>
                <a:gd name="T101" fmla="*/ 264 h 287"/>
                <a:gd name="T102" fmla="*/ 236 w 318"/>
                <a:gd name="T103" fmla="*/ 247 h 287"/>
                <a:gd name="T104" fmla="*/ 246 w 318"/>
                <a:gd name="T105" fmla="*/ 237 h 287"/>
                <a:gd name="T106" fmla="*/ 249 w 318"/>
                <a:gd name="T107" fmla="*/ 226 h 287"/>
                <a:gd name="T108" fmla="*/ 249 w 318"/>
                <a:gd name="T109" fmla="*/ 211 h 287"/>
                <a:gd name="T110" fmla="*/ 255 w 318"/>
                <a:gd name="T111" fmla="*/ 205 h 287"/>
                <a:gd name="T112" fmla="*/ 257 w 318"/>
                <a:gd name="T113" fmla="*/ 199 h 287"/>
                <a:gd name="T114" fmla="*/ 259 w 318"/>
                <a:gd name="T115" fmla="*/ 178 h 287"/>
                <a:gd name="T116" fmla="*/ 278 w 318"/>
                <a:gd name="T117" fmla="*/ 157 h 287"/>
                <a:gd name="T118" fmla="*/ 295 w 318"/>
                <a:gd name="T119" fmla="*/ 144 h 287"/>
                <a:gd name="T120" fmla="*/ 309 w 318"/>
                <a:gd name="T121" fmla="*/ 135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8" h="287">
                  <a:moveTo>
                    <a:pt x="316" y="129"/>
                  </a:moveTo>
                  <a:lnTo>
                    <a:pt x="314" y="125"/>
                  </a:lnTo>
                  <a:lnTo>
                    <a:pt x="312" y="123"/>
                  </a:lnTo>
                  <a:lnTo>
                    <a:pt x="305" y="121"/>
                  </a:lnTo>
                  <a:lnTo>
                    <a:pt x="297" y="119"/>
                  </a:lnTo>
                  <a:lnTo>
                    <a:pt x="295" y="118"/>
                  </a:lnTo>
                  <a:lnTo>
                    <a:pt x="295" y="116"/>
                  </a:lnTo>
                  <a:lnTo>
                    <a:pt x="293" y="112"/>
                  </a:lnTo>
                  <a:lnTo>
                    <a:pt x="291" y="112"/>
                  </a:lnTo>
                  <a:lnTo>
                    <a:pt x="289" y="110"/>
                  </a:lnTo>
                  <a:lnTo>
                    <a:pt x="280" y="104"/>
                  </a:lnTo>
                  <a:lnTo>
                    <a:pt x="278" y="102"/>
                  </a:lnTo>
                  <a:lnTo>
                    <a:pt x="276" y="104"/>
                  </a:lnTo>
                  <a:lnTo>
                    <a:pt x="274" y="104"/>
                  </a:lnTo>
                  <a:lnTo>
                    <a:pt x="274" y="104"/>
                  </a:lnTo>
                  <a:lnTo>
                    <a:pt x="272" y="104"/>
                  </a:lnTo>
                  <a:lnTo>
                    <a:pt x="269" y="102"/>
                  </a:lnTo>
                  <a:lnTo>
                    <a:pt x="265" y="100"/>
                  </a:lnTo>
                  <a:lnTo>
                    <a:pt x="255" y="95"/>
                  </a:lnTo>
                  <a:lnTo>
                    <a:pt x="248" y="93"/>
                  </a:lnTo>
                  <a:lnTo>
                    <a:pt x="246" y="93"/>
                  </a:lnTo>
                  <a:lnTo>
                    <a:pt x="242" y="93"/>
                  </a:lnTo>
                  <a:lnTo>
                    <a:pt x="242" y="91"/>
                  </a:lnTo>
                  <a:lnTo>
                    <a:pt x="244" y="89"/>
                  </a:lnTo>
                  <a:lnTo>
                    <a:pt x="244" y="89"/>
                  </a:lnTo>
                  <a:lnTo>
                    <a:pt x="244" y="85"/>
                  </a:lnTo>
                  <a:lnTo>
                    <a:pt x="242" y="85"/>
                  </a:lnTo>
                  <a:lnTo>
                    <a:pt x="242" y="83"/>
                  </a:lnTo>
                  <a:lnTo>
                    <a:pt x="240" y="81"/>
                  </a:lnTo>
                  <a:lnTo>
                    <a:pt x="240" y="81"/>
                  </a:lnTo>
                  <a:lnTo>
                    <a:pt x="240" y="80"/>
                  </a:lnTo>
                  <a:lnTo>
                    <a:pt x="242" y="80"/>
                  </a:lnTo>
                  <a:lnTo>
                    <a:pt x="242" y="80"/>
                  </a:lnTo>
                  <a:lnTo>
                    <a:pt x="244" y="80"/>
                  </a:lnTo>
                  <a:lnTo>
                    <a:pt x="244" y="80"/>
                  </a:lnTo>
                  <a:lnTo>
                    <a:pt x="246" y="76"/>
                  </a:lnTo>
                  <a:lnTo>
                    <a:pt x="246" y="74"/>
                  </a:lnTo>
                  <a:lnTo>
                    <a:pt x="244" y="74"/>
                  </a:lnTo>
                  <a:lnTo>
                    <a:pt x="240" y="70"/>
                  </a:lnTo>
                  <a:lnTo>
                    <a:pt x="240" y="68"/>
                  </a:lnTo>
                  <a:lnTo>
                    <a:pt x="238" y="68"/>
                  </a:lnTo>
                  <a:lnTo>
                    <a:pt x="234" y="70"/>
                  </a:lnTo>
                  <a:lnTo>
                    <a:pt x="234" y="70"/>
                  </a:lnTo>
                  <a:lnTo>
                    <a:pt x="230" y="70"/>
                  </a:lnTo>
                  <a:lnTo>
                    <a:pt x="229" y="66"/>
                  </a:lnTo>
                  <a:lnTo>
                    <a:pt x="227" y="64"/>
                  </a:lnTo>
                  <a:lnTo>
                    <a:pt x="225" y="62"/>
                  </a:lnTo>
                  <a:lnTo>
                    <a:pt x="219" y="61"/>
                  </a:lnTo>
                  <a:lnTo>
                    <a:pt x="217" y="59"/>
                  </a:lnTo>
                  <a:lnTo>
                    <a:pt x="217" y="59"/>
                  </a:lnTo>
                  <a:lnTo>
                    <a:pt x="215" y="59"/>
                  </a:lnTo>
                  <a:lnTo>
                    <a:pt x="213" y="55"/>
                  </a:lnTo>
                  <a:lnTo>
                    <a:pt x="211" y="53"/>
                  </a:lnTo>
                  <a:lnTo>
                    <a:pt x="211" y="51"/>
                  </a:lnTo>
                  <a:lnTo>
                    <a:pt x="209" y="51"/>
                  </a:lnTo>
                  <a:lnTo>
                    <a:pt x="202" y="49"/>
                  </a:lnTo>
                  <a:lnTo>
                    <a:pt x="200" y="49"/>
                  </a:lnTo>
                  <a:lnTo>
                    <a:pt x="196" y="49"/>
                  </a:lnTo>
                  <a:lnTo>
                    <a:pt x="192" y="49"/>
                  </a:lnTo>
                  <a:lnTo>
                    <a:pt x="190" y="51"/>
                  </a:lnTo>
                  <a:lnTo>
                    <a:pt x="187" y="53"/>
                  </a:lnTo>
                  <a:lnTo>
                    <a:pt x="187" y="53"/>
                  </a:lnTo>
                  <a:lnTo>
                    <a:pt x="185" y="53"/>
                  </a:lnTo>
                  <a:lnTo>
                    <a:pt x="183" y="51"/>
                  </a:lnTo>
                  <a:lnTo>
                    <a:pt x="181" y="51"/>
                  </a:lnTo>
                  <a:lnTo>
                    <a:pt x="179" y="49"/>
                  </a:lnTo>
                  <a:lnTo>
                    <a:pt x="179" y="47"/>
                  </a:lnTo>
                  <a:lnTo>
                    <a:pt x="177" y="47"/>
                  </a:lnTo>
                  <a:lnTo>
                    <a:pt x="177" y="45"/>
                  </a:lnTo>
                  <a:lnTo>
                    <a:pt x="177" y="45"/>
                  </a:lnTo>
                  <a:lnTo>
                    <a:pt x="177" y="45"/>
                  </a:lnTo>
                  <a:lnTo>
                    <a:pt x="177" y="45"/>
                  </a:lnTo>
                  <a:lnTo>
                    <a:pt x="175" y="43"/>
                  </a:lnTo>
                  <a:lnTo>
                    <a:pt x="173" y="43"/>
                  </a:lnTo>
                  <a:lnTo>
                    <a:pt x="171" y="43"/>
                  </a:lnTo>
                  <a:lnTo>
                    <a:pt x="171" y="43"/>
                  </a:lnTo>
                  <a:lnTo>
                    <a:pt x="169" y="43"/>
                  </a:lnTo>
                  <a:lnTo>
                    <a:pt x="169" y="41"/>
                  </a:lnTo>
                  <a:lnTo>
                    <a:pt x="168" y="38"/>
                  </a:lnTo>
                  <a:lnTo>
                    <a:pt x="168" y="38"/>
                  </a:lnTo>
                  <a:lnTo>
                    <a:pt x="168" y="36"/>
                  </a:lnTo>
                  <a:lnTo>
                    <a:pt x="164" y="34"/>
                  </a:lnTo>
                  <a:lnTo>
                    <a:pt x="162" y="34"/>
                  </a:lnTo>
                  <a:lnTo>
                    <a:pt x="160" y="32"/>
                  </a:lnTo>
                  <a:lnTo>
                    <a:pt x="158" y="32"/>
                  </a:lnTo>
                  <a:lnTo>
                    <a:pt x="158" y="30"/>
                  </a:lnTo>
                  <a:lnTo>
                    <a:pt x="158" y="28"/>
                  </a:lnTo>
                  <a:lnTo>
                    <a:pt x="158" y="26"/>
                  </a:lnTo>
                  <a:lnTo>
                    <a:pt x="158" y="22"/>
                  </a:lnTo>
                  <a:lnTo>
                    <a:pt x="156" y="22"/>
                  </a:lnTo>
                  <a:lnTo>
                    <a:pt x="154" y="22"/>
                  </a:lnTo>
                  <a:lnTo>
                    <a:pt x="152" y="21"/>
                  </a:lnTo>
                  <a:lnTo>
                    <a:pt x="152" y="21"/>
                  </a:lnTo>
                  <a:lnTo>
                    <a:pt x="152" y="19"/>
                  </a:lnTo>
                  <a:lnTo>
                    <a:pt x="152" y="19"/>
                  </a:lnTo>
                  <a:lnTo>
                    <a:pt x="152" y="17"/>
                  </a:lnTo>
                  <a:lnTo>
                    <a:pt x="152" y="17"/>
                  </a:lnTo>
                  <a:lnTo>
                    <a:pt x="150" y="15"/>
                  </a:lnTo>
                  <a:lnTo>
                    <a:pt x="150" y="15"/>
                  </a:lnTo>
                  <a:lnTo>
                    <a:pt x="150" y="13"/>
                  </a:lnTo>
                  <a:lnTo>
                    <a:pt x="150" y="13"/>
                  </a:lnTo>
                  <a:lnTo>
                    <a:pt x="150" y="11"/>
                  </a:lnTo>
                  <a:lnTo>
                    <a:pt x="150" y="9"/>
                  </a:lnTo>
                  <a:lnTo>
                    <a:pt x="150" y="9"/>
                  </a:lnTo>
                  <a:lnTo>
                    <a:pt x="148" y="9"/>
                  </a:lnTo>
                  <a:lnTo>
                    <a:pt x="147" y="9"/>
                  </a:lnTo>
                  <a:lnTo>
                    <a:pt x="147" y="7"/>
                  </a:lnTo>
                  <a:lnTo>
                    <a:pt x="147" y="5"/>
                  </a:lnTo>
                  <a:lnTo>
                    <a:pt x="145" y="3"/>
                  </a:lnTo>
                  <a:lnTo>
                    <a:pt x="143" y="2"/>
                  </a:lnTo>
                  <a:lnTo>
                    <a:pt x="139" y="0"/>
                  </a:lnTo>
                  <a:lnTo>
                    <a:pt x="139" y="0"/>
                  </a:lnTo>
                  <a:lnTo>
                    <a:pt x="133" y="0"/>
                  </a:lnTo>
                  <a:lnTo>
                    <a:pt x="131" y="3"/>
                  </a:lnTo>
                  <a:lnTo>
                    <a:pt x="131" y="9"/>
                  </a:lnTo>
                  <a:lnTo>
                    <a:pt x="129" y="11"/>
                  </a:lnTo>
                  <a:lnTo>
                    <a:pt x="129" y="11"/>
                  </a:lnTo>
                  <a:lnTo>
                    <a:pt x="126" y="9"/>
                  </a:lnTo>
                  <a:lnTo>
                    <a:pt x="126" y="7"/>
                  </a:lnTo>
                  <a:lnTo>
                    <a:pt x="124" y="11"/>
                  </a:lnTo>
                  <a:lnTo>
                    <a:pt x="122" y="13"/>
                  </a:lnTo>
                  <a:lnTo>
                    <a:pt x="122" y="13"/>
                  </a:lnTo>
                  <a:lnTo>
                    <a:pt x="124" y="17"/>
                  </a:lnTo>
                  <a:lnTo>
                    <a:pt x="124" y="17"/>
                  </a:lnTo>
                  <a:lnTo>
                    <a:pt x="128" y="21"/>
                  </a:lnTo>
                  <a:lnTo>
                    <a:pt x="129" y="24"/>
                  </a:lnTo>
                  <a:lnTo>
                    <a:pt x="131" y="28"/>
                  </a:lnTo>
                  <a:lnTo>
                    <a:pt x="131" y="30"/>
                  </a:lnTo>
                  <a:lnTo>
                    <a:pt x="131" y="32"/>
                  </a:lnTo>
                  <a:lnTo>
                    <a:pt x="129" y="32"/>
                  </a:lnTo>
                  <a:lnTo>
                    <a:pt x="128" y="34"/>
                  </a:lnTo>
                  <a:lnTo>
                    <a:pt x="126" y="34"/>
                  </a:lnTo>
                  <a:lnTo>
                    <a:pt x="120" y="32"/>
                  </a:lnTo>
                  <a:lnTo>
                    <a:pt x="118" y="32"/>
                  </a:lnTo>
                  <a:lnTo>
                    <a:pt x="118" y="30"/>
                  </a:lnTo>
                  <a:lnTo>
                    <a:pt x="116" y="28"/>
                  </a:lnTo>
                  <a:lnTo>
                    <a:pt x="114" y="24"/>
                  </a:lnTo>
                  <a:lnTo>
                    <a:pt x="114" y="24"/>
                  </a:lnTo>
                  <a:lnTo>
                    <a:pt x="112" y="24"/>
                  </a:lnTo>
                  <a:lnTo>
                    <a:pt x="110" y="24"/>
                  </a:lnTo>
                  <a:lnTo>
                    <a:pt x="107" y="22"/>
                  </a:lnTo>
                  <a:lnTo>
                    <a:pt x="103" y="22"/>
                  </a:lnTo>
                  <a:lnTo>
                    <a:pt x="101" y="22"/>
                  </a:lnTo>
                  <a:lnTo>
                    <a:pt x="101" y="22"/>
                  </a:lnTo>
                  <a:lnTo>
                    <a:pt x="99" y="22"/>
                  </a:lnTo>
                  <a:lnTo>
                    <a:pt x="97" y="22"/>
                  </a:lnTo>
                  <a:lnTo>
                    <a:pt x="95" y="21"/>
                  </a:lnTo>
                  <a:lnTo>
                    <a:pt x="93" y="21"/>
                  </a:lnTo>
                  <a:lnTo>
                    <a:pt x="89" y="22"/>
                  </a:lnTo>
                  <a:lnTo>
                    <a:pt x="87" y="22"/>
                  </a:lnTo>
                  <a:lnTo>
                    <a:pt x="86" y="22"/>
                  </a:lnTo>
                  <a:lnTo>
                    <a:pt x="86" y="22"/>
                  </a:lnTo>
                  <a:lnTo>
                    <a:pt x="84" y="21"/>
                  </a:lnTo>
                  <a:lnTo>
                    <a:pt x="82" y="19"/>
                  </a:lnTo>
                  <a:lnTo>
                    <a:pt x="80" y="17"/>
                  </a:lnTo>
                  <a:lnTo>
                    <a:pt x="80" y="17"/>
                  </a:lnTo>
                  <a:lnTo>
                    <a:pt x="78" y="17"/>
                  </a:lnTo>
                  <a:lnTo>
                    <a:pt x="78" y="17"/>
                  </a:lnTo>
                  <a:lnTo>
                    <a:pt x="76" y="17"/>
                  </a:lnTo>
                  <a:lnTo>
                    <a:pt x="76" y="15"/>
                  </a:lnTo>
                  <a:lnTo>
                    <a:pt x="76" y="15"/>
                  </a:lnTo>
                  <a:lnTo>
                    <a:pt x="74" y="15"/>
                  </a:lnTo>
                  <a:lnTo>
                    <a:pt x="72" y="15"/>
                  </a:lnTo>
                  <a:lnTo>
                    <a:pt x="68" y="15"/>
                  </a:lnTo>
                  <a:lnTo>
                    <a:pt x="68" y="15"/>
                  </a:lnTo>
                  <a:lnTo>
                    <a:pt x="67" y="15"/>
                  </a:lnTo>
                  <a:lnTo>
                    <a:pt x="63" y="19"/>
                  </a:lnTo>
                  <a:lnTo>
                    <a:pt x="57" y="19"/>
                  </a:lnTo>
                  <a:lnTo>
                    <a:pt x="51" y="22"/>
                  </a:lnTo>
                  <a:lnTo>
                    <a:pt x="47" y="26"/>
                  </a:lnTo>
                  <a:lnTo>
                    <a:pt x="44" y="28"/>
                  </a:lnTo>
                  <a:lnTo>
                    <a:pt x="44" y="28"/>
                  </a:lnTo>
                  <a:lnTo>
                    <a:pt x="42" y="28"/>
                  </a:lnTo>
                  <a:lnTo>
                    <a:pt x="36" y="26"/>
                  </a:lnTo>
                  <a:lnTo>
                    <a:pt x="36" y="26"/>
                  </a:lnTo>
                  <a:lnTo>
                    <a:pt x="34" y="28"/>
                  </a:lnTo>
                  <a:lnTo>
                    <a:pt x="34" y="28"/>
                  </a:lnTo>
                  <a:lnTo>
                    <a:pt x="30" y="32"/>
                  </a:lnTo>
                  <a:lnTo>
                    <a:pt x="28" y="36"/>
                  </a:lnTo>
                  <a:lnTo>
                    <a:pt x="23" y="41"/>
                  </a:lnTo>
                  <a:lnTo>
                    <a:pt x="21" y="41"/>
                  </a:lnTo>
                  <a:lnTo>
                    <a:pt x="21" y="43"/>
                  </a:lnTo>
                  <a:lnTo>
                    <a:pt x="23" y="45"/>
                  </a:lnTo>
                  <a:lnTo>
                    <a:pt x="23" y="45"/>
                  </a:lnTo>
                  <a:lnTo>
                    <a:pt x="23" y="47"/>
                  </a:lnTo>
                  <a:lnTo>
                    <a:pt x="21" y="47"/>
                  </a:lnTo>
                  <a:lnTo>
                    <a:pt x="21" y="49"/>
                  </a:lnTo>
                  <a:lnTo>
                    <a:pt x="19" y="49"/>
                  </a:lnTo>
                  <a:lnTo>
                    <a:pt x="19" y="47"/>
                  </a:lnTo>
                  <a:lnTo>
                    <a:pt x="17" y="47"/>
                  </a:lnTo>
                  <a:lnTo>
                    <a:pt x="17" y="49"/>
                  </a:lnTo>
                  <a:lnTo>
                    <a:pt x="17" y="49"/>
                  </a:lnTo>
                  <a:lnTo>
                    <a:pt x="19" y="51"/>
                  </a:lnTo>
                  <a:lnTo>
                    <a:pt x="19" y="53"/>
                  </a:lnTo>
                  <a:lnTo>
                    <a:pt x="21" y="53"/>
                  </a:lnTo>
                  <a:lnTo>
                    <a:pt x="21" y="53"/>
                  </a:lnTo>
                  <a:lnTo>
                    <a:pt x="21" y="55"/>
                  </a:lnTo>
                  <a:lnTo>
                    <a:pt x="21" y="57"/>
                  </a:lnTo>
                  <a:lnTo>
                    <a:pt x="21" y="61"/>
                  </a:lnTo>
                  <a:lnTo>
                    <a:pt x="19" y="61"/>
                  </a:lnTo>
                  <a:lnTo>
                    <a:pt x="19" y="59"/>
                  </a:lnTo>
                  <a:lnTo>
                    <a:pt x="19" y="59"/>
                  </a:lnTo>
                  <a:lnTo>
                    <a:pt x="17" y="59"/>
                  </a:lnTo>
                  <a:lnTo>
                    <a:pt x="17" y="61"/>
                  </a:lnTo>
                  <a:lnTo>
                    <a:pt x="15" y="64"/>
                  </a:lnTo>
                  <a:lnTo>
                    <a:pt x="13" y="68"/>
                  </a:lnTo>
                  <a:lnTo>
                    <a:pt x="13" y="70"/>
                  </a:lnTo>
                  <a:lnTo>
                    <a:pt x="13" y="72"/>
                  </a:lnTo>
                  <a:lnTo>
                    <a:pt x="15" y="74"/>
                  </a:lnTo>
                  <a:lnTo>
                    <a:pt x="17" y="76"/>
                  </a:lnTo>
                  <a:lnTo>
                    <a:pt x="17" y="78"/>
                  </a:lnTo>
                  <a:lnTo>
                    <a:pt x="17" y="80"/>
                  </a:lnTo>
                  <a:lnTo>
                    <a:pt x="19" y="81"/>
                  </a:lnTo>
                  <a:lnTo>
                    <a:pt x="19" y="83"/>
                  </a:lnTo>
                  <a:lnTo>
                    <a:pt x="19" y="85"/>
                  </a:lnTo>
                  <a:lnTo>
                    <a:pt x="19" y="87"/>
                  </a:lnTo>
                  <a:lnTo>
                    <a:pt x="19" y="87"/>
                  </a:lnTo>
                  <a:lnTo>
                    <a:pt x="17" y="89"/>
                  </a:lnTo>
                  <a:lnTo>
                    <a:pt x="17" y="89"/>
                  </a:lnTo>
                  <a:lnTo>
                    <a:pt x="19" y="93"/>
                  </a:lnTo>
                  <a:lnTo>
                    <a:pt x="19" y="93"/>
                  </a:lnTo>
                  <a:lnTo>
                    <a:pt x="21" y="95"/>
                  </a:lnTo>
                  <a:lnTo>
                    <a:pt x="21" y="95"/>
                  </a:lnTo>
                  <a:lnTo>
                    <a:pt x="23" y="95"/>
                  </a:lnTo>
                  <a:lnTo>
                    <a:pt x="23" y="95"/>
                  </a:lnTo>
                  <a:lnTo>
                    <a:pt x="23" y="95"/>
                  </a:lnTo>
                  <a:lnTo>
                    <a:pt x="23" y="97"/>
                  </a:lnTo>
                  <a:lnTo>
                    <a:pt x="23" y="97"/>
                  </a:lnTo>
                  <a:lnTo>
                    <a:pt x="23" y="99"/>
                  </a:lnTo>
                  <a:lnTo>
                    <a:pt x="21" y="99"/>
                  </a:lnTo>
                  <a:lnTo>
                    <a:pt x="19" y="100"/>
                  </a:lnTo>
                  <a:lnTo>
                    <a:pt x="11" y="104"/>
                  </a:lnTo>
                  <a:lnTo>
                    <a:pt x="9" y="106"/>
                  </a:lnTo>
                  <a:lnTo>
                    <a:pt x="7" y="106"/>
                  </a:lnTo>
                  <a:lnTo>
                    <a:pt x="6" y="106"/>
                  </a:lnTo>
                  <a:lnTo>
                    <a:pt x="4" y="106"/>
                  </a:lnTo>
                  <a:lnTo>
                    <a:pt x="2" y="108"/>
                  </a:lnTo>
                  <a:lnTo>
                    <a:pt x="0" y="108"/>
                  </a:lnTo>
                  <a:lnTo>
                    <a:pt x="0" y="110"/>
                  </a:lnTo>
                  <a:lnTo>
                    <a:pt x="2" y="112"/>
                  </a:lnTo>
                  <a:lnTo>
                    <a:pt x="2" y="112"/>
                  </a:lnTo>
                  <a:lnTo>
                    <a:pt x="6" y="110"/>
                  </a:lnTo>
                  <a:lnTo>
                    <a:pt x="7" y="110"/>
                  </a:lnTo>
                  <a:lnTo>
                    <a:pt x="9" y="110"/>
                  </a:lnTo>
                  <a:lnTo>
                    <a:pt x="17" y="118"/>
                  </a:lnTo>
                  <a:lnTo>
                    <a:pt x="23" y="121"/>
                  </a:lnTo>
                  <a:lnTo>
                    <a:pt x="34" y="127"/>
                  </a:lnTo>
                  <a:lnTo>
                    <a:pt x="36" y="129"/>
                  </a:lnTo>
                  <a:lnTo>
                    <a:pt x="34" y="131"/>
                  </a:lnTo>
                  <a:lnTo>
                    <a:pt x="32" y="131"/>
                  </a:lnTo>
                  <a:lnTo>
                    <a:pt x="28" y="135"/>
                  </a:lnTo>
                  <a:lnTo>
                    <a:pt x="25" y="138"/>
                  </a:lnTo>
                  <a:lnTo>
                    <a:pt x="21" y="148"/>
                  </a:lnTo>
                  <a:lnTo>
                    <a:pt x="17" y="156"/>
                  </a:lnTo>
                  <a:lnTo>
                    <a:pt x="17" y="157"/>
                  </a:lnTo>
                  <a:lnTo>
                    <a:pt x="17" y="161"/>
                  </a:lnTo>
                  <a:lnTo>
                    <a:pt x="17" y="165"/>
                  </a:lnTo>
                  <a:lnTo>
                    <a:pt x="17" y="167"/>
                  </a:lnTo>
                  <a:lnTo>
                    <a:pt x="19" y="173"/>
                  </a:lnTo>
                  <a:lnTo>
                    <a:pt x="19" y="178"/>
                  </a:lnTo>
                  <a:lnTo>
                    <a:pt x="21" y="180"/>
                  </a:lnTo>
                  <a:lnTo>
                    <a:pt x="25" y="190"/>
                  </a:lnTo>
                  <a:lnTo>
                    <a:pt x="32" y="184"/>
                  </a:lnTo>
                  <a:lnTo>
                    <a:pt x="36" y="182"/>
                  </a:lnTo>
                  <a:lnTo>
                    <a:pt x="38" y="182"/>
                  </a:lnTo>
                  <a:lnTo>
                    <a:pt x="38" y="182"/>
                  </a:lnTo>
                  <a:lnTo>
                    <a:pt x="44" y="186"/>
                  </a:lnTo>
                  <a:lnTo>
                    <a:pt x="47" y="188"/>
                  </a:lnTo>
                  <a:lnTo>
                    <a:pt x="47" y="190"/>
                  </a:lnTo>
                  <a:lnTo>
                    <a:pt x="49" y="190"/>
                  </a:lnTo>
                  <a:lnTo>
                    <a:pt x="55" y="188"/>
                  </a:lnTo>
                  <a:lnTo>
                    <a:pt x="57" y="184"/>
                  </a:lnTo>
                  <a:lnTo>
                    <a:pt x="59" y="180"/>
                  </a:lnTo>
                  <a:lnTo>
                    <a:pt x="57" y="175"/>
                  </a:lnTo>
                  <a:lnTo>
                    <a:pt x="55" y="165"/>
                  </a:lnTo>
                  <a:lnTo>
                    <a:pt x="55" y="163"/>
                  </a:lnTo>
                  <a:lnTo>
                    <a:pt x="55" y="161"/>
                  </a:lnTo>
                  <a:lnTo>
                    <a:pt x="55" y="159"/>
                  </a:lnTo>
                  <a:lnTo>
                    <a:pt x="55" y="159"/>
                  </a:lnTo>
                  <a:lnTo>
                    <a:pt x="57" y="157"/>
                  </a:lnTo>
                  <a:lnTo>
                    <a:pt x="59" y="157"/>
                  </a:lnTo>
                  <a:lnTo>
                    <a:pt x="59" y="157"/>
                  </a:lnTo>
                  <a:lnTo>
                    <a:pt x="61" y="157"/>
                  </a:lnTo>
                  <a:lnTo>
                    <a:pt x="61" y="159"/>
                  </a:lnTo>
                  <a:lnTo>
                    <a:pt x="67" y="165"/>
                  </a:lnTo>
                  <a:lnTo>
                    <a:pt x="70" y="169"/>
                  </a:lnTo>
                  <a:lnTo>
                    <a:pt x="72" y="175"/>
                  </a:lnTo>
                  <a:lnTo>
                    <a:pt x="74" y="177"/>
                  </a:lnTo>
                  <a:lnTo>
                    <a:pt x="76" y="178"/>
                  </a:lnTo>
                  <a:lnTo>
                    <a:pt x="84" y="182"/>
                  </a:lnTo>
                  <a:lnTo>
                    <a:pt x="87" y="186"/>
                  </a:lnTo>
                  <a:lnTo>
                    <a:pt x="89" y="190"/>
                  </a:lnTo>
                  <a:lnTo>
                    <a:pt x="91" y="194"/>
                  </a:lnTo>
                  <a:lnTo>
                    <a:pt x="95" y="197"/>
                  </a:lnTo>
                  <a:lnTo>
                    <a:pt x="99" y="201"/>
                  </a:lnTo>
                  <a:lnTo>
                    <a:pt x="114" y="211"/>
                  </a:lnTo>
                  <a:lnTo>
                    <a:pt x="118" y="213"/>
                  </a:lnTo>
                  <a:lnTo>
                    <a:pt x="124" y="213"/>
                  </a:lnTo>
                  <a:lnTo>
                    <a:pt x="126" y="215"/>
                  </a:lnTo>
                  <a:lnTo>
                    <a:pt x="126" y="215"/>
                  </a:lnTo>
                  <a:lnTo>
                    <a:pt x="126" y="216"/>
                  </a:lnTo>
                  <a:lnTo>
                    <a:pt x="124" y="218"/>
                  </a:lnTo>
                  <a:lnTo>
                    <a:pt x="120" y="222"/>
                  </a:lnTo>
                  <a:lnTo>
                    <a:pt x="118" y="222"/>
                  </a:lnTo>
                  <a:lnTo>
                    <a:pt x="118" y="222"/>
                  </a:lnTo>
                  <a:lnTo>
                    <a:pt x="116" y="222"/>
                  </a:lnTo>
                  <a:lnTo>
                    <a:pt x="116" y="222"/>
                  </a:lnTo>
                  <a:lnTo>
                    <a:pt x="116" y="222"/>
                  </a:lnTo>
                  <a:lnTo>
                    <a:pt x="114" y="222"/>
                  </a:lnTo>
                  <a:lnTo>
                    <a:pt x="114" y="224"/>
                  </a:lnTo>
                  <a:lnTo>
                    <a:pt x="112" y="226"/>
                  </a:lnTo>
                  <a:lnTo>
                    <a:pt x="112" y="224"/>
                  </a:lnTo>
                  <a:lnTo>
                    <a:pt x="110" y="224"/>
                  </a:lnTo>
                  <a:lnTo>
                    <a:pt x="110" y="224"/>
                  </a:lnTo>
                  <a:lnTo>
                    <a:pt x="110" y="224"/>
                  </a:lnTo>
                  <a:lnTo>
                    <a:pt x="108" y="224"/>
                  </a:lnTo>
                  <a:lnTo>
                    <a:pt x="108" y="226"/>
                  </a:lnTo>
                  <a:lnTo>
                    <a:pt x="107" y="226"/>
                  </a:lnTo>
                  <a:lnTo>
                    <a:pt x="107" y="226"/>
                  </a:lnTo>
                  <a:lnTo>
                    <a:pt x="107" y="226"/>
                  </a:lnTo>
                  <a:lnTo>
                    <a:pt x="107" y="228"/>
                  </a:lnTo>
                  <a:lnTo>
                    <a:pt x="107" y="228"/>
                  </a:lnTo>
                  <a:lnTo>
                    <a:pt x="107" y="228"/>
                  </a:lnTo>
                  <a:lnTo>
                    <a:pt x="107" y="230"/>
                  </a:lnTo>
                  <a:lnTo>
                    <a:pt x="120" y="235"/>
                  </a:lnTo>
                  <a:lnTo>
                    <a:pt x="122" y="237"/>
                  </a:lnTo>
                  <a:lnTo>
                    <a:pt x="124" y="239"/>
                  </a:lnTo>
                  <a:lnTo>
                    <a:pt x="124" y="241"/>
                  </a:lnTo>
                  <a:lnTo>
                    <a:pt x="124" y="247"/>
                  </a:lnTo>
                  <a:lnTo>
                    <a:pt x="128" y="245"/>
                  </a:lnTo>
                  <a:lnTo>
                    <a:pt x="133" y="243"/>
                  </a:lnTo>
                  <a:lnTo>
                    <a:pt x="135" y="243"/>
                  </a:lnTo>
                  <a:lnTo>
                    <a:pt x="137" y="243"/>
                  </a:lnTo>
                  <a:lnTo>
                    <a:pt x="137" y="243"/>
                  </a:lnTo>
                  <a:lnTo>
                    <a:pt x="145" y="247"/>
                  </a:lnTo>
                  <a:lnTo>
                    <a:pt x="145" y="247"/>
                  </a:lnTo>
                  <a:lnTo>
                    <a:pt x="147" y="249"/>
                  </a:lnTo>
                  <a:lnTo>
                    <a:pt x="147" y="249"/>
                  </a:lnTo>
                  <a:lnTo>
                    <a:pt x="147" y="251"/>
                  </a:lnTo>
                  <a:lnTo>
                    <a:pt x="147" y="253"/>
                  </a:lnTo>
                  <a:lnTo>
                    <a:pt x="148" y="253"/>
                  </a:lnTo>
                  <a:lnTo>
                    <a:pt x="160" y="262"/>
                  </a:lnTo>
                  <a:lnTo>
                    <a:pt x="162" y="262"/>
                  </a:lnTo>
                  <a:lnTo>
                    <a:pt x="164" y="262"/>
                  </a:lnTo>
                  <a:lnTo>
                    <a:pt x="166" y="262"/>
                  </a:lnTo>
                  <a:lnTo>
                    <a:pt x="166" y="262"/>
                  </a:lnTo>
                  <a:lnTo>
                    <a:pt x="168" y="262"/>
                  </a:lnTo>
                  <a:lnTo>
                    <a:pt x="168" y="262"/>
                  </a:lnTo>
                  <a:lnTo>
                    <a:pt x="168" y="264"/>
                  </a:lnTo>
                  <a:lnTo>
                    <a:pt x="169" y="266"/>
                  </a:lnTo>
                  <a:lnTo>
                    <a:pt x="169" y="266"/>
                  </a:lnTo>
                  <a:lnTo>
                    <a:pt x="171" y="268"/>
                  </a:lnTo>
                  <a:lnTo>
                    <a:pt x="171" y="272"/>
                  </a:lnTo>
                  <a:lnTo>
                    <a:pt x="173" y="275"/>
                  </a:lnTo>
                  <a:lnTo>
                    <a:pt x="181" y="272"/>
                  </a:lnTo>
                  <a:lnTo>
                    <a:pt x="185" y="272"/>
                  </a:lnTo>
                  <a:lnTo>
                    <a:pt x="185" y="272"/>
                  </a:lnTo>
                  <a:lnTo>
                    <a:pt x="187" y="274"/>
                  </a:lnTo>
                  <a:lnTo>
                    <a:pt x="187" y="275"/>
                  </a:lnTo>
                  <a:lnTo>
                    <a:pt x="188" y="275"/>
                  </a:lnTo>
                  <a:lnTo>
                    <a:pt x="188" y="274"/>
                  </a:lnTo>
                  <a:lnTo>
                    <a:pt x="190" y="274"/>
                  </a:lnTo>
                  <a:lnTo>
                    <a:pt x="198" y="275"/>
                  </a:lnTo>
                  <a:lnTo>
                    <a:pt x="200" y="274"/>
                  </a:lnTo>
                  <a:lnTo>
                    <a:pt x="200" y="274"/>
                  </a:lnTo>
                  <a:lnTo>
                    <a:pt x="200" y="272"/>
                  </a:lnTo>
                  <a:lnTo>
                    <a:pt x="200" y="272"/>
                  </a:lnTo>
                  <a:lnTo>
                    <a:pt x="202" y="272"/>
                  </a:lnTo>
                  <a:lnTo>
                    <a:pt x="204" y="272"/>
                  </a:lnTo>
                  <a:lnTo>
                    <a:pt x="208" y="272"/>
                  </a:lnTo>
                  <a:lnTo>
                    <a:pt x="209" y="274"/>
                  </a:lnTo>
                  <a:lnTo>
                    <a:pt x="209" y="274"/>
                  </a:lnTo>
                  <a:lnTo>
                    <a:pt x="209" y="275"/>
                  </a:lnTo>
                  <a:lnTo>
                    <a:pt x="209" y="277"/>
                  </a:lnTo>
                  <a:lnTo>
                    <a:pt x="209" y="279"/>
                  </a:lnTo>
                  <a:lnTo>
                    <a:pt x="209" y="279"/>
                  </a:lnTo>
                  <a:lnTo>
                    <a:pt x="211" y="279"/>
                  </a:lnTo>
                  <a:lnTo>
                    <a:pt x="213" y="277"/>
                  </a:lnTo>
                  <a:lnTo>
                    <a:pt x="215" y="277"/>
                  </a:lnTo>
                  <a:lnTo>
                    <a:pt x="215" y="279"/>
                  </a:lnTo>
                  <a:lnTo>
                    <a:pt x="215" y="279"/>
                  </a:lnTo>
                  <a:lnTo>
                    <a:pt x="215" y="281"/>
                  </a:lnTo>
                  <a:lnTo>
                    <a:pt x="215" y="281"/>
                  </a:lnTo>
                  <a:lnTo>
                    <a:pt x="215" y="283"/>
                  </a:lnTo>
                  <a:lnTo>
                    <a:pt x="217" y="283"/>
                  </a:lnTo>
                  <a:lnTo>
                    <a:pt x="217" y="281"/>
                  </a:lnTo>
                  <a:lnTo>
                    <a:pt x="219" y="281"/>
                  </a:lnTo>
                  <a:lnTo>
                    <a:pt x="219" y="283"/>
                  </a:lnTo>
                  <a:lnTo>
                    <a:pt x="219" y="283"/>
                  </a:lnTo>
                  <a:lnTo>
                    <a:pt x="219" y="285"/>
                  </a:lnTo>
                  <a:lnTo>
                    <a:pt x="219" y="285"/>
                  </a:lnTo>
                  <a:lnTo>
                    <a:pt x="221" y="287"/>
                  </a:lnTo>
                  <a:lnTo>
                    <a:pt x="223" y="287"/>
                  </a:lnTo>
                  <a:lnTo>
                    <a:pt x="223" y="287"/>
                  </a:lnTo>
                  <a:lnTo>
                    <a:pt x="225" y="287"/>
                  </a:lnTo>
                  <a:lnTo>
                    <a:pt x="227" y="285"/>
                  </a:lnTo>
                  <a:lnTo>
                    <a:pt x="227" y="285"/>
                  </a:lnTo>
                  <a:lnTo>
                    <a:pt x="230" y="283"/>
                  </a:lnTo>
                  <a:lnTo>
                    <a:pt x="230" y="281"/>
                  </a:lnTo>
                  <a:lnTo>
                    <a:pt x="230" y="279"/>
                  </a:lnTo>
                  <a:lnTo>
                    <a:pt x="232" y="277"/>
                  </a:lnTo>
                  <a:lnTo>
                    <a:pt x="230" y="277"/>
                  </a:lnTo>
                  <a:lnTo>
                    <a:pt x="229" y="275"/>
                  </a:lnTo>
                  <a:lnTo>
                    <a:pt x="229" y="272"/>
                  </a:lnTo>
                  <a:lnTo>
                    <a:pt x="229" y="270"/>
                  </a:lnTo>
                  <a:lnTo>
                    <a:pt x="229" y="268"/>
                  </a:lnTo>
                  <a:lnTo>
                    <a:pt x="229" y="266"/>
                  </a:lnTo>
                  <a:lnTo>
                    <a:pt x="230" y="264"/>
                  </a:lnTo>
                  <a:lnTo>
                    <a:pt x="230" y="264"/>
                  </a:lnTo>
                  <a:lnTo>
                    <a:pt x="232" y="262"/>
                  </a:lnTo>
                  <a:lnTo>
                    <a:pt x="234" y="262"/>
                  </a:lnTo>
                  <a:lnTo>
                    <a:pt x="234" y="260"/>
                  </a:lnTo>
                  <a:lnTo>
                    <a:pt x="234" y="260"/>
                  </a:lnTo>
                  <a:lnTo>
                    <a:pt x="234" y="256"/>
                  </a:lnTo>
                  <a:lnTo>
                    <a:pt x="236" y="251"/>
                  </a:lnTo>
                  <a:lnTo>
                    <a:pt x="236" y="247"/>
                  </a:lnTo>
                  <a:lnTo>
                    <a:pt x="240" y="245"/>
                  </a:lnTo>
                  <a:lnTo>
                    <a:pt x="242" y="247"/>
                  </a:lnTo>
                  <a:lnTo>
                    <a:pt x="244" y="247"/>
                  </a:lnTo>
                  <a:lnTo>
                    <a:pt x="246" y="245"/>
                  </a:lnTo>
                  <a:lnTo>
                    <a:pt x="246" y="245"/>
                  </a:lnTo>
                  <a:lnTo>
                    <a:pt x="246" y="243"/>
                  </a:lnTo>
                  <a:lnTo>
                    <a:pt x="244" y="237"/>
                  </a:lnTo>
                  <a:lnTo>
                    <a:pt x="246" y="237"/>
                  </a:lnTo>
                  <a:lnTo>
                    <a:pt x="248" y="235"/>
                  </a:lnTo>
                  <a:lnTo>
                    <a:pt x="248" y="237"/>
                  </a:lnTo>
                  <a:lnTo>
                    <a:pt x="249" y="237"/>
                  </a:lnTo>
                  <a:lnTo>
                    <a:pt x="251" y="230"/>
                  </a:lnTo>
                  <a:lnTo>
                    <a:pt x="251" y="228"/>
                  </a:lnTo>
                  <a:lnTo>
                    <a:pt x="251" y="226"/>
                  </a:lnTo>
                  <a:lnTo>
                    <a:pt x="249" y="226"/>
                  </a:lnTo>
                  <a:lnTo>
                    <a:pt x="249" y="226"/>
                  </a:lnTo>
                  <a:lnTo>
                    <a:pt x="248" y="226"/>
                  </a:lnTo>
                  <a:lnTo>
                    <a:pt x="248" y="224"/>
                  </a:lnTo>
                  <a:lnTo>
                    <a:pt x="248" y="220"/>
                  </a:lnTo>
                  <a:lnTo>
                    <a:pt x="246" y="216"/>
                  </a:lnTo>
                  <a:lnTo>
                    <a:pt x="244" y="215"/>
                  </a:lnTo>
                  <a:lnTo>
                    <a:pt x="246" y="213"/>
                  </a:lnTo>
                  <a:lnTo>
                    <a:pt x="246" y="213"/>
                  </a:lnTo>
                  <a:lnTo>
                    <a:pt x="249" y="211"/>
                  </a:lnTo>
                  <a:lnTo>
                    <a:pt x="249" y="211"/>
                  </a:lnTo>
                  <a:lnTo>
                    <a:pt x="249" y="209"/>
                  </a:lnTo>
                  <a:lnTo>
                    <a:pt x="249" y="209"/>
                  </a:lnTo>
                  <a:lnTo>
                    <a:pt x="251" y="207"/>
                  </a:lnTo>
                  <a:lnTo>
                    <a:pt x="251" y="207"/>
                  </a:lnTo>
                  <a:lnTo>
                    <a:pt x="251" y="207"/>
                  </a:lnTo>
                  <a:lnTo>
                    <a:pt x="253" y="205"/>
                  </a:lnTo>
                  <a:lnTo>
                    <a:pt x="255" y="205"/>
                  </a:lnTo>
                  <a:lnTo>
                    <a:pt x="255" y="203"/>
                  </a:lnTo>
                  <a:lnTo>
                    <a:pt x="255" y="203"/>
                  </a:lnTo>
                  <a:lnTo>
                    <a:pt x="255" y="203"/>
                  </a:lnTo>
                  <a:lnTo>
                    <a:pt x="255" y="201"/>
                  </a:lnTo>
                  <a:lnTo>
                    <a:pt x="255" y="201"/>
                  </a:lnTo>
                  <a:lnTo>
                    <a:pt x="255" y="201"/>
                  </a:lnTo>
                  <a:lnTo>
                    <a:pt x="257" y="199"/>
                  </a:lnTo>
                  <a:lnTo>
                    <a:pt x="257" y="199"/>
                  </a:lnTo>
                  <a:lnTo>
                    <a:pt x="259" y="197"/>
                  </a:lnTo>
                  <a:lnTo>
                    <a:pt x="261" y="196"/>
                  </a:lnTo>
                  <a:lnTo>
                    <a:pt x="261" y="192"/>
                  </a:lnTo>
                  <a:lnTo>
                    <a:pt x="259" y="190"/>
                  </a:lnTo>
                  <a:lnTo>
                    <a:pt x="259" y="188"/>
                  </a:lnTo>
                  <a:lnTo>
                    <a:pt x="257" y="184"/>
                  </a:lnTo>
                  <a:lnTo>
                    <a:pt x="257" y="182"/>
                  </a:lnTo>
                  <a:lnTo>
                    <a:pt x="259" y="178"/>
                  </a:lnTo>
                  <a:lnTo>
                    <a:pt x="261" y="177"/>
                  </a:lnTo>
                  <a:lnTo>
                    <a:pt x="267" y="175"/>
                  </a:lnTo>
                  <a:lnTo>
                    <a:pt x="269" y="173"/>
                  </a:lnTo>
                  <a:lnTo>
                    <a:pt x="274" y="167"/>
                  </a:lnTo>
                  <a:lnTo>
                    <a:pt x="276" y="165"/>
                  </a:lnTo>
                  <a:lnTo>
                    <a:pt x="276" y="161"/>
                  </a:lnTo>
                  <a:lnTo>
                    <a:pt x="278" y="159"/>
                  </a:lnTo>
                  <a:lnTo>
                    <a:pt x="278" y="157"/>
                  </a:lnTo>
                  <a:lnTo>
                    <a:pt x="282" y="157"/>
                  </a:lnTo>
                  <a:lnTo>
                    <a:pt x="284" y="157"/>
                  </a:lnTo>
                  <a:lnTo>
                    <a:pt x="286" y="156"/>
                  </a:lnTo>
                  <a:lnTo>
                    <a:pt x="288" y="154"/>
                  </a:lnTo>
                  <a:lnTo>
                    <a:pt x="291" y="152"/>
                  </a:lnTo>
                  <a:lnTo>
                    <a:pt x="291" y="150"/>
                  </a:lnTo>
                  <a:lnTo>
                    <a:pt x="295" y="146"/>
                  </a:lnTo>
                  <a:lnTo>
                    <a:pt x="295" y="144"/>
                  </a:lnTo>
                  <a:lnTo>
                    <a:pt x="301" y="140"/>
                  </a:lnTo>
                  <a:lnTo>
                    <a:pt x="303" y="138"/>
                  </a:lnTo>
                  <a:lnTo>
                    <a:pt x="303" y="135"/>
                  </a:lnTo>
                  <a:lnTo>
                    <a:pt x="303" y="133"/>
                  </a:lnTo>
                  <a:lnTo>
                    <a:pt x="305" y="131"/>
                  </a:lnTo>
                  <a:lnTo>
                    <a:pt x="307" y="131"/>
                  </a:lnTo>
                  <a:lnTo>
                    <a:pt x="307" y="133"/>
                  </a:lnTo>
                  <a:lnTo>
                    <a:pt x="309" y="135"/>
                  </a:lnTo>
                  <a:lnTo>
                    <a:pt x="310" y="135"/>
                  </a:lnTo>
                  <a:lnTo>
                    <a:pt x="316" y="133"/>
                  </a:lnTo>
                  <a:lnTo>
                    <a:pt x="316" y="133"/>
                  </a:lnTo>
                  <a:lnTo>
                    <a:pt x="318" y="131"/>
                  </a:lnTo>
                  <a:lnTo>
                    <a:pt x="316" y="129"/>
                  </a:lnTo>
                  <a:close/>
                </a:path>
              </a:pathLst>
            </a:custGeom>
            <a:solidFill>
              <a:srgbClr val="DA291C"/>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61" name="Freeform 10">
              <a:extLst>
                <a:ext uri="{FF2B5EF4-FFF2-40B4-BE49-F238E27FC236}">
                  <a16:creationId xmlns:a16="http://schemas.microsoft.com/office/drawing/2014/main" id="{2CD2B2A4-11AC-5065-ED9C-5A3E2AB58641}"/>
                </a:ext>
              </a:extLst>
            </p:cNvPr>
            <p:cNvSpPr>
              <a:spLocks/>
            </p:cNvSpPr>
            <p:nvPr/>
          </p:nvSpPr>
          <p:spPr bwMode="auto">
            <a:xfrm>
              <a:off x="2562521" y="2406681"/>
              <a:ext cx="1316800" cy="1138399"/>
            </a:xfrm>
            <a:custGeom>
              <a:avLst/>
              <a:gdLst>
                <a:gd name="T0" fmla="*/ 652 w 698"/>
                <a:gd name="T1" fmla="*/ 453 h 673"/>
                <a:gd name="T2" fmla="*/ 656 w 698"/>
                <a:gd name="T3" fmla="*/ 426 h 673"/>
                <a:gd name="T4" fmla="*/ 635 w 698"/>
                <a:gd name="T5" fmla="*/ 405 h 673"/>
                <a:gd name="T6" fmla="*/ 677 w 698"/>
                <a:gd name="T7" fmla="*/ 392 h 673"/>
                <a:gd name="T8" fmla="*/ 642 w 698"/>
                <a:gd name="T9" fmla="*/ 354 h 673"/>
                <a:gd name="T10" fmla="*/ 610 w 698"/>
                <a:gd name="T11" fmla="*/ 312 h 673"/>
                <a:gd name="T12" fmla="*/ 517 w 698"/>
                <a:gd name="T13" fmla="*/ 285 h 673"/>
                <a:gd name="T14" fmla="*/ 404 w 698"/>
                <a:gd name="T15" fmla="*/ 243 h 673"/>
                <a:gd name="T16" fmla="*/ 355 w 698"/>
                <a:gd name="T17" fmla="*/ 207 h 673"/>
                <a:gd name="T18" fmla="*/ 307 w 698"/>
                <a:gd name="T19" fmla="*/ 188 h 673"/>
                <a:gd name="T20" fmla="*/ 263 w 698"/>
                <a:gd name="T21" fmla="*/ 171 h 673"/>
                <a:gd name="T22" fmla="*/ 217 w 698"/>
                <a:gd name="T23" fmla="*/ 162 h 673"/>
                <a:gd name="T24" fmla="*/ 153 w 698"/>
                <a:gd name="T25" fmla="*/ 116 h 673"/>
                <a:gd name="T26" fmla="*/ 118 w 698"/>
                <a:gd name="T27" fmla="*/ 65 h 673"/>
                <a:gd name="T28" fmla="*/ 63 w 698"/>
                <a:gd name="T29" fmla="*/ 46 h 673"/>
                <a:gd name="T30" fmla="*/ 21 w 698"/>
                <a:gd name="T31" fmla="*/ 40 h 673"/>
                <a:gd name="T32" fmla="*/ 0 w 698"/>
                <a:gd name="T33" fmla="*/ 89 h 673"/>
                <a:gd name="T34" fmla="*/ 6 w 698"/>
                <a:gd name="T35" fmla="*/ 137 h 673"/>
                <a:gd name="T36" fmla="*/ 23 w 698"/>
                <a:gd name="T37" fmla="*/ 192 h 673"/>
                <a:gd name="T38" fmla="*/ 38 w 698"/>
                <a:gd name="T39" fmla="*/ 224 h 673"/>
                <a:gd name="T40" fmla="*/ 38 w 698"/>
                <a:gd name="T41" fmla="*/ 262 h 673"/>
                <a:gd name="T42" fmla="*/ 23 w 698"/>
                <a:gd name="T43" fmla="*/ 293 h 673"/>
                <a:gd name="T44" fmla="*/ 52 w 698"/>
                <a:gd name="T45" fmla="*/ 329 h 673"/>
                <a:gd name="T46" fmla="*/ 52 w 698"/>
                <a:gd name="T47" fmla="*/ 354 h 673"/>
                <a:gd name="T48" fmla="*/ 31 w 698"/>
                <a:gd name="T49" fmla="*/ 380 h 673"/>
                <a:gd name="T50" fmla="*/ 86 w 698"/>
                <a:gd name="T51" fmla="*/ 369 h 673"/>
                <a:gd name="T52" fmla="*/ 105 w 698"/>
                <a:gd name="T53" fmla="*/ 369 h 673"/>
                <a:gd name="T54" fmla="*/ 139 w 698"/>
                <a:gd name="T55" fmla="*/ 382 h 673"/>
                <a:gd name="T56" fmla="*/ 175 w 698"/>
                <a:gd name="T57" fmla="*/ 401 h 673"/>
                <a:gd name="T58" fmla="*/ 172 w 698"/>
                <a:gd name="T59" fmla="*/ 447 h 673"/>
                <a:gd name="T60" fmla="*/ 153 w 698"/>
                <a:gd name="T61" fmla="*/ 498 h 673"/>
                <a:gd name="T62" fmla="*/ 118 w 698"/>
                <a:gd name="T63" fmla="*/ 557 h 673"/>
                <a:gd name="T64" fmla="*/ 109 w 698"/>
                <a:gd name="T65" fmla="*/ 614 h 673"/>
                <a:gd name="T66" fmla="*/ 130 w 698"/>
                <a:gd name="T67" fmla="*/ 622 h 673"/>
                <a:gd name="T68" fmla="*/ 177 w 698"/>
                <a:gd name="T69" fmla="*/ 616 h 673"/>
                <a:gd name="T70" fmla="*/ 154 w 698"/>
                <a:gd name="T71" fmla="*/ 591 h 673"/>
                <a:gd name="T72" fmla="*/ 139 w 698"/>
                <a:gd name="T73" fmla="*/ 523 h 673"/>
                <a:gd name="T74" fmla="*/ 154 w 698"/>
                <a:gd name="T75" fmla="*/ 512 h 673"/>
                <a:gd name="T76" fmla="*/ 170 w 698"/>
                <a:gd name="T77" fmla="*/ 517 h 673"/>
                <a:gd name="T78" fmla="*/ 174 w 698"/>
                <a:gd name="T79" fmla="*/ 540 h 673"/>
                <a:gd name="T80" fmla="*/ 189 w 698"/>
                <a:gd name="T81" fmla="*/ 548 h 673"/>
                <a:gd name="T82" fmla="*/ 206 w 698"/>
                <a:gd name="T83" fmla="*/ 532 h 673"/>
                <a:gd name="T84" fmla="*/ 210 w 698"/>
                <a:gd name="T85" fmla="*/ 551 h 673"/>
                <a:gd name="T86" fmla="*/ 233 w 698"/>
                <a:gd name="T87" fmla="*/ 546 h 673"/>
                <a:gd name="T88" fmla="*/ 271 w 698"/>
                <a:gd name="T89" fmla="*/ 531 h 673"/>
                <a:gd name="T90" fmla="*/ 305 w 698"/>
                <a:gd name="T91" fmla="*/ 538 h 673"/>
                <a:gd name="T92" fmla="*/ 295 w 698"/>
                <a:gd name="T93" fmla="*/ 553 h 673"/>
                <a:gd name="T94" fmla="*/ 318 w 698"/>
                <a:gd name="T95" fmla="*/ 557 h 673"/>
                <a:gd name="T96" fmla="*/ 332 w 698"/>
                <a:gd name="T97" fmla="*/ 555 h 673"/>
                <a:gd name="T98" fmla="*/ 351 w 698"/>
                <a:gd name="T99" fmla="*/ 542 h 673"/>
                <a:gd name="T100" fmla="*/ 360 w 698"/>
                <a:gd name="T101" fmla="*/ 567 h 673"/>
                <a:gd name="T102" fmla="*/ 385 w 698"/>
                <a:gd name="T103" fmla="*/ 546 h 673"/>
                <a:gd name="T104" fmla="*/ 416 w 698"/>
                <a:gd name="T105" fmla="*/ 548 h 673"/>
                <a:gd name="T106" fmla="*/ 444 w 698"/>
                <a:gd name="T107" fmla="*/ 565 h 673"/>
                <a:gd name="T108" fmla="*/ 475 w 698"/>
                <a:gd name="T109" fmla="*/ 586 h 673"/>
                <a:gd name="T110" fmla="*/ 496 w 698"/>
                <a:gd name="T111" fmla="*/ 597 h 673"/>
                <a:gd name="T112" fmla="*/ 530 w 698"/>
                <a:gd name="T113" fmla="*/ 607 h 673"/>
                <a:gd name="T114" fmla="*/ 522 w 698"/>
                <a:gd name="T115" fmla="*/ 652 h 673"/>
                <a:gd name="T116" fmla="*/ 572 w 698"/>
                <a:gd name="T117" fmla="*/ 660 h 673"/>
                <a:gd name="T118" fmla="*/ 585 w 698"/>
                <a:gd name="T119" fmla="*/ 612 h 673"/>
                <a:gd name="T120" fmla="*/ 581 w 698"/>
                <a:gd name="T121" fmla="*/ 571 h 673"/>
                <a:gd name="T122" fmla="*/ 633 w 698"/>
                <a:gd name="T123" fmla="*/ 506 h 673"/>
                <a:gd name="T124" fmla="*/ 671 w 698"/>
                <a:gd name="T125" fmla="*/ 49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8" h="673">
                  <a:moveTo>
                    <a:pt x="698" y="483"/>
                  </a:moveTo>
                  <a:lnTo>
                    <a:pt x="696" y="481"/>
                  </a:lnTo>
                  <a:lnTo>
                    <a:pt x="696" y="481"/>
                  </a:lnTo>
                  <a:lnTo>
                    <a:pt x="690" y="475"/>
                  </a:lnTo>
                  <a:lnTo>
                    <a:pt x="688" y="474"/>
                  </a:lnTo>
                  <a:lnTo>
                    <a:pt x="686" y="474"/>
                  </a:lnTo>
                  <a:lnTo>
                    <a:pt x="684" y="474"/>
                  </a:lnTo>
                  <a:lnTo>
                    <a:pt x="682" y="474"/>
                  </a:lnTo>
                  <a:lnTo>
                    <a:pt x="678" y="472"/>
                  </a:lnTo>
                  <a:lnTo>
                    <a:pt x="678" y="472"/>
                  </a:lnTo>
                  <a:lnTo>
                    <a:pt x="678" y="470"/>
                  </a:lnTo>
                  <a:lnTo>
                    <a:pt x="677" y="468"/>
                  </a:lnTo>
                  <a:lnTo>
                    <a:pt x="675" y="468"/>
                  </a:lnTo>
                  <a:lnTo>
                    <a:pt x="675" y="466"/>
                  </a:lnTo>
                  <a:lnTo>
                    <a:pt x="673" y="466"/>
                  </a:lnTo>
                  <a:lnTo>
                    <a:pt x="671" y="466"/>
                  </a:lnTo>
                  <a:lnTo>
                    <a:pt x="667" y="468"/>
                  </a:lnTo>
                  <a:lnTo>
                    <a:pt x="665" y="468"/>
                  </a:lnTo>
                  <a:lnTo>
                    <a:pt x="665" y="468"/>
                  </a:lnTo>
                  <a:lnTo>
                    <a:pt x="663" y="466"/>
                  </a:lnTo>
                  <a:lnTo>
                    <a:pt x="661" y="466"/>
                  </a:lnTo>
                  <a:lnTo>
                    <a:pt x="661" y="464"/>
                  </a:lnTo>
                  <a:lnTo>
                    <a:pt x="661" y="464"/>
                  </a:lnTo>
                  <a:lnTo>
                    <a:pt x="659" y="460"/>
                  </a:lnTo>
                  <a:lnTo>
                    <a:pt x="659" y="458"/>
                  </a:lnTo>
                  <a:lnTo>
                    <a:pt x="658" y="458"/>
                  </a:lnTo>
                  <a:lnTo>
                    <a:pt x="658" y="458"/>
                  </a:lnTo>
                  <a:lnTo>
                    <a:pt x="656" y="458"/>
                  </a:lnTo>
                  <a:lnTo>
                    <a:pt x="656" y="456"/>
                  </a:lnTo>
                  <a:lnTo>
                    <a:pt x="656" y="454"/>
                  </a:lnTo>
                  <a:lnTo>
                    <a:pt x="654" y="454"/>
                  </a:lnTo>
                  <a:lnTo>
                    <a:pt x="654" y="453"/>
                  </a:lnTo>
                  <a:lnTo>
                    <a:pt x="652" y="453"/>
                  </a:lnTo>
                  <a:lnTo>
                    <a:pt x="650" y="451"/>
                  </a:lnTo>
                  <a:lnTo>
                    <a:pt x="650" y="451"/>
                  </a:lnTo>
                  <a:lnTo>
                    <a:pt x="648" y="451"/>
                  </a:lnTo>
                  <a:lnTo>
                    <a:pt x="646" y="451"/>
                  </a:lnTo>
                  <a:lnTo>
                    <a:pt x="646" y="451"/>
                  </a:lnTo>
                  <a:lnTo>
                    <a:pt x="644" y="443"/>
                  </a:lnTo>
                  <a:lnTo>
                    <a:pt x="642" y="441"/>
                  </a:lnTo>
                  <a:lnTo>
                    <a:pt x="640" y="439"/>
                  </a:lnTo>
                  <a:lnTo>
                    <a:pt x="638" y="439"/>
                  </a:lnTo>
                  <a:lnTo>
                    <a:pt x="638" y="437"/>
                  </a:lnTo>
                  <a:lnTo>
                    <a:pt x="638" y="437"/>
                  </a:lnTo>
                  <a:lnTo>
                    <a:pt x="638" y="435"/>
                  </a:lnTo>
                  <a:lnTo>
                    <a:pt x="640" y="435"/>
                  </a:lnTo>
                  <a:lnTo>
                    <a:pt x="640" y="435"/>
                  </a:lnTo>
                  <a:lnTo>
                    <a:pt x="640" y="435"/>
                  </a:lnTo>
                  <a:lnTo>
                    <a:pt x="640" y="435"/>
                  </a:lnTo>
                  <a:lnTo>
                    <a:pt x="642" y="434"/>
                  </a:lnTo>
                  <a:lnTo>
                    <a:pt x="648" y="434"/>
                  </a:lnTo>
                  <a:lnTo>
                    <a:pt x="648" y="434"/>
                  </a:lnTo>
                  <a:lnTo>
                    <a:pt x="650" y="434"/>
                  </a:lnTo>
                  <a:lnTo>
                    <a:pt x="650" y="432"/>
                  </a:lnTo>
                  <a:lnTo>
                    <a:pt x="650" y="432"/>
                  </a:lnTo>
                  <a:lnTo>
                    <a:pt x="652" y="432"/>
                  </a:lnTo>
                  <a:lnTo>
                    <a:pt x="652" y="432"/>
                  </a:lnTo>
                  <a:lnTo>
                    <a:pt x="654" y="432"/>
                  </a:lnTo>
                  <a:lnTo>
                    <a:pt x="654" y="432"/>
                  </a:lnTo>
                  <a:lnTo>
                    <a:pt x="656" y="432"/>
                  </a:lnTo>
                  <a:lnTo>
                    <a:pt x="658" y="432"/>
                  </a:lnTo>
                  <a:lnTo>
                    <a:pt x="658" y="432"/>
                  </a:lnTo>
                  <a:lnTo>
                    <a:pt x="658" y="430"/>
                  </a:lnTo>
                  <a:lnTo>
                    <a:pt x="656" y="428"/>
                  </a:lnTo>
                  <a:lnTo>
                    <a:pt x="656" y="426"/>
                  </a:lnTo>
                  <a:lnTo>
                    <a:pt x="656" y="426"/>
                  </a:lnTo>
                  <a:lnTo>
                    <a:pt x="656" y="426"/>
                  </a:lnTo>
                  <a:lnTo>
                    <a:pt x="658" y="422"/>
                  </a:lnTo>
                  <a:lnTo>
                    <a:pt x="658" y="420"/>
                  </a:lnTo>
                  <a:lnTo>
                    <a:pt x="658" y="420"/>
                  </a:lnTo>
                  <a:lnTo>
                    <a:pt x="658" y="420"/>
                  </a:lnTo>
                  <a:lnTo>
                    <a:pt x="656" y="418"/>
                  </a:lnTo>
                  <a:lnTo>
                    <a:pt x="650" y="418"/>
                  </a:lnTo>
                  <a:lnTo>
                    <a:pt x="648" y="416"/>
                  </a:lnTo>
                  <a:lnTo>
                    <a:pt x="646" y="416"/>
                  </a:lnTo>
                  <a:lnTo>
                    <a:pt x="644" y="413"/>
                  </a:lnTo>
                  <a:lnTo>
                    <a:pt x="642" y="413"/>
                  </a:lnTo>
                  <a:lnTo>
                    <a:pt x="642" y="413"/>
                  </a:lnTo>
                  <a:lnTo>
                    <a:pt x="640" y="413"/>
                  </a:lnTo>
                  <a:lnTo>
                    <a:pt x="640" y="413"/>
                  </a:lnTo>
                  <a:lnTo>
                    <a:pt x="640" y="413"/>
                  </a:lnTo>
                  <a:lnTo>
                    <a:pt x="640" y="413"/>
                  </a:lnTo>
                  <a:lnTo>
                    <a:pt x="638" y="413"/>
                  </a:lnTo>
                  <a:lnTo>
                    <a:pt x="638" y="415"/>
                  </a:lnTo>
                  <a:lnTo>
                    <a:pt x="637" y="415"/>
                  </a:lnTo>
                  <a:lnTo>
                    <a:pt x="637" y="415"/>
                  </a:lnTo>
                  <a:lnTo>
                    <a:pt x="635" y="413"/>
                  </a:lnTo>
                  <a:lnTo>
                    <a:pt x="633" y="413"/>
                  </a:lnTo>
                  <a:lnTo>
                    <a:pt x="633" y="413"/>
                  </a:lnTo>
                  <a:lnTo>
                    <a:pt x="633" y="411"/>
                  </a:lnTo>
                  <a:lnTo>
                    <a:pt x="633" y="409"/>
                  </a:lnTo>
                  <a:lnTo>
                    <a:pt x="633" y="409"/>
                  </a:lnTo>
                  <a:lnTo>
                    <a:pt x="633" y="405"/>
                  </a:lnTo>
                  <a:lnTo>
                    <a:pt x="633" y="405"/>
                  </a:lnTo>
                  <a:lnTo>
                    <a:pt x="633" y="405"/>
                  </a:lnTo>
                  <a:lnTo>
                    <a:pt x="635" y="403"/>
                  </a:lnTo>
                  <a:lnTo>
                    <a:pt x="635" y="403"/>
                  </a:lnTo>
                  <a:lnTo>
                    <a:pt x="635" y="403"/>
                  </a:lnTo>
                  <a:lnTo>
                    <a:pt x="635" y="405"/>
                  </a:lnTo>
                  <a:lnTo>
                    <a:pt x="635" y="405"/>
                  </a:lnTo>
                  <a:lnTo>
                    <a:pt x="637" y="405"/>
                  </a:lnTo>
                  <a:lnTo>
                    <a:pt x="637" y="407"/>
                  </a:lnTo>
                  <a:lnTo>
                    <a:pt x="637" y="407"/>
                  </a:lnTo>
                  <a:lnTo>
                    <a:pt x="637" y="407"/>
                  </a:lnTo>
                  <a:lnTo>
                    <a:pt x="637" y="407"/>
                  </a:lnTo>
                  <a:lnTo>
                    <a:pt x="637" y="407"/>
                  </a:lnTo>
                  <a:lnTo>
                    <a:pt x="637" y="407"/>
                  </a:lnTo>
                  <a:lnTo>
                    <a:pt x="638" y="405"/>
                  </a:lnTo>
                  <a:lnTo>
                    <a:pt x="638" y="405"/>
                  </a:lnTo>
                  <a:lnTo>
                    <a:pt x="638" y="405"/>
                  </a:lnTo>
                  <a:lnTo>
                    <a:pt x="640" y="405"/>
                  </a:lnTo>
                  <a:lnTo>
                    <a:pt x="644" y="403"/>
                  </a:lnTo>
                  <a:lnTo>
                    <a:pt x="644" y="403"/>
                  </a:lnTo>
                  <a:lnTo>
                    <a:pt x="644" y="403"/>
                  </a:lnTo>
                  <a:lnTo>
                    <a:pt x="646" y="401"/>
                  </a:lnTo>
                  <a:lnTo>
                    <a:pt x="646" y="401"/>
                  </a:lnTo>
                  <a:lnTo>
                    <a:pt x="646" y="399"/>
                  </a:lnTo>
                  <a:lnTo>
                    <a:pt x="648" y="396"/>
                  </a:lnTo>
                  <a:lnTo>
                    <a:pt x="648" y="396"/>
                  </a:lnTo>
                  <a:lnTo>
                    <a:pt x="648" y="394"/>
                  </a:lnTo>
                  <a:lnTo>
                    <a:pt x="650" y="394"/>
                  </a:lnTo>
                  <a:lnTo>
                    <a:pt x="650" y="394"/>
                  </a:lnTo>
                  <a:lnTo>
                    <a:pt x="654" y="394"/>
                  </a:lnTo>
                  <a:lnTo>
                    <a:pt x="654" y="394"/>
                  </a:lnTo>
                  <a:lnTo>
                    <a:pt x="656" y="394"/>
                  </a:lnTo>
                  <a:lnTo>
                    <a:pt x="658" y="394"/>
                  </a:lnTo>
                  <a:lnTo>
                    <a:pt x="661" y="396"/>
                  </a:lnTo>
                  <a:lnTo>
                    <a:pt x="675" y="394"/>
                  </a:lnTo>
                  <a:lnTo>
                    <a:pt x="677" y="394"/>
                  </a:lnTo>
                  <a:lnTo>
                    <a:pt x="677" y="394"/>
                  </a:lnTo>
                  <a:lnTo>
                    <a:pt x="677" y="392"/>
                  </a:lnTo>
                  <a:lnTo>
                    <a:pt x="677" y="392"/>
                  </a:lnTo>
                  <a:lnTo>
                    <a:pt x="675" y="392"/>
                  </a:lnTo>
                  <a:lnTo>
                    <a:pt x="669" y="384"/>
                  </a:lnTo>
                  <a:lnTo>
                    <a:pt x="667" y="384"/>
                  </a:lnTo>
                  <a:lnTo>
                    <a:pt x="667" y="382"/>
                  </a:lnTo>
                  <a:lnTo>
                    <a:pt x="665" y="382"/>
                  </a:lnTo>
                  <a:lnTo>
                    <a:pt x="663" y="382"/>
                  </a:lnTo>
                  <a:lnTo>
                    <a:pt x="663" y="382"/>
                  </a:lnTo>
                  <a:lnTo>
                    <a:pt x="663" y="382"/>
                  </a:lnTo>
                  <a:lnTo>
                    <a:pt x="663" y="380"/>
                  </a:lnTo>
                  <a:lnTo>
                    <a:pt x="663" y="377"/>
                  </a:lnTo>
                  <a:lnTo>
                    <a:pt x="663" y="375"/>
                  </a:lnTo>
                  <a:lnTo>
                    <a:pt x="663" y="373"/>
                  </a:lnTo>
                  <a:lnTo>
                    <a:pt x="663" y="371"/>
                  </a:lnTo>
                  <a:lnTo>
                    <a:pt x="661" y="369"/>
                  </a:lnTo>
                  <a:lnTo>
                    <a:pt x="661" y="369"/>
                  </a:lnTo>
                  <a:lnTo>
                    <a:pt x="659" y="369"/>
                  </a:lnTo>
                  <a:lnTo>
                    <a:pt x="659" y="369"/>
                  </a:lnTo>
                  <a:lnTo>
                    <a:pt x="658" y="369"/>
                  </a:lnTo>
                  <a:lnTo>
                    <a:pt x="658" y="369"/>
                  </a:lnTo>
                  <a:lnTo>
                    <a:pt x="658" y="369"/>
                  </a:lnTo>
                  <a:lnTo>
                    <a:pt x="656" y="369"/>
                  </a:lnTo>
                  <a:lnTo>
                    <a:pt x="656" y="371"/>
                  </a:lnTo>
                  <a:lnTo>
                    <a:pt x="656" y="371"/>
                  </a:lnTo>
                  <a:lnTo>
                    <a:pt x="654" y="371"/>
                  </a:lnTo>
                  <a:lnTo>
                    <a:pt x="652" y="369"/>
                  </a:lnTo>
                  <a:lnTo>
                    <a:pt x="650" y="367"/>
                  </a:lnTo>
                  <a:lnTo>
                    <a:pt x="650" y="367"/>
                  </a:lnTo>
                  <a:lnTo>
                    <a:pt x="648" y="367"/>
                  </a:lnTo>
                  <a:lnTo>
                    <a:pt x="646" y="365"/>
                  </a:lnTo>
                  <a:lnTo>
                    <a:pt x="646" y="363"/>
                  </a:lnTo>
                  <a:lnTo>
                    <a:pt x="642" y="358"/>
                  </a:lnTo>
                  <a:lnTo>
                    <a:pt x="642" y="358"/>
                  </a:lnTo>
                  <a:lnTo>
                    <a:pt x="642" y="354"/>
                  </a:lnTo>
                  <a:lnTo>
                    <a:pt x="642" y="354"/>
                  </a:lnTo>
                  <a:lnTo>
                    <a:pt x="642" y="352"/>
                  </a:lnTo>
                  <a:lnTo>
                    <a:pt x="642" y="350"/>
                  </a:lnTo>
                  <a:lnTo>
                    <a:pt x="640" y="350"/>
                  </a:lnTo>
                  <a:lnTo>
                    <a:pt x="638" y="348"/>
                  </a:lnTo>
                  <a:lnTo>
                    <a:pt x="638" y="346"/>
                  </a:lnTo>
                  <a:lnTo>
                    <a:pt x="638" y="344"/>
                  </a:lnTo>
                  <a:lnTo>
                    <a:pt x="635" y="342"/>
                  </a:lnTo>
                  <a:lnTo>
                    <a:pt x="635" y="342"/>
                  </a:lnTo>
                  <a:lnTo>
                    <a:pt x="635" y="340"/>
                  </a:lnTo>
                  <a:lnTo>
                    <a:pt x="635" y="338"/>
                  </a:lnTo>
                  <a:lnTo>
                    <a:pt x="635" y="337"/>
                  </a:lnTo>
                  <a:lnTo>
                    <a:pt x="635" y="335"/>
                  </a:lnTo>
                  <a:lnTo>
                    <a:pt x="633" y="333"/>
                  </a:lnTo>
                  <a:lnTo>
                    <a:pt x="633" y="333"/>
                  </a:lnTo>
                  <a:lnTo>
                    <a:pt x="633" y="331"/>
                  </a:lnTo>
                  <a:lnTo>
                    <a:pt x="631" y="331"/>
                  </a:lnTo>
                  <a:lnTo>
                    <a:pt x="631" y="329"/>
                  </a:lnTo>
                  <a:lnTo>
                    <a:pt x="629" y="329"/>
                  </a:lnTo>
                  <a:lnTo>
                    <a:pt x="629" y="327"/>
                  </a:lnTo>
                  <a:lnTo>
                    <a:pt x="631" y="325"/>
                  </a:lnTo>
                  <a:lnTo>
                    <a:pt x="631" y="323"/>
                  </a:lnTo>
                  <a:lnTo>
                    <a:pt x="631" y="323"/>
                  </a:lnTo>
                  <a:lnTo>
                    <a:pt x="629" y="323"/>
                  </a:lnTo>
                  <a:lnTo>
                    <a:pt x="627" y="323"/>
                  </a:lnTo>
                  <a:lnTo>
                    <a:pt x="627" y="323"/>
                  </a:lnTo>
                  <a:lnTo>
                    <a:pt x="627" y="323"/>
                  </a:lnTo>
                  <a:lnTo>
                    <a:pt x="627" y="323"/>
                  </a:lnTo>
                  <a:lnTo>
                    <a:pt x="627" y="321"/>
                  </a:lnTo>
                  <a:lnTo>
                    <a:pt x="627" y="321"/>
                  </a:lnTo>
                  <a:lnTo>
                    <a:pt x="627" y="321"/>
                  </a:lnTo>
                  <a:lnTo>
                    <a:pt x="621" y="319"/>
                  </a:lnTo>
                  <a:lnTo>
                    <a:pt x="610" y="312"/>
                  </a:lnTo>
                  <a:lnTo>
                    <a:pt x="602" y="310"/>
                  </a:lnTo>
                  <a:lnTo>
                    <a:pt x="593" y="308"/>
                  </a:lnTo>
                  <a:lnTo>
                    <a:pt x="583" y="308"/>
                  </a:lnTo>
                  <a:lnTo>
                    <a:pt x="581" y="310"/>
                  </a:lnTo>
                  <a:lnTo>
                    <a:pt x="581" y="310"/>
                  </a:lnTo>
                  <a:lnTo>
                    <a:pt x="581" y="312"/>
                  </a:lnTo>
                  <a:lnTo>
                    <a:pt x="581" y="314"/>
                  </a:lnTo>
                  <a:lnTo>
                    <a:pt x="581" y="316"/>
                  </a:lnTo>
                  <a:lnTo>
                    <a:pt x="581" y="316"/>
                  </a:lnTo>
                  <a:lnTo>
                    <a:pt x="581" y="318"/>
                  </a:lnTo>
                  <a:lnTo>
                    <a:pt x="579" y="321"/>
                  </a:lnTo>
                  <a:lnTo>
                    <a:pt x="577" y="321"/>
                  </a:lnTo>
                  <a:lnTo>
                    <a:pt x="576" y="323"/>
                  </a:lnTo>
                  <a:lnTo>
                    <a:pt x="574" y="323"/>
                  </a:lnTo>
                  <a:lnTo>
                    <a:pt x="572" y="323"/>
                  </a:lnTo>
                  <a:lnTo>
                    <a:pt x="572" y="321"/>
                  </a:lnTo>
                  <a:lnTo>
                    <a:pt x="570" y="319"/>
                  </a:lnTo>
                  <a:lnTo>
                    <a:pt x="570" y="318"/>
                  </a:lnTo>
                  <a:lnTo>
                    <a:pt x="568" y="318"/>
                  </a:lnTo>
                  <a:lnTo>
                    <a:pt x="564" y="314"/>
                  </a:lnTo>
                  <a:lnTo>
                    <a:pt x="560" y="312"/>
                  </a:lnTo>
                  <a:lnTo>
                    <a:pt x="549" y="312"/>
                  </a:lnTo>
                  <a:lnTo>
                    <a:pt x="543" y="310"/>
                  </a:lnTo>
                  <a:lnTo>
                    <a:pt x="539" y="308"/>
                  </a:lnTo>
                  <a:lnTo>
                    <a:pt x="536" y="306"/>
                  </a:lnTo>
                  <a:lnTo>
                    <a:pt x="524" y="306"/>
                  </a:lnTo>
                  <a:lnTo>
                    <a:pt x="522" y="304"/>
                  </a:lnTo>
                  <a:lnTo>
                    <a:pt x="522" y="300"/>
                  </a:lnTo>
                  <a:lnTo>
                    <a:pt x="520" y="293"/>
                  </a:lnTo>
                  <a:lnTo>
                    <a:pt x="520" y="289"/>
                  </a:lnTo>
                  <a:lnTo>
                    <a:pt x="518" y="285"/>
                  </a:lnTo>
                  <a:lnTo>
                    <a:pt x="518" y="285"/>
                  </a:lnTo>
                  <a:lnTo>
                    <a:pt x="517" y="285"/>
                  </a:lnTo>
                  <a:lnTo>
                    <a:pt x="503" y="287"/>
                  </a:lnTo>
                  <a:lnTo>
                    <a:pt x="496" y="289"/>
                  </a:lnTo>
                  <a:lnTo>
                    <a:pt x="492" y="287"/>
                  </a:lnTo>
                  <a:lnTo>
                    <a:pt x="488" y="281"/>
                  </a:lnTo>
                  <a:lnTo>
                    <a:pt x="480" y="280"/>
                  </a:lnTo>
                  <a:lnTo>
                    <a:pt x="469" y="270"/>
                  </a:lnTo>
                  <a:lnTo>
                    <a:pt x="465" y="268"/>
                  </a:lnTo>
                  <a:lnTo>
                    <a:pt x="463" y="266"/>
                  </a:lnTo>
                  <a:lnTo>
                    <a:pt x="461" y="264"/>
                  </a:lnTo>
                  <a:lnTo>
                    <a:pt x="459" y="264"/>
                  </a:lnTo>
                  <a:lnTo>
                    <a:pt x="459" y="264"/>
                  </a:lnTo>
                  <a:lnTo>
                    <a:pt x="457" y="262"/>
                  </a:lnTo>
                  <a:lnTo>
                    <a:pt x="454" y="262"/>
                  </a:lnTo>
                  <a:lnTo>
                    <a:pt x="450" y="264"/>
                  </a:lnTo>
                  <a:lnTo>
                    <a:pt x="446" y="268"/>
                  </a:lnTo>
                  <a:lnTo>
                    <a:pt x="444" y="270"/>
                  </a:lnTo>
                  <a:lnTo>
                    <a:pt x="442" y="270"/>
                  </a:lnTo>
                  <a:lnTo>
                    <a:pt x="440" y="268"/>
                  </a:lnTo>
                  <a:lnTo>
                    <a:pt x="436" y="266"/>
                  </a:lnTo>
                  <a:lnTo>
                    <a:pt x="433" y="262"/>
                  </a:lnTo>
                  <a:lnTo>
                    <a:pt x="429" y="259"/>
                  </a:lnTo>
                  <a:lnTo>
                    <a:pt x="427" y="257"/>
                  </a:lnTo>
                  <a:lnTo>
                    <a:pt x="425" y="257"/>
                  </a:lnTo>
                  <a:lnTo>
                    <a:pt x="419" y="255"/>
                  </a:lnTo>
                  <a:lnTo>
                    <a:pt x="417" y="255"/>
                  </a:lnTo>
                  <a:lnTo>
                    <a:pt x="417" y="255"/>
                  </a:lnTo>
                  <a:lnTo>
                    <a:pt x="417" y="255"/>
                  </a:lnTo>
                  <a:lnTo>
                    <a:pt x="417" y="253"/>
                  </a:lnTo>
                  <a:lnTo>
                    <a:pt x="416" y="251"/>
                  </a:lnTo>
                  <a:lnTo>
                    <a:pt x="406" y="247"/>
                  </a:lnTo>
                  <a:lnTo>
                    <a:pt x="406" y="245"/>
                  </a:lnTo>
                  <a:lnTo>
                    <a:pt x="406" y="245"/>
                  </a:lnTo>
                  <a:lnTo>
                    <a:pt x="404" y="243"/>
                  </a:lnTo>
                  <a:lnTo>
                    <a:pt x="404" y="241"/>
                  </a:lnTo>
                  <a:lnTo>
                    <a:pt x="404" y="240"/>
                  </a:lnTo>
                  <a:lnTo>
                    <a:pt x="402" y="238"/>
                  </a:lnTo>
                  <a:lnTo>
                    <a:pt x="400" y="238"/>
                  </a:lnTo>
                  <a:lnTo>
                    <a:pt x="398" y="236"/>
                  </a:lnTo>
                  <a:lnTo>
                    <a:pt x="396" y="236"/>
                  </a:lnTo>
                  <a:lnTo>
                    <a:pt x="396" y="238"/>
                  </a:lnTo>
                  <a:lnTo>
                    <a:pt x="395" y="238"/>
                  </a:lnTo>
                  <a:lnTo>
                    <a:pt x="395" y="240"/>
                  </a:lnTo>
                  <a:lnTo>
                    <a:pt x="393" y="240"/>
                  </a:lnTo>
                  <a:lnTo>
                    <a:pt x="391" y="241"/>
                  </a:lnTo>
                  <a:lnTo>
                    <a:pt x="391" y="240"/>
                  </a:lnTo>
                  <a:lnTo>
                    <a:pt x="391" y="240"/>
                  </a:lnTo>
                  <a:lnTo>
                    <a:pt x="389" y="238"/>
                  </a:lnTo>
                  <a:lnTo>
                    <a:pt x="389" y="238"/>
                  </a:lnTo>
                  <a:lnTo>
                    <a:pt x="389" y="238"/>
                  </a:lnTo>
                  <a:lnTo>
                    <a:pt x="391" y="236"/>
                  </a:lnTo>
                  <a:lnTo>
                    <a:pt x="389" y="234"/>
                  </a:lnTo>
                  <a:lnTo>
                    <a:pt x="383" y="228"/>
                  </a:lnTo>
                  <a:lnTo>
                    <a:pt x="383" y="224"/>
                  </a:lnTo>
                  <a:lnTo>
                    <a:pt x="381" y="219"/>
                  </a:lnTo>
                  <a:lnTo>
                    <a:pt x="379" y="217"/>
                  </a:lnTo>
                  <a:lnTo>
                    <a:pt x="377" y="215"/>
                  </a:lnTo>
                  <a:lnTo>
                    <a:pt x="368" y="213"/>
                  </a:lnTo>
                  <a:lnTo>
                    <a:pt x="364" y="213"/>
                  </a:lnTo>
                  <a:lnTo>
                    <a:pt x="362" y="211"/>
                  </a:lnTo>
                  <a:lnTo>
                    <a:pt x="362" y="209"/>
                  </a:lnTo>
                  <a:lnTo>
                    <a:pt x="362" y="209"/>
                  </a:lnTo>
                  <a:lnTo>
                    <a:pt x="360" y="207"/>
                  </a:lnTo>
                  <a:lnTo>
                    <a:pt x="360" y="209"/>
                  </a:lnTo>
                  <a:lnTo>
                    <a:pt x="358" y="209"/>
                  </a:lnTo>
                  <a:lnTo>
                    <a:pt x="356" y="207"/>
                  </a:lnTo>
                  <a:lnTo>
                    <a:pt x="355" y="207"/>
                  </a:lnTo>
                  <a:lnTo>
                    <a:pt x="353" y="207"/>
                  </a:lnTo>
                  <a:lnTo>
                    <a:pt x="353" y="205"/>
                  </a:lnTo>
                  <a:lnTo>
                    <a:pt x="353" y="203"/>
                  </a:lnTo>
                  <a:lnTo>
                    <a:pt x="351" y="202"/>
                  </a:lnTo>
                  <a:lnTo>
                    <a:pt x="351" y="202"/>
                  </a:lnTo>
                  <a:lnTo>
                    <a:pt x="347" y="202"/>
                  </a:lnTo>
                  <a:lnTo>
                    <a:pt x="345" y="202"/>
                  </a:lnTo>
                  <a:lnTo>
                    <a:pt x="343" y="200"/>
                  </a:lnTo>
                  <a:lnTo>
                    <a:pt x="339" y="196"/>
                  </a:lnTo>
                  <a:lnTo>
                    <a:pt x="337" y="196"/>
                  </a:lnTo>
                  <a:lnTo>
                    <a:pt x="335" y="194"/>
                  </a:lnTo>
                  <a:lnTo>
                    <a:pt x="334" y="194"/>
                  </a:lnTo>
                  <a:lnTo>
                    <a:pt x="332" y="192"/>
                  </a:lnTo>
                  <a:lnTo>
                    <a:pt x="330" y="188"/>
                  </a:lnTo>
                  <a:lnTo>
                    <a:pt x="330" y="188"/>
                  </a:lnTo>
                  <a:lnTo>
                    <a:pt x="326" y="188"/>
                  </a:lnTo>
                  <a:lnTo>
                    <a:pt x="324" y="186"/>
                  </a:lnTo>
                  <a:lnTo>
                    <a:pt x="322" y="186"/>
                  </a:lnTo>
                  <a:lnTo>
                    <a:pt x="322" y="184"/>
                  </a:lnTo>
                  <a:lnTo>
                    <a:pt x="322" y="184"/>
                  </a:lnTo>
                  <a:lnTo>
                    <a:pt x="322" y="183"/>
                  </a:lnTo>
                  <a:lnTo>
                    <a:pt x="322" y="183"/>
                  </a:lnTo>
                  <a:lnTo>
                    <a:pt x="320" y="183"/>
                  </a:lnTo>
                  <a:lnTo>
                    <a:pt x="318" y="183"/>
                  </a:lnTo>
                  <a:lnTo>
                    <a:pt x="316" y="184"/>
                  </a:lnTo>
                  <a:lnTo>
                    <a:pt x="316" y="184"/>
                  </a:lnTo>
                  <a:lnTo>
                    <a:pt x="316" y="186"/>
                  </a:lnTo>
                  <a:lnTo>
                    <a:pt x="316" y="194"/>
                  </a:lnTo>
                  <a:lnTo>
                    <a:pt x="316" y="194"/>
                  </a:lnTo>
                  <a:lnTo>
                    <a:pt x="315" y="194"/>
                  </a:lnTo>
                  <a:lnTo>
                    <a:pt x="311" y="188"/>
                  </a:lnTo>
                  <a:lnTo>
                    <a:pt x="309" y="188"/>
                  </a:lnTo>
                  <a:lnTo>
                    <a:pt x="307" y="188"/>
                  </a:lnTo>
                  <a:lnTo>
                    <a:pt x="305" y="188"/>
                  </a:lnTo>
                  <a:lnTo>
                    <a:pt x="303" y="188"/>
                  </a:lnTo>
                  <a:lnTo>
                    <a:pt x="301" y="188"/>
                  </a:lnTo>
                  <a:lnTo>
                    <a:pt x="299" y="186"/>
                  </a:lnTo>
                  <a:lnTo>
                    <a:pt x="297" y="181"/>
                  </a:lnTo>
                  <a:lnTo>
                    <a:pt x="297" y="181"/>
                  </a:lnTo>
                  <a:lnTo>
                    <a:pt x="295" y="181"/>
                  </a:lnTo>
                  <a:lnTo>
                    <a:pt x="295" y="181"/>
                  </a:lnTo>
                  <a:lnTo>
                    <a:pt x="294" y="179"/>
                  </a:lnTo>
                  <a:lnTo>
                    <a:pt x="294" y="177"/>
                  </a:lnTo>
                  <a:lnTo>
                    <a:pt x="292" y="177"/>
                  </a:lnTo>
                  <a:lnTo>
                    <a:pt x="292" y="177"/>
                  </a:lnTo>
                  <a:lnTo>
                    <a:pt x="288" y="175"/>
                  </a:lnTo>
                  <a:lnTo>
                    <a:pt x="286" y="175"/>
                  </a:lnTo>
                  <a:lnTo>
                    <a:pt x="284" y="173"/>
                  </a:lnTo>
                  <a:lnTo>
                    <a:pt x="282" y="169"/>
                  </a:lnTo>
                  <a:lnTo>
                    <a:pt x="278" y="167"/>
                  </a:lnTo>
                  <a:lnTo>
                    <a:pt x="278" y="167"/>
                  </a:lnTo>
                  <a:lnTo>
                    <a:pt x="276" y="169"/>
                  </a:lnTo>
                  <a:lnTo>
                    <a:pt x="276" y="171"/>
                  </a:lnTo>
                  <a:lnTo>
                    <a:pt x="276" y="173"/>
                  </a:lnTo>
                  <a:lnTo>
                    <a:pt x="273" y="175"/>
                  </a:lnTo>
                  <a:lnTo>
                    <a:pt x="273" y="175"/>
                  </a:lnTo>
                  <a:lnTo>
                    <a:pt x="271" y="177"/>
                  </a:lnTo>
                  <a:lnTo>
                    <a:pt x="269" y="177"/>
                  </a:lnTo>
                  <a:lnTo>
                    <a:pt x="269" y="177"/>
                  </a:lnTo>
                  <a:lnTo>
                    <a:pt x="267" y="177"/>
                  </a:lnTo>
                  <a:lnTo>
                    <a:pt x="265" y="175"/>
                  </a:lnTo>
                  <a:lnTo>
                    <a:pt x="265" y="175"/>
                  </a:lnTo>
                  <a:lnTo>
                    <a:pt x="265" y="173"/>
                  </a:lnTo>
                  <a:lnTo>
                    <a:pt x="265" y="173"/>
                  </a:lnTo>
                  <a:lnTo>
                    <a:pt x="265" y="171"/>
                  </a:lnTo>
                  <a:lnTo>
                    <a:pt x="263" y="171"/>
                  </a:lnTo>
                  <a:lnTo>
                    <a:pt x="263" y="173"/>
                  </a:lnTo>
                  <a:lnTo>
                    <a:pt x="261" y="173"/>
                  </a:lnTo>
                  <a:lnTo>
                    <a:pt x="261" y="171"/>
                  </a:lnTo>
                  <a:lnTo>
                    <a:pt x="261" y="171"/>
                  </a:lnTo>
                  <a:lnTo>
                    <a:pt x="261" y="169"/>
                  </a:lnTo>
                  <a:lnTo>
                    <a:pt x="261" y="169"/>
                  </a:lnTo>
                  <a:lnTo>
                    <a:pt x="261" y="167"/>
                  </a:lnTo>
                  <a:lnTo>
                    <a:pt x="259" y="167"/>
                  </a:lnTo>
                  <a:lnTo>
                    <a:pt x="257" y="169"/>
                  </a:lnTo>
                  <a:lnTo>
                    <a:pt x="255" y="169"/>
                  </a:lnTo>
                  <a:lnTo>
                    <a:pt x="255" y="169"/>
                  </a:lnTo>
                  <a:lnTo>
                    <a:pt x="255" y="167"/>
                  </a:lnTo>
                  <a:lnTo>
                    <a:pt x="255" y="165"/>
                  </a:lnTo>
                  <a:lnTo>
                    <a:pt x="255" y="164"/>
                  </a:lnTo>
                  <a:lnTo>
                    <a:pt x="255" y="164"/>
                  </a:lnTo>
                  <a:lnTo>
                    <a:pt x="254" y="162"/>
                  </a:lnTo>
                  <a:lnTo>
                    <a:pt x="250" y="162"/>
                  </a:lnTo>
                  <a:lnTo>
                    <a:pt x="248" y="162"/>
                  </a:lnTo>
                  <a:lnTo>
                    <a:pt x="246" y="162"/>
                  </a:lnTo>
                  <a:lnTo>
                    <a:pt x="246" y="162"/>
                  </a:lnTo>
                  <a:lnTo>
                    <a:pt x="246" y="164"/>
                  </a:lnTo>
                  <a:lnTo>
                    <a:pt x="246" y="164"/>
                  </a:lnTo>
                  <a:lnTo>
                    <a:pt x="244" y="165"/>
                  </a:lnTo>
                  <a:lnTo>
                    <a:pt x="236" y="164"/>
                  </a:lnTo>
                  <a:lnTo>
                    <a:pt x="234" y="164"/>
                  </a:lnTo>
                  <a:lnTo>
                    <a:pt x="234" y="165"/>
                  </a:lnTo>
                  <a:lnTo>
                    <a:pt x="233" y="165"/>
                  </a:lnTo>
                  <a:lnTo>
                    <a:pt x="233" y="164"/>
                  </a:lnTo>
                  <a:lnTo>
                    <a:pt x="231" y="162"/>
                  </a:lnTo>
                  <a:lnTo>
                    <a:pt x="231" y="162"/>
                  </a:lnTo>
                  <a:lnTo>
                    <a:pt x="227" y="162"/>
                  </a:lnTo>
                  <a:lnTo>
                    <a:pt x="219" y="165"/>
                  </a:lnTo>
                  <a:lnTo>
                    <a:pt x="217" y="162"/>
                  </a:lnTo>
                  <a:lnTo>
                    <a:pt x="217" y="158"/>
                  </a:lnTo>
                  <a:lnTo>
                    <a:pt x="215" y="156"/>
                  </a:lnTo>
                  <a:lnTo>
                    <a:pt x="215" y="156"/>
                  </a:lnTo>
                  <a:lnTo>
                    <a:pt x="214" y="154"/>
                  </a:lnTo>
                  <a:lnTo>
                    <a:pt x="214" y="152"/>
                  </a:lnTo>
                  <a:lnTo>
                    <a:pt x="214" y="152"/>
                  </a:lnTo>
                  <a:lnTo>
                    <a:pt x="212" y="152"/>
                  </a:lnTo>
                  <a:lnTo>
                    <a:pt x="212" y="152"/>
                  </a:lnTo>
                  <a:lnTo>
                    <a:pt x="210" y="152"/>
                  </a:lnTo>
                  <a:lnTo>
                    <a:pt x="208" y="152"/>
                  </a:lnTo>
                  <a:lnTo>
                    <a:pt x="206" y="152"/>
                  </a:lnTo>
                  <a:lnTo>
                    <a:pt x="194" y="143"/>
                  </a:lnTo>
                  <a:lnTo>
                    <a:pt x="193" y="143"/>
                  </a:lnTo>
                  <a:lnTo>
                    <a:pt x="193" y="141"/>
                  </a:lnTo>
                  <a:lnTo>
                    <a:pt x="193" y="139"/>
                  </a:lnTo>
                  <a:lnTo>
                    <a:pt x="193" y="139"/>
                  </a:lnTo>
                  <a:lnTo>
                    <a:pt x="191" y="137"/>
                  </a:lnTo>
                  <a:lnTo>
                    <a:pt x="191" y="137"/>
                  </a:lnTo>
                  <a:lnTo>
                    <a:pt x="183" y="133"/>
                  </a:lnTo>
                  <a:lnTo>
                    <a:pt x="183" y="133"/>
                  </a:lnTo>
                  <a:lnTo>
                    <a:pt x="181" y="133"/>
                  </a:lnTo>
                  <a:lnTo>
                    <a:pt x="179" y="133"/>
                  </a:lnTo>
                  <a:lnTo>
                    <a:pt x="174" y="135"/>
                  </a:lnTo>
                  <a:lnTo>
                    <a:pt x="170" y="137"/>
                  </a:lnTo>
                  <a:lnTo>
                    <a:pt x="170" y="131"/>
                  </a:lnTo>
                  <a:lnTo>
                    <a:pt x="170" y="129"/>
                  </a:lnTo>
                  <a:lnTo>
                    <a:pt x="168" y="127"/>
                  </a:lnTo>
                  <a:lnTo>
                    <a:pt x="166" y="125"/>
                  </a:lnTo>
                  <a:lnTo>
                    <a:pt x="153" y="120"/>
                  </a:lnTo>
                  <a:lnTo>
                    <a:pt x="153" y="118"/>
                  </a:lnTo>
                  <a:lnTo>
                    <a:pt x="153" y="118"/>
                  </a:lnTo>
                  <a:lnTo>
                    <a:pt x="153" y="118"/>
                  </a:lnTo>
                  <a:lnTo>
                    <a:pt x="153" y="116"/>
                  </a:lnTo>
                  <a:lnTo>
                    <a:pt x="153" y="116"/>
                  </a:lnTo>
                  <a:lnTo>
                    <a:pt x="153" y="116"/>
                  </a:lnTo>
                  <a:lnTo>
                    <a:pt x="154" y="116"/>
                  </a:lnTo>
                  <a:lnTo>
                    <a:pt x="154" y="114"/>
                  </a:lnTo>
                  <a:lnTo>
                    <a:pt x="156" y="114"/>
                  </a:lnTo>
                  <a:lnTo>
                    <a:pt x="156" y="114"/>
                  </a:lnTo>
                  <a:lnTo>
                    <a:pt x="156" y="114"/>
                  </a:lnTo>
                  <a:lnTo>
                    <a:pt x="158" y="114"/>
                  </a:lnTo>
                  <a:lnTo>
                    <a:pt x="158" y="116"/>
                  </a:lnTo>
                  <a:lnTo>
                    <a:pt x="160" y="114"/>
                  </a:lnTo>
                  <a:lnTo>
                    <a:pt x="160" y="112"/>
                  </a:lnTo>
                  <a:lnTo>
                    <a:pt x="162" y="112"/>
                  </a:lnTo>
                  <a:lnTo>
                    <a:pt x="162" y="112"/>
                  </a:lnTo>
                  <a:lnTo>
                    <a:pt x="162" y="112"/>
                  </a:lnTo>
                  <a:lnTo>
                    <a:pt x="164" y="112"/>
                  </a:lnTo>
                  <a:lnTo>
                    <a:pt x="164" y="112"/>
                  </a:lnTo>
                  <a:lnTo>
                    <a:pt x="166" y="112"/>
                  </a:lnTo>
                  <a:lnTo>
                    <a:pt x="170" y="108"/>
                  </a:lnTo>
                  <a:lnTo>
                    <a:pt x="172" y="106"/>
                  </a:lnTo>
                  <a:lnTo>
                    <a:pt x="172" y="105"/>
                  </a:lnTo>
                  <a:lnTo>
                    <a:pt x="172" y="105"/>
                  </a:lnTo>
                  <a:lnTo>
                    <a:pt x="170" y="103"/>
                  </a:lnTo>
                  <a:lnTo>
                    <a:pt x="164" y="103"/>
                  </a:lnTo>
                  <a:lnTo>
                    <a:pt x="160" y="101"/>
                  </a:lnTo>
                  <a:lnTo>
                    <a:pt x="145" y="91"/>
                  </a:lnTo>
                  <a:lnTo>
                    <a:pt x="141" y="87"/>
                  </a:lnTo>
                  <a:lnTo>
                    <a:pt x="137" y="84"/>
                  </a:lnTo>
                  <a:lnTo>
                    <a:pt x="135" y="80"/>
                  </a:lnTo>
                  <a:lnTo>
                    <a:pt x="133" y="76"/>
                  </a:lnTo>
                  <a:lnTo>
                    <a:pt x="130" y="72"/>
                  </a:lnTo>
                  <a:lnTo>
                    <a:pt x="122" y="68"/>
                  </a:lnTo>
                  <a:lnTo>
                    <a:pt x="120" y="67"/>
                  </a:lnTo>
                  <a:lnTo>
                    <a:pt x="118" y="65"/>
                  </a:lnTo>
                  <a:lnTo>
                    <a:pt x="116" y="59"/>
                  </a:lnTo>
                  <a:lnTo>
                    <a:pt x="113" y="55"/>
                  </a:lnTo>
                  <a:lnTo>
                    <a:pt x="107" y="49"/>
                  </a:lnTo>
                  <a:lnTo>
                    <a:pt x="107" y="47"/>
                  </a:lnTo>
                  <a:lnTo>
                    <a:pt x="105" y="47"/>
                  </a:lnTo>
                  <a:lnTo>
                    <a:pt x="105" y="47"/>
                  </a:lnTo>
                  <a:lnTo>
                    <a:pt x="103" y="47"/>
                  </a:lnTo>
                  <a:lnTo>
                    <a:pt x="101" y="49"/>
                  </a:lnTo>
                  <a:lnTo>
                    <a:pt x="101" y="49"/>
                  </a:lnTo>
                  <a:lnTo>
                    <a:pt x="101" y="51"/>
                  </a:lnTo>
                  <a:lnTo>
                    <a:pt x="101" y="53"/>
                  </a:lnTo>
                  <a:lnTo>
                    <a:pt x="101" y="55"/>
                  </a:lnTo>
                  <a:lnTo>
                    <a:pt x="103" y="65"/>
                  </a:lnTo>
                  <a:lnTo>
                    <a:pt x="105" y="70"/>
                  </a:lnTo>
                  <a:lnTo>
                    <a:pt x="103" y="74"/>
                  </a:lnTo>
                  <a:lnTo>
                    <a:pt x="101" y="78"/>
                  </a:lnTo>
                  <a:lnTo>
                    <a:pt x="95" y="80"/>
                  </a:lnTo>
                  <a:lnTo>
                    <a:pt x="93" y="80"/>
                  </a:lnTo>
                  <a:lnTo>
                    <a:pt x="93" y="78"/>
                  </a:lnTo>
                  <a:lnTo>
                    <a:pt x="90" y="76"/>
                  </a:lnTo>
                  <a:lnTo>
                    <a:pt x="84" y="72"/>
                  </a:lnTo>
                  <a:lnTo>
                    <a:pt x="84" y="72"/>
                  </a:lnTo>
                  <a:lnTo>
                    <a:pt x="82" y="72"/>
                  </a:lnTo>
                  <a:lnTo>
                    <a:pt x="78" y="74"/>
                  </a:lnTo>
                  <a:lnTo>
                    <a:pt x="71" y="80"/>
                  </a:lnTo>
                  <a:lnTo>
                    <a:pt x="67" y="70"/>
                  </a:lnTo>
                  <a:lnTo>
                    <a:pt x="65" y="68"/>
                  </a:lnTo>
                  <a:lnTo>
                    <a:pt x="65" y="63"/>
                  </a:lnTo>
                  <a:lnTo>
                    <a:pt x="63" y="57"/>
                  </a:lnTo>
                  <a:lnTo>
                    <a:pt x="63" y="55"/>
                  </a:lnTo>
                  <a:lnTo>
                    <a:pt x="63" y="51"/>
                  </a:lnTo>
                  <a:lnTo>
                    <a:pt x="63" y="47"/>
                  </a:lnTo>
                  <a:lnTo>
                    <a:pt x="63" y="46"/>
                  </a:lnTo>
                  <a:lnTo>
                    <a:pt x="67" y="38"/>
                  </a:lnTo>
                  <a:lnTo>
                    <a:pt x="71" y="28"/>
                  </a:lnTo>
                  <a:lnTo>
                    <a:pt x="74" y="25"/>
                  </a:lnTo>
                  <a:lnTo>
                    <a:pt x="78" y="21"/>
                  </a:lnTo>
                  <a:lnTo>
                    <a:pt x="80" y="21"/>
                  </a:lnTo>
                  <a:lnTo>
                    <a:pt x="82" y="19"/>
                  </a:lnTo>
                  <a:lnTo>
                    <a:pt x="80" y="17"/>
                  </a:lnTo>
                  <a:lnTo>
                    <a:pt x="69" y="11"/>
                  </a:lnTo>
                  <a:lnTo>
                    <a:pt x="63" y="8"/>
                  </a:lnTo>
                  <a:lnTo>
                    <a:pt x="55" y="0"/>
                  </a:lnTo>
                  <a:lnTo>
                    <a:pt x="53" y="0"/>
                  </a:lnTo>
                  <a:lnTo>
                    <a:pt x="52" y="0"/>
                  </a:lnTo>
                  <a:lnTo>
                    <a:pt x="48" y="2"/>
                  </a:lnTo>
                  <a:lnTo>
                    <a:pt x="48" y="2"/>
                  </a:lnTo>
                  <a:lnTo>
                    <a:pt x="48" y="4"/>
                  </a:lnTo>
                  <a:lnTo>
                    <a:pt x="48" y="8"/>
                  </a:lnTo>
                  <a:lnTo>
                    <a:pt x="46" y="13"/>
                  </a:lnTo>
                  <a:lnTo>
                    <a:pt x="44" y="15"/>
                  </a:lnTo>
                  <a:lnTo>
                    <a:pt x="40" y="19"/>
                  </a:lnTo>
                  <a:lnTo>
                    <a:pt x="34" y="25"/>
                  </a:lnTo>
                  <a:lnTo>
                    <a:pt x="33" y="27"/>
                  </a:lnTo>
                  <a:lnTo>
                    <a:pt x="31" y="28"/>
                  </a:lnTo>
                  <a:lnTo>
                    <a:pt x="31" y="30"/>
                  </a:lnTo>
                  <a:lnTo>
                    <a:pt x="29" y="32"/>
                  </a:lnTo>
                  <a:lnTo>
                    <a:pt x="25" y="36"/>
                  </a:lnTo>
                  <a:lnTo>
                    <a:pt x="23" y="36"/>
                  </a:lnTo>
                  <a:lnTo>
                    <a:pt x="23" y="36"/>
                  </a:lnTo>
                  <a:lnTo>
                    <a:pt x="23" y="38"/>
                  </a:lnTo>
                  <a:lnTo>
                    <a:pt x="23" y="38"/>
                  </a:lnTo>
                  <a:lnTo>
                    <a:pt x="23" y="38"/>
                  </a:lnTo>
                  <a:lnTo>
                    <a:pt x="23" y="38"/>
                  </a:lnTo>
                  <a:lnTo>
                    <a:pt x="23" y="38"/>
                  </a:lnTo>
                  <a:lnTo>
                    <a:pt x="21" y="40"/>
                  </a:lnTo>
                  <a:lnTo>
                    <a:pt x="21" y="38"/>
                  </a:lnTo>
                  <a:lnTo>
                    <a:pt x="21" y="38"/>
                  </a:lnTo>
                  <a:lnTo>
                    <a:pt x="19" y="40"/>
                  </a:lnTo>
                  <a:lnTo>
                    <a:pt x="19" y="40"/>
                  </a:lnTo>
                  <a:lnTo>
                    <a:pt x="19" y="40"/>
                  </a:lnTo>
                  <a:lnTo>
                    <a:pt x="19" y="42"/>
                  </a:lnTo>
                  <a:lnTo>
                    <a:pt x="15" y="46"/>
                  </a:lnTo>
                  <a:lnTo>
                    <a:pt x="15" y="46"/>
                  </a:lnTo>
                  <a:lnTo>
                    <a:pt x="13" y="47"/>
                  </a:lnTo>
                  <a:lnTo>
                    <a:pt x="13" y="51"/>
                  </a:lnTo>
                  <a:lnTo>
                    <a:pt x="10" y="65"/>
                  </a:lnTo>
                  <a:lnTo>
                    <a:pt x="10" y="67"/>
                  </a:lnTo>
                  <a:lnTo>
                    <a:pt x="8" y="68"/>
                  </a:lnTo>
                  <a:lnTo>
                    <a:pt x="8" y="67"/>
                  </a:lnTo>
                  <a:lnTo>
                    <a:pt x="8" y="67"/>
                  </a:lnTo>
                  <a:lnTo>
                    <a:pt x="6" y="68"/>
                  </a:lnTo>
                  <a:lnTo>
                    <a:pt x="6" y="68"/>
                  </a:lnTo>
                  <a:lnTo>
                    <a:pt x="6" y="70"/>
                  </a:lnTo>
                  <a:lnTo>
                    <a:pt x="6" y="70"/>
                  </a:lnTo>
                  <a:lnTo>
                    <a:pt x="8" y="72"/>
                  </a:lnTo>
                  <a:lnTo>
                    <a:pt x="6" y="72"/>
                  </a:lnTo>
                  <a:lnTo>
                    <a:pt x="6" y="74"/>
                  </a:lnTo>
                  <a:lnTo>
                    <a:pt x="4" y="74"/>
                  </a:lnTo>
                  <a:lnTo>
                    <a:pt x="4" y="76"/>
                  </a:lnTo>
                  <a:lnTo>
                    <a:pt x="2" y="80"/>
                  </a:lnTo>
                  <a:lnTo>
                    <a:pt x="2" y="82"/>
                  </a:lnTo>
                  <a:lnTo>
                    <a:pt x="2" y="84"/>
                  </a:lnTo>
                  <a:lnTo>
                    <a:pt x="2" y="84"/>
                  </a:lnTo>
                  <a:lnTo>
                    <a:pt x="2" y="86"/>
                  </a:lnTo>
                  <a:lnTo>
                    <a:pt x="4" y="87"/>
                  </a:lnTo>
                  <a:lnTo>
                    <a:pt x="2" y="87"/>
                  </a:lnTo>
                  <a:lnTo>
                    <a:pt x="2" y="87"/>
                  </a:lnTo>
                  <a:lnTo>
                    <a:pt x="0" y="89"/>
                  </a:lnTo>
                  <a:lnTo>
                    <a:pt x="0" y="89"/>
                  </a:lnTo>
                  <a:lnTo>
                    <a:pt x="0" y="91"/>
                  </a:lnTo>
                  <a:lnTo>
                    <a:pt x="0" y="91"/>
                  </a:lnTo>
                  <a:lnTo>
                    <a:pt x="0" y="93"/>
                  </a:lnTo>
                  <a:lnTo>
                    <a:pt x="0" y="95"/>
                  </a:lnTo>
                  <a:lnTo>
                    <a:pt x="0" y="95"/>
                  </a:lnTo>
                  <a:lnTo>
                    <a:pt x="0" y="95"/>
                  </a:lnTo>
                  <a:lnTo>
                    <a:pt x="0" y="97"/>
                  </a:lnTo>
                  <a:lnTo>
                    <a:pt x="4" y="97"/>
                  </a:lnTo>
                  <a:lnTo>
                    <a:pt x="6" y="97"/>
                  </a:lnTo>
                  <a:lnTo>
                    <a:pt x="4" y="99"/>
                  </a:lnTo>
                  <a:lnTo>
                    <a:pt x="0" y="103"/>
                  </a:lnTo>
                  <a:lnTo>
                    <a:pt x="0" y="105"/>
                  </a:lnTo>
                  <a:lnTo>
                    <a:pt x="0" y="105"/>
                  </a:lnTo>
                  <a:lnTo>
                    <a:pt x="4" y="105"/>
                  </a:lnTo>
                  <a:lnTo>
                    <a:pt x="6" y="105"/>
                  </a:lnTo>
                  <a:lnTo>
                    <a:pt x="8" y="105"/>
                  </a:lnTo>
                  <a:lnTo>
                    <a:pt x="8" y="106"/>
                  </a:lnTo>
                  <a:lnTo>
                    <a:pt x="8" y="106"/>
                  </a:lnTo>
                  <a:lnTo>
                    <a:pt x="6" y="108"/>
                  </a:lnTo>
                  <a:lnTo>
                    <a:pt x="6" y="108"/>
                  </a:lnTo>
                  <a:lnTo>
                    <a:pt x="6" y="110"/>
                  </a:lnTo>
                  <a:lnTo>
                    <a:pt x="6" y="112"/>
                  </a:lnTo>
                  <a:lnTo>
                    <a:pt x="6" y="114"/>
                  </a:lnTo>
                  <a:lnTo>
                    <a:pt x="8" y="114"/>
                  </a:lnTo>
                  <a:lnTo>
                    <a:pt x="8" y="116"/>
                  </a:lnTo>
                  <a:lnTo>
                    <a:pt x="8" y="118"/>
                  </a:lnTo>
                  <a:lnTo>
                    <a:pt x="6" y="118"/>
                  </a:lnTo>
                  <a:lnTo>
                    <a:pt x="6" y="120"/>
                  </a:lnTo>
                  <a:lnTo>
                    <a:pt x="8" y="135"/>
                  </a:lnTo>
                  <a:lnTo>
                    <a:pt x="8" y="135"/>
                  </a:lnTo>
                  <a:lnTo>
                    <a:pt x="6" y="137"/>
                  </a:lnTo>
                  <a:lnTo>
                    <a:pt x="6" y="137"/>
                  </a:lnTo>
                  <a:lnTo>
                    <a:pt x="6" y="137"/>
                  </a:lnTo>
                  <a:lnTo>
                    <a:pt x="6" y="137"/>
                  </a:lnTo>
                  <a:lnTo>
                    <a:pt x="8" y="137"/>
                  </a:lnTo>
                  <a:lnTo>
                    <a:pt x="8" y="139"/>
                  </a:lnTo>
                  <a:lnTo>
                    <a:pt x="8" y="139"/>
                  </a:lnTo>
                  <a:lnTo>
                    <a:pt x="10" y="144"/>
                  </a:lnTo>
                  <a:lnTo>
                    <a:pt x="12" y="148"/>
                  </a:lnTo>
                  <a:lnTo>
                    <a:pt x="12" y="150"/>
                  </a:lnTo>
                  <a:lnTo>
                    <a:pt x="10" y="150"/>
                  </a:lnTo>
                  <a:lnTo>
                    <a:pt x="10" y="152"/>
                  </a:lnTo>
                  <a:lnTo>
                    <a:pt x="13" y="154"/>
                  </a:lnTo>
                  <a:lnTo>
                    <a:pt x="13" y="156"/>
                  </a:lnTo>
                  <a:lnTo>
                    <a:pt x="13" y="158"/>
                  </a:lnTo>
                  <a:lnTo>
                    <a:pt x="13" y="158"/>
                  </a:lnTo>
                  <a:lnTo>
                    <a:pt x="13" y="158"/>
                  </a:lnTo>
                  <a:lnTo>
                    <a:pt x="13" y="160"/>
                  </a:lnTo>
                  <a:lnTo>
                    <a:pt x="12" y="162"/>
                  </a:lnTo>
                  <a:lnTo>
                    <a:pt x="13" y="165"/>
                  </a:lnTo>
                  <a:lnTo>
                    <a:pt x="13" y="167"/>
                  </a:lnTo>
                  <a:lnTo>
                    <a:pt x="13" y="169"/>
                  </a:lnTo>
                  <a:lnTo>
                    <a:pt x="15" y="171"/>
                  </a:lnTo>
                  <a:lnTo>
                    <a:pt x="23" y="179"/>
                  </a:lnTo>
                  <a:lnTo>
                    <a:pt x="23" y="179"/>
                  </a:lnTo>
                  <a:lnTo>
                    <a:pt x="23" y="181"/>
                  </a:lnTo>
                  <a:lnTo>
                    <a:pt x="23" y="183"/>
                  </a:lnTo>
                  <a:lnTo>
                    <a:pt x="23" y="183"/>
                  </a:lnTo>
                  <a:lnTo>
                    <a:pt x="25" y="186"/>
                  </a:lnTo>
                  <a:lnTo>
                    <a:pt x="25" y="188"/>
                  </a:lnTo>
                  <a:lnTo>
                    <a:pt x="25" y="188"/>
                  </a:lnTo>
                  <a:lnTo>
                    <a:pt x="25" y="188"/>
                  </a:lnTo>
                  <a:lnTo>
                    <a:pt x="25" y="190"/>
                  </a:lnTo>
                  <a:lnTo>
                    <a:pt x="25" y="190"/>
                  </a:lnTo>
                  <a:lnTo>
                    <a:pt x="23" y="192"/>
                  </a:lnTo>
                  <a:lnTo>
                    <a:pt x="23" y="192"/>
                  </a:lnTo>
                  <a:lnTo>
                    <a:pt x="21" y="192"/>
                  </a:lnTo>
                  <a:lnTo>
                    <a:pt x="21" y="194"/>
                  </a:lnTo>
                  <a:lnTo>
                    <a:pt x="21" y="194"/>
                  </a:lnTo>
                  <a:lnTo>
                    <a:pt x="25" y="200"/>
                  </a:lnTo>
                  <a:lnTo>
                    <a:pt x="25" y="200"/>
                  </a:lnTo>
                  <a:lnTo>
                    <a:pt x="25" y="202"/>
                  </a:lnTo>
                  <a:lnTo>
                    <a:pt x="27" y="202"/>
                  </a:lnTo>
                  <a:lnTo>
                    <a:pt x="27" y="202"/>
                  </a:lnTo>
                  <a:lnTo>
                    <a:pt x="29" y="203"/>
                  </a:lnTo>
                  <a:lnTo>
                    <a:pt x="29" y="203"/>
                  </a:lnTo>
                  <a:lnTo>
                    <a:pt x="29" y="205"/>
                  </a:lnTo>
                  <a:lnTo>
                    <a:pt x="29" y="205"/>
                  </a:lnTo>
                  <a:lnTo>
                    <a:pt x="29" y="205"/>
                  </a:lnTo>
                  <a:lnTo>
                    <a:pt x="31" y="205"/>
                  </a:lnTo>
                  <a:lnTo>
                    <a:pt x="31" y="205"/>
                  </a:lnTo>
                  <a:lnTo>
                    <a:pt x="33" y="205"/>
                  </a:lnTo>
                  <a:lnTo>
                    <a:pt x="33" y="205"/>
                  </a:lnTo>
                  <a:lnTo>
                    <a:pt x="33" y="205"/>
                  </a:lnTo>
                  <a:lnTo>
                    <a:pt x="33" y="207"/>
                  </a:lnTo>
                  <a:lnTo>
                    <a:pt x="33" y="207"/>
                  </a:lnTo>
                  <a:lnTo>
                    <a:pt x="33" y="209"/>
                  </a:lnTo>
                  <a:lnTo>
                    <a:pt x="34" y="209"/>
                  </a:lnTo>
                  <a:lnTo>
                    <a:pt x="36" y="209"/>
                  </a:lnTo>
                  <a:lnTo>
                    <a:pt x="36" y="209"/>
                  </a:lnTo>
                  <a:lnTo>
                    <a:pt x="36" y="209"/>
                  </a:lnTo>
                  <a:lnTo>
                    <a:pt x="36" y="213"/>
                  </a:lnTo>
                  <a:lnTo>
                    <a:pt x="38" y="213"/>
                  </a:lnTo>
                  <a:lnTo>
                    <a:pt x="40" y="213"/>
                  </a:lnTo>
                  <a:lnTo>
                    <a:pt x="38" y="219"/>
                  </a:lnTo>
                  <a:lnTo>
                    <a:pt x="36" y="221"/>
                  </a:lnTo>
                  <a:lnTo>
                    <a:pt x="38" y="222"/>
                  </a:lnTo>
                  <a:lnTo>
                    <a:pt x="38" y="224"/>
                  </a:lnTo>
                  <a:lnTo>
                    <a:pt x="38" y="224"/>
                  </a:lnTo>
                  <a:lnTo>
                    <a:pt x="40" y="226"/>
                  </a:lnTo>
                  <a:lnTo>
                    <a:pt x="40" y="226"/>
                  </a:lnTo>
                  <a:lnTo>
                    <a:pt x="42" y="226"/>
                  </a:lnTo>
                  <a:lnTo>
                    <a:pt x="44" y="228"/>
                  </a:lnTo>
                  <a:lnTo>
                    <a:pt x="44" y="228"/>
                  </a:lnTo>
                  <a:lnTo>
                    <a:pt x="42" y="228"/>
                  </a:lnTo>
                  <a:lnTo>
                    <a:pt x="42" y="230"/>
                  </a:lnTo>
                  <a:lnTo>
                    <a:pt x="42" y="230"/>
                  </a:lnTo>
                  <a:lnTo>
                    <a:pt x="42" y="230"/>
                  </a:lnTo>
                  <a:lnTo>
                    <a:pt x="40" y="232"/>
                  </a:lnTo>
                  <a:lnTo>
                    <a:pt x="40" y="232"/>
                  </a:lnTo>
                  <a:lnTo>
                    <a:pt x="40" y="232"/>
                  </a:lnTo>
                  <a:lnTo>
                    <a:pt x="40" y="234"/>
                  </a:lnTo>
                  <a:lnTo>
                    <a:pt x="42" y="234"/>
                  </a:lnTo>
                  <a:lnTo>
                    <a:pt x="44" y="234"/>
                  </a:lnTo>
                  <a:lnTo>
                    <a:pt x="40" y="236"/>
                  </a:lnTo>
                  <a:lnTo>
                    <a:pt x="40" y="238"/>
                  </a:lnTo>
                  <a:lnTo>
                    <a:pt x="40" y="241"/>
                  </a:lnTo>
                  <a:lnTo>
                    <a:pt x="40" y="243"/>
                  </a:lnTo>
                  <a:lnTo>
                    <a:pt x="36" y="241"/>
                  </a:lnTo>
                  <a:lnTo>
                    <a:pt x="38" y="243"/>
                  </a:lnTo>
                  <a:lnTo>
                    <a:pt x="38" y="245"/>
                  </a:lnTo>
                  <a:lnTo>
                    <a:pt x="36" y="249"/>
                  </a:lnTo>
                  <a:lnTo>
                    <a:pt x="38" y="249"/>
                  </a:lnTo>
                  <a:lnTo>
                    <a:pt x="40" y="251"/>
                  </a:lnTo>
                  <a:lnTo>
                    <a:pt x="40" y="251"/>
                  </a:lnTo>
                  <a:lnTo>
                    <a:pt x="42" y="253"/>
                  </a:lnTo>
                  <a:lnTo>
                    <a:pt x="42" y="257"/>
                  </a:lnTo>
                  <a:lnTo>
                    <a:pt x="42" y="259"/>
                  </a:lnTo>
                  <a:lnTo>
                    <a:pt x="40" y="261"/>
                  </a:lnTo>
                  <a:lnTo>
                    <a:pt x="40" y="261"/>
                  </a:lnTo>
                  <a:lnTo>
                    <a:pt x="38" y="262"/>
                  </a:lnTo>
                  <a:lnTo>
                    <a:pt x="38" y="264"/>
                  </a:lnTo>
                  <a:lnTo>
                    <a:pt x="36" y="266"/>
                  </a:lnTo>
                  <a:lnTo>
                    <a:pt x="36" y="266"/>
                  </a:lnTo>
                  <a:lnTo>
                    <a:pt x="34" y="264"/>
                  </a:lnTo>
                  <a:lnTo>
                    <a:pt x="34" y="264"/>
                  </a:lnTo>
                  <a:lnTo>
                    <a:pt x="33" y="264"/>
                  </a:lnTo>
                  <a:lnTo>
                    <a:pt x="31" y="268"/>
                  </a:lnTo>
                  <a:lnTo>
                    <a:pt x="31" y="268"/>
                  </a:lnTo>
                  <a:lnTo>
                    <a:pt x="27" y="268"/>
                  </a:lnTo>
                  <a:lnTo>
                    <a:pt x="25" y="270"/>
                  </a:lnTo>
                  <a:lnTo>
                    <a:pt x="25" y="270"/>
                  </a:lnTo>
                  <a:lnTo>
                    <a:pt x="25" y="270"/>
                  </a:lnTo>
                  <a:lnTo>
                    <a:pt x="23" y="270"/>
                  </a:lnTo>
                  <a:lnTo>
                    <a:pt x="23" y="270"/>
                  </a:lnTo>
                  <a:lnTo>
                    <a:pt x="23" y="272"/>
                  </a:lnTo>
                  <a:lnTo>
                    <a:pt x="19" y="274"/>
                  </a:lnTo>
                  <a:lnTo>
                    <a:pt x="21" y="278"/>
                  </a:lnTo>
                  <a:lnTo>
                    <a:pt x="21" y="280"/>
                  </a:lnTo>
                  <a:lnTo>
                    <a:pt x="21" y="283"/>
                  </a:lnTo>
                  <a:lnTo>
                    <a:pt x="21" y="283"/>
                  </a:lnTo>
                  <a:lnTo>
                    <a:pt x="21" y="283"/>
                  </a:lnTo>
                  <a:lnTo>
                    <a:pt x="21" y="283"/>
                  </a:lnTo>
                  <a:lnTo>
                    <a:pt x="23" y="283"/>
                  </a:lnTo>
                  <a:lnTo>
                    <a:pt x="23" y="285"/>
                  </a:lnTo>
                  <a:lnTo>
                    <a:pt x="23" y="285"/>
                  </a:lnTo>
                  <a:lnTo>
                    <a:pt x="25" y="285"/>
                  </a:lnTo>
                  <a:lnTo>
                    <a:pt x="25" y="287"/>
                  </a:lnTo>
                  <a:lnTo>
                    <a:pt x="25" y="289"/>
                  </a:lnTo>
                  <a:lnTo>
                    <a:pt x="25" y="291"/>
                  </a:lnTo>
                  <a:lnTo>
                    <a:pt x="25" y="291"/>
                  </a:lnTo>
                  <a:lnTo>
                    <a:pt x="23" y="291"/>
                  </a:lnTo>
                  <a:lnTo>
                    <a:pt x="23" y="293"/>
                  </a:lnTo>
                  <a:lnTo>
                    <a:pt x="23" y="293"/>
                  </a:lnTo>
                  <a:lnTo>
                    <a:pt x="23" y="293"/>
                  </a:lnTo>
                  <a:lnTo>
                    <a:pt x="23" y="295"/>
                  </a:lnTo>
                  <a:lnTo>
                    <a:pt x="25" y="295"/>
                  </a:lnTo>
                  <a:lnTo>
                    <a:pt x="25" y="295"/>
                  </a:lnTo>
                  <a:lnTo>
                    <a:pt x="25" y="297"/>
                  </a:lnTo>
                  <a:lnTo>
                    <a:pt x="25" y="297"/>
                  </a:lnTo>
                  <a:lnTo>
                    <a:pt x="25" y="299"/>
                  </a:lnTo>
                  <a:lnTo>
                    <a:pt x="25" y="299"/>
                  </a:lnTo>
                  <a:lnTo>
                    <a:pt x="25" y="300"/>
                  </a:lnTo>
                  <a:lnTo>
                    <a:pt x="25" y="302"/>
                  </a:lnTo>
                  <a:lnTo>
                    <a:pt x="31" y="306"/>
                  </a:lnTo>
                  <a:lnTo>
                    <a:pt x="31" y="308"/>
                  </a:lnTo>
                  <a:lnTo>
                    <a:pt x="33" y="310"/>
                  </a:lnTo>
                  <a:lnTo>
                    <a:pt x="33" y="314"/>
                  </a:lnTo>
                  <a:lnTo>
                    <a:pt x="34" y="316"/>
                  </a:lnTo>
                  <a:lnTo>
                    <a:pt x="34" y="316"/>
                  </a:lnTo>
                  <a:lnTo>
                    <a:pt x="36" y="318"/>
                  </a:lnTo>
                  <a:lnTo>
                    <a:pt x="36" y="318"/>
                  </a:lnTo>
                  <a:lnTo>
                    <a:pt x="36" y="318"/>
                  </a:lnTo>
                  <a:lnTo>
                    <a:pt x="38" y="318"/>
                  </a:lnTo>
                  <a:lnTo>
                    <a:pt x="40" y="318"/>
                  </a:lnTo>
                  <a:lnTo>
                    <a:pt x="40" y="319"/>
                  </a:lnTo>
                  <a:lnTo>
                    <a:pt x="46" y="323"/>
                  </a:lnTo>
                  <a:lnTo>
                    <a:pt x="46" y="323"/>
                  </a:lnTo>
                  <a:lnTo>
                    <a:pt x="46" y="323"/>
                  </a:lnTo>
                  <a:lnTo>
                    <a:pt x="48" y="323"/>
                  </a:lnTo>
                  <a:lnTo>
                    <a:pt x="50" y="323"/>
                  </a:lnTo>
                  <a:lnTo>
                    <a:pt x="50" y="323"/>
                  </a:lnTo>
                  <a:lnTo>
                    <a:pt x="50" y="325"/>
                  </a:lnTo>
                  <a:lnTo>
                    <a:pt x="50" y="325"/>
                  </a:lnTo>
                  <a:lnTo>
                    <a:pt x="50" y="327"/>
                  </a:lnTo>
                  <a:lnTo>
                    <a:pt x="50" y="329"/>
                  </a:lnTo>
                  <a:lnTo>
                    <a:pt x="52" y="329"/>
                  </a:lnTo>
                  <a:lnTo>
                    <a:pt x="52" y="331"/>
                  </a:lnTo>
                  <a:lnTo>
                    <a:pt x="52" y="333"/>
                  </a:lnTo>
                  <a:lnTo>
                    <a:pt x="53" y="335"/>
                  </a:lnTo>
                  <a:lnTo>
                    <a:pt x="53" y="335"/>
                  </a:lnTo>
                  <a:lnTo>
                    <a:pt x="53" y="335"/>
                  </a:lnTo>
                  <a:lnTo>
                    <a:pt x="53" y="335"/>
                  </a:lnTo>
                  <a:lnTo>
                    <a:pt x="55" y="337"/>
                  </a:lnTo>
                  <a:lnTo>
                    <a:pt x="53" y="338"/>
                  </a:lnTo>
                  <a:lnTo>
                    <a:pt x="52" y="340"/>
                  </a:lnTo>
                  <a:lnTo>
                    <a:pt x="50" y="340"/>
                  </a:lnTo>
                  <a:lnTo>
                    <a:pt x="50" y="342"/>
                  </a:lnTo>
                  <a:lnTo>
                    <a:pt x="50" y="342"/>
                  </a:lnTo>
                  <a:lnTo>
                    <a:pt x="48" y="344"/>
                  </a:lnTo>
                  <a:lnTo>
                    <a:pt x="48" y="344"/>
                  </a:lnTo>
                  <a:lnTo>
                    <a:pt x="42" y="346"/>
                  </a:lnTo>
                  <a:lnTo>
                    <a:pt x="40" y="346"/>
                  </a:lnTo>
                  <a:lnTo>
                    <a:pt x="40" y="348"/>
                  </a:lnTo>
                  <a:lnTo>
                    <a:pt x="40" y="348"/>
                  </a:lnTo>
                  <a:lnTo>
                    <a:pt x="40" y="348"/>
                  </a:lnTo>
                  <a:lnTo>
                    <a:pt x="40" y="348"/>
                  </a:lnTo>
                  <a:lnTo>
                    <a:pt x="40" y="350"/>
                  </a:lnTo>
                  <a:lnTo>
                    <a:pt x="40" y="350"/>
                  </a:lnTo>
                  <a:lnTo>
                    <a:pt x="42" y="350"/>
                  </a:lnTo>
                  <a:lnTo>
                    <a:pt x="42" y="350"/>
                  </a:lnTo>
                  <a:lnTo>
                    <a:pt x="42" y="350"/>
                  </a:lnTo>
                  <a:lnTo>
                    <a:pt x="44" y="350"/>
                  </a:lnTo>
                  <a:lnTo>
                    <a:pt x="44" y="350"/>
                  </a:lnTo>
                  <a:lnTo>
                    <a:pt x="44" y="352"/>
                  </a:lnTo>
                  <a:lnTo>
                    <a:pt x="44" y="354"/>
                  </a:lnTo>
                  <a:lnTo>
                    <a:pt x="44" y="354"/>
                  </a:lnTo>
                  <a:lnTo>
                    <a:pt x="46" y="354"/>
                  </a:lnTo>
                  <a:lnTo>
                    <a:pt x="50" y="354"/>
                  </a:lnTo>
                  <a:lnTo>
                    <a:pt x="52" y="354"/>
                  </a:lnTo>
                  <a:lnTo>
                    <a:pt x="52" y="354"/>
                  </a:lnTo>
                  <a:lnTo>
                    <a:pt x="52" y="354"/>
                  </a:lnTo>
                  <a:lnTo>
                    <a:pt x="52" y="354"/>
                  </a:lnTo>
                  <a:lnTo>
                    <a:pt x="52" y="354"/>
                  </a:lnTo>
                  <a:lnTo>
                    <a:pt x="53" y="354"/>
                  </a:lnTo>
                  <a:lnTo>
                    <a:pt x="53" y="354"/>
                  </a:lnTo>
                  <a:lnTo>
                    <a:pt x="53" y="354"/>
                  </a:lnTo>
                  <a:lnTo>
                    <a:pt x="53" y="354"/>
                  </a:lnTo>
                  <a:lnTo>
                    <a:pt x="55" y="356"/>
                  </a:lnTo>
                  <a:lnTo>
                    <a:pt x="55" y="358"/>
                  </a:lnTo>
                  <a:lnTo>
                    <a:pt x="57" y="358"/>
                  </a:lnTo>
                  <a:lnTo>
                    <a:pt x="57" y="358"/>
                  </a:lnTo>
                  <a:lnTo>
                    <a:pt x="57" y="356"/>
                  </a:lnTo>
                  <a:lnTo>
                    <a:pt x="57" y="356"/>
                  </a:lnTo>
                  <a:lnTo>
                    <a:pt x="59" y="356"/>
                  </a:lnTo>
                  <a:lnTo>
                    <a:pt x="59" y="356"/>
                  </a:lnTo>
                  <a:lnTo>
                    <a:pt x="59" y="356"/>
                  </a:lnTo>
                  <a:lnTo>
                    <a:pt x="61" y="356"/>
                  </a:lnTo>
                  <a:lnTo>
                    <a:pt x="61" y="358"/>
                  </a:lnTo>
                  <a:lnTo>
                    <a:pt x="59" y="358"/>
                  </a:lnTo>
                  <a:lnTo>
                    <a:pt x="59" y="359"/>
                  </a:lnTo>
                  <a:lnTo>
                    <a:pt x="53" y="359"/>
                  </a:lnTo>
                  <a:lnTo>
                    <a:pt x="52" y="359"/>
                  </a:lnTo>
                  <a:lnTo>
                    <a:pt x="36" y="367"/>
                  </a:lnTo>
                  <a:lnTo>
                    <a:pt x="33" y="369"/>
                  </a:lnTo>
                  <a:lnTo>
                    <a:pt x="33" y="371"/>
                  </a:lnTo>
                  <a:lnTo>
                    <a:pt x="31" y="371"/>
                  </a:lnTo>
                  <a:lnTo>
                    <a:pt x="31" y="373"/>
                  </a:lnTo>
                  <a:lnTo>
                    <a:pt x="31" y="373"/>
                  </a:lnTo>
                  <a:lnTo>
                    <a:pt x="31" y="375"/>
                  </a:lnTo>
                  <a:lnTo>
                    <a:pt x="31" y="377"/>
                  </a:lnTo>
                  <a:lnTo>
                    <a:pt x="31" y="380"/>
                  </a:lnTo>
                  <a:lnTo>
                    <a:pt x="31" y="380"/>
                  </a:lnTo>
                  <a:lnTo>
                    <a:pt x="31" y="380"/>
                  </a:lnTo>
                  <a:lnTo>
                    <a:pt x="31" y="380"/>
                  </a:lnTo>
                  <a:lnTo>
                    <a:pt x="34" y="380"/>
                  </a:lnTo>
                  <a:lnTo>
                    <a:pt x="34" y="378"/>
                  </a:lnTo>
                  <a:lnTo>
                    <a:pt x="36" y="378"/>
                  </a:lnTo>
                  <a:lnTo>
                    <a:pt x="36" y="375"/>
                  </a:lnTo>
                  <a:lnTo>
                    <a:pt x="38" y="375"/>
                  </a:lnTo>
                  <a:lnTo>
                    <a:pt x="38" y="375"/>
                  </a:lnTo>
                  <a:lnTo>
                    <a:pt x="40" y="375"/>
                  </a:lnTo>
                  <a:lnTo>
                    <a:pt x="40" y="375"/>
                  </a:lnTo>
                  <a:lnTo>
                    <a:pt x="40" y="375"/>
                  </a:lnTo>
                  <a:lnTo>
                    <a:pt x="53" y="369"/>
                  </a:lnTo>
                  <a:lnTo>
                    <a:pt x="55" y="369"/>
                  </a:lnTo>
                  <a:lnTo>
                    <a:pt x="57" y="365"/>
                  </a:lnTo>
                  <a:lnTo>
                    <a:pt x="59" y="365"/>
                  </a:lnTo>
                  <a:lnTo>
                    <a:pt x="61" y="365"/>
                  </a:lnTo>
                  <a:lnTo>
                    <a:pt x="61" y="365"/>
                  </a:lnTo>
                  <a:lnTo>
                    <a:pt x="65" y="365"/>
                  </a:lnTo>
                  <a:lnTo>
                    <a:pt x="71" y="365"/>
                  </a:lnTo>
                  <a:lnTo>
                    <a:pt x="71" y="367"/>
                  </a:lnTo>
                  <a:lnTo>
                    <a:pt x="71" y="367"/>
                  </a:lnTo>
                  <a:lnTo>
                    <a:pt x="73" y="367"/>
                  </a:lnTo>
                  <a:lnTo>
                    <a:pt x="73" y="367"/>
                  </a:lnTo>
                  <a:lnTo>
                    <a:pt x="73" y="367"/>
                  </a:lnTo>
                  <a:lnTo>
                    <a:pt x="73" y="367"/>
                  </a:lnTo>
                  <a:lnTo>
                    <a:pt x="74" y="367"/>
                  </a:lnTo>
                  <a:lnTo>
                    <a:pt x="74" y="367"/>
                  </a:lnTo>
                  <a:lnTo>
                    <a:pt x="76" y="367"/>
                  </a:lnTo>
                  <a:lnTo>
                    <a:pt x="78" y="367"/>
                  </a:lnTo>
                  <a:lnTo>
                    <a:pt x="84" y="367"/>
                  </a:lnTo>
                  <a:lnTo>
                    <a:pt x="86" y="367"/>
                  </a:lnTo>
                  <a:lnTo>
                    <a:pt x="86" y="369"/>
                  </a:lnTo>
                  <a:lnTo>
                    <a:pt x="86" y="369"/>
                  </a:lnTo>
                  <a:lnTo>
                    <a:pt x="86" y="371"/>
                  </a:lnTo>
                  <a:lnTo>
                    <a:pt x="86" y="371"/>
                  </a:lnTo>
                  <a:lnTo>
                    <a:pt x="88" y="371"/>
                  </a:lnTo>
                  <a:lnTo>
                    <a:pt x="88" y="371"/>
                  </a:lnTo>
                  <a:lnTo>
                    <a:pt x="88" y="371"/>
                  </a:lnTo>
                  <a:lnTo>
                    <a:pt x="88" y="371"/>
                  </a:lnTo>
                  <a:lnTo>
                    <a:pt x="88" y="369"/>
                  </a:lnTo>
                  <a:lnTo>
                    <a:pt x="88" y="367"/>
                  </a:lnTo>
                  <a:lnTo>
                    <a:pt x="88" y="367"/>
                  </a:lnTo>
                  <a:lnTo>
                    <a:pt x="90" y="367"/>
                  </a:lnTo>
                  <a:lnTo>
                    <a:pt x="90" y="367"/>
                  </a:lnTo>
                  <a:lnTo>
                    <a:pt x="92" y="367"/>
                  </a:lnTo>
                  <a:lnTo>
                    <a:pt x="92" y="367"/>
                  </a:lnTo>
                  <a:lnTo>
                    <a:pt x="93" y="367"/>
                  </a:lnTo>
                  <a:lnTo>
                    <a:pt x="93" y="365"/>
                  </a:lnTo>
                  <a:lnTo>
                    <a:pt x="93" y="365"/>
                  </a:lnTo>
                  <a:lnTo>
                    <a:pt x="93" y="365"/>
                  </a:lnTo>
                  <a:lnTo>
                    <a:pt x="95" y="363"/>
                  </a:lnTo>
                  <a:lnTo>
                    <a:pt x="95" y="363"/>
                  </a:lnTo>
                  <a:lnTo>
                    <a:pt x="97" y="363"/>
                  </a:lnTo>
                  <a:lnTo>
                    <a:pt x="101" y="363"/>
                  </a:lnTo>
                  <a:lnTo>
                    <a:pt x="101" y="363"/>
                  </a:lnTo>
                  <a:lnTo>
                    <a:pt x="103" y="363"/>
                  </a:lnTo>
                  <a:lnTo>
                    <a:pt x="103" y="363"/>
                  </a:lnTo>
                  <a:lnTo>
                    <a:pt x="105" y="363"/>
                  </a:lnTo>
                  <a:lnTo>
                    <a:pt x="107" y="363"/>
                  </a:lnTo>
                  <a:lnTo>
                    <a:pt x="107" y="365"/>
                  </a:lnTo>
                  <a:lnTo>
                    <a:pt x="109" y="365"/>
                  </a:lnTo>
                  <a:lnTo>
                    <a:pt x="109" y="365"/>
                  </a:lnTo>
                  <a:lnTo>
                    <a:pt x="109" y="365"/>
                  </a:lnTo>
                  <a:lnTo>
                    <a:pt x="109" y="367"/>
                  </a:lnTo>
                  <a:lnTo>
                    <a:pt x="109" y="367"/>
                  </a:lnTo>
                  <a:lnTo>
                    <a:pt x="105" y="369"/>
                  </a:lnTo>
                  <a:lnTo>
                    <a:pt x="105" y="371"/>
                  </a:lnTo>
                  <a:lnTo>
                    <a:pt x="103" y="371"/>
                  </a:lnTo>
                  <a:lnTo>
                    <a:pt x="103" y="371"/>
                  </a:lnTo>
                  <a:lnTo>
                    <a:pt x="103" y="371"/>
                  </a:lnTo>
                  <a:lnTo>
                    <a:pt x="103" y="371"/>
                  </a:lnTo>
                  <a:lnTo>
                    <a:pt x="103" y="371"/>
                  </a:lnTo>
                  <a:lnTo>
                    <a:pt x="103" y="373"/>
                  </a:lnTo>
                  <a:lnTo>
                    <a:pt x="103" y="373"/>
                  </a:lnTo>
                  <a:lnTo>
                    <a:pt x="105" y="375"/>
                  </a:lnTo>
                  <a:lnTo>
                    <a:pt x="105" y="375"/>
                  </a:lnTo>
                  <a:lnTo>
                    <a:pt x="105" y="377"/>
                  </a:lnTo>
                  <a:lnTo>
                    <a:pt x="107" y="377"/>
                  </a:lnTo>
                  <a:lnTo>
                    <a:pt x="109" y="377"/>
                  </a:lnTo>
                  <a:lnTo>
                    <a:pt x="111" y="377"/>
                  </a:lnTo>
                  <a:lnTo>
                    <a:pt x="111" y="377"/>
                  </a:lnTo>
                  <a:lnTo>
                    <a:pt x="111" y="373"/>
                  </a:lnTo>
                  <a:lnTo>
                    <a:pt x="113" y="373"/>
                  </a:lnTo>
                  <a:lnTo>
                    <a:pt x="113" y="373"/>
                  </a:lnTo>
                  <a:lnTo>
                    <a:pt x="116" y="373"/>
                  </a:lnTo>
                  <a:lnTo>
                    <a:pt x="118" y="373"/>
                  </a:lnTo>
                  <a:lnTo>
                    <a:pt x="120" y="373"/>
                  </a:lnTo>
                  <a:lnTo>
                    <a:pt x="122" y="375"/>
                  </a:lnTo>
                  <a:lnTo>
                    <a:pt x="122" y="377"/>
                  </a:lnTo>
                  <a:lnTo>
                    <a:pt x="124" y="377"/>
                  </a:lnTo>
                  <a:lnTo>
                    <a:pt x="126" y="377"/>
                  </a:lnTo>
                  <a:lnTo>
                    <a:pt x="126" y="377"/>
                  </a:lnTo>
                  <a:lnTo>
                    <a:pt x="126" y="377"/>
                  </a:lnTo>
                  <a:lnTo>
                    <a:pt x="128" y="378"/>
                  </a:lnTo>
                  <a:lnTo>
                    <a:pt x="130" y="378"/>
                  </a:lnTo>
                  <a:lnTo>
                    <a:pt x="132" y="380"/>
                  </a:lnTo>
                  <a:lnTo>
                    <a:pt x="133" y="380"/>
                  </a:lnTo>
                  <a:lnTo>
                    <a:pt x="137" y="382"/>
                  </a:lnTo>
                  <a:lnTo>
                    <a:pt x="139" y="382"/>
                  </a:lnTo>
                  <a:lnTo>
                    <a:pt x="141" y="382"/>
                  </a:lnTo>
                  <a:lnTo>
                    <a:pt x="141" y="382"/>
                  </a:lnTo>
                  <a:lnTo>
                    <a:pt x="143" y="380"/>
                  </a:lnTo>
                  <a:lnTo>
                    <a:pt x="143" y="380"/>
                  </a:lnTo>
                  <a:lnTo>
                    <a:pt x="143" y="380"/>
                  </a:lnTo>
                  <a:lnTo>
                    <a:pt x="145" y="380"/>
                  </a:lnTo>
                  <a:lnTo>
                    <a:pt x="147" y="380"/>
                  </a:lnTo>
                  <a:lnTo>
                    <a:pt x="151" y="378"/>
                  </a:lnTo>
                  <a:lnTo>
                    <a:pt x="153" y="378"/>
                  </a:lnTo>
                  <a:lnTo>
                    <a:pt x="153" y="380"/>
                  </a:lnTo>
                  <a:lnTo>
                    <a:pt x="154" y="380"/>
                  </a:lnTo>
                  <a:lnTo>
                    <a:pt x="154" y="378"/>
                  </a:lnTo>
                  <a:lnTo>
                    <a:pt x="156" y="380"/>
                  </a:lnTo>
                  <a:lnTo>
                    <a:pt x="156" y="380"/>
                  </a:lnTo>
                  <a:lnTo>
                    <a:pt x="156" y="382"/>
                  </a:lnTo>
                  <a:lnTo>
                    <a:pt x="158" y="382"/>
                  </a:lnTo>
                  <a:lnTo>
                    <a:pt x="158" y="382"/>
                  </a:lnTo>
                  <a:lnTo>
                    <a:pt x="160" y="382"/>
                  </a:lnTo>
                  <a:lnTo>
                    <a:pt x="162" y="384"/>
                  </a:lnTo>
                  <a:lnTo>
                    <a:pt x="164" y="388"/>
                  </a:lnTo>
                  <a:lnTo>
                    <a:pt x="166" y="388"/>
                  </a:lnTo>
                  <a:lnTo>
                    <a:pt x="166" y="388"/>
                  </a:lnTo>
                  <a:lnTo>
                    <a:pt x="170" y="388"/>
                  </a:lnTo>
                  <a:lnTo>
                    <a:pt x="172" y="388"/>
                  </a:lnTo>
                  <a:lnTo>
                    <a:pt x="172" y="388"/>
                  </a:lnTo>
                  <a:lnTo>
                    <a:pt x="174" y="390"/>
                  </a:lnTo>
                  <a:lnTo>
                    <a:pt x="174" y="390"/>
                  </a:lnTo>
                  <a:lnTo>
                    <a:pt x="174" y="392"/>
                  </a:lnTo>
                  <a:lnTo>
                    <a:pt x="174" y="392"/>
                  </a:lnTo>
                  <a:lnTo>
                    <a:pt x="174" y="392"/>
                  </a:lnTo>
                  <a:lnTo>
                    <a:pt x="174" y="396"/>
                  </a:lnTo>
                  <a:lnTo>
                    <a:pt x="175" y="399"/>
                  </a:lnTo>
                  <a:lnTo>
                    <a:pt x="175" y="401"/>
                  </a:lnTo>
                  <a:lnTo>
                    <a:pt x="181" y="409"/>
                  </a:lnTo>
                  <a:lnTo>
                    <a:pt x="183" y="413"/>
                  </a:lnTo>
                  <a:lnTo>
                    <a:pt x="183" y="415"/>
                  </a:lnTo>
                  <a:lnTo>
                    <a:pt x="183" y="418"/>
                  </a:lnTo>
                  <a:lnTo>
                    <a:pt x="183" y="422"/>
                  </a:lnTo>
                  <a:lnTo>
                    <a:pt x="183" y="422"/>
                  </a:lnTo>
                  <a:lnTo>
                    <a:pt x="183" y="424"/>
                  </a:lnTo>
                  <a:lnTo>
                    <a:pt x="183" y="424"/>
                  </a:lnTo>
                  <a:lnTo>
                    <a:pt x="185" y="424"/>
                  </a:lnTo>
                  <a:lnTo>
                    <a:pt x="185" y="424"/>
                  </a:lnTo>
                  <a:lnTo>
                    <a:pt x="183" y="426"/>
                  </a:lnTo>
                  <a:lnTo>
                    <a:pt x="181" y="428"/>
                  </a:lnTo>
                  <a:lnTo>
                    <a:pt x="181" y="430"/>
                  </a:lnTo>
                  <a:lnTo>
                    <a:pt x="181" y="430"/>
                  </a:lnTo>
                  <a:lnTo>
                    <a:pt x="179" y="432"/>
                  </a:lnTo>
                  <a:lnTo>
                    <a:pt x="177" y="432"/>
                  </a:lnTo>
                  <a:lnTo>
                    <a:pt x="175" y="432"/>
                  </a:lnTo>
                  <a:lnTo>
                    <a:pt x="175" y="432"/>
                  </a:lnTo>
                  <a:lnTo>
                    <a:pt x="174" y="432"/>
                  </a:lnTo>
                  <a:lnTo>
                    <a:pt x="174" y="434"/>
                  </a:lnTo>
                  <a:lnTo>
                    <a:pt x="174" y="434"/>
                  </a:lnTo>
                  <a:lnTo>
                    <a:pt x="174" y="435"/>
                  </a:lnTo>
                  <a:lnTo>
                    <a:pt x="174" y="437"/>
                  </a:lnTo>
                  <a:lnTo>
                    <a:pt x="174" y="437"/>
                  </a:lnTo>
                  <a:lnTo>
                    <a:pt x="174" y="439"/>
                  </a:lnTo>
                  <a:lnTo>
                    <a:pt x="175" y="441"/>
                  </a:lnTo>
                  <a:lnTo>
                    <a:pt x="174" y="441"/>
                  </a:lnTo>
                  <a:lnTo>
                    <a:pt x="174" y="441"/>
                  </a:lnTo>
                  <a:lnTo>
                    <a:pt x="172" y="443"/>
                  </a:lnTo>
                  <a:lnTo>
                    <a:pt x="172" y="443"/>
                  </a:lnTo>
                  <a:lnTo>
                    <a:pt x="172" y="443"/>
                  </a:lnTo>
                  <a:lnTo>
                    <a:pt x="172" y="445"/>
                  </a:lnTo>
                  <a:lnTo>
                    <a:pt x="172" y="447"/>
                  </a:lnTo>
                  <a:lnTo>
                    <a:pt x="172" y="447"/>
                  </a:lnTo>
                  <a:lnTo>
                    <a:pt x="174" y="449"/>
                  </a:lnTo>
                  <a:lnTo>
                    <a:pt x="174" y="449"/>
                  </a:lnTo>
                  <a:lnTo>
                    <a:pt x="174" y="451"/>
                  </a:lnTo>
                  <a:lnTo>
                    <a:pt x="174" y="451"/>
                  </a:lnTo>
                  <a:lnTo>
                    <a:pt x="170" y="456"/>
                  </a:lnTo>
                  <a:lnTo>
                    <a:pt x="168" y="460"/>
                  </a:lnTo>
                  <a:lnTo>
                    <a:pt x="168" y="462"/>
                  </a:lnTo>
                  <a:lnTo>
                    <a:pt x="168" y="464"/>
                  </a:lnTo>
                  <a:lnTo>
                    <a:pt x="168" y="466"/>
                  </a:lnTo>
                  <a:lnTo>
                    <a:pt x="164" y="470"/>
                  </a:lnTo>
                  <a:lnTo>
                    <a:pt x="162" y="474"/>
                  </a:lnTo>
                  <a:lnTo>
                    <a:pt x="160" y="477"/>
                  </a:lnTo>
                  <a:lnTo>
                    <a:pt x="158" y="479"/>
                  </a:lnTo>
                  <a:lnTo>
                    <a:pt x="158" y="479"/>
                  </a:lnTo>
                  <a:lnTo>
                    <a:pt x="156" y="479"/>
                  </a:lnTo>
                  <a:lnTo>
                    <a:pt x="154" y="481"/>
                  </a:lnTo>
                  <a:lnTo>
                    <a:pt x="154" y="481"/>
                  </a:lnTo>
                  <a:lnTo>
                    <a:pt x="154" y="483"/>
                  </a:lnTo>
                  <a:lnTo>
                    <a:pt x="154" y="485"/>
                  </a:lnTo>
                  <a:lnTo>
                    <a:pt x="153" y="487"/>
                  </a:lnTo>
                  <a:lnTo>
                    <a:pt x="153" y="487"/>
                  </a:lnTo>
                  <a:lnTo>
                    <a:pt x="153" y="489"/>
                  </a:lnTo>
                  <a:lnTo>
                    <a:pt x="154" y="489"/>
                  </a:lnTo>
                  <a:lnTo>
                    <a:pt x="154" y="491"/>
                  </a:lnTo>
                  <a:lnTo>
                    <a:pt x="156" y="493"/>
                  </a:lnTo>
                  <a:lnTo>
                    <a:pt x="156" y="494"/>
                  </a:lnTo>
                  <a:lnTo>
                    <a:pt x="156" y="494"/>
                  </a:lnTo>
                  <a:lnTo>
                    <a:pt x="156" y="496"/>
                  </a:lnTo>
                  <a:lnTo>
                    <a:pt x="156" y="496"/>
                  </a:lnTo>
                  <a:lnTo>
                    <a:pt x="156" y="496"/>
                  </a:lnTo>
                  <a:lnTo>
                    <a:pt x="154" y="496"/>
                  </a:lnTo>
                  <a:lnTo>
                    <a:pt x="153" y="498"/>
                  </a:lnTo>
                  <a:lnTo>
                    <a:pt x="143" y="500"/>
                  </a:lnTo>
                  <a:lnTo>
                    <a:pt x="139" y="502"/>
                  </a:lnTo>
                  <a:lnTo>
                    <a:pt x="139" y="504"/>
                  </a:lnTo>
                  <a:lnTo>
                    <a:pt x="137" y="504"/>
                  </a:lnTo>
                  <a:lnTo>
                    <a:pt x="137" y="504"/>
                  </a:lnTo>
                  <a:lnTo>
                    <a:pt x="135" y="504"/>
                  </a:lnTo>
                  <a:lnTo>
                    <a:pt x="132" y="504"/>
                  </a:lnTo>
                  <a:lnTo>
                    <a:pt x="132" y="504"/>
                  </a:lnTo>
                  <a:lnTo>
                    <a:pt x="128" y="504"/>
                  </a:lnTo>
                  <a:lnTo>
                    <a:pt x="120" y="506"/>
                  </a:lnTo>
                  <a:lnTo>
                    <a:pt x="118" y="508"/>
                  </a:lnTo>
                  <a:lnTo>
                    <a:pt x="118" y="513"/>
                  </a:lnTo>
                  <a:lnTo>
                    <a:pt x="116" y="515"/>
                  </a:lnTo>
                  <a:lnTo>
                    <a:pt x="111" y="521"/>
                  </a:lnTo>
                  <a:lnTo>
                    <a:pt x="111" y="521"/>
                  </a:lnTo>
                  <a:lnTo>
                    <a:pt x="109" y="523"/>
                  </a:lnTo>
                  <a:lnTo>
                    <a:pt x="109" y="523"/>
                  </a:lnTo>
                  <a:lnTo>
                    <a:pt x="111" y="525"/>
                  </a:lnTo>
                  <a:lnTo>
                    <a:pt x="111" y="527"/>
                  </a:lnTo>
                  <a:lnTo>
                    <a:pt x="113" y="527"/>
                  </a:lnTo>
                  <a:lnTo>
                    <a:pt x="114" y="529"/>
                  </a:lnTo>
                  <a:lnTo>
                    <a:pt x="118" y="540"/>
                  </a:lnTo>
                  <a:lnTo>
                    <a:pt x="120" y="542"/>
                  </a:lnTo>
                  <a:lnTo>
                    <a:pt x="120" y="542"/>
                  </a:lnTo>
                  <a:lnTo>
                    <a:pt x="120" y="544"/>
                  </a:lnTo>
                  <a:lnTo>
                    <a:pt x="120" y="546"/>
                  </a:lnTo>
                  <a:lnTo>
                    <a:pt x="118" y="548"/>
                  </a:lnTo>
                  <a:lnTo>
                    <a:pt x="118" y="550"/>
                  </a:lnTo>
                  <a:lnTo>
                    <a:pt x="118" y="551"/>
                  </a:lnTo>
                  <a:lnTo>
                    <a:pt x="116" y="553"/>
                  </a:lnTo>
                  <a:lnTo>
                    <a:pt x="116" y="553"/>
                  </a:lnTo>
                  <a:lnTo>
                    <a:pt x="116" y="555"/>
                  </a:lnTo>
                  <a:lnTo>
                    <a:pt x="118" y="557"/>
                  </a:lnTo>
                  <a:lnTo>
                    <a:pt x="116" y="561"/>
                  </a:lnTo>
                  <a:lnTo>
                    <a:pt x="116" y="563"/>
                  </a:lnTo>
                  <a:lnTo>
                    <a:pt x="114" y="565"/>
                  </a:lnTo>
                  <a:lnTo>
                    <a:pt x="111" y="569"/>
                  </a:lnTo>
                  <a:lnTo>
                    <a:pt x="107" y="571"/>
                  </a:lnTo>
                  <a:lnTo>
                    <a:pt x="103" y="574"/>
                  </a:lnTo>
                  <a:lnTo>
                    <a:pt x="101" y="574"/>
                  </a:lnTo>
                  <a:lnTo>
                    <a:pt x="101" y="576"/>
                  </a:lnTo>
                  <a:lnTo>
                    <a:pt x="103" y="578"/>
                  </a:lnTo>
                  <a:lnTo>
                    <a:pt x="103" y="578"/>
                  </a:lnTo>
                  <a:lnTo>
                    <a:pt x="105" y="578"/>
                  </a:lnTo>
                  <a:lnTo>
                    <a:pt x="105" y="578"/>
                  </a:lnTo>
                  <a:lnTo>
                    <a:pt x="107" y="584"/>
                  </a:lnTo>
                  <a:lnTo>
                    <a:pt x="107" y="586"/>
                  </a:lnTo>
                  <a:lnTo>
                    <a:pt x="107" y="588"/>
                  </a:lnTo>
                  <a:lnTo>
                    <a:pt x="107" y="590"/>
                  </a:lnTo>
                  <a:lnTo>
                    <a:pt x="109" y="591"/>
                  </a:lnTo>
                  <a:lnTo>
                    <a:pt x="109" y="591"/>
                  </a:lnTo>
                  <a:lnTo>
                    <a:pt x="111" y="593"/>
                  </a:lnTo>
                  <a:lnTo>
                    <a:pt x="111" y="597"/>
                  </a:lnTo>
                  <a:lnTo>
                    <a:pt x="111" y="597"/>
                  </a:lnTo>
                  <a:lnTo>
                    <a:pt x="111" y="599"/>
                  </a:lnTo>
                  <a:lnTo>
                    <a:pt x="111" y="599"/>
                  </a:lnTo>
                  <a:lnTo>
                    <a:pt x="111" y="601"/>
                  </a:lnTo>
                  <a:lnTo>
                    <a:pt x="111" y="601"/>
                  </a:lnTo>
                  <a:lnTo>
                    <a:pt x="111" y="603"/>
                  </a:lnTo>
                  <a:lnTo>
                    <a:pt x="111" y="605"/>
                  </a:lnTo>
                  <a:lnTo>
                    <a:pt x="109" y="607"/>
                  </a:lnTo>
                  <a:lnTo>
                    <a:pt x="107" y="610"/>
                  </a:lnTo>
                  <a:lnTo>
                    <a:pt x="107" y="612"/>
                  </a:lnTo>
                  <a:lnTo>
                    <a:pt x="107" y="612"/>
                  </a:lnTo>
                  <a:lnTo>
                    <a:pt x="109" y="614"/>
                  </a:lnTo>
                  <a:lnTo>
                    <a:pt x="109" y="614"/>
                  </a:lnTo>
                  <a:lnTo>
                    <a:pt x="109" y="614"/>
                  </a:lnTo>
                  <a:lnTo>
                    <a:pt x="111" y="616"/>
                  </a:lnTo>
                  <a:lnTo>
                    <a:pt x="111" y="616"/>
                  </a:lnTo>
                  <a:lnTo>
                    <a:pt x="111" y="616"/>
                  </a:lnTo>
                  <a:lnTo>
                    <a:pt x="113" y="618"/>
                  </a:lnTo>
                  <a:lnTo>
                    <a:pt x="113" y="620"/>
                  </a:lnTo>
                  <a:lnTo>
                    <a:pt x="114" y="620"/>
                  </a:lnTo>
                  <a:lnTo>
                    <a:pt x="116" y="622"/>
                  </a:lnTo>
                  <a:lnTo>
                    <a:pt x="118" y="622"/>
                  </a:lnTo>
                  <a:lnTo>
                    <a:pt x="118" y="622"/>
                  </a:lnTo>
                  <a:lnTo>
                    <a:pt x="118" y="624"/>
                  </a:lnTo>
                  <a:lnTo>
                    <a:pt x="118" y="624"/>
                  </a:lnTo>
                  <a:lnTo>
                    <a:pt x="116" y="628"/>
                  </a:lnTo>
                  <a:lnTo>
                    <a:pt x="116" y="628"/>
                  </a:lnTo>
                  <a:lnTo>
                    <a:pt x="116" y="629"/>
                  </a:lnTo>
                  <a:lnTo>
                    <a:pt x="116" y="631"/>
                  </a:lnTo>
                  <a:lnTo>
                    <a:pt x="118" y="631"/>
                  </a:lnTo>
                  <a:lnTo>
                    <a:pt x="118" y="633"/>
                  </a:lnTo>
                  <a:lnTo>
                    <a:pt x="120" y="633"/>
                  </a:lnTo>
                  <a:lnTo>
                    <a:pt x="122" y="633"/>
                  </a:lnTo>
                  <a:lnTo>
                    <a:pt x="124" y="633"/>
                  </a:lnTo>
                  <a:lnTo>
                    <a:pt x="126" y="631"/>
                  </a:lnTo>
                  <a:lnTo>
                    <a:pt x="126" y="631"/>
                  </a:lnTo>
                  <a:lnTo>
                    <a:pt x="128" y="629"/>
                  </a:lnTo>
                  <a:lnTo>
                    <a:pt x="128" y="629"/>
                  </a:lnTo>
                  <a:lnTo>
                    <a:pt x="128" y="628"/>
                  </a:lnTo>
                  <a:lnTo>
                    <a:pt x="128" y="628"/>
                  </a:lnTo>
                  <a:lnTo>
                    <a:pt x="128" y="626"/>
                  </a:lnTo>
                  <a:lnTo>
                    <a:pt x="128" y="626"/>
                  </a:lnTo>
                  <a:lnTo>
                    <a:pt x="128" y="624"/>
                  </a:lnTo>
                  <a:lnTo>
                    <a:pt x="130" y="624"/>
                  </a:lnTo>
                  <a:lnTo>
                    <a:pt x="130" y="622"/>
                  </a:lnTo>
                  <a:lnTo>
                    <a:pt x="130" y="622"/>
                  </a:lnTo>
                  <a:lnTo>
                    <a:pt x="132" y="622"/>
                  </a:lnTo>
                  <a:lnTo>
                    <a:pt x="133" y="624"/>
                  </a:lnTo>
                  <a:lnTo>
                    <a:pt x="135" y="624"/>
                  </a:lnTo>
                  <a:lnTo>
                    <a:pt x="141" y="629"/>
                  </a:lnTo>
                  <a:lnTo>
                    <a:pt x="143" y="629"/>
                  </a:lnTo>
                  <a:lnTo>
                    <a:pt x="145" y="633"/>
                  </a:lnTo>
                  <a:lnTo>
                    <a:pt x="147" y="633"/>
                  </a:lnTo>
                  <a:lnTo>
                    <a:pt x="149" y="635"/>
                  </a:lnTo>
                  <a:lnTo>
                    <a:pt x="151" y="635"/>
                  </a:lnTo>
                  <a:lnTo>
                    <a:pt x="153" y="635"/>
                  </a:lnTo>
                  <a:lnTo>
                    <a:pt x="154" y="635"/>
                  </a:lnTo>
                  <a:lnTo>
                    <a:pt x="154" y="635"/>
                  </a:lnTo>
                  <a:lnTo>
                    <a:pt x="156" y="635"/>
                  </a:lnTo>
                  <a:lnTo>
                    <a:pt x="156" y="637"/>
                  </a:lnTo>
                  <a:lnTo>
                    <a:pt x="156" y="637"/>
                  </a:lnTo>
                  <a:lnTo>
                    <a:pt x="156" y="639"/>
                  </a:lnTo>
                  <a:lnTo>
                    <a:pt x="156" y="641"/>
                  </a:lnTo>
                  <a:lnTo>
                    <a:pt x="158" y="641"/>
                  </a:lnTo>
                  <a:lnTo>
                    <a:pt x="160" y="643"/>
                  </a:lnTo>
                  <a:lnTo>
                    <a:pt x="160" y="641"/>
                  </a:lnTo>
                  <a:lnTo>
                    <a:pt x="162" y="641"/>
                  </a:lnTo>
                  <a:lnTo>
                    <a:pt x="164" y="639"/>
                  </a:lnTo>
                  <a:lnTo>
                    <a:pt x="166" y="637"/>
                  </a:lnTo>
                  <a:lnTo>
                    <a:pt x="168" y="633"/>
                  </a:lnTo>
                  <a:lnTo>
                    <a:pt x="168" y="631"/>
                  </a:lnTo>
                  <a:lnTo>
                    <a:pt x="170" y="629"/>
                  </a:lnTo>
                  <a:lnTo>
                    <a:pt x="174" y="626"/>
                  </a:lnTo>
                  <a:lnTo>
                    <a:pt x="174" y="626"/>
                  </a:lnTo>
                  <a:lnTo>
                    <a:pt x="174" y="624"/>
                  </a:lnTo>
                  <a:lnTo>
                    <a:pt x="175" y="624"/>
                  </a:lnTo>
                  <a:lnTo>
                    <a:pt x="175" y="622"/>
                  </a:lnTo>
                  <a:lnTo>
                    <a:pt x="177" y="620"/>
                  </a:lnTo>
                  <a:lnTo>
                    <a:pt x="177" y="616"/>
                  </a:lnTo>
                  <a:lnTo>
                    <a:pt x="175" y="616"/>
                  </a:lnTo>
                  <a:lnTo>
                    <a:pt x="174" y="616"/>
                  </a:lnTo>
                  <a:lnTo>
                    <a:pt x="172" y="616"/>
                  </a:lnTo>
                  <a:lnTo>
                    <a:pt x="172" y="614"/>
                  </a:lnTo>
                  <a:lnTo>
                    <a:pt x="172" y="614"/>
                  </a:lnTo>
                  <a:lnTo>
                    <a:pt x="170" y="614"/>
                  </a:lnTo>
                  <a:lnTo>
                    <a:pt x="170" y="614"/>
                  </a:lnTo>
                  <a:lnTo>
                    <a:pt x="170" y="614"/>
                  </a:lnTo>
                  <a:lnTo>
                    <a:pt x="170" y="612"/>
                  </a:lnTo>
                  <a:lnTo>
                    <a:pt x="170" y="612"/>
                  </a:lnTo>
                  <a:lnTo>
                    <a:pt x="172" y="610"/>
                  </a:lnTo>
                  <a:lnTo>
                    <a:pt x="172" y="610"/>
                  </a:lnTo>
                  <a:lnTo>
                    <a:pt x="170" y="609"/>
                  </a:lnTo>
                  <a:lnTo>
                    <a:pt x="168" y="607"/>
                  </a:lnTo>
                  <a:lnTo>
                    <a:pt x="168" y="605"/>
                  </a:lnTo>
                  <a:lnTo>
                    <a:pt x="168" y="603"/>
                  </a:lnTo>
                  <a:lnTo>
                    <a:pt x="168" y="603"/>
                  </a:lnTo>
                  <a:lnTo>
                    <a:pt x="166" y="601"/>
                  </a:lnTo>
                  <a:lnTo>
                    <a:pt x="166" y="599"/>
                  </a:lnTo>
                  <a:lnTo>
                    <a:pt x="164" y="599"/>
                  </a:lnTo>
                  <a:lnTo>
                    <a:pt x="162" y="599"/>
                  </a:lnTo>
                  <a:lnTo>
                    <a:pt x="162" y="599"/>
                  </a:lnTo>
                  <a:lnTo>
                    <a:pt x="160" y="599"/>
                  </a:lnTo>
                  <a:lnTo>
                    <a:pt x="156" y="599"/>
                  </a:lnTo>
                  <a:lnTo>
                    <a:pt x="156" y="601"/>
                  </a:lnTo>
                  <a:lnTo>
                    <a:pt x="154" y="601"/>
                  </a:lnTo>
                  <a:lnTo>
                    <a:pt x="154" y="599"/>
                  </a:lnTo>
                  <a:lnTo>
                    <a:pt x="153" y="599"/>
                  </a:lnTo>
                  <a:lnTo>
                    <a:pt x="153" y="597"/>
                  </a:lnTo>
                  <a:lnTo>
                    <a:pt x="153" y="597"/>
                  </a:lnTo>
                  <a:lnTo>
                    <a:pt x="153" y="595"/>
                  </a:lnTo>
                  <a:lnTo>
                    <a:pt x="153" y="593"/>
                  </a:lnTo>
                  <a:lnTo>
                    <a:pt x="154" y="591"/>
                  </a:lnTo>
                  <a:lnTo>
                    <a:pt x="154" y="591"/>
                  </a:lnTo>
                  <a:lnTo>
                    <a:pt x="154" y="591"/>
                  </a:lnTo>
                  <a:lnTo>
                    <a:pt x="154" y="590"/>
                  </a:lnTo>
                  <a:lnTo>
                    <a:pt x="154" y="586"/>
                  </a:lnTo>
                  <a:lnTo>
                    <a:pt x="154" y="582"/>
                  </a:lnTo>
                  <a:lnTo>
                    <a:pt x="154" y="580"/>
                  </a:lnTo>
                  <a:lnTo>
                    <a:pt x="153" y="578"/>
                  </a:lnTo>
                  <a:lnTo>
                    <a:pt x="153" y="576"/>
                  </a:lnTo>
                  <a:lnTo>
                    <a:pt x="151" y="574"/>
                  </a:lnTo>
                  <a:lnTo>
                    <a:pt x="147" y="571"/>
                  </a:lnTo>
                  <a:lnTo>
                    <a:pt x="147" y="569"/>
                  </a:lnTo>
                  <a:lnTo>
                    <a:pt x="145" y="567"/>
                  </a:lnTo>
                  <a:lnTo>
                    <a:pt x="143" y="555"/>
                  </a:lnTo>
                  <a:lnTo>
                    <a:pt x="143" y="551"/>
                  </a:lnTo>
                  <a:lnTo>
                    <a:pt x="143" y="550"/>
                  </a:lnTo>
                  <a:lnTo>
                    <a:pt x="139" y="542"/>
                  </a:lnTo>
                  <a:lnTo>
                    <a:pt x="137" y="540"/>
                  </a:lnTo>
                  <a:lnTo>
                    <a:pt x="137" y="538"/>
                  </a:lnTo>
                  <a:lnTo>
                    <a:pt x="135" y="536"/>
                  </a:lnTo>
                  <a:lnTo>
                    <a:pt x="133" y="536"/>
                  </a:lnTo>
                  <a:lnTo>
                    <a:pt x="133" y="536"/>
                  </a:lnTo>
                  <a:lnTo>
                    <a:pt x="133" y="534"/>
                  </a:lnTo>
                  <a:lnTo>
                    <a:pt x="133" y="534"/>
                  </a:lnTo>
                  <a:lnTo>
                    <a:pt x="133" y="532"/>
                  </a:lnTo>
                  <a:lnTo>
                    <a:pt x="133" y="532"/>
                  </a:lnTo>
                  <a:lnTo>
                    <a:pt x="135" y="531"/>
                  </a:lnTo>
                  <a:lnTo>
                    <a:pt x="137" y="527"/>
                  </a:lnTo>
                  <a:lnTo>
                    <a:pt x="137" y="527"/>
                  </a:lnTo>
                  <a:lnTo>
                    <a:pt x="139" y="525"/>
                  </a:lnTo>
                  <a:lnTo>
                    <a:pt x="139" y="525"/>
                  </a:lnTo>
                  <a:lnTo>
                    <a:pt x="139" y="525"/>
                  </a:lnTo>
                  <a:lnTo>
                    <a:pt x="139" y="523"/>
                  </a:lnTo>
                  <a:lnTo>
                    <a:pt x="139" y="523"/>
                  </a:lnTo>
                  <a:lnTo>
                    <a:pt x="139" y="523"/>
                  </a:lnTo>
                  <a:lnTo>
                    <a:pt x="139" y="521"/>
                  </a:lnTo>
                  <a:lnTo>
                    <a:pt x="139" y="521"/>
                  </a:lnTo>
                  <a:lnTo>
                    <a:pt x="141" y="521"/>
                  </a:lnTo>
                  <a:lnTo>
                    <a:pt x="141" y="521"/>
                  </a:lnTo>
                  <a:lnTo>
                    <a:pt x="143" y="521"/>
                  </a:lnTo>
                  <a:lnTo>
                    <a:pt x="145" y="521"/>
                  </a:lnTo>
                  <a:lnTo>
                    <a:pt x="147" y="521"/>
                  </a:lnTo>
                  <a:lnTo>
                    <a:pt x="147" y="521"/>
                  </a:lnTo>
                  <a:lnTo>
                    <a:pt x="147" y="521"/>
                  </a:lnTo>
                  <a:lnTo>
                    <a:pt x="149" y="523"/>
                  </a:lnTo>
                  <a:lnTo>
                    <a:pt x="149" y="523"/>
                  </a:lnTo>
                  <a:lnTo>
                    <a:pt x="151" y="525"/>
                  </a:lnTo>
                  <a:lnTo>
                    <a:pt x="151" y="525"/>
                  </a:lnTo>
                  <a:lnTo>
                    <a:pt x="153" y="527"/>
                  </a:lnTo>
                  <a:lnTo>
                    <a:pt x="153" y="527"/>
                  </a:lnTo>
                  <a:lnTo>
                    <a:pt x="153" y="527"/>
                  </a:lnTo>
                  <a:lnTo>
                    <a:pt x="154" y="527"/>
                  </a:lnTo>
                  <a:lnTo>
                    <a:pt x="154" y="527"/>
                  </a:lnTo>
                  <a:lnTo>
                    <a:pt x="154" y="525"/>
                  </a:lnTo>
                  <a:lnTo>
                    <a:pt x="154" y="523"/>
                  </a:lnTo>
                  <a:lnTo>
                    <a:pt x="154" y="523"/>
                  </a:lnTo>
                  <a:lnTo>
                    <a:pt x="154" y="523"/>
                  </a:lnTo>
                  <a:lnTo>
                    <a:pt x="154" y="521"/>
                  </a:lnTo>
                  <a:lnTo>
                    <a:pt x="154" y="521"/>
                  </a:lnTo>
                  <a:lnTo>
                    <a:pt x="154" y="519"/>
                  </a:lnTo>
                  <a:lnTo>
                    <a:pt x="154" y="519"/>
                  </a:lnTo>
                  <a:lnTo>
                    <a:pt x="154" y="517"/>
                  </a:lnTo>
                  <a:lnTo>
                    <a:pt x="153" y="515"/>
                  </a:lnTo>
                  <a:lnTo>
                    <a:pt x="153" y="515"/>
                  </a:lnTo>
                  <a:lnTo>
                    <a:pt x="153" y="513"/>
                  </a:lnTo>
                  <a:lnTo>
                    <a:pt x="153" y="512"/>
                  </a:lnTo>
                  <a:lnTo>
                    <a:pt x="154" y="512"/>
                  </a:lnTo>
                  <a:lnTo>
                    <a:pt x="154" y="512"/>
                  </a:lnTo>
                  <a:lnTo>
                    <a:pt x="156" y="512"/>
                  </a:lnTo>
                  <a:lnTo>
                    <a:pt x="156" y="510"/>
                  </a:lnTo>
                  <a:lnTo>
                    <a:pt x="158" y="510"/>
                  </a:lnTo>
                  <a:lnTo>
                    <a:pt x="160" y="512"/>
                  </a:lnTo>
                  <a:lnTo>
                    <a:pt x="160" y="512"/>
                  </a:lnTo>
                  <a:lnTo>
                    <a:pt x="160" y="512"/>
                  </a:lnTo>
                  <a:lnTo>
                    <a:pt x="160" y="513"/>
                  </a:lnTo>
                  <a:lnTo>
                    <a:pt x="160" y="517"/>
                  </a:lnTo>
                  <a:lnTo>
                    <a:pt x="160" y="519"/>
                  </a:lnTo>
                  <a:lnTo>
                    <a:pt x="160" y="519"/>
                  </a:lnTo>
                  <a:lnTo>
                    <a:pt x="162" y="521"/>
                  </a:lnTo>
                  <a:lnTo>
                    <a:pt x="164" y="519"/>
                  </a:lnTo>
                  <a:lnTo>
                    <a:pt x="164" y="519"/>
                  </a:lnTo>
                  <a:lnTo>
                    <a:pt x="166" y="519"/>
                  </a:lnTo>
                  <a:lnTo>
                    <a:pt x="166" y="517"/>
                  </a:lnTo>
                  <a:lnTo>
                    <a:pt x="164" y="513"/>
                  </a:lnTo>
                  <a:lnTo>
                    <a:pt x="164" y="513"/>
                  </a:lnTo>
                  <a:lnTo>
                    <a:pt x="166" y="512"/>
                  </a:lnTo>
                  <a:lnTo>
                    <a:pt x="166" y="512"/>
                  </a:lnTo>
                  <a:lnTo>
                    <a:pt x="166" y="510"/>
                  </a:lnTo>
                  <a:lnTo>
                    <a:pt x="166" y="510"/>
                  </a:lnTo>
                  <a:lnTo>
                    <a:pt x="168" y="508"/>
                  </a:lnTo>
                  <a:lnTo>
                    <a:pt x="168" y="508"/>
                  </a:lnTo>
                  <a:lnTo>
                    <a:pt x="170" y="508"/>
                  </a:lnTo>
                  <a:lnTo>
                    <a:pt x="170" y="510"/>
                  </a:lnTo>
                  <a:lnTo>
                    <a:pt x="172" y="510"/>
                  </a:lnTo>
                  <a:lnTo>
                    <a:pt x="172" y="512"/>
                  </a:lnTo>
                  <a:lnTo>
                    <a:pt x="172" y="513"/>
                  </a:lnTo>
                  <a:lnTo>
                    <a:pt x="172" y="513"/>
                  </a:lnTo>
                  <a:lnTo>
                    <a:pt x="170" y="515"/>
                  </a:lnTo>
                  <a:lnTo>
                    <a:pt x="170" y="517"/>
                  </a:lnTo>
                  <a:lnTo>
                    <a:pt x="170" y="517"/>
                  </a:lnTo>
                  <a:lnTo>
                    <a:pt x="170" y="517"/>
                  </a:lnTo>
                  <a:lnTo>
                    <a:pt x="172" y="517"/>
                  </a:lnTo>
                  <a:lnTo>
                    <a:pt x="172" y="517"/>
                  </a:lnTo>
                  <a:lnTo>
                    <a:pt x="174" y="517"/>
                  </a:lnTo>
                  <a:lnTo>
                    <a:pt x="174" y="517"/>
                  </a:lnTo>
                  <a:lnTo>
                    <a:pt x="174" y="517"/>
                  </a:lnTo>
                  <a:lnTo>
                    <a:pt x="175" y="517"/>
                  </a:lnTo>
                  <a:lnTo>
                    <a:pt x="175" y="519"/>
                  </a:lnTo>
                  <a:lnTo>
                    <a:pt x="175" y="519"/>
                  </a:lnTo>
                  <a:lnTo>
                    <a:pt x="175" y="523"/>
                  </a:lnTo>
                  <a:lnTo>
                    <a:pt x="174" y="523"/>
                  </a:lnTo>
                  <a:lnTo>
                    <a:pt x="174" y="527"/>
                  </a:lnTo>
                  <a:lnTo>
                    <a:pt x="172" y="527"/>
                  </a:lnTo>
                  <a:lnTo>
                    <a:pt x="172" y="529"/>
                  </a:lnTo>
                  <a:lnTo>
                    <a:pt x="174" y="531"/>
                  </a:lnTo>
                  <a:lnTo>
                    <a:pt x="174" y="531"/>
                  </a:lnTo>
                  <a:lnTo>
                    <a:pt x="172" y="532"/>
                  </a:lnTo>
                  <a:lnTo>
                    <a:pt x="172" y="532"/>
                  </a:lnTo>
                  <a:lnTo>
                    <a:pt x="172" y="532"/>
                  </a:lnTo>
                  <a:lnTo>
                    <a:pt x="170" y="534"/>
                  </a:lnTo>
                  <a:lnTo>
                    <a:pt x="168" y="536"/>
                  </a:lnTo>
                  <a:lnTo>
                    <a:pt x="168" y="536"/>
                  </a:lnTo>
                  <a:lnTo>
                    <a:pt x="166" y="538"/>
                  </a:lnTo>
                  <a:lnTo>
                    <a:pt x="166" y="540"/>
                  </a:lnTo>
                  <a:lnTo>
                    <a:pt x="166" y="542"/>
                  </a:lnTo>
                  <a:lnTo>
                    <a:pt x="166" y="544"/>
                  </a:lnTo>
                  <a:lnTo>
                    <a:pt x="166" y="544"/>
                  </a:lnTo>
                  <a:lnTo>
                    <a:pt x="168" y="546"/>
                  </a:lnTo>
                  <a:lnTo>
                    <a:pt x="168" y="544"/>
                  </a:lnTo>
                  <a:lnTo>
                    <a:pt x="170" y="544"/>
                  </a:lnTo>
                  <a:lnTo>
                    <a:pt x="172" y="542"/>
                  </a:lnTo>
                  <a:lnTo>
                    <a:pt x="172" y="540"/>
                  </a:lnTo>
                  <a:lnTo>
                    <a:pt x="174" y="540"/>
                  </a:lnTo>
                  <a:lnTo>
                    <a:pt x="174" y="540"/>
                  </a:lnTo>
                  <a:lnTo>
                    <a:pt x="175" y="540"/>
                  </a:lnTo>
                  <a:lnTo>
                    <a:pt x="175" y="540"/>
                  </a:lnTo>
                  <a:lnTo>
                    <a:pt x="177" y="538"/>
                  </a:lnTo>
                  <a:lnTo>
                    <a:pt x="177" y="538"/>
                  </a:lnTo>
                  <a:lnTo>
                    <a:pt x="177" y="536"/>
                  </a:lnTo>
                  <a:lnTo>
                    <a:pt x="177" y="534"/>
                  </a:lnTo>
                  <a:lnTo>
                    <a:pt x="177" y="534"/>
                  </a:lnTo>
                  <a:lnTo>
                    <a:pt x="177" y="534"/>
                  </a:lnTo>
                  <a:lnTo>
                    <a:pt x="179" y="534"/>
                  </a:lnTo>
                  <a:lnTo>
                    <a:pt x="179" y="534"/>
                  </a:lnTo>
                  <a:lnTo>
                    <a:pt x="181" y="534"/>
                  </a:lnTo>
                  <a:lnTo>
                    <a:pt x="181" y="534"/>
                  </a:lnTo>
                  <a:lnTo>
                    <a:pt x="181" y="534"/>
                  </a:lnTo>
                  <a:lnTo>
                    <a:pt x="181" y="536"/>
                  </a:lnTo>
                  <a:lnTo>
                    <a:pt x="183" y="536"/>
                  </a:lnTo>
                  <a:lnTo>
                    <a:pt x="183" y="536"/>
                  </a:lnTo>
                  <a:lnTo>
                    <a:pt x="183" y="536"/>
                  </a:lnTo>
                  <a:lnTo>
                    <a:pt x="183" y="536"/>
                  </a:lnTo>
                  <a:lnTo>
                    <a:pt x="179" y="540"/>
                  </a:lnTo>
                  <a:lnTo>
                    <a:pt x="179" y="540"/>
                  </a:lnTo>
                  <a:lnTo>
                    <a:pt x="179" y="542"/>
                  </a:lnTo>
                  <a:lnTo>
                    <a:pt x="179" y="544"/>
                  </a:lnTo>
                  <a:lnTo>
                    <a:pt x="179" y="544"/>
                  </a:lnTo>
                  <a:lnTo>
                    <a:pt x="179" y="544"/>
                  </a:lnTo>
                  <a:lnTo>
                    <a:pt x="181" y="546"/>
                  </a:lnTo>
                  <a:lnTo>
                    <a:pt x="181" y="544"/>
                  </a:lnTo>
                  <a:lnTo>
                    <a:pt x="183" y="544"/>
                  </a:lnTo>
                  <a:lnTo>
                    <a:pt x="187" y="542"/>
                  </a:lnTo>
                  <a:lnTo>
                    <a:pt x="187" y="542"/>
                  </a:lnTo>
                  <a:lnTo>
                    <a:pt x="189" y="542"/>
                  </a:lnTo>
                  <a:lnTo>
                    <a:pt x="189" y="544"/>
                  </a:lnTo>
                  <a:lnTo>
                    <a:pt x="189" y="548"/>
                  </a:lnTo>
                  <a:lnTo>
                    <a:pt x="189" y="548"/>
                  </a:lnTo>
                  <a:lnTo>
                    <a:pt x="191" y="548"/>
                  </a:lnTo>
                  <a:lnTo>
                    <a:pt x="191" y="548"/>
                  </a:lnTo>
                  <a:lnTo>
                    <a:pt x="193" y="548"/>
                  </a:lnTo>
                  <a:lnTo>
                    <a:pt x="193" y="546"/>
                  </a:lnTo>
                  <a:lnTo>
                    <a:pt x="193" y="546"/>
                  </a:lnTo>
                  <a:lnTo>
                    <a:pt x="194" y="544"/>
                  </a:lnTo>
                  <a:lnTo>
                    <a:pt x="194" y="544"/>
                  </a:lnTo>
                  <a:lnTo>
                    <a:pt x="196" y="544"/>
                  </a:lnTo>
                  <a:lnTo>
                    <a:pt x="198" y="546"/>
                  </a:lnTo>
                  <a:lnTo>
                    <a:pt x="198" y="546"/>
                  </a:lnTo>
                  <a:lnTo>
                    <a:pt x="200" y="544"/>
                  </a:lnTo>
                  <a:lnTo>
                    <a:pt x="200" y="544"/>
                  </a:lnTo>
                  <a:lnTo>
                    <a:pt x="202" y="546"/>
                  </a:lnTo>
                  <a:lnTo>
                    <a:pt x="204" y="546"/>
                  </a:lnTo>
                  <a:lnTo>
                    <a:pt x="204" y="546"/>
                  </a:lnTo>
                  <a:lnTo>
                    <a:pt x="206" y="546"/>
                  </a:lnTo>
                  <a:lnTo>
                    <a:pt x="206" y="544"/>
                  </a:lnTo>
                  <a:lnTo>
                    <a:pt x="206" y="544"/>
                  </a:lnTo>
                  <a:lnTo>
                    <a:pt x="206" y="542"/>
                  </a:lnTo>
                  <a:lnTo>
                    <a:pt x="202" y="534"/>
                  </a:lnTo>
                  <a:lnTo>
                    <a:pt x="202" y="532"/>
                  </a:lnTo>
                  <a:lnTo>
                    <a:pt x="202" y="532"/>
                  </a:lnTo>
                  <a:lnTo>
                    <a:pt x="202" y="531"/>
                  </a:lnTo>
                  <a:lnTo>
                    <a:pt x="204" y="529"/>
                  </a:lnTo>
                  <a:lnTo>
                    <a:pt x="206" y="525"/>
                  </a:lnTo>
                  <a:lnTo>
                    <a:pt x="208" y="525"/>
                  </a:lnTo>
                  <a:lnTo>
                    <a:pt x="208" y="525"/>
                  </a:lnTo>
                  <a:lnTo>
                    <a:pt x="208" y="527"/>
                  </a:lnTo>
                  <a:lnTo>
                    <a:pt x="208" y="527"/>
                  </a:lnTo>
                  <a:lnTo>
                    <a:pt x="208" y="529"/>
                  </a:lnTo>
                  <a:lnTo>
                    <a:pt x="206" y="532"/>
                  </a:lnTo>
                  <a:lnTo>
                    <a:pt x="206" y="532"/>
                  </a:lnTo>
                  <a:lnTo>
                    <a:pt x="206" y="532"/>
                  </a:lnTo>
                  <a:lnTo>
                    <a:pt x="206" y="534"/>
                  </a:lnTo>
                  <a:lnTo>
                    <a:pt x="206" y="534"/>
                  </a:lnTo>
                  <a:lnTo>
                    <a:pt x="206" y="536"/>
                  </a:lnTo>
                  <a:lnTo>
                    <a:pt x="206" y="538"/>
                  </a:lnTo>
                  <a:lnTo>
                    <a:pt x="208" y="538"/>
                  </a:lnTo>
                  <a:lnTo>
                    <a:pt x="208" y="538"/>
                  </a:lnTo>
                  <a:lnTo>
                    <a:pt x="208" y="538"/>
                  </a:lnTo>
                  <a:lnTo>
                    <a:pt x="210" y="538"/>
                  </a:lnTo>
                  <a:lnTo>
                    <a:pt x="210" y="536"/>
                  </a:lnTo>
                  <a:lnTo>
                    <a:pt x="210" y="536"/>
                  </a:lnTo>
                  <a:lnTo>
                    <a:pt x="210" y="536"/>
                  </a:lnTo>
                  <a:lnTo>
                    <a:pt x="210" y="534"/>
                  </a:lnTo>
                  <a:lnTo>
                    <a:pt x="212" y="534"/>
                  </a:lnTo>
                  <a:lnTo>
                    <a:pt x="214" y="534"/>
                  </a:lnTo>
                  <a:lnTo>
                    <a:pt x="214" y="534"/>
                  </a:lnTo>
                  <a:lnTo>
                    <a:pt x="214" y="534"/>
                  </a:lnTo>
                  <a:lnTo>
                    <a:pt x="215" y="534"/>
                  </a:lnTo>
                  <a:lnTo>
                    <a:pt x="215" y="534"/>
                  </a:lnTo>
                  <a:lnTo>
                    <a:pt x="217" y="532"/>
                  </a:lnTo>
                  <a:lnTo>
                    <a:pt x="217" y="532"/>
                  </a:lnTo>
                  <a:lnTo>
                    <a:pt x="219" y="532"/>
                  </a:lnTo>
                  <a:lnTo>
                    <a:pt x="219" y="532"/>
                  </a:lnTo>
                  <a:lnTo>
                    <a:pt x="219" y="534"/>
                  </a:lnTo>
                  <a:lnTo>
                    <a:pt x="217" y="536"/>
                  </a:lnTo>
                  <a:lnTo>
                    <a:pt x="215" y="540"/>
                  </a:lnTo>
                  <a:lnTo>
                    <a:pt x="214" y="544"/>
                  </a:lnTo>
                  <a:lnTo>
                    <a:pt x="212" y="544"/>
                  </a:lnTo>
                  <a:lnTo>
                    <a:pt x="210" y="548"/>
                  </a:lnTo>
                  <a:lnTo>
                    <a:pt x="210" y="548"/>
                  </a:lnTo>
                  <a:lnTo>
                    <a:pt x="210" y="548"/>
                  </a:lnTo>
                  <a:lnTo>
                    <a:pt x="210" y="550"/>
                  </a:lnTo>
                  <a:lnTo>
                    <a:pt x="210" y="551"/>
                  </a:lnTo>
                  <a:lnTo>
                    <a:pt x="210" y="553"/>
                  </a:lnTo>
                  <a:lnTo>
                    <a:pt x="210" y="553"/>
                  </a:lnTo>
                  <a:lnTo>
                    <a:pt x="210" y="555"/>
                  </a:lnTo>
                  <a:lnTo>
                    <a:pt x="210" y="555"/>
                  </a:lnTo>
                  <a:lnTo>
                    <a:pt x="212" y="555"/>
                  </a:lnTo>
                  <a:lnTo>
                    <a:pt x="215" y="555"/>
                  </a:lnTo>
                  <a:lnTo>
                    <a:pt x="215" y="553"/>
                  </a:lnTo>
                  <a:lnTo>
                    <a:pt x="215" y="553"/>
                  </a:lnTo>
                  <a:lnTo>
                    <a:pt x="215" y="551"/>
                  </a:lnTo>
                  <a:lnTo>
                    <a:pt x="215" y="550"/>
                  </a:lnTo>
                  <a:lnTo>
                    <a:pt x="215" y="550"/>
                  </a:lnTo>
                  <a:lnTo>
                    <a:pt x="215" y="548"/>
                  </a:lnTo>
                  <a:lnTo>
                    <a:pt x="215" y="548"/>
                  </a:lnTo>
                  <a:lnTo>
                    <a:pt x="217" y="548"/>
                  </a:lnTo>
                  <a:lnTo>
                    <a:pt x="219" y="548"/>
                  </a:lnTo>
                  <a:lnTo>
                    <a:pt x="219" y="550"/>
                  </a:lnTo>
                  <a:lnTo>
                    <a:pt x="219" y="550"/>
                  </a:lnTo>
                  <a:lnTo>
                    <a:pt x="219" y="550"/>
                  </a:lnTo>
                  <a:lnTo>
                    <a:pt x="219" y="551"/>
                  </a:lnTo>
                  <a:lnTo>
                    <a:pt x="221" y="551"/>
                  </a:lnTo>
                  <a:lnTo>
                    <a:pt x="221" y="551"/>
                  </a:lnTo>
                  <a:lnTo>
                    <a:pt x="221" y="551"/>
                  </a:lnTo>
                  <a:lnTo>
                    <a:pt x="223" y="551"/>
                  </a:lnTo>
                  <a:lnTo>
                    <a:pt x="225" y="551"/>
                  </a:lnTo>
                  <a:lnTo>
                    <a:pt x="225" y="550"/>
                  </a:lnTo>
                  <a:lnTo>
                    <a:pt x="225" y="550"/>
                  </a:lnTo>
                  <a:lnTo>
                    <a:pt x="227" y="546"/>
                  </a:lnTo>
                  <a:lnTo>
                    <a:pt x="227" y="546"/>
                  </a:lnTo>
                  <a:lnTo>
                    <a:pt x="229" y="544"/>
                  </a:lnTo>
                  <a:lnTo>
                    <a:pt x="229" y="544"/>
                  </a:lnTo>
                  <a:lnTo>
                    <a:pt x="231" y="544"/>
                  </a:lnTo>
                  <a:lnTo>
                    <a:pt x="231" y="544"/>
                  </a:lnTo>
                  <a:lnTo>
                    <a:pt x="233" y="546"/>
                  </a:lnTo>
                  <a:lnTo>
                    <a:pt x="236" y="546"/>
                  </a:lnTo>
                  <a:lnTo>
                    <a:pt x="238" y="548"/>
                  </a:lnTo>
                  <a:lnTo>
                    <a:pt x="240" y="548"/>
                  </a:lnTo>
                  <a:lnTo>
                    <a:pt x="246" y="548"/>
                  </a:lnTo>
                  <a:lnTo>
                    <a:pt x="250" y="546"/>
                  </a:lnTo>
                  <a:lnTo>
                    <a:pt x="250" y="548"/>
                  </a:lnTo>
                  <a:lnTo>
                    <a:pt x="250" y="548"/>
                  </a:lnTo>
                  <a:lnTo>
                    <a:pt x="250" y="548"/>
                  </a:lnTo>
                  <a:lnTo>
                    <a:pt x="252" y="550"/>
                  </a:lnTo>
                  <a:lnTo>
                    <a:pt x="252" y="550"/>
                  </a:lnTo>
                  <a:lnTo>
                    <a:pt x="254" y="550"/>
                  </a:lnTo>
                  <a:lnTo>
                    <a:pt x="255" y="548"/>
                  </a:lnTo>
                  <a:lnTo>
                    <a:pt x="257" y="548"/>
                  </a:lnTo>
                  <a:lnTo>
                    <a:pt x="257" y="548"/>
                  </a:lnTo>
                  <a:lnTo>
                    <a:pt x="259" y="548"/>
                  </a:lnTo>
                  <a:lnTo>
                    <a:pt x="259" y="546"/>
                  </a:lnTo>
                  <a:lnTo>
                    <a:pt x="259" y="546"/>
                  </a:lnTo>
                  <a:lnTo>
                    <a:pt x="257" y="544"/>
                  </a:lnTo>
                  <a:lnTo>
                    <a:pt x="257" y="542"/>
                  </a:lnTo>
                  <a:lnTo>
                    <a:pt x="255" y="542"/>
                  </a:lnTo>
                  <a:lnTo>
                    <a:pt x="255" y="542"/>
                  </a:lnTo>
                  <a:lnTo>
                    <a:pt x="255" y="540"/>
                  </a:lnTo>
                  <a:lnTo>
                    <a:pt x="255" y="540"/>
                  </a:lnTo>
                  <a:lnTo>
                    <a:pt x="255" y="540"/>
                  </a:lnTo>
                  <a:lnTo>
                    <a:pt x="255" y="538"/>
                  </a:lnTo>
                  <a:lnTo>
                    <a:pt x="255" y="538"/>
                  </a:lnTo>
                  <a:lnTo>
                    <a:pt x="257" y="538"/>
                  </a:lnTo>
                  <a:lnTo>
                    <a:pt x="259" y="536"/>
                  </a:lnTo>
                  <a:lnTo>
                    <a:pt x="261" y="536"/>
                  </a:lnTo>
                  <a:lnTo>
                    <a:pt x="263" y="536"/>
                  </a:lnTo>
                  <a:lnTo>
                    <a:pt x="265" y="534"/>
                  </a:lnTo>
                  <a:lnTo>
                    <a:pt x="269" y="532"/>
                  </a:lnTo>
                  <a:lnTo>
                    <a:pt x="271" y="531"/>
                  </a:lnTo>
                  <a:lnTo>
                    <a:pt x="273" y="529"/>
                  </a:lnTo>
                  <a:lnTo>
                    <a:pt x="278" y="525"/>
                  </a:lnTo>
                  <a:lnTo>
                    <a:pt x="280" y="527"/>
                  </a:lnTo>
                  <a:lnTo>
                    <a:pt x="282" y="527"/>
                  </a:lnTo>
                  <a:lnTo>
                    <a:pt x="282" y="527"/>
                  </a:lnTo>
                  <a:lnTo>
                    <a:pt x="282" y="527"/>
                  </a:lnTo>
                  <a:lnTo>
                    <a:pt x="286" y="523"/>
                  </a:lnTo>
                  <a:lnTo>
                    <a:pt x="288" y="523"/>
                  </a:lnTo>
                  <a:lnTo>
                    <a:pt x="288" y="523"/>
                  </a:lnTo>
                  <a:lnTo>
                    <a:pt x="288" y="521"/>
                  </a:lnTo>
                  <a:lnTo>
                    <a:pt x="288" y="521"/>
                  </a:lnTo>
                  <a:lnTo>
                    <a:pt x="290" y="521"/>
                  </a:lnTo>
                  <a:lnTo>
                    <a:pt x="290" y="521"/>
                  </a:lnTo>
                  <a:lnTo>
                    <a:pt x="292" y="521"/>
                  </a:lnTo>
                  <a:lnTo>
                    <a:pt x="292" y="521"/>
                  </a:lnTo>
                  <a:lnTo>
                    <a:pt x="292" y="521"/>
                  </a:lnTo>
                  <a:lnTo>
                    <a:pt x="294" y="521"/>
                  </a:lnTo>
                  <a:lnTo>
                    <a:pt x="295" y="521"/>
                  </a:lnTo>
                  <a:lnTo>
                    <a:pt x="295" y="521"/>
                  </a:lnTo>
                  <a:lnTo>
                    <a:pt x="297" y="521"/>
                  </a:lnTo>
                  <a:lnTo>
                    <a:pt x="297" y="521"/>
                  </a:lnTo>
                  <a:lnTo>
                    <a:pt x="299" y="523"/>
                  </a:lnTo>
                  <a:lnTo>
                    <a:pt x="299" y="525"/>
                  </a:lnTo>
                  <a:lnTo>
                    <a:pt x="299" y="525"/>
                  </a:lnTo>
                  <a:lnTo>
                    <a:pt x="299" y="529"/>
                  </a:lnTo>
                  <a:lnTo>
                    <a:pt x="301" y="532"/>
                  </a:lnTo>
                  <a:lnTo>
                    <a:pt x="301" y="532"/>
                  </a:lnTo>
                  <a:lnTo>
                    <a:pt x="301" y="534"/>
                  </a:lnTo>
                  <a:lnTo>
                    <a:pt x="303" y="534"/>
                  </a:lnTo>
                  <a:lnTo>
                    <a:pt x="303" y="534"/>
                  </a:lnTo>
                  <a:lnTo>
                    <a:pt x="305" y="536"/>
                  </a:lnTo>
                  <a:lnTo>
                    <a:pt x="305" y="536"/>
                  </a:lnTo>
                  <a:lnTo>
                    <a:pt x="305" y="538"/>
                  </a:lnTo>
                  <a:lnTo>
                    <a:pt x="305" y="538"/>
                  </a:lnTo>
                  <a:lnTo>
                    <a:pt x="305" y="538"/>
                  </a:lnTo>
                  <a:lnTo>
                    <a:pt x="307" y="538"/>
                  </a:lnTo>
                  <a:lnTo>
                    <a:pt x="307" y="538"/>
                  </a:lnTo>
                  <a:lnTo>
                    <a:pt x="307" y="538"/>
                  </a:lnTo>
                  <a:lnTo>
                    <a:pt x="307" y="538"/>
                  </a:lnTo>
                  <a:lnTo>
                    <a:pt x="309" y="538"/>
                  </a:lnTo>
                  <a:lnTo>
                    <a:pt x="309" y="538"/>
                  </a:lnTo>
                  <a:lnTo>
                    <a:pt x="309" y="540"/>
                  </a:lnTo>
                  <a:lnTo>
                    <a:pt x="309" y="542"/>
                  </a:lnTo>
                  <a:lnTo>
                    <a:pt x="309" y="542"/>
                  </a:lnTo>
                  <a:lnTo>
                    <a:pt x="309" y="544"/>
                  </a:lnTo>
                  <a:lnTo>
                    <a:pt x="311" y="544"/>
                  </a:lnTo>
                  <a:lnTo>
                    <a:pt x="311" y="544"/>
                  </a:lnTo>
                  <a:lnTo>
                    <a:pt x="309" y="544"/>
                  </a:lnTo>
                  <a:lnTo>
                    <a:pt x="309" y="546"/>
                  </a:lnTo>
                  <a:lnTo>
                    <a:pt x="309" y="546"/>
                  </a:lnTo>
                  <a:lnTo>
                    <a:pt x="307" y="546"/>
                  </a:lnTo>
                  <a:lnTo>
                    <a:pt x="305" y="548"/>
                  </a:lnTo>
                  <a:lnTo>
                    <a:pt x="305" y="548"/>
                  </a:lnTo>
                  <a:lnTo>
                    <a:pt x="305" y="548"/>
                  </a:lnTo>
                  <a:lnTo>
                    <a:pt x="303" y="548"/>
                  </a:lnTo>
                  <a:lnTo>
                    <a:pt x="303" y="548"/>
                  </a:lnTo>
                  <a:lnTo>
                    <a:pt x="303" y="550"/>
                  </a:lnTo>
                  <a:lnTo>
                    <a:pt x="303" y="550"/>
                  </a:lnTo>
                  <a:lnTo>
                    <a:pt x="301" y="551"/>
                  </a:lnTo>
                  <a:lnTo>
                    <a:pt x="299" y="553"/>
                  </a:lnTo>
                  <a:lnTo>
                    <a:pt x="299" y="553"/>
                  </a:lnTo>
                  <a:lnTo>
                    <a:pt x="297" y="553"/>
                  </a:lnTo>
                  <a:lnTo>
                    <a:pt x="297" y="553"/>
                  </a:lnTo>
                  <a:lnTo>
                    <a:pt x="295" y="553"/>
                  </a:lnTo>
                  <a:lnTo>
                    <a:pt x="295" y="553"/>
                  </a:lnTo>
                  <a:lnTo>
                    <a:pt x="295" y="553"/>
                  </a:lnTo>
                  <a:lnTo>
                    <a:pt x="295" y="553"/>
                  </a:lnTo>
                  <a:lnTo>
                    <a:pt x="295" y="555"/>
                  </a:lnTo>
                  <a:lnTo>
                    <a:pt x="295" y="555"/>
                  </a:lnTo>
                  <a:lnTo>
                    <a:pt x="295" y="559"/>
                  </a:lnTo>
                  <a:lnTo>
                    <a:pt x="295" y="559"/>
                  </a:lnTo>
                  <a:lnTo>
                    <a:pt x="297" y="561"/>
                  </a:lnTo>
                  <a:lnTo>
                    <a:pt x="297" y="561"/>
                  </a:lnTo>
                  <a:lnTo>
                    <a:pt x="299" y="561"/>
                  </a:lnTo>
                  <a:lnTo>
                    <a:pt x="301" y="561"/>
                  </a:lnTo>
                  <a:lnTo>
                    <a:pt x="303" y="561"/>
                  </a:lnTo>
                  <a:lnTo>
                    <a:pt x="305" y="561"/>
                  </a:lnTo>
                  <a:lnTo>
                    <a:pt x="305" y="561"/>
                  </a:lnTo>
                  <a:lnTo>
                    <a:pt x="307" y="561"/>
                  </a:lnTo>
                  <a:lnTo>
                    <a:pt x="307" y="561"/>
                  </a:lnTo>
                  <a:lnTo>
                    <a:pt x="307" y="561"/>
                  </a:lnTo>
                  <a:lnTo>
                    <a:pt x="309" y="561"/>
                  </a:lnTo>
                  <a:lnTo>
                    <a:pt x="309" y="561"/>
                  </a:lnTo>
                  <a:lnTo>
                    <a:pt x="309" y="559"/>
                  </a:lnTo>
                  <a:lnTo>
                    <a:pt x="309" y="557"/>
                  </a:lnTo>
                  <a:lnTo>
                    <a:pt x="309" y="557"/>
                  </a:lnTo>
                  <a:lnTo>
                    <a:pt x="309" y="557"/>
                  </a:lnTo>
                  <a:lnTo>
                    <a:pt x="309" y="555"/>
                  </a:lnTo>
                  <a:lnTo>
                    <a:pt x="309" y="557"/>
                  </a:lnTo>
                  <a:lnTo>
                    <a:pt x="311" y="557"/>
                  </a:lnTo>
                  <a:lnTo>
                    <a:pt x="313" y="561"/>
                  </a:lnTo>
                  <a:lnTo>
                    <a:pt x="313" y="561"/>
                  </a:lnTo>
                  <a:lnTo>
                    <a:pt x="313" y="561"/>
                  </a:lnTo>
                  <a:lnTo>
                    <a:pt x="315" y="561"/>
                  </a:lnTo>
                  <a:lnTo>
                    <a:pt x="315" y="561"/>
                  </a:lnTo>
                  <a:lnTo>
                    <a:pt x="318" y="559"/>
                  </a:lnTo>
                  <a:lnTo>
                    <a:pt x="318" y="557"/>
                  </a:lnTo>
                  <a:lnTo>
                    <a:pt x="318" y="557"/>
                  </a:lnTo>
                  <a:lnTo>
                    <a:pt x="318" y="557"/>
                  </a:lnTo>
                  <a:lnTo>
                    <a:pt x="315" y="555"/>
                  </a:lnTo>
                  <a:lnTo>
                    <a:pt x="315" y="555"/>
                  </a:lnTo>
                  <a:lnTo>
                    <a:pt x="315" y="555"/>
                  </a:lnTo>
                  <a:lnTo>
                    <a:pt x="313" y="553"/>
                  </a:lnTo>
                  <a:lnTo>
                    <a:pt x="313" y="553"/>
                  </a:lnTo>
                  <a:lnTo>
                    <a:pt x="313" y="551"/>
                  </a:lnTo>
                  <a:lnTo>
                    <a:pt x="313" y="551"/>
                  </a:lnTo>
                  <a:lnTo>
                    <a:pt x="313" y="551"/>
                  </a:lnTo>
                  <a:lnTo>
                    <a:pt x="313" y="551"/>
                  </a:lnTo>
                  <a:lnTo>
                    <a:pt x="315" y="551"/>
                  </a:lnTo>
                  <a:lnTo>
                    <a:pt x="316" y="551"/>
                  </a:lnTo>
                  <a:lnTo>
                    <a:pt x="318" y="551"/>
                  </a:lnTo>
                  <a:lnTo>
                    <a:pt x="320" y="551"/>
                  </a:lnTo>
                  <a:lnTo>
                    <a:pt x="320" y="551"/>
                  </a:lnTo>
                  <a:lnTo>
                    <a:pt x="322" y="551"/>
                  </a:lnTo>
                  <a:lnTo>
                    <a:pt x="322" y="551"/>
                  </a:lnTo>
                  <a:lnTo>
                    <a:pt x="322" y="551"/>
                  </a:lnTo>
                  <a:lnTo>
                    <a:pt x="322" y="550"/>
                  </a:lnTo>
                  <a:lnTo>
                    <a:pt x="322" y="550"/>
                  </a:lnTo>
                  <a:lnTo>
                    <a:pt x="322" y="548"/>
                  </a:lnTo>
                  <a:lnTo>
                    <a:pt x="322" y="548"/>
                  </a:lnTo>
                  <a:lnTo>
                    <a:pt x="322" y="548"/>
                  </a:lnTo>
                  <a:lnTo>
                    <a:pt x="322" y="548"/>
                  </a:lnTo>
                  <a:lnTo>
                    <a:pt x="324" y="548"/>
                  </a:lnTo>
                  <a:lnTo>
                    <a:pt x="324" y="548"/>
                  </a:lnTo>
                  <a:lnTo>
                    <a:pt x="324" y="548"/>
                  </a:lnTo>
                  <a:lnTo>
                    <a:pt x="326" y="550"/>
                  </a:lnTo>
                  <a:lnTo>
                    <a:pt x="326" y="551"/>
                  </a:lnTo>
                  <a:lnTo>
                    <a:pt x="326" y="551"/>
                  </a:lnTo>
                  <a:lnTo>
                    <a:pt x="330" y="555"/>
                  </a:lnTo>
                  <a:lnTo>
                    <a:pt x="330" y="555"/>
                  </a:lnTo>
                  <a:lnTo>
                    <a:pt x="330" y="555"/>
                  </a:lnTo>
                  <a:lnTo>
                    <a:pt x="332" y="555"/>
                  </a:lnTo>
                  <a:lnTo>
                    <a:pt x="334" y="555"/>
                  </a:lnTo>
                  <a:lnTo>
                    <a:pt x="334" y="555"/>
                  </a:lnTo>
                  <a:lnTo>
                    <a:pt x="335" y="555"/>
                  </a:lnTo>
                  <a:lnTo>
                    <a:pt x="337" y="553"/>
                  </a:lnTo>
                  <a:lnTo>
                    <a:pt x="337" y="553"/>
                  </a:lnTo>
                  <a:lnTo>
                    <a:pt x="337" y="553"/>
                  </a:lnTo>
                  <a:lnTo>
                    <a:pt x="337" y="551"/>
                  </a:lnTo>
                  <a:lnTo>
                    <a:pt x="337" y="551"/>
                  </a:lnTo>
                  <a:lnTo>
                    <a:pt x="334" y="548"/>
                  </a:lnTo>
                  <a:lnTo>
                    <a:pt x="332" y="548"/>
                  </a:lnTo>
                  <a:lnTo>
                    <a:pt x="332" y="548"/>
                  </a:lnTo>
                  <a:lnTo>
                    <a:pt x="332" y="548"/>
                  </a:lnTo>
                  <a:lnTo>
                    <a:pt x="334" y="548"/>
                  </a:lnTo>
                  <a:lnTo>
                    <a:pt x="334" y="548"/>
                  </a:lnTo>
                  <a:lnTo>
                    <a:pt x="334" y="548"/>
                  </a:lnTo>
                  <a:lnTo>
                    <a:pt x="341" y="546"/>
                  </a:lnTo>
                  <a:lnTo>
                    <a:pt x="341" y="546"/>
                  </a:lnTo>
                  <a:lnTo>
                    <a:pt x="343" y="546"/>
                  </a:lnTo>
                  <a:lnTo>
                    <a:pt x="343" y="546"/>
                  </a:lnTo>
                  <a:lnTo>
                    <a:pt x="343" y="546"/>
                  </a:lnTo>
                  <a:lnTo>
                    <a:pt x="345" y="542"/>
                  </a:lnTo>
                  <a:lnTo>
                    <a:pt x="345" y="542"/>
                  </a:lnTo>
                  <a:lnTo>
                    <a:pt x="345" y="542"/>
                  </a:lnTo>
                  <a:lnTo>
                    <a:pt x="345" y="542"/>
                  </a:lnTo>
                  <a:lnTo>
                    <a:pt x="345" y="542"/>
                  </a:lnTo>
                  <a:lnTo>
                    <a:pt x="345" y="540"/>
                  </a:lnTo>
                  <a:lnTo>
                    <a:pt x="347" y="540"/>
                  </a:lnTo>
                  <a:lnTo>
                    <a:pt x="347" y="540"/>
                  </a:lnTo>
                  <a:lnTo>
                    <a:pt x="349" y="540"/>
                  </a:lnTo>
                  <a:lnTo>
                    <a:pt x="349" y="540"/>
                  </a:lnTo>
                  <a:lnTo>
                    <a:pt x="349" y="540"/>
                  </a:lnTo>
                  <a:lnTo>
                    <a:pt x="351" y="542"/>
                  </a:lnTo>
                  <a:lnTo>
                    <a:pt x="351" y="542"/>
                  </a:lnTo>
                  <a:lnTo>
                    <a:pt x="351" y="544"/>
                  </a:lnTo>
                  <a:lnTo>
                    <a:pt x="347" y="550"/>
                  </a:lnTo>
                  <a:lnTo>
                    <a:pt x="347" y="551"/>
                  </a:lnTo>
                  <a:lnTo>
                    <a:pt x="347" y="553"/>
                  </a:lnTo>
                  <a:lnTo>
                    <a:pt x="347" y="553"/>
                  </a:lnTo>
                  <a:lnTo>
                    <a:pt x="345" y="555"/>
                  </a:lnTo>
                  <a:lnTo>
                    <a:pt x="345" y="555"/>
                  </a:lnTo>
                  <a:lnTo>
                    <a:pt x="345" y="557"/>
                  </a:lnTo>
                  <a:lnTo>
                    <a:pt x="345" y="557"/>
                  </a:lnTo>
                  <a:lnTo>
                    <a:pt x="343" y="557"/>
                  </a:lnTo>
                  <a:lnTo>
                    <a:pt x="343" y="559"/>
                  </a:lnTo>
                  <a:lnTo>
                    <a:pt x="343" y="559"/>
                  </a:lnTo>
                  <a:lnTo>
                    <a:pt x="343" y="561"/>
                  </a:lnTo>
                  <a:lnTo>
                    <a:pt x="343" y="561"/>
                  </a:lnTo>
                  <a:lnTo>
                    <a:pt x="343" y="561"/>
                  </a:lnTo>
                  <a:lnTo>
                    <a:pt x="341" y="563"/>
                  </a:lnTo>
                  <a:lnTo>
                    <a:pt x="341" y="563"/>
                  </a:lnTo>
                  <a:lnTo>
                    <a:pt x="341" y="563"/>
                  </a:lnTo>
                  <a:lnTo>
                    <a:pt x="341" y="565"/>
                  </a:lnTo>
                  <a:lnTo>
                    <a:pt x="341" y="565"/>
                  </a:lnTo>
                  <a:lnTo>
                    <a:pt x="343" y="565"/>
                  </a:lnTo>
                  <a:lnTo>
                    <a:pt x="345" y="567"/>
                  </a:lnTo>
                  <a:lnTo>
                    <a:pt x="347" y="565"/>
                  </a:lnTo>
                  <a:lnTo>
                    <a:pt x="349" y="565"/>
                  </a:lnTo>
                  <a:lnTo>
                    <a:pt x="353" y="565"/>
                  </a:lnTo>
                  <a:lnTo>
                    <a:pt x="355" y="565"/>
                  </a:lnTo>
                  <a:lnTo>
                    <a:pt x="355" y="565"/>
                  </a:lnTo>
                  <a:lnTo>
                    <a:pt x="355" y="565"/>
                  </a:lnTo>
                  <a:lnTo>
                    <a:pt x="356" y="567"/>
                  </a:lnTo>
                  <a:lnTo>
                    <a:pt x="356" y="567"/>
                  </a:lnTo>
                  <a:lnTo>
                    <a:pt x="358" y="567"/>
                  </a:lnTo>
                  <a:lnTo>
                    <a:pt x="360" y="567"/>
                  </a:lnTo>
                  <a:lnTo>
                    <a:pt x="360" y="567"/>
                  </a:lnTo>
                  <a:lnTo>
                    <a:pt x="362" y="567"/>
                  </a:lnTo>
                  <a:lnTo>
                    <a:pt x="364" y="567"/>
                  </a:lnTo>
                  <a:lnTo>
                    <a:pt x="364" y="567"/>
                  </a:lnTo>
                  <a:lnTo>
                    <a:pt x="366" y="567"/>
                  </a:lnTo>
                  <a:lnTo>
                    <a:pt x="370" y="571"/>
                  </a:lnTo>
                  <a:lnTo>
                    <a:pt x="372" y="572"/>
                  </a:lnTo>
                  <a:lnTo>
                    <a:pt x="376" y="569"/>
                  </a:lnTo>
                  <a:lnTo>
                    <a:pt x="376" y="569"/>
                  </a:lnTo>
                  <a:lnTo>
                    <a:pt x="376" y="569"/>
                  </a:lnTo>
                  <a:lnTo>
                    <a:pt x="377" y="567"/>
                  </a:lnTo>
                  <a:lnTo>
                    <a:pt x="379" y="567"/>
                  </a:lnTo>
                  <a:lnTo>
                    <a:pt x="379" y="567"/>
                  </a:lnTo>
                  <a:lnTo>
                    <a:pt x="379" y="567"/>
                  </a:lnTo>
                  <a:lnTo>
                    <a:pt x="379" y="567"/>
                  </a:lnTo>
                  <a:lnTo>
                    <a:pt x="379" y="565"/>
                  </a:lnTo>
                  <a:lnTo>
                    <a:pt x="379" y="565"/>
                  </a:lnTo>
                  <a:lnTo>
                    <a:pt x="379" y="565"/>
                  </a:lnTo>
                  <a:lnTo>
                    <a:pt x="379" y="563"/>
                  </a:lnTo>
                  <a:lnTo>
                    <a:pt x="379" y="563"/>
                  </a:lnTo>
                  <a:lnTo>
                    <a:pt x="379" y="563"/>
                  </a:lnTo>
                  <a:lnTo>
                    <a:pt x="379" y="563"/>
                  </a:lnTo>
                  <a:lnTo>
                    <a:pt x="379" y="561"/>
                  </a:lnTo>
                  <a:lnTo>
                    <a:pt x="379" y="561"/>
                  </a:lnTo>
                  <a:lnTo>
                    <a:pt x="379" y="561"/>
                  </a:lnTo>
                  <a:lnTo>
                    <a:pt x="383" y="557"/>
                  </a:lnTo>
                  <a:lnTo>
                    <a:pt x="383" y="555"/>
                  </a:lnTo>
                  <a:lnTo>
                    <a:pt x="385" y="553"/>
                  </a:lnTo>
                  <a:lnTo>
                    <a:pt x="385" y="553"/>
                  </a:lnTo>
                  <a:lnTo>
                    <a:pt x="385" y="551"/>
                  </a:lnTo>
                  <a:lnTo>
                    <a:pt x="385" y="551"/>
                  </a:lnTo>
                  <a:lnTo>
                    <a:pt x="385" y="550"/>
                  </a:lnTo>
                  <a:lnTo>
                    <a:pt x="385" y="546"/>
                  </a:lnTo>
                  <a:lnTo>
                    <a:pt x="385" y="546"/>
                  </a:lnTo>
                  <a:lnTo>
                    <a:pt x="385" y="546"/>
                  </a:lnTo>
                  <a:lnTo>
                    <a:pt x="387" y="546"/>
                  </a:lnTo>
                  <a:lnTo>
                    <a:pt x="389" y="546"/>
                  </a:lnTo>
                  <a:lnTo>
                    <a:pt x="389" y="546"/>
                  </a:lnTo>
                  <a:lnTo>
                    <a:pt x="391" y="546"/>
                  </a:lnTo>
                  <a:lnTo>
                    <a:pt x="393" y="546"/>
                  </a:lnTo>
                  <a:lnTo>
                    <a:pt x="393" y="546"/>
                  </a:lnTo>
                  <a:lnTo>
                    <a:pt x="395" y="546"/>
                  </a:lnTo>
                  <a:lnTo>
                    <a:pt x="396" y="546"/>
                  </a:lnTo>
                  <a:lnTo>
                    <a:pt x="396" y="548"/>
                  </a:lnTo>
                  <a:lnTo>
                    <a:pt x="396" y="548"/>
                  </a:lnTo>
                  <a:lnTo>
                    <a:pt x="398" y="548"/>
                  </a:lnTo>
                  <a:lnTo>
                    <a:pt x="396" y="548"/>
                  </a:lnTo>
                  <a:lnTo>
                    <a:pt x="396" y="550"/>
                  </a:lnTo>
                  <a:lnTo>
                    <a:pt x="396" y="550"/>
                  </a:lnTo>
                  <a:lnTo>
                    <a:pt x="396" y="551"/>
                  </a:lnTo>
                  <a:lnTo>
                    <a:pt x="396" y="551"/>
                  </a:lnTo>
                  <a:lnTo>
                    <a:pt x="398" y="551"/>
                  </a:lnTo>
                  <a:lnTo>
                    <a:pt x="398" y="551"/>
                  </a:lnTo>
                  <a:lnTo>
                    <a:pt x="402" y="551"/>
                  </a:lnTo>
                  <a:lnTo>
                    <a:pt x="404" y="551"/>
                  </a:lnTo>
                  <a:lnTo>
                    <a:pt x="406" y="551"/>
                  </a:lnTo>
                  <a:lnTo>
                    <a:pt x="406" y="551"/>
                  </a:lnTo>
                  <a:lnTo>
                    <a:pt x="406" y="550"/>
                  </a:lnTo>
                  <a:lnTo>
                    <a:pt x="406" y="550"/>
                  </a:lnTo>
                  <a:lnTo>
                    <a:pt x="406" y="548"/>
                  </a:lnTo>
                  <a:lnTo>
                    <a:pt x="404" y="546"/>
                  </a:lnTo>
                  <a:lnTo>
                    <a:pt x="402" y="546"/>
                  </a:lnTo>
                  <a:lnTo>
                    <a:pt x="402" y="546"/>
                  </a:lnTo>
                  <a:lnTo>
                    <a:pt x="404" y="546"/>
                  </a:lnTo>
                  <a:lnTo>
                    <a:pt x="414" y="542"/>
                  </a:lnTo>
                  <a:lnTo>
                    <a:pt x="416" y="546"/>
                  </a:lnTo>
                  <a:lnTo>
                    <a:pt x="416" y="548"/>
                  </a:lnTo>
                  <a:lnTo>
                    <a:pt x="416" y="550"/>
                  </a:lnTo>
                  <a:lnTo>
                    <a:pt x="416" y="550"/>
                  </a:lnTo>
                  <a:lnTo>
                    <a:pt x="417" y="551"/>
                  </a:lnTo>
                  <a:lnTo>
                    <a:pt x="417" y="551"/>
                  </a:lnTo>
                  <a:lnTo>
                    <a:pt x="417" y="551"/>
                  </a:lnTo>
                  <a:lnTo>
                    <a:pt x="416" y="551"/>
                  </a:lnTo>
                  <a:lnTo>
                    <a:pt x="416" y="553"/>
                  </a:lnTo>
                  <a:lnTo>
                    <a:pt x="416" y="553"/>
                  </a:lnTo>
                  <a:lnTo>
                    <a:pt x="417" y="553"/>
                  </a:lnTo>
                  <a:lnTo>
                    <a:pt x="417" y="555"/>
                  </a:lnTo>
                  <a:lnTo>
                    <a:pt x="419" y="555"/>
                  </a:lnTo>
                  <a:lnTo>
                    <a:pt x="421" y="555"/>
                  </a:lnTo>
                  <a:lnTo>
                    <a:pt x="425" y="555"/>
                  </a:lnTo>
                  <a:lnTo>
                    <a:pt x="429" y="555"/>
                  </a:lnTo>
                  <a:lnTo>
                    <a:pt x="429" y="557"/>
                  </a:lnTo>
                  <a:lnTo>
                    <a:pt x="429" y="557"/>
                  </a:lnTo>
                  <a:lnTo>
                    <a:pt x="429" y="559"/>
                  </a:lnTo>
                  <a:lnTo>
                    <a:pt x="431" y="559"/>
                  </a:lnTo>
                  <a:lnTo>
                    <a:pt x="431" y="561"/>
                  </a:lnTo>
                  <a:lnTo>
                    <a:pt x="433" y="561"/>
                  </a:lnTo>
                  <a:lnTo>
                    <a:pt x="435" y="561"/>
                  </a:lnTo>
                  <a:lnTo>
                    <a:pt x="435" y="561"/>
                  </a:lnTo>
                  <a:lnTo>
                    <a:pt x="436" y="559"/>
                  </a:lnTo>
                  <a:lnTo>
                    <a:pt x="436" y="559"/>
                  </a:lnTo>
                  <a:lnTo>
                    <a:pt x="438" y="559"/>
                  </a:lnTo>
                  <a:lnTo>
                    <a:pt x="438" y="559"/>
                  </a:lnTo>
                  <a:lnTo>
                    <a:pt x="440" y="559"/>
                  </a:lnTo>
                  <a:lnTo>
                    <a:pt x="440" y="559"/>
                  </a:lnTo>
                  <a:lnTo>
                    <a:pt x="442" y="561"/>
                  </a:lnTo>
                  <a:lnTo>
                    <a:pt x="442" y="563"/>
                  </a:lnTo>
                  <a:lnTo>
                    <a:pt x="442" y="563"/>
                  </a:lnTo>
                  <a:lnTo>
                    <a:pt x="442" y="563"/>
                  </a:lnTo>
                  <a:lnTo>
                    <a:pt x="444" y="565"/>
                  </a:lnTo>
                  <a:lnTo>
                    <a:pt x="444" y="565"/>
                  </a:lnTo>
                  <a:lnTo>
                    <a:pt x="444" y="567"/>
                  </a:lnTo>
                  <a:lnTo>
                    <a:pt x="444" y="567"/>
                  </a:lnTo>
                  <a:lnTo>
                    <a:pt x="444" y="569"/>
                  </a:lnTo>
                  <a:lnTo>
                    <a:pt x="444" y="569"/>
                  </a:lnTo>
                  <a:lnTo>
                    <a:pt x="444" y="569"/>
                  </a:lnTo>
                  <a:lnTo>
                    <a:pt x="444" y="571"/>
                  </a:lnTo>
                  <a:lnTo>
                    <a:pt x="444" y="571"/>
                  </a:lnTo>
                  <a:lnTo>
                    <a:pt x="452" y="576"/>
                  </a:lnTo>
                  <a:lnTo>
                    <a:pt x="452" y="576"/>
                  </a:lnTo>
                  <a:lnTo>
                    <a:pt x="454" y="576"/>
                  </a:lnTo>
                  <a:lnTo>
                    <a:pt x="456" y="576"/>
                  </a:lnTo>
                  <a:lnTo>
                    <a:pt x="457" y="576"/>
                  </a:lnTo>
                  <a:lnTo>
                    <a:pt x="459" y="576"/>
                  </a:lnTo>
                  <a:lnTo>
                    <a:pt x="461" y="578"/>
                  </a:lnTo>
                  <a:lnTo>
                    <a:pt x="465" y="582"/>
                  </a:lnTo>
                  <a:lnTo>
                    <a:pt x="467" y="582"/>
                  </a:lnTo>
                  <a:lnTo>
                    <a:pt x="467" y="582"/>
                  </a:lnTo>
                  <a:lnTo>
                    <a:pt x="467" y="582"/>
                  </a:lnTo>
                  <a:lnTo>
                    <a:pt x="469" y="582"/>
                  </a:lnTo>
                  <a:lnTo>
                    <a:pt x="469" y="582"/>
                  </a:lnTo>
                  <a:lnTo>
                    <a:pt x="469" y="582"/>
                  </a:lnTo>
                  <a:lnTo>
                    <a:pt x="473" y="578"/>
                  </a:lnTo>
                  <a:lnTo>
                    <a:pt x="475" y="578"/>
                  </a:lnTo>
                  <a:lnTo>
                    <a:pt x="475" y="578"/>
                  </a:lnTo>
                  <a:lnTo>
                    <a:pt x="475" y="578"/>
                  </a:lnTo>
                  <a:lnTo>
                    <a:pt x="475" y="580"/>
                  </a:lnTo>
                  <a:lnTo>
                    <a:pt x="475" y="580"/>
                  </a:lnTo>
                  <a:lnTo>
                    <a:pt x="475" y="582"/>
                  </a:lnTo>
                  <a:lnTo>
                    <a:pt x="475" y="584"/>
                  </a:lnTo>
                  <a:lnTo>
                    <a:pt x="475" y="584"/>
                  </a:lnTo>
                  <a:lnTo>
                    <a:pt x="475" y="586"/>
                  </a:lnTo>
                  <a:lnTo>
                    <a:pt x="475" y="586"/>
                  </a:lnTo>
                  <a:lnTo>
                    <a:pt x="475" y="586"/>
                  </a:lnTo>
                  <a:lnTo>
                    <a:pt x="476" y="588"/>
                  </a:lnTo>
                  <a:lnTo>
                    <a:pt x="476" y="588"/>
                  </a:lnTo>
                  <a:lnTo>
                    <a:pt x="476" y="588"/>
                  </a:lnTo>
                  <a:lnTo>
                    <a:pt x="478" y="586"/>
                  </a:lnTo>
                  <a:lnTo>
                    <a:pt x="478" y="586"/>
                  </a:lnTo>
                  <a:lnTo>
                    <a:pt x="478" y="584"/>
                  </a:lnTo>
                  <a:lnTo>
                    <a:pt x="478" y="584"/>
                  </a:lnTo>
                  <a:lnTo>
                    <a:pt x="478" y="584"/>
                  </a:lnTo>
                  <a:lnTo>
                    <a:pt x="480" y="584"/>
                  </a:lnTo>
                  <a:lnTo>
                    <a:pt x="480" y="584"/>
                  </a:lnTo>
                  <a:lnTo>
                    <a:pt x="480" y="586"/>
                  </a:lnTo>
                  <a:lnTo>
                    <a:pt x="480" y="591"/>
                  </a:lnTo>
                  <a:lnTo>
                    <a:pt x="480" y="591"/>
                  </a:lnTo>
                  <a:lnTo>
                    <a:pt x="480" y="591"/>
                  </a:lnTo>
                  <a:lnTo>
                    <a:pt x="480" y="593"/>
                  </a:lnTo>
                  <a:lnTo>
                    <a:pt x="482" y="593"/>
                  </a:lnTo>
                  <a:lnTo>
                    <a:pt x="482" y="593"/>
                  </a:lnTo>
                  <a:lnTo>
                    <a:pt x="482" y="591"/>
                  </a:lnTo>
                  <a:lnTo>
                    <a:pt x="482" y="591"/>
                  </a:lnTo>
                  <a:lnTo>
                    <a:pt x="484" y="591"/>
                  </a:lnTo>
                  <a:lnTo>
                    <a:pt x="484" y="593"/>
                  </a:lnTo>
                  <a:lnTo>
                    <a:pt x="484" y="593"/>
                  </a:lnTo>
                  <a:lnTo>
                    <a:pt x="486" y="593"/>
                  </a:lnTo>
                  <a:lnTo>
                    <a:pt x="486" y="595"/>
                  </a:lnTo>
                  <a:lnTo>
                    <a:pt x="484" y="599"/>
                  </a:lnTo>
                  <a:lnTo>
                    <a:pt x="484" y="599"/>
                  </a:lnTo>
                  <a:lnTo>
                    <a:pt x="484" y="599"/>
                  </a:lnTo>
                  <a:lnTo>
                    <a:pt x="488" y="599"/>
                  </a:lnTo>
                  <a:lnTo>
                    <a:pt x="492" y="599"/>
                  </a:lnTo>
                  <a:lnTo>
                    <a:pt x="494" y="599"/>
                  </a:lnTo>
                  <a:lnTo>
                    <a:pt x="494" y="599"/>
                  </a:lnTo>
                  <a:lnTo>
                    <a:pt x="496" y="597"/>
                  </a:lnTo>
                  <a:lnTo>
                    <a:pt x="496" y="597"/>
                  </a:lnTo>
                  <a:lnTo>
                    <a:pt x="496" y="595"/>
                  </a:lnTo>
                  <a:lnTo>
                    <a:pt x="494" y="593"/>
                  </a:lnTo>
                  <a:lnTo>
                    <a:pt x="494" y="593"/>
                  </a:lnTo>
                  <a:lnTo>
                    <a:pt x="496" y="591"/>
                  </a:lnTo>
                  <a:lnTo>
                    <a:pt x="496" y="591"/>
                  </a:lnTo>
                  <a:lnTo>
                    <a:pt x="496" y="591"/>
                  </a:lnTo>
                  <a:lnTo>
                    <a:pt x="497" y="591"/>
                  </a:lnTo>
                  <a:lnTo>
                    <a:pt x="507" y="593"/>
                  </a:lnTo>
                  <a:lnTo>
                    <a:pt x="511" y="595"/>
                  </a:lnTo>
                  <a:lnTo>
                    <a:pt x="513" y="593"/>
                  </a:lnTo>
                  <a:lnTo>
                    <a:pt x="513" y="593"/>
                  </a:lnTo>
                  <a:lnTo>
                    <a:pt x="520" y="591"/>
                  </a:lnTo>
                  <a:lnTo>
                    <a:pt x="520" y="591"/>
                  </a:lnTo>
                  <a:lnTo>
                    <a:pt x="520" y="591"/>
                  </a:lnTo>
                  <a:lnTo>
                    <a:pt x="522" y="591"/>
                  </a:lnTo>
                  <a:lnTo>
                    <a:pt x="522" y="591"/>
                  </a:lnTo>
                  <a:lnTo>
                    <a:pt x="522" y="595"/>
                  </a:lnTo>
                  <a:lnTo>
                    <a:pt x="522" y="595"/>
                  </a:lnTo>
                  <a:lnTo>
                    <a:pt x="522" y="595"/>
                  </a:lnTo>
                  <a:lnTo>
                    <a:pt x="522" y="595"/>
                  </a:lnTo>
                  <a:lnTo>
                    <a:pt x="526" y="595"/>
                  </a:lnTo>
                  <a:lnTo>
                    <a:pt x="526" y="597"/>
                  </a:lnTo>
                  <a:lnTo>
                    <a:pt x="528" y="597"/>
                  </a:lnTo>
                  <a:lnTo>
                    <a:pt x="528" y="597"/>
                  </a:lnTo>
                  <a:lnTo>
                    <a:pt x="528" y="601"/>
                  </a:lnTo>
                  <a:lnTo>
                    <a:pt x="528" y="601"/>
                  </a:lnTo>
                  <a:lnTo>
                    <a:pt x="530" y="603"/>
                  </a:lnTo>
                  <a:lnTo>
                    <a:pt x="530" y="603"/>
                  </a:lnTo>
                  <a:lnTo>
                    <a:pt x="532" y="605"/>
                  </a:lnTo>
                  <a:lnTo>
                    <a:pt x="532" y="605"/>
                  </a:lnTo>
                  <a:lnTo>
                    <a:pt x="530" y="607"/>
                  </a:lnTo>
                  <a:lnTo>
                    <a:pt x="530" y="607"/>
                  </a:lnTo>
                  <a:lnTo>
                    <a:pt x="528" y="607"/>
                  </a:lnTo>
                  <a:lnTo>
                    <a:pt x="526" y="607"/>
                  </a:lnTo>
                  <a:lnTo>
                    <a:pt x="524" y="607"/>
                  </a:lnTo>
                  <a:lnTo>
                    <a:pt x="524" y="607"/>
                  </a:lnTo>
                  <a:lnTo>
                    <a:pt x="524" y="607"/>
                  </a:lnTo>
                  <a:lnTo>
                    <a:pt x="524" y="609"/>
                  </a:lnTo>
                  <a:lnTo>
                    <a:pt x="524" y="609"/>
                  </a:lnTo>
                  <a:lnTo>
                    <a:pt x="524" y="610"/>
                  </a:lnTo>
                  <a:lnTo>
                    <a:pt x="524" y="612"/>
                  </a:lnTo>
                  <a:lnTo>
                    <a:pt x="524" y="614"/>
                  </a:lnTo>
                  <a:lnTo>
                    <a:pt x="522" y="620"/>
                  </a:lnTo>
                  <a:lnTo>
                    <a:pt x="522" y="620"/>
                  </a:lnTo>
                  <a:lnTo>
                    <a:pt x="524" y="622"/>
                  </a:lnTo>
                  <a:lnTo>
                    <a:pt x="524" y="622"/>
                  </a:lnTo>
                  <a:lnTo>
                    <a:pt x="526" y="622"/>
                  </a:lnTo>
                  <a:lnTo>
                    <a:pt x="526" y="624"/>
                  </a:lnTo>
                  <a:lnTo>
                    <a:pt x="526" y="626"/>
                  </a:lnTo>
                  <a:lnTo>
                    <a:pt x="526" y="631"/>
                  </a:lnTo>
                  <a:lnTo>
                    <a:pt x="526" y="631"/>
                  </a:lnTo>
                  <a:lnTo>
                    <a:pt x="526" y="633"/>
                  </a:lnTo>
                  <a:lnTo>
                    <a:pt x="524" y="635"/>
                  </a:lnTo>
                  <a:lnTo>
                    <a:pt x="522" y="643"/>
                  </a:lnTo>
                  <a:lnTo>
                    <a:pt x="522" y="643"/>
                  </a:lnTo>
                  <a:lnTo>
                    <a:pt x="520" y="645"/>
                  </a:lnTo>
                  <a:lnTo>
                    <a:pt x="518" y="645"/>
                  </a:lnTo>
                  <a:lnTo>
                    <a:pt x="518" y="645"/>
                  </a:lnTo>
                  <a:lnTo>
                    <a:pt x="518" y="645"/>
                  </a:lnTo>
                  <a:lnTo>
                    <a:pt x="518" y="647"/>
                  </a:lnTo>
                  <a:lnTo>
                    <a:pt x="518" y="647"/>
                  </a:lnTo>
                  <a:lnTo>
                    <a:pt x="518" y="648"/>
                  </a:lnTo>
                  <a:lnTo>
                    <a:pt x="520" y="650"/>
                  </a:lnTo>
                  <a:lnTo>
                    <a:pt x="522" y="650"/>
                  </a:lnTo>
                  <a:lnTo>
                    <a:pt x="522" y="652"/>
                  </a:lnTo>
                  <a:lnTo>
                    <a:pt x="524" y="652"/>
                  </a:lnTo>
                  <a:lnTo>
                    <a:pt x="524" y="652"/>
                  </a:lnTo>
                  <a:lnTo>
                    <a:pt x="524" y="654"/>
                  </a:lnTo>
                  <a:lnTo>
                    <a:pt x="524" y="656"/>
                  </a:lnTo>
                  <a:lnTo>
                    <a:pt x="522" y="656"/>
                  </a:lnTo>
                  <a:lnTo>
                    <a:pt x="524" y="658"/>
                  </a:lnTo>
                  <a:lnTo>
                    <a:pt x="524" y="658"/>
                  </a:lnTo>
                  <a:lnTo>
                    <a:pt x="524" y="658"/>
                  </a:lnTo>
                  <a:lnTo>
                    <a:pt x="526" y="660"/>
                  </a:lnTo>
                  <a:lnTo>
                    <a:pt x="530" y="664"/>
                  </a:lnTo>
                  <a:lnTo>
                    <a:pt x="534" y="666"/>
                  </a:lnTo>
                  <a:lnTo>
                    <a:pt x="537" y="669"/>
                  </a:lnTo>
                  <a:lnTo>
                    <a:pt x="539" y="671"/>
                  </a:lnTo>
                  <a:lnTo>
                    <a:pt x="541" y="671"/>
                  </a:lnTo>
                  <a:lnTo>
                    <a:pt x="545" y="673"/>
                  </a:lnTo>
                  <a:lnTo>
                    <a:pt x="545" y="673"/>
                  </a:lnTo>
                  <a:lnTo>
                    <a:pt x="549" y="671"/>
                  </a:lnTo>
                  <a:lnTo>
                    <a:pt x="551" y="673"/>
                  </a:lnTo>
                  <a:lnTo>
                    <a:pt x="557" y="673"/>
                  </a:lnTo>
                  <a:lnTo>
                    <a:pt x="557" y="673"/>
                  </a:lnTo>
                  <a:lnTo>
                    <a:pt x="558" y="673"/>
                  </a:lnTo>
                  <a:lnTo>
                    <a:pt x="560" y="671"/>
                  </a:lnTo>
                  <a:lnTo>
                    <a:pt x="562" y="671"/>
                  </a:lnTo>
                  <a:lnTo>
                    <a:pt x="564" y="669"/>
                  </a:lnTo>
                  <a:lnTo>
                    <a:pt x="566" y="669"/>
                  </a:lnTo>
                  <a:lnTo>
                    <a:pt x="568" y="669"/>
                  </a:lnTo>
                  <a:lnTo>
                    <a:pt x="568" y="669"/>
                  </a:lnTo>
                  <a:lnTo>
                    <a:pt x="568" y="668"/>
                  </a:lnTo>
                  <a:lnTo>
                    <a:pt x="570" y="664"/>
                  </a:lnTo>
                  <a:lnTo>
                    <a:pt x="572" y="664"/>
                  </a:lnTo>
                  <a:lnTo>
                    <a:pt x="572" y="664"/>
                  </a:lnTo>
                  <a:lnTo>
                    <a:pt x="572" y="660"/>
                  </a:lnTo>
                  <a:lnTo>
                    <a:pt x="572" y="660"/>
                  </a:lnTo>
                  <a:lnTo>
                    <a:pt x="572" y="658"/>
                  </a:lnTo>
                  <a:lnTo>
                    <a:pt x="576" y="656"/>
                  </a:lnTo>
                  <a:lnTo>
                    <a:pt x="576" y="656"/>
                  </a:lnTo>
                  <a:lnTo>
                    <a:pt x="577" y="654"/>
                  </a:lnTo>
                  <a:lnTo>
                    <a:pt x="577" y="650"/>
                  </a:lnTo>
                  <a:lnTo>
                    <a:pt x="579" y="650"/>
                  </a:lnTo>
                  <a:lnTo>
                    <a:pt x="581" y="645"/>
                  </a:lnTo>
                  <a:lnTo>
                    <a:pt x="581" y="643"/>
                  </a:lnTo>
                  <a:lnTo>
                    <a:pt x="583" y="641"/>
                  </a:lnTo>
                  <a:lnTo>
                    <a:pt x="585" y="637"/>
                  </a:lnTo>
                  <a:lnTo>
                    <a:pt x="585" y="637"/>
                  </a:lnTo>
                  <a:lnTo>
                    <a:pt x="587" y="635"/>
                  </a:lnTo>
                  <a:lnTo>
                    <a:pt x="587" y="635"/>
                  </a:lnTo>
                  <a:lnTo>
                    <a:pt x="587" y="633"/>
                  </a:lnTo>
                  <a:lnTo>
                    <a:pt x="587" y="633"/>
                  </a:lnTo>
                  <a:lnTo>
                    <a:pt x="587" y="631"/>
                  </a:lnTo>
                  <a:lnTo>
                    <a:pt x="589" y="629"/>
                  </a:lnTo>
                  <a:lnTo>
                    <a:pt x="589" y="628"/>
                  </a:lnTo>
                  <a:lnTo>
                    <a:pt x="589" y="628"/>
                  </a:lnTo>
                  <a:lnTo>
                    <a:pt x="589" y="626"/>
                  </a:lnTo>
                  <a:lnTo>
                    <a:pt x="589" y="626"/>
                  </a:lnTo>
                  <a:lnTo>
                    <a:pt x="589" y="624"/>
                  </a:lnTo>
                  <a:lnTo>
                    <a:pt x="587" y="622"/>
                  </a:lnTo>
                  <a:lnTo>
                    <a:pt x="587" y="622"/>
                  </a:lnTo>
                  <a:lnTo>
                    <a:pt x="585" y="620"/>
                  </a:lnTo>
                  <a:lnTo>
                    <a:pt x="585" y="618"/>
                  </a:lnTo>
                  <a:lnTo>
                    <a:pt x="585" y="616"/>
                  </a:lnTo>
                  <a:lnTo>
                    <a:pt x="585" y="616"/>
                  </a:lnTo>
                  <a:lnTo>
                    <a:pt x="585" y="616"/>
                  </a:lnTo>
                  <a:lnTo>
                    <a:pt x="585" y="614"/>
                  </a:lnTo>
                  <a:lnTo>
                    <a:pt x="585" y="614"/>
                  </a:lnTo>
                  <a:lnTo>
                    <a:pt x="585" y="614"/>
                  </a:lnTo>
                  <a:lnTo>
                    <a:pt x="585" y="612"/>
                  </a:lnTo>
                  <a:lnTo>
                    <a:pt x="587" y="612"/>
                  </a:lnTo>
                  <a:lnTo>
                    <a:pt x="589" y="610"/>
                  </a:lnTo>
                  <a:lnTo>
                    <a:pt x="597" y="610"/>
                  </a:lnTo>
                  <a:lnTo>
                    <a:pt x="597" y="607"/>
                  </a:lnTo>
                  <a:lnTo>
                    <a:pt x="597" y="605"/>
                  </a:lnTo>
                  <a:lnTo>
                    <a:pt x="597" y="601"/>
                  </a:lnTo>
                  <a:lnTo>
                    <a:pt x="597" y="601"/>
                  </a:lnTo>
                  <a:lnTo>
                    <a:pt x="597" y="599"/>
                  </a:lnTo>
                  <a:lnTo>
                    <a:pt x="595" y="597"/>
                  </a:lnTo>
                  <a:lnTo>
                    <a:pt x="595" y="597"/>
                  </a:lnTo>
                  <a:lnTo>
                    <a:pt x="595" y="595"/>
                  </a:lnTo>
                  <a:lnTo>
                    <a:pt x="597" y="593"/>
                  </a:lnTo>
                  <a:lnTo>
                    <a:pt x="597" y="591"/>
                  </a:lnTo>
                  <a:lnTo>
                    <a:pt x="597" y="590"/>
                  </a:lnTo>
                  <a:lnTo>
                    <a:pt x="597" y="588"/>
                  </a:lnTo>
                  <a:lnTo>
                    <a:pt x="597" y="588"/>
                  </a:lnTo>
                  <a:lnTo>
                    <a:pt x="595" y="588"/>
                  </a:lnTo>
                  <a:lnTo>
                    <a:pt x="591" y="586"/>
                  </a:lnTo>
                  <a:lnTo>
                    <a:pt x="591" y="586"/>
                  </a:lnTo>
                  <a:lnTo>
                    <a:pt x="589" y="584"/>
                  </a:lnTo>
                  <a:lnTo>
                    <a:pt x="587" y="584"/>
                  </a:lnTo>
                  <a:lnTo>
                    <a:pt x="587" y="582"/>
                  </a:lnTo>
                  <a:lnTo>
                    <a:pt x="585" y="580"/>
                  </a:lnTo>
                  <a:lnTo>
                    <a:pt x="585" y="580"/>
                  </a:lnTo>
                  <a:lnTo>
                    <a:pt x="583" y="578"/>
                  </a:lnTo>
                  <a:lnTo>
                    <a:pt x="583" y="578"/>
                  </a:lnTo>
                  <a:lnTo>
                    <a:pt x="581" y="576"/>
                  </a:lnTo>
                  <a:lnTo>
                    <a:pt x="581" y="576"/>
                  </a:lnTo>
                  <a:lnTo>
                    <a:pt x="581" y="574"/>
                  </a:lnTo>
                  <a:lnTo>
                    <a:pt x="581" y="572"/>
                  </a:lnTo>
                  <a:lnTo>
                    <a:pt x="581" y="572"/>
                  </a:lnTo>
                  <a:lnTo>
                    <a:pt x="581" y="571"/>
                  </a:lnTo>
                  <a:lnTo>
                    <a:pt x="581" y="571"/>
                  </a:lnTo>
                  <a:lnTo>
                    <a:pt x="581" y="567"/>
                  </a:lnTo>
                  <a:lnTo>
                    <a:pt x="581" y="563"/>
                  </a:lnTo>
                  <a:lnTo>
                    <a:pt x="581" y="563"/>
                  </a:lnTo>
                  <a:lnTo>
                    <a:pt x="581" y="561"/>
                  </a:lnTo>
                  <a:lnTo>
                    <a:pt x="579" y="559"/>
                  </a:lnTo>
                  <a:lnTo>
                    <a:pt x="577" y="557"/>
                  </a:lnTo>
                  <a:lnTo>
                    <a:pt x="577" y="555"/>
                  </a:lnTo>
                  <a:lnTo>
                    <a:pt x="577" y="555"/>
                  </a:lnTo>
                  <a:lnTo>
                    <a:pt x="577" y="553"/>
                  </a:lnTo>
                  <a:lnTo>
                    <a:pt x="577" y="548"/>
                  </a:lnTo>
                  <a:lnTo>
                    <a:pt x="579" y="546"/>
                  </a:lnTo>
                  <a:lnTo>
                    <a:pt x="579" y="544"/>
                  </a:lnTo>
                  <a:lnTo>
                    <a:pt x="579" y="544"/>
                  </a:lnTo>
                  <a:lnTo>
                    <a:pt x="579" y="542"/>
                  </a:lnTo>
                  <a:lnTo>
                    <a:pt x="581" y="540"/>
                  </a:lnTo>
                  <a:lnTo>
                    <a:pt x="581" y="540"/>
                  </a:lnTo>
                  <a:lnTo>
                    <a:pt x="583" y="538"/>
                  </a:lnTo>
                  <a:lnTo>
                    <a:pt x="587" y="536"/>
                  </a:lnTo>
                  <a:lnTo>
                    <a:pt x="591" y="534"/>
                  </a:lnTo>
                  <a:lnTo>
                    <a:pt x="593" y="534"/>
                  </a:lnTo>
                  <a:lnTo>
                    <a:pt x="595" y="531"/>
                  </a:lnTo>
                  <a:lnTo>
                    <a:pt x="597" y="531"/>
                  </a:lnTo>
                  <a:lnTo>
                    <a:pt x="610" y="523"/>
                  </a:lnTo>
                  <a:lnTo>
                    <a:pt x="619" y="517"/>
                  </a:lnTo>
                  <a:lnTo>
                    <a:pt x="621" y="515"/>
                  </a:lnTo>
                  <a:lnTo>
                    <a:pt x="621" y="513"/>
                  </a:lnTo>
                  <a:lnTo>
                    <a:pt x="623" y="513"/>
                  </a:lnTo>
                  <a:lnTo>
                    <a:pt x="623" y="513"/>
                  </a:lnTo>
                  <a:lnTo>
                    <a:pt x="627" y="512"/>
                  </a:lnTo>
                  <a:lnTo>
                    <a:pt x="629" y="510"/>
                  </a:lnTo>
                  <a:lnTo>
                    <a:pt x="631" y="508"/>
                  </a:lnTo>
                  <a:lnTo>
                    <a:pt x="631" y="508"/>
                  </a:lnTo>
                  <a:lnTo>
                    <a:pt x="633" y="506"/>
                  </a:lnTo>
                  <a:lnTo>
                    <a:pt x="638" y="502"/>
                  </a:lnTo>
                  <a:lnTo>
                    <a:pt x="640" y="500"/>
                  </a:lnTo>
                  <a:lnTo>
                    <a:pt x="646" y="494"/>
                  </a:lnTo>
                  <a:lnTo>
                    <a:pt x="654" y="487"/>
                  </a:lnTo>
                  <a:lnTo>
                    <a:pt x="658" y="487"/>
                  </a:lnTo>
                  <a:lnTo>
                    <a:pt x="659" y="489"/>
                  </a:lnTo>
                  <a:lnTo>
                    <a:pt x="659" y="489"/>
                  </a:lnTo>
                  <a:lnTo>
                    <a:pt x="659" y="491"/>
                  </a:lnTo>
                  <a:lnTo>
                    <a:pt x="659" y="491"/>
                  </a:lnTo>
                  <a:lnTo>
                    <a:pt x="659" y="493"/>
                  </a:lnTo>
                  <a:lnTo>
                    <a:pt x="659" y="493"/>
                  </a:lnTo>
                  <a:lnTo>
                    <a:pt x="659" y="493"/>
                  </a:lnTo>
                  <a:lnTo>
                    <a:pt x="659" y="494"/>
                  </a:lnTo>
                  <a:lnTo>
                    <a:pt x="659" y="494"/>
                  </a:lnTo>
                  <a:lnTo>
                    <a:pt x="661" y="494"/>
                  </a:lnTo>
                  <a:lnTo>
                    <a:pt x="661" y="494"/>
                  </a:lnTo>
                  <a:lnTo>
                    <a:pt x="661" y="496"/>
                  </a:lnTo>
                  <a:lnTo>
                    <a:pt x="661" y="496"/>
                  </a:lnTo>
                  <a:lnTo>
                    <a:pt x="661" y="496"/>
                  </a:lnTo>
                  <a:lnTo>
                    <a:pt x="663" y="496"/>
                  </a:lnTo>
                  <a:lnTo>
                    <a:pt x="663" y="496"/>
                  </a:lnTo>
                  <a:lnTo>
                    <a:pt x="663" y="496"/>
                  </a:lnTo>
                  <a:lnTo>
                    <a:pt x="665" y="496"/>
                  </a:lnTo>
                  <a:lnTo>
                    <a:pt x="667" y="496"/>
                  </a:lnTo>
                  <a:lnTo>
                    <a:pt x="669" y="496"/>
                  </a:lnTo>
                  <a:lnTo>
                    <a:pt x="669" y="496"/>
                  </a:lnTo>
                  <a:lnTo>
                    <a:pt x="671" y="496"/>
                  </a:lnTo>
                  <a:lnTo>
                    <a:pt x="671" y="494"/>
                  </a:lnTo>
                  <a:lnTo>
                    <a:pt x="671" y="494"/>
                  </a:lnTo>
                  <a:lnTo>
                    <a:pt x="671" y="494"/>
                  </a:lnTo>
                  <a:lnTo>
                    <a:pt x="671" y="493"/>
                  </a:lnTo>
                  <a:lnTo>
                    <a:pt x="671" y="493"/>
                  </a:lnTo>
                  <a:lnTo>
                    <a:pt x="671" y="493"/>
                  </a:lnTo>
                  <a:lnTo>
                    <a:pt x="669" y="489"/>
                  </a:lnTo>
                  <a:lnTo>
                    <a:pt x="669" y="487"/>
                  </a:lnTo>
                  <a:lnTo>
                    <a:pt x="671" y="487"/>
                  </a:lnTo>
                  <a:lnTo>
                    <a:pt x="671" y="485"/>
                  </a:lnTo>
                  <a:lnTo>
                    <a:pt x="673" y="485"/>
                  </a:lnTo>
                  <a:lnTo>
                    <a:pt x="675" y="485"/>
                  </a:lnTo>
                  <a:lnTo>
                    <a:pt x="677" y="485"/>
                  </a:lnTo>
                  <a:lnTo>
                    <a:pt x="678" y="489"/>
                  </a:lnTo>
                  <a:lnTo>
                    <a:pt x="680" y="489"/>
                  </a:lnTo>
                  <a:lnTo>
                    <a:pt x="682" y="491"/>
                  </a:lnTo>
                  <a:lnTo>
                    <a:pt x="684" y="491"/>
                  </a:lnTo>
                  <a:lnTo>
                    <a:pt x="684" y="491"/>
                  </a:lnTo>
                  <a:lnTo>
                    <a:pt x="686" y="491"/>
                  </a:lnTo>
                  <a:lnTo>
                    <a:pt x="688" y="491"/>
                  </a:lnTo>
                  <a:lnTo>
                    <a:pt x="690" y="491"/>
                  </a:lnTo>
                  <a:lnTo>
                    <a:pt x="690" y="491"/>
                  </a:lnTo>
                  <a:lnTo>
                    <a:pt x="694" y="487"/>
                  </a:lnTo>
                  <a:lnTo>
                    <a:pt x="696" y="487"/>
                  </a:lnTo>
                  <a:lnTo>
                    <a:pt x="696" y="487"/>
                  </a:lnTo>
                  <a:lnTo>
                    <a:pt x="696" y="485"/>
                  </a:lnTo>
                  <a:lnTo>
                    <a:pt x="696" y="483"/>
                  </a:lnTo>
                  <a:lnTo>
                    <a:pt x="698" y="483"/>
                  </a:lnTo>
                  <a:close/>
                </a:path>
              </a:pathLst>
            </a:custGeom>
            <a:solidFill>
              <a:srgbClr val="DCDDDF"/>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62" name="Freeform 11">
              <a:extLst>
                <a:ext uri="{FF2B5EF4-FFF2-40B4-BE49-F238E27FC236}">
                  <a16:creationId xmlns:a16="http://schemas.microsoft.com/office/drawing/2014/main" id="{4A742FF0-61A3-52C6-134E-63A793698D62}"/>
                </a:ext>
              </a:extLst>
            </p:cNvPr>
            <p:cNvSpPr>
              <a:spLocks/>
            </p:cNvSpPr>
            <p:nvPr/>
          </p:nvSpPr>
          <p:spPr bwMode="auto">
            <a:xfrm>
              <a:off x="2562521" y="2406681"/>
              <a:ext cx="1316800" cy="1138399"/>
            </a:xfrm>
            <a:custGeom>
              <a:avLst/>
              <a:gdLst>
                <a:gd name="T0" fmla="*/ 652 w 698"/>
                <a:gd name="T1" fmla="*/ 453 h 673"/>
                <a:gd name="T2" fmla="*/ 656 w 698"/>
                <a:gd name="T3" fmla="*/ 426 h 673"/>
                <a:gd name="T4" fmla="*/ 635 w 698"/>
                <a:gd name="T5" fmla="*/ 405 h 673"/>
                <a:gd name="T6" fmla="*/ 677 w 698"/>
                <a:gd name="T7" fmla="*/ 392 h 673"/>
                <a:gd name="T8" fmla="*/ 642 w 698"/>
                <a:gd name="T9" fmla="*/ 354 h 673"/>
                <a:gd name="T10" fmla="*/ 610 w 698"/>
                <a:gd name="T11" fmla="*/ 312 h 673"/>
                <a:gd name="T12" fmla="*/ 517 w 698"/>
                <a:gd name="T13" fmla="*/ 285 h 673"/>
                <a:gd name="T14" fmla="*/ 404 w 698"/>
                <a:gd name="T15" fmla="*/ 243 h 673"/>
                <a:gd name="T16" fmla="*/ 355 w 698"/>
                <a:gd name="T17" fmla="*/ 207 h 673"/>
                <a:gd name="T18" fmla="*/ 307 w 698"/>
                <a:gd name="T19" fmla="*/ 188 h 673"/>
                <a:gd name="T20" fmla="*/ 263 w 698"/>
                <a:gd name="T21" fmla="*/ 171 h 673"/>
                <a:gd name="T22" fmla="*/ 217 w 698"/>
                <a:gd name="T23" fmla="*/ 162 h 673"/>
                <a:gd name="T24" fmla="*/ 153 w 698"/>
                <a:gd name="T25" fmla="*/ 116 h 673"/>
                <a:gd name="T26" fmla="*/ 118 w 698"/>
                <a:gd name="T27" fmla="*/ 65 h 673"/>
                <a:gd name="T28" fmla="*/ 63 w 698"/>
                <a:gd name="T29" fmla="*/ 46 h 673"/>
                <a:gd name="T30" fmla="*/ 21 w 698"/>
                <a:gd name="T31" fmla="*/ 40 h 673"/>
                <a:gd name="T32" fmla="*/ 0 w 698"/>
                <a:gd name="T33" fmla="*/ 89 h 673"/>
                <a:gd name="T34" fmla="*/ 6 w 698"/>
                <a:gd name="T35" fmla="*/ 137 h 673"/>
                <a:gd name="T36" fmla="*/ 23 w 698"/>
                <a:gd name="T37" fmla="*/ 192 h 673"/>
                <a:gd name="T38" fmla="*/ 38 w 698"/>
                <a:gd name="T39" fmla="*/ 224 h 673"/>
                <a:gd name="T40" fmla="*/ 38 w 698"/>
                <a:gd name="T41" fmla="*/ 262 h 673"/>
                <a:gd name="T42" fmla="*/ 23 w 698"/>
                <a:gd name="T43" fmla="*/ 293 h 673"/>
                <a:gd name="T44" fmla="*/ 52 w 698"/>
                <a:gd name="T45" fmla="*/ 329 h 673"/>
                <a:gd name="T46" fmla="*/ 52 w 698"/>
                <a:gd name="T47" fmla="*/ 354 h 673"/>
                <a:gd name="T48" fmla="*/ 31 w 698"/>
                <a:gd name="T49" fmla="*/ 380 h 673"/>
                <a:gd name="T50" fmla="*/ 86 w 698"/>
                <a:gd name="T51" fmla="*/ 369 h 673"/>
                <a:gd name="T52" fmla="*/ 105 w 698"/>
                <a:gd name="T53" fmla="*/ 369 h 673"/>
                <a:gd name="T54" fmla="*/ 139 w 698"/>
                <a:gd name="T55" fmla="*/ 382 h 673"/>
                <a:gd name="T56" fmla="*/ 175 w 698"/>
                <a:gd name="T57" fmla="*/ 401 h 673"/>
                <a:gd name="T58" fmla="*/ 172 w 698"/>
                <a:gd name="T59" fmla="*/ 447 h 673"/>
                <a:gd name="T60" fmla="*/ 153 w 698"/>
                <a:gd name="T61" fmla="*/ 498 h 673"/>
                <a:gd name="T62" fmla="*/ 118 w 698"/>
                <a:gd name="T63" fmla="*/ 557 h 673"/>
                <a:gd name="T64" fmla="*/ 109 w 698"/>
                <a:gd name="T65" fmla="*/ 614 h 673"/>
                <a:gd name="T66" fmla="*/ 130 w 698"/>
                <a:gd name="T67" fmla="*/ 622 h 673"/>
                <a:gd name="T68" fmla="*/ 177 w 698"/>
                <a:gd name="T69" fmla="*/ 616 h 673"/>
                <a:gd name="T70" fmla="*/ 154 w 698"/>
                <a:gd name="T71" fmla="*/ 591 h 673"/>
                <a:gd name="T72" fmla="*/ 139 w 698"/>
                <a:gd name="T73" fmla="*/ 523 h 673"/>
                <a:gd name="T74" fmla="*/ 154 w 698"/>
                <a:gd name="T75" fmla="*/ 512 h 673"/>
                <a:gd name="T76" fmla="*/ 170 w 698"/>
                <a:gd name="T77" fmla="*/ 517 h 673"/>
                <a:gd name="T78" fmla="*/ 174 w 698"/>
                <a:gd name="T79" fmla="*/ 540 h 673"/>
                <a:gd name="T80" fmla="*/ 189 w 698"/>
                <a:gd name="T81" fmla="*/ 548 h 673"/>
                <a:gd name="T82" fmla="*/ 206 w 698"/>
                <a:gd name="T83" fmla="*/ 532 h 673"/>
                <a:gd name="T84" fmla="*/ 210 w 698"/>
                <a:gd name="T85" fmla="*/ 551 h 673"/>
                <a:gd name="T86" fmla="*/ 233 w 698"/>
                <a:gd name="T87" fmla="*/ 546 h 673"/>
                <a:gd name="T88" fmla="*/ 271 w 698"/>
                <a:gd name="T89" fmla="*/ 531 h 673"/>
                <a:gd name="T90" fmla="*/ 305 w 698"/>
                <a:gd name="T91" fmla="*/ 538 h 673"/>
                <a:gd name="T92" fmla="*/ 295 w 698"/>
                <a:gd name="T93" fmla="*/ 553 h 673"/>
                <a:gd name="T94" fmla="*/ 318 w 698"/>
                <a:gd name="T95" fmla="*/ 557 h 673"/>
                <a:gd name="T96" fmla="*/ 332 w 698"/>
                <a:gd name="T97" fmla="*/ 555 h 673"/>
                <a:gd name="T98" fmla="*/ 351 w 698"/>
                <a:gd name="T99" fmla="*/ 542 h 673"/>
                <a:gd name="T100" fmla="*/ 360 w 698"/>
                <a:gd name="T101" fmla="*/ 567 h 673"/>
                <a:gd name="T102" fmla="*/ 385 w 698"/>
                <a:gd name="T103" fmla="*/ 546 h 673"/>
                <a:gd name="T104" fmla="*/ 416 w 698"/>
                <a:gd name="T105" fmla="*/ 548 h 673"/>
                <a:gd name="T106" fmla="*/ 444 w 698"/>
                <a:gd name="T107" fmla="*/ 565 h 673"/>
                <a:gd name="T108" fmla="*/ 475 w 698"/>
                <a:gd name="T109" fmla="*/ 586 h 673"/>
                <a:gd name="T110" fmla="*/ 496 w 698"/>
                <a:gd name="T111" fmla="*/ 597 h 673"/>
                <a:gd name="T112" fmla="*/ 530 w 698"/>
                <a:gd name="T113" fmla="*/ 607 h 673"/>
                <a:gd name="T114" fmla="*/ 522 w 698"/>
                <a:gd name="T115" fmla="*/ 652 h 673"/>
                <a:gd name="T116" fmla="*/ 572 w 698"/>
                <a:gd name="T117" fmla="*/ 660 h 673"/>
                <a:gd name="T118" fmla="*/ 585 w 698"/>
                <a:gd name="T119" fmla="*/ 612 h 673"/>
                <a:gd name="T120" fmla="*/ 581 w 698"/>
                <a:gd name="T121" fmla="*/ 571 h 673"/>
                <a:gd name="T122" fmla="*/ 633 w 698"/>
                <a:gd name="T123" fmla="*/ 506 h 673"/>
                <a:gd name="T124" fmla="*/ 671 w 698"/>
                <a:gd name="T125" fmla="*/ 49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8" h="673">
                  <a:moveTo>
                    <a:pt x="698" y="483"/>
                  </a:moveTo>
                  <a:lnTo>
                    <a:pt x="696" y="481"/>
                  </a:lnTo>
                  <a:lnTo>
                    <a:pt x="696" y="481"/>
                  </a:lnTo>
                  <a:lnTo>
                    <a:pt x="690" y="475"/>
                  </a:lnTo>
                  <a:lnTo>
                    <a:pt x="688" y="474"/>
                  </a:lnTo>
                  <a:lnTo>
                    <a:pt x="686" y="474"/>
                  </a:lnTo>
                  <a:lnTo>
                    <a:pt x="684" y="474"/>
                  </a:lnTo>
                  <a:lnTo>
                    <a:pt x="682" y="474"/>
                  </a:lnTo>
                  <a:lnTo>
                    <a:pt x="678" y="472"/>
                  </a:lnTo>
                  <a:lnTo>
                    <a:pt x="678" y="472"/>
                  </a:lnTo>
                  <a:lnTo>
                    <a:pt x="678" y="470"/>
                  </a:lnTo>
                  <a:lnTo>
                    <a:pt x="677" y="468"/>
                  </a:lnTo>
                  <a:lnTo>
                    <a:pt x="675" y="468"/>
                  </a:lnTo>
                  <a:lnTo>
                    <a:pt x="675" y="466"/>
                  </a:lnTo>
                  <a:lnTo>
                    <a:pt x="673" y="466"/>
                  </a:lnTo>
                  <a:lnTo>
                    <a:pt x="671" y="466"/>
                  </a:lnTo>
                  <a:lnTo>
                    <a:pt x="667" y="468"/>
                  </a:lnTo>
                  <a:lnTo>
                    <a:pt x="665" y="468"/>
                  </a:lnTo>
                  <a:lnTo>
                    <a:pt x="665" y="468"/>
                  </a:lnTo>
                  <a:lnTo>
                    <a:pt x="663" y="466"/>
                  </a:lnTo>
                  <a:lnTo>
                    <a:pt x="661" y="466"/>
                  </a:lnTo>
                  <a:lnTo>
                    <a:pt x="661" y="464"/>
                  </a:lnTo>
                  <a:lnTo>
                    <a:pt x="661" y="464"/>
                  </a:lnTo>
                  <a:lnTo>
                    <a:pt x="659" y="460"/>
                  </a:lnTo>
                  <a:lnTo>
                    <a:pt x="659" y="458"/>
                  </a:lnTo>
                  <a:lnTo>
                    <a:pt x="658" y="458"/>
                  </a:lnTo>
                  <a:lnTo>
                    <a:pt x="658" y="458"/>
                  </a:lnTo>
                  <a:lnTo>
                    <a:pt x="656" y="458"/>
                  </a:lnTo>
                  <a:lnTo>
                    <a:pt x="656" y="456"/>
                  </a:lnTo>
                  <a:lnTo>
                    <a:pt x="656" y="454"/>
                  </a:lnTo>
                  <a:lnTo>
                    <a:pt x="654" y="454"/>
                  </a:lnTo>
                  <a:lnTo>
                    <a:pt x="654" y="453"/>
                  </a:lnTo>
                  <a:lnTo>
                    <a:pt x="652" y="453"/>
                  </a:lnTo>
                  <a:lnTo>
                    <a:pt x="650" y="451"/>
                  </a:lnTo>
                  <a:lnTo>
                    <a:pt x="650" y="451"/>
                  </a:lnTo>
                  <a:lnTo>
                    <a:pt x="648" y="451"/>
                  </a:lnTo>
                  <a:lnTo>
                    <a:pt x="646" y="451"/>
                  </a:lnTo>
                  <a:lnTo>
                    <a:pt x="646" y="451"/>
                  </a:lnTo>
                  <a:lnTo>
                    <a:pt x="644" y="443"/>
                  </a:lnTo>
                  <a:lnTo>
                    <a:pt x="642" y="441"/>
                  </a:lnTo>
                  <a:lnTo>
                    <a:pt x="640" y="439"/>
                  </a:lnTo>
                  <a:lnTo>
                    <a:pt x="638" y="439"/>
                  </a:lnTo>
                  <a:lnTo>
                    <a:pt x="638" y="437"/>
                  </a:lnTo>
                  <a:lnTo>
                    <a:pt x="638" y="437"/>
                  </a:lnTo>
                  <a:lnTo>
                    <a:pt x="638" y="435"/>
                  </a:lnTo>
                  <a:lnTo>
                    <a:pt x="640" y="435"/>
                  </a:lnTo>
                  <a:lnTo>
                    <a:pt x="640" y="435"/>
                  </a:lnTo>
                  <a:lnTo>
                    <a:pt x="640" y="435"/>
                  </a:lnTo>
                  <a:lnTo>
                    <a:pt x="640" y="435"/>
                  </a:lnTo>
                  <a:lnTo>
                    <a:pt x="642" y="434"/>
                  </a:lnTo>
                  <a:lnTo>
                    <a:pt x="648" y="434"/>
                  </a:lnTo>
                  <a:lnTo>
                    <a:pt x="648" y="434"/>
                  </a:lnTo>
                  <a:lnTo>
                    <a:pt x="650" y="434"/>
                  </a:lnTo>
                  <a:lnTo>
                    <a:pt x="650" y="432"/>
                  </a:lnTo>
                  <a:lnTo>
                    <a:pt x="650" y="432"/>
                  </a:lnTo>
                  <a:lnTo>
                    <a:pt x="652" y="432"/>
                  </a:lnTo>
                  <a:lnTo>
                    <a:pt x="652" y="432"/>
                  </a:lnTo>
                  <a:lnTo>
                    <a:pt x="654" y="432"/>
                  </a:lnTo>
                  <a:lnTo>
                    <a:pt x="654" y="432"/>
                  </a:lnTo>
                  <a:lnTo>
                    <a:pt x="656" y="432"/>
                  </a:lnTo>
                  <a:lnTo>
                    <a:pt x="658" y="432"/>
                  </a:lnTo>
                  <a:lnTo>
                    <a:pt x="658" y="432"/>
                  </a:lnTo>
                  <a:lnTo>
                    <a:pt x="658" y="430"/>
                  </a:lnTo>
                  <a:lnTo>
                    <a:pt x="656" y="428"/>
                  </a:lnTo>
                  <a:lnTo>
                    <a:pt x="656" y="426"/>
                  </a:lnTo>
                  <a:lnTo>
                    <a:pt x="656" y="426"/>
                  </a:lnTo>
                  <a:lnTo>
                    <a:pt x="656" y="426"/>
                  </a:lnTo>
                  <a:lnTo>
                    <a:pt x="658" y="422"/>
                  </a:lnTo>
                  <a:lnTo>
                    <a:pt x="658" y="420"/>
                  </a:lnTo>
                  <a:lnTo>
                    <a:pt x="658" y="420"/>
                  </a:lnTo>
                  <a:lnTo>
                    <a:pt x="658" y="420"/>
                  </a:lnTo>
                  <a:lnTo>
                    <a:pt x="656" y="418"/>
                  </a:lnTo>
                  <a:lnTo>
                    <a:pt x="650" y="418"/>
                  </a:lnTo>
                  <a:lnTo>
                    <a:pt x="648" y="416"/>
                  </a:lnTo>
                  <a:lnTo>
                    <a:pt x="646" y="416"/>
                  </a:lnTo>
                  <a:lnTo>
                    <a:pt x="644" y="413"/>
                  </a:lnTo>
                  <a:lnTo>
                    <a:pt x="642" y="413"/>
                  </a:lnTo>
                  <a:lnTo>
                    <a:pt x="642" y="413"/>
                  </a:lnTo>
                  <a:lnTo>
                    <a:pt x="640" y="413"/>
                  </a:lnTo>
                  <a:lnTo>
                    <a:pt x="640" y="413"/>
                  </a:lnTo>
                  <a:lnTo>
                    <a:pt x="640" y="413"/>
                  </a:lnTo>
                  <a:lnTo>
                    <a:pt x="640" y="413"/>
                  </a:lnTo>
                  <a:lnTo>
                    <a:pt x="638" y="413"/>
                  </a:lnTo>
                  <a:lnTo>
                    <a:pt x="638" y="415"/>
                  </a:lnTo>
                  <a:lnTo>
                    <a:pt x="637" y="415"/>
                  </a:lnTo>
                  <a:lnTo>
                    <a:pt x="637" y="415"/>
                  </a:lnTo>
                  <a:lnTo>
                    <a:pt x="635" y="413"/>
                  </a:lnTo>
                  <a:lnTo>
                    <a:pt x="633" y="413"/>
                  </a:lnTo>
                  <a:lnTo>
                    <a:pt x="633" y="413"/>
                  </a:lnTo>
                  <a:lnTo>
                    <a:pt x="633" y="411"/>
                  </a:lnTo>
                  <a:lnTo>
                    <a:pt x="633" y="409"/>
                  </a:lnTo>
                  <a:lnTo>
                    <a:pt x="633" y="409"/>
                  </a:lnTo>
                  <a:lnTo>
                    <a:pt x="633" y="405"/>
                  </a:lnTo>
                  <a:lnTo>
                    <a:pt x="633" y="405"/>
                  </a:lnTo>
                  <a:lnTo>
                    <a:pt x="633" y="405"/>
                  </a:lnTo>
                  <a:lnTo>
                    <a:pt x="635" y="403"/>
                  </a:lnTo>
                  <a:lnTo>
                    <a:pt x="635" y="403"/>
                  </a:lnTo>
                  <a:lnTo>
                    <a:pt x="635" y="403"/>
                  </a:lnTo>
                  <a:lnTo>
                    <a:pt x="635" y="405"/>
                  </a:lnTo>
                  <a:lnTo>
                    <a:pt x="635" y="405"/>
                  </a:lnTo>
                  <a:lnTo>
                    <a:pt x="637" y="405"/>
                  </a:lnTo>
                  <a:lnTo>
                    <a:pt x="637" y="407"/>
                  </a:lnTo>
                  <a:lnTo>
                    <a:pt x="637" y="407"/>
                  </a:lnTo>
                  <a:lnTo>
                    <a:pt x="637" y="407"/>
                  </a:lnTo>
                  <a:lnTo>
                    <a:pt x="637" y="407"/>
                  </a:lnTo>
                  <a:lnTo>
                    <a:pt x="637" y="407"/>
                  </a:lnTo>
                  <a:lnTo>
                    <a:pt x="637" y="407"/>
                  </a:lnTo>
                  <a:lnTo>
                    <a:pt x="638" y="405"/>
                  </a:lnTo>
                  <a:lnTo>
                    <a:pt x="638" y="405"/>
                  </a:lnTo>
                  <a:lnTo>
                    <a:pt x="638" y="405"/>
                  </a:lnTo>
                  <a:lnTo>
                    <a:pt x="640" y="405"/>
                  </a:lnTo>
                  <a:lnTo>
                    <a:pt x="644" y="403"/>
                  </a:lnTo>
                  <a:lnTo>
                    <a:pt x="644" y="403"/>
                  </a:lnTo>
                  <a:lnTo>
                    <a:pt x="644" y="403"/>
                  </a:lnTo>
                  <a:lnTo>
                    <a:pt x="646" y="401"/>
                  </a:lnTo>
                  <a:lnTo>
                    <a:pt x="646" y="401"/>
                  </a:lnTo>
                  <a:lnTo>
                    <a:pt x="646" y="399"/>
                  </a:lnTo>
                  <a:lnTo>
                    <a:pt x="648" y="396"/>
                  </a:lnTo>
                  <a:lnTo>
                    <a:pt x="648" y="396"/>
                  </a:lnTo>
                  <a:lnTo>
                    <a:pt x="648" y="394"/>
                  </a:lnTo>
                  <a:lnTo>
                    <a:pt x="650" y="394"/>
                  </a:lnTo>
                  <a:lnTo>
                    <a:pt x="650" y="394"/>
                  </a:lnTo>
                  <a:lnTo>
                    <a:pt x="654" y="394"/>
                  </a:lnTo>
                  <a:lnTo>
                    <a:pt x="654" y="394"/>
                  </a:lnTo>
                  <a:lnTo>
                    <a:pt x="656" y="394"/>
                  </a:lnTo>
                  <a:lnTo>
                    <a:pt x="658" y="394"/>
                  </a:lnTo>
                  <a:lnTo>
                    <a:pt x="661" y="396"/>
                  </a:lnTo>
                  <a:lnTo>
                    <a:pt x="675" y="394"/>
                  </a:lnTo>
                  <a:lnTo>
                    <a:pt x="677" y="394"/>
                  </a:lnTo>
                  <a:lnTo>
                    <a:pt x="677" y="394"/>
                  </a:lnTo>
                  <a:lnTo>
                    <a:pt x="677" y="392"/>
                  </a:lnTo>
                  <a:lnTo>
                    <a:pt x="677" y="392"/>
                  </a:lnTo>
                  <a:lnTo>
                    <a:pt x="675" y="392"/>
                  </a:lnTo>
                  <a:lnTo>
                    <a:pt x="669" y="384"/>
                  </a:lnTo>
                  <a:lnTo>
                    <a:pt x="667" y="384"/>
                  </a:lnTo>
                  <a:lnTo>
                    <a:pt x="667" y="382"/>
                  </a:lnTo>
                  <a:lnTo>
                    <a:pt x="665" y="382"/>
                  </a:lnTo>
                  <a:lnTo>
                    <a:pt x="663" y="382"/>
                  </a:lnTo>
                  <a:lnTo>
                    <a:pt x="663" y="382"/>
                  </a:lnTo>
                  <a:lnTo>
                    <a:pt x="663" y="382"/>
                  </a:lnTo>
                  <a:lnTo>
                    <a:pt x="663" y="380"/>
                  </a:lnTo>
                  <a:lnTo>
                    <a:pt x="663" y="377"/>
                  </a:lnTo>
                  <a:lnTo>
                    <a:pt x="663" y="375"/>
                  </a:lnTo>
                  <a:lnTo>
                    <a:pt x="663" y="373"/>
                  </a:lnTo>
                  <a:lnTo>
                    <a:pt x="663" y="371"/>
                  </a:lnTo>
                  <a:lnTo>
                    <a:pt x="661" y="369"/>
                  </a:lnTo>
                  <a:lnTo>
                    <a:pt x="661" y="369"/>
                  </a:lnTo>
                  <a:lnTo>
                    <a:pt x="659" y="369"/>
                  </a:lnTo>
                  <a:lnTo>
                    <a:pt x="659" y="369"/>
                  </a:lnTo>
                  <a:lnTo>
                    <a:pt x="658" y="369"/>
                  </a:lnTo>
                  <a:lnTo>
                    <a:pt x="658" y="369"/>
                  </a:lnTo>
                  <a:lnTo>
                    <a:pt x="658" y="369"/>
                  </a:lnTo>
                  <a:lnTo>
                    <a:pt x="656" y="369"/>
                  </a:lnTo>
                  <a:lnTo>
                    <a:pt x="656" y="371"/>
                  </a:lnTo>
                  <a:lnTo>
                    <a:pt x="656" y="371"/>
                  </a:lnTo>
                  <a:lnTo>
                    <a:pt x="654" y="371"/>
                  </a:lnTo>
                  <a:lnTo>
                    <a:pt x="652" y="369"/>
                  </a:lnTo>
                  <a:lnTo>
                    <a:pt x="650" y="367"/>
                  </a:lnTo>
                  <a:lnTo>
                    <a:pt x="650" y="367"/>
                  </a:lnTo>
                  <a:lnTo>
                    <a:pt x="648" y="367"/>
                  </a:lnTo>
                  <a:lnTo>
                    <a:pt x="646" y="365"/>
                  </a:lnTo>
                  <a:lnTo>
                    <a:pt x="646" y="363"/>
                  </a:lnTo>
                  <a:lnTo>
                    <a:pt x="642" y="358"/>
                  </a:lnTo>
                  <a:lnTo>
                    <a:pt x="642" y="358"/>
                  </a:lnTo>
                  <a:lnTo>
                    <a:pt x="642" y="354"/>
                  </a:lnTo>
                  <a:lnTo>
                    <a:pt x="642" y="354"/>
                  </a:lnTo>
                  <a:lnTo>
                    <a:pt x="642" y="352"/>
                  </a:lnTo>
                  <a:lnTo>
                    <a:pt x="642" y="350"/>
                  </a:lnTo>
                  <a:lnTo>
                    <a:pt x="640" y="350"/>
                  </a:lnTo>
                  <a:lnTo>
                    <a:pt x="638" y="348"/>
                  </a:lnTo>
                  <a:lnTo>
                    <a:pt x="638" y="346"/>
                  </a:lnTo>
                  <a:lnTo>
                    <a:pt x="638" y="344"/>
                  </a:lnTo>
                  <a:lnTo>
                    <a:pt x="635" y="342"/>
                  </a:lnTo>
                  <a:lnTo>
                    <a:pt x="635" y="342"/>
                  </a:lnTo>
                  <a:lnTo>
                    <a:pt x="635" y="340"/>
                  </a:lnTo>
                  <a:lnTo>
                    <a:pt x="635" y="338"/>
                  </a:lnTo>
                  <a:lnTo>
                    <a:pt x="635" y="337"/>
                  </a:lnTo>
                  <a:lnTo>
                    <a:pt x="635" y="335"/>
                  </a:lnTo>
                  <a:lnTo>
                    <a:pt x="633" y="333"/>
                  </a:lnTo>
                  <a:lnTo>
                    <a:pt x="633" y="333"/>
                  </a:lnTo>
                  <a:lnTo>
                    <a:pt x="633" y="331"/>
                  </a:lnTo>
                  <a:lnTo>
                    <a:pt x="631" y="331"/>
                  </a:lnTo>
                  <a:lnTo>
                    <a:pt x="631" y="329"/>
                  </a:lnTo>
                  <a:lnTo>
                    <a:pt x="629" y="329"/>
                  </a:lnTo>
                  <a:lnTo>
                    <a:pt x="629" y="327"/>
                  </a:lnTo>
                  <a:lnTo>
                    <a:pt x="631" y="325"/>
                  </a:lnTo>
                  <a:lnTo>
                    <a:pt x="631" y="323"/>
                  </a:lnTo>
                  <a:lnTo>
                    <a:pt x="631" y="323"/>
                  </a:lnTo>
                  <a:lnTo>
                    <a:pt x="629" y="323"/>
                  </a:lnTo>
                  <a:lnTo>
                    <a:pt x="627" y="323"/>
                  </a:lnTo>
                  <a:lnTo>
                    <a:pt x="627" y="323"/>
                  </a:lnTo>
                  <a:lnTo>
                    <a:pt x="627" y="323"/>
                  </a:lnTo>
                  <a:lnTo>
                    <a:pt x="627" y="323"/>
                  </a:lnTo>
                  <a:lnTo>
                    <a:pt x="627" y="321"/>
                  </a:lnTo>
                  <a:lnTo>
                    <a:pt x="627" y="321"/>
                  </a:lnTo>
                  <a:lnTo>
                    <a:pt x="627" y="321"/>
                  </a:lnTo>
                  <a:lnTo>
                    <a:pt x="621" y="319"/>
                  </a:lnTo>
                  <a:lnTo>
                    <a:pt x="610" y="312"/>
                  </a:lnTo>
                  <a:lnTo>
                    <a:pt x="602" y="310"/>
                  </a:lnTo>
                  <a:lnTo>
                    <a:pt x="593" y="308"/>
                  </a:lnTo>
                  <a:lnTo>
                    <a:pt x="583" y="308"/>
                  </a:lnTo>
                  <a:lnTo>
                    <a:pt x="581" y="310"/>
                  </a:lnTo>
                  <a:lnTo>
                    <a:pt x="581" y="310"/>
                  </a:lnTo>
                  <a:lnTo>
                    <a:pt x="581" y="312"/>
                  </a:lnTo>
                  <a:lnTo>
                    <a:pt x="581" y="314"/>
                  </a:lnTo>
                  <a:lnTo>
                    <a:pt x="581" y="316"/>
                  </a:lnTo>
                  <a:lnTo>
                    <a:pt x="581" y="316"/>
                  </a:lnTo>
                  <a:lnTo>
                    <a:pt x="581" y="318"/>
                  </a:lnTo>
                  <a:lnTo>
                    <a:pt x="579" y="321"/>
                  </a:lnTo>
                  <a:lnTo>
                    <a:pt x="577" y="321"/>
                  </a:lnTo>
                  <a:lnTo>
                    <a:pt x="576" y="323"/>
                  </a:lnTo>
                  <a:lnTo>
                    <a:pt x="574" y="323"/>
                  </a:lnTo>
                  <a:lnTo>
                    <a:pt x="572" y="323"/>
                  </a:lnTo>
                  <a:lnTo>
                    <a:pt x="572" y="321"/>
                  </a:lnTo>
                  <a:lnTo>
                    <a:pt x="570" y="319"/>
                  </a:lnTo>
                  <a:lnTo>
                    <a:pt x="570" y="318"/>
                  </a:lnTo>
                  <a:lnTo>
                    <a:pt x="568" y="318"/>
                  </a:lnTo>
                  <a:lnTo>
                    <a:pt x="564" y="314"/>
                  </a:lnTo>
                  <a:lnTo>
                    <a:pt x="560" y="312"/>
                  </a:lnTo>
                  <a:lnTo>
                    <a:pt x="549" y="312"/>
                  </a:lnTo>
                  <a:lnTo>
                    <a:pt x="543" y="310"/>
                  </a:lnTo>
                  <a:lnTo>
                    <a:pt x="539" y="308"/>
                  </a:lnTo>
                  <a:lnTo>
                    <a:pt x="536" y="306"/>
                  </a:lnTo>
                  <a:lnTo>
                    <a:pt x="524" y="306"/>
                  </a:lnTo>
                  <a:lnTo>
                    <a:pt x="522" y="304"/>
                  </a:lnTo>
                  <a:lnTo>
                    <a:pt x="522" y="300"/>
                  </a:lnTo>
                  <a:lnTo>
                    <a:pt x="520" y="293"/>
                  </a:lnTo>
                  <a:lnTo>
                    <a:pt x="520" y="289"/>
                  </a:lnTo>
                  <a:lnTo>
                    <a:pt x="518" y="285"/>
                  </a:lnTo>
                  <a:lnTo>
                    <a:pt x="518" y="285"/>
                  </a:lnTo>
                  <a:lnTo>
                    <a:pt x="517" y="285"/>
                  </a:lnTo>
                  <a:lnTo>
                    <a:pt x="503" y="287"/>
                  </a:lnTo>
                  <a:lnTo>
                    <a:pt x="496" y="289"/>
                  </a:lnTo>
                  <a:lnTo>
                    <a:pt x="492" y="287"/>
                  </a:lnTo>
                  <a:lnTo>
                    <a:pt x="488" y="281"/>
                  </a:lnTo>
                  <a:lnTo>
                    <a:pt x="480" y="280"/>
                  </a:lnTo>
                  <a:lnTo>
                    <a:pt x="469" y="270"/>
                  </a:lnTo>
                  <a:lnTo>
                    <a:pt x="465" y="268"/>
                  </a:lnTo>
                  <a:lnTo>
                    <a:pt x="463" y="266"/>
                  </a:lnTo>
                  <a:lnTo>
                    <a:pt x="461" y="264"/>
                  </a:lnTo>
                  <a:lnTo>
                    <a:pt x="459" y="264"/>
                  </a:lnTo>
                  <a:lnTo>
                    <a:pt x="459" y="264"/>
                  </a:lnTo>
                  <a:lnTo>
                    <a:pt x="457" y="262"/>
                  </a:lnTo>
                  <a:lnTo>
                    <a:pt x="454" y="262"/>
                  </a:lnTo>
                  <a:lnTo>
                    <a:pt x="450" y="264"/>
                  </a:lnTo>
                  <a:lnTo>
                    <a:pt x="446" y="268"/>
                  </a:lnTo>
                  <a:lnTo>
                    <a:pt x="444" y="270"/>
                  </a:lnTo>
                  <a:lnTo>
                    <a:pt x="442" y="270"/>
                  </a:lnTo>
                  <a:lnTo>
                    <a:pt x="440" y="268"/>
                  </a:lnTo>
                  <a:lnTo>
                    <a:pt x="436" y="266"/>
                  </a:lnTo>
                  <a:lnTo>
                    <a:pt x="433" y="262"/>
                  </a:lnTo>
                  <a:lnTo>
                    <a:pt x="429" y="259"/>
                  </a:lnTo>
                  <a:lnTo>
                    <a:pt x="427" y="257"/>
                  </a:lnTo>
                  <a:lnTo>
                    <a:pt x="425" y="257"/>
                  </a:lnTo>
                  <a:lnTo>
                    <a:pt x="419" y="255"/>
                  </a:lnTo>
                  <a:lnTo>
                    <a:pt x="417" y="255"/>
                  </a:lnTo>
                  <a:lnTo>
                    <a:pt x="417" y="255"/>
                  </a:lnTo>
                  <a:lnTo>
                    <a:pt x="417" y="255"/>
                  </a:lnTo>
                  <a:lnTo>
                    <a:pt x="417" y="253"/>
                  </a:lnTo>
                  <a:lnTo>
                    <a:pt x="416" y="251"/>
                  </a:lnTo>
                  <a:lnTo>
                    <a:pt x="406" y="247"/>
                  </a:lnTo>
                  <a:lnTo>
                    <a:pt x="406" y="245"/>
                  </a:lnTo>
                  <a:lnTo>
                    <a:pt x="406" y="245"/>
                  </a:lnTo>
                  <a:lnTo>
                    <a:pt x="404" y="243"/>
                  </a:lnTo>
                  <a:lnTo>
                    <a:pt x="404" y="241"/>
                  </a:lnTo>
                  <a:lnTo>
                    <a:pt x="404" y="240"/>
                  </a:lnTo>
                  <a:lnTo>
                    <a:pt x="402" y="238"/>
                  </a:lnTo>
                  <a:lnTo>
                    <a:pt x="400" y="238"/>
                  </a:lnTo>
                  <a:lnTo>
                    <a:pt x="398" y="236"/>
                  </a:lnTo>
                  <a:lnTo>
                    <a:pt x="396" y="236"/>
                  </a:lnTo>
                  <a:lnTo>
                    <a:pt x="396" y="238"/>
                  </a:lnTo>
                  <a:lnTo>
                    <a:pt x="395" y="238"/>
                  </a:lnTo>
                  <a:lnTo>
                    <a:pt x="395" y="240"/>
                  </a:lnTo>
                  <a:lnTo>
                    <a:pt x="393" y="240"/>
                  </a:lnTo>
                  <a:lnTo>
                    <a:pt x="391" y="241"/>
                  </a:lnTo>
                  <a:lnTo>
                    <a:pt x="391" y="240"/>
                  </a:lnTo>
                  <a:lnTo>
                    <a:pt x="391" y="240"/>
                  </a:lnTo>
                  <a:lnTo>
                    <a:pt x="389" y="238"/>
                  </a:lnTo>
                  <a:lnTo>
                    <a:pt x="389" y="238"/>
                  </a:lnTo>
                  <a:lnTo>
                    <a:pt x="389" y="238"/>
                  </a:lnTo>
                  <a:lnTo>
                    <a:pt x="391" y="236"/>
                  </a:lnTo>
                  <a:lnTo>
                    <a:pt x="389" y="234"/>
                  </a:lnTo>
                  <a:lnTo>
                    <a:pt x="383" y="228"/>
                  </a:lnTo>
                  <a:lnTo>
                    <a:pt x="383" y="224"/>
                  </a:lnTo>
                  <a:lnTo>
                    <a:pt x="381" y="219"/>
                  </a:lnTo>
                  <a:lnTo>
                    <a:pt x="379" y="217"/>
                  </a:lnTo>
                  <a:lnTo>
                    <a:pt x="377" y="215"/>
                  </a:lnTo>
                  <a:lnTo>
                    <a:pt x="368" y="213"/>
                  </a:lnTo>
                  <a:lnTo>
                    <a:pt x="364" y="213"/>
                  </a:lnTo>
                  <a:lnTo>
                    <a:pt x="362" y="211"/>
                  </a:lnTo>
                  <a:lnTo>
                    <a:pt x="362" y="209"/>
                  </a:lnTo>
                  <a:lnTo>
                    <a:pt x="362" y="209"/>
                  </a:lnTo>
                  <a:lnTo>
                    <a:pt x="360" y="207"/>
                  </a:lnTo>
                  <a:lnTo>
                    <a:pt x="360" y="209"/>
                  </a:lnTo>
                  <a:lnTo>
                    <a:pt x="358" y="209"/>
                  </a:lnTo>
                  <a:lnTo>
                    <a:pt x="356" y="207"/>
                  </a:lnTo>
                  <a:lnTo>
                    <a:pt x="355" y="207"/>
                  </a:lnTo>
                  <a:lnTo>
                    <a:pt x="353" y="207"/>
                  </a:lnTo>
                  <a:lnTo>
                    <a:pt x="353" y="205"/>
                  </a:lnTo>
                  <a:lnTo>
                    <a:pt x="353" y="203"/>
                  </a:lnTo>
                  <a:lnTo>
                    <a:pt x="351" y="202"/>
                  </a:lnTo>
                  <a:lnTo>
                    <a:pt x="351" y="202"/>
                  </a:lnTo>
                  <a:lnTo>
                    <a:pt x="347" y="202"/>
                  </a:lnTo>
                  <a:lnTo>
                    <a:pt x="345" y="202"/>
                  </a:lnTo>
                  <a:lnTo>
                    <a:pt x="343" y="200"/>
                  </a:lnTo>
                  <a:lnTo>
                    <a:pt x="339" y="196"/>
                  </a:lnTo>
                  <a:lnTo>
                    <a:pt x="337" y="196"/>
                  </a:lnTo>
                  <a:lnTo>
                    <a:pt x="335" y="194"/>
                  </a:lnTo>
                  <a:lnTo>
                    <a:pt x="334" y="194"/>
                  </a:lnTo>
                  <a:lnTo>
                    <a:pt x="332" y="192"/>
                  </a:lnTo>
                  <a:lnTo>
                    <a:pt x="330" y="188"/>
                  </a:lnTo>
                  <a:lnTo>
                    <a:pt x="330" y="188"/>
                  </a:lnTo>
                  <a:lnTo>
                    <a:pt x="326" y="188"/>
                  </a:lnTo>
                  <a:lnTo>
                    <a:pt x="324" y="186"/>
                  </a:lnTo>
                  <a:lnTo>
                    <a:pt x="322" y="186"/>
                  </a:lnTo>
                  <a:lnTo>
                    <a:pt x="322" y="184"/>
                  </a:lnTo>
                  <a:lnTo>
                    <a:pt x="322" y="184"/>
                  </a:lnTo>
                  <a:lnTo>
                    <a:pt x="322" y="183"/>
                  </a:lnTo>
                  <a:lnTo>
                    <a:pt x="322" y="183"/>
                  </a:lnTo>
                  <a:lnTo>
                    <a:pt x="320" y="183"/>
                  </a:lnTo>
                  <a:lnTo>
                    <a:pt x="318" y="183"/>
                  </a:lnTo>
                  <a:lnTo>
                    <a:pt x="316" y="184"/>
                  </a:lnTo>
                  <a:lnTo>
                    <a:pt x="316" y="184"/>
                  </a:lnTo>
                  <a:lnTo>
                    <a:pt x="316" y="186"/>
                  </a:lnTo>
                  <a:lnTo>
                    <a:pt x="316" y="194"/>
                  </a:lnTo>
                  <a:lnTo>
                    <a:pt x="316" y="194"/>
                  </a:lnTo>
                  <a:lnTo>
                    <a:pt x="315" y="194"/>
                  </a:lnTo>
                  <a:lnTo>
                    <a:pt x="311" y="188"/>
                  </a:lnTo>
                  <a:lnTo>
                    <a:pt x="309" y="188"/>
                  </a:lnTo>
                  <a:lnTo>
                    <a:pt x="307" y="188"/>
                  </a:lnTo>
                  <a:lnTo>
                    <a:pt x="305" y="188"/>
                  </a:lnTo>
                  <a:lnTo>
                    <a:pt x="303" y="188"/>
                  </a:lnTo>
                  <a:lnTo>
                    <a:pt x="301" y="188"/>
                  </a:lnTo>
                  <a:lnTo>
                    <a:pt x="299" y="186"/>
                  </a:lnTo>
                  <a:lnTo>
                    <a:pt x="297" y="181"/>
                  </a:lnTo>
                  <a:lnTo>
                    <a:pt x="297" y="181"/>
                  </a:lnTo>
                  <a:lnTo>
                    <a:pt x="295" y="181"/>
                  </a:lnTo>
                  <a:lnTo>
                    <a:pt x="295" y="181"/>
                  </a:lnTo>
                  <a:lnTo>
                    <a:pt x="294" y="179"/>
                  </a:lnTo>
                  <a:lnTo>
                    <a:pt x="294" y="177"/>
                  </a:lnTo>
                  <a:lnTo>
                    <a:pt x="292" y="177"/>
                  </a:lnTo>
                  <a:lnTo>
                    <a:pt x="292" y="177"/>
                  </a:lnTo>
                  <a:lnTo>
                    <a:pt x="288" y="175"/>
                  </a:lnTo>
                  <a:lnTo>
                    <a:pt x="286" y="175"/>
                  </a:lnTo>
                  <a:lnTo>
                    <a:pt x="284" y="173"/>
                  </a:lnTo>
                  <a:lnTo>
                    <a:pt x="282" y="169"/>
                  </a:lnTo>
                  <a:lnTo>
                    <a:pt x="278" y="167"/>
                  </a:lnTo>
                  <a:lnTo>
                    <a:pt x="278" y="167"/>
                  </a:lnTo>
                  <a:lnTo>
                    <a:pt x="276" y="169"/>
                  </a:lnTo>
                  <a:lnTo>
                    <a:pt x="276" y="171"/>
                  </a:lnTo>
                  <a:lnTo>
                    <a:pt x="276" y="173"/>
                  </a:lnTo>
                  <a:lnTo>
                    <a:pt x="273" y="175"/>
                  </a:lnTo>
                  <a:lnTo>
                    <a:pt x="273" y="175"/>
                  </a:lnTo>
                  <a:lnTo>
                    <a:pt x="271" y="177"/>
                  </a:lnTo>
                  <a:lnTo>
                    <a:pt x="269" y="177"/>
                  </a:lnTo>
                  <a:lnTo>
                    <a:pt x="269" y="177"/>
                  </a:lnTo>
                  <a:lnTo>
                    <a:pt x="267" y="177"/>
                  </a:lnTo>
                  <a:lnTo>
                    <a:pt x="265" y="175"/>
                  </a:lnTo>
                  <a:lnTo>
                    <a:pt x="265" y="175"/>
                  </a:lnTo>
                  <a:lnTo>
                    <a:pt x="265" y="173"/>
                  </a:lnTo>
                  <a:lnTo>
                    <a:pt x="265" y="173"/>
                  </a:lnTo>
                  <a:lnTo>
                    <a:pt x="265" y="171"/>
                  </a:lnTo>
                  <a:lnTo>
                    <a:pt x="263" y="171"/>
                  </a:lnTo>
                  <a:lnTo>
                    <a:pt x="263" y="173"/>
                  </a:lnTo>
                  <a:lnTo>
                    <a:pt x="261" y="173"/>
                  </a:lnTo>
                  <a:lnTo>
                    <a:pt x="261" y="171"/>
                  </a:lnTo>
                  <a:lnTo>
                    <a:pt x="261" y="171"/>
                  </a:lnTo>
                  <a:lnTo>
                    <a:pt x="261" y="169"/>
                  </a:lnTo>
                  <a:lnTo>
                    <a:pt x="261" y="169"/>
                  </a:lnTo>
                  <a:lnTo>
                    <a:pt x="261" y="167"/>
                  </a:lnTo>
                  <a:lnTo>
                    <a:pt x="259" y="167"/>
                  </a:lnTo>
                  <a:lnTo>
                    <a:pt x="257" y="169"/>
                  </a:lnTo>
                  <a:lnTo>
                    <a:pt x="255" y="169"/>
                  </a:lnTo>
                  <a:lnTo>
                    <a:pt x="255" y="169"/>
                  </a:lnTo>
                  <a:lnTo>
                    <a:pt x="255" y="167"/>
                  </a:lnTo>
                  <a:lnTo>
                    <a:pt x="255" y="165"/>
                  </a:lnTo>
                  <a:lnTo>
                    <a:pt x="255" y="164"/>
                  </a:lnTo>
                  <a:lnTo>
                    <a:pt x="255" y="164"/>
                  </a:lnTo>
                  <a:lnTo>
                    <a:pt x="254" y="162"/>
                  </a:lnTo>
                  <a:lnTo>
                    <a:pt x="250" y="162"/>
                  </a:lnTo>
                  <a:lnTo>
                    <a:pt x="248" y="162"/>
                  </a:lnTo>
                  <a:lnTo>
                    <a:pt x="246" y="162"/>
                  </a:lnTo>
                  <a:lnTo>
                    <a:pt x="246" y="162"/>
                  </a:lnTo>
                  <a:lnTo>
                    <a:pt x="246" y="164"/>
                  </a:lnTo>
                  <a:lnTo>
                    <a:pt x="246" y="164"/>
                  </a:lnTo>
                  <a:lnTo>
                    <a:pt x="244" y="165"/>
                  </a:lnTo>
                  <a:lnTo>
                    <a:pt x="236" y="164"/>
                  </a:lnTo>
                  <a:lnTo>
                    <a:pt x="234" y="164"/>
                  </a:lnTo>
                  <a:lnTo>
                    <a:pt x="234" y="165"/>
                  </a:lnTo>
                  <a:lnTo>
                    <a:pt x="233" y="165"/>
                  </a:lnTo>
                  <a:lnTo>
                    <a:pt x="233" y="164"/>
                  </a:lnTo>
                  <a:lnTo>
                    <a:pt x="231" y="162"/>
                  </a:lnTo>
                  <a:lnTo>
                    <a:pt x="231" y="162"/>
                  </a:lnTo>
                  <a:lnTo>
                    <a:pt x="227" y="162"/>
                  </a:lnTo>
                  <a:lnTo>
                    <a:pt x="219" y="165"/>
                  </a:lnTo>
                  <a:lnTo>
                    <a:pt x="217" y="162"/>
                  </a:lnTo>
                  <a:lnTo>
                    <a:pt x="217" y="158"/>
                  </a:lnTo>
                  <a:lnTo>
                    <a:pt x="215" y="156"/>
                  </a:lnTo>
                  <a:lnTo>
                    <a:pt x="215" y="156"/>
                  </a:lnTo>
                  <a:lnTo>
                    <a:pt x="214" y="154"/>
                  </a:lnTo>
                  <a:lnTo>
                    <a:pt x="214" y="152"/>
                  </a:lnTo>
                  <a:lnTo>
                    <a:pt x="214" y="152"/>
                  </a:lnTo>
                  <a:lnTo>
                    <a:pt x="212" y="152"/>
                  </a:lnTo>
                  <a:lnTo>
                    <a:pt x="212" y="152"/>
                  </a:lnTo>
                  <a:lnTo>
                    <a:pt x="210" y="152"/>
                  </a:lnTo>
                  <a:lnTo>
                    <a:pt x="208" y="152"/>
                  </a:lnTo>
                  <a:lnTo>
                    <a:pt x="206" y="152"/>
                  </a:lnTo>
                  <a:lnTo>
                    <a:pt x="194" y="143"/>
                  </a:lnTo>
                  <a:lnTo>
                    <a:pt x="193" y="143"/>
                  </a:lnTo>
                  <a:lnTo>
                    <a:pt x="193" y="141"/>
                  </a:lnTo>
                  <a:lnTo>
                    <a:pt x="193" y="139"/>
                  </a:lnTo>
                  <a:lnTo>
                    <a:pt x="193" y="139"/>
                  </a:lnTo>
                  <a:lnTo>
                    <a:pt x="191" y="137"/>
                  </a:lnTo>
                  <a:lnTo>
                    <a:pt x="191" y="137"/>
                  </a:lnTo>
                  <a:lnTo>
                    <a:pt x="183" y="133"/>
                  </a:lnTo>
                  <a:lnTo>
                    <a:pt x="183" y="133"/>
                  </a:lnTo>
                  <a:lnTo>
                    <a:pt x="181" y="133"/>
                  </a:lnTo>
                  <a:lnTo>
                    <a:pt x="179" y="133"/>
                  </a:lnTo>
                  <a:lnTo>
                    <a:pt x="174" y="135"/>
                  </a:lnTo>
                  <a:lnTo>
                    <a:pt x="170" y="137"/>
                  </a:lnTo>
                  <a:lnTo>
                    <a:pt x="170" y="131"/>
                  </a:lnTo>
                  <a:lnTo>
                    <a:pt x="170" y="129"/>
                  </a:lnTo>
                  <a:lnTo>
                    <a:pt x="168" y="127"/>
                  </a:lnTo>
                  <a:lnTo>
                    <a:pt x="166" y="125"/>
                  </a:lnTo>
                  <a:lnTo>
                    <a:pt x="153" y="120"/>
                  </a:lnTo>
                  <a:lnTo>
                    <a:pt x="153" y="118"/>
                  </a:lnTo>
                  <a:lnTo>
                    <a:pt x="153" y="118"/>
                  </a:lnTo>
                  <a:lnTo>
                    <a:pt x="153" y="118"/>
                  </a:lnTo>
                  <a:lnTo>
                    <a:pt x="153" y="116"/>
                  </a:lnTo>
                  <a:lnTo>
                    <a:pt x="153" y="116"/>
                  </a:lnTo>
                  <a:lnTo>
                    <a:pt x="153" y="116"/>
                  </a:lnTo>
                  <a:lnTo>
                    <a:pt x="154" y="116"/>
                  </a:lnTo>
                  <a:lnTo>
                    <a:pt x="154" y="114"/>
                  </a:lnTo>
                  <a:lnTo>
                    <a:pt x="156" y="114"/>
                  </a:lnTo>
                  <a:lnTo>
                    <a:pt x="156" y="114"/>
                  </a:lnTo>
                  <a:lnTo>
                    <a:pt x="156" y="114"/>
                  </a:lnTo>
                  <a:lnTo>
                    <a:pt x="158" y="114"/>
                  </a:lnTo>
                  <a:lnTo>
                    <a:pt x="158" y="116"/>
                  </a:lnTo>
                  <a:lnTo>
                    <a:pt x="160" y="114"/>
                  </a:lnTo>
                  <a:lnTo>
                    <a:pt x="160" y="112"/>
                  </a:lnTo>
                  <a:lnTo>
                    <a:pt x="162" y="112"/>
                  </a:lnTo>
                  <a:lnTo>
                    <a:pt x="162" y="112"/>
                  </a:lnTo>
                  <a:lnTo>
                    <a:pt x="162" y="112"/>
                  </a:lnTo>
                  <a:lnTo>
                    <a:pt x="164" y="112"/>
                  </a:lnTo>
                  <a:lnTo>
                    <a:pt x="164" y="112"/>
                  </a:lnTo>
                  <a:lnTo>
                    <a:pt x="166" y="112"/>
                  </a:lnTo>
                  <a:lnTo>
                    <a:pt x="170" y="108"/>
                  </a:lnTo>
                  <a:lnTo>
                    <a:pt x="172" y="106"/>
                  </a:lnTo>
                  <a:lnTo>
                    <a:pt x="172" y="105"/>
                  </a:lnTo>
                  <a:lnTo>
                    <a:pt x="172" y="105"/>
                  </a:lnTo>
                  <a:lnTo>
                    <a:pt x="170" y="103"/>
                  </a:lnTo>
                  <a:lnTo>
                    <a:pt x="164" y="103"/>
                  </a:lnTo>
                  <a:lnTo>
                    <a:pt x="160" y="101"/>
                  </a:lnTo>
                  <a:lnTo>
                    <a:pt x="145" y="91"/>
                  </a:lnTo>
                  <a:lnTo>
                    <a:pt x="141" y="87"/>
                  </a:lnTo>
                  <a:lnTo>
                    <a:pt x="137" y="84"/>
                  </a:lnTo>
                  <a:lnTo>
                    <a:pt x="135" y="80"/>
                  </a:lnTo>
                  <a:lnTo>
                    <a:pt x="133" y="76"/>
                  </a:lnTo>
                  <a:lnTo>
                    <a:pt x="130" y="72"/>
                  </a:lnTo>
                  <a:lnTo>
                    <a:pt x="122" y="68"/>
                  </a:lnTo>
                  <a:lnTo>
                    <a:pt x="120" y="67"/>
                  </a:lnTo>
                  <a:lnTo>
                    <a:pt x="118" y="65"/>
                  </a:lnTo>
                  <a:lnTo>
                    <a:pt x="116" y="59"/>
                  </a:lnTo>
                  <a:lnTo>
                    <a:pt x="113" y="55"/>
                  </a:lnTo>
                  <a:lnTo>
                    <a:pt x="107" y="49"/>
                  </a:lnTo>
                  <a:lnTo>
                    <a:pt x="107" y="47"/>
                  </a:lnTo>
                  <a:lnTo>
                    <a:pt x="105" y="47"/>
                  </a:lnTo>
                  <a:lnTo>
                    <a:pt x="105" y="47"/>
                  </a:lnTo>
                  <a:lnTo>
                    <a:pt x="103" y="47"/>
                  </a:lnTo>
                  <a:lnTo>
                    <a:pt x="101" y="49"/>
                  </a:lnTo>
                  <a:lnTo>
                    <a:pt x="101" y="49"/>
                  </a:lnTo>
                  <a:lnTo>
                    <a:pt x="101" y="51"/>
                  </a:lnTo>
                  <a:lnTo>
                    <a:pt x="101" y="53"/>
                  </a:lnTo>
                  <a:lnTo>
                    <a:pt x="101" y="55"/>
                  </a:lnTo>
                  <a:lnTo>
                    <a:pt x="103" y="65"/>
                  </a:lnTo>
                  <a:lnTo>
                    <a:pt x="105" y="70"/>
                  </a:lnTo>
                  <a:lnTo>
                    <a:pt x="103" y="74"/>
                  </a:lnTo>
                  <a:lnTo>
                    <a:pt x="101" y="78"/>
                  </a:lnTo>
                  <a:lnTo>
                    <a:pt x="95" y="80"/>
                  </a:lnTo>
                  <a:lnTo>
                    <a:pt x="93" y="80"/>
                  </a:lnTo>
                  <a:lnTo>
                    <a:pt x="93" y="78"/>
                  </a:lnTo>
                  <a:lnTo>
                    <a:pt x="90" y="76"/>
                  </a:lnTo>
                  <a:lnTo>
                    <a:pt x="84" y="72"/>
                  </a:lnTo>
                  <a:lnTo>
                    <a:pt x="84" y="72"/>
                  </a:lnTo>
                  <a:lnTo>
                    <a:pt x="82" y="72"/>
                  </a:lnTo>
                  <a:lnTo>
                    <a:pt x="78" y="74"/>
                  </a:lnTo>
                  <a:lnTo>
                    <a:pt x="71" y="80"/>
                  </a:lnTo>
                  <a:lnTo>
                    <a:pt x="67" y="70"/>
                  </a:lnTo>
                  <a:lnTo>
                    <a:pt x="65" y="68"/>
                  </a:lnTo>
                  <a:lnTo>
                    <a:pt x="65" y="63"/>
                  </a:lnTo>
                  <a:lnTo>
                    <a:pt x="63" y="57"/>
                  </a:lnTo>
                  <a:lnTo>
                    <a:pt x="63" y="55"/>
                  </a:lnTo>
                  <a:lnTo>
                    <a:pt x="63" y="51"/>
                  </a:lnTo>
                  <a:lnTo>
                    <a:pt x="63" y="47"/>
                  </a:lnTo>
                  <a:lnTo>
                    <a:pt x="63" y="46"/>
                  </a:lnTo>
                  <a:lnTo>
                    <a:pt x="67" y="38"/>
                  </a:lnTo>
                  <a:lnTo>
                    <a:pt x="71" y="28"/>
                  </a:lnTo>
                  <a:lnTo>
                    <a:pt x="74" y="25"/>
                  </a:lnTo>
                  <a:lnTo>
                    <a:pt x="78" y="21"/>
                  </a:lnTo>
                  <a:lnTo>
                    <a:pt x="80" y="21"/>
                  </a:lnTo>
                  <a:lnTo>
                    <a:pt x="82" y="19"/>
                  </a:lnTo>
                  <a:lnTo>
                    <a:pt x="80" y="17"/>
                  </a:lnTo>
                  <a:lnTo>
                    <a:pt x="69" y="11"/>
                  </a:lnTo>
                  <a:lnTo>
                    <a:pt x="63" y="8"/>
                  </a:lnTo>
                  <a:lnTo>
                    <a:pt x="55" y="0"/>
                  </a:lnTo>
                  <a:lnTo>
                    <a:pt x="53" y="0"/>
                  </a:lnTo>
                  <a:lnTo>
                    <a:pt x="52" y="0"/>
                  </a:lnTo>
                  <a:lnTo>
                    <a:pt x="48" y="2"/>
                  </a:lnTo>
                  <a:lnTo>
                    <a:pt x="48" y="2"/>
                  </a:lnTo>
                  <a:lnTo>
                    <a:pt x="48" y="4"/>
                  </a:lnTo>
                  <a:lnTo>
                    <a:pt x="48" y="8"/>
                  </a:lnTo>
                  <a:lnTo>
                    <a:pt x="46" y="13"/>
                  </a:lnTo>
                  <a:lnTo>
                    <a:pt x="44" y="15"/>
                  </a:lnTo>
                  <a:lnTo>
                    <a:pt x="40" y="19"/>
                  </a:lnTo>
                  <a:lnTo>
                    <a:pt x="34" y="25"/>
                  </a:lnTo>
                  <a:lnTo>
                    <a:pt x="33" y="27"/>
                  </a:lnTo>
                  <a:lnTo>
                    <a:pt x="31" y="28"/>
                  </a:lnTo>
                  <a:lnTo>
                    <a:pt x="31" y="30"/>
                  </a:lnTo>
                  <a:lnTo>
                    <a:pt x="29" y="32"/>
                  </a:lnTo>
                  <a:lnTo>
                    <a:pt x="25" y="36"/>
                  </a:lnTo>
                  <a:lnTo>
                    <a:pt x="23" y="36"/>
                  </a:lnTo>
                  <a:lnTo>
                    <a:pt x="23" y="36"/>
                  </a:lnTo>
                  <a:lnTo>
                    <a:pt x="23" y="38"/>
                  </a:lnTo>
                  <a:lnTo>
                    <a:pt x="23" y="38"/>
                  </a:lnTo>
                  <a:lnTo>
                    <a:pt x="23" y="38"/>
                  </a:lnTo>
                  <a:lnTo>
                    <a:pt x="23" y="38"/>
                  </a:lnTo>
                  <a:lnTo>
                    <a:pt x="23" y="38"/>
                  </a:lnTo>
                  <a:lnTo>
                    <a:pt x="21" y="40"/>
                  </a:lnTo>
                  <a:lnTo>
                    <a:pt x="21" y="38"/>
                  </a:lnTo>
                  <a:lnTo>
                    <a:pt x="21" y="38"/>
                  </a:lnTo>
                  <a:lnTo>
                    <a:pt x="19" y="40"/>
                  </a:lnTo>
                  <a:lnTo>
                    <a:pt x="19" y="40"/>
                  </a:lnTo>
                  <a:lnTo>
                    <a:pt x="19" y="40"/>
                  </a:lnTo>
                  <a:lnTo>
                    <a:pt x="19" y="42"/>
                  </a:lnTo>
                  <a:lnTo>
                    <a:pt x="15" y="46"/>
                  </a:lnTo>
                  <a:lnTo>
                    <a:pt x="15" y="46"/>
                  </a:lnTo>
                  <a:lnTo>
                    <a:pt x="13" y="47"/>
                  </a:lnTo>
                  <a:lnTo>
                    <a:pt x="13" y="51"/>
                  </a:lnTo>
                  <a:lnTo>
                    <a:pt x="10" y="65"/>
                  </a:lnTo>
                  <a:lnTo>
                    <a:pt x="10" y="67"/>
                  </a:lnTo>
                  <a:lnTo>
                    <a:pt x="8" y="68"/>
                  </a:lnTo>
                  <a:lnTo>
                    <a:pt x="8" y="67"/>
                  </a:lnTo>
                  <a:lnTo>
                    <a:pt x="8" y="67"/>
                  </a:lnTo>
                  <a:lnTo>
                    <a:pt x="6" y="68"/>
                  </a:lnTo>
                  <a:lnTo>
                    <a:pt x="6" y="68"/>
                  </a:lnTo>
                  <a:lnTo>
                    <a:pt x="6" y="70"/>
                  </a:lnTo>
                  <a:lnTo>
                    <a:pt x="6" y="70"/>
                  </a:lnTo>
                  <a:lnTo>
                    <a:pt x="8" y="72"/>
                  </a:lnTo>
                  <a:lnTo>
                    <a:pt x="6" y="72"/>
                  </a:lnTo>
                  <a:lnTo>
                    <a:pt x="6" y="74"/>
                  </a:lnTo>
                  <a:lnTo>
                    <a:pt x="4" y="74"/>
                  </a:lnTo>
                  <a:lnTo>
                    <a:pt x="4" y="76"/>
                  </a:lnTo>
                  <a:lnTo>
                    <a:pt x="2" y="80"/>
                  </a:lnTo>
                  <a:lnTo>
                    <a:pt x="2" y="82"/>
                  </a:lnTo>
                  <a:lnTo>
                    <a:pt x="2" y="84"/>
                  </a:lnTo>
                  <a:lnTo>
                    <a:pt x="2" y="84"/>
                  </a:lnTo>
                  <a:lnTo>
                    <a:pt x="2" y="86"/>
                  </a:lnTo>
                  <a:lnTo>
                    <a:pt x="4" y="87"/>
                  </a:lnTo>
                  <a:lnTo>
                    <a:pt x="2" y="87"/>
                  </a:lnTo>
                  <a:lnTo>
                    <a:pt x="2" y="87"/>
                  </a:lnTo>
                  <a:lnTo>
                    <a:pt x="0" y="89"/>
                  </a:lnTo>
                  <a:lnTo>
                    <a:pt x="0" y="89"/>
                  </a:lnTo>
                  <a:lnTo>
                    <a:pt x="0" y="91"/>
                  </a:lnTo>
                  <a:lnTo>
                    <a:pt x="0" y="91"/>
                  </a:lnTo>
                  <a:lnTo>
                    <a:pt x="0" y="93"/>
                  </a:lnTo>
                  <a:lnTo>
                    <a:pt x="0" y="95"/>
                  </a:lnTo>
                  <a:lnTo>
                    <a:pt x="0" y="95"/>
                  </a:lnTo>
                  <a:lnTo>
                    <a:pt x="0" y="95"/>
                  </a:lnTo>
                  <a:lnTo>
                    <a:pt x="0" y="97"/>
                  </a:lnTo>
                  <a:lnTo>
                    <a:pt x="4" y="97"/>
                  </a:lnTo>
                  <a:lnTo>
                    <a:pt x="6" y="97"/>
                  </a:lnTo>
                  <a:lnTo>
                    <a:pt x="4" y="99"/>
                  </a:lnTo>
                  <a:lnTo>
                    <a:pt x="0" y="103"/>
                  </a:lnTo>
                  <a:lnTo>
                    <a:pt x="0" y="105"/>
                  </a:lnTo>
                  <a:lnTo>
                    <a:pt x="0" y="105"/>
                  </a:lnTo>
                  <a:lnTo>
                    <a:pt x="4" y="105"/>
                  </a:lnTo>
                  <a:lnTo>
                    <a:pt x="6" y="105"/>
                  </a:lnTo>
                  <a:lnTo>
                    <a:pt x="8" y="105"/>
                  </a:lnTo>
                  <a:lnTo>
                    <a:pt x="8" y="106"/>
                  </a:lnTo>
                  <a:lnTo>
                    <a:pt x="8" y="106"/>
                  </a:lnTo>
                  <a:lnTo>
                    <a:pt x="6" y="108"/>
                  </a:lnTo>
                  <a:lnTo>
                    <a:pt x="6" y="108"/>
                  </a:lnTo>
                  <a:lnTo>
                    <a:pt x="6" y="110"/>
                  </a:lnTo>
                  <a:lnTo>
                    <a:pt x="6" y="112"/>
                  </a:lnTo>
                  <a:lnTo>
                    <a:pt x="6" y="114"/>
                  </a:lnTo>
                  <a:lnTo>
                    <a:pt x="8" y="114"/>
                  </a:lnTo>
                  <a:lnTo>
                    <a:pt x="8" y="116"/>
                  </a:lnTo>
                  <a:lnTo>
                    <a:pt x="8" y="118"/>
                  </a:lnTo>
                  <a:lnTo>
                    <a:pt x="6" y="118"/>
                  </a:lnTo>
                  <a:lnTo>
                    <a:pt x="6" y="120"/>
                  </a:lnTo>
                  <a:lnTo>
                    <a:pt x="8" y="135"/>
                  </a:lnTo>
                  <a:lnTo>
                    <a:pt x="8" y="135"/>
                  </a:lnTo>
                  <a:lnTo>
                    <a:pt x="6" y="137"/>
                  </a:lnTo>
                  <a:lnTo>
                    <a:pt x="6" y="137"/>
                  </a:lnTo>
                  <a:lnTo>
                    <a:pt x="6" y="137"/>
                  </a:lnTo>
                  <a:lnTo>
                    <a:pt x="6" y="137"/>
                  </a:lnTo>
                  <a:lnTo>
                    <a:pt x="8" y="137"/>
                  </a:lnTo>
                  <a:lnTo>
                    <a:pt x="8" y="139"/>
                  </a:lnTo>
                  <a:lnTo>
                    <a:pt x="8" y="139"/>
                  </a:lnTo>
                  <a:lnTo>
                    <a:pt x="10" y="144"/>
                  </a:lnTo>
                  <a:lnTo>
                    <a:pt x="12" y="148"/>
                  </a:lnTo>
                  <a:lnTo>
                    <a:pt x="12" y="150"/>
                  </a:lnTo>
                  <a:lnTo>
                    <a:pt x="10" y="150"/>
                  </a:lnTo>
                  <a:lnTo>
                    <a:pt x="10" y="152"/>
                  </a:lnTo>
                  <a:lnTo>
                    <a:pt x="13" y="154"/>
                  </a:lnTo>
                  <a:lnTo>
                    <a:pt x="13" y="156"/>
                  </a:lnTo>
                  <a:lnTo>
                    <a:pt x="13" y="158"/>
                  </a:lnTo>
                  <a:lnTo>
                    <a:pt x="13" y="158"/>
                  </a:lnTo>
                  <a:lnTo>
                    <a:pt x="13" y="158"/>
                  </a:lnTo>
                  <a:lnTo>
                    <a:pt x="13" y="160"/>
                  </a:lnTo>
                  <a:lnTo>
                    <a:pt x="12" y="162"/>
                  </a:lnTo>
                  <a:lnTo>
                    <a:pt x="13" y="165"/>
                  </a:lnTo>
                  <a:lnTo>
                    <a:pt x="13" y="167"/>
                  </a:lnTo>
                  <a:lnTo>
                    <a:pt x="13" y="169"/>
                  </a:lnTo>
                  <a:lnTo>
                    <a:pt x="15" y="171"/>
                  </a:lnTo>
                  <a:lnTo>
                    <a:pt x="23" y="179"/>
                  </a:lnTo>
                  <a:lnTo>
                    <a:pt x="23" y="179"/>
                  </a:lnTo>
                  <a:lnTo>
                    <a:pt x="23" y="181"/>
                  </a:lnTo>
                  <a:lnTo>
                    <a:pt x="23" y="183"/>
                  </a:lnTo>
                  <a:lnTo>
                    <a:pt x="23" y="183"/>
                  </a:lnTo>
                  <a:lnTo>
                    <a:pt x="25" y="186"/>
                  </a:lnTo>
                  <a:lnTo>
                    <a:pt x="25" y="188"/>
                  </a:lnTo>
                  <a:lnTo>
                    <a:pt x="25" y="188"/>
                  </a:lnTo>
                  <a:lnTo>
                    <a:pt x="25" y="188"/>
                  </a:lnTo>
                  <a:lnTo>
                    <a:pt x="25" y="190"/>
                  </a:lnTo>
                  <a:lnTo>
                    <a:pt x="25" y="190"/>
                  </a:lnTo>
                  <a:lnTo>
                    <a:pt x="23" y="192"/>
                  </a:lnTo>
                  <a:lnTo>
                    <a:pt x="23" y="192"/>
                  </a:lnTo>
                  <a:lnTo>
                    <a:pt x="21" y="192"/>
                  </a:lnTo>
                  <a:lnTo>
                    <a:pt x="21" y="194"/>
                  </a:lnTo>
                  <a:lnTo>
                    <a:pt x="21" y="194"/>
                  </a:lnTo>
                  <a:lnTo>
                    <a:pt x="25" y="200"/>
                  </a:lnTo>
                  <a:lnTo>
                    <a:pt x="25" y="200"/>
                  </a:lnTo>
                  <a:lnTo>
                    <a:pt x="25" y="202"/>
                  </a:lnTo>
                  <a:lnTo>
                    <a:pt x="27" y="202"/>
                  </a:lnTo>
                  <a:lnTo>
                    <a:pt x="27" y="202"/>
                  </a:lnTo>
                  <a:lnTo>
                    <a:pt x="29" y="203"/>
                  </a:lnTo>
                  <a:lnTo>
                    <a:pt x="29" y="203"/>
                  </a:lnTo>
                  <a:lnTo>
                    <a:pt x="29" y="205"/>
                  </a:lnTo>
                  <a:lnTo>
                    <a:pt x="29" y="205"/>
                  </a:lnTo>
                  <a:lnTo>
                    <a:pt x="29" y="205"/>
                  </a:lnTo>
                  <a:lnTo>
                    <a:pt x="31" y="205"/>
                  </a:lnTo>
                  <a:lnTo>
                    <a:pt x="31" y="205"/>
                  </a:lnTo>
                  <a:lnTo>
                    <a:pt x="33" y="205"/>
                  </a:lnTo>
                  <a:lnTo>
                    <a:pt x="33" y="205"/>
                  </a:lnTo>
                  <a:lnTo>
                    <a:pt x="33" y="205"/>
                  </a:lnTo>
                  <a:lnTo>
                    <a:pt x="33" y="207"/>
                  </a:lnTo>
                  <a:lnTo>
                    <a:pt x="33" y="207"/>
                  </a:lnTo>
                  <a:lnTo>
                    <a:pt x="33" y="209"/>
                  </a:lnTo>
                  <a:lnTo>
                    <a:pt x="34" y="209"/>
                  </a:lnTo>
                  <a:lnTo>
                    <a:pt x="36" y="209"/>
                  </a:lnTo>
                  <a:lnTo>
                    <a:pt x="36" y="209"/>
                  </a:lnTo>
                  <a:lnTo>
                    <a:pt x="36" y="209"/>
                  </a:lnTo>
                  <a:lnTo>
                    <a:pt x="36" y="213"/>
                  </a:lnTo>
                  <a:lnTo>
                    <a:pt x="38" y="213"/>
                  </a:lnTo>
                  <a:lnTo>
                    <a:pt x="40" y="213"/>
                  </a:lnTo>
                  <a:lnTo>
                    <a:pt x="38" y="219"/>
                  </a:lnTo>
                  <a:lnTo>
                    <a:pt x="36" y="221"/>
                  </a:lnTo>
                  <a:lnTo>
                    <a:pt x="38" y="222"/>
                  </a:lnTo>
                  <a:lnTo>
                    <a:pt x="38" y="224"/>
                  </a:lnTo>
                  <a:lnTo>
                    <a:pt x="38" y="224"/>
                  </a:lnTo>
                  <a:lnTo>
                    <a:pt x="40" y="226"/>
                  </a:lnTo>
                  <a:lnTo>
                    <a:pt x="40" y="226"/>
                  </a:lnTo>
                  <a:lnTo>
                    <a:pt x="42" y="226"/>
                  </a:lnTo>
                  <a:lnTo>
                    <a:pt x="44" y="228"/>
                  </a:lnTo>
                  <a:lnTo>
                    <a:pt x="44" y="228"/>
                  </a:lnTo>
                  <a:lnTo>
                    <a:pt x="42" y="228"/>
                  </a:lnTo>
                  <a:lnTo>
                    <a:pt x="42" y="230"/>
                  </a:lnTo>
                  <a:lnTo>
                    <a:pt x="42" y="230"/>
                  </a:lnTo>
                  <a:lnTo>
                    <a:pt x="42" y="230"/>
                  </a:lnTo>
                  <a:lnTo>
                    <a:pt x="40" y="232"/>
                  </a:lnTo>
                  <a:lnTo>
                    <a:pt x="40" y="232"/>
                  </a:lnTo>
                  <a:lnTo>
                    <a:pt x="40" y="232"/>
                  </a:lnTo>
                  <a:lnTo>
                    <a:pt x="40" y="234"/>
                  </a:lnTo>
                  <a:lnTo>
                    <a:pt x="42" y="234"/>
                  </a:lnTo>
                  <a:lnTo>
                    <a:pt x="44" y="234"/>
                  </a:lnTo>
                  <a:lnTo>
                    <a:pt x="40" y="236"/>
                  </a:lnTo>
                  <a:lnTo>
                    <a:pt x="40" y="238"/>
                  </a:lnTo>
                  <a:lnTo>
                    <a:pt x="40" y="241"/>
                  </a:lnTo>
                  <a:lnTo>
                    <a:pt x="40" y="243"/>
                  </a:lnTo>
                  <a:lnTo>
                    <a:pt x="36" y="241"/>
                  </a:lnTo>
                  <a:lnTo>
                    <a:pt x="38" y="243"/>
                  </a:lnTo>
                  <a:lnTo>
                    <a:pt x="38" y="245"/>
                  </a:lnTo>
                  <a:lnTo>
                    <a:pt x="36" y="249"/>
                  </a:lnTo>
                  <a:lnTo>
                    <a:pt x="38" y="249"/>
                  </a:lnTo>
                  <a:lnTo>
                    <a:pt x="40" y="251"/>
                  </a:lnTo>
                  <a:lnTo>
                    <a:pt x="40" y="251"/>
                  </a:lnTo>
                  <a:lnTo>
                    <a:pt x="42" y="253"/>
                  </a:lnTo>
                  <a:lnTo>
                    <a:pt x="42" y="257"/>
                  </a:lnTo>
                  <a:lnTo>
                    <a:pt x="42" y="259"/>
                  </a:lnTo>
                  <a:lnTo>
                    <a:pt x="40" y="261"/>
                  </a:lnTo>
                  <a:lnTo>
                    <a:pt x="40" y="261"/>
                  </a:lnTo>
                  <a:lnTo>
                    <a:pt x="38" y="262"/>
                  </a:lnTo>
                  <a:lnTo>
                    <a:pt x="38" y="264"/>
                  </a:lnTo>
                  <a:lnTo>
                    <a:pt x="36" y="266"/>
                  </a:lnTo>
                  <a:lnTo>
                    <a:pt x="36" y="266"/>
                  </a:lnTo>
                  <a:lnTo>
                    <a:pt x="34" y="264"/>
                  </a:lnTo>
                  <a:lnTo>
                    <a:pt x="34" y="264"/>
                  </a:lnTo>
                  <a:lnTo>
                    <a:pt x="33" y="264"/>
                  </a:lnTo>
                  <a:lnTo>
                    <a:pt x="31" y="268"/>
                  </a:lnTo>
                  <a:lnTo>
                    <a:pt x="31" y="268"/>
                  </a:lnTo>
                  <a:lnTo>
                    <a:pt x="27" y="268"/>
                  </a:lnTo>
                  <a:lnTo>
                    <a:pt x="25" y="270"/>
                  </a:lnTo>
                  <a:lnTo>
                    <a:pt x="25" y="270"/>
                  </a:lnTo>
                  <a:lnTo>
                    <a:pt x="25" y="270"/>
                  </a:lnTo>
                  <a:lnTo>
                    <a:pt x="23" y="270"/>
                  </a:lnTo>
                  <a:lnTo>
                    <a:pt x="23" y="270"/>
                  </a:lnTo>
                  <a:lnTo>
                    <a:pt x="23" y="272"/>
                  </a:lnTo>
                  <a:lnTo>
                    <a:pt x="19" y="274"/>
                  </a:lnTo>
                  <a:lnTo>
                    <a:pt x="21" y="278"/>
                  </a:lnTo>
                  <a:lnTo>
                    <a:pt x="21" y="280"/>
                  </a:lnTo>
                  <a:lnTo>
                    <a:pt x="21" y="283"/>
                  </a:lnTo>
                  <a:lnTo>
                    <a:pt x="21" y="283"/>
                  </a:lnTo>
                  <a:lnTo>
                    <a:pt x="21" y="283"/>
                  </a:lnTo>
                  <a:lnTo>
                    <a:pt x="21" y="283"/>
                  </a:lnTo>
                  <a:lnTo>
                    <a:pt x="23" y="283"/>
                  </a:lnTo>
                  <a:lnTo>
                    <a:pt x="23" y="285"/>
                  </a:lnTo>
                  <a:lnTo>
                    <a:pt x="23" y="285"/>
                  </a:lnTo>
                  <a:lnTo>
                    <a:pt x="25" y="285"/>
                  </a:lnTo>
                  <a:lnTo>
                    <a:pt x="25" y="287"/>
                  </a:lnTo>
                  <a:lnTo>
                    <a:pt x="25" y="289"/>
                  </a:lnTo>
                  <a:lnTo>
                    <a:pt x="25" y="291"/>
                  </a:lnTo>
                  <a:lnTo>
                    <a:pt x="25" y="291"/>
                  </a:lnTo>
                  <a:lnTo>
                    <a:pt x="23" y="291"/>
                  </a:lnTo>
                  <a:lnTo>
                    <a:pt x="23" y="293"/>
                  </a:lnTo>
                  <a:lnTo>
                    <a:pt x="23" y="293"/>
                  </a:lnTo>
                  <a:lnTo>
                    <a:pt x="23" y="293"/>
                  </a:lnTo>
                  <a:lnTo>
                    <a:pt x="23" y="295"/>
                  </a:lnTo>
                  <a:lnTo>
                    <a:pt x="25" y="295"/>
                  </a:lnTo>
                  <a:lnTo>
                    <a:pt x="25" y="295"/>
                  </a:lnTo>
                  <a:lnTo>
                    <a:pt x="25" y="297"/>
                  </a:lnTo>
                  <a:lnTo>
                    <a:pt x="25" y="297"/>
                  </a:lnTo>
                  <a:lnTo>
                    <a:pt x="25" y="299"/>
                  </a:lnTo>
                  <a:lnTo>
                    <a:pt x="25" y="299"/>
                  </a:lnTo>
                  <a:lnTo>
                    <a:pt x="25" y="300"/>
                  </a:lnTo>
                  <a:lnTo>
                    <a:pt x="25" y="302"/>
                  </a:lnTo>
                  <a:lnTo>
                    <a:pt x="31" y="306"/>
                  </a:lnTo>
                  <a:lnTo>
                    <a:pt x="31" y="308"/>
                  </a:lnTo>
                  <a:lnTo>
                    <a:pt x="33" y="310"/>
                  </a:lnTo>
                  <a:lnTo>
                    <a:pt x="33" y="314"/>
                  </a:lnTo>
                  <a:lnTo>
                    <a:pt x="34" y="316"/>
                  </a:lnTo>
                  <a:lnTo>
                    <a:pt x="34" y="316"/>
                  </a:lnTo>
                  <a:lnTo>
                    <a:pt x="36" y="318"/>
                  </a:lnTo>
                  <a:lnTo>
                    <a:pt x="36" y="318"/>
                  </a:lnTo>
                  <a:lnTo>
                    <a:pt x="36" y="318"/>
                  </a:lnTo>
                  <a:lnTo>
                    <a:pt x="38" y="318"/>
                  </a:lnTo>
                  <a:lnTo>
                    <a:pt x="40" y="318"/>
                  </a:lnTo>
                  <a:lnTo>
                    <a:pt x="40" y="319"/>
                  </a:lnTo>
                  <a:lnTo>
                    <a:pt x="46" y="323"/>
                  </a:lnTo>
                  <a:lnTo>
                    <a:pt x="46" y="323"/>
                  </a:lnTo>
                  <a:lnTo>
                    <a:pt x="46" y="323"/>
                  </a:lnTo>
                  <a:lnTo>
                    <a:pt x="48" y="323"/>
                  </a:lnTo>
                  <a:lnTo>
                    <a:pt x="50" y="323"/>
                  </a:lnTo>
                  <a:lnTo>
                    <a:pt x="50" y="323"/>
                  </a:lnTo>
                  <a:lnTo>
                    <a:pt x="50" y="325"/>
                  </a:lnTo>
                  <a:lnTo>
                    <a:pt x="50" y="325"/>
                  </a:lnTo>
                  <a:lnTo>
                    <a:pt x="50" y="327"/>
                  </a:lnTo>
                  <a:lnTo>
                    <a:pt x="50" y="329"/>
                  </a:lnTo>
                  <a:lnTo>
                    <a:pt x="52" y="329"/>
                  </a:lnTo>
                  <a:lnTo>
                    <a:pt x="52" y="331"/>
                  </a:lnTo>
                  <a:lnTo>
                    <a:pt x="52" y="333"/>
                  </a:lnTo>
                  <a:lnTo>
                    <a:pt x="53" y="335"/>
                  </a:lnTo>
                  <a:lnTo>
                    <a:pt x="53" y="335"/>
                  </a:lnTo>
                  <a:lnTo>
                    <a:pt x="53" y="335"/>
                  </a:lnTo>
                  <a:lnTo>
                    <a:pt x="53" y="335"/>
                  </a:lnTo>
                  <a:lnTo>
                    <a:pt x="55" y="337"/>
                  </a:lnTo>
                  <a:lnTo>
                    <a:pt x="53" y="338"/>
                  </a:lnTo>
                  <a:lnTo>
                    <a:pt x="52" y="340"/>
                  </a:lnTo>
                  <a:lnTo>
                    <a:pt x="50" y="340"/>
                  </a:lnTo>
                  <a:lnTo>
                    <a:pt x="50" y="342"/>
                  </a:lnTo>
                  <a:lnTo>
                    <a:pt x="50" y="342"/>
                  </a:lnTo>
                  <a:lnTo>
                    <a:pt x="48" y="344"/>
                  </a:lnTo>
                  <a:lnTo>
                    <a:pt x="48" y="344"/>
                  </a:lnTo>
                  <a:lnTo>
                    <a:pt x="42" y="346"/>
                  </a:lnTo>
                  <a:lnTo>
                    <a:pt x="40" y="346"/>
                  </a:lnTo>
                  <a:lnTo>
                    <a:pt x="40" y="348"/>
                  </a:lnTo>
                  <a:lnTo>
                    <a:pt x="40" y="348"/>
                  </a:lnTo>
                  <a:lnTo>
                    <a:pt x="40" y="348"/>
                  </a:lnTo>
                  <a:lnTo>
                    <a:pt x="40" y="348"/>
                  </a:lnTo>
                  <a:lnTo>
                    <a:pt x="40" y="350"/>
                  </a:lnTo>
                  <a:lnTo>
                    <a:pt x="40" y="350"/>
                  </a:lnTo>
                  <a:lnTo>
                    <a:pt x="42" y="350"/>
                  </a:lnTo>
                  <a:lnTo>
                    <a:pt x="42" y="350"/>
                  </a:lnTo>
                  <a:lnTo>
                    <a:pt x="42" y="350"/>
                  </a:lnTo>
                  <a:lnTo>
                    <a:pt x="44" y="350"/>
                  </a:lnTo>
                  <a:lnTo>
                    <a:pt x="44" y="350"/>
                  </a:lnTo>
                  <a:lnTo>
                    <a:pt x="44" y="352"/>
                  </a:lnTo>
                  <a:lnTo>
                    <a:pt x="44" y="354"/>
                  </a:lnTo>
                  <a:lnTo>
                    <a:pt x="44" y="354"/>
                  </a:lnTo>
                  <a:lnTo>
                    <a:pt x="46" y="354"/>
                  </a:lnTo>
                  <a:lnTo>
                    <a:pt x="50" y="354"/>
                  </a:lnTo>
                  <a:lnTo>
                    <a:pt x="52" y="354"/>
                  </a:lnTo>
                  <a:lnTo>
                    <a:pt x="52" y="354"/>
                  </a:lnTo>
                  <a:lnTo>
                    <a:pt x="52" y="354"/>
                  </a:lnTo>
                  <a:lnTo>
                    <a:pt x="52" y="354"/>
                  </a:lnTo>
                  <a:lnTo>
                    <a:pt x="52" y="354"/>
                  </a:lnTo>
                  <a:lnTo>
                    <a:pt x="53" y="354"/>
                  </a:lnTo>
                  <a:lnTo>
                    <a:pt x="53" y="354"/>
                  </a:lnTo>
                  <a:lnTo>
                    <a:pt x="53" y="354"/>
                  </a:lnTo>
                  <a:lnTo>
                    <a:pt x="53" y="354"/>
                  </a:lnTo>
                  <a:lnTo>
                    <a:pt x="55" y="356"/>
                  </a:lnTo>
                  <a:lnTo>
                    <a:pt x="55" y="358"/>
                  </a:lnTo>
                  <a:lnTo>
                    <a:pt x="57" y="358"/>
                  </a:lnTo>
                  <a:lnTo>
                    <a:pt x="57" y="358"/>
                  </a:lnTo>
                  <a:lnTo>
                    <a:pt x="57" y="356"/>
                  </a:lnTo>
                  <a:lnTo>
                    <a:pt x="57" y="356"/>
                  </a:lnTo>
                  <a:lnTo>
                    <a:pt x="59" y="356"/>
                  </a:lnTo>
                  <a:lnTo>
                    <a:pt x="59" y="356"/>
                  </a:lnTo>
                  <a:lnTo>
                    <a:pt x="59" y="356"/>
                  </a:lnTo>
                  <a:lnTo>
                    <a:pt x="61" y="356"/>
                  </a:lnTo>
                  <a:lnTo>
                    <a:pt x="61" y="358"/>
                  </a:lnTo>
                  <a:lnTo>
                    <a:pt x="59" y="358"/>
                  </a:lnTo>
                  <a:lnTo>
                    <a:pt x="59" y="359"/>
                  </a:lnTo>
                  <a:lnTo>
                    <a:pt x="53" y="359"/>
                  </a:lnTo>
                  <a:lnTo>
                    <a:pt x="52" y="359"/>
                  </a:lnTo>
                  <a:lnTo>
                    <a:pt x="36" y="367"/>
                  </a:lnTo>
                  <a:lnTo>
                    <a:pt x="33" y="369"/>
                  </a:lnTo>
                  <a:lnTo>
                    <a:pt x="33" y="371"/>
                  </a:lnTo>
                  <a:lnTo>
                    <a:pt x="31" y="371"/>
                  </a:lnTo>
                  <a:lnTo>
                    <a:pt x="31" y="373"/>
                  </a:lnTo>
                  <a:lnTo>
                    <a:pt x="31" y="373"/>
                  </a:lnTo>
                  <a:lnTo>
                    <a:pt x="31" y="375"/>
                  </a:lnTo>
                  <a:lnTo>
                    <a:pt x="31" y="377"/>
                  </a:lnTo>
                  <a:lnTo>
                    <a:pt x="31" y="380"/>
                  </a:lnTo>
                  <a:lnTo>
                    <a:pt x="31" y="380"/>
                  </a:lnTo>
                  <a:lnTo>
                    <a:pt x="31" y="380"/>
                  </a:lnTo>
                  <a:lnTo>
                    <a:pt x="31" y="380"/>
                  </a:lnTo>
                  <a:lnTo>
                    <a:pt x="34" y="380"/>
                  </a:lnTo>
                  <a:lnTo>
                    <a:pt x="34" y="378"/>
                  </a:lnTo>
                  <a:lnTo>
                    <a:pt x="36" y="378"/>
                  </a:lnTo>
                  <a:lnTo>
                    <a:pt x="36" y="375"/>
                  </a:lnTo>
                  <a:lnTo>
                    <a:pt x="38" y="375"/>
                  </a:lnTo>
                  <a:lnTo>
                    <a:pt x="38" y="375"/>
                  </a:lnTo>
                  <a:lnTo>
                    <a:pt x="40" y="375"/>
                  </a:lnTo>
                  <a:lnTo>
                    <a:pt x="40" y="375"/>
                  </a:lnTo>
                  <a:lnTo>
                    <a:pt x="40" y="375"/>
                  </a:lnTo>
                  <a:lnTo>
                    <a:pt x="53" y="369"/>
                  </a:lnTo>
                  <a:lnTo>
                    <a:pt x="55" y="369"/>
                  </a:lnTo>
                  <a:lnTo>
                    <a:pt x="57" y="365"/>
                  </a:lnTo>
                  <a:lnTo>
                    <a:pt x="59" y="365"/>
                  </a:lnTo>
                  <a:lnTo>
                    <a:pt x="61" y="365"/>
                  </a:lnTo>
                  <a:lnTo>
                    <a:pt x="61" y="365"/>
                  </a:lnTo>
                  <a:lnTo>
                    <a:pt x="65" y="365"/>
                  </a:lnTo>
                  <a:lnTo>
                    <a:pt x="71" y="365"/>
                  </a:lnTo>
                  <a:lnTo>
                    <a:pt x="71" y="367"/>
                  </a:lnTo>
                  <a:lnTo>
                    <a:pt x="71" y="367"/>
                  </a:lnTo>
                  <a:lnTo>
                    <a:pt x="73" y="367"/>
                  </a:lnTo>
                  <a:lnTo>
                    <a:pt x="73" y="367"/>
                  </a:lnTo>
                  <a:lnTo>
                    <a:pt x="73" y="367"/>
                  </a:lnTo>
                  <a:lnTo>
                    <a:pt x="73" y="367"/>
                  </a:lnTo>
                  <a:lnTo>
                    <a:pt x="74" y="367"/>
                  </a:lnTo>
                  <a:lnTo>
                    <a:pt x="74" y="367"/>
                  </a:lnTo>
                  <a:lnTo>
                    <a:pt x="76" y="367"/>
                  </a:lnTo>
                  <a:lnTo>
                    <a:pt x="78" y="367"/>
                  </a:lnTo>
                  <a:lnTo>
                    <a:pt x="84" y="367"/>
                  </a:lnTo>
                  <a:lnTo>
                    <a:pt x="86" y="367"/>
                  </a:lnTo>
                  <a:lnTo>
                    <a:pt x="86" y="369"/>
                  </a:lnTo>
                  <a:lnTo>
                    <a:pt x="86" y="369"/>
                  </a:lnTo>
                  <a:lnTo>
                    <a:pt x="86" y="371"/>
                  </a:lnTo>
                  <a:lnTo>
                    <a:pt x="86" y="371"/>
                  </a:lnTo>
                  <a:lnTo>
                    <a:pt x="88" y="371"/>
                  </a:lnTo>
                  <a:lnTo>
                    <a:pt x="88" y="371"/>
                  </a:lnTo>
                  <a:lnTo>
                    <a:pt x="88" y="371"/>
                  </a:lnTo>
                  <a:lnTo>
                    <a:pt x="88" y="371"/>
                  </a:lnTo>
                  <a:lnTo>
                    <a:pt x="88" y="369"/>
                  </a:lnTo>
                  <a:lnTo>
                    <a:pt x="88" y="367"/>
                  </a:lnTo>
                  <a:lnTo>
                    <a:pt x="88" y="367"/>
                  </a:lnTo>
                  <a:lnTo>
                    <a:pt x="90" y="367"/>
                  </a:lnTo>
                  <a:lnTo>
                    <a:pt x="90" y="367"/>
                  </a:lnTo>
                  <a:lnTo>
                    <a:pt x="92" y="367"/>
                  </a:lnTo>
                  <a:lnTo>
                    <a:pt x="92" y="367"/>
                  </a:lnTo>
                  <a:lnTo>
                    <a:pt x="93" y="367"/>
                  </a:lnTo>
                  <a:lnTo>
                    <a:pt x="93" y="365"/>
                  </a:lnTo>
                  <a:lnTo>
                    <a:pt x="93" y="365"/>
                  </a:lnTo>
                  <a:lnTo>
                    <a:pt x="93" y="365"/>
                  </a:lnTo>
                  <a:lnTo>
                    <a:pt x="95" y="363"/>
                  </a:lnTo>
                  <a:lnTo>
                    <a:pt x="95" y="363"/>
                  </a:lnTo>
                  <a:lnTo>
                    <a:pt x="97" y="363"/>
                  </a:lnTo>
                  <a:lnTo>
                    <a:pt x="101" y="363"/>
                  </a:lnTo>
                  <a:lnTo>
                    <a:pt x="101" y="363"/>
                  </a:lnTo>
                  <a:lnTo>
                    <a:pt x="103" y="363"/>
                  </a:lnTo>
                  <a:lnTo>
                    <a:pt x="103" y="363"/>
                  </a:lnTo>
                  <a:lnTo>
                    <a:pt x="105" y="363"/>
                  </a:lnTo>
                  <a:lnTo>
                    <a:pt x="107" y="363"/>
                  </a:lnTo>
                  <a:lnTo>
                    <a:pt x="107" y="365"/>
                  </a:lnTo>
                  <a:lnTo>
                    <a:pt x="109" y="365"/>
                  </a:lnTo>
                  <a:lnTo>
                    <a:pt x="109" y="365"/>
                  </a:lnTo>
                  <a:lnTo>
                    <a:pt x="109" y="365"/>
                  </a:lnTo>
                  <a:lnTo>
                    <a:pt x="109" y="367"/>
                  </a:lnTo>
                  <a:lnTo>
                    <a:pt x="109" y="367"/>
                  </a:lnTo>
                  <a:lnTo>
                    <a:pt x="105" y="369"/>
                  </a:lnTo>
                  <a:lnTo>
                    <a:pt x="105" y="371"/>
                  </a:lnTo>
                  <a:lnTo>
                    <a:pt x="103" y="371"/>
                  </a:lnTo>
                  <a:lnTo>
                    <a:pt x="103" y="371"/>
                  </a:lnTo>
                  <a:lnTo>
                    <a:pt x="103" y="371"/>
                  </a:lnTo>
                  <a:lnTo>
                    <a:pt x="103" y="371"/>
                  </a:lnTo>
                  <a:lnTo>
                    <a:pt x="103" y="371"/>
                  </a:lnTo>
                  <a:lnTo>
                    <a:pt x="103" y="373"/>
                  </a:lnTo>
                  <a:lnTo>
                    <a:pt x="103" y="373"/>
                  </a:lnTo>
                  <a:lnTo>
                    <a:pt x="105" y="375"/>
                  </a:lnTo>
                  <a:lnTo>
                    <a:pt x="105" y="375"/>
                  </a:lnTo>
                  <a:lnTo>
                    <a:pt x="105" y="377"/>
                  </a:lnTo>
                  <a:lnTo>
                    <a:pt x="107" y="377"/>
                  </a:lnTo>
                  <a:lnTo>
                    <a:pt x="109" y="377"/>
                  </a:lnTo>
                  <a:lnTo>
                    <a:pt x="111" y="377"/>
                  </a:lnTo>
                  <a:lnTo>
                    <a:pt x="111" y="377"/>
                  </a:lnTo>
                  <a:lnTo>
                    <a:pt x="111" y="373"/>
                  </a:lnTo>
                  <a:lnTo>
                    <a:pt x="113" y="373"/>
                  </a:lnTo>
                  <a:lnTo>
                    <a:pt x="113" y="373"/>
                  </a:lnTo>
                  <a:lnTo>
                    <a:pt x="116" y="373"/>
                  </a:lnTo>
                  <a:lnTo>
                    <a:pt x="118" y="373"/>
                  </a:lnTo>
                  <a:lnTo>
                    <a:pt x="120" y="373"/>
                  </a:lnTo>
                  <a:lnTo>
                    <a:pt x="122" y="375"/>
                  </a:lnTo>
                  <a:lnTo>
                    <a:pt x="122" y="377"/>
                  </a:lnTo>
                  <a:lnTo>
                    <a:pt x="124" y="377"/>
                  </a:lnTo>
                  <a:lnTo>
                    <a:pt x="126" y="377"/>
                  </a:lnTo>
                  <a:lnTo>
                    <a:pt x="126" y="377"/>
                  </a:lnTo>
                  <a:lnTo>
                    <a:pt x="126" y="377"/>
                  </a:lnTo>
                  <a:lnTo>
                    <a:pt x="128" y="378"/>
                  </a:lnTo>
                  <a:lnTo>
                    <a:pt x="130" y="378"/>
                  </a:lnTo>
                  <a:lnTo>
                    <a:pt x="132" y="380"/>
                  </a:lnTo>
                  <a:lnTo>
                    <a:pt x="133" y="380"/>
                  </a:lnTo>
                  <a:lnTo>
                    <a:pt x="137" y="382"/>
                  </a:lnTo>
                  <a:lnTo>
                    <a:pt x="139" y="382"/>
                  </a:lnTo>
                  <a:lnTo>
                    <a:pt x="141" y="382"/>
                  </a:lnTo>
                  <a:lnTo>
                    <a:pt x="141" y="382"/>
                  </a:lnTo>
                  <a:lnTo>
                    <a:pt x="143" y="380"/>
                  </a:lnTo>
                  <a:lnTo>
                    <a:pt x="143" y="380"/>
                  </a:lnTo>
                  <a:lnTo>
                    <a:pt x="143" y="380"/>
                  </a:lnTo>
                  <a:lnTo>
                    <a:pt x="145" y="380"/>
                  </a:lnTo>
                  <a:lnTo>
                    <a:pt x="147" y="380"/>
                  </a:lnTo>
                  <a:lnTo>
                    <a:pt x="151" y="378"/>
                  </a:lnTo>
                  <a:lnTo>
                    <a:pt x="153" y="378"/>
                  </a:lnTo>
                  <a:lnTo>
                    <a:pt x="153" y="380"/>
                  </a:lnTo>
                  <a:lnTo>
                    <a:pt x="154" y="380"/>
                  </a:lnTo>
                  <a:lnTo>
                    <a:pt x="154" y="378"/>
                  </a:lnTo>
                  <a:lnTo>
                    <a:pt x="156" y="380"/>
                  </a:lnTo>
                  <a:lnTo>
                    <a:pt x="156" y="380"/>
                  </a:lnTo>
                  <a:lnTo>
                    <a:pt x="156" y="382"/>
                  </a:lnTo>
                  <a:lnTo>
                    <a:pt x="158" y="382"/>
                  </a:lnTo>
                  <a:lnTo>
                    <a:pt x="158" y="382"/>
                  </a:lnTo>
                  <a:lnTo>
                    <a:pt x="160" y="382"/>
                  </a:lnTo>
                  <a:lnTo>
                    <a:pt x="162" y="384"/>
                  </a:lnTo>
                  <a:lnTo>
                    <a:pt x="164" y="388"/>
                  </a:lnTo>
                  <a:lnTo>
                    <a:pt x="166" y="388"/>
                  </a:lnTo>
                  <a:lnTo>
                    <a:pt x="166" y="388"/>
                  </a:lnTo>
                  <a:lnTo>
                    <a:pt x="170" y="388"/>
                  </a:lnTo>
                  <a:lnTo>
                    <a:pt x="172" y="388"/>
                  </a:lnTo>
                  <a:lnTo>
                    <a:pt x="172" y="388"/>
                  </a:lnTo>
                  <a:lnTo>
                    <a:pt x="174" y="390"/>
                  </a:lnTo>
                  <a:lnTo>
                    <a:pt x="174" y="390"/>
                  </a:lnTo>
                  <a:lnTo>
                    <a:pt x="174" y="392"/>
                  </a:lnTo>
                  <a:lnTo>
                    <a:pt x="174" y="392"/>
                  </a:lnTo>
                  <a:lnTo>
                    <a:pt x="174" y="392"/>
                  </a:lnTo>
                  <a:lnTo>
                    <a:pt x="174" y="396"/>
                  </a:lnTo>
                  <a:lnTo>
                    <a:pt x="175" y="399"/>
                  </a:lnTo>
                  <a:lnTo>
                    <a:pt x="175" y="401"/>
                  </a:lnTo>
                  <a:lnTo>
                    <a:pt x="181" y="409"/>
                  </a:lnTo>
                  <a:lnTo>
                    <a:pt x="183" y="413"/>
                  </a:lnTo>
                  <a:lnTo>
                    <a:pt x="183" y="415"/>
                  </a:lnTo>
                  <a:lnTo>
                    <a:pt x="183" y="418"/>
                  </a:lnTo>
                  <a:lnTo>
                    <a:pt x="183" y="422"/>
                  </a:lnTo>
                  <a:lnTo>
                    <a:pt x="183" y="422"/>
                  </a:lnTo>
                  <a:lnTo>
                    <a:pt x="183" y="424"/>
                  </a:lnTo>
                  <a:lnTo>
                    <a:pt x="183" y="424"/>
                  </a:lnTo>
                  <a:lnTo>
                    <a:pt x="185" y="424"/>
                  </a:lnTo>
                  <a:lnTo>
                    <a:pt x="185" y="424"/>
                  </a:lnTo>
                  <a:lnTo>
                    <a:pt x="183" y="426"/>
                  </a:lnTo>
                  <a:lnTo>
                    <a:pt x="181" y="428"/>
                  </a:lnTo>
                  <a:lnTo>
                    <a:pt x="181" y="430"/>
                  </a:lnTo>
                  <a:lnTo>
                    <a:pt x="181" y="430"/>
                  </a:lnTo>
                  <a:lnTo>
                    <a:pt x="179" y="432"/>
                  </a:lnTo>
                  <a:lnTo>
                    <a:pt x="177" y="432"/>
                  </a:lnTo>
                  <a:lnTo>
                    <a:pt x="175" y="432"/>
                  </a:lnTo>
                  <a:lnTo>
                    <a:pt x="175" y="432"/>
                  </a:lnTo>
                  <a:lnTo>
                    <a:pt x="174" y="432"/>
                  </a:lnTo>
                  <a:lnTo>
                    <a:pt x="174" y="434"/>
                  </a:lnTo>
                  <a:lnTo>
                    <a:pt x="174" y="434"/>
                  </a:lnTo>
                  <a:lnTo>
                    <a:pt x="174" y="435"/>
                  </a:lnTo>
                  <a:lnTo>
                    <a:pt x="174" y="437"/>
                  </a:lnTo>
                  <a:lnTo>
                    <a:pt x="174" y="437"/>
                  </a:lnTo>
                  <a:lnTo>
                    <a:pt x="174" y="439"/>
                  </a:lnTo>
                  <a:lnTo>
                    <a:pt x="175" y="441"/>
                  </a:lnTo>
                  <a:lnTo>
                    <a:pt x="174" y="441"/>
                  </a:lnTo>
                  <a:lnTo>
                    <a:pt x="174" y="441"/>
                  </a:lnTo>
                  <a:lnTo>
                    <a:pt x="172" y="443"/>
                  </a:lnTo>
                  <a:lnTo>
                    <a:pt x="172" y="443"/>
                  </a:lnTo>
                  <a:lnTo>
                    <a:pt x="172" y="443"/>
                  </a:lnTo>
                  <a:lnTo>
                    <a:pt x="172" y="445"/>
                  </a:lnTo>
                  <a:lnTo>
                    <a:pt x="172" y="447"/>
                  </a:lnTo>
                  <a:lnTo>
                    <a:pt x="172" y="447"/>
                  </a:lnTo>
                  <a:lnTo>
                    <a:pt x="174" y="449"/>
                  </a:lnTo>
                  <a:lnTo>
                    <a:pt x="174" y="449"/>
                  </a:lnTo>
                  <a:lnTo>
                    <a:pt x="174" y="451"/>
                  </a:lnTo>
                  <a:lnTo>
                    <a:pt x="174" y="451"/>
                  </a:lnTo>
                  <a:lnTo>
                    <a:pt x="170" y="456"/>
                  </a:lnTo>
                  <a:lnTo>
                    <a:pt x="168" y="460"/>
                  </a:lnTo>
                  <a:lnTo>
                    <a:pt x="168" y="462"/>
                  </a:lnTo>
                  <a:lnTo>
                    <a:pt x="168" y="464"/>
                  </a:lnTo>
                  <a:lnTo>
                    <a:pt x="168" y="466"/>
                  </a:lnTo>
                  <a:lnTo>
                    <a:pt x="164" y="470"/>
                  </a:lnTo>
                  <a:lnTo>
                    <a:pt x="162" y="474"/>
                  </a:lnTo>
                  <a:lnTo>
                    <a:pt x="160" y="477"/>
                  </a:lnTo>
                  <a:lnTo>
                    <a:pt x="158" y="479"/>
                  </a:lnTo>
                  <a:lnTo>
                    <a:pt x="158" y="479"/>
                  </a:lnTo>
                  <a:lnTo>
                    <a:pt x="156" y="479"/>
                  </a:lnTo>
                  <a:lnTo>
                    <a:pt x="154" y="481"/>
                  </a:lnTo>
                  <a:lnTo>
                    <a:pt x="154" y="481"/>
                  </a:lnTo>
                  <a:lnTo>
                    <a:pt x="154" y="483"/>
                  </a:lnTo>
                  <a:lnTo>
                    <a:pt x="154" y="485"/>
                  </a:lnTo>
                  <a:lnTo>
                    <a:pt x="153" y="487"/>
                  </a:lnTo>
                  <a:lnTo>
                    <a:pt x="153" y="487"/>
                  </a:lnTo>
                  <a:lnTo>
                    <a:pt x="153" y="489"/>
                  </a:lnTo>
                  <a:lnTo>
                    <a:pt x="154" y="489"/>
                  </a:lnTo>
                  <a:lnTo>
                    <a:pt x="154" y="491"/>
                  </a:lnTo>
                  <a:lnTo>
                    <a:pt x="156" y="493"/>
                  </a:lnTo>
                  <a:lnTo>
                    <a:pt x="156" y="494"/>
                  </a:lnTo>
                  <a:lnTo>
                    <a:pt x="156" y="494"/>
                  </a:lnTo>
                  <a:lnTo>
                    <a:pt x="156" y="496"/>
                  </a:lnTo>
                  <a:lnTo>
                    <a:pt x="156" y="496"/>
                  </a:lnTo>
                  <a:lnTo>
                    <a:pt x="156" y="496"/>
                  </a:lnTo>
                  <a:lnTo>
                    <a:pt x="154" y="496"/>
                  </a:lnTo>
                  <a:lnTo>
                    <a:pt x="153" y="498"/>
                  </a:lnTo>
                  <a:lnTo>
                    <a:pt x="143" y="500"/>
                  </a:lnTo>
                  <a:lnTo>
                    <a:pt x="139" y="502"/>
                  </a:lnTo>
                  <a:lnTo>
                    <a:pt x="139" y="504"/>
                  </a:lnTo>
                  <a:lnTo>
                    <a:pt x="137" y="504"/>
                  </a:lnTo>
                  <a:lnTo>
                    <a:pt x="137" y="504"/>
                  </a:lnTo>
                  <a:lnTo>
                    <a:pt x="135" y="504"/>
                  </a:lnTo>
                  <a:lnTo>
                    <a:pt x="132" y="504"/>
                  </a:lnTo>
                  <a:lnTo>
                    <a:pt x="132" y="504"/>
                  </a:lnTo>
                  <a:lnTo>
                    <a:pt x="128" y="504"/>
                  </a:lnTo>
                  <a:lnTo>
                    <a:pt x="120" y="506"/>
                  </a:lnTo>
                  <a:lnTo>
                    <a:pt x="118" y="508"/>
                  </a:lnTo>
                  <a:lnTo>
                    <a:pt x="118" y="513"/>
                  </a:lnTo>
                  <a:lnTo>
                    <a:pt x="116" y="515"/>
                  </a:lnTo>
                  <a:lnTo>
                    <a:pt x="111" y="521"/>
                  </a:lnTo>
                  <a:lnTo>
                    <a:pt x="111" y="521"/>
                  </a:lnTo>
                  <a:lnTo>
                    <a:pt x="109" y="523"/>
                  </a:lnTo>
                  <a:lnTo>
                    <a:pt x="109" y="523"/>
                  </a:lnTo>
                  <a:lnTo>
                    <a:pt x="111" y="525"/>
                  </a:lnTo>
                  <a:lnTo>
                    <a:pt x="111" y="527"/>
                  </a:lnTo>
                  <a:lnTo>
                    <a:pt x="113" y="527"/>
                  </a:lnTo>
                  <a:lnTo>
                    <a:pt x="114" y="529"/>
                  </a:lnTo>
                  <a:lnTo>
                    <a:pt x="118" y="540"/>
                  </a:lnTo>
                  <a:lnTo>
                    <a:pt x="120" y="542"/>
                  </a:lnTo>
                  <a:lnTo>
                    <a:pt x="120" y="542"/>
                  </a:lnTo>
                  <a:lnTo>
                    <a:pt x="120" y="544"/>
                  </a:lnTo>
                  <a:lnTo>
                    <a:pt x="120" y="546"/>
                  </a:lnTo>
                  <a:lnTo>
                    <a:pt x="118" y="548"/>
                  </a:lnTo>
                  <a:lnTo>
                    <a:pt x="118" y="550"/>
                  </a:lnTo>
                  <a:lnTo>
                    <a:pt x="118" y="551"/>
                  </a:lnTo>
                  <a:lnTo>
                    <a:pt x="116" y="553"/>
                  </a:lnTo>
                  <a:lnTo>
                    <a:pt x="116" y="553"/>
                  </a:lnTo>
                  <a:lnTo>
                    <a:pt x="116" y="555"/>
                  </a:lnTo>
                  <a:lnTo>
                    <a:pt x="118" y="557"/>
                  </a:lnTo>
                  <a:lnTo>
                    <a:pt x="116" y="561"/>
                  </a:lnTo>
                  <a:lnTo>
                    <a:pt x="116" y="563"/>
                  </a:lnTo>
                  <a:lnTo>
                    <a:pt x="114" y="565"/>
                  </a:lnTo>
                  <a:lnTo>
                    <a:pt x="111" y="569"/>
                  </a:lnTo>
                  <a:lnTo>
                    <a:pt x="107" y="571"/>
                  </a:lnTo>
                  <a:lnTo>
                    <a:pt x="103" y="574"/>
                  </a:lnTo>
                  <a:lnTo>
                    <a:pt x="101" y="574"/>
                  </a:lnTo>
                  <a:lnTo>
                    <a:pt x="101" y="576"/>
                  </a:lnTo>
                  <a:lnTo>
                    <a:pt x="103" y="578"/>
                  </a:lnTo>
                  <a:lnTo>
                    <a:pt x="103" y="578"/>
                  </a:lnTo>
                  <a:lnTo>
                    <a:pt x="105" y="578"/>
                  </a:lnTo>
                  <a:lnTo>
                    <a:pt x="105" y="578"/>
                  </a:lnTo>
                  <a:lnTo>
                    <a:pt x="107" y="584"/>
                  </a:lnTo>
                  <a:lnTo>
                    <a:pt x="107" y="586"/>
                  </a:lnTo>
                  <a:lnTo>
                    <a:pt x="107" y="588"/>
                  </a:lnTo>
                  <a:lnTo>
                    <a:pt x="107" y="590"/>
                  </a:lnTo>
                  <a:lnTo>
                    <a:pt x="109" y="591"/>
                  </a:lnTo>
                  <a:lnTo>
                    <a:pt x="109" y="591"/>
                  </a:lnTo>
                  <a:lnTo>
                    <a:pt x="111" y="593"/>
                  </a:lnTo>
                  <a:lnTo>
                    <a:pt x="111" y="597"/>
                  </a:lnTo>
                  <a:lnTo>
                    <a:pt x="111" y="597"/>
                  </a:lnTo>
                  <a:lnTo>
                    <a:pt x="111" y="599"/>
                  </a:lnTo>
                  <a:lnTo>
                    <a:pt x="111" y="599"/>
                  </a:lnTo>
                  <a:lnTo>
                    <a:pt x="111" y="601"/>
                  </a:lnTo>
                  <a:lnTo>
                    <a:pt x="111" y="601"/>
                  </a:lnTo>
                  <a:lnTo>
                    <a:pt x="111" y="603"/>
                  </a:lnTo>
                  <a:lnTo>
                    <a:pt x="111" y="605"/>
                  </a:lnTo>
                  <a:lnTo>
                    <a:pt x="109" y="607"/>
                  </a:lnTo>
                  <a:lnTo>
                    <a:pt x="107" y="610"/>
                  </a:lnTo>
                  <a:lnTo>
                    <a:pt x="107" y="612"/>
                  </a:lnTo>
                  <a:lnTo>
                    <a:pt x="107" y="612"/>
                  </a:lnTo>
                  <a:lnTo>
                    <a:pt x="109" y="614"/>
                  </a:lnTo>
                  <a:lnTo>
                    <a:pt x="109" y="614"/>
                  </a:lnTo>
                  <a:lnTo>
                    <a:pt x="109" y="614"/>
                  </a:lnTo>
                  <a:lnTo>
                    <a:pt x="111" y="616"/>
                  </a:lnTo>
                  <a:lnTo>
                    <a:pt x="111" y="616"/>
                  </a:lnTo>
                  <a:lnTo>
                    <a:pt x="111" y="616"/>
                  </a:lnTo>
                  <a:lnTo>
                    <a:pt x="113" y="618"/>
                  </a:lnTo>
                  <a:lnTo>
                    <a:pt x="113" y="620"/>
                  </a:lnTo>
                  <a:lnTo>
                    <a:pt x="114" y="620"/>
                  </a:lnTo>
                  <a:lnTo>
                    <a:pt x="116" y="622"/>
                  </a:lnTo>
                  <a:lnTo>
                    <a:pt x="118" y="622"/>
                  </a:lnTo>
                  <a:lnTo>
                    <a:pt x="118" y="622"/>
                  </a:lnTo>
                  <a:lnTo>
                    <a:pt x="118" y="624"/>
                  </a:lnTo>
                  <a:lnTo>
                    <a:pt x="118" y="624"/>
                  </a:lnTo>
                  <a:lnTo>
                    <a:pt x="116" y="628"/>
                  </a:lnTo>
                  <a:lnTo>
                    <a:pt x="116" y="628"/>
                  </a:lnTo>
                  <a:lnTo>
                    <a:pt x="116" y="629"/>
                  </a:lnTo>
                  <a:lnTo>
                    <a:pt x="116" y="631"/>
                  </a:lnTo>
                  <a:lnTo>
                    <a:pt x="118" y="631"/>
                  </a:lnTo>
                  <a:lnTo>
                    <a:pt x="118" y="633"/>
                  </a:lnTo>
                  <a:lnTo>
                    <a:pt x="120" y="633"/>
                  </a:lnTo>
                  <a:lnTo>
                    <a:pt x="122" y="633"/>
                  </a:lnTo>
                  <a:lnTo>
                    <a:pt x="124" y="633"/>
                  </a:lnTo>
                  <a:lnTo>
                    <a:pt x="126" y="631"/>
                  </a:lnTo>
                  <a:lnTo>
                    <a:pt x="126" y="631"/>
                  </a:lnTo>
                  <a:lnTo>
                    <a:pt x="128" y="629"/>
                  </a:lnTo>
                  <a:lnTo>
                    <a:pt x="128" y="629"/>
                  </a:lnTo>
                  <a:lnTo>
                    <a:pt x="128" y="628"/>
                  </a:lnTo>
                  <a:lnTo>
                    <a:pt x="128" y="628"/>
                  </a:lnTo>
                  <a:lnTo>
                    <a:pt x="128" y="626"/>
                  </a:lnTo>
                  <a:lnTo>
                    <a:pt x="128" y="626"/>
                  </a:lnTo>
                  <a:lnTo>
                    <a:pt x="128" y="624"/>
                  </a:lnTo>
                  <a:lnTo>
                    <a:pt x="130" y="624"/>
                  </a:lnTo>
                  <a:lnTo>
                    <a:pt x="130" y="622"/>
                  </a:lnTo>
                  <a:lnTo>
                    <a:pt x="130" y="622"/>
                  </a:lnTo>
                  <a:lnTo>
                    <a:pt x="132" y="622"/>
                  </a:lnTo>
                  <a:lnTo>
                    <a:pt x="133" y="624"/>
                  </a:lnTo>
                  <a:lnTo>
                    <a:pt x="135" y="624"/>
                  </a:lnTo>
                  <a:lnTo>
                    <a:pt x="141" y="629"/>
                  </a:lnTo>
                  <a:lnTo>
                    <a:pt x="143" y="629"/>
                  </a:lnTo>
                  <a:lnTo>
                    <a:pt x="145" y="633"/>
                  </a:lnTo>
                  <a:lnTo>
                    <a:pt x="147" y="633"/>
                  </a:lnTo>
                  <a:lnTo>
                    <a:pt x="149" y="635"/>
                  </a:lnTo>
                  <a:lnTo>
                    <a:pt x="151" y="635"/>
                  </a:lnTo>
                  <a:lnTo>
                    <a:pt x="153" y="635"/>
                  </a:lnTo>
                  <a:lnTo>
                    <a:pt x="154" y="635"/>
                  </a:lnTo>
                  <a:lnTo>
                    <a:pt x="154" y="635"/>
                  </a:lnTo>
                  <a:lnTo>
                    <a:pt x="156" y="635"/>
                  </a:lnTo>
                  <a:lnTo>
                    <a:pt x="156" y="637"/>
                  </a:lnTo>
                  <a:lnTo>
                    <a:pt x="156" y="637"/>
                  </a:lnTo>
                  <a:lnTo>
                    <a:pt x="156" y="639"/>
                  </a:lnTo>
                  <a:lnTo>
                    <a:pt x="156" y="641"/>
                  </a:lnTo>
                  <a:lnTo>
                    <a:pt x="158" y="641"/>
                  </a:lnTo>
                  <a:lnTo>
                    <a:pt x="160" y="643"/>
                  </a:lnTo>
                  <a:lnTo>
                    <a:pt x="160" y="641"/>
                  </a:lnTo>
                  <a:lnTo>
                    <a:pt x="162" y="641"/>
                  </a:lnTo>
                  <a:lnTo>
                    <a:pt x="164" y="639"/>
                  </a:lnTo>
                  <a:lnTo>
                    <a:pt x="166" y="637"/>
                  </a:lnTo>
                  <a:lnTo>
                    <a:pt x="168" y="633"/>
                  </a:lnTo>
                  <a:lnTo>
                    <a:pt x="168" y="631"/>
                  </a:lnTo>
                  <a:lnTo>
                    <a:pt x="170" y="629"/>
                  </a:lnTo>
                  <a:lnTo>
                    <a:pt x="174" y="626"/>
                  </a:lnTo>
                  <a:lnTo>
                    <a:pt x="174" y="626"/>
                  </a:lnTo>
                  <a:lnTo>
                    <a:pt x="174" y="624"/>
                  </a:lnTo>
                  <a:lnTo>
                    <a:pt x="175" y="624"/>
                  </a:lnTo>
                  <a:lnTo>
                    <a:pt x="175" y="622"/>
                  </a:lnTo>
                  <a:lnTo>
                    <a:pt x="177" y="620"/>
                  </a:lnTo>
                  <a:lnTo>
                    <a:pt x="177" y="616"/>
                  </a:lnTo>
                  <a:lnTo>
                    <a:pt x="175" y="616"/>
                  </a:lnTo>
                  <a:lnTo>
                    <a:pt x="174" y="616"/>
                  </a:lnTo>
                  <a:lnTo>
                    <a:pt x="172" y="616"/>
                  </a:lnTo>
                  <a:lnTo>
                    <a:pt x="172" y="614"/>
                  </a:lnTo>
                  <a:lnTo>
                    <a:pt x="172" y="614"/>
                  </a:lnTo>
                  <a:lnTo>
                    <a:pt x="170" y="614"/>
                  </a:lnTo>
                  <a:lnTo>
                    <a:pt x="170" y="614"/>
                  </a:lnTo>
                  <a:lnTo>
                    <a:pt x="170" y="614"/>
                  </a:lnTo>
                  <a:lnTo>
                    <a:pt x="170" y="612"/>
                  </a:lnTo>
                  <a:lnTo>
                    <a:pt x="170" y="612"/>
                  </a:lnTo>
                  <a:lnTo>
                    <a:pt x="172" y="610"/>
                  </a:lnTo>
                  <a:lnTo>
                    <a:pt x="172" y="610"/>
                  </a:lnTo>
                  <a:lnTo>
                    <a:pt x="170" y="609"/>
                  </a:lnTo>
                  <a:lnTo>
                    <a:pt x="168" y="607"/>
                  </a:lnTo>
                  <a:lnTo>
                    <a:pt x="168" y="605"/>
                  </a:lnTo>
                  <a:lnTo>
                    <a:pt x="168" y="603"/>
                  </a:lnTo>
                  <a:lnTo>
                    <a:pt x="168" y="603"/>
                  </a:lnTo>
                  <a:lnTo>
                    <a:pt x="166" y="601"/>
                  </a:lnTo>
                  <a:lnTo>
                    <a:pt x="166" y="599"/>
                  </a:lnTo>
                  <a:lnTo>
                    <a:pt x="164" y="599"/>
                  </a:lnTo>
                  <a:lnTo>
                    <a:pt x="162" y="599"/>
                  </a:lnTo>
                  <a:lnTo>
                    <a:pt x="162" y="599"/>
                  </a:lnTo>
                  <a:lnTo>
                    <a:pt x="160" y="599"/>
                  </a:lnTo>
                  <a:lnTo>
                    <a:pt x="156" y="599"/>
                  </a:lnTo>
                  <a:lnTo>
                    <a:pt x="156" y="601"/>
                  </a:lnTo>
                  <a:lnTo>
                    <a:pt x="154" y="601"/>
                  </a:lnTo>
                  <a:lnTo>
                    <a:pt x="154" y="599"/>
                  </a:lnTo>
                  <a:lnTo>
                    <a:pt x="153" y="599"/>
                  </a:lnTo>
                  <a:lnTo>
                    <a:pt x="153" y="597"/>
                  </a:lnTo>
                  <a:lnTo>
                    <a:pt x="153" y="597"/>
                  </a:lnTo>
                  <a:lnTo>
                    <a:pt x="153" y="595"/>
                  </a:lnTo>
                  <a:lnTo>
                    <a:pt x="153" y="593"/>
                  </a:lnTo>
                  <a:lnTo>
                    <a:pt x="154" y="591"/>
                  </a:lnTo>
                  <a:lnTo>
                    <a:pt x="154" y="591"/>
                  </a:lnTo>
                  <a:lnTo>
                    <a:pt x="154" y="591"/>
                  </a:lnTo>
                  <a:lnTo>
                    <a:pt x="154" y="590"/>
                  </a:lnTo>
                  <a:lnTo>
                    <a:pt x="154" y="586"/>
                  </a:lnTo>
                  <a:lnTo>
                    <a:pt x="154" y="582"/>
                  </a:lnTo>
                  <a:lnTo>
                    <a:pt x="154" y="580"/>
                  </a:lnTo>
                  <a:lnTo>
                    <a:pt x="153" y="578"/>
                  </a:lnTo>
                  <a:lnTo>
                    <a:pt x="153" y="576"/>
                  </a:lnTo>
                  <a:lnTo>
                    <a:pt x="151" y="574"/>
                  </a:lnTo>
                  <a:lnTo>
                    <a:pt x="147" y="571"/>
                  </a:lnTo>
                  <a:lnTo>
                    <a:pt x="147" y="569"/>
                  </a:lnTo>
                  <a:lnTo>
                    <a:pt x="145" y="567"/>
                  </a:lnTo>
                  <a:lnTo>
                    <a:pt x="143" y="555"/>
                  </a:lnTo>
                  <a:lnTo>
                    <a:pt x="143" y="551"/>
                  </a:lnTo>
                  <a:lnTo>
                    <a:pt x="143" y="550"/>
                  </a:lnTo>
                  <a:lnTo>
                    <a:pt x="139" y="542"/>
                  </a:lnTo>
                  <a:lnTo>
                    <a:pt x="137" y="540"/>
                  </a:lnTo>
                  <a:lnTo>
                    <a:pt x="137" y="538"/>
                  </a:lnTo>
                  <a:lnTo>
                    <a:pt x="135" y="536"/>
                  </a:lnTo>
                  <a:lnTo>
                    <a:pt x="133" y="536"/>
                  </a:lnTo>
                  <a:lnTo>
                    <a:pt x="133" y="536"/>
                  </a:lnTo>
                  <a:lnTo>
                    <a:pt x="133" y="534"/>
                  </a:lnTo>
                  <a:lnTo>
                    <a:pt x="133" y="534"/>
                  </a:lnTo>
                  <a:lnTo>
                    <a:pt x="133" y="532"/>
                  </a:lnTo>
                  <a:lnTo>
                    <a:pt x="133" y="532"/>
                  </a:lnTo>
                  <a:lnTo>
                    <a:pt x="135" y="531"/>
                  </a:lnTo>
                  <a:lnTo>
                    <a:pt x="137" y="527"/>
                  </a:lnTo>
                  <a:lnTo>
                    <a:pt x="137" y="527"/>
                  </a:lnTo>
                  <a:lnTo>
                    <a:pt x="139" y="525"/>
                  </a:lnTo>
                  <a:lnTo>
                    <a:pt x="139" y="525"/>
                  </a:lnTo>
                  <a:lnTo>
                    <a:pt x="139" y="525"/>
                  </a:lnTo>
                  <a:lnTo>
                    <a:pt x="139" y="523"/>
                  </a:lnTo>
                  <a:lnTo>
                    <a:pt x="139" y="523"/>
                  </a:lnTo>
                  <a:lnTo>
                    <a:pt x="139" y="523"/>
                  </a:lnTo>
                  <a:lnTo>
                    <a:pt x="139" y="521"/>
                  </a:lnTo>
                  <a:lnTo>
                    <a:pt x="139" y="521"/>
                  </a:lnTo>
                  <a:lnTo>
                    <a:pt x="141" y="521"/>
                  </a:lnTo>
                  <a:lnTo>
                    <a:pt x="141" y="521"/>
                  </a:lnTo>
                  <a:lnTo>
                    <a:pt x="143" y="521"/>
                  </a:lnTo>
                  <a:lnTo>
                    <a:pt x="145" y="521"/>
                  </a:lnTo>
                  <a:lnTo>
                    <a:pt x="147" y="521"/>
                  </a:lnTo>
                  <a:lnTo>
                    <a:pt x="147" y="521"/>
                  </a:lnTo>
                  <a:lnTo>
                    <a:pt x="147" y="521"/>
                  </a:lnTo>
                  <a:lnTo>
                    <a:pt x="149" y="523"/>
                  </a:lnTo>
                  <a:lnTo>
                    <a:pt x="149" y="523"/>
                  </a:lnTo>
                  <a:lnTo>
                    <a:pt x="151" y="525"/>
                  </a:lnTo>
                  <a:lnTo>
                    <a:pt x="151" y="525"/>
                  </a:lnTo>
                  <a:lnTo>
                    <a:pt x="153" y="527"/>
                  </a:lnTo>
                  <a:lnTo>
                    <a:pt x="153" y="527"/>
                  </a:lnTo>
                  <a:lnTo>
                    <a:pt x="153" y="527"/>
                  </a:lnTo>
                  <a:lnTo>
                    <a:pt x="154" y="527"/>
                  </a:lnTo>
                  <a:lnTo>
                    <a:pt x="154" y="527"/>
                  </a:lnTo>
                  <a:lnTo>
                    <a:pt x="154" y="525"/>
                  </a:lnTo>
                  <a:lnTo>
                    <a:pt x="154" y="523"/>
                  </a:lnTo>
                  <a:lnTo>
                    <a:pt x="154" y="523"/>
                  </a:lnTo>
                  <a:lnTo>
                    <a:pt x="154" y="523"/>
                  </a:lnTo>
                  <a:lnTo>
                    <a:pt x="154" y="521"/>
                  </a:lnTo>
                  <a:lnTo>
                    <a:pt x="154" y="521"/>
                  </a:lnTo>
                  <a:lnTo>
                    <a:pt x="154" y="519"/>
                  </a:lnTo>
                  <a:lnTo>
                    <a:pt x="154" y="519"/>
                  </a:lnTo>
                  <a:lnTo>
                    <a:pt x="154" y="517"/>
                  </a:lnTo>
                  <a:lnTo>
                    <a:pt x="153" y="515"/>
                  </a:lnTo>
                  <a:lnTo>
                    <a:pt x="153" y="515"/>
                  </a:lnTo>
                  <a:lnTo>
                    <a:pt x="153" y="513"/>
                  </a:lnTo>
                  <a:lnTo>
                    <a:pt x="153" y="512"/>
                  </a:lnTo>
                  <a:lnTo>
                    <a:pt x="154" y="512"/>
                  </a:lnTo>
                  <a:lnTo>
                    <a:pt x="154" y="512"/>
                  </a:lnTo>
                  <a:lnTo>
                    <a:pt x="156" y="512"/>
                  </a:lnTo>
                  <a:lnTo>
                    <a:pt x="156" y="510"/>
                  </a:lnTo>
                  <a:lnTo>
                    <a:pt x="158" y="510"/>
                  </a:lnTo>
                  <a:lnTo>
                    <a:pt x="160" y="512"/>
                  </a:lnTo>
                  <a:lnTo>
                    <a:pt x="160" y="512"/>
                  </a:lnTo>
                  <a:lnTo>
                    <a:pt x="160" y="512"/>
                  </a:lnTo>
                  <a:lnTo>
                    <a:pt x="160" y="513"/>
                  </a:lnTo>
                  <a:lnTo>
                    <a:pt x="160" y="517"/>
                  </a:lnTo>
                  <a:lnTo>
                    <a:pt x="160" y="519"/>
                  </a:lnTo>
                  <a:lnTo>
                    <a:pt x="160" y="519"/>
                  </a:lnTo>
                  <a:lnTo>
                    <a:pt x="162" y="521"/>
                  </a:lnTo>
                  <a:lnTo>
                    <a:pt x="164" y="519"/>
                  </a:lnTo>
                  <a:lnTo>
                    <a:pt x="164" y="519"/>
                  </a:lnTo>
                  <a:lnTo>
                    <a:pt x="166" y="519"/>
                  </a:lnTo>
                  <a:lnTo>
                    <a:pt x="166" y="517"/>
                  </a:lnTo>
                  <a:lnTo>
                    <a:pt x="164" y="513"/>
                  </a:lnTo>
                  <a:lnTo>
                    <a:pt x="164" y="513"/>
                  </a:lnTo>
                  <a:lnTo>
                    <a:pt x="166" y="512"/>
                  </a:lnTo>
                  <a:lnTo>
                    <a:pt x="166" y="512"/>
                  </a:lnTo>
                  <a:lnTo>
                    <a:pt x="166" y="510"/>
                  </a:lnTo>
                  <a:lnTo>
                    <a:pt x="166" y="510"/>
                  </a:lnTo>
                  <a:lnTo>
                    <a:pt x="168" y="508"/>
                  </a:lnTo>
                  <a:lnTo>
                    <a:pt x="168" y="508"/>
                  </a:lnTo>
                  <a:lnTo>
                    <a:pt x="170" y="508"/>
                  </a:lnTo>
                  <a:lnTo>
                    <a:pt x="170" y="510"/>
                  </a:lnTo>
                  <a:lnTo>
                    <a:pt x="172" y="510"/>
                  </a:lnTo>
                  <a:lnTo>
                    <a:pt x="172" y="512"/>
                  </a:lnTo>
                  <a:lnTo>
                    <a:pt x="172" y="513"/>
                  </a:lnTo>
                  <a:lnTo>
                    <a:pt x="172" y="513"/>
                  </a:lnTo>
                  <a:lnTo>
                    <a:pt x="170" y="515"/>
                  </a:lnTo>
                  <a:lnTo>
                    <a:pt x="170" y="517"/>
                  </a:lnTo>
                  <a:lnTo>
                    <a:pt x="170" y="517"/>
                  </a:lnTo>
                  <a:lnTo>
                    <a:pt x="170" y="517"/>
                  </a:lnTo>
                  <a:lnTo>
                    <a:pt x="172" y="517"/>
                  </a:lnTo>
                  <a:lnTo>
                    <a:pt x="172" y="517"/>
                  </a:lnTo>
                  <a:lnTo>
                    <a:pt x="174" y="517"/>
                  </a:lnTo>
                  <a:lnTo>
                    <a:pt x="174" y="517"/>
                  </a:lnTo>
                  <a:lnTo>
                    <a:pt x="174" y="517"/>
                  </a:lnTo>
                  <a:lnTo>
                    <a:pt x="175" y="517"/>
                  </a:lnTo>
                  <a:lnTo>
                    <a:pt x="175" y="519"/>
                  </a:lnTo>
                  <a:lnTo>
                    <a:pt x="175" y="519"/>
                  </a:lnTo>
                  <a:lnTo>
                    <a:pt x="175" y="523"/>
                  </a:lnTo>
                  <a:lnTo>
                    <a:pt x="174" y="523"/>
                  </a:lnTo>
                  <a:lnTo>
                    <a:pt x="174" y="527"/>
                  </a:lnTo>
                  <a:lnTo>
                    <a:pt x="172" y="527"/>
                  </a:lnTo>
                  <a:lnTo>
                    <a:pt x="172" y="529"/>
                  </a:lnTo>
                  <a:lnTo>
                    <a:pt x="174" y="531"/>
                  </a:lnTo>
                  <a:lnTo>
                    <a:pt x="174" y="531"/>
                  </a:lnTo>
                  <a:lnTo>
                    <a:pt x="172" y="532"/>
                  </a:lnTo>
                  <a:lnTo>
                    <a:pt x="172" y="532"/>
                  </a:lnTo>
                  <a:lnTo>
                    <a:pt x="172" y="532"/>
                  </a:lnTo>
                  <a:lnTo>
                    <a:pt x="170" y="534"/>
                  </a:lnTo>
                  <a:lnTo>
                    <a:pt x="168" y="536"/>
                  </a:lnTo>
                  <a:lnTo>
                    <a:pt x="168" y="536"/>
                  </a:lnTo>
                  <a:lnTo>
                    <a:pt x="166" y="538"/>
                  </a:lnTo>
                  <a:lnTo>
                    <a:pt x="166" y="540"/>
                  </a:lnTo>
                  <a:lnTo>
                    <a:pt x="166" y="542"/>
                  </a:lnTo>
                  <a:lnTo>
                    <a:pt x="166" y="544"/>
                  </a:lnTo>
                  <a:lnTo>
                    <a:pt x="166" y="544"/>
                  </a:lnTo>
                  <a:lnTo>
                    <a:pt x="168" y="546"/>
                  </a:lnTo>
                  <a:lnTo>
                    <a:pt x="168" y="544"/>
                  </a:lnTo>
                  <a:lnTo>
                    <a:pt x="170" y="544"/>
                  </a:lnTo>
                  <a:lnTo>
                    <a:pt x="172" y="542"/>
                  </a:lnTo>
                  <a:lnTo>
                    <a:pt x="172" y="540"/>
                  </a:lnTo>
                  <a:lnTo>
                    <a:pt x="174" y="540"/>
                  </a:lnTo>
                  <a:lnTo>
                    <a:pt x="174" y="540"/>
                  </a:lnTo>
                  <a:lnTo>
                    <a:pt x="175" y="540"/>
                  </a:lnTo>
                  <a:lnTo>
                    <a:pt x="175" y="540"/>
                  </a:lnTo>
                  <a:lnTo>
                    <a:pt x="177" y="538"/>
                  </a:lnTo>
                  <a:lnTo>
                    <a:pt x="177" y="538"/>
                  </a:lnTo>
                  <a:lnTo>
                    <a:pt x="177" y="536"/>
                  </a:lnTo>
                  <a:lnTo>
                    <a:pt x="177" y="534"/>
                  </a:lnTo>
                  <a:lnTo>
                    <a:pt x="177" y="534"/>
                  </a:lnTo>
                  <a:lnTo>
                    <a:pt x="177" y="534"/>
                  </a:lnTo>
                  <a:lnTo>
                    <a:pt x="179" y="534"/>
                  </a:lnTo>
                  <a:lnTo>
                    <a:pt x="179" y="534"/>
                  </a:lnTo>
                  <a:lnTo>
                    <a:pt x="181" y="534"/>
                  </a:lnTo>
                  <a:lnTo>
                    <a:pt x="181" y="534"/>
                  </a:lnTo>
                  <a:lnTo>
                    <a:pt x="181" y="534"/>
                  </a:lnTo>
                  <a:lnTo>
                    <a:pt x="181" y="536"/>
                  </a:lnTo>
                  <a:lnTo>
                    <a:pt x="183" y="536"/>
                  </a:lnTo>
                  <a:lnTo>
                    <a:pt x="183" y="536"/>
                  </a:lnTo>
                  <a:lnTo>
                    <a:pt x="183" y="536"/>
                  </a:lnTo>
                  <a:lnTo>
                    <a:pt x="183" y="536"/>
                  </a:lnTo>
                  <a:lnTo>
                    <a:pt x="179" y="540"/>
                  </a:lnTo>
                  <a:lnTo>
                    <a:pt x="179" y="540"/>
                  </a:lnTo>
                  <a:lnTo>
                    <a:pt x="179" y="542"/>
                  </a:lnTo>
                  <a:lnTo>
                    <a:pt x="179" y="544"/>
                  </a:lnTo>
                  <a:lnTo>
                    <a:pt x="179" y="544"/>
                  </a:lnTo>
                  <a:lnTo>
                    <a:pt x="179" y="544"/>
                  </a:lnTo>
                  <a:lnTo>
                    <a:pt x="181" y="546"/>
                  </a:lnTo>
                  <a:lnTo>
                    <a:pt x="181" y="544"/>
                  </a:lnTo>
                  <a:lnTo>
                    <a:pt x="183" y="544"/>
                  </a:lnTo>
                  <a:lnTo>
                    <a:pt x="187" y="542"/>
                  </a:lnTo>
                  <a:lnTo>
                    <a:pt x="187" y="542"/>
                  </a:lnTo>
                  <a:lnTo>
                    <a:pt x="189" y="542"/>
                  </a:lnTo>
                  <a:lnTo>
                    <a:pt x="189" y="544"/>
                  </a:lnTo>
                  <a:lnTo>
                    <a:pt x="189" y="548"/>
                  </a:lnTo>
                  <a:lnTo>
                    <a:pt x="189" y="548"/>
                  </a:lnTo>
                  <a:lnTo>
                    <a:pt x="191" y="548"/>
                  </a:lnTo>
                  <a:lnTo>
                    <a:pt x="191" y="548"/>
                  </a:lnTo>
                  <a:lnTo>
                    <a:pt x="193" y="548"/>
                  </a:lnTo>
                  <a:lnTo>
                    <a:pt x="193" y="546"/>
                  </a:lnTo>
                  <a:lnTo>
                    <a:pt x="193" y="546"/>
                  </a:lnTo>
                  <a:lnTo>
                    <a:pt x="194" y="544"/>
                  </a:lnTo>
                  <a:lnTo>
                    <a:pt x="194" y="544"/>
                  </a:lnTo>
                  <a:lnTo>
                    <a:pt x="196" y="544"/>
                  </a:lnTo>
                  <a:lnTo>
                    <a:pt x="198" y="546"/>
                  </a:lnTo>
                  <a:lnTo>
                    <a:pt x="198" y="546"/>
                  </a:lnTo>
                  <a:lnTo>
                    <a:pt x="200" y="544"/>
                  </a:lnTo>
                  <a:lnTo>
                    <a:pt x="200" y="544"/>
                  </a:lnTo>
                  <a:lnTo>
                    <a:pt x="202" y="546"/>
                  </a:lnTo>
                  <a:lnTo>
                    <a:pt x="204" y="546"/>
                  </a:lnTo>
                  <a:lnTo>
                    <a:pt x="204" y="546"/>
                  </a:lnTo>
                  <a:lnTo>
                    <a:pt x="206" y="546"/>
                  </a:lnTo>
                  <a:lnTo>
                    <a:pt x="206" y="544"/>
                  </a:lnTo>
                  <a:lnTo>
                    <a:pt x="206" y="544"/>
                  </a:lnTo>
                  <a:lnTo>
                    <a:pt x="206" y="542"/>
                  </a:lnTo>
                  <a:lnTo>
                    <a:pt x="202" y="534"/>
                  </a:lnTo>
                  <a:lnTo>
                    <a:pt x="202" y="532"/>
                  </a:lnTo>
                  <a:lnTo>
                    <a:pt x="202" y="532"/>
                  </a:lnTo>
                  <a:lnTo>
                    <a:pt x="202" y="531"/>
                  </a:lnTo>
                  <a:lnTo>
                    <a:pt x="204" y="529"/>
                  </a:lnTo>
                  <a:lnTo>
                    <a:pt x="206" y="525"/>
                  </a:lnTo>
                  <a:lnTo>
                    <a:pt x="208" y="525"/>
                  </a:lnTo>
                  <a:lnTo>
                    <a:pt x="208" y="525"/>
                  </a:lnTo>
                  <a:lnTo>
                    <a:pt x="208" y="527"/>
                  </a:lnTo>
                  <a:lnTo>
                    <a:pt x="208" y="527"/>
                  </a:lnTo>
                  <a:lnTo>
                    <a:pt x="208" y="529"/>
                  </a:lnTo>
                  <a:lnTo>
                    <a:pt x="206" y="532"/>
                  </a:lnTo>
                  <a:lnTo>
                    <a:pt x="206" y="532"/>
                  </a:lnTo>
                  <a:lnTo>
                    <a:pt x="206" y="532"/>
                  </a:lnTo>
                  <a:lnTo>
                    <a:pt x="206" y="534"/>
                  </a:lnTo>
                  <a:lnTo>
                    <a:pt x="206" y="534"/>
                  </a:lnTo>
                  <a:lnTo>
                    <a:pt x="206" y="536"/>
                  </a:lnTo>
                  <a:lnTo>
                    <a:pt x="206" y="538"/>
                  </a:lnTo>
                  <a:lnTo>
                    <a:pt x="208" y="538"/>
                  </a:lnTo>
                  <a:lnTo>
                    <a:pt x="208" y="538"/>
                  </a:lnTo>
                  <a:lnTo>
                    <a:pt x="208" y="538"/>
                  </a:lnTo>
                  <a:lnTo>
                    <a:pt x="210" y="538"/>
                  </a:lnTo>
                  <a:lnTo>
                    <a:pt x="210" y="536"/>
                  </a:lnTo>
                  <a:lnTo>
                    <a:pt x="210" y="536"/>
                  </a:lnTo>
                  <a:lnTo>
                    <a:pt x="210" y="536"/>
                  </a:lnTo>
                  <a:lnTo>
                    <a:pt x="210" y="534"/>
                  </a:lnTo>
                  <a:lnTo>
                    <a:pt x="212" y="534"/>
                  </a:lnTo>
                  <a:lnTo>
                    <a:pt x="214" y="534"/>
                  </a:lnTo>
                  <a:lnTo>
                    <a:pt x="214" y="534"/>
                  </a:lnTo>
                  <a:lnTo>
                    <a:pt x="214" y="534"/>
                  </a:lnTo>
                  <a:lnTo>
                    <a:pt x="215" y="534"/>
                  </a:lnTo>
                  <a:lnTo>
                    <a:pt x="215" y="534"/>
                  </a:lnTo>
                  <a:lnTo>
                    <a:pt x="217" y="532"/>
                  </a:lnTo>
                  <a:lnTo>
                    <a:pt x="217" y="532"/>
                  </a:lnTo>
                  <a:lnTo>
                    <a:pt x="219" y="532"/>
                  </a:lnTo>
                  <a:lnTo>
                    <a:pt x="219" y="532"/>
                  </a:lnTo>
                  <a:lnTo>
                    <a:pt x="219" y="534"/>
                  </a:lnTo>
                  <a:lnTo>
                    <a:pt x="217" y="536"/>
                  </a:lnTo>
                  <a:lnTo>
                    <a:pt x="215" y="540"/>
                  </a:lnTo>
                  <a:lnTo>
                    <a:pt x="214" y="544"/>
                  </a:lnTo>
                  <a:lnTo>
                    <a:pt x="212" y="544"/>
                  </a:lnTo>
                  <a:lnTo>
                    <a:pt x="210" y="548"/>
                  </a:lnTo>
                  <a:lnTo>
                    <a:pt x="210" y="548"/>
                  </a:lnTo>
                  <a:lnTo>
                    <a:pt x="210" y="548"/>
                  </a:lnTo>
                  <a:lnTo>
                    <a:pt x="210" y="550"/>
                  </a:lnTo>
                  <a:lnTo>
                    <a:pt x="210" y="551"/>
                  </a:lnTo>
                  <a:lnTo>
                    <a:pt x="210" y="553"/>
                  </a:lnTo>
                  <a:lnTo>
                    <a:pt x="210" y="553"/>
                  </a:lnTo>
                  <a:lnTo>
                    <a:pt x="210" y="555"/>
                  </a:lnTo>
                  <a:lnTo>
                    <a:pt x="210" y="555"/>
                  </a:lnTo>
                  <a:lnTo>
                    <a:pt x="212" y="555"/>
                  </a:lnTo>
                  <a:lnTo>
                    <a:pt x="215" y="555"/>
                  </a:lnTo>
                  <a:lnTo>
                    <a:pt x="215" y="553"/>
                  </a:lnTo>
                  <a:lnTo>
                    <a:pt x="215" y="553"/>
                  </a:lnTo>
                  <a:lnTo>
                    <a:pt x="215" y="551"/>
                  </a:lnTo>
                  <a:lnTo>
                    <a:pt x="215" y="550"/>
                  </a:lnTo>
                  <a:lnTo>
                    <a:pt x="215" y="550"/>
                  </a:lnTo>
                  <a:lnTo>
                    <a:pt x="215" y="548"/>
                  </a:lnTo>
                  <a:lnTo>
                    <a:pt x="215" y="548"/>
                  </a:lnTo>
                  <a:lnTo>
                    <a:pt x="217" y="548"/>
                  </a:lnTo>
                  <a:lnTo>
                    <a:pt x="219" y="548"/>
                  </a:lnTo>
                  <a:lnTo>
                    <a:pt x="219" y="550"/>
                  </a:lnTo>
                  <a:lnTo>
                    <a:pt x="219" y="550"/>
                  </a:lnTo>
                  <a:lnTo>
                    <a:pt x="219" y="550"/>
                  </a:lnTo>
                  <a:lnTo>
                    <a:pt x="219" y="551"/>
                  </a:lnTo>
                  <a:lnTo>
                    <a:pt x="221" y="551"/>
                  </a:lnTo>
                  <a:lnTo>
                    <a:pt x="221" y="551"/>
                  </a:lnTo>
                  <a:lnTo>
                    <a:pt x="221" y="551"/>
                  </a:lnTo>
                  <a:lnTo>
                    <a:pt x="223" y="551"/>
                  </a:lnTo>
                  <a:lnTo>
                    <a:pt x="225" y="551"/>
                  </a:lnTo>
                  <a:lnTo>
                    <a:pt x="225" y="550"/>
                  </a:lnTo>
                  <a:lnTo>
                    <a:pt x="225" y="550"/>
                  </a:lnTo>
                  <a:lnTo>
                    <a:pt x="227" y="546"/>
                  </a:lnTo>
                  <a:lnTo>
                    <a:pt x="227" y="546"/>
                  </a:lnTo>
                  <a:lnTo>
                    <a:pt x="229" y="544"/>
                  </a:lnTo>
                  <a:lnTo>
                    <a:pt x="229" y="544"/>
                  </a:lnTo>
                  <a:lnTo>
                    <a:pt x="231" y="544"/>
                  </a:lnTo>
                  <a:lnTo>
                    <a:pt x="231" y="544"/>
                  </a:lnTo>
                  <a:lnTo>
                    <a:pt x="233" y="546"/>
                  </a:lnTo>
                  <a:lnTo>
                    <a:pt x="236" y="546"/>
                  </a:lnTo>
                  <a:lnTo>
                    <a:pt x="238" y="548"/>
                  </a:lnTo>
                  <a:lnTo>
                    <a:pt x="240" y="548"/>
                  </a:lnTo>
                  <a:lnTo>
                    <a:pt x="246" y="548"/>
                  </a:lnTo>
                  <a:lnTo>
                    <a:pt x="250" y="546"/>
                  </a:lnTo>
                  <a:lnTo>
                    <a:pt x="250" y="548"/>
                  </a:lnTo>
                  <a:lnTo>
                    <a:pt x="250" y="548"/>
                  </a:lnTo>
                  <a:lnTo>
                    <a:pt x="250" y="548"/>
                  </a:lnTo>
                  <a:lnTo>
                    <a:pt x="252" y="550"/>
                  </a:lnTo>
                  <a:lnTo>
                    <a:pt x="252" y="550"/>
                  </a:lnTo>
                  <a:lnTo>
                    <a:pt x="254" y="550"/>
                  </a:lnTo>
                  <a:lnTo>
                    <a:pt x="255" y="548"/>
                  </a:lnTo>
                  <a:lnTo>
                    <a:pt x="257" y="548"/>
                  </a:lnTo>
                  <a:lnTo>
                    <a:pt x="257" y="548"/>
                  </a:lnTo>
                  <a:lnTo>
                    <a:pt x="259" y="548"/>
                  </a:lnTo>
                  <a:lnTo>
                    <a:pt x="259" y="546"/>
                  </a:lnTo>
                  <a:lnTo>
                    <a:pt x="259" y="546"/>
                  </a:lnTo>
                  <a:lnTo>
                    <a:pt x="257" y="544"/>
                  </a:lnTo>
                  <a:lnTo>
                    <a:pt x="257" y="542"/>
                  </a:lnTo>
                  <a:lnTo>
                    <a:pt x="255" y="542"/>
                  </a:lnTo>
                  <a:lnTo>
                    <a:pt x="255" y="542"/>
                  </a:lnTo>
                  <a:lnTo>
                    <a:pt x="255" y="540"/>
                  </a:lnTo>
                  <a:lnTo>
                    <a:pt x="255" y="540"/>
                  </a:lnTo>
                  <a:lnTo>
                    <a:pt x="255" y="540"/>
                  </a:lnTo>
                  <a:lnTo>
                    <a:pt x="255" y="538"/>
                  </a:lnTo>
                  <a:lnTo>
                    <a:pt x="255" y="538"/>
                  </a:lnTo>
                  <a:lnTo>
                    <a:pt x="257" y="538"/>
                  </a:lnTo>
                  <a:lnTo>
                    <a:pt x="259" y="536"/>
                  </a:lnTo>
                  <a:lnTo>
                    <a:pt x="261" y="536"/>
                  </a:lnTo>
                  <a:lnTo>
                    <a:pt x="263" y="536"/>
                  </a:lnTo>
                  <a:lnTo>
                    <a:pt x="265" y="534"/>
                  </a:lnTo>
                  <a:lnTo>
                    <a:pt x="269" y="532"/>
                  </a:lnTo>
                  <a:lnTo>
                    <a:pt x="271" y="531"/>
                  </a:lnTo>
                  <a:lnTo>
                    <a:pt x="273" y="529"/>
                  </a:lnTo>
                  <a:lnTo>
                    <a:pt x="278" y="525"/>
                  </a:lnTo>
                  <a:lnTo>
                    <a:pt x="280" y="527"/>
                  </a:lnTo>
                  <a:lnTo>
                    <a:pt x="282" y="527"/>
                  </a:lnTo>
                  <a:lnTo>
                    <a:pt x="282" y="527"/>
                  </a:lnTo>
                  <a:lnTo>
                    <a:pt x="282" y="527"/>
                  </a:lnTo>
                  <a:lnTo>
                    <a:pt x="286" y="523"/>
                  </a:lnTo>
                  <a:lnTo>
                    <a:pt x="288" y="523"/>
                  </a:lnTo>
                  <a:lnTo>
                    <a:pt x="288" y="523"/>
                  </a:lnTo>
                  <a:lnTo>
                    <a:pt x="288" y="521"/>
                  </a:lnTo>
                  <a:lnTo>
                    <a:pt x="288" y="521"/>
                  </a:lnTo>
                  <a:lnTo>
                    <a:pt x="290" y="521"/>
                  </a:lnTo>
                  <a:lnTo>
                    <a:pt x="290" y="521"/>
                  </a:lnTo>
                  <a:lnTo>
                    <a:pt x="292" y="521"/>
                  </a:lnTo>
                  <a:lnTo>
                    <a:pt x="292" y="521"/>
                  </a:lnTo>
                  <a:lnTo>
                    <a:pt x="292" y="521"/>
                  </a:lnTo>
                  <a:lnTo>
                    <a:pt x="294" y="521"/>
                  </a:lnTo>
                  <a:lnTo>
                    <a:pt x="295" y="521"/>
                  </a:lnTo>
                  <a:lnTo>
                    <a:pt x="295" y="521"/>
                  </a:lnTo>
                  <a:lnTo>
                    <a:pt x="297" y="521"/>
                  </a:lnTo>
                  <a:lnTo>
                    <a:pt x="297" y="521"/>
                  </a:lnTo>
                  <a:lnTo>
                    <a:pt x="299" y="523"/>
                  </a:lnTo>
                  <a:lnTo>
                    <a:pt x="299" y="525"/>
                  </a:lnTo>
                  <a:lnTo>
                    <a:pt x="299" y="525"/>
                  </a:lnTo>
                  <a:lnTo>
                    <a:pt x="299" y="529"/>
                  </a:lnTo>
                  <a:lnTo>
                    <a:pt x="301" y="532"/>
                  </a:lnTo>
                  <a:lnTo>
                    <a:pt x="301" y="532"/>
                  </a:lnTo>
                  <a:lnTo>
                    <a:pt x="301" y="534"/>
                  </a:lnTo>
                  <a:lnTo>
                    <a:pt x="303" y="534"/>
                  </a:lnTo>
                  <a:lnTo>
                    <a:pt x="303" y="534"/>
                  </a:lnTo>
                  <a:lnTo>
                    <a:pt x="305" y="536"/>
                  </a:lnTo>
                  <a:lnTo>
                    <a:pt x="305" y="536"/>
                  </a:lnTo>
                  <a:lnTo>
                    <a:pt x="305" y="538"/>
                  </a:lnTo>
                  <a:lnTo>
                    <a:pt x="305" y="538"/>
                  </a:lnTo>
                  <a:lnTo>
                    <a:pt x="305" y="538"/>
                  </a:lnTo>
                  <a:lnTo>
                    <a:pt x="307" y="538"/>
                  </a:lnTo>
                  <a:lnTo>
                    <a:pt x="307" y="538"/>
                  </a:lnTo>
                  <a:lnTo>
                    <a:pt x="307" y="538"/>
                  </a:lnTo>
                  <a:lnTo>
                    <a:pt x="307" y="538"/>
                  </a:lnTo>
                  <a:lnTo>
                    <a:pt x="309" y="538"/>
                  </a:lnTo>
                  <a:lnTo>
                    <a:pt x="309" y="538"/>
                  </a:lnTo>
                  <a:lnTo>
                    <a:pt x="309" y="540"/>
                  </a:lnTo>
                  <a:lnTo>
                    <a:pt x="309" y="542"/>
                  </a:lnTo>
                  <a:lnTo>
                    <a:pt x="309" y="542"/>
                  </a:lnTo>
                  <a:lnTo>
                    <a:pt x="309" y="544"/>
                  </a:lnTo>
                  <a:lnTo>
                    <a:pt x="311" y="544"/>
                  </a:lnTo>
                  <a:lnTo>
                    <a:pt x="311" y="544"/>
                  </a:lnTo>
                  <a:lnTo>
                    <a:pt x="309" y="544"/>
                  </a:lnTo>
                  <a:lnTo>
                    <a:pt x="309" y="546"/>
                  </a:lnTo>
                  <a:lnTo>
                    <a:pt x="309" y="546"/>
                  </a:lnTo>
                  <a:lnTo>
                    <a:pt x="307" y="546"/>
                  </a:lnTo>
                  <a:lnTo>
                    <a:pt x="305" y="548"/>
                  </a:lnTo>
                  <a:lnTo>
                    <a:pt x="305" y="548"/>
                  </a:lnTo>
                  <a:lnTo>
                    <a:pt x="305" y="548"/>
                  </a:lnTo>
                  <a:lnTo>
                    <a:pt x="303" y="548"/>
                  </a:lnTo>
                  <a:lnTo>
                    <a:pt x="303" y="548"/>
                  </a:lnTo>
                  <a:lnTo>
                    <a:pt x="303" y="550"/>
                  </a:lnTo>
                  <a:lnTo>
                    <a:pt x="303" y="550"/>
                  </a:lnTo>
                  <a:lnTo>
                    <a:pt x="301" y="551"/>
                  </a:lnTo>
                  <a:lnTo>
                    <a:pt x="299" y="553"/>
                  </a:lnTo>
                  <a:lnTo>
                    <a:pt x="299" y="553"/>
                  </a:lnTo>
                  <a:lnTo>
                    <a:pt x="297" y="553"/>
                  </a:lnTo>
                  <a:lnTo>
                    <a:pt x="297" y="553"/>
                  </a:lnTo>
                  <a:lnTo>
                    <a:pt x="295" y="553"/>
                  </a:lnTo>
                  <a:lnTo>
                    <a:pt x="295" y="553"/>
                  </a:lnTo>
                  <a:lnTo>
                    <a:pt x="295" y="553"/>
                  </a:lnTo>
                  <a:lnTo>
                    <a:pt x="295" y="553"/>
                  </a:lnTo>
                  <a:lnTo>
                    <a:pt x="295" y="555"/>
                  </a:lnTo>
                  <a:lnTo>
                    <a:pt x="295" y="555"/>
                  </a:lnTo>
                  <a:lnTo>
                    <a:pt x="295" y="559"/>
                  </a:lnTo>
                  <a:lnTo>
                    <a:pt x="295" y="559"/>
                  </a:lnTo>
                  <a:lnTo>
                    <a:pt x="297" y="561"/>
                  </a:lnTo>
                  <a:lnTo>
                    <a:pt x="297" y="561"/>
                  </a:lnTo>
                  <a:lnTo>
                    <a:pt x="299" y="561"/>
                  </a:lnTo>
                  <a:lnTo>
                    <a:pt x="301" y="561"/>
                  </a:lnTo>
                  <a:lnTo>
                    <a:pt x="303" y="561"/>
                  </a:lnTo>
                  <a:lnTo>
                    <a:pt x="305" y="561"/>
                  </a:lnTo>
                  <a:lnTo>
                    <a:pt x="305" y="561"/>
                  </a:lnTo>
                  <a:lnTo>
                    <a:pt x="307" y="561"/>
                  </a:lnTo>
                  <a:lnTo>
                    <a:pt x="307" y="561"/>
                  </a:lnTo>
                  <a:lnTo>
                    <a:pt x="307" y="561"/>
                  </a:lnTo>
                  <a:lnTo>
                    <a:pt x="309" y="561"/>
                  </a:lnTo>
                  <a:lnTo>
                    <a:pt x="309" y="561"/>
                  </a:lnTo>
                  <a:lnTo>
                    <a:pt x="309" y="559"/>
                  </a:lnTo>
                  <a:lnTo>
                    <a:pt x="309" y="557"/>
                  </a:lnTo>
                  <a:lnTo>
                    <a:pt x="309" y="557"/>
                  </a:lnTo>
                  <a:lnTo>
                    <a:pt x="309" y="557"/>
                  </a:lnTo>
                  <a:lnTo>
                    <a:pt x="309" y="555"/>
                  </a:lnTo>
                  <a:lnTo>
                    <a:pt x="309" y="557"/>
                  </a:lnTo>
                  <a:lnTo>
                    <a:pt x="311" y="557"/>
                  </a:lnTo>
                  <a:lnTo>
                    <a:pt x="313" y="561"/>
                  </a:lnTo>
                  <a:lnTo>
                    <a:pt x="313" y="561"/>
                  </a:lnTo>
                  <a:lnTo>
                    <a:pt x="313" y="561"/>
                  </a:lnTo>
                  <a:lnTo>
                    <a:pt x="315" y="561"/>
                  </a:lnTo>
                  <a:lnTo>
                    <a:pt x="315" y="561"/>
                  </a:lnTo>
                  <a:lnTo>
                    <a:pt x="318" y="559"/>
                  </a:lnTo>
                  <a:lnTo>
                    <a:pt x="318" y="557"/>
                  </a:lnTo>
                  <a:lnTo>
                    <a:pt x="318" y="557"/>
                  </a:lnTo>
                  <a:lnTo>
                    <a:pt x="318" y="557"/>
                  </a:lnTo>
                  <a:lnTo>
                    <a:pt x="315" y="555"/>
                  </a:lnTo>
                  <a:lnTo>
                    <a:pt x="315" y="555"/>
                  </a:lnTo>
                  <a:lnTo>
                    <a:pt x="315" y="555"/>
                  </a:lnTo>
                  <a:lnTo>
                    <a:pt x="313" y="553"/>
                  </a:lnTo>
                  <a:lnTo>
                    <a:pt x="313" y="553"/>
                  </a:lnTo>
                  <a:lnTo>
                    <a:pt x="313" y="551"/>
                  </a:lnTo>
                  <a:lnTo>
                    <a:pt x="313" y="551"/>
                  </a:lnTo>
                  <a:lnTo>
                    <a:pt x="313" y="551"/>
                  </a:lnTo>
                  <a:lnTo>
                    <a:pt x="313" y="551"/>
                  </a:lnTo>
                  <a:lnTo>
                    <a:pt x="315" y="551"/>
                  </a:lnTo>
                  <a:lnTo>
                    <a:pt x="316" y="551"/>
                  </a:lnTo>
                  <a:lnTo>
                    <a:pt x="318" y="551"/>
                  </a:lnTo>
                  <a:lnTo>
                    <a:pt x="320" y="551"/>
                  </a:lnTo>
                  <a:lnTo>
                    <a:pt x="320" y="551"/>
                  </a:lnTo>
                  <a:lnTo>
                    <a:pt x="322" y="551"/>
                  </a:lnTo>
                  <a:lnTo>
                    <a:pt x="322" y="551"/>
                  </a:lnTo>
                  <a:lnTo>
                    <a:pt x="322" y="551"/>
                  </a:lnTo>
                  <a:lnTo>
                    <a:pt x="322" y="550"/>
                  </a:lnTo>
                  <a:lnTo>
                    <a:pt x="322" y="550"/>
                  </a:lnTo>
                  <a:lnTo>
                    <a:pt x="322" y="548"/>
                  </a:lnTo>
                  <a:lnTo>
                    <a:pt x="322" y="548"/>
                  </a:lnTo>
                  <a:lnTo>
                    <a:pt x="322" y="548"/>
                  </a:lnTo>
                  <a:lnTo>
                    <a:pt x="322" y="548"/>
                  </a:lnTo>
                  <a:lnTo>
                    <a:pt x="324" y="548"/>
                  </a:lnTo>
                  <a:lnTo>
                    <a:pt x="324" y="548"/>
                  </a:lnTo>
                  <a:lnTo>
                    <a:pt x="324" y="548"/>
                  </a:lnTo>
                  <a:lnTo>
                    <a:pt x="326" y="550"/>
                  </a:lnTo>
                  <a:lnTo>
                    <a:pt x="326" y="551"/>
                  </a:lnTo>
                  <a:lnTo>
                    <a:pt x="326" y="551"/>
                  </a:lnTo>
                  <a:lnTo>
                    <a:pt x="330" y="555"/>
                  </a:lnTo>
                  <a:lnTo>
                    <a:pt x="330" y="555"/>
                  </a:lnTo>
                  <a:lnTo>
                    <a:pt x="330" y="555"/>
                  </a:lnTo>
                  <a:lnTo>
                    <a:pt x="332" y="555"/>
                  </a:lnTo>
                  <a:lnTo>
                    <a:pt x="334" y="555"/>
                  </a:lnTo>
                  <a:lnTo>
                    <a:pt x="334" y="555"/>
                  </a:lnTo>
                  <a:lnTo>
                    <a:pt x="335" y="555"/>
                  </a:lnTo>
                  <a:lnTo>
                    <a:pt x="337" y="553"/>
                  </a:lnTo>
                  <a:lnTo>
                    <a:pt x="337" y="553"/>
                  </a:lnTo>
                  <a:lnTo>
                    <a:pt x="337" y="553"/>
                  </a:lnTo>
                  <a:lnTo>
                    <a:pt x="337" y="551"/>
                  </a:lnTo>
                  <a:lnTo>
                    <a:pt x="337" y="551"/>
                  </a:lnTo>
                  <a:lnTo>
                    <a:pt x="334" y="548"/>
                  </a:lnTo>
                  <a:lnTo>
                    <a:pt x="332" y="548"/>
                  </a:lnTo>
                  <a:lnTo>
                    <a:pt x="332" y="548"/>
                  </a:lnTo>
                  <a:lnTo>
                    <a:pt x="332" y="548"/>
                  </a:lnTo>
                  <a:lnTo>
                    <a:pt x="334" y="548"/>
                  </a:lnTo>
                  <a:lnTo>
                    <a:pt x="334" y="548"/>
                  </a:lnTo>
                  <a:lnTo>
                    <a:pt x="334" y="548"/>
                  </a:lnTo>
                  <a:lnTo>
                    <a:pt x="341" y="546"/>
                  </a:lnTo>
                  <a:lnTo>
                    <a:pt x="341" y="546"/>
                  </a:lnTo>
                  <a:lnTo>
                    <a:pt x="343" y="546"/>
                  </a:lnTo>
                  <a:lnTo>
                    <a:pt x="343" y="546"/>
                  </a:lnTo>
                  <a:lnTo>
                    <a:pt x="343" y="546"/>
                  </a:lnTo>
                  <a:lnTo>
                    <a:pt x="345" y="542"/>
                  </a:lnTo>
                  <a:lnTo>
                    <a:pt x="345" y="542"/>
                  </a:lnTo>
                  <a:lnTo>
                    <a:pt x="345" y="542"/>
                  </a:lnTo>
                  <a:lnTo>
                    <a:pt x="345" y="542"/>
                  </a:lnTo>
                  <a:lnTo>
                    <a:pt x="345" y="542"/>
                  </a:lnTo>
                  <a:lnTo>
                    <a:pt x="345" y="540"/>
                  </a:lnTo>
                  <a:lnTo>
                    <a:pt x="347" y="540"/>
                  </a:lnTo>
                  <a:lnTo>
                    <a:pt x="347" y="540"/>
                  </a:lnTo>
                  <a:lnTo>
                    <a:pt x="349" y="540"/>
                  </a:lnTo>
                  <a:lnTo>
                    <a:pt x="349" y="540"/>
                  </a:lnTo>
                  <a:lnTo>
                    <a:pt x="349" y="540"/>
                  </a:lnTo>
                  <a:lnTo>
                    <a:pt x="351" y="542"/>
                  </a:lnTo>
                  <a:lnTo>
                    <a:pt x="351" y="542"/>
                  </a:lnTo>
                  <a:lnTo>
                    <a:pt x="351" y="544"/>
                  </a:lnTo>
                  <a:lnTo>
                    <a:pt x="347" y="550"/>
                  </a:lnTo>
                  <a:lnTo>
                    <a:pt x="347" y="551"/>
                  </a:lnTo>
                  <a:lnTo>
                    <a:pt x="347" y="553"/>
                  </a:lnTo>
                  <a:lnTo>
                    <a:pt x="347" y="553"/>
                  </a:lnTo>
                  <a:lnTo>
                    <a:pt x="345" y="555"/>
                  </a:lnTo>
                  <a:lnTo>
                    <a:pt x="345" y="555"/>
                  </a:lnTo>
                  <a:lnTo>
                    <a:pt x="345" y="557"/>
                  </a:lnTo>
                  <a:lnTo>
                    <a:pt x="345" y="557"/>
                  </a:lnTo>
                  <a:lnTo>
                    <a:pt x="343" y="557"/>
                  </a:lnTo>
                  <a:lnTo>
                    <a:pt x="343" y="559"/>
                  </a:lnTo>
                  <a:lnTo>
                    <a:pt x="343" y="559"/>
                  </a:lnTo>
                  <a:lnTo>
                    <a:pt x="343" y="561"/>
                  </a:lnTo>
                  <a:lnTo>
                    <a:pt x="343" y="561"/>
                  </a:lnTo>
                  <a:lnTo>
                    <a:pt x="343" y="561"/>
                  </a:lnTo>
                  <a:lnTo>
                    <a:pt x="341" y="563"/>
                  </a:lnTo>
                  <a:lnTo>
                    <a:pt x="341" y="563"/>
                  </a:lnTo>
                  <a:lnTo>
                    <a:pt x="341" y="563"/>
                  </a:lnTo>
                  <a:lnTo>
                    <a:pt x="341" y="565"/>
                  </a:lnTo>
                  <a:lnTo>
                    <a:pt x="341" y="565"/>
                  </a:lnTo>
                  <a:lnTo>
                    <a:pt x="343" y="565"/>
                  </a:lnTo>
                  <a:lnTo>
                    <a:pt x="345" y="567"/>
                  </a:lnTo>
                  <a:lnTo>
                    <a:pt x="347" y="565"/>
                  </a:lnTo>
                  <a:lnTo>
                    <a:pt x="349" y="565"/>
                  </a:lnTo>
                  <a:lnTo>
                    <a:pt x="353" y="565"/>
                  </a:lnTo>
                  <a:lnTo>
                    <a:pt x="355" y="565"/>
                  </a:lnTo>
                  <a:lnTo>
                    <a:pt x="355" y="565"/>
                  </a:lnTo>
                  <a:lnTo>
                    <a:pt x="355" y="565"/>
                  </a:lnTo>
                  <a:lnTo>
                    <a:pt x="356" y="567"/>
                  </a:lnTo>
                  <a:lnTo>
                    <a:pt x="356" y="567"/>
                  </a:lnTo>
                  <a:lnTo>
                    <a:pt x="358" y="567"/>
                  </a:lnTo>
                  <a:lnTo>
                    <a:pt x="360" y="567"/>
                  </a:lnTo>
                  <a:lnTo>
                    <a:pt x="360" y="567"/>
                  </a:lnTo>
                  <a:lnTo>
                    <a:pt x="362" y="567"/>
                  </a:lnTo>
                  <a:lnTo>
                    <a:pt x="364" y="567"/>
                  </a:lnTo>
                  <a:lnTo>
                    <a:pt x="364" y="567"/>
                  </a:lnTo>
                  <a:lnTo>
                    <a:pt x="366" y="567"/>
                  </a:lnTo>
                  <a:lnTo>
                    <a:pt x="370" y="571"/>
                  </a:lnTo>
                  <a:lnTo>
                    <a:pt x="372" y="572"/>
                  </a:lnTo>
                  <a:lnTo>
                    <a:pt x="376" y="569"/>
                  </a:lnTo>
                  <a:lnTo>
                    <a:pt x="376" y="569"/>
                  </a:lnTo>
                  <a:lnTo>
                    <a:pt x="376" y="569"/>
                  </a:lnTo>
                  <a:lnTo>
                    <a:pt x="377" y="567"/>
                  </a:lnTo>
                  <a:lnTo>
                    <a:pt x="379" y="567"/>
                  </a:lnTo>
                  <a:lnTo>
                    <a:pt x="379" y="567"/>
                  </a:lnTo>
                  <a:lnTo>
                    <a:pt x="379" y="567"/>
                  </a:lnTo>
                  <a:lnTo>
                    <a:pt x="379" y="567"/>
                  </a:lnTo>
                  <a:lnTo>
                    <a:pt x="379" y="565"/>
                  </a:lnTo>
                  <a:lnTo>
                    <a:pt x="379" y="565"/>
                  </a:lnTo>
                  <a:lnTo>
                    <a:pt x="379" y="565"/>
                  </a:lnTo>
                  <a:lnTo>
                    <a:pt x="379" y="563"/>
                  </a:lnTo>
                  <a:lnTo>
                    <a:pt x="379" y="563"/>
                  </a:lnTo>
                  <a:lnTo>
                    <a:pt x="379" y="563"/>
                  </a:lnTo>
                  <a:lnTo>
                    <a:pt x="379" y="563"/>
                  </a:lnTo>
                  <a:lnTo>
                    <a:pt x="379" y="561"/>
                  </a:lnTo>
                  <a:lnTo>
                    <a:pt x="379" y="561"/>
                  </a:lnTo>
                  <a:lnTo>
                    <a:pt x="379" y="561"/>
                  </a:lnTo>
                  <a:lnTo>
                    <a:pt x="383" y="557"/>
                  </a:lnTo>
                  <a:lnTo>
                    <a:pt x="383" y="555"/>
                  </a:lnTo>
                  <a:lnTo>
                    <a:pt x="385" y="553"/>
                  </a:lnTo>
                  <a:lnTo>
                    <a:pt x="385" y="553"/>
                  </a:lnTo>
                  <a:lnTo>
                    <a:pt x="385" y="551"/>
                  </a:lnTo>
                  <a:lnTo>
                    <a:pt x="385" y="551"/>
                  </a:lnTo>
                  <a:lnTo>
                    <a:pt x="385" y="550"/>
                  </a:lnTo>
                  <a:lnTo>
                    <a:pt x="385" y="546"/>
                  </a:lnTo>
                  <a:lnTo>
                    <a:pt x="385" y="546"/>
                  </a:lnTo>
                  <a:lnTo>
                    <a:pt x="385" y="546"/>
                  </a:lnTo>
                  <a:lnTo>
                    <a:pt x="387" y="546"/>
                  </a:lnTo>
                  <a:lnTo>
                    <a:pt x="389" y="546"/>
                  </a:lnTo>
                  <a:lnTo>
                    <a:pt x="389" y="546"/>
                  </a:lnTo>
                  <a:lnTo>
                    <a:pt x="391" y="546"/>
                  </a:lnTo>
                  <a:lnTo>
                    <a:pt x="393" y="546"/>
                  </a:lnTo>
                  <a:lnTo>
                    <a:pt x="393" y="546"/>
                  </a:lnTo>
                  <a:lnTo>
                    <a:pt x="395" y="546"/>
                  </a:lnTo>
                  <a:lnTo>
                    <a:pt x="396" y="546"/>
                  </a:lnTo>
                  <a:lnTo>
                    <a:pt x="396" y="548"/>
                  </a:lnTo>
                  <a:lnTo>
                    <a:pt x="396" y="548"/>
                  </a:lnTo>
                  <a:lnTo>
                    <a:pt x="398" y="548"/>
                  </a:lnTo>
                  <a:lnTo>
                    <a:pt x="396" y="548"/>
                  </a:lnTo>
                  <a:lnTo>
                    <a:pt x="396" y="550"/>
                  </a:lnTo>
                  <a:lnTo>
                    <a:pt x="396" y="550"/>
                  </a:lnTo>
                  <a:lnTo>
                    <a:pt x="396" y="551"/>
                  </a:lnTo>
                  <a:lnTo>
                    <a:pt x="396" y="551"/>
                  </a:lnTo>
                  <a:lnTo>
                    <a:pt x="398" y="551"/>
                  </a:lnTo>
                  <a:lnTo>
                    <a:pt x="398" y="551"/>
                  </a:lnTo>
                  <a:lnTo>
                    <a:pt x="402" y="551"/>
                  </a:lnTo>
                  <a:lnTo>
                    <a:pt x="404" y="551"/>
                  </a:lnTo>
                  <a:lnTo>
                    <a:pt x="406" y="551"/>
                  </a:lnTo>
                  <a:lnTo>
                    <a:pt x="406" y="551"/>
                  </a:lnTo>
                  <a:lnTo>
                    <a:pt x="406" y="550"/>
                  </a:lnTo>
                  <a:lnTo>
                    <a:pt x="406" y="550"/>
                  </a:lnTo>
                  <a:lnTo>
                    <a:pt x="406" y="548"/>
                  </a:lnTo>
                  <a:lnTo>
                    <a:pt x="404" y="546"/>
                  </a:lnTo>
                  <a:lnTo>
                    <a:pt x="402" y="546"/>
                  </a:lnTo>
                  <a:lnTo>
                    <a:pt x="402" y="546"/>
                  </a:lnTo>
                  <a:lnTo>
                    <a:pt x="404" y="546"/>
                  </a:lnTo>
                  <a:lnTo>
                    <a:pt x="414" y="542"/>
                  </a:lnTo>
                  <a:lnTo>
                    <a:pt x="416" y="546"/>
                  </a:lnTo>
                  <a:lnTo>
                    <a:pt x="416" y="548"/>
                  </a:lnTo>
                  <a:lnTo>
                    <a:pt x="416" y="550"/>
                  </a:lnTo>
                  <a:lnTo>
                    <a:pt x="416" y="550"/>
                  </a:lnTo>
                  <a:lnTo>
                    <a:pt x="417" y="551"/>
                  </a:lnTo>
                  <a:lnTo>
                    <a:pt x="417" y="551"/>
                  </a:lnTo>
                  <a:lnTo>
                    <a:pt x="417" y="551"/>
                  </a:lnTo>
                  <a:lnTo>
                    <a:pt x="416" y="551"/>
                  </a:lnTo>
                  <a:lnTo>
                    <a:pt x="416" y="553"/>
                  </a:lnTo>
                  <a:lnTo>
                    <a:pt x="416" y="553"/>
                  </a:lnTo>
                  <a:lnTo>
                    <a:pt x="417" y="553"/>
                  </a:lnTo>
                  <a:lnTo>
                    <a:pt x="417" y="555"/>
                  </a:lnTo>
                  <a:lnTo>
                    <a:pt x="419" y="555"/>
                  </a:lnTo>
                  <a:lnTo>
                    <a:pt x="421" y="555"/>
                  </a:lnTo>
                  <a:lnTo>
                    <a:pt x="425" y="555"/>
                  </a:lnTo>
                  <a:lnTo>
                    <a:pt x="429" y="555"/>
                  </a:lnTo>
                  <a:lnTo>
                    <a:pt x="429" y="557"/>
                  </a:lnTo>
                  <a:lnTo>
                    <a:pt x="429" y="557"/>
                  </a:lnTo>
                  <a:lnTo>
                    <a:pt x="429" y="559"/>
                  </a:lnTo>
                  <a:lnTo>
                    <a:pt x="431" y="559"/>
                  </a:lnTo>
                  <a:lnTo>
                    <a:pt x="431" y="561"/>
                  </a:lnTo>
                  <a:lnTo>
                    <a:pt x="433" y="561"/>
                  </a:lnTo>
                  <a:lnTo>
                    <a:pt x="435" y="561"/>
                  </a:lnTo>
                  <a:lnTo>
                    <a:pt x="435" y="561"/>
                  </a:lnTo>
                  <a:lnTo>
                    <a:pt x="436" y="559"/>
                  </a:lnTo>
                  <a:lnTo>
                    <a:pt x="436" y="559"/>
                  </a:lnTo>
                  <a:lnTo>
                    <a:pt x="438" y="559"/>
                  </a:lnTo>
                  <a:lnTo>
                    <a:pt x="438" y="559"/>
                  </a:lnTo>
                  <a:lnTo>
                    <a:pt x="440" y="559"/>
                  </a:lnTo>
                  <a:lnTo>
                    <a:pt x="440" y="559"/>
                  </a:lnTo>
                  <a:lnTo>
                    <a:pt x="442" y="561"/>
                  </a:lnTo>
                  <a:lnTo>
                    <a:pt x="442" y="563"/>
                  </a:lnTo>
                  <a:lnTo>
                    <a:pt x="442" y="563"/>
                  </a:lnTo>
                  <a:lnTo>
                    <a:pt x="442" y="563"/>
                  </a:lnTo>
                  <a:lnTo>
                    <a:pt x="444" y="565"/>
                  </a:lnTo>
                  <a:lnTo>
                    <a:pt x="444" y="565"/>
                  </a:lnTo>
                  <a:lnTo>
                    <a:pt x="444" y="567"/>
                  </a:lnTo>
                  <a:lnTo>
                    <a:pt x="444" y="567"/>
                  </a:lnTo>
                  <a:lnTo>
                    <a:pt x="444" y="569"/>
                  </a:lnTo>
                  <a:lnTo>
                    <a:pt x="444" y="569"/>
                  </a:lnTo>
                  <a:lnTo>
                    <a:pt x="444" y="569"/>
                  </a:lnTo>
                  <a:lnTo>
                    <a:pt x="444" y="571"/>
                  </a:lnTo>
                  <a:lnTo>
                    <a:pt x="444" y="571"/>
                  </a:lnTo>
                  <a:lnTo>
                    <a:pt x="452" y="576"/>
                  </a:lnTo>
                  <a:lnTo>
                    <a:pt x="452" y="576"/>
                  </a:lnTo>
                  <a:lnTo>
                    <a:pt x="454" y="576"/>
                  </a:lnTo>
                  <a:lnTo>
                    <a:pt x="456" y="576"/>
                  </a:lnTo>
                  <a:lnTo>
                    <a:pt x="457" y="576"/>
                  </a:lnTo>
                  <a:lnTo>
                    <a:pt x="459" y="576"/>
                  </a:lnTo>
                  <a:lnTo>
                    <a:pt x="461" y="578"/>
                  </a:lnTo>
                  <a:lnTo>
                    <a:pt x="465" y="582"/>
                  </a:lnTo>
                  <a:lnTo>
                    <a:pt x="467" y="582"/>
                  </a:lnTo>
                  <a:lnTo>
                    <a:pt x="467" y="582"/>
                  </a:lnTo>
                  <a:lnTo>
                    <a:pt x="467" y="582"/>
                  </a:lnTo>
                  <a:lnTo>
                    <a:pt x="469" y="582"/>
                  </a:lnTo>
                  <a:lnTo>
                    <a:pt x="469" y="582"/>
                  </a:lnTo>
                  <a:lnTo>
                    <a:pt x="469" y="582"/>
                  </a:lnTo>
                  <a:lnTo>
                    <a:pt x="473" y="578"/>
                  </a:lnTo>
                  <a:lnTo>
                    <a:pt x="475" y="578"/>
                  </a:lnTo>
                  <a:lnTo>
                    <a:pt x="475" y="578"/>
                  </a:lnTo>
                  <a:lnTo>
                    <a:pt x="475" y="578"/>
                  </a:lnTo>
                  <a:lnTo>
                    <a:pt x="475" y="580"/>
                  </a:lnTo>
                  <a:lnTo>
                    <a:pt x="475" y="580"/>
                  </a:lnTo>
                  <a:lnTo>
                    <a:pt x="475" y="582"/>
                  </a:lnTo>
                  <a:lnTo>
                    <a:pt x="475" y="584"/>
                  </a:lnTo>
                  <a:lnTo>
                    <a:pt x="475" y="584"/>
                  </a:lnTo>
                  <a:lnTo>
                    <a:pt x="475" y="586"/>
                  </a:lnTo>
                  <a:lnTo>
                    <a:pt x="475" y="586"/>
                  </a:lnTo>
                  <a:lnTo>
                    <a:pt x="475" y="586"/>
                  </a:lnTo>
                  <a:lnTo>
                    <a:pt x="476" y="588"/>
                  </a:lnTo>
                  <a:lnTo>
                    <a:pt x="476" y="588"/>
                  </a:lnTo>
                  <a:lnTo>
                    <a:pt x="476" y="588"/>
                  </a:lnTo>
                  <a:lnTo>
                    <a:pt x="478" y="586"/>
                  </a:lnTo>
                  <a:lnTo>
                    <a:pt x="478" y="586"/>
                  </a:lnTo>
                  <a:lnTo>
                    <a:pt x="478" y="584"/>
                  </a:lnTo>
                  <a:lnTo>
                    <a:pt x="478" y="584"/>
                  </a:lnTo>
                  <a:lnTo>
                    <a:pt x="478" y="584"/>
                  </a:lnTo>
                  <a:lnTo>
                    <a:pt x="480" y="584"/>
                  </a:lnTo>
                  <a:lnTo>
                    <a:pt x="480" y="584"/>
                  </a:lnTo>
                  <a:lnTo>
                    <a:pt x="480" y="586"/>
                  </a:lnTo>
                  <a:lnTo>
                    <a:pt x="480" y="591"/>
                  </a:lnTo>
                  <a:lnTo>
                    <a:pt x="480" y="591"/>
                  </a:lnTo>
                  <a:lnTo>
                    <a:pt x="480" y="591"/>
                  </a:lnTo>
                  <a:lnTo>
                    <a:pt x="480" y="593"/>
                  </a:lnTo>
                  <a:lnTo>
                    <a:pt x="482" y="593"/>
                  </a:lnTo>
                  <a:lnTo>
                    <a:pt x="482" y="593"/>
                  </a:lnTo>
                  <a:lnTo>
                    <a:pt x="482" y="591"/>
                  </a:lnTo>
                  <a:lnTo>
                    <a:pt x="482" y="591"/>
                  </a:lnTo>
                  <a:lnTo>
                    <a:pt x="484" y="591"/>
                  </a:lnTo>
                  <a:lnTo>
                    <a:pt x="484" y="593"/>
                  </a:lnTo>
                  <a:lnTo>
                    <a:pt x="484" y="593"/>
                  </a:lnTo>
                  <a:lnTo>
                    <a:pt x="486" y="593"/>
                  </a:lnTo>
                  <a:lnTo>
                    <a:pt x="486" y="595"/>
                  </a:lnTo>
                  <a:lnTo>
                    <a:pt x="484" y="599"/>
                  </a:lnTo>
                  <a:lnTo>
                    <a:pt x="484" y="599"/>
                  </a:lnTo>
                  <a:lnTo>
                    <a:pt x="484" y="599"/>
                  </a:lnTo>
                  <a:lnTo>
                    <a:pt x="488" y="599"/>
                  </a:lnTo>
                  <a:lnTo>
                    <a:pt x="492" y="599"/>
                  </a:lnTo>
                  <a:lnTo>
                    <a:pt x="494" y="599"/>
                  </a:lnTo>
                  <a:lnTo>
                    <a:pt x="494" y="599"/>
                  </a:lnTo>
                  <a:lnTo>
                    <a:pt x="496" y="597"/>
                  </a:lnTo>
                  <a:lnTo>
                    <a:pt x="496" y="597"/>
                  </a:lnTo>
                  <a:lnTo>
                    <a:pt x="496" y="595"/>
                  </a:lnTo>
                  <a:lnTo>
                    <a:pt x="494" y="593"/>
                  </a:lnTo>
                  <a:lnTo>
                    <a:pt x="494" y="593"/>
                  </a:lnTo>
                  <a:lnTo>
                    <a:pt x="496" y="591"/>
                  </a:lnTo>
                  <a:lnTo>
                    <a:pt x="496" y="591"/>
                  </a:lnTo>
                  <a:lnTo>
                    <a:pt x="496" y="591"/>
                  </a:lnTo>
                  <a:lnTo>
                    <a:pt x="497" y="591"/>
                  </a:lnTo>
                  <a:lnTo>
                    <a:pt x="507" y="593"/>
                  </a:lnTo>
                  <a:lnTo>
                    <a:pt x="511" y="595"/>
                  </a:lnTo>
                  <a:lnTo>
                    <a:pt x="513" y="593"/>
                  </a:lnTo>
                  <a:lnTo>
                    <a:pt x="513" y="593"/>
                  </a:lnTo>
                  <a:lnTo>
                    <a:pt x="520" y="591"/>
                  </a:lnTo>
                  <a:lnTo>
                    <a:pt x="520" y="591"/>
                  </a:lnTo>
                  <a:lnTo>
                    <a:pt x="520" y="591"/>
                  </a:lnTo>
                  <a:lnTo>
                    <a:pt x="522" y="591"/>
                  </a:lnTo>
                  <a:lnTo>
                    <a:pt x="522" y="591"/>
                  </a:lnTo>
                  <a:lnTo>
                    <a:pt x="522" y="595"/>
                  </a:lnTo>
                  <a:lnTo>
                    <a:pt x="522" y="595"/>
                  </a:lnTo>
                  <a:lnTo>
                    <a:pt x="522" y="595"/>
                  </a:lnTo>
                  <a:lnTo>
                    <a:pt x="522" y="595"/>
                  </a:lnTo>
                  <a:lnTo>
                    <a:pt x="526" y="595"/>
                  </a:lnTo>
                  <a:lnTo>
                    <a:pt x="526" y="597"/>
                  </a:lnTo>
                  <a:lnTo>
                    <a:pt x="528" y="597"/>
                  </a:lnTo>
                  <a:lnTo>
                    <a:pt x="528" y="597"/>
                  </a:lnTo>
                  <a:lnTo>
                    <a:pt x="528" y="601"/>
                  </a:lnTo>
                  <a:lnTo>
                    <a:pt x="528" y="601"/>
                  </a:lnTo>
                  <a:lnTo>
                    <a:pt x="530" y="603"/>
                  </a:lnTo>
                  <a:lnTo>
                    <a:pt x="530" y="603"/>
                  </a:lnTo>
                  <a:lnTo>
                    <a:pt x="532" y="605"/>
                  </a:lnTo>
                  <a:lnTo>
                    <a:pt x="532" y="605"/>
                  </a:lnTo>
                  <a:lnTo>
                    <a:pt x="530" y="607"/>
                  </a:lnTo>
                  <a:lnTo>
                    <a:pt x="530" y="607"/>
                  </a:lnTo>
                  <a:lnTo>
                    <a:pt x="528" y="607"/>
                  </a:lnTo>
                  <a:lnTo>
                    <a:pt x="526" y="607"/>
                  </a:lnTo>
                  <a:lnTo>
                    <a:pt x="524" y="607"/>
                  </a:lnTo>
                  <a:lnTo>
                    <a:pt x="524" y="607"/>
                  </a:lnTo>
                  <a:lnTo>
                    <a:pt x="524" y="607"/>
                  </a:lnTo>
                  <a:lnTo>
                    <a:pt x="524" y="609"/>
                  </a:lnTo>
                  <a:lnTo>
                    <a:pt x="524" y="609"/>
                  </a:lnTo>
                  <a:lnTo>
                    <a:pt x="524" y="610"/>
                  </a:lnTo>
                  <a:lnTo>
                    <a:pt x="524" y="612"/>
                  </a:lnTo>
                  <a:lnTo>
                    <a:pt x="524" y="614"/>
                  </a:lnTo>
                  <a:lnTo>
                    <a:pt x="522" y="620"/>
                  </a:lnTo>
                  <a:lnTo>
                    <a:pt x="522" y="620"/>
                  </a:lnTo>
                  <a:lnTo>
                    <a:pt x="524" y="622"/>
                  </a:lnTo>
                  <a:lnTo>
                    <a:pt x="524" y="622"/>
                  </a:lnTo>
                  <a:lnTo>
                    <a:pt x="526" y="622"/>
                  </a:lnTo>
                  <a:lnTo>
                    <a:pt x="526" y="624"/>
                  </a:lnTo>
                  <a:lnTo>
                    <a:pt x="526" y="626"/>
                  </a:lnTo>
                  <a:lnTo>
                    <a:pt x="526" y="631"/>
                  </a:lnTo>
                  <a:lnTo>
                    <a:pt x="526" y="631"/>
                  </a:lnTo>
                  <a:lnTo>
                    <a:pt x="526" y="633"/>
                  </a:lnTo>
                  <a:lnTo>
                    <a:pt x="524" y="635"/>
                  </a:lnTo>
                  <a:lnTo>
                    <a:pt x="522" y="643"/>
                  </a:lnTo>
                  <a:lnTo>
                    <a:pt x="522" y="643"/>
                  </a:lnTo>
                  <a:lnTo>
                    <a:pt x="520" y="645"/>
                  </a:lnTo>
                  <a:lnTo>
                    <a:pt x="518" y="645"/>
                  </a:lnTo>
                  <a:lnTo>
                    <a:pt x="518" y="645"/>
                  </a:lnTo>
                  <a:lnTo>
                    <a:pt x="518" y="645"/>
                  </a:lnTo>
                  <a:lnTo>
                    <a:pt x="518" y="647"/>
                  </a:lnTo>
                  <a:lnTo>
                    <a:pt x="518" y="647"/>
                  </a:lnTo>
                  <a:lnTo>
                    <a:pt x="518" y="648"/>
                  </a:lnTo>
                  <a:lnTo>
                    <a:pt x="520" y="650"/>
                  </a:lnTo>
                  <a:lnTo>
                    <a:pt x="522" y="650"/>
                  </a:lnTo>
                  <a:lnTo>
                    <a:pt x="522" y="652"/>
                  </a:lnTo>
                  <a:lnTo>
                    <a:pt x="524" y="652"/>
                  </a:lnTo>
                  <a:lnTo>
                    <a:pt x="524" y="652"/>
                  </a:lnTo>
                  <a:lnTo>
                    <a:pt x="524" y="654"/>
                  </a:lnTo>
                  <a:lnTo>
                    <a:pt x="524" y="656"/>
                  </a:lnTo>
                  <a:lnTo>
                    <a:pt x="522" y="656"/>
                  </a:lnTo>
                  <a:lnTo>
                    <a:pt x="524" y="658"/>
                  </a:lnTo>
                  <a:lnTo>
                    <a:pt x="524" y="658"/>
                  </a:lnTo>
                  <a:lnTo>
                    <a:pt x="524" y="658"/>
                  </a:lnTo>
                  <a:lnTo>
                    <a:pt x="526" y="660"/>
                  </a:lnTo>
                  <a:lnTo>
                    <a:pt x="530" y="664"/>
                  </a:lnTo>
                  <a:lnTo>
                    <a:pt x="534" y="666"/>
                  </a:lnTo>
                  <a:lnTo>
                    <a:pt x="537" y="669"/>
                  </a:lnTo>
                  <a:lnTo>
                    <a:pt x="539" y="671"/>
                  </a:lnTo>
                  <a:lnTo>
                    <a:pt x="541" y="671"/>
                  </a:lnTo>
                  <a:lnTo>
                    <a:pt x="545" y="673"/>
                  </a:lnTo>
                  <a:lnTo>
                    <a:pt x="545" y="673"/>
                  </a:lnTo>
                  <a:lnTo>
                    <a:pt x="549" y="671"/>
                  </a:lnTo>
                  <a:lnTo>
                    <a:pt x="551" y="673"/>
                  </a:lnTo>
                  <a:lnTo>
                    <a:pt x="557" y="673"/>
                  </a:lnTo>
                  <a:lnTo>
                    <a:pt x="557" y="673"/>
                  </a:lnTo>
                  <a:lnTo>
                    <a:pt x="558" y="673"/>
                  </a:lnTo>
                  <a:lnTo>
                    <a:pt x="560" y="671"/>
                  </a:lnTo>
                  <a:lnTo>
                    <a:pt x="562" y="671"/>
                  </a:lnTo>
                  <a:lnTo>
                    <a:pt x="564" y="669"/>
                  </a:lnTo>
                  <a:lnTo>
                    <a:pt x="566" y="669"/>
                  </a:lnTo>
                  <a:lnTo>
                    <a:pt x="568" y="669"/>
                  </a:lnTo>
                  <a:lnTo>
                    <a:pt x="568" y="669"/>
                  </a:lnTo>
                  <a:lnTo>
                    <a:pt x="568" y="668"/>
                  </a:lnTo>
                  <a:lnTo>
                    <a:pt x="570" y="664"/>
                  </a:lnTo>
                  <a:lnTo>
                    <a:pt x="572" y="664"/>
                  </a:lnTo>
                  <a:lnTo>
                    <a:pt x="572" y="664"/>
                  </a:lnTo>
                  <a:lnTo>
                    <a:pt x="572" y="660"/>
                  </a:lnTo>
                  <a:lnTo>
                    <a:pt x="572" y="660"/>
                  </a:lnTo>
                  <a:lnTo>
                    <a:pt x="572" y="658"/>
                  </a:lnTo>
                  <a:lnTo>
                    <a:pt x="576" y="656"/>
                  </a:lnTo>
                  <a:lnTo>
                    <a:pt x="576" y="656"/>
                  </a:lnTo>
                  <a:lnTo>
                    <a:pt x="577" y="654"/>
                  </a:lnTo>
                  <a:lnTo>
                    <a:pt x="577" y="650"/>
                  </a:lnTo>
                  <a:lnTo>
                    <a:pt x="579" y="650"/>
                  </a:lnTo>
                  <a:lnTo>
                    <a:pt x="581" y="645"/>
                  </a:lnTo>
                  <a:lnTo>
                    <a:pt x="581" y="643"/>
                  </a:lnTo>
                  <a:lnTo>
                    <a:pt x="583" y="641"/>
                  </a:lnTo>
                  <a:lnTo>
                    <a:pt x="585" y="637"/>
                  </a:lnTo>
                  <a:lnTo>
                    <a:pt x="585" y="637"/>
                  </a:lnTo>
                  <a:lnTo>
                    <a:pt x="587" y="635"/>
                  </a:lnTo>
                  <a:lnTo>
                    <a:pt x="587" y="635"/>
                  </a:lnTo>
                  <a:lnTo>
                    <a:pt x="587" y="633"/>
                  </a:lnTo>
                  <a:lnTo>
                    <a:pt x="587" y="633"/>
                  </a:lnTo>
                  <a:lnTo>
                    <a:pt x="587" y="631"/>
                  </a:lnTo>
                  <a:lnTo>
                    <a:pt x="589" y="629"/>
                  </a:lnTo>
                  <a:lnTo>
                    <a:pt x="589" y="628"/>
                  </a:lnTo>
                  <a:lnTo>
                    <a:pt x="589" y="628"/>
                  </a:lnTo>
                  <a:lnTo>
                    <a:pt x="589" y="626"/>
                  </a:lnTo>
                  <a:lnTo>
                    <a:pt x="589" y="626"/>
                  </a:lnTo>
                  <a:lnTo>
                    <a:pt x="589" y="624"/>
                  </a:lnTo>
                  <a:lnTo>
                    <a:pt x="587" y="622"/>
                  </a:lnTo>
                  <a:lnTo>
                    <a:pt x="587" y="622"/>
                  </a:lnTo>
                  <a:lnTo>
                    <a:pt x="585" y="620"/>
                  </a:lnTo>
                  <a:lnTo>
                    <a:pt x="585" y="618"/>
                  </a:lnTo>
                  <a:lnTo>
                    <a:pt x="585" y="616"/>
                  </a:lnTo>
                  <a:lnTo>
                    <a:pt x="585" y="616"/>
                  </a:lnTo>
                  <a:lnTo>
                    <a:pt x="585" y="616"/>
                  </a:lnTo>
                  <a:lnTo>
                    <a:pt x="585" y="614"/>
                  </a:lnTo>
                  <a:lnTo>
                    <a:pt x="585" y="614"/>
                  </a:lnTo>
                  <a:lnTo>
                    <a:pt x="585" y="614"/>
                  </a:lnTo>
                  <a:lnTo>
                    <a:pt x="585" y="612"/>
                  </a:lnTo>
                  <a:lnTo>
                    <a:pt x="587" y="612"/>
                  </a:lnTo>
                  <a:lnTo>
                    <a:pt x="589" y="610"/>
                  </a:lnTo>
                  <a:lnTo>
                    <a:pt x="597" y="610"/>
                  </a:lnTo>
                  <a:lnTo>
                    <a:pt x="597" y="607"/>
                  </a:lnTo>
                  <a:lnTo>
                    <a:pt x="597" y="605"/>
                  </a:lnTo>
                  <a:lnTo>
                    <a:pt x="597" y="601"/>
                  </a:lnTo>
                  <a:lnTo>
                    <a:pt x="597" y="601"/>
                  </a:lnTo>
                  <a:lnTo>
                    <a:pt x="597" y="599"/>
                  </a:lnTo>
                  <a:lnTo>
                    <a:pt x="595" y="597"/>
                  </a:lnTo>
                  <a:lnTo>
                    <a:pt x="595" y="597"/>
                  </a:lnTo>
                  <a:lnTo>
                    <a:pt x="595" y="595"/>
                  </a:lnTo>
                  <a:lnTo>
                    <a:pt x="597" y="593"/>
                  </a:lnTo>
                  <a:lnTo>
                    <a:pt x="597" y="591"/>
                  </a:lnTo>
                  <a:lnTo>
                    <a:pt x="597" y="590"/>
                  </a:lnTo>
                  <a:lnTo>
                    <a:pt x="597" y="588"/>
                  </a:lnTo>
                  <a:lnTo>
                    <a:pt x="597" y="588"/>
                  </a:lnTo>
                  <a:lnTo>
                    <a:pt x="595" y="588"/>
                  </a:lnTo>
                  <a:lnTo>
                    <a:pt x="591" y="586"/>
                  </a:lnTo>
                  <a:lnTo>
                    <a:pt x="591" y="586"/>
                  </a:lnTo>
                  <a:lnTo>
                    <a:pt x="589" y="584"/>
                  </a:lnTo>
                  <a:lnTo>
                    <a:pt x="587" y="584"/>
                  </a:lnTo>
                  <a:lnTo>
                    <a:pt x="587" y="582"/>
                  </a:lnTo>
                  <a:lnTo>
                    <a:pt x="585" y="580"/>
                  </a:lnTo>
                  <a:lnTo>
                    <a:pt x="585" y="580"/>
                  </a:lnTo>
                  <a:lnTo>
                    <a:pt x="583" y="578"/>
                  </a:lnTo>
                  <a:lnTo>
                    <a:pt x="583" y="578"/>
                  </a:lnTo>
                  <a:lnTo>
                    <a:pt x="581" y="576"/>
                  </a:lnTo>
                  <a:lnTo>
                    <a:pt x="581" y="576"/>
                  </a:lnTo>
                  <a:lnTo>
                    <a:pt x="581" y="574"/>
                  </a:lnTo>
                  <a:lnTo>
                    <a:pt x="581" y="572"/>
                  </a:lnTo>
                  <a:lnTo>
                    <a:pt x="581" y="572"/>
                  </a:lnTo>
                  <a:lnTo>
                    <a:pt x="581" y="571"/>
                  </a:lnTo>
                  <a:lnTo>
                    <a:pt x="581" y="571"/>
                  </a:lnTo>
                  <a:lnTo>
                    <a:pt x="581" y="567"/>
                  </a:lnTo>
                  <a:lnTo>
                    <a:pt x="581" y="563"/>
                  </a:lnTo>
                  <a:lnTo>
                    <a:pt x="581" y="563"/>
                  </a:lnTo>
                  <a:lnTo>
                    <a:pt x="581" y="561"/>
                  </a:lnTo>
                  <a:lnTo>
                    <a:pt x="579" y="559"/>
                  </a:lnTo>
                  <a:lnTo>
                    <a:pt x="577" y="557"/>
                  </a:lnTo>
                  <a:lnTo>
                    <a:pt x="577" y="555"/>
                  </a:lnTo>
                  <a:lnTo>
                    <a:pt x="577" y="555"/>
                  </a:lnTo>
                  <a:lnTo>
                    <a:pt x="577" y="553"/>
                  </a:lnTo>
                  <a:lnTo>
                    <a:pt x="577" y="548"/>
                  </a:lnTo>
                  <a:lnTo>
                    <a:pt x="579" y="546"/>
                  </a:lnTo>
                  <a:lnTo>
                    <a:pt x="579" y="544"/>
                  </a:lnTo>
                  <a:lnTo>
                    <a:pt x="579" y="544"/>
                  </a:lnTo>
                  <a:lnTo>
                    <a:pt x="579" y="542"/>
                  </a:lnTo>
                  <a:lnTo>
                    <a:pt x="581" y="540"/>
                  </a:lnTo>
                  <a:lnTo>
                    <a:pt x="581" y="540"/>
                  </a:lnTo>
                  <a:lnTo>
                    <a:pt x="583" y="538"/>
                  </a:lnTo>
                  <a:lnTo>
                    <a:pt x="587" y="536"/>
                  </a:lnTo>
                  <a:lnTo>
                    <a:pt x="591" y="534"/>
                  </a:lnTo>
                  <a:lnTo>
                    <a:pt x="593" y="534"/>
                  </a:lnTo>
                  <a:lnTo>
                    <a:pt x="595" y="531"/>
                  </a:lnTo>
                  <a:lnTo>
                    <a:pt x="597" y="531"/>
                  </a:lnTo>
                  <a:lnTo>
                    <a:pt x="610" y="523"/>
                  </a:lnTo>
                  <a:lnTo>
                    <a:pt x="619" y="517"/>
                  </a:lnTo>
                  <a:lnTo>
                    <a:pt x="621" y="515"/>
                  </a:lnTo>
                  <a:lnTo>
                    <a:pt x="621" y="513"/>
                  </a:lnTo>
                  <a:lnTo>
                    <a:pt x="623" y="513"/>
                  </a:lnTo>
                  <a:lnTo>
                    <a:pt x="623" y="513"/>
                  </a:lnTo>
                  <a:lnTo>
                    <a:pt x="627" y="512"/>
                  </a:lnTo>
                  <a:lnTo>
                    <a:pt x="629" y="510"/>
                  </a:lnTo>
                  <a:lnTo>
                    <a:pt x="631" y="508"/>
                  </a:lnTo>
                  <a:lnTo>
                    <a:pt x="631" y="508"/>
                  </a:lnTo>
                  <a:lnTo>
                    <a:pt x="633" y="506"/>
                  </a:lnTo>
                  <a:lnTo>
                    <a:pt x="638" y="502"/>
                  </a:lnTo>
                  <a:lnTo>
                    <a:pt x="640" y="500"/>
                  </a:lnTo>
                  <a:lnTo>
                    <a:pt x="646" y="494"/>
                  </a:lnTo>
                  <a:lnTo>
                    <a:pt x="654" y="487"/>
                  </a:lnTo>
                  <a:lnTo>
                    <a:pt x="658" y="487"/>
                  </a:lnTo>
                  <a:lnTo>
                    <a:pt x="659" y="489"/>
                  </a:lnTo>
                  <a:lnTo>
                    <a:pt x="659" y="489"/>
                  </a:lnTo>
                  <a:lnTo>
                    <a:pt x="659" y="491"/>
                  </a:lnTo>
                  <a:lnTo>
                    <a:pt x="659" y="491"/>
                  </a:lnTo>
                  <a:lnTo>
                    <a:pt x="659" y="493"/>
                  </a:lnTo>
                  <a:lnTo>
                    <a:pt x="659" y="493"/>
                  </a:lnTo>
                  <a:lnTo>
                    <a:pt x="659" y="493"/>
                  </a:lnTo>
                  <a:lnTo>
                    <a:pt x="659" y="494"/>
                  </a:lnTo>
                  <a:lnTo>
                    <a:pt x="659" y="494"/>
                  </a:lnTo>
                  <a:lnTo>
                    <a:pt x="661" y="494"/>
                  </a:lnTo>
                  <a:lnTo>
                    <a:pt x="661" y="494"/>
                  </a:lnTo>
                  <a:lnTo>
                    <a:pt x="661" y="496"/>
                  </a:lnTo>
                  <a:lnTo>
                    <a:pt x="661" y="496"/>
                  </a:lnTo>
                  <a:lnTo>
                    <a:pt x="661" y="496"/>
                  </a:lnTo>
                  <a:lnTo>
                    <a:pt x="663" y="496"/>
                  </a:lnTo>
                  <a:lnTo>
                    <a:pt x="663" y="496"/>
                  </a:lnTo>
                  <a:lnTo>
                    <a:pt x="663" y="496"/>
                  </a:lnTo>
                  <a:lnTo>
                    <a:pt x="665" y="496"/>
                  </a:lnTo>
                  <a:lnTo>
                    <a:pt x="667" y="496"/>
                  </a:lnTo>
                  <a:lnTo>
                    <a:pt x="669" y="496"/>
                  </a:lnTo>
                  <a:lnTo>
                    <a:pt x="669" y="496"/>
                  </a:lnTo>
                  <a:lnTo>
                    <a:pt x="671" y="496"/>
                  </a:lnTo>
                  <a:lnTo>
                    <a:pt x="671" y="494"/>
                  </a:lnTo>
                  <a:lnTo>
                    <a:pt x="671" y="494"/>
                  </a:lnTo>
                  <a:lnTo>
                    <a:pt x="671" y="494"/>
                  </a:lnTo>
                  <a:lnTo>
                    <a:pt x="671" y="493"/>
                  </a:lnTo>
                  <a:lnTo>
                    <a:pt x="671" y="493"/>
                  </a:lnTo>
                  <a:lnTo>
                    <a:pt x="671" y="493"/>
                  </a:lnTo>
                  <a:lnTo>
                    <a:pt x="669" y="489"/>
                  </a:lnTo>
                  <a:lnTo>
                    <a:pt x="669" y="487"/>
                  </a:lnTo>
                  <a:lnTo>
                    <a:pt x="671" y="487"/>
                  </a:lnTo>
                  <a:lnTo>
                    <a:pt x="671" y="485"/>
                  </a:lnTo>
                  <a:lnTo>
                    <a:pt x="673" y="485"/>
                  </a:lnTo>
                  <a:lnTo>
                    <a:pt x="675" y="485"/>
                  </a:lnTo>
                  <a:lnTo>
                    <a:pt x="677" y="485"/>
                  </a:lnTo>
                  <a:lnTo>
                    <a:pt x="678" y="489"/>
                  </a:lnTo>
                  <a:lnTo>
                    <a:pt x="680" y="489"/>
                  </a:lnTo>
                  <a:lnTo>
                    <a:pt x="682" y="491"/>
                  </a:lnTo>
                  <a:lnTo>
                    <a:pt x="684" y="491"/>
                  </a:lnTo>
                  <a:lnTo>
                    <a:pt x="684" y="491"/>
                  </a:lnTo>
                  <a:lnTo>
                    <a:pt x="686" y="491"/>
                  </a:lnTo>
                  <a:lnTo>
                    <a:pt x="688" y="491"/>
                  </a:lnTo>
                  <a:lnTo>
                    <a:pt x="690" y="491"/>
                  </a:lnTo>
                  <a:lnTo>
                    <a:pt x="690" y="491"/>
                  </a:lnTo>
                  <a:lnTo>
                    <a:pt x="694" y="487"/>
                  </a:lnTo>
                  <a:lnTo>
                    <a:pt x="696" y="487"/>
                  </a:lnTo>
                  <a:lnTo>
                    <a:pt x="696" y="487"/>
                  </a:lnTo>
                  <a:lnTo>
                    <a:pt x="696" y="485"/>
                  </a:lnTo>
                  <a:lnTo>
                    <a:pt x="696" y="483"/>
                  </a:lnTo>
                  <a:lnTo>
                    <a:pt x="698" y="483"/>
                  </a:lnTo>
                  <a:close/>
                </a:path>
              </a:pathLst>
            </a:custGeom>
            <a:solidFill>
              <a:srgbClr val="DA291C"/>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63" name="Freeform 12">
              <a:extLst>
                <a:ext uri="{FF2B5EF4-FFF2-40B4-BE49-F238E27FC236}">
                  <a16:creationId xmlns:a16="http://schemas.microsoft.com/office/drawing/2014/main" id="{C2B9208E-66C7-C608-88CB-FA0DAF3AB7B5}"/>
                </a:ext>
              </a:extLst>
            </p:cNvPr>
            <p:cNvSpPr>
              <a:spLocks/>
            </p:cNvSpPr>
            <p:nvPr/>
          </p:nvSpPr>
          <p:spPr bwMode="auto">
            <a:xfrm>
              <a:off x="5011243" y="3436821"/>
              <a:ext cx="211292" cy="272336"/>
            </a:xfrm>
            <a:custGeom>
              <a:avLst/>
              <a:gdLst>
                <a:gd name="T0" fmla="*/ 112 w 112"/>
                <a:gd name="T1" fmla="*/ 55 h 161"/>
                <a:gd name="T2" fmla="*/ 110 w 112"/>
                <a:gd name="T3" fmla="*/ 51 h 161"/>
                <a:gd name="T4" fmla="*/ 110 w 112"/>
                <a:gd name="T5" fmla="*/ 36 h 161"/>
                <a:gd name="T6" fmla="*/ 108 w 112"/>
                <a:gd name="T7" fmla="*/ 32 h 161"/>
                <a:gd name="T8" fmla="*/ 105 w 112"/>
                <a:gd name="T9" fmla="*/ 20 h 161"/>
                <a:gd name="T10" fmla="*/ 103 w 112"/>
                <a:gd name="T11" fmla="*/ 11 h 161"/>
                <a:gd name="T12" fmla="*/ 103 w 112"/>
                <a:gd name="T13" fmla="*/ 5 h 161"/>
                <a:gd name="T14" fmla="*/ 91 w 112"/>
                <a:gd name="T15" fmla="*/ 1 h 161"/>
                <a:gd name="T16" fmla="*/ 89 w 112"/>
                <a:gd name="T17" fmla="*/ 17 h 161"/>
                <a:gd name="T18" fmla="*/ 78 w 112"/>
                <a:gd name="T19" fmla="*/ 22 h 161"/>
                <a:gd name="T20" fmla="*/ 72 w 112"/>
                <a:gd name="T21" fmla="*/ 20 h 161"/>
                <a:gd name="T22" fmla="*/ 70 w 112"/>
                <a:gd name="T23" fmla="*/ 39 h 161"/>
                <a:gd name="T24" fmla="*/ 63 w 112"/>
                <a:gd name="T25" fmla="*/ 34 h 161"/>
                <a:gd name="T26" fmla="*/ 55 w 112"/>
                <a:gd name="T27" fmla="*/ 34 h 161"/>
                <a:gd name="T28" fmla="*/ 51 w 112"/>
                <a:gd name="T29" fmla="*/ 39 h 161"/>
                <a:gd name="T30" fmla="*/ 46 w 112"/>
                <a:gd name="T31" fmla="*/ 34 h 161"/>
                <a:gd name="T32" fmla="*/ 40 w 112"/>
                <a:gd name="T33" fmla="*/ 45 h 161"/>
                <a:gd name="T34" fmla="*/ 21 w 112"/>
                <a:gd name="T35" fmla="*/ 47 h 161"/>
                <a:gd name="T36" fmla="*/ 17 w 112"/>
                <a:gd name="T37" fmla="*/ 55 h 161"/>
                <a:gd name="T38" fmla="*/ 11 w 112"/>
                <a:gd name="T39" fmla="*/ 59 h 161"/>
                <a:gd name="T40" fmla="*/ 9 w 112"/>
                <a:gd name="T41" fmla="*/ 70 h 161"/>
                <a:gd name="T42" fmla="*/ 4 w 112"/>
                <a:gd name="T43" fmla="*/ 81 h 161"/>
                <a:gd name="T44" fmla="*/ 4 w 112"/>
                <a:gd name="T45" fmla="*/ 87 h 161"/>
                <a:gd name="T46" fmla="*/ 2 w 112"/>
                <a:gd name="T47" fmla="*/ 93 h 161"/>
                <a:gd name="T48" fmla="*/ 6 w 112"/>
                <a:gd name="T49" fmla="*/ 106 h 161"/>
                <a:gd name="T50" fmla="*/ 9 w 112"/>
                <a:gd name="T51" fmla="*/ 112 h 161"/>
                <a:gd name="T52" fmla="*/ 15 w 112"/>
                <a:gd name="T53" fmla="*/ 119 h 161"/>
                <a:gd name="T54" fmla="*/ 13 w 112"/>
                <a:gd name="T55" fmla="*/ 123 h 161"/>
                <a:gd name="T56" fmla="*/ 23 w 112"/>
                <a:gd name="T57" fmla="*/ 150 h 161"/>
                <a:gd name="T58" fmla="*/ 23 w 112"/>
                <a:gd name="T59" fmla="*/ 129 h 161"/>
                <a:gd name="T60" fmla="*/ 28 w 112"/>
                <a:gd name="T61" fmla="*/ 135 h 161"/>
                <a:gd name="T62" fmla="*/ 30 w 112"/>
                <a:gd name="T63" fmla="*/ 135 h 161"/>
                <a:gd name="T64" fmla="*/ 32 w 112"/>
                <a:gd name="T65" fmla="*/ 140 h 161"/>
                <a:gd name="T66" fmla="*/ 36 w 112"/>
                <a:gd name="T67" fmla="*/ 152 h 161"/>
                <a:gd name="T68" fmla="*/ 40 w 112"/>
                <a:gd name="T69" fmla="*/ 157 h 161"/>
                <a:gd name="T70" fmla="*/ 44 w 112"/>
                <a:gd name="T71" fmla="*/ 159 h 161"/>
                <a:gd name="T72" fmla="*/ 47 w 112"/>
                <a:gd name="T73" fmla="*/ 157 h 161"/>
                <a:gd name="T74" fmla="*/ 53 w 112"/>
                <a:gd name="T75" fmla="*/ 157 h 161"/>
                <a:gd name="T76" fmla="*/ 59 w 112"/>
                <a:gd name="T77" fmla="*/ 150 h 161"/>
                <a:gd name="T78" fmla="*/ 59 w 112"/>
                <a:gd name="T79" fmla="*/ 148 h 161"/>
                <a:gd name="T80" fmla="*/ 61 w 112"/>
                <a:gd name="T81" fmla="*/ 146 h 161"/>
                <a:gd name="T82" fmla="*/ 59 w 112"/>
                <a:gd name="T83" fmla="*/ 123 h 161"/>
                <a:gd name="T84" fmla="*/ 72 w 112"/>
                <a:gd name="T85" fmla="*/ 110 h 161"/>
                <a:gd name="T86" fmla="*/ 72 w 112"/>
                <a:gd name="T87" fmla="*/ 87 h 161"/>
                <a:gd name="T88" fmla="*/ 78 w 112"/>
                <a:gd name="T89" fmla="*/ 85 h 161"/>
                <a:gd name="T90" fmla="*/ 89 w 112"/>
                <a:gd name="T91" fmla="*/ 85 h 161"/>
                <a:gd name="T92" fmla="*/ 99 w 112"/>
                <a:gd name="T93" fmla="*/ 91 h 161"/>
                <a:gd name="T94" fmla="*/ 105 w 112"/>
                <a:gd name="T95" fmla="*/ 85 h 161"/>
                <a:gd name="T96" fmla="*/ 107 w 112"/>
                <a:gd name="T97" fmla="*/ 74 h 161"/>
                <a:gd name="T98" fmla="*/ 107 w 112"/>
                <a:gd name="T99" fmla="*/ 70 h 161"/>
                <a:gd name="T100" fmla="*/ 108 w 112"/>
                <a:gd name="T101" fmla="*/ 70 h 161"/>
                <a:gd name="T102" fmla="*/ 110 w 112"/>
                <a:gd name="T103" fmla="*/ 70 h 161"/>
                <a:gd name="T104" fmla="*/ 110 w 112"/>
                <a:gd name="T105" fmla="*/ 68 h 161"/>
                <a:gd name="T106" fmla="*/ 110 w 112"/>
                <a:gd name="T107" fmla="*/ 6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2" h="161">
                  <a:moveTo>
                    <a:pt x="110" y="60"/>
                  </a:moveTo>
                  <a:lnTo>
                    <a:pt x="110" y="60"/>
                  </a:lnTo>
                  <a:lnTo>
                    <a:pt x="110" y="57"/>
                  </a:lnTo>
                  <a:lnTo>
                    <a:pt x="112" y="55"/>
                  </a:lnTo>
                  <a:lnTo>
                    <a:pt x="112" y="55"/>
                  </a:lnTo>
                  <a:lnTo>
                    <a:pt x="110" y="55"/>
                  </a:lnTo>
                  <a:lnTo>
                    <a:pt x="110" y="53"/>
                  </a:lnTo>
                  <a:lnTo>
                    <a:pt x="110" y="53"/>
                  </a:lnTo>
                  <a:lnTo>
                    <a:pt x="110" y="53"/>
                  </a:lnTo>
                  <a:lnTo>
                    <a:pt x="110" y="51"/>
                  </a:lnTo>
                  <a:lnTo>
                    <a:pt x="110" y="49"/>
                  </a:lnTo>
                  <a:lnTo>
                    <a:pt x="110" y="45"/>
                  </a:lnTo>
                  <a:lnTo>
                    <a:pt x="110" y="45"/>
                  </a:lnTo>
                  <a:lnTo>
                    <a:pt x="110" y="36"/>
                  </a:lnTo>
                  <a:lnTo>
                    <a:pt x="110" y="36"/>
                  </a:lnTo>
                  <a:lnTo>
                    <a:pt x="110" y="34"/>
                  </a:lnTo>
                  <a:lnTo>
                    <a:pt x="110" y="34"/>
                  </a:lnTo>
                  <a:lnTo>
                    <a:pt x="110" y="34"/>
                  </a:lnTo>
                  <a:lnTo>
                    <a:pt x="108" y="34"/>
                  </a:lnTo>
                  <a:lnTo>
                    <a:pt x="108" y="32"/>
                  </a:lnTo>
                  <a:lnTo>
                    <a:pt x="108" y="30"/>
                  </a:lnTo>
                  <a:lnTo>
                    <a:pt x="103" y="30"/>
                  </a:lnTo>
                  <a:lnTo>
                    <a:pt x="101" y="30"/>
                  </a:lnTo>
                  <a:lnTo>
                    <a:pt x="101" y="28"/>
                  </a:lnTo>
                  <a:lnTo>
                    <a:pt x="105" y="20"/>
                  </a:lnTo>
                  <a:lnTo>
                    <a:pt x="105" y="19"/>
                  </a:lnTo>
                  <a:lnTo>
                    <a:pt x="105" y="19"/>
                  </a:lnTo>
                  <a:lnTo>
                    <a:pt x="105" y="17"/>
                  </a:lnTo>
                  <a:lnTo>
                    <a:pt x="105" y="15"/>
                  </a:lnTo>
                  <a:lnTo>
                    <a:pt x="103" y="11"/>
                  </a:lnTo>
                  <a:lnTo>
                    <a:pt x="103" y="11"/>
                  </a:lnTo>
                  <a:lnTo>
                    <a:pt x="103" y="9"/>
                  </a:lnTo>
                  <a:lnTo>
                    <a:pt x="103" y="7"/>
                  </a:lnTo>
                  <a:lnTo>
                    <a:pt x="103" y="5"/>
                  </a:lnTo>
                  <a:lnTo>
                    <a:pt x="103" y="5"/>
                  </a:lnTo>
                  <a:lnTo>
                    <a:pt x="101" y="5"/>
                  </a:lnTo>
                  <a:lnTo>
                    <a:pt x="95" y="0"/>
                  </a:lnTo>
                  <a:lnTo>
                    <a:pt x="95" y="0"/>
                  </a:lnTo>
                  <a:lnTo>
                    <a:pt x="93" y="1"/>
                  </a:lnTo>
                  <a:lnTo>
                    <a:pt x="91" y="1"/>
                  </a:lnTo>
                  <a:lnTo>
                    <a:pt x="91" y="3"/>
                  </a:lnTo>
                  <a:lnTo>
                    <a:pt x="91" y="5"/>
                  </a:lnTo>
                  <a:lnTo>
                    <a:pt x="91" y="11"/>
                  </a:lnTo>
                  <a:lnTo>
                    <a:pt x="91" y="15"/>
                  </a:lnTo>
                  <a:lnTo>
                    <a:pt x="89" y="17"/>
                  </a:lnTo>
                  <a:lnTo>
                    <a:pt x="87" y="17"/>
                  </a:lnTo>
                  <a:lnTo>
                    <a:pt x="84" y="19"/>
                  </a:lnTo>
                  <a:lnTo>
                    <a:pt x="76" y="17"/>
                  </a:lnTo>
                  <a:lnTo>
                    <a:pt x="76" y="19"/>
                  </a:lnTo>
                  <a:lnTo>
                    <a:pt x="78" y="22"/>
                  </a:lnTo>
                  <a:lnTo>
                    <a:pt x="78" y="22"/>
                  </a:lnTo>
                  <a:lnTo>
                    <a:pt x="76" y="22"/>
                  </a:lnTo>
                  <a:lnTo>
                    <a:pt x="74" y="20"/>
                  </a:lnTo>
                  <a:lnTo>
                    <a:pt x="74" y="20"/>
                  </a:lnTo>
                  <a:lnTo>
                    <a:pt x="72" y="20"/>
                  </a:lnTo>
                  <a:lnTo>
                    <a:pt x="70" y="22"/>
                  </a:lnTo>
                  <a:lnTo>
                    <a:pt x="72" y="26"/>
                  </a:lnTo>
                  <a:lnTo>
                    <a:pt x="72" y="28"/>
                  </a:lnTo>
                  <a:lnTo>
                    <a:pt x="70" y="38"/>
                  </a:lnTo>
                  <a:lnTo>
                    <a:pt x="70" y="39"/>
                  </a:lnTo>
                  <a:lnTo>
                    <a:pt x="68" y="39"/>
                  </a:lnTo>
                  <a:lnTo>
                    <a:pt x="66" y="39"/>
                  </a:lnTo>
                  <a:lnTo>
                    <a:pt x="63" y="36"/>
                  </a:lnTo>
                  <a:lnTo>
                    <a:pt x="63" y="36"/>
                  </a:lnTo>
                  <a:lnTo>
                    <a:pt x="63" y="34"/>
                  </a:lnTo>
                  <a:lnTo>
                    <a:pt x="63" y="32"/>
                  </a:lnTo>
                  <a:lnTo>
                    <a:pt x="63" y="32"/>
                  </a:lnTo>
                  <a:lnTo>
                    <a:pt x="57" y="32"/>
                  </a:lnTo>
                  <a:lnTo>
                    <a:pt x="55" y="32"/>
                  </a:lnTo>
                  <a:lnTo>
                    <a:pt x="55" y="34"/>
                  </a:lnTo>
                  <a:lnTo>
                    <a:pt x="55" y="36"/>
                  </a:lnTo>
                  <a:lnTo>
                    <a:pt x="57" y="38"/>
                  </a:lnTo>
                  <a:lnTo>
                    <a:pt x="55" y="39"/>
                  </a:lnTo>
                  <a:lnTo>
                    <a:pt x="53" y="41"/>
                  </a:lnTo>
                  <a:lnTo>
                    <a:pt x="51" y="39"/>
                  </a:lnTo>
                  <a:lnTo>
                    <a:pt x="49" y="39"/>
                  </a:lnTo>
                  <a:lnTo>
                    <a:pt x="49" y="38"/>
                  </a:lnTo>
                  <a:lnTo>
                    <a:pt x="47" y="34"/>
                  </a:lnTo>
                  <a:lnTo>
                    <a:pt x="46" y="34"/>
                  </a:lnTo>
                  <a:lnTo>
                    <a:pt x="46" y="34"/>
                  </a:lnTo>
                  <a:lnTo>
                    <a:pt x="46" y="41"/>
                  </a:lnTo>
                  <a:lnTo>
                    <a:pt x="44" y="43"/>
                  </a:lnTo>
                  <a:lnTo>
                    <a:pt x="44" y="45"/>
                  </a:lnTo>
                  <a:lnTo>
                    <a:pt x="42" y="45"/>
                  </a:lnTo>
                  <a:lnTo>
                    <a:pt x="40" y="45"/>
                  </a:lnTo>
                  <a:lnTo>
                    <a:pt x="36" y="47"/>
                  </a:lnTo>
                  <a:lnTo>
                    <a:pt x="32" y="45"/>
                  </a:lnTo>
                  <a:lnTo>
                    <a:pt x="26" y="45"/>
                  </a:lnTo>
                  <a:lnTo>
                    <a:pt x="23" y="45"/>
                  </a:lnTo>
                  <a:lnTo>
                    <a:pt x="21" y="47"/>
                  </a:lnTo>
                  <a:lnTo>
                    <a:pt x="21" y="51"/>
                  </a:lnTo>
                  <a:lnTo>
                    <a:pt x="19" y="55"/>
                  </a:lnTo>
                  <a:lnTo>
                    <a:pt x="19" y="57"/>
                  </a:lnTo>
                  <a:lnTo>
                    <a:pt x="17" y="57"/>
                  </a:lnTo>
                  <a:lnTo>
                    <a:pt x="17" y="55"/>
                  </a:lnTo>
                  <a:lnTo>
                    <a:pt x="17" y="55"/>
                  </a:lnTo>
                  <a:lnTo>
                    <a:pt x="15" y="55"/>
                  </a:lnTo>
                  <a:lnTo>
                    <a:pt x="13" y="57"/>
                  </a:lnTo>
                  <a:lnTo>
                    <a:pt x="13" y="57"/>
                  </a:lnTo>
                  <a:lnTo>
                    <a:pt x="11" y="59"/>
                  </a:lnTo>
                  <a:lnTo>
                    <a:pt x="7" y="64"/>
                  </a:lnTo>
                  <a:lnTo>
                    <a:pt x="7" y="66"/>
                  </a:lnTo>
                  <a:lnTo>
                    <a:pt x="7" y="66"/>
                  </a:lnTo>
                  <a:lnTo>
                    <a:pt x="9" y="70"/>
                  </a:lnTo>
                  <a:lnTo>
                    <a:pt x="9" y="70"/>
                  </a:lnTo>
                  <a:lnTo>
                    <a:pt x="9" y="72"/>
                  </a:lnTo>
                  <a:lnTo>
                    <a:pt x="7" y="78"/>
                  </a:lnTo>
                  <a:lnTo>
                    <a:pt x="6" y="79"/>
                  </a:lnTo>
                  <a:lnTo>
                    <a:pt x="6" y="81"/>
                  </a:lnTo>
                  <a:lnTo>
                    <a:pt x="4" y="81"/>
                  </a:lnTo>
                  <a:lnTo>
                    <a:pt x="2" y="81"/>
                  </a:lnTo>
                  <a:lnTo>
                    <a:pt x="0" y="83"/>
                  </a:lnTo>
                  <a:lnTo>
                    <a:pt x="2" y="85"/>
                  </a:lnTo>
                  <a:lnTo>
                    <a:pt x="2" y="85"/>
                  </a:lnTo>
                  <a:lnTo>
                    <a:pt x="4" y="87"/>
                  </a:lnTo>
                  <a:lnTo>
                    <a:pt x="6" y="89"/>
                  </a:lnTo>
                  <a:lnTo>
                    <a:pt x="4" y="89"/>
                  </a:lnTo>
                  <a:lnTo>
                    <a:pt x="2" y="89"/>
                  </a:lnTo>
                  <a:lnTo>
                    <a:pt x="2" y="89"/>
                  </a:lnTo>
                  <a:lnTo>
                    <a:pt x="2" y="93"/>
                  </a:lnTo>
                  <a:lnTo>
                    <a:pt x="2" y="95"/>
                  </a:lnTo>
                  <a:lnTo>
                    <a:pt x="4" y="98"/>
                  </a:lnTo>
                  <a:lnTo>
                    <a:pt x="6" y="100"/>
                  </a:lnTo>
                  <a:lnTo>
                    <a:pt x="6" y="104"/>
                  </a:lnTo>
                  <a:lnTo>
                    <a:pt x="6" y="106"/>
                  </a:lnTo>
                  <a:lnTo>
                    <a:pt x="7" y="106"/>
                  </a:lnTo>
                  <a:lnTo>
                    <a:pt x="9" y="108"/>
                  </a:lnTo>
                  <a:lnTo>
                    <a:pt x="9" y="108"/>
                  </a:lnTo>
                  <a:lnTo>
                    <a:pt x="9" y="110"/>
                  </a:lnTo>
                  <a:lnTo>
                    <a:pt x="9" y="112"/>
                  </a:lnTo>
                  <a:lnTo>
                    <a:pt x="11" y="116"/>
                  </a:lnTo>
                  <a:lnTo>
                    <a:pt x="13" y="117"/>
                  </a:lnTo>
                  <a:lnTo>
                    <a:pt x="13" y="119"/>
                  </a:lnTo>
                  <a:lnTo>
                    <a:pt x="15" y="119"/>
                  </a:lnTo>
                  <a:lnTo>
                    <a:pt x="15" y="119"/>
                  </a:lnTo>
                  <a:lnTo>
                    <a:pt x="15" y="121"/>
                  </a:lnTo>
                  <a:lnTo>
                    <a:pt x="13" y="121"/>
                  </a:lnTo>
                  <a:lnTo>
                    <a:pt x="13" y="123"/>
                  </a:lnTo>
                  <a:lnTo>
                    <a:pt x="13" y="123"/>
                  </a:lnTo>
                  <a:lnTo>
                    <a:pt x="13" y="123"/>
                  </a:lnTo>
                  <a:lnTo>
                    <a:pt x="13" y="125"/>
                  </a:lnTo>
                  <a:lnTo>
                    <a:pt x="17" y="140"/>
                  </a:lnTo>
                  <a:lnTo>
                    <a:pt x="17" y="146"/>
                  </a:lnTo>
                  <a:lnTo>
                    <a:pt x="19" y="148"/>
                  </a:lnTo>
                  <a:lnTo>
                    <a:pt x="23" y="150"/>
                  </a:lnTo>
                  <a:lnTo>
                    <a:pt x="23" y="146"/>
                  </a:lnTo>
                  <a:lnTo>
                    <a:pt x="21" y="136"/>
                  </a:lnTo>
                  <a:lnTo>
                    <a:pt x="21" y="133"/>
                  </a:lnTo>
                  <a:lnTo>
                    <a:pt x="23" y="131"/>
                  </a:lnTo>
                  <a:lnTo>
                    <a:pt x="23" y="129"/>
                  </a:lnTo>
                  <a:lnTo>
                    <a:pt x="25" y="129"/>
                  </a:lnTo>
                  <a:lnTo>
                    <a:pt x="26" y="131"/>
                  </a:lnTo>
                  <a:lnTo>
                    <a:pt x="28" y="133"/>
                  </a:lnTo>
                  <a:lnTo>
                    <a:pt x="28" y="135"/>
                  </a:lnTo>
                  <a:lnTo>
                    <a:pt x="28" y="135"/>
                  </a:lnTo>
                  <a:lnTo>
                    <a:pt x="28" y="133"/>
                  </a:lnTo>
                  <a:lnTo>
                    <a:pt x="28" y="133"/>
                  </a:lnTo>
                  <a:lnTo>
                    <a:pt x="30" y="135"/>
                  </a:lnTo>
                  <a:lnTo>
                    <a:pt x="30" y="135"/>
                  </a:lnTo>
                  <a:lnTo>
                    <a:pt x="30" y="135"/>
                  </a:lnTo>
                  <a:lnTo>
                    <a:pt x="30" y="136"/>
                  </a:lnTo>
                  <a:lnTo>
                    <a:pt x="30" y="136"/>
                  </a:lnTo>
                  <a:lnTo>
                    <a:pt x="30" y="136"/>
                  </a:lnTo>
                  <a:lnTo>
                    <a:pt x="32" y="140"/>
                  </a:lnTo>
                  <a:lnTo>
                    <a:pt x="32" y="140"/>
                  </a:lnTo>
                  <a:lnTo>
                    <a:pt x="34" y="148"/>
                  </a:lnTo>
                  <a:lnTo>
                    <a:pt x="34" y="152"/>
                  </a:lnTo>
                  <a:lnTo>
                    <a:pt x="36" y="152"/>
                  </a:lnTo>
                  <a:lnTo>
                    <a:pt x="36" y="152"/>
                  </a:lnTo>
                  <a:lnTo>
                    <a:pt x="36" y="152"/>
                  </a:lnTo>
                  <a:lnTo>
                    <a:pt x="36" y="155"/>
                  </a:lnTo>
                  <a:lnTo>
                    <a:pt x="36" y="155"/>
                  </a:lnTo>
                  <a:lnTo>
                    <a:pt x="38" y="157"/>
                  </a:lnTo>
                  <a:lnTo>
                    <a:pt x="40" y="157"/>
                  </a:lnTo>
                  <a:lnTo>
                    <a:pt x="40" y="157"/>
                  </a:lnTo>
                  <a:lnTo>
                    <a:pt x="42" y="159"/>
                  </a:lnTo>
                  <a:lnTo>
                    <a:pt x="42" y="159"/>
                  </a:lnTo>
                  <a:lnTo>
                    <a:pt x="42" y="161"/>
                  </a:lnTo>
                  <a:lnTo>
                    <a:pt x="42" y="161"/>
                  </a:lnTo>
                  <a:lnTo>
                    <a:pt x="44" y="159"/>
                  </a:lnTo>
                  <a:lnTo>
                    <a:pt x="44" y="159"/>
                  </a:lnTo>
                  <a:lnTo>
                    <a:pt x="46" y="159"/>
                  </a:lnTo>
                  <a:lnTo>
                    <a:pt x="46" y="157"/>
                  </a:lnTo>
                  <a:lnTo>
                    <a:pt x="46" y="157"/>
                  </a:lnTo>
                  <a:lnTo>
                    <a:pt x="47" y="157"/>
                  </a:lnTo>
                  <a:lnTo>
                    <a:pt x="47" y="157"/>
                  </a:lnTo>
                  <a:lnTo>
                    <a:pt x="47" y="157"/>
                  </a:lnTo>
                  <a:lnTo>
                    <a:pt x="49" y="157"/>
                  </a:lnTo>
                  <a:lnTo>
                    <a:pt x="49" y="157"/>
                  </a:lnTo>
                  <a:lnTo>
                    <a:pt x="53" y="157"/>
                  </a:lnTo>
                  <a:lnTo>
                    <a:pt x="53" y="155"/>
                  </a:lnTo>
                  <a:lnTo>
                    <a:pt x="55" y="155"/>
                  </a:lnTo>
                  <a:lnTo>
                    <a:pt x="55" y="154"/>
                  </a:lnTo>
                  <a:lnTo>
                    <a:pt x="57" y="154"/>
                  </a:lnTo>
                  <a:lnTo>
                    <a:pt x="59" y="150"/>
                  </a:lnTo>
                  <a:lnTo>
                    <a:pt x="59" y="150"/>
                  </a:lnTo>
                  <a:lnTo>
                    <a:pt x="59" y="150"/>
                  </a:lnTo>
                  <a:lnTo>
                    <a:pt x="59" y="150"/>
                  </a:lnTo>
                  <a:lnTo>
                    <a:pt x="59" y="148"/>
                  </a:lnTo>
                  <a:lnTo>
                    <a:pt x="59" y="148"/>
                  </a:lnTo>
                  <a:lnTo>
                    <a:pt x="61" y="150"/>
                  </a:lnTo>
                  <a:lnTo>
                    <a:pt x="61" y="148"/>
                  </a:lnTo>
                  <a:lnTo>
                    <a:pt x="61" y="148"/>
                  </a:lnTo>
                  <a:lnTo>
                    <a:pt x="63" y="146"/>
                  </a:lnTo>
                  <a:lnTo>
                    <a:pt x="61" y="146"/>
                  </a:lnTo>
                  <a:lnTo>
                    <a:pt x="61" y="142"/>
                  </a:lnTo>
                  <a:lnTo>
                    <a:pt x="59" y="135"/>
                  </a:lnTo>
                  <a:lnTo>
                    <a:pt x="57" y="133"/>
                  </a:lnTo>
                  <a:lnTo>
                    <a:pt x="57" y="129"/>
                  </a:lnTo>
                  <a:lnTo>
                    <a:pt x="59" y="123"/>
                  </a:lnTo>
                  <a:lnTo>
                    <a:pt x="61" y="119"/>
                  </a:lnTo>
                  <a:lnTo>
                    <a:pt x="65" y="116"/>
                  </a:lnTo>
                  <a:lnTo>
                    <a:pt x="65" y="114"/>
                  </a:lnTo>
                  <a:lnTo>
                    <a:pt x="70" y="112"/>
                  </a:lnTo>
                  <a:lnTo>
                    <a:pt x="72" y="110"/>
                  </a:lnTo>
                  <a:lnTo>
                    <a:pt x="72" y="110"/>
                  </a:lnTo>
                  <a:lnTo>
                    <a:pt x="76" y="106"/>
                  </a:lnTo>
                  <a:lnTo>
                    <a:pt x="76" y="102"/>
                  </a:lnTo>
                  <a:lnTo>
                    <a:pt x="72" y="91"/>
                  </a:lnTo>
                  <a:lnTo>
                    <a:pt x="72" y="87"/>
                  </a:lnTo>
                  <a:lnTo>
                    <a:pt x="72" y="83"/>
                  </a:lnTo>
                  <a:lnTo>
                    <a:pt x="74" y="83"/>
                  </a:lnTo>
                  <a:lnTo>
                    <a:pt x="74" y="83"/>
                  </a:lnTo>
                  <a:lnTo>
                    <a:pt x="76" y="83"/>
                  </a:lnTo>
                  <a:lnTo>
                    <a:pt x="78" y="85"/>
                  </a:lnTo>
                  <a:lnTo>
                    <a:pt x="82" y="91"/>
                  </a:lnTo>
                  <a:lnTo>
                    <a:pt x="82" y="91"/>
                  </a:lnTo>
                  <a:lnTo>
                    <a:pt x="86" y="91"/>
                  </a:lnTo>
                  <a:lnTo>
                    <a:pt x="86" y="89"/>
                  </a:lnTo>
                  <a:lnTo>
                    <a:pt x="89" y="85"/>
                  </a:lnTo>
                  <a:lnTo>
                    <a:pt x="91" y="83"/>
                  </a:lnTo>
                  <a:lnTo>
                    <a:pt x="95" y="81"/>
                  </a:lnTo>
                  <a:lnTo>
                    <a:pt x="97" y="85"/>
                  </a:lnTo>
                  <a:lnTo>
                    <a:pt x="97" y="89"/>
                  </a:lnTo>
                  <a:lnTo>
                    <a:pt x="99" y="91"/>
                  </a:lnTo>
                  <a:lnTo>
                    <a:pt x="101" y="89"/>
                  </a:lnTo>
                  <a:lnTo>
                    <a:pt x="101" y="85"/>
                  </a:lnTo>
                  <a:lnTo>
                    <a:pt x="103" y="83"/>
                  </a:lnTo>
                  <a:lnTo>
                    <a:pt x="105" y="85"/>
                  </a:lnTo>
                  <a:lnTo>
                    <a:pt x="105" y="85"/>
                  </a:lnTo>
                  <a:lnTo>
                    <a:pt x="105" y="83"/>
                  </a:lnTo>
                  <a:lnTo>
                    <a:pt x="105" y="78"/>
                  </a:lnTo>
                  <a:lnTo>
                    <a:pt x="105" y="76"/>
                  </a:lnTo>
                  <a:lnTo>
                    <a:pt x="107" y="74"/>
                  </a:lnTo>
                  <a:lnTo>
                    <a:pt x="107" y="74"/>
                  </a:lnTo>
                  <a:lnTo>
                    <a:pt x="105" y="74"/>
                  </a:lnTo>
                  <a:lnTo>
                    <a:pt x="105" y="74"/>
                  </a:lnTo>
                  <a:lnTo>
                    <a:pt x="107" y="72"/>
                  </a:lnTo>
                  <a:lnTo>
                    <a:pt x="107" y="72"/>
                  </a:lnTo>
                  <a:lnTo>
                    <a:pt x="107" y="70"/>
                  </a:lnTo>
                  <a:lnTo>
                    <a:pt x="107" y="70"/>
                  </a:lnTo>
                  <a:lnTo>
                    <a:pt x="107" y="70"/>
                  </a:lnTo>
                  <a:lnTo>
                    <a:pt x="108" y="70"/>
                  </a:lnTo>
                  <a:lnTo>
                    <a:pt x="108" y="70"/>
                  </a:lnTo>
                  <a:lnTo>
                    <a:pt x="108" y="70"/>
                  </a:lnTo>
                  <a:lnTo>
                    <a:pt x="108" y="70"/>
                  </a:lnTo>
                  <a:lnTo>
                    <a:pt x="108" y="70"/>
                  </a:lnTo>
                  <a:lnTo>
                    <a:pt x="108" y="70"/>
                  </a:lnTo>
                  <a:lnTo>
                    <a:pt x="108" y="70"/>
                  </a:lnTo>
                  <a:lnTo>
                    <a:pt x="110" y="70"/>
                  </a:lnTo>
                  <a:lnTo>
                    <a:pt x="110" y="70"/>
                  </a:lnTo>
                  <a:lnTo>
                    <a:pt x="110" y="70"/>
                  </a:lnTo>
                  <a:lnTo>
                    <a:pt x="110" y="70"/>
                  </a:lnTo>
                  <a:lnTo>
                    <a:pt x="110" y="68"/>
                  </a:lnTo>
                  <a:lnTo>
                    <a:pt x="110" y="68"/>
                  </a:lnTo>
                  <a:lnTo>
                    <a:pt x="110" y="66"/>
                  </a:lnTo>
                  <a:lnTo>
                    <a:pt x="110" y="66"/>
                  </a:lnTo>
                  <a:lnTo>
                    <a:pt x="110" y="66"/>
                  </a:lnTo>
                  <a:lnTo>
                    <a:pt x="110" y="64"/>
                  </a:lnTo>
                  <a:lnTo>
                    <a:pt x="110" y="64"/>
                  </a:lnTo>
                  <a:lnTo>
                    <a:pt x="110" y="64"/>
                  </a:lnTo>
                  <a:lnTo>
                    <a:pt x="110" y="60"/>
                  </a:lnTo>
                  <a:lnTo>
                    <a:pt x="110" y="60"/>
                  </a:lnTo>
                  <a:close/>
                </a:path>
              </a:pathLst>
            </a:custGeom>
            <a:solidFill>
              <a:srgbClr val="F2F2F2"/>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64" name="Freeform 13">
              <a:extLst>
                <a:ext uri="{FF2B5EF4-FFF2-40B4-BE49-F238E27FC236}">
                  <a16:creationId xmlns:a16="http://schemas.microsoft.com/office/drawing/2014/main" id="{15D1EFA5-1999-78B0-EB95-F9B41DD002E3}"/>
                </a:ext>
              </a:extLst>
            </p:cNvPr>
            <p:cNvSpPr>
              <a:spLocks/>
            </p:cNvSpPr>
            <p:nvPr/>
          </p:nvSpPr>
          <p:spPr bwMode="auto">
            <a:xfrm>
              <a:off x="5011243" y="3436821"/>
              <a:ext cx="211292" cy="272336"/>
            </a:xfrm>
            <a:custGeom>
              <a:avLst/>
              <a:gdLst>
                <a:gd name="T0" fmla="*/ 112 w 112"/>
                <a:gd name="T1" fmla="*/ 55 h 161"/>
                <a:gd name="T2" fmla="*/ 110 w 112"/>
                <a:gd name="T3" fmla="*/ 51 h 161"/>
                <a:gd name="T4" fmla="*/ 110 w 112"/>
                <a:gd name="T5" fmla="*/ 36 h 161"/>
                <a:gd name="T6" fmla="*/ 108 w 112"/>
                <a:gd name="T7" fmla="*/ 32 h 161"/>
                <a:gd name="T8" fmla="*/ 105 w 112"/>
                <a:gd name="T9" fmla="*/ 20 h 161"/>
                <a:gd name="T10" fmla="*/ 103 w 112"/>
                <a:gd name="T11" fmla="*/ 11 h 161"/>
                <a:gd name="T12" fmla="*/ 103 w 112"/>
                <a:gd name="T13" fmla="*/ 5 h 161"/>
                <a:gd name="T14" fmla="*/ 91 w 112"/>
                <a:gd name="T15" fmla="*/ 1 h 161"/>
                <a:gd name="T16" fmla="*/ 89 w 112"/>
                <a:gd name="T17" fmla="*/ 17 h 161"/>
                <a:gd name="T18" fmla="*/ 78 w 112"/>
                <a:gd name="T19" fmla="*/ 22 h 161"/>
                <a:gd name="T20" fmla="*/ 72 w 112"/>
                <a:gd name="T21" fmla="*/ 20 h 161"/>
                <a:gd name="T22" fmla="*/ 70 w 112"/>
                <a:gd name="T23" fmla="*/ 39 h 161"/>
                <a:gd name="T24" fmla="*/ 63 w 112"/>
                <a:gd name="T25" fmla="*/ 34 h 161"/>
                <a:gd name="T26" fmla="*/ 55 w 112"/>
                <a:gd name="T27" fmla="*/ 34 h 161"/>
                <a:gd name="T28" fmla="*/ 51 w 112"/>
                <a:gd name="T29" fmla="*/ 39 h 161"/>
                <a:gd name="T30" fmla="*/ 46 w 112"/>
                <a:gd name="T31" fmla="*/ 34 h 161"/>
                <a:gd name="T32" fmla="*/ 40 w 112"/>
                <a:gd name="T33" fmla="*/ 45 h 161"/>
                <a:gd name="T34" fmla="*/ 21 w 112"/>
                <a:gd name="T35" fmla="*/ 47 h 161"/>
                <a:gd name="T36" fmla="*/ 17 w 112"/>
                <a:gd name="T37" fmla="*/ 55 h 161"/>
                <a:gd name="T38" fmla="*/ 11 w 112"/>
                <a:gd name="T39" fmla="*/ 59 h 161"/>
                <a:gd name="T40" fmla="*/ 9 w 112"/>
                <a:gd name="T41" fmla="*/ 70 h 161"/>
                <a:gd name="T42" fmla="*/ 4 w 112"/>
                <a:gd name="T43" fmla="*/ 81 h 161"/>
                <a:gd name="T44" fmla="*/ 4 w 112"/>
                <a:gd name="T45" fmla="*/ 87 h 161"/>
                <a:gd name="T46" fmla="*/ 2 w 112"/>
                <a:gd name="T47" fmla="*/ 93 h 161"/>
                <a:gd name="T48" fmla="*/ 6 w 112"/>
                <a:gd name="T49" fmla="*/ 106 h 161"/>
                <a:gd name="T50" fmla="*/ 9 w 112"/>
                <a:gd name="T51" fmla="*/ 112 h 161"/>
                <a:gd name="T52" fmla="*/ 15 w 112"/>
                <a:gd name="T53" fmla="*/ 119 h 161"/>
                <a:gd name="T54" fmla="*/ 13 w 112"/>
                <a:gd name="T55" fmla="*/ 123 h 161"/>
                <a:gd name="T56" fmla="*/ 23 w 112"/>
                <a:gd name="T57" fmla="*/ 150 h 161"/>
                <a:gd name="T58" fmla="*/ 23 w 112"/>
                <a:gd name="T59" fmla="*/ 129 h 161"/>
                <a:gd name="T60" fmla="*/ 28 w 112"/>
                <a:gd name="T61" fmla="*/ 135 h 161"/>
                <a:gd name="T62" fmla="*/ 30 w 112"/>
                <a:gd name="T63" fmla="*/ 135 h 161"/>
                <a:gd name="T64" fmla="*/ 32 w 112"/>
                <a:gd name="T65" fmla="*/ 140 h 161"/>
                <a:gd name="T66" fmla="*/ 36 w 112"/>
                <a:gd name="T67" fmla="*/ 152 h 161"/>
                <a:gd name="T68" fmla="*/ 40 w 112"/>
                <a:gd name="T69" fmla="*/ 157 h 161"/>
                <a:gd name="T70" fmla="*/ 44 w 112"/>
                <a:gd name="T71" fmla="*/ 159 h 161"/>
                <a:gd name="T72" fmla="*/ 47 w 112"/>
                <a:gd name="T73" fmla="*/ 157 h 161"/>
                <a:gd name="T74" fmla="*/ 53 w 112"/>
                <a:gd name="T75" fmla="*/ 157 h 161"/>
                <a:gd name="T76" fmla="*/ 59 w 112"/>
                <a:gd name="T77" fmla="*/ 150 h 161"/>
                <a:gd name="T78" fmla="*/ 59 w 112"/>
                <a:gd name="T79" fmla="*/ 148 h 161"/>
                <a:gd name="T80" fmla="*/ 61 w 112"/>
                <a:gd name="T81" fmla="*/ 146 h 161"/>
                <a:gd name="T82" fmla="*/ 59 w 112"/>
                <a:gd name="T83" fmla="*/ 123 h 161"/>
                <a:gd name="T84" fmla="*/ 72 w 112"/>
                <a:gd name="T85" fmla="*/ 110 h 161"/>
                <a:gd name="T86" fmla="*/ 72 w 112"/>
                <a:gd name="T87" fmla="*/ 87 h 161"/>
                <a:gd name="T88" fmla="*/ 78 w 112"/>
                <a:gd name="T89" fmla="*/ 85 h 161"/>
                <a:gd name="T90" fmla="*/ 89 w 112"/>
                <a:gd name="T91" fmla="*/ 85 h 161"/>
                <a:gd name="T92" fmla="*/ 99 w 112"/>
                <a:gd name="T93" fmla="*/ 91 h 161"/>
                <a:gd name="T94" fmla="*/ 105 w 112"/>
                <a:gd name="T95" fmla="*/ 85 h 161"/>
                <a:gd name="T96" fmla="*/ 107 w 112"/>
                <a:gd name="T97" fmla="*/ 74 h 161"/>
                <a:gd name="T98" fmla="*/ 107 w 112"/>
                <a:gd name="T99" fmla="*/ 70 h 161"/>
                <a:gd name="T100" fmla="*/ 108 w 112"/>
                <a:gd name="T101" fmla="*/ 70 h 161"/>
                <a:gd name="T102" fmla="*/ 110 w 112"/>
                <a:gd name="T103" fmla="*/ 70 h 161"/>
                <a:gd name="T104" fmla="*/ 110 w 112"/>
                <a:gd name="T105" fmla="*/ 68 h 161"/>
                <a:gd name="T106" fmla="*/ 110 w 112"/>
                <a:gd name="T107" fmla="*/ 6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2" h="161">
                  <a:moveTo>
                    <a:pt x="110" y="60"/>
                  </a:moveTo>
                  <a:lnTo>
                    <a:pt x="110" y="60"/>
                  </a:lnTo>
                  <a:lnTo>
                    <a:pt x="110" y="57"/>
                  </a:lnTo>
                  <a:lnTo>
                    <a:pt x="112" y="55"/>
                  </a:lnTo>
                  <a:lnTo>
                    <a:pt x="112" y="55"/>
                  </a:lnTo>
                  <a:lnTo>
                    <a:pt x="110" y="55"/>
                  </a:lnTo>
                  <a:lnTo>
                    <a:pt x="110" y="53"/>
                  </a:lnTo>
                  <a:lnTo>
                    <a:pt x="110" y="53"/>
                  </a:lnTo>
                  <a:lnTo>
                    <a:pt x="110" y="53"/>
                  </a:lnTo>
                  <a:lnTo>
                    <a:pt x="110" y="51"/>
                  </a:lnTo>
                  <a:lnTo>
                    <a:pt x="110" y="49"/>
                  </a:lnTo>
                  <a:lnTo>
                    <a:pt x="110" y="45"/>
                  </a:lnTo>
                  <a:lnTo>
                    <a:pt x="110" y="45"/>
                  </a:lnTo>
                  <a:lnTo>
                    <a:pt x="110" y="36"/>
                  </a:lnTo>
                  <a:lnTo>
                    <a:pt x="110" y="36"/>
                  </a:lnTo>
                  <a:lnTo>
                    <a:pt x="110" y="34"/>
                  </a:lnTo>
                  <a:lnTo>
                    <a:pt x="110" y="34"/>
                  </a:lnTo>
                  <a:lnTo>
                    <a:pt x="110" y="34"/>
                  </a:lnTo>
                  <a:lnTo>
                    <a:pt x="108" y="34"/>
                  </a:lnTo>
                  <a:lnTo>
                    <a:pt x="108" y="32"/>
                  </a:lnTo>
                  <a:lnTo>
                    <a:pt x="108" y="30"/>
                  </a:lnTo>
                  <a:lnTo>
                    <a:pt x="103" y="30"/>
                  </a:lnTo>
                  <a:lnTo>
                    <a:pt x="101" y="30"/>
                  </a:lnTo>
                  <a:lnTo>
                    <a:pt x="101" y="28"/>
                  </a:lnTo>
                  <a:lnTo>
                    <a:pt x="105" y="20"/>
                  </a:lnTo>
                  <a:lnTo>
                    <a:pt x="105" y="19"/>
                  </a:lnTo>
                  <a:lnTo>
                    <a:pt x="105" y="19"/>
                  </a:lnTo>
                  <a:lnTo>
                    <a:pt x="105" y="17"/>
                  </a:lnTo>
                  <a:lnTo>
                    <a:pt x="105" y="15"/>
                  </a:lnTo>
                  <a:lnTo>
                    <a:pt x="103" y="11"/>
                  </a:lnTo>
                  <a:lnTo>
                    <a:pt x="103" y="11"/>
                  </a:lnTo>
                  <a:lnTo>
                    <a:pt x="103" y="9"/>
                  </a:lnTo>
                  <a:lnTo>
                    <a:pt x="103" y="7"/>
                  </a:lnTo>
                  <a:lnTo>
                    <a:pt x="103" y="5"/>
                  </a:lnTo>
                  <a:lnTo>
                    <a:pt x="103" y="5"/>
                  </a:lnTo>
                  <a:lnTo>
                    <a:pt x="101" y="5"/>
                  </a:lnTo>
                  <a:lnTo>
                    <a:pt x="95" y="0"/>
                  </a:lnTo>
                  <a:lnTo>
                    <a:pt x="95" y="0"/>
                  </a:lnTo>
                  <a:lnTo>
                    <a:pt x="93" y="1"/>
                  </a:lnTo>
                  <a:lnTo>
                    <a:pt x="91" y="1"/>
                  </a:lnTo>
                  <a:lnTo>
                    <a:pt x="91" y="3"/>
                  </a:lnTo>
                  <a:lnTo>
                    <a:pt x="91" y="5"/>
                  </a:lnTo>
                  <a:lnTo>
                    <a:pt x="91" y="11"/>
                  </a:lnTo>
                  <a:lnTo>
                    <a:pt x="91" y="15"/>
                  </a:lnTo>
                  <a:lnTo>
                    <a:pt x="89" y="17"/>
                  </a:lnTo>
                  <a:lnTo>
                    <a:pt x="87" y="17"/>
                  </a:lnTo>
                  <a:lnTo>
                    <a:pt x="84" y="19"/>
                  </a:lnTo>
                  <a:lnTo>
                    <a:pt x="76" y="17"/>
                  </a:lnTo>
                  <a:lnTo>
                    <a:pt x="76" y="19"/>
                  </a:lnTo>
                  <a:lnTo>
                    <a:pt x="78" y="22"/>
                  </a:lnTo>
                  <a:lnTo>
                    <a:pt x="78" y="22"/>
                  </a:lnTo>
                  <a:lnTo>
                    <a:pt x="76" y="22"/>
                  </a:lnTo>
                  <a:lnTo>
                    <a:pt x="74" y="20"/>
                  </a:lnTo>
                  <a:lnTo>
                    <a:pt x="74" y="20"/>
                  </a:lnTo>
                  <a:lnTo>
                    <a:pt x="72" y="20"/>
                  </a:lnTo>
                  <a:lnTo>
                    <a:pt x="70" y="22"/>
                  </a:lnTo>
                  <a:lnTo>
                    <a:pt x="72" y="26"/>
                  </a:lnTo>
                  <a:lnTo>
                    <a:pt x="72" y="28"/>
                  </a:lnTo>
                  <a:lnTo>
                    <a:pt x="70" y="38"/>
                  </a:lnTo>
                  <a:lnTo>
                    <a:pt x="70" y="39"/>
                  </a:lnTo>
                  <a:lnTo>
                    <a:pt x="68" y="39"/>
                  </a:lnTo>
                  <a:lnTo>
                    <a:pt x="66" y="39"/>
                  </a:lnTo>
                  <a:lnTo>
                    <a:pt x="63" y="36"/>
                  </a:lnTo>
                  <a:lnTo>
                    <a:pt x="63" y="36"/>
                  </a:lnTo>
                  <a:lnTo>
                    <a:pt x="63" y="34"/>
                  </a:lnTo>
                  <a:lnTo>
                    <a:pt x="63" y="32"/>
                  </a:lnTo>
                  <a:lnTo>
                    <a:pt x="63" y="32"/>
                  </a:lnTo>
                  <a:lnTo>
                    <a:pt x="57" y="32"/>
                  </a:lnTo>
                  <a:lnTo>
                    <a:pt x="55" y="32"/>
                  </a:lnTo>
                  <a:lnTo>
                    <a:pt x="55" y="34"/>
                  </a:lnTo>
                  <a:lnTo>
                    <a:pt x="55" y="36"/>
                  </a:lnTo>
                  <a:lnTo>
                    <a:pt x="57" y="38"/>
                  </a:lnTo>
                  <a:lnTo>
                    <a:pt x="55" y="39"/>
                  </a:lnTo>
                  <a:lnTo>
                    <a:pt x="53" y="41"/>
                  </a:lnTo>
                  <a:lnTo>
                    <a:pt x="51" y="39"/>
                  </a:lnTo>
                  <a:lnTo>
                    <a:pt x="49" y="39"/>
                  </a:lnTo>
                  <a:lnTo>
                    <a:pt x="49" y="38"/>
                  </a:lnTo>
                  <a:lnTo>
                    <a:pt x="47" y="34"/>
                  </a:lnTo>
                  <a:lnTo>
                    <a:pt x="46" y="34"/>
                  </a:lnTo>
                  <a:lnTo>
                    <a:pt x="46" y="34"/>
                  </a:lnTo>
                  <a:lnTo>
                    <a:pt x="46" y="41"/>
                  </a:lnTo>
                  <a:lnTo>
                    <a:pt x="44" y="43"/>
                  </a:lnTo>
                  <a:lnTo>
                    <a:pt x="44" y="45"/>
                  </a:lnTo>
                  <a:lnTo>
                    <a:pt x="42" y="45"/>
                  </a:lnTo>
                  <a:lnTo>
                    <a:pt x="40" y="45"/>
                  </a:lnTo>
                  <a:lnTo>
                    <a:pt x="36" y="47"/>
                  </a:lnTo>
                  <a:lnTo>
                    <a:pt x="32" y="45"/>
                  </a:lnTo>
                  <a:lnTo>
                    <a:pt x="26" y="45"/>
                  </a:lnTo>
                  <a:lnTo>
                    <a:pt x="23" y="45"/>
                  </a:lnTo>
                  <a:lnTo>
                    <a:pt x="21" y="47"/>
                  </a:lnTo>
                  <a:lnTo>
                    <a:pt x="21" y="51"/>
                  </a:lnTo>
                  <a:lnTo>
                    <a:pt x="19" y="55"/>
                  </a:lnTo>
                  <a:lnTo>
                    <a:pt x="19" y="57"/>
                  </a:lnTo>
                  <a:lnTo>
                    <a:pt x="17" y="57"/>
                  </a:lnTo>
                  <a:lnTo>
                    <a:pt x="17" y="55"/>
                  </a:lnTo>
                  <a:lnTo>
                    <a:pt x="17" y="55"/>
                  </a:lnTo>
                  <a:lnTo>
                    <a:pt x="15" y="55"/>
                  </a:lnTo>
                  <a:lnTo>
                    <a:pt x="13" y="57"/>
                  </a:lnTo>
                  <a:lnTo>
                    <a:pt x="13" y="57"/>
                  </a:lnTo>
                  <a:lnTo>
                    <a:pt x="11" y="59"/>
                  </a:lnTo>
                  <a:lnTo>
                    <a:pt x="7" y="64"/>
                  </a:lnTo>
                  <a:lnTo>
                    <a:pt x="7" y="66"/>
                  </a:lnTo>
                  <a:lnTo>
                    <a:pt x="7" y="66"/>
                  </a:lnTo>
                  <a:lnTo>
                    <a:pt x="9" y="70"/>
                  </a:lnTo>
                  <a:lnTo>
                    <a:pt x="9" y="70"/>
                  </a:lnTo>
                  <a:lnTo>
                    <a:pt x="9" y="72"/>
                  </a:lnTo>
                  <a:lnTo>
                    <a:pt x="7" y="78"/>
                  </a:lnTo>
                  <a:lnTo>
                    <a:pt x="6" y="79"/>
                  </a:lnTo>
                  <a:lnTo>
                    <a:pt x="6" y="81"/>
                  </a:lnTo>
                  <a:lnTo>
                    <a:pt x="4" y="81"/>
                  </a:lnTo>
                  <a:lnTo>
                    <a:pt x="2" y="81"/>
                  </a:lnTo>
                  <a:lnTo>
                    <a:pt x="0" y="83"/>
                  </a:lnTo>
                  <a:lnTo>
                    <a:pt x="2" y="85"/>
                  </a:lnTo>
                  <a:lnTo>
                    <a:pt x="2" y="85"/>
                  </a:lnTo>
                  <a:lnTo>
                    <a:pt x="4" y="87"/>
                  </a:lnTo>
                  <a:lnTo>
                    <a:pt x="6" y="89"/>
                  </a:lnTo>
                  <a:lnTo>
                    <a:pt x="4" y="89"/>
                  </a:lnTo>
                  <a:lnTo>
                    <a:pt x="2" y="89"/>
                  </a:lnTo>
                  <a:lnTo>
                    <a:pt x="2" y="89"/>
                  </a:lnTo>
                  <a:lnTo>
                    <a:pt x="2" y="93"/>
                  </a:lnTo>
                  <a:lnTo>
                    <a:pt x="2" y="95"/>
                  </a:lnTo>
                  <a:lnTo>
                    <a:pt x="4" y="98"/>
                  </a:lnTo>
                  <a:lnTo>
                    <a:pt x="6" y="100"/>
                  </a:lnTo>
                  <a:lnTo>
                    <a:pt x="6" y="104"/>
                  </a:lnTo>
                  <a:lnTo>
                    <a:pt x="6" y="106"/>
                  </a:lnTo>
                  <a:lnTo>
                    <a:pt x="7" y="106"/>
                  </a:lnTo>
                  <a:lnTo>
                    <a:pt x="9" y="108"/>
                  </a:lnTo>
                  <a:lnTo>
                    <a:pt x="9" y="108"/>
                  </a:lnTo>
                  <a:lnTo>
                    <a:pt x="9" y="110"/>
                  </a:lnTo>
                  <a:lnTo>
                    <a:pt x="9" y="112"/>
                  </a:lnTo>
                  <a:lnTo>
                    <a:pt x="11" y="116"/>
                  </a:lnTo>
                  <a:lnTo>
                    <a:pt x="13" y="117"/>
                  </a:lnTo>
                  <a:lnTo>
                    <a:pt x="13" y="119"/>
                  </a:lnTo>
                  <a:lnTo>
                    <a:pt x="15" y="119"/>
                  </a:lnTo>
                  <a:lnTo>
                    <a:pt x="15" y="119"/>
                  </a:lnTo>
                  <a:lnTo>
                    <a:pt x="15" y="121"/>
                  </a:lnTo>
                  <a:lnTo>
                    <a:pt x="13" y="121"/>
                  </a:lnTo>
                  <a:lnTo>
                    <a:pt x="13" y="123"/>
                  </a:lnTo>
                  <a:lnTo>
                    <a:pt x="13" y="123"/>
                  </a:lnTo>
                  <a:lnTo>
                    <a:pt x="13" y="123"/>
                  </a:lnTo>
                  <a:lnTo>
                    <a:pt x="13" y="125"/>
                  </a:lnTo>
                  <a:lnTo>
                    <a:pt x="17" y="140"/>
                  </a:lnTo>
                  <a:lnTo>
                    <a:pt x="17" y="146"/>
                  </a:lnTo>
                  <a:lnTo>
                    <a:pt x="19" y="148"/>
                  </a:lnTo>
                  <a:lnTo>
                    <a:pt x="23" y="150"/>
                  </a:lnTo>
                  <a:lnTo>
                    <a:pt x="23" y="146"/>
                  </a:lnTo>
                  <a:lnTo>
                    <a:pt x="21" y="136"/>
                  </a:lnTo>
                  <a:lnTo>
                    <a:pt x="21" y="133"/>
                  </a:lnTo>
                  <a:lnTo>
                    <a:pt x="23" y="131"/>
                  </a:lnTo>
                  <a:lnTo>
                    <a:pt x="23" y="129"/>
                  </a:lnTo>
                  <a:lnTo>
                    <a:pt x="25" y="129"/>
                  </a:lnTo>
                  <a:lnTo>
                    <a:pt x="26" y="131"/>
                  </a:lnTo>
                  <a:lnTo>
                    <a:pt x="28" y="133"/>
                  </a:lnTo>
                  <a:lnTo>
                    <a:pt x="28" y="135"/>
                  </a:lnTo>
                  <a:lnTo>
                    <a:pt x="28" y="135"/>
                  </a:lnTo>
                  <a:lnTo>
                    <a:pt x="28" y="133"/>
                  </a:lnTo>
                  <a:lnTo>
                    <a:pt x="28" y="133"/>
                  </a:lnTo>
                  <a:lnTo>
                    <a:pt x="30" y="135"/>
                  </a:lnTo>
                  <a:lnTo>
                    <a:pt x="30" y="135"/>
                  </a:lnTo>
                  <a:lnTo>
                    <a:pt x="30" y="135"/>
                  </a:lnTo>
                  <a:lnTo>
                    <a:pt x="30" y="136"/>
                  </a:lnTo>
                  <a:lnTo>
                    <a:pt x="30" y="136"/>
                  </a:lnTo>
                  <a:lnTo>
                    <a:pt x="30" y="136"/>
                  </a:lnTo>
                  <a:lnTo>
                    <a:pt x="32" y="140"/>
                  </a:lnTo>
                  <a:lnTo>
                    <a:pt x="32" y="140"/>
                  </a:lnTo>
                  <a:lnTo>
                    <a:pt x="34" y="148"/>
                  </a:lnTo>
                  <a:lnTo>
                    <a:pt x="34" y="152"/>
                  </a:lnTo>
                  <a:lnTo>
                    <a:pt x="36" y="152"/>
                  </a:lnTo>
                  <a:lnTo>
                    <a:pt x="36" y="152"/>
                  </a:lnTo>
                  <a:lnTo>
                    <a:pt x="36" y="152"/>
                  </a:lnTo>
                  <a:lnTo>
                    <a:pt x="36" y="155"/>
                  </a:lnTo>
                  <a:lnTo>
                    <a:pt x="36" y="155"/>
                  </a:lnTo>
                  <a:lnTo>
                    <a:pt x="38" y="157"/>
                  </a:lnTo>
                  <a:lnTo>
                    <a:pt x="40" y="157"/>
                  </a:lnTo>
                  <a:lnTo>
                    <a:pt x="40" y="157"/>
                  </a:lnTo>
                  <a:lnTo>
                    <a:pt x="42" y="159"/>
                  </a:lnTo>
                  <a:lnTo>
                    <a:pt x="42" y="159"/>
                  </a:lnTo>
                  <a:lnTo>
                    <a:pt x="42" y="161"/>
                  </a:lnTo>
                  <a:lnTo>
                    <a:pt x="42" y="161"/>
                  </a:lnTo>
                  <a:lnTo>
                    <a:pt x="44" y="159"/>
                  </a:lnTo>
                  <a:lnTo>
                    <a:pt x="44" y="159"/>
                  </a:lnTo>
                  <a:lnTo>
                    <a:pt x="46" y="159"/>
                  </a:lnTo>
                  <a:lnTo>
                    <a:pt x="46" y="157"/>
                  </a:lnTo>
                  <a:lnTo>
                    <a:pt x="46" y="157"/>
                  </a:lnTo>
                  <a:lnTo>
                    <a:pt x="47" y="157"/>
                  </a:lnTo>
                  <a:lnTo>
                    <a:pt x="47" y="157"/>
                  </a:lnTo>
                  <a:lnTo>
                    <a:pt x="47" y="157"/>
                  </a:lnTo>
                  <a:lnTo>
                    <a:pt x="49" y="157"/>
                  </a:lnTo>
                  <a:lnTo>
                    <a:pt x="49" y="157"/>
                  </a:lnTo>
                  <a:lnTo>
                    <a:pt x="53" y="157"/>
                  </a:lnTo>
                  <a:lnTo>
                    <a:pt x="53" y="155"/>
                  </a:lnTo>
                  <a:lnTo>
                    <a:pt x="55" y="155"/>
                  </a:lnTo>
                  <a:lnTo>
                    <a:pt x="55" y="154"/>
                  </a:lnTo>
                  <a:lnTo>
                    <a:pt x="57" y="154"/>
                  </a:lnTo>
                  <a:lnTo>
                    <a:pt x="59" y="150"/>
                  </a:lnTo>
                  <a:lnTo>
                    <a:pt x="59" y="150"/>
                  </a:lnTo>
                  <a:lnTo>
                    <a:pt x="59" y="150"/>
                  </a:lnTo>
                  <a:lnTo>
                    <a:pt x="59" y="150"/>
                  </a:lnTo>
                  <a:lnTo>
                    <a:pt x="59" y="148"/>
                  </a:lnTo>
                  <a:lnTo>
                    <a:pt x="59" y="148"/>
                  </a:lnTo>
                  <a:lnTo>
                    <a:pt x="61" y="150"/>
                  </a:lnTo>
                  <a:lnTo>
                    <a:pt x="61" y="148"/>
                  </a:lnTo>
                  <a:lnTo>
                    <a:pt x="61" y="148"/>
                  </a:lnTo>
                  <a:lnTo>
                    <a:pt x="63" y="146"/>
                  </a:lnTo>
                  <a:lnTo>
                    <a:pt x="61" y="146"/>
                  </a:lnTo>
                  <a:lnTo>
                    <a:pt x="61" y="142"/>
                  </a:lnTo>
                  <a:lnTo>
                    <a:pt x="59" y="135"/>
                  </a:lnTo>
                  <a:lnTo>
                    <a:pt x="57" y="133"/>
                  </a:lnTo>
                  <a:lnTo>
                    <a:pt x="57" y="129"/>
                  </a:lnTo>
                  <a:lnTo>
                    <a:pt x="59" y="123"/>
                  </a:lnTo>
                  <a:lnTo>
                    <a:pt x="61" y="119"/>
                  </a:lnTo>
                  <a:lnTo>
                    <a:pt x="65" y="116"/>
                  </a:lnTo>
                  <a:lnTo>
                    <a:pt x="65" y="114"/>
                  </a:lnTo>
                  <a:lnTo>
                    <a:pt x="70" y="112"/>
                  </a:lnTo>
                  <a:lnTo>
                    <a:pt x="72" y="110"/>
                  </a:lnTo>
                  <a:lnTo>
                    <a:pt x="72" y="110"/>
                  </a:lnTo>
                  <a:lnTo>
                    <a:pt x="76" y="106"/>
                  </a:lnTo>
                  <a:lnTo>
                    <a:pt x="76" y="102"/>
                  </a:lnTo>
                  <a:lnTo>
                    <a:pt x="72" y="91"/>
                  </a:lnTo>
                  <a:lnTo>
                    <a:pt x="72" y="87"/>
                  </a:lnTo>
                  <a:lnTo>
                    <a:pt x="72" y="83"/>
                  </a:lnTo>
                  <a:lnTo>
                    <a:pt x="74" y="83"/>
                  </a:lnTo>
                  <a:lnTo>
                    <a:pt x="74" y="83"/>
                  </a:lnTo>
                  <a:lnTo>
                    <a:pt x="76" y="83"/>
                  </a:lnTo>
                  <a:lnTo>
                    <a:pt x="78" y="85"/>
                  </a:lnTo>
                  <a:lnTo>
                    <a:pt x="82" y="91"/>
                  </a:lnTo>
                  <a:lnTo>
                    <a:pt x="82" y="91"/>
                  </a:lnTo>
                  <a:lnTo>
                    <a:pt x="86" y="91"/>
                  </a:lnTo>
                  <a:lnTo>
                    <a:pt x="86" y="89"/>
                  </a:lnTo>
                  <a:lnTo>
                    <a:pt x="89" y="85"/>
                  </a:lnTo>
                  <a:lnTo>
                    <a:pt x="91" y="83"/>
                  </a:lnTo>
                  <a:lnTo>
                    <a:pt x="95" y="81"/>
                  </a:lnTo>
                  <a:lnTo>
                    <a:pt x="97" y="85"/>
                  </a:lnTo>
                  <a:lnTo>
                    <a:pt x="97" y="89"/>
                  </a:lnTo>
                  <a:lnTo>
                    <a:pt x="99" y="91"/>
                  </a:lnTo>
                  <a:lnTo>
                    <a:pt x="101" y="89"/>
                  </a:lnTo>
                  <a:lnTo>
                    <a:pt x="101" y="85"/>
                  </a:lnTo>
                  <a:lnTo>
                    <a:pt x="103" y="83"/>
                  </a:lnTo>
                  <a:lnTo>
                    <a:pt x="105" y="85"/>
                  </a:lnTo>
                  <a:lnTo>
                    <a:pt x="105" y="85"/>
                  </a:lnTo>
                  <a:lnTo>
                    <a:pt x="105" y="83"/>
                  </a:lnTo>
                  <a:lnTo>
                    <a:pt x="105" y="78"/>
                  </a:lnTo>
                  <a:lnTo>
                    <a:pt x="105" y="76"/>
                  </a:lnTo>
                  <a:lnTo>
                    <a:pt x="107" y="74"/>
                  </a:lnTo>
                  <a:lnTo>
                    <a:pt x="107" y="74"/>
                  </a:lnTo>
                  <a:lnTo>
                    <a:pt x="105" y="74"/>
                  </a:lnTo>
                  <a:lnTo>
                    <a:pt x="105" y="74"/>
                  </a:lnTo>
                  <a:lnTo>
                    <a:pt x="107" y="72"/>
                  </a:lnTo>
                  <a:lnTo>
                    <a:pt x="107" y="72"/>
                  </a:lnTo>
                  <a:lnTo>
                    <a:pt x="107" y="70"/>
                  </a:lnTo>
                  <a:lnTo>
                    <a:pt x="107" y="70"/>
                  </a:lnTo>
                  <a:lnTo>
                    <a:pt x="107" y="70"/>
                  </a:lnTo>
                  <a:lnTo>
                    <a:pt x="108" y="70"/>
                  </a:lnTo>
                  <a:lnTo>
                    <a:pt x="108" y="70"/>
                  </a:lnTo>
                  <a:lnTo>
                    <a:pt x="108" y="70"/>
                  </a:lnTo>
                  <a:lnTo>
                    <a:pt x="108" y="70"/>
                  </a:lnTo>
                  <a:lnTo>
                    <a:pt x="108" y="70"/>
                  </a:lnTo>
                  <a:lnTo>
                    <a:pt x="108" y="70"/>
                  </a:lnTo>
                  <a:lnTo>
                    <a:pt x="108" y="70"/>
                  </a:lnTo>
                  <a:lnTo>
                    <a:pt x="110" y="70"/>
                  </a:lnTo>
                  <a:lnTo>
                    <a:pt x="110" y="70"/>
                  </a:lnTo>
                  <a:lnTo>
                    <a:pt x="110" y="70"/>
                  </a:lnTo>
                  <a:lnTo>
                    <a:pt x="110" y="70"/>
                  </a:lnTo>
                  <a:lnTo>
                    <a:pt x="110" y="68"/>
                  </a:lnTo>
                  <a:lnTo>
                    <a:pt x="110" y="68"/>
                  </a:lnTo>
                  <a:lnTo>
                    <a:pt x="110" y="66"/>
                  </a:lnTo>
                  <a:lnTo>
                    <a:pt x="110" y="66"/>
                  </a:lnTo>
                  <a:lnTo>
                    <a:pt x="110" y="66"/>
                  </a:lnTo>
                  <a:lnTo>
                    <a:pt x="110" y="64"/>
                  </a:lnTo>
                  <a:lnTo>
                    <a:pt x="110" y="64"/>
                  </a:lnTo>
                  <a:lnTo>
                    <a:pt x="110" y="64"/>
                  </a:lnTo>
                  <a:lnTo>
                    <a:pt x="110" y="60"/>
                  </a:lnTo>
                  <a:lnTo>
                    <a:pt x="110" y="60"/>
                  </a:lnTo>
                  <a:close/>
                </a:path>
              </a:pathLst>
            </a:custGeom>
            <a:solidFill>
              <a:schemeClr val="tx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65" name="Freeform 14">
              <a:extLst>
                <a:ext uri="{FF2B5EF4-FFF2-40B4-BE49-F238E27FC236}">
                  <a16:creationId xmlns:a16="http://schemas.microsoft.com/office/drawing/2014/main" id="{640CAEAC-0669-7218-9FE3-0C57400DCC5C}"/>
                </a:ext>
              </a:extLst>
            </p:cNvPr>
            <p:cNvSpPr>
              <a:spLocks/>
            </p:cNvSpPr>
            <p:nvPr/>
          </p:nvSpPr>
          <p:spPr bwMode="auto">
            <a:xfrm>
              <a:off x="2594591" y="4221691"/>
              <a:ext cx="790458" cy="664771"/>
            </a:xfrm>
            <a:custGeom>
              <a:avLst/>
              <a:gdLst>
                <a:gd name="T0" fmla="*/ 395 w 419"/>
                <a:gd name="T1" fmla="*/ 201 h 393"/>
                <a:gd name="T2" fmla="*/ 359 w 419"/>
                <a:gd name="T3" fmla="*/ 199 h 393"/>
                <a:gd name="T4" fmla="*/ 343 w 419"/>
                <a:gd name="T5" fmla="*/ 169 h 393"/>
                <a:gd name="T6" fmla="*/ 328 w 419"/>
                <a:gd name="T7" fmla="*/ 167 h 393"/>
                <a:gd name="T8" fmla="*/ 318 w 419"/>
                <a:gd name="T9" fmla="*/ 144 h 393"/>
                <a:gd name="T10" fmla="*/ 288 w 419"/>
                <a:gd name="T11" fmla="*/ 125 h 393"/>
                <a:gd name="T12" fmla="*/ 261 w 419"/>
                <a:gd name="T13" fmla="*/ 116 h 393"/>
                <a:gd name="T14" fmla="*/ 246 w 419"/>
                <a:gd name="T15" fmla="*/ 70 h 393"/>
                <a:gd name="T16" fmla="*/ 250 w 419"/>
                <a:gd name="T17" fmla="*/ 43 h 393"/>
                <a:gd name="T18" fmla="*/ 229 w 419"/>
                <a:gd name="T19" fmla="*/ 28 h 393"/>
                <a:gd name="T20" fmla="*/ 212 w 419"/>
                <a:gd name="T21" fmla="*/ 34 h 393"/>
                <a:gd name="T22" fmla="*/ 179 w 419"/>
                <a:gd name="T23" fmla="*/ 22 h 393"/>
                <a:gd name="T24" fmla="*/ 155 w 419"/>
                <a:gd name="T25" fmla="*/ 26 h 393"/>
                <a:gd name="T26" fmla="*/ 132 w 419"/>
                <a:gd name="T27" fmla="*/ 9 h 393"/>
                <a:gd name="T28" fmla="*/ 107 w 419"/>
                <a:gd name="T29" fmla="*/ 5 h 393"/>
                <a:gd name="T30" fmla="*/ 105 w 419"/>
                <a:gd name="T31" fmla="*/ 19 h 393"/>
                <a:gd name="T32" fmla="*/ 86 w 419"/>
                <a:gd name="T33" fmla="*/ 47 h 393"/>
                <a:gd name="T34" fmla="*/ 73 w 419"/>
                <a:gd name="T35" fmla="*/ 60 h 393"/>
                <a:gd name="T36" fmla="*/ 59 w 419"/>
                <a:gd name="T37" fmla="*/ 59 h 393"/>
                <a:gd name="T38" fmla="*/ 46 w 419"/>
                <a:gd name="T39" fmla="*/ 81 h 393"/>
                <a:gd name="T40" fmla="*/ 52 w 419"/>
                <a:gd name="T41" fmla="*/ 91 h 393"/>
                <a:gd name="T42" fmla="*/ 54 w 419"/>
                <a:gd name="T43" fmla="*/ 106 h 393"/>
                <a:gd name="T44" fmla="*/ 38 w 419"/>
                <a:gd name="T45" fmla="*/ 129 h 393"/>
                <a:gd name="T46" fmla="*/ 25 w 419"/>
                <a:gd name="T47" fmla="*/ 144 h 393"/>
                <a:gd name="T48" fmla="*/ 31 w 419"/>
                <a:gd name="T49" fmla="*/ 173 h 393"/>
                <a:gd name="T50" fmla="*/ 25 w 419"/>
                <a:gd name="T51" fmla="*/ 197 h 393"/>
                <a:gd name="T52" fmla="*/ 16 w 419"/>
                <a:gd name="T53" fmla="*/ 218 h 393"/>
                <a:gd name="T54" fmla="*/ 40 w 419"/>
                <a:gd name="T55" fmla="*/ 226 h 393"/>
                <a:gd name="T56" fmla="*/ 12 w 419"/>
                <a:gd name="T57" fmla="*/ 264 h 393"/>
                <a:gd name="T58" fmla="*/ 16 w 419"/>
                <a:gd name="T59" fmla="*/ 302 h 393"/>
                <a:gd name="T60" fmla="*/ 17 w 419"/>
                <a:gd name="T61" fmla="*/ 317 h 393"/>
                <a:gd name="T62" fmla="*/ 21 w 419"/>
                <a:gd name="T63" fmla="*/ 340 h 393"/>
                <a:gd name="T64" fmla="*/ 21 w 419"/>
                <a:gd name="T65" fmla="*/ 367 h 393"/>
                <a:gd name="T66" fmla="*/ 36 w 419"/>
                <a:gd name="T67" fmla="*/ 388 h 393"/>
                <a:gd name="T68" fmla="*/ 54 w 419"/>
                <a:gd name="T69" fmla="*/ 388 h 393"/>
                <a:gd name="T70" fmla="*/ 73 w 419"/>
                <a:gd name="T71" fmla="*/ 386 h 393"/>
                <a:gd name="T72" fmla="*/ 86 w 419"/>
                <a:gd name="T73" fmla="*/ 386 h 393"/>
                <a:gd name="T74" fmla="*/ 99 w 419"/>
                <a:gd name="T75" fmla="*/ 372 h 393"/>
                <a:gd name="T76" fmla="*/ 130 w 419"/>
                <a:gd name="T77" fmla="*/ 369 h 393"/>
                <a:gd name="T78" fmla="*/ 145 w 419"/>
                <a:gd name="T79" fmla="*/ 361 h 393"/>
                <a:gd name="T80" fmla="*/ 157 w 419"/>
                <a:gd name="T81" fmla="*/ 355 h 393"/>
                <a:gd name="T82" fmla="*/ 183 w 419"/>
                <a:gd name="T83" fmla="*/ 348 h 393"/>
                <a:gd name="T84" fmla="*/ 193 w 419"/>
                <a:gd name="T85" fmla="*/ 321 h 393"/>
                <a:gd name="T86" fmla="*/ 223 w 419"/>
                <a:gd name="T87" fmla="*/ 310 h 393"/>
                <a:gd name="T88" fmla="*/ 252 w 419"/>
                <a:gd name="T89" fmla="*/ 313 h 393"/>
                <a:gd name="T90" fmla="*/ 254 w 419"/>
                <a:gd name="T91" fmla="*/ 292 h 393"/>
                <a:gd name="T92" fmla="*/ 267 w 419"/>
                <a:gd name="T93" fmla="*/ 279 h 393"/>
                <a:gd name="T94" fmla="*/ 282 w 419"/>
                <a:gd name="T95" fmla="*/ 289 h 393"/>
                <a:gd name="T96" fmla="*/ 290 w 419"/>
                <a:gd name="T97" fmla="*/ 296 h 393"/>
                <a:gd name="T98" fmla="*/ 307 w 419"/>
                <a:gd name="T99" fmla="*/ 302 h 393"/>
                <a:gd name="T100" fmla="*/ 307 w 419"/>
                <a:gd name="T101" fmla="*/ 289 h 393"/>
                <a:gd name="T102" fmla="*/ 290 w 419"/>
                <a:gd name="T103" fmla="*/ 285 h 393"/>
                <a:gd name="T104" fmla="*/ 288 w 419"/>
                <a:gd name="T105" fmla="*/ 273 h 393"/>
                <a:gd name="T106" fmla="*/ 299 w 419"/>
                <a:gd name="T107" fmla="*/ 273 h 393"/>
                <a:gd name="T108" fmla="*/ 313 w 419"/>
                <a:gd name="T109" fmla="*/ 270 h 393"/>
                <a:gd name="T110" fmla="*/ 322 w 419"/>
                <a:gd name="T111" fmla="*/ 275 h 393"/>
                <a:gd name="T112" fmla="*/ 334 w 419"/>
                <a:gd name="T113" fmla="*/ 266 h 393"/>
                <a:gd name="T114" fmla="*/ 341 w 419"/>
                <a:gd name="T115" fmla="*/ 262 h 393"/>
                <a:gd name="T116" fmla="*/ 362 w 419"/>
                <a:gd name="T117" fmla="*/ 254 h 393"/>
                <a:gd name="T118" fmla="*/ 378 w 419"/>
                <a:gd name="T119" fmla="*/ 243 h 393"/>
                <a:gd name="T120" fmla="*/ 393 w 419"/>
                <a:gd name="T121" fmla="*/ 235 h 393"/>
                <a:gd name="T122" fmla="*/ 393 w 419"/>
                <a:gd name="T123" fmla="*/ 222 h 393"/>
                <a:gd name="T124" fmla="*/ 408 w 419"/>
                <a:gd name="T125" fmla="*/ 207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9" h="393">
                  <a:moveTo>
                    <a:pt x="419" y="197"/>
                  </a:moveTo>
                  <a:lnTo>
                    <a:pt x="419" y="197"/>
                  </a:lnTo>
                  <a:lnTo>
                    <a:pt x="418" y="195"/>
                  </a:lnTo>
                  <a:lnTo>
                    <a:pt x="418" y="195"/>
                  </a:lnTo>
                  <a:lnTo>
                    <a:pt x="418" y="194"/>
                  </a:lnTo>
                  <a:lnTo>
                    <a:pt x="416" y="192"/>
                  </a:lnTo>
                  <a:lnTo>
                    <a:pt x="416" y="192"/>
                  </a:lnTo>
                  <a:lnTo>
                    <a:pt x="416" y="192"/>
                  </a:lnTo>
                  <a:lnTo>
                    <a:pt x="414" y="194"/>
                  </a:lnTo>
                  <a:lnTo>
                    <a:pt x="414" y="195"/>
                  </a:lnTo>
                  <a:lnTo>
                    <a:pt x="412" y="195"/>
                  </a:lnTo>
                  <a:lnTo>
                    <a:pt x="412" y="197"/>
                  </a:lnTo>
                  <a:lnTo>
                    <a:pt x="410" y="197"/>
                  </a:lnTo>
                  <a:lnTo>
                    <a:pt x="406" y="197"/>
                  </a:lnTo>
                  <a:lnTo>
                    <a:pt x="406" y="199"/>
                  </a:lnTo>
                  <a:lnTo>
                    <a:pt x="404" y="199"/>
                  </a:lnTo>
                  <a:lnTo>
                    <a:pt x="402" y="201"/>
                  </a:lnTo>
                  <a:lnTo>
                    <a:pt x="400" y="203"/>
                  </a:lnTo>
                  <a:lnTo>
                    <a:pt x="399" y="203"/>
                  </a:lnTo>
                  <a:lnTo>
                    <a:pt x="395" y="201"/>
                  </a:lnTo>
                  <a:lnTo>
                    <a:pt x="393" y="201"/>
                  </a:lnTo>
                  <a:lnTo>
                    <a:pt x="393" y="201"/>
                  </a:lnTo>
                  <a:lnTo>
                    <a:pt x="393" y="201"/>
                  </a:lnTo>
                  <a:lnTo>
                    <a:pt x="391" y="203"/>
                  </a:lnTo>
                  <a:lnTo>
                    <a:pt x="391" y="203"/>
                  </a:lnTo>
                  <a:lnTo>
                    <a:pt x="391" y="203"/>
                  </a:lnTo>
                  <a:lnTo>
                    <a:pt x="389" y="203"/>
                  </a:lnTo>
                  <a:lnTo>
                    <a:pt x="389" y="203"/>
                  </a:lnTo>
                  <a:lnTo>
                    <a:pt x="387" y="203"/>
                  </a:lnTo>
                  <a:lnTo>
                    <a:pt x="383" y="203"/>
                  </a:lnTo>
                  <a:lnTo>
                    <a:pt x="376" y="201"/>
                  </a:lnTo>
                  <a:lnTo>
                    <a:pt x="372" y="203"/>
                  </a:lnTo>
                  <a:lnTo>
                    <a:pt x="368" y="203"/>
                  </a:lnTo>
                  <a:lnTo>
                    <a:pt x="366" y="201"/>
                  </a:lnTo>
                  <a:lnTo>
                    <a:pt x="364" y="201"/>
                  </a:lnTo>
                  <a:lnTo>
                    <a:pt x="362" y="199"/>
                  </a:lnTo>
                  <a:lnTo>
                    <a:pt x="362" y="199"/>
                  </a:lnTo>
                  <a:lnTo>
                    <a:pt x="360" y="199"/>
                  </a:lnTo>
                  <a:lnTo>
                    <a:pt x="360" y="199"/>
                  </a:lnTo>
                  <a:lnTo>
                    <a:pt x="359" y="199"/>
                  </a:lnTo>
                  <a:lnTo>
                    <a:pt x="357" y="201"/>
                  </a:lnTo>
                  <a:lnTo>
                    <a:pt x="355" y="203"/>
                  </a:lnTo>
                  <a:lnTo>
                    <a:pt x="351" y="205"/>
                  </a:lnTo>
                  <a:lnTo>
                    <a:pt x="351" y="205"/>
                  </a:lnTo>
                  <a:lnTo>
                    <a:pt x="349" y="205"/>
                  </a:lnTo>
                  <a:lnTo>
                    <a:pt x="347" y="205"/>
                  </a:lnTo>
                  <a:lnTo>
                    <a:pt x="347" y="201"/>
                  </a:lnTo>
                  <a:lnTo>
                    <a:pt x="345" y="199"/>
                  </a:lnTo>
                  <a:lnTo>
                    <a:pt x="345" y="186"/>
                  </a:lnTo>
                  <a:lnTo>
                    <a:pt x="343" y="186"/>
                  </a:lnTo>
                  <a:lnTo>
                    <a:pt x="341" y="182"/>
                  </a:lnTo>
                  <a:lnTo>
                    <a:pt x="341" y="180"/>
                  </a:lnTo>
                  <a:lnTo>
                    <a:pt x="341" y="178"/>
                  </a:lnTo>
                  <a:lnTo>
                    <a:pt x="341" y="176"/>
                  </a:lnTo>
                  <a:lnTo>
                    <a:pt x="339" y="175"/>
                  </a:lnTo>
                  <a:lnTo>
                    <a:pt x="341" y="173"/>
                  </a:lnTo>
                  <a:lnTo>
                    <a:pt x="341" y="173"/>
                  </a:lnTo>
                  <a:lnTo>
                    <a:pt x="341" y="171"/>
                  </a:lnTo>
                  <a:lnTo>
                    <a:pt x="343" y="171"/>
                  </a:lnTo>
                  <a:lnTo>
                    <a:pt x="343" y="169"/>
                  </a:lnTo>
                  <a:lnTo>
                    <a:pt x="341" y="169"/>
                  </a:lnTo>
                  <a:lnTo>
                    <a:pt x="339" y="169"/>
                  </a:lnTo>
                  <a:lnTo>
                    <a:pt x="339" y="169"/>
                  </a:lnTo>
                  <a:lnTo>
                    <a:pt x="338" y="169"/>
                  </a:lnTo>
                  <a:lnTo>
                    <a:pt x="336" y="171"/>
                  </a:lnTo>
                  <a:lnTo>
                    <a:pt x="334" y="171"/>
                  </a:lnTo>
                  <a:lnTo>
                    <a:pt x="334" y="169"/>
                  </a:lnTo>
                  <a:lnTo>
                    <a:pt x="334" y="169"/>
                  </a:lnTo>
                  <a:lnTo>
                    <a:pt x="332" y="167"/>
                  </a:lnTo>
                  <a:lnTo>
                    <a:pt x="332" y="165"/>
                  </a:lnTo>
                  <a:lnTo>
                    <a:pt x="332" y="165"/>
                  </a:lnTo>
                  <a:lnTo>
                    <a:pt x="332" y="163"/>
                  </a:lnTo>
                  <a:lnTo>
                    <a:pt x="332" y="163"/>
                  </a:lnTo>
                  <a:lnTo>
                    <a:pt x="330" y="163"/>
                  </a:lnTo>
                  <a:lnTo>
                    <a:pt x="330" y="163"/>
                  </a:lnTo>
                  <a:lnTo>
                    <a:pt x="330" y="163"/>
                  </a:lnTo>
                  <a:lnTo>
                    <a:pt x="328" y="163"/>
                  </a:lnTo>
                  <a:lnTo>
                    <a:pt x="328" y="165"/>
                  </a:lnTo>
                  <a:lnTo>
                    <a:pt x="328" y="167"/>
                  </a:lnTo>
                  <a:lnTo>
                    <a:pt x="328" y="167"/>
                  </a:lnTo>
                  <a:lnTo>
                    <a:pt x="328" y="167"/>
                  </a:lnTo>
                  <a:lnTo>
                    <a:pt x="326" y="167"/>
                  </a:lnTo>
                  <a:lnTo>
                    <a:pt x="326" y="167"/>
                  </a:lnTo>
                  <a:lnTo>
                    <a:pt x="324" y="167"/>
                  </a:lnTo>
                  <a:lnTo>
                    <a:pt x="322" y="167"/>
                  </a:lnTo>
                  <a:lnTo>
                    <a:pt x="322" y="167"/>
                  </a:lnTo>
                  <a:lnTo>
                    <a:pt x="320" y="165"/>
                  </a:lnTo>
                  <a:lnTo>
                    <a:pt x="320" y="165"/>
                  </a:lnTo>
                  <a:lnTo>
                    <a:pt x="322" y="163"/>
                  </a:lnTo>
                  <a:lnTo>
                    <a:pt x="322" y="163"/>
                  </a:lnTo>
                  <a:lnTo>
                    <a:pt x="322" y="161"/>
                  </a:lnTo>
                  <a:lnTo>
                    <a:pt x="324" y="161"/>
                  </a:lnTo>
                  <a:lnTo>
                    <a:pt x="324" y="161"/>
                  </a:lnTo>
                  <a:lnTo>
                    <a:pt x="326" y="159"/>
                  </a:lnTo>
                  <a:lnTo>
                    <a:pt x="326" y="159"/>
                  </a:lnTo>
                  <a:lnTo>
                    <a:pt x="324" y="157"/>
                  </a:lnTo>
                  <a:lnTo>
                    <a:pt x="322" y="156"/>
                  </a:lnTo>
                  <a:lnTo>
                    <a:pt x="320" y="150"/>
                  </a:lnTo>
                  <a:lnTo>
                    <a:pt x="320" y="146"/>
                  </a:lnTo>
                  <a:lnTo>
                    <a:pt x="318" y="144"/>
                  </a:lnTo>
                  <a:lnTo>
                    <a:pt x="318" y="144"/>
                  </a:lnTo>
                  <a:lnTo>
                    <a:pt x="317" y="142"/>
                  </a:lnTo>
                  <a:lnTo>
                    <a:pt x="315" y="140"/>
                  </a:lnTo>
                  <a:lnTo>
                    <a:pt x="313" y="138"/>
                  </a:lnTo>
                  <a:lnTo>
                    <a:pt x="313" y="137"/>
                  </a:lnTo>
                  <a:lnTo>
                    <a:pt x="307" y="131"/>
                  </a:lnTo>
                  <a:lnTo>
                    <a:pt x="305" y="129"/>
                  </a:lnTo>
                  <a:lnTo>
                    <a:pt x="305" y="129"/>
                  </a:lnTo>
                  <a:lnTo>
                    <a:pt x="303" y="127"/>
                  </a:lnTo>
                  <a:lnTo>
                    <a:pt x="301" y="127"/>
                  </a:lnTo>
                  <a:lnTo>
                    <a:pt x="299" y="125"/>
                  </a:lnTo>
                  <a:lnTo>
                    <a:pt x="299" y="125"/>
                  </a:lnTo>
                  <a:lnTo>
                    <a:pt x="298" y="125"/>
                  </a:lnTo>
                  <a:lnTo>
                    <a:pt x="294" y="125"/>
                  </a:lnTo>
                  <a:lnTo>
                    <a:pt x="292" y="127"/>
                  </a:lnTo>
                  <a:lnTo>
                    <a:pt x="290" y="125"/>
                  </a:lnTo>
                  <a:lnTo>
                    <a:pt x="290" y="125"/>
                  </a:lnTo>
                  <a:lnTo>
                    <a:pt x="290" y="123"/>
                  </a:lnTo>
                  <a:lnTo>
                    <a:pt x="288" y="123"/>
                  </a:lnTo>
                  <a:lnTo>
                    <a:pt x="288" y="125"/>
                  </a:lnTo>
                  <a:lnTo>
                    <a:pt x="288" y="125"/>
                  </a:lnTo>
                  <a:lnTo>
                    <a:pt x="286" y="125"/>
                  </a:lnTo>
                  <a:lnTo>
                    <a:pt x="286" y="125"/>
                  </a:lnTo>
                  <a:lnTo>
                    <a:pt x="286" y="123"/>
                  </a:lnTo>
                  <a:lnTo>
                    <a:pt x="284" y="123"/>
                  </a:lnTo>
                  <a:lnTo>
                    <a:pt x="284" y="121"/>
                  </a:lnTo>
                  <a:lnTo>
                    <a:pt x="284" y="121"/>
                  </a:lnTo>
                  <a:lnTo>
                    <a:pt x="282" y="119"/>
                  </a:lnTo>
                  <a:lnTo>
                    <a:pt x="282" y="118"/>
                  </a:lnTo>
                  <a:lnTo>
                    <a:pt x="282" y="118"/>
                  </a:lnTo>
                  <a:lnTo>
                    <a:pt x="282" y="116"/>
                  </a:lnTo>
                  <a:lnTo>
                    <a:pt x="282" y="116"/>
                  </a:lnTo>
                  <a:lnTo>
                    <a:pt x="280" y="114"/>
                  </a:lnTo>
                  <a:lnTo>
                    <a:pt x="280" y="114"/>
                  </a:lnTo>
                  <a:lnTo>
                    <a:pt x="278" y="114"/>
                  </a:lnTo>
                  <a:lnTo>
                    <a:pt x="277" y="116"/>
                  </a:lnTo>
                  <a:lnTo>
                    <a:pt x="277" y="116"/>
                  </a:lnTo>
                  <a:lnTo>
                    <a:pt x="269" y="116"/>
                  </a:lnTo>
                  <a:lnTo>
                    <a:pt x="261" y="116"/>
                  </a:lnTo>
                  <a:lnTo>
                    <a:pt x="261" y="116"/>
                  </a:lnTo>
                  <a:lnTo>
                    <a:pt x="259" y="112"/>
                  </a:lnTo>
                  <a:lnTo>
                    <a:pt x="259" y="112"/>
                  </a:lnTo>
                  <a:lnTo>
                    <a:pt x="258" y="110"/>
                  </a:lnTo>
                  <a:lnTo>
                    <a:pt x="254" y="108"/>
                  </a:lnTo>
                  <a:lnTo>
                    <a:pt x="252" y="106"/>
                  </a:lnTo>
                  <a:lnTo>
                    <a:pt x="246" y="104"/>
                  </a:lnTo>
                  <a:lnTo>
                    <a:pt x="246" y="102"/>
                  </a:lnTo>
                  <a:lnTo>
                    <a:pt x="250" y="100"/>
                  </a:lnTo>
                  <a:lnTo>
                    <a:pt x="250" y="98"/>
                  </a:lnTo>
                  <a:lnTo>
                    <a:pt x="250" y="97"/>
                  </a:lnTo>
                  <a:lnTo>
                    <a:pt x="250" y="93"/>
                  </a:lnTo>
                  <a:lnTo>
                    <a:pt x="250" y="89"/>
                  </a:lnTo>
                  <a:lnTo>
                    <a:pt x="248" y="83"/>
                  </a:lnTo>
                  <a:lnTo>
                    <a:pt x="248" y="81"/>
                  </a:lnTo>
                  <a:lnTo>
                    <a:pt x="242" y="81"/>
                  </a:lnTo>
                  <a:lnTo>
                    <a:pt x="242" y="81"/>
                  </a:lnTo>
                  <a:lnTo>
                    <a:pt x="240" y="78"/>
                  </a:lnTo>
                  <a:lnTo>
                    <a:pt x="242" y="76"/>
                  </a:lnTo>
                  <a:lnTo>
                    <a:pt x="244" y="74"/>
                  </a:lnTo>
                  <a:lnTo>
                    <a:pt x="246" y="70"/>
                  </a:lnTo>
                  <a:lnTo>
                    <a:pt x="248" y="70"/>
                  </a:lnTo>
                  <a:lnTo>
                    <a:pt x="248" y="68"/>
                  </a:lnTo>
                  <a:lnTo>
                    <a:pt x="248" y="66"/>
                  </a:lnTo>
                  <a:lnTo>
                    <a:pt x="248" y="64"/>
                  </a:lnTo>
                  <a:lnTo>
                    <a:pt x="248" y="62"/>
                  </a:lnTo>
                  <a:lnTo>
                    <a:pt x="248" y="60"/>
                  </a:lnTo>
                  <a:lnTo>
                    <a:pt x="248" y="60"/>
                  </a:lnTo>
                  <a:lnTo>
                    <a:pt x="248" y="60"/>
                  </a:lnTo>
                  <a:lnTo>
                    <a:pt x="248" y="60"/>
                  </a:lnTo>
                  <a:lnTo>
                    <a:pt x="248" y="59"/>
                  </a:lnTo>
                  <a:lnTo>
                    <a:pt x="250" y="59"/>
                  </a:lnTo>
                  <a:lnTo>
                    <a:pt x="250" y="57"/>
                  </a:lnTo>
                  <a:lnTo>
                    <a:pt x="250" y="55"/>
                  </a:lnTo>
                  <a:lnTo>
                    <a:pt x="250" y="53"/>
                  </a:lnTo>
                  <a:lnTo>
                    <a:pt x="250" y="53"/>
                  </a:lnTo>
                  <a:lnTo>
                    <a:pt x="250" y="51"/>
                  </a:lnTo>
                  <a:lnTo>
                    <a:pt x="250" y="47"/>
                  </a:lnTo>
                  <a:lnTo>
                    <a:pt x="250" y="45"/>
                  </a:lnTo>
                  <a:lnTo>
                    <a:pt x="250" y="45"/>
                  </a:lnTo>
                  <a:lnTo>
                    <a:pt x="250" y="43"/>
                  </a:lnTo>
                  <a:lnTo>
                    <a:pt x="250" y="41"/>
                  </a:lnTo>
                  <a:lnTo>
                    <a:pt x="250" y="41"/>
                  </a:lnTo>
                  <a:lnTo>
                    <a:pt x="248" y="41"/>
                  </a:lnTo>
                  <a:lnTo>
                    <a:pt x="248" y="40"/>
                  </a:lnTo>
                  <a:lnTo>
                    <a:pt x="248" y="40"/>
                  </a:lnTo>
                  <a:lnTo>
                    <a:pt x="246" y="38"/>
                  </a:lnTo>
                  <a:lnTo>
                    <a:pt x="246" y="38"/>
                  </a:lnTo>
                  <a:lnTo>
                    <a:pt x="246" y="38"/>
                  </a:lnTo>
                  <a:lnTo>
                    <a:pt x="244" y="38"/>
                  </a:lnTo>
                  <a:lnTo>
                    <a:pt x="242" y="38"/>
                  </a:lnTo>
                  <a:lnTo>
                    <a:pt x="242" y="38"/>
                  </a:lnTo>
                  <a:lnTo>
                    <a:pt x="242" y="36"/>
                  </a:lnTo>
                  <a:lnTo>
                    <a:pt x="240" y="36"/>
                  </a:lnTo>
                  <a:lnTo>
                    <a:pt x="240" y="36"/>
                  </a:lnTo>
                  <a:lnTo>
                    <a:pt x="238" y="34"/>
                  </a:lnTo>
                  <a:lnTo>
                    <a:pt x="238" y="32"/>
                  </a:lnTo>
                  <a:lnTo>
                    <a:pt x="237" y="30"/>
                  </a:lnTo>
                  <a:lnTo>
                    <a:pt x="237" y="30"/>
                  </a:lnTo>
                  <a:lnTo>
                    <a:pt x="235" y="28"/>
                  </a:lnTo>
                  <a:lnTo>
                    <a:pt x="229" y="28"/>
                  </a:lnTo>
                  <a:lnTo>
                    <a:pt x="227" y="28"/>
                  </a:lnTo>
                  <a:lnTo>
                    <a:pt x="227" y="28"/>
                  </a:lnTo>
                  <a:lnTo>
                    <a:pt x="227" y="28"/>
                  </a:lnTo>
                  <a:lnTo>
                    <a:pt x="219" y="30"/>
                  </a:lnTo>
                  <a:lnTo>
                    <a:pt x="219" y="32"/>
                  </a:lnTo>
                  <a:lnTo>
                    <a:pt x="217" y="32"/>
                  </a:lnTo>
                  <a:lnTo>
                    <a:pt x="217" y="32"/>
                  </a:lnTo>
                  <a:lnTo>
                    <a:pt x="217" y="34"/>
                  </a:lnTo>
                  <a:lnTo>
                    <a:pt x="217" y="34"/>
                  </a:lnTo>
                  <a:lnTo>
                    <a:pt x="217" y="36"/>
                  </a:lnTo>
                  <a:lnTo>
                    <a:pt x="217" y="36"/>
                  </a:lnTo>
                  <a:lnTo>
                    <a:pt x="216" y="36"/>
                  </a:lnTo>
                  <a:lnTo>
                    <a:pt x="216" y="36"/>
                  </a:lnTo>
                  <a:lnTo>
                    <a:pt x="216" y="36"/>
                  </a:lnTo>
                  <a:lnTo>
                    <a:pt x="214" y="36"/>
                  </a:lnTo>
                  <a:lnTo>
                    <a:pt x="214" y="36"/>
                  </a:lnTo>
                  <a:lnTo>
                    <a:pt x="214" y="36"/>
                  </a:lnTo>
                  <a:lnTo>
                    <a:pt x="214" y="36"/>
                  </a:lnTo>
                  <a:lnTo>
                    <a:pt x="212" y="36"/>
                  </a:lnTo>
                  <a:lnTo>
                    <a:pt x="212" y="34"/>
                  </a:lnTo>
                  <a:lnTo>
                    <a:pt x="212" y="34"/>
                  </a:lnTo>
                  <a:lnTo>
                    <a:pt x="208" y="34"/>
                  </a:lnTo>
                  <a:lnTo>
                    <a:pt x="208" y="34"/>
                  </a:lnTo>
                  <a:lnTo>
                    <a:pt x="208" y="34"/>
                  </a:lnTo>
                  <a:lnTo>
                    <a:pt x="200" y="34"/>
                  </a:lnTo>
                  <a:lnTo>
                    <a:pt x="198" y="34"/>
                  </a:lnTo>
                  <a:lnTo>
                    <a:pt x="198" y="34"/>
                  </a:lnTo>
                  <a:lnTo>
                    <a:pt x="197" y="34"/>
                  </a:lnTo>
                  <a:lnTo>
                    <a:pt x="197" y="32"/>
                  </a:lnTo>
                  <a:lnTo>
                    <a:pt x="197" y="30"/>
                  </a:lnTo>
                  <a:lnTo>
                    <a:pt x="195" y="30"/>
                  </a:lnTo>
                  <a:lnTo>
                    <a:pt x="195" y="30"/>
                  </a:lnTo>
                  <a:lnTo>
                    <a:pt x="185" y="28"/>
                  </a:lnTo>
                  <a:lnTo>
                    <a:pt x="185" y="28"/>
                  </a:lnTo>
                  <a:lnTo>
                    <a:pt x="185" y="28"/>
                  </a:lnTo>
                  <a:lnTo>
                    <a:pt x="183" y="28"/>
                  </a:lnTo>
                  <a:lnTo>
                    <a:pt x="183" y="24"/>
                  </a:lnTo>
                  <a:lnTo>
                    <a:pt x="181" y="24"/>
                  </a:lnTo>
                  <a:lnTo>
                    <a:pt x="181" y="24"/>
                  </a:lnTo>
                  <a:lnTo>
                    <a:pt x="179" y="22"/>
                  </a:lnTo>
                  <a:lnTo>
                    <a:pt x="177" y="22"/>
                  </a:lnTo>
                  <a:lnTo>
                    <a:pt x="177" y="22"/>
                  </a:lnTo>
                  <a:lnTo>
                    <a:pt x="172" y="24"/>
                  </a:lnTo>
                  <a:lnTo>
                    <a:pt x="168" y="26"/>
                  </a:lnTo>
                  <a:lnTo>
                    <a:pt x="168" y="26"/>
                  </a:lnTo>
                  <a:lnTo>
                    <a:pt x="166" y="26"/>
                  </a:lnTo>
                  <a:lnTo>
                    <a:pt x="166" y="28"/>
                  </a:lnTo>
                  <a:lnTo>
                    <a:pt x="164" y="30"/>
                  </a:lnTo>
                  <a:lnTo>
                    <a:pt x="164" y="30"/>
                  </a:lnTo>
                  <a:lnTo>
                    <a:pt x="162" y="30"/>
                  </a:lnTo>
                  <a:lnTo>
                    <a:pt x="160" y="30"/>
                  </a:lnTo>
                  <a:lnTo>
                    <a:pt x="160" y="30"/>
                  </a:lnTo>
                  <a:lnTo>
                    <a:pt x="160" y="30"/>
                  </a:lnTo>
                  <a:lnTo>
                    <a:pt x="160" y="30"/>
                  </a:lnTo>
                  <a:lnTo>
                    <a:pt x="158" y="30"/>
                  </a:lnTo>
                  <a:lnTo>
                    <a:pt x="158" y="28"/>
                  </a:lnTo>
                  <a:lnTo>
                    <a:pt x="157" y="28"/>
                  </a:lnTo>
                  <a:lnTo>
                    <a:pt x="155" y="28"/>
                  </a:lnTo>
                  <a:lnTo>
                    <a:pt x="155" y="28"/>
                  </a:lnTo>
                  <a:lnTo>
                    <a:pt x="155" y="26"/>
                  </a:lnTo>
                  <a:lnTo>
                    <a:pt x="155" y="26"/>
                  </a:lnTo>
                  <a:lnTo>
                    <a:pt x="155" y="26"/>
                  </a:lnTo>
                  <a:lnTo>
                    <a:pt x="153" y="24"/>
                  </a:lnTo>
                  <a:lnTo>
                    <a:pt x="151" y="24"/>
                  </a:lnTo>
                  <a:lnTo>
                    <a:pt x="151" y="24"/>
                  </a:lnTo>
                  <a:lnTo>
                    <a:pt x="151" y="22"/>
                  </a:lnTo>
                  <a:lnTo>
                    <a:pt x="149" y="22"/>
                  </a:lnTo>
                  <a:lnTo>
                    <a:pt x="147" y="15"/>
                  </a:lnTo>
                  <a:lnTo>
                    <a:pt x="147" y="15"/>
                  </a:lnTo>
                  <a:lnTo>
                    <a:pt x="147" y="15"/>
                  </a:lnTo>
                  <a:lnTo>
                    <a:pt x="147" y="15"/>
                  </a:lnTo>
                  <a:lnTo>
                    <a:pt x="145" y="13"/>
                  </a:lnTo>
                  <a:lnTo>
                    <a:pt x="145" y="13"/>
                  </a:lnTo>
                  <a:lnTo>
                    <a:pt x="145" y="13"/>
                  </a:lnTo>
                  <a:lnTo>
                    <a:pt x="143" y="11"/>
                  </a:lnTo>
                  <a:lnTo>
                    <a:pt x="141" y="11"/>
                  </a:lnTo>
                  <a:lnTo>
                    <a:pt x="137" y="11"/>
                  </a:lnTo>
                  <a:lnTo>
                    <a:pt x="136" y="11"/>
                  </a:lnTo>
                  <a:lnTo>
                    <a:pt x="136" y="11"/>
                  </a:lnTo>
                  <a:lnTo>
                    <a:pt x="132" y="9"/>
                  </a:lnTo>
                  <a:lnTo>
                    <a:pt x="126" y="7"/>
                  </a:lnTo>
                  <a:lnTo>
                    <a:pt x="124" y="7"/>
                  </a:lnTo>
                  <a:lnTo>
                    <a:pt x="124" y="7"/>
                  </a:lnTo>
                  <a:lnTo>
                    <a:pt x="122" y="7"/>
                  </a:lnTo>
                  <a:lnTo>
                    <a:pt x="120" y="7"/>
                  </a:lnTo>
                  <a:lnTo>
                    <a:pt x="120" y="7"/>
                  </a:lnTo>
                  <a:lnTo>
                    <a:pt x="118" y="5"/>
                  </a:lnTo>
                  <a:lnTo>
                    <a:pt x="118" y="5"/>
                  </a:lnTo>
                  <a:lnTo>
                    <a:pt x="118" y="5"/>
                  </a:lnTo>
                  <a:lnTo>
                    <a:pt x="116" y="5"/>
                  </a:lnTo>
                  <a:lnTo>
                    <a:pt x="116" y="5"/>
                  </a:lnTo>
                  <a:lnTo>
                    <a:pt x="116" y="7"/>
                  </a:lnTo>
                  <a:lnTo>
                    <a:pt x="116" y="7"/>
                  </a:lnTo>
                  <a:lnTo>
                    <a:pt x="115" y="7"/>
                  </a:lnTo>
                  <a:lnTo>
                    <a:pt x="115" y="7"/>
                  </a:lnTo>
                  <a:lnTo>
                    <a:pt x="115" y="7"/>
                  </a:lnTo>
                  <a:lnTo>
                    <a:pt x="115" y="7"/>
                  </a:lnTo>
                  <a:lnTo>
                    <a:pt x="115" y="9"/>
                  </a:lnTo>
                  <a:lnTo>
                    <a:pt x="113" y="9"/>
                  </a:lnTo>
                  <a:lnTo>
                    <a:pt x="107" y="5"/>
                  </a:lnTo>
                  <a:lnTo>
                    <a:pt x="107" y="5"/>
                  </a:lnTo>
                  <a:lnTo>
                    <a:pt x="107" y="5"/>
                  </a:lnTo>
                  <a:lnTo>
                    <a:pt x="107" y="5"/>
                  </a:lnTo>
                  <a:lnTo>
                    <a:pt x="105" y="3"/>
                  </a:lnTo>
                  <a:lnTo>
                    <a:pt x="105" y="1"/>
                  </a:lnTo>
                  <a:lnTo>
                    <a:pt x="105" y="1"/>
                  </a:lnTo>
                  <a:lnTo>
                    <a:pt x="103" y="1"/>
                  </a:lnTo>
                  <a:lnTo>
                    <a:pt x="99" y="0"/>
                  </a:lnTo>
                  <a:lnTo>
                    <a:pt x="99" y="1"/>
                  </a:lnTo>
                  <a:lnTo>
                    <a:pt x="99" y="3"/>
                  </a:lnTo>
                  <a:lnTo>
                    <a:pt x="103" y="13"/>
                  </a:lnTo>
                  <a:lnTo>
                    <a:pt x="103" y="13"/>
                  </a:lnTo>
                  <a:lnTo>
                    <a:pt x="105" y="13"/>
                  </a:lnTo>
                  <a:lnTo>
                    <a:pt x="105" y="13"/>
                  </a:lnTo>
                  <a:lnTo>
                    <a:pt x="107" y="15"/>
                  </a:lnTo>
                  <a:lnTo>
                    <a:pt x="107" y="15"/>
                  </a:lnTo>
                  <a:lnTo>
                    <a:pt x="107" y="17"/>
                  </a:lnTo>
                  <a:lnTo>
                    <a:pt x="107" y="17"/>
                  </a:lnTo>
                  <a:lnTo>
                    <a:pt x="105" y="19"/>
                  </a:lnTo>
                  <a:lnTo>
                    <a:pt x="105" y="19"/>
                  </a:lnTo>
                  <a:lnTo>
                    <a:pt x="105" y="19"/>
                  </a:lnTo>
                  <a:lnTo>
                    <a:pt x="101" y="21"/>
                  </a:lnTo>
                  <a:lnTo>
                    <a:pt x="101" y="22"/>
                  </a:lnTo>
                  <a:lnTo>
                    <a:pt x="99" y="24"/>
                  </a:lnTo>
                  <a:lnTo>
                    <a:pt x="99" y="26"/>
                  </a:lnTo>
                  <a:lnTo>
                    <a:pt x="97" y="28"/>
                  </a:lnTo>
                  <a:lnTo>
                    <a:pt x="97" y="30"/>
                  </a:lnTo>
                  <a:lnTo>
                    <a:pt x="97" y="32"/>
                  </a:lnTo>
                  <a:lnTo>
                    <a:pt x="97" y="38"/>
                  </a:lnTo>
                  <a:lnTo>
                    <a:pt x="97" y="38"/>
                  </a:lnTo>
                  <a:lnTo>
                    <a:pt x="97" y="40"/>
                  </a:lnTo>
                  <a:lnTo>
                    <a:pt x="97" y="40"/>
                  </a:lnTo>
                  <a:lnTo>
                    <a:pt x="96" y="40"/>
                  </a:lnTo>
                  <a:lnTo>
                    <a:pt x="96" y="41"/>
                  </a:lnTo>
                  <a:lnTo>
                    <a:pt x="92" y="41"/>
                  </a:lnTo>
                  <a:lnTo>
                    <a:pt x="90" y="41"/>
                  </a:lnTo>
                  <a:lnTo>
                    <a:pt x="90" y="41"/>
                  </a:lnTo>
                  <a:lnTo>
                    <a:pt x="88" y="43"/>
                  </a:lnTo>
                  <a:lnTo>
                    <a:pt x="88" y="45"/>
                  </a:lnTo>
                  <a:lnTo>
                    <a:pt x="86" y="47"/>
                  </a:lnTo>
                  <a:lnTo>
                    <a:pt x="86" y="49"/>
                  </a:lnTo>
                  <a:lnTo>
                    <a:pt x="86" y="49"/>
                  </a:lnTo>
                  <a:lnTo>
                    <a:pt x="86" y="49"/>
                  </a:lnTo>
                  <a:lnTo>
                    <a:pt x="86" y="51"/>
                  </a:lnTo>
                  <a:lnTo>
                    <a:pt x="86" y="51"/>
                  </a:lnTo>
                  <a:lnTo>
                    <a:pt x="86" y="57"/>
                  </a:lnTo>
                  <a:lnTo>
                    <a:pt x="86" y="57"/>
                  </a:lnTo>
                  <a:lnTo>
                    <a:pt x="86" y="59"/>
                  </a:lnTo>
                  <a:lnTo>
                    <a:pt x="86" y="60"/>
                  </a:lnTo>
                  <a:lnTo>
                    <a:pt x="84" y="60"/>
                  </a:lnTo>
                  <a:lnTo>
                    <a:pt x="84" y="60"/>
                  </a:lnTo>
                  <a:lnTo>
                    <a:pt x="80" y="60"/>
                  </a:lnTo>
                  <a:lnTo>
                    <a:pt x="80" y="60"/>
                  </a:lnTo>
                  <a:lnTo>
                    <a:pt x="78" y="60"/>
                  </a:lnTo>
                  <a:lnTo>
                    <a:pt x="78" y="60"/>
                  </a:lnTo>
                  <a:lnTo>
                    <a:pt x="78" y="60"/>
                  </a:lnTo>
                  <a:lnTo>
                    <a:pt x="76" y="60"/>
                  </a:lnTo>
                  <a:lnTo>
                    <a:pt x="75" y="60"/>
                  </a:lnTo>
                  <a:lnTo>
                    <a:pt x="75" y="60"/>
                  </a:lnTo>
                  <a:lnTo>
                    <a:pt x="73" y="60"/>
                  </a:lnTo>
                  <a:lnTo>
                    <a:pt x="71" y="59"/>
                  </a:lnTo>
                  <a:lnTo>
                    <a:pt x="71" y="59"/>
                  </a:lnTo>
                  <a:lnTo>
                    <a:pt x="69" y="55"/>
                  </a:lnTo>
                  <a:lnTo>
                    <a:pt x="69" y="55"/>
                  </a:lnTo>
                  <a:lnTo>
                    <a:pt x="67" y="55"/>
                  </a:lnTo>
                  <a:lnTo>
                    <a:pt x="65" y="55"/>
                  </a:lnTo>
                  <a:lnTo>
                    <a:pt x="65" y="55"/>
                  </a:lnTo>
                  <a:lnTo>
                    <a:pt x="63" y="55"/>
                  </a:lnTo>
                  <a:lnTo>
                    <a:pt x="63" y="55"/>
                  </a:lnTo>
                  <a:lnTo>
                    <a:pt x="61" y="55"/>
                  </a:lnTo>
                  <a:lnTo>
                    <a:pt x="61" y="55"/>
                  </a:lnTo>
                  <a:lnTo>
                    <a:pt x="59" y="55"/>
                  </a:lnTo>
                  <a:lnTo>
                    <a:pt x="59" y="55"/>
                  </a:lnTo>
                  <a:lnTo>
                    <a:pt x="59" y="55"/>
                  </a:lnTo>
                  <a:lnTo>
                    <a:pt x="57" y="57"/>
                  </a:lnTo>
                  <a:lnTo>
                    <a:pt x="57" y="57"/>
                  </a:lnTo>
                  <a:lnTo>
                    <a:pt x="57" y="59"/>
                  </a:lnTo>
                  <a:lnTo>
                    <a:pt x="57" y="59"/>
                  </a:lnTo>
                  <a:lnTo>
                    <a:pt x="59" y="59"/>
                  </a:lnTo>
                  <a:lnTo>
                    <a:pt x="59" y="59"/>
                  </a:lnTo>
                  <a:lnTo>
                    <a:pt x="59" y="60"/>
                  </a:lnTo>
                  <a:lnTo>
                    <a:pt x="57" y="62"/>
                  </a:lnTo>
                  <a:lnTo>
                    <a:pt x="56" y="62"/>
                  </a:lnTo>
                  <a:lnTo>
                    <a:pt x="56" y="64"/>
                  </a:lnTo>
                  <a:lnTo>
                    <a:pt x="56" y="68"/>
                  </a:lnTo>
                  <a:lnTo>
                    <a:pt x="54" y="70"/>
                  </a:lnTo>
                  <a:lnTo>
                    <a:pt x="54" y="70"/>
                  </a:lnTo>
                  <a:lnTo>
                    <a:pt x="54" y="72"/>
                  </a:lnTo>
                  <a:lnTo>
                    <a:pt x="54" y="72"/>
                  </a:lnTo>
                  <a:lnTo>
                    <a:pt x="54" y="74"/>
                  </a:lnTo>
                  <a:lnTo>
                    <a:pt x="54" y="74"/>
                  </a:lnTo>
                  <a:lnTo>
                    <a:pt x="54" y="74"/>
                  </a:lnTo>
                  <a:lnTo>
                    <a:pt x="54" y="76"/>
                  </a:lnTo>
                  <a:lnTo>
                    <a:pt x="52" y="76"/>
                  </a:lnTo>
                  <a:lnTo>
                    <a:pt x="52" y="76"/>
                  </a:lnTo>
                  <a:lnTo>
                    <a:pt x="52" y="76"/>
                  </a:lnTo>
                  <a:lnTo>
                    <a:pt x="50" y="78"/>
                  </a:lnTo>
                  <a:lnTo>
                    <a:pt x="48" y="79"/>
                  </a:lnTo>
                  <a:lnTo>
                    <a:pt x="48" y="79"/>
                  </a:lnTo>
                  <a:lnTo>
                    <a:pt x="46" y="81"/>
                  </a:lnTo>
                  <a:lnTo>
                    <a:pt x="46" y="81"/>
                  </a:lnTo>
                  <a:lnTo>
                    <a:pt x="46" y="81"/>
                  </a:lnTo>
                  <a:lnTo>
                    <a:pt x="46" y="83"/>
                  </a:lnTo>
                  <a:lnTo>
                    <a:pt x="48" y="85"/>
                  </a:lnTo>
                  <a:lnTo>
                    <a:pt x="48" y="85"/>
                  </a:lnTo>
                  <a:lnTo>
                    <a:pt x="48" y="87"/>
                  </a:lnTo>
                  <a:lnTo>
                    <a:pt x="48" y="87"/>
                  </a:lnTo>
                  <a:lnTo>
                    <a:pt x="48" y="87"/>
                  </a:lnTo>
                  <a:lnTo>
                    <a:pt x="48" y="87"/>
                  </a:lnTo>
                  <a:lnTo>
                    <a:pt x="48" y="87"/>
                  </a:lnTo>
                  <a:lnTo>
                    <a:pt x="50" y="87"/>
                  </a:lnTo>
                  <a:lnTo>
                    <a:pt x="50" y="87"/>
                  </a:lnTo>
                  <a:lnTo>
                    <a:pt x="52" y="87"/>
                  </a:lnTo>
                  <a:lnTo>
                    <a:pt x="52" y="89"/>
                  </a:lnTo>
                  <a:lnTo>
                    <a:pt x="52" y="89"/>
                  </a:lnTo>
                  <a:lnTo>
                    <a:pt x="52" y="89"/>
                  </a:lnTo>
                  <a:lnTo>
                    <a:pt x="52" y="91"/>
                  </a:lnTo>
                  <a:lnTo>
                    <a:pt x="52" y="91"/>
                  </a:lnTo>
                  <a:lnTo>
                    <a:pt x="52" y="91"/>
                  </a:lnTo>
                  <a:lnTo>
                    <a:pt x="52" y="91"/>
                  </a:lnTo>
                  <a:lnTo>
                    <a:pt x="54" y="91"/>
                  </a:lnTo>
                  <a:lnTo>
                    <a:pt x="54" y="91"/>
                  </a:lnTo>
                  <a:lnTo>
                    <a:pt x="54" y="91"/>
                  </a:lnTo>
                  <a:lnTo>
                    <a:pt x="54" y="93"/>
                  </a:lnTo>
                  <a:lnTo>
                    <a:pt x="54" y="93"/>
                  </a:lnTo>
                  <a:lnTo>
                    <a:pt x="54" y="95"/>
                  </a:lnTo>
                  <a:lnTo>
                    <a:pt x="56" y="95"/>
                  </a:lnTo>
                  <a:lnTo>
                    <a:pt x="56" y="97"/>
                  </a:lnTo>
                  <a:lnTo>
                    <a:pt x="59" y="98"/>
                  </a:lnTo>
                  <a:lnTo>
                    <a:pt x="61" y="100"/>
                  </a:lnTo>
                  <a:lnTo>
                    <a:pt x="61" y="100"/>
                  </a:lnTo>
                  <a:lnTo>
                    <a:pt x="61" y="100"/>
                  </a:lnTo>
                  <a:lnTo>
                    <a:pt x="61" y="102"/>
                  </a:lnTo>
                  <a:lnTo>
                    <a:pt x="61" y="102"/>
                  </a:lnTo>
                  <a:lnTo>
                    <a:pt x="59" y="102"/>
                  </a:lnTo>
                  <a:lnTo>
                    <a:pt x="57" y="102"/>
                  </a:lnTo>
                  <a:lnTo>
                    <a:pt x="57" y="104"/>
                  </a:lnTo>
                  <a:lnTo>
                    <a:pt x="56" y="104"/>
                  </a:lnTo>
                  <a:lnTo>
                    <a:pt x="54" y="104"/>
                  </a:lnTo>
                  <a:lnTo>
                    <a:pt x="54" y="106"/>
                  </a:lnTo>
                  <a:lnTo>
                    <a:pt x="52" y="108"/>
                  </a:lnTo>
                  <a:lnTo>
                    <a:pt x="50" y="114"/>
                  </a:lnTo>
                  <a:lnTo>
                    <a:pt x="50" y="116"/>
                  </a:lnTo>
                  <a:lnTo>
                    <a:pt x="48" y="116"/>
                  </a:lnTo>
                  <a:lnTo>
                    <a:pt x="48" y="116"/>
                  </a:lnTo>
                  <a:lnTo>
                    <a:pt x="46" y="116"/>
                  </a:lnTo>
                  <a:lnTo>
                    <a:pt x="44" y="116"/>
                  </a:lnTo>
                  <a:lnTo>
                    <a:pt x="44" y="116"/>
                  </a:lnTo>
                  <a:lnTo>
                    <a:pt x="42" y="116"/>
                  </a:lnTo>
                  <a:lnTo>
                    <a:pt x="42" y="118"/>
                  </a:lnTo>
                  <a:lnTo>
                    <a:pt x="42" y="119"/>
                  </a:lnTo>
                  <a:lnTo>
                    <a:pt x="42" y="119"/>
                  </a:lnTo>
                  <a:lnTo>
                    <a:pt x="42" y="119"/>
                  </a:lnTo>
                  <a:lnTo>
                    <a:pt x="42" y="121"/>
                  </a:lnTo>
                  <a:lnTo>
                    <a:pt x="42" y="123"/>
                  </a:lnTo>
                  <a:lnTo>
                    <a:pt x="42" y="125"/>
                  </a:lnTo>
                  <a:lnTo>
                    <a:pt x="40" y="127"/>
                  </a:lnTo>
                  <a:lnTo>
                    <a:pt x="40" y="127"/>
                  </a:lnTo>
                  <a:lnTo>
                    <a:pt x="40" y="129"/>
                  </a:lnTo>
                  <a:lnTo>
                    <a:pt x="38" y="129"/>
                  </a:lnTo>
                  <a:lnTo>
                    <a:pt x="38" y="129"/>
                  </a:lnTo>
                  <a:lnTo>
                    <a:pt x="35" y="129"/>
                  </a:lnTo>
                  <a:lnTo>
                    <a:pt x="33" y="129"/>
                  </a:lnTo>
                  <a:lnTo>
                    <a:pt x="33" y="129"/>
                  </a:lnTo>
                  <a:lnTo>
                    <a:pt x="31" y="131"/>
                  </a:lnTo>
                  <a:lnTo>
                    <a:pt x="31" y="131"/>
                  </a:lnTo>
                  <a:lnTo>
                    <a:pt x="31" y="133"/>
                  </a:lnTo>
                  <a:lnTo>
                    <a:pt x="31" y="133"/>
                  </a:lnTo>
                  <a:lnTo>
                    <a:pt x="29" y="135"/>
                  </a:lnTo>
                  <a:lnTo>
                    <a:pt x="29" y="135"/>
                  </a:lnTo>
                  <a:lnTo>
                    <a:pt x="29" y="137"/>
                  </a:lnTo>
                  <a:lnTo>
                    <a:pt x="29" y="137"/>
                  </a:lnTo>
                  <a:lnTo>
                    <a:pt x="29" y="137"/>
                  </a:lnTo>
                  <a:lnTo>
                    <a:pt x="29" y="138"/>
                  </a:lnTo>
                  <a:lnTo>
                    <a:pt x="27" y="138"/>
                  </a:lnTo>
                  <a:lnTo>
                    <a:pt x="27" y="140"/>
                  </a:lnTo>
                  <a:lnTo>
                    <a:pt x="27" y="142"/>
                  </a:lnTo>
                  <a:lnTo>
                    <a:pt x="27" y="142"/>
                  </a:lnTo>
                  <a:lnTo>
                    <a:pt x="25" y="144"/>
                  </a:lnTo>
                  <a:lnTo>
                    <a:pt x="25" y="144"/>
                  </a:lnTo>
                  <a:lnTo>
                    <a:pt x="23" y="146"/>
                  </a:lnTo>
                  <a:lnTo>
                    <a:pt x="23" y="146"/>
                  </a:lnTo>
                  <a:lnTo>
                    <a:pt x="23" y="146"/>
                  </a:lnTo>
                  <a:lnTo>
                    <a:pt x="27" y="150"/>
                  </a:lnTo>
                  <a:lnTo>
                    <a:pt x="29" y="150"/>
                  </a:lnTo>
                  <a:lnTo>
                    <a:pt x="29" y="150"/>
                  </a:lnTo>
                  <a:lnTo>
                    <a:pt x="29" y="152"/>
                  </a:lnTo>
                  <a:lnTo>
                    <a:pt x="27" y="154"/>
                  </a:lnTo>
                  <a:lnTo>
                    <a:pt x="31" y="156"/>
                  </a:lnTo>
                  <a:lnTo>
                    <a:pt x="31" y="156"/>
                  </a:lnTo>
                  <a:lnTo>
                    <a:pt x="31" y="157"/>
                  </a:lnTo>
                  <a:lnTo>
                    <a:pt x="31" y="157"/>
                  </a:lnTo>
                  <a:lnTo>
                    <a:pt x="29" y="159"/>
                  </a:lnTo>
                  <a:lnTo>
                    <a:pt x="29" y="161"/>
                  </a:lnTo>
                  <a:lnTo>
                    <a:pt x="29" y="161"/>
                  </a:lnTo>
                  <a:lnTo>
                    <a:pt x="31" y="167"/>
                  </a:lnTo>
                  <a:lnTo>
                    <a:pt x="33" y="171"/>
                  </a:lnTo>
                  <a:lnTo>
                    <a:pt x="33" y="173"/>
                  </a:lnTo>
                  <a:lnTo>
                    <a:pt x="33" y="173"/>
                  </a:lnTo>
                  <a:lnTo>
                    <a:pt x="31" y="173"/>
                  </a:lnTo>
                  <a:lnTo>
                    <a:pt x="31" y="173"/>
                  </a:lnTo>
                  <a:lnTo>
                    <a:pt x="29" y="173"/>
                  </a:lnTo>
                  <a:lnTo>
                    <a:pt x="29" y="175"/>
                  </a:lnTo>
                  <a:lnTo>
                    <a:pt x="29" y="175"/>
                  </a:lnTo>
                  <a:lnTo>
                    <a:pt x="29" y="175"/>
                  </a:lnTo>
                  <a:lnTo>
                    <a:pt x="29" y="176"/>
                  </a:lnTo>
                  <a:lnTo>
                    <a:pt x="29" y="176"/>
                  </a:lnTo>
                  <a:lnTo>
                    <a:pt x="33" y="178"/>
                  </a:lnTo>
                  <a:lnTo>
                    <a:pt x="33" y="180"/>
                  </a:lnTo>
                  <a:lnTo>
                    <a:pt x="33" y="182"/>
                  </a:lnTo>
                  <a:lnTo>
                    <a:pt x="35" y="184"/>
                  </a:lnTo>
                  <a:lnTo>
                    <a:pt x="35" y="188"/>
                  </a:lnTo>
                  <a:lnTo>
                    <a:pt x="35" y="190"/>
                  </a:lnTo>
                  <a:lnTo>
                    <a:pt x="35" y="190"/>
                  </a:lnTo>
                  <a:lnTo>
                    <a:pt x="35" y="190"/>
                  </a:lnTo>
                  <a:lnTo>
                    <a:pt x="29" y="195"/>
                  </a:lnTo>
                  <a:lnTo>
                    <a:pt x="27" y="197"/>
                  </a:lnTo>
                  <a:lnTo>
                    <a:pt x="27" y="197"/>
                  </a:lnTo>
                  <a:lnTo>
                    <a:pt x="25" y="197"/>
                  </a:lnTo>
                  <a:lnTo>
                    <a:pt x="25" y="197"/>
                  </a:lnTo>
                  <a:lnTo>
                    <a:pt x="25" y="199"/>
                  </a:lnTo>
                  <a:lnTo>
                    <a:pt x="23" y="199"/>
                  </a:lnTo>
                  <a:lnTo>
                    <a:pt x="23" y="201"/>
                  </a:lnTo>
                  <a:lnTo>
                    <a:pt x="23" y="201"/>
                  </a:lnTo>
                  <a:lnTo>
                    <a:pt x="23" y="201"/>
                  </a:lnTo>
                  <a:lnTo>
                    <a:pt x="23" y="201"/>
                  </a:lnTo>
                  <a:lnTo>
                    <a:pt x="23" y="203"/>
                  </a:lnTo>
                  <a:lnTo>
                    <a:pt x="25" y="203"/>
                  </a:lnTo>
                  <a:lnTo>
                    <a:pt x="25" y="205"/>
                  </a:lnTo>
                  <a:lnTo>
                    <a:pt x="25" y="205"/>
                  </a:lnTo>
                  <a:lnTo>
                    <a:pt x="27" y="207"/>
                  </a:lnTo>
                  <a:lnTo>
                    <a:pt x="25" y="207"/>
                  </a:lnTo>
                  <a:lnTo>
                    <a:pt x="25" y="209"/>
                  </a:lnTo>
                  <a:lnTo>
                    <a:pt x="25" y="209"/>
                  </a:lnTo>
                  <a:lnTo>
                    <a:pt x="21" y="211"/>
                  </a:lnTo>
                  <a:lnTo>
                    <a:pt x="21" y="211"/>
                  </a:lnTo>
                  <a:lnTo>
                    <a:pt x="19" y="211"/>
                  </a:lnTo>
                  <a:lnTo>
                    <a:pt x="19" y="213"/>
                  </a:lnTo>
                  <a:lnTo>
                    <a:pt x="16" y="216"/>
                  </a:lnTo>
                  <a:lnTo>
                    <a:pt x="16" y="218"/>
                  </a:lnTo>
                  <a:lnTo>
                    <a:pt x="16" y="220"/>
                  </a:lnTo>
                  <a:lnTo>
                    <a:pt x="19" y="222"/>
                  </a:lnTo>
                  <a:lnTo>
                    <a:pt x="19" y="222"/>
                  </a:lnTo>
                  <a:lnTo>
                    <a:pt x="21" y="224"/>
                  </a:lnTo>
                  <a:lnTo>
                    <a:pt x="23" y="224"/>
                  </a:lnTo>
                  <a:lnTo>
                    <a:pt x="23" y="224"/>
                  </a:lnTo>
                  <a:lnTo>
                    <a:pt x="25" y="224"/>
                  </a:lnTo>
                  <a:lnTo>
                    <a:pt x="27" y="224"/>
                  </a:lnTo>
                  <a:lnTo>
                    <a:pt x="27" y="224"/>
                  </a:lnTo>
                  <a:lnTo>
                    <a:pt x="31" y="224"/>
                  </a:lnTo>
                  <a:lnTo>
                    <a:pt x="31" y="226"/>
                  </a:lnTo>
                  <a:lnTo>
                    <a:pt x="31" y="228"/>
                  </a:lnTo>
                  <a:lnTo>
                    <a:pt x="33" y="228"/>
                  </a:lnTo>
                  <a:lnTo>
                    <a:pt x="33" y="228"/>
                  </a:lnTo>
                  <a:lnTo>
                    <a:pt x="35" y="226"/>
                  </a:lnTo>
                  <a:lnTo>
                    <a:pt x="36" y="226"/>
                  </a:lnTo>
                  <a:lnTo>
                    <a:pt x="36" y="224"/>
                  </a:lnTo>
                  <a:lnTo>
                    <a:pt x="38" y="224"/>
                  </a:lnTo>
                  <a:lnTo>
                    <a:pt x="40" y="224"/>
                  </a:lnTo>
                  <a:lnTo>
                    <a:pt x="40" y="226"/>
                  </a:lnTo>
                  <a:lnTo>
                    <a:pt x="40" y="226"/>
                  </a:lnTo>
                  <a:lnTo>
                    <a:pt x="36" y="232"/>
                  </a:lnTo>
                  <a:lnTo>
                    <a:pt x="36" y="232"/>
                  </a:lnTo>
                  <a:lnTo>
                    <a:pt x="36" y="232"/>
                  </a:lnTo>
                  <a:lnTo>
                    <a:pt x="33" y="234"/>
                  </a:lnTo>
                  <a:lnTo>
                    <a:pt x="31" y="234"/>
                  </a:lnTo>
                  <a:lnTo>
                    <a:pt x="31" y="235"/>
                  </a:lnTo>
                  <a:lnTo>
                    <a:pt x="31" y="235"/>
                  </a:lnTo>
                  <a:lnTo>
                    <a:pt x="29" y="237"/>
                  </a:lnTo>
                  <a:lnTo>
                    <a:pt x="29" y="237"/>
                  </a:lnTo>
                  <a:lnTo>
                    <a:pt x="27" y="237"/>
                  </a:lnTo>
                  <a:lnTo>
                    <a:pt x="27" y="237"/>
                  </a:lnTo>
                  <a:lnTo>
                    <a:pt x="25" y="239"/>
                  </a:lnTo>
                  <a:lnTo>
                    <a:pt x="25" y="239"/>
                  </a:lnTo>
                  <a:lnTo>
                    <a:pt x="23" y="241"/>
                  </a:lnTo>
                  <a:lnTo>
                    <a:pt x="23" y="243"/>
                  </a:lnTo>
                  <a:lnTo>
                    <a:pt x="12" y="258"/>
                  </a:lnTo>
                  <a:lnTo>
                    <a:pt x="10" y="262"/>
                  </a:lnTo>
                  <a:lnTo>
                    <a:pt x="10" y="262"/>
                  </a:lnTo>
                  <a:lnTo>
                    <a:pt x="12" y="264"/>
                  </a:lnTo>
                  <a:lnTo>
                    <a:pt x="12" y="264"/>
                  </a:lnTo>
                  <a:lnTo>
                    <a:pt x="12" y="264"/>
                  </a:lnTo>
                  <a:lnTo>
                    <a:pt x="14" y="266"/>
                  </a:lnTo>
                  <a:lnTo>
                    <a:pt x="16" y="266"/>
                  </a:lnTo>
                  <a:lnTo>
                    <a:pt x="16" y="266"/>
                  </a:lnTo>
                  <a:lnTo>
                    <a:pt x="16" y="268"/>
                  </a:lnTo>
                  <a:lnTo>
                    <a:pt x="17" y="272"/>
                  </a:lnTo>
                  <a:lnTo>
                    <a:pt x="17" y="272"/>
                  </a:lnTo>
                  <a:lnTo>
                    <a:pt x="19" y="275"/>
                  </a:lnTo>
                  <a:lnTo>
                    <a:pt x="19" y="277"/>
                  </a:lnTo>
                  <a:lnTo>
                    <a:pt x="19" y="279"/>
                  </a:lnTo>
                  <a:lnTo>
                    <a:pt x="19" y="281"/>
                  </a:lnTo>
                  <a:lnTo>
                    <a:pt x="17" y="283"/>
                  </a:lnTo>
                  <a:lnTo>
                    <a:pt x="17" y="285"/>
                  </a:lnTo>
                  <a:lnTo>
                    <a:pt x="17" y="287"/>
                  </a:lnTo>
                  <a:lnTo>
                    <a:pt x="17" y="298"/>
                  </a:lnTo>
                  <a:lnTo>
                    <a:pt x="17" y="300"/>
                  </a:lnTo>
                  <a:lnTo>
                    <a:pt x="16" y="300"/>
                  </a:lnTo>
                  <a:lnTo>
                    <a:pt x="16" y="300"/>
                  </a:lnTo>
                  <a:lnTo>
                    <a:pt x="16" y="302"/>
                  </a:lnTo>
                  <a:lnTo>
                    <a:pt x="16" y="306"/>
                  </a:lnTo>
                  <a:lnTo>
                    <a:pt x="16" y="306"/>
                  </a:lnTo>
                  <a:lnTo>
                    <a:pt x="16" y="308"/>
                  </a:lnTo>
                  <a:lnTo>
                    <a:pt x="16" y="308"/>
                  </a:lnTo>
                  <a:lnTo>
                    <a:pt x="17" y="308"/>
                  </a:lnTo>
                  <a:lnTo>
                    <a:pt x="17" y="310"/>
                  </a:lnTo>
                  <a:lnTo>
                    <a:pt x="17" y="310"/>
                  </a:lnTo>
                  <a:lnTo>
                    <a:pt x="17" y="310"/>
                  </a:lnTo>
                  <a:lnTo>
                    <a:pt x="16" y="312"/>
                  </a:lnTo>
                  <a:lnTo>
                    <a:pt x="16" y="312"/>
                  </a:lnTo>
                  <a:lnTo>
                    <a:pt x="16" y="313"/>
                  </a:lnTo>
                  <a:lnTo>
                    <a:pt x="16" y="313"/>
                  </a:lnTo>
                  <a:lnTo>
                    <a:pt x="16" y="313"/>
                  </a:lnTo>
                  <a:lnTo>
                    <a:pt x="16" y="313"/>
                  </a:lnTo>
                  <a:lnTo>
                    <a:pt x="17" y="313"/>
                  </a:lnTo>
                  <a:lnTo>
                    <a:pt x="17" y="313"/>
                  </a:lnTo>
                  <a:lnTo>
                    <a:pt x="17" y="313"/>
                  </a:lnTo>
                  <a:lnTo>
                    <a:pt x="17" y="315"/>
                  </a:lnTo>
                  <a:lnTo>
                    <a:pt x="17" y="315"/>
                  </a:lnTo>
                  <a:lnTo>
                    <a:pt x="17" y="317"/>
                  </a:lnTo>
                  <a:lnTo>
                    <a:pt x="17" y="317"/>
                  </a:lnTo>
                  <a:lnTo>
                    <a:pt x="17" y="319"/>
                  </a:lnTo>
                  <a:lnTo>
                    <a:pt x="16" y="319"/>
                  </a:lnTo>
                  <a:lnTo>
                    <a:pt x="16" y="321"/>
                  </a:lnTo>
                  <a:lnTo>
                    <a:pt x="14" y="321"/>
                  </a:lnTo>
                  <a:lnTo>
                    <a:pt x="14" y="321"/>
                  </a:lnTo>
                  <a:lnTo>
                    <a:pt x="12" y="323"/>
                  </a:lnTo>
                  <a:lnTo>
                    <a:pt x="12" y="325"/>
                  </a:lnTo>
                  <a:lnTo>
                    <a:pt x="12" y="325"/>
                  </a:lnTo>
                  <a:lnTo>
                    <a:pt x="12" y="327"/>
                  </a:lnTo>
                  <a:lnTo>
                    <a:pt x="8" y="327"/>
                  </a:lnTo>
                  <a:lnTo>
                    <a:pt x="6" y="329"/>
                  </a:lnTo>
                  <a:lnTo>
                    <a:pt x="2" y="332"/>
                  </a:lnTo>
                  <a:lnTo>
                    <a:pt x="0" y="332"/>
                  </a:lnTo>
                  <a:lnTo>
                    <a:pt x="0" y="332"/>
                  </a:lnTo>
                  <a:lnTo>
                    <a:pt x="4" y="336"/>
                  </a:lnTo>
                  <a:lnTo>
                    <a:pt x="4" y="336"/>
                  </a:lnTo>
                  <a:lnTo>
                    <a:pt x="14" y="340"/>
                  </a:lnTo>
                  <a:lnTo>
                    <a:pt x="16" y="340"/>
                  </a:lnTo>
                  <a:lnTo>
                    <a:pt x="21" y="340"/>
                  </a:lnTo>
                  <a:lnTo>
                    <a:pt x="23" y="340"/>
                  </a:lnTo>
                  <a:lnTo>
                    <a:pt x="27" y="342"/>
                  </a:lnTo>
                  <a:lnTo>
                    <a:pt x="27" y="342"/>
                  </a:lnTo>
                  <a:lnTo>
                    <a:pt x="27" y="344"/>
                  </a:lnTo>
                  <a:lnTo>
                    <a:pt x="29" y="344"/>
                  </a:lnTo>
                  <a:lnTo>
                    <a:pt x="27" y="346"/>
                  </a:lnTo>
                  <a:lnTo>
                    <a:pt x="27" y="346"/>
                  </a:lnTo>
                  <a:lnTo>
                    <a:pt x="27" y="348"/>
                  </a:lnTo>
                  <a:lnTo>
                    <a:pt x="25" y="348"/>
                  </a:lnTo>
                  <a:lnTo>
                    <a:pt x="23" y="350"/>
                  </a:lnTo>
                  <a:lnTo>
                    <a:pt x="23" y="350"/>
                  </a:lnTo>
                  <a:lnTo>
                    <a:pt x="23" y="351"/>
                  </a:lnTo>
                  <a:lnTo>
                    <a:pt x="21" y="351"/>
                  </a:lnTo>
                  <a:lnTo>
                    <a:pt x="21" y="355"/>
                  </a:lnTo>
                  <a:lnTo>
                    <a:pt x="21" y="355"/>
                  </a:lnTo>
                  <a:lnTo>
                    <a:pt x="21" y="357"/>
                  </a:lnTo>
                  <a:lnTo>
                    <a:pt x="21" y="359"/>
                  </a:lnTo>
                  <a:lnTo>
                    <a:pt x="21" y="361"/>
                  </a:lnTo>
                  <a:lnTo>
                    <a:pt x="21" y="365"/>
                  </a:lnTo>
                  <a:lnTo>
                    <a:pt x="21" y="367"/>
                  </a:lnTo>
                  <a:lnTo>
                    <a:pt x="21" y="370"/>
                  </a:lnTo>
                  <a:lnTo>
                    <a:pt x="21" y="372"/>
                  </a:lnTo>
                  <a:lnTo>
                    <a:pt x="21" y="376"/>
                  </a:lnTo>
                  <a:lnTo>
                    <a:pt x="21" y="376"/>
                  </a:lnTo>
                  <a:lnTo>
                    <a:pt x="21" y="378"/>
                  </a:lnTo>
                  <a:lnTo>
                    <a:pt x="19" y="380"/>
                  </a:lnTo>
                  <a:lnTo>
                    <a:pt x="17" y="380"/>
                  </a:lnTo>
                  <a:lnTo>
                    <a:pt x="17" y="380"/>
                  </a:lnTo>
                  <a:lnTo>
                    <a:pt x="21" y="384"/>
                  </a:lnTo>
                  <a:lnTo>
                    <a:pt x="27" y="384"/>
                  </a:lnTo>
                  <a:lnTo>
                    <a:pt x="29" y="386"/>
                  </a:lnTo>
                  <a:lnTo>
                    <a:pt x="31" y="386"/>
                  </a:lnTo>
                  <a:lnTo>
                    <a:pt x="31" y="386"/>
                  </a:lnTo>
                  <a:lnTo>
                    <a:pt x="33" y="386"/>
                  </a:lnTo>
                  <a:lnTo>
                    <a:pt x="33" y="384"/>
                  </a:lnTo>
                  <a:lnTo>
                    <a:pt x="33" y="386"/>
                  </a:lnTo>
                  <a:lnTo>
                    <a:pt x="35" y="386"/>
                  </a:lnTo>
                  <a:lnTo>
                    <a:pt x="35" y="386"/>
                  </a:lnTo>
                  <a:lnTo>
                    <a:pt x="35" y="386"/>
                  </a:lnTo>
                  <a:lnTo>
                    <a:pt x="36" y="388"/>
                  </a:lnTo>
                  <a:lnTo>
                    <a:pt x="36" y="388"/>
                  </a:lnTo>
                  <a:lnTo>
                    <a:pt x="38" y="388"/>
                  </a:lnTo>
                  <a:lnTo>
                    <a:pt x="40" y="388"/>
                  </a:lnTo>
                  <a:lnTo>
                    <a:pt x="40" y="388"/>
                  </a:lnTo>
                  <a:lnTo>
                    <a:pt x="42" y="388"/>
                  </a:lnTo>
                  <a:lnTo>
                    <a:pt x="42" y="388"/>
                  </a:lnTo>
                  <a:lnTo>
                    <a:pt x="42" y="388"/>
                  </a:lnTo>
                  <a:lnTo>
                    <a:pt x="44" y="388"/>
                  </a:lnTo>
                  <a:lnTo>
                    <a:pt x="44" y="388"/>
                  </a:lnTo>
                  <a:lnTo>
                    <a:pt x="46" y="388"/>
                  </a:lnTo>
                  <a:lnTo>
                    <a:pt x="46" y="388"/>
                  </a:lnTo>
                  <a:lnTo>
                    <a:pt x="48" y="388"/>
                  </a:lnTo>
                  <a:lnTo>
                    <a:pt x="48" y="388"/>
                  </a:lnTo>
                  <a:lnTo>
                    <a:pt x="48" y="389"/>
                  </a:lnTo>
                  <a:lnTo>
                    <a:pt x="50" y="389"/>
                  </a:lnTo>
                  <a:lnTo>
                    <a:pt x="50" y="389"/>
                  </a:lnTo>
                  <a:lnTo>
                    <a:pt x="52" y="389"/>
                  </a:lnTo>
                  <a:lnTo>
                    <a:pt x="52" y="389"/>
                  </a:lnTo>
                  <a:lnTo>
                    <a:pt x="54" y="388"/>
                  </a:lnTo>
                  <a:lnTo>
                    <a:pt x="54" y="388"/>
                  </a:lnTo>
                  <a:lnTo>
                    <a:pt x="54" y="388"/>
                  </a:lnTo>
                  <a:lnTo>
                    <a:pt x="56" y="388"/>
                  </a:lnTo>
                  <a:lnTo>
                    <a:pt x="56" y="388"/>
                  </a:lnTo>
                  <a:lnTo>
                    <a:pt x="57" y="386"/>
                  </a:lnTo>
                  <a:lnTo>
                    <a:pt x="57" y="386"/>
                  </a:lnTo>
                  <a:lnTo>
                    <a:pt x="59" y="386"/>
                  </a:lnTo>
                  <a:lnTo>
                    <a:pt x="61" y="388"/>
                  </a:lnTo>
                  <a:lnTo>
                    <a:pt x="63" y="388"/>
                  </a:lnTo>
                  <a:lnTo>
                    <a:pt x="63" y="388"/>
                  </a:lnTo>
                  <a:lnTo>
                    <a:pt x="65" y="388"/>
                  </a:lnTo>
                  <a:lnTo>
                    <a:pt x="67" y="388"/>
                  </a:lnTo>
                  <a:lnTo>
                    <a:pt x="69" y="389"/>
                  </a:lnTo>
                  <a:lnTo>
                    <a:pt x="69" y="389"/>
                  </a:lnTo>
                  <a:lnTo>
                    <a:pt x="71" y="388"/>
                  </a:lnTo>
                  <a:lnTo>
                    <a:pt x="71" y="388"/>
                  </a:lnTo>
                  <a:lnTo>
                    <a:pt x="71" y="386"/>
                  </a:lnTo>
                  <a:lnTo>
                    <a:pt x="71" y="386"/>
                  </a:lnTo>
                  <a:lnTo>
                    <a:pt x="73" y="386"/>
                  </a:lnTo>
                  <a:lnTo>
                    <a:pt x="73" y="386"/>
                  </a:lnTo>
                  <a:lnTo>
                    <a:pt x="73" y="386"/>
                  </a:lnTo>
                  <a:lnTo>
                    <a:pt x="73" y="388"/>
                  </a:lnTo>
                  <a:lnTo>
                    <a:pt x="75" y="389"/>
                  </a:lnTo>
                  <a:lnTo>
                    <a:pt x="75" y="391"/>
                  </a:lnTo>
                  <a:lnTo>
                    <a:pt x="75" y="391"/>
                  </a:lnTo>
                  <a:lnTo>
                    <a:pt x="78" y="393"/>
                  </a:lnTo>
                  <a:lnTo>
                    <a:pt x="78" y="393"/>
                  </a:lnTo>
                  <a:lnTo>
                    <a:pt x="80" y="393"/>
                  </a:lnTo>
                  <a:lnTo>
                    <a:pt x="80" y="391"/>
                  </a:lnTo>
                  <a:lnTo>
                    <a:pt x="80" y="391"/>
                  </a:lnTo>
                  <a:lnTo>
                    <a:pt x="82" y="391"/>
                  </a:lnTo>
                  <a:lnTo>
                    <a:pt x="82" y="391"/>
                  </a:lnTo>
                  <a:lnTo>
                    <a:pt x="82" y="391"/>
                  </a:lnTo>
                  <a:lnTo>
                    <a:pt x="84" y="391"/>
                  </a:lnTo>
                  <a:lnTo>
                    <a:pt x="84" y="389"/>
                  </a:lnTo>
                  <a:lnTo>
                    <a:pt x="84" y="389"/>
                  </a:lnTo>
                  <a:lnTo>
                    <a:pt x="86" y="388"/>
                  </a:lnTo>
                  <a:lnTo>
                    <a:pt x="86" y="388"/>
                  </a:lnTo>
                  <a:lnTo>
                    <a:pt x="86" y="388"/>
                  </a:lnTo>
                  <a:lnTo>
                    <a:pt x="86" y="386"/>
                  </a:lnTo>
                  <a:lnTo>
                    <a:pt x="86" y="386"/>
                  </a:lnTo>
                  <a:lnTo>
                    <a:pt x="88" y="384"/>
                  </a:lnTo>
                  <a:lnTo>
                    <a:pt x="88" y="384"/>
                  </a:lnTo>
                  <a:lnTo>
                    <a:pt x="90" y="384"/>
                  </a:lnTo>
                  <a:lnTo>
                    <a:pt x="92" y="384"/>
                  </a:lnTo>
                  <a:lnTo>
                    <a:pt x="92" y="382"/>
                  </a:lnTo>
                  <a:lnTo>
                    <a:pt x="92" y="382"/>
                  </a:lnTo>
                  <a:lnTo>
                    <a:pt x="92" y="380"/>
                  </a:lnTo>
                  <a:lnTo>
                    <a:pt x="92" y="380"/>
                  </a:lnTo>
                  <a:lnTo>
                    <a:pt x="92" y="378"/>
                  </a:lnTo>
                  <a:lnTo>
                    <a:pt x="92" y="378"/>
                  </a:lnTo>
                  <a:lnTo>
                    <a:pt x="94" y="376"/>
                  </a:lnTo>
                  <a:lnTo>
                    <a:pt x="94" y="376"/>
                  </a:lnTo>
                  <a:lnTo>
                    <a:pt x="92" y="374"/>
                  </a:lnTo>
                  <a:lnTo>
                    <a:pt x="94" y="372"/>
                  </a:lnTo>
                  <a:lnTo>
                    <a:pt x="94" y="372"/>
                  </a:lnTo>
                  <a:lnTo>
                    <a:pt x="96" y="372"/>
                  </a:lnTo>
                  <a:lnTo>
                    <a:pt x="96" y="374"/>
                  </a:lnTo>
                  <a:lnTo>
                    <a:pt x="97" y="374"/>
                  </a:lnTo>
                  <a:lnTo>
                    <a:pt x="99" y="372"/>
                  </a:lnTo>
                  <a:lnTo>
                    <a:pt x="99" y="372"/>
                  </a:lnTo>
                  <a:lnTo>
                    <a:pt x="101" y="370"/>
                  </a:lnTo>
                  <a:lnTo>
                    <a:pt x="101" y="370"/>
                  </a:lnTo>
                  <a:lnTo>
                    <a:pt x="103" y="370"/>
                  </a:lnTo>
                  <a:lnTo>
                    <a:pt x="105" y="369"/>
                  </a:lnTo>
                  <a:lnTo>
                    <a:pt x="107" y="369"/>
                  </a:lnTo>
                  <a:lnTo>
                    <a:pt x="109" y="369"/>
                  </a:lnTo>
                  <a:lnTo>
                    <a:pt x="111" y="369"/>
                  </a:lnTo>
                  <a:lnTo>
                    <a:pt x="115" y="369"/>
                  </a:lnTo>
                  <a:lnTo>
                    <a:pt x="116" y="370"/>
                  </a:lnTo>
                  <a:lnTo>
                    <a:pt x="118" y="370"/>
                  </a:lnTo>
                  <a:lnTo>
                    <a:pt x="120" y="370"/>
                  </a:lnTo>
                  <a:lnTo>
                    <a:pt x="120" y="370"/>
                  </a:lnTo>
                  <a:lnTo>
                    <a:pt x="122" y="370"/>
                  </a:lnTo>
                  <a:lnTo>
                    <a:pt x="122" y="369"/>
                  </a:lnTo>
                  <a:lnTo>
                    <a:pt x="124" y="369"/>
                  </a:lnTo>
                  <a:lnTo>
                    <a:pt x="124" y="367"/>
                  </a:lnTo>
                  <a:lnTo>
                    <a:pt x="126" y="367"/>
                  </a:lnTo>
                  <a:lnTo>
                    <a:pt x="128" y="367"/>
                  </a:lnTo>
                  <a:lnTo>
                    <a:pt x="130" y="369"/>
                  </a:lnTo>
                  <a:lnTo>
                    <a:pt x="130" y="369"/>
                  </a:lnTo>
                  <a:lnTo>
                    <a:pt x="132" y="370"/>
                  </a:lnTo>
                  <a:lnTo>
                    <a:pt x="132" y="372"/>
                  </a:lnTo>
                  <a:lnTo>
                    <a:pt x="132" y="372"/>
                  </a:lnTo>
                  <a:lnTo>
                    <a:pt x="136" y="374"/>
                  </a:lnTo>
                  <a:lnTo>
                    <a:pt x="136" y="374"/>
                  </a:lnTo>
                  <a:lnTo>
                    <a:pt x="137" y="374"/>
                  </a:lnTo>
                  <a:lnTo>
                    <a:pt x="139" y="374"/>
                  </a:lnTo>
                  <a:lnTo>
                    <a:pt x="141" y="374"/>
                  </a:lnTo>
                  <a:lnTo>
                    <a:pt x="141" y="372"/>
                  </a:lnTo>
                  <a:lnTo>
                    <a:pt x="143" y="372"/>
                  </a:lnTo>
                  <a:lnTo>
                    <a:pt x="145" y="370"/>
                  </a:lnTo>
                  <a:lnTo>
                    <a:pt x="145" y="370"/>
                  </a:lnTo>
                  <a:lnTo>
                    <a:pt x="147" y="369"/>
                  </a:lnTo>
                  <a:lnTo>
                    <a:pt x="147" y="367"/>
                  </a:lnTo>
                  <a:lnTo>
                    <a:pt x="147" y="367"/>
                  </a:lnTo>
                  <a:lnTo>
                    <a:pt x="147" y="365"/>
                  </a:lnTo>
                  <a:lnTo>
                    <a:pt x="147" y="365"/>
                  </a:lnTo>
                  <a:lnTo>
                    <a:pt x="145" y="363"/>
                  </a:lnTo>
                  <a:lnTo>
                    <a:pt x="145" y="363"/>
                  </a:lnTo>
                  <a:lnTo>
                    <a:pt x="145" y="361"/>
                  </a:lnTo>
                  <a:lnTo>
                    <a:pt x="147" y="361"/>
                  </a:lnTo>
                  <a:lnTo>
                    <a:pt x="147" y="361"/>
                  </a:lnTo>
                  <a:lnTo>
                    <a:pt x="149" y="361"/>
                  </a:lnTo>
                  <a:lnTo>
                    <a:pt x="149" y="361"/>
                  </a:lnTo>
                  <a:lnTo>
                    <a:pt x="149" y="363"/>
                  </a:lnTo>
                  <a:lnTo>
                    <a:pt x="149" y="363"/>
                  </a:lnTo>
                  <a:lnTo>
                    <a:pt x="149" y="365"/>
                  </a:lnTo>
                  <a:lnTo>
                    <a:pt x="149" y="365"/>
                  </a:lnTo>
                  <a:lnTo>
                    <a:pt x="151" y="367"/>
                  </a:lnTo>
                  <a:lnTo>
                    <a:pt x="153" y="367"/>
                  </a:lnTo>
                  <a:lnTo>
                    <a:pt x="153" y="367"/>
                  </a:lnTo>
                  <a:lnTo>
                    <a:pt x="153" y="367"/>
                  </a:lnTo>
                  <a:lnTo>
                    <a:pt x="155" y="365"/>
                  </a:lnTo>
                  <a:lnTo>
                    <a:pt x="155" y="365"/>
                  </a:lnTo>
                  <a:lnTo>
                    <a:pt x="155" y="363"/>
                  </a:lnTo>
                  <a:lnTo>
                    <a:pt x="153" y="361"/>
                  </a:lnTo>
                  <a:lnTo>
                    <a:pt x="153" y="359"/>
                  </a:lnTo>
                  <a:lnTo>
                    <a:pt x="153" y="357"/>
                  </a:lnTo>
                  <a:lnTo>
                    <a:pt x="155" y="357"/>
                  </a:lnTo>
                  <a:lnTo>
                    <a:pt x="157" y="355"/>
                  </a:lnTo>
                  <a:lnTo>
                    <a:pt x="158" y="355"/>
                  </a:lnTo>
                  <a:lnTo>
                    <a:pt x="160" y="355"/>
                  </a:lnTo>
                  <a:lnTo>
                    <a:pt x="160" y="353"/>
                  </a:lnTo>
                  <a:lnTo>
                    <a:pt x="162" y="353"/>
                  </a:lnTo>
                  <a:lnTo>
                    <a:pt x="164" y="353"/>
                  </a:lnTo>
                  <a:lnTo>
                    <a:pt x="164" y="353"/>
                  </a:lnTo>
                  <a:lnTo>
                    <a:pt x="166" y="353"/>
                  </a:lnTo>
                  <a:lnTo>
                    <a:pt x="166" y="353"/>
                  </a:lnTo>
                  <a:lnTo>
                    <a:pt x="168" y="353"/>
                  </a:lnTo>
                  <a:lnTo>
                    <a:pt x="174" y="353"/>
                  </a:lnTo>
                  <a:lnTo>
                    <a:pt x="174" y="353"/>
                  </a:lnTo>
                  <a:lnTo>
                    <a:pt x="176" y="353"/>
                  </a:lnTo>
                  <a:lnTo>
                    <a:pt x="176" y="355"/>
                  </a:lnTo>
                  <a:lnTo>
                    <a:pt x="177" y="355"/>
                  </a:lnTo>
                  <a:lnTo>
                    <a:pt x="177" y="355"/>
                  </a:lnTo>
                  <a:lnTo>
                    <a:pt x="179" y="355"/>
                  </a:lnTo>
                  <a:lnTo>
                    <a:pt x="181" y="353"/>
                  </a:lnTo>
                  <a:lnTo>
                    <a:pt x="181" y="353"/>
                  </a:lnTo>
                  <a:lnTo>
                    <a:pt x="183" y="351"/>
                  </a:lnTo>
                  <a:lnTo>
                    <a:pt x="183" y="348"/>
                  </a:lnTo>
                  <a:lnTo>
                    <a:pt x="183" y="344"/>
                  </a:lnTo>
                  <a:lnTo>
                    <a:pt x="181" y="342"/>
                  </a:lnTo>
                  <a:lnTo>
                    <a:pt x="181" y="342"/>
                  </a:lnTo>
                  <a:lnTo>
                    <a:pt x="181" y="340"/>
                  </a:lnTo>
                  <a:lnTo>
                    <a:pt x="181" y="338"/>
                  </a:lnTo>
                  <a:lnTo>
                    <a:pt x="181" y="336"/>
                  </a:lnTo>
                  <a:lnTo>
                    <a:pt x="181" y="334"/>
                  </a:lnTo>
                  <a:lnTo>
                    <a:pt x="183" y="332"/>
                  </a:lnTo>
                  <a:lnTo>
                    <a:pt x="183" y="332"/>
                  </a:lnTo>
                  <a:lnTo>
                    <a:pt x="183" y="331"/>
                  </a:lnTo>
                  <a:lnTo>
                    <a:pt x="183" y="331"/>
                  </a:lnTo>
                  <a:lnTo>
                    <a:pt x="181" y="329"/>
                  </a:lnTo>
                  <a:lnTo>
                    <a:pt x="183" y="327"/>
                  </a:lnTo>
                  <a:lnTo>
                    <a:pt x="183" y="327"/>
                  </a:lnTo>
                  <a:lnTo>
                    <a:pt x="185" y="323"/>
                  </a:lnTo>
                  <a:lnTo>
                    <a:pt x="187" y="323"/>
                  </a:lnTo>
                  <a:lnTo>
                    <a:pt x="187" y="321"/>
                  </a:lnTo>
                  <a:lnTo>
                    <a:pt x="189" y="321"/>
                  </a:lnTo>
                  <a:lnTo>
                    <a:pt x="191" y="321"/>
                  </a:lnTo>
                  <a:lnTo>
                    <a:pt x="193" y="321"/>
                  </a:lnTo>
                  <a:lnTo>
                    <a:pt x="193" y="321"/>
                  </a:lnTo>
                  <a:lnTo>
                    <a:pt x="198" y="321"/>
                  </a:lnTo>
                  <a:lnTo>
                    <a:pt x="200" y="321"/>
                  </a:lnTo>
                  <a:lnTo>
                    <a:pt x="202" y="319"/>
                  </a:lnTo>
                  <a:lnTo>
                    <a:pt x="202" y="319"/>
                  </a:lnTo>
                  <a:lnTo>
                    <a:pt x="202" y="317"/>
                  </a:lnTo>
                  <a:lnTo>
                    <a:pt x="204" y="317"/>
                  </a:lnTo>
                  <a:lnTo>
                    <a:pt x="208" y="315"/>
                  </a:lnTo>
                  <a:lnTo>
                    <a:pt x="208" y="315"/>
                  </a:lnTo>
                  <a:lnTo>
                    <a:pt x="212" y="315"/>
                  </a:lnTo>
                  <a:lnTo>
                    <a:pt x="212" y="315"/>
                  </a:lnTo>
                  <a:lnTo>
                    <a:pt x="214" y="315"/>
                  </a:lnTo>
                  <a:lnTo>
                    <a:pt x="214" y="315"/>
                  </a:lnTo>
                  <a:lnTo>
                    <a:pt x="216" y="313"/>
                  </a:lnTo>
                  <a:lnTo>
                    <a:pt x="217" y="313"/>
                  </a:lnTo>
                  <a:lnTo>
                    <a:pt x="219" y="312"/>
                  </a:lnTo>
                  <a:lnTo>
                    <a:pt x="219" y="313"/>
                  </a:lnTo>
                  <a:lnTo>
                    <a:pt x="221" y="313"/>
                  </a:lnTo>
                  <a:lnTo>
                    <a:pt x="221" y="312"/>
                  </a:lnTo>
                  <a:lnTo>
                    <a:pt x="223" y="310"/>
                  </a:lnTo>
                  <a:lnTo>
                    <a:pt x="225" y="310"/>
                  </a:lnTo>
                  <a:lnTo>
                    <a:pt x="229" y="310"/>
                  </a:lnTo>
                  <a:lnTo>
                    <a:pt x="229" y="310"/>
                  </a:lnTo>
                  <a:lnTo>
                    <a:pt x="231" y="308"/>
                  </a:lnTo>
                  <a:lnTo>
                    <a:pt x="233" y="306"/>
                  </a:lnTo>
                  <a:lnTo>
                    <a:pt x="233" y="306"/>
                  </a:lnTo>
                  <a:lnTo>
                    <a:pt x="235" y="306"/>
                  </a:lnTo>
                  <a:lnTo>
                    <a:pt x="237" y="310"/>
                  </a:lnTo>
                  <a:lnTo>
                    <a:pt x="238" y="310"/>
                  </a:lnTo>
                  <a:lnTo>
                    <a:pt x="240" y="310"/>
                  </a:lnTo>
                  <a:lnTo>
                    <a:pt x="240" y="310"/>
                  </a:lnTo>
                  <a:lnTo>
                    <a:pt x="242" y="310"/>
                  </a:lnTo>
                  <a:lnTo>
                    <a:pt x="242" y="312"/>
                  </a:lnTo>
                  <a:lnTo>
                    <a:pt x="244" y="313"/>
                  </a:lnTo>
                  <a:lnTo>
                    <a:pt x="244" y="315"/>
                  </a:lnTo>
                  <a:lnTo>
                    <a:pt x="246" y="315"/>
                  </a:lnTo>
                  <a:lnTo>
                    <a:pt x="246" y="315"/>
                  </a:lnTo>
                  <a:lnTo>
                    <a:pt x="248" y="315"/>
                  </a:lnTo>
                  <a:lnTo>
                    <a:pt x="250" y="315"/>
                  </a:lnTo>
                  <a:lnTo>
                    <a:pt x="252" y="313"/>
                  </a:lnTo>
                  <a:lnTo>
                    <a:pt x="254" y="310"/>
                  </a:lnTo>
                  <a:lnTo>
                    <a:pt x="254" y="310"/>
                  </a:lnTo>
                  <a:lnTo>
                    <a:pt x="254" y="308"/>
                  </a:lnTo>
                  <a:lnTo>
                    <a:pt x="256" y="308"/>
                  </a:lnTo>
                  <a:lnTo>
                    <a:pt x="256" y="308"/>
                  </a:lnTo>
                  <a:lnTo>
                    <a:pt x="258" y="306"/>
                  </a:lnTo>
                  <a:lnTo>
                    <a:pt x="258" y="306"/>
                  </a:lnTo>
                  <a:lnTo>
                    <a:pt x="258" y="304"/>
                  </a:lnTo>
                  <a:lnTo>
                    <a:pt x="259" y="302"/>
                  </a:lnTo>
                  <a:lnTo>
                    <a:pt x="259" y="302"/>
                  </a:lnTo>
                  <a:lnTo>
                    <a:pt x="259" y="298"/>
                  </a:lnTo>
                  <a:lnTo>
                    <a:pt x="259" y="298"/>
                  </a:lnTo>
                  <a:lnTo>
                    <a:pt x="258" y="296"/>
                  </a:lnTo>
                  <a:lnTo>
                    <a:pt x="258" y="296"/>
                  </a:lnTo>
                  <a:lnTo>
                    <a:pt x="258" y="296"/>
                  </a:lnTo>
                  <a:lnTo>
                    <a:pt x="258" y="294"/>
                  </a:lnTo>
                  <a:lnTo>
                    <a:pt x="258" y="294"/>
                  </a:lnTo>
                  <a:lnTo>
                    <a:pt x="256" y="294"/>
                  </a:lnTo>
                  <a:lnTo>
                    <a:pt x="254" y="292"/>
                  </a:lnTo>
                  <a:lnTo>
                    <a:pt x="254" y="292"/>
                  </a:lnTo>
                  <a:lnTo>
                    <a:pt x="254" y="292"/>
                  </a:lnTo>
                  <a:lnTo>
                    <a:pt x="254" y="291"/>
                  </a:lnTo>
                  <a:lnTo>
                    <a:pt x="256" y="289"/>
                  </a:lnTo>
                  <a:lnTo>
                    <a:pt x="256" y="289"/>
                  </a:lnTo>
                  <a:lnTo>
                    <a:pt x="256" y="287"/>
                  </a:lnTo>
                  <a:lnTo>
                    <a:pt x="258" y="287"/>
                  </a:lnTo>
                  <a:lnTo>
                    <a:pt x="258" y="283"/>
                  </a:lnTo>
                  <a:lnTo>
                    <a:pt x="261" y="283"/>
                  </a:lnTo>
                  <a:lnTo>
                    <a:pt x="261" y="283"/>
                  </a:lnTo>
                  <a:lnTo>
                    <a:pt x="261" y="281"/>
                  </a:lnTo>
                  <a:lnTo>
                    <a:pt x="263" y="281"/>
                  </a:lnTo>
                  <a:lnTo>
                    <a:pt x="263" y="281"/>
                  </a:lnTo>
                  <a:lnTo>
                    <a:pt x="265" y="281"/>
                  </a:lnTo>
                  <a:lnTo>
                    <a:pt x="265" y="281"/>
                  </a:lnTo>
                  <a:lnTo>
                    <a:pt x="265" y="281"/>
                  </a:lnTo>
                  <a:lnTo>
                    <a:pt x="265" y="281"/>
                  </a:lnTo>
                  <a:lnTo>
                    <a:pt x="267" y="281"/>
                  </a:lnTo>
                  <a:lnTo>
                    <a:pt x="267" y="281"/>
                  </a:lnTo>
                  <a:lnTo>
                    <a:pt x="267" y="279"/>
                  </a:lnTo>
                  <a:lnTo>
                    <a:pt x="267" y="279"/>
                  </a:lnTo>
                  <a:lnTo>
                    <a:pt x="269" y="277"/>
                  </a:lnTo>
                  <a:lnTo>
                    <a:pt x="269" y="277"/>
                  </a:lnTo>
                  <a:lnTo>
                    <a:pt x="271" y="275"/>
                  </a:lnTo>
                  <a:lnTo>
                    <a:pt x="271" y="275"/>
                  </a:lnTo>
                  <a:lnTo>
                    <a:pt x="273" y="277"/>
                  </a:lnTo>
                  <a:lnTo>
                    <a:pt x="273" y="279"/>
                  </a:lnTo>
                  <a:lnTo>
                    <a:pt x="273" y="279"/>
                  </a:lnTo>
                  <a:lnTo>
                    <a:pt x="273" y="277"/>
                  </a:lnTo>
                  <a:lnTo>
                    <a:pt x="275" y="277"/>
                  </a:lnTo>
                  <a:lnTo>
                    <a:pt x="275" y="279"/>
                  </a:lnTo>
                  <a:lnTo>
                    <a:pt x="275" y="279"/>
                  </a:lnTo>
                  <a:lnTo>
                    <a:pt x="277" y="279"/>
                  </a:lnTo>
                  <a:lnTo>
                    <a:pt x="277" y="279"/>
                  </a:lnTo>
                  <a:lnTo>
                    <a:pt x="278" y="279"/>
                  </a:lnTo>
                  <a:lnTo>
                    <a:pt x="278" y="281"/>
                  </a:lnTo>
                  <a:lnTo>
                    <a:pt x="280" y="283"/>
                  </a:lnTo>
                  <a:lnTo>
                    <a:pt x="282" y="285"/>
                  </a:lnTo>
                  <a:lnTo>
                    <a:pt x="282" y="287"/>
                  </a:lnTo>
                  <a:lnTo>
                    <a:pt x="282" y="287"/>
                  </a:lnTo>
                  <a:lnTo>
                    <a:pt x="282" y="289"/>
                  </a:lnTo>
                  <a:lnTo>
                    <a:pt x="282" y="289"/>
                  </a:lnTo>
                  <a:lnTo>
                    <a:pt x="282" y="291"/>
                  </a:lnTo>
                  <a:lnTo>
                    <a:pt x="282" y="291"/>
                  </a:lnTo>
                  <a:lnTo>
                    <a:pt x="284" y="292"/>
                  </a:lnTo>
                  <a:lnTo>
                    <a:pt x="284" y="292"/>
                  </a:lnTo>
                  <a:lnTo>
                    <a:pt x="284" y="292"/>
                  </a:lnTo>
                  <a:lnTo>
                    <a:pt x="284" y="292"/>
                  </a:lnTo>
                  <a:lnTo>
                    <a:pt x="284" y="294"/>
                  </a:lnTo>
                  <a:lnTo>
                    <a:pt x="286" y="294"/>
                  </a:lnTo>
                  <a:lnTo>
                    <a:pt x="286" y="294"/>
                  </a:lnTo>
                  <a:lnTo>
                    <a:pt x="288" y="294"/>
                  </a:lnTo>
                  <a:lnTo>
                    <a:pt x="288" y="296"/>
                  </a:lnTo>
                  <a:lnTo>
                    <a:pt x="288" y="296"/>
                  </a:lnTo>
                  <a:lnTo>
                    <a:pt x="288" y="298"/>
                  </a:lnTo>
                  <a:lnTo>
                    <a:pt x="288" y="298"/>
                  </a:lnTo>
                  <a:lnTo>
                    <a:pt x="288" y="298"/>
                  </a:lnTo>
                  <a:lnTo>
                    <a:pt x="288" y="298"/>
                  </a:lnTo>
                  <a:lnTo>
                    <a:pt x="290" y="296"/>
                  </a:lnTo>
                  <a:lnTo>
                    <a:pt x="290" y="296"/>
                  </a:lnTo>
                  <a:lnTo>
                    <a:pt x="290" y="296"/>
                  </a:lnTo>
                  <a:lnTo>
                    <a:pt x="290" y="294"/>
                  </a:lnTo>
                  <a:lnTo>
                    <a:pt x="292" y="294"/>
                  </a:lnTo>
                  <a:lnTo>
                    <a:pt x="292" y="296"/>
                  </a:lnTo>
                  <a:lnTo>
                    <a:pt x="294" y="296"/>
                  </a:lnTo>
                  <a:lnTo>
                    <a:pt x="294" y="296"/>
                  </a:lnTo>
                  <a:lnTo>
                    <a:pt x="294" y="296"/>
                  </a:lnTo>
                  <a:lnTo>
                    <a:pt x="296" y="298"/>
                  </a:lnTo>
                  <a:lnTo>
                    <a:pt x="296" y="298"/>
                  </a:lnTo>
                  <a:lnTo>
                    <a:pt x="296" y="298"/>
                  </a:lnTo>
                  <a:lnTo>
                    <a:pt x="296" y="300"/>
                  </a:lnTo>
                  <a:lnTo>
                    <a:pt x="298" y="300"/>
                  </a:lnTo>
                  <a:lnTo>
                    <a:pt x="298" y="300"/>
                  </a:lnTo>
                  <a:lnTo>
                    <a:pt x="299" y="302"/>
                  </a:lnTo>
                  <a:lnTo>
                    <a:pt x="299" y="302"/>
                  </a:lnTo>
                  <a:lnTo>
                    <a:pt x="301" y="302"/>
                  </a:lnTo>
                  <a:lnTo>
                    <a:pt x="301" y="302"/>
                  </a:lnTo>
                  <a:lnTo>
                    <a:pt x="303" y="302"/>
                  </a:lnTo>
                  <a:lnTo>
                    <a:pt x="305" y="302"/>
                  </a:lnTo>
                  <a:lnTo>
                    <a:pt x="305" y="302"/>
                  </a:lnTo>
                  <a:lnTo>
                    <a:pt x="307" y="302"/>
                  </a:lnTo>
                  <a:lnTo>
                    <a:pt x="309" y="300"/>
                  </a:lnTo>
                  <a:lnTo>
                    <a:pt x="309" y="300"/>
                  </a:lnTo>
                  <a:lnTo>
                    <a:pt x="309" y="300"/>
                  </a:lnTo>
                  <a:lnTo>
                    <a:pt x="309" y="300"/>
                  </a:lnTo>
                  <a:lnTo>
                    <a:pt x="307" y="298"/>
                  </a:lnTo>
                  <a:lnTo>
                    <a:pt x="307" y="298"/>
                  </a:lnTo>
                  <a:lnTo>
                    <a:pt x="307" y="298"/>
                  </a:lnTo>
                  <a:lnTo>
                    <a:pt x="305" y="298"/>
                  </a:lnTo>
                  <a:lnTo>
                    <a:pt x="305" y="298"/>
                  </a:lnTo>
                  <a:lnTo>
                    <a:pt x="305" y="296"/>
                  </a:lnTo>
                  <a:lnTo>
                    <a:pt x="305" y="296"/>
                  </a:lnTo>
                  <a:lnTo>
                    <a:pt x="305" y="294"/>
                  </a:lnTo>
                  <a:lnTo>
                    <a:pt x="305" y="294"/>
                  </a:lnTo>
                  <a:lnTo>
                    <a:pt x="305" y="292"/>
                  </a:lnTo>
                  <a:lnTo>
                    <a:pt x="307" y="292"/>
                  </a:lnTo>
                  <a:lnTo>
                    <a:pt x="309" y="292"/>
                  </a:lnTo>
                  <a:lnTo>
                    <a:pt x="307" y="291"/>
                  </a:lnTo>
                  <a:lnTo>
                    <a:pt x="307" y="291"/>
                  </a:lnTo>
                  <a:lnTo>
                    <a:pt x="307" y="291"/>
                  </a:lnTo>
                  <a:lnTo>
                    <a:pt x="307" y="289"/>
                  </a:lnTo>
                  <a:lnTo>
                    <a:pt x="307" y="289"/>
                  </a:lnTo>
                  <a:lnTo>
                    <a:pt x="309" y="289"/>
                  </a:lnTo>
                  <a:lnTo>
                    <a:pt x="309" y="289"/>
                  </a:lnTo>
                  <a:lnTo>
                    <a:pt x="309" y="289"/>
                  </a:lnTo>
                  <a:lnTo>
                    <a:pt x="307" y="287"/>
                  </a:lnTo>
                  <a:lnTo>
                    <a:pt x="307" y="287"/>
                  </a:lnTo>
                  <a:lnTo>
                    <a:pt x="303" y="285"/>
                  </a:lnTo>
                  <a:lnTo>
                    <a:pt x="301" y="287"/>
                  </a:lnTo>
                  <a:lnTo>
                    <a:pt x="301" y="285"/>
                  </a:lnTo>
                  <a:lnTo>
                    <a:pt x="299" y="285"/>
                  </a:lnTo>
                  <a:lnTo>
                    <a:pt x="299" y="287"/>
                  </a:lnTo>
                  <a:lnTo>
                    <a:pt x="299" y="287"/>
                  </a:lnTo>
                  <a:lnTo>
                    <a:pt x="299" y="289"/>
                  </a:lnTo>
                  <a:lnTo>
                    <a:pt x="298" y="287"/>
                  </a:lnTo>
                  <a:lnTo>
                    <a:pt x="298" y="287"/>
                  </a:lnTo>
                  <a:lnTo>
                    <a:pt x="298" y="287"/>
                  </a:lnTo>
                  <a:lnTo>
                    <a:pt x="296" y="287"/>
                  </a:lnTo>
                  <a:lnTo>
                    <a:pt x="296" y="285"/>
                  </a:lnTo>
                  <a:lnTo>
                    <a:pt x="292" y="285"/>
                  </a:lnTo>
                  <a:lnTo>
                    <a:pt x="290" y="285"/>
                  </a:lnTo>
                  <a:lnTo>
                    <a:pt x="290" y="283"/>
                  </a:lnTo>
                  <a:lnTo>
                    <a:pt x="288" y="283"/>
                  </a:lnTo>
                  <a:lnTo>
                    <a:pt x="286" y="283"/>
                  </a:lnTo>
                  <a:lnTo>
                    <a:pt x="288" y="283"/>
                  </a:lnTo>
                  <a:lnTo>
                    <a:pt x="288" y="281"/>
                  </a:lnTo>
                  <a:lnTo>
                    <a:pt x="288" y="281"/>
                  </a:lnTo>
                  <a:lnTo>
                    <a:pt x="288" y="281"/>
                  </a:lnTo>
                  <a:lnTo>
                    <a:pt x="288" y="281"/>
                  </a:lnTo>
                  <a:lnTo>
                    <a:pt x="290" y="279"/>
                  </a:lnTo>
                  <a:lnTo>
                    <a:pt x="290" y="279"/>
                  </a:lnTo>
                  <a:lnTo>
                    <a:pt x="290" y="279"/>
                  </a:lnTo>
                  <a:lnTo>
                    <a:pt x="290" y="279"/>
                  </a:lnTo>
                  <a:lnTo>
                    <a:pt x="290" y="277"/>
                  </a:lnTo>
                  <a:lnTo>
                    <a:pt x="288" y="277"/>
                  </a:lnTo>
                  <a:lnTo>
                    <a:pt x="288" y="277"/>
                  </a:lnTo>
                  <a:lnTo>
                    <a:pt x="288" y="277"/>
                  </a:lnTo>
                  <a:lnTo>
                    <a:pt x="288" y="275"/>
                  </a:lnTo>
                  <a:lnTo>
                    <a:pt x="288" y="275"/>
                  </a:lnTo>
                  <a:lnTo>
                    <a:pt x="288" y="275"/>
                  </a:lnTo>
                  <a:lnTo>
                    <a:pt x="288" y="273"/>
                  </a:lnTo>
                  <a:lnTo>
                    <a:pt x="288" y="273"/>
                  </a:lnTo>
                  <a:lnTo>
                    <a:pt x="290" y="273"/>
                  </a:lnTo>
                  <a:lnTo>
                    <a:pt x="290" y="273"/>
                  </a:lnTo>
                  <a:lnTo>
                    <a:pt x="290" y="273"/>
                  </a:lnTo>
                  <a:lnTo>
                    <a:pt x="290" y="273"/>
                  </a:lnTo>
                  <a:lnTo>
                    <a:pt x="290" y="273"/>
                  </a:lnTo>
                  <a:lnTo>
                    <a:pt x="290" y="273"/>
                  </a:lnTo>
                  <a:lnTo>
                    <a:pt x="290" y="275"/>
                  </a:lnTo>
                  <a:lnTo>
                    <a:pt x="292" y="275"/>
                  </a:lnTo>
                  <a:lnTo>
                    <a:pt x="292" y="277"/>
                  </a:lnTo>
                  <a:lnTo>
                    <a:pt x="292" y="277"/>
                  </a:lnTo>
                  <a:lnTo>
                    <a:pt x="294" y="277"/>
                  </a:lnTo>
                  <a:lnTo>
                    <a:pt x="296" y="279"/>
                  </a:lnTo>
                  <a:lnTo>
                    <a:pt x="296" y="277"/>
                  </a:lnTo>
                  <a:lnTo>
                    <a:pt x="298" y="277"/>
                  </a:lnTo>
                  <a:lnTo>
                    <a:pt x="298" y="277"/>
                  </a:lnTo>
                  <a:lnTo>
                    <a:pt x="298" y="275"/>
                  </a:lnTo>
                  <a:lnTo>
                    <a:pt x="298" y="275"/>
                  </a:lnTo>
                  <a:lnTo>
                    <a:pt x="299" y="275"/>
                  </a:lnTo>
                  <a:lnTo>
                    <a:pt x="299" y="273"/>
                  </a:lnTo>
                  <a:lnTo>
                    <a:pt x="299" y="272"/>
                  </a:lnTo>
                  <a:lnTo>
                    <a:pt x="299" y="272"/>
                  </a:lnTo>
                  <a:lnTo>
                    <a:pt x="299" y="272"/>
                  </a:lnTo>
                  <a:lnTo>
                    <a:pt x="299" y="270"/>
                  </a:lnTo>
                  <a:lnTo>
                    <a:pt x="299" y="270"/>
                  </a:lnTo>
                  <a:lnTo>
                    <a:pt x="301" y="270"/>
                  </a:lnTo>
                  <a:lnTo>
                    <a:pt x="301" y="270"/>
                  </a:lnTo>
                  <a:lnTo>
                    <a:pt x="303" y="270"/>
                  </a:lnTo>
                  <a:lnTo>
                    <a:pt x="303" y="268"/>
                  </a:lnTo>
                  <a:lnTo>
                    <a:pt x="303" y="268"/>
                  </a:lnTo>
                  <a:lnTo>
                    <a:pt x="305" y="268"/>
                  </a:lnTo>
                  <a:lnTo>
                    <a:pt x="305" y="266"/>
                  </a:lnTo>
                  <a:lnTo>
                    <a:pt x="307" y="268"/>
                  </a:lnTo>
                  <a:lnTo>
                    <a:pt x="307" y="268"/>
                  </a:lnTo>
                  <a:lnTo>
                    <a:pt x="309" y="268"/>
                  </a:lnTo>
                  <a:lnTo>
                    <a:pt x="309" y="270"/>
                  </a:lnTo>
                  <a:lnTo>
                    <a:pt x="311" y="270"/>
                  </a:lnTo>
                  <a:lnTo>
                    <a:pt x="311" y="270"/>
                  </a:lnTo>
                  <a:lnTo>
                    <a:pt x="311" y="270"/>
                  </a:lnTo>
                  <a:lnTo>
                    <a:pt x="313" y="270"/>
                  </a:lnTo>
                  <a:lnTo>
                    <a:pt x="311" y="270"/>
                  </a:lnTo>
                  <a:lnTo>
                    <a:pt x="313" y="272"/>
                  </a:lnTo>
                  <a:lnTo>
                    <a:pt x="313" y="272"/>
                  </a:lnTo>
                  <a:lnTo>
                    <a:pt x="315" y="272"/>
                  </a:lnTo>
                  <a:lnTo>
                    <a:pt x="315" y="272"/>
                  </a:lnTo>
                  <a:lnTo>
                    <a:pt x="313" y="273"/>
                  </a:lnTo>
                  <a:lnTo>
                    <a:pt x="313" y="273"/>
                  </a:lnTo>
                  <a:lnTo>
                    <a:pt x="313" y="273"/>
                  </a:lnTo>
                  <a:lnTo>
                    <a:pt x="313" y="273"/>
                  </a:lnTo>
                  <a:lnTo>
                    <a:pt x="313" y="275"/>
                  </a:lnTo>
                  <a:lnTo>
                    <a:pt x="315" y="275"/>
                  </a:lnTo>
                  <a:lnTo>
                    <a:pt x="315" y="275"/>
                  </a:lnTo>
                  <a:lnTo>
                    <a:pt x="315" y="273"/>
                  </a:lnTo>
                  <a:lnTo>
                    <a:pt x="317" y="273"/>
                  </a:lnTo>
                  <a:lnTo>
                    <a:pt x="317" y="273"/>
                  </a:lnTo>
                  <a:lnTo>
                    <a:pt x="317" y="273"/>
                  </a:lnTo>
                  <a:lnTo>
                    <a:pt x="318" y="273"/>
                  </a:lnTo>
                  <a:lnTo>
                    <a:pt x="320" y="273"/>
                  </a:lnTo>
                  <a:lnTo>
                    <a:pt x="320" y="273"/>
                  </a:lnTo>
                  <a:lnTo>
                    <a:pt x="322" y="275"/>
                  </a:lnTo>
                  <a:lnTo>
                    <a:pt x="324" y="275"/>
                  </a:lnTo>
                  <a:lnTo>
                    <a:pt x="326" y="275"/>
                  </a:lnTo>
                  <a:lnTo>
                    <a:pt x="326" y="275"/>
                  </a:lnTo>
                  <a:lnTo>
                    <a:pt x="326" y="275"/>
                  </a:lnTo>
                  <a:lnTo>
                    <a:pt x="328" y="275"/>
                  </a:lnTo>
                  <a:lnTo>
                    <a:pt x="330" y="277"/>
                  </a:lnTo>
                  <a:lnTo>
                    <a:pt x="330" y="277"/>
                  </a:lnTo>
                  <a:lnTo>
                    <a:pt x="330" y="277"/>
                  </a:lnTo>
                  <a:lnTo>
                    <a:pt x="332" y="277"/>
                  </a:lnTo>
                  <a:lnTo>
                    <a:pt x="332" y="275"/>
                  </a:lnTo>
                  <a:lnTo>
                    <a:pt x="332" y="275"/>
                  </a:lnTo>
                  <a:lnTo>
                    <a:pt x="334" y="275"/>
                  </a:lnTo>
                  <a:lnTo>
                    <a:pt x="334" y="273"/>
                  </a:lnTo>
                  <a:lnTo>
                    <a:pt x="334" y="272"/>
                  </a:lnTo>
                  <a:lnTo>
                    <a:pt x="334" y="272"/>
                  </a:lnTo>
                  <a:lnTo>
                    <a:pt x="334" y="272"/>
                  </a:lnTo>
                  <a:lnTo>
                    <a:pt x="334" y="270"/>
                  </a:lnTo>
                  <a:lnTo>
                    <a:pt x="334" y="268"/>
                  </a:lnTo>
                  <a:lnTo>
                    <a:pt x="334" y="268"/>
                  </a:lnTo>
                  <a:lnTo>
                    <a:pt x="334" y="266"/>
                  </a:lnTo>
                  <a:lnTo>
                    <a:pt x="336" y="266"/>
                  </a:lnTo>
                  <a:lnTo>
                    <a:pt x="336" y="266"/>
                  </a:lnTo>
                  <a:lnTo>
                    <a:pt x="336" y="266"/>
                  </a:lnTo>
                  <a:lnTo>
                    <a:pt x="338" y="266"/>
                  </a:lnTo>
                  <a:lnTo>
                    <a:pt x="338" y="266"/>
                  </a:lnTo>
                  <a:lnTo>
                    <a:pt x="338" y="266"/>
                  </a:lnTo>
                  <a:lnTo>
                    <a:pt x="338" y="266"/>
                  </a:lnTo>
                  <a:lnTo>
                    <a:pt x="338" y="264"/>
                  </a:lnTo>
                  <a:lnTo>
                    <a:pt x="338" y="264"/>
                  </a:lnTo>
                  <a:lnTo>
                    <a:pt x="338" y="264"/>
                  </a:lnTo>
                  <a:lnTo>
                    <a:pt x="338" y="262"/>
                  </a:lnTo>
                  <a:lnTo>
                    <a:pt x="338" y="262"/>
                  </a:lnTo>
                  <a:lnTo>
                    <a:pt x="338" y="262"/>
                  </a:lnTo>
                  <a:lnTo>
                    <a:pt x="338" y="260"/>
                  </a:lnTo>
                  <a:lnTo>
                    <a:pt x="338" y="260"/>
                  </a:lnTo>
                  <a:lnTo>
                    <a:pt x="339" y="260"/>
                  </a:lnTo>
                  <a:lnTo>
                    <a:pt x="339" y="260"/>
                  </a:lnTo>
                  <a:lnTo>
                    <a:pt x="341" y="260"/>
                  </a:lnTo>
                  <a:lnTo>
                    <a:pt x="341" y="262"/>
                  </a:lnTo>
                  <a:lnTo>
                    <a:pt x="341" y="262"/>
                  </a:lnTo>
                  <a:lnTo>
                    <a:pt x="343" y="262"/>
                  </a:lnTo>
                  <a:lnTo>
                    <a:pt x="345" y="262"/>
                  </a:lnTo>
                  <a:lnTo>
                    <a:pt x="345" y="262"/>
                  </a:lnTo>
                  <a:lnTo>
                    <a:pt x="345" y="262"/>
                  </a:lnTo>
                  <a:lnTo>
                    <a:pt x="347" y="262"/>
                  </a:lnTo>
                  <a:lnTo>
                    <a:pt x="349" y="262"/>
                  </a:lnTo>
                  <a:lnTo>
                    <a:pt x="349" y="262"/>
                  </a:lnTo>
                  <a:lnTo>
                    <a:pt x="349" y="260"/>
                  </a:lnTo>
                  <a:lnTo>
                    <a:pt x="349" y="260"/>
                  </a:lnTo>
                  <a:lnTo>
                    <a:pt x="351" y="260"/>
                  </a:lnTo>
                  <a:lnTo>
                    <a:pt x="351" y="260"/>
                  </a:lnTo>
                  <a:lnTo>
                    <a:pt x="351" y="260"/>
                  </a:lnTo>
                  <a:lnTo>
                    <a:pt x="353" y="260"/>
                  </a:lnTo>
                  <a:lnTo>
                    <a:pt x="355" y="260"/>
                  </a:lnTo>
                  <a:lnTo>
                    <a:pt x="357" y="258"/>
                  </a:lnTo>
                  <a:lnTo>
                    <a:pt x="360" y="258"/>
                  </a:lnTo>
                  <a:lnTo>
                    <a:pt x="360" y="258"/>
                  </a:lnTo>
                  <a:lnTo>
                    <a:pt x="362" y="256"/>
                  </a:lnTo>
                  <a:lnTo>
                    <a:pt x="362" y="256"/>
                  </a:lnTo>
                  <a:lnTo>
                    <a:pt x="362" y="254"/>
                  </a:lnTo>
                  <a:lnTo>
                    <a:pt x="362" y="254"/>
                  </a:lnTo>
                  <a:lnTo>
                    <a:pt x="362" y="251"/>
                  </a:lnTo>
                  <a:lnTo>
                    <a:pt x="362" y="251"/>
                  </a:lnTo>
                  <a:lnTo>
                    <a:pt x="362" y="251"/>
                  </a:lnTo>
                  <a:lnTo>
                    <a:pt x="362" y="249"/>
                  </a:lnTo>
                  <a:lnTo>
                    <a:pt x="364" y="249"/>
                  </a:lnTo>
                  <a:lnTo>
                    <a:pt x="366" y="249"/>
                  </a:lnTo>
                  <a:lnTo>
                    <a:pt x="368" y="249"/>
                  </a:lnTo>
                  <a:lnTo>
                    <a:pt x="370" y="249"/>
                  </a:lnTo>
                  <a:lnTo>
                    <a:pt x="370" y="249"/>
                  </a:lnTo>
                  <a:lnTo>
                    <a:pt x="370" y="249"/>
                  </a:lnTo>
                  <a:lnTo>
                    <a:pt x="372" y="249"/>
                  </a:lnTo>
                  <a:lnTo>
                    <a:pt x="374" y="247"/>
                  </a:lnTo>
                  <a:lnTo>
                    <a:pt x="374" y="247"/>
                  </a:lnTo>
                  <a:lnTo>
                    <a:pt x="374" y="245"/>
                  </a:lnTo>
                  <a:lnTo>
                    <a:pt x="376" y="243"/>
                  </a:lnTo>
                  <a:lnTo>
                    <a:pt x="376" y="243"/>
                  </a:lnTo>
                  <a:lnTo>
                    <a:pt x="376" y="243"/>
                  </a:lnTo>
                  <a:lnTo>
                    <a:pt x="378" y="243"/>
                  </a:lnTo>
                  <a:lnTo>
                    <a:pt x="378" y="243"/>
                  </a:lnTo>
                  <a:lnTo>
                    <a:pt x="378" y="243"/>
                  </a:lnTo>
                  <a:lnTo>
                    <a:pt x="378" y="243"/>
                  </a:lnTo>
                  <a:lnTo>
                    <a:pt x="378" y="245"/>
                  </a:lnTo>
                  <a:lnTo>
                    <a:pt x="379" y="245"/>
                  </a:lnTo>
                  <a:lnTo>
                    <a:pt x="381" y="245"/>
                  </a:lnTo>
                  <a:lnTo>
                    <a:pt x="381" y="245"/>
                  </a:lnTo>
                  <a:lnTo>
                    <a:pt x="381" y="245"/>
                  </a:lnTo>
                  <a:lnTo>
                    <a:pt x="383" y="245"/>
                  </a:lnTo>
                  <a:lnTo>
                    <a:pt x="385" y="245"/>
                  </a:lnTo>
                  <a:lnTo>
                    <a:pt x="385" y="245"/>
                  </a:lnTo>
                  <a:lnTo>
                    <a:pt x="385" y="245"/>
                  </a:lnTo>
                  <a:lnTo>
                    <a:pt x="387" y="243"/>
                  </a:lnTo>
                  <a:lnTo>
                    <a:pt x="387" y="243"/>
                  </a:lnTo>
                  <a:lnTo>
                    <a:pt x="387" y="243"/>
                  </a:lnTo>
                  <a:lnTo>
                    <a:pt x="387" y="241"/>
                  </a:lnTo>
                  <a:lnTo>
                    <a:pt x="389" y="241"/>
                  </a:lnTo>
                  <a:lnTo>
                    <a:pt x="389" y="239"/>
                  </a:lnTo>
                  <a:lnTo>
                    <a:pt x="391" y="239"/>
                  </a:lnTo>
                  <a:lnTo>
                    <a:pt x="391" y="237"/>
                  </a:lnTo>
                  <a:lnTo>
                    <a:pt x="393" y="235"/>
                  </a:lnTo>
                  <a:lnTo>
                    <a:pt x="393" y="235"/>
                  </a:lnTo>
                  <a:lnTo>
                    <a:pt x="391" y="235"/>
                  </a:lnTo>
                  <a:lnTo>
                    <a:pt x="391" y="234"/>
                  </a:lnTo>
                  <a:lnTo>
                    <a:pt x="393" y="234"/>
                  </a:lnTo>
                  <a:lnTo>
                    <a:pt x="393" y="232"/>
                  </a:lnTo>
                  <a:lnTo>
                    <a:pt x="393" y="232"/>
                  </a:lnTo>
                  <a:lnTo>
                    <a:pt x="393" y="228"/>
                  </a:lnTo>
                  <a:lnTo>
                    <a:pt x="393" y="228"/>
                  </a:lnTo>
                  <a:lnTo>
                    <a:pt x="393" y="228"/>
                  </a:lnTo>
                  <a:lnTo>
                    <a:pt x="393" y="226"/>
                  </a:lnTo>
                  <a:lnTo>
                    <a:pt x="395" y="226"/>
                  </a:lnTo>
                  <a:lnTo>
                    <a:pt x="395" y="226"/>
                  </a:lnTo>
                  <a:lnTo>
                    <a:pt x="395" y="224"/>
                  </a:lnTo>
                  <a:lnTo>
                    <a:pt x="395" y="224"/>
                  </a:lnTo>
                  <a:lnTo>
                    <a:pt x="393" y="224"/>
                  </a:lnTo>
                  <a:lnTo>
                    <a:pt x="393" y="224"/>
                  </a:lnTo>
                  <a:lnTo>
                    <a:pt x="393" y="222"/>
                  </a:lnTo>
                  <a:lnTo>
                    <a:pt x="393" y="222"/>
                  </a:lnTo>
                  <a:lnTo>
                    <a:pt x="393" y="222"/>
                  </a:lnTo>
                  <a:lnTo>
                    <a:pt x="393" y="222"/>
                  </a:lnTo>
                  <a:lnTo>
                    <a:pt x="395" y="220"/>
                  </a:lnTo>
                  <a:lnTo>
                    <a:pt x="395" y="218"/>
                  </a:lnTo>
                  <a:lnTo>
                    <a:pt x="397" y="218"/>
                  </a:lnTo>
                  <a:lnTo>
                    <a:pt x="397" y="216"/>
                  </a:lnTo>
                  <a:lnTo>
                    <a:pt x="397" y="216"/>
                  </a:lnTo>
                  <a:lnTo>
                    <a:pt x="399" y="215"/>
                  </a:lnTo>
                  <a:lnTo>
                    <a:pt x="399" y="215"/>
                  </a:lnTo>
                  <a:lnTo>
                    <a:pt x="399" y="215"/>
                  </a:lnTo>
                  <a:lnTo>
                    <a:pt x="399" y="213"/>
                  </a:lnTo>
                  <a:lnTo>
                    <a:pt x="399" y="211"/>
                  </a:lnTo>
                  <a:lnTo>
                    <a:pt x="399" y="211"/>
                  </a:lnTo>
                  <a:lnTo>
                    <a:pt x="399" y="211"/>
                  </a:lnTo>
                  <a:lnTo>
                    <a:pt x="400" y="209"/>
                  </a:lnTo>
                  <a:lnTo>
                    <a:pt x="402" y="209"/>
                  </a:lnTo>
                  <a:lnTo>
                    <a:pt x="402" y="209"/>
                  </a:lnTo>
                  <a:lnTo>
                    <a:pt x="402" y="207"/>
                  </a:lnTo>
                  <a:lnTo>
                    <a:pt x="404" y="207"/>
                  </a:lnTo>
                  <a:lnTo>
                    <a:pt x="406" y="207"/>
                  </a:lnTo>
                  <a:lnTo>
                    <a:pt x="406" y="207"/>
                  </a:lnTo>
                  <a:lnTo>
                    <a:pt x="408" y="207"/>
                  </a:lnTo>
                  <a:lnTo>
                    <a:pt x="410" y="205"/>
                  </a:lnTo>
                  <a:lnTo>
                    <a:pt x="410" y="205"/>
                  </a:lnTo>
                  <a:lnTo>
                    <a:pt x="410" y="205"/>
                  </a:lnTo>
                  <a:lnTo>
                    <a:pt x="412" y="203"/>
                  </a:lnTo>
                  <a:lnTo>
                    <a:pt x="412" y="203"/>
                  </a:lnTo>
                  <a:lnTo>
                    <a:pt x="414" y="201"/>
                  </a:lnTo>
                  <a:lnTo>
                    <a:pt x="414" y="201"/>
                  </a:lnTo>
                  <a:lnTo>
                    <a:pt x="414" y="201"/>
                  </a:lnTo>
                  <a:lnTo>
                    <a:pt x="416" y="201"/>
                  </a:lnTo>
                  <a:lnTo>
                    <a:pt x="418" y="199"/>
                  </a:lnTo>
                  <a:lnTo>
                    <a:pt x="418" y="199"/>
                  </a:lnTo>
                  <a:lnTo>
                    <a:pt x="419" y="199"/>
                  </a:lnTo>
                  <a:lnTo>
                    <a:pt x="419" y="199"/>
                  </a:lnTo>
                  <a:lnTo>
                    <a:pt x="419" y="197"/>
                  </a:lnTo>
                  <a:close/>
                </a:path>
              </a:pathLst>
            </a:custGeom>
            <a:solidFill>
              <a:schemeClr val="accent1">
                <a:lumMod val="20000"/>
                <a:lumOff val="80000"/>
              </a:schemeClr>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66" name="Freeform 15">
              <a:extLst>
                <a:ext uri="{FF2B5EF4-FFF2-40B4-BE49-F238E27FC236}">
                  <a16:creationId xmlns:a16="http://schemas.microsoft.com/office/drawing/2014/main" id="{F544E90F-40FA-B4BC-661A-C47486F9ABD7}"/>
                </a:ext>
              </a:extLst>
            </p:cNvPr>
            <p:cNvSpPr>
              <a:spLocks/>
            </p:cNvSpPr>
            <p:nvPr/>
          </p:nvSpPr>
          <p:spPr bwMode="auto">
            <a:xfrm>
              <a:off x="2594591" y="4221691"/>
              <a:ext cx="790458" cy="664771"/>
            </a:xfrm>
            <a:custGeom>
              <a:avLst/>
              <a:gdLst>
                <a:gd name="T0" fmla="*/ 395 w 419"/>
                <a:gd name="T1" fmla="*/ 201 h 393"/>
                <a:gd name="T2" fmla="*/ 359 w 419"/>
                <a:gd name="T3" fmla="*/ 199 h 393"/>
                <a:gd name="T4" fmla="*/ 343 w 419"/>
                <a:gd name="T5" fmla="*/ 169 h 393"/>
                <a:gd name="T6" fmla="*/ 328 w 419"/>
                <a:gd name="T7" fmla="*/ 167 h 393"/>
                <a:gd name="T8" fmla="*/ 318 w 419"/>
                <a:gd name="T9" fmla="*/ 144 h 393"/>
                <a:gd name="T10" fmla="*/ 288 w 419"/>
                <a:gd name="T11" fmla="*/ 125 h 393"/>
                <a:gd name="T12" fmla="*/ 261 w 419"/>
                <a:gd name="T13" fmla="*/ 116 h 393"/>
                <a:gd name="T14" fmla="*/ 246 w 419"/>
                <a:gd name="T15" fmla="*/ 70 h 393"/>
                <a:gd name="T16" fmla="*/ 250 w 419"/>
                <a:gd name="T17" fmla="*/ 43 h 393"/>
                <a:gd name="T18" fmla="*/ 229 w 419"/>
                <a:gd name="T19" fmla="*/ 28 h 393"/>
                <a:gd name="T20" fmla="*/ 212 w 419"/>
                <a:gd name="T21" fmla="*/ 34 h 393"/>
                <a:gd name="T22" fmla="*/ 179 w 419"/>
                <a:gd name="T23" fmla="*/ 22 h 393"/>
                <a:gd name="T24" fmla="*/ 155 w 419"/>
                <a:gd name="T25" fmla="*/ 26 h 393"/>
                <a:gd name="T26" fmla="*/ 132 w 419"/>
                <a:gd name="T27" fmla="*/ 9 h 393"/>
                <a:gd name="T28" fmla="*/ 107 w 419"/>
                <a:gd name="T29" fmla="*/ 5 h 393"/>
                <a:gd name="T30" fmla="*/ 105 w 419"/>
                <a:gd name="T31" fmla="*/ 19 h 393"/>
                <a:gd name="T32" fmla="*/ 86 w 419"/>
                <a:gd name="T33" fmla="*/ 47 h 393"/>
                <a:gd name="T34" fmla="*/ 73 w 419"/>
                <a:gd name="T35" fmla="*/ 60 h 393"/>
                <a:gd name="T36" fmla="*/ 59 w 419"/>
                <a:gd name="T37" fmla="*/ 59 h 393"/>
                <a:gd name="T38" fmla="*/ 46 w 419"/>
                <a:gd name="T39" fmla="*/ 81 h 393"/>
                <a:gd name="T40" fmla="*/ 52 w 419"/>
                <a:gd name="T41" fmla="*/ 91 h 393"/>
                <a:gd name="T42" fmla="*/ 54 w 419"/>
                <a:gd name="T43" fmla="*/ 106 h 393"/>
                <a:gd name="T44" fmla="*/ 38 w 419"/>
                <a:gd name="T45" fmla="*/ 129 h 393"/>
                <a:gd name="T46" fmla="*/ 25 w 419"/>
                <a:gd name="T47" fmla="*/ 144 h 393"/>
                <a:gd name="T48" fmla="*/ 31 w 419"/>
                <a:gd name="T49" fmla="*/ 173 h 393"/>
                <a:gd name="T50" fmla="*/ 25 w 419"/>
                <a:gd name="T51" fmla="*/ 197 h 393"/>
                <a:gd name="T52" fmla="*/ 16 w 419"/>
                <a:gd name="T53" fmla="*/ 218 h 393"/>
                <a:gd name="T54" fmla="*/ 40 w 419"/>
                <a:gd name="T55" fmla="*/ 226 h 393"/>
                <a:gd name="T56" fmla="*/ 12 w 419"/>
                <a:gd name="T57" fmla="*/ 264 h 393"/>
                <a:gd name="T58" fmla="*/ 16 w 419"/>
                <a:gd name="T59" fmla="*/ 302 h 393"/>
                <a:gd name="T60" fmla="*/ 17 w 419"/>
                <a:gd name="T61" fmla="*/ 317 h 393"/>
                <a:gd name="T62" fmla="*/ 21 w 419"/>
                <a:gd name="T63" fmla="*/ 340 h 393"/>
                <a:gd name="T64" fmla="*/ 21 w 419"/>
                <a:gd name="T65" fmla="*/ 367 h 393"/>
                <a:gd name="T66" fmla="*/ 36 w 419"/>
                <a:gd name="T67" fmla="*/ 388 h 393"/>
                <a:gd name="T68" fmla="*/ 54 w 419"/>
                <a:gd name="T69" fmla="*/ 388 h 393"/>
                <a:gd name="T70" fmla="*/ 73 w 419"/>
                <a:gd name="T71" fmla="*/ 386 h 393"/>
                <a:gd name="T72" fmla="*/ 86 w 419"/>
                <a:gd name="T73" fmla="*/ 386 h 393"/>
                <a:gd name="T74" fmla="*/ 99 w 419"/>
                <a:gd name="T75" fmla="*/ 372 h 393"/>
                <a:gd name="T76" fmla="*/ 130 w 419"/>
                <a:gd name="T77" fmla="*/ 369 h 393"/>
                <a:gd name="T78" fmla="*/ 145 w 419"/>
                <a:gd name="T79" fmla="*/ 361 h 393"/>
                <a:gd name="T80" fmla="*/ 157 w 419"/>
                <a:gd name="T81" fmla="*/ 355 h 393"/>
                <a:gd name="T82" fmla="*/ 183 w 419"/>
                <a:gd name="T83" fmla="*/ 348 h 393"/>
                <a:gd name="T84" fmla="*/ 193 w 419"/>
                <a:gd name="T85" fmla="*/ 321 h 393"/>
                <a:gd name="T86" fmla="*/ 223 w 419"/>
                <a:gd name="T87" fmla="*/ 310 h 393"/>
                <a:gd name="T88" fmla="*/ 252 w 419"/>
                <a:gd name="T89" fmla="*/ 313 h 393"/>
                <a:gd name="T90" fmla="*/ 254 w 419"/>
                <a:gd name="T91" fmla="*/ 292 h 393"/>
                <a:gd name="T92" fmla="*/ 267 w 419"/>
                <a:gd name="T93" fmla="*/ 279 h 393"/>
                <a:gd name="T94" fmla="*/ 282 w 419"/>
                <a:gd name="T95" fmla="*/ 289 h 393"/>
                <a:gd name="T96" fmla="*/ 290 w 419"/>
                <a:gd name="T97" fmla="*/ 296 h 393"/>
                <a:gd name="T98" fmla="*/ 307 w 419"/>
                <a:gd name="T99" fmla="*/ 302 h 393"/>
                <a:gd name="T100" fmla="*/ 307 w 419"/>
                <a:gd name="T101" fmla="*/ 289 h 393"/>
                <a:gd name="T102" fmla="*/ 290 w 419"/>
                <a:gd name="T103" fmla="*/ 285 h 393"/>
                <a:gd name="T104" fmla="*/ 288 w 419"/>
                <a:gd name="T105" fmla="*/ 273 h 393"/>
                <a:gd name="T106" fmla="*/ 299 w 419"/>
                <a:gd name="T107" fmla="*/ 273 h 393"/>
                <a:gd name="T108" fmla="*/ 313 w 419"/>
                <a:gd name="T109" fmla="*/ 270 h 393"/>
                <a:gd name="T110" fmla="*/ 322 w 419"/>
                <a:gd name="T111" fmla="*/ 275 h 393"/>
                <a:gd name="T112" fmla="*/ 334 w 419"/>
                <a:gd name="T113" fmla="*/ 266 h 393"/>
                <a:gd name="T114" fmla="*/ 341 w 419"/>
                <a:gd name="T115" fmla="*/ 262 h 393"/>
                <a:gd name="T116" fmla="*/ 362 w 419"/>
                <a:gd name="T117" fmla="*/ 254 h 393"/>
                <a:gd name="T118" fmla="*/ 378 w 419"/>
                <a:gd name="T119" fmla="*/ 243 h 393"/>
                <a:gd name="T120" fmla="*/ 393 w 419"/>
                <a:gd name="T121" fmla="*/ 235 h 393"/>
                <a:gd name="T122" fmla="*/ 393 w 419"/>
                <a:gd name="T123" fmla="*/ 222 h 393"/>
                <a:gd name="T124" fmla="*/ 408 w 419"/>
                <a:gd name="T125" fmla="*/ 207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9" h="393">
                  <a:moveTo>
                    <a:pt x="419" y="197"/>
                  </a:moveTo>
                  <a:lnTo>
                    <a:pt x="419" y="197"/>
                  </a:lnTo>
                  <a:lnTo>
                    <a:pt x="418" y="195"/>
                  </a:lnTo>
                  <a:lnTo>
                    <a:pt x="418" y="195"/>
                  </a:lnTo>
                  <a:lnTo>
                    <a:pt x="418" y="194"/>
                  </a:lnTo>
                  <a:lnTo>
                    <a:pt x="416" y="192"/>
                  </a:lnTo>
                  <a:lnTo>
                    <a:pt x="416" y="192"/>
                  </a:lnTo>
                  <a:lnTo>
                    <a:pt x="416" y="192"/>
                  </a:lnTo>
                  <a:lnTo>
                    <a:pt x="414" y="194"/>
                  </a:lnTo>
                  <a:lnTo>
                    <a:pt x="414" y="195"/>
                  </a:lnTo>
                  <a:lnTo>
                    <a:pt x="412" y="195"/>
                  </a:lnTo>
                  <a:lnTo>
                    <a:pt x="412" y="197"/>
                  </a:lnTo>
                  <a:lnTo>
                    <a:pt x="410" y="197"/>
                  </a:lnTo>
                  <a:lnTo>
                    <a:pt x="406" y="197"/>
                  </a:lnTo>
                  <a:lnTo>
                    <a:pt x="406" y="199"/>
                  </a:lnTo>
                  <a:lnTo>
                    <a:pt x="404" y="199"/>
                  </a:lnTo>
                  <a:lnTo>
                    <a:pt x="402" y="201"/>
                  </a:lnTo>
                  <a:lnTo>
                    <a:pt x="400" y="203"/>
                  </a:lnTo>
                  <a:lnTo>
                    <a:pt x="399" y="203"/>
                  </a:lnTo>
                  <a:lnTo>
                    <a:pt x="395" y="201"/>
                  </a:lnTo>
                  <a:lnTo>
                    <a:pt x="393" y="201"/>
                  </a:lnTo>
                  <a:lnTo>
                    <a:pt x="393" y="201"/>
                  </a:lnTo>
                  <a:lnTo>
                    <a:pt x="393" y="201"/>
                  </a:lnTo>
                  <a:lnTo>
                    <a:pt x="391" y="203"/>
                  </a:lnTo>
                  <a:lnTo>
                    <a:pt x="391" y="203"/>
                  </a:lnTo>
                  <a:lnTo>
                    <a:pt x="391" y="203"/>
                  </a:lnTo>
                  <a:lnTo>
                    <a:pt x="389" y="203"/>
                  </a:lnTo>
                  <a:lnTo>
                    <a:pt x="389" y="203"/>
                  </a:lnTo>
                  <a:lnTo>
                    <a:pt x="387" y="203"/>
                  </a:lnTo>
                  <a:lnTo>
                    <a:pt x="383" y="203"/>
                  </a:lnTo>
                  <a:lnTo>
                    <a:pt x="376" y="201"/>
                  </a:lnTo>
                  <a:lnTo>
                    <a:pt x="372" y="203"/>
                  </a:lnTo>
                  <a:lnTo>
                    <a:pt x="368" y="203"/>
                  </a:lnTo>
                  <a:lnTo>
                    <a:pt x="366" y="201"/>
                  </a:lnTo>
                  <a:lnTo>
                    <a:pt x="364" y="201"/>
                  </a:lnTo>
                  <a:lnTo>
                    <a:pt x="362" y="199"/>
                  </a:lnTo>
                  <a:lnTo>
                    <a:pt x="362" y="199"/>
                  </a:lnTo>
                  <a:lnTo>
                    <a:pt x="360" y="199"/>
                  </a:lnTo>
                  <a:lnTo>
                    <a:pt x="360" y="199"/>
                  </a:lnTo>
                  <a:lnTo>
                    <a:pt x="359" y="199"/>
                  </a:lnTo>
                  <a:lnTo>
                    <a:pt x="357" y="201"/>
                  </a:lnTo>
                  <a:lnTo>
                    <a:pt x="355" y="203"/>
                  </a:lnTo>
                  <a:lnTo>
                    <a:pt x="351" y="205"/>
                  </a:lnTo>
                  <a:lnTo>
                    <a:pt x="351" y="205"/>
                  </a:lnTo>
                  <a:lnTo>
                    <a:pt x="349" y="205"/>
                  </a:lnTo>
                  <a:lnTo>
                    <a:pt x="347" y="205"/>
                  </a:lnTo>
                  <a:lnTo>
                    <a:pt x="347" y="201"/>
                  </a:lnTo>
                  <a:lnTo>
                    <a:pt x="345" y="199"/>
                  </a:lnTo>
                  <a:lnTo>
                    <a:pt x="345" y="186"/>
                  </a:lnTo>
                  <a:lnTo>
                    <a:pt x="343" y="186"/>
                  </a:lnTo>
                  <a:lnTo>
                    <a:pt x="341" y="182"/>
                  </a:lnTo>
                  <a:lnTo>
                    <a:pt x="341" y="180"/>
                  </a:lnTo>
                  <a:lnTo>
                    <a:pt x="341" y="178"/>
                  </a:lnTo>
                  <a:lnTo>
                    <a:pt x="341" y="176"/>
                  </a:lnTo>
                  <a:lnTo>
                    <a:pt x="339" y="175"/>
                  </a:lnTo>
                  <a:lnTo>
                    <a:pt x="341" y="173"/>
                  </a:lnTo>
                  <a:lnTo>
                    <a:pt x="341" y="173"/>
                  </a:lnTo>
                  <a:lnTo>
                    <a:pt x="341" y="171"/>
                  </a:lnTo>
                  <a:lnTo>
                    <a:pt x="343" y="171"/>
                  </a:lnTo>
                  <a:lnTo>
                    <a:pt x="343" y="169"/>
                  </a:lnTo>
                  <a:lnTo>
                    <a:pt x="341" y="169"/>
                  </a:lnTo>
                  <a:lnTo>
                    <a:pt x="339" y="169"/>
                  </a:lnTo>
                  <a:lnTo>
                    <a:pt x="339" y="169"/>
                  </a:lnTo>
                  <a:lnTo>
                    <a:pt x="338" y="169"/>
                  </a:lnTo>
                  <a:lnTo>
                    <a:pt x="336" y="171"/>
                  </a:lnTo>
                  <a:lnTo>
                    <a:pt x="334" y="171"/>
                  </a:lnTo>
                  <a:lnTo>
                    <a:pt x="334" y="169"/>
                  </a:lnTo>
                  <a:lnTo>
                    <a:pt x="334" y="169"/>
                  </a:lnTo>
                  <a:lnTo>
                    <a:pt x="332" y="167"/>
                  </a:lnTo>
                  <a:lnTo>
                    <a:pt x="332" y="165"/>
                  </a:lnTo>
                  <a:lnTo>
                    <a:pt x="332" y="165"/>
                  </a:lnTo>
                  <a:lnTo>
                    <a:pt x="332" y="163"/>
                  </a:lnTo>
                  <a:lnTo>
                    <a:pt x="332" y="163"/>
                  </a:lnTo>
                  <a:lnTo>
                    <a:pt x="330" y="163"/>
                  </a:lnTo>
                  <a:lnTo>
                    <a:pt x="330" y="163"/>
                  </a:lnTo>
                  <a:lnTo>
                    <a:pt x="330" y="163"/>
                  </a:lnTo>
                  <a:lnTo>
                    <a:pt x="328" y="163"/>
                  </a:lnTo>
                  <a:lnTo>
                    <a:pt x="328" y="165"/>
                  </a:lnTo>
                  <a:lnTo>
                    <a:pt x="328" y="167"/>
                  </a:lnTo>
                  <a:lnTo>
                    <a:pt x="328" y="167"/>
                  </a:lnTo>
                  <a:lnTo>
                    <a:pt x="328" y="167"/>
                  </a:lnTo>
                  <a:lnTo>
                    <a:pt x="326" y="167"/>
                  </a:lnTo>
                  <a:lnTo>
                    <a:pt x="326" y="167"/>
                  </a:lnTo>
                  <a:lnTo>
                    <a:pt x="324" y="167"/>
                  </a:lnTo>
                  <a:lnTo>
                    <a:pt x="322" y="167"/>
                  </a:lnTo>
                  <a:lnTo>
                    <a:pt x="322" y="167"/>
                  </a:lnTo>
                  <a:lnTo>
                    <a:pt x="320" y="165"/>
                  </a:lnTo>
                  <a:lnTo>
                    <a:pt x="320" y="165"/>
                  </a:lnTo>
                  <a:lnTo>
                    <a:pt x="322" y="163"/>
                  </a:lnTo>
                  <a:lnTo>
                    <a:pt x="322" y="163"/>
                  </a:lnTo>
                  <a:lnTo>
                    <a:pt x="322" y="161"/>
                  </a:lnTo>
                  <a:lnTo>
                    <a:pt x="324" y="161"/>
                  </a:lnTo>
                  <a:lnTo>
                    <a:pt x="324" y="161"/>
                  </a:lnTo>
                  <a:lnTo>
                    <a:pt x="326" y="159"/>
                  </a:lnTo>
                  <a:lnTo>
                    <a:pt x="326" y="159"/>
                  </a:lnTo>
                  <a:lnTo>
                    <a:pt x="324" y="157"/>
                  </a:lnTo>
                  <a:lnTo>
                    <a:pt x="322" y="156"/>
                  </a:lnTo>
                  <a:lnTo>
                    <a:pt x="320" y="150"/>
                  </a:lnTo>
                  <a:lnTo>
                    <a:pt x="320" y="146"/>
                  </a:lnTo>
                  <a:lnTo>
                    <a:pt x="318" y="144"/>
                  </a:lnTo>
                  <a:lnTo>
                    <a:pt x="318" y="144"/>
                  </a:lnTo>
                  <a:lnTo>
                    <a:pt x="317" y="142"/>
                  </a:lnTo>
                  <a:lnTo>
                    <a:pt x="315" y="140"/>
                  </a:lnTo>
                  <a:lnTo>
                    <a:pt x="313" y="138"/>
                  </a:lnTo>
                  <a:lnTo>
                    <a:pt x="313" y="137"/>
                  </a:lnTo>
                  <a:lnTo>
                    <a:pt x="307" y="131"/>
                  </a:lnTo>
                  <a:lnTo>
                    <a:pt x="305" y="129"/>
                  </a:lnTo>
                  <a:lnTo>
                    <a:pt x="305" y="129"/>
                  </a:lnTo>
                  <a:lnTo>
                    <a:pt x="303" y="127"/>
                  </a:lnTo>
                  <a:lnTo>
                    <a:pt x="301" y="127"/>
                  </a:lnTo>
                  <a:lnTo>
                    <a:pt x="299" y="125"/>
                  </a:lnTo>
                  <a:lnTo>
                    <a:pt x="299" y="125"/>
                  </a:lnTo>
                  <a:lnTo>
                    <a:pt x="298" y="125"/>
                  </a:lnTo>
                  <a:lnTo>
                    <a:pt x="294" y="125"/>
                  </a:lnTo>
                  <a:lnTo>
                    <a:pt x="292" y="127"/>
                  </a:lnTo>
                  <a:lnTo>
                    <a:pt x="290" y="125"/>
                  </a:lnTo>
                  <a:lnTo>
                    <a:pt x="290" y="125"/>
                  </a:lnTo>
                  <a:lnTo>
                    <a:pt x="290" y="123"/>
                  </a:lnTo>
                  <a:lnTo>
                    <a:pt x="288" y="123"/>
                  </a:lnTo>
                  <a:lnTo>
                    <a:pt x="288" y="125"/>
                  </a:lnTo>
                  <a:lnTo>
                    <a:pt x="288" y="125"/>
                  </a:lnTo>
                  <a:lnTo>
                    <a:pt x="286" y="125"/>
                  </a:lnTo>
                  <a:lnTo>
                    <a:pt x="286" y="125"/>
                  </a:lnTo>
                  <a:lnTo>
                    <a:pt x="286" y="123"/>
                  </a:lnTo>
                  <a:lnTo>
                    <a:pt x="284" y="123"/>
                  </a:lnTo>
                  <a:lnTo>
                    <a:pt x="284" y="121"/>
                  </a:lnTo>
                  <a:lnTo>
                    <a:pt x="284" y="121"/>
                  </a:lnTo>
                  <a:lnTo>
                    <a:pt x="282" y="119"/>
                  </a:lnTo>
                  <a:lnTo>
                    <a:pt x="282" y="118"/>
                  </a:lnTo>
                  <a:lnTo>
                    <a:pt x="282" y="118"/>
                  </a:lnTo>
                  <a:lnTo>
                    <a:pt x="282" y="116"/>
                  </a:lnTo>
                  <a:lnTo>
                    <a:pt x="282" y="116"/>
                  </a:lnTo>
                  <a:lnTo>
                    <a:pt x="280" y="114"/>
                  </a:lnTo>
                  <a:lnTo>
                    <a:pt x="280" y="114"/>
                  </a:lnTo>
                  <a:lnTo>
                    <a:pt x="278" y="114"/>
                  </a:lnTo>
                  <a:lnTo>
                    <a:pt x="277" y="116"/>
                  </a:lnTo>
                  <a:lnTo>
                    <a:pt x="277" y="116"/>
                  </a:lnTo>
                  <a:lnTo>
                    <a:pt x="269" y="116"/>
                  </a:lnTo>
                  <a:lnTo>
                    <a:pt x="261" y="116"/>
                  </a:lnTo>
                  <a:lnTo>
                    <a:pt x="261" y="116"/>
                  </a:lnTo>
                  <a:lnTo>
                    <a:pt x="259" y="112"/>
                  </a:lnTo>
                  <a:lnTo>
                    <a:pt x="259" y="112"/>
                  </a:lnTo>
                  <a:lnTo>
                    <a:pt x="258" y="110"/>
                  </a:lnTo>
                  <a:lnTo>
                    <a:pt x="254" y="108"/>
                  </a:lnTo>
                  <a:lnTo>
                    <a:pt x="252" y="106"/>
                  </a:lnTo>
                  <a:lnTo>
                    <a:pt x="246" y="104"/>
                  </a:lnTo>
                  <a:lnTo>
                    <a:pt x="246" y="102"/>
                  </a:lnTo>
                  <a:lnTo>
                    <a:pt x="250" y="100"/>
                  </a:lnTo>
                  <a:lnTo>
                    <a:pt x="250" y="98"/>
                  </a:lnTo>
                  <a:lnTo>
                    <a:pt x="250" y="97"/>
                  </a:lnTo>
                  <a:lnTo>
                    <a:pt x="250" y="93"/>
                  </a:lnTo>
                  <a:lnTo>
                    <a:pt x="250" y="89"/>
                  </a:lnTo>
                  <a:lnTo>
                    <a:pt x="248" y="83"/>
                  </a:lnTo>
                  <a:lnTo>
                    <a:pt x="248" y="81"/>
                  </a:lnTo>
                  <a:lnTo>
                    <a:pt x="242" y="81"/>
                  </a:lnTo>
                  <a:lnTo>
                    <a:pt x="242" y="81"/>
                  </a:lnTo>
                  <a:lnTo>
                    <a:pt x="240" y="78"/>
                  </a:lnTo>
                  <a:lnTo>
                    <a:pt x="242" y="76"/>
                  </a:lnTo>
                  <a:lnTo>
                    <a:pt x="244" y="74"/>
                  </a:lnTo>
                  <a:lnTo>
                    <a:pt x="246" y="70"/>
                  </a:lnTo>
                  <a:lnTo>
                    <a:pt x="248" y="70"/>
                  </a:lnTo>
                  <a:lnTo>
                    <a:pt x="248" y="68"/>
                  </a:lnTo>
                  <a:lnTo>
                    <a:pt x="248" y="66"/>
                  </a:lnTo>
                  <a:lnTo>
                    <a:pt x="248" y="64"/>
                  </a:lnTo>
                  <a:lnTo>
                    <a:pt x="248" y="62"/>
                  </a:lnTo>
                  <a:lnTo>
                    <a:pt x="248" y="60"/>
                  </a:lnTo>
                  <a:lnTo>
                    <a:pt x="248" y="60"/>
                  </a:lnTo>
                  <a:lnTo>
                    <a:pt x="248" y="60"/>
                  </a:lnTo>
                  <a:lnTo>
                    <a:pt x="248" y="60"/>
                  </a:lnTo>
                  <a:lnTo>
                    <a:pt x="248" y="59"/>
                  </a:lnTo>
                  <a:lnTo>
                    <a:pt x="250" y="59"/>
                  </a:lnTo>
                  <a:lnTo>
                    <a:pt x="250" y="57"/>
                  </a:lnTo>
                  <a:lnTo>
                    <a:pt x="250" y="55"/>
                  </a:lnTo>
                  <a:lnTo>
                    <a:pt x="250" y="53"/>
                  </a:lnTo>
                  <a:lnTo>
                    <a:pt x="250" y="53"/>
                  </a:lnTo>
                  <a:lnTo>
                    <a:pt x="250" y="51"/>
                  </a:lnTo>
                  <a:lnTo>
                    <a:pt x="250" y="47"/>
                  </a:lnTo>
                  <a:lnTo>
                    <a:pt x="250" y="45"/>
                  </a:lnTo>
                  <a:lnTo>
                    <a:pt x="250" y="45"/>
                  </a:lnTo>
                  <a:lnTo>
                    <a:pt x="250" y="43"/>
                  </a:lnTo>
                  <a:lnTo>
                    <a:pt x="250" y="41"/>
                  </a:lnTo>
                  <a:lnTo>
                    <a:pt x="250" y="41"/>
                  </a:lnTo>
                  <a:lnTo>
                    <a:pt x="248" y="41"/>
                  </a:lnTo>
                  <a:lnTo>
                    <a:pt x="248" y="40"/>
                  </a:lnTo>
                  <a:lnTo>
                    <a:pt x="248" y="40"/>
                  </a:lnTo>
                  <a:lnTo>
                    <a:pt x="246" y="38"/>
                  </a:lnTo>
                  <a:lnTo>
                    <a:pt x="246" y="38"/>
                  </a:lnTo>
                  <a:lnTo>
                    <a:pt x="246" y="38"/>
                  </a:lnTo>
                  <a:lnTo>
                    <a:pt x="244" y="38"/>
                  </a:lnTo>
                  <a:lnTo>
                    <a:pt x="242" y="38"/>
                  </a:lnTo>
                  <a:lnTo>
                    <a:pt x="242" y="38"/>
                  </a:lnTo>
                  <a:lnTo>
                    <a:pt x="242" y="36"/>
                  </a:lnTo>
                  <a:lnTo>
                    <a:pt x="240" y="36"/>
                  </a:lnTo>
                  <a:lnTo>
                    <a:pt x="240" y="36"/>
                  </a:lnTo>
                  <a:lnTo>
                    <a:pt x="238" y="34"/>
                  </a:lnTo>
                  <a:lnTo>
                    <a:pt x="238" y="32"/>
                  </a:lnTo>
                  <a:lnTo>
                    <a:pt x="237" y="30"/>
                  </a:lnTo>
                  <a:lnTo>
                    <a:pt x="237" y="30"/>
                  </a:lnTo>
                  <a:lnTo>
                    <a:pt x="235" y="28"/>
                  </a:lnTo>
                  <a:lnTo>
                    <a:pt x="229" y="28"/>
                  </a:lnTo>
                  <a:lnTo>
                    <a:pt x="227" y="28"/>
                  </a:lnTo>
                  <a:lnTo>
                    <a:pt x="227" y="28"/>
                  </a:lnTo>
                  <a:lnTo>
                    <a:pt x="227" y="28"/>
                  </a:lnTo>
                  <a:lnTo>
                    <a:pt x="219" y="30"/>
                  </a:lnTo>
                  <a:lnTo>
                    <a:pt x="219" y="32"/>
                  </a:lnTo>
                  <a:lnTo>
                    <a:pt x="217" y="32"/>
                  </a:lnTo>
                  <a:lnTo>
                    <a:pt x="217" y="32"/>
                  </a:lnTo>
                  <a:lnTo>
                    <a:pt x="217" y="34"/>
                  </a:lnTo>
                  <a:lnTo>
                    <a:pt x="217" y="34"/>
                  </a:lnTo>
                  <a:lnTo>
                    <a:pt x="217" y="36"/>
                  </a:lnTo>
                  <a:lnTo>
                    <a:pt x="217" y="36"/>
                  </a:lnTo>
                  <a:lnTo>
                    <a:pt x="216" y="36"/>
                  </a:lnTo>
                  <a:lnTo>
                    <a:pt x="216" y="36"/>
                  </a:lnTo>
                  <a:lnTo>
                    <a:pt x="216" y="36"/>
                  </a:lnTo>
                  <a:lnTo>
                    <a:pt x="214" y="36"/>
                  </a:lnTo>
                  <a:lnTo>
                    <a:pt x="214" y="36"/>
                  </a:lnTo>
                  <a:lnTo>
                    <a:pt x="214" y="36"/>
                  </a:lnTo>
                  <a:lnTo>
                    <a:pt x="214" y="36"/>
                  </a:lnTo>
                  <a:lnTo>
                    <a:pt x="212" y="36"/>
                  </a:lnTo>
                  <a:lnTo>
                    <a:pt x="212" y="34"/>
                  </a:lnTo>
                  <a:lnTo>
                    <a:pt x="212" y="34"/>
                  </a:lnTo>
                  <a:lnTo>
                    <a:pt x="208" y="34"/>
                  </a:lnTo>
                  <a:lnTo>
                    <a:pt x="208" y="34"/>
                  </a:lnTo>
                  <a:lnTo>
                    <a:pt x="208" y="34"/>
                  </a:lnTo>
                  <a:lnTo>
                    <a:pt x="200" y="34"/>
                  </a:lnTo>
                  <a:lnTo>
                    <a:pt x="198" y="34"/>
                  </a:lnTo>
                  <a:lnTo>
                    <a:pt x="198" y="34"/>
                  </a:lnTo>
                  <a:lnTo>
                    <a:pt x="197" y="34"/>
                  </a:lnTo>
                  <a:lnTo>
                    <a:pt x="197" y="32"/>
                  </a:lnTo>
                  <a:lnTo>
                    <a:pt x="197" y="30"/>
                  </a:lnTo>
                  <a:lnTo>
                    <a:pt x="195" y="30"/>
                  </a:lnTo>
                  <a:lnTo>
                    <a:pt x="195" y="30"/>
                  </a:lnTo>
                  <a:lnTo>
                    <a:pt x="185" y="28"/>
                  </a:lnTo>
                  <a:lnTo>
                    <a:pt x="185" y="28"/>
                  </a:lnTo>
                  <a:lnTo>
                    <a:pt x="185" y="28"/>
                  </a:lnTo>
                  <a:lnTo>
                    <a:pt x="183" y="28"/>
                  </a:lnTo>
                  <a:lnTo>
                    <a:pt x="183" y="24"/>
                  </a:lnTo>
                  <a:lnTo>
                    <a:pt x="181" y="24"/>
                  </a:lnTo>
                  <a:lnTo>
                    <a:pt x="181" y="24"/>
                  </a:lnTo>
                  <a:lnTo>
                    <a:pt x="179" y="22"/>
                  </a:lnTo>
                  <a:lnTo>
                    <a:pt x="177" y="22"/>
                  </a:lnTo>
                  <a:lnTo>
                    <a:pt x="177" y="22"/>
                  </a:lnTo>
                  <a:lnTo>
                    <a:pt x="172" y="24"/>
                  </a:lnTo>
                  <a:lnTo>
                    <a:pt x="168" y="26"/>
                  </a:lnTo>
                  <a:lnTo>
                    <a:pt x="168" y="26"/>
                  </a:lnTo>
                  <a:lnTo>
                    <a:pt x="166" y="26"/>
                  </a:lnTo>
                  <a:lnTo>
                    <a:pt x="166" y="28"/>
                  </a:lnTo>
                  <a:lnTo>
                    <a:pt x="164" y="30"/>
                  </a:lnTo>
                  <a:lnTo>
                    <a:pt x="164" y="30"/>
                  </a:lnTo>
                  <a:lnTo>
                    <a:pt x="162" y="30"/>
                  </a:lnTo>
                  <a:lnTo>
                    <a:pt x="160" y="30"/>
                  </a:lnTo>
                  <a:lnTo>
                    <a:pt x="160" y="30"/>
                  </a:lnTo>
                  <a:lnTo>
                    <a:pt x="160" y="30"/>
                  </a:lnTo>
                  <a:lnTo>
                    <a:pt x="160" y="30"/>
                  </a:lnTo>
                  <a:lnTo>
                    <a:pt x="158" y="30"/>
                  </a:lnTo>
                  <a:lnTo>
                    <a:pt x="158" y="28"/>
                  </a:lnTo>
                  <a:lnTo>
                    <a:pt x="157" y="28"/>
                  </a:lnTo>
                  <a:lnTo>
                    <a:pt x="155" y="28"/>
                  </a:lnTo>
                  <a:lnTo>
                    <a:pt x="155" y="28"/>
                  </a:lnTo>
                  <a:lnTo>
                    <a:pt x="155" y="26"/>
                  </a:lnTo>
                  <a:lnTo>
                    <a:pt x="155" y="26"/>
                  </a:lnTo>
                  <a:lnTo>
                    <a:pt x="155" y="26"/>
                  </a:lnTo>
                  <a:lnTo>
                    <a:pt x="153" y="24"/>
                  </a:lnTo>
                  <a:lnTo>
                    <a:pt x="151" y="24"/>
                  </a:lnTo>
                  <a:lnTo>
                    <a:pt x="151" y="24"/>
                  </a:lnTo>
                  <a:lnTo>
                    <a:pt x="151" y="22"/>
                  </a:lnTo>
                  <a:lnTo>
                    <a:pt x="149" y="22"/>
                  </a:lnTo>
                  <a:lnTo>
                    <a:pt x="147" y="15"/>
                  </a:lnTo>
                  <a:lnTo>
                    <a:pt x="147" y="15"/>
                  </a:lnTo>
                  <a:lnTo>
                    <a:pt x="147" y="15"/>
                  </a:lnTo>
                  <a:lnTo>
                    <a:pt x="147" y="15"/>
                  </a:lnTo>
                  <a:lnTo>
                    <a:pt x="145" y="13"/>
                  </a:lnTo>
                  <a:lnTo>
                    <a:pt x="145" y="13"/>
                  </a:lnTo>
                  <a:lnTo>
                    <a:pt x="145" y="13"/>
                  </a:lnTo>
                  <a:lnTo>
                    <a:pt x="143" y="11"/>
                  </a:lnTo>
                  <a:lnTo>
                    <a:pt x="141" y="11"/>
                  </a:lnTo>
                  <a:lnTo>
                    <a:pt x="137" y="11"/>
                  </a:lnTo>
                  <a:lnTo>
                    <a:pt x="136" y="11"/>
                  </a:lnTo>
                  <a:lnTo>
                    <a:pt x="136" y="11"/>
                  </a:lnTo>
                  <a:lnTo>
                    <a:pt x="132" y="9"/>
                  </a:lnTo>
                  <a:lnTo>
                    <a:pt x="126" y="7"/>
                  </a:lnTo>
                  <a:lnTo>
                    <a:pt x="124" y="7"/>
                  </a:lnTo>
                  <a:lnTo>
                    <a:pt x="124" y="7"/>
                  </a:lnTo>
                  <a:lnTo>
                    <a:pt x="122" y="7"/>
                  </a:lnTo>
                  <a:lnTo>
                    <a:pt x="120" y="7"/>
                  </a:lnTo>
                  <a:lnTo>
                    <a:pt x="120" y="7"/>
                  </a:lnTo>
                  <a:lnTo>
                    <a:pt x="118" y="5"/>
                  </a:lnTo>
                  <a:lnTo>
                    <a:pt x="118" y="5"/>
                  </a:lnTo>
                  <a:lnTo>
                    <a:pt x="118" y="5"/>
                  </a:lnTo>
                  <a:lnTo>
                    <a:pt x="116" y="5"/>
                  </a:lnTo>
                  <a:lnTo>
                    <a:pt x="116" y="5"/>
                  </a:lnTo>
                  <a:lnTo>
                    <a:pt x="116" y="7"/>
                  </a:lnTo>
                  <a:lnTo>
                    <a:pt x="116" y="7"/>
                  </a:lnTo>
                  <a:lnTo>
                    <a:pt x="115" y="7"/>
                  </a:lnTo>
                  <a:lnTo>
                    <a:pt x="115" y="7"/>
                  </a:lnTo>
                  <a:lnTo>
                    <a:pt x="115" y="7"/>
                  </a:lnTo>
                  <a:lnTo>
                    <a:pt x="115" y="7"/>
                  </a:lnTo>
                  <a:lnTo>
                    <a:pt x="115" y="9"/>
                  </a:lnTo>
                  <a:lnTo>
                    <a:pt x="113" y="9"/>
                  </a:lnTo>
                  <a:lnTo>
                    <a:pt x="107" y="5"/>
                  </a:lnTo>
                  <a:lnTo>
                    <a:pt x="107" y="5"/>
                  </a:lnTo>
                  <a:lnTo>
                    <a:pt x="107" y="5"/>
                  </a:lnTo>
                  <a:lnTo>
                    <a:pt x="107" y="5"/>
                  </a:lnTo>
                  <a:lnTo>
                    <a:pt x="105" y="3"/>
                  </a:lnTo>
                  <a:lnTo>
                    <a:pt x="105" y="1"/>
                  </a:lnTo>
                  <a:lnTo>
                    <a:pt x="105" y="1"/>
                  </a:lnTo>
                  <a:lnTo>
                    <a:pt x="103" y="1"/>
                  </a:lnTo>
                  <a:lnTo>
                    <a:pt x="99" y="0"/>
                  </a:lnTo>
                  <a:lnTo>
                    <a:pt x="99" y="1"/>
                  </a:lnTo>
                  <a:lnTo>
                    <a:pt x="99" y="3"/>
                  </a:lnTo>
                  <a:lnTo>
                    <a:pt x="103" y="13"/>
                  </a:lnTo>
                  <a:lnTo>
                    <a:pt x="103" y="13"/>
                  </a:lnTo>
                  <a:lnTo>
                    <a:pt x="105" y="13"/>
                  </a:lnTo>
                  <a:lnTo>
                    <a:pt x="105" y="13"/>
                  </a:lnTo>
                  <a:lnTo>
                    <a:pt x="107" y="15"/>
                  </a:lnTo>
                  <a:lnTo>
                    <a:pt x="107" y="15"/>
                  </a:lnTo>
                  <a:lnTo>
                    <a:pt x="107" y="17"/>
                  </a:lnTo>
                  <a:lnTo>
                    <a:pt x="107" y="17"/>
                  </a:lnTo>
                  <a:lnTo>
                    <a:pt x="105" y="19"/>
                  </a:lnTo>
                  <a:lnTo>
                    <a:pt x="105" y="19"/>
                  </a:lnTo>
                  <a:lnTo>
                    <a:pt x="105" y="19"/>
                  </a:lnTo>
                  <a:lnTo>
                    <a:pt x="101" y="21"/>
                  </a:lnTo>
                  <a:lnTo>
                    <a:pt x="101" y="22"/>
                  </a:lnTo>
                  <a:lnTo>
                    <a:pt x="99" y="24"/>
                  </a:lnTo>
                  <a:lnTo>
                    <a:pt x="99" y="26"/>
                  </a:lnTo>
                  <a:lnTo>
                    <a:pt x="97" y="28"/>
                  </a:lnTo>
                  <a:lnTo>
                    <a:pt x="97" y="30"/>
                  </a:lnTo>
                  <a:lnTo>
                    <a:pt x="97" y="32"/>
                  </a:lnTo>
                  <a:lnTo>
                    <a:pt x="97" y="38"/>
                  </a:lnTo>
                  <a:lnTo>
                    <a:pt x="97" y="38"/>
                  </a:lnTo>
                  <a:lnTo>
                    <a:pt x="97" y="40"/>
                  </a:lnTo>
                  <a:lnTo>
                    <a:pt x="97" y="40"/>
                  </a:lnTo>
                  <a:lnTo>
                    <a:pt x="96" y="40"/>
                  </a:lnTo>
                  <a:lnTo>
                    <a:pt x="96" y="41"/>
                  </a:lnTo>
                  <a:lnTo>
                    <a:pt x="92" y="41"/>
                  </a:lnTo>
                  <a:lnTo>
                    <a:pt x="90" y="41"/>
                  </a:lnTo>
                  <a:lnTo>
                    <a:pt x="90" y="41"/>
                  </a:lnTo>
                  <a:lnTo>
                    <a:pt x="88" y="43"/>
                  </a:lnTo>
                  <a:lnTo>
                    <a:pt x="88" y="45"/>
                  </a:lnTo>
                  <a:lnTo>
                    <a:pt x="86" y="47"/>
                  </a:lnTo>
                  <a:lnTo>
                    <a:pt x="86" y="49"/>
                  </a:lnTo>
                  <a:lnTo>
                    <a:pt x="86" y="49"/>
                  </a:lnTo>
                  <a:lnTo>
                    <a:pt x="86" y="49"/>
                  </a:lnTo>
                  <a:lnTo>
                    <a:pt x="86" y="51"/>
                  </a:lnTo>
                  <a:lnTo>
                    <a:pt x="86" y="51"/>
                  </a:lnTo>
                  <a:lnTo>
                    <a:pt x="86" y="57"/>
                  </a:lnTo>
                  <a:lnTo>
                    <a:pt x="86" y="57"/>
                  </a:lnTo>
                  <a:lnTo>
                    <a:pt x="86" y="59"/>
                  </a:lnTo>
                  <a:lnTo>
                    <a:pt x="86" y="60"/>
                  </a:lnTo>
                  <a:lnTo>
                    <a:pt x="84" y="60"/>
                  </a:lnTo>
                  <a:lnTo>
                    <a:pt x="84" y="60"/>
                  </a:lnTo>
                  <a:lnTo>
                    <a:pt x="80" y="60"/>
                  </a:lnTo>
                  <a:lnTo>
                    <a:pt x="80" y="60"/>
                  </a:lnTo>
                  <a:lnTo>
                    <a:pt x="78" y="60"/>
                  </a:lnTo>
                  <a:lnTo>
                    <a:pt x="78" y="60"/>
                  </a:lnTo>
                  <a:lnTo>
                    <a:pt x="78" y="60"/>
                  </a:lnTo>
                  <a:lnTo>
                    <a:pt x="76" y="60"/>
                  </a:lnTo>
                  <a:lnTo>
                    <a:pt x="75" y="60"/>
                  </a:lnTo>
                  <a:lnTo>
                    <a:pt x="75" y="60"/>
                  </a:lnTo>
                  <a:lnTo>
                    <a:pt x="73" y="60"/>
                  </a:lnTo>
                  <a:lnTo>
                    <a:pt x="71" y="59"/>
                  </a:lnTo>
                  <a:lnTo>
                    <a:pt x="71" y="59"/>
                  </a:lnTo>
                  <a:lnTo>
                    <a:pt x="69" y="55"/>
                  </a:lnTo>
                  <a:lnTo>
                    <a:pt x="69" y="55"/>
                  </a:lnTo>
                  <a:lnTo>
                    <a:pt x="67" y="55"/>
                  </a:lnTo>
                  <a:lnTo>
                    <a:pt x="65" y="55"/>
                  </a:lnTo>
                  <a:lnTo>
                    <a:pt x="65" y="55"/>
                  </a:lnTo>
                  <a:lnTo>
                    <a:pt x="63" y="55"/>
                  </a:lnTo>
                  <a:lnTo>
                    <a:pt x="63" y="55"/>
                  </a:lnTo>
                  <a:lnTo>
                    <a:pt x="61" y="55"/>
                  </a:lnTo>
                  <a:lnTo>
                    <a:pt x="61" y="55"/>
                  </a:lnTo>
                  <a:lnTo>
                    <a:pt x="59" y="55"/>
                  </a:lnTo>
                  <a:lnTo>
                    <a:pt x="59" y="55"/>
                  </a:lnTo>
                  <a:lnTo>
                    <a:pt x="59" y="55"/>
                  </a:lnTo>
                  <a:lnTo>
                    <a:pt x="57" y="57"/>
                  </a:lnTo>
                  <a:lnTo>
                    <a:pt x="57" y="57"/>
                  </a:lnTo>
                  <a:lnTo>
                    <a:pt x="57" y="59"/>
                  </a:lnTo>
                  <a:lnTo>
                    <a:pt x="57" y="59"/>
                  </a:lnTo>
                  <a:lnTo>
                    <a:pt x="59" y="59"/>
                  </a:lnTo>
                  <a:lnTo>
                    <a:pt x="59" y="59"/>
                  </a:lnTo>
                  <a:lnTo>
                    <a:pt x="59" y="60"/>
                  </a:lnTo>
                  <a:lnTo>
                    <a:pt x="57" y="62"/>
                  </a:lnTo>
                  <a:lnTo>
                    <a:pt x="56" y="62"/>
                  </a:lnTo>
                  <a:lnTo>
                    <a:pt x="56" y="64"/>
                  </a:lnTo>
                  <a:lnTo>
                    <a:pt x="56" y="68"/>
                  </a:lnTo>
                  <a:lnTo>
                    <a:pt x="54" y="70"/>
                  </a:lnTo>
                  <a:lnTo>
                    <a:pt x="54" y="70"/>
                  </a:lnTo>
                  <a:lnTo>
                    <a:pt x="54" y="72"/>
                  </a:lnTo>
                  <a:lnTo>
                    <a:pt x="54" y="72"/>
                  </a:lnTo>
                  <a:lnTo>
                    <a:pt x="54" y="74"/>
                  </a:lnTo>
                  <a:lnTo>
                    <a:pt x="54" y="74"/>
                  </a:lnTo>
                  <a:lnTo>
                    <a:pt x="54" y="74"/>
                  </a:lnTo>
                  <a:lnTo>
                    <a:pt x="54" y="76"/>
                  </a:lnTo>
                  <a:lnTo>
                    <a:pt x="52" y="76"/>
                  </a:lnTo>
                  <a:lnTo>
                    <a:pt x="52" y="76"/>
                  </a:lnTo>
                  <a:lnTo>
                    <a:pt x="52" y="76"/>
                  </a:lnTo>
                  <a:lnTo>
                    <a:pt x="50" y="78"/>
                  </a:lnTo>
                  <a:lnTo>
                    <a:pt x="48" y="79"/>
                  </a:lnTo>
                  <a:lnTo>
                    <a:pt x="48" y="79"/>
                  </a:lnTo>
                  <a:lnTo>
                    <a:pt x="46" y="81"/>
                  </a:lnTo>
                  <a:lnTo>
                    <a:pt x="46" y="81"/>
                  </a:lnTo>
                  <a:lnTo>
                    <a:pt x="46" y="81"/>
                  </a:lnTo>
                  <a:lnTo>
                    <a:pt x="46" y="83"/>
                  </a:lnTo>
                  <a:lnTo>
                    <a:pt x="48" y="85"/>
                  </a:lnTo>
                  <a:lnTo>
                    <a:pt x="48" y="85"/>
                  </a:lnTo>
                  <a:lnTo>
                    <a:pt x="48" y="87"/>
                  </a:lnTo>
                  <a:lnTo>
                    <a:pt x="48" y="87"/>
                  </a:lnTo>
                  <a:lnTo>
                    <a:pt x="48" y="87"/>
                  </a:lnTo>
                  <a:lnTo>
                    <a:pt x="48" y="87"/>
                  </a:lnTo>
                  <a:lnTo>
                    <a:pt x="48" y="87"/>
                  </a:lnTo>
                  <a:lnTo>
                    <a:pt x="50" y="87"/>
                  </a:lnTo>
                  <a:lnTo>
                    <a:pt x="50" y="87"/>
                  </a:lnTo>
                  <a:lnTo>
                    <a:pt x="52" y="87"/>
                  </a:lnTo>
                  <a:lnTo>
                    <a:pt x="52" y="89"/>
                  </a:lnTo>
                  <a:lnTo>
                    <a:pt x="52" y="89"/>
                  </a:lnTo>
                  <a:lnTo>
                    <a:pt x="52" y="89"/>
                  </a:lnTo>
                  <a:lnTo>
                    <a:pt x="52" y="91"/>
                  </a:lnTo>
                  <a:lnTo>
                    <a:pt x="52" y="91"/>
                  </a:lnTo>
                  <a:lnTo>
                    <a:pt x="52" y="91"/>
                  </a:lnTo>
                  <a:lnTo>
                    <a:pt x="52" y="91"/>
                  </a:lnTo>
                  <a:lnTo>
                    <a:pt x="54" y="91"/>
                  </a:lnTo>
                  <a:lnTo>
                    <a:pt x="54" y="91"/>
                  </a:lnTo>
                  <a:lnTo>
                    <a:pt x="54" y="91"/>
                  </a:lnTo>
                  <a:lnTo>
                    <a:pt x="54" y="93"/>
                  </a:lnTo>
                  <a:lnTo>
                    <a:pt x="54" y="93"/>
                  </a:lnTo>
                  <a:lnTo>
                    <a:pt x="54" y="95"/>
                  </a:lnTo>
                  <a:lnTo>
                    <a:pt x="56" y="95"/>
                  </a:lnTo>
                  <a:lnTo>
                    <a:pt x="56" y="97"/>
                  </a:lnTo>
                  <a:lnTo>
                    <a:pt x="59" y="98"/>
                  </a:lnTo>
                  <a:lnTo>
                    <a:pt x="61" y="100"/>
                  </a:lnTo>
                  <a:lnTo>
                    <a:pt x="61" y="100"/>
                  </a:lnTo>
                  <a:lnTo>
                    <a:pt x="61" y="100"/>
                  </a:lnTo>
                  <a:lnTo>
                    <a:pt x="61" y="102"/>
                  </a:lnTo>
                  <a:lnTo>
                    <a:pt x="61" y="102"/>
                  </a:lnTo>
                  <a:lnTo>
                    <a:pt x="59" y="102"/>
                  </a:lnTo>
                  <a:lnTo>
                    <a:pt x="57" y="102"/>
                  </a:lnTo>
                  <a:lnTo>
                    <a:pt x="57" y="104"/>
                  </a:lnTo>
                  <a:lnTo>
                    <a:pt x="56" y="104"/>
                  </a:lnTo>
                  <a:lnTo>
                    <a:pt x="54" y="104"/>
                  </a:lnTo>
                  <a:lnTo>
                    <a:pt x="54" y="106"/>
                  </a:lnTo>
                  <a:lnTo>
                    <a:pt x="52" y="108"/>
                  </a:lnTo>
                  <a:lnTo>
                    <a:pt x="50" y="114"/>
                  </a:lnTo>
                  <a:lnTo>
                    <a:pt x="50" y="116"/>
                  </a:lnTo>
                  <a:lnTo>
                    <a:pt x="48" y="116"/>
                  </a:lnTo>
                  <a:lnTo>
                    <a:pt x="48" y="116"/>
                  </a:lnTo>
                  <a:lnTo>
                    <a:pt x="46" y="116"/>
                  </a:lnTo>
                  <a:lnTo>
                    <a:pt x="44" y="116"/>
                  </a:lnTo>
                  <a:lnTo>
                    <a:pt x="44" y="116"/>
                  </a:lnTo>
                  <a:lnTo>
                    <a:pt x="42" y="116"/>
                  </a:lnTo>
                  <a:lnTo>
                    <a:pt x="42" y="118"/>
                  </a:lnTo>
                  <a:lnTo>
                    <a:pt x="42" y="119"/>
                  </a:lnTo>
                  <a:lnTo>
                    <a:pt x="42" y="119"/>
                  </a:lnTo>
                  <a:lnTo>
                    <a:pt x="42" y="119"/>
                  </a:lnTo>
                  <a:lnTo>
                    <a:pt x="42" y="121"/>
                  </a:lnTo>
                  <a:lnTo>
                    <a:pt x="42" y="123"/>
                  </a:lnTo>
                  <a:lnTo>
                    <a:pt x="42" y="125"/>
                  </a:lnTo>
                  <a:lnTo>
                    <a:pt x="40" y="127"/>
                  </a:lnTo>
                  <a:lnTo>
                    <a:pt x="40" y="127"/>
                  </a:lnTo>
                  <a:lnTo>
                    <a:pt x="40" y="129"/>
                  </a:lnTo>
                  <a:lnTo>
                    <a:pt x="38" y="129"/>
                  </a:lnTo>
                  <a:lnTo>
                    <a:pt x="38" y="129"/>
                  </a:lnTo>
                  <a:lnTo>
                    <a:pt x="35" y="129"/>
                  </a:lnTo>
                  <a:lnTo>
                    <a:pt x="33" y="129"/>
                  </a:lnTo>
                  <a:lnTo>
                    <a:pt x="33" y="129"/>
                  </a:lnTo>
                  <a:lnTo>
                    <a:pt x="31" y="131"/>
                  </a:lnTo>
                  <a:lnTo>
                    <a:pt x="31" y="131"/>
                  </a:lnTo>
                  <a:lnTo>
                    <a:pt x="31" y="133"/>
                  </a:lnTo>
                  <a:lnTo>
                    <a:pt x="31" y="133"/>
                  </a:lnTo>
                  <a:lnTo>
                    <a:pt x="29" y="135"/>
                  </a:lnTo>
                  <a:lnTo>
                    <a:pt x="29" y="135"/>
                  </a:lnTo>
                  <a:lnTo>
                    <a:pt x="29" y="137"/>
                  </a:lnTo>
                  <a:lnTo>
                    <a:pt x="29" y="137"/>
                  </a:lnTo>
                  <a:lnTo>
                    <a:pt x="29" y="137"/>
                  </a:lnTo>
                  <a:lnTo>
                    <a:pt x="29" y="138"/>
                  </a:lnTo>
                  <a:lnTo>
                    <a:pt x="27" y="138"/>
                  </a:lnTo>
                  <a:lnTo>
                    <a:pt x="27" y="140"/>
                  </a:lnTo>
                  <a:lnTo>
                    <a:pt x="27" y="142"/>
                  </a:lnTo>
                  <a:lnTo>
                    <a:pt x="27" y="142"/>
                  </a:lnTo>
                  <a:lnTo>
                    <a:pt x="25" y="144"/>
                  </a:lnTo>
                  <a:lnTo>
                    <a:pt x="25" y="144"/>
                  </a:lnTo>
                  <a:lnTo>
                    <a:pt x="23" y="146"/>
                  </a:lnTo>
                  <a:lnTo>
                    <a:pt x="23" y="146"/>
                  </a:lnTo>
                  <a:lnTo>
                    <a:pt x="23" y="146"/>
                  </a:lnTo>
                  <a:lnTo>
                    <a:pt x="27" y="150"/>
                  </a:lnTo>
                  <a:lnTo>
                    <a:pt x="29" y="150"/>
                  </a:lnTo>
                  <a:lnTo>
                    <a:pt x="29" y="150"/>
                  </a:lnTo>
                  <a:lnTo>
                    <a:pt x="29" y="152"/>
                  </a:lnTo>
                  <a:lnTo>
                    <a:pt x="27" y="154"/>
                  </a:lnTo>
                  <a:lnTo>
                    <a:pt x="31" y="156"/>
                  </a:lnTo>
                  <a:lnTo>
                    <a:pt x="31" y="156"/>
                  </a:lnTo>
                  <a:lnTo>
                    <a:pt x="31" y="157"/>
                  </a:lnTo>
                  <a:lnTo>
                    <a:pt x="31" y="157"/>
                  </a:lnTo>
                  <a:lnTo>
                    <a:pt x="29" y="159"/>
                  </a:lnTo>
                  <a:lnTo>
                    <a:pt x="29" y="161"/>
                  </a:lnTo>
                  <a:lnTo>
                    <a:pt x="29" y="161"/>
                  </a:lnTo>
                  <a:lnTo>
                    <a:pt x="31" y="167"/>
                  </a:lnTo>
                  <a:lnTo>
                    <a:pt x="33" y="171"/>
                  </a:lnTo>
                  <a:lnTo>
                    <a:pt x="33" y="173"/>
                  </a:lnTo>
                  <a:lnTo>
                    <a:pt x="33" y="173"/>
                  </a:lnTo>
                  <a:lnTo>
                    <a:pt x="31" y="173"/>
                  </a:lnTo>
                  <a:lnTo>
                    <a:pt x="31" y="173"/>
                  </a:lnTo>
                  <a:lnTo>
                    <a:pt x="29" y="173"/>
                  </a:lnTo>
                  <a:lnTo>
                    <a:pt x="29" y="175"/>
                  </a:lnTo>
                  <a:lnTo>
                    <a:pt x="29" y="175"/>
                  </a:lnTo>
                  <a:lnTo>
                    <a:pt x="29" y="175"/>
                  </a:lnTo>
                  <a:lnTo>
                    <a:pt x="29" y="176"/>
                  </a:lnTo>
                  <a:lnTo>
                    <a:pt x="29" y="176"/>
                  </a:lnTo>
                  <a:lnTo>
                    <a:pt x="33" y="178"/>
                  </a:lnTo>
                  <a:lnTo>
                    <a:pt x="33" y="180"/>
                  </a:lnTo>
                  <a:lnTo>
                    <a:pt x="33" y="182"/>
                  </a:lnTo>
                  <a:lnTo>
                    <a:pt x="35" y="184"/>
                  </a:lnTo>
                  <a:lnTo>
                    <a:pt x="35" y="188"/>
                  </a:lnTo>
                  <a:lnTo>
                    <a:pt x="35" y="190"/>
                  </a:lnTo>
                  <a:lnTo>
                    <a:pt x="35" y="190"/>
                  </a:lnTo>
                  <a:lnTo>
                    <a:pt x="35" y="190"/>
                  </a:lnTo>
                  <a:lnTo>
                    <a:pt x="29" y="195"/>
                  </a:lnTo>
                  <a:lnTo>
                    <a:pt x="27" y="197"/>
                  </a:lnTo>
                  <a:lnTo>
                    <a:pt x="27" y="197"/>
                  </a:lnTo>
                  <a:lnTo>
                    <a:pt x="25" y="197"/>
                  </a:lnTo>
                  <a:lnTo>
                    <a:pt x="25" y="197"/>
                  </a:lnTo>
                  <a:lnTo>
                    <a:pt x="25" y="199"/>
                  </a:lnTo>
                  <a:lnTo>
                    <a:pt x="23" y="199"/>
                  </a:lnTo>
                  <a:lnTo>
                    <a:pt x="23" y="201"/>
                  </a:lnTo>
                  <a:lnTo>
                    <a:pt x="23" y="201"/>
                  </a:lnTo>
                  <a:lnTo>
                    <a:pt x="23" y="201"/>
                  </a:lnTo>
                  <a:lnTo>
                    <a:pt x="23" y="201"/>
                  </a:lnTo>
                  <a:lnTo>
                    <a:pt x="23" y="203"/>
                  </a:lnTo>
                  <a:lnTo>
                    <a:pt x="25" y="203"/>
                  </a:lnTo>
                  <a:lnTo>
                    <a:pt x="25" y="205"/>
                  </a:lnTo>
                  <a:lnTo>
                    <a:pt x="25" y="205"/>
                  </a:lnTo>
                  <a:lnTo>
                    <a:pt x="27" y="207"/>
                  </a:lnTo>
                  <a:lnTo>
                    <a:pt x="25" y="207"/>
                  </a:lnTo>
                  <a:lnTo>
                    <a:pt x="25" y="209"/>
                  </a:lnTo>
                  <a:lnTo>
                    <a:pt x="25" y="209"/>
                  </a:lnTo>
                  <a:lnTo>
                    <a:pt x="21" y="211"/>
                  </a:lnTo>
                  <a:lnTo>
                    <a:pt x="21" y="211"/>
                  </a:lnTo>
                  <a:lnTo>
                    <a:pt x="19" y="211"/>
                  </a:lnTo>
                  <a:lnTo>
                    <a:pt x="19" y="213"/>
                  </a:lnTo>
                  <a:lnTo>
                    <a:pt x="16" y="216"/>
                  </a:lnTo>
                  <a:lnTo>
                    <a:pt x="16" y="218"/>
                  </a:lnTo>
                  <a:lnTo>
                    <a:pt x="16" y="220"/>
                  </a:lnTo>
                  <a:lnTo>
                    <a:pt x="19" y="222"/>
                  </a:lnTo>
                  <a:lnTo>
                    <a:pt x="19" y="222"/>
                  </a:lnTo>
                  <a:lnTo>
                    <a:pt x="21" y="224"/>
                  </a:lnTo>
                  <a:lnTo>
                    <a:pt x="23" y="224"/>
                  </a:lnTo>
                  <a:lnTo>
                    <a:pt x="23" y="224"/>
                  </a:lnTo>
                  <a:lnTo>
                    <a:pt x="25" y="224"/>
                  </a:lnTo>
                  <a:lnTo>
                    <a:pt x="27" y="224"/>
                  </a:lnTo>
                  <a:lnTo>
                    <a:pt x="27" y="224"/>
                  </a:lnTo>
                  <a:lnTo>
                    <a:pt x="31" y="224"/>
                  </a:lnTo>
                  <a:lnTo>
                    <a:pt x="31" y="226"/>
                  </a:lnTo>
                  <a:lnTo>
                    <a:pt x="31" y="228"/>
                  </a:lnTo>
                  <a:lnTo>
                    <a:pt x="33" y="228"/>
                  </a:lnTo>
                  <a:lnTo>
                    <a:pt x="33" y="228"/>
                  </a:lnTo>
                  <a:lnTo>
                    <a:pt x="35" y="226"/>
                  </a:lnTo>
                  <a:lnTo>
                    <a:pt x="36" y="226"/>
                  </a:lnTo>
                  <a:lnTo>
                    <a:pt x="36" y="224"/>
                  </a:lnTo>
                  <a:lnTo>
                    <a:pt x="38" y="224"/>
                  </a:lnTo>
                  <a:lnTo>
                    <a:pt x="40" y="224"/>
                  </a:lnTo>
                  <a:lnTo>
                    <a:pt x="40" y="226"/>
                  </a:lnTo>
                  <a:lnTo>
                    <a:pt x="40" y="226"/>
                  </a:lnTo>
                  <a:lnTo>
                    <a:pt x="36" y="232"/>
                  </a:lnTo>
                  <a:lnTo>
                    <a:pt x="36" y="232"/>
                  </a:lnTo>
                  <a:lnTo>
                    <a:pt x="36" y="232"/>
                  </a:lnTo>
                  <a:lnTo>
                    <a:pt x="33" y="234"/>
                  </a:lnTo>
                  <a:lnTo>
                    <a:pt x="31" y="234"/>
                  </a:lnTo>
                  <a:lnTo>
                    <a:pt x="31" y="235"/>
                  </a:lnTo>
                  <a:lnTo>
                    <a:pt x="31" y="235"/>
                  </a:lnTo>
                  <a:lnTo>
                    <a:pt x="29" y="237"/>
                  </a:lnTo>
                  <a:lnTo>
                    <a:pt x="29" y="237"/>
                  </a:lnTo>
                  <a:lnTo>
                    <a:pt x="27" y="237"/>
                  </a:lnTo>
                  <a:lnTo>
                    <a:pt x="27" y="237"/>
                  </a:lnTo>
                  <a:lnTo>
                    <a:pt x="25" y="239"/>
                  </a:lnTo>
                  <a:lnTo>
                    <a:pt x="25" y="239"/>
                  </a:lnTo>
                  <a:lnTo>
                    <a:pt x="23" y="241"/>
                  </a:lnTo>
                  <a:lnTo>
                    <a:pt x="23" y="243"/>
                  </a:lnTo>
                  <a:lnTo>
                    <a:pt x="12" y="258"/>
                  </a:lnTo>
                  <a:lnTo>
                    <a:pt x="10" y="262"/>
                  </a:lnTo>
                  <a:lnTo>
                    <a:pt x="10" y="262"/>
                  </a:lnTo>
                  <a:lnTo>
                    <a:pt x="12" y="264"/>
                  </a:lnTo>
                  <a:lnTo>
                    <a:pt x="12" y="264"/>
                  </a:lnTo>
                  <a:lnTo>
                    <a:pt x="12" y="264"/>
                  </a:lnTo>
                  <a:lnTo>
                    <a:pt x="14" y="266"/>
                  </a:lnTo>
                  <a:lnTo>
                    <a:pt x="16" y="266"/>
                  </a:lnTo>
                  <a:lnTo>
                    <a:pt x="16" y="266"/>
                  </a:lnTo>
                  <a:lnTo>
                    <a:pt x="16" y="268"/>
                  </a:lnTo>
                  <a:lnTo>
                    <a:pt x="17" y="272"/>
                  </a:lnTo>
                  <a:lnTo>
                    <a:pt x="17" y="272"/>
                  </a:lnTo>
                  <a:lnTo>
                    <a:pt x="19" y="275"/>
                  </a:lnTo>
                  <a:lnTo>
                    <a:pt x="19" y="277"/>
                  </a:lnTo>
                  <a:lnTo>
                    <a:pt x="19" y="279"/>
                  </a:lnTo>
                  <a:lnTo>
                    <a:pt x="19" y="281"/>
                  </a:lnTo>
                  <a:lnTo>
                    <a:pt x="17" y="283"/>
                  </a:lnTo>
                  <a:lnTo>
                    <a:pt x="17" y="285"/>
                  </a:lnTo>
                  <a:lnTo>
                    <a:pt x="17" y="287"/>
                  </a:lnTo>
                  <a:lnTo>
                    <a:pt x="17" y="298"/>
                  </a:lnTo>
                  <a:lnTo>
                    <a:pt x="17" y="300"/>
                  </a:lnTo>
                  <a:lnTo>
                    <a:pt x="16" y="300"/>
                  </a:lnTo>
                  <a:lnTo>
                    <a:pt x="16" y="300"/>
                  </a:lnTo>
                  <a:lnTo>
                    <a:pt x="16" y="302"/>
                  </a:lnTo>
                  <a:lnTo>
                    <a:pt x="16" y="306"/>
                  </a:lnTo>
                  <a:lnTo>
                    <a:pt x="16" y="306"/>
                  </a:lnTo>
                  <a:lnTo>
                    <a:pt x="16" y="308"/>
                  </a:lnTo>
                  <a:lnTo>
                    <a:pt x="16" y="308"/>
                  </a:lnTo>
                  <a:lnTo>
                    <a:pt x="17" y="308"/>
                  </a:lnTo>
                  <a:lnTo>
                    <a:pt x="17" y="310"/>
                  </a:lnTo>
                  <a:lnTo>
                    <a:pt x="17" y="310"/>
                  </a:lnTo>
                  <a:lnTo>
                    <a:pt x="17" y="310"/>
                  </a:lnTo>
                  <a:lnTo>
                    <a:pt x="16" y="312"/>
                  </a:lnTo>
                  <a:lnTo>
                    <a:pt x="16" y="312"/>
                  </a:lnTo>
                  <a:lnTo>
                    <a:pt x="16" y="313"/>
                  </a:lnTo>
                  <a:lnTo>
                    <a:pt x="16" y="313"/>
                  </a:lnTo>
                  <a:lnTo>
                    <a:pt x="16" y="313"/>
                  </a:lnTo>
                  <a:lnTo>
                    <a:pt x="16" y="313"/>
                  </a:lnTo>
                  <a:lnTo>
                    <a:pt x="17" y="313"/>
                  </a:lnTo>
                  <a:lnTo>
                    <a:pt x="17" y="313"/>
                  </a:lnTo>
                  <a:lnTo>
                    <a:pt x="17" y="313"/>
                  </a:lnTo>
                  <a:lnTo>
                    <a:pt x="17" y="315"/>
                  </a:lnTo>
                  <a:lnTo>
                    <a:pt x="17" y="315"/>
                  </a:lnTo>
                  <a:lnTo>
                    <a:pt x="17" y="317"/>
                  </a:lnTo>
                  <a:lnTo>
                    <a:pt x="17" y="317"/>
                  </a:lnTo>
                  <a:lnTo>
                    <a:pt x="17" y="319"/>
                  </a:lnTo>
                  <a:lnTo>
                    <a:pt x="16" y="319"/>
                  </a:lnTo>
                  <a:lnTo>
                    <a:pt x="16" y="321"/>
                  </a:lnTo>
                  <a:lnTo>
                    <a:pt x="14" y="321"/>
                  </a:lnTo>
                  <a:lnTo>
                    <a:pt x="14" y="321"/>
                  </a:lnTo>
                  <a:lnTo>
                    <a:pt x="12" y="323"/>
                  </a:lnTo>
                  <a:lnTo>
                    <a:pt x="12" y="325"/>
                  </a:lnTo>
                  <a:lnTo>
                    <a:pt x="12" y="325"/>
                  </a:lnTo>
                  <a:lnTo>
                    <a:pt x="12" y="327"/>
                  </a:lnTo>
                  <a:lnTo>
                    <a:pt x="8" y="327"/>
                  </a:lnTo>
                  <a:lnTo>
                    <a:pt x="6" y="329"/>
                  </a:lnTo>
                  <a:lnTo>
                    <a:pt x="2" y="332"/>
                  </a:lnTo>
                  <a:lnTo>
                    <a:pt x="0" y="332"/>
                  </a:lnTo>
                  <a:lnTo>
                    <a:pt x="0" y="332"/>
                  </a:lnTo>
                  <a:lnTo>
                    <a:pt x="4" y="336"/>
                  </a:lnTo>
                  <a:lnTo>
                    <a:pt x="4" y="336"/>
                  </a:lnTo>
                  <a:lnTo>
                    <a:pt x="14" y="340"/>
                  </a:lnTo>
                  <a:lnTo>
                    <a:pt x="16" y="340"/>
                  </a:lnTo>
                  <a:lnTo>
                    <a:pt x="21" y="340"/>
                  </a:lnTo>
                  <a:lnTo>
                    <a:pt x="23" y="340"/>
                  </a:lnTo>
                  <a:lnTo>
                    <a:pt x="27" y="342"/>
                  </a:lnTo>
                  <a:lnTo>
                    <a:pt x="27" y="342"/>
                  </a:lnTo>
                  <a:lnTo>
                    <a:pt x="27" y="344"/>
                  </a:lnTo>
                  <a:lnTo>
                    <a:pt x="29" y="344"/>
                  </a:lnTo>
                  <a:lnTo>
                    <a:pt x="27" y="346"/>
                  </a:lnTo>
                  <a:lnTo>
                    <a:pt x="27" y="346"/>
                  </a:lnTo>
                  <a:lnTo>
                    <a:pt x="27" y="348"/>
                  </a:lnTo>
                  <a:lnTo>
                    <a:pt x="25" y="348"/>
                  </a:lnTo>
                  <a:lnTo>
                    <a:pt x="23" y="350"/>
                  </a:lnTo>
                  <a:lnTo>
                    <a:pt x="23" y="350"/>
                  </a:lnTo>
                  <a:lnTo>
                    <a:pt x="23" y="351"/>
                  </a:lnTo>
                  <a:lnTo>
                    <a:pt x="21" y="351"/>
                  </a:lnTo>
                  <a:lnTo>
                    <a:pt x="21" y="355"/>
                  </a:lnTo>
                  <a:lnTo>
                    <a:pt x="21" y="355"/>
                  </a:lnTo>
                  <a:lnTo>
                    <a:pt x="21" y="357"/>
                  </a:lnTo>
                  <a:lnTo>
                    <a:pt x="21" y="359"/>
                  </a:lnTo>
                  <a:lnTo>
                    <a:pt x="21" y="361"/>
                  </a:lnTo>
                  <a:lnTo>
                    <a:pt x="21" y="365"/>
                  </a:lnTo>
                  <a:lnTo>
                    <a:pt x="21" y="367"/>
                  </a:lnTo>
                  <a:lnTo>
                    <a:pt x="21" y="370"/>
                  </a:lnTo>
                  <a:lnTo>
                    <a:pt x="21" y="372"/>
                  </a:lnTo>
                  <a:lnTo>
                    <a:pt x="21" y="376"/>
                  </a:lnTo>
                  <a:lnTo>
                    <a:pt x="21" y="376"/>
                  </a:lnTo>
                  <a:lnTo>
                    <a:pt x="21" y="378"/>
                  </a:lnTo>
                  <a:lnTo>
                    <a:pt x="19" y="380"/>
                  </a:lnTo>
                  <a:lnTo>
                    <a:pt x="17" y="380"/>
                  </a:lnTo>
                  <a:lnTo>
                    <a:pt x="17" y="380"/>
                  </a:lnTo>
                  <a:lnTo>
                    <a:pt x="21" y="384"/>
                  </a:lnTo>
                  <a:lnTo>
                    <a:pt x="27" y="384"/>
                  </a:lnTo>
                  <a:lnTo>
                    <a:pt x="29" y="386"/>
                  </a:lnTo>
                  <a:lnTo>
                    <a:pt x="31" y="386"/>
                  </a:lnTo>
                  <a:lnTo>
                    <a:pt x="31" y="386"/>
                  </a:lnTo>
                  <a:lnTo>
                    <a:pt x="33" y="386"/>
                  </a:lnTo>
                  <a:lnTo>
                    <a:pt x="33" y="384"/>
                  </a:lnTo>
                  <a:lnTo>
                    <a:pt x="33" y="386"/>
                  </a:lnTo>
                  <a:lnTo>
                    <a:pt x="35" y="386"/>
                  </a:lnTo>
                  <a:lnTo>
                    <a:pt x="35" y="386"/>
                  </a:lnTo>
                  <a:lnTo>
                    <a:pt x="35" y="386"/>
                  </a:lnTo>
                  <a:lnTo>
                    <a:pt x="36" y="388"/>
                  </a:lnTo>
                  <a:lnTo>
                    <a:pt x="36" y="388"/>
                  </a:lnTo>
                  <a:lnTo>
                    <a:pt x="38" y="388"/>
                  </a:lnTo>
                  <a:lnTo>
                    <a:pt x="40" y="388"/>
                  </a:lnTo>
                  <a:lnTo>
                    <a:pt x="40" y="388"/>
                  </a:lnTo>
                  <a:lnTo>
                    <a:pt x="42" y="388"/>
                  </a:lnTo>
                  <a:lnTo>
                    <a:pt x="42" y="388"/>
                  </a:lnTo>
                  <a:lnTo>
                    <a:pt x="42" y="388"/>
                  </a:lnTo>
                  <a:lnTo>
                    <a:pt x="44" y="388"/>
                  </a:lnTo>
                  <a:lnTo>
                    <a:pt x="44" y="388"/>
                  </a:lnTo>
                  <a:lnTo>
                    <a:pt x="46" y="388"/>
                  </a:lnTo>
                  <a:lnTo>
                    <a:pt x="46" y="388"/>
                  </a:lnTo>
                  <a:lnTo>
                    <a:pt x="48" y="388"/>
                  </a:lnTo>
                  <a:lnTo>
                    <a:pt x="48" y="388"/>
                  </a:lnTo>
                  <a:lnTo>
                    <a:pt x="48" y="389"/>
                  </a:lnTo>
                  <a:lnTo>
                    <a:pt x="50" y="389"/>
                  </a:lnTo>
                  <a:lnTo>
                    <a:pt x="50" y="389"/>
                  </a:lnTo>
                  <a:lnTo>
                    <a:pt x="52" y="389"/>
                  </a:lnTo>
                  <a:lnTo>
                    <a:pt x="52" y="389"/>
                  </a:lnTo>
                  <a:lnTo>
                    <a:pt x="54" y="388"/>
                  </a:lnTo>
                  <a:lnTo>
                    <a:pt x="54" y="388"/>
                  </a:lnTo>
                  <a:lnTo>
                    <a:pt x="54" y="388"/>
                  </a:lnTo>
                  <a:lnTo>
                    <a:pt x="56" y="388"/>
                  </a:lnTo>
                  <a:lnTo>
                    <a:pt x="56" y="388"/>
                  </a:lnTo>
                  <a:lnTo>
                    <a:pt x="57" y="386"/>
                  </a:lnTo>
                  <a:lnTo>
                    <a:pt x="57" y="386"/>
                  </a:lnTo>
                  <a:lnTo>
                    <a:pt x="59" y="386"/>
                  </a:lnTo>
                  <a:lnTo>
                    <a:pt x="61" y="388"/>
                  </a:lnTo>
                  <a:lnTo>
                    <a:pt x="63" y="388"/>
                  </a:lnTo>
                  <a:lnTo>
                    <a:pt x="63" y="388"/>
                  </a:lnTo>
                  <a:lnTo>
                    <a:pt x="65" y="388"/>
                  </a:lnTo>
                  <a:lnTo>
                    <a:pt x="67" y="388"/>
                  </a:lnTo>
                  <a:lnTo>
                    <a:pt x="69" y="389"/>
                  </a:lnTo>
                  <a:lnTo>
                    <a:pt x="69" y="389"/>
                  </a:lnTo>
                  <a:lnTo>
                    <a:pt x="71" y="388"/>
                  </a:lnTo>
                  <a:lnTo>
                    <a:pt x="71" y="388"/>
                  </a:lnTo>
                  <a:lnTo>
                    <a:pt x="71" y="386"/>
                  </a:lnTo>
                  <a:lnTo>
                    <a:pt x="71" y="386"/>
                  </a:lnTo>
                  <a:lnTo>
                    <a:pt x="73" y="386"/>
                  </a:lnTo>
                  <a:lnTo>
                    <a:pt x="73" y="386"/>
                  </a:lnTo>
                  <a:lnTo>
                    <a:pt x="73" y="386"/>
                  </a:lnTo>
                  <a:lnTo>
                    <a:pt x="73" y="388"/>
                  </a:lnTo>
                  <a:lnTo>
                    <a:pt x="75" y="389"/>
                  </a:lnTo>
                  <a:lnTo>
                    <a:pt x="75" y="391"/>
                  </a:lnTo>
                  <a:lnTo>
                    <a:pt x="75" y="391"/>
                  </a:lnTo>
                  <a:lnTo>
                    <a:pt x="78" y="393"/>
                  </a:lnTo>
                  <a:lnTo>
                    <a:pt x="78" y="393"/>
                  </a:lnTo>
                  <a:lnTo>
                    <a:pt x="80" y="393"/>
                  </a:lnTo>
                  <a:lnTo>
                    <a:pt x="80" y="391"/>
                  </a:lnTo>
                  <a:lnTo>
                    <a:pt x="80" y="391"/>
                  </a:lnTo>
                  <a:lnTo>
                    <a:pt x="82" y="391"/>
                  </a:lnTo>
                  <a:lnTo>
                    <a:pt x="82" y="391"/>
                  </a:lnTo>
                  <a:lnTo>
                    <a:pt x="82" y="391"/>
                  </a:lnTo>
                  <a:lnTo>
                    <a:pt x="84" y="391"/>
                  </a:lnTo>
                  <a:lnTo>
                    <a:pt x="84" y="389"/>
                  </a:lnTo>
                  <a:lnTo>
                    <a:pt x="84" y="389"/>
                  </a:lnTo>
                  <a:lnTo>
                    <a:pt x="86" y="388"/>
                  </a:lnTo>
                  <a:lnTo>
                    <a:pt x="86" y="388"/>
                  </a:lnTo>
                  <a:lnTo>
                    <a:pt x="86" y="388"/>
                  </a:lnTo>
                  <a:lnTo>
                    <a:pt x="86" y="386"/>
                  </a:lnTo>
                  <a:lnTo>
                    <a:pt x="86" y="386"/>
                  </a:lnTo>
                  <a:lnTo>
                    <a:pt x="88" y="384"/>
                  </a:lnTo>
                  <a:lnTo>
                    <a:pt x="88" y="384"/>
                  </a:lnTo>
                  <a:lnTo>
                    <a:pt x="90" y="384"/>
                  </a:lnTo>
                  <a:lnTo>
                    <a:pt x="92" y="384"/>
                  </a:lnTo>
                  <a:lnTo>
                    <a:pt x="92" y="382"/>
                  </a:lnTo>
                  <a:lnTo>
                    <a:pt x="92" y="382"/>
                  </a:lnTo>
                  <a:lnTo>
                    <a:pt x="92" y="380"/>
                  </a:lnTo>
                  <a:lnTo>
                    <a:pt x="92" y="380"/>
                  </a:lnTo>
                  <a:lnTo>
                    <a:pt x="92" y="378"/>
                  </a:lnTo>
                  <a:lnTo>
                    <a:pt x="92" y="378"/>
                  </a:lnTo>
                  <a:lnTo>
                    <a:pt x="94" y="376"/>
                  </a:lnTo>
                  <a:lnTo>
                    <a:pt x="94" y="376"/>
                  </a:lnTo>
                  <a:lnTo>
                    <a:pt x="92" y="374"/>
                  </a:lnTo>
                  <a:lnTo>
                    <a:pt x="94" y="372"/>
                  </a:lnTo>
                  <a:lnTo>
                    <a:pt x="94" y="372"/>
                  </a:lnTo>
                  <a:lnTo>
                    <a:pt x="96" y="372"/>
                  </a:lnTo>
                  <a:lnTo>
                    <a:pt x="96" y="374"/>
                  </a:lnTo>
                  <a:lnTo>
                    <a:pt x="97" y="374"/>
                  </a:lnTo>
                  <a:lnTo>
                    <a:pt x="99" y="372"/>
                  </a:lnTo>
                  <a:lnTo>
                    <a:pt x="99" y="372"/>
                  </a:lnTo>
                  <a:lnTo>
                    <a:pt x="101" y="370"/>
                  </a:lnTo>
                  <a:lnTo>
                    <a:pt x="101" y="370"/>
                  </a:lnTo>
                  <a:lnTo>
                    <a:pt x="103" y="370"/>
                  </a:lnTo>
                  <a:lnTo>
                    <a:pt x="105" y="369"/>
                  </a:lnTo>
                  <a:lnTo>
                    <a:pt x="107" y="369"/>
                  </a:lnTo>
                  <a:lnTo>
                    <a:pt x="109" y="369"/>
                  </a:lnTo>
                  <a:lnTo>
                    <a:pt x="111" y="369"/>
                  </a:lnTo>
                  <a:lnTo>
                    <a:pt x="115" y="369"/>
                  </a:lnTo>
                  <a:lnTo>
                    <a:pt x="116" y="370"/>
                  </a:lnTo>
                  <a:lnTo>
                    <a:pt x="118" y="370"/>
                  </a:lnTo>
                  <a:lnTo>
                    <a:pt x="120" y="370"/>
                  </a:lnTo>
                  <a:lnTo>
                    <a:pt x="120" y="370"/>
                  </a:lnTo>
                  <a:lnTo>
                    <a:pt x="122" y="370"/>
                  </a:lnTo>
                  <a:lnTo>
                    <a:pt x="122" y="369"/>
                  </a:lnTo>
                  <a:lnTo>
                    <a:pt x="124" y="369"/>
                  </a:lnTo>
                  <a:lnTo>
                    <a:pt x="124" y="367"/>
                  </a:lnTo>
                  <a:lnTo>
                    <a:pt x="126" y="367"/>
                  </a:lnTo>
                  <a:lnTo>
                    <a:pt x="128" y="367"/>
                  </a:lnTo>
                  <a:lnTo>
                    <a:pt x="130" y="369"/>
                  </a:lnTo>
                  <a:lnTo>
                    <a:pt x="130" y="369"/>
                  </a:lnTo>
                  <a:lnTo>
                    <a:pt x="132" y="370"/>
                  </a:lnTo>
                  <a:lnTo>
                    <a:pt x="132" y="372"/>
                  </a:lnTo>
                  <a:lnTo>
                    <a:pt x="132" y="372"/>
                  </a:lnTo>
                  <a:lnTo>
                    <a:pt x="136" y="374"/>
                  </a:lnTo>
                  <a:lnTo>
                    <a:pt x="136" y="374"/>
                  </a:lnTo>
                  <a:lnTo>
                    <a:pt x="137" y="374"/>
                  </a:lnTo>
                  <a:lnTo>
                    <a:pt x="139" y="374"/>
                  </a:lnTo>
                  <a:lnTo>
                    <a:pt x="141" y="374"/>
                  </a:lnTo>
                  <a:lnTo>
                    <a:pt x="141" y="372"/>
                  </a:lnTo>
                  <a:lnTo>
                    <a:pt x="143" y="372"/>
                  </a:lnTo>
                  <a:lnTo>
                    <a:pt x="145" y="370"/>
                  </a:lnTo>
                  <a:lnTo>
                    <a:pt x="145" y="370"/>
                  </a:lnTo>
                  <a:lnTo>
                    <a:pt x="147" y="369"/>
                  </a:lnTo>
                  <a:lnTo>
                    <a:pt x="147" y="367"/>
                  </a:lnTo>
                  <a:lnTo>
                    <a:pt x="147" y="367"/>
                  </a:lnTo>
                  <a:lnTo>
                    <a:pt x="147" y="365"/>
                  </a:lnTo>
                  <a:lnTo>
                    <a:pt x="147" y="365"/>
                  </a:lnTo>
                  <a:lnTo>
                    <a:pt x="145" y="363"/>
                  </a:lnTo>
                  <a:lnTo>
                    <a:pt x="145" y="363"/>
                  </a:lnTo>
                  <a:lnTo>
                    <a:pt x="145" y="361"/>
                  </a:lnTo>
                  <a:lnTo>
                    <a:pt x="147" y="361"/>
                  </a:lnTo>
                  <a:lnTo>
                    <a:pt x="147" y="361"/>
                  </a:lnTo>
                  <a:lnTo>
                    <a:pt x="149" y="361"/>
                  </a:lnTo>
                  <a:lnTo>
                    <a:pt x="149" y="361"/>
                  </a:lnTo>
                  <a:lnTo>
                    <a:pt x="149" y="363"/>
                  </a:lnTo>
                  <a:lnTo>
                    <a:pt x="149" y="363"/>
                  </a:lnTo>
                  <a:lnTo>
                    <a:pt x="149" y="365"/>
                  </a:lnTo>
                  <a:lnTo>
                    <a:pt x="149" y="365"/>
                  </a:lnTo>
                  <a:lnTo>
                    <a:pt x="151" y="367"/>
                  </a:lnTo>
                  <a:lnTo>
                    <a:pt x="153" y="367"/>
                  </a:lnTo>
                  <a:lnTo>
                    <a:pt x="153" y="367"/>
                  </a:lnTo>
                  <a:lnTo>
                    <a:pt x="153" y="367"/>
                  </a:lnTo>
                  <a:lnTo>
                    <a:pt x="155" y="365"/>
                  </a:lnTo>
                  <a:lnTo>
                    <a:pt x="155" y="365"/>
                  </a:lnTo>
                  <a:lnTo>
                    <a:pt x="155" y="363"/>
                  </a:lnTo>
                  <a:lnTo>
                    <a:pt x="153" y="361"/>
                  </a:lnTo>
                  <a:lnTo>
                    <a:pt x="153" y="359"/>
                  </a:lnTo>
                  <a:lnTo>
                    <a:pt x="153" y="357"/>
                  </a:lnTo>
                  <a:lnTo>
                    <a:pt x="155" y="357"/>
                  </a:lnTo>
                  <a:lnTo>
                    <a:pt x="157" y="355"/>
                  </a:lnTo>
                  <a:lnTo>
                    <a:pt x="158" y="355"/>
                  </a:lnTo>
                  <a:lnTo>
                    <a:pt x="160" y="355"/>
                  </a:lnTo>
                  <a:lnTo>
                    <a:pt x="160" y="353"/>
                  </a:lnTo>
                  <a:lnTo>
                    <a:pt x="162" y="353"/>
                  </a:lnTo>
                  <a:lnTo>
                    <a:pt x="164" y="353"/>
                  </a:lnTo>
                  <a:lnTo>
                    <a:pt x="164" y="353"/>
                  </a:lnTo>
                  <a:lnTo>
                    <a:pt x="166" y="353"/>
                  </a:lnTo>
                  <a:lnTo>
                    <a:pt x="166" y="353"/>
                  </a:lnTo>
                  <a:lnTo>
                    <a:pt x="168" y="353"/>
                  </a:lnTo>
                  <a:lnTo>
                    <a:pt x="174" y="353"/>
                  </a:lnTo>
                  <a:lnTo>
                    <a:pt x="174" y="353"/>
                  </a:lnTo>
                  <a:lnTo>
                    <a:pt x="176" y="353"/>
                  </a:lnTo>
                  <a:lnTo>
                    <a:pt x="176" y="355"/>
                  </a:lnTo>
                  <a:lnTo>
                    <a:pt x="177" y="355"/>
                  </a:lnTo>
                  <a:lnTo>
                    <a:pt x="177" y="355"/>
                  </a:lnTo>
                  <a:lnTo>
                    <a:pt x="179" y="355"/>
                  </a:lnTo>
                  <a:lnTo>
                    <a:pt x="181" y="353"/>
                  </a:lnTo>
                  <a:lnTo>
                    <a:pt x="181" y="353"/>
                  </a:lnTo>
                  <a:lnTo>
                    <a:pt x="183" y="351"/>
                  </a:lnTo>
                  <a:lnTo>
                    <a:pt x="183" y="348"/>
                  </a:lnTo>
                  <a:lnTo>
                    <a:pt x="183" y="344"/>
                  </a:lnTo>
                  <a:lnTo>
                    <a:pt x="181" y="342"/>
                  </a:lnTo>
                  <a:lnTo>
                    <a:pt x="181" y="342"/>
                  </a:lnTo>
                  <a:lnTo>
                    <a:pt x="181" y="340"/>
                  </a:lnTo>
                  <a:lnTo>
                    <a:pt x="181" y="338"/>
                  </a:lnTo>
                  <a:lnTo>
                    <a:pt x="181" y="336"/>
                  </a:lnTo>
                  <a:lnTo>
                    <a:pt x="181" y="334"/>
                  </a:lnTo>
                  <a:lnTo>
                    <a:pt x="183" y="332"/>
                  </a:lnTo>
                  <a:lnTo>
                    <a:pt x="183" y="332"/>
                  </a:lnTo>
                  <a:lnTo>
                    <a:pt x="183" y="331"/>
                  </a:lnTo>
                  <a:lnTo>
                    <a:pt x="183" y="331"/>
                  </a:lnTo>
                  <a:lnTo>
                    <a:pt x="181" y="329"/>
                  </a:lnTo>
                  <a:lnTo>
                    <a:pt x="183" y="327"/>
                  </a:lnTo>
                  <a:lnTo>
                    <a:pt x="183" y="327"/>
                  </a:lnTo>
                  <a:lnTo>
                    <a:pt x="185" y="323"/>
                  </a:lnTo>
                  <a:lnTo>
                    <a:pt x="187" y="323"/>
                  </a:lnTo>
                  <a:lnTo>
                    <a:pt x="187" y="321"/>
                  </a:lnTo>
                  <a:lnTo>
                    <a:pt x="189" y="321"/>
                  </a:lnTo>
                  <a:lnTo>
                    <a:pt x="191" y="321"/>
                  </a:lnTo>
                  <a:lnTo>
                    <a:pt x="193" y="321"/>
                  </a:lnTo>
                  <a:lnTo>
                    <a:pt x="193" y="321"/>
                  </a:lnTo>
                  <a:lnTo>
                    <a:pt x="198" y="321"/>
                  </a:lnTo>
                  <a:lnTo>
                    <a:pt x="200" y="321"/>
                  </a:lnTo>
                  <a:lnTo>
                    <a:pt x="202" y="319"/>
                  </a:lnTo>
                  <a:lnTo>
                    <a:pt x="202" y="319"/>
                  </a:lnTo>
                  <a:lnTo>
                    <a:pt x="202" y="317"/>
                  </a:lnTo>
                  <a:lnTo>
                    <a:pt x="204" y="317"/>
                  </a:lnTo>
                  <a:lnTo>
                    <a:pt x="208" y="315"/>
                  </a:lnTo>
                  <a:lnTo>
                    <a:pt x="208" y="315"/>
                  </a:lnTo>
                  <a:lnTo>
                    <a:pt x="212" y="315"/>
                  </a:lnTo>
                  <a:lnTo>
                    <a:pt x="212" y="315"/>
                  </a:lnTo>
                  <a:lnTo>
                    <a:pt x="214" y="315"/>
                  </a:lnTo>
                  <a:lnTo>
                    <a:pt x="214" y="315"/>
                  </a:lnTo>
                  <a:lnTo>
                    <a:pt x="216" y="313"/>
                  </a:lnTo>
                  <a:lnTo>
                    <a:pt x="217" y="313"/>
                  </a:lnTo>
                  <a:lnTo>
                    <a:pt x="219" y="312"/>
                  </a:lnTo>
                  <a:lnTo>
                    <a:pt x="219" y="313"/>
                  </a:lnTo>
                  <a:lnTo>
                    <a:pt x="221" y="313"/>
                  </a:lnTo>
                  <a:lnTo>
                    <a:pt x="221" y="312"/>
                  </a:lnTo>
                  <a:lnTo>
                    <a:pt x="223" y="310"/>
                  </a:lnTo>
                  <a:lnTo>
                    <a:pt x="225" y="310"/>
                  </a:lnTo>
                  <a:lnTo>
                    <a:pt x="229" y="310"/>
                  </a:lnTo>
                  <a:lnTo>
                    <a:pt x="229" y="310"/>
                  </a:lnTo>
                  <a:lnTo>
                    <a:pt x="231" y="308"/>
                  </a:lnTo>
                  <a:lnTo>
                    <a:pt x="233" y="306"/>
                  </a:lnTo>
                  <a:lnTo>
                    <a:pt x="233" y="306"/>
                  </a:lnTo>
                  <a:lnTo>
                    <a:pt x="235" y="306"/>
                  </a:lnTo>
                  <a:lnTo>
                    <a:pt x="237" y="310"/>
                  </a:lnTo>
                  <a:lnTo>
                    <a:pt x="238" y="310"/>
                  </a:lnTo>
                  <a:lnTo>
                    <a:pt x="240" y="310"/>
                  </a:lnTo>
                  <a:lnTo>
                    <a:pt x="240" y="310"/>
                  </a:lnTo>
                  <a:lnTo>
                    <a:pt x="242" y="310"/>
                  </a:lnTo>
                  <a:lnTo>
                    <a:pt x="242" y="312"/>
                  </a:lnTo>
                  <a:lnTo>
                    <a:pt x="244" y="313"/>
                  </a:lnTo>
                  <a:lnTo>
                    <a:pt x="244" y="315"/>
                  </a:lnTo>
                  <a:lnTo>
                    <a:pt x="246" y="315"/>
                  </a:lnTo>
                  <a:lnTo>
                    <a:pt x="246" y="315"/>
                  </a:lnTo>
                  <a:lnTo>
                    <a:pt x="248" y="315"/>
                  </a:lnTo>
                  <a:lnTo>
                    <a:pt x="250" y="315"/>
                  </a:lnTo>
                  <a:lnTo>
                    <a:pt x="252" y="313"/>
                  </a:lnTo>
                  <a:lnTo>
                    <a:pt x="254" y="310"/>
                  </a:lnTo>
                  <a:lnTo>
                    <a:pt x="254" y="310"/>
                  </a:lnTo>
                  <a:lnTo>
                    <a:pt x="254" y="308"/>
                  </a:lnTo>
                  <a:lnTo>
                    <a:pt x="256" y="308"/>
                  </a:lnTo>
                  <a:lnTo>
                    <a:pt x="256" y="308"/>
                  </a:lnTo>
                  <a:lnTo>
                    <a:pt x="258" y="306"/>
                  </a:lnTo>
                  <a:lnTo>
                    <a:pt x="258" y="306"/>
                  </a:lnTo>
                  <a:lnTo>
                    <a:pt x="258" y="304"/>
                  </a:lnTo>
                  <a:lnTo>
                    <a:pt x="259" y="302"/>
                  </a:lnTo>
                  <a:lnTo>
                    <a:pt x="259" y="302"/>
                  </a:lnTo>
                  <a:lnTo>
                    <a:pt x="259" y="298"/>
                  </a:lnTo>
                  <a:lnTo>
                    <a:pt x="259" y="298"/>
                  </a:lnTo>
                  <a:lnTo>
                    <a:pt x="258" y="296"/>
                  </a:lnTo>
                  <a:lnTo>
                    <a:pt x="258" y="296"/>
                  </a:lnTo>
                  <a:lnTo>
                    <a:pt x="258" y="296"/>
                  </a:lnTo>
                  <a:lnTo>
                    <a:pt x="258" y="294"/>
                  </a:lnTo>
                  <a:lnTo>
                    <a:pt x="258" y="294"/>
                  </a:lnTo>
                  <a:lnTo>
                    <a:pt x="256" y="294"/>
                  </a:lnTo>
                  <a:lnTo>
                    <a:pt x="254" y="292"/>
                  </a:lnTo>
                  <a:lnTo>
                    <a:pt x="254" y="292"/>
                  </a:lnTo>
                  <a:lnTo>
                    <a:pt x="254" y="292"/>
                  </a:lnTo>
                  <a:lnTo>
                    <a:pt x="254" y="291"/>
                  </a:lnTo>
                  <a:lnTo>
                    <a:pt x="256" y="289"/>
                  </a:lnTo>
                  <a:lnTo>
                    <a:pt x="256" y="289"/>
                  </a:lnTo>
                  <a:lnTo>
                    <a:pt x="256" y="287"/>
                  </a:lnTo>
                  <a:lnTo>
                    <a:pt x="258" y="287"/>
                  </a:lnTo>
                  <a:lnTo>
                    <a:pt x="258" y="283"/>
                  </a:lnTo>
                  <a:lnTo>
                    <a:pt x="261" y="283"/>
                  </a:lnTo>
                  <a:lnTo>
                    <a:pt x="261" y="283"/>
                  </a:lnTo>
                  <a:lnTo>
                    <a:pt x="261" y="281"/>
                  </a:lnTo>
                  <a:lnTo>
                    <a:pt x="263" y="281"/>
                  </a:lnTo>
                  <a:lnTo>
                    <a:pt x="263" y="281"/>
                  </a:lnTo>
                  <a:lnTo>
                    <a:pt x="265" y="281"/>
                  </a:lnTo>
                  <a:lnTo>
                    <a:pt x="265" y="281"/>
                  </a:lnTo>
                  <a:lnTo>
                    <a:pt x="265" y="281"/>
                  </a:lnTo>
                  <a:lnTo>
                    <a:pt x="265" y="281"/>
                  </a:lnTo>
                  <a:lnTo>
                    <a:pt x="267" y="281"/>
                  </a:lnTo>
                  <a:lnTo>
                    <a:pt x="267" y="281"/>
                  </a:lnTo>
                  <a:lnTo>
                    <a:pt x="267" y="279"/>
                  </a:lnTo>
                  <a:lnTo>
                    <a:pt x="267" y="279"/>
                  </a:lnTo>
                  <a:lnTo>
                    <a:pt x="269" y="277"/>
                  </a:lnTo>
                  <a:lnTo>
                    <a:pt x="269" y="277"/>
                  </a:lnTo>
                  <a:lnTo>
                    <a:pt x="271" y="275"/>
                  </a:lnTo>
                  <a:lnTo>
                    <a:pt x="271" y="275"/>
                  </a:lnTo>
                  <a:lnTo>
                    <a:pt x="273" y="277"/>
                  </a:lnTo>
                  <a:lnTo>
                    <a:pt x="273" y="279"/>
                  </a:lnTo>
                  <a:lnTo>
                    <a:pt x="273" y="279"/>
                  </a:lnTo>
                  <a:lnTo>
                    <a:pt x="273" y="277"/>
                  </a:lnTo>
                  <a:lnTo>
                    <a:pt x="275" y="277"/>
                  </a:lnTo>
                  <a:lnTo>
                    <a:pt x="275" y="279"/>
                  </a:lnTo>
                  <a:lnTo>
                    <a:pt x="275" y="279"/>
                  </a:lnTo>
                  <a:lnTo>
                    <a:pt x="277" y="279"/>
                  </a:lnTo>
                  <a:lnTo>
                    <a:pt x="277" y="279"/>
                  </a:lnTo>
                  <a:lnTo>
                    <a:pt x="278" y="279"/>
                  </a:lnTo>
                  <a:lnTo>
                    <a:pt x="278" y="281"/>
                  </a:lnTo>
                  <a:lnTo>
                    <a:pt x="280" y="283"/>
                  </a:lnTo>
                  <a:lnTo>
                    <a:pt x="282" y="285"/>
                  </a:lnTo>
                  <a:lnTo>
                    <a:pt x="282" y="287"/>
                  </a:lnTo>
                  <a:lnTo>
                    <a:pt x="282" y="287"/>
                  </a:lnTo>
                  <a:lnTo>
                    <a:pt x="282" y="289"/>
                  </a:lnTo>
                  <a:lnTo>
                    <a:pt x="282" y="289"/>
                  </a:lnTo>
                  <a:lnTo>
                    <a:pt x="282" y="291"/>
                  </a:lnTo>
                  <a:lnTo>
                    <a:pt x="282" y="291"/>
                  </a:lnTo>
                  <a:lnTo>
                    <a:pt x="284" y="292"/>
                  </a:lnTo>
                  <a:lnTo>
                    <a:pt x="284" y="292"/>
                  </a:lnTo>
                  <a:lnTo>
                    <a:pt x="284" y="292"/>
                  </a:lnTo>
                  <a:lnTo>
                    <a:pt x="284" y="292"/>
                  </a:lnTo>
                  <a:lnTo>
                    <a:pt x="284" y="294"/>
                  </a:lnTo>
                  <a:lnTo>
                    <a:pt x="286" y="294"/>
                  </a:lnTo>
                  <a:lnTo>
                    <a:pt x="286" y="294"/>
                  </a:lnTo>
                  <a:lnTo>
                    <a:pt x="288" y="294"/>
                  </a:lnTo>
                  <a:lnTo>
                    <a:pt x="288" y="296"/>
                  </a:lnTo>
                  <a:lnTo>
                    <a:pt x="288" y="296"/>
                  </a:lnTo>
                  <a:lnTo>
                    <a:pt x="288" y="298"/>
                  </a:lnTo>
                  <a:lnTo>
                    <a:pt x="288" y="298"/>
                  </a:lnTo>
                  <a:lnTo>
                    <a:pt x="288" y="298"/>
                  </a:lnTo>
                  <a:lnTo>
                    <a:pt x="288" y="298"/>
                  </a:lnTo>
                  <a:lnTo>
                    <a:pt x="290" y="296"/>
                  </a:lnTo>
                  <a:lnTo>
                    <a:pt x="290" y="296"/>
                  </a:lnTo>
                  <a:lnTo>
                    <a:pt x="290" y="296"/>
                  </a:lnTo>
                  <a:lnTo>
                    <a:pt x="290" y="294"/>
                  </a:lnTo>
                  <a:lnTo>
                    <a:pt x="292" y="294"/>
                  </a:lnTo>
                  <a:lnTo>
                    <a:pt x="292" y="296"/>
                  </a:lnTo>
                  <a:lnTo>
                    <a:pt x="294" y="296"/>
                  </a:lnTo>
                  <a:lnTo>
                    <a:pt x="294" y="296"/>
                  </a:lnTo>
                  <a:lnTo>
                    <a:pt x="294" y="296"/>
                  </a:lnTo>
                  <a:lnTo>
                    <a:pt x="296" y="298"/>
                  </a:lnTo>
                  <a:lnTo>
                    <a:pt x="296" y="298"/>
                  </a:lnTo>
                  <a:lnTo>
                    <a:pt x="296" y="298"/>
                  </a:lnTo>
                  <a:lnTo>
                    <a:pt x="296" y="300"/>
                  </a:lnTo>
                  <a:lnTo>
                    <a:pt x="298" y="300"/>
                  </a:lnTo>
                  <a:lnTo>
                    <a:pt x="298" y="300"/>
                  </a:lnTo>
                  <a:lnTo>
                    <a:pt x="299" y="302"/>
                  </a:lnTo>
                  <a:lnTo>
                    <a:pt x="299" y="302"/>
                  </a:lnTo>
                  <a:lnTo>
                    <a:pt x="301" y="302"/>
                  </a:lnTo>
                  <a:lnTo>
                    <a:pt x="301" y="302"/>
                  </a:lnTo>
                  <a:lnTo>
                    <a:pt x="303" y="302"/>
                  </a:lnTo>
                  <a:lnTo>
                    <a:pt x="305" y="302"/>
                  </a:lnTo>
                  <a:lnTo>
                    <a:pt x="305" y="302"/>
                  </a:lnTo>
                  <a:lnTo>
                    <a:pt x="307" y="302"/>
                  </a:lnTo>
                  <a:lnTo>
                    <a:pt x="309" y="300"/>
                  </a:lnTo>
                  <a:lnTo>
                    <a:pt x="309" y="300"/>
                  </a:lnTo>
                  <a:lnTo>
                    <a:pt x="309" y="300"/>
                  </a:lnTo>
                  <a:lnTo>
                    <a:pt x="309" y="300"/>
                  </a:lnTo>
                  <a:lnTo>
                    <a:pt x="307" y="298"/>
                  </a:lnTo>
                  <a:lnTo>
                    <a:pt x="307" y="298"/>
                  </a:lnTo>
                  <a:lnTo>
                    <a:pt x="307" y="298"/>
                  </a:lnTo>
                  <a:lnTo>
                    <a:pt x="305" y="298"/>
                  </a:lnTo>
                  <a:lnTo>
                    <a:pt x="305" y="298"/>
                  </a:lnTo>
                  <a:lnTo>
                    <a:pt x="305" y="296"/>
                  </a:lnTo>
                  <a:lnTo>
                    <a:pt x="305" y="296"/>
                  </a:lnTo>
                  <a:lnTo>
                    <a:pt x="305" y="294"/>
                  </a:lnTo>
                  <a:lnTo>
                    <a:pt x="305" y="294"/>
                  </a:lnTo>
                  <a:lnTo>
                    <a:pt x="305" y="292"/>
                  </a:lnTo>
                  <a:lnTo>
                    <a:pt x="307" y="292"/>
                  </a:lnTo>
                  <a:lnTo>
                    <a:pt x="309" y="292"/>
                  </a:lnTo>
                  <a:lnTo>
                    <a:pt x="307" y="291"/>
                  </a:lnTo>
                  <a:lnTo>
                    <a:pt x="307" y="291"/>
                  </a:lnTo>
                  <a:lnTo>
                    <a:pt x="307" y="291"/>
                  </a:lnTo>
                  <a:lnTo>
                    <a:pt x="307" y="289"/>
                  </a:lnTo>
                  <a:lnTo>
                    <a:pt x="307" y="289"/>
                  </a:lnTo>
                  <a:lnTo>
                    <a:pt x="309" y="289"/>
                  </a:lnTo>
                  <a:lnTo>
                    <a:pt x="309" y="289"/>
                  </a:lnTo>
                  <a:lnTo>
                    <a:pt x="309" y="289"/>
                  </a:lnTo>
                  <a:lnTo>
                    <a:pt x="307" y="287"/>
                  </a:lnTo>
                  <a:lnTo>
                    <a:pt x="307" y="287"/>
                  </a:lnTo>
                  <a:lnTo>
                    <a:pt x="303" y="285"/>
                  </a:lnTo>
                  <a:lnTo>
                    <a:pt x="301" y="287"/>
                  </a:lnTo>
                  <a:lnTo>
                    <a:pt x="301" y="285"/>
                  </a:lnTo>
                  <a:lnTo>
                    <a:pt x="299" y="285"/>
                  </a:lnTo>
                  <a:lnTo>
                    <a:pt x="299" y="287"/>
                  </a:lnTo>
                  <a:lnTo>
                    <a:pt x="299" y="287"/>
                  </a:lnTo>
                  <a:lnTo>
                    <a:pt x="299" y="289"/>
                  </a:lnTo>
                  <a:lnTo>
                    <a:pt x="298" y="287"/>
                  </a:lnTo>
                  <a:lnTo>
                    <a:pt x="298" y="287"/>
                  </a:lnTo>
                  <a:lnTo>
                    <a:pt x="298" y="287"/>
                  </a:lnTo>
                  <a:lnTo>
                    <a:pt x="296" y="287"/>
                  </a:lnTo>
                  <a:lnTo>
                    <a:pt x="296" y="285"/>
                  </a:lnTo>
                  <a:lnTo>
                    <a:pt x="292" y="285"/>
                  </a:lnTo>
                  <a:lnTo>
                    <a:pt x="290" y="285"/>
                  </a:lnTo>
                  <a:lnTo>
                    <a:pt x="290" y="283"/>
                  </a:lnTo>
                  <a:lnTo>
                    <a:pt x="288" y="283"/>
                  </a:lnTo>
                  <a:lnTo>
                    <a:pt x="286" y="283"/>
                  </a:lnTo>
                  <a:lnTo>
                    <a:pt x="288" y="283"/>
                  </a:lnTo>
                  <a:lnTo>
                    <a:pt x="288" y="281"/>
                  </a:lnTo>
                  <a:lnTo>
                    <a:pt x="288" y="281"/>
                  </a:lnTo>
                  <a:lnTo>
                    <a:pt x="288" y="281"/>
                  </a:lnTo>
                  <a:lnTo>
                    <a:pt x="288" y="281"/>
                  </a:lnTo>
                  <a:lnTo>
                    <a:pt x="290" y="279"/>
                  </a:lnTo>
                  <a:lnTo>
                    <a:pt x="290" y="279"/>
                  </a:lnTo>
                  <a:lnTo>
                    <a:pt x="290" y="279"/>
                  </a:lnTo>
                  <a:lnTo>
                    <a:pt x="290" y="279"/>
                  </a:lnTo>
                  <a:lnTo>
                    <a:pt x="290" y="277"/>
                  </a:lnTo>
                  <a:lnTo>
                    <a:pt x="288" y="277"/>
                  </a:lnTo>
                  <a:lnTo>
                    <a:pt x="288" y="277"/>
                  </a:lnTo>
                  <a:lnTo>
                    <a:pt x="288" y="277"/>
                  </a:lnTo>
                  <a:lnTo>
                    <a:pt x="288" y="275"/>
                  </a:lnTo>
                  <a:lnTo>
                    <a:pt x="288" y="275"/>
                  </a:lnTo>
                  <a:lnTo>
                    <a:pt x="288" y="275"/>
                  </a:lnTo>
                  <a:lnTo>
                    <a:pt x="288" y="273"/>
                  </a:lnTo>
                  <a:lnTo>
                    <a:pt x="288" y="273"/>
                  </a:lnTo>
                  <a:lnTo>
                    <a:pt x="290" y="273"/>
                  </a:lnTo>
                  <a:lnTo>
                    <a:pt x="290" y="273"/>
                  </a:lnTo>
                  <a:lnTo>
                    <a:pt x="290" y="273"/>
                  </a:lnTo>
                  <a:lnTo>
                    <a:pt x="290" y="273"/>
                  </a:lnTo>
                  <a:lnTo>
                    <a:pt x="290" y="273"/>
                  </a:lnTo>
                  <a:lnTo>
                    <a:pt x="290" y="273"/>
                  </a:lnTo>
                  <a:lnTo>
                    <a:pt x="290" y="275"/>
                  </a:lnTo>
                  <a:lnTo>
                    <a:pt x="292" y="275"/>
                  </a:lnTo>
                  <a:lnTo>
                    <a:pt x="292" y="277"/>
                  </a:lnTo>
                  <a:lnTo>
                    <a:pt x="292" y="277"/>
                  </a:lnTo>
                  <a:lnTo>
                    <a:pt x="294" y="277"/>
                  </a:lnTo>
                  <a:lnTo>
                    <a:pt x="296" y="279"/>
                  </a:lnTo>
                  <a:lnTo>
                    <a:pt x="296" y="277"/>
                  </a:lnTo>
                  <a:lnTo>
                    <a:pt x="298" y="277"/>
                  </a:lnTo>
                  <a:lnTo>
                    <a:pt x="298" y="277"/>
                  </a:lnTo>
                  <a:lnTo>
                    <a:pt x="298" y="275"/>
                  </a:lnTo>
                  <a:lnTo>
                    <a:pt x="298" y="275"/>
                  </a:lnTo>
                  <a:lnTo>
                    <a:pt x="299" y="275"/>
                  </a:lnTo>
                  <a:lnTo>
                    <a:pt x="299" y="273"/>
                  </a:lnTo>
                  <a:lnTo>
                    <a:pt x="299" y="272"/>
                  </a:lnTo>
                  <a:lnTo>
                    <a:pt x="299" y="272"/>
                  </a:lnTo>
                  <a:lnTo>
                    <a:pt x="299" y="272"/>
                  </a:lnTo>
                  <a:lnTo>
                    <a:pt x="299" y="270"/>
                  </a:lnTo>
                  <a:lnTo>
                    <a:pt x="299" y="270"/>
                  </a:lnTo>
                  <a:lnTo>
                    <a:pt x="301" y="270"/>
                  </a:lnTo>
                  <a:lnTo>
                    <a:pt x="301" y="270"/>
                  </a:lnTo>
                  <a:lnTo>
                    <a:pt x="303" y="270"/>
                  </a:lnTo>
                  <a:lnTo>
                    <a:pt x="303" y="268"/>
                  </a:lnTo>
                  <a:lnTo>
                    <a:pt x="303" y="268"/>
                  </a:lnTo>
                  <a:lnTo>
                    <a:pt x="305" y="268"/>
                  </a:lnTo>
                  <a:lnTo>
                    <a:pt x="305" y="266"/>
                  </a:lnTo>
                  <a:lnTo>
                    <a:pt x="307" y="268"/>
                  </a:lnTo>
                  <a:lnTo>
                    <a:pt x="307" y="268"/>
                  </a:lnTo>
                  <a:lnTo>
                    <a:pt x="309" y="268"/>
                  </a:lnTo>
                  <a:lnTo>
                    <a:pt x="309" y="270"/>
                  </a:lnTo>
                  <a:lnTo>
                    <a:pt x="311" y="270"/>
                  </a:lnTo>
                  <a:lnTo>
                    <a:pt x="311" y="270"/>
                  </a:lnTo>
                  <a:lnTo>
                    <a:pt x="311" y="270"/>
                  </a:lnTo>
                  <a:lnTo>
                    <a:pt x="313" y="270"/>
                  </a:lnTo>
                  <a:lnTo>
                    <a:pt x="311" y="270"/>
                  </a:lnTo>
                  <a:lnTo>
                    <a:pt x="313" y="272"/>
                  </a:lnTo>
                  <a:lnTo>
                    <a:pt x="313" y="272"/>
                  </a:lnTo>
                  <a:lnTo>
                    <a:pt x="315" y="272"/>
                  </a:lnTo>
                  <a:lnTo>
                    <a:pt x="315" y="272"/>
                  </a:lnTo>
                  <a:lnTo>
                    <a:pt x="313" y="273"/>
                  </a:lnTo>
                  <a:lnTo>
                    <a:pt x="313" y="273"/>
                  </a:lnTo>
                  <a:lnTo>
                    <a:pt x="313" y="273"/>
                  </a:lnTo>
                  <a:lnTo>
                    <a:pt x="313" y="273"/>
                  </a:lnTo>
                  <a:lnTo>
                    <a:pt x="313" y="275"/>
                  </a:lnTo>
                  <a:lnTo>
                    <a:pt x="315" y="275"/>
                  </a:lnTo>
                  <a:lnTo>
                    <a:pt x="315" y="275"/>
                  </a:lnTo>
                  <a:lnTo>
                    <a:pt x="315" y="273"/>
                  </a:lnTo>
                  <a:lnTo>
                    <a:pt x="317" y="273"/>
                  </a:lnTo>
                  <a:lnTo>
                    <a:pt x="317" y="273"/>
                  </a:lnTo>
                  <a:lnTo>
                    <a:pt x="317" y="273"/>
                  </a:lnTo>
                  <a:lnTo>
                    <a:pt x="318" y="273"/>
                  </a:lnTo>
                  <a:lnTo>
                    <a:pt x="320" y="273"/>
                  </a:lnTo>
                  <a:lnTo>
                    <a:pt x="320" y="273"/>
                  </a:lnTo>
                  <a:lnTo>
                    <a:pt x="322" y="275"/>
                  </a:lnTo>
                  <a:lnTo>
                    <a:pt x="324" y="275"/>
                  </a:lnTo>
                  <a:lnTo>
                    <a:pt x="326" y="275"/>
                  </a:lnTo>
                  <a:lnTo>
                    <a:pt x="326" y="275"/>
                  </a:lnTo>
                  <a:lnTo>
                    <a:pt x="326" y="275"/>
                  </a:lnTo>
                  <a:lnTo>
                    <a:pt x="328" y="275"/>
                  </a:lnTo>
                  <a:lnTo>
                    <a:pt x="330" y="277"/>
                  </a:lnTo>
                  <a:lnTo>
                    <a:pt x="330" y="277"/>
                  </a:lnTo>
                  <a:lnTo>
                    <a:pt x="330" y="277"/>
                  </a:lnTo>
                  <a:lnTo>
                    <a:pt x="332" y="277"/>
                  </a:lnTo>
                  <a:lnTo>
                    <a:pt x="332" y="275"/>
                  </a:lnTo>
                  <a:lnTo>
                    <a:pt x="332" y="275"/>
                  </a:lnTo>
                  <a:lnTo>
                    <a:pt x="334" y="275"/>
                  </a:lnTo>
                  <a:lnTo>
                    <a:pt x="334" y="273"/>
                  </a:lnTo>
                  <a:lnTo>
                    <a:pt x="334" y="272"/>
                  </a:lnTo>
                  <a:lnTo>
                    <a:pt x="334" y="272"/>
                  </a:lnTo>
                  <a:lnTo>
                    <a:pt x="334" y="272"/>
                  </a:lnTo>
                  <a:lnTo>
                    <a:pt x="334" y="270"/>
                  </a:lnTo>
                  <a:lnTo>
                    <a:pt x="334" y="268"/>
                  </a:lnTo>
                  <a:lnTo>
                    <a:pt x="334" y="268"/>
                  </a:lnTo>
                  <a:lnTo>
                    <a:pt x="334" y="266"/>
                  </a:lnTo>
                  <a:lnTo>
                    <a:pt x="336" y="266"/>
                  </a:lnTo>
                  <a:lnTo>
                    <a:pt x="336" y="266"/>
                  </a:lnTo>
                  <a:lnTo>
                    <a:pt x="336" y="266"/>
                  </a:lnTo>
                  <a:lnTo>
                    <a:pt x="338" y="266"/>
                  </a:lnTo>
                  <a:lnTo>
                    <a:pt x="338" y="266"/>
                  </a:lnTo>
                  <a:lnTo>
                    <a:pt x="338" y="266"/>
                  </a:lnTo>
                  <a:lnTo>
                    <a:pt x="338" y="266"/>
                  </a:lnTo>
                  <a:lnTo>
                    <a:pt x="338" y="264"/>
                  </a:lnTo>
                  <a:lnTo>
                    <a:pt x="338" y="264"/>
                  </a:lnTo>
                  <a:lnTo>
                    <a:pt x="338" y="264"/>
                  </a:lnTo>
                  <a:lnTo>
                    <a:pt x="338" y="262"/>
                  </a:lnTo>
                  <a:lnTo>
                    <a:pt x="338" y="262"/>
                  </a:lnTo>
                  <a:lnTo>
                    <a:pt x="338" y="262"/>
                  </a:lnTo>
                  <a:lnTo>
                    <a:pt x="338" y="260"/>
                  </a:lnTo>
                  <a:lnTo>
                    <a:pt x="338" y="260"/>
                  </a:lnTo>
                  <a:lnTo>
                    <a:pt x="339" y="260"/>
                  </a:lnTo>
                  <a:lnTo>
                    <a:pt x="339" y="260"/>
                  </a:lnTo>
                  <a:lnTo>
                    <a:pt x="341" y="260"/>
                  </a:lnTo>
                  <a:lnTo>
                    <a:pt x="341" y="262"/>
                  </a:lnTo>
                  <a:lnTo>
                    <a:pt x="341" y="262"/>
                  </a:lnTo>
                  <a:lnTo>
                    <a:pt x="343" y="262"/>
                  </a:lnTo>
                  <a:lnTo>
                    <a:pt x="345" y="262"/>
                  </a:lnTo>
                  <a:lnTo>
                    <a:pt x="345" y="262"/>
                  </a:lnTo>
                  <a:lnTo>
                    <a:pt x="345" y="262"/>
                  </a:lnTo>
                  <a:lnTo>
                    <a:pt x="347" y="262"/>
                  </a:lnTo>
                  <a:lnTo>
                    <a:pt x="349" y="262"/>
                  </a:lnTo>
                  <a:lnTo>
                    <a:pt x="349" y="262"/>
                  </a:lnTo>
                  <a:lnTo>
                    <a:pt x="349" y="260"/>
                  </a:lnTo>
                  <a:lnTo>
                    <a:pt x="349" y="260"/>
                  </a:lnTo>
                  <a:lnTo>
                    <a:pt x="351" y="260"/>
                  </a:lnTo>
                  <a:lnTo>
                    <a:pt x="351" y="260"/>
                  </a:lnTo>
                  <a:lnTo>
                    <a:pt x="351" y="260"/>
                  </a:lnTo>
                  <a:lnTo>
                    <a:pt x="353" y="260"/>
                  </a:lnTo>
                  <a:lnTo>
                    <a:pt x="355" y="260"/>
                  </a:lnTo>
                  <a:lnTo>
                    <a:pt x="357" y="258"/>
                  </a:lnTo>
                  <a:lnTo>
                    <a:pt x="360" y="258"/>
                  </a:lnTo>
                  <a:lnTo>
                    <a:pt x="360" y="258"/>
                  </a:lnTo>
                  <a:lnTo>
                    <a:pt x="362" y="256"/>
                  </a:lnTo>
                  <a:lnTo>
                    <a:pt x="362" y="256"/>
                  </a:lnTo>
                  <a:lnTo>
                    <a:pt x="362" y="254"/>
                  </a:lnTo>
                  <a:lnTo>
                    <a:pt x="362" y="254"/>
                  </a:lnTo>
                  <a:lnTo>
                    <a:pt x="362" y="251"/>
                  </a:lnTo>
                  <a:lnTo>
                    <a:pt x="362" y="251"/>
                  </a:lnTo>
                  <a:lnTo>
                    <a:pt x="362" y="251"/>
                  </a:lnTo>
                  <a:lnTo>
                    <a:pt x="362" y="249"/>
                  </a:lnTo>
                  <a:lnTo>
                    <a:pt x="364" y="249"/>
                  </a:lnTo>
                  <a:lnTo>
                    <a:pt x="366" y="249"/>
                  </a:lnTo>
                  <a:lnTo>
                    <a:pt x="368" y="249"/>
                  </a:lnTo>
                  <a:lnTo>
                    <a:pt x="370" y="249"/>
                  </a:lnTo>
                  <a:lnTo>
                    <a:pt x="370" y="249"/>
                  </a:lnTo>
                  <a:lnTo>
                    <a:pt x="370" y="249"/>
                  </a:lnTo>
                  <a:lnTo>
                    <a:pt x="372" y="249"/>
                  </a:lnTo>
                  <a:lnTo>
                    <a:pt x="374" y="247"/>
                  </a:lnTo>
                  <a:lnTo>
                    <a:pt x="374" y="247"/>
                  </a:lnTo>
                  <a:lnTo>
                    <a:pt x="374" y="245"/>
                  </a:lnTo>
                  <a:lnTo>
                    <a:pt x="376" y="243"/>
                  </a:lnTo>
                  <a:lnTo>
                    <a:pt x="376" y="243"/>
                  </a:lnTo>
                  <a:lnTo>
                    <a:pt x="376" y="243"/>
                  </a:lnTo>
                  <a:lnTo>
                    <a:pt x="378" y="243"/>
                  </a:lnTo>
                  <a:lnTo>
                    <a:pt x="378" y="243"/>
                  </a:lnTo>
                  <a:lnTo>
                    <a:pt x="378" y="243"/>
                  </a:lnTo>
                  <a:lnTo>
                    <a:pt x="378" y="243"/>
                  </a:lnTo>
                  <a:lnTo>
                    <a:pt x="378" y="245"/>
                  </a:lnTo>
                  <a:lnTo>
                    <a:pt x="379" y="245"/>
                  </a:lnTo>
                  <a:lnTo>
                    <a:pt x="381" y="245"/>
                  </a:lnTo>
                  <a:lnTo>
                    <a:pt x="381" y="245"/>
                  </a:lnTo>
                  <a:lnTo>
                    <a:pt x="381" y="245"/>
                  </a:lnTo>
                  <a:lnTo>
                    <a:pt x="383" y="245"/>
                  </a:lnTo>
                  <a:lnTo>
                    <a:pt x="385" y="245"/>
                  </a:lnTo>
                  <a:lnTo>
                    <a:pt x="385" y="245"/>
                  </a:lnTo>
                  <a:lnTo>
                    <a:pt x="385" y="245"/>
                  </a:lnTo>
                  <a:lnTo>
                    <a:pt x="387" y="243"/>
                  </a:lnTo>
                  <a:lnTo>
                    <a:pt x="387" y="243"/>
                  </a:lnTo>
                  <a:lnTo>
                    <a:pt x="387" y="243"/>
                  </a:lnTo>
                  <a:lnTo>
                    <a:pt x="387" y="241"/>
                  </a:lnTo>
                  <a:lnTo>
                    <a:pt x="389" y="241"/>
                  </a:lnTo>
                  <a:lnTo>
                    <a:pt x="389" y="239"/>
                  </a:lnTo>
                  <a:lnTo>
                    <a:pt x="391" y="239"/>
                  </a:lnTo>
                  <a:lnTo>
                    <a:pt x="391" y="237"/>
                  </a:lnTo>
                  <a:lnTo>
                    <a:pt x="393" y="235"/>
                  </a:lnTo>
                  <a:lnTo>
                    <a:pt x="393" y="235"/>
                  </a:lnTo>
                  <a:lnTo>
                    <a:pt x="391" y="235"/>
                  </a:lnTo>
                  <a:lnTo>
                    <a:pt x="391" y="234"/>
                  </a:lnTo>
                  <a:lnTo>
                    <a:pt x="393" y="234"/>
                  </a:lnTo>
                  <a:lnTo>
                    <a:pt x="393" y="232"/>
                  </a:lnTo>
                  <a:lnTo>
                    <a:pt x="393" y="232"/>
                  </a:lnTo>
                  <a:lnTo>
                    <a:pt x="393" y="228"/>
                  </a:lnTo>
                  <a:lnTo>
                    <a:pt x="393" y="228"/>
                  </a:lnTo>
                  <a:lnTo>
                    <a:pt x="393" y="228"/>
                  </a:lnTo>
                  <a:lnTo>
                    <a:pt x="393" y="226"/>
                  </a:lnTo>
                  <a:lnTo>
                    <a:pt x="395" y="226"/>
                  </a:lnTo>
                  <a:lnTo>
                    <a:pt x="395" y="226"/>
                  </a:lnTo>
                  <a:lnTo>
                    <a:pt x="395" y="224"/>
                  </a:lnTo>
                  <a:lnTo>
                    <a:pt x="395" y="224"/>
                  </a:lnTo>
                  <a:lnTo>
                    <a:pt x="393" y="224"/>
                  </a:lnTo>
                  <a:lnTo>
                    <a:pt x="393" y="224"/>
                  </a:lnTo>
                  <a:lnTo>
                    <a:pt x="393" y="222"/>
                  </a:lnTo>
                  <a:lnTo>
                    <a:pt x="393" y="222"/>
                  </a:lnTo>
                  <a:lnTo>
                    <a:pt x="393" y="222"/>
                  </a:lnTo>
                  <a:lnTo>
                    <a:pt x="393" y="222"/>
                  </a:lnTo>
                  <a:lnTo>
                    <a:pt x="395" y="220"/>
                  </a:lnTo>
                  <a:lnTo>
                    <a:pt x="395" y="218"/>
                  </a:lnTo>
                  <a:lnTo>
                    <a:pt x="397" y="218"/>
                  </a:lnTo>
                  <a:lnTo>
                    <a:pt x="397" y="216"/>
                  </a:lnTo>
                  <a:lnTo>
                    <a:pt x="397" y="216"/>
                  </a:lnTo>
                  <a:lnTo>
                    <a:pt x="399" y="215"/>
                  </a:lnTo>
                  <a:lnTo>
                    <a:pt x="399" y="215"/>
                  </a:lnTo>
                  <a:lnTo>
                    <a:pt x="399" y="215"/>
                  </a:lnTo>
                  <a:lnTo>
                    <a:pt x="399" y="213"/>
                  </a:lnTo>
                  <a:lnTo>
                    <a:pt x="399" y="211"/>
                  </a:lnTo>
                  <a:lnTo>
                    <a:pt x="399" y="211"/>
                  </a:lnTo>
                  <a:lnTo>
                    <a:pt x="399" y="211"/>
                  </a:lnTo>
                  <a:lnTo>
                    <a:pt x="400" y="209"/>
                  </a:lnTo>
                  <a:lnTo>
                    <a:pt x="402" y="209"/>
                  </a:lnTo>
                  <a:lnTo>
                    <a:pt x="402" y="209"/>
                  </a:lnTo>
                  <a:lnTo>
                    <a:pt x="402" y="207"/>
                  </a:lnTo>
                  <a:lnTo>
                    <a:pt x="404" y="207"/>
                  </a:lnTo>
                  <a:lnTo>
                    <a:pt x="406" y="207"/>
                  </a:lnTo>
                  <a:lnTo>
                    <a:pt x="406" y="207"/>
                  </a:lnTo>
                  <a:lnTo>
                    <a:pt x="408" y="207"/>
                  </a:lnTo>
                  <a:lnTo>
                    <a:pt x="410" y="205"/>
                  </a:lnTo>
                  <a:lnTo>
                    <a:pt x="410" y="205"/>
                  </a:lnTo>
                  <a:lnTo>
                    <a:pt x="410" y="205"/>
                  </a:lnTo>
                  <a:lnTo>
                    <a:pt x="412" y="203"/>
                  </a:lnTo>
                  <a:lnTo>
                    <a:pt x="412" y="203"/>
                  </a:lnTo>
                  <a:lnTo>
                    <a:pt x="414" y="201"/>
                  </a:lnTo>
                  <a:lnTo>
                    <a:pt x="414" y="201"/>
                  </a:lnTo>
                  <a:lnTo>
                    <a:pt x="414" y="201"/>
                  </a:lnTo>
                  <a:lnTo>
                    <a:pt x="416" y="201"/>
                  </a:lnTo>
                  <a:lnTo>
                    <a:pt x="418" y="199"/>
                  </a:lnTo>
                  <a:lnTo>
                    <a:pt x="418" y="199"/>
                  </a:lnTo>
                  <a:lnTo>
                    <a:pt x="419" y="199"/>
                  </a:lnTo>
                  <a:lnTo>
                    <a:pt x="419" y="199"/>
                  </a:lnTo>
                  <a:lnTo>
                    <a:pt x="419" y="197"/>
                  </a:lnTo>
                  <a:close/>
                </a:path>
              </a:pathLst>
            </a:custGeom>
            <a:solidFill>
              <a:schemeClr val="accent1"/>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67" name="Freeform 16">
              <a:extLst>
                <a:ext uri="{FF2B5EF4-FFF2-40B4-BE49-F238E27FC236}">
                  <a16:creationId xmlns:a16="http://schemas.microsoft.com/office/drawing/2014/main" id="{7314CBFA-49B9-6574-F073-2334BB0A1057}"/>
                </a:ext>
              </a:extLst>
            </p:cNvPr>
            <p:cNvSpPr>
              <a:spLocks noEditPoints="1"/>
            </p:cNvSpPr>
            <p:nvPr/>
          </p:nvSpPr>
          <p:spPr bwMode="auto">
            <a:xfrm>
              <a:off x="2415371" y="5253523"/>
              <a:ext cx="718771" cy="869445"/>
            </a:xfrm>
            <a:custGeom>
              <a:avLst/>
              <a:gdLst>
                <a:gd name="T0" fmla="*/ 373 w 381"/>
                <a:gd name="T1" fmla="*/ 10 h 514"/>
                <a:gd name="T2" fmla="*/ 358 w 381"/>
                <a:gd name="T3" fmla="*/ 6 h 514"/>
                <a:gd name="T4" fmla="*/ 354 w 381"/>
                <a:gd name="T5" fmla="*/ 6 h 514"/>
                <a:gd name="T6" fmla="*/ 330 w 381"/>
                <a:gd name="T7" fmla="*/ 25 h 514"/>
                <a:gd name="T8" fmla="*/ 326 w 381"/>
                <a:gd name="T9" fmla="*/ 31 h 514"/>
                <a:gd name="T10" fmla="*/ 305 w 381"/>
                <a:gd name="T11" fmla="*/ 21 h 514"/>
                <a:gd name="T12" fmla="*/ 292 w 381"/>
                <a:gd name="T13" fmla="*/ 32 h 514"/>
                <a:gd name="T14" fmla="*/ 271 w 381"/>
                <a:gd name="T15" fmla="*/ 48 h 514"/>
                <a:gd name="T16" fmla="*/ 252 w 381"/>
                <a:gd name="T17" fmla="*/ 44 h 514"/>
                <a:gd name="T18" fmla="*/ 231 w 381"/>
                <a:gd name="T19" fmla="*/ 46 h 514"/>
                <a:gd name="T20" fmla="*/ 217 w 381"/>
                <a:gd name="T21" fmla="*/ 74 h 514"/>
                <a:gd name="T22" fmla="*/ 200 w 381"/>
                <a:gd name="T23" fmla="*/ 86 h 514"/>
                <a:gd name="T24" fmla="*/ 164 w 381"/>
                <a:gd name="T25" fmla="*/ 70 h 514"/>
                <a:gd name="T26" fmla="*/ 141 w 381"/>
                <a:gd name="T27" fmla="*/ 76 h 514"/>
                <a:gd name="T28" fmla="*/ 124 w 381"/>
                <a:gd name="T29" fmla="*/ 91 h 514"/>
                <a:gd name="T30" fmla="*/ 128 w 381"/>
                <a:gd name="T31" fmla="*/ 108 h 514"/>
                <a:gd name="T32" fmla="*/ 133 w 381"/>
                <a:gd name="T33" fmla="*/ 128 h 514"/>
                <a:gd name="T34" fmla="*/ 139 w 381"/>
                <a:gd name="T35" fmla="*/ 141 h 514"/>
                <a:gd name="T36" fmla="*/ 111 w 381"/>
                <a:gd name="T37" fmla="*/ 166 h 514"/>
                <a:gd name="T38" fmla="*/ 82 w 381"/>
                <a:gd name="T39" fmla="*/ 166 h 514"/>
                <a:gd name="T40" fmla="*/ 55 w 381"/>
                <a:gd name="T41" fmla="*/ 181 h 514"/>
                <a:gd name="T42" fmla="*/ 21 w 381"/>
                <a:gd name="T43" fmla="*/ 173 h 514"/>
                <a:gd name="T44" fmla="*/ 11 w 381"/>
                <a:gd name="T45" fmla="*/ 185 h 514"/>
                <a:gd name="T46" fmla="*/ 2 w 381"/>
                <a:gd name="T47" fmla="*/ 192 h 514"/>
                <a:gd name="T48" fmla="*/ 23 w 381"/>
                <a:gd name="T49" fmla="*/ 215 h 514"/>
                <a:gd name="T50" fmla="*/ 40 w 381"/>
                <a:gd name="T51" fmla="*/ 221 h 514"/>
                <a:gd name="T52" fmla="*/ 48 w 381"/>
                <a:gd name="T53" fmla="*/ 234 h 514"/>
                <a:gd name="T54" fmla="*/ 42 w 381"/>
                <a:gd name="T55" fmla="*/ 242 h 514"/>
                <a:gd name="T56" fmla="*/ 61 w 381"/>
                <a:gd name="T57" fmla="*/ 259 h 514"/>
                <a:gd name="T58" fmla="*/ 55 w 381"/>
                <a:gd name="T59" fmla="*/ 287 h 514"/>
                <a:gd name="T60" fmla="*/ 65 w 381"/>
                <a:gd name="T61" fmla="*/ 310 h 514"/>
                <a:gd name="T62" fmla="*/ 93 w 381"/>
                <a:gd name="T63" fmla="*/ 306 h 514"/>
                <a:gd name="T64" fmla="*/ 95 w 381"/>
                <a:gd name="T65" fmla="*/ 341 h 514"/>
                <a:gd name="T66" fmla="*/ 93 w 381"/>
                <a:gd name="T67" fmla="*/ 373 h 514"/>
                <a:gd name="T68" fmla="*/ 107 w 381"/>
                <a:gd name="T69" fmla="*/ 386 h 514"/>
                <a:gd name="T70" fmla="*/ 95 w 381"/>
                <a:gd name="T71" fmla="*/ 441 h 514"/>
                <a:gd name="T72" fmla="*/ 97 w 381"/>
                <a:gd name="T73" fmla="*/ 468 h 514"/>
                <a:gd name="T74" fmla="*/ 91 w 381"/>
                <a:gd name="T75" fmla="*/ 481 h 514"/>
                <a:gd name="T76" fmla="*/ 82 w 381"/>
                <a:gd name="T77" fmla="*/ 495 h 514"/>
                <a:gd name="T78" fmla="*/ 143 w 381"/>
                <a:gd name="T79" fmla="*/ 504 h 514"/>
                <a:gd name="T80" fmla="*/ 177 w 381"/>
                <a:gd name="T81" fmla="*/ 457 h 514"/>
                <a:gd name="T82" fmla="*/ 187 w 381"/>
                <a:gd name="T83" fmla="*/ 430 h 514"/>
                <a:gd name="T84" fmla="*/ 242 w 381"/>
                <a:gd name="T85" fmla="*/ 405 h 514"/>
                <a:gd name="T86" fmla="*/ 274 w 381"/>
                <a:gd name="T87" fmla="*/ 403 h 514"/>
                <a:gd name="T88" fmla="*/ 288 w 381"/>
                <a:gd name="T89" fmla="*/ 399 h 514"/>
                <a:gd name="T90" fmla="*/ 252 w 381"/>
                <a:gd name="T91" fmla="*/ 371 h 514"/>
                <a:gd name="T92" fmla="*/ 282 w 381"/>
                <a:gd name="T93" fmla="*/ 331 h 514"/>
                <a:gd name="T94" fmla="*/ 295 w 381"/>
                <a:gd name="T95" fmla="*/ 304 h 514"/>
                <a:gd name="T96" fmla="*/ 309 w 381"/>
                <a:gd name="T97" fmla="*/ 306 h 514"/>
                <a:gd name="T98" fmla="*/ 326 w 381"/>
                <a:gd name="T99" fmla="*/ 304 h 514"/>
                <a:gd name="T100" fmla="*/ 330 w 381"/>
                <a:gd name="T101" fmla="*/ 255 h 514"/>
                <a:gd name="T102" fmla="*/ 326 w 381"/>
                <a:gd name="T103" fmla="*/ 251 h 514"/>
                <a:gd name="T104" fmla="*/ 326 w 381"/>
                <a:gd name="T105" fmla="*/ 244 h 514"/>
                <a:gd name="T106" fmla="*/ 333 w 381"/>
                <a:gd name="T107" fmla="*/ 207 h 514"/>
                <a:gd name="T108" fmla="*/ 330 w 381"/>
                <a:gd name="T109" fmla="*/ 204 h 514"/>
                <a:gd name="T110" fmla="*/ 328 w 381"/>
                <a:gd name="T111" fmla="*/ 177 h 514"/>
                <a:gd name="T112" fmla="*/ 322 w 381"/>
                <a:gd name="T113" fmla="*/ 160 h 514"/>
                <a:gd name="T114" fmla="*/ 318 w 381"/>
                <a:gd name="T115" fmla="*/ 148 h 514"/>
                <a:gd name="T116" fmla="*/ 328 w 381"/>
                <a:gd name="T117" fmla="*/ 150 h 514"/>
                <a:gd name="T118" fmla="*/ 335 w 381"/>
                <a:gd name="T119" fmla="*/ 145 h 514"/>
                <a:gd name="T120" fmla="*/ 356 w 381"/>
                <a:gd name="T121" fmla="*/ 112 h 514"/>
                <a:gd name="T122" fmla="*/ 375 w 381"/>
                <a:gd name="T123" fmla="*/ 46 h 514"/>
                <a:gd name="T124" fmla="*/ 381 w 381"/>
                <a:gd name="T125" fmla="*/ 21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1" h="514">
                  <a:moveTo>
                    <a:pt x="377" y="10"/>
                  </a:moveTo>
                  <a:lnTo>
                    <a:pt x="377" y="10"/>
                  </a:lnTo>
                  <a:lnTo>
                    <a:pt x="377" y="6"/>
                  </a:lnTo>
                  <a:lnTo>
                    <a:pt x="375" y="2"/>
                  </a:lnTo>
                  <a:lnTo>
                    <a:pt x="375" y="2"/>
                  </a:lnTo>
                  <a:lnTo>
                    <a:pt x="375" y="4"/>
                  </a:lnTo>
                  <a:lnTo>
                    <a:pt x="375" y="4"/>
                  </a:lnTo>
                  <a:lnTo>
                    <a:pt x="375" y="4"/>
                  </a:lnTo>
                  <a:lnTo>
                    <a:pt x="377" y="10"/>
                  </a:lnTo>
                  <a:close/>
                  <a:moveTo>
                    <a:pt x="381" y="15"/>
                  </a:moveTo>
                  <a:lnTo>
                    <a:pt x="379" y="13"/>
                  </a:lnTo>
                  <a:lnTo>
                    <a:pt x="379" y="12"/>
                  </a:lnTo>
                  <a:lnTo>
                    <a:pt x="377" y="12"/>
                  </a:lnTo>
                  <a:lnTo>
                    <a:pt x="377" y="12"/>
                  </a:lnTo>
                  <a:lnTo>
                    <a:pt x="377" y="13"/>
                  </a:lnTo>
                  <a:lnTo>
                    <a:pt x="375" y="12"/>
                  </a:lnTo>
                  <a:lnTo>
                    <a:pt x="373" y="10"/>
                  </a:lnTo>
                  <a:lnTo>
                    <a:pt x="373" y="10"/>
                  </a:lnTo>
                  <a:lnTo>
                    <a:pt x="373" y="8"/>
                  </a:lnTo>
                  <a:lnTo>
                    <a:pt x="373" y="8"/>
                  </a:lnTo>
                  <a:lnTo>
                    <a:pt x="373" y="8"/>
                  </a:lnTo>
                  <a:lnTo>
                    <a:pt x="373" y="8"/>
                  </a:lnTo>
                  <a:lnTo>
                    <a:pt x="370" y="10"/>
                  </a:lnTo>
                  <a:lnTo>
                    <a:pt x="368" y="10"/>
                  </a:lnTo>
                  <a:lnTo>
                    <a:pt x="362" y="8"/>
                  </a:lnTo>
                  <a:lnTo>
                    <a:pt x="362" y="8"/>
                  </a:lnTo>
                  <a:lnTo>
                    <a:pt x="360" y="8"/>
                  </a:lnTo>
                  <a:lnTo>
                    <a:pt x="358" y="8"/>
                  </a:lnTo>
                  <a:lnTo>
                    <a:pt x="358" y="8"/>
                  </a:lnTo>
                  <a:lnTo>
                    <a:pt x="358" y="8"/>
                  </a:lnTo>
                  <a:lnTo>
                    <a:pt x="358" y="6"/>
                  </a:lnTo>
                  <a:lnTo>
                    <a:pt x="358" y="6"/>
                  </a:lnTo>
                  <a:lnTo>
                    <a:pt x="358" y="6"/>
                  </a:lnTo>
                  <a:lnTo>
                    <a:pt x="358" y="6"/>
                  </a:lnTo>
                  <a:lnTo>
                    <a:pt x="358" y="4"/>
                  </a:lnTo>
                  <a:lnTo>
                    <a:pt x="358" y="4"/>
                  </a:lnTo>
                  <a:lnTo>
                    <a:pt x="358" y="4"/>
                  </a:lnTo>
                  <a:lnTo>
                    <a:pt x="356" y="4"/>
                  </a:lnTo>
                  <a:lnTo>
                    <a:pt x="354" y="2"/>
                  </a:lnTo>
                  <a:lnTo>
                    <a:pt x="353" y="2"/>
                  </a:lnTo>
                  <a:lnTo>
                    <a:pt x="353" y="0"/>
                  </a:lnTo>
                  <a:lnTo>
                    <a:pt x="353" y="2"/>
                  </a:lnTo>
                  <a:lnTo>
                    <a:pt x="353" y="2"/>
                  </a:lnTo>
                  <a:lnTo>
                    <a:pt x="351" y="2"/>
                  </a:lnTo>
                  <a:lnTo>
                    <a:pt x="353" y="2"/>
                  </a:lnTo>
                  <a:lnTo>
                    <a:pt x="353" y="4"/>
                  </a:lnTo>
                  <a:lnTo>
                    <a:pt x="353" y="4"/>
                  </a:lnTo>
                  <a:lnTo>
                    <a:pt x="353" y="4"/>
                  </a:lnTo>
                  <a:lnTo>
                    <a:pt x="354" y="4"/>
                  </a:lnTo>
                  <a:lnTo>
                    <a:pt x="354" y="6"/>
                  </a:lnTo>
                  <a:lnTo>
                    <a:pt x="354" y="6"/>
                  </a:lnTo>
                  <a:lnTo>
                    <a:pt x="353" y="6"/>
                  </a:lnTo>
                  <a:lnTo>
                    <a:pt x="353" y="8"/>
                  </a:lnTo>
                  <a:lnTo>
                    <a:pt x="351" y="8"/>
                  </a:lnTo>
                  <a:lnTo>
                    <a:pt x="349" y="8"/>
                  </a:lnTo>
                  <a:lnTo>
                    <a:pt x="347" y="10"/>
                  </a:lnTo>
                  <a:lnTo>
                    <a:pt x="347" y="12"/>
                  </a:lnTo>
                  <a:lnTo>
                    <a:pt x="345" y="12"/>
                  </a:lnTo>
                  <a:lnTo>
                    <a:pt x="345" y="13"/>
                  </a:lnTo>
                  <a:lnTo>
                    <a:pt x="345" y="13"/>
                  </a:lnTo>
                  <a:lnTo>
                    <a:pt x="345" y="13"/>
                  </a:lnTo>
                  <a:lnTo>
                    <a:pt x="345" y="15"/>
                  </a:lnTo>
                  <a:lnTo>
                    <a:pt x="345" y="15"/>
                  </a:lnTo>
                  <a:lnTo>
                    <a:pt x="345" y="17"/>
                  </a:lnTo>
                  <a:lnTo>
                    <a:pt x="337" y="21"/>
                  </a:lnTo>
                  <a:lnTo>
                    <a:pt x="332" y="23"/>
                  </a:lnTo>
                  <a:lnTo>
                    <a:pt x="330" y="25"/>
                  </a:lnTo>
                  <a:lnTo>
                    <a:pt x="330" y="25"/>
                  </a:lnTo>
                  <a:lnTo>
                    <a:pt x="328" y="23"/>
                  </a:lnTo>
                  <a:lnTo>
                    <a:pt x="328" y="23"/>
                  </a:lnTo>
                  <a:lnTo>
                    <a:pt x="326" y="25"/>
                  </a:lnTo>
                  <a:lnTo>
                    <a:pt x="326" y="25"/>
                  </a:lnTo>
                  <a:lnTo>
                    <a:pt x="326" y="25"/>
                  </a:lnTo>
                  <a:lnTo>
                    <a:pt x="326" y="27"/>
                  </a:lnTo>
                  <a:lnTo>
                    <a:pt x="326" y="27"/>
                  </a:lnTo>
                  <a:lnTo>
                    <a:pt x="328" y="27"/>
                  </a:lnTo>
                  <a:lnTo>
                    <a:pt x="328" y="27"/>
                  </a:lnTo>
                  <a:lnTo>
                    <a:pt x="328" y="29"/>
                  </a:lnTo>
                  <a:lnTo>
                    <a:pt x="330" y="29"/>
                  </a:lnTo>
                  <a:lnTo>
                    <a:pt x="330" y="29"/>
                  </a:lnTo>
                  <a:lnTo>
                    <a:pt x="330" y="29"/>
                  </a:lnTo>
                  <a:lnTo>
                    <a:pt x="330" y="31"/>
                  </a:lnTo>
                  <a:lnTo>
                    <a:pt x="328" y="31"/>
                  </a:lnTo>
                  <a:lnTo>
                    <a:pt x="328" y="31"/>
                  </a:lnTo>
                  <a:lnTo>
                    <a:pt x="326" y="31"/>
                  </a:lnTo>
                  <a:lnTo>
                    <a:pt x="324" y="31"/>
                  </a:lnTo>
                  <a:lnTo>
                    <a:pt x="324" y="31"/>
                  </a:lnTo>
                  <a:lnTo>
                    <a:pt x="320" y="29"/>
                  </a:lnTo>
                  <a:lnTo>
                    <a:pt x="320" y="29"/>
                  </a:lnTo>
                  <a:lnTo>
                    <a:pt x="320" y="29"/>
                  </a:lnTo>
                  <a:lnTo>
                    <a:pt x="320" y="27"/>
                  </a:lnTo>
                  <a:lnTo>
                    <a:pt x="320" y="27"/>
                  </a:lnTo>
                  <a:lnTo>
                    <a:pt x="320" y="25"/>
                  </a:lnTo>
                  <a:lnTo>
                    <a:pt x="320" y="25"/>
                  </a:lnTo>
                  <a:lnTo>
                    <a:pt x="318" y="25"/>
                  </a:lnTo>
                  <a:lnTo>
                    <a:pt x="312" y="25"/>
                  </a:lnTo>
                  <a:lnTo>
                    <a:pt x="311" y="25"/>
                  </a:lnTo>
                  <a:lnTo>
                    <a:pt x="309" y="25"/>
                  </a:lnTo>
                  <a:lnTo>
                    <a:pt x="309" y="25"/>
                  </a:lnTo>
                  <a:lnTo>
                    <a:pt x="309" y="23"/>
                  </a:lnTo>
                  <a:lnTo>
                    <a:pt x="307" y="21"/>
                  </a:lnTo>
                  <a:lnTo>
                    <a:pt x="305" y="21"/>
                  </a:lnTo>
                  <a:lnTo>
                    <a:pt x="305" y="19"/>
                  </a:lnTo>
                  <a:lnTo>
                    <a:pt x="303" y="19"/>
                  </a:lnTo>
                  <a:lnTo>
                    <a:pt x="301" y="19"/>
                  </a:lnTo>
                  <a:lnTo>
                    <a:pt x="299" y="19"/>
                  </a:lnTo>
                  <a:lnTo>
                    <a:pt x="297" y="21"/>
                  </a:lnTo>
                  <a:lnTo>
                    <a:pt x="297" y="21"/>
                  </a:lnTo>
                  <a:lnTo>
                    <a:pt x="297" y="21"/>
                  </a:lnTo>
                  <a:lnTo>
                    <a:pt x="297" y="23"/>
                  </a:lnTo>
                  <a:lnTo>
                    <a:pt x="297" y="23"/>
                  </a:lnTo>
                  <a:lnTo>
                    <a:pt x="297" y="25"/>
                  </a:lnTo>
                  <a:lnTo>
                    <a:pt x="295" y="27"/>
                  </a:lnTo>
                  <a:lnTo>
                    <a:pt x="295" y="27"/>
                  </a:lnTo>
                  <a:lnTo>
                    <a:pt x="295" y="29"/>
                  </a:lnTo>
                  <a:lnTo>
                    <a:pt x="295" y="29"/>
                  </a:lnTo>
                  <a:lnTo>
                    <a:pt x="295" y="31"/>
                  </a:lnTo>
                  <a:lnTo>
                    <a:pt x="295" y="31"/>
                  </a:lnTo>
                  <a:lnTo>
                    <a:pt x="292" y="32"/>
                  </a:lnTo>
                  <a:lnTo>
                    <a:pt x="292" y="32"/>
                  </a:lnTo>
                  <a:lnTo>
                    <a:pt x="292" y="34"/>
                  </a:lnTo>
                  <a:lnTo>
                    <a:pt x="290" y="36"/>
                  </a:lnTo>
                  <a:lnTo>
                    <a:pt x="288" y="38"/>
                  </a:lnTo>
                  <a:lnTo>
                    <a:pt x="286" y="40"/>
                  </a:lnTo>
                  <a:lnTo>
                    <a:pt x="284" y="40"/>
                  </a:lnTo>
                  <a:lnTo>
                    <a:pt x="284" y="40"/>
                  </a:lnTo>
                  <a:lnTo>
                    <a:pt x="284" y="38"/>
                  </a:lnTo>
                  <a:lnTo>
                    <a:pt x="282" y="38"/>
                  </a:lnTo>
                  <a:lnTo>
                    <a:pt x="280" y="38"/>
                  </a:lnTo>
                  <a:lnTo>
                    <a:pt x="280" y="38"/>
                  </a:lnTo>
                  <a:lnTo>
                    <a:pt x="278" y="38"/>
                  </a:lnTo>
                  <a:lnTo>
                    <a:pt x="276" y="44"/>
                  </a:lnTo>
                  <a:lnTo>
                    <a:pt x="272" y="46"/>
                  </a:lnTo>
                  <a:lnTo>
                    <a:pt x="272" y="48"/>
                  </a:lnTo>
                  <a:lnTo>
                    <a:pt x="271" y="48"/>
                  </a:lnTo>
                  <a:lnTo>
                    <a:pt x="271" y="48"/>
                  </a:lnTo>
                  <a:lnTo>
                    <a:pt x="267" y="48"/>
                  </a:lnTo>
                  <a:lnTo>
                    <a:pt x="265" y="48"/>
                  </a:lnTo>
                  <a:lnTo>
                    <a:pt x="263" y="48"/>
                  </a:lnTo>
                  <a:lnTo>
                    <a:pt x="263" y="48"/>
                  </a:lnTo>
                  <a:lnTo>
                    <a:pt x="261" y="48"/>
                  </a:lnTo>
                  <a:lnTo>
                    <a:pt x="261" y="48"/>
                  </a:lnTo>
                  <a:lnTo>
                    <a:pt x="259" y="48"/>
                  </a:lnTo>
                  <a:lnTo>
                    <a:pt x="257" y="46"/>
                  </a:lnTo>
                  <a:lnTo>
                    <a:pt x="257" y="46"/>
                  </a:lnTo>
                  <a:lnTo>
                    <a:pt x="257" y="44"/>
                  </a:lnTo>
                  <a:lnTo>
                    <a:pt x="257" y="44"/>
                  </a:lnTo>
                  <a:lnTo>
                    <a:pt x="257" y="44"/>
                  </a:lnTo>
                  <a:lnTo>
                    <a:pt x="255" y="44"/>
                  </a:lnTo>
                  <a:lnTo>
                    <a:pt x="255" y="44"/>
                  </a:lnTo>
                  <a:lnTo>
                    <a:pt x="253" y="44"/>
                  </a:lnTo>
                  <a:lnTo>
                    <a:pt x="252" y="42"/>
                  </a:lnTo>
                  <a:lnTo>
                    <a:pt x="252" y="44"/>
                  </a:lnTo>
                  <a:lnTo>
                    <a:pt x="250" y="44"/>
                  </a:lnTo>
                  <a:lnTo>
                    <a:pt x="250" y="46"/>
                  </a:lnTo>
                  <a:lnTo>
                    <a:pt x="250" y="46"/>
                  </a:lnTo>
                  <a:lnTo>
                    <a:pt x="250" y="46"/>
                  </a:lnTo>
                  <a:lnTo>
                    <a:pt x="250" y="48"/>
                  </a:lnTo>
                  <a:lnTo>
                    <a:pt x="248" y="48"/>
                  </a:lnTo>
                  <a:lnTo>
                    <a:pt x="246" y="48"/>
                  </a:lnTo>
                  <a:lnTo>
                    <a:pt x="246" y="48"/>
                  </a:lnTo>
                  <a:lnTo>
                    <a:pt x="246" y="48"/>
                  </a:lnTo>
                  <a:lnTo>
                    <a:pt x="246" y="46"/>
                  </a:lnTo>
                  <a:lnTo>
                    <a:pt x="244" y="44"/>
                  </a:lnTo>
                  <a:lnTo>
                    <a:pt x="244" y="44"/>
                  </a:lnTo>
                  <a:lnTo>
                    <a:pt x="240" y="44"/>
                  </a:lnTo>
                  <a:lnTo>
                    <a:pt x="238" y="46"/>
                  </a:lnTo>
                  <a:lnTo>
                    <a:pt x="236" y="46"/>
                  </a:lnTo>
                  <a:lnTo>
                    <a:pt x="232" y="46"/>
                  </a:lnTo>
                  <a:lnTo>
                    <a:pt x="231" y="46"/>
                  </a:lnTo>
                  <a:lnTo>
                    <a:pt x="231" y="48"/>
                  </a:lnTo>
                  <a:lnTo>
                    <a:pt x="231" y="48"/>
                  </a:lnTo>
                  <a:lnTo>
                    <a:pt x="229" y="50"/>
                  </a:lnTo>
                  <a:lnTo>
                    <a:pt x="229" y="50"/>
                  </a:lnTo>
                  <a:lnTo>
                    <a:pt x="227" y="50"/>
                  </a:lnTo>
                  <a:lnTo>
                    <a:pt x="227" y="50"/>
                  </a:lnTo>
                  <a:lnTo>
                    <a:pt x="225" y="50"/>
                  </a:lnTo>
                  <a:lnTo>
                    <a:pt x="225" y="51"/>
                  </a:lnTo>
                  <a:lnTo>
                    <a:pt x="223" y="53"/>
                  </a:lnTo>
                  <a:lnTo>
                    <a:pt x="223" y="53"/>
                  </a:lnTo>
                  <a:lnTo>
                    <a:pt x="223" y="55"/>
                  </a:lnTo>
                  <a:lnTo>
                    <a:pt x="223" y="57"/>
                  </a:lnTo>
                  <a:lnTo>
                    <a:pt x="223" y="57"/>
                  </a:lnTo>
                  <a:lnTo>
                    <a:pt x="223" y="59"/>
                  </a:lnTo>
                  <a:lnTo>
                    <a:pt x="221" y="67"/>
                  </a:lnTo>
                  <a:lnTo>
                    <a:pt x="217" y="72"/>
                  </a:lnTo>
                  <a:lnTo>
                    <a:pt x="217" y="74"/>
                  </a:lnTo>
                  <a:lnTo>
                    <a:pt x="217" y="74"/>
                  </a:lnTo>
                  <a:lnTo>
                    <a:pt x="213" y="76"/>
                  </a:lnTo>
                  <a:lnTo>
                    <a:pt x="213" y="76"/>
                  </a:lnTo>
                  <a:lnTo>
                    <a:pt x="211" y="76"/>
                  </a:lnTo>
                  <a:lnTo>
                    <a:pt x="211" y="76"/>
                  </a:lnTo>
                  <a:lnTo>
                    <a:pt x="211" y="76"/>
                  </a:lnTo>
                  <a:lnTo>
                    <a:pt x="210" y="76"/>
                  </a:lnTo>
                  <a:lnTo>
                    <a:pt x="210" y="76"/>
                  </a:lnTo>
                  <a:lnTo>
                    <a:pt x="210" y="78"/>
                  </a:lnTo>
                  <a:lnTo>
                    <a:pt x="210" y="78"/>
                  </a:lnTo>
                  <a:lnTo>
                    <a:pt x="210" y="80"/>
                  </a:lnTo>
                  <a:lnTo>
                    <a:pt x="210" y="82"/>
                  </a:lnTo>
                  <a:lnTo>
                    <a:pt x="206" y="86"/>
                  </a:lnTo>
                  <a:lnTo>
                    <a:pt x="204" y="86"/>
                  </a:lnTo>
                  <a:lnTo>
                    <a:pt x="204" y="86"/>
                  </a:lnTo>
                  <a:lnTo>
                    <a:pt x="202" y="86"/>
                  </a:lnTo>
                  <a:lnTo>
                    <a:pt x="200" y="86"/>
                  </a:lnTo>
                  <a:lnTo>
                    <a:pt x="200" y="86"/>
                  </a:lnTo>
                  <a:lnTo>
                    <a:pt x="200" y="86"/>
                  </a:lnTo>
                  <a:lnTo>
                    <a:pt x="196" y="86"/>
                  </a:lnTo>
                  <a:lnTo>
                    <a:pt x="192" y="82"/>
                  </a:lnTo>
                  <a:lnTo>
                    <a:pt x="189" y="80"/>
                  </a:lnTo>
                  <a:lnTo>
                    <a:pt x="185" y="74"/>
                  </a:lnTo>
                  <a:lnTo>
                    <a:pt x="179" y="72"/>
                  </a:lnTo>
                  <a:lnTo>
                    <a:pt x="177" y="72"/>
                  </a:lnTo>
                  <a:lnTo>
                    <a:pt x="171" y="69"/>
                  </a:lnTo>
                  <a:lnTo>
                    <a:pt x="170" y="67"/>
                  </a:lnTo>
                  <a:lnTo>
                    <a:pt x="168" y="67"/>
                  </a:lnTo>
                  <a:lnTo>
                    <a:pt x="168" y="67"/>
                  </a:lnTo>
                  <a:lnTo>
                    <a:pt x="166" y="69"/>
                  </a:lnTo>
                  <a:lnTo>
                    <a:pt x="166" y="69"/>
                  </a:lnTo>
                  <a:lnTo>
                    <a:pt x="166" y="69"/>
                  </a:lnTo>
                  <a:lnTo>
                    <a:pt x="166" y="70"/>
                  </a:lnTo>
                  <a:lnTo>
                    <a:pt x="164" y="70"/>
                  </a:lnTo>
                  <a:lnTo>
                    <a:pt x="164" y="70"/>
                  </a:lnTo>
                  <a:lnTo>
                    <a:pt x="162" y="70"/>
                  </a:lnTo>
                  <a:lnTo>
                    <a:pt x="160" y="69"/>
                  </a:lnTo>
                  <a:lnTo>
                    <a:pt x="160" y="67"/>
                  </a:lnTo>
                  <a:lnTo>
                    <a:pt x="158" y="67"/>
                  </a:lnTo>
                  <a:lnTo>
                    <a:pt x="158" y="65"/>
                  </a:lnTo>
                  <a:lnTo>
                    <a:pt x="158" y="65"/>
                  </a:lnTo>
                  <a:lnTo>
                    <a:pt x="156" y="65"/>
                  </a:lnTo>
                  <a:lnTo>
                    <a:pt x="156" y="65"/>
                  </a:lnTo>
                  <a:lnTo>
                    <a:pt x="154" y="63"/>
                  </a:lnTo>
                  <a:lnTo>
                    <a:pt x="151" y="65"/>
                  </a:lnTo>
                  <a:lnTo>
                    <a:pt x="147" y="65"/>
                  </a:lnTo>
                  <a:lnTo>
                    <a:pt x="145" y="70"/>
                  </a:lnTo>
                  <a:lnTo>
                    <a:pt x="143" y="72"/>
                  </a:lnTo>
                  <a:lnTo>
                    <a:pt x="143" y="74"/>
                  </a:lnTo>
                  <a:lnTo>
                    <a:pt x="141" y="74"/>
                  </a:lnTo>
                  <a:lnTo>
                    <a:pt x="141" y="76"/>
                  </a:lnTo>
                  <a:lnTo>
                    <a:pt x="141" y="76"/>
                  </a:lnTo>
                  <a:lnTo>
                    <a:pt x="143" y="76"/>
                  </a:lnTo>
                  <a:lnTo>
                    <a:pt x="143" y="78"/>
                  </a:lnTo>
                  <a:lnTo>
                    <a:pt x="143" y="78"/>
                  </a:lnTo>
                  <a:lnTo>
                    <a:pt x="143" y="78"/>
                  </a:lnTo>
                  <a:lnTo>
                    <a:pt x="141" y="80"/>
                  </a:lnTo>
                  <a:lnTo>
                    <a:pt x="141" y="80"/>
                  </a:lnTo>
                  <a:lnTo>
                    <a:pt x="137" y="82"/>
                  </a:lnTo>
                  <a:lnTo>
                    <a:pt x="135" y="82"/>
                  </a:lnTo>
                  <a:lnTo>
                    <a:pt x="135" y="82"/>
                  </a:lnTo>
                  <a:lnTo>
                    <a:pt x="133" y="82"/>
                  </a:lnTo>
                  <a:lnTo>
                    <a:pt x="131" y="82"/>
                  </a:lnTo>
                  <a:lnTo>
                    <a:pt x="131" y="82"/>
                  </a:lnTo>
                  <a:lnTo>
                    <a:pt x="130" y="82"/>
                  </a:lnTo>
                  <a:lnTo>
                    <a:pt x="128" y="82"/>
                  </a:lnTo>
                  <a:lnTo>
                    <a:pt x="126" y="88"/>
                  </a:lnTo>
                  <a:lnTo>
                    <a:pt x="124" y="91"/>
                  </a:lnTo>
                  <a:lnTo>
                    <a:pt x="124" y="93"/>
                  </a:lnTo>
                  <a:lnTo>
                    <a:pt x="124" y="95"/>
                  </a:lnTo>
                  <a:lnTo>
                    <a:pt x="126" y="95"/>
                  </a:lnTo>
                  <a:lnTo>
                    <a:pt x="126" y="97"/>
                  </a:lnTo>
                  <a:lnTo>
                    <a:pt x="126" y="97"/>
                  </a:lnTo>
                  <a:lnTo>
                    <a:pt x="126" y="99"/>
                  </a:lnTo>
                  <a:lnTo>
                    <a:pt x="126" y="99"/>
                  </a:lnTo>
                  <a:lnTo>
                    <a:pt x="126" y="99"/>
                  </a:lnTo>
                  <a:lnTo>
                    <a:pt x="126" y="99"/>
                  </a:lnTo>
                  <a:lnTo>
                    <a:pt x="126" y="99"/>
                  </a:lnTo>
                  <a:lnTo>
                    <a:pt x="126" y="99"/>
                  </a:lnTo>
                  <a:lnTo>
                    <a:pt x="128" y="99"/>
                  </a:lnTo>
                  <a:lnTo>
                    <a:pt x="128" y="99"/>
                  </a:lnTo>
                  <a:lnTo>
                    <a:pt x="130" y="99"/>
                  </a:lnTo>
                  <a:lnTo>
                    <a:pt x="130" y="101"/>
                  </a:lnTo>
                  <a:lnTo>
                    <a:pt x="130" y="103"/>
                  </a:lnTo>
                  <a:lnTo>
                    <a:pt x="128" y="108"/>
                  </a:lnTo>
                  <a:lnTo>
                    <a:pt x="128" y="108"/>
                  </a:lnTo>
                  <a:lnTo>
                    <a:pt x="126" y="110"/>
                  </a:lnTo>
                  <a:lnTo>
                    <a:pt x="124" y="112"/>
                  </a:lnTo>
                  <a:lnTo>
                    <a:pt x="124" y="114"/>
                  </a:lnTo>
                  <a:lnTo>
                    <a:pt x="120" y="116"/>
                  </a:lnTo>
                  <a:lnTo>
                    <a:pt x="116" y="118"/>
                  </a:lnTo>
                  <a:lnTo>
                    <a:pt x="116" y="120"/>
                  </a:lnTo>
                  <a:lnTo>
                    <a:pt x="116" y="120"/>
                  </a:lnTo>
                  <a:lnTo>
                    <a:pt x="114" y="122"/>
                  </a:lnTo>
                  <a:lnTo>
                    <a:pt x="114" y="122"/>
                  </a:lnTo>
                  <a:lnTo>
                    <a:pt x="114" y="122"/>
                  </a:lnTo>
                  <a:lnTo>
                    <a:pt x="116" y="124"/>
                  </a:lnTo>
                  <a:lnTo>
                    <a:pt x="116" y="124"/>
                  </a:lnTo>
                  <a:lnTo>
                    <a:pt x="116" y="126"/>
                  </a:lnTo>
                  <a:lnTo>
                    <a:pt x="116" y="126"/>
                  </a:lnTo>
                  <a:lnTo>
                    <a:pt x="118" y="128"/>
                  </a:lnTo>
                  <a:lnTo>
                    <a:pt x="133" y="128"/>
                  </a:lnTo>
                  <a:lnTo>
                    <a:pt x="137" y="128"/>
                  </a:lnTo>
                  <a:lnTo>
                    <a:pt x="139" y="129"/>
                  </a:lnTo>
                  <a:lnTo>
                    <a:pt x="139" y="129"/>
                  </a:lnTo>
                  <a:lnTo>
                    <a:pt x="139" y="129"/>
                  </a:lnTo>
                  <a:lnTo>
                    <a:pt x="143" y="133"/>
                  </a:lnTo>
                  <a:lnTo>
                    <a:pt x="143" y="135"/>
                  </a:lnTo>
                  <a:lnTo>
                    <a:pt x="143" y="135"/>
                  </a:lnTo>
                  <a:lnTo>
                    <a:pt x="143" y="135"/>
                  </a:lnTo>
                  <a:lnTo>
                    <a:pt x="143" y="137"/>
                  </a:lnTo>
                  <a:lnTo>
                    <a:pt x="143" y="137"/>
                  </a:lnTo>
                  <a:lnTo>
                    <a:pt x="143" y="137"/>
                  </a:lnTo>
                  <a:lnTo>
                    <a:pt x="143" y="137"/>
                  </a:lnTo>
                  <a:lnTo>
                    <a:pt x="141" y="139"/>
                  </a:lnTo>
                  <a:lnTo>
                    <a:pt x="141" y="139"/>
                  </a:lnTo>
                  <a:lnTo>
                    <a:pt x="141" y="139"/>
                  </a:lnTo>
                  <a:lnTo>
                    <a:pt x="139" y="141"/>
                  </a:lnTo>
                  <a:lnTo>
                    <a:pt x="139" y="141"/>
                  </a:lnTo>
                  <a:lnTo>
                    <a:pt x="137" y="143"/>
                  </a:lnTo>
                  <a:lnTo>
                    <a:pt x="135" y="147"/>
                  </a:lnTo>
                  <a:lnTo>
                    <a:pt x="133" y="148"/>
                  </a:lnTo>
                  <a:lnTo>
                    <a:pt x="133" y="150"/>
                  </a:lnTo>
                  <a:lnTo>
                    <a:pt x="131" y="150"/>
                  </a:lnTo>
                  <a:lnTo>
                    <a:pt x="131" y="150"/>
                  </a:lnTo>
                  <a:lnTo>
                    <a:pt x="130" y="150"/>
                  </a:lnTo>
                  <a:lnTo>
                    <a:pt x="120" y="152"/>
                  </a:lnTo>
                  <a:lnTo>
                    <a:pt x="118" y="152"/>
                  </a:lnTo>
                  <a:lnTo>
                    <a:pt x="116" y="152"/>
                  </a:lnTo>
                  <a:lnTo>
                    <a:pt x="116" y="154"/>
                  </a:lnTo>
                  <a:lnTo>
                    <a:pt x="114" y="156"/>
                  </a:lnTo>
                  <a:lnTo>
                    <a:pt x="114" y="158"/>
                  </a:lnTo>
                  <a:lnTo>
                    <a:pt x="112" y="162"/>
                  </a:lnTo>
                  <a:lnTo>
                    <a:pt x="112" y="164"/>
                  </a:lnTo>
                  <a:lnTo>
                    <a:pt x="111" y="166"/>
                  </a:lnTo>
                  <a:lnTo>
                    <a:pt x="111" y="166"/>
                  </a:lnTo>
                  <a:lnTo>
                    <a:pt x="107" y="166"/>
                  </a:lnTo>
                  <a:lnTo>
                    <a:pt x="105" y="166"/>
                  </a:lnTo>
                  <a:lnTo>
                    <a:pt x="103" y="166"/>
                  </a:lnTo>
                  <a:lnTo>
                    <a:pt x="101" y="166"/>
                  </a:lnTo>
                  <a:lnTo>
                    <a:pt x="101" y="166"/>
                  </a:lnTo>
                  <a:lnTo>
                    <a:pt x="99" y="164"/>
                  </a:lnTo>
                  <a:lnTo>
                    <a:pt x="97" y="164"/>
                  </a:lnTo>
                  <a:lnTo>
                    <a:pt x="97" y="164"/>
                  </a:lnTo>
                  <a:lnTo>
                    <a:pt x="95" y="164"/>
                  </a:lnTo>
                  <a:lnTo>
                    <a:pt x="95" y="164"/>
                  </a:lnTo>
                  <a:lnTo>
                    <a:pt x="93" y="164"/>
                  </a:lnTo>
                  <a:lnTo>
                    <a:pt x="91" y="166"/>
                  </a:lnTo>
                  <a:lnTo>
                    <a:pt x="88" y="164"/>
                  </a:lnTo>
                  <a:lnTo>
                    <a:pt x="86" y="166"/>
                  </a:lnTo>
                  <a:lnTo>
                    <a:pt x="84" y="166"/>
                  </a:lnTo>
                  <a:lnTo>
                    <a:pt x="84" y="166"/>
                  </a:lnTo>
                  <a:lnTo>
                    <a:pt x="82" y="166"/>
                  </a:lnTo>
                  <a:lnTo>
                    <a:pt x="82" y="167"/>
                  </a:lnTo>
                  <a:lnTo>
                    <a:pt x="82" y="169"/>
                  </a:lnTo>
                  <a:lnTo>
                    <a:pt x="80" y="169"/>
                  </a:lnTo>
                  <a:lnTo>
                    <a:pt x="80" y="169"/>
                  </a:lnTo>
                  <a:lnTo>
                    <a:pt x="74" y="164"/>
                  </a:lnTo>
                  <a:lnTo>
                    <a:pt x="72" y="164"/>
                  </a:lnTo>
                  <a:lnTo>
                    <a:pt x="72" y="162"/>
                  </a:lnTo>
                  <a:lnTo>
                    <a:pt x="70" y="164"/>
                  </a:lnTo>
                  <a:lnTo>
                    <a:pt x="69" y="164"/>
                  </a:lnTo>
                  <a:lnTo>
                    <a:pt x="67" y="164"/>
                  </a:lnTo>
                  <a:lnTo>
                    <a:pt x="65" y="164"/>
                  </a:lnTo>
                  <a:lnTo>
                    <a:pt x="65" y="164"/>
                  </a:lnTo>
                  <a:lnTo>
                    <a:pt x="63" y="166"/>
                  </a:lnTo>
                  <a:lnTo>
                    <a:pt x="59" y="169"/>
                  </a:lnTo>
                  <a:lnTo>
                    <a:pt x="57" y="173"/>
                  </a:lnTo>
                  <a:lnTo>
                    <a:pt x="57" y="179"/>
                  </a:lnTo>
                  <a:lnTo>
                    <a:pt x="55" y="181"/>
                  </a:lnTo>
                  <a:lnTo>
                    <a:pt x="55" y="181"/>
                  </a:lnTo>
                  <a:lnTo>
                    <a:pt x="50" y="181"/>
                  </a:lnTo>
                  <a:lnTo>
                    <a:pt x="50" y="179"/>
                  </a:lnTo>
                  <a:lnTo>
                    <a:pt x="36" y="181"/>
                  </a:lnTo>
                  <a:lnTo>
                    <a:pt x="34" y="181"/>
                  </a:lnTo>
                  <a:lnTo>
                    <a:pt x="32" y="181"/>
                  </a:lnTo>
                  <a:lnTo>
                    <a:pt x="30" y="181"/>
                  </a:lnTo>
                  <a:lnTo>
                    <a:pt x="30" y="179"/>
                  </a:lnTo>
                  <a:lnTo>
                    <a:pt x="30" y="179"/>
                  </a:lnTo>
                  <a:lnTo>
                    <a:pt x="30" y="177"/>
                  </a:lnTo>
                  <a:lnTo>
                    <a:pt x="30" y="175"/>
                  </a:lnTo>
                  <a:lnTo>
                    <a:pt x="30" y="175"/>
                  </a:lnTo>
                  <a:lnTo>
                    <a:pt x="29" y="173"/>
                  </a:lnTo>
                  <a:lnTo>
                    <a:pt x="27" y="173"/>
                  </a:lnTo>
                  <a:lnTo>
                    <a:pt x="25" y="173"/>
                  </a:lnTo>
                  <a:lnTo>
                    <a:pt x="23" y="173"/>
                  </a:lnTo>
                  <a:lnTo>
                    <a:pt x="21" y="173"/>
                  </a:lnTo>
                  <a:lnTo>
                    <a:pt x="21" y="175"/>
                  </a:lnTo>
                  <a:lnTo>
                    <a:pt x="19" y="175"/>
                  </a:lnTo>
                  <a:lnTo>
                    <a:pt x="19" y="175"/>
                  </a:lnTo>
                  <a:lnTo>
                    <a:pt x="19" y="177"/>
                  </a:lnTo>
                  <a:lnTo>
                    <a:pt x="17" y="177"/>
                  </a:lnTo>
                  <a:lnTo>
                    <a:pt x="19" y="179"/>
                  </a:lnTo>
                  <a:lnTo>
                    <a:pt x="19" y="179"/>
                  </a:lnTo>
                  <a:lnTo>
                    <a:pt x="19" y="179"/>
                  </a:lnTo>
                  <a:lnTo>
                    <a:pt x="17" y="179"/>
                  </a:lnTo>
                  <a:lnTo>
                    <a:pt x="17" y="179"/>
                  </a:lnTo>
                  <a:lnTo>
                    <a:pt x="17" y="179"/>
                  </a:lnTo>
                  <a:lnTo>
                    <a:pt x="15" y="181"/>
                  </a:lnTo>
                  <a:lnTo>
                    <a:pt x="13" y="181"/>
                  </a:lnTo>
                  <a:lnTo>
                    <a:pt x="13" y="181"/>
                  </a:lnTo>
                  <a:lnTo>
                    <a:pt x="13" y="183"/>
                  </a:lnTo>
                  <a:lnTo>
                    <a:pt x="11" y="185"/>
                  </a:lnTo>
                  <a:lnTo>
                    <a:pt x="11" y="185"/>
                  </a:lnTo>
                  <a:lnTo>
                    <a:pt x="10" y="185"/>
                  </a:lnTo>
                  <a:lnTo>
                    <a:pt x="8" y="185"/>
                  </a:lnTo>
                  <a:lnTo>
                    <a:pt x="6" y="185"/>
                  </a:lnTo>
                  <a:lnTo>
                    <a:pt x="4" y="185"/>
                  </a:lnTo>
                  <a:lnTo>
                    <a:pt x="2" y="183"/>
                  </a:lnTo>
                  <a:lnTo>
                    <a:pt x="2" y="185"/>
                  </a:lnTo>
                  <a:lnTo>
                    <a:pt x="2" y="185"/>
                  </a:lnTo>
                  <a:lnTo>
                    <a:pt x="2" y="186"/>
                  </a:lnTo>
                  <a:lnTo>
                    <a:pt x="2" y="188"/>
                  </a:lnTo>
                  <a:lnTo>
                    <a:pt x="2" y="188"/>
                  </a:lnTo>
                  <a:lnTo>
                    <a:pt x="0" y="190"/>
                  </a:lnTo>
                  <a:lnTo>
                    <a:pt x="0" y="190"/>
                  </a:lnTo>
                  <a:lnTo>
                    <a:pt x="2" y="190"/>
                  </a:lnTo>
                  <a:lnTo>
                    <a:pt x="2" y="192"/>
                  </a:lnTo>
                  <a:lnTo>
                    <a:pt x="2" y="192"/>
                  </a:lnTo>
                  <a:lnTo>
                    <a:pt x="2" y="192"/>
                  </a:lnTo>
                  <a:lnTo>
                    <a:pt x="2" y="192"/>
                  </a:lnTo>
                  <a:lnTo>
                    <a:pt x="2" y="194"/>
                  </a:lnTo>
                  <a:lnTo>
                    <a:pt x="2" y="194"/>
                  </a:lnTo>
                  <a:lnTo>
                    <a:pt x="2" y="194"/>
                  </a:lnTo>
                  <a:lnTo>
                    <a:pt x="4" y="196"/>
                  </a:lnTo>
                  <a:lnTo>
                    <a:pt x="8" y="196"/>
                  </a:lnTo>
                  <a:lnTo>
                    <a:pt x="17" y="200"/>
                  </a:lnTo>
                  <a:lnTo>
                    <a:pt x="19" y="200"/>
                  </a:lnTo>
                  <a:lnTo>
                    <a:pt x="21" y="202"/>
                  </a:lnTo>
                  <a:lnTo>
                    <a:pt x="21" y="202"/>
                  </a:lnTo>
                  <a:lnTo>
                    <a:pt x="23" y="202"/>
                  </a:lnTo>
                  <a:lnTo>
                    <a:pt x="23" y="204"/>
                  </a:lnTo>
                  <a:lnTo>
                    <a:pt x="25" y="204"/>
                  </a:lnTo>
                  <a:lnTo>
                    <a:pt x="25" y="204"/>
                  </a:lnTo>
                  <a:lnTo>
                    <a:pt x="27" y="207"/>
                  </a:lnTo>
                  <a:lnTo>
                    <a:pt x="30" y="209"/>
                  </a:lnTo>
                  <a:lnTo>
                    <a:pt x="29" y="211"/>
                  </a:lnTo>
                  <a:lnTo>
                    <a:pt x="23" y="215"/>
                  </a:lnTo>
                  <a:lnTo>
                    <a:pt x="23" y="215"/>
                  </a:lnTo>
                  <a:lnTo>
                    <a:pt x="21" y="219"/>
                  </a:lnTo>
                  <a:lnTo>
                    <a:pt x="21" y="219"/>
                  </a:lnTo>
                  <a:lnTo>
                    <a:pt x="21" y="221"/>
                  </a:lnTo>
                  <a:lnTo>
                    <a:pt x="21" y="221"/>
                  </a:lnTo>
                  <a:lnTo>
                    <a:pt x="21" y="221"/>
                  </a:lnTo>
                  <a:lnTo>
                    <a:pt x="23" y="221"/>
                  </a:lnTo>
                  <a:lnTo>
                    <a:pt x="25" y="221"/>
                  </a:lnTo>
                  <a:lnTo>
                    <a:pt x="25" y="221"/>
                  </a:lnTo>
                  <a:lnTo>
                    <a:pt x="27" y="221"/>
                  </a:lnTo>
                  <a:lnTo>
                    <a:pt x="27" y="221"/>
                  </a:lnTo>
                  <a:lnTo>
                    <a:pt x="29" y="221"/>
                  </a:lnTo>
                  <a:lnTo>
                    <a:pt x="29" y="221"/>
                  </a:lnTo>
                  <a:lnTo>
                    <a:pt x="30" y="221"/>
                  </a:lnTo>
                  <a:lnTo>
                    <a:pt x="32" y="221"/>
                  </a:lnTo>
                  <a:lnTo>
                    <a:pt x="38" y="221"/>
                  </a:lnTo>
                  <a:lnTo>
                    <a:pt x="40" y="221"/>
                  </a:lnTo>
                  <a:lnTo>
                    <a:pt x="40" y="221"/>
                  </a:lnTo>
                  <a:lnTo>
                    <a:pt x="44" y="219"/>
                  </a:lnTo>
                  <a:lnTo>
                    <a:pt x="44" y="217"/>
                  </a:lnTo>
                  <a:lnTo>
                    <a:pt x="44" y="217"/>
                  </a:lnTo>
                  <a:lnTo>
                    <a:pt x="44" y="219"/>
                  </a:lnTo>
                  <a:lnTo>
                    <a:pt x="44" y="221"/>
                  </a:lnTo>
                  <a:lnTo>
                    <a:pt x="44" y="221"/>
                  </a:lnTo>
                  <a:lnTo>
                    <a:pt x="44" y="223"/>
                  </a:lnTo>
                  <a:lnTo>
                    <a:pt x="44" y="223"/>
                  </a:lnTo>
                  <a:lnTo>
                    <a:pt x="44" y="225"/>
                  </a:lnTo>
                  <a:lnTo>
                    <a:pt x="44" y="225"/>
                  </a:lnTo>
                  <a:lnTo>
                    <a:pt x="44" y="226"/>
                  </a:lnTo>
                  <a:lnTo>
                    <a:pt x="46" y="226"/>
                  </a:lnTo>
                  <a:lnTo>
                    <a:pt x="46" y="226"/>
                  </a:lnTo>
                  <a:lnTo>
                    <a:pt x="46" y="228"/>
                  </a:lnTo>
                  <a:lnTo>
                    <a:pt x="48" y="232"/>
                  </a:lnTo>
                  <a:lnTo>
                    <a:pt x="48" y="234"/>
                  </a:lnTo>
                  <a:lnTo>
                    <a:pt x="50" y="234"/>
                  </a:lnTo>
                  <a:lnTo>
                    <a:pt x="50" y="234"/>
                  </a:lnTo>
                  <a:lnTo>
                    <a:pt x="50" y="236"/>
                  </a:lnTo>
                  <a:lnTo>
                    <a:pt x="50" y="236"/>
                  </a:lnTo>
                  <a:lnTo>
                    <a:pt x="50" y="236"/>
                  </a:lnTo>
                  <a:lnTo>
                    <a:pt x="50" y="238"/>
                  </a:lnTo>
                  <a:lnTo>
                    <a:pt x="48" y="238"/>
                  </a:lnTo>
                  <a:lnTo>
                    <a:pt x="48" y="238"/>
                  </a:lnTo>
                  <a:lnTo>
                    <a:pt x="46" y="236"/>
                  </a:lnTo>
                  <a:lnTo>
                    <a:pt x="46" y="236"/>
                  </a:lnTo>
                  <a:lnTo>
                    <a:pt x="44" y="236"/>
                  </a:lnTo>
                  <a:lnTo>
                    <a:pt x="44" y="236"/>
                  </a:lnTo>
                  <a:lnTo>
                    <a:pt x="44" y="238"/>
                  </a:lnTo>
                  <a:lnTo>
                    <a:pt x="42" y="238"/>
                  </a:lnTo>
                  <a:lnTo>
                    <a:pt x="42" y="238"/>
                  </a:lnTo>
                  <a:lnTo>
                    <a:pt x="42" y="240"/>
                  </a:lnTo>
                  <a:lnTo>
                    <a:pt x="42" y="242"/>
                  </a:lnTo>
                  <a:lnTo>
                    <a:pt x="42" y="242"/>
                  </a:lnTo>
                  <a:lnTo>
                    <a:pt x="42" y="244"/>
                  </a:lnTo>
                  <a:lnTo>
                    <a:pt x="44" y="245"/>
                  </a:lnTo>
                  <a:lnTo>
                    <a:pt x="44" y="247"/>
                  </a:lnTo>
                  <a:lnTo>
                    <a:pt x="46" y="247"/>
                  </a:lnTo>
                  <a:lnTo>
                    <a:pt x="51" y="249"/>
                  </a:lnTo>
                  <a:lnTo>
                    <a:pt x="55" y="251"/>
                  </a:lnTo>
                  <a:lnTo>
                    <a:pt x="55" y="253"/>
                  </a:lnTo>
                  <a:lnTo>
                    <a:pt x="57" y="253"/>
                  </a:lnTo>
                  <a:lnTo>
                    <a:pt x="57" y="255"/>
                  </a:lnTo>
                  <a:lnTo>
                    <a:pt x="57" y="255"/>
                  </a:lnTo>
                  <a:lnTo>
                    <a:pt x="57" y="257"/>
                  </a:lnTo>
                  <a:lnTo>
                    <a:pt x="59" y="257"/>
                  </a:lnTo>
                  <a:lnTo>
                    <a:pt x="59" y="259"/>
                  </a:lnTo>
                  <a:lnTo>
                    <a:pt x="59" y="259"/>
                  </a:lnTo>
                  <a:lnTo>
                    <a:pt x="61" y="259"/>
                  </a:lnTo>
                  <a:lnTo>
                    <a:pt x="61" y="259"/>
                  </a:lnTo>
                  <a:lnTo>
                    <a:pt x="61" y="259"/>
                  </a:lnTo>
                  <a:lnTo>
                    <a:pt x="61" y="261"/>
                  </a:lnTo>
                  <a:lnTo>
                    <a:pt x="61" y="263"/>
                  </a:lnTo>
                  <a:lnTo>
                    <a:pt x="61" y="263"/>
                  </a:lnTo>
                  <a:lnTo>
                    <a:pt x="61" y="264"/>
                  </a:lnTo>
                  <a:lnTo>
                    <a:pt x="61" y="266"/>
                  </a:lnTo>
                  <a:lnTo>
                    <a:pt x="61" y="268"/>
                  </a:lnTo>
                  <a:lnTo>
                    <a:pt x="61" y="270"/>
                  </a:lnTo>
                  <a:lnTo>
                    <a:pt x="59" y="272"/>
                  </a:lnTo>
                  <a:lnTo>
                    <a:pt x="59" y="272"/>
                  </a:lnTo>
                  <a:lnTo>
                    <a:pt x="57" y="272"/>
                  </a:lnTo>
                  <a:lnTo>
                    <a:pt x="55" y="272"/>
                  </a:lnTo>
                  <a:lnTo>
                    <a:pt x="55" y="274"/>
                  </a:lnTo>
                  <a:lnTo>
                    <a:pt x="55" y="274"/>
                  </a:lnTo>
                  <a:lnTo>
                    <a:pt x="55" y="282"/>
                  </a:lnTo>
                  <a:lnTo>
                    <a:pt x="55" y="287"/>
                  </a:lnTo>
                  <a:lnTo>
                    <a:pt x="55" y="287"/>
                  </a:lnTo>
                  <a:lnTo>
                    <a:pt x="55" y="287"/>
                  </a:lnTo>
                  <a:lnTo>
                    <a:pt x="55" y="289"/>
                  </a:lnTo>
                  <a:lnTo>
                    <a:pt x="53" y="293"/>
                  </a:lnTo>
                  <a:lnTo>
                    <a:pt x="55" y="295"/>
                  </a:lnTo>
                  <a:lnTo>
                    <a:pt x="55" y="295"/>
                  </a:lnTo>
                  <a:lnTo>
                    <a:pt x="55" y="297"/>
                  </a:lnTo>
                  <a:lnTo>
                    <a:pt x="57" y="299"/>
                  </a:lnTo>
                  <a:lnTo>
                    <a:pt x="57" y="299"/>
                  </a:lnTo>
                  <a:lnTo>
                    <a:pt x="57" y="301"/>
                  </a:lnTo>
                  <a:lnTo>
                    <a:pt x="57" y="302"/>
                  </a:lnTo>
                  <a:lnTo>
                    <a:pt x="57" y="304"/>
                  </a:lnTo>
                  <a:lnTo>
                    <a:pt x="57" y="304"/>
                  </a:lnTo>
                  <a:lnTo>
                    <a:pt x="57" y="306"/>
                  </a:lnTo>
                  <a:lnTo>
                    <a:pt x="59" y="306"/>
                  </a:lnTo>
                  <a:lnTo>
                    <a:pt x="61" y="308"/>
                  </a:lnTo>
                  <a:lnTo>
                    <a:pt x="63" y="308"/>
                  </a:lnTo>
                  <a:lnTo>
                    <a:pt x="65" y="310"/>
                  </a:lnTo>
                  <a:lnTo>
                    <a:pt x="65" y="312"/>
                  </a:lnTo>
                  <a:lnTo>
                    <a:pt x="65" y="312"/>
                  </a:lnTo>
                  <a:lnTo>
                    <a:pt x="67" y="312"/>
                  </a:lnTo>
                  <a:lnTo>
                    <a:pt x="67" y="312"/>
                  </a:lnTo>
                  <a:lnTo>
                    <a:pt x="69" y="312"/>
                  </a:lnTo>
                  <a:lnTo>
                    <a:pt x="69" y="312"/>
                  </a:lnTo>
                  <a:lnTo>
                    <a:pt x="70" y="312"/>
                  </a:lnTo>
                  <a:lnTo>
                    <a:pt x="74" y="310"/>
                  </a:lnTo>
                  <a:lnTo>
                    <a:pt x="78" y="306"/>
                  </a:lnTo>
                  <a:lnTo>
                    <a:pt x="78" y="306"/>
                  </a:lnTo>
                  <a:lnTo>
                    <a:pt x="80" y="304"/>
                  </a:lnTo>
                  <a:lnTo>
                    <a:pt x="84" y="302"/>
                  </a:lnTo>
                  <a:lnTo>
                    <a:pt x="88" y="302"/>
                  </a:lnTo>
                  <a:lnTo>
                    <a:pt x="90" y="301"/>
                  </a:lnTo>
                  <a:lnTo>
                    <a:pt x="91" y="302"/>
                  </a:lnTo>
                  <a:lnTo>
                    <a:pt x="91" y="302"/>
                  </a:lnTo>
                  <a:lnTo>
                    <a:pt x="93" y="306"/>
                  </a:lnTo>
                  <a:lnTo>
                    <a:pt x="93" y="306"/>
                  </a:lnTo>
                  <a:lnTo>
                    <a:pt x="95" y="308"/>
                  </a:lnTo>
                  <a:lnTo>
                    <a:pt x="95" y="310"/>
                  </a:lnTo>
                  <a:lnTo>
                    <a:pt x="95" y="312"/>
                  </a:lnTo>
                  <a:lnTo>
                    <a:pt x="95" y="314"/>
                  </a:lnTo>
                  <a:lnTo>
                    <a:pt x="97" y="314"/>
                  </a:lnTo>
                  <a:lnTo>
                    <a:pt x="97" y="314"/>
                  </a:lnTo>
                  <a:lnTo>
                    <a:pt x="97" y="314"/>
                  </a:lnTo>
                  <a:lnTo>
                    <a:pt x="97" y="316"/>
                  </a:lnTo>
                  <a:lnTo>
                    <a:pt x="97" y="318"/>
                  </a:lnTo>
                  <a:lnTo>
                    <a:pt x="93" y="327"/>
                  </a:lnTo>
                  <a:lnTo>
                    <a:pt x="93" y="327"/>
                  </a:lnTo>
                  <a:lnTo>
                    <a:pt x="93" y="329"/>
                  </a:lnTo>
                  <a:lnTo>
                    <a:pt x="93" y="331"/>
                  </a:lnTo>
                  <a:lnTo>
                    <a:pt x="95" y="337"/>
                  </a:lnTo>
                  <a:lnTo>
                    <a:pt x="95" y="339"/>
                  </a:lnTo>
                  <a:lnTo>
                    <a:pt x="95" y="341"/>
                  </a:lnTo>
                  <a:lnTo>
                    <a:pt x="93" y="344"/>
                  </a:lnTo>
                  <a:lnTo>
                    <a:pt x="93" y="346"/>
                  </a:lnTo>
                  <a:lnTo>
                    <a:pt x="93" y="346"/>
                  </a:lnTo>
                  <a:lnTo>
                    <a:pt x="93" y="350"/>
                  </a:lnTo>
                  <a:lnTo>
                    <a:pt x="93" y="352"/>
                  </a:lnTo>
                  <a:lnTo>
                    <a:pt x="93" y="354"/>
                  </a:lnTo>
                  <a:lnTo>
                    <a:pt x="93" y="356"/>
                  </a:lnTo>
                  <a:lnTo>
                    <a:pt x="90" y="371"/>
                  </a:lnTo>
                  <a:lnTo>
                    <a:pt x="90" y="371"/>
                  </a:lnTo>
                  <a:lnTo>
                    <a:pt x="90" y="371"/>
                  </a:lnTo>
                  <a:lnTo>
                    <a:pt x="90" y="373"/>
                  </a:lnTo>
                  <a:lnTo>
                    <a:pt x="90" y="373"/>
                  </a:lnTo>
                  <a:lnTo>
                    <a:pt x="90" y="373"/>
                  </a:lnTo>
                  <a:lnTo>
                    <a:pt x="91" y="373"/>
                  </a:lnTo>
                  <a:lnTo>
                    <a:pt x="91" y="373"/>
                  </a:lnTo>
                  <a:lnTo>
                    <a:pt x="91" y="373"/>
                  </a:lnTo>
                  <a:lnTo>
                    <a:pt x="93" y="373"/>
                  </a:lnTo>
                  <a:lnTo>
                    <a:pt x="93" y="375"/>
                  </a:lnTo>
                  <a:lnTo>
                    <a:pt x="93" y="375"/>
                  </a:lnTo>
                  <a:lnTo>
                    <a:pt x="95" y="375"/>
                  </a:lnTo>
                  <a:lnTo>
                    <a:pt x="95" y="375"/>
                  </a:lnTo>
                  <a:lnTo>
                    <a:pt x="95" y="375"/>
                  </a:lnTo>
                  <a:lnTo>
                    <a:pt x="101" y="373"/>
                  </a:lnTo>
                  <a:lnTo>
                    <a:pt x="101" y="373"/>
                  </a:lnTo>
                  <a:lnTo>
                    <a:pt x="103" y="373"/>
                  </a:lnTo>
                  <a:lnTo>
                    <a:pt x="103" y="373"/>
                  </a:lnTo>
                  <a:lnTo>
                    <a:pt x="105" y="373"/>
                  </a:lnTo>
                  <a:lnTo>
                    <a:pt x="105" y="375"/>
                  </a:lnTo>
                  <a:lnTo>
                    <a:pt x="105" y="377"/>
                  </a:lnTo>
                  <a:lnTo>
                    <a:pt x="107" y="377"/>
                  </a:lnTo>
                  <a:lnTo>
                    <a:pt x="109" y="380"/>
                  </a:lnTo>
                  <a:lnTo>
                    <a:pt x="109" y="382"/>
                  </a:lnTo>
                  <a:lnTo>
                    <a:pt x="109" y="384"/>
                  </a:lnTo>
                  <a:lnTo>
                    <a:pt x="107" y="386"/>
                  </a:lnTo>
                  <a:lnTo>
                    <a:pt x="107" y="388"/>
                  </a:lnTo>
                  <a:lnTo>
                    <a:pt x="105" y="388"/>
                  </a:lnTo>
                  <a:lnTo>
                    <a:pt x="103" y="396"/>
                  </a:lnTo>
                  <a:lnTo>
                    <a:pt x="101" y="399"/>
                  </a:lnTo>
                  <a:lnTo>
                    <a:pt x="95" y="417"/>
                  </a:lnTo>
                  <a:lnTo>
                    <a:pt x="93" y="420"/>
                  </a:lnTo>
                  <a:lnTo>
                    <a:pt x="91" y="424"/>
                  </a:lnTo>
                  <a:lnTo>
                    <a:pt x="88" y="426"/>
                  </a:lnTo>
                  <a:lnTo>
                    <a:pt x="88" y="426"/>
                  </a:lnTo>
                  <a:lnTo>
                    <a:pt x="88" y="428"/>
                  </a:lnTo>
                  <a:lnTo>
                    <a:pt x="88" y="428"/>
                  </a:lnTo>
                  <a:lnTo>
                    <a:pt x="90" y="434"/>
                  </a:lnTo>
                  <a:lnTo>
                    <a:pt x="91" y="438"/>
                  </a:lnTo>
                  <a:lnTo>
                    <a:pt x="91" y="438"/>
                  </a:lnTo>
                  <a:lnTo>
                    <a:pt x="93" y="439"/>
                  </a:lnTo>
                  <a:lnTo>
                    <a:pt x="95" y="439"/>
                  </a:lnTo>
                  <a:lnTo>
                    <a:pt x="95" y="441"/>
                  </a:lnTo>
                  <a:lnTo>
                    <a:pt x="95" y="441"/>
                  </a:lnTo>
                  <a:lnTo>
                    <a:pt x="95" y="441"/>
                  </a:lnTo>
                  <a:lnTo>
                    <a:pt x="95" y="441"/>
                  </a:lnTo>
                  <a:lnTo>
                    <a:pt x="93" y="447"/>
                  </a:lnTo>
                  <a:lnTo>
                    <a:pt x="90" y="453"/>
                  </a:lnTo>
                  <a:lnTo>
                    <a:pt x="88" y="455"/>
                  </a:lnTo>
                  <a:lnTo>
                    <a:pt x="88" y="457"/>
                  </a:lnTo>
                  <a:lnTo>
                    <a:pt x="88" y="457"/>
                  </a:lnTo>
                  <a:lnTo>
                    <a:pt x="90" y="458"/>
                  </a:lnTo>
                  <a:lnTo>
                    <a:pt x="90" y="458"/>
                  </a:lnTo>
                  <a:lnTo>
                    <a:pt x="90" y="460"/>
                  </a:lnTo>
                  <a:lnTo>
                    <a:pt x="90" y="460"/>
                  </a:lnTo>
                  <a:lnTo>
                    <a:pt x="90" y="462"/>
                  </a:lnTo>
                  <a:lnTo>
                    <a:pt x="90" y="462"/>
                  </a:lnTo>
                  <a:lnTo>
                    <a:pt x="91" y="464"/>
                  </a:lnTo>
                  <a:lnTo>
                    <a:pt x="95" y="466"/>
                  </a:lnTo>
                  <a:lnTo>
                    <a:pt x="97" y="468"/>
                  </a:lnTo>
                  <a:lnTo>
                    <a:pt x="97" y="470"/>
                  </a:lnTo>
                  <a:lnTo>
                    <a:pt x="97" y="470"/>
                  </a:lnTo>
                  <a:lnTo>
                    <a:pt x="97" y="472"/>
                  </a:lnTo>
                  <a:lnTo>
                    <a:pt x="97" y="474"/>
                  </a:lnTo>
                  <a:lnTo>
                    <a:pt x="95" y="474"/>
                  </a:lnTo>
                  <a:lnTo>
                    <a:pt x="95" y="476"/>
                  </a:lnTo>
                  <a:lnTo>
                    <a:pt x="93" y="477"/>
                  </a:lnTo>
                  <a:lnTo>
                    <a:pt x="93" y="477"/>
                  </a:lnTo>
                  <a:lnTo>
                    <a:pt x="91" y="477"/>
                  </a:lnTo>
                  <a:lnTo>
                    <a:pt x="91" y="476"/>
                  </a:lnTo>
                  <a:lnTo>
                    <a:pt x="91" y="476"/>
                  </a:lnTo>
                  <a:lnTo>
                    <a:pt x="91" y="476"/>
                  </a:lnTo>
                  <a:lnTo>
                    <a:pt x="91" y="476"/>
                  </a:lnTo>
                  <a:lnTo>
                    <a:pt x="91" y="476"/>
                  </a:lnTo>
                  <a:lnTo>
                    <a:pt x="91" y="477"/>
                  </a:lnTo>
                  <a:lnTo>
                    <a:pt x="91" y="477"/>
                  </a:lnTo>
                  <a:lnTo>
                    <a:pt x="91" y="481"/>
                  </a:lnTo>
                  <a:lnTo>
                    <a:pt x="91" y="481"/>
                  </a:lnTo>
                  <a:lnTo>
                    <a:pt x="91" y="483"/>
                  </a:lnTo>
                  <a:lnTo>
                    <a:pt x="91" y="483"/>
                  </a:lnTo>
                  <a:lnTo>
                    <a:pt x="90" y="487"/>
                  </a:lnTo>
                  <a:lnTo>
                    <a:pt x="88" y="489"/>
                  </a:lnTo>
                  <a:lnTo>
                    <a:pt x="88" y="489"/>
                  </a:lnTo>
                  <a:lnTo>
                    <a:pt x="88" y="489"/>
                  </a:lnTo>
                  <a:lnTo>
                    <a:pt x="88" y="491"/>
                  </a:lnTo>
                  <a:lnTo>
                    <a:pt x="88" y="491"/>
                  </a:lnTo>
                  <a:lnTo>
                    <a:pt x="88" y="493"/>
                  </a:lnTo>
                  <a:lnTo>
                    <a:pt x="88" y="493"/>
                  </a:lnTo>
                  <a:lnTo>
                    <a:pt x="86" y="493"/>
                  </a:lnTo>
                  <a:lnTo>
                    <a:pt x="86" y="493"/>
                  </a:lnTo>
                  <a:lnTo>
                    <a:pt x="84" y="493"/>
                  </a:lnTo>
                  <a:lnTo>
                    <a:pt x="84" y="493"/>
                  </a:lnTo>
                  <a:lnTo>
                    <a:pt x="82" y="493"/>
                  </a:lnTo>
                  <a:lnTo>
                    <a:pt x="82" y="495"/>
                  </a:lnTo>
                  <a:lnTo>
                    <a:pt x="82" y="495"/>
                  </a:lnTo>
                  <a:lnTo>
                    <a:pt x="84" y="495"/>
                  </a:lnTo>
                  <a:lnTo>
                    <a:pt x="93" y="504"/>
                  </a:lnTo>
                  <a:lnTo>
                    <a:pt x="93" y="504"/>
                  </a:lnTo>
                  <a:lnTo>
                    <a:pt x="95" y="504"/>
                  </a:lnTo>
                  <a:lnTo>
                    <a:pt x="99" y="506"/>
                  </a:lnTo>
                  <a:lnTo>
                    <a:pt x="99" y="506"/>
                  </a:lnTo>
                  <a:lnTo>
                    <a:pt x="101" y="508"/>
                  </a:lnTo>
                  <a:lnTo>
                    <a:pt x="101" y="508"/>
                  </a:lnTo>
                  <a:lnTo>
                    <a:pt x="114" y="512"/>
                  </a:lnTo>
                  <a:lnTo>
                    <a:pt x="118" y="514"/>
                  </a:lnTo>
                  <a:lnTo>
                    <a:pt x="124" y="514"/>
                  </a:lnTo>
                  <a:lnTo>
                    <a:pt x="124" y="510"/>
                  </a:lnTo>
                  <a:lnTo>
                    <a:pt x="128" y="508"/>
                  </a:lnTo>
                  <a:lnTo>
                    <a:pt x="131" y="506"/>
                  </a:lnTo>
                  <a:lnTo>
                    <a:pt x="141" y="504"/>
                  </a:lnTo>
                  <a:lnTo>
                    <a:pt x="143" y="504"/>
                  </a:lnTo>
                  <a:lnTo>
                    <a:pt x="145" y="500"/>
                  </a:lnTo>
                  <a:lnTo>
                    <a:pt x="147" y="498"/>
                  </a:lnTo>
                  <a:lnTo>
                    <a:pt x="164" y="489"/>
                  </a:lnTo>
                  <a:lnTo>
                    <a:pt x="168" y="487"/>
                  </a:lnTo>
                  <a:lnTo>
                    <a:pt x="170" y="487"/>
                  </a:lnTo>
                  <a:lnTo>
                    <a:pt x="170" y="485"/>
                  </a:lnTo>
                  <a:lnTo>
                    <a:pt x="171" y="479"/>
                  </a:lnTo>
                  <a:lnTo>
                    <a:pt x="171" y="479"/>
                  </a:lnTo>
                  <a:lnTo>
                    <a:pt x="175" y="477"/>
                  </a:lnTo>
                  <a:lnTo>
                    <a:pt x="175" y="476"/>
                  </a:lnTo>
                  <a:lnTo>
                    <a:pt x="175" y="476"/>
                  </a:lnTo>
                  <a:lnTo>
                    <a:pt x="177" y="466"/>
                  </a:lnTo>
                  <a:lnTo>
                    <a:pt x="177" y="462"/>
                  </a:lnTo>
                  <a:lnTo>
                    <a:pt x="175" y="458"/>
                  </a:lnTo>
                  <a:lnTo>
                    <a:pt x="177" y="458"/>
                  </a:lnTo>
                  <a:lnTo>
                    <a:pt x="177" y="458"/>
                  </a:lnTo>
                  <a:lnTo>
                    <a:pt x="177" y="457"/>
                  </a:lnTo>
                  <a:lnTo>
                    <a:pt x="179" y="455"/>
                  </a:lnTo>
                  <a:lnTo>
                    <a:pt x="179" y="453"/>
                  </a:lnTo>
                  <a:lnTo>
                    <a:pt x="179" y="453"/>
                  </a:lnTo>
                  <a:lnTo>
                    <a:pt x="181" y="451"/>
                  </a:lnTo>
                  <a:lnTo>
                    <a:pt x="183" y="451"/>
                  </a:lnTo>
                  <a:lnTo>
                    <a:pt x="185" y="449"/>
                  </a:lnTo>
                  <a:lnTo>
                    <a:pt x="183" y="447"/>
                  </a:lnTo>
                  <a:lnTo>
                    <a:pt x="183" y="449"/>
                  </a:lnTo>
                  <a:lnTo>
                    <a:pt x="181" y="449"/>
                  </a:lnTo>
                  <a:lnTo>
                    <a:pt x="181" y="449"/>
                  </a:lnTo>
                  <a:lnTo>
                    <a:pt x="179" y="451"/>
                  </a:lnTo>
                  <a:lnTo>
                    <a:pt x="179" y="449"/>
                  </a:lnTo>
                  <a:lnTo>
                    <a:pt x="181" y="447"/>
                  </a:lnTo>
                  <a:lnTo>
                    <a:pt x="181" y="439"/>
                  </a:lnTo>
                  <a:lnTo>
                    <a:pt x="181" y="439"/>
                  </a:lnTo>
                  <a:lnTo>
                    <a:pt x="185" y="434"/>
                  </a:lnTo>
                  <a:lnTo>
                    <a:pt x="187" y="430"/>
                  </a:lnTo>
                  <a:lnTo>
                    <a:pt x="198" y="420"/>
                  </a:lnTo>
                  <a:lnTo>
                    <a:pt x="202" y="418"/>
                  </a:lnTo>
                  <a:lnTo>
                    <a:pt x="206" y="417"/>
                  </a:lnTo>
                  <a:lnTo>
                    <a:pt x="210" y="415"/>
                  </a:lnTo>
                  <a:lnTo>
                    <a:pt x="221" y="415"/>
                  </a:lnTo>
                  <a:lnTo>
                    <a:pt x="223" y="415"/>
                  </a:lnTo>
                  <a:lnTo>
                    <a:pt x="225" y="413"/>
                  </a:lnTo>
                  <a:lnTo>
                    <a:pt x="225" y="413"/>
                  </a:lnTo>
                  <a:lnTo>
                    <a:pt x="225" y="411"/>
                  </a:lnTo>
                  <a:lnTo>
                    <a:pt x="227" y="411"/>
                  </a:lnTo>
                  <a:lnTo>
                    <a:pt x="231" y="409"/>
                  </a:lnTo>
                  <a:lnTo>
                    <a:pt x="232" y="409"/>
                  </a:lnTo>
                  <a:lnTo>
                    <a:pt x="234" y="409"/>
                  </a:lnTo>
                  <a:lnTo>
                    <a:pt x="234" y="407"/>
                  </a:lnTo>
                  <a:lnTo>
                    <a:pt x="236" y="407"/>
                  </a:lnTo>
                  <a:lnTo>
                    <a:pt x="240" y="405"/>
                  </a:lnTo>
                  <a:lnTo>
                    <a:pt x="242" y="405"/>
                  </a:lnTo>
                  <a:lnTo>
                    <a:pt x="244" y="403"/>
                  </a:lnTo>
                  <a:lnTo>
                    <a:pt x="248" y="403"/>
                  </a:lnTo>
                  <a:lnTo>
                    <a:pt x="248" y="403"/>
                  </a:lnTo>
                  <a:lnTo>
                    <a:pt x="248" y="403"/>
                  </a:lnTo>
                  <a:lnTo>
                    <a:pt x="250" y="403"/>
                  </a:lnTo>
                  <a:lnTo>
                    <a:pt x="250" y="403"/>
                  </a:lnTo>
                  <a:lnTo>
                    <a:pt x="252" y="401"/>
                  </a:lnTo>
                  <a:lnTo>
                    <a:pt x="253" y="401"/>
                  </a:lnTo>
                  <a:lnTo>
                    <a:pt x="255" y="401"/>
                  </a:lnTo>
                  <a:lnTo>
                    <a:pt x="259" y="401"/>
                  </a:lnTo>
                  <a:lnTo>
                    <a:pt x="263" y="403"/>
                  </a:lnTo>
                  <a:lnTo>
                    <a:pt x="265" y="403"/>
                  </a:lnTo>
                  <a:lnTo>
                    <a:pt x="265" y="403"/>
                  </a:lnTo>
                  <a:lnTo>
                    <a:pt x="269" y="403"/>
                  </a:lnTo>
                  <a:lnTo>
                    <a:pt x="272" y="401"/>
                  </a:lnTo>
                  <a:lnTo>
                    <a:pt x="274" y="401"/>
                  </a:lnTo>
                  <a:lnTo>
                    <a:pt x="274" y="403"/>
                  </a:lnTo>
                  <a:lnTo>
                    <a:pt x="276" y="401"/>
                  </a:lnTo>
                  <a:lnTo>
                    <a:pt x="278" y="403"/>
                  </a:lnTo>
                  <a:lnTo>
                    <a:pt x="284" y="403"/>
                  </a:lnTo>
                  <a:lnTo>
                    <a:pt x="290" y="407"/>
                  </a:lnTo>
                  <a:lnTo>
                    <a:pt x="295" y="413"/>
                  </a:lnTo>
                  <a:lnTo>
                    <a:pt x="297" y="413"/>
                  </a:lnTo>
                  <a:lnTo>
                    <a:pt x="299" y="413"/>
                  </a:lnTo>
                  <a:lnTo>
                    <a:pt x="297" y="411"/>
                  </a:lnTo>
                  <a:lnTo>
                    <a:pt x="290" y="405"/>
                  </a:lnTo>
                  <a:lnTo>
                    <a:pt x="290" y="405"/>
                  </a:lnTo>
                  <a:lnTo>
                    <a:pt x="288" y="403"/>
                  </a:lnTo>
                  <a:lnTo>
                    <a:pt x="288" y="403"/>
                  </a:lnTo>
                  <a:lnTo>
                    <a:pt x="288" y="403"/>
                  </a:lnTo>
                  <a:lnTo>
                    <a:pt x="288" y="401"/>
                  </a:lnTo>
                  <a:lnTo>
                    <a:pt x="288" y="401"/>
                  </a:lnTo>
                  <a:lnTo>
                    <a:pt x="288" y="399"/>
                  </a:lnTo>
                  <a:lnTo>
                    <a:pt x="288" y="399"/>
                  </a:lnTo>
                  <a:lnTo>
                    <a:pt x="288" y="399"/>
                  </a:lnTo>
                  <a:lnTo>
                    <a:pt x="288" y="398"/>
                  </a:lnTo>
                  <a:lnTo>
                    <a:pt x="286" y="398"/>
                  </a:lnTo>
                  <a:lnTo>
                    <a:pt x="284" y="398"/>
                  </a:lnTo>
                  <a:lnTo>
                    <a:pt x="282" y="399"/>
                  </a:lnTo>
                  <a:lnTo>
                    <a:pt x="280" y="399"/>
                  </a:lnTo>
                  <a:lnTo>
                    <a:pt x="267" y="399"/>
                  </a:lnTo>
                  <a:lnTo>
                    <a:pt x="263" y="399"/>
                  </a:lnTo>
                  <a:lnTo>
                    <a:pt x="261" y="398"/>
                  </a:lnTo>
                  <a:lnTo>
                    <a:pt x="253" y="392"/>
                  </a:lnTo>
                  <a:lnTo>
                    <a:pt x="250" y="388"/>
                  </a:lnTo>
                  <a:lnTo>
                    <a:pt x="250" y="384"/>
                  </a:lnTo>
                  <a:lnTo>
                    <a:pt x="248" y="382"/>
                  </a:lnTo>
                  <a:lnTo>
                    <a:pt x="250" y="379"/>
                  </a:lnTo>
                  <a:lnTo>
                    <a:pt x="250" y="375"/>
                  </a:lnTo>
                  <a:lnTo>
                    <a:pt x="252" y="373"/>
                  </a:lnTo>
                  <a:lnTo>
                    <a:pt x="252" y="371"/>
                  </a:lnTo>
                  <a:lnTo>
                    <a:pt x="253" y="369"/>
                  </a:lnTo>
                  <a:lnTo>
                    <a:pt x="253" y="369"/>
                  </a:lnTo>
                  <a:lnTo>
                    <a:pt x="253" y="369"/>
                  </a:lnTo>
                  <a:lnTo>
                    <a:pt x="255" y="367"/>
                  </a:lnTo>
                  <a:lnTo>
                    <a:pt x="255" y="367"/>
                  </a:lnTo>
                  <a:lnTo>
                    <a:pt x="255" y="365"/>
                  </a:lnTo>
                  <a:lnTo>
                    <a:pt x="255" y="365"/>
                  </a:lnTo>
                  <a:lnTo>
                    <a:pt x="261" y="358"/>
                  </a:lnTo>
                  <a:lnTo>
                    <a:pt x="263" y="354"/>
                  </a:lnTo>
                  <a:lnTo>
                    <a:pt x="265" y="352"/>
                  </a:lnTo>
                  <a:lnTo>
                    <a:pt x="267" y="350"/>
                  </a:lnTo>
                  <a:lnTo>
                    <a:pt x="267" y="350"/>
                  </a:lnTo>
                  <a:lnTo>
                    <a:pt x="269" y="348"/>
                  </a:lnTo>
                  <a:lnTo>
                    <a:pt x="269" y="344"/>
                  </a:lnTo>
                  <a:lnTo>
                    <a:pt x="274" y="337"/>
                  </a:lnTo>
                  <a:lnTo>
                    <a:pt x="278" y="333"/>
                  </a:lnTo>
                  <a:lnTo>
                    <a:pt x="282" y="331"/>
                  </a:lnTo>
                  <a:lnTo>
                    <a:pt x="280" y="329"/>
                  </a:lnTo>
                  <a:lnTo>
                    <a:pt x="278" y="325"/>
                  </a:lnTo>
                  <a:lnTo>
                    <a:pt x="278" y="320"/>
                  </a:lnTo>
                  <a:lnTo>
                    <a:pt x="278" y="318"/>
                  </a:lnTo>
                  <a:lnTo>
                    <a:pt x="278" y="318"/>
                  </a:lnTo>
                  <a:lnTo>
                    <a:pt x="280" y="316"/>
                  </a:lnTo>
                  <a:lnTo>
                    <a:pt x="280" y="316"/>
                  </a:lnTo>
                  <a:lnTo>
                    <a:pt x="282" y="316"/>
                  </a:lnTo>
                  <a:lnTo>
                    <a:pt x="282" y="314"/>
                  </a:lnTo>
                  <a:lnTo>
                    <a:pt x="282" y="312"/>
                  </a:lnTo>
                  <a:lnTo>
                    <a:pt x="282" y="312"/>
                  </a:lnTo>
                  <a:lnTo>
                    <a:pt x="282" y="310"/>
                  </a:lnTo>
                  <a:lnTo>
                    <a:pt x="284" y="308"/>
                  </a:lnTo>
                  <a:lnTo>
                    <a:pt x="290" y="306"/>
                  </a:lnTo>
                  <a:lnTo>
                    <a:pt x="292" y="304"/>
                  </a:lnTo>
                  <a:lnTo>
                    <a:pt x="293" y="304"/>
                  </a:lnTo>
                  <a:lnTo>
                    <a:pt x="295" y="304"/>
                  </a:lnTo>
                  <a:lnTo>
                    <a:pt x="297" y="304"/>
                  </a:lnTo>
                  <a:lnTo>
                    <a:pt x="299" y="304"/>
                  </a:lnTo>
                  <a:lnTo>
                    <a:pt x="303" y="304"/>
                  </a:lnTo>
                  <a:lnTo>
                    <a:pt x="305" y="304"/>
                  </a:lnTo>
                  <a:lnTo>
                    <a:pt x="305" y="302"/>
                  </a:lnTo>
                  <a:lnTo>
                    <a:pt x="305" y="302"/>
                  </a:lnTo>
                  <a:lnTo>
                    <a:pt x="309" y="302"/>
                  </a:lnTo>
                  <a:lnTo>
                    <a:pt x="311" y="302"/>
                  </a:lnTo>
                  <a:lnTo>
                    <a:pt x="312" y="302"/>
                  </a:lnTo>
                  <a:lnTo>
                    <a:pt x="312" y="302"/>
                  </a:lnTo>
                  <a:lnTo>
                    <a:pt x="309" y="304"/>
                  </a:lnTo>
                  <a:lnTo>
                    <a:pt x="309" y="304"/>
                  </a:lnTo>
                  <a:lnTo>
                    <a:pt x="309" y="304"/>
                  </a:lnTo>
                  <a:lnTo>
                    <a:pt x="307" y="304"/>
                  </a:lnTo>
                  <a:lnTo>
                    <a:pt x="307" y="306"/>
                  </a:lnTo>
                  <a:lnTo>
                    <a:pt x="309" y="306"/>
                  </a:lnTo>
                  <a:lnTo>
                    <a:pt x="309" y="306"/>
                  </a:lnTo>
                  <a:lnTo>
                    <a:pt x="311" y="306"/>
                  </a:lnTo>
                  <a:lnTo>
                    <a:pt x="326" y="310"/>
                  </a:lnTo>
                  <a:lnTo>
                    <a:pt x="328" y="310"/>
                  </a:lnTo>
                  <a:lnTo>
                    <a:pt x="328" y="308"/>
                  </a:lnTo>
                  <a:lnTo>
                    <a:pt x="326" y="308"/>
                  </a:lnTo>
                  <a:lnTo>
                    <a:pt x="324" y="306"/>
                  </a:lnTo>
                  <a:lnTo>
                    <a:pt x="322" y="306"/>
                  </a:lnTo>
                  <a:lnTo>
                    <a:pt x="320" y="306"/>
                  </a:lnTo>
                  <a:lnTo>
                    <a:pt x="320" y="306"/>
                  </a:lnTo>
                  <a:lnTo>
                    <a:pt x="318" y="306"/>
                  </a:lnTo>
                  <a:lnTo>
                    <a:pt x="318" y="304"/>
                  </a:lnTo>
                  <a:lnTo>
                    <a:pt x="316" y="304"/>
                  </a:lnTo>
                  <a:lnTo>
                    <a:pt x="314" y="304"/>
                  </a:lnTo>
                  <a:lnTo>
                    <a:pt x="312" y="304"/>
                  </a:lnTo>
                  <a:lnTo>
                    <a:pt x="314" y="304"/>
                  </a:lnTo>
                  <a:lnTo>
                    <a:pt x="314" y="302"/>
                  </a:lnTo>
                  <a:lnTo>
                    <a:pt x="326" y="304"/>
                  </a:lnTo>
                  <a:lnTo>
                    <a:pt x="328" y="306"/>
                  </a:lnTo>
                  <a:lnTo>
                    <a:pt x="328" y="308"/>
                  </a:lnTo>
                  <a:lnTo>
                    <a:pt x="330" y="308"/>
                  </a:lnTo>
                  <a:lnTo>
                    <a:pt x="332" y="308"/>
                  </a:lnTo>
                  <a:lnTo>
                    <a:pt x="333" y="308"/>
                  </a:lnTo>
                  <a:lnTo>
                    <a:pt x="335" y="308"/>
                  </a:lnTo>
                  <a:lnTo>
                    <a:pt x="335" y="306"/>
                  </a:lnTo>
                  <a:lnTo>
                    <a:pt x="335" y="299"/>
                  </a:lnTo>
                  <a:lnTo>
                    <a:pt x="335" y="282"/>
                  </a:lnTo>
                  <a:lnTo>
                    <a:pt x="335" y="278"/>
                  </a:lnTo>
                  <a:lnTo>
                    <a:pt x="335" y="263"/>
                  </a:lnTo>
                  <a:lnTo>
                    <a:pt x="335" y="259"/>
                  </a:lnTo>
                  <a:lnTo>
                    <a:pt x="333" y="259"/>
                  </a:lnTo>
                  <a:lnTo>
                    <a:pt x="332" y="257"/>
                  </a:lnTo>
                  <a:lnTo>
                    <a:pt x="332" y="257"/>
                  </a:lnTo>
                  <a:lnTo>
                    <a:pt x="332" y="257"/>
                  </a:lnTo>
                  <a:lnTo>
                    <a:pt x="330" y="255"/>
                  </a:lnTo>
                  <a:lnTo>
                    <a:pt x="330" y="255"/>
                  </a:lnTo>
                  <a:lnTo>
                    <a:pt x="330" y="255"/>
                  </a:lnTo>
                  <a:lnTo>
                    <a:pt x="330" y="253"/>
                  </a:lnTo>
                  <a:lnTo>
                    <a:pt x="330" y="253"/>
                  </a:lnTo>
                  <a:lnTo>
                    <a:pt x="332" y="253"/>
                  </a:lnTo>
                  <a:lnTo>
                    <a:pt x="332" y="253"/>
                  </a:lnTo>
                  <a:lnTo>
                    <a:pt x="330" y="251"/>
                  </a:lnTo>
                  <a:lnTo>
                    <a:pt x="330" y="251"/>
                  </a:lnTo>
                  <a:lnTo>
                    <a:pt x="330" y="251"/>
                  </a:lnTo>
                  <a:lnTo>
                    <a:pt x="328" y="253"/>
                  </a:lnTo>
                  <a:lnTo>
                    <a:pt x="328" y="251"/>
                  </a:lnTo>
                  <a:lnTo>
                    <a:pt x="328" y="251"/>
                  </a:lnTo>
                  <a:lnTo>
                    <a:pt x="328" y="251"/>
                  </a:lnTo>
                  <a:lnTo>
                    <a:pt x="328" y="251"/>
                  </a:lnTo>
                  <a:lnTo>
                    <a:pt x="326" y="251"/>
                  </a:lnTo>
                  <a:lnTo>
                    <a:pt x="326" y="251"/>
                  </a:lnTo>
                  <a:lnTo>
                    <a:pt x="326" y="251"/>
                  </a:lnTo>
                  <a:lnTo>
                    <a:pt x="324" y="249"/>
                  </a:lnTo>
                  <a:lnTo>
                    <a:pt x="324" y="249"/>
                  </a:lnTo>
                  <a:lnTo>
                    <a:pt x="324" y="249"/>
                  </a:lnTo>
                  <a:lnTo>
                    <a:pt x="322" y="249"/>
                  </a:lnTo>
                  <a:lnTo>
                    <a:pt x="322" y="249"/>
                  </a:lnTo>
                  <a:lnTo>
                    <a:pt x="322" y="247"/>
                  </a:lnTo>
                  <a:lnTo>
                    <a:pt x="322" y="247"/>
                  </a:lnTo>
                  <a:lnTo>
                    <a:pt x="322" y="245"/>
                  </a:lnTo>
                  <a:lnTo>
                    <a:pt x="322" y="245"/>
                  </a:lnTo>
                  <a:lnTo>
                    <a:pt x="322" y="245"/>
                  </a:lnTo>
                  <a:lnTo>
                    <a:pt x="322" y="245"/>
                  </a:lnTo>
                  <a:lnTo>
                    <a:pt x="324" y="245"/>
                  </a:lnTo>
                  <a:lnTo>
                    <a:pt x="324" y="245"/>
                  </a:lnTo>
                  <a:lnTo>
                    <a:pt x="324" y="245"/>
                  </a:lnTo>
                  <a:lnTo>
                    <a:pt x="326" y="245"/>
                  </a:lnTo>
                  <a:lnTo>
                    <a:pt x="326" y="245"/>
                  </a:lnTo>
                  <a:lnTo>
                    <a:pt x="326" y="244"/>
                  </a:lnTo>
                  <a:lnTo>
                    <a:pt x="324" y="244"/>
                  </a:lnTo>
                  <a:lnTo>
                    <a:pt x="324" y="244"/>
                  </a:lnTo>
                  <a:lnTo>
                    <a:pt x="324" y="242"/>
                  </a:lnTo>
                  <a:lnTo>
                    <a:pt x="324" y="242"/>
                  </a:lnTo>
                  <a:lnTo>
                    <a:pt x="324" y="242"/>
                  </a:lnTo>
                  <a:lnTo>
                    <a:pt x="326" y="242"/>
                  </a:lnTo>
                  <a:lnTo>
                    <a:pt x="328" y="244"/>
                  </a:lnTo>
                  <a:lnTo>
                    <a:pt x="330" y="244"/>
                  </a:lnTo>
                  <a:lnTo>
                    <a:pt x="330" y="242"/>
                  </a:lnTo>
                  <a:lnTo>
                    <a:pt x="332" y="242"/>
                  </a:lnTo>
                  <a:lnTo>
                    <a:pt x="333" y="242"/>
                  </a:lnTo>
                  <a:lnTo>
                    <a:pt x="335" y="242"/>
                  </a:lnTo>
                  <a:lnTo>
                    <a:pt x="335" y="242"/>
                  </a:lnTo>
                  <a:lnTo>
                    <a:pt x="335" y="240"/>
                  </a:lnTo>
                  <a:lnTo>
                    <a:pt x="335" y="225"/>
                  </a:lnTo>
                  <a:lnTo>
                    <a:pt x="333" y="215"/>
                  </a:lnTo>
                  <a:lnTo>
                    <a:pt x="333" y="207"/>
                  </a:lnTo>
                  <a:lnTo>
                    <a:pt x="333" y="207"/>
                  </a:lnTo>
                  <a:lnTo>
                    <a:pt x="333" y="207"/>
                  </a:lnTo>
                  <a:lnTo>
                    <a:pt x="330" y="205"/>
                  </a:lnTo>
                  <a:lnTo>
                    <a:pt x="328" y="205"/>
                  </a:lnTo>
                  <a:lnTo>
                    <a:pt x="326" y="207"/>
                  </a:lnTo>
                  <a:lnTo>
                    <a:pt x="326" y="207"/>
                  </a:lnTo>
                  <a:lnTo>
                    <a:pt x="326" y="209"/>
                  </a:lnTo>
                  <a:lnTo>
                    <a:pt x="320" y="211"/>
                  </a:lnTo>
                  <a:lnTo>
                    <a:pt x="320" y="213"/>
                  </a:lnTo>
                  <a:lnTo>
                    <a:pt x="318" y="213"/>
                  </a:lnTo>
                  <a:lnTo>
                    <a:pt x="320" y="211"/>
                  </a:lnTo>
                  <a:lnTo>
                    <a:pt x="324" y="205"/>
                  </a:lnTo>
                  <a:lnTo>
                    <a:pt x="326" y="205"/>
                  </a:lnTo>
                  <a:lnTo>
                    <a:pt x="326" y="205"/>
                  </a:lnTo>
                  <a:lnTo>
                    <a:pt x="328" y="204"/>
                  </a:lnTo>
                  <a:lnTo>
                    <a:pt x="328" y="204"/>
                  </a:lnTo>
                  <a:lnTo>
                    <a:pt x="330" y="204"/>
                  </a:lnTo>
                  <a:lnTo>
                    <a:pt x="332" y="204"/>
                  </a:lnTo>
                  <a:lnTo>
                    <a:pt x="332" y="204"/>
                  </a:lnTo>
                  <a:lnTo>
                    <a:pt x="332" y="204"/>
                  </a:lnTo>
                  <a:lnTo>
                    <a:pt x="332" y="198"/>
                  </a:lnTo>
                  <a:lnTo>
                    <a:pt x="332" y="198"/>
                  </a:lnTo>
                  <a:lnTo>
                    <a:pt x="330" y="198"/>
                  </a:lnTo>
                  <a:lnTo>
                    <a:pt x="330" y="198"/>
                  </a:lnTo>
                  <a:lnTo>
                    <a:pt x="330" y="198"/>
                  </a:lnTo>
                  <a:lnTo>
                    <a:pt x="330" y="200"/>
                  </a:lnTo>
                  <a:lnTo>
                    <a:pt x="330" y="200"/>
                  </a:lnTo>
                  <a:lnTo>
                    <a:pt x="330" y="200"/>
                  </a:lnTo>
                  <a:lnTo>
                    <a:pt x="328" y="196"/>
                  </a:lnTo>
                  <a:lnTo>
                    <a:pt x="326" y="190"/>
                  </a:lnTo>
                  <a:lnTo>
                    <a:pt x="326" y="186"/>
                  </a:lnTo>
                  <a:lnTo>
                    <a:pt x="326" y="185"/>
                  </a:lnTo>
                  <a:lnTo>
                    <a:pt x="328" y="181"/>
                  </a:lnTo>
                  <a:lnTo>
                    <a:pt x="328" y="177"/>
                  </a:lnTo>
                  <a:lnTo>
                    <a:pt x="330" y="167"/>
                  </a:lnTo>
                  <a:lnTo>
                    <a:pt x="330" y="166"/>
                  </a:lnTo>
                  <a:lnTo>
                    <a:pt x="332" y="166"/>
                  </a:lnTo>
                  <a:lnTo>
                    <a:pt x="332" y="162"/>
                  </a:lnTo>
                  <a:lnTo>
                    <a:pt x="332" y="162"/>
                  </a:lnTo>
                  <a:lnTo>
                    <a:pt x="328" y="162"/>
                  </a:lnTo>
                  <a:lnTo>
                    <a:pt x="326" y="162"/>
                  </a:lnTo>
                  <a:lnTo>
                    <a:pt x="326" y="162"/>
                  </a:lnTo>
                  <a:lnTo>
                    <a:pt x="326" y="162"/>
                  </a:lnTo>
                  <a:lnTo>
                    <a:pt x="326" y="162"/>
                  </a:lnTo>
                  <a:lnTo>
                    <a:pt x="324" y="162"/>
                  </a:lnTo>
                  <a:lnTo>
                    <a:pt x="324" y="162"/>
                  </a:lnTo>
                  <a:lnTo>
                    <a:pt x="324" y="162"/>
                  </a:lnTo>
                  <a:lnTo>
                    <a:pt x="322" y="160"/>
                  </a:lnTo>
                  <a:lnTo>
                    <a:pt x="322" y="160"/>
                  </a:lnTo>
                  <a:lnTo>
                    <a:pt x="322" y="160"/>
                  </a:lnTo>
                  <a:lnTo>
                    <a:pt x="322" y="160"/>
                  </a:lnTo>
                  <a:lnTo>
                    <a:pt x="322" y="160"/>
                  </a:lnTo>
                  <a:lnTo>
                    <a:pt x="322" y="158"/>
                  </a:lnTo>
                  <a:lnTo>
                    <a:pt x="322" y="158"/>
                  </a:lnTo>
                  <a:lnTo>
                    <a:pt x="322" y="156"/>
                  </a:lnTo>
                  <a:lnTo>
                    <a:pt x="322" y="156"/>
                  </a:lnTo>
                  <a:lnTo>
                    <a:pt x="322" y="154"/>
                  </a:lnTo>
                  <a:lnTo>
                    <a:pt x="322" y="154"/>
                  </a:lnTo>
                  <a:lnTo>
                    <a:pt x="322" y="154"/>
                  </a:lnTo>
                  <a:lnTo>
                    <a:pt x="320" y="154"/>
                  </a:lnTo>
                  <a:lnTo>
                    <a:pt x="320" y="152"/>
                  </a:lnTo>
                  <a:lnTo>
                    <a:pt x="320" y="152"/>
                  </a:lnTo>
                  <a:lnTo>
                    <a:pt x="320" y="152"/>
                  </a:lnTo>
                  <a:lnTo>
                    <a:pt x="320" y="152"/>
                  </a:lnTo>
                  <a:lnTo>
                    <a:pt x="320" y="150"/>
                  </a:lnTo>
                  <a:lnTo>
                    <a:pt x="320" y="150"/>
                  </a:lnTo>
                  <a:lnTo>
                    <a:pt x="318" y="148"/>
                  </a:lnTo>
                  <a:lnTo>
                    <a:pt x="318" y="148"/>
                  </a:lnTo>
                  <a:lnTo>
                    <a:pt x="318" y="148"/>
                  </a:lnTo>
                  <a:lnTo>
                    <a:pt x="318" y="147"/>
                  </a:lnTo>
                  <a:lnTo>
                    <a:pt x="320" y="147"/>
                  </a:lnTo>
                  <a:lnTo>
                    <a:pt x="320" y="147"/>
                  </a:lnTo>
                  <a:lnTo>
                    <a:pt x="320" y="147"/>
                  </a:lnTo>
                  <a:lnTo>
                    <a:pt x="320" y="147"/>
                  </a:lnTo>
                  <a:lnTo>
                    <a:pt x="320" y="147"/>
                  </a:lnTo>
                  <a:lnTo>
                    <a:pt x="322" y="147"/>
                  </a:lnTo>
                  <a:lnTo>
                    <a:pt x="322" y="148"/>
                  </a:lnTo>
                  <a:lnTo>
                    <a:pt x="324" y="148"/>
                  </a:lnTo>
                  <a:lnTo>
                    <a:pt x="324" y="148"/>
                  </a:lnTo>
                  <a:lnTo>
                    <a:pt x="326" y="148"/>
                  </a:lnTo>
                  <a:lnTo>
                    <a:pt x="328" y="148"/>
                  </a:lnTo>
                  <a:lnTo>
                    <a:pt x="328" y="148"/>
                  </a:lnTo>
                  <a:lnTo>
                    <a:pt x="328" y="148"/>
                  </a:lnTo>
                  <a:lnTo>
                    <a:pt x="328" y="150"/>
                  </a:lnTo>
                  <a:lnTo>
                    <a:pt x="328" y="150"/>
                  </a:lnTo>
                  <a:lnTo>
                    <a:pt x="326" y="152"/>
                  </a:lnTo>
                  <a:lnTo>
                    <a:pt x="326" y="152"/>
                  </a:lnTo>
                  <a:lnTo>
                    <a:pt x="326" y="152"/>
                  </a:lnTo>
                  <a:lnTo>
                    <a:pt x="326" y="152"/>
                  </a:lnTo>
                  <a:lnTo>
                    <a:pt x="328" y="152"/>
                  </a:lnTo>
                  <a:lnTo>
                    <a:pt x="328" y="154"/>
                  </a:lnTo>
                  <a:lnTo>
                    <a:pt x="328" y="154"/>
                  </a:lnTo>
                  <a:lnTo>
                    <a:pt x="330" y="154"/>
                  </a:lnTo>
                  <a:lnTo>
                    <a:pt x="330" y="154"/>
                  </a:lnTo>
                  <a:lnTo>
                    <a:pt x="332" y="152"/>
                  </a:lnTo>
                  <a:lnTo>
                    <a:pt x="333" y="150"/>
                  </a:lnTo>
                  <a:lnTo>
                    <a:pt x="335" y="150"/>
                  </a:lnTo>
                  <a:lnTo>
                    <a:pt x="335" y="150"/>
                  </a:lnTo>
                  <a:lnTo>
                    <a:pt x="335" y="150"/>
                  </a:lnTo>
                  <a:lnTo>
                    <a:pt x="335" y="148"/>
                  </a:lnTo>
                  <a:lnTo>
                    <a:pt x="335" y="148"/>
                  </a:lnTo>
                  <a:lnTo>
                    <a:pt x="335" y="145"/>
                  </a:lnTo>
                  <a:lnTo>
                    <a:pt x="335" y="145"/>
                  </a:lnTo>
                  <a:lnTo>
                    <a:pt x="337" y="143"/>
                  </a:lnTo>
                  <a:lnTo>
                    <a:pt x="339" y="139"/>
                  </a:lnTo>
                  <a:lnTo>
                    <a:pt x="343" y="133"/>
                  </a:lnTo>
                  <a:lnTo>
                    <a:pt x="343" y="133"/>
                  </a:lnTo>
                  <a:lnTo>
                    <a:pt x="345" y="131"/>
                  </a:lnTo>
                  <a:lnTo>
                    <a:pt x="349" y="124"/>
                  </a:lnTo>
                  <a:lnTo>
                    <a:pt x="347" y="126"/>
                  </a:lnTo>
                  <a:lnTo>
                    <a:pt x="345" y="126"/>
                  </a:lnTo>
                  <a:lnTo>
                    <a:pt x="343" y="126"/>
                  </a:lnTo>
                  <a:lnTo>
                    <a:pt x="345" y="124"/>
                  </a:lnTo>
                  <a:lnTo>
                    <a:pt x="349" y="122"/>
                  </a:lnTo>
                  <a:lnTo>
                    <a:pt x="351" y="120"/>
                  </a:lnTo>
                  <a:lnTo>
                    <a:pt x="354" y="114"/>
                  </a:lnTo>
                  <a:lnTo>
                    <a:pt x="354" y="114"/>
                  </a:lnTo>
                  <a:lnTo>
                    <a:pt x="354" y="114"/>
                  </a:lnTo>
                  <a:lnTo>
                    <a:pt x="356" y="112"/>
                  </a:lnTo>
                  <a:lnTo>
                    <a:pt x="358" y="112"/>
                  </a:lnTo>
                  <a:lnTo>
                    <a:pt x="360" y="108"/>
                  </a:lnTo>
                  <a:lnTo>
                    <a:pt x="360" y="107"/>
                  </a:lnTo>
                  <a:lnTo>
                    <a:pt x="364" y="101"/>
                  </a:lnTo>
                  <a:lnTo>
                    <a:pt x="366" y="95"/>
                  </a:lnTo>
                  <a:lnTo>
                    <a:pt x="366" y="95"/>
                  </a:lnTo>
                  <a:lnTo>
                    <a:pt x="366" y="93"/>
                  </a:lnTo>
                  <a:lnTo>
                    <a:pt x="368" y="88"/>
                  </a:lnTo>
                  <a:lnTo>
                    <a:pt x="368" y="86"/>
                  </a:lnTo>
                  <a:lnTo>
                    <a:pt x="370" y="84"/>
                  </a:lnTo>
                  <a:lnTo>
                    <a:pt x="370" y="82"/>
                  </a:lnTo>
                  <a:lnTo>
                    <a:pt x="370" y="80"/>
                  </a:lnTo>
                  <a:lnTo>
                    <a:pt x="372" y="74"/>
                  </a:lnTo>
                  <a:lnTo>
                    <a:pt x="373" y="67"/>
                  </a:lnTo>
                  <a:lnTo>
                    <a:pt x="373" y="55"/>
                  </a:lnTo>
                  <a:lnTo>
                    <a:pt x="375" y="50"/>
                  </a:lnTo>
                  <a:lnTo>
                    <a:pt x="375" y="46"/>
                  </a:lnTo>
                  <a:lnTo>
                    <a:pt x="375" y="44"/>
                  </a:lnTo>
                  <a:lnTo>
                    <a:pt x="377" y="42"/>
                  </a:lnTo>
                  <a:lnTo>
                    <a:pt x="377" y="42"/>
                  </a:lnTo>
                  <a:lnTo>
                    <a:pt x="377" y="38"/>
                  </a:lnTo>
                  <a:lnTo>
                    <a:pt x="377" y="38"/>
                  </a:lnTo>
                  <a:lnTo>
                    <a:pt x="377" y="36"/>
                  </a:lnTo>
                  <a:lnTo>
                    <a:pt x="379" y="34"/>
                  </a:lnTo>
                  <a:lnTo>
                    <a:pt x="379" y="32"/>
                  </a:lnTo>
                  <a:lnTo>
                    <a:pt x="379" y="31"/>
                  </a:lnTo>
                  <a:lnTo>
                    <a:pt x="377" y="31"/>
                  </a:lnTo>
                  <a:lnTo>
                    <a:pt x="377" y="31"/>
                  </a:lnTo>
                  <a:lnTo>
                    <a:pt x="377" y="31"/>
                  </a:lnTo>
                  <a:lnTo>
                    <a:pt x="379" y="29"/>
                  </a:lnTo>
                  <a:lnTo>
                    <a:pt x="379" y="29"/>
                  </a:lnTo>
                  <a:lnTo>
                    <a:pt x="379" y="29"/>
                  </a:lnTo>
                  <a:lnTo>
                    <a:pt x="379" y="27"/>
                  </a:lnTo>
                  <a:lnTo>
                    <a:pt x="381" y="21"/>
                  </a:lnTo>
                  <a:lnTo>
                    <a:pt x="381" y="19"/>
                  </a:lnTo>
                  <a:lnTo>
                    <a:pt x="381" y="15"/>
                  </a:lnTo>
                  <a:close/>
                </a:path>
              </a:pathLst>
            </a:custGeom>
            <a:solidFill>
              <a:schemeClr val="accent1"/>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68" name="Freeform 17">
              <a:extLst>
                <a:ext uri="{FF2B5EF4-FFF2-40B4-BE49-F238E27FC236}">
                  <a16:creationId xmlns:a16="http://schemas.microsoft.com/office/drawing/2014/main" id="{F2F3C53F-5AF9-DA93-2D07-F66A45161309}"/>
                </a:ext>
              </a:extLst>
            </p:cNvPr>
            <p:cNvSpPr>
              <a:spLocks noEditPoints="1"/>
            </p:cNvSpPr>
            <p:nvPr/>
          </p:nvSpPr>
          <p:spPr bwMode="auto">
            <a:xfrm>
              <a:off x="2415371" y="5253523"/>
              <a:ext cx="718771" cy="869445"/>
            </a:xfrm>
            <a:custGeom>
              <a:avLst/>
              <a:gdLst>
                <a:gd name="T0" fmla="*/ 373 w 381"/>
                <a:gd name="T1" fmla="*/ 10 h 514"/>
                <a:gd name="T2" fmla="*/ 358 w 381"/>
                <a:gd name="T3" fmla="*/ 6 h 514"/>
                <a:gd name="T4" fmla="*/ 354 w 381"/>
                <a:gd name="T5" fmla="*/ 6 h 514"/>
                <a:gd name="T6" fmla="*/ 330 w 381"/>
                <a:gd name="T7" fmla="*/ 25 h 514"/>
                <a:gd name="T8" fmla="*/ 326 w 381"/>
                <a:gd name="T9" fmla="*/ 31 h 514"/>
                <a:gd name="T10" fmla="*/ 305 w 381"/>
                <a:gd name="T11" fmla="*/ 21 h 514"/>
                <a:gd name="T12" fmla="*/ 292 w 381"/>
                <a:gd name="T13" fmla="*/ 32 h 514"/>
                <a:gd name="T14" fmla="*/ 271 w 381"/>
                <a:gd name="T15" fmla="*/ 48 h 514"/>
                <a:gd name="T16" fmla="*/ 252 w 381"/>
                <a:gd name="T17" fmla="*/ 44 h 514"/>
                <a:gd name="T18" fmla="*/ 231 w 381"/>
                <a:gd name="T19" fmla="*/ 46 h 514"/>
                <a:gd name="T20" fmla="*/ 217 w 381"/>
                <a:gd name="T21" fmla="*/ 74 h 514"/>
                <a:gd name="T22" fmla="*/ 200 w 381"/>
                <a:gd name="T23" fmla="*/ 86 h 514"/>
                <a:gd name="T24" fmla="*/ 164 w 381"/>
                <a:gd name="T25" fmla="*/ 70 h 514"/>
                <a:gd name="T26" fmla="*/ 141 w 381"/>
                <a:gd name="T27" fmla="*/ 76 h 514"/>
                <a:gd name="T28" fmla="*/ 124 w 381"/>
                <a:gd name="T29" fmla="*/ 91 h 514"/>
                <a:gd name="T30" fmla="*/ 128 w 381"/>
                <a:gd name="T31" fmla="*/ 108 h 514"/>
                <a:gd name="T32" fmla="*/ 133 w 381"/>
                <a:gd name="T33" fmla="*/ 128 h 514"/>
                <a:gd name="T34" fmla="*/ 139 w 381"/>
                <a:gd name="T35" fmla="*/ 141 h 514"/>
                <a:gd name="T36" fmla="*/ 111 w 381"/>
                <a:gd name="T37" fmla="*/ 166 h 514"/>
                <a:gd name="T38" fmla="*/ 82 w 381"/>
                <a:gd name="T39" fmla="*/ 166 h 514"/>
                <a:gd name="T40" fmla="*/ 55 w 381"/>
                <a:gd name="T41" fmla="*/ 181 h 514"/>
                <a:gd name="T42" fmla="*/ 21 w 381"/>
                <a:gd name="T43" fmla="*/ 173 h 514"/>
                <a:gd name="T44" fmla="*/ 11 w 381"/>
                <a:gd name="T45" fmla="*/ 185 h 514"/>
                <a:gd name="T46" fmla="*/ 2 w 381"/>
                <a:gd name="T47" fmla="*/ 192 h 514"/>
                <a:gd name="T48" fmla="*/ 23 w 381"/>
                <a:gd name="T49" fmla="*/ 215 h 514"/>
                <a:gd name="T50" fmla="*/ 40 w 381"/>
                <a:gd name="T51" fmla="*/ 221 h 514"/>
                <a:gd name="T52" fmla="*/ 48 w 381"/>
                <a:gd name="T53" fmla="*/ 234 h 514"/>
                <a:gd name="T54" fmla="*/ 42 w 381"/>
                <a:gd name="T55" fmla="*/ 242 h 514"/>
                <a:gd name="T56" fmla="*/ 61 w 381"/>
                <a:gd name="T57" fmla="*/ 259 h 514"/>
                <a:gd name="T58" fmla="*/ 55 w 381"/>
                <a:gd name="T59" fmla="*/ 287 h 514"/>
                <a:gd name="T60" fmla="*/ 65 w 381"/>
                <a:gd name="T61" fmla="*/ 310 h 514"/>
                <a:gd name="T62" fmla="*/ 93 w 381"/>
                <a:gd name="T63" fmla="*/ 306 h 514"/>
                <a:gd name="T64" fmla="*/ 95 w 381"/>
                <a:gd name="T65" fmla="*/ 341 h 514"/>
                <a:gd name="T66" fmla="*/ 93 w 381"/>
                <a:gd name="T67" fmla="*/ 373 h 514"/>
                <a:gd name="T68" fmla="*/ 107 w 381"/>
                <a:gd name="T69" fmla="*/ 386 h 514"/>
                <a:gd name="T70" fmla="*/ 95 w 381"/>
                <a:gd name="T71" fmla="*/ 441 h 514"/>
                <a:gd name="T72" fmla="*/ 97 w 381"/>
                <a:gd name="T73" fmla="*/ 468 h 514"/>
                <a:gd name="T74" fmla="*/ 91 w 381"/>
                <a:gd name="T75" fmla="*/ 481 h 514"/>
                <a:gd name="T76" fmla="*/ 82 w 381"/>
                <a:gd name="T77" fmla="*/ 495 h 514"/>
                <a:gd name="T78" fmla="*/ 143 w 381"/>
                <a:gd name="T79" fmla="*/ 504 h 514"/>
                <a:gd name="T80" fmla="*/ 177 w 381"/>
                <a:gd name="T81" fmla="*/ 457 h 514"/>
                <a:gd name="T82" fmla="*/ 187 w 381"/>
                <a:gd name="T83" fmla="*/ 430 h 514"/>
                <a:gd name="T84" fmla="*/ 242 w 381"/>
                <a:gd name="T85" fmla="*/ 405 h 514"/>
                <a:gd name="T86" fmla="*/ 274 w 381"/>
                <a:gd name="T87" fmla="*/ 403 h 514"/>
                <a:gd name="T88" fmla="*/ 288 w 381"/>
                <a:gd name="T89" fmla="*/ 399 h 514"/>
                <a:gd name="T90" fmla="*/ 252 w 381"/>
                <a:gd name="T91" fmla="*/ 371 h 514"/>
                <a:gd name="T92" fmla="*/ 282 w 381"/>
                <a:gd name="T93" fmla="*/ 331 h 514"/>
                <a:gd name="T94" fmla="*/ 295 w 381"/>
                <a:gd name="T95" fmla="*/ 304 h 514"/>
                <a:gd name="T96" fmla="*/ 309 w 381"/>
                <a:gd name="T97" fmla="*/ 306 h 514"/>
                <a:gd name="T98" fmla="*/ 326 w 381"/>
                <a:gd name="T99" fmla="*/ 304 h 514"/>
                <a:gd name="T100" fmla="*/ 330 w 381"/>
                <a:gd name="T101" fmla="*/ 255 h 514"/>
                <a:gd name="T102" fmla="*/ 326 w 381"/>
                <a:gd name="T103" fmla="*/ 251 h 514"/>
                <a:gd name="T104" fmla="*/ 326 w 381"/>
                <a:gd name="T105" fmla="*/ 244 h 514"/>
                <a:gd name="T106" fmla="*/ 333 w 381"/>
                <a:gd name="T107" fmla="*/ 207 h 514"/>
                <a:gd name="T108" fmla="*/ 330 w 381"/>
                <a:gd name="T109" fmla="*/ 204 h 514"/>
                <a:gd name="T110" fmla="*/ 328 w 381"/>
                <a:gd name="T111" fmla="*/ 177 h 514"/>
                <a:gd name="T112" fmla="*/ 322 w 381"/>
                <a:gd name="T113" fmla="*/ 160 h 514"/>
                <a:gd name="T114" fmla="*/ 318 w 381"/>
                <a:gd name="T115" fmla="*/ 148 h 514"/>
                <a:gd name="T116" fmla="*/ 328 w 381"/>
                <a:gd name="T117" fmla="*/ 150 h 514"/>
                <a:gd name="T118" fmla="*/ 335 w 381"/>
                <a:gd name="T119" fmla="*/ 145 h 514"/>
                <a:gd name="T120" fmla="*/ 356 w 381"/>
                <a:gd name="T121" fmla="*/ 112 h 514"/>
                <a:gd name="T122" fmla="*/ 375 w 381"/>
                <a:gd name="T123" fmla="*/ 46 h 514"/>
                <a:gd name="T124" fmla="*/ 381 w 381"/>
                <a:gd name="T125" fmla="*/ 21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1" h="514">
                  <a:moveTo>
                    <a:pt x="377" y="10"/>
                  </a:moveTo>
                  <a:lnTo>
                    <a:pt x="377" y="10"/>
                  </a:lnTo>
                  <a:lnTo>
                    <a:pt x="377" y="6"/>
                  </a:lnTo>
                  <a:lnTo>
                    <a:pt x="375" y="2"/>
                  </a:lnTo>
                  <a:lnTo>
                    <a:pt x="375" y="2"/>
                  </a:lnTo>
                  <a:lnTo>
                    <a:pt x="375" y="4"/>
                  </a:lnTo>
                  <a:lnTo>
                    <a:pt x="375" y="4"/>
                  </a:lnTo>
                  <a:lnTo>
                    <a:pt x="375" y="4"/>
                  </a:lnTo>
                  <a:lnTo>
                    <a:pt x="377" y="10"/>
                  </a:lnTo>
                  <a:close/>
                  <a:moveTo>
                    <a:pt x="381" y="15"/>
                  </a:moveTo>
                  <a:lnTo>
                    <a:pt x="379" y="13"/>
                  </a:lnTo>
                  <a:lnTo>
                    <a:pt x="379" y="12"/>
                  </a:lnTo>
                  <a:lnTo>
                    <a:pt x="377" y="12"/>
                  </a:lnTo>
                  <a:lnTo>
                    <a:pt x="377" y="12"/>
                  </a:lnTo>
                  <a:lnTo>
                    <a:pt x="377" y="13"/>
                  </a:lnTo>
                  <a:lnTo>
                    <a:pt x="375" y="12"/>
                  </a:lnTo>
                  <a:lnTo>
                    <a:pt x="373" y="10"/>
                  </a:lnTo>
                  <a:lnTo>
                    <a:pt x="373" y="10"/>
                  </a:lnTo>
                  <a:lnTo>
                    <a:pt x="373" y="8"/>
                  </a:lnTo>
                  <a:lnTo>
                    <a:pt x="373" y="8"/>
                  </a:lnTo>
                  <a:lnTo>
                    <a:pt x="373" y="8"/>
                  </a:lnTo>
                  <a:lnTo>
                    <a:pt x="373" y="8"/>
                  </a:lnTo>
                  <a:lnTo>
                    <a:pt x="370" y="10"/>
                  </a:lnTo>
                  <a:lnTo>
                    <a:pt x="368" y="10"/>
                  </a:lnTo>
                  <a:lnTo>
                    <a:pt x="362" y="8"/>
                  </a:lnTo>
                  <a:lnTo>
                    <a:pt x="362" y="8"/>
                  </a:lnTo>
                  <a:lnTo>
                    <a:pt x="360" y="8"/>
                  </a:lnTo>
                  <a:lnTo>
                    <a:pt x="358" y="8"/>
                  </a:lnTo>
                  <a:lnTo>
                    <a:pt x="358" y="8"/>
                  </a:lnTo>
                  <a:lnTo>
                    <a:pt x="358" y="8"/>
                  </a:lnTo>
                  <a:lnTo>
                    <a:pt x="358" y="6"/>
                  </a:lnTo>
                  <a:lnTo>
                    <a:pt x="358" y="6"/>
                  </a:lnTo>
                  <a:lnTo>
                    <a:pt x="358" y="6"/>
                  </a:lnTo>
                  <a:lnTo>
                    <a:pt x="358" y="6"/>
                  </a:lnTo>
                  <a:lnTo>
                    <a:pt x="358" y="4"/>
                  </a:lnTo>
                  <a:lnTo>
                    <a:pt x="358" y="4"/>
                  </a:lnTo>
                  <a:lnTo>
                    <a:pt x="358" y="4"/>
                  </a:lnTo>
                  <a:lnTo>
                    <a:pt x="356" y="4"/>
                  </a:lnTo>
                  <a:lnTo>
                    <a:pt x="354" y="2"/>
                  </a:lnTo>
                  <a:lnTo>
                    <a:pt x="353" y="2"/>
                  </a:lnTo>
                  <a:lnTo>
                    <a:pt x="353" y="0"/>
                  </a:lnTo>
                  <a:lnTo>
                    <a:pt x="353" y="2"/>
                  </a:lnTo>
                  <a:lnTo>
                    <a:pt x="353" y="2"/>
                  </a:lnTo>
                  <a:lnTo>
                    <a:pt x="351" y="2"/>
                  </a:lnTo>
                  <a:lnTo>
                    <a:pt x="353" y="2"/>
                  </a:lnTo>
                  <a:lnTo>
                    <a:pt x="353" y="4"/>
                  </a:lnTo>
                  <a:lnTo>
                    <a:pt x="353" y="4"/>
                  </a:lnTo>
                  <a:lnTo>
                    <a:pt x="353" y="4"/>
                  </a:lnTo>
                  <a:lnTo>
                    <a:pt x="354" y="4"/>
                  </a:lnTo>
                  <a:lnTo>
                    <a:pt x="354" y="6"/>
                  </a:lnTo>
                  <a:lnTo>
                    <a:pt x="354" y="6"/>
                  </a:lnTo>
                  <a:lnTo>
                    <a:pt x="353" y="6"/>
                  </a:lnTo>
                  <a:lnTo>
                    <a:pt x="353" y="8"/>
                  </a:lnTo>
                  <a:lnTo>
                    <a:pt x="351" y="8"/>
                  </a:lnTo>
                  <a:lnTo>
                    <a:pt x="349" y="8"/>
                  </a:lnTo>
                  <a:lnTo>
                    <a:pt x="347" y="10"/>
                  </a:lnTo>
                  <a:lnTo>
                    <a:pt x="347" y="12"/>
                  </a:lnTo>
                  <a:lnTo>
                    <a:pt x="345" y="12"/>
                  </a:lnTo>
                  <a:lnTo>
                    <a:pt x="345" y="13"/>
                  </a:lnTo>
                  <a:lnTo>
                    <a:pt x="345" y="13"/>
                  </a:lnTo>
                  <a:lnTo>
                    <a:pt x="345" y="13"/>
                  </a:lnTo>
                  <a:lnTo>
                    <a:pt x="345" y="15"/>
                  </a:lnTo>
                  <a:lnTo>
                    <a:pt x="345" y="15"/>
                  </a:lnTo>
                  <a:lnTo>
                    <a:pt x="345" y="17"/>
                  </a:lnTo>
                  <a:lnTo>
                    <a:pt x="337" y="21"/>
                  </a:lnTo>
                  <a:lnTo>
                    <a:pt x="332" y="23"/>
                  </a:lnTo>
                  <a:lnTo>
                    <a:pt x="330" y="25"/>
                  </a:lnTo>
                  <a:lnTo>
                    <a:pt x="330" y="25"/>
                  </a:lnTo>
                  <a:lnTo>
                    <a:pt x="328" y="23"/>
                  </a:lnTo>
                  <a:lnTo>
                    <a:pt x="328" y="23"/>
                  </a:lnTo>
                  <a:lnTo>
                    <a:pt x="326" y="25"/>
                  </a:lnTo>
                  <a:lnTo>
                    <a:pt x="326" y="25"/>
                  </a:lnTo>
                  <a:lnTo>
                    <a:pt x="326" y="25"/>
                  </a:lnTo>
                  <a:lnTo>
                    <a:pt x="326" y="27"/>
                  </a:lnTo>
                  <a:lnTo>
                    <a:pt x="326" y="27"/>
                  </a:lnTo>
                  <a:lnTo>
                    <a:pt x="328" y="27"/>
                  </a:lnTo>
                  <a:lnTo>
                    <a:pt x="328" y="27"/>
                  </a:lnTo>
                  <a:lnTo>
                    <a:pt x="328" y="29"/>
                  </a:lnTo>
                  <a:lnTo>
                    <a:pt x="330" y="29"/>
                  </a:lnTo>
                  <a:lnTo>
                    <a:pt x="330" y="29"/>
                  </a:lnTo>
                  <a:lnTo>
                    <a:pt x="330" y="29"/>
                  </a:lnTo>
                  <a:lnTo>
                    <a:pt x="330" y="31"/>
                  </a:lnTo>
                  <a:lnTo>
                    <a:pt x="328" y="31"/>
                  </a:lnTo>
                  <a:lnTo>
                    <a:pt x="328" y="31"/>
                  </a:lnTo>
                  <a:lnTo>
                    <a:pt x="326" y="31"/>
                  </a:lnTo>
                  <a:lnTo>
                    <a:pt x="324" y="31"/>
                  </a:lnTo>
                  <a:lnTo>
                    <a:pt x="324" y="31"/>
                  </a:lnTo>
                  <a:lnTo>
                    <a:pt x="320" y="29"/>
                  </a:lnTo>
                  <a:lnTo>
                    <a:pt x="320" y="29"/>
                  </a:lnTo>
                  <a:lnTo>
                    <a:pt x="320" y="29"/>
                  </a:lnTo>
                  <a:lnTo>
                    <a:pt x="320" y="27"/>
                  </a:lnTo>
                  <a:lnTo>
                    <a:pt x="320" y="27"/>
                  </a:lnTo>
                  <a:lnTo>
                    <a:pt x="320" y="25"/>
                  </a:lnTo>
                  <a:lnTo>
                    <a:pt x="320" y="25"/>
                  </a:lnTo>
                  <a:lnTo>
                    <a:pt x="318" y="25"/>
                  </a:lnTo>
                  <a:lnTo>
                    <a:pt x="312" y="25"/>
                  </a:lnTo>
                  <a:lnTo>
                    <a:pt x="311" y="25"/>
                  </a:lnTo>
                  <a:lnTo>
                    <a:pt x="309" y="25"/>
                  </a:lnTo>
                  <a:lnTo>
                    <a:pt x="309" y="25"/>
                  </a:lnTo>
                  <a:lnTo>
                    <a:pt x="309" y="23"/>
                  </a:lnTo>
                  <a:lnTo>
                    <a:pt x="307" y="21"/>
                  </a:lnTo>
                  <a:lnTo>
                    <a:pt x="305" y="21"/>
                  </a:lnTo>
                  <a:lnTo>
                    <a:pt x="305" y="19"/>
                  </a:lnTo>
                  <a:lnTo>
                    <a:pt x="303" y="19"/>
                  </a:lnTo>
                  <a:lnTo>
                    <a:pt x="301" y="19"/>
                  </a:lnTo>
                  <a:lnTo>
                    <a:pt x="299" y="19"/>
                  </a:lnTo>
                  <a:lnTo>
                    <a:pt x="297" y="21"/>
                  </a:lnTo>
                  <a:lnTo>
                    <a:pt x="297" y="21"/>
                  </a:lnTo>
                  <a:lnTo>
                    <a:pt x="297" y="21"/>
                  </a:lnTo>
                  <a:lnTo>
                    <a:pt x="297" y="23"/>
                  </a:lnTo>
                  <a:lnTo>
                    <a:pt x="297" y="23"/>
                  </a:lnTo>
                  <a:lnTo>
                    <a:pt x="297" y="25"/>
                  </a:lnTo>
                  <a:lnTo>
                    <a:pt x="295" y="27"/>
                  </a:lnTo>
                  <a:lnTo>
                    <a:pt x="295" y="27"/>
                  </a:lnTo>
                  <a:lnTo>
                    <a:pt x="295" y="29"/>
                  </a:lnTo>
                  <a:lnTo>
                    <a:pt x="295" y="29"/>
                  </a:lnTo>
                  <a:lnTo>
                    <a:pt x="295" y="31"/>
                  </a:lnTo>
                  <a:lnTo>
                    <a:pt x="295" y="31"/>
                  </a:lnTo>
                  <a:lnTo>
                    <a:pt x="292" y="32"/>
                  </a:lnTo>
                  <a:lnTo>
                    <a:pt x="292" y="32"/>
                  </a:lnTo>
                  <a:lnTo>
                    <a:pt x="292" y="34"/>
                  </a:lnTo>
                  <a:lnTo>
                    <a:pt x="290" y="36"/>
                  </a:lnTo>
                  <a:lnTo>
                    <a:pt x="288" y="38"/>
                  </a:lnTo>
                  <a:lnTo>
                    <a:pt x="286" y="40"/>
                  </a:lnTo>
                  <a:lnTo>
                    <a:pt x="284" y="40"/>
                  </a:lnTo>
                  <a:lnTo>
                    <a:pt x="284" y="40"/>
                  </a:lnTo>
                  <a:lnTo>
                    <a:pt x="284" y="38"/>
                  </a:lnTo>
                  <a:lnTo>
                    <a:pt x="282" y="38"/>
                  </a:lnTo>
                  <a:lnTo>
                    <a:pt x="280" y="38"/>
                  </a:lnTo>
                  <a:lnTo>
                    <a:pt x="280" y="38"/>
                  </a:lnTo>
                  <a:lnTo>
                    <a:pt x="278" y="38"/>
                  </a:lnTo>
                  <a:lnTo>
                    <a:pt x="276" y="44"/>
                  </a:lnTo>
                  <a:lnTo>
                    <a:pt x="272" y="46"/>
                  </a:lnTo>
                  <a:lnTo>
                    <a:pt x="272" y="48"/>
                  </a:lnTo>
                  <a:lnTo>
                    <a:pt x="271" y="48"/>
                  </a:lnTo>
                  <a:lnTo>
                    <a:pt x="271" y="48"/>
                  </a:lnTo>
                  <a:lnTo>
                    <a:pt x="267" y="48"/>
                  </a:lnTo>
                  <a:lnTo>
                    <a:pt x="265" y="48"/>
                  </a:lnTo>
                  <a:lnTo>
                    <a:pt x="263" y="48"/>
                  </a:lnTo>
                  <a:lnTo>
                    <a:pt x="263" y="48"/>
                  </a:lnTo>
                  <a:lnTo>
                    <a:pt x="261" y="48"/>
                  </a:lnTo>
                  <a:lnTo>
                    <a:pt x="261" y="48"/>
                  </a:lnTo>
                  <a:lnTo>
                    <a:pt x="259" y="48"/>
                  </a:lnTo>
                  <a:lnTo>
                    <a:pt x="257" y="46"/>
                  </a:lnTo>
                  <a:lnTo>
                    <a:pt x="257" y="46"/>
                  </a:lnTo>
                  <a:lnTo>
                    <a:pt x="257" y="44"/>
                  </a:lnTo>
                  <a:lnTo>
                    <a:pt x="257" y="44"/>
                  </a:lnTo>
                  <a:lnTo>
                    <a:pt x="257" y="44"/>
                  </a:lnTo>
                  <a:lnTo>
                    <a:pt x="255" y="44"/>
                  </a:lnTo>
                  <a:lnTo>
                    <a:pt x="255" y="44"/>
                  </a:lnTo>
                  <a:lnTo>
                    <a:pt x="253" y="44"/>
                  </a:lnTo>
                  <a:lnTo>
                    <a:pt x="252" y="42"/>
                  </a:lnTo>
                  <a:lnTo>
                    <a:pt x="252" y="44"/>
                  </a:lnTo>
                  <a:lnTo>
                    <a:pt x="250" y="44"/>
                  </a:lnTo>
                  <a:lnTo>
                    <a:pt x="250" y="46"/>
                  </a:lnTo>
                  <a:lnTo>
                    <a:pt x="250" y="46"/>
                  </a:lnTo>
                  <a:lnTo>
                    <a:pt x="250" y="46"/>
                  </a:lnTo>
                  <a:lnTo>
                    <a:pt x="250" y="48"/>
                  </a:lnTo>
                  <a:lnTo>
                    <a:pt x="248" y="48"/>
                  </a:lnTo>
                  <a:lnTo>
                    <a:pt x="246" y="48"/>
                  </a:lnTo>
                  <a:lnTo>
                    <a:pt x="246" y="48"/>
                  </a:lnTo>
                  <a:lnTo>
                    <a:pt x="246" y="48"/>
                  </a:lnTo>
                  <a:lnTo>
                    <a:pt x="246" y="46"/>
                  </a:lnTo>
                  <a:lnTo>
                    <a:pt x="244" y="44"/>
                  </a:lnTo>
                  <a:lnTo>
                    <a:pt x="244" y="44"/>
                  </a:lnTo>
                  <a:lnTo>
                    <a:pt x="240" y="44"/>
                  </a:lnTo>
                  <a:lnTo>
                    <a:pt x="238" y="46"/>
                  </a:lnTo>
                  <a:lnTo>
                    <a:pt x="236" y="46"/>
                  </a:lnTo>
                  <a:lnTo>
                    <a:pt x="232" y="46"/>
                  </a:lnTo>
                  <a:lnTo>
                    <a:pt x="231" y="46"/>
                  </a:lnTo>
                  <a:lnTo>
                    <a:pt x="231" y="48"/>
                  </a:lnTo>
                  <a:lnTo>
                    <a:pt x="231" y="48"/>
                  </a:lnTo>
                  <a:lnTo>
                    <a:pt x="229" y="50"/>
                  </a:lnTo>
                  <a:lnTo>
                    <a:pt x="229" y="50"/>
                  </a:lnTo>
                  <a:lnTo>
                    <a:pt x="227" y="50"/>
                  </a:lnTo>
                  <a:lnTo>
                    <a:pt x="227" y="50"/>
                  </a:lnTo>
                  <a:lnTo>
                    <a:pt x="225" y="50"/>
                  </a:lnTo>
                  <a:lnTo>
                    <a:pt x="225" y="51"/>
                  </a:lnTo>
                  <a:lnTo>
                    <a:pt x="223" y="53"/>
                  </a:lnTo>
                  <a:lnTo>
                    <a:pt x="223" y="53"/>
                  </a:lnTo>
                  <a:lnTo>
                    <a:pt x="223" y="55"/>
                  </a:lnTo>
                  <a:lnTo>
                    <a:pt x="223" y="57"/>
                  </a:lnTo>
                  <a:lnTo>
                    <a:pt x="223" y="57"/>
                  </a:lnTo>
                  <a:lnTo>
                    <a:pt x="223" y="59"/>
                  </a:lnTo>
                  <a:lnTo>
                    <a:pt x="221" y="67"/>
                  </a:lnTo>
                  <a:lnTo>
                    <a:pt x="217" y="72"/>
                  </a:lnTo>
                  <a:lnTo>
                    <a:pt x="217" y="74"/>
                  </a:lnTo>
                  <a:lnTo>
                    <a:pt x="217" y="74"/>
                  </a:lnTo>
                  <a:lnTo>
                    <a:pt x="213" y="76"/>
                  </a:lnTo>
                  <a:lnTo>
                    <a:pt x="213" y="76"/>
                  </a:lnTo>
                  <a:lnTo>
                    <a:pt x="211" y="76"/>
                  </a:lnTo>
                  <a:lnTo>
                    <a:pt x="211" y="76"/>
                  </a:lnTo>
                  <a:lnTo>
                    <a:pt x="211" y="76"/>
                  </a:lnTo>
                  <a:lnTo>
                    <a:pt x="210" y="76"/>
                  </a:lnTo>
                  <a:lnTo>
                    <a:pt x="210" y="76"/>
                  </a:lnTo>
                  <a:lnTo>
                    <a:pt x="210" y="78"/>
                  </a:lnTo>
                  <a:lnTo>
                    <a:pt x="210" y="78"/>
                  </a:lnTo>
                  <a:lnTo>
                    <a:pt x="210" y="80"/>
                  </a:lnTo>
                  <a:lnTo>
                    <a:pt x="210" y="82"/>
                  </a:lnTo>
                  <a:lnTo>
                    <a:pt x="206" y="86"/>
                  </a:lnTo>
                  <a:lnTo>
                    <a:pt x="204" y="86"/>
                  </a:lnTo>
                  <a:lnTo>
                    <a:pt x="204" y="86"/>
                  </a:lnTo>
                  <a:lnTo>
                    <a:pt x="202" y="86"/>
                  </a:lnTo>
                  <a:lnTo>
                    <a:pt x="200" y="86"/>
                  </a:lnTo>
                  <a:lnTo>
                    <a:pt x="200" y="86"/>
                  </a:lnTo>
                  <a:lnTo>
                    <a:pt x="200" y="86"/>
                  </a:lnTo>
                  <a:lnTo>
                    <a:pt x="196" y="86"/>
                  </a:lnTo>
                  <a:lnTo>
                    <a:pt x="192" y="82"/>
                  </a:lnTo>
                  <a:lnTo>
                    <a:pt x="189" y="80"/>
                  </a:lnTo>
                  <a:lnTo>
                    <a:pt x="185" y="74"/>
                  </a:lnTo>
                  <a:lnTo>
                    <a:pt x="179" y="72"/>
                  </a:lnTo>
                  <a:lnTo>
                    <a:pt x="177" y="72"/>
                  </a:lnTo>
                  <a:lnTo>
                    <a:pt x="171" y="69"/>
                  </a:lnTo>
                  <a:lnTo>
                    <a:pt x="170" y="67"/>
                  </a:lnTo>
                  <a:lnTo>
                    <a:pt x="168" y="67"/>
                  </a:lnTo>
                  <a:lnTo>
                    <a:pt x="168" y="67"/>
                  </a:lnTo>
                  <a:lnTo>
                    <a:pt x="166" y="69"/>
                  </a:lnTo>
                  <a:lnTo>
                    <a:pt x="166" y="69"/>
                  </a:lnTo>
                  <a:lnTo>
                    <a:pt x="166" y="69"/>
                  </a:lnTo>
                  <a:lnTo>
                    <a:pt x="166" y="70"/>
                  </a:lnTo>
                  <a:lnTo>
                    <a:pt x="164" y="70"/>
                  </a:lnTo>
                  <a:lnTo>
                    <a:pt x="164" y="70"/>
                  </a:lnTo>
                  <a:lnTo>
                    <a:pt x="162" y="70"/>
                  </a:lnTo>
                  <a:lnTo>
                    <a:pt x="160" y="69"/>
                  </a:lnTo>
                  <a:lnTo>
                    <a:pt x="160" y="67"/>
                  </a:lnTo>
                  <a:lnTo>
                    <a:pt x="158" y="67"/>
                  </a:lnTo>
                  <a:lnTo>
                    <a:pt x="158" y="65"/>
                  </a:lnTo>
                  <a:lnTo>
                    <a:pt x="158" y="65"/>
                  </a:lnTo>
                  <a:lnTo>
                    <a:pt x="156" y="65"/>
                  </a:lnTo>
                  <a:lnTo>
                    <a:pt x="156" y="65"/>
                  </a:lnTo>
                  <a:lnTo>
                    <a:pt x="154" y="63"/>
                  </a:lnTo>
                  <a:lnTo>
                    <a:pt x="151" y="65"/>
                  </a:lnTo>
                  <a:lnTo>
                    <a:pt x="147" y="65"/>
                  </a:lnTo>
                  <a:lnTo>
                    <a:pt x="145" y="70"/>
                  </a:lnTo>
                  <a:lnTo>
                    <a:pt x="143" y="72"/>
                  </a:lnTo>
                  <a:lnTo>
                    <a:pt x="143" y="74"/>
                  </a:lnTo>
                  <a:lnTo>
                    <a:pt x="141" y="74"/>
                  </a:lnTo>
                  <a:lnTo>
                    <a:pt x="141" y="76"/>
                  </a:lnTo>
                  <a:lnTo>
                    <a:pt x="141" y="76"/>
                  </a:lnTo>
                  <a:lnTo>
                    <a:pt x="143" y="76"/>
                  </a:lnTo>
                  <a:lnTo>
                    <a:pt x="143" y="78"/>
                  </a:lnTo>
                  <a:lnTo>
                    <a:pt x="143" y="78"/>
                  </a:lnTo>
                  <a:lnTo>
                    <a:pt x="143" y="78"/>
                  </a:lnTo>
                  <a:lnTo>
                    <a:pt x="141" y="80"/>
                  </a:lnTo>
                  <a:lnTo>
                    <a:pt x="141" y="80"/>
                  </a:lnTo>
                  <a:lnTo>
                    <a:pt x="137" y="82"/>
                  </a:lnTo>
                  <a:lnTo>
                    <a:pt x="135" y="82"/>
                  </a:lnTo>
                  <a:lnTo>
                    <a:pt x="135" y="82"/>
                  </a:lnTo>
                  <a:lnTo>
                    <a:pt x="133" y="82"/>
                  </a:lnTo>
                  <a:lnTo>
                    <a:pt x="131" y="82"/>
                  </a:lnTo>
                  <a:lnTo>
                    <a:pt x="131" y="82"/>
                  </a:lnTo>
                  <a:lnTo>
                    <a:pt x="130" y="82"/>
                  </a:lnTo>
                  <a:lnTo>
                    <a:pt x="128" y="82"/>
                  </a:lnTo>
                  <a:lnTo>
                    <a:pt x="126" y="88"/>
                  </a:lnTo>
                  <a:lnTo>
                    <a:pt x="124" y="91"/>
                  </a:lnTo>
                  <a:lnTo>
                    <a:pt x="124" y="93"/>
                  </a:lnTo>
                  <a:lnTo>
                    <a:pt x="124" y="95"/>
                  </a:lnTo>
                  <a:lnTo>
                    <a:pt x="126" y="95"/>
                  </a:lnTo>
                  <a:lnTo>
                    <a:pt x="126" y="97"/>
                  </a:lnTo>
                  <a:lnTo>
                    <a:pt x="126" y="97"/>
                  </a:lnTo>
                  <a:lnTo>
                    <a:pt x="126" y="99"/>
                  </a:lnTo>
                  <a:lnTo>
                    <a:pt x="126" y="99"/>
                  </a:lnTo>
                  <a:lnTo>
                    <a:pt x="126" y="99"/>
                  </a:lnTo>
                  <a:lnTo>
                    <a:pt x="126" y="99"/>
                  </a:lnTo>
                  <a:lnTo>
                    <a:pt x="126" y="99"/>
                  </a:lnTo>
                  <a:lnTo>
                    <a:pt x="126" y="99"/>
                  </a:lnTo>
                  <a:lnTo>
                    <a:pt x="128" y="99"/>
                  </a:lnTo>
                  <a:lnTo>
                    <a:pt x="128" y="99"/>
                  </a:lnTo>
                  <a:lnTo>
                    <a:pt x="130" y="99"/>
                  </a:lnTo>
                  <a:lnTo>
                    <a:pt x="130" y="101"/>
                  </a:lnTo>
                  <a:lnTo>
                    <a:pt x="130" y="103"/>
                  </a:lnTo>
                  <a:lnTo>
                    <a:pt x="128" y="108"/>
                  </a:lnTo>
                  <a:lnTo>
                    <a:pt x="128" y="108"/>
                  </a:lnTo>
                  <a:lnTo>
                    <a:pt x="126" y="110"/>
                  </a:lnTo>
                  <a:lnTo>
                    <a:pt x="124" y="112"/>
                  </a:lnTo>
                  <a:lnTo>
                    <a:pt x="124" y="114"/>
                  </a:lnTo>
                  <a:lnTo>
                    <a:pt x="120" y="116"/>
                  </a:lnTo>
                  <a:lnTo>
                    <a:pt x="116" y="118"/>
                  </a:lnTo>
                  <a:lnTo>
                    <a:pt x="116" y="120"/>
                  </a:lnTo>
                  <a:lnTo>
                    <a:pt x="116" y="120"/>
                  </a:lnTo>
                  <a:lnTo>
                    <a:pt x="114" y="122"/>
                  </a:lnTo>
                  <a:lnTo>
                    <a:pt x="114" y="122"/>
                  </a:lnTo>
                  <a:lnTo>
                    <a:pt x="114" y="122"/>
                  </a:lnTo>
                  <a:lnTo>
                    <a:pt x="116" y="124"/>
                  </a:lnTo>
                  <a:lnTo>
                    <a:pt x="116" y="124"/>
                  </a:lnTo>
                  <a:lnTo>
                    <a:pt x="116" y="126"/>
                  </a:lnTo>
                  <a:lnTo>
                    <a:pt x="116" y="126"/>
                  </a:lnTo>
                  <a:lnTo>
                    <a:pt x="118" y="128"/>
                  </a:lnTo>
                  <a:lnTo>
                    <a:pt x="133" y="128"/>
                  </a:lnTo>
                  <a:lnTo>
                    <a:pt x="137" y="128"/>
                  </a:lnTo>
                  <a:lnTo>
                    <a:pt x="139" y="129"/>
                  </a:lnTo>
                  <a:lnTo>
                    <a:pt x="139" y="129"/>
                  </a:lnTo>
                  <a:lnTo>
                    <a:pt x="139" y="129"/>
                  </a:lnTo>
                  <a:lnTo>
                    <a:pt x="143" y="133"/>
                  </a:lnTo>
                  <a:lnTo>
                    <a:pt x="143" y="135"/>
                  </a:lnTo>
                  <a:lnTo>
                    <a:pt x="143" y="135"/>
                  </a:lnTo>
                  <a:lnTo>
                    <a:pt x="143" y="135"/>
                  </a:lnTo>
                  <a:lnTo>
                    <a:pt x="143" y="137"/>
                  </a:lnTo>
                  <a:lnTo>
                    <a:pt x="143" y="137"/>
                  </a:lnTo>
                  <a:lnTo>
                    <a:pt x="143" y="137"/>
                  </a:lnTo>
                  <a:lnTo>
                    <a:pt x="143" y="137"/>
                  </a:lnTo>
                  <a:lnTo>
                    <a:pt x="141" y="139"/>
                  </a:lnTo>
                  <a:lnTo>
                    <a:pt x="141" y="139"/>
                  </a:lnTo>
                  <a:lnTo>
                    <a:pt x="141" y="139"/>
                  </a:lnTo>
                  <a:lnTo>
                    <a:pt x="139" y="141"/>
                  </a:lnTo>
                  <a:lnTo>
                    <a:pt x="139" y="141"/>
                  </a:lnTo>
                  <a:lnTo>
                    <a:pt x="137" y="143"/>
                  </a:lnTo>
                  <a:lnTo>
                    <a:pt x="135" y="147"/>
                  </a:lnTo>
                  <a:lnTo>
                    <a:pt x="133" y="148"/>
                  </a:lnTo>
                  <a:lnTo>
                    <a:pt x="133" y="150"/>
                  </a:lnTo>
                  <a:lnTo>
                    <a:pt x="131" y="150"/>
                  </a:lnTo>
                  <a:lnTo>
                    <a:pt x="131" y="150"/>
                  </a:lnTo>
                  <a:lnTo>
                    <a:pt x="130" y="150"/>
                  </a:lnTo>
                  <a:lnTo>
                    <a:pt x="120" y="152"/>
                  </a:lnTo>
                  <a:lnTo>
                    <a:pt x="118" y="152"/>
                  </a:lnTo>
                  <a:lnTo>
                    <a:pt x="116" y="152"/>
                  </a:lnTo>
                  <a:lnTo>
                    <a:pt x="116" y="154"/>
                  </a:lnTo>
                  <a:lnTo>
                    <a:pt x="114" y="156"/>
                  </a:lnTo>
                  <a:lnTo>
                    <a:pt x="114" y="158"/>
                  </a:lnTo>
                  <a:lnTo>
                    <a:pt x="112" y="162"/>
                  </a:lnTo>
                  <a:lnTo>
                    <a:pt x="112" y="164"/>
                  </a:lnTo>
                  <a:lnTo>
                    <a:pt x="111" y="166"/>
                  </a:lnTo>
                  <a:lnTo>
                    <a:pt x="111" y="166"/>
                  </a:lnTo>
                  <a:lnTo>
                    <a:pt x="107" y="166"/>
                  </a:lnTo>
                  <a:lnTo>
                    <a:pt x="105" y="166"/>
                  </a:lnTo>
                  <a:lnTo>
                    <a:pt x="103" y="166"/>
                  </a:lnTo>
                  <a:lnTo>
                    <a:pt x="101" y="166"/>
                  </a:lnTo>
                  <a:lnTo>
                    <a:pt x="101" y="166"/>
                  </a:lnTo>
                  <a:lnTo>
                    <a:pt x="99" y="164"/>
                  </a:lnTo>
                  <a:lnTo>
                    <a:pt x="97" y="164"/>
                  </a:lnTo>
                  <a:lnTo>
                    <a:pt x="97" y="164"/>
                  </a:lnTo>
                  <a:lnTo>
                    <a:pt x="95" y="164"/>
                  </a:lnTo>
                  <a:lnTo>
                    <a:pt x="95" y="164"/>
                  </a:lnTo>
                  <a:lnTo>
                    <a:pt x="93" y="164"/>
                  </a:lnTo>
                  <a:lnTo>
                    <a:pt x="91" y="166"/>
                  </a:lnTo>
                  <a:lnTo>
                    <a:pt x="88" y="164"/>
                  </a:lnTo>
                  <a:lnTo>
                    <a:pt x="86" y="166"/>
                  </a:lnTo>
                  <a:lnTo>
                    <a:pt x="84" y="166"/>
                  </a:lnTo>
                  <a:lnTo>
                    <a:pt x="84" y="166"/>
                  </a:lnTo>
                  <a:lnTo>
                    <a:pt x="82" y="166"/>
                  </a:lnTo>
                  <a:lnTo>
                    <a:pt x="82" y="167"/>
                  </a:lnTo>
                  <a:lnTo>
                    <a:pt x="82" y="169"/>
                  </a:lnTo>
                  <a:lnTo>
                    <a:pt x="80" y="169"/>
                  </a:lnTo>
                  <a:lnTo>
                    <a:pt x="80" y="169"/>
                  </a:lnTo>
                  <a:lnTo>
                    <a:pt x="74" y="164"/>
                  </a:lnTo>
                  <a:lnTo>
                    <a:pt x="72" y="164"/>
                  </a:lnTo>
                  <a:lnTo>
                    <a:pt x="72" y="162"/>
                  </a:lnTo>
                  <a:lnTo>
                    <a:pt x="70" y="164"/>
                  </a:lnTo>
                  <a:lnTo>
                    <a:pt x="69" y="164"/>
                  </a:lnTo>
                  <a:lnTo>
                    <a:pt x="67" y="164"/>
                  </a:lnTo>
                  <a:lnTo>
                    <a:pt x="65" y="164"/>
                  </a:lnTo>
                  <a:lnTo>
                    <a:pt x="65" y="164"/>
                  </a:lnTo>
                  <a:lnTo>
                    <a:pt x="63" y="166"/>
                  </a:lnTo>
                  <a:lnTo>
                    <a:pt x="59" y="169"/>
                  </a:lnTo>
                  <a:lnTo>
                    <a:pt x="57" y="173"/>
                  </a:lnTo>
                  <a:lnTo>
                    <a:pt x="57" y="179"/>
                  </a:lnTo>
                  <a:lnTo>
                    <a:pt x="55" y="181"/>
                  </a:lnTo>
                  <a:lnTo>
                    <a:pt x="55" y="181"/>
                  </a:lnTo>
                  <a:lnTo>
                    <a:pt x="50" y="181"/>
                  </a:lnTo>
                  <a:lnTo>
                    <a:pt x="50" y="179"/>
                  </a:lnTo>
                  <a:lnTo>
                    <a:pt x="36" y="181"/>
                  </a:lnTo>
                  <a:lnTo>
                    <a:pt x="34" y="181"/>
                  </a:lnTo>
                  <a:lnTo>
                    <a:pt x="32" y="181"/>
                  </a:lnTo>
                  <a:lnTo>
                    <a:pt x="30" y="181"/>
                  </a:lnTo>
                  <a:lnTo>
                    <a:pt x="30" y="179"/>
                  </a:lnTo>
                  <a:lnTo>
                    <a:pt x="30" y="179"/>
                  </a:lnTo>
                  <a:lnTo>
                    <a:pt x="30" y="177"/>
                  </a:lnTo>
                  <a:lnTo>
                    <a:pt x="30" y="175"/>
                  </a:lnTo>
                  <a:lnTo>
                    <a:pt x="30" y="175"/>
                  </a:lnTo>
                  <a:lnTo>
                    <a:pt x="29" y="173"/>
                  </a:lnTo>
                  <a:lnTo>
                    <a:pt x="27" y="173"/>
                  </a:lnTo>
                  <a:lnTo>
                    <a:pt x="25" y="173"/>
                  </a:lnTo>
                  <a:lnTo>
                    <a:pt x="23" y="173"/>
                  </a:lnTo>
                  <a:lnTo>
                    <a:pt x="21" y="173"/>
                  </a:lnTo>
                  <a:lnTo>
                    <a:pt x="21" y="175"/>
                  </a:lnTo>
                  <a:lnTo>
                    <a:pt x="19" y="175"/>
                  </a:lnTo>
                  <a:lnTo>
                    <a:pt x="19" y="175"/>
                  </a:lnTo>
                  <a:lnTo>
                    <a:pt x="19" y="177"/>
                  </a:lnTo>
                  <a:lnTo>
                    <a:pt x="17" y="177"/>
                  </a:lnTo>
                  <a:lnTo>
                    <a:pt x="19" y="179"/>
                  </a:lnTo>
                  <a:lnTo>
                    <a:pt x="19" y="179"/>
                  </a:lnTo>
                  <a:lnTo>
                    <a:pt x="19" y="179"/>
                  </a:lnTo>
                  <a:lnTo>
                    <a:pt x="17" y="179"/>
                  </a:lnTo>
                  <a:lnTo>
                    <a:pt x="17" y="179"/>
                  </a:lnTo>
                  <a:lnTo>
                    <a:pt x="17" y="179"/>
                  </a:lnTo>
                  <a:lnTo>
                    <a:pt x="15" y="181"/>
                  </a:lnTo>
                  <a:lnTo>
                    <a:pt x="13" y="181"/>
                  </a:lnTo>
                  <a:lnTo>
                    <a:pt x="13" y="181"/>
                  </a:lnTo>
                  <a:lnTo>
                    <a:pt x="13" y="183"/>
                  </a:lnTo>
                  <a:lnTo>
                    <a:pt x="11" y="185"/>
                  </a:lnTo>
                  <a:lnTo>
                    <a:pt x="11" y="185"/>
                  </a:lnTo>
                  <a:lnTo>
                    <a:pt x="10" y="185"/>
                  </a:lnTo>
                  <a:lnTo>
                    <a:pt x="8" y="185"/>
                  </a:lnTo>
                  <a:lnTo>
                    <a:pt x="6" y="185"/>
                  </a:lnTo>
                  <a:lnTo>
                    <a:pt x="4" y="185"/>
                  </a:lnTo>
                  <a:lnTo>
                    <a:pt x="2" y="183"/>
                  </a:lnTo>
                  <a:lnTo>
                    <a:pt x="2" y="185"/>
                  </a:lnTo>
                  <a:lnTo>
                    <a:pt x="2" y="185"/>
                  </a:lnTo>
                  <a:lnTo>
                    <a:pt x="2" y="186"/>
                  </a:lnTo>
                  <a:lnTo>
                    <a:pt x="2" y="188"/>
                  </a:lnTo>
                  <a:lnTo>
                    <a:pt x="2" y="188"/>
                  </a:lnTo>
                  <a:lnTo>
                    <a:pt x="0" y="190"/>
                  </a:lnTo>
                  <a:lnTo>
                    <a:pt x="0" y="190"/>
                  </a:lnTo>
                  <a:lnTo>
                    <a:pt x="2" y="190"/>
                  </a:lnTo>
                  <a:lnTo>
                    <a:pt x="2" y="192"/>
                  </a:lnTo>
                  <a:lnTo>
                    <a:pt x="2" y="192"/>
                  </a:lnTo>
                  <a:lnTo>
                    <a:pt x="2" y="192"/>
                  </a:lnTo>
                  <a:lnTo>
                    <a:pt x="2" y="192"/>
                  </a:lnTo>
                  <a:lnTo>
                    <a:pt x="2" y="194"/>
                  </a:lnTo>
                  <a:lnTo>
                    <a:pt x="2" y="194"/>
                  </a:lnTo>
                  <a:lnTo>
                    <a:pt x="2" y="194"/>
                  </a:lnTo>
                  <a:lnTo>
                    <a:pt x="4" y="196"/>
                  </a:lnTo>
                  <a:lnTo>
                    <a:pt x="8" y="196"/>
                  </a:lnTo>
                  <a:lnTo>
                    <a:pt x="17" y="200"/>
                  </a:lnTo>
                  <a:lnTo>
                    <a:pt x="19" y="200"/>
                  </a:lnTo>
                  <a:lnTo>
                    <a:pt x="21" y="202"/>
                  </a:lnTo>
                  <a:lnTo>
                    <a:pt x="21" y="202"/>
                  </a:lnTo>
                  <a:lnTo>
                    <a:pt x="23" y="202"/>
                  </a:lnTo>
                  <a:lnTo>
                    <a:pt x="23" y="204"/>
                  </a:lnTo>
                  <a:lnTo>
                    <a:pt x="25" y="204"/>
                  </a:lnTo>
                  <a:lnTo>
                    <a:pt x="25" y="204"/>
                  </a:lnTo>
                  <a:lnTo>
                    <a:pt x="27" y="207"/>
                  </a:lnTo>
                  <a:lnTo>
                    <a:pt x="30" y="209"/>
                  </a:lnTo>
                  <a:lnTo>
                    <a:pt x="29" y="211"/>
                  </a:lnTo>
                  <a:lnTo>
                    <a:pt x="23" y="215"/>
                  </a:lnTo>
                  <a:lnTo>
                    <a:pt x="23" y="215"/>
                  </a:lnTo>
                  <a:lnTo>
                    <a:pt x="21" y="219"/>
                  </a:lnTo>
                  <a:lnTo>
                    <a:pt x="21" y="219"/>
                  </a:lnTo>
                  <a:lnTo>
                    <a:pt x="21" y="221"/>
                  </a:lnTo>
                  <a:lnTo>
                    <a:pt x="21" y="221"/>
                  </a:lnTo>
                  <a:lnTo>
                    <a:pt x="21" y="221"/>
                  </a:lnTo>
                  <a:lnTo>
                    <a:pt x="23" y="221"/>
                  </a:lnTo>
                  <a:lnTo>
                    <a:pt x="25" y="221"/>
                  </a:lnTo>
                  <a:lnTo>
                    <a:pt x="25" y="221"/>
                  </a:lnTo>
                  <a:lnTo>
                    <a:pt x="27" y="221"/>
                  </a:lnTo>
                  <a:lnTo>
                    <a:pt x="27" y="221"/>
                  </a:lnTo>
                  <a:lnTo>
                    <a:pt x="29" y="221"/>
                  </a:lnTo>
                  <a:lnTo>
                    <a:pt x="29" y="221"/>
                  </a:lnTo>
                  <a:lnTo>
                    <a:pt x="30" y="221"/>
                  </a:lnTo>
                  <a:lnTo>
                    <a:pt x="32" y="221"/>
                  </a:lnTo>
                  <a:lnTo>
                    <a:pt x="38" y="221"/>
                  </a:lnTo>
                  <a:lnTo>
                    <a:pt x="40" y="221"/>
                  </a:lnTo>
                  <a:lnTo>
                    <a:pt x="40" y="221"/>
                  </a:lnTo>
                  <a:lnTo>
                    <a:pt x="44" y="219"/>
                  </a:lnTo>
                  <a:lnTo>
                    <a:pt x="44" y="217"/>
                  </a:lnTo>
                  <a:lnTo>
                    <a:pt x="44" y="217"/>
                  </a:lnTo>
                  <a:lnTo>
                    <a:pt x="44" y="219"/>
                  </a:lnTo>
                  <a:lnTo>
                    <a:pt x="44" y="221"/>
                  </a:lnTo>
                  <a:lnTo>
                    <a:pt x="44" y="221"/>
                  </a:lnTo>
                  <a:lnTo>
                    <a:pt x="44" y="223"/>
                  </a:lnTo>
                  <a:lnTo>
                    <a:pt x="44" y="223"/>
                  </a:lnTo>
                  <a:lnTo>
                    <a:pt x="44" y="225"/>
                  </a:lnTo>
                  <a:lnTo>
                    <a:pt x="44" y="225"/>
                  </a:lnTo>
                  <a:lnTo>
                    <a:pt x="44" y="226"/>
                  </a:lnTo>
                  <a:lnTo>
                    <a:pt x="46" y="226"/>
                  </a:lnTo>
                  <a:lnTo>
                    <a:pt x="46" y="226"/>
                  </a:lnTo>
                  <a:lnTo>
                    <a:pt x="46" y="228"/>
                  </a:lnTo>
                  <a:lnTo>
                    <a:pt x="48" y="232"/>
                  </a:lnTo>
                  <a:lnTo>
                    <a:pt x="48" y="234"/>
                  </a:lnTo>
                  <a:lnTo>
                    <a:pt x="50" y="234"/>
                  </a:lnTo>
                  <a:lnTo>
                    <a:pt x="50" y="234"/>
                  </a:lnTo>
                  <a:lnTo>
                    <a:pt x="50" y="236"/>
                  </a:lnTo>
                  <a:lnTo>
                    <a:pt x="50" y="236"/>
                  </a:lnTo>
                  <a:lnTo>
                    <a:pt x="50" y="236"/>
                  </a:lnTo>
                  <a:lnTo>
                    <a:pt x="50" y="238"/>
                  </a:lnTo>
                  <a:lnTo>
                    <a:pt x="48" y="238"/>
                  </a:lnTo>
                  <a:lnTo>
                    <a:pt x="48" y="238"/>
                  </a:lnTo>
                  <a:lnTo>
                    <a:pt x="46" y="236"/>
                  </a:lnTo>
                  <a:lnTo>
                    <a:pt x="46" y="236"/>
                  </a:lnTo>
                  <a:lnTo>
                    <a:pt x="44" y="236"/>
                  </a:lnTo>
                  <a:lnTo>
                    <a:pt x="44" y="236"/>
                  </a:lnTo>
                  <a:lnTo>
                    <a:pt x="44" y="238"/>
                  </a:lnTo>
                  <a:lnTo>
                    <a:pt x="42" y="238"/>
                  </a:lnTo>
                  <a:lnTo>
                    <a:pt x="42" y="238"/>
                  </a:lnTo>
                  <a:lnTo>
                    <a:pt x="42" y="240"/>
                  </a:lnTo>
                  <a:lnTo>
                    <a:pt x="42" y="242"/>
                  </a:lnTo>
                  <a:lnTo>
                    <a:pt x="42" y="242"/>
                  </a:lnTo>
                  <a:lnTo>
                    <a:pt x="42" y="244"/>
                  </a:lnTo>
                  <a:lnTo>
                    <a:pt x="44" y="245"/>
                  </a:lnTo>
                  <a:lnTo>
                    <a:pt x="44" y="247"/>
                  </a:lnTo>
                  <a:lnTo>
                    <a:pt x="46" y="247"/>
                  </a:lnTo>
                  <a:lnTo>
                    <a:pt x="51" y="249"/>
                  </a:lnTo>
                  <a:lnTo>
                    <a:pt x="55" y="251"/>
                  </a:lnTo>
                  <a:lnTo>
                    <a:pt x="55" y="253"/>
                  </a:lnTo>
                  <a:lnTo>
                    <a:pt x="57" y="253"/>
                  </a:lnTo>
                  <a:lnTo>
                    <a:pt x="57" y="255"/>
                  </a:lnTo>
                  <a:lnTo>
                    <a:pt x="57" y="255"/>
                  </a:lnTo>
                  <a:lnTo>
                    <a:pt x="57" y="257"/>
                  </a:lnTo>
                  <a:lnTo>
                    <a:pt x="59" y="257"/>
                  </a:lnTo>
                  <a:lnTo>
                    <a:pt x="59" y="259"/>
                  </a:lnTo>
                  <a:lnTo>
                    <a:pt x="59" y="259"/>
                  </a:lnTo>
                  <a:lnTo>
                    <a:pt x="61" y="259"/>
                  </a:lnTo>
                  <a:lnTo>
                    <a:pt x="61" y="259"/>
                  </a:lnTo>
                  <a:lnTo>
                    <a:pt x="61" y="259"/>
                  </a:lnTo>
                  <a:lnTo>
                    <a:pt x="61" y="261"/>
                  </a:lnTo>
                  <a:lnTo>
                    <a:pt x="61" y="263"/>
                  </a:lnTo>
                  <a:lnTo>
                    <a:pt x="61" y="263"/>
                  </a:lnTo>
                  <a:lnTo>
                    <a:pt x="61" y="264"/>
                  </a:lnTo>
                  <a:lnTo>
                    <a:pt x="61" y="266"/>
                  </a:lnTo>
                  <a:lnTo>
                    <a:pt x="61" y="268"/>
                  </a:lnTo>
                  <a:lnTo>
                    <a:pt x="61" y="270"/>
                  </a:lnTo>
                  <a:lnTo>
                    <a:pt x="59" y="272"/>
                  </a:lnTo>
                  <a:lnTo>
                    <a:pt x="59" y="272"/>
                  </a:lnTo>
                  <a:lnTo>
                    <a:pt x="57" y="272"/>
                  </a:lnTo>
                  <a:lnTo>
                    <a:pt x="55" y="272"/>
                  </a:lnTo>
                  <a:lnTo>
                    <a:pt x="55" y="274"/>
                  </a:lnTo>
                  <a:lnTo>
                    <a:pt x="55" y="274"/>
                  </a:lnTo>
                  <a:lnTo>
                    <a:pt x="55" y="282"/>
                  </a:lnTo>
                  <a:lnTo>
                    <a:pt x="55" y="287"/>
                  </a:lnTo>
                  <a:lnTo>
                    <a:pt x="55" y="287"/>
                  </a:lnTo>
                  <a:lnTo>
                    <a:pt x="55" y="287"/>
                  </a:lnTo>
                  <a:lnTo>
                    <a:pt x="55" y="289"/>
                  </a:lnTo>
                  <a:lnTo>
                    <a:pt x="53" y="293"/>
                  </a:lnTo>
                  <a:lnTo>
                    <a:pt x="55" y="295"/>
                  </a:lnTo>
                  <a:lnTo>
                    <a:pt x="55" y="295"/>
                  </a:lnTo>
                  <a:lnTo>
                    <a:pt x="55" y="297"/>
                  </a:lnTo>
                  <a:lnTo>
                    <a:pt x="57" y="299"/>
                  </a:lnTo>
                  <a:lnTo>
                    <a:pt x="57" y="299"/>
                  </a:lnTo>
                  <a:lnTo>
                    <a:pt x="57" y="301"/>
                  </a:lnTo>
                  <a:lnTo>
                    <a:pt x="57" y="302"/>
                  </a:lnTo>
                  <a:lnTo>
                    <a:pt x="57" y="304"/>
                  </a:lnTo>
                  <a:lnTo>
                    <a:pt x="57" y="304"/>
                  </a:lnTo>
                  <a:lnTo>
                    <a:pt x="57" y="306"/>
                  </a:lnTo>
                  <a:lnTo>
                    <a:pt x="59" y="306"/>
                  </a:lnTo>
                  <a:lnTo>
                    <a:pt x="61" y="308"/>
                  </a:lnTo>
                  <a:lnTo>
                    <a:pt x="63" y="308"/>
                  </a:lnTo>
                  <a:lnTo>
                    <a:pt x="65" y="310"/>
                  </a:lnTo>
                  <a:lnTo>
                    <a:pt x="65" y="312"/>
                  </a:lnTo>
                  <a:lnTo>
                    <a:pt x="65" y="312"/>
                  </a:lnTo>
                  <a:lnTo>
                    <a:pt x="67" y="312"/>
                  </a:lnTo>
                  <a:lnTo>
                    <a:pt x="67" y="312"/>
                  </a:lnTo>
                  <a:lnTo>
                    <a:pt x="69" y="312"/>
                  </a:lnTo>
                  <a:lnTo>
                    <a:pt x="69" y="312"/>
                  </a:lnTo>
                  <a:lnTo>
                    <a:pt x="70" y="312"/>
                  </a:lnTo>
                  <a:lnTo>
                    <a:pt x="74" y="310"/>
                  </a:lnTo>
                  <a:lnTo>
                    <a:pt x="78" y="306"/>
                  </a:lnTo>
                  <a:lnTo>
                    <a:pt x="78" y="306"/>
                  </a:lnTo>
                  <a:lnTo>
                    <a:pt x="80" y="304"/>
                  </a:lnTo>
                  <a:lnTo>
                    <a:pt x="84" y="302"/>
                  </a:lnTo>
                  <a:lnTo>
                    <a:pt x="88" y="302"/>
                  </a:lnTo>
                  <a:lnTo>
                    <a:pt x="90" y="301"/>
                  </a:lnTo>
                  <a:lnTo>
                    <a:pt x="91" y="302"/>
                  </a:lnTo>
                  <a:lnTo>
                    <a:pt x="91" y="302"/>
                  </a:lnTo>
                  <a:lnTo>
                    <a:pt x="93" y="306"/>
                  </a:lnTo>
                  <a:lnTo>
                    <a:pt x="93" y="306"/>
                  </a:lnTo>
                  <a:lnTo>
                    <a:pt x="95" y="308"/>
                  </a:lnTo>
                  <a:lnTo>
                    <a:pt x="95" y="310"/>
                  </a:lnTo>
                  <a:lnTo>
                    <a:pt x="95" y="312"/>
                  </a:lnTo>
                  <a:lnTo>
                    <a:pt x="95" y="314"/>
                  </a:lnTo>
                  <a:lnTo>
                    <a:pt x="97" y="314"/>
                  </a:lnTo>
                  <a:lnTo>
                    <a:pt x="97" y="314"/>
                  </a:lnTo>
                  <a:lnTo>
                    <a:pt x="97" y="314"/>
                  </a:lnTo>
                  <a:lnTo>
                    <a:pt x="97" y="316"/>
                  </a:lnTo>
                  <a:lnTo>
                    <a:pt x="97" y="318"/>
                  </a:lnTo>
                  <a:lnTo>
                    <a:pt x="93" y="327"/>
                  </a:lnTo>
                  <a:lnTo>
                    <a:pt x="93" y="327"/>
                  </a:lnTo>
                  <a:lnTo>
                    <a:pt x="93" y="329"/>
                  </a:lnTo>
                  <a:lnTo>
                    <a:pt x="93" y="331"/>
                  </a:lnTo>
                  <a:lnTo>
                    <a:pt x="95" y="337"/>
                  </a:lnTo>
                  <a:lnTo>
                    <a:pt x="95" y="339"/>
                  </a:lnTo>
                  <a:lnTo>
                    <a:pt x="95" y="341"/>
                  </a:lnTo>
                  <a:lnTo>
                    <a:pt x="93" y="344"/>
                  </a:lnTo>
                  <a:lnTo>
                    <a:pt x="93" y="346"/>
                  </a:lnTo>
                  <a:lnTo>
                    <a:pt x="93" y="346"/>
                  </a:lnTo>
                  <a:lnTo>
                    <a:pt x="93" y="350"/>
                  </a:lnTo>
                  <a:lnTo>
                    <a:pt x="93" y="352"/>
                  </a:lnTo>
                  <a:lnTo>
                    <a:pt x="93" y="354"/>
                  </a:lnTo>
                  <a:lnTo>
                    <a:pt x="93" y="356"/>
                  </a:lnTo>
                  <a:lnTo>
                    <a:pt x="90" y="371"/>
                  </a:lnTo>
                  <a:lnTo>
                    <a:pt x="90" y="371"/>
                  </a:lnTo>
                  <a:lnTo>
                    <a:pt x="90" y="371"/>
                  </a:lnTo>
                  <a:lnTo>
                    <a:pt x="90" y="373"/>
                  </a:lnTo>
                  <a:lnTo>
                    <a:pt x="90" y="373"/>
                  </a:lnTo>
                  <a:lnTo>
                    <a:pt x="90" y="373"/>
                  </a:lnTo>
                  <a:lnTo>
                    <a:pt x="91" y="373"/>
                  </a:lnTo>
                  <a:lnTo>
                    <a:pt x="91" y="373"/>
                  </a:lnTo>
                  <a:lnTo>
                    <a:pt x="91" y="373"/>
                  </a:lnTo>
                  <a:lnTo>
                    <a:pt x="93" y="373"/>
                  </a:lnTo>
                  <a:lnTo>
                    <a:pt x="93" y="375"/>
                  </a:lnTo>
                  <a:lnTo>
                    <a:pt x="93" y="375"/>
                  </a:lnTo>
                  <a:lnTo>
                    <a:pt x="95" y="375"/>
                  </a:lnTo>
                  <a:lnTo>
                    <a:pt x="95" y="375"/>
                  </a:lnTo>
                  <a:lnTo>
                    <a:pt x="95" y="375"/>
                  </a:lnTo>
                  <a:lnTo>
                    <a:pt x="101" y="373"/>
                  </a:lnTo>
                  <a:lnTo>
                    <a:pt x="101" y="373"/>
                  </a:lnTo>
                  <a:lnTo>
                    <a:pt x="103" y="373"/>
                  </a:lnTo>
                  <a:lnTo>
                    <a:pt x="103" y="373"/>
                  </a:lnTo>
                  <a:lnTo>
                    <a:pt x="105" y="373"/>
                  </a:lnTo>
                  <a:lnTo>
                    <a:pt x="105" y="375"/>
                  </a:lnTo>
                  <a:lnTo>
                    <a:pt x="105" y="377"/>
                  </a:lnTo>
                  <a:lnTo>
                    <a:pt x="107" y="377"/>
                  </a:lnTo>
                  <a:lnTo>
                    <a:pt x="109" y="380"/>
                  </a:lnTo>
                  <a:lnTo>
                    <a:pt x="109" y="382"/>
                  </a:lnTo>
                  <a:lnTo>
                    <a:pt x="109" y="384"/>
                  </a:lnTo>
                  <a:lnTo>
                    <a:pt x="107" y="386"/>
                  </a:lnTo>
                  <a:lnTo>
                    <a:pt x="107" y="388"/>
                  </a:lnTo>
                  <a:lnTo>
                    <a:pt x="105" y="388"/>
                  </a:lnTo>
                  <a:lnTo>
                    <a:pt x="103" y="396"/>
                  </a:lnTo>
                  <a:lnTo>
                    <a:pt x="101" y="399"/>
                  </a:lnTo>
                  <a:lnTo>
                    <a:pt x="95" y="417"/>
                  </a:lnTo>
                  <a:lnTo>
                    <a:pt x="93" y="420"/>
                  </a:lnTo>
                  <a:lnTo>
                    <a:pt x="91" y="424"/>
                  </a:lnTo>
                  <a:lnTo>
                    <a:pt x="88" y="426"/>
                  </a:lnTo>
                  <a:lnTo>
                    <a:pt x="88" y="426"/>
                  </a:lnTo>
                  <a:lnTo>
                    <a:pt x="88" y="428"/>
                  </a:lnTo>
                  <a:lnTo>
                    <a:pt x="88" y="428"/>
                  </a:lnTo>
                  <a:lnTo>
                    <a:pt x="90" y="434"/>
                  </a:lnTo>
                  <a:lnTo>
                    <a:pt x="91" y="438"/>
                  </a:lnTo>
                  <a:lnTo>
                    <a:pt x="91" y="438"/>
                  </a:lnTo>
                  <a:lnTo>
                    <a:pt x="93" y="439"/>
                  </a:lnTo>
                  <a:lnTo>
                    <a:pt x="95" y="439"/>
                  </a:lnTo>
                  <a:lnTo>
                    <a:pt x="95" y="441"/>
                  </a:lnTo>
                  <a:lnTo>
                    <a:pt x="95" y="441"/>
                  </a:lnTo>
                  <a:lnTo>
                    <a:pt x="95" y="441"/>
                  </a:lnTo>
                  <a:lnTo>
                    <a:pt x="95" y="441"/>
                  </a:lnTo>
                  <a:lnTo>
                    <a:pt x="93" y="447"/>
                  </a:lnTo>
                  <a:lnTo>
                    <a:pt x="90" y="453"/>
                  </a:lnTo>
                  <a:lnTo>
                    <a:pt x="88" y="455"/>
                  </a:lnTo>
                  <a:lnTo>
                    <a:pt x="88" y="457"/>
                  </a:lnTo>
                  <a:lnTo>
                    <a:pt x="88" y="457"/>
                  </a:lnTo>
                  <a:lnTo>
                    <a:pt x="90" y="458"/>
                  </a:lnTo>
                  <a:lnTo>
                    <a:pt x="90" y="458"/>
                  </a:lnTo>
                  <a:lnTo>
                    <a:pt x="90" y="460"/>
                  </a:lnTo>
                  <a:lnTo>
                    <a:pt x="90" y="460"/>
                  </a:lnTo>
                  <a:lnTo>
                    <a:pt x="90" y="462"/>
                  </a:lnTo>
                  <a:lnTo>
                    <a:pt x="90" y="462"/>
                  </a:lnTo>
                  <a:lnTo>
                    <a:pt x="91" y="464"/>
                  </a:lnTo>
                  <a:lnTo>
                    <a:pt x="95" y="466"/>
                  </a:lnTo>
                  <a:lnTo>
                    <a:pt x="97" y="468"/>
                  </a:lnTo>
                  <a:lnTo>
                    <a:pt x="97" y="470"/>
                  </a:lnTo>
                  <a:lnTo>
                    <a:pt x="97" y="470"/>
                  </a:lnTo>
                  <a:lnTo>
                    <a:pt x="97" y="472"/>
                  </a:lnTo>
                  <a:lnTo>
                    <a:pt x="97" y="474"/>
                  </a:lnTo>
                  <a:lnTo>
                    <a:pt x="95" y="474"/>
                  </a:lnTo>
                  <a:lnTo>
                    <a:pt x="95" y="476"/>
                  </a:lnTo>
                  <a:lnTo>
                    <a:pt x="93" y="477"/>
                  </a:lnTo>
                  <a:lnTo>
                    <a:pt x="93" y="477"/>
                  </a:lnTo>
                  <a:lnTo>
                    <a:pt x="91" y="477"/>
                  </a:lnTo>
                  <a:lnTo>
                    <a:pt x="91" y="476"/>
                  </a:lnTo>
                  <a:lnTo>
                    <a:pt x="91" y="476"/>
                  </a:lnTo>
                  <a:lnTo>
                    <a:pt x="91" y="476"/>
                  </a:lnTo>
                  <a:lnTo>
                    <a:pt x="91" y="476"/>
                  </a:lnTo>
                  <a:lnTo>
                    <a:pt x="91" y="476"/>
                  </a:lnTo>
                  <a:lnTo>
                    <a:pt x="91" y="477"/>
                  </a:lnTo>
                  <a:lnTo>
                    <a:pt x="91" y="477"/>
                  </a:lnTo>
                  <a:lnTo>
                    <a:pt x="91" y="481"/>
                  </a:lnTo>
                  <a:lnTo>
                    <a:pt x="91" y="481"/>
                  </a:lnTo>
                  <a:lnTo>
                    <a:pt x="91" y="483"/>
                  </a:lnTo>
                  <a:lnTo>
                    <a:pt x="91" y="483"/>
                  </a:lnTo>
                  <a:lnTo>
                    <a:pt x="90" y="487"/>
                  </a:lnTo>
                  <a:lnTo>
                    <a:pt x="88" y="489"/>
                  </a:lnTo>
                  <a:lnTo>
                    <a:pt x="88" y="489"/>
                  </a:lnTo>
                  <a:lnTo>
                    <a:pt x="88" y="489"/>
                  </a:lnTo>
                  <a:lnTo>
                    <a:pt x="88" y="491"/>
                  </a:lnTo>
                  <a:lnTo>
                    <a:pt x="88" y="491"/>
                  </a:lnTo>
                  <a:lnTo>
                    <a:pt x="88" y="493"/>
                  </a:lnTo>
                  <a:lnTo>
                    <a:pt x="88" y="493"/>
                  </a:lnTo>
                  <a:lnTo>
                    <a:pt x="86" y="493"/>
                  </a:lnTo>
                  <a:lnTo>
                    <a:pt x="86" y="493"/>
                  </a:lnTo>
                  <a:lnTo>
                    <a:pt x="84" y="493"/>
                  </a:lnTo>
                  <a:lnTo>
                    <a:pt x="84" y="493"/>
                  </a:lnTo>
                  <a:lnTo>
                    <a:pt x="82" y="493"/>
                  </a:lnTo>
                  <a:lnTo>
                    <a:pt x="82" y="495"/>
                  </a:lnTo>
                  <a:lnTo>
                    <a:pt x="82" y="495"/>
                  </a:lnTo>
                  <a:lnTo>
                    <a:pt x="84" y="495"/>
                  </a:lnTo>
                  <a:lnTo>
                    <a:pt x="93" y="504"/>
                  </a:lnTo>
                  <a:lnTo>
                    <a:pt x="93" y="504"/>
                  </a:lnTo>
                  <a:lnTo>
                    <a:pt x="95" y="504"/>
                  </a:lnTo>
                  <a:lnTo>
                    <a:pt x="99" y="506"/>
                  </a:lnTo>
                  <a:lnTo>
                    <a:pt x="99" y="506"/>
                  </a:lnTo>
                  <a:lnTo>
                    <a:pt x="101" y="508"/>
                  </a:lnTo>
                  <a:lnTo>
                    <a:pt x="101" y="508"/>
                  </a:lnTo>
                  <a:lnTo>
                    <a:pt x="114" y="512"/>
                  </a:lnTo>
                  <a:lnTo>
                    <a:pt x="118" y="514"/>
                  </a:lnTo>
                  <a:lnTo>
                    <a:pt x="124" y="514"/>
                  </a:lnTo>
                  <a:lnTo>
                    <a:pt x="124" y="510"/>
                  </a:lnTo>
                  <a:lnTo>
                    <a:pt x="128" y="508"/>
                  </a:lnTo>
                  <a:lnTo>
                    <a:pt x="131" y="506"/>
                  </a:lnTo>
                  <a:lnTo>
                    <a:pt x="141" y="504"/>
                  </a:lnTo>
                  <a:lnTo>
                    <a:pt x="143" y="504"/>
                  </a:lnTo>
                  <a:lnTo>
                    <a:pt x="145" y="500"/>
                  </a:lnTo>
                  <a:lnTo>
                    <a:pt x="147" y="498"/>
                  </a:lnTo>
                  <a:lnTo>
                    <a:pt x="164" y="489"/>
                  </a:lnTo>
                  <a:lnTo>
                    <a:pt x="168" y="487"/>
                  </a:lnTo>
                  <a:lnTo>
                    <a:pt x="170" y="487"/>
                  </a:lnTo>
                  <a:lnTo>
                    <a:pt x="170" y="485"/>
                  </a:lnTo>
                  <a:lnTo>
                    <a:pt x="171" y="479"/>
                  </a:lnTo>
                  <a:lnTo>
                    <a:pt x="171" y="479"/>
                  </a:lnTo>
                  <a:lnTo>
                    <a:pt x="175" y="477"/>
                  </a:lnTo>
                  <a:lnTo>
                    <a:pt x="175" y="476"/>
                  </a:lnTo>
                  <a:lnTo>
                    <a:pt x="175" y="476"/>
                  </a:lnTo>
                  <a:lnTo>
                    <a:pt x="177" y="466"/>
                  </a:lnTo>
                  <a:lnTo>
                    <a:pt x="177" y="462"/>
                  </a:lnTo>
                  <a:lnTo>
                    <a:pt x="175" y="458"/>
                  </a:lnTo>
                  <a:lnTo>
                    <a:pt x="177" y="458"/>
                  </a:lnTo>
                  <a:lnTo>
                    <a:pt x="177" y="458"/>
                  </a:lnTo>
                  <a:lnTo>
                    <a:pt x="177" y="457"/>
                  </a:lnTo>
                  <a:lnTo>
                    <a:pt x="179" y="455"/>
                  </a:lnTo>
                  <a:lnTo>
                    <a:pt x="179" y="453"/>
                  </a:lnTo>
                  <a:lnTo>
                    <a:pt x="179" y="453"/>
                  </a:lnTo>
                  <a:lnTo>
                    <a:pt x="181" y="451"/>
                  </a:lnTo>
                  <a:lnTo>
                    <a:pt x="183" y="451"/>
                  </a:lnTo>
                  <a:lnTo>
                    <a:pt x="185" y="449"/>
                  </a:lnTo>
                  <a:lnTo>
                    <a:pt x="183" y="447"/>
                  </a:lnTo>
                  <a:lnTo>
                    <a:pt x="183" y="449"/>
                  </a:lnTo>
                  <a:lnTo>
                    <a:pt x="181" y="449"/>
                  </a:lnTo>
                  <a:lnTo>
                    <a:pt x="181" y="449"/>
                  </a:lnTo>
                  <a:lnTo>
                    <a:pt x="179" y="451"/>
                  </a:lnTo>
                  <a:lnTo>
                    <a:pt x="179" y="449"/>
                  </a:lnTo>
                  <a:lnTo>
                    <a:pt x="181" y="447"/>
                  </a:lnTo>
                  <a:lnTo>
                    <a:pt x="181" y="439"/>
                  </a:lnTo>
                  <a:lnTo>
                    <a:pt x="181" y="439"/>
                  </a:lnTo>
                  <a:lnTo>
                    <a:pt x="185" y="434"/>
                  </a:lnTo>
                  <a:lnTo>
                    <a:pt x="187" y="430"/>
                  </a:lnTo>
                  <a:lnTo>
                    <a:pt x="198" y="420"/>
                  </a:lnTo>
                  <a:lnTo>
                    <a:pt x="202" y="418"/>
                  </a:lnTo>
                  <a:lnTo>
                    <a:pt x="206" y="417"/>
                  </a:lnTo>
                  <a:lnTo>
                    <a:pt x="210" y="415"/>
                  </a:lnTo>
                  <a:lnTo>
                    <a:pt x="221" y="415"/>
                  </a:lnTo>
                  <a:lnTo>
                    <a:pt x="223" y="415"/>
                  </a:lnTo>
                  <a:lnTo>
                    <a:pt x="225" y="413"/>
                  </a:lnTo>
                  <a:lnTo>
                    <a:pt x="225" y="413"/>
                  </a:lnTo>
                  <a:lnTo>
                    <a:pt x="225" y="411"/>
                  </a:lnTo>
                  <a:lnTo>
                    <a:pt x="227" y="411"/>
                  </a:lnTo>
                  <a:lnTo>
                    <a:pt x="231" y="409"/>
                  </a:lnTo>
                  <a:lnTo>
                    <a:pt x="232" y="409"/>
                  </a:lnTo>
                  <a:lnTo>
                    <a:pt x="234" y="409"/>
                  </a:lnTo>
                  <a:lnTo>
                    <a:pt x="234" y="407"/>
                  </a:lnTo>
                  <a:lnTo>
                    <a:pt x="236" y="407"/>
                  </a:lnTo>
                  <a:lnTo>
                    <a:pt x="240" y="405"/>
                  </a:lnTo>
                  <a:lnTo>
                    <a:pt x="242" y="405"/>
                  </a:lnTo>
                  <a:lnTo>
                    <a:pt x="244" y="403"/>
                  </a:lnTo>
                  <a:lnTo>
                    <a:pt x="248" y="403"/>
                  </a:lnTo>
                  <a:lnTo>
                    <a:pt x="248" y="403"/>
                  </a:lnTo>
                  <a:lnTo>
                    <a:pt x="248" y="403"/>
                  </a:lnTo>
                  <a:lnTo>
                    <a:pt x="250" y="403"/>
                  </a:lnTo>
                  <a:lnTo>
                    <a:pt x="250" y="403"/>
                  </a:lnTo>
                  <a:lnTo>
                    <a:pt x="252" y="401"/>
                  </a:lnTo>
                  <a:lnTo>
                    <a:pt x="253" y="401"/>
                  </a:lnTo>
                  <a:lnTo>
                    <a:pt x="255" y="401"/>
                  </a:lnTo>
                  <a:lnTo>
                    <a:pt x="259" y="401"/>
                  </a:lnTo>
                  <a:lnTo>
                    <a:pt x="263" y="403"/>
                  </a:lnTo>
                  <a:lnTo>
                    <a:pt x="265" y="403"/>
                  </a:lnTo>
                  <a:lnTo>
                    <a:pt x="265" y="403"/>
                  </a:lnTo>
                  <a:lnTo>
                    <a:pt x="269" y="403"/>
                  </a:lnTo>
                  <a:lnTo>
                    <a:pt x="272" y="401"/>
                  </a:lnTo>
                  <a:lnTo>
                    <a:pt x="274" y="401"/>
                  </a:lnTo>
                  <a:lnTo>
                    <a:pt x="274" y="403"/>
                  </a:lnTo>
                  <a:lnTo>
                    <a:pt x="276" y="401"/>
                  </a:lnTo>
                  <a:lnTo>
                    <a:pt x="278" y="403"/>
                  </a:lnTo>
                  <a:lnTo>
                    <a:pt x="284" y="403"/>
                  </a:lnTo>
                  <a:lnTo>
                    <a:pt x="290" y="407"/>
                  </a:lnTo>
                  <a:lnTo>
                    <a:pt x="295" y="413"/>
                  </a:lnTo>
                  <a:lnTo>
                    <a:pt x="297" y="413"/>
                  </a:lnTo>
                  <a:lnTo>
                    <a:pt x="299" y="413"/>
                  </a:lnTo>
                  <a:lnTo>
                    <a:pt x="297" y="411"/>
                  </a:lnTo>
                  <a:lnTo>
                    <a:pt x="290" y="405"/>
                  </a:lnTo>
                  <a:lnTo>
                    <a:pt x="290" y="405"/>
                  </a:lnTo>
                  <a:lnTo>
                    <a:pt x="288" y="403"/>
                  </a:lnTo>
                  <a:lnTo>
                    <a:pt x="288" y="403"/>
                  </a:lnTo>
                  <a:lnTo>
                    <a:pt x="288" y="403"/>
                  </a:lnTo>
                  <a:lnTo>
                    <a:pt x="288" y="401"/>
                  </a:lnTo>
                  <a:lnTo>
                    <a:pt x="288" y="401"/>
                  </a:lnTo>
                  <a:lnTo>
                    <a:pt x="288" y="399"/>
                  </a:lnTo>
                  <a:lnTo>
                    <a:pt x="288" y="399"/>
                  </a:lnTo>
                  <a:lnTo>
                    <a:pt x="288" y="399"/>
                  </a:lnTo>
                  <a:lnTo>
                    <a:pt x="288" y="398"/>
                  </a:lnTo>
                  <a:lnTo>
                    <a:pt x="286" y="398"/>
                  </a:lnTo>
                  <a:lnTo>
                    <a:pt x="284" y="398"/>
                  </a:lnTo>
                  <a:lnTo>
                    <a:pt x="282" y="399"/>
                  </a:lnTo>
                  <a:lnTo>
                    <a:pt x="280" y="399"/>
                  </a:lnTo>
                  <a:lnTo>
                    <a:pt x="267" y="399"/>
                  </a:lnTo>
                  <a:lnTo>
                    <a:pt x="263" y="399"/>
                  </a:lnTo>
                  <a:lnTo>
                    <a:pt x="261" y="398"/>
                  </a:lnTo>
                  <a:lnTo>
                    <a:pt x="253" y="392"/>
                  </a:lnTo>
                  <a:lnTo>
                    <a:pt x="250" y="388"/>
                  </a:lnTo>
                  <a:lnTo>
                    <a:pt x="250" y="384"/>
                  </a:lnTo>
                  <a:lnTo>
                    <a:pt x="248" y="382"/>
                  </a:lnTo>
                  <a:lnTo>
                    <a:pt x="250" y="379"/>
                  </a:lnTo>
                  <a:lnTo>
                    <a:pt x="250" y="375"/>
                  </a:lnTo>
                  <a:lnTo>
                    <a:pt x="252" y="373"/>
                  </a:lnTo>
                  <a:lnTo>
                    <a:pt x="252" y="371"/>
                  </a:lnTo>
                  <a:lnTo>
                    <a:pt x="253" y="369"/>
                  </a:lnTo>
                  <a:lnTo>
                    <a:pt x="253" y="369"/>
                  </a:lnTo>
                  <a:lnTo>
                    <a:pt x="253" y="369"/>
                  </a:lnTo>
                  <a:lnTo>
                    <a:pt x="255" y="367"/>
                  </a:lnTo>
                  <a:lnTo>
                    <a:pt x="255" y="367"/>
                  </a:lnTo>
                  <a:lnTo>
                    <a:pt x="255" y="365"/>
                  </a:lnTo>
                  <a:lnTo>
                    <a:pt x="255" y="365"/>
                  </a:lnTo>
                  <a:lnTo>
                    <a:pt x="261" y="358"/>
                  </a:lnTo>
                  <a:lnTo>
                    <a:pt x="263" y="354"/>
                  </a:lnTo>
                  <a:lnTo>
                    <a:pt x="265" y="352"/>
                  </a:lnTo>
                  <a:lnTo>
                    <a:pt x="267" y="350"/>
                  </a:lnTo>
                  <a:lnTo>
                    <a:pt x="267" y="350"/>
                  </a:lnTo>
                  <a:lnTo>
                    <a:pt x="269" y="348"/>
                  </a:lnTo>
                  <a:lnTo>
                    <a:pt x="269" y="344"/>
                  </a:lnTo>
                  <a:lnTo>
                    <a:pt x="274" y="337"/>
                  </a:lnTo>
                  <a:lnTo>
                    <a:pt x="278" y="333"/>
                  </a:lnTo>
                  <a:lnTo>
                    <a:pt x="282" y="331"/>
                  </a:lnTo>
                  <a:lnTo>
                    <a:pt x="280" y="329"/>
                  </a:lnTo>
                  <a:lnTo>
                    <a:pt x="278" y="325"/>
                  </a:lnTo>
                  <a:lnTo>
                    <a:pt x="278" y="320"/>
                  </a:lnTo>
                  <a:lnTo>
                    <a:pt x="278" y="318"/>
                  </a:lnTo>
                  <a:lnTo>
                    <a:pt x="278" y="318"/>
                  </a:lnTo>
                  <a:lnTo>
                    <a:pt x="280" y="316"/>
                  </a:lnTo>
                  <a:lnTo>
                    <a:pt x="280" y="316"/>
                  </a:lnTo>
                  <a:lnTo>
                    <a:pt x="282" y="316"/>
                  </a:lnTo>
                  <a:lnTo>
                    <a:pt x="282" y="314"/>
                  </a:lnTo>
                  <a:lnTo>
                    <a:pt x="282" y="312"/>
                  </a:lnTo>
                  <a:lnTo>
                    <a:pt x="282" y="312"/>
                  </a:lnTo>
                  <a:lnTo>
                    <a:pt x="282" y="310"/>
                  </a:lnTo>
                  <a:lnTo>
                    <a:pt x="284" y="308"/>
                  </a:lnTo>
                  <a:lnTo>
                    <a:pt x="290" y="306"/>
                  </a:lnTo>
                  <a:lnTo>
                    <a:pt x="292" y="304"/>
                  </a:lnTo>
                  <a:lnTo>
                    <a:pt x="293" y="304"/>
                  </a:lnTo>
                  <a:lnTo>
                    <a:pt x="295" y="304"/>
                  </a:lnTo>
                  <a:lnTo>
                    <a:pt x="297" y="304"/>
                  </a:lnTo>
                  <a:lnTo>
                    <a:pt x="299" y="304"/>
                  </a:lnTo>
                  <a:lnTo>
                    <a:pt x="303" y="304"/>
                  </a:lnTo>
                  <a:lnTo>
                    <a:pt x="305" y="304"/>
                  </a:lnTo>
                  <a:lnTo>
                    <a:pt x="305" y="302"/>
                  </a:lnTo>
                  <a:lnTo>
                    <a:pt x="305" y="302"/>
                  </a:lnTo>
                  <a:lnTo>
                    <a:pt x="309" y="302"/>
                  </a:lnTo>
                  <a:lnTo>
                    <a:pt x="311" y="302"/>
                  </a:lnTo>
                  <a:lnTo>
                    <a:pt x="312" y="302"/>
                  </a:lnTo>
                  <a:lnTo>
                    <a:pt x="312" y="302"/>
                  </a:lnTo>
                  <a:lnTo>
                    <a:pt x="309" y="304"/>
                  </a:lnTo>
                  <a:lnTo>
                    <a:pt x="309" y="304"/>
                  </a:lnTo>
                  <a:lnTo>
                    <a:pt x="309" y="304"/>
                  </a:lnTo>
                  <a:lnTo>
                    <a:pt x="307" y="304"/>
                  </a:lnTo>
                  <a:lnTo>
                    <a:pt x="307" y="306"/>
                  </a:lnTo>
                  <a:lnTo>
                    <a:pt x="309" y="306"/>
                  </a:lnTo>
                  <a:lnTo>
                    <a:pt x="309" y="306"/>
                  </a:lnTo>
                  <a:lnTo>
                    <a:pt x="311" y="306"/>
                  </a:lnTo>
                  <a:lnTo>
                    <a:pt x="326" y="310"/>
                  </a:lnTo>
                  <a:lnTo>
                    <a:pt x="328" y="310"/>
                  </a:lnTo>
                  <a:lnTo>
                    <a:pt x="328" y="308"/>
                  </a:lnTo>
                  <a:lnTo>
                    <a:pt x="326" y="308"/>
                  </a:lnTo>
                  <a:lnTo>
                    <a:pt x="324" y="306"/>
                  </a:lnTo>
                  <a:lnTo>
                    <a:pt x="322" y="306"/>
                  </a:lnTo>
                  <a:lnTo>
                    <a:pt x="320" y="306"/>
                  </a:lnTo>
                  <a:lnTo>
                    <a:pt x="320" y="306"/>
                  </a:lnTo>
                  <a:lnTo>
                    <a:pt x="318" y="306"/>
                  </a:lnTo>
                  <a:lnTo>
                    <a:pt x="318" y="304"/>
                  </a:lnTo>
                  <a:lnTo>
                    <a:pt x="316" y="304"/>
                  </a:lnTo>
                  <a:lnTo>
                    <a:pt x="314" y="304"/>
                  </a:lnTo>
                  <a:lnTo>
                    <a:pt x="312" y="304"/>
                  </a:lnTo>
                  <a:lnTo>
                    <a:pt x="314" y="304"/>
                  </a:lnTo>
                  <a:lnTo>
                    <a:pt x="314" y="302"/>
                  </a:lnTo>
                  <a:lnTo>
                    <a:pt x="326" y="304"/>
                  </a:lnTo>
                  <a:lnTo>
                    <a:pt x="328" y="306"/>
                  </a:lnTo>
                  <a:lnTo>
                    <a:pt x="328" y="308"/>
                  </a:lnTo>
                  <a:lnTo>
                    <a:pt x="330" y="308"/>
                  </a:lnTo>
                  <a:lnTo>
                    <a:pt x="332" y="308"/>
                  </a:lnTo>
                  <a:lnTo>
                    <a:pt x="333" y="308"/>
                  </a:lnTo>
                  <a:lnTo>
                    <a:pt x="335" y="308"/>
                  </a:lnTo>
                  <a:lnTo>
                    <a:pt x="335" y="306"/>
                  </a:lnTo>
                  <a:lnTo>
                    <a:pt x="335" y="299"/>
                  </a:lnTo>
                  <a:lnTo>
                    <a:pt x="335" y="282"/>
                  </a:lnTo>
                  <a:lnTo>
                    <a:pt x="335" y="278"/>
                  </a:lnTo>
                  <a:lnTo>
                    <a:pt x="335" y="263"/>
                  </a:lnTo>
                  <a:lnTo>
                    <a:pt x="335" y="259"/>
                  </a:lnTo>
                  <a:lnTo>
                    <a:pt x="333" y="259"/>
                  </a:lnTo>
                  <a:lnTo>
                    <a:pt x="332" y="257"/>
                  </a:lnTo>
                  <a:lnTo>
                    <a:pt x="332" y="257"/>
                  </a:lnTo>
                  <a:lnTo>
                    <a:pt x="332" y="257"/>
                  </a:lnTo>
                  <a:lnTo>
                    <a:pt x="330" y="255"/>
                  </a:lnTo>
                  <a:lnTo>
                    <a:pt x="330" y="255"/>
                  </a:lnTo>
                  <a:lnTo>
                    <a:pt x="330" y="255"/>
                  </a:lnTo>
                  <a:lnTo>
                    <a:pt x="330" y="253"/>
                  </a:lnTo>
                  <a:lnTo>
                    <a:pt x="330" y="253"/>
                  </a:lnTo>
                  <a:lnTo>
                    <a:pt x="332" y="253"/>
                  </a:lnTo>
                  <a:lnTo>
                    <a:pt x="332" y="253"/>
                  </a:lnTo>
                  <a:lnTo>
                    <a:pt x="330" y="251"/>
                  </a:lnTo>
                  <a:lnTo>
                    <a:pt x="330" y="251"/>
                  </a:lnTo>
                  <a:lnTo>
                    <a:pt x="330" y="251"/>
                  </a:lnTo>
                  <a:lnTo>
                    <a:pt x="328" y="253"/>
                  </a:lnTo>
                  <a:lnTo>
                    <a:pt x="328" y="251"/>
                  </a:lnTo>
                  <a:lnTo>
                    <a:pt x="328" y="251"/>
                  </a:lnTo>
                  <a:lnTo>
                    <a:pt x="328" y="251"/>
                  </a:lnTo>
                  <a:lnTo>
                    <a:pt x="328" y="251"/>
                  </a:lnTo>
                  <a:lnTo>
                    <a:pt x="326" y="251"/>
                  </a:lnTo>
                  <a:lnTo>
                    <a:pt x="326" y="251"/>
                  </a:lnTo>
                  <a:lnTo>
                    <a:pt x="326" y="251"/>
                  </a:lnTo>
                  <a:lnTo>
                    <a:pt x="324" y="249"/>
                  </a:lnTo>
                  <a:lnTo>
                    <a:pt x="324" y="249"/>
                  </a:lnTo>
                  <a:lnTo>
                    <a:pt x="324" y="249"/>
                  </a:lnTo>
                  <a:lnTo>
                    <a:pt x="322" y="249"/>
                  </a:lnTo>
                  <a:lnTo>
                    <a:pt x="322" y="249"/>
                  </a:lnTo>
                  <a:lnTo>
                    <a:pt x="322" y="247"/>
                  </a:lnTo>
                  <a:lnTo>
                    <a:pt x="322" y="247"/>
                  </a:lnTo>
                  <a:lnTo>
                    <a:pt x="322" y="245"/>
                  </a:lnTo>
                  <a:lnTo>
                    <a:pt x="322" y="245"/>
                  </a:lnTo>
                  <a:lnTo>
                    <a:pt x="322" y="245"/>
                  </a:lnTo>
                  <a:lnTo>
                    <a:pt x="322" y="245"/>
                  </a:lnTo>
                  <a:lnTo>
                    <a:pt x="324" y="245"/>
                  </a:lnTo>
                  <a:lnTo>
                    <a:pt x="324" y="245"/>
                  </a:lnTo>
                  <a:lnTo>
                    <a:pt x="324" y="245"/>
                  </a:lnTo>
                  <a:lnTo>
                    <a:pt x="326" y="245"/>
                  </a:lnTo>
                  <a:lnTo>
                    <a:pt x="326" y="245"/>
                  </a:lnTo>
                  <a:lnTo>
                    <a:pt x="326" y="244"/>
                  </a:lnTo>
                  <a:lnTo>
                    <a:pt x="324" y="244"/>
                  </a:lnTo>
                  <a:lnTo>
                    <a:pt x="324" y="244"/>
                  </a:lnTo>
                  <a:lnTo>
                    <a:pt x="324" y="242"/>
                  </a:lnTo>
                  <a:lnTo>
                    <a:pt x="324" y="242"/>
                  </a:lnTo>
                  <a:lnTo>
                    <a:pt x="324" y="242"/>
                  </a:lnTo>
                  <a:lnTo>
                    <a:pt x="326" y="242"/>
                  </a:lnTo>
                  <a:lnTo>
                    <a:pt x="328" y="244"/>
                  </a:lnTo>
                  <a:lnTo>
                    <a:pt x="330" y="244"/>
                  </a:lnTo>
                  <a:lnTo>
                    <a:pt x="330" y="242"/>
                  </a:lnTo>
                  <a:lnTo>
                    <a:pt x="332" y="242"/>
                  </a:lnTo>
                  <a:lnTo>
                    <a:pt x="333" y="242"/>
                  </a:lnTo>
                  <a:lnTo>
                    <a:pt x="335" y="242"/>
                  </a:lnTo>
                  <a:lnTo>
                    <a:pt x="335" y="242"/>
                  </a:lnTo>
                  <a:lnTo>
                    <a:pt x="335" y="240"/>
                  </a:lnTo>
                  <a:lnTo>
                    <a:pt x="335" y="225"/>
                  </a:lnTo>
                  <a:lnTo>
                    <a:pt x="333" y="215"/>
                  </a:lnTo>
                  <a:lnTo>
                    <a:pt x="333" y="207"/>
                  </a:lnTo>
                  <a:lnTo>
                    <a:pt x="333" y="207"/>
                  </a:lnTo>
                  <a:lnTo>
                    <a:pt x="333" y="207"/>
                  </a:lnTo>
                  <a:lnTo>
                    <a:pt x="330" y="205"/>
                  </a:lnTo>
                  <a:lnTo>
                    <a:pt x="328" y="205"/>
                  </a:lnTo>
                  <a:lnTo>
                    <a:pt x="326" y="207"/>
                  </a:lnTo>
                  <a:lnTo>
                    <a:pt x="326" y="207"/>
                  </a:lnTo>
                  <a:lnTo>
                    <a:pt x="326" y="209"/>
                  </a:lnTo>
                  <a:lnTo>
                    <a:pt x="320" y="211"/>
                  </a:lnTo>
                  <a:lnTo>
                    <a:pt x="320" y="213"/>
                  </a:lnTo>
                  <a:lnTo>
                    <a:pt x="318" y="213"/>
                  </a:lnTo>
                  <a:lnTo>
                    <a:pt x="320" y="211"/>
                  </a:lnTo>
                  <a:lnTo>
                    <a:pt x="324" y="205"/>
                  </a:lnTo>
                  <a:lnTo>
                    <a:pt x="326" y="205"/>
                  </a:lnTo>
                  <a:lnTo>
                    <a:pt x="326" y="205"/>
                  </a:lnTo>
                  <a:lnTo>
                    <a:pt x="328" y="204"/>
                  </a:lnTo>
                  <a:lnTo>
                    <a:pt x="328" y="204"/>
                  </a:lnTo>
                  <a:lnTo>
                    <a:pt x="330" y="204"/>
                  </a:lnTo>
                  <a:lnTo>
                    <a:pt x="332" y="204"/>
                  </a:lnTo>
                  <a:lnTo>
                    <a:pt x="332" y="204"/>
                  </a:lnTo>
                  <a:lnTo>
                    <a:pt x="332" y="204"/>
                  </a:lnTo>
                  <a:lnTo>
                    <a:pt x="332" y="198"/>
                  </a:lnTo>
                  <a:lnTo>
                    <a:pt x="332" y="198"/>
                  </a:lnTo>
                  <a:lnTo>
                    <a:pt x="330" y="198"/>
                  </a:lnTo>
                  <a:lnTo>
                    <a:pt x="330" y="198"/>
                  </a:lnTo>
                  <a:lnTo>
                    <a:pt x="330" y="198"/>
                  </a:lnTo>
                  <a:lnTo>
                    <a:pt x="330" y="200"/>
                  </a:lnTo>
                  <a:lnTo>
                    <a:pt x="330" y="200"/>
                  </a:lnTo>
                  <a:lnTo>
                    <a:pt x="330" y="200"/>
                  </a:lnTo>
                  <a:lnTo>
                    <a:pt x="328" y="196"/>
                  </a:lnTo>
                  <a:lnTo>
                    <a:pt x="326" y="190"/>
                  </a:lnTo>
                  <a:lnTo>
                    <a:pt x="326" y="186"/>
                  </a:lnTo>
                  <a:lnTo>
                    <a:pt x="326" y="185"/>
                  </a:lnTo>
                  <a:lnTo>
                    <a:pt x="328" y="181"/>
                  </a:lnTo>
                  <a:lnTo>
                    <a:pt x="328" y="177"/>
                  </a:lnTo>
                  <a:lnTo>
                    <a:pt x="330" y="167"/>
                  </a:lnTo>
                  <a:lnTo>
                    <a:pt x="330" y="166"/>
                  </a:lnTo>
                  <a:lnTo>
                    <a:pt x="332" y="166"/>
                  </a:lnTo>
                  <a:lnTo>
                    <a:pt x="332" y="162"/>
                  </a:lnTo>
                  <a:lnTo>
                    <a:pt x="332" y="162"/>
                  </a:lnTo>
                  <a:lnTo>
                    <a:pt x="328" y="162"/>
                  </a:lnTo>
                  <a:lnTo>
                    <a:pt x="326" y="162"/>
                  </a:lnTo>
                  <a:lnTo>
                    <a:pt x="326" y="162"/>
                  </a:lnTo>
                  <a:lnTo>
                    <a:pt x="326" y="162"/>
                  </a:lnTo>
                  <a:lnTo>
                    <a:pt x="326" y="162"/>
                  </a:lnTo>
                  <a:lnTo>
                    <a:pt x="324" y="162"/>
                  </a:lnTo>
                  <a:lnTo>
                    <a:pt x="324" y="162"/>
                  </a:lnTo>
                  <a:lnTo>
                    <a:pt x="324" y="162"/>
                  </a:lnTo>
                  <a:lnTo>
                    <a:pt x="322" y="160"/>
                  </a:lnTo>
                  <a:lnTo>
                    <a:pt x="322" y="160"/>
                  </a:lnTo>
                  <a:lnTo>
                    <a:pt x="322" y="160"/>
                  </a:lnTo>
                  <a:lnTo>
                    <a:pt x="322" y="160"/>
                  </a:lnTo>
                  <a:lnTo>
                    <a:pt x="322" y="160"/>
                  </a:lnTo>
                  <a:lnTo>
                    <a:pt x="322" y="158"/>
                  </a:lnTo>
                  <a:lnTo>
                    <a:pt x="322" y="158"/>
                  </a:lnTo>
                  <a:lnTo>
                    <a:pt x="322" y="156"/>
                  </a:lnTo>
                  <a:lnTo>
                    <a:pt x="322" y="156"/>
                  </a:lnTo>
                  <a:lnTo>
                    <a:pt x="322" y="154"/>
                  </a:lnTo>
                  <a:lnTo>
                    <a:pt x="322" y="154"/>
                  </a:lnTo>
                  <a:lnTo>
                    <a:pt x="322" y="154"/>
                  </a:lnTo>
                  <a:lnTo>
                    <a:pt x="320" y="154"/>
                  </a:lnTo>
                  <a:lnTo>
                    <a:pt x="320" y="152"/>
                  </a:lnTo>
                  <a:lnTo>
                    <a:pt x="320" y="152"/>
                  </a:lnTo>
                  <a:lnTo>
                    <a:pt x="320" y="152"/>
                  </a:lnTo>
                  <a:lnTo>
                    <a:pt x="320" y="152"/>
                  </a:lnTo>
                  <a:lnTo>
                    <a:pt x="320" y="150"/>
                  </a:lnTo>
                  <a:lnTo>
                    <a:pt x="320" y="150"/>
                  </a:lnTo>
                  <a:lnTo>
                    <a:pt x="318" y="148"/>
                  </a:lnTo>
                  <a:lnTo>
                    <a:pt x="318" y="148"/>
                  </a:lnTo>
                  <a:lnTo>
                    <a:pt x="318" y="148"/>
                  </a:lnTo>
                  <a:lnTo>
                    <a:pt x="318" y="147"/>
                  </a:lnTo>
                  <a:lnTo>
                    <a:pt x="320" y="147"/>
                  </a:lnTo>
                  <a:lnTo>
                    <a:pt x="320" y="147"/>
                  </a:lnTo>
                  <a:lnTo>
                    <a:pt x="320" y="147"/>
                  </a:lnTo>
                  <a:lnTo>
                    <a:pt x="320" y="147"/>
                  </a:lnTo>
                  <a:lnTo>
                    <a:pt x="320" y="147"/>
                  </a:lnTo>
                  <a:lnTo>
                    <a:pt x="322" y="147"/>
                  </a:lnTo>
                  <a:lnTo>
                    <a:pt x="322" y="148"/>
                  </a:lnTo>
                  <a:lnTo>
                    <a:pt x="324" y="148"/>
                  </a:lnTo>
                  <a:lnTo>
                    <a:pt x="324" y="148"/>
                  </a:lnTo>
                  <a:lnTo>
                    <a:pt x="326" y="148"/>
                  </a:lnTo>
                  <a:lnTo>
                    <a:pt x="328" y="148"/>
                  </a:lnTo>
                  <a:lnTo>
                    <a:pt x="328" y="148"/>
                  </a:lnTo>
                  <a:lnTo>
                    <a:pt x="328" y="148"/>
                  </a:lnTo>
                  <a:lnTo>
                    <a:pt x="328" y="150"/>
                  </a:lnTo>
                  <a:lnTo>
                    <a:pt x="328" y="150"/>
                  </a:lnTo>
                  <a:lnTo>
                    <a:pt x="326" y="152"/>
                  </a:lnTo>
                  <a:lnTo>
                    <a:pt x="326" y="152"/>
                  </a:lnTo>
                  <a:lnTo>
                    <a:pt x="326" y="152"/>
                  </a:lnTo>
                  <a:lnTo>
                    <a:pt x="326" y="152"/>
                  </a:lnTo>
                  <a:lnTo>
                    <a:pt x="328" y="152"/>
                  </a:lnTo>
                  <a:lnTo>
                    <a:pt x="328" y="154"/>
                  </a:lnTo>
                  <a:lnTo>
                    <a:pt x="328" y="154"/>
                  </a:lnTo>
                  <a:lnTo>
                    <a:pt x="330" y="154"/>
                  </a:lnTo>
                  <a:lnTo>
                    <a:pt x="330" y="154"/>
                  </a:lnTo>
                  <a:lnTo>
                    <a:pt x="332" y="152"/>
                  </a:lnTo>
                  <a:lnTo>
                    <a:pt x="333" y="150"/>
                  </a:lnTo>
                  <a:lnTo>
                    <a:pt x="335" y="150"/>
                  </a:lnTo>
                  <a:lnTo>
                    <a:pt x="335" y="150"/>
                  </a:lnTo>
                  <a:lnTo>
                    <a:pt x="335" y="150"/>
                  </a:lnTo>
                  <a:lnTo>
                    <a:pt x="335" y="148"/>
                  </a:lnTo>
                  <a:lnTo>
                    <a:pt x="335" y="148"/>
                  </a:lnTo>
                  <a:lnTo>
                    <a:pt x="335" y="145"/>
                  </a:lnTo>
                  <a:lnTo>
                    <a:pt x="335" y="145"/>
                  </a:lnTo>
                  <a:lnTo>
                    <a:pt x="337" y="143"/>
                  </a:lnTo>
                  <a:lnTo>
                    <a:pt x="339" y="139"/>
                  </a:lnTo>
                  <a:lnTo>
                    <a:pt x="343" y="133"/>
                  </a:lnTo>
                  <a:lnTo>
                    <a:pt x="343" y="133"/>
                  </a:lnTo>
                  <a:lnTo>
                    <a:pt x="345" y="131"/>
                  </a:lnTo>
                  <a:lnTo>
                    <a:pt x="349" y="124"/>
                  </a:lnTo>
                  <a:lnTo>
                    <a:pt x="347" y="126"/>
                  </a:lnTo>
                  <a:lnTo>
                    <a:pt x="345" y="126"/>
                  </a:lnTo>
                  <a:lnTo>
                    <a:pt x="343" y="126"/>
                  </a:lnTo>
                  <a:lnTo>
                    <a:pt x="345" y="124"/>
                  </a:lnTo>
                  <a:lnTo>
                    <a:pt x="349" y="122"/>
                  </a:lnTo>
                  <a:lnTo>
                    <a:pt x="351" y="120"/>
                  </a:lnTo>
                  <a:lnTo>
                    <a:pt x="354" y="114"/>
                  </a:lnTo>
                  <a:lnTo>
                    <a:pt x="354" y="114"/>
                  </a:lnTo>
                  <a:lnTo>
                    <a:pt x="354" y="114"/>
                  </a:lnTo>
                  <a:lnTo>
                    <a:pt x="356" y="112"/>
                  </a:lnTo>
                  <a:lnTo>
                    <a:pt x="358" y="112"/>
                  </a:lnTo>
                  <a:lnTo>
                    <a:pt x="360" y="108"/>
                  </a:lnTo>
                  <a:lnTo>
                    <a:pt x="360" y="107"/>
                  </a:lnTo>
                  <a:lnTo>
                    <a:pt x="364" y="101"/>
                  </a:lnTo>
                  <a:lnTo>
                    <a:pt x="366" y="95"/>
                  </a:lnTo>
                  <a:lnTo>
                    <a:pt x="366" y="95"/>
                  </a:lnTo>
                  <a:lnTo>
                    <a:pt x="366" y="93"/>
                  </a:lnTo>
                  <a:lnTo>
                    <a:pt x="368" y="88"/>
                  </a:lnTo>
                  <a:lnTo>
                    <a:pt x="368" y="86"/>
                  </a:lnTo>
                  <a:lnTo>
                    <a:pt x="370" y="84"/>
                  </a:lnTo>
                  <a:lnTo>
                    <a:pt x="370" y="82"/>
                  </a:lnTo>
                  <a:lnTo>
                    <a:pt x="370" y="80"/>
                  </a:lnTo>
                  <a:lnTo>
                    <a:pt x="372" y="74"/>
                  </a:lnTo>
                  <a:lnTo>
                    <a:pt x="373" y="67"/>
                  </a:lnTo>
                  <a:lnTo>
                    <a:pt x="373" y="55"/>
                  </a:lnTo>
                  <a:lnTo>
                    <a:pt x="375" y="50"/>
                  </a:lnTo>
                  <a:lnTo>
                    <a:pt x="375" y="46"/>
                  </a:lnTo>
                  <a:lnTo>
                    <a:pt x="375" y="44"/>
                  </a:lnTo>
                  <a:lnTo>
                    <a:pt x="377" y="42"/>
                  </a:lnTo>
                  <a:lnTo>
                    <a:pt x="377" y="42"/>
                  </a:lnTo>
                  <a:lnTo>
                    <a:pt x="377" y="38"/>
                  </a:lnTo>
                  <a:lnTo>
                    <a:pt x="377" y="38"/>
                  </a:lnTo>
                  <a:lnTo>
                    <a:pt x="377" y="36"/>
                  </a:lnTo>
                  <a:lnTo>
                    <a:pt x="379" y="34"/>
                  </a:lnTo>
                  <a:lnTo>
                    <a:pt x="379" y="32"/>
                  </a:lnTo>
                  <a:lnTo>
                    <a:pt x="379" y="31"/>
                  </a:lnTo>
                  <a:lnTo>
                    <a:pt x="377" y="31"/>
                  </a:lnTo>
                  <a:lnTo>
                    <a:pt x="377" y="31"/>
                  </a:lnTo>
                  <a:lnTo>
                    <a:pt x="377" y="31"/>
                  </a:lnTo>
                  <a:lnTo>
                    <a:pt x="379" y="29"/>
                  </a:lnTo>
                  <a:lnTo>
                    <a:pt x="379" y="29"/>
                  </a:lnTo>
                  <a:lnTo>
                    <a:pt x="379" y="29"/>
                  </a:lnTo>
                  <a:lnTo>
                    <a:pt x="379" y="27"/>
                  </a:lnTo>
                  <a:lnTo>
                    <a:pt x="381" y="21"/>
                  </a:lnTo>
                  <a:lnTo>
                    <a:pt x="381" y="19"/>
                  </a:lnTo>
                  <a:lnTo>
                    <a:pt x="381" y="15"/>
                  </a:lnTo>
                  <a:close/>
                </a:path>
              </a:pathLst>
            </a:custGeom>
            <a:solidFill>
              <a:schemeClr val="accent1"/>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69" name="Freeform 18">
              <a:extLst>
                <a:ext uri="{FF2B5EF4-FFF2-40B4-BE49-F238E27FC236}">
                  <a16:creationId xmlns:a16="http://schemas.microsoft.com/office/drawing/2014/main" id="{70E7D5A8-760C-5EA9-3046-8BA1F1799F88}"/>
                </a:ext>
              </a:extLst>
            </p:cNvPr>
            <p:cNvSpPr>
              <a:spLocks/>
            </p:cNvSpPr>
            <p:nvPr/>
          </p:nvSpPr>
          <p:spPr bwMode="auto">
            <a:xfrm>
              <a:off x="4467920" y="2817721"/>
              <a:ext cx="154696" cy="177611"/>
            </a:xfrm>
            <a:custGeom>
              <a:avLst/>
              <a:gdLst>
                <a:gd name="T0" fmla="*/ 78 w 82"/>
                <a:gd name="T1" fmla="*/ 78 h 105"/>
                <a:gd name="T2" fmla="*/ 74 w 82"/>
                <a:gd name="T3" fmla="*/ 76 h 105"/>
                <a:gd name="T4" fmla="*/ 72 w 82"/>
                <a:gd name="T5" fmla="*/ 75 h 105"/>
                <a:gd name="T6" fmla="*/ 69 w 82"/>
                <a:gd name="T7" fmla="*/ 69 h 105"/>
                <a:gd name="T8" fmla="*/ 69 w 82"/>
                <a:gd name="T9" fmla="*/ 63 h 105"/>
                <a:gd name="T10" fmla="*/ 69 w 82"/>
                <a:gd name="T11" fmla="*/ 59 h 105"/>
                <a:gd name="T12" fmla="*/ 69 w 82"/>
                <a:gd name="T13" fmla="*/ 57 h 105"/>
                <a:gd name="T14" fmla="*/ 72 w 82"/>
                <a:gd name="T15" fmla="*/ 50 h 105"/>
                <a:gd name="T16" fmla="*/ 78 w 82"/>
                <a:gd name="T17" fmla="*/ 27 h 105"/>
                <a:gd name="T18" fmla="*/ 78 w 82"/>
                <a:gd name="T19" fmla="*/ 23 h 105"/>
                <a:gd name="T20" fmla="*/ 74 w 82"/>
                <a:gd name="T21" fmla="*/ 19 h 105"/>
                <a:gd name="T22" fmla="*/ 74 w 82"/>
                <a:gd name="T23" fmla="*/ 16 h 105"/>
                <a:gd name="T24" fmla="*/ 74 w 82"/>
                <a:gd name="T25" fmla="*/ 12 h 105"/>
                <a:gd name="T26" fmla="*/ 74 w 82"/>
                <a:gd name="T27" fmla="*/ 12 h 105"/>
                <a:gd name="T28" fmla="*/ 71 w 82"/>
                <a:gd name="T29" fmla="*/ 8 h 105"/>
                <a:gd name="T30" fmla="*/ 65 w 82"/>
                <a:gd name="T31" fmla="*/ 4 h 105"/>
                <a:gd name="T32" fmla="*/ 57 w 82"/>
                <a:gd name="T33" fmla="*/ 2 h 105"/>
                <a:gd name="T34" fmla="*/ 53 w 82"/>
                <a:gd name="T35" fmla="*/ 0 h 105"/>
                <a:gd name="T36" fmla="*/ 48 w 82"/>
                <a:gd name="T37" fmla="*/ 4 h 105"/>
                <a:gd name="T38" fmla="*/ 46 w 82"/>
                <a:gd name="T39" fmla="*/ 8 h 105"/>
                <a:gd name="T40" fmla="*/ 42 w 82"/>
                <a:gd name="T41" fmla="*/ 8 h 105"/>
                <a:gd name="T42" fmla="*/ 36 w 82"/>
                <a:gd name="T43" fmla="*/ 12 h 105"/>
                <a:gd name="T44" fmla="*/ 34 w 82"/>
                <a:gd name="T45" fmla="*/ 12 h 105"/>
                <a:gd name="T46" fmla="*/ 15 w 82"/>
                <a:gd name="T47" fmla="*/ 16 h 105"/>
                <a:gd name="T48" fmla="*/ 13 w 82"/>
                <a:gd name="T49" fmla="*/ 16 h 105"/>
                <a:gd name="T50" fmla="*/ 10 w 82"/>
                <a:gd name="T51" fmla="*/ 16 h 105"/>
                <a:gd name="T52" fmla="*/ 8 w 82"/>
                <a:gd name="T53" fmla="*/ 21 h 105"/>
                <a:gd name="T54" fmla="*/ 10 w 82"/>
                <a:gd name="T55" fmla="*/ 25 h 105"/>
                <a:gd name="T56" fmla="*/ 13 w 82"/>
                <a:gd name="T57" fmla="*/ 27 h 105"/>
                <a:gd name="T58" fmla="*/ 15 w 82"/>
                <a:gd name="T59" fmla="*/ 29 h 105"/>
                <a:gd name="T60" fmla="*/ 13 w 82"/>
                <a:gd name="T61" fmla="*/ 35 h 105"/>
                <a:gd name="T62" fmla="*/ 11 w 82"/>
                <a:gd name="T63" fmla="*/ 40 h 105"/>
                <a:gd name="T64" fmla="*/ 4 w 82"/>
                <a:gd name="T65" fmla="*/ 57 h 105"/>
                <a:gd name="T66" fmla="*/ 2 w 82"/>
                <a:gd name="T67" fmla="*/ 65 h 105"/>
                <a:gd name="T68" fmla="*/ 2 w 82"/>
                <a:gd name="T69" fmla="*/ 67 h 105"/>
                <a:gd name="T70" fmla="*/ 4 w 82"/>
                <a:gd name="T71" fmla="*/ 69 h 105"/>
                <a:gd name="T72" fmla="*/ 4 w 82"/>
                <a:gd name="T73" fmla="*/ 71 h 105"/>
                <a:gd name="T74" fmla="*/ 2 w 82"/>
                <a:gd name="T75" fmla="*/ 71 h 105"/>
                <a:gd name="T76" fmla="*/ 2 w 82"/>
                <a:gd name="T77" fmla="*/ 75 h 105"/>
                <a:gd name="T78" fmla="*/ 0 w 82"/>
                <a:gd name="T79" fmla="*/ 76 h 105"/>
                <a:gd name="T80" fmla="*/ 2 w 82"/>
                <a:gd name="T81" fmla="*/ 80 h 105"/>
                <a:gd name="T82" fmla="*/ 2 w 82"/>
                <a:gd name="T83" fmla="*/ 84 h 105"/>
                <a:gd name="T84" fmla="*/ 2 w 82"/>
                <a:gd name="T85" fmla="*/ 90 h 105"/>
                <a:gd name="T86" fmla="*/ 6 w 82"/>
                <a:gd name="T87" fmla="*/ 94 h 105"/>
                <a:gd name="T88" fmla="*/ 8 w 82"/>
                <a:gd name="T89" fmla="*/ 95 h 105"/>
                <a:gd name="T90" fmla="*/ 8 w 82"/>
                <a:gd name="T91" fmla="*/ 97 h 105"/>
                <a:gd name="T92" fmla="*/ 10 w 82"/>
                <a:gd name="T93" fmla="*/ 99 h 105"/>
                <a:gd name="T94" fmla="*/ 13 w 82"/>
                <a:gd name="T95" fmla="*/ 101 h 105"/>
                <a:gd name="T96" fmla="*/ 21 w 82"/>
                <a:gd name="T97" fmla="*/ 101 h 105"/>
                <a:gd name="T98" fmla="*/ 31 w 82"/>
                <a:gd name="T99" fmla="*/ 105 h 105"/>
                <a:gd name="T100" fmla="*/ 32 w 82"/>
                <a:gd name="T101" fmla="*/ 105 h 105"/>
                <a:gd name="T102" fmla="*/ 36 w 82"/>
                <a:gd name="T103" fmla="*/ 105 h 105"/>
                <a:gd name="T104" fmla="*/ 40 w 82"/>
                <a:gd name="T105" fmla="*/ 103 h 105"/>
                <a:gd name="T106" fmla="*/ 50 w 82"/>
                <a:gd name="T107" fmla="*/ 95 h 105"/>
                <a:gd name="T108" fmla="*/ 61 w 82"/>
                <a:gd name="T109" fmla="*/ 97 h 105"/>
                <a:gd name="T110" fmla="*/ 63 w 82"/>
                <a:gd name="T111" fmla="*/ 99 h 105"/>
                <a:gd name="T112" fmla="*/ 67 w 82"/>
                <a:gd name="T113" fmla="*/ 99 h 105"/>
                <a:gd name="T114" fmla="*/ 67 w 82"/>
                <a:gd name="T115" fmla="*/ 99 h 105"/>
                <a:gd name="T116" fmla="*/ 69 w 82"/>
                <a:gd name="T117" fmla="*/ 92 h 105"/>
                <a:gd name="T118" fmla="*/ 72 w 82"/>
                <a:gd name="T119" fmla="*/ 88 h 105"/>
                <a:gd name="T120" fmla="*/ 80 w 82"/>
                <a:gd name="T121" fmla="*/ 86 h 105"/>
                <a:gd name="T122" fmla="*/ 82 w 82"/>
                <a:gd name="T123" fmla="*/ 8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 h="105">
                  <a:moveTo>
                    <a:pt x="80" y="80"/>
                  </a:moveTo>
                  <a:lnTo>
                    <a:pt x="78" y="78"/>
                  </a:lnTo>
                  <a:lnTo>
                    <a:pt x="76" y="76"/>
                  </a:lnTo>
                  <a:lnTo>
                    <a:pt x="74" y="76"/>
                  </a:lnTo>
                  <a:lnTo>
                    <a:pt x="74" y="75"/>
                  </a:lnTo>
                  <a:lnTo>
                    <a:pt x="72" y="75"/>
                  </a:lnTo>
                  <a:lnTo>
                    <a:pt x="71" y="73"/>
                  </a:lnTo>
                  <a:lnTo>
                    <a:pt x="69" y="69"/>
                  </a:lnTo>
                  <a:lnTo>
                    <a:pt x="69" y="67"/>
                  </a:lnTo>
                  <a:lnTo>
                    <a:pt x="69" y="63"/>
                  </a:lnTo>
                  <a:lnTo>
                    <a:pt x="69" y="61"/>
                  </a:lnTo>
                  <a:lnTo>
                    <a:pt x="69" y="59"/>
                  </a:lnTo>
                  <a:lnTo>
                    <a:pt x="69" y="57"/>
                  </a:lnTo>
                  <a:lnTo>
                    <a:pt x="69" y="57"/>
                  </a:lnTo>
                  <a:lnTo>
                    <a:pt x="71" y="54"/>
                  </a:lnTo>
                  <a:lnTo>
                    <a:pt x="72" y="50"/>
                  </a:lnTo>
                  <a:lnTo>
                    <a:pt x="74" y="46"/>
                  </a:lnTo>
                  <a:lnTo>
                    <a:pt x="78" y="27"/>
                  </a:lnTo>
                  <a:lnTo>
                    <a:pt x="78" y="25"/>
                  </a:lnTo>
                  <a:lnTo>
                    <a:pt x="78" y="23"/>
                  </a:lnTo>
                  <a:lnTo>
                    <a:pt x="76" y="21"/>
                  </a:lnTo>
                  <a:lnTo>
                    <a:pt x="74" y="19"/>
                  </a:lnTo>
                  <a:lnTo>
                    <a:pt x="74" y="18"/>
                  </a:lnTo>
                  <a:lnTo>
                    <a:pt x="74" y="16"/>
                  </a:lnTo>
                  <a:lnTo>
                    <a:pt x="74" y="14"/>
                  </a:lnTo>
                  <a:lnTo>
                    <a:pt x="74" y="12"/>
                  </a:lnTo>
                  <a:lnTo>
                    <a:pt x="74" y="12"/>
                  </a:lnTo>
                  <a:lnTo>
                    <a:pt x="74" y="12"/>
                  </a:lnTo>
                  <a:lnTo>
                    <a:pt x="74" y="10"/>
                  </a:lnTo>
                  <a:lnTo>
                    <a:pt x="71" y="8"/>
                  </a:lnTo>
                  <a:lnTo>
                    <a:pt x="67" y="4"/>
                  </a:lnTo>
                  <a:lnTo>
                    <a:pt x="65" y="4"/>
                  </a:lnTo>
                  <a:lnTo>
                    <a:pt x="59" y="4"/>
                  </a:lnTo>
                  <a:lnTo>
                    <a:pt x="57" y="2"/>
                  </a:lnTo>
                  <a:lnTo>
                    <a:pt x="55" y="0"/>
                  </a:lnTo>
                  <a:lnTo>
                    <a:pt x="53" y="0"/>
                  </a:lnTo>
                  <a:lnTo>
                    <a:pt x="50" y="2"/>
                  </a:lnTo>
                  <a:lnTo>
                    <a:pt x="48" y="4"/>
                  </a:lnTo>
                  <a:lnTo>
                    <a:pt x="48" y="6"/>
                  </a:lnTo>
                  <a:lnTo>
                    <a:pt x="46" y="8"/>
                  </a:lnTo>
                  <a:lnTo>
                    <a:pt x="44" y="6"/>
                  </a:lnTo>
                  <a:lnTo>
                    <a:pt x="42" y="8"/>
                  </a:lnTo>
                  <a:lnTo>
                    <a:pt x="36" y="12"/>
                  </a:lnTo>
                  <a:lnTo>
                    <a:pt x="36" y="12"/>
                  </a:lnTo>
                  <a:lnTo>
                    <a:pt x="36" y="12"/>
                  </a:lnTo>
                  <a:lnTo>
                    <a:pt x="34" y="12"/>
                  </a:lnTo>
                  <a:lnTo>
                    <a:pt x="17" y="16"/>
                  </a:lnTo>
                  <a:lnTo>
                    <a:pt x="15" y="16"/>
                  </a:lnTo>
                  <a:lnTo>
                    <a:pt x="15" y="16"/>
                  </a:lnTo>
                  <a:lnTo>
                    <a:pt x="13" y="16"/>
                  </a:lnTo>
                  <a:lnTo>
                    <a:pt x="11" y="16"/>
                  </a:lnTo>
                  <a:lnTo>
                    <a:pt x="10" y="16"/>
                  </a:lnTo>
                  <a:lnTo>
                    <a:pt x="10" y="18"/>
                  </a:lnTo>
                  <a:lnTo>
                    <a:pt x="8" y="21"/>
                  </a:lnTo>
                  <a:lnTo>
                    <a:pt x="10" y="23"/>
                  </a:lnTo>
                  <a:lnTo>
                    <a:pt x="10" y="25"/>
                  </a:lnTo>
                  <a:lnTo>
                    <a:pt x="13" y="25"/>
                  </a:lnTo>
                  <a:lnTo>
                    <a:pt x="13" y="27"/>
                  </a:lnTo>
                  <a:lnTo>
                    <a:pt x="15" y="27"/>
                  </a:lnTo>
                  <a:lnTo>
                    <a:pt x="15" y="29"/>
                  </a:lnTo>
                  <a:lnTo>
                    <a:pt x="13" y="31"/>
                  </a:lnTo>
                  <a:lnTo>
                    <a:pt x="13" y="35"/>
                  </a:lnTo>
                  <a:lnTo>
                    <a:pt x="13" y="37"/>
                  </a:lnTo>
                  <a:lnTo>
                    <a:pt x="11" y="40"/>
                  </a:lnTo>
                  <a:lnTo>
                    <a:pt x="10" y="48"/>
                  </a:lnTo>
                  <a:lnTo>
                    <a:pt x="4" y="57"/>
                  </a:lnTo>
                  <a:lnTo>
                    <a:pt x="2" y="63"/>
                  </a:lnTo>
                  <a:lnTo>
                    <a:pt x="2" y="65"/>
                  </a:lnTo>
                  <a:lnTo>
                    <a:pt x="2" y="65"/>
                  </a:lnTo>
                  <a:lnTo>
                    <a:pt x="2" y="67"/>
                  </a:lnTo>
                  <a:lnTo>
                    <a:pt x="2" y="67"/>
                  </a:lnTo>
                  <a:lnTo>
                    <a:pt x="4" y="69"/>
                  </a:lnTo>
                  <a:lnTo>
                    <a:pt x="4" y="69"/>
                  </a:lnTo>
                  <a:lnTo>
                    <a:pt x="4" y="71"/>
                  </a:lnTo>
                  <a:lnTo>
                    <a:pt x="2" y="71"/>
                  </a:lnTo>
                  <a:lnTo>
                    <a:pt x="2" y="71"/>
                  </a:lnTo>
                  <a:lnTo>
                    <a:pt x="2" y="73"/>
                  </a:lnTo>
                  <a:lnTo>
                    <a:pt x="2" y="75"/>
                  </a:lnTo>
                  <a:lnTo>
                    <a:pt x="0" y="75"/>
                  </a:lnTo>
                  <a:lnTo>
                    <a:pt x="0" y="76"/>
                  </a:lnTo>
                  <a:lnTo>
                    <a:pt x="2" y="78"/>
                  </a:lnTo>
                  <a:lnTo>
                    <a:pt x="2" y="80"/>
                  </a:lnTo>
                  <a:lnTo>
                    <a:pt x="2" y="80"/>
                  </a:lnTo>
                  <a:lnTo>
                    <a:pt x="2" y="84"/>
                  </a:lnTo>
                  <a:lnTo>
                    <a:pt x="0" y="88"/>
                  </a:lnTo>
                  <a:lnTo>
                    <a:pt x="2" y="90"/>
                  </a:lnTo>
                  <a:lnTo>
                    <a:pt x="2" y="92"/>
                  </a:lnTo>
                  <a:lnTo>
                    <a:pt x="6" y="94"/>
                  </a:lnTo>
                  <a:lnTo>
                    <a:pt x="6" y="94"/>
                  </a:lnTo>
                  <a:lnTo>
                    <a:pt x="8" y="95"/>
                  </a:lnTo>
                  <a:lnTo>
                    <a:pt x="8" y="97"/>
                  </a:lnTo>
                  <a:lnTo>
                    <a:pt x="8" y="97"/>
                  </a:lnTo>
                  <a:lnTo>
                    <a:pt x="8" y="99"/>
                  </a:lnTo>
                  <a:lnTo>
                    <a:pt x="10" y="99"/>
                  </a:lnTo>
                  <a:lnTo>
                    <a:pt x="10" y="101"/>
                  </a:lnTo>
                  <a:lnTo>
                    <a:pt x="13" y="101"/>
                  </a:lnTo>
                  <a:lnTo>
                    <a:pt x="17" y="99"/>
                  </a:lnTo>
                  <a:lnTo>
                    <a:pt x="21" y="101"/>
                  </a:lnTo>
                  <a:lnTo>
                    <a:pt x="31" y="105"/>
                  </a:lnTo>
                  <a:lnTo>
                    <a:pt x="31" y="105"/>
                  </a:lnTo>
                  <a:lnTo>
                    <a:pt x="32" y="105"/>
                  </a:lnTo>
                  <a:lnTo>
                    <a:pt x="32" y="105"/>
                  </a:lnTo>
                  <a:lnTo>
                    <a:pt x="34" y="105"/>
                  </a:lnTo>
                  <a:lnTo>
                    <a:pt x="36" y="105"/>
                  </a:lnTo>
                  <a:lnTo>
                    <a:pt x="38" y="105"/>
                  </a:lnTo>
                  <a:lnTo>
                    <a:pt x="40" y="103"/>
                  </a:lnTo>
                  <a:lnTo>
                    <a:pt x="48" y="95"/>
                  </a:lnTo>
                  <a:lnTo>
                    <a:pt x="50" y="95"/>
                  </a:lnTo>
                  <a:lnTo>
                    <a:pt x="55" y="97"/>
                  </a:lnTo>
                  <a:lnTo>
                    <a:pt x="61" y="97"/>
                  </a:lnTo>
                  <a:lnTo>
                    <a:pt x="61" y="97"/>
                  </a:lnTo>
                  <a:lnTo>
                    <a:pt x="63" y="99"/>
                  </a:lnTo>
                  <a:lnTo>
                    <a:pt x="67" y="99"/>
                  </a:lnTo>
                  <a:lnTo>
                    <a:pt x="67" y="99"/>
                  </a:lnTo>
                  <a:lnTo>
                    <a:pt x="67" y="99"/>
                  </a:lnTo>
                  <a:lnTo>
                    <a:pt x="67" y="99"/>
                  </a:lnTo>
                  <a:lnTo>
                    <a:pt x="67" y="95"/>
                  </a:lnTo>
                  <a:lnTo>
                    <a:pt x="69" y="92"/>
                  </a:lnTo>
                  <a:lnTo>
                    <a:pt x="71" y="90"/>
                  </a:lnTo>
                  <a:lnTo>
                    <a:pt x="72" y="88"/>
                  </a:lnTo>
                  <a:lnTo>
                    <a:pt x="78" y="86"/>
                  </a:lnTo>
                  <a:lnTo>
                    <a:pt x="80" y="86"/>
                  </a:lnTo>
                  <a:lnTo>
                    <a:pt x="82" y="84"/>
                  </a:lnTo>
                  <a:lnTo>
                    <a:pt x="82" y="82"/>
                  </a:lnTo>
                  <a:lnTo>
                    <a:pt x="80" y="80"/>
                  </a:lnTo>
                  <a:close/>
                </a:path>
              </a:pathLst>
            </a:custGeom>
            <a:solidFill>
              <a:srgbClr val="DCDDDF"/>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70" name="Freeform 19">
              <a:extLst>
                <a:ext uri="{FF2B5EF4-FFF2-40B4-BE49-F238E27FC236}">
                  <a16:creationId xmlns:a16="http://schemas.microsoft.com/office/drawing/2014/main" id="{C763AC41-7868-74B8-4DCB-4C9E86591EF9}"/>
                </a:ext>
              </a:extLst>
            </p:cNvPr>
            <p:cNvSpPr>
              <a:spLocks/>
            </p:cNvSpPr>
            <p:nvPr/>
          </p:nvSpPr>
          <p:spPr bwMode="auto">
            <a:xfrm>
              <a:off x="4467920" y="2817721"/>
              <a:ext cx="154696" cy="177611"/>
            </a:xfrm>
            <a:custGeom>
              <a:avLst/>
              <a:gdLst>
                <a:gd name="T0" fmla="*/ 78 w 82"/>
                <a:gd name="T1" fmla="*/ 78 h 105"/>
                <a:gd name="T2" fmla="*/ 74 w 82"/>
                <a:gd name="T3" fmla="*/ 76 h 105"/>
                <a:gd name="T4" fmla="*/ 72 w 82"/>
                <a:gd name="T5" fmla="*/ 75 h 105"/>
                <a:gd name="T6" fmla="*/ 69 w 82"/>
                <a:gd name="T7" fmla="*/ 69 h 105"/>
                <a:gd name="T8" fmla="*/ 69 w 82"/>
                <a:gd name="T9" fmla="*/ 63 h 105"/>
                <a:gd name="T10" fmla="*/ 69 w 82"/>
                <a:gd name="T11" fmla="*/ 59 h 105"/>
                <a:gd name="T12" fmla="*/ 69 w 82"/>
                <a:gd name="T13" fmla="*/ 57 h 105"/>
                <a:gd name="T14" fmla="*/ 72 w 82"/>
                <a:gd name="T15" fmla="*/ 50 h 105"/>
                <a:gd name="T16" fmla="*/ 78 w 82"/>
                <a:gd name="T17" fmla="*/ 27 h 105"/>
                <a:gd name="T18" fmla="*/ 78 w 82"/>
                <a:gd name="T19" fmla="*/ 23 h 105"/>
                <a:gd name="T20" fmla="*/ 74 w 82"/>
                <a:gd name="T21" fmla="*/ 19 h 105"/>
                <a:gd name="T22" fmla="*/ 74 w 82"/>
                <a:gd name="T23" fmla="*/ 16 h 105"/>
                <a:gd name="T24" fmla="*/ 74 w 82"/>
                <a:gd name="T25" fmla="*/ 12 h 105"/>
                <a:gd name="T26" fmla="*/ 74 w 82"/>
                <a:gd name="T27" fmla="*/ 12 h 105"/>
                <a:gd name="T28" fmla="*/ 71 w 82"/>
                <a:gd name="T29" fmla="*/ 8 h 105"/>
                <a:gd name="T30" fmla="*/ 65 w 82"/>
                <a:gd name="T31" fmla="*/ 4 h 105"/>
                <a:gd name="T32" fmla="*/ 57 w 82"/>
                <a:gd name="T33" fmla="*/ 2 h 105"/>
                <a:gd name="T34" fmla="*/ 53 w 82"/>
                <a:gd name="T35" fmla="*/ 0 h 105"/>
                <a:gd name="T36" fmla="*/ 48 w 82"/>
                <a:gd name="T37" fmla="*/ 4 h 105"/>
                <a:gd name="T38" fmla="*/ 46 w 82"/>
                <a:gd name="T39" fmla="*/ 8 h 105"/>
                <a:gd name="T40" fmla="*/ 42 w 82"/>
                <a:gd name="T41" fmla="*/ 8 h 105"/>
                <a:gd name="T42" fmla="*/ 36 w 82"/>
                <a:gd name="T43" fmla="*/ 12 h 105"/>
                <a:gd name="T44" fmla="*/ 34 w 82"/>
                <a:gd name="T45" fmla="*/ 12 h 105"/>
                <a:gd name="T46" fmla="*/ 15 w 82"/>
                <a:gd name="T47" fmla="*/ 16 h 105"/>
                <a:gd name="T48" fmla="*/ 13 w 82"/>
                <a:gd name="T49" fmla="*/ 16 h 105"/>
                <a:gd name="T50" fmla="*/ 10 w 82"/>
                <a:gd name="T51" fmla="*/ 16 h 105"/>
                <a:gd name="T52" fmla="*/ 8 w 82"/>
                <a:gd name="T53" fmla="*/ 21 h 105"/>
                <a:gd name="T54" fmla="*/ 10 w 82"/>
                <a:gd name="T55" fmla="*/ 25 h 105"/>
                <a:gd name="T56" fmla="*/ 13 w 82"/>
                <a:gd name="T57" fmla="*/ 27 h 105"/>
                <a:gd name="T58" fmla="*/ 15 w 82"/>
                <a:gd name="T59" fmla="*/ 29 h 105"/>
                <a:gd name="T60" fmla="*/ 13 w 82"/>
                <a:gd name="T61" fmla="*/ 35 h 105"/>
                <a:gd name="T62" fmla="*/ 11 w 82"/>
                <a:gd name="T63" fmla="*/ 40 h 105"/>
                <a:gd name="T64" fmla="*/ 4 w 82"/>
                <a:gd name="T65" fmla="*/ 57 h 105"/>
                <a:gd name="T66" fmla="*/ 2 w 82"/>
                <a:gd name="T67" fmla="*/ 65 h 105"/>
                <a:gd name="T68" fmla="*/ 2 w 82"/>
                <a:gd name="T69" fmla="*/ 67 h 105"/>
                <a:gd name="T70" fmla="*/ 4 w 82"/>
                <a:gd name="T71" fmla="*/ 69 h 105"/>
                <a:gd name="T72" fmla="*/ 4 w 82"/>
                <a:gd name="T73" fmla="*/ 71 h 105"/>
                <a:gd name="T74" fmla="*/ 2 w 82"/>
                <a:gd name="T75" fmla="*/ 71 h 105"/>
                <a:gd name="T76" fmla="*/ 2 w 82"/>
                <a:gd name="T77" fmla="*/ 75 h 105"/>
                <a:gd name="T78" fmla="*/ 0 w 82"/>
                <a:gd name="T79" fmla="*/ 76 h 105"/>
                <a:gd name="T80" fmla="*/ 2 w 82"/>
                <a:gd name="T81" fmla="*/ 80 h 105"/>
                <a:gd name="T82" fmla="*/ 2 w 82"/>
                <a:gd name="T83" fmla="*/ 84 h 105"/>
                <a:gd name="T84" fmla="*/ 2 w 82"/>
                <a:gd name="T85" fmla="*/ 90 h 105"/>
                <a:gd name="T86" fmla="*/ 6 w 82"/>
                <a:gd name="T87" fmla="*/ 94 h 105"/>
                <a:gd name="T88" fmla="*/ 8 w 82"/>
                <a:gd name="T89" fmla="*/ 95 h 105"/>
                <a:gd name="T90" fmla="*/ 8 w 82"/>
                <a:gd name="T91" fmla="*/ 97 h 105"/>
                <a:gd name="T92" fmla="*/ 10 w 82"/>
                <a:gd name="T93" fmla="*/ 99 h 105"/>
                <a:gd name="T94" fmla="*/ 13 w 82"/>
                <a:gd name="T95" fmla="*/ 101 h 105"/>
                <a:gd name="T96" fmla="*/ 21 w 82"/>
                <a:gd name="T97" fmla="*/ 101 h 105"/>
                <a:gd name="T98" fmla="*/ 31 w 82"/>
                <a:gd name="T99" fmla="*/ 105 h 105"/>
                <a:gd name="T100" fmla="*/ 32 w 82"/>
                <a:gd name="T101" fmla="*/ 105 h 105"/>
                <a:gd name="T102" fmla="*/ 36 w 82"/>
                <a:gd name="T103" fmla="*/ 105 h 105"/>
                <a:gd name="T104" fmla="*/ 40 w 82"/>
                <a:gd name="T105" fmla="*/ 103 h 105"/>
                <a:gd name="T106" fmla="*/ 50 w 82"/>
                <a:gd name="T107" fmla="*/ 95 h 105"/>
                <a:gd name="T108" fmla="*/ 61 w 82"/>
                <a:gd name="T109" fmla="*/ 97 h 105"/>
                <a:gd name="T110" fmla="*/ 63 w 82"/>
                <a:gd name="T111" fmla="*/ 99 h 105"/>
                <a:gd name="T112" fmla="*/ 67 w 82"/>
                <a:gd name="T113" fmla="*/ 99 h 105"/>
                <a:gd name="T114" fmla="*/ 67 w 82"/>
                <a:gd name="T115" fmla="*/ 99 h 105"/>
                <a:gd name="T116" fmla="*/ 69 w 82"/>
                <a:gd name="T117" fmla="*/ 92 h 105"/>
                <a:gd name="T118" fmla="*/ 72 w 82"/>
                <a:gd name="T119" fmla="*/ 88 h 105"/>
                <a:gd name="T120" fmla="*/ 80 w 82"/>
                <a:gd name="T121" fmla="*/ 86 h 105"/>
                <a:gd name="T122" fmla="*/ 82 w 82"/>
                <a:gd name="T123" fmla="*/ 8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 h="105">
                  <a:moveTo>
                    <a:pt x="80" y="80"/>
                  </a:moveTo>
                  <a:lnTo>
                    <a:pt x="78" y="78"/>
                  </a:lnTo>
                  <a:lnTo>
                    <a:pt x="76" y="76"/>
                  </a:lnTo>
                  <a:lnTo>
                    <a:pt x="74" y="76"/>
                  </a:lnTo>
                  <a:lnTo>
                    <a:pt x="74" y="75"/>
                  </a:lnTo>
                  <a:lnTo>
                    <a:pt x="72" y="75"/>
                  </a:lnTo>
                  <a:lnTo>
                    <a:pt x="71" y="73"/>
                  </a:lnTo>
                  <a:lnTo>
                    <a:pt x="69" y="69"/>
                  </a:lnTo>
                  <a:lnTo>
                    <a:pt x="69" y="67"/>
                  </a:lnTo>
                  <a:lnTo>
                    <a:pt x="69" y="63"/>
                  </a:lnTo>
                  <a:lnTo>
                    <a:pt x="69" y="61"/>
                  </a:lnTo>
                  <a:lnTo>
                    <a:pt x="69" y="59"/>
                  </a:lnTo>
                  <a:lnTo>
                    <a:pt x="69" y="57"/>
                  </a:lnTo>
                  <a:lnTo>
                    <a:pt x="69" y="57"/>
                  </a:lnTo>
                  <a:lnTo>
                    <a:pt x="71" y="54"/>
                  </a:lnTo>
                  <a:lnTo>
                    <a:pt x="72" y="50"/>
                  </a:lnTo>
                  <a:lnTo>
                    <a:pt x="74" y="46"/>
                  </a:lnTo>
                  <a:lnTo>
                    <a:pt x="78" y="27"/>
                  </a:lnTo>
                  <a:lnTo>
                    <a:pt x="78" y="25"/>
                  </a:lnTo>
                  <a:lnTo>
                    <a:pt x="78" y="23"/>
                  </a:lnTo>
                  <a:lnTo>
                    <a:pt x="76" y="21"/>
                  </a:lnTo>
                  <a:lnTo>
                    <a:pt x="74" y="19"/>
                  </a:lnTo>
                  <a:lnTo>
                    <a:pt x="74" y="18"/>
                  </a:lnTo>
                  <a:lnTo>
                    <a:pt x="74" y="16"/>
                  </a:lnTo>
                  <a:lnTo>
                    <a:pt x="74" y="14"/>
                  </a:lnTo>
                  <a:lnTo>
                    <a:pt x="74" y="12"/>
                  </a:lnTo>
                  <a:lnTo>
                    <a:pt x="74" y="12"/>
                  </a:lnTo>
                  <a:lnTo>
                    <a:pt x="74" y="12"/>
                  </a:lnTo>
                  <a:lnTo>
                    <a:pt x="74" y="10"/>
                  </a:lnTo>
                  <a:lnTo>
                    <a:pt x="71" y="8"/>
                  </a:lnTo>
                  <a:lnTo>
                    <a:pt x="67" y="4"/>
                  </a:lnTo>
                  <a:lnTo>
                    <a:pt x="65" y="4"/>
                  </a:lnTo>
                  <a:lnTo>
                    <a:pt x="59" y="4"/>
                  </a:lnTo>
                  <a:lnTo>
                    <a:pt x="57" y="2"/>
                  </a:lnTo>
                  <a:lnTo>
                    <a:pt x="55" y="0"/>
                  </a:lnTo>
                  <a:lnTo>
                    <a:pt x="53" y="0"/>
                  </a:lnTo>
                  <a:lnTo>
                    <a:pt x="50" y="2"/>
                  </a:lnTo>
                  <a:lnTo>
                    <a:pt x="48" y="4"/>
                  </a:lnTo>
                  <a:lnTo>
                    <a:pt x="48" y="6"/>
                  </a:lnTo>
                  <a:lnTo>
                    <a:pt x="46" y="8"/>
                  </a:lnTo>
                  <a:lnTo>
                    <a:pt x="44" y="6"/>
                  </a:lnTo>
                  <a:lnTo>
                    <a:pt x="42" y="8"/>
                  </a:lnTo>
                  <a:lnTo>
                    <a:pt x="36" y="12"/>
                  </a:lnTo>
                  <a:lnTo>
                    <a:pt x="36" y="12"/>
                  </a:lnTo>
                  <a:lnTo>
                    <a:pt x="36" y="12"/>
                  </a:lnTo>
                  <a:lnTo>
                    <a:pt x="34" y="12"/>
                  </a:lnTo>
                  <a:lnTo>
                    <a:pt x="17" y="16"/>
                  </a:lnTo>
                  <a:lnTo>
                    <a:pt x="15" y="16"/>
                  </a:lnTo>
                  <a:lnTo>
                    <a:pt x="15" y="16"/>
                  </a:lnTo>
                  <a:lnTo>
                    <a:pt x="13" y="16"/>
                  </a:lnTo>
                  <a:lnTo>
                    <a:pt x="11" y="16"/>
                  </a:lnTo>
                  <a:lnTo>
                    <a:pt x="10" y="16"/>
                  </a:lnTo>
                  <a:lnTo>
                    <a:pt x="10" y="18"/>
                  </a:lnTo>
                  <a:lnTo>
                    <a:pt x="8" y="21"/>
                  </a:lnTo>
                  <a:lnTo>
                    <a:pt x="10" y="23"/>
                  </a:lnTo>
                  <a:lnTo>
                    <a:pt x="10" y="25"/>
                  </a:lnTo>
                  <a:lnTo>
                    <a:pt x="13" y="25"/>
                  </a:lnTo>
                  <a:lnTo>
                    <a:pt x="13" y="27"/>
                  </a:lnTo>
                  <a:lnTo>
                    <a:pt x="15" y="27"/>
                  </a:lnTo>
                  <a:lnTo>
                    <a:pt x="15" y="29"/>
                  </a:lnTo>
                  <a:lnTo>
                    <a:pt x="13" y="31"/>
                  </a:lnTo>
                  <a:lnTo>
                    <a:pt x="13" y="35"/>
                  </a:lnTo>
                  <a:lnTo>
                    <a:pt x="13" y="37"/>
                  </a:lnTo>
                  <a:lnTo>
                    <a:pt x="11" y="40"/>
                  </a:lnTo>
                  <a:lnTo>
                    <a:pt x="10" y="48"/>
                  </a:lnTo>
                  <a:lnTo>
                    <a:pt x="4" y="57"/>
                  </a:lnTo>
                  <a:lnTo>
                    <a:pt x="2" y="63"/>
                  </a:lnTo>
                  <a:lnTo>
                    <a:pt x="2" y="65"/>
                  </a:lnTo>
                  <a:lnTo>
                    <a:pt x="2" y="65"/>
                  </a:lnTo>
                  <a:lnTo>
                    <a:pt x="2" y="67"/>
                  </a:lnTo>
                  <a:lnTo>
                    <a:pt x="2" y="67"/>
                  </a:lnTo>
                  <a:lnTo>
                    <a:pt x="4" y="69"/>
                  </a:lnTo>
                  <a:lnTo>
                    <a:pt x="4" y="69"/>
                  </a:lnTo>
                  <a:lnTo>
                    <a:pt x="4" y="71"/>
                  </a:lnTo>
                  <a:lnTo>
                    <a:pt x="2" y="71"/>
                  </a:lnTo>
                  <a:lnTo>
                    <a:pt x="2" y="71"/>
                  </a:lnTo>
                  <a:lnTo>
                    <a:pt x="2" y="73"/>
                  </a:lnTo>
                  <a:lnTo>
                    <a:pt x="2" y="75"/>
                  </a:lnTo>
                  <a:lnTo>
                    <a:pt x="0" y="75"/>
                  </a:lnTo>
                  <a:lnTo>
                    <a:pt x="0" y="76"/>
                  </a:lnTo>
                  <a:lnTo>
                    <a:pt x="2" y="78"/>
                  </a:lnTo>
                  <a:lnTo>
                    <a:pt x="2" y="80"/>
                  </a:lnTo>
                  <a:lnTo>
                    <a:pt x="2" y="80"/>
                  </a:lnTo>
                  <a:lnTo>
                    <a:pt x="2" y="84"/>
                  </a:lnTo>
                  <a:lnTo>
                    <a:pt x="0" y="88"/>
                  </a:lnTo>
                  <a:lnTo>
                    <a:pt x="2" y="90"/>
                  </a:lnTo>
                  <a:lnTo>
                    <a:pt x="2" y="92"/>
                  </a:lnTo>
                  <a:lnTo>
                    <a:pt x="6" y="94"/>
                  </a:lnTo>
                  <a:lnTo>
                    <a:pt x="6" y="94"/>
                  </a:lnTo>
                  <a:lnTo>
                    <a:pt x="8" y="95"/>
                  </a:lnTo>
                  <a:lnTo>
                    <a:pt x="8" y="97"/>
                  </a:lnTo>
                  <a:lnTo>
                    <a:pt x="8" y="97"/>
                  </a:lnTo>
                  <a:lnTo>
                    <a:pt x="8" y="99"/>
                  </a:lnTo>
                  <a:lnTo>
                    <a:pt x="10" y="99"/>
                  </a:lnTo>
                  <a:lnTo>
                    <a:pt x="10" y="101"/>
                  </a:lnTo>
                  <a:lnTo>
                    <a:pt x="13" y="101"/>
                  </a:lnTo>
                  <a:lnTo>
                    <a:pt x="17" y="99"/>
                  </a:lnTo>
                  <a:lnTo>
                    <a:pt x="21" y="101"/>
                  </a:lnTo>
                  <a:lnTo>
                    <a:pt x="31" y="105"/>
                  </a:lnTo>
                  <a:lnTo>
                    <a:pt x="31" y="105"/>
                  </a:lnTo>
                  <a:lnTo>
                    <a:pt x="32" y="105"/>
                  </a:lnTo>
                  <a:lnTo>
                    <a:pt x="32" y="105"/>
                  </a:lnTo>
                  <a:lnTo>
                    <a:pt x="34" y="105"/>
                  </a:lnTo>
                  <a:lnTo>
                    <a:pt x="36" y="105"/>
                  </a:lnTo>
                  <a:lnTo>
                    <a:pt x="38" y="105"/>
                  </a:lnTo>
                  <a:lnTo>
                    <a:pt x="40" y="103"/>
                  </a:lnTo>
                  <a:lnTo>
                    <a:pt x="48" y="95"/>
                  </a:lnTo>
                  <a:lnTo>
                    <a:pt x="50" y="95"/>
                  </a:lnTo>
                  <a:lnTo>
                    <a:pt x="55" y="97"/>
                  </a:lnTo>
                  <a:lnTo>
                    <a:pt x="61" y="97"/>
                  </a:lnTo>
                  <a:lnTo>
                    <a:pt x="61" y="97"/>
                  </a:lnTo>
                  <a:lnTo>
                    <a:pt x="63" y="99"/>
                  </a:lnTo>
                  <a:lnTo>
                    <a:pt x="67" y="99"/>
                  </a:lnTo>
                  <a:lnTo>
                    <a:pt x="67" y="99"/>
                  </a:lnTo>
                  <a:lnTo>
                    <a:pt x="67" y="99"/>
                  </a:lnTo>
                  <a:lnTo>
                    <a:pt x="67" y="99"/>
                  </a:lnTo>
                  <a:lnTo>
                    <a:pt x="67" y="95"/>
                  </a:lnTo>
                  <a:lnTo>
                    <a:pt x="69" y="92"/>
                  </a:lnTo>
                  <a:lnTo>
                    <a:pt x="71" y="90"/>
                  </a:lnTo>
                  <a:lnTo>
                    <a:pt x="72" y="88"/>
                  </a:lnTo>
                  <a:lnTo>
                    <a:pt x="78" y="86"/>
                  </a:lnTo>
                  <a:lnTo>
                    <a:pt x="80" y="86"/>
                  </a:lnTo>
                  <a:lnTo>
                    <a:pt x="82" y="84"/>
                  </a:lnTo>
                  <a:lnTo>
                    <a:pt x="82" y="82"/>
                  </a:lnTo>
                  <a:lnTo>
                    <a:pt x="80" y="80"/>
                  </a:lnTo>
                  <a:close/>
                </a:path>
              </a:pathLst>
            </a:custGeom>
            <a:solidFill>
              <a:schemeClr val="tx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71" name="Freeform 20">
              <a:extLst>
                <a:ext uri="{FF2B5EF4-FFF2-40B4-BE49-F238E27FC236}">
                  <a16:creationId xmlns:a16="http://schemas.microsoft.com/office/drawing/2014/main" id="{439EF83B-B3C3-CC93-B80F-6D9169C4F804}"/>
                </a:ext>
              </a:extLst>
            </p:cNvPr>
            <p:cNvSpPr>
              <a:spLocks/>
            </p:cNvSpPr>
            <p:nvPr/>
          </p:nvSpPr>
          <p:spPr bwMode="auto">
            <a:xfrm>
              <a:off x="1240059" y="2442202"/>
              <a:ext cx="1528093" cy="1251731"/>
            </a:xfrm>
            <a:custGeom>
              <a:avLst/>
              <a:gdLst>
                <a:gd name="T0" fmla="*/ 787 w 810"/>
                <a:gd name="T1" fmla="*/ 348 h 740"/>
                <a:gd name="T2" fmla="*/ 732 w 810"/>
                <a:gd name="T3" fmla="*/ 359 h 740"/>
                <a:gd name="T4" fmla="*/ 753 w 810"/>
                <a:gd name="T5" fmla="*/ 333 h 740"/>
                <a:gd name="T6" fmla="*/ 753 w 810"/>
                <a:gd name="T7" fmla="*/ 312 h 740"/>
                <a:gd name="T8" fmla="*/ 726 w 810"/>
                <a:gd name="T9" fmla="*/ 274 h 740"/>
                <a:gd name="T10" fmla="*/ 711 w 810"/>
                <a:gd name="T11" fmla="*/ 253 h 740"/>
                <a:gd name="T12" fmla="*/ 688 w 810"/>
                <a:gd name="T13" fmla="*/ 264 h 740"/>
                <a:gd name="T14" fmla="*/ 690 w 810"/>
                <a:gd name="T15" fmla="*/ 217 h 740"/>
                <a:gd name="T16" fmla="*/ 663 w 810"/>
                <a:gd name="T17" fmla="*/ 230 h 740"/>
                <a:gd name="T18" fmla="*/ 644 w 810"/>
                <a:gd name="T19" fmla="*/ 220 h 740"/>
                <a:gd name="T20" fmla="*/ 634 w 810"/>
                <a:gd name="T21" fmla="*/ 219 h 740"/>
                <a:gd name="T22" fmla="*/ 617 w 810"/>
                <a:gd name="T23" fmla="*/ 230 h 740"/>
                <a:gd name="T24" fmla="*/ 598 w 810"/>
                <a:gd name="T25" fmla="*/ 238 h 740"/>
                <a:gd name="T26" fmla="*/ 596 w 810"/>
                <a:gd name="T27" fmla="*/ 220 h 740"/>
                <a:gd name="T28" fmla="*/ 583 w 810"/>
                <a:gd name="T29" fmla="*/ 188 h 740"/>
                <a:gd name="T30" fmla="*/ 558 w 810"/>
                <a:gd name="T31" fmla="*/ 131 h 740"/>
                <a:gd name="T32" fmla="*/ 547 w 810"/>
                <a:gd name="T33" fmla="*/ 101 h 740"/>
                <a:gd name="T34" fmla="*/ 522 w 810"/>
                <a:gd name="T35" fmla="*/ 103 h 740"/>
                <a:gd name="T36" fmla="*/ 493 w 810"/>
                <a:gd name="T37" fmla="*/ 85 h 740"/>
                <a:gd name="T38" fmla="*/ 469 w 810"/>
                <a:gd name="T39" fmla="*/ 78 h 740"/>
                <a:gd name="T40" fmla="*/ 465 w 810"/>
                <a:gd name="T41" fmla="*/ 49 h 740"/>
                <a:gd name="T42" fmla="*/ 415 w 810"/>
                <a:gd name="T43" fmla="*/ 7 h 740"/>
                <a:gd name="T44" fmla="*/ 248 w 810"/>
                <a:gd name="T45" fmla="*/ 196 h 740"/>
                <a:gd name="T46" fmla="*/ 91 w 810"/>
                <a:gd name="T47" fmla="*/ 228 h 740"/>
                <a:gd name="T48" fmla="*/ 63 w 810"/>
                <a:gd name="T49" fmla="*/ 390 h 740"/>
                <a:gd name="T50" fmla="*/ 108 w 810"/>
                <a:gd name="T51" fmla="*/ 487 h 740"/>
                <a:gd name="T52" fmla="*/ 181 w 810"/>
                <a:gd name="T53" fmla="*/ 574 h 740"/>
                <a:gd name="T54" fmla="*/ 229 w 810"/>
                <a:gd name="T55" fmla="*/ 576 h 740"/>
                <a:gd name="T56" fmla="*/ 263 w 810"/>
                <a:gd name="T57" fmla="*/ 586 h 740"/>
                <a:gd name="T58" fmla="*/ 280 w 810"/>
                <a:gd name="T59" fmla="*/ 591 h 740"/>
                <a:gd name="T60" fmla="*/ 322 w 810"/>
                <a:gd name="T61" fmla="*/ 601 h 740"/>
                <a:gd name="T62" fmla="*/ 343 w 810"/>
                <a:gd name="T63" fmla="*/ 605 h 740"/>
                <a:gd name="T64" fmla="*/ 341 w 810"/>
                <a:gd name="T65" fmla="*/ 633 h 740"/>
                <a:gd name="T66" fmla="*/ 360 w 810"/>
                <a:gd name="T67" fmla="*/ 656 h 740"/>
                <a:gd name="T68" fmla="*/ 379 w 810"/>
                <a:gd name="T69" fmla="*/ 679 h 740"/>
                <a:gd name="T70" fmla="*/ 413 w 810"/>
                <a:gd name="T71" fmla="*/ 707 h 740"/>
                <a:gd name="T72" fmla="*/ 451 w 810"/>
                <a:gd name="T73" fmla="*/ 738 h 740"/>
                <a:gd name="T74" fmla="*/ 471 w 810"/>
                <a:gd name="T75" fmla="*/ 707 h 740"/>
                <a:gd name="T76" fmla="*/ 507 w 810"/>
                <a:gd name="T77" fmla="*/ 639 h 740"/>
                <a:gd name="T78" fmla="*/ 495 w 810"/>
                <a:gd name="T79" fmla="*/ 595 h 740"/>
                <a:gd name="T80" fmla="*/ 507 w 810"/>
                <a:gd name="T81" fmla="*/ 574 h 740"/>
                <a:gd name="T82" fmla="*/ 501 w 810"/>
                <a:gd name="T83" fmla="*/ 551 h 740"/>
                <a:gd name="T84" fmla="*/ 524 w 810"/>
                <a:gd name="T85" fmla="*/ 538 h 740"/>
                <a:gd name="T86" fmla="*/ 537 w 810"/>
                <a:gd name="T87" fmla="*/ 553 h 740"/>
                <a:gd name="T88" fmla="*/ 528 w 810"/>
                <a:gd name="T89" fmla="*/ 563 h 740"/>
                <a:gd name="T90" fmla="*/ 591 w 810"/>
                <a:gd name="T91" fmla="*/ 591 h 740"/>
                <a:gd name="T92" fmla="*/ 581 w 810"/>
                <a:gd name="T93" fmla="*/ 629 h 740"/>
                <a:gd name="T94" fmla="*/ 556 w 810"/>
                <a:gd name="T95" fmla="*/ 648 h 740"/>
                <a:gd name="T96" fmla="*/ 585 w 810"/>
                <a:gd name="T97" fmla="*/ 654 h 740"/>
                <a:gd name="T98" fmla="*/ 619 w 810"/>
                <a:gd name="T99" fmla="*/ 607 h 740"/>
                <a:gd name="T100" fmla="*/ 659 w 810"/>
                <a:gd name="T101" fmla="*/ 612 h 740"/>
                <a:gd name="T102" fmla="*/ 678 w 810"/>
                <a:gd name="T103" fmla="*/ 607 h 740"/>
                <a:gd name="T104" fmla="*/ 688 w 810"/>
                <a:gd name="T105" fmla="*/ 593 h 740"/>
                <a:gd name="T106" fmla="*/ 684 w 810"/>
                <a:gd name="T107" fmla="*/ 553 h 740"/>
                <a:gd name="T108" fmla="*/ 728 w 810"/>
                <a:gd name="T109" fmla="*/ 529 h 740"/>
                <a:gd name="T110" fmla="*/ 728 w 810"/>
                <a:gd name="T111" fmla="*/ 500 h 740"/>
                <a:gd name="T112" fmla="*/ 688 w 810"/>
                <a:gd name="T113" fmla="*/ 510 h 740"/>
                <a:gd name="T114" fmla="*/ 646 w 810"/>
                <a:gd name="T115" fmla="*/ 468 h 740"/>
                <a:gd name="T116" fmla="*/ 676 w 810"/>
                <a:gd name="T117" fmla="*/ 439 h 740"/>
                <a:gd name="T118" fmla="*/ 720 w 810"/>
                <a:gd name="T119" fmla="*/ 409 h 740"/>
                <a:gd name="T120" fmla="*/ 770 w 810"/>
                <a:gd name="T121" fmla="*/ 376 h 740"/>
                <a:gd name="T122" fmla="*/ 802 w 810"/>
                <a:gd name="T123" fmla="*/ 356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10" h="740">
                  <a:moveTo>
                    <a:pt x="810" y="344"/>
                  </a:moveTo>
                  <a:lnTo>
                    <a:pt x="810" y="344"/>
                  </a:lnTo>
                  <a:lnTo>
                    <a:pt x="810" y="344"/>
                  </a:lnTo>
                  <a:lnTo>
                    <a:pt x="808" y="344"/>
                  </a:lnTo>
                  <a:lnTo>
                    <a:pt x="808" y="342"/>
                  </a:lnTo>
                  <a:lnTo>
                    <a:pt x="806" y="342"/>
                  </a:lnTo>
                  <a:lnTo>
                    <a:pt x="804" y="342"/>
                  </a:lnTo>
                  <a:lnTo>
                    <a:pt x="804" y="342"/>
                  </a:lnTo>
                  <a:lnTo>
                    <a:pt x="802" y="342"/>
                  </a:lnTo>
                  <a:lnTo>
                    <a:pt x="802" y="342"/>
                  </a:lnTo>
                  <a:lnTo>
                    <a:pt x="798" y="342"/>
                  </a:lnTo>
                  <a:lnTo>
                    <a:pt x="796" y="342"/>
                  </a:lnTo>
                  <a:lnTo>
                    <a:pt x="796" y="342"/>
                  </a:lnTo>
                  <a:lnTo>
                    <a:pt x="794" y="344"/>
                  </a:lnTo>
                  <a:lnTo>
                    <a:pt x="794" y="344"/>
                  </a:lnTo>
                  <a:lnTo>
                    <a:pt x="794" y="344"/>
                  </a:lnTo>
                  <a:lnTo>
                    <a:pt x="794" y="346"/>
                  </a:lnTo>
                  <a:lnTo>
                    <a:pt x="793" y="346"/>
                  </a:lnTo>
                  <a:lnTo>
                    <a:pt x="793" y="346"/>
                  </a:lnTo>
                  <a:lnTo>
                    <a:pt x="791" y="346"/>
                  </a:lnTo>
                  <a:lnTo>
                    <a:pt x="791" y="346"/>
                  </a:lnTo>
                  <a:lnTo>
                    <a:pt x="789" y="346"/>
                  </a:lnTo>
                  <a:lnTo>
                    <a:pt x="789" y="346"/>
                  </a:lnTo>
                  <a:lnTo>
                    <a:pt x="789" y="348"/>
                  </a:lnTo>
                  <a:lnTo>
                    <a:pt x="789" y="350"/>
                  </a:lnTo>
                  <a:lnTo>
                    <a:pt x="789" y="350"/>
                  </a:lnTo>
                  <a:lnTo>
                    <a:pt x="789" y="350"/>
                  </a:lnTo>
                  <a:lnTo>
                    <a:pt x="789" y="350"/>
                  </a:lnTo>
                  <a:lnTo>
                    <a:pt x="787" y="350"/>
                  </a:lnTo>
                  <a:lnTo>
                    <a:pt x="787" y="350"/>
                  </a:lnTo>
                  <a:lnTo>
                    <a:pt x="787" y="348"/>
                  </a:lnTo>
                  <a:lnTo>
                    <a:pt x="787" y="348"/>
                  </a:lnTo>
                  <a:lnTo>
                    <a:pt x="787" y="346"/>
                  </a:lnTo>
                  <a:lnTo>
                    <a:pt x="785" y="346"/>
                  </a:lnTo>
                  <a:lnTo>
                    <a:pt x="779" y="346"/>
                  </a:lnTo>
                  <a:lnTo>
                    <a:pt x="777" y="346"/>
                  </a:lnTo>
                  <a:lnTo>
                    <a:pt x="775" y="346"/>
                  </a:lnTo>
                  <a:lnTo>
                    <a:pt x="775" y="346"/>
                  </a:lnTo>
                  <a:lnTo>
                    <a:pt x="774" y="346"/>
                  </a:lnTo>
                  <a:lnTo>
                    <a:pt x="774" y="346"/>
                  </a:lnTo>
                  <a:lnTo>
                    <a:pt x="774" y="346"/>
                  </a:lnTo>
                  <a:lnTo>
                    <a:pt x="774" y="346"/>
                  </a:lnTo>
                  <a:lnTo>
                    <a:pt x="772" y="346"/>
                  </a:lnTo>
                  <a:lnTo>
                    <a:pt x="772" y="346"/>
                  </a:lnTo>
                  <a:lnTo>
                    <a:pt x="772" y="344"/>
                  </a:lnTo>
                  <a:lnTo>
                    <a:pt x="766" y="344"/>
                  </a:lnTo>
                  <a:lnTo>
                    <a:pt x="762" y="344"/>
                  </a:lnTo>
                  <a:lnTo>
                    <a:pt x="762" y="344"/>
                  </a:lnTo>
                  <a:lnTo>
                    <a:pt x="760" y="344"/>
                  </a:lnTo>
                  <a:lnTo>
                    <a:pt x="758" y="344"/>
                  </a:lnTo>
                  <a:lnTo>
                    <a:pt x="756" y="348"/>
                  </a:lnTo>
                  <a:lnTo>
                    <a:pt x="754" y="348"/>
                  </a:lnTo>
                  <a:lnTo>
                    <a:pt x="741" y="354"/>
                  </a:lnTo>
                  <a:lnTo>
                    <a:pt x="741" y="354"/>
                  </a:lnTo>
                  <a:lnTo>
                    <a:pt x="741" y="354"/>
                  </a:lnTo>
                  <a:lnTo>
                    <a:pt x="739" y="354"/>
                  </a:lnTo>
                  <a:lnTo>
                    <a:pt x="739" y="354"/>
                  </a:lnTo>
                  <a:lnTo>
                    <a:pt x="737" y="354"/>
                  </a:lnTo>
                  <a:lnTo>
                    <a:pt x="737" y="357"/>
                  </a:lnTo>
                  <a:lnTo>
                    <a:pt x="735" y="357"/>
                  </a:lnTo>
                  <a:lnTo>
                    <a:pt x="735" y="359"/>
                  </a:lnTo>
                  <a:lnTo>
                    <a:pt x="732" y="359"/>
                  </a:lnTo>
                  <a:lnTo>
                    <a:pt x="732" y="359"/>
                  </a:lnTo>
                  <a:lnTo>
                    <a:pt x="732" y="359"/>
                  </a:lnTo>
                  <a:lnTo>
                    <a:pt x="732" y="359"/>
                  </a:lnTo>
                  <a:lnTo>
                    <a:pt x="732" y="356"/>
                  </a:lnTo>
                  <a:lnTo>
                    <a:pt x="732" y="354"/>
                  </a:lnTo>
                  <a:lnTo>
                    <a:pt x="732" y="352"/>
                  </a:lnTo>
                  <a:lnTo>
                    <a:pt x="732" y="352"/>
                  </a:lnTo>
                  <a:lnTo>
                    <a:pt x="732" y="350"/>
                  </a:lnTo>
                  <a:lnTo>
                    <a:pt x="734" y="350"/>
                  </a:lnTo>
                  <a:lnTo>
                    <a:pt x="734" y="348"/>
                  </a:lnTo>
                  <a:lnTo>
                    <a:pt x="737" y="346"/>
                  </a:lnTo>
                  <a:lnTo>
                    <a:pt x="753" y="338"/>
                  </a:lnTo>
                  <a:lnTo>
                    <a:pt x="754" y="338"/>
                  </a:lnTo>
                  <a:lnTo>
                    <a:pt x="760" y="338"/>
                  </a:lnTo>
                  <a:lnTo>
                    <a:pt x="760" y="337"/>
                  </a:lnTo>
                  <a:lnTo>
                    <a:pt x="762" y="337"/>
                  </a:lnTo>
                  <a:lnTo>
                    <a:pt x="762" y="335"/>
                  </a:lnTo>
                  <a:lnTo>
                    <a:pt x="760" y="335"/>
                  </a:lnTo>
                  <a:lnTo>
                    <a:pt x="760" y="335"/>
                  </a:lnTo>
                  <a:lnTo>
                    <a:pt x="760" y="335"/>
                  </a:lnTo>
                  <a:lnTo>
                    <a:pt x="758" y="335"/>
                  </a:lnTo>
                  <a:lnTo>
                    <a:pt x="758" y="335"/>
                  </a:lnTo>
                  <a:lnTo>
                    <a:pt x="758" y="337"/>
                  </a:lnTo>
                  <a:lnTo>
                    <a:pt x="758" y="337"/>
                  </a:lnTo>
                  <a:lnTo>
                    <a:pt x="756" y="337"/>
                  </a:lnTo>
                  <a:lnTo>
                    <a:pt x="756" y="335"/>
                  </a:lnTo>
                  <a:lnTo>
                    <a:pt x="754" y="333"/>
                  </a:lnTo>
                  <a:lnTo>
                    <a:pt x="754" y="333"/>
                  </a:lnTo>
                  <a:lnTo>
                    <a:pt x="754" y="333"/>
                  </a:lnTo>
                  <a:lnTo>
                    <a:pt x="754" y="333"/>
                  </a:lnTo>
                  <a:lnTo>
                    <a:pt x="753" y="333"/>
                  </a:lnTo>
                  <a:lnTo>
                    <a:pt x="753" y="333"/>
                  </a:lnTo>
                  <a:lnTo>
                    <a:pt x="753" y="333"/>
                  </a:lnTo>
                  <a:lnTo>
                    <a:pt x="753" y="333"/>
                  </a:lnTo>
                  <a:lnTo>
                    <a:pt x="753" y="333"/>
                  </a:lnTo>
                  <a:lnTo>
                    <a:pt x="751" y="333"/>
                  </a:lnTo>
                  <a:lnTo>
                    <a:pt x="747" y="333"/>
                  </a:lnTo>
                  <a:lnTo>
                    <a:pt x="745" y="333"/>
                  </a:lnTo>
                  <a:lnTo>
                    <a:pt x="745" y="333"/>
                  </a:lnTo>
                  <a:lnTo>
                    <a:pt x="745" y="331"/>
                  </a:lnTo>
                  <a:lnTo>
                    <a:pt x="745" y="329"/>
                  </a:lnTo>
                  <a:lnTo>
                    <a:pt x="745" y="329"/>
                  </a:lnTo>
                  <a:lnTo>
                    <a:pt x="743" y="329"/>
                  </a:lnTo>
                  <a:lnTo>
                    <a:pt x="743" y="329"/>
                  </a:lnTo>
                  <a:lnTo>
                    <a:pt x="743" y="329"/>
                  </a:lnTo>
                  <a:lnTo>
                    <a:pt x="741" y="329"/>
                  </a:lnTo>
                  <a:lnTo>
                    <a:pt x="741" y="329"/>
                  </a:lnTo>
                  <a:lnTo>
                    <a:pt x="741" y="327"/>
                  </a:lnTo>
                  <a:lnTo>
                    <a:pt x="741" y="327"/>
                  </a:lnTo>
                  <a:lnTo>
                    <a:pt x="741" y="327"/>
                  </a:lnTo>
                  <a:lnTo>
                    <a:pt x="741" y="327"/>
                  </a:lnTo>
                  <a:lnTo>
                    <a:pt x="741" y="325"/>
                  </a:lnTo>
                  <a:lnTo>
                    <a:pt x="743" y="325"/>
                  </a:lnTo>
                  <a:lnTo>
                    <a:pt x="749" y="323"/>
                  </a:lnTo>
                  <a:lnTo>
                    <a:pt x="749" y="323"/>
                  </a:lnTo>
                  <a:lnTo>
                    <a:pt x="751" y="321"/>
                  </a:lnTo>
                  <a:lnTo>
                    <a:pt x="751" y="321"/>
                  </a:lnTo>
                  <a:lnTo>
                    <a:pt x="751" y="319"/>
                  </a:lnTo>
                  <a:lnTo>
                    <a:pt x="753" y="319"/>
                  </a:lnTo>
                  <a:lnTo>
                    <a:pt x="754" y="317"/>
                  </a:lnTo>
                  <a:lnTo>
                    <a:pt x="756" y="316"/>
                  </a:lnTo>
                  <a:lnTo>
                    <a:pt x="754" y="314"/>
                  </a:lnTo>
                  <a:lnTo>
                    <a:pt x="754" y="314"/>
                  </a:lnTo>
                  <a:lnTo>
                    <a:pt x="754" y="314"/>
                  </a:lnTo>
                  <a:lnTo>
                    <a:pt x="754" y="314"/>
                  </a:lnTo>
                  <a:lnTo>
                    <a:pt x="753" y="312"/>
                  </a:lnTo>
                  <a:lnTo>
                    <a:pt x="753" y="310"/>
                  </a:lnTo>
                  <a:lnTo>
                    <a:pt x="753" y="308"/>
                  </a:lnTo>
                  <a:lnTo>
                    <a:pt x="751" y="308"/>
                  </a:lnTo>
                  <a:lnTo>
                    <a:pt x="751" y="306"/>
                  </a:lnTo>
                  <a:lnTo>
                    <a:pt x="751" y="304"/>
                  </a:lnTo>
                  <a:lnTo>
                    <a:pt x="751" y="304"/>
                  </a:lnTo>
                  <a:lnTo>
                    <a:pt x="751" y="302"/>
                  </a:lnTo>
                  <a:lnTo>
                    <a:pt x="751" y="302"/>
                  </a:lnTo>
                  <a:lnTo>
                    <a:pt x="749" y="302"/>
                  </a:lnTo>
                  <a:lnTo>
                    <a:pt x="747" y="302"/>
                  </a:lnTo>
                  <a:lnTo>
                    <a:pt x="747" y="302"/>
                  </a:lnTo>
                  <a:lnTo>
                    <a:pt x="747" y="302"/>
                  </a:lnTo>
                  <a:lnTo>
                    <a:pt x="741" y="298"/>
                  </a:lnTo>
                  <a:lnTo>
                    <a:pt x="741" y="297"/>
                  </a:lnTo>
                  <a:lnTo>
                    <a:pt x="739" y="297"/>
                  </a:lnTo>
                  <a:lnTo>
                    <a:pt x="737" y="297"/>
                  </a:lnTo>
                  <a:lnTo>
                    <a:pt x="737" y="297"/>
                  </a:lnTo>
                  <a:lnTo>
                    <a:pt x="737" y="297"/>
                  </a:lnTo>
                  <a:lnTo>
                    <a:pt x="735" y="295"/>
                  </a:lnTo>
                  <a:lnTo>
                    <a:pt x="735" y="295"/>
                  </a:lnTo>
                  <a:lnTo>
                    <a:pt x="734" y="293"/>
                  </a:lnTo>
                  <a:lnTo>
                    <a:pt x="734" y="289"/>
                  </a:lnTo>
                  <a:lnTo>
                    <a:pt x="732" y="287"/>
                  </a:lnTo>
                  <a:lnTo>
                    <a:pt x="732" y="285"/>
                  </a:lnTo>
                  <a:lnTo>
                    <a:pt x="726" y="281"/>
                  </a:lnTo>
                  <a:lnTo>
                    <a:pt x="726" y="279"/>
                  </a:lnTo>
                  <a:lnTo>
                    <a:pt x="726" y="278"/>
                  </a:lnTo>
                  <a:lnTo>
                    <a:pt x="726" y="278"/>
                  </a:lnTo>
                  <a:lnTo>
                    <a:pt x="726" y="276"/>
                  </a:lnTo>
                  <a:lnTo>
                    <a:pt x="726" y="276"/>
                  </a:lnTo>
                  <a:lnTo>
                    <a:pt x="726" y="274"/>
                  </a:lnTo>
                  <a:lnTo>
                    <a:pt x="726" y="274"/>
                  </a:lnTo>
                  <a:lnTo>
                    <a:pt x="724" y="274"/>
                  </a:lnTo>
                  <a:lnTo>
                    <a:pt x="724" y="272"/>
                  </a:lnTo>
                  <a:lnTo>
                    <a:pt x="724" y="272"/>
                  </a:lnTo>
                  <a:lnTo>
                    <a:pt x="724" y="272"/>
                  </a:lnTo>
                  <a:lnTo>
                    <a:pt x="724" y="270"/>
                  </a:lnTo>
                  <a:lnTo>
                    <a:pt x="726" y="270"/>
                  </a:lnTo>
                  <a:lnTo>
                    <a:pt x="726" y="270"/>
                  </a:lnTo>
                  <a:lnTo>
                    <a:pt x="726" y="268"/>
                  </a:lnTo>
                  <a:lnTo>
                    <a:pt x="726" y="266"/>
                  </a:lnTo>
                  <a:lnTo>
                    <a:pt x="726" y="264"/>
                  </a:lnTo>
                  <a:lnTo>
                    <a:pt x="724" y="264"/>
                  </a:lnTo>
                  <a:lnTo>
                    <a:pt x="724" y="264"/>
                  </a:lnTo>
                  <a:lnTo>
                    <a:pt x="724" y="262"/>
                  </a:lnTo>
                  <a:lnTo>
                    <a:pt x="722" y="262"/>
                  </a:lnTo>
                  <a:lnTo>
                    <a:pt x="722" y="262"/>
                  </a:lnTo>
                  <a:lnTo>
                    <a:pt x="722" y="262"/>
                  </a:lnTo>
                  <a:lnTo>
                    <a:pt x="722" y="262"/>
                  </a:lnTo>
                  <a:lnTo>
                    <a:pt x="722" y="259"/>
                  </a:lnTo>
                  <a:lnTo>
                    <a:pt x="722" y="257"/>
                  </a:lnTo>
                  <a:lnTo>
                    <a:pt x="720" y="253"/>
                  </a:lnTo>
                  <a:lnTo>
                    <a:pt x="718" y="253"/>
                  </a:lnTo>
                  <a:lnTo>
                    <a:pt x="716" y="255"/>
                  </a:lnTo>
                  <a:lnTo>
                    <a:pt x="716" y="255"/>
                  </a:lnTo>
                  <a:lnTo>
                    <a:pt x="716" y="255"/>
                  </a:lnTo>
                  <a:lnTo>
                    <a:pt x="716" y="255"/>
                  </a:lnTo>
                  <a:lnTo>
                    <a:pt x="714" y="253"/>
                  </a:lnTo>
                  <a:lnTo>
                    <a:pt x="714" y="253"/>
                  </a:lnTo>
                  <a:lnTo>
                    <a:pt x="714" y="251"/>
                  </a:lnTo>
                  <a:lnTo>
                    <a:pt x="713" y="251"/>
                  </a:lnTo>
                  <a:lnTo>
                    <a:pt x="713" y="253"/>
                  </a:lnTo>
                  <a:lnTo>
                    <a:pt x="713" y="253"/>
                  </a:lnTo>
                  <a:lnTo>
                    <a:pt x="711" y="253"/>
                  </a:lnTo>
                  <a:lnTo>
                    <a:pt x="711" y="253"/>
                  </a:lnTo>
                  <a:lnTo>
                    <a:pt x="711" y="253"/>
                  </a:lnTo>
                  <a:lnTo>
                    <a:pt x="711" y="251"/>
                  </a:lnTo>
                  <a:lnTo>
                    <a:pt x="709" y="251"/>
                  </a:lnTo>
                  <a:lnTo>
                    <a:pt x="709" y="253"/>
                  </a:lnTo>
                  <a:lnTo>
                    <a:pt x="707" y="255"/>
                  </a:lnTo>
                  <a:lnTo>
                    <a:pt x="705" y="255"/>
                  </a:lnTo>
                  <a:lnTo>
                    <a:pt x="705" y="255"/>
                  </a:lnTo>
                  <a:lnTo>
                    <a:pt x="701" y="253"/>
                  </a:lnTo>
                  <a:lnTo>
                    <a:pt x="699" y="253"/>
                  </a:lnTo>
                  <a:lnTo>
                    <a:pt x="699" y="253"/>
                  </a:lnTo>
                  <a:lnTo>
                    <a:pt x="697" y="255"/>
                  </a:lnTo>
                  <a:lnTo>
                    <a:pt x="697" y="255"/>
                  </a:lnTo>
                  <a:lnTo>
                    <a:pt x="699" y="257"/>
                  </a:lnTo>
                  <a:lnTo>
                    <a:pt x="701" y="259"/>
                  </a:lnTo>
                  <a:lnTo>
                    <a:pt x="701" y="259"/>
                  </a:lnTo>
                  <a:lnTo>
                    <a:pt x="701" y="259"/>
                  </a:lnTo>
                  <a:lnTo>
                    <a:pt x="701" y="260"/>
                  </a:lnTo>
                  <a:lnTo>
                    <a:pt x="697" y="260"/>
                  </a:lnTo>
                  <a:lnTo>
                    <a:pt x="695" y="260"/>
                  </a:lnTo>
                  <a:lnTo>
                    <a:pt x="693" y="262"/>
                  </a:lnTo>
                  <a:lnTo>
                    <a:pt x="693" y="264"/>
                  </a:lnTo>
                  <a:lnTo>
                    <a:pt x="692" y="266"/>
                  </a:lnTo>
                  <a:lnTo>
                    <a:pt x="690" y="266"/>
                  </a:lnTo>
                  <a:lnTo>
                    <a:pt x="686" y="266"/>
                  </a:lnTo>
                  <a:lnTo>
                    <a:pt x="686" y="266"/>
                  </a:lnTo>
                  <a:lnTo>
                    <a:pt x="686" y="266"/>
                  </a:lnTo>
                  <a:lnTo>
                    <a:pt x="684" y="266"/>
                  </a:lnTo>
                  <a:lnTo>
                    <a:pt x="684" y="264"/>
                  </a:lnTo>
                  <a:lnTo>
                    <a:pt x="686" y="264"/>
                  </a:lnTo>
                  <a:lnTo>
                    <a:pt x="686" y="264"/>
                  </a:lnTo>
                  <a:lnTo>
                    <a:pt x="688" y="264"/>
                  </a:lnTo>
                  <a:lnTo>
                    <a:pt x="688" y="262"/>
                  </a:lnTo>
                  <a:lnTo>
                    <a:pt x="688" y="262"/>
                  </a:lnTo>
                  <a:lnTo>
                    <a:pt x="688" y="262"/>
                  </a:lnTo>
                  <a:lnTo>
                    <a:pt x="686" y="262"/>
                  </a:lnTo>
                  <a:lnTo>
                    <a:pt x="686" y="260"/>
                  </a:lnTo>
                  <a:lnTo>
                    <a:pt x="686" y="260"/>
                  </a:lnTo>
                  <a:lnTo>
                    <a:pt x="686" y="259"/>
                  </a:lnTo>
                  <a:lnTo>
                    <a:pt x="688" y="253"/>
                  </a:lnTo>
                  <a:lnTo>
                    <a:pt x="688" y="251"/>
                  </a:lnTo>
                  <a:lnTo>
                    <a:pt x="690" y="249"/>
                  </a:lnTo>
                  <a:lnTo>
                    <a:pt x="690" y="249"/>
                  </a:lnTo>
                  <a:lnTo>
                    <a:pt x="690" y="247"/>
                  </a:lnTo>
                  <a:lnTo>
                    <a:pt x="690" y="247"/>
                  </a:lnTo>
                  <a:lnTo>
                    <a:pt x="690" y="243"/>
                  </a:lnTo>
                  <a:lnTo>
                    <a:pt x="690" y="241"/>
                  </a:lnTo>
                  <a:lnTo>
                    <a:pt x="690" y="241"/>
                  </a:lnTo>
                  <a:lnTo>
                    <a:pt x="690" y="240"/>
                  </a:lnTo>
                  <a:lnTo>
                    <a:pt x="690" y="238"/>
                  </a:lnTo>
                  <a:lnTo>
                    <a:pt x="690" y="238"/>
                  </a:lnTo>
                  <a:lnTo>
                    <a:pt x="690" y="236"/>
                  </a:lnTo>
                  <a:lnTo>
                    <a:pt x="690" y="236"/>
                  </a:lnTo>
                  <a:lnTo>
                    <a:pt x="690" y="234"/>
                  </a:lnTo>
                  <a:lnTo>
                    <a:pt x="690" y="234"/>
                  </a:lnTo>
                  <a:lnTo>
                    <a:pt x="688" y="234"/>
                  </a:lnTo>
                  <a:lnTo>
                    <a:pt x="688" y="232"/>
                  </a:lnTo>
                  <a:lnTo>
                    <a:pt x="688" y="230"/>
                  </a:lnTo>
                  <a:lnTo>
                    <a:pt x="688" y="228"/>
                  </a:lnTo>
                  <a:lnTo>
                    <a:pt x="688" y="226"/>
                  </a:lnTo>
                  <a:lnTo>
                    <a:pt x="690" y="220"/>
                  </a:lnTo>
                  <a:lnTo>
                    <a:pt x="690" y="219"/>
                  </a:lnTo>
                  <a:lnTo>
                    <a:pt x="690" y="217"/>
                  </a:lnTo>
                  <a:lnTo>
                    <a:pt x="690" y="217"/>
                  </a:lnTo>
                  <a:lnTo>
                    <a:pt x="688" y="215"/>
                  </a:lnTo>
                  <a:lnTo>
                    <a:pt x="684" y="213"/>
                  </a:lnTo>
                  <a:lnTo>
                    <a:pt x="684" y="211"/>
                  </a:lnTo>
                  <a:lnTo>
                    <a:pt x="682" y="209"/>
                  </a:lnTo>
                  <a:lnTo>
                    <a:pt x="682" y="209"/>
                  </a:lnTo>
                  <a:lnTo>
                    <a:pt x="682" y="209"/>
                  </a:lnTo>
                  <a:lnTo>
                    <a:pt x="680" y="209"/>
                  </a:lnTo>
                  <a:lnTo>
                    <a:pt x="680" y="209"/>
                  </a:lnTo>
                  <a:lnTo>
                    <a:pt x="680" y="209"/>
                  </a:lnTo>
                  <a:lnTo>
                    <a:pt x="678" y="209"/>
                  </a:lnTo>
                  <a:lnTo>
                    <a:pt x="676" y="209"/>
                  </a:lnTo>
                  <a:lnTo>
                    <a:pt x="676" y="211"/>
                  </a:lnTo>
                  <a:lnTo>
                    <a:pt x="676" y="211"/>
                  </a:lnTo>
                  <a:lnTo>
                    <a:pt x="674" y="213"/>
                  </a:lnTo>
                  <a:lnTo>
                    <a:pt x="673" y="217"/>
                  </a:lnTo>
                  <a:lnTo>
                    <a:pt x="671" y="217"/>
                  </a:lnTo>
                  <a:lnTo>
                    <a:pt x="671" y="219"/>
                  </a:lnTo>
                  <a:lnTo>
                    <a:pt x="669" y="219"/>
                  </a:lnTo>
                  <a:lnTo>
                    <a:pt x="667" y="220"/>
                  </a:lnTo>
                  <a:lnTo>
                    <a:pt x="667" y="220"/>
                  </a:lnTo>
                  <a:lnTo>
                    <a:pt x="665" y="220"/>
                  </a:lnTo>
                  <a:lnTo>
                    <a:pt x="665" y="222"/>
                  </a:lnTo>
                  <a:lnTo>
                    <a:pt x="663" y="222"/>
                  </a:lnTo>
                  <a:lnTo>
                    <a:pt x="663" y="222"/>
                  </a:lnTo>
                  <a:lnTo>
                    <a:pt x="663" y="224"/>
                  </a:lnTo>
                  <a:lnTo>
                    <a:pt x="661" y="224"/>
                  </a:lnTo>
                  <a:lnTo>
                    <a:pt x="661" y="224"/>
                  </a:lnTo>
                  <a:lnTo>
                    <a:pt x="661" y="226"/>
                  </a:lnTo>
                  <a:lnTo>
                    <a:pt x="661" y="226"/>
                  </a:lnTo>
                  <a:lnTo>
                    <a:pt x="663" y="228"/>
                  </a:lnTo>
                  <a:lnTo>
                    <a:pt x="663" y="230"/>
                  </a:lnTo>
                  <a:lnTo>
                    <a:pt x="663" y="230"/>
                  </a:lnTo>
                  <a:lnTo>
                    <a:pt x="663" y="230"/>
                  </a:lnTo>
                  <a:lnTo>
                    <a:pt x="663" y="232"/>
                  </a:lnTo>
                  <a:lnTo>
                    <a:pt x="661" y="232"/>
                  </a:lnTo>
                  <a:lnTo>
                    <a:pt x="659" y="232"/>
                  </a:lnTo>
                  <a:lnTo>
                    <a:pt x="659" y="232"/>
                  </a:lnTo>
                  <a:lnTo>
                    <a:pt x="657" y="232"/>
                  </a:lnTo>
                  <a:lnTo>
                    <a:pt x="657" y="232"/>
                  </a:lnTo>
                  <a:lnTo>
                    <a:pt x="657" y="234"/>
                  </a:lnTo>
                  <a:lnTo>
                    <a:pt x="655" y="236"/>
                  </a:lnTo>
                  <a:lnTo>
                    <a:pt x="653" y="236"/>
                  </a:lnTo>
                  <a:lnTo>
                    <a:pt x="653" y="236"/>
                  </a:lnTo>
                  <a:lnTo>
                    <a:pt x="653" y="236"/>
                  </a:lnTo>
                  <a:lnTo>
                    <a:pt x="652" y="234"/>
                  </a:lnTo>
                  <a:lnTo>
                    <a:pt x="652" y="234"/>
                  </a:lnTo>
                  <a:lnTo>
                    <a:pt x="652" y="230"/>
                  </a:lnTo>
                  <a:lnTo>
                    <a:pt x="652" y="228"/>
                  </a:lnTo>
                  <a:lnTo>
                    <a:pt x="650" y="228"/>
                  </a:lnTo>
                  <a:lnTo>
                    <a:pt x="650" y="228"/>
                  </a:lnTo>
                  <a:lnTo>
                    <a:pt x="648" y="228"/>
                  </a:lnTo>
                  <a:lnTo>
                    <a:pt x="648" y="228"/>
                  </a:lnTo>
                  <a:lnTo>
                    <a:pt x="644" y="226"/>
                  </a:lnTo>
                  <a:lnTo>
                    <a:pt x="644" y="226"/>
                  </a:lnTo>
                  <a:lnTo>
                    <a:pt x="644" y="226"/>
                  </a:lnTo>
                  <a:lnTo>
                    <a:pt x="644" y="224"/>
                  </a:lnTo>
                  <a:lnTo>
                    <a:pt x="646" y="224"/>
                  </a:lnTo>
                  <a:lnTo>
                    <a:pt x="646" y="224"/>
                  </a:lnTo>
                  <a:lnTo>
                    <a:pt x="646" y="224"/>
                  </a:lnTo>
                  <a:lnTo>
                    <a:pt x="646" y="224"/>
                  </a:lnTo>
                  <a:lnTo>
                    <a:pt x="646" y="222"/>
                  </a:lnTo>
                  <a:lnTo>
                    <a:pt x="644" y="222"/>
                  </a:lnTo>
                  <a:lnTo>
                    <a:pt x="644" y="220"/>
                  </a:lnTo>
                  <a:lnTo>
                    <a:pt x="644" y="220"/>
                  </a:lnTo>
                  <a:lnTo>
                    <a:pt x="644" y="220"/>
                  </a:lnTo>
                  <a:lnTo>
                    <a:pt x="644" y="220"/>
                  </a:lnTo>
                  <a:lnTo>
                    <a:pt x="644" y="220"/>
                  </a:lnTo>
                  <a:lnTo>
                    <a:pt x="646" y="220"/>
                  </a:lnTo>
                  <a:lnTo>
                    <a:pt x="646" y="220"/>
                  </a:lnTo>
                  <a:lnTo>
                    <a:pt x="648" y="220"/>
                  </a:lnTo>
                  <a:lnTo>
                    <a:pt x="648" y="220"/>
                  </a:lnTo>
                  <a:lnTo>
                    <a:pt x="648" y="220"/>
                  </a:lnTo>
                  <a:lnTo>
                    <a:pt x="646" y="219"/>
                  </a:lnTo>
                  <a:lnTo>
                    <a:pt x="644" y="215"/>
                  </a:lnTo>
                  <a:lnTo>
                    <a:pt x="644" y="215"/>
                  </a:lnTo>
                  <a:lnTo>
                    <a:pt x="642" y="215"/>
                  </a:lnTo>
                  <a:lnTo>
                    <a:pt x="640" y="215"/>
                  </a:lnTo>
                  <a:lnTo>
                    <a:pt x="636" y="217"/>
                  </a:lnTo>
                  <a:lnTo>
                    <a:pt x="636" y="217"/>
                  </a:lnTo>
                  <a:lnTo>
                    <a:pt x="636" y="217"/>
                  </a:lnTo>
                  <a:lnTo>
                    <a:pt x="634" y="215"/>
                  </a:lnTo>
                  <a:lnTo>
                    <a:pt x="634" y="215"/>
                  </a:lnTo>
                  <a:lnTo>
                    <a:pt x="634" y="215"/>
                  </a:lnTo>
                  <a:lnTo>
                    <a:pt x="634" y="213"/>
                  </a:lnTo>
                  <a:lnTo>
                    <a:pt x="634" y="213"/>
                  </a:lnTo>
                  <a:lnTo>
                    <a:pt x="633" y="213"/>
                  </a:lnTo>
                  <a:lnTo>
                    <a:pt x="633" y="213"/>
                  </a:lnTo>
                  <a:lnTo>
                    <a:pt x="631" y="211"/>
                  </a:lnTo>
                  <a:lnTo>
                    <a:pt x="631" y="211"/>
                  </a:lnTo>
                  <a:lnTo>
                    <a:pt x="631" y="213"/>
                  </a:lnTo>
                  <a:lnTo>
                    <a:pt x="631" y="215"/>
                  </a:lnTo>
                  <a:lnTo>
                    <a:pt x="631" y="215"/>
                  </a:lnTo>
                  <a:lnTo>
                    <a:pt x="631" y="217"/>
                  </a:lnTo>
                  <a:lnTo>
                    <a:pt x="633" y="217"/>
                  </a:lnTo>
                  <a:lnTo>
                    <a:pt x="634" y="217"/>
                  </a:lnTo>
                  <a:lnTo>
                    <a:pt x="634" y="219"/>
                  </a:lnTo>
                  <a:lnTo>
                    <a:pt x="634" y="219"/>
                  </a:lnTo>
                  <a:lnTo>
                    <a:pt x="633" y="219"/>
                  </a:lnTo>
                  <a:lnTo>
                    <a:pt x="633" y="220"/>
                  </a:lnTo>
                  <a:lnTo>
                    <a:pt x="631" y="220"/>
                  </a:lnTo>
                  <a:lnTo>
                    <a:pt x="631" y="220"/>
                  </a:lnTo>
                  <a:lnTo>
                    <a:pt x="631" y="220"/>
                  </a:lnTo>
                  <a:lnTo>
                    <a:pt x="631" y="222"/>
                  </a:lnTo>
                  <a:lnTo>
                    <a:pt x="633" y="222"/>
                  </a:lnTo>
                  <a:lnTo>
                    <a:pt x="634" y="222"/>
                  </a:lnTo>
                  <a:lnTo>
                    <a:pt x="634" y="224"/>
                  </a:lnTo>
                  <a:lnTo>
                    <a:pt x="634" y="224"/>
                  </a:lnTo>
                  <a:lnTo>
                    <a:pt x="634" y="226"/>
                  </a:lnTo>
                  <a:lnTo>
                    <a:pt x="633" y="228"/>
                  </a:lnTo>
                  <a:lnTo>
                    <a:pt x="633" y="228"/>
                  </a:lnTo>
                  <a:lnTo>
                    <a:pt x="631" y="228"/>
                  </a:lnTo>
                  <a:lnTo>
                    <a:pt x="627" y="224"/>
                  </a:lnTo>
                  <a:lnTo>
                    <a:pt x="627" y="224"/>
                  </a:lnTo>
                  <a:lnTo>
                    <a:pt x="625" y="224"/>
                  </a:lnTo>
                  <a:lnTo>
                    <a:pt x="625" y="224"/>
                  </a:lnTo>
                  <a:lnTo>
                    <a:pt x="625" y="226"/>
                  </a:lnTo>
                  <a:lnTo>
                    <a:pt x="623" y="226"/>
                  </a:lnTo>
                  <a:lnTo>
                    <a:pt x="623" y="226"/>
                  </a:lnTo>
                  <a:lnTo>
                    <a:pt x="621" y="226"/>
                  </a:lnTo>
                  <a:lnTo>
                    <a:pt x="619" y="224"/>
                  </a:lnTo>
                  <a:lnTo>
                    <a:pt x="619" y="224"/>
                  </a:lnTo>
                  <a:lnTo>
                    <a:pt x="619" y="224"/>
                  </a:lnTo>
                  <a:lnTo>
                    <a:pt x="619" y="226"/>
                  </a:lnTo>
                  <a:lnTo>
                    <a:pt x="617" y="226"/>
                  </a:lnTo>
                  <a:lnTo>
                    <a:pt x="617" y="226"/>
                  </a:lnTo>
                  <a:lnTo>
                    <a:pt x="617" y="228"/>
                  </a:lnTo>
                  <a:lnTo>
                    <a:pt x="617" y="230"/>
                  </a:lnTo>
                  <a:lnTo>
                    <a:pt x="617" y="230"/>
                  </a:lnTo>
                  <a:lnTo>
                    <a:pt x="617" y="234"/>
                  </a:lnTo>
                  <a:lnTo>
                    <a:pt x="619" y="238"/>
                  </a:lnTo>
                  <a:lnTo>
                    <a:pt x="619" y="240"/>
                  </a:lnTo>
                  <a:lnTo>
                    <a:pt x="619" y="241"/>
                  </a:lnTo>
                  <a:lnTo>
                    <a:pt x="619" y="241"/>
                  </a:lnTo>
                  <a:lnTo>
                    <a:pt x="619" y="243"/>
                  </a:lnTo>
                  <a:lnTo>
                    <a:pt x="621" y="243"/>
                  </a:lnTo>
                  <a:lnTo>
                    <a:pt x="621" y="245"/>
                  </a:lnTo>
                  <a:lnTo>
                    <a:pt x="621" y="245"/>
                  </a:lnTo>
                  <a:lnTo>
                    <a:pt x="621" y="247"/>
                  </a:lnTo>
                  <a:lnTo>
                    <a:pt x="621" y="247"/>
                  </a:lnTo>
                  <a:lnTo>
                    <a:pt x="623" y="249"/>
                  </a:lnTo>
                  <a:lnTo>
                    <a:pt x="623" y="249"/>
                  </a:lnTo>
                  <a:lnTo>
                    <a:pt x="623" y="249"/>
                  </a:lnTo>
                  <a:lnTo>
                    <a:pt x="621" y="251"/>
                  </a:lnTo>
                  <a:lnTo>
                    <a:pt x="619" y="253"/>
                  </a:lnTo>
                  <a:lnTo>
                    <a:pt x="615" y="251"/>
                  </a:lnTo>
                  <a:lnTo>
                    <a:pt x="613" y="249"/>
                  </a:lnTo>
                  <a:lnTo>
                    <a:pt x="612" y="247"/>
                  </a:lnTo>
                  <a:lnTo>
                    <a:pt x="602" y="249"/>
                  </a:lnTo>
                  <a:lnTo>
                    <a:pt x="602" y="249"/>
                  </a:lnTo>
                  <a:lnTo>
                    <a:pt x="600" y="247"/>
                  </a:lnTo>
                  <a:lnTo>
                    <a:pt x="600" y="247"/>
                  </a:lnTo>
                  <a:lnTo>
                    <a:pt x="600" y="245"/>
                  </a:lnTo>
                  <a:lnTo>
                    <a:pt x="600" y="245"/>
                  </a:lnTo>
                  <a:lnTo>
                    <a:pt x="600" y="243"/>
                  </a:lnTo>
                  <a:lnTo>
                    <a:pt x="600" y="243"/>
                  </a:lnTo>
                  <a:lnTo>
                    <a:pt x="596" y="241"/>
                  </a:lnTo>
                  <a:lnTo>
                    <a:pt x="596" y="240"/>
                  </a:lnTo>
                  <a:lnTo>
                    <a:pt x="596" y="238"/>
                  </a:lnTo>
                  <a:lnTo>
                    <a:pt x="596" y="238"/>
                  </a:lnTo>
                  <a:lnTo>
                    <a:pt x="598" y="238"/>
                  </a:lnTo>
                  <a:lnTo>
                    <a:pt x="600" y="238"/>
                  </a:lnTo>
                  <a:lnTo>
                    <a:pt x="600" y="238"/>
                  </a:lnTo>
                  <a:lnTo>
                    <a:pt x="600" y="236"/>
                  </a:lnTo>
                  <a:lnTo>
                    <a:pt x="602" y="236"/>
                  </a:lnTo>
                  <a:lnTo>
                    <a:pt x="602" y="236"/>
                  </a:lnTo>
                  <a:lnTo>
                    <a:pt x="600" y="234"/>
                  </a:lnTo>
                  <a:lnTo>
                    <a:pt x="600" y="234"/>
                  </a:lnTo>
                  <a:lnTo>
                    <a:pt x="600" y="232"/>
                  </a:lnTo>
                  <a:lnTo>
                    <a:pt x="600" y="232"/>
                  </a:lnTo>
                  <a:lnTo>
                    <a:pt x="600" y="232"/>
                  </a:lnTo>
                  <a:lnTo>
                    <a:pt x="600" y="232"/>
                  </a:lnTo>
                  <a:lnTo>
                    <a:pt x="600" y="232"/>
                  </a:lnTo>
                  <a:lnTo>
                    <a:pt x="600" y="230"/>
                  </a:lnTo>
                  <a:lnTo>
                    <a:pt x="602" y="230"/>
                  </a:lnTo>
                  <a:lnTo>
                    <a:pt x="602" y="228"/>
                  </a:lnTo>
                  <a:lnTo>
                    <a:pt x="602" y="228"/>
                  </a:lnTo>
                  <a:lnTo>
                    <a:pt x="604" y="226"/>
                  </a:lnTo>
                  <a:lnTo>
                    <a:pt x="606" y="224"/>
                  </a:lnTo>
                  <a:lnTo>
                    <a:pt x="606" y="222"/>
                  </a:lnTo>
                  <a:lnTo>
                    <a:pt x="606" y="222"/>
                  </a:lnTo>
                  <a:lnTo>
                    <a:pt x="604" y="220"/>
                  </a:lnTo>
                  <a:lnTo>
                    <a:pt x="604" y="220"/>
                  </a:lnTo>
                  <a:lnTo>
                    <a:pt x="604" y="220"/>
                  </a:lnTo>
                  <a:lnTo>
                    <a:pt x="602" y="222"/>
                  </a:lnTo>
                  <a:lnTo>
                    <a:pt x="602" y="222"/>
                  </a:lnTo>
                  <a:lnTo>
                    <a:pt x="602" y="222"/>
                  </a:lnTo>
                  <a:lnTo>
                    <a:pt x="602" y="224"/>
                  </a:lnTo>
                  <a:lnTo>
                    <a:pt x="600" y="224"/>
                  </a:lnTo>
                  <a:lnTo>
                    <a:pt x="600" y="224"/>
                  </a:lnTo>
                  <a:lnTo>
                    <a:pt x="598" y="222"/>
                  </a:lnTo>
                  <a:lnTo>
                    <a:pt x="598" y="220"/>
                  </a:lnTo>
                  <a:lnTo>
                    <a:pt x="596" y="220"/>
                  </a:lnTo>
                  <a:lnTo>
                    <a:pt x="598" y="219"/>
                  </a:lnTo>
                  <a:lnTo>
                    <a:pt x="598" y="219"/>
                  </a:lnTo>
                  <a:lnTo>
                    <a:pt x="598" y="219"/>
                  </a:lnTo>
                  <a:lnTo>
                    <a:pt x="600" y="219"/>
                  </a:lnTo>
                  <a:lnTo>
                    <a:pt x="602" y="217"/>
                  </a:lnTo>
                  <a:lnTo>
                    <a:pt x="602" y="217"/>
                  </a:lnTo>
                  <a:lnTo>
                    <a:pt x="604" y="217"/>
                  </a:lnTo>
                  <a:lnTo>
                    <a:pt x="604" y="215"/>
                  </a:lnTo>
                  <a:lnTo>
                    <a:pt x="606" y="213"/>
                  </a:lnTo>
                  <a:lnTo>
                    <a:pt x="606" y="213"/>
                  </a:lnTo>
                  <a:lnTo>
                    <a:pt x="606" y="213"/>
                  </a:lnTo>
                  <a:lnTo>
                    <a:pt x="608" y="215"/>
                  </a:lnTo>
                  <a:lnTo>
                    <a:pt x="608" y="217"/>
                  </a:lnTo>
                  <a:lnTo>
                    <a:pt x="610" y="217"/>
                  </a:lnTo>
                  <a:lnTo>
                    <a:pt x="610" y="215"/>
                  </a:lnTo>
                  <a:lnTo>
                    <a:pt x="610" y="215"/>
                  </a:lnTo>
                  <a:lnTo>
                    <a:pt x="610" y="213"/>
                  </a:lnTo>
                  <a:lnTo>
                    <a:pt x="608" y="211"/>
                  </a:lnTo>
                  <a:lnTo>
                    <a:pt x="608" y="211"/>
                  </a:lnTo>
                  <a:lnTo>
                    <a:pt x="608" y="209"/>
                  </a:lnTo>
                  <a:lnTo>
                    <a:pt x="606" y="207"/>
                  </a:lnTo>
                  <a:lnTo>
                    <a:pt x="606" y="205"/>
                  </a:lnTo>
                  <a:lnTo>
                    <a:pt x="598" y="198"/>
                  </a:lnTo>
                  <a:lnTo>
                    <a:pt x="594" y="192"/>
                  </a:lnTo>
                  <a:lnTo>
                    <a:pt x="592" y="190"/>
                  </a:lnTo>
                  <a:lnTo>
                    <a:pt x="591" y="190"/>
                  </a:lnTo>
                  <a:lnTo>
                    <a:pt x="589" y="190"/>
                  </a:lnTo>
                  <a:lnTo>
                    <a:pt x="587" y="188"/>
                  </a:lnTo>
                  <a:lnTo>
                    <a:pt x="585" y="188"/>
                  </a:lnTo>
                  <a:lnTo>
                    <a:pt x="585" y="188"/>
                  </a:lnTo>
                  <a:lnTo>
                    <a:pt x="585" y="188"/>
                  </a:lnTo>
                  <a:lnTo>
                    <a:pt x="583" y="188"/>
                  </a:lnTo>
                  <a:lnTo>
                    <a:pt x="583" y="188"/>
                  </a:lnTo>
                  <a:lnTo>
                    <a:pt x="581" y="188"/>
                  </a:lnTo>
                  <a:lnTo>
                    <a:pt x="581" y="186"/>
                  </a:lnTo>
                  <a:lnTo>
                    <a:pt x="581" y="184"/>
                  </a:lnTo>
                  <a:lnTo>
                    <a:pt x="581" y="184"/>
                  </a:lnTo>
                  <a:lnTo>
                    <a:pt x="581" y="184"/>
                  </a:lnTo>
                  <a:lnTo>
                    <a:pt x="581" y="182"/>
                  </a:lnTo>
                  <a:lnTo>
                    <a:pt x="579" y="182"/>
                  </a:lnTo>
                  <a:lnTo>
                    <a:pt x="575" y="179"/>
                  </a:lnTo>
                  <a:lnTo>
                    <a:pt x="572" y="175"/>
                  </a:lnTo>
                  <a:lnTo>
                    <a:pt x="572" y="173"/>
                  </a:lnTo>
                  <a:lnTo>
                    <a:pt x="572" y="173"/>
                  </a:lnTo>
                  <a:lnTo>
                    <a:pt x="570" y="173"/>
                  </a:lnTo>
                  <a:lnTo>
                    <a:pt x="568" y="169"/>
                  </a:lnTo>
                  <a:lnTo>
                    <a:pt x="566" y="167"/>
                  </a:lnTo>
                  <a:lnTo>
                    <a:pt x="566" y="165"/>
                  </a:lnTo>
                  <a:lnTo>
                    <a:pt x="564" y="163"/>
                  </a:lnTo>
                  <a:lnTo>
                    <a:pt x="560" y="154"/>
                  </a:lnTo>
                  <a:lnTo>
                    <a:pt x="560" y="150"/>
                  </a:lnTo>
                  <a:lnTo>
                    <a:pt x="558" y="148"/>
                  </a:lnTo>
                  <a:lnTo>
                    <a:pt x="558" y="146"/>
                  </a:lnTo>
                  <a:lnTo>
                    <a:pt x="558" y="144"/>
                  </a:lnTo>
                  <a:lnTo>
                    <a:pt x="556" y="143"/>
                  </a:lnTo>
                  <a:lnTo>
                    <a:pt x="556" y="141"/>
                  </a:lnTo>
                  <a:lnTo>
                    <a:pt x="556" y="137"/>
                  </a:lnTo>
                  <a:lnTo>
                    <a:pt x="554" y="135"/>
                  </a:lnTo>
                  <a:lnTo>
                    <a:pt x="554" y="135"/>
                  </a:lnTo>
                  <a:lnTo>
                    <a:pt x="556" y="135"/>
                  </a:lnTo>
                  <a:lnTo>
                    <a:pt x="556" y="133"/>
                  </a:lnTo>
                  <a:lnTo>
                    <a:pt x="556" y="133"/>
                  </a:lnTo>
                  <a:lnTo>
                    <a:pt x="558" y="133"/>
                  </a:lnTo>
                  <a:lnTo>
                    <a:pt x="558" y="131"/>
                  </a:lnTo>
                  <a:lnTo>
                    <a:pt x="558" y="131"/>
                  </a:lnTo>
                  <a:lnTo>
                    <a:pt x="558" y="129"/>
                  </a:lnTo>
                  <a:lnTo>
                    <a:pt x="558" y="127"/>
                  </a:lnTo>
                  <a:lnTo>
                    <a:pt x="558" y="127"/>
                  </a:lnTo>
                  <a:lnTo>
                    <a:pt x="556" y="127"/>
                  </a:lnTo>
                  <a:lnTo>
                    <a:pt x="552" y="125"/>
                  </a:lnTo>
                  <a:lnTo>
                    <a:pt x="552" y="125"/>
                  </a:lnTo>
                  <a:lnTo>
                    <a:pt x="549" y="122"/>
                  </a:lnTo>
                  <a:lnTo>
                    <a:pt x="549" y="120"/>
                  </a:lnTo>
                  <a:lnTo>
                    <a:pt x="547" y="118"/>
                  </a:lnTo>
                  <a:lnTo>
                    <a:pt x="547" y="116"/>
                  </a:lnTo>
                  <a:lnTo>
                    <a:pt x="547" y="116"/>
                  </a:lnTo>
                  <a:lnTo>
                    <a:pt x="547" y="114"/>
                  </a:lnTo>
                  <a:lnTo>
                    <a:pt x="547" y="114"/>
                  </a:lnTo>
                  <a:lnTo>
                    <a:pt x="547" y="114"/>
                  </a:lnTo>
                  <a:lnTo>
                    <a:pt x="547" y="112"/>
                  </a:lnTo>
                  <a:lnTo>
                    <a:pt x="545" y="112"/>
                  </a:lnTo>
                  <a:lnTo>
                    <a:pt x="545" y="110"/>
                  </a:lnTo>
                  <a:lnTo>
                    <a:pt x="545" y="110"/>
                  </a:lnTo>
                  <a:lnTo>
                    <a:pt x="545" y="110"/>
                  </a:lnTo>
                  <a:lnTo>
                    <a:pt x="545" y="108"/>
                  </a:lnTo>
                  <a:lnTo>
                    <a:pt x="547" y="108"/>
                  </a:lnTo>
                  <a:lnTo>
                    <a:pt x="547" y="108"/>
                  </a:lnTo>
                  <a:lnTo>
                    <a:pt x="547" y="108"/>
                  </a:lnTo>
                  <a:lnTo>
                    <a:pt x="549" y="108"/>
                  </a:lnTo>
                  <a:lnTo>
                    <a:pt x="549" y="106"/>
                  </a:lnTo>
                  <a:lnTo>
                    <a:pt x="549" y="106"/>
                  </a:lnTo>
                  <a:lnTo>
                    <a:pt x="549" y="106"/>
                  </a:lnTo>
                  <a:lnTo>
                    <a:pt x="549" y="104"/>
                  </a:lnTo>
                  <a:lnTo>
                    <a:pt x="547" y="103"/>
                  </a:lnTo>
                  <a:lnTo>
                    <a:pt x="547" y="101"/>
                  </a:lnTo>
                  <a:lnTo>
                    <a:pt x="547" y="101"/>
                  </a:lnTo>
                  <a:lnTo>
                    <a:pt x="545" y="101"/>
                  </a:lnTo>
                  <a:lnTo>
                    <a:pt x="543" y="101"/>
                  </a:lnTo>
                  <a:lnTo>
                    <a:pt x="543" y="103"/>
                  </a:lnTo>
                  <a:lnTo>
                    <a:pt x="543" y="103"/>
                  </a:lnTo>
                  <a:lnTo>
                    <a:pt x="541" y="103"/>
                  </a:lnTo>
                  <a:lnTo>
                    <a:pt x="541" y="103"/>
                  </a:lnTo>
                  <a:lnTo>
                    <a:pt x="541" y="103"/>
                  </a:lnTo>
                  <a:lnTo>
                    <a:pt x="541" y="103"/>
                  </a:lnTo>
                  <a:lnTo>
                    <a:pt x="539" y="101"/>
                  </a:lnTo>
                  <a:lnTo>
                    <a:pt x="541" y="101"/>
                  </a:lnTo>
                  <a:lnTo>
                    <a:pt x="541" y="99"/>
                  </a:lnTo>
                  <a:lnTo>
                    <a:pt x="541" y="97"/>
                  </a:lnTo>
                  <a:lnTo>
                    <a:pt x="541" y="97"/>
                  </a:lnTo>
                  <a:lnTo>
                    <a:pt x="539" y="97"/>
                  </a:lnTo>
                  <a:lnTo>
                    <a:pt x="539" y="97"/>
                  </a:lnTo>
                  <a:lnTo>
                    <a:pt x="535" y="99"/>
                  </a:lnTo>
                  <a:lnTo>
                    <a:pt x="535" y="99"/>
                  </a:lnTo>
                  <a:lnTo>
                    <a:pt x="535" y="99"/>
                  </a:lnTo>
                  <a:lnTo>
                    <a:pt x="535" y="99"/>
                  </a:lnTo>
                  <a:lnTo>
                    <a:pt x="535" y="101"/>
                  </a:lnTo>
                  <a:lnTo>
                    <a:pt x="535" y="101"/>
                  </a:lnTo>
                  <a:lnTo>
                    <a:pt x="533" y="101"/>
                  </a:lnTo>
                  <a:lnTo>
                    <a:pt x="532" y="101"/>
                  </a:lnTo>
                  <a:lnTo>
                    <a:pt x="530" y="101"/>
                  </a:lnTo>
                  <a:lnTo>
                    <a:pt x="528" y="101"/>
                  </a:lnTo>
                  <a:lnTo>
                    <a:pt x="528" y="99"/>
                  </a:lnTo>
                  <a:lnTo>
                    <a:pt x="528" y="99"/>
                  </a:lnTo>
                  <a:lnTo>
                    <a:pt x="526" y="99"/>
                  </a:lnTo>
                  <a:lnTo>
                    <a:pt x="526" y="101"/>
                  </a:lnTo>
                  <a:lnTo>
                    <a:pt x="524" y="101"/>
                  </a:lnTo>
                  <a:lnTo>
                    <a:pt x="522" y="101"/>
                  </a:lnTo>
                  <a:lnTo>
                    <a:pt x="522" y="103"/>
                  </a:lnTo>
                  <a:lnTo>
                    <a:pt x="520" y="103"/>
                  </a:lnTo>
                  <a:lnTo>
                    <a:pt x="520" y="103"/>
                  </a:lnTo>
                  <a:lnTo>
                    <a:pt x="518" y="103"/>
                  </a:lnTo>
                  <a:lnTo>
                    <a:pt x="518" y="103"/>
                  </a:lnTo>
                  <a:lnTo>
                    <a:pt x="516" y="103"/>
                  </a:lnTo>
                  <a:lnTo>
                    <a:pt x="516" y="103"/>
                  </a:lnTo>
                  <a:lnTo>
                    <a:pt x="516" y="99"/>
                  </a:lnTo>
                  <a:lnTo>
                    <a:pt x="514" y="99"/>
                  </a:lnTo>
                  <a:lnTo>
                    <a:pt x="514" y="97"/>
                  </a:lnTo>
                  <a:lnTo>
                    <a:pt x="512" y="97"/>
                  </a:lnTo>
                  <a:lnTo>
                    <a:pt x="512" y="97"/>
                  </a:lnTo>
                  <a:lnTo>
                    <a:pt x="511" y="99"/>
                  </a:lnTo>
                  <a:lnTo>
                    <a:pt x="511" y="99"/>
                  </a:lnTo>
                  <a:lnTo>
                    <a:pt x="509" y="99"/>
                  </a:lnTo>
                  <a:lnTo>
                    <a:pt x="509" y="99"/>
                  </a:lnTo>
                  <a:lnTo>
                    <a:pt x="507" y="99"/>
                  </a:lnTo>
                  <a:lnTo>
                    <a:pt x="507" y="97"/>
                  </a:lnTo>
                  <a:lnTo>
                    <a:pt x="507" y="97"/>
                  </a:lnTo>
                  <a:lnTo>
                    <a:pt x="505" y="93"/>
                  </a:lnTo>
                  <a:lnTo>
                    <a:pt x="505" y="91"/>
                  </a:lnTo>
                  <a:lnTo>
                    <a:pt x="505" y="91"/>
                  </a:lnTo>
                  <a:lnTo>
                    <a:pt x="503" y="89"/>
                  </a:lnTo>
                  <a:lnTo>
                    <a:pt x="503" y="89"/>
                  </a:lnTo>
                  <a:lnTo>
                    <a:pt x="501" y="87"/>
                  </a:lnTo>
                  <a:lnTo>
                    <a:pt x="501" y="87"/>
                  </a:lnTo>
                  <a:lnTo>
                    <a:pt x="499" y="87"/>
                  </a:lnTo>
                  <a:lnTo>
                    <a:pt x="497" y="87"/>
                  </a:lnTo>
                  <a:lnTo>
                    <a:pt x="497" y="85"/>
                  </a:lnTo>
                  <a:lnTo>
                    <a:pt x="495" y="85"/>
                  </a:lnTo>
                  <a:lnTo>
                    <a:pt x="495" y="85"/>
                  </a:lnTo>
                  <a:lnTo>
                    <a:pt x="493" y="85"/>
                  </a:lnTo>
                  <a:lnTo>
                    <a:pt x="493" y="85"/>
                  </a:lnTo>
                  <a:lnTo>
                    <a:pt x="491" y="87"/>
                  </a:lnTo>
                  <a:lnTo>
                    <a:pt x="490" y="87"/>
                  </a:lnTo>
                  <a:lnTo>
                    <a:pt x="490" y="89"/>
                  </a:lnTo>
                  <a:lnTo>
                    <a:pt x="490" y="89"/>
                  </a:lnTo>
                  <a:lnTo>
                    <a:pt x="488" y="89"/>
                  </a:lnTo>
                  <a:lnTo>
                    <a:pt x="486" y="89"/>
                  </a:lnTo>
                  <a:lnTo>
                    <a:pt x="484" y="89"/>
                  </a:lnTo>
                  <a:lnTo>
                    <a:pt x="482" y="89"/>
                  </a:lnTo>
                  <a:lnTo>
                    <a:pt x="480" y="89"/>
                  </a:lnTo>
                  <a:lnTo>
                    <a:pt x="478" y="89"/>
                  </a:lnTo>
                  <a:lnTo>
                    <a:pt x="478" y="89"/>
                  </a:lnTo>
                  <a:lnTo>
                    <a:pt x="478" y="89"/>
                  </a:lnTo>
                  <a:lnTo>
                    <a:pt x="478" y="89"/>
                  </a:lnTo>
                  <a:lnTo>
                    <a:pt x="478" y="91"/>
                  </a:lnTo>
                  <a:lnTo>
                    <a:pt x="476" y="91"/>
                  </a:lnTo>
                  <a:lnTo>
                    <a:pt x="476" y="93"/>
                  </a:lnTo>
                  <a:lnTo>
                    <a:pt x="476" y="93"/>
                  </a:lnTo>
                  <a:lnTo>
                    <a:pt x="476" y="93"/>
                  </a:lnTo>
                  <a:lnTo>
                    <a:pt x="474" y="93"/>
                  </a:lnTo>
                  <a:lnTo>
                    <a:pt x="474" y="93"/>
                  </a:lnTo>
                  <a:lnTo>
                    <a:pt x="472" y="91"/>
                  </a:lnTo>
                  <a:lnTo>
                    <a:pt x="472" y="89"/>
                  </a:lnTo>
                  <a:lnTo>
                    <a:pt x="472" y="87"/>
                  </a:lnTo>
                  <a:lnTo>
                    <a:pt x="471" y="85"/>
                  </a:lnTo>
                  <a:lnTo>
                    <a:pt x="471" y="85"/>
                  </a:lnTo>
                  <a:lnTo>
                    <a:pt x="469" y="84"/>
                  </a:lnTo>
                  <a:lnTo>
                    <a:pt x="469" y="82"/>
                  </a:lnTo>
                  <a:lnTo>
                    <a:pt x="469" y="82"/>
                  </a:lnTo>
                  <a:lnTo>
                    <a:pt x="467" y="82"/>
                  </a:lnTo>
                  <a:lnTo>
                    <a:pt x="467" y="80"/>
                  </a:lnTo>
                  <a:lnTo>
                    <a:pt x="469" y="80"/>
                  </a:lnTo>
                  <a:lnTo>
                    <a:pt x="469" y="78"/>
                  </a:lnTo>
                  <a:lnTo>
                    <a:pt x="469" y="78"/>
                  </a:lnTo>
                  <a:lnTo>
                    <a:pt x="472" y="78"/>
                  </a:lnTo>
                  <a:lnTo>
                    <a:pt x="472" y="78"/>
                  </a:lnTo>
                  <a:lnTo>
                    <a:pt x="474" y="78"/>
                  </a:lnTo>
                  <a:lnTo>
                    <a:pt x="474" y="78"/>
                  </a:lnTo>
                  <a:lnTo>
                    <a:pt x="474" y="76"/>
                  </a:lnTo>
                  <a:lnTo>
                    <a:pt x="474" y="72"/>
                  </a:lnTo>
                  <a:lnTo>
                    <a:pt x="474" y="72"/>
                  </a:lnTo>
                  <a:lnTo>
                    <a:pt x="474" y="70"/>
                  </a:lnTo>
                  <a:lnTo>
                    <a:pt x="472" y="68"/>
                  </a:lnTo>
                  <a:lnTo>
                    <a:pt x="471" y="66"/>
                  </a:lnTo>
                  <a:lnTo>
                    <a:pt x="471" y="66"/>
                  </a:lnTo>
                  <a:lnTo>
                    <a:pt x="472" y="57"/>
                  </a:lnTo>
                  <a:lnTo>
                    <a:pt x="472" y="55"/>
                  </a:lnTo>
                  <a:lnTo>
                    <a:pt x="474" y="51"/>
                  </a:lnTo>
                  <a:lnTo>
                    <a:pt x="474" y="49"/>
                  </a:lnTo>
                  <a:lnTo>
                    <a:pt x="474" y="47"/>
                  </a:lnTo>
                  <a:lnTo>
                    <a:pt x="472" y="47"/>
                  </a:lnTo>
                  <a:lnTo>
                    <a:pt x="472" y="47"/>
                  </a:lnTo>
                  <a:lnTo>
                    <a:pt x="472" y="46"/>
                  </a:lnTo>
                  <a:lnTo>
                    <a:pt x="471" y="47"/>
                  </a:lnTo>
                  <a:lnTo>
                    <a:pt x="471" y="47"/>
                  </a:lnTo>
                  <a:lnTo>
                    <a:pt x="471" y="47"/>
                  </a:lnTo>
                  <a:lnTo>
                    <a:pt x="471" y="47"/>
                  </a:lnTo>
                  <a:lnTo>
                    <a:pt x="471" y="47"/>
                  </a:lnTo>
                  <a:lnTo>
                    <a:pt x="469" y="47"/>
                  </a:lnTo>
                  <a:lnTo>
                    <a:pt x="469" y="47"/>
                  </a:lnTo>
                  <a:lnTo>
                    <a:pt x="467" y="49"/>
                  </a:lnTo>
                  <a:lnTo>
                    <a:pt x="467" y="49"/>
                  </a:lnTo>
                  <a:lnTo>
                    <a:pt x="465" y="49"/>
                  </a:lnTo>
                  <a:lnTo>
                    <a:pt x="465" y="49"/>
                  </a:lnTo>
                  <a:lnTo>
                    <a:pt x="465" y="49"/>
                  </a:lnTo>
                  <a:lnTo>
                    <a:pt x="463" y="49"/>
                  </a:lnTo>
                  <a:lnTo>
                    <a:pt x="463" y="49"/>
                  </a:lnTo>
                  <a:lnTo>
                    <a:pt x="461" y="49"/>
                  </a:lnTo>
                  <a:lnTo>
                    <a:pt x="461" y="47"/>
                  </a:lnTo>
                  <a:lnTo>
                    <a:pt x="461" y="47"/>
                  </a:lnTo>
                  <a:lnTo>
                    <a:pt x="461" y="46"/>
                  </a:lnTo>
                  <a:lnTo>
                    <a:pt x="461" y="44"/>
                  </a:lnTo>
                  <a:lnTo>
                    <a:pt x="461" y="42"/>
                  </a:lnTo>
                  <a:lnTo>
                    <a:pt x="463" y="40"/>
                  </a:lnTo>
                  <a:lnTo>
                    <a:pt x="463" y="40"/>
                  </a:lnTo>
                  <a:lnTo>
                    <a:pt x="463" y="40"/>
                  </a:lnTo>
                  <a:lnTo>
                    <a:pt x="467" y="40"/>
                  </a:lnTo>
                  <a:lnTo>
                    <a:pt x="467" y="38"/>
                  </a:lnTo>
                  <a:lnTo>
                    <a:pt x="469" y="38"/>
                  </a:lnTo>
                  <a:lnTo>
                    <a:pt x="469" y="36"/>
                  </a:lnTo>
                  <a:lnTo>
                    <a:pt x="469" y="36"/>
                  </a:lnTo>
                  <a:lnTo>
                    <a:pt x="469" y="34"/>
                  </a:lnTo>
                  <a:lnTo>
                    <a:pt x="469" y="34"/>
                  </a:lnTo>
                  <a:lnTo>
                    <a:pt x="467" y="32"/>
                  </a:lnTo>
                  <a:lnTo>
                    <a:pt x="467" y="32"/>
                  </a:lnTo>
                  <a:lnTo>
                    <a:pt x="465" y="32"/>
                  </a:lnTo>
                  <a:lnTo>
                    <a:pt x="465" y="30"/>
                  </a:lnTo>
                  <a:lnTo>
                    <a:pt x="465" y="28"/>
                  </a:lnTo>
                  <a:lnTo>
                    <a:pt x="453" y="26"/>
                  </a:lnTo>
                  <a:lnTo>
                    <a:pt x="444" y="26"/>
                  </a:lnTo>
                  <a:lnTo>
                    <a:pt x="410" y="25"/>
                  </a:lnTo>
                  <a:lnTo>
                    <a:pt x="408" y="25"/>
                  </a:lnTo>
                  <a:lnTo>
                    <a:pt x="408" y="23"/>
                  </a:lnTo>
                  <a:lnTo>
                    <a:pt x="408" y="23"/>
                  </a:lnTo>
                  <a:lnTo>
                    <a:pt x="408" y="21"/>
                  </a:lnTo>
                  <a:lnTo>
                    <a:pt x="408" y="19"/>
                  </a:lnTo>
                  <a:lnTo>
                    <a:pt x="415" y="7"/>
                  </a:lnTo>
                  <a:lnTo>
                    <a:pt x="415" y="7"/>
                  </a:lnTo>
                  <a:lnTo>
                    <a:pt x="415" y="6"/>
                  </a:lnTo>
                  <a:lnTo>
                    <a:pt x="415" y="4"/>
                  </a:lnTo>
                  <a:lnTo>
                    <a:pt x="415" y="2"/>
                  </a:lnTo>
                  <a:lnTo>
                    <a:pt x="413" y="0"/>
                  </a:lnTo>
                  <a:lnTo>
                    <a:pt x="413" y="2"/>
                  </a:lnTo>
                  <a:lnTo>
                    <a:pt x="398" y="15"/>
                  </a:lnTo>
                  <a:lnTo>
                    <a:pt x="394" y="17"/>
                  </a:lnTo>
                  <a:lnTo>
                    <a:pt x="377" y="21"/>
                  </a:lnTo>
                  <a:lnTo>
                    <a:pt x="362" y="28"/>
                  </a:lnTo>
                  <a:lnTo>
                    <a:pt x="360" y="30"/>
                  </a:lnTo>
                  <a:lnTo>
                    <a:pt x="356" y="44"/>
                  </a:lnTo>
                  <a:lnTo>
                    <a:pt x="352" y="55"/>
                  </a:lnTo>
                  <a:lnTo>
                    <a:pt x="347" y="70"/>
                  </a:lnTo>
                  <a:lnTo>
                    <a:pt x="343" y="82"/>
                  </a:lnTo>
                  <a:lnTo>
                    <a:pt x="337" y="89"/>
                  </a:lnTo>
                  <a:lnTo>
                    <a:pt x="330" y="104"/>
                  </a:lnTo>
                  <a:lnTo>
                    <a:pt x="324" y="112"/>
                  </a:lnTo>
                  <a:lnTo>
                    <a:pt x="322" y="116"/>
                  </a:lnTo>
                  <a:lnTo>
                    <a:pt x="320" y="123"/>
                  </a:lnTo>
                  <a:lnTo>
                    <a:pt x="318" y="123"/>
                  </a:lnTo>
                  <a:lnTo>
                    <a:pt x="316" y="125"/>
                  </a:lnTo>
                  <a:lnTo>
                    <a:pt x="305" y="131"/>
                  </a:lnTo>
                  <a:lnTo>
                    <a:pt x="293" y="137"/>
                  </a:lnTo>
                  <a:lnTo>
                    <a:pt x="282" y="144"/>
                  </a:lnTo>
                  <a:lnTo>
                    <a:pt x="269" y="150"/>
                  </a:lnTo>
                  <a:lnTo>
                    <a:pt x="267" y="152"/>
                  </a:lnTo>
                  <a:lnTo>
                    <a:pt x="259" y="162"/>
                  </a:lnTo>
                  <a:lnTo>
                    <a:pt x="257" y="165"/>
                  </a:lnTo>
                  <a:lnTo>
                    <a:pt x="251" y="186"/>
                  </a:lnTo>
                  <a:lnTo>
                    <a:pt x="249" y="192"/>
                  </a:lnTo>
                  <a:lnTo>
                    <a:pt x="248" y="196"/>
                  </a:lnTo>
                  <a:lnTo>
                    <a:pt x="244" y="200"/>
                  </a:lnTo>
                  <a:lnTo>
                    <a:pt x="232" y="209"/>
                  </a:lnTo>
                  <a:lnTo>
                    <a:pt x="225" y="219"/>
                  </a:lnTo>
                  <a:lnTo>
                    <a:pt x="223" y="220"/>
                  </a:lnTo>
                  <a:lnTo>
                    <a:pt x="223" y="222"/>
                  </a:lnTo>
                  <a:lnTo>
                    <a:pt x="223" y="236"/>
                  </a:lnTo>
                  <a:lnTo>
                    <a:pt x="221" y="238"/>
                  </a:lnTo>
                  <a:lnTo>
                    <a:pt x="221" y="238"/>
                  </a:lnTo>
                  <a:lnTo>
                    <a:pt x="206" y="243"/>
                  </a:lnTo>
                  <a:lnTo>
                    <a:pt x="192" y="247"/>
                  </a:lnTo>
                  <a:lnTo>
                    <a:pt x="185" y="247"/>
                  </a:lnTo>
                  <a:lnTo>
                    <a:pt x="177" y="247"/>
                  </a:lnTo>
                  <a:lnTo>
                    <a:pt x="169" y="247"/>
                  </a:lnTo>
                  <a:lnTo>
                    <a:pt x="162" y="249"/>
                  </a:lnTo>
                  <a:lnTo>
                    <a:pt x="154" y="251"/>
                  </a:lnTo>
                  <a:lnTo>
                    <a:pt x="143" y="257"/>
                  </a:lnTo>
                  <a:lnTo>
                    <a:pt x="133" y="262"/>
                  </a:lnTo>
                  <a:lnTo>
                    <a:pt x="126" y="264"/>
                  </a:lnTo>
                  <a:lnTo>
                    <a:pt x="118" y="262"/>
                  </a:lnTo>
                  <a:lnTo>
                    <a:pt x="114" y="260"/>
                  </a:lnTo>
                  <a:lnTo>
                    <a:pt x="110" y="255"/>
                  </a:lnTo>
                  <a:lnTo>
                    <a:pt x="108" y="247"/>
                  </a:lnTo>
                  <a:lnTo>
                    <a:pt x="107" y="245"/>
                  </a:lnTo>
                  <a:lnTo>
                    <a:pt x="108" y="241"/>
                  </a:lnTo>
                  <a:lnTo>
                    <a:pt x="107" y="240"/>
                  </a:lnTo>
                  <a:lnTo>
                    <a:pt x="107" y="238"/>
                  </a:lnTo>
                  <a:lnTo>
                    <a:pt x="103" y="236"/>
                  </a:lnTo>
                  <a:lnTo>
                    <a:pt x="101" y="234"/>
                  </a:lnTo>
                  <a:lnTo>
                    <a:pt x="97" y="232"/>
                  </a:lnTo>
                  <a:lnTo>
                    <a:pt x="95" y="230"/>
                  </a:lnTo>
                  <a:lnTo>
                    <a:pt x="93" y="228"/>
                  </a:lnTo>
                  <a:lnTo>
                    <a:pt x="91" y="228"/>
                  </a:lnTo>
                  <a:lnTo>
                    <a:pt x="89" y="228"/>
                  </a:lnTo>
                  <a:lnTo>
                    <a:pt x="86" y="230"/>
                  </a:lnTo>
                  <a:lnTo>
                    <a:pt x="82" y="232"/>
                  </a:lnTo>
                  <a:lnTo>
                    <a:pt x="80" y="232"/>
                  </a:lnTo>
                  <a:lnTo>
                    <a:pt x="78" y="232"/>
                  </a:lnTo>
                  <a:lnTo>
                    <a:pt x="74" y="238"/>
                  </a:lnTo>
                  <a:lnTo>
                    <a:pt x="67" y="243"/>
                  </a:lnTo>
                  <a:lnTo>
                    <a:pt x="67" y="243"/>
                  </a:lnTo>
                  <a:lnTo>
                    <a:pt x="59" y="253"/>
                  </a:lnTo>
                  <a:lnTo>
                    <a:pt x="57" y="255"/>
                  </a:lnTo>
                  <a:lnTo>
                    <a:pt x="49" y="274"/>
                  </a:lnTo>
                  <a:lnTo>
                    <a:pt x="48" y="278"/>
                  </a:lnTo>
                  <a:lnTo>
                    <a:pt x="40" y="285"/>
                  </a:lnTo>
                  <a:lnTo>
                    <a:pt x="34" y="295"/>
                  </a:lnTo>
                  <a:lnTo>
                    <a:pt x="25" y="304"/>
                  </a:lnTo>
                  <a:lnTo>
                    <a:pt x="17" y="308"/>
                  </a:lnTo>
                  <a:lnTo>
                    <a:pt x="9" y="317"/>
                  </a:lnTo>
                  <a:lnTo>
                    <a:pt x="6" y="323"/>
                  </a:lnTo>
                  <a:lnTo>
                    <a:pt x="4" y="331"/>
                  </a:lnTo>
                  <a:lnTo>
                    <a:pt x="2" y="344"/>
                  </a:lnTo>
                  <a:lnTo>
                    <a:pt x="0" y="356"/>
                  </a:lnTo>
                  <a:lnTo>
                    <a:pt x="0" y="361"/>
                  </a:lnTo>
                  <a:lnTo>
                    <a:pt x="4" y="363"/>
                  </a:lnTo>
                  <a:lnTo>
                    <a:pt x="17" y="371"/>
                  </a:lnTo>
                  <a:lnTo>
                    <a:pt x="21" y="373"/>
                  </a:lnTo>
                  <a:lnTo>
                    <a:pt x="28" y="378"/>
                  </a:lnTo>
                  <a:lnTo>
                    <a:pt x="32" y="380"/>
                  </a:lnTo>
                  <a:lnTo>
                    <a:pt x="53" y="378"/>
                  </a:lnTo>
                  <a:lnTo>
                    <a:pt x="57" y="380"/>
                  </a:lnTo>
                  <a:lnTo>
                    <a:pt x="61" y="382"/>
                  </a:lnTo>
                  <a:lnTo>
                    <a:pt x="63" y="386"/>
                  </a:lnTo>
                  <a:lnTo>
                    <a:pt x="63" y="390"/>
                  </a:lnTo>
                  <a:lnTo>
                    <a:pt x="63" y="397"/>
                  </a:lnTo>
                  <a:lnTo>
                    <a:pt x="63" y="401"/>
                  </a:lnTo>
                  <a:lnTo>
                    <a:pt x="63" y="403"/>
                  </a:lnTo>
                  <a:lnTo>
                    <a:pt x="63" y="405"/>
                  </a:lnTo>
                  <a:lnTo>
                    <a:pt x="61" y="407"/>
                  </a:lnTo>
                  <a:lnTo>
                    <a:pt x="63" y="409"/>
                  </a:lnTo>
                  <a:lnTo>
                    <a:pt x="63" y="413"/>
                  </a:lnTo>
                  <a:lnTo>
                    <a:pt x="63" y="416"/>
                  </a:lnTo>
                  <a:lnTo>
                    <a:pt x="61" y="420"/>
                  </a:lnTo>
                  <a:lnTo>
                    <a:pt x="55" y="430"/>
                  </a:lnTo>
                  <a:lnTo>
                    <a:pt x="55" y="432"/>
                  </a:lnTo>
                  <a:lnTo>
                    <a:pt x="55" y="435"/>
                  </a:lnTo>
                  <a:lnTo>
                    <a:pt x="55" y="439"/>
                  </a:lnTo>
                  <a:lnTo>
                    <a:pt x="55" y="441"/>
                  </a:lnTo>
                  <a:lnTo>
                    <a:pt x="57" y="447"/>
                  </a:lnTo>
                  <a:lnTo>
                    <a:pt x="59" y="453"/>
                  </a:lnTo>
                  <a:lnTo>
                    <a:pt x="63" y="456"/>
                  </a:lnTo>
                  <a:lnTo>
                    <a:pt x="67" y="460"/>
                  </a:lnTo>
                  <a:lnTo>
                    <a:pt x="68" y="462"/>
                  </a:lnTo>
                  <a:lnTo>
                    <a:pt x="70" y="468"/>
                  </a:lnTo>
                  <a:lnTo>
                    <a:pt x="72" y="470"/>
                  </a:lnTo>
                  <a:lnTo>
                    <a:pt x="72" y="470"/>
                  </a:lnTo>
                  <a:lnTo>
                    <a:pt x="76" y="472"/>
                  </a:lnTo>
                  <a:lnTo>
                    <a:pt x="82" y="473"/>
                  </a:lnTo>
                  <a:lnTo>
                    <a:pt x="93" y="473"/>
                  </a:lnTo>
                  <a:lnTo>
                    <a:pt x="97" y="472"/>
                  </a:lnTo>
                  <a:lnTo>
                    <a:pt x="99" y="470"/>
                  </a:lnTo>
                  <a:lnTo>
                    <a:pt x="103" y="470"/>
                  </a:lnTo>
                  <a:lnTo>
                    <a:pt x="107" y="470"/>
                  </a:lnTo>
                  <a:lnTo>
                    <a:pt x="108" y="473"/>
                  </a:lnTo>
                  <a:lnTo>
                    <a:pt x="108" y="477"/>
                  </a:lnTo>
                  <a:lnTo>
                    <a:pt x="108" y="487"/>
                  </a:lnTo>
                  <a:lnTo>
                    <a:pt x="108" y="498"/>
                  </a:lnTo>
                  <a:lnTo>
                    <a:pt x="108" y="502"/>
                  </a:lnTo>
                  <a:lnTo>
                    <a:pt x="110" y="504"/>
                  </a:lnTo>
                  <a:lnTo>
                    <a:pt x="114" y="508"/>
                  </a:lnTo>
                  <a:lnTo>
                    <a:pt x="114" y="510"/>
                  </a:lnTo>
                  <a:lnTo>
                    <a:pt x="116" y="511"/>
                  </a:lnTo>
                  <a:lnTo>
                    <a:pt x="116" y="515"/>
                  </a:lnTo>
                  <a:lnTo>
                    <a:pt x="120" y="517"/>
                  </a:lnTo>
                  <a:lnTo>
                    <a:pt x="126" y="523"/>
                  </a:lnTo>
                  <a:lnTo>
                    <a:pt x="128" y="525"/>
                  </a:lnTo>
                  <a:lnTo>
                    <a:pt x="128" y="527"/>
                  </a:lnTo>
                  <a:lnTo>
                    <a:pt x="131" y="542"/>
                  </a:lnTo>
                  <a:lnTo>
                    <a:pt x="133" y="548"/>
                  </a:lnTo>
                  <a:lnTo>
                    <a:pt x="135" y="553"/>
                  </a:lnTo>
                  <a:lnTo>
                    <a:pt x="141" y="561"/>
                  </a:lnTo>
                  <a:lnTo>
                    <a:pt x="145" y="570"/>
                  </a:lnTo>
                  <a:lnTo>
                    <a:pt x="147" y="572"/>
                  </a:lnTo>
                  <a:lnTo>
                    <a:pt x="148" y="574"/>
                  </a:lnTo>
                  <a:lnTo>
                    <a:pt x="152" y="576"/>
                  </a:lnTo>
                  <a:lnTo>
                    <a:pt x="162" y="578"/>
                  </a:lnTo>
                  <a:lnTo>
                    <a:pt x="162" y="578"/>
                  </a:lnTo>
                  <a:lnTo>
                    <a:pt x="164" y="578"/>
                  </a:lnTo>
                  <a:lnTo>
                    <a:pt x="166" y="578"/>
                  </a:lnTo>
                  <a:lnTo>
                    <a:pt x="168" y="576"/>
                  </a:lnTo>
                  <a:lnTo>
                    <a:pt x="168" y="576"/>
                  </a:lnTo>
                  <a:lnTo>
                    <a:pt x="171" y="576"/>
                  </a:lnTo>
                  <a:lnTo>
                    <a:pt x="171" y="576"/>
                  </a:lnTo>
                  <a:lnTo>
                    <a:pt x="173" y="578"/>
                  </a:lnTo>
                  <a:lnTo>
                    <a:pt x="175" y="578"/>
                  </a:lnTo>
                  <a:lnTo>
                    <a:pt x="177" y="578"/>
                  </a:lnTo>
                  <a:lnTo>
                    <a:pt x="179" y="576"/>
                  </a:lnTo>
                  <a:lnTo>
                    <a:pt x="181" y="574"/>
                  </a:lnTo>
                  <a:lnTo>
                    <a:pt x="183" y="574"/>
                  </a:lnTo>
                  <a:lnTo>
                    <a:pt x="185" y="574"/>
                  </a:lnTo>
                  <a:lnTo>
                    <a:pt x="190" y="574"/>
                  </a:lnTo>
                  <a:lnTo>
                    <a:pt x="194" y="574"/>
                  </a:lnTo>
                  <a:lnTo>
                    <a:pt x="196" y="574"/>
                  </a:lnTo>
                  <a:lnTo>
                    <a:pt x="198" y="576"/>
                  </a:lnTo>
                  <a:lnTo>
                    <a:pt x="198" y="576"/>
                  </a:lnTo>
                  <a:lnTo>
                    <a:pt x="200" y="576"/>
                  </a:lnTo>
                  <a:lnTo>
                    <a:pt x="202" y="576"/>
                  </a:lnTo>
                  <a:lnTo>
                    <a:pt x="209" y="574"/>
                  </a:lnTo>
                  <a:lnTo>
                    <a:pt x="211" y="574"/>
                  </a:lnTo>
                  <a:lnTo>
                    <a:pt x="211" y="574"/>
                  </a:lnTo>
                  <a:lnTo>
                    <a:pt x="211" y="576"/>
                  </a:lnTo>
                  <a:lnTo>
                    <a:pt x="213" y="578"/>
                  </a:lnTo>
                  <a:lnTo>
                    <a:pt x="213" y="578"/>
                  </a:lnTo>
                  <a:lnTo>
                    <a:pt x="215" y="578"/>
                  </a:lnTo>
                  <a:lnTo>
                    <a:pt x="217" y="578"/>
                  </a:lnTo>
                  <a:lnTo>
                    <a:pt x="217" y="578"/>
                  </a:lnTo>
                  <a:lnTo>
                    <a:pt x="217" y="578"/>
                  </a:lnTo>
                  <a:lnTo>
                    <a:pt x="217" y="576"/>
                  </a:lnTo>
                  <a:lnTo>
                    <a:pt x="217" y="576"/>
                  </a:lnTo>
                  <a:lnTo>
                    <a:pt x="217" y="574"/>
                  </a:lnTo>
                  <a:lnTo>
                    <a:pt x="219" y="574"/>
                  </a:lnTo>
                  <a:lnTo>
                    <a:pt x="221" y="574"/>
                  </a:lnTo>
                  <a:lnTo>
                    <a:pt x="221" y="574"/>
                  </a:lnTo>
                  <a:lnTo>
                    <a:pt x="223" y="574"/>
                  </a:lnTo>
                  <a:lnTo>
                    <a:pt x="223" y="574"/>
                  </a:lnTo>
                  <a:lnTo>
                    <a:pt x="223" y="576"/>
                  </a:lnTo>
                  <a:lnTo>
                    <a:pt x="225" y="576"/>
                  </a:lnTo>
                  <a:lnTo>
                    <a:pt x="227" y="576"/>
                  </a:lnTo>
                  <a:lnTo>
                    <a:pt x="227" y="576"/>
                  </a:lnTo>
                  <a:lnTo>
                    <a:pt x="229" y="576"/>
                  </a:lnTo>
                  <a:lnTo>
                    <a:pt x="229" y="574"/>
                  </a:lnTo>
                  <a:lnTo>
                    <a:pt x="230" y="574"/>
                  </a:lnTo>
                  <a:lnTo>
                    <a:pt x="230" y="572"/>
                  </a:lnTo>
                  <a:lnTo>
                    <a:pt x="232" y="572"/>
                  </a:lnTo>
                  <a:lnTo>
                    <a:pt x="236" y="572"/>
                  </a:lnTo>
                  <a:lnTo>
                    <a:pt x="238" y="570"/>
                  </a:lnTo>
                  <a:lnTo>
                    <a:pt x="238" y="572"/>
                  </a:lnTo>
                  <a:lnTo>
                    <a:pt x="240" y="572"/>
                  </a:lnTo>
                  <a:lnTo>
                    <a:pt x="240" y="576"/>
                  </a:lnTo>
                  <a:lnTo>
                    <a:pt x="242" y="576"/>
                  </a:lnTo>
                  <a:lnTo>
                    <a:pt x="249" y="578"/>
                  </a:lnTo>
                  <a:lnTo>
                    <a:pt x="251" y="580"/>
                  </a:lnTo>
                  <a:lnTo>
                    <a:pt x="257" y="578"/>
                  </a:lnTo>
                  <a:lnTo>
                    <a:pt x="261" y="578"/>
                  </a:lnTo>
                  <a:lnTo>
                    <a:pt x="263" y="578"/>
                  </a:lnTo>
                  <a:lnTo>
                    <a:pt x="263" y="578"/>
                  </a:lnTo>
                  <a:lnTo>
                    <a:pt x="265" y="578"/>
                  </a:lnTo>
                  <a:lnTo>
                    <a:pt x="265" y="580"/>
                  </a:lnTo>
                  <a:lnTo>
                    <a:pt x="265" y="580"/>
                  </a:lnTo>
                  <a:lnTo>
                    <a:pt x="263" y="580"/>
                  </a:lnTo>
                  <a:lnTo>
                    <a:pt x="263" y="580"/>
                  </a:lnTo>
                  <a:lnTo>
                    <a:pt x="261" y="582"/>
                  </a:lnTo>
                  <a:lnTo>
                    <a:pt x="257" y="582"/>
                  </a:lnTo>
                  <a:lnTo>
                    <a:pt x="257" y="582"/>
                  </a:lnTo>
                  <a:lnTo>
                    <a:pt x="257" y="582"/>
                  </a:lnTo>
                  <a:lnTo>
                    <a:pt x="255" y="582"/>
                  </a:lnTo>
                  <a:lnTo>
                    <a:pt x="257" y="584"/>
                  </a:lnTo>
                  <a:lnTo>
                    <a:pt x="257" y="584"/>
                  </a:lnTo>
                  <a:lnTo>
                    <a:pt x="259" y="586"/>
                  </a:lnTo>
                  <a:lnTo>
                    <a:pt x="259" y="586"/>
                  </a:lnTo>
                  <a:lnTo>
                    <a:pt x="261" y="586"/>
                  </a:lnTo>
                  <a:lnTo>
                    <a:pt x="263" y="586"/>
                  </a:lnTo>
                  <a:lnTo>
                    <a:pt x="265" y="588"/>
                  </a:lnTo>
                  <a:lnTo>
                    <a:pt x="265" y="588"/>
                  </a:lnTo>
                  <a:lnTo>
                    <a:pt x="265" y="588"/>
                  </a:lnTo>
                  <a:lnTo>
                    <a:pt x="265" y="588"/>
                  </a:lnTo>
                  <a:lnTo>
                    <a:pt x="265" y="589"/>
                  </a:lnTo>
                  <a:lnTo>
                    <a:pt x="267" y="589"/>
                  </a:lnTo>
                  <a:lnTo>
                    <a:pt x="267" y="589"/>
                  </a:lnTo>
                  <a:lnTo>
                    <a:pt x="269" y="589"/>
                  </a:lnTo>
                  <a:lnTo>
                    <a:pt x="269" y="589"/>
                  </a:lnTo>
                  <a:lnTo>
                    <a:pt x="270" y="589"/>
                  </a:lnTo>
                  <a:lnTo>
                    <a:pt x="272" y="589"/>
                  </a:lnTo>
                  <a:lnTo>
                    <a:pt x="272" y="591"/>
                  </a:lnTo>
                  <a:lnTo>
                    <a:pt x="272" y="591"/>
                  </a:lnTo>
                  <a:lnTo>
                    <a:pt x="272" y="591"/>
                  </a:lnTo>
                  <a:lnTo>
                    <a:pt x="272" y="593"/>
                  </a:lnTo>
                  <a:lnTo>
                    <a:pt x="272" y="593"/>
                  </a:lnTo>
                  <a:lnTo>
                    <a:pt x="272" y="595"/>
                  </a:lnTo>
                  <a:lnTo>
                    <a:pt x="272" y="595"/>
                  </a:lnTo>
                  <a:lnTo>
                    <a:pt x="274" y="597"/>
                  </a:lnTo>
                  <a:lnTo>
                    <a:pt x="274" y="599"/>
                  </a:lnTo>
                  <a:lnTo>
                    <a:pt x="276" y="599"/>
                  </a:lnTo>
                  <a:lnTo>
                    <a:pt x="276" y="599"/>
                  </a:lnTo>
                  <a:lnTo>
                    <a:pt x="276" y="599"/>
                  </a:lnTo>
                  <a:lnTo>
                    <a:pt x="278" y="599"/>
                  </a:lnTo>
                  <a:lnTo>
                    <a:pt x="278" y="599"/>
                  </a:lnTo>
                  <a:lnTo>
                    <a:pt x="278" y="599"/>
                  </a:lnTo>
                  <a:lnTo>
                    <a:pt x="278" y="599"/>
                  </a:lnTo>
                  <a:lnTo>
                    <a:pt x="280" y="593"/>
                  </a:lnTo>
                  <a:lnTo>
                    <a:pt x="280" y="591"/>
                  </a:lnTo>
                  <a:lnTo>
                    <a:pt x="280" y="591"/>
                  </a:lnTo>
                  <a:lnTo>
                    <a:pt x="280" y="591"/>
                  </a:lnTo>
                  <a:lnTo>
                    <a:pt x="280" y="591"/>
                  </a:lnTo>
                  <a:lnTo>
                    <a:pt x="282" y="591"/>
                  </a:lnTo>
                  <a:lnTo>
                    <a:pt x="284" y="591"/>
                  </a:lnTo>
                  <a:lnTo>
                    <a:pt x="284" y="591"/>
                  </a:lnTo>
                  <a:lnTo>
                    <a:pt x="290" y="595"/>
                  </a:lnTo>
                  <a:lnTo>
                    <a:pt x="290" y="595"/>
                  </a:lnTo>
                  <a:lnTo>
                    <a:pt x="291" y="595"/>
                  </a:lnTo>
                  <a:lnTo>
                    <a:pt x="293" y="595"/>
                  </a:lnTo>
                  <a:lnTo>
                    <a:pt x="293" y="595"/>
                  </a:lnTo>
                  <a:lnTo>
                    <a:pt x="295" y="597"/>
                  </a:lnTo>
                  <a:lnTo>
                    <a:pt x="295" y="597"/>
                  </a:lnTo>
                  <a:lnTo>
                    <a:pt x="295" y="597"/>
                  </a:lnTo>
                  <a:lnTo>
                    <a:pt x="297" y="601"/>
                  </a:lnTo>
                  <a:lnTo>
                    <a:pt x="297" y="601"/>
                  </a:lnTo>
                  <a:lnTo>
                    <a:pt x="299" y="603"/>
                  </a:lnTo>
                  <a:lnTo>
                    <a:pt x="299" y="603"/>
                  </a:lnTo>
                  <a:lnTo>
                    <a:pt x="301" y="605"/>
                  </a:lnTo>
                  <a:lnTo>
                    <a:pt x="303" y="605"/>
                  </a:lnTo>
                  <a:lnTo>
                    <a:pt x="307" y="605"/>
                  </a:lnTo>
                  <a:lnTo>
                    <a:pt x="310" y="605"/>
                  </a:lnTo>
                  <a:lnTo>
                    <a:pt x="312" y="605"/>
                  </a:lnTo>
                  <a:lnTo>
                    <a:pt x="316" y="607"/>
                  </a:lnTo>
                  <a:lnTo>
                    <a:pt x="318" y="607"/>
                  </a:lnTo>
                  <a:lnTo>
                    <a:pt x="318" y="607"/>
                  </a:lnTo>
                  <a:lnTo>
                    <a:pt x="320" y="605"/>
                  </a:lnTo>
                  <a:lnTo>
                    <a:pt x="322" y="605"/>
                  </a:lnTo>
                  <a:lnTo>
                    <a:pt x="322" y="603"/>
                  </a:lnTo>
                  <a:lnTo>
                    <a:pt x="322" y="603"/>
                  </a:lnTo>
                  <a:lnTo>
                    <a:pt x="322" y="603"/>
                  </a:lnTo>
                  <a:lnTo>
                    <a:pt x="322" y="601"/>
                  </a:lnTo>
                  <a:lnTo>
                    <a:pt x="322" y="601"/>
                  </a:lnTo>
                  <a:lnTo>
                    <a:pt x="322" y="601"/>
                  </a:lnTo>
                  <a:lnTo>
                    <a:pt x="322" y="601"/>
                  </a:lnTo>
                  <a:lnTo>
                    <a:pt x="322" y="599"/>
                  </a:lnTo>
                  <a:lnTo>
                    <a:pt x="324" y="599"/>
                  </a:lnTo>
                  <a:lnTo>
                    <a:pt x="324" y="599"/>
                  </a:lnTo>
                  <a:lnTo>
                    <a:pt x="324" y="597"/>
                  </a:lnTo>
                  <a:lnTo>
                    <a:pt x="324" y="597"/>
                  </a:lnTo>
                  <a:lnTo>
                    <a:pt x="324" y="595"/>
                  </a:lnTo>
                  <a:lnTo>
                    <a:pt x="324" y="595"/>
                  </a:lnTo>
                  <a:lnTo>
                    <a:pt x="324" y="595"/>
                  </a:lnTo>
                  <a:lnTo>
                    <a:pt x="326" y="593"/>
                  </a:lnTo>
                  <a:lnTo>
                    <a:pt x="326" y="593"/>
                  </a:lnTo>
                  <a:lnTo>
                    <a:pt x="326" y="593"/>
                  </a:lnTo>
                  <a:lnTo>
                    <a:pt x="328" y="593"/>
                  </a:lnTo>
                  <a:lnTo>
                    <a:pt x="328" y="593"/>
                  </a:lnTo>
                  <a:lnTo>
                    <a:pt x="331" y="591"/>
                  </a:lnTo>
                  <a:lnTo>
                    <a:pt x="333" y="591"/>
                  </a:lnTo>
                  <a:lnTo>
                    <a:pt x="333" y="591"/>
                  </a:lnTo>
                  <a:lnTo>
                    <a:pt x="335" y="591"/>
                  </a:lnTo>
                  <a:lnTo>
                    <a:pt x="335" y="591"/>
                  </a:lnTo>
                  <a:lnTo>
                    <a:pt x="335" y="593"/>
                  </a:lnTo>
                  <a:lnTo>
                    <a:pt x="335" y="593"/>
                  </a:lnTo>
                  <a:lnTo>
                    <a:pt x="335" y="593"/>
                  </a:lnTo>
                  <a:lnTo>
                    <a:pt x="335" y="595"/>
                  </a:lnTo>
                  <a:lnTo>
                    <a:pt x="335" y="599"/>
                  </a:lnTo>
                  <a:lnTo>
                    <a:pt x="333" y="601"/>
                  </a:lnTo>
                  <a:lnTo>
                    <a:pt x="333" y="601"/>
                  </a:lnTo>
                  <a:lnTo>
                    <a:pt x="333" y="601"/>
                  </a:lnTo>
                  <a:lnTo>
                    <a:pt x="335" y="603"/>
                  </a:lnTo>
                  <a:lnTo>
                    <a:pt x="335" y="603"/>
                  </a:lnTo>
                  <a:lnTo>
                    <a:pt x="337" y="603"/>
                  </a:lnTo>
                  <a:lnTo>
                    <a:pt x="341" y="605"/>
                  </a:lnTo>
                  <a:lnTo>
                    <a:pt x="341" y="605"/>
                  </a:lnTo>
                  <a:lnTo>
                    <a:pt x="343" y="605"/>
                  </a:lnTo>
                  <a:lnTo>
                    <a:pt x="343" y="605"/>
                  </a:lnTo>
                  <a:lnTo>
                    <a:pt x="343" y="603"/>
                  </a:lnTo>
                  <a:lnTo>
                    <a:pt x="345" y="603"/>
                  </a:lnTo>
                  <a:lnTo>
                    <a:pt x="345" y="605"/>
                  </a:lnTo>
                  <a:lnTo>
                    <a:pt x="345" y="605"/>
                  </a:lnTo>
                  <a:lnTo>
                    <a:pt x="345" y="607"/>
                  </a:lnTo>
                  <a:lnTo>
                    <a:pt x="345" y="607"/>
                  </a:lnTo>
                  <a:lnTo>
                    <a:pt x="345" y="608"/>
                  </a:lnTo>
                  <a:lnTo>
                    <a:pt x="345" y="608"/>
                  </a:lnTo>
                  <a:lnTo>
                    <a:pt x="343" y="608"/>
                  </a:lnTo>
                  <a:lnTo>
                    <a:pt x="343" y="608"/>
                  </a:lnTo>
                  <a:lnTo>
                    <a:pt x="341" y="608"/>
                  </a:lnTo>
                  <a:lnTo>
                    <a:pt x="339" y="608"/>
                  </a:lnTo>
                  <a:lnTo>
                    <a:pt x="339" y="608"/>
                  </a:lnTo>
                  <a:lnTo>
                    <a:pt x="339" y="608"/>
                  </a:lnTo>
                  <a:lnTo>
                    <a:pt x="337" y="610"/>
                  </a:lnTo>
                  <a:lnTo>
                    <a:pt x="337" y="610"/>
                  </a:lnTo>
                  <a:lnTo>
                    <a:pt x="337" y="610"/>
                  </a:lnTo>
                  <a:lnTo>
                    <a:pt x="337" y="612"/>
                  </a:lnTo>
                  <a:lnTo>
                    <a:pt x="335" y="612"/>
                  </a:lnTo>
                  <a:lnTo>
                    <a:pt x="335" y="614"/>
                  </a:lnTo>
                  <a:lnTo>
                    <a:pt x="333" y="620"/>
                  </a:lnTo>
                  <a:lnTo>
                    <a:pt x="333" y="622"/>
                  </a:lnTo>
                  <a:lnTo>
                    <a:pt x="333" y="622"/>
                  </a:lnTo>
                  <a:lnTo>
                    <a:pt x="335" y="626"/>
                  </a:lnTo>
                  <a:lnTo>
                    <a:pt x="335" y="627"/>
                  </a:lnTo>
                  <a:lnTo>
                    <a:pt x="335" y="627"/>
                  </a:lnTo>
                  <a:lnTo>
                    <a:pt x="337" y="629"/>
                  </a:lnTo>
                  <a:lnTo>
                    <a:pt x="339" y="629"/>
                  </a:lnTo>
                  <a:lnTo>
                    <a:pt x="339" y="631"/>
                  </a:lnTo>
                  <a:lnTo>
                    <a:pt x="341" y="631"/>
                  </a:lnTo>
                  <a:lnTo>
                    <a:pt x="341" y="633"/>
                  </a:lnTo>
                  <a:lnTo>
                    <a:pt x="343" y="633"/>
                  </a:lnTo>
                  <a:lnTo>
                    <a:pt x="343" y="635"/>
                  </a:lnTo>
                  <a:lnTo>
                    <a:pt x="345" y="635"/>
                  </a:lnTo>
                  <a:lnTo>
                    <a:pt x="345" y="637"/>
                  </a:lnTo>
                  <a:lnTo>
                    <a:pt x="345" y="637"/>
                  </a:lnTo>
                  <a:lnTo>
                    <a:pt x="347" y="641"/>
                  </a:lnTo>
                  <a:lnTo>
                    <a:pt x="349" y="641"/>
                  </a:lnTo>
                  <a:lnTo>
                    <a:pt x="349" y="641"/>
                  </a:lnTo>
                  <a:lnTo>
                    <a:pt x="352" y="639"/>
                  </a:lnTo>
                  <a:lnTo>
                    <a:pt x="354" y="639"/>
                  </a:lnTo>
                  <a:lnTo>
                    <a:pt x="354" y="637"/>
                  </a:lnTo>
                  <a:lnTo>
                    <a:pt x="354" y="637"/>
                  </a:lnTo>
                  <a:lnTo>
                    <a:pt x="356" y="633"/>
                  </a:lnTo>
                  <a:lnTo>
                    <a:pt x="356" y="633"/>
                  </a:lnTo>
                  <a:lnTo>
                    <a:pt x="358" y="631"/>
                  </a:lnTo>
                  <a:lnTo>
                    <a:pt x="358" y="633"/>
                  </a:lnTo>
                  <a:lnTo>
                    <a:pt x="362" y="637"/>
                  </a:lnTo>
                  <a:lnTo>
                    <a:pt x="362" y="639"/>
                  </a:lnTo>
                  <a:lnTo>
                    <a:pt x="362" y="641"/>
                  </a:lnTo>
                  <a:lnTo>
                    <a:pt x="362" y="643"/>
                  </a:lnTo>
                  <a:lnTo>
                    <a:pt x="362" y="643"/>
                  </a:lnTo>
                  <a:lnTo>
                    <a:pt x="362" y="643"/>
                  </a:lnTo>
                  <a:lnTo>
                    <a:pt x="364" y="645"/>
                  </a:lnTo>
                  <a:lnTo>
                    <a:pt x="364" y="647"/>
                  </a:lnTo>
                  <a:lnTo>
                    <a:pt x="364" y="648"/>
                  </a:lnTo>
                  <a:lnTo>
                    <a:pt x="364" y="650"/>
                  </a:lnTo>
                  <a:lnTo>
                    <a:pt x="364" y="650"/>
                  </a:lnTo>
                  <a:lnTo>
                    <a:pt x="362" y="650"/>
                  </a:lnTo>
                  <a:lnTo>
                    <a:pt x="360" y="652"/>
                  </a:lnTo>
                  <a:lnTo>
                    <a:pt x="360" y="652"/>
                  </a:lnTo>
                  <a:lnTo>
                    <a:pt x="360" y="654"/>
                  </a:lnTo>
                  <a:lnTo>
                    <a:pt x="360" y="656"/>
                  </a:lnTo>
                  <a:lnTo>
                    <a:pt x="360" y="658"/>
                  </a:lnTo>
                  <a:lnTo>
                    <a:pt x="360" y="660"/>
                  </a:lnTo>
                  <a:lnTo>
                    <a:pt x="358" y="664"/>
                  </a:lnTo>
                  <a:lnTo>
                    <a:pt x="358" y="664"/>
                  </a:lnTo>
                  <a:lnTo>
                    <a:pt x="358" y="666"/>
                  </a:lnTo>
                  <a:lnTo>
                    <a:pt x="362" y="664"/>
                  </a:lnTo>
                  <a:lnTo>
                    <a:pt x="362" y="666"/>
                  </a:lnTo>
                  <a:lnTo>
                    <a:pt x="364" y="666"/>
                  </a:lnTo>
                  <a:lnTo>
                    <a:pt x="364" y="666"/>
                  </a:lnTo>
                  <a:lnTo>
                    <a:pt x="364" y="667"/>
                  </a:lnTo>
                  <a:lnTo>
                    <a:pt x="366" y="669"/>
                  </a:lnTo>
                  <a:lnTo>
                    <a:pt x="366" y="669"/>
                  </a:lnTo>
                  <a:lnTo>
                    <a:pt x="368" y="671"/>
                  </a:lnTo>
                  <a:lnTo>
                    <a:pt x="368" y="671"/>
                  </a:lnTo>
                  <a:lnTo>
                    <a:pt x="371" y="671"/>
                  </a:lnTo>
                  <a:lnTo>
                    <a:pt x="371" y="673"/>
                  </a:lnTo>
                  <a:lnTo>
                    <a:pt x="371" y="673"/>
                  </a:lnTo>
                  <a:lnTo>
                    <a:pt x="373" y="673"/>
                  </a:lnTo>
                  <a:lnTo>
                    <a:pt x="373" y="675"/>
                  </a:lnTo>
                  <a:lnTo>
                    <a:pt x="373" y="675"/>
                  </a:lnTo>
                  <a:lnTo>
                    <a:pt x="371" y="677"/>
                  </a:lnTo>
                  <a:lnTo>
                    <a:pt x="371" y="677"/>
                  </a:lnTo>
                  <a:lnTo>
                    <a:pt x="371" y="679"/>
                  </a:lnTo>
                  <a:lnTo>
                    <a:pt x="371" y="681"/>
                  </a:lnTo>
                  <a:lnTo>
                    <a:pt x="371" y="683"/>
                  </a:lnTo>
                  <a:lnTo>
                    <a:pt x="371" y="683"/>
                  </a:lnTo>
                  <a:lnTo>
                    <a:pt x="373" y="683"/>
                  </a:lnTo>
                  <a:lnTo>
                    <a:pt x="373" y="683"/>
                  </a:lnTo>
                  <a:lnTo>
                    <a:pt x="375" y="683"/>
                  </a:lnTo>
                  <a:lnTo>
                    <a:pt x="377" y="681"/>
                  </a:lnTo>
                  <a:lnTo>
                    <a:pt x="377" y="679"/>
                  </a:lnTo>
                  <a:lnTo>
                    <a:pt x="379" y="679"/>
                  </a:lnTo>
                  <a:lnTo>
                    <a:pt x="381" y="681"/>
                  </a:lnTo>
                  <a:lnTo>
                    <a:pt x="383" y="683"/>
                  </a:lnTo>
                  <a:lnTo>
                    <a:pt x="383" y="685"/>
                  </a:lnTo>
                  <a:lnTo>
                    <a:pt x="383" y="686"/>
                  </a:lnTo>
                  <a:lnTo>
                    <a:pt x="383" y="688"/>
                  </a:lnTo>
                  <a:lnTo>
                    <a:pt x="383" y="690"/>
                  </a:lnTo>
                  <a:lnTo>
                    <a:pt x="383" y="692"/>
                  </a:lnTo>
                  <a:lnTo>
                    <a:pt x="383" y="694"/>
                  </a:lnTo>
                  <a:lnTo>
                    <a:pt x="385" y="694"/>
                  </a:lnTo>
                  <a:lnTo>
                    <a:pt x="383" y="696"/>
                  </a:lnTo>
                  <a:lnTo>
                    <a:pt x="383" y="698"/>
                  </a:lnTo>
                  <a:lnTo>
                    <a:pt x="383" y="700"/>
                  </a:lnTo>
                  <a:lnTo>
                    <a:pt x="387" y="700"/>
                  </a:lnTo>
                  <a:lnTo>
                    <a:pt x="389" y="700"/>
                  </a:lnTo>
                  <a:lnTo>
                    <a:pt x="391" y="702"/>
                  </a:lnTo>
                  <a:lnTo>
                    <a:pt x="391" y="702"/>
                  </a:lnTo>
                  <a:lnTo>
                    <a:pt x="398" y="700"/>
                  </a:lnTo>
                  <a:lnTo>
                    <a:pt x="400" y="700"/>
                  </a:lnTo>
                  <a:lnTo>
                    <a:pt x="400" y="700"/>
                  </a:lnTo>
                  <a:lnTo>
                    <a:pt x="402" y="702"/>
                  </a:lnTo>
                  <a:lnTo>
                    <a:pt x="404" y="705"/>
                  </a:lnTo>
                  <a:lnTo>
                    <a:pt x="408" y="709"/>
                  </a:lnTo>
                  <a:lnTo>
                    <a:pt x="408" y="709"/>
                  </a:lnTo>
                  <a:lnTo>
                    <a:pt x="410" y="709"/>
                  </a:lnTo>
                  <a:lnTo>
                    <a:pt x="410" y="709"/>
                  </a:lnTo>
                  <a:lnTo>
                    <a:pt x="410" y="709"/>
                  </a:lnTo>
                  <a:lnTo>
                    <a:pt x="411" y="709"/>
                  </a:lnTo>
                  <a:lnTo>
                    <a:pt x="411" y="709"/>
                  </a:lnTo>
                  <a:lnTo>
                    <a:pt x="411" y="709"/>
                  </a:lnTo>
                  <a:lnTo>
                    <a:pt x="411" y="707"/>
                  </a:lnTo>
                  <a:lnTo>
                    <a:pt x="411" y="707"/>
                  </a:lnTo>
                  <a:lnTo>
                    <a:pt x="413" y="707"/>
                  </a:lnTo>
                  <a:lnTo>
                    <a:pt x="413" y="707"/>
                  </a:lnTo>
                  <a:lnTo>
                    <a:pt x="417" y="711"/>
                  </a:lnTo>
                  <a:lnTo>
                    <a:pt x="421" y="713"/>
                  </a:lnTo>
                  <a:lnTo>
                    <a:pt x="425" y="717"/>
                  </a:lnTo>
                  <a:lnTo>
                    <a:pt x="427" y="717"/>
                  </a:lnTo>
                  <a:lnTo>
                    <a:pt x="429" y="719"/>
                  </a:lnTo>
                  <a:lnTo>
                    <a:pt x="429" y="721"/>
                  </a:lnTo>
                  <a:lnTo>
                    <a:pt x="429" y="721"/>
                  </a:lnTo>
                  <a:lnTo>
                    <a:pt x="429" y="723"/>
                  </a:lnTo>
                  <a:lnTo>
                    <a:pt x="429" y="724"/>
                  </a:lnTo>
                  <a:lnTo>
                    <a:pt x="429" y="726"/>
                  </a:lnTo>
                  <a:lnTo>
                    <a:pt x="431" y="726"/>
                  </a:lnTo>
                  <a:lnTo>
                    <a:pt x="431" y="728"/>
                  </a:lnTo>
                  <a:lnTo>
                    <a:pt x="432" y="728"/>
                  </a:lnTo>
                  <a:lnTo>
                    <a:pt x="432" y="726"/>
                  </a:lnTo>
                  <a:lnTo>
                    <a:pt x="434" y="726"/>
                  </a:lnTo>
                  <a:lnTo>
                    <a:pt x="434" y="726"/>
                  </a:lnTo>
                  <a:lnTo>
                    <a:pt x="436" y="726"/>
                  </a:lnTo>
                  <a:lnTo>
                    <a:pt x="436" y="726"/>
                  </a:lnTo>
                  <a:lnTo>
                    <a:pt x="440" y="728"/>
                  </a:lnTo>
                  <a:lnTo>
                    <a:pt x="440" y="728"/>
                  </a:lnTo>
                  <a:lnTo>
                    <a:pt x="442" y="730"/>
                  </a:lnTo>
                  <a:lnTo>
                    <a:pt x="442" y="732"/>
                  </a:lnTo>
                  <a:lnTo>
                    <a:pt x="444" y="734"/>
                  </a:lnTo>
                  <a:lnTo>
                    <a:pt x="444" y="734"/>
                  </a:lnTo>
                  <a:lnTo>
                    <a:pt x="446" y="736"/>
                  </a:lnTo>
                  <a:lnTo>
                    <a:pt x="446" y="736"/>
                  </a:lnTo>
                  <a:lnTo>
                    <a:pt x="446" y="736"/>
                  </a:lnTo>
                  <a:lnTo>
                    <a:pt x="448" y="738"/>
                  </a:lnTo>
                  <a:lnTo>
                    <a:pt x="448" y="740"/>
                  </a:lnTo>
                  <a:lnTo>
                    <a:pt x="450" y="738"/>
                  </a:lnTo>
                  <a:lnTo>
                    <a:pt x="451" y="738"/>
                  </a:lnTo>
                  <a:lnTo>
                    <a:pt x="451" y="738"/>
                  </a:lnTo>
                  <a:lnTo>
                    <a:pt x="453" y="736"/>
                  </a:lnTo>
                  <a:lnTo>
                    <a:pt x="453" y="736"/>
                  </a:lnTo>
                  <a:lnTo>
                    <a:pt x="455" y="736"/>
                  </a:lnTo>
                  <a:lnTo>
                    <a:pt x="457" y="736"/>
                  </a:lnTo>
                  <a:lnTo>
                    <a:pt x="459" y="738"/>
                  </a:lnTo>
                  <a:lnTo>
                    <a:pt x="459" y="738"/>
                  </a:lnTo>
                  <a:lnTo>
                    <a:pt x="461" y="738"/>
                  </a:lnTo>
                  <a:lnTo>
                    <a:pt x="469" y="734"/>
                  </a:lnTo>
                  <a:lnTo>
                    <a:pt x="474" y="732"/>
                  </a:lnTo>
                  <a:lnTo>
                    <a:pt x="480" y="728"/>
                  </a:lnTo>
                  <a:lnTo>
                    <a:pt x="484" y="726"/>
                  </a:lnTo>
                  <a:lnTo>
                    <a:pt x="484" y="726"/>
                  </a:lnTo>
                  <a:lnTo>
                    <a:pt x="484" y="724"/>
                  </a:lnTo>
                  <a:lnTo>
                    <a:pt x="482" y="724"/>
                  </a:lnTo>
                  <a:lnTo>
                    <a:pt x="482" y="723"/>
                  </a:lnTo>
                  <a:lnTo>
                    <a:pt x="480" y="723"/>
                  </a:lnTo>
                  <a:lnTo>
                    <a:pt x="480" y="721"/>
                  </a:lnTo>
                  <a:lnTo>
                    <a:pt x="478" y="721"/>
                  </a:lnTo>
                  <a:lnTo>
                    <a:pt x="478" y="721"/>
                  </a:lnTo>
                  <a:lnTo>
                    <a:pt x="476" y="721"/>
                  </a:lnTo>
                  <a:lnTo>
                    <a:pt x="474" y="721"/>
                  </a:lnTo>
                  <a:lnTo>
                    <a:pt x="472" y="719"/>
                  </a:lnTo>
                  <a:lnTo>
                    <a:pt x="469" y="719"/>
                  </a:lnTo>
                  <a:lnTo>
                    <a:pt x="469" y="719"/>
                  </a:lnTo>
                  <a:lnTo>
                    <a:pt x="467" y="719"/>
                  </a:lnTo>
                  <a:lnTo>
                    <a:pt x="467" y="717"/>
                  </a:lnTo>
                  <a:lnTo>
                    <a:pt x="467" y="717"/>
                  </a:lnTo>
                  <a:lnTo>
                    <a:pt x="467" y="715"/>
                  </a:lnTo>
                  <a:lnTo>
                    <a:pt x="467" y="715"/>
                  </a:lnTo>
                  <a:lnTo>
                    <a:pt x="469" y="707"/>
                  </a:lnTo>
                  <a:lnTo>
                    <a:pt x="471" y="707"/>
                  </a:lnTo>
                  <a:lnTo>
                    <a:pt x="476" y="702"/>
                  </a:lnTo>
                  <a:lnTo>
                    <a:pt x="478" y="700"/>
                  </a:lnTo>
                  <a:lnTo>
                    <a:pt x="482" y="698"/>
                  </a:lnTo>
                  <a:lnTo>
                    <a:pt x="484" y="698"/>
                  </a:lnTo>
                  <a:lnTo>
                    <a:pt x="490" y="694"/>
                  </a:lnTo>
                  <a:lnTo>
                    <a:pt x="491" y="694"/>
                  </a:lnTo>
                  <a:lnTo>
                    <a:pt x="493" y="694"/>
                  </a:lnTo>
                  <a:lnTo>
                    <a:pt x="493" y="694"/>
                  </a:lnTo>
                  <a:lnTo>
                    <a:pt x="497" y="690"/>
                  </a:lnTo>
                  <a:lnTo>
                    <a:pt x="497" y="690"/>
                  </a:lnTo>
                  <a:lnTo>
                    <a:pt x="499" y="688"/>
                  </a:lnTo>
                  <a:lnTo>
                    <a:pt x="499" y="686"/>
                  </a:lnTo>
                  <a:lnTo>
                    <a:pt x="501" y="683"/>
                  </a:lnTo>
                  <a:lnTo>
                    <a:pt x="501" y="681"/>
                  </a:lnTo>
                  <a:lnTo>
                    <a:pt x="501" y="681"/>
                  </a:lnTo>
                  <a:lnTo>
                    <a:pt x="503" y="679"/>
                  </a:lnTo>
                  <a:lnTo>
                    <a:pt x="503" y="679"/>
                  </a:lnTo>
                  <a:lnTo>
                    <a:pt x="505" y="677"/>
                  </a:lnTo>
                  <a:lnTo>
                    <a:pt x="505" y="675"/>
                  </a:lnTo>
                  <a:lnTo>
                    <a:pt x="505" y="673"/>
                  </a:lnTo>
                  <a:lnTo>
                    <a:pt x="505" y="671"/>
                  </a:lnTo>
                  <a:lnTo>
                    <a:pt x="505" y="667"/>
                  </a:lnTo>
                  <a:lnTo>
                    <a:pt x="503" y="666"/>
                  </a:lnTo>
                  <a:lnTo>
                    <a:pt x="501" y="664"/>
                  </a:lnTo>
                  <a:lnTo>
                    <a:pt x="501" y="662"/>
                  </a:lnTo>
                  <a:lnTo>
                    <a:pt x="501" y="660"/>
                  </a:lnTo>
                  <a:lnTo>
                    <a:pt x="501" y="658"/>
                  </a:lnTo>
                  <a:lnTo>
                    <a:pt x="501" y="654"/>
                  </a:lnTo>
                  <a:lnTo>
                    <a:pt x="505" y="643"/>
                  </a:lnTo>
                  <a:lnTo>
                    <a:pt x="507" y="641"/>
                  </a:lnTo>
                  <a:lnTo>
                    <a:pt x="507" y="641"/>
                  </a:lnTo>
                  <a:lnTo>
                    <a:pt x="507" y="639"/>
                  </a:lnTo>
                  <a:lnTo>
                    <a:pt x="507" y="639"/>
                  </a:lnTo>
                  <a:lnTo>
                    <a:pt x="507" y="637"/>
                  </a:lnTo>
                  <a:lnTo>
                    <a:pt x="505" y="637"/>
                  </a:lnTo>
                  <a:lnTo>
                    <a:pt x="503" y="635"/>
                  </a:lnTo>
                  <a:lnTo>
                    <a:pt x="503" y="633"/>
                  </a:lnTo>
                  <a:lnTo>
                    <a:pt x="501" y="633"/>
                  </a:lnTo>
                  <a:lnTo>
                    <a:pt x="501" y="631"/>
                  </a:lnTo>
                  <a:lnTo>
                    <a:pt x="501" y="629"/>
                  </a:lnTo>
                  <a:lnTo>
                    <a:pt x="499" y="627"/>
                  </a:lnTo>
                  <a:lnTo>
                    <a:pt x="499" y="622"/>
                  </a:lnTo>
                  <a:lnTo>
                    <a:pt x="499" y="620"/>
                  </a:lnTo>
                  <a:lnTo>
                    <a:pt x="499" y="620"/>
                  </a:lnTo>
                  <a:lnTo>
                    <a:pt x="497" y="618"/>
                  </a:lnTo>
                  <a:lnTo>
                    <a:pt x="495" y="618"/>
                  </a:lnTo>
                  <a:lnTo>
                    <a:pt x="493" y="616"/>
                  </a:lnTo>
                  <a:lnTo>
                    <a:pt x="491" y="616"/>
                  </a:lnTo>
                  <a:lnTo>
                    <a:pt x="488" y="616"/>
                  </a:lnTo>
                  <a:lnTo>
                    <a:pt x="488" y="616"/>
                  </a:lnTo>
                  <a:lnTo>
                    <a:pt x="486" y="616"/>
                  </a:lnTo>
                  <a:lnTo>
                    <a:pt x="486" y="616"/>
                  </a:lnTo>
                  <a:lnTo>
                    <a:pt x="486" y="614"/>
                  </a:lnTo>
                  <a:lnTo>
                    <a:pt x="488" y="614"/>
                  </a:lnTo>
                  <a:lnTo>
                    <a:pt x="488" y="612"/>
                  </a:lnTo>
                  <a:lnTo>
                    <a:pt x="488" y="610"/>
                  </a:lnTo>
                  <a:lnTo>
                    <a:pt x="488" y="608"/>
                  </a:lnTo>
                  <a:lnTo>
                    <a:pt x="488" y="608"/>
                  </a:lnTo>
                  <a:lnTo>
                    <a:pt x="490" y="607"/>
                  </a:lnTo>
                  <a:lnTo>
                    <a:pt x="493" y="603"/>
                  </a:lnTo>
                  <a:lnTo>
                    <a:pt x="495" y="601"/>
                  </a:lnTo>
                  <a:lnTo>
                    <a:pt x="495" y="599"/>
                  </a:lnTo>
                  <a:lnTo>
                    <a:pt x="495" y="597"/>
                  </a:lnTo>
                  <a:lnTo>
                    <a:pt x="495" y="595"/>
                  </a:lnTo>
                  <a:lnTo>
                    <a:pt x="493" y="595"/>
                  </a:lnTo>
                  <a:lnTo>
                    <a:pt x="484" y="593"/>
                  </a:lnTo>
                  <a:lnTo>
                    <a:pt x="484" y="591"/>
                  </a:lnTo>
                  <a:lnTo>
                    <a:pt x="484" y="591"/>
                  </a:lnTo>
                  <a:lnTo>
                    <a:pt x="484" y="589"/>
                  </a:lnTo>
                  <a:lnTo>
                    <a:pt x="484" y="589"/>
                  </a:lnTo>
                  <a:lnTo>
                    <a:pt x="484" y="588"/>
                  </a:lnTo>
                  <a:lnTo>
                    <a:pt x="488" y="584"/>
                  </a:lnTo>
                  <a:lnTo>
                    <a:pt x="490" y="576"/>
                  </a:lnTo>
                  <a:lnTo>
                    <a:pt x="490" y="574"/>
                  </a:lnTo>
                  <a:lnTo>
                    <a:pt x="490" y="572"/>
                  </a:lnTo>
                  <a:lnTo>
                    <a:pt x="490" y="572"/>
                  </a:lnTo>
                  <a:lnTo>
                    <a:pt x="490" y="569"/>
                  </a:lnTo>
                  <a:lnTo>
                    <a:pt x="490" y="565"/>
                  </a:lnTo>
                  <a:lnTo>
                    <a:pt x="490" y="565"/>
                  </a:lnTo>
                  <a:lnTo>
                    <a:pt x="490" y="565"/>
                  </a:lnTo>
                  <a:lnTo>
                    <a:pt x="491" y="565"/>
                  </a:lnTo>
                  <a:lnTo>
                    <a:pt x="491" y="565"/>
                  </a:lnTo>
                  <a:lnTo>
                    <a:pt x="491" y="567"/>
                  </a:lnTo>
                  <a:lnTo>
                    <a:pt x="491" y="569"/>
                  </a:lnTo>
                  <a:lnTo>
                    <a:pt x="493" y="569"/>
                  </a:lnTo>
                  <a:lnTo>
                    <a:pt x="493" y="570"/>
                  </a:lnTo>
                  <a:lnTo>
                    <a:pt x="495" y="570"/>
                  </a:lnTo>
                  <a:lnTo>
                    <a:pt x="495" y="572"/>
                  </a:lnTo>
                  <a:lnTo>
                    <a:pt x="497" y="574"/>
                  </a:lnTo>
                  <a:lnTo>
                    <a:pt x="497" y="574"/>
                  </a:lnTo>
                  <a:lnTo>
                    <a:pt x="499" y="576"/>
                  </a:lnTo>
                  <a:lnTo>
                    <a:pt x="499" y="576"/>
                  </a:lnTo>
                  <a:lnTo>
                    <a:pt x="503" y="576"/>
                  </a:lnTo>
                  <a:lnTo>
                    <a:pt x="505" y="576"/>
                  </a:lnTo>
                  <a:lnTo>
                    <a:pt x="505" y="574"/>
                  </a:lnTo>
                  <a:lnTo>
                    <a:pt x="507" y="574"/>
                  </a:lnTo>
                  <a:lnTo>
                    <a:pt x="507" y="572"/>
                  </a:lnTo>
                  <a:lnTo>
                    <a:pt x="507" y="570"/>
                  </a:lnTo>
                  <a:lnTo>
                    <a:pt x="507" y="570"/>
                  </a:lnTo>
                  <a:lnTo>
                    <a:pt x="507" y="569"/>
                  </a:lnTo>
                  <a:lnTo>
                    <a:pt x="507" y="567"/>
                  </a:lnTo>
                  <a:lnTo>
                    <a:pt x="509" y="565"/>
                  </a:lnTo>
                  <a:lnTo>
                    <a:pt x="509" y="565"/>
                  </a:lnTo>
                  <a:lnTo>
                    <a:pt x="509" y="563"/>
                  </a:lnTo>
                  <a:lnTo>
                    <a:pt x="507" y="563"/>
                  </a:lnTo>
                  <a:lnTo>
                    <a:pt x="507" y="563"/>
                  </a:lnTo>
                  <a:lnTo>
                    <a:pt x="505" y="563"/>
                  </a:lnTo>
                  <a:lnTo>
                    <a:pt x="505" y="563"/>
                  </a:lnTo>
                  <a:lnTo>
                    <a:pt x="503" y="563"/>
                  </a:lnTo>
                  <a:lnTo>
                    <a:pt x="503" y="563"/>
                  </a:lnTo>
                  <a:lnTo>
                    <a:pt x="501" y="563"/>
                  </a:lnTo>
                  <a:lnTo>
                    <a:pt x="499" y="563"/>
                  </a:lnTo>
                  <a:lnTo>
                    <a:pt x="497" y="563"/>
                  </a:lnTo>
                  <a:lnTo>
                    <a:pt x="495" y="563"/>
                  </a:lnTo>
                  <a:lnTo>
                    <a:pt x="495" y="563"/>
                  </a:lnTo>
                  <a:lnTo>
                    <a:pt x="495" y="561"/>
                  </a:lnTo>
                  <a:lnTo>
                    <a:pt x="495" y="559"/>
                  </a:lnTo>
                  <a:lnTo>
                    <a:pt x="495" y="557"/>
                  </a:lnTo>
                  <a:lnTo>
                    <a:pt x="495" y="555"/>
                  </a:lnTo>
                  <a:lnTo>
                    <a:pt x="495" y="555"/>
                  </a:lnTo>
                  <a:lnTo>
                    <a:pt x="493" y="550"/>
                  </a:lnTo>
                  <a:lnTo>
                    <a:pt x="493" y="550"/>
                  </a:lnTo>
                  <a:lnTo>
                    <a:pt x="493" y="548"/>
                  </a:lnTo>
                  <a:lnTo>
                    <a:pt x="495" y="548"/>
                  </a:lnTo>
                  <a:lnTo>
                    <a:pt x="497" y="550"/>
                  </a:lnTo>
                  <a:lnTo>
                    <a:pt x="499" y="550"/>
                  </a:lnTo>
                  <a:lnTo>
                    <a:pt x="501" y="551"/>
                  </a:lnTo>
                  <a:lnTo>
                    <a:pt x="501" y="551"/>
                  </a:lnTo>
                  <a:lnTo>
                    <a:pt x="501" y="553"/>
                  </a:lnTo>
                  <a:lnTo>
                    <a:pt x="503" y="553"/>
                  </a:lnTo>
                  <a:lnTo>
                    <a:pt x="503" y="553"/>
                  </a:lnTo>
                  <a:lnTo>
                    <a:pt x="507" y="555"/>
                  </a:lnTo>
                  <a:lnTo>
                    <a:pt x="507" y="555"/>
                  </a:lnTo>
                  <a:lnTo>
                    <a:pt x="509" y="555"/>
                  </a:lnTo>
                  <a:lnTo>
                    <a:pt x="511" y="555"/>
                  </a:lnTo>
                  <a:lnTo>
                    <a:pt x="511" y="555"/>
                  </a:lnTo>
                  <a:lnTo>
                    <a:pt x="512" y="555"/>
                  </a:lnTo>
                  <a:lnTo>
                    <a:pt x="514" y="551"/>
                  </a:lnTo>
                  <a:lnTo>
                    <a:pt x="514" y="551"/>
                  </a:lnTo>
                  <a:lnTo>
                    <a:pt x="514" y="551"/>
                  </a:lnTo>
                  <a:lnTo>
                    <a:pt x="516" y="553"/>
                  </a:lnTo>
                  <a:lnTo>
                    <a:pt x="518" y="553"/>
                  </a:lnTo>
                  <a:lnTo>
                    <a:pt x="518" y="553"/>
                  </a:lnTo>
                  <a:lnTo>
                    <a:pt x="518" y="553"/>
                  </a:lnTo>
                  <a:lnTo>
                    <a:pt x="518" y="551"/>
                  </a:lnTo>
                  <a:lnTo>
                    <a:pt x="520" y="551"/>
                  </a:lnTo>
                  <a:lnTo>
                    <a:pt x="520" y="550"/>
                  </a:lnTo>
                  <a:lnTo>
                    <a:pt x="520" y="548"/>
                  </a:lnTo>
                  <a:lnTo>
                    <a:pt x="518" y="544"/>
                  </a:lnTo>
                  <a:lnTo>
                    <a:pt x="518" y="544"/>
                  </a:lnTo>
                  <a:lnTo>
                    <a:pt x="520" y="544"/>
                  </a:lnTo>
                  <a:lnTo>
                    <a:pt x="520" y="542"/>
                  </a:lnTo>
                  <a:lnTo>
                    <a:pt x="520" y="542"/>
                  </a:lnTo>
                  <a:lnTo>
                    <a:pt x="522" y="540"/>
                  </a:lnTo>
                  <a:lnTo>
                    <a:pt x="522" y="540"/>
                  </a:lnTo>
                  <a:lnTo>
                    <a:pt x="522" y="540"/>
                  </a:lnTo>
                  <a:lnTo>
                    <a:pt x="522" y="538"/>
                  </a:lnTo>
                  <a:lnTo>
                    <a:pt x="522" y="538"/>
                  </a:lnTo>
                  <a:lnTo>
                    <a:pt x="522" y="538"/>
                  </a:lnTo>
                  <a:lnTo>
                    <a:pt x="524" y="538"/>
                  </a:lnTo>
                  <a:lnTo>
                    <a:pt x="524" y="536"/>
                  </a:lnTo>
                  <a:lnTo>
                    <a:pt x="530" y="538"/>
                  </a:lnTo>
                  <a:lnTo>
                    <a:pt x="532" y="538"/>
                  </a:lnTo>
                  <a:lnTo>
                    <a:pt x="535" y="536"/>
                  </a:lnTo>
                  <a:lnTo>
                    <a:pt x="539" y="536"/>
                  </a:lnTo>
                  <a:lnTo>
                    <a:pt x="539" y="536"/>
                  </a:lnTo>
                  <a:lnTo>
                    <a:pt x="539" y="536"/>
                  </a:lnTo>
                  <a:lnTo>
                    <a:pt x="541" y="536"/>
                  </a:lnTo>
                  <a:lnTo>
                    <a:pt x="541" y="536"/>
                  </a:lnTo>
                  <a:lnTo>
                    <a:pt x="539" y="538"/>
                  </a:lnTo>
                  <a:lnTo>
                    <a:pt x="539" y="538"/>
                  </a:lnTo>
                  <a:lnTo>
                    <a:pt x="537" y="542"/>
                  </a:lnTo>
                  <a:lnTo>
                    <a:pt x="537" y="544"/>
                  </a:lnTo>
                  <a:lnTo>
                    <a:pt x="537" y="544"/>
                  </a:lnTo>
                  <a:lnTo>
                    <a:pt x="537" y="544"/>
                  </a:lnTo>
                  <a:lnTo>
                    <a:pt x="539" y="546"/>
                  </a:lnTo>
                  <a:lnTo>
                    <a:pt x="539" y="548"/>
                  </a:lnTo>
                  <a:lnTo>
                    <a:pt x="539" y="548"/>
                  </a:lnTo>
                  <a:lnTo>
                    <a:pt x="539" y="550"/>
                  </a:lnTo>
                  <a:lnTo>
                    <a:pt x="539" y="550"/>
                  </a:lnTo>
                  <a:lnTo>
                    <a:pt x="537" y="550"/>
                  </a:lnTo>
                  <a:lnTo>
                    <a:pt x="537" y="550"/>
                  </a:lnTo>
                  <a:lnTo>
                    <a:pt x="535" y="548"/>
                  </a:lnTo>
                  <a:lnTo>
                    <a:pt x="533" y="548"/>
                  </a:lnTo>
                  <a:lnTo>
                    <a:pt x="533" y="548"/>
                  </a:lnTo>
                  <a:lnTo>
                    <a:pt x="533" y="548"/>
                  </a:lnTo>
                  <a:lnTo>
                    <a:pt x="533" y="550"/>
                  </a:lnTo>
                  <a:lnTo>
                    <a:pt x="533" y="550"/>
                  </a:lnTo>
                  <a:lnTo>
                    <a:pt x="533" y="551"/>
                  </a:lnTo>
                  <a:lnTo>
                    <a:pt x="533" y="551"/>
                  </a:lnTo>
                  <a:lnTo>
                    <a:pt x="535" y="553"/>
                  </a:lnTo>
                  <a:lnTo>
                    <a:pt x="537" y="553"/>
                  </a:lnTo>
                  <a:lnTo>
                    <a:pt x="539" y="553"/>
                  </a:lnTo>
                  <a:lnTo>
                    <a:pt x="543" y="553"/>
                  </a:lnTo>
                  <a:lnTo>
                    <a:pt x="547" y="551"/>
                  </a:lnTo>
                  <a:lnTo>
                    <a:pt x="547" y="551"/>
                  </a:lnTo>
                  <a:lnTo>
                    <a:pt x="547" y="551"/>
                  </a:lnTo>
                  <a:lnTo>
                    <a:pt x="549" y="551"/>
                  </a:lnTo>
                  <a:lnTo>
                    <a:pt x="547" y="553"/>
                  </a:lnTo>
                  <a:lnTo>
                    <a:pt x="547" y="553"/>
                  </a:lnTo>
                  <a:lnTo>
                    <a:pt x="547" y="555"/>
                  </a:lnTo>
                  <a:lnTo>
                    <a:pt x="545" y="555"/>
                  </a:lnTo>
                  <a:lnTo>
                    <a:pt x="545" y="557"/>
                  </a:lnTo>
                  <a:lnTo>
                    <a:pt x="543" y="557"/>
                  </a:lnTo>
                  <a:lnTo>
                    <a:pt x="541" y="557"/>
                  </a:lnTo>
                  <a:lnTo>
                    <a:pt x="539" y="557"/>
                  </a:lnTo>
                  <a:lnTo>
                    <a:pt x="537" y="557"/>
                  </a:lnTo>
                  <a:lnTo>
                    <a:pt x="535" y="557"/>
                  </a:lnTo>
                  <a:lnTo>
                    <a:pt x="535" y="557"/>
                  </a:lnTo>
                  <a:lnTo>
                    <a:pt x="533" y="557"/>
                  </a:lnTo>
                  <a:lnTo>
                    <a:pt x="532" y="555"/>
                  </a:lnTo>
                  <a:lnTo>
                    <a:pt x="530" y="553"/>
                  </a:lnTo>
                  <a:lnTo>
                    <a:pt x="530" y="553"/>
                  </a:lnTo>
                  <a:lnTo>
                    <a:pt x="528" y="551"/>
                  </a:lnTo>
                  <a:lnTo>
                    <a:pt x="528" y="553"/>
                  </a:lnTo>
                  <a:lnTo>
                    <a:pt x="528" y="553"/>
                  </a:lnTo>
                  <a:lnTo>
                    <a:pt x="528" y="553"/>
                  </a:lnTo>
                  <a:lnTo>
                    <a:pt x="528" y="555"/>
                  </a:lnTo>
                  <a:lnTo>
                    <a:pt x="530" y="557"/>
                  </a:lnTo>
                  <a:lnTo>
                    <a:pt x="530" y="559"/>
                  </a:lnTo>
                  <a:lnTo>
                    <a:pt x="530" y="559"/>
                  </a:lnTo>
                  <a:lnTo>
                    <a:pt x="530" y="561"/>
                  </a:lnTo>
                  <a:lnTo>
                    <a:pt x="530" y="561"/>
                  </a:lnTo>
                  <a:lnTo>
                    <a:pt x="528" y="563"/>
                  </a:lnTo>
                  <a:lnTo>
                    <a:pt x="526" y="565"/>
                  </a:lnTo>
                  <a:lnTo>
                    <a:pt x="526" y="567"/>
                  </a:lnTo>
                  <a:lnTo>
                    <a:pt x="526" y="567"/>
                  </a:lnTo>
                  <a:lnTo>
                    <a:pt x="528" y="569"/>
                  </a:lnTo>
                  <a:lnTo>
                    <a:pt x="528" y="569"/>
                  </a:lnTo>
                  <a:lnTo>
                    <a:pt x="530" y="570"/>
                  </a:lnTo>
                  <a:lnTo>
                    <a:pt x="532" y="570"/>
                  </a:lnTo>
                  <a:lnTo>
                    <a:pt x="533" y="570"/>
                  </a:lnTo>
                  <a:lnTo>
                    <a:pt x="535" y="570"/>
                  </a:lnTo>
                  <a:lnTo>
                    <a:pt x="539" y="570"/>
                  </a:lnTo>
                  <a:lnTo>
                    <a:pt x="541" y="570"/>
                  </a:lnTo>
                  <a:lnTo>
                    <a:pt x="547" y="572"/>
                  </a:lnTo>
                  <a:lnTo>
                    <a:pt x="549" y="572"/>
                  </a:lnTo>
                  <a:lnTo>
                    <a:pt x="552" y="572"/>
                  </a:lnTo>
                  <a:lnTo>
                    <a:pt x="560" y="569"/>
                  </a:lnTo>
                  <a:lnTo>
                    <a:pt x="566" y="569"/>
                  </a:lnTo>
                  <a:lnTo>
                    <a:pt x="570" y="569"/>
                  </a:lnTo>
                  <a:lnTo>
                    <a:pt x="577" y="565"/>
                  </a:lnTo>
                  <a:lnTo>
                    <a:pt x="577" y="565"/>
                  </a:lnTo>
                  <a:lnTo>
                    <a:pt x="579" y="565"/>
                  </a:lnTo>
                  <a:lnTo>
                    <a:pt x="581" y="565"/>
                  </a:lnTo>
                  <a:lnTo>
                    <a:pt x="581" y="565"/>
                  </a:lnTo>
                  <a:lnTo>
                    <a:pt x="583" y="567"/>
                  </a:lnTo>
                  <a:lnTo>
                    <a:pt x="585" y="570"/>
                  </a:lnTo>
                  <a:lnTo>
                    <a:pt x="585" y="572"/>
                  </a:lnTo>
                  <a:lnTo>
                    <a:pt x="585" y="574"/>
                  </a:lnTo>
                  <a:lnTo>
                    <a:pt x="585" y="574"/>
                  </a:lnTo>
                  <a:lnTo>
                    <a:pt x="585" y="576"/>
                  </a:lnTo>
                  <a:lnTo>
                    <a:pt x="587" y="576"/>
                  </a:lnTo>
                  <a:lnTo>
                    <a:pt x="589" y="578"/>
                  </a:lnTo>
                  <a:lnTo>
                    <a:pt x="591" y="582"/>
                  </a:lnTo>
                  <a:lnTo>
                    <a:pt x="591" y="591"/>
                  </a:lnTo>
                  <a:lnTo>
                    <a:pt x="591" y="591"/>
                  </a:lnTo>
                  <a:lnTo>
                    <a:pt x="591" y="593"/>
                  </a:lnTo>
                  <a:lnTo>
                    <a:pt x="591" y="593"/>
                  </a:lnTo>
                  <a:lnTo>
                    <a:pt x="591" y="595"/>
                  </a:lnTo>
                  <a:lnTo>
                    <a:pt x="589" y="595"/>
                  </a:lnTo>
                  <a:lnTo>
                    <a:pt x="587" y="595"/>
                  </a:lnTo>
                  <a:lnTo>
                    <a:pt x="587" y="595"/>
                  </a:lnTo>
                  <a:lnTo>
                    <a:pt x="583" y="593"/>
                  </a:lnTo>
                  <a:lnTo>
                    <a:pt x="581" y="593"/>
                  </a:lnTo>
                  <a:lnTo>
                    <a:pt x="581" y="593"/>
                  </a:lnTo>
                  <a:lnTo>
                    <a:pt x="579" y="593"/>
                  </a:lnTo>
                  <a:lnTo>
                    <a:pt x="579" y="595"/>
                  </a:lnTo>
                  <a:lnTo>
                    <a:pt x="577" y="599"/>
                  </a:lnTo>
                  <a:lnTo>
                    <a:pt x="577" y="601"/>
                  </a:lnTo>
                  <a:lnTo>
                    <a:pt x="579" y="601"/>
                  </a:lnTo>
                  <a:lnTo>
                    <a:pt x="579" y="603"/>
                  </a:lnTo>
                  <a:lnTo>
                    <a:pt x="579" y="607"/>
                  </a:lnTo>
                  <a:lnTo>
                    <a:pt x="579" y="608"/>
                  </a:lnTo>
                  <a:lnTo>
                    <a:pt x="581" y="608"/>
                  </a:lnTo>
                  <a:lnTo>
                    <a:pt x="581" y="610"/>
                  </a:lnTo>
                  <a:lnTo>
                    <a:pt x="583" y="610"/>
                  </a:lnTo>
                  <a:lnTo>
                    <a:pt x="583" y="610"/>
                  </a:lnTo>
                  <a:lnTo>
                    <a:pt x="583" y="610"/>
                  </a:lnTo>
                  <a:lnTo>
                    <a:pt x="585" y="612"/>
                  </a:lnTo>
                  <a:lnTo>
                    <a:pt x="585" y="614"/>
                  </a:lnTo>
                  <a:lnTo>
                    <a:pt x="585" y="616"/>
                  </a:lnTo>
                  <a:lnTo>
                    <a:pt x="583" y="618"/>
                  </a:lnTo>
                  <a:lnTo>
                    <a:pt x="581" y="622"/>
                  </a:lnTo>
                  <a:lnTo>
                    <a:pt x="579" y="624"/>
                  </a:lnTo>
                  <a:lnTo>
                    <a:pt x="579" y="626"/>
                  </a:lnTo>
                  <a:lnTo>
                    <a:pt x="579" y="627"/>
                  </a:lnTo>
                  <a:lnTo>
                    <a:pt x="581" y="629"/>
                  </a:lnTo>
                  <a:lnTo>
                    <a:pt x="585" y="631"/>
                  </a:lnTo>
                  <a:lnTo>
                    <a:pt x="585" y="631"/>
                  </a:lnTo>
                  <a:lnTo>
                    <a:pt x="585" y="633"/>
                  </a:lnTo>
                  <a:lnTo>
                    <a:pt x="583" y="635"/>
                  </a:lnTo>
                  <a:lnTo>
                    <a:pt x="581" y="637"/>
                  </a:lnTo>
                  <a:lnTo>
                    <a:pt x="579" y="639"/>
                  </a:lnTo>
                  <a:lnTo>
                    <a:pt x="579" y="641"/>
                  </a:lnTo>
                  <a:lnTo>
                    <a:pt x="579" y="643"/>
                  </a:lnTo>
                  <a:lnTo>
                    <a:pt x="577" y="643"/>
                  </a:lnTo>
                  <a:lnTo>
                    <a:pt x="577" y="643"/>
                  </a:lnTo>
                  <a:lnTo>
                    <a:pt x="577" y="643"/>
                  </a:lnTo>
                  <a:lnTo>
                    <a:pt x="575" y="643"/>
                  </a:lnTo>
                  <a:lnTo>
                    <a:pt x="573" y="641"/>
                  </a:lnTo>
                  <a:lnTo>
                    <a:pt x="573" y="641"/>
                  </a:lnTo>
                  <a:lnTo>
                    <a:pt x="572" y="641"/>
                  </a:lnTo>
                  <a:lnTo>
                    <a:pt x="570" y="643"/>
                  </a:lnTo>
                  <a:lnTo>
                    <a:pt x="570" y="643"/>
                  </a:lnTo>
                  <a:lnTo>
                    <a:pt x="568" y="643"/>
                  </a:lnTo>
                  <a:lnTo>
                    <a:pt x="566" y="643"/>
                  </a:lnTo>
                  <a:lnTo>
                    <a:pt x="566" y="643"/>
                  </a:lnTo>
                  <a:lnTo>
                    <a:pt x="564" y="641"/>
                  </a:lnTo>
                  <a:lnTo>
                    <a:pt x="564" y="641"/>
                  </a:lnTo>
                  <a:lnTo>
                    <a:pt x="562" y="641"/>
                  </a:lnTo>
                  <a:lnTo>
                    <a:pt x="560" y="639"/>
                  </a:lnTo>
                  <a:lnTo>
                    <a:pt x="560" y="639"/>
                  </a:lnTo>
                  <a:lnTo>
                    <a:pt x="558" y="639"/>
                  </a:lnTo>
                  <a:lnTo>
                    <a:pt x="558" y="639"/>
                  </a:lnTo>
                  <a:lnTo>
                    <a:pt x="558" y="639"/>
                  </a:lnTo>
                  <a:lnTo>
                    <a:pt x="556" y="641"/>
                  </a:lnTo>
                  <a:lnTo>
                    <a:pt x="554" y="645"/>
                  </a:lnTo>
                  <a:lnTo>
                    <a:pt x="554" y="645"/>
                  </a:lnTo>
                  <a:lnTo>
                    <a:pt x="556" y="648"/>
                  </a:lnTo>
                  <a:lnTo>
                    <a:pt x="556" y="650"/>
                  </a:lnTo>
                  <a:lnTo>
                    <a:pt x="556" y="652"/>
                  </a:lnTo>
                  <a:lnTo>
                    <a:pt x="558" y="652"/>
                  </a:lnTo>
                  <a:lnTo>
                    <a:pt x="564" y="656"/>
                  </a:lnTo>
                  <a:lnTo>
                    <a:pt x="564" y="656"/>
                  </a:lnTo>
                  <a:lnTo>
                    <a:pt x="564" y="658"/>
                  </a:lnTo>
                  <a:lnTo>
                    <a:pt x="564" y="660"/>
                  </a:lnTo>
                  <a:lnTo>
                    <a:pt x="566" y="662"/>
                  </a:lnTo>
                  <a:lnTo>
                    <a:pt x="570" y="662"/>
                  </a:lnTo>
                  <a:lnTo>
                    <a:pt x="570" y="662"/>
                  </a:lnTo>
                  <a:lnTo>
                    <a:pt x="572" y="662"/>
                  </a:lnTo>
                  <a:lnTo>
                    <a:pt x="573" y="664"/>
                  </a:lnTo>
                  <a:lnTo>
                    <a:pt x="573" y="664"/>
                  </a:lnTo>
                  <a:lnTo>
                    <a:pt x="575" y="664"/>
                  </a:lnTo>
                  <a:lnTo>
                    <a:pt x="575" y="664"/>
                  </a:lnTo>
                  <a:lnTo>
                    <a:pt x="575" y="662"/>
                  </a:lnTo>
                  <a:lnTo>
                    <a:pt x="575" y="662"/>
                  </a:lnTo>
                  <a:lnTo>
                    <a:pt x="575" y="660"/>
                  </a:lnTo>
                  <a:lnTo>
                    <a:pt x="577" y="658"/>
                  </a:lnTo>
                  <a:lnTo>
                    <a:pt x="577" y="656"/>
                  </a:lnTo>
                  <a:lnTo>
                    <a:pt x="577" y="656"/>
                  </a:lnTo>
                  <a:lnTo>
                    <a:pt x="577" y="652"/>
                  </a:lnTo>
                  <a:lnTo>
                    <a:pt x="577" y="652"/>
                  </a:lnTo>
                  <a:lnTo>
                    <a:pt x="577" y="652"/>
                  </a:lnTo>
                  <a:lnTo>
                    <a:pt x="577" y="652"/>
                  </a:lnTo>
                  <a:lnTo>
                    <a:pt x="579" y="652"/>
                  </a:lnTo>
                  <a:lnTo>
                    <a:pt x="579" y="652"/>
                  </a:lnTo>
                  <a:lnTo>
                    <a:pt x="581" y="652"/>
                  </a:lnTo>
                  <a:lnTo>
                    <a:pt x="581" y="654"/>
                  </a:lnTo>
                  <a:lnTo>
                    <a:pt x="581" y="654"/>
                  </a:lnTo>
                  <a:lnTo>
                    <a:pt x="583" y="654"/>
                  </a:lnTo>
                  <a:lnTo>
                    <a:pt x="585" y="654"/>
                  </a:lnTo>
                  <a:lnTo>
                    <a:pt x="589" y="652"/>
                  </a:lnTo>
                  <a:lnTo>
                    <a:pt x="592" y="650"/>
                  </a:lnTo>
                  <a:lnTo>
                    <a:pt x="600" y="647"/>
                  </a:lnTo>
                  <a:lnTo>
                    <a:pt x="602" y="647"/>
                  </a:lnTo>
                  <a:lnTo>
                    <a:pt x="602" y="645"/>
                  </a:lnTo>
                  <a:lnTo>
                    <a:pt x="602" y="645"/>
                  </a:lnTo>
                  <a:lnTo>
                    <a:pt x="602" y="643"/>
                  </a:lnTo>
                  <a:lnTo>
                    <a:pt x="602" y="643"/>
                  </a:lnTo>
                  <a:lnTo>
                    <a:pt x="602" y="643"/>
                  </a:lnTo>
                  <a:lnTo>
                    <a:pt x="602" y="643"/>
                  </a:lnTo>
                  <a:lnTo>
                    <a:pt x="602" y="641"/>
                  </a:lnTo>
                  <a:lnTo>
                    <a:pt x="600" y="641"/>
                  </a:lnTo>
                  <a:lnTo>
                    <a:pt x="602" y="639"/>
                  </a:lnTo>
                  <a:lnTo>
                    <a:pt x="602" y="637"/>
                  </a:lnTo>
                  <a:lnTo>
                    <a:pt x="610" y="633"/>
                  </a:lnTo>
                  <a:lnTo>
                    <a:pt x="613" y="629"/>
                  </a:lnTo>
                  <a:lnTo>
                    <a:pt x="613" y="627"/>
                  </a:lnTo>
                  <a:lnTo>
                    <a:pt x="613" y="627"/>
                  </a:lnTo>
                  <a:lnTo>
                    <a:pt x="613" y="624"/>
                  </a:lnTo>
                  <a:lnTo>
                    <a:pt x="613" y="624"/>
                  </a:lnTo>
                  <a:lnTo>
                    <a:pt x="613" y="620"/>
                  </a:lnTo>
                  <a:lnTo>
                    <a:pt x="613" y="618"/>
                  </a:lnTo>
                  <a:lnTo>
                    <a:pt x="613" y="616"/>
                  </a:lnTo>
                  <a:lnTo>
                    <a:pt x="613" y="614"/>
                  </a:lnTo>
                  <a:lnTo>
                    <a:pt x="613" y="612"/>
                  </a:lnTo>
                  <a:lnTo>
                    <a:pt x="613" y="610"/>
                  </a:lnTo>
                  <a:lnTo>
                    <a:pt x="615" y="610"/>
                  </a:lnTo>
                  <a:lnTo>
                    <a:pt x="615" y="608"/>
                  </a:lnTo>
                  <a:lnTo>
                    <a:pt x="617" y="608"/>
                  </a:lnTo>
                  <a:lnTo>
                    <a:pt x="619" y="607"/>
                  </a:lnTo>
                  <a:lnTo>
                    <a:pt x="619" y="607"/>
                  </a:lnTo>
                  <a:lnTo>
                    <a:pt x="619" y="607"/>
                  </a:lnTo>
                  <a:lnTo>
                    <a:pt x="621" y="608"/>
                  </a:lnTo>
                  <a:lnTo>
                    <a:pt x="621" y="608"/>
                  </a:lnTo>
                  <a:lnTo>
                    <a:pt x="619" y="610"/>
                  </a:lnTo>
                  <a:lnTo>
                    <a:pt x="619" y="610"/>
                  </a:lnTo>
                  <a:lnTo>
                    <a:pt x="619" y="612"/>
                  </a:lnTo>
                  <a:lnTo>
                    <a:pt x="621" y="612"/>
                  </a:lnTo>
                  <a:lnTo>
                    <a:pt x="621" y="614"/>
                  </a:lnTo>
                  <a:lnTo>
                    <a:pt x="623" y="614"/>
                  </a:lnTo>
                  <a:lnTo>
                    <a:pt x="623" y="614"/>
                  </a:lnTo>
                  <a:lnTo>
                    <a:pt x="627" y="614"/>
                  </a:lnTo>
                  <a:lnTo>
                    <a:pt x="629" y="614"/>
                  </a:lnTo>
                  <a:lnTo>
                    <a:pt x="631" y="614"/>
                  </a:lnTo>
                  <a:lnTo>
                    <a:pt x="636" y="616"/>
                  </a:lnTo>
                  <a:lnTo>
                    <a:pt x="638" y="616"/>
                  </a:lnTo>
                  <a:lnTo>
                    <a:pt x="640" y="616"/>
                  </a:lnTo>
                  <a:lnTo>
                    <a:pt x="644" y="616"/>
                  </a:lnTo>
                  <a:lnTo>
                    <a:pt x="646" y="616"/>
                  </a:lnTo>
                  <a:lnTo>
                    <a:pt x="646" y="618"/>
                  </a:lnTo>
                  <a:lnTo>
                    <a:pt x="648" y="618"/>
                  </a:lnTo>
                  <a:lnTo>
                    <a:pt x="648" y="620"/>
                  </a:lnTo>
                  <a:lnTo>
                    <a:pt x="648" y="622"/>
                  </a:lnTo>
                  <a:lnTo>
                    <a:pt x="650" y="622"/>
                  </a:lnTo>
                  <a:lnTo>
                    <a:pt x="650" y="622"/>
                  </a:lnTo>
                  <a:lnTo>
                    <a:pt x="652" y="622"/>
                  </a:lnTo>
                  <a:lnTo>
                    <a:pt x="653" y="622"/>
                  </a:lnTo>
                  <a:lnTo>
                    <a:pt x="653" y="620"/>
                  </a:lnTo>
                  <a:lnTo>
                    <a:pt x="653" y="620"/>
                  </a:lnTo>
                  <a:lnTo>
                    <a:pt x="655" y="616"/>
                  </a:lnTo>
                  <a:lnTo>
                    <a:pt x="655" y="616"/>
                  </a:lnTo>
                  <a:lnTo>
                    <a:pt x="655" y="614"/>
                  </a:lnTo>
                  <a:lnTo>
                    <a:pt x="657" y="614"/>
                  </a:lnTo>
                  <a:lnTo>
                    <a:pt x="659" y="612"/>
                  </a:lnTo>
                  <a:lnTo>
                    <a:pt x="663" y="612"/>
                  </a:lnTo>
                  <a:lnTo>
                    <a:pt x="663" y="612"/>
                  </a:lnTo>
                  <a:lnTo>
                    <a:pt x="665" y="612"/>
                  </a:lnTo>
                  <a:lnTo>
                    <a:pt x="665" y="612"/>
                  </a:lnTo>
                  <a:lnTo>
                    <a:pt x="665" y="614"/>
                  </a:lnTo>
                  <a:lnTo>
                    <a:pt x="665" y="616"/>
                  </a:lnTo>
                  <a:lnTo>
                    <a:pt x="663" y="616"/>
                  </a:lnTo>
                  <a:lnTo>
                    <a:pt x="663" y="618"/>
                  </a:lnTo>
                  <a:lnTo>
                    <a:pt x="663" y="618"/>
                  </a:lnTo>
                  <a:lnTo>
                    <a:pt x="663" y="620"/>
                  </a:lnTo>
                  <a:lnTo>
                    <a:pt x="665" y="620"/>
                  </a:lnTo>
                  <a:lnTo>
                    <a:pt x="669" y="624"/>
                  </a:lnTo>
                  <a:lnTo>
                    <a:pt x="671" y="626"/>
                  </a:lnTo>
                  <a:lnTo>
                    <a:pt x="673" y="627"/>
                  </a:lnTo>
                  <a:lnTo>
                    <a:pt x="676" y="627"/>
                  </a:lnTo>
                  <a:lnTo>
                    <a:pt x="678" y="626"/>
                  </a:lnTo>
                  <a:lnTo>
                    <a:pt x="678" y="626"/>
                  </a:lnTo>
                  <a:lnTo>
                    <a:pt x="678" y="626"/>
                  </a:lnTo>
                  <a:lnTo>
                    <a:pt x="680" y="626"/>
                  </a:lnTo>
                  <a:lnTo>
                    <a:pt x="682" y="626"/>
                  </a:lnTo>
                  <a:lnTo>
                    <a:pt x="682" y="626"/>
                  </a:lnTo>
                  <a:lnTo>
                    <a:pt x="682" y="624"/>
                  </a:lnTo>
                  <a:lnTo>
                    <a:pt x="684" y="624"/>
                  </a:lnTo>
                  <a:lnTo>
                    <a:pt x="684" y="622"/>
                  </a:lnTo>
                  <a:lnTo>
                    <a:pt x="684" y="622"/>
                  </a:lnTo>
                  <a:lnTo>
                    <a:pt x="684" y="620"/>
                  </a:lnTo>
                  <a:lnTo>
                    <a:pt x="686" y="620"/>
                  </a:lnTo>
                  <a:lnTo>
                    <a:pt x="684" y="618"/>
                  </a:lnTo>
                  <a:lnTo>
                    <a:pt x="684" y="616"/>
                  </a:lnTo>
                  <a:lnTo>
                    <a:pt x="680" y="610"/>
                  </a:lnTo>
                  <a:lnTo>
                    <a:pt x="678" y="608"/>
                  </a:lnTo>
                  <a:lnTo>
                    <a:pt x="678" y="607"/>
                  </a:lnTo>
                  <a:lnTo>
                    <a:pt x="678" y="599"/>
                  </a:lnTo>
                  <a:lnTo>
                    <a:pt x="676" y="597"/>
                  </a:lnTo>
                  <a:lnTo>
                    <a:pt x="676" y="597"/>
                  </a:lnTo>
                  <a:lnTo>
                    <a:pt x="676" y="595"/>
                  </a:lnTo>
                  <a:lnTo>
                    <a:pt x="676" y="595"/>
                  </a:lnTo>
                  <a:lnTo>
                    <a:pt x="678" y="591"/>
                  </a:lnTo>
                  <a:lnTo>
                    <a:pt x="678" y="591"/>
                  </a:lnTo>
                  <a:lnTo>
                    <a:pt x="678" y="591"/>
                  </a:lnTo>
                  <a:lnTo>
                    <a:pt x="678" y="589"/>
                  </a:lnTo>
                  <a:lnTo>
                    <a:pt x="676" y="588"/>
                  </a:lnTo>
                  <a:lnTo>
                    <a:pt x="676" y="586"/>
                  </a:lnTo>
                  <a:lnTo>
                    <a:pt x="678" y="586"/>
                  </a:lnTo>
                  <a:lnTo>
                    <a:pt x="678" y="584"/>
                  </a:lnTo>
                  <a:lnTo>
                    <a:pt x="678" y="584"/>
                  </a:lnTo>
                  <a:lnTo>
                    <a:pt x="680" y="586"/>
                  </a:lnTo>
                  <a:lnTo>
                    <a:pt x="680" y="586"/>
                  </a:lnTo>
                  <a:lnTo>
                    <a:pt x="680" y="586"/>
                  </a:lnTo>
                  <a:lnTo>
                    <a:pt x="682" y="586"/>
                  </a:lnTo>
                  <a:lnTo>
                    <a:pt x="682" y="586"/>
                  </a:lnTo>
                  <a:lnTo>
                    <a:pt x="684" y="586"/>
                  </a:lnTo>
                  <a:lnTo>
                    <a:pt x="684" y="586"/>
                  </a:lnTo>
                  <a:lnTo>
                    <a:pt x="684" y="588"/>
                  </a:lnTo>
                  <a:lnTo>
                    <a:pt x="684" y="588"/>
                  </a:lnTo>
                  <a:lnTo>
                    <a:pt x="686" y="589"/>
                  </a:lnTo>
                  <a:lnTo>
                    <a:pt x="686" y="589"/>
                  </a:lnTo>
                  <a:lnTo>
                    <a:pt x="686" y="589"/>
                  </a:lnTo>
                  <a:lnTo>
                    <a:pt x="686" y="591"/>
                  </a:lnTo>
                  <a:lnTo>
                    <a:pt x="686" y="593"/>
                  </a:lnTo>
                  <a:lnTo>
                    <a:pt x="686" y="593"/>
                  </a:lnTo>
                  <a:lnTo>
                    <a:pt x="686" y="593"/>
                  </a:lnTo>
                  <a:lnTo>
                    <a:pt x="686" y="593"/>
                  </a:lnTo>
                  <a:lnTo>
                    <a:pt x="688" y="593"/>
                  </a:lnTo>
                  <a:lnTo>
                    <a:pt x="690" y="593"/>
                  </a:lnTo>
                  <a:lnTo>
                    <a:pt x="690" y="593"/>
                  </a:lnTo>
                  <a:lnTo>
                    <a:pt x="697" y="588"/>
                  </a:lnTo>
                  <a:lnTo>
                    <a:pt x="699" y="588"/>
                  </a:lnTo>
                  <a:lnTo>
                    <a:pt x="699" y="588"/>
                  </a:lnTo>
                  <a:lnTo>
                    <a:pt x="701" y="586"/>
                  </a:lnTo>
                  <a:lnTo>
                    <a:pt x="701" y="584"/>
                  </a:lnTo>
                  <a:lnTo>
                    <a:pt x="701" y="582"/>
                  </a:lnTo>
                  <a:lnTo>
                    <a:pt x="699" y="578"/>
                  </a:lnTo>
                  <a:lnTo>
                    <a:pt x="699" y="574"/>
                  </a:lnTo>
                  <a:lnTo>
                    <a:pt x="697" y="574"/>
                  </a:lnTo>
                  <a:lnTo>
                    <a:pt x="695" y="572"/>
                  </a:lnTo>
                  <a:lnTo>
                    <a:pt x="692" y="569"/>
                  </a:lnTo>
                  <a:lnTo>
                    <a:pt x="692" y="569"/>
                  </a:lnTo>
                  <a:lnTo>
                    <a:pt x="690" y="569"/>
                  </a:lnTo>
                  <a:lnTo>
                    <a:pt x="690" y="569"/>
                  </a:lnTo>
                  <a:lnTo>
                    <a:pt x="688" y="569"/>
                  </a:lnTo>
                  <a:lnTo>
                    <a:pt x="688" y="569"/>
                  </a:lnTo>
                  <a:lnTo>
                    <a:pt x="684" y="569"/>
                  </a:lnTo>
                  <a:lnTo>
                    <a:pt x="680" y="567"/>
                  </a:lnTo>
                  <a:lnTo>
                    <a:pt x="676" y="561"/>
                  </a:lnTo>
                  <a:lnTo>
                    <a:pt x="674" y="559"/>
                  </a:lnTo>
                  <a:lnTo>
                    <a:pt x="674" y="559"/>
                  </a:lnTo>
                  <a:lnTo>
                    <a:pt x="674" y="557"/>
                  </a:lnTo>
                  <a:lnTo>
                    <a:pt x="676" y="557"/>
                  </a:lnTo>
                  <a:lnTo>
                    <a:pt x="676" y="557"/>
                  </a:lnTo>
                  <a:lnTo>
                    <a:pt x="676" y="557"/>
                  </a:lnTo>
                  <a:lnTo>
                    <a:pt x="678" y="555"/>
                  </a:lnTo>
                  <a:lnTo>
                    <a:pt x="680" y="555"/>
                  </a:lnTo>
                  <a:lnTo>
                    <a:pt x="682" y="555"/>
                  </a:lnTo>
                  <a:lnTo>
                    <a:pt x="682" y="555"/>
                  </a:lnTo>
                  <a:lnTo>
                    <a:pt x="684" y="553"/>
                  </a:lnTo>
                  <a:lnTo>
                    <a:pt x="684" y="553"/>
                  </a:lnTo>
                  <a:lnTo>
                    <a:pt x="684" y="551"/>
                  </a:lnTo>
                  <a:lnTo>
                    <a:pt x="684" y="550"/>
                  </a:lnTo>
                  <a:lnTo>
                    <a:pt x="684" y="548"/>
                  </a:lnTo>
                  <a:lnTo>
                    <a:pt x="682" y="546"/>
                  </a:lnTo>
                  <a:lnTo>
                    <a:pt x="680" y="542"/>
                  </a:lnTo>
                  <a:lnTo>
                    <a:pt x="680" y="542"/>
                  </a:lnTo>
                  <a:lnTo>
                    <a:pt x="680" y="542"/>
                  </a:lnTo>
                  <a:lnTo>
                    <a:pt x="680" y="542"/>
                  </a:lnTo>
                  <a:lnTo>
                    <a:pt x="680" y="540"/>
                  </a:lnTo>
                  <a:lnTo>
                    <a:pt x="682" y="540"/>
                  </a:lnTo>
                  <a:lnTo>
                    <a:pt x="682" y="538"/>
                  </a:lnTo>
                  <a:lnTo>
                    <a:pt x="682" y="538"/>
                  </a:lnTo>
                  <a:lnTo>
                    <a:pt x="684" y="536"/>
                  </a:lnTo>
                  <a:lnTo>
                    <a:pt x="688" y="536"/>
                  </a:lnTo>
                  <a:lnTo>
                    <a:pt x="695" y="532"/>
                  </a:lnTo>
                  <a:lnTo>
                    <a:pt x="695" y="532"/>
                  </a:lnTo>
                  <a:lnTo>
                    <a:pt x="697" y="532"/>
                  </a:lnTo>
                  <a:lnTo>
                    <a:pt x="699" y="532"/>
                  </a:lnTo>
                  <a:lnTo>
                    <a:pt x="703" y="532"/>
                  </a:lnTo>
                  <a:lnTo>
                    <a:pt x="713" y="529"/>
                  </a:lnTo>
                  <a:lnTo>
                    <a:pt x="713" y="529"/>
                  </a:lnTo>
                  <a:lnTo>
                    <a:pt x="714" y="529"/>
                  </a:lnTo>
                  <a:lnTo>
                    <a:pt x="716" y="529"/>
                  </a:lnTo>
                  <a:lnTo>
                    <a:pt x="718" y="529"/>
                  </a:lnTo>
                  <a:lnTo>
                    <a:pt x="720" y="529"/>
                  </a:lnTo>
                  <a:lnTo>
                    <a:pt x="720" y="529"/>
                  </a:lnTo>
                  <a:lnTo>
                    <a:pt x="722" y="530"/>
                  </a:lnTo>
                  <a:lnTo>
                    <a:pt x="724" y="530"/>
                  </a:lnTo>
                  <a:lnTo>
                    <a:pt x="726" y="530"/>
                  </a:lnTo>
                  <a:lnTo>
                    <a:pt x="726" y="530"/>
                  </a:lnTo>
                  <a:lnTo>
                    <a:pt x="728" y="529"/>
                  </a:lnTo>
                  <a:lnTo>
                    <a:pt x="728" y="529"/>
                  </a:lnTo>
                  <a:lnTo>
                    <a:pt x="728" y="529"/>
                  </a:lnTo>
                  <a:lnTo>
                    <a:pt x="728" y="529"/>
                  </a:lnTo>
                  <a:lnTo>
                    <a:pt x="730" y="527"/>
                  </a:lnTo>
                  <a:lnTo>
                    <a:pt x="730" y="527"/>
                  </a:lnTo>
                  <a:lnTo>
                    <a:pt x="732" y="527"/>
                  </a:lnTo>
                  <a:lnTo>
                    <a:pt x="732" y="525"/>
                  </a:lnTo>
                  <a:lnTo>
                    <a:pt x="730" y="523"/>
                  </a:lnTo>
                  <a:lnTo>
                    <a:pt x="732" y="523"/>
                  </a:lnTo>
                  <a:lnTo>
                    <a:pt x="732" y="521"/>
                  </a:lnTo>
                  <a:lnTo>
                    <a:pt x="732" y="521"/>
                  </a:lnTo>
                  <a:lnTo>
                    <a:pt x="732" y="521"/>
                  </a:lnTo>
                  <a:lnTo>
                    <a:pt x="732" y="519"/>
                  </a:lnTo>
                  <a:lnTo>
                    <a:pt x="732" y="519"/>
                  </a:lnTo>
                  <a:lnTo>
                    <a:pt x="730" y="515"/>
                  </a:lnTo>
                  <a:lnTo>
                    <a:pt x="728" y="515"/>
                  </a:lnTo>
                  <a:lnTo>
                    <a:pt x="728" y="513"/>
                  </a:lnTo>
                  <a:lnTo>
                    <a:pt x="728" y="513"/>
                  </a:lnTo>
                  <a:lnTo>
                    <a:pt x="728" y="511"/>
                  </a:lnTo>
                  <a:lnTo>
                    <a:pt x="728" y="511"/>
                  </a:lnTo>
                  <a:lnTo>
                    <a:pt x="728" y="511"/>
                  </a:lnTo>
                  <a:lnTo>
                    <a:pt x="728" y="510"/>
                  </a:lnTo>
                  <a:lnTo>
                    <a:pt x="728" y="510"/>
                  </a:lnTo>
                  <a:lnTo>
                    <a:pt x="728" y="508"/>
                  </a:lnTo>
                  <a:lnTo>
                    <a:pt x="728" y="508"/>
                  </a:lnTo>
                  <a:lnTo>
                    <a:pt x="728" y="506"/>
                  </a:lnTo>
                  <a:lnTo>
                    <a:pt x="726" y="506"/>
                  </a:lnTo>
                  <a:lnTo>
                    <a:pt x="726" y="504"/>
                  </a:lnTo>
                  <a:lnTo>
                    <a:pt x="726" y="504"/>
                  </a:lnTo>
                  <a:lnTo>
                    <a:pt x="728" y="502"/>
                  </a:lnTo>
                  <a:lnTo>
                    <a:pt x="728" y="502"/>
                  </a:lnTo>
                  <a:lnTo>
                    <a:pt x="728" y="500"/>
                  </a:lnTo>
                  <a:lnTo>
                    <a:pt x="728" y="500"/>
                  </a:lnTo>
                  <a:lnTo>
                    <a:pt x="728" y="500"/>
                  </a:lnTo>
                  <a:lnTo>
                    <a:pt x="728" y="498"/>
                  </a:lnTo>
                  <a:lnTo>
                    <a:pt x="728" y="498"/>
                  </a:lnTo>
                  <a:lnTo>
                    <a:pt x="728" y="498"/>
                  </a:lnTo>
                  <a:lnTo>
                    <a:pt x="726" y="496"/>
                  </a:lnTo>
                  <a:lnTo>
                    <a:pt x="726" y="496"/>
                  </a:lnTo>
                  <a:lnTo>
                    <a:pt x="726" y="496"/>
                  </a:lnTo>
                  <a:lnTo>
                    <a:pt x="724" y="496"/>
                  </a:lnTo>
                  <a:lnTo>
                    <a:pt x="722" y="496"/>
                  </a:lnTo>
                  <a:lnTo>
                    <a:pt x="720" y="496"/>
                  </a:lnTo>
                  <a:lnTo>
                    <a:pt x="718" y="498"/>
                  </a:lnTo>
                  <a:lnTo>
                    <a:pt x="716" y="498"/>
                  </a:lnTo>
                  <a:lnTo>
                    <a:pt x="716" y="500"/>
                  </a:lnTo>
                  <a:lnTo>
                    <a:pt x="716" y="500"/>
                  </a:lnTo>
                  <a:lnTo>
                    <a:pt x="714" y="504"/>
                  </a:lnTo>
                  <a:lnTo>
                    <a:pt x="714" y="504"/>
                  </a:lnTo>
                  <a:lnTo>
                    <a:pt x="713" y="506"/>
                  </a:lnTo>
                  <a:lnTo>
                    <a:pt x="713" y="506"/>
                  </a:lnTo>
                  <a:lnTo>
                    <a:pt x="711" y="508"/>
                  </a:lnTo>
                  <a:lnTo>
                    <a:pt x="711" y="508"/>
                  </a:lnTo>
                  <a:lnTo>
                    <a:pt x="709" y="508"/>
                  </a:lnTo>
                  <a:lnTo>
                    <a:pt x="707" y="506"/>
                  </a:lnTo>
                  <a:lnTo>
                    <a:pt x="705" y="506"/>
                  </a:lnTo>
                  <a:lnTo>
                    <a:pt x="703" y="506"/>
                  </a:lnTo>
                  <a:lnTo>
                    <a:pt x="703" y="506"/>
                  </a:lnTo>
                  <a:lnTo>
                    <a:pt x="701" y="506"/>
                  </a:lnTo>
                  <a:lnTo>
                    <a:pt x="697" y="508"/>
                  </a:lnTo>
                  <a:lnTo>
                    <a:pt x="695" y="510"/>
                  </a:lnTo>
                  <a:lnTo>
                    <a:pt x="690" y="510"/>
                  </a:lnTo>
                  <a:lnTo>
                    <a:pt x="688" y="510"/>
                  </a:lnTo>
                  <a:lnTo>
                    <a:pt x="688" y="510"/>
                  </a:lnTo>
                  <a:lnTo>
                    <a:pt x="688" y="510"/>
                  </a:lnTo>
                  <a:lnTo>
                    <a:pt x="684" y="508"/>
                  </a:lnTo>
                  <a:lnTo>
                    <a:pt x="682" y="508"/>
                  </a:lnTo>
                  <a:lnTo>
                    <a:pt x="678" y="506"/>
                  </a:lnTo>
                  <a:lnTo>
                    <a:pt x="678" y="506"/>
                  </a:lnTo>
                  <a:lnTo>
                    <a:pt x="678" y="508"/>
                  </a:lnTo>
                  <a:lnTo>
                    <a:pt x="674" y="508"/>
                  </a:lnTo>
                  <a:lnTo>
                    <a:pt x="674" y="508"/>
                  </a:lnTo>
                  <a:lnTo>
                    <a:pt x="673" y="508"/>
                  </a:lnTo>
                  <a:lnTo>
                    <a:pt x="673" y="508"/>
                  </a:lnTo>
                  <a:lnTo>
                    <a:pt x="669" y="504"/>
                  </a:lnTo>
                  <a:lnTo>
                    <a:pt x="667" y="504"/>
                  </a:lnTo>
                  <a:lnTo>
                    <a:pt x="667" y="504"/>
                  </a:lnTo>
                  <a:lnTo>
                    <a:pt x="665" y="504"/>
                  </a:lnTo>
                  <a:lnTo>
                    <a:pt x="663" y="504"/>
                  </a:lnTo>
                  <a:lnTo>
                    <a:pt x="663" y="504"/>
                  </a:lnTo>
                  <a:lnTo>
                    <a:pt x="661" y="502"/>
                  </a:lnTo>
                  <a:lnTo>
                    <a:pt x="661" y="502"/>
                  </a:lnTo>
                  <a:lnTo>
                    <a:pt x="659" y="498"/>
                  </a:lnTo>
                  <a:lnTo>
                    <a:pt x="657" y="496"/>
                  </a:lnTo>
                  <a:lnTo>
                    <a:pt x="657" y="496"/>
                  </a:lnTo>
                  <a:lnTo>
                    <a:pt x="655" y="496"/>
                  </a:lnTo>
                  <a:lnTo>
                    <a:pt x="655" y="496"/>
                  </a:lnTo>
                  <a:lnTo>
                    <a:pt x="653" y="496"/>
                  </a:lnTo>
                  <a:lnTo>
                    <a:pt x="653" y="494"/>
                  </a:lnTo>
                  <a:lnTo>
                    <a:pt x="653" y="494"/>
                  </a:lnTo>
                  <a:lnTo>
                    <a:pt x="653" y="491"/>
                  </a:lnTo>
                  <a:lnTo>
                    <a:pt x="652" y="485"/>
                  </a:lnTo>
                  <a:lnTo>
                    <a:pt x="648" y="472"/>
                  </a:lnTo>
                  <a:lnTo>
                    <a:pt x="648" y="470"/>
                  </a:lnTo>
                  <a:lnTo>
                    <a:pt x="648" y="470"/>
                  </a:lnTo>
                  <a:lnTo>
                    <a:pt x="646" y="468"/>
                  </a:lnTo>
                  <a:lnTo>
                    <a:pt x="648" y="468"/>
                  </a:lnTo>
                  <a:lnTo>
                    <a:pt x="648" y="466"/>
                  </a:lnTo>
                  <a:lnTo>
                    <a:pt x="650" y="466"/>
                  </a:lnTo>
                  <a:lnTo>
                    <a:pt x="650" y="466"/>
                  </a:lnTo>
                  <a:lnTo>
                    <a:pt x="650" y="464"/>
                  </a:lnTo>
                  <a:lnTo>
                    <a:pt x="650" y="462"/>
                  </a:lnTo>
                  <a:lnTo>
                    <a:pt x="650" y="460"/>
                  </a:lnTo>
                  <a:lnTo>
                    <a:pt x="652" y="458"/>
                  </a:lnTo>
                  <a:lnTo>
                    <a:pt x="653" y="454"/>
                  </a:lnTo>
                  <a:lnTo>
                    <a:pt x="653" y="454"/>
                  </a:lnTo>
                  <a:lnTo>
                    <a:pt x="653" y="454"/>
                  </a:lnTo>
                  <a:lnTo>
                    <a:pt x="657" y="453"/>
                  </a:lnTo>
                  <a:lnTo>
                    <a:pt x="657" y="453"/>
                  </a:lnTo>
                  <a:lnTo>
                    <a:pt x="659" y="453"/>
                  </a:lnTo>
                  <a:lnTo>
                    <a:pt x="659" y="451"/>
                  </a:lnTo>
                  <a:lnTo>
                    <a:pt x="661" y="451"/>
                  </a:lnTo>
                  <a:lnTo>
                    <a:pt x="661" y="449"/>
                  </a:lnTo>
                  <a:lnTo>
                    <a:pt x="661" y="447"/>
                  </a:lnTo>
                  <a:lnTo>
                    <a:pt x="663" y="447"/>
                  </a:lnTo>
                  <a:lnTo>
                    <a:pt x="667" y="449"/>
                  </a:lnTo>
                  <a:lnTo>
                    <a:pt x="669" y="449"/>
                  </a:lnTo>
                  <a:lnTo>
                    <a:pt x="671" y="449"/>
                  </a:lnTo>
                  <a:lnTo>
                    <a:pt x="671" y="447"/>
                  </a:lnTo>
                  <a:lnTo>
                    <a:pt x="673" y="445"/>
                  </a:lnTo>
                  <a:lnTo>
                    <a:pt x="674" y="445"/>
                  </a:lnTo>
                  <a:lnTo>
                    <a:pt x="674" y="443"/>
                  </a:lnTo>
                  <a:lnTo>
                    <a:pt x="674" y="443"/>
                  </a:lnTo>
                  <a:lnTo>
                    <a:pt x="676" y="443"/>
                  </a:lnTo>
                  <a:lnTo>
                    <a:pt x="676" y="443"/>
                  </a:lnTo>
                  <a:lnTo>
                    <a:pt x="676" y="441"/>
                  </a:lnTo>
                  <a:lnTo>
                    <a:pt x="676" y="439"/>
                  </a:lnTo>
                  <a:lnTo>
                    <a:pt x="676" y="439"/>
                  </a:lnTo>
                  <a:lnTo>
                    <a:pt x="678" y="437"/>
                  </a:lnTo>
                  <a:lnTo>
                    <a:pt x="684" y="433"/>
                  </a:lnTo>
                  <a:lnTo>
                    <a:pt x="684" y="433"/>
                  </a:lnTo>
                  <a:lnTo>
                    <a:pt x="686" y="432"/>
                  </a:lnTo>
                  <a:lnTo>
                    <a:pt x="686" y="432"/>
                  </a:lnTo>
                  <a:lnTo>
                    <a:pt x="686" y="430"/>
                  </a:lnTo>
                  <a:lnTo>
                    <a:pt x="686" y="430"/>
                  </a:lnTo>
                  <a:lnTo>
                    <a:pt x="690" y="430"/>
                  </a:lnTo>
                  <a:lnTo>
                    <a:pt x="690" y="428"/>
                  </a:lnTo>
                  <a:lnTo>
                    <a:pt x="692" y="428"/>
                  </a:lnTo>
                  <a:lnTo>
                    <a:pt x="692" y="426"/>
                  </a:lnTo>
                  <a:lnTo>
                    <a:pt x="693" y="426"/>
                  </a:lnTo>
                  <a:lnTo>
                    <a:pt x="695" y="424"/>
                  </a:lnTo>
                  <a:lnTo>
                    <a:pt x="695" y="424"/>
                  </a:lnTo>
                  <a:lnTo>
                    <a:pt x="695" y="422"/>
                  </a:lnTo>
                  <a:lnTo>
                    <a:pt x="697" y="422"/>
                  </a:lnTo>
                  <a:lnTo>
                    <a:pt x="699" y="420"/>
                  </a:lnTo>
                  <a:lnTo>
                    <a:pt x="701" y="420"/>
                  </a:lnTo>
                  <a:lnTo>
                    <a:pt x="701" y="420"/>
                  </a:lnTo>
                  <a:lnTo>
                    <a:pt x="703" y="420"/>
                  </a:lnTo>
                  <a:lnTo>
                    <a:pt x="703" y="420"/>
                  </a:lnTo>
                  <a:lnTo>
                    <a:pt x="703" y="418"/>
                  </a:lnTo>
                  <a:lnTo>
                    <a:pt x="703" y="418"/>
                  </a:lnTo>
                  <a:lnTo>
                    <a:pt x="705" y="416"/>
                  </a:lnTo>
                  <a:lnTo>
                    <a:pt x="707" y="414"/>
                  </a:lnTo>
                  <a:lnTo>
                    <a:pt x="709" y="414"/>
                  </a:lnTo>
                  <a:lnTo>
                    <a:pt x="711" y="414"/>
                  </a:lnTo>
                  <a:lnTo>
                    <a:pt x="714" y="414"/>
                  </a:lnTo>
                  <a:lnTo>
                    <a:pt x="716" y="413"/>
                  </a:lnTo>
                  <a:lnTo>
                    <a:pt x="718" y="411"/>
                  </a:lnTo>
                  <a:lnTo>
                    <a:pt x="720" y="411"/>
                  </a:lnTo>
                  <a:lnTo>
                    <a:pt x="720" y="409"/>
                  </a:lnTo>
                  <a:lnTo>
                    <a:pt x="722" y="409"/>
                  </a:lnTo>
                  <a:lnTo>
                    <a:pt x="722" y="409"/>
                  </a:lnTo>
                  <a:lnTo>
                    <a:pt x="722" y="407"/>
                  </a:lnTo>
                  <a:lnTo>
                    <a:pt x="724" y="405"/>
                  </a:lnTo>
                  <a:lnTo>
                    <a:pt x="724" y="403"/>
                  </a:lnTo>
                  <a:lnTo>
                    <a:pt x="726" y="403"/>
                  </a:lnTo>
                  <a:lnTo>
                    <a:pt x="728" y="401"/>
                  </a:lnTo>
                  <a:lnTo>
                    <a:pt x="730" y="403"/>
                  </a:lnTo>
                  <a:lnTo>
                    <a:pt x="732" y="401"/>
                  </a:lnTo>
                  <a:lnTo>
                    <a:pt x="732" y="401"/>
                  </a:lnTo>
                  <a:lnTo>
                    <a:pt x="734" y="401"/>
                  </a:lnTo>
                  <a:lnTo>
                    <a:pt x="735" y="401"/>
                  </a:lnTo>
                  <a:lnTo>
                    <a:pt x="735" y="399"/>
                  </a:lnTo>
                  <a:lnTo>
                    <a:pt x="735" y="399"/>
                  </a:lnTo>
                  <a:lnTo>
                    <a:pt x="735" y="397"/>
                  </a:lnTo>
                  <a:lnTo>
                    <a:pt x="737" y="397"/>
                  </a:lnTo>
                  <a:lnTo>
                    <a:pt x="741" y="397"/>
                  </a:lnTo>
                  <a:lnTo>
                    <a:pt x="743" y="397"/>
                  </a:lnTo>
                  <a:lnTo>
                    <a:pt x="743" y="395"/>
                  </a:lnTo>
                  <a:lnTo>
                    <a:pt x="747" y="394"/>
                  </a:lnTo>
                  <a:lnTo>
                    <a:pt x="753" y="390"/>
                  </a:lnTo>
                  <a:lnTo>
                    <a:pt x="753" y="390"/>
                  </a:lnTo>
                  <a:lnTo>
                    <a:pt x="754" y="390"/>
                  </a:lnTo>
                  <a:lnTo>
                    <a:pt x="758" y="388"/>
                  </a:lnTo>
                  <a:lnTo>
                    <a:pt x="760" y="388"/>
                  </a:lnTo>
                  <a:lnTo>
                    <a:pt x="760" y="388"/>
                  </a:lnTo>
                  <a:lnTo>
                    <a:pt x="762" y="386"/>
                  </a:lnTo>
                  <a:lnTo>
                    <a:pt x="764" y="384"/>
                  </a:lnTo>
                  <a:lnTo>
                    <a:pt x="766" y="384"/>
                  </a:lnTo>
                  <a:lnTo>
                    <a:pt x="770" y="382"/>
                  </a:lnTo>
                  <a:lnTo>
                    <a:pt x="772" y="380"/>
                  </a:lnTo>
                  <a:lnTo>
                    <a:pt x="770" y="376"/>
                  </a:lnTo>
                  <a:lnTo>
                    <a:pt x="775" y="376"/>
                  </a:lnTo>
                  <a:lnTo>
                    <a:pt x="775" y="375"/>
                  </a:lnTo>
                  <a:lnTo>
                    <a:pt x="777" y="375"/>
                  </a:lnTo>
                  <a:lnTo>
                    <a:pt x="777" y="373"/>
                  </a:lnTo>
                  <a:lnTo>
                    <a:pt x="777" y="373"/>
                  </a:lnTo>
                  <a:lnTo>
                    <a:pt x="777" y="371"/>
                  </a:lnTo>
                  <a:lnTo>
                    <a:pt x="779" y="371"/>
                  </a:lnTo>
                  <a:lnTo>
                    <a:pt x="781" y="371"/>
                  </a:lnTo>
                  <a:lnTo>
                    <a:pt x="783" y="371"/>
                  </a:lnTo>
                  <a:lnTo>
                    <a:pt x="785" y="369"/>
                  </a:lnTo>
                  <a:lnTo>
                    <a:pt x="787" y="369"/>
                  </a:lnTo>
                  <a:lnTo>
                    <a:pt x="789" y="369"/>
                  </a:lnTo>
                  <a:lnTo>
                    <a:pt x="789" y="369"/>
                  </a:lnTo>
                  <a:lnTo>
                    <a:pt x="791" y="369"/>
                  </a:lnTo>
                  <a:lnTo>
                    <a:pt x="791" y="369"/>
                  </a:lnTo>
                  <a:lnTo>
                    <a:pt x="793" y="369"/>
                  </a:lnTo>
                  <a:lnTo>
                    <a:pt x="793" y="369"/>
                  </a:lnTo>
                  <a:lnTo>
                    <a:pt x="794" y="369"/>
                  </a:lnTo>
                  <a:lnTo>
                    <a:pt x="794" y="369"/>
                  </a:lnTo>
                  <a:lnTo>
                    <a:pt x="794" y="367"/>
                  </a:lnTo>
                  <a:lnTo>
                    <a:pt x="794" y="365"/>
                  </a:lnTo>
                  <a:lnTo>
                    <a:pt x="796" y="365"/>
                  </a:lnTo>
                  <a:lnTo>
                    <a:pt x="796" y="363"/>
                  </a:lnTo>
                  <a:lnTo>
                    <a:pt x="796" y="363"/>
                  </a:lnTo>
                  <a:lnTo>
                    <a:pt x="796" y="361"/>
                  </a:lnTo>
                  <a:lnTo>
                    <a:pt x="796" y="361"/>
                  </a:lnTo>
                  <a:lnTo>
                    <a:pt x="796" y="359"/>
                  </a:lnTo>
                  <a:lnTo>
                    <a:pt x="796" y="357"/>
                  </a:lnTo>
                  <a:lnTo>
                    <a:pt x="798" y="357"/>
                  </a:lnTo>
                  <a:lnTo>
                    <a:pt x="802" y="359"/>
                  </a:lnTo>
                  <a:lnTo>
                    <a:pt x="802" y="357"/>
                  </a:lnTo>
                  <a:lnTo>
                    <a:pt x="802" y="356"/>
                  </a:lnTo>
                  <a:lnTo>
                    <a:pt x="804" y="356"/>
                  </a:lnTo>
                  <a:lnTo>
                    <a:pt x="806" y="356"/>
                  </a:lnTo>
                  <a:lnTo>
                    <a:pt x="806" y="354"/>
                  </a:lnTo>
                  <a:lnTo>
                    <a:pt x="806" y="354"/>
                  </a:lnTo>
                  <a:lnTo>
                    <a:pt x="804" y="352"/>
                  </a:lnTo>
                  <a:lnTo>
                    <a:pt x="804" y="352"/>
                  </a:lnTo>
                  <a:lnTo>
                    <a:pt x="804" y="350"/>
                  </a:lnTo>
                  <a:lnTo>
                    <a:pt x="804" y="350"/>
                  </a:lnTo>
                  <a:lnTo>
                    <a:pt x="804" y="350"/>
                  </a:lnTo>
                  <a:lnTo>
                    <a:pt x="804" y="350"/>
                  </a:lnTo>
                  <a:lnTo>
                    <a:pt x="804" y="350"/>
                  </a:lnTo>
                  <a:lnTo>
                    <a:pt x="806" y="350"/>
                  </a:lnTo>
                  <a:lnTo>
                    <a:pt x="806" y="348"/>
                  </a:lnTo>
                  <a:lnTo>
                    <a:pt x="810" y="346"/>
                  </a:lnTo>
                  <a:lnTo>
                    <a:pt x="810" y="346"/>
                  </a:lnTo>
                  <a:lnTo>
                    <a:pt x="810" y="344"/>
                  </a:lnTo>
                  <a:close/>
                </a:path>
              </a:pathLst>
            </a:custGeom>
            <a:solidFill>
              <a:srgbClr val="DA291C"/>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72" name="Freeform 21">
              <a:extLst>
                <a:ext uri="{FF2B5EF4-FFF2-40B4-BE49-F238E27FC236}">
                  <a16:creationId xmlns:a16="http://schemas.microsoft.com/office/drawing/2014/main" id="{8D1EED1E-8435-AE22-3A10-E21A615F1BC8}"/>
                </a:ext>
              </a:extLst>
            </p:cNvPr>
            <p:cNvSpPr>
              <a:spLocks/>
            </p:cNvSpPr>
            <p:nvPr/>
          </p:nvSpPr>
          <p:spPr bwMode="auto">
            <a:xfrm>
              <a:off x="1240059" y="2442202"/>
              <a:ext cx="1528093" cy="1251731"/>
            </a:xfrm>
            <a:custGeom>
              <a:avLst/>
              <a:gdLst>
                <a:gd name="T0" fmla="*/ 787 w 810"/>
                <a:gd name="T1" fmla="*/ 348 h 740"/>
                <a:gd name="T2" fmla="*/ 732 w 810"/>
                <a:gd name="T3" fmla="*/ 359 h 740"/>
                <a:gd name="T4" fmla="*/ 753 w 810"/>
                <a:gd name="T5" fmla="*/ 333 h 740"/>
                <a:gd name="T6" fmla="*/ 753 w 810"/>
                <a:gd name="T7" fmla="*/ 312 h 740"/>
                <a:gd name="T8" fmla="*/ 726 w 810"/>
                <a:gd name="T9" fmla="*/ 274 h 740"/>
                <a:gd name="T10" fmla="*/ 711 w 810"/>
                <a:gd name="T11" fmla="*/ 253 h 740"/>
                <a:gd name="T12" fmla="*/ 688 w 810"/>
                <a:gd name="T13" fmla="*/ 264 h 740"/>
                <a:gd name="T14" fmla="*/ 690 w 810"/>
                <a:gd name="T15" fmla="*/ 217 h 740"/>
                <a:gd name="T16" fmla="*/ 663 w 810"/>
                <a:gd name="T17" fmla="*/ 230 h 740"/>
                <a:gd name="T18" fmla="*/ 644 w 810"/>
                <a:gd name="T19" fmla="*/ 220 h 740"/>
                <a:gd name="T20" fmla="*/ 634 w 810"/>
                <a:gd name="T21" fmla="*/ 219 h 740"/>
                <a:gd name="T22" fmla="*/ 617 w 810"/>
                <a:gd name="T23" fmla="*/ 230 h 740"/>
                <a:gd name="T24" fmla="*/ 598 w 810"/>
                <a:gd name="T25" fmla="*/ 238 h 740"/>
                <a:gd name="T26" fmla="*/ 596 w 810"/>
                <a:gd name="T27" fmla="*/ 220 h 740"/>
                <a:gd name="T28" fmla="*/ 583 w 810"/>
                <a:gd name="T29" fmla="*/ 188 h 740"/>
                <a:gd name="T30" fmla="*/ 558 w 810"/>
                <a:gd name="T31" fmla="*/ 131 h 740"/>
                <a:gd name="T32" fmla="*/ 547 w 810"/>
                <a:gd name="T33" fmla="*/ 101 h 740"/>
                <a:gd name="T34" fmla="*/ 522 w 810"/>
                <a:gd name="T35" fmla="*/ 103 h 740"/>
                <a:gd name="T36" fmla="*/ 493 w 810"/>
                <a:gd name="T37" fmla="*/ 85 h 740"/>
                <a:gd name="T38" fmla="*/ 469 w 810"/>
                <a:gd name="T39" fmla="*/ 78 h 740"/>
                <a:gd name="T40" fmla="*/ 465 w 810"/>
                <a:gd name="T41" fmla="*/ 49 h 740"/>
                <a:gd name="T42" fmla="*/ 415 w 810"/>
                <a:gd name="T43" fmla="*/ 7 h 740"/>
                <a:gd name="T44" fmla="*/ 248 w 810"/>
                <a:gd name="T45" fmla="*/ 196 h 740"/>
                <a:gd name="T46" fmla="*/ 91 w 810"/>
                <a:gd name="T47" fmla="*/ 228 h 740"/>
                <a:gd name="T48" fmla="*/ 63 w 810"/>
                <a:gd name="T49" fmla="*/ 390 h 740"/>
                <a:gd name="T50" fmla="*/ 108 w 810"/>
                <a:gd name="T51" fmla="*/ 487 h 740"/>
                <a:gd name="T52" fmla="*/ 181 w 810"/>
                <a:gd name="T53" fmla="*/ 574 h 740"/>
                <a:gd name="T54" fmla="*/ 229 w 810"/>
                <a:gd name="T55" fmla="*/ 576 h 740"/>
                <a:gd name="T56" fmla="*/ 263 w 810"/>
                <a:gd name="T57" fmla="*/ 586 h 740"/>
                <a:gd name="T58" fmla="*/ 280 w 810"/>
                <a:gd name="T59" fmla="*/ 591 h 740"/>
                <a:gd name="T60" fmla="*/ 322 w 810"/>
                <a:gd name="T61" fmla="*/ 601 h 740"/>
                <a:gd name="T62" fmla="*/ 343 w 810"/>
                <a:gd name="T63" fmla="*/ 605 h 740"/>
                <a:gd name="T64" fmla="*/ 341 w 810"/>
                <a:gd name="T65" fmla="*/ 633 h 740"/>
                <a:gd name="T66" fmla="*/ 360 w 810"/>
                <a:gd name="T67" fmla="*/ 656 h 740"/>
                <a:gd name="T68" fmla="*/ 379 w 810"/>
                <a:gd name="T69" fmla="*/ 679 h 740"/>
                <a:gd name="T70" fmla="*/ 413 w 810"/>
                <a:gd name="T71" fmla="*/ 707 h 740"/>
                <a:gd name="T72" fmla="*/ 451 w 810"/>
                <a:gd name="T73" fmla="*/ 738 h 740"/>
                <a:gd name="T74" fmla="*/ 471 w 810"/>
                <a:gd name="T75" fmla="*/ 707 h 740"/>
                <a:gd name="T76" fmla="*/ 507 w 810"/>
                <a:gd name="T77" fmla="*/ 639 h 740"/>
                <a:gd name="T78" fmla="*/ 495 w 810"/>
                <a:gd name="T79" fmla="*/ 595 h 740"/>
                <a:gd name="T80" fmla="*/ 507 w 810"/>
                <a:gd name="T81" fmla="*/ 574 h 740"/>
                <a:gd name="T82" fmla="*/ 501 w 810"/>
                <a:gd name="T83" fmla="*/ 551 h 740"/>
                <a:gd name="T84" fmla="*/ 524 w 810"/>
                <a:gd name="T85" fmla="*/ 538 h 740"/>
                <a:gd name="T86" fmla="*/ 537 w 810"/>
                <a:gd name="T87" fmla="*/ 553 h 740"/>
                <a:gd name="T88" fmla="*/ 528 w 810"/>
                <a:gd name="T89" fmla="*/ 563 h 740"/>
                <a:gd name="T90" fmla="*/ 591 w 810"/>
                <a:gd name="T91" fmla="*/ 591 h 740"/>
                <a:gd name="T92" fmla="*/ 581 w 810"/>
                <a:gd name="T93" fmla="*/ 629 h 740"/>
                <a:gd name="T94" fmla="*/ 556 w 810"/>
                <a:gd name="T95" fmla="*/ 648 h 740"/>
                <a:gd name="T96" fmla="*/ 585 w 810"/>
                <a:gd name="T97" fmla="*/ 654 h 740"/>
                <a:gd name="T98" fmla="*/ 619 w 810"/>
                <a:gd name="T99" fmla="*/ 607 h 740"/>
                <a:gd name="T100" fmla="*/ 659 w 810"/>
                <a:gd name="T101" fmla="*/ 612 h 740"/>
                <a:gd name="T102" fmla="*/ 678 w 810"/>
                <a:gd name="T103" fmla="*/ 607 h 740"/>
                <a:gd name="T104" fmla="*/ 688 w 810"/>
                <a:gd name="T105" fmla="*/ 593 h 740"/>
                <a:gd name="T106" fmla="*/ 684 w 810"/>
                <a:gd name="T107" fmla="*/ 553 h 740"/>
                <a:gd name="T108" fmla="*/ 728 w 810"/>
                <a:gd name="T109" fmla="*/ 529 h 740"/>
                <a:gd name="T110" fmla="*/ 728 w 810"/>
                <a:gd name="T111" fmla="*/ 500 h 740"/>
                <a:gd name="T112" fmla="*/ 688 w 810"/>
                <a:gd name="T113" fmla="*/ 510 h 740"/>
                <a:gd name="T114" fmla="*/ 646 w 810"/>
                <a:gd name="T115" fmla="*/ 468 h 740"/>
                <a:gd name="T116" fmla="*/ 676 w 810"/>
                <a:gd name="T117" fmla="*/ 439 h 740"/>
                <a:gd name="T118" fmla="*/ 720 w 810"/>
                <a:gd name="T119" fmla="*/ 409 h 740"/>
                <a:gd name="T120" fmla="*/ 770 w 810"/>
                <a:gd name="T121" fmla="*/ 376 h 740"/>
                <a:gd name="T122" fmla="*/ 802 w 810"/>
                <a:gd name="T123" fmla="*/ 356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10" h="740">
                  <a:moveTo>
                    <a:pt x="810" y="344"/>
                  </a:moveTo>
                  <a:lnTo>
                    <a:pt x="810" y="344"/>
                  </a:lnTo>
                  <a:lnTo>
                    <a:pt x="810" y="344"/>
                  </a:lnTo>
                  <a:lnTo>
                    <a:pt x="808" y="344"/>
                  </a:lnTo>
                  <a:lnTo>
                    <a:pt x="808" y="342"/>
                  </a:lnTo>
                  <a:lnTo>
                    <a:pt x="806" y="342"/>
                  </a:lnTo>
                  <a:lnTo>
                    <a:pt x="804" y="342"/>
                  </a:lnTo>
                  <a:lnTo>
                    <a:pt x="804" y="342"/>
                  </a:lnTo>
                  <a:lnTo>
                    <a:pt x="802" y="342"/>
                  </a:lnTo>
                  <a:lnTo>
                    <a:pt x="802" y="342"/>
                  </a:lnTo>
                  <a:lnTo>
                    <a:pt x="798" y="342"/>
                  </a:lnTo>
                  <a:lnTo>
                    <a:pt x="796" y="342"/>
                  </a:lnTo>
                  <a:lnTo>
                    <a:pt x="796" y="342"/>
                  </a:lnTo>
                  <a:lnTo>
                    <a:pt x="794" y="344"/>
                  </a:lnTo>
                  <a:lnTo>
                    <a:pt x="794" y="344"/>
                  </a:lnTo>
                  <a:lnTo>
                    <a:pt x="794" y="344"/>
                  </a:lnTo>
                  <a:lnTo>
                    <a:pt x="794" y="346"/>
                  </a:lnTo>
                  <a:lnTo>
                    <a:pt x="793" y="346"/>
                  </a:lnTo>
                  <a:lnTo>
                    <a:pt x="793" y="346"/>
                  </a:lnTo>
                  <a:lnTo>
                    <a:pt x="791" y="346"/>
                  </a:lnTo>
                  <a:lnTo>
                    <a:pt x="791" y="346"/>
                  </a:lnTo>
                  <a:lnTo>
                    <a:pt x="789" y="346"/>
                  </a:lnTo>
                  <a:lnTo>
                    <a:pt x="789" y="346"/>
                  </a:lnTo>
                  <a:lnTo>
                    <a:pt x="789" y="348"/>
                  </a:lnTo>
                  <a:lnTo>
                    <a:pt x="789" y="350"/>
                  </a:lnTo>
                  <a:lnTo>
                    <a:pt x="789" y="350"/>
                  </a:lnTo>
                  <a:lnTo>
                    <a:pt x="789" y="350"/>
                  </a:lnTo>
                  <a:lnTo>
                    <a:pt x="789" y="350"/>
                  </a:lnTo>
                  <a:lnTo>
                    <a:pt x="787" y="350"/>
                  </a:lnTo>
                  <a:lnTo>
                    <a:pt x="787" y="350"/>
                  </a:lnTo>
                  <a:lnTo>
                    <a:pt x="787" y="348"/>
                  </a:lnTo>
                  <a:lnTo>
                    <a:pt x="787" y="348"/>
                  </a:lnTo>
                  <a:lnTo>
                    <a:pt x="787" y="346"/>
                  </a:lnTo>
                  <a:lnTo>
                    <a:pt x="785" y="346"/>
                  </a:lnTo>
                  <a:lnTo>
                    <a:pt x="779" y="346"/>
                  </a:lnTo>
                  <a:lnTo>
                    <a:pt x="777" y="346"/>
                  </a:lnTo>
                  <a:lnTo>
                    <a:pt x="775" y="346"/>
                  </a:lnTo>
                  <a:lnTo>
                    <a:pt x="775" y="346"/>
                  </a:lnTo>
                  <a:lnTo>
                    <a:pt x="774" y="346"/>
                  </a:lnTo>
                  <a:lnTo>
                    <a:pt x="774" y="346"/>
                  </a:lnTo>
                  <a:lnTo>
                    <a:pt x="774" y="346"/>
                  </a:lnTo>
                  <a:lnTo>
                    <a:pt x="774" y="346"/>
                  </a:lnTo>
                  <a:lnTo>
                    <a:pt x="772" y="346"/>
                  </a:lnTo>
                  <a:lnTo>
                    <a:pt x="772" y="346"/>
                  </a:lnTo>
                  <a:lnTo>
                    <a:pt x="772" y="344"/>
                  </a:lnTo>
                  <a:lnTo>
                    <a:pt x="766" y="344"/>
                  </a:lnTo>
                  <a:lnTo>
                    <a:pt x="762" y="344"/>
                  </a:lnTo>
                  <a:lnTo>
                    <a:pt x="762" y="344"/>
                  </a:lnTo>
                  <a:lnTo>
                    <a:pt x="760" y="344"/>
                  </a:lnTo>
                  <a:lnTo>
                    <a:pt x="758" y="344"/>
                  </a:lnTo>
                  <a:lnTo>
                    <a:pt x="756" y="348"/>
                  </a:lnTo>
                  <a:lnTo>
                    <a:pt x="754" y="348"/>
                  </a:lnTo>
                  <a:lnTo>
                    <a:pt x="741" y="354"/>
                  </a:lnTo>
                  <a:lnTo>
                    <a:pt x="741" y="354"/>
                  </a:lnTo>
                  <a:lnTo>
                    <a:pt x="741" y="354"/>
                  </a:lnTo>
                  <a:lnTo>
                    <a:pt x="739" y="354"/>
                  </a:lnTo>
                  <a:lnTo>
                    <a:pt x="739" y="354"/>
                  </a:lnTo>
                  <a:lnTo>
                    <a:pt x="737" y="354"/>
                  </a:lnTo>
                  <a:lnTo>
                    <a:pt x="737" y="357"/>
                  </a:lnTo>
                  <a:lnTo>
                    <a:pt x="735" y="357"/>
                  </a:lnTo>
                  <a:lnTo>
                    <a:pt x="735" y="359"/>
                  </a:lnTo>
                  <a:lnTo>
                    <a:pt x="732" y="359"/>
                  </a:lnTo>
                  <a:lnTo>
                    <a:pt x="732" y="359"/>
                  </a:lnTo>
                  <a:lnTo>
                    <a:pt x="732" y="359"/>
                  </a:lnTo>
                  <a:lnTo>
                    <a:pt x="732" y="359"/>
                  </a:lnTo>
                  <a:lnTo>
                    <a:pt x="732" y="356"/>
                  </a:lnTo>
                  <a:lnTo>
                    <a:pt x="732" y="354"/>
                  </a:lnTo>
                  <a:lnTo>
                    <a:pt x="732" y="352"/>
                  </a:lnTo>
                  <a:lnTo>
                    <a:pt x="732" y="352"/>
                  </a:lnTo>
                  <a:lnTo>
                    <a:pt x="732" y="350"/>
                  </a:lnTo>
                  <a:lnTo>
                    <a:pt x="734" y="350"/>
                  </a:lnTo>
                  <a:lnTo>
                    <a:pt x="734" y="348"/>
                  </a:lnTo>
                  <a:lnTo>
                    <a:pt x="737" y="346"/>
                  </a:lnTo>
                  <a:lnTo>
                    <a:pt x="753" y="338"/>
                  </a:lnTo>
                  <a:lnTo>
                    <a:pt x="754" y="338"/>
                  </a:lnTo>
                  <a:lnTo>
                    <a:pt x="760" y="338"/>
                  </a:lnTo>
                  <a:lnTo>
                    <a:pt x="760" y="337"/>
                  </a:lnTo>
                  <a:lnTo>
                    <a:pt x="762" y="337"/>
                  </a:lnTo>
                  <a:lnTo>
                    <a:pt x="762" y="335"/>
                  </a:lnTo>
                  <a:lnTo>
                    <a:pt x="760" y="335"/>
                  </a:lnTo>
                  <a:lnTo>
                    <a:pt x="760" y="335"/>
                  </a:lnTo>
                  <a:lnTo>
                    <a:pt x="760" y="335"/>
                  </a:lnTo>
                  <a:lnTo>
                    <a:pt x="758" y="335"/>
                  </a:lnTo>
                  <a:lnTo>
                    <a:pt x="758" y="335"/>
                  </a:lnTo>
                  <a:lnTo>
                    <a:pt x="758" y="337"/>
                  </a:lnTo>
                  <a:lnTo>
                    <a:pt x="758" y="337"/>
                  </a:lnTo>
                  <a:lnTo>
                    <a:pt x="756" y="337"/>
                  </a:lnTo>
                  <a:lnTo>
                    <a:pt x="756" y="335"/>
                  </a:lnTo>
                  <a:lnTo>
                    <a:pt x="754" y="333"/>
                  </a:lnTo>
                  <a:lnTo>
                    <a:pt x="754" y="333"/>
                  </a:lnTo>
                  <a:lnTo>
                    <a:pt x="754" y="333"/>
                  </a:lnTo>
                  <a:lnTo>
                    <a:pt x="754" y="333"/>
                  </a:lnTo>
                  <a:lnTo>
                    <a:pt x="753" y="333"/>
                  </a:lnTo>
                  <a:lnTo>
                    <a:pt x="753" y="333"/>
                  </a:lnTo>
                  <a:lnTo>
                    <a:pt x="753" y="333"/>
                  </a:lnTo>
                  <a:lnTo>
                    <a:pt x="753" y="333"/>
                  </a:lnTo>
                  <a:lnTo>
                    <a:pt x="753" y="333"/>
                  </a:lnTo>
                  <a:lnTo>
                    <a:pt x="751" y="333"/>
                  </a:lnTo>
                  <a:lnTo>
                    <a:pt x="747" y="333"/>
                  </a:lnTo>
                  <a:lnTo>
                    <a:pt x="745" y="333"/>
                  </a:lnTo>
                  <a:lnTo>
                    <a:pt x="745" y="333"/>
                  </a:lnTo>
                  <a:lnTo>
                    <a:pt x="745" y="331"/>
                  </a:lnTo>
                  <a:lnTo>
                    <a:pt x="745" y="329"/>
                  </a:lnTo>
                  <a:lnTo>
                    <a:pt x="745" y="329"/>
                  </a:lnTo>
                  <a:lnTo>
                    <a:pt x="743" y="329"/>
                  </a:lnTo>
                  <a:lnTo>
                    <a:pt x="743" y="329"/>
                  </a:lnTo>
                  <a:lnTo>
                    <a:pt x="743" y="329"/>
                  </a:lnTo>
                  <a:lnTo>
                    <a:pt x="741" y="329"/>
                  </a:lnTo>
                  <a:lnTo>
                    <a:pt x="741" y="329"/>
                  </a:lnTo>
                  <a:lnTo>
                    <a:pt x="741" y="327"/>
                  </a:lnTo>
                  <a:lnTo>
                    <a:pt x="741" y="327"/>
                  </a:lnTo>
                  <a:lnTo>
                    <a:pt x="741" y="327"/>
                  </a:lnTo>
                  <a:lnTo>
                    <a:pt x="741" y="327"/>
                  </a:lnTo>
                  <a:lnTo>
                    <a:pt x="741" y="325"/>
                  </a:lnTo>
                  <a:lnTo>
                    <a:pt x="743" y="325"/>
                  </a:lnTo>
                  <a:lnTo>
                    <a:pt x="749" y="323"/>
                  </a:lnTo>
                  <a:lnTo>
                    <a:pt x="749" y="323"/>
                  </a:lnTo>
                  <a:lnTo>
                    <a:pt x="751" y="321"/>
                  </a:lnTo>
                  <a:lnTo>
                    <a:pt x="751" y="321"/>
                  </a:lnTo>
                  <a:lnTo>
                    <a:pt x="751" y="319"/>
                  </a:lnTo>
                  <a:lnTo>
                    <a:pt x="753" y="319"/>
                  </a:lnTo>
                  <a:lnTo>
                    <a:pt x="754" y="317"/>
                  </a:lnTo>
                  <a:lnTo>
                    <a:pt x="756" y="316"/>
                  </a:lnTo>
                  <a:lnTo>
                    <a:pt x="754" y="314"/>
                  </a:lnTo>
                  <a:lnTo>
                    <a:pt x="754" y="314"/>
                  </a:lnTo>
                  <a:lnTo>
                    <a:pt x="754" y="314"/>
                  </a:lnTo>
                  <a:lnTo>
                    <a:pt x="754" y="314"/>
                  </a:lnTo>
                  <a:lnTo>
                    <a:pt x="753" y="312"/>
                  </a:lnTo>
                  <a:lnTo>
                    <a:pt x="753" y="310"/>
                  </a:lnTo>
                  <a:lnTo>
                    <a:pt x="753" y="308"/>
                  </a:lnTo>
                  <a:lnTo>
                    <a:pt x="751" y="308"/>
                  </a:lnTo>
                  <a:lnTo>
                    <a:pt x="751" y="306"/>
                  </a:lnTo>
                  <a:lnTo>
                    <a:pt x="751" y="304"/>
                  </a:lnTo>
                  <a:lnTo>
                    <a:pt x="751" y="304"/>
                  </a:lnTo>
                  <a:lnTo>
                    <a:pt x="751" y="302"/>
                  </a:lnTo>
                  <a:lnTo>
                    <a:pt x="751" y="302"/>
                  </a:lnTo>
                  <a:lnTo>
                    <a:pt x="749" y="302"/>
                  </a:lnTo>
                  <a:lnTo>
                    <a:pt x="747" y="302"/>
                  </a:lnTo>
                  <a:lnTo>
                    <a:pt x="747" y="302"/>
                  </a:lnTo>
                  <a:lnTo>
                    <a:pt x="747" y="302"/>
                  </a:lnTo>
                  <a:lnTo>
                    <a:pt x="741" y="298"/>
                  </a:lnTo>
                  <a:lnTo>
                    <a:pt x="741" y="297"/>
                  </a:lnTo>
                  <a:lnTo>
                    <a:pt x="739" y="297"/>
                  </a:lnTo>
                  <a:lnTo>
                    <a:pt x="737" y="297"/>
                  </a:lnTo>
                  <a:lnTo>
                    <a:pt x="737" y="297"/>
                  </a:lnTo>
                  <a:lnTo>
                    <a:pt x="737" y="297"/>
                  </a:lnTo>
                  <a:lnTo>
                    <a:pt x="735" y="295"/>
                  </a:lnTo>
                  <a:lnTo>
                    <a:pt x="735" y="295"/>
                  </a:lnTo>
                  <a:lnTo>
                    <a:pt x="734" y="293"/>
                  </a:lnTo>
                  <a:lnTo>
                    <a:pt x="734" y="289"/>
                  </a:lnTo>
                  <a:lnTo>
                    <a:pt x="732" y="287"/>
                  </a:lnTo>
                  <a:lnTo>
                    <a:pt x="732" y="285"/>
                  </a:lnTo>
                  <a:lnTo>
                    <a:pt x="726" y="281"/>
                  </a:lnTo>
                  <a:lnTo>
                    <a:pt x="726" y="279"/>
                  </a:lnTo>
                  <a:lnTo>
                    <a:pt x="726" y="278"/>
                  </a:lnTo>
                  <a:lnTo>
                    <a:pt x="726" y="278"/>
                  </a:lnTo>
                  <a:lnTo>
                    <a:pt x="726" y="276"/>
                  </a:lnTo>
                  <a:lnTo>
                    <a:pt x="726" y="276"/>
                  </a:lnTo>
                  <a:lnTo>
                    <a:pt x="726" y="274"/>
                  </a:lnTo>
                  <a:lnTo>
                    <a:pt x="726" y="274"/>
                  </a:lnTo>
                  <a:lnTo>
                    <a:pt x="724" y="274"/>
                  </a:lnTo>
                  <a:lnTo>
                    <a:pt x="724" y="272"/>
                  </a:lnTo>
                  <a:lnTo>
                    <a:pt x="724" y="272"/>
                  </a:lnTo>
                  <a:lnTo>
                    <a:pt x="724" y="272"/>
                  </a:lnTo>
                  <a:lnTo>
                    <a:pt x="724" y="270"/>
                  </a:lnTo>
                  <a:lnTo>
                    <a:pt x="726" y="270"/>
                  </a:lnTo>
                  <a:lnTo>
                    <a:pt x="726" y="270"/>
                  </a:lnTo>
                  <a:lnTo>
                    <a:pt x="726" y="268"/>
                  </a:lnTo>
                  <a:lnTo>
                    <a:pt x="726" y="266"/>
                  </a:lnTo>
                  <a:lnTo>
                    <a:pt x="726" y="264"/>
                  </a:lnTo>
                  <a:lnTo>
                    <a:pt x="724" y="264"/>
                  </a:lnTo>
                  <a:lnTo>
                    <a:pt x="724" y="264"/>
                  </a:lnTo>
                  <a:lnTo>
                    <a:pt x="724" y="262"/>
                  </a:lnTo>
                  <a:lnTo>
                    <a:pt x="722" y="262"/>
                  </a:lnTo>
                  <a:lnTo>
                    <a:pt x="722" y="262"/>
                  </a:lnTo>
                  <a:lnTo>
                    <a:pt x="722" y="262"/>
                  </a:lnTo>
                  <a:lnTo>
                    <a:pt x="722" y="262"/>
                  </a:lnTo>
                  <a:lnTo>
                    <a:pt x="722" y="259"/>
                  </a:lnTo>
                  <a:lnTo>
                    <a:pt x="722" y="257"/>
                  </a:lnTo>
                  <a:lnTo>
                    <a:pt x="720" y="253"/>
                  </a:lnTo>
                  <a:lnTo>
                    <a:pt x="718" y="253"/>
                  </a:lnTo>
                  <a:lnTo>
                    <a:pt x="716" y="255"/>
                  </a:lnTo>
                  <a:lnTo>
                    <a:pt x="716" y="255"/>
                  </a:lnTo>
                  <a:lnTo>
                    <a:pt x="716" y="255"/>
                  </a:lnTo>
                  <a:lnTo>
                    <a:pt x="716" y="255"/>
                  </a:lnTo>
                  <a:lnTo>
                    <a:pt x="714" y="253"/>
                  </a:lnTo>
                  <a:lnTo>
                    <a:pt x="714" y="253"/>
                  </a:lnTo>
                  <a:lnTo>
                    <a:pt x="714" y="251"/>
                  </a:lnTo>
                  <a:lnTo>
                    <a:pt x="713" y="251"/>
                  </a:lnTo>
                  <a:lnTo>
                    <a:pt x="713" y="253"/>
                  </a:lnTo>
                  <a:lnTo>
                    <a:pt x="713" y="253"/>
                  </a:lnTo>
                  <a:lnTo>
                    <a:pt x="711" y="253"/>
                  </a:lnTo>
                  <a:lnTo>
                    <a:pt x="711" y="253"/>
                  </a:lnTo>
                  <a:lnTo>
                    <a:pt x="711" y="253"/>
                  </a:lnTo>
                  <a:lnTo>
                    <a:pt x="711" y="251"/>
                  </a:lnTo>
                  <a:lnTo>
                    <a:pt x="709" y="251"/>
                  </a:lnTo>
                  <a:lnTo>
                    <a:pt x="709" y="253"/>
                  </a:lnTo>
                  <a:lnTo>
                    <a:pt x="707" y="255"/>
                  </a:lnTo>
                  <a:lnTo>
                    <a:pt x="705" y="255"/>
                  </a:lnTo>
                  <a:lnTo>
                    <a:pt x="705" y="255"/>
                  </a:lnTo>
                  <a:lnTo>
                    <a:pt x="701" y="253"/>
                  </a:lnTo>
                  <a:lnTo>
                    <a:pt x="699" y="253"/>
                  </a:lnTo>
                  <a:lnTo>
                    <a:pt x="699" y="253"/>
                  </a:lnTo>
                  <a:lnTo>
                    <a:pt x="697" y="255"/>
                  </a:lnTo>
                  <a:lnTo>
                    <a:pt x="697" y="255"/>
                  </a:lnTo>
                  <a:lnTo>
                    <a:pt x="699" y="257"/>
                  </a:lnTo>
                  <a:lnTo>
                    <a:pt x="701" y="259"/>
                  </a:lnTo>
                  <a:lnTo>
                    <a:pt x="701" y="259"/>
                  </a:lnTo>
                  <a:lnTo>
                    <a:pt x="701" y="259"/>
                  </a:lnTo>
                  <a:lnTo>
                    <a:pt x="701" y="260"/>
                  </a:lnTo>
                  <a:lnTo>
                    <a:pt x="697" y="260"/>
                  </a:lnTo>
                  <a:lnTo>
                    <a:pt x="695" y="260"/>
                  </a:lnTo>
                  <a:lnTo>
                    <a:pt x="693" y="262"/>
                  </a:lnTo>
                  <a:lnTo>
                    <a:pt x="693" y="264"/>
                  </a:lnTo>
                  <a:lnTo>
                    <a:pt x="692" y="266"/>
                  </a:lnTo>
                  <a:lnTo>
                    <a:pt x="690" y="266"/>
                  </a:lnTo>
                  <a:lnTo>
                    <a:pt x="686" y="266"/>
                  </a:lnTo>
                  <a:lnTo>
                    <a:pt x="686" y="266"/>
                  </a:lnTo>
                  <a:lnTo>
                    <a:pt x="686" y="266"/>
                  </a:lnTo>
                  <a:lnTo>
                    <a:pt x="684" y="266"/>
                  </a:lnTo>
                  <a:lnTo>
                    <a:pt x="684" y="264"/>
                  </a:lnTo>
                  <a:lnTo>
                    <a:pt x="686" y="264"/>
                  </a:lnTo>
                  <a:lnTo>
                    <a:pt x="686" y="264"/>
                  </a:lnTo>
                  <a:lnTo>
                    <a:pt x="688" y="264"/>
                  </a:lnTo>
                  <a:lnTo>
                    <a:pt x="688" y="262"/>
                  </a:lnTo>
                  <a:lnTo>
                    <a:pt x="688" y="262"/>
                  </a:lnTo>
                  <a:lnTo>
                    <a:pt x="688" y="262"/>
                  </a:lnTo>
                  <a:lnTo>
                    <a:pt x="686" y="262"/>
                  </a:lnTo>
                  <a:lnTo>
                    <a:pt x="686" y="260"/>
                  </a:lnTo>
                  <a:lnTo>
                    <a:pt x="686" y="260"/>
                  </a:lnTo>
                  <a:lnTo>
                    <a:pt x="686" y="259"/>
                  </a:lnTo>
                  <a:lnTo>
                    <a:pt x="688" y="253"/>
                  </a:lnTo>
                  <a:lnTo>
                    <a:pt x="688" y="251"/>
                  </a:lnTo>
                  <a:lnTo>
                    <a:pt x="690" y="249"/>
                  </a:lnTo>
                  <a:lnTo>
                    <a:pt x="690" y="249"/>
                  </a:lnTo>
                  <a:lnTo>
                    <a:pt x="690" y="247"/>
                  </a:lnTo>
                  <a:lnTo>
                    <a:pt x="690" y="247"/>
                  </a:lnTo>
                  <a:lnTo>
                    <a:pt x="690" y="243"/>
                  </a:lnTo>
                  <a:lnTo>
                    <a:pt x="690" y="241"/>
                  </a:lnTo>
                  <a:lnTo>
                    <a:pt x="690" y="241"/>
                  </a:lnTo>
                  <a:lnTo>
                    <a:pt x="690" y="240"/>
                  </a:lnTo>
                  <a:lnTo>
                    <a:pt x="690" y="238"/>
                  </a:lnTo>
                  <a:lnTo>
                    <a:pt x="690" y="238"/>
                  </a:lnTo>
                  <a:lnTo>
                    <a:pt x="690" y="236"/>
                  </a:lnTo>
                  <a:lnTo>
                    <a:pt x="690" y="236"/>
                  </a:lnTo>
                  <a:lnTo>
                    <a:pt x="690" y="234"/>
                  </a:lnTo>
                  <a:lnTo>
                    <a:pt x="690" y="234"/>
                  </a:lnTo>
                  <a:lnTo>
                    <a:pt x="688" y="234"/>
                  </a:lnTo>
                  <a:lnTo>
                    <a:pt x="688" y="232"/>
                  </a:lnTo>
                  <a:lnTo>
                    <a:pt x="688" y="230"/>
                  </a:lnTo>
                  <a:lnTo>
                    <a:pt x="688" y="228"/>
                  </a:lnTo>
                  <a:lnTo>
                    <a:pt x="688" y="226"/>
                  </a:lnTo>
                  <a:lnTo>
                    <a:pt x="690" y="220"/>
                  </a:lnTo>
                  <a:lnTo>
                    <a:pt x="690" y="219"/>
                  </a:lnTo>
                  <a:lnTo>
                    <a:pt x="690" y="217"/>
                  </a:lnTo>
                  <a:lnTo>
                    <a:pt x="690" y="217"/>
                  </a:lnTo>
                  <a:lnTo>
                    <a:pt x="688" y="215"/>
                  </a:lnTo>
                  <a:lnTo>
                    <a:pt x="684" y="213"/>
                  </a:lnTo>
                  <a:lnTo>
                    <a:pt x="684" y="211"/>
                  </a:lnTo>
                  <a:lnTo>
                    <a:pt x="682" y="209"/>
                  </a:lnTo>
                  <a:lnTo>
                    <a:pt x="682" y="209"/>
                  </a:lnTo>
                  <a:lnTo>
                    <a:pt x="682" y="209"/>
                  </a:lnTo>
                  <a:lnTo>
                    <a:pt x="680" y="209"/>
                  </a:lnTo>
                  <a:lnTo>
                    <a:pt x="680" y="209"/>
                  </a:lnTo>
                  <a:lnTo>
                    <a:pt x="680" y="209"/>
                  </a:lnTo>
                  <a:lnTo>
                    <a:pt x="678" y="209"/>
                  </a:lnTo>
                  <a:lnTo>
                    <a:pt x="676" y="209"/>
                  </a:lnTo>
                  <a:lnTo>
                    <a:pt x="676" y="211"/>
                  </a:lnTo>
                  <a:lnTo>
                    <a:pt x="676" y="211"/>
                  </a:lnTo>
                  <a:lnTo>
                    <a:pt x="674" y="213"/>
                  </a:lnTo>
                  <a:lnTo>
                    <a:pt x="673" y="217"/>
                  </a:lnTo>
                  <a:lnTo>
                    <a:pt x="671" y="217"/>
                  </a:lnTo>
                  <a:lnTo>
                    <a:pt x="671" y="219"/>
                  </a:lnTo>
                  <a:lnTo>
                    <a:pt x="669" y="219"/>
                  </a:lnTo>
                  <a:lnTo>
                    <a:pt x="667" y="220"/>
                  </a:lnTo>
                  <a:lnTo>
                    <a:pt x="667" y="220"/>
                  </a:lnTo>
                  <a:lnTo>
                    <a:pt x="665" y="220"/>
                  </a:lnTo>
                  <a:lnTo>
                    <a:pt x="665" y="222"/>
                  </a:lnTo>
                  <a:lnTo>
                    <a:pt x="663" y="222"/>
                  </a:lnTo>
                  <a:lnTo>
                    <a:pt x="663" y="222"/>
                  </a:lnTo>
                  <a:lnTo>
                    <a:pt x="663" y="224"/>
                  </a:lnTo>
                  <a:lnTo>
                    <a:pt x="661" y="224"/>
                  </a:lnTo>
                  <a:lnTo>
                    <a:pt x="661" y="224"/>
                  </a:lnTo>
                  <a:lnTo>
                    <a:pt x="661" y="226"/>
                  </a:lnTo>
                  <a:lnTo>
                    <a:pt x="661" y="226"/>
                  </a:lnTo>
                  <a:lnTo>
                    <a:pt x="663" y="228"/>
                  </a:lnTo>
                  <a:lnTo>
                    <a:pt x="663" y="230"/>
                  </a:lnTo>
                  <a:lnTo>
                    <a:pt x="663" y="230"/>
                  </a:lnTo>
                  <a:lnTo>
                    <a:pt x="663" y="230"/>
                  </a:lnTo>
                  <a:lnTo>
                    <a:pt x="663" y="232"/>
                  </a:lnTo>
                  <a:lnTo>
                    <a:pt x="661" y="232"/>
                  </a:lnTo>
                  <a:lnTo>
                    <a:pt x="659" y="232"/>
                  </a:lnTo>
                  <a:lnTo>
                    <a:pt x="659" y="232"/>
                  </a:lnTo>
                  <a:lnTo>
                    <a:pt x="657" y="232"/>
                  </a:lnTo>
                  <a:lnTo>
                    <a:pt x="657" y="232"/>
                  </a:lnTo>
                  <a:lnTo>
                    <a:pt x="657" y="234"/>
                  </a:lnTo>
                  <a:lnTo>
                    <a:pt x="655" y="236"/>
                  </a:lnTo>
                  <a:lnTo>
                    <a:pt x="653" y="236"/>
                  </a:lnTo>
                  <a:lnTo>
                    <a:pt x="653" y="236"/>
                  </a:lnTo>
                  <a:lnTo>
                    <a:pt x="653" y="236"/>
                  </a:lnTo>
                  <a:lnTo>
                    <a:pt x="652" y="234"/>
                  </a:lnTo>
                  <a:lnTo>
                    <a:pt x="652" y="234"/>
                  </a:lnTo>
                  <a:lnTo>
                    <a:pt x="652" y="230"/>
                  </a:lnTo>
                  <a:lnTo>
                    <a:pt x="652" y="228"/>
                  </a:lnTo>
                  <a:lnTo>
                    <a:pt x="650" y="228"/>
                  </a:lnTo>
                  <a:lnTo>
                    <a:pt x="650" y="228"/>
                  </a:lnTo>
                  <a:lnTo>
                    <a:pt x="648" y="228"/>
                  </a:lnTo>
                  <a:lnTo>
                    <a:pt x="648" y="228"/>
                  </a:lnTo>
                  <a:lnTo>
                    <a:pt x="644" y="226"/>
                  </a:lnTo>
                  <a:lnTo>
                    <a:pt x="644" y="226"/>
                  </a:lnTo>
                  <a:lnTo>
                    <a:pt x="644" y="226"/>
                  </a:lnTo>
                  <a:lnTo>
                    <a:pt x="644" y="224"/>
                  </a:lnTo>
                  <a:lnTo>
                    <a:pt x="646" y="224"/>
                  </a:lnTo>
                  <a:lnTo>
                    <a:pt x="646" y="224"/>
                  </a:lnTo>
                  <a:lnTo>
                    <a:pt x="646" y="224"/>
                  </a:lnTo>
                  <a:lnTo>
                    <a:pt x="646" y="224"/>
                  </a:lnTo>
                  <a:lnTo>
                    <a:pt x="646" y="222"/>
                  </a:lnTo>
                  <a:lnTo>
                    <a:pt x="644" y="222"/>
                  </a:lnTo>
                  <a:lnTo>
                    <a:pt x="644" y="220"/>
                  </a:lnTo>
                  <a:lnTo>
                    <a:pt x="644" y="220"/>
                  </a:lnTo>
                  <a:lnTo>
                    <a:pt x="644" y="220"/>
                  </a:lnTo>
                  <a:lnTo>
                    <a:pt x="644" y="220"/>
                  </a:lnTo>
                  <a:lnTo>
                    <a:pt x="644" y="220"/>
                  </a:lnTo>
                  <a:lnTo>
                    <a:pt x="646" y="220"/>
                  </a:lnTo>
                  <a:lnTo>
                    <a:pt x="646" y="220"/>
                  </a:lnTo>
                  <a:lnTo>
                    <a:pt x="648" y="220"/>
                  </a:lnTo>
                  <a:lnTo>
                    <a:pt x="648" y="220"/>
                  </a:lnTo>
                  <a:lnTo>
                    <a:pt x="648" y="220"/>
                  </a:lnTo>
                  <a:lnTo>
                    <a:pt x="646" y="219"/>
                  </a:lnTo>
                  <a:lnTo>
                    <a:pt x="644" y="215"/>
                  </a:lnTo>
                  <a:lnTo>
                    <a:pt x="644" y="215"/>
                  </a:lnTo>
                  <a:lnTo>
                    <a:pt x="642" y="215"/>
                  </a:lnTo>
                  <a:lnTo>
                    <a:pt x="640" y="215"/>
                  </a:lnTo>
                  <a:lnTo>
                    <a:pt x="636" y="217"/>
                  </a:lnTo>
                  <a:lnTo>
                    <a:pt x="636" y="217"/>
                  </a:lnTo>
                  <a:lnTo>
                    <a:pt x="636" y="217"/>
                  </a:lnTo>
                  <a:lnTo>
                    <a:pt x="634" y="215"/>
                  </a:lnTo>
                  <a:lnTo>
                    <a:pt x="634" y="215"/>
                  </a:lnTo>
                  <a:lnTo>
                    <a:pt x="634" y="215"/>
                  </a:lnTo>
                  <a:lnTo>
                    <a:pt x="634" y="213"/>
                  </a:lnTo>
                  <a:lnTo>
                    <a:pt x="634" y="213"/>
                  </a:lnTo>
                  <a:lnTo>
                    <a:pt x="633" y="213"/>
                  </a:lnTo>
                  <a:lnTo>
                    <a:pt x="633" y="213"/>
                  </a:lnTo>
                  <a:lnTo>
                    <a:pt x="631" y="211"/>
                  </a:lnTo>
                  <a:lnTo>
                    <a:pt x="631" y="211"/>
                  </a:lnTo>
                  <a:lnTo>
                    <a:pt x="631" y="213"/>
                  </a:lnTo>
                  <a:lnTo>
                    <a:pt x="631" y="215"/>
                  </a:lnTo>
                  <a:lnTo>
                    <a:pt x="631" y="215"/>
                  </a:lnTo>
                  <a:lnTo>
                    <a:pt x="631" y="217"/>
                  </a:lnTo>
                  <a:lnTo>
                    <a:pt x="633" y="217"/>
                  </a:lnTo>
                  <a:lnTo>
                    <a:pt x="634" y="217"/>
                  </a:lnTo>
                  <a:lnTo>
                    <a:pt x="634" y="219"/>
                  </a:lnTo>
                  <a:lnTo>
                    <a:pt x="634" y="219"/>
                  </a:lnTo>
                  <a:lnTo>
                    <a:pt x="633" y="219"/>
                  </a:lnTo>
                  <a:lnTo>
                    <a:pt x="633" y="220"/>
                  </a:lnTo>
                  <a:lnTo>
                    <a:pt x="631" y="220"/>
                  </a:lnTo>
                  <a:lnTo>
                    <a:pt x="631" y="220"/>
                  </a:lnTo>
                  <a:lnTo>
                    <a:pt x="631" y="220"/>
                  </a:lnTo>
                  <a:lnTo>
                    <a:pt x="631" y="222"/>
                  </a:lnTo>
                  <a:lnTo>
                    <a:pt x="633" y="222"/>
                  </a:lnTo>
                  <a:lnTo>
                    <a:pt x="634" y="222"/>
                  </a:lnTo>
                  <a:lnTo>
                    <a:pt x="634" y="224"/>
                  </a:lnTo>
                  <a:lnTo>
                    <a:pt x="634" y="224"/>
                  </a:lnTo>
                  <a:lnTo>
                    <a:pt x="634" y="226"/>
                  </a:lnTo>
                  <a:lnTo>
                    <a:pt x="633" y="228"/>
                  </a:lnTo>
                  <a:lnTo>
                    <a:pt x="633" y="228"/>
                  </a:lnTo>
                  <a:lnTo>
                    <a:pt x="631" y="228"/>
                  </a:lnTo>
                  <a:lnTo>
                    <a:pt x="627" y="224"/>
                  </a:lnTo>
                  <a:lnTo>
                    <a:pt x="627" y="224"/>
                  </a:lnTo>
                  <a:lnTo>
                    <a:pt x="625" y="224"/>
                  </a:lnTo>
                  <a:lnTo>
                    <a:pt x="625" y="224"/>
                  </a:lnTo>
                  <a:lnTo>
                    <a:pt x="625" y="226"/>
                  </a:lnTo>
                  <a:lnTo>
                    <a:pt x="623" y="226"/>
                  </a:lnTo>
                  <a:lnTo>
                    <a:pt x="623" y="226"/>
                  </a:lnTo>
                  <a:lnTo>
                    <a:pt x="621" y="226"/>
                  </a:lnTo>
                  <a:lnTo>
                    <a:pt x="619" y="224"/>
                  </a:lnTo>
                  <a:lnTo>
                    <a:pt x="619" y="224"/>
                  </a:lnTo>
                  <a:lnTo>
                    <a:pt x="619" y="224"/>
                  </a:lnTo>
                  <a:lnTo>
                    <a:pt x="619" y="226"/>
                  </a:lnTo>
                  <a:lnTo>
                    <a:pt x="617" y="226"/>
                  </a:lnTo>
                  <a:lnTo>
                    <a:pt x="617" y="226"/>
                  </a:lnTo>
                  <a:lnTo>
                    <a:pt x="617" y="228"/>
                  </a:lnTo>
                  <a:lnTo>
                    <a:pt x="617" y="230"/>
                  </a:lnTo>
                  <a:lnTo>
                    <a:pt x="617" y="230"/>
                  </a:lnTo>
                  <a:lnTo>
                    <a:pt x="617" y="234"/>
                  </a:lnTo>
                  <a:lnTo>
                    <a:pt x="619" y="238"/>
                  </a:lnTo>
                  <a:lnTo>
                    <a:pt x="619" y="240"/>
                  </a:lnTo>
                  <a:lnTo>
                    <a:pt x="619" y="241"/>
                  </a:lnTo>
                  <a:lnTo>
                    <a:pt x="619" y="241"/>
                  </a:lnTo>
                  <a:lnTo>
                    <a:pt x="619" y="243"/>
                  </a:lnTo>
                  <a:lnTo>
                    <a:pt x="621" y="243"/>
                  </a:lnTo>
                  <a:lnTo>
                    <a:pt x="621" y="245"/>
                  </a:lnTo>
                  <a:lnTo>
                    <a:pt x="621" y="245"/>
                  </a:lnTo>
                  <a:lnTo>
                    <a:pt x="621" y="247"/>
                  </a:lnTo>
                  <a:lnTo>
                    <a:pt x="621" y="247"/>
                  </a:lnTo>
                  <a:lnTo>
                    <a:pt x="623" y="249"/>
                  </a:lnTo>
                  <a:lnTo>
                    <a:pt x="623" y="249"/>
                  </a:lnTo>
                  <a:lnTo>
                    <a:pt x="623" y="249"/>
                  </a:lnTo>
                  <a:lnTo>
                    <a:pt x="621" y="251"/>
                  </a:lnTo>
                  <a:lnTo>
                    <a:pt x="619" y="253"/>
                  </a:lnTo>
                  <a:lnTo>
                    <a:pt x="615" y="251"/>
                  </a:lnTo>
                  <a:lnTo>
                    <a:pt x="613" y="249"/>
                  </a:lnTo>
                  <a:lnTo>
                    <a:pt x="612" y="247"/>
                  </a:lnTo>
                  <a:lnTo>
                    <a:pt x="602" y="249"/>
                  </a:lnTo>
                  <a:lnTo>
                    <a:pt x="602" y="249"/>
                  </a:lnTo>
                  <a:lnTo>
                    <a:pt x="600" y="247"/>
                  </a:lnTo>
                  <a:lnTo>
                    <a:pt x="600" y="247"/>
                  </a:lnTo>
                  <a:lnTo>
                    <a:pt x="600" y="245"/>
                  </a:lnTo>
                  <a:lnTo>
                    <a:pt x="600" y="245"/>
                  </a:lnTo>
                  <a:lnTo>
                    <a:pt x="600" y="243"/>
                  </a:lnTo>
                  <a:lnTo>
                    <a:pt x="600" y="243"/>
                  </a:lnTo>
                  <a:lnTo>
                    <a:pt x="596" y="241"/>
                  </a:lnTo>
                  <a:lnTo>
                    <a:pt x="596" y="240"/>
                  </a:lnTo>
                  <a:lnTo>
                    <a:pt x="596" y="238"/>
                  </a:lnTo>
                  <a:lnTo>
                    <a:pt x="596" y="238"/>
                  </a:lnTo>
                  <a:lnTo>
                    <a:pt x="598" y="238"/>
                  </a:lnTo>
                  <a:lnTo>
                    <a:pt x="600" y="238"/>
                  </a:lnTo>
                  <a:lnTo>
                    <a:pt x="600" y="238"/>
                  </a:lnTo>
                  <a:lnTo>
                    <a:pt x="600" y="236"/>
                  </a:lnTo>
                  <a:lnTo>
                    <a:pt x="602" y="236"/>
                  </a:lnTo>
                  <a:lnTo>
                    <a:pt x="602" y="236"/>
                  </a:lnTo>
                  <a:lnTo>
                    <a:pt x="600" y="234"/>
                  </a:lnTo>
                  <a:lnTo>
                    <a:pt x="600" y="234"/>
                  </a:lnTo>
                  <a:lnTo>
                    <a:pt x="600" y="232"/>
                  </a:lnTo>
                  <a:lnTo>
                    <a:pt x="600" y="232"/>
                  </a:lnTo>
                  <a:lnTo>
                    <a:pt x="600" y="232"/>
                  </a:lnTo>
                  <a:lnTo>
                    <a:pt x="600" y="232"/>
                  </a:lnTo>
                  <a:lnTo>
                    <a:pt x="600" y="232"/>
                  </a:lnTo>
                  <a:lnTo>
                    <a:pt x="600" y="230"/>
                  </a:lnTo>
                  <a:lnTo>
                    <a:pt x="602" y="230"/>
                  </a:lnTo>
                  <a:lnTo>
                    <a:pt x="602" y="228"/>
                  </a:lnTo>
                  <a:lnTo>
                    <a:pt x="602" y="228"/>
                  </a:lnTo>
                  <a:lnTo>
                    <a:pt x="604" y="226"/>
                  </a:lnTo>
                  <a:lnTo>
                    <a:pt x="606" y="224"/>
                  </a:lnTo>
                  <a:lnTo>
                    <a:pt x="606" y="222"/>
                  </a:lnTo>
                  <a:lnTo>
                    <a:pt x="606" y="222"/>
                  </a:lnTo>
                  <a:lnTo>
                    <a:pt x="604" y="220"/>
                  </a:lnTo>
                  <a:lnTo>
                    <a:pt x="604" y="220"/>
                  </a:lnTo>
                  <a:lnTo>
                    <a:pt x="604" y="220"/>
                  </a:lnTo>
                  <a:lnTo>
                    <a:pt x="602" y="222"/>
                  </a:lnTo>
                  <a:lnTo>
                    <a:pt x="602" y="222"/>
                  </a:lnTo>
                  <a:lnTo>
                    <a:pt x="602" y="222"/>
                  </a:lnTo>
                  <a:lnTo>
                    <a:pt x="602" y="224"/>
                  </a:lnTo>
                  <a:lnTo>
                    <a:pt x="600" y="224"/>
                  </a:lnTo>
                  <a:lnTo>
                    <a:pt x="600" y="224"/>
                  </a:lnTo>
                  <a:lnTo>
                    <a:pt x="598" y="222"/>
                  </a:lnTo>
                  <a:lnTo>
                    <a:pt x="598" y="220"/>
                  </a:lnTo>
                  <a:lnTo>
                    <a:pt x="596" y="220"/>
                  </a:lnTo>
                  <a:lnTo>
                    <a:pt x="598" y="219"/>
                  </a:lnTo>
                  <a:lnTo>
                    <a:pt x="598" y="219"/>
                  </a:lnTo>
                  <a:lnTo>
                    <a:pt x="598" y="219"/>
                  </a:lnTo>
                  <a:lnTo>
                    <a:pt x="600" y="219"/>
                  </a:lnTo>
                  <a:lnTo>
                    <a:pt x="602" y="217"/>
                  </a:lnTo>
                  <a:lnTo>
                    <a:pt x="602" y="217"/>
                  </a:lnTo>
                  <a:lnTo>
                    <a:pt x="604" y="217"/>
                  </a:lnTo>
                  <a:lnTo>
                    <a:pt x="604" y="215"/>
                  </a:lnTo>
                  <a:lnTo>
                    <a:pt x="606" y="213"/>
                  </a:lnTo>
                  <a:lnTo>
                    <a:pt x="606" y="213"/>
                  </a:lnTo>
                  <a:lnTo>
                    <a:pt x="606" y="213"/>
                  </a:lnTo>
                  <a:lnTo>
                    <a:pt x="608" y="215"/>
                  </a:lnTo>
                  <a:lnTo>
                    <a:pt x="608" y="217"/>
                  </a:lnTo>
                  <a:lnTo>
                    <a:pt x="610" y="217"/>
                  </a:lnTo>
                  <a:lnTo>
                    <a:pt x="610" y="215"/>
                  </a:lnTo>
                  <a:lnTo>
                    <a:pt x="610" y="215"/>
                  </a:lnTo>
                  <a:lnTo>
                    <a:pt x="610" y="213"/>
                  </a:lnTo>
                  <a:lnTo>
                    <a:pt x="608" y="211"/>
                  </a:lnTo>
                  <a:lnTo>
                    <a:pt x="608" y="211"/>
                  </a:lnTo>
                  <a:lnTo>
                    <a:pt x="608" y="209"/>
                  </a:lnTo>
                  <a:lnTo>
                    <a:pt x="606" y="207"/>
                  </a:lnTo>
                  <a:lnTo>
                    <a:pt x="606" y="205"/>
                  </a:lnTo>
                  <a:lnTo>
                    <a:pt x="598" y="198"/>
                  </a:lnTo>
                  <a:lnTo>
                    <a:pt x="594" y="192"/>
                  </a:lnTo>
                  <a:lnTo>
                    <a:pt x="592" y="190"/>
                  </a:lnTo>
                  <a:lnTo>
                    <a:pt x="591" y="190"/>
                  </a:lnTo>
                  <a:lnTo>
                    <a:pt x="589" y="190"/>
                  </a:lnTo>
                  <a:lnTo>
                    <a:pt x="587" y="188"/>
                  </a:lnTo>
                  <a:lnTo>
                    <a:pt x="585" y="188"/>
                  </a:lnTo>
                  <a:lnTo>
                    <a:pt x="585" y="188"/>
                  </a:lnTo>
                  <a:lnTo>
                    <a:pt x="585" y="188"/>
                  </a:lnTo>
                  <a:lnTo>
                    <a:pt x="583" y="188"/>
                  </a:lnTo>
                  <a:lnTo>
                    <a:pt x="583" y="188"/>
                  </a:lnTo>
                  <a:lnTo>
                    <a:pt x="581" y="188"/>
                  </a:lnTo>
                  <a:lnTo>
                    <a:pt x="581" y="186"/>
                  </a:lnTo>
                  <a:lnTo>
                    <a:pt x="581" y="184"/>
                  </a:lnTo>
                  <a:lnTo>
                    <a:pt x="581" y="184"/>
                  </a:lnTo>
                  <a:lnTo>
                    <a:pt x="581" y="184"/>
                  </a:lnTo>
                  <a:lnTo>
                    <a:pt x="581" y="182"/>
                  </a:lnTo>
                  <a:lnTo>
                    <a:pt x="579" y="182"/>
                  </a:lnTo>
                  <a:lnTo>
                    <a:pt x="575" y="179"/>
                  </a:lnTo>
                  <a:lnTo>
                    <a:pt x="572" y="175"/>
                  </a:lnTo>
                  <a:lnTo>
                    <a:pt x="572" y="173"/>
                  </a:lnTo>
                  <a:lnTo>
                    <a:pt x="572" y="173"/>
                  </a:lnTo>
                  <a:lnTo>
                    <a:pt x="570" y="173"/>
                  </a:lnTo>
                  <a:lnTo>
                    <a:pt x="568" y="169"/>
                  </a:lnTo>
                  <a:lnTo>
                    <a:pt x="566" y="167"/>
                  </a:lnTo>
                  <a:lnTo>
                    <a:pt x="566" y="165"/>
                  </a:lnTo>
                  <a:lnTo>
                    <a:pt x="564" y="163"/>
                  </a:lnTo>
                  <a:lnTo>
                    <a:pt x="560" y="154"/>
                  </a:lnTo>
                  <a:lnTo>
                    <a:pt x="560" y="150"/>
                  </a:lnTo>
                  <a:lnTo>
                    <a:pt x="558" y="148"/>
                  </a:lnTo>
                  <a:lnTo>
                    <a:pt x="558" y="146"/>
                  </a:lnTo>
                  <a:lnTo>
                    <a:pt x="558" y="144"/>
                  </a:lnTo>
                  <a:lnTo>
                    <a:pt x="556" y="143"/>
                  </a:lnTo>
                  <a:lnTo>
                    <a:pt x="556" y="141"/>
                  </a:lnTo>
                  <a:lnTo>
                    <a:pt x="556" y="137"/>
                  </a:lnTo>
                  <a:lnTo>
                    <a:pt x="554" y="135"/>
                  </a:lnTo>
                  <a:lnTo>
                    <a:pt x="554" y="135"/>
                  </a:lnTo>
                  <a:lnTo>
                    <a:pt x="556" y="135"/>
                  </a:lnTo>
                  <a:lnTo>
                    <a:pt x="556" y="133"/>
                  </a:lnTo>
                  <a:lnTo>
                    <a:pt x="556" y="133"/>
                  </a:lnTo>
                  <a:lnTo>
                    <a:pt x="558" y="133"/>
                  </a:lnTo>
                  <a:lnTo>
                    <a:pt x="558" y="131"/>
                  </a:lnTo>
                  <a:lnTo>
                    <a:pt x="558" y="131"/>
                  </a:lnTo>
                  <a:lnTo>
                    <a:pt x="558" y="129"/>
                  </a:lnTo>
                  <a:lnTo>
                    <a:pt x="558" y="127"/>
                  </a:lnTo>
                  <a:lnTo>
                    <a:pt x="558" y="127"/>
                  </a:lnTo>
                  <a:lnTo>
                    <a:pt x="556" y="127"/>
                  </a:lnTo>
                  <a:lnTo>
                    <a:pt x="552" y="125"/>
                  </a:lnTo>
                  <a:lnTo>
                    <a:pt x="552" y="125"/>
                  </a:lnTo>
                  <a:lnTo>
                    <a:pt x="549" y="122"/>
                  </a:lnTo>
                  <a:lnTo>
                    <a:pt x="549" y="120"/>
                  </a:lnTo>
                  <a:lnTo>
                    <a:pt x="547" y="118"/>
                  </a:lnTo>
                  <a:lnTo>
                    <a:pt x="547" y="116"/>
                  </a:lnTo>
                  <a:lnTo>
                    <a:pt x="547" y="116"/>
                  </a:lnTo>
                  <a:lnTo>
                    <a:pt x="547" y="114"/>
                  </a:lnTo>
                  <a:lnTo>
                    <a:pt x="547" y="114"/>
                  </a:lnTo>
                  <a:lnTo>
                    <a:pt x="547" y="114"/>
                  </a:lnTo>
                  <a:lnTo>
                    <a:pt x="547" y="112"/>
                  </a:lnTo>
                  <a:lnTo>
                    <a:pt x="545" y="112"/>
                  </a:lnTo>
                  <a:lnTo>
                    <a:pt x="545" y="110"/>
                  </a:lnTo>
                  <a:lnTo>
                    <a:pt x="545" y="110"/>
                  </a:lnTo>
                  <a:lnTo>
                    <a:pt x="545" y="110"/>
                  </a:lnTo>
                  <a:lnTo>
                    <a:pt x="545" y="108"/>
                  </a:lnTo>
                  <a:lnTo>
                    <a:pt x="547" y="108"/>
                  </a:lnTo>
                  <a:lnTo>
                    <a:pt x="547" y="108"/>
                  </a:lnTo>
                  <a:lnTo>
                    <a:pt x="547" y="108"/>
                  </a:lnTo>
                  <a:lnTo>
                    <a:pt x="549" y="108"/>
                  </a:lnTo>
                  <a:lnTo>
                    <a:pt x="549" y="106"/>
                  </a:lnTo>
                  <a:lnTo>
                    <a:pt x="549" y="106"/>
                  </a:lnTo>
                  <a:lnTo>
                    <a:pt x="549" y="106"/>
                  </a:lnTo>
                  <a:lnTo>
                    <a:pt x="549" y="104"/>
                  </a:lnTo>
                  <a:lnTo>
                    <a:pt x="547" y="103"/>
                  </a:lnTo>
                  <a:lnTo>
                    <a:pt x="547" y="101"/>
                  </a:lnTo>
                  <a:lnTo>
                    <a:pt x="547" y="101"/>
                  </a:lnTo>
                  <a:lnTo>
                    <a:pt x="545" y="101"/>
                  </a:lnTo>
                  <a:lnTo>
                    <a:pt x="543" y="101"/>
                  </a:lnTo>
                  <a:lnTo>
                    <a:pt x="543" y="103"/>
                  </a:lnTo>
                  <a:lnTo>
                    <a:pt x="543" y="103"/>
                  </a:lnTo>
                  <a:lnTo>
                    <a:pt x="541" y="103"/>
                  </a:lnTo>
                  <a:lnTo>
                    <a:pt x="541" y="103"/>
                  </a:lnTo>
                  <a:lnTo>
                    <a:pt x="541" y="103"/>
                  </a:lnTo>
                  <a:lnTo>
                    <a:pt x="541" y="103"/>
                  </a:lnTo>
                  <a:lnTo>
                    <a:pt x="539" y="101"/>
                  </a:lnTo>
                  <a:lnTo>
                    <a:pt x="541" y="101"/>
                  </a:lnTo>
                  <a:lnTo>
                    <a:pt x="541" y="99"/>
                  </a:lnTo>
                  <a:lnTo>
                    <a:pt x="541" y="97"/>
                  </a:lnTo>
                  <a:lnTo>
                    <a:pt x="541" y="97"/>
                  </a:lnTo>
                  <a:lnTo>
                    <a:pt x="539" y="97"/>
                  </a:lnTo>
                  <a:lnTo>
                    <a:pt x="539" y="97"/>
                  </a:lnTo>
                  <a:lnTo>
                    <a:pt x="535" y="99"/>
                  </a:lnTo>
                  <a:lnTo>
                    <a:pt x="535" y="99"/>
                  </a:lnTo>
                  <a:lnTo>
                    <a:pt x="535" y="99"/>
                  </a:lnTo>
                  <a:lnTo>
                    <a:pt x="535" y="99"/>
                  </a:lnTo>
                  <a:lnTo>
                    <a:pt x="535" y="101"/>
                  </a:lnTo>
                  <a:lnTo>
                    <a:pt x="535" y="101"/>
                  </a:lnTo>
                  <a:lnTo>
                    <a:pt x="533" y="101"/>
                  </a:lnTo>
                  <a:lnTo>
                    <a:pt x="532" y="101"/>
                  </a:lnTo>
                  <a:lnTo>
                    <a:pt x="530" y="101"/>
                  </a:lnTo>
                  <a:lnTo>
                    <a:pt x="528" y="101"/>
                  </a:lnTo>
                  <a:lnTo>
                    <a:pt x="528" y="99"/>
                  </a:lnTo>
                  <a:lnTo>
                    <a:pt x="528" y="99"/>
                  </a:lnTo>
                  <a:lnTo>
                    <a:pt x="526" y="99"/>
                  </a:lnTo>
                  <a:lnTo>
                    <a:pt x="526" y="101"/>
                  </a:lnTo>
                  <a:lnTo>
                    <a:pt x="524" y="101"/>
                  </a:lnTo>
                  <a:lnTo>
                    <a:pt x="522" y="101"/>
                  </a:lnTo>
                  <a:lnTo>
                    <a:pt x="522" y="103"/>
                  </a:lnTo>
                  <a:lnTo>
                    <a:pt x="520" y="103"/>
                  </a:lnTo>
                  <a:lnTo>
                    <a:pt x="520" y="103"/>
                  </a:lnTo>
                  <a:lnTo>
                    <a:pt x="518" y="103"/>
                  </a:lnTo>
                  <a:lnTo>
                    <a:pt x="518" y="103"/>
                  </a:lnTo>
                  <a:lnTo>
                    <a:pt x="516" y="103"/>
                  </a:lnTo>
                  <a:lnTo>
                    <a:pt x="516" y="103"/>
                  </a:lnTo>
                  <a:lnTo>
                    <a:pt x="516" y="99"/>
                  </a:lnTo>
                  <a:lnTo>
                    <a:pt x="514" y="99"/>
                  </a:lnTo>
                  <a:lnTo>
                    <a:pt x="514" y="97"/>
                  </a:lnTo>
                  <a:lnTo>
                    <a:pt x="512" y="97"/>
                  </a:lnTo>
                  <a:lnTo>
                    <a:pt x="512" y="97"/>
                  </a:lnTo>
                  <a:lnTo>
                    <a:pt x="511" y="99"/>
                  </a:lnTo>
                  <a:lnTo>
                    <a:pt x="511" y="99"/>
                  </a:lnTo>
                  <a:lnTo>
                    <a:pt x="509" y="99"/>
                  </a:lnTo>
                  <a:lnTo>
                    <a:pt x="509" y="99"/>
                  </a:lnTo>
                  <a:lnTo>
                    <a:pt x="507" y="99"/>
                  </a:lnTo>
                  <a:lnTo>
                    <a:pt x="507" y="97"/>
                  </a:lnTo>
                  <a:lnTo>
                    <a:pt x="507" y="97"/>
                  </a:lnTo>
                  <a:lnTo>
                    <a:pt x="505" y="93"/>
                  </a:lnTo>
                  <a:lnTo>
                    <a:pt x="505" y="91"/>
                  </a:lnTo>
                  <a:lnTo>
                    <a:pt x="505" y="91"/>
                  </a:lnTo>
                  <a:lnTo>
                    <a:pt x="503" y="89"/>
                  </a:lnTo>
                  <a:lnTo>
                    <a:pt x="503" y="89"/>
                  </a:lnTo>
                  <a:lnTo>
                    <a:pt x="501" y="87"/>
                  </a:lnTo>
                  <a:lnTo>
                    <a:pt x="501" y="87"/>
                  </a:lnTo>
                  <a:lnTo>
                    <a:pt x="499" y="87"/>
                  </a:lnTo>
                  <a:lnTo>
                    <a:pt x="497" y="87"/>
                  </a:lnTo>
                  <a:lnTo>
                    <a:pt x="497" y="85"/>
                  </a:lnTo>
                  <a:lnTo>
                    <a:pt x="495" y="85"/>
                  </a:lnTo>
                  <a:lnTo>
                    <a:pt x="495" y="85"/>
                  </a:lnTo>
                  <a:lnTo>
                    <a:pt x="493" y="85"/>
                  </a:lnTo>
                  <a:lnTo>
                    <a:pt x="493" y="85"/>
                  </a:lnTo>
                  <a:lnTo>
                    <a:pt x="491" y="87"/>
                  </a:lnTo>
                  <a:lnTo>
                    <a:pt x="490" y="87"/>
                  </a:lnTo>
                  <a:lnTo>
                    <a:pt x="490" y="89"/>
                  </a:lnTo>
                  <a:lnTo>
                    <a:pt x="490" y="89"/>
                  </a:lnTo>
                  <a:lnTo>
                    <a:pt x="488" y="89"/>
                  </a:lnTo>
                  <a:lnTo>
                    <a:pt x="486" y="89"/>
                  </a:lnTo>
                  <a:lnTo>
                    <a:pt x="484" y="89"/>
                  </a:lnTo>
                  <a:lnTo>
                    <a:pt x="482" y="89"/>
                  </a:lnTo>
                  <a:lnTo>
                    <a:pt x="480" y="89"/>
                  </a:lnTo>
                  <a:lnTo>
                    <a:pt x="478" y="89"/>
                  </a:lnTo>
                  <a:lnTo>
                    <a:pt x="478" y="89"/>
                  </a:lnTo>
                  <a:lnTo>
                    <a:pt x="478" y="89"/>
                  </a:lnTo>
                  <a:lnTo>
                    <a:pt x="478" y="89"/>
                  </a:lnTo>
                  <a:lnTo>
                    <a:pt x="478" y="91"/>
                  </a:lnTo>
                  <a:lnTo>
                    <a:pt x="476" y="91"/>
                  </a:lnTo>
                  <a:lnTo>
                    <a:pt x="476" y="93"/>
                  </a:lnTo>
                  <a:lnTo>
                    <a:pt x="476" y="93"/>
                  </a:lnTo>
                  <a:lnTo>
                    <a:pt x="476" y="93"/>
                  </a:lnTo>
                  <a:lnTo>
                    <a:pt x="474" y="93"/>
                  </a:lnTo>
                  <a:lnTo>
                    <a:pt x="474" y="93"/>
                  </a:lnTo>
                  <a:lnTo>
                    <a:pt x="472" y="91"/>
                  </a:lnTo>
                  <a:lnTo>
                    <a:pt x="472" y="89"/>
                  </a:lnTo>
                  <a:lnTo>
                    <a:pt x="472" y="87"/>
                  </a:lnTo>
                  <a:lnTo>
                    <a:pt x="471" y="85"/>
                  </a:lnTo>
                  <a:lnTo>
                    <a:pt x="471" y="85"/>
                  </a:lnTo>
                  <a:lnTo>
                    <a:pt x="469" y="84"/>
                  </a:lnTo>
                  <a:lnTo>
                    <a:pt x="469" y="82"/>
                  </a:lnTo>
                  <a:lnTo>
                    <a:pt x="469" y="82"/>
                  </a:lnTo>
                  <a:lnTo>
                    <a:pt x="467" y="82"/>
                  </a:lnTo>
                  <a:lnTo>
                    <a:pt x="467" y="80"/>
                  </a:lnTo>
                  <a:lnTo>
                    <a:pt x="469" y="80"/>
                  </a:lnTo>
                  <a:lnTo>
                    <a:pt x="469" y="78"/>
                  </a:lnTo>
                  <a:lnTo>
                    <a:pt x="469" y="78"/>
                  </a:lnTo>
                  <a:lnTo>
                    <a:pt x="472" y="78"/>
                  </a:lnTo>
                  <a:lnTo>
                    <a:pt x="472" y="78"/>
                  </a:lnTo>
                  <a:lnTo>
                    <a:pt x="474" y="78"/>
                  </a:lnTo>
                  <a:lnTo>
                    <a:pt x="474" y="78"/>
                  </a:lnTo>
                  <a:lnTo>
                    <a:pt x="474" y="76"/>
                  </a:lnTo>
                  <a:lnTo>
                    <a:pt x="474" y="72"/>
                  </a:lnTo>
                  <a:lnTo>
                    <a:pt x="474" y="72"/>
                  </a:lnTo>
                  <a:lnTo>
                    <a:pt x="474" y="70"/>
                  </a:lnTo>
                  <a:lnTo>
                    <a:pt x="472" y="68"/>
                  </a:lnTo>
                  <a:lnTo>
                    <a:pt x="471" y="66"/>
                  </a:lnTo>
                  <a:lnTo>
                    <a:pt x="471" y="66"/>
                  </a:lnTo>
                  <a:lnTo>
                    <a:pt x="472" y="57"/>
                  </a:lnTo>
                  <a:lnTo>
                    <a:pt x="472" y="55"/>
                  </a:lnTo>
                  <a:lnTo>
                    <a:pt x="474" y="51"/>
                  </a:lnTo>
                  <a:lnTo>
                    <a:pt x="474" y="49"/>
                  </a:lnTo>
                  <a:lnTo>
                    <a:pt x="474" y="47"/>
                  </a:lnTo>
                  <a:lnTo>
                    <a:pt x="472" y="47"/>
                  </a:lnTo>
                  <a:lnTo>
                    <a:pt x="472" y="47"/>
                  </a:lnTo>
                  <a:lnTo>
                    <a:pt x="472" y="46"/>
                  </a:lnTo>
                  <a:lnTo>
                    <a:pt x="471" y="47"/>
                  </a:lnTo>
                  <a:lnTo>
                    <a:pt x="471" y="47"/>
                  </a:lnTo>
                  <a:lnTo>
                    <a:pt x="471" y="47"/>
                  </a:lnTo>
                  <a:lnTo>
                    <a:pt x="471" y="47"/>
                  </a:lnTo>
                  <a:lnTo>
                    <a:pt x="471" y="47"/>
                  </a:lnTo>
                  <a:lnTo>
                    <a:pt x="469" y="47"/>
                  </a:lnTo>
                  <a:lnTo>
                    <a:pt x="469" y="47"/>
                  </a:lnTo>
                  <a:lnTo>
                    <a:pt x="467" y="49"/>
                  </a:lnTo>
                  <a:lnTo>
                    <a:pt x="467" y="49"/>
                  </a:lnTo>
                  <a:lnTo>
                    <a:pt x="465" y="49"/>
                  </a:lnTo>
                  <a:lnTo>
                    <a:pt x="465" y="49"/>
                  </a:lnTo>
                  <a:lnTo>
                    <a:pt x="465" y="49"/>
                  </a:lnTo>
                  <a:lnTo>
                    <a:pt x="463" y="49"/>
                  </a:lnTo>
                  <a:lnTo>
                    <a:pt x="463" y="49"/>
                  </a:lnTo>
                  <a:lnTo>
                    <a:pt x="461" y="49"/>
                  </a:lnTo>
                  <a:lnTo>
                    <a:pt x="461" y="47"/>
                  </a:lnTo>
                  <a:lnTo>
                    <a:pt x="461" y="47"/>
                  </a:lnTo>
                  <a:lnTo>
                    <a:pt x="461" y="46"/>
                  </a:lnTo>
                  <a:lnTo>
                    <a:pt x="461" y="44"/>
                  </a:lnTo>
                  <a:lnTo>
                    <a:pt x="461" y="42"/>
                  </a:lnTo>
                  <a:lnTo>
                    <a:pt x="463" y="40"/>
                  </a:lnTo>
                  <a:lnTo>
                    <a:pt x="463" y="40"/>
                  </a:lnTo>
                  <a:lnTo>
                    <a:pt x="463" y="40"/>
                  </a:lnTo>
                  <a:lnTo>
                    <a:pt x="467" y="40"/>
                  </a:lnTo>
                  <a:lnTo>
                    <a:pt x="467" y="38"/>
                  </a:lnTo>
                  <a:lnTo>
                    <a:pt x="469" y="38"/>
                  </a:lnTo>
                  <a:lnTo>
                    <a:pt x="469" y="36"/>
                  </a:lnTo>
                  <a:lnTo>
                    <a:pt x="469" y="36"/>
                  </a:lnTo>
                  <a:lnTo>
                    <a:pt x="469" y="34"/>
                  </a:lnTo>
                  <a:lnTo>
                    <a:pt x="469" y="34"/>
                  </a:lnTo>
                  <a:lnTo>
                    <a:pt x="467" y="32"/>
                  </a:lnTo>
                  <a:lnTo>
                    <a:pt x="467" y="32"/>
                  </a:lnTo>
                  <a:lnTo>
                    <a:pt x="465" y="32"/>
                  </a:lnTo>
                  <a:lnTo>
                    <a:pt x="465" y="30"/>
                  </a:lnTo>
                  <a:lnTo>
                    <a:pt x="465" y="28"/>
                  </a:lnTo>
                  <a:lnTo>
                    <a:pt x="453" y="26"/>
                  </a:lnTo>
                  <a:lnTo>
                    <a:pt x="444" y="26"/>
                  </a:lnTo>
                  <a:lnTo>
                    <a:pt x="410" y="25"/>
                  </a:lnTo>
                  <a:lnTo>
                    <a:pt x="408" y="25"/>
                  </a:lnTo>
                  <a:lnTo>
                    <a:pt x="408" y="23"/>
                  </a:lnTo>
                  <a:lnTo>
                    <a:pt x="408" y="23"/>
                  </a:lnTo>
                  <a:lnTo>
                    <a:pt x="408" y="21"/>
                  </a:lnTo>
                  <a:lnTo>
                    <a:pt x="408" y="19"/>
                  </a:lnTo>
                  <a:lnTo>
                    <a:pt x="415" y="7"/>
                  </a:lnTo>
                  <a:lnTo>
                    <a:pt x="415" y="7"/>
                  </a:lnTo>
                  <a:lnTo>
                    <a:pt x="415" y="6"/>
                  </a:lnTo>
                  <a:lnTo>
                    <a:pt x="415" y="4"/>
                  </a:lnTo>
                  <a:lnTo>
                    <a:pt x="415" y="2"/>
                  </a:lnTo>
                  <a:lnTo>
                    <a:pt x="413" y="0"/>
                  </a:lnTo>
                  <a:lnTo>
                    <a:pt x="413" y="2"/>
                  </a:lnTo>
                  <a:lnTo>
                    <a:pt x="398" y="15"/>
                  </a:lnTo>
                  <a:lnTo>
                    <a:pt x="394" y="17"/>
                  </a:lnTo>
                  <a:lnTo>
                    <a:pt x="377" y="21"/>
                  </a:lnTo>
                  <a:lnTo>
                    <a:pt x="362" y="28"/>
                  </a:lnTo>
                  <a:lnTo>
                    <a:pt x="360" y="30"/>
                  </a:lnTo>
                  <a:lnTo>
                    <a:pt x="356" y="44"/>
                  </a:lnTo>
                  <a:lnTo>
                    <a:pt x="352" y="55"/>
                  </a:lnTo>
                  <a:lnTo>
                    <a:pt x="347" y="70"/>
                  </a:lnTo>
                  <a:lnTo>
                    <a:pt x="343" y="82"/>
                  </a:lnTo>
                  <a:lnTo>
                    <a:pt x="337" y="89"/>
                  </a:lnTo>
                  <a:lnTo>
                    <a:pt x="330" y="104"/>
                  </a:lnTo>
                  <a:lnTo>
                    <a:pt x="324" y="112"/>
                  </a:lnTo>
                  <a:lnTo>
                    <a:pt x="322" y="116"/>
                  </a:lnTo>
                  <a:lnTo>
                    <a:pt x="320" y="123"/>
                  </a:lnTo>
                  <a:lnTo>
                    <a:pt x="318" y="123"/>
                  </a:lnTo>
                  <a:lnTo>
                    <a:pt x="316" y="125"/>
                  </a:lnTo>
                  <a:lnTo>
                    <a:pt x="305" y="131"/>
                  </a:lnTo>
                  <a:lnTo>
                    <a:pt x="293" y="137"/>
                  </a:lnTo>
                  <a:lnTo>
                    <a:pt x="282" y="144"/>
                  </a:lnTo>
                  <a:lnTo>
                    <a:pt x="269" y="150"/>
                  </a:lnTo>
                  <a:lnTo>
                    <a:pt x="267" y="152"/>
                  </a:lnTo>
                  <a:lnTo>
                    <a:pt x="259" y="162"/>
                  </a:lnTo>
                  <a:lnTo>
                    <a:pt x="257" y="165"/>
                  </a:lnTo>
                  <a:lnTo>
                    <a:pt x="251" y="186"/>
                  </a:lnTo>
                  <a:lnTo>
                    <a:pt x="249" y="192"/>
                  </a:lnTo>
                  <a:lnTo>
                    <a:pt x="248" y="196"/>
                  </a:lnTo>
                  <a:lnTo>
                    <a:pt x="244" y="200"/>
                  </a:lnTo>
                  <a:lnTo>
                    <a:pt x="232" y="209"/>
                  </a:lnTo>
                  <a:lnTo>
                    <a:pt x="225" y="219"/>
                  </a:lnTo>
                  <a:lnTo>
                    <a:pt x="223" y="220"/>
                  </a:lnTo>
                  <a:lnTo>
                    <a:pt x="223" y="222"/>
                  </a:lnTo>
                  <a:lnTo>
                    <a:pt x="223" y="236"/>
                  </a:lnTo>
                  <a:lnTo>
                    <a:pt x="221" y="238"/>
                  </a:lnTo>
                  <a:lnTo>
                    <a:pt x="221" y="238"/>
                  </a:lnTo>
                  <a:lnTo>
                    <a:pt x="206" y="243"/>
                  </a:lnTo>
                  <a:lnTo>
                    <a:pt x="192" y="247"/>
                  </a:lnTo>
                  <a:lnTo>
                    <a:pt x="185" y="247"/>
                  </a:lnTo>
                  <a:lnTo>
                    <a:pt x="177" y="247"/>
                  </a:lnTo>
                  <a:lnTo>
                    <a:pt x="169" y="247"/>
                  </a:lnTo>
                  <a:lnTo>
                    <a:pt x="162" y="249"/>
                  </a:lnTo>
                  <a:lnTo>
                    <a:pt x="154" y="251"/>
                  </a:lnTo>
                  <a:lnTo>
                    <a:pt x="143" y="257"/>
                  </a:lnTo>
                  <a:lnTo>
                    <a:pt x="133" y="262"/>
                  </a:lnTo>
                  <a:lnTo>
                    <a:pt x="126" y="264"/>
                  </a:lnTo>
                  <a:lnTo>
                    <a:pt x="118" y="262"/>
                  </a:lnTo>
                  <a:lnTo>
                    <a:pt x="114" y="260"/>
                  </a:lnTo>
                  <a:lnTo>
                    <a:pt x="110" y="255"/>
                  </a:lnTo>
                  <a:lnTo>
                    <a:pt x="108" y="247"/>
                  </a:lnTo>
                  <a:lnTo>
                    <a:pt x="107" y="245"/>
                  </a:lnTo>
                  <a:lnTo>
                    <a:pt x="108" y="241"/>
                  </a:lnTo>
                  <a:lnTo>
                    <a:pt x="107" y="240"/>
                  </a:lnTo>
                  <a:lnTo>
                    <a:pt x="107" y="238"/>
                  </a:lnTo>
                  <a:lnTo>
                    <a:pt x="103" y="236"/>
                  </a:lnTo>
                  <a:lnTo>
                    <a:pt x="101" y="234"/>
                  </a:lnTo>
                  <a:lnTo>
                    <a:pt x="97" y="232"/>
                  </a:lnTo>
                  <a:lnTo>
                    <a:pt x="95" y="230"/>
                  </a:lnTo>
                  <a:lnTo>
                    <a:pt x="93" y="228"/>
                  </a:lnTo>
                  <a:lnTo>
                    <a:pt x="91" y="228"/>
                  </a:lnTo>
                  <a:lnTo>
                    <a:pt x="89" y="228"/>
                  </a:lnTo>
                  <a:lnTo>
                    <a:pt x="86" y="230"/>
                  </a:lnTo>
                  <a:lnTo>
                    <a:pt x="82" y="232"/>
                  </a:lnTo>
                  <a:lnTo>
                    <a:pt x="80" y="232"/>
                  </a:lnTo>
                  <a:lnTo>
                    <a:pt x="78" y="232"/>
                  </a:lnTo>
                  <a:lnTo>
                    <a:pt x="74" y="238"/>
                  </a:lnTo>
                  <a:lnTo>
                    <a:pt x="67" y="243"/>
                  </a:lnTo>
                  <a:lnTo>
                    <a:pt x="67" y="243"/>
                  </a:lnTo>
                  <a:lnTo>
                    <a:pt x="59" y="253"/>
                  </a:lnTo>
                  <a:lnTo>
                    <a:pt x="57" y="255"/>
                  </a:lnTo>
                  <a:lnTo>
                    <a:pt x="49" y="274"/>
                  </a:lnTo>
                  <a:lnTo>
                    <a:pt x="48" y="278"/>
                  </a:lnTo>
                  <a:lnTo>
                    <a:pt x="40" y="285"/>
                  </a:lnTo>
                  <a:lnTo>
                    <a:pt x="34" y="295"/>
                  </a:lnTo>
                  <a:lnTo>
                    <a:pt x="25" y="304"/>
                  </a:lnTo>
                  <a:lnTo>
                    <a:pt x="17" y="308"/>
                  </a:lnTo>
                  <a:lnTo>
                    <a:pt x="9" y="317"/>
                  </a:lnTo>
                  <a:lnTo>
                    <a:pt x="6" y="323"/>
                  </a:lnTo>
                  <a:lnTo>
                    <a:pt x="4" y="331"/>
                  </a:lnTo>
                  <a:lnTo>
                    <a:pt x="2" y="344"/>
                  </a:lnTo>
                  <a:lnTo>
                    <a:pt x="0" y="356"/>
                  </a:lnTo>
                  <a:lnTo>
                    <a:pt x="0" y="361"/>
                  </a:lnTo>
                  <a:lnTo>
                    <a:pt x="4" y="363"/>
                  </a:lnTo>
                  <a:lnTo>
                    <a:pt x="17" y="371"/>
                  </a:lnTo>
                  <a:lnTo>
                    <a:pt x="21" y="373"/>
                  </a:lnTo>
                  <a:lnTo>
                    <a:pt x="28" y="378"/>
                  </a:lnTo>
                  <a:lnTo>
                    <a:pt x="32" y="380"/>
                  </a:lnTo>
                  <a:lnTo>
                    <a:pt x="53" y="378"/>
                  </a:lnTo>
                  <a:lnTo>
                    <a:pt x="57" y="380"/>
                  </a:lnTo>
                  <a:lnTo>
                    <a:pt x="61" y="382"/>
                  </a:lnTo>
                  <a:lnTo>
                    <a:pt x="63" y="386"/>
                  </a:lnTo>
                  <a:lnTo>
                    <a:pt x="63" y="390"/>
                  </a:lnTo>
                  <a:lnTo>
                    <a:pt x="63" y="397"/>
                  </a:lnTo>
                  <a:lnTo>
                    <a:pt x="63" y="401"/>
                  </a:lnTo>
                  <a:lnTo>
                    <a:pt x="63" y="403"/>
                  </a:lnTo>
                  <a:lnTo>
                    <a:pt x="63" y="405"/>
                  </a:lnTo>
                  <a:lnTo>
                    <a:pt x="61" y="407"/>
                  </a:lnTo>
                  <a:lnTo>
                    <a:pt x="63" y="409"/>
                  </a:lnTo>
                  <a:lnTo>
                    <a:pt x="63" y="413"/>
                  </a:lnTo>
                  <a:lnTo>
                    <a:pt x="63" y="416"/>
                  </a:lnTo>
                  <a:lnTo>
                    <a:pt x="61" y="420"/>
                  </a:lnTo>
                  <a:lnTo>
                    <a:pt x="55" y="430"/>
                  </a:lnTo>
                  <a:lnTo>
                    <a:pt x="55" y="432"/>
                  </a:lnTo>
                  <a:lnTo>
                    <a:pt x="55" y="435"/>
                  </a:lnTo>
                  <a:lnTo>
                    <a:pt x="55" y="439"/>
                  </a:lnTo>
                  <a:lnTo>
                    <a:pt x="55" y="441"/>
                  </a:lnTo>
                  <a:lnTo>
                    <a:pt x="57" y="447"/>
                  </a:lnTo>
                  <a:lnTo>
                    <a:pt x="59" y="453"/>
                  </a:lnTo>
                  <a:lnTo>
                    <a:pt x="63" y="456"/>
                  </a:lnTo>
                  <a:lnTo>
                    <a:pt x="67" y="460"/>
                  </a:lnTo>
                  <a:lnTo>
                    <a:pt x="68" y="462"/>
                  </a:lnTo>
                  <a:lnTo>
                    <a:pt x="70" y="468"/>
                  </a:lnTo>
                  <a:lnTo>
                    <a:pt x="72" y="470"/>
                  </a:lnTo>
                  <a:lnTo>
                    <a:pt x="72" y="470"/>
                  </a:lnTo>
                  <a:lnTo>
                    <a:pt x="76" y="472"/>
                  </a:lnTo>
                  <a:lnTo>
                    <a:pt x="82" y="473"/>
                  </a:lnTo>
                  <a:lnTo>
                    <a:pt x="93" y="473"/>
                  </a:lnTo>
                  <a:lnTo>
                    <a:pt x="97" y="472"/>
                  </a:lnTo>
                  <a:lnTo>
                    <a:pt x="99" y="470"/>
                  </a:lnTo>
                  <a:lnTo>
                    <a:pt x="103" y="470"/>
                  </a:lnTo>
                  <a:lnTo>
                    <a:pt x="107" y="470"/>
                  </a:lnTo>
                  <a:lnTo>
                    <a:pt x="108" y="473"/>
                  </a:lnTo>
                  <a:lnTo>
                    <a:pt x="108" y="477"/>
                  </a:lnTo>
                  <a:lnTo>
                    <a:pt x="108" y="487"/>
                  </a:lnTo>
                  <a:lnTo>
                    <a:pt x="108" y="498"/>
                  </a:lnTo>
                  <a:lnTo>
                    <a:pt x="108" y="502"/>
                  </a:lnTo>
                  <a:lnTo>
                    <a:pt x="110" y="504"/>
                  </a:lnTo>
                  <a:lnTo>
                    <a:pt x="114" y="508"/>
                  </a:lnTo>
                  <a:lnTo>
                    <a:pt x="114" y="510"/>
                  </a:lnTo>
                  <a:lnTo>
                    <a:pt x="116" y="511"/>
                  </a:lnTo>
                  <a:lnTo>
                    <a:pt x="116" y="515"/>
                  </a:lnTo>
                  <a:lnTo>
                    <a:pt x="120" y="517"/>
                  </a:lnTo>
                  <a:lnTo>
                    <a:pt x="126" y="523"/>
                  </a:lnTo>
                  <a:lnTo>
                    <a:pt x="128" y="525"/>
                  </a:lnTo>
                  <a:lnTo>
                    <a:pt x="128" y="527"/>
                  </a:lnTo>
                  <a:lnTo>
                    <a:pt x="131" y="542"/>
                  </a:lnTo>
                  <a:lnTo>
                    <a:pt x="133" y="548"/>
                  </a:lnTo>
                  <a:lnTo>
                    <a:pt x="135" y="553"/>
                  </a:lnTo>
                  <a:lnTo>
                    <a:pt x="141" y="561"/>
                  </a:lnTo>
                  <a:lnTo>
                    <a:pt x="145" y="570"/>
                  </a:lnTo>
                  <a:lnTo>
                    <a:pt x="147" y="572"/>
                  </a:lnTo>
                  <a:lnTo>
                    <a:pt x="148" y="574"/>
                  </a:lnTo>
                  <a:lnTo>
                    <a:pt x="152" y="576"/>
                  </a:lnTo>
                  <a:lnTo>
                    <a:pt x="162" y="578"/>
                  </a:lnTo>
                  <a:lnTo>
                    <a:pt x="162" y="578"/>
                  </a:lnTo>
                  <a:lnTo>
                    <a:pt x="164" y="578"/>
                  </a:lnTo>
                  <a:lnTo>
                    <a:pt x="166" y="578"/>
                  </a:lnTo>
                  <a:lnTo>
                    <a:pt x="168" y="576"/>
                  </a:lnTo>
                  <a:lnTo>
                    <a:pt x="168" y="576"/>
                  </a:lnTo>
                  <a:lnTo>
                    <a:pt x="171" y="576"/>
                  </a:lnTo>
                  <a:lnTo>
                    <a:pt x="171" y="576"/>
                  </a:lnTo>
                  <a:lnTo>
                    <a:pt x="173" y="578"/>
                  </a:lnTo>
                  <a:lnTo>
                    <a:pt x="175" y="578"/>
                  </a:lnTo>
                  <a:lnTo>
                    <a:pt x="177" y="578"/>
                  </a:lnTo>
                  <a:lnTo>
                    <a:pt x="179" y="576"/>
                  </a:lnTo>
                  <a:lnTo>
                    <a:pt x="181" y="574"/>
                  </a:lnTo>
                  <a:lnTo>
                    <a:pt x="183" y="574"/>
                  </a:lnTo>
                  <a:lnTo>
                    <a:pt x="185" y="574"/>
                  </a:lnTo>
                  <a:lnTo>
                    <a:pt x="190" y="574"/>
                  </a:lnTo>
                  <a:lnTo>
                    <a:pt x="194" y="574"/>
                  </a:lnTo>
                  <a:lnTo>
                    <a:pt x="196" y="574"/>
                  </a:lnTo>
                  <a:lnTo>
                    <a:pt x="198" y="576"/>
                  </a:lnTo>
                  <a:lnTo>
                    <a:pt x="198" y="576"/>
                  </a:lnTo>
                  <a:lnTo>
                    <a:pt x="200" y="576"/>
                  </a:lnTo>
                  <a:lnTo>
                    <a:pt x="202" y="576"/>
                  </a:lnTo>
                  <a:lnTo>
                    <a:pt x="209" y="574"/>
                  </a:lnTo>
                  <a:lnTo>
                    <a:pt x="211" y="574"/>
                  </a:lnTo>
                  <a:lnTo>
                    <a:pt x="211" y="574"/>
                  </a:lnTo>
                  <a:lnTo>
                    <a:pt x="211" y="576"/>
                  </a:lnTo>
                  <a:lnTo>
                    <a:pt x="213" y="578"/>
                  </a:lnTo>
                  <a:lnTo>
                    <a:pt x="213" y="578"/>
                  </a:lnTo>
                  <a:lnTo>
                    <a:pt x="215" y="578"/>
                  </a:lnTo>
                  <a:lnTo>
                    <a:pt x="217" y="578"/>
                  </a:lnTo>
                  <a:lnTo>
                    <a:pt x="217" y="578"/>
                  </a:lnTo>
                  <a:lnTo>
                    <a:pt x="217" y="578"/>
                  </a:lnTo>
                  <a:lnTo>
                    <a:pt x="217" y="576"/>
                  </a:lnTo>
                  <a:lnTo>
                    <a:pt x="217" y="576"/>
                  </a:lnTo>
                  <a:lnTo>
                    <a:pt x="217" y="574"/>
                  </a:lnTo>
                  <a:lnTo>
                    <a:pt x="219" y="574"/>
                  </a:lnTo>
                  <a:lnTo>
                    <a:pt x="221" y="574"/>
                  </a:lnTo>
                  <a:lnTo>
                    <a:pt x="221" y="574"/>
                  </a:lnTo>
                  <a:lnTo>
                    <a:pt x="223" y="574"/>
                  </a:lnTo>
                  <a:lnTo>
                    <a:pt x="223" y="574"/>
                  </a:lnTo>
                  <a:lnTo>
                    <a:pt x="223" y="576"/>
                  </a:lnTo>
                  <a:lnTo>
                    <a:pt x="225" y="576"/>
                  </a:lnTo>
                  <a:lnTo>
                    <a:pt x="227" y="576"/>
                  </a:lnTo>
                  <a:lnTo>
                    <a:pt x="227" y="576"/>
                  </a:lnTo>
                  <a:lnTo>
                    <a:pt x="229" y="576"/>
                  </a:lnTo>
                  <a:lnTo>
                    <a:pt x="229" y="574"/>
                  </a:lnTo>
                  <a:lnTo>
                    <a:pt x="230" y="574"/>
                  </a:lnTo>
                  <a:lnTo>
                    <a:pt x="230" y="572"/>
                  </a:lnTo>
                  <a:lnTo>
                    <a:pt x="232" y="572"/>
                  </a:lnTo>
                  <a:lnTo>
                    <a:pt x="236" y="572"/>
                  </a:lnTo>
                  <a:lnTo>
                    <a:pt x="238" y="570"/>
                  </a:lnTo>
                  <a:lnTo>
                    <a:pt x="238" y="572"/>
                  </a:lnTo>
                  <a:lnTo>
                    <a:pt x="240" y="572"/>
                  </a:lnTo>
                  <a:lnTo>
                    <a:pt x="240" y="576"/>
                  </a:lnTo>
                  <a:lnTo>
                    <a:pt x="242" y="576"/>
                  </a:lnTo>
                  <a:lnTo>
                    <a:pt x="249" y="578"/>
                  </a:lnTo>
                  <a:lnTo>
                    <a:pt x="251" y="580"/>
                  </a:lnTo>
                  <a:lnTo>
                    <a:pt x="257" y="578"/>
                  </a:lnTo>
                  <a:lnTo>
                    <a:pt x="261" y="578"/>
                  </a:lnTo>
                  <a:lnTo>
                    <a:pt x="263" y="578"/>
                  </a:lnTo>
                  <a:lnTo>
                    <a:pt x="263" y="578"/>
                  </a:lnTo>
                  <a:lnTo>
                    <a:pt x="265" y="578"/>
                  </a:lnTo>
                  <a:lnTo>
                    <a:pt x="265" y="580"/>
                  </a:lnTo>
                  <a:lnTo>
                    <a:pt x="265" y="580"/>
                  </a:lnTo>
                  <a:lnTo>
                    <a:pt x="263" y="580"/>
                  </a:lnTo>
                  <a:lnTo>
                    <a:pt x="263" y="580"/>
                  </a:lnTo>
                  <a:lnTo>
                    <a:pt x="261" y="582"/>
                  </a:lnTo>
                  <a:lnTo>
                    <a:pt x="257" y="582"/>
                  </a:lnTo>
                  <a:lnTo>
                    <a:pt x="257" y="582"/>
                  </a:lnTo>
                  <a:lnTo>
                    <a:pt x="257" y="582"/>
                  </a:lnTo>
                  <a:lnTo>
                    <a:pt x="255" y="582"/>
                  </a:lnTo>
                  <a:lnTo>
                    <a:pt x="257" y="584"/>
                  </a:lnTo>
                  <a:lnTo>
                    <a:pt x="257" y="584"/>
                  </a:lnTo>
                  <a:lnTo>
                    <a:pt x="259" y="586"/>
                  </a:lnTo>
                  <a:lnTo>
                    <a:pt x="259" y="586"/>
                  </a:lnTo>
                  <a:lnTo>
                    <a:pt x="261" y="586"/>
                  </a:lnTo>
                  <a:lnTo>
                    <a:pt x="263" y="586"/>
                  </a:lnTo>
                  <a:lnTo>
                    <a:pt x="265" y="588"/>
                  </a:lnTo>
                  <a:lnTo>
                    <a:pt x="265" y="588"/>
                  </a:lnTo>
                  <a:lnTo>
                    <a:pt x="265" y="588"/>
                  </a:lnTo>
                  <a:lnTo>
                    <a:pt x="265" y="588"/>
                  </a:lnTo>
                  <a:lnTo>
                    <a:pt x="265" y="589"/>
                  </a:lnTo>
                  <a:lnTo>
                    <a:pt x="267" y="589"/>
                  </a:lnTo>
                  <a:lnTo>
                    <a:pt x="267" y="589"/>
                  </a:lnTo>
                  <a:lnTo>
                    <a:pt x="269" y="589"/>
                  </a:lnTo>
                  <a:lnTo>
                    <a:pt x="269" y="589"/>
                  </a:lnTo>
                  <a:lnTo>
                    <a:pt x="270" y="589"/>
                  </a:lnTo>
                  <a:lnTo>
                    <a:pt x="272" y="589"/>
                  </a:lnTo>
                  <a:lnTo>
                    <a:pt x="272" y="591"/>
                  </a:lnTo>
                  <a:lnTo>
                    <a:pt x="272" y="591"/>
                  </a:lnTo>
                  <a:lnTo>
                    <a:pt x="272" y="591"/>
                  </a:lnTo>
                  <a:lnTo>
                    <a:pt x="272" y="593"/>
                  </a:lnTo>
                  <a:lnTo>
                    <a:pt x="272" y="593"/>
                  </a:lnTo>
                  <a:lnTo>
                    <a:pt x="272" y="595"/>
                  </a:lnTo>
                  <a:lnTo>
                    <a:pt x="272" y="595"/>
                  </a:lnTo>
                  <a:lnTo>
                    <a:pt x="274" y="597"/>
                  </a:lnTo>
                  <a:lnTo>
                    <a:pt x="274" y="599"/>
                  </a:lnTo>
                  <a:lnTo>
                    <a:pt x="276" y="599"/>
                  </a:lnTo>
                  <a:lnTo>
                    <a:pt x="276" y="599"/>
                  </a:lnTo>
                  <a:lnTo>
                    <a:pt x="276" y="599"/>
                  </a:lnTo>
                  <a:lnTo>
                    <a:pt x="278" y="599"/>
                  </a:lnTo>
                  <a:lnTo>
                    <a:pt x="278" y="599"/>
                  </a:lnTo>
                  <a:lnTo>
                    <a:pt x="278" y="599"/>
                  </a:lnTo>
                  <a:lnTo>
                    <a:pt x="278" y="599"/>
                  </a:lnTo>
                  <a:lnTo>
                    <a:pt x="280" y="593"/>
                  </a:lnTo>
                  <a:lnTo>
                    <a:pt x="280" y="591"/>
                  </a:lnTo>
                  <a:lnTo>
                    <a:pt x="280" y="591"/>
                  </a:lnTo>
                  <a:lnTo>
                    <a:pt x="280" y="591"/>
                  </a:lnTo>
                  <a:lnTo>
                    <a:pt x="280" y="591"/>
                  </a:lnTo>
                  <a:lnTo>
                    <a:pt x="282" y="591"/>
                  </a:lnTo>
                  <a:lnTo>
                    <a:pt x="284" y="591"/>
                  </a:lnTo>
                  <a:lnTo>
                    <a:pt x="284" y="591"/>
                  </a:lnTo>
                  <a:lnTo>
                    <a:pt x="290" y="595"/>
                  </a:lnTo>
                  <a:lnTo>
                    <a:pt x="290" y="595"/>
                  </a:lnTo>
                  <a:lnTo>
                    <a:pt x="291" y="595"/>
                  </a:lnTo>
                  <a:lnTo>
                    <a:pt x="293" y="595"/>
                  </a:lnTo>
                  <a:lnTo>
                    <a:pt x="293" y="595"/>
                  </a:lnTo>
                  <a:lnTo>
                    <a:pt x="295" y="597"/>
                  </a:lnTo>
                  <a:lnTo>
                    <a:pt x="295" y="597"/>
                  </a:lnTo>
                  <a:lnTo>
                    <a:pt x="295" y="597"/>
                  </a:lnTo>
                  <a:lnTo>
                    <a:pt x="297" y="601"/>
                  </a:lnTo>
                  <a:lnTo>
                    <a:pt x="297" y="601"/>
                  </a:lnTo>
                  <a:lnTo>
                    <a:pt x="299" y="603"/>
                  </a:lnTo>
                  <a:lnTo>
                    <a:pt x="299" y="603"/>
                  </a:lnTo>
                  <a:lnTo>
                    <a:pt x="301" y="605"/>
                  </a:lnTo>
                  <a:lnTo>
                    <a:pt x="303" y="605"/>
                  </a:lnTo>
                  <a:lnTo>
                    <a:pt x="307" y="605"/>
                  </a:lnTo>
                  <a:lnTo>
                    <a:pt x="310" y="605"/>
                  </a:lnTo>
                  <a:lnTo>
                    <a:pt x="312" y="605"/>
                  </a:lnTo>
                  <a:lnTo>
                    <a:pt x="316" y="607"/>
                  </a:lnTo>
                  <a:lnTo>
                    <a:pt x="318" y="607"/>
                  </a:lnTo>
                  <a:lnTo>
                    <a:pt x="318" y="607"/>
                  </a:lnTo>
                  <a:lnTo>
                    <a:pt x="320" y="605"/>
                  </a:lnTo>
                  <a:lnTo>
                    <a:pt x="322" y="605"/>
                  </a:lnTo>
                  <a:lnTo>
                    <a:pt x="322" y="603"/>
                  </a:lnTo>
                  <a:lnTo>
                    <a:pt x="322" y="603"/>
                  </a:lnTo>
                  <a:lnTo>
                    <a:pt x="322" y="603"/>
                  </a:lnTo>
                  <a:lnTo>
                    <a:pt x="322" y="601"/>
                  </a:lnTo>
                  <a:lnTo>
                    <a:pt x="322" y="601"/>
                  </a:lnTo>
                  <a:lnTo>
                    <a:pt x="322" y="601"/>
                  </a:lnTo>
                  <a:lnTo>
                    <a:pt x="322" y="601"/>
                  </a:lnTo>
                  <a:lnTo>
                    <a:pt x="322" y="599"/>
                  </a:lnTo>
                  <a:lnTo>
                    <a:pt x="324" y="599"/>
                  </a:lnTo>
                  <a:lnTo>
                    <a:pt x="324" y="599"/>
                  </a:lnTo>
                  <a:lnTo>
                    <a:pt x="324" y="597"/>
                  </a:lnTo>
                  <a:lnTo>
                    <a:pt x="324" y="597"/>
                  </a:lnTo>
                  <a:lnTo>
                    <a:pt x="324" y="595"/>
                  </a:lnTo>
                  <a:lnTo>
                    <a:pt x="324" y="595"/>
                  </a:lnTo>
                  <a:lnTo>
                    <a:pt x="324" y="595"/>
                  </a:lnTo>
                  <a:lnTo>
                    <a:pt x="326" y="593"/>
                  </a:lnTo>
                  <a:lnTo>
                    <a:pt x="326" y="593"/>
                  </a:lnTo>
                  <a:lnTo>
                    <a:pt x="326" y="593"/>
                  </a:lnTo>
                  <a:lnTo>
                    <a:pt x="328" y="593"/>
                  </a:lnTo>
                  <a:lnTo>
                    <a:pt x="328" y="593"/>
                  </a:lnTo>
                  <a:lnTo>
                    <a:pt x="331" y="591"/>
                  </a:lnTo>
                  <a:lnTo>
                    <a:pt x="333" y="591"/>
                  </a:lnTo>
                  <a:lnTo>
                    <a:pt x="333" y="591"/>
                  </a:lnTo>
                  <a:lnTo>
                    <a:pt x="335" y="591"/>
                  </a:lnTo>
                  <a:lnTo>
                    <a:pt x="335" y="591"/>
                  </a:lnTo>
                  <a:lnTo>
                    <a:pt x="335" y="593"/>
                  </a:lnTo>
                  <a:lnTo>
                    <a:pt x="335" y="593"/>
                  </a:lnTo>
                  <a:lnTo>
                    <a:pt x="335" y="593"/>
                  </a:lnTo>
                  <a:lnTo>
                    <a:pt x="335" y="595"/>
                  </a:lnTo>
                  <a:lnTo>
                    <a:pt x="335" y="599"/>
                  </a:lnTo>
                  <a:lnTo>
                    <a:pt x="333" y="601"/>
                  </a:lnTo>
                  <a:lnTo>
                    <a:pt x="333" y="601"/>
                  </a:lnTo>
                  <a:lnTo>
                    <a:pt x="333" y="601"/>
                  </a:lnTo>
                  <a:lnTo>
                    <a:pt x="335" y="603"/>
                  </a:lnTo>
                  <a:lnTo>
                    <a:pt x="335" y="603"/>
                  </a:lnTo>
                  <a:lnTo>
                    <a:pt x="337" y="603"/>
                  </a:lnTo>
                  <a:lnTo>
                    <a:pt x="341" y="605"/>
                  </a:lnTo>
                  <a:lnTo>
                    <a:pt x="341" y="605"/>
                  </a:lnTo>
                  <a:lnTo>
                    <a:pt x="343" y="605"/>
                  </a:lnTo>
                  <a:lnTo>
                    <a:pt x="343" y="605"/>
                  </a:lnTo>
                  <a:lnTo>
                    <a:pt x="343" y="603"/>
                  </a:lnTo>
                  <a:lnTo>
                    <a:pt x="345" y="603"/>
                  </a:lnTo>
                  <a:lnTo>
                    <a:pt x="345" y="605"/>
                  </a:lnTo>
                  <a:lnTo>
                    <a:pt x="345" y="605"/>
                  </a:lnTo>
                  <a:lnTo>
                    <a:pt x="345" y="607"/>
                  </a:lnTo>
                  <a:lnTo>
                    <a:pt x="345" y="607"/>
                  </a:lnTo>
                  <a:lnTo>
                    <a:pt x="345" y="608"/>
                  </a:lnTo>
                  <a:lnTo>
                    <a:pt x="345" y="608"/>
                  </a:lnTo>
                  <a:lnTo>
                    <a:pt x="343" y="608"/>
                  </a:lnTo>
                  <a:lnTo>
                    <a:pt x="343" y="608"/>
                  </a:lnTo>
                  <a:lnTo>
                    <a:pt x="341" y="608"/>
                  </a:lnTo>
                  <a:lnTo>
                    <a:pt x="339" y="608"/>
                  </a:lnTo>
                  <a:lnTo>
                    <a:pt x="339" y="608"/>
                  </a:lnTo>
                  <a:lnTo>
                    <a:pt x="339" y="608"/>
                  </a:lnTo>
                  <a:lnTo>
                    <a:pt x="337" y="610"/>
                  </a:lnTo>
                  <a:lnTo>
                    <a:pt x="337" y="610"/>
                  </a:lnTo>
                  <a:lnTo>
                    <a:pt x="337" y="610"/>
                  </a:lnTo>
                  <a:lnTo>
                    <a:pt x="337" y="612"/>
                  </a:lnTo>
                  <a:lnTo>
                    <a:pt x="335" y="612"/>
                  </a:lnTo>
                  <a:lnTo>
                    <a:pt x="335" y="614"/>
                  </a:lnTo>
                  <a:lnTo>
                    <a:pt x="333" y="620"/>
                  </a:lnTo>
                  <a:lnTo>
                    <a:pt x="333" y="622"/>
                  </a:lnTo>
                  <a:lnTo>
                    <a:pt x="333" y="622"/>
                  </a:lnTo>
                  <a:lnTo>
                    <a:pt x="335" y="626"/>
                  </a:lnTo>
                  <a:lnTo>
                    <a:pt x="335" y="627"/>
                  </a:lnTo>
                  <a:lnTo>
                    <a:pt x="335" y="627"/>
                  </a:lnTo>
                  <a:lnTo>
                    <a:pt x="337" y="629"/>
                  </a:lnTo>
                  <a:lnTo>
                    <a:pt x="339" y="629"/>
                  </a:lnTo>
                  <a:lnTo>
                    <a:pt x="339" y="631"/>
                  </a:lnTo>
                  <a:lnTo>
                    <a:pt x="341" y="631"/>
                  </a:lnTo>
                  <a:lnTo>
                    <a:pt x="341" y="633"/>
                  </a:lnTo>
                  <a:lnTo>
                    <a:pt x="343" y="633"/>
                  </a:lnTo>
                  <a:lnTo>
                    <a:pt x="343" y="635"/>
                  </a:lnTo>
                  <a:lnTo>
                    <a:pt x="345" y="635"/>
                  </a:lnTo>
                  <a:lnTo>
                    <a:pt x="345" y="637"/>
                  </a:lnTo>
                  <a:lnTo>
                    <a:pt x="345" y="637"/>
                  </a:lnTo>
                  <a:lnTo>
                    <a:pt x="347" y="641"/>
                  </a:lnTo>
                  <a:lnTo>
                    <a:pt x="349" y="641"/>
                  </a:lnTo>
                  <a:lnTo>
                    <a:pt x="349" y="641"/>
                  </a:lnTo>
                  <a:lnTo>
                    <a:pt x="352" y="639"/>
                  </a:lnTo>
                  <a:lnTo>
                    <a:pt x="354" y="639"/>
                  </a:lnTo>
                  <a:lnTo>
                    <a:pt x="354" y="637"/>
                  </a:lnTo>
                  <a:lnTo>
                    <a:pt x="354" y="637"/>
                  </a:lnTo>
                  <a:lnTo>
                    <a:pt x="356" y="633"/>
                  </a:lnTo>
                  <a:lnTo>
                    <a:pt x="356" y="633"/>
                  </a:lnTo>
                  <a:lnTo>
                    <a:pt x="358" y="631"/>
                  </a:lnTo>
                  <a:lnTo>
                    <a:pt x="358" y="633"/>
                  </a:lnTo>
                  <a:lnTo>
                    <a:pt x="362" y="637"/>
                  </a:lnTo>
                  <a:lnTo>
                    <a:pt x="362" y="639"/>
                  </a:lnTo>
                  <a:lnTo>
                    <a:pt x="362" y="641"/>
                  </a:lnTo>
                  <a:lnTo>
                    <a:pt x="362" y="643"/>
                  </a:lnTo>
                  <a:lnTo>
                    <a:pt x="362" y="643"/>
                  </a:lnTo>
                  <a:lnTo>
                    <a:pt x="362" y="643"/>
                  </a:lnTo>
                  <a:lnTo>
                    <a:pt x="364" y="645"/>
                  </a:lnTo>
                  <a:lnTo>
                    <a:pt x="364" y="647"/>
                  </a:lnTo>
                  <a:lnTo>
                    <a:pt x="364" y="648"/>
                  </a:lnTo>
                  <a:lnTo>
                    <a:pt x="364" y="650"/>
                  </a:lnTo>
                  <a:lnTo>
                    <a:pt x="364" y="650"/>
                  </a:lnTo>
                  <a:lnTo>
                    <a:pt x="362" y="650"/>
                  </a:lnTo>
                  <a:lnTo>
                    <a:pt x="360" y="652"/>
                  </a:lnTo>
                  <a:lnTo>
                    <a:pt x="360" y="652"/>
                  </a:lnTo>
                  <a:lnTo>
                    <a:pt x="360" y="654"/>
                  </a:lnTo>
                  <a:lnTo>
                    <a:pt x="360" y="656"/>
                  </a:lnTo>
                  <a:lnTo>
                    <a:pt x="360" y="658"/>
                  </a:lnTo>
                  <a:lnTo>
                    <a:pt x="360" y="660"/>
                  </a:lnTo>
                  <a:lnTo>
                    <a:pt x="358" y="664"/>
                  </a:lnTo>
                  <a:lnTo>
                    <a:pt x="358" y="664"/>
                  </a:lnTo>
                  <a:lnTo>
                    <a:pt x="358" y="666"/>
                  </a:lnTo>
                  <a:lnTo>
                    <a:pt x="362" y="664"/>
                  </a:lnTo>
                  <a:lnTo>
                    <a:pt x="362" y="666"/>
                  </a:lnTo>
                  <a:lnTo>
                    <a:pt x="364" y="666"/>
                  </a:lnTo>
                  <a:lnTo>
                    <a:pt x="364" y="666"/>
                  </a:lnTo>
                  <a:lnTo>
                    <a:pt x="364" y="667"/>
                  </a:lnTo>
                  <a:lnTo>
                    <a:pt x="366" y="669"/>
                  </a:lnTo>
                  <a:lnTo>
                    <a:pt x="366" y="669"/>
                  </a:lnTo>
                  <a:lnTo>
                    <a:pt x="368" y="671"/>
                  </a:lnTo>
                  <a:lnTo>
                    <a:pt x="368" y="671"/>
                  </a:lnTo>
                  <a:lnTo>
                    <a:pt x="371" y="671"/>
                  </a:lnTo>
                  <a:lnTo>
                    <a:pt x="371" y="673"/>
                  </a:lnTo>
                  <a:lnTo>
                    <a:pt x="371" y="673"/>
                  </a:lnTo>
                  <a:lnTo>
                    <a:pt x="373" y="673"/>
                  </a:lnTo>
                  <a:lnTo>
                    <a:pt x="373" y="675"/>
                  </a:lnTo>
                  <a:lnTo>
                    <a:pt x="373" y="675"/>
                  </a:lnTo>
                  <a:lnTo>
                    <a:pt x="371" y="677"/>
                  </a:lnTo>
                  <a:lnTo>
                    <a:pt x="371" y="677"/>
                  </a:lnTo>
                  <a:lnTo>
                    <a:pt x="371" y="679"/>
                  </a:lnTo>
                  <a:lnTo>
                    <a:pt x="371" y="681"/>
                  </a:lnTo>
                  <a:lnTo>
                    <a:pt x="371" y="683"/>
                  </a:lnTo>
                  <a:lnTo>
                    <a:pt x="371" y="683"/>
                  </a:lnTo>
                  <a:lnTo>
                    <a:pt x="373" y="683"/>
                  </a:lnTo>
                  <a:lnTo>
                    <a:pt x="373" y="683"/>
                  </a:lnTo>
                  <a:lnTo>
                    <a:pt x="375" y="683"/>
                  </a:lnTo>
                  <a:lnTo>
                    <a:pt x="377" y="681"/>
                  </a:lnTo>
                  <a:lnTo>
                    <a:pt x="377" y="679"/>
                  </a:lnTo>
                  <a:lnTo>
                    <a:pt x="379" y="679"/>
                  </a:lnTo>
                  <a:lnTo>
                    <a:pt x="381" y="681"/>
                  </a:lnTo>
                  <a:lnTo>
                    <a:pt x="383" y="683"/>
                  </a:lnTo>
                  <a:lnTo>
                    <a:pt x="383" y="685"/>
                  </a:lnTo>
                  <a:lnTo>
                    <a:pt x="383" y="686"/>
                  </a:lnTo>
                  <a:lnTo>
                    <a:pt x="383" y="688"/>
                  </a:lnTo>
                  <a:lnTo>
                    <a:pt x="383" y="690"/>
                  </a:lnTo>
                  <a:lnTo>
                    <a:pt x="383" y="692"/>
                  </a:lnTo>
                  <a:lnTo>
                    <a:pt x="383" y="694"/>
                  </a:lnTo>
                  <a:lnTo>
                    <a:pt x="385" y="694"/>
                  </a:lnTo>
                  <a:lnTo>
                    <a:pt x="383" y="696"/>
                  </a:lnTo>
                  <a:lnTo>
                    <a:pt x="383" y="698"/>
                  </a:lnTo>
                  <a:lnTo>
                    <a:pt x="383" y="700"/>
                  </a:lnTo>
                  <a:lnTo>
                    <a:pt x="387" y="700"/>
                  </a:lnTo>
                  <a:lnTo>
                    <a:pt x="389" y="700"/>
                  </a:lnTo>
                  <a:lnTo>
                    <a:pt x="391" y="702"/>
                  </a:lnTo>
                  <a:lnTo>
                    <a:pt x="391" y="702"/>
                  </a:lnTo>
                  <a:lnTo>
                    <a:pt x="398" y="700"/>
                  </a:lnTo>
                  <a:lnTo>
                    <a:pt x="400" y="700"/>
                  </a:lnTo>
                  <a:lnTo>
                    <a:pt x="400" y="700"/>
                  </a:lnTo>
                  <a:lnTo>
                    <a:pt x="402" y="702"/>
                  </a:lnTo>
                  <a:lnTo>
                    <a:pt x="404" y="705"/>
                  </a:lnTo>
                  <a:lnTo>
                    <a:pt x="408" y="709"/>
                  </a:lnTo>
                  <a:lnTo>
                    <a:pt x="408" y="709"/>
                  </a:lnTo>
                  <a:lnTo>
                    <a:pt x="410" y="709"/>
                  </a:lnTo>
                  <a:lnTo>
                    <a:pt x="410" y="709"/>
                  </a:lnTo>
                  <a:lnTo>
                    <a:pt x="410" y="709"/>
                  </a:lnTo>
                  <a:lnTo>
                    <a:pt x="411" y="709"/>
                  </a:lnTo>
                  <a:lnTo>
                    <a:pt x="411" y="709"/>
                  </a:lnTo>
                  <a:lnTo>
                    <a:pt x="411" y="709"/>
                  </a:lnTo>
                  <a:lnTo>
                    <a:pt x="411" y="707"/>
                  </a:lnTo>
                  <a:lnTo>
                    <a:pt x="411" y="707"/>
                  </a:lnTo>
                  <a:lnTo>
                    <a:pt x="413" y="707"/>
                  </a:lnTo>
                  <a:lnTo>
                    <a:pt x="413" y="707"/>
                  </a:lnTo>
                  <a:lnTo>
                    <a:pt x="417" y="711"/>
                  </a:lnTo>
                  <a:lnTo>
                    <a:pt x="421" y="713"/>
                  </a:lnTo>
                  <a:lnTo>
                    <a:pt x="425" y="717"/>
                  </a:lnTo>
                  <a:lnTo>
                    <a:pt x="427" y="717"/>
                  </a:lnTo>
                  <a:lnTo>
                    <a:pt x="429" y="719"/>
                  </a:lnTo>
                  <a:lnTo>
                    <a:pt x="429" y="721"/>
                  </a:lnTo>
                  <a:lnTo>
                    <a:pt x="429" y="721"/>
                  </a:lnTo>
                  <a:lnTo>
                    <a:pt x="429" y="723"/>
                  </a:lnTo>
                  <a:lnTo>
                    <a:pt x="429" y="724"/>
                  </a:lnTo>
                  <a:lnTo>
                    <a:pt x="429" y="726"/>
                  </a:lnTo>
                  <a:lnTo>
                    <a:pt x="431" y="726"/>
                  </a:lnTo>
                  <a:lnTo>
                    <a:pt x="431" y="728"/>
                  </a:lnTo>
                  <a:lnTo>
                    <a:pt x="432" y="728"/>
                  </a:lnTo>
                  <a:lnTo>
                    <a:pt x="432" y="726"/>
                  </a:lnTo>
                  <a:lnTo>
                    <a:pt x="434" y="726"/>
                  </a:lnTo>
                  <a:lnTo>
                    <a:pt x="434" y="726"/>
                  </a:lnTo>
                  <a:lnTo>
                    <a:pt x="436" y="726"/>
                  </a:lnTo>
                  <a:lnTo>
                    <a:pt x="436" y="726"/>
                  </a:lnTo>
                  <a:lnTo>
                    <a:pt x="440" y="728"/>
                  </a:lnTo>
                  <a:lnTo>
                    <a:pt x="440" y="728"/>
                  </a:lnTo>
                  <a:lnTo>
                    <a:pt x="442" y="730"/>
                  </a:lnTo>
                  <a:lnTo>
                    <a:pt x="442" y="732"/>
                  </a:lnTo>
                  <a:lnTo>
                    <a:pt x="444" y="734"/>
                  </a:lnTo>
                  <a:lnTo>
                    <a:pt x="444" y="734"/>
                  </a:lnTo>
                  <a:lnTo>
                    <a:pt x="446" y="736"/>
                  </a:lnTo>
                  <a:lnTo>
                    <a:pt x="446" y="736"/>
                  </a:lnTo>
                  <a:lnTo>
                    <a:pt x="446" y="736"/>
                  </a:lnTo>
                  <a:lnTo>
                    <a:pt x="448" y="738"/>
                  </a:lnTo>
                  <a:lnTo>
                    <a:pt x="448" y="740"/>
                  </a:lnTo>
                  <a:lnTo>
                    <a:pt x="450" y="738"/>
                  </a:lnTo>
                  <a:lnTo>
                    <a:pt x="451" y="738"/>
                  </a:lnTo>
                  <a:lnTo>
                    <a:pt x="451" y="738"/>
                  </a:lnTo>
                  <a:lnTo>
                    <a:pt x="453" y="736"/>
                  </a:lnTo>
                  <a:lnTo>
                    <a:pt x="453" y="736"/>
                  </a:lnTo>
                  <a:lnTo>
                    <a:pt x="455" y="736"/>
                  </a:lnTo>
                  <a:lnTo>
                    <a:pt x="457" y="736"/>
                  </a:lnTo>
                  <a:lnTo>
                    <a:pt x="459" y="738"/>
                  </a:lnTo>
                  <a:lnTo>
                    <a:pt x="459" y="738"/>
                  </a:lnTo>
                  <a:lnTo>
                    <a:pt x="461" y="738"/>
                  </a:lnTo>
                  <a:lnTo>
                    <a:pt x="469" y="734"/>
                  </a:lnTo>
                  <a:lnTo>
                    <a:pt x="474" y="732"/>
                  </a:lnTo>
                  <a:lnTo>
                    <a:pt x="480" y="728"/>
                  </a:lnTo>
                  <a:lnTo>
                    <a:pt x="484" y="726"/>
                  </a:lnTo>
                  <a:lnTo>
                    <a:pt x="484" y="726"/>
                  </a:lnTo>
                  <a:lnTo>
                    <a:pt x="484" y="724"/>
                  </a:lnTo>
                  <a:lnTo>
                    <a:pt x="482" y="724"/>
                  </a:lnTo>
                  <a:lnTo>
                    <a:pt x="482" y="723"/>
                  </a:lnTo>
                  <a:lnTo>
                    <a:pt x="480" y="723"/>
                  </a:lnTo>
                  <a:lnTo>
                    <a:pt x="480" y="721"/>
                  </a:lnTo>
                  <a:lnTo>
                    <a:pt x="478" y="721"/>
                  </a:lnTo>
                  <a:lnTo>
                    <a:pt x="478" y="721"/>
                  </a:lnTo>
                  <a:lnTo>
                    <a:pt x="476" y="721"/>
                  </a:lnTo>
                  <a:lnTo>
                    <a:pt x="474" y="721"/>
                  </a:lnTo>
                  <a:lnTo>
                    <a:pt x="472" y="719"/>
                  </a:lnTo>
                  <a:lnTo>
                    <a:pt x="469" y="719"/>
                  </a:lnTo>
                  <a:lnTo>
                    <a:pt x="469" y="719"/>
                  </a:lnTo>
                  <a:lnTo>
                    <a:pt x="467" y="719"/>
                  </a:lnTo>
                  <a:lnTo>
                    <a:pt x="467" y="717"/>
                  </a:lnTo>
                  <a:lnTo>
                    <a:pt x="467" y="717"/>
                  </a:lnTo>
                  <a:lnTo>
                    <a:pt x="467" y="715"/>
                  </a:lnTo>
                  <a:lnTo>
                    <a:pt x="467" y="715"/>
                  </a:lnTo>
                  <a:lnTo>
                    <a:pt x="469" y="707"/>
                  </a:lnTo>
                  <a:lnTo>
                    <a:pt x="471" y="707"/>
                  </a:lnTo>
                  <a:lnTo>
                    <a:pt x="476" y="702"/>
                  </a:lnTo>
                  <a:lnTo>
                    <a:pt x="478" y="700"/>
                  </a:lnTo>
                  <a:lnTo>
                    <a:pt x="482" y="698"/>
                  </a:lnTo>
                  <a:lnTo>
                    <a:pt x="484" y="698"/>
                  </a:lnTo>
                  <a:lnTo>
                    <a:pt x="490" y="694"/>
                  </a:lnTo>
                  <a:lnTo>
                    <a:pt x="491" y="694"/>
                  </a:lnTo>
                  <a:lnTo>
                    <a:pt x="493" y="694"/>
                  </a:lnTo>
                  <a:lnTo>
                    <a:pt x="493" y="694"/>
                  </a:lnTo>
                  <a:lnTo>
                    <a:pt x="497" y="690"/>
                  </a:lnTo>
                  <a:lnTo>
                    <a:pt x="497" y="690"/>
                  </a:lnTo>
                  <a:lnTo>
                    <a:pt x="499" y="688"/>
                  </a:lnTo>
                  <a:lnTo>
                    <a:pt x="499" y="686"/>
                  </a:lnTo>
                  <a:lnTo>
                    <a:pt x="501" y="683"/>
                  </a:lnTo>
                  <a:lnTo>
                    <a:pt x="501" y="681"/>
                  </a:lnTo>
                  <a:lnTo>
                    <a:pt x="501" y="681"/>
                  </a:lnTo>
                  <a:lnTo>
                    <a:pt x="503" y="679"/>
                  </a:lnTo>
                  <a:lnTo>
                    <a:pt x="503" y="679"/>
                  </a:lnTo>
                  <a:lnTo>
                    <a:pt x="505" y="677"/>
                  </a:lnTo>
                  <a:lnTo>
                    <a:pt x="505" y="675"/>
                  </a:lnTo>
                  <a:lnTo>
                    <a:pt x="505" y="673"/>
                  </a:lnTo>
                  <a:lnTo>
                    <a:pt x="505" y="671"/>
                  </a:lnTo>
                  <a:lnTo>
                    <a:pt x="505" y="667"/>
                  </a:lnTo>
                  <a:lnTo>
                    <a:pt x="503" y="666"/>
                  </a:lnTo>
                  <a:lnTo>
                    <a:pt x="501" y="664"/>
                  </a:lnTo>
                  <a:lnTo>
                    <a:pt x="501" y="662"/>
                  </a:lnTo>
                  <a:lnTo>
                    <a:pt x="501" y="660"/>
                  </a:lnTo>
                  <a:lnTo>
                    <a:pt x="501" y="658"/>
                  </a:lnTo>
                  <a:lnTo>
                    <a:pt x="501" y="654"/>
                  </a:lnTo>
                  <a:lnTo>
                    <a:pt x="505" y="643"/>
                  </a:lnTo>
                  <a:lnTo>
                    <a:pt x="507" y="641"/>
                  </a:lnTo>
                  <a:lnTo>
                    <a:pt x="507" y="641"/>
                  </a:lnTo>
                  <a:lnTo>
                    <a:pt x="507" y="639"/>
                  </a:lnTo>
                  <a:lnTo>
                    <a:pt x="507" y="639"/>
                  </a:lnTo>
                  <a:lnTo>
                    <a:pt x="507" y="637"/>
                  </a:lnTo>
                  <a:lnTo>
                    <a:pt x="505" y="637"/>
                  </a:lnTo>
                  <a:lnTo>
                    <a:pt x="503" y="635"/>
                  </a:lnTo>
                  <a:lnTo>
                    <a:pt x="503" y="633"/>
                  </a:lnTo>
                  <a:lnTo>
                    <a:pt x="501" y="633"/>
                  </a:lnTo>
                  <a:lnTo>
                    <a:pt x="501" y="631"/>
                  </a:lnTo>
                  <a:lnTo>
                    <a:pt x="501" y="629"/>
                  </a:lnTo>
                  <a:lnTo>
                    <a:pt x="499" y="627"/>
                  </a:lnTo>
                  <a:lnTo>
                    <a:pt x="499" y="622"/>
                  </a:lnTo>
                  <a:lnTo>
                    <a:pt x="499" y="620"/>
                  </a:lnTo>
                  <a:lnTo>
                    <a:pt x="499" y="620"/>
                  </a:lnTo>
                  <a:lnTo>
                    <a:pt x="497" y="618"/>
                  </a:lnTo>
                  <a:lnTo>
                    <a:pt x="495" y="618"/>
                  </a:lnTo>
                  <a:lnTo>
                    <a:pt x="493" y="616"/>
                  </a:lnTo>
                  <a:lnTo>
                    <a:pt x="491" y="616"/>
                  </a:lnTo>
                  <a:lnTo>
                    <a:pt x="488" y="616"/>
                  </a:lnTo>
                  <a:lnTo>
                    <a:pt x="488" y="616"/>
                  </a:lnTo>
                  <a:lnTo>
                    <a:pt x="486" y="616"/>
                  </a:lnTo>
                  <a:lnTo>
                    <a:pt x="486" y="616"/>
                  </a:lnTo>
                  <a:lnTo>
                    <a:pt x="486" y="614"/>
                  </a:lnTo>
                  <a:lnTo>
                    <a:pt x="488" y="614"/>
                  </a:lnTo>
                  <a:lnTo>
                    <a:pt x="488" y="612"/>
                  </a:lnTo>
                  <a:lnTo>
                    <a:pt x="488" y="610"/>
                  </a:lnTo>
                  <a:lnTo>
                    <a:pt x="488" y="608"/>
                  </a:lnTo>
                  <a:lnTo>
                    <a:pt x="488" y="608"/>
                  </a:lnTo>
                  <a:lnTo>
                    <a:pt x="490" y="607"/>
                  </a:lnTo>
                  <a:lnTo>
                    <a:pt x="493" y="603"/>
                  </a:lnTo>
                  <a:lnTo>
                    <a:pt x="495" y="601"/>
                  </a:lnTo>
                  <a:lnTo>
                    <a:pt x="495" y="599"/>
                  </a:lnTo>
                  <a:lnTo>
                    <a:pt x="495" y="597"/>
                  </a:lnTo>
                  <a:lnTo>
                    <a:pt x="495" y="595"/>
                  </a:lnTo>
                  <a:lnTo>
                    <a:pt x="493" y="595"/>
                  </a:lnTo>
                  <a:lnTo>
                    <a:pt x="484" y="593"/>
                  </a:lnTo>
                  <a:lnTo>
                    <a:pt x="484" y="591"/>
                  </a:lnTo>
                  <a:lnTo>
                    <a:pt x="484" y="591"/>
                  </a:lnTo>
                  <a:lnTo>
                    <a:pt x="484" y="589"/>
                  </a:lnTo>
                  <a:lnTo>
                    <a:pt x="484" y="589"/>
                  </a:lnTo>
                  <a:lnTo>
                    <a:pt x="484" y="588"/>
                  </a:lnTo>
                  <a:lnTo>
                    <a:pt x="488" y="584"/>
                  </a:lnTo>
                  <a:lnTo>
                    <a:pt x="490" y="576"/>
                  </a:lnTo>
                  <a:lnTo>
                    <a:pt x="490" y="574"/>
                  </a:lnTo>
                  <a:lnTo>
                    <a:pt x="490" y="572"/>
                  </a:lnTo>
                  <a:lnTo>
                    <a:pt x="490" y="572"/>
                  </a:lnTo>
                  <a:lnTo>
                    <a:pt x="490" y="569"/>
                  </a:lnTo>
                  <a:lnTo>
                    <a:pt x="490" y="565"/>
                  </a:lnTo>
                  <a:lnTo>
                    <a:pt x="490" y="565"/>
                  </a:lnTo>
                  <a:lnTo>
                    <a:pt x="490" y="565"/>
                  </a:lnTo>
                  <a:lnTo>
                    <a:pt x="491" y="565"/>
                  </a:lnTo>
                  <a:lnTo>
                    <a:pt x="491" y="565"/>
                  </a:lnTo>
                  <a:lnTo>
                    <a:pt x="491" y="567"/>
                  </a:lnTo>
                  <a:lnTo>
                    <a:pt x="491" y="569"/>
                  </a:lnTo>
                  <a:lnTo>
                    <a:pt x="493" y="569"/>
                  </a:lnTo>
                  <a:lnTo>
                    <a:pt x="493" y="570"/>
                  </a:lnTo>
                  <a:lnTo>
                    <a:pt x="495" y="570"/>
                  </a:lnTo>
                  <a:lnTo>
                    <a:pt x="495" y="572"/>
                  </a:lnTo>
                  <a:lnTo>
                    <a:pt x="497" y="574"/>
                  </a:lnTo>
                  <a:lnTo>
                    <a:pt x="497" y="574"/>
                  </a:lnTo>
                  <a:lnTo>
                    <a:pt x="499" y="576"/>
                  </a:lnTo>
                  <a:lnTo>
                    <a:pt x="499" y="576"/>
                  </a:lnTo>
                  <a:lnTo>
                    <a:pt x="503" y="576"/>
                  </a:lnTo>
                  <a:lnTo>
                    <a:pt x="505" y="576"/>
                  </a:lnTo>
                  <a:lnTo>
                    <a:pt x="505" y="574"/>
                  </a:lnTo>
                  <a:lnTo>
                    <a:pt x="507" y="574"/>
                  </a:lnTo>
                  <a:lnTo>
                    <a:pt x="507" y="572"/>
                  </a:lnTo>
                  <a:lnTo>
                    <a:pt x="507" y="570"/>
                  </a:lnTo>
                  <a:lnTo>
                    <a:pt x="507" y="570"/>
                  </a:lnTo>
                  <a:lnTo>
                    <a:pt x="507" y="569"/>
                  </a:lnTo>
                  <a:lnTo>
                    <a:pt x="507" y="567"/>
                  </a:lnTo>
                  <a:lnTo>
                    <a:pt x="509" y="565"/>
                  </a:lnTo>
                  <a:lnTo>
                    <a:pt x="509" y="565"/>
                  </a:lnTo>
                  <a:lnTo>
                    <a:pt x="509" y="563"/>
                  </a:lnTo>
                  <a:lnTo>
                    <a:pt x="507" y="563"/>
                  </a:lnTo>
                  <a:lnTo>
                    <a:pt x="507" y="563"/>
                  </a:lnTo>
                  <a:lnTo>
                    <a:pt x="505" y="563"/>
                  </a:lnTo>
                  <a:lnTo>
                    <a:pt x="505" y="563"/>
                  </a:lnTo>
                  <a:lnTo>
                    <a:pt x="503" y="563"/>
                  </a:lnTo>
                  <a:lnTo>
                    <a:pt x="503" y="563"/>
                  </a:lnTo>
                  <a:lnTo>
                    <a:pt x="501" y="563"/>
                  </a:lnTo>
                  <a:lnTo>
                    <a:pt x="499" y="563"/>
                  </a:lnTo>
                  <a:lnTo>
                    <a:pt x="497" y="563"/>
                  </a:lnTo>
                  <a:lnTo>
                    <a:pt x="495" y="563"/>
                  </a:lnTo>
                  <a:lnTo>
                    <a:pt x="495" y="563"/>
                  </a:lnTo>
                  <a:lnTo>
                    <a:pt x="495" y="561"/>
                  </a:lnTo>
                  <a:lnTo>
                    <a:pt x="495" y="559"/>
                  </a:lnTo>
                  <a:lnTo>
                    <a:pt x="495" y="557"/>
                  </a:lnTo>
                  <a:lnTo>
                    <a:pt x="495" y="555"/>
                  </a:lnTo>
                  <a:lnTo>
                    <a:pt x="495" y="555"/>
                  </a:lnTo>
                  <a:lnTo>
                    <a:pt x="493" y="550"/>
                  </a:lnTo>
                  <a:lnTo>
                    <a:pt x="493" y="550"/>
                  </a:lnTo>
                  <a:lnTo>
                    <a:pt x="493" y="548"/>
                  </a:lnTo>
                  <a:lnTo>
                    <a:pt x="495" y="548"/>
                  </a:lnTo>
                  <a:lnTo>
                    <a:pt x="497" y="550"/>
                  </a:lnTo>
                  <a:lnTo>
                    <a:pt x="499" y="550"/>
                  </a:lnTo>
                  <a:lnTo>
                    <a:pt x="501" y="551"/>
                  </a:lnTo>
                  <a:lnTo>
                    <a:pt x="501" y="551"/>
                  </a:lnTo>
                  <a:lnTo>
                    <a:pt x="501" y="553"/>
                  </a:lnTo>
                  <a:lnTo>
                    <a:pt x="503" y="553"/>
                  </a:lnTo>
                  <a:lnTo>
                    <a:pt x="503" y="553"/>
                  </a:lnTo>
                  <a:lnTo>
                    <a:pt x="507" y="555"/>
                  </a:lnTo>
                  <a:lnTo>
                    <a:pt x="507" y="555"/>
                  </a:lnTo>
                  <a:lnTo>
                    <a:pt x="509" y="555"/>
                  </a:lnTo>
                  <a:lnTo>
                    <a:pt x="511" y="555"/>
                  </a:lnTo>
                  <a:lnTo>
                    <a:pt x="511" y="555"/>
                  </a:lnTo>
                  <a:lnTo>
                    <a:pt x="512" y="555"/>
                  </a:lnTo>
                  <a:lnTo>
                    <a:pt x="514" y="551"/>
                  </a:lnTo>
                  <a:lnTo>
                    <a:pt x="514" y="551"/>
                  </a:lnTo>
                  <a:lnTo>
                    <a:pt x="514" y="551"/>
                  </a:lnTo>
                  <a:lnTo>
                    <a:pt x="516" y="553"/>
                  </a:lnTo>
                  <a:lnTo>
                    <a:pt x="518" y="553"/>
                  </a:lnTo>
                  <a:lnTo>
                    <a:pt x="518" y="553"/>
                  </a:lnTo>
                  <a:lnTo>
                    <a:pt x="518" y="553"/>
                  </a:lnTo>
                  <a:lnTo>
                    <a:pt x="518" y="551"/>
                  </a:lnTo>
                  <a:lnTo>
                    <a:pt x="520" y="551"/>
                  </a:lnTo>
                  <a:lnTo>
                    <a:pt x="520" y="550"/>
                  </a:lnTo>
                  <a:lnTo>
                    <a:pt x="520" y="548"/>
                  </a:lnTo>
                  <a:lnTo>
                    <a:pt x="518" y="544"/>
                  </a:lnTo>
                  <a:lnTo>
                    <a:pt x="518" y="544"/>
                  </a:lnTo>
                  <a:lnTo>
                    <a:pt x="520" y="544"/>
                  </a:lnTo>
                  <a:lnTo>
                    <a:pt x="520" y="542"/>
                  </a:lnTo>
                  <a:lnTo>
                    <a:pt x="520" y="542"/>
                  </a:lnTo>
                  <a:lnTo>
                    <a:pt x="522" y="540"/>
                  </a:lnTo>
                  <a:lnTo>
                    <a:pt x="522" y="540"/>
                  </a:lnTo>
                  <a:lnTo>
                    <a:pt x="522" y="540"/>
                  </a:lnTo>
                  <a:lnTo>
                    <a:pt x="522" y="538"/>
                  </a:lnTo>
                  <a:lnTo>
                    <a:pt x="522" y="538"/>
                  </a:lnTo>
                  <a:lnTo>
                    <a:pt x="522" y="538"/>
                  </a:lnTo>
                  <a:lnTo>
                    <a:pt x="524" y="538"/>
                  </a:lnTo>
                  <a:lnTo>
                    <a:pt x="524" y="536"/>
                  </a:lnTo>
                  <a:lnTo>
                    <a:pt x="530" y="538"/>
                  </a:lnTo>
                  <a:lnTo>
                    <a:pt x="532" y="538"/>
                  </a:lnTo>
                  <a:lnTo>
                    <a:pt x="535" y="536"/>
                  </a:lnTo>
                  <a:lnTo>
                    <a:pt x="539" y="536"/>
                  </a:lnTo>
                  <a:lnTo>
                    <a:pt x="539" y="536"/>
                  </a:lnTo>
                  <a:lnTo>
                    <a:pt x="539" y="536"/>
                  </a:lnTo>
                  <a:lnTo>
                    <a:pt x="541" y="536"/>
                  </a:lnTo>
                  <a:lnTo>
                    <a:pt x="541" y="536"/>
                  </a:lnTo>
                  <a:lnTo>
                    <a:pt x="539" y="538"/>
                  </a:lnTo>
                  <a:lnTo>
                    <a:pt x="539" y="538"/>
                  </a:lnTo>
                  <a:lnTo>
                    <a:pt x="537" y="542"/>
                  </a:lnTo>
                  <a:lnTo>
                    <a:pt x="537" y="544"/>
                  </a:lnTo>
                  <a:lnTo>
                    <a:pt x="537" y="544"/>
                  </a:lnTo>
                  <a:lnTo>
                    <a:pt x="537" y="544"/>
                  </a:lnTo>
                  <a:lnTo>
                    <a:pt x="539" y="546"/>
                  </a:lnTo>
                  <a:lnTo>
                    <a:pt x="539" y="548"/>
                  </a:lnTo>
                  <a:lnTo>
                    <a:pt x="539" y="548"/>
                  </a:lnTo>
                  <a:lnTo>
                    <a:pt x="539" y="550"/>
                  </a:lnTo>
                  <a:lnTo>
                    <a:pt x="539" y="550"/>
                  </a:lnTo>
                  <a:lnTo>
                    <a:pt x="537" y="550"/>
                  </a:lnTo>
                  <a:lnTo>
                    <a:pt x="537" y="550"/>
                  </a:lnTo>
                  <a:lnTo>
                    <a:pt x="535" y="548"/>
                  </a:lnTo>
                  <a:lnTo>
                    <a:pt x="533" y="548"/>
                  </a:lnTo>
                  <a:lnTo>
                    <a:pt x="533" y="548"/>
                  </a:lnTo>
                  <a:lnTo>
                    <a:pt x="533" y="548"/>
                  </a:lnTo>
                  <a:lnTo>
                    <a:pt x="533" y="550"/>
                  </a:lnTo>
                  <a:lnTo>
                    <a:pt x="533" y="550"/>
                  </a:lnTo>
                  <a:lnTo>
                    <a:pt x="533" y="551"/>
                  </a:lnTo>
                  <a:lnTo>
                    <a:pt x="533" y="551"/>
                  </a:lnTo>
                  <a:lnTo>
                    <a:pt x="535" y="553"/>
                  </a:lnTo>
                  <a:lnTo>
                    <a:pt x="537" y="553"/>
                  </a:lnTo>
                  <a:lnTo>
                    <a:pt x="539" y="553"/>
                  </a:lnTo>
                  <a:lnTo>
                    <a:pt x="543" y="553"/>
                  </a:lnTo>
                  <a:lnTo>
                    <a:pt x="547" y="551"/>
                  </a:lnTo>
                  <a:lnTo>
                    <a:pt x="547" y="551"/>
                  </a:lnTo>
                  <a:lnTo>
                    <a:pt x="547" y="551"/>
                  </a:lnTo>
                  <a:lnTo>
                    <a:pt x="549" y="551"/>
                  </a:lnTo>
                  <a:lnTo>
                    <a:pt x="547" y="553"/>
                  </a:lnTo>
                  <a:lnTo>
                    <a:pt x="547" y="553"/>
                  </a:lnTo>
                  <a:lnTo>
                    <a:pt x="547" y="555"/>
                  </a:lnTo>
                  <a:lnTo>
                    <a:pt x="545" y="555"/>
                  </a:lnTo>
                  <a:lnTo>
                    <a:pt x="545" y="557"/>
                  </a:lnTo>
                  <a:lnTo>
                    <a:pt x="543" y="557"/>
                  </a:lnTo>
                  <a:lnTo>
                    <a:pt x="541" y="557"/>
                  </a:lnTo>
                  <a:lnTo>
                    <a:pt x="539" y="557"/>
                  </a:lnTo>
                  <a:lnTo>
                    <a:pt x="537" y="557"/>
                  </a:lnTo>
                  <a:lnTo>
                    <a:pt x="535" y="557"/>
                  </a:lnTo>
                  <a:lnTo>
                    <a:pt x="535" y="557"/>
                  </a:lnTo>
                  <a:lnTo>
                    <a:pt x="533" y="557"/>
                  </a:lnTo>
                  <a:lnTo>
                    <a:pt x="532" y="555"/>
                  </a:lnTo>
                  <a:lnTo>
                    <a:pt x="530" y="553"/>
                  </a:lnTo>
                  <a:lnTo>
                    <a:pt x="530" y="553"/>
                  </a:lnTo>
                  <a:lnTo>
                    <a:pt x="528" y="551"/>
                  </a:lnTo>
                  <a:lnTo>
                    <a:pt x="528" y="553"/>
                  </a:lnTo>
                  <a:lnTo>
                    <a:pt x="528" y="553"/>
                  </a:lnTo>
                  <a:lnTo>
                    <a:pt x="528" y="553"/>
                  </a:lnTo>
                  <a:lnTo>
                    <a:pt x="528" y="555"/>
                  </a:lnTo>
                  <a:lnTo>
                    <a:pt x="530" y="557"/>
                  </a:lnTo>
                  <a:lnTo>
                    <a:pt x="530" y="559"/>
                  </a:lnTo>
                  <a:lnTo>
                    <a:pt x="530" y="559"/>
                  </a:lnTo>
                  <a:lnTo>
                    <a:pt x="530" y="561"/>
                  </a:lnTo>
                  <a:lnTo>
                    <a:pt x="530" y="561"/>
                  </a:lnTo>
                  <a:lnTo>
                    <a:pt x="528" y="563"/>
                  </a:lnTo>
                  <a:lnTo>
                    <a:pt x="526" y="565"/>
                  </a:lnTo>
                  <a:lnTo>
                    <a:pt x="526" y="567"/>
                  </a:lnTo>
                  <a:lnTo>
                    <a:pt x="526" y="567"/>
                  </a:lnTo>
                  <a:lnTo>
                    <a:pt x="528" y="569"/>
                  </a:lnTo>
                  <a:lnTo>
                    <a:pt x="528" y="569"/>
                  </a:lnTo>
                  <a:lnTo>
                    <a:pt x="530" y="570"/>
                  </a:lnTo>
                  <a:lnTo>
                    <a:pt x="532" y="570"/>
                  </a:lnTo>
                  <a:lnTo>
                    <a:pt x="533" y="570"/>
                  </a:lnTo>
                  <a:lnTo>
                    <a:pt x="535" y="570"/>
                  </a:lnTo>
                  <a:lnTo>
                    <a:pt x="539" y="570"/>
                  </a:lnTo>
                  <a:lnTo>
                    <a:pt x="541" y="570"/>
                  </a:lnTo>
                  <a:lnTo>
                    <a:pt x="547" y="572"/>
                  </a:lnTo>
                  <a:lnTo>
                    <a:pt x="549" y="572"/>
                  </a:lnTo>
                  <a:lnTo>
                    <a:pt x="552" y="572"/>
                  </a:lnTo>
                  <a:lnTo>
                    <a:pt x="560" y="569"/>
                  </a:lnTo>
                  <a:lnTo>
                    <a:pt x="566" y="569"/>
                  </a:lnTo>
                  <a:lnTo>
                    <a:pt x="570" y="569"/>
                  </a:lnTo>
                  <a:lnTo>
                    <a:pt x="577" y="565"/>
                  </a:lnTo>
                  <a:lnTo>
                    <a:pt x="577" y="565"/>
                  </a:lnTo>
                  <a:lnTo>
                    <a:pt x="579" y="565"/>
                  </a:lnTo>
                  <a:lnTo>
                    <a:pt x="581" y="565"/>
                  </a:lnTo>
                  <a:lnTo>
                    <a:pt x="581" y="565"/>
                  </a:lnTo>
                  <a:lnTo>
                    <a:pt x="583" y="567"/>
                  </a:lnTo>
                  <a:lnTo>
                    <a:pt x="585" y="570"/>
                  </a:lnTo>
                  <a:lnTo>
                    <a:pt x="585" y="572"/>
                  </a:lnTo>
                  <a:lnTo>
                    <a:pt x="585" y="574"/>
                  </a:lnTo>
                  <a:lnTo>
                    <a:pt x="585" y="574"/>
                  </a:lnTo>
                  <a:lnTo>
                    <a:pt x="585" y="576"/>
                  </a:lnTo>
                  <a:lnTo>
                    <a:pt x="587" y="576"/>
                  </a:lnTo>
                  <a:lnTo>
                    <a:pt x="589" y="578"/>
                  </a:lnTo>
                  <a:lnTo>
                    <a:pt x="591" y="582"/>
                  </a:lnTo>
                  <a:lnTo>
                    <a:pt x="591" y="591"/>
                  </a:lnTo>
                  <a:lnTo>
                    <a:pt x="591" y="591"/>
                  </a:lnTo>
                  <a:lnTo>
                    <a:pt x="591" y="593"/>
                  </a:lnTo>
                  <a:lnTo>
                    <a:pt x="591" y="593"/>
                  </a:lnTo>
                  <a:lnTo>
                    <a:pt x="591" y="595"/>
                  </a:lnTo>
                  <a:lnTo>
                    <a:pt x="589" y="595"/>
                  </a:lnTo>
                  <a:lnTo>
                    <a:pt x="587" y="595"/>
                  </a:lnTo>
                  <a:lnTo>
                    <a:pt x="587" y="595"/>
                  </a:lnTo>
                  <a:lnTo>
                    <a:pt x="583" y="593"/>
                  </a:lnTo>
                  <a:lnTo>
                    <a:pt x="581" y="593"/>
                  </a:lnTo>
                  <a:lnTo>
                    <a:pt x="581" y="593"/>
                  </a:lnTo>
                  <a:lnTo>
                    <a:pt x="579" y="593"/>
                  </a:lnTo>
                  <a:lnTo>
                    <a:pt x="579" y="595"/>
                  </a:lnTo>
                  <a:lnTo>
                    <a:pt x="577" y="599"/>
                  </a:lnTo>
                  <a:lnTo>
                    <a:pt x="577" y="601"/>
                  </a:lnTo>
                  <a:lnTo>
                    <a:pt x="579" y="601"/>
                  </a:lnTo>
                  <a:lnTo>
                    <a:pt x="579" y="603"/>
                  </a:lnTo>
                  <a:lnTo>
                    <a:pt x="579" y="607"/>
                  </a:lnTo>
                  <a:lnTo>
                    <a:pt x="579" y="608"/>
                  </a:lnTo>
                  <a:lnTo>
                    <a:pt x="581" y="608"/>
                  </a:lnTo>
                  <a:lnTo>
                    <a:pt x="581" y="610"/>
                  </a:lnTo>
                  <a:lnTo>
                    <a:pt x="583" y="610"/>
                  </a:lnTo>
                  <a:lnTo>
                    <a:pt x="583" y="610"/>
                  </a:lnTo>
                  <a:lnTo>
                    <a:pt x="583" y="610"/>
                  </a:lnTo>
                  <a:lnTo>
                    <a:pt x="585" y="612"/>
                  </a:lnTo>
                  <a:lnTo>
                    <a:pt x="585" y="614"/>
                  </a:lnTo>
                  <a:lnTo>
                    <a:pt x="585" y="616"/>
                  </a:lnTo>
                  <a:lnTo>
                    <a:pt x="583" y="618"/>
                  </a:lnTo>
                  <a:lnTo>
                    <a:pt x="581" y="622"/>
                  </a:lnTo>
                  <a:lnTo>
                    <a:pt x="579" y="624"/>
                  </a:lnTo>
                  <a:lnTo>
                    <a:pt x="579" y="626"/>
                  </a:lnTo>
                  <a:lnTo>
                    <a:pt x="579" y="627"/>
                  </a:lnTo>
                  <a:lnTo>
                    <a:pt x="581" y="629"/>
                  </a:lnTo>
                  <a:lnTo>
                    <a:pt x="585" y="631"/>
                  </a:lnTo>
                  <a:lnTo>
                    <a:pt x="585" y="631"/>
                  </a:lnTo>
                  <a:lnTo>
                    <a:pt x="585" y="633"/>
                  </a:lnTo>
                  <a:lnTo>
                    <a:pt x="583" y="635"/>
                  </a:lnTo>
                  <a:lnTo>
                    <a:pt x="581" y="637"/>
                  </a:lnTo>
                  <a:lnTo>
                    <a:pt x="579" y="639"/>
                  </a:lnTo>
                  <a:lnTo>
                    <a:pt x="579" y="641"/>
                  </a:lnTo>
                  <a:lnTo>
                    <a:pt x="579" y="643"/>
                  </a:lnTo>
                  <a:lnTo>
                    <a:pt x="577" y="643"/>
                  </a:lnTo>
                  <a:lnTo>
                    <a:pt x="577" y="643"/>
                  </a:lnTo>
                  <a:lnTo>
                    <a:pt x="577" y="643"/>
                  </a:lnTo>
                  <a:lnTo>
                    <a:pt x="575" y="643"/>
                  </a:lnTo>
                  <a:lnTo>
                    <a:pt x="573" y="641"/>
                  </a:lnTo>
                  <a:lnTo>
                    <a:pt x="573" y="641"/>
                  </a:lnTo>
                  <a:lnTo>
                    <a:pt x="572" y="641"/>
                  </a:lnTo>
                  <a:lnTo>
                    <a:pt x="570" y="643"/>
                  </a:lnTo>
                  <a:lnTo>
                    <a:pt x="570" y="643"/>
                  </a:lnTo>
                  <a:lnTo>
                    <a:pt x="568" y="643"/>
                  </a:lnTo>
                  <a:lnTo>
                    <a:pt x="566" y="643"/>
                  </a:lnTo>
                  <a:lnTo>
                    <a:pt x="566" y="643"/>
                  </a:lnTo>
                  <a:lnTo>
                    <a:pt x="564" y="641"/>
                  </a:lnTo>
                  <a:lnTo>
                    <a:pt x="564" y="641"/>
                  </a:lnTo>
                  <a:lnTo>
                    <a:pt x="562" y="641"/>
                  </a:lnTo>
                  <a:lnTo>
                    <a:pt x="560" y="639"/>
                  </a:lnTo>
                  <a:lnTo>
                    <a:pt x="560" y="639"/>
                  </a:lnTo>
                  <a:lnTo>
                    <a:pt x="558" y="639"/>
                  </a:lnTo>
                  <a:lnTo>
                    <a:pt x="558" y="639"/>
                  </a:lnTo>
                  <a:lnTo>
                    <a:pt x="558" y="639"/>
                  </a:lnTo>
                  <a:lnTo>
                    <a:pt x="556" y="641"/>
                  </a:lnTo>
                  <a:lnTo>
                    <a:pt x="554" y="645"/>
                  </a:lnTo>
                  <a:lnTo>
                    <a:pt x="554" y="645"/>
                  </a:lnTo>
                  <a:lnTo>
                    <a:pt x="556" y="648"/>
                  </a:lnTo>
                  <a:lnTo>
                    <a:pt x="556" y="650"/>
                  </a:lnTo>
                  <a:lnTo>
                    <a:pt x="556" y="652"/>
                  </a:lnTo>
                  <a:lnTo>
                    <a:pt x="558" y="652"/>
                  </a:lnTo>
                  <a:lnTo>
                    <a:pt x="564" y="656"/>
                  </a:lnTo>
                  <a:lnTo>
                    <a:pt x="564" y="656"/>
                  </a:lnTo>
                  <a:lnTo>
                    <a:pt x="564" y="658"/>
                  </a:lnTo>
                  <a:lnTo>
                    <a:pt x="564" y="660"/>
                  </a:lnTo>
                  <a:lnTo>
                    <a:pt x="566" y="662"/>
                  </a:lnTo>
                  <a:lnTo>
                    <a:pt x="570" y="662"/>
                  </a:lnTo>
                  <a:lnTo>
                    <a:pt x="570" y="662"/>
                  </a:lnTo>
                  <a:lnTo>
                    <a:pt x="572" y="662"/>
                  </a:lnTo>
                  <a:lnTo>
                    <a:pt x="573" y="664"/>
                  </a:lnTo>
                  <a:lnTo>
                    <a:pt x="573" y="664"/>
                  </a:lnTo>
                  <a:lnTo>
                    <a:pt x="575" y="664"/>
                  </a:lnTo>
                  <a:lnTo>
                    <a:pt x="575" y="664"/>
                  </a:lnTo>
                  <a:lnTo>
                    <a:pt x="575" y="662"/>
                  </a:lnTo>
                  <a:lnTo>
                    <a:pt x="575" y="662"/>
                  </a:lnTo>
                  <a:lnTo>
                    <a:pt x="575" y="660"/>
                  </a:lnTo>
                  <a:lnTo>
                    <a:pt x="577" y="658"/>
                  </a:lnTo>
                  <a:lnTo>
                    <a:pt x="577" y="656"/>
                  </a:lnTo>
                  <a:lnTo>
                    <a:pt x="577" y="656"/>
                  </a:lnTo>
                  <a:lnTo>
                    <a:pt x="577" y="652"/>
                  </a:lnTo>
                  <a:lnTo>
                    <a:pt x="577" y="652"/>
                  </a:lnTo>
                  <a:lnTo>
                    <a:pt x="577" y="652"/>
                  </a:lnTo>
                  <a:lnTo>
                    <a:pt x="577" y="652"/>
                  </a:lnTo>
                  <a:lnTo>
                    <a:pt x="579" y="652"/>
                  </a:lnTo>
                  <a:lnTo>
                    <a:pt x="579" y="652"/>
                  </a:lnTo>
                  <a:lnTo>
                    <a:pt x="581" y="652"/>
                  </a:lnTo>
                  <a:lnTo>
                    <a:pt x="581" y="654"/>
                  </a:lnTo>
                  <a:lnTo>
                    <a:pt x="581" y="654"/>
                  </a:lnTo>
                  <a:lnTo>
                    <a:pt x="583" y="654"/>
                  </a:lnTo>
                  <a:lnTo>
                    <a:pt x="585" y="654"/>
                  </a:lnTo>
                  <a:lnTo>
                    <a:pt x="589" y="652"/>
                  </a:lnTo>
                  <a:lnTo>
                    <a:pt x="592" y="650"/>
                  </a:lnTo>
                  <a:lnTo>
                    <a:pt x="600" y="647"/>
                  </a:lnTo>
                  <a:lnTo>
                    <a:pt x="602" y="647"/>
                  </a:lnTo>
                  <a:lnTo>
                    <a:pt x="602" y="645"/>
                  </a:lnTo>
                  <a:lnTo>
                    <a:pt x="602" y="645"/>
                  </a:lnTo>
                  <a:lnTo>
                    <a:pt x="602" y="643"/>
                  </a:lnTo>
                  <a:lnTo>
                    <a:pt x="602" y="643"/>
                  </a:lnTo>
                  <a:lnTo>
                    <a:pt x="602" y="643"/>
                  </a:lnTo>
                  <a:lnTo>
                    <a:pt x="602" y="643"/>
                  </a:lnTo>
                  <a:lnTo>
                    <a:pt x="602" y="641"/>
                  </a:lnTo>
                  <a:lnTo>
                    <a:pt x="600" y="641"/>
                  </a:lnTo>
                  <a:lnTo>
                    <a:pt x="602" y="639"/>
                  </a:lnTo>
                  <a:lnTo>
                    <a:pt x="602" y="637"/>
                  </a:lnTo>
                  <a:lnTo>
                    <a:pt x="610" y="633"/>
                  </a:lnTo>
                  <a:lnTo>
                    <a:pt x="613" y="629"/>
                  </a:lnTo>
                  <a:lnTo>
                    <a:pt x="613" y="627"/>
                  </a:lnTo>
                  <a:lnTo>
                    <a:pt x="613" y="627"/>
                  </a:lnTo>
                  <a:lnTo>
                    <a:pt x="613" y="624"/>
                  </a:lnTo>
                  <a:lnTo>
                    <a:pt x="613" y="624"/>
                  </a:lnTo>
                  <a:lnTo>
                    <a:pt x="613" y="620"/>
                  </a:lnTo>
                  <a:lnTo>
                    <a:pt x="613" y="618"/>
                  </a:lnTo>
                  <a:lnTo>
                    <a:pt x="613" y="616"/>
                  </a:lnTo>
                  <a:lnTo>
                    <a:pt x="613" y="614"/>
                  </a:lnTo>
                  <a:lnTo>
                    <a:pt x="613" y="612"/>
                  </a:lnTo>
                  <a:lnTo>
                    <a:pt x="613" y="610"/>
                  </a:lnTo>
                  <a:lnTo>
                    <a:pt x="615" y="610"/>
                  </a:lnTo>
                  <a:lnTo>
                    <a:pt x="615" y="608"/>
                  </a:lnTo>
                  <a:lnTo>
                    <a:pt x="617" y="608"/>
                  </a:lnTo>
                  <a:lnTo>
                    <a:pt x="619" y="607"/>
                  </a:lnTo>
                  <a:lnTo>
                    <a:pt x="619" y="607"/>
                  </a:lnTo>
                  <a:lnTo>
                    <a:pt x="619" y="607"/>
                  </a:lnTo>
                  <a:lnTo>
                    <a:pt x="621" y="608"/>
                  </a:lnTo>
                  <a:lnTo>
                    <a:pt x="621" y="608"/>
                  </a:lnTo>
                  <a:lnTo>
                    <a:pt x="619" y="610"/>
                  </a:lnTo>
                  <a:lnTo>
                    <a:pt x="619" y="610"/>
                  </a:lnTo>
                  <a:lnTo>
                    <a:pt x="619" y="612"/>
                  </a:lnTo>
                  <a:lnTo>
                    <a:pt x="621" y="612"/>
                  </a:lnTo>
                  <a:lnTo>
                    <a:pt x="621" y="614"/>
                  </a:lnTo>
                  <a:lnTo>
                    <a:pt x="623" y="614"/>
                  </a:lnTo>
                  <a:lnTo>
                    <a:pt x="623" y="614"/>
                  </a:lnTo>
                  <a:lnTo>
                    <a:pt x="627" y="614"/>
                  </a:lnTo>
                  <a:lnTo>
                    <a:pt x="629" y="614"/>
                  </a:lnTo>
                  <a:lnTo>
                    <a:pt x="631" y="614"/>
                  </a:lnTo>
                  <a:lnTo>
                    <a:pt x="636" y="616"/>
                  </a:lnTo>
                  <a:lnTo>
                    <a:pt x="638" y="616"/>
                  </a:lnTo>
                  <a:lnTo>
                    <a:pt x="640" y="616"/>
                  </a:lnTo>
                  <a:lnTo>
                    <a:pt x="644" y="616"/>
                  </a:lnTo>
                  <a:lnTo>
                    <a:pt x="646" y="616"/>
                  </a:lnTo>
                  <a:lnTo>
                    <a:pt x="646" y="618"/>
                  </a:lnTo>
                  <a:lnTo>
                    <a:pt x="648" y="618"/>
                  </a:lnTo>
                  <a:lnTo>
                    <a:pt x="648" y="620"/>
                  </a:lnTo>
                  <a:lnTo>
                    <a:pt x="648" y="622"/>
                  </a:lnTo>
                  <a:lnTo>
                    <a:pt x="650" y="622"/>
                  </a:lnTo>
                  <a:lnTo>
                    <a:pt x="650" y="622"/>
                  </a:lnTo>
                  <a:lnTo>
                    <a:pt x="652" y="622"/>
                  </a:lnTo>
                  <a:lnTo>
                    <a:pt x="653" y="622"/>
                  </a:lnTo>
                  <a:lnTo>
                    <a:pt x="653" y="620"/>
                  </a:lnTo>
                  <a:lnTo>
                    <a:pt x="653" y="620"/>
                  </a:lnTo>
                  <a:lnTo>
                    <a:pt x="655" y="616"/>
                  </a:lnTo>
                  <a:lnTo>
                    <a:pt x="655" y="616"/>
                  </a:lnTo>
                  <a:lnTo>
                    <a:pt x="655" y="614"/>
                  </a:lnTo>
                  <a:lnTo>
                    <a:pt x="657" y="614"/>
                  </a:lnTo>
                  <a:lnTo>
                    <a:pt x="659" y="612"/>
                  </a:lnTo>
                  <a:lnTo>
                    <a:pt x="663" y="612"/>
                  </a:lnTo>
                  <a:lnTo>
                    <a:pt x="663" y="612"/>
                  </a:lnTo>
                  <a:lnTo>
                    <a:pt x="665" y="612"/>
                  </a:lnTo>
                  <a:lnTo>
                    <a:pt x="665" y="612"/>
                  </a:lnTo>
                  <a:lnTo>
                    <a:pt x="665" y="614"/>
                  </a:lnTo>
                  <a:lnTo>
                    <a:pt x="665" y="616"/>
                  </a:lnTo>
                  <a:lnTo>
                    <a:pt x="663" y="616"/>
                  </a:lnTo>
                  <a:lnTo>
                    <a:pt x="663" y="618"/>
                  </a:lnTo>
                  <a:lnTo>
                    <a:pt x="663" y="618"/>
                  </a:lnTo>
                  <a:lnTo>
                    <a:pt x="663" y="620"/>
                  </a:lnTo>
                  <a:lnTo>
                    <a:pt x="665" y="620"/>
                  </a:lnTo>
                  <a:lnTo>
                    <a:pt x="669" y="624"/>
                  </a:lnTo>
                  <a:lnTo>
                    <a:pt x="671" y="626"/>
                  </a:lnTo>
                  <a:lnTo>
                    <a:pt x="673" y="627"/>
                  </a:lnTo>
                  <a:lnTo>
                    <a:pt x="676" y="627"/>
                  </a:lnTo>
                  <a:lnTo>
                    <a:pt x="678" y="626"/>
                  </a:lnTo>
                  <a:lnTo>
                    <a:pt x="678" y="626"/>
                  </a:lnTo>
                  <a:lnTo>
                    <a:pt x="678" y="626"/>
                  </a:lnTo>
                  <a:lnTo>
                    <a:pt x="680" y="626"/>
                  </a:lnTo>
                  <a:lnTo>
                    <a:pt x="682" y="626"/>
                  </a:lnTo>
                  <a:lnTo>
                    <a:pt x="682" y="626"/>
                  </a:lnTo>
                  <a:lnTo>
                    <a:pt x="682" y="624"/>
                  </a:lnTo>
                  <a:lnTo>
                    <a:pt x="684" y="624"/>
                  </a:lnTo>
                  <a:lnTo>
                    <a:pt x="684" y="622"/>
                  </a:lnTo>
                  <a:lnTo>
                    <a:pt x="684" y="622"/>
                  </a:lnTo>
                  <a:lnTo>
                    <a:pt x="684" y="620"/>
                  </a:lnTo>
                  <a:lnTo>
                    <a:pt x="686" y="620"/>
                  </a:lnTo>
                  <a:lnTo>
                    <a:pt x="684" y="618"/>
                  </a:lnTo>
                  <a:lnTo>
                    <a:pt x="684" y="616"/>
                  </a:lnTo>
                  <a:lnTo>
                    <a:pt x="680" y="610"/>
                  </a:lnTo>
                  <a:lnTo>
                    <a:pt x="678" y="608"/>
                  </a:lnTo>
                  <a:lnTo>
                    <a:pt x="678" y="607"/>
                  </a:lnTo>
                  <a:lnTo>
                    <a:pt x="678" y="599"/>
                  </a:lnTo>
                  <a:lnTo>
                    <a:pt x="676" y="597"/>
                  </a:lnTo>
                  <a:lnTo>
                    <a:pt x="676" y="597"/>
                  </a:lnTo>
                  <a:lnTo>
                    <a:pt x="676" y="595"/>
                  </a:lnTo>
                  <a:lnTo>
                    <a:pt x="676" y="595"/>
                  </a:lnTo>
                  <a:lnTo>
                    <a:pt x="678" y="591"/>
                  </a:lnTo>
                  <a:lnTo>
                    <a:pt x="678" y="591"/>
                  </a:lnTo>
                  <a:lnTo>
                    <a:pt x="678" y="591"/>
                  </a:lnTo>
                  <a:lnTo>
                    <a:pt x="678" y="589"/>
                  </a:lnTo>
                  <a:lnTo>
                    <a:pt x="676" y="588"/>
                  </a:lnTo>
                  <a:lnTo>
                    <a:pt x="676" y="586"/>
                  </a:lnTo>
                  <a:lnTo>
                    <a:pt x="678" y="586"/>
                  </a:lnTo>
                  <a:lnTo>
                    <a:pt x="678" y="584"/>
                  </a:lnTo>
                  <a:lnTo>
                    <a:pt x="678" y="584"/>
                  </a:lnTo>
                  <a:lnTo>
                    <a:pt x="680" y="586"/>
                  </a:lnTo>
                  <a:lnTo>
                    <a:pt x="680" y="586"/>
                  </a:lnTo>
                  <a:lnTo>
                    <a:pt x="680" y="586"/>
                  </a:lnTo>
                  <a:lnTo>
                    <a:pt x="682" y="586"/>
                  </a:lnTo>
                  <a:lnTo>
                    <a:pt x="682" y="586"/>
                  </a:lnTo>
                  <a:lnTo>
                    <a:pt x="684" y="586"/>
                  </a:lnTo>
                  <a:lnTo>
                    <a:pt x="684" y="586"/>
                  </a:lnTo>
                  <a:lnTo>
                    <a:pt x="684" y="588"/>
                  </a:lnTo>
                  <a:lnTo>
                    <a:pt x="684" y="588"/>
                  </a:lnTo>
                  <a:lnTo>
                    <a:pt x="686" y="589"/>
                  </a:lnTo>
                  <a:lnTo>
                    <a:pt x="686" y="589"/>
                  </a:lnTo>
                  <a:lnTo>
                    <a:pt x="686" y="589"/>
                  </a:lnTo>
                  <a:lnTo>
                    <a:pt x="686" y="591"/>
                  </a:lnTo>
                  <a:lnTo>
                    <a:pt x="686" y="593"/>
                  </a:lnTo>
                  <a:lnTo>
                    <a:pt x="686" y="593"/>
                  </a:lnTo>
                  <a:lnTo>
                    <a:pt x="686" y="593"/>
                  </a:lnTo>
                  <a:lnTo>
                    <a:pt x="686" y="593"/>
                  </a:lnTo>
                  <a:lnTo>
                    <a:pt x="688" y="593"/>
                  </a:lnTo>
                  <a:lnTo>
                    <a:pt x="690" y="593"/>
                  </a:lnTo>
                  <a:lnTo>
                    <a:pt x="690" y="593"/>
                  </a:lnTo>
                  <a:lnTo>
                    <a:pt x="697" y="588"/>
                  </a:lnTo>
                  <a:lnTo>
                    <a:pt x="699" y="588"/>
                  </a:lnTo>
                  <a:lnTo>
                    <a:pt x="699" y="588"/>
                  </a:lnTo>
                  <a:lnTo>
                    <a:pt x="701" y="586"/>
                  </a:lnTo>
                  <a:lnTo>
                    <a:pt x="701" y="584"/>
                  </a:lnTo>
                  <a:lnTo>
                    <a:pt x="701" y="582"/>
                  </a:lnTo>
                  <a:lnTo>
                    <a:pt x="699" y="578"/>
                  </a:lnTo>
                  <a:lnTo>
                    <a:pt x="699" y="574"/>
                  </a:lnTo>
                  <a:lnTo>
                    <a:pt x="697" y="574"/>
                  </a:lnTo>
                  <a:lnTo>
                    <a:pt x="695" y="572"/>
                  </a:lnTo>
                  <a:lnTo>
                    <a:pt x="692" y="569"/>
                  </a:lnTo>
                  <a:lnTo>
                    <a:pt x="692" y="569"/>
                  </a:lnTo>
                  <a:lnTo>
                    <a:pt x="690" y="569"/>
                  </a:lnTo>
                  <a:lnTo>
                    <a:pt x="690" y="569"/>
                  </a:lnTo>
                  <a:lnTo>
                    <a:pt x="688" y="569"/>
                  </a:lnTo>
                  <a:lnTo>
                    <a:pt x="688" y="569"/>
                  </a:lnTo>
                  <a:lnTo>
                    <a:pt x="684" y="569"/>
                  </a:lnTo>
                  <a:lnTo>
                    <a:pt x="680" y="567"/>
                  </a:lnTo>
                  <a:lnTo>
                    <a:pt x="676" y="561"/>
                  </a:lnTo>
                  <a:lnTo>
                    <a:pt x="674" y="559"/>
                  </a:lnTo>
                  <a:lnTo>
                    <a:pt x="674" y="559"/>
                  </a:lnTo>
                  <a:lnTo>
                    <a:pt x="674" y="557"/>
                  </a:lnTo>
                  <a:lnTo>
                    <a:pt x="676" y="557"/>
                  </a:lnTo>
                  <a:lnTo>
                    <a:pt x="676" y="557"/>
                  </a:lnTo>
                  <a:lnTo>
                    <a:pt x="676" y="557"/>
                  </a:lnTo>
                  <a:lnTo>
                    <a:pt x="678" y="555"/>
                  </a:lnTo>
                  <a:lnTo>
                    <a:pt x="680" y="555"/>
                  </a:lnTo>
                  <a:lnTo>
                    <a:pt x="682" y="555"/>
                  </a:lnTo>
                  <a:lnTo>
                    <a:pt x="682" y="555"/>
                  </a:lnTo>
                  <a:lnTo>
                    <a:pt x="684" y="553"/>
                  </a:lnTo>
                  <a:lnTo>
                    <a:pt x="684" y="553"/>
                  </a:lnTo>
                  <a:lnTo>
                    <a:pt x="684" y="551"/>
                  </a:lnTo>
                  <a:lnTo>
                    <a:pt x="684" y="550"/>
                  </a:lnTo>
                  <a:lnTo>
                    <a:pt x="684" y="548"/>
                  </a:lnTo>
                  <a:lnTo>
                    <a:pt x="682" y="546"/>
                  </a:lnTo>
                  <a:lnTo>
                    <a:pt x="680" y="542"/>
                  </a:lnTo>
                  <a:lnTo>
                    <a:pt x="680" y="542"/>
                  </a:lnTo>
                  <a:lnTo>
                    <a:pt x="680" y="542"/>
                  </a:lnTo>
                  <a:lnTo>
                    <a:pt x="680" y="542"/>
                  </a:lnTo>
                  <a:lnTo>
                    <a:pt x="680" y="540"/>
                  </a:lnTo>
                  <a:lnTo>
                    <a:pt x="682" y="540"/>
                  </a:lnTo>
                  <a:lnTo>
                    <a:pt x="682" y="538"/>
                  </a:lnTo>
                  <a:lnTo>
                    <a:pt x="682" y="538"/>
                  </a:lnTo>
                  <a:lnTo>
                    <a:pt x="684" y="536"/>
                  </a:lnTo>
                  <a:lnTo>
                    <a:pt x="688" y="536"/>
                  </a:lnTo>
                  <a:lnTo>
                    <a:pt x="695" y="532"/>
                  </a:lnTo>
                  <a:lnTo>
                    <a:pt x="695" y="532"/>
                  </a:lnTo>
                  <a:lnTo>
                    <a:pt x="697" y="532"/>
                  </a:lnTo>
                  <a:lnTo>
                    <a:pt x="699" y="532"/>
                  </a:lnTo>
                  <a:lnTo>
                    <a:pt x="703" y="532"/>
                  </a:lnTo>
                  <a:lnTo>
                    <a:pt x="713" y="529"/>
                  </a:lnTo>
                  <a:lnTo>
                    <a:pt x="713" y="529"/>
                  </a:lnTo>
                  <a:lnTo>
                    <a:pt x="714" y="529"/>
                  </a:lnTo>
                  <a:lnTo>
                    <a:pt x="716" y="529"/>
                  </a:lnTo>
                  <a:lnTo>
                    <a:pt x="718" y="529"/>
                  </a:lnTo>
                  <a:lnTo>
                    <a:pt x="720" y="529"/>
                  </a:lnTo>
                  <a:lnTo>
                    <a:pt x="720" y="529"/>
                  </a:lnTo>
                  <a:lnTo>
                    <a:pt x="722" y="530"/>
                  </a:lnTo>
                  <a:lnTo>
                    <a:pt x="724" y="530"/>
                  </a:lnTo>
                  <a:lnTo>
                    <a:pt x="726" y="530"/>
                  </a:lnTo>
                  <a:lnTo>
                    <a:pt x="726" y="530"/>
                  </a:lnTo>
                  <a:lnTo>
                    <a:pt x="728" y="529"/>
                  </a:lnTo>
                  <a:lnTo>
                    <a:pt x="728" y="529"/>
                  </a:lnTo>
                  <a:lnTo>
                    <a:pt x="728" y="529"/>
                  </a:lnTo>
                  <a:lnTo>
                    <a:pt x="728" y="529"/>
                  </a:lnTo>
                  <a:lnTo>
                    <a:pt x="730" y="527"/>
                  </a:lnTo>
                  <a:lnTo>
                    <a:pt x="730" y="527"/>
                  </a:lnTo>
                  <a:lnTo>
                    <a:pt x="732" y="527"/>
                  </a:lnTo>
                  <a:lnTo>
                    <a:pt x="732" y="525"/>
                  </a:lnTo>
                  <a:lnTo>
                    <a:pt x="730" y="523"/>
                  </a:lnTo>
                  <a:lnTo>
                    <a:pt x="732" y="523"/>
                  </a:lnTo>
                  <a:lnTo>
                    <a:pt x="732" y="521"/>
                  </a:lnTo>
                  <a:lnTo>
                    <a:pt x="732" y="521"/>
                  </a:lnTo>
                  <a:lnTo>
                    <a:pt x="732" y="521"/>
                  </a:lnTo>
                  <a:lnTo>
                    <a:pt x="732" y="519"/>
                  </a:lnTo>
                  <a:lnTo>
                    <a:pt x="732" y="519"/>
                  </a:lnTo>
                  <a:lnTo>
                    <a:pt x="730" y="515"/>
                  </a:lnTo>
                  <a:lnTo>
                    <a:pt x="728" y="515"/>
                  </a:lnTo>
                  <a:lnTo>
                    <a:pt x="728" y="513"/>
                  </a:lnTo>
                  <a:lnTo>
                    <a:pt x="728" y="513"/>
                  </a:lnTo>
                  <a:lnTo>
                    <a:pt x="728" y="511"/>
                  </a:lnTo>
                  <a:lnTo>
                    <a:pt x="728" y="511"/>
                  </a:lnTo>
                  <a:lnTo>
                    <a:pt x="728" y="511"/>
                  </a:lnTo>
                  <a:lnTo>
                    <a:pt x="728" y="510"/>
                  </a:lnTo>
                  <a:lnTo>
                    <a:pt x="728" y="510"/>
                  </a:lnTo>
                  <a:lnTo>
                    <a:pt x="728" y="508"/>
                  </a:lnTo>
                  <a:lnTo>
                    <a:pt x="728" y="508"/>
                  </a:lnTo>
                  <a:lnTo>
                    <a:pt x="728" y="506"/>
                  </a:lnTo>
                  <a:lnTo>
                    <a:pt x="726" y="506"/>
                  </a:lnTo>
                  <a:lnTo>
                    <a:pt x="726" y="504"/>
                  </a:lnTo>
                  <a:lnTo>
                    <a:pt x="726" y="504"/>
                  </a:lnTo>
                  <a:lnTo>
                    <a:pt x="728" y="502"/>
                  </a:lnTo>
                  <a:lnTo>
                    <a:pt x="728" y="502"/>
                  </a:lnTo>
                  <a:lnTo>
                    <a:pt x="728" y="500"/>
                  </a:lnTo>
                  <a:lnTo>
                    <a:pt x="728" y="500"/>
                  </a:lnTo>
                  <a:lnTo>
                    <a:pt x="728" y="500"/>
                  </a:lnTo>
                  <a:lnTo>
                    <a:pt x="728" y="498"/>
                  </a:lnTo>
                  <a:lnTo>
                    <a:pt x="728" y="498"/>
                  </a:lnTo>
                  <a:lnTo>
                    <a:pt x="728" y="498"/>
                  </a:lnTo>
                  <a:lnTo>
                    <a:pt x="726" y="496"/>
                  </a:lnTo>
                  <a:lnTo>
                    <a:pt x="726" y="496"/>
                  </a:lnTo>
                  <a:lnTo>
                    <a:pt x="726" y="496"/>
                  </a:lnTo>
                  <a:lnTo>
                    <a:pt x="724" y="496"/>
                  </a:lnTo>
                  <a:lnTo>
                    <a:pt x="722" y="496"/>
                  </a:lnTo>
                  <a:lnTo>
                    <a:pt x="720" y="496"/>
                  </a:lnTo>
                  <a:lnTo>
                    <a:pt x="718" y="498"/>
                  </a:lnTo>
                  <a:lnTo>
                    <a:pt x="716" y="498"/>
                  </a:lnTo>
                  <a:lnTo>
                    <a:pt x="716" y="500"/>
                  </a:lnTo>
                  <a:lnTo>
                    <a:pt x="716" y="500"/>
                  </a:lnTo>
                  <a:lnTo>
                    <a:pt x="714" y="504"/>
                  </a:lnTo>
                  <a:lnTo>
                    <a:pt x="714" y="504"/>
                  </a:lnTo>
                  <a:lnTo>
                    <a:pt x="713" y="506"/>
                  </a:lnTo>
                  <a:lnTo>
                    <a:pt x="713" y="506"/>
                  </a:lnTo>
                  <a:lnTo>
                    <a:pt x="711" y="508"/>
                  </a:lnTo>
                  <a:lnTo>
                    <a:pt x="711" y="508"/>
                  </a:lnTo>
                  <a:lnTo>
                    <a:pt x="709" y="508"/>
                  </a:lnTo>
                  <a:lnTo>
                    <a:pt x="707" y="506"/>
                  </a:lnTo>
                  <a:lnTo>
                    <a:pt x="705" y="506"/>
                  </a:lnTo>
                  <a:lnTo>
                    <a:pt x="703" y="506"/>
                  </a:lnTo>
                  <a:lnTo>
                    <a:pt x="703" y="506"/>
                  </a:lnTo>
                  <a:lnTo>
                    <a:pt x="701" y="506"/>
                  </a:lnTo>
                  <a:lnTo>
                    <a:pt x="697" y="508"/>
                  </a:lnTo>
                  <a:lnTo>
                    <a:pt x="695" y="510"/>
                  </a:lnTo>
                  <a:lnTo>
                    <a:pt x="690" y="510"/>
                  </a:lnTo>
                  <a:lnTo>
                    <a:pt x="688" y="510"/>
                  </a:lnTo>
                  <a:lnTo>
                    <a:pt x="688" y="510"/>
                  </a:lnTo>
                  <a:lnTo>
                    <a:pt x="688" y="510"/>
                  </a:lnTo>
                  <a:lnTo>
                    <a:pt x="684" y="508"/>
                  </a:lnTo>
                  <a:lnTo>
                    <a:pt x="682" y="508"/>
                  </a:lnTo>
                  <a:lnTo>
                    <a:pt x="678" y="506"/>
                  </a:lnTo>
                  <a:lnTo>
                    <a:pt x="678" y="506"/>
                  </a:lnTo>
                  <a:lnTo>
                    <a:pt x="678" y="508"/>
                  </a:lnTo>
                  <a:lnTo>
                    <a:pt x="674" y="508"/>
                  </a:lnTo>
                  <a:lnTo>
                    <a:pt x="674" y="508"/>
                  </a:lnTo>
                  <a:lnTo>
                    <a:pt x="673" y="508"/>
                  </a:lnTo>
                  <a:lnTo>
                    <a:pt x="673" y="508"/>
                  </a:lnTo>
                  <a:lnTo>
                    <a:pt x="669" y="504"/>
                  </a:lnTo>
                  <a:lnTo>
                    <a:pt x="667" y="504"/>
                  </a:lnTo>
                  <a:lnTo>
                    <a:pt x="667" y="504"/>
                  </a:lnTo>
                  <a:lnTo>
                    <a:pt x="665" y="504"/>
                  </a:lnTo>
                  <a:lnTo>
                    <a:pt x="663" y="504"/>
                  </a:lnTo>
                  <a:lnTo>
                    <a:pt x="663" y="504"/>
                  </a:lnTo>
                  <a:lnTo>
                    <a:pt x="661" y="502"/>
                  </a:lnTo>
                  <a:lnTo>
                    <a:pt x="661" y="502"/>
                  </a:lnTo>
                  <a:lnTo>
                    <a:pt x="659" y="498"/>
                  </a:lnTo>
                  <a:lnTo>
                    <a:pt x="657" y="496"/>
                  </a:lnTo>
                  <a:lnTo>
                    <a:pt x="657" y="496"/>
                  </a:lnTo>
                  <a:lnTo>
                    <a:pt x="655" y="496"/>
                  </a:lnTo>
                  <a:lnTo>
                    <a:pt x="655" y="496"/>
                  </a:lnTo>
                  <a:lnTo>
                    <a:pt x="653" y="496"/>
                  </a:lnTo>
                  <a:lnTo>
                    <a:pt x="653" y="494"/>
                  </a:lnTo>
                  <a:lnTo>
                    <a:pt x="653" y="494"/>
                  </a:lnTo>
                  <a:lnTo>
                    <a:pt x="653" y="491"/>
                  </a:lnTo>
                  <a:lnTo>
                    <a:pt x="652" y="485"/>
                  </a:lnTo>
                  <a:lnTo>
                    <a:pt x="648" y="472"/>
                  </a:lnTo>
                  <a:lnTo>
                    <a:pt x="648" y="470"/>
                  </a:lnTo>
                  <a:lnTo>
                    <a:pt x="648" y="470"/>
                  </a:lnTo>
                  <a:lnTo>
                    <a:pt x="646" y="468"/>
                  </a:lnTo>
                  <a:lnTo>
                    <a:pt x="648" y="468"/>
                  </a:lnTo>
                  <a:lnTo>
                    <a:pt x="648" y="466"/>
                  </a:lnTo>
                  <a:lnTo>
                    <a:pt x="650" y="466"/>
                  </a:lnTo>
                  <a:lnTo>
                    <a:pt x="650" y="466"/>
                  </a:lnTo>
                  <a:lnTo>
                    <a:pt x="650" y="464"/>
                  </a:lnTo>
                  <a:lnTo>
                    <a:pt x="650" y="462"/>
                  </a:lnTo>
                  <a:lnTo>
                    <a:pt x="650" y="460"/>
                  </a:lnTo>
                  <a:lnTo>
                    <a:pt x="652" y="458"/>
                  </a:lnTo>
                  <a:lnTo>
                    <a:pt x="653" y="454"/>
                  </a:lnTo>
                  <a:lnTo>
                    <a:pt x="653" y="454"/>
                  </a:lnTo>
                  <a:lnTo>
                    <a:pt x="653" y="454"/>
                  </a:lnTo>
                  <a:lnTo>
                    <a:pt x="657" y="453"/>
                  </a:lnTo>
                  <a:lnTo>
                    <a:pt x="657" y="453"/>
                  </a:lnTo>
                  <a:lnTo>
                    <a:pt x="659" y="453"/>
                  </a:lnTo>
                  <a:lnTo>
                    <a:pt x="659" y="451"/>
                  </a:lnTo>
                  <a:lnTo>
                    <a:pt x="661" y="451"/>
                  </a:lnTo>
                  <a:lnTo>
                    <a:pt x="661" y="449"/>
                  </a:lnTo>
                  <a:lnTo>
                    <a:pt x="661" y="447"/>
                  </a:lnTo>
                  <a:lnTo>
                    <a:pt x="663" y="447"/>
                  </a:lnTo>
                  <a:lnTo>
                    <a:pt x="667" y="449"/>
                  </a:lnTo>
                  <a:lnTo>
                    <a:pt x="669" y="449"/>
                  </a:lnTo>
                  <a:lnTo>
                    <a:pt x="671" y="449"/>
                  </a:lnTo>
                  <a:lnTo>
                    <a:pt x="671" y="447"/>
                  </a:lnTo>
                  <a:lnTo>
                    <a:pt x="673" y="445"/>
                  </a:lnTo>
                  <a:lnTo>
                    <a:pt x="674" y="445"/>
                  </a:lnTo>
                  <a:lnTo>
                    <a:pt x="674" y="443"/>
                  </a:lnTo>
                  <a:lnTo>
                    <a:pt x="674" y="443"/>
                  </a:lnTo>
                  <a:lnTo>
                    <a:pt x="676" y="443"/>
                  </a:lnTo>
                  <a:lnTo>
                    <a:pt x="676" y="443"/>
                  </a:lnTo>
                  <a:lnTo>
                    <a:pt x="676" y="441"/>
                  </a:lnTo>
                  <a:lnTo>
                    <a:pt x="676" y="439"/>
                  </a:lnTo>
                  <a:lnTo>
                    <a:pt x="676" y="439"/>
                  </a:lnTo>
                  <a:lnTo>
                    <a:pt x="678" y="437"/>
                  </a:lnTo>
                  <a:lnTo>
                    <a:pt x="684" y="433"/>
                  </a:lnTo>
                  <a:lnTo>
                    <a:pt x="684" y="433"/>
                  </a:lnTo>
                  <a:lnTo>
                    <a:pt x="686" y="432"/>
                  </a:lnTo>
                  <a:lnTo>
                    <a:pt x="686" y="432"/>
                  </a:lnTo>
                  <a:lnTo>
                    <a:pt x="686" y="430"/>
                  </a:lnTo>
                  <a:lnTo>
                    <a:pt x="686" y="430"/>
                  </a:lnTo>
                  <a:lnTo>
                    <a:pt x="690" y="430"/>
                  </a:lnTo>
                  <a:lnTo>
                    <a:pt x="690" y="428"/>
                  </a:lnTo>
                  <a:lnTo>
                    <a:pt x="692" y="428"/>
                  </a:lnTo>
                  <a:lnTo>
                    <a:pt x="692" y="426"/>
                  </a:lnTo>
                  <a:lnTo>
                    <a:pt x="693" y="426"/>
                  </a:lnTo>
                  <a:lnTo>
                    <a:pt x="695" y="424"/>
                  </a:lnTo>
                  <a:lnTo>
                    <a:pt x="695" y="424"/>
                  </a:lnTo>
                  <a:lnTo>
                    <a:pt x="695" y="422"/>
                  </a:lnTo>
                  <a:lnTo>
                    <a:pt x="697" y="422"/>
                  </a:lnTo>
                  <a:lnTo>
                    <a:pt x="699" y="420"/>
                  </a:lnTo>
                  <a:lnTo>
                    <a:pt x="701" y="420"/>
                  </a:lnTo>
                  <a:lnTo>
                    <a:pt x="701" y="420"/>
                  </a:lnTo>
                  <a:lnTo>
                    <a:pt x="703" y="420"/>
                  </a:lnTo>
                  <a:lnTo>
                    <a:pt x="703" y="420"/>
                  </a:lnTo>
                  <a:lnTo>
                    <a:pt x="703" y="418"/>
                  </a:lnTo>
                  <a:lnTo>
                    <a:pt x="703" y="418"/>
                  </a:lnTo>
                  <a:lnTo>
                    <a:pt x="705" y="416"/>
                  </a:lnTo>
                  <a:lnTo>
                    <a:pt x="707" y="414"/>
                  </a:lnTo>
                  <a:lnTo>
                    <a:pt x="709" y="414"/>
                  </a:lnTo>
                  <a:lnTo>
                    <a:pt x="711" y="414"/>
                  </a:lnTo>
                  <a:lnTo>
                    <a:pt x="714" y="414"/>
                  </a:lnTo>
                  <a:lnTo>
                    <a:pt x="716" y="413"/>
                  </a:lnTo>
                  <a:lnTo>
                    <a:pt x="718" y="411"/>
                  </a:lnTo>
                  <a:lnTo>
                    <a:pt x="720" y="411"/>
                  </a:lnTo>
                  <a:lnTo>
                    <a:pt x="720" y="409"/>
                  </a:lnTo>
                  <a:lnTo>
                    <a:pt x="722" y="409"/>
                  </a:lnTo>
                  <a:lnTo>
                    <a:pt x="722" y="409"/>
                  </a:lnTo>
                  <a:lnTo>
                    <a:pt x="722" y="407"/>
                  </a:lnTo>
                  <a:lnTo>
                    <a:pt x="724" y="405"/>
                  </a:lnTo>
                  <a:lnTo>
                    <a:pt x="724" y="403"/>
                  </a:lnTo>
                  <a:lnTo>
                    <a:pt x="726" y="403"/>
                  </a:lnTo>
                  <a:lnTo>
                    <a:pt x="728" y="401"/>
                  </a:lnTo>
                  <a:lnTo>
                    <a:pt x="730" y="403"/>
                  </a:lnTo>
                  <a:lnTo>
                    <a:pt x="732" y="401"/>
                  </a:lnTo>
                  <a:lnTo>
                    <a:pt x="732" y="401"/>
                  </a:lnTo>
                  <a:lnTo>
                    <a:pt x="734" y="401"/>
                  </a:lnTo>
                  <a:lnTo>
                    <a:pt x="735" y="401"/>
                  </a:lnTo>
                  <a:lnTo>
                    <a:pt x="735" y="399"/>
                  </a:lnTo>
                  <a:lnTo>
                    <a:pt x="735" y="399"/>
                  </a:lnTo>
                  <a:lnTo>
                    <a:pt x="735" y="397"/>
                  </a:lnTo>
                  <a:lnTo>
                    <a:pt x="737" y="397"/>
                  </a:lnTo>
                  <a:lnTo>
                    <a:pt x="741" y="397"/>
                  </a:lnTo>
                  <a:lnTo>
                    <a:pt x="743" y="397"/>
                  </a:lnTo>
                  <a:lnTo>
                    <a:pt x="743" y="395"/>
                  </a:lnTo>
                  <a:lnTo>
                    <a:pt x="747" y="394"/>
                  </a:lnTo>
                  <a:lnTo>
                    <a:pt x="753" y="390"/>
                  </a:lnTo>
                  <a:lnTo>
                    <a:pt x="753" y="390"/>
                  </a:lnTo>
                  <a:lnTo>
                    <a:pt x="754" y="390"/>
                  </a:lnTo>
                  <a:lnTo>
                    <a:pt x="758" y="388"/>
                  </a:lnTo>
                  <a:lnTo>
                    <a:pt x="760" y="388"/>
                  </a:lnTo>
                  <a:lnTo>
                    <a:pt x="760" y="388"/>
                  </a:lnTo>
                  <a:lnTo>
                    <a:pt x="762" y="386"/>
                  </a:lnTo>
                  <a:lnTo>
                    <a:pt x="764" y="384"/>
                  </a:lnTo>
                  <a:lnTo>
                    <a:pt x="766" y="384"/>
                  </a:lnTo>
                  <a:lnTo>
                    <a:pt x="770" y="382"/>
                  </a:lnTo>
                  <a:lnTo>
                    <a:pt x="772" y="380"/>
                  </a:lnTo>
                  <a:lnTo>
                    <a:pt x="770" y="376"/>
                  </a:lnTo>
                  <a:lnTo>
                    <a:pt x="775" y="376"/>
                  </a:lnTo>
                  <a:lnTo>
                    <a:pt x="775" y="375"/>
                  </a:lnTo>
                  <a:lnTo>
                    <a:pt x="777" y="375"/>
                  </a:lnTo>
                  <a:lnTo>
                    <a:pt x="777" y="373"/>
                  </a:lnTo>
                  <a:lnTo>
                    <a:pt x="777" y="373"/>
                  </a:lnTo>
                  <a:lnTo>
                    <a:pt x="777" y="371"/>
                  </a:lnTo>
                  <a:lnTo>
                    <a:pt x="779" y="371"/>
                  </a:lnTo>
                  <a:lnTo>
                    <a:pt x="781" y="371"/>
                  </a:lnTo>
                  <a:lnTo>
                    <a:pt x="783" y="371"/>
                  </a:lnTo>
                  <a:lnTo>
                    <a:pt x="785" y="369"/>
                  </a:lnTo>
                  <a:lnTo>
                    <a:pt x="787" y="369"/>
                  </a:lnTo>
                  <a:lnTo>
                    <a:pt x="789" y="369"/>
                  </a:lnTo>
                  <a:lnTo>
                    <a:pt x="789" y="369"/>
                  </a:lnTo>
                  <a:lnTo>
                    <a:pt x="791" y="369"/>
                  </a:lnTo>
                  <a:lnTo>
                    <a:pt x="791" y="369"/>
                  </a:lnTo>
                  <a:lnTo>
                    <a:pt x="793" y="369"/>
                  </a:lnTo>
                  <a:lnTo>
                    <a:pt x="793" y="369"/>
                  </a:lnTo>
                  <a:lnTo>
                    <a:pt x="794" y="369"/>
                  </a:lnTo>
                  <a:lnTo>
                    <a:pt x="794" y="369"/>
                  </a:lnTo>
                  <a:lnTo>
                    <a:pt x="794" y="367"/>
                  </a:lnTo>
                  <a:lnTo>
                    <a:pt x="794" y="365"/>
                  </a:lnTo>
                  <a:lnTo>
                    <a:pt x="796" y="365"/>
                  </a:lnTo>
                  <a:lnTo>
                    <a:pt x="796" y="363"/>
                  </a:lnTo>
                  <a:lnTo>
                    <a:pt x="796" y="363"/>
                  </a:lnTo>
                  <a:lnTo>
                    <a:pt x="796" y="361"/>
                  </a:lnTo>
                  <a:lnTo>
                    <a:pt x="796" y="361"/>
                  </a:lnTo>
                  <a:lnTo>
                    <a:pt x="796" y="359"/>
                  </a:lnTo>
                  <a:lnTo>
                    <a:pt x="796" y="357"/>
                  </a:lnTo>
                  <a:lnTo>
                    <a:pt x="798" y="357"/>
                  </a:lnTo>
                  <a:lnTo>
                    <a:pt x="802" y="359"/>
                  </a:lnTo>
                  <a:lnTo>
                    <a:pt x="802" y="357"/>
                  </a:lnTo>
                  <a:lnTo>
                    <a:pt x="802" y="356"/>
                  </a:lnTo>
                  <a:lnTo>
                    <a:pt x="804" y="356"/>
                  </a:lnTo>
                  <a:lnTo>
                    <a:pt x="806" y="356"/>
                  </a:lnTo>
                  <a:lnTo>
                    <a:pt x="806" y="354"/>
                  </a:lnTo>
                  <a:lnTo>
                    <a:pt x="806" y="354"/>
                  </a:lnTo>
                  <a:lnTo>
                    <a:pt x="804" y="352"/>
                  </a:lnTo>
                  <a:lnTo>
                    <a:pt x="804" y="352"/>
                  </a:lnTo>
                  <a:lnTo>
                    <a:pt x="804" y="350"/>
                  </a:lnTo>
                  <a:lnTo>
                    <a:pt x="804" y="350"/>
                  </a:lnTo>
                  <a:lnTo>
                    <a:pt x="804" y="350"/>
                  </a:lnTo>
                  <a:lnTo>
                    <a:pt x="804" y="350"/>
                  </a:lnTo>
                  <a:lnTo>
                    <a:pt x="804" y="350"/>
                  </a:lnTo>
                  <a:lnTo>
                    <a:pt x="806" y="350"/>
                  </a:lnTo>
                  <a:lnTo>
                    <a:pt x="806" y="348"/>
                  </a:lnTo>
                  <a:lnTo>
                    <a:pt x="810" y="346"/>
                  </a:lnTo>
                  <a:lnTo>
                    <a:pt x="810" y="346"/>
                  </a:lnTo>
                  <a:lnTo>
                    <a:pt x="810" y="344"/>
                  </a:lnTo>
                  <a:close/>
                </a:path>
              </a:pathLst>
            </a:custGeom>
            <a:noFill/>
            <a:ln w="317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73" name="Freeform 22">
              <a:extLst>
                <a:ext uri="{FF2B5EF4-FFF2-40B4-BE49-F238E27FC236}">
                  <a16:creationId xmlns:a16="http://schemas.microsoft.com/office/drawing/2014/main" id="{79DCFB31-863E-07C1-23EC-D59EB61CE23B}"/>
                </a:ext>
              </a:extLst>
            </p:cNvPr>
            <p:cNvSpPr>
              <a:spLocks/>
            </p:cNvSpPr>
            <p:nvPr/>
          </p:nvSpPr>
          <p:spPr bwMode="auto">
            <a:xfrm>
              <a:off x="2002220" y="2021011"/>
              <a:ext cx="532001" cy="536215"/>
            </a:xfrm>
            <a:custGeom>
              <a:avLst/>
              <a:gdLst>
                <a:gd name="T0" fmla="*/ 282 w 282"/>
                <a:gd name="T1" fmla="*/ 211 h 317"/>
                <a:gd name="T2" fmla="*/ 278 w 282"/>
                <a:gd name="T3" fmla="*/ 198 h 317"/>
                <a:gd name="T4" fmla="*/ 270 w 282"/>
                <a:gd name="T5" fmla="*/ 199 h 317"/>
                <a:gd name="T6" fmla="*/ 267 w 282"/>
                <a:gd name="T7" fmla="*/ 186 h 317"/>
                <a:gd name="T8" fmla="*/ 272 w 282"/>
                <a:gd name="T9" fmla="*/ 180 h 317"/>
                <a:gd name="T10" fmla="*/ 255 w 282"/>
                <a:gd name="T11" fmla="*/ 158 h 317"/>
                <a:gd name="T12" fmla="*/ 257 w 282"/>
                <a:gd name="T13" fmla="*/ 140 h 317"/>
                <a:gd name="T14" fmla="*/ 249 w 282"/>
                <a:gd name="T15" fmla="*/ 135 h 317"/>
                <a:gd name="T16" fmla="*/ 246 w 282"/>
                <a:gd name="T17" fmla="*/ 133 h 317"/>
                <a:gd name="T18" fmla="*/ 238 w 282"/>
                <a:gd name="T19" fmla="*/ 129 h 317"/>
                <a:gd name="T20" fmla="*/ 229 w 282"/>
                <a:gd name="T21" fmla="*/ 127 h 317"/>
                <a:gd name="T22" fmla="*/ 217 w 282"/>
                <a:gd name="T23" fmla="*/ 131 h 317"/>
                <a:gd name="T24" fmla="*/ 192 w 282"/>
                <a:gd name="T25" fmla="*/ 74 h 317"/>
                <a:gd name="T26" fmla="*/ 175 w 282"/>
                <a:gd name="T27" fmla="*/ 53 h 317"/>
                <a:gd name="T28" fmla="*/ 168 w 282"/>
                <a:gd name="T29" fmla="*/ 38 h 317"/>
                <a:gd name="T30" fmla="*/ 162 w 282"/>
                <a:gd name="T31" fmla="*/ 30 h 317"/>
                <a:gd name="T32" fmla="*/ 190 w 282"/>
                <a:gd name="T33" fmla="*/ 9 h 317"/>
                <a:gd name="T34" fmla="*/ 173 w 282"/>
                <a:gd name="T35" fmla="*/ 9 h 317"/>
                <a:gd name="T36" fmla="*/ 148 w 282"/>
                <a:gd name="T37" fmla="*/ 21 h 317"/>
                <a:gd name="T38" fmla="*/ 137 w 282"/>
                <a:gd name="T39" fmla="*/ 23 h 317"/>
                <a:gd name="T40" fmla="*/ 122 w 282"/>
                <a:gd name="T41" fmla="*/ 43 h 317"/>
                <a:gd name="T42" fmla="*/ 107 w 282"/>
                <a:gd name="T43" fmla="*/ 49 h 317"/>
                <a:gd name="T44" fmla="*/ 87 w 282"/>
                <a:gd name="T45" fmla="*/ 59 h 317"/>
                <a:gd name="T46" fmla="*/ 63 w 282"/>
                <a:gd name="T47" fmla="*/ 82 h 317"/>
                <a:gd name="T48" fmla="*/ 65 w 282"/>
                <a:gd name="T49" fmla="*/ 99 h 317"/>
                <a:gd name="T50" fmla="*/ 61 w 282"/>
                <a:gd name="T51" fmla="*/ 144 h 317"/>
                <a:gd name="T52" fmla="*/ 67 w 282"/>
                <a:gd name="T53" fmla="*/ 159 h 317"/>
                <a:gd name="T54" fmla="*/ 51 w 282"/>
                <a:gd name="T55" fmla="*/ 175 h 317"/>
                <a:gd name="T56" fmla="*/ 38 w 282"/>
                <a:gd name="T57" fmla="*/ 184 h 317"/>
                <a:gd name="T58" fmla="*/ 28 w 282"/>
                <a:gd name="T59" fmla="*/ 198 h 317"/>
                <a:gd name="T60" fmla="*/ 19 w 282"/>
                <a:gd name="T61" fmla="*/ 217 h 317"/>
                <a:gd name="T62" fmla="*/ 2 w 282"/>
                <a:gd name="T63" fmla="*/ 230 h 317"/>
                <a:gd name="T64" fmla="*/ 11 w 282"/>
                <a:gd name="T65" fmla="*/ 256 h 317"/>
                <a:gd name="T66" fmla="*/ 72 w 282"/>
                <a:gd name="T67" fmla="*/ 279 h 317"/>
                <a:gd name="T68" fmla="*/ 87 w 282"/>
                <a:gd name="T69" fmla="*/ 272 h 317"/>
                <a:gd name="T70" fmla="*/ 99 w 282"/>
                <a:gd name="T71" fmla="*/ 277 h 317"/>
                <a:gd name="T72" fmla="*/ 108 w 282"/>
                <a:gd name="T73" fmla="*/ 285 h 317"/>
                <a:gd name="T74" fmla="*/ 116 w 282"/>
                <a:gd name="T75" fmla="*/ 279 h 317"/>
                <a:gd name="T76" fmla="*/ 116 w 282"/>
                <a:gd name="T77" fmla="*/ 285 h 317"/>
                <a:gd name="T78" fmla="*/ 120 w 282"/>
                <a:gd name="T79" fmla="*/ 293 h 317"/>
                <a:gd name="T80" fmla="*/ 126 w 282"/>
                <a:gd name="T81" fmla="*/ 293 h 317"/>
                <a:gd name="T82" fmla="*/ 126 w 282"/>
                <a:gd name="T83" fmla="*/ 298 h 317"/>
                <a:gd name="T84" fmla="*/ 122 w 282"/>
                <a:gd name="T85" fmla="*/ 304 h 317"/>
                <a:gd name="T86" fmla="*/ 126 w 282"/>
                <a:gd name="T87" fmla="*/ 312 h 317"/>
                <a:gd name="T88" fmla="*/ 133 w 282"/>
                <a:gd name="T89" fmla="*/ 314 h 317"/>
                <a:gd name="T90" fmla="*/ 139 w 282"/>
                <a:gd name="T91" fmla="*/ 304 h 317"/>
                <a:gd name="T92" fmla="*/ 156 w 282"/>
                <a:gd name="T93" fmla="*/ 293 h 317"/>
                <a:gd name="T94" fmla="*/ 173 w 282"/>
                <a:gd name="T95" fmla="*/ 293 h 317"/>
                <a:gd name="T96" fmla="*/ 188 w 282"/>
                <a:gd name="T97" fmla="*/ 298 h 317"/>
                <a:gd name="T98" fmla="*/ 211 w 282"/>
                <a:gd name="T99" fmla="*/ 289 h 317"/>
                <a:gd name="T100" fmla="*/ 215 w 282"/>
                <a:gd name="T101" fmla="*/ 277 h 317"/>
                <a:gd name="T102" fmla="*/ 219 w 282"/>
                <a:gd name="T103" fmla="*/ 264 h 317"/>
                <a:gd name="T104" fmla="*/ 217 w 282"/>
                <a:gd name="T105" fmla="*/ 258 h 317"/>
                <a:gd name="T106" fmla="*/ 229 w 282"/>
                <a:gd name="T107" fmla="*/ 258 h 317"/>
                <a:gd name="T108" fmla="*/ 234 w 282"/>
                <a:gd name="T109" fmla="*/ 258 h 317"/>
                <a:gd name="T110" fmla="*/ 236 w 282"/>
                <a:gd name="T111" fmla="*/ 251 h 317"/>
                <a:gd name="T112" fmla="*/ 257 w 282"/>
                <a:gd name="T113" fmla="*/ 255 h 317"/>
                <a:gd name="T114" fmla="*/ 255 w 282"/>
                <a:gd name="T115" fmla="*/ 247 h 317"/>
                <a:gd name="T116" fmla="*/ 249 w 282"/>
                <a:gd name="T117" fmla="*/ 247 h 317"/>
                <a:gd name="T118" fmla="*/ 265 w 282"/>
                <a:gd name="T119" fmla="*/ 236 h 317"/>
                <a:gd name="T120" fmla="*/ 267 w 282"/>
                <a:gd name="T121" fmla="*/ 226 h 317"/>
                <a:gd name="T122" fmla="*/ 280 w 282"/>
                <a:gd name="T123" fmla="*/ 232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2" h="317">
                  <a:moveTo>
                    <a:pt x="282" y="224"/>
                  </a:moveTo>
                  <a:lnTo>
                    <a:pt x="282" y="222"/>
                  </a:lnTo>
                  <a:lnTo>
                    <a:pt x="282" y="218"/>
                  </a:lnTo>
                  <a:lnTo>
                    <a:pt x="282" y="218"/>
                  </a:lnTo>
                  <a:lnTo>
                    <a:pt x="282" y="218"/>
                  </a:lnTo>
                  <a:lnTo>
                    <a:pt x="282" y="217"/>
                  </a:lnTo>
                  <a:lnTo>
                    <a:pt x="282" y="217"/>
                  </a:lnTo>
                  <a:lnTo>
                    <a:pt x="282" y="215"/>
                  </a:lnTo>
                  <a:lnTo>
                    <a:pt x="282" y="215"/>
                  </a:lnTo>
                  <a:lnTo>
                    <a:pt x="282" y="215"/>
                  </a:lnTo>
                  <a:lnTo>
                    <a:pt x="282" y="213"/>
                  </a:lnTo>
                  <a:lnTo>
                    <a:pt x="282" y="211"/>
                  </a:lnTo>
                  <a:lnTo>
                    <a:pt x="282" y="207"/>
                  </a:lnTo>
                  <a:lnTo>
                    <a:pt x="282" y="207"/>
                  </a:lnTo>
                  <a:lnTo>
                    <a:pt x="282" y="207"/>
                  </a:lnTo>
                  <a:lnTo>
                    <a:pt x="282" y="205"/>
                  </a:lnTo>
                  <a:lnTo>
                    <a:pt x="280" y="203"/>
                  </a:lnTo>
                  <a:lnTo>
                    <a:pt x="280" y="203"/>
                  </a:lnTo>
                  <a:lnTo>
                    <a:pt x="280" y="203"/>
                  </a:lnTo>
                  <a:lnTo>
                    <a:pt x="280" y="203"/>
                  </a:lnTo>
                  <a:lnTo>
                    <a:pt x="278" y="203"/>
                  </a:lnTo>
                  <a:lnTo>
                    <a:pt x="278" y="201"/>
                  </a:lnTo>
                  <a:lnTo>
                    <a:pt x="278" y="199"/>
                  </a:lnTo>
                  <a:lnTo>
                    <a:pt x="278" y="198"/>
                  </a:lnTo>
                  <a:lnTo>
                    <a:pt x="278" y="198"/>
                  </a:lnTo>
                  <a:lnTo>
                    <a:pt x="276" y="198"/>
                  </a:lnTo>
                  <a:lnTo>
                    <a:pt x="276" y="198"/>
                  </a:lnTo>
                  <a:lnTo>
                    <a:pt x="276" y="198"/>
                  </a:lnTo>
                  <a:lnTo>
                    <a:pt x="276" y="199"/>
                  </a:lnTo>
                  <a:lnTo>
                    <a:pt x="274" y="198"/>
                  </a:lnTo>
                  <a:lnTo>
                    <a:pt x="274" y="198"/>
                  </a:lnTo>
                  <a:lnTo>
                    <a:pt x="272" y="198"/>
                  </a:lnTo>
                  <a:lnTo>
                    <a:pt x="272" y="198"/>
                  </a:lnTo>
                  <a:lnTo>
                    <a:pt x="272" y="198"/>
                  </a:lnTo>
                  <a:lnTo>
                    <a:pt x="270" y="199"/>
                  </a:lnTo>
                  <a:lnTo>
                    <a:pt x="270" y="199"/>
                  </a:lnTo>
                  <a:lnTo>
                    <a:pt x="270" y="199"/>
                  </a:lnTo>
                  <a:lnTo>
                    <a:pt x="270" y="198"/>
                  </a:lnTo>
                  <a:lnTo>
                    <a:pt x="269" y="198"/>
                  </a:lnTo>
                  <a:lnTo>
                    <a:pt x="267" y="194"/>
                  </a:lnTo>
                  <a:lnTo>
                    <a:pt x="263" y="192"/>
                  </a:lnTo>
                  <a:lnTo>
                    <a:pt x="263" y="192"/>
                  </a:lnTo>
                  <a:lnTo>
                    <a:pt x="263" y="190"/>
                  </a:lnTo>
                  <a:lnTo>
                    <a:pt x="263" y="190"/>
                  </a:lnTo>
                  <a:lnTo>
                    <a:pt x="263" y="188"/>
                  </a:lnTo>
                  <a:lnTo>
                    <a:pt x="263" y="188"/>
                  </a:lnTo>
                  <a:lnTo>
                    <a:pt x="263" y="188"/>
                  </a:lnTo>
                  <a:lnTo>
                    <a:pt x="267" y="186"/>
                  </a:lnTo>
                  <a:lnTo>
                    <a:pt x="269" y="186"/>
                  </a:lnTo>
                  <a:lnTo>
                    <a:pt x="270" y="186"/>
                  </a:lnTo>
                  <a:lnTo>
                    <a:pt x="274" y="186"/>
                  </a:lnTo>
                  <a:lnTo>
                    <a:pt x="274" y="184"/>
                  </a:lnTo>
                  <a:lnTo>
                    <a:pt x="276" y="182"/>
                  </a:lnTo>
                  <a:lnTo>
                    <a:pt x="276" y="182"/>
                  </a:lnTo>
                  <a:lnTo>
                    <a:pt x="276" y="182"/>
                  </a:lnTo>
                  <a:lnTo>
                    <a:pt x="276" y="180"/>
                  </a:lnTo>
                  <a:lnTo>
                    <a:pt x="274" y="180"/>
                  </a:lnTo>
                  <a:lnTo>
                    <a:pt x="274" y="180"/>
                  </a:lnTo>
                  <a:lnTo>
                    <a:pt x="272" y="180"/>
                  </a:lnTo>
                  <a:lnTo>
                    <a:pt x="272" y="180"/>
                  </a:lnTo>
                  <a:lnTo>
                    <a:pt x="272" y="179"/>
                  </a:lnTo>
                  <a:lnTo>
                    <a:pt x="270" y="177"/>
                  </a:lnTo>
                  <a:lnTo>
                    <a:pt x="270" y="175"/>
                  </a:lnTo>
                  <a:lnTo>
                    <a:pt x="269" y="175"/>
                  </a:lnTo>
                  <a:lnTo>
                    <a:pt x="265" y="171"/>
                  </a:lnTo>
                  <a:lnTo>
                    <a:pt x="263" y="169"/>
                  </a:lnTo>
                  <a:lnTo>
                    <a:pt x="259" y="163"/>
                  </a:lnTo>
                  <a:lnTo>
                    <a:pt x="257" y="161"/>
                  </a:lnTo>
                  <a:lnTo>
                    <a:pt x="255" y="161"/>
                  </a:lnTo>
                  <a:lnTo>
                    <a:pt x="255" y="159"/>
                  </a:lnTo>
                  <a:lnTo>
                    <a:pt x="255" y="158"/>
                  </a:lnTo>
                  <a:lnTo>
                    <a:pt x="255" y="158"/>
                  </a:lnTo>
                  <a:lnTo>
                    <a:pt x="255" y="156"/>
                  </a:lnTo>
                  <a:lnTo>
                    <a:pt x="255" y="156"/>
                  </a:lnTo>
                  <a:lnTo>
                    <a:pt x="255" y="154"/>
                  </a:lnTo>
                  <a:lnTo>
                    <a:pt x="255" y="152"/>
                  </a:lnTo>
                  <a:lnTo>
                    <a:pt x="255" y="152"/>
                  </a:lnTo>
                  <a:lnTo>
                    <a:pt x="253" y="150"/>
                  </a:lnTo>
                  <a:lnTo>
                    <a:pt x="253" y="150"/>
                  </a:lnTo>
                  <a:lnTo>
                    <a:pt x="253" y="144"/>
                  </a:lnTo>
                  <a:lnTo>
                    <a:pt x="253" y="144"/>
                  </a:lnTo>
                  <a:lnTo>
                    <a:pt x="255" y="142"/>
                  </a:lnTo>
                  <a:lnTo>
                    <a:pt x="255" y="142"/>
                  </a:lnTo>
                  <a:lnTo>
                    <a:pt x="257" y="140"/>
                  </a:lnTo>
                  <a:lnTo>
                    <a:pt x="255" y="140"/>
                  </a:lnTo>
                  <a:lnTo>
                    <a:pt x="255" y="139"/>
                  </a:lnTo>
                  <a:lnTo>
                    <a:pt x="253" y="140"/>
                  </a:lnTo>
                  <a:lnTo>
                    <a:pt x="251" y="140"/>
                  </a:lnTo>
                  <a:lnTo>
                    <a:pt x="251" y="139"/>
                  </a:lnTo>
                  <a:lnTo>
                    <a:pt x="253" y="137"/>
                  </a:lnTo>
                  <a:lnTo>
                    <a:pt x="253" y="137"/>
                  </a:lnTo>
                  <a:lnTo>
                    <a:pt x="251" y="135"/>
                  </a:lnTo>
                  <a:lnTo>
                    <a:pt x="251" y="135"/>
                  </a:lnTo>
                  <a:lnTo>
                    <a:pt x="251" y="135"/>
                  </a:lnTo>
                  <a:lnTo>
                    <a:pt x="251" y="135"/>
                  </a:lnTo>
                  <a:lnTo>
                    <a:pt x="249" y="135"/>
                  </a:lnTo>
                  <a:lnTo>
                    <a:pt x="249" y="135"/>
                  </a:lnTo>
                  <a:lnTo>
                    <a:pt x="249" y="137"/>
                  </a:lnTo>
                  <a:lnTo>
                    <a:pt x="249" y="137"/>
                  </a:lnTo>
                  <a:lnTo>
                    <a:pt x="249" y="137"/>
                  </a:lnTo>
                  <a:lnTo>
                    <a:pt x="248" y="137"/>
                  </a:lnTo>
                  <a:lnTo>
                    <a:pt x="248" y="135"/>
                  </a:lnTo>
                  <a:lnTo>
                    <a:pt x="248" y="135"/>
                  </a:lnTo>
                  <a:lnTo>
                    <a:pt x="248" y="133"/>
                  </a:lnTo>
                  <a:lnTo>
                    <a:pt x="246" y="133"/>
                  </a:lnTo>
                  <a:lnTo>
                    <a:pt x="246" y="133"/>
                  </a:lnTo>
                  <a:lnTo>
                    <a:pt x="246" y="133"/>
                  </a:lnTo>
                  <a:lnTo>
                    <a:pt x="246" y="133"/>
                  </a:lnTo>
                  <a:lnTo>
                    <a:pt x="244" y="133"/>
                  </a:lnTo>
                  <a:lnTo>
                    <a:pt x="244" y="133"/>
                  </a:lnTo>
                  <a:lnTo>
                    <a:pt x="244" y="133"/>
                  </a:lnTo>
                  <a:lnTo>
                    <a:pt x="244" y="133"/>
                  </a:lnTo>
                  <a:lnTo>
                    <a:pt x="242" y="131"/>
                  </a:lnTo>
                  <a:lnTo>
                    <a:pt x="242" y="131"/>
                  </a:lnTo>
                  <a:lnTo>
                    <a:pt x="242" y="131"/>
                  </a:lnTo>
                  <a:lnTo>
                    <a:pt x="242" y="131"/>
                  </a:lnTo>
                  <a:lnTo>
                    <a:pt x="240" y="133"/>
                  </a:lnTo>
                  <a:lnTo>
                    <a:pt x="240" y="133"/>
                  </a:lnTo>
                  <a:lnTo>
                    <a:pt x="240" y="131"/>
                  </a:lnTo>
                  <a:lnTo>
                    <a:pt x="238" y="129"/>
                  </a:lnTo>
                  <a:lnTo>
                    <a:pt x="236" y="125"/>
                  </a:lnTo>
                  <a:lnTo>
                    <a:pt x="232" y="120"/>
                  </a:lnTo>
                  <a:lnTo>
                    <a:pt x="232" y="118"/>
                  </a:lnTo>
                  <a:lnTo>
                    <a:pt x="232" y="118"/>
                  </a:lnTo>
                  <a:lnTo>
                    <a:pt x="230" y="118"/>
                  </a:lnTo>
                  <a:lnTo>
                    <a:pt x="230" y="120"/>
                  </a:lnTo>
                  <a:lnTo>
                    <a:pt x="230" y="120"/>
                  </a:lnTo>
                  <a:lnTo>
                    <a:pt x="229" y="120"/>
                  </a:lnTo>
                  <a:lnTo>
                    <a:pt x="229" y="121"/>
                  </a:lnTo>
                  <a:lnTo>
                    <a:pt x="229" y="125"/>
                  </a:lnTo>
                  <a:lnTo>
                    <a:pt x="229" y="125"/>
                  </a:lnTo>
                  <a:lnTo>
                    <a:pt x="229" y="127"/>
                  </a:lnTo>
                  <a:lnTo>
                    <a:pt x="227" y="125"/>
                  </a:lnTo>
                  <a:lnTo>
                    <a:pt x="227" y="127"/>
                  </a:lnTo>
                  <a:lnTo>
                    <a:pt x="225" y="127"/>
                  </a:lnTo>
                  <a:lnTo>
                    <a:pt x="225" y="129"/>
                  </a:lnTo>
                  <a:lnTo>
                    <a:pt x="225" y="131"/>
                  </a:lnTo>
                  <a:lnTo>
                    <a:pt x="225" y="131"/>
                  </a:lnTo>
                  <a:lnTo>
                    <a:pt x="223" y="131"/>
                  </a:lnTo>
                  <a:lnTo>
                    <a:pt x="223" y="131"/>
                  </a:lnTo>
                  <a:lnTo>
                    <a:pt x="221" y="129"/>
                  </a:lnTo>
                  <a:lnTo>
                    <a:pt x="219" y="129"/>
                  </a:lnTo>
                  <a:lnTo>
                    <a:pt x="219" y="131"/>
                  </a:lnTo>
                  <a:lnTo>
                    <a:pt x="217" y="131"/>
                  </a:lnTo>
                  <a:lnTo>
                    <a:pt x="215" y="129"/>
                  </a:lnTo>
                  <a:lnTo>
                    <a:pt x="213" y="127"/>
                  </a:lnTo>
                  <a:lnTo>
                    <a:pt x="211" y="125"/>
                  </a:lnTo>
                  <a:lnTo>
                    <a:pt x="211" y="123"/>
                  </a:lnTo>
                  <a:lnTo>
                    <a:pt x="209" y="118"/>
                  </a:lnTo>
                  <a:lnTo>
                    <a:pt x="206" y="102"/>
                  </a:lnTo>
                  <a:lnTo>
                    <a:pt x="194" y="82"/>
                  </a:lnTo>
                  <a:lnTo>
                    <a:pt x="192" y="78"/>
                  </a:lnTo>
                  <a:lnTo>
                    <a:pt x="190" y="76"/>
                  </a:lnTo>
                  <a:lnTo>
                    <a:pt x="192" y="76"/>
                  </a:lnTo>
                  <a:lnTo>
                    <a:pt x="192" y="74"/>
                  </a:lnTo>
                  <a:lnTo>
                    <a:pt x="192" y="74"/>
                  </a:lnTo>
                  <a:lnTo>
                    <a:pt x="192" y="74"/>
                  </a:lnTo>
                  <a:lnTo>
                    <a:pt x="194" y="74"/>
                  </a:lnTo>
                  <a:lnTo>
                    <a:pt x="194" y="74"/>
                  </a:lnTo>
                  <a:lnTo>
                    <a:pt x="196" y="74"/>
                  </a:lnTo>
                  <a:lnTo>
                    <a:pt x="196" y="74"/>
                  </a:lnTo>
                  <a:lnTo>
                    <a:pt x="196" y="72"/>
                  </a:lnTo>
                  <a:lnTo>
                    <a:pt x="192" y="66"/>
                  </a:lnTo>
                  <a:lnTo>
                    <a:pt x="188" y="61"/>
                  </a:lnTo>
                  <a:lnTo>
                    <a:pt x="187" y="59"/>
                  </a:lnTo>
                  <a:lnTo>
                    <a:pt x="187" y="59"/>
                  </a:lnTo>
                  <a:lnTo>
                    <a:pt x="181" y="55"/>
                  </a:lnTo>
                  <a:lnTo>
                    <a:pt x="175" y="53"/>
                  </a:lnTo>
                  <a:lnTo>
                    <a:pt x="171" y="51"/>
                  </a:lnTo>
                  <a:lnTo>
                    <a:pt x="171" y="49"/>
                  </a:lnTo>
                  <a:lnTo>
                    <a:pt x="169" y="51"/>
                  </a:lnTo>
                  <a:lnTo>
                    <a:pt x="168" y="49"/>
                  </a:lnTo>
                  <a:lnTo>
                    <a:pt x="162" y="49"/>
                  </a:lnTo>
                  <a:lnTo>
                    <a:pt x="162" y="47"/>
                  </a:lnTo>
                  <a:lnTo>
                    <a:pt x="160" y="47"/>
                  </a:lnTo>
                  <a:lnTo>
                    <a:pt x="160" y="47"/>
                  </a:lnTo>
                  <a:lnTo>
                    <a:pt x="160" y="45"/>
                  </a:lnTo>
                  <a:lnTo>
                    <a:pt x="166" y="40"/>
                  </a:lnTo>
                  <a:lnTo>
                    <a:pt x="166" y="38"/>
                  </a:lnTo>
                  <a:lnTo>
                    <a:pt x="168" y="38"/>
                  </a:lnTo>
                  <a:lnTo>
                    <a:pt x="168" y="36"/>
                  </a:lnTo>
                  <a:lnTo>
                    <a:pt x="168" y="34"/>
                  </a:lnTo>
                  <a:lnTo>
                    <a:pt x="168" y="34"/>
                  </a:lnTo>
                  <a:lnTo>
                    <a:pt x="166" y="34"/>
                  </a:lnTo>
                  <a:lnTo>
                    <a:pt x="166" y="34"/>
                  </a:lnTo>
                  <a:lnTo>
                    <a:pt x="166" y="36"/>
                  </a:lnTo>
                  <a:lnTo>
                    <a:pt x="164" y="36"/>
                  </a:lnTo>
                  <a:lnTo>
                    <a:pt x="164" y="36"/>
                  </a:lnTo>
                  <a:lnTo>
                    <a:pt x="164" y="34"/>
                  </a:lnTo>
                  <a:lnTo>
                    <a:pt x="162" y="34"/>
                  </a:lnTo>
                  <a:lnTo>
                    <a:pt x="162" y="32"/>
                  </a:lnTo>
                  <a:lnTo>
                    <a:pt x="162" y="30"/>
                  </a:lnTo>
                  <a:lnTo>
                    <a:pt x="164" y="28"/>
                  </a:lnTo>
                  <a:lnTo>
                    <a:pt x="164" y="28"/>
                  </a:lnTo>
                  <a:lnTo>
                    <a:pt x="164" y="28"/>
                  </a:lnTo>
                  <a:lnTo>
                    <a:pt x="169" y="26"/>
                  </a:lnTo>
                  <a:lnTo>
                    <a:pt x="171" y="26"/>
                  </a:lnTo>
                  <a:lnTo>
                    <a:pt x="173" y="24"/>
                  </a:lnTo>
                  <a:lnTo>
                    <a:pt x="175" y="23"/>
                  </a:lnTo>
                  <a:lnTo>
                    <a:pt x="179" y="19"/>
                  </a:lnTo>
                  <a:lnTo>
                    <a:pt x="185" y="13"/>
                  </a:lnTo>
                  <a:lnTo>
                    <a:pt x="190" y="11"/>
                  </a:lnTo>
                  <a:lnTo>
                    <a:pt x="190" y="11"/>
                  </a:lnTo>
                  <a:lnTo>
                    <a:pt x="190" y="9"/>
                  </a:lnTo>
                  <a:lnTo>
                    <a:pt x="190" y="9"/>
                  </a:lnTo>
                  <a:lnTo>
                    <a:pt x="187" y="2"/>
                  </a:lnTo>
                  <a:lnTo>
                    <a:pt x="187" y="2"/>
                  </a:lnTo>
                  <a:lnTo>
                    <a:pt x="185" y="0"/>
                  </a:lnTo>
                  <a:lnTo>
                    <a:pt x="185" y="0"/>
                  </a:lnTo>
                  <a:lnTo>
                    <a:pt x="183" y="2"/>
                  </a:lnTo>
                  <a:lnTo>
                    <a:pt x="183" y="2"/>
                  </a:lnTo>
                  <a:lnTo>
                    <a:pt x="181" y="2"/>
                  </a:lnTo>
                  <a:lnTo>
                    <a:pt x="179" y="4"/>
                  </a:lnTo>
                  <a:lnTo>
                    <a:pt x="175" y="5"/>
                  </a:lnTo>
                  <a:lnTo>
                    <a:pt x="175" y="5"/>
                  </a:lnTo>
                  <a:lnTo>
                    <a:pt x="173" y="9"/>
                  </a:lnTo>
                  <a:lnTo>
                    <a:pt x="173" y="9"/>
                  </a:lnTo>
                  <a:lnTo>
                    <a:pt x="173" y="9"/>
                  </a:lnTo>
                  <a:lnTo>
                    <a:pt x="171" y="11"/>
                  </a:lnTo>
                  <a:lnTo>
                    <a:pt x="171" y="11"/>
                  </a:lnTo>
                  <a:lnTo>
                    <a:pt x="169" y="13"/>
                  </a:lnTo>
                  <a:lnTo>
                    <a:pt x="162" y="13"/>
                  </a:lnTo>
                  <a:lnTo>
                    <a:pt x="160" y="15"/>
                  </a:lnTo>
                  <a:lnTo>
                    <a:pt x="156" y="19"/>
                  </a:lnTo>
                  <a:lnTo>
                    <a:pt x="152" y="23"/>
                  </a:lnTo>
                  <a:lnTo>
                    <a:pt x="150" y="23"/>
                  </a:lnTo>
                  <a:lnTo>
                    <a:pt x="150" y="23"/>
                  </a:lnTo>
                  <a:lnTo>
                    <a:pt x="148" y="21"/>
                  </a:lnTo>
                  <a:lnTo>
                    <a:pt x="148" y="21"/>
                  </a:lnTo>
                  <a:lnTo>
                    <a:pt x="147" y="21"/>
                  </a:lnTo>
                  <a:lnTo>
                    <a:pt x="147" y="19"/>
                  </a:lnTo>
                  <a:lnTo>
                    <a:pt x="147" y="17"/>
                  </a:lnTo>
                  <a:lnTo>
                    <a:pt x="147" y="17"/>
                  </a:lnTo>
                  <a:lnTo>
                    <a:pt x="147" y="17"/>
                  </a:lnTo>
                  <a:lnTo>
                    <a:pt x="145" y="17"/>
                  </a:lnTo>
                  <a:lnTo>
                    <a:pt x="145" y="19"/>
                  </a:lnTo>
                  <a:lnTo>
                    <a:pt x="143" y="19"/>
                  </a:lnTo>
                  <a:lnTo>
                    <a:pt x="137" y="19"/>
                  </a:lnTo>
                  <a:lnTo>
                    <a:pt x="133" y="21"/>
                  </a:lnTo>
                  <a:lnTo>
                    <a:pt x="137" y="23"/>
                  </a:lnTo>
                  <a:lnTo>
                    <a:pt x="139" y="24"/>
                  </a:lnTo>
                  <a:lnTo>
                    <a:pt x="139" y="28"/>
                  </a:lnTo>
                  <a:lnTo>
                    <a:pt x="139" y="30"/>
                  </a:lnTo>
                  <a:lnTo>
                    <a:pt x="135" y="34"/>
                  </a:lnTo>
                  <a:lnTo>
                    <a:pt x="135" y="34"/>
                  </a:lnTo>
                  <a:lnTo>
                    <a:pt x="133" y="38"/>
                  </a:lnTo>
                  <a:lnTo>
                    <a:pt x="133" y="40"/>
                  </a:lnTo>
                  <a:lnTo>
                    <a:pt x="131" y="40"/>
                  </a:lnTo>
                  <a:lnTo>
                    <a:pt x="129" y="40"/>
                  </a:lnTo>
                  <a:lnTo>
                    <a:pt x="128" y="40"/>
                  </a:lnTo>
                  <a:lnTo>
                    <a:pt x="124" y="42"/>
                  </a:lnTo>
                  <a:lnTo>
                    <a:pt x="122" y="43"/>
                  </a:lnTo>
                  <a:lnTo>
                    <a:pt x="122" y="47"/>
                  </a:lnTo>
                  <a:lnTo>
                    <a:pt x="122" y="47"/>
                  </a:lnTo>
                  <a:lnTo>
                    <a:pt x="120" y="45"/>
                  </a:lnTo>
                  <a:lnTo>
                    <a:pt x="118" y="45"/>
                  </a:lnTo>
                  <a:lnTo>
                    <a:pt x="118" y="47"/>
                  </a:lnTo>
                  <a:lnTo>
                    <a:pt x="116" y="47"/>
                  </a:lnTo>
                  <a:lnTo>
                    <a:pt x="116" y="47"/>
                  </a:lnTo>
                  <a:lnTo>
                    <a:pt x="110" y="45"/>
                  </a:lnTo>
                  <a:lnTo>
                    <a:pt x="108" y="45"/>
                  </a:lnTo>
                  <a:lnTo>
                    <a:pt x="108" y="49"/>
                  </a:lnTo>
                  <a:lnTo>
                    <a:pt x="108" y="49"/>
                  </a:lnTo>
                  <a:lnTo>
                    <a:pt x="107" y="49"/>
                  </a:lnTo>
                  <a:lnTo>
                    <a:pt x="105" y="49"/>
                  </a:lnTo>
                  <a:lnTo>
                    <a:pt x="105" y="51"/>
                  </a:lnTo>
                  <a:lnTo>
                    <a:pt x="105" y="51"/>
                  </a:lnTo>
                  <a:lnTo>
                    <a:pt x="103" y="51"/>
                  </a:lnTo>
                  <a:lnTo>
                    <a:pt x="103" y="53"/>
                  </a:lnTo>
                  <a:lnTo>
                    <a:pt x="101" y="53"/>
                  </a:lnTo>
                  <a:lnTo>
                    <a:pt x="97" y="53"/>
                  </a:lnTo>
                  <a:lnTo>
                    <a:pt x="95" y="53"/>
                  </a:lnTo>
                  <a:lnTo>
                    <a:pt x="95" y="55"/>
                  </a:lnTo>
                  <a:lnTo>
                    <a:pt x="91" y="53"/>
                  </a:lnTo>
                  <a:lnTo>
                    <a:pt x="89" y="55"/>
                  </a:lnTo>
                  <a:lnTo>
                    <a:pt x="87" y="59"/>
                  </a:lnTo>
                  <a:lnTo>
                    <a:pt x="86" y="62"/>
                  </a:lnTo>
                  <a:lnTo>
                    <a:pt x="84" y="62"/>
                  </a:lnTo>
                  <a:lnTo>
                    <a:pt x="78" y="61"/>
                  </a:lnTo>
                  <a:lnTo>
                    <a:pt x="76" y="66"/>
                  </a:lnTo>
                  <a:lnTo>
                    <a:pt x="74" y="68"/>
                  </a:lnTo>
                  <a:lnTo>
                    <a:pt x="72" y="68"/>
                  </a:lnTo>
                  <a:lnTo>
                    <a:pt x="67" y="74"/>
                  </a:lnTo>
                  <a:lnTo>
                    <a:pt x="65" y="74"/>
                  </a:lnTo>
                  <a:lnTo>
                    <a:pt x="65" y="76"/>
                  </a:lnTo>
                  <a:lnTo>
                    <a:pt x="63" y="80"/>
                  </a:lnTo>
                  <a:lnTo>
                    <a:pt x="63" y="80"/>
                  </a:lnTo>
                  <a:lnTo>
                    <a:pt x="63" y="82"/>
                  </a:lnTo>
                  <a:lnTo>
                    <a:pt x="63" y="82"/>
                  </a:lnTo>
                  <a:lnTo>
                    <a:pt x="63" y="82"/>
                  </a:lnTo>
                  <a:lnTo>
                    <a:pt x="63" y="83"/>
                  </a:lnTo>
                  <a:lnTo>
                    <a:pt x="61" y="83"/>
                  </a:lnTo>
                  <a:lnTo>
                    <a:pt x="61" y="85"/>
                  </a:lnTo>
                  <a:lnTo>
                    <a:pt x="61" y="85"/>
                  </a:lnTo>
                  <a:lnTo>
                    <a:pt x="61" y="85"/>
                  </a:lnTo>
                  <a:lnTo>
                    <a:pt x="61" y="85"/>
                  </a:lnTo>
                  <a:lnTo>
                    <a:pt x="59" y="87"/>
                  </a:lnTo>
                  <a:lnTo>
                    <a:pt x="59" y="87"/>
                  </a:lnTo>
                  <a:lnTo>
                    <a:pt x="61" y="89"/>
                  </a:lnTo>
                  <a:lnTo>
                    <a:pt x="65" y="99"/>
                  </a:lnTo>
                  <a:lnTo>
                    <a:pt x="68" y="108"/>
                  </a:lnTo>
                  <a:lnTo>
                    <a:pt x="70" y="112"/>
                  </a:lnTo>
                  <a:lnTo>
                    <a:pt x="70" y="114"/>
                  </a:lnTo>
                  <a:lnTo>
                    <a:pt x="70" y="116"/>
                  </a:lnTo>
                  <a:lnTo>
                    <a:pt x="68" y="118"/>
                  </a:lnTo>
                  <a:lnTo>
                    <a:pt x="68" y="120"/>
                  </a:lnTo>
                  <a:lnTo>
                    <a:pt x="67" y="121"/>
                  </a:lnTo>
                  <a:lnTo>
                    <a:pt x="63" y="131"/>
                  </a:lnTo>
                  <a:lnTo>
                    <a:pt x="63" y="135"/>
                  </a:lnTo>
                  <a:lnTo>
                    <a:pt x="63" y="139"/>
                  </a:lnTo>
                  <a:lnTo>
                    <a:pt x="61" y="142"/>
                  </a:lnTo>
                  <a:lnTo>
                    <a:pt x="61" y="144"/>
                  </a:lnTo>
                  <a:lnTo>
                    <a:pt x="61" y="148"/>
                  </a:lnTo>
                  <a:lnTo>
                    <a:pt x="61" y="148"/>
                  </a:lnTo>
                  <a:lnTo>
                    <a:pt x="63" y="150"/>
                  </a:lnTo>
                  <a:lnTo>
                    <a:pt x="63" y="152"/>
                  </a:lnTo>
                  <a:lnTo>
                    <a:pt x="65" y="152"/>
                  </a:lnTo>
                  <a:lnTo>
                    <a:pt x="68" y="152"/>
                  </a:lnTo>
                  <a:lnTo>
                    <a:pt x="70" y="152"/>
                  </a:lnTo>
                  <a:lnTo>
                    <a:pt x="72" y="152"/>
                  </a:lnTo>
                  <a:lnTo>
                    <a:pt x="74" y="154"/>
                  </a:lnTo>
                  <a:lnTo>
                    <a:pt x="74" y="156"/>
                  </a:lnTo>
                  <a:lnTo>
                    <a:pt x="68" y="158"/>
                  </a:lnTo>
                  <a:lnTo>
                    <a:pt x="67" y="159"/>
                  </a:lnTo>
                  <a:lnTo>
                    <a:pt x="67" y="161"/>
                  </a:lnTo>
                  <a:lnTo>
                    <a:pt x="67" y="163"/>
                  </a:lnTo>
                  <a:lnTo>
                    <a:pt x="65" y="165"/>
                  </a:lnTo>
                  <a:lnTo>
                    <a:pt x="63" y="167"/>
                  </a:lnTo>
                  <a:lnTo>
                    <a:pt x="63" y="169"/>
                  </a:lnTo>
                  <a:lnTo>
                    <a:pt x="61" y="169"/>
                  </a:lnTo>
                  <a:lnTo>
                    <a:pt x="59" y="169"/>
                  </a:lnTo>
                  <a:lnTo>
                    <a:pt x="57" y="169"/>
                  </a:lnTo>
                  <a:lnTo>
                    <a:pt x="55" y="169"/>
                  </a:lnTo>
                  <a:lnTo>
                    <a:pt x="53" y="171"/>
                  </a:lnTo>
                  <a:lnTo>
                    <a:pt x="51" y="173"/>
                  </a:lnTo>
                  <a:lnTo>
                    <a:pt x="51" y="175"/>
                  </a:lnTo>
                  <a:lnTo>
                    <a:pt x="51" y="175"/>
                  </a:lnTo>
                  <a:lnTo>
                    <a:pt x="49" y="175"/>
                  </a:lnTo>
                  <a:lnTo>
                    <a:pt x="47" y="175"/>
                  </a:lnTo>
                  <a:lnTo>
                    <a:pt x="46" y="175"/>
                  </a:lnTo>
                  <a:lnTo>
                    <a:pt x="44" y="175"/>
                  </a:lnTo>
                  <a:lnTo>
                    <a:pt x="44" y="175"/>
                  </a:lnTo>
                  <a:lnTo>
                    <a:pt x="42" y="177"/>
                  </a:lnTo>
                  <a:lnTo>
                    <a:pt x="42" y="179"/>
                  </a:lnTo>
                  <a:lnTo>
                    <a:pt x="42" y="180"/>
                  </a:lnTo>
                  <a:lnTo>
                    <a:pt x="42" y="182"/>
                  </a:lnTo>
                  <a:lnTo>
                    <a:pt x="40" y="182"/>
                  </a:lnTo>
                  <a:lnTo>
                    <a:pt x="38" y="184"/>
                  </a:lnTo>
                  <a:lnTo>
                    <a:pt x="38" y="184"/>
                  </a:lnTo>
                  <a:lnTo>
                    <a:pt x="38" y="186"/>
                  </a:lnTo>
                  <a:lnTo>
                    <a:pt x="38" y="186"/>
                  </a:lnTo>
                  <a:lnTo>
                    <a:pt x="38" y="188"/>
                  </a:lnTo>
                  <a:lnTo>
                    <a:pt x="36" y="188"/>
                  </a:lnTo>
                  <a:lnTo>
                    <a:pt x="36" y="190"/>
                  </a:lnTo>
                  <a:lnTo>
                    <a:pt x="34" y="192"/>
                  </a:lnTo>
                  <a:lnTo>
                    <a:pt x="32" y="194"/>
                  </a:lnTo>
                  <a:lnTo>
                    <a:pt x="32" y="194"/>
                  </a:lnTo>
                  <a:lnTo>
                    <a:pt x="30" y="196"/>
                  </a:lnTo>
                  <a:lnTo>
                    <a:pt x="30" y="198"/>
                  </a:lnTo>
                  <a:lnTo>
                    <a:pt x="28" y="198"/>
                  </a:lnTo>
                  <a:lnTo>
                    <a:pt x="28" y="199"/>
                  </a:lnTo>
                  <a:lnTo>
                    <a:pt x="28" y="201"/>
                  </a:lnTo>
                  <a:lnTo>
                    <a:pt x="27" y="201"/>
                  </a:lnTo>
                  <a:lnTo>
                    <a:pt x="25" y="201"/>
                  </a:lnTo>
                  <a:lnTo>
                    <a:pt x="23" y="203"/>
                  </a:lnTo>
                  <a:lnTo>
                    <a:pt x="21" y="203"/>
                  </a:lnTo>
                  <a:lnTo>
                    <a:pt x="21" y="205"/>
                  </a:lnTo>
                  <a:lnTo>
                    <a:pt x="19" y="207"/>
                  </a:lnTo>
                  <a:lnTo>
                    <a:pt x="19" y="209"/>
                  </a:lnTo>
                  <a:lnTo>
                    <a:pt x="19" y="211"/>
                  </a:lnTo>
                  <a:lnTo>
                    <a:pt x="19" y="215"/>
                  </a:lnTo>
                  <a:lnTo>
                    <a:pt x="19" y="217"/>
                  </a:lnTo>
                  <a:lnTo>
                    <a:pt x="15" y="217"/>
                  </a:lnTo>
                  <a:lnTo>
                    <a:pt x="13" y="218"/>
                  </a:lnTo>
                  <a:lnTo>
                    <a:pt x="13" y="218"/>
                  </a:lnTo>
                  <a:lnTo>
                    <a:pt x="7" y="226"/>
                  </a:lnTo>
                  <a:lnTo>
                    <a:pt x="7" y="226"/>
                  </a:lnTo>
                  <a:lnTo>
                    <a:pt x="6" y="226"/>
                  </a:lnTo>
                  <a:lnTo>
                    <a:pt x="6" y="226"/>
                  </a:lnTo>
                  <a:lnTo>
                    <a:pt x="6" y="226"/>
                  </a:lnTo>
                  <a:lnTo>
                    <a:pt x="6" y="228"/>
                  </a:lnTo>
                  <a:lnTo>
                    <a:pt x="6" y="228"/>
                  </a:lnTo>
                  <a:lnTo>
                    <a:pt x="4" y="228"/>
                  </a:lnTo>
                  <a:lnTo>
                    <a:pt x="2" y="230"/>
                  </a:lnTo>
                  <a:lnTo>
                    <a:pt x="0" y="232"/>
                  </a:lnTo>
                  <a:lnTo>
                    <a:pt x="0" y="234"/>
                  </a:lnTo>
                  <a:lnTo>
                    <a:pt x="0" y="234"/>
                  </a:lnTo>
                  <a:lnTo>
                    <a:pt x="4" y="236"/>
                  </a:lnTo>
                  <a:lnTo>
                    <a:pt x="6" y="239"/>
                  </a:lnTo>
                  <a:lnTo>
                    <a:pt x="7" y="243"/>
                  </a:lnTo>
                  <a:lnTo>
                    <a:pt x="9" y="247"/>
                  </a:lnTo>
                  <a:lnTo>
                    <a:pt x="9" y="249"/>
                  </a:lnTo>
                  <a:lnTo>
                    <a:pt x="11" y="251"/>
                  </a:lnTo>
                  <a:lnTo>
                    <a:pt x="11" y="253"/>
                  </a:lnTo>
                  <a:lnTo>
                    <a:pt x="11" y="255"/>
                  </a:lnTo>
                  <a:lnTo>
                    <a:pt x="11" y="256"/>
                  </a:lnTo>
                  <a:lnTo>
                    <a:pt x="11" y="256"/>
                  </a:lnTo>
                  <a:lnTo>
                    <a:pt x="4" y="268"/>
                  </a:lnTo>
                  <a:lnTo>
                    <a:pt x="4" y="270"/>
                  </a:lnTo>
                  <a:lnTo>
                    <a:pt x="4" y="272"/>
                  </a:lnTo>
                  <a:lnTo>
                    <a:pt x="4" y="272"/>
                  </a:lnTo>
                  <a:lnTo>
                    <a:pt x="4" y="272"/>
                  </a:lnTo>
                  <a:lnTo>
                    <a:pt x="6" y="274"/>
                  </a:lnTo>
                  <a:lnTo>
                    <a:pt x="40" y="275"/>
                  </a:lnTo>
                  <a:lnTo>
                    <a:pt x="49" y="275"/>
                  </a:lnTo>
                  <a:lnTo>
                    <a:pt x="61" y="277"/>
                  </a:lnTo>
                  <a:lnTo>
                    <a:pt x="67" y="277"/>
                  </a:lnTo>
                  <a:lnTo>
                    <a:pt x="72" y="279"/>
                  </a:lnTo>
                  <a:lnTo>
                    <a:pt x="74" y="279"/>
                  </a:lnTo>
                  <a:lnTo>
                    <a:pt x="74" y="279"/>
                  </a:lnTo>
                  <a:lnTo>
                    <a:pt x="74" y="279"/>
                  </a:lnTo>
                  <a:lnTo>
                    <a:pt x="76" y="277"/>
                  </a:lnTo>
                  <a:lnTo>
                    <a:pt x="76" y="277"/>
                  </a:lnTo>
                  <a:lnTo>
                    <a:pt x="76" y="277"/>
                  </a:lnTo>
                  <a:lnTo>
                    <a:pt x="80" y="274"/>
                  </a:lnTo>
                  <a:lnTo>
                    <a:pt x="80" y="274"/>
                  </a:lnTo>
                  <a:lnTo>
                    <a:pt x="82" y="274"/>
                  </a:lnTo>
                  <a:lnTo>
                    <a:pt x="82" y="274"/>
                  </a:lnTo>
                  <a:lnTo>
                    <a:pt x="86" y="274"/>
                  </a:lnTo>
                  <a:lnTo>
                    <a:pt x="87" y="272"/>
                  </a:lnTo>
                  <a:lnTo>
                    <a:pt x="89" y="272"/>
                  </a:lnTo>
                  <a:lnTo>
                    <a:pt x="89" y="272"/>
                  </a:lnTo>
                  <a:lnTo>
                    <a:pt x="89" y="274"/>
                  </a:lnTo>
                  <a:lnTo>
                    <a:pt x="91" y="274"/>
                  </a:lnTo>
                  <a:lnTo>
                    <a:pt x="91" y="274"/>
                  </a:lnTo>
                  <a:lnTo>
                    <a:pt x="91" y="275"/>
                  </a:lnTo>
                  <a:lnTo>
                    <a:pt x="93" y="275"/>
                  </a:lnTo>
                  <a:lnTo>
                    <a:pt x="97" y="275"/>
                  </a:lnTo>
                  <a:lnTo>
                    <a:pt x="99" y="275"/>
                  </a:lnTo>
                  <a:lnTo>
                    <a:pt x="99" y="277"/>
                  </a:lnTo>
                  <a:lnTo>
                    <a:pt x="99" y="277"/>
                  </a:lnTo>
                  <a:lnTo>
                    <a:pt x="99" y="277"/>
                  </a:lnTo>
                  <a:lnTo>
                    <a:pt x="101" y="277"/>
                  </a:lnTo>
                  <a:lnTo>
                    <a:pt x="101" y="279"/>
                  </a:lnTo>
                  <a:lnTo>
                    <a:pt x="101" y="279"/>
                  </a:lnTo>
                  <a:lnTo>
                    <a:pt x="101" y="281"/>
                  </a:lnTo>
                  <a:lnTo>
                    <a:pt x="101" y="281"/>
                  </a:lnTo>
                  <a:lnTo>
                    <a:pt x="103" y="283"/>
                  </a:lnTo>
                  <a:lnTo>
                    <a:pt x="105" y="283"/>
                  </a:lnTo>
                  <a:lnTo>
                    <a:pt x="105" y="283"/>
                  </a:lnTo>
                  <a:lnTo>
                    <a:pt x="105" y="283"/>
                  </a:lnTo>
                  <a:lnTo>
                    <a:pt x="107" y="285"/>
                  </a:lnTo>
                  <a:lnTo>
                    <a:pt x="107" y="285"/>
                  </a:lnTo>
                  <a:lnTo>
                    <a:pt x="108" y="285"/>
                  </a:lnTo>
                  <a:lnTo>
                    <a:pt x="110" y="283"/>
                  </a:lnTo>
                  <a:lnTo>
                    <a:pt x="112" y="283"/>
                  </a:lnTo>
                  <a:lnTo>
                    <a:pt x="112" y="283"/>
                  </a:lnTo>
                  <a:lnTo>
                    <a:pt x="112" y="283"/>
                  </a:lnTo>
                  <a:lnTo>
                    <a:pt x="114" y="281"/>
                  </a:lnTo>
                  <a:lnTo>
                    <a:pt x="114" y="281"/>
                  </a:lnTo>
                  <a:lnTo>
                    <a:pt x="114" y="281"/>
                  </a:lnTo>
                  <a:lnTo>
                    <a:pt x="114" y="279"/>
                  </a:lnTo>
                  <a:lnTo>
                    <a:pt x="114" y="279"/>
                  </a:lnTo>
                  <a:lnTo>
                    <a:pt x="114" y="279"/>
                  </a:lnTo>
                  <a:lnTo>
                    <a:pt x="114" y="279"/>
                  </a:lnTo>
                  <a:lnTo>
                    <a:pt x="116" y="279"/>
                  </a:lnTo>
                  <a:lnTo>
                    <a:pt x="116" y="279"/>
                  </a:lnTo>
                  <a:lnTo>
                    <a:pt x="116" y="281"/>
                  </a:lnTo>
                  <a:lnTo>
                    <a:pt x="116" y="281"/>
                  </a:lnTo>
                  <a:lnTo>
                    <a:pt x="116" y="283"/>
                  </a:lnTo>
                  <a:lnTo>
                    <a:pt x="116" y="283"/>
                  </a:lnTo>
                  <a:lnTo>
                    <a:pt x="116" y="283"/>
                  </a:lnTo>
                  <a:lnTo>
                    <a:pt x="116" y="285"/>
                  </a:lnTo>
                  <a:lnTo>
                    <a:pt x="114" y="285"/>
                  </a:lnTo>
                  <a:lnTo>
                    <a:pt x="114" y="285"/>
                  </a:lnTo>
                  <a:lnTo>
                    <a:pt x="114" y="285"/>
                  </a:lnTo>
                  <a:lnTo>
                    <a:pt x="114" y="285"/>
                  </a:lnTo>
                  <a:lnTo>
                    <a:pt x="116" y="285"/>
                  </a:lnTo>
                  <a:lnTo>
                    <a:pt x="116" y="287"/>
                  </a:lnTo>
                  <a:lnTo>
                    <a:pt x="116" y="287"/>
                  </a:lnTo>
                  <a:lnTo>
                    <a:pt x="116" y="289"/>
                  </a:lnTo>
                  <a:lnTo>
                    <a:pt x="116" y="289"/>
                  </a:lnTo>
                  <a:lnTo>
                    <a:pt x="116" y="291"/>
                  </a:lnTo>
                  <a:lnTo>
                    <a:pt x="118" y="291"/>
                  </a:lnTo>
                  <a:lnTo>
                    <a:pt x="118" y="291"/>
                  </a:lnTo>
                  <a:lnTo>
                    <a:pt x="120" y="293"/>
                  </a:lnTo>
                  <a:lnTo>
                    <a:pt x="120" y="293"/>
                  </a:lnTo>
                  <a:lnTo>
                    <a:pt x="120" y="293"/>
                  </a:lnTo>
                  <a:lnTo>
                    <a:pt x="120" y="293"/>
                  </a:lnTo>
                  <a:lnTo>
                    <a:pt x="120" y="293"/>
                  </a:lnTo>
                  <a:lnTo>
                    <a:pt x="120" y="291"/>
                  </a:lnTo>
                  <a:lnTo>
                    <a:pt x="120" y="291"/>
                  </a:lnTo>
                  <a:lnTo>
                    <a:pt x="122" y="289"/>
                  </a:lnTo>
                  <a:lnTo>
                    <a:pt x="122" y="289"/>
                  </a:lnTo>
                  <a:lnTo>
                    <a:pt x="124" y="289"/>
                  </a:lnTo>
                  <a:lnTo>
                    <a:pt x="124" y="289"/>
                  </a:lnTo>
                  <a:lnTo>
                    <a:pt x="124" y="289"/>
                  </a:lnTo>
                  <a:lnTo>
                    <a:pt x="124" y="289"/>
                  </a:lnTo>
                  <a:lnTo>
                    <a:pt x="124" y="291"/>
                  </a:lnTo>
                  <a:lnTo>
                    <a:pt x="126" y="291"/>
                  </a:lnTo>
                  <a:lnTo>
                    <a:pt x="126" y="293"/>
                  </a:lnTo>
                  <a:lnTo>
                    <a:pt x="126" y="293"/>
                  </a:lnTo>
                  <a:lnTo>
                    <a:pt x="128" y="296"/>
                  </a:lnTo>
                  <a:lnTo>
                    <a:pt x="128" y="296"/>
                  </a:lnTo>
                  <a:lnTo>
                    <a:pt x="128" y="296"/>
                  </a:lnTo>
                  <a:lnTo>
                    <a:pt x="128" y="298"/>
                  </a:lnTo>
                  <a:lnTo>
                    <a:pt x="128" y="298"/>
                  </a:lnTo>
                  <a:lnTo>
                    <a:pt x="128" y="298"/>
                  </a:lnTo>
                  <a:lnTo>
                    <a:pt x="128" y="298"/>
                  </a:lnTo>
                  <a:lnTo>
                    <a:pt x="128" y="298"/>
                  </a:lnTo>
                  <a:lnTo>
                    <a:pt x="126" y="298"/>
                  </a:lnTo>
                  <a:lnTo>
                    <a:pt x="126" y="298"/>
                  </a:lnTo>
                  <a:lnTo>
                    <a:pt x="126" y="298"/>
                  </a:lnTo>
                  <a:lnTo>
                    <a:pt x="126" y="298"/>
                  </a:lnTo>
                  <a:lnTo>
                    <a:pt x="126" y="298"/>
                  </a:lnTo>
                  <a:lnTo>
                    <a:pt x="126" y="298"/>
                  </a:lnTo>
                  <a:lnTo>
                    <a:pt x="126" y="298"/>
                  </a:lnTo>
                  <a:lnTo>
                    <a:pt x="126" y="300"/>
                  </a:lnTo>
                  <a:lnTo>
                    <a:pt x="126" y="302"/>
                  </a:lnTo>
                  <a:lnTo>
                    <a:pt x="126" y="302"/>
                  </a:lnTo>
                  <a:lnTo>
                    <a:pt x="126" y="302"/>
                  </a:lnTo>
                  <a:lnTo>
                    <a:pt x="124" y="302"/>
                  </a:lnTo>
                  <a:lnTo>
                    <a:pt x="124" y="304"/>
                  </a:lnTo>
                  <a:lnTo>
                    <a:pt x="124" y="304"/>
                  </a:lnTo>
                  <a:lnTo>
                    <a:pt x="122" y="304"/>
                  </a:lnTo>
                  <a:lnTo>
                    <a:pt x="122" y="304"/>
                  </a:lnTo>
                  <a:lnTo>
                    <a:pt x="122" y="304"/>
                  </a:lnTo>
                  <a:lnTo>
                    <a:pt x="122" y="304"/>
                  </a:lnTo>
                  <a:lnTo>
                    <a:pt x="124" y="306"/>
                  </a:lnTo>
                  <a:lnTo>
                    <a:pt x="124" y="308"/>
                  </a:lnTo>
                  <a:lnTo>
                    <a:pt x="124" y="308"/>
                  </a:lnTo>
                  <a:lnTo>
                    <a:pt x="124" y="308"/>
                  </a:lnTo>
                  <a:lnTo>
                    <a:pt x="124" y="308"/>
                  </a:lnTo>
                  <a:lnTo>
                    <a:pt x="124" y="308"/>
                  </a:lnTo>
                  <a:lnTo>
                    <a:pt x="124" y="310"/>
                  </a:lnTo>
                  <a:lnTo>
                    <a:pt x="126" y="310"/>
                  </a:lnTo>
                  <a:lnTo>
                    <a:pt x="126" y="312"/>
                  </a:lnTo>
                  <a:lnTo>
                    <a:pt x="126" y="312"/>
                  </a:lnTo>
                  <a:lnTo>
                    <a:pt x="126" y="312"/>
                  </a:lnTo>
                  <a:lnTo>
                    <a:pt x="126" y="314"/>
                  </a:lnTo>
                  <a:lnTo>
                    <a:pt x="128" y="314"/>
                  </a:lnTo>
                  <a:lnTo>
                    <a:pt x="128" y="314"/>
                  </a:lnTo>
                  <a:lnTo>
                    <a:pt x="128" y="315"/>
                  </a:lnTo>
                  <a:lnTo>
                    <a:pt x="128" y="317"/>
                  </a:lnTo>
                  <a:lnTo>
                    <a:pt x="129" y="317"/>
                  </a:lnTo>
                  <a:lnTo>
                    <a:pt x="131" y="317"/>
                  </a:lnTo>
                  <a:lnTo>
                    <a:pt x="133" y="315"/>
                  </a:lnTo>
                  <a:lnTo>
                    <a:pt x="133" y="315"/>
                  </a:lnTo>
                  <a:lnTo>
                    <a:pt x="135" y="315"/>
                  </a:lnTo>
                  <a:lnTo>
                    <a:pt x="133" y="314"/>
                  </a:lnTo>
                  <a:lnTo>
                    <a:pt x="133" y="314"/>
                  </a:lnTo>
                  <a:lnTo>
                    <a:pt x="133" y="312"/>
                  </a:lnTo>
                  <a:lnTo>
                    <a:pt x="133" y="312"/>
                  </a:lnTo>
                  <a:lnTo>
                    <a:pt x="133" y="310"/>
                  </a:lnTo>
                  <a:lnTo>
                    <a:pt x="135" y="308"/>
                  </a:lnTo>
                  <a:lnTo>
                    <a:pt x="135" y="306"/>
                  </a:lnTo>
                  <a:lnTo>
                    <a:pt x="137" y="306"/>
                  </a:lnTo>
                  <a:lnTo>
                    <a:pt x="137" y="308"/>
                  </a:lnTo>
                  <a:lnTo>
                    <a:pt x="137" y="306"/>
                  </a:lnTo>
                  <a:lnTo>
                    <a:pt x="139" y="306"/>
                  </a:lnTo>
                  <a:lnTo>
                    <a:pt x="139" y="306"/>
                  </a:lnTo>
                  <a:lnTo>
                    <a:pt x="139" y="304"/>
                  </a:lnTo>
                  <a:lnTo>
                    <a:pt x="139" y="304"/>
                  </a:lnTo>
                  <a:lnTo>
                    <a:pt x="141" y="302"/>
                  </a:lnTo>
                  <a:lnTo>
                    <a:pt x="141" y="300"/>
                  </a:lnTo>
                  <a:lnTo>
                    <a:pt x="145" y="296"/>
                  </a:lnTo>
                  <a:lnTo>
                    <a:pt x="147" y="295"/>
                  </a:lnTo>
                  <a:lnTo>
                    <a:pt x="147" y="291"/>
                  </a:lnTo>
                  <a:lnTo>
                    <a:pt x="148" y="291"/>
                  </a:lnTo>
                  <a:lnTo>
                    <a:pt x="148" y="291"/>
                  </a:lnTo>
                  <a:lnTo>
                    <a:pt x="150" y="293"/>
                  </a:lnTo>
                  <a:lnTo>
                    <a:pt x="154" y="293"/>
                  </a:lnTo>
                  <a:lnTo>
                    <a:pt x="156" y="295"/>
                  </a:lnTo>
                  <a:lnTo>
                    <a:pt x="156" y="293"/>
                  </a:lnTo>
                  <a:lnTo>
                    <a:pt x="156" y="295"/>
                  </a:lnTo>
                  <a:lnTo>
                    <a:pt x="160" y="295"/>
                  </a:lnTo>
                  <a:lnTo>
                    <a:pt x="162" y="296"/>
                  </a:lnTo>
                  <a:lnTo>
                    <a:pt x="164" y="296"/>
                  </a:lnTo>
                  <a:lnTo>
                    <a:pt x="166" y="295"/>
                  </a:lnTo>
                  <a:lnTo>
                    <a:pt x="168" y="295"/>
                  </a:lnTo>
                  <a:lnTo>
                    <a:pt x="171" y="296"/>
                  </a:lnTo>
                  <a:lnTo>
                    <a:pt x="171" y="295"/>
                  </a:lnTo>
                  <a:lnTo>
                    <a:pt x="173" y="295"/>
                  </a:lnTo>
                  <a:lnTo>
                    <a:pt x="173" y="295"/>
                  </a:lnTo>
                  <a:lnTo>
                    <a:pt x="173" y="293"/>
                  </a:lnTo>
                  <a:lnTo>
                    <a:pt x="173" y="293"/>
                  </a:lnTo>
                  <a:lnTo>
                    <a:pt x="173" y="291"/>
                  </a:lnTo>
                  <a:lnTo>
                    <a:pt x="177" y="289"/>
                  </a:lnTo>
                  <a:lnTo>
                    <a:pt x="179" y="289"/>
                  </a:lnTo>
                  <a:lnTo>
                    <a:pt x="179" y="289"/>
                  </a:lnTo>
                  <a:lnTo>
                    <a:pt x="181" y="289"/>
                  </a:lnTo>
                  <a:lnTo>
                    <a:pt x="183" y="289"/>
                  </a:lnTo>
                  <a:lnTo>
                    <a:pt x="183" y="291"/>
                  </a:lnTo>
                  <a:lnTo>
                    <a:pt x="185" y="293"/>
                  </a:lnTo>
                  <a:lnTo>
                    <a:pt x="185" y="293"/>
                  </a:lnTo>
                  <a:lnTo>
                    <a:pt x="187" y="296"/>
                  </a:lnTo>
                  <a:lnTo>
                    <a:pt x="187" y="296"/>
                  </a:lnTo>
                  <a:lnTo>
                    <a:pt x="188" y="298"/>
                  </a:lnTo>
                  <a:lnTo>
                    <a:pt x="190" y="298"/>
                  </a:lnTo>
                  <a:lnTo>
                    <a:pt x="192" y="298"/>
                  </a:lnTo>
                  <a:lnTo>
                    <a:pt x="194" y="298"/>
                  </a:lnTo>
                  <a:lnTo>
                    <a:pt x="196" y="298"/>
                  </a:lnTo>
                  <a:lnTo>
                    <a:pt x="198" y="296"/>
                  </a:lnTo>
                  <a:lnTo>
                    <a:pt x="198" y="296"/>
                  </a:lnTo>
                  <a:lnTo>
                    <a:pt x="202" y="296"/>
                  </a:lnTo>
                  <a:lnTo>
                    <a:pt x="202" y="296"/>
                  </a:lnTo>
                  <a:lnTo>
                    <a:pt x="204" y="296"/>
                  </a:lnTo>
                  <a:lnTo>
                    <a:pt x="206" y="293"/>
                  </a:lnTo>
                  <a:lnTo>
                    <a:pt x="209" y="291"/>
                  </a:lnTo>
                  <a:lnTo>
                    <a:pt x="211" y="289"/>
                  </a:lnTo>
                  <a:lnTo>
                    <a:pt x="213" y="289"/>
                  </a:lnTo>
                  <a:lnTo>
                    <a:pt x="215" y="287"/>
                  </a:lnTo>
                  <a:lnTo>
                    <a:pt x="219" y="287"/>
                  </a:lnTo>
                  <a:lnTo>
                    <a:pt x="219" y="285"/>
                  </a:lnTo>
                  <a:lnTo>
                    <a:pt x="219" y="283"/>
                  </a:lnTo>
                  <a:lnTo>
                    <a:pt x="219" y="283"/>
                  </a:lnTo>
                  <a:lnTo>
                    <a:pt x="217" y="281"/>
                  </a:lnTo>
                  <a:lnTo>
                    <a:pt x="217" y="281"/>
                  </a:lnTo>
                  <a:lnTo>
                    <a:pt x="215" y="281"/>
                  </a:lnTo>
                  <a:lnTo>
                    <a:pt x="215" y="279"/>
                  </a:lnTo>
                  <a:lnTo>
                    <a:pt x="215" y="279"/>
                  </a:lnTo>
                  <a:lnTo>
                    <a:pt x="215" y="277"/>
                  </a:lnTo>
                  <a:lnTo>
                    <a:pt x="215" y="277"/>
                  </a:lnTo>
                  <a:lnTo>
                    <a:pt x="215" y="275"/>
                  </a:lnTo>
                  <a:lnTo>
                    <a:pt x="215" y="274"/>
                  </a:lnTo>
                  <a:lnTo>
                    <a:pt x="217" y="268"/>
                  </a:lnTo>
                  <a:lnTo>
                    <a:pt x="217" y="268"/>
                  </a:lnTo>
                  <a:lnTo>
                    <a:pt x="219" y="266"/>
                  </a:lnTo>
                  <a:lnTo>
                    <a:pt x="219" y="266"/>
                  </a:lnTo>
                  <a:lnTo>
                    <a:pt x="219" y="266"/>
                  </a:lnTo>
                  <a:lnTo>
                    <a:pt x="219" y="266"/>
                  </a:lnTo>
                  <a:lnTo>
                    <a:pt x="219" y="264"/>
                  </a:lnTo>
                  <a:lnTo>
                    <a:pt x="219" y="264"/>
                  </a:lnTo>
                  <a:lnTo>
                    <a:pt x="219" y="264"/>
                  </a:lnTo>
                  <a:lnTo>
                    <a:pt x="219" y="262"/>
                  </a:lnTo>
                  <a:lnTo>
                    <a:pt x="219" y="262"/>
                  </a:lnTo>
                  <a:lnTo>
                    <a:pt x="219" y="262"/>
                  </a:lnTo>
                  <a:lnTo>
                    <a:pt x="221" y="262"/>
                  </a:lnTo>
                  <a:lnTo>
                    <a:pt x="223" y="262"/>
                  </a:lnTo>
                  <a:lnTo>
                    <a:pt x="221" y="260"/>
                  </a:lnTo>
                  <a:lnTo>
                    <a:pt x="221" y="260"/>
                  </a:lnTo>
                  <a:lnTo>
                    <a:pt x="219" y="260"/>
                  </a:lnTo>
                  <a:lnTo>
                    <a:pt x="219" y="260"/>
                  </a:lnTo>
                  <a:lnTo>
                    <a:pt x="217" y="258"/>
                  </a:lnTo>
                  <a:lnTo>
                    <a:pt x="217" y="258"/>
                  </a:lnTo>
                  <a:lnTo>
                    <a:pt x="217" y="258"/>
                  </a:lnTo>
                  <a:lnTo>
                    <a:pt x="217" y="256"/>
                  </a:lnTo>
                  <a:lnTo>
                    <a:pt x="219" y="256"/>
                  </a:lnTo>
                  <a:lnTo>
                    <a:pt x="219" y="256"/>
                  </a:lnTo>
                  <a:lnTo>
                    <a:pt x="219" y="256"/>
                  </a:lnTo>
                  <a:lnTo>
                    <a:pt x="223" y="258"/>
                  </a:lnTo>
                  <a:lnTo>
                    <a:pt x="223" y="258"/>
                  </a:lnTo>
                  <a:lnTo>
                    <a:pt x="225" y="258"/>
                  </a:lnTo>
                  <a:lnTo>
                    <a:pt x="225" y="258"/>
                  </a:lnTo>
                  <a:lnTo>
                    <a:pt x="227" y="260"/>
                  </a:lnTo>
                  <a:lnTo>
                    <a:pt x="227" y="260"/>
                  </a:lnTo>
                  <a:lnTo>
                    <a:pt x="229" y="260"/>
                  </a:lnTo>
                  <a:lnTo>
                    <a:pt x="229" y="258"/>
                  </a:lnTo>
                  <a:lnTo>
                    <a:pt x="229" y="258"/>
                  </a:lnTo>
                  <a:lnTo>
                    <a:pt x="229" y="258"/>
                  </a:lnTo>
                  <a:lnTo>
                    <a:pt x="229" y="256"/>
                  </a:lnTo>
                  <a:lnTo>
                    <a:pt x="229" y="256"/>
                  </a:lnTo>
                  <a:lnTo>
                    <a:pt x="229" y="256"/>
                  </a:lnTo>
                  <a:lnTo>
                    <a:pt x="230" y="256"/>
                  </a:lnTo>
                  <a:lnTo>
                    <a:pt x="230" y="256"/>
                  </a:lnTo>
                  <a:lnTo>
                    <a:pt x="232" y="258"/>
                  </a:lnTo>
                  <a:lnTo>
                    <a:pt x="232" y="258"/>
                  </a:lnTo>
                  <a:lnTo>
                    <a:pt x="232" y="258"/>
                  </a:lnTo>
                  <a:lnTo>
                    <a:pt x="232" y="258"/>
                  </a:lnTo>
                  <a:lnTo>
                    <a:pt x="234" y="258"/>
                  </a:lnTo>
                  <a:lnTo>
                    <a:pt x="234" y="258"/>
                  </a:lnTo>
                  <a:lnTo>
                    <a:pt x="234" y="256"/>
                  </a:lnTo>
                  <a:lnTo>
                    <a:pt x="234" y="255"/>
                  </a:lnTo>
                  <a:lnTo>
                    <a:pt x="234" y="255"/>
                  </a:lnTo>
                  <a:lnTo>
                    <a:pt x="234" y="255"/>
                  </a:lnTo>
                  <a:lnTo>
                    <a:pt x="234" y="253"/>
                  </a:lnTo>
                  <a:lnTo>
                    <a:pt x="234" y="253"/>
                  </a:lnTo>
                  <a:lnTo>
                    <a:pt x="234" y="253"/>
                  </a:lnTo>
                  <a:lnTo>
                    <a:pt x="234" y="251"/>
                  </a:lnTo>
                  <a:lnTo>
                    <a:pt x="236" y="251"/>
                  </a:lnTo>
                  <a:lnTo>
                    <a:pt x="236" y="251"/>
                  </a:lnTo>
                  <a:lnTo>
                    <a:pt x="236" y="251"/>
                  </a:lnTo>
                  <a:lnTo>
                    <a:pt x="238" y="253"/>
                  </a:lnTo>
                  <a:lnTo>
                    <a:pt x="238" y="256"/>
                  </a:lnTo>
                  <a:lnTo>
                    <a:pt x="238" y="258"/>
                  </a:lnTo>
                  <a:lnTo>
                    <a:pt x="240" y="260"/>
                  </a:lnTo>
                  <a:lnTo>
                    <a:pt x="240" y="260"/>
                  </a:lnTo>
                  <a:lnTo>
                    <a:pt x="242" y="260"/>
                  </a:lnTo>
                  <a:lnTo>
                    <a:pt x="244" y="262"/>
                  </a:lnTo>
                  <a:lnTo>
                    <a:pt x="244" y="262"/>
                  </a:lnTo>
                  <a:lnTo>
                    <a:pt x="248" y="262"/>
                  </a:lnTo>
                  <a:lnTo>
                    <a:pt x="253" y="258"/>
                  </a:lnTo>
                  <a:lnTo>
                    <a:pt x="257" y="256"/>
                  </a:lnTo>
                  <a:lnTo>
                    <a:pt x="257" y="255"/>
                  </a:lnTo>
                  <a:lnTo>
                    <a:pt x="257" y="255"/>
                  </a:lnTo>
                  <a:lnTo>
                    <a:pt x="257" y="253"/>
                  </a:lnTo>
                  <a:lnTo>
                    <a:pt x="257" y="251"/>
                  </a:lnTo>
                  <a:lnTo>
                    <a:pt x="257" y="251"/>
                  </a:lnTo>
                  <a:lnTo>
                    <a:pt x="257" y="251"/>
                  </a:lnTo>
                  <a:lnTo>
                    <a:pt x="257" y="249"/>
                  </a:lnTo>
                  <a:lnTo>
                    <a:pt x="257" y="249"/>
                  </a:lnTo>
                  <a:lnTo>
                    <a:pt x="257" y="249"/>
                  </a:lnTo>
                  <a:lnTo>
                    <a:pt x="257" y="249"/>
                  </a:lnTo>
                  <a:lnTo>
                    <a:pt x="255" y="249"/>
                  </a:lnTo>
                  <a:lnTo>
                    <a:pt x="255" y="247"/>
                  </a:lnTo>
                  <a:lnTo>
                    <a:pt x="255" y="247"/>
                  </a:lnTo>
                  <a:lnTo>
                    <a:pt x="253" y="247"/>
                  </a:lnTo>
                  <a:lnTo>
                    <a:pt x="253" y="247"/>
                  </a:lnTo>
                  <a:lnTo>
                    <a:pt x="253" y="245"/>
                  </a:lnTo>
                  <a:lnTo>
                    <a:pt x="253" y="245"/>
                  </a:lnTo>
                  <a:lnTo>
                    <a:pt x="253" y="245"/>
                  </a:lnTo>
                  <a:lnTo>
                    <a:pt x="253" y="245"/>
                  </a:lnTo>
                  <a:lnTo>
                    <a:pt x="253" y="245"/>
                  </a:lnTo>
                  <a:lnTo>
                    <a:pt x="251" y="245"/>
                  </a:lnTo>
                  <a:lnTo>
                    <a:pt x="251" y="245"/>
                  </a:lnTo>
                  <a:lnTo>
                    <a:pt x="249" y="247"/>
                  </a:lnTo>
                  <a:lnTo>
                    <a:pt x="249" y="247"/>
                  </a:lnTo>
                  <a:lnTo>
                    <a:pt x="249" y="247"/>
                  </a:lnTo>
                  <a:lnTo>
                    <a:pt x="249" y="247"/>
                  </a:lnTo>
                  <a:lnTo>
                    <a:pt x="248" y="247"/>
                  </a:lnTo>
                  <a:lnTo>
                    <a:pt x="248" y="247"/>
                  </a:lnTo>
                  <a:lnTo>
                    <a:pt x="248" y="245"/>
                  </a:lnTo>
                  <a:lnTo>
                    <a:pt x="248" y="245"/>
                  </a:lnTo>
                  <a:lnTo>
                    <a:pt x="249" y="243"/>
                  </a:lnTo>
                  <a:lnTo>
                    <a:pt x="251" y="243"/>
                  </a:lnTo>
                  <a:lnTo>
                    <a:pt x="255" y="241"/>
                  </a:lnTo>
                  <a:lnTo>
                    <a:pt x="255" y="241"/>
                  </a:lnTo>
                  <a:lnTo>
                    <a:pt x="257" y="239"/>
                  </a:lnTo>
                  <a:lnTo>
                    <a:pt x="259" y="239"/>
                  </a:lnTo>
                  <a:lnTo>
                    <a:pt x="265" y="236"/>
                  </a:lnTo>
                  <a:lnTo>
                    <a:pt x="267" y="234"/>
                  </a:lnTo>
                  <a:lnTo>
                    <a:pt x="267" y="234"/>
                  </a:lnTo>
                  <a:lnTo>
                    <a:pt x="267" y="232"/>
                  </a:lnTo>
                  <a:lnTo>
                    <a:pt x="267" y="232"/>
                  </a:lnTo>
                  <a:lnTo>
                    <a:pt x="267" y="232"/>
                  </a:lnTo>
                  <a:lnTo>
                    <a:pt x="265" y="232"/>
                  </a:lnTo>
                  <a:lnTo>
                    <a:pt x="265" y="232"/>
                  </a:lnTo>
                  <a:lnTo>
                    <a:pt x="265" y="232"/>
                  </a:lnTo>
                  <a:lnTo>
                    <a:pt x="265" y="230"/>
                  </a:lnTo>
                  <a:lnTo>
                    <a:pt x="265" y="228"/>
                  </a:lnTo>
                  <a:lnTo>
                    <a:pt x="265" y="226"/>
                  </a:lnTo>
                  <a:lnTo>
                    <a:pt x="267" y="226"/>
                  </a:lnTo>
                  <a:lnTo>
                    <a:pt x="269" y="224"/>
                  </a:lnTo>
                  <a:lnTo>
                    <a:pt x="269" y="224"/>
                  </a:lnTo>
                  <a:lnTo>
                    <a:pt x="270" y="226"/>
                  </a:lnTo>
                  <a:lnTo>
                    <a:pt x="272" y="226"/>
                  </a:lnTo>
                  <a:lnTo>
                    <a:pt x="274" y="226"/>
                  </a:lnTo>
                  <a:lnTo>
                    <a:pt x="276" y="226"/>
                  </a:lnTo>
                  <a:lnTo>
                    <a:pt x="276" y="226"/>
                  </a:lnTo>
                  <a:lnTo>
                    <a:pt x="278" y="228"/>
                  </a:lnTo>
                  <a:lnTo>
                    <a:pt x="278" y="230"/>
                  </a:lnTo>
                  <a:lnTo>
                    <a:pt x="278" y="232"/>
                  </a:lnTo>
                  <a:lnTo>
                    <a:pt x="280" y="234"/>
                  </a:lnTo>
                  <a:lnTo>
                    <a:pt x="280" y="232"/>
                  </a:lnTo>
                  <a:lnTo>
                    <a:pt x="282" y="232"/>
                  </a:lnTo>
                  <a:lnTo>
                    <a:pt x="282" y="230"/>
                  </a:lnTo>
                  <a:lnTo>
                    <a:pt x="282" y="228"/>
                  </a:lnTo>
                  <a:lnTo>
                    <a:pt x="282" y="228"/>
                  </a:lnTo>
                  <a:lnTo>
                    <a:pt x="282" y="224"/>
                  </a:lnTo>
                  <a:close/>
                </a:path>
              </a:pathLst>
            </a:custGeom>
            <a:solidFill>
              <a:srgbClr val="DCDDDF"/>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74" name="Freeform 23">
              <a:extLst>
                <a:ext uri="{FF2B5EF4-FFF2-40B4-BE49-F238E27FC236}">
                  <a16:creationId xmlns:a16="http://schemas.microsoft.com/office/drawing/2014/main" id="{884D7F64-AED7-6788-E7FB-62E2DFB971BC}"/>
                </a:ext>
              </a:extLst>
            </p:cNvPr>
            <p:cNvSpPr>
              <a:spLocks/>
            </p:cNvSpPr>
            <p:nvPr/>
          </p:nvSpPr>
          <p:spPr bwMode="auto">
            <a:xfrm>
              <a:off x="2002220" y="2021011"/>
              <a:ext cx="532001" cy="536215"/>
            </a:xfrm>
            <a:custGeom>
              <a:avLst/>
              <a:gdLst>
                <a:gd name="T0" fmla="*/ 282 w 282"/>
                <a:gd name="T1" fmla="*/ 211 h 317"/>
                <a:gd name="T2" fmla="*/ 278 w 282"/>
                <a:gd name="T3" fmla="*/ 198 h 317"/>
                <a:gd name="T4" fmla="*/ 270 w 282"/>
                <a:gd name="T5" fmla="*/ 199 h 317"/>
                <a:gd name="T6" fmla="*/ 267 w 282"/>
                <a:gd name="T7" fmla="*/ 186 h 317"/>
                <a:gd name="T8" fmla="*/ 272 w 282"/>
                <a:gd name="T9" fmla="*/ 180 h 317"/>
                <a:gd name="T10" fmla="*/ 255 w 282"/>
                <a:gd name="T11" fmla="*/ 158 h 317"/>
                <a:gd name="T12" fmla="*/ 257 w 282"/>
                <a:gd name="T13" fmla="*/ 140 h 317"/>
                <a:gd name="T14" fmla="*/ 249 w 282"/>
                <a:gd name="T15" fmla="*/ 135 h 317"/>
                <a:gd name="T16" fmla="*/ 246 w 282"/>
                <a:gd name="T17" fmla="*/ 133 h 317"/>
                <a:gd name="T18" fmla="*/ 238 w 282"/>
                <a:gd name="T19" fmla="*/ 129 h 317"/>
                <a:gd name="T20" fmla="*/ 229 w 282"/>
                <a:gd name="T21" fmla="*/ 127 h 317"/>
                <a:gd name="T22" fmla="*/ 217 w 282"/>
                <a:gd name="T23" fmla="*/ 131 h 317"/>
                <a:gd name="T24" fmla="*/ 192 w 282"/>
                <a:gd name="T25" fmla="*/ 74 h 317"/>
                <a:gd name="T26" fmla="*/ 175 w 282"/>
                <a:gd name="T27" fmla="*/ 53 h 317"/>
                <a:gd name="T28" fmla="*/ 168 w 282"/>
                <a:gd name="T29" fmla="*/ 38 h 317"/>
                <a:gd name="T30" fmla="*/ 162 w 282"/>
                <a:gd name="T31" fmla="*/ 30 h 317"/>
                <a:gd name="T32" fmla="*/ 190 w 282"/>
                <a:gd name="T33" fmla="*/ 9 h 317"/>
                <a:gd name="T34" fmla="*/ 173 w 282"/>
                <a:gd name="T35" fmla="*/ 9 h 317"/>
                <a:gd name="T36" fmla="*/ 148 w 282"/>
                <a:gd name="T37" fmla="*/ 21 h 317"/>
                <a:gd name="T38" fmla="*/ 137 w 282"/>
                <a:gd name="T39" fmla="*/ 23 h 317"/>
                <a:gd name="T40" fmla="*/ 122 w 282"/>
                <a:gd name="T41" fmla="*/ 43 h 317"/>
                <a:gd name="T42" fmla="*/ 107 w 282"/>
                <a:gd name="T43" fmla="*/ 49 h 317"/>
                <a:gd name="T44" fmla="*/ 87 w 282"/>
                <a:gd name="T45" fmla="*/ 59 h 317"/>
                <a:gd name="T46" fmla="*/ 63 w 282"/>
                <a:gd name="T47" fmla="*/ 82 h 317"/>
                <a:gd name="T48" fmla="*/ 65 w 282"/>
                <a:gd name="T49" fmla="*/ 99 h 317"/>
                <a:gd name="T50" fmla="*/ 61 w 282"/>
                <a:gd name="T51" fmla="*/ 144 h 317"/>
                <a:gd name="T52" fmla="*/ 67 w 282"/>
                <a:gd name="T53" fmla="*/ 159 h 317"/>
                <a:gd name="T54" fmla="*/ 51 w 282"/>
                <a:gd name="T55" fmla="*/ 175 h 317"/>
                <a:gd name="T56" fmla="*/ 38 w 282"/>
                <a:gd name="T57" fmla="*/ 184 h 317"/>
                <a:gd name="T58" fmla="*/ 28 w 282"/>
                <a:gd name="T59" fmla="*/ 198 h 317"/>
                <a:gd name="T60" fmla="*/ 19 w 282"/>
                <a:gd name="T61" fmla="*/ 217 h 317"/>
                <a:gd name="T62" fmla="*/ 2 w 282"/>
                <a:gd name="T63" fmla="*/ 230 h 317"/>
                <a:gd name="T64" fmla="*/ 11 w 282"/>
                <a:gd name="T65" fmla="*/ 256 h 317"/>
                <a:gd name="T66" fmla="*/ 72 w 282"/>
                <a:gd name="T67" fmla="*/ 279 h 317"/>
                <a:gd name="T68" fmla="*/ 87 w 282"/>
                <a:gd name="T69" fmla="*/ 272 h 317"/>
                <a:gd name="T70" fmla="*/ 99 w 282"/>
                <a:gd name="T71" fmla="*/ 277 h 317"/>
                <a:gd name="T72" fmla="*/ 108 w 282"/>
                <a:gd name="T73" fmla="*/ 285 h 317"/>
                <a:gd name="T74" fmla="*/ 116 w 282"/>
                <a:gd name="T75" fmla="*/ 279 h 317"/>
                <a:gd name="T76" fmla="*/ 116 w 282"/>
                <a:gd name="T77" fmla="*/ 285 h 317"/>
                <a:gd name="T78" fmla="*/ 120 w 282"/>
                <a:gd name="T79" fmla="*/ 293 h 317"/>
                <a:gd name="T80" fmla="*/ 126 w 282"/>
                <a:gd name="T81" fmla="*/ 293 h 317"/>
                <a:gd name="T82" fmla="*/ 126 w 282"/>
                <a:gd name="T83" fmla="*/ 298 h 317"/>
                <a:gd name="T84" fmla="*/ 122 w 282"/>
                <a:gd name="T85" fmla="*/ 304 h 317"/>
                <a:gd name="T86" fmla="*/ 126 w 282"/>
                <a:gd name="T87" fmla="*/ 312 h 317"/>
                <a:gd name="T88" fmla="*/ 133 w 282"/>
                <a:gd name="T89" fmla="*/ 314 h 317"/>
                <a:gd name="T90" fmla="*/ 139 w 282"/>
                <a:gd name="T91" fmla="*/ 304 h 317"/>
                <a:gd name="T92" fmla="*/ 156 w 282"/>
                <a:gd name="T93" fmla="*/ 293 h 317"/>
                <a:gd name="T94" fmla="*/ 173 w 282"/>
                <a:gd name="T95" fmla="*/ 293 h 317"/>
                <a:gd name="T96" fmla="*/ 188 w 282"/>
                <a:gd name="T97" fmla="*/ 298 h 317"/>
                <a:gd name="T98" fmla="*/ 211 w 282"/>
                <a:gd name="T99" fmla="*/ 289 h 317"/>
                <a:gd name="T100" fmla="*/ 215 w 282"/>
                <a:gd name="T101" fmla="*/ 277 h 317"/>
                <a:gd name="T102" fmla="*/ 219 w 282"/>
                <a:gd name="T103" fmla="*/ 264 h 317"/>
                <a:gd name="T104" fmla="*/ 217 w 282"/>
                <a:gd name="T105" fmla="*/ 258 h 317"/>
                <a:gd name="T106" fmla="*/ 229 w 282"/>
                <a:gd name="T107" fmla="*/ 258 h 317"/>
                <a:gd name="T108" fmla="*/ 234 w 282"/>
                <a:gd name="T109" fmla="*/ 258 h 317"/>
                <a:gd name="T110" fmla="*/ 236 w 282"/>
                <a:gd name="T111" fmla="*/ 251 h 317"/>
                <a:gd name="T112" fmla="*/ 257 w 282"/>
                <a:gd name="T113" fmla="*/ 255 h 317"/>
                <a:gd name="T114" fmla="*/ 255 w 282"/>
                <a:gd name="T115" fmla="*/ 247 h 317"/>
                <a:gd name="T116" fmla="*/ 249 w 282"/>
                <a:gd name="T117" fmla="*/ 247 h 317"/>
                <a:gd name="T118" fmla="*/ 265 w 282"/>
                <a:gd name="T119" fmla="*/ 236 h 317"/>
                <a:gd name="T120" fmla="*/ 267 w 282"/>
                <a:gd name="T121" fmla="*/ 226 h 317"/>
                <a:gd name="T122" fmla="*/ 280 w 282"/>
                <a:gd name="T123" fmla="*/ 232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2" h="317">
                  <a:moveTo>
                    <a:pt x="282" y="224"/>
                  </a:moveTo>
                  <a:lnTo>
                    <a:pt x="282" y="222"/>
                  </a:lnTo>
                  <a:lnTo>
                    <a:pt x="282" y="218"/>
                  </a:lnTo>
                  <a:lnTo>
                    <a:pt x="282" y="218"/>
                  </a:lnTo>
                  <a:lnTo>
                    <a:pt x="282" y="218"/>
                  </a:lnTo>
                  <a:lnTo>
                    <a:pt x="282" y="217"/>
                  </a:lnTo>
                  <a:lnTo>
                    <a:pt x="282" y="217"/>
                  </a:lnTo>
                  <a:lnTo>
                    <a:pt x="282" y="215"/>
                  </a:lnTo>
                  <a:lnTo>
                    <a:pt x="282" y="215"/>
                  </a:lnTo>
                  <a:lnTo>
                    <a:pt x="282" y="215"/>
                  </a:lnTo>
                  <a:lnTo>
                    <a:pt x="282" y="213"/>
                  </a:lnTo>
                  <a:lnTo>
                    <a:pt x="282" y="211"/>
                  </a:lnTo>
                  <a:lnTo>
                    <a:pt x="282" y="207"/>
                  </a:lnTo>
                  <a:lnTo>
                    <a:pt x="282" y="207"/>
                  </a:lnTo>
                  <a:lnTo>
                    <a:pt x="282" y="207"/>
                  </a:lnTo>
                  <a:lnTo>
                    <a:pt x="282" y="205"/>
                  </a:lnTo>
                  <a:lnTo>
                    <a:pt x="280" y="203"/>
                  </a:lnTo>
                  <a:lnTo>
                    <a:pt x="280" y="203"/>
                  </a:lnTo>
                  <a:lnTo>
                    <a:pt x="280" y="203"/>
                  </a:lnTo>
                  <a:lnTo>
                    <a:pt x="280" y="203"/>
                  </a:lnTo>
                  <a:lnTo>
                    <a:pt x="278" y="203"/>
                  </a:lnTo>
                  <a:lnTo>
                    <a:pt x="278" y="201"/>
                  </a:lnTo>
                  <a:lnTo>
                    <a:pt x="278" y="199"/>
                  </a:lnTo>
                  <a:lnTo>
                    <a:pt x="278" y="198"/>
                  </a:lnTo>
                  <a:lnTo>
                    <a:pt x="278" y="198"/>
                  </a:lnTo>
                  <a:lnTo>
                    <a:pt x="276" y="198"/>
                  </a:lnTo>
                  <a:lnTo>
                    <a:pt x="276" y="198"/>
                  </a:lnTo>
                  <a:lnTo>
                    <a:pt x="276" y="198"/>
                  </a:lnTo>
                  <a:lnTo>
                    <a:pt x="276" y="199"/>
                  </a:lnTo>
                  <a:lnTo>
                    <a:pt x="274" y="198"/>
                  </a:lnTo>
                  <a:lnTo>
                    <a:pt x="274" y="198"/>
                  </a:lnTo>
                  <a:lnTo>
                    <a:pt x="272" y="198"/>
                  </a:lnTo>
                  <a:lnTo>
                    <a:pt x="272" y="198"/>
                  </a:lnTo>
                  <a:lnTo>
                    <a:pt x="272" y="198"/>
                  </a:lnTo>
                  <a:lnTo>
                    <a:pt x="270" y="199"/>
                  </a:lnTo>
                  <a:lnTo>
                    <a:pt x="270" y="199"/>
                  </a:lnTo>
                  <a:lnTo>
                    <a:pt x="270" y="199"/>
                  </a:lnTo>
                  <a:lnTo>
                    <a:pt x="270" y="198"/>
                  </a:lnTo>
                  <a:lnTo>
                    <a:pt x="269" y="198"/>
                  </a:lnTo>
                  <a:lnTo>
                    <a:pt x="267" y="194"/>
                  </a:lnTo>
                  <a:lnTo>
                    <a:pt x="263" y="192"/>
                  </a:lnTo>
                  <a:lnTo>
                    <a:pt x="263" y="192"/>
                  </a:lnTo>
                  <a:lnTo>
                    <a:pt x="263" y="190"/>
                  </a:lnTo>
                  <a:lnTo>
                    <a:pt x="263" y="190"/>
                  </a:lnTo>
                  <a:lnTo>
                    <a:pt x="263" y="188"/>
                  </a:lnTo>
                  <a:lnTo>
                    <a:pt x="263" y="188"/>
                  </a:lnTo>
                  <a:lnTo>
                    <a:pt x="263" y="188"/>
                  </a:lnTo>
                  <a:lnTo>
                    <a:pt x="267" y="186"/>
                  </a:lnTo>
                  <a:lnTo>
                    <a:pt x="269" y="186"/>
                  </a:lnTo>
                  <a:lnTo>
                    <a:pt x="270" y="186"/>
                  </a:lnTo>
                  <a:lnTo>
                    <a:pt x="274" y="186"/>
                  </a:lnTo>
                  <a:lnTo>
                    <a:pt x="274" y="184"/>
                  </a:lnTo>
                  <a:lnTo>
                    <a:pt x="276" y="182"/>
                  </a:lnTo>
                  <a:lnTo>
                    <a:pt x="276" y="182"/>
                  </a:lnTo>
                  <a:lnTo>
                    <a:pt x="276" y="182"/>
                  </a:lnTo>
                  <a:lnTo>
                    <a:pt x="276" y="180"/>
                  </a:lnTo>
                  <a:lnTo>
                    <a:pt x="274" y="180"/>
                  </a:lnTo>
                  <a:lnTo>
                    <a:pt x="274" y="180"/>
                  </a:lnTo>
                  <a:lnTo>
                    <a:pt x="272" y="180"/>
                  </a:lnTo>
                  <a:lnTo>
                    <a:pt x="272" y="180"/>
                  </a:lnTo>
                  <a:lnTo>
                    <a:pt x="272" y="179"/>
                  </a:lnTo>
                  <a:lnTo>
                    <a:pt x="270" y="177"/>
                  </a:lnTo>
                  <a:lnTo>
                    <a:pt x="270" y="175"/>
                  </a:lnTo>
                  <a:lnTo>
                    <a:pt x="269" y="175"/>
                  </a:lnTo>
                  <a:lnTo>
                    <a:pt x="265" y="171"/>
                  </a:lnTo>
                  <a:lnTo>
                    <a:pt x="263" y="169"/>
                  </a:lnTo>
                  <a:lnTo>
                    <a:pt x="259" y="163"/>
                  </a:lnTo>
                  <a:lnTo>
                    <a:pt x="257" y="161"/>
                  </a:lnTo>
                  <a:lnTo>
                    <a:pt x="255" y="161"/>
                  </a:lnTo>
                  <a:lnTo>
                    <a:pt x="255" y="159"/>
                  </a:lnTo>
                  <a:lnTo>
                    <a:pt x="255" y="158"/>
                  </a:lnTo>
                  <a:lnTo>
                    <a:pt x="255" y="158"/>
                  </a:lnTo>
                  <a:lnTo>
                    <a:pt x="255" y="156"/>
                  </a:lnTo>
                  <a:lnTo>
                    <a:pt x="255" y="156"/>
                  </a:lnTo>
                  <a:lnTo>
                    <a:pt x="255" y="154"/>
                  </a:lnTo>
                  <a:lnTo>
                    <a:pt x="255" y="152"/>
                  </a:lnTo>
                  <a:lnTo>
                    <a:pt x="255" y="152"/>
                  </a:lnTo>
                  <a:lnTo>
                    <a:pt x="253" y="150"/>
                  </a:lnTo>
                  <a:lnTo>
                    <a:pt x="253" y="150"/>
                  </a:lnTo>
                  <a:lnTo>
                    <a:pt x="253" y="144"/>
                  </a:lnTo>
                  <a:lnTo>
                    <a:pt x="253" y="144"/>
                  </a:lnTo>
                  <a:lnTo>
                    <a:pt x="255" y="142"/>
                  </a:lnTo>
                  <a:lnTo>
                    <a:pt x="255" y="142"/>
                  </a:lnTo>
                  <a:lnTo>
                    <a:pt x="257" y="140"/>
                  </a:lnTo>
                  <a:lnTo>
                    <a:pt x="255" y="140"/>
                  </a:lnTo>
                  <a:lnTo>
                    <a:pt x="255" y="139"/>
                  </a:lnTo>
                  <a:lnTo>
                    <a:pt x="253" y="140"/>
                  </a:lnTo>
                  <a:lnTo>
                    <a:pt x="251" y="140"/>
                  </a:lnTo>
                  <a:lnTo>
                    <a:pt x="251" y="139"/>
                  </a:lnTo>
                  <a:lnTo>
                    <a:pt x="253" y="137"/>
                  </a:lnTo>
                  <a:lnTo>
                    <a:pt x="253" y="137"/>
                  </a:lnTo>
                  <a:lnTo>
                    <a:pt x="251" y="135"/>
                  </a:lnTo>
                  <a:lnTo>
                    <a:pt x="251" y="135"/>
                  </a:lnTo>
                  <a:lnTo>
                    <a:pt x="251" y="135"/>
                  </a:lnTo>
                  <a:lnTo>
                    <a:pt x="251" y="135"/>
                  </a:lnTo>
                  <a:lnTo>
                    <a:pt x="249" y="135"/>
                  </a:lnTo>
                  <a:lnTo>
                    <a:pt x="249" y="135"/>
                  </a:lnTo>
                  <a:lnTo>
                    <a:pt x="249" y="137"/>
                  </a:lnTo>
                  <a:lnTo>
                    <a:pt x="249" y="137"/>
                  </a:lnTo>
                  <a:lnTo>
                    <a:pt x="249" y="137"/>
                  </a:lnTo>
                  <a:lnTo>
                    <a:pt x="248" y="137"/>
                  </a:lnTo>
                  <a:lnTo>
                    <a:pt x="248" y="135"/>
                  </a:lnTo>
                  <a:lnTo>
                    <a:pt x="248" y="135"/>
                  </a:lnTo>
                  <a:lnTo>
                    <a:pt x="248" y="133"/>
                  </a:lnTo>
                  <a:lnTo>
                    <a:pt x="246" y="133"/>
                  </a:lnTo>
                  <a:lnTo>
                    <a:pt x="246" y="133"/>
                  </a:lnTo>
                  <a:lnTo>
                    <a:pt x="246" y="133"/>
                  </a:lnTo>
                  <a:lnTo>
                    <a:pt x="246" y="133"/>
                  </a:lnTo>
                  <a:lnTo>
                    <a:pt x="244" y="133"/>
                  </a:lnTo>
                  <a:lnTo>
                    <a:pt x="244" y="133"/>
                  </a:lnTo>
                  <a:lnTo>
                    <a:pt x="244" y="133"/>
                  </a:lnTo>
                  <a:lnTo>
                    <a:pt x="244" y="133"/>
                  </a:lnTo>
                  <a:lnTo>
                    <a:pt x="242" y="131"/>
                  </a:lnTo>
                  <a:lnTo>
                    <a:pt x="242" y="131"/>
                  </a:lnTo>
                  <a:lnTo>
                    <a:pt x="242" y="131"/>
                  </a:lnTo>
                  <a:lnTo>
                    <a:pt x="242" y="131"/>
                  </a:lnTo>
                  <a:lnTo>
                    <a:pt x="240" y="133"/>
                  </a:lnTo>
                  <a:lnTo>
                    <a:pt x="240" y="133"/>
                  </a:lnTo>
                  <a:lnTo>
                    <a:pt x="240" y="131"/>
                  </a:lnTo>
                  <a:lnTo>
                    <a:pt x="238" y="129"/>
                  </a:lnTo>
                  <a:lnTo>
                    <a:pt x="236" y="125"/>
                  </a:lnTo>
                  <a:lnTo>
                    <a:pt x="232" y="120"/>
                  </a:lnTo>
                  <a:lnTo>
                    <a:pt x="232" y="118"/>
                  </a:lnTo>
                  <a:lnTo>
                    <a:pt x="232" y="118"/>
                  </a:lnTo>
                  <a:lnTo>
                    <a:pt x="230" y="118"/>
                  </a:lnTo>
                  <a:lnTo>
                    <a:pt x="230" y="120"/>
                  </a:lnTo>
                  <a:lnTo>
                    <a:pt x="230" y="120"/>
                  </a:lnTo>
                  <a:lnTo>
                    <a:pt x="229" y="120"/>
                  </a:lnTo>
                  <a:lnTo>
                    <a:pt x="229" y="121"/>
                  </a:lnTo>
                  <a:lnTo>
                    <a:pt x="229" y="125"/>
                  </a:lnTo>
                  <a:lnTo>
                    <a:pt x="229" y="125"/>
                  </a:lnTo>
                  <a:lnTo>
                    <a:pt x="229" y="127"/>
                  </a:lnTo>
                  <a:lnTo>
                    <a:pt x="227" y="125"/>
                  </a:lnTo>
                  <a:lnTo>
                    <a:pt x="227" y="127"/>
                  </a:lnTo>
                  <a:lnTo>
                    <a:pt x="225" y="127"/>
                  </a:lnTo>
                  <a:lnTo>
                    <a:pt x="225" y="129"/>
                  </a:lnTo>
                  <a:lnTo>
                    <a:pt x="225" y="131"/>
                  </a:lnTo>
                  <a:lnTo>
                    <a:pt x="225" y="131"/>
                  </a:lnTo>
                  <a:lnTo>
                    <a:pt x="223" y="131"/>
                  </a:lnTo>
                  <a:lnTo>
                    <a:pt x="223" y="131"/>
                  </a:lnTo>
                  <a:lnTo>
                    <a:pt x="221" y="129"/>
                  </a:lnTo>
                  <a:lnTo>
                    <a:pt x="219" y="129"/>
                  </a:lnTo>
                  <a:lnTo>
                    <a:pt x="219" y="131"/>
                  </a:lnTo>
                  <a:lnTo>
                    <a:pt x="217" y="131"/>
                  </a:lnTo>
                  <a:lnTo>
                    <a:pt x="215" y="129"/>
                  </a:lnTo>
                  <a:lnTo>
                    <a:pt x="213" y="127"/>
                  </a:lnTo>
                  <a:lnTo>
                    <a:pt x="211" y="125"/>
                  </a:lnTo>
                  <a:lnTo>
                    <a:pt x="211" y="123"/>
                  </a:lnTo>
                  <a:lnTo>
                    <a:pt x="209" y="118"/>
                  </a:lnTo>
                  <a:lnTo>
                    <a:pt x="206" y="102"/>
                  </a:lnTo>
                  <a:lnTo>
                    <a:pt x="194" y="82"/>
                  </a:lnTo>
                  <a:lnTo>
                    <a:pt x="192" y="78"/>
                  </a:lnTo>
                  <a:lnTo>
                    <a:pt x="190" y="76"/>
                  </a:lnTo>
                  <a:lnTo>
                    <a:pt x="192" y="76"/>
                  </a:lnTo>
                  <a:lnTo>
                    <a:pt x="192" y="74"/>
                  </a:lnTo>
                  <a:lnTo>
                    <a:pt x="192" y="74"/>
                  </a:lnTo>
                  <a:lnTo>
                    <a:pt x="192" y="74"/>
                  </a:lnTo>
                  <a:lnTo>
                    <a:pt x="194" y="74"/>
                  </a:lnTo>
                  <a:lnTo>
                    <a:pt x="194" y="74"/>
                  </a:lnTo>
                  <a:lnTo>
                    <a:pt x="196" y="74"/>
                  </a:lnTo>
                  <a:lnTo>
                    <a:pt x="196" y="74"/>
                  </a:lnTo>
                  <a:lnTo>
                    <a:pt x="196" y="72"/>
                  </a:lnTo>
                  <a:lnTo>
                    <a:pt x="192" y="66"/>
                  </a:lnTo>
                  <a:lnTo>
                    <a:pt x="188" y="61"/>
                  </a:lnTo>
                  <a:lnTo>
                    <a:pt x="187" y="59"/>
                  </a:lnTo>
                  <a:lnTo>
                    <a:pt x="187" y="59"/>
                  </a:lnTo>
                  <a:lnTo>
                    <a:pt x="181" y="55"/>
                  </a:lnTo>
                  <a:lnTo>
                    <a:pt x="175" y="53"/>
                  </a:lnTo>
                  <a:lnTo>
                    <a:pt x="171" y="51"/>
                  </a:lnTo>
                  <a:lnTo>
                    <a:pt x="171" y="49"/>
                  </a:lnTo>
                  <a:lnTo>
                    <a:pt x="169" y="51"/>
                  </a:lnTo>
                  <a:lnTo>
                    <a:pt x="168" y="49"/>
                  </a:lnTo>
                  <a:lnTo>
                    <a:pt x="162" y="49"/>
                  </a:lnTo>
                  <a:lnTo>
                    <a:pt x="162" y="47"/>
                  </a:lnTo>
                  <a:lnTo>
                    <a:pt x="160" y="47"/>
                  </a:lnTo>
                  <a:lnTo>
                    <a:pt x="160" y="47"/>
                  </a:lnTo>
                  <a:lnTo>
                    <a:pt x="160" y="45"/>
                  </a:lnTo>
                  <a:lnTo>
                    <a:pt x="166" y="40"/>
                  </a:lnTo>
                  <a:lnTo>
                    <a:pt x="166" y="38"/>
                  </a:lnTo>
                  <a:lnTo>
                    <a:pt x="168" y="38"/>
                  </a:lnTo>
                  <a:lnTo>
                    <a:pt x="168" y="36"/>
                  </a:lnTo>
                  <a:lnTo>
                    <a:pt x="168" y="34"/>
                  </a:lnTo>
                  <a:lnTo>
                    <a:pt x="168" y="34"/>
                  </a:lnTo>
                  <a:lnTo>
                    <a:pt x="166" y="34"/>
                  </a:lnTo>
                  <a:lnTo>
                    <a:pt x="166" y="34"/>
                  </a:lnTo>
                  <a:lnTo>
                    <a:pt x="166" y="36"/>
                  </a:lnTo>
                  <a:lnTo>
                    <a:pt x="164" y="36"/>
                  </a:lnTo>
                  <a:lnTo>
                    <a:pt x="164" y="36"/>
                  </a:lnTo>
                  <a:lnTo>
                    <a:pt x="164" y="34"/>
                  </a:lnTo>
                  <a:lnTo>
                    <a:pt x="162" y="34"/>
                  </a:lnTo>
                  <a:lnTo>
                    <a:pt x="162" y="32"/>
                  </a:lnTo>
                  <a:lnTo>
                    <a:pt x="162" y="30"/>
                  </a:lnTo>
                  <a:lnTo>
                    <a:pt x="164" y="28"/>
                  </a:lnTo>
                  <a:lnTo>
                    <a:pt x="164" y="28"/>
                  </a:lnTo>
                  <a:lnTo>
                    <a:pt x="164" y="28"/>
                  </a:lnTo>
                  <a:lnTo>
                    <a:pt x="169" y="26"/>
                  </a:lnTo>
                  <a:lnTo>
                    <a:pt x="171" y="26"/>
                  </a:lnTo>
                  <a:lnTo>
                    <a:pt x="173" y="24"/>
                  </a:lnTo>
                  <a:lnTo>
                    <a:pt x="175" y="23"/>
                  </a:lnTo>
                  <a:lnTo>
                    <a:pt x="179" y="19"/>
                  </a:lnTo>
                  <a:lnTo>
                    <a:pt x="185" y="13"/>
                  </a:lnTo>
                  <a:lnTo>
                    <a:pt x="190" y="11"/>
                  </a:lnTo>
                  <a:lnTo>
                    <a:pt x="190" y="11"/>
                  </a:lnTo>
                  <a:lnTo>
                    <a:pt x="190" y="9"/>
                  </a:lnTo>
                  <a:lnTo>
                    <a:pt x="190" y="9"/>
                  </a:lnTo>
                  <a:lnTo>
                    <a:pt x="187" y="2"/>
                  </a:lnTo>
                  <a:lnTo>
                    <a:pt x="187" y="2"/>
                  </a:lnTo>
                  <a:lnTo>
                    <a:pt x="185" y="0"/>
                  </a:lnTo>
                  <a:lnTo>
                    <a:pt x="185" y="0"/>
                  </a:lnTo>
                  <a:lnTo>
                    <a:pt x="183" y="2"/>
                  </a:lnTo>
                  <a:lnTo>
                    <a:pt x="183" y="2"/>
                  </a:lnTo>
                  <a:lnTo>
                    <a:pt x="181" y="2"/>
                  </a:lnTo>
                  <a:lnTo>
                    <a:pt x="179" y="4"/>
                  </a:lnTo>
                  <a:lnTo>
                    <a:pt x="175" y="5"/>
                  </a:lnTo>
                  <a:lnTo>
                    <a:pt x="175" y="5"/>
                  </a:lnTo>
                  <a:lnTo>
                    <a:pt x="173" y="9"/>
                  </a:lnTo>
                  <a:lnTo>
                    <a:pt x="173" y="9"/>
                  </a:lnTo>
                  <a:lnTo>
                    <a:pt x="173" y="9"/>
                  </a:lnTo>
                  <a:lnTo>
                    <a:pt x="171" y="11"/>
                  </a:lnTo>
                  <a:lnTo>
                    <a:pt x="171" y="11"/>
                  </a:lnTo>
                  <a:lnTo>
                    <a:pt x="169" y="13"/>
                  </a:lnTo>
                  <a:lnTo>
                    <a:pt x="162" y="13"/>
                  </a:lnTo>
                  <a:lnTo>
                    <a:pt x="160" y="15"/>
                  </a:lnTo>
                  <a:lnTo>
                    <a:pt x="156" y="19"/>
                  </a:lnTo>
                  <a:lnTo>
                    <a:pt x="152" y="23"/>
                  </a:lnTo>
                  <a:lnTo>
                    <a:pt x="150" y="23"/>
                  </a:lnTo>
                  <a:lnTo>
                    <a:pt x="150" y="23"/>
                  </a:lnTo>
                  <a:lnTo>
                    <a:pt x="148" y="21"/>
                  </a:lnTo>
                  <a:lnTo>
                    <a:pt x="148" y="21"/>
                  </a:lnTo>
                  <a:lnTo>
                    <a:pt x="147" y="21"/>
                  </a:lnTo>
                  <a:lnTo>
                    <a:pt x="147" y="19"/>
                  </a:lnTo>
                  <a:lnTo>
                    <a:pt x="147" y="17"/>
                  </a:lnTo>
                  <a:lnTo>
                    <a:pt x="147" y="17"/>
                  </a:lnTo>
                  <a:lnTo>
                    <a:pt x="147" y="17"/>
                  </a:lnTo>
                  <a:lnTo>
                    <a:pt x="145" y="17"/>
                  </a:lnTo>
                  <a:lnTo>
                    <a:pt x="145" y="19"/>
                  </a:lnTo>
                  <a:lnTo>
                    <a:pt x="143" y="19"/>
                  </a:lnTo>
                  <a:lnTo>
                    <a:pt x="137" y="19"/>
                  </a:lnTo>
                  <a:lnTo>
                    <a:pt x="133" y="21"/>
                  </a:lnTo>
                  <a:lnTo>
                    <a:pt x="137" y="23"/>
                  </a:lnTo>
                  <a:lnTo>
                    <a:pt x="139" y="24"/>
                  </a:lnTo>
                  <a:lnTo>
                    <a:pt x="139" y="28"/>
                  </a:lnTo>
                  <a:lnTo>
                    <a:pt x="139" y="30"/>
                  </a:lnTo>
                  <a:lnTo>
                    <a:pt x="135" y="34"/>
                  </a:lnTo>
                  <a:lnTo>
                    <a:pt x="135" y="34"/>
                  </a:lnTo>
                  <a:lnTo>
                    <a:pt x="133" y="38"/>
                  </a:lnTo>
                  <a:lnTo>
                    <a:pt x="133" y="40"/>
                  </a:lnTo>
                  <a:lnTo>
                    <a:pt x="131" y="40"/>
                  </a:lnTo>
                  <a:lnTo>
                    <a:pt x="129" y="40"/>
                  </a:lnTo>
                  <a:lnTo>
                    <a:pt x="128" y="40"/>
                  </a:lnTo>
                  <a:lnTo>
                    <a:pt x="124" y="42"/>
                  </a:lnTo>
                  <a:lnTo>
                    <a:pt x="122" y="43"/>
                  </a:lnTo>
                  <a:lnTo>
                    <a:pt x="122" y="47"/>
                  </a:lnTo>
                  <a:lnTo>
                    <a:pt x="122" y="47"/>
                  </a:lnTo>
                  <a:lnTo>
                    <a:pt x="120" y="45"/>
                  </a:lnTo>
                  <a:lnTo>
                    <a:pt x="118" y="45"/>
                  </a:lnTo>
                  <a:lnTo>
                    <a:pt x="118" y="47"/>
                  </a:lnTo>
                  <a:lnTo>
                    <a:pt x="116" y="47"/>
                  </a:lnTo>
                  <a:lnTo>
                    <a:pt x="116" y="47"/>
                  </a:lnTo>
                  <a:lnTo>
                    <a:pt x="110" y="45"/>
                  </a:lnTo>
                  <a:lnTo>
                    <a:pt x="108" y="45"/>
                  </a:lnTo>
                  <a:lnTo>
                    <a:pt x="108" y="49"/>
                  </a:lnTo>
                  <a:lnTo>
                    <a:pt x="108" y="49"/>
                  </a:lnTo>
                  <a:lnTo>
                    <a:pt x="107" y="49"/>
                  </a:lnTo>
                  <a:lnTo>
                    <a:pt x="105" y="49"/>
                  </a:lnTo>
                  <a:lnTo>
                    <a:pt x="105" y="51"/>
                  </a:lnTo>
                  <a:lnTo>
                    <a:pt x="105" y="51"/>
                  </a:lnTo>
                  <a:lnTo>
                    <a:pt x="103" y="51"/>
                  </a:lnTo>
                  <a:lnTo>
                    <a:pt x="103" y="53"/>
                  </a:lnTo>
                  <a:lnTo>
                    <a:pt x="101" y="53"/>
                  </a:lnTo>
                  <a:lnTo>
                    <a:pt x="97" y="53"/>
                  </a:lnTo>
                  <a:lnTo>
                    <a:pt x="95" y="53"/>
                  </a:lnTo>
                  <a:lnTo>
                    <a:pt x="95" y="55"/>
                  </a:lnTo>
                  <a:lnTo>
                    <a:pt x="91" y="53"/>
                  </a:lnTo>
                  <a:lnTo>
                    <a:pt x="89" y="55"/>
                  </a:lnTo>
                  <a:lnTo>
                    <a:pt x="87" y="59"/>
                  </a:lnTo>
                  <a:lnTo>
                    <a:pt x="86" y="62"/>
                  </a:lnTo>
                  <a:lnTo>
                    <a:pt x="84" y="62"/>
                  </a:lnTo>
                  <a:lnTo>
                    <a:pt x="78" y="61"/>
                  </a:lnTo>
                  <a:lnTo>
                    <a:pt x="76" y="66"/>
                  </a:lnTo>
                  <a:lnTo>
                    <a:pt x="74" y="68"/>
                  </a:lnTo>
                  <a:lnTo>
                    <a:pt x="72" y="68"/>
                  </a:lnTo>
                  <a:lnTo>
                    <a:pt x="67" y="74"/>
                  </a:lnTo>
                  <a:lnTo>
                    <a:pt x="65" y="74"/>
                  </a:lnTo>
                  <a:lnTo>
                    <a:pt x="65" y="76"/>
                  </a:lnTo>
                  <a:lnTo>
                    <a:pt x="63" y="80"/>
                  </a:lnTo>
                  <a:lnTo>
                    <a:pt x="63" y="80"/>
                  </a:lnTo>
                  <a:lnTo>
                    <a:pt x="63" y="82"/>
                  </a:lnTo>
                  <a:lnTo>
                    <a:pt x="63" y="82"/>
                  </a:lnTo>
                  <a:lnTo>
                    <a:pt x="63" y="82"/>
                  </a:lnTo>
                  <a:lnTo>
                    <a:pt x="63" y="83"/>
                  </a:lnTo>
                  <a:lnTo>
                    <a:pt x="61" y="83"/>
                  </a:lnTo>
                  <a:lnTo>
                    <a:pt x="61" y="85"/>
                  </a:lnTo>
                  <a:lnTo>
                    <a:pt x="61" y="85"/>
                  </a:lnTo>
                  <a:lnTo>
                    <a:pt x="61" y="85"/>
                  </a:lnTo>
                  <a:lnTo>
                    <a:pt x="61" y="85"/>
                  </a:lnTo>
                  <a:lnTo>
                    <a:pt x="59" y="87"/>
                  </a:lnTo>
                  <a:lnTo>
                    <a:pt x="59" y="87"/>
                  </a:lnTo>
                  <a:lnTo>
                    <a:pt x="61" y="89"/>
                  </a:lnTo>
                  <a:lnTo>
                    <a:pt x="65" y="99"/>
                  </a:lnTo>
                  <a:lnTo>
                    <a:pt x="68" y="108"/>
                  </a:lnTo>
                  <a:lnTo>
                    <a:pt x="70" y="112"/>
                  </a:lnTo>
                  <a:lnTo>
                    <a:pt x="70" y="114"/>
                  </a:lnTo>
                  <a:lnTo>
                    <a:pt x="70" y="116"/>
                  </a:lnTo>
                  <a:lnTo>
                    <a:pt x="68" y="118"/>
                  </a:lnTo>
                  <a:lnTo>
                    <a:pt x="68" y="120"/>
                  </a:lnTo>
                  <a:lnTo>
                    <a:pt x="67" y="121"/>
                  </a:lnTo>
                  <a:lnTo>
                    <a:pt x="63" y="131"/>
                  </a:lnTo>
                  <a:lnTo>
                    <a:pt x="63" y="135"/>
                  </a:lnTo>
                  <a:lnTo>
                    <a:pt x="63" y="139"/>
                  </a:lnTo>
                  <a:lnTo>
                    <a:pt x="61" y="142"/>
                  </a:lnTo>
                  <a:lnTo>
                    <a:pt x="61" y="144"/>
                  </a:lnTo>
                  <a:lnTo>
                    <a:pt x="61" y="148"/>
                  </a:lnTo>
                  <a:lnTo>
                    <a:pt x="61" y="148"/>
                  </a:lnTo>
                  <a:lnTo>
                    <a:pt x="63" y="150"/>
                  </a:lnTo>
                  <a:lnTo>
                    <a:pt x="63" y="152"/>
                  </a:lnTo>
                  <a:lnTo>
                    <a:pt x="65" y="152"/>
                  </a:lnTo>
                  <a:lnTo>
                    <a:pt x="68" y="152"/>
                  </a:lnTo>
                  <a:lnTo>
                    <a:pt x="70" y="152"/>
                  </a:lnTo>
                  <a:lnTo>
                    <a:pt x="72" y="152"/>
                  </a:lnTo>
                  <a:lnTo>
                    <a:pt x="74" y="154"/>
                  </a:lnTo>
                  <a:lnTo>
                    <a:pt x="74" y="156"/>
                  </a:lnTo>
                  <a:lnTo>
                    <a:pt x="68" y="158"/>
                  </a:lnTo>
                  <a:lnTo>
                    <a:pt x="67" y="159"/>
                  </a:lnTo>
                  <a:lnTo>
                    <a:pt x="67" y="161"/>
                  </a:lnTo>
                  <a:lnTo>
                    <a:pt x="67" y="163"/>
                  </a:lnTo>
                  <a:lnTo>
                    <a:pt x="65" y="165"/>
                  </a:lnTo>
                  <a:lnTo>
                    <a:pt x="63" y="167"/>
                  </a:lnTo>
                  <a:lnTo>
                    <a:pt x="63" y="169"/>
                  </a:lnTo>
                  <a:lnTo>
                    <a:pt x="61" y="169"/>
                  </a:lnTo>
                  <a:lnTo>
                    <a:pt x="59" y="169"/>
                  </a:lnTo>
                  <a:lnTo>
                    <a:pt x="57" y="169"/>
                  </a:lnTo>
                  <a:lnTo>
                    <a:pt x="55" y="169"/>
                  </a:lnTo>
                  <a:lnTo>
                    <a:pt x="53" y="171"/>
                  </a:lnTo>
                  <a:lnTo>
                    <a:pt x="51" y="173"/>
                  </a:lnTo>
                  <a:lnTo>
                    <a:pt x="51" y="175"/>
                  </a:lnTo>
                  <a:lnTo>
                    <a:pt x="51" y="175"/>
                  </a:lnTo>
                  <a:lnTo>
                    <a:pt x="49" y="175"/>
                  </a:lnTo>
                  <a:lnTo>
                    <a:pt x="47" y="175"/>
                  </a:lnTo>
                  <a:lnTo>
                    <a:pt x="46" y="175"/>
                  </a:lnTo>
                  <a:lnTo>
                    <a:pt x="44" y="175"/>
                  </a:lnTo>
                  <a:lnTo>
                    <a:pt x="44" y="175"/>
                  </a:lnTo>
                  <a:lnTo>
                    <a:pt x="42" y="177"/>
                  </a:lnTo>
                  <a:lnTo>
                    <a:pt x="42" y="179"/>
                  </a:lnTo>
                  <a:lnTo>
                    <a:pt x="42" y="180"/>
                  </a:lnTo>
                  <a:lnTo>
                    <a:pt x="42" y="182"/>
                  </a:lnTo>
                  <a:lnTo>
                    <a:pt x="40" y="182"/>
                  </a:lnTo>
                  <a:lnTo>
                    <a:pt x="38" y="184"/>
                  </a:lnTo>
                  <a:lnTo>
                    <a:pt x="38" y="184"/>
                  </a:lnTo>
                  <a:lnTo>
                    <a:pt x="38" y="186"/>
                  </a:lnTo>
                  <a:lnTo>
                    <a:pt x="38" y="186"/>
                  </a:lnTo>
                  <a:lnTo>
                    <a:pt x="38" y="188"/>
                  </a:lnTo>
                  <a:lnTo>
                    <a:pt x="36" y="188"/>
                  </a:lnTo>
                  <a:lnTo>
                    <a:pt x="36" y="190"/>
                  </a:lnTo>
                  <a:lnTo>
                    <a:pt x="34" y="192"/>
                  </a:lnTo>
                  <a:lnTo>
                    <a:pt x="32" y="194"/>
                  </a:lnTo>
                  <a:lnTo>
                    <a:pt x="32" y="194"/>
                  </a:lnTo>
                  <a:lnTo>
                    <a:pt x="30" y="196"/>
                  </a:lnTo>
                  <a:lnTo>
                    <a:pt x="30" y="198"/>
                  </a:lnTo>
                  <a:lnTo>
                    <a:pt x="28" y="198"/>
                  </a:lnTo>
                  <a:lnTo>
                    <a:pt x="28" y="199"/>
                  </a:lnTo>
                  <a:lnTo>
                    <a:pt x="28" y="201"/>
                  </a:lnTo>
                  <a:lnTo>
                    <a:pt x="27" y="201"/>
                  </a:lnTo>
                  <a:lnTo>
                    <a:pt x="25" y="201"/>
                  </a:lnTo>
                  <a:lnTo>
                    <a:pt x="23" y="203"/>
                  </a:lnTo>
                  <a:lnTo>
                    <a:pt x="21" y="203"/>
                  </a:lnTo>
                  <a:lnTo>
                    <a:pt x="21" y="205"/>
                  </a:lnTo>
                  <a:lnTo>
                    <a:pt x="19" y="207"/>
                  </a:lnTo>
                  <a:lnTo>
                    <a:pt x="19" y="209"/>
                  </a:lnTo>
                  <a:lnTo>
                    <a:pt x="19" y="211"/>
                  </a:lnTo>
                  <a:lnTo>
                    <a:pt x="19" y="215"/>
                  </a:lnTo>
                  <a:lnTo>
                    <a:pt x="19" y="217"/>
                  </a:lnTo>
                  <a:lnTo>
                    <a:pt x="15" y="217"/>
                  </a:lnTo>
                  <a:lnTo>
                    <a:pt x="13" y="218"/>
                  </a:lnTo>
                  <a:lnTo>
                    <a:pt x="13" y="218"/>
                  </a:lnTo>
                  <a:lnTo>
                    <a:pt x="7" y="226"/>
                  </a:lnTo>
                  <a:lnTo>
                    <a:pt x="7" y="226"/>
                  </a:lnTo>
                  <a:lnTo>
                    <a:pt x="6" y="226"/>
                  </a:lnTo>
                  <a:lnTo>
                    <a:pt x="6" y="226"/>
                  </a:lnTo>
                  <a:lnTo>
                    <a:pt x="6" y="226"/>
                  </a:lnTo>
                  <a:lnTo>
                    <a:pt x="6" y="228"/>
                  </a:lnTo>
                  <a:lnTo>
                    <a:pt x="6" y="228"/>
                  </a:lnTo>
                  <a:lnTo>
                    <a:pt x="4" y="228"/>
                  </a:lnTo>
                  <a:lnTo>
                    <a:pt x="2" y="230"/>
                  </a:lnTo>
                  <a:lnTo>
                    <a:pt x="0" y="232"/>
                  </a:lnTo>
                  <a:lnTo>
                    <a:pt x="0" y="234"/>
                  </a:lnTo>
                  <a:lnTo>
                    <a:pt x="0" y="234"/>
                  </a:lnTo>
                  <a:lnTo>
                    <a:pt x="4" y="236"/>
                  </a:lnTo>
                  <a:lnTo>
                    <a:pt x="6" y="239"/>
                  </a:lnTo>
                  <a:lnTo>
                    <a:pt x="7" y="243"/>
                  </a:lnTo>
                  <a:lnTo>
                    <a:pt x="9" y="247"/>
                  </a:lnTo>
                  <a:lnTo>
                    <a:pt x="9" y="249"/>
                  </a:lnTo>
                  <a:lnTo>
                    <a:pt x="11" y="251"/>
                  </a:lnTo>
                  <a:lnTo>
                    <a:pt x="11" y="253"/>
                  </a:lnTo>
                  <a:lnTo>
                    <a:pt x="11" y="255"/>
                  </a:lnTo>
                  <a:lnTo>
                    <a:pt x="11" y="256"/>
                  </a:lnTo>
                  <a:lnTo>
                    <a:pt x="11" y="256"/>
                  </a:lnTo>
                  <a:lnTo>
                    <a:pt x="4" y="268"/>
                  </a:lnTo>
                  <a:lnTo>
                    <a:pt x="4" y="270"/>
                  </a:lnTo>
                  <a:lnTo>
                    <a:pt x="4" y="272"/>
                  </a:lnTo>
                  <a:lnTo>
                    <a:pt x="4" y="272"/>
                  </a:lnTo>
                  <a:lnTo>
                    <a:pt x="4" y="272"/>
                  </a:lnTo>
                  <a:lnTo>
                    <a:pt x="6" y="274"/>
                  </a:lnTo>
                  <a:lnTo>
                    <a:pt x="40" y="275"/>
                  </a:lnTo>
                  <a:lnTo>
                    <a:pt x="49" y="275"/>
                  </a:lnTo>
                  <a:lnTo>
                    <a:pt x="61" y="277"/>
                  </a:lnTo>
                  <a:lnTo>
                    <a:pt x="67" y="277"/>
                  </a:lnTo>
                  <a:lnTo>
                    <a:pt x="72" y="279"/>
                  </a:lnTo>
                  <a:lnTo>
                    <a:pt x="74" y="279"/>
                  </a:lnTo>
                  <a:lnTo>
                    <a:pt x="74" y="279"/>
                  </a:lnTo>
                  <a:lnTo>
                    <a:pt x="74" y="279"/>
                  </a:lnTo>
                  <a:lnTo>
                    <a:pt x="76" y="277"/>
                  </a:lnTo>
                  <a:lnTo>
                    <a:pt x="76" y="277"/>
                  </a:lnTo>
                  <a:lnTo>
                    <a:pt x="76" y="277"/>
                  </a:lnTo>
                  <a:lnTo>
                    <a:pt x="80" y="274"/>
                  </a:lnTo>
                  <a:lnTo>
                    <a:pt x="80" y="274"/>
                  </a:lnTo>
                  <a:lnTo>
                    <a:pt x="82" y="274"/>
                  </a:lnTo>
                  <a:lnTo>
                    <a:pt x="82" y="274"/>
                  </a:lnTo>
                  <a:lnTo>
                    <a:pt x="86" y="274"/>
                  </a:lnTo>
                  <a:lnTo>
                    <a:pt x="87" y="272"/>
                  </a:lnTo>
                  <a:lnTo>
                    <a:pt x="89" y="272"/>
                  </a:lnTo>
                  <a:lnTo>
                    <a:pt x="89" y="272"/>
                  </a:lnTo>
                  <a:lnTo>
                    <a:pt x="89" y="274"/>
                  </a:lnTo>
                  <a:lnTo>
                    <a:pt x="91" y="274"/>
                  </a:lnTo>
                  <a:lnTo>
                    <a:pt x="91" y="274"/>
                  </a:lnTo>
                  <a:lnTo>
                    <a:pt x="91" y="275"/>
                  </a:lnTo>
                  <a:lnTo>
                    <a:pt x="93" y="275"/>
                  </a:lnTo>
                  <a:lnTo>
                    <a:pt x="97" y="275"/>
                  </a:lnTo>
                  <a:lnTo>
                    <a:pt x="99" y="275"/>
                  </a:lnTo>
                  <a:lnTo>
                    <a:pt x="99" y="277"/>
                  </a:lnTo>
                  <a:lnTo>
                    <a:pt x="99" y="277"/>
                  </a:lnTo>
                  <a:lnTo>
                    <a:pt x="99" y="277"/>
                  </a:lnTo>
                  <a:lnTo>
                    <a:pt x="101" y="277"/>
                  </a:lnTo>
                  <a:lnTo>
                    <a:pt x="101" y="279"/>
                  </a:lnTo>
                  <a:lnTo>
                    <a:pt x="101" y="279"/>
                  </a:lnTo>
                  <a:lnTo>
                    <a:pt x="101" y="281"/>
                  </a:lnTo>
                  <a:lnTo>
                    <a:pt x="101" y="281"/>
                  </a:lnTo>
                  <a:lnTo>
                    <a:pt x="103" y="283"/>
                  </a:lnTo>
                  <a:lnTo>
                    <a:pt x="105" y="283"/>
                  </a:lnTo>
                  <a:lnTo>
                    <a:pt x="105" y="283"/>
                  </a:lnTo>
                  <a:lnTo>
                    <a:pt x="105" y="283"/>
                  </a:lnTo>
                  <a:lnTo>
                    <a:pt x="107" y="285"/>
                  </a:lnTo>
                  <a:lnTo>
                    <a:pt x="107" y="285"/>
                  </a:lnTo>
                  <a:lnTo>
                    <a:pt x="108" y="285"/>
                  </a:lnTo>
                  <a:lnTo>
                    <a:pt x="110" y="283"/>
                  </a:lnTo>
                  <a:lnTo>
                    <a:pt x="112" y="283"/>
                  </a:lnTo>
                  <a:lnTo>
                    <a:pt x="112" y="283"/>
                  </a:lnTo>
                  <a:lnTo>
                    <a:pt x="112" y="283"/>
                  </a:lnTo>
                  <a:lnTo>
                    <a:pt x="114" y="281"/>
                  </a:lnTo>
                  <a:lnTo>
                    <a:pt x="114" y="281"/>
                  </a:lnTo>
                  <a:lnTo>
                    <a:pt x="114" y="281"/>
                  </a:lnTo>
                  <a:lnTo>
                    <a:pt x="114" y="279"/>
                  </a:lnTo>
                  <a:lnTo>
                    <a:pt x="114" y="279"/>
                  </a:lnTo>
                  <a:lnTo>
                    <a:pt x="114" y="279"/>
                  </a:lnTo>
                  <a:lnTo>
                    <a:pt x="114" y="279"/>
                  </a:lnTo>
                  <a:lnTo>
                    <a:pt x="116" y="279"/>
                  </a:lnTo>
                  <a:lnTo>
                    <a:pt x="116" y="279"/>
                  </a:lnTo>
                  <a:lnTo>
                    <a:pt x="116" y="281"/>
                  </a:lnTo>
                  <a:lnTo>
                    <a:pt x="116" y="281"/>
                  </a:lnTo>
                  <a:lnTo>
                    <a:pt x="116" y="283"/>
                  </a:lnTo>
                  <a:lnTo>
                    <a:pt x="116" y="283"/>
                  </a:lnTo>
                  <a:lnTo>
                    <a:pt x="116" y="283"/>
                  </a:lnTo>
                  <a:lnTo>
                    <a:pt x="116" y="285"/>
                  </a:lnTo>
                  <a:lnTo>
                    <a:pt x="114" y="285"/>
                  </a:lnTo>
                  <a:lnTo>
                    <a:pt x="114" y="285"/>
                  </a:lnTo>
                  <a:lnTo>
                    <a:pt x="114" y="285"/>
                  </a:lnTo>
                  <a:lnTo>
                    <a:pt x="114" y="285"/>
                  </a:lnTo>
                  <a:lnTo>
                    <a:pt x="116" y="285"/>
                  </a:lnTo>
                  <a:lnTo>
                    <a:pt x="116" y="287"/>
                  </a:lnTo>
                  <a:lnTo>
                    <a:pt x="116" y="287"/>
                  </a:lnTo>
                  <a:lnTo>
                    <a:pt x="116" y="289"/>
                  </a:lnTo>
                  <a:lnTo>
                    <a:pt x="116" y="289"/>
                  </a:lnTo>
                  <a:lnTo>
                    <a:pt x="116" y="291"/>
                  </a:lnTo>
                  <a:lnTo>
                    <a:pt x="118" y="291"/>
                  </a:lnTo>
                  <a:lnTo>
                    <a:pt x="118" y="291"/>
                  </a:lnTo>
                  <a:lnTo>
                    <a:pt x="120" y="293"/>
                  </a:lnTo>
                  <a:lnTo>
                    <a:pt x="120" y="293"/>
                  </a:lnTo>
                  <a:lnTo>
                    <a:pt x="120" y="293"/>
                  </a:lnTo>
                  <a:lnTo>
                    <a:pt x="120" y="293"/>
                  </a:lnTo>
                  <a:lnTo>
                    <a:pt x="120" y="293"/>
                  </a:lnTo>
                  <a:lnTo>
                    <a:pt x="120" y="291"/>
                  </a:lnTo>
                  <a:lnTo>
                    <a:pt x="120" y="291"/>
                  </a:lnTo>
                  <a:lnTo>
                    <a:pt x="122" y="289"/>
                  </a:lnTo>
                  <a:lnTo>
                    <a:pt x="122" y="289"/>
                  </a:lnTo>
                  <a:lnTo>
                    <a:pt x="124" y="289"/>
                  </a:lnTo>
                  <a:lnTo>
                    <a:pt x="124" y="289"/>
                  </a:lnTo>
                  <a:lnTo>
                    <a:pt x="124" y="289"/>
                  </a:lnTo>
                  <a:lnTo>
                    <a:pt x="124" y="289"/>
                  </a:lnTo>
                  <a:lnTo>
                    <a:pt x="124" y="291"/>
                  </a:lnTo>
                  <a:lnTo>
                    <a:pt x="126" y="291"/>
                  </a:lnTo>
                  <a:lnTo>
                    <a:pt x="126" y="293"/>
                  </a:lnTo>
                  <a:lnTo>
                    <a:pt x="126" y="293"/>
                  </a:lnTo>
                  <a:lnTo>
                    <a:pt x="128" y="296"/>
                  </a:lnTo>
                  <a:lnTo>
                    <a:pt x="128" y="296"/>
                  </a:lnTo>
                  <a:lnTo>
                    <a:pt x="128" y="296"/>
                  </a:lnTo>
                  <a:lnTo>
                    <a:pt x="128" y="298"/>
                  </a:lnTo>
                  <a:lnTo>
                    <a:pt x="128" y="298"/>
                  </a:lnTo>
                  <a:lnTo>
                    <a:pt x="128" y="298"/>
                  </a:lnTo>
                  <a:lnTo>
                    <a:pt x="128" y="298"/>
                  </a:lnTo>
                  <a:lnTo>
                    <a:pt x="128" y="298"/>
                  </a:lnTo>
                  <a:lnTo>
                    <a:pt x="126" y="298"/>
                  </a:lnTo>
                  <a:lnTo>
                    <a:pt x="126" y="298"/>
                  </a:lnTo>
                  <a:lnTo>
                    <a:pt x="126" y="298"/>
                  </a:lnTo>
                  <a:lnTo>
                    <a:pt x="126" y="298"/>
                  </a:lnTo>
                  <a:lnTo>
                    <a:pt x="126" y="298"/>
                  </a:lnTo>
                  <a:lnTo>
                    <a:pt x="126" y="298"/>
                  </a:lnTo>
                  <a:lnTo>
                    <a:pt x="126" y="298"/>
                  </a:lnTo>
                  <a:lnTo>
                    <a:pt x="126" y="300"/>
                  </a:lnTo>
                  <a:lnTo>
                    <a:pt x="126" y="302"/>
                  </a:lnTo>
                  <a:lnTo>
                    <a:pt x="126" y="302"/>
                  </a:lnTo>
                  <a:lnTo>
                    <a:pt x="126" y="302"/>
                  </a:lnTo>
                  <a:lnTo>
                    <a:pt x="124" y="302"/>
                  </a:lnTo>
                  <a:lnTo>
                    <a:pt x="124" y="304"/>
                  </a:lnTo>
                  <a:lnTo>
                    <a:pt x="124" y="304"/>
                  </a:lnTo>
                  <a:lnTo>
                    <a:pt x="122" y="304"/>
                  </a:lnTo>
                  <a:lnTo>
                    <a:pt x="122" y="304"/>
                  </a:lnTo>
                  <a:lnTo>
                    <a:pt x="122" y="304"/>
                  </a:lnTo>
                  <a:lnTo>
                    <a:pt x="122" y="304"/>
                  </a:lnTo>
                  <a:lnTo>
                    <a:pt x="124" y="306"/>
                  </a:lnTo>
                  <a:lnTo>
                    <a:pt x="124" y="308"/>
                  </a:lnTo>
                  <a:lnTo>
                    <a:pt x="124" y="308"/>
                  </a:lnTo>
                  <a:lnTo>
                    <a:pt x="124" y="308"/>
                  </a:lnTo>
                  <a:lnTo>
                    <a:pt x="124" y="308"/>
                  </a:lnTo>
                  <a:lnTo>
                    <a:pt x="124" y="308"/>
                  </a:lnTo>
                  <a:lnTo>
                    <a:pt x="124" y="310"/>
                  </a:lnTo>
                  <a:lnTo>
                    <a:pt x="126" y="310"/>
                  </a:lnTo>
                  <a:lnTo>
                    <a:pt x="126" y="312"/>
                  </a:lnTo>
                  <a:lnTo>
                    <a:pt x="126" y="312"/>
                  </a:lnTo>
                  <a:lnTo>
                    <a:pt x="126" y="312"/>
                  </a:lnTo>
                  <a:lnTo>
                    <a:pt x="126" y="314"/>
                  </a:lnTo>
                  <a:lnTo>
                    <a:pt x="128" y="314"/>
                  </a:lnTo>
                  <a:lnTo>
                    <a:pt x="128" y="314"/>
                  </a:lnTo>
                  <a:lnTo>
                    <a:pt x="128" y="315"/>
                  </a:lnTo>
                  <a:lnTo>
                    <a:pt x="128" y="317"/>
                  </a:lnTo>
                  <a:lnTo>
                    <a:pt x="129" y="317"/>
                  </a:lnTo>
                  <a:lnTo>
                    <a:pt x="131" y="317"/>
                  </a:lnTo>
                  <a:lnTo>
                    <a:pt x="133" y="315"/>
                  </a:lnTo>
                  <a:lnTo>
                    <a:pt x="133" y="315"/>
                  </a:lnTo>
                  <a:lnTo>
                    <a:pt x="135" y="315"/>
                  </a:lnTo>
                  <a:lnTo>
                    <a:pt x="133" y="314"/>
                  </a:lnTo>
                  <a:lnTo>
                    <a:pt x="133" y="314"/>
                  </a:lnTo>
                  <a:lnTo>
                    <a:pt x="133" y="312"/>
                  </a:lnTo>
                  <a:lnTo>
                    <a:pt x="133" y="312"/>
                  </a:lnTo>
                  <a:lnTo>
                    <a:pt x="133" y="310"/>
                  </a:lnTo>
                  <a:lnTo>
                    <a:pt x="135" y="308"/>
                  </a:lnTo>
                  <a:lnTo>
                    <a:pt x="135" y="306"/>
                  </a:lnTo>
                  <a:lnTo>
                    <a:pt x="137" y="306"/>
                  </a:lnTo>
                  <a:lnTo>
                    <a:pt x="137" y="308"/>
                  </a:lnTo>
                  <a:lnTo>
                    <a:pt x="137" y="306"/>
                  </a:lnTo>
                  <a:lnTo>
                    <a:pt x="139" y="306"/>
                  </a:lnTo>
                  <a:lnTo>
                    <a:pt x="139" y="306"/>
                  </a:lnTo>
                  <a:lnTo>
                    <a:pt x="139" y="304"/>
                  </a:lnTo>
                  <a:lnTo>
                    <a:pt x="139" y="304"/>
                  </a:lnTo>
                  <a:lnTo>
                    <a:pt x="141" y="302"/>
                  </a:lnTo>
                  <a:lnTo>
                    <a:pt x="141" y="300"/>
                  </a:lnTo>
                  <a:lnTo>
                    <a:pt x="145" y="296"/>
                  </a:lnTo>
                  <a:lnTo>
                    <a:pt x="147" y="295"/>
                  </a:lnTo>
                  <a:lnTo>
                    <a:pt x="147" y="291"/>
                  </a:lnTo>
                  <a:lnTo>
                    <a:pt x="148" y="291"/>
                  </a:lnTo>
                  <a:lnTo>
                    <a:pt x="148" y="291"/>
                  </a:lnTo>
                  <a:lnTo>
                    <a:pt x="150" y="293"/>
                  </a:lnTo>
                  <a:lnTo>
                    <a:pt x="154" y="293"/>
                  </a:lnTo>
                  <a:lnTo>
                    <a:pt x="156" y="295"/>
                  </a:lnTo>
                  <a:lnTo>
                    <a:pt x="156" y="293"/>
                  </a:lnTo>
                  <a:lnTo>
                    <a:pt x="156" y="295"/>
                  </a:lnTo>
                  <a:lnTo>
                    <a:pt x="160" y="295"/>
                  </a:lnTo>
                  <a:lnTo>
                    <a:pt x="162" y="296"/>
                  </a:lnTo>
                  <a:lnTo>
                    <a:pt x="164" y="296"/>
                  </a:lnTo>
                  <a:lnTo>
                    <a:pt x="166" y="295"/>
                  </a:lnTo>
                  <a:lnTo>
                    <a:pt x="168" y="295"/>
                  </a:lnTo>
                  <a:lnTo>
                    <a:pt x="171" y="296"/>
                  </a:lnTo>
                  <a:lnTo>
                    <a:pt x="171" y="295"/>
                  </a:lnTo>
                  <a:lnTo>
                    <a:pt x="173" y="295"/>
                  </a:lnTo>
                  <a:lnTo>
                    <a:pt x="173" y="295"/>
                  </a:lnTo>
                  <a:lnTo>
                    <a:pt x="173" y="293"/>
                  </a:lnTo>
                  <a:lnTo>
                    <a:pt x="173" y="293"/>
                  </a:lnTo>
                  <a:lnTo>
                    <a:pt x="173" y="291"/>
                  </a:lnTo>
                  <a:lnTo>
                    <a:pt x="177" y="289"/>
                  </a:lnTo>
                  <a:lnTo>
                    <a:pt x="179" y="289"/>
                  </a:lnTo>
                  <a:lnTo>
                    <a:pt x="179" y="289"/>
                  </a:lnTo>
                  <a:lnTo>
                    <a:pt x="181" y="289"/>
                  </a:lnTo>
                  <a:lnTo>
                    <a:pt x="183" y="289"/>
                  </a:lnTo>
                  <a:lnTo>
                    <a:pt x="183" y="291"/>
                  </a:lnTo>
                  <a:lnTo>
                    <a:pt x="185" y="293"/>
                  </a:lnTo>
                  <a:lnTo>
                    <a:pt x="185" y="293"/>
                  </a:lnTo>
                  <a:lnTo>
                    <a:pt x="187" y="296"/>
                  </a:lnTo>
                  <a:lnTo>
                    <a:pt x="187" y="296"/>
                  </a:lnTo>
                  <a:lnTo>
                    <a:pt x="188" y="298"/>
                  </a:lnTo>
                  <a:lnTo>
                    <a:pt x="190" y="298"/>
                  </a:lnTo>
                  <a:lnTo>
                    <a:pt x="192" y="298"/>
                  </a:lnTo>
                  <a:lnTo>
                    <a:pt x="194" y="298"/>
                  </a:lnTo>
                  <a:lnTo>
                    <a:pt x="196" y="298"/>
                  </a:lnTo>
                  <a:lnTo>
                    <a:pt x="198" y="296"/>
                  </a:lnTo>
                  <a:lnTo>
                    <a:pt x="198" y="296"/>
                  </a:lnTo>
                  <a:lnTo>
                    <a:pt x="202" y="296"/>
                  </a:lnTo>
                  <a:lnTo>
                    <a:pt x="202" y="296"/>
                  </a:lnTo>
                  <a:lnTo>
                    <a:pt x="204" y="296"/>
                  </a:lnTo>
                  <a:lnTo>
                    <a:pt x="206" y="293"/>
                  </a:lnTo>
                  <a:lnTo>
                    <a:pt x="209" y="291"/>
                  </a:lnTo>
                  <a:lnTo>
                    <a:pt x="211" y="289"/>
                  </a:lnTo>
                  <a:lnTo>
                    <a:pt x="213" y="289"/>
                  </a:lnTo>
                  <a:lnTo>
                    <a:pt x="215" y="287"/>
                  </a:lnTo>
                  <a:lnTo>
                    <a:pt x="219" y="287"/>
                  </a:lnTo>
                  <a:lnTo>
                    <a:pt x="219" y="285"/>
                  </a:lnTo>
                  <a:lnTo>
                    <a:pt x="219" y="283"/>
                  </a:lnTo>
                  <a:lnTo>
                    <a:pt x="219" y="283"/>
                  </a:lnTo>
                  <a:lnTo>
                    <a:pt x="217" y="281"/>
                  </a:lnTo>
                  <a:lnTo>
                    <a:pt x="217" y="281"/>
                  </a:lnTo>
                  <a:lnTo>
                    <a:pt x="215" y="281"/>
                  </a:lnTo>
                  <a:lnTo>
                    <a:pt x="215" y="279"/>
                  </a:lnTo>
                  <a:lnTo>
                    <a:pt x="215" y="279"/>
                  </a:lnTo>
                  <a:lnTo>
                    <a:pt x="215" y="277"/>
                  </a:lnTo>
                  <a:lnTo>
                    <a:pt x="215" y="277"/>
                  </a:lnTo>
                  <a:lnTo>
                    <a:pt x="215" y="275"/>
                  </a:lnTo>
                  <a:lnTo>
                    <a:pt x="215" y="274"/>
                  </a:lnTo>
                  <a:lnTo>
                    <a:pt x="217" y="268"/>
                  </a:lnTo>
                  <a:lnTo>
                    <a:pt x="217" y="268"/>
                  </a:lnTo>
                  <a:lnTo>
                    <a:pt x="219" y="266"/>
                  </a:lnTo>
                  <a:lnTo>
                    <a:pt x="219" y="266"/>
                  </a:lnTo>
                  <a:lnTo>
                    <a:pt x="219" y="266"/>
                  </a:lnTo>
                  <a:lnTo>
                    <a:pt x="219" y="266"/>
                  </a:lnTo>
                  <a:lnTo>
                    <a:pt x="219" y="264"/>
                  </a:lnTo>
                  <a:lnTo>
                    <a:pt x="219" y="264"/>
                  </a:lnTo>
                  <a:lnTo>
                    <a:pt x="219" y="264"/>
                  </a:lnTo>
                  <a:lnTo>
                    <a:pt x="219" y="262"/>
                  </a:lnTo>
                  <a:lnTo>
                    <a:pt x="219" y="262"/>
                  </a:lnTo>
                  <a:lnTo>
                    <a:pt x="219" y="262"/>
                  </a:lnTo>
                  <a:lnTo>
                    <a:pt x="221" y="262"/>
                  </a:lnTo>
                  <a:lnTo>
                    <a:pt x="223" y="262"/>
                  </a:lnTo>
                  <a:lnTo>
                    <a:pt x="221" y="260"/>
                  </a:lnTo>
                  <a:lnTo>
                    <a:pt x="221" y="260"/>
                  </a:lnTo>
                  <a:lnTo>
                    <a:pt x="219" y="260"/>
                  </a:lnTo>
                  <a:lnTo>
                    <a:pt x="219" y="260"/>
                  </a:lnTo>
                  <a:lnTo>
                    <a:pt x="217" y="258"/>
                  </a:lnTo>
                  <a:lnTo>
                    <a:pt x="217" y="258"/>
                  </a:lnTo>
                  <a:lnTo>
                    <a:pt x="217" y="258"/>
                  </a:lnTo>
                  <a:lnTo>
                    <a:pt x="217" y="256"/>
                  </a:lnTo>
                  <a:lnTo>
                    <a:pt x="219" y="256"/>
                  </a:lnTo>
                  <a:lnTo>
                    <a:pt x="219" y="256"/>
                  </a:lnTo>
                  <a:lnTo>
                    <a:pt x="219" y="256"/>
                  </a:lnTo>
                  <a:lnTo>
                    <a:pt x="223" y="258"/>
                  </a:lnTo>
                  <a:lnTo>
                    <a:pt x="223" y="258"/>
                  </a:lnTo>
                  <a:lnTo>
                    <a:pt x="225" y="258"/>
                  </a:lnTo>
                  <a:lnTo>
                    <a:pt x="225" y="258"/>
                  </a:lnTo>
                  <a:lnTo>
                    <a:pt x="227" y="260"/>
                  </a:lnTo>
                  <a:lnTo>
                    <a:pt x="227" y="260"/>
                  </a:lnTo>
                  <a:lnTo>
                    <a:pt x="229" y="260"/>
                  </a:lnTo>
                  <a:lnTo>
                    <a:pt x="229" y="258"/>
                  </a:lnTo>
                  <a:lnTo>
                    <a:pt x="229" y="258"/>
                  </a:lnTo>
                  <a:lnTo>
                    <a:pt x="229" y="258"/>
                  </a:lnTo>
                  <a:lnTo>
                    <a:pt x="229" y="256"/>
                  </a:lnTo>
                  <a:lnTo>
                    <a:pt x="229" y="256"/>
                  </a:lnTo>
                  <a:lnTo>
                    <a:pt x="229" y="256"/>
                  </a:lnTo>
                  <a:lnTo>
                    <a:pt x="230" y="256"/>
                  </a:lnTo>
                  <a:lnTo>
                    <a:pt x="230" y="256"/>
                  </a:lnTo>
                  <a:lnTo>
                    <a:pt x="232" y="258"/>
                  </a:lnTo>
                  <a:lnTo>
                    <a:pt x="232" y="258"/>
                  </a:lnTo>
                  <a:lnTo>
                    <a:pt x="232" y="258"/>
                  </a:lnTo>
                  <a:lnTo>
                    <a:pt x="232" y="258"/>
                  </a:lnTo>
                  <a:lnTo>
                    <a:pt x="234" y="258"/>
                  </a:lnTo>
                  <a:lnTo>
                    <a:pt x="234" y="258"/>
                  </a:lnTo>
                  <a:lnTo>
                    <a:pt x="234" y="256"/>
                  </a:lnTo>
                  <a:lnTo>
                    <a:pt x="234" y="255"/>
                  </a:lnTo>
                  <a:lnTo>
                    <a:pt x="234" y="255"/>
                  </a:lnTo>
                  <a:lnTo>
                    <a:pt x="234" y="255"/>
                  </a:lnTo>
                  <a:lnTo>
                    <a:pt x="234" y="253"/>
                  </a:lnTo>
                  <a:lnTo>
                    <a:pt x="234" y="253"/>
                  </a:lnTo>
                  <a:lnTo>
                    <a:pt x="234" y="253"/>
                  </a:lnTo>
                  <a:lnTo>
                    <a:pt x="234" y="251"/>
                  </a:lnTo>
                  <a:lnTo>
                    <a:pt x="236" y="251"/>
                  </a:lnTo>
                  <a:lnTo>
                    <a:pt x="236" y="251"/>
                  </a:lnTo>
                  <a:lnTo>
                    <a:pt x="236" y="251"/>
                  </a:lnTo>
                  <a:lnTo>
                    <a:pt x="238" y="253"/>
                  </a:lnTo>
                  <a:lnTo>
                    <a:pt x="238" y="256"/>
                  </a:lnTo>
                  <a:lnTo>
                    <a:pt x="238" y="258"/>
                  </a:lnTo>
                  <a:lnTo>
                    <a:pt x="240" y="260"/>
                  </a:lnTo>
                  <a:lnTo>
                    <a:pt x="240" y="260"/>
                  </a:lnTo>
                  <a:lnTo>
                    <a:pt x="242" y="260"/>
                  </a:lnTo>
                  <a:lnTo>
                    <a:pt x="244" y="262"/>
                  </a:lnTo>
                  <a:lnTo>
                    <a:pt x="244" y="262"/>
                  </a:lnTo>
                  <a:lnTo>
                    <a:pt x="248" y="262"/>
                  </a:lnTo>
                  <a:lnTo>
                    <a:pt x="253" y="258"/>
                  </a:lnTo>
                  <a:lnTo>
                    <a:pt x="257" y="256"/>
                  </a:lnTo>
                  <a:lnTo>
                    <a:pt x="257" y="255"/>
                  </a:lnTo>
                  <a:lnTo>
                    <a:pt x="257" y="255"/>
                  </a:lnTo>
                  <a:lnTo>
                    <a:pt x="257" y="253"/>
                  </a:lnTo>
                  <a:lnTo>
                    <a:pt x="257" y="251"/>
                  </a:lnTo>
                  <a:lnTo>
                    <a:pt x="257" y="251"/>
                  </a:lnTo>
                  <a:lnTo>
                    <a:pt x="257" y="251"/>
                  </a:lnTo>
                  <a:lnTo>
                    <a:pt x="257" y="249"/>
                  </a:lnTo>
                  <a:lnTo>
                    <a:pt x="257" y="249"/>
                  </a:lnTo>
                  <a:lnTo>
                    <a:pt x="257" y="249"/>
                  </a:lnTo>
                  <a:lnTo>
                    <a:pt x="257" y="249"/>
                  </a:lnTo>
                  <a:lnTo>
                    <a:pt x="255" y="249"/>
                  </a:lnTo>
                  <a:lnTo>
                    <a:pt x="255" y="247"/>
                  </a:lnTo>
                  <a:lnTo>
                    <a:pt x="255" y="247"/>
                  </a:lnTo>
                  <a:lnTo>
                    <a:pt x="253" y="247"/>
                  </a:lnTo>
                  <a:lnTo>
                    <a:pt x="253" y="247"/>
                  </a:lnTo>
                  <a:lnTo>
                    <a:pt x="253" y="245"/>
                  </a:lnTo>
                  <a:lnTo>
                    <a:pt x="253" y="245"/>
                  </a:lnTo>
                  <a:lnTo>
                    <a:pt x="253" y="245"/>
                  </a:lnTo>
                  <a:lnTo>
                    <a:pt x="253" y="245"/>
                  </a:lnTo>
                  <a:lnTo>
                    <a:pt x="253" y="245"/>
                  </a:lnTo>
                  <a:lnTo>
                    <a:pt x="251" y="245"/>
                  </a:lnTo>
                  <a:lnTo>
                    <a:pt x="251" y="245"/>
                  </a:lnTo>
                  <a:lnTo>
                    <a:pt x="249" y="247"/>
                  </a:lnTo>
                  <a:lnTo>
                    <a:pt x="249" y="247"/>
                  </a:lnTo>
                  <a:lnTo>
                    <a:pt x="249" y="247"/>
                  </a:lnTo>
                  <a:lnTo>
                    <a:pt x="249" y="247"/>
                  </a:lnTo>
                  <a:lnTo>
                    <a:pt x="248" y="247"/>
                  </a:lnTo>
                  <a:lnTo>
                    <a:pt x="248" y="247"/>
                  </a:lnTo>
                  <a:lnTo>
                    <a:pt x="248" y="245"/>
                  </a:lnTo>
                  <a:lnTo>
                    <a:pt x="248" y="245"/>
                  </a:lnTo>
                  <a:lnTo>
                    <a:pt x="249" y="243"/>
                  </a:lnTo>
                  <a:lnTo>
                    <a:pt x="251" y="243"/>
                  </a:lnTo>
                  <a:lnTo>
                    <a:pt x="255" y="241"/>
                  </a:lnTo>
                  <a:lnTo>
                    <a:pt x="255" y="241"/>
                  </a:lnTo>
                  <a:lnTo>
                    <a:pt x="257" y="239"/>
                  </a:lnTo>
                  <a:lnTo>
                    <a:pt x="259" y="239"/>
                  </a:lnTo>
                  <a:lnTo>
                    <a:pt x="265" y="236"/>
                  </a:lnTo>
                  <a:lnTo>
                    <a:pt x="267" y="234"/>
                  </a:lnTo>
                  <a:lnTo>
                    <a:pt x="267" y="234"/>
                  </a:lnTo>
                  <a:lnTo>
                    <a:pt x="267" y="232"/>
                  </a:lnTo>
                  <a:lnTo>
                    <a:pt x="267" y="232"/>
                  </a:lnTo>
                  <a:lnTo>
                    <a:pt x="267" y="232"/>
                  </a:lnTo>
                  <a:lnTo>
                    <a:pt x="265" y="232"/>
                  </a:lnTo>
                  <a:lnTo>
                    <a:pt x="265" y="232"/>
                  </a:lnTo>
                  <a:lnTo>
                    <a:pt x="265" y="232"/>
                  </a:lnTo>
                  <a:lnTo>
                    <a:pt x="265" y="230"/>
                  </a:lnTo>
                  <a:lnTo>
                    <a:pt x="265" y="228"/>
                  </a:lnTo>
                  <a:lnTo>
                    <a:pt x="265" y="226"/>
                  </a:lnTo>
                  <a:lnTo>
                    <a:pt x="267" y="226"/>
                  </a:lnTo>
                  <a:lnTo>
                    <a:pt x="269" y="224"/>
                  </a:lnTo>
                  <a:lnTo>
                    <a:pt x="269" y="224"/>
                  </a:lnTo>
                  <a:lnTo>
                    <a:pt x="270" y="226"/>
                  </a:lnTo>
                  <a:lnTo>
                    <a:pt x="272" y="226"/>
                  </a:lnTo>
                  <a:lnTo>
                    <a:pt x="274" y="226"/>
                  </a:lnTo>
                  <a:lnTo>
                    <a:pt x="276" y="226"/>
                  </a:lnTo>
                  <a:lnTo>
                    <a:pt x="276" y="226"/>
                  </a:lnTo>
                  <a:lnTo>
                    <a:pt x="278" y="228"/>
                  </a:lnTo>
                  <a:lnTo>
                    <a:pt x="278" y="230"/>
                  </a:lnTo>
                  <a:lnTo>
                    <a:pt x="278" y="232"/>
                  </a:lnTo>
                  <a:lnTo>
                    <a:pt x="280" y="234"/>
                  </a:lnTo>
                  <a:lnTo>
                    <a:pt x="280" y="232"/>
                  </a:lnTo>
                  <a:lnTo>
                    <a:pt x="282" y="232"/>
                  </a:lnTo>
                  <a:lnTo>
                    <a:pt x="282" y="230"/>
                  </a:lnTo>
                  <a:lnTo>
                    <a:pt x="282" y="228"/>
                  </a:lnTo>
                  <a:lnTo>
                    <a:pt x="282" y="228"/>
                  </a:lnTo>
                  <a:lnTo>
                    <a:pt x="282" y="224"/>
                  </a:lnTo>
                  <a:close/>
                </a:path>
              </a:pathLst>
            </a:custGeom>
            <a:solidFill>
              <a:srgbClr val="DA291C"/>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75" name="Freeform 24">
              <a:extLst>
                <a:ext uri="{FF2B5EF4-FFF2-40B4-BE49-F238E27FC236}">
                  <a16:creationId xmlns:a16="http://schemas.microsoft.com/office/drawing/2014/main" id="{1A527397-4AD0-2E92-8827-25DCD4A528F9}"/>
                </a:ext>
              </a:extLst>
            </p:cNvPr>
            <p:cNvSpPr>
              <a:spLocks noEditPoints="1"/>
            </p:cNvSpPr>
            <p:nvPr/>
          </p:nvSpPr>
          <p:spPr bwMode="auto">
            <a:xfrm>
              <a:off x="2239923" y="4735915"/>
              <a:ext cx="1235680" cy="955714"/>
            </a:xfrm>
            <a:custGeom>
              <a:avLst/>
              <a:gdLst>
                <a:gd name="T0" fmla="*/ 426 w 655"/>
                <a:gd name="T1" fmla="*/ 548 h 565"/>
                <a:gd name="T2" fmla="*/ 421 w 655"/>
                <a:gd name="T3" fmla="*/ 550 h 565"/>
                <a:gd name="T4" fmla="*/ 417 w 655"/>
                <a:gd name="T5" fmla="*/ 548 h 565"/>
                <a:gd name="T6" fmla="*/ 419 w 655"/>
                <a:gd name="T7" fmla="*/ 551 h 565"/>
                <a:gd name="T8" fmla="*/ 417 w 655"/>
                <a:gd name="T9" fmla="*/ 551 h 565"/>
                <a:gd name="T10" fmla="*/ 415 w 655"/>
                <a:gd name="T11" fmla="*/ 551 h 565"/>
                <a:gd name="T12" fmla="*/ 415 w 655"/>
                <a:gd name="T13" fmla="*/ 555 h 565"/>
                <a:gd name="T14" fmla="*/ 419 w 655"/>
                <a:gd name="T15" fmla="*/ 557 h 565"/>
                <a:gd name="T16" fmla="*/ 421 w 655"/>
                <a:gd name="T17" fmla="*/ 557 h 565"/>
                <a:gd name="T18" fmla="*/ 423 w 655"/>
                <a:gd name="T19" fmla="*/ 557 h 565"/>
                <a:gd name="T20" fmla="*/ 425 w 655"/>
                <a:gd name="T21" fmla="*/ 559 h 565"/>
                <a:gd name="T22" fmla="*/ 423 w 655"/>
                <a:gd name="T23" fmla="*/ 561 h 565"/>
                <a:gd name="T24" fmla="*/ 425 w 655"/>
                <a:gd name="T25" fmla="*/ 563 h 565"/>
                <a:gd name="T26" fmla="*/ 426 w 655"/>
                <a:gd name="T27" fmla="*/ 551 h 565"/>
                <a:gd name="T28" fmla="*/ 9 w 655"/>
                <a:gd name="T29" fmla="*/ 439 h 565"/>
                <a:gd name="T30" fmla="*/ 5 w 655"/>
                <a:gd name="T31" fmla="*/ 441 h 565"/>
                <a:gd name="T32" fmla="*/ 2 w 655"/>
                <a:gd name="T33" fmla="*/ 443 h 565"/>
                <a:gd name="T34" fmla="*/ 0 w 655"/>
                <a:gd name="T35" fmla="*/ 451 h 565"/>
                <a:gd name="T36" fmla="*/ 0 w 655"/>
                <a:gd name="T37" fmla="*/ 451 h 565"/>
                <a:gd name="T38" fmla="*/ 2 w 655"/>
                <a:gd name="T39" fmla="*/ 451 h 565"/>
                <a:gd name="T40" fmla="*/ 5 w 655"/>
                <a:gd name="T41" fmla="*/ 454 h 565"/>
                <a:gd name="T42" fmla="*/ 9 w 655"/>
                <a:gd name="T43" fmla="*/ 447 h 565"/>
                <a:gd name="T44" fmla="*/ 11 w 655"/>
                <a:gd name="T45" fmla="*/ 443 h 565"/>
                <a:gd name="T46" fmla="*/ 15 w 655"/>
                <a:gd name="T47" fmla="*/ 441 h 565"/>
                <a:gd name="T48" fmla="*/ 15 w 655"/>
                <a:gd name="T49" fmla="*/ 437 h 565"/>
                <a:gd name="T50" fmla="*/ 428 w 655"/>
                <a:gd name="T51" fmla="*/ 456 h 565"/>
                <a:gd name="T52" fmla="*/ 423 w 655"/>
                <a:gd name="T53" fmla="*/ 460 h 565"/>
                <a:gd name="T54" fmla="*/ 419 w 655"/>
                <a:gd name="T55" fmla="*/ 458 h 565"/>
                <a:gd name="T56" fmla="*/ 421 w 655"/>
                <a:gd name="T57" fmla="*/ 456 h 565"/>
                <a:gd name="T58" fmla="*/ 421 w 655"/>
                <a:gd name="T59" fmla="*/ 454 h 565"/>
                <a:gd name="T60" fmla="*/ 415 w 655"/>
                <a:gd name="T61" fmla="*/ 454 h 565"/>
                <a:gd name="T62" fmla="*/ 413 w 655"/>
                <a:gd name="T63" fmla="*/ 453 h 565"/>
                <a:gd name="T64" fmla="*/ 411 w 655"/>
                <a:gd name="T65" fmla="*/ 454 h 565"/>
                <a:gd name="T66" fmla="*/ 413 w 655"/>
                <a:gd name="T67" fmla="*/ 456 h 565"/>
                <a:gd name="T68" fmla="*/ 413 w 655"/>
                <a:gd name="T69" fmla="*/ 458 h 565"/>
                <a:gd name="T70" fmla="*/ 415 w 655"/>
                <a:gd name="T71" fmla="*/ 460 h 565"/>
                <a:gd name="T72" fmla="*/ 415 w 655"/>
                <a:gd name="T73" fmla="*/ 464 h 565"/>
                <a:gd name="T74" fmla="*/ 415 w 655"/>
                <a:gd name="T75" fmla="*/ 466 h 565"/>
                <a:gd name="T76" fmla="*/ 417 w 655"/>
                <a:gd name="T77" fmla="*/ 468 h 565"/>
                <a:gd name="T78" fmla="*/ 419 w 655"/>
                <a:gd name="T79" fmla="*/ 468 h 565"/>
                <a:gd name="T80" fmla="*/ 425 w 655"/>
                <a:gd name="T81" fmla="*/ 468 h 565"/>
                <a:gd name="T82" fmla="*/ 428 w 655"/>
                <a:gd name="T83" fmla="*/ 456 h 565"/>
                <a:gd name="T84" fmla="*/ 428 w 655"/>
                <a:gd name="T85" fmla="*/ 456 h 565"/>
                <a:gd name="T86" fmla="*/ 653 w 655"/>
                <a:gd name="T87" fmla="*/ 2 h 565"/>
                <a:gd name="T88" fmla="*/ 653 w 655"/>
                <a:gd name="T89" fmla="*/ 2 h 565"/>
                <a:gd name="T90" fmla="*/ 647 w 655"/>
                <a:gd name="T91" fmla="*/ 2 h 565"/>
                <a:gd name="T92" fmla="*/ 646 w 655"/>
                <a:gd name="T93" fmla="*/ 0 h 565"/>
                <a:gd name="T94" fmla="*/ 644 w 655"/>
                <a:gd name="T95" fmla="*/ 2 h 565"/>
                <a:gd name="T96" fmla="*/ 647 w 655"/>
                <a:gd name="T97" fmla="*/ 4 h 565"/>
                <a:gd name="T98" fmla="*/ 653 w 655"/>
                <a:gd name="T99" fmla="*/ 6 h 565"/>
                <a:gd name="T100" fmla="*/ 653 w 655"/>
                <a:gd name="T101" fmla="*/ 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5" h="565">
                  <a:moveTo>
                    <a:pt x="426" y="551"/>
                  </a:moveTo>
                  <a:lnTo>
                    <a:pt x="428" y="548"/>
                  </a:lnTo>
                  <a:lnTo>
                    <a:pt x="428" y="548"/>
                  </a:lnTo>
                  <a:lnTo>
                    <a:pt x="426" y="548"/>
                  </a:lnTo>
                  <a:lnTo>
                    <a:pt x="425" y="548"/>
                  </a:lnTo>
                  <a:lnTo>
                    <a:pt x="423" y="548"/>
                  </a:lnTo>
                  <a:lnTo>
                    <a:pt x="423" y="550"/>
                  </a:lnTo>
                  <a:lnTo>
                    <a:pt x="421" y="550"/>
                  </a:lnTo>
                  <a:lnTo>
                    <a:pt x="419" y="548"/>
                  </a:lnTo>
                  <a:lnTo>
                    <a:pt x="417" y="548"/>
                  </a:lnTo>
                  <a:lnTo>
                    <a:pt x="417" y="548"/>
                  </a:lnTo>
                  <a:lnTo>
                    <a:pt x="417" y="548"/>
                  </a:lnTo>
                  <a:lnTo>
                    <a:pt x="417" y="550"/>
                  </a:lnTo>
                  <a:lnTo>
                    <a:pt x="417" y="550"/>
                  </a:lnTo>
                  <a:lnTo>
                    <a:pt x="419" y="550"/>
                  </a:lnTo>
                  <a:lnTo>
                    <a:pt x="419" y="551"/>
                  </a:lnTo>
                  <a:lnTo>
                    <a:pt x="419" y="551"/>
                  </a:lnTo>
                  <a:lnTo>
                    <a:pt x="417" y="551"/>
                  </a:lnTo>
                  <a:lnTo>
                    <a:pt x="417" y="551"/>
                  </a:lnTo>
                  <a:lnTo>
                    <a:pt x="417" y="551"/>
                  </a:lnTo>
                  <a:lnTo>
                    <a:pt x="415" y="551"/>
                  </a:lnTo>
                  <a:lnTo>
                    <a:pt x="415" y="551"/>
                  </a:lnTo>
                  <a:lnTo>
                    <a:pt x="415" y="551"/>
                  </a:lnTo>
                  <a:lnTo>
                    <a:pt x="415" y="551"/>
                  </a:lnTo>
                  <a:lnTo>
                    <a:pt x="415" y="553"/>
                  </a:lnTo>
                  <a:lnTo>
                    <a:pt x="415" y="553"/>
                  </a:lnTo>
                  <a:lnTo>
                    <a:pt x="415" y="555"/>
                  </a:lnTo>
                  <a:lnTo>
                    <a:pt x="415" y="555"/>
                  </a:lnTo>
                  <a:lnTo>
                    <a:pt x="417" y="555"/>
                  </a:lnTo>
                  <a:lnTo>
                    <a:pt x="417" y="555"/>
                  </a:lnTo>
                  <a:lnTo>
                    <a:pt x="417" y="555"/>
                  </a:lnTo>
                  <a:lnTo>
                    <a:pt x="419" y="557"/>
                  </a:lnTo>
                  <a:lnTo>
                    <a:pt x="419" y="557"/>
                  </a:lnTo>
                  <a:lnTo>
                    <a:pt x="419" y="557"/>
                  </a:lnTo>
                  <a:lnTo>
                    <a:pt x="421" y="557"/>
                  </a:lnTo>
                  <a:lnTo>
                    <a:pt x="421" y="557"/>
                  </a:lnTo>
                  <a:lnTo>
                    <a:pt x="421" y="557"/>
                  </a:lnTo>
                  <a:lnTo>
                    <a:pt x="421" y="557"/>
                  </a:lnTo>
                  <a:lnTo>
                    <a:pt x="421" y="559"/>
                  </a:lnTo>
                  <a:lnTo>
                    <a:pt x="423" y="557"/>
                  </a:lnTo>
                  <a:lnTo>
                    <a:pt x="423" y="557"/>
                  </a:lnTo>
                  <a:lnTo>
                    <a:pt x="423" y="557"/>
                  </a:lnTo>
                  <a:lnTo>
                    <a:pt x="425" y="559"/>
                  </a:lnTo>
                  <a:lnTo>
                    <a:pt x="425" y="559"/>
                  </a:lnTo>
                  <a:lnTo>
                    <a:pt x="423" y="559"/>
                  </a:lnTo>
                  <a:lnTo>
                    <a:pt x="423" y="559"/>
                  </a:lnTo>
                  <a:lnTo>
                    <a:pt x="423" y="561"/>
                  </a:lnTo>
                  <a:lnTo>
                    <a:pt x="423" y="561"/>
                  </a:lnTo>
                  <a:lnTo>
                    <a:pt x="423" y="561"/>
                  </a:lnTo>
                  <a:lnTo>
                    <a:pt x="425" y="563"/>
                  </a:lnTo>
                  <a:lnTo>
                    <a:pt x="425" y="563"/>
                  </a:lnTo>
                  <a:lnTo>
                    <a:pt x="425" y="563"/>
                  </a:lnTo>
                  <a:lnTo>
                    <a:pt x="426" y="565"/>
                  </a:lnTo>
                  <a:lnTo>
                    <a:pt x="428" y="565"/>
                  </a:lnTo>
                  <a:lnTo>
                    <a:pt x="428" y="565"/>
                  </a:lnTo>
                  <a:lnTo>
                    <a:pt x="426" y="551"/>
                  </a:lnTo>
                  <a:close/>
                  <a:moveTo>
                    <a:pt x="15" y="439"/>
                  </a:moveTo>
                  <a:lnTo>
                    <a:pt x="13" y="439"/>
                  </a:lnTo>
                  <a:lnTo>
                    <a:pt x="11" y="439"/>
                  </a:lnTo>
                  <a:lnTo>
                    <a:pt x="9" y="439"/>
                  </a:lnTo>
                  <a:lnTo>
                    <a:pt x="9" y="439"/>
                  </a:lnTo>
                  <a:lnTo>
                    <a:pt x="7" y="441"/>
                  </a:lnTo>
                  <a:lnTo>
                    <a:pt x="7" y="441"/>
                  </a:lnTo>
                  <a:lnTo>
                    <a:pt x="5" y="441"/>
                  </a:lnTo>
                  <a:lnTo>
                    <a:pt x="5" y="443"/>
                  </a:lnTo>
                  <a:lnTo>
                    <a:pt x="3" y="443"/>
                  </a:lnTo>
                  <a:lnTo>
                    <a:pt x="2" y="441"/>
                  </a:lnTo>
                  <a:lnTo>
                    <a:pt x="2" y="443"/>
                  </a:lnTo>
                  <a:lnTo>
                    <a:pt x="2" y="449"/>
                  </a:lnTo>
                  <a:lnTo>
                    <a:pt x="2" y="451"/>
                  </a:lnTo>
                  <a:lnTo>
                    <a:pt x="0" y="451"/>
                  </a:lnTo>
                  <a:lnTo>
                    <a:pt x="0" y="451"/>
                  </a:lnTo>
                  <a:lnTo>
                    <a:pt x="0" y="451"/>
                  </a:lnTo>
                  <a:lnTo>
                    <a:pt x="0" y="451"/>
                  </a:lnTo>
                  <a:lnTo>
                    <a:pt x="0" y="451"/>
                  </a:lnTo>
                  <a:lnTo>
                    <a:pt x="0" y="451"/>
                  </a:lnTo>
                  <a:lnTo>
                    <a:pt x="0" y="451"/>
                  </a:lnTo>
                  <a:lnTo>
                    <a:pt x="2" y="451"/>
                  </a:lnTo>
                  <a:lnTo>
                    <a:pt x="2" y="451"/>
                  </a:lnTo>
                  <a:lnTo>
                    <a:pt x="2" y="451"/>
                  </a:lnTo>
                  <a:lnTo>
                    <a:pt x="2" y="451"/>
                  </a:lnTo>
                  <a:lnTo>
                    <a:pt x="2" y="451"/>
                  </a:lnTo>
                  <a:lnTo>
                    <a:pt x="3" y="453"/>
                  </a:lnTo>
                  <a:lnTo>
                    <a:pt x="5" y="454"/>
                  </a:lnTo>
                  <a:lnTo>
                    <a:pt x="3" y="453"/>
                  </a:lnTo>
                  <a:lnTo>
                    <a:pt x="5" y="451"/>
                  </a:lnTo>
                  <a:lnTo>
                    <a:pt x="9" y="449"/>
                  </a:lnTo>
                  <a:lnTo>
                    <a:pt x="9" y="447"/>
                  </a:lnTo>
                  <a:lnTo>
                    <a:pt x="7" y="445"/>
                  </a:lnTo>
                  <a:lnTo>
                    <a:pt x="9" y="443"/>
                  </a:lnTo>
                  <a:lnTo>
                    <a:pt x="11" y="441"/>
                  </a:lnTo>
                  <a:lnTo>
                    <a:pt x="11" y="443"/>
                  </a:lnTo>
                  <a:lnTo>
                    <a:pt x="11" y="443"/>
                  </a:lnTo>
                  <a:lnTo>
                    <a:pt x="13" y="443"/>
                  </a:lnTo>
                  <a:lnTo>
                    <a:pt x="13" y="441"/>
                  </a:lnTo>
                  <a:lnTo>
                    <a:pt x="15" y="441"/>
                  </a:lnTo>
                  <a:lnTo>
                    <a:pt x="15" y="439"/>
                  </a:lnTo>
                  <a:lnTo>
                    <a:pt x="17" y="439"/>
                  </a:lnTo>
                  <a:lnTo>
                    <a:pt x="17" y="439"/>
                  </a:lnTo>
                  <a:lnTo>
                    <a:pt x="15" y="437"/>
                  </a:lnTo>
                  <a:lnTo>
                    <a:pt x="15" y="439"/>
                  </a:lnTo>
                  <a:close/>
                  <a:moveTo>
                    <a:pt x="428" y="456"/>
                  </a:moveTo>
                  <a:lnTo>
                    <a:pt x="428" y="456"/>
                  </a:lnTo>
                  <a:lnTo>
                    <a:pt x="428" y="456"/>
                  </a:lnTo>
                  <a:lnTo>
                    <a:pt x="426" y="456"/>
                  </a:lnTo>
                  <a:lnTo>
                    <a:pt x="425" y="458"/>
                  </a:lnTo>
                  <a:lnTo>
                    <a:pt x="423" y="460"/>
                  </a:lnTo>
                  <a:lnTo>
                    <a:pt x="423" y="460"/>
                  </a:lnTo>
                  <a:lnTo>
                    <a:pt x="421" y="460"/>
                  </a:lnTo>
                  <a:lnTo>
                    <a:pt x="421" y="460"/>
                  </a:lnTo>
                  <a:lnTo>
                    <a:pt x="421" y="458"/>
                  </a:lnTo>
                  <a:lnTo>
                    <a:pt x="419" y="458"/>
                  </a:lnTo>
                  <a:lnTo>
                    <a:pt x="419" y="458"/>
                  </a:lnTo>
                  <a:lnTo>
                    <a:pt x="419" y="458"/>
                  </a:lnTo>
                  <a:lnTo>
                    <a:pt x="419" y="458"/>
                  </a:lnTo>
                  <a:lnTo>
                    <a:pt x="421" y="456"/>
                  </a:lnTo>
                  <a:lnTo>
                    <a:pt x="421" y="456"/>
                  </a:lnTo>
                  <a:lnTo>
                    <a:pt x="421" y="454"/>
                  </a:lnTo>
                  <a:lnTo>
                    <a:pt x="421" y="454"/>
                  </a:lnTo>
                  <a:lnTo>
                    <a:pt x="421" y="454"/>
                  </a:lnTo>
                  <a:lnTo>
                    <a:pt x="419" y="454"/>
                  </a:lnTo>
                  <a:lnTo>
                    <a:pt x="417" y="454"/>
                  </a:lnTo>
                  <a:lnTo>
                    <a:pt x="417" y="454"/>
                  </a:lnTo>
                  <a:lnTo>
                    <a:pt x="415" y="454"/>
                  </a:lnTo>
                  <a:lnTo>
                    <a:pt x="415" y="453"/>
                  </a:lnTo>
                  <a:lnTo>
                    <a:pt x="413" y="453"/>
                  </a:lnTo>
                  <a:lnTo>
                    <a:pt x="413" y="453"/>
                  </a:lnTo>
                  <a:lnTo>
                    <a:pt x="413" y="453"/>
                  </a:lnTo>
                  <a:lnTo>
                    <a:pt x="413" y="453"/>
                  </a:lnTo>
                  <a:lnTo>
                    <a:pt x="413" y="453"/>
                  </a:lnTo>
                  <a:lnTo>
                    <a:pt x="411" y="453"/>
                  </a:lnTo>
                  <a:lnTo>
                    <a:pt x="411" y="454"/>
                  </a:lnTo>
                  <a:lnTo>
                    <a:pt x="411" y="454"/>
                  </a:lnTo>
                  <a:lnTo>
                    <a:pt x="411" y="454"/>
                  </a:lnTo>
                  <a:lnTo>
                    <a:pt x="413" y="456"/>
                  </a:lnTo>
                  <a:lnTo>
                    <a:pt x="413" y="456"/>
                  </a:lnTo>
                  <a:lnTo>
                    <a:pt x="413" y="458"/>
                  </a:lnTo>
                  <a:lnTo>
                    <a:pt x="413" y="458"/>
                  </a:lnTo>
                  <a:lnTo>
                    <a:pt x="413" y="458"/>
                  </a:lnTo>
                  <a:lnTo>
                    <a:pt x="413" y="458"/>
                  </a:lnTo>
                  <a:lnTo>
                    <a:pt x="413" y="460"/>
                  </a:lnTo>
                  <a:lnTo>
                    <a:pt x="415" y="460"/>
                  </a:lnTo>
                  <a:lnTo>
                    <a:pt x="415" y="460"/>
                  </a:lnTo>
                  <a:lnTo>
                    <a:pt x="415" y="460"/>
                  </a:lnTo>
                  <a:lnTo>
                    <a:pt x="415" y="462"/>
                  </a:lnTo>
                  <a:lnTo>
                    <a:pt x="415" y="462"/>
                  </a:lnTo>
                  <a:lnTo>
                    <a:pt x="415" y="464"/>
                  </a:lnTo>
                  <a:lnTo>
                    <a:pt x="415" y="464"/>
                  </a:lnTo>
                  <a:lnTo>
                    <a:pt x="415" y="466"/>
                  </a:lnTo>
                  <a:lnTo>
                    <a:pt x="415" y="466"/>
                  </a:lnTo>
                  <a:lnTo>
                    <a:pt x="415" y="466"/>
                  </a:lnTo>
                  <a:lnTo>
                    <a:pt x="415" y="466"/>
                  </a:lnTo>
                  <a:lnTo>
                    <a:pt x="415" y="466"/>
                  </a:lnTo>
                  <a:lnTo>
                    <a:pt x="417" y="468"/>
                  </a:lnTo>
                  <a:lnTo>
                    <a:pt x="417" y="468"/>
                  </a:lnTo>
                  <a:lnTo>
                    <a:pt x="417" y="468"/>
                  </a:lnTo>
                  <a:lnTo>
                    <a:pt x="419" y="468"/>
                  </a:lnTo>
                  <a:lnTo>
                    <a:pt x="419" y="468"/>
                  </a:lnTo>
                  <a:lnTo>
                    <a:pt x="419" y="468"/>
                  </a:lnTo>
                  <a:lnTo>
                    <a:pt x="419" y="468"/>
                  </a:lnTo>
                  <a:lnTo>
                    <a:pt x="421" y="468"/>
                  </a:lnTo>
                  <a:lnTo>
                    <a:pt x="425" y="468"/>
                  </a:lnTo>
                  <a:lnTo>
                    <a:pt x="425" y="468"/>
                  </a:lnTo>
                  <a:lnTo>
                    <a:pt x="425" y="468"/>
                  </a:lnTo>
                  <a:lnTo>
                    <a:pt x="425" y="464"/>
                  </a:lnTo>
                  <a:lnTo>
                    <a:pt x="428" y="458"/>
                  </a:lnTo>
                  <a:lnTo>
                    <a:pt x="428" y="456"/>
                  </a:lnTo>
                  <a:lnTo>
                    <a:pt x="428" y="456"/>
                  </a:lnTo>
                  <a:lnTo>
                    <a:pt x="428" y="454"/>
                  </a:lnTo>
                  <a:lnTo>
                    <a:pt x="428" y="454"/>
                  </a:lnTo>
                  <a:lnTo>
                    <a:pt x="428" y="454"/>
                  </a:lnTo>
                  <a:lnTo>
                    <a:pt x="428" y="456"/>
                  </a:lnTo>
                  <a:close/>
                  <a:moveTo>
                    <a:pt x="653" y="4"/>
                  </a:moveTo>
                  <a:lnTo>
                    <a:pt x="655" y="4"/>
                  </a:lnTo>
                  <a:lnTo>
                    <a:pt x="655" y="2"/>
                  </a:lnTo>
                  <a:lnTo>
                    <a:pt x="653" y="2"/>
                  </a:lnTo>
                  <a:lnTo>
                    <a:pt x="653" y="2"/>
                  </a:lnTo>
                  <a:lnTo>
                    <a:pt x="653" y="2"/>
                  </a:lnTo>
                  <a:lnTo>
                    <a:pt x="653" y="2"/>
                  </a:lnTo>
                  <a:lnTo>
                    <a:pt x="653" y="2"/>
                  </a:lnTo>
                  <a:lnTo>
                    <a:pt x="651" y="4"/>
                  </a:lnTo>
                  <a:lnTo>
                    <a:pt x="651" y="4"/>
                  </a:lnTo>
                  <a:lnTo>
                    <a:pt x="647" y="4"/>
                  </a:lnTo>
                  <a:lnTo>
                    <a:pt x="647" y="2"/>
                  </a:lnTo>
                  <a:lnTo>
                    <a:pt x="646" y="2"/>
                  </a:lnTo>
                  <a:lnTo>
                    <a:pt x="647" y="0"/>
                  </a:lnTo>
                  <a:lnTo>
                    <a:pt x="646" y="0"/>
                  </a:lnTo>
                  <a:lnTo>
                    <a:pt x="646" y="0"/>
                  </a:lnTo>
                  <a:lnTo>
                    <a:pt x="646" y="2"/>
                  </a:lnTo>
                  <a:lnTo>
                    <a:pt x="644" y="2"/>
                  </a:lnTo>
                  <a:lnTo>
                    <a:pt x="644" y="2"/>
                  </a:lnTo>
                  <a:lnTo>
                    <a:pt x="644" y="2"/>
                  </a:lnTo>
                  <a:lnTo>
                    <a:pt x="644" y="4"/>
                  </a:lnTo>
                  <a:lnTo>
                    <a:pt x="644" y="4"/>
                  </a:lnTo>
                  <a:lnTo>
                    <a:pt x="646" y="4"/>
                  </a:lnTo>
                  <a:lnTo>
                    <a:pt x="647" y="4"/>
                  </a:lnTo>
                  <a:lnTo>
                    <a:pt x="649" y="6"/>
                  </a:lnTo>
                  <a:lnTo>
                    <a:pt x="651" y="6"/>
                  </a:lnTo>
                  <a:lnTo>
                    <a:pt x="651" y="6"/>
                  </a:lnTo>
                  <a:lnTo>
                    <a:pt x="653" y="6"/>
                  </a:lnTo>
                  <a:lnTo>
                    <a:pt x="651" y="4"/>
                  </a:lnTo>
                  <a:lnTo>
                    <a:pt x="651" y="4"/>
                  </a:lnTo>
                  <a:lnTo>
                    <a:pt x="651" y="4"/>
                  </a:lnTo>
                  <a:lnTo>
                    <a:pt x="653" y="4"/>
                  </a:lnTo>
                  <a:lnTo>
                    <a:pt x="653" y="4"/>
                  </a:lnTo>
                  <a:close/>
                </a:path>
              </a:pathLst>
            </a:custGeom>
            <a:solidFill>
              <a:srgbClr val="FFF3DA"/>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76" name="Freeform 25">
              <a:extLst>
                <a:ext uri="{FF2B5EF4-FFF2-40B4-BE49-F238E27FC236}">
                  <a16:creationId xmlns:a16="http://schemas.microsoft.com/office/drawing/2014/main" id="{BF76AC86-7BC4-0796-F643-76702E87ADD0}"/>
                </a:ext>
              </a:extLst>
            </p:cNvPr>
            <p:cNvSpPr>
              <a:spLocks noEditPoints="1"/>
            </p:cNvSpPr>
            <p:nvPr/>
          </p:nvSpPr>
          <p:spPr bwMode="auto">
            <a:xfrm>
              <a:off x="2239923" y="4735915"/>
              <a:ext cx="1235680" cy="955714"/>
            </a:xfrm>
            <a:custGeom>
              <a:avLst/>
              <a:gdLst>
                <a:gd name="T0" fmla="*/ 426 w 655"/>
                <a:gd name="T1" fmla="*/ 548 h 565"/>
                <a:gd name="T2" fmla="*/ 421 w 655"/>
                <a:gd name="T3" fmla="*/ 550 h 565"/>
                <a:gd name="T4" fmla="*/ 417 w 655"/>
                <a:gd name="T5" fmla="*/ 548 h 565"/>
                <a:gd name="T6" fmla="*/ 419 w 655"/>
                <a:gd name="T7" fmla="*/ 551 h 565"/>
                <a:gd name="T8" fmla="*/ 417 w 655"/>
                <a:gd name="T9" fmla="*/ 551 h 565"/>
                <a:gd name="T10" fmla="*/ 415 w 655"/>
                <a:gd name="T11" fmla="*/ 551 h 565"/>
                <a:gd name="T12" fmla="*/ 415 w 655"/>
                <a:gd name="T13" fmla="*/ 555 h 565"/>
                <a:gd name="T14" fmla="*/ 419 w 655"/>
                <a:gd name="T15" fmla="*/ 557 h 565"/>
                <a:gd name="T16" fmla="*/ 421 w 655"/>
                <a:gd name="T17" fmla="*/ 557 h 565"/>
                <a:gd name="T18" fmla="*/ 423 w 655"/>
                <a:gd name="T19" fmla="*/ 557 h 565"/>
                <a:gd name="T20" fmla="*/ 425 w 655"/>
                <a:gd name="T21" fmla="*/ 559 h 565"/>
                <a:gd name="T22" fmla="*/ 423 w 655"/>
                <a:gd name="T23" fmla="*/ 561 h 565"/>
                <a:gd name="T24" fmla="*/ 425 w 655"/>
                <a:gd name="T25" fmla="*/ 563 h 565"/>
                <a:gd name="T26" fmla="*/ 426 w 655"/>
                <a:gd name="T27" fmla="*/ 551 h 565"/>
                <a:gd name="T28" fmla="*/ 9 w 655"/>
                <a:gd name="T29" fmla="*/ 439 h 565"/>
                <a:gd name="T30" fmla="*/ 5 w 655"/>
                <a:gd name="T31" fmla="*/ 441 h 565"/>
                <a:gd name="T32" fmla="*/ 2 w 655"/>
                <a:gd name="T33" fmla="*/ 443 h 565"/>
                <a:gd name="T34" fmla="*/ 0 w 655"/>
                <a:gd name="T35" fmla="*/ 451 h 565"/>
                <a:gd name="T36" fmla="*/ 0 w 655"/>
                <a:gd name="T37" fmla="*/ 451 h 565"/>
                <a:gd name="T38" fmla="*/ 2 w 655"/>
                <a:gd name="T39" fmla="*/ 451 h 565"/>
                <a:gd name="T40" fmla="*/ 5 w 655"/>
                <a:gd name="T41" fmla="*/ 454 h 565"/>
                <a:gd name="T42" fmla="*/ 9 w 655"/>
                <a:gd name="T43" fmla="*/ 447 h 565"/>
                <a:gd name="T44" fmla="*/ 11 w 655"/>
                <a:gd name="T45" fmla="*/ 443 h 565"/>
                <a:gd name="T46" fmla="*/ 15 w 655"/>
                <a:gd name="T47" fmla="*/ 441 h 565"/>
                <a:gd name="T48" fmla="*/ 15 w 655"/>
                <a:gd name="T49" fmla="*/ 437 h 565"/>
                <a:gd name="T50" fmla="*/ 428 w 655"/>
                <a:gd name="T51" fmla="*/ 456 h 565"/>
                <a:gd name="T52" fmla="*/ 423 w 655"/>
                <a:gd name="T53" fmla="*/ 460 h 565"/>
                <a:gd name="T54" fmla="*/ 419 w 655"/>
                <a:gd name="T55" fmla="*/ 458 h 565"/>
                <a:gd name="T56" fmla="*/ 421 w 655"/>
                <a:gd name="T57" fmla="*/ 456 h 565"/>
                <a:gd name="T58" fmla="*/ 421 w 655"/>
                <a:gd name="T59" fmla="*/ 454 h 565"/>
                <a:gd name="T60" fmla="*/ 415 w 655"/>
                <a:gd name="T61" fmla="*/ 454 h 565"/>
                <a:gd name="T62" fmla="*/ 413 w 655"/>
                <a:gd name="T63" fmla="*/ 453 h 565"/>
                <a:gd name="T64" fmla="*/ 411 w 655"/>
                <a:gd name="T65" fmla="*/ 454 h 565"/>
                <a:gd name="T66" fmla="*/ 413 w 655"/>
                <a:gd name="T67" fmla="*/ 456 h 565"/>
                <a:gd name="T68" fmla="*/ 413 w 655"/>
                <a:gd name="T69" fmla="*/ 458 h 565"/>
                <a:gd name="T70" fmla="*/ 415 w 655"/>
                <a:gd name="T71" fmla="*/ 460 h 565"/>
                <a:gd name="T72" fmla="*/ 415 w 655"/>
                <a:gd name="T73" fmla="*/ 464 h 565"/>
                <a:gd name="T74" fmla="*/ 415 w 655"/>
                <a:gd name="T75" fmla="*/ 466 h 565"/>
                <a:gd name="T76" fmla="*/ 417 w 655"/>
                <a:gd name="T77" fmla="*/ 468 h 565"/>
                <a:gd name="T78" fmla="*/ 419 w 655"/>
                <a:gd name="T79" fmla="*/ 468 h 565"/>
                <a:gd name="T80" fmla="*/ 425 w 655"/>
                <a:gd name="T81" fmla="*/ 468 h 565"/>
                <a:gd name="T82" fmla="*/ 428 w 655"/>
                <a:gd name="T83" fmla="*/ 456 h 565"/>
                <a:gd name="T84" fmla="*/ 428 w 655"/>
                <a:gd name="T85" fmla="*/ 456 h 565"/>
                <a:gd name="T86" fmla="*/ 653 w 655"/>
                <a:gd name="T87" fmla="*/ 2 h 565"/>
                <a:gd name="T88" fmla="*/ 653 w 655"/>
                <a:gd name="T89" fmla="*/ 2 h 565"/>
                <a:gd name="T90" fmla="*/ 647 w 655"/>
                <a:gd name="T91" fmla="*/ 2 h 565"/>
                <a:gd name="T92" fmla="*/ 646 w 655"/>
                <a:gd name="T93" fmla="*/ 0 h 565"/>
                <a:gd name="T94" fmla="*/ 644 w 655"/>
                <a:gd name="T95" fmla="*/ 2 h 565"/>
                <a:gd name="T96" fmla="*/ 647 w 655"/>
                <a:gd name="T97" fmla="*/ 4 h 565"/>
                <a:gd name="T98" fmla="*/ 653 w 655"/>
                <a:gd name="T99" fmla="*/ 6 h 565"/>
                <a:gd name="T100" fmla="*/ 653 w 655"/>
                <a:gd name="T101" fmla="*/ 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5" h="565">
                  <a:moveTo>
                    <a:pt x="426" y="551"/>
                  </a:moveTo>
                  <a:lnTo>
                    <a:pt x="428" y="548"/>
                  </a:lnTo>
                  <a:lnTo>
                    <a:pt x="428" y="548"/>
                  </a:lnTo>
                  <a:lnTo>
                    <a:pt x="426" y="548"/>
                  </a:lnTo>
                  <a:lnTo>
                    <a:pt x="425" y="548"/>
                  </a:lnTo>
                  <a:lnTo>
                    <a:pt x="423" y="548"/>
                  </a:lnTo>
                  <a:lnTo>
                    <a:pt x="423" y="550"/>
                  </a:lnTo>
                  <a:lnTo>
                    <a:pt x="421" y="550"/>
                  </a:lnTo>
                  <a:lnTo>
                    <a:pt x="419" y="548"/>
                  </a:lnTo>
                  <a:lnTo>
                    <a:pt x="417" y="548"/>
                  </a:lnTo>
                  <a:lnTo>
                    <a:pt x="417" y="548"/>
                  </a:lnTo>
                  <a:lnTo>
                    <a:pt x="417" y="548"/>
                  </a:lnTo>
                  <a:lnTo>
                    <a:pt x="417" y="550"/>
                  </a:lnTo>
                  <a:lnTo>
                    <a:pt x="417" y="550"/>
                  </a:lnTo>
                  <a:lnTo>
                    <a:pt x="419" y="550"/>
                  </a:lnTo>
                  <a:lnTo>
                    <a:pt x="419" y="551"/>
                  </a:lnTo>
                  <a:lnTo>
                    <a:pt x="419" y="551"/>
                  </a:lnTo>
                  <a:lnTo>
                    <a:pt x="417" y="551"/>
                  </a:lnTo>
                  <a:lnTo>
                    <a:pt x="417" y="551"/>
                  </a:lnTo>
                  <a:lnTo>
                    <a:pt x="417" y="551"/>
                  </a:lnTo>
                  <a:lnTo>
                    <a:pt x="415" y="551"/>
                  </a:lnTo>
                  <a:lnTo>
                    <a:pt x="415" y="551"/>
                  </a:lnTo>
                  <a:lnTo>
                    <a:pt x="415" y="551"/>
                  </a:lnTo>
                  <a:lnTo>
                    <a:pt x="415" y="551"/>
                  </a:lnTo>
                  <a:lnTo>
                    <a:pt x="415" y="553"/>
                  </a:lnTo>
                  <a:lnTo>
                    <a:pt x="415" y="553"/>
                  </a:lnTo>
                  <a:lnTo>
                    <a:pt x="415" y="555"/>
                  </a:lnTo>
                  <a:lnTo>
                    <a:pt x="415" y="555"/>
                  </a:lnTo>
                  <a:lnTo>
                    <a:pt x="417" y="555"/>
                  </a:lnTo>
                  <a:lnTo>
                    <a:pt x="417" y="555"/>
                  </a:lnTo>
                  <a:lnTo>
                    <a:pt x="417" y="555"/>
                  </a:lnTo>
                  <a:lnTo>
                    <a:pt x="419" y="557"/>
                  </a:lnTo>
                  <a:lnTo>
                    <a:pt x="419" y="557"/>
                  </a:lnTo>
                  <a:lnTo>
                    <a:pt x="419" y="557"/>
                  </a:lnTo>
                  <a:lnTo>
                    <a:pt x="421" y="557"/>
                  </a:lnTo>
                  <a:lnTo>
                    <a:pt x="421" y="557"/>
                  </a:lnTo>
                  <a:lnTo>
                    <a:pt x="421" y="557"/>
                  </a:lnTo>
                  <a:lnTo>
                    <a:pt x="421" y="557"/>
                  </a:lnTo>
                  <a:lnTo>
                    <a:pt x="421" y="559"/>
                  </a:lnTo>
                  <a:lnTo>
                    <a:pt x="423" y="557"/>
                  </a:lnTo>
                  <a:lnTo>
                    <a:pt x="423" y="557"/>
                  </a:lnTo>
                  <a:lnTo>
                    <a:pt x="423" y="557"/>
                  </a:lnTo>
                  <a:lnTo>
                    <a:pt x="425" y="559"/>
                  </a:lnTo>
                  <a:lnTo>
                    <a:pt x="425" y="559"/>
                  </a:lnTo>
                  <a:lnTo>
                    <a:pt x="423" y="559"/>
                  </a:lnTo>
                  <a:lnTo>
                    <a:pt x="423" y="559"/>
                  </a:lnTo>
                  <a:lnTo>
                    <a:pt x="423" y="561"/>
                  </a:lnTo>
                  <a:lnTo>
                    <a:pt x="423" y="561"/>
                  </a:lnTo>
                  <a:lnTo>
                    <a:pt x="423" y="561"/>
                  </a:lnTo>
                  <a:lnTo>
                    <a:pt x="425" y="563"/>
                  </a:lnTo>
                  <a:lnTo>
                    <a:pt x="425" y="563"/>
                  </a:lnTo>
                  <a:lnTo>
                    <a:pt x="425" y="563"/>
                  </a:lnTo>
                  <a:lnTo>
                    <a:pt x="426" y="565"/>
                  </a:lnTo>
                  <a:lnTo>
                    <a:pt x="428" y="565"/>
                  </a:lnTo>
                  <a:lnTo>
                    <a:pt x="428" y="565"/>
                  </a:lnTo>
                  <a:lnTo>
                    <a:pt x="426" y="551"/>
                  </a:lnTo>
                  <a:close/>
                  <a:moveTo>
                    <a:pt x="15" y="439"/>
                  </a:moveTo>
                  <a:lnTo>
                    <a:pt x="13" y="439"/>
                  </a:lnTo>
                  <a:lnTo>
                    <a:pt x="11" y="439"/>
                  </a:lnTo>
                  <a:lnTo>
                    <a:pt x="9" y="439"/>
                  </a:lnTo>
                  <a:lnTo>
                    <a:pt x="9" y="439"/>
                  </a:lnTo>
                  <a:lnTo>
                    <a:pt x="7" y="441"/>
                  </a:lnTo>
                  <a:lnTo>
                    <a:pt x="7" y="441"/>
                  </a:lnTo>
                  <a:lnTo>
                    <a:pt x="5" y="441"/>
                  </a:lnTo>
                  <a:lnTo>
                    <a:pt x="5" y="443"/>
                  </a:lnTo>
                  <a:lnTo>
                    <a:pt x="3" y="443"/>
                  </a:lnTo>
                  <a:lnTo>
                    <a:pt x="2" y="441"/>
                  </a:lnTo>
                  <a:lnTo>
                    <a:pt x="2" y="443"/>
                  </a:lnTo>
                  <a:lnTo>
                    <a:pt x="2" y="449"/>
                  </a:lnTo>
                  <a:lnTo>
                    <a:pt x="2" y="451"/>
                  </a:lnTo>
                  <a:lnTo>
                    <a:pt x="0" y="451"/>
                  </a:lnTo>
                  <a:lnTo>
                    <a:pt x="0" y="451"/>
                  </a:lnTo>
                  <a:lnTo>
                    <a:pt x="0" y="451"/>
                  </a:lnTo>
                  <a:lnTo>
                    <a:pt x="0" y="451"/>
                  </a:lnTo>
                  <a:lnTo>
                    <a:pt x="0" y="451"/>
                  </a:lnTo>
                  <a:lnTo>
                    <a:pt x="0" y="451"/>
                  </a:lnTo>
                  <a:lnTo>
                    <a:pt x="0" y="451"/>
                  </a:lnTo>
                  <a:lnTo>
                    <a:pt x="2" y="451"/>
                  </a:lnTo>
                  <a:lnTo>
                    <a:pt x="2" y="451"/>
                  </a:lnTo>
                  <a:lnTo>
                    <a:pt x="2" y="451"/>
                  </a:lnTo>
                  <a:lnTo>
                    <a:pt x="2" y="451"/>
                  </a:lnTo>
                  <a:lnTo>
                    <a:pt x="2" y="451"/>
                  </a:lnTo>
                  <a:lnTo>
                    <a:pt x="3" y="453"/>
                  </a:lnTo>
                  <a:lnTo>
                    <a:pt x="5" y="454"/>
                  </a:lnTo>
                  <a:lnTo>
                    <a:pt x="3" y="453"/>
                  </a:lnTo>
                  <a:lnTo>
                    <a:pt x="5" y="451"/>
                  </a:lnTo>
                  <a:lnTo>
                    <a:pt x="9" y="449"/>
                  </a:lnTo>
                  <a:lnTo>
                    <a:pt x="9" y="447"/>
                  </a:lnTo>
                  <a:lnTo>
                    <a:pt x="7" y="445"/>
                  </a:lnTo>
                  <a:lnTo>
                    <a:pt x="9" y="443"/>
                  </a:lnTo>
                  <a:lnTo>
                    <a:pt x="11" y="441"/>
                  </a:lnTo>
                  <a:lnTo>
                    <a:pt x="11" y="443"/>
                  </a:lnTo>
                  <a:lnTo>
                    <a:pt x="11" y="443"/>
                  </a:lnTo>
                  <a:lnTo>
                    <a:pt x="13" y="443"/>
                  </a:lnTo>
                  <a:lnTo>
                    <a:pt x="13" y="441"/>
                  </a:lnTo>
                  <a:lnTo>
                    <a:pt x="15" y="441"/>
                  </a:lnTo>
                  <a:lnTo>
                    <a:pt x="15" y="439"/>
                  </a:lnTo>
                  <a:lnTo>
                    <a:pt x="17" y="439"/>
                  </a:lnTo>
                  <a:lnTo>
                    <a:pt x="17" y="439"/>
                  </a:lnTo>
                  <a:lnTo>
                    <a:pt x="15" y="437"/>
                  </a:lnTo>
                  <a:lnTo>
                    <a:pt x="15" y="439"/>
                  </a:lnTo>
                  <a:close/>
                  <a:moveTo>
                    <a:pt x="428" y="456"/>
                  </a:moveTo>
                  <a:lnTo>
                    <a:pt x="428" y="456"/>
                  </a:lnTo>
                  <a:lnTo>
                    <a:pt x="428" y="456"/>
                  </a:lnTo>
                  <a:lnTo>
                    <a:pt x="426" y="456"/>
                  </a:lnTo>
                  <a:lnTo>
                    <a:pt x="425" y="458"/>
                  </a:lnTo>
                  <a:lnTo>
                    <a:pt x="423" y="460"/>
                  </a:lnTo>
                  <a:lnTo>
                    <a:pt x="423" y="460"/>
                  </a:lnTo>
                  <a:lnTo>
                    <a:pt x="421" y="460"/>
                  </a:lnTo>
                  <a:lnTo>
                    <a:pt x="421" y="460"/>
                  </a:lnTo>
                  <a:lnTo>
                    <a:pt x="421" y="458"/>
                  </a:lnTo>
                  <a:lnTo>
                    <a:pt x="419" y="458"/>
                  </a:lnTo>
                  <a:lnTo>
                    <a:pt x="419" y="458"/>
                  </a:lnTo>
                  <a:lnTo>
                    <a:pt x="419" y="458"/>
                  </a:lnTo>
                  <a:lnTo>
                    <a:pt x="419" y="458"/>
                  </a:lnTo>
                  <a:lnTo>
                    <a:pt x="421" y="456"/>
                  </a:lnTo>
                  <a:lnTo>
                    <a:pt x="421" y="456"/>
                  </a:lnTo>
                  <a:lnTo>
                    <a:pt x="421" y="454"/>
                  </a:lnTo>
                  <a:lnTo>
                    <a:pt x="421" y="454"/>
                  </a:lnTo>
                  <a:lnTo>
                    <a:pt x="421" y="454"/>
                  </a:lnTo>
                  <a:lnTo>
                    <a:pt x="419" y="454"/>
                  </a:lnTo>
                  <a:lnTo>
                    <a:pt x="417" y="454"/>
                  </a:lnTo>
                  <a:lnTo>
                    <a:pt x="417" y="454"/>
                  </a:lnTo>
                  <a:lnTo>
                    <a:pt x="415" y="454"/>
                  </a:lnTo>
                  <a:lnTo>
                    <a:pt x="415" y="453"/>
                  </a:lnTo>
                  <a:lnTo>
                    <a:pt x="413" y="453"/>
                  </a:lnTo>
                  <a:lnTo>
                    <a:pt x="413" y="453"/>
                  </a:lnTo>
                  <a:lnTo>
                    <a:pt x="413" y="453"/>
                  </a:lnTo>
                  <a:lnTo>
                    <a:pt x="413" y="453"/>
                  </a:lnTo>
                  <a:lnTo>
                    <a:pt x="413" y="453"/>
                  </a:lnTo>
                  <a:lnTo>
                    <a:pt x="411" y="453"/>
                  </a:lnTo>
                  <a:lnTo>
                    <a:pt x="411" y="454"/>
                  </a:lnTo>
                  <a:lnTo>
                    <a:pt x="411" y="454"/>
                  </a:lnTo>
                  <a:lnTo>
                    <a:pt x="411" y="454"/>
                  </a:lnTo>
                  <a:lnTo>
                    <a:pt x="413" y="456"/>
                  </a:lnTo>
                  <a:lnTo>
                    <a:pt x="413" y="456"/>
                  </a:lnTo>
                  <a:lnTo>
                    <a:pt x="413" y="458"/>
                  </a:lnTo>
                  <a:lnTo>
                    <a:pt x="413" y="458"/>
                  </a:lnTo>
                  <a:lnTo>
                    <a:pt x="413" y="458"/>
                  </a:lnTo>
                  <a:lnTo>
                    <a:pt x="413" y="458"/>
                  </a:lnTo>
                  <a:lnTo>
                    <a:pt x="413" y="460"/>
                  </a:lnTo>
                  <a:lnTo>
                    <a:pt x="415" y="460"/>
                  </a:lnTo>
                  <a:lnTo>
                    <a:pt x="415" y="460"/>
                  </a:lnTo>
                  <a:lnTo>
                    <a:pt x="415" y="460"/>
                  </a:lnTo>
                  <a:lnTo>
                    <a:pt x="415" y="462"/>
                  </a:lnTo>
                  <a:lnTo>
                    <a:pt x="415" y="462"/>
                  </a:lnTo>
                  <a:lnTo>
                    <a:pt x="415" y="464"/>
                  </a:lnTo>
                  <a:lnTo>
                    <a:pt x="415" y="464"/>
                  </a:lnTo>
                  <a:lnTo>
                    <a:pt x="415" y="466"/>
                  </a:lnTo>
                  <a:lnTo>
                    <a:pt x="415" y="466"/>
                  </a:lnTo>
                  <a:lnTo>
                    <a:pt x="415" y="466"/>
                  </a:lnTo>
                  <a:lnTo>
                    <a:pt x="415" y="466"/>
                  </a:lnTo>
                  <a:lnTo>
                    <a:pt x="415" y="466"/>
                  </a:lnTo>
                  <a:lnTo>
                    <a:pt x="417" y="468"/>
                  </a:lnTo>
                  <a:lnTo>
                    <a:pt x="417" y="468"/>
                  </a:lnTo>
                  <a:lnTo>
                    <a:pt x="417" y="468"/>
                  </a:lnTo>
                  <a:lnTo>
                    <a:pt x="419" y="468"/>
                  </a:lnTo>
                  <a:lnTo>
                    <a:pt x="419" y="468"/>
                  </a:lnTo>
                  <a:lnTo>
                    <a:pt x="419" y="468"/>
                  </a:lnTo>
                  <a:lnTo>
                    <a:pt x="419" y="468"/>
                  </a:lnTo>
                  <a:lnTo>
                    <a:pt x="421" y="468"/>
                  </a:lnTo>
                  <a:lnTo>
                    <a:pt x="425" y="468"/>
                  </a:lnTo>
                  <a:lnTo>
                    <a:pt x="425" y="468"/>
                  </a:lnTo>
                  <a:lnTo>
                    <a:pt x="425" y="468"/>
                  </a:lnTo>
                  <a:lnTo>
                    <a:pt x="425" y="464"/>
                  </a:lnTo>
                  <a:lnTo>
                    <a:pt x="428" y="458"/>
                  </a:lnTo>
                  <a:lnTo>
                    <a:pt x="428" y="456"/>
                  </a:lnTo>
                  <a:lnTo>
                    <a:pt x="428" y="456"/>
                  </a:lnTo>
                  <a:lnTo>
                    <a:pt x="428" y="454"/>
                  </a:lnTo>
                  <a:lnTo>
                    <a:pt x="428" y="454"/>
                  </a:lnTo>
                  <a:lnTo>
                    <a:pt x="428" y="454"/>
                  </a:lnTo>
                  <a:lnTo>
                    <a:pt x="428" y="456"/>
                  </a:lnTo>
                  <a:close/>
                  <a:moveTo>
                    <a:pt x="653" y="4"/>
                  </a:moveTo>
                  <a:lnTo>
                    <a:pt x="655" y="4"/>
                  </a:lnTo>
                  <a:lnTo>
                    <a:pt x="655" y="2"/>
                  </a:lnTo>
                  <a:lnTo>
                    <a:pt x="653" y="2"/>
                  </a:lnTo>
                  <a:lnTo>
                    <a:pt x="653" y="2"/>
                  </a:lnTo>
                  <a:lnTo>
                    <a:pt x="653" y="2"/>
                  </a:lnTo>
                  <a:lnTo>
                    <a:pt x="653" y="2"/>
                  </a:lnTo>
                  <a:lnTo>
                    <a:pt x="653" y="2"/>
                  </a:lnTo>
                  <a:lnTo>
                    <a:pt x="651" y="4"/>
                  </a:lnTo>
                  <a:lnTo>
                    <a:pt x="651" y="4"/>
                  </a:lnTo>
                  <a:lnTo>
                    <a:pt x="647" y="4"/>
                  </a:lnTo>
                  <a:lnTo>
                    <a:pt x="647" y="2"/>
                  </a:lnTo>
                  <a:lnTo>
                    <a:pt x="646" y="2"/>
                  </a:lnTo>
                  <a:lnTo>
                    <a:pt x="647" y="0"/>
                  </a:lnTo>
                  <a:lnTo>
                    <a:pt x="646" y="0"/>
                  </a:lnTo>
                  <a:lnTo>
                    <a:pt x="646" y="0"/>
                  </a:lnTo>
                  <a:lnTo>
                    <a:pt x="646" y="2"/>
                  </a:lnTo>
                  <a:lnTo>
                    <a:pt x="644" y="2"/>
                  </a:lnTo>
                  <a:lnTo>
                    <a:pt x="644" y="2"/>
                  </a:lnTo>
                  <a:lnTo>
                    <a:pt x="644" y="2"/>
                  </a:lnTo>
                  <a:lnTo>
                    <a:pt x="644" y="4"/>
                  </a:lnTo>
                  <a:lnTo>
                    <a:pt x="644" y="4"/>
                  </a:lnTo>
                  <a:lnTo>
                    <a:pt x="646" y="4"/>
                  </a:lnTo>
                  <a:lnTo>
                    <a:pt x="647" y="4"/>
                  </a:lnTo>
                  <a:lnTo>
                    <a:pt x="649" y="6"/>
                  </a:lnTo>
                  <a:lnTo>
                    <a:pt x="651" y="6"/>
                  </a:lnTo>
                  <a:lnTo>
                    <a:pt x="651" y="6"/>
                  </a:lnTo>
                  <a:lnTo>
                    <a:pt x="653" y="6"/>
                  </a:lnTo>
                  <a:lnTo>
                    <a:pt x="651" y="4"/>
                  </a:lnTo>
                  <a:lnTo>
                    <a:pt x="651" y="4"/>
                  </a:lnTo>
                  <a:lnTo>
                    <a:pt x="651" y="4"/>
                  </a:lnTo>
                  <a:lnTo>
                    <a:pt x="653" y="4"/>
                  </a:lnTo>
                  <a:lnTo>
                    <a:pt x="653" y="4"/>
                  </a:lnTo>
                  <a:close/>
                </a:path>
              </a:pathLst>
            </a:custGeom>
            <a:noFill/>
            <a:ln w="317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77" name="Freeform 26">
              <a:extLst>
                <a:ext uri="{FF2B5EF4-FFF2-40B4-BE49-F238E27FC236}">
                  <a16:creationId xmlns:a16="http://schemas.microsoft.com/office/drawing/2014/main" id="{AF1A8062-A43B-D86F-D857-4E8CDABBA3A6}"/>
                </a:ext>
              </a:extLst>
            </p:cNvPr>
            <p:cNvSpPr>
              <a:spLocks/>
            </p:cNvSpPr>
            <p:nvPr/>
          </p:nvSpPr>
          <p:spPr bwMode="auto">
            <a:xfrm>
              <a:off x="3313363" y="3773436"/>
              <a:ext cx="1062119" cy="791635"/>
            </a:xfrm>
            <a:custGeom>
              <a:avLst/>
              <a:gdLst>
                <a:gd name="T0" fmla="*/ 528 w 563"/>
                <a:gd name="T1" fmla="*/ 59 h 468"/>
                <a:gd name="T2" fmla="*/ 509 w 563"/>
                <a:gd name="T3" fmla="*/ 44 h 468"/>
                <a:gd name="T4" fmla="*/ 460 w 563"/>
                <a:gd name="T5" fmla="*/ 21 h 468"/>
                <a:gd name="T6" fmla="*/ 421 w 563"/>
                <a:gd name="T7" fmla="*/ 6 h 468"/>
                <a:gd name="T8" fmla="*/ 423 w 563"/>
                <a:gd name="T9" fmla="*/ 48 h 468"/>
                <a:gd name="T10" fmla="*/ 401 w 563"/>
                <a:gd name="T11" fmla="*/ 48 h 468"/>
                <a:gd name="T12" fmla="*/ 343 w 563"/>
                <a:gd name="T13" fmla="*/ 44 h 468"/>
                <a:gd name="T14" fmla="*/ 334 w 563"/>
                <a:gd name="T15" fmla="*/ 12 h 468"/>
                <a:gd name="T16" fmla="*/ 288 w 563"/>
                <a:gd name="T17" fmla="*/ 19 h 468"/>
                <a:gd name="T18" fmla="*/ 240 w 563"/>
                <a:gd name="T19" fmla="*/ 8 h 468"/>
                <a:gd name="T20" fmla="*/ 200 w 563"/>
                <a:gd name="T21" fmla="*/ 46 h 468"/>
                <a:gd name="T22" fmla="*/ 202 w 563"/>
                <a:gd name="T23" fmla="*/ 67 h 468"/>
                <a:gd name="T24" fmla="*/ 181 w 563"/>
                <a:gd name="T25" fmla="*/ 97 h 468"/>
                <a:gd name="T26" fmla="*/ 176 w 563"/>
                <a:gd name="T27" fmla="*/ 120 h 468"/>
                <a:gd name="T28" fmla="*/ 153 w 563"/>
                <a:gd name="T29" fmla="*/ 141 h 468"/>
                <a:gd name="T30" fmla="*/ 117 w 563"/>
                <a:gd name="T31" fmla="*/ 141 h 468"/>
                <a:gd name="T32" fmla="*/ 96 w 563"/>
                <a:gd name="T33" fmla="*/ 171 h 468"/>
                <a:gd name="T34" fmla="*/ 90 w 563"/>
                <a:gd name="T35" fmla="*/ 192 h 468"/>
                <a:gd name="T36" fmla="*/ 96 w 563"/>
                <a:gd name="T37" fmla="*/ 211 h 468"/>
                <a:gd name="T38" fmla="*/ 111 w 563"/>
                <a:gd name="T39" fmla="*/ 251 h 468"/>
                <a:gd name="T40" fmla="*/ 120 w 563"/>
                <a:gd name="T41" fmla="*/ 265 h 468"/>
                <a:gd name="T42" fmla="*/ 111 w 563"/>
                <a:gd name="T43" fmla="*/ 270 h 468"/>
                <a:gd name="T44" fmla="*/ 77 w 563"/>
                <a:gd name="T45" fmla="*/ 255 h 468"/>
                <a:gd name="T46" fmla="*/ 61 w 563"/>
                <a:gd name="T47" fmla="*/ 251 h 468"/>
                <a:gd name="T48" fmla="*/ 40 w 563"/>
                <a:gd name="T49" fmla="*/ 263 h 468"/>
                <a:gd name="T50" fmla="*/ 61 w 563"/>
                <a:gd name="T51" fmla="*/ 301 h 468"/>
                <a:gd name="T52" fmla="*/ 73 w 563"/>
                <a:gd name="T53" fmla="*/ 320 h 468"/>
                <a:gd name="T54" fmla="*/ 78 w 563"/>
                <a:gd name="T55" fmla="*/ 352 h 468"/>
                <a:gd name="T56" fmla="*/ 67 w 563"/>
                <a:gd name="T57" fmla="*/ 373 h 468"/>
                <a:gd name="T58" fmla="*/ 50 w 563"/>
                <a:gd name="T59" fmla="*/ 388 h 468"/>
                <a:gd name="T60" fmla="*/ 25 w 563"/>
                <a:gd name="T61" fmla="*/ 419 h 468"/>
                <a:gd name="T62" fmla="*/ 12 w 563"/>
                <a:gd name="T63" fmla="*/ 441 h 468"/>
                <a:gd name="T64" fmla="*/ 4 w 563"/>
                <a:gd name="T65" fmla="*/ 460 h 468"/>
                <a:gd name="T66" fmla="*/ 19 w 563"/>
                <a:gd name="T67" fmla="*/ 468 h 468"/>
                <a:gd name="T68" fmla="*/ 77 w 563"/>
                <a:gd name="T69" fmla="*/ 449 h 468"/>
                <a:gd name="T70" fmla="*/ 90 w 563"/>
                <a:gd name="T71" fmla="*/ 434 h 468"/>
                <a:gd name="T72" fmla="*/ 99 w 563"/>
                <a:gd name="T73" fmla="*/ 398 h 468"/>
                <a:gd name="T74" fmla="*/ 113 w 563"/>
                <a:gd name="T75" fmla="*/ 417 h 468"/>
                <a:gd name="T76" fmla="*/ 130 w 563"/>
                <a:gd name="T77" fmla="*/ 413 h 468"/>
                <a:gd name="T78" fmla="*/ 149 w 563"/>
                <a:gd name="T79" fmla="*/ 411 h 468"/>
                <a:gd name="T80" fmla="*/ 151 w 563"/>
                <a:gd name="T81" fmla="*/ 390 h 468"/>
                <a:gd name="T82" fmla="*/ 181 w 563"/>
                <a:gd name="T83" fmla="*/ 367 h 468"/>
                <a:gd name="T84" fmla="*/ 178 w 563"/>
                <a:gd name="T85" fmla="*/ 354 h 468"/>
                <a:gd name="T86" fmla="*/ 193 w 563"/>
                <a:gd name="T87" fmla="*/ 350 h 468"/>
                <a:gd name="T88" fmla="*/ 204 w 563"/>
                <a:gd name="T89" fmla="*/ 339 h 468"/>
                <a:gd name="T90" fmla="*/ 220 w 563"/>
                <a:gd name="T91" fmla="*/ 350 h 468"/>
                <a:gd name="T92" fmla="*/ 248 w 563"/>
                <a:gd name="T93" fmla="*/ 369 h 468"/>
                <a:gd name="T94" fmla="*/ 286 w 563"/>
                <a:gd name="T95" fmla="*/ 356 h 468"/>
                <a:gd name="T96" fmla="*/ 303 w 563"/>
                <a:gd name="T97" fmla="*/ 343 h 468"/>
                <a:gd name="T98" fmla="*/ 357 w 563"/>
                <a:gd name="T99" fmla="*/ 301 h 468"/>
                <a:gd name="T100" fmla="*/ 370 w 563"/>
                <a:gd name="T101" fmla="*/ 291 h 468"/>
                <a:gd name="T102" fmla="*/ 357 w 563"/>
                <a:gd name="T103" fmla="*/ 291 h 468"/>
                <a:gd name="T104" fmla="*/ 347 w 563"/>
                <a:gd name="T105" fmla="*/ 305 h 468"/>
                <a:gd name="T106" fmla="*/ 355 w 563"/>
                <a:gd name="T107" fmla="*/ 280 h 468"/>
                <a:gd name="T108" fmla="*/ 381 w 563"/>
                <a:gd name="T109" fmla="*/ 282 h 468"/>
                <a:gd name="T110" fmla="*/ 393 w 563"/>
                <a:gd name="T111" fmla="*/ 280 h 468"/>
                <a:gd name="T112" fmla="*/ 458 w 563"/>
                <a:gd name="T113" fmla="*/ 255 h 468"/>
                <a:gd name="T114" fmla="*/ 442 w 563"/>
                <a:gd name="T115" fmla="*/ 242 h 468"/>
                <a:gd name="T116" fmla="*/ 484 w 563"/>
                <a:gd name="T117" fmla="*/ 230 h 468"/>
                <a:gd name="T118" fmla="*/ 496 w 563"/>
                <a:gd name="T119" fmla="*/ 206 h 468"/>
                <a:gd name="T120" fmla="*/ 519 w 563"/>
                <a:gd name="T121" fmla="*/ 183 h 468"/>
                <a:gd name="T122" fmla="*/ 542 w 563"/>
                <a:gd name="T123" fmla="*/ 10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3" h="468">
                  <a:moveTo>
                    <a:pt x="563" y="93"/>
                  </a:moveTo>
                  <a:lnTo>
                    <a:pt x="559" y="88"/>
                  </a:lnTo>
                  <a:lnTo>
                    <a:pt x="559" y="88"/>
                  </a:lnTo>
                  <a:lnTo>
                    <a:pt x="559" y="86"/>
                  </a:lnTo>
                  <a:lnTo>
                    <a:pt x="559" y="84"/>
                  </a:lnTo>
                  <a:lnTo>
                    <a:pt x="559" y="82"/>
                  </a:lnTo>
                  <a:lnTo>
                    <a:pt x="559" y="80"/>
                  </a:lnTo>
                  <a:lnTo>
                    <a:pt x="559" y="78"/>
                  </a:lnTo>
                  <a:lnTo>
                    <a:pt x="557" y="78"/>
                  </a:lnTo>
                  <a:lnTo>
                    <a:pt x="545" y="74"/>
                  </a:lnTo>
                  <a:lnTo>
                    <a:pt x="542" y="74"/>
                  </a:lnTo>
                  <a:lnTo>
                    <a:pt x="542" y="73"/>
                  </a:lnTo>
                  <a:lnTo>
                    <a:pt x="540" y="71"/>
                  </a:lnTo>
                  <a:lnTo>
                    <a:pt x="540" y="69"/>
                  </a:lnTo>
                  <a:lnTo>
                    <a:pt x="540" y="67"/>
                  </a:lnTo>
                  <a:lnTo>
                    <a:pt x="540" y="63"/>
                  </a:lnTo>
                  <a:lnTo>
                    <a:pt x="538" y="61"/>
                  </a:lnTo>
                  <a:lnTo>
                    <a:pt x="536" y="61"/>
                  </a:lnTo>
                  <a:lnTo>
                    <a:pt x="534" y="59"/>
                  </a:lnTo>
                  <a:lnTo>
                    <a:pt x="532" y="59"/>
                  </a:lnTo>
                  <a:lnTo>
                    <a:pt x="530" y="59"/>
                  </a:lnTo>
                  <a:lnTo>
                    <a:pt x="530" y="59"/>
                  </a:lnTo>
                  <a:lnTo>
                    <a:pt x="528" y="59"/>
                  </a:lnTo>
                  <a:lnTo>
                    <a:pt x="528" y="61"/>
                  </a:lnTo>
                  <a:lnTo>
                    <a:pt x="528" y="61"/>
                  </a:lnTo>
                  <a:lnTo>
                    <a:pt x="526" y="63"/>
                  </a:lnTo>
                  <a:lnTo>
                    <a:pt x="526" y="63"/>
                  </a:lnTo>
                  <a:lnTo>
                    <a:pt x="526" y="63"/>
                  </a:lnTo>
                  <a:lnTo>
                    <a:pt x="524" y="65"/>
                  </a:lnTo>
                  <a:lnTo>
                    <a:pt x="524" y="65"/>
                  </a:lnTo>
                  <a:lnTo>
                    <a:pt x="524" y="65"/>
                  </a:lnTo>
                  <a:lnTo>
                    <a:pt x="522" y="65"/>
                  </a:lnTo>
                  <a:lnTo>
                    <a:pt x="519" y="63"/>
                  </a:lnTo>
                  <a:lnTo>
                    <a:pt x="519" y="61"/>
                  </a:lnTo>
                  <a:lnTo>
                    <a:pt x="519" y="59"/>
                  </a:lnTo>
                  <a:lnTo>
                    <a:pt x="519" y="55"/>
                  </a:lnTo>
                  <a:lnTo>
                    <a:pt x="519" y="55"/>
                  </a:lnTo>
                  <a:lnTo>
                    <a:pt x="519" y="55"/>
                  </a:lnTo>
                  <a:lnTo>
                    <a:pt x="519" y="53"/>
                  </a:lnTo>
                  <a:lnTo>
                    <a:pt x="519" y="52"/>
                  </a:lnTo>
                  <a:lnTo>
                    <a:pt x="519" y="52"/>
                  </a:lnTo>
                  <a:lnTo>
                    <a:pt x="519" y="50"/>
                  </a:lnTo>
                  <a:lnTo>
                    <a:pt x="519" y="50"/>
                  </a:lnTo>
                  <a:lnTo>
                    <a:pt x="517" y="48"/>
                  </a:lnTo>
                  <a:lnTo>
                    <a:pt x="513" y="46"/>
                  </a:lnTo>
                  <a:lnTo>
                    <a:pt x="509" y="44"/>
                  </a:lnTo>
                  <a:lnTo>
                    <a:pt x="507" y="44"/>
                  </a:lnTo>
                  <a:lnTo>
                    <a:pt x="507" y="44"/>
                  </a:lnTo>
                  <a:lnTo>
                    <a:pt x="505" y="44"/>
                  </a:lnTo>
                  <a:lnTo>
                    <a:pt x="503" y="44"/>
                  </a:lnTo>
                  <a:lnTo>
                    <a:pt x="500" y="40"/>
                  </a:lnTo>
                  <a:lnTo>
                    <a:pt x="498" y="40"/>
                  </a:lnTo>
                  <a:lnTo>
                    <a:pt x="496" y="38"/>
                  </a:lnTo>
                  <a:lnTo>
                    <a:pt x="494" y="38"/>
                  </a:lnTo>
                  <a:lnTo>
                    <a:pt x="492" y="38"/>
                  </a:lnTo>
                  <a:lnTo>
                    <a:pt x="492" y="38"/>
                  </a:lnTo>
                  <a:lnTo>
                    <a:pt x="490" y="34"/>
                  </a:lnTo>
                  <a:lnTo>
                    <a:pt x="486" y="33"/>
                  </a:lnTo>
                  <a:lnTo>
                    <a:pt x="482" y="29"/>
                  </a:lnTo>
                  <a:lnTo>
                    <a:pt x="473" y="23"/>
                  </a:lnTo>
                  <a:lnTo>
                    <a:pt x="473" y="23"/>
                  </a:lnTo>
                  <a:lnTo>
                    <a:pt x="471" y="23"/>
                  </a:lnTo>
                  <a:lnTo>
                    <a:pt x="471" y="23"/>
                  </a:lnTo>
                  <a:lnTo>
                    <a:pt x="467" y="23"/>
                  </a:lnTo>
                  <a:lnTo>
                    <a:pt x="465" y="25"/>
                  </a:lnTo>
                  <a:lnTo>
                    <a:pt x="463" y="25"/>
                  </a:lnTo>
                  <a:lnTo>
                    <a:pt x="462" y="23"/>
                  </a:lnTo>
                  <a:lnTo>
                    <a:pt x="462" y="23"/>
                  </a:lnTo>
                  <a:lnTo>
                    <a:pt x="460" y="21"/>
                  </a:lnTo>
                  <a:lnTo>
                    <a:pt x="458" y="21"/>
                  </a:lnTo>
                  <a:lnTo>
                    <a:pt x="456" y="19"/>
                  </a:lnTo>
                  <a:lnTo>
                    <a:pt x="456" y="17"/>
                  </a:lnTo>
                  <a:lnTo>
                    <a:pt x="454" y="15"/>
                  </a:lnTo>
                  <a:lnTo>
                    <a:pt x="452" y="14"/>
                  </a:lnTo>
                  <a:lnTo>
                    <a:pt x="437" y="6"/>
                  </a:lnTo>
                  <a:lnTo>
                    <a:pt x="433" y="2"/>
                  </a:lnTo>
                  <a:lnTo>
                    <a:pt x="433" y="0"/>
                  </a:lnTo>
                  <a:lnTo>
                    <a:pt x="431" y="0"/>
                  </a:lnTo>
                  <a:lnTo>
                    <a:pt x="431" y="0"/>
                  </a:lnTo>
                  <a:lnTo>
                    <a:pt x="429" y="0"/>
                  </a:lnTo>
                  <a:lnTo>
                    <a:pt x="429" y="2"/>
                  </a:lnTo>
                  <a:lnTo>
                    <a:pt x="427" y="4"/>
                  </a:lnTo>
                  <a:lnTo>
                    <a:pt x="427" y="4"/>
                  </a:lnTo>
                  <a:lnTo>
                    <a:pt x="425" y="4"/>
                  </a:lnTo>
                  <a:lnTo>
                    <a:pt x="425" y="4"/>
                  </a:lnTo>
                  <a:lnTo>
                    <a:pt x="423" y="4"/>
                  </a:lnTo>
                  <a:lnTo>
                    <a:pt x="423" y="6"/>
                  </a:lnTo>
                  <a:lnTo>
                    <a:pt x="421" y="6"/>
                  </a:lnTo>
                  <a:lnTo>
                    <a:pt x="421" y="6"/>
                  </a:lnTo>
                  <a:lnTo>
                    <a:pt x="421" y="6"/>
                  </a:lnTo>
                  <a:lnTo>
                    <a:pt x="421" y="6"/>
                  </a:lnTo>
                  <a:lnTo>
                    <a:pt x="421" y="6"/>
                  </a:lnTo>
                  <a:lnTo>
                    <a:pt x="421" y="8"/>
                  </a:lnTo>
                  <a:lnTo>
                    <a:pt x="421" y="10"/>
                  </a:lnTo>
                  <a:lnTo>
                    <a:pt x="421" y="12"/>
                  </a:lnTo>
                  <a:lnTo>
                    <a:pt x="425" y="14"/>
                  </a:lnTo>
                  <a:lnTo>
                    <a:pt x="425" y="15"/>
                  </a:lnTo>
                  <a:lnTo>
                    <a:pt x="425" y="17"/>
                  </a:lnTo>
                  <a:lnTo>
                    <a:pt x="425" y="23"/>
                  </a:lnTo>
                  <a:lnTo>
                    <a:pt x="425" y="25"/>
                  </a:lnTo>
                  <a:lnTo>
                    <a:pt x="425" y="27"/>
                  </a:lnTo>
                  <a:lnTo>
                    <a:pt x="423" y="29"/>
                  </a:lnTo>
                  <a:lnTo>
                    <a:pt x="423" y="31"/>
                  </a:lnTo>
                  <a:lnTo>
                    <a:pt x="423" y="33"/>
                  </a:lnTo>
                  <a:lnTo>
                    <a:pt x="423" y="33"/>
                  </a:lnTo>
                  <a:lnTo>
                    <a:pt x="425" y="36"/>
                  </a:lnTo>
                  <a:lnTo>
                    <a:pt x="425" y="38"/>
                  </a:lnTo>
                  <a:lnTo>
                    <a:pt x="425" y="38"/>
                  </a:lnTo>
                  <a:lnTo>
                    <a:pt x="425" y="42"/>
                  </a:lnTo>
                  <a:lnTo>
                    <a:pt x="423" y="42"/>
                  </a:lnTo>
                  <a:lnTo>
                    <a:pt x="423" y="44"/>
                  </a:lnTo>
                  <a:lnTo>
                    <a:pt x="425" y="46"/>
                  </a:lnTo>
                  <a:lnTo>
                    <a:pt x="425" y="46"/>
                  </a:lnTo>
                  <a:lnTo>
                    <a:pt x="423" y="46"/>
                  </a:lnTo>
                  <a:lnTo>
                    <a:pt x="423" y="48"/>
                  </a:lnTo>
                  <a:lnTo>
                    <a:pt x="420" y="53"/>
                  </a:lnTo>
                  <a:lnTo>
                    <a:pt x="418" y="55"/>
                  </a:lnTo>
                  <a:lnTo>
                    <a:pt x="416" y="57"/>
                  </a:lnTo>
                  <a:lnTo>
                    <a:pt x="412" y="57"/>
                  </a:lnTo>
                  <a:lnTo>
                    <a:pt x="406" y="55"/>
                  </a:lnTo>
                  <a:lnTo>
                    <a:pt x="406" y="53"/>
                  </a:lnTo>
                  <a:lnTo>
                    <a:pt x="406" y="52"/>
                  </a:lnTo>
                  <a:lnTo>
                    <a:pt x="406" y="52"/>
                  </a:lnTo>
                  <a:lnTo>
                    <a:pt x="406" y="50"/>
                  </a:lnTo>
                  <a:lnTo>
                    <a:pt x="406" y="50"/>
                  </a:lnTo>
                  <a:lnTo>
                    <a:pt x="406" y="48"/>
                  </a:lnTo>
                  <a:lnTo>
                    <a:pt x="408" y="46"/>
                  </a:lnTo>
                  <a:lnTo>
                    <a:pt x="408" y="46"/>
                  </a:lnTo>
                  <a:lnTo>
                    <a:pt x="408" y="44"/>
                  </a:lnTo>
                  <a:lnTo>
                    <a:pt x="408" y="44"/>
                  </a:lnTo>
                  <a:lnTo>
                    <a:pt x="408" y="44"/>
                  </a:lnTo>
                  <a:lnTo>
                    <a:pt x="406" y="44"/>
                  </a:lnTo>
                  <a:lnTo>
                    <a:pt x="404" y="44"/>
                  </a:lnTo>
                  <a:lnTo>
                    <a:pt x="404" y="46"/>
                  </a:lnTo>
                  <a:lnTo>
                    <a:pt x="402" y="46"/>
                  </a:lnTo>
                  <a:lnTo>
                    <a:pt x="402" y="46"/>
                  </a:lnTo>
                  <a:lnTo>
                    <a:pt x="401" y="48"/>
                  </a:lnTo>
                  <a:lnTo>
                    <a:pt x="401" y="48"/>
                  </a:lnTo>
                  <a:lnTo>
                    <a:pt x="399" y="48"/>
                  </a:lnTo>
                  <a:lnTo>
                    <a:pt x="397" y="48"/>
                  </a:lnTo>
                  <a:lnTo>
                    <a:pt x="395" y="48"/>
                  </a:lnTo>
                  <a:lnTo>
                    <a:pt x="391" y="48"/>
                  </a:lnTo>
                  <a:lnTo>
                    <a:pt x="385" y="46"/>
                  </a:lnTo>
                  <a:lnTo>
                    <a:pt x="378" y="40"/>
                  </a:lnTo>
                  <a:lnTo>
                    <a:pt x="376" y="40"/>
                  </a:lnTo>
                  <a:lnTo>
                    <a:pt x="374" y="40"/>
                  </a:lnTo>
                  <a:lnTo>
                    <a:pt x="374" y="40"/>
                  </a:lnTo>
                  <a:lnTo>
                    <a:pt x="372" y="40"/>
                  </a:lnTo>
                  <a:lnTo>
                    <a:pt x="372" y="40"/>
                  </a:lnTo>
                  <a:lnTo>
                    <a:pt x="370" y="42"/>
                  </a:lnTo>
                  <a:lnTo>
                    <a:pt x="366" y="42"/>
                  </a:lnTo>
                  <a:lnTo>
                    <a:pt x="364" y="44"/>
                  </a:lnTo>
                  <a:lnTo>
                    <a:pt x="361" y="48"/>
                  </a:lnTo>
                  <a:lnTo>
                    <a:pt x="357" y="53"/>
                  </a:lnTo>
                  <a:lnTo>
                    <a:pt x="355" y="53"/>
                  </a:lnTo>
                  <a:lnTo>
                    <a:pt x="355" y="53"/>
                  </a:lnTo>
                  <a:lnTo>
                    <a:pt x="355" y="53"/>
                  </a:lnTo>
                  <a:lnTo>
                    <a:pt x="353" y="52"/>
                  </a:lnTo>
                  <a:lnTo>
                    <a:pt x="351" y="50"/>
                  </a:lnTo>
                  <a:lnTo>
                    <a:pt x="345" y="46"/>
                  </a:lnTo>
                  <a:lnTo>
                    <a:pt x="343" y="44"/>
                  </a:lnTo>
                  <a:lnTo>
                    <a:pt x="341" y="44"/>
                  </a:lnTo>
                  <a:lnTo>
                    <a:pt x="340" y="44"/>
                  </a:lnTo>
                  <a:lnTo>
                    <a:pt x="340" y="44"/>
                  </a:lnTo>
                  <a:lnTo>
                    <a:pt x="338" y="44"/>
                  </a:lnTo>
                  <a:lnTo>
                    <a:pt x="334" y="46"/>
                  </a:lnTo>
                  <a:lnTo>
                    <a:pt x="334" y="46"/>
                  </a:lnTo>
                  <a:lnTo>
                    <a:pt x="334" y="46"/>
                  </a:lnTo>
                  <a:lnTo>
                    <a:pt x="334" y="44"/>
                  </a:lnTo>
                  <a:lnTo>
                    <a:pt x="334" y="44"/>
                  </a:lnTo>
                  <a:lnTo>
                    <a:pt x="334" y="42"/>
                  </a:lnTo>
                  <a:lnTo>
                    <a:pt x="336" y="40"/>
                  </a:lnTo>
                  <a:lnTo>
                    <a:pt x="338" y="34"/>
                  </a:lnTo>
                  <a:lnTo>
                    <a:pt x="343" y="29"/>
                  </a:lnTo>
                  <a:lnTo>
                    <a:pt x="343" y="27"/>
                  </a:lnTo>
                  <a:lnTo>
                    <a:pt x="343" y="25"/>
                  </a:lnTo>
                  <a:lnTo>
                    <a:pt x="343" y="23"/>
                  </a:lnTo>
                  <a:lnTo>
                    <a:pt x="343" y="21"/>
                  </a:lnTo>
                  <a:lnTo>
                    <a:pt x="343" y="17"/>
                  </a:lnTo>
                  <a:lnTo>
                    <a:pt x="343" y="12"/>
                  </a:lnTo>
                  <a:lnTo>
                    <a:pt x="340" y="6"/>
                  </a:lnTo>
                  <a:lnTo>
                    <a:pt x="338" y="8"/>
                  </a:lnTo>
                  <a:lnTo>
                    <a:pt x="334" y="12"/>
                  </a:lnTo>
                  <a:lnTo>
                    <a:pt x="334" y="12"/>
                  </a:lnTo>
                  <a:lnTo>
                    <a:pt x="330" y="12"/>
                  </a:lnTo>
                  <a:lnTo>
                    <a:pt x="330" y="12"/>
                  </a:lnTo>
                  <a:lnTo>
                    <a:pt x="328" y="12"/>
                  </a:lnTo>
                  <a:lnTo>
                    <a:pt x="328" y="14"/>
                  </a:lnTo>
                  <a:lnTo>
                    <a:pt x="326" y="14"/>
                  </a:lnTo>
                  <a:lnTo>
                    <a:pt x="326" y="14"/>
                  </a:lnTo>
                  <a:lnTo>
                    <a:pt x="322" y="14"/>
                  </a:lnTo>
                  <a:lnTo>
                    <a:pt x="317" y="12"/>
                  </a:lnTo>
                  <a:lnTo>
                    <a:pt x="317" y="12"/>
                  </a:lnTo>
                  <a:lnTo>
                    <a:pt x="315" y="12"/>
                  </a:lnTo>
                  <a:lnTo>
                    <a:pt x="313" y="12"/>
                  </a:lnTo>
                  <a:lnTo>
                    <a:pt x="313" y="12"/>
                  </a:lnTo>
                  <a:lnTo>
                    <a:pt x="313" y="14"/>
                  </a:lnTo>
                  <a:lnTo>
                    <a:pt x="311" y="14"/>
                  </a:lnTo>
                  <a:lnTo>
                    <a:pt x="309" y="14"/>
                  </a:lnTo>
                  <a:lnTo>
                    <a:pt x="292" y="14"/>
                  </a:lnTo>
                  <a:lnTo>
                    <a:pt x="290" y="14"/>
                  </a:lnTo>
                  <a:lnTo>
                    <a:pt x="288" y="15"/>
                  </a:lnTo>
                  <a:lnTo>
                    <a:pt x="288" y="15"/>
                  </a:lnTo>
                  <a:lnTo>
                    <a:pt x="288" y="15"/>
                  </a:lnTo>
                  <a:lnTo>
                    <a:pt x="288" y="17"/>
                  </a:lnTo>
                  <a:lnTo>
                    <a:pt x="288" y="17"/>
                  </a:lnTo>
                  <a:lnTo>
                    <a:pt x="288" y="19"/>
                  </a:lnTo>
                  <a:lnTo>
                    <a:pt x="288" y="19"/>
                  </a:lnTo>
                  <a:lnTo>
                    <a:pt x="288" y="19"/>
                  </a:lnTo>
                  <a:lnTo>
                    <a:pt x="286" y="19"/>
                  </a:lnTo>
                  <a:lnTo>
                    <a:pt x="280" y="23"/>
                  </a:lnTo>
                  <a:lnTo>
                    <a:pt x="280" y="23"/>
                  </a:lnTo>
                  <a:lnTo>
                    <a:pt x="271" y="23"/>
                  </a:lnTo>
                  <a:lnTo>
                    <a:pt x="269" y="23"/>
                  </a:lnTo>
                  <a:lnTo>
                    <a:pt x="263" y="21"/>
                  </a:lnTo>
                  <a:lnTo>
                    <a:pt x="261" y="21"/>
                  </a:lnTo>
                  <a:lnTo>
                    <a:pt x="260" y="21"/>
                  </a:lnTo>
                  <a:lnTo>
                    <a:pt x="260" y="21"/>
                  </a:lnTo>
                  <a:lnTo>
                    <a:pt x="260" y="19"/>
                  </a:lnTo>
                  <a:lnTo>
                    <a:pt x="256" y="17"/>
                  </a:lnTo>
                  <a:lnTo>
                    <a:pt x="256" y="15"/>
                  </a:lnTo>
                  <a:lnTo>
                    <a:pt x="254" y="15"/>
                  </a:lnTo>
                  <a:lnTo>
                    <a:pt x="254" y="14"/>
                  </a:lnTo>
                  <a:lnTo>
                    <a:pt x="248" y="6"/>
                  </a:lnTo>
                  <a:lnTo>
                    <a:pt x="246" y="4"/>
                  </a:lnTo>
                  <a:lnTo>
                    <a:pt x="242" y="4"/>
                  </a:lnTo>
                  <a:lnTo>
                    <a:pt x="239" y="2"/>
                  </a:lnTo>
                  <a:lnTo>
                    <a:pt x="239" y="4"/>
                  </a:lnTo>
                  <a:lnTo>
                    <a:pt x="239" y="4"/>
                  </a:lnTo>
                  <a:lnTo>
                    <a:pt x="240" y="8"/>
                  </a:lnTo>
                  <a:lnTo>
                    <a:pt x="242" y="10"/>
                  </a:lnTo>
                  <a:lnTo>
                    <a:pt x="242" y="12"/>
                  </a:lnTo>
                  <a:lnTo>
                    <a:pt x="242" y="12"/>
                  </a:lnTo>
                  <a:lnTo>
                    <a:pt x="242" y="14"/>
                  </a:lnTo>
                  <a:lnTo>
                    <a:pt x="242" y="14"/>
                  </a:lnTo>
                  <a:lnTo>
                    <a:pt x="240" y="15"/>
                  </a:lnTo>
                  <a:lnTo>
                    <a:pt x="240" y="15"/>
                  </a:lnTo>
                  <a:lnTo>
                    <a:pt x="239" y="19"/>
                  </a:lnTo>
                  <a:lnTo>
                    <a:pt x="237" y="19"/>
                  </a:lnTo>
                  <a:lnTo>
                    <a:pt x="237" y="19"/>
                  </a:lnTo>
                  <a:lnTo>
                    <a:pt x="235" y="19"/>
                  </a:lnTo>
                  <a:lnTo>
                    <a:pt x="231" y="21"/>
                  </a:lnTo>
                  <a:lnTo>
                    <a:pt x="227" y="21"/>
                  </a:lnTo>
                  <a:lnTo>
                    <a:pt x="225" y="23"/>
                  </a:lnTo>
                  <a:lnTo>
                    <a:pt x="218" y="31"/>
                  </a:lnTo>
                  <a:lnTo>
                    <a:pt x="216" y="31"/>
                  </a:lnTo>
                  <a:lnTo>
                    <a:pt x="212" y="33"/>
                  </a:lnTo>
                  <a:lnTo>
                    <a:pt x="208" y="34"/>
                  </a:lnTo>
                  <a:lnTo>
                    <a:pt x="208" y="34"/>
                  </a:lnTo>
                  <a:lnTo>
                    <a:pt x="206" y="36"/>
                  </a:lnTo>
                  <a:lnTo>
                    <a:pt x="200" y="44"/>
                  </a:lnTo>
                  <a:lnTo>
                    <a:pt x="200" y="44"/>
                  </a:lnTo>
                  <a:lnTo>
                    <a:pt x="200" y="46"/>
                  </a:lnTo>
                  <a:lnTo>
                    <a:pt x="200" y="46"/>
                  </a:lnTo>
                  <a:lnTo>
                    <a:pt x="202" y="48"/>
                  </a:lnTo>
                  <a:lnTo>
                    <a:pt x="202" y="48"/>
                  </a:lnTo>
                  <a:lnTo>
                    <a:pt x="202" y="48"/>
                  </a:lnTo>
                  <a:lnTo>
                    <a:pt x="202" y="50"/>
                  </a:lnTo>
                  <a:lnTo>
                    <a:pt x="202" y="50"/>
                  </a:lnTo>
                  <a:lnTo>
                    <a:pt x="202" y="52"/>
                  </a:lnTo>
                  <a:lnTo>
                    <a:pt x="200" y="52"/>
                  </a:lnTo>
                  <a:lnTo>
                    <a:pt x="200" y="52"/>
                  </a:lnTo>
                  <a:lnTo>
                    <a:pt x="199" y="53"/>
                  </a:lnTo>
                  <a:lnTo>
                    <a:pt x="199" y="53"/>
                  </a:lnTo>
                  <a:lnTo>
                    <a:pt x="199" y="53"/>
                  </a:lnTo>
                  <a:lnTo>
                    <a:pt x="197" y="57"/>
                  </a:lnTo>
                  <a:lnTo>
                    <a:pt x="197" y="59"/>
                  </a:lnTo>
                  <a:lnTo>
                    <a:pt x="197" y="59"/>
                  </a:lnTo>
                  <a:lnTo>
                    <a:pt x="199" y="61"/>
                  </a:lnTo>
                  <a:lnTo>
                    <a:pt x="199" y="61"/>
                  </a:lnTo>
                  <a:lnTo>
                    <a:pt x="200" y="63"/>
                  </a:lnTo>
                  <a:lnTo>
                    <a:pt x="202" y="63"/>
                  </a:lnTo>
                  <a:lnTo>
                    <a:pt x="202" y="63"/>
                  </a:lnTo>
                  <a:lnTo>
                    <a:pt x="202" y="65"/>
                  </a:lnTo>
                  <a:lnTo>
                    <a:pt x="202" y="65"/>
                  </a:lnTo>
                  <a:lnTo>
                    <a:pt x="202" y="67"/>
                  </a:lnTo>
                  <a:lnTo>
                    <a:pt x="202" y="69"/>
                  </a:lnTo>
                  <a:lnTo>
                    <a:pt x="202" y="69"/>
                  </a:lnTo>
                  <a:lnTo>
                    <a:pt x="202" y="71"/>
                  </a:lnTo>
                  <a:lnTo>
                    <a:pt x="200" y="73"/>
                  </a:lnTo>
                  <a:lnTo>
                    <a:pt x="200" y="73"/>
                  </a:lnTo>
                  <a:lnTo>
                    <a:pt x="200" y="73"/>
                  </a:lnTo>
                  <a:lnTo>
                    <a:pt x="199" y="73"/>
                  </a:lnTo>
                  <a:lnTo>
                    <a:pt x="199" y="73"/>
                  </a:lnTo>
                  <a:lnTo>
                    <a:pt x="199" y="73"/>
                  </a:lnTo>
                  <a:lnTo>
                    <a:pt x="199" y="74"/>
                  </a:lnTo>
                  <a:lnTo>
                    <a:pt x="197" y="76"/>
                  </a:lnTo>
                  <a:lnTo>
                    <a:pt x="197" y="76"/>
                  </a:lnTo>
                  <a:lnTo>
                    <a:pt x="197" y="76"/>
                  </a:lnTo>
                  <a:lnTo>
                    <a:pt x="197" y="76"/>
                  </a:lnTo>
                  <a:lnTo>
                    <a:pt x="195" y="74"/>
                  </a:lnTo>
                  <a:lnTo>
                    <a:pt x="195" y="74"/>
                  </a:lnTo>
                  <a:lnTo>
                    <a:pt x="193" y="74"/>
                  </a:lnTo>
                  <a:lnTo>
                    <a:pt x="193" y="76"/>
                  </a:lnTo>
                  <a:lnTo>
                    <a:pt x="193" y="76"/>
                  </a:lnTo>
                  <a:lnTo>
                    <a:pt x="193" y="80"/>
                  </a:lnTo>
                  <a:lnTo>
                    <a:pt x="193" y="82"/>
                  </a:lnTo>
                  <a:lnTo>
                    <a:pt x="191" y="84"/>
                  </a:lnTo>
                  <a:lnTo>
                    <a:pt x="181" y="97"/>
                  </a:lnTo>
                  <a:lnTo>
                    <a:pt x="181" y="99"/>
                  </a:lnTo>
                  <a:lnTo>
                    <a:pt x="181" y="101"/>
                  </a:lnTo>
                  <a:lnTo>
                    <a:pt x="181" y="103"/>
                  </a:lnTo>
                  <a:lnTo>
                    <a:pt x="179" y="105"/>
                  </a:lnTo>
                  <a:lnTo>
                    <a:pt x="179" y="107"/>
                  </a:lnTo>
                  <a:lnTo>
                    <a:pt x="179" y="109"/>
                  </a:lnTo>
                  <a:lnTo>
                    <a:pt x="179" y="111"/>
                  </a:lnTo>
                  <a:lnTo>
                    <a:pt x="181" y="111"/>
                  </a:lnTo>
                  <a:lnTo>
                    <a:pt x="181" y="112"/>
                  </a:lnTo>
                  <a:lnTo>
                    <a:pt x="185" y="114"/>
                  </a:lnTo>
                  <a:lnTo>
                    <a:pt x="185" y="116"/>
                  </a:lnTo>
                  <a:lnTo>
                    <a:pt x="185" y="116"/>
                  </a:lnTo>
                  <a:lnTo>
                    <a:pt x="185" y="118"/>
                  </a:lnTo>
                  <a:lnTo>
                    <a:pt x="185" y="120"/>
                  </a:lnTo>
                  <a:lnTo>
                    <a:pt x="185" y="120"/>
                  </a:lnTo>
                  <a:lnTo>
                    <a:pt x="185" y="122"/>
                  </a:lnTo>
                  <a:lnTo>
                    <a:pt x="183" y="122"/>
                  </a:lnTo>
                  <a:lnTo>
                    <a:pt x="183" y="122"/>
                  </a:lnTo>
                  <a:lnTo>
                    <a:pt x="183" y="122"/>
                  </a:lnTo>
                  <a:lnTo>
                    <a:pt x="181" y="122"/>
                  </a:lnTo>
                  <a:lnTo>
                    <a:pt x="178" y="120"/>
                  </a:lnTo>
                  <a:lnTo>
                    <a:pt x="176" y="120"/>
                  </a:lnTo>
                  <a:lnTo>
                    <a:pt x="176" y="120"/>
                  </a:lnTo>
                  <a:lnTo>
                    <a:pt x="176" y="120"/>
                  </a:lnTo>
                  <a:lnTo>
                    <a:pt x="174" y="122"/>
                  </a:lnTo>
                  <a:lnTo>
                    <a:pt x="174" y="122"/>
                  </a:lnTo>
                  <a:lnTo>
                    <a:pt x="174" y="124"/>
                  </a:lnTo>
                  <a:lnTo>
                    <a:pt x="174" y="124"/>
                  </a:lnTo>
                  <a:lnTo>
                    <a:pt x="174" y="124"/>
                  </a:lnTo>
                  <a:lnTo>
                    <a:pt x="174" y="124"/>
                  </a:lnTo>
                  <a:lnTo>
                    <a:pt x="174" y="126"/>
                  </a:lnTo>
                  <a:lnTo>
                    <a:pt x="174" y="126"/>
                  </a:lnTo>
                  <a:lnTo>
                    <a:pt x="174" y="126"/>
                  </a:lnTo>
                  <a:lnTo>
                    <a:pt x="172" y="130"/>
                  </a:lnTo>
                  <a:lnTo>
                    <a:pt x="170" y="130"/>
                  </a:lnTo>
                  <a:lnTo>
                    <a:pt x="168" y="137"/>
                  </a:lnTo>
                  <a:lnTo>
                    <a:pt x="166" y="139"/>
                  </a:lnTo>
                  <a:lnTo>
                    <a:pt x="166" y="141"/>
                  </a:lnTo>
                  <a:lnTo>
                    <a:pt x="164" y="143"/>
                  </a:lnTo>
                  <a:lnTo>
                    <a:pt x="162" y="143"/>
                  </a:lnTo>
                  <a:lnTo>
                    <a:pt x="162" y="143"/>
                  </a:lnTo>
                  <a:lnTo>
                    <a:pt x="157" y="143"/>
                  </a:lnTo>
                  <a:lnTo>
                    <a:pt x="157" y="143"/>
                  </a:lnTo>
                  <a:lnTo>
                    <a:pt x="155" y="143"/>
                  </a:lnTo>
                  <a:lnTo>
                    <a:pt x="155" y="141"/>
                  </a:lnTo>
                  <a:lnTo>
                    <a:pt x="153" y="141"/>
                  </a:lnTo>
                  <a:lnTo>
                    <a:pt x="153" y="141"/>
                  </a:lnTo>
                  <a:lnTo>
                    <a:pt x="151" y="141"/>
                  </a:lnTo>
                  <a:lnTo>
                    <a:pt x="151" y="141"/>
                  </a:lnTo>
                  <a:lnTo>
                    <a:pt x="149" y="139"/>
                  </a:lnTo>
                  <a:lnTo>
                    <a:pt x="149" y="139"/>
                  </a:lnTo>
                  <a:lnTo>
                    <a:pt x="149" y="139"/>
                  </a:lnTo>
                  <a:lnTo>
                    <a:pt x="147" y="137"/>
                  </a:lnTo>
                  <a:lnTo>
                    <a:pt x="147" y="137"/>
                  </a:lnTo>
                  <a:lnTo>
                    <a:pt x="138" y="139"/>
                  </a:lnTo>
                  <a:lnTo>
                    <a:pt x="136" y="139"/>
                  </a:lnTo>
                  <a:lnTo>
                    <a:pt x="134" y="139"/>
                  </a:lnTo>
                  <a:lnTo>
                    <a:pt x="132" y="139"/>
                  </a:lnTo>
                  <a:lnTo>
                    <a:pt x="132" y="141"/>
                  </a:lnTo>
                  <a:lnTo>
                    <a:pt x="130" y="141"/>
                  </a:lnTo>
                  <a:lnTo>
                    <a:pt x="130" y="141"/>
                  </a:lnTo>
                  <a:lnTo>
                    <a:pt x="130" y="141"/>
                  </a:lnTo>
                  <a:lnTo>
                    <a:pt x="128" y="139"/>
                  </a:lnTo>
                  <a:lnTo>
                    <a:pt x="128" y="139"/>
                  </a:lnTo>
                  <a:lnTo>
                    <a:pt x="126" y="139"/>
                  </a:lnTo>
                  <a:lnTo>
                    <a:pt x="119" y="139"/>
                  </a:lnTo>
                  <a:lnTo>
                    <a:pt x="119" y="141"/>
                  </a:lnTo>
                  <a:lnTo>
                    <a:pt x="117" y="141"/>
                  </a:lnTo>
                  <a:lnTo>
                    <a:pt x="117" y="141"/>
                  </a:lnTo>
                  <a:lnTo>
                    <a:pt x="117" y="141"/>
                  </a:lnTo>
                  <a:lnTo>
                    <a:pt x="117" y="141"/>
                  </a:lnTo>
                  <a:lnTo>
                    <a:pt x="117" y="143"/>
                  </a:lnTo>
                  <a:lnTo>
                    <a:pt x="117" y="145"/>
                  </a:lnTo>
                  <a:lnTo>
                    <a:pt x="115" y="147"/>
                  </a:lnTo>
                  <a:lnTo>
                    <a:pt x="113" y="152"/>
                  </a:lnTo>
                  <a:lnTo>
                    <a:pt x="109" y="160"/>
                  </a:lnTo>
                  <a:lnTo>
                    <a:pt x="109" y="162"/>
                  </a:lnTo>
                  <a:lnTo>
                    <a:pt x="107" y="162"/>
                  </a:lnTo>
                  <a:lnTo>
                    <a:pt x="107" y="162"/>
                  </a:lnTo>
                  <a:lnTo>
                    <a:pt x="105" y="162"/>
                  </a:lnTo>
                  <a:lnTo>
                    <a:pt x="105" y="162"/>
                  </a:lnTo>
                  <a:lnTo>
                    <a:pt x="103" y="164"/>
                  </a:lnTo>
                  <a:lnTo>
                    <a:pt x="103" y="166"/>
                  </a:lnTo>
                  <a:lnTo>
                    <a:pt x="101" y="168"/>
                  </a:lnTo>
                  <a:lnTo>
                    <a:pt x="99" y="170"/>
                  </a:lnTo>
                  <a:lnTo>
                    <a:pt x="99" y="170"/>
                  </a:lnTo>
                  <a:lnTo>
                    <a:pt x="98" y="171"/>
                  </a:lnTo>
                  <a:lnTo>
                    <a:pt x="96" y="171"/>
                  </a:lnTo>
                  <a:lnTo>
                    <a:pt x="96" y="171"/>
                  </a:lnTo>
                  <a:lnTo>
                    <a:pt x="96" y="171"/>
                  </a:lnTo>
                  <a:lnTo>
                    <a:pt x="96" y="171"/>
                  </a:lnTo>
                  <a:lnTo>
                    <a:pt x="96" y="171"/>
                  </a:lnTo>
                  <a:lnTo>
                    <a:pt x="96" y="170"/>
                  </a:lnTo>
                  <a:lnTo>
                    <a:pt x="96" y="170"/>
                  </a:lnTo>
                  <a:lnTo>
                    <a:pt x="96" y="168"/>
                  </a:lnTo>
                  <a:lnTo>
                    <a:pt x="96" y="168"/>
                  </a:lnTo>
                  <a:lnTo>
                    <a:pt x="94" y="168"/>
                  </a:lnTo>
                  <a:lnTo>
                    <a:pt x="94" y="168"/>
                  </a:lnTo>
                  <a:lnTo>
                    <a:pt x="92" y="168"/>
                  </a:lnTo>
                  <a:lnTo>
                    <a:pt x="90" y="168"/>
                  </a:lnTo>
                  <a:lnTo>
                    <a:pt x="90" y="168"/>
                  </a:lnTo>
                  <a:lnTo>
                    <a:pt x="90" y="168"/>
                  </a:lnTo>
                  <a:lnTo>
                    <a:pt x="90" y="168"/>
                  </a:lnTo>
                  <a:lnTo>
                    <a:pt x="90" y="168"/>
                  </a:lnTo>
                  <a:lnTo>
                    <a:pt x="90" y="170"/>
                  </a:lnTo>
                  <a:lnTo>
                    <a:pt x="90" y="181"/>
                  </a:lnTo>
                  <a:lnTo>
                    <a:pt x="90" y="181"/>
                  </a:lnTo>
                  <a:lnTo>
                    <a:pt x="90" y="183"/>
                  </a:lnTo>
                  <a:lnTo>
                    <a:pt x="90" y="185"/>
                  </a:lnTo>
                  <a:lnTo>
                    <a:pt x="92" y="185"/>
                  </a:lnTo>
                  <a:lnTo>
                    <a:pt x="92" y="187"/>
                  </a:lnTo>
                  <a:lnTo>
                    <a:pt x="92" y="189"/>
                  </a:lnTo>
                  <a:lnTo>
                    <a:pt x="92" y="189"/>
                  </a:lnTo>
                  <a:lnTo>
                    <a:pt x="92" y="190"/>
                  </a:lnTo>
                  <a:lnTo>
                    <a:pt x="90" y="192"/>
                  </a:lnTo>
                  <a:lnTo>
                    <a:pt x="88" y="198"/>
                  </a:lnTo>
                  <a:lnTo>
                    <a:pt x="88" y="200"/>
                  </a:lnTo>
                  <a:lnTo>
                    <a:pt x="90" y="202"/>
                  </a:lnTo>
                  <a:lnTo>
                    <a:pt x="90" y="204"/>
                  </a:lnTo>
                  <a:lnTo>
                    <a:pt x="90" y="204"/>
                  </a:lnTo>
                  <a:lnTo>
                    <a:pt x="90" y="204"/>
                  </a:lnTo>
                  <a:lnTo>
                    <a:pt x="92" y="204"/>
                  </a:lnTo>
                  <a:lnTo>
                    <a:pt x="92" y="204"/>
                  </a:lnTo>
                  <a:lnTo>
                    <a:pt x="92" y="204"/>
                  </a:lnTo>
                  <a:lnTo>
                    <a:pt x="92" y="204"/>
                  </a:lnTo>
                  <a:lnTo>
                    <a:pt x="92" y="204"/>
                  </a:lnTo>
                  <a:lnTo>
                    <a:pt x="92" y="204"/>
                  </a:lnTo>
                  <a:lnTo>
                    <a:pt x="92" y="204"/>
                  </a:lnTo>
                  <a:lnTo>
                    <a:pt x="94" y="206"/>
                  </a:lnTo>
                  <a:lnTo>
                    <a:pt x="94" y="208"/>
                  </a:lnTo>
                  <a:lnTo>
                    <a:pt x="94" y="209"/>
                  </a:lnTo>
                  <a:lnTo>
                    <a:pt x="94" y="209"/>
                  </a:lnTo>
                  <a:lnTo>
                    <a:pt x="94" y="209"/>
                  </a:lnTo>
                  <a:lnTo>
                    <a:pt x="96" y="209"/>
                  </a:lnTo>
                  <a:lnTo>
                    <a:pt x="96" y="208"/>
                  </a:lnTo>
                  <a:lnTo>
                    <a:pt x="96" y="208"/>
                  </a:lnTo>
                  <a:lnTo>
                    <a:pt x="96" y="209"/>
                  </a:lnTo>
                  <a:lnTo>
                    <a:pt x="96" y="211"/>
                  </a:lnTo>
                  <a:lnTo>
                    <a:pt x="96" y="219"/>
                  </a:lnTo>
                  <a:lnTo>
                    <a:pt x="96" y="221"/>
                  </a:lnTo>
                  <a:lnTo>
                    <a:pt x="96" y="223"/>
                  </a:lnTo>
                  <a:lnTo>
                    <a:pt x="96" y="223"/>
                  </a:lnTo>
                  <a:lnTo>
                    <a:pt x="96" y="223"/>
                  </a:lnTo>
                  <a:lnTo>
                    <a:pt x="98" y="225"/>
                  </a:lnTo>
                  <a:lnTo>
                    <a:pt x="98" y="230"/>
                  </a:lnTo>
                  <a:lnTo>
                    <a:pt x="98" y="234"/>
                  </a:lnTo>
                  <a:lnTo>
                    <a:pt x="98" y="236"/>
                  </a:lnTo>
                  <a:lnTo>
                    <a:pt x="98" y="238"/>
                  </a:lnTo>
                  <a:lnTo>
                    <a:pt x="96" y="244"/>
                  </a:lnTo>
                  <a:lnTo>
                    <a:pt x="96" y="246"/>
                  </a:lnTo>
                  <a:lnTo>
                    <a:pt x="96" y="247"/>
                  </a:lnTo>
                  <a:lnTo>
                    <a:pt x="99" y="249"/>
                  </a:lnTo>
                  <a:lnTo>
                    <a:pt x="101" y="249"/>
                  </a:lnTo>
                  <a:lnTo>
                    <a:pt x="103" y="251"/>
                  </a:lnTo>
                  <a:lnTo>
                    <a:pt x="103" y="251"/>
                  </a:lnTo>
                  <a:lnTo>
                    <a:pt x="103" y="251"/>
                  </a:lnTo>
                  <a:lnTo>
                    <a:pt x="105" y="251"/>
                  </a:lnTo>
                  <a:lnTo>
                    <a:pt x="109" y="251"/>
                  </a:lnTo>
                  <a:lnTo>
                    <a:pt x="109" y="251"/>
                  </a:lnTo>
                  <a:lnTo>
                    <a:pt x="109" y="251"/>
                  </a:lnTo>
                  <a:lnTo>
                    <a:pt x="111" y="251"/>
                  </a:lnTo>
                  <a:lnTo>
                    <a:pt x="111" y="251"/>
                  </a:lnTo>
                  <a:lnTo>
                    <a:pt x="113" y="253"/>
                  </a:lnTo>
                  <a:lnTo>
                    <a:pt x="113" y="253"/>
                  </a:lnTo>
                  <a:lnTo>
                    <a:pt x="113" y="255"/>
                  </a:lnTo>
                  <a:lnTo>
                    <a:pt x="113" y="255"/>
                  </a:lnTo>
                  <a:lnTo>
                    <a:pt x="115" y="255"/>
                  </a:lnTo>
                  <a:lnTo>
                    <a:pt x="115" y="255"/>
                  </a:lnTo>
                  <a:lnTo>
                    <a:pt x="115" y="255"/>
                  </a:lnTo>
                  <a:lnTo>
                    <a:pt x="117" y="253"/>
                  </a:lnTo>
                  <a:lnTo>
                    <a:pt x="117" y="253"/>
                  </a:lnTo>
                  <a:lnTo>
                    <a:pt x="117" y="253"/>
                  </a:lnTo>
                  <a:lnTo>
                    <a:pt x="117" y="253"/>
                  </a:lnTo>
                  <a:lnTo>
                    <a:pt x="119" y="253"/>
                  </a:lnTo>
                  <a:lnTo>
                    <a:pt x="119" y="253"/>
                  </a:lnTo>
                  <a:lnTo>
                    <a:pt x="120" y="253"/>
                  </a:lnTo>
                  <a:lnTo>
                    <a:pt x="122" y="253"/>
                  </a:lnTo>
                  <a:lnTo>
                    <a:pt x="122" y="253"/>
                  </a:lnTo>
                  <a:lnTo>
                    <a:pt x="122" y="253"/>
                  </a:lnTo>
                  <a:lnTo>
                    <a:pt x="122" y="255"/>
                  </a:lnTo>
                  <a:lnTo>
                    <a:pt x="122" y="257"/>
                  </a:lnTo>
                  <a:lnTo>
                    <a:pt x="122" y="257"/>
                  </a:lnTo>
                  <a:lnTo>
                    <a:pt x="120" y="263"/>
                  </a:lnTo>
                  <a:lnTo>
                    <a:pt x="120" y="265"/>
                  </a:lnTo>
                  <a:lnTo>
                    <a:pt x="120" y="265"/>
                  </a:lnTo>
                  <a:lnTo>
                    <a:pt x="120" y="265"/>
                  </a:lnTo>
                  <a:lnTo>
                    <a:pt x="120" y="265"/>
                  </a:lnTo>
                  <a:lnTo>
                    <a:pt x="122" y="266"/>
                  </a:lnTo>
                  <a:lnTo>
                    <a:pt x="124" y="268"/>
                  </a:lnTo>
                  <a:lnTo>
                    <a:pt x="124" y="268"/>
                  </a:lnTo>
                  <a:lnTo>
                    <a:pt x="122" y="268"/>
                  </a:lnTo>
                  <a:lnTo>
                    <a:pt x="120" y="270"/>
                  </a:lnTo>
                  <a:lnTo>
                    <a:pt x="120" y="270"/>
                  </a:lnTo>
                  <a:lnTo>
                    <a:pt x="119" y="272"/>
                  </a:lnTo>
                  <a:lnTo>
                    <a:pt x="117" y="272"/>
                  </a:lnTo>
                  <a:lnTo>
                    <a:pt x="117" y="272"/>
                  </a:lnTo>
                  <a:lnTo>
                    <a:pt x="113" y="276"/>
                  </a:lnTo>
                  <a:lnTo>
                    <a:pt x="113" y="276"/>
                  </a:lnTo>
                  <a:lnTo>
                    <a:pt x="111" y="276"/>
                  </a:lnTo>
                  <a:lnTo>
                    <a:pt x="111" y="276"/>
                  </a:lnTo>
                  <a:lnTo>
                    <a:pt x="111" y="276"/>
                  </a:lnTo>
                  <a:lnTo>
                    <a:pt x="111" y="274"/>
                  </a:lnTo>
                  <a:lnTo>
                    <a:pt x="111" y="274"/>
                  </a:lnTo>
                  <a:lnTo>
                    <a:pt x="111" y="272"/>
                  </a:lnTo>
                  <a:lnTo>
                    <a:pt x="111" y="272"/>
                  </a:lnTo>
                  <a:lnTo>
                    <a:pt x="111" y="270"/>
                  </a:lnTo>
                  <a:lnTo>
                    <a:pt x="111" y="270"/>
                  </a:lnTo>
                  <a:lnTo>
                    <a:pt x="111" y="268"/>
                  </a:lnTo>
                  <a:lnTo>
                    <a:pt x="111" y="268"/>
                  </a:lnTo>
                  <a:lnTo>
                    <a:pt x="109" y="268"/>
                  </a:lnTo>
                  <a:lnTo>
                    <a:pt x="105" y="268"/>
                  </a:lnTo>
                  <a:lnTo>
                    <a:pt x="105" y="268"/>
                  </a:lnTo>
                  <a:lnTo>
                    <a:pt x="103" y="266"/>
                  </a:lnTo>
                  <a:lnTo>
                    <a:pt x="101" y="266"/>
                  </a:lnTo>
                  <a:lnTo>
                    <a:pt x="92" y="265"/>
                  </a:lnTo>
                  <a:lnTo>
                    <a:pt x="92" y="265"/>
                  </a:lnTo>
                  <a:lnTo>
                    <a:pt x="90" y="265"/>
                  </a:lnTo>
                  <a:lnTo>
                    <a:pt x="90" y="265"/>
                  </a:lnTo>
                  <a:lnTo>
                    <a:pt x="90" y="266"/>
                  </a:lnTo>
                  <a:lnTo>
                    <a:pt x="90" y="266"/>
                  </a:lnTo>
                  <a:lnTo>
                    <a:pt x="88" y="266"/>
                  </a:lnTo>
                  <a:lnTo>
                    <a:pt x="88" y="266"/>
                  </a:lnTo>
                  <a:lnTo>
                    <a:pt x="86" y="270"/>
                  </a:lnTo>
                  <a:lnTo>
                    <a:pt x="86" y="270"/>
                  </a:lnTo>
                  <a:lnTo>
                    <a:pt x="86" y="270"/>
                  </a:lnTo>
                  <a:lnTo>
                    <a:pt x="84" y="270"/>
                  </a:lnTo>
                  <a:lnTo>
                    <a:pt x="84" y="270"/>
                  </a:lnTo>
                  <a:lnTo>
                    <a:pt x="78" y="257"/>
                  </a:lnTo>
                  <a:lnTo>
                    <a:pt x="78" y="257"/>
                  </a:lnTo>
                  <a:lnTo>
                    <a:pt x="77" y="255"/>
                  </a:lnTo>
                  <a:lnTo>
                    <a:pt x="77" y="255"/>
                  </a:lnTo>
                  <a:lnTo>
                    <a:pt x="75" y="255"/>
                  </a:lnTo>
                  <a:lnTo>
                    <a:pt x="73" y="255"/>
                  </a:lnTo>
                  <a:lnTo>
                    <a:pt x="73" y="255"/>
                  </a:lnTo>
                  <a:lnTo>
                    <a:pt x="73" y="255"/>
                  </a:lnTo>
                  <a:lnTo>
                    <a:pt x="73" y="255"/>
                  </a:lnTo>
                  <a:lnTo>
                    <a:pt x="73" y="255"/>
                  </a:lnTo>
                  <a:lnTo>
                    <a:pt x="71" y="253"/>
                  </a:lnTo>
                  <a:lnTo>
                    <a:pt x="71" y="253"/>
                  </a:lnTo>
                  <a:lnTo>
                    <a:pt x="71" y="253"/>
                  </a:lnTo>
                  <a:lnTo>
                    <a:pt x="71" y="253"/>
                  </a:lnTo>
                  <a:lnTo>
                    <a:pt x="69" y="251"/>
                  </a:lnTo>
                  <a:lnTo>
                    <a:pt x="67" y="249"/>
                  </a:lnTo>
                  <a:lnTo>
                    <a:pt x="65" y="247"/>
                  </a:lnTo>
                  <a:lnTo>
                    <a:pt x="65" y="247"/>
                  </a:lnTo>
                  <a:lnTo>
                    <a:pt x="65" y="247"/>
                  </a:lnTo>
                  <a:lnTo>
                    <a:pt x="65" y="247"/>
                  </a:lnTo>
                  <a:lnTo>
                    <a:pt x="63" y="247"/>
                  </a:lnTo>
                  <a:lnTo>
                    <a:pt x="63" y="247"/>
                  </a:lnTo>
                  <a:lnTo>
                    <a:pt x="63" y="249"/>
                  </a:lnTo>
                  <a:lnTo>
                    <a:pt x="63" y="249"/>
                  </a:lnTo>
                  <a:lnTo>
                    <a:pt x="61" y="251"/>
                  </a:lnTo>
                  <a:lnTo>
                    <a:pt x="61" y="251"/>
                  </a:lnTo>
                  <a:lnTo>
                    <a:pt x="61" y="251"/>
                  </a:lnTo>
                  <a:lnTo>
                    <a:pt x="61" y="253"/>
                  </a:lnTo>
                  <a:lnTo>
                    <a:pt x="59" y="253"/>
                  </a:lnTo>
                  <a:lnTo>
                    <a:pt x="59" y="251"/>
                  </a:lnTo>
                  <a:lnTo>
                    <a:pt x="59" y="251"/>
                  </a:lnTo>
                  <a:lnTo>
                    <a:pt x="59" y="251"/>
                  </a:lnTo>
                  <a:lnTo>
                    <a:pt x="59" y="249"/>
                  </a:lnTo>
                  <a:lnTo>
                    <a:pt x="58" y="249"/>
                  </a:lnTo>
                  <a:lnTo>
                    <a:pt x="54" y="244"/>
                  </a:lnTo>
                  <a:lnTo>
                    <a:pt x="54" y="244"/>
                  </a:lnTo>
                  <a:lnTo>
                    <a:pt x="52" y="244"/>
                  </a:lnTo>
                  <a:lnTo>
                    <a:pt x="52" y="244"/>
                  </a:lnTo>
                  <a:lnTo>
                    <a:pt x="52" y="244"/>
                  </a:lnTo>
                  <a:lnTo>
                    <a:pt x="48" y="247"/>
                  </a:lnTo>
                  <a:lnTo>
                    <a:pt x="46" y="249"/>
                  </a:lnTo>
                  <a:lnTo>
                    <a:pt x="46" y="249"/>
                  </a:lnTo>
                  <a:lnTo>
                    <a:pt x="44" y="249"/>
                  </a:lnTo>
                  <a:lnTo>
                    <a:pt x="40" y="257"/>
                  </a:lnTo>
                  <a:lnTo>
                    <a:pt x="40" y="257"/>
                  </a:lnTo>
                  <a:lnTo>
                    <a:pt x="40" y="259"/>
                  </a:lnTo>
                  <a:lnTo>
                    <a:pt x="40" y="261"/>
                  </a:lnTo>
                  <a:lnTo>
                    <a:pt x="40" y="261"/>
                  </a:lnTo>
                  <a:lnTo>
                    <a:pt x="40" y="263"/>
                  </a:lnTo>
                  <a:lnTo>
                    <a:pt x="42" y="263"/>
                  </a:lnTo>
                  <a:lnTo>
                    <a:pt x="42" y="265"/>
                  </a:lnTo>
                  <a:lnTo>
                    <a:pt x="52" y="268"/>
                  </a:lnTo>
                  <a:lnTo>
                    <a:pt x="52" y="268"/>
                  </a:lnTo>
                  <a:lnTo>
                    <a:pt x="52" y="270"/>
                  </a:lnTo>
                  <a:lnTo>
                    <a:pt x="54" y="272"/>
                  </a:lnTo>
                  <a:lnTo>
                    <a:pt x="54" y="274"/>
                  </a:lnTo>
                  <a:lnTo>
                    <a:pt x="54" y="274"/>
                  </a:lnTo>
                  <a:lnTo>
                    <a:pt x="56" y="274"/>
                  </a:lnTo>
                  <a:lnTo>
                    <a:pt x="59" y="274"/>
                  </a:lnTo>
                  <a:lnTo>
                    <a:pt x="59" y="274"/>
                  </a:lnTo>
                  <a:lnTo>
                    <a:pt x="59" y="276"/>
                  </a:lnTo>
                  <a:lnTo>
                    <a:pt x="61" y="276"/>
                  </a:lnTo>
                  <a:lnTo>
                    <a:pt x="61" y="278"/>
                  </a:lnTo>
                  <a:lnTo>
                    <a:pt x="59" y="282"/>
                  </a:lnTo>
                  <a:lnTo>
                    <a:pt x="59" y="284"/>
                  </a:lnTo>
                  <a:lnTo>
                    <a:pt x="59" y="286"/>
                  </a:lnTo>
                  <a:lnTo>
                    <a:pt x="61" y="287"/>
                  </a:lnTo>
                  <a:lnTo>
                    <a:pt x="61" y="289"/>
                  </a:lnTo>
                  <a:lnTo>
                    <a:pt x="61" y="291"/>
                  </a:lnTo>
                  <a:lnTo>
                    <a:pt x="61" y="293"/>
                  </a:lnTo>
                  <a:lnTo>
                    <a:pt x="59" y="301"/>
                  </a:lnTo>
                  <a:lnTo>
                    <a:pt x="61" y="301"/>
                  </a:lnTo>
                  <a:lnTo>
                    <a:pt x="61" y="303"/>
                  </a:lnTo>
                  <a:lnTo>
                    <a:pt x="63" y="303"/>
                  </a:lnTo>
                  <a:lnTo>
                    <a:pt x="65" y="303"/>
                  </a:lnTo>
                  <a:lnTo>
                    <a:pt x="65" y="303"/>
                  </a:lnTo>
                  <a:lnTo>
                    <a:pt x="65" y="305"/>
                  </a:lnTo>
                  <a:lnTo>
                    <a:pt x="67" y="308"/>
                  </a:lnTo>
                  <a:lnTo>
                    <a:pt x="67" y="308"/>
                  </a:lnTo>
                  <a:lnTo>
                    <a:pt x="67" y="308"/>
                  </a:lnTo>
                  <a:lnTo>
                    <a:pt x="69" y="308"/>
                  </a:lnTo>
                  <a:lnTo>
                    <a:pt x="71" y="310"/>
                  </a:lnTo>
                  <a:lnTo>
                    <a:pt x="71" y="310"/>
                  </a:lnTo>
                  <a:lnTo>
                    <a:pt x="73" y="310"/>
                  </a:lnTo>
                  <a:lnTo>
                    <a:pt x="73" y="312"/>
                  </a:lnTo>
                  <a:lnTo>
                    <a:pt x="73" y="312"/>
                  </a:lnTo>
                  <a:lnTo>
                    <a:pt x="73" y="314"/>
                  </a:lnTo>
                  <a:lnTo>
                    <a:pt x="73" y="314"/>
                  </a:lnTo>
                  <a:lnTo>
                    <a:pt x="71" y="316"/>
                  </a:lnTo>
                  <a:lnTo>
                    <a:pt x="71" y="316"/>
                  </a:lnTo>
                  <a:lnTo>
                    <a:pt x="71" y="316"/>
                  </a:lnTo>
                  <a:lnTo>
                    <a:pt x="71" y="318"/>
                  </a:lnTo>
                  <a:lnTo>
                    <a:pt x="71" y="318"/>
                  </a:lnTo>
                  <a:lnTo>
                    <a:pt x="73" y="318"/>
                  </a:lnTo>
                  <a:lnTo>
                    <a:pt x="73" y="320"/>
                  </a:lnTo>
                  <a:lnTo>
                    <a:pt x="73" y="320"/>
                  </a:lnTo>
                  <a:lnTo>
                    <a:pt x="73" y="322"/>
                  </a:lnTo>
                  <a:lnTo>
                    <a:pt x="71" y="325"/>
                  </a:lnTo>
                  <a:lnTo>
                    <a:pt x="71" y="325"/>
                  </a:lnTo>
                  <a:lnTo>
                    <a:pt x="71" y="327"/>
                  </a:lnTo>
                  <a:lnTo>
                    <a:pt x="71" y="329"/>
                  </a:lnTo>
                  <a:lnTo>
                    <a:pt x="71" y="331"/>
                  </a:lnTo>
                  <a:lnTo>
                    <a:pt x="71" y="331"/>
                  </a:lnTo>
                  <a:lnTo>
                    <a:pt x="73" y="333"/>
                  </a:lnTo>
                  <a:lnTo>
                    <a:pt x="73" y="335"/>
                  </a:lnTo>
                  <a:lnTo>
                    <a:pt x="73" y="337"/>
                  </a:lnTo>
                  <a:lnTo>
                    <a:pt x="73" y="339"/>
                  </a:lnTo>
                  <a:lnTo>
                    <a:pt x="73" y="339"/>
                  </a:lnTo>
                  <a:lnTo>
                    <a:pt x="73" y="341"/>
                  </a:lnTo>
                  <a:lnTo>
                    <a:pt x="75" y="341"/>
                  </a:lnTo>
                  <a:lnTo>
                    <a:pt x="75" y="343"/>
                  </a:lnTo>
                  <a:lnTo>
                    <a:pt x="77" y="343"/>
                  </a:lnTo>
                  <a:lnTo>
                    <a:pt x="77" y="346"/>
                  </a:lnTo>
                  <a:lnTo>
                    <a:pt x="77" y="346"/>
                  </a:lnTo>
                  <a:lnTo>
                    <a:pt x="78" y="348"/>
                  </a:lnTo>
                  <a:lnTo>
                    <a:pt x="78" y="350"/>
                  </a:lnTo>
                  <a:lnTo>
                    <a:pt x="78" y="350"/>
                  </a:lnTo>
                  <a:lnTo>
                    <a:pt x="78" y="352"/>
                  </a:lnTo>
                  <a:lnTo>
                    <a:pt x="78" y="358"/>
                  </a:lnTo>
                  <a:lnTo>
                    <a:pt x="78" y="360"/>
                  </a:lnTo>
                  <a:lnTo>
                    <a:pt x="78" y="360"/>
                  </a:lnTo>
                  <a:lnTo>
                    <a:pt x="77" y="360"/>
                  </a:lnTo>
                  <a:lnTo>
                    <a:pt x="75" y="362"/>
                  </a:lnTo>
                  <a:lnTo>
                    <a:pt x="75" y="362"/>
                  </a:lnTo>
                  <a:lnTo>
                    <a:pt x="75" y="362"/>
                  </a:lnTo>
                  <a:lnTo>
                    <a:pt x="75" y="362"/>
                  </a:lnTo>
                  <a:lnTo>
                    <a:pt x="73" y="362"/>
                  </a:lnTo>
                  <a:lnTo>
                    <a:pt x="73" y="363"/>
                  </a:lnTo>
                  <a:lnTo>
                    <a:pt x="73" y="363"/>
                  </a:lnTo>
                  <a:lnTo>
                    <a:pt x="73" y="363"/>
                  </a:lnTo>
                  <a:lnTo>
                    <a:pt x="73" y="367"/>
                  </a:lnTo>
                  <a:lnTo>
                    <a:pt x="71" y="371"/>
                  </a:lnTo>
                  <a:lnTo>
                    <a:pt x="71" y="371"/>
                  </a:lnTo>
                  <a:lnTo>
                    <a:pt x="71" y="373"/>
                  </a:lnTo>
                  <a:lnTo>
                    <a:pt x="71" y="375"/>
                  </a:lnTo>
                  <a:lnTo>
                    <a:pt x="71" y="377"/>
                  </a:lnTo>
                  <a:lnTo>
                    <a:pt x="69" y="375"/>
                  </a:lnTo>
                  <a:lnTo>
                    <a:pt x="69" y="375"/>
                  </a:lnTo>
                  <a:lnTo>
                    <a:pt x="67" y="373"/>
                  </a:lnTo>
                  <a:lnTo>
                    <a:pt x="67" y="373"/>
                  </a:lnTo>
                  <a:lnTo>
                    <a:pt x="67" y="373"/>
                  </a:lnTo>
                  <a:lnTo>
                    <a:pt x="67" y="373"/>
                  </a:lnTo>
                  <a:lnTo>
                    <a:pt x="65" y="375"/>
                  </a:lnTo>
                  <a:lnTo>
                    <a:pt x="65" y="377"/>
                  </a:lnTo>
                  <a:lnTo>
                    <a:pt x="63" y="379"/>
                  </a:lnTo>
                  <a:lnTo>
                    <a:pt x="63" y="379"/>
                  </a:lnTo>
                  <a:lnTo>
                    <a:pt x="61" y="379"/>
                  </a:lnTo>
                  <a:lnTo>
                    <a:pt x="58" y="381"/>
                  </a:lnTo>
                  <a:lnTo>
                    <a:pt x="58" y="381"/>
                  </a:lnTo>
                  <a:lnTo>
                    <a:pt x="56" y="381"/>
                  </a:lnTo>
                  <a:lnTo>
                    <a:pt x="56" y="381"/>
                  </a:lnTo>
                  <a:lnTo>
                    <a:pt x="54" y="383"/>
                  </a:lnTo>
                  <a:lnTo>
                    <a:pt x="54" y="383"/>
                  </a:lnTo>
                  <a:lnTo>
                    <a:pt x="52" y="384"/>
                  </a:lnTo>
                  <a:lnTo>
                    <a:pt x="52" y="384"/>
                  </a:lnTo>
                  <a:lnTo>
                    <a:pt x="52" y="386"/>
                  </a:lnTo>
                  <a:lnTo>
                    <a:pt x="50" y="386"/>
                  </a:lnTo>
                  <a:lnTo>
                    <a:pt x="50" y="386"/>
                  </a:lnTo>
                  <a:lnTo>
                    <a:pt x="50" y="386"/>
                  </a:lnTo>
                  <a:lnTo>
                    <a:pt x="48" y="386"/>
                  </a:lnTo>
                  <a:lnTo>
                    <a:pt x="48" y="388"/>
                  </a:lnTo>
                  <a:lnTo>
                    <a:pt x="48" y="388"/>
                  </a:lnTo>
                  <a:lnTo>
                    <a:pt x="50" y="388"/>
                  </a:lnTo>
                  <a:lnTo>
                    <a:pt x="50" y="388"/>
                  </a:lnTo>
                  <a:lnTo>
                    <a:pt x="52" y="390"/>
                  </a:lnTo>
                  <a:lnTo>
                    <a:pt x="52" y="390"/>
                  </a:lnTo>
                  <a:lnTo>
                    <a:pt x="52" y="392"/>
                  </a:lnTo>
                  <a:lnTo>
                    <a:pt x="52" y="394"/>
                  </a:lnTo>
                  <a:lnTo>
                    <a:pt x="52" y="394"/>
                  </a:lnTo>
                  <a:lnTo>
                    <a:pt x="52" y="394"/>
                  </a:lnTo>
                  <a:lnTo>
                    <a:pt x="50" y="396"/>
                  </a:lnTo>
                  <a:lnTo>
                    <a:pt x="50" y="396"/>
                  </a:lnTo>
                  <a:lnTo>
                    <a:pt x="48" y="398"/>
                  </a:lnTo>
                  <a:lnTo>
                    <a:pt x="46" y="400"/>
                  </a:lnTo>
                  <a:lnTo>
                    <a:pt x="42" y="402"/>
                  </a:lnTo>
                  <a:lnTo>
                    <a:pt x="40" y="405"/>
                  </a:lnTo>
                  <a:lnTo>
                    <a:pt x="38" y="405"/>
                  </a:lnTo>
                  <a:lnTo>
                    <a:pt x="37" y="409"/>
                  </a:lnTo>
                  <a:lnTo>
                    <a:pt x="33" y="413"/>
                  </a:lnTo>
                  <a:lnTo>
                    <a:pt x="33" y="415"/>
                  </a:lnTo>
                  <a:lnTo>
                    <a:pt x="33" y="415"/>
                  </a:lnTo>
                  <a:lnTo>
                    <a:pt x="31" y="415"/>
                  </a:lnTo>
                  <a:lnTo>
                    <a:pt x="29" y="415"/>
                  </a:lnTo>
                  <a:lnTo>
                    <a:pt x="29" y="417"/>
                  </a:lnTo>
                  <a:lnTo>
                    <a:pt x="27" y="417"/>
                  </a:lnTo>
                  <a:lnTo>
                    <a:pt x="27" y="417"/>
                  </a:lnTo>
                  <a:lnTo>
                    <a:pt x="25" y="419"/>
                  </a:lnTo>
                  <a:lnTo>
                    <a:pt x="25" y="419"/>
                  </a:lnTo>
                  <a:lnTo>
                    <a:pt x="25" y="421"/>
                  </a:lnTo>
                  <a:lnTo>
                    <a:pt x="19" y="422"/>
                  </a:lnTo>
                  <a:lnTo>
                    <a:pt x="18" y="422"/>
                  </a:lnTo>
                  <a:lnTo>
                    <a:pt x="18" y="422"/>
                  </a:lnTo>
                  <a:lnTo>
                    <a:pt x="18" y="422"/>
                  </a:lnTo>
                  <a:lnTo>
                    <a:pt x="16" y="422"/>
                  </a:lnTo>
                  <a:lnTo>
                    <a:pt x="16" y="422"/>
                  </a:lnTo>
                  <a:lnTo>
                    <a:pt x="16" y="422"/>
                  </a:lnTo>
                  <a:lnTo>
                    <a:pt x="14" y="426"/>
                  </a:lnTo>
                  <a:lnTo>
                    <a:pt x="14" y="428"/>
                  </a:lnTo>
                  <a:lnTo>
                    <a:pt x="14" y="428"/>
                  </a:lnTo>
                  <a:lnTo>
                    <a:pt x="12" y="428"/>
                  </a:lnTo>
                  <a:lnTo>
                    <a:pt x="12" y="430"/>
                  </a:lnTo>
                  <a:lnTo>
                    <a:pt x="12" y="430"/>
                  </a:lnTo>
                  <a:lnTo>
                    <a:pt x="12" y="430"/>
                  </a:lnTo>
                  <a:lnTo>
                    <a:pt x="14" y="432"/>
                  </a:lnTo>
                  <a:lnTo>
                    <a:pt x="14" y="432"/>
                  </a:lnTo>
                  <a:lnTo>
                    <a:pt x="14" y="434"/>
                  </a:lnTo>
                  <a:lnTo>
                    <a:pt x="14" y="436"/>
                  </a:lnTo>
                  <a:lnTo>
                    <a:pt x="14" y="438"/>
                  </a:lnTo>
                  <a:lnTo>
                    <a:pt x="12" y="440"/>
                  </a:lnTo>
                  <a:lnTo>
                    <a:pt x="12" y="441"/>
                  </a:lnTo>
                  <a:lnTo>
                    <a:pt x="12" y="441"/>
                  </a:lnTo>
                  <a:lnTo>
                    <a:pt x="12" y="441"/>
                  </a:lnTo>
                  <a:lnTo>
                    <a:pt x="10" y="443"/>
                  </a:lnTo>
                  <a:lnTo>
                    <a:pt x="10" y="443"/>
                  </a:lnTo>
                  <a:lnTo>
                    <a:pt x="10" y="443"/>
                  </a:lnTo>
                  <a:lnTo>
                    <a:pt x="10" y="445"/>
                  </a:lnTo>
                  <a:lnTo>
                    <a:pt x="10" y="445"/>
                  </a:lnTo>
                  <a:lnTo>
                    <a:pt x="10" y="449"/>
                  </a:lnTo>
                  <a:lnTo>
                    <a:pt x="10" y="451"/>
                  </a:lnTo>
                  <a:lnTo>
                    <a:pt x="10" y="453"/>
                  </a:lnTo>
                  <a:lnTo>
                    <a:pt x="8" y="453"/>
                  </a:lnTo>
                  <a:lnTo>
                    <a:pt x="8" y="453"/>
                  </a:lnTo>
                  <a:lnTo>
                    <a:pt x="8" y="455"/>
                  </a:lnTo>
                  <a:lnTo>
                    <a:pt x="6" y="455"/>
                  </a:lnTo>
                  <a:lnTo>
                    <a:pt x="6" y="457"/>
                  </a:lnTo>
                  <a:lnTo>
                    <a:pt x="6" y="457"/>
                  </a:lnTo>
                  <a:lnTo>
                    <a:pt x="6" y="459"/>
                  </a:lnTo>
                  <a:lnTo>
                    <a:pt x="6" y="460"/>
                  </a:lnTo>
                  <a:lnTo>
                    <a:pt x="6" y="460"/>
                  </a:lnTo>
                  <a:lnTo>
                    <a:pt x="6" y="460"/>
                  </a:lnTo>
                  <a:lnTo>
                    <a:pt x="6" y="460"/>
                  </a:lnTo>
                  <a:lnTo>
                    <a:pt x="4" y="460"/>
                  </a:lnTo>
                  <a:lnTo>
                    <a:pt x="4" y="460"/>
                  </a:lnTo>
                  <a:lnTo>
                    <a:pt x="4" y="459"/>
                  </a:lnTo>
                  <a:lnTo>
                    <a:pt x="4" y="459"/>
                  </a:lnTo>
                  <a:lnTo>
                    <a:pt x="2" y="459"/>
                  </a:lnTo>
                  <a:lnTo>
                    <a:pt x="2" y="459"/>
                  </a:lnTo>
                  <a:lnTo>
                    <a:pt x="2" y="460"/>
                  </a:lnTo>
                  <a:lnTo>
                    <a:pt x="2" y="460"/>
                  </a:lnTo>
                  <a:lnTo>
                    <a:pt x="2" y="460"/>
                  </a:lnTo>
                  <a:lnTo>
                    <a:pt x="2" y="462"/>
                  </a:lnTo>
                  <a:lnTo>
                    <a:pt x="0" y="464"/>
                  </a:lnTo>
                  <a:lnTo>
                    <a:pt x="0" y="466"/>
                  </a:lnTo>
                  <a:lnTo>
                    <a:pt x="2" y="468"/>
                  </a:lnTo>
                  <a:lnTo>
                    <a:pt x="6" y="468"/>
                  </a:lnTo>
                  <a:lnTo>
                    <a:pt x="8" y="468"/>
                  </a:lnTo>
                  <a:lnTo>
                    <a:pt x="8" y="468"/>
                  </a:lnTo>
                  <a:lnTo>
                    <a:pt x="10" y="468"/>
                  </a:lnTo>
                  <a:lnTo>
                    <a:pt x="10" y="468"/>
                  </a:lnTo>
                  <a:lnTo>
                    <a:pt x="10" y="468"/>
                  </a:lnTo>
                  <a:lnTo>
                    <a:pt x="12" y="466"/>
                  </a:lnTo>
                  <a:lnTo>
                    <a:pt x="12" y="466"/>
                  </a:lnTo>
                  <a:lnTo>
                    <a:pt x="12" y="466"/>
                  </a:lnTo>
                  <a:lnTo>
                    <a:pt x="14" y="466"/>
                  </a:lnTo>
                  <a:lnTo>
                    <a:pt x="18" y="468"/>
                  </a:lnTo>
                  <a:lnTo>
                    <a:pt x="19" y="468"/>
                  </a:lnTo>
                  <a:lnTo>
                    <a:pt x="21" y="466"/>
                  </a:lnTo>
                  <a:lnTo>
                    <a:pt x="23" y="464"/>
                  </a:lnTo>
                  <a:lnTo>
                    <a:pt x="25" y="464"/>
                  </a:lnTo>
                  <a:lnTo>
                    <a:pt x="25" y="462"/>
                  </a:lnTo>
                  <a:lnTo>
                    <a:pt x="29" y="462"/>
                  </a:lnTo>
                  <a:lnTo>
                    <a:pt x="31" y="462"/>
                  </a:lnTo>
                  <a:lnTo>
                    <a:pt x="31" y="460"/>
                  </a:lnTo>
                  <a:lnTo>
                    <a:pt x="33" y="460"/>
                  </a:lnTo>
                  <a:lnTo>
                    <a:pt x="33" y="459"/>
                  </a:lnTo>
                  <a:lnTo>
                    <a:pt x="35" y="457"/>
                  </a:lnTo>
                  <a:lnTo>
                    <a:pt x="42" y="455"/>
                  </a:lnTo>
                  <a:lnTo>
                    <a:pt x="50" y="449"/>
                  </a:lnTo>
                  <a:lnTo>
                    <a:pt x="54" y="449"/>
                  </a:lnTo>
                  <a:lnTo>
                    <a:pt x="58" y="447"/>
                  </a:lnTo>
                  <a:lnTo>
                    <a:pt x="61" y="443"/>
                  </a:lnTo>
                  <a:lnTo>
                    <a:pt x="65" y="443"/>
                  </a:lnTo>
                  <a:lnTo>
                    <a:pt x="69" y="445"/>
                  </a:lnTo>
                  <a:lnTo>
                    <a:pt x="71" y="445"/>
                  </a:lnTo>
                  <a:lnTo>
                    <a:pt x="73" y="447"/>
                  </a:lnTo>
                  <a:lnTo>
                    <a:pt x="75" y="449"/>
                  </a:lnTo>
                  <a:lnTo>
                    <a:pt x="75" y="449"/>
                  </a:lnTo>
                  <a:lnTo>
                    <a:pt x="75" y="449"/>
                  </a:lnTo>
                  <a:lnTo>
                    <a:pt x="77" y="449"/>
                  </a:lnTo>
                  <a:lnTo>
                    <a:pt x="77" y="449"/>
                  </a:lnTo>
                  <a:lnTo>
                    <a:pt x="78" y="449"/>
                  </a:lnTo>
                  <a:lnTo>
                    <a:pt x="78" y="449"/>
                  </a:lnTo>
                  <a:lnTo>
                    <a:pt x="80" y="449"/>
                  </a:lnTo>
                  <a:lnTo>
                    <a:pt x="80" y="449"/>
                  </a:lnTo>
                  <a:lnTo>
                    <a:pt x="80" y="447"/>
                  </a:lnTo>
                  <a:lnTo>
                    <a:pt x="82" y="447"/>
                  </a:lnTo>
                  <a:lnTo>
                    <a:pt x="82" y="445"/>
                  </a:lnTo>
                  <a:lnTo>
                    <a:pt x="82" y="445"/>
                  </a:lnTo>
                  <a:lnTo>
                    <a:pt x="84" y="443"/>
                  </a:lnTo>
                  <a:lnTo>
                    <a:pt x="86" y="445"/>
                  </a:lnTo>
                  <a:lnTo>
                    <a:pt x="88" y="443"/>
                  </a:lnTo>
                  <a:lnTo>
                    <a:pt x="88" y="443"/>
                  </a:lnTo>
                  <a:lnTo>
                    <a:pt x="88" y="441"/>
                  </a:lnTo>
                  <a:lnTo>
                    <a:pt x="88" y="441"/>
                  </a:lnTo>
                  <a:lnTo>
                    <a:pt x="88" y="440"/>
                  </a:lnTo>
                  <a:lnTo>
                    <a:pt x="88" y="438"/>
                  </a:lnTo>
                  <a:lnTo>
                    <a:pt x="88" y="438"/>
                  </a:lnTo>
                  <a:lnTo>
                    <a:pt x="90" y="436"/>
                  </a:lnTo>
                  <a:lnTo>
                    <a:pt x="90" y="436"/>
                  </a:lnTo>
                  <a:lnTo>
                    <a:pt x="90" y="436"/>
                  </a:lnTo>
                  <a:lnTo>
                    <a:pt x="90" y="434"/>
                  </a:lnTo>
                  <a:lnTo>
                    <a:pt x="90" y="434"/>
                  </a:lnTo>
                  <a:lnTo>
                    <a:pt x="88" y="432"/>
                  </a:lnTo>
                  <a:lnTo>
                    <a:pt x="86" y="430"/>
                  </a:lnTo>
                  <a:lnTo>
                    <a:pt x="86" y="430"/>
                  </a:lnTo>
                  <a:lnTo>
                    <a:pt x="86" y="428"/>
                  </a:lnTo>
                  <a:lnTo>
                    <a:pt x="86" y="428"/>
                  </a:lnTo>
                  <a:lnTo>
                    <a:pt x="90" y="422"/>
                  </a:lnTo>
                  <a:lnTo>
                    <a:pt x="90" y="421"/>
                  </a:lnTo>
                  <a:lnTo>
                    <a:pt x="90" y="421"/>
                  </a:lnTo>
                  <a:lnTo>
                    <a:pt x="90" y="419"/>
                  </a:lnTo>
                  <a:lnTo>
                    <a:pt x="90" y="417"/>
                  </a:lnTo>
                  <a:lnTo>
                    <a:pt x="90" y="417"/>
                  </a:lnTo>
                  <a:lnTo>
                    <a:pt x="90" y="417"/>
                  </a:lnTo>
                  <a:lnTo>
                    <a:pt x="92" y="413"/>
                  </a:lnTo>
                  <a:lnTo>
                    <a:pt x="92" y="411"/>
                  </a:lnTo>
                  <a:lnTo>
                    <a:pt x="92" y="409"/>
                  </a:lnTo>
                  <a:lnTo>
                    <a:pt x="92" y="409"/>
                  </a:lnTo>
                  <a:lnTo>
                    <a:pt x="92" y="407"/>
                  </a:lnTo>
                  <a:lnTo>
                    <a:pt x="92" y="407"/>
                  </a:lnTo>
                  <a:lnTo>
                    <a:pt x="96" y="403"/>
                  </a:lnTo>
                  <a:lnTo>
                    <a:pt x="96" y="402"/>
                  </a:lnTo>
                  <a:lnTo>
                    <a:pt x="98" y="400"/>
                  </a:lnTo>
                  <a:lnTo>
                    <a:pt x="98" y="398"/>
                  </a:lnTo>
                  <a:lnTo>
                    <a:pt x="99" y="398"/>
                  </a:lnTo>
                  <a:lnTo>
                    <a:pt x="101" y="398"/>
                  </a:lnTo>
                  <a:lnTo>
                    <a:pt x="101" y="400"/>
                  </a:lnTo>
                  <a:lnTo>
                    <a:pt x="103" y="400"/>
                  </a:lnTo>
                  <a:lnTo>
                    <a:pt x="103" y="400"/>
                  </a:lnTo>
                  <a:lnTo>
                    <a:pt x="103" y="400"/>
                  </a:lnTo>
                  <a:lnTo>
                    <a:pt x="105" y="400"/>
                  </a:lnTo>
                  <a:lnTo>
                    <a:pt x="105" y="400"/>
                  </a:lnTo>
                  <a:lnTo>
                    <a:pt x="105" y="402"/>
                  </a:lnTo>
                  <a:lnTo>
                    <a:pt x="105" y="402"/>
                  </a:lnTo>
                  <a:lnTo>
                    <a:pt x="105" y="402"/>
                  </a:lnTo>
                  <a:lnTo>
                    <a:pt x="105" y="403"/>
                  </a:lnTo>
                  <a:lnTo>
                    <a:pt x="105" y="403"/>
                  </a:lnTo>
                  <a:lnTo>
                    <a:pt x="105" y="405"/>
                  </a:lnTo>
                  <a:lnTo>
                    <a:pt x="105" y="407"/>
                  </a:lnTo>
                  <a:lnTo>
                    <a:pt x="105" y="407"/>
                  </a:lnTo>
                  <a:lnTo>
                    <a:pt x="105" y="409"/>
                  </a:lnTo>
                  <a:lnTo>
                    <a:pt x="107" y="409"/>
                  </a:lnTo>
                  <a:lnTo>
                    <a:pt x="111" y="415"/>
                  </a:lnTo>
                  <a:lnTo>
                    <a:pt x="111" y="415"/>
                  </a:lnTo>
                  <a:lnTo>
                    <a:pt x="113" y="415"/>
                  </a:lnTo>
                  <a:lnTo>
                    <a:pt x="113" y="417"/>
                  </a:lnTo>
                  <a:lnTo>
                    <a:pt x="113" y="417"/>
                  </a:lnTo>
                  <a:lnTo>
                    <a:pt x="113" y="417"/>
                  </a:lnTo>
                  <a:lnTo>
                    <a:pt x="113" y="419"/>
                  </a:lnTo>
                  <a:lnTo>
                    <a:pt x="111" y="421"/>
                  </a:lnTo>
                  <a:lnTo>
                    <a:pt x="111" y="422"/>
                  </a:lnTo>
                  <a:lnTo>
                    <a:pt x="111" y="422"/>
                  </a:lnTo>
                  <a:lnTo>
                    <a:pt x="111" y="424"/>
                  </a:lnTo>
                  <a:lnTo>
                    <a:pt x="111" y="424"/>
                  </a:lnTo>
                  <a:lnTo>
                    <a:pt x="113" y="424"/>
                  </a:lnTo>
                  <a:lnTo>
                    <a:pt x="113" y="426"/>
                  </a:lnTo>
                  <a:lnTo>
                    <a:pt x="115" y="426"/>
                  </a:lnTo>
                  <a:lnTo>
                    <a:pt x="115" y="426"/>
                  </a:lnTo>
                  <a:lnTo>
                    <a:pt x="117" y="426"/>
                  </a:lnTo>
                  <a:lnTo>
                    <a:pt x="117" y="426"/>
                  </a:lnTo>
                  <a:lnTo>
                    <a:pt x="119" y="424"/>
                  </a:lnTo>
                  <a:lnTo>
                    <a:pt x="119" y="424"/>
                  </a:lnTo>
                  <a:lnTo>
                    <a:pt x="119" y="422"/>
                  </a:lnTo>
                  <a:lnTo>
                    <a:pt x="119" y="421"/>
                  </a:lnTo>
                  <a:lnTo>
                    <a:pt x="119" y="421"/>
                  </a:lnTo>
                  <a:lnTo>
                    <a:pt x="120" y="421"/>
                  </a:lnTo>
                  <a:lnTo>
                    <a:pt x="122" y="419"/>
                  </a:lnTo>
                  <a:lnTo>
                    <a:pt x="124" y="417"/>
                  </a:lnTo>
                  <a:lnTo>
                    <a:pt x="128" y="415"/>
                  </a:lnTo>
                  <a:lnTo>
                    <a:pt x="128" y="415"/>
                  </a:lnTo>
                  <a:lnTo>
                    <a:pt x="130" y="413"/>
                  </a:lnTo>
                  <a:lnTo>
                    <a:pt x="130" y="413"/>
                  </a:lnTo>
                  <a:lnTo>
                    <a:pt x="130" y="411"/>
                  </a:lnTo>
                  <a:lnTo>
                    <a:pt x="130" y="409"/>
                  </a:lnTo>
                  <a:lnTo>
                    <a:pt x="130" y="407"/>
                  </a:lnTo>
                  <a:lnTo>
                    <a:pt x="130" y="407"/>
                  </a:lnTo>
                  <a:lnTo>
                    <a:pt x="132" y="407"/>
                  </a:lnTo>
                  <a:lnTo>
                    <a:pt x="134" y="407"/>
                  </a:lnTo>
                  <a:lnTo>
                    <a:pt x="134" y="407"/>
                  </a:lnTo>
                  <a:lnTo>
                    <a:pt x="136" y="407"/>
                  </a:lnTo>
                  <a:lnTo>
                    <a:pt x="136" y="409"/>
                  </a:lnTo>
                  <a:lnTo>
                    <a:pt x="138" y="409"/>
                  </a:lnTo>
                  <a:lnTo>
                    <a:pt x="139" y="409"/>
                  </a:lnTo>
                  <a:lnTo>
                    <a:pt x="139" y="409"/>
                  </a:lnTo>
                  <a:lnTo>
                    <a:pt x="139" y="409"/>
                  </a:lnTo>
                  <a:lnTo>
                    <a:pt x="139" y="411"/>
                  </a:lnTo>
                  <a:lnTo>
                    <a:pt x="139" y="413"/>
                  </a:lnTo>
                  <a:lnTo>
                    <a:pt x="139" y="413"/>
                  </a:lnTo>
                  <a:lnTo>
                    <a:pt x="139" y="413"/>
                  </a:lnTo>
                  <a:lnTo>
                    <a:pt x="141" y="415"/>
                  </a:lnTo>
                  <a:lnTo>
                    <a:pt x="145" y="413"/>
                  </a:lnTo>
                  <a:lnTo>
                    <a:pt x="145" y="413"/>
                  </a:lnTo>
                  <a:lnTo>
                    <a:pt x="149" y="413"/>
                  </a:lnTo>
                  <a:lnTo>
                    <a:pt x="149" y="411"/>
                  </a:lnTo>
                  <a:lnTo>
                    <a:pt x="151" y="411"/>
                  </a:lnTo>
                  <a:lnTo>
                    <a:pt x="151" y="411"/>
                  </a:lnTo>
                  <a:lnTo>
                    <a:pt x="153" y="411"/>
                  </a:lnTo>
                  <a:lnTo>
                    <a:pt x="153" y="411"/>
                  </a:lnTo>
                  <a:lnTo>
                    <a:pt x="155" y="407"/>
                  </a:lnTo>
                  <a:lnTo>
                    <a:pt x="153" y="407"/>
                  </a:lnTo>
                  <a:lnTo>
                    <a:pt x="153" y="405"/>
                  </a:lnTo>
                  <a:lnTo>
                    <a:pt x="153" y="405"/>
                  </a:lnTo>
                  <a:lnTo>
                    <a:pt x="153" y="405"/>
                  </a:lnTo>
                  <a:lnTo>
                    <a:pt x="153" y="403"/>
                  </a:lnTo>
                  <a:lnTo>
                    <a:pt x="153" y="403"/>
                  </a:lnTo>
                  <a:lnTo>
                    <a:pt x="157" y="398"/>
                  </a:lnTo>
                  <a:lnTo>
                    <a:pt x="157" y="396"/>
                  </a:lnTo>
                  <a:lnTo>
                    <a:pt x="157" y="396"/>
                  </a:lnTo>
                  <a:lnTo>
                    <a:pt x="157" y="396"/>
                  </a:lnTo>
                  <a:lnTo>
                    <a:pt x="157" y="396"/>
                  </a:lnTo>
                  <a:lnTo>
                    <a:pt x="155" y="396"/>
                  </a:lnTo>
                  <a:lnTo>
                    <a:pt x="155" y="396"/>
                  </a:lnTo>
                  <a:lnTo>
                    <a:pt x="155" y="396"/>
                  </a:lnTo>
                  <a:lnTo>
                    <a:pt x="153" y="394"/>
                  </a:lnTo>
                  <a:lnTo>
                    <a:pt x="151" y="392"/>
                  </a:lnTo>
                  <a:lnTo>
                    <a:pt x="151" y="390"/>
                  </a:lnTo>
                  <a:lnTo>
                    <a:pt x="151" y="390"/>
                  </a:lnTo>
                  <a:lnTo>
                    <a:pt x="153" y="388"/>
                  </a:lnTo>
                  <a:lnTo>
                    <a:pt x="153" y="388"/>
                  </a:lnTo>
                  <a:lnTo>
                    <a:pt x="153" y="388"/>
                  </a:lnTo>
                  <a:lnTo>
                    <a:pt x="153" y="386"/>
                  </a:lnTo>
                  <a:lnTo>
                    <a:pt x="153" y="386"/>
                  </a:lnTo>
                  <a:lnTo>
                    <a:pt x="155" y="384"/>
                  </a:lnTo>
                  <a:lnTo>
                    <a:pt x="157" y="383"/>
                  </a:lnTo>
                  <a:lnTo>
                    <a:pt x="157" y="381"/>
                  </a:lnTo>
                  <a:lnTo>
                    <a:pt x="159" y="379"/>
                  </a:lnTo>
                  <a:lnTo>
                    <a:pt x="160" y="377"/>
                  </a:lnTo>
                  <a:lnTo>
                    <a:pt x="162" y="375"/>
                  </a:lnTo>
                  <a:lnTo>
                    <a:pt x="162" y="375"/>
                  </a:lnTo>
                  <a:lnTo>
                    <a:pt x="164" y="375"/>
                  </a:lnTo>
                  <a:lnTo>
                    <a:pt x="164" y="375"/>
                  </a:lnTo>
                  <a:lnTo>
                    <a:pt x="166" y="375"/>
                  </a:lnTo>
                  <a:lnTo>
                    <a:pt x="166" y="375"/>
                  </a:lnTo>
                  <a:lnTo>
                    <a:pt x="168" y="377"/>
                  </a:lnTo>
                  <a:lnTo>
                    <a:pt x="168" y="377"/>
                  </a:lnTo>
                  <a:lnTo>
                    <a:pt x="174" y="375"/>
                  </a:lnTo>
                  <a:lnTo>
                    <a:pt x="176" y="373"/>
                  </a:lnTo>
                  <a:lnTo>
                    <a:pt x="178" y="371"/>
                  </a:lnTo>
                  <a:lnTo>
                    <a:pt x="179" y="369"/>
                  </a:lnTo>
                  <a:lnTo>
                    <a:pt x="181" y="367"/>
                  </a:lnTo>
                  <a:lnTo>
                    <a:pt x="183" y="367"/>
                  </a:lnTo>
                  <a:lnTo>
                    <a:pt x="185" y="367"/>
                  </a:lnTo>
                  <a:lnTo>
                    <a:pt x="185" y="365"/>
                  </a:lnTo>
                  <a:lnTo>
                    <a:pt x="187" y="365"/>
                  </a:lnTo>
                  <a:lnTo>
                    <a:pt x="187" y="363"/>
                  </a:lnTo>
                  <a:lnTo>
                    <a:pt x="185" y="363"/>
                  </a:lnTo>
                  <a:lnTo>
                    <a:pt x="185" y="363"/>
                  </a:lnTo>
                  <a:lnTo>
                    <a:pt x="185" y="363"/>
                  </a:lnTo>
                  <a:lnTo>
                    <a:pt x="185" y="363"/>
                  </a:lnTo>
                  <a:lnTo>
                    <a:pt x="185" y="362"/>
                  </a:lnTo>
                  <a:lnTo>
                    <a:pt x="183" y="362"/>
                  </a:lnTo>
                  <a:lnTo>
                    <a:pt x="183" y="362"/>
                  </a:lnTo>
                  <a:lnTo>
                    <a:pt x="183" y="362"/>
                  </a:lnTo>
                  <a:lnTo>
                    <a:pt x="183" y="362"/>
                  </a:lnTo>
                  <a:lnTo>
                    <a:pt x="181" y="362"/>
                  </a:lnTo>
                  <a:lnTo>
                    <a:pt x="181" y="360"/>
                  </a:lnTo>
                  <a:lnTo>
                    <a:pt x="179" y="358"/>
                  </a:lnTo>
                  <a:lnTo>
                    <a:pt x="179" y="358"/>
                  </a:lnTo>
                  <a:lnTo>
                    <a:pt x="179" y="356"/>
                  </a:lnTo>
                  <a:lnTo>
                    <a:pt x="179" y="356"/>
                  </a:lnTo>
                  <a:lnTo>
                    <a:pt x="178" y="354"/>
                  </a:lnTo>
                  <a:lnTo>
                    <a:pt x="178" y="354"/>
                  </a:lnTo>
                  <a:lnTo>
                    <a:pt x="178" y="354"/>
                  </a:lnTo>
                  <a:lnTo>
                    <a:pt x="178" y="352"/>
                  </a:lnTo>
                  <a:lnTo>
                    <a:pt x="178" y="352"/>
                  </a:lnTo>
                  <a:lnTo>
                    <a:pt x="179" y="352"/>
                  </a:lnTo>
                  <a:lnTo>
                    <a:pt x="179" y="350"/>
                  </a:lnTo>
                  <a:lnTo>
                    <a:pt x="179" y="350"/>
                  </a:lnTo>
                  <a:lnTo>
                    <a:pt x="181" y="350"/>
                  </a:lnTo>
                  <a:lnTo>
                    <a:pt x="183" y="352"/>
                  </a:lnTo>
                  <a:lnTo>
                    <a:pt x="183" y="352"/>
                  </a:lnTo>
                  <a:lnTo>
                    <a:pt x="183" y="352"/>
                  </a:lnTo>
                  <a:lnTo>
                    <a:pt x="185" y="352"/>
                  </a:lnTo>
                  <a:lnTo>
                    <a:pt x="187" y="354"/>
                  </a:lnTo>
                  <a:lnTo>
                    <a:pt x="189" y="354"/>
                  </a:lnTo>
                  <a:lnTo>
                    <a:pt x="191" y="356"/>
                  </a:lnTo>
                  <a:lnTo>
                    <a:pt x="191" y="354"/>
                  </a:lnTo>
                  <a:lnTo>
                    <a:pt x="191" y="354"/>
                  </a:lnTo>
                  <a:lnTo>
                    <a:pt x="191" y="352"/>
                  </a:lnTo>
                  <a:lnTo>
                    <a:pt x="191" y="352"/>
                  </a:lnTo>
                  <a:lnTo>
                    <a:pt x="191" y="352"/>
                  </a:lnTo>
                  <a:lnTo>
                    <a:pt x="191" y="352"/>
                  </a:lnTo>
                  <a:lnTo>
                    <a:pt x="191" y="350"/>
                  </a:lnTo>
                  <a:lnTo>
                    <a:pt x="191" y="350"/>
                  </a:lnTo>
                  <a:lnTo>
                    <a:pt x="193" y="350"/>
                  </a:lnTo>
                  <a:lnTo>
                    <a:pt x="193" y="350"/>
                  </a:lnTo>
                  <a:lnTo>
                    <a:pt x="193" y="348"/>
                  </a:lnTo>
                  <a:lnTo>
                    <a:pt x="193" y="344"/>
                  </a:lnTo>
                  <a:lnTo>
                    <a:pt x="193" y="344"/>
                  </a:lnTo>
                  <a:lnTo>
                    <a:pt x="193" y="344"/>
                  </a:lnTo>
                  <a:lnTo>
                    <a:pt x="193" y="344"/>
                  </a:lnTo>
                  <a:lnTo>
                    <a:pt x="195" y="344"/>
                  </a:lnTo>
                  <a:lnTo>
                    <a:pt x="195" y="346"/>
                  </a:lnTo>
                  <a:lnTo>
                    <a:pt x="195" y="348"/>
                  </a:lnTo>
                  <a:lnTo>
                    <a:pt x="197" y="350"/>
                  </a:lnTo>
                  <a:lnTo>
                    <a:pt x="197" y="350"/>
                  </a:lnTo>
                  <a:lnTo>
                    <a:pt x="197" y="350"/>
                  </a:lnTo>
                  <a:lnTo>
                    <a:pt x="199" y="350"/>
                  </a:lnTo>
                  <a:lnTo>
                    <a:pt x="199" y="350"/>
                  </a:lnTo>
                  <a:lnTo>
                    <a:pt x="199" y="348"/>
                  </a:lnTo>
                  <a:lnTo>
                    <a:pt x="200" y="346"/>
                  </a:lnTo>
                  <a:lnTo>
                    <a:pt x="200" y="346"/>
                  </a:lnTo>
                  <a:lnTo>
                    <a:pt x="200" y="344"/>
                  </a:lnTo>
                  <a:lnTo>
                    <a:pt x="202" y="344"/>
                  </a:lnTo>
                  <a:lnTo>
                    <a:pt x="204" y="343"/>
                  </a:lnTo>
                  <a:lnTo>
                    <a:pt x="204" y="343"/>
                  </a:lnTo>
                  <a:lnTo>
                    <a:pt x="204" y="341"/>
                  </a:lnTo>
                  <a:lnTo>
                    <a:pt x="204" y="341"/>
                  </a:lnTo>
                  <a:lnTo>
                    <a:pt x="204" y="339"/>
                  </a:lnTo>
                  <a:lnTo>
                    <a:pt x="206" y="339"/>
                  </a:lnTo>
                  <a:lnTo>
                    <a:pt x="206" y="339"/>
                  </a:lnTo>
                  <a:lnTo>
                    <a:pt x="208" y="341"/>
                  </a:lnTo>
                  <a:lnTo>
                    <a:pt x="208" y="343"/>
                  </a:lnTo>
                  <a:lnTo>
                    <a:pt x="210" y="344"/>
                  </a:lnTo>
                  <a:lnTo>
                    <a:pt x="214" y="348"/>
                  </a:lnTo>
                  <a:lnTo>
                    <a:pt x="214" y="350"/>
                  </a:lnTo>
                  <a:lnTo>
                    <a:pt x="216" y="350"/>
                  </a:lnTo>
                  <a:lnTo>
                    <a:pt x="218" y="356"/>
                  </a:lnTo>
                  <a:lnTo>
                    <a:pt x="218" y="358"/>
                  </a:lnTo>
                  <a:lnTo>
                    <a:pt x="218" y="358"/>
                  </a:lnTo>
                  <a:lnTo>
                    <a:pt x="218" y="358"/>
                  </a:lnTo>
                  <a:lnTo>
                    <a:pt x="220" y="358"/>
                  </a:lnTo>
                  <a:lnTo>
                    <a:pt x="220" y="356"/>
                  </a:lnTo>
                  <a:lnTo>
                    <a:pt x="220" y="356"/>
                  </a:lnTo>
                  <a:lnTo>
                    <a:pt x="220" y="354"/>
                  </a:lnTo>
                  <a:lnTo>
                    <a:pt x="220" y="354"/>
                  </a:lnTo>
                  <a:lnTo>
                    <a:pt x="220" y="354"/>
                  </a:lnTo>
                  <a:lnTo>
                    <a:pt x="220" y="352"/>
                  </a:lnTo>
                  <a:lnTo>
                    <a:pt x="220" y="352"/>
                  </a:lnTo>
                  <a:lnTo>
                    <a:pt x="220" y="352"/>
                  </a:lnTo>
                  <a:lnTo>
                    <a:pt x="220" y="352"/>
                  </a:lnTo>
                  <a:lnTo>
                    <a:pt x="220" y="350"/>
                  </a:lnTo>
                  <a:lnTo>
                    <a:pt x="220" y="350"/>
                  </a:lnTo>
                  <a:lnTo>
                    <a:pt x="221" y="350"/>
                  </a:lnTo>
                  <a:lnTo>
                    <a:pt x="221" y="350"/>
                  </a:lnTo>
                  <a:lnTo>
                    <a:pt x="223" y="352"/>
                  </a:lnTo>
                  <a:lnTo>
                    <a:pt x="225" y="356"/>
                  </a:lnTo>
                  <a:lnTo>
                    <a:pt x="225" y="360"/>
                  </a:lnTo>
                  <a:lnTo>
                    <a:pt x="227" y="360"/>
                  </a:lnTo>
                  <a:lnTo>
                    <a:pt x="227" y="362"/>
                  </a:lnTo>
                  <a:lnTo>
                    <a:pt x="229" y="363"/>
                  </a:lnTo>
                  <a:lnTo>
                    <a:pt x="229" y="365"/>
                  </a:lnTo>
                  <a:lnTo>
                    <a:pt x="229" y="365"/>
                  </a:lnTo>
                  <a:lnTo>
                    <a:pt x="229" y="365"/>
                  </a:lnTo>
                  <a:lnTo>
                    <a:pt x="229" y="367"/>
                  </a:lnTo>
                  <a:lnTo>
                    <a:pt x="231" y="367"/>
                  </a:lnTo>
                  <a:lnTo>
                    <a:pt x="231" y="369"/>
                  </a:lnTo>
                  <a:lnTo>
                    <a:pt x="231" y="369"/>
                  </a:lnTo>
                  <a:lnTo>
                    <a:pt x="231" y="369"/>
                  </a:lnTo>
                  <a:lnTo>
                    <a:pt x="233" y="369"/>
                  </a:lnTo>
                  <a:lnTo>
                    <a:pt x="233" y="369"/>
                  </a:lnTo>
                  <a:lnTo>
                    <a:pt x="233" y="371"/>
                  </a:lnTo>
                  <a:lnTo>
                    <a:pt x="237" y="369"/>
                  </a:lnTo>
                  <a:lnTo>
                    <a:pt x="242" y="369"/>
                  </a:lnTo>
                  <a:lnTo>
                    <a:pt x="248" y="369"/>
                  </a:lnTo>
                  <a:lnTo>
                    <a:pt x="248" y="369"/>
                  </a:lnTo>
                  <a:lnTo>
                    <a:pt x="250" y="369"/>
                  </a:lnTo>
                  <a:lnTo>
                    <a:pt x="250" y="369"/>
                  </a:lnTo>
                  <a:lnTo>
                    <a:pt x="252" y="371"/>
                  </a:lnTo>
                  <a:lnTo>
                    <a:pt x="254" y="371"/>
                  </a:lnTo>
                  <a:lnTo>
                    <a:pt x="256" y="371"/>
                  </a:lnTo>
                  <a:lnTo>
                    <a:pt x="256" y="371"/>
                  </a:lnTo>
                  <a:lnTo>
                    <a:pt x="258" y="373"/>
                  </a:lnTo>
                  <a:lnTo>
                    <a:pt x="260" y="371"/>
                  </a:lnTo>
                  <a:lnTo>
                    <a:pt x="265" y="371"/>
                  </a:lnTo>
                  <a:lnTo>
                    <a:pt x="271" y="369"/>
                  </a:lnTo>
                  <a:lnTo>
                    <a:pt x="273" y="369"/>
                  </a:lnTo>
                  <a:lnTo>
                    <a:pt x="275" y="367"/>
                  </a:lnTo>
                  <a:lnTo>
                    <a:pt x="277" y="365"/>
                  </a:lnTo>
                  <a:lnTo>
                    <a:pt x="277" y="363"/>
                  </a:lnTo>
                  <a:lnTo>
                    <a:pt x="279" y="362"/>
                  </a:lnTo>
                  <a:lnTo>
                    <a:pt x="279" y="362"/>
                  </a:lnTo>
                  <a:lnTo>
                    <a:pt x="279" y="360"/>
                  </a:lnTo>
                  <a:lnTo>
                    <a:pt x="280" y="362"/>
                  </a:lnTo>
                  <a:lnTo>
                    <a:pt x="280" y="362"/>
                  </a:lnTo>
                  <a:lnTo>
                    <a:pt x="282" y="360"/>
                  </a:lnTo>
                  <a:lnTo>
                    <a:pt x="284" y="356"/>
                  </a:lnTo>
                  <a:lnTo>
                    <a:pt x="286" y="356"/>
                  </a:lnTo>
                  <a:lnTo>
                    <a:pt x="286" y="356"/>
                  </a:lnTo>
                  <a:lnTo>
                    <a:pt x="284" y="354"/>
                  </a:lnTo>
                  <a:lnTo>
                    <a:pt x="284" y="354"/>
                  </a:lnTo>
                  <a:lnTo>
                    <a:pt x="284" y="354"/>
                  </a:lnTo>
                  <a:lnTo>
                    <a:pt x="284" y="354"/>
                  </a:lnTo>
                  <a:lnTo>
                    <a:pt x="284" y="352"/>
                  </a:lnTo>
                  <a:lnTo>
                    <a:pt x="286" y="352"/>
                  </a:lnTo>
                  <a:lnTo>
                    <a:pt x="286" y="352"/>
                  </a:lnTo>
                  <a:lnTo>
                    <a:pt x="286" y="350"/>
                  </a:lnTo>
                  <a:lnTo>
                    <a:pt x="286" y="350"/>
                  </a:lnTo>
                  <a:lnTo>
                    <a:pt x="286" y="348"/>
                  </a:lnTo>
                  <a:lnTo>
                    <a:pt x="286" y="348"/>
                  </a:lnTo>
                  <a:lnTo>
                    <a:pt x="286" y="348"/>
                  </a:lnTo>
                  <a:lnTo>
                    <a:pt x="288" y="348"/>
                  </a:lnTo>
                  <a:lnTo>
                    <a:pt x="288" y="348"/>
                  </a:lnTo>
                  <a:lnTo>
                    <a:pt x="290" y="348"/>
                  </a:lnTo>
                  <a:lnTo>
                    <a:pt x="290" y="348"/>
                  </a:lnTo>
                  <a:lnTo>
                    <a:pt x="294" y="346"/>
                  </a:lnTo>
                  <a:lnTo>
                    <a:pt x="294" y="344"/>
                  </a:lnTo>
                  <a:lnTo>
                    <a:pt x="301" y="341"/>
                  </a:lnTo>
                  <a:lnTo>
                    <a:pt x="301" y="343"/>
                  </a:lnTo>
                  <a:lnTo>
                    <a:pt x="303" y="343"/>
                  </a:lnTo>
                  <a:lnTo>
                    <a:pt x="303" y="343"/>
                  </a:lnTo>
                  <a:lnTo>
                    <a:pt x="303" y="343"/>
                  </a:lnTo>
                  <a:lnTo>
                    <a:pt x="305" y="341"/>
                  </a:lnTo>
                  <a:lnTo>
                    <a:pt x="305" y="341"/>
                  </a:lnTo>
                  <a:lnTo>
                    <a:pt x="305" y="339"/>
                  </a:lnTo>
                  <a:lnTo>
                    <a:pt x="305" y="339"/>
                  </a:lnTo>
                  <a:lnTo>
                    <a:pt x="305" y="337"/>
                  </a:lnTo>
                  <a:lnTo>
                    <a:pt x="305" y="337"/>
                  </a:lnTo>
                  <a:lnTo>
                    <a:pt x="305" y="337"/>
                  </a:lnTo>
                  <a:lnTo>
                    <a:pt x="305" y="335"/>
                  </a:lnTo>
                  <a:lnTo>
                    <a:pt x="307" y="335"/>
                  </a:lnTo>
                  <a:lnTo>
                    <a:pt x="307" y="335"/>
                  </a:lnTo>
                  <a:lnTo>
                    <a:pt x="311" y="335"/>
                  </a:lnTo>
                  <a:lnTo>
                    <a:pt x="311" y="335"/>
                  </a:lnTo>
                  <a:lnTo>
                    <a:pt x="313" y="337"/>
                  </a:lnTo>
                  <a:lnTo>
                    <a:pt x="313" y="337"/>
                  </a:lnTo>
                  <a:lnTo>
                    <a:pt x="313" y="337"/>
                  </a:lnTo>
                  <a:lnTo>
                    <a:pt x="315" y="341"/>
                  </a:lnTo>
                  <a:lnTo>
                    <a:pt x="315" y="339"/>
                  </a:lnTo>
                  <a:lnTo>
                    <a:pt x="322" y="329"/>
                  </a:lnTo>
                  <a:lnTo>
                    <a:pt x="334" y="320"/>
                  </a:lnTo>
                  <a:lnTo>
                    <a:pt x="341" y="314"/>
                  </a:lnTo>
                  <a:lnTo>
                    <a:pt x="351" y="305"/>
                  </a:lnTo>
                  <a:lnTo>
                    <a:pt x="357" y="301"/>
                  </a:lnTo>
                  <a:lnTo>
                    <a:pt x="361" y="299"/>
                  </a:lnTo>
                  <a:lnTo>
                    <a:pt x="366" y="295"/>
                  </a:lnTo>
                  <a:lnTo>
                    <a:pt x="370" y="293"/>
                  </a:lnTo>
                  <a:lnTo>
                    <a:pt x="378" y="289"/>
                  </a:lnTo>
                  <a:lnTo>
                    <a:pt x="383" y="286"/>
                  </a:lnTo>
                  <a:lnTo>
                    <a:pt x="387" y="284"/>
                  </a:lnTo>
                  <a:lnTo>
                    <a:pt x="364" y="295"/>
                  </a:lnTo>
                  <a:lnTo>
                    <a:pt x="362" y="295"/>
                  </a:lnTo>
                  <a:lnTo>
                    <a:pt x="362" y="295"/>
                  </a:lnTo>
                  <a:lnTo>
                    <a:pt x="362" y="293"/>
                  </a:lnTo>
                  <a:lnTo>
                    <a:pt x="361" y="293"/>
                  </a:lnTo>
                  <a:lnTo>
                    <a:pt x="362" y="293"/>
                  </a:lnTo>
                  <a:lnTo>
                    <a:pt x="362" y="293"/>
                  </a:lnTo>
                  <a:lnTo>
                    <a:pt x="362" y="293"/>
                  </a:lnTo>
                  <a:lnTo>
                    <a:pt x="362" y="291"/>
                  </a:lnTo>
                  <a:lnTo>
                    <a:pt x="364" y="291"/>
                  </a:lnTo>
                  <a:lnTo>
                    <a:pt x="364" y="291"/>
                  </a:lnTo>
                  <a:lnTo>
                    <a:pt x="364" y="293"/>
                  </a:lnTo>
                  <a:lnTo>
                    <a:pt x="366" y="293"/>
                  </a:lnTo>
                  <a:lnTo>
                    <a:pt x="366" y="293"/>
                  </a:lnTo>
                  <a:lnTo>
                    <a:pt x="368" y="291"/>
                  </a:lnTo>
                  <a:lnTo>
                    <a:pt x="370" y="291"/>
                  </a:lnTo>
                  <a:lnTo>
                    <a:pt x="370" y="291"/>
                  </a:lnTo>
                  <a:lnTo>
                    <a:pt x="370" y="289"/>
                  </a:lnTo>
                  <a:lnTo>
                    <a:pt x="370" y="289"/>
                  </a:lnTo>
                  <a:lnTo>
                    <a:pt x="370" y="289"/>
                  </a:lnTo>
                  <a:lnTo>
                    <a:pt x="372" y="289"/>
                  </a:lnTo>
                  <a:lnTo>
                    <a:pt x="372" y="287"/>
                  </a:lnTo>
                  <a:lnTo>
                    <a:pt x="372" y="287"/>
                  </a:lnTo>
                  <a:lnTo>
                    <a:pt x="372" y="286"/>
                  </a:lnTo>
                  <a:lnTo>
                    <a:pt x="372" y="286"/>
                  </a:lnTo>
                  <a:lnTo>
                    <a:pt x="370" y="284"/>
                  </a:lnTo>
                  <a:lnTo>
                    <a:pt x="370" y="286"/>
                  </a:lnTo>
                  <a:lnTo>
                    <a:pt x="368" y="286"/>
                  </a:lnTo>
                  <a:lnTo>
                    <a:pt x="368" y="286"/>
                  </a:lnTo>
                  <a:lnTo>
                    <a:pt x="366" y="286"/>
                  </a:lnTo>
                  <a:lnTo>
                    <a:pt x="362" y="289"/>
                  </a:lnTo>
                  <a:lnTo>
                    <a:pt x="359" y="287"/>
                  </a:lnTo>
                  <a:lnTo>
                    <a:pt x="357" y="287"/>
                  </a:lnTo>
                  <a:lnTo>
                    <a:pt x="357" y="287"/>
                  </a:lnTo>
                  <a:lnTo>
                    <a:pt x="357" y="289"/>
                  </a:lnTo>
                  <a:lnTo>
                    <a:pt x="357" y="289"/>
                  </a:lnTo>
                  <a:lnTo>
                    <a:pt x="357" y="289"/>
                  </a:lnTo>
                  <a:lnTo>
                    <a:pt x="357" y="291"/>
                  </a:lnTo>
                  <a:lnTo>
                    <a:pt x="357" y="291"/>
                  </a:lnTo>
                  <a:lnTo>
                    <a:pt x="357" y="291"/>
                  </a:lnTo>
                  <a:lnTo>
                    <a:pt x="357" y="291"/>
                  </a:lnTo>
                  <a:lnTo>
                    <a:pt x="357" y="293"/>
                  </a:lnTo>
                  <a:lnTo>
                    <a:pt x="355" y="293"/>
                  </a:lnTo>
                  <a:lnTo>
                    <a:pt x="355" y="295"/>
                  </a:lnTo>
                  <a:lnTo>
                    <a:pt x="353" y="295"/>
                  </a:lnTo>
                  <a:lnTo>
                    <a:pt x="353" y="295"/>
                  </a:lnTo>
                  <a:lnTo>
                    <a:pt x="353" y="295"/>
                  </a:lnTo>
                  <a:lnTo>
                    <a:pt x="357" y="297"/>
                  </a:lnTo>
                  <a:lnTo>
                    <a:pt x="355" y="297"/>
                  </a:lnTo>
                  <a:lnTo>
                    <a:pt x="355" y="297"/>
                  </a:lnTo>
                  <a:lnTo>
                    <a:pt x="353" y="297"/>
                  </a:lnTo>
                  <a:lnTo>
                    <a:pt x="353" y="297"/>
                  </a:lnTo>
                  <a:lnTo>
                    <a:pt x="353" y="299"/>
                  </a:lnTo>
                  <a:lnTo>
                    <a:pt x="353" y="301"/>
                  </a:lnTo>
                  <a:lnTo>
                    <a:pt x="353" y="301"/>
                  </a:lnTo>
                  <a:lnTo>
                    <a:pt x="351" y="303"/>
                  </a:lnTo>
                  <a:lnTo>
                    <a:pt x="351" y="303"/>
                  </a:lnTo>
                  <a:lnTo>
                    <a:pt x="351" y="303"/>
                  </a:lnTo>
                  <a:lnTo>
                    <a:pt x="349" y="303"/>
                  </a:lnTo>
                  <a:lnTo>
                    <a:pt x="349" y="303"/>
                  </a:lnTo>
                  <a:lnTo>
                    <a:pt x="347" y="303"/>
                  </a:lnTo>
                  <a:lnTo>
                    <a:pt x="347" y="305"/>
                  </a:lnTo>
                  <a:lnTo>
                    <a:pt x="347" y="305"/>
                  </a:lnTo>
                  <a:lnTo>
                    <a:pt x="345" y="305"/>
                  </a:lnTo>
                  <a:lnTo>
                    <a:pt x="347" y="305"/>
                  </a:lnTo>
                  <a:lnTo>
                    <a:pt x="347" y="303"/>
                  </a:lnTo>
                  <a:lnTo>
                    <a:pt x="347" y="301"/>
                  </a:lnTo>
                  <a:lnTo>
                    <a:pt x="345" y="301"/>
                  </a:lnTo>
                  <a:lnTo>
                    <a:pt x="345" y="303"/>
                  </a:lnTo>
                  <a:lnTo>
                    <a:pt x="345" y="303"/>
                  </a:lnTo>
                  <a:lnTo>
                    <a:pt x="343" y="301"/>
                  </a:lnTo>
                  <a:lnTo>
                    <a:pt x="343" y="299"/>
                  </a:lnTo>
                  <a:lnTo>
                    <a:pt x="345" y="299"/>
                  </a:lnTo>
                  <a:lnTo>
                    <a:pt x="345" y="297"/>
                  </a:lnTo>
                  <a:lnTo>
                    <a:pt x="347" y="297"/>
                  </a:lnTo>
                  <a:lnTo>
                    <a:pt x="349" y="297"/>
                  </a:lnTo>
                  <a:lnTo>
                    <a:pt x="349" y="295"/>
                  </a:lnTo>
                  <a:lnTo>
                    <a:pt x="347" y="295"/>
                  </a:lnTo>
                  <a:lnTo>
                    <a:pt x="347" y="293"/>
                  </a:lnTo>
                  <a:lnTo>
                    <a:pt x="349" y="291"/>
                  </a:lnTo>
                  <a:lnTo>
                    <a:pt x="349" y="289"/>
                  </a:lnTo>
                  <a:lnTo>
                    <a:pt x="351" y="289"/>
                  </a:lnTo>
                  <a:lnTo>
                    <a:pt x="353" y="286"/>
                  </a:lnTo>
                  <a:lnTo>
                    <a:pt x="353" y="284"/>
                  </a:lnTo>
                  <a:lnTo>
                    <a:pt x="353" y="282"/>
                  </a:lnTo>
                  <a:lnTo>
                    <a:pt x="355" y="280"/>
                  </a:lnTo>
                  <a:lnTo>
                    <a:pt x="357" y="276"/>
                  </a:lnTo>
                  <a:lnTo>
                    <a:pt x="359" y="276"/>
                  </a:lnTo>
                  <a:lnTo>
                    <a:pt x="361" y="274"/>
                  </a:lnTo>
                  <a:lnTo>
                    <a:pt x="361" y="274"/>
                  </a:lnTo>
                  <a:lnTo>
                    <a:pt x="362" y="274"/>
                  </a:lnTo>
                  <a:lnTo>
                    <a:pt x="364" y="274"/>
                  </a:lnTo>
                  <a:lnTo>
                    <a:pt x="368" y="270"/>
                  </a:lnTo>
                  <a:lnTo>
                    <a:pt x="372" y="265"/>
                  </a:lnTo>
                  <a:lnTo>
                    <a:pt x="376" y="265"/>
                  </a:lnTo>
                  <a:lnTo>
                    <a:pt x="378" y="263"/>
                  </a:lnTo>
                  <a:lnTo>
                    <a:pt x="378" y="263"/>
                  </a:lnTo>
                  <a:lnTo>
                    <a:pt x="381" y="265"/>
                  </a:lnTo>
                  <a:lnTo>
                    <a:pt x="385" y="265"/>
                  </a:lnTo>
                  <a:lnTo>
                    <a:pt x="387" y="266"/>
                  </a:lnTo>
                  <a:lnTo>
                    <a:pt x="387" y="274"/>
                  </a:lnTo>
                  <a:lnTo>
                    <a:pt x="387" y="276"/>
                  </a:lnTo>
                  <a:lnTo>
                    <a:pt x="387" y="276"/>
                  </a:lnTo>
                  <a:lnTo>
                    <a:pt x="387" y="278"/>
                  </a:lnTo>
                  <a:lnTo>
                    <a:pt x="387" y="278"/>
                  </a:lnTo>
                  <a:lnTo>
                    <a:pt x="387" y="278"/>
                  </a:lnTo>
                  <a:lnTo>
                    <a:pt x="385" y="280"/>
                  </a:lnTo>
                  <a:lnTo>
                    <a:pt x="381" y="282"/>
                  </a:lnTo>
                  <a:lnTo>
                    <a:pt x="381" y="282"/>
                  </a:lnTo>
                  <a:lnTo>
                    <a:pt x="383" y="280"/>
                  </a:lnTo>
                  <a:lnTo>
                    <a:pt x="383" y="280"/>
                  </a:lnTo>
                  <a:lnTo>
                    <a:pt x="383" y="280"/>
                  </a:lnTo>
                  <a:lnTo>
                    <a:pt x="378" y="280"/>
                  </a:lnTo>
                  <a:lnTo>
                    <a:pt x="376" y="282"/>
                  </a:lnTo>
                  <a:lnTo>
                    <a:pt x="376" y="282"/>
                  </a:lnTo>
                  <a:lnTo>
                    <a:pt x="374" y="282"/>
                  </a:lnTo>
                  <a:lnTo>
                    <a:pt x="374" y="282"/>
                  </a:lnTo>
                  <a:lnTo>
                    <a:pt x="374" y="282"/>
                  </a:lnTo>
                  <a:lnTo>
                    <a:pt x="374" y="284"/>
                  </a:lnTo>
                  <a:lnTo>
                    <a:pt x="374" y="284"/>
                  </a:lnTo>
                  <a:lnTo>
                    <a:pt x="374" y="284"/>
                  </a:lnTo>
                  <a:lnTo>
                    <a:pt x="376" y="284"/>
                  </a:lnTo>
                  <a:lnTo>
                    <a:pt x="376" y="284"/>
                  </a:lnTo>
                  <a:lnTo>
                    <a:pt x="376" y="286"/>
                  </a:lnTo>
                  <a:lnTo>
                    <a:pt x="376" y="286"/>
                  </a:lnTo>
                  <a:lnTo>
                    <a:pt x="376" y="287"/>
                  </a:lnTo>
                  <a:lnTo>
                    <a:pt x="380" y="286"/>
                  </a:lnTo>
                  <a:lnTo>
                    <a:pt x="385" y="284"/>
                  </a:lnTo>
                  <a:lnTo>
                    <a:pt x="391" y="280"/>
                  </a:lnTo>
                  <a:lnTo>
                    <a:pt x="393" y="280"/>
                  </a:lnTo>
                  <a:lnTo>
                    <a:pt x="393" y="280"/>
                  </a:lnTo>
                  <a:lnTo>
                    <a:pt x="393" y="280"/>
                  </a:lnTo>
                  <a:lnTo>
                    <a:pt x="393" y="282"/>
                  </a:lnTo>
                  <a:lnTo>
                    <a:pt x="397" y="278"/>
                  </a:lnTo>
                  <a:lnTo>
                    <a:pt x="401" y="278"/>
                  </a:lnTo>
                  <a:lnTo>
                    <a:pt x="402" y="276"/>
                  </a:lnTo>
                  <a:lnTo>
                    <a:pt x="402" y="276"/>
                  </a:lnTo>
                  <a:lnTo>
                    <a:pt x="406" y="276"/>
                  </a:lnTo>
                  <a:lnTo>
                    <a:pt x="408" y="276"/>
                  </a:lnTo>
                  <a:lnTo>
                    <a:pt x="408" y="276"/>
                  </a:lnTo>
                  <a:lnTo>
                    <a:pt x="412" y="274"/>
                  </a:lnTo>
                  <a:lnTo>
                    <a:pt x="416" y="272"/>
                  </a:lnTo>
                  <a:lnTo>
                    <a:pt x="427" y="268"/>
                  </a:lnTo>
                  <a:lnTo>
                    <a:pt x="429" y="268"/>
                  </a:lnTo>
                  <a:lnTo>
                    <a:pt x="431" y="268"/>
                  </a:lnTo>
                  <a:lnTo>
                    <a:pt x="431" y="268"/>
                  </a:lnTo>
                  <a:lnTo>
                    <a:pt x="433" y="268"/>
                  </a:lnTo>
                  <a:lnTo>
                    <a:pt x="433" y="268"/>
                  </a:lnTo>
                  <a:lnTo>
                    <a:pt x="435" y="268"/>
                  </a:lnTo>
                  <a:lnTo>
                    <a:pt x="435" y="268"/>
                  </a:lnTo>
                  <a:lnTo>
                    <a:pt x="437" y="268"/>
                  </a:lnTo>
                  <a:lnTo>
                    <a:pt x="452" y="263"/>
                  </a:lnTo>
                  <a:lnTo>
                    <a:pt x="462" y="257"/>
                  </a:lnTo>
                  <a:lnTo>
                    <a:pt x="460" y="257"/>
                  </a:lnTo>
                  <a:lnTo>
                    <a:pt x="458" y="255"/>
                  </a:lnTo>
                  <a:lnTo>
                    <a:pt x="458" y="255"/>
                  </a:lnTo>
                  <a:lnTo>
                    <a:pt x="456" y="255"/>
                  </a:lnTo>
                  <a:lnTo>
                    <a:pt x="456" y="255"/>
                  </a:lnTo>
                  <a:lnTo>
                    <a:pt x="454" y="253"/>
                  </a:lnTo>
                  <a:lnTo>
                    <a:pt x="454" y="253"/>
                  </a:lnTo>
                  <a:lnTo>
                    <a:pt x="454" y="253"/>
                  </a:lnTo>
                  <a:lnTo>
                    <a:pt x="454" y="251"/>
                  </a:lnTo>
                  <a:lnTo>
                    <a:pt x="454" y="251"/>
                  </a:lnTo>
                  <a:lnTo>
                    <a:pt x="454" y="251"/>
                  </a:lnTo>
                  <a:lnTo>
                    <a:pt x="454" y="251"/>
                  </a:lnTo>
                  <a:lnTo>
                    <a:pt x="452" y="251"/>
                  </a:lnTo>
                  <a:lnTo>
                    <a:pt x="452" y="251"/>
                  </a:lnTo>
                  <a:lnTo>
                    <a:pt x="448" y="249"/>
                  </a:lnTo>
                  <a:lnTo>
                    <a:pt x="446" y="249"/>
                  </a:lnTo>
                  <a:lnTo>
                    <a:pt x="444" y="247"/>
                  </a:lnTo>
                  <a:lnTo>
                    <a:pt x="442" y="246"/>
                  </a:lnTo>
                  <a:lnTo>
                    <a:pt x="441" y="246"/>
                  </a:lnTo>
                  <a:lnTo>
                    <a:pt x="441" y="246"/>
                  </a:lnTo>
                  <a:lnTo>
                    <a:pt x="441" y="242"/>
                  </a:lnTo>
                  <a:lnTo>
                    <a:pt x="441" y="240"/>
                  </a:lnTo>
                  <a:lnTo>
                    <a:pt x="441" y="240"/>
                  </a:lnTo>
                  <a:lnTo>
                    <a:pt x="442" y="240"/>
                  </a:lnTo>
                  <a:lnTo>
                    <a:pt x="442" y="242"/>
                  </a:lnTo>
                  <a:lnTo>
                    <a:pt x="442" y="244"/>
                  </a:lnTo>
                  <a:lnTo>
                    <a:pt x="444" y="246"/>
                  </a:lnTo>
                  <a:lnTo>
                    <a:pt x="444" y="246"/>
                  </a:lnTo>
                  <a:lnTo>
                    <a:pt x="446" y="247"/>
                  </a:lnTo>
                  <a:lnTo>
                    <a:pt x="448" y="247"/>
                  </a:lnTo>
                  <a:lnTo>
                    <a:pt x="452" y="247"/>
                  </a:lnTo>
                  <a:lnTo>
                    <a:pt x="460" y="253"/>
                  </a:lnTo>
                  <a:lnTo>
                    <a:pt x="463" y="255"/>
                  </a:lnTo>
                  <a:lnTo>
                    <a:pt x="465" y="253"/>
                  </a:lnTo>
                  <a:lnTo>
                    <a:pt x="465" y="253"/>
                  </a:lnTo>
                  <a:lnTo>
                    <a:pt x="463" y="253"/>
                  </a:lnTo>
                  <a:lnTo>
                    <a:pt x="463" y="253"/>
                  </a:lnTo>
                  <a:lnTo>
                    <a:pt x="463" y="251"/>
                  </a:lnTo>
                  <a:lnTo>
                    <a:pt x="465" y="249"/>
                  </a:lnTo>
                  <a:lnTo>
                    <a:pt x="469" y="244"/>
                  </a:lnTo>
                  <a:lnTo>
                    <a:pt x="469" y="244"/>
                  </a:lnTo>
                  <a:lnTo>
                    <a:pt x="471" y="242"/>
                  </a:lnTo>
                  <a:lnTo>
                    <a:pt x="473" y="236"/>
                  </a:lnTo>
                  <a:lnTo>
                    <a:pt x="473" y="236"/>
                  </a:lnTo>
                  <a:lnTo>
                    <a:pt x="475" y="234"/>
                  </a:lnTo>
                  <a:lnTo>
                    <a:pt x="477" y="234"/>
                  </a:lnTo>
                  <a:lnTo>
                    <a:pt x="481" y="232"/>
                  </a:lnTo>
                  <a:lnTo>
                    <a:pt x="484" y="230"/>
                  </a:lnTo>
                  <a:lnTo>
                    <a:pt x="494" y="225"/>
                  </a:lnTo>
                  <a:lnTo>
                    <a:pt x="496" y="223"/>
                  </a:lnTo>
                  <a:lnTo>
                    <a:pt x="494" y="225"/>
                  </a:lnTo>
                  <a:lnTo>
                    <a:pt x="492" y="225"/>
                  </a:lnTo>
                  <a:lnTo>
                    <a:pt x="490" y="225"/>
                  </a:lnTo>
                  <a:lnTo>
                    <a:pt x="492" y="223"/>
                  </a:lnTo>
                  <a:lnTo>
                    <a:pt x="494" y="223"/>
                  </a:lnTo>
                  <a:lnTo>
                    <a:pt x="496" y="221"/>
                  </a:lnTo>
                  <a:lnTo>
                    <a:pt x="496" y="221"/>
                  </a:lnTo>
                  <a:lnTo>
                    <a:pt x="498" y="219"/>
                  </a:lnTo>
                  <a:lnTo>
                    <a:pt x="500" y="217"/>
                  </a:lnTo>
                  <a:lnTo>
                    <a:pt x="502" y="213"/>
                  </a:lnTo>
                  <a:lnTo>
                    <a:pt x="500" y="211"/>
                  </a:lnTo>
                  <a:lnTo>
                    <a:pt x="500" y="213"/>
                  </a:lnTo>
                  <a:lnTo>
                    <a:pt x="500" y="213"/>
                  </a:lnTo>
                  <a:lnTo>
                    <a:pt x="500" y="215"/>
                  </a:lnTo>
                  <a:lnTo>
                    <a:pt x="498" y="213"/>
                  </a:lnTo>
                  <a:lnTo>
                    <a:pt x="496" y="215"/>
                  </a:lnTo>
                  <a:lnTo>
                    <a:pt x="496" y="217"/>
                  </a:lnTo>
                  <a:lnTo>
                    <a:pt x="494" y="217"/>
                  </a:lnTo>
                  <a:lnTo>
                    <a:pt x="494" y="211"/>
                  </a:lnTo>
                  <a:lnTo>
                    <a:pt x="494" y="208"/>
                  </a:lnTo>
                  <a:lnTo>
                    <a:pt x="496" y="206"/>
                  </a:lnTo>
                  <a:lnTo>
                    <a:pt x="498" y="204"/>
                  </a:lnTo>
                  <a:lnTo>
                    <a:pt x="511" y="192"/>
                  </a:lnTo>
                  <a:lnTo>
                    <a:pt x="517" y="190"/>
                  </a:lnTo>
                  <a:lnTo>
                    <a:pt x="519" y="189"/>
                  </a:lnTo>
                  <a:lnTo>
                    <a:pt x="522" y="187"/>
                  </a:lnTo>
                  <a:lnTo>
                    <a:pt x="522" y="185"/>
                  </a:lnTo>
                  <a:lnTo>
                    <a:pt x="522" y="187"/>
                  </a:lnTo>
                  <a:lnTo>
                    <a:pt x="521" y="187"/>
                  </a:lnTo>
                  <a:lnTo>
                    <a:pt x="519" y="189"/>
                  </a:lnTo>
                  <a:lnTo>
                    <a:pt x="519" y="187"/>
                  </a:lnTo>
                  <a:lnTo>
                    <a:pt x="519" y="187"/>
                  </a:lnTo>
                  <a:lnTo>
                    <a:pt x="517" y="187"/>
                  </a:lnTo>
                  <a:lnTo>
                    <a:pt x="517" y="187"/>
                  </a:lnTo>
                  <a:lnTo>
                    <a:pt x="517" y="185"/>
                  </a:lnTo>
                  <a:lnTo>
                    <a:pt x="515" y="185"/>
                  </a:lnTo>
                  <a:lnTo>
                    <a:pt x="515" y="185"/>
                  </a:lnTo>
                  <a:lnTo>
                    <a:pt x="513" y="185"/>
                  </a:lnTo>
                  <a:lnTo>
                    <a:pt x="515" y="185"/>
                  </a:lnTo>
                  <a:lnTo>
                    <a:pt x="515" y="183"/>
                  </a:lnTo>
                  <a:lnTo>
                    <a:pt x="517" y="183"/>
                  </a:lnTo>
                  <a:lnTo>
                    <a:pt x="519" y="185"/>
                  </a:lnTo>
                  <a:lnTo>
                    <a:pt x="519" y="183"/>
                  </a:lnTo>
                  <a:lnTo>
                    <a:pt x="519" y="183"/>
                  </a:lnTo>
                  <a:lnTo>
                    <a:pt x="519" y="183"/>
                  </a:lnTo>
                  <a:lnTo>
                    <a:pt x="519" y="181"/>
                  </a:lnTo>
                  <a:lnTo>
                    <a:pt x="519" y="179"/>
                  </a:lnTo>
                  <a:lnTo>
                    <a:pt x="517" y="179"/>
                  </a:lnTo>
                  <a:lnTo>
                    <a:pt x="515" y="179"/>
                  </a:lnTo>
                  <a:lnTo>
                    <a:pt x="511" y="179"/>
                  </a:lnTo>
                  <a:lnTo>
                    <a:pt x="509" y="179"/>
                  </a:lnTo>
                  <a:lnTo>
                    <a:pt x="507" y="177"/>
                  </a:lnTo>
                  <a:lnTo>
                    <a:pt x="511" y="175"/>
                  </a:lnTo>
                  <a:lnTo>
                    <a:pt x="513" y="175"/>
                  </a:lnTo>
                  <a:lnTo>
                    <a:pt x="515" y="177"/>
                  </a:lnTo>
                  <a:lnTo>
                    <a:pt x="517" y="175"/>
                  </a:lnTo>
                  <a:lnTo>
                    <a:pt x="515" y="170"/>
                  </a:lnTo>
                  <a:lnTo>
                    <a:pt x="505" y="147"/>
                  </a:lnTo>
                  <a:lnTo>
                    <a:pt x="503" y="137"/>
                  </a:lnTo>
                  <a:lnTo>
                    <a:pt x="507" y="130"/>
                  </a:lnTo>
                  <a:lnTo>
                    <a:pt x="511" y="122"/>
                  </a:lnTo>
                  <a:lnTo>
                    <a:pt x="524" y="109"/>
                  </a:lnTo>
                  <a:lnTo>
                    <a:pt x="530" y="105"/>
                  </a:lnTo>
                  <a:lnTo>
                    <a:pt x="538" y="101"/>
                  </a:lnTo>
                  <a:lnTo>
                    <a:pt x="538" y="101"/>
                  </a:lnTo>
                  <a:lnTo>
                    <a:pt x="542" y="101"/>
                  </a:lnTo>
                  <a:lnTo>
                    <a:pt x="542" y="101"/>
                  </a:lnTo>
                  <a:lnTo>
                    <a:pt x="543" y="99"/>
                  </a:lnTo>
                  <a:lnTo>
                    <a:pt x="545" y="101"/>
                  </a:lnTo>
                  <a:lnTo>
                    <a:pt x="551" y="99"/>
                  </a:lnTo>
                  <a:lnTo>
                    <a:pt x="557" y="97"/>
                  </a:lnTo>
                  <a:lnTo>
                    <a:pt x="563" y="95"/>
                  </a:lnTo>
                  <a:lnTo>
                    <a:pt x="563" y="95"/>
                  </a:lnTo>
                  <a:lnTo>
                    <a:pt x="563" y="93"/>
                  </a:lnTo>
                  <a:close/>
                </a:path>
              </a:pathLst>
            </a:custGeom>
            <a:solidFill>
              <a:srgbClr val="DCDDDF"/>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78" name="Freeform 27">
              <a:extLst>
                <a:ext uri="{FF2B5EF4-FFF2-40B4-BE49-F238E27FC236}">
                  <a16:creationId xmlns:a16="http://schemas.microsoft.com/office/drawing/2014/main" id="{804F215D-27EA-0F13-70CC-8118C62D74B7}"/>
                </a:ext>
              </a:extLst>
            </p:cNvPr>
            <p:cNvSpPr>
              <a:spLocks/>
            </p:cNvSpPr>
            <p:nvPr/>
          </p:nvSpPr>
          <p:spPr bwMode="auto">
            <a:xfrm>
              <a:off x="3313363" y="3773436"/>
              <a:ext cx="1062119" cy="791635"/>
            </a:xfrm>
            <a:custGeom>
              <a:avLst/>
              <a:gdLst>
                <a:gd name="T0" fmla="*/ 528 w 563"/>
                <a:gd name="T1" fmla="*/ 59 h 468"/>
                <a:gd name="T2" fmla="*/ 509 w 563"/>
                <a:gd name="T3" fmla="*/ 44 h 468"/>
                <a:gd name="T4" fmla="*/ 460 w 563"/>
                <a:gd name="T5" fmla="*/ 21 h 468"/>
                <a:gd name="T6" fmla="*/ 421 w 563"/>
                <a:gd name="T7" fmla="*/ 6 h 468"/>
                <a:gd name="T8" fmla="*/ 423 w 563"/>
                <a:gd name="T9" fmla="*/ 48 h 468"/>
                <a:gd name="T10" fmla="*/ 401 w 563"/>
                <a:gd name="T11" fmla="*/ 48 h 468"/>
                <a:gd name="T12" fmla="*/ 343 w 563"/>
                <a:gd name="T13" fmla="*/ 44 h 468"/>
                <a:gd name="T14" fmla="*/ 334 w 563"/>
                <a:gd name="T15" fmla="*/ 12 h 468"/>
                <a:gd name="T16" fmla="*/ 288 w 563"/>
                <a:gd name="T17" fmla="*/ 19 h 468"/>
                <a:gd name="T18" fmla="*/ 240 w 563"/>
                <a:gd name="T19" fmla="*/ 8 h 468"/>
                <a:gd name="T20" fmla="*/ 200 w 563"/>
                <a:gd name="T21" fmla="*/ 46 h 468"/>
                <a:gd name="T22" fmla="*/ 202 w 563"/>
                <a:gd name="T23" fmla="*/ 67 h 468"/>
                <a:gd name="T24" fmla="*/ 181 w 563"/>
                <a:gd name="T25" fmla="*/ 97 h 468"/>
                <a:gd name="T26" fmla="*/ 176 w 563"/>
                <a:gd name="T27" fmla="*/ 120 h 468"/>
                <a:gd name="T28" fmla="*/ 153 w 563"/>
                <a:gd name="T29" fmla="*/ 141 h 468"/>
                <a:gd name="T30" fmla="*/ 117 w 563"/>
                <a:gd name="T31" fmla="*/ 141 h 468"/>
                <a:gd name="T32" fmla="*/ 96 w 563"/>
                <a:gd name="T33" fmla="*/ 171 h 468"/>
                <a:gd name="T34" fmla="*/ 90 w 563"/>
                <a:gd name="T35" fmla="*/ 192 h 468"/>
                <a:gd name="T36" fmla="*/ 96 w 563"/>
                <a:gd name="T37" fmla="*/ 211 h 468"/>
                <a:gd name="T38" fmla="*/ 111 w 563"/>
                <a:gd name="T39" fmla="*/ 251 h 468"/>
                <a:gd name="T40" fmla="*/ 120 w 563"/>
                <a:gd name="T41" fmla="*/ 265 h 468"/>
                <a:gd name="T42" fmla="*/ 111 w 563"/>
                <a:gd name="T43" fmla="*/ 270 h 468"/>
                <a:gd name="T44" fmla="*/ 77 w 563"/>
                <a:gd name="T45" fmla="*/ 255 h 468"/>
                <a:gd name="T46" fmla="*/ 61 w 563"/>
                <a:gd name="T47" fmla="*/ 251 h 468"/>
                <a:gd name="T48" fmla="*/ 40 w 563"/>
                <a:gd name="T49" fmla="*/ 263 h 468"/>
                <a:gd name="T50" fmla="*/ 61 w 563"/>
                <a:gd name="T51" fmla="*/ 301 h 468"/>
                <a:gd name="T52" fmla="*/ 73 w 563"/>
                <a:gd name="T53" fmla="*/ 320 h 468"/>
                <a:gd name="T54" fmla="*/ 78 w 563"/>
                <a:gd name="T55" fmla="*/ 352 h 468"/>
                <a:gd name="T56" fmla="*/ 67 w 563"/>
                <a:gd name="T57" fmla="*/ 373 h 468"/>
                <a:gd name="T58" fmla="*/ 50 w 563"/>
                <a:gd name="T59" fmla="*/ 388 h 468"/>
                <a:gd name="T60" fmla="*/ 25 w 563"/>
                <a:gd name="T61" fmla="*/ 419 h 468"/>
                <a:gd name="T62" fmla="*/ 12 w 563"/>
                <a:gd name="T63" fmla="*/ 441 h 468"/>
                <a:gd name="T64" fmla="*/ 4 w 563"/>
                <a:gd name="T65" fmla="*/ 460 h 468"/>
                <a:gd name="T66" fmla="*/ 19 w 563"/>
                <a:gd name="T67" fmla="*/ 468 h 468"/>
                <a:gd name="T68" fmla="*/ 77 w 563"/>
                <a:gd name="T69" fmla="*/ 449 h 468"/>
                <a:gd name="T70" fmla="*/ 90 w 563"/>
                <a:gd name="T71" fmla="*/ 434 h 468"/>
                <a:gd name="T72" fmla="*/ 99 w 563"/>
                <a:gd name="T73" fmla="*/ 398 h 468"/>
                <a:gd name="T74" fmla="*/ 113 w 563"/>
                <a:gd name="T75" fmla="*/ 417 h 468"/>
                <a:gd name="T76" fmla="*/ 130 w 563"/>
                <a:gd name="T77" fmla="*/ 413 h 468"/>
                <a:gd name="T78" fmla="*/ 149 w 563"/>
                <a:gd name="T79" fmla="*/ 411 h 468"/>
                <a:gd name="T80" fmla="*/ 151 w 563"/>
                <a:gd name="T81" fmla="*/ 390 h 468"/>
                <a:gd name="T82" fmla="*/ 181 w 563"/>
                <a:gd name="T83" fmla="*/ 367 h 468"/>
                <a:gd name="T84" fmla="*/ 178 w 563"/>
                <a:gd name="T85" fmla="*/ 354 h 468"/>
                <a:gd name="T86" fmla="*/ 193 w 563"/>
                <a:gd name="T87" fmla="*/ 350 h 468"/>
                <a:gd name="T88" fmla="*/ 204 w 563"/>
                <a:gd name="T89" fmla="*/ 339 h 468"/>
                <a:gd name="T90" fmla="*/ 220 w 563"/>
                <a:gd name="T91" fmla="*/ 350 h 468"/>
                <a:gd name="T92" fmla="*/ 248 w 563"/>
                <a:gd name="T93" fmla="*/ 369 h 468"/>
                <a:gd name="T94" fmla="*/ 286 w 563"/>
                <a:gd name="T95" fmla="*/ 356 h 468"/>
                <a:gd name="T96" fmla="*/ 303 w 563"/>
                <a:gd name="T97" fmla="*/ 343 h 468"/>
                <a:gd name="T98" fmla="*/ 357 w 563"/>
                <a:gd name="T99" fmla="*/ 301 h 468"/>
                <a:gd name="T100" fmla="*/ 370 w 563"/>
                <a:gd name="T101" fmla="*/ 291 h 468"/>
                <a:gd name="T102" fmla="*/ 357 w 563"/>
                <a:gd name="T103" fmla="*/ 291 h 468"/>
                <a:gd name="T104" fmla="*/ 347 w 563"/>
                <a:gd name="T105" fmla="*/ 305 h 468"/>
                <a:gd name="T106" fmla="*/ 355 w 563"/>
                <a:gd name="T107" fmla="*/ 280 h 468"/>
                <a:gd name="T108" fmla="*/ 381 w 563"/>
                <a:gd name="T109" fmla="*/ 282 h 468"/>
                <a:gd name="T110" fmla="*/ 393 w 563"/>
                <a:gd name="T111" fmla="*/ 280 h 468"/>
                <a:gd name="T112" fmla="*/ 458 w 563"/>
                <a:gd name="T113" fmla="*/ 255 h 468"/>
                <a:gd name="T114" fmla="*/ 442 w 563"/>
                <a:gd name="T115" fmla="*/ 242 h 468"/>
                <a:gd name="T116" fmla="*/ 484 w 563"/>
                <a:gd name="T117" fmla="*/ 230 h 468"/>
                <a:gd name="T118" fmla="*/ 496 w 563"/>
                <a:gd name="T119" fmla="*/ 206 h 468"/>
                <a:gd name="T120" fmla="*/ 519 w 563"/>
                <a:gd name="T121" fmla="*/ 183 h 468"/>
                <a:gd name="T122" fmla="*/ 542 w 563"/>
                <a:gd name="T123" fmla="*/ 10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3" h="468">
                  <a:moveTo>
                    <a:pt x="563" y="93"/>
                  </a:moveTo>
                  <a:lnTo>
                    <a:pt x="559" y="88"/>
                  </a:lnTo>
                  <a:lnTo>
                    <a:pt x="559" y="88"/>
                  </a:lnTo>
                  <a:lnTo>
                    <a:pt x="559" y="86"/>
                  </a:lnTo>
                  <a:lnTo>
                    <a:pt x="559" y="84"/>
                  </a:lnTo>
                  <a:lnTo>
                    <a:pt x="559" y="82"/>
                  </a:lnTo>
                  <a:lnTo>
                    <a:pt x="559" y="80"/>
                  </a:lnTo>
                  <a:lnTo>
                    <a:pt x="559" y="78"/>
                  </a:lnTo>
                  <a:lnTo>
                    <a:pt x="557" y="78"/>
                  </a:lnTo>
                  <a:lnTo>
                    <a:pt x="545" y="74"/>
                  </a:lnTo>
                  <a:lnTo>
                    <a:pt x="542" y="74"/>
                  </a:lnTo>
                  <a:lnTo>
                    <a:pt x="542" y="73"/>
                  </a:lnTo>
                  <a:lnTo>
                    <a:pt x="540" y="71"/>
                  </a:lnTo>
                  <a:lnTo>
                    <a:pt x="540" y="69"/>
                  </a:lnTo>
                  <a:lnTo>
                    <a:pt x="540" y="67"/>
                  </a:lnTo>
                  <a:lnTo>
                    <a:pt x="540" y="63"/>
                  </a:lnTo>
                  <a:lnTo>
                    <a:pt x="538" y="61"/>
                  </a:lnTo>
                  <a:lnTo>
                    <a:pt x="536" y="61"/>
                  </a:lnTo>
                  <a:lnTo>
                    <a:pt x="534" y="59"/>
                  </a:lnTo>
                  <a:lnTo>
                    <a:pt x="532" y="59"/>
                  </a:lnTo>
                  <a:lnTo>
                    <a:pt x="530" y="59"/>
                  </a:lnTo>
                  <a:lnTo>
                    <a:pt x="530" y="59"/>
                  </a:lnTo>
                  <a:lnTo>
                    <a:pt x="528" y="59"/>
                  </a:lnTo>
                  <a:lnTo>
                    <a:pt x="528" y="61"/>
                  </a:lnTo>
                  <a:lnTo>
                    <a:pt x="528" y="61"/>
                  </a:lnTo>
                  <a:lnTo>
                    <a:pt x="526" y="63"/>
                  </a:lnTo>
                  <a:lnTo>
                    <a:pt x="526" y="63"/>
                  </a:lnTo>
                  <a:lnTo>
                    <a:pt x="526" y="63"/>
                  </a:lnTo>
                  <a:lnTo>
                    <a:pt x="524" y="65"/>
                  </a:lnTo>
                  <a:lnTo>
                    <a:pt x="524" y="65"/>
                  </a:lnTo>
                  <a:lnTo>
                    <a:pt x="524" y="65"/>
                  </a:lnTo>
                  <a:lnTo>
                    <a:pt x="522" y="65"/>
                  </a:lnTo>
                  <a:lnTo>
                    <a:pt x="519" y="63"/>
                  </a:lnTo>
                  <a:lnTo>
                    <a:pt x="519" y="61"/>
                  </a:lnTo>
                  <a:lnTo>
                    <a:pt x="519" y="59"/>
                  </a:lnTo>
                  <a:lnTo>
                    <a:pt x="519" y="55"/>
                  </a:lnTo>
                  <a:lnTo>
                    <a:pt x="519" y="55"/>
                  </a:lnTo>
                  <a:lnTo>
                    <a:pt x="519" y="55"/>
                  </a:lnTo>
                  <a:lnTo>
                    <a:pt x="519" y="53"/>
                  </a:lnTo>
                  <a:lnTo>
                    <a:pt x="519" y="52"/>
                  </a:lnTo>
                  <a:lnTo>
                    <a:pt x="519" y="52"/>
                  </a:lnTo>
                  <a:lnTo>
                    <a:pt x="519" y="50"/>
                  </a:lnTo>
                  <a:lnTo>
                    <a:pt x="519" y="50"/>
                  </a:lnTo>
                  <a:lnTo>
                    <a:pt x="517" y="48"/>
                  </a:lnTo>
                  <a:lnTo>
                    <a:pt x="513" y="46"/>
                  </a:lnTo>
                  <a:lnTo>
                    <a:pt x="509" y="44"/>
                  </a:lnTo>
                  <a:lnTo>
                    <a:pt x="507" y="44"/>
                  </a:lnTo>
                  <a:lnTo>
                    <a:pt x="507" y="44"/>
                  </a:lnTo>
                  <a:lnTo>
                    <a:pt x="505" y="44"/>
                  </a:lnTo>
                  <a:lnTo>
                    <a:pt x="503" y="44"/>
                  </a:lnTo>
                  <a:lnTo>
                    <a:pt x="500" y="40"/>
                  </a:lnTo>
                  <a:lnTo>
                    <a:pt x="498" y="40"/>
                  </a:lnTo>
                  <a:lnTo>
                    <a:pt x="496" y="38"/>
                  </a:lnTo>
                  <a:lnTo>
                    <a:pt x="494" y="38"/>
                  </a:lnTo>
                  <a:lnTo>
                    <a:pt x="492" y="38"/>
                  </a:lnTo>
                  <a:lnTo>
                    <a:pt x="492" y="38"/>
                  </a:lnTo>
                  <a:lnTo>
                    <a:pt x="490" y="34"/>
                  </a:lnTo>
                  <a:lnTo>
                    <a:pt x="486" y="33"/>
                  </a:lnTo>
                  <a:lnTo>
                    <a:pt x="482" y="29"/>
                  </a:lnTo>
                  <a:lnTo>
                    <a:pt x="473" y="23"/>
                  </a:lnTo>
                  <a:lnTo>
                    <a:pt x="473" y="23"/>
                  </a:lnTo>
                  <a:lnTo>
                    <a:pt x="471" y="23"/>
                  </a:lnTo>
                  <a:lnTo>
                    <a:pt x="471" y="23"/>
                  </a:lnTo>
                  <a:lnTo>
                    <a:pt x="467" y="23"/>
                  </a:lnTo>
                  <a:lnTo>
                    <a:pt x="465" y="25"/>
                  </a:lnTo>
                  <a:lnTo>
                    <a:pt x="463" y="25"/>
                  </a:lnTo>
                  <a:lnTo>
                    <a:pt x="462" y="23"/>
                  </a:lnTo>
                  <a:lnTo>
                    <a:pt x="462" y="23"/>
                  </a:lnTo>
                  <a:lnTo>
                    <a:pt x="460" y="21"/>
                  </a:lnTo>
                  <a:lnTo>
                    <a:pt x="458" y="21"/>
                  </a:lnTo>
                  <a:lnTo>
                    <a:pt x="456" y="19"/>
                  </a:lnTo>
                  <a:lnTo>
                    <a:pt x="456" y="17"/>
                  </a:lnTo>
                  <a:lnTo>
                    <a:pt x="454" y="15"/>
                  </a:lnTo>
                  <a:lnTo>
                    <a:pt x="452" y="14"/>
                  </a:lnTo>
                  <a:lnTo>
                    <a:pt x="437" y="6"/>
                  </a:lnTo>
                  <a:lnTo>
                    <a:pt x="433" y="2"/>
                  </a:lnTo>
                  <a:lnTo>
                    <a:pt x="433" y="0"/>
                  </a:lnTo>
                  <a:lnTo>
                    <a:pt x="431" y="0"/>
                  </a:lnTo>
                  <a:lnTo>
                    <a:pt x="431" y="0"/>
                  </a:lnTo>
                  <a:lnTo>
                    <a:pt x="429" y="0"/>
                  </a:lnTo>
                  <a:lnTo>
                    <a:pt x="429" y="2"/>
                  </a:lnTo>
                  <a:lnTo>
                    <a:pt x="427" y="4"/>
                  </a:lnTo>
                  <a:lnTo>
                    <a:pt x="427" y="4"/>
                  </a:lnTo>
                  <a:lnTo>
                    <a:pt x="425" y="4"/>
                  </a:lnTo>
                  <a:lnTo>
                    <a:pt x="425" y="4"/>
                  </a:lnTo>
                  <a:lnTo>
                    <a:pt x="423" y="4"/>
                  </a:lnTo>
                  <a:lnTo>
                    <a:pt x="423" y="6"/>
                  </a:lnTo>
                  <a:lnTo>
                    <a:pt x="421" y="6"/>
                  </a:lnTo>
                  <a:lnTo>
                    <a:pt x="421" y="6"/>
                  </a:lnTo>
                  <a:lnTo>
                    <a:pt x="421" y="6"/>
                  </a:lnTo>
                  <a:lnTo>
                    <a:pt x="421" y="6"/>
                  </a:lnTo>
                  <a:lnTo>
                    <a:pt x="421" y="6"/>
                  </a:lnTo>
                  <a:lnTo>
                    <a:pt x="421" y="8"/>
                  </a:lnTo>
                  <a:lnTo>
                    <a:pt x="421" y="10"/>
                  </a:lnTo>
                  <a:lnTo>
                    <a:pt x="421" y="12"/>
                  </a:lnTo>
                  <a:lnTo>
                    <a:pt x="425" y="14"/>
                  </a:lnTo>
                  <a:lnTo>
                    <a:pt x="425" y="15"/>
                  </a:lnTo>
                  <a:lnTo>
                    <a:pt x="425" y="17"/>
                  </a:lnTo>
                  <a:lnTo>
                    <a:pt x="425" y="23"/>
                  </a:lnTo>
                  <a:lnTo>
                    <a:pt x="425" y="25"/>
                  </a:lnTo>
                  <a:lnTo>
                    <a:pt x="425" y="27"/>
                  </a:lnTo>
                  <a:lnTo>
                    <a:pt x="423" y="29"/>
                  </a:lnTo>
                  <a:lnTo>
                    <a:pt x="423" y="31"/>
                  </a:lnTo>
                  <a:lnTo>
                    <a:pt x="423" y="33"/>
                  </a:lnTo>
                  <a:lnTo>
                    <a:pt x="423" y="33"/>
                  </a:lnTo>
                  <a:lnTo>
                    <a:pt x="425" y="36"/>
                  </a:lnTo>
                  <a:lnTo>
                    <a:pt x="425" y="38"/>
                  </a:lnTo>
                  <a:lnTo>
                    <a:pt x="425" y="38"/>
                  </a:lnTo>
                  <a:lnTo>
                    <a:pt x="425" y="42"/>
                  </a:lnTo>
                  <a:lnTo>
                    <a:pt x="423" y="42"/>
                  </a:lnTo>
                  <a:lnTo>
                    <a:pt x="423" y="44"/>
                  </a:lnTo>
                  <a:lnTo>
                    <a:pt x="425" y="46"/>
                  </a:lnTo>
                  <a:lnTo>
                    <a:pt x="425" y="46"/>
                  </a:lnTo>
                  <a:lnTo>
                    <a:pt x="423" y="46"/>
                  </a:lnTo>
                  <a:lnTo>
                    <a:pt x="423" y="48"/>
                  </a:lnTo>
                  <a:lnTo>
                    <a:pt x="420" y="53"/>
                  </a:lnTo>
                  <a:lnTo>
                    <a:pt x="418" y="55"/>
                  </a:lnTo>
                  <a:lnTo>
                    <a:pt x="416" y="57"/>
                  </a:lnTo>
                  <a:lnTo>
                    <a:pt x="412" y="57"/>
                  </a:lnTo>
                  <a:lnTo>
                    <a:pt x="406" y="55"/>
                  </a:lnTo>
                  <a:lnTo>
                    <a:pt x="406" y="53"/>
                  </a:lnTo>
                  <a:lnTo>
                    <a:pt x="406" y="52"/>
                  </a:lnTo>
                  <a:lnTo>
                    <a:pt x="406" y="52"/>
                  </a:lnTo>
                  <a:lnTo>
                    <a:pt x="406" y="50"/>
                  </a:lnTo>
                  <a:lnTo>
                    <a:pt x="406" y="50"/>
                  </a:lnTo>
                  <a:lnTo>
                    <a:pt x="406" y="48"/>
                  </a:lnTo>
                  <a:lnTo>
                    <a:pt x="408" y="46"/>
                  </a:lnTo>
                  <a:lnTo>
                    <a:pt x="408" y="46"/>
                  </a:lnTo>
                  <a:lnTo>
                    <a:pt x="408" y="44"/>
                  </a:lnTo>
                  <a:lnTo>
                    <a:pt x="408" y="44"/>
                  </a:lnTo>
                  <a:lnTo>
                    <a:pt x="408" y="44"/>
                  </a:lnTo>
                  <a:lnTo>
                    <a:pt x="406" y="44"/>
                  </a:lnTo>
                  <a:lnTo>
                    <a:pt x="404" y="44"/>
                  </a:lnTo>
                  <a:lnTo>
                    <a:pt x="404" y="46"/>
                  </a:lnTo>
                  <a:lnTo>
                    <a:pt x="402" y="46"/>
                  </a:lnTo>
                  <a:lnTo>
                    <a:pt x="402" y="46"/>
                  </a:lnTo>
                  <a:lnTo>
                    <a:pt x="401" y="48"/>
                  </a:lnTo>
                  <a:lnTo>
                    <a:pt x="401" y="48"/>
                  </a:lnTo>
                  <a:lnTo>
                    <a:pt x="399" y="48"/>
                  </a:lnTo>
                  <a:lnTo>
                    <a:pt x="397" y="48"/>
                  </a:lnTo>
                  <a:lnTo>
                    <a:pt x="395" y="48"/>
                  </a:lnTo>
                  <a:lnTo>
                    <a:pt x="391" y="48"/>
                  </a:lnTo>
                  <a:lnTo>
                    <a:pt x="385" y="46"/>
                  </a:lnTo>
                  <a:lnTo>
                    <a:pt x="378" y="40"/>
                  </a:lnTo>
                  <a:lnTo>
                    <a:pt x="376" y="40"/>
                  </a:lnTo>
                  <a:lnTo>
                    <a:pt x="374" y="40"/>
                  </a:lnTo>
                  <a:lnTo>
                    <a:pt x="374" y="40"/>
                  </a:lnTo>
                  <a:lnTo>
                    <a:pt x="372" y="40"/>
                  </a:lnTo>
                  <a:lnTo>
                    <a:pt x="372" y="40"/>
                  </a:lnTo>
                  <a:lnTo>
                    <a:pt x="370" y="42"/>
                  </a:lnTo>
                  <a:lnTo>
                    <a:pt x="366" y="42"/>
                  </a:lnTo>
                  <a:lnTo>
                    <a:pt x="364" y="44"/>
                  </a:lnTo>
                  <a:lnTo>
                    <a:pt x="361" y="48"/>
                  </a:lnTo>
                  <a:lnTo>
                    <a:pt x="357" y="53"/>
                  </a:lnTo>
                  <a:lnTo>
                    <a:pt x="355" y="53"/>
                  </a:lnTo>
                  <a:lnTo>
                    <a:pt x="355" y="53"/>
                  </a:lnTo>
                  <a:lnTo>
                    <a:pt x="355" y="53"/>
                  </a:lnTo>
                  <a:lnTo>
                    <a:pt x="353" y="52"/>
                  </a:lnTo>
                  <a:lnTo>
                    <a:pt x="351" y="50"/>
                  </a:lnTo>
                  <a:lnTo>
                    <a:pt x="345" y="46"/>
                  </a:lnTo>
                  <a:lnTo>
                    <a:pt x="343" y="44"/>
                  </a:lnTo>
                  <a:lnTo>
                    <a:pt x="341" y="44"/>
                  </a:lnTo>
                  <a:lnTo>
                    <a:pt x="340" y="44"/>
                  </a:lnTo>
                  <a:lnTo>
                    <a:pt x="340" y="44"/>
                  </a:lnTo>
                  <a:lnTo>
                    <a:pt x="338" y="44"/>
                  </a:lnTo>
                  <a:lnTo>
                    <a:pt x="334" y="46"/>
                  </a:lnTo>
                  <a:lnTo>
                    <a:pt x="334" y="46"/>
                  </a:lnTo>
                  <a:lnTo>
                    <a:pt x="334" y="46"/>
                  </a:lnTo>
                  <a:lnTo>
                    <a:pt x="334" y="44"/>
                  </a:lnTo>
                  <a:lnTo>
                    <a:pt x="334" y="44"/>
                  </a:lnTo>
                  <a:lnTo>
                    <a:pt x="334" y="42"/>
                  </a:lnTo>
                  <a:lnTo>
                    <a:pt x="336" y="40"/>
                  </a:lnTo>
                  <a:lnTo>
                    <a:pt x="338" y="34"/>
                  </a:lnTo>
                  <a:lnTo>
                    <a:pt x="343" y="29"/>
                  </a:lnTo>
                  <a:lnTo>
                    <a:pt x="343" y="27"/>
                  </a:lnTo>
                  <a:lnTo>
                    <a:pt x="343" y="25"/>
                  </a:lnTo>
                  <a:lnTo>
                    <a:pt x="343" y="23"/>
                  </a:lnTo>
                  <a:lnTo>
                    <a:pt x="343" y="21"/>
                  </a:lnTo>
                  <a:lnTo>
                    <a:pt x="343" y="17"/>
                  </a:lnTo>
                  <a:lnTo>
                    <a:pt x="343" y="12"/>
                  </a:lnTo>
                  <a:lnTo>
                    <a:pt x="340" y="6"/>
                  </a:lnTo>
                  <a:lnTo>
                    <a:pt x="338" y="8"/>
                  </a:lnTo>
                  <a:lnTo>
                    <a:pt x="334" y="12"/>
                  </a:lnTo>
                  <a:lnTo>
                    <a:pt x="334" y="12"/>
                  </a:lnTo>
                  <a:lnTo>
                    <a:pt x="330" y="12"/>
                  </a:lnTo>
                  <a:lnTo>
                    <a:pt x="330" y="12"/>
                  </a:lnTo>
                  <a:lnTo>
                    <a:pt x="328" y="12"/>
                  </a:lnTo>
                  <a:lnTo>
                    <a:pt x="328" y="14"/>
                  </a:lnTo>
                  <a:lnTo>
                    <a:pt x="326" y="14"/>
                  </a:lnTo>
                  <a:lnTo>
                    <a:pt x="326" y="14"/>
                  </a:lnTo>
                  <a:lnTo>
                    <a:pt x="322" y="14"/>
                  </a:lnTo>
                  <a:lnTo>
                    <a:pt x="317" y="12"/>
                  </a:lnTo>
                  <a:lnTo>
                    <a:pt x="317" y="12"/>
                  </a:lnTo>
                  <a:lnTo>
                    <a:pt x="315" y="12"/>
                  </a:lnTo>
                  <a:lnTo>
                    <a:pt x="313" y="12"/>
                  </a:lnTo>
                  <a:lnTo>
                    <a:pt x="313" y="12"/>
                  </a:lnTo>
                  <a:lnTo>
                    <a:pt x="313" y="14"/>
                  </a:lnTo>
                  <a:lnTo>
                    <a:pt x="311" y="14"/>
                  </a:lnTo>
                  <a:lnTo>
                    <a:pt x="309" y="14"/>
                  </a:lnTo>
                  <a:lnTo>
                    <a:pt x="292" y="14"/>
                  </a:lnTo>
                  <a:lnTo>
                    <a:pt x="290" y="14"/>
                  </a:lnTo>
                  <a:lnTo>
                    <a:pt x="288" y="15"/>
                  </a:lnTo>
                  <a:lnTo>
                    <a:pt x="288" y="15"/>
                  </a:lnTo>
                  <a:lnTo>
                    <a:pt x="288" y="15"/>
                  </a:lnTo>
                  <a:lnTo>
                    <a:pt x="288" y="17"/>
                  </a:lnTo>
                  <a:lnTo>
                    <a:pt x="288" y="17"/>
                  </a:lnTo>
                  <a:lnTo>
                    <a:pt x="288" y="19"/>
                  </a:lnTo>
                  <a:lnTo>
                    <a:pt x="288" y="19"/>
                  </a:lnTo>
                  <a:lnTo>
                    <a:pt x="288" y="19"/>
                  </a:lnTo>
                  <a:lnTo>
                    <a:pt x="286" y="19"/>
                  </a:lnTo>
                  <a:lnTo>
                    <a:pt x="280" y="23"/>
                  </a:lnTo>
                  <a:lnTo>
                    <a:pt x="280" y="23"/>
                  </a:lnTo>
                  <a:lnTo>
                    <a:pt x="271" y="23"/>
                  </a:lnTo>
                  <a:lnTo>
                    <a:pt x="269" y="23"/>
                  </a:lnTo>
                  <a:lnTo>
                    <a:pt x="263" y="21"/>
                  </a:lnTo>
                  <a:lnTo>
                    <a:pt x="261" y="21"/>
                  </a:lnTo>
                  <a:lnTo>
                    <a:pt x="260" y="21"/>
                  </a:lnTo>
                  <a:lnTo>
                    <a:pt x="260" y="21"/>
                  </a:lnTo>
                  <a:lnTo>
                    <a:pt x="260" y="19"/>
                  </a:lnTo>
                  <a:lnTo>
                    <a:pt x="256" y="17"/>
                  </a:lnTo>
                  <a:lnTo>
                    <a:pt x="256" y="15"/>
                  </a:lnTo>
                  <a:lnTo>
                    <a:pt x="254" y="15"/>
                  </a:lnTo>
                  <a:lnTo>
                    <a:pt x="254" y="14"/>
                  </a:lnTo>
                  <a:lnTo>
                    <a:pt x="248" y="6"/>
                  </a:lnTo>
                  <a:lnTo>
                    <a:pt x="246" y="4"/>
                  </a:lnTo>
                  <a:lnTo>
                    <a:pt x="242" y="4"/>
                  </a:lnTo>
                  <a:lnTo>
                    <a:pt x="239" y="2"/>
                  </a:lnTo>
                  <a:lnTo>
                    <a:pt x="239" y="4"/>
                  </a:lnTo>
                  <a:lnTo>
                    <a:pt x="239" y="4"/>
                  </a:lnTo>
                  <a:lnTo>
                    <a:pt x="240" y="8"/>
                  </a:lnTo>
                  <a:lnTo>
                    <a:pt x="242" y="10"/>
                  </a:lnTo>
                  <a:lnTo>
                    <a:pt x="242" y="12"/>
                  </a:lnTo>
                  <a:lnTo>
                    <a:pt x="242" y="12"/>
                  </a:lnTo>
                  <a:lnTo>
                    <a:pt x="242" y="14"/>
                  </a:lnTo>
                  <a:lnTo>
                    <a:pt x="242" y="14"/>
                  </a:lnTo>
                  <a:lnTo>
                    <a:pt x="240" y="15"/>
                  </a:lnTo>
                  <a:lnTo>
                    <a:pt x="240" y="15"/>
                  </a:lnTo>
                  <a:lnTo>
                    <a:pt x="239" y="19"/>
                  </a:lnTo>
                  <a:lnTo>
                    <a:pt x="237" y="19"/>
                  </a:lnTo>
                  <a:lnTo>
                    <a:pt x="237" y="19"/>
                  </a:lnTo>
                  <a:lnTo>
                    <a:pt x="235" y="19"/>
                  </a:lnTo>
                  <a:lnTo>
                    <a:pt x="231" y="21"/>
                  </a:lnTo>
                  <a:lnTo>
                    <a:pt x="227" y="21"/>
                  </a:lnTo>
                  <a:lnTo>
                    <a:pt x="225" y="23"/>
                  </a:lnTo>
                  <a:lnTo>
                    <a:pt x="218" y="31"/>
                  </a:lnTo>
                  <a:lnTo>
                    <a:pt x="216" y="31"/>
                  </a:lnTo>
                  <a:lnTo>
                    <a:pt x="212" y="33"/>
                  </a:lnTo>
                  <a:lnTo>
                    <a:pt x="208" y="34"/>
                  </a:lnTo>
                  <a:lnTo>
                    <a:pt x="208" y="34"/>
                  </a:lnTo>
                  <a:lnTo>
                    <a:pt x="206" y="36"/>
                  </a:lnTo>
                  <a:lnTo>
                    <a:pt x="200" y="44"/>
                  </a:lnTo>
                  <a:lnTo>
                    <a:pt x="200" y="44"/>
                  </a:lnTo>
                  <a:lnTo>
                    <a:pt x="200" y="46"/>
                  </a:lnTo>
                  <a:lnTo>
                    <a:pt x="200" y="46"/>
                  </a:lnTo>
                  <a:lnTo>
                    <a:pt x="202" y="48"/>
                  </a:lnTo>
                  <a:lnTo>
                    <a:pt x="202" y="48"/>
                  </a:lnTo>
                  <a:lnTo>
                    <a:pt x="202" y="48"/>
                  </a:lnTo>
                  <a:lnTo>
                    <a:pt x="202" y="50"/>
                  </a:lnTo>
                  <a:lnTo>
                    <a:pt x="202" y="50"/>
                  </a:lnTo>
                  <a:lnTo>
                    <a:pt x="202" y="52"/>
                  </a:lnTo>
                  <a:lnTo>
                    <a:pt x="200" y="52"/>
                  </a:lnTo>
                  <a:lnTo>
                    <a:pt x="200" y="52"/>
                  </a:lnTo>
                  <a:lnTo>
                    <a:pt x="199" y="53"/>
                  </a:lnTo>
                  <a:lnTo>
                    <a:pt x="199" y="53"/>
                  </a:lnTo>
                  <a:lnTo>
                    <a:pt x="199" y="53"/>
                  </a:lnTo>
                  <a:lnTo>
                    <a:pt x="197" y="57"/>
                  </a:lnTo>
                  <a:lnTo>
                    <a:pt x="197" y="59"/>
                  </a:lnTo>
                  <a:lnTo>
                    <a:pt x="197" y="59"/>
                  </a:lnTo>
                  <a:lnTo>
                    <a:pt x="199" y="61"/>
                  </a:lnTo>
                  <a:lnTo>
                    <a:pt x="199" y="61"/>
                  </a:lnTo>
                  <a:lnTo>
                    <a:pt x="200" y="63"/>
                  </a:lnTo>
                  <a:lnTo>
                    <a:pt x="202" y="63"/>
                  </a:lnTo>
                  <a:lnTo>
                    <a:pt x="202" y="63"/>
                  </a:lnTo>
                  <a:lnTo>
                    <a:pt x="202" y="65"/>
                  </a:lnTo>
                  <a:lnTo>
                    <a:pt x="202" y="65"/>
                  </a:lnTo>
                  <a:lnTo>
                    <a:pt x="202" y="67"/>
                  </a:lnTo>
                  <a:lnTo>
                    <a:pt x="202" y="69"/>
                  </a:lnTo>
                  <a:lnTo>
                    <a:pt x="202" y="69"/>
                  </a:lnTo>
                  <a:lnTo>
                    <a:pt x="202" y="71"/>
                  </a:lnTo>
                  <a:lnTo>
                    <a:pt x="200" y="73"/>
                  </a:lnTo>
                  <a:lnTo>
                    <a:pt x="200" y="73"/>
                  </a:lnTo>
                  <a:lnTo>
                    <a:pt x="200" y="73"/>
                  </a:lnTo>
                  <a:lnTo>
                    <a:pt x="199" y="73"/>
                  </a:lnTo>
                  <a:lnTo>
                    <a:pt x="199" y="73"/>
                  </a:lnTo>
                  <a:lnTo>
                    <a:pt x="199" y="73"/>
                  </a:lnTo>
                  <a:lnTo>
                    <a:pt x="199" y="74"/>
                  </a:lnTo>
                  <a:lnTo>
                    <a:pt x="197" y="76"/>
                  </a:lnTo>
                  <a:lnTo>
                    <a:pt x="197" y="76"/>
                  </a:lnTo>
                  <a:lnTo>
                    <a:pt x="197" y="76"/>
                  </a:lnTo>
                  <a:lnTo>
                    <a:pt x="197" y="76"/>
                  </a:lnTo>
                  <a:lnTo>
                    <a:pt x="195" y="74"/>
                  </a:lnTo>
                  <a:lnTo>
                    <a:pt x="195" y="74"/>
                  </a:lnTo>
                  <a:lnTo>
                    <a:pt x="193" y="74"/>
                  </a:lnTo>
                  <a:lnTo>
                    <a:pt x="193" y="76"/>
                  </a:lnTo>
                  <a:lnTo>
                    <a:pt x="193" y="76"/>
                  </a:lnTo>
                  <a:lnTo>
                    <a:pt x="193" y="80"/>
                  </a:lnTo>
                  <a:lnTo>
                    <a:pt x="193" y="82"/>
                  </a:lnTo>
                  <a:lnTo>
                    <a:pt x="191" y="84"/>
                  </a:lnTo>
                  <a:lnTo>
                    <a:pt x="181" y="97"/>
                  </a:lnTo>
                  <a:lnTo>
                    <a:pt x="181" y="99"/>
                  </a:lnTo>
                  <a:lnTo>
                    <a:pt x="181" y="101"/>
                  </a:lnTo>
                  <a:lnTo>
                    <a:pt x="181" y="103"/>
                  </a:lnTo>
                  <a:lnTo>
                    <a:pt x="179" y="105"/>
                  </a:lnTo>
                  <a:lnTo>
                    <a:pt x="179" y="107"/>
                  </a:lnTo>
                  <a:lnTo>
                    <a:pt x="179" y="109"/>
                  </a:lnTo>
                  <a:lnTo>
                    <a:pt x="179" y="111"/>
                  </a:lnTo>
                  <a:lnTo>
                    <a:pt x="181" y="111"/>
                  </a:lnTo>
                  <a:lnTo>
                    <a:pt x="181" y="112"/>
                  </a:lnTo>
                  <a:lnTo>
                    <a:pt x="185" y="114"/>
                  </a:lnTo>
                  <a:lnTo>
                    <a:pt x="185" y="116"/>
                  </a:lnTo>
                  <a:lnTo>
                    <a:pt x="185" y="116"/>
                  </a:lnTo>
                  <a:lnTo>
                    <a:pt x="185" y="118"/>
                  </a:lnTo>
                  <a:lnTo>
                    <a:pt x="185" y="120"/>
                  </a:lnTo>
                  <a:lnTo>
                    <a:pt x="185" y="120"/>
                  </a:lnTo>
                  <a:lnTo>
                    <a:pt x="185" y="122"/>
                  </a:lnTo>
                  <a:lnTo>
                    <a:pt x="183" y="122"/>
                  </a:lnTo>
                  <a:lnTo>
                    <a:pt x="183" y="122"/>
                  </a:lnTo>
                  <a:lnTo>
                    <a:pt x="183" y="122"/>
                  </a:lnTo>
                  <a:lnTo>
                    <a:pt x="181" y="122"/>
                  </a:lnTo>
                  <a:lnTo>
                    <a:pt x="178" y="120"/>
                  </a:lnTo>
                  <a:lnTo>
                    <a:pt x="176" y="120"/>
                  </a:lnTo>
                  <a:lnTo>
                    <a:pt x="176" y="120"/>
                  </a:lnTo>
                  <a:lnTo>
                    <a:pt x="176" y="120"/>
                  </a:lnTo>
                  <a:lnTo>
                    <a:pt x="174" y="122"/>
                  </a:lnTo>
                  <a:lnTo>
                    <a:pt x="174" y="122"/>
                  </a:lnTo>
                  <a:lnTo>
                    <a:pt x="174" y="124"/>
                  </a:lnTo>
                  <a:lnTo>
                    <a:pt x="174" y="124"/>
                  </a:lnTo>
                  <a:lnTo>
                    <a:pt x="174" y="124"/>
                  </a:lnTo>
                  <a:lnTo>
                    <a:pt x="174" y="124"/>
                  </a:lnTo>
                  <a:lnTo>
                    <a:pt x="174" y="126"/>
                  </a:lnTo>
                  <a:lnTo>
                    <a:pt x="174" y="126"/>
                  </a:lnTo>
                  <a:lnTo>
                    <a:pt x="174" y="126"/>
                  </a:lnTo>
                  <a:lnTo>
                    <a:pt x="172" y="130"/>
                  </a:lnTo>
                  <a:lnTo>
                    <a:pt x="170" y="130"/>
                  </a:lnTo>
                  <a:lnTo>
                    <a:pt x="168" y="137"/>
                  </a:lnTo>
                  <a:lnTo>
                    <a:pt x="166" y="139"/>
                  </a:lnTo>
                  <a:lnTo>
                    <a:pt x="166" y="141"/>
                  </a:lnTo>
                  <a:lnTo>
                    <a:pt x="164" y="143"/>
                  </a:lnTo>
                  <a:lnTo>
                    <a:pt x="162" y="143"/>
                  </a:lnTo>
                  <a:lnTo>
                    <a:pt x="162" y="143"/>
                  </a:lnTo>
                  <a:lnTo>
                    <a:pt x="157" y="143"/>
                  </a:lnTo>
                  <a:lnTo>
                    <a:pt x="157" y="143"/>
                  </a:lnTo>
                  <a:lnTo>
                    <a:pt x="155" y="143"/>
                  </a:lnTo>
                  <a:lnTo>
                    <a:pt x="155" y="141"/>
                  </a:lnTo>
                  <a:lnTo>
                    <a:pt x="153" y="141"/>
                  </a:lnTo>
                  <a:lnTo>
                    <a:pt x="153" y="141"/>
                  </a:lnTo>
                  <a:lnTo>
                    <a:pt x="151" y="141"/>
                  </a:lnTo>
                  <a:lnTo>
                    <a:pt x="151" y="141"/>
                  </a:lnTo>
                  <a:lnTo>
                    <a:pt x="149" y="139"/>
                  </a:lnTo>
                  <a:lnTo>
                    <a:pt x="149" y="139"/>
                  </a:lnTo>
                  <a:lnTo>
                    <a:pt x="149" y="139"/>
                  </a:lnTo>
                  <a:lnTo>
                    <a:pt x="147" y="137"/>
                  </a:lnTo>
                  <a:lnTo>
                    <a:pt x="147" y="137"/>
                  </a:lnTo>
                  <a:lnTo>
                    <a:pt x="138" y="139"/>
                  </a:lnTo>
                  <a:lnTo>
                    <a:pt x="136" y="139"/>
                  </a:lnTo>
                  <a:lnTo>
                    <a:pt x="134" y="139"/>
                  </a:lnTo>
                  <a:lnTo>
                    <a:pt x="132" y="139"/>
                  </a:lnTo>
                  <a:lnTo>
                    <a:pt x="132" y="141"/>
                  </a:lnTo>
                  <a:lnTo>
                    <a:pt x="130" y="141"/>
                  </a:lnTo>
                  <a:lnTo>
                    <a:pt x="130" y="141"/>
                  </a:lnTo>
                  <a:lnTo>
                    <a:pt x="130" y="141"/>
                  </a:lnTo>
                  <a:lnTo>
                    <a:pt x="128" y="139"/>
                  </a:lnTo>
                  <a:lnTo>
                    <a:pt x="128" y="139"/>
                  </a:lnTo>
                  <a:lnTo>
                    <a:pt x="126" y="139"/>
                  </a:lnTo>
                  <a:lnTo>
                    <a:pt x="119" y="139"/>
                  </a:lnTo>
                  <a:lnTo>
                    <a:pt x="119" y="141"/>
                  </a:lnTo>
                  <a:lnTo>
                    <a:pt x="117" y="141"/>
                  </a:lnTo>
                  <a:lnTo>
                    <a:pt x="117" y="141"/>
                  </a:lnTo>
                  <a:lnTo>
                    <a:pt x="117" y="141"/>
                  </a:lnTo>
                  <a:lnTo>
                    <a:pt x="117" y="141"/>
                  </a:lnTo>
                  <a:lnTo>
                    <a:pt x="117" y="143"/>
                  </a:lnTo>
                  <a:lnTo>
                    <a:pt x="117" y="145"/>
                  </a:lnTo>
                  <a:lnTo>
                    <a:pt x="115" y="147"/>
                  </a:lnTo>
                  <a:lnTo>
                    <a:pt x="113" y="152"/>
                  </a:lnTo>
                  <a:lnTo>
                    <a:pt x="109" y="160"/>
                  </a:lnTo>
                  <a:lnTo>
                    <a:pt x="109" y="162"/>
                  </a:lnTo>
                  <a:lnTo>
                    <a:pt x="107" y="162"/>
                  </a:lnTo>
                  <a:lnTo>
                    <a:pt x="107" y="162"/>
                  </a:lnTo>
                  <a:lnTo>
                    <a:pt x="105" y="162"/>
                  </a:lnTo>
                  <a:lnTo>
                    <a:pt x="105" y="162"/>
                  </a:lnTo>
                  <a:lnTo>
                    <a:pt x="103" y="164"/>
                  </a:lnTo>
                  <a:lnTo>
                    <a:pt x="103" y="166"/>
                  </a:lnTo>
                  <a:lnTo>
                    <a:pt x="101" y="168"/>
                  </a:lnTo>
                  <a:lnTo>
                    <a:pt x="99" y="170"/>
                  </a:lnTo>
                  <a:lnTo>
                    <a:pt x="99" y="170"/>
                  </a:lnTo>
                  <a:lnTo>
                    <a:pt x="98" y="171"/>
                  </a:lnTo>
                  <a:lnTo>
                    <a:pt x="96" y="171"/>
                  </a:lnTo>
                  <a:lnTo>
                    <a:pt x="96" y="171"/>
                  </a:lnTo>
                  <a:lnTo>
                    <a:pt x="96" y="171"/>
                  </a:lnTo>
                  <a:lnTo>
                    <a:pt x="96" y="171"/>
                  </a:lnTo>
                  <a:lnTo>
                    <a:pt x="96" y="171"/>
                  </a:lnTo>
                  <a:lnTo>
                    <a:pt x="96" y="170"/>
                  </a:lnTo>
                  <a:lnTo>
                    <a:pt x="96" y="170"/>
                  </a:lnTo>
                  <a:lnTo>
                    <a:pt x="96" y="168"/>
                  </a:lnTo>
                  <a:lnTo>
                    <a:pt x="96" y="168"/>
                  </a:lnTo>
                  <a:lnTo>
                    <a:pt x="94" y="168"/>
                  </a:lnTo>
                  <a:lnTo>
                    <a:pt x="94" y="168"/>
                  </a:lnTo>
                  <a:lnTo>
                    <a:pt x="92" y="168"/>
                  </a:lnTo>
                  <a:lnTo>
                    <a:pt x="90" y="168"/>
                  </a:lnTo>
                  <a:lnTo>
                    <a:pt x="90" y="168"/>
                  </a:lnTo>
                  <a:lnTo>
                    <a:pt x="90" y="168"/>
                  </a:lnTo>
                  <a:lnTo>
                    <a:pt x="90" y="168"/>
                  </a:lnTo>
                  <a:lnTo>
                    <a:pt x="90" y="168"/>
                  </a:lnTo>
                  <a:lnTo>
                    <a:pt x="90" y="170"/>
                  </a:lnTo>
                  <a:lnTo>
                    <a:pt x="90" y="181"/>
                  </a:lnTo>
                  <a:lnTo>
                    <a:pt x="90" y="181"/>
                  </a:lnTo>
                  <a:lnTo>
                    <a:pt x="90" y="183"/>
                  </a:lnTo>
                  <a:lnTo>
                    <a:pt x="90" y="185"/>
                  </a:lnTo>
                  <a:lnTo>
                    <a:pt x="92" y="185"/>
                  </a:lnTo>
                  <a:lnTo>
                    <a:pt x="92" y="187"/>
                  </a:lnTo>
                  <a:lnTo>
                    <a:pt x="92" y="189"/>
                  </a:lnTo>
                  <a:lnTo>
                    <a:pt x="92" y="189"/>
                  </a:lnTo>
                  <a:lnTo>
                    <a:pt x="92" y="190"/>
                  </a:lnTo>
                  <a:lnTo>
                    <a:pt x="90" y="192"/>
                  </a:lnTo>
                  <a:lnTo>
                    <a:pt x="88" y="198"/>
                  </a:lnTo>
                  <a:lnTo>
                    <a:pt x="88" y="200"/>
                  </a:lnTo>
                  <a:lnTo>
                    <a:pt x="90" y="202"/>
                  </a:lnTo>
                  <a:lnTo>
                    <a:pt x="90" y="204"/>
                  </a:lnTo>
                  <a:lnTo>
                    <a:pt x="90" y="204"/>
                  </a:lnTo>
                  <a:lnTo>
                    <a:pt x="90" y="204"/>
                  </a:lnTo>
                  <a:lnTo>
                    <a:pt x="92" y="204"/>
                  </a:lnTo>
                  <a:lnTo>
                    <a:pt x="92" y="204"/>
                  </a:lnTo>
                  <a:lnTo>
                    <a:pt x="92" y="204"/>
                  </a:lnTo>
                  <a:lnTo>
                    <a:pt x="92" y="204"/>
                  </a:lnTo>
                  <a:lnTo>
                    <a:pt x="92" y="204"/>
                  </a:lnTo>
                  <a:lnTo>
                    <a:pt x="92" y="204"/>
                  </a:lnTo>
                  <a:lnTo>
                    <a:pt x="92" y="204"/>
                  </a:lnTo>
                  <a:lnTo>
                    <a:pt x="94" y="206"/>
                  </a:lnTo>
                  <a:lnTo>
                    <a:pt x="94" y="208"/>
                  </a:lnTo>
                  <a:lnTo>
                    <a:pt x="94" y="209"/>
                  </a:lnTo>
                  <a:lnTo>
                    <a:pt x="94" y="209"/>
                  </a:lnTo>
                  <a:lnTo>
                    <a:pt x="94" y="209"/>
                  </a:lnTo>
                  <a:lnTo>
                    <a:pt x="96" y="209"/>
                  </a:lnTo>
                  <a:lnTo>
                    <a:pt x="96" y="208"/>
                  </a:lnTo>
                  <a:lnTo>
                    <a:pt x="96" y="208"/>
                  </a:lnTo>
                  <a:lnTo>
                    <a:pt x="96" y="209"/>
                  </a:lnTo>
                  <a:lnTo>
                    <a:pt x="96" y="211"/>
                  </a:lnTo>
                  <a:lnTo>
                    <a:pt x="96" y="219"/>
                  </a:lnTo>
                  <a:lnTo>
                    <a:pt x="96" y="221"/>
                  </a:lnTo>
                  <a:lnTo>
                    <a:pt x="96" y="223"/>
                  </a:lnTo>
                  <a:lnTo>
                    <a:pt x="96" y="223"/>
                  </a:lnTo>
                  <a:lnTo>
                    <a:pt x="96" y="223"/>
                  </a:lnTo>
                  <a:lnTo>
                    <a:pt x="98" y="225"/>
                  </a:lnTo>
                  <a:lnTo>
                    <a:pt x="98" y="230"/>
                  </a:lnTo>
                  <a:lnTo>
                    <a:pt x="98" y="234"/>
                  </a:lnTo>
                  <a:lnTo>
                    <a:pt x="98" y="236"/>
                  </a:lnTo>
                  <a:lnTo>
                    <a:pt x="98" y="238"/>
                  </a:lnTo>
                  <a:lnTo>
                    <a:pt x="96" y="244"/>
                  </a:lnTo>
                  <a:lnTo>
                    <a:pt x="96" y="246"/>
                  </a:lnTo>
                  <a:lnTo>
                    <a:pt x="96" y="247"/>
                  </a:lnTo>
                  <a:lnTo>
                    <a:pt x="99" y="249"/>
                  </a:lnTo>
                  <a:lnTo>
                    <a:pt x="101" y="249"/>
                  </a:lnTo>
                  <a:lnTo>
                    <a:pt x="103" y="251"/>
                  </a:lnTo>
                  <a:lnTo>
                    <a:pt x="103" y="251"/>
                  </a:lnTo>
                  <a:lnTo>
                    <a:pt x="103" y="251"/>
                  </a:lnTo>
                  <a:lnTo>
                    <a:pt x="105" y="251"/>
                  </a:lnTo>
                  <a:lnTo>
                    <a:pt x="109" y="251"/>
                  </a:lnTo>
                  <a:lnTo>
                    <a:pt x="109" y="251"/>
                  </a:lnTo>
                  <a:lnTo>
                    <a:pt x="109" y="251"/>
                  </a:lnTo>
                  <a:lnTo>
                    <a:pt x="111" y="251"/>
                  </a:lnTo>
                  <a:lnTo>
                    <a:pt x="111" y="251"/>
                  </a:lnTo>
                  <a:lnTo>
                    <a:pt x="113" y="253"/>
                  </a:lnTo>
                  <a:lnTo>
                    <a:pt x="113" y="253"/>
                  </a:lnTo>
                  <a:lnTo>
                    <a:pt x="113" y="255"/>
                  </a:lnTo>
                  <a:lnTo>
                    <a:pt x="113" y="255"/>
                  </a:lnTo>
                  <a:lnTo>
                    <a:pt x="115" y="255"/>
                  </a:lnTo>
                  <a:lnTo>
                    <a:pt x="115" y="255"/>
                  </a:lnTo>
                  <a:lnTo>
                    <a:pt x="115" y="255"/>
                  </a:lnTo>
                  <a:lnTo>
                    <a:pt x="117" y="253"/>
                  </a:lnTo>
                  <a:lnTo>
                    <a:pt x="117" y="253"/>
                  </a:lnTo>
                  <a:lnTo>
                    <a:pt x="117" y="253"/>
                  </a:lnTo>
                  <a:lnTo>
                    <a:pt x="117" y="253"/>
                  </a:lnTo>
                  <a:lnTo>
                    <a:pt x="119" y="253"/>
                  </a:lnTo>
                  <a:lnTo>
                    <a:pt x="119" y="253"/>
                  </a:lnTo>
                  <a:lnTo>
                    <a:pt x="120" y="253"/>
                  </a:lnTo>
                  <a:lnTo>
                    <a:pt x="122" y="253"/>
                  </a:lnTo>
                  <a:lnTo>
                    <a:pt x="122" y="253"/>
                  </a:lnTo>
                  <a:lnTo>
                    <a:pt x="122" y="253"/>
                  </a:lnTo>
                  <a:lnTo>
                    <a:pt x="122" y="255"/>
                  </a:lnTo>
                  <a:lnTo>
                    <a:pt x="122" y="257"/>
                  </a:lnTo>
                  <a:lnTo>
                    <a:pt x="122" y="257"/>
                  </a:lnTo>
                  <a:lnTo>
                    <a:pt x="120" y="263"/>
                  </a:lnTo>
                  <a:lnTo>
                    <a:pt x="120" y="265"/>
                  </a:lnTo>
                  <a:lnTo>
                    <a:pt x="120" y="265"/>
                  </a:lnTo>
                  <a:lnTo>
                    <a:pt x="120" y="265"/>
                  </a:lnTo>
                  <a:lnTo>
                    <a:pt x="120" y="265"/>
                  </a:lnTo>
                  <a:lnTo>
                    <a:pt x="122" y="266"/>
                  </a:lnTo>
                  <a:lnTo>
                    <a:pt x="124" y="268"/>
                  </a:lnTo>
                  <a:lnTo>
                    <a:pt x="124" y="268"/>
                  </a:lnTo>
                  <a:lnTo>
                    <a:pt x="122" y="268"/>
                  </a:lnTo>
                  <a:lnTo>
                    <a:pt x="120" y="270"/>
                  </a:lnTo>
                  <a:lnTo>
                    <a:pt x="120" y="270"/>
                  </a:lnTo>
                  <a:lnTo>
                    <a:pt x="119" y="272"/>
                  </a:lnTo>
                  <a:lnTo>
                    <a:pt x="117" y="272"/>
                  </a:lnTo>
                  <a:lnTo>
                    <a:pt x="117" y="272"/>
                  </a:lnTo>
                  <a:lnTo>
                    <a:pt x="113" y="276"/>
                  </a:lnTo>
                  <a:lnTo>
                    <a:pt x="113" y="276"/>
                  </a:lnTo>
                  <a:lnTo>
                    <a:pt x="111" y="276"/>
                  </a:lnTo>
                  <a:lnTo>
                    <a:pt x="111" y="276"/>
                  </a:lnTo>
                  <a:lnTo>
                    <a:pt x="111" y="276"/>
                  </a:lnTo>
                  <a:lnTo>
                    <a:pt x="111" y="274"/>
                  </a:lnTo>
                  <a:lnTo>
                    <a:pt x="111" y="274"/>
                  </a:lnTo>
                  <a:lnTo>
                    <a:pt x="111" y="272"/>
                  </a:lnTo>
                  <a:lnTo>
                    <a:pt x="111" y="272"/>
                  </a:lnTo>
                  <a:lnTo>
                    <a:pt x="111" y="270"/>
                  </a:lnTo>
                  <a:lnTo>
                    <a:pt x="111" y="270"/>
                  </a:lnTo>
                  <a:lnTo>
                    <a:pt x="111" y="268"/>
                  </a:lnTo>
                  <a:lnTo>
                    <a:pt x="111" y="268"/>
                  </a:lnTo>
                  <a:lnTo>
                    <a:pt x="109" y="268"/>
                  </a:lnTo>
                  <a:lnTo>
                    <a:pt x="105" y="268"/>
                  </a:lnTo>
                  <a:lnTo>
                    <a:pt x="105" y="268"/>
                  </a:lnTo>
                  <a:lnTo>
                    <a:pt x="103" y="266"/>
                  </a:lnTo>
                  <a:lnTo>
                    <a:pt x="101" y="266"/>
                  </a:lnTo>
                  <a:lnTo>
                    <a:pt x="92" y="265"/>
                  </a:lnTo>
                  <a:lnTo>
                    <a:pt x="92" y="265"/>
                  </a:lnTo>
                  <a:lnTo>
                    <a:pt x="90" y="265"/>
                  </a:lnTo>
                  <a:lnTo>
                    <a:pt x="90" y="265"/>
                  </a:lnTo>
                  <a:lnTo>
                    <a:pt x="90" y="266"/>
                  </a:lnTo>
                  <a:lnTo>
                    <a:pt x="90" y="266"/>
                  </a:lnTo>
                  <a:lnTo>
                    <a:pt x="88" y="266"/>
                  </a:lnTo>
                  <a:lnTo>
                    <a:pt x="88" y="266"/>
                  </a:lnTo>
                  <a:lnTo>
                    <a:pt x="86" y="270"/>
                  </a:lnTo>
                  <a:lnTo>
                    <a:pt x="86" y="270"/>
                  </a:lnTo>
                  <a:lnTo>
                    <a:pt x="86" y="270"/>
                  </a:lnTo>
                  <a:lnTo>
                    <a:pt x="84" y="270"/>
                  </a:lnTo>
                  <a:lnTo>
                    <a:pt x="84" y="270"/>
                  </a:lnTo>
                  <a:lnTo>
                    <a:pt x="78" y="257"/>
                  </a:lnTo>
                  <a:lnTo>
                    <a:pt x="78" y="257"/>
                  </a:lnTo>
                  <a:lnTo>
                    <a:pt x="77" y="255"/>
                  </a:lnTo>
                  <a:lnTo>
                    <a:pt x="77" y="255"/>
                  </a:lnTo>
                  <a:lnTo>
                    <a:pt x="75" y="255"/>
                  </a:lnTo>
                  <a:lnTo>
                    <a:pt x="73" y="255"/>
                  </a:lnTo>
                  <a:lnTo>
                    <a:pt x="73" y="255"/>
                  </a:lnTo>
                  <a:lnTo>
                    <a:pt x="73" y="255"/>
                  </a:lnTo>
                  <a:lnTo>
                    <a:pt x="73" y="255"/>
                  </a:lnTo>
                  <a:lnTo>
                    <a:pt x="73" y="255"/>
                  </a:lnTo>
                  <a:lnTo>
                    <a:pt x="71" y="253"/>
                  </a:lnTo>
                  <a:lnTo>
                    <a:pt x="71" y="253"/>
                  </a:lnTo>
                  <a:lnTo>
                    <a:pt x="71" y="253"/>
                  </a:lnTo>
                  <a:lnTo>
                    <a:pt x="71" y="253"/>
                  </a:lnTo>
                  <a:lnTo>
                    <a:pt x="69" y="251"/>
                  </a:lnTo>
                  <a:lnTo>
                    <a:pt x="67" y="249"/>
                  </a:lnTo>
                  <a:lnTo>
                    <a:pt x="65" y="247"/>
                  </a:lnTo>
                  <a:lnTo>
                    <a:pt x="65" y="247"/>
                  </a:lnTo>
                  <a:lnTo>
                    <a:pt x="65" y="247"/>
                  </a:lnTo>
                  <a:lnTo>
                    <a:pt x="65" y="247"/>
                  </a:lnTo>
                  <a:lnTo>
                    <a:pt x="63" y="247"/>
                  </a:lnTo>
                  <a:lnTo>
                    <a:pt x="63" y="247"/>
                  </a:lnTo>
                  <a:lnTo>
                    <a:pt x="63" y="249"/>
                  </a:lnTo>
                  <a:lnTo>
                    <a:pt x="63" y="249"/>
                  </a:lnTo>
                  <a:lnTo>
                    <a:pt x="61" y="251"/>
                  </a:lnTo>
                  <a:lnTo>
                    <a:pt x="61" y="251"/>
                  </a:lnTo>
                  <a:lnTo>
                    <a:pt x="61" y="251"/>
                  </a:lnTo>
                  <a:lnTo>
                    <a:pt x="61" y="253"/>
                  </a:lnTo>
                  <a:lnTo>
                    <a:pt x="59" y="253"/>
                  </a:lnTo>
                  <a:lnTo>
                    <a:pt x="59" y="251"/>
                  </a:lnTo>
                  <a:lnTo>
                    <a:pt x="59" y="251"/>
                  </a:lnTo>
                  <a:lnTo>
                    <a:pt x="59" y="251"/>
                  </a:lnTo>
                  <a:lnTo>
                    <a:pt x="59" y="249"/>
                  </a:lnTo>
                  <a:lnTo>
                    <a:pt x="58" y="249"/>
                  </a:lnTo>
                  <a:lnTo>
                    <a:pt x="54" y="244"/>
                  </a:lnTo>
                  <a:lnTo>
                    <a:pt x="54" y="244"/>
                  </a:lnTo>
                  <a:lnTo>
                    <a:pt x="52" y="244"/>
                  </a:lnTo>
                  <a:lnTo>
                    <a:pt x="52" y="244"/>
                  </a:lnTo>
                  <a:lnTo>
                    <a:pt x="52" y="244"/>
                  </a:lnTo>
                  <a:lnTo>
                    <a:pt x="48" y="247"/>
                  </a:lnTo>
                  <a:lnTo>
                    <a:pt x="46" y="249"/>
                  </a:lnTo>
                  <a:lnTo>
                    <a:pt x="46" y="249"/>
                  </a:lnTo>
                  <a:lnTo>
                    <a:pt x="44" y="249"/>
                  </a:lnTo>
                  <a:lnTo>
                    <a:pt x="40" y="257"/>
                  </a:lnTo>
                  <a:lnTo>
                    <a:pt x="40" y="257"/>
                  </a:lnTo>
                  <a:lnTo>
                    <a:pt x="40" y="259"/>
                  </a:lnTo>
                  <a:lnTo>
                    <a:pt x="40" y="261"/>
                  </a:lnTo>
                  <a:lnTo>
                    <a:pt x="40" y="261"/>
                  </a:lnTo>
                  <a:lnTo>
                    <a:pt x="40" y="263"/>
                  </a:lnTo>
                  <a:lnTo>
                    <a:pt x="42" y="263"/>
                  </a:lnTo>
                  <a:lnTo>
                    <a:pt x="42" y="265"/>
                  </a:lnTo>
                  <a:lnTo>
                    <a:pt x="52" y="268"/>
                  </a:lnTo>
                  <a:lnTo>
                    <a:pt x="52" y="268"/>
                  </a:lnTo>
                  <a:lnTo>
                    <a:pt x="52" y="270"/>
                  </a:lnTo>
                  <a:lnTo>
                    <a:pt x="54" y="272"/>
                  </a:lnTo>
                  <a:lnTo>
                    <a:pt x="54" y="274"/>
                  </a:lnTo>
                  <a:lnTo>
                    <a:pt x="54" y="274"/>
                  </a:lnTo>
                  <a:lnTo>
                    <a:pt x="56" y="274"/>
                  </a:lnTo>
                  <a:lnTo>
                    <a:pt x="59" y="274"/>
                  </a:lnTo>
                  <a:lnTo>
                    <a:pt x="59" y="274"/>
                  </a:lnTo>
                  <a:lnTo>
                    <a:pt x="59" y="276"/>
                  </a:lnTo>
                  <a:lnTo>
                    <a:pt x="61" y="276"/>
                  </a:lnTo>
                  <a:lnTo>
                    <a:pt x="61" y="278"/>
                  </a:lnTo>
                  <a:lnTo>
                    <a:pt x="59" y="282"/>
                  </a:lnTo>
                  <a:lnTo>
                    <a:pt x="59" y="284"/>
                  </a:lnTo>
                  <a:lnTo>
                    <a:pt x="59" y="286"/>
                  </a:lnTo>
                  <a:lnTo>
                    <a:pt x="61" y="287"/>
                  </a:lnTo>
                  <a:lnTo>
                    <a:pt x="61" y="289"/>
                  </a:lnTo>
                  <a:lnTo>
                    <a:pt x="61" y="291"/>
                  </a:lnTo>
                  <a:lnTo>
                    <a:pt x="61" y="293"/>
                  </a:lnTo>
                  <a:lnTo>
                    <a:pt x="59" y="301"/>
                  </a:lnTo>
                  <a:lnTo>
                    <a:pt x="61" y="301"/>
                  </a:lnTo>
                  <a:lnTo>
                    <a:pt x="61" y="303"/>
                  </a:lnTo>
                  <a:lnTo>
                    <a:pt x="63" y="303"/>
                  </a:lnTo>
                  <a:lnTo>
                    <a:pt x="65" y="303"/>
                  </a:lnTo>
                  <a:lnTo>
                    <a:pt x="65" y="303"/>
                  </a:lnTo>
                  <a:lnTo>
                    <a:pt x="65" y="305"/>
                  </a:lnTo>
                  <a:lnTo>
                    <a:pt x="67" y="308"/>
                  </a:lnTo>
                  <a:lnTo>
                    <a:pt x="67" y="308"/>
                  </a:lnTo>
                  <a:lnTo>
                    <a:pt x="67" y="308"/>
                  </a:lnTo>
                  <a:lnTo>
                    <a:pt x="69" y="308"/>
                  </a:lnTo>
                  <a:lnTo>
                    <a:pt x="71" y="310"/>
                  </a:lnTo>
                  <a:lnTo>
                    <a:pt x="71" y="310"/>
                  </a:lnTo>
                  <a:lnTo>
                    <a:pt x="73" y="310"/>
                  </a:lnTo>
                  <a:lnTo>
                    <a:pt x="73" y="312"/>
                  </a:lnTo>
                  <a:lnTo>
                    <a:pt x="73" y="312"/>
                  </a:lnTo>
                  <a:lnTo>
                    <a:pt x="73" y="314"/>
                  </a:lnTo>
                  <a:lnTo>
                    <a:pt x="73" y="314"/>
                  </a:lnTo>
                  <a:lnTo>
                    <a:pt x="71" y="316"/>
                  </a:lnTo>
                  <a:lnTo>
                    <a:pt x="71" y="316"/>
                  </a:lnTo>
                  <a:lnTo>
                    <a:pt x="71" y="316"/>
                  </a:lnTo>
                  <a:lnTo>
                    <a:pt x="71" y="318"/>
                  </a:lnTo>
                  <a:lnTo>
                    <a:pt x="71" y="318"/>
                  </a:lnTo>
                  <a:lnTo>
                    <a:pt x="73" y="318"/>
                  </a:lnTo>
                  <a:lnTo>
                    <a:pt x="73" y="320"/>
                  </a:lnTo>
                  <a:lnTo>
                    <a:pt x="73" y="320"/>
                  </a:lnTo>
                  <a:lnTo>
                    <a:pt x="73" y="322"/>
                  </a:lnTo>
                  <a:lnTo>
                    <a:pt x="71" y="325"/>
                  </a:lnTo>
                  <a:lnTo>
                    <a:pt x="71" y="325"/>
                  </a:lnTo>
                  <a:lnTo>
                    <a:pt x="71" y="327"/>
                  </a:lnTo>
                  <a:lnTo>
                    <a:pt x="71" y="329"/>
                  </a:lnTo>
                  <a:lnTo>
                    <a:pt x="71" y="331"/>
                  </a:lnTo>
                  <a:lnTo>
                    <a:pt x="71" y="331"/>
                  </a:lnTo>
                  <a:lnTo>
                    <a:pt x="73" y="333"/>
                  </a:lnTo>
                  <a:lnTo>
                    <a:pt x="73" y="335"/>
                  </a:lnTo>
                  <a:lnTo>
                    <a:pt x="73" y="337"/>
                  </a:lnTo>
                  <a:lnTo>
                    <a:pt x="73" y="339"/>
                  </a:lnTo>
                  <a:lnTo>
                    <a:pt x="73" y="339"/>
                  </a:lnTo>
                  <a:lnTo>
                    <a:pt x="73" y="341"/>
                  </a:lnTo>
                  <a:lnTo>
                    <a:pt x="75" y="341"/>
                  </a:lnTo>
                  <a:lnTo>
                    <a:pt x="75" y="343"/>
                  </a:lnTo>
                  <a:lnTo>
                    <a:pt x="77" y="343"/>
                  </a:lnTo>
                  <a:lnTo>
                    <a:pt x="77" y="346"/>
                  </a:lnTo>
                  <a:lnTo>
                    <a:pt x="77" y="346"/>
                  </a:lnTo>
                  <a:lnTo>
                    <a:pt x="78" y="348"/>
                  </a:lnTo>
                  <a:lnTo>
                    <a:pt x="78" y="350"/>
                  </a:lnTo>
                  <a:lnTo>
                    <a:pt x="78" y="350"/>
                  </a:lnTo>
                  <a:lnTo>
                    <a:pt x="78" y="352"/>
                  </a:lnTo>
                  <a:lnTo>
                    <a:pt x="78" y="358"/>
                  </a:lnTo>
                  <a:lnTo>
                    <a:pt x="78" y="360"/>
                  </a:lnTo>
                  <a:lnTo>
                    <a:pt x="78" y="360"/>
                  </a:lnTo>
                  <a:lnTo>
                    <a:pt x="77" y="360"/>
                  </a:lnTo>
                  <a:lnTo>
                    <a:pt x="75" y="362"/>
                  </a:lnTo>
                  <a:lnTo>
                    <a:pt x="75" y="362"/>
                  </a:lnTo>
                  <a:lnTo>
                    <a:pt x="75" y="362"/>
                  </a:lnTo>
                  <a:lnTo>
                    <a:pt x="75" y="362"/>
                  </a:lnTo>
                  <a:lnTo>
                    <a:pt x="73" y="362"/>
                  </a:lnTo>
                  <a:lnTo>
                    <a:pt x="73" y="363"/>
                  </a:lnTo>
                  <a:lnTo>
                    <a:pt x="73" y="363"/>
                  </a:lnTo>
                  <a:lnTo>
                    <a:pt x="73" y="363"/>
                  </a:lnTo>
                  <a:lnTo>
                    <a:pt x="73" y="367"/>
                  </a:lnTo>
                  <a:lnTo>
                    <a:pt x="71" y="371"/>
                  </a:lnTo>
                  <a:lnTo>
                    <a:pt x="71" y="371"/>
                  </a:lnTo>
                  <a:lnTo>
                    <a:pt x="71" y="373"/>
                  </a:lnTo>
                  <a:lnTo>
                    <a:pt x="71" y="375"/>
                  </a:lnTo>
                  <a:lnTo>
                    <a:pt x="71" y="377"/>
                  </a:lnTo>
                  <a:lnTo>
                    <a:pt x="69" y="375"/>
                  </a:lnTo>
                  <a:lnTo>
                    <a:pt x="69" y="375"/>
                  </a:lnTo>
                  <a:lnTo>
                    <a:pt x="67" y="373"/>
                  </a:lnTo>
                  <a:lnTo>
                    <a:pt x="67" y="373"/>
                  </a:lnTo>
                  <a:lnTo>
                    <a:pt x="67" y="373"/>
                  </a:lnTo>
                  <a:lnTo>
                    <a:pt x="67" y="373"/>
                  </a:lnTo>
                  <a:lnTo>
                    <a:pt x="65" y="375"/>
                  </a:lnTo>
                  <a:lnTo>
                    <a:pt x="65" y="377"/>
                  </a:lnTo>
                  <a:lnTo>
                    <a:pt x="63" y="379"/>
                  </a:lnTo>
                  <a:lnTo>
                    <a:pt x="63" y="379"/>
                  </a:lnTo>
                  <a:lnTo>
                    <a:pt x="61" y="379"/>
                  </a:lnTo>
                  <a:lnTo>
                    <a:pt x="58" y="381"/>
                  </a:lnTo>
                  <a:lnTo>
                    <a:pt x="58" y="381"/>
                  </a:lnTo>
                  <a:lnTo>
                    <a:pt x="56" y="381"/>
                  </a:lnTo>
                  <a:lnTo>
                    <a:pt x="56" y="381"/>
                  </a:lnTo>
                  <a:lnTo>
                    <a:pt x="54" y="383"/>
                  </a:lnTo>
                  <a:lnTo>
                    <a:pt x="54" y="383"/>
                  </a:lnTo>
                  <a:lnTo>
                    <a:pt x="52" y="384"/>
                  </a:lnTo>
                  <a:lnTo>
                    <a:pt x="52" y="384"/>
                  </a:lnTo>
                  <a:lnTo>
                    <a:pt x="52" y="386"/>
                  </a:lnTo>
                  <a:lnTo>
                    <a:pt x="50" y="386"/>
                  </a:lnTo>
                  <a:lnTo>
                    <a:pt x="50" y="386"/>
                  </a:lnTo>
                  <a:lnTo>
                    <a:pt x="50" y="386"/>
                  </a:lnTo>
                  <a:lnTo>
                    <a:pt x="48" y="386"/>
                  </a:lnTo>
                  <a:lnTo>
                    <a:pt x="48" y="388"/>
                  </a:lnTo>
                  <a:lnTo>
                    <a:pt x="48" y="388"/>
                  </a:lnTo>
                  <a:lnTo>
                    <a:pt x="50" y="388"/>
                  </a:lnTo>
                  <a:lnTo>
                    <a:pt x="50" y="388"/>
                  </a:lnTo>
                  <a:lnTo>
                    <a:pt x="52" y="390"/>
                  </a:lnTo>
                  <a:lnTo>
                    <a:pt x="52" y="390"/>
                  </a:lnTo>
                  <a:lnTo>
                    <a:pt x="52" y="392"/>
                  </a:lnTo>
                  <a:lnTo>
                    <a:pt x="52" y="394"/>
                  </a:lnTo>
                  <a:lnTo>
                    <a:pt x="52" y="394"/>
                  </a:lnTo>
                  <a:lnTo>
                    <a:pt x="52" y="394"/>
                  </a:lnTo>
                  <a:lnTo>
                    <a:pt x="50" y="396"/>
                  </a:lnTo>
                  <a:lnTo>
                    <a:pt x="50" y="396"/>
                  </a:lnTo>
                  <a:lnTo>
                    <a:pt x="48" y="398"/>
                  </a:lnTo>
                  <a:lnTo>
                    <a:pt x="46" y="400"/>
                  </a:lnTo>
                  <a:lnTo>
                    <a:pt x="42" y="402"/>
                  </a:lnTo>
                  <a:lnTo>
                    <a:pt x="40" y="405"/>
                  </a:lnTo>
                  <a:lnTo>
                    <a:pt x="38" y="405"/>
                  </a:lnTo>
                  <a:lnTo>
                    <a:pt x="37" y="409"/>
                  </a:lnTo>
                  <a:lnTo>
                    <a:pt x="33" y="413"/>
                  </a:lnTo>
                  <a:lnTo>
                    <a:pt x="33" y="415"/>
                  </a:lnTo>
                  <a:lnTo>
                    <a:pt x="33" y="415"/>
                  </a:lnTo>
                  <a:lnTo>
                    <a:pt x="31" y="415"/>
                  </a:lnTo>
                  <a:lnTo>
                    <a:pt x="29" y="415"/>
                  </a:lnTo>
                  <a:lnTo>
                    <a:pt x="29" y="417"/>
                  </a:lnTo>
                  <a:lnTo>
                    <a:pt x="27" y="417"/>
                  </a:lnTo>
                  <a:lnTo>
                    <a:pt x="27" y="417"/>
                  </a:lnTo>
                  <a:lnTo>
                    <a:pt x="25" y="419"/>
                  </a:lnTo>
                  <a:lnTo>
                    <a:pt x="25" y="419"/>
                  </a:lnTo>
                  <a:lnTo>
                    <a:pt x="25" y="421"/>
                  </a:lnTo>
                  <a:lnTo>
                    <a:pt x="19" y="422"/>
                  </a:lnTo>
                  <a:lnTo>
                    <a:pt x="18" y="422"/>
                  </a:lnTo>
                  <a:lnTo>
                    <a:pt x="18" y="422"/>
                  </a:lnTo>
                  <a:lnTo>
                    <a:pt x="18" y="422"/>
                  </a:lnTo>
                  <a:lnTo>
                    <a:pt x="16" y="422"/>
                  </a:lnTo>
                  <a:lnTo>
                    <a:pt x="16" y="422"/>
                  </a:lnTo>
                  <a:lnTo>
                    <a:pt x="16" y="422"/>
                  </a:lnTo>
                  <a:lnTo>
                    <a:pt x="14" y="426"/>
                  </a:lnTo>
                  <a:lnTo>
                    <a:pt x="14" y="428"/>
                  </a:lnTo>
                  <a:lnTo>
                    <a:pt x="14" y="428"/>
                  </a:lnTo>
                  <a:lnTo>
                    <a:pt x="12" y="428"/>
                  </a:lnTo>
                  <a:lnTo>
                    <a:pt x="12" y="430"/>
                  </a:lnTo>
                  <a:lnTo>
                    <a:pt x="12" y="430"/>
                  </a:lnTo>
                  <a:lnTo>
                    <a:pt x="12" y="430"/>
                  </a:lnTo>
                  <a:lnTo>
                    <a:pt x="14" y="432"/>
                  </a:lnTo>
                  <a:lnTo>
                    <a:pt x="14" y="432"/>
                  </a:lnTo>
                  <a:lnTo>
                    <a:pt x="14" y="434"/>
                  </a:lnTo>
                  <a:lnTo>
                    <a:pt x="14" y="436"/>
                  </a:lnTo>
                  <a:lnTo>
                    <a:pt x="14" y="438"/>
                  </a:lnTo>
                  <a:lnTo>
                    <a:pt x="12" y="440"/>
                  </a:lnTo>
                  <a:lnTo>
                    <a:pt x="12" y="441"/>
                  </a:lnTo>
                  <a:lnTo>
                    <a:pt x="12" y="441"/>
                  </a:lnTo>
                  <a:lnTo>
                    <a:pt x="12" y="441"/>
                  </a:lnTo>
                  <a:lnTo>
                    <a:pt x="10" y="443"/>
                  </a:lnTo>
                  <a:lnTo>
                    <a:pt x="10" y="443"/>
                  </a:lnTo>
                  <a:lnTo>
                    <a:pt x="10" y="443"/>
                  </a:lnTo>
                  <a:lnTo>
                    <a:pt x="10" y="445"/>
                  </a:lnTo>
                  <a:lnTo>
                    <a:pt x="10" y="445"/>
                  </a:lnTo>
                  <a:lnTo>
                    <a:pt x="10" y="449"/>
                  </a:lnTo>
                  <a:lnTo>
                    <a:pt x="10" y="451"/>
                  </a:lnTo>
                  <a:lnTo>
                    <a:pt x="10" y="453"/>
                  </a:lnTo>
                  <a:lnTo>
                    <a:pt x="8" y="453"/>
                  </a:lnTo>
                  <a:lnTo>
                    <a:pt x="8" y="453"/>
                  </a:lnTo>
                  <a:lnTo>
                    <a:pt x="8" y="455"/>
                  </a:lnTo>
                  <a:lnTo>
                    <a:pt x="6" y="455"/>
                  </a:lnTo>
                  <a:lnTo>
                    <a:pt x="6" y="457"/>
                  </a:lnTo>
                  <a:lnTo>
                    <a:pt x="6" y="457"/>
                  </a:lnTo>
                  <a:lnTo>
                    <a:pt x="6" y="459"/>
                  </a:lnTo>
                  <a:lnTo>
                    <a:pt x="6" y="460"/>
                  </a:lnTo>
                  <a:lnTo>
                    <a:pt x="6" y="460"/>
                  </a:lnTo>
                  <a:lnTo>
                    <a:pt x="6" y="460"/>
                  </a:lnTo>
                  <a:lnTo>
                    <a:pt x="6" y="460"/>
                  </a:lnTo>
                  <a:lnTo>
                    <a:pt x="4" y="460"/>
                  </a:lnTo>
                  <a:lnTo>
                    <a:pt x="4" y="460"/>
                  </a:lnTo>
                  <a:lnTo>
                    <a:pt x="4" y="459"/>
                  </a:lnTo>
                  <a:lnTo>
                    <a:pt x="4" y="459"/>
                  </a:lnTo>
                  <a:lnTo>
                    <a:pt x="2" y="459"/>
                  </a:lnTo>
                  <a:lnTo>
                    <a:pt x="2" y="459"/>
                  </a:lnTo>
                  <a:lnTo>
                    <a:pt x="2" y="460"/>
                  </a:lnTo>
                  <a:lnTo>
                    <a:pt x="2" y="460"/>
                  </a:lnTo>
                  <a:lnTo>
                    <a:pt x="2" y="460"/>
                  </a:lnTo>
                  <a:lnTo>
                    <a:pt x="2" y="462"/>
                  </a:lnTo>
                  <a:lnTo>
                    <a:pt x="0" y="464"/>
                  </a:lnTo>
                  <a:lnTo>
                    <a:pt x="0" y="466"/>
                  </a:lnTo>
                  <a:lnTo>
                    <a:pt x="2" y="468"/>
                  </a:lnTo>
                  <a:lnTo>
                    <a:pt x="6" y="468"/>
                  </a:lnTo>
                  <a:lnTo>
                    <a:pt x="8" y="468"/>
                  </a:lnTo>
                  <a:lnTo>
                    <a:pt x="8" y="468"/>
                  </a:lnTo>
                  <a:lnTo>
                    <a:pt x="10" y="468"/>
                  </a:lnTo>
                  <a:lnTo>
                    <a:pt x="10" y="468"/>
                  </a:lnTo>
                  <a:lnTo>
                    <a:pt x="10" y="468"/>
                  </a:lnTo>
                  <a:lnTo>
                    <a:pt x="12" y="466"/>
                  </a:lnTo>
                  <a:lnTo>
                    <a:pt x="12" y="466"/>
                  </a:lnTo>
                  <a:lnTo>
                    <a:pt x="12" y="466"/>
                  </a:lnTo>
                  <a:lnTo>
                    <a:pt x="14" y="466"/>
                  </a:lnTo>
                  <a:lnTo>
                    <a:pt x="18" y="468"/>
                  </a:lnTo>
                  <a:lnTo>
                    <a:pt x="19" y="468"/>
                  </a:lnTo>
                  <a:lnTo>
                    <a:pt x="21" y="466"/>
                  </a:lnTo>
                  <a:lnTo>
                    <a:pt x="23" y="464"/>
                  </a:lnTo>
                  <a:lnTo>
                    <a:pt x="25" y="464"/>
                  </a:lnTo>
                  <a:lnTo>
                    <a:pt x="25" y="462"/>
                  </a:lnTo>
                  <a:lnTo>
                    <a:pt x="29" y="462"/>
                  </a:lnTo>
                  <a:lnTo>
                    <a:pt x="31" y="462"/>
                  </a:lnTo>
                  <a:lnTo>
                    <a:pt x="31" y="460"/>
                  </a:lnTo>
                  <a:lnTo>
                    <a:pt x="33" y="460"/>
                  </a:lnTo>
                  <a:lnTo>
                    <a:pt x="33" y="459"/>
                  </a:lnTo>
                  <a:lnTo>
                    <a:pt x="35" y="457"/>
                  </a:lnTo>
                  <a:lnTo>
                    <a:pt x="42" y="455"/>
                  </a:lnTo>
                  <a:lnTo>
                    <a:pt x="50" y="449"/>
                  </a:lnTo>
                  <a:lnTo>
                    <a:pt x="54" y="449"/>
                  </a:lnTo>
                  <a:lnTo>
                    <a:pt x="58" y="447"/>
                  </a:lnTo>
                  <a:lnTo>
                    <a:pt x="61" y="443"/>
                  </a:lnTo>
                  <a:lnTo>
                    <a:pt x="65" y="443"/>
                  </a:lnTo>
                  <a:lnTo>
                    <a:pt x="69" y="445"/>
                  </a:lnTo>
                  <a:lnTo>
                    <a:pt x="71" y="445"/>
                  </a:lnTo>
                  <a:lnTo>
                    <a:pt x="73" y="447"/>
                  </a:lnTo>
                  <a:lnTo>
                    <a:pt x="75" y="449"/>
                  </a:lnTo>
                  <a:lnTo>
                    <a:pt x="75" y="449"/>
                  </a:lnTo>
                  <a:lnTo>
                    <a:pt x="75" y="449"/>
                  </a:lnTo>
                  <a:lnTo>
                    <a:pt x="77" y="449"/>
                  </a:lnTo>
                  <a:lnTo>
                    <a:pt x="77" y="449"/>
                  </a:lnTo>
                  <a:lnTo>
                    <a:pt x="78" y="449"/>
                  </a:lnTo>
                  <a:lnTo>
                    <a:pt x="78" y="449"/>
                  </a:lnTo>
                  <a:lnTo>
                    <a:pt x="80" y="449"/>
                  </a:lnTo>
                  <a:lnTo>
                    <a:pt x="80" y="449"/>
                  </a:lnTo>
                  <a:lnTo>
                    <a:pt x="80" y="447"/>
                  </a:lnTo>
                  <a:lnTo>
                    <a:pt x="82" y="447"/>
                  </a:lnTo>
                  <a:lnTo>
                    <a:pt x="82" y="445"/>
                  </a:lnTo>
                  <a:lnTo>
                    <a:pt x="82" y="445"/>
                  </a:lnTo>
                  <a:lnTo>
                    <a:pt x="84" y="443"/>
                  </a:lnTo>
                  <a:lnTo>
                    <a:pt x="86" y="445"/>
                  </a:lnTo>
                  <a:lnTo>
                    <a:pt x="88" y="443"/>
                  </a:lnTo>
                  <a:lnTo>
                    <a:pt x="88" y="443"/>
                  </a:lnTo>
                  <a:lnTo>
                    <a:pt x="88" y="441"/>
                  </a:lnTo>
                  <a:lnTo>
                    <a:pt x="88" y="441"/>
                  </a:lnTo>
                  <a:lnTo>
                    <a:pt x="88" y="440"/>
                  </a:lnTo>
                  <a:lnTo>
                    <a:pt x="88" y="438"/>
                  </a:lnTo>
                  <a:lnTo>
                    <a:pt x="88" y="438"/>
                  </a:lnTo>
                  <a:lnTo>
                    <a:pt x="90" y="436"/>
                  </a:lnTo>
                  <a:lnTo>
                    <a:pt x="90" y="436"/>
                  </a:lnTo>
                  <a:lnTo>
                    <a:pt x="90" y="436"/>
                  </a:lnTo>
                  <a:lnTo>
                    <a:pt x="90" y="434"/>
                  </a:lnTo>
                  <a:lnTo>
                    <a:pt x="90" y="434"/>
                  </a:lnTo>
                  <a:lnTo>
                    <a:pt x="88" y="432"/>
                  </a:lnTo>
                  <a:lnTo>
                    <a:pt x="86" y="430"/>
                  </a:lnTo>
                  <a:lnTo>
                    <a:pt x="86" y="430"/>
                  </a:lnTo>
                  <a:lnTo>
                    <a:pt x="86" y="428"/>
                  </a:lnTo>
                  <a:lnTo>
                    <a:pt x="86" y="428"/>
                  </a:lnTo>
                  <a:lnTo>
                    <a:pt x="90" y="422"/>
                  </a:lnTo>
                  <a:lnTo>
                    <a:pt x="90" y="421"/>
                  </a:lnTo>
                  <a:lnTo>
                    <a:pt x="90" y="421"/>
                  </a:lnTo>
                  <a:lnTo>
                    <a:pt x="90" y="419"/>
                  </a:lnTo>
                  <a:lnTo>
                    <a:pt x="90" y="417"/>
                  </a:lnTo>
                  <a:lnTo>
                    <a:pt x="90" y="417"/>
                  </a:lnTo>
                  <a:lnTo>
                    <a:pt x="90" y="417"/>
                  </a:lnTo>
                  <a:lnTo>
                    <a:pt x="92" y="413"/>
                  </a:lnTo>
                  <a:lnTo>
                    <a:pt x="92" y="411"/>
                  </a:lnTo>
                  <a:lnTo>
                    <a:pt x="92" y="409"/>
                  </a:lnTo>
                  <a:lnTo>
                    <a:pt x="92" y="409"/>
                  </a:lnTo>
                  <a:lnTo>
                    <a:pt x="92" y="407"/>
                  </a:lnTo>
                  <a:lnTo>
                    <a:pt x="92" y="407"/>
                  </a:lnTo>
                  <a:lnTo>
                    <a:pt x="96" y="403"/>
                  </a:lnTo>
                  <a:lnTo>
                    <a:pt x="96" y="402"/>
                  </a:lnTo>
                  <a:lnTo>
                    <a:pt x="98" y="400"/>
                  </a:lnTo>
                  <a:lnTo>
                    <a:pt x="98" y="398"/>
                  </a:lnTo>
                  <a:lnTo>
                    <a:pt x="99" y="398"/>
                  </a:lnTo>
                  <a:lnTo>
                    <a:pt x="101" y="398"/>
                  </a:lnTo>
                  <a:lnTo>
                    <a:pt x="101" y="400"/>
                  </a:lnTo>
                  <a:lnTo>
                    <a:pt x="103" y="400"/>
                  </a:lnTo>
                  <a:lnTo>
                    <a:pt x="103" y="400"/>
                  </a:lnTo>
                  <a:lnTo>
                    <a:pt x="103" y="400"/>
                  </a:lnTo>
                  <a:lnTo>
                    <a:pt x="105" y="400"/>
                  </a:lnTo>
                  <a:lnTo>
                    <a:pt x="105" y="400"/>
                  </a:lnTo>
                  <a:lnTo>
                    <a:pt x="105" y="402"/>
                  </a:lnTo>
                  <a:lnTo>
                    <a:pt x="105" y="402"/>
                  </a:lnTo>
                  <a:lnTo>
                    <a:pt x="105" y="402"/>
                  </a:lnTo>
                  <a:lnTo>
                    <a:pt x="105" y="403"/>
                  </a:lnTo>
                  <a:lnTo>
                    <a:pt x="105" y="403"/>
                  </a:lnTo>
                  <a:lnTo>
                    <a:pt x="105" y="405"/>
                  </a:lnTo>
                  <a:lnTo>
                    <a:pt x="105" y="407"/>
                  </a:lnTo>
                  <a:lnTo>
                    <a:pt x="105" y="407"/>
                  </a:lnTo>
                  <a:lnTo>
                    <a:pt x="105" y="409"/>
                  </a:lnTo>
                  <a:lnTo>
                    <a:pt x="107" y="409"/>
                  </a:lnTo>
                  <a:lnTo>
                    <a:pt x="111" y="415"/>
                  </a:lnTo>
                  <a:lnTo>
                    <a:pt x="111" y="415"/>
                  </a:lnTo>
                  <a:lnTo>
                    <a:pt x="113" y="415"/>
                  </a:lnTo>
                  <a:lnTo>
                    <a:pt x="113" y="417"/>
                  </a:lnTo>
                  <a:lnTo>
                    <a:pt x="113" y="417"/>
                  </a:lnTo>
                  <a:lnTo>
                    <a:pt x="113" y="417"/>
                  </a:lnTo>
                  <a:lnTo>
                    <a:pt x="113" y="419"/>
                  </a:lnTo>
                  <a:lnTo>
                    <a:pt x="111" y="421"/>
                  </a:lnTo>
                  <a:lnTo>
                    <a:pt x="111" y="422"/>
                  </a:lnTo>
                  <a:lnTo>
                    <a:pt x="111" y="422"/>
                  </a:lnTo>
                  <a:lnTo>
                    <a:pt x="111" y="424"/>
                  </a:lnTo>
                  <a:lnTo>
                    <a:pt x="111" y="424"/>
                  </a:lnTo>
                  <a:lnTo>
                    <a:pt x="113" y="424"/>
                  </a:lnTo>
                  <a:lnTo>
                    <a:pt x="113" y="426"/>
                  </a:lnTo>
                  <a:lnTo>
                    <a:pt x="115" y="426"/>
                  </a:lnTo>
                  <a:lnTo>
                    <a:pt x="115" y="426"/>
                  </a:lnTo>
                  <a:lnTo>
                    <a:pt x="117" y="426"/>
                  </a:lnTo>
                  <a:lnTo>
                    <a:pt x="117" y="426"/>
                  </a:lnTo>
                  <a:lnTo>
                    <a:pt x="119" y="424"/>
                  </a:lnTo>
                  <a:lnTo>
                    <a:pt x="119" y="424"/>
                  </a:lnTo>
                  <a:lnTo>
                    <a:pt x="119" y="422"/>
                  </a:lnTo>
                  <a:lnTo>
                    <a:pt x="119" y="421"/>
                  </a:lnTo>
                  <a:lnTo>
                    <a:pt x="119" y="421"/>
                  </a:lnTo>
                  <a:lnTo>
                    <a:pt x="120" y="421"/>
                  </a:lnTo>
                  <a:lnTo>
                    <a:pt x="122" y="419"/>
                  </a:lnTo>
                  <a:lnTo>
                    <a:pt x="124" y="417"/>
                  </a:lnTo>
                  <a:lnTo>
                    <a:pt x="128" y="415"/>
                  </a:lnTo>
                  <a:lnTo>
                    <a:pt x="128" y="415"/>
                  </a:lnTo>
                  <a:lnTo>
                    <a:pt x="130" y="413"/>
                  </a:lnTo>
                  <a:lnTo>
                    <a:pt x="130" y="413"/>
                  </a:lnTo>
                  <a:lnTo>
                    <a:pt x="130" y="411"/>
                  </a:lnTo>
                  <a:lnTo>
                    <a:pt x="130" y="409"/>
                  </a:lnTo>
                  <a:lnTo>
                    <a:pt x="130" y="407"/>
                  </a:lnTo>
                  <a:lnTo>
                    <a:pt x="130" y="407"/>
                  </a:lnTo>
                  <a:lnTo>
                    <a:pt x="132" y="407"/>
                  </a:lnTo>
                  <a:lnTo>
                    <a:pt x="134" y="407"/>
                  </a:lnTo>
                  <a:lnTo>
                    <a:pt x="134" y="407"/>
                  </a:lnTo>
                  <a:lnTo>
                    <a:pt x="136" y="407"/>
                  </a:lnTo>
                  <a:lnTo>
                    <a:pt x="136" y="409"/>
                  </a:lnTo>
                  <a:lnTo>
                    <a:pt x="138" y="409"/>
                  </a:lnTo>
                  <a:lnTo>
                    <a:pt x="139" y="409"/>
                  </a:lnTo>
                  <a:lnTo>
                    <a:pt x="139" y="409"/>
                  </a:lnTo>
                  <a:lnTo>
                    <a:pt x="139" y="409"/>
                  </a:lnTo>
                  <a:lnTo>
                    <a:pt x="139" y="411"/>
                  </a:lnTo>
                  <a:lnTo>
                    <a:pt x="139" y="413"/>
                  </a:lnTo>
                  <a:lnTo>
                    <a:pt x="139" y="413"/>
                  </a:lnTo>
                  <a:lnTo>
                    <a:pt x="139" y="413"/>
                  </a:lnTo>
                  <a:lnTo>
                    <a:pt x="141" y="415"/>
                  </a:lnTo>
                  <a:lnTo>
                    <a:pt x="145" y="413"/>
                  </a:lnTo>
                  <a:lnTo>
                    <a:pt x="145" y="413"/>
                  </a:lnTo>
                  <a:lnTo>
                    <a:pt x="149" y="413"/>
                  </a:lnTo>
                  <a:lnTo>
                    <a:pt x="149" y="411"/>
                  </a:lnTo>
                  <a:lnTo>
                    <a:pt x="151" y="411"/>
                  </a:lnTo>
                  <a:lnTo>
                    <a:pt x="151" y="411"/>
                  </a:lnTo>
                  <a:lnTo>
                    <a:pt x="153" y="411"/>
                  </a:lnTo>
                  <a:lnTo>
                    <a:pt x="153" y="411"/>
                  </a:lnTo>
                  <a:lnTo>
                    <a:pt x="155" y="407"/>
                  </a:lnTo>
                  <a:lnTo>
                    <a:pt x="153" y="407"/>
                  </a:lnTo>
                  <a:lnTo>
                    <a:pt x="153" y="405"/>
                  </a:lnTo>
                  <a:lnTo>
                    <a:pt x="153" y="405"/>
                  </a:lnTo>
                  <a:lnTo>
                    <a:pt x="153" y="405"/>
                  </a:lnTo>
                  <a:lnTo>
                    <a:pt x="153" y="403"/>
                  </a:lnTo>
                  <a:lnTo>
                    <a:pt x="153" y="403"/>
                  </a:lnTo>
                  <a:lnTo>
                    <a:pt x="157" y="398"/>
                  </a:lnTo>
                  <a:lnTo>
                    <a:pt x="157" y="396"/>
                  </a:lnTo>
                  <a:lnTo>
                    <a:pt x="157" y="396"/>
                  </a:lnTo>
                  <a:lnTo>
                    <a:pt x="157" y="396"/>
                  </a:lnTo>
                  <a:lnTo>
                    <a:pt x="157" y="396"/>
                  </a:lnTo>
                  <a:lnTo>
                    <a:pt x="155" y="396"/>
                  </a:lnTo>
                  <a:lnTo>
                    <a:pt x="155" y="396"/>
                  </a:lnTo>
                  <a:lnTo>
                    <a:pt x="155" y="396"/>
                  </a:lnTo>
                  <a:lnTo>
                    <a:pt x="153" y="394"/>
                  </a:lnTo>
                  <a:lnTo>
                    <a:pt x="151" y="392"/>
                  </a:lnTo>
                  <a:lnTo>
                    <a:pt x="151" y="390"/>
                  </a:lnTo>
                  <a:lnTo>
                    <a:pt x="151" y="390"/>
                  </a:lnTo>
                  <a:lnTo>
                    <a:pt x="153" y="388"/>
                  </a:lnTo>
                  <a:lnTo>
                    <a:pt x="153" y="388"/>
                  </a:lnTo>
                  <a:lnTo>
                    <a:pt x="153" y="388"/>
                  </a:lnTo>
                  <a:lnTo>
                    <a:pt x="153" y="386"/>
                  </a:lnTo>
                  <a:lnTo>
                    <a:pt x="153" y="386"/>
                  </a:lnTo>
                  <a:lnTo>
                    <a:pt x="155" y="384"/>
                  </a:lnTo>
                  <a:lnTo>
                    <a:pt x="157" y="383"/>
                  </a:lnTo>
                  <a:lnTo>
                    <a:pt x="157" y="381"/>
                  </a:lnTo>
                  <a:lnTo>
                    <a:pt x="159" y="379"/>
                  </a:lnTo>
                  <a:lnTo>
                    <a:pt x="160" y="377"/>
                  </a:lnTo>
                  <a:lnTo>
                    <a:pt x="162" y="375"/>
                  </a:lnTo>
                  <a:lnTo>
                    <a:pt x="162" y="375"/>
                  </a:lnTo>
                  <a:lnTo>
                    <a:pt x="164" y="375"/>
                  </a:lnTo>
                  <a:lnTo>
                    <a:pt x="164" y="375"/>
                  </a:lnTo>
                  <a:lnTo>
                    <a:pt x="166" y="375"/>
                  </a:lnTo>
                  <a:lnTo>
                    <a:pt x="166" y="375"/>
                  </a:lnTo>
                  <a:lnTo>
                    <a:pt x="168" y="377"/>
                  </a:lnTo>
                  <a:lnTo>
                    <a:pt x="168" y="377"/>
                  </a:lnTo>
                  <a:lnTo>
                    <a:pt x="174" y="375"/>
                  </a:lnTo>
                  <a:lnTo>
                    <a:pt x="176" y="373"/>
                  </a:lnTo>
                  <a:lnTo>
                    <a:pt x="178" y="371"/>
                  </a:lnTo>
                  <a:lnTo>
                    <a:pt x="179" y="369"/>
                  </a:lnTo>
                  <a:lnTo>
                    <a:pt x="181" y="367"/>
                  </a:lnTo>
                  <a:lnTo>
                    <a:pt x="183" y="367"/>
                  </a:lnTo>
                  <a:lnTo>
                    <a:pt x="185" y="367"/>
                  </a:lnTo>
                  <a:lnTo>
                    <a:pt x="185" y="365"/>
                  </a:lnTo>
                  <a:lnTo>
                    <a:pt x="187" y="365"/>
                  </a:lnTo>
                  <a:lnTo>
                    <a:pt x="187" y="363"/>
                  </a:lnTo>
                  <a:lnTo>
                    <a:pt x="185" y="363"/>
                  </a:lnTo>
                  <a:lnTo>
                    <a:pt x="185" y="363"/>
                  </a:lnTo>
                  <a:lnTo>
                    <a:pt x="185" y="363"/>
                  </a:lnTo>
                  <a:lnTo>
                    <a:pt x="185" y="363"/>
                  </a:lnTo>
                  <a:lnTo>
                    <a:pt x="185" y="362"/>
                  </a:lnTo>
                  <a:lnTo>
                    <a:pt x="183" y="362"/>
                  </a:lnTo>
                  <a:lnTo>
                    <a:pt x="183" y="362"/>
                  </a:lnTo>
                  <a:lnTo>
                    <a:pt x="183" y="362"/>
                  </a:lnTo>
                  <a:lnTo>
                    <a:pt x="183" y="362"/>
                  </a:lnTo>
                  <a:lnTo>
                    <a:pt x="181" y="362"/>
                  </a:lnTo>
                  <a:lnTo>
                    <a:pt x="181" y="360"/>
                  </a:lnTo>
                  <a:lnTo>
                    <a:pt x="179" y="358"/>
                  </a:lnTo>
                  <a:lnTo>
                    <a:pt x="179" y="358"/>
                  </a:lnTo>
                  <a:lnTo>
                    <a:pt x="179" y="356"/>
                  </a:lnTo>
                  <a:lnTo>
                    <a:pt x="179" y="356"/>
                  </a:lnTo>
                  <a:lnTo>
                    <a:pt x="178" y="354"/>
                  </a:lnTo>
                  <a:lnTo>
                    <a:pt x="178" y="354"/>
                  </a:lnTo>
                  <a:lnTo>
                    <a:pt x="178" y="354"/>
                  </a:lnTo>
                  <a:lnTo>
                    <a:pt x="178" y="352"/>
                  </a:lnTo>
                  <a:lnTo>
                    <a:pt x="178" y="352"/>
                  </a:lnTo>
                  <a:lnTo>
                    <a:pt x="179" y="352"/>
                  </a:lnTo>
                  <a:lnTo>
                    <a:pt x="179" y="350"/>
                  </a:lnTo>
                  <a:lnTo>
                    <a:pt x="179" y="350"/>
                  </a:lnTo>
                  <a:lnTo>
                    <a:pt x="181" y="350"/>
                  </a:lnTo>
                  <a:lnTo>
                    <a:pt x="183" y="352"/>
                  </a:lnTo>
                  <a:lnTo>
                    <a:pt x="183" y="352"/>
                  </a:lnTo>
                  <a:lnTo>
                    <a:pt x="183" y="352"/>
                  </a:lnTo>
                  <a:lnTo>
                    <a:pt x="185" y="352"/>
                  </a:lnTo>
                  <a:lnTo>
                    <a:pt x="187" y="354"/>
                  </a:lnTo>
                  <a:lnTo>
                    <a:pt x="189" y="354"/>
                  </a:lnTo>
                  <a:lnTo>
                    <a:pt x="191" y="356"/>
                  </a:lnTo>
                  <a:lnTo>
                    <a:pt x="191" y="354"/>
                  </a:lnTo>
                  <a:lnTo>
                    <a:pt x="191" y="354"/>
                  </a:lnTo>
                  <a:lnTo>
                    <a:pt x="191" y="352"/>
                  </a:lnTo>
                  <a:lnTo>
                    <a:pt x="191" y="352"/>
                  </a:lnTo>
                  <a:lnTo>
                    <a:pt x="191" y="352"/>
                  </a:lnTo>
                  <a:lnTo>
                    <a:pt x="191" y="352"/>
                  </a:lnTo>
                  <a:lnTo>
                    <a:pt x="191" y="350"/>
                  </a:lnTo>
                  <a:lnTo>
                    <a:pt x="191" y="350"/>
                  </a:lnTo>
                  <a:lnTo>
                    <a:pt x="193" y="350"/>
                  </a:lnTo>
                  <a:lnTo>
                    <a:pt x="193" y="350"/>
                  </a:lnTo>
                  <a:lnTo>
                    <a:pt x="193" y="348"/>
                  </a:lnTo>
                  <a:lnTo>
                    <a:pt x="193" y="344"/>
                  </a:lnTo>
                  <a:lnTo>
                    <a:pt x="193" y="344"/>
                  </a:lnTo>
                  <a:lnTo>
                    <a:pt x="193" y="344"/>
                  </a:lnTo>
                  <a:lnTo>
                    <a:pt x="193" y="344"/>
                  </a:lnTo>
                  <a:lnTo>
                    <a:pt x="195" y="344"/>
                  </a:lnTo>
                  <a:lnTo>
                    <a:pt x="195" y="346"/>
                  </a:lnTo>
                  <a:lnTo>
                    <a:pt x="195" y="348"/>
                  </a:lnTo>
                  <a:lnTo>
                    <a:pt x="197" y="350"/>
                  </a:lnTo>
                  <a:lnTo>
                    <a:pt x="197" y="350"/>
                  </a:lnTo>
                  <a:lnTo>
                    <a:pt x="197" y="350"/>
                  </a:lnTo>
                  <a:lnTo>
                    <a:pt x="199" y="350"/>
                  </a:lnTo>
                  <a:lnTo>
                    <a:pt x="199" y="350"/>
                  </a:lnTo>
                  <a:lnTo>
                    <a:pt x="199" y="348"/>
                  </a:lnTo>
                  <a:lnTo>
                    <a:pt x="200" y="346"/>
                  </a:lnTo>
                  <a:lnTo>
                    <a:pt x="200" y="346"/>
                  </a:lnTo>
                  <a:lnTo>
                    <a:pt x="200" y="344"/>
                  </a:lnTo>
                  <a:lnTo>
                    <a:pt x="202" y="344"/>
                  </a:lnTo>
                  <a:lnTo>
                    <a:pt x="204" y="343"/>
                  </a:lnTo>
                  <a:lnTo>
                    <a:pt x="204" y="343"/>
                  </a:lnTo>
                  <a:lnTo>
                    <a:pt x="204" y="341"/>
                  </a:lnTo>
                  <a:lnTo>
                    <a:pt x="204" y="341"/>
                  </a:lnTo>
                  <a:lnTo>
                    <a:pt x="204" y="339"/>
                  </a:lnTo>
                  <a:lnTo>
                    <a:pt x="206" y="339"/>
                  </a:lnTo>
                  <a:lnTo>
                    <a:pt x="206" y="339"/>
                  </a:lnTo>
                  <a:lnTo>
                    <a:pt x="208" y="341"/>
                  </a:lnTo>
                  <a:lnTo>
                    <a:pt x="208" y="343"/>
                  </a:lnTo>
                  <a:lnTo>
                    <a:pt x="210" y="344"/>
                  </a:lnTo>
                  <a:lnTo>
                    <a:pt x="214" y="348"/>
                  </a:lnTo>
                  <a:lnTo>
                    <a:pt x="214" y="350"/>
                  </a:lnTo>
                  <a:lnTo>
                    <a:pt x="216" y="350"/>
                  </a:lnTo>
                  <a:lnTo>
                    <a:pt x="218" y="356"/>
                  </a:lnTo>
                  <a:lnTo>
                    <a:pt x="218" y="358"/>
                  </a:lnTo>
                  <a:lnTo>
                    <a:pt x="218" y="358"/>
                  </a:lnTo>
                  <a:lnTo>
                    <a:pt x="218" y="358"/>
                  </a:lnTo>
                  <a:lnTo>
                    <a:pt x="220" y="358"/>
                  </a:lnTo>
                  <a:lnTo>
                    <a:pt x="220" y="356"/>
                  </a:lnTo>
                  <a:lnTo>
                    <a:pt x="220" y="356"/>
                  </a:lnTo>
                  <a:lnTo>
                    <a:pt x="220" y="354"/>
                  </a:lnTo>
                  <a:lnTo>
                    <a:pt x="220" y="354"/>
                  </a:lnTo>
                  <a:lnTo>
                    <a:pt x="220" y="354"/>
                  </a:lnTo>
                  <a:lnTo>
                    <a:pt x="220" y="352"/>
                  </a:lnTo>
                  <a:lnTo>
                    <a:pt x="220" y="352"/>
                  </a:lnTo>
                  <a:lnTo>
                    <a:pt x="220" y="352"/>
                  </a:lnTo>
                  <a:lnTo>
                    <a:pt x="220" y="352"/>
                  </a:lnTo>
                  <a:lnTo>
                    <a:pt x="220" y="350"/>
                  </a:lnTo>
                  <a:lnTo>
                    <a:pt x="220" y="350"/>
                  </a:lnTo>
                  <a:lnTo>
                    <a:pt x="221" y="350"/>
                  </a:lnTo>
                  <a:lnTo>
                    <a:pt x="221" y="350"/>
                  </a:lnTo>
                  <a:lnTo>
                    <a:pt x="223" y="352"/>
                  </a:lnTo>
                  <a:lnTo>
                    <a:pt x="225" y="356"/>
                  </a:lnTo>
                  <a:lnTo>
                    <a:pt x="225" y="360"/>
                  </a:lnTo>
                  <a:lnTo>
                    <a:pt x="227" y="360"/>
                  </a:lnTo>
                  <a:lnTo>
                    <a:pt x="227" y="362"/>
                  </a:lnTo>
                  <a:lnTo>
                    <a:pt x="229" y="363"/>
                  </a:lnTo>
                  <a:lnTo>
                    <a:pt x="229" y="365"/>
                  </a:lnTo>
                  <a:lnTo>
                    <a:pt x="229" y="365"/>
                  </a:lnTo>
                  <a:lnTo>
                    <a:pt x="229" y="365"/>
                  </a:lnTo>
                  <a:lnTo>
                    <a:pt x="229" y="367"/>
                  </a:lnTo>
                  <a:lnTo>
                    <a:pt x="231" y="367"/>
                  </a:lnTo>
                  <a:lnTo>
                    <a:pt x="231" y="369"/>
                  </a:lnTo>
                  <a:lnTo>
                    <a:pt x="231" y="369"/>
                  </a:lnTo>
                  <a:lnTo>
                    <a:pt x="231" y="369"/>
                  </a:lnTo>
                  <a:lnTo>
                    <a:pt x="233" y="369"/>
                  </a:lnTo>
                  <a:lnTo>
                    <a:pt x="233" y="369"/>
                  </a:lnTo>
                  <a:lnTo>
                    <a:pt x="233" y="371"/>
                  </a:lnTo>
                  <a:lnTo>
                    <a:pt x="237" y="369"/>
                  </a:lnTo>
                  <a:lnTo>
                    <a:pt x="242" y="369"/>
                  </a:lnTo>
                  <a:lnTo>
                    <a:pt x="248" y="369"/>
                  </a:lnTo>
                  <a:lnTo>
                    <a:pt x="248" y="369"/>
                  </a:lnTo>
                  <a:lnTo>
                    <a:pt x="250" y="369"/>
                  </a:lnTo>
                  <a:lnTo>
                    <a:pt x="250" y="369"/>
                  </a:lnTo>
                  <a:lnTo>
                    <a:pt x="252" y="371"/>
                  </a:lnTo>
                  <a:lnTo>
                    <a:pt x="254" y="371"/>
                  </a:lnTo>
                  <a:lnTo>
                    <a:pt x="256" y="371"/>
                  </a:lnTo>
                  <a:lnTo>
                    <a:pt x="256" y="371"/>
                  </a:lnTo>
                  <a:lnTo>
                    <a:pt x="258" y="373"/>
                  </a:lnTo>
                  <a:lnTo>
                    <a:pt x="260" y="371"/>
                  </a:lnTo>
                  <a:lnTo>
                    <a:pt x="265" y="371"/>
                  </a:lnTo>
                  <a:lnTo>
                    <a:pt x="271" y="369"/>
                  </a:lnTo>
                  <a:lnTo>
                    <a:pt x="273" y="369"/>
                  </a:lnTo>
                  <a:lnTo>
                    <a:pt x="275" y="367"/>
                  </a:lnTo>
                  <a:lnTo>
                    <a:pt x="277" y="365"/>
                  </a:lnTo>
                  <a:lnTo>
                    <a:pt x="277" y="363"/>
                  </a:lnTo>
                  <a:lnTo>
                    <a:pt x="279" y="362"/>
                  </a:lnTo>
                  <a:lnTo>
                    <a:pt x="279" y="362"/>
                  </a:lnTo>
                  <a:lnTo>
                    <a:pt x="279" y="360"/>
                  </a:lnTo>
                  <a:lnTo>
                    <a:pt x="280" y="362"/>
                  </a:lnTo>
                  <a:lnTo>
                    <a:pt x="280" y="362"/>
                  </a:lnTo>
                  <a:lnTo>
                    <a:pt x="282" y="360"/>
                  </a:lnTo>
                  <a:lnTo>
                    <a:pt x="284" y="356"/>
                  </a:lnTo>
                  <a:lnTo>
                    <a:pt x="286" y="356"/>
                  </a:lnTo>
                  <a:lnTo>
                    <a:pt x="286" y="356"/>
                  </a:lnTo>
                  <a:lnTo>
                    <a:pt x="284" y="354"/>
                  </a:lnTo>
                  <a:lnTo>
                    <a:pt x="284" y="354"/>
                  </a:lnTo>
                  <a:lnTo>
                    <a:pt x="284" y="354"/>
                  </a:lnTo>
                  <a:lnTo>
                    <a:pt x="284" y="354"/>
                  </a:lnTo>
                  <a:lnTo>
                    <a:pt x="284" y="352"/>
                  </a:lnTo>
                  <a:lnTo>
                    <a:pt x="286" y="352"/>
                  </a:lnTo>
                  <a:lnTo>
                    <a:pt x="286" y="352"/>
                  </a:lnTo>
                  <a:lnTo>
                    <a:pt x="286" y="350"/>
                  </a:lnTo>
                  <a:lnTo>
                    <a:pt x="286" y="350"/>
                  </a:lnTo>
                  <a:lnTo>
                    <a:pt x="286" y="348"/>
                  </a:lnTo>
                  <a:lnTo>
                    <a:pt x="286" y="348"/>
                  </a:lnTo>
                  <a:lnTo>
                    <a:pt x="286" y="348"/>
                  </a:lnTo>
                  <a:lnTo>
                    <a:pt x="288" y="348"/>
                  </a:lnTo>
                  <a:lnTo>
                    <a:pt x="288" y="348"/>
                  </a:lnTo>
                  <a:lnTo>
                    <a:pt x="290" y="348"/>
                  </a:lnTo>
                  <a:lnTo>
                    <a:pt x="290" y="348"/>
                  </a:lnTo>
                  <a:lnTo>
                    <a:pt x="294" y="346"/>
                  </a:lnTo>
                  <a:lnTo>
                    <a:pt x="294" y="344"/>
                  </a:lnTo>
                  <a:lnTo>
                    <a:pt x="301" y="341"/>
                  </a:lnTo>
                  <a:lnTo>
                    <a:pt x="301" y="343"/>
                  </a:lnTo>
                  <a:lnTo>
                    <a:pt x="303" y="343"/>
                  </a:lnTo>
                  <a:lnTo>
                    <a:pt x="303" y="343"/>
                  </a:lnTo>
                  <a:lnTo>
                    <a:pt x="303" y="343"/>
                  </a:lnTo>
                  <a:lnTo>
                    <a:pt x="305" y="341"/>
                  </a:lnTo>
                  <a:lnTo>
                    <a:pt x="305" y="341"/>
                  </a:lnTo>
                  <a:lnTo>
                    <a:pt x="305" y="339"/>
                  </a:lnTo>
                  <a:lnTo>
                    <a:pt x="305" y="339"/>
                  </a:lnTo>
                  <a:lnTo>
                    <a:pt x="305" y="337"/>
                  </a:lnTo>
                  <a:lnTo>
                    <a:pt x="305" y="337"/>
                  </a:lnTo>
                  <a:lnTo>
                    <a:pt x="305" y="337"/>
                  </a:lnTo>
                  <a:lnTo>
                    <a:pt x="305" y="335"/>
                  </a:lnTo>
                  <a:lnTo>
                    <a:pt x="307" y="335"/>
                  </a:lnTo>
                  <a:lnTo>
                    <a:pt x="307" y="335"/>
                  </a:lnTo>
                  <a:lnTo>
                    <a:pt x="311" y="335"/>
                  </a:lnTo>
                  <a:lnTo>
                    <a:pt x="311" y="335"/>
                  </a:lnTo>
                  <a:lnTo>
                    <a:pt x="313" y="337"/>
                  </a:lnTo>
                  <a:lnTo>
                    <a:pt x="313" y="337"/>
                  </a:lnTo>
                  <a:lnTo>
                    <a:pt x="313" y="337"/>
                  </a:lnTo>
                  <a:lnTo>
                    <a:pt x="315" y="341"/>
                  </a:lnTo>
                  <a:lnTo>
                    <a:pt x="315" y="339"/>
                  </a:lnTo>
                  <a:lnTo>
                    <a:pt x="322" y="329"/>
                  </a:lnTo>
                  <a:lnTo>
                    <a:pt x="334" y="320"/>
                  </a:lnTo>
                  <a:lnTo>
                    <a:pt x="341" y="314"/>
                  </a:lnTo>
                  <a:lnTo>
                    <a:pt x="351" y="305"/>
                  </a:lnTo>
                  <a:lnTo>
                    <a:pt x="357" y="301"/>
                  </a:lnTo>
                  <a:lnTo>
                    <a:pt x="361" y="299"/>
                  </a:lnTo>
                  <a:lnTo>
                    <a:pt x="366" y="295"/>
                  </a:lnTo>
                  <a:lnTo>
                    <a:pt x="370" y="293"/>
                  </a:lnTo>
                  <a:lnTo>
                    <a:pt x="378" y="289"/>
                  </a:lnTo>
                  <a:lnTo>
                    <a:pt x="383" y="286"/>
                  </a:lnTo>
                  <a:lnTo>
                    <a:pt x="387" y="284"/>
                  </a:lnTo>
                  <a:lnTo>
                    <a:pt x="364" y="295"/>
                  </a:lnTo>
                  <a:lnTo>
                    <a:pt x="362" y="295"/>
                  </a:lnTo>
                  <a:lnTo>
                    <a:pt x="362" y="295"/>
                  </a:lnTo>
                  <a:lnTo>
                    <a:pt x="362" y="293"/>
                  </a:lnTo>
                  <a:lnTo>
                    <a:pt x="361" y="293"/>
                  </a:lnTo>
                  <a:lnTo>
                    <a:pt x="362" y="293"/>
                  </a:lnTo>
                  <a:lnTo>
                    <a:pt x="362" y="293"/>
                  </a:lnTo>
                  <a:lnTo>
                    <a:pt x="362" y="293"/>
                  </a:lnTo>
                  <a:lnTo>
                    <a:pt x="362" y="291"/>
                  </a:lnTo>
                  <a:lnTo>
                    <a:pt x="364" y="291"/>
                  </a:lnTo>
                  <a:lnTo>
                    <a:pt x="364" y="291"/>
                  </a:lnTo>
                  <a:lnTo>
                    <a:pt x="364" y="293"/>
                  </a:lnTo>
                  <a:lnTo>
                    <a:pt x="366" y="293"/>
                  </a:lnTo>
                  <a:lnTo>
                    <a:pt x="366" y="293"/>
                  </a:lnTo>
                  <a:lnTo>
                    <a:pt x="368" y="291"/>
                  </a:lnTo>
                  <a:lnTo>
                    <a:pt x="370" y="291"/>
                  </a:lnTo>
                  <a:lnTo>
                    <a:pt x="370" y="291"/>
                  </a:lnTo>
                  <a:lnTo>
                    <a:pt x="370" y="289"/>
                  </a:lnTo>
                  <a:lnTo>
                    <a:pt x="370" y="289"/>
                  </a:lnTo>
                  <a:lnTo>
                    <a:pt x="370" y="289"/>
                  </a:lnTo>
                  <a:lnTo>
                    <a:pt x="372" y="289"/>
                  </a:lnTo>
                  <a:lnTo>
                    <a:pt x="372" y="287"/>
                  </a:lnTo>
                  <a:lnTo>
                    <a:pt x="372" y="287"/>
                  </a:lnTo>
                  <a:lnTo>
                    <a:pt x="372" y="286"/>
                  </a:lnTo>
                  <a:lnTo>
                    <a:pt x="372" y="286"/>
                  </a:lnTo>
                  <a:lnTo>
                    <a:pt x="370" y="284"/>
                  </a:lnTo>
                  <a:lnTo>
                    <a:pt x="370" y="286"/>
                  </a:lnTo>
                  <a:lnTo>
                    <a:pt x="368" y="286"/>
                  </a:lnTo>
                  <a:lnTo>
                    <a:pt x="368" y="286"/>
                  </a:lnTo>
                  <a:lnTo>
                    <a:pt x="366" y="286"/>
                  </a:lnTo>
                  <a:lnTo>
                    <a:pt x="362" y="289"/>
                  </a:lnTo>
                  <a:lnTo>
                    <a:pt x="359" y="287"/>
                  </a:lnTo>
                  <a:lnTo>
                    <a:pt x="357" y="287"/>
                  </a:lnTo>
                  <a:lnTo>
                    <a:pt x="357" y="287"/>
                  </a:lnTo>
                  <a:lnTo>
                    <a:pt x="357" y="289"/>
                  </a:lnTo>
                  <a:lnTo>
                    <a:pt x="357" y="289"/>
                  </a:lnTo>
                  <a:lnTo>
                    <a:pt x="357" y="289"/>
                  </a:lnTo>
                  <a:lnTo>
                    <a:pt x="357" y="291"/>
                  </a:lnTo>
                  <a:lnTo>
                    <a:pt x="357" y="291"/>
                  </a:lnTo>
                  <a:lnTo>
                    <a:pt x="357" y="291"/>
                  </a:lnTo>
                  <a:lnTo>
                    <a:pt x="357" y="291"/>
                  </a:lnTo>
                  <a:lnTo>
                    <a:pt x="357" y="293"/>
                  </a:lnTo>
                  <a:lnTo>
                    <a:pt x="355" y="293"/>
                  </a:lnTo>
                  <a:lnTo>
                    <a:pt x="355" y="295"/>
                  </a:lnTo>
                  <a:lnTo>
                    <a:pt x="353" y="295"/>
                  </a:lnTo>
                  <a:lnTo>
                    <a:pt x="353" y="295"/>
                  </a:lnTo>
                  <a:lnTo>
                    <a:pt x="353" y="295"/>
                  </a:lnTo>
                  <a:lnTo>
                    <a:pt x="357" y="297"/>
                  </a:lnTo>
                  <a:lnTo>
                    <a:pt x="355" y="297"/>
                  </a:lnTo>
                  <a:lnTo>
                    <a:pt x="355" y="297"/>
                  </a:lnTo>
                  <a:lnTo>
                    <a:pt x="353" y="297"/>
                  </a:lnTo>
                  <a:lnTo>
                    <a:pt x="353" y="297"/>
                  </a:lnTo>
                  <a:lnTo>
                    <a:pt x="353" y="299"/>
                  </a:lnTo>
                  <a:lnTo>
                    <a:pt x="353" y="301"/>
                  </a:lnTo>
                  <a:lnTo>
                    <a:pt x="353" y="301"/>
                  </a:lnTo>
                  <a:lnTo>
                    <a:pt x="351" y="303"/>
                  </a:lnTo>
                  <a:lnTo>
                    <a:pt x="351" y="303"/>
                  </a:lnTo>
                  <a:lnTo>
                    <a:pt x="351" y="303"/>
                  </a:lnTo>
                  <a:lnTo>
                    <a:pt x="349" y="303"/>
                  </a:lnTo>
                  <a:lnTo>
                    <a:pt x="349" y="303"/>
                  </a:lnTo>
                  <a:lnTo>
                    <a:pt x="347" y="303"/>
                  </a:lnTo>
                  <a:lnTo>
                    <a:pt x="347" y="305"/>
                  </a:lnTo>
                  <a:lnTo>
                    <a:pt x="347" y="305"/>
                  </a:lnTo>
                  <a:lnTo>
                    <a:pt x="345" y="305"/>
                  </a:lnTo>
                  <a:lnTo>
                    <a:pt x="347" y="305"/>
                  </a:lnTo>
                  <a:lnTo>
                    <a:pt x="347" y="303"/>
                  </a:lnTo>
                  <a:lnTo>
                    <a:pt x="347" y="301"/>
                  </a:lnTo>
                  <a:lnTo>
                    <a:pt x="345" y="301"/>
                  </a:lnTo>
                  <a:lnTo>
                    <a:pt x="345" y="303"/>
                  </a:lnTo>
                  <a:lnTo>
                    <a:pt x="345" y="303"/>
                  </a:lnTo>
                  <a:lnTo>
                    <a:pt x="343" y="301"/>
                  </a:lnTo>
                  <a:lnTo>
                    <a:pt x="343" y="299"/>
                  </a:lnTo>
                  <a:lnTo>
                    <a:pt x="345" y="299"/>
                  </a:lnTo>
                  <a:lnTo>
                    <a:pt x="345" y="297"/>
                  </a:lnTo>
                  <a:lnTo>
                    <a:pt x="347" y="297"/>
                  </a:lnTo>
                  <a:lnTo>
                    <a:pt x="349" y="297"/>
                  </a:lnTo>
                  <a:lnTo>
                    <a:pt x="349" y="295"/>
                  </a:lnTo>
                  <a:lnTo>
                    <a:pt x="347" y="295"/>
                  </a:lnTo>
                  <a:lnTo>
                    <a:pt x="347" y="293"/>
                  </a:lnTo>
                  <a:lnTo>
                    <a:pt x="349" y="291"/>
                  </a:lnTo>
                  <a:lnTo>
                    <a:pt x="349" y="289"/>
                  </a:lnTo>
                  <a:lnTo>
                    <a:pt x="351" y="289"/>
                  </a:lnTo>
                  <a:lnTo>
                    <a:pt x="353" y="286"/>
                  </a:lnTo>
                  <a:lnTo>
                    <a:pt x="353" y="284"/>
                  </a:lnTo>
                  <a:lnTo>
                    <a:pt x="353" y="282"/>
                  </a:lnTo>
                  <a:lnTo>
                    <a:pt x="355" y="280"/>
                  </a:lnTo>
                  <a:lnTo>
                    <a:pt x="357" y="276"/>
                  </a:lnTo>
                  <a:lnTo>
                    <a:pt x="359" y="276"/>
                  </a:lnTo>
                  <a:lnTo>
                    <a:pt x="361" y="274"/>
                  </a:lnTo>
                  <a:lnTo>
                    <a:pt x="361" y="274"/>
                  </a:lnTo>
                  <a:lnTo>
                    <a:pt x="362" y="274"/>
                  </a:lnTo>
                  <a:lnTo>
                    <a:pt x="364" y="274"/>
                  </a:lnTo>
                  <a:lnTo>
                    <a:pt x="368" y="270"/>
                  </a:lnTo>
                  <a:lnTo>
                    <a:pt x="372" y="265"/>
                  </a:lnTo>
                  <a:lnTo>
                    <a:pt x="376" y="265"/>
                  </a:lnTo>
                  <a:lnTo>
                    <a:pt x="378" y="263"/>
                  </a:lnTo>
                  <a:lnTo>
                    <a:pt x="378" y="263"/>
                  </a:lnTo>
                  <a:lnTo>
                    <a:pt x="381" y="265"/>
                  </a:lnTo>
                  <a:lnTo>
                    <a:pt x="385" y="265"/>
                  </a:lnTo>
                  <a:lnTo>
                    <a:pt x="387" y="266"/>
                  </a:lnTo>
                  <a:lnTo>
                    <a:pt x="387" y="274"/>
                  </a:lnTo>
                  <a:lnTo>
                    <a:pt x="387" y="276"/>
                  </a:lnTo>
                  <a:lnTo>
                    <a:pt x="387" y="276"/>
                  </a:lnTo>
                  <a:lnTo>
                    <a:pt x="387" y="278"/>
                  </a:lnTo>
                  <a:lnTo>
                    <a:pt x="387" y="278"/>
                  </a:lnTo>
                  <a:lnTo>
                    <a:pt x="387" y="278"/>
                  </a:lnTo>
                  <a:lnTo>
                    <a:pt x="385" y="280"/>
                  </a:lnTo>
                  <a:lnTo>
                    <a:pt x="381" y="282"/>
                  </a:lnTo>
                  <a:lnTo>
                    <a:pt x="381" y="282"/>
                  </a:lnTo>
                  <a:lnTo>
                    <a:pt x="383" y="280"/>
                  </a:lnTo>
                  <a:lnTo>
                    <a:pt x="383" y="280"/>
                  </a:lnTo>
                  <a:lnTo>
                    <a:pt x="383" y="280"/>
                  </a:lnTo>
                  <a:lnTo>
                    <a:pt x="378" y="280"/>
                  </a:lnTo>
                  <a:lnTo>
                    <a:pt x="376" y="282"/>
                  </a:lnTo>
                  <a:lnTo>
                    <a:pt x="376" y="282"/>
                  </a:lnTo>
                  <a:lnTo>
                    <a:pt x="374" y="282"/>
                  </a:lnTo>
                  <a:lnTo>
                    <a:pt x="374" y="282"/>
                  </a:lnTo>
                  <a:lnTo>
                    <a:pt x="374" y="282"/>
                  </a:lnTo>
                  <a:lnTo>
                    <a:pt x="374" y="284"/>
                  </a:lnTo>
                  <a:lnTo>
                    <a:pt x="374" y="284"/>
                  </a:lnTo>
                  <a:lnTo>
                    <a:pt x="374" y="284"/>
                  </a:lnTo>
                  <a:lnTo>
                    <a:pt x="376" y="284"/>
                  </a:lnTo>
                  <a:lnTo>
                    <a:pt x="376" y="284"/>
                  </a:lnTo>
                  <a:lnTo>
                    <a:pt x="376" y="286"/>
                  </a:lnTo>
                  <a:lnTo>
                    <a:pt x="376" y="286"/>
                  </a:lnTo>
                  <a:lnTo>
                    <a:pt x="376" y="287"/>
                  </a:lnTo>
                  <a:lnTo>
                    <a:pt x="380" y="286"/>
                  </a:lnTo>
                  <a:lnTo>
                    <a:pt x="385" y="284"/>
                  </a:lnTo>
                  <a:lnTo>
                    <a:pt x="391" y="280"/>
                  </a:lnTo>
                  <a:lnTo>
                    <a:pt x="393" y="280"/>
                  </a:lnTo>
                  <a:lnTo>
                    <a:pt x="393" y="280"/>
                  </a:lnTo>
                  <a:lnTo>
                    <a:pt x="393" y="280"/>
                  </a:lnTo>
                  <a:lnTo>
                    <a:pt x="393" y="282"/>
                  </a:lnTo>
                  <a:lnTo>
                    <a:pt x="397" y="278"/>
                  </a:lnTo>
                  <a:lnTo>
                    <a:pt x="401" y="278"/>
                  </a:lnTo>
                  <a:lnTo>
                    <a:pt x="402" y="276"/>
                  </a:lnTo>
                  <a:lnTo>
                    <a:pt x="402" y="276"/>
                  </a:lnTo>
                  <a:lnTo>
                    <a:pt x="406" y="276"/>
                  </a:lnTo>
                  <a:lnTo>
                    <a:pt x="408" y="276"/>
                  </a:lnTo>
                  <a:lnTo>
                    <a:pt x="408" y="276"/>
                  </a:lnTo>
                  <a:lnTo>
                    <a:pt x="412" y="274"/>
                  </a:lnTo>
                  <a:lnTo>
                    <a:pt x="416" y="272"/>
                  </a:lnTo>
                  <a:lnTo>
                    <a:pt x="427" y="268"/>
                  </a:lnTo>
                  <a:lnTo>
                    <a:pt x="429" y="268"/>
                  </a:lnTo>
                  <a:lnTo>
                    <a:pt x="431" y="268"/>
                  </a:lnTo>
                  <a:lnTo>
                    <a:pt x="431" y="268"/>
                  </a:lnTo>
                  <a:lnTo>
                    <a:pt x="433" y="268"/>
                  </a:lnTo>
                  <a:lnTo>
                    <a:pt x="433" y="268"/>
                  </a:lnTo>
                  <a:lnTo>
                    <a:pt x="435" y="268"/>
                  </a:lnTo>
                  <a:lnTo>
                    <a:pt x="435" y="268"/>
                  </a:lnTo>
                  <a:lnTo>
                    <a:pt x="437" y="268"/>
                  </a:lnTo>
                  <a:lnTo>
                    <a:pt x="452" y="263"/>
                  </a:lnTo>
                  <a:lnTo>
                    <a:pt x="462" y="257"/>
                  </a:lnTo>
                  <a:lnTo>
                    <a:pt x="460" y="257"/>
                  </a:lnTo>
                  <a:lnTo>
                    <a:pt x="458" y="255"/>
                  </a:lnTo>
                  <a:lnTo>
                    <a:pt x="458" y="255"/>
                  </a:lnTo>
                  <a:lnTo>
                    <a:pt x="456" y="255"/>
                  </a:lnTo>
                  <a:lnTo>
                    <a:pt x="456" y="255"/>
                  </a:lnTo>
                  <a:lnTo>
                    <a:pt x="454" y="253"/>
                  </a:lnTo>
                  <a:lnTo>
                    <a:pt x="454" y="253"/>
                  </a:lnTo>
                  <a:lnTo>
                    <a:pt x="454" y="253"/>
                  </a:lnTo>
                  <a:lnTo>
                    <a:pt x="454" y="251"/>
                  </a:lnTo>
                  <a:lnTo>
                    <a:pt x="454" y="251"/>
                  </a:lnTo>
                  <a:lnTo>
                    <a:pt x="454" y="251"/>
                  </a:lnTo>
                  <a:lnTo>
                    <a:pt x="454" y="251"/>
                  </a:lnTo>
                  <a:lnTo>
                    <a:pt x="452" y="251"/>
                  </a:lnTo>
                  <a:lnTo>
                    <a:pt x="452" y="251"/>
                  </a:lnTo>
                  <a:lnTo>
                    <a:pt x="448" y="249"/>
                  </a:lnTo>
                  <a:lnTo>
                    <a:pt x="446" y="249"/>
                  </a:lnTo>
                  <a:lnTo>
                    <a:pt x="444" y="247"/>
                  </a:lnTo>
                  <a:lnTo>
                    <a:pt x="442" y="246"/>
                  </a:lnTo>
                  <a:lnTo>
                    <a:pt x="441" y="246"/>
                  </a:lnTo>
                  <a:lnTo>
                    <a:pt x="441" y="246"/>
                  </a:lnTo>
                  <a:lnTo>
                    <a:pt x="441" y="242"/>
                  </a:lnTo>
                  <a:lnTo>
                    <a:pt x="441" y="240"/>
                  </a:lnTo>
                  <a:lnTo>
                    <a:pt x="441" y="240"/>
                  </a:lnTo>
                  <a:lnTo>
                    <a:pt x="442" y="240"/>
                  </a:lnTo>
                  <a:lnTo>
                    <a:pt x="442" y="242"/>
                  </a:lnTo>
                  <a:lnTo>
                    <a:pt x="442" y="244"/>
                  </a:lnTo>
                  <a:lnTo>
                    <a:pt x="444" y="246"/>
                  </a:lnTo>
                  <a:lnTo>
                    <a:pt x="444" y="246"/>
                  </a:lnTo>
                  <a:lnTo>
                    <a:pt x="446" y="247"/>
                  </a:lnTo>
                  <a:lnTo>
                    <a:pt x="448" y="247"/>
                  </a:lnTo>
                  <a:lnTo>
                    <a:pt x="452" y="247"/>
                  </a:lnTo>
                  <a:lnTo>
                    <a:pt x="460" y="253"/>
                  </a:lnTo>
                  <a:lnTo>
                    <a:pt x="463" y="255"/>
                  </a:lnTo>
                  <a:lnTo>
                    <a:pt x="465" y="253"/>
                  </a:lnTo>
                  <a:lnTo>
                    <a:pt x="465" y="253"/>
                  </a:lnTo>
                  <a:lnTo>
                    <a:pt x="463" y="253"/>
                  </a:lnTo>
                  <a:lnTo>
                    <a:pt x="463" y="253"/>
                  </a:lnTo>
                  <a:lnTo>
                    <a:pt x="463" y="251"/>
                  </a:lnTo>
                  <a:lnTo>
                    <a:pt x="465" y="249"/>
                  </a:lnTo>
                  <a:lnTo>
                    <a:pt x="469" y="244"/>
                  </a:lnTo>
                  <a:lnTo>
                    <a:pt x="469" y="244"/>
                  </a:lnTo>
                  <a:lnTo>
                    <a:pt x="471" y="242"/>
                  </a:lnTo>
                  <a:lnTo>
                    <a:pt x="473" y="236"/>
                  </a:lnTo>
                  <a:lnTo>
                    <a:pt x="473" y="236"/>
                  </a:lnTo>
                  <a:lnTo>
                    <a:pt x="475" y="234"/>
                  </a:lnTo>
                  <a:lnTo>
                    <a:pt x="477" y="234"/>
                  </a:lnTo>
                  <a:lnTo>
                    <a:pt x="481" y="232"/>
                  </a:lnTo>
                  <a:lnTo>
                    <a:pt x="484" y="230"/>
                  </a:lnTo>
                  <a:lnTo>
                    <a:pt x="494" y="225"/>
                  </a:lnTo>
                  <a:lnTo>
                    <a:pt x="496" y="223"/>
                  </a:lnTo>
                  <a:lnTo>
                    <a:pt x="494" y="225"/>
                  </a:lnTo>
                  <a:lnTo>
                    <a:pt x="492" y="225"/>
                  </a:lnTo>
                  <a:lnTo>
                    <a:pt x="490" y="225"/>
                  </a:lnTo>
                  <a:lnTo>
                    <a:pt x="492" y="223"/>
                  </a:lnTo>
                  <a:lnTo>
                    <a:pt x="494" y="223"/>
                  </a:lnTo>
                  <a:lnTo>
                    <a:pt x="496" y="221"/>
                  </a:lnTo>
                  <a:lnTo>
                    <a:pt x="496" y="221"/>
                  </a:lnTo>
                  <a:lnTo>
                    <a:pt x="498" y="219"/>
                  </a:lnTo>
                  <a:lnTo>
                    <a:pt x="500" y="217"/>
                  </a:lnTo>
                  <a:lnTo>
                    <a:pt x="502" y="213"/>
                  </a:lnTo>
                  <a:lnTo>
                    <a:pt x="500" y="211"/>
                  </a:lnTo>
                  <a:lnTo>
                    <a:pt x="500" y="213"/>
                  </a:lnTo>
                  <a:lnTo>
                    <a:pt x="500" y="213"/>
                  </a:lnTo>
                  <a:lnTo>
                    <a:pt x="500" y="215"/>
                  </a:lnTo>
                  <a:lnTo>
                    <a:pt x="498" y="213"/>
                  </a:lnTo>
                  <a:lnTo>
                    <a:pt x="496" y="215"/>
                  </a:lnTo>
                  <a:lnTo>
                    <a:pt x="496" y="217"/>
                  </a:lnTo>
                  <a:lnTo>
                    <a:pt x="494" y="217"/>
                  </a:lnTo>
                  <a:lnTo>
                    <a:pt x="494" y="211"/>
                  </a:lnTo>
                  <a:lnTo>
                    <a:pt x="494" y="208"/>
                  </a:lnTo>
                  <a:lnTo>
                    <a:pt x="496" y="206"/>
                  </a:lnTo>
                  <a:lnTo>
                    <a:pt x="498" y="204"/>
                  </a:lnTo>
                  <a:lnTo>
                    <a:pt x="511" y="192"/>
                  </a:lnTo>
                  <a:lnTo>
                    <a:pt x="517" y="190"/>
                  </a:lnTo>
                  <a:lnTo>
                    <a:pt x="519" y="189"/>
                  </a:lnTo>
                  <a:lnTo>
                    <a:pt x="522" y="187"/>
                  </a:lnTo>
                  <a:lnTo>
                    <a:pt x="522" y="185"/>
                  </a:lnTo>
                  <a:lnTo>
                    <a:pt x="522" y="187"/>
                  </a:lnTo>
                  <a:lnTo>
                    <a:pt x="521" y="187"/>
                  </a:lnTo>
                  <a:lnTo>
                    <a:pt x="519" y="189"/>
                  </a:lnTo>
                  <a:lnTo>
                    <a:pt x="519" y="187"/>
                  </a:lnTo>
                  <a:lnTo>
                    <a:pt x="519" y="187"/>
                  </a:lnTo>
                  <a:lnTo>
                    <a:pt x="517" y="187"/>
                  </a:lnTo>
                  <a:lnTo>
                    <a:pt x="517" y="187"/>
                  </a:lnTo>
                  <a:lnTo>
                    <a:pt x="517" y="185"/>
                  </a:lnTo>
                  <a:lnTo>
                    <a:pt x="515" y="185"/>
                  </a:lnTo>
                  <a:lnTo>
                    <a:pt x="515" y="185"/>
                  </a:lnTo>
                  <a:lnTo>
                    <a:pt x="513" y="185"/>
                  </a:lnTo>
                  <a:lnTo>
                    <a:pt x="515" y="185"/>
                  </a:lnTo>
                  <a:lnTo>
                    <a:pt x="515" y="183"/>
                  </a:lnTo>
                  <a:lnTo>
                    <a:pt x="517" y="183"/>
                  </a:lnTo>
                  <a:lnTo>
                    <a:pt x="519" y="185"/>
                  </a:lnTo>
                  <a:lnTo>
                    <a:pt x="519" y="183"/>
                  </a:lnTo>
                  <a:lnTo>
                    <a:pt x="519" y="183"/>
                  </a:lnTo>
                  <a:lnTo>
                    <a:pt x="519" y="183"/>
                  </a:lnTo>
                  <a:lnTo>
                    <a:pt x="519" y="181"/>
                  </a:lnTo>
                  <a:lnTo>
                    <a:pt x="519" y="179"/>
                  </a:lnTo>
                  <a:lnTo>
                    <a:pt x="517" y="179"/>
                  </a:lnTo>
                  <a:lnTo>
                    <a:pt x="515" y="179"/>
                  </a:lnTo>
                  <a:lnTo>
                    <a:pt x="511" y="179"/>
                  </a:lnTo>
                  <a:lnTo>
                    <a:pt x="509" y="179"/>
                  </a:lnTo>
                  <a:lnTo>
                    <a:pt x="507" y="177"/>
                  </a:lnTo>
                  <a:lnTo>
                    <a:pt x="511" y="175"/>
                  </a:lnTo>
                  <a:lnTo>
                    <a:pt x="513" y="175"/>
                  </a:lnTo>
                  <a:lnTo>
                    <a:pt x="515" y="177"/>
                  </a:lnTo>
                  <a:lnTo>
                    <a:pt x="517" y="175"/>
                  </a:lnTo>
                  <a:lnTo>
                    <a:pt x="515" y="170"/>
                  </a:lnTo>
                  <a:lnTo>
                    <a:pt x="505" y="147"/>
                  </a:lnTo>
                  <a:lnTo>
                    <a:pt x="503" y="137"/>
                  </a:lnTo>
                  <a:lnTo>
                    <a:pt x="507" y="130"/>
                  </a:lnTo>
                  <a:lnTo>
                    <a:pt x="511" y="122"/>
                  </a:lnTo>
                  <a:lnTo>
                    <a:pt x="524" y="109"/>
                  </a:lnTo>
                  <a:lnTo>
                    <a:pt x="530" y="105"/>
                  </a:lnTo>
                  <a:lnTo>
                    <a:pt x="538" y="101"/>
                  </a:lnTo>
                  <a:lnTo>
                    <a:pt x="538" y="101"/>
                  </a:lnTo>
                  <a:lnTo>
                    <a:pt x="542" y="101"/>
                  </a:lnTo>
                  <a:lnTo>
                    <a:pt x="542" y="101"/>
                  </a:lnTo>
                  <a:lnTo>
                    <a:pt x="543" y="99"/>
                  </a:lnTo>
                  <a:lnTo>
                    <a:pt x="545" y="101"/>
                  </a:lnTo>
                  <a:lnTo>
                    <a:pt x="551" y="99"/>
                  </a:lnTo>
                  <a:lnTo>
                    <a:pt x="557" y="97"/>
                  </a:lnTo>
                  <a:lnTo>
                    <a:pt x="563" y="95"/>
                  </a:lnTo>
                  <a:lnTo>
                    <a:pt x="563" y="95"/>
                  </a:lnTo>
                  <a:lnTo>
                    <a:pt x="563" y="93"/>
                  </a:lnTo>
                  <a:close/>
                </a:path>
              </a:pathLst>
            </a:custGeom>
            <a:solidFill>
              <a:schemeClr val="tx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79" name="Freeform 28">
              <a:extLst>
                <a:ext uri="{FF2B5EF4-FFF2-40B4-BE49-F238E27FC236}">
                  <a16:creationId xmlns:a16="http://schemas.microsoft.com/office/drawing/2014/main" id="{12955FA1-CE92-FFAF-91B9-F0DE48B165F9}"/>
                </a:ext>
              </a:extLst>
            </p:cNvPr>
            <p:cNvSpPr>
              <a:spLocks/>
            </p:cNvSpPr>
            <p:nvPr/>
          </p:nvSpPr>
          <p:spPr bwMode="auto">
            <a:xfrm>
              <a:off x="5396095" y="3005482"/>
              <a:ext cx="333917" cy="318008"/>
            </a:xfrm>
            <a:custGeom>
              <a:avLst/>
              <a:gdLst>
                <a:gd name="T0" fmla="*/ 175 w 177"/>
                <a:gd name="T1" fmla="*/ 24 h 188"/>
                <a:gd name="T2" fmla="*/ 171 w 177"/>
                <a:gd name="T3" fmla="*/ 19 h 188"/>
                <a:gd name="T4" fmla="*/ 175 w 177"/>
                <a:gd name="T5" fmla="*/ 15 h 188"/>
                <a:gd name="T6" fmla="*/ 171 w 177"/>
                <a:gd name="T7" fmla="*/ 4 h 188"/>
                <a:gd name="T8" fmla="*/ 167 w 177"/>
                <a:gd name="T9" fmla="*/ 4 h 188"/>
                <a:gd name="T10" fmla="*/ 154 w 177"/>
                <a:gd name="T11" fmla="*/ 11 h 188"/>
                <a:gd name="T12" fmla="*/ 146 w 177"/>
                <a:gd name="T13" fmla="*/ 9 h 188"/>
                <a:gd name="T14" fmla="*/ 135 w 177"/>
                <a:gd name="T15" fmla="*/ 23 h 188"/>
                <a:gd name="T16" fmla="*/ 112 w 177"/>
                <a:gd name="T17" fmla="*/ 34 h 188"/>
                <a:gd name="T18" fmla="*/ 106 w 177"/>
                <a:gd name="T19" fmla="*/ 38 h 188"/>
                <a:gd name="T20" fmla="*/ 101 w 177"/>
                <a:gd name="T21" fmla="*/ 45 h 188"/>
                <a:gd name="T22" fmla="*/ 95 w 177"/>
                <a:gd name="T23" fmla="*/ 55 h 188"/>
                <a:gd name="T24" fmla="*/ 89 w 177"/>
                <a:gd name="T25" fmla="*/ 55 h 188"/>
                <a:gd name="T26" fmla="*/ 84 w 177"/>
                <a:gd name="T27" fmla="*/ 53 h 188"/>
                <a:gd name="T28" fmla="*/ 78 w 177"/>
                <a:gd name="T29" fmla="*/ 70 h 188"/>
                <a:gd name="T30" fmla="*/ 61 w 177"/>
                <a:gd name="T31" fmla="*/ 89 h 188"/>
                <a:gd name="T32" fmla="*/ 61 w 177"/>
                <a:gd name="T33" fmla="*/ 100 h 188"/>
                <a:gd name="T34" fmla="*/ 59 w 177"/>
                <a:gd name="T35" fmla="*/ 108 h 188"/>
                <a:gd name="T36" fmla="*/ 57 w 177"/>
                <a:gd name="T37" fmla="*/ 118 h 188"/>
                <a:gd name="T38" fmla="*/ 42 w 177"/>
                <a:gd name="T39" fmla="*/ 123 h 188"/>
                <a:gd name="T40" fmla="*/ 42 w 177"/>
                <a:gd name="T41" fmla="*/ 120 h 188"/>
                <a:gd name="T42" fmla="*/ 44 w 177"/>
                <a:gd name="T43" fmla="*/ 112 h 188"/>
                <a:gd name="T44" fmla="*/ 38 w 177"/>
                <a:gd name="T45" fmla="*/ 112 h 188"/>
                <a:gd name="T46" fmla="*/ 32 w 177"/>
                <a:gd name="T47" fmla="*/ 116 h 188"/>
                <a:gd name="T48" fmla="*/ 34 w 177"/>
                <a:gd name="T49" fmla="*/ 121 h 188"/>
                <a:gd name="T50" fmla="*/ 3 w 177"/>
                <a:gd name="T51" fmla="*/ 150 h 188"/>
                <a:gd name="T52" fmla="*/ 2 w 177"/>
                <a:gd name="T53" fmla="*/ 158 h 188"/>
                <a:gd name="T54" fmla="*/ 5 w 177"/>
                <a:gd name="T55" fmla="*/ 159 h 188"/>
                <a:gd name="T56" fmla="*/ 9 w 177"/>
                <a:gd name="T57" fmla="*/ 165 h 188"/>
                <a:gd name="T58" fmla="*/ 11 w 177"/>
                <a:gd name="T59" fmla="*/ 175 h 188"/>
                <a:gd name="T60" fmla="*/ 13 w 177"/>
                <a:gd name="T61" fmla="*/ 180 h 188"/>
                <a:gd name="T62" fmla="*/ 17 w 177"/>
                <a:gd name="T63" fmla="*/ 182 h 188"/>
                <a:gd name="T64" fmla="*/ 23 w 177"/>
                <a:gd name="T65" fmla="*/ 184 h 188"/>
                <a:gd name="T66" fmla="*/ 28 w 177"/>
                <a:gd name="T67" fmla="*/ 182 h 188"/>
                <a:gd name="T68" fmla="*/ 44 w 177"/>
                <a:gd name="T69" fmla="*/ 163 h 188"/>
                <a:gd name="T70" fmla="*/ 42 w 177"/>
                <a:gd name="T71" fmla="*/ 159 h 188"/>
                <a:gd name="T72" fmla="*/ 40 w 177"/>
                <a:gd name="T73" fmla="*/ 158 h 188"/>
                <a:gd name="T74" fmla="*/ 55 w 177"/>
                <a:gd name="T75" fmla="*/ 152 h 188"/>
                <a:gd name="T76" fmla="*/ 68 w 177"/>
                <a:gd name="T77" fmla="*/ 156 h 188"/>
                <a:gd name="T78" fmla="*/ 76 w 177"/>
                <a:gd name="T79" fmla="*/ 156 h 188"/>
                <a:gd name="T80" fmla="*/ 80 w 177"/>
                <a:gd name="T81" fmla="*/ 158 h 188"/>
                <a:gd name="T82" fmla="*/ 99 w 177"/>
                <a:gd name="T83" fmla="*/ 152 h 188"/>
                <a:gd name="T84" fmla="*/ 114 w 177"/>
                <a:gd name="T85" fmla="*/ 139 h 188"/>
                <a:gd name="T86" fmla="*/ 114 w 177"/>
                <a:gd name="T87" fmla="*/ 148 h 188"/>
                <a:gd name="T88" fmla="*/ 116 w 177"/>
                <a:gd name="T89" fmla="*/ 161 h 188"/>
                <a:gd name="T90" fmla="*/ 127 w 177"/>
                <a:gd name="T91" fmla="*/ 159 h 188"/>
                <a:gd name="T92" fmla="*/ 139 w 177"/>
                <a:gd name="T93" fmla="*/ 152 h 188"/>
                <a:gd name="T94" fmla="*/ 141 w 177"/>
                <a:gd name="T95" fmla="*/ 148 h 188"/>
                <a:gd name="T96" fmla="*/ 154 w 177"/>
                <a:gd name="T97" fmla="*/ 135 h 188"/>
                <a:gd name="T98" fmla="*/ 154 w 177"/>
                <a:gd name="T99" fmla="*/ 114 h 188"/>
                <a:gd name="T100" fmla="*/ 167 w 177"/>
                <a:gd name="T101" fmla="*/ 100 h 188"/>
                <a:gd name="T102" fmla="*/ 162 w 177"/>
                <a:gd name="T103" fmla="*/ 87 h 188"/>
                <a:gd name="T104" fmla="*/ 160 w 177"/>
                <a:gd name="T105" fmla="*/ 85 h 188"/>
                <a:gd name="T106" fmla="*/ 160 w 177"/>
                <a:gd name="T107" fmla="*/ 66 h 188"/>
                <a:gd name="T108" fmla="*/ 160 w 177"/>
                <a:gd name="T109" fmla="*/ 55 h 188"/>
                <a:gd name="T110" fmla="*/ 165 w 177"/>
                <a:gd name="T111" fmla="*/ 45 h 188"/>
                <a:gd name="T112" fmla="*/ 171 w 177"/>
                <a:gd name="T113" fmla="*/ 40 h 188"/>
                <a:gd name="T114" fmla="*/ 177 w 177"/>
                <a:gd name="T115" fmla="*/ 4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7" h="188">
                  <a:moveTo>
                    <a:pt x="177" y="36"/>
                  </a:moveTo>
                  <a:lnTo>
                    <a:pt x="175" y="32"/>
                  </a:lnTo>
                  <a:lnTo>
                    <a:pt x="175" y="32"/>
                  </a:lnTo>
                  <a:lnTo>
                    <a:pt x="175" y="30"/>
                  </a:lnTo>
                  <a:lnTo>
                    <a:pt x="175" y="28"/>
                  </a:lnTo>
                  <a:lnTo>
                    <a:pt x="175" y="24"/>
                  </a:lnTo>
                  <a:lnTo>
                    <a:pt x="175" y="24"/>
                  </a:lnTo>
                  <a:lnTo>
                    <a:pt x="175" y="24"/>
                  </a:lnTo>
                  <a:lnTo>
                    <a:pt x="173" y="23"/>
                  </a:lnTo>
                  <a:lnTo>
                    <a:pt x="173" y="21"/>
                  </a:lnTo>
                  <a:lnTo>
                    <a:pt x="171" y="21"/>
                  </a:lnTo>
                  <a:lnTo>
                    <a:pt x="171" y="19"/>
                  </a:lnTo>
                  <a:lnTo>
                    <a:pt x="173" y="17"/>
                  </a:lnTo>
                  <a:lnTo>
                    <a:pt x="173" y="17"/>
                  </a:lnTo>
                  <a:lnTo>
                    <a:pt x="173" y="17"/>
                  </a:lnTo>
                  <a:lnTo>
                    <a:pt x="173" y="15"/>
                  </a:lnTo>
                  <a:lnTo>
                    <a:pt x="175" y="15"/>
                  </a:lnTo>
                  <a:lnTo>
                    <a:pt x="175" y="15"/>
                  </a:lnTo>
                  <a:lnTo>
                    <a:pt x="175" y="13"/>
                  </a:lnTo>
                  <a:lnTo>
                    <a:pt x="175" y="9"/>
                  </a:lnTo>
                  <a:lnTo>
                    <a:pt x="175" y="7"/>
                  </a:lnTo>
                  <a:lnTo>
                    <a:pt x="175" y="5"/>
                  </a:lnTo>
                  <a:lnTo>
                    <a:pt x="173" y="5"/>
                  </a:lnTo>
                  <a:lnTo>
                    <a:pt x="171" y="4"/>
                  </a:lnTo>
                  <a:lnTo>
                    <a:pt x="171" y="4"/>
                  </a:lnTo>
                  <a:lnTo>
                    <a:pt x="171" y="4"/>
                  </a:lnTo>
                  <a:lnTo>
                    <a:pt x="169" y="0"/>
                  </a:lnTo>
                  <a:lnTo>
                    <a:pt x="169" y="2"/>
                  </a:lnTo>
                  <a:lnTo>
                    <a:pt x="167" y="2"/>
                  </a:lnTo>
                  <a:lnTo>
                    <a:pt x="167" y="4"/>
                  </a:lnTo>
                  <a:lnTo>
                    <a:pt x="167" y="4"/>
                  </a:lnTo>
                  <a:lnTo>
                    <a:pt x="167" y="4"/>
                  </a:lnTo>
                  <a:lnTo>
                    <a:pt x="167" y="4"/>
                  </a:lnTo>
                  <a:lnTo>
                    <a:pt x="156" y="11"/>
                  </a:lnTo>
                  <a:lnTo>
                    <a:pt x="156" y="11"/>
                  </a:lnTo>
                  <a:lnTo>
                    <a:pt x="154" y="11"/>
                  </a:lnTo>
                  <a:lnTo>
                    <a:pt x="152" y="11"/>
                  </a:lnTo>
                  <a:lnTo>
                    <a:pt x="150" y="11"/>
                  </a:lnTo>
                  <a:lnTo>
                    <a:pt x="150" y="11"/>
                  </a:lnTo>
                  <a:lnTo>
                    <a:pt x="146" y="9"/>
                  </a:lnTo>
                  <a:lnTo>
                    <a:pt x="146" y="9"/>
                  </a:lnTo>
                  <a:lnTo>
                    <a:pt x="146" y="9"/>
                  </a:lnTo>
                  <a:lnTo>
                    <a:pt x="145" y="9"/>
                  </a:lnTo>
                  <a:lnTo>
                    <a:pt x="145" y="9"/>
                  </a:lnTo>
                  <a:lnTo>
                    <a:pt x="143" y="13"/>
                  </a:lnTo>
                  <a:lnTo>
                    <a:pt x="141" y="13"/>
                  </a:lnTo>
                  <a:lnTo>
                    <a:pt x="139" y="19"/>
                  </a:lnTo>
                  <a:lnTo>
                    <a:pt x="135" y="23"/>
                  </a:lnTo>
                  <a:lnTo>
                    <a:pt x="131" y="26"/>
                  </a:lnTo>
                  <a:lnTo>
                    <a:pt x="125" y="30"/>
                  </a:lnTo>
                  <a:lnTo>
                    <a:pt x="124" y="32"/>
                  </a:lnTo>
                  <a:lnTo>
                    <a:pt x="116" y="34"/>
                  </a:lnTo>
                  <a:lnTo>
                    <a:pt x="112" y="34"/>
                  </a:lnTo>
                  <a:lnTo>
                    <a:pt x="112" y="34"/>
                  </a:lnTo>
                  <a:lnTo>
                    <a:pt x="112" y="34"/>
                  </a:lnTo>
                  <a:lnTo>
                    <a:pt x="110" y="36"/>
                  </a:lnTo>
                  <a:lnTo>
                    <a:pt x="110" y="36"/>
                  </a:lnTo>
                  <a:lnTo>
                    <a:pt x="108" y="38"/>
                  </a:lnTo>
                  <a:lnTo>
                    <a:pt x="106" y="38"/>
                  </a:lnTo>
                  <a:lnTo>
                    <a:pt x="106" y="38"/>
                  </a:lnTo>
                  <a:lnTo>
                    <a:pt x="106" y="38"/>
                  </a:lnTo>
                  <a:lnTo>
                    <a:pt x="104" y="38"/>
                  </a:lnTo>
                  <a:lnTo>
                    <a:pt x="104" y="40"/>
                  </a:lnTo>
                  <a:lnTo>
                    <a:pt x="101" y="43"/>
                  </a:lnTo>
                  <a:lnTo>
                    <a:pt x="101" y="45"/>
                  </a:lnTo>
                  <a:lnTo>
                    <a:pt x="101" y="45"/>
                  </a:lnTo>
                  <a:lnTo>
                    <a:pt x="101" y="47"/>
                  </a:lnTo>
                  <a:lnTo>
                    <a:pt x="101" y="49"/>
                  </a:lnTo>
                  <a:lnTo>
                    <a:pt x="99" y="51"/>
                  </a:lnTo>
                  <a:lnTo>
                    <a:pt x="97" y="53"/>
                  </a:lnTo>
                  <a:lnTo>
                    <a:pt x="95" y="55"/>
                  </a:lnTo>
                  <a:lnTo>
                    <a:pt x="95" y="55"/>
                  </a:lnTo>
                  <a:lnTo>
                    <a:pt x="93" y="57"/>
                  </a:lnTo>
                  <a:lnTo>
                    <a:pt x="91" y="57"/>
                  </a:lnTo>
                  <a:lnTo>
                    <a:pt x="91" y="57"/>
                  </a:lnTo>
                  <a:lnTo>
                    <a:pt x="89" y="57"/>
                  </a:lnTo>
                  <a:lnTo>
                    <a:pt x="89" y="57"/>
                  </a:lnTo>
                  <a:lnTo>
                    <a:pt x="89" y="55"/>
                  </a:lnTo>
                  <a:lnTo>
                    <a:pt x="89" y="55"/>
                  </a:lnTo>
                  <a:lnTo>
                    <a:pt x="89" y="55"/>
                  </a:lnTo>
                  <a:lnTo>
                    <a:pt x="89" y="53"/>
                  </a:lnTo>
                  <a:lnTo>
                    <a:pt x="87" y="51"/>
                  </a:lnTo>
                  <a:lnTo>
                    <a:pt x="85" y="49"/>
                  </a:lnTo>
                  <a:lnTo>
                    <a:pt x="84" y="53"/>
                  </a:lnTo>
                  <a:lnTo>
                    <a:pt x="80" y="57"/>
                  </a:lnTo>
                  <a:lnTo>
                    <a:pt x="80" y="59"/>
                  </a:lnTo>
                  <a:lnTo>
                    <a:pt x="80" y="61"/>
                  </a:lnTo>
                  <a:lnTo>
                    <a:pt x="78" y="66"/>
                  </a:lnTo>
                  <a:lnTo>
                    <a:pt x="78" y="68"/>
                  </a:lnTo>
                  <a:lnTo>
                    <a:pt x="78" y="70"/>
                  </a:lnTo>
                  <a:lnTo>
                    <a:pt x="76" y="70"/>
                  </a:lnTo>
                  <a:lnTo>
                    <a:pt x="74" y="72"/>
                  </a:lnTo>
                  <a:lnTo>
                    <a:pt x="70" y="76"/>
                  </a:lnTo>
                  <a:lnTo>
                    <a:pt x="63" y="87"/>
                  </a:lnTo>
                  <a:lnTo>
                    <a:pt x="61" y="89"/>
                  </a:lnTo>
                  <a:lnTo>
                    <a:pt x="61" y="89"/>
                  </a:lnTo>
                  <a:lnTo>
                    <a:pt x="63" y="91"/>
                  </a:lnTo>
                  <a:lnTo>
                    <a:pt x="63" y="93"/>
                  </a:lnTo>
                  <a:lnTo>
                    <a:pt x="61" y="99"/>
                  </a:lnTo>
                  <a:lnTo>
                    <a:pt x="61" y="100"/>
                  </a:lnTo>
                  <a:lnTo>
                    <a:pt x="61" y="100"/>
                  </a:lnTo>
                  <a:lnTo>
                    <a:pt x="61" y="100"/>
                  </a:lnTo>
                  <a:lnTo>
                    <a:pt x="59" y="102"/>
                  </a:lnTo>
                  <a:lnTo>
                    <a:pt x="59" y="104"/>
                  </a:lnTo>
                  <a:lnTo>
                    <a:pt x="59" y="106"/>
                  </a:lnTo>
                  <a:lnTo>
                    <a:pt x="59" y="108"/>
                  </a:lnTo>
                  <a:lnTo>
                    <a:pt x="59" y="108"/>
                  </a:lnTo>
                  <a:lnTo>
                    <a:pt x="59" y="108"/>
                  </a:lnTo>
                  <a:lnTo>
                    <a:pt x="59" y="110"/>
                  </a:lnTo>
                  <a:lnTo>
                    <a:pt x="61" y="112"/>
                  </a:lnTo>
                  <a:lnTo>
                    <a:pt x="61" y="112"/>
                  </a:lnTo>
                  <a:lnTo>
                    <a:pt x="59" y="114"/>
                  </a:lnTo>
                  <a:lnTo>
                    <a:pt x="59" y="114"/>
                  </a:lnTo>
                  <a:lnTo>
                    <a:pt x="57" y="118"/>
                  </a:lnTo>
                  <a:lnTo>
                    <a:pt x="55" y="120"/>
                  </a:lnTo>
                  <a:lnTo>
                    <a:pt x="53" y="121"/>
                  </a:lnTo>
                  <a:lnTo>
                    <a:pt x="51" y="121"/>
                  </a:lnTo>
                  <a:lnTo>
                    <a:pt x="45" y="123"/>
                  </a:lnTo>
                  <a:lnTo>
                    <a:pt x="44" y="123"/>
                  </a:lnTo>
                  <a:lnTo>
                    <a:pt x="42" y="123"/>
                  </a:lnTo>
                  <a:lnTo>
                    <a:pt x="42" y="123"/>
                  </a:lnTo>
                  <a:lnTo>
                    <a:pt x="40" y="123"/>
                  </a:lnTo>
                  <a:lnTo>
                    <a:pt x="40" y="123"/>
                  </a:lnTo>
                  <a:lnTo>
                    <a:pt x="40" y="121"/>
                  </a:lnTo>
                  <a:lnTo>
                    <a:pt x="42" y="121"/>
                  </a:lnTo>
                  <a:lnTo>
                    <a:pt x="42" y="120"/>
                  </a:lnTo>
                  <a:lnTo>
                    <a:pt x="44" y="120"/>
                  </a:lnTo>
                  <a:lnTo>
                    <a:pt x="44" y="118"/>
                  </a:lnTo>
                  <a:lnTo>
                    <a:pt x="44" y="116"/>
                  </a:lnTo>
                  <a:lnTo>
                    <a:pt x="44" y="116"/>
                  </a:lnTo>
                  <a:lnTo>
                    <a:pt x="44" y="114"/>
                  </a:lnTo>
                  <a:lnTo>
                    <a:pt x="44" y="112"/>
                  </a:lnTo>
                  <a:lnTo>
                    <a:pt x="42" y="112"/>
                  </a:lnTo>
                  <a:lnTo>
                    <a:pt x="42" y="112"/>
                  </a:lnTo>
                  <a:lnTo>
                    <a:pt x="40" y="110"/>
                  </a:lnTo>
                  <a:lnTo>
                    <a:pt x="40" y="110"/>
                  </a:lnTo>
                  <a:lnTo>
                    <a:pt x="38" y="110"/>
                  </a:lnTo>
                  <a:lnTo>
                    <a:pt x="38" y="112"/>
                  </a:lnTo>
                  <a:lnTo>
                    <a:pt x="36" y="112"/>
                  </a:lnTo>
                  <a:lnTo>
                    <a:pt x="34" y="114"/>
                  </a:lnTo>
                  <a:lnTo>
                    <a:pt x="32" y="114"/>
                  </a:lnTo>
                  <a:lnTo>
                    <a:pt x="32" y="116"/>
                  </a:lnTo>
                  <a:lnTo>
                    <a:pt x="32" y="116"/>
                  </a:lnTo>
                  <a:lnTo>
                    <a:pt x="32" y="116"/>
                  </a:lnTo>
                  <a:lnTo>
                    <a:pt x="32" y="118"/>
                  </a:lnTo>
                  <a:lnTo>
                    <a:pt x="34" y="120"/>
                  </a:lnTo>
                  <a:lnTo>
                    <a:pt x="34" y="120"/>
                  </a:lnTo>
                  <a:lnTo>
                    <a:pt x="34" y="120"/>
                  </a:lnTo>
                  <a:lnTo>
                    <a:pt x="34" y="120"/>
                  </a:lnTo>
                  <a:lnTo>
                    <a:pt x="34" y="121"/>
                  </a:lnTo>
                  <a:lnTo>
                    <a:pt x="24" y="129"/>
                  </a:lnTo>
                  <a:lnTo>
                    <a:pt x="23" y="131"/>
                  </a:lnTo>
                  <a:lnTo>
                    <a:pt x="17" y="139"/>
                  </a:lnTo>
                  <a:lnTo>
                    <a:pt x="13" y="142"/>
                  </a:lnTo>
                  <a:lnTo>
                    <a:pt x="7" y="146"/>
                  </a:lnTo>
                  <a:lnTo>
                    <a:pt x="3" y="150"/>
                  </a:lnTo>
                  <a:lnTo>
                    <a:pt x="2" y="152"/>
                  </a:lnTo>
                  <a:lnTo>
                    <a:pt x="0" y="152"/>
                  </a:lnTo>
                  <a:lnTo>
                    <a:pt x="0" y="154"/>
                  </a:lnTo>
                  <a:lnTo>
                    <a:pt x="0" y="156"/>
                  </a:lnTo>
                  <a:lnTo>
                    <a:pt x="2" y="156"/>
                  </a:lnTo>
                  <a:lnTo>
                    <a:pt x="2" y="158"/>
                  </a:lnTo>
                  <a:lnTo>
                    <a:pt x="3" y="158"/>
                  </a:lnTo>
                  <a:lnTo>
                    <a:pt x="3" y="158"/>
                  </a:lnTo>
                  <a:lnTo>
                    <a:pt x="3" y="158"/>
                  </a:lnTo>
                  <a:lnTo>
                    <a:pt x="3" y="158"/>
                  </a:lnTo>
                  <a:lnTo>
                    <a:pt x="3" y="159"/>
                  </a:lnTo>
                  <a:lnTo>
                    <a:pt x="5" y="159"/>
                  </a:lnTo>
                  <a:lnTo>
                    <a:pt x="5" y="161"/>
                  </a:lnTo>
                  <a:lnTo>
                    <a:pt x="5" y="161"/>
                  </a:lnTo>
                  <a:lnTo>
                    <a:pt x="7" y="163"/>
                  </a:lnTo>
                  <a:lnTo>
                    <a:pt x="7" y="163"/>
                  </a:lnTo>
                  <a:lnTo>
                    <a:pt x="9" y="163"/>
                  </a:lnTo>
                  <a:lnTo>
                    <a:pt x="9" y="165"/>
                  </a:lnTo>
                  <a:lnTo>
                    <a:pt x="9" y="165"/>
                  </a:lnTo>
                  <a:lnTo>
                    <a:pt x="11" y="167"/>
                  </a:lnTo>
                  <a:lnTo>
                    <a:pt x="11" y="169"/>
                  </a:lnTo>
                  <a:lnTo>
                    <a:pt x="11" y="169"/>
                  </a:lnTo>
                  <a:lnTo>
                    <a:pt x="11" y="171"/>
                  </a:lnTo>
                  <a:lnTo>
                    <a:pt x="11" y="175"/>
                  </a:lnTo>
                  <a:lnTo>
                    <a:pt x="11" y="177"/>
                  </a:lnTo>
                  <a:lnTo>
                    <a:pt x="11" y="178"/>
                  </a:lnTo>
                  <a:lnTo>
                    <a:pt x="11" y="178"/>
                  </a:lnTo>
                  <a:lnTo>
                    <a:pt x="11" y="178"/>
                  </a:lnTo>
                  <a:lnTo>
                    <a:pt x="13" y="180"/>
                  </a:lnTo>
                  <a:lnTo>
                    <a:pt x="13" y="180"/>
                  </a:lnTo>
                  <a:lnTo>
                    <a:pt x="13" y="180"/>
                  </a:lnTo>
                  <a:lnTo>
                    <a:pt x="15" y="180"/>
                  </a:lnTo>
                  <a:lnTo>
                    <a:pt x="15" y="180"/>
                  </a:lnTo>
                  <a:lnTo>
                    <a:pt x="15" y="180"/>
                  </a:lnTo>
                  <a:lnTo>
                    <a:pt x="15" y="180"/>
                  </a:lnTo>
                  <a:lnTo>
                    <a:pt x="17" y="182"/>
                  </a:lnTo>
                  <a:lnTo>
                    <a:pt x="17" y="182"/>
                  </a:lnTo>
                  <a:lnTo>
                    <a:pt x="17" y="182"/>
                  </a:lnTo>
                  <a:lnTo>
                    <a:pt x="19" y="182"/>
                  </a:lnTo>
                  <a:lnTo>
                    <a:pt x="21" y="184"/>
                  </a:lnTo>
                  <a:lnTo>
                    <a:pt x="21" y="184"/>
                  </a:lnTo>
                  <a:lnTo>
                    <a:pt x="23" y="184"/>
                  </a:lnTo>
                  <a:lnTo>
                    <a:pt x="23" y="186"/>
                  </a:lnTo>
                  <a:lnTo>
                    <a:pt x="24" y="188"/>
                  </a:lnTo>
                  <a:lnTo>
                    <a:pt x="24" y="188"/>
                  </a:lnTo>
                  <a:lnTo>
                    <a:pt x="26" y="188"/>
                  </a:lnTo>
                  <a:lnTo>
                    <a:pt x="26" y="186"/>
                  </a:lnTo>
                  <a:lnTo>
                    <a:pt x="28" y="182"/>
                  </a:lnTo>
                  <a:lnTo>
                    <a:pt x="32" y="177"/>
                  </a:lnTo>
                  <a:lnTo>
                    <a:pt x="32" y="177"/>
                  </a:lnTo>
                  <a:lnTo>
                    <a:pt x="32" y="175"/>
                  </a:lnTo>
                  <a:lnTo>
                    <a:pt x="34" y="173"/>
                  </a:lnTo>
                  <a:lnTo>
                    <a:pt x="36" y="171"/>
                  </a:lnTo>
                  <a:lnTo>
                    <a:pt x="44" y="163"/>
                  </a:lnTo>
                  <a:lnTo>
                    <a:pt x="44" y="161"/>
                  </a:lnTo>
                  <a:lnTo>
                    <a:pt x="44" y="161"/>
                  </a:lnTo>
                  <a:lnTo>
                    <a:pt x="44" y="161"/>
                  </a:lnTo>
                  <a:lnTo>
                    <a:pt x="44" y="159"/>
                  </a:lnTo>
                  <a:lnTo>
                    <a:pt x="44" y="159"/>
                  </a:lnTo>
                  <a:lnTo>
                    <a:pt x="42" y="159"/>
                  </a:lnTo>
                  <a:lnTo>
                    <a:pt x="40" y="158"/>
                  </a:lnTo>
                  <a:lnTo>
                    <a:pt x="40" y="158"/>
                  </a:lnTo>
                  <a:lnTo>
                    <a:pt x="40" y="158"/>
                  </a:lnTo>
                  <a:lnTo>
                    <a:pt x="40" y="158"/>
                  </a:lnTo>
                  <a:lnTo>
                    <a:pt x="40" y="158"/>
                  </a:lnTo>
                  <a:lnTo>
                    <a:pt x="40" y="158"/>
                  </a:lnTo>
                  <a:lnTo>
                    <a:pt x="40" y="156"/>
                  </a:lnTo>
                  <a:lnTo>
                    <a:pt x="40" y="156"/>
                  </a:lnTo>
                  <a:lnTo>
                    <a:pt x="40" y="154"/>
                  </a:lnTo>
                  <a:lnTo>
                    <a:pt x="42" y="154"/>
                  </a:lnTo>
                  <a:lnTo>
                    <a:pt x="44" y="154"/>
                  </a:lnTo>
                  <a:lnTo>
                    <a:pt x="55" y="152"/>
                  </a:lnTo>
                  <a:lnTo>
                    <a:pt x="59" y="152"/>
                  </a:lnTo>
                  <a:lnTo>
                    <a:pt x="61" y="152"/>
                  </a:lnTo>
                  <a:lnTo>
                    <a:pt x="64" y="152"/>
                  </a:lnTo>
                  <a:lnTo>
                    <a:pt x="64" y="152"/>
                  </a:lnTo>
                  <a:lnTo>
                    <a:pt x="66" y="154"/>
                  </a:lnTo>
                  <a:lnTo>
                    <a:pt x="68" y="156"/>
                  </a:lnTo>
                  <a:lnTo>
                    <a:pt x="68" y="156"/>
                  </a:lnTo>
                  <a:lnTo>
                    <a:pt x="70" y="156"/>
                  </a:lnTo>
                  <a:lnTo>
                    <a:pt x="72" y="156"/>
                  </a:lnTo>
                  <a:lnTo>
                    <a:pt x="72" y="156"/>
                  </a:lnTo>
                  <a:lnTo>
                    <a:pt x="76" y="156"/>
                  </a:lnTo>
                  <a:lnTo>
                    <a:pt x="76" y="156"/>
                  </a:lnTo>
                  <a:lnTo>
                    <a:pt x="78" y="156"/>
                  </a:lnTo>
                  <a:lnTo>
                    <a:pt x="78" y="158"/>
                  </a:lnTo>
                  <a:lnTo>
                    <a:pt x="78" y="158"/>
                  </a:lnTo>
                  <a:lnTo>
                    <a:pt x="78" y="158"/>
                  </a:lnTo>
                  <a:lnTo>
                    <a:pt x="78" y="158"/>
                  </a:lnTo>
                  <a:lnTo>
                    <a:pt x="80" y="158"/>
                  </a:lnTo>
                  <a:lnTo>
                    <a:pt x="82" y="158"/>
                  </a:lnTo>
                  <a:lnTo>
                    <a:pt x="85" y="158"/>
                  </a:lnTo>
                  <a:lnTo>
                    <a:pt x="91" y="156"/>
                  </a:lnTo>
                  <a:lnTo>
                    <a:pt x="95" y="156"/>
                  </a:lnTo>
                  <a:lnTo>
                    <a:pt x="97" y="154"/>
                  </a:lnTo>
                  <a:lnTo>
                    <a:pt x="99" y="152"/>
                  </a:lnTo>
                  <a:lnTo>
                    <a:pt x="101" y="150"/>
                  </a:lnTo>
                  <a:lnTo>
                    <a:pt x="101" y="148"/>
                  </a:lnTo>
                  <a:lnTo>
                    <a:pt x="104" y="146"/>
                  </a:lnTo>
                  <a:lnTo>
                    <a:pt x="106" y="144"/>
                  </a:lnTo>
                  <a:lnTo>
                    <a:pt x="114" y="139"/>
                  </a:lnTo>
                  <a:lnTo>
                    <a:pt x="114" y="139"/>
                  </a:lnTo>
                  <a:lnTo>
                    <a:pt x="114" y="139"/>
                  </a:lnTo>
                  <a:lnTo>
                    <a:pt x="114" y="140"/>
                  </a:lnTo>
                  <a:lnTo>
                    <a:pt x="114" y="140"/>
                  </a:lnTo>
                  <a:lnTo>
                    <a:pt x="114" y="142"/>
                  </a:lnTo>
                  <a:lnTo>
                    <a:pt x="114" y="146"/>
                  </a:lnTo>
                  <a:lnTo>
                    <a:pt x="114" y="148"/>
                  </a:lnTo>
                  <a:lnTo>
                    <a:pt x="112" y="150"/>
                  </a:lnTo>
                  <a:lnTo>
                    <a:pt x="110" y="156"/>
                  </a:lnTo>
                  <a:lnTo>
                    <a:pt x="110" y="156"/>
                  </a:lnTo>
                  <a:lnTo>
                    <a:pt x="112" y="158"/>
                  </a:lnTo>
                  <a:lnTo>
                    <a:pt x="112" y="159"/>
                  </a:lnTo>
                  <a:lnTo>
                    <a:pt x="116" y="161"/>
                  </a:lnTo>
                  <a:lnTo>
                    <a:pt x="118" y="163"/>
                  </a:lnTo>
                  <a:lnTo>
                    <a:pt x="122" y="163"/>
                  </a:lnTo>
                  <a:lnTo>
                    <a:pt x="122" y="163"/>
                  </a:lnTo>
                  <a:lnTo>
                    <a:pt x="122" y="161"/>
                  </a:lnTo>
                  <a:lnTo>
                    <a:pt x="125" y="159"/>
                  </a:lnTo>
                  <a:lnTo>
                    <a:pt x="127" y="159"/>
                  </a:lnTo>
                  <a:lnTo>
                    <a:pt x="129" y="159"/>
                  </a:lnTo>
                  <a:lnTo>
                    <a:pt x="131" y="159"/>
                  </a:lnTo>
                  <a:lnTo>
                    <a:pt x="133" y="158"/>
                  </a:lnTo>
                  <a:lnTo>
                    <a:pt x="137" y="154"/>
                  </a:lnTo>
                  <a:lnTo>
                    <a:pt x="137" y="152"/>
                  </a:lnTo>
                  <a:lnTo>
                    <a:pt x="139" y="152"/>
                  </a:lnTo>
                  <a:lnTo>
                    <a:pt x="141" y="152"/>
                  </a:lnTo>
                  <a:lnTo>
                    <a:pt x="141" y="150"/>
                  </a:lnTo>
                  <a:lnTo>
                    <a:pt x="141" y="150"/>
                  </a:lnTo>
                  <a:lnTo>
                    <a:pt x="141" y="150"/>
                  </a:lnTo>
                  <a:lnTo>
                    <a:pt x="141" y="148"/>
                  </a:lnTo>
                  <a:lnTo>
                    <a:pt x="141" y="148"/>
                  </a:lnTo>
                  <a:lnTo>
                    <a:pt x="141" y="148"/>
                  </a:lnTo>
                  <a:lnTo>
                    <a:pt x="143" y="148"/>
                  </a:lnTo>
                  <a:lnTo>
                    <a:pt x="150" y="135"/>
                  </a:lnTo>
                  <a:lnTo>
                    <a:pt x="150" y="135"/>
                  </a:lnTo>
                  <a:lnTo>
                    <a:pt x="152" y="135"/>
                  </a:lnTo>
                  <a:lnTo>
                    <a:pt x="154" y="135"/>
                  </a:lnTo>
                  <a:lnTo>
                    <a:pt x="154" y="133"/>
                  </a:lnTo>
                  <a:lnTo>
                    <a:pt x="156" y="131"/>
                  </a:lnTo>
                  <a:lnTo>
                    <a:pt x="154" y="129"/>
                  </a:lnTo>
                  <a:lnTo>
                    <a:pt x="152" y="120"/>
                  </a:lnTo>
                  <a:lnTo>
                    <a:pt x="154" y="118"/>
                  </a:lnTo>
                  <a:lnTo>
                    <a:pt x="154" y="114"/>
                  </a:lnTo>
                  <a:lnTo>
                    <a:pt x="154" y="114"/>
                  </a:lnTo>
                  <a:lnTo>
                    <a:pt x="158" y="112"/>
                  </a:lnTo>
                  <a:lnTo>
                    <a:pt x="160" y="112"/>
                  </a:lnTo>
                  <a:lnTo>
                    <a:pt x="164" y="106"/>
                  </a:lnTo>
                  <a:lnTo>
                    <a:pt x="167" y="104"/>
                  </a:lnTo>
                  <a:lnTo>
                    <a:pt x="167" y="100"/>
                  </a:lnTo>
                  <a:lnTo>
                    <a:pt x="167" y="99"/>
                  </a:lnTo>
                  <a:lnTo>
                    <a:pt x="165" y="99"/>
                  </a:lnTo>
                  <a:lnTo>
                    <a:pt x="164" y="97"/>
                  </a:lnTo>
                  <a:lnTo>
                    <a:pt x="162" y="97"/>
                  </a:lnTo>
                  <a:lnTo>
                    <a:pt x="162" y="89"/>
                  </a:lnTo>
                  <a:lnTo>
                    <a:pt x="162" y="87"/>
                  </a:lnTo>
                  <a:lnTo>
                    <a:pt x="162" y="87"/>
                  </a:lnTo>
                  <a:lnTo>
                    <a:pt x="162" y="87"/>
                  </a:lnTo>
                  <a:lnTo>
                    <a:pt x="162" y="85"/>
                  </a:lnTo>
                  <a:lnTo>
                    <a:pt x="162" y="85"/>
                  </a:lnTo>
                  <a:lnTo>
                    <a:pt x="160" y="85"/>
                  </a:lnTo>
                  <a:lnTo>
                    <a:pt x="160" y="85"/>
                  </a:lnTo>
                  <a:lnTo>
                    <a:pt x="160" y="83"/>
                  </a:lnTo>
                  <a:lnTo>
                    <a:pt x="158" y="81"/>
                  </a:lnTo>
                  <a:lnTo>
                    <a:pt x="158" y="78"/>
                  </a:lnTo>
                  <a:lnTo>
                    <a:pt x="158" y="72"/>
                  </a:lnTo>
                  <a:lnTo>
                    <a:pt x="158" y="70"/>
                  </a:lnTo>
                  <a:lnTo>
                    <a:pt x="160" y="66"/>
                  </a:lnTo>
                  <a:lnTo>
                    <a:pt x="160" y="64"/>
                  </a:lnTo>
                  <a:lnTo>
                    <a:pt x="160" y="62"/>
                  </a:lnTo>
                  <a:lnTo>
                    <a:pt x="158" y="59"/>
                  </a:lnTo>
                  <a:lnTo>
                    <a:pt x="158" y="57"/>
                  </a:lnTo>
                  <a:lnTo>
                    <a:pt x="158" y="55"/>
                  </a:lnTo>
                  <a:lnTo>
                    <a:pt x="160" y="55"/>
                  </a:lnTo>
                  <a:lnTo>
                    <a:pt x="164" y="51"/>
                  </a:lnTo>
                  <a:lnTo>
                    <a:pt x="164" y="49"/>
                  </a:lnTo>
                  <a:lnTo>
                    <a:pt x="164" y="49"/>
                  </a:lnTo>
                  <a:lnTo>
                    <a:pt x="164" y="47"/>
                  </a:lnTo>
                  <a:lnTo>
                    <a:pt x="164" y="47"/>
                  </a:lnTo>
                  <a:lnTo>
                    <a:pt x="165" y="45"/>
                  </a:lnTo>
                  <a:lnTo>
                    <a:pt x="165" y="43"/>
                  </a:lnTo>
                  <a:lnTo>
                    <a:pt x="165" y="43"/>
                  </a:lnTo>
                  <a:lnTo>
                    <a:pt x="167" y="42"/>
                  </a:lnTo>
                  <a:lnTo>
                    <a:pt x="169" y="42"/>
                  </a:lnTo>
                  <a:lnTo>
                    <a:pt x="169" y="42"/>
                  </a:lnTo>
                  <a:lnTo>
                    <a:pt x="171" y="40"/>
                  </a:lnTo>
                  <a:lnTo>
                    <a:pt x="171" y="38"/>
                  </a:lnTo>
                  <a:lnTo>
                    <a:pt x="173" y="38"/>
                  </a:lnTo>
                  <a:lnTo>
                    <a:pt x="175" y="38"/>
                  </a:lnTo>
                  <a:lnTo>
                    <a:pt x="175" y="40"/>
                  </a:lnTo>
                  <a:lnTo>
                    <a:pt x="177" y="40"/>
                  </a:lnTo>
                  <a:lnTo>
                    <a:pt x="177" y="40"/>
                  </a:lnTo>
                  <a:lnTo>
                    <a:pt x="177" y="36"/>
                  </a:lnTo>
                  <a:close/>
                </a:path>
              </a:pathLst>
            </a:custGeom>
            <a:solidFill>
              <a:srgbClr val="F2F2F2"/>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80" name="Freeform 29">
              <a:extLst>
                <a:ext uri="{FF2B5EF4-FFF2-40B4-BE49-F238E27FC236}">
                  <a16:creationId xmlns:a16="http://schemas.microsoft.com/office/drawing/2014/main" id="{F1CC9C31-7F76-11B2-B9CC-AAC7D2D3FDBF}"/>
                </a:ext>
              </a:extLst>
            </p:cNvPr>
            <p:cNvSpPr>
              <a:spLocks/>
            </p:cNvSpPr>
            <p:nvPr/>
          </p:nvSpPr>
          <p:spPr bwMode="auto">
            <a:xfrm>
              <a:off x="5396095" y="3005482"/>
              <a:ext cx="333917" cy="318008"/>
            </a:xfrm>
            <a:custGeom>
              <a:avLst/>
              <a:gdLst>
                <a:gd name="T0" fmla="*/ 175 w 177"/>
                <a:gd name="T1" fmla="*/ 24 h 188"/>
                <a:gd name="T2" fmla="*/ 171 w 177"/>
                <a:gd name="T3" fmla="*/ 19 h 188"/>
                <a:gd name="T4" fmla="*/ 175 w 177"/>
                <a:gd name="T5" fmla="*/ 15 h 188"/>
                <a:gd name="T6" fmla="*/ 171 w 177"/>
                <a:gd name="T7" fmla="*/ 4 h 188"/>
                <a:gd name="T8" fmla="*/ 167 w 177"/>
                <a:gd name="T9" fmla="*/ 4 h 188"/>
                <a:gd name="T10" fmla="*/ 154 w 177"/>
                <a:gd name="T11" fmla="*/ 11 h 188"/>
                <a:gd name="T12" fmla="*/ 146 w 177"/>
                <a:gd name="T13" fmla="*/ 9 h 188"/>
                <a:gd name="T14" fmla="*/ 135 w 177"/>
                <a:gd name="T15" fmla="*/ 23 h 188"/>
                <a:gd name="T16" fmla="*/ 112 w 177"/>
                <a:gd name="T17" fmla="*/ 34 h 188"/>
                <a:gd name="T18" fmla="*/ 106 w 177"/>
                <a:gd name="T19" fmla="*/ 38 h 188"/>
                <a:gd name="T20" fmla="*/ 101 w 177"/>
                <a:gd name="T21" fmla="*/ 45 h 188"/>
                <a:gd name="T22" fmla="*/ 95 w 177"/>
                <a:gd name="T23" fmla="*/ 55 h 188"/>
                <a:gd name="T24" fmla="*/ 89 w 177"/>
                <a:gd name="T25" fmla="*/ 55 h 188"/>
                <a:gd name="T26" fmla="*/ 84 w 177"/>
                <a:gd name="T27" fmla="*/ 53 h 188"/>
                <a:gd name="T28" fmla="*/ 78 w 177"/>
                <a:gd name="T29" fmla="*/ 70 h 188"/>
                <a:gd name="T30" fmla="*/ 61 w 177"/>
                <a:gd name="T31" fmla="*/ 89 h 188"/>
                <a:gd name="T32" fmla="*/ 61 w 177"/>
                <a:gd name="T33" fmla="*/ 100 h 188"/>
                <a:gd name="T34" fmla="*/ 59 w 177"/>
                <a:gd name="T35" fmla="*/ 108 h 188"/>
                <a:gd name="T36" fmla="*/ 57 w 177"/>
                <a:gd name="T37" fmla="*/ 118 h 188"/>
                <a:gd name="T38" fmla="*/ 42 w 177"/>
                <a:gd name="T39" fmla="*/ 123 h 188"/>
                <a:gd name="T40" fmla="*/ 42 w 177"/>
                <a:gd name="T41" fmla="*/ 120 h 188"/>
                <a:gd name="T42" fmla="*/ 44 w 177"/>
                <a:gd name="T43" fmla="*/ 112 h 188"/>
                <a:gd name="T44" fmla="*/ 38 w 177"/>
                <a:gd name="T45" fmla="*/ 112 h 188"/>
                <a:gd name="T46" fmla="*/ 32 w 177"/>
                <a:gd name="T47" fmla="*/ 116 h 188"/>
                <a:gd name="T48" fmla="*/ 34 w 177"/>
                <a:gd name="T49" fmla="*/ 121 h 188"/>
                <a:gd name="T50" fmla="*/ 3 w 177"/>
                <a:gd name="T51" fmla="*/ 150 h 188"/>
                <a:gd name="T52" fmla="*/ 2 w 177"/>
                <a:gd name="T53" fmla="*/ 158 h 188"/>
                <a:gd name="T54" fmla="*/ 5 w 177"/>
                <a:gd name="T55" fmla="*/ 159 h 188"/>
                <a:gd name="T56" fmla="*/ 9 w 177"/>
                <a:gd name="T57" fmla="*/ 165 h 188"/>
                <a:gd name="T58" fmla="*/ 11 w 177"/>
                <a:gd name="T59" fmla="*/ 175 h 188"/>
                <a:gd name="T60" fmla="*/ 13 w 177"/>
                <a:gd name="T61" fmla="*/ 180 h 188"/>
                <a:gd name="T62" fmla="*/ 17 w 177"/>
                <a:gd name="T63" fmla="*/ 182 h 188"/>
                <a:gd name="T64" fmla="*/ 23 w 177"/>
                <a:gd name="T65" fmla="*/ 184 h 188"/>
                <a:gd name="T66" fmla="*/ 28 w 177"/>
                <a:gd name="T67" fmla="*/ 182 h 188"/>
                <a:gd name="T68" fmla="*/ 44 w 177"/>
                <a:gd name="T69" fmla="*/ 163 h 188"/>
                <a:gd name="T70" fmla="*/ 42 w 177"/>
                <a:gd name="T71" fmla="*/ 159 h 188"/>
                <a:gd name="T72" fmla="*/ 40 w 177"/>
                <a:gd name="T73" fmla="*/ 158 h 188"/>
                <a:gd name="T74" fmla="*/ 55 w 177"/>
                <a:gd name="T75" fmla="*/ 152 h 188"/>
                <a:gd name="T76" fmla="*/ 68 w 177"/>
                <a:gd name="T77" fmla="*/ 156 h 188"/>
                <a:gd name="T78" fmla="*/ 76 w 177"/>
                <a:gd name="T79" fmla="*/ 156 h 188"/>
                <a:gd name="T80" fmla="*/ 80 w 177"/>
                <a:gd name="T81" fmla="*/ 158 h 188"/>
                <a:gd name="T82" fmla="*/ 99 w 177"/>
                <a:gd name="T83" fmla="*/ 152 h 188"/>
                <a:gd name="T84" fmla="*/ 114 w 177"/>
                <a:gd name="T85" fmla="*/ 139 h 188"/>
                <a:gd name="T86" fmla="*/ 114 w 177"/>
                <a:gd name="T87" fmla="*/ 148 h 188"/>
                <a:gd name="T88" fmla="*/ 116 w 177"/>
                <a:gd name="T89" fmla="*/ 161 h 188"/>
                <a:gd name="T90" fmla="*/ 127 w 177"/>
                <a:gd name="T91" fmla="*/ 159 h 188"/>
                <a:gd name="T92" fmla="*/ 139 w 177"/>
                <a:gd name="T93" fmla="*/ 152 h 188"/>
                <a:gd name="T94" fmla="*/ 141 w 177"/>
                <a:gd name="T95" fmla="*/ 148 h 188"/>
                <a:gd name="T96" fmla="*/ 154 w 177"/>
                <a:gd name="T97" fmla="*/ 135 h 188"/>
                <a:gd name="T98" fmla="*/ 154 w 177"/>
                <a:gd name="T99" fmla="*/ 114 h 188"/>
                <a:gd name="T100" fmla="*/ 167 w 177"/>
                <a:gd name="T101" fmla="*/ 100 h 188"/>
                <a:gd name="T102" fmla="*/ 162 w 177"/>
                <a:gd name="T103" fmla="*/ 87 h 188"/>
                <a:gd name="T104" fmla="*/ 160 w 177"/>
                <a:gd name="T105" fmla="*/ 85 h 188"/>
                <a:gd name="T106" fmla="*/ 160 w 177"/>
                <a:gd name="T107" fmla="*/ 66 h 188"/>
                <a:gd name="T108" fmla="*/ 160 w 177"/>
                <a:gd name="T109" fmla="*/ 55 h 188"/>
                <a:gd name="T110" fmla="*/ 165 w 177"/>
                <a:gd name="T111" fmla="*/ 45 h 188"/>
                <a:gd name="T112" fmla="*/ 171 w 177"/>
                <a:gd name="T113" fmla="*/ 40 h 188"/>
                <a:gd name="T114" fmla="*/ 177 w 177"/>
                <a:gd name="T115" fmla="*/ 4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7" h="188">
                  <a:moveTo>
                    <a:pt x="177" y="36"/>
                  </a:moveTo>
                  <a:lnTo>
                    <a:pt x="175" y="32"/>
                  </a:lnTo>
                  <a:lnTo>
                    <a:pt x="175" y="32"/>
                  </a:lnTo>
                  <a:lnTo>
                    <a:pt x="175" y="30"/>
                  </a:lnTo>
                  <a:lnTo>
                    <a:pt x="175" y="28"/>
                  </a:lnTo>
                  <a:lnTo>
                    <a:pt x="175" y="24"/>
                  </a:lnTo>
                  <a:lnTo>
                    <a:pt x="175" y="24"/>
                  </a:lnTo>
                  <a:lnTo>
                    <a:pt x="175" y="24"/>
                  </a:lnTo>
                  <a:lnTo>
                    <a:pt x="173" y="23"/>
                  </a:lnTo>
                  <a:lnTo>
                    <a:pt x="173" y="21"/>
                  </a:lnTo>
                  <a:lnTo>
                    <a:pt x="171" y="21"/>
                  </a:lnTo>
                  <a:lnTo>
                    <a:pt x="171" y="19"/>
                  </a:lnTo>
                  <a:lnTo>
                    <a:pt x="173" y="17"/>
                  </a:lnTo>
                  <a:lnTo>
                    <a:pt x="173" y="17"/>
                  </a:lnTo>
                  <a:lnTo>
                    <a:pt x="173" y="17"/>
                  </a:lnTo>
                  <a:lnTo>
                    <a:pt x="173" y="15"/>
                  </a:lnTo>
                  <a:lnTo>
                    <a:pt x="175" y="15"/>
                  </a:lnTo>
                  <a:lnTo>
                    <a:pt x="175" y="15"/>
                  </a:lnTo>
                  <a:lnTo>
                    <a:pt x="175" y="13"/>
                  </a:lnTo>
                  <a:lnTo>
                    <a:pt x="175" y="9"/>
                  </a:lnTo>
                  <a:lnTo>
                    <a:pt x="175" y="7"/>
                  </a:lnTo>
                  <a:lnTo>
                    <a:pt x="175" y="5"/>
                  </a:lnTo>
                  <a:lnTo>
                    <a:pt x="173" y="5"/>
                  </a:lnTo>
                  <a:lnTo>
                    <a:pt x="171" y="4"/>
                  </a:lnTo>
                  <a:lnTo>
                    <a:pt x="171" y="4"/>
                  </a:lnTo>
                  <a:lnTo>
                    <a:pt x="171" y="4"/>
                  </a:lnTo>
                  <a:lnTo>
                    <a:pt x="169" y="0"/>
                  </a:lnTo>
                  <a:lnTo>
                    <a:pt x="169" y="2"/>
                  </a:lnTo>
                  <a:lnTo>
                    <a:pt x="167" y="2"/>
                  </a:lnTo>
                  <a:lnTo>
                    <a:pt x="167" y="4"/>
                  </a:lnTo>
                  <a:lnTo>
                    <a:pt x="167" y="4"/>
                  </a:lnTo>
                  <a:lnTo>
                    <a:pt x="167" y="4"/>
                  </a:lnTo>
                  <a:lnTo>
                    <a:pt x="167" y="4"/>
                  </a:lnTo>
                  <a:lnTo>
                    <a:pt x="156" y="11"/>
                  </a:lnTo>
                  <a:lnTo>
                    <a:pt x="156" y="11"/>
                  </a:lnTo>
                  <a:lnTo>
                    <a:pt x="154" y="11"/>
                  </a:lnTo>
                  <a:lnTo>
                    <a:pt x="152" y="11"/>
                  </a:lnTo>
                  <a:lnTo>
                    <a:pt x="150" y="11"/>
                  </a:lnTo>
                  <a:lnTo>
                    <a:pt x="150" y="11"/>
                  </a:lnTo>
                  <a:lnTo>
                    <a:pt x="146" y="9"/>
                  </a:lnTo>
                  <a:lnTo>
                    <a:pt x="146" y="9"/>
                  </a:lnTo>
                  <a:lnTo>
                    <a:pt x="146" y="9"/>
                  </a:lnTo>
                  <a:lnTo>
                    <a:pt x="145" y="9"/>
                  </a:lnTo>
                  <a:lnTo>
                    <a:pt x="145" y="9"/>
                  </a:lnTo>
                  <a:lnTo>
                    <a:pt x="143" y="13"/>
                  </a:lnTo>
                  <a:lnTo>
                    <a:pt x="141" y="13"/>
                  </a:lnTo>
                  <a:lnTo>
                    <a:pt x="139" y="19"/>
                  </a:lnTo>
                  <a:lnTo>
                    <a:pt x="135" y="23"/>
                  </a:lnTo>
                  <a:lnTo>
                    <a:pt x="131" y="26"/>
                  </a:lnTo>
                  <a:lnTo>
                    <a:pt x="125" y="30"/>
                  </a:lnTo>
                  <a:lnTo>
                    <a:pt x="124" y="32"/>
                  </a:lnTo>
                  <a:lnTo>
                    <a:pt x="116" y="34"/>
                  </a:lnTo>
                  <a:lnTo>
                    <a:pt x="112" y="34"/>
                  </a:lnTo>
                  <a:lnTo>
                    <a:pt x="112" y="34"/>
                  </a:lnTo>
                  <a:lnTo>
                    <a:pt x="112" y="34"/>
                  </a:lnTo>
                  <a:lnTo>
                    <a:pt x="110" y="36"/>
                  </a:lnTo>
                  <a:lnTo>
                    <a:pt x="110" y="36"/>
                  </a:lnTo>
                  <a:lnTo>
                    <a:pt x="108" y="38"/>
                  </a:lnTo>
                  <a:lnTo>
                    <a:pt x="106" y="38"/>
                  </a:lnTo>
                  <a:lnTo>
                    <a:pt x="106" y="38"/>
                  </a:lnTo>
                  <a:lnTo>
                    <a:pt x="106" y="38"/>
                  </a:lnTo>
                  <a:lnTo>
                    <a:pt x="104" y="38"/>
                  </a:lnTo>
                  <a:lnTo>
                    <a:pt x="104" y="40"/>
                  </a:lnTo>
                  <a:lnTo>
                    <a:pt x="101" y="43"/>
                  </a:lnTo>
                  <a:lnTo>
                    <a:pt x="101" y="45"/>
                  </a:lnTo>
                  <a:lnTo>
                    <a:pt x="101" y="45"/>
                  </a:lnTo>
                  <a:lnTo>
                    <a:pt x="101" y="47"/>
                  </a:lnTo>
                  <a:lnTo>
                    <a:pt x="101" y="49"/>
                  </a:lnTo>
                  <a:lnTo>
                    <a:pt x="99" y="51"/>
                  </a:lnTo>
                  <a:lnTo>
                    <a:pt x="97" y="53"/>
                  </a:lnTo>
                  <a:lnTo>
                    <a:pt x="95" y="55"/>
                  </a:lnTo>
                  <a:lnTo>
                    <a:pt x="95" y="55"/>
                  </a:lnTo>
                  <a:lnTo>
                    <a:pt x="93" y="57"/>
                  </a:lnTo>
                  <a:lnTo>
                    <a:pt x="91" y="57"/>
                  </a:lnTo>
                  <a:lnTo>
                    <a:pt x="91" y="57"/>
                  </a:lnTo>
                  <a:lnTo>
                    <a:pt x="89" y="57"/>
                  </a:lnTo>
                  <a:lnTo>
                    <a:pt x="89" y="57"/>
                  </a:lnTo>
                  <a:lnTo>
                    <a:pt x="89" y="55"/>
                  </a:lnTo>
                  <a:lnTo>
                    <a:pt x="89" y="55"/>
                  </a:lnTo>
                  <a:lnTo>
                    <a:pt x="89" y="55"/>
                  </a:lnTo>
                  <a:lnTo>
                    <a:pt x="89" y="53"/>
                  </a:lnTo>
                  <a:lnTo>
                    <a:pt x="87" y="51"/>
                  </a:lnTo>
                  <a:lnTo>
                    <a:pt x="85" y="49"/>
                  </a:lnTo>
                  <a:lnTo>
                    <a:pt x="84" y="53"/>
                  </a:lnTo>
                  <a:lnTo>
                    <a:pt x="80" y="57"/>
                  </a:lnTo>
                  <a:lnTo>
                    <a:pt x="80" y="59"/>
                  </a:lnTo>
                  <a:lnTo>
                    <a:pt x="80" y="61"/>
                  </a:lnTo>
                  <a:lnTo>
                    <a:pt x="78" y="66"/>
                  </a:lnTo>
                  <a:lnTo>
                    <a:pt x="78" y="68"/>
                  </a:lnTo>
                  <a:lnTo>
                    <a:pt x="78" y="70"/>
                  </a:lnTo>
                  <a:lnTo>
                    <a:pt x="76" y="70"/>
                  </a:lnTo>
                  <a:lnTo>
                    <a:pt x="74" y="72"/>
                  </a:lnTo>
                  <a:lnTo>
                    <a:pt x="70" y="76"/>
                  </a:lnTo>
                  <a:lnTo>
                    <a:pt x="63" y="87"/>
                  </a:lnTo>
                  <a:lnTo>
                    <a:pt x="61" y="89"/>
                  </a:lnTo>
                  <a:lnTo>
                    <a:pt x="61" y="89"/>
                  </a:lnTo>
                  <a:lnTo>
                    <a:pt x="63" y="91"/>
                  </a:lnTo>
                  <a:lnTo>
                    <a:pt x="63" y="93"/>
                  </a:lnTo>
                  <a:lnTo>
                    <a:pt x="61" y="99"/>
                  </a:lnTo>
                  <a:lnTo>
                    <a:pt x="61" y="100"/>
                  </a:lnTo>
                  <a:lnTo>
                    <a:pt x="61" y="100"/>
                  </a:lnTo>
                  <a:lnTo>
                    <a:pt x="61" y="100"/>
                  </a:lnTo>
                  <a:lnTo>
                    <a:pt x="59" y="102"/>
                  </a:lnTo>
                  <a:lnTo>
                    <a:pt x="59" y="104"/>
                  </a:lnTo>
                  <a:lnTo>
                    <a:pt x="59" y="106"/>
                  </a:lnTo>
                  <a:lnTo>
                    <a:pt x="59" y="108"/>
                  </a:lnTo>
                  <a:lnTo>
                    <a:pt x="59" y="108"/>
                  </a:lnTo>
                  <a:lnTo>
                    <a:pt x="59" y="108"/>
                  </a:lnTo>
                  <a:lnTo>
                    <a:pt x="59" y="110"/>
                  </a:lnTo>
                  <a:lnTo>
                    <a:pt x="61" y="112"/>
                  </a:lnTo>
                  <a:lnTo>
                    <a:pt x="61" y="112"/>
                  </a:lnTo>
                  <a:lnTo>
                    <a:pt x="59" y="114"/>
                  </a:lnTo>
                  <a:lnTo>
                    <a:pt x="59" y="114"/>
                  </a:lnTo>
                  <a:lnTo>
                    <a:pt x="57" y="118"/>
                  </a:lnTo>
                  <a:lnTo>
                    <a:pt x="55" y="120"/>
                  </a:lnTo>
                  <a:lnTo>
                    <a:pt x="53" y="121"/>
                  </a:lnTo>
                  <a:lnTo>
                    <a:pt x="51" y="121"/>
                  </a:lnTo>
                  <a:lnTo>
                    <a:pt x="45" y="123"/>
                  </a:lnTo>
                  <a:lnTo>
                    <a:pt x="44" y="123"/>
                  </a:lnTo>
                  <a:lnTo>
                    <a:pt x="42" y="123"/>
                  </a:lnTo>
                  <a:lnTo>
                    <a:pt x="42" y="123"/>
                  </a:lnTo>
                  <a:lnTo>
                    <a:pt x="40" y="123"/>
                  </a:lnTo>
                  <a:lnTo>
                    <a:pt x="40" y="123"/>
                  </a:lnTo>
                  <a:lnTo>
                    <a:pt x="40" y="121"/>
                  </a:lnTo>
                  <a:lnTo>
                    <a:pt x="42" y="121"/>
                  </a:lnTo>
                  <a:lnTo>
                    <a:pt x="42" y="120"/>
                  </a:lnTo>
                  <a:lnTo>
                    <a:pt x="44" y="120"/>
                  </a:lnTo>
                  <a:lnTo>
                    <a:pt x="44" y="118"/>
                  </a:lnTo>
                  <a:lnTo>
                    <a:pt x="44" y="116"/>
                  </a:lnTo>
                  <a:lnTo>
                    <a:pt x="44" y="116"/>
                  </a:lnTo>
                  <a:lnTo>
                    <a:pt x="44" y="114"/>
                  </a:lnTo>
                  <a:lnTo>
                    <a:pt x="44" y="112"/>
                  </a:lnTo>
                  <a:lnTo>
                    <a:pt x="42" y="112"/>
                  </a:lnTo>
                  <a:lnTo>
                    <a:pt x="42" y="112"/>
                  </a:lnTo>
                  <a:lnTo>
                    <a:pt x="40" y="110"/>
                  </a:lnTo>
                  <a:lnTo>
                    <a:pt x="40" y="110"/>
                  </a:lnTo>
                  <a:lnTo>
                    <a:pt x="38" y="110"/>
                  </a:lnTo>
                  <a:lnTo>
                    <a:pt x="38" y="112"/>
                  </a:lnTo>
                  <a:lnTo>
                    <a:pt x="36" y="112"/>
                  </a:lnTo>
                  <a:lnTo>
                    <a:pt x="34" y="114"/>
                  </a:lnTo>
                  <a:lnTo>
                    <a:pt x="32" y="114"/>
                  </a:lnTo>
                  <a:lnTo>
                    <a:pt x="32" y="116"/>
                  </a:lnTo>
                  <a:lnTo>
                    <a:pt x="32" y="116"/>
                  </a:lnTo>
                  <a:lnTo>
                    <a:pt x="32" y="116"/>
                  </a:lnTo>
                  <a:lnTo>
                    <a:pt x="32" y="118"/>
                  </a:lnTo>
                  <a:lnTo>
                    <a:pt x="34" y="120"/>
                  </a:lnTo>
                  <a:lnTo>
                    <a:pt x="34" y="120"/>
                  </a:lnTo>
                  <a:lnTo>
                    <a:pt x="34" y="120"/>
                  </a:lnTo>
                  <a:lnTo>
                    <a:pt x="34" y="120"/>
                  </a:lnTo>
                  <a:lnTo>
                    <a:pt x="34" y="121"/>
                  </a:lnTo>
                  <a:lnTo>
                    <a:pt x="24" y="129"/>
                  </a:lnTo>
                  <a:lnTo>
                    <a:pt x="23" y="131"/>
                  </a:lnTo>
                  <a:lnTo>
                    <a:pt x="17" y="139"/>
                  </a:lnTo>
                  <a:lnTo>
                    <a:pt x="13" y="142"/>
                  </a:lnTo>
                  <a:lnTo>
                    <a:pt x="7" y="146"/>
                  </a:lnTo>
                  <a:lnTo>
                    <a:pt x="3" y="150"/>
                  </a:lnTo>
                  <a:lnTo>
                    <a:pt x="2" y="152"/>
                  </a:lnTo>
                  <a:lnTo>
                    <a:pt x="0" y="152"/>
                  </a:lnTo>
                  <a:lnTo>
                    <a:pt x="0" y="154"/>
                  </a:lnTo>
                  <a:lnTo>
                    <a:pt x="0" y="156"/>
                  </a:lnTo>
                  <a:lnTo>
                    <a:pt x="2" y="156"/>
                  </a:lnTo>
                  <a:lnTo>
                    <a:pt x="2" y="158"/>
                  </a:lnTo>
                  <a:lnTo>
                    <a:pt x="3" y="158"/>
                  </a:lnTo>
                  <a:lnTo>
                    <a:pt x="3" y="158"/>
                  </a:lnTo>
                  <a:lnTo>
                    <a:pt x="3" y="158"/>
                  </a:lnTo>
                  <a:lnTo>
                    <a:pt x="3" y="158"/>
                  </a:lnTo>
                  <a:lnTo>
                    <a:pt x="3" y="159"/>
                  </a:lnTo>
                  <a:lnTo>
                    <a:pt x="5" y="159"/>
                  </a:lnTo>
                  <a:lnTo>
                    <a:pt x="5" y="161"/>
                  </a:lnTo>
                  <a:lnTo>
                    <a:pt x="5" y="161"/>
                  </a:lnTo>
                  <a:lnTo>
                    <a:pt x="7" y="163"/>
                  </a:lnTo>
                  <a:lnTo>
                    <a:pt x="7" y="163"/>
                  </a:lnTo>
                  <a:lnTo>
                    <a:pt x="9" y="163"/>
                  </a:lnTo>
                  <a:lnTo>
                    <a:pt x="9" y="165"/>
                  </a:lnTo>
                  <a:lnTo>
                    <a:pt x="9" y="165"/>
                  </a:lnTo>
                  <a:lnTo>
                    <a:pt x="11" y="167"/>
                  </a:lnTo>
                  <a:lnTo>
                    <a:pt x="11" y="169"/>
                  </a:lnTo>
                  <a:lnTo>
                    <a:pt x="11" y="169"/>
                  </a:lnTo>
                  <a:lnTo>
                    <a:pt x="11" y="171"/>
                  </a:lnTo>
                  <a:lnTo>
                    <a:pt x="11" y="175"/>
                  </a:lnTo>
                  <a:lnTo>
                    <a:pt x="11" y="177"/>
                  </a:lnTo>
                  <a:lnTo>
                    <a:pt x="11" y="178"/>
                  </a:lnTo>
                  <a:lnTo>
                    <a:pt x="11" y="178"/>
                  </a:lnTo>
                  <a:lnTo>
                    <a:pt x="11" y="178"/>
                  </a:lnTo>
                  <a:lnTo>
                    <a:pt x="13" y="180"/>
                  </a:lnTo>
                  <a:lnTo>
                    <a:pt x="13" y="180"/>
                  </a:lnTo>
                  <a:lnTo>
                    <a:pt x="13" y="180"/>
                  </a:lnTo>
                  <a:lnTo>
                    <a:pt x="15" y="180"/>
                  </a:lnTo>
                  <a:lnTo>
                    <a:pt x="15" y="180"/>
                  </a:lnTo>
                  <a:lnTo>
                    <a:pt x="15" y="180"/>
                  </a:lnTo>
                  <a:lnTo>
                    <a:pt x="15" y="180"/>
                  </a:lnTo>
                  <a:lnTo>
                    <a:pt x="17" y="182"/>
                  </a:lnTo>
                  <a:lnTo>
                    <a:pt x="17" y="182"/>
                  </a:lnTo>
                  <a:lnTo>
                    <a:pt x="17" y="182"/>
                  </a:lnTo>
                  <a:lnTo>
                    <a:pt x="19" y="182"/>
                  </a:lnTo>
                  <a:lnTo>
                    <a:pt x="21" y="184"/>
                  </a:lnTo>
                  <a:lnTo>
                    <a:pt x="21" y="184"/>
                  </a:lnTo>
                  <a:lnTo>
                    <a:pt x="23" y="184"/>
                  </a:lnTo>
                  <a:lnTo>
                    <a:pt x="23" y="186"/>
                  </a:lnTo>
                  <a:lnTo>
                    <a:pt x="24" y="188"/>
                  </a:lnTo>
                  <a:lnTo>
                    <a:pt x="24" y="188"/>
                  </a:lnTo>
                  <a:lnTo>
                    <a:pt x="26" y="188"/>
                  </a:lnTo>
                  <a:lnTo>
                    <a:pt x="26" y="186"/>
                  </a:lnTo>
                  <a:lnTo>
                    <a:pt x="28" y="182"/>
                  </a:lnTo>
                  <a:lnTo>
                    <a:pt x="32" y="177"/>
                  </a:lnTo>
                  <a:lnTo>
                    <a:pt x="32" y="177"/>
                  </a:lnTo>
                  <a:lnTo>
                    <a:pt x="32" y="175"/>
                  </a:lnTo>
                  <a:lnTo>
                    <a:pt x="34" y="173"/>
                  </a:lnTo>
                  <a:lnTo>
                    <a:pt x="36" y="171"/>
                  </a:lnTo>
                  <a:lnTo>
                    <a:pt x="44" y="163"/>
                  </a:lnTo>
                  <a:lnTo>
                    <a:pt x="44" y="161"/>
                  </a:lnTo>
                  <a:lnTo>
                    <a:pt x="44" y="161"/>
                  </a:lnTo>
                  <a:lnTo>
                    <a:pt x="44" y="161"/>
                  </a:lnTo>
                  <a:lnTo>
                    <a:pt x="44" y="159"/>
                  </a:lnTo>
                  <a:lnTo>
                    <a:pt x="44" y="159"/>
                  </a:lnTo>
                  <a:lnTo>
                    <a:pt x="42" y="159"/>
                  </a:lnTo>
                  <a:lnTo>
                    <a:pt x="40" y="158"/>
                  </a:lnTo>
                  <a:lnTo>
                    <a:pt x="40" y="158"/>
                  </a:lnTo>
                  <a:lnTo>
                    <a:pt x="40" y="158"/>
                  </a:lnTo>
                  <a:lnTo>
                    <a:pt x="40" y="158"/>
                  </a:lnTo>
                  <a:lnTo>
                    <a:pt x="40" y="158"/>
                  </a:lnTo>
                  <a:lnTo>
                    <a:pt x="40" y="158"/>
                  </a:lnTo>
                  <a:lnTo>
                    <a:pt x="40" y="156"/>
                  </a:lnTo>
                  <a:lnTo>
                    <a:pt x="40" y="156"/>
                  </a:lnTo>
                  <a:lnTo>
                    <a:pt x="40" y="154"/>
                  </a:lnTo>
                  <a:lnTo>
                    <a:pt x="42" y="154"/>
                  </a:lnTo>
                  <a:lnTo>
                    <a:pt x="44" y="154"/>
                  </a:lnTo>
                  <a:lnTo>
                    <a:pt x="55" y="152"/>
                  </a:lnTo>
                  <a:lnTo>
                    <a:pt x="59" y="152"/>
                  </a:lnTo>
                  <a:lnTo>
                    <a:pt x="61" y="152"/>
                  </a:lnTo>
                  <a:lnTo>
                    <a:pt x="64" y="152"/>
                  </a:lnTo>
                  <a:lnTo>
                    <a:pt x="64" y="152"/>
                  </a:lnTo>
                  <a:lnTo>
                    <a:pt x="66" y="154"/>
                  </a:lnTo>
                  <a:lnTo>
                    <a:pt x="68" y="156"/>
                  </a:lnTo>
                  <a:lnTo>
                    <a:pt x="68" y="156"/>
                  </a:lnTo>
                  <a:lnTo>
                    <a:pt x="70" y="156"/>
                  </a:lnTo>
                  <a:lnTo>
                    <a:pt x="72" y="156"/>
                  </a:lnTo>
                  <a:lnTo>
                    <a:pt x="72" y="156"/>
                  </a:lnTo>
                  <a:lnTo>
                    <a:pt x="76" y="156"/>
                  </a:lnTo>
                  <a:lnTo>
                    <a:pt x="76" y="156"/>
                  </a:lnTo>
                  <a:lnTo>
                    <a:pt x="78" y="156"/>
                  </a:lnTo>
                  <a:lnTo>
                    <a:pt x="78" y="158"/>
                  </a:lnTo>
                  <a:lnTo>
                    <a:pt x="78" y="158"/>
                  </a:lnTo>
                  <a:lnTo>
                    <a:pt x="78" y="158"/>
                  </a:lnTo>
                  <a:lnTo>
                    <a:pt x="78" y="158"/>
                  </a:lnTo>
                  <a:lnTo>
                    <a:pt x="80" y="158"/>
                  </a:lnTo>
                  <a:lnTo>
                    <a:pt x="82" y="158"/>
                  </a:lnTo>
                  <a:lnTo>
                    <a:pt x="85" y="158"/>
                  </a:lnTo>
                  <a:lnTo>
                    <a:pt x="91" y="156"/>
                  </a:lnTo>
                  <a:lnTo>
                    <a:pt x="95" y="156"/>
                  </a:lnTo>
                  <a:lnTo>
                    <a:pt x="97" y="154"/>
                  </a:lnTo>
                  <a:lnTo>
                    <a:pt x="99" y="152"/>
                  </a:lnTo>
                  <a:lnTo>
                    <a:pt x="101" y="150"/>
                  </a:lnTo>
                  <a:lnTo>
                    <a:pt x="101" y="148"/>
                  </a:lnTo>
                  <a:lnTo>
                    <a:pt x="104" y="146"/>
                  </a:lnTo>
                  <a:lnTo>
                    <a:pt x="106" y="144"/>
                  </a:lnTo>
                  <a:lnTo>
                    <a:pt x="114" y="139"/>
                  </a:lnTo>
                  <a:lnTo>
                    <a:pt x="114" y="139"/>
                  </a:lnTo>
                  <a:lnTo>
                    <a:pt x="114" y="139"/>
                  </a:lnTo>
                  <a:lnTo>
                    <a:pt x="114" y="140"/>
                  </a:lnTo>
                  <a:lnTo>
                    <a:pt x="114" y="140"/>
                  </a:lnTo>
                  <a:lnTo>
                    <a:pt x="114" y="142"/>
                  </a:lnTo>
                  <a:lnTo>
                    <a:pt x="114" y="146"/>
                  </a:lnTo>
                  <a:lnTo>
                    <a:pt x="114" y="148"/>
                  </a:lnTo>
                  <a:lnTo>
                    <a:pt x="112" y="150"/>
                  </a:lnTo>
                  <a:lnTo>
                    <a:pt x="110" y="156"/>
                  </a:lnTo>
                  <a:lnTo>
                    <a:pt x="110" y="156"/>
                  </a:lnTo>
                  <a:lnTo>
                    <a:pt x="112" y="158"/>
                  </a:lnTo>
                  <a:lnTo>
                    <a:pt x="112" y="159"/>
                  </a:lnTo>
                  <a:lnTo>
                    <a:pt x="116" y="161"/>
                  </a:lnTo>
                  <a:lnTo>
                    <a:pt x="118" y="163"/>
                  </a:lnTo>
                  <a:lnTo>
                    <a:pt x="122" y="163"/>
                  </a:lnTo>
                  <a:lnTo>
                    <a:pt x="122" y="163"/>
                  </a:lnTo>
                  <a:lnTo>
                    <a:pt x="122" y="161"/>
                  </a:lnTo>
                  <a:lnTo>
                    <a:pt x="125" y="159"/>
                  </a:lnTo>
                  <a:lnTo>
                    <a:pt x="127" y="159"/>
                  </a:lnTo>
                  <a:lnTo>
                    <a:pt x="129" y="159"/>
                  </a:lnTo>
                  <a:lnTo>
                    <a:pt x="131" y="159"/>
                  </a:lnTo>
                  <a:lnTo>
                    <a:pt x="133" y="158"/>
                  </a:lnTo>
                  <a:lnTo>
                    <a:pt x="137" y="154"/>
                  </a:lnTo>
                  <a:lnTo>
                    <a:pt x="137" y="152"/>
                  </a:lnTo>
                  <a:lnTo>
                    <a:pt x="139" y="152"/>
                  </a:lnTo>
                  <a:lnTo>
                    <a:pt x="141" y="152"/>
                  </a:lnTo>
                  <a:lnTo>
                    <a:pt x="141" y="150"/>
                  </a:lnTo>
                  <a:lnTo>
                    <a:pt x="141" y="150"/>
                  </a:lnTo>
                  <a:lnTo>
                    <a:pt x="141" y="150"/>
                  </a:lnTo>
                  <a:lnTo>
                    <a:pt x="141" y="148"/>
                  </a:lnTo>
                  <a:lnTo>
                    <a:pt x="141" y="148"/>
                  </a:lnTo>
                  <a:lnTo>
                    <a:pt x="141" y="148"/>
                  </a:lnTo>
                  <a:lnTo>
                    <a:pt x="143" y="148"/>
                  </a:lnTo>
                  <a:lnTo>
                    <a:pt x="150" y="135"/>
                  </a:lnTo>
                  <a:lnTo>
                    <a:pt x="150" y="135"/>
                  </a:lnTo>
                  <a:lnTo>
                    <a:pt x="152" y="135"/>
                  </a:lnTo>
                  <a:lnTo>
                    <a:pt x="154" y="135"/>
                  </a:lnTo>
                  <a:lnTo>
                    <a:pt x="154" y="133"/>
                  </a:lnTo>
                  <a:lnTo>
                    <a:pt x="156" y="131"/>
                  </a:lnTo>
                  <a:lnTo>
                    <a:pt x="154" y="129"/>
                  </a:lnTo>
                  <a:lnTo>
                    <a:pt x="152" y="120"/>
                  </a:lnTo>
                  <a:lnTo>
                    <a:pt x="154" y="118"/>
                  </a:lnTo>
                  <a:lnTo>
                    <a:pt x="154" y="114"/>
                  </a:lnTo>
                  <a:lnTo>
                    <a:pt x="154" y="114"/>
                  </a:lnTo>
                  <a:lnTo>
                    <a:pt x="158" y="112"/>
                  </a:lnTo>
                  <a:lnTo>
                    <a:pt x="160" y="112"/>
                  </a:lnTo>
                  <a:lnTo>
                    <a:pt x="164" y="106"/>
                  </a:lnTo>
                  <a:lnTo>
                    <a:pt x="167" y="104"/>
                  </a:lnTo>
                  <a:lnTo>
                    <a:pt x="167" y="100"/>
                  </a:lnTo>
                  <a:lnTo>
                    <a:pt x="167" y="99"/>
                  </a:lnTo>
                  <a:lnTo>
                    <a:pt x="165" y="99"/>
                  </a:lnTo>
                  <a:lnTo>
                    <a:pt x="164" y="97"/>
                  </a:lnTo>
                  <a:lnTo>
                    <a:pt x="162" y="97"/>
                  </a:lnTo>
                  <a:lnTo>
                    <a:pt x="162" y="89"/>
                  </a:lnTo>
                  <a:lnTo>
                    <a:pt x="162" y="87"/>
                  </a:lnTo>
                  <a:lnTo>
                    <a:pt x="162" y="87"/>
                  </a:lnTo>
                  <a:lnTo>
                    <a:pt x="162" y="87"/>
                  </a:lnTo>
                  <a:lnTo>
                    <a:pt x="162" y="85"/>
                  </a:lnTo>
                  <a:lnTo>
                    <a:pt x="162" y="85"/>
                  </a:lnTo>
                  <a:lnTo>
                    <a:pt x="160" y="85"/>
                  </a:lnTo>
                  <a:lnTo>
                    <a:pt x="160" y="85"/>
                  </a:lnTo>
                  <a:lnTo>
                    <a:pt x="160" y="83"/>
                  </a:lnTo>
                  <a:lnTo>
                    <a:pt x="158" y="81"/>
                  </a:lnTo>
                  <a:lnTo>
                    <a:pt x="158" y="78"/>
                  </a:lnTo>
                  <a:lnTo>
                    <a:pt x="158" y="72"/>
                  </a:lnTo>
                  <a:lnTo>
                    <a:pt x="158" y="70"/>
                  </a:lnTo>
                  <a:lnTo>
                    <a:pt x="160" y="66"/>
                  </a:lnTo>
                  <a:lnTo>
                    <a:pt x="160" y="64"/>
                  </a:lnTo>
                  <a:lnTo>
                    <a:pt x="160" y="62"/>
                  </a:lnTo>
                  <a:lnTo>
                    <a:pt x="158" y="59"/>
                  </a:lnTo>
                  <a:lnTo>
                    <a:pt x="158" y="57"/>
                  </a:lnTo>
                  <a:lnTo>
                    <a:pt x="158" y="55"/>
                  </a:lnTo>
                  <a:lnTo>
                    <a:pt x="160" y="55"/>
                  </a:lnTo>
                  <a:lnTo>
                    <a:pt x="164" y="51"/>
                  </a:lnTo>
                  <a:lnTo>
                    <a:pt x="164" y="49"/>
                  </a:lnTo>
                  <a:lnTo>
                    <a:pt x="164" y="49"/>
                  </a:lnTo>
                  <a:lnTo>
                    <a:pt x="164" y="47"/>
                  </a:lnTo>
                  <a:lnTo>
                    <a:pt x="164" y="47"/>
                  </a:lnTo>
                  <a:lnTo>
                    <a:pt x="165" y="45"/>
                  </a:lnTo>
                  <a:lnTo>
                    <a:pt x="165" y="43"/>
                  </a:lnTo>
                  <a:lnTo>
                    <a:pt x="165" y="43"/>
                  </a:lnTo>
                  <a:lnTo>
                    <a:pt x="167" y="42"/>
                  </a:lnTo>
                  <a:lnTo>
                    <a:pt x="169" y="42"/>
                  </a:lnTo>
                  <a:lnTo>
                    <a:pt x="169" y="42"/>
                  </a:lnTo>
                  <a:lnTo>
                    <a:pt x="171" y="40"/>
                  </a:lnTo>
                  <a:lnTo>
                    <a:pt x="171" y="38"/>
                  </a:lnTo>
                  <a:lnTo>
                    <a:pt x="173" y="38"/>
                  </a:lnTo>
                  <a:lnTo>
                    <a:pt x="175" y="38"/>
                  </a:lnTo>
                  <a:lnTo>
                    <a:pt x="175" y="40"/>
                  </a:lnTo>
                  <a:lnTo>
                    <a:pt x="177" y="40"/>
                  </a:lnTo>
                  <a:lnTo>
                    <a:pt x="177" y="40"/>
                  </a:lnTo>
                  <a:lnTo>
                    <a:pt x="177" y="36"/>
                  </a:lnTo>
                  <a:close/>
                </a:path>
              </a:pathLst>
            </a:custGeom>
            <a:solidFill>
              <a:schemeClr val="tx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81" name="Freeform 30">
              <a:extLst>
                <a:ext uri="{FF2B5EF4-FFF2-40B4-BE49-F238E27FC236}">
                  <a16:creationId xmlns:a16="http://schemas.microsoft.com/office/drawing/2014/main" id="{3D77DDD3-BBD3-5962-E924-7D10BC206619}"/>
                </a:ext>
              </a:extLst>
            </p:cNvPr>
            <p:cNvSpPr>
              <a:spLocks/>
            </p:cNvSpPr>
            <p:nvPr/>
          </p:nvSpPr>
          <p:spPr bwMode="auto">
            <a:xfrm>
              <a:off x="5209326" y="3445279"/>
              <a:ext cx="203745" cy="431341"/>
            </a:xfrm>
            <a:custGeom>
              <a:avLst/>
              <a:gdLst>
                <a:gd name="T0" fmla="*/ 106 w 108"/>
                <a:gd name="T1" fmla="*/ 80 h 255"/>
                <a:gd name="T2" fmla="*/ 101 w 108"/>
                <a:gd name="T3" fmla="*/ 59 h 255"/>
                <a:gd name="T4" fmla="*/ 97 w 108"/>
                <a:gd name="T5" fmla="*/ 48 h 255"/>
                <a:gd name="T6" fmla="*/ 91 w 108"/>
                <a:gd name="T7" fmla="*/ 48 h 255"/>
                <a:gd name="T8" fmla="*/ 89 w 108"/>
                <a:gd name="T9" fmla="*/ 44 h 255"/>
                <a:gd name="T10" fmla="*/ 87 w 108"/>
                <a:gd name="T11" fmla="*/ 46 h 255"/>
                <a:gd name="T12" fmla="*/ 83 w 108"/>
                <a:gd name="T13" fmla="*/ 44 h 255"/>
                <a:gd name="T14" fmla="*/ 80 w 108"/>
                <a:gd name="T15" fmla="*/ 46 h 255"/>
                <a:gd name="T16" fmla="*/ 74 w 108"/>
                <a:gd name="T17" fmla="*/ 42 h 255"/>
                <a:gd name="T18" fmla="*/ 66 w 108"/>
                <a:gd name="T19" fmla="*/ 38 h 255"/>
                <a:gd name="T20" fmla="*/ 68 w 108"/>
                <a:gd name="T21" fmla="*/ 31 h 255"/>
                <a:gd name="T22" fmla="*/ 70 w 108"/>
                <a:gd name="T23" fmla="*/ 23 h 255"/>
                <a:gd name="T24" fmla="*/ 72 w 108"/>
                <a:gd name="T25" fmla="*/ 15 h 255"/>
                <a:gd name="T26" fmla="*/ 66 w 108"/>
                <a:gd name="T27" fmla="*/ 12 h 255"/>
                <a:gd name="T28" fmla="*/ 53 w 108"/>
                <a:gd name="T29" fmla="*/ 12 h 255"/>
                <a:gd name="T30" fmla="*/ 45 w 108"/>
                <a:gd name="T31" fmla="*/ 2 h 255"/>
                <a:gd name="T32" fmla="*/ 34 w 108"/>
                <a:gd name="T33" fmla="*/ 19 h 255"/>
                <a:gd name="T34" fmla="*/ 32 w 108"/>
                <a:gd name="T35" fmla="*/ 27 h 255"/>
                <a:gd name="T36" fmla="*/ 22 w 108"/>
                <a:gd name="T37" fmla="*/ 34 h 255"/>
                <a:gd name="T38" fmla="*/ 17 w 108"/>
                <a:gd name="T39" fmla="*/ 36 h 255"/>
                <a:gd name="T40" fmla="*/ 15 w 108"/>
                <a:gd name="T41" fmla="*/ 29 h 255"/>
                <a:gd name="T42" fmla="*/ 15 w 108"/>
                <a:gd name="T43" fmla="*/ 27 h 255"/>
                <a:gd name="T44" fmla="*/ 3 w 108"/>
                <a:gd name="T45" fmla="*/ 29 h 255"/>
                <a:gd name="T46" fmla="*/ 5 w 108"/>
                <a:gd name="T47" fmla="*/ 40 h 255"/>
                <a:gd name="T48" fmla="*/ 5 w 108"/>
                <a:gd name="T49" fmla="*/ 48 h 255"/>
                <a:gd name="T50" fmla="*/ 5 w 108"/>
                <a:gd name="T51" fmla="*/ 55 h 255"/>
                <a:gd name="T52" fmla="*/ 5 w 108"/>
                <a:gd name="T53" fmla="*/ 61 h 255"/>
                <a:gd name="T54" fmla="*/ 5 w 108"/>
                <a:gd name="T55" fmla="*/ 65 h 255"/>
                <a:gd name="T56" fmla="*/ 3 w 108"/>
                <a:gd name="T57" fmla="*/ 65 h 255"/>
                <a:gd name="T58" fmla="*/ 2 w 108"/>
                <a:gd name="T59" fmla="*/ 67 h 255"/>
                <a:gd name="T60" fmla="*/ 0 w 108"/>
                <a:gd name="T61" fmla="*/ 71 h 255"/>
                <a:gd name="T62" fmla="*/ 0 w 108"/>
                <a:gd name="T63" fmla="*/ 90 h 255"/>
                <a:gd name="T64" fmla="*/ 5 w 108"/>
                <a:gd name="T65" fmla="*/ 111 h 255"/>
                <a:gd name="T66" fmla="*/ 7 w 108"/>
                <a:gd name="T67" fmla="*/ 114 h 255"/>
                <a:gd name="T68" fmla="*/ 9 w 108"/>
                <a:gd name="T69" fmla="*/ 122 h 255"/>
                <a:gd name="T70" fmla="*/ 9 w 108"/>
                <a:gd name="T71" fmla="*/ 154 h 255"/>
                <a:gd name="T72" fmla="*/ 17 w 108"/>
                <a:gd name="T73" fmla="*/ 173 h 255"/>
                <a:gd name="T74" fmla="*/ 22 w 108"/>
                <a:gd name="T75" fmla="*/ 194 h 255"/>
                <a:gd name="T76" fmla="*/ 28 w 108"/>
                <a:gd name="T77" fmla="*/ 236 h 255"/>
                <a:gd name="T78" fmla="*/ 28 w 108"/>
                <a:gd name="T79" fmla="*/ 253 h 255"/>
                <a:gd name="T80" fmla="*/ 34 w 108"/>
                <a:gd name="T81" fmla="*/ 249 h 255"/>
                <a:gd name="T82" fmla="*/ 36 w 108"/>
                <a:gd name="T83" fmla="*/ 242 h 255"/>
                <a:gd name="T84" fmla="*/ 38 w 108"/>
                <a:gd name="T85" fmla="*/ 236 h 255"/>
                <a:gd name="T86" fmla="*/ 55 w 108"/>
                <a:gd name="T87" fmla="*/ 247 h 255"/>
                <a:gd name="T88" fmla="*/ 59 w 108"/>
                <a:gd name="T89" fmla="*/ 247 h 255"/>
                <a:gd name="T90" fmla="*/ 64 w 108"/>
                <a:gd name="T91" fmla="*/ 251 h 255"/>
                <a:gd name="T92" fmla="*/ 66 w 108"/>
                <a:gd name="T93" fmla="*/ 249 h 255"/>
                <a:gd name="T94" fmla="*/ 68 w 108"/>
                <a:gd name="T95" fmla="*/ 240 h 255"/>
                <a:gd name="T96" fmla="*/ 70 w 108"/>
                <a:gd name="T97" fmla="*/ 230 h 255"/>
                <a:gd name="T98" fmla="*/ 80 w 108"/>
                <a:gd name="T99" fmla="*/ 232 h 255"/>
                <a:gd name="T100" fmla="*/ 82 w 108"/>
                <a:gd name="T101" fmla="*/ 227 h 255"/>
                <a:gd name="T102" fmla="*/ 82 w 108"/>
                <a:gd name="T103" fmla="*/ 208 h 255"/>
                <a:gd name="T104" fmla="*/ 78 w 108"/>
                <a:gd name="T105" fmla="*/ 190 h 255"/>
                <a:gd name="T106" fmla="*/ 78 w 108"/>
                <a:gd name="T107" fmla="*/ 170 h 255"/>
                <a:gd name="T108" fmla="*/ 83 w 108"/>
                <a:gd name="T109" fmla="*/ 158 h 255"/>
                <a:gd name="T110" fmla="*/ 83 w 108"/>
                <a:gd name="T111" fmla="*/ 145 h 255"/>
                <a:gd name="T112" fmla="*/ 95 w 108"/>
                <a:gd name="T113" fmla="*/ 149 h 255"/>
                <a:gd name="T114" fmla="*/ 102 w 108"/>
                <a:gd name="T115" fmla="*/ 133 h 255"/>
                <a:gd name="T116" fmla="*/ 106 w 108"/>
                <a:gd name="T117" fmla="*/ 116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8" h="255">
                  <a:moveTo>
                    <a:pt x="104" y="107"/>
                  </a:moveTo>
                  <a:lnTo>
                    <a:pt x="104" y="105"/>
                  </a:lnTo>
                  <a:lnTo>
                    <a:pt x="108" y="86"/>
                  </a:lnTo>
                  <a:lnTo>
                    <a:pt x="108" y="82"/>
                  </a:lnTo>
                  <a:lnTo>
                    <a:pt x="108" y="80"/>
                  </a:lnTo>
                  <a:lnTo>
                    <a:pt x="106" y="80"/>
                  </a:lnTo>
                  <a:lnTo>
                    <a:pt x="106" y="78"/>
                  </a:lnTo>
                  <a:lnTo>
                    <a:pt x="102" y="76"/>
                  </a:lnTo>
                  <a:lnTo>
                    <a:pt x="101" y="65"/>
                  </a:lnTo>
                  <a:lnTo>
                    <a:pt x="101" y="61"/>
                  </a:lnTo>
                  <a:lnTo>
                    <a:pt x="101" y="59"/>
                  </a:lnTo>
                  <a:lnTo>
                    <a:pt x="101" y="59"/>
                  </a:lnTo>
                  <a:lnTo>
                    <a:pt x="101" y="57"/>
                  </a:lnTo>
                  <a:lnTo>
                    <a:pt x="99" y="57"/>
                  </a:lnTo>
                  <a:lnTo>
                    <a:pt x="97" y="54"/>
                  </a:lnTo>
                  <a:lnTo>
                    <a:pt x="97" y="52"/>
                  </a:lnTo>
                  <a:lnTo>
                    <a:pt x="97" y="50"/>
                  </a:lnTo>
                  <a:lnTo>
                    <a:pt x="97" y="48"/>
                  </a:lnTo>
                  <a:lnTo>
                    <a:pt x="97" y="46"/>
                  </a:lnTo>
                  <a:lnTo>
                    <a:pt x="97" y="46"/>
                  </a:lnTo>
                  <a:lnTo>
                    <a:pt x="95" y="46"/>
                  </a:lnTo>
                  <a:lnTo>
                    <a:pt x="91" y="48"/>
                  </a:lnTo>
                  <a:lnTo>
                    <a:pt x="91" y="48"/>
                  </a:lnTo>
                  <a:lnTo>
                    <a:pt x="91" y="48"/>
                  </a:lnTo>
                  <a:lnTo>
                    <a:pt x="91" y="48"/>
                  </a:lnTo>
                  <a:lnTo>
                    <a:pt x="91" y="46"/>
                  </a:lnTo>
                  <a:lnTo>
                    <a:pt x="91" y="46"/>
                  </a:lnTo>
                  <a:lnTo>
                    <a:pt x="91" y="44"/>
                  </a:lnTo>
                  <a:lnTo>
                    <a:pt x="91" y="44"/>
                  </a:lnTo>
                  <a:lnTo>
                    <a:pt x="89" y="44"/>
                  </a:lnTo>
                  <a:lnTo>
                    <a:pt x="89" y="42"/>
                  </a:lnTo>
                  <a:lnTo>
                    <a:pt x="89" y="44"/>
                  </a:lnTo>
                  <a:lnTo>
                    <a:pt x="89" y="44"/>
                  </a:lnTo>
                  <a:lnTo>
                    <a:pt x="89" y="44"/>
                  </a:lnTo>
                  <a:lnTo>
                    <a:pt x="87" y="44"/>
                  </a:lnTo>
                  <a:lnTo>
                    <a:pt x="87" y="46"/>
                  </a:lnTo>
                  <a:lnTo>
                    <a:pt x="85" y="46"/>
                  </a:lnTo>
                  <a:lnTo>
                    <a:pt x="85" y="46"/>
                  </a:lnTo>
                  <a:lnTo>
                    <a:pt x="83" y="46"/>
                  </a:lnTo>
                  <a:lnTo>
                    <a:pt x="83" y="46"/>
                  </a:lnTo>
                  <a:lnTo>
                    <a:pt x="83" y="46"/>
                  </a:lnTo>
                  <a:lnTo>
                    <a:pt x="83" y="44"/>
                  </a:lnTo>
                  <a:lnTo>
                    <a:pt x="83" y="44"/>
                  </a:lnTo>
                  <a:lnTo>
                    <a:pt x="83" y="44"/>
                  </a:lnTo>
                  <a:lnTo>
                    <a:pt x="82" y="44"/>
                  </a:lnTo>
                  <a:lnTo>
                    <a:pt x="82" y="44"/>
                  </a:lnTo>
                  <a:lnTo>
                    <a:pt x="80" y="44"/>
                  </a:lnTo>
                  <a:lnTo>
                    <a:pt x="80" y="46"/>
                  </a:lnTo>
                  <a:lnTo>
                    <a:pt x="78" y="46"/>
                  </a:lnTo>
                  <a:lnTo>
                    <a:pt x="78" y="46"/>
                  </a:lnTo>
                  <a:lnTo>
                    <a:pt x="78" y="44"/>
                  </a:lnTo>
                  <a:lnTo>
                    <a:pt x="76" y="44"/>
                  </a:lnTo>
                  <a:lnTo>
                    <a:pt x="76" y="44"/>
                  </a:lnTo>
                  <a:lnTo>
                    <a:pt x="74" y="42"/>
                  </a:lnTo>
                  <a:lnTo>
                    <a:pt x="68" y="40"/>
                  </a:lnTo>
                  <a:lnTo>
                    <a:pt x="66" y="40"/>
                  </a:lnTo>
                  <a:lnTo>
                    <a:pt x="66" y="40"/>
                  </a:lnTo>
                  <a:lnTo>
                    <a:pt x="66" y="38"/>
                  </a:lnTo>
                  <a:lnTo>
                    <a:pt x="66" y="38"/>
                  </a:lnTo>
                  <a:lnTo>
                    <a:pt x="66" y="38"/>
                  </a:lnTo>
                  <a:lnTo>
                    <a:pt x="66" y="38"/>
                  </a:lnTo>
                  <a:lnTo>
                    <a:pt x="68" y="36"/>
                  </a:lnTo>
                  <a:lnTo>
                    <a:pt x="68" y="36"/>
                  </a:lnTo>
                  <a:lnTo>
                    <a:pt x="68" y="36"/>
                  </a:lnTo>
                  <a:lnTo>
                    <a:pt x="68" y="34"/>
                  </a:lnTo>
                  <a:lnTo>
                    <a:pt x="68" y="31"/>
                  </a:lnTo>
                  <a:lnTo>
                    <a:pt x="68" y="31"/>
                  </a:lnTo>
                  <a:lnTo>
                    <a:pt x="68" y="29"/>
                  </a:lnTo>
                  <a:lnTo>
                    <a:pt x="68" y="29"/>
                  </a:lnTo>
                  <a:lnTo>
                    <a:pt x="70" y="27"/>
                  </a:lnTo>
                  <a:lnTo>
                    <a:pt x="70" y="25"/>
                  </a:lnTo>
                  <a:lnTo>
                    <a:pt x="70" y="23"/>
                  </a:lnTo>
                  <a:lnTo>
                    <a:pt x="70" y="23"/>
                  </a:lnTo>
                  <a:lnTo>
                    <a:pt x="70" y="21"/>
                  </a:lnTo>
                  <a:lnTo>
                    <a:pt x="70" y="19"/>
                  </a:lnTo>
                  <a:lnTo>
                    <a:pt x="72" y="17"/>
                  </a:lnTo>
                  <a:lnTo>
                    <a:pt x="72" y="17"/>
                  </a:lnTo>
                  <a:lnTo>
                    <a:pt x="72" y="15"/>
                  </a:lnTo>
                  <a:lnTo>
                    <a:pt x="70" y="14"/>
                  </a:lnTo>
                  <a:lnTo>
                    <a:pt x="70" y="14"/>
                  </a:lnTo>
                  <a:lnTo>
                    <a:pt x="70" y="10"/>
                  </a:lnTo>
                  <a:lnTo>
                    <a:pt x="70" y="10"/>
                  </a:lnTo>
                  <a:lnTo>
                    <a:pt x="68" y="12"/>
                  </a:lnTo>
                  <a:lnTo>
                    <a:pt x="66" y="12"/>
                  </a:lnTo>
                  <a:lnTo>
                    <a:pt x="62" y="12"/>
                  </a:lnTo>
                  <a:lnTo>
                    <a:pt x="62" y="10"/>
                  </a:lnTo>
                  <a:lnTo>
                    <a:pt x="55" y="14"/>
                  </a:lnTo>
                  <a:lnTo>
                    <a:pt x="55" y="14"/>
                  </a:lnTo>
                  <a:lnTo>
                    <a:pt x="53" y="14"/>
                  </a:lnTo>
                  <a:lnTo>
                    <a:pt x="53" y="12"/>
                  </a:lnTo>
                  <a:lnTo>
                    <a:pt x="47" y="4"/>
                  </a:lnTo>
                  <a:lnTo>
                    <a:pt x="47" y="2"/>
                  </a:lnTo>
                  <a:lnTo>
                    <a:pt x="47" y="2"/>
                  </a:lnTo>
                  <a:lnTo>
                    <a:pt x="45" y="0"/>
                  </a:lnTo>
                  <a:lnTo>
                    <a:pt x="45" y="2"/>
                  </a:lnTo>
                  <a:lnTo>
                    <a:pt x="45" y="2"/>
                  </a:lnTo>
                  <a:lnTo>
                    <a:pt x="42" y="10"/>
                  </a:lnTo>
                  <a:lnTo>
                    <a:pt x="42" y="12"/>
                  </a:lnTo>
                  <a:lnTo>
                    <a:pt x="42" y="12"/>
                  </a:lnTo>
                  <a:lnTo>
                    <a:pt x="40" y="14"/>
                  </a:lnTo>
                  <a:lnTo>
                    <a:pt x="38" y="15"/>
                  </a:lnTo>
                  <a:lnTo>
                    <a:pt x="34" y="19"/>
                  </a:lnTo>
                  <a:lnTo>
                    <a:pt x="34" y="21"/>
                  </a:lnTo>
                  <a:lnTo>
                    <a:pt x="34" y="23"/>
                  </a:lnTo>
                  <a:lnTo>
                    <a:pt x="34" y="25"/>
                  </a:lnTo>
                  <a:lnTo>
                    <a:pt x="34" y="25"/>
                  </a:lnTo>
                  <a:lnTo>
                    <a:pt x="34" y="25"/>
                  </a:lnTo>
                  <a:lnTo>
                    <a:pt x="32" y="27"/>
                  </a:lnTo>
                  <a:lnTo>
                    <a:pt x="32" y="27"/>
                  </a:lnTo>
                  <a:lnTo>
                    <a:pt x="32" y="27"/>
                  </a:lnTo>
                  <a:lnTo>
                    <a:pt x="30" y="27"/>
                  </a:lnTo>
                  <a:lnTo>
                    <a:pt x="26" y="31"/>
                  </a:lnTo>
                  <a:lnTo>
                    <a:pt x="24" y="33"/>
                  </a:lnTo>
                  <a:lnTo>
                    <a:pt x="22" y="34"/>
                  </a:lnTo>
                  <a:lnTo>
                    <a:pt x="22" y="36"/>
                  </a:lnTo>
                  <a:lnTo>
                    <a:pt x="21" y="36"/>
                  </a:lnTo>
                  <a:lnTo>
                    <a:pt x="21" y="36"/>
                  </a:lnTo>
                  <a:lnTo>
                    <a:pt x="19" y="36"/>
                  </a:lnTo>
                  <a:lnTo>
                    <a:pt x="19" y="36"/>
                  </a:lnTo>
                  <a:lnTo>
                    <a:pt x="17" y="36"/>
                  </a:lnTo>
                  <a:lnTo>
                    <a:pt x="17" y="36"/>
                  </a:lnTo>
                  <a:lnTo>
                    <a:pt x="17" y="34"/>
                  </a:lnTo>
                  <a:lnTo>
                    <a:pt x="15" y="34"/>
                  </a:lnTo>
                  <a:lnTo>
                    <a:pt x="15" y="33"/>
                  </a:lnTo>
                  <a:lnTo>
                    <a:pt x="15" y="31"/>
                  </a:lnTo>
                  <a:lnTo>
                    <a:pt x="15" y="29"/>
                  </a:lnTo>
                  <a:lnTo>
                    <a:pt x="15" y="29"/>
                  </a:lnTo>
                  <a:lnTo>
                    <a:pt x="15" y="27"/>
                  </a:lnTo>
                  <a:lnTo>
                    <a:pt x="15" y="27"/>
                  </a:lnTo>
                  <a:lnTo>
                    <a:pt x="15" y="27"/>
                  </a:lnTo>
                  <a:lnTo>
                    <a:pt x="15" y="27"/>
                  </a:lnTo>
                  <a:lnTo>
                    <a:pt x="15" y="27"/>
                  </a:lnTo>
                  <a:lnTo>
                    <a:pt x="15" y="25"/>
                  </a:lnTo>
                  <a:lnTo>
                    <a:pt x="15" y="25"/>
                  </a:lnTo>
                  <a:lnTo>
                    <a:pt x="9" y="25"/>
                  </a:lnTo>
                  <a:lnTo>
                    <a:pt x="3" y="25"/>
                  </a:lnTo>
                  <a:lnTo>
                    <a:pt x="3" y="27"/>
                  </a:lnTo>
                  <a:lnTo>
                    <a:pt x="3" y="29"/>
                  </a:lnTo>
                  <a:lnTo>
                    <a:pt x="5" y="29"/>
                  </a:lnTo>
                  <a:lnTo>
                    <a:pt x="5" y="29"/>
                  </a:lnTo>
                  <a:lnTo>
                    <a:pt x="5" y="29"/>
                  </a:lnTo>
                  <a:lnTo>
                    <a:pt x="5" y="31"/>
                  </a:lnTo>
                  <a:lnTo>
                    <a:pt x="5" y="31"/>
                  </a:lnTo>
                  <a:lnTo>
                    <a:pt x="5" y="40"/>
                  </a:lnTo>
                  <a:lnTo>
                    <a:pt x="5" y="40"/>
                  </a:lnTo>
                  <a:lnTo>
                    <a:pt x="5" y="44"/>
                  </a:lnTo>
                  <a:lnTo>
                    <a:pt x="5" y="46"/>
                  </a:lnTo>
                  <a:lnTo>
                    <a:pt x="5" y="48"/>
                  </a:lnTo>
                  <a:lnTo>
                    <a:pt x="5" y="48"/>
                  </a:lnTo>
                  <a:lnTo>
                    <a:pt x="5" y="48"/>
                  </a:lnTo>
                  <a:lnTo>
                    <a:pt x="5" y="50"/>
                  </a:lnTo>
                  <a:lnTo>
                    <a:pt x="7" y="50"/>
                  </a:lnTo>
                  <a:lnTo>
                    <a:pt x="7" y="50"/>
                  </a:lnTo>
                  <a:lnTo>
                    <a:pt x="5" y="52"/>
                  </a:lnTo>
                  <a:lnTo>
                    <a:pt x="5" y="55"/>
                  </a:lnTo>
                  <a:lnTo>
                    <a:pt x="5" y="55"/>
                  </a:lnTo>
                  <a:lnTo>
                    <a:pt x="5" y="55"/>
                  </a:lnTo>
                  <a:lnTo>
                    <a:pt x="5" y="59"/>
                  </a:lnTo>
                  <a:lnTo>
                    <a:pt x="5" y="59"/>
                  </a:lnTo>
                  <a:lnTo>
                    <a:pt x="5" y="59"/>
                  </a:lnTo>
                  <a:lnTo>
                    <a:pt x="5" y="61"/>
                  </a:lnTo>
                  <a:lnTo>
                    <a:pt x="5" y="61"/>
                  </a:lnTo>
                  <a:lnTo>
                    <a:pt x="5" y="61"/>
                  </a:lnTo>
                  <a:lnTo>
                    <a:pt x="5" y="63"/>
                  </a:lnTo>
                  <a:lnTo>
                    <a:pt x="5" y="63"/>
                  </a:lnTo>
                  <a:lnTo>
                    <a:pt x="5" y="65"/>
                  </a:lnTo>
                  <a:lnTo>
                    <a:pt x="5" y="65"/>
                  </a:lnTo>
                  <a:lnTo>
                    <a:pt x="5" y="65"/>
                  </a:lnTo>
                  <a:lnTo>
                    <a:pt x="5" y="65"/>
                  </a:lnTo>
                  <a:lnTo>
                    <a:pt x="3" y="65"/>
                  </a:lnTo>
                  <a:lnTo>
                    <a:pt x="3" y="65"/>
                  </a:lnTo>
                  <a:lnTo>
                    <a:pt x="3" y="65"/>
                  </a:lnTo>
                  <a:lnTo>
                    <a:pt x="3" y="65"/>
                  </a:lnTo>
                  <a:lnTo>
                    <a:pt x="3" y="65"/>
                  </a:lnTo>
                  <a:lnTo>
                    <a:pt x="3" y="65"/>
                  </a:lnTo>
                  <a:lnTo>
                    <a:pt x="3" y="65"/>
                  </a:lnTo>
                  <a:lnTo>
                    <a:pt x="2" y="65"/>
                  </a:lnTo>
                  <a:lnTo>
                    <a:pt x="2" y="65"/>
                  </a:lnTo>
                  <a:lnTo>
                    <a:pt x="2" y="65"/>
                  </a:lnTo>
                  <a:lnTo>
                    <a:pt x="2" y="67"/>
                  </a:lnTo>
                  <a:lnTo>
                    <a:pt x="2" y="67"/>
                  </a:lnTo>
                  <a:lnTo>
                    <a:pt x="0" y="69"/>
                  </a:lnTo>
                  <a:lnTo>
                    <a:pt x="0" y="69"/>
                  </a:lnTo>
                  <a:lnTo>
                    <a:pt x="2" y="69"/>
                  </a:lnTo>
                  <a:lnTo>
                    <a:pt x="2" y="69"/>
                  </a:lnTo>
                  <a:lnTo>
                    <a:pt x="0" y="71"/>
                  </a:lnTo>
                  <a:lnTo>
                    <a:pt x="0" y="73"/>
                  </a:lnTo>
                  <a:lnTo>
                    <a:pt x="0" y="78"/>
                  </a:lnTo>
                  <a:lnTo>
                    <a:pt x="0" y="80"/>
                  </a:lnTo>
                  <a:lnTo>
                    <a:pt x="0" y="82"/>
                  </a:lnTo>
                  <a:lnTo>
                    <a:pt x="0" y="86"/>
                  </a:lnTo>
                  <a:lnTo>
                    <a:pt x="0" y="90"/>
                  </a:lnTo>
                  <a:lnTo>
                    <a:pt x="3" y="101"/>
                  </a:lnTo>
                  <a:lnTo>
                    <a:pt x="3" y="105"/>
                  </a:lnTo>
                  <a:lnTo>
                    <a:pt x="3" y="107"/>
                  </a:lnTo>
                  <a:lnTo>
                    <a:pt x="3" y="109"/>
                  </a:lnTo>
                  <a:lnTo>
                    <a:pt x="5" y="109"/>
                  </a:lnTo>
                  <a:lnTo>
                    <a:pt x="5" y="111"/>
                  </a:lnTo>
                  <a:lnTo>
                    <a:pt x="5" y="111"/>
                  </a:lnTo>
                  <a:lnTo>
                    <a:pt x="5" y="112"/>
                  </a:lnTo>
                  <a:lnTo>
                    <a:pt x="5" y="112"/>
                  </a:lnTo>
                  <a:lnTo>
                    <a:pt x="7" y="114"/>
                  </a:lnTo>
                  <a:lnTo>
                    <a:pt x="7" y="114"/>
                  </a:lnTo>
                  <a:lnTo>
                    <a:pt x="7" y="114"/>
                  </a:lnTo>
                  <a:lnTo>
                    <a:pt x="7" y="116"/>
                  </a:lnTo>
                  <a:lnTo>
                    <a:pt x="7" y="118"/>
                  </a:lnTo>
                  <a:lnTo>
                    <a:pt x="7" y="118"/>
                  </a:lnTo>
                  <a:lnTo>
                    <a:pt x="9" y="120"/>
                  </a:lnTo>
                  <a:lnTo>
                    <a:pt x="9" y="122"/>
                  </a:lnTo>
                  <a:lnTo>
                    <a:pt x="9" y="122"/>
                  </a:lnTo>
                  <a:lnTo>
                    <a:pt x="7" y="124"/>
                  </a:lnTo>
                  <a:lnTo>
                    <a:pt x="7" y="128"/>
                  </a:lnTo>
                  <a:lnTo>
                    <a:pt x="5" y="130"/>
                  </a:lnTo>
                  <a:lnTo>
                    <a:pt x="5" y="133"/>
                  </a:lnTo>
                  <a:lnTo>
                    <a:pt x="9" y="147"/>
                  </a:lnTo>
                  <a:lnTo>
                    <a:pt x="9" y="154"/>
                  </a:lnTo>
                  <a:lnTo>
                    <a:pt x="9" y="158"/>
                  </a:lnTo>
                  <a:lnTo>
                    <a:pt x="11" y="160"/>
                  </a:lnTo>
                  <a:lnTo>
                    <a:pt x="13" y="162"/>
                  </a:lnTo>
                  <a:lnTo>
                    <a:pt x="15" y="164"/>
                  </a:lnTo>
                  <a:lnTo>
                    <a:pt x="17" y="171"/>
                  </a:lnTo>
                  <a:lnTo>
                    <a:pt x="17" y="173"/>
                  </a:lnTo>
                  <a:lnTo>
                    <a:pt x="17" y="175"/>
                  </a:lnTo>
                  <a:lnTo>
                    <a:pt x="21" y="177"/>
                  </a:lnTo>
                  <a:lnTo>
                    <a:pt x="21" y="179"/>
                  </a:lnTo>
                  <a:lnTo>
                    <a:pt x="21" y="181"/>
                  </a:lnTo>
                  <a:lnTo>
                    <a:pt x="22" y="189"/>
                  </a:lnTo>
                  <a:lnTo>
                    <a:pt x="22" y="194"/>
                  </a:lnTo>
                  <a:lnTo>
                    <a:pt x="22" y="196"/>
                  </a:lnTo>
                  <a:lnTo>
                    <a:pt x="24" y="200"/>
                  </a:lnTo>
                  <a:lnTo>
                    <a:pt x="24" y="200"/>
                  </a:lnTo>
                  <a:lnTo>
                    <a:pt x="28" y="234"/>
                  </a:lnTo>
                  <a:lnTo>
                    <a:pt x="28" y="236"/>
                  </a:lnTo>
                  <a:lnTo>
                    <a:pt x="28" y="236"/>
                  </a:lnTo>
                  <a:lnTo>
                    <a:pt x="26" y="236"/>
                  </a:lnTo>
                  <a:lnTo>
                    <a:pt x="24" y="238"/>
                  </a:lnTo>
                  <a:lnTo>
                    <a:pt x="28" y="244"/>
                  </a:lnTo>
                  <a:lnTo>
                    <a:pt x="28" y="251"/>
                  </a:lnTo>
                  <a:lnTo>
                    <a:pt x="28" y="251"/>
                  </a:lnTo>
                  <a:lnTo>
                    <a:pt x="28" y="253"/>
                  </a:lnTo>
                  <a:lnTo>
                    <a:pt x="30" y="251"/>
                  </a:lnTo>
                  <a:lnTo>
                    <a:pt x="30" y="251"/>
                  </a:lnTo>
                  <a:lnTo>
                    <a:pt x="30" y="251"/>
                  </a:lnTo>
                  <a:lnTo>
                    <a:pt x="32" y="251"/>
                  </a:lnTo>
                  <a:lnTo>
                    <a:pt x="32" y="249"/>
                  </a:lnTo>
                  <a:lnTo>
                    <a:pt x="34" y="249"/>
                  </a:lnTo>
                  <a:lnTo>
                    <a:pt x="34" y="249"/>
                  </a:lnTo>
                  <a:lnTo>
                    <a:pt x="36" y="247"/>
                  </a:lnTo>
                  <a:lnTo>
                    <a:pt x="36" y="247"/>
                  </a:lnTo>
                  <a:lnTo>
                    <a:pt x="36" y="246"/>
                  </a:lnTo>
                  <a:lnTo>
                    <a:pt x="36" y="244"/>
                  </a:lnTo>
                  <a:lnTo>
                    <a:pt x="36" y="242"/>
                  </a:lnTo>
                  <a:lnTo>
                    <a:pt x="38" y="240"/>
                  </a:lnTo>
                  <a:lnTo>
                    <a:pt x="38" y="240"/>
                  </a:lnTo>
                  <a:lnTo>
                    <a:pt x="38" y="242"/>
                  </a:lnTo>
                  <a:lnTo>
                    <a:pt x="38" y="240"/>
                  </a:lnTo>
                  <a:lnTo>
                    <a:pt x="38" y="240"/>
                  </a:lnTo>
                  <a:lnTo>
                    <a:pt x="38" y="236"/>
                  </a:lnTo>
                  <a:lnTo>
                    <a:pt x="38" y="236"/>
                  </a:lnTo>
                  <a:lnTo>
                    <a:pt x="40" y="234"/>
                  </a:lnTo>
                  <a:lnTo>
                    <a:pt x="42" y="236"/>
                  </a:lnTo>
                  <a:lnTo>
                    <a:pt x="47" y="240"/>
                  </a:lnTo>
                  <a:lnTo>
                    <a:pt x="53" y="246"/>
                  </a:lnTo>
                  <a:lnTo>
                    <a:pt x="55" y="247"/>
                  </a:lnTo>
                  <a:lnTo>
                    <a:pt x="55" y="251"/>
                  </a:lnTo>
                  <a:lnTo>
                    <a:pt x="55" y="253"/>
                  </a:lnTo>
                  <a:lnTo>
                    <a:pt x="57" y="255"/>
                  </a:lnTo>
                  <a:lnTo>
                    <a:pt x="59" y="253"/>
                  </a:lnTo>
                  <a:lnTo>
                    <a:pt x="59" y="251"/>
                  </a:lnTo>
                  <a:lnTo>
                    <a:pt x="59" y="247"/>
                  </a:lnTo>
                  <a:lnTo>
                    <a:pt x="61" y="247"/>
                  </a:lnTo>
                  <a:lnTo>
                    <a:pt x="62" y="249"/>
                  </a:lnTo>
                  <a:lnTo>
                    <a:pt x="64" y="251"/>
                  </a:lnTo>
                  <a:lnTo>
                    <a:pt x="64" y="251"/>
                  </a:lnTo>
                  <a:lnTo>
                    <a:pt x="64" y="251"/>
                  </a:lnTo>
                  <a:lnTo>
                    <a:pt x="64" y="251"/>
                  </a:lnTo>
                  <a:lnTo>
                    <a:pt x="66" y="251"/>
                  </a:lnTo>
                  <a:lnTo>
                    <a:pt x="66" y="251"/>
                  </a:lnTo>
                  <a:lnTo>
                    <a:pt x="66" y="251"/>
                  </a:lnTo>
                  <a:lnTo>
                    <a:pt x="66" y="249"/>
                  </a:lnTo>
                  <a:lnTo>
                    <a:pt x="66" y="249"/>
                  </a:lnTo>
                  <a:lnTo>
                    <a:pt x="66" y="249"/>
                  </a:lnTo>
                  <a:lnTo>
                    <a:pt x="66" y="247"/>
                  </a:lnTo>
                  <a:lnTo>
                    <a:pt x="64" y="246"/>
                  </a:lnTo>
                  <a:lnTo>
                    <a:pt x="64" y="246"/>
                  </a:lnTo>
                  <a:lnTo>
                    <a:pt x="64" y="244"/>
                  </a:lnTo>
                  <a:lnTo>
                    <a:pt x="66" y="240"/>
                  </a:lnTo>
                  <a:lnTo>
                    <a:pt x="68" y="240"/>
                  </a:lnTo>
                  <a:lnTo>
                    <a:pt x="68" y="240"/>
                  </a:lnTo>
                  <a:lnTo>
                    <a:pt x="70" y="238"/>
                  </a:lnTo>
                  <a:lnTo>
                    <a:pt x="70" y="238"/>
                  </a:lnTo>
                  <a:lnTo>
                    <a:pt x="70" y="230"/>
                  </a:lnTo>
                  <a:lnTo>
                    <a:pt x="70" y="230"/>
                  </a:lnTo>
                  <a:lnTo>
                    <a:pt x="70" y="230"/>
                  </a:lnTo>
                  <a:lnTo>
                    <a:pt x="72" y="230"/>
                  </a:lnTo>
                  <a:lnTo>
                    <a:pt x="72" y="230"/>
                  </a:lnTo>
                  <a:lnTo>
                    <a:pt x="74" y="230"/>
                  </a:lnTo>
                  <a:lnTo>
                    <a:pt x="76" y="230"/>
                  </a:lnTo>
                  <a:lnTo>
                    <a:pt x="78" y="232"/>
                  </a:lnTo>
                  <a:lnTo>
                    <a:pt x="80" y="232"/>
                  </a:lnTo>
                  <a:lnTo>
                    <a:pt x="82" y="232"/>
                  </a:lnTo>
                  <a:lnTo>
                    <a:pt x="80" y="228"/>
                  </a:lnTo>
                  <a:lnTo>
                    <a:pt x="80" y="227"/>
                  </a:lnTo>
                  <a:lnTo>
                    <a:pt x="80" y="227"/>
                  </a:lnTo>
                  <a:lnTo>
                    <a:pt x="80" y="227"/>
                  </a:lnTo>
                  <a:lnTo>
                    <a:pt x="82" y="227"/>
                  </a:lnTo>
                  <a:lnTo>
                    <a:pt x="83" y="227"/>
                  </a:lnTo>
                  <a:lnTo>
                    <a:pt x="83" y="225"/>
                  </a:lnTo>
                  <a:lnTo>
                    <a:pt x="83" y="225"/>
                  </a:lnTo>
                  <a:lnTo>
                    <a:pt x="83" y="223"/>
                  </a:lnTo>
                  <a:lnTo>
                    <a:pt x="83" y="211"/>
                  </a:lnTo>
                  <a:lnTo>
                    <a:pt x="82" y="208"/>
                  </a:lnTo>
                  <a:lnTo>
                    <a:pt x="80" y="204"/>
                  </a:lnTo>
                  <a:lnTo>
                    <a:pt x="78" y="202"/>
                  </a:lnTo>
                  <a:lnTo>
                    <a:pt x="78" y="200"/>
                  </a:lnTo>
                  <a:lnTo>
                    <a:pt x="78" y="196"/>
                  </a:lnTo>
                  <a:lnTo>
                    <a:pt x="78" y="192"/>
                  </a:lnTo>
                  <a:lnTo>
                    <a:pt x="78" y="190"/>
                  </a:lnTo>
                  <a:lnTo>
                    <a:pt x="78" y="189"/>
                  </a:lnTo>
                  <a:lnTo>
                    <a:pt x="76" y="185"/>
                  </a:lnTo>
                  <a:lnTo>
                    <a:pt x="74" y="183"/>
                  </a:lnTo>
                  <a:lnTo>
                    <a:pt x="74" y="181"/>
                  </a:lnTo>
                  <a:lnTo>
                    <a:pt x="76" y="173"/>
                  </a:lnTo>
                  <a:lnTo>
                    <a:pt x="78" y="170"/>
                  </a:lnTo>
                  <a:lnTo>
                    <a:pt x="80" y="171"/>
                  </a:lnTo>
                  <a:lnTo>
                    <a:pt x="80" y="168"/>
                  </a:lnTo>
                  <a:lnTo>
                    <a:pt x="83" y="164"/>
                  </a:lnTo>
                  <a:lnTo>
                    <a:pt x="83" y="162"/>
                  </a:lnTo>
                  <a:lnTo>
                    <a:pt x="85" y="160"/>
                  </a:lnTo>
                  <a:lnTo>
                    <a:pt x="83" y="158"/>
                  </a:lnTo>
                  <a:lnTo>
                    <a:pt x="82" y="154"/>
                  </a:lnTo>
                  <a:lnTo>
                    <a:pt x="82" y="152"/>
                  </a:lnTo>
                  <a:lnTo>
                    <a:pt x="82" y="150"/>
                  </a:lnTo>
                  <a:lnTo>
                    <a:pt x="82" y="147"/>
                  </a:lnTo>
                  <a:lnTo>
                    <a:pt x="82" y="145"/>
                  </a:lnTo>
                  <a:lnTo>
                    <a:pt x="83" y="145"/>
                  </a:lnTo>
                  <a:lnTo>
                    <a:pt x="85" y="145"/>
                  </a:lnTo>
                  <a:lnTo>
                    <a:pt x="87" y="147"/>
                  </a:lnTo>
                  <a:lnTo>
                    <a:pt x="89" y="149"/>
                  </a:lnTo>
                  <a:lnTo>
                    <a:pt x="91" y="150"/>
                  </a:lnTo>
                  <a:lnTo>
                    <a:pt x="93" y="150"/>
                  </a:lnTo>
                  <a:lnTo>
                    <a:pt x="95" y="149"/>
                  </a:lnTo>
                  <a:lnTo>
                    <a:pt x="97" y="147"/>
                  </a:lnTo>
                  <a:lnTo>
                    <a:pt x="99" y="145"/>
                  </a:lnTo>
                  <a:lnTo>
                    <a:pt x="102" y="137"/>
                  </a:lnTo>
                  <a:lnTo>
                    <a:pt x="102" y="135"/>
                  </a:lnTo>
                  <a:lnTo>
                    <a:pt x="102" y="135"/>
                  </a:lnTo>
                  <a:lnTo>
                    <a:pt x="102" y="133"/>
                  </a:lnTo>
                  <a:lnTo>
                    <a:pt x="102" y="126"/>
                  </a:lnTo>
                  <a:lnTo>
                    <a:pt x="102" y="122"/>
                  </a:lnTo>
                  <a:lnTo>
                    <a:pt x="102" y="120"/>
                  </a:lnTo>
                  <a:lnTo>
                    <a:pt x="104" y="118"/>
                  </a:lnTo>
                  <a:lnTo>
                    <a:pt x="104" y="116"/>
                  </a:lnTo>
                  <a:lnTo>
                    <a:pt x="106" y="116"/>
                  </a:lnTo>
                  <a:lnTo>
                    <a:pt x="106" y="114"/>
                  </a:lnTo>
                  <a:lnTo>
                    <a:pt x="106" y="114"/>
                  </a:lnTo>
                  <a:lnTo>
                    <a:pt x="104" y="107"/>
                  </a:lnTo>
                  <a:close/>
                </a:path>
              </a:pathLst>
            </a:custGeom>
            <a:solidFill>
              <a:srgbClr val="F2F2F2"/>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82" name="Freeform 31">
              <a:extLst>
                <a:ext uri="{FF2B5EF4-FFF2-40B4-BE49-F238E27FC236}">
                  <a16:creationId xmlns:a16="http://schemas.microsoft.com/office/drawing/2014/main" id="{C3DC5D2A-B5AD-FF9F-2C16-BE1A41D05597}"/>
                </a:ext>
              </a:extLst>
            </p:cNvPr>
            <p:cNvSpPr>
              <a:spLocks/>
            </p:cNvSpPr>
            <p:nvPr/>
          </p:nvSpPr>
          <p:spPr bwMode="auto">
            <a:xfrm>
              <a:off x="5209326" y="3445279"/>
              <a:ext cx="203745" cy="431341"/>
            </a:xfrm>
            <a:custGeom>
              <a:avLst/>
              <a:gdLst>
                <a:gd name="T0" fmla="*/ 106 w 108"/>
                <a:gd name="T1" fmla="*/ 80 h 255"/>
                <a:gd name="T2" fmla="*/ 101 w 108"/>
                <a:gd name="T3" fmla="*/ 59 h 255"/>
                <a:gd name="T4" fmla="*/ 97 w 108"/>
                <a:gd name="T5" fmla="*/ 48 h 255"/>
                <a:gd name="T6" fmla="*/ 91 w 108"/>
                <a:gd name="T7" fmla="*/ 48 h 255"/>
                <a:gd name="T8" fmla="*/ 89 w 108"/>
                <a:gd name="T9" fmla="*/ 44 h 255"/>
                <a:gd name="T10" fmla="*/ 87 w 108"/>
                <a:gd name="T11" fmla="*/ 46 h 255"/>
                <a:gd name="T12" fmla="*/ 83 w 108"/>
                <a:gd name="T13" fmla="*/ 44 h 255"/>
                <a:gd name="T14" fmla="*/ 80 w 108"/>
                <a:gd name="T15" fmla="*/ 46 h 255"/>
                <a:gd name="T16" fmla="*/ 74 w 108"/>
                <a:gd name="T17" fmla="*/ 42 h 255"/>
                <a:gd name="T18" fmla="*/ 66 w 108"/>
                <a:gd name="T19" fmla="*/ 38 h 255"/>
                <a:gd name="T20" fmla="*/ 68 w 108"/>
                <a:gd name="T21" fmla="*/ 31 h 255"/>
                <a:gd name="T22" fmla="*/ 70 w 108"/>
                <a:gd name="T23" fmla="*/ 23 h 255"/>
                <a:gd name="T24" fmla="*/ 72 w 108"/>
                <a:gd name="T25" fmla="*/ 15 h 255"/>
                <a:gd name="T26" fmla="*/ 66 w 108"/>
                <a:gd name="T27" fmla="*/ 12 h 255"/>
                <a:gd name="T28" fmla="*/ 53 w 108"/>
                <a:gd name="T29" fmla="*/ 12 h 255"/>
                <a:gd name="T30" fmla="*/ 45 w 108"/>
                <a:gd name="T31" fmla="*/ 2 h 255"/>
                <a:gd name="T32" fmla="*/ 34 w 108"/>
                <a:gd name="T33" fmla="*/ 19 h 255"/>
                <a:gd name="T34" fmla="*/ 32 w 108"/>
                <a:gd name="T35" fmla="*/ 27 h 255"/>
                <a:gd name="T36" fmla="*/ 22 w 108"/>
                <a:gd name="T37" fmla="*/ 34 h 255"/>
                <a:gd name="T38" fmla="*/ 17 w 108"/>
                <a:gd name="T39" fmla="*/ 36 h 255"/>
                <a:gd name="T40" fmla="*/ 15 w 108"/>
                <a:gd name="T41" fmla="*/ 29 h 255"/>
                <a:gd name="T42" fmla="*/ 15 w 108"/>
                <a:gd name="T43" fmla="*/ 27 h 255"/>
                <a:gd name="T44" fmla="*/ 3 w 108"/>
                <a:gd name="T45" fmla="*/ 29 h 255"/>
                <a:gd name="T46" fmla="*/ 5 w 108"/>
                <a:gd name="T47" fmla="*/ 40 h 255"/>
                <a:gd name="T48" fmla="*/ 5 w 108"/>
                <a:gd name="T49" fmla="*/ 48 h 255"/>
                <a:gd name="T50" fmla="*/ 5 w 108"/>
                <a:gd name="T51" fmla="*/ 55 h 255"/>
                <a:gd name="T52" fmla="*/ 5 w 108"/>
                <a:gd name="T53" fmla="*/ 61 h 255"/>
                <a:gd name="T54" fmla="*/ 5 w 108"/>
                <a:gd name="T55" fmla="*/ 65 h 255"/>
                <a:gd name="T56" fmla="*/ 3 w 108"/>
                <a:gd name="T57" fmla="*/ 65 h 255"/>
                <a:gd name="T58" fmla="*/ 2 w 108"/>
                <a:gd name="T59" fmla="*/ 67 h 255"/>
                <a:gd name="T60" fmla="*/ 0 w 108"/>
                <a:gd name="T61" fmla="*/ 71 h 255"/>
                <a:gd name="T62" fmla="*/ 0 w 108"/>
                <a:gd name="T63" fmla="*/ 90 h 255"/>
                <a:gd name="T64" fmla="*/ 5 w 108"/>
                <a:gd name="T65" fmla="*/ 111 h 255"/>
                <a:gd name="T66" fmla="*/ 7 w 108"/>
                <a:gd name="T67" fmla="*/ 114 h 255"/>
                <a:gd name="T68" fmla="*/ 9 w 108"/>
                <a:gd name="T69" fmla="*/ 122 h 255"/>
                <a:gd name="T70" fmla="*/ 9 w 108"/>
                <a:gd name="T71" fmla="*/ 154 h 255"/>
                <a:gd name="T72" fmla="*/ 17 w 108"/>
                <a:gd name="T73" fmla="*/ 173 h 255"/>
                <a:gd name="T74" fmla="*/ 22 w 108"/>
                <a:gd name="T75" fmla="*/ 194 h 255"/>
                <a:gd name="T76" fmla="*/ 28 w 108"/>
                <a:gd name="T77" fmla="*/ 236 h 255"/>
                <a:gd name="T78" fmla="*/ 28 w 108"/>
                <a:gd name="T79" fmla="*/ 253 h 255"/>
                <a:gd name="T80" fmla="*/ 34 w 108"/>
                <a:gd name="T81" fmla="*/ 249 h 255"/>
                <a:gd name="T82" fmla="*/ 36 w 108"/>
                <a:gd name="T83" fmla="*/ 242 h 255"/>
                <a:gd name="T84" fmla="*/ 38 w 108"/>
                <a:gd name="T85" fmla="*/ 236 h 255"/>
                <a:gd name="T86" fmla="*/ 55 w 108"/>
                <a:gd name="T87" fmla="*/ 247 h 255"/>
                <a:gd name="T88" fmla="*/ 59 w 108"/>
                <a:gd name="T89" fmla="*/ 247 h 255"/>
                <a:gd name="T90" fmla="*/ 64 w 108"/>
                <a:gd name="T91" fmla="*/ 251 h 255"/>
                <a:gd name="T92" fmla="*/ 66 w 108"/>
                <a:gd name="T93" fmla="*/ 249 h 255"/>
                <a:gd name="T94" fmla="*/ 68 w 108"/>
                <a:gd name="T95" fmla="*/ 240 h 255"/>
                <a:gd name="T96" fmla="*/ 70 w 108"/>
                <a:gd name="T97" fmla="*/ 230 h 255"/>
                <a:gd name="T98" fmla="*/ 80 w 108"/>
                <a:gd name="T99" fmla="*/ 232 h 255"/>
                <a:gd name="T100" fmla="*/ 82 w 108"/>
                <a:gd name="T101" fmla="*/ 227 h 255"/>
                <a:gd name="T102" fmla="*/ 82 w 108"/>
                <a:gd name="T103" fmla="*/ 208 h 255"/>
                <a:gd name="T104" fmla="*/ 78 w 108"/>
                <a:gd name="T105" fmla="*/ 190 h 255"/>
                <a:gd name="T106" fmla="*/ 78 w 108"/>
                <a:gd name="T107" fmla="*/ 170 h 255"/>
                <a:gd name="T108" fmla="*/ 83 w 108"/>
                <a:gd name="T109" fmla="*/ 158 h 255"/>
                <a:gd name="T110" fmla="*/ 83 w 108"/>
                <a:gd name="T111" fmla="*/ 145 h 255"/>
                <a:gd name="T112" fmla="*/ 95 w 108"/>
                <a:gd name="T113" fmla="*/ 149 h 255"/>
                <a:gd name="T114" fmla="*/ 102 w 108"/>
                <a:gd name="T115" fmla="*/ 133 h 255"/>
                <a:gd name="T116" fmla="*/ 106 w 108"/>
                <a:gd name="T117" fmla="*/ 116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8" h="255">
                  <a:moveTo>
                    <a:pt x="104" y="107"/>
                  </a:moveTo>
                  <a:lnTo>
                    <a:pt x="104" y="105"/>
                  </a:lnTo>
                  <a:lnTo>
                    <a:pt x="108" y="86"/>
                  </a:lnTo>
                  <a:lnTo>
                    <a:pt x="108" y="82"/>
                  </a:lnTo>
                  <a:lnTo>
                    <a:pt x="108" y="80"/>
                  </a:lnTo>
                  <a:lnTo>
                    <a:pt x="106" y="80"/>
                  </a:lnTo>
                  <a:lnTo>
                    <a:pt x="106" y="78"/>
                  </a:lnTo>
                  <a:lnTo>
                    <a:pt x="102" y="76"/>
                  </a:lnTo>
                  <a:lnTo>
                    <a:pt x="101" y="65"/>
                  </a:lnTo>
                  <a:lnTo>
                    <a:pt x="101" y="61"/>
                  </a:lnTo>
                  <a:lnTo>
                    <a:pt x="101" y="59"/>
                  </a:lnTo>
                  <a:lnTo>
                    <a:pt x="101" y="59"/>
                  </a:lnTo>
                  <a:lnTo>
                    <a:pt x="101" y="57"/>
                  </a:lnTo>
                  <a:lnTo>
                    <a:pt x="99" y="57"/>
                  </a:lnTo>
                  <a:lnTo>
                    <a:pt x="97" y="54"/>
                  </a:lnTo>
                  <a:lnTo>
                    <a:pt x="97" y="52"/>
                  </a:lnTo>
                  <a:lnTo>
                    <a:pt x="97" y="50"/>
                  </a:lnTo>
                  <a:lnTo>
                    <a:pt x="97" y="48"/>
                  </a:lnTo>
                  <a:lnTo>
                    <a:pt x="97" y="46"/>
                  </a:lnTo>
                  <a:lnTo>
                    <a:pt x="97" y="46"/>
                  </a:lnTo>
                  <a:lnTo>
                    <a:pt x="95" y="46"/>
                  </a:lnTo>
                  <a:lnTo>
                    <a:pt x="91" y="48"/>
                  </a:lnTo>
                  <a:lnTo>
                    <a:pt x="91" y="48"/>
                  </a:lnTo>
                  <a:lnTo>
                    <a:pt x="91" y="48"/>
                  </a:lnTo>
                  <a:lnTo>
                    <a:pt x="91" y="48"/>
                  </a:lnTo>
                  <a:lnTo>
                    <a:pt x="91" y="46"/>
                  </a:lnTo>
                  <a:lnTo>
                    <a:pt x="91" y="46"/>
                  </a:lnTo>
                  <a:lnTo>
                    <a:pt x="91" y="44"/>
                  </a:lnTo>
                  <a:lnTo>
                    <a:pt x="91" y="44"/>
                  </a:lnTo>
                  <a:lnTo>
                    <a:pt x="89" y="44"/>
                  </a:lnTo>
                  <a:lnTo>
                    <a:pt x="89" y="42"/>
                  </a:lnTo>
                  <a:lnTo>
                    <a:pt x="89" y="44"/>
                  </a:lnTo>
                  <a:lnTo>
                    <a:pt x="89" y="44"/>
                  </a:lnTo>
                  <a:lnTo>
                    <a:pt x="89" y="44"/>
                  </a:lnTo>
                  <a:lnTo>
                    <a:pt x="87" y="44"/>
                  </a:lnTo>
                  <a:lnTo>
                    <a:pt x="87" y="46"/>
                  </a:lnTo>
                  <a:lnTo>
                    <a:pt x="85" y="46"/>
                  </a:lnTo>
                  <a:lnTo>
                    <a:pt x="85" y="46"/>
                  </a:lnTo>
                  <a:lnTo>
                    <a:pt x="83" y="46"/>
                  </a:lnTo>
                  <a:lnTo>
                    <a:pt x="83" y="46"/>
                  </a:lnTo>
                  <a:lnTo>
                    <a:pt x="83" y="46"/>
                  </a:lnTo>
                  <a:lnTo>
                    <a:pt x="83" y="44"/>
                  </a:lnTo>
                  <a:lnTo>
                    <a:pt x="83" y="44"/>
                  </a:lnTo>
                  <a:lnTo>
                    <a:pt x="83" y="44"/>
                  </a:lnTo>
                  <a:lnTo>
                    <a:pt x="82" y="44"/>
                  </a:lnTo>
                  <a:lnTo>
                    <a:pt x="82" y="44"/>
                  </a:lnTo>
                  <a:lnTo>
                    <a:pt x="80" y="44"/>
                  </a:lnTo>
                  <a:lnTo>
                    <a:pt x="80" y="46"/>
                  </a:lnTo>
                  <a:lnTo>
                    <a:pt x="78" y="46"/>
                  </a:lnTo>
                  <a:lnTo>
                    <a:pt x="78" y="46"/>
                  </a:lnTo>
                  <a:lnTo>
                    <a:pt x="78" y="44"/>
                  </a:lnTo>
                  <a:lnTo>
                    <a:pt x="76" y="44"/>
                  </a:lnTo>
                  <a:lnTo>
                    <a:pt x="76" y="44"/>
                  </a:lnTo>
                  <a:lnTo>
                    <a:pt x="74" y="42"/>
                  </a:lnTo>
                  <a:lnTo>
                    <a:pt x="68" y="40"/>
                  </a:lnTo>
                  <a:lnTo>
                    <a:pt x="66" y="40"/>
                  </a:lnTo>
                  <a:lnTo>
                    <a:pt x="66" y="40"/>
                  </a:lnTo>
                  <a:lnTo>
                    <a:pt x="66" y="38"/>
                  </a:lnTo>
                  <a:lnTo>
                    <a:pt x="66" y="38"/>
                  </a:lnTo>
                  <a:lnTo>
                    <a:pt x="66" y="38"/>
                  </a:lnTo>
                  <a:lnTo>
                    <a:pt x="66" y="38"/>
                  </a:lnTo>
                  <a:lnTo>
                    <a:pt x="68" y="36"/>
                  </a:lnTo>
                  <a:lnTo>
                    <a:pt x="68" y="36"/>
                  </a:lnTo>
                  <a:lnTo>
                    <a:pt x="68" y="36"/>
                  </a:lnTo>
                  <a:lnTo>
                    <a:pt x="68" y="34"/>
                  </a:lnTo>
                  <a:lnTo>
                    <a:pt x="68" y="31"/>
                  </a:lnTo>
                  <a:lnTo>
                    <a:pt x="68" y="31"/>
                  </a:lnTo>
                  <a:lnTo>
                    <a:pt x="68" y="29"/>
                  </a:lnTo>
                  <a:lnTo>
                    <a:pt x="68" y="29"/>
                  </a:lnTo>
                  <a:lnTo>
                    <a:pt x="70" y="27"/>
                  </a:lnTo>
                  <a:lnTo>
                    <a:pt x="70" y="25"/>
                  </a:lnTo>
                  <a:lnTo>
                    <a:pt x="70" y="23"/>
                  </a:lnTo>
                  <a:lnTo>
                    <a:pt x="70" y="23"/>
                  </a:lnTo>
                  <a:lnTo>
                    <a:pt x="70" y="21"/>
                  </a:lnTo>
                  <a:lnTo>
                    <a:pt x="70" y="19"/>
                  </a:lnTo>
                  <a:lnTo>
                    <a:pt x="72" y="17"/>
                  </a:lnTo>
                  <a:lnTo>
                    <a:pt x="72" y="17"/>
                  </a:lnTo>
                  <a:lnTo>
                    <a:pt x="72" y="15"/>
                  </a:lnTo>
                  <a:lnTo>
                    <a:pt x="70" y="14"/>
                  </a:lnTo>
                  <a:lnTo>
                    <a:pt x="70" y="14"/>
                  </a:lnTo>
                  <a:lnTo>
                    <a:pt x="70" y="10"/>
                  </a:lnTo>
                  <a:lnTo>
                    <a:pt x="70" y="10"/>
                  </a:lnTo>
                  <a:lnTo>
                    <a:pt x="68" y="12"/>
                  </a:lnTo>
                  <a:lnTo>
                    <a:pt x="66" y="12"/>
                  </a:lnTo>
                  <a:lnTo>
                    <a:pt x="62" y="12"/>
                  </a:lnTo>
                  <a:lnTo>
                    <a:pt x="62" y="10"/>
                  </a:lnTo>
                  <a:lnTo>
                    <a:pt x="55" y="14"/>
                  </a:lnTo>
                  <a:lnTo>
                    <a:pt x="55" y="14"/>
                  </a:lnTo>
                  <a:lnTo>
                    <a:pt x="53" y="14"/>
                  </a:lnTo>
                  <a:lnTo>
                    <a:pt x="53" y="12"/>
                  </a:lnTo>
                  <a:lnTo>
                    <a:pt x="47" y="4"/>
                  </a:lnTo>
                  <a:lnTo>
                    <a:pt x="47" y="2"/>
                  </a:lnTo>
                  <a:lnTo>
                    <a:pt x="47" y="2"/>
                  </a:lnTo>
                  <a:lnTo>
                    <a:pt x="45" y="0"/>
                  </a:lnTo>
                  <a:lnTo>
                    <a:pt x="45" y="2"/>
                  </a:lnTo>
                  <a:lnTo>
                    <a:pt x="45" y="2"/>
                  </a:lnTo>
                  <a:lnTo>
                    <a:pt x="42" y="10"/>
                  </a:lnTo>
                  <a:lnTo>
                    <a:pt x="42" y="12"/>
                  </a:lnTo>
                  <a:lnTo>
                    <a:pt x="42" y="12"/>
                  </a:lnTo>
                  <a:lnTo>
                    <a:pt x="40" y="14"/>
                  </a:lnTo>
                  <a:lnTo>
                    <a:pt x="38" y="15"/>
                  </a:lnTo>
                  <a:lnTo>
                    <a:pt x="34" y="19"/>
                  </a:lnTo>
                  <a:lnTo>
                    <a:pt x="34" y="21"/>
                  </a:lnTo>
                  <a:lnTo>
                    <a:pt x="34" y="23"/>
                  </a:lnTo>
                  <a:lnTo>
                    <a:pt x="34" y="25"/>
                  </a:lnTo>
                  <a:lnTo>
                    <a:pt x="34" y="25"/>
                  </a:lnTo>
                  <a:lnTo>
                    <a:pt x="34" y="25"/>
                  </a:lnTo>
                  <a:lnTo>
                    <a:pt x="32" y="27"/>
                  </a:lnTo>
                  <a:lnTo>
                    <a:pt x="32" y="27"/>
                  </a:lnTo>
                  <a:lnTo>
                    <a:pt x="32" y="27"/>
                  </a:lnTo>
                  <a:lnTo>
                    <a:pt x="30" y="27"/>
                  </a:lnTo>
                  <a:lnTo>
                    <a:pt x="26" y="31"/>
                  </a:lnTo>
                  <a:lnTo>
                    <a:pt x="24" y="33"/>
                  </a:lnTo>
                  <a:lnTo>
                    <a:pt x="22" y="34"/>
                  </a:lnTo>
                  <a:lnTo>
                    <a:pt x="22" y="36"/>
                  </a:lnTo>
                  <a:lnTo>
                    <a:pt x="21" y="36"/>
                  </a:lnTo>
                  <a:lnTo>
                    <a:pt x="21" y="36"/>
                  </a:lnTo>
                  <a:lnTo>
                    <a:pt x="19" y="36"/>
                  </a:lnTo>
                  <a:lnTo>
                    <a:pt x="19" y="36"/>
                  </a:lnTo>
                  <a:lnTo>
                    <a:pt x="17" y="36"/>
                  </a:lnTo>
                  <a:lnTo>
                    <a:pt x="17" y="36"/>
                  </a:lnTo>
                  <a:lnTo>
                    <a:pt x="17" y="34"/>
                  </a:lnTo>
                  <a:lnTo>
                    <a:pt x="15" y="34"/>
                  </a:lnTo>
                  <a:lnTo>
                    <a:pt x="15" y="33"/>
                  </a:lnTo>
                  <a:lnTo>
                    <a:pt x="15" y="31"/>
                  </a:lnTo>
                  <a:lnTo>
                    <a:pt x="15" y="29"/>
                  </a:lnTo>
                  <a:lnTo>
                    <a:pt x="15" y="29"/>
                  </a:lnTo>
                  <a:lnTo>
                    <a:pt x="15" y="27"/>
                  </a:lnTo>
                  <a:lnTo>
                    <a:pt x="15" y="27"/>
                  </a:lnTo>
                  <a:lnTo>
                    <a:pt x="15" y="27"/>
                  </a:lnTo>
                  <a:lnTo>
                    <a:pt x="15" y="27"/>
                  </a:lnTo>
                  <a:lnTo>
                    <a:pt x="15" y="27"/>
                  </a:lnTo>
                  <a:lnTo>
                    <a:pt x="15" y="25"/>
                  </a:lnTo>
                  <a:lnTo>
                    <a:pt x="15" y="25"/>
                  </a:lnTo>
                  <a:lnTo>
                    <a:pt x="9" y="25"/>
                  </a:lnTo>
                  <a:lnTo>
                    <a:pt x="3" y="25"/>
                  </a:lnTo>
                  <a:lnTo>
                    <a:pt x="3" y="27"/>
                  </a:lnTo>
                  <a:lnTo>
                    <a:pt x="3" y="29"/>
                  </a:lnTo>
                  <a:lnTo>
                    <a:pt x="5" y="29"/>
                  </a:lnTo>
                  <a:lnTo>
                    <a:pt x="5" y="29"/>
                  </a:lnTo>
                  <a:lnTo>
                    <a:pt x="5" y="29"/>
                  </a:lnTo>
                  <a:lnTo>
                    <a:pt x="5" y="31"/>
                  </a:lnTo>
                  <a:lnTo>
                    <a:pt x="5" y="31"/>
                  </a:lnTo>
                  <a:lnTo>
                    <a:pt x="5" y="40"/>
                  </a:lnTo>
                  <a:lnTo>
                    <a:pt x="5" y="40"/>
                  </a:lnTo>
                  <a:lnTo>
                    <a:pt x="5" y="44"/>
                  </a:lnTo>
                  <a:lnTo>
                    <a:pt x="5" y="46"/>
                  </a:lnTo>
                  <a:lnTo>
                    <a:pt x="5" y="48"/>
                  </a:lnTo>
                  <a:lnTo>
                    <a:pt x="5" y="48"/>
                  </a:lnTo>
                  <a:lnTo>
                    <a:pt x="5" y="48"/>
                  </a:lnTo>
                  <a:lnTo>
                    <a:pt x="5" y="50"/>
                  </a:lnTo>
                  <a:lnTo>
                    <a:pt x="7" y="50"/>
                  </a:lnTo>
                  <a:lnTo>
                    <a:pt x="7" y="50"/>
                  </a:lnTo>
                  <a:lnTo>
                    <a:pt x="5" y="52"/>
                  </a:lnTo>
                  <a:lnTo>
                    <a:pt x="5" y="55"/>
                  </a:lnTo>
                  <a:lnTo>
                    <a:pt x="5" y="55"/>
                  </a:lnTo>
                  <a:lnTo>
                    <a:pt x="5" y="55"/>
                  </a:lnTo>
                  <a:lnTo>
                    <a:pt x="5" y="59"/>
                  </a:lnTo>
                  <a:lnTo>
                    <a:pt x="5" y="59"/>
                  </a:lnTo>
                  <a:lnTo>
                    <a:pt x="5" y="59"/>
                  </a:lnTo>
                  <a:lnTo>
                    <a:pt x="5" y="61"/>
                  </a:lnTo>
                  <a:lnTo>
                    <a:pt x="5" y="61"/>
                  </a:lnTo>
                  <a:lnTo>
                    <a:pt x="5" y="61"/>
                  </a:lnTo>
                  <a:lnTo>
                    <a:pt x="5" y="63"/>
                  </a:lnTo>
                  <a:lnTo>
                    <a:pt x="5" y="63"/>
                  </a:lnTo>
                  <a:lnTo>
                    <a:pt x="5" y="65"/>
                  </a:lnTo>
                  <a:lnTo>
                    <a:pt x="5" y="65"/>
                  </a:lnTo>
                  <a:lnTo>
                    <a:pt x="5" y="65"/>
                  </a:lnTo>
                  <a:lnTo>
                    <a:pt x="5" y="65"/>
                  </a:lnTo>
                  <a:lnTo>
                    <a:pt x="3" y="65"/>
                  </a:lnTo>
                  <a:lnTo>
                    <a:pt x="3" y="65"/>
                  </a:lnTo>
                  <a:lnTo>
                    <a:pt x="3" y="65"/>
                  </a:lnTo>
                  <a:lnTo>
                    <a:pt x="3" y="65"/>
                  </a:lnTo>
                  <a:lnTo>
                    <a:pt x="3" y="65"/>
                  </a:lnTo>
                  <a:lnTo>
                    <a:pt x="3" y="65"/>
                  </a:lnTo>
                  <a:lnTo>
                    <a:pt x="3" y="65"/>
                  </a:lnTo>
                  <a:lnTo>
                    <a:pt x="2" y="65"/>
                  </a:lnTo>
                  <a:lnTo>
                    <a:pt x="2" y="65"/>
                  </a:lnTo>
                  <a:lnTo>
                    <a:pt x="2" y="65"/>
                  </a:lnTo>
                  <a:lnTo>
                    <a:pt x="2" y="67"/>
                  </a:lnTo>
                  <a:lnTo>
                    <a:pt x="2" y="67"/>
                  </a:lnTo>
                  <a:lnTo>
                    <a:pt x="0" y="69"/>
                  </a:lnTo>
                  <a:lnTo>
                    <a:pt x="0" y="69"/>
                  </a:lnTo>
                  <a:lnTo>
                    <a:pt x="2" y="69"/>
                  </a:lnTo>
                  <a:lnTo>
                    <a:pt x="2" y="69"/>
                  </a:lnTo>
                  <a:lnTo>
                    <a:pt x="0" y="71"/>
                  </a:lnTo>
                  <a:lnTo>
                    <a:pt x="0" y="73"/>
                  </a:lnTo>
                  <a:lnTo>
                    <a:pt x="0" y="78"/>
                  </a:lnTo>
                  <a:lnTo>
                    <a:pt x="0" y="80"/>
                  </a:lnTo>
                  <a:lnTo>
                    <a:pt x="0" y="82"/>
                  </a:lnTo>
                  <a:lnTo>
                    <a:pt x="0" y="86"/>
                  </a:lnTo>
                  <a:lnTo>
                    <a:pt x="0" y="90"/>
                  </a:lnTo>
                  <a:lnTo>
                    <a:pt x="3" y="101"/>
                  </a:lnTo>
                  <a:lnTo>
                    <a:pt x="3" y="105"/>
                  </a:lnTo>
                  <a:lnTo>
                    <a:pt x="3" y="107"/>
                  </a:lnTo>
                  <a:lnTo>
                    <a:pt x="3" y="109"/>
                  </a:lnTo>
                  <a:lnTo>
                    <a:pt x="5" y="109"/>
                  </a:lnTo>
                  <a:lnTo>
                    <a:pt x="5" y="111"/>
                  </a:lnTo>
                  <a:lnTo>
                    <a:pt x="5" y="111"/>
                  </a:lnTo>
                  <a:lnTo>
                    <a:pt x="5" y="112"/>
                  </a:lnTo>
                  <a:lnTo>
                    <a:pt x="5" y="112"/>
                  </a:lnTo>
                  <a:lnTo>
                    <a:pt x="7" y="114"/>
                  </a:lnTo>
                  <a:lnTo>
                    <a:pt x="7" y="114"/>
                  </a:lnTo>
                  <a:lnTo>
                    <a:pt x="7" y="114"/>
                  </a:lnTo>
                  <a:lnTo>
                    <a:pt x="7" y="116"/>
                  </a:lnTo>
                  <a:lnTo>
                    <a:pt x="7" y="118"/>
                  </a:lnTo>
                  <a:lnTo>
                    <a:pt x="7" y="118"/>
                  </a:lnTo>
                  <a:lnTo>
                    <a:pt x="9" y="120"/>
                  </a:lnTo>
                  <a:lnTo>
                    <a:pt x="9" y="122"/>
                  </a:lnTo>
                  <a:lnTo>
                    <a:pt x="9" y="122"/>
                  </a:lnTo>
                  <a:lnTo>
                    <a:pt x="7" y="124"/>
                  </a:lnTo>
                  <a:lnTo>
                    <a:pt x="7" y="128"/>
                  </a:lnTo>
                  <a:lnTo>
                    <a:pt x="5" y="130"/>
                  </a:lnTo>
                  <a:lnTo>
                    <a:pt x="5" y="133"/>
                  </a:lnTo>
                  <a:lnTo>
                    <a:pt x="9" y="147"/>
                  </a:lnTo>
                  <a:lnTo>
                    <a:pt x="9" y="154"/>
                  </a:lnTo>
                  <a:lnTo>
                    <a:pt x="9" y="158"/>
                  </a:lnTo>
                  <a:lnTo>
                    <a:pt x="11" y="160"/>
                  </a:lnTo>
                  <a:lnTo>
                    <a:pt x="13" y="162"/>
                  </a:lnTo>
                  <a:lnTo>
                    <a:pt x="15" y="164"/>
                  </a:lnTo>
                  <a:lnTo>
                    <a:pt x="17" y="171"/>
                  </a:lnTo>
                  <a:lnTo>
                    <a:pt x="17" y="173"/>
                  </a:lnTo>
                  <a:lnTo>
                    <a:pt x="17" y="175"/>
                  </a:lnTo>
                  <a:lnTo>
                    <a:pt x="21" y="177"/>
                  </a:lnTo>
                  <a:lnTo>
                    <a:pt x="21" y="179"/>
                  </a:lnTo>
                  <a:lnTo>
                    <a:pt x="21" y="181"/>
                  </a:lnTo>
                  <a:lnTo>
                    <a:pt x="22" y="189"/>
                  </a:lnTo>
                  <a:lnTo>
                    <a:pt x="22" y="194"/>
                  </a:lnTo>
                  <a:lnTo>
                    <a:pt x="22" y="196"/>
                  </a:lnTo>
                  <a:lnTo>
                    <a:pt x="24" y="200"/>
                  </a:lnTo>
                  <a:lnTo>
                    <a:pt x="24" y="200"/>
                  </a:lnTo>
                  <a:lnTo>
                    <a:pt x="28" y="234"/>
                  </a:lnTo>
                  <a:lnTo>
                    <a:pt x="28" y="236"/>
                  </a:lnTo>
                  <a:lnTo>
                    <a:pt x="28" y="236"/>
                  </a:lnTo>
                  <a:lnTo>
                    <a:pt x="26" y="236"/>
                  </a:lnTo>
                  <a:lnTo>
                    <a:pt x="24" y="238"/>
                  </a:lnTo>
                  <a:lnTo>
                    <a:pt x="28" y="244"/>
                  </a:lnTo>
                  <a:lnTo>
                    <a:pt x="28" y="251"/>
                  </a:lnTo>
                  <a:lnTo>
                    <a:pt x="28" y="251"/>
                  </a:lnTo>
                  <a:lnTo>
                    <a:pt x="28" y="253"/>
                  </a:lnTo>
                  <a:lnTo>
                    <a:pt x="30" y="251"/>
                  </a:lnTo>
                  <a:lnTo>
                    <a:pt x="30" y="251"/>
                  </a:lnTo>
                  <a:lnTo>
                    <a:pt x="30" y="251"/>
                  </a:lnTo>
                  <a:lnTo>
                    <a:pt x="32" y="251"/>
                  </a:lnTo>
                  <a:lnTo>
                    <a:pt x="32" y="249"/>
                  </a:lnTo>
                  <a:lnTo>
                    <a:pt x="34" y="249"/>
                  </a:lnTo>
                  <a:lnTo>
                    <a:pt x="34" y="249"/>
                  </a:lnTo>
                  <a:lnTo>
                    <a:pt x="36" y="247"/>
                  </a:lnTo>
                  <a:lnTo>
                    <a:pt x="36" y="247"/>
                  </a:lnTo>
                  <a:lnTo>
                    <a:pt x="36" y="246"/>
                  </a:lnTo>
                  <a:lnTo>
                    <a:pt x="36" y="244"/>
                  </a:lnTo>
                  <a:lnTo>
                    <a:pt x="36" y="242"/>
                  </a:lnTo>
                  <a:lnTo>
                    <a:pt x="38" y="240"/>
                  </a:lnTo>
                  <a:lnTo>
                    <a:pt x="38" y="240"/>
                  </a:lnTo>
                  <a:lnTo>
                    <a:pt x="38" y="242"/>
                  </a:lnTo>
                  <a:lnTo>
                    <a:pt x="38" y="240"/>
                  </a:lnTo>
                  <a:lnTo>
                    <a:pt x="38" y="240"/>
                  </a:lnTo>
                  <a:lnTo>
                    <a:pt x="38" y="236"/>
                  </a:lnTo>
                  <a:lnTo>
                    <a:pt x="38" y="236"/>
                  </a:lnTo>
                  <a:lnTo>
                    <a:pt x="40" y="234"/>
                  </a:lnTo>
                  <a:lnTo>
                    <a:pt x="42" y="236"/>
                  </a:lnTo>
                  <a:lnTo>
                    <a:pt x="47" y="240"/>
                  </a:lnTo>
                  <a:lnTo>
                    <a:pt x="53" y="246"/>
                  </a:lnTo>
                  <a:lnTo>
                    <a:pt x="55" y="247"/>
                  </a:lnTo>
                  <a:lnTo>
                    <a:pt x="55" y="251"/>
                  </a:lnTo>
                  <a:lnTo>
                    <a:pt x="55" y="253"/>
                  </a:lnTo>
                  <a:lnTo>
                    <a:pt x="57" y="255"/>
                  </a:lnTo>
                  <a:lnTo>
                    <a:pt x="59" y="253"/>
                  </a:lnTo>
                  <a:lnTo>
                    <a:pt x="59" y="251"/>
                  </a:lnTo>
                  <a:lnTo>
                    <a:pt x="59" y="247"/>
                  </a:lnTo>
                  <a:lnTo>
                    <a:pt x="61" y="247"/>
                  </a:lnTo>
                  <a:lnTo>
                    <a:pt x="62" y="249"/>
                  </a:lnTo>
                  <a:lnTo>
                    <a:pt x="64" y="251"/>
                  </a:lnTo>
                  <a:lnTo>
                    <a:pt x="64" y="251"/>
                  </a:lnTo>
                  <a:lnTo>
                    <a:pt x="64" y="251"/>
                  </a:lnTo>
                  <a:lnTo>
                    <a:pt x="64" y="251"/>
                  </a:lnTo>
                  <a:lnTo>
                    <a:pt x="66" y="251"/>
                  </a:lnTo>
                  <a:lnTo>
                    <a:pt x="66" y="251"/>
                  </a:lnTo>
                  <a:lnTo>
                    <a:pt x="66" y="251"/>
                  </a:lnTo>
                  <a:lnTo>
                    <a:pt x="66" y="249"/>
                  </a:lnTo>
                  <a:lnTo>
                    <a:pt x="66" y="249"/>
                  </a:lnTo>
                  <a:lnTo>
                    <a:pt x="66" y="249"/>
                  </a:lnTo>
                  <a:lnTo>
                    <a:pt x="66" y="247"/>
                  </a:lnTo>
                  <a:lnTo>
                    <a:pt x="64" y="246"/>
                  </a:lnTo>
                  <a:lnTo>
                    <a:pt x="64" y="246"/>
                  </a:lnTo>
                  <a:lnTo>
                    <a:pt x="64" y="244"/>
                  </a:lnTo>
                  <a:lnTo>
                    <a:pt x="66" y="240"/>
                  </a:lnTo>
                  <a:lnTo>
                    <a:pt x="68" y="240"/>
                  </a:lnTo>
                  <a:lnTo>
                    <a:pt x="68" y="240"/>
                  </a:lnTo>
                  <a:lnTo>
                    <a:pt x="70" y="238"/>
                  </a:lnTo>
                  <a:lnTo>
                    <a:pt x="70" y="238"/>
                  </a:lnTo>
                  <a:lnTo>
                    <a:pt x="70" y="230"/>
                  </a:lnTo>
                  <a:lnTo>
                    <a:pt x="70" y="230"/>
                  </a:lnTo>
                  <a:lnTo>
                    <a:pt x="70" y="230"/>
                  </a:lnTo>
                  <a:lnTo>
                    <a:pt x="72" y="230"/>
                  </a:lnTo>
                  <a:lnTo>
                    <a:pt x="72" y="230"/>
                  </a:lnTo>
                  <a:lnTo>
                    <a:pt x="74" y="230"/>
                  </a:lnTo>
                  <a:lnTo>
                    <a:pt x="76" y="230"/>
                  </a:lnTo>
                  <a:lnTo>
                    <a:pt x="78" y="232"/>
                  </a:lnTo>
                  <a:lnTo>
                    <a:pt x="80" y="232"/>
                  </a:lnTo>
                  <a:lnTo>
                    <a:pt x="82" y="232"/>
                  </a:lnTo>
                  <a:lnTo>
                    <a:pt x="80" y="228"/>
                  </a:lnTo>
                  <a:lnTo>
                    <a:pt x="80" y="227"/>
                  </a:lnTo>
                  <a:lnTo>
                    <a:pt x="80" y="227"/>
                  </a:lnTo>
                  <a:lnTo>
                    <a:pt x="80" y="227"/>
                  </a:lnTo>
                  <a:lnTo>
                    <a:pt x="82" y="227"/>
                  </a:lnTo>
                  <a:lnTo>
                    <a:pt x="83" y="227"/>
                  </a:lnTo>
                  <a:lnTo>
                    <a:pt x="83" y="225"/>
                  </a:lnTo>
                  <a:lnTo>
                    <a:pt x="83" y="225"/>
                  </a:lnTo>
                  <a:lnTo>
                    <a:pt x="83" y="223"/>
                  </a:lnTo>
                  <a:lnTo>
                    <a:pt x="83" y="211"/>
                  </a:lnTo>
                  <a:lnTo>
                    <a:pt x="82" y="208"/>
                  </a:lnTo>
                  <a:lnTo>
                    <a:pt x="80" y="204"/>
                  </a:lnTo>
                  <a:lnTo>
                    <a:pt x="78" y="202"/>
                  </a:lnTo>
                  <a:lnTo>
                    <a:pt x="78" y="200"/>
                  </a:lnTo>
                  <a:lnTo>
                    <a:pt x="78" y="196"/>
                  </a:lnTo>
                  <a:lnTo>
                    <a:pt x="78" y="192"/>
                  </a:lnTo>
                  <a:lnTo>
                    <a:pt x="78" y="190"/>
                  </a:lnTo>
                  <a:lnTo>
                    <a:pt x="78" y="189"/>
                  </a:lnTo>
                  <a:lnTo>
                    <a:pt x="76" y="185"/>
                  </a:lnTo>
                  <a:lnTo>
                    <a:pt x="74" y="183"/>
                  </a:lnTo>
                  <a:lnTo>
                    <a:pt x="74" y="181"/>
                  </a:lnTo>
                  <a:lnTo>
                    <a:pt x="76" y="173"/>
                  </a:lnTo>
                  <a:lnTo>
                    <a:pt x="78" y="170"/>
                  </a:lnTo>
                  <a:lnTo>
                    <a:pt x="80" y="171"/>
                  </a:lnTo>
                  <a:lnTo>
                    <a:pt x="80" y="168"/>
                  </a:lnTo>
                  <a:lnTo>
                    <a:pt x="83" y="164"/>
                  </a:lnTo>
                  <a:lnTo>
                    <a:pt x="83" y="162"/>
                  </a:lnTo>
                  <a:lnTo>
                    <a:pt x="85" y="160"/>
                  </a:lnTo>
                  <a:lnTo>
                    <a:pt x="83" y="158"/>
                  </a:lnTo>
                  <a:lnTo>
                    <a:pt x="82" y="154"/>
                  </a:lnTo>
                  <a:lnTo>
                    <a:pt x="82" y="152"/>
                  </a:lnTo>
                  <a:lnTo>
                    <a:pt x="82" y="150"/>
                  </a:lnTo>
                  <a:lnTo>
                    <a:pt x="82" y="147"/>
                  </a:lnTo>
                  <a:lnTo>
                    <a:pt x="82" y="145"/>
                  </a:lnTo>
                  <a:lnTo>
                    <a:pt x="83" y="145"/>
                  </a:lnTo>
                  <a:lnTo>
                    <a:pt x="85" y="145"/>
                  </a:lnTo>
                  <a:lnTo>
                    <a:pt x="87" y="147"/>
                  </a:lnTo>
                  <a:lnTo>
                    <a:pt x="89" y="149"/>
                  </a:lnTo>
                  <a:lnTo>
                    <a:pt x="91" y="150"/>
                  </a:lnTo>
                  <a:lnTo>
                    <a:pt x="93" y="150"/>
                  </a:lnTo>
                  <a:lnTo>
                    <a:pt x="95" y="149"/>
                  </a:lnTo>
                  <a:lnTo>
                    <a:pt x="97" y="147"/>
                  </a:lnTo>
                  <a:lnTo>
                    <a:pt x="99" y="145"/>
                  </a:lnTo>
                  <a:lnTo>
                    <a:pt x="102" y="137"/>
                  </a:lnTo>
                  <a:lnTo>
                    <a:pt x="102" y="135"/>
                  </a:lnTo>
                  <a:lnTo>
                    <a:pt x="102" y="135"/>
                  </a:lnTo>
                  <a:lnTo>
                    <a:pt x="102" y="133"/>
                  </a:lnTo>
                  <a:lnTo>
                    <a:pt x="102" y="126"/>
                  </a:lnTo>
                  <a:lnTo>
                    <a:pt x="102" y="122"/>
                  </a:lnTo>
                  <a:lnTo>
                    <a:pt x="102" y="120"/>
                  </a:lnTo>
                  <a:lnTo>
                    <a:pt x="104" y="118"/>
                  </a:lnTo>
                  <a:lnTo>
                    <a:pt x="104" y="116"/>
                  </a:lnTo>
                  <a:lnTo>
                    <a:pt x="106" y="116"/>
                  </a:lnTo>
                  <a:lnTo>
                    <a:pt x="106" y="114"/>
                  </a:lnTo>
                  <a:lnTo>
                    <a:pt x="106" y="114"/>
                  </a:lnTo>
                  <a:lnTo>
                    <a:pt x="104" y="107"/>
                  </a:lnTo>
                  <a:close/>
                </a:path>
              </a:pathLst>
            </a:custGeom>
            <a:solidFill>
              <a:schemeClr val="tx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83" name="Freeform 32">
              <a:extLst>
                <a:ext uri="{FF2B5EF4-FFF2-40B4-BE49-F238E27FC236}">
                  <a16:creationId xmlns:a16="http://schemas.microsoft.com/office/drawing/2014/main" id="{7EDB03B0-A800-5224-3438-297C53D6F5D8}"/>
                </a:ext>
              </a:extLst>
            </p:cNvPr>
            <p:cNvSpPr>
              <a:spLocks/>
            </p:cNvSpPr>
            <p:nvPr/>
          </p:nvSpPr>
          <p:spPr bwMode="auto">
            <a:xfrm>
              <a:off x="4781086" y="3169560"/>
              <a:ext cx="524456" cy="189451"/>
            </a:xfrm>
            <a:custGeom>
              <a:avLst/>
              <a:gdLst>
                <a:gd name="T0" fmla="*/ 276 w 278"/>
                <a:gd name="T1" fmla="*/ 83 h 112"/>
                <a:gd name="T2" fmla="*/ 274 w 278"/>
                <a:gd name="T3" fmla="*/ 76 h 112"/>
                <a:gd name="T4" fmla="*/ 265 w 278"/>
                <a:gd name="T5" fmla="*/ 66 h 112"/>
                <a:gd name="T6" fmla="*/ 257 w 278"/>
                <a:gd name="T7" fmla="*/ 62 h 112"/>
                <a:gd name="T8" fmla="*/ 263 w 278"/>
                <a:gd name="T9" fmla="*/ 55 h 112"/>
                <a:gd name="T10" fmla="*/ 265 w 278"/>
                <a:gd name="T11" fmla="*/ 49 h 112"/>
                <a:gd name="T12" fmla="*/ 259 w 278"/>
                <a:gd name="T13" fmla="*/ 53 h 112"/>
                <a:gd name="T14" fmla="*/ 242 w 278"/>
                <a:gd name="T15" fmla="*/ 38 h 112"/>
                <a:gd name="T16" fmla="*/ 234 w 278"/>
                <a:gd name="T17" fmla="*/ 36 h 112"/>
                <a:gd name="T18" fmla="*/ 219 w 278"/>
                <a:gd name="T19" fmla="*/ 42 h 112"/>
                <a:gd name="T20" fmla="*/ 217 w 278"/>
                <a:gd name="T21" fmla="*/ 28 h 112"/>
                <a:gd name="T22" fmla="*/ 221 w 278"/>
                <a:gd name="T23" fmla="*/ 15 h 112"/>
                <a:gd name="T24" fmla="*/ 227 w 278"/>
                <a:gd name="T25" fmla="*/ 3 h 112"/>
                <a:gd name="T26" fmla="*/ 213 w 278"/>
                <a:gd name="T27" fmla="*/ 2 h 112"/>
                <a:gd name="T28" fmla="*/ 194 w 278"/>
                <a:gd name="T29" fmla="*/ 5 h 112"/>
                <a:gd name="T30" fmla="*/ 179 w 278"/>
                <a:gd name="T31" fmla="*/ 5 h 112"/>
                <a:gd name="T32" fmla="*/ 175 w 278"/>
                <a:gd name="T33" fmla="*/ 15 h 112"/>
                <a:gd name="T34" fmla="*/ 169 w 278"/>
                <a:gd name="T35" fmla="*/ 13 h 112"/>
                <a:gd name="T36" fmla="*/ 166 w 278"/>
                <a:gd name="T37" fmla="*/ 5 h 112"/>
                <a:gd name="T38" fmla="*/ 158 w 278"/>
                <a:gd name="T39" fmla="*/ 15 h 112"/>
                <a:gd name="T40" fmla="*/ 156 w 278"/>
                <a:gd name="T41" fmla="*/ 21 h 112"/>
                <a:gd name="T42" fmla="*/ 148 w 278"/>
                <a:gd name="T43" fmla="*/ 24 h 112"/>
                <a:gd name="T44" fmla="*/ 131 w 278"/>
                <a:gd name="T45" fmla="*/ 38 h 112"/>
                <a:gd name="T46" fmla="*/ 129 w 278"/>
                <a:gd name="T47" fmla="*/ 24 h 112"/>
                <a:gd name="T48" fmla="*/ 116 w 278"/>
                <a:gd name="T49" fmla="*/ 24 h 112"/>
                <a:gd name="T50" fmla="*/ 114 w 278"/>
                <a:gd name="T51" fmla="*/ 21 h 112"/>
                <a:gd name="T52" fmla="*/ 108 w 278"/>
                <a:gd name="T53" fmla="*/ 17 h 112"/>
                <a:gd name="T54" fmla="*/ 93 w 278"/>
                <a:gd name="T55" fmla="*/ 15 h 112"/>
                <a:gd name="T56" fmla="*/ 87 w 278"/>
                <a:gd name="T57" fmla="*/ 13 h 112"/>
                <a:gd name="T58" fmla="*/ 76 w 278"/>
                <a:gd name="T59" fmla="*/ 15 h 112"/>
                <a:gd name="T60" fmla="*/ 72 w 278"/>
                <a:gd name="T61" fmla="*/ 15 h 112"/>
                <a:gd name="T62" fmla="*/ 68 w 278"/>
                <a:gd name="T63" fmla="*/ 17 h 112"/>
                <a:gd name="T64" fmla="*/ 63 w 278"/>
                <a:gd name="T65" fmla="*/ 9 h 112"/>
                <a:gd name="T66" fmla="*/ 51 w 278"/>
                <a:gd name="T67" fmla="*/ 9 h 112"/>
                <a:gd name="T68" fmla="*/ 30 w 278"/>
                <a:gd name="T69" fmla="*/ 13 h 112"/>
                <a:gd name="T70" fmla="*/ 21 w 278"/>
                <a:gd name="T71" fmla="*/ 24 h 112"/>
                <a:gd name="T72" fmla="*/ 15 w 278"/>
                <a:gd name="T73" fmla="*/ 34 h 112"/>
                <a:gd name="T74" fmla="*/ 13 w 278"/>
                <a:gd name="T75" fmla="*/ 43 h 112"/>
                <a:gd name="T76" fmla="*/ 19 w 278"/>
                <a:gd name="T77" fmla="*/ 51 h 112"/>
                <a:gd name="T78" fmla="*/ 11 w 278"/>
                <a:gd name="T79" fmla="*/ 55 h 112"/>
                <a:gd name="T80" fmla="*/ 7 w 278"/>
                <a:gd name="T81" fmla="*/ 64 h 112"/>
                <a:gd name="T82" fmla="*/ 0 w 278"/>
                <a:gd name="T83" fmla="*/ 78 h 112"/>
                <a:gd name="T84" fmla="*/ 44 w 278"/>
                <a:gd name="T85" fmla="*/ 93 h 112"/>
                <a:gd name="T86" fmla="*/ 78 w 278"/>
                <a:gd name="T87" fmla="*/ 95 h 112"/>
                <a:gd name="T88" fmla="*/ 87 w 278"/>
                <a:gd name="T89" fmla="*/ 95 h 112"/>
                <a:gd name="T90" fmla="*/ 108 w 278"/>
                <a:gd name="T91" fmla="*/ 95 h 112"/>
                <a:gd name="T92" fmla="*/ 150 w 278"/>
                <a:gd name="T93" fmla="*/ 97 h 112"/>
                <a:gd name="T94" fmla="*/ 162 w 278"/>
                <a:gd name="T95" fmla="*/ 95 h 112"/>
                <a:gd name="T96" fmla="*/ 171 w 278"/>
                <a:gd name="T97" fmla="*/ 99 h 112"/>
                <a:gd name="T98" fmla="*/ 177 w 278"/>
                <a:gd name="T99" fmla="*/ 95 h 112"/>
                <a:gd name="T100" fmla="*/ 204 w 278"/>
                <a:gd name="T101" fmla="*/ 93 h 112"/>
                <a:gd name="T102" fmla="*/ 213 w 278"/>
                <a:gd name="T103" fmla="*/ 99 h 112"/>
                <a:gd name="T104" fmla="*/ 221 w 278"/>
                <a:gd name="T105" fmla="*/ 100 h 112"/>
                <a:gd name="T106" fmla="*/ 232 w 278"/>
                <a:gd name="T107" fmla="*/ 106 h 112"/>
                <a:gd name="T108" fmla="*/ 249 w 278"/>
                <a:gd name="T109" fmla="*/ 100 h 112"/>
                <a:gd name="T110" fmla="*/ 255 w 278"/>
                <a:gd name="T111" fmla="*/ 97 h 112"/>
                <a:gd name="T112" fmla="*/ 276 w 278"/>
                <a:gd name="T113" fmla="*/ 8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8" h="112">
                  <a:moveTo>
                    <a:pt x="278" y="87"/>
                  </a:moveTo>
                  <a:lnTo>
                    <a:pt x="276" y="85"/>
                  </a:lnTo>
                  <a:lnTo>
                    <a:pt x="276" y="85"/>
                  </a:lnTo>
                  <a:lnTo>
                    <a:pt x="276" y="85"/>
                  </a:lnTo>
                  <a:lnTo>
                    <a:pt x="276" y="83"/>
                  </a:lnTo>
                  <a:lnTo>
                    <a:pt x="276" y="83"/>
                  </a:lnTo>
                  <a:lnTo>
                    <a:pt x="276" y="83"/>
                  </a:lnTo>
                  <a:lnTo>
                    <a:pt x="276" y="81"/>
                  </a:lnTo>
                  <a:lnTo>
                    <a:pt x="276" y="81"/>
                  </a:lnTo>
                  <a:lnTo>
                    <a:pt x="276" y="80"/>
                  </a:lnTo>
                  <a:lnTo>
                    <a:pt x="276" y="78"/>
                  </a:lnTo>
                  <a:lnTo>
                    <a:pt x="276" y="78"/>
                  </a:lnTo>
                  <a:lnTo>
                    <a:pt x="276" y="76"/>
                  </a:lnTo>
                  <a:lnTo>
                    <a:pt x="274" y="76"/>
                  </a:lnTo>
                  <a:lnTo>
                    <a:pt x="272" y="74"/>
                  </a:lnTo>
                  <a:lnTo>
                    <a:pt x="272" y="74"/>
                  </a:lnTo>
                  <a:lnTo>
                    <a:pt x="270" y="72"/>
                  </a:lnTo>
                  <a:lnTo>
                    <a:pt x="267" y="68"/>
                  </a:lnTo>
                  <a:lnTo>
                    <a:pt x="267" y="68"/>
                  </a:lnTo>
                  <a:lnTo>
                    <a:pt x="267" y="68"/>
                  </a:lnTo>
                  <a:lnTo>
                    <a:pt x="265" y="66"/>
                  </a:lnTo>
                  <a:lnTo>
                    <a:pt x="261" y="66"/>
                  </a:lnTo>
                  <a:lnTo>
                    <a:pt x="261" y="66"/>
                  </a:lnTo>
                  <a:lnTo>
                    <a:pt x="261" y="64"/>
                  </a:lnTo>
                  <a:lnTo>
                    <a:pt x="261" y="64"/>
                  </a:lnTo>
                  <a:lnTo>
                    <a:pt x="259" y="62"/>
                  </a:lnTo>
                  <a:lnTo>
                    <a:pt x="257" y="62"/>
                  </a:lnTo>
                  <a:lnTo>
                    <a:pt x="257" y="62"/>
                  </a:lnTo>
                  <a:lnTo>
                    <a:pt x="257" y="61"/>
                  </a:lnTo>
                  <a:lnTo>
                    <a:pt x="257" y="61"/>
                  </a:lnTo>
                  <a:lnTo>
                    <a:pt x="259" y="59"/>
                  </a:lnTo>
                  <a:lnTo>
                    <a:pt x="261" y="59"/>
                  </a:lnTo>
                  <a:lnTo>
                    <a:pt x="261" y="57"/>
                  </a:lnTo>
                  <a:lnTo>
                    <a:pt x="263" y="57"/>
                  </a:lnTo>
                  <a:lnTo>
                    <a:pt x="263" y="55"/>
                  </a:lnTo>
                  <a:lnTo>
                    <a:pt x="263" y="55"/>
                  </a:lnTo>
                  <a:lnTo>
                    <a:pt x="265" y="53"/>
                  </a:lnTo>
                  <a:lnTo>
                    <a:pt x="265" y="53"/>
                  </a:lnTo>
                  <a:lnTo>
                    <a:pt x="265" y="51"/>
                  </a:lnTo>
                  <a:lnTo>
                    <a:pt x="267" y="51"/>
                  </a:lnTo>
                  <a:lnTo>
                    <a:pt x="267" y="49"/>
                  </a:lnTo>
                  <a:lnTo>
                    <a:pt x="265" y="49"/>
                  </a:lnTo>
                  <a:lnTo>
                    <a:pt x="265" y="49"/>
                  </a:lnTo>
                  <a:lnTo>
                    <a:pt x="265" y="49"/>
                  </a:lnTo>
                  <a:lnTo>
                    <a:pt x="263" y="49"/>
                  </a:lnTo>
                  <a:lnTo>
                    <a:pt x="263" y="49"/>
                  </a:lnTo>
                  <a:lnTo>
                    <a:pt x="261" y="51"/>
                  </a:lnTo>
                  <a:lnTo>
                    <a:pt x="259" y="51"/>
                  </a:lnTo>
                  <a:lnTo>
                    <a:pt x="259" y="53"/>
                  </a:lnTo>
                  <a:lnTo>
                    <a:pt x="259" y="53"/>
                  </a:lnTo>
                  <a:lnTo>
                    <a:pt x="257" y="53"/>
                  </a:lnTo>
                  <a:lnTo>
                    <a:pt x="257" y="51"/>
                  </a:lnTo>
                  <a:lnTo>
                    <a:pt x="257" y="51"/>
                  </a:lnTo>
                  <a:lnTo>
                    <a:pt x="251" y="43"/>
                  </a:lnTo>
                  <a:lnTo>
                    <a:pt x="248" y="40"/>
                  </a:lnTo>
                  <a:lnTo>
                    <a:pt x="242" y="38"/>
                  </a:lnTo>
                  <a:lnTo>
                    <a:pt x="240" y="36"/>
                  </a:lnTo>
                  <a:lnTo>
                    <a:pt x="240" y="34"/>
                  </a:lnTo>
                  <a:lnTo>
                    <a:pt x="238" y="34"/>
                  </a:lnTo>
                  <a:lnTo>
                    <a:pt x="236" y="34"/>
                  </a:lnTo>
                  <a:lnTo>
                    <a:pt x="236" y="34"/>
                  </a:lnTo>
                  <a:lnTo>
                    <a:pt x="234" y="36"/>
                  </a:lnTo>
                  <a:lnTo>
                    <a:pt x="234" y="36"/>
                  </a:lnTo>
                  <a:lnTo>
                    <a:pt x="232" y="38"/>
                  </a:lnTo>
                  <a:lnTo>
                    <a:pt x="227" y="38"/>
                  </a:lnTo>
                  <a:lnTo>
                    <a:pt x="223" y="40"/>
                  </a:lnTo>
                  <a:lnTo>
                    <a:pt x="221" y="40"/>
                  </a:lnTo>
                  <a:lnTo>
                    <a:pt x="221" y="42"/>
                  </a:lnTo>
                  <a:lnTo>
                    <a:pt x="219" y="42"/>
                  </a:lnTo>
                  <a:lnTo>
                    <a:pt x="219" y="42"/>
                  </a:lnTo>
                  <a:lnTo>
                    <a:pt x="219" y="42"/>
                  </a:lnTo>
                  <a:lnTo>
                    <a:pt x="219" y="40"/>
                  </a:lnTo>
                  <a:lnTo>
                    <a:pt x="219" y="34"/>
                  </a:lnTo>
                  <a:lnTo>
                    <a:pt x="219" y="32"/>
                  </a:lnTo>
                  <a:lnTo>
                    <a:pt x="219" y="32"/>
                  </a:lnTo>
                  <a:lnTo>
                    <a:pt x="219" y="30"/>
                  </a:lnTo>
                  <a:lnTo>
                    <a:pt x="217" y="28"/>
                  </a:lnTo>
                  <a:lnTo>
                    <a:pt x="219" y="28"/>
                  </a:lnTo>
                  <a:lnTo>
                    <a:pt x="219" y="24"/>
                  </a:lnTo>
                  <a:lnTo>
                    <a:pt x="221" y="21"/>
                  </a:lnTo>
                  <a:lnTo>
                    <a:pt x="223" y="19"/>
                  </a:lnTo>
                  <a:lnTo>
                    <a:pt x="223" y="17"/>
                  </a:lnTo>
                  <a:lnTo>
                    <a:pt x="223" y="15"/>
                  </a:lnTo>
                  <a:lnTo>
                    <a:pt x="221" y="15"/>
                  </a:lnTo>
                  <a:lnTo>
                    <a:pt x="219" y="15"/>
                  </a:lnTo>
                  <a:lnTo>
                    <a:pt x="219" y="13"/>
                  </a:lnTo>
                  <a:lnTo>
                    <a:pt x="219" y="13"/>
                  </a:lnTo>
                  <a:lnTo>
                    <a:pt x="219" y="11"/>
                  </a:lnTo>
                  <a:lnTo>
                    <a:pt x="219" y="11"/>
                  </a:lnTo>
                  <a:lnTo>
                    <a:pt x="219" y="11"/>
                  </a:lnTo>
                  <a:lnTo>
                    <a:pt x="227" y="3"/>
                  </a:lnTo>
                  <a:lnTo>
                    <a:pt x="229" y="2"/>
                  </a:lnTo>
                  <a:lnTo>
                    <a:pt x="227" y="2"/>
                  </a:lnTo>
                  <a:lnTo>
                    <a:pt x="227" y="2"/>
                  </a:lnTo>
                  <a:lnTo>
                    <a:pt x="227" y="2"/>
                  </a:lnTo>
                  <a:lnTo>
                    <a:pt x="217" y="0"/>
                  </a:lnTo>
                  <a:lnTo>
                    <a:pt x="217" y="2"/>
                  </a:lnTo>
                  <a:lnTo>
                    <a:pt x="213" y="2"/>
                  </a:lnTo>
                  <a:lnTo>
                    <a:pt x="208" y="3"/>
                  </a:lnTo>
                  <a:lnTo>
                    <a:pt x="208" y="3"/>
                  </a:lnTo>
                  <a:lnTo>
                    <a:pt x="206" y="3"/>
                  </a:lnTo>
                  <a:lnTo>
                    <a:pt x="204" y="3"/>
                  </a:lnTo>
                  <a:lnTo>
                    <a:pt x="198" y="5"/>
                  </a:lnTo>
                  <a:lnTo>
                    <a:pt x="196" y="5"/>
                  </a:lnTo>
                  <a:lnTo>
                    <a:pt x="194" y="5"/>
                  </a:lnTo>
                  <a:lnTo>
                    <a:pt x="192" y="5"/>
                  </a:lnTo>
                  <a:lnTo>
                    <a:pt x="192" y="3"/>
                  </a:lnTo>
                  <a:lnTo>
                    <a:pt x="188" y="2"/>
                  </a:lnTo>
                  <a:lnTo>
                    <a:pt x="187" y="0"/>
                  </a:lnTo>
                  <a:lnTo>
                    <a:pt x="185" y="0"/>
                  </a:lnTo>
                  <a:lnTo>
                    <a:pt x="183" y="2"/>
                  </a:lnTo>
                  <a:lnTo>
                    <a:pt x="179" y="5"/>
                  </a:lnTo>
                  <a:lnTo>
                    <a:pt x="179" y="5"/>
                  </a:lnTo>
                  <a:lnTo>
                    <a:pt x="179" y="7"/>
                  </a:lnTo>
                  <a:lnTo>
                    <a:pt x="179" y="9"/>
                  </a:lnTo>
                  <a:lnTo>
                    <a:pt x="177" y="11"/>
                  </a:lnTo>
                  <a:lnTo>
                    <a:pt x="177" y="13"/>
                  </a:lnTo>
                  <a:lnTo>
                    <a:pt x="175" y="15"/>
                  </a:lnTo>
                  <a:lnTo>
                    <a:pt x="175" y="15"/>
                  </a:lnTo>
                  <a:lnTo>
                    <a:pt x="173" y="17"/>
                  </a:lnTo>
                  <a:lnTo>
                    <a:pt x="171" y="17"/>
                  </a:lnTo>
                  <a:lnTo>
                    <a:pt x="169" y="17"/>
                  </a:lnTo>
                  <a:lnTo>
                    <a:pt x="169" y="15"/>
                  </a:lnTo>
                  <a:lnTo>
                    <a:pt x="169" y="15"/>
                  </a:lnTo>
                  <a:lnTo>
                    <a:pt x="169" y="13"/>
                  </a:lnTo>
                  <a:lnTo>
                    <a:pt x="169" y="13"/>
                  </a:lnTo>
                  <a:lnTo>
                    <a:pt x="169" y="11"/>
                  </a:lnTo>
                  <a:lnTo>
                    <a:pt x="169" y="9"/>
                  </a:lnTo>
                  <a:lnTo>
                    <a:pt x="169" y="9"/>
                  </a:lnTo>
                  <a:lnTo>
                    <a:pt x="169" y="7"/>
                  </a:lnTo>
                  <a:lnTo>
                    <a:pt x="169" y="7"/>
                  </a:lnTo>
                  <a:lnTo>
                    <a:pt x="168" y="5"/>
                  </a:lnTo>
                  <a:lnTo>
                    <a:pt x="166" y="5"/>
                  </a:lnTo>
                  <a:lnTo>
                    <a:pt x="166" y="5"/>
                  </a:lnTo>
                  <a:lnTo>
                    <a:pt x="164" y="7"/>
                  </a:lnTo>
                  <a:lnTo>
                    <a:pt x="164" y="9"/>
                  </a:lnTo>
                  <a:lnTo>
                    <a:pt x="164" y="9"/>
                  </a:lnTo>
                  <a:lnTo>
                    <a:pt x="162" y="11"/>
                  </a:lnTo>
                  <a:lnTo>
                    <a:pt x="160" y="13"/>
                  </a:lnTo>
                  <a:lnTo>
                    <a:pt x="158" y="15"/>
                  </a:lnTo>
                  <a:lnTo>
                    <a:pt x="156" y="19"/>
                  </a:lnTo>
                  <a:lnTo>
                    <a:pt x="156" y="19"/>
                  </a:lnTo>
                  <a:lnTo>
                    <a:pt x="154" y="21"/>
                  </a:lnTo>
                  <a:lnTo>
                    <a:pt x="154" y="21"/>
                  </a:lnTo>
                  <a:lnTo>
                    <a:pt x="154" y="21"/>
                  </a:lnTo>
                  <a:lnTo>
                    <a:pt x="156" y="23"/>
                  </a:lnTo>
                  <a:lnTo>
                    <a:pt x="156" y="21"/>
                  </a:lnTo>
                  <a:lnTo>
                    <a:pt x="156" y="21"/>
                  </a:lnTo>
                  <a:lnTo>
                    <a:pt x="160" y="19"/>
                  </a:lnTo>
                  <a:lnTo>
                    <a:pt x="160" y="19"/>
                  </a:lnTo>
                  <a:lnTo>
                    <a:pt x="160" y="21"/>
                  </a:lnTo>
                  <a:lnTo>
                    <a:pt x="160" y="21"/>
                  </a:lnTo>
                  <a:lnTo>
                    <a:pt x="154" y="24"/>
                  </a:lnTo>
                  <a:lnTo>
                    <a:pt x="148" y="24"/>
                  </a:lnTo>
                  <a:lnTo>
                    <a:pt x="143" y="26"/>
                  </a:lnTo>
                  <a:lnTo>
                    <a:pt x="143" y="26"/>
                  </a:lnTo>
                  <a:lnTo>
                    <a:pt x="141" y="28"/>
                  </a:lnTo>
                  <a:lnTo>
                    <a:pt x="139" y="30"/>
                  </a:lnTo>
                  <a:lnTo>
                    <a:pt x="135" y="36"/>
                  </a:lnTo>
                  <a:lnTo>
                    <a:pt x="133" y="36"/>
                  </a:lnTo>
                  <a:lnTo>
                    <a:pt x="131" y="38"/>
                  </a:lnTo>
                  <a:lnTo>
                    <a:pt x="131" y="38"/>
                  </a:lnTo>
                  <a:lnTo>
                    <a:pt x="129" y="36"/>
                  </a:lnTo>
                  <a:lnTo>
                    <a:pt x="129" y="34"/>
                  </a:lnTo>
                  <a:lnTo>
                    <a:pt x="129" y="30"/>
                  </a:lnTo>
                  <a:lnTo>
                    <a:pt x="128" y="28"/>
                  </a:lnTo>
                  <a:lnTo>
                    <a:pt x="128" y="26"/>
                  </a:lnTo>
                  <a:lnTo>
                    <a:pt x="129" y="24"/>
                  </a:lnTo>
                  <a:lnTo>
                    <a:pt x="129" y="23"/>
                  </a:lnTo>
                  <a:lnTo>
                    <a:pt x="128" y="23"/>
                  </a:lnTo>
                  <a:lnTo>
                    <a:pt x="120" y="26"/>
                  </a:lnTo>
                  <a:lnTo>
                    <a:pt x="118" y="26"/>
                  </a:lnTo>
                  <a:lnTo>
                    <a:pt x="118" y="26"/>
                  </a:lnTo>
                  <a:lnTo>
                    <a:pt x="116" y="24"/>
                  </a:lnTo>
                  <a:lnTo>
                    <a:pt x="116" y="24"/>
                  </a:lnTo>
                  <a:lnTo>
                    <a:pt x="116" y="24"/>
                  </a:lnTo>
                  <a:lnTo>
                    <a:pt x="114" y="26"/>
                  </a:lnTo>
                  <a:lnTo>
                    <a:pt x="114" y="26"/>
                  </a:lnTo>
                  <a:lnTo>
                    <a:pt x="112" y="26"/>
                  </a:lnTo>
                  <a:lnTo>
                    <a:pt x="112" y="24"/>
                  </a:lnTo>
                  <a:lnTo>
                    <a:pt x="112" y="23"/>
                  </a:lnTo>
                  <a:lnTo>
                    <a:pt x="114" y="21"/>
                  </a:lnTo>
                  <a:lnTo>
                    <a:pt x="112" y="21"/>
                  </a:lnTo>
                  <a:lnTo>
                    <a:pt x="112" y="19"/>
                  </a:lnTo>
                  <a:lnTo>
                    <a:pt x="112" y="19"/>
                  </a:lnTo>
                  <a:lnTo>
                    <a:pt x="110" y="19"/>
                  </a:lnTo>
                  <a:lnTo>
                    <a:pt x="110" y="19"/>
                  </a:lnTo>
                  <a:lnTo>
                    <a:pt x="108" y="17"/>
                  </a:lnTo>
                  <a:lnTo>
                    <a:pt x="108" y="17"/>
                  </a:lnTo>
                  <a:lnTo>
                    <a:pt x="108" y="15"/>
                  </a:lnTo>
                  <a:lnTo>
                    <a:pt x="107" y="15"/>
                  </a:lnTo>
                  <a:lnTo>
                    <a:pt x="103" y="15"/>
                  </a:lnTo>
                  <a:lnTo>
                    <a:pt x="101" y="15"/>
                  </a:lnTo>
                  <a:lnTo>
                    <a:pt x="99" y="15"/>
                  </a:lnTo>
                  <a:lnTo>
                    <a:pt x="95" y="15"/>
                  </a:lnTo>
                  <a:lnTo>
                    <a:pt x="93" y="15"/>
                  </a:lnTo>
                  <a:lnTo>
                    <a:pt x="91" y="17"/>
                  </a:lnTo>
                  <a:lnTo>
                    <a:pt x="89" y="17"/>
                  </a:lnTo>
                  <a:lnTo>
                    <a:pt x="89" y="17"/>
                  </a:lnTo>
                  <a:lnTo>
                    <a:pt x="89" y="17"/>
                  </a:lnTo>
                  <a:lnTo>
                    <a:pt x="89" y="15"/>
                  </a:lnTo>
                  <a:lnTo>
                    <a:pt x="89" y="13"/>
                  </a:lnTo>
                  <a:lnTo>
                    <a:pt x="87" y="13"/>
                  </a:lnTo>
                  <a:lnTo>
                    <a:pt x="87" y="13"/>
                  </a:lnTo>
                  <a:lnTo>
                    <a:pt x="82" y="15"/>
                  </a:lnTo>
                  <a:lnTo>
                    <a:pt x="80" y="15"/>
                  </a:lnTo>
                  <a:lnTo>
                    <a:pt x="78" y="17"/>
                  </a:lnTo>
                  <a:lnTo>
                    <a:pt x="76" y="17"/>
                  </a:lnTo>
                  <a:lnTo>
                    <a:pt x="76" y="15"/>
                  </a:lnTo>
                  <a:lnTo>
                    <a:pt x="76" y="15"/>
                  </a:lnTo>
                  <a:lnTo>
                    <a:pt x="76" y="15"/>
                  </a:lnTo>
                  <a:lnTo>
                    <a:pt x="76" y="13"/>
                  </a:lnTo>
                  <a:lnTo>
                    <a:pt x="74" y="13"/>
                  </a:lnTo>
                  <a:lnTo>
                    <a:pt x="74" y="13"/>
                  </a:lnTo>
                  <a:lnTo>
                    <a:pt x="74" y="13"/>
                  </a:lnTo>
                  <a:lnTo>
                    <a:pt x="72" y="15"/>
                  </a:lnTo>
                  <a:lnTo>
                    <a:pt x="72" y="15"/>
                  </a:lnTo>
                  <a:lnTo>
                    <a:pt x="72" y="17"/>
                  </a:lnTo>
                  <a:lnTo>
                    <a:pt x="68" y="19"/>
                  </a:lnTo>
                  <a:lnTo>
                    <a:pt x="67" y="19"/>
                  </a:lnTo>
                  <a:lnTo>
                    <a:pt x="67" y="19"/>
                  </a:lnTo>
                  <a:lnTo>
                    <a:pt x="67" y="19"/>
                  </a:lnTo>
                  <a:lnTo>
                    <a:pt x="67" y="17"/>
                  </a:lnTo>
                  <a:lnTo>
                    <a:pt x="68" y="17"/>
                  </a:lnTo>
                  <a:lnTo>
                    <a:pt x="68" y="15"/>
                  </a:lnTo>
                  <a:lnTo>
                    <a:pt x="68" y="13"/>
                  </a:lnTo>
                  <a:lnTo>
                    <a:pt x="68" y="13"/>
                  </a:lnTo>
                  <a:lnTo>
                    <a:pt x="68" y="11"/>
                  </a:lnTo>
                  <a:lnTo>
                    <a:pt x="67" y="9"/>
                  </a:lnTo>
                  <a:lnTo>
                    <a:pt x="65" y="9"/>
                  </a:lnTo>
                  <a:lnTo>
                    <a:pt x="63" y="9"/>
                  </a:lnTo>
                  <a:lnTo>
                    <a:pt x="63" y="9"/>
                  </a:lnTo>
                  <a:lnTo>
                    <a:pt x="61" y="9"/>
                  </a:lnTo>
                  <a:lnTo>
                    <a:pt x="59" y="9"/>
                  </a:lnTo>
                  <a:lnTo>
                    <a:pt x="55" y="7"/>
                  </a:lnTo>
                  <a:lnTo>
                    <a:pt x="53" y="7"/>
                  </a:lnTo>
                  <a:lnTo>
                    <a:pt x="53" y="7"/>
                  </a:lnTo>
                  <a:lnTo>
                    <a:pt x="51" y="9"/>
                  </a:lnTo>
                  <a:lnTo>
                    <a:pt x="49" y="11"/>
                  </a:lnTo>
                  <a:lnTo>
                    <a:pt x="49" y="11"/>
                  </a:lnTo>
                  <a:lnTo>
                    <a:pt x="47" y="11"/>
                  </a:lnTo>
                  <a:lnTo>
                    <a:pt x="46" y="11"/>
                  </a:lnTo>
                  <a:lnTo>
                    <a:pt x="44" y="13"/>
                  </a:lnTo>
                  <a:lnTo>
                    <a:pt x="38" y="13"/>
                  </a:lnTo>
                  <a:lnTo>
                    <a:pt x="30" y="13"/>
                  </a:lnTo>
                  <a:lnTo>
                    <a:pt x="28" y="15"/>
                  </a:lnTo>
                  <a:lnTo>
                    <a:pt x="28" y="15"/>
                  </a:lnTo>
                  <a:lnTo>
                    <a:pt x="27" y="17"/>
                  </a:lnTo>
                  <a:lnTo>
                    <a:pt x="23" y="21"/>
                  </a:lnTo>
                  <a:lnTo>
                    <a:pt x="23" y="21"/>
                  </a:lnTo>
                  <a:lnTo>
                    <a:pt x="21" y="23"/>
                  </a:lnTo>
                  <a:lnTo>
                    <a:pt x="21" y="24"/>
                  </a:lnTo>
                  <a:lnTo>
                    <a:pt x="21" y="24"/>
                  </a:lnTo>
                  <a:lnTo>
                    <a:pt x="17" y="28"/>
                  </a:lnTo>
                  <a:lnTo>
                    <a:pt x="17" y="28"/>
                  </a:lnTo>
                  <a:lnTo>
                    <a:pt x="15" y="30"/>
                  </a:lnTo>
                  <a:lnTo>
                    <a:pt x="15" y="32"/>
                  </a:lnTo>
                  <a:lnTo>
                    <a:pt x="15" y="34"/>
                  </a:lnTo>
                  <a:lnTo>
                    <a:pt x="15" y="34"/>
                  </a:lnTo>
                  <a:lnTo>
                    <a:pt x="15" y="34"/>
                  </a:lnTo>
                  <a:lnTo>
                    <a:pt x="13" y="36"/>
                  </a:lnTo>
                  <a:lnTo>
                    <a:pt x="13" y="38"/>
                  </a:lnTo>
                  <a:lnTo>
                    <a:pt x="13" y="40"/>
                  </a:lnTo>
                  <a:lnTo>
                    <a:pt x="13" y="40"/>
                  </a:lnTo>
                  <a:lnTo>
                    <a:pt x="13" y="42"/>
                  </a:lnTo>
                  <a:lnTo>
                    <a:pt x="13" y="43"/>
                  </a:lnTo>
                  <a:lnTo>
                    <a:pt x="13" y="45"/>
                  </a:lnTo>
                  <a:lnTo>
                    <a:pt x="15" y="45"/>
                  </a:lnTo>
                  <a:lnTo>
                    <a:pt x="15" y="47"/>
                  </a:lnTo>
                  <a:lnTo>
                    <a:pt x="17" y="49"/>
                  </a:lnTo>
                  <a:lnTo>
                    <a:pt x="19" y="49"/>
                  </a:lnTo>
                  <a:lnTo>
                    <a:pt x="19" y="49"/>
                  </a:lnTo>
                  <a:lnTo>
                    <a:pt x="19" y="51"/>
                  </a:lnTo>
                  <a:lnTo>
                    <a:pt x="19" y="51"/>
                  </a:lnTo>
                  <a:lnTo>
                    <a:pt x="17" y="53"/>
                  </a:lnTo>
                  <a:lnTo>
                    <a:pt x="17" y="53"/>
                  </a:lnTo>
                  <a:lnTo>
                    <a:pt x="17" y="53"/>
                  </a:lnTo>
                  <a:lnTo>
                    <a:pt x="15" y="55"/>
                  </a:lnTo>
                  <a:lnTo>
                    <a:pt x="13" y="55"/>
                  </a:lnTo>
                  <a:lnTo>
                    <a:pt x="11" y="55"/>
                  </a:lnTo>
                  <a:lnTo>
                    <a:pt x="9" y="55"/>
                  </a:lnTo>
                  <a:lnTo>
                    <a:pt x="9" y="57"/>
                  </a:lnTo>
                  <a:lnTo>
                    <a:pt x="9" y="59"/>
                  </a:lnTo>
                  <a:lnTo>
                    <a:pt x="9" y="61"/>
                  </a:lnTo>
                  <a:lnTo>
                    <a:pt x="7" y="62"/>
                  </a:lnTo>
                  <a:lnTo>
                    <a:pt x="7" y="64"/>
                  </a:lnTo>
                  <a:lnTo>
                    <a:pt x="7" y="64"/>
                  </a:lnTo>
                  <a:lnTo>
                    <a:pt x="7" y="64"/>
                  </a:lnTo>
                  <a:lnTo>
                    <a:pt x="4" y="66"/>
                  </a:lnTo>
                  <a:lnTo>
                    <a:pt x="0" y="66"/>
                  </a:lnTo>
                  <a:lnTo>
                    <a:pt x="0" y="70"/>
                  </a:lnTo>
                  <a:lnTo>
                    <a:pt x="0" y="70"/>
                  </a:lnTo>
                  <a:lnTo>
                    <a:pt x="0" y="74"/>
                  </a:lnTo>
                  <a:lnTo>
                    <a:pt x="0" y="78"/>
                  </a:lnTo>
                  <a:lnTo>
                    <a:pt x="0" y="81"/>
                  </a:lnTo>
                  <a:lnTo>
                    <a:pt x="2" y="83"/>
                  </a:lnTo>
                  <a:lnTo>
                    <a:pt x="4" y="83"/>
                  </a:lnTo>
                  <a:lnTo>
                    <a:pt x="6" y="81"/>
                  </a:lnTo>
                  <a:lnTo>
                    <a:pt x="9" y="81"/>
                  </a:lnTo>
                  <a:lnTo>
                    <a:pt x="30" y="91"/>
                  </a:lnTo>
                  <a:lnTo>
                    <a:pt x="44" y="93"/>
                  </a:lnTo>
                  <a:lnTo>
                    <a:pt x="51" y="97"/>
                  </a:lnTo>
                  <a:lnTo>
                    <a:pt x="55" y="97"/>
                  </a:lnTo>
                  <a:lnTo>
                    <a:pt x="65" y="95"/>
                  </a:lnTo>
                  <a:lnTo>
                    <a:pt x="72" y="95"/>
                  </a:lnTo>
                  <a:lnTo>
                    <a:pt x="76" y="95"/>
                  </a:lnTo>
                  <a:lnTo>
                    <a:pt x="76" y="95"/>
                  </a:lnTo>
                  <a:lnTo>
                    <a:pt x="78" y="95"/>
                  </a:lnTo>
                  <a:lnTo>
                    <a:pt x="80" y="95"/>
                  </a:lnTo>
                  <a:lnTo>
                    <a:pt x="84" y="97"/>
                  </a:lnTo>
                  <a:lnTo>
                    <a:pt x="84" y="97"/>
                  </a:lnTo>
                  <a:lnTo>
                    <a:pt x="86" y="95"/>
                  </a:lnTo>
                  <a:lnTo>
                    <a:pt x="86" y="95"/>
                  </a:lnTo>
                  <a:lnTo>
                    <a:pt x="86" y="95"/>
                  </a:lnTo>
                  <a:lnTo>
                    <a:pt x="87" y="95"/>
                  </a:lnTo>
                  <a:lnTo>
                    <a:pt x="89" y="95"/>
                  </a:lnTo>
                  <a:lnTo>
                    <a:pt x="89" y="97"/>
                  </a:lnTo>
                  <a:lnTo>
                    <a:pt x="91" y="97"/>
                  </a:lnTo>
                  <a:lnTo>
                    <a:pt x="93" y="97"/>
                  </a:lnTo>
                  <a:lnTo>
                    <a:pt x="105" y="95"/>
                  </a:lnTo>
                  <a:lnTo>
                    <a:pt x="105" y="95"/>
                  </a:lnTo>
                  <a:lnTo>
                    <a:pt x="108" y="95"/>
                  </a:lnTo>
                  <a:lnTo>
                    <a:pt x="124" y="93"/>
                  </a:lnTo>
                  <a:lnTo>
                    <a:pt x="128" y="93"/>
                  </a:lnTo>
                  <a:lnTo>
                    <a:pt x="129" y="93"/>
                  </a:lnTo>
                  <a:lnTo>
                    <a:pt x="131" y="91"/>
                  </a:lnTo>
                  <a:lnTo>
                    <a:pt x="131" y="91"/>
                  </a:lnTo>
                  <a:lnTo>
                    <a:pt x="137" y="93"/>
                  </a:lnTo>
                  <a:lnTo>
                    <a:pt x="150" y="97"/>
                  </a:lnTo>
                  <a:lnTo>
                    <a:pt x="154" y="99"/>
                  </a:lnTo>
                  <a:lnTo>
                    <a:pt x="154" y="99"/>
                  </a:lnTo>
                  <a:lnTo>
                    <a:pt x="156" y="97"/>
                  </a:lnTo>
                  <a:lnTo>
                    <a:pt x="158" y="97"/>
                  </a:lnTo>
                  <a:lnTo>
                    <a:pt x="158" y="97"/>
                  </a:lnTo>
                  <a:lnTo>
                    <a:pt x="160" y="95"/>
                  </a:lnTo>
                  <a:lnTo>
                    <a:pt x="162" y="95"/>
                  </a:lnTo>
                  <a:lnTo>
                    <a:pt x="162" y="95"/>
                  </a:lnTo>
                  <a:lnTo>
                    <a:pt x="164" y="97"/>
                  </a:lnTo>
                  <a:lnTo>
                    <a:pt x="164" y="97"/>
                  </a:lnTo>
                  <a:lnTo>
                    <a:pt x="166" y="99"/>
                  </a:lnTo>
                  <a:lnTo>
                    <a:pt x="168" y="99"/>
                  </a:lnTo>
                  <a:lnTo>
                    <a:pt x="169" y="99"/>
                  </a:lnTo>
                  <a:lnTo>
                    <a:pt x="171" y="99"/>
                  </a:lnTo>
                  <a:lnTo>
                    <a:pt x="173" y="99"/>
                  </a:lnTo>
                  <a:lnTo>
                    <a:pt x="173" y="97"/>
                  </a:lnTo>
                  <a:lnTo>
                    <a:pt x="173" y="97"/>
                  </a:lnTo>
                  <a:lnTo>
                    <a:pt x="175" y="97"/>
                  </a:lnTo>
                  <a:lnTo>
                    <a:pt x="175" y="97"/>
                  </a:lnTo>
                  <a:lnTo>
                    <a:pt x="177" y="97"/>
                  </a:lnTo>
                  <a:lnTo>
                    <a:pt x="177" y="95"/>
                  </a:lnTo>
                  <a:lnTo>
                    <a:pt x="177" y="95"/>
                  </a:lnTo>
                  <a:lnTo>
                    <a:pt x="179" y="95"/>
                  </a:lnTo>
                  <a:lnTo>
                    <a:pt x="183" y="95"/>
                  </a:lnTo>
                  <a:lnTo>
                    <a:pt x="194" y="93"/>
                  </a:lnTo>
                  <a:lnTo>
                    <a:pt x="198" y="95"/>
                  </a:lnTo>
                  <a:lnTo>
                    <a:pt x="200" y="93"/>
                  </a:lnTo>
                  <a:lnTo>
                    <a:pt x="204" y="93"/>
                  </a:lnTo>
                  <a:lnTo>
                    <a:pt x="206" y="93"/>
                  </a:lnTo>
                  <a:lnTo>
                    <a:pt x="209" y="95"/>
                  </a:lnTo>
                  <a:lnTo>
                    <a:pt x="211" y="95"/>
                  </a:lnTo>
                  <a:lnTo>
                    <a:pt x="211" y="95"/>
                  </a:lnTo>
                  <a:lnTo>
                    <a:pt x="213" y="97"/>
                  </a:lnTo>
                  <a:lnTo>
                    <a:pt x="213" y="97"/>
                  </a:lnTo>
                  <a:lnTo>
                    <a:pt x="213" y="99"/>
                  </a:lnTo>
                  <a:lnTo>
                    <a:pt x="215" y="99"/>
                  </a:lnTo>
                  <a:lnTo>
                    <a:pt x="217" y="99"/>
                  </a:lnTo>
                  <a:lnTo>
                    <a:pt x="217" y="99"/>
                  </a:lnTo>
                  <a:lnTo>
                    <a:pt x="217" y="99"/>
                  </a:lnTo>
                  <a:lnTo>
                    <a:pt x="219" y="99"/>
                  </a:lnTo>
                  <a:lnTo>
                    <a:pt x="219" y="99"/>
                  </a:lnTo>
                  <a:lnTo>
                    <a:pt x="221" y="100"/>
                  </a:lnTo>
                  <a:lnTo>
                    <a:pt x="223" y="102"/>
                  </a:lnTo>
                  <a:lnTo>
                    <a:pt x="223" y="102"/>
                  </a:lnTo>
                  <a:lnTo>
                    <a:pt x="225" y="102"/>
                  </a:lnTo>
                  <a:lnTo>
                    <a:pt x="227" y="104"/>
                  </a:lnTo>
                  <a:lnTo>
                    <a:pt x="230" y="104"/>
                  </a:lnTo>
                  <a:lnTo>
                    <a:pt x="232" y="104"/>
                  </a:lnTo>
                  <a:lnTo>
                    <a:pt x="232" y="106"/>
                  </a:lnTo>
                  <a:lnTo>
                    <a:pt x="236" y="108"/>
                  </a:lnTo>
                  <a:lnTo>
                    <a:pt x="238" y="110"/>
                  </a:lnTo>
                  <a:lnTo>
                    <a:pt x="238" y="112"/>
                  </a:lnTo>
                  <a:lnTo>
                    <a:pt x="240" y="108"/>
                  </a:lnTo>
                  <a:lnTo>
                    <a:pt x="244" y="104"/>
                  </a:lnTo>
                  <a:lnTo>
                    <a:pt x="248" y="102"/>
                  </a:lnTo>
                  <a:lnTo>
                    <a:pt x="249" y="100"/>
                  </a:lnTo>
                  <a:lnTo>
                    <a:pt x="251" y="99"/>
                  </a:lnTo>
                  <a:lnTo>
                    <a:pt x="251" y="99"/>
                  </a:lnTo>
                  <a:lnTo>
                    <a:pt x="253" y="99"/>
                  </a:lnTo>
                  <a:lnTo>
                    <a:pt x="253" y="99"/>
                  </a:lnTo>
                  <a:lnTo>
                    <a:pt x="255" y="99"/>
                  </a:lnTo>
                  <a:lnTo>
                    <a:pt x="255" y="97"/>
                  </a:lnTo>
                  <a:lnTo>
                    <a:pt x="255" y="97"/>
                  </a:lnTo>
                  <a:lnTo>
                    <a:pt x="255" y="97"/>
                  </a:lnTo>
                  <a:lnTo>
                    <a:pt x="257" y="97"/>
                  </a:lnTo>
                  <a:lnTo>
                    <a:pt x="259" y="97"/>
                  </a:lnTo>
                  <a:lnTo>
                    <a:pt x="261" y="97"/>
                  </a:lnTo>
                  <a:lnTo>
                    <a:pt x="263" y="97"/>
                  </a:lnTo>
                  <a:lnTo>
                    <a:pt x="265" y="93"/>
                  </a:lnTo>
                  <a:lnTo>
                    <a:pt x="276" y="89"/>
                  </a:lnTo>
                  <a:lnTo>
                    <a:pt x="278" y="87"/>
                  </a:lnTo>
                  <a:lnTo>
                    <a:pt x="278" y="87"/>
                  </a:lnTo>
                  <a:close/>
                </a:path>
              </a:pathLst>
            </a:custGeom>
            <a:solidFill>
              <a:srgbClr val="DCDDDF"/>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84" name="Freeform 33">
              <a:extLst>
                <a:ext uri="{FF2B5EF4-FFF2-40B4-BE49-F238E27FC236}">
                  <a16:creationId xmlns:a16="http://schemas.microsoft.com/office/drawing/2014/main" id="{EB8207C2-1BCD-2049-29E0-A4B3B7074C94}"/>
                </a:ext>
              </a:extLst>
            </p:cNvPr>
            <p:cNvSpPr>
              <a:spLocks/>
            </p:cNvSpPr>
            <p:nvPr/>
          </p:nvSpPr>
          <p:spPr bwMode="auto">
            <a:xfrm>
              <a:off x="4781086" y="3169560"/>
              <a:ext cx="524456" cy="189451"/>
            </a:xfrm>
            <a:custGeom>
              <a:avLst/>
              <a:gdLst>
                <a:gd name="T0" fmla="*/ 276 w 278"/>
                <a:gd name="T1" fmla="*/ 83 h 112"/>
                <a:gd name="T2" fmla="*/ 274 w 278"/>
                <a:gd name="T3" fmla="*/ 76 h 112"/>
                <a:gd name="T4" fmla="*/ 265 w 278"/>
                <a:gd name="T5" fmla="*/ 66 h 112"/>
                <a:gd name="T6" fmla="*/ 257 w 278"/>
                <a:gd name="T7" fmla="*/ 62 h 112"/>
                <a:gd name="T8" fmla="*/ 263 w 278"/>
                <a:gd name="T9" fmla="*/ 55 h 112"/>
                <a:gd name="T10" fmla="*/ 265 w 278"/>
                <a:gd name="T11" fmla="*/ 49 h 112"/>
                <a:gd name="T12" fmla="*/ 259 w 278"/>
                <a:gd name="T13" fmla="*/ 53 h 112"/>
                <a:gd name="T14" fmla="*/ 242 w 278"/>
                <a:gd name="T15" fmla="*/ 38 h 112"/>
                <a:gd name="T16" fmla="*/ 234 w 278"/>
                <a:gd name="T17" fmla="*/ 36 h 112"/>
                <a:gd name="T18" fmla="*/ 219 w 278"/>
                <a:gd name="T19" fmla="*/ 42 h 112"/>
                <a:gd name="T20" fmla="*/ 217 w 278"/>
                <a:gd name="T21" fmla="*/ 28 h 112"/>
                <a:gd name="T22" fmla="*/ 221 w 278"/>
                <a:gd name="T23" fmla="*/ 15 h 112"/>
                <a:gd name="T24" fmla="*/ 227 w 278"/>
                <a:gd name="T25" fmla="*/ 3 h 112"/>
                <a:gd name="T26" fmla="*/ 213 w 278"/>
                <a:gd name="T27" fmla="*/ 2 h 112"/>
                <a:gd name="T28" fmla="*/ 194 w 278"/>
                <a:gd name="T29" fmla="*/ 5 h 112"/>
                <a:gd name="T30" fmla="*/ 179 w 278"/>
                <a:gd name="T31" fmla="*/ 5 h 112"/>
                <a:gd name="T32" fmla="*/ 175 w 278"/>
                <a:gd name="T33" fmla="*/ 15 h 112"/>
                <a:gd name="T34" fmla="*/ 169 w 278"/>
                <a:gd name="T35" fmla="*/ 13 h 112"/>
                <a:gd name="T36" fmla="*/ 166 w 278"/>
                <a:gd name="T37" fmla="*/ 5 h 112"/>
                <a:gd name="T38" fmla="*/ 158 w 278"/>
                <a:gd name="T39" fmla="*/ 15 h 112"/>
                <a:gd name="T40" fmla="*/ 156 w 278"/>
                <a:gd name="T41" fmla="*/ 21 h 112"/>
                <a:gd name="T42" fmla="*/ 148 w 278"/>
                <a:gd name="T43" fmla="*/ 24 h 112"/>
                <a:gd name="T44" fmla="*/ 131 w 278"/>
                <a:gd name="T45" fmla="*/ 38 h 112"/>
                <a:gd name="T46" fmla="*/ 129 w 278"/>
                <a:gd name="T47" fmla="*/ 24 h 112"/>
                <a:gd name="T48" fmla="*/ 116 w 278"/>
                <a:gd name="T49" fmla="*/ 24 h 112"/>
                <a:gd name="T50" fmla="*/ 114 w 278"/>
                <a:gd name="T51" fmla="*/ 21 h 112"/>
                <a:gd name="T52" fmla="*/ 108 w 278"/>
                <a:gd name="T53" fmla="*/ 17 h 112"/>
                <a:gd name="T54" fmla="*/ 93 w 278"/>
                <a:gd name="T55" fmla="*/ 15 h 112"/>
                <a:gd name="T56" fmla="*/ 87 w 278"/>
                <a:gd name="T57" fmla="*/ 13 h 112"/>
                <a:gd name="T58" fmla="*/ 76 w 278"/>
                <a:gd name="T59" fmla="*/ 15 h 112"/>
                <a:gd name="T60" fmla="*/ 72 w 278"/>
                <a:gd name="T61" fmla="*/ 15 h 112"/>
                <a:gd name="T62" fmla="*/ 68 w 278"/>
                <a:gd name="T63" fmla="*/ 17 h 112"/>
                <a:gd name="T64" fmla="*/ 63 w 278"/>
                <a:gd name="T65" fmla="*/ 9 h 112"/>
                <a:gd name="T66" fmla="*/ 51 w 278"/>
                <a:gd name="T67" fmla="*/ 9 h 112"/>
                <a:gd name="T68" fmla="*/ 30 w 278"/>
                <a:gd name="T69" fmla="*/ 13 h 112"/>
                <a:gd name="T70" fmla="*/ 21 w 278"/>
                <a:gd name="T71" fmla="*/ 24 h 112"/>
                <a:gd name="T72" fmla="*/ 15 w 278"/>
                <a:gd name="T73" fmla="*/ 34 h 112"/>
                <a:gd name="T74" fmla="*/ 13 w 278"/>
                <a:gd name="T75" fmla="*/ 43 h 112"/>
                <a:gd name="T76" fmla="*/ 19 w 278"/>
                <a:gd name="T77" fmla="*/ 51 h 112"/>
                <a:gd name="T78" fmla="*/ 11 w 278"/>
                <a:gd name="T79" fmla="*/ 55 h 112"/>
                <a:gd name="T80" fmla="*/ 7 w 278"/>
                <a:gd name="T81" fmla="*/ 64 h 112"/>
                <a:gd name="T82" fmla="*/ 0 w 278"/>
                <a:gd name="T83" fmla="*/ 78 h 112"/>
                <a:gd name="T84" fmla="*/ 44 w 278"/>
                <a:gd name="T85" fmla="*/ 93 h 112"/>
                <a:gd name="T86" fmla="*/ 78 w 278"/>
                <a:gd name="T87" fmla="*/ 95 h 112"/>
                <a:gd name="T88" fmla="*/ 87 w 278"/>
                <a:gd name="T89" fmla="*/ 95 h 112"/>
                <a:gd name="T90" fmla="*/ 108 w 278"/>
                <a:gd name="T91" fmla="*/ 95 h 112"/>
                <a:gd name="T92" fmla="*/ 150 w 278"/>
                <a:gd name="T93" fmla="*/ 97 h 112"/>
                <a:gd name="T94" fmla="*/ 162 w 278"/>
                <a:gd name="T95" fmla="*/ 95 h 112"/>
                <a:gd name="T96" fmla="*/ 171 w 278"/>
                <a:gd name="T97" fmla="*/ 99 h 112"/>
                <a:gd name="T98" fmla="*/ 177 w 278"/>
                <a:gd name="T99" fmla="*/ 95 h 112"/>
                <a:gd name="T100" fmla="*/ 204 w 278"/>
                <a:gd name="T101" fmla="*/ 93 h 112"/>
                <a:gd name="T102" fmla="*/ 213 w 278"/>
                <a:gd name="T103" fmla="*/ 99 h 112"/>
                <a:gd name="T104" fmla="*/ 221 w 278"/>
                <a:gd name="T105" fmla="*/ 100 h 112"/>
                <a:gd name="T106" fmla="*/ 232 w 278"/>
                <a:gd name="T107" fmla="*/ 106 h 112"/>
                <a:gd name="T108" fmla="*/ 249 w 278"/>
                <a:gd name="T109" fmla="*/ 100 h 112"/>
                <a:gd name="T110" fmla="*/ 255 w 278"/>
                <a:gd name="T111" fmla="*/ 97 h 112"/>
                <a:gd name="T112" fmla="*/ 276 w 278"/>
                <a:gd name="T113" fmla="*/ 8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8" h="112">
                  <a:moveTo>
                    <a:pt x="278" y="87"/>
                  </a:moveTo>
                  <a:lnTo>
                    <a:pt x="276" y="85"/>
                  </a:lnTo>
                  <a:lnTo>
                    <a:pt x="276" y="85"/>
                  </a:lnTo>
                  <a:lnTo>
                    <a:pt x="276" y="85"/>
                  </a:lnTo>
                  <a:lnTo>
                    <a:pt x="276" y="83"/>
                  </a:lnTo>
                  <a:lnTo>
                    <a:pt x="276" y="83"/>
                  </a:lnTo>
                  <a:lnTo>
                    <a:pt x="276" y="83"/>
                  </a:lnTo>
                  <a:lnTo>
                    <a:pt x="276" y="81"/>
                  </a:lnTo>
                  <a:lnTo>
                    <a:pt x="276" y="81"/>
                  </a:lnTo>
                  <a:lnTo>
                    <a:pt x="276" y="80"/>
                  </a:lnTo>
                  <a:lnTo>
                    <a:pt x="276" y="78"/>
                  </a:lnTo>
                  <a:lnTo>
                    <a:pt x="276" y="78"/>
                  </a:lnTo>
                  <a:lnTo>
                    <a:pt x="276" y="76"/>
                  </a:lnTo>
                  <a:lnTo>
                    <a:pt x="274" y="76"/>
                  </a:lnTo>
                  <a:lnTo>
                    <a:pt x="272" y="74"/>
                  </a:lnTo>
                  <a:lnTo>
                    <a:pt x="272" y="74"/>
                  </a:lnTo>
                  <a:lnTo>
                    <a:pt x="270" y="72"/>
                  </a:lnTo>
                  <a:lnTo>
                    <a:pt x="267" y="68"/>
                  </a:lnTo>
                  <a:lnTo>
                    <a:pt x="267" y="68"/>
                  </a:lnTo>
                  <a:lnTo>
                    <a:pt x="267" y="68"/>
                  </a:lnTo>
                  <a:lnTo>
                    <a:pt x="265" y="66"/>
                  </a:lnTo>
                  <a:lnTo>
                    <a:pt x="261" y="66"/>
                  </a:lnTo>
                  <a:lnTo>
                    <a:pt x="261" y="66"/>
                  </a:lnTo>
                  <a:lnTo>
                    <a:pt x="261" y="64"/>
                  </a:lnTo>
                  <a:lnTo>
                    <a:pt x="261" y="64"/>
                  </a:lnTo>
                  <a:lnTo>
                    <a:pt x="259" y="62"/>
                  </a:lnTo>
                  <a:lnTo>
                    <a:pt x="257" y="62"/>
                  </a:lnTo>
                  <a:lnTo>
                    <a:pt x="257" y="62"/>
                  </a:lnTo>
                  <a:lnTo>
                    <a:pt x="257" y="61"/>
                  </a:lnTo>
                  <a:lnTo>
                    <a:pt x="257" y="61"/>
                  </a:lnTo>
                  <a:lnTo>
                    <a:pt x="259" y="59"/>
                  </a:lnTo>
                  <a:lnTo>
                    <a:pt x="261" y="59"/>
                  </a:lnTo>
                  <a:lnTo>
                    <a:pt x="261" y="57"/>
                  </a:lnTo>
                  <a:lnTo>
                    <a:pt x="263" y="57"/>
                  </a:lnTo>
                  <a:lnTo>
                    <a:pt x="263" y="55"/>
                  </a:lnTo>
                  <a:lnTo>
                    <a:pt x="263" y="55"/>
                  </a:lnTo>
                  <a:lnTo>
                    <a:pt x="265" y="53"/>
                  </a:lnTo>
                  <a:lnTo>
                    <a:pt x="265" y="53"/>
                  </a:lnTo>
                  <a:lnTo>
                    <a:pt x="265" y="51"/>
                  </a:lnTo>
                  <a:lnTo>
                    <a:pt x="267" y="51"/>
                  </a:lnTo>
                  <a:lnTo>
                    <a:pt x="267" y="49"/>
                  </a:lnTo>
                  <a:lnTo>
                    <a:pt x="265" y="49"/>
                  </a:lnTo>
                  <a:lnTo>
                    <a:pt x="265" y="49"/>
                  </a:lnTo>
                  <a:lnTo>
                    <a:pt x="265" y="49"/>
                  </a:lnTo>
                  <a:lnTo>
                    <a:pt x="263" y="49"/>
                  </a:lnTo>
                  <a:lnTo>
                    <a:pt x="263" y="49"/>
                  </a:lnTo>
                  <a:lnTo>
                    <a:pt x="261" y="51"/>
                  </a:lnTo>
                  <a:lnTo>
                    <a:pt x="259" y="51"/>
                  </a:lnTo>
                  <a:lnTo>
                    <a:pt x="259" y="53"/>
                  </a:lnTo>
                  <a:lnTo>
                    <a:pt x="259" y="53"/>
                  </a:lnTo>
                  <a:lnTo>
                    <a:pt x="257" y="53"/>
                  </a:lnTo>
                  <a:lnTo>
                    <a:pt x="257" y="51"/>
                  </a:lnTo>
                  <a:lnTo>
                    <a:pt x="257" y="51"/>
                  </a:lnTo>
                  <a:lnTo>
                    <a:pt x="251" y="43"/>
                  </a:lnTo>
                  <a:lnTo>
                    <a:pt x="248" y="40"/>
                  </a:lnTo>
                  <a:lnTo>
                    <a:pt x="242" y="38"/>
                  </a:lnTo>
                  <a:lnTo>
                    <a:pt x="240" y="36"/>
                  </a:lnTo>
                  <a:lnTo>
                    <a:pt x="240" y="34"/>
                  </a:lnTo>
                  <a:lnTo>
                    <a:pt x="238" y="34"/>
                  </a:lnTo>
                  <a:lnTo>
                    <a:pt x="236" y="34"/>
                  </a:lnTo>
                  <a:lnTo>
                    <a:pt x="236" y="34"/>
                  </a:lnTo>
                  <a:lnTo>
                    <a:pt x="234" y="36"/>
                  </a:lnTo>
                  <a:lnTo>
                    <a:pt x="234" y="36"/>
                  </a:lnTo>
                  <a:lnTo>
                    <a:pt x="232" y="38"/>
                  </a:lnTo>
                  <a:lnTo>
                    <a:pt x="227" y="38"/>
                  </a:lnTo>
                  <a:lnTo>
                    <a:pt x="223" y="40"/>
                  </a:lnTo>
                  <a:lnTo>
                    <a:pt x="221" y="40"/>
                  </a:lnTo>
                  <a:lnTo>
                    <a:pt x="221" y="42"/>
                  </a:lnTo>
                  <a:lnTo>
                    <a:pt x="219" y="42"/>
                  </a:lnTo>
                  <a:lnTo>
                    <a:pt x="219" y="42"/>
                  </a:lnTo>
                  <a:lnTo>
                    <a:pt x="219" y="42"/>
                  </a:lnTo>
                  <a:lnTo>
                    <a:pt x="219" y="40"/>
                  </a:lnTo>
                  <a:lnTo>
                    <a:pt x="219" y="34"/>
                  </a:lnTo>
                  <a:lnTo>
                    <a:pt x="219" y="32"/>
                  </a:lnTo>
                  <a:lnTo>
                    <a:pt x="219" y="32"/>
                  </a:lnTo>
                  <a:lnTo>
                    <a:pt x="219" y="30"/>
                  </a:lnTo>
                  <a:lnTo>
                    <a:pt x="217" y="28"/>
                  </a:lnTo>
                  <a:lnTo>
                    <a:pt x="219" y="28"/>
                  </a:lnTo>
                  <a:lnTo>
                    <a:pt x="219" y="24"/>
                  </a:lnTo>
                  <a:lnTo>
                    <a:pt x="221" y="21"/>
                  </a:lnTo>
                  <a:lnTo>
                    <a:pt x="223" y="19"/>
                  </a:lnTo>
                  <a:lnTo>
                    <a:pt x="223" y="17"/>
                  </a:lnTo>
                  <a:lnTo>
                    <a:pt x="223" y="15"/>
                  </a:lnTo>
                  <a:lnTo>
                    <a:pt x="221" y="15"/>
                  </a:lnTo>
                  <a:lnTo>
                    <a:pt x="219" y="15"/>
                  </a:lnTo>
                  <a:lnTo>
                    <a:pt x="219" y="13"/>
                  </a:lnTo>
                  <a:lnTo>
                    <a:pt x="219" y="13"/>
                  </a:lnTo>
                  <a:lnTo>
                    <a:pt x="219" y="11"/>
                  </a:lnTo>
                  <a:lnTo>
                    <a:pt x="219" y="11"/>
                  </a:lnTo>
                  <a:lnTo>
                    <a:pt x="219" y="11"/>
                  </a:lnTo>
                  <a:lnTo>
                    <a:pt x="227" y="3"/>
                  </a:lnTo>
                  <a:lnTo>
                    <a:pt x="229" y="2"/>
                  </a:lnTo>
                  <a:lnTo>
                    <a:pt x="227" y="2"/>
                  </a:lnTo>
                  <a:lnTo>
                    <a:pt x="227" y="2"/>
                  </a:lnTo>
                  <a:lnTo>
                    <a:pt x="227" y="2"/>
                  </a:lnTo>
                  <a:lnTo>
                    <a:pt x="217" y="0"/>
                  </a:lnTo>
                  <a:lnTo>
                    <a:pt x="217" y="2"/>
                  </a:lnTo>
                  <a:lnTo>
                    <a:pt x="213" y="2"/>
                  </a:lnTo>
                  <a:lnTo>
                    <a:pt x="208" y="3"/>
                  </a:lnTo>
                  <a:lnTo>
                    <a:pt x="208" y="3"/>
                  </a:lnTo>
                  <a:lnTo>
                    <a:pt x="206" y="3"/>
                  </a:lnTo>
                  <a:lnTo>
                    <a:pt x="204" y="3"/>
                  </a:lnTo>
                  <a:lnTo>
                    <a:pt x="198" y="5"/>
                  </a:lnTo>
                  <a:lnTo>
                    <a:pt x="196" y="5"/>
                  </a:lnTo>
                  <a:lnTo>
                    <a:pt x="194" y="5"/>
                  </a:lnTo>
                  <a:lnTo>
                    <a:pt x="192" y="5"/>
                  </a:lnTo>
                  <a:lnTo>
                    <a:pt x="192" y="3"/>
                  </a:lnTo>
                  <a:lnTo>
                    <a:pt x="188" y="2"/>
                  </a:lnTo>
                  <a:lnTo>
                    <a:pt x="187" y="0"/>
                  </a:lnTo>
                  <a:lnTo>
                    <a:pt x="185" y="0"/>
                  </a:lnTo>
                  <a:lnTo>
                    <a:pt x="183" y="2"/>
                  </a:lnTo>
                  <a:lnTo>
                    <a:pt x="179" y="5"/>
                  </a:lnTo>
                  <a:lnTo>
                    <a:pt x="179" y="5"/>
                  </a:lnTo>
                  <a:lnTo>
                    <a:pt x="179" y="7"/>
                  </a:lnTo>
                  <a:lnTo>
                    <a:pt x="179" y="9"/>
                  </a:lnTo>
                  <a:lnTo>
                    <a:pt x="177" y="11"/>
                  </a:lnTo>
                  <a:lnTo>
                    <a:pt x="177" y="13"/>
                  </a:lnTo>
                  <a:lnTo>
                    <a:pt x="175" y="15"/>
                  </a:lnTo>
                  <a:lnTo>
                    <a:pt x="175" y="15"/>
                  </a:lnTo>
                  <a:lnTo>
                    <a:pt x="173" y="17"/>
                  </a:lnTo>
                  <a:lnTo>
                    <a:pt x="171" y="17"/>
                  </a:lnTo>
                  <a:lnTo>
                    <a:pt x="169" y="17"/>
                  </a:lnTo>
                  <a:lnTo>
                    <a:pt x="169" y="15"/>
                  </a:lnTo>
                  <a:lnTo>
                    <a:pt x="169" y="15"/>
                  </a:lnTo>
                  <a:lnTo>
                    <a:pt x="169" y="13"/>
                  </a:lnTo>
                  <a:lnTo>
                    <a:pt x="169" y="13"/>
                  </a:lnTo>
                  <a:lnTo>
                    <a:pt x="169" y="11"/>
                  </a:lnTo>
                  <a:lnTo>
                    <a:pt x="169" y="9"/>
                  </a:lnTo>
                  <a:lnTo>
                    <a:pt x="169" y="9"/>
                  </a:lnTo>
                  <a:lnTo>
                    <a:pt x="169" y="7"/>
                  </a:lnTo>
                  <a:lnTo>
                    <a:pt x="169" y="7"/>
                  </a:lnTo>
                  <a:lnTo>
                    <a:pt x="168" y="5"/>
                  </a:lnTo>
                  <a:lnTo>
                    <a:pt x="166" y="5"/>
                  </a:lnTo>
                  <a:lnTo>
                    <a:pt x="166" y="5"/>
                  </a:lnTo>
                  <a:lnTo>
                    <a:pt x="164" y="7"/>
                  </a:lnTo>
                  <a:lnTo>
                    <a:pt x="164" y="9"/>
                  </a:lnTo>
                  <a:lnTo>
                    <a:pt x="164" y="9"/>
                  </a:lnTo>
                  <a:lnTo>
                    <a:pt x="162" y="11"/>
                  </a:lnTo>
                  <a:lnTo>
                    <a:pt x="160" y="13"/>
                  </a:lnTo>
                  <a:lnTo>
                    <a:pt x="158" y="15"/>
                  </a:lnTo>
                  <a:lnTo>
                    <a:pt x="156" y="19"/>
                  </a:lnTo>
                  <a:lnTo>
                    <a:pt x="156" y="19"/>
                  </a:lnTo>
                  <a:lnTo>
                    <a:pt x="154" y="21"/>
                  </a:lnTo>
                  <a:lnTo>
                    <a:pt x="154" y="21"/>
                  </a:lnTo>
                  <a:lnTo>
                    <a:pt x="154" y="21"/>
                  </a:lnTo>
                  <a:lnTo>
                    <a:pt x="156" y="23"/>
                  </a:lnTo>
                  <a:lnTo>
                    <a:pt x="156" y="21"/>
                  </a:lnTo>
                  <a:lnTo>
                    <a:pt x="156" y="21"/>
                  </a:lnTo>
                  <a:lnTo>
                    <a:pt x="160" y="19"/>
                  </a:lnTo>
                  <a:lnTo>
                    <a:pt x="160" y="19"/>
                  </a:lnTo>
                  <a:lnTo>
                    <a:pt x="160" y="21"/>
                  </a:lnTo>
                  <a:lnTo>
                    <a:pt x="160" y="21"/>
                  </a:lnTo>
                  <a:lnTo>
                    <a:pt x="154" y="24"/>
                  </a:lnTo>
                  <a:lnTo>
                    <a:pt x="148" y="24"/>
                  </a:lnTo>
                  <a:lnTo>
                    <a:pt x="143" y="26"/>
                  </a:lnTo>
                  <a:lnTo>
                    <a:pt x="143" y="26"/>
                  </a:lnTo>
                  <a:lnTo>
                    <a:pt x="141" y="28"/>
                  </a:lnTo>
                  <a:lnTo>
                    <a:pt x="139" y="30"/>
                  </a:lnTo>
                  <a:lnTo>
                    <a:pt x="135" y="36"/>
                  </a:lnTo>
                  <a:lnTo>
                    <a:pt x="133" y="36"/>
                  </a:lnTo>
                  <a:lnTo>
                    <a:pt x="131" y="38"/>
                  </a:lnTo>
                  <a:lnTo>
                    <a:pt x="131" y="38"/>
                  </a:lnTo>
                  <a:lnTo>
                    <a:pt x="129" y="36"/>
                  </a:lnTo>
                  <a:lnTo>
                    <a:pt x="129" y="34"/>
                  </a:lnTo>
                  <a:lnTo>
                    <a:pt x="129" y="30"/>
                  </a:lnTo>
                  <a:lnTo>
                    <a:pt x="128" y="28"/>
                  </a:lnTo>
                  <a:lnTo>
                    <a:pt x="128" y="26"/>
                  </a:lnTo>
                  <a:lnTo>
                    <a:pt x="129" y="24"/>
                  </a:lnTo>
                  <a:lnTo>
                    <a:pt x="129" y="23"/>
                  </a:lnTo>
                  <a:lnTo>
                    <a:pt x="128" y="23"/>
                  </a:lnTo>
                  <a:lnTo>
                    <a:pt x="120" y="26"/>
                  </a:lnTo>
                  <a:lnTo>
                    <a:pt x="118" y="26"/>
                  </a:lnTo>
                  <a:lnTo>
                    <a:pt x="118" y="26"/>
                  </a:lnTo>
                  <a:lnTo>
                    <a:pt x="116" y="24"/>
                  </a:lnTo>
                  <a:lnTo>
                    <a:pt x="116" y="24"/>
                  </a:lnTo>
                  <a:lnTo>
                    <a:pt x="116" y="24"/>
                  </a:lnTo>
                  <a:lnTo>
                    <a:pt x="114" y="26"/>
                  </a:lnTo>
                  <a:lnTo>
                    <a:pt x="114" y="26"/>
                  </a:lnTo>
                  <a:lnTo>
                    <a:pt x="112" y="26"/>
                  </a:lnTo>
                  <a:lnTo>
                    <a:pt x="112" y="24"/>
                  </a:lnTo>
                  <a:lnTo>
                    <a:pt x="112" y="23"/>
                  </a:lnTo>
                  <a:lnTo>
                    <a:pt x="114" y="21"/>
                  </a:lnTo>
                  <a:lnTo>
                    <a:pt x="112" y="21"/>
                  </a:lnTo>
                  <a:lnTo>
                    <a:pt x="112" y="19"/>
                  </a:lnTo>
                  <a:lnTo>
                    <a:pt x="112" y="19"/>
                  </a:lnTo>
                  <a:lnTo>
                    <a:pt x="110" y="19"/>
                  </a:lnTo>
                  <a:lnTo>
                    <a:pt x="110" y="19"/>
                  </a:lnTo>
                  <a:lnTo>
                    <a:pt x="108" y="17"/>
                  </a:lnTo>
                  <a:lnTo>
                    <a:pt x="108" y="17"/>
                  </a:lnTo>
                  <a:lnTo>
                    <a:pt x="108" y="15"/>
                  </a:lnTo>
                  <a:lnTo>
                    <a:pt x="107" y="15"/>
                  </a:lnTo>
                  <a:lnTo>
                    <a:pt x="103" y="15"/>
                  </a:lnTo>
                  <a:lnTo>
                    <a:pt x="101" y="15"/>
                  </a:lnTo>
                  <a:lnTo>
                    <a:pt x="99" y="15"/>
                  </a:lnTo>
                  <a:lnTo>
                    <a:pt x="95" y="15"/>
                  </a:lnTo>
                  <a:lnTo>
                    <a:pt x="93" y="15"/>
                  </a:lnTo>
                  <a:lnTo>
                    <a:pt x="91" y="17"/>
                  </a:lnTo>
                  <a:lnTo>
                    <a:pt x="89" y="17"/>
                  </a:lnTo>
                  <a:lnTo>
                    <a:pt x="89" y="17"/>
                  </a:lnTo>
                  <a:lnTo>
                    <a:pt x="89" y="17"/>
                  </a:lnTo>
                  <a:lnTo>
                    <a:pt x="89" y="15"/>
                  </a:lnTo>
                  <a:lnTo>
                    <a:pt x="89" y="13"/>
                  </a:lnTo>
                  <a:lnTo>
                    <a:pt x="87" y="13"/>
                  </a:lnTo>
                  <a:lnTo>
                    <a:pt x="87" y="13"/>
                  </a:lnTo>
                  <a:lnTo>
                    <a:pt x="82" y="15"/>
                  </a:lnTo>
                  <a:lnTo>
                    <a:pt x="80" y="15"/>
                  </a:lnTo>
                  <a:lnTo>
                    <a:pt x="78" y="17"/>
                  </a:lnTo>
                  <a:lnTo>
                    <a:pt x="76" y="17"/>
                  </a:lnTo>
                  <a:lnTo>
                    <a:pt x="76" y="15"/>
                  </a:lnTo>
                  <a:lnTo>
                    <a:pt x="76" y="15"/>
                  </a:lnTo>
                  <a:lnTo>
                    <a:pt x="76" y="15"/>
                  </a:lnTo>
                  <a:lnTo>
                    <a:pt x="76" y="13"/>
                  </a:lnTo>
                  <a:lnTo>
                    <a:pt x="74" y="13"/>
                  </a:lnTo>
                  <a:lnTo>
                    <a:pt x="74" y="13"/>
                  </a:lnTo>
                  <a:lnTo>
                    <a:pt x="74" y="13"/>
                  </a:lnTo>
                  <a:lnTo>
                    <a:pt x="72" y="15"/>
                  </a:lnTo>
                  <a:lnTo>
                    <a:pt x="72" y="15"/>
                  </a:lnTo>
                  <a:lnTo>
                    <a:pt x="72" y="17"/>
                  </a:lnTo>
                  <a:lnTo>
                    <a:pt x="68" y="19"/>
                  </a:lnTo>
                  <a:lnTo>
                    <a:pt x="67" y="19"/>
                  </a:lnTo>
                  <a:lnTo>
                    <a:pt x="67" y="19"/>
                  </a:lnTo>
                  <a:lnTo>
                    <a:pt x="67" y="19"/>
                  </a:lnTo>
                  <a:lnTo>
                    <a:pt x="67" y="17"/>
                  </a:lnTo>
                  <a:lnTo>
                    <a:pt x="68" y="17"/>
                  </a:lnTo>
                  <a:lnTo>
                    <a:pt x="68" y="15"/>
                  </a:lnTo>
                  <a:lnTo>
                    <a:pt x="68" y="13"/>
                  </a:lnTo>
                  <a:lnTo>
                    <a:pt x="68" y="13"/>
                  </a:lnTo>
                  <a:lnTo>
                    <a:pt x="68" y="11"/>
                  </a:lnTo>
                  <a:lnTo>
                    <a:pt x="67" y="9"/>
                  </a:lnTo>
                  <a:lnTo>
                    <a:pt x="65" y="9"/>
                  </a:lnTo>
                  <a:lnTo>
                    <a:pt x="63" y="9"/>
                  </a:lnTo>
                  <a:lnTo>
                    <a:pt x="63" y="9"/>
                  </a:lnTo>
                  <a:lnTo>
                    <a:pt x="61" y="9"/>
                  </a:lnTo>
                  <a:lnTo>
                    <a:pt x="59" y="9"/>
                  </a:lnTo>
                  <a:lnTo>
                    <a:pt x="55" y="7"/>
                  </a:lnTo>
                  <a:lnTo>
                    <a:pt x="53" y="7"/>
                  </a:lnTo>
                  <a:lnTo>
                    <a:pt x="53" y="7"/>
                  </a:lnTo>
                  <a:lnTo>
                    <a:pt x="51" y="9"/>
                  </a:lnTo>
                  <a:lnTo>
                    <a:pt x="49" y="11"/>
                  </a:lnTo>
                  <a:lnTo>
                    <a:pt x="49" y="11"/>
                  </a:lnTo>
                  <a:lnTo>
                    <a:pt x="47" y="11"/>
                  </a:lnTo>
                  <a:lnTo>
                    <a:pt x="46" y="11"/>
                  </a:lnTo>
                  <a:lnTo>
                    <a:pt x="44" y="13"/>
                  </a:lnTo>
                  <a:lnTo>
                    <a:pt x="38" y="13"/>
                  </a:lnTo>
                  <a:lnTo>
                    <a:pt x="30" y="13"/>
                  </a:lnTo>
                  <a:lnTo>
                    <a:pt x="28" y="15"/>
                  </a:lnTo>
                  <a:lnTo>
                    <a:pt x="28" y="15"/>
                  </a:lnTo>
                  <a:lnTo>
                    <a:pt x="27" y="17"/>
                  </a:lnTo>
                  <a:lnTo>
                    <a:pt x="23" y="21"/>
                  </a:lnTo>
                  <a:lnTo>
                    <a:pt x="23" y="21"/>
                  </a:lnTo>
                  <a:lnTo>
                    <a:pt x="21" y="23"/>
                  </a:lnTo>
                  <a:lnTo>
                    <a:pt x="21" y="24"/>
                  </a:lnTo>
                  <a:lnTo>
                    <a:pt x="21" y="24"/>
                  </a:lnTo>
                  <a:lnTo>
                    <a:pt x="17" y="28"/>
                  </a:lnTo>
                  <a:lnTo>
                    <a:pt x="17" y="28"/>
                  </a:lnTo>
                  <a:lnTo>
                    <a:pt x="15" y="30"/>
                  </a:lnTo>
                  <a:lnTo>
                    <a:pt x="15" y="32"/>
                  </a:lnTo>
                  <a:lnTo>
                    <a:pt x="15" y="34"/>
                  </a:lnTo>
                  <a:lnTo>
                    <a:pt x="15" y="34"/>
                  </a:lnTo>
                  <a:lnTo>
                    <a:pt x="15" y="34"/>
                  </a:lnTo>
                  <a:lnTo>
                    <a:pt x="13" y="36"/>
                  </a:lnTo>
                  <a:lnTo>
                    <a:pt x="13" y="38"/>
                  </a:lnTo>
                  <a:lnTo>
                    <a:pt x="13" y="40"/>
                  </a:lnTo>
                  <a:lnTo>
                    <a:pt x="13" y="40"/>
                  </a:lnTo>
                  <a:lnTo>
                    <a:pt x="13" y="42"/>
                  </a:lnTo>
                  <a:lnTo>
                    <a:pt x="13" y="43"/>
                  </a:lnTo>
                  <a:lnTo>
                    <a:pt x="13" y="45"/>
                  </a:lnTo>
                  <a:lnTo>
                    <a:pt x="15" y="45"/>
                  </a:lnTo>
                  <a:lnTo>
                    <a:pt x="15" y="47"/>
                  </a:lnTo>
                  <a:lnTo>
                    <a:pt x="17" y="49"/>
                  </a:lnTo>
                  <a:lnTo>
                    <a:pt x="19" y="49"/>
                  </a:lnTo>
                  <a:lnTo>
                    <a:pt x="19" y="49"/>
                  </a:lnTo>
                  <a:lnTo>
                    <a:pt x="19" y="51"/>
                  </a:lnTo>
                  <a:lnTo>
                    <a:pt x="19" y="51"/>
                  </a:lnTo>
                  <a:lnTo>
                    <a:pt x="17" y="53"/>
                  </a:lnTo>
                  <a:lnTo>
                    <a:pt x="17" y="53"/>
                  </a:lnTo>
                  <a:lnTo>
                    <a:pt x="17" y="53"/>
                  </a:lnTo>
                  <a:lnTo>
                    <a:pt x="15" y="55"/>
                  </a:lnTo>
                  <a:lnTo>
                    <a:pt x="13" y="55"/>
                  </a:lnTo>
                  <a:lnTo>
                    <a:pt x="11" y="55"/>
                  </a:lnTo>
                  <a:lnTo>
                    <a:pt x="9" y="55"/>
                  </a:lnTo>
                  <a:lnTo>
                    <a:pt x="9" y="57"/>
                  </a:lnTo>
                  <a:lnTo>
                    <a:pt x="9" y="59"/>
                  </a:lnTo>
                  <a:lnTo>
                    <a:pt x="9" y="61"/>
                  </a:lnTo>
                  <a:lnTo>
                    <a:pt x="7" y="62"/>
                  </a:lnTo>
                  <a:lnTo>
                    <a:pt x="7" y="64"/>
                  </a:lnTo>
                  <a:lnTo>
                    <a:pt x="7" y="64"/>
                  </a:lnTo>
                  <a:lnTo>
                    <a:pt x="7" y="64"/>
                  </a:lnTo>
                  <a:lnTo>
                    <a:pt x="4" y="66"/>
                  </a:lnTo>
                  <a:lnTo>
                    <a:pt x="0" y="66"/>
                  </a:lnTo>
                  <a:lnTo>
                    <a:pt x="0" y="70"/>
                  </a:lnTo>
                  <a:lnTo>
                    <a:pt x="0" y="70"/>
                  </a:lnTo>
                  <a:lnTo>
                    <a:pt x="0" y="74"/>
                  </a:lnTo>
                  <a:lnTo>
                    <a:pt x="0" y="78"/>
                  </a:lnTo>
                  <a:lnTo>
                    <a:pt x="0" y="81"/>
                  </a:lnTo>
                  <a:lnTo>
                    <a:pt x="2" y="83"/>
                  </a:lnTo>
                  <a:lnTo>
                    <a:pt x="4" y="83"/>
                  </a:lnTo>
                  <a:lnTo>
                    <a:pt x="6" y="81"/>
                  </a:lnTo>
                  <a:lnTo>
                    <a:pt x="9" y="81"/>
                  </a:lnTo>
                  <a:lnTo>
                    <a:pt x="30" y="91"/>
                  </a:lnTo>
                  <a:lnTo>
                    <a:pt x="44" y="93"/>
                  </a:lnTo>
                  <a:lnTo>
                    <a:pt x="51" y="97"/>
                  </a:lnTo>
                  <a:lnTo>
                    <a:pt x="55" y="97"/>
                  </a:lnTo>
                  <a:lnTo>
                    <a:pt x="65" y="95"/>
                  </a:lnTo>
                  <a:lnTo>
                    <a:pt x="72" y="95"/>
                  </a:lnTo>
                  <a:lnTo>
                    <a:pt x="76" y="95"/>
                  </a:lnTo>
                  <a:lnTo>
                    <a:pt x="76" y="95"/>
                  </a:lnTo>
                  <a:lnTo>
                    <a:pt x="78" y="95"/>
                  </a:lnTo>
                  <a:lnTo>
                    <a:pt x="80" y="95"/>
                  </a:lnTo>
                  <a:lnTo>
                    <a:pt x="84" y="97"/>
                  </a:lnTo>
                  <a:lnTo>
                    <a:pt x="84" y="97"/>
                  </a:lnTo>
                  <a:lnTo>
                    <a:pt x="86" y="95"/>
                  </a:lnTo>
                  <a:lnTo>
                    <a:pt x="86" y="95"/>
                  </a:lnTo>
                  <a:lnTo>
                    <a:pt x="86" y="95"/>
                  </a:lnTo>
                  <a:lnTo>
                    <a:pt x="87" y="95"/>
                  </a:lnTo>
                  <a:lnTo>
                    <a:pt x="89" y="95"/>
                  </a:lnTo>
                  <a:lnTo>
                    <a:pt x="89" y="97"/>
                  </a:lnTo>
                  <a:lnTo>
                    <a:pt x="91" y="97"/>
                  </a:lnTo>
                  <a:lnTo>
                    <a:pt x="93" y="97"/>
                  </a:lnTo>
                  <a:lnTo>
                    <a:pt x="105" y="95"/>
                  </a:lnTo>
                  <a:lnTo>
                    <a:pt x="105" y="95"/>
                  </a:lnTo>
                  <a:lnTo>
                    <a:pt x="108" y="95"/>
                  </a:lnTo>
                  <a:lnTo>
                    <a:pt x="124" y="93"/>
                  </a:lnTo>
                  <a:lnTo>
                    <a:pt x="128" y="93"/>
                  </a:lnTo>
                  <a:lnTo>
                    <a:pt x="129" y="93"/>
                  </a:lnTo>
                  <a:lnTo>
                    <a:pt x="131" y="91"/>
                  </a:lnTo>
                  <a:lnTo>
                    <a:pt x="131" y="91"/>
                  </a:lnTo>
                  <a:lnTo>
                    <a:pt x="137" y="93"/>
                  </a:lnTo>
                  <a:lnTo>
                    <a:pt x="150" y="97"/>
                  </a:lnTo>
                  <a:lnTo>
                    <a:pt x="154" y="99"/>
                  </a:lnTo>
                  <a:lnTo>
                    <a:pt x="154" y="99"/>
                  </a:lnTo>
                  <a:lnTo>
                    <a:pt x="156" y="97"/>
                  </a:lnTo>
                  <a:lnTo>
                    <a:pt x="158" y="97"/>
                  </a:lnTo>
                  <a:lnTo>
                    <a:pt x="158" y="97"/>
                  </a:lnTo>
                  <a:lnTo>
                    <a:pt x="160" y="95"/>
                  </a:lnTo>
                  <a:lnTo>
                    <a:pt x="162" y="95"/>
                  </a:lnTo>
                  <a:lnTo>
                    <a:pt x="162" y="95"/>
                  </a:lnTo>
                  <a:lnTo>
                    <a:pt x="164" y="97"/>
                  </a:lnTo>
                  <a:lnTo>
                    <a:pt x="164" y="97"/>
                  </a:lnTo>
                  <a:lnTo>
                    <a:pt x="166" y="99"/>
                  </a:lnTo>
                  <a:lnTo>
                    <a:pt x="168" y="99"/>
                  </a:lnTo>
                  <a:lnTo>
                    <a:pt x="169" y="99"/>
                  </a:lnTo>
                  <a:lnTo>
                    <a:pt x="171" y="99"/>
                  </a:lnTo>
                  <a:lnTo>
                    <a:pt x="173" y="99"/>
                  </a:lnTo>
                  <a:lnTo>
                    <a:pt x="173" y="97"/>
                  </a:lnTo>
                  <a:lnTo>
                    <a:pt x="173" y="97"/>
                  </a:lnTo>
                  <a:lnTo>
                    <a:pt x="175" y="97"/>
                  </a:lnTo>
                  <a:lnTo>
                    <a:pt x="175" y="97"/>
                  </a:lnTo>
                  <a:lnTo>
                    <a:pt x="177" y="97"/>
                  </a:lnTo>
                  <a:lnTo>
                    <a:pt x="177" y="95"/>
                  </a:lnTo>
                  <a:lnTo>
                    <a:pt x="177" y="95"/>
                  </a:lnTo>
                  <a:lnTo>
                    <a:pt x="179" y="95"/>
                  </a:lnTo>
                  <a:lnTo>
                    <a:pt x="183" y="95"/>
                  </a:lnTo>
                  <a:lnTo>
                    <a:pt x="194" y="93"/>
                  </a:lnTo>
                  <a:lnTo>
                    <a:pt x="198" y="95"/>
                  </a:lnTo>
                  <a:lnTo>
                    <a:pt x="200" y="93"/>
                  </a:lnTo>
                  <a:lnTo>
                    <a:pt x="204" y="93"/>
                  </a:lnTo>
                  <a:lnTo>
                    <a:pt x="206" y="93"/>
                  </a:lnTo>
                  <a:lnTo>
                    <a:pt x="209" y="95"/>
                  </a:lnTo>
                  <a:lnTo>
                    <a:pt x="211" y="95"/>
                  </a:lnTo>
                  <a:lnTo>
                    <a:pt x="211" y="95"/>
                  </a:lnTo>
                  <a:lnTo>
                    <a:pt x="213" y="97"/>
                  </a:lnTo>
                  <a:lnTo>
                    <a:pt x="213" y="97"/>
                  </a:lnTo>
                  <a:lnTo>
                    <a:pt x="213" y="99"/>
                  </a:lnTo>
                  <a:lnTo>
                    <a:pt x="215" y="99"/>
                  </a:lnTo>
                  <a:lnTo>
                    <a:pt x="217" y="99"/>
                  </a:lnTo>
                  <a:lnTo>
                    <a:pt x="217" y="99"/>
                  </a:lnTo>
                  <a:lnTo>
                    <a:pt x="217" y="99"/>
                  </a:lnTo>
                  <a:lnTo>
                    <a:pt x="219" y="99"/>
                  </a:lnTo>
                  <a:lnTo>
                    <a:pt x="219" y="99"/>
                  </a:lnTo>
                  <a:lnTo>
                    <a:pt x="221" y="100"/>
                  </a:lnTo>
                  <a:lnTo>
                    <a:pt x="223" y="102"/>
                  </a:lnTo>
                  <a:lnTo>
                    <a:pt x="223" y="102"/>
                  </a:lnTo>
                  <a:lnTo>
                    <a:pt x="225" y="102"/>
                  </a:lnTo>
                  <a:lnTo>
                    <a:pt x="227" y="104"/>
                  </a:lnTo>
                  <a:lnTo>
                    <a:pt x="230" y="104"/>
                  </a:lnTo>
                  <a:lnTo>
                    <a:pt x="232" y="104"/>
                  </a:lnTo>
                  <a:lnTo>
                    <a:pt x="232" y="106"/>
                  </a:lnTo>
                  <a:lnTo>
                    <a:pt x="236" y="108"/>
                  </a:lnTo>
                  <a:lnTo>
                    <a:pt x="238" y="110"/>
                  </a:lnTo>
                  <a:lnTo>
                    <a:pt x="238" y="112"/>
                  </a:lnTo>
                  <a:lnTo>
                    <a:pt x="240" y="108"/>
                  </a:lnTo>
                  <a:lnTo>
                    <a:pt x="244" y="104"/>
                  </a:lnTo>
                  <a:lnTo>
                    <a:pt x="248" y="102"/>
                  </a:lnTo>
                  <a:lnTo>
                    <a:pt x="249" y="100"/>
                  </a:lnTo>
                  <a:lnTo>
                    <a:pt x="251" y="99"/>
                  </a:lnTo>
                  <a:lnTo>
                    <a:pt x="251" y="99"/>
                  </a:lnTo>
                  <a:lnTo>
                    <a:pt x="253" y="99"/>
                  </a:lnTo>
                  <a:lnTo>
                    <a:pt x="253" y="99"/>
                  </a:lnTo>
                  <a:lnTo>
                    <a:pt x="255" y="99"/>
                  </a:lnTo>
                  <a:lnTo>
                    <a:pt x="255" y="97"/>
                  </a:lnTo>
                  <a:lnTo>
                    <a:pt x="255" y="97"/>
                  </a:lnTo>
                  <a:lnTo>
                    <a:pt x="255" y="97"/>
                  </a:lnTo>
                  <a:lnTo>
                    <a:pt x="257" y="97"/>
                  </a:lnTo>
                  <a:lnTo>
                    <a:pt x="259" y="97"/>
                  </a:lnTo>
                  <a:lnTo>
                    <a:pt x="261" y="97"/>
                  </a:lnTo>
                  <a:lnTo>
                    <a:pt x="263" y="97"/>
                  </a:lnTo>
                  <a:lnTo>
                    <a:pt x="265" y="93"/>
                  </a:lnTo>
                  <a:lnTo>
                    <a:pt x="276" y="89"/>
                  </a:lnTo>
                  <a:lnTo>
                    <a:pt x="278" y="87"/>
                  </a:lnTo>
                  <a:lnTo>
                    <a:pt x="278" y="87"/>
                  </a:lnTo>
                  <a:close/>
                </a:path>
              </a:pathLst>
            </a:custGeom>
            <a:solidFill>
              <a:schemeClr val="tx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85" name="Freeform 34">
              <a:extLst>
                <a:ext uri="{FF2B5EF4-FFF2-40B4-BE49-F238E27FC236}">
                  <a16:creationId xmlns:a16="http://schemas.microsoft.com/office/drawing/2014/main" id="{F81B4A7D-8916-3570-4D01-AF0479D9D0B2}"/>
                </a:ext>
              </a:extLst>
            </p:cNvPr>
            <p:cNvSpPr>
              <a:spLocks/>
            </p:cNvSpPr>
            <p:nvPr/>
          </p:nvSpPr>
          <p:spPr bwMode="auto">
            <a:xfrm>
              <a:off x="5333840" y="3240603"/>
              <a:ext cx="301845" cy="314624"/>
            </a:xfrm>
            <a:custGeom>
              <a:avLst/>
              <a:gdLst>
                <a:gd name="T0" fmla="*/ 145 w 160"/>
                <a:gd name="T1" fmla="*/ 49 h 186"/>
                <a:gd name="T2" fmla="*/ 151 w 160"/>
                <a:gd name="T3" fmla="*/ 24 h 186"/>
                <a:gd name="T4" fmla="*/ 145 w 160"/>
                <a:gd name="T5" fmla="*/ 11 h 186"/>
                <a:gd name="T6" fmla="*/ 147 w 160"/>
                <a:gd name="T7" fmla="*/ 0 h 186"/>
                <a:gd name="T8" fmla="*/ 134 w 160"/>
                <a:gd name="T9" fmla="*/ 11 h 186"/>
                <a:gd name="T10" fmla="*/ 115 w 160"/>
                <a:gd name="T11" fmla="*/ 19 h 186"/>
                <a:gd name="T12" fmla="*/ 111 w 160"/>
                <a:gd name="T13" fmla="*/ 17 h 186"/>
                <a:gd name="T14" fmla="*/ 101 w 160"/>
                <a:gd name="T15" fmla="*/ 17 h 186"/>
                <a:gd name="T16" fmla="*/ 92 w 160"/>
                <a:gd name="T17" fmla="*/ 13 h 186"/>
                <a:gd name="T18" fmla="*/ 73 w 160"/>
                <a:gd name="T19" fmla="*/ 17 h 186"/>
                <a:gd name="T20" fmla="*/ 73 w 160"/>
                <a:gd name="T21" fmla="*/ 19 h 186"/>
                <a:gd name="T22" fmla="*/ 77 w 160"/>
                <a:gd name="T23" fmla="*/ 22 h 186"/>
                <a:gd name="T24" fmla="*/ 65 w 160"/>
                <a:gd name="T25" fmla="*/ 38 h 186"/>
                <a:gd name="T26" fmla="*/ 56 w 160"/>
                <a:gd name="T27" fmla="*/ 47 h 186"/>
                <a:gd name="T28" fmla="*/ 50 w 160"/>
                <a:gd name="T29" fmla="*/ 43 h 186"/>
                <a:gd name="T30" fmla="*/ 46 w 160"/>
                <a:gd name="T31" fmla="*/ 41 h 186"/>
                <a:gd name="T32" fmla="*/ 44 w 160"/>
                <a:gd name="T33" fmla="*/ 39 h 186"/>
                <a:gd name="T34" fmla="*/ 33 w 160"/>
                <a:gd name="T35" fmla="*/ 58 h 186"/>
                <a:gd name="T36" fmla="*/ 29 w 160"/>
                <a:gd name="T37" fmla="*/ 64 h 186"/>
                <a:gd name="T38" fmla="*/ 27 w 160"/>
                <a:gd name="T39" fmla="*/ 68 h 186"/>
                <a:gd name="T40" fmla="*/ 25 w 160"/>
                <a:gd name="T41" fmla="*/ 74 h 186"/>
                <a:gd name="T42" fmla="*/ 25 w 160"/>
                <a:gd name="T43" fmla="*/ 78 h 186"/>
                <a:gd name="T44" fmla="*/ 21 w 160"/>
                <a:gd name="T45" fmla="*/ 89 h 186"/>
                <a:gd name="T46" fmla="*/ 16 w 160"/>
                <a:gd name="T47" fmla="*/ 87 h 186"/>
                <a:gd name="T48" fmla="*/ 14 w 160"/>
                <a:gd name="T49" fmla="*/ 89 h 186"/>
                <a:gd name="T50" fmla="*/ 10 w 160"/>
                <a:gd name="T51" fmla="*/ 98 h 186"/>
                <a:gd name="T52" fmla="*/ 12 w 160"/>
                <a:gd name="T53" fmla="*/ 104 h 186"/>
                <a:gd name="T54" fmla="*/ 8 w 160"/>
                <a:gd name="T55" fmla="*/ 114 h 186"/>
                <a:gd name="T56" fmla="*/ 4 w 160"/>
                <a:gd name="T57" fmla="*/ 131 h 186"/>
                <a:gd name="T58" fmla="*/ 4 w 160"/>
                <a:gd name="T59" fmla="*/ 140 h 186"/>
                <a:gd name="T60" fmla="*/ 2 w 160"/>
                <a:gd name="T61" fmla="*/ 150 h 186"/>
                <a:gd name="T62" fmla="*/ 2 w 160"/>
                <a:gd name="T63" fmla="*/ 157 h 186"/>
                <a:gd name="T64" fmla="*/ 0 w 160"/>
                <a:gd name="T65" fmla="*/ 161 h 186"/>
                <a:gd name="T66" fmla="*/ 12 w 160"/>
                <a:gd name="T67" fmla="*/ 165 h 186"/>
                <a:gd name="T68" fmla="*/ 16 w 160"/>
                <a:gd name="T69" fmla="*/ 165 h 186"/>
                <a:gd name="T70" fmla="*/ 17 w 160"/>
                <a:gd name="T71" fmla="*/ 167 h 186"/>
                <a:gd name="T72" fmla="*/ 23 w 160"/>
                <a:gd name="T73" fmla="*/ 165 h 186"/>
                <a:gd name="T74" fmla="*/ 25 w 160"/>
                <a:gd name="T75" fmla="*/ 167 h 186"/>
                <a:gd name="T76" fmla="*/ 29 w 160"/>
                <a:gd name="T77" fmla="*/ 167 h 186"/>
                <a:gd name="T78" fmla="*/ 35 w 160"/>
                <a:gd name="T79" fmla="*/ 161 h 186"/>
                <a:gd name="T80" fmla="*/ 44 w 160"/>
                <a:gd name="T81" fmla="*/ 175 h 186"/>
                <a:gd name="T82" fmla="*/ 54 w 160"/>
                <a:gd name="T83" fmla="*/ 173 h 186"/>
                <a:gd name="T84" fmla="*/ 56 w 160"/>
                <a:gd name="T85" fmla="*/ 173 h 186"/>
                <a:gd name="T86" fmla="*/ 75 w 160"/>
                <a:gd name="T87" fmla="*/ 176 h 186"/>
                <a:gd name="T88" fmla="*/ 94 w 160"/>
                <a:gd name="T89" fmla="*/ 180 h 186"/>
                <a:gd name="T90" fmla="*/ 107 w 160"/>
                <a:gd name="T91" fmla="*/ 186 h 186"/>
                <a:gd name="T92" fmla="*/ 113 w 160"/>
                <a:gd name="T93" fmla="*/ 171 h 186"/>
                <a:gd name="T94" fmla="*/ 115 w 160"/>
                <a:gd name="T95" fmla="*/ 159 h 186"/>
                <a:gd name="T96" fmla="*/ 122 w 160"/>
                <a:gd name="T97" fmla="*/ 136 h 186"/>
                <a:gd name="T98" fmla="*/ 126 w 160"/>
                <a:gd name="T99" fmla="*/ 131 h 186"/>
                <a:gd name="T100" fmla="*/ 132 w 160"/>
                <a:gd name="T101" fmla="*/ 121 h 186"/>
                <a:gd name="T102" fmla="*/ 141 w 160"/>
                <a:gd name="T103" fmla="*/ 100 h 186"/>
                <a:gd name="T104" fmla="*/ 149 w 160"/>
                <a:gd name="T105" fmla="*/ 97 h 186"/>
                <a:gd name="T106" fmla="*/ 155 w 160"/>
                <a:gd name="T107" fmla="*/ 8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 h="186">
                  <a:moveTo>
                    <a:pt x="160" y="58"/>
                  </a:moveTo>
                  <a:lnTo>
                    <a:pt x="158" y="55"/>
                  </a:lnTo>
                  <a:lnTo>
                    <a:pt x="155" y="55"/>
                  </a:lnTo>
                  <a:lnTo>
                    <a:pt x="151" y="53"/>
                  </a:lnTo>
                  <a:lnTo>
                    <a:pt x="147" y="53"/>
                  </a:lnTo>
                  <a:lnTo>
                    <a:pt x="145" y="49"/>
                  </a:lnTo>
                  <a:lnTo>
                    <a:pt x="145" y="45"/>
                  </a:lnTo>
                  <a:lnTo>
                    <a:pt x="151" y="30"/>
                  </a:lnTo>
                  <a:lnTo>
                    <a:pt x="153" y="26"/>
                  </a:lnTo>
                  <a:lnTo>
                    <a:pt x="155" y="24"/>
                  </a:lnTo>
                  <a:lnTo>
                    <a:pt x="155" y="24"/>
                  </a:lnTo>
                  <a:lnTo>
                    <a:pt x="151" y="24"/>
                  </a:lnTo>
                  <a:lnTo>
                    <a:pt x="149" y="22"/>
                  </a:lnTo>
                  <a:lnTo>
                    <a:pt x="145" y="20"/>
                  </a:lnTo>
                  <a:lnTo>
                    <a:pt x="145" y="19"/>
                  </a:lnTo>
                  <a:lnTo>
                    <a:pt x="143" y="17"/>
                  </a:lnTo>
                  <a:lnTo>
                    <a:pt x="143" y="17"/>
                  </a:lnTo>
                  <a:lnTo>
                    <a:pt x="145" y="11"/>
                  </a:lnTo>
                  <a:lnTo>
                    <a:pt x="147" y="9"/>
                  </a:lnTo>
                  <a:lnTo>
                    <a:pt x="147" y="7"/>
                  </a:lnTo>
                  <a:lnTo>
                    <a:pt x="147" y="3"/>
                  </a:lnTo>
                  <a:lnTo>
                    <a:pt x="147" y="1"/>
                  </a:lnTo>
                  <a:lnTo>
                    <a:pt x="147" y="1"/>
                  </a:lnTo>
                  <a:lnTo>
                    <a:pt x="147" y="0"/>
                  </a:lnTo>
                  <a:lnTo>
                    <a:pt x="147" y="0"/>
                  </a:lnTo>
                  <a:lnTo>
                    <a:pt x="147" y="0"/>
                  </a:lnTo>
                  <a:lnTo>
                    <a:pt x="139" y="5"/>
                  </a:lnTo>
                  <a:lnTo>
                    <a:pt x="137" y="7"/>
                  </a:lnTo>
                  <a:lnTo>
                    <a:pt x="134" y="9"/>
                  </a:lnTo>
                  <a:lnTo>
                    <a:pt x="134" y="11"/>
                  </a:lnTo>
                  <a:lnTo>
                    <a:pt x="132" y="13"/>
                  </a:lnTo>
                  <a:lnTo>
                    <a:pt x="130" y="15"/>
                  </a:lnTo>
                  <a:lnTo>
                    <a:pt x="128" y="17"/>
                  </a:lnTo>
                  <a:lnTo>
                    <a:pt x="124" y="17"/>
                  </a:lnTo>
                  <a:lnTo>
                    <a:pt x="118" y="19"/>
                  </a:lnTo>
                  <a:lnTo>
                    <a:pt x="115" y="19"/>
                  </a:lnTo>
                  <a:lnTo>
                    <a:pt x="113" y="19"/>
                  </a:lnTo>
                  <a:lnTo>
                    <a:pt x="111" y="19"/>
                  </a:lnTo>
                  <a:lnTo>
                    <a:pt x="111" y="19"/>
                  </a:lnTo>
                  <a:lnTo>
                    <a:pt x="111" y="19"/>
                  </a:lnTo>
                  <a:lnTo>
                    <a:pt x="111" y="19"/>
                  </a:lnTo>
                  <a:lnTo>
                    <a:pt x="111" y="17"/>
                  </a:lnTo>
                  <a:lnTo>
                    <a:pt x="109" y="17"/>
                  </a:lnTo>
                  <a:lnTo>
                    <a:pt x="109" y="17"/>
                  </a:lnTo>
                  <a:lnTo>
                    <a:pt x="105" y="17"/>
                  </a:lnTo>
                  <a:lnTo>
                    <a:pt x="105" y="17"/>
                  </a:lnTo>
                  <a:lnTo>
                    <a:pt x="103" y="17"/>
                  </a:lnTo>
                  <a:lnTo>
                    <a:pt x="101" y="17"/>
                  </a:lnTo>
                  <a:lnTo>
                    <a:pt x="101" y="17"/>
                  </a:lnTo>
                  <a:lnTo>
                    <a:pt x="99" y="15"/>
                  </a:lnTo>
                  <a:lnTo>
                    <a:pt x="97" y="13"/>
                  </a:lnTo>
                  <a:lnTo>
                    <a:pt x="97" y="13"/>
                  </a:lnTo>
                  <a:lnTo>
                    <a:pt x="94" y="13"/>
                  </a:lnTo>
                  <a:lnTo>
                    <a:pt x="92" y="13"/>
                  </a:lnTo>
                  <a:lnTo>
                    <a:pt x="88" y="13"/>
                  </a:lnTo>
                  <a:lnTo>
                    <a:pt x="77" y="15"/>
                  </a:lnTo>
                  <a:lnTo>
                    <a:pt x="75" y="15"/>
                  </a:lnTo>
                  <a:lnTo>
                    <a:pt x="73" y="15"/>
                  </a:lnTo>
                  <a:lnTo>
                    <a:pt x="73" y="17"/>
                  </a:lnTo>
                  <a:lnTo>
                    <a:pt x="73" y="17"/>
                  </a:lnTo>
                  <a:lnTo>
                    <a:pt x="73" y="19"/>
                  </a:lnTo>
                  <a:lnTo>
                    <a:pt x="73" y="19"/>
                  </a:lnTo>
                  <a:lnTo>
                    <a:pt x="73" y="19"/>
                  </a:lnTo>
                  <a:lnTo>
                    <a:pt x="73" y="19"/>
                  </a:lnTo>
                  <a:lnTo>
                    <a:pt x="73" y="19"/>
                  </a:lnTo>
                  <a:lnTo>
                    <a:pt x="73" y="19"/>
                  </a:lnTo>
                  <a:lnTo>
                    <a:pt x="75" y="20"/>
                  </a:lnTo>
                  <a:lnTo>
                    <a:pt x="77" y="20"/>
                  </a:lnTo>
                  <a:lnTo>
                    <a:pt x="77" y="20"/>
                  </a:lnTo>
                  <a:lnTo>
                    <a:pt x="77" y="22"/>
                  </a:lnTo>
                  <a:lnTo>
                    <a:pt x="77" y="22"/>
                  </a:lnTo>
                  <a:lnTo>
                    <a:pt x="77" y="22"/>
                  </a:lnTo>
                  <a:lnTo>
                    <a:pt x="77" y="24"/>
                  </a:lnTo>
                  <a:lnTo>
                    <a:pt x="69" y="32"/>
                  </a:lnTo>
                  <a:lnTo>
                    <a:pt x="67" y="34"/>
                  </a:lnTo>
                  <a:lnTo>
                    <a:pt x="65" y="36"/>
                  </a:lnTo>
                  <a:lnTo>
                    <a:pt x="65" y="38"/>
                  </a:lnTo>
                  <a:lnTo>
                    <a:pt x="65" y="38"/>
                  </a:lnTo>
                  <a:lnTo>
                    <a:pt x="61" y="43"/>
                  </a:lnTo>
                  <a:lnTo>
                    <a:pt x="59" y="47"/>
                  </a:lnTo>
                  <a:lnTo>
                    <a:pt x="59" y="49"/>
                  </a:lnTo>
                  <a:lnTo>
                    <a:pt x="57" y="49"/>
                  </a:lnTo>
                  <a:lnTo>
                    <a:pt x="57" y="49"/>
                  </a:lnTo>
                  <a:lnTo>
                    <a:pt x="56" y="47"/>
                  </a:lnTo>
                  <a:lnTo>
                    <a:pt x="56" y="45"/>
                  </a:lnTo>
                  <a:lnTo>
                    <a:pt x="54" y="45"/>
                  </a:lnTo>
                  <a:lnTo>
                    <a:pt x="54" y="45"/>
                  </a:lnTo>
                  <a:lnTo>
                    <a:pt x="52" y="43"/>
                  </a:lnTo>
                  <a:lnTo>
                    <a:pt x="50" y="43"/>
                  </a:lnTo>
                  <a:lnTo>
                    <a:pt x="50" y="43"/>
                  </a:lnTo>
                  <a:lnTo>
                    <a:pt x="50" y="43"/>
                  </a:lnTo>
                  <a:lnTo>
                    <a:pt x="48" y="41"/>
                  </a:lnTo>
                  <a:lnTo>
                    <a:pt x="48" y="41"/>
                  </a:lnTo>
                  <a:lnTo>
                    <a:pt x="48" y="41"/>
                  </a:lnTo>
                  <a:lnTo>
                    <a:pt x="48" y="41"/>
                  </a:lnTo>
                  <a:lnTo>
                    <a:pt x="46" y="41"/>
                  </a:lnTo>
                  <a:lnTo>
                    <a:pt x="46" y="41"/>
                  </a:lnTo>
                  <a:lnTo>
                    <a:pt x="46" y="41"/>
                  </a:lnTo>
                  <a:lnTo>
                    <a:pt x="44" y="39"/>
                  </a:lnTo>
                  <a:lnTo>
                    <a:pt x="44" y="39"/>
                  </a:lnTo>
                  <a:lnTo>
                    <a:pt x="44" y="39"/>
                  </a:lnTo>
                  <a:lnTo>
                    <a:pt x="44" y="39"/>
                  </a:lnTo>
                  <a:lnTo>
                    <a:pt x="40" y="41"/>
                  </a:lnTo>
                  <a:lnTo>
                    <a:pt x="40" y="43"/>
                  </a:lnTo>
                  <a:lnTo>
                    <a:pt x="38" y="45"/>
                  </a:lnTo>
                  <a:lnTo>
                    <a:pt x="36" y="51"/>
                  </a:lnTo>
                  <a:lnTo>
                    <a:pt x="35" y="57"/>
                  </a:lnTo>
                  <a:lnTo>
                    <a:pt x="33" y="58"/>
                  </a:lnTo>
                  <a:lnTo>
                    <a:pt x="33" y="60"/>
                  </a:lnTo>
                  <a:lnTo>
                    <a:pt x="31" y="60"/>
                  </a:lnTo>
                  <a:lnTo>
                    <a:pt x="31" y="62"/>
                  </a:lnTo>
                  <a:lnTo>
                    <a:pt x="31" y="62"/>
                  </a:lnTo>
                  <a:lnTo>
                    <a:pt x="31" y="64"/>
                  </a:lnTo>
                  <a:lnTo>
                    <a:pt x="29" y="64"/>
                  </a:lnTo>
                  <a:lnTo>
                    <a:pt x="29" y="64"/>
                  </a:lnTo>
                  <a:lnTo>
                    <a:pt x="27" y="64"/>
                  </a:lnTo>
                  <a:lnTo>
                    <a:pt x="27" y="64"/>
                  </a:lnTo>
                  <a:lnTo>
                    <a:pt x="27" y="66"/>
                  </a:lnTo>
                  <a:lnTo>
                    <a:pt x="27" y="66"/>
                  </a:lnTo>
                  <a:lnTo>
                    <a:pt x="27" y="68"/>
                  </a:lnTo>
                  <a:lnTo>
                    <a:pt x="27" y="72"/>
                  </a:lnTo>
                  <a:lnTo>
                    <a:pt x="27" y="72"/>
                  </a:lnTo>
                  <a:lnTo>
                    <a:pt x="27" y="74"/>
                  </a:lnTo>
                  <a:lnTo>
                    <a:pt x="27" y="74"/>
                  </a:lnTo>
                  <a:lnTo>
                    <a:pt x="25" y="74"/>
                  </a:lnTo>
                  <a:lnTo>
                    <a:pt x="25" y="74"/>
                  </a:lnTo>
                  <a:lnTo>
                    <a:pt x="25" y="74"/>
                  </a:lnTo>
                  <a:lnTo>
                    <a:pt x="25" y="76"/>
                  </a:lnTo>
                  <a:lnTo>
                    <a:pt x="25" y="76"/>
                  </a:lnTo>
                  <a:lnTo>
                    <a:pt x="25" y="76"/>
                  </a:lnTo>
                  <a:lnTo>
                    <a:pt x="25" y="78"/>
                  </a:lnTo>
                  <a:lnTo>
                    <a:pt x="25" y="78"/>
                  </a:lnTo>
                  <a:lnTo>
                    <a:pt x="25" y="78"/>
                  </a:lnTo>
                  <a:lnTo>
                    <a:pt x="23" y="81"/>
                  </a:lnTo>
                  <a:lnTo>
                    <a:pt x="21" y="85"/>
                  </a:lnTo>
                  <a:lnTo>
                    <a:pt x="21" y="87"/>
                  </a:lnTo>
                  <a:lnTo>
                    <a:pt x="21" y="87"/>
                  </a:lnTo>
                  <a:lnTo>
                    <a:pt x="21" y="89"/>
                  </a:lnTo>
                  <a:lnTo>
                    <a:pt x="19" y="89"/>
                  </a:lnTo>
                  <a:lnTo>
                    <a:pt x="19" y="89"/>
                  </a:lnTo>
                  <a:lnTo>
                    <a:pt x="17" y="89"/>
                  </a:lnTo>
                  <a:lnTo>
                    <a:pt x="17" y="89"/>
                  </a:lnTo>
                  <a:lnTo>
                    <a:pt x="16" y="87"/>
                  </a:lnTo>
                  <a:lnTo>
                    <a:pt x="16" y="87"/>
                  </a:lnTo>
                  <a:lnTo>
                    <a:pt x="16" y="87"/>
                  </a:lnTo>
                  <a:lnTo>
                    <a:pt x="16" y="87"/>
                  </a:lnTo>
                  <a:lnTo>
                    <a:pt x="16" y="87"/>
                  </a:lnTo>
                  <a:lnTo>
                    <a:pt x="14" y="89"/>
                  </a:lnTo>
                  <a:lnTo>
                    <a:pt x="14" y="89"/>
                  </a:lnTo>
                  <a:lnTo>
                    <a:pt x="14" y="89"/>
                  </a:lnTo>
                  <a:lnTo>
                    <a:pt x="14" y="91"/>
                  </a:lnTo>
                  <a:lnTo>
                    <a:pt x="12" y="93"/>
                  </a:lnTo>
                  <a:lnTo>
                    <a:pt x="12" y="97"/>
                  </a:lnTo>
                  <a:lnTo>
                    <a:pt x="12" y="97"/>
                  </a:lnTo>
                  <a:lnTo>
                    <a:pt x="10" y="98"/>
                  </a:lnTo>
                  <a:lnTo>
                    <a:pt x="10" y="98"/>
                  </a:lnTo>
                  <a:lnTo>
                    <a:pt x="10" y="100"/>
                  </a:lnTo>
                  <a:lnTo>
                    <a:pt x="10" y="100"/>
                  </a:lnTo>
                  <a:lnTo>
                    <a:pt x="10" y="102"/>
                  </a:lnTo>
                  <a:lnTo>
                    <a:pt x="12" y="102"/>
                  </a:lnTo>
                  <a:lnTo>
                    <a:pt x="12" y="102"/>
                  </a:lnTo>
                  <a:lnTo>
                    <a:pt x="12" y="104"/>
                  </a:lnTo>
                  <a:lnTo>
                    <a:pt x="10" y="108"/>
                  </a:lnTo>
                  <a:lnTo>
                    <a:pt x="12" y="112"/>
                  </a:lnTo>
                  <a:lnTo>
                    <a:pt x="12" y="112"/>
                  </a:lnTo>
                  <a:lnTo>
                    <a:pt x="10" y="114"/>
                  </a:lnTo>
                  <a:lnTo>
                    <a:pt x="8" y="114"/>
                  </a:lnTo>
                  <a:lnTo>
                    <a:pt x="8" y="114"/>
                  </a:lnTo>
                  <a:lnTo>
                    <a:pt x="6" y="117"/>
                  </a:lnTo>
                  <a:lnTo>
                    <a:pt x="6" y="125"/>
                  </a:lnTo>
                  <a:lnTo>
                    <a:pt x="6" y="129"/>
                  </a:lnTo>
                  <a:lnTo>
                    <a:pt x="2" y="129"/>
                  </a:lnTo>
                  <a:lnTo>
                    <a:pt x="4" y="131"/>
                  </a:lnTo>
                  <a:lnTo>
                    <a:pt x="4" y="131"/>
                  </a:lnTo>
                  <a:lnTo>
                    <a:pt x="4" y="135"/>
                  </a:lnTo>
                  <a:lnTo>
                    <a:pt x="4" y="135"/>
                  </a:lnTo>
                  <a:lnTo>
                    <a:pt x="6" y="136"/>
                  </a:lnTo>
                  <a:lnTo>
                    <a:pt x="6" y="138"/>
                  </a:lnTo>
                  <a:lnTo>
                    <a:pt x="6" y="138"/>
                  </a:lnTo>
                  <a:lnTo>
                    <a:pt x="4" y="140"/>
                  </a:lnTo>
                  <a:lnTo>
                    <a:pt x="4" y="142"/>
                  </a:lnTo>
                  <a:lnTo>
                    <a:pt x="4" y="144"/>
                  </a:lnTo>
                  <a:lnTo>
                    <a:pt x="4" y="144"/>
                  </a:lnTo>
                  <a:lnTo>
                    <a:pt x="4" y="146"/>
                  </a:lnTo>
                  <a:lnTo>
                    <a:pt x="4" y="148"/>
                  </a:lnTo>
                  <a:lnTo>
                    <a:pt x="2" y="150"/>
                  </a:lnTo>
                  <a:lnTo>
                    <a:pt x="2" y="150"/>
                  </a:lnTo>
                  <a:lnTo>
                    <a:pt x="2" y="152"/>
                  </a:lnTo>
                  <a:lnTo>
                    <a:pt x="2" y="152"/>
                  </a:lnTo>
                  <a:lnTo>
                    <a:pt x="2" y="155"/>
                  </a:lnTo>
                  <a:lnTo>
                    <a:pt x="2" y="157"/>
                  </a:lnTo>
                  <a:lnTo>
                    <a:pt x="2" y="157"/>
                  </a:lnTo>
                  <a:lnTo>
                    <a:pt x="2" y="157"/>
                  </a:lnTo>
                  <a:lnTo>
                    <a:pt x="0" y="159"/>
                  </a:lnTo>
                  <a:lnTo>
                    <a:pt x="0" y="159"/>
                  </a:lnTo>
                  <a:lnTo>
                    <a:pt x="0" y="159"/>
                  </a:lnTo>
                  <a:lnTo>
                    <a:pt x="0" y="159"/>
                  </a:lnTo>
                  <a:lnTo>
                    <a:pt x="0" y="161"/>
                  </a:lnTo>
                  <a:lnTo>
                    <a:pt x="0" y="161"/>
                  </a:lnTo>
                  <a:lnTo>
                    <a:pt x="2" y="161"/>
                  </a:lnTo>
                  <a:lnTo>
                    <a:pt x="8" y="163"/>
                  </a:lnTo>
                  <a:lnTo>
                    <a:pt x="10" y="165"/>
                  </a:lnTo>
                  <a:lnTo>
                    <a:pt x="10" y="165"/>
                  </a:lnTo>
                  <a:lnTo>
                    <a:pt x="12" y="165"/>
                  </a:lnTo>
                  <a:lnTo>
                    <a:pt x="12" y="167"/>
                  </a:lnTo>
                  <a:lnTo>
                    <a:pt x="12" y="167"/>
                  </a:lnTo>
                  <a:lnTo>
                    <a:pt x="14" y="167"/>
                  </a:lnTo>
                  <a:lnTo>
                    <a:pt x="14" y="165"/>
                  </a:lnTo>
                  <a:lnTo>
                    <a:pt x="16" y="165"/>
                  </a:lnTo>
                  <a:lnTo>
                    <a:pt x="16" y="165"/>
                  </a:lnTo>
                  <a:lnTo>
                    <a:pt x="17" y="165"/>
                  </a:lnTo>
                  <a:lnTo>
                    <a:pt x="17" y="165"/>
                  </a:lnTo>
                  <a:lnTo>
                    <a:pt x="17" y="165"/>
                  </a:lnTo>
                  <a:lnTo>
                    <a:pt x="17" y="167"/>
                  </a:lnTo>
                  <a:lnTo>
                    <a:pt x="17" y="167"/>
                  </a:lnTo>
                  <a:lnTo>
                    <a:pt x="17" y="167"/>
                  </a:lnTo>
                  <a:lnTo>
                    <a:pt x="19" y="167"/>
                  </a:lnTo>
                  <a:lnTo>
                    <a:pt x="19" y="167"/>
                  </a:lnTo>
                  <a:lnTo>
                    <a:pt x="21" y="167"/>
                  </a:lnTo>
                  <a:lnTo>
                    <a:pt x="21" y="165"/>
                  </a:lnTo>
                  <a:lnTo>
                    <a:pt x="23" y="165"/>
                  </a:lnTo>
                  <a:lnTo>
                    <a:pt x="23" y="165"/>
                  </a:lnTo>
                  <a:lnTo>
                    <a:pt x="23" y="165"/>
                  </a:lnTo>
                  <a:lnTo>
                    <a:pt x="23" y="163"/>
                  </a:lnTo>
                  <a:lnTo>
                    <a:pt x="23" y="165"/>
                  </a:lnTo>
                  <a:lnTo>
                    <a:pt x="25" y="165"/>
                  </a:lnTo>
                  <a:lnTo>
                    <a:pt x="25" y="165"/>
                  </a:lnTo>
                  <a:lnTo>
                    <a:pt x="25" y="167"/>
                  </a:lnTo>
                  <a:lnTo>
                    <a:pt x="25" y="167"/>
                  </a:lnTo>
                  <a:lnTo>
                    <a:pt x="25" y="169"/>
                  </a:lnTo>
                  <a:lnTo>
                    <a:pt x="25" y="169"/>
                  </a:lnTo>
                  <a:lnTo>
                    <a:pt x="25" y="169"/>
                  </a:lnTo>
                  <a:lnTo>
                    <a:pt x="25" y="169"/>
                  </a:lnTo>
                  <a:lnTo>
                    <a:pt x="29" y="167"/>
                  </a:lnTo>
                  <a:lnTo>
                    <a:pt x="31" y="167"/>
                  </a:lnTo>
                  <a:lnTo>
                    <a:pt x="31" y="167"/>
                  </a:lnTo>
                  <a:lnTo>
                    <a:pt x="31" y="167"/>
                  </a:lnTo>
                  <a:lnTo>
                    <a:pt x="31" y="165"/>
                  </a:lnTo>
                  <a:lnTo>
                    <a:pt x="33" y="163"/>
                  </a:lnTo>
                  <a:lnTo>
                    <a:pt x="35" y="161"/>
                  </a:lnTo>
                  <a:lnTo>
                    <a:pt x="36" y="163"/>
                  </a:lnTo>
                  <a:lnTo>
                    <a:pt x="38" y="167"/>
                  </a:lnTo>
                  <a:lnTo>
                    <a:pt x="40" y="169"/>
                  </a:lnTo>
                  <a:lnTo>
                    <a:pt x="42" y="171"/>
                  </a:lnTo>
                  <a:lnTo>
                    <a:pt x="44" y="173"/>
                  </a:lnTo>
                  <a:lnTo>
                    <a:pt x="44" y="175"/>
                  </a:lnTo>
                  <a:lnTo>
                    <a:pt x="44" y="175"/>
                  </a:lnTo>
                  <a:lnTo>
                    <a:pt x="46" y="175"/>
                  </a:lnTo>
                  <a:lnTo>
                    <a:pt x="48" y="175"/>
                  </a:lnTo>
                  <a:lnTo>
                    <a:pt x="50" y="173"/>
                  </a:lnTo>
                  <a:lnTo>
                    <a:pt x="52" y="173"/>
                  </a:lnTo>
                  <a:lnTo>
                    <a:pt x="54" y="173"/>
                  </a:lnTo>
                  <a:lnTo>
                    <a:pt x="54" y="175"/>
                  </a:lnTo>
                  <a:lnTo>
                    <a:pt x="54" y="175"/>
                  </a:lnTo>
                  <a:lnTo>
                    <a:pt x="56" y="175"/>
                  </a:lnTo>
                  <a:lnTo>
                    <a:pt x="56" y="175"/>
                  </a:lnTo>
                  <a:lnTo>
                    <a:pt x="56" y="173"/>
                  </a:lnTo>
                  <a:lnTo>
                    <a:pt x="56" y="173"/>
                  </a:lnTo>
                  <a:lnTo>
                    <a:pt x="56" y="171"/>
                  </a:lnTo>
                  <a:lnTo>
                    <a:pt x="59" y="171"/>
                  </a:lnTo>
                  <a:lnTo>
                    <a:pt x="63" y="171"/>
                  </a:lnTo>
                  <a:lnTo>
                    <a:pt x="67" y="171"/>
                  </a:lnTo>
                  <a:lnTo>
                    <a:pt x="71" y="171"/>
                  </a:lnTo>
                  <a:lnTo>
                    <a:pt x="75" y="176"/>
                  </a:lnTo>
                  <a:lnTo>
                    <a:pt x="77" y="176"/>
                  </a:lnTo>
                  <a:lnTo>
                    <a:pt x="84" y="176"/>
                  </a:lnTo>
                  <a:lnTo>
                    <a:pt x="86" y="176"/>
                  </a:lnTo>
                  <a:lnTo>
                    <a:pt x="88" y="178"/>
                  </a:lnTo>
                  <a:lnTo>
                    <a:pt x="92" y="178"/>
                  </a:lnTo>
                  <a:lnTo>
                    <a:pt x="94" y="180"/>
                  </a:lnTo>
                  <a:lnTo>
                    <a:pt x="99" y="182"/>
                  </a:lnTo>
                  <a:lnTo>
                    <a:pt x="101" y="184"/>
                  </a:lnTo>
                  <a:lnTo>
                    <a:pt x="101" y="186"/>
                  </a:lnTo>
                  <a:lnTo>
                    <a:pt x="103" y="186"/>
                  </a:lnTo>
                  <a:lnTo>
                    <a:pt x="105" y="186"/>
                  </a:lnTo>
                  <a:lnTo>
                    <a:pt x="107" y="186"/>
                  </a:lnTo>
                  <a:lnTo>
                    <a:pt x="107" y="186"/>
                  </a:lnTo>
                  <a:lnTo>
                    <a:pt x="107" y="184"/>
                  </a:lnTo>
                  <a:lnTo>
                    <a:pt x="107" y="180"/>
                  </a:lnTo>
                  <a:lnTo>
                    <a:pt x="107" y="178"/>
                  </a:lnTo>
                  <a:lnTo>
                    <a:pt x="107" y="176"/>
                  </a:lnTo>
                  <a:lnTo>
                    <a:pt x="113" y="171"/>
                  </a:lnTo>
                  <a:lnTo>
                    <a:pt x="113" y="171"/>
                  </a:lnTo>
                  <a:lnTo>
                    <a:pt x="113" y="167"/>
                  </a:lnTo>
                  <a:lnTo>
                    <a:pt x="113" y="165"/>
                  </a:lnTo>
                  <a:lnTo>
                    <a:pt x="115" y="163"/>
                  </a:lnTo>
                  <a:lnTo>
                    <a:pt x="115" y="163"/>
                  </a:lnTo>
                  <a:lnTo>
                    <a:pt x="115" y="159"/>
                  </a:lnTo>
                  <a:lnTo>
                    <a:pt x="117" y="155"/>
                  </a:lnTo>
                  <a:lnTo>
                    <a:pt x="120" y="144"/>
                  </a:lnTo>
                  <a:lnTo>
                    <a:pt x="120" y="142"/>
                  </a:lnTo>
                  <a:lnTo>
                    <a:pt x="120" y="138"/>
                  </a:lnTo>
                  <a:lnTo>
                    <a:pt x="122" y="136"/>
                  </a:lnTo>
                  <a:lnTo>
                    <a:pt x="122" y="136"/>
                  </a:lnTo>
                  <a:lnTo>
                    <a:pt x="124" y="135"/>
                  </a:lnTo>
                  <a:lnTo>
                    <a:pt x="124" y="135"/>
                  </a:lnTo>
                  <a:lnTo>
                    <a:pt x="124" y="133"/>
                  </a:lnTo>
                  <a:lnTo>
                    <a:pt x="124" y="131"/>
                  </a:lnTo>
                  <a:lnTo>
                    <a:pt x="124" y="131"/>
                  </a:lnTo>
                  <a:lnTo>
                    <a:pt x="126" y="131"/>
                  </a:lnTo>
                  <a:lnTo>
                    <a:pt x="126" y="129"/>
                  </a:lnTo>
                  <a:lnTo>
                    <a:pt x="128" y="129"/>
                  </a:lnTo>
                  <a:lnTo>
                    <a:pt x="128" y="123"/>
                  </a:lnTo>
                  <a:lnTo>
                    <a:pt x="128" y="123"/>
                  </a:lnTo>
                  <a:lnTo>
                    <a:pt x="130" y="121"/>
                  </a:lnTo>
                  <a:lnTo>
                    <a:pt x="132" y="121"/>
                  </a:lnTo>
                  <a:lnTo>
                    <a:pt x="132" y="116"/>
                  </a:lnTo>
                  <a:lnTo>
                    <a:pt x="134" y="114"/>
                  </a:lnTo>
                  <a:lnTo>
                    <a:pt x="134" y="114"/>
                  </a:lnTo>
                  <a:lnTo>
                    <a:pt x="137" y="110"/>
                  </a:lnTo>
                  <a:lnTo>
                    <a:pt x="139" y="108"/>
                  </a:lnTo>
                  <a:lnTo>
                    <a:pt x="141" y="100"/>
                  </a:lnTo>
                  <a:lnTo>
                    <a:pt x="141" y="100"/>
                  </a:lnTo>
                  <a:lnTo>
                    <a:pt x="143" y="98"/>
                  </a:lnTo>
                  <a:lnTo>
                    <a:pt x="145" y="98"/>
                  </a:lnTo>
                  <a:lnTo>
                    <a:pt x="145" y="98"/>
                  </a:lnTo>
                  <a:lnTo>
                    <a:pt x="147" y="98"/>
                  </a:lnTo>
                  <a:lnTo>
                    <a:pt x="149" y="97"/>
                  </a:lnTo>
                  <a:lnTo>
                    <a:pt x="149" y="95"/>
                  </a:lnTo>
                  <a:lnTo>
                    <a:pt x="149" y="93"/>
                  </a:lnTo>
                  <a:lnTo>
                    <a:pt x="149" y="91"/>
                  </a:lnTo>
                  <a:lnTo>
                    <a:pt x="149" y="89"/>
                  </a:lnTo>
                  <a:lnTo>
                    <a:pt x="153" y="83"/>
                  </a:lnTo>
                  <a:lnTo>
                    <a:pt x="155" y="81"/>
                  </a:lnTo>
                  <a:lnTo>
                    <a:pt x="157" y="72"/>
                  </a:lnTo>
                  <a:lnTo>
                    <a:pt x="158" y="70"/>
                  </a:lnTo>
                  <a:lnTo>
                    <a:pt x="160" y="66"/>
                  </a:lnTo>
                  <a:lnTo>
                    <a:pt x="160" y="62"/>
                  </a:lnTo>
                  <a:lnTo>
                    <a:pt x="160" y="58"/>
                  </a:lnTo>
                  <a:close/>
                </a:path>
              </a:pathLst>
            </a:custGeom>
            <a:solidFill>
              <a:srgbClr val="F2F2F2"/>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86" name="Freeform 35">
              <a:extLst>
                <a:ext uri="{FF2B5EF4-FFF2-40B4-BE49-F238E27FC236}">
                  <a16:creationId xmlns:a16="http://schemas.microsoft.com/office/drawing/2014/main" id="{3A95B1B4-E2D7-376E-D36B-8056A74BE7C1}"/>
                </a:ext>
              </a:extLst>
            </p:cNvPr>
            <p:cNvSpPr>
              <a:spLocks/>
            </p:cNvSpPr>
            <p:nvPr/>
          </p:nvSpPr>
          <p:spPr bwMode="auto">
            <a:xfrm>
              <a:off x="5333840" y="3240603"/>
              <a:ext cx="301845" cy="314624"/>
            </a:xfrm>
            <a:custGeom>
              <a:avLst/>
              <a:gdLst>
                <a:gd name="T0" fmla="*/ 145 w 160"/>
                <a:gd name="T1" fmla="*/ 49 h 186"/>
                <a:gd name="T2" fmla="*/ 151 w 160"/>
                <a:gd name="T3" fmla="*/ 24 h 186"/>
                <a:gd name="T4" fmla="*/ 145 w 160"/>
                <a:gd name="T5" fmla="*/ 11 h 186"/>
                <a:gd name="T6" fmla="*/ 147 w 160"/>
                <a:gd name="T7" fmla="*/ 0 h 186"/>
                <a:gd name="T8" fmla="*/ 134 w 160"/>
                <a:gd name="T9" fmla="*/ 11 h 186"/>
                <a:gd name="T10" fmla="*/ 115 w 160"/>
                <a:gd name="T11" fmla="*/ 19 h 186"/>
                <a:gd name="T12" fmla="*/ 111 w 160"/>
                <a:gd name="T13" fmla="*/ 17 h 186"/>
                <a:gd name="T14" fmla="*/ 101 w 160"/>
                <a:gd name="T15" fmla="*/ 17 h 186"/>
                <a:gd name="T16" fmla="*/ 92 w 160"/>
                <a:gd name="T17" fmla="*/ 13 h 186"/>
                <a:gd name="T18" fmla="*/ 73 w 160"/>
                <a:gd name="T19" fmla="*/ 17 h 186"/>
                <a:gd name="T20" fmla="*/ 73 w 160"/>
                <a:gd name="T21" fmla="*/ 19 h 186"/>
                <a:gd name="T22" fmla="*/ 77 w 160"/>
                <a:gd name="T23" fmla="*/ 22 h 186"/>
                <a:gd name="T24" fmla="*/ 65 w 160"/>
                <a:gd name="T25" fmla="*/ 38 h 186"/>
                <a:gd name="T26" fmla="*/ 56 w 160"/>
                <a:gd name="T27" fmla="*/ 47 h 186"/>
                <a:gd name="T28" fmla="*/ 50 w 160"/>
                <a:gd name="T29" fmla="*/ 43 h 186"/>
                <a:gd name="T30" fmla="*/ 46 w 160"/>
                <a:gd name="T31" fmla="*/ 41 h 186"/>
                <a:gd name="T32" fmla="*/ 44 w 160"/>
                <a:gd name="T33" fmla="*/ 39 h 186"/>
                <a:gd name="T34" fmla="*/ 33 w 160"/>
                <a:gd name="T35" fmla="*/ 58 h 186"/>
                <a:gd name="T36" fmla="*/ 29 w 160"/>
                <a:gd name="T37" fmla="*/ 64 h 186"/>
                <a:gd name="T38" fmla="*/ 27 w 160"/>
                <a:gd name="T39" fmla="*/ 68 h 186"/>
                <a:gd name="T40" fmla="*/ 25 w 160"/>
                <a:gd name="T41" fmla="*/ 74 h 186"/>
                <a:gd name="T42" fmla="*/ 25 w 160"/>
                <a:gd name="T43" fmla="*/ 78 h 186"/>
                <a:gd name="T44" fmla="*/ 21 w 160"/>
                <a:gd name="T45" fmla="*/ 89 h 186"/>
                <a:gd name="T46" fmla="*/ 16 w 160"/>
                <a:gd name="T47" fmla="*/ 87 h 186"/>
                <a:gd name="T48" fmla="*/ 14 w 160"/>
                <a:gd name="T49" fmla="*/ 89 h 186"/>
                <a:gd name="T50" fmla="*/ 10 w 160"/>
                <a:gd name="T51" fmla="*/ 98 h 186"/>
                <a:gd name="T52" fmla="*/ 12 w 160"/>
                <a:gd name="T53" fmla="*/ 104 h 186"/>
                <a:gd name="T54" fmla="*/ 8 w 160"/>
                <a:gd name="T55" fmla="*/ 114 h 186"/>
                <a:gd name="T56" fmla="*/ 4 w 160"/>
                <a:gd name="T57" fmla="*/ 131 h 186"/>
                <a:gd name="T58" fmla="*/ 4 w 160"/>
                <a:gd name="T59" fmla="*/ 140 h 186"/>
                <a:gd name="T60" fmla="*/ 2 w 160"/>
                <a:gd name="T61" fmla="*/ 150 h 186"/>
                <a:gd name="T62" fmla="*/ 2 w 160"/>
                <a:gd name="T63" fmla="*/ 157 h 186"/>
                <a:gd name="T64" fmla="*/ 0 w 160"/>
                <a:gd name="T65" fmla="*/ 161 h 186"/>
                <a:gd name="T66" fmla="*/ 12 w 160"/>
                <a:gd name="T67" fmla="*/ 165 h 186"/>
                <a:gd name="T68" fmla="*/ 16 w 160"/>
                <a:gd name="T69" fmla="*/ 165 h 186"/>
                <a:gd name="T70" fmla="*/ 17 w 160"/>
                <a:gd name="T71" fmla="*/ 167 h 186"/>
                <a:gd name="T72" fmla="*/ 23 w 160"/>
                <a:gd name="T73" fmla="*/ 165 h 186"/>
                <a:gd name="T74" fmla="*/ 25 w 160"/>
                <a:gd name="T75" fmla="*/ 167 h 186"/>
                <a:gd name="T76" fmla="*/ 29 w 160"/>
                <a:gd name="T77" fmla="*/ 167 h 186"/>
                <a:gd name="T78" fmla="*/ 35 w 160"/>
                <a:gd name="T79" fmla="*/ 161 h 186"/>
                <a:gd name="T80" fmla="*/ 44 w 160"/>
                <a:gd name="T81" fmla="*/ 175 h 186"/>
                <a:gd name="T82" fmla="*/ 54 w 160"/>
                <a:gd name="T83" fmla="*/ 173 h 186"/>
                <a:gd name="T84" fmla="*/ 56 w 160"/>
                <a:gd name="T85" fmla="*/ 173 h 186"/>
                <a:gd name="T86" fmla="*/ 75 w 160"/>
                <a:gd name="T87" fmla="*/ 176 h 186"/>
                <a:gd name="T88" fmla="*/ 94 w 160"/>
                <a:gd name="T89" fmla="*/ 180 h 186"/>
                <a:gd name="T90" fmla="*/ 107 w 160"/>
                <a:gd name="T91" fmla="*/ 186 h 186"/>
                <a:gd name="T92" fmla="*/ 113 w 160"/>
                <a:gd name="T93" fmla="*/ 171 h 186"/>
                <a:gd name="T94" fmla="*/ 115 w 160"/>
                <a:gd name="T95" fmla="*/ 159 h 186"/>
                <a:gd name="T96" fmla="*/ 122 w 160"/>
                <a:gd name="T97" fmla="*/ 136 h 186"/>
                <a:gd name="T98" fmla="*/ 126 w 160"/>
                <a:gd name="T99" fmla="*/ 131 h 186"/>
                <a:gd name="T100" fmla="*/ 132 w 160"/>
                <a:gd name="T101" fmla="*/ 121 h 186"/>
                <a:gd name="T102" fmla="*/ 141 w 160"/>
                <a:gd name="T103" fmla="*/ 100 h 186"/>
                <a:gd name="T104" fmla="*/ 149 w 160"/>
                <a:gd name="T105" fmla="*/ 97 h 186"/>
                <a:gd name="T106" fmla="*/ 155 w 160"/>
                <a:gd name="T107" fmla="*/ 8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 h="186">
                  <a:moveTo>
                    <a:pt x="160" y="58"/>
                  </a:moveTo>
                  <a:lnTo>
                    <a:pt x="158" y="55"/>
                  </a:lnTo>
                  <a:lnTo>
                    <a:pt x="155" y="55"/>
                  </a:lnTo>
                  <a:lnTo>
                    <a:pt x="151" y="53"/>
                  </a:lnTo>
                  <a:lnTo>
                    <a:pt x="147" y="53"/>
                  </a:lnTo>
                  <a:lnTo>
                    <a:pt x="145" y="49"/>
                  </a:lnTo>
                  <a:lnTo>
                    <a:pt x="145" y="45"/>
                  </a:lnTo>
                  <a:lnTo>
                    <a:pt x="151" y="30"/>
                  </a:lnTo>
                  <a:lnTo>
                    <a:pt x="153" y="26"/>
                  </a:lnTo>
                  <a:lnTo>
                    <a:pt x="155" y="24"/>
                  </a:lnTo>
                  <a:lnTo>
                    <a:pt x="155" y="24"/>
                  </a:lnTo>
                  <a:lnTo>
                    <a:pt x="151" y="24"/>
                  </a:lnTo>
                  <a:lnTo>
                    <a:pt x="149" y="22"/>
                  </a:lnTo>
                  <a:lnTo>
                    <a:pt x="145" y="20"/>
                  </a:lnTo>
                  <a:lnTo>
                    <a:pt x="145" y="19"/>
                  </a:lnTo>
                  <a:lnTo>
                    <a:pt x="143" y="17"/>
                  </a:lnTo>
                  <a:lnTo>
                    <a:pt x="143" y="17"/>
                  </a:lnTo>
                  <a:lnTo>
                    <a:pt x="145" y="11"/>
                  </a:lnTo>
                  <a:lnTo>
                    <a:pt x="147" y="9"/>
                  </a:lnTo>
                  <a:lnTo>
                    <a:pt x="147" y="7"/>
                  </a:lnTo>
                  <a:lnTo>
                    <a:pt x="147" y="3"/>
                  </a:lnTo>
                  <a:lnTo>
                    <a:pt x="147" y="1"/>
                  </a:lnTo>
                  <a:lnTo>
                    <a:pt x="147" y="1"/>
                  </a:lnTo>
                  <a:lnTo>
                    <a:pt x="147" y="0"/>
                  </a:lnTo>
                  <a:lnTo>
                    <a:pt x="147" y="0"/>
                  </a:lnTo>
                  <a:lnTo>
                    <a:pt x="147" y="0"/>
                  </a:lnTo>
                  <a:lnTo>
                    <a:pt x="139" y="5"/>
                  </a:lnTo>
                  <a:lnTo>
                    <a:pt x="137" y="7"/>
                  </a:lnTo>
                  <a:lnTo>
                    <a:pt x="134" y="9"/>
                  </a:lnTo>
                  <a:lnTo>
                    <a:pt x="134" y="11"/>
                  </a:lnTo>
                  <a:lnTo>
                    <a:pt x="132" y="13"/>
                  </a:lnTo>
                  <a:lnTo>
                    <a:pt x="130" y="15"/>
                  </a:lnTo>
                  <a:lnTo>
                    <a:pt x="128" y="17"/>
                  </a:lnTo>
                  <a:lnTo>
                    <a:pt x="124" y="17"/>
                  </a:lnTo>
                  <a:lnTo>
                    <a:pt x="118" y="19"/>
                  </a:lnTo>
                  <a:lnTo>
                    <a:pt x="115" y="19"/>
                  </a:lnTo>
                  <a:lnTo>
                    <a:pt x="113" y="19"/>
                  </a:lnTo>
                  <a:lnTo>
                    <a:pt x="111" y="19"/>
                  </a:lnTo>
                  <a:lnTo>
                    <a:pt x="111" y="19"/>
                  </a:lnTo>
                  <a:lnTo>
                    <a:pt x="111" y="19"/>
                  </a:lnTo>
                  <a:lnTo>
                    <a:pt x="111" y="19"/>
                  </a:lnTo>
                  <a:lnTo>
                    <a:pt x="111" y="17"/>
                  </a:lnTo>
                  <a:lnTo>
                    <a:pt x="109" y="17"/>
                  </a:lnTo>
                  <a:lnTo>
                    <a:pt x="109" y="17"/>
                  </a:lnTo>
                  <a:lnTo>
                    <a:pt x="105" y="17"/>
                  </a:lnTo>
                  <a:lnTo>
                    <a:pt x="105" y="17"/>
                  </a:lnTo>
                  <a:lnTo>
                    <a:pt x="103" y="17"/>
                  </a:lnTo>
                  <a:lnTo>
                    <a:pt x="101" y="17"/>
                  </a:lnTo>
                  <a:lnTo>
                    <a:pt x="101" y="17"/>
                  </a:lnTo>
                  <a:lnTo>
                    <a:pt x="99" y="15"/>
                  </a:lnTo>
                  <a:lnTo>
                    <a:pt x="97" y="13"/>
                  </a:lnTo>
                  <a:lnTo>
                    <a:pt x="97" y="13"/>
                  </a:lnTo>
                  <a:lnTo>
                    <a:pt x="94" y="13"/>
                  </a:lnTo>
                  <a:lnTo>
                    <a:pt x="92" y="13"/>
                  </a:lnTo>
                  <a:lnTo>
                    <a:pt x="88" y="13"/>
                  </a:lnTo>
                  <a:lnTo>
                    <a:pt x="77" y="15"/>
                  </a:lnTo>
                  <a:lnTo>
                    <a:pt x="75" y="15"/>
                  </a:lnTo>
                  <a:lnTo>
                    <a:pt x="73" y="15"/>
                  </a:lnTo>
                  <a:lnTo>
                    <a:pt x="73" y="17"/>
                  </a:lnTo>
                  <a:lnTo>
                    <a:pt x="73" y="17"/>
                  </a:lnTo>
                  <a:lnTo>
                    <a:pt x="73" y="19"/>
                  </a:lnTo>
                  <a:lnTo>
                    <a:pt x="73" y="19"/>
                  </a:lnTo>
                  <a:lnTo>
                    <a:pt x="73" y="19"/>
                  </a:lnTo>
                  <a:lnTo>
                    <a:pt x="73" y="19"/>
                  </a:lnTo>
                  <a:lnTo>
                    <a:pt x="73" y="19"/>
                  </a:lnTo>
                  <a:lnTo>
                    <a:pt x="73" y="19"/>
                  </a:lnTo>
                  <a:lnTo>
                    <a:pt x="75" y="20"/>
                  </a:lnTo>
                  <a:lnTo>
                    <a:pt x="77" y="20"/>
                  </a:lnTo>
                  <a:lnTo>
                    <a:pt x="77" y="20"/>
                  </a:lnTo>
                  <a:lnTo>
                    <a:pt x="77" y="22"/>
                  </a:lnTo>
                  <a:lnTo>
                    <a:pt x="77" y="22"/>
                  </a:lnTo>
                  <a:lnTo>
                    <a:pt x="77" y="22"/>
                  </a:lnTo>
                  <a:lnTo>
                    <a:pt x="77" y="24"/>
                  </a:lnTo>
                  <a:lnTo>
                    <a:pt x="69" y="32"/>
                  </a:lnTo>
                  <a:lnTo>
                    <a:pt x="67" y="34"/>
                  </a:lnTo>
                  <a:lnTo>
                    <a:pt x="65" y="36"/>
                  </a:lnTo>
                  <a:lnTo>
                    <a:pt x="65" y="38"/>
                  </a:lnTo>
                  <a:lnTo>
                    <a:pt x="65" y="38"/>
                  </a:lnTo>
                  <a:lnTo>
                    <a:pt x="61" y="43"/>
                  </a:lnTo>
                  <a:lnTo>
                    <a:pt x="59" y="47"/>
                  </a:lnTo>
                  <a:lnTo>
                    <a:pt x="59" y="49"/>
                  </a:lnTo>
                  <a:lnTo>
                    <a:pt x="57" y="49"/>
                  </a:lnTo>
                  <a:lnTo>
                    <a:pt x="57" y="49"/>
                  </a:lnTo>
                  <a:lnTo>
                    <a:pt x="56" y="47"/>
                  </a:lnTo>
                  <a:lnTo>
                    <a:pt x="56" y="45"/>
                  </a:lnTo>
                  <a:lnTo>
                    <a:pt x="54" y="45"/>
                  </a:lnTo>
                  <a:lnTo>
                    <a:pt x="54" y="45"/>
                  </a:lnTo>
                  <a:lnTo>
                    <a:pt x="52" y="43"/>
                  </a:lnTo>
                  <a:lnTo>
                    <a:pt x="50" y="43"/>
                  </a:lnTo>
                  <a:lnTo>
                    <a:pt x="50" y="43"/>
                  </a:lnTo>
                  <a:lnTo>
                    <a:pt x="50" y="43"/>
                  </a:lnTo>
                  <a:lnTo>
                    <a:pt x="48" y="41"/>
                  </a:lnTo>
                  <a:lnTo>
                    <a:pt x="48" y="41"/>
                  </a:lnTo>
                  <a:lnTo>
                    <a:pt x="48" y="41"/>
                  </a:lnTo>
                  <a:lnTo>
                    <a:pt x="48" y="41"/>
                  </a:lnTo>
                  <a:lnTo>
                    <a:pt x="46" y="41"/>
                  </a:lnTo>
                  <a:lnTo>
                    <a:pt x="46" y="41"/>
                  </a:lnTo>
                  <a:lnTo>
                    <a:pt x="46" y="41"/>
                  </a:lnTo>
                  <a:lnTo>
                    <a:pt x="44" y="39"/>
                  </a:lnTo>
                  <a:lnTo>
                    <a:pt x="44" y="39"/>
                  </a:lnTo>
                  <a:lnTo>
                    <a:pt x="44" y="39"/>
                  </a:lnTo>
                  <a:lnTo>
                    <a:pt x="44" y="39"/>
                  </a:lnTo>
                  <a:lnTo>
                    <a:pt x="40" y="41"/>
                  </a:lnTo>
                  <a:lnTo>
                    <a:pt x="40" y="43"/>
                  </a:lnTo>
                  <a:lnTo>
                    <a:pt x="38" y="45"/>
                  </a:lnTo>
                  <a:lnTo>
                    <a:pt x="36" y="51"/>
                  </a:lnTo>
                  <a:lnTo>
                    <a:pt x="35" y="57"/>
                  </a:lnTo>
                  <a:lnTo>
                    <a:pt x="33" y="58"/>
                  </a:lnTo>
                  <a:lnTo>
                    <a:pt x="33" y="60"/>
                  </a:lnTo>
                  <a:lnTo>
                    <a:pt x="31" y="60"/>
                  </a:lnTo>
                  <a:lnTo>
                    <a:pt x="31" y="62"/>
                  </a:lnTo>
                  <a:lnTo>
                    <a:pt x="31" y="62"/>
                  </a:lnTo>
                  <a:lnTo>
                    <a:pt x="31" y="64"/>
                  </a:lnTo>
                  <a:lnTo>
                    <a:pt x="29" y="64"/>
                  </a:lnTo>
                  <a:lnTo>
                    <a:pt x="29" y="64"/>
                  </a:lnTo>
                  <a:lnTo>
                    <a:pt x="27" y="64"/>
                  </a:lnTo>
                  <a:lnTo>
                    <a:pt x="27" y="64"/>
                  </a:lnTo>
                  <a:lnTo>
                    <a:pt x="27" y="66"/>
                  </a:lnTo>
                  <a:lnTo>
                    <a:pt x="27" y="66"/>
                  </a:lnTo>
                  <a:lnTo>
                    <a:pt x="27" y="68"/>
                  </a:lnTo>
                  <a:lnTo>
                    <a:pt x="27" y="72"/>
                  </a:lnTo>
                  <a:lnTo>
                    <a:pt x="27" y="72"/>
                  </a:lnTo>
                  <a:lnTo>
                    <a:pt x="27" y="74"/>
                  </a:lnTo>
                  <a:lnTo>
                    <a:pt x="27" y="74"/>
                  </a:lnTo>
                  <a:lnTo>
                    <a:pt x="25" y="74"/>
                  </a:lnTo>
                  <a:lnTo>
                    <a:pt x="25" y="74"/>
                  </a:lnTo>
                  <a:lnTo>
                    <a:pt x="25" y="74"/>
                  </a:lnTo>
                  <a:lnTo>
                    <a:pt x="25" y="76"/>
                  </a:lnTo>
                  <a:lnTo>
                    <a:pt x="25" y="76"/>
                  </a:lnTo>
                  <a:lnTo>
                    <a:pt x="25" y="76"/>
                  </a:lnTo>
                  <a:lnTo>
                    <a:pt x="25" y="78"/>
                  </a:lnTo>
                  <a:lnTo>
                    <a:pt x="25" y="78"/>
                  </a:lnTo>
                  <a:lnTo>
                    <a:pt x="25" y="78"/>
                  </a:lnTo>
                  <a:lnTo>
                    <a:pt x="23" y="81"/>
                  </a:lnTo>
                  <a:lnTo>
                    <a:pt x="21" y="85"/>
                  </a:lnTo>
                  <a:lnTo>
                    <a:pt x="21" y="87"/>
                  </a:lnTo>
                  <a:lnTo>
                    <a:pt x="21" y="87"/>
                  </a:lnTo>
                  <a:lnTo>
                    <a:pt x="21" y="89"/>
                  </a:lnTo>
                  <a:lnTo>
                    <a:pt x="19" y="89"/>
                  </a:lnTo>
                  <a:lnTo>
                    <a:pt x="19" y="89"/>
                  </a:lnTo>
                  <a:lnTo>
                    <a:pt x="17" y="89"/>
                  </a:lnTo>
                  <a:lnTo>
                    <a:pt x="17" y="89"/>
                  </a:lnTo>
                  <a:lnTo>
                    <a:pt x="16" y="87"/>
                  </a:lnTo>
                  <a:lnTo>
                    <a:pt x="16" y="87"/>
                  </a:lnTo>
                  <a:lnTo>
                    <a:pt x="16" y="87"/>
                  </a:lnTo>
                  <a:lnTo>
                    <a:pt x="16" y="87"/>
                  </a:lnTo>
                  <a:lnTo>
                    <a:pt x="16" y="87"/>
                  </a:lnTo>
                  <a:lnTo>
                    <a:pt x="14" y="89"/>
                  </a:lnTo>
                  <a:lnTo>
                    <a:pt x="14" y="89"/>
                  </a:lnTo>
                  <a:lnTo>
                    <a:pt x="14" y="89"/>
                  </a:lnTo>
                  <a:lnTo>
                    <a:pt x="14" y="91"/>
                  </a:lnTo>
                  <a:lnTo>
                    <a:pt x="12" y="93"/>
                  </a:lnTo>
                  <a:lnTo>
                    <a:pt x="12" y="97"/>
                  </a:lnTo>
                  <a:lnTo>
                    <a:pt x="12" y="97"/>
                  </a:lnTo>
                  <a:lnTo>
                    <a:pt x="10" y="98"/>
                  </a:lnTo>
                  <a:lnTo>
                    <a:pt x="10" y="98"/>
                  </a:lnTo>
                  <a:lnTo>
                    <a:pt x="10" y="100"/>
                  </a:lnTo>
                  <a:lnTo>
                    <a:pt x="10" y="100"/>
                  </a:lnTo>
                  <a:lnTo>
                    <a:pt x="10" y="102"/>
                  </a:lnTo>
                  <a:lnTo>
                    <a:pt x="12" y="102"/>
                  </a:lnTo>
                  <a:lnTo>
                    <a:pt x="12" y="102"/>
                  </a:lnTo>
                  <a:lnTo>
                    <a:pt x="12" y="104"/>
                  </a:lnTo>
                  <a:lnTo>
                    <a:pt x="10" y="108"/>
                  </a:lnTo>
                  <a:lnTo>
                    <a:pt x="12" y="112"/>
                  </a:lnTo>
                  <a:lnTo>
                    <a:pt x="12" y="112"/>
                  </a:lnTo>
                  <a:lnTo>
                    <a:pt x="10" y="114"/>
                  </a:lnTo>
                  <a:lnTo>
                    <a:pt x="8" y="114"/>
                  </a:lnTo>
                  <a:lnTo>
                    <a:pt x="8" y="114"/>
                  </a:lnTo>
                  <a:lnTo>
                    <a:pt x="6" y="117"/>
                  </a:lnTo>
                  <a:lnTo>
                    <a:pt x="6" y="125"/>
                  </a:lnTo>
                  <a:lnTo>
                    <a:pt x="6" y="129"/>
                  </a:lnTo>
                  <a:lnTo>
                    <a:pt x="2" y="129"/>
                  </a:lnTo>
                  <a:lnTo>
                    <a:pt x="4" y="131"/>
                  </a:lnTo>
                  <a:lnTo>
                    <a:pt x="4" y="131"/>
                  </a:lnTo>
                  <a:lnTo>
                    <a:pt x="4" y="135"/>
                  </a:lnTo>
                  <a:lnTo>
                    <a:pt x="4" y="135"/>
                  </a:lnTo>
                  <a:lnTo>
                    <a:pt x="6" y="136"/>
                  </a:lnTo>
                  <a:lnTo>
                    <a:pt x="6" y="138"/>
                  </a:lnTo>
                  <a:lnTo>
                    <a:pt x="6" y="138"/>
                  </a:lnTo>
                  <a:lnTo>
                    <a:pt x="4" y="140"/>
                  </a:lnTo>
                  <a:lnTo>
                    <a:pt x="4" y="142"/>
                  </a:lnTo>
                  <a:lnTo>
                    <a:pt x="4" y="144"/>
                  </a:lnTo>
                  <a:lnTo>
                    <a:pt x="4" y="144"/>
                  </a:lnTo>
                  <a:lnTo>
                    <a:pt x="4" y="146"/>
                  </a:lnTo>
                  <a:lnTo>
                    <a:pt x="4" y="148"/>
                  </a:lnTo>
                  <a:lnTo>
                    <a:pt x="2" y="150"/>
                  </a:lnTo>
                  <a:lnTo>
                    <a:pt x="2" y="150"/>
                  </a:lnTo>
                  <a:lnTo>
                    <a:pt x="2" y="152"/>
                  </a:lnTo>
                  <a:lnTo>
                    <a:pt x="2" y="152"/>
                  </a:lnTo>
                  <a:lnTo>
                    <a:pt x="2" y="155"/>
                  </a:lnTo>
                  <a:lnTo>
                    <a:pt x="2" y="157"/>
                  </a:lnTo>
                  <a:lnTo>
                    <a:pt x="2" y="157"/>
                  </a:lnTo>
                  <a:lnTo>
                    <a:pt x="2" y="157"/>
                  </a:lnTo>
                  <a:lnTo>
                    <a:pt x="0" y="159"/>
                  </a:lnTo>
                  <a:lnTo>
                    <a:pt x="0" y="159"/>
                  </a:lnTo>
                  <a:lnTo>
                    <a:pt x="0" y="159"/>
                  </a:lnTo>
                  <a:lnTo>
                    <a:pt x="0" y="159"/>
                  </a:lnTo>
                  <a:lnTo>
                    <a:pt x="0" y="161"/>
                  </a:lnTo>
                  <a:lnTo>
                    <a:pt x="0" y="161"/>
                  </a:lnTo>
                  <a:lnTo>
                    <a:pt x="2" y="161"/>
                  </a:lnTo>
                  <a:lnTo>
                    <a:pt x="8" y="163"/>
                  </a:lnTo>
                  <a:lnTo>
                    <a:pt x="10" y="165"/>
                  </a:lnTo>
                  <a:lnTo>
                    <a:pt x="10" y="165"/>
                  </a:lnTo>
                  <a:lnTo>
                    <a:pt x="12" y="165"/>
                  </a:lnTo>
                  <a:lnTo>
                    <a:pt x="12" y="167"/>
                  </a:lnTo>
                  <a:lnTo>
                    <a:pt x="12" y="167"/>
                  </a:lnTo>
                  <a:lnTo>
                    <a:pt x="14" y="167"/>
                  </a:lnTo>
                  <a:lnTo>
                    <a:pt x="14" y="165"/>
                  </a:lnTo>
                  <a:lnTo>
                    <a:pt x="16" y="165"/>
                  </a:lnTo>
                  <a:lnTo>
                    <a:pt x="16" y="165"/>
                  </a:lnTo>
                  <a:lnTo>
                    <a:pt x="17" y="165"/>
                  </a:lnTo>
                  <a:lnTo>
                    <a:pt x="17" y="165"/>
                  </a:lnTo>
                  <a:lnTo>
                    <a:pt x="17" y="165"/>
                  </a:lnTo>
                  <a:lnTo>
                    <a:pt x="17" y="167"/>
                  </a:lnTo>
                  <a:lnTo>
                    <a:pt x="17" y="167"/>
                  </a:lnTo>
                  <a:lnTo>
                    <a:pt x="17" y="167"/>
                  </a:lnTo>
                  <a:lnTo>
                    <a:pt x="19" y="167"/>
                  </a:lnTo>
                  <a:lnTo>
                    <a:pt x="19" y="167"/>
                  </a:lnTo>
                  <a:lnTo>
                    <a:pt x="21" y="167"/>
                  </a:lnTo>
                  <a:lnTo>
                    <a:pt x="21" y="165"/>
                  </a:lnTo>
                  <a:lnTo>
                    <a:pt x="23" y="165"/>
                  </a:lnTo>
                  <a:lnTo>
                    <a:pt x="23" y="165"/>
                  </a:lnTo>
                  <a:lnTo>
                    <a:pt x="23" y="165"/>
                  </a:lnTo>
                  <a:lnTo>
                    <a:pt x="23" y="163"/>
                  </a:lnTo>
                  <a:lnTo>
                    <a:pt x="23" y="165"/>
                  </a:lnTo>
                  <a:lnTo>
                    <a:pt x="25" y="165"/>
                  </a:lnTo>
                  <a:lnTo>
                    <a:pt x="25" y="165"/>
                  </a:lnTo>
                  <a:lnTo>
                    <a:pt x="25" y="167"/>
                  </a:lnTo>
                  <a:lnTo>
                    <a:pt x="25" y="167"/>
                  </a:lnTo>
                  <a:lnTo>
                    <a:pt x="25" y="169"/>
                  </a:lnTo>
                  <a:lnTo>
                    <a:pt x="25" y="169"/>
                  </a:lnTo>
                  <a:lnTo>
                    <a:pt x="25" y="169"/>
                  </a:lnTo>
                  <a:lnTo>
                    <a:pt x="25" y="169"/>
                  </a:lnTo>
                  <a:lnTo>
                    <a:pt x="29" y="167"/>
                  </a:lnTo>
                  <a:lnTo>
                    <a:pt x="31" y="167"/>
                  </a:lnTo>
                  <a:lnTo>
                    <a:pt x="31" y="167"/>
                  </a:lnTo>
                  <a:lnTo>
                    <a:pt x="31" y="167"/>
                  </a:lnTo>
                  <a:lnTo>
                    <a:pt x="31" y="165"/>
                  </a:lnTo>
                  <a:lnTo>
                    <a:pt x="33" y="163"/>
                  </a:lnTo>
                  <a:lnTo>
                    <a:pt x="35" y="161"/>
                  </a:lnTo>
                  <a:lnTo>
                    <a:pt x="36" y="163"/>
                  </a:lnTo>
                  <a:lnTo>
                    <a:pt x="38" y="167"/>
                  </a:lnTo>
                  <a:lnTo>
                    <a:pt x="40" y="169"/>
                  </a:lnTo>
                  <a:lnTo>
                    <a:pt x="42" y="171"/>
                  </a:lnTo>
                  <a:lnTo>
                    <a:pt x="44" y="173"/>
                  </a:lnTo>
                  <a:lnTo>
                    <a:pt x="44" y="175"/>
                  </a:lnTo>
                  <a:lnTo>
                    <a:pt x="44" y="175"/>
                  </a:lnTo>
                  <a:lnTo>
                    <a:pt x="46" y="175"/>
                  </a:lnTo>
                  <a:lnTo>
                    <a:pt x="48" y="175"/>
                  </a:lnTo>
                  <a:lnTo>
                    <a:pt x="50" y="173"/>
                  </a:lnTo>
                  <a:lnTo>
                    <a:pt x="52" y="173"/>
                  </a:lnTo>
                  <a:lnTo>
                    <a:pt x="54" y="173"/>
                  </a:lnTo>
                  <a:lnTo>
                    <a:pt x="54" y="175"/>
                  </a:lnTo>
                  <a:lnTo>
                    <a:pt x="54" y="175"/>
                  </a:lnTo>
                  <a:lnTo>
                    <a:pt x="56" y="175"/>
                  </a:lnTo>
                  <a:lnTo>
                    <a:pt x="56" y="175"/>
                  </a:lnTo>
                  <a:lnTo>
                    <a:pt x="56" y="173"/>
                  </a:lnTo>
                  <a:lnTo>
                    <a:pt x="56" y="173"/>
                  </a:lnTo>
                  <a:lnTo>
                    <a:pt x="56" y="171"/>
                  </a:lnTo>
                  <a:lnTo>
                    <a:pt x="59" y="171"/>
                  </a:lnTo>
                  <a:lnTo>
                    <a:pt x="63" y="171"/>
                  </a:lnTo>
                  <a:lnTo>
                    <a:pt x="67" y="171"/>
                  </a:lnTo>
                  <a:lnTo>
                    <a:pt x="71" y="171"/>
                  </a:lnTo>
                  <a:lnTo>
                    <a:pt x="75" y="176"/>
                  </a:lnTo>
                  <a:lnTo>
                    <a:pt x="77" y="176"/>
                  </a:lnTo>
                  <a:lnTo>
                    <a:pt x="84" y="176"/>
                  </a:lnTo>
                  <a:lnTo>
                    <a:pt x="86" y="176"/>
                  </a:lnTo>
                  <a:lnTo>
                    <a:pt x="88" y="178"/>
                  </a:lnTo>
                  <a:lnTo>
                    <a:pt x="92" y="178"/>
                  </a:lnTo>
                  <a:lnTo>
                    <a:pt x="94" y="180"/>
                  </a:lnTo>
                  <a:lnTo>
                    <a:pt x="99" y="182"/>
                  </a:lnTo>
                  <a:lnTo>
                    <a:pt x="101" y="184"/>
                  </a:lnTo>
                  <a:lnTo>
                    <a:pt x="101" y="186"/>
                  </a:lnTo>
                  <a:lnTo>
                    <a:pt x="103" y="186"/>
                  </a:lnTo>
                  <a:lnTo>
                    <a:pt x="105" y="186"/>
                  </a:lnTo>
                  <a:lnTo>
                    <a:pt x="107" y="186"/>
                  </a:lnTo>
                  <a:lnTo>
                    <a:pt x="107" y="186"/>
                  </a:lnTo>
                  <a:lnTo>
                    <a:pt x="107" y="184"/>
                  </a:lnTo>
                  <a:lnTo>
                    <a:pt x="107" y="180"/>
                  </a:lnTo>
                  <a:lnTo>
                    <a:pt x="107" y="178"/>
                  </a:lnTo>
                  <a:lnTo>
                    <a:pt x="107" y="176"/>
                  </a:lnTo>
                  <a:lnTo>
                    <a:pt x="113" y="171"/>
                  </a:lnTo>
                  <a:lnTo>
                    <a:pt x="113" y="171"/>
                  </a:lnTo>
                  <a:lnTo>
                    <a:pt x="113" y="167"/>
                  </a:lnTo>
                  <a:lnTo>
                    <a:pt x="113" y="165"/>
                  </a:lnTo>
                  <a:lnTo>
                    <a:pt x="115" y="163"/>
                  </a:lnTo>
                  <a:lnTo>
                    <a:pt x="115" y="163"/>
                  </a:lnTo>
                  <a:lnTo>
                    <a:pt x="115" y="159"/>
                  </a:lnTo>
                  <a:lnTo>
                    <a:pt x="117" y="155"/>
                  </a:lnTo>
                  <a:lnTo>
                    <a:pt x="120" y="144"/>
                  </a:lnTo>
                  <a:lnTo>
                    <a:pt x="120" y="142"/>
                  </a:lnTo>
                  <a:lnTo>
                    <a:pt x="120" y="138"/>
                  </a:lnTo>
                  <a:lnTo>
                    <a:pt x="122" y="136"/>
                  </a:lnTo>
                  <a:lnTo>
                    <a:pt x="122" y="136"/>
                  </a:lnTo>
                  <a:lnTo>
                    <a:pt x="124" y="135"/>
                  </a:lnTo>
                  <a:lnTo>
                    <a:pt x="124" y="135"/>
                  </a:lnTo>
                  <a:lnTo>
                    <a:pt x="124" y="133"/>
                  </a:lnTo>
                  <a:lnTo>
                    <a:pt x="124" y="131"/>
                  </a:lnTo>
                  <a:lnTo>
                    <a:pt x="124" y="131"/>
                  </a:lnTo>
                  <a:lnTo>
                    <a:pt x="126" y="131"/>
                  </a:lnTo>
                  <a:lnTo>
                    <a:pt x="126" y="129"/>
                  </a:lnTo>
                  <a:lnTo>
                    <a:pt x="128" y="129"/>
                  </a:lnTo>
                  <a:lnTo>
                    <a:pt x="128" y="123"/>
                  </a:lnTo>
                  <a:lnTo>
                    <a:pt x="128" y="123"/>
                  </a:lnTo>
                  <a:lnTo>
                    <a:pt x="130" y="121"/>
                  </a:lnTo>
                  <a:lnTo>
                    <a:pt x="132" y="121"/>
                  </a:lnTo>
                  <a:lnTo>
                    <a:pt x="132" y="116"/>
                  </a:lnTo>
                  <a:lnTo>
                    <a:pt x="134" y="114"/>
                  </a:lnTo>
                  <a:lnTo>
                    <a:pt x="134" y="114"/>
                  </a:lnTo>
                  <a:lnTo>
                    <a:pt x="137" y="110"/>
                  </a:lnTo>
                  <a:lnTo>
                    <a:pt x="139" y="108"/>
                  </a:lnTo>
                  <a:lnTo>
                    <a:pt x="141" y="100"/>
                  </a:lnTo>
                  <a:lnTo>
                    <a:pt x="141" y="100"/>
                  </a:lnTo>
                  <a:lnTo>
                    <a:pt x="143" y="98"/>
                  </a:lnTo>
                  <a:lnTo>
                    <a:pt x="145" y="98"/>
                  </a:lnTo>
                  <a:lnTo>
                    <a:pt x="145" y="98"/>
                  </a:lnTo>
                  <a:lnTo>
                    <a:pt x="147" y="98"/>
                  </a:lnTo>
                  <a:lnTo>
                    <a:pt x="149" y="97"/>
                  </a:lnTo>
                  <a:lnTo>
                    <a:pt x="149" y="95"/>
                  </a:lnTo>
                  <a:lnTo>
                    <a:pt x="149" y="93"/>
                  </a:lnTo>
                  <a:lnTo>
                    <a:pt x="149" y="91"/>
                  </a:lnTo>
                  <a:lnTo>
                    <a:pt x="149" y="89"/>
                  </a:lnTo>
                  <a:lnTo>
                    <a:pt x="153" y="83"/>
                  </a:lnTo>
                  <a:lnTo>
                    <a:pt x="155" y="81"/>
                  </a:lnTo>
                  <a:lnTo>
                    <a:pt x="157" y="72"/>
                  </a:lnTo>
                  <a:lnTo>
                    <a:pt x="158" y="70"/>
                  </a:lnTo>
                  <a:lnTo>
                    <a:pt x="160" y="66"/>
                  </a:lnTo>
                  <a:lnTo>
                    <a:pt x="160" y="62"/>
                  </a:lnTo>
                  <a:lnTo>
                    <a:pt x="160" y="58"/>
                  </a:lnTo>
                  <a:close/>
                </a:path>
              </a:pathLst>
            </a:custGeom>
            <a:solidFill>
              <a:schemeClr val="tx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87" name="Freeform 36">
              <a:extLst>
                <a:ext uri="{FF2B5EF4-FFF2-40B4-BE49-F238E27FC236}">
                  <a16:creationId xmlns:a16="http://schemas.microsoft.com/office/drawing/2014/main" id="{0A7B8133-5100-3DAC-DFA6-4ED50915C19E}"/>
                </a:ext>
              </a:extLst>
            </p:cNvPr>
            <p:cNvSpPr>
              <a:spLocks/>
            </p:cNvSpPr>
            <p:nvPr/>
          </p:nvSpPr>
          <p:spPr bwMode="auto">
            <a:xfrm>
              <a:off x="1791869" y="3862929"/>
              <a:ext cx="1439425" cy="1055515"/>
            </a:xfrm>
            <a:custGeom>
              <a:avLst/>
              <a:gdLst>
                <a:gd name="T0" fmla="*/ 724 w 763"/>
                <a:gd name="T1" fmla="*/ 223 h 624"/>
                <a:gd name="T2" fmla="*/ 726 w 763"/>
                <a:gd name="T3" fmla="*/ 208 h 624"/>
                <a:gd name="T4" fmla="*/ 736 w 763"/>
                <a:gd name="T5" fmla="*/ 166 h 624"/>
                <a:gd name="T6" fmla="*/ 730 w 763"/>
                <a:gd name="T7" fmla="*/ 136 h 624"/>
                <a:gd name="T8" fmla="*/ 742 w 763"/>
                <a:gd name="T9" fmla="*/ 67 h 624"/>
                <a:gd name="T10" fmla="*/ 696 w 763"/>
                <a:gd name="T11" fmla="*/ 39 h 624"/>
                <a:gd name="T12" fmla="*/ 642 w 763"/>
                <a:gd name="T13" fmla="*/ 48 h 624"/>
                <a:gd name="T14" fmla="*/ 580 w 763"/>
                <a:gd name="T15" fmla="*/ 46 h 624"/>
                <a:gd name="T16" fmla="*/ 532 w 763"/>
                <a:gd name="T17" fmla="*/ 40 h 624"/>
                <a:gd name="T18" fmla="*/ 458 w 763"/>
                <a:gd name="T19" fmla="*/ 63 h 624"/>
                <a:gd name="T20" fmla="*/ 452 w 763"/>
                <a:gd name="T21" fmla="*/ 33 h 624"/>
                <a:gd name="T22" fmla="*/ 387 w 763"/>
                <a:gd name="T23" fmla="*/ 42 h 624"/>
                <a:gd name="T24" fmla="*/ 347 w 763"/>
                <a:gd name="T25" fmla="*/ 92 h 624"/>
                <a:gd name="T26" fmla="*/ 273 w 763"/>
                <a:gd name="T27" fmla="*/ 63 h 624"/>
                <a:gd name="T28" fmla="*/ 185 w 763"/>
                <a:gd name="T29" fmla="*/ 39 h 624"/>
                <a:gd name="T30" fmla="*/ 122 w 763"/>
                <a:gd name="T31" fmla="*/ 14 h 624"/>
                <a:gd name="T32" fmla="*/ 124 w 763"/>
                <a:gd name="T33" fmla="*/ 48 h 624"/>
                <a:gd name="T34" fmla="*/ 130 w 763"/>
                <a:gd name="T35" fmla="*/ 56 h 624"/>
                <a:gd name="T36" fmla="*/ 86 w 763"/>
                <a:gd name="T37" fmla="*/ 82 h 624"/>
                <a:gd name="T38" fmla="*/ 111 w 763"/>
                <a:gd name="T39" fmla="*/ 132 h 624"/>
                <a:gd name="T40" fmla="*/ 67 w 763"/>
                <a:gd name="T41" fmla="*/ 137 h 624"/>
                <a:gd name="T42" fmla="*/ 67 w 763"/>
                <a:gd name="T43" fmla="*/ 179 h 624"/>
                <a:gd name="T44" fmla="*/ 38 w 763"/>
                <a:gd name="T45" fmla="*/ 196 h 624"/>
                <a:gd name="T46" fmla="*/ 2 w 763"/>
                <a:gd name="T47" fmla="*/ 206 h 624"/>
                <a:gd name="T48" fmla="*/ 8 w 763"/>
                <a:gd name="T49" fmla="*/ 244 h 624"/>
                <a:gd name="T50" fmla="*/ 35 w 763"/>
                <a:gd name="T51" fmla="*/ 276 h 624"/>
                <a:gd name="T52" fmla="*/ 16 w 763"/>
                <a:gd name="T53" fmla="*/ 288 h 624"/>
                <a:gd name="T54" fmla="*/ 29 w 763"/>
                <a:gd name="T55" fmla="*/ 286 h 624"/>
                <a:gd name="T56" fmla="*/ 31 w 763"/>
                <a:gd name="T57" fmla="*/ 312 h 624"/>
                <a:gd name="T58" fmla="*/ 35 w 763"/>
                <a:gd name="T59" fmla="*/ 350 h 624"/>
                <a:gd name="T60" fmla="*/ 37 w 763"/>
                <a:gd name="T61" fmla="*/ 377 h 624"/>
                <a:gd name="T62" fmla="*/ 37 w 763"/>
                <a:gd name="T63" fmla="*/ 390 h 624"/>
                <a:gd name="T64" fmla="*/ 44 w 763"/>
                <a:gd name="T65" fmla="*/ 438 h 624"/>
                <a:gd name="T66" fmla="*/ 57 w 763"/>
                <a:gd name="T67" fmla="*/ 493 h 624"/>
                <a:gd name="T68" fmla="*/ 61 w 763"/>
                <a:gd name="T69" fmla="*/ 531 h 624"/>
                <a:gd name="T70" fmla="*/ 71 w 763"/>
                <a:gd name="T71" fmla="*/ 565 h 624"/>
                <a:gd name="T72" fmla="*/ 92 w 763"/>
                <a:gd name="T73" fmla="*/ 607 h 624"/>
                <a:gd name="T74" fmla="*/ 134 w 763"/>
                <a:gd name="T75" fmla="*/ 620 h 624"/>
                <a:gd name="T76" fmla="*/ 162 w 763"/>
                <a:gd name="T77" fmla="*/ 592 h 624"/>
                <a:gd name="T78" fmla="*/ 155 w 763"/>
                <a:gd name="T79" fmla="*/ 562 h 624"/>
                <a:gd name="T80" fmla="*/ 151 w 763"/>
                <a:gd name="T81" fmla="*/ 543 h 624"/>
                <a:gd name="T82" fmla="*/ 158 w 763"/>
                <a:gd name="T83" fmla="*/ 535 h 624"/>
                <a:gd name="T84" fmla="*/ 183 w 763"/>
                <a:gd name="T85" fmla="*/ 531 h 624"/>
                <a:gd name="T86" fmla="*/ 202 w 763"/>
                <a:gd name="T87" fmla="*/ 506 h 624"/>
                <a:gd name="T88" fmla="*/ 240 w 763"/>
                <a:gd name="T89" fmla="*/ 497 h 624"/>
                <a:gd name="T90" fmla="*/ 277 w 763"/>
                <a:gd name="T91" fmla="*/ 484 h 624"/>
                <a:gd name="T92" fmla="*/ 280 w 763"/>
                <a:gd name="T93" fmla="*/ 451 h 624"/>
                <a:gd name="T94" fmla="*/ 326 w 763"/>
                <a:gd name="T95" fmla="*/ 455 h 624"/>
                <a:gd name="T96" fmla="*/ 340 w 763"/>
                <a:gd name="T97" fmla="*/ 432 h 624"/>
                <a:gd name="T98" fmla="*/ 378 w 763"/>
                <a:gd name="T99" fmla="*/ 413 h 624"/>
                <a:gd name="T100" fmla="*/ 410 w 763"/>
                <a:gd name="T101" fmla="*/ 375 h 624"/>
                <a:gd name="T102" fmla="*/ 446 w 763"/>
                <a:gd name="T103" fmla="*/ 368 h 624"/>
                <a:gd name="T104" fmla="*/ 467 w 763"/>
                <a:gd name="T105" fmla="*/ 335 h 624"/>
                <a:gd name="T106" fmla="*/ 477 w 763"/>
                <a:gd name="T107" fmla="*/ 303 h 624"/>
                <a:gd name="T108" fmla="*/ 484 w 763"/>
                <a:gd name="T109" fmla="*/ 272 h 624"/>
                <a:gd name="T110" fmla="*/ 511 w 763"/>
                <a:gd name="T111" fmla="*/ 263 h 624"/>
                <a:gd name="T112" fmla="*/ 528 w 763"/>
                <a:gd name="T113" fmla="*/ 213 h 624"/>
                <a:gd name="T114" fmla="*/ 572 w 763"/>
                <a:gd name="T115" fmla="*/ 227 h 624"/>
                <a:gd name="T116" fmla="*/ 610 w 763"/>
                <a:gd name="T117" fmla="*/ 240 h 624"/>
                <a:gd name="T118" fmla="*/ 663 w 763"/>
                <a:gd name="T119" fmla="*/ 244 h 624"/>
                <a:gd name="T120" fmla="*/ 669 w 763"/>
                <a:gd name="T121" fmla="*/ 286 h 624"/>
                <a:gd name="T122" fmla="*/ 711 w 763"/>
                <a:gd name="T123" fmla="*/ 290 h 624"/>
                <a:gd name="T124" fmla="*/ 755 w 763"/>
                <a:gd name="T125" fmla="*/ 263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3" h="624">
                  <a:moveTo>
                    <a:pt x="761" y="252"/>
                  </a:moveTo>
                  <a:lnTo>
                    <a:pt x="761" y="250"/>
                  </a:lnTo>
                  <a:lnTo>
                    <a:pt x="757" y="248"/>
                  </a:lnTo>
                  <a:lnTo>
                    <a:pt x="757" y="246"/>
                  </a:lnTo>
                  <a:lnTo>
                    <a:pt x="755" y="244"/>
                  </a:lnTo>
                  <a:lnTo>
                    <a:pt x="755" y="244"/>
                  </a:lnTo>
                  <a:lnTo>
                    <a:pt x="755" y="244"/>
                  </a:lnTo>
                  <a:lnTo>
                    <a:pt x="753" y="244"/>
                  </a:lnTo>
                  <a:lnTo>
                    <a:pt x="751" y="242"/>
                  </a:lnTo>
                  <a:lnTo>
                    <a:pt x="749" y="242"/>
                  </a:lnTo>
                  <a:lnTo>
                    <a:pt x="745" y="240"/>
                  </a:lnTo>
                  <a:lnTo>
                    <a:pt x="743" y="240"/>
                  </a:lnTo>
                  <a:lnTo>
                    <a:pt x="743" y="238"/>
                  </a:lnTo>
                  <a:lnTo>
                    <a:pt x="742" y="238"/>
                  </a:lnTo>
                  <a:lnTo>
                    <a:pt x="742" y="233"/>
                  </a:lnTo>
                  <a:lnTo>
                    <a:pt x="740" y="231"/>
                  </a:lnTo>
                  <a:lnTo>
                    <a:pt x="740" y="231"/>
                  </a:lnTo>
                  <a:lnTo>
                    <a:pt x="740" y="231"/>
                  </a:lnTo>
                  <a:lnTo>
                    <a:pt x="738" y="229"/>
                  </a:lnTo>
                  <a:lnTo>
                    <a:pt x="734" y="229"/>
                  </a:lnTo>
                  <a:lnTo>
                    <a:pt x="734" y="229"/>
                  </a:lnTo>
                  <a:lnTo>
                    <a:pt x="732" y="227"/>
                  </a:lnTo>
                  <a:lnTo>
                    <a:pt x="730" y="227"/>
                  </a:lnTo>
                  <a:lnTo>
                    <a:pt x="730" y="225"/>
                  </a:lnTo>
                  <a:lnTo>
                    <a:pt x="730" y="221"/>
                  </a:lnTo>
                  <a:lnTo>
                    <a:pt x="728" y="219"/>
                  </a:lnTo>
                  <a:lnTo>
                    <a:pt x="728" y="219"/>
                  </a:lnTo>
                  <a:lnTo>
                    <a:pt x="728" y="219"/>
                  </a:lnTo>
                  <a:lnTo>
                    <a:pt x="726" y="219"/>
                  </a:lnTo>
                  <a:lnTo>
                    <a:pt x="726" y="219"/>
                  </a:lnTo>
                  <a:lnTo>
                    <a:pt x="724" y="219"/>
                  </a:lnTo>
                  <a:lnTo>
                    <a:pt x="724" y="219"/>
                  </a:lnTo>
                  <a:lnTo>
                    <a:pt x="724" y="221"/>
                  </a:lnTo>
                  <a:lnTo>
                    <a:pt x="724" y="221"/>
                  </a:lnTo>
                  <a:lnTo>
                    <a:pt x="724" y="221"/>
                  </a:lnTo>
                  <a:lnTo>
                    <a:pt x="724" y="221"/>
                  </a:lnTo>
                  <a:lnTo>
                    <a:pt x="724" y="223"/>
                  </a:lnTo>
                  <a:lnTo>
                    <a:pt x="724" y="223"/>
                  </a:lnTo>
                  <a:lnTo>
                    <a:pt x="724" y="223"/>
                  </a:lnTo>
                  <a:lnTo>
                    <a:pt x="724" y="223"/>
                  </a:lnTo>
                  <a:lnTo>
                    <a:pt x="723" y="223"/>
                  </a:lnTo>
                  <a:lnTo>
                    <a:pt x="723" y="223"/>
                  </a:lnTo>
                  <a:lnTo>
                    <a:pt x="721" y="223"/>
                  </a:lnTo>
                  <a:lnTo>
                    <a:pt x="719" y="223"/>
                  </a:lnTo>
                  <a:lnTo>
                    <a:pt x="717" y="223"/>
                  </a:lnTo>
                  <a:lnTo>
                    <a:pt x="717" y="221"/>
                  </a:lnTo>
                  <a:lnTo>
                    <a:pt x="717" y="221"/>
                  </a:lnTo>
                  <a:lnTo>
                    <a:pt x="717" y="221"/>
                  </a:lnTo>
                  <a:lnTo>
                    <a:pt x="717" y="219"/>
                  </a:lnTo>
                  <a:lnTo>
                    <a:pt x="719" y="219"/>
                  </a:lnTo>
                  <a:lnTo>
                    <a:pt x="721" y="219"/>
                  </a:lnTo>
                  <a:lnTo>
                    <a:pt x="723" y="217"/>
                  </a:lnTo>
                  <a:lnTo>
                    <a:pt x="723" y="217"/>
                  </a:lnTo>
                  <a:lnTo>
                    <a:pt x="723" y="217"/>
                  </a:lnTo>
                  <a:lnTo>
                    <a:pt x="723" y="215"/>
                  </a:lnTo>
                  <a:lnTo>
                    <a:pt x="723" y="215"/>
                  </a:lnTo>
                  <a:lnTo>
                    <a:pt x="724" y="215"/>
                  </a:lnTo>
                  <a:lnTo>
                    <a:pt x="724" y="213"/>
                  </a:lnTo>
                  <a:lnTo>
                    <a:pt x="723" y="213"/>
                  </a:lnTo>
                  <a:lnTo>
                    <a:pt x="723" y="213"/>
                  </a:lnTo>
                  <a:lnTo>
                    <a:pt x="721" y="212"/>
                  </a:lnTo>
                  <a:lnTo>
                    <a:pt x="719" y="212"/>
                  </a:lnTo>
                  <a:lnTo>
                    <a:pt x="719" y="212"/>
                  </a:lnTo>
                  <a:lnTo>
                    <a:pt x="719" y="212"/>
                  </a:lnTo>
                  <a:lnTo>
                    <a:pt x="719" y="212"/>
                  </a:lnTo>
                  <a:lnTo>
                    <a:pt x="719" y="210"/>
                  </a:lnTo>
                  <a:lnTo>
                    <a:pt x="719" y="210"/>
                  </a:lnTo>
                  <a:lnTo>
                    <a:pt x="721" y="208"/>
                  </a:lnTo>
                  <a:lnTo>
                    <a:pt x="721" y="206"/>
                  </a:lnTo>
                  <a:lnTo>
                    <a:pt x="721" y="206"/>
                  </a:lnTo>
                  <a:lnTo>
                    <a:pt x="723" y="206"/>
                  </a:lnTo>
                  <a:lnTo>
                    <a:pt x="724" y="208"/>
                  </a:lnTo>
                  <a:lnTo>
                    <a:pt x="726" y="208"/>
                  </a:lnTo>
                  <a:lnTo>
                    <a:pt x="726" y="208"/>
                  </a:lnTo>
                  <a:lnTo>
                    <a:pt x="728" y="208"/>
                  </a:lnTo>
                  <a:lnTo>
                    <a:pt x="728" y="208"/>
                  </a:lnTo>
                  <a:lnTo>
                    <a:pt x="728" y="208"/>
                  </a:lnTo>
                  <a:lnTo>
                    <a:pt x="728" y="206"/>
                  </a:lnTo>
                  <a:lnTo>
                    <a:pt x="728" y="200"/>
                  </a:lnTo>
                  <a:lnTo>
                    <a:pt x="730" y="198"/>
                  </a:lnTo>
                  <a:lnTo>
                    <a:pt x="730" y="198"/>
                  </a:lnTo>
                  <a:lnTo>
                    <a:pt x="730" y="196"/>
                  </a:lnTo>
                  <a:lnTo>
                    <a:pt x="730" y="196"/>
                  </a:lnTo>
                  <a:lnTo>
                    <a:pt x="730" y="193"/>
                  </a:lnTo>
                  <a:lnTo>
                    <a:pt x="728" y="187"/>
                  </a:lnTo>
                  <a:lnTo>
                    <a:pt x="726" y="187"/>
                  </a:lnTo>
                  <a:lnTo>
                    <a:pt x="726" y="187"/>
                  </a:lnTo>
                  <a:lnTo>
                    <a:pt x="726" y="187"/>
                  </a:lnTo>
                  <a:lnTo>
                    <a:pt x="719" y="187"/>
                  </a:lnTo>
                  <a:lnTo>
                    <a:pt x="717" y="185"/>
                  </a:lnTo>
                  <a:lnTo>
                    <a:pt x="717" y="185"/>
                  </a:lnTo>
                  <a:lnTo>
                    <a:pt x="717" y="185"/>
                  </a:lnTo>
                  <a:lnTo>
                    <a:pt x="719" y="181"/>
                  </a:lnTo>
                  <a:lnTo>
                    <a:pt x="719" y="179"/>
                  </a:lnTo>
                  <a:lnTo>
                    <a:pt x="719" y="179"/>
                  </a:lnTo>
                  <a:lnTo>
                    <a:pt x="719" y="177"/>
                  </a:lnTo>
                  <a:lnTo>
                    <a:pt x="719" y="175"/>
                  </a:lnTo>
                  <a:lnTo>
                    <a:pt x="719" y="175"/>
                  </a:lnTo>
                  <a:lnTo>
                    <a:pt x="721" y="175"/>
                  </a:lnTo>
                  <a:lnTo>
                    <a:pt x="726" y="175"/>
                  </a:lnTo>
                  <a:lnTo>
                    <a:pt x="726" y="174"/>
                  </a:lnTo>
                  <a:lnTo>
                    <a:pt x="728" y="174"/>
                  </a:lnTo>
                  <a:lnTo>
                    <a:pt x="730" y="174"/>
                  </a:lnTo>
                  <a:lnTo>
                    <a:pt x="732" y="172"/>
                  </a:lnTo>
                  <a:lnTo>
                    <a:pt x="732" y="170"/>
                  </a:lnTo>
                  <a:lnTo>
                    <a:pt x="734" y="170"/>
                  </a:lnTo>
                  <a:lnTo>
                    <a:pt x="736" y="170"/>
                  </a:lnTo>
                  <a:lnTo>
                    <a:pt x="736" y="168"/>
                  </a:lnTo>
                  <a:lnTo>
                    <a:pt x="736" y="168"/>
                  </a:lnTo>
                  <a:lnTo>
                    <a:pt x="736" y="166"/>
                  </a:lnTo>
                  <a:lnTo>
                    <a:pt x="736" y="166"/>
                  </a:lnTo>
                  <a:lnTo>
                    <a:pt x="736" y="164"/>
                  </a:lnTo>
                  <a:lnTo>
                    <a:pt x="736" y="162"/>
                  </a:lnTo>
                  <a:lnTo>
                    <a:pt x="736" y="160"/>
                  </a:lnTo>
                  <a:lnTo>
                    <a:pt x="736" y="155"/>
                  </a:lnTo>
                  <a:lnTo>
                    <a:pt x="736" y="155"/>
                  </a:lnTo>
                  <a:lnTo>
                    <a:pt x="736" y="153"/>
                  </a:lnTo>
                  <a:lnTo>
                    <a:pt x="738" y="151"/>
                  </a:lnTo>
                  <a:lnTo>
                    <a:pt x="738" y="151"/>
                  </a:lnTo>
                  <a:lnTo>
                    <a:pt x="738" y="149"/>
                  </a:lnTo>
                  <a:lnTo>
                    <a:pt x="736" y="149"/>
                  </a:lnTo>
                  <a:lnTo>
                    <a:pt x="736" y="149"/>
                  </a:lnTo>
                  <a:lnTo>
                    <a:pt x="736" y="147"/>
                  </a:lnTo>
                  <a:lnTo>
                    <a:pt x="736" y="143"/>
                  </a:lnTo>
                  <a:lnTo>
                    <a:pt x="736" y="143"/>
                  </a:lnTo>
                  <a:lnTo>
                    <a:pt x="736" y="141"/>
                  </a:lnTo>
                  <a:lnTo>
                    <a:pt x="736" y="141"/>
                  </a:lnTo>
                  <a:lnTo>
                    <a:pt x="736" y="141"/>
                  </a:lnTo>
                  <a:lnTo>
                    <a:pt x="736" y="141"/>
                  </a:lnTo>
                  <a:lnTo>
                    <a:pt x="734" y="141"/>
                  </a:lnTo>
                  <a:lnTo>
                    <a:pt x="732" y="139"/>
                  </a:lnTo>
                  <a:lnTo>
                    <a:pt x="732" y="139"/>
                  </a:lnTo>
                  <a:lnTo>
                    <a:pt x="732" y="139"/>
                  </a:lnTo>
                  <a:lnTo>
                    <a:pt x="730" y="139"/>
                  </a:lnTo>
                  <a:lnTo>
                    <a:pt x="730" y="141"/>
                  </a:lnTo>
                  <a:lnTo>
                    <a:pt x="728" y="143"/>
                  </a:lnTo>
                  <a:lnTo>
                    <a:pt x="726" y="143"/>
                  </a:lnTo>
                  <a:lnTo>
                    <a:pt x="726" y="143"/>
                  </a:lnTo>
                  <a:lnTo>
                    <a:pt x="726" y="143"/>
                  </a:lnTo>
                  <a:lnTo>
                    <a:pt x="724" y="143"/>
                  </a:lnTo>
                  <a:lnTo>
                    <a:pt x="724" y="141"/>
                  </a:lnTo>
                  <a:lnTo>
                    <a:pt x="724" y="141"/>
                  </a:lnTo>
                  <a:lnTo>
                    <a:pt x="724" y="141"/>
                  </a:lnTo>
                  <a:lnTo>
                    <a:pt x="724" y="139"/>
                  </a:lnTo>
                  <a:lnTo>
                    <a:pt x="724" y="137"/>
                  </a:lnTo>
                  <a:lnTo>
                    <a:pt x="726" y="137"/>
                  </a:lnTo>
                  <a:lnTo>
                    <a:pt x="726" y="137"/>
                  </a:lnTo>
                  <a:lnTo>
                    <a:pt x="730" y="136"/>
                  </a:lnTo>
                  <a:lnTo>
                    <a:pt x="730" y="134"/>
                  </a:lnTo>
                  <a:lnTo>
                    <a:pt x="732" y="134"/>
                  </a:lnTo>
                  <a:lnTo>
                    <a:pt x="732" y="132"/>
                  </a:lnTo>
                  <a:lnTo>
                    <a:pt x="730" y="124"/>
                  </a:lnTo>
                  <a:lnTo>
                    <a:pt x="730" y="115"/>
                  </a:lnTo>
                  <a:lnTo>
                    <a:pt x="730" y="113"/>
                  </a:lnTo>
                  <a:lnTo>
                    <a:pt x="730" y="111"/>
                  </a:lnTo>
                  <a:lnTo>
                    <a:pt x="730" y="111"/>
                  </a:lnTo>
                  <a:lnTo>
                    <a:pt x="730" y="109"/>
                  </a:lnTo>
                  <a:lnTo>
                    <a:pt x="728" y="109"/>
                  </a:lnTo>
                  <a:lnTo>
                    <a:pt x="728" y="109"/>
                  </a:lnTo>
                  <a:lnTo>
                    <a:pt x="728" y="109"/>
                  </a:lnTo>
                  <a:lnTo>
                    <a:pt x="726" y="109"/>
                  </a:lnTo>
                  <a:lnTo>
                    <a:pt x="724" y="109"/>
                  </a:lnTo>
                  <a:lnTo>
                    <a:pt x="724" y="109"/>
                  </a:lnTo>
                  <a:lnTo>
                    <a:pt x="724" y="109"/>
                  </a:lnTo>
                  <a:lnTo>
                    <a:pt x="723" y="109"/>
                  </a:lnTo>
                  <a:lnTo>
                    <a:pt x="723" y="109"/>
                  </a:lnTo>
                  <a:lnTo>
                    <a:pt x="723" y="107"/>
                  </a:lnTo>
                  <a:lnTo>
                    <a:pt x="721" y="107"/>
                  </a:lnTo>
                  <a:lnTo>
                    <a:pt x="721" y="107"/>
                  </a:lnTo>
                  <a:lnTo>
                    <a:pt x="719" y="105"/>
                  </a:lnTo>
                  <a:lnTo>
                    <a:pt x="719" y="101"/>
                  </a:lnTo>
                  <a:lnTo>
                    <a:pt x="719" y="101"/>
                  </a:lnTo>
                  <a:lnTo>
                    <a:pt x="719" y="99"/>
                  </a:lnTo>
                  <a:lnTo>
                    <a:pt x="721" y="96"/>
                  </a:lnTo>
                  <a:lnTo>
                    <a:pt x="721" y="90"/>
                  </a:lnTo>
                  <a:lnTo>
                    <a:pt x="721" y="88"/>
                  </a:lnTo>
                  <a:lnTo>
                    <a:pt x="723" y="88"/>
                  </a:lnTo>
                  <a:lnTo>
                    <a:pt x="723" y="86"/>
                  </a:lnTo>
                  <a:lnTo>
                    <a:pt x="724" y="86"/>
                  </a:lnTo>
                  <a:lnTo>
                    <a:pt x="730" y="82"/>
                  </a:lnTo>
                  <a:lnTo>
                    <a:pt x="736" y="78"/>
                  </a:lnTo>
                  <a:lnTo>
                    <a:pt x="738" y="77"/>
                  </a:lnTo>
                  <a:lnTo>
                    <a:pt x="740" y="75"/>
                  </a:lnTo>
                  <a:lnTo>
                    <a:pt x="742" y="73"/>
                  </a:lnTo>
                  <a:lnTo>
                    <a:pt x="742" y="67"/>
                  </a:lnTo>
                  <a:lnTo>
                    <a:pt x="740" y="67"/>
                  </a:lnTo>
                  <a:lnTo>
                    <a:pt x="738" y="69"/>
                  </a:lnTo>
                  <a:lnTo>
                    <a:pt x="738" y="69"/>
                  </a:lnTo>
                  <a:lnTo>
                    <a:pt x="738" y="69"/>
                  </a:lnTo>
                  <a:lnTo>
                    <a:pt x="736" y="69"/>
                  </a:lnTo>
                  <a:lnTo>
                    <a:pt x="736" y="69"/>
                  </a:lnTo>
                  <a:lnTo>
                    <a:pt x="724" y="63"/>
                  </a:lnTo>
                  <a:lnTo>
                    <a:pt x="724" y="63"/>
                  </a:lnTo>
                  <a:lnTo>
                    <a:pt x="723" y="61"/>
                  </a:lnTo>
                  <a:lnTo>
                    <a:pt x="723" y="61"/>
                  </a:lnTo>
                  <a:lnTo>
                    <a:pt x="721" y="63"/>
                  </a:lnTo>
                  <a:lnTo>
                    <a:pt x="719" y="63"/>
                  </a:lnTo>
                  <a:lnTo>
                    <a:pt x="717" y="63"/>
                  </a:lnTo>
                  <a:lnTo>
                    <a:pt x="717" y="63"/>
                  </a:lnTo>
                  <a:lnTo>
                    <a:pt x="717" y="63"/>
                  </a:lnTo>
                  <a:lnTo>
                    <a:pt x="715" y="63"/>
                  </a:lnTo>
                  <a:lnTo>
                    <a:pt x="715" y="61"/>
                  </a:lnTo>
                  <a:lnTo>
                    <a:pt x="715" y="61"/>
                  </a:lnTo>
                  <a:lnTo>
                    <a:pt x="717" y="59"/>
                  </a:lnTo>
                  <a:lnTo>
                    <a:pt x="717" y="59"/>
                  </a:lnTo>
                  <a:lnTo>
                    <a:pt x="717" y="59"/>
                  </a:lnTo>
                  <a:lnTo>
                    <a:pt x="717" y="58"/>
                  </a:lnTo>
                  <a:lnTo>
                    <a:pt x="717" y="58"/>
                  </a:lnTo>
                  <a:lnTo>
                    <a:pt x="717" y="56"/>
                  </a:lnTo>
                  <a:lnTo>
                    <a:pt x="717" y="54"/>
                  </a:lnTo>
                  <a:lnTo>
                    <a:pt x="715" y="54"/>
                  </a:lnTo>
                  <a:lnTo>
                    <a:pt x="709" y="50"/>
                  </a:lnTo>
                  <a:lnTo>
                    <a:pt x="709" y="48"/>
                  </a:lnTo>
                  <a:lnTo>
                    <a:pt x="709" y="48"/>
                  </a:lnTo>
                  <a:lnTo>
                    <a:pt x="709" y="46"/>
                  </a:lnTo>
                  <a:lnTo>
                    <a:pt x="709" y="46"/>
                  </a:lnTo>
                  <a:lnTo>
                    <a:pt x="707" y="46"/>
                  </a:lnTo>
                  <a:lnTo>
                    <a:pt x="707" y="44"/>
                  </a:lnTo>
                  <a:lnTo>
                    <a:pt x="703" y="44"/>
                  </a:lnTo>
                  <a:lnTo>
                    <a:pt x="702" y="42"/>
                  </a:lnTo>
                  <a:lnTo>
                    <a:pt x="698" y="40"/>
                  </a:lnTo>
                  <a:lnTo>
                    <a:pt x="696" y="39"/>
                  </a:lnTo>
                  <a:lnTo>
                    <a:pt x="696" y="40"/>
                  </a:lnTo>
                  <a:lnTo>
                    <a:pt x="696" y="40"/>
                  </a:lnTo>
                  <a:lnTo>
                    <a:pt x="694" y="40"/>
                  </a:lnTo>
                  <a:lnTo>
                    <a:pt x="688" y="42"/>
                  </a:lnTo>
                  <a:lnTo>
                    <a:pt x="686" y="44"/>
                  </a:lnTo>
                  <a:lnTo>
                    <a:pt x="686" y="46"/>
                  </a:lnTo>
                  <a:lnTo>
                    <a:pt x="679" y="48"/>
                  </a:lnTo>
                  <a:lnTo>
                    <a:pt x="679" y="48"/>
                  </a:lnTo>
                  <a:lnTo>
                    <a:pt x="677" y="48"/>
                  </a:lnTo>
                  <a:lnTo>
                    <a:pt x="677" y="48"/>
                  </a:lnTo>
                  <a:lnTo>
                    <a:pt x="677" y="48"/>
                  </a:lnTo>
                  <a:lnTo>
                    <a:pt x="677" y="46"/>
                  </a:lnTo>
                  <a:lnTo>
                    <a:pt x="677" y="46"/>
                  </a:lnTo>
                  <a:lnTo>
                    <a:pt x="675" y="46"/>
                  </a:lnTo>
                  <a:lnTo>
                    <a:pt x="673" y="48"/>
                  </a:lnTo>
                  <a:lnTo>
                    <a:pt x="673" y="48"/>
                  </a:lnTo>
                  <a:lnTo>
                    <a:pt x="671" y="48"/>
                  </a:lnTo>
                  <a:lnTo>
                    <a:pt x="671" y="48"/>
                  </a:lnTo>
                  <a:lnTo>
                    <a:pt x="669" y="50"/>
                  </a:lnTo>
                  <a:lnTo>
                    <a:pt x="667" y="50"/>
                  </a:lnTo>
                  <a:lnTo>
                    <a:pt x="665" y="50"/>
                  </a:lnTo>
                  <a:lnTo>
                    <a:pt x="665" y="50"/>
                  </a:lnTo>
                  <a:lnTo>
                    <a:pt x="663" y="50"/>
                  </a:lnTo>
                  <a:lnTo>
                    <a:pt x="663" y="48"/>
                  </a:lnTo>
                  <a:lnTo>
                    <a:pt x="663" y="46"/>
                  </a:lnTo>
                  <a:lnTo>
                    <a:pt x="662" y="46"/>
                  </a:lnTo>
                  <a:lnTo>
                    <a:pt x="662" y="44"/>
                  </a:lnTo>
                  <a:lnTo>
                    <a:pt x="660" y="44"/>
                  </a:lnTo>
                  <a:lnTo>
                    <a:pt x="658" y="44"/>
                  </a:lnTo>
                  <a:lnTo>
                    <a:pt x="656" y="44"/>
                  </a:lnTo>
                  <a:lnTo>
                    <a:pt x="652" y="44"/>
                  </a:lnTo>
                  <a:lnTo>
                    <a:pt x="648" y="44"/>
                  </a:lnTo>
                  <a:lnTo>
                    <a:pt x="648" y="44"/>
                  </a:lnTo>
                  <a:lnTo>
                    <a:pt x="646" y="44"/>
                  </a:lnTo>
                  <a:lnTo>
                    <a:pt x="644" y="46"/>
                  </a:lnTo>
                  <a:lnTo>
                    <a:pt x="642" y="48"/>
                  </a:lnTo>
                  <a:lnTo>
                    <a:pt x="642" y="48"/>
                  </a:lnTo>
                  <a:lnTo>
                    <a:pt x="641" y="48"/>
                  </a:lnTo>
                  <a:lnTo>
                    <a:pt x="639" y="48"/>
                  </a:lnTo>
                  <a:lnTo>
                    <a:pt x="639" y="48"/>
                  </a:lnTo>
                  <a:lnTo>
                    <a:pt x="637" y="48"/>
                  </a:lnTo>
                  <a:lnTo>
                    <a:pt x="637" y="46"/>
                  </a:lnTo>
                  <a:lnTo>
                    <a:pt x="637" y="44"/>
                  </a:lnTo>
                  <a:lnTo>
                    <a:pt x="637" y="44"/>
                  </a:lnTo>
                  <a:lnTo>
                    <a:pt x="637" y="44"/>
                  </a:lnTo>
                  <a:lnTo>
                    <a:pt x="637" y="42"/>
                  </a:lnTo>
                  <a:lnTo>
                    <a:pt x="635" y="40"/>
                  </a:lnTo>
                  <a:lnTo>
                    <a:pt x="633" y="39"/>
                  </a:lnTo>
                  <a:lnTo>
                    <a:pt x="631" y="37"/>
                  </a:lnTo>
                  <a:lnTo>
                    <a:pt x="629" y="35"/>
                  </a:lnTo>
                  <a:lnTo>
                    <a:pt x="625" y="35"/>
                  </a:lnTo>
                  <a:lnTo>
                    <a:pt x="625" y="35"/>
                  </a:lnTo>
                  <a:lnTo>
                    <a:pt x="623" y="35"/>
                  </a:lnTo>
                  <a:lnTo>
                    <a:pt x="622" y="35"/>
                  </a:lnTo>
                  <a:lnTo>
                    <a:pt x="622" y="33"/>
                  </a:lnTo>
                  <a:lnTo>
                    <a:pt x="618" y="35"/>
                  </a:lnTo>
                  <a:lnTo>
                    <a:pt x="616" y="33"/>
                  </a:lnTo>
                  <a:lnTo>
                    <a:pt x="614" y="33"/>
                  </a:lnTo>
                  <a:lnTo>
                    <a:pt x="610" y="31"/>
                  </a:lnTo>
                  <a:lnTo>
                    <a:pt x="608" y="31"/>
                  </a:lnTo>
                  <a:lnTo>
                    <a:pt x="608" y="33"/>
                  </a:lnTo>
                  <a:lnTo>
                    <a:pt x="608" y="33"/>
                  </a:lnTo>
                  <a:lnTo>
                    <a:pt x="608" y="33"/>
                  </a:lnTo>
                  <a:lnTo>
                    <a:pt x="608" y="35"/>
                  </a:lnTo>
                  <a:lnTo>
                    <a:pt x="608" y="37"/>
                  </a:lnTo>
                  <a:lnTo>
                    <a:pt x="606" y="37"/>
                  </a:lnTo>
                  <a:lnTo>
                    <a:pt x="604" y="39"/>
                  </a:lnTo>
                  <a:lnTo>
                    <a:pt x="602" y="39"/>
                  </a:lnTo>
                  <a:lnTo>
                    <a:pt x="597" y="40"/>
                  </a:lnTo>
                  <a:lnTo>
                    <a:pt x="595" y="42"/>
                  </a:lnTo>
                  <a:lnTo>
                    <a:pt x="585" y="42"/>
                  </a:lnTo>
                  <a:lnTo>
                    <a:pt x="582" y="44"/>
                  </a:lnTo>
                  <a:lnTo>
                    <a:pt x="580" y="44"/>
                  </a:lnTo>
                  <a:lnTo>
                    <a:pt x="580" y="46"/>
                  </a:lnTo>
                  <a:lnTo>
                    <a:pt x="580" y="46"/>
                  </a:lnTo>
                  <a:lnTo>
                    <a:pt x="580" y="48"/>
                  </a:lnTo>
                  <a:lnTo>
                    <a:pt x="580" y="48"/>
                  </a:lnTo>
                  <a:lnTo>
                    <a:pt x="580" y="50"/>
                  </a:lnTo>
                  <a:lnTo>
                    <a:pt x="580" y="50"/>
                  </a:lnTo>
                  <a:lnTo>
                    <a:pt x="580" y="52"/>
                  </a:lnTo>
                  <a:lnTo>
                    <a:pt x="578" y="52"/>
                  </a:lnTo>
                  <a:lnTo>
                    <a:pt x="574" y="52"/>
                  </a:lnTo>
                  <a:lnTo>
                    <a:pt x="572" y="52"/>
                  </a:lnTo>
                  <a:lnTo>
                    <a:pt x="568" y="54"/>
                  </a:lnTo>
                  <a:lnTo>
                    <a:pt x="562" y="54"/>
                  </a:lnTo>
                  <a:lnTo>
                    <a:pt x="561" y="56"/>
                  </a:lnTo>
                  <a:lnTo>
                    <a:pt x="559" y="56"/>
                  </a:lnTo>
                  <a:lnTo>
                    <a:pt x="553" y="56"/>
                  </a:lnTo>
                  <a:lnTo>
                    <a:pt x="545" y="54"/>
                  </a:lnTo>
                  <a:lnTo>
                    <a:pt x="545" y="52"/>
                  </a:lnTo>
                  <a:lnTo>
                    <a:pt x="543" y="52"/>
                  </a:lnTo>
                  <a:lnTo>
                    <a:pt x="543" y="50"/>
                  </a:lnTo>
                  <a:lnTo>
                    <a:pt x="541" y="50"/>
                  </a:lnTo>
                  <a:lnTo>
                    <a:pt x="540" y="50"/>
                  </a:lnTo>
                  <a:lnTo>
                    <a:pt x="540" y="50"/>
                  </a:lnTo>
                  <a:lnTo>
                    <a:pt x="538" y="50"/>
                  </a:lnTo>
                  <a:lnTo>
                    <a:pt x="538" y="52"/>
                  </a:lnTo>
                  <a:lnTo>
                    <a:pt x="536" y="52"/>
                  </a:lnTo>
                  <a:lnTo>
                    <a:pt x="536" y="52"/>
                  </a:lnTo>
                  <a:lnTo>
                    <a:pt x="534" y="52"/>
                  </a:lnTo>
                  <a:lnTo>
                    <a:pt x="534" y="52"/>
                  </a:lnTo>
                  <a:lnTo>
                    <a:pt x="534" y="52"/>
                  </a:lnTo>
                  <a:lnTo>
                    <a:pt x="534" y="52"/>
                  </a:lnTo>
                  <a:lnTo>
                    <a:pt x="534" y="52"/>
                  </a:lnTo>
                  <a:lnTo>
                    <a:pt x="534" y="52"/>
                  </a:lnTo>
                  <a:lnTo>
                    <a:pt x="534" y="50"/>
                  </a:lnTo>
                  <a:lnTo>
                    <a:pt x="534" y="48"/>
                  </a:lnTo>
                  <a:lnTo>
                    <a:pt x="534" y="46"/>
                  </a:lnTo>
                  <a:lnTo>
                    <a:pt x="532" y="44"/>
                  </a:lnTo>
                  <a:lnTo>
                    <a:pt x="532" y="42"/>
                  </a:lnTo>
                  <a:lnTo>
                    <a:pt x="532" y="40"/>
                  </a:lnTo>
                  <a:lnTo>
                    <a:pt x="530" y="40"/>
                  </a:lnTo>
                  <a:lnTo>
                    <a:pt x="530" y="40"/>
                  </a:lnTo>
                  <a:lnTo>
                    <a:pt x="528" y="40"/>
                  </a:lnTo>
                  <a:lnTo>
                    <a:pt x="528" y="40"/>
                  </a:lnTo>
                  <a:lnTo>
                    <a:pt x="526" y="40"/>
                  </a:lnTo>
                  <a:lnTo>
                    <a:pt x="526" y="40"/>
                  </a:lnTo>
                  <a:lnTo>
                    <a:pt x="524" y="40"/>
                  </a:lnTo>
                  <a:lnTo>
                    <a:pt x="522" y="44"/>
                  </a:lnTo>
                  <a:lnTo>
                    <a:pt x="519" y="46"/>
                  </a:lnTo>
                  <a:lnTo>
                    <a:pt x="513" y="46"/>
                  </a:lnTo>
                  <a:lnTo>
                    <a:pt x="513" y="48"/>
                  </a:lnTo>
                  <a:lnTo>
                    <a:pt x="511" y="48"/>
                  </a:lnTo>
                  <a:lnTo>
                    <a:pt x="509" y="50"/>
                  </a:lnTo>
                  <a:lnTo>
                    <a:pt x="507" y="54"/>
                  </a:lnTo>
                  <a:lnTo>
                    <a:pt x="505" y="54"/>
                  </a:lnTo>
                  <a:lnTo>
                    <a:pt x="501" y="56"/>
                  </a:lnTo>
                  <a:lnTo>
                    <a:pt x="498" y="59"/>
                  </a:lnTo>
                  <a:lnTo>
                    <a:pt x="486" y="63"/>
                  </a:lnTo>
                  <a:lnTo>
                    <a:pt x="484" y="63"/>
                  </a:lnTo>
                  <a:lnTo>
                    <a:pt x="482" y="63"/>
                  </a:lnTo>
                  <a:lnTo>
                    <a:pt x="481" y="61"/>
                  </a:lnTo>
                  <a:lnTo>
                    <a:pt x="477" y="59"/>
                  </a:lnTo>
                  <a:lnTo>
                    <a:pt x="475" y="59"/>
                  </a:lnTo>
                  <a:lnTo>
                    <a:pt x="475" y="59"/>
                  </a:lnTo>
                  <a:lnTo>
                    <a:pt x="473" y="61"/>
                  </a:lnTo>
                  <a:lnTo>
                    <a:pt x="471" y="63"/>
                  </a:lnTo>
                  <a:lnTo>
                    <a:pt x="467" y="65"/>
                  </a:lnTo>
                  <a:lnTo>
                    <a:pt x="467" y="65"/>
                  </a:lnTo>
                  <a:lnTo>
                    <a:pt x="465" y="65"/>
                  </a:lnTo>
                  <a:lnTo>
                    <a:pt x="465" y="63"/>
                  </a:lnTo>
                  <a:lnTo>
                    <a:pt x="465" y="63"/>
                  </a:lnTo>
                  <a:lnTo>
                    <a:pt x="463" y="63"/>
                  </a:lnTo>
                  <a:lnTo>
                    <a:pt x="461" y="63"/>
                  </a:lnTo>
                  <a:lnTo>
                    <a:pt x="461" y="63"/>
                  </a:lnTo>
                  <a:lnTo>
                    <a:pt x="460" y="63"/>
                  </a:lnTo>
                  <a:lnTo>
                    <a:pt x="460" y="63"/>
                  </a:lnTo>
                  <a:lnTo>
                    <a:pt x="458" y="63"/>
                  </a:lnTo>
                  <a:lnTo>
                    <a:pt x="456" y="63"/>
                  </a:lnTo>
                  <a:lnTo>
                    <a:pt x="456" y="63"/>
                  </a:lnTo>
                  <a:lnTo>
                    <a:pt x="454" y="63"/>
                  </a:lnTo>
                  <a:lnTo>
                    <a:pt x="454" y="63"/>
                  </a:lnTo>
                  <a:lnTo>
                    <a:pt x="454" y="63"/>
                  </a:lnTo>
                  <a:lnTo>
                    <a:pt x="452" y="61"/>
                  </a:lnTo>
                  <a:lnTo>
                    <a:pt x="452" y="61"/>
                  </a:lnTo>
                  <a:lnTo>
                    <a:pt x="450" y="61"/>
                  </a:lnTo>
                  <a:lnTo>
                    <a:pt x="450" y="61"/>
                  </a:lnTo>
                  <a:lnTo>
                    <a:pt x="450" y="61"/>
                  </a:lnTo>
                  <a:lnTo>
                    <a:pt x="448" y="61"/>
                  </a:lnTo>
                  <a:lnTo>
                    <a:pt x="448" y="63"/>
                  </a:lnTo>
                  <a:lnTo>
                    <a:pt x="448" y="63"/>
                  </a:lnTo>
                  <a:lnTo>
                    <a:pt x="446" y="63"/>
                  </a:lnTo>
                  <a:lnTo>
                    <a:pt x="446" y="63"/>
                  </a:lnTo>
                  <a:lnTo>
                    <a:pt x="446" y="61"/>
                  </a:lnTo>
                  <a:lnTo>
                    <a:pt x="446" y="59"/>
                  </a:lnTo>
                  <a:lnTo>
                    <a:pt x="444" y="56"/>
                  </a:lnTo>
                  <a:lnTo>
                    <a:pt x="442" y="54"/>
                  </a:lnTo>
                  <a:lnTo>
                    <a:pt x="442" y="52"/>
                  </a:lnTo>
                  <a:lnTo>
                    <a:pt x="442" y="52"/>
                  </a:lnTo>
                  <a:lnTo>
                    <a:pt x="442" y="50"/>
                  </a:lnTo>
                  <a:lnTo>
                    <a:pt x="442" y="50"/>
                  </a:lnTo>
                  <a:lnTo>
                    <a:pt x="442" y="48"/>
                  </a:lnTo>
                  <a:lnTo>
                    <a:pt x="442" y="48"/>
                  </a:lnTo>
                  <a:lnTo>
                    <a:pt x="444" y="48"/>
                  </a:lnTo>
                  <a:lnTo>
                    <a:pt x="454" y="48"/>
                  </a:lnTo>
                  <a:lnTo>
                    <a:pt x="454" y="48"/>
                  </a:lnTo>
                  <a:lnTo>
                    <a:pt x="456" y="48"/>
                  </a:lnTo>
                  <a:lnTo>
                    <a:pt x="456" y="48"/>
                  </a:lnTo>
                  <a:lnTo>
                    <a:pt x="456" y="46"/>
                  </a:lnTo>
                  <a:lnTo>
                    <a:pt x="454" y="46"/>
                  </a:lnTo>
                  <a:lnTo>
                    <a:pt x="454" y="44"/>
                  </a:lnTo>
                  <a:lnTo>
                    <a:pt x="454" y="42"/>
                  </a:lnTo>
                  <a:lnTo>
                    <a:pt x="454" y="42"/>
                  </a:lnTo>
                  <a:lnTo>
                    <a:pt x="454" y="40"/>
                  </a:lnTo>
                  <a:lnTo>
                    <a:pt x="452" y="33"/>
                  </a:lnTo>
                  <a:lnTo>
                    <a:pt x="452" y="33"/>
                  </a:lnTo>
                  <a:lnTo>
                    <a:pt x="452" y="31"/>
                  </a:lnTo>
                  <a:lnTo>
                    <a:pt x="450" y="31"/>
                  </a:lnTo>
                  <a:lnTo>
                    <a:pt x="448" y="29"/>
                  </a:lnTo>
                  <a:lnTo>
                    <a:pt x="448" y="29"/>
                  </a:lnTo>
                  <a:lnTo>
                    <a:pt x="448" y="29"/>
                  </a:lnTo>
                  <a:lnTo>
                    <a:pt x="448" y="29"/>
                  </a:lnTo>
                  <a:lnTo>
                    <a:pt x="448" y="29"/>
                  </a:lnTo>
                  <a:lnTo>
                    <a:pt x="448" y="27"/>
                  </a:lnTo>
                  <a:lnTo>
                    <a:pt x="446" y="27"/>
                  </a:lnTo>
                  <a:lnTo>
                    <a:pt x="446" y="27"/>
                  </a:lnTo>
                  <a:lnTo>
                    <a:pt x="444" y="25"/>
                  </a:lnTo>
                  <a:lnTo>
                    <a:pt x="433" y="25"/>
                  </a:lnTo>
                  <a:lnTo>
                    <a:pt x="431" y="25"/>
                  </a:lnTo>
                  <a:lnTo>
                    <a:pt x="431" y="27"/>
                  </a:lnTo>
                  <a:lnTo>
                    <a:pt x="429" y="29"/>
                  </a:lnTo>
                  <a:lnTo>
                    <a:pt x="429" y="29"/>
                  </a:lnTo>
                  <a:lnTo>
                    <a:pt x="425" y="29"/>
                  </a:lnTo>
                  <a:lnTo>
                    <a:pt x="425" y="29"/>
                  </a:lnTo>
                  <a:lnTo>
                    <a:pt x="423" y="31"/>
                  </a:lnTo>
                  <a:lnTo>
                    <a:pt x="423" y="33"/>
                  </a:lnTo>
                  <a:lnTo>
                    <a:pt x="423" y="33"/>
                  </a:lnTo>
                  <a:lnTo>
                    <a:pt x="421" y="33"/>
                  </a:lnTo>
                  <a:lnTo>
                    <a:pt x="421" y="33"/>
                  </a:lnTo>
                  <a:lnTo>
                    <a:pt x="421" y="33"/>
                  </a:lnTo>
                  <a:lnTo>
                    <a:pt x="420" y="33"/>
                  </a:lnTo>
                  <a:lnTo>
                    <a:pt x="420" y="31"/>
                  </a:lnTo>
                  <a:lnTo>
                    <a:pt x="420" y="31"/>
                  </a:lnTo>
                  <a:lnTo>
                    <a:pt x="420" y="31"/>
                  </a:lnTo>
                  <a:lnTo>
                    <a:pt x="418" y="31"/>
                  </a:lnTo>
                  <a:lnTo>
                    <a:pt x="418" y="31"/>
                  </a:lnTo>
                  <a:lnTo>
                    <a:pt x="412" y="31"/>
                  </a:lnTo>
                  <a:lnTo>
                    <a:pt x="408" y="31"/>
                  </a:lnTo>
                  <a:lnTo>
                    <a:pt x="404" y="33"/>
                  </a:lnTo>
                  <a:lnTo>
                    <a:pt x="395" y="40"/>
                  </a:lnTo>
                  <a:lnTo>
                    <a:pt x="393" y="42"/>
                  </a:lnTo>
                  <a:lnTo>
                    <a:pt x="387" y="42"/>
                  </a:lnTo>
                  <a:lnTo>
                    <a:pt x="385" y="42"/>
                  </a:lnTo>
                  <a:lnTo>
                    <a:pt x="383" y="44"/>
                  </a:lnTo>
                  <a:lnTo>
                    <a:pt x="381" y="48"/>
                  </a:lnTo>
                  <a:lnTo>
                    <a:pt x="381" y="50"/>
                  </a:lnTo>
                  <a:lnTo>
                    <a:pt x="381" y="50"/>
                  </a:lnTo>
                  <a:lnTo>
                    <a:pt x="381" y="52"/>
                  </a:lnTo>
                  <a:lnTo>
                    <a:pt x="381" y="52"/>
                  </a:lnTo>
                  <a:lnTo>
                    <a:pt x="381" y="52"/>
                  </a:lnTo>
                  <a:lnTo>
                    <a:pt x="381" y="54"/>
                  </a:lnTo>
                  <a:lnTo>
                    <a:pt x="381" y="54"/>
                  </a:lnTo>
                  <a:lnTo>
                    <a:pt x="381" y="54"/>
                  </a:lnTo>
                  <a:lnTo>
                    <a:pt x="381" y="56"/>
                  </a:lnTo>
                  <a:lnTo>
                    <a:pt x="380" y="56"/>
                  </a:lnTo>
                  <a:lnTo>
                    <a:pt x="380" y="58"/>
                  </a:lnTo>
                  <a:lnTo>
                    <a:pt x="378" y="61"/>
                  </a:lnTo>
                  <a:lnTo>
                    <a:pt x="376" y="61"/>
                  </a:lnTo>
                  <a:lnTo>
                    <a:pt x="376" y="63"/>
                  </a:lnTo>
                  <a:lnTo>
                    <a:pt x="372" y="65"/>
                  </a:lnTo>
                  <a:lnTo>
                    <a:pt x="370" y="67"/>
                  </a:lnTo>
                  <a:lnTo>
                    <a:pt x="368" y="67"/>
                  </a:lnTo>
                  <a:lnTo>
                    <a:pt x="368" y="69"/>
                  </a:lnTo>
                  <a:lnTo>
                    <a:pt x="368" y="69"/>
                  </a:lnTo>
                  <a:lnTo>
                    <a:pt x="368" y="71"/>
                  </a:lnTo>
                  <a:lnTo>
                    <a:pt x="370" y="73"/>
                  </a:lnTo>
                  <a:lnTo>
                    <a:pt x="370" y="77"/>
                  </a:lnTo>
                  <a:lnTo>
                    <a:pt x="370" y="78"/>
                  </a:lnTo>
                  <a:lnTo>
                    <a:pt x="368" y="80"/>
                  </a:lnTo>
                  <a:lnTo>
                    <a:pt x="368" y="82"/>
                  </a:lnTo>
                  <a:lnTo>
                    <a:pt x="366" y="82"/>
                  </a:lnTo>
                  <a:lnTo>
                    <a:pt x="360" y="82"/>
                  </a:lnTo>
                  <a:lnTo>
                    <a:pt x="359" y="82"/>
                  </a:lnTo>
                  <a:lnTo>
                    <a:pt x="355" y="84"/>
                  </a:lnTo>
                  <a:lnTo>
                    <a:pt x="355" y="86"/>
                  </a:lnTo>
                  <a:lnTo>
                    <a:pt x="353" y="88"/>
                  </a:lnTo>
                  <a:lnTo>
                    <a:pt x="351" y="90"/>
                  </a:lnTo>
                  <a:lnTo>
                    <a:pt x="349" y="92"/>
                  </a:lnTo>
                  <a:lnTo>
                    <a:pt x="347" y="92"/>
                  </a:lnTo>
                  <a:lnTo>
                    <a:pt x="345" y="94"/>
                  </a:lnTo>
                  <a:lnTo>
                    <a:pt x="340" y="94"/>
                  </a:lnTo>
                  <a:lnTo>
                    <a:pt x="336" y="96"/>
                  </a:lnTo>
                  <a:lnTo>
                    <a:pt x="326" y="94"/>
                  </a:lnTo>
                  <a:lnTo>
                    <a:pt x="324" y="94"/>
                  </a:lnTo>
                  <a:lnTo>
                    <a:pt x="322" y="92"/>
                  </a:lnTo>
                  <a:lnTo>
                    <a:pt x="320" y="86"/>
                  </a:lnTo>
                  <a:lnTo>
                    <a:pt x="319" y="86"/>
                  </a:lnTo>
                  <a:lnTo>
                    <a:pt x="319" y="86"/>
                  </a:lnTo>
                  <a:lnTo>
                    <a:pt x="319" y="86"/>
                  </a:lnTo>
                  <a:lnTo>
                    <a:pt x="319" y="86"/>
                  </a:lnTo>
                  <a:lnTo>
                    <a:pt x="319" y="86"/>
                  </a:lnTo>
                  <a:lnTo>
                    <a:pt x="320" y="84"/>
                  </a:lnTo>
                  <a:lnTo>
                    <a:pt x="320" y="84"/>
                  </a:lnTo>
                  <a:lnTo>
                    <a:pt x="320" y="84"/>
                  </a:lnTo>
                  <a:lnTo>
                    <a:pt x="322" y="84"/>
                  </a:lnTo>
                  <a:lnTo>
                    <a:pt x="322" y="84"/>
                  </a:lnTo>
                  <a:lnTo>
                    <a:pt x="322" y="82"/>
                  </a:lnTo>
                  <a:lnTo>
                    <a:pt x="322" y="78"/>
                  </a:lnTo>
                  <a:lnTo>
                    <a:pt x="322" y="75"/>
                  </a:lnTo>
                  <a:lnTo>
                    <a:pt x="320" y="69"/>
                  </a:lnTo>
                  <a:lnTo>
                    <a:pt x="319" y="67"/>
                  </a:lnTo>
                  <a:lnTo>
                    <a:pt x="317" y="65"/>
                  </a:lnTo>
                  <a:lnTo>
                    <a:pt x="317" y="65"/>
                  </a:lnTo>
                  <a:lnTo>
                    <a:pt x="315" y="65"/>
                  </a:lnTo>
                  <a:lnTo>
                    <a:pt x="315" y="65"/>
                  </a:lnTo>
                  <a:lnTo>
                    <a:pt x="313" y="65"/>
                  </a:lnTo>
                  <a:lnTo>
                    <a:pt x="309" y="65"/>
                  </a:lnTo>
                  <a:lnTo>
                    <a:pt x="305" y="63"/>
                  </a:lnTo>
                  <a:lnTo>
                    <a:pt x="303" y="63"/>
                  </a:lnTo>
                  <a:lnTo>
                    <a:pt x="301" y="63"/>
                  </a:lnTo>
                  <a:lnTo>
                    <a:pt x="298" y="63"/>
                  </a:lnTo>
                  <a:lnTo>
                    <a:pt x="292" y="65"/>
                  </a:lnTo>
                  <a:lnTo>
                    <a:pt x="282" y="65"/>
                  </a:lnTo>
                  <a:lnTo>
                    <a:pt x="279" y="65"/>
                  </a:lnTo>
                  <a:lnTo>
                    <a:pt x="275" y="63"/>
                  </a:lnTo>
                  <a:lnTo>
                    <a:pt x="273" y="63"/>
                  </a:lnTo>
                  <a:lnTo>
                    <a:pt x="273" y="65"/>
                  </a:lnTo>
                  <a:lnTo>
                    <a:pt x="269" y="65"/>
                  </a:lnTo>
                  <a:lnTo>
                    <a:pt x="267" y="65"/>
                  </a:lnTo>
                  <a:lnTo>
                    <a:pt x="265" y="65"/>
                  </a:lnTo>
                  <a:lnTo>
                    <a:pt x="261" y="65"/>
                  </a:lnTo>
                  <a:lnTo>
                    <a:pt x="252" y="65"/>
                  </a:lnTo>
                  <a:lnTo>
                    <a:pt x="252" y="65"/>
                  </a:lnTo>
                  <a:lnTo>
                    <a:pt x="250" y="65"/>
                  </a:lnTo>
                  <a:lnTo>
                    <a:pt x="250" y="63"/>
                  </a:lnTo>
                  <a:lnTo>
                    <a:pt x="246" y="65"/>
                  </a:lnTo>
                  <a:lnTo>
                    <a:pt x="237" y="63"/>
                  </a:lnTo>
                  <a:lnTo>
                    <a:pt x="231" y="59"/>
                  </a:lnTo>
                  <a:lnTo>
                    <a:pt x="231" y="59"/>
                  </a:lnTo>
                  <a:lnTo>
                    <a:pt x="229" y="59"/>
                  </a:lnTo>
                  <a:lnTo>
                    <a:pt x="229" y="58"/>
                  </a:lnTo>
                  <a:lnTo>
                    <a:pt x="227" y="58"/>
                  </a:lnTo>
                  <a:lnTo>
                    <a:pt x="227" y="54"/>
                  </a:lnTo>
                  <a:lnTo>
                    <a:pt x="223" y="50"/>
                  </a:lnTo>
                  <a:lnTo>
                    <a:pt x="221" y="48"/>
                  </a:lnTo>
                  <a:lnTo>
                    <a:pt x="221" y="46"/>
                  </a:lnTo>
                  <a:lnTo>
                    <a:pt x="218" y="46"/>
                  </a:lnTo>
                  <a:lnTo>
                    <a:pt x="218" y="46"/>
                  </a:lnTo>
                  <a:lnTo>
                    <a:pt x="214" y="44"/>
                  </a:lnTo>
                  <a:lnTo>
                    <a:pt x="212" y="44"/>
                  </a:lnTo>
                  <a:lnTo>
                    <a:pt x="210" y="44"/>
                  </a:lnTo>
                  <a:lnTo>
                    <a:pt x="210" y="42"/>
                  </a:lnTo>
                  <a:lnTo>
                    <a:pt x="208" y="42"/>
                  </a:lnTo>
                  <a:lnTo>
                    <a:pt x="208" y="42"/>
                  </a:lnTo>
                  <a:lnTo>
                    <a:pt x="204" y="40"/>
                  </a:lnTo>
                  <a:lnTo>
                    <a:pt x="204" y="40"/>
                  </a:lnTo>
                  <a:lnTo>
                    <a:pt x="195" y="42"/>
                  </a:lnTo>
                  <a:lnTo>
                    <a:pt x="193" y="42"/>
                  </a:lnTo>
                  <a:lnTo>
                    <a:pt x="191" y="42"/>
                  </a:lnTo>
                  <a:lnTo>
                    <a:pt x="189" y="40"/>
                  </a:lnTo>
                  <a:lnTo>
                    <a:pt x="187" y="40"/>
                  </a:lnTo>
                  <a:lnTo>
                    <a:pt x="187" y="39"/>
                  </a:lnTo>
                  <a:lnTo>
                    <a:pt x="185" y="39"/>
                  </a:lnTo>
                  <a:lnTo>
                    <a:pt x="181" y="37"/>
                  </a:lnTo>
                  <a:lnTo>
                    <a:pt x="179" y="37"/>
                  </a:lnTo>
                  <a:lnTo>
                    <a:pt x="176" y="33"/>
                  </a:lnTo>
                  <a:lnTo>
                    <a:pt x="174" y="33"/>
                  </a:lnTo>
                  <a:lnTo>
                    <a:pt x="174" y="31"/>
                  </a:lnTo>
                  <a:lnTo>
                    <a:pt x="172" y="31"/>
                  </a:lnTo>
                  <a:lnTo>
                    <a:pt x="172" y="29"/>
                  </a:lnTo>
                  <a:lnTo>
                    <a:pt x="172" y="27"/>
                  </a:lnTo>
                  <a:lnTo>
                    <a:pt x="172" y="25"/>
                  </a:lnTo>
                  <a:lnTo>
                    <a:pt x="170" y="23"/>
                  </a:lnTo>
                  <a:lnTo>
                    <a:pt x="170" y="23"/>
                  </a:lnTo>
                  <a:lnTo>
                    <a:pt x="170" y="21"/>
                  </a:lnTo>
                  <a:lnTo>
                    <a:pt x="170" y="12"/>
                  </a:lnTo>
                  <a:lnTo>
                    <a:pt x="170" y="12"/>
                  </a:lnTo>
                  <a:lnTo>
                    <a:pt x="170" y="8"/>
                  </a:lnTo>
                  <a:lnTo>
                    <a:pt x="164" y="2"/>
                  </a:lnTo>
                  <a:lnTo>
                    <a:pt x="162" y="0"/>
                  </a:lnTo>
                  <a:lnTo>
                    <a:pt x="160" y="0"/>
                  </a:lnTo>
                  <a:lnTo>
                    <a:pt x="157" y="4"/>
                  </a:lnTo>
                  <a:lnTo>
                    <a:pt x="157" y="4"/>
                  </a:lnTo>
                  <a:lnTo>
                    <a:pt x="155" y="6"/>
                  </a:lnTo>
                  <a:lnTo>
                    <a:pt x="153" y="6"/>
                  </a:lnTo>
                  <a:lnTo>
                    <a:pt x="153" y="6"/>
                  </a:lnTo>
                  <a:lnTo>
                    <a:pt x="151" y="6"/>
                  </a:lnTo>
                  <a:lnTo>
                    <a:pt x="151" y="6"/>
                  </a:lnTo>
                  <a:lnTo>
                    <a:pt x="151" y="8"/>
                  </a:lnTo>
                  <a:lnTo>
                    <a:pt x="151" y="8"/>
                  </a:lnTo>
                  <a:lnTo>
                    <a:pt x="151" y="8"/>
                  </a:lnTo>
                  <a:lnTo>
                    <a:pt x="149" y="10"/>
                  </a:lnTo>
                  <a:lnTo>
                    <a:pt x="147" y="10"/>
                  </a:lnTo>
                  <a:lnTo>
                    <a:pt x="145" y="10"/>
                  </a:lnTo>
                  <a:lnTo>
                    <a:pt x="143" y="10"/>
                  </a:lnTo>
                  <a:lnTo>
                    <a:pt x="141" y="10"/>
                  </a:lnTo>
                  <a:lnTo>
                    <a:pt x="139" y="8"/>
                  </a:lnTo>
                  <a:lnTo>
                    <a:pt x="138" y="8"/>
                  </a:lnTo>
                  <a:lnTo>
                    <a:pt x="130" y="8"/>
                  </a:lnTo>
                  <a:lnTo>
                    <a:pt x="122" y="14"/>
                  </a:lnTo>
                  <a:lnTo>
                    <a:pt x="122" y="14"/>
                  </a:lnTo>
                  <a:lnTo>
                    <a:pt x="120" y="16"/>
                  </a:lnTo>
                  <a:lnTo>
                    <a:pt x="117" y="16"/>
                  </a:lnTo>
                  <a:lnTo>
                    <a:pt x="117" y="16"/>
                  </a:lnTo>
                  <a:lnTo>
                    <a:pt x="113" y="18"/>
                  </a:lnTo>
                  <a:lnTo>
                    <a:pt x="109" y="20"/>
                  </a:lnTo>
                  <a:lnTo>
                    <a:pt x="109" y="20"/>
                  </a:lnTo>
                  <a:lnTo>
                    <a:pt x="107" y="20"/>
                  </a:lnTo>
                  <a:lnTo>
                    <a:pt x="107" y="21"/>
                  </a:lnTo>
                  <a:lnTo>
                    <a:pt x="105" y="23"/>
                  </a:lnTo>
                  <a:lnTo>
                    <a:pt x="107" y="23"/>
                  </a:lnTo>
                  <a:lnTo>
                    <a:pt x="107" y="27"/>
                  </a:lnTo>
                  <a:lnTo>
                    <a:pt x="107" y="27"/>
                  </a:lnTo>
                  <a:lnTo>
                    <a:pt x="107" y="29"/>
                  </a:lnTo>
                  <a:lnTo>
                    <a:pt x="107" y="31"/>
                  </a:lnTo>
                  <a:lnTo>
                    <a:pt x="107" y="31"/>
                  </a:lnTo>
                  <a:lnTo>
                    <a:pt x="109" y="33"/>
                  </a:lnTo>
                  <a:lnTo>
                    <a:pt x="109" y="33"/>
                  </a:lnTo>
                  <a:lnTo>
                    <a:pt x="111" y="35"/>
                  </a:lnTo>
                  <a:lnTo>
                    <a:pt x="109" y="39"/>
                  </a:lnTo>
                  <a:lnTo>
                    <a:pt x="107" y="39"/>
                  </a:lnTo>
                  <a:lnTo>
                    <a:pt x="105" y="40"/>
                  </a:lnTo>
                  <a:lnTo>
                    <a:pt x="103" y="40"/>
                  </a:lnTo>
                  <a:lnTo>
                    <a:pt x="101" y="40"/>
                  </a:lnTo>
                  <a:lnTo>
                    <a:pt x="101" y="42"/>
                  </a:lnTo>
                  <a:lnTo>
                    <a:pt x="103" y="42"/>
                  </a:lnTo>
                  <a:lnTo>
                    <a:pt x="103" y="44"/>
                  </a:lnTo>
                  <a:lnTo>
                    <a:pt x="105" y="48"/>
                  </a:lnTo>
                  <a:lnTo>
                    <a:pt x="107" y="48"/>
                  </a:lnTo>
                  <a:lnTo>
                    <a:pt x="107" y="52"/>
                  </a:lnTo>
                  <a:lnTo>
                    <a:pt x="107" y="52"/>
                  </a:lnTo>
                  <a:lnTo>
                    <a:pt x="109" y="52"/>
                  </a:lnTo>
                  <a:lnTo>
                    <a:pt x="109" y="52"/>
                  </a:lnTo>
                  <a:lnTo>
                    <a:pt x="111" y="50"/>
                  </a:lnTo>
                  <a:lnTo>
                    <a:pt x="118" y="50"/>
                  </a:lnTo>
                  <a:lnTo>
                    <a:pt x="120" y="48"/>
                  </a:lnTo>
                  <a:lnTo>
                    <a:pt x="124" y="48"/>
                  </a:lnTo>
                  <a:lnTo>
                    <a:pt x="126" y="46"/>
                  </a:lnTo>
                  <a:lnTo>
                    <a:pt x="128" y="46"/>
                  </a:lnTo>
                  <a:lnTo>
                    <a:pt x="136" y="48"/>
                  </a:lnTo>
                  <a:lnTo>
                    <a:pt x="136" y="48"/>
                  </a:lnTo>
                  <a:lnTo>
                    <a:pt x="136" y="46"/>
                  </a:lnTo>
                  <a:lnTo>
                    <a:pt x="138" y="46"/>
                  </a:lnTo>
                  <a:lnTo>
                    <a:pt x="138" y="46"/>
                  </a:lnTo>
                  <a:lnTo>
                    <a:pt x="138" y="46"/>
                  </a:lnTo>
                  <a:lnTo>
                    <a:pt x="138" y="46"/>
                  </a:lnTo>
                  <a:lnTo>
                    <a:pt x="139" y="46"/>
                  </a:lnTo>
                  <a:lnTo>
                    <a:pt x="139" y="46"/>
                  </a:lnTo>
                  <a:lnTo>
                    <a:pt x="141" y="46"/>
                  </a:lnTo>
                  <a:lnTo>
                    <a:pt x="141" y="48"/>
                  </a:lnTo>
                  <a:lnTo>
                    <a:pt x="141" y="48"/>
                  </a:lnTo>
                  <a:lnTo>
                    <a:pt x="143" y="48"/>
                  </a:lnTo>
                  <a:lnTo>
                    <a:pt x="147" y="48"/>
                  </a:lnTo>
                  <a:lnTo>
                    <a:pt x="147" y="48"/>
                  </a:lnTo>
                  <a:lnTo>
                    <a:pt x="147" y="46"/>
                  </a:lnTo>
                  <a:lnTo>
                    <a:pt x="149" y="46"/>
                  </a:lnTo>
                  <a:lnTo>
                    <a:pt x="151" y="46"/>
                  </a:lnTo>
                  <a:lnTo>
                    <a:pt x="151" y="46"/>
                  </a:lnTo>
                  <a:lnTo>
                    <a:pt x="151" y="46"/>
                  </a:lnTo>
                  <a:lnTo>
                    <a:pt x="151" y="46"/>
                  </a:lnTo>
                  <a:lnTo>
                    <a:pt x="151" y="46"/>
                  </a:lnTo>
                  <a:lnTo>
                    <a:pt x="153" y="48"/>
                  </a:lnTo>
                  <a:lnTo>
                    <a:pt x="153" y="48"/>
                  </a:lnTo>
                  <a:lnTo>
                    <a:pt x="153" y="50"/>
                  </a:lnTo>
                  <a:lnTo>
                    <a:pt x="153" y="50"/>
                  </a:lnTo>
                  <a:lnTo>
                    <a:pt x="153" y="50"/>
                  </a:lnTo>
                  <a:lnTo>
                    <a:pt x="153" y="52"/>
                  </a:lnTo>
                  <a:lnTo>
                    <a:pt x="151" y="52"/>
                  </a:lnTo>
                  <a:lnTo>
                    <a:pt x="149" y="54"/>
                  </a:lnTo>
                  <a:lnTo>
                    <a:pt x="147" y="54"/>
                  </a:lnTo>
                  <a:lnTo>
                    <a:pt x="136" y="58"/>
                  </a:lnTo>
                  <a:lnTo>
                    <a:pt x="134" y="58"/>
                  </a:lnTo>
                  <a:lnTo>
                    <a:pt x="134" y="58"/>
                  </a:lnTo>
                  <a:lnTo>
                    <a:pt x="130" y="56"/>
                  </a:lnTo>
                  <a:lnTo>
                    <a:pt x="130" y="56"/>
                  </a:lnTo>
                  <a:lnTo>
                    <a:pt x="128" y="56"/>
                  </a:lnTo>
                  <a:lnTo>
                    <a:pt x="128" y="58"/>
                  </a:lnTo>
                  <a:lnTo>
                    <a:pt x="126" y="59"/>
                  </a:lnTo>
                  <a:lnTo>
                    <a:pt x="124" y="61"/>
                  </a:lnTo>
                  <a:lnTo>
                    <a:pt x="122" y="61"/>
                  </a:lnTo>
                  <a:lnTo>
                    <a:pt x="120" y="63"/>
                  </a:lnTo>
                  <a:lnTo>
                    <a:pt x="120" y="65"/>
                  </a:lnTo>
                  <a:lnTo>
                    <a:pt x="118" y="71"/>
                  </a:lnTo>
                  <a:lnTo>
                    <a:pt x="117" y="73"/>
                  </a:lnTo>
                  <a:lnTo>
                    <a:pt x="117" y="75"/>
                  </a:lnTo>
                  <a:lnTo>
                    <a:pt x="111" y="77"/>
                  </a:lnTo>
                  <a:lnTo>
                    <a:pt x="111" y="77"/>
                  </a:lnTo>
                  <a:lnTo>
                    <a:pt x="109" y="75"/>
                  </a:lnTo>
                  <a:lnTo>
                    <a:pt x="107" y="75"/>
                  </a:lnTo>
                  <a:lnTo>
                    <a:pt x="107" y="75"/>
                  </a:lnTo>
                  <a:lnTo>
                    <a:pt x="107" y="75"/>
                  </a:lnTo>
                  <a:lnTo>
                    <a:pt x="105" y="77"/>
                  </a:lnTo>
                  <a:lnTo>
                    <a:pt x="105" y="80"/>
                  </a:lnTo>
                  <a:lnTo>
                    <a:pt x="103" y="82"/>
                  </a:lnTo>
                  <a:lnTo>
                    <a:pt x="103" y="82"/>
                  </a:lnTo>
                  <a:lnTo>
                    <a:pt x="101" y="82"/>
                  </a:lnTo>
                  <a:lnTo>
                    <a:pt x="99" y="84"/>
                  </a:lnTo>
                  <a:lnTo>
                    <a:pt x="99" y="84"/>
                  </a:lnTo>
                  <a:lnTo>
                    <a:pt x="99" y="84"/>
                  </a:lnTo>
                  <a:lnTo>
                    <a:pt x="98" y="86"/>
                  </a:lnTo>
                  <a:lnTo>
                    <a:pt x="98" y="86"/>
                  </a:lnTo>
                  <a:lnTo>
                    <a:pt x="98" y="86"/>
                  </a:lnTo>
                  <a:lnTo>
                    <a:pt x="96" y="86"/>
                  </a:lnTo>
                  <a:lnTo>
                    <a:pt x="96" y="86"/>
                  </a:lnTo>
                  <a:lnTo>
                    <a:pt x="94" y="86"/>
                  </a:lnTo>
                  <a:lnTo>
                    <a:pt x="94" y="84"/>
                  </a:lnTo>
                  <a:lnTo>
                    <a:pt x="94" y="86"/>
                  </a:lnTo>
                  <a:lnTo>
                    <a:pt x="92" y="86"/>
                  </a:lnTo>
                  <a:lnTo>
                    <a:pt x="92" y="86"/>
                  </a:lnTo>
                  <a:lnTo>
                    <a:pt x="92" y="86"/>
                  </a:lnTo>
                  <a:lnTo>
                    <a:pt x="86" y="82"/>
                  </a:lnTo>
                  <a:lnTo>
                    <a:pt x="84" y="82"/>
                  </a:lnTo>
                  <a:lnTo>
                    <a:pt x="84" y="82"/>
                  </a:lnTo>
                  <a:lnTo>
                    <a:pt x="84" y="82"/>
                  </a:lnTo>
                  <a:lnTo>
                    <a:pt x="84" y="84"/>
                  </a:lnTo>
                  <a:lnTo>
                    <a:pt x="84" y="84"/>
                  </a:lnTo>
                  <a:lnTo>
                    <a:pt x="84" y="84"/>
                  </a:lnTo>
                  <a:lnTo>
                    <a:pt x="88" y="88"/>
                  </a:lnTo>
                  <a:lnTo>
                    <a:pt x="92" y="90"/>
                  </a:lnTo>
                  <a:lnTo>
                    <a:pt x="94" y="90"/>
                  </a:lnTo>
                  <a:lnTo>
                    <a:pt x="94" y="90"/>
                  </a:lnTo>
                  <a:lnTo>
                    <a:pt x="96" y="90"/>
                  </a:lnTo>
                  <a:lnTo>
                    <a:pt x="96" y="90"/>
                  </a:lnTo>
                  <a:lnTo>
                    <a:pt x="98" y="90"/>
                  </a:lnTo>
                  <a:lnTo>
                    <a:pt x="98" y="90"/>
                  </a:lnTo>
                  <a:lnTo>
                    <a:pt x="99" y="92"/>
                  </a:lnTo>
                  <a:lnTo>
                    <a:pt x="99" y="92"/>
                  </a:lnTo>
                  <a:lnTo>
                    <a:pt x="99" y="94"/>
                  </a:lnTo>
                  <a:lnTo>
                    <a:pt x="101" y="96"/>
                  </a:lnTo>
                  <a:lnTo>
                    <a:pt x="103" y="96"/>
                  </a:lnTo>
                  <a:lnTo>
                    <a:pt x="105" y="96"/>
                  </a:lnTo>
                  <a:lnTo>
                    <a:pt x="107" y="97"/>
                  </a:lnTo>
                  <a:lnTo>
                    <a:pt x="107" y="99"/>
                  </a:lnTo>
                  <a:lnTo>
                    <a:pt x="109" y="101"/>
                  </a:lnTo>
                  <a:lnTo>
                    <a:pt x="111" y="103"/>
                  </a:lnTo>
                  <a:lnTo>
                    <a:pt x="113" y="103"/>
                  </a:lnTo>
                  <a:lnTo>
                    <a:pt x="113" y="105"/>
                  </a:lnTo>
                  <a:lnTo>
                    <a:pt x="113" y="105"/>
                  </a:lnTo>
                  <a:lnTo>
                    <a:pt x="115" y="109"/>
                  </a:lnTo>
                  <a:lnTo>
                    <a:pt x="115" y="111"/>
                  </a:lnTo>
                  <a:lnTo>
                    <a:pt x="117" y="113"/>
                  </a:lnTo>
                  <a:lnTo>
                    <a:pt x="117" y="120"/>
                  </a:lnTo>
                  <a:lnTo>
                    <a:pt x="117" y="122"/>
                  </a:lnTo>
                  <a:lnTo>
                    <a:pt x="117" y="124"/>
                  </a:lnTo>
                  <a:lnTo>
                    <a:pt x="117" y="126"/>
                  </a:lnTo>
                  <a:lnTo>
                    <a:pt x="115" y="126"/>
                  </a:lnTo>
                  <a:lnTo>
                    <a:pt x="115" y="128"/>
                  </a:lnTo>
                  <a:lnTo>
                    <a:pt x="111" y="132"/>
                  </a:lnTo>
                  <a:lnTo>
                    <a:pt x="107" y="134"/>
                  </a:lnTo>
                  <a:lnTo>
                    <a:pt x="107" y="136"/>
                  </a:lnTo>
                  <a:lnTo>
                    <a:pt x="107" y="137"/>
                  </a:lnTo>
                  <a:lnTo>
                    <a:pt x="107" y="137"/>
                  </a:lnTo>
                  <a:lnTo>
                    <a:pt x="107" y="139"/>
                  </a:lnTo>
                  <a:lnTo>
                    <a:pt x="107" y="139"/>
                  </a:lnTo>
                  <a:lnTo>
                    <a:pt x="105" y="141"/>
                  </a:lnTo>
                  <a:lnTo>
                    <a:pt x="105" y="141"/>
                  </a:lnTo>
                  <a:lnTo>
                    <a:pt x="103" y="143"/>
                  </a:lnTo>
                  <a:lnTo>
                    <a:pt x="101" y="143"/>
                  </a:lnTo>
                  <a:lnTo>
                    <a:pt x="98" y="145"/>
                  </a:lnTo>
                  <a:lnTo>
                    <a:pt x="98" y="145"/>
                  </a:lnTo>
                  <a:lnTo>
                    <a:pt x="92" y="145"/>
                  </a:lnTo>
                  <a:lnTo>
                    <a:pt x="92" y="145"/>
                  </a:lnTo>
                  <a:lnTo>
                    <a:pt x="90" y="145"/>
                  </a:lnTo>
                  <a:lnTo>
                    <a:pt x="90" y="145"/>
                  </a:lnTo>
                  <a:lnTo>
                    <a:pt x="88" y="141"/>
                  </a:lnTo>
                  <a:lnTo>
                    <a:pt x="86" y="139"/>
                  </a:lnTo>
                  <a:lnTo>
                    <a:pt x="86" y="139"/>
                  </a:lnTo>
                  <a:lnTo>
                    <a:pt x="82" y="137"/>
                  </a:lnTo>
                  <a:lnTo>
                    <a:pt x="78" y="136"/>
                  </a:lnTo>
                  <a:lnTo>
                    <a:pt x="78" y="136"/>
                  </a:lnTo>
                  <a:lnTo>
                    <a:pt x="78" y="136"/>
                  </a:lnTo>
                  <a:lnTo>
                    <a:pt x="77" y="134"/>
                  </a:lnTo>
                  <a:lnTo>
                    <a:pt x="77" y="134"/>
                  </a:lnTo>
                  <a:lnTo>
                    <a:pt x="75" y="132"/>
                  </a:lnTo>
                  <a:lnTo>
                    <a:pt x="75" y="130"/>
                  </a:lnTo>
                  <a:lnTo>
                    <a:pt x="75" y="130"/>
                  </a:lnTo>
                  <a:lnTo>
                    <a:pt x="75" y="130"/>
                  </a:lnTo>
                  <a:lnTo>
                    <a:pt x="73" y="130"/>
                  </a:lnTo>
                  <a:lnTo>
                    <a:pt x="73" y="130"/>
                  </a:lnTo>
                  <a:lnTo>
                    <a:pt x="73" y="130"/>
                  </a:lnTo>
                  <a:lnTo>
                    <a:pt x="71" y="134"/>
                  </a:lnTo>
                  <a:lnTo>
                    <a:pt x="71" y="136"/>
                  </a:lnTo>
                  <a:lnTo>
                    <a:pt x="67" y="136"/>
                  </a:lnTo>
                  <a:lnTo>
                    <a:pt x="67" y="136"/>
                  </a:lnTo>
                  <a:lnTo>
                    <a:pt x="67" y="137"/>
                  </a:lnTo>
                  <a:lnTo>
                    <a:pt x="67" y="137"/>
                  </a:lnTo>
                  <a:lnTo>
                    <a:pt x="67" y="137"/>
                  </a:lnTo>
                  <a:lnTo>
                    <a:pt x="67" y="137"/>
                  </a:lnTo>
                  <a:lnTo>
                    <a:pt x="69" y="137"/>
                  </a:lnTo>
                  <a:lnTo>
                    <a:pt x="69" y="137"/>
                  </a:lnTo>
                  <a:lnTo>
                    <a:pt x="69" y="137"/>
                  </a:lnTo>
                  <a:lnTo>
                    <a:pt x="71" y="139"/>
                  </a:lnTo>
                  <a:lnTo>
                    <a:pt x="71" y="139"/>
                  </a:lnTo>
                  <a:lnTo>
                    <a:pt x="71" y="141"/>
                  </a:lnTo>
                  <a:lnTo>
                    <a:pt x="71" y="141"/>
                  </a:lnTo>
                  <a:lnTo>
                    <a:pt x="71" y="143"/>
                  </a:lnTo>
                  <a:lnTo>
                    <a:pt x="71" y="143"/>
                  </a:lnTo>
                  <a:lnTo>
                    <a:pt x="73" y="143"/>
                  </a:lnTo>
                  <a:lnTo>
                    <a:pt x="73" y="143"/>
                  </a:lnTo>
                  <a:lnTo>
                    <a:pt x="73" y="143"/>
                  </a:lnTo>
                  <a:lnTo>
                    <a:pt x="75" y="143"/>
                  </a:lnTo>
                  <a:lnTo>
                    <a:pt x="75" y="143"/>
                  </a:lnTo>
                  <a:lnTo>
                    <a:pt x="75" y="145"/>
                  </a:lnTo>
                  <a:lnTo>
                    <a:pt x="75" y="147"/>
                  </a:lnTo>
                  <a:lnTo>
                    <a:pt x="75" y="149"/>
                  </a:lnTo>
                  <a:lnTo>
                    <a:pt x="73" y="153"/>
                  </a:lnTo>
                  <a:lnTo>
                    <a:pt x="69" y="160"/>
                  </a:lnTo>
                  <a:lnTo>
                    <a:pt x="67" y="162"/>
                  </a:lnTo>
                  <a:lnTo>
                    <a:pt x="65" y="164"/>
                  </a:lnTo>
                  <a:lnTo>
                    <a:pt x="67" y="164"/>
                  </a:lnTo>
                  <a:lnTo>
                    <a:pt x="67" y="166"/>
                  </a:lnTo>
                  <a:lnTo>
                    <a:pt x="67" y="166"/>
                  </a:lnTo>
                  <a:lnTo>
                    <a:pt x="67" y="166"/>
                  </a:lnTo>
                  <a:lnTo>
                    <a:pt x="67" y="166"/>
                  </a:lnTo>
                  <a:lnTo>
                    <a:pt x="69" y="168"/>
                  </a:lnTo>
                  <a:lnTo>
                    <a:pt x="69" y="168"/>
                  </a:lnTo>
                  <a:lnTo>
                    <a:pt x="69" y="170"/>
                  </a:lnTo>
                  <a:lnTo>
                    <a:pt x="69" y="174"/>
                  </a:lnTo>
                  <a:lnTo>
                    <a:pt x="69" y="175"/>
                  </a:lnTo>
                  <a:lnTo>
                    <a:pt x="69" y="177"/>
                  </a:lnTo>
                  <a:lnTo>
                    <a:pt x="67" y="177"/>
                  </a:lnTo>
                  <a:lnTo>
                    <a:pt x="67" y="179"/>
                  </a:lnTo>
                  <a:lnTo>
                    <a:pt x="67" y="179"/>
                  </a:lnTo>
                  <a:lnTo>
                    <a:pt x="69" y="181"/>
                  </a:lnTo>
                  <a:lnTo>
                    <a:pt x="67" y="183"/>
                  </a:lnTo>
                  <a:lnTo>
                    <a:pt x="67" y="183"/>
                  </a:lnTo>
                  <a:lnTo>
                    <a:pt x="67" y="183"/>
                  </a:lnTo>
                  <a:lnTo>
                    <a:pt x="65" y="183"/>
                  </a:lnTo>
                  <a:lnTo>
                    <a:pt x="63" y="183"/>
                  </a:lnTo>
                  <a:lnTo>
                    <a:pt x="57" y="181"/>
                  </a:lnTo>
                  <a:lnTo>
                    <a:pt x="57" y="181"/>
                  </a:lnTo>
                  <a:lnTo>
                    <a:pt x="56" y="183"/>
                  </a:lnTo>
                  <a:lnTo>
                    <a:pt x="56" y="183"/>
                  </a:lnTo>
                  <a:lnTo>
                    <a:pt x="56" y="185"/>
                  </a:lnTo>
                  <a:lnTo>
                    <a:pt x="56" y="185"/>
                  </a:lnTo>
                  <a:lnTo>
                    <a:pt x="56" y="185"/>
                  </a:lnTo>
                  <a:lnTo>
                    <a:pt x="56" y="187"/>
                  </a:lnTo>
                  <a:lnTo>
                    <a:pt x="56" y="187"/>
                  </a:lnTo>
                  <a:lnTo>
                    <a:pt x="54" y="187"/>
                  </a:lnTo>
                  <a:lnTo>
                    <a:pt x="54" y="189"/>
                  </a:lnTo>
                  <a:lnTo>
                    <a:pt x="52" y="189"/>
                  </a:lnTo>
                  <a:lnTo>
                    <a:pt x="52" y="189"/>
                  </a:lnTo>
                  <a:lnTo>
                    <a:pt x="50" y="189"/>
                  </a:lnTo>
                  <a:lnTo>
                    <a:pt x="48" y="189"/>
                  </a:lnTo>
                  <a:lnTo>
                    <a:pt x="48" y="193"/>
                  </a:lnTo>
                  <a:lnTo>
                    <a:pt x="48" y="194"/>
                  </a:lnTo>
                  <a:lnTo>
                    <a:pt x="48" y="196"/>
                  </a:lnTo>
                  <a:lnTo>
                    <a:pt x="46" y="196"/>
                  </a:lnTo>
                  <a:lnTo>
                    <a:pt x="46" y="198"/>
                  </a:lnTo>
                  <a:lnTo>
                    <a:pt x="46" y="198"/>
                  </a:lnTo>
                  <a:lnTo>
                    <a:pt x="46" y="198"/>
                  </a:lnTo>
                  <a:lnTo>
                    <a:pt x="44" y="196"/>
                  </a:lnTo>
                  <a:lnTo>
                    <a:pt x="44" y="196"/>
                  </a:lnTo>
                  <a:lnTo>
                    <a:pt x="42" y="194"/>
                  </a:lnTo>
                  <a:lnTo>
                    <a:pt x="42" y="194"/>
                  </a:lnTo>
                  <a:lnTo>
                    <a:pt x="40" y="194"/>
                  </a:lnTo>
                  <a:lnTo>
                    <a:pt x="40" y="194"/>
                  </a:lnTo>
                  <a:lnTo>
                    <a:pt x="38" y="196"/>
                  </a:lnTo>
                  <a:lnTo>
                    <a:pt x="38" y="196"/>
                  </a:lnTo>
                  <a:lnTo>
                    <a:pt x="38" y="196"/>
                  </a:lnTo>
                  <a:lnTo>
                    <a:pt x="38" y="196"/>
                  </a:lnTo>
                  <a:lnTo>
                    <a:pt x="37" y="196"/>
                  </a:lnTo>
                  <a:lnTo>
                    <a:pt x="37" y="194"/>
                  </a:lnTo>
                  <a:lnTo>
                    <a:pt x="37" y="194"/>
                  </a:lnTo>
                  <a:lnTo>
                    <a:pt x="35" y="194"/>
                  </a:lnTo>
                  <a:lnTo>
                    <a:pt x="35" y="196"/>
                  </a:lnTo>
                  <a:lnTo>
                    <a:pt x="33" y="196"/>
                  </a:lnTo>
                  <a:lnTo>
                    <a:pt x="33" y="196"/>
                  </a:lnTo>
                  <a:lnTo>
                    <a:pt x="33" y="196"/>
                  </a:lnTo>
                  <a:lnTo>
                    <a:pt x="31" y="196"/>
                  </a:lnTo>
                  <a:lnTo>
                    <a:pt x="31" y="194"/>
                  </a:lnTo>
                  <a:lnTo>
                    <a:pt x="29" y="193"/>
                  </a:lnTo>
                  <a:lnTo>
                    <a:pt x="27" y="189"/>
                  </a:lnTo>
                  <a:lnTo>
                    <a:pt x="23" y="191"/>
                  </a:lnTo>
                  <a:lnTo>
                    <a:pt x="21" y="191"/>
                  </a:lnTo>
                  <a:lnTo>
                    <a:pt x="19" y="191"/>
                  </a:lnTo>
                  <a:lnTo>
                    <a:pt x="17" y="191"/>
                  </a:lnTo>
                  <a:lnTo>
                    <a:pt x="16" y="191"/>
                  </a:lnTo>
                  <a:lnTo>
                    <a:pt x="16" y="191"/>
                  </a:lnTo>
                  <a:lnTo>
                    <a:pt x="16" y="191"/>
                  </a:lnTo>
                  <a:lnTo>
                    <a:pt x="16" y="191"/>
                  </a:lnTo>
                  <a:lnTo>
                    <a:pt x="12" y="191"/>
                  </a:lnTo>
                  <a:lnTo>
                    <a:pt x="12" y="191"/>
                  </a:lnTo>
                  <a:lnTo>
                    <a:pt x="12" y="191"/>
                  </a:lnTo>
                  <a:lnTo>
                    <a:pt x="10" y="191"/>
                  </a:lnTo>
                  <a:lnTo>
                    <a:pt x="10" y="193"/>
                  </a:lnTo>
                  <a:lnTo>
                    <a:pt x="8" y="193"/>
                  </a:lnTo>
                  <a:lnTo>
                    <a:pt x="6" y="193"/>
                  </a:lnTo>
                  <a:lnTo>
                    <a:pt x="6" y="194"/>
                  </a:lnTo>
                  <a:lnTo>
                    <a:pt x="6" y="200"/>
                  </a:lnTo>
                  <a:lnTo>
                    <a:pt x="6" y="200"/>
                  </a:lnTo>
                  <a:lnTo>
                    <a:pt x="4" y="202"/>
                  </a:lnTo>
                  <a:lnTo>
                    <a:pt x="4" y="204"/>
                  </a:lnTo>
                  <a:lnTo>
                    <a:pt x="2" y="204"/>
                  </a:lnTo>
                  <a:lnTo>
                    <a:pt x="2" y="206"/>
                  </a:lnTo>
                  <a:lnTo>
                    <a:pt x="2" y="206"/>
                  </a:lnTo>
                  <a:lnTo>
                    <a:pt x="2" y="208"/>
                  </a:lnTo>
                  <a:lnTo>
                    <a:pt x="2" y="212"/>
                  </a:lnTo>
                  <a:lnTo>
                    <a:pt x="0" y="213"/>
                  </a:lnTo>
                  <a:lnTo>
                    <a:pt x="0" y="215"/>
                  </a:lnTo>
                  <a:lnTo>
                    <a:pt x="0" y="215"/>
                  </a:lnTo>
                  <a:lnTo>
                    <a:pt x="2" y="219"/>
                  </a:lnTo>
                  <a:lnTo>
                    <a:pt x="2" y="219"/>
                  </a:lnTo>
                  <a:lnTo>
                    <a:pt x="2" y="223"/>
                  </a:lnTo>
                  <a:lnTo>
                    <a:pt x="2" y="225"/>
                  </a:lnTo>
                  <a:lnTo>
                    <a:pt x="4" y="225"/>
                  </a:lnTo>
                  <a:lnTo>
                    <a:pt x="8" y="221"/>
                  </a:lnTo>
                  <a:lnTo>
                    <a:pt x="8" y="223"/>
                  </a:lnTo>
                  <a:lnTo>
                    <a:pt x="8" y="223"/>
                  </a:lnTo>
                  <a:lnTo>
                    <a:pt x="8" y="223"/>
                  </a:lnTo>
                  <a:lnTo>
                    <a:pt x="8" y="225"/>
                  </a:lnTo>
                  <a:lnTo>
                    <a:pt x="8" y="225"/>
                  </a:lnTo>
                  <a:lnTo>
                    <a:pt x="6" y="225"/>
                  </a:lnTo>
                  <a:lnTo>
                    <a:pt x="6" y="225"/>
                  </a:lnTo>
                  <a:lnTo>
                    <a:pt x="6" y="227"/>
                  </a:lnTo>
                  <a:lnTo>
                    <a:pt x="8" y="229"/>
                  </a:lnTo>
                  <a:lnTo>
                    <a:pt x="8" y="229"/>
                  </a:lnTo>
                  <a:lnTo>
                    <a:pt x="6" y="231"/>
                  </a:lnTo>
                  <a:lnTo>
                    <a:pt x="6" y="229"/>
                  </a:lnTo>
                  <a:lnTo>
                    <a:pt x="4" y="229"/>
                  </a:lnTo>
                  <a:lnTo>
                    <a:pt x="4" y="229"/>
                  </a:lnTo>
                  <a:lnTo>
                    <a:pt x="4" y="227"/>
                  </a:lnTo>
                  <a:lnTo>
                    <a:pt x="6" y="234"/>
                  </a:lnTo>
                  <a:lnTo>
                    <a:pt x="6" y="238"/>
                  </a:lnTo>
                  <a:lnTo>
                    <a:pt x="6" y="240"/>
                  </a:lnTo>
                  <a:lnTo>
                    <a:pt x="6" y="246"/>
                  </a:lnTo>
                  <a:lnTo>
                    <a:pt x="8" y="248"/>
                  </a:lnTo>
                  <a:lnTo>
                    <a:pt x="10" y="248"/>
                  </a:lnTo>
                  <a:lnTo>
                    <a:pt x="10" y="248"/>
                  </a:lnTo>
                  <a:lnTo>
                    <a:pt x="10" y="248"/>
                  </a:lnTo>
                  <a:lnTo>
                    <a:pt x="10" y="246"/>
                  </a:lnTo>
                  <a:lnTo>
                    <a:pt x="8" y="246"/>
                  </a:lnTo>
                  <a:lnTo>
                    <a:pt x="8" y="244"/>
                  </a:lnTo>
                  <a:lnTo>
                    <a:pt x="8" y="244"/>
                  </a:lnTo>
                  <a:lnTo>
                    <a:pt x="8" y="242"/>
                  </a:lnTo>
                  <a:lnTo>
                    <a:pt x="8" y="242"/>
                  </a:lnTo>
                  <a:lnTo>
                    <a:pt x="8" y="242"/>
                  </a:lnTo>
                  <a:lnTo>
                    <a:pt x="10" y="242"/>
                  </a:lnTo>
                  <a:lnTo>
                    <a:pt x="12" y="244"/>
                  </a:lnTo>
                  <a:lnTo>
                    <a:pt x="12" y="244"/>
                  </a:lnTo>
                  <a:lnTo>
                    <a:pt x="12" y="246"/>
                  </a:lnTo>
                  <a:lnTo>
                    <a:pt x="12" y="246"/>
                  </a:lnTo>
                  <a:lnTo>
                    <a:pt x="14" y="246"/>
                  </a:lnTo>
                  <a:lnTo>
                    <a:pt x="14" y="248"/>
                  </a:lnTo>
                  <a:lnTo>
                    <a:pt x="16" y="246"/>
                  </a:lnTo>
                  <a:lnTo>
                    <a:pt x="17" y="246"/>
                  </a:lnTo>
                  <a:lnTo>
                    <a:pt x="19" y="246"/>
                  </a:lnTo>
                  <a:lnTo>
                    <a:pt x="21" y="246"/>
                  </a:lnTo>
                  <a:lnTo>
                    <a:pt x="12" y="250"/>
                  </a:lnTo>
                  <a:lnTo>
                    <a:pt x="10" y="252"/>
                  </a:lnTo>
                  <a:lnTo>
                    <a:pt x="10" y="253"/>
                  </a:lnTo>
                  <a:lnTo>
                    <a:pt x="10" y="255"/>
                  </a:lnTo>
                  <a:lnTo>
                    <a:pt x="10" y="261"/>
                  </a:lnTo>
                  <a:lnTo>
                    <a:pt x="10" y="261"/>
                  </a:lnTo>
                  <a:lnTo>
                    <a:pt x="14" y="265"/>
                  </a:lnTo>
                  <a:lnTo>
                    <a:pt x="14" y="267"/>
                  </a:lnTo>
                  <a:lnTo>
                    <a:pt x="16" y="267"/>
                  </a:lnTo>
                  <a:lnTo>
                    <a:pt x="17" y="265"/>
                  </a:lnTo>
                  <a:lnTo>
                    <a:pt x="19" y="265"/>
                  </a:lnTo>
                  <a:lnTo>
                    <a:pt x="21" y="267"/>
                  </a:lnTo>
                  <a:lnTo>
                    <a:pt x="23" y="269"/>
                  </a:lnTo>
                  <a:lnTo>
                    <a:pt x="25" y="269"/>
                  </a:lnTo>
                  <a:lnTo>
                    <a:pt x="31" y="269"/>
                  </a:lnTo>
                  <a:lnTo>
                    <a:pt x="31" y="269"/>
                  </a:lnTo>
                  <a:lnTo>
                    <a:pt x="33" y="271"/>
                  </a:lnTo>
                  <a:lnTo>
                    <a:pt x="35" y="272"/>
                  </a:lnTo>
                  <a:lnTo>
                    <a:pt x="35" y="272"/>
                  </a:lnTo>
                  <a:lnTo>
                    <a:pt x="35" y="272"/>
                  </a:lnTo>
                  <a:lnTo>
                    <a:pt x="35" y="274"/>
                  </a:lnTo>
                  <a:lnTo>
                    <a:pt x="35" y="276"/>
                  </a:lnTo>
                  <a:lnTo>
                    <a:pt x="37" y="276"/>
                  </a:lnTo>
                  <a:lnTo>
                    <a:pt x="35" y="278"/>
                  </a:lnTo>
                  <a:lnTo>
                    <a:pt x="33" y="276"/>
                  </a:lnTo>
                  <a:lnTo>
                    <a:pt x="31" y="271"/>
                  </a:lnTo>
                  <a:lnTo>
                    <a:pt x="31" y="271"/>
                  </a:lnTo>
                  <a:lnTo>
                    <a:pt x="29" y="269"/>
                  </a:lnTo>
                  <a:lnTo>
                    <a:pt x="27" y="271"/>
                  </a:lnTo>
                  <a:lnTo>
                    <a:pt x="27" y="271"/>
                  </a:lnTo>
                  <a:lnTo>
                    <a:pt x="23" y="271"/>
                  </a:lnTo>
                  <a:lnTo>
                    <a:pt x="21" y="269"/>
                  </a:lnTo>
                  <a:lnTo>
                    <a:pt x="19" y="267"/>
                  </a:lnTo>
                  <a:lnTo>
                    <a:pt x="17" y="267"/>
                  </a:lnTo>
                  <a:lnTo>
                    <a:pt x="14" y="267"/>
                  </a:lnTo>
                  <a:lnTo>
                    <a:pt x="12" y="269"/>
                  </a:lnTo>
                  <a:lnTo>
                    <a:pt x="12" y="272"/>
                  </a:lnTo>
                  <a:lnTo>
                    <a:pt x="12" y="278"/>
                  </a:lnTo>
                  <a:lnTo>
                    <a:pt x="14" y="276"/>
                  </a:lnTo>
                  <a:lnTo>
                    <a:pt x="14" y="274"/>
                  </a:lnTo>
                  <a:lnTo>
                    <a:pt x="16" y="274"/>
                  </a:lnTo>
                  <a:lnTo>
                    <a:pt x="17" y="274"/>
                  </a:lnTo>
                  <a:lnTo>
                    <a:pt x="16" y="274"/>
                  </a:lnTo>
                  <a:lnTo>
                    <a:pt x="14" y="278"/>
                  </a:lnTo>
                  <a:lnTo>
                    <a:pt x="12" y="282"/>
                  </a:lnTo>
                  <a:lnTo>
                    <a:pt x="12" y="282"/>
                  </a:lnTo>
                  <a:lnTo>
                    <a:pt x="14" y="284"/>
                  </a:lnTo>
                  <a:lnTo>
                    <a:pt x="14" y="284"/>
                  </a:lnTo>
                  <a:lnTo>
                    <a:pt x="14" y="284"/>
                  </a:lnTo>
                  <a:lnTo>
                    <a:pt x="14" y="282"/>
                  </a:lnTo>
                  <a:lnTo>
                    <a:pt x="16" y="282"/>
                  </a:lnTo>
                  <a:lnTo>
                    <a:pt x="16" y="282"/>
                  </a:lnTo>
                  <a:lnTo>
                    <a:pt x="16" y="282"/>
                  </a:lnTo>
                  <a:lnTo>
                    <a:pt x="16" y="282"/>
                  </a:lnTo>
                  <a:lnTo>
                    <a:pt x="16" y="284"/>
                  </a:lnTo>
                  <a:lnTo>
                    <a:pt x="16" y="284"/>
                  </a:lnTo>
                  <a:lnTo>
                    <a:pt x="16" y="286"/>
                  </a:lnTo>
                  <a:lnTo>
                    <a:pt x="16" y="286"/>
                  </a:lnTo>
                  <a:lnTo>
                    <a:pt x="16" y="288"/>
                  </a:lnTo>
                  <a:lnTo>
                    <a:pt x="16" y="290"/>
                  </a:lnTo>
                  <a:lnTo>
                    <a:pt x="16" y="291"/>
                  </a:lnTo>
                  <a:lnTo>
                    <a:pt x="16" y="291"/>
                  </a:lnTo>
                  <a:lnTo>
                    <a:pt x="16" y="293"/>
                  </a:lnTo>
                  <a:lnTo>
                    <a:pt x="16" y="293"/>
                  </a:lnTo>
                  <a:lnTo>
                    <a:pt x="16" y="295"/>
                  </a:lnTo>
                  <a:lnTo>
                    <a:pt x="16" y="295"/>
                  </a:lnTo>
                  <a:lnTo>
                    <a:pt x="14" y="295"/>
                  </a:lnTo>
                  <a:lnTo>
                    <a:pt x="14" y="297"/>
                  </a:lnTo>
                  <a:lnTo>
                    <a:pt x="14" y="299"/>
                  </a:lnTo>
                  <a:lnTo>
                    <a:pt x="14" y="299"/>
                  </a:lnTo>
                  <a:lnTo>
                    <a:pt x="12" y="303"/>
                  </a:lnTo>
                  <a:lnTo>
                    <a:pt x="12" y="303"/>
                  </a:lnTo>
                  <a:lnTo>
                    <a:pt x="12" y="305"/>
                  </a:lnTo>
                  <a:lnTo>
                    <a:pt x="14" y="303"/>
                  </a:lnTo>
                  <a:lnTo>
                    <a:pt x="14" y="303"/>
                  </a:lnTo>
                  <a:lnTo>
                    <a:pt x="14" y="303"/>
                  </a:lnTo>
                  <a:lnTo>
                    <a:pt x="14" y="303"/>
                  </a:lnTo>
                  <a:lnTo>
                    <a:pt x="16" y="303"/>
                  </a:lnTo>
                  <a:lnTo>
                    <a:pt x="14" y="305"/>
                  </a:lnTo>
                  <a:lnTo>
                    <a:pt x="14" y="307"/>
                  </a:lnTo>
                  <a:lnTo>
                    <a:pt x="14" y="307"/>
                  </a:lnTo>
                  <a:lnTo>
                    <a:pt x="16" y="309"/>
                  </a:lnTo>
                  <a:lnTo>
                    <a:pt x="16" y="309"/>
                  </a:lnTo>
                  <a:lnTo>
                    <a:pt x="17" y="307"/>
                  </a:lnTo>
                  <a:lnTo>
                    <a:pt x="17" y="303"/>
                  </a:lnTo>
                  <a:lnTo>
                    <a:pt x="19" y="299"/>
                  </a:lnTo>
                  <a:lnTo>
                    <a:pt x="21" y="297"/>
                  </a:lnTo>
                  <a:lnTo>
                    <a:pt x="21" y="295"/>
                  </a:lnTo>
                  <a:lnTo>
                    <a:pt x="23" y="297"/>
                  </a:lnTo>
                  <a:lnTo>
                    <a:pt x="23" y="299"/>
                  </a:lnTo>
                  <a:lnTo>
                    <a:pt x="27" y="295"/>
                  </a:lnTo>
                  <a:lnTo>
                    <a:pt x="27" y="293"/>
                  </a:lnTo>
                  <a:lnTo>
                    <a:pt x="25" y="291"/>
                  </a:lnTo>
                  <a:lnTo>
                    <a:pt x="27" y="290"/>
                  </a:lnTo>
                  <a:lnTo>
                    <a:pt x="27" y="288"/>
                  </a:lnTo>
                  <a:lnTo>
                    <a:pt x="29" y="286"/>
                  </a:lnTo>
                  <a:lnTo>
                    <a:pt x="29" y="282"/>
                  </a:lnTo>
                  <a:lnTo>
                    <a:pt x="31" y="282"/>
                  </a:lnTo>
                  <a:lnTo>
                    <a:pt x="29" y="290"/>
                  </a:lnTo>
                  <a:lnTo>
                    <a:pt x="31" y="291"/>
                  </a:lnTo>
                  <a:lnTo>
                    <a:pt x="31" y="291"/>
                  </a:lnTo>
                  <a:lnTo>
                    <a:pt x="33" y="291"/>
                  </a:lnTo>
                  <a:lnTo>
                    <a:pt x="31" y="293"/>
                  </a:lnTo>
                  <a:lnTo>
                    <a:pt x="31" y="295"/>
                  </a:lnTo>
                  <a:lnTo>
                    <a:pt x="31" y="297"/>
                  </a:lnTo>
                  <a:lnTo>
                    <a:pt x="31" y="299"/>
                  </a:lnTo>
                  <a:lnTo>
                    <a:pt x="35" y="297"/>
                  </a:lnTo>
                  <a:lnTo>
                    <a:pt x="37" y="297"/>
                  </a:lnTo>
                  <a:lnTo>
                    <a:pt x="38" y="297"/>
                  </a:lnTo>
                  <a:lnTo>
                    <a:pt x="37" y="299"/>
                  </a:lnTo>
                  <a:lnTo>
                    <a:pt x="37" y="299"/>
                  </a:lnTo>
                  <a:lnTo>
                    <a:pt x="33" y="299"/>
                  </a:lnTo>
                  <a:lnTo>
                    <a:pt x="29" y="301"/>
                  </a:lnTo>
                  <a:lnTo>
                    <a:pt x="29" y="301"/>
                  </a:lnTo>
                  <a:lnTo>
                    <a:pt x="29" y="301"/>
                  </a:lnTo>
                  <a:lnTo>
                    <a:pt x="31" y="301"/>
                  </a:lnTo>
                  <a:lnTo>
                    <a:pt x="31" y="303"/>
                  </a:lnTo>
                  <a:lnTo>
                    <a:pt x="29" y="303"/>
                  </a:lnTo>
                  <a:lnTo>
                    <a:pt x="27" y="303"/>
                  </a:lnTo>
                  <a:lnTo>
                    <a:pt x="27" y="303"/>
                  </a:lnTo>
                  <a:lnTo>
                    <a:pt x="27" y="307"/>
                  </a:lnTo>
                  <a:lnTo>
                    <a:pt x="25" y="307"/>
                  </a:lnTo>
                  <a:lnTo>
                    <a:pt x="25" y="305"/>
                  </a:lnTo>
                  <a:lnTo>
                    <a:pt x="23" y="309"/>
                  </a:lnTo>
                  <a:lnTo>
                    <a:pt x="25" y="310"/>
                  </a:lnTo>
                  <a:lnTo>
                    <a:pt x="27" y="312"/>
                  </a:lnTo>
                  <a:lnTo>
                    <a:pt x="29" y="310"/>
                  </a:lnTo>
                  <a:lnTo>
                    <a:pt x="29" y="310"/>
                  </a:lnTo>
                  <a:lnTo>
                    <a:pt x="29" y="310"/>
                  </a:lnTo>
                  <a:lnTo>
                    <a:pt x="31" y="310"/>
                  </a:lnTo>
                  <a:lnTo>
                    <a:pt x="31" y="310"/>
                  </a:lnTo>
                  <a:lnTo>
                    <a:pt x="31" y="310"/>
                  </a:lnTo>
                  <a:lnTo>
                    <a:pt x="31" y="312"/>
                  </a:lnTo>
                  <a:lnTo>
                    <a:pt x="31" y="312"/>
                  </a:lnTo>
                  <a:lnTo>
                    <a:pt x="31" y="312"/>
                  </a:lnTo>
                  <a:lnTo>
                    <a:pt x="31" y="314"/>
                  </a:lnTo>
                  <a:lnTo>
                    <a:pt x="31" y="316"/>
                  </a:lnTo>
                  <a:lnTo>
                    <a:pt x="35" y="316"/>
                  </a:lnTo>
                  <a:lnTo>
                    <a:pt x="33" y="318"/>
                  </a:lnTo>
                  <a:lnTo>
                    <a:pt x="33" y="320"/>
                  </a:lnTo>
                  <a:lnTo>
                    <a:pt x="31" y="322"/>
                  </a:lnTo>
                  <a:lnTo>
                    <a:pt x="33" y="324"/>
                  </a:lnTo>
                  <a:lnTo>
                    <a:pt x="31" y="324"/>
                  </a:lnTo>
                  <a:lnTo>
                    <a:pt x="29" y="324"/>
                  </a:lnTo>
                  <a:lnTo>
                    <a:pt x="29" y="322"/>
                  </a:lnTo>
                  <a:lnTo>
                    <a:pt x="31" y="320"/>
                  </a:lnTo>
                  <a:lnTo>
                    <a:pt x="27" y="316"/>
                  </a:lnTo>
                  <a:lnTo>
                    <a:pt x="25" y="314"/>
                  </a:lnTo>
                  <a:lnTo>
                    <a:pt x="25" y="318"/>
                  </a:lnTo>
                  <a:lnTo>
                    <a:pt x="23" y="318"/>
                  </a:lnTo>
                  <a:lnTo>
                    <a:pt x="21" y="316"/>
                  </a:lnTo>
                  <a:lnTo>
                    <a:pt x="21" y="316"/>
                  </a:lnTo>
                  <a:lnTo>
                    <a:pt x="19" y="318"/>
                  </a:lnTo>
                  <a:lnTo>
                    <a:pt x="19" y="320"/>
                  </a:lnTo>
                  <a:lnTo>
                    <a:pt x="19" y="320"/>
                  </a:lnTo>
                  <a:lnTo>
                    <a:pt x="19" y="326"/>
                  </a:lnTo>
                  <a:lnTo>
                    <a:pt x="19" y="330"/>
                  </a:lnTo>
                  <a:lnTo>
                    <a:pt x="19" y="333"/>
                  </a:lnTo>
                  <a:lnTo>
                    <a:pt x="21" y="333"/>
                  </a:lnTo>
                  <a:lnTo>
                    <a:pt x="23" y="339"/>
                  </a:lnTo>
                  <a:lnTo>
                    <a:pt x="25" y="341"/>
                  </a:lnTo>
                  <a:lnTo>
                    <a:pt x="25" y="341"/>
                  </a:lnTo>
                  <a:lnTo>
                    <a:pt x="29" y="341"/>
                  </a:lnTo>
                  <a:lnTo>
                    <a:pt x="29" y="341"/>
                  </a:lnTo>
                  <a:lnTo>
                    <a:pt x="29" y="343"/>
                  </a:lnTo>
                  <a:lnTo>
                    <a:pt x="31" y="345"/>
                  </a:lnTo>
                  <a:lnTo>
                    <a:pt x="31" y="347"/>
                  </a:lnTo>
                  <a:lnTo>
                    <a:pt x="31" y="349"/>
                  </a:lnTo>
                  <a:lnTo>
                    <a:pt x="33" y="349"/>
                  </a:lnTo>
                  <a:lnTo>
                    <a:pt x="35" y="350"/>
                  </a:lnTo>
                  <a:lnTo>
                    <a:pt x="33" y="352"/>
                  </a:lnTo>
                  <a:lnTo>
                    <a:pt x="31" y="350"/>
                  </a:lnTo>
                  <a:lnTo>
                    <a:pt x="29" y="345"/>
                  </a:lnTo>
                  <a:lnTo>
                    <a:pt x="27" y="343"/>
                  </a:lnTo>
                  <a:lnTo>
                    <a:pt x="25" y="343"/>
                  </a:lnTo>
                  <a:lnTo>
                    <a:pt x="23" y="345"/>
                  </a:lnTo>
                  <a:lnTo>
                    <a:pt x="23" y="347"/>
                  </a:lnTo>
                  <a:lnTo>
                    <a:pt x="23" y="349"/>
                  </a:lnTo>
                  <a:lnTo>
                    <a:pt x="23" y="352"/>
                  </a:lnTo>
                  <a:lnTo>
                    <a:pt x="23" y="354"/>
                  </a:lnTo>
                  <a:lnTo>
                    <a:pt x="23" y="354"/>
                  </a:lnTo>
                  <a:lnTo>
                    <a:pt x="23" y="356"/>
                  </a:lnTo>
                  <a:lnTo>
                    <a:pt x="25" y="356"/>
                  </a:lnTo>
                  <a:lnTo>
                    <a:pt x="25" y="358"/>
                  </a:lnTo>
                  <a:lnTo>
                    <a:pt x="25" y="358"/>
                  </a:lnTo>
                  <a:lnTo>
                    <a:pt x="25" y="360"/>
                  </a:lnTo>
                  <a:lnTo>
                    <a:pt x="25" y="360"/>
                  </a:lnTo>
                  <a:lnTo>
                    <a:pt x="25" y="360"/>
                  </a:lnTo>
                  <a:lnTo>
                    <a:pt x="25" y="360"/>
                  </a:lnTo>
                  <a:lnTo>
                    <a:pt x="25" y="360"/>
                  </a:lnTo>
                  <a:lnTo>
                    <a:pt x="25" y="360"/>
                  </a:lnTo>
                  <a:lnTo>
                    <a:pt x="27" y="362"/>
                  </a:lnTo>
                  <a:lnTo>
                    <a:pt x="29" y="364"/>
                  </a:lnTo>
                  <a:lnTo>
                    <a:pt x="29" y="364"/>
                  </a:lnTo>
                  <a:lnTo>
                    <a:pt x="31" y="364"/>
                  </a:lnTo>
                  <a:lnTo>
                    <a:pt x="29" y="366"/>
                  </a:lnTo>
                  <a:lnTo>
                    <a:pt x="31" y="368"/>
                  </a:lnTo>
                  <a:lnTo>
                    <a:pt x="33" y="368"/>
                  </a:lnTo>
                  <a:lnTo>
                    <a:pt x="35" y="368"/>
                  </a:lnTo>
                  <a:lnTo>
                    <a:pt x="37" y="368"/>
                  </a:lnTo>
                  <a:lnTo>
                    <a:pt x="38" y="368"/>
                  </a:lnTo>
                  <a:lnTo>
                    <a:pt x="38" y="369"/>
                  </a:lnTo>
                  <a:lnTo>
                    <a:pt x="38" y="371"/>
                  </a:lnTo>
                  <a:lnTo>
                    <a:pt x="40" y="373"/>
                  </a:lnTo>
                  <a:lnTo>
                    <a:pt x="38" y="375"/>
                  </a:lnTo>
                  <a:lnTo>
                    <a:pt x="38" y="377"/>
                  </a:lnTo>
                  <a:lnTo>
                    <a:pt x="37" y="377"/>
                  </a:lnTo>
                  <a:lnTo>
                    <a:pt x="37" y="375"/>
                  </a:lnTo>
                  <a:lnTo>
                    <a:pt x="38" y="375"/>
                  </a:lnTo>
                  <a:lnTo>
                    <a:pt x="37" y="373"/>
                  </a:lnTo>
                  <a:lnTo>
                    <a:pt x="35" y="373"/>
                  </a:lnTo>
                  <a:lnTo>
                    <a:pt x="35" y="371"/>
                  </a:lnTo>
                  <a:lnTo>
                    <a:pt x="33" y="371"/>
                  </a:lnTo>
                  <a:lnTo>
                    <a:pt x="31" y="371"/>
                  </a:lnTo>
                  <a:lnTo>
                    <a:pt x="31" y="371"/>
                  </a:lnTo>
                  <a:lnTo>
                    <a:pt x="31" y="371"/>
                  </a:lnTo>
                  <a:lnTo>
                    <a:pt x="29" y="371"/>
                  </a:lnTo>
                  <a:lnTo>
                    <a:pt x="29" y="369"/>
                  </a:lnTo>
                  <a:lnTo>
                    <a:pt x="29" y="369"/>
                  </a:lnTo>
                  <a:lnTo>
                    <a:pt x="29" y="368"/>
                  </a:lnTo>
                  <a:lnTo>
                    <a:pt x="27" y="368"/>
                  </a:lnTo>
                  <a:lnTo>
                    <a:pt x="27" y="369"/>
                  </a:lnTo>
                  <a:lnTo>
                    <a:pt x="27" y="369"/>
                  </a:lnTo>
                  <a:lnTo>
                    <a:pt x="27" y="371"/>
                  </a:lnTo>
                  <a:lnTo>
                    <a:pt x="27" y="371"/>
                  </a:lnTo>
                  <a:lnTo>
                    <a:pt x="27" y="371"/>
                  </a:lnTo>
                  <a:lnTo>
                    <a:pt x="25" y="373"/>
                  </a:lnTo>
                  <a:lnTo>
                    <a:pt x="29" y="375"/>
                  </a:lnTo>
                  <a:lnTo>
                    <a:pt x="29" y="377"/>
                  </a:lnTo>
                  <a:lnTo>
                    <a:pt x="31" y="385"/>
                  </a:lnTo>
                  <a:lnTo>
                    <a:pt x="31" y="385"/>
                  </a:lnTo>
                  <a:lnTo>
                    <a:pt x="31" y="385"/>
                  </a:lnTo>
                  <a:lnTo>
                    <a:pt x="31" y="387"/>
                  </a:lnTo>
                  <a:lnTo>
                    <a:pt x="31" y="387"/>
                  </a:lnTo>
                  <a:lnTo>
                    <a:pt x="31" y="387"/>
                  </a:lnTo>
                  <a:lnTo>
                    <a:pt x="31" y="388"/>
                  </a:lnTo>
                  <a:lnTo>
                    <a:pt x="31" y="388"/>
                  </a:lnTo>
                  <a:lnTo>
                    <a:pt x="33" y="390"/>
                  </a:lnTo>
                  <a:lnTo>
                    <a:pt x="33" y="392"/>
                  </a:lnTo>
                  <a:lnTo>
                    <a:pt x="35" y="390"/>
                  </a:lnTo>
                  <a:lnTo>
                    <a:pt x="35" y="390"/>
                  </a:lnTo>
                  <a:lnTo>
                    <a:pt x="35" y="388"/>
                  </a:lnTo>
                  <a:lnTo>
                    <a:pt x="37" y="388"/>
                  </a:lnTo>
                  <a:lnTo>
                    <a:pt x="37" y="390"/>
                  </a:lnTo>
                  <a:lnTo>
                    <a:pt x="37" y="392"/>
                  </a:lnTo>
                  <a:lnTo>
                    <a:pt x="35" y="392"/>
                  </a:lnTo>
                  <a:lnTo>
                    <a:pt x="33" y="392"/>
                  </a:lnTo>
                  <a:lnTo>
                    <a:pt x="33" y="394"/>
                  </a:lnTo>
                  <a:lnTo>
                    <a:pt x="33" y="396"/>
                  </a:lnTo>
                  <a:lnTo>
                    <a:pt x="35" y="396"/>
                  </a:lnTo>
                  <a:lnTo>
                    <a:pt x="37" y="396"/>
                  </a:lnTo>
                  <a:lnTo>
                    <a:pt x="35" y="398"/>
                  </a:lnTo>
                  <a:lnTo>
                    <a:pt x="35" y="400"/>
                  </a:lnTo>
                  <a:lnTo>
                    <a:pt x="38" y="407"/>
                  </a:lnTo>
                  <a:lnTo>
                    <a:pt x="40" y="409"/>
                  </a:lnTo>
                  <a:lnTo>
                    <a:pt x="40" y="413"/>
                  </a:lnTo>
                  <a:lnTo>
                    <a:pt x="40" y="413"/>
                  </a:lnTo>
                  <a:lnTo>
                    <a:pt x="42" y="415"/>
                  </a:lnTo>
                  <a:lnTo>
                    <a:pt x="42" y="417"/>
                  </a:lnTo>
                  <a:lnTo>
                    <a:pt x="42" y="419"/>
                  </a:lnTo>
                  <a:lnTo>
                    <a:pt x="44" y="419"/>
                  </a:lnTo>
                  <a:lnTo>
                    <a:pt x="44" y="421"/>
                  </a:lnTo>
                  <a:lnTo>
                    <a:pt x="44" y="423"/>
                  </a:lnTo>
                  <a:lnTo>
                    <a:pt x="44" y="423"/>
                  </a:lnTo>
                  <a:lnTo>
                    <a:pt x="42" y="425"/>
                  </a:lnTo>
                  <a:lnTo>
                    <a:pt x="42" y="425"/>
                  </a:lnTo>
                  <a:lnTo>
                    <a:pt x="42" y="427"/>
                  </a:lnTo>
                  <a:lnTo>
                    <a:pt x="44" y="428"/>
                  </a:lnTo>
                  <a:lnTo>
                    <a:pt x="44" y="428"/>
                  </a:lnTo>
                  <a:lnTo>
                    <a:pt x="44" y="430"/>
                  </a:lnTo>
                  <a:lnTo>
                    <a:pt x="44" y="432"/>
                  </a:lnTo>
                  <a:lnTo>
                    <a:pt x="44" y="432"/>
                  </a:lnTo>
                  <a:lnTo>
                    <a:pt x="46" y="434"/>
                  </a:lnTo>
                  <a:lnTo>
                    <a:pt x="46" y="434"/>
                  </a:lnTo>
                  <a:lnTo>
                    <a:pt x="50" y="434"/>
                  </a:lnTo>
                  <a:lnTo>
                    <a:pt x="52" y="436"/>
                  </a:lnTo>
                  <a:lnTo>
                    <a:pt x="48" y="438"/>
                  </a:lnTo>
                  <a:lnTo>
                    <a:pt x="46" y="438"/>
                  </a:lnTo>
                  <a:lnTo>
                    <a:pt x="46" y="438"/>
                  </a:lnTo>
                  <a:lnTo>
                    <a:pt x="44" y="438"/>
                  </a:lnTo>
                  <a:lnTo>
                    <a:pt x="44" y="438"/>
                  </a:lnTo>
                  <a:lnTo>
                    <a:pt x="44" y="440"/>
                  </a:lnTo>
                  <a:lnTo>
                    <a:pt x="48" y="444"/>
                  </a:lnTo>
                  <a:lnTo>
                    <a:pt x="50" y="446"/>
                  </a:lnTo>
                  <a:lnTo>
                    <a:pt x="48" y="447"/>
                  </a:lnTo>
                  <a:lnTo>
                    <a:pt x="50" y="449"/>
                  </a:lnTo>
                  <a:lnTo>
                    <a:pt x="50" y="451"/>
                  </a:lnTo>
                  <a:lnTo>
                    <a:pt x="48" y="453"/>
                  </a:lnTo>
                  <a:lnTo>
                    <a:pt x="48" y="453"/>
                  </a:lnTo>
                  <a:lnTo>
                    <a:pt x="48" y="455"/>
                  </a:lnTo>
                  <a:lnTo>
                    <a:pt x="50" y="457"/>
                  </a:lnTo>
                  <a:lnTo>
                    <a:pt x="52" y="459"/>
                  </a:lnTo>
                  <a:lnTo>
                    <a:pt x="54" y="463"/>
                  </a:lnTo>
                  <a:lnTo>
                    <a:pt x="56" y="465"/>
                  </a:lnTo>
                  <a:lnTo>
                    <a:pt x="54" y="465"/>
                  </a:lnTo>
                  <a:lnTo>
                    <a:pt x="52" y="465"/>
                  </a:lnTo>
                  <a:lnTo>
                    <a:pt x="52" y="463"/>
                  </a:lnTo>
                  <a:lnTo>
                    <a:pt x="50" y="463"/>
                  </a:lnTo>
                  <a:lnTo>
                    <a:pt x="50" y="465"/>
                  </a:lnTo>
                  <a:lnTo>
                    <a:pt x="52" y="466"/>
                  </a:lnTo>
                  <a:lnTo>
                    <a:pt x="52" y="466"/>
                  </a:lnTo>
                  <a:lnTo>
                    <a:pt x="52" y="468"/>
                  </a:lnTo>
                  <a:lnTo>
                    <a:pt x="54" y="470"/>
                  </a:lnTo>
                  <a:lnTo>
                    <a:pt x="54" y="472"/>
                  </a:lnTo>
                  <a:lnTo>
                    <a:pt x="56" y="476"/>
                  </a:lnTo>
                  <a:lnTo>
                    <a:pt x="57" y="478"/>
                  </a:lnTo>
                  <a:lnTo>
                    <a:pt x="57" y="480"/>
                  </a:lnTo>
                  <a:lnTo>
                    <a:pt x="56" y="480"/>
                  </a:lnTo>
                  <a:lnTo>
                    <a:pt x="57" y="482"/>
                  </a:lnTo>
                  <a:lnTo>
                    <a:pt x="57" y="484"/>
                  </a:lnTo>
                  <a:lnTo>
                    <a:pt x="57" y="487"/>
                  </a:lnTo>
                  <a:lnTo>
                    <a:pt x="57" y="489"/>
                  </a:lnTo>
                  <a:lnTo>
                    <a:pt x="56" y="487"/>
                  </a:lnTo>
                  <a:lnTo>
                    <a:pt x="56" y="487"/>
                  </a:lnTo>
                  <a:lnTo>
                    <a:pt x="56" y="489"/>
                  </a:lnTo>
                  <a:lnTo>
                    <a:pt x="57" y="491"/>
                  </a:lnTo>
                  <a:lnTo>
                    <a:pt x="56" y="491"/>
                  </a:lnTo>
                  <a:lnTo>
                    <a:pt x="57" y="493"/>
                  </a:lnTo>
                  <a:lnTo>
                    <a:pt x="59" y="493"/>
                  </a:lnTo>
                  <a:lnTo>
                    <a:pt x="57" y="497"/>
                  </a:lnTo>
                  <a:lnTo>
                    <a:pt x="57" y="497"/>
                  </a:lnTo>
                  <a:lnTo>
                    <a:pt x="57" y="499"/>
                  </a:lnTo>
                  <a:lnTo>
                    <a:pt x="57" y="503"/>
                  </a:lnTo>
                  <a:lnTo>
                    <a:pt x="57" y="503"/>
                  </a:lnTo>
                  <a:lnTo>
                    <a:pt x="57" y="504"/>
                  </a:lnTo>
                  <a:lnTo>
                    <a:pt x="57" y="506"/>
                  </a:lnTo>
                  <a:lnTo>
                    <a:pt x="59" y="510"/>
                  </a:lnTo>
                  <a:lnTo>
                    <a:pt x="59" y="510"/>
                  </a:lnTo>
                  <a:lnTo>
                    <a:pt x="61" y="510"/>
                  </a:lnTo>
                  <a:lnTo>
                    <a:pt x="61" y="512"/>
                  </a:lnTo>
                  <a:lnTo>
                    <a:pt x="59" y="514"/>
                  </a:lnTo>
                  <a:lnTo>
                    <a:pt x="59" y="518"/>
                  </a:lnTo>
                  <a:lnTo>
                    <a:pt x="59" y="520"/>
                  </a:lnTo>
                  <a:lnTo>
                    <a:pt x="61" y="522"/>
                  </a:lnTo>
                  <a:lnTo>
                    <a:pt x="63" y="522"/>
                  </a:lnTo>
                  <a:lnTo>
                    <a:pt x="63" y="524"/>
                  </a:lnTo>
                  <a:lnTo>
                    <a:pt x="63" y="524"/>
                  </a:lnTo>
                  <a:lnTo>
                    <a:pt x="61" y="525"/>
                  </a:lnTo>
                  <a:lnTo>
                    <a:pt x="61" y="525"/>
                  </a:lnTo>
                  <a:lnTo>
                    <a:pt x="61" y="525"/>
                  </a:lnTo>
                  <a:lnTo>
                    <a:pt x="63" y="529"/>
                  </a:lnTo>
                  <a:lnTo>
                    <a:pt x="63" y="527"/>
                  </a:lnTo>
                  <a:lnTo>
                    <a:pt x="65" y="527"/>
                  </a:lnTo>
                  <a:lnTo>
                    <a:pt x="67" y="527"/>
                  </a:lnTo>
                  <a:lnTo>
                    <a:pt x="67" y="529"/>
                  </a:lnTo>
                  <a:lnTo>
                    <a:pt x="67" y="531"/>
                  </a:lnTo>
                  <a:lnTo>
                    <a:pt x="67" y="531"/>
                  </a:lnTo>
                  <a:lnTo>
                    <a:pt x="65" y="531"/>
                  </a:lnTo>
                  <a:lnTo>
                    <a:pt x="65" y="529"/>
                  </a:lnTo>
                  <a:lnTo>
                    <a:pt x="63" y="529"/>
                  </a:lnTo>
                  <a:lnTo>
                    <a:pt x="63" y="529"/>
                  </a:lnTo>
                  <a:lnTo>
                    <a:pt x="61" y="531"/>
                  </a:lnTo>
                  <a:lnTo>
                    <a:pt x="61" y="531"/>
                  </a:lnTo>
                  <a:lnTo>
                    <a:pt x="61" y="531"/>
                  </a:lnTo>
                  <a:lnTo>
                    <a:pt x="61" y="531"/>
                  </a:lnTo>
                  <a:lnTo>
                    <a:pt x="63" y="533"/>
                  </a:lnTo>
                  <a:lnTo>
                    <a:pt x="63" y="533"/>
                  </a:lnTo>
                  <a:lnTo>
                    <a:pt x="65" y="535"/>
                  </a:lnTo>
                  <a:lnTo>
                    <a:pt x="67" y="535"/>
                  </a:lnTo>
                  <a:lnTo>
                    <a:pt x="67" y="535"/>
                  </a:lnTo>
                  <a:lnTo>
                    <a:pt x="65" y="537"/>
                  </a:lnTo>
                  <a:lnTo>
                    <a:pt x="65" y="537"/>
                  </a:lnTo>
                  <a:lnTo>
                    <a:pt x="65" y="537"/>
                  </a:lnTo>
                  <a:lnTo>
                    <a:pt x="65" y="537"/>
                  </a:lnTo>
                  <a:lnTo>
                    <a:pt x="67" y="539"/>
                  </a:lnTo>
                  <a:lnTo>
                    <a:pt x="67" y="539"/>
                  </a:lnTo>
                  <a:lnTo>
                    <a:pt x="65" y="539"/>
                  </a:lnTo>
                  <a:lnTo>
                    <a:pt x="65" y="539"/>
                  </a:lnTo>
                  <a:lnTo>
                    <a:pt x="63" y="535"/>
                  </a:lnTo>
                  <a:lnTo>
                    <a:pt x="63" y="535"/>
                  </a:lnTo>
                  <a:lnTo>
                    <a:pt x="61" y="535"/>
                  </a:lnTo>
                  <a:lnTo>
                    <a:pt x="61" y="535"/>
                  </a:lnTo>
                  <a:lnTo>
                    <a:pt x="61" y="535"/>
                  </a:lnTo>
                  <a:lnTo>
                    <a:pt x="61" y="537"/>
                  </a:lnTo>
                  <a:lnTo>
                    <a:pt x="61" y="539"/>
                  </a:lnTo>
                  <a:lnTo>
                    <a:pt x="61" y="539"/>
                  </a:lnTo>
                  <a:lnTo>
                    <a:pt x="61" y="539"/>
                  </a:lnTo>
                  <a:lnTo>
                    <a:pt x="63" y="543"/>
                  </a:lnTo>
                  <a:lnTo>
                    <a:pt x="63" y="546"/>
                  </a:lnTo>
                  <a:lnTo>
                    <a:pt x="65" y="548"/>
                  </a:lnTo>
                  <a:lnTo>
                    <a:pt x="67" y="548"/>
                  </a:lnTo>
                  <a:lnTo>
                    <a:pt x="69" y="550"/>
                  </a:lnTo>
                  <a:lnTo>
                    <a:pt x="67" y="550"/>
                  </a:lnTo>
                  <a:lnTo>
                    <a:pt x="67" y="550"/>
                  </a:lnTo>
                  <a:lnTo>
                    <a:pt x="65" y="552"/>
                  </a:lnTo>
                  <a:lnTo>
                    <a:pt x="65" y="552"/>
                  </a:lnTo>
                  <a:lnTo>
                    <a:pt x="67" y="554"/>
                  </a:lnTo>
                  <a:lnTo>
                    <a:pt x="67" y="554"/>
                  </a:lnTo>
                  <a:lnTo>
                    <a:pt x="67" y="556"/>
                  </a:lnTo>
                  <a:lnTo>
                    <a:pt x="67" y="556"/>
                  </a:lnTo>
                  <a:lnTo>
                    <a:pt x="71" y="563"/>
                  </a:lnTo>
                  <a:lnTo>
                    <a:pt x="71" y="565"/>
                  </a:lnTo>
                  <a:lnTo>
                    <a:pt x="71" y="567"/>
                  </a:lnTo>
                  <a:lnTo>
                    <a:pt x="71" y="567"/>
                  </a:lnTo>
                  <a:lnTo>
                    <a:pt x="73" y="567"/>
                  </a:lnTo>
                  <a:lnTo>
                    <a:pt x="73" y="567"/>
                  </a:lnTo>
                  <a:lnTo>
                    <a:pt x="73" y="567"/>
                  </a:lnTo>
                  <a:lnTo>
                    <a:pt x="73" y="569"/>
                  </a:lnTo>
                  <a:lnTo>
                    <a:pt x="73" y="573"/>
                  </a:lnTo>
                  <a:lnTo>
                    <a:pt x="75" y="577"/>
                  </a:lnTo>
                  <a:lnTo>
                    <a:pt x="75" y="575"/>
                  </a:lnTo>
                  <a:lnTo>
                    <a:pt x="75" y="573"/>
                  </a:lnTo>
                  <a:lnTo>
                    <a:pt x="75" y="571"/>
                  </a:lnTo>
                  <a:lnTo>
                    <a:pt x="78" y="569"/>
                  </a:lnTo>
                  <a:lnTo>
                    <a:pt x="77" y="571"/>
                  </a:lnTo>
                  <a:lnTo>
                    <a:pt x="77" y="571"/>
                  </a:lnTo>
                  <a:lnTo>
                    <a:pt x="75" y="573"/>
                  </a:lnTo>
                  <a:lnTo>
                    <a:pt x="75" y="575"/>
                  </a:lnTo>
                  <a:lnTo>
                    <a:pt x="75" y="581"/>
                  </a:lnTo>
                  <a:lnTo>
                    <a:pt x="75" y="581"/>
                  </a:lnTo>
                  <a:lnTo>
                    <a:pt x="75" y="581"/>
                  </a:lnTo>
                  <a:lnTo>
                    <a:pt x="75" y="582"/>
                  </a:lnTo>
                  <a:lnTo>
                    <a:pt x="75" y="582"/>
                  </a:lnTo>
                  <a:lnTo>
                    <a:pt x="75" y="582"/>
                  </a:lnTo>
                  <a:lnTo>
                    <a:pt x="75" y="582"/>
                  </a:lnTo>
                  <a:lnTo>
                    <a:pt x="77" y="584"/>
                  </a:lnTo>
                  <a:lnTo>
                    <a:pt x="77" y="584"/>
                  </a:lnTo>
                  <a:lnTo>
                    <a:pt x="77" y="586"/>
                  </a:lnTo>
                  <a:lnTo>
                    <a:pt x="78" y="586"/>
                  </a:lnTo>
                  <a:lnTo>
                    <a:pt x="80" y="586"/>
                  </a:lnTo>
                  <a:lnTo>
                    <a:pt x="80" y="586"/>
                  </a:lnTo>
                  <a:lnTo>
                    <a:pt x="78" y="586"/>
                  </a:lnTo>
                  <a:lnTo>
                    <a:pt x="78" y="588"/>
                  </a:lnTo>
                  <a:lnTo>
                    <a:pt x="80" y="592"/>
                  </a:lnTo>
                  <a:lnTo>
                    <a:pt x="82" y="594"/>
                  </a:lnTo>
                  <a:lnTo>
                    <a:pt x="86" y="598"/>
                  </a:lnTo>
                  <a:lnTo>
                    <a:pt x="88" y="600"/>
                  </a:lnTo>
                  <a:lnTo>
                    <a:pt x="92" y="605"/>
                  </a:lnTo>
                  <a:lnTo>
                    <a:pt x="92" y="607"/>
                  </a:lnTo>
                  <a:lnTo>
                    <a:pt x="92" y="613"/>
                  </a:lnTo>
                  <a:lnTo>
                    <a:pt x="92" y="613"/>
                  </a:lnTo>
                  <a:lnTo>
                    <a:pt x="94" y="615"/>
                  </a:lnTo>
                  <a:lnTo>
                    <a:pt x="96" y="615"/>
                  </a:lnTo>
                  <a:lnTo>
                    <a:pt x="96" y="615"/>
                  </a:lnTo>
                  <a:lnTo>
                    <a:pt x="98" y="615"/>
                  </a:lnTo>
                  <a:lnTo>
                    <a:pt x="99" y="613"/>
                  </a:lnTo>
                  <a:lnTo>
                    <a:pt x="103" y="613"/>
                  </a:lnTo>
                  <a:lnTo>
                    <a:pt x="105" y="613"/>
                  </a:lnTo>
                  <a:lnTo>
                    <a:pt x="105" y="613"/>
                  </a:lnTo>
                  <a:lnTo>
                    <a:pt x="107" y="613"/>
                  </a:lnTo>
                  <a:lnTo>
                    <a:pt x="107" y="609"/>
                  </a:lnTo>
                  <a:lnTo>
                    <a:pt x="109" y="609"/>
                  </a:lnTo>
                  <a:lnTo>
                    <a:pt x="109" y="609"/>
                  </a:lnTo>
                  <a:lnTo>
                    <a:pt x="109" y="609"/>
                  </a:lnTo>
                  <a:lnTo>
                    <a:pt x="109" y="609"/>
                  </a:lnTo>
                  <a:lnTo>
                    <a:pt x="111" y="611"/>
                  </a:lnTo>
                  <a:lnTo>
                    <a:pt x="111" y="611"/>
                  </a:lnTo>
                  <a:lnTo>
                    <a:pt x="111" y="613"/>
                  </a:lnTo>
                  <a:lnTo>
                    <a:pt x="111" y="613"/>
                  </a:lnTo>
                  <a:lnTo>
                    <a:pt x="111" y="613"/>
                  </a:lnTo>
                  <a:lnTo>
                    <a:pt x="113" y="613"/>
                  </a:lnTo>
                  <a:lnTo>
                    <a:pt x="115" y="613"/>
                  </a:lnTo>
                  <a:lnTo>
                    <a:pt x="117" y="615"/>
                  </a:lnTo>
                  <a:lnTo>
                    <a:pt x="117" y="615"/>
                  </a:lnTo>
                  <a:lnTo>
                    <a:pt x="117" y="617"/>
                  </a:lnTo>
                  <a:lnTo>
                    <a:pt x="118" y="620"/>
                  </a:lnTo>
                  <a:lnTo>
                    <a:pt x="118" y="622"/>
                  </a:lnTo>
                  <a:lnTo>
                    <a:pt x="120" y="622"/>
                  </a:lnTo>
                  <a:lnTo>
                    <a:pt x="122" y="624"/>
                  </a:lnTo>
                  <a:lnTo>
                    <a:pt x="122" y="624"/>
                  </a:lnTo>
                  <a:lnTo>
                    <a:pt x="124" y="624"/>
                  </a:lnTo>
                  <a:lnTo>
                    <a:pt x="126" y="624"/>
                  </a:lnTo>
                  <a:lnTo>
                    <a:pt x="130" y="622"/>
                  </a:lnTo>
                  <a:lnTo>
                    <a:pt x="134" y="622"/>
                  </a:lnTo>
                  <a:lnTo>
                    <a:pt x="134" y="620"/>
                  </a:lnTo>
                  <a:lnTo>
                    <a:pt x="134" y="620"/>
                  </a:lnTo>
                  <a:lnTo>
                    <a:pt x="134" y="620"/>
                  </a:lnTo>
                  <a:lnTo>
                    <a:pt x="134" y="619"/>
                  </a:lnTo>
                  <a:lnTo>
                    <a:pt x="136" y="619"/>
                  </a:lnTo>
                  <a:lnTo>
                    <a:pt x="136" y="619"/>
                  </a:lnTo>
                  <a:lnTo>
                    <a:pt x="136" y="619"/>
                  </a:lnTo>
                  <a:lnTo>
                    <a:pt x="136" y="615"/>
                  </a:lnTo>
                  <a:lnTo>
                    <a:pt x="138" y="615"/>
                  </a:lnTo>
                  <a:lnTo>
                    <a:pt x="141" y="611"/>
                  </a:lnTo>
                  <a:lnTo>
                    <a:pt x="143" y="611"/>
                  </a:lnTo>
                  <a:lnTo>
                    <a:pt x="143" y="611"/>
                  </a:lnTo>
                  <a:lnTo>
                    <a:pt x="145" y="611"/>
                  </a:lnTo>
                  <a:lnTo>
                    <a:pt x="145" y="611"/>
                  </a:lnTo>
                  <a:lnTo>
                    <a:pt x="145" y="611"/>
                  </a:lnTo>
                  <a:lnTo>
                    <a:pt x="145" y="613"/>
                  </a:lnTo>
                  <a:lnTo>
                    <a:pt x="145" y="613"/>
                  </a:lnTo>
                  <a:lnTo>
                    <a:pt x="145" y="613"/>
                  </a:lnTo>
                  <a:lnTo>
                    <a:pt x="145" y="615"/>
                  </a:lnTo>
                  <a:lnTo>
                    <a:pt x="145" y="615"/>
                  </a:lnTo>
                  <a:lnTo>
                    <a:pt x="145" y="615"/>
                  </a:lnTo>
                  <a:lnTo>
                    <a:pt x="145" y="615"/>
                  </a:lnTo>
                  <a:lnTo>
                    <a:pt x="149" y="615"/>
                  </a:lnTo>
                  <a:lnTo>
                    <a:pt x="151" y="615"/>
                  </a:lnTo>
                  <a:lnTo>
                    <a:pt x="153" y="613"/>
                  </a:lnTo>
                  <a:lnTo>
                    <a:pt x="153" y="613"/>
                  </a:lnTo>
                  <a:lnTo>
                    <a:pt x="155" y="611"/>
                  </a:lnTo>
                  <a:lnTo>
                    <a:pt x="155" y="611"/>
                  </a:lnTo>
                  <a:lnTo>
                    <a:pt x="157" y="609"/>
                  </a:lnTo>
                  <a:lnTo>
                    <a:pt x="158" y="605"/>
                  </a:lnTo>
                  <a:lnTo>
                    <a:pt x="158" y="603"/>
                  </a:lnTo>
                  <a:lnTo>
                    <a:pt x="158" y="603"/>
                  </a:lnTo>
                  <a:lnTo>
                    <a:pt x="158" y="601"/>
                  </a:lnTo>
                  <a:lnTo>
                    <a:pt x="157" y="601"/>
                  </a:lnTo>
                  <a:lnTo>
                    <a:pt x="157" y="601"/>
                  </a:lnTo>
                  <a:lnTo>
                    <a:pt x="158" y="600"/>
                  </a:lnTo>
                  <a:lnTo>
                    <a:pt x="160" y="598"/>
                  </a:lnTo>
                  <a:lnTo>
                    <a:pt x="162" y="594"/>
                  </a:lnTo>
                  <a:lnTo>
                    <a:pt x="162" y="592"/>
                  </a:lnTo>
                  <a:lnTo>
                    <a:pt x="164" y="590"/>
                  </a:lnTo>
                  <a:lnTo>
                    <a:pt x="164" y="588"/>
                  </a:lnTo>
                  <a:lnTo>
                    <a:pt x="164" y="586"/>
                  </a:lnTo>
                  <a:lnTo>
                    <a:pt x="164" y="584"/>
                  </a:lnTo>
                  <a:lnTo>
                    <a:pt x="164" y="584"/>
                  </a:lnTo>
                  <a:lnTo>
                    <a:pt x="164" y="584"/>
                  </a:lnTo>
                  <a:lnTo>
                    <a:pt x="164" y="584"/>
                  </a:lnTo>
                  <a:lnTo>
                    <a:pt x="164" y="582"/>
                  </a:lnTo>
                  <a:lnTo>
                    <a:pt x="162" y="582"/>
                  </a:lnTo>
                  <a:lnTo>
                    <a:pt x="160" y="582"/>
                  </a:lnTo>
                  <a:lnTo>
                    <a:pt x="160" y="582"/>
                  </a:lnTo>
                  <a:lnTo>
                    <a:pt x="160" y="581"/>
                  </a:lnTo>
                  <a:lnTo>
                    <a:pt x="160" y="581"/>
                  </a:lnTo>
                  <a:lnTo>
                    <a:pt x="162" y="581"/>
                  </a:lnTo>
                  <a:lnTo>
                    <a:pt x="162" y="579"/>
                  </a:lnTo>
                  <a:lnTo>
                    <a:pt x="164" y="579"/>
                  </a:lnTo>
                  <a:lnTo>
                    <a:pt x="168" y="579"/>
                  </a:lnTo>
                  <a:lnTo>
                    <a:pt x="168" y="579"/>
                  </a:lnTo>
                  <a:lnTo>
                    <a:pt x="168" y="577"/>
                  </a:lnTo>
                  <a:lnTo>
                    <a:pt x="168" y="577"/>
                  </a:lnTo>
                  <a:lnTo>
                    <a:pt x="168" y="573"/>
                  </a:lnTo>
                  <a:lnTo>
                    <a:pt x="168" y="569"/>
                  </a:lnTo>
                  <a:lnTo>
                    <a:pt x="168" y="567"/>
                  </a:lnTo>
                  <a:lnTo>
                    <a:pt x="168" y="565"/>
                  </a:lnTo>
                  <a:lnTo>
                    <a:pt x="168" y="565"/>
                  </a:lnTo>
                  <a:lnTo>
                    <a:pt x="168" y="565"/>
                  </a:lnTo>
                  <a:lnTo>
                    <a:pt x="168" y="563"/>
                  </a:lnTo>
                  <a:lnTo>
                    <a:pt x="166" y="563"/>
                  </a:lnTo>
                  <a:lnTo>
                    <a:pt x="158" y="560"/>
                  </a:lnTo>
                  <a:lnTo>
                    <a:pt x="158" y="560"/>
                  </a:lnTo>
                  <a:lnTo>
                    <a:pt x="158" y="560"/>
                  </a:lnTo>
                  <a:lnTo>
                    <a:pt x="157" y="560"/>
                  </a:lnTo>
                  <a:lnTo>
                    <a:pt x="157" y="562"/>
                  </a:lnTo>
                  <a:lnTo>
                    <a:pt x="157" y="562"/>
                  </a:lnTo>
                  <a:lnTo>
                    <a:pt x="155" y="562"/>
                  </a:lnTo>
                  <a:lnTo>
                    <a:pt x="155" y="562"/>
                  </a:lnTo>
                  <a:lnTo>
                    <a:pt x="155" y="562"/>
                  </a:lnTo>
                  <a:lnTo>
                    <a:pt x="155" y="560"/>
                  </a:lnTo>
                  <a:lnTo>
                    <a:pt x="155" y="560"/>
                  </a:lnTo>
                  <a:lnTo>
                    <a:pt x="155" y="558"/>
                  </a:lnTo>
                  <a:lnTo>
                    <a:pt x="155" y="558"/>
                  </a:lnTo>
                  <a:lnTo>
                    <a:pt x="155" y="558"/>
                  </a:lnTo>
                  <a:lnTo>
                    <a:pt x="155" y="556"/>
                  </a:lnTo>
                  <a:lnTo>
                    <a:pt x="153" y="556"/>
                  </a:lnTo>
                  <a:lnTo>
                    <a:pt x="153" y="554"/>
                  </a:lnTo>
                  <a:lnTo>
                    <a:pt x="153" y="552"/>
                  </a:lnTo>
                  <a:lnTo>
                    <a:pt x="153" y="552"/>
                  </a:lnTo>
                  <a:lnTo>
                    <a:pt x="153" y="552"/>
                  </a:lnTo>
                  <a:lnTo>
                    <a:pt x="155" y="552"/>
                  </a:lnTo>
                  <a:lnTo>
                    <a:pt x="157" y="550"/>
                  </a:lnTo>
                  <a:lnTo>
                    <a:pt x="157" y="550"/>
                  </a:lnTo>
                  <a:lnTo>
                    <a:pt x="157" y="550"/>
                  </a:lnTo>
                  <a:lnTo>
                    <a:pt x="158" y="550"/>
                  </a:lnTo>
                  <a:lnTo>
                    <a:pt x="158" y="550"/>
                  </a:lnTo>
                  <a:lnTo>
                    <a:pt x="158" y="550"/>
                  </a:lnTo>
                  <a:lnTo>
                    <a:pt x="157" y="548"/>
                  </a:lnTo>
                  <a:lnTo>
                    <a:pt x="157" y="548"/>
                  </a:lnTo>
                  <a:lnTo>
                    <a:pt x="155" y="548"/>
                  </a:lnTo>
                  <a:lnTo>
                    <a:pt x="155" y="548"/>
                  </a:lnTo>
                  <a:lnTo>
                    <a:pt x="155" y="548"/>
                  </a:lnTo>
                  <a:lnTo>
                    <a:pt x="155" y="546"/>
                  </a:lnTo>
                  <a:lnTo>
                    <a:pt x="155" y="546"/>
                  </a:lnTo>
                  <a:lnTo>
                    <a:pt x="155" y="546"/>
                  </a:lnTo>
                  <a:lnTo>
                    <a:pt x="155" y="544"/>
                  </a:lnTo>
                  <a:lnTo>
                    <a:pt x="155" y="544"/>
                  </a:lnTo>
                  <a:lnTo>
                    <a:pt x="153" y="544"/>
                  </a:lnTo>
                  <a:lnTo>
                    <a:pt x="153" y="544"/>
                  </a:lnTo>
                  <a:lnTo>
                    <a:pt x="153" y="544"/>
                  </a:lnTo>
                  <a:lnTo>
                    <a:pt x="151" y="544"/>
                  </a:lnTo>
                  <a:lnTo>
                    <a:pt x="151" y="544"/>
                  </a:lnTo>
                  <a:lnTo>
                    <a:pt x="151" y="544"/>
                  </a:lnTo>
                  <a:lnTo>
                    <a:pt x="151" y="543"/>
                  </a:lnTo>
                  <a:lnTo>
                    <a:pt x="151" y="543"/>
                  </a:lnTo>
                  <a:lnTo>
                    <a:pt x="151" y="543"/>
                  </a:lnTo>
                  <a:lnTo>
                    <a:pt x="151" y="543"/>
                  </a:lnTo>
                  <a:lnTo>
                    <a:pt x="151" y="541"/>
                  </a:lnTo>
                  <a:lnTo>
                    <a:pt x="149" y="541"/>
                  </a:lnTo>
                  <a:lnTo>
                    <a:pt x="149" y="541"/>
                  </a:lnTo>
                  <a:lnTo>
                    <a:pt x="149" y="541"/>
                  </a:lnTo>
                  <a:lnTo>
                    <a:pt x="149" y="541"/>
                  </a:lnTo>
                  <a:lnTo>
                    <a:pt x="149" y="541"/>
                  </a:lnTo>
                  <a:lnTo>
                    <a:pt x="147" y="543"/>
                  </a:lnTo>
                  <a:lnTo>
                    <a:pt x="147" y="543"/>
                  </a:lnTo>
                  <a:lnTo>
                    <a:pt x="147" y="543"/>
                  </a:lnTo>
                  <a:lnTo>
                    <a:pt x="147" y="543"/>
                  </a:lnTo>
                  <a:lnTo>
                    <a:pt x="145" y="543"/>
                  </a:lnTo>
                  <a:lnTo>
                    <a:pt x="145" y="541"/>
                  </a:lnTo>
                  <a:lnTo>
                    <a:pt x="145" y="541"/>
                  </a:lnTo>
                  <a:lnTo>
                    <a:pt x="145" y="541"/>
                  </a:lnTo>
                  <a:lnTo>
                    <a:pt x="147" y="539"/>
                  </a:lnTo>
                  <a:lnTo>
                    <a:pt x="147" y="537"/>
                  </a:lnTo>
                  <a:lnTo>
                    <a:pt x="147" y="535"/>
                  </a:lnTo>
                  <a:lnTo>
                    <a:pt x="149" y="537"/>
                  </a:lnTo>
                  <a:lnTo>
                    <a:pt x="149" y="537"/>
                  </a:lnTo>
                  <a:lnTo>
                    <a:pt x="151" y="537"/>
                  </a:lnTo>
                  <a:lnTo>
                    <a:pt x="151" y="537"/>
                  </a:lnTo>
                  <a:lnTo>
                    <a:pt x="151" y="537"/>
                  </a:lnTo>
                  <a:lnTo>
                    <a:pt x="153" y="537"/>
                  </a:lnTo>
                  <a:lnTo>
                    <a:pt x="153" y="537"/>
                  </a:lnTo>
                  <a:lnTo>
                    <a:pt x="153" y="537"/>
                  </a:lnTo>
                  <a:lnTo>
                    <a:pt x="153" y="535"/>
                  </a:lnTo>
                  <a:lnTo>
                    <a:pt x="153" y="535"/>
                  </a:lnTo>
                  <a:lnTo>
                    <a:pt x="155" y="533"/>
                  </a:lnTo>
                  <a:lnTo>
                    <a:pt x="155" y="535"/>
                  </a:lnTo>
                  <a:lnTo>
                    <a:pt x="155" y="535"/>
                  </a:lnTo>
                  <a:lnTo>
                    <a:pt x="155" y="535"/>
                  </a:lnTo>
                  <a:lnTo>
                    <a:pt x="157" y="535"/>
                  </a:lnTo>
                  <a:lnTo>
                    <a:pt x="157" y="537"/>
                  </a:lnTo>
                  <a:lnTo>
                    <a:pt x="157" y="537"/>
                  </a:lnTo>
                  <a:lnTo>
                    <a:pt x="157" y="537"/>
                  </a:lnTo>
                  <a:lnTo>
                    <a:pt x="158" y="535"/>
                  </a:lnTo>
                  <a:lnTo>
                    <a:pt x="160" y="533"/>
                  </a:lnTo>
                  <a:lnTo>
                    <a:pt x="160" y="533"/>
                  </a:lnTo>
                  <a:lnTo>
                    <a:pt x="160" y="533"/>
                  </a:lnTo>
                  <a:lnTo>
                    <a:pt x="162" y="533"/>
                  </a:lnTo>
                  <a:lnTo>
                    <a:pt x="162" y="531"/>
                  </a:lnTo>
                  <a:lnTo>
                    <a:pt x="162" y="531"/>
                  </a:lnTo>
                  <a:lnTo>
                    <a:pt x="164" y="531"/>
                  </a:lnTo>
                  <a:lnTo>
                    <a:pt x="164" y="529"/>
                  </a:lnTo>
                  <a:lnTo>
                    <a:pt x="164" y="527"/>
                  </a:lnTo>
                  <a:lnTo>
                    <a:pt x="164" y="525"/>
                  </a:lnTo>
                  <a:lnTo>
                    <a:pt x="164" y="525"/>
                  </a:lnTo>
                  <a:lnTo>
                    <a:pt x="166" y="525"/>
                  </a:lnTo>
                  <a:lnTo>
                    <a:pt x="166" y="527"/>
                  </a:lnTo>
                  <a:lnTo>
                    <a:pt x="168" y="527"/>
                  </a:lnTo>
                  <a:lnTo>
                    <a:pt x="170" y="527"/>
                  </a:lnTo>
                  <a:lnTo>
                    <a:pt x="172" y="527"/>
                  </a:lnTo>
                  <a:lnTo>
                    <a:pt x="174" y="527"/>
                  </a:lnTo>
                  <a:lnTo>
                    <a:pt x="174" y="527"/>
                  </a:lnTo>
                  <a:lnTo>
                    <a:pt x="174" y="529"/>
                  </a:lnTo>
                  <a:lnTo>
                    <a:pt x="174" y="531"/>
                  </a:lnTo>
                  <a:lnTo>
                    <a:pt x="174" y="531"/>
                  </a:lnTo>
                  <a:lnTo>
                    <a:pt x="176" y="533"/>
                  </a:lnTo>
                  <a:lnTo>
                    <a:pt x="176" y="533"/>
                  </a:lnTo>
                  <a:lnTo>
                    <a:pt x="176" y="533"/>
                  </a:lnTo>
                  <a:lnTo>
                    <a:pt x="176" y="533"/>
                  </a:lnTo>
                  <a:lnTo>
                    <a:pt x="176" y="535"/>
                  </a:lnTo>
                  <a:lnTo>
                    <a:pt x="176" y="535"/>
                  </a:lnTo>
                  <a:lnTo>
                    <a:pt x="176" y="535"/>
                  </a:lnTo>
                  <a:lnTo>
                    <a:pt x="176" y="535"/>
                  </a:lnTo>
                  <a:lnTo>
                    <a:pt x="176" y="535"/>
                  </a:lnTo>
                  <a:lnTo>
                    <a:pt x="176" y="535"/>
                  </a:lnTo>
                  <a:lnTo>
                    <a:pt x="178" y="535"/>
                  </a:lnTo>
                  <a:lnTo>
                    <a:pt x="178" y="535"/>
                  </a:lnTo>
                  <a:lnTo>
                    <a:pt x="179" y="535"/>
                  </a:lnTo>
                  <a:lnTo>
                    <a:pt x="181" y="531"/>
                  </a:lnTo>
                  <a:lnTo>
                    <a:pt x="183" y="531"/>
                  </a:lnTo>
                  <a:lnTo>
                    <a:pt x="183" y="531"/>
                  </a:lnTo>
                  <a:lnTo>
                    <a:pt x="183" y="531"/>
                  </a:lnTo>
                  <a:lnTo>
                    <a:pt x="185" y="531"/>
                  </a:lnTo>
                  <a:lnTo>
                    <a:pt x="187" y="529"/>
                  </a:lnTo>
                  <a:lnTo>
                    <a:pt x="187" y="529"/>
                  </a:lnTo>
                  <a:lnTo>
                    <a:pt x="187" y="527"/>
                  </a:lnTo>
                  <a:lnTo>
                    <a:pt x="185" y="525"/>
                  </a:lnTo>
                  <a:lnTo>
                    <a:pt x="185" y="524"/>
                  </a:lnTo>
                  <a:lnTo>
                    <a:pt x="187" y="524"/>
                  </a:lnTo>
                  <a:lnTo>
                    <a:pt x="187" y="524"/>
                  </a:lnTo>
                  <a:lnTo>
                    <a:pt x="187" y="524"/>
                  </a:lnTo>
                  <a:lnTo>
                    <a:pt x="189" y="520"/>
                  </a:lnTo>
                  <a:lnTo>
                    <a:pt x="189" y="520"/>
                  </a:lnTo>
                  <a:lnTo>
                    <a:pt x="189" y="520"/>
                  </a:lnTo>
                  <a:lnTo>
                    <a:pt x="191" y="520"/>
                  </a:lnTo>
                  <a:lnTo>
                    <a:pt x="191" y="520"/>
                  </a:lnTo>
                  <a:lnTo>
                    <a:pt x="191" y="520"/>
                  </a:lnTo>
                  <a:lnTo>
                    <a:pt x="193" y="518"/>
                  </a:lnTo>
                  <a:lnTo>
                    <a:pt x="193" y="518"/>
                  </a:lnTo>
                  <a:lnTo>
                    <a:pt x="193" y="518"/>
                  </a:lnTo>
                  <a:lnTo>
                    <a:pt x="193" y="516"/>
                  </a:lnTo>
                  <a:lnTo>
                    <a:pt x="195" y="516"/>
                  </a:lnTo>
                  <a:lnTo>
                    <a:pt x="197" y="516"/>
                  </a:lnTo>
                  <a:lnTo>
                    <a:pt x="198" y="514"/>
                  </a:lnTo>
                  <a:lnTo>
                    <a:pt x="198" y="514"/>
                  </a:lnTo>
                  <a:lnTo>
                    <a:pt x="198" y="514"/>
                  </a:lnTo>
                  <a:lnTo>
                    <a:pt x="200" y="514"/>
                  </a:lnTo>
                  <a:lnTo>
                    <a:pt x="202" y="516"/>
                  </a:lnTo>
                  <a:lnTo>
                    <a:pt x="204" y="516"/>
                  </a:lnTo>
                  <a:lnTo>
                    <a:pt x="204" y="516"/>
                  </a:lnTo>
                  <a:lnTo>
                    <a:pt x="204" y="514"/>
                  </a:lnTo>
                  <a:lnTo>
                    <a:pt x="204" y="514"/>
                  </a:lnTo>
                  <a:lnTo>
                    <a:pt x="204" y="514"/>
                  </a:lnTo>
                  <a:lnTo>
                    <a:pt x="204" y="514"/>
                  </a:lnTo>
                  <a:lnTo>
                    <a:pt x="204" y="510"/>
                  </a:lnTo>
                  <a:lnTo>
                    <a:pt x="204" y="508"/>
                  </a:lnTo>
                  <a:lnTo>
                    <a:pt x="204" y="508"/>
                  </a:lnTo>
                  <a:lnTo>
                    <a:pt x="202" y="506"/>
                  </a:lnTo>
                  <a:lnTo>
                    <a:pt x="202" y="506"/>
                  </a:lnTo>
                  <a:lnTo>
                    <a:pt x="202" y="506"/>
                  </a:lnTo>
                  <a:lnTo>
                    <a:pt x="202" y="504"/>
                  </a:lnTo>
                  <a:lnTo>
                    <a:pt x="204" y="504"/>
                  </a:lnTo>
                  <a:lnTo>
                    <a:pt x="208" y="504"/>
                  </a:lnTo>
                  <a:lnTo>
                    <a:pt x="210" y="503"/>
                  </a:lnTo>
                  <a:lnTo>
                    <a:pt x="210" y="503"/>
                  </a:lnTo>
                  <a:lnTo>
                    <a:pt x="210" y="503"/>
                  </a:lnTo>
                  <a:lnTo>
                    <a:pt x="212" y="501"/>
                  </a:lnTo>
                  <a:lnTo>
                    <a:pt x="212" y="501"/>
                  </a:lnTo>
                  <a:lnTo>
                    <a:pt x="212" y="499"/>
                  </a:lnTo>
                  <a:lnTo>
                    <a:pt x="214" y="497"/>
                  </a:lnTo>
                  <a:lnTo>
                    <a:pt x="214" y="497"/>
                  </a:lnTo>
                  <a:lnTo>
                    <a:pt x="214" y="497"/>
                  </a:lnTo>
                  <a:lnTo>
                    <a:pt x="218" y="497"/>
                  </a:lnTo>
                  <a:lnTo>
                    <a:pt x="221" y="497"/>
                  </a:lnTo>
                  <a:lnTo>
                    <a:pt x="221" y="497"/>
                  </a:lnTo>
                  <a:lnTo>
                    <a:pt x="221" y="497"/>
                  </a:lnTo>
                  <a:lnTo>
                    <a:pt x="223" y="497"/>
                  </a:lnTo>
                  <a:lnTo>
                    <a:pt x="223" y="499"/>
                  </a:lnTo>
                  <a:lnTo>
                    <a:pt x="223" y="499"/>
                  </a:lnTo>
                  <a:lnTo>
                    <a:pt x="223" y="501"/>
                  </a:lnTo>
                  <a:lnTo>
                    <a:pt x="225" y="501"/>
                  </a:lnTo>
                  <a:lnTo>
                    <a:pt x="227" y="501"/>
                  </a:lnTo>
                  <a:lnTo>
                    <a:pt x="227" y="503"/>
                  </a:lnTo>
                  <a:lnTo>
                    <a:pt x="227" y="503"/>
                  </a:lnTo>
                  <a:lnTo>
                    <a:pt x="229" y="503"/>
                  </a:lnTo>
                  <a:lnTo>
                    <a:pt x="229" y="504"/>
                  </a:lnTo>
                  <a:lnTo>
                    <a:pt x="231" y="504"/>
                  </a:lnTo>
                  <a:lnTo>
                    <a:pt x="231" y="504"/>
                  </a:lnTo>
                  <a:lnTo>
                    <a:pt x="233" y="504"/>
                  </a:lnTo>
                  <a:lnTo>
                    <a:pt x="235" y="504"/>
                  </a:lnTo>
                  <a:lnTo>
                    <a:pt x="240" y="501"/>
                  </a:lnTo>
                  <a:lnTo>
                    <a:pt x="240" y="501"/>
                  </a:lnTo>
                  <a:lnTo>
                    <a:pt x="240" y="499"/>
                  </a:lnTo>
                  <a:lnTo>
                    <a:pt x="240" y="497"/>
                  </a:lnTo>
                  <a:lnTo>
                    <a:pt x="240" y="497"/>
                  </a:lnTo>
                  <a:lnTo>
                    <a:pt x="240" y="497"/>
                  </a:lnTo>
                  <a:lnTo>
                    <a:pt x="246" y="495"/>
                  </a:lnTo>
                  <a:lnTo>
                    <a:pt x="248" y="495"/>
                  </a:lnTo>
                  <a:lnTo>
                    <a:pt x="248" y="495"/>
                  </a:lnTo>
                  <a:lnTo>
                    <a:pt x="250" y="493"/>
                  </a:lnTo>
                  <a:lnTo>
                    <a:pt x="252" y="493"/>
                  </a:lnTo>
                  <a:lnTo>
                    <a:pt x="256" y="493"/>
                  </a:lnTo>
                  <a:lnTo>
                    <a:pt x="258" y="493"/>
                  </a:lnTo>
                  <a:lnTo>
                    <a:pt x="258" y="495"/>
                  </a:lnTo>
                  <a:lnTo>
                    <a:pt x="258" y="495"/>
                  </a:lnTo>
                  <a:lnTo>
                    <a:pt x="259" y="495"/>
                  </a:lnTo>
                  <a:lnTo>
                    <a:pt x="259" y="495"/>
                  </a:lnTo>
                  <a:lnTo>
                    <a:pt x="261" y="495"/>
                  </a:lnTo>
                  <a:lnTo>
                    <a:pt x="263" y="495"/>
                  </a:lnTo>
                  <a:lnTo>
                    <a:pt x="265" y="493"/>
                  </a:lnTo>
                  <a:lnTo>
                    <a:pt x="265" y="493"/>
                  </a:lnTo>
                  <a:lnTo>
                    <a:pt x="267" y="493"/>
                  </a:lnTo>
                  <a:lnTo>
                    <a:pt x="267" y="491"/>
                  </a:lnTo>
                  <a:lnTo>
                    <a:pt x="267" y="491"/>
                  </a:lnTo>
                  <a:lnTo>
                    <a:pt x="269" y="491"/>
                  </a:lnTo>
                  <a:lnTo>
                    <a:pt x="269" y="491"/>
                  </a:lnTo>
                  <a:lnTo>
                    <a:pt x="271" y="493"/>
                  </a:lnTo>
                  <a:lnTo>
                    <a:pt x="273" y="495"/>
                  </a:lnTo>
                  <a:lnTo>
                    <a:pt x="275" y="495"/>
                  </a:lnTo>
                  <a:lnTo>
                    <a:pt x="275" y="495"/>
                  </a:lnTo>
                  <a:lnTo>
                    <a:pt x="277" y="493"/>
                  </a:lnTo>
                  <a:lnTo>
                    <a:pt x="277" y="493"/>
                  </a:lnTo>
                  <a:lnTo>
                    <a:pt x="277" y="493"/>
                  </a:lnTo>
                  <a:lnTo>
                    <a:pt x="277" y="491"/>
                  </a:lnTo>
                  <a:lnTo>
                    <a:pt x="277" y="491"/>
                  </a:lnTo>
                  <a:lnTo>
                    <a:pt x="277" y="489"/>
                  </a:lnTo>
                  <a:lnTo>
                    <a:pt x="275" y="487"/>
                  </a:lnTo>
                  <a:lnTo>
                    <a:pt x="275" y="487"/>
                  </a:lnTo>
                  <a:lnTo>
                    <a:pt x="275" y="485"/>
                  </a:lnTo>
                  <a:lnTo>
                    <a:pt x="275" y="485"/>
                  </a:lnTo>
                  <a:lnTo>
                    <a:pt x="277" y="485"/>
                  </a:lnTo>
                  <a:lnTo>
                    <a:pt x="277" y="484"/>
                  </a:lnTo>
                  <a:lnTo>
                    <a:pt x="277" y="484"/>
                  </a:lnTo>
                  <a:lnTo>
                    <a:pt x="277" y="482"/>
                  </a:lnTo>
                  <a:lnTo>
                    <a:pt x="277" y="480"/>
                  </a:lnTo>
                  <a:lnTo>
                    <a:pt x="275" y="480"/>
                  </a:lnTo>
                  <a:lnTo>
                    <a:pt x="275" y="478"/>
                  </a:lnTo>
                  <a:lnTo>
                    <a:pt x="273" y="478"/>
                  </a:lnTo>
                  <a:lnTo>
                    <a:pt x="273" y="476"/>
                  </a:lnTo>
                  <a:lnTo>
                    <a:pt x="273" y="474"/>
                  </a:lnTo>
                  <a:lnTo>
                    <a:pt x="273" y="474"/>
                  </a:lnTo>
                  <a:lnTo>
                    <a:pt x="275" y="472"/>
                  </a:lnTo>
                  <a:lnTo>
                    <a:pt x="275" y="472"/>
                  </a:lnTo>
                  <a:lnTo>
                    <a:pt x="275" y="470"/>
                  </a:lnTo>
                  <a:lnTo>
                    <a:pt x="275" y="470"/>
                  </a:lnTo>
                  <a:lnTo>
                    <a:pt x="275" y="468"/>
                  </a:lnTo>
                  <a:lnTo>
                    <a:pt x="275" y="466"/>
                  </a:lnTo>
                  <a:lnTo>
                    <a:pt x="273" y="466"/>
                  </a:lnTo>
                  <a:lnTo>
                    <a:pt x="273" y="465"/>
                  </a:lnTo>
                  <a:lnTo>
                    <a:pt x="271" y="465"/>
                  </a:lnTo>
                  <a:lnTo>
                    <a:pt x="271" y="465"/>
                  </a:lnTo>
                  <a:lnTo>
                    <a:pt x="271" y="463"/>
                  </a:lnTo>
                  <a:lnTo>
                    <a:pt x="271" y="461"/>
                  </a:lnTo>
                  <a:lnTo>
                    <a:pt x="269" y="461"/>
                  </a:lnTo>
                  <a:lnTo>
                    <a:pt x="269" y="457"/>
                  </a:lnTo>
                  <a:lnTo>
                    <a:pt x="269" y="455"/>
                  </a:lnTo>
                  <a:lnTo>
                    <a:pt x="269" y="453"/>
                  </a:lnTo>
                  <a:lnTo>
                    <a:pt x="271" y="453"/>
                  </a:lnTo>
                  <a:lnTo>
                    <a:pt x="271" y="451"/>
                  </a:lnTo>
                  <a:lnTo>
                    <a:pt x="271" y="451"/>
                  </a:lnTo>
                  <a:lnTo>
                    <a:pt x="273" y="447"/>
                  </a:lnTo>
                  <a:lnTo>
                    <a:pt x="273" y="447"/>
                  </a:lnTo>
                  <a:lnTo>
                    <a:pt x="275" y="447"/>
                  </a:lnTo>
                  <a:lnTo>
                    <a:pt x="275" y="446"/>
                  </a:lnTo>
                  <a:lnTo>
                    <a:pt x="277" y="446"/>
                  </a:lnTo>
                  <a:lnTo>
                    <a:pt x="277" y="446"/>
                  </a:lnTo>
                  <a:lnTo>
                    <a:pt x="279" y="447"/>
                  </a:lnTo>
                  <a:lnTo>
                    <a:pt x="279" y="449"/>
                  </a:lnTo>
                  <a:lnTo>
                    <a:pt x="280" y="451"/>
                  </a:lnTo>
                  <a:lnTo>
                    <a:pt x="282" y="451"/>
                  </a:lnTo>
                  <a:lnTo>
                    <a:pt x="284" y="451"/>
                  </a:lnTo>
                  <a:lnTo>
                    <a:pt x="286" y="451"/>
                  </a:lnTo>
                  <a:lnTo>
                    <a:pt x="286" y="453"/>
                  </a:lnTo>
                  <a:lnTo>
                    <a:pt x="288" y="453"/>
                  </a:lnTo>
                  <a:lnTo>
                    <a:pt x="288" y="455"/>
                  </a:lnTo>
                  <a:lnTo>
                    <a:pt x="288" y="455"/>
                  </a:lnTo>
                  <a:lnTo>
                    <a:pt x="290" y="455"/>
                  </a:lnTo>
                  <a:lnTo>
                    <a:pt x="292" y="455"/>
                  </a:lnTo>
                  <a:lnTo>
                    <a:pt x="292" y="453"/>
                  </a:lnTo>
                  <a:lnTo>
                    <a:pt x="294" y="451"/>
                  </a:lnTo>
                  <a:lnTo>
                    <a:pt x="296" y="453"/>
                  </a:lnTo>
                  <a:lnTo>
                    <a:pt x="298" y="451"/>
                  </a:lnTo>
                  <a:lnTo>
                    <a:pt x="298" y="453"/>
                  </a:lnTo>
                  <a:lnTo>
                    <a:pt x="299" y="453"/>
                  </a:lnTo>
                  <a:lnTo>
                    <a:pt x="299" y="455"/>
                  </a:lnTo>
                  <a:lnTo>
                    <a:pt x="299" y="457"/>
                  </a:lnTo>
                  <a:lnTo>
                    <a:pt x="299" y="459"/>
                  </a:lnTo>
                  <a:lnTo>
                    <a:pt x="301" y="459"/>
                  </a:lnTo>
                  <a:lnTo>
                    <a:pt x="301" y="459"/>
                  </a:lnTo>
                  <a:lnTo>
                    <a:pt x="303" y="461"/>
                  </a:lnTo>
                  <a:lnTo>
                    <a:pt x="303" y="461"/>
                  </a:lnTo>
                  <a:lnTo>
                    <a:pt x="305" y="459"/>
                  </a:lnTo>
                  <a:lnTo>
                    <a:pt x="305" y="459"/>
                  </a:lnTo>
                  <a:lnTo>
                    <a:pt x="309" y="459"/>
                  </a:lnTo>
                  <a:lnTo>
                    <a:pt x="311" y="459"/>
                  </a:lnTo>
                  <a:lnTo>
                    <a:pt x="311" y="459"/>
                  </a:lnTo>
                  <a:lnTo>
                    <a:pt x="313" y="459"/>
                  </a:lnTo>
                  <a:lnTo>
                    <a:pt x="313" y="459"/>
                  </a:lnTo>
                  <a:lnTo>
                    <a:pt x="315" y="457"/>
                  </a:lnTo>
                  <a:lnTo>
                    <a:pt x="319" y="455"/>
                  </a:lnTo>
                  <a:lnTo>
                    <a:pt x="320" y="455"/>
                  </a:lnTo>
                  <a:lnTo>
                    <a:pt x="320" y="455"/>
                  </a:lnTo>
                  <a:lnTo>
                    <a:pt x="322" y="457"/>
                  </a:lnTo>
                  <a:lnTo>
                    <a:pt x="324" y="457"/>
                  </a:lnTo>
                  <a:lnTo>
                    <a:pt x="324" y="455"/>
                  </a:lnTo>
                  <a:lnTo>
                    <a:pt x="326" y="455"/>
                  </a:lnTo>
                  <a:lnTo>
                    <a:pt x="328" y="455"/>
                  </a:lnTo>
                  <a:lnTo>
                    <a:pt x="328" y="455"/>
                  </a:lnTo>
                  <a:lnTo>
                    <a:pt x="330" y="455"/>
                  </a:lnTo>
                  <a:lnTo>
                    <a:pt x="330" y="455"/>
                  </a:lnTo>
                  <a:lnTo>
                    <a:pt x="332" y="457"/>
                  </a:lnTo>
                  <a:lnTo>
                    <a:pt x="334" y="457"/>
                  </a:lnTo>
                  <a:lnTo>
                    <a:pt x="334" y="457"/>
                  </a:lnTo>
                  <a:lnTo>
                    <a:pt x="336" y="457"/>
                  </a:lnTo>
                  <a:lnTo>
                    <a:pt x="338" y="457"/>
                  </a:lnTo>
                  <a:lnTo>
                    <a:pt x="340" y="459"/>
                  </a:lnTo>
                  <a:lnTo>
                    <a:pt x="341" y="459"/>
                  </a:lnTo>
                  <a:lnTo>
                    <a:pt x="341" y="457"/>
                  </a:lnTo>
                  <a:lnTo>
                    <a:pt x="343" y="457"/>
                  </a:lnTo>
                  <a:lnTo>
                    <a:pt x="345" y="455"/>
                  </a:lnTo>
                  <a:lnTo>
                    <a:pt x="345" y="455"/>
                  </a:lnTo>
                  <a:lnTo>
                    <a:pt x="343" y="453"/>
                  </a:lnTo>
                  <a:lnTo>
                    <a:pt x="341" y="451"/>
                  </a:lnTo>
                  <a:lnTo>
                    <a:pt x="341" y="451"/>
                  </a:lnTo>
                  <a:lnTo>
                    <a:pt x="341" y="449"/>
                  </a:lnTo>
                  <a:lnTo>
                    <a:pt x="340" y="447"/>
                  </a:lnTo>
                  <a:lnTo>
                    <a:pt x="340" y="447"/>
                  </a:lnTo>
                  <a:lnTo>
                    <a:pt x="340" y="446"/>
                  </a:lnTo>
                  <a:lnTo>
                    <a:pt x="340" y="446"/>
                  </a:lnTo>
                  <a:lnTo>
                    <a:pt x="340" y="444"/>
                  </a:lnTo>
                  <a:lnTo>
                    <a:pt x="341" y="444"/>
                  </a:lnTo>
                  <a:lnTo>
                    <a:pt x="341" y="442"/>
                  </a:lnTo>
                  <a:lnTo>
                    <a:pt x="341" y="442"/>
                  </a:lnTo>
                  <a:lnTo>
                    <a:pt x="340" y="440"/>
                  </a:lnTo>
                  <a:lnTo>
                    <a:pt x="340" y="440"/>
                  </a:lnTo>
                  <a:lnTo>
                    <a:pt x="341" y="438"/>
                  </a:lnTo>
                  <a:lnTo>
                    <a:pt x="341" y="438"/>
                  </a:lnTo>
                  <a:lnTo>
                    <a:pt x="341" y="438"/>
                  </a:lnTo>
                  <a:lnTo>
                    <a:pt x="340" y="436"/>
                  </a:lnTo>
                  <a:lnTo>
                    <a:pt x="340" y="434"/>
                  </a:lnTo>
                  <a:lnTo>
                    <a:pt x="338" y="434"/>
                  </a:lnTo>
                  <a:lnTo>
                    <a:pt x="338" y="434"/>
                  </a:lnTo>
                  <a:lnTo>
                    <a:pt x="340" y="432"/>
                  </a:lnTo>
                  <a:lnTo>
                    <a:pt x="345" y="430"/>
                  </a:lnTo>
                  <a:lnTo>
                    <a:pt x="347" y="428"/>
                  </a:lnTo>
                  <a:lnTo>
                    <a:pt x="347" y="428"/>
                  </a:lnTo>
                  <a:lnTo>
                    <a:pt x="347" y="427"/>
                  </a:lnTo>
                  <a:lnTo>
                    <a:pt x="349" y="427"/>
                  </a:lnTo>
                  <a:lnTo>
                    <a:pt x="349" y="427"/>
                  </a:lnTo>
                  <a:lnTo>
                    <a:pt x="351" y="425"/>
                  </a:lnTo>
                  <a:lnTo>
                    <a:pt x="353" y="425"/>
                  </a:lnTo>
                  <a:lnTo>
                    <a:pt x="353" y="425"/>
                  </a:lnTo>
                  <a:lnTo>
                    <a:pt x="353" y="423"/>
                  </a:lnTo>
                  <a:lnTo>
                    <a:pt x="353" y="423"/>
                  </a:lnTo>
                  <a:lnTo>
                    <a:pt x="353" y="423"/>
                  </a:lnTo>
                  <a:lnTo>
                    <a:pt x="353" y="421"/>
                  </a:lnTo>
                  <a:lnTo>
                    <a:pt x="353" y="421"/>
                  </a:lnTo>
                  <a:lnTo>
                    <a:pt x="355" y="421"/>
                  </a:lnTo>
                  <a:lnTo>
                    <a:pt x="355" y="421"/>
                  </a:lnTo>
                  <a:lnTo>
                    <a:pt x="357" y="419"/>
                  </a:lnTo>
                  <a:lnTo>
                    <a:pt x="357" y="419"/>
                  </a:lnTo>
                  <a:lnTo>
                    <a:pt x="357" y="417"/>
                  </a:lnTo>
                  <a:lnTo>
                    <a:pt x="359" y="417"/>
                  </a:lnTo>
                  <a:lnTo>
                    <a:pt x="359" y="417"/>
                  </a:lnTo>
                  <a:lnTo>
                    <a:pt x="360" y="419"/>
                  </a:lnTo>
                  <a:lnTo>
                    <a:pt x="362" y="419"/>
                  </a:lnTo>
                  <a:lnTo>
                    <a:pt x="364" y="417"/>
                  </a:lnTo>
                  <a:lnTo>
                    <a:pt x="364" y="417"/>
                  </a:lnTo>
                  <a:lnTo>
                    <a:pt x="364" y="419"/>
                  </a:lnTo>
                  <a:lnTo>
                    <a:pt x="366" y="421"/>
                  </a:lnTo>
                  <a:lnTo>
                    <a:pt x="368" y="421"/>
                  </a:lnTo>
                  <a:lnTo>
                    <a:pt x="368" y="421"/>
                  </a:lnTo>
                  <a:lnTo>
                    <a:pt x="370" y="423"/>
                  </a:lnTo>
                  <a:lnTo>
                    <a:pt x="372" y="425"/>
                  </a:lnTo>
                  <a:lnTo>
                    <a:pt x="374" y="419"/>
                  </a:lnTo>
                  <a:lnTo>
                    <a:pt x="374" y="417"/>
                  </a:lnTo>
                  <a:lnTo>
                    <a:pt x="374" y="415"/>
                  </a:lnTo>
                  <a:lnTo>
                    <a:pt x="376" y="415"/>
                  </a:lnTo>
                  <a:lnTo>
                    <a:pt x="378" y="413"/>
                  </a:lnTo>
                  <a:lnTo>
                    <a:pt x="378" y="413"/>
                  </a:lnTo>
                  <a:lnTo>
                    <a:pt x="380" y="413"/>
                  </a:lnTo>
                  <a:lnTo>
                    <a:pt x="380" y="413"/>
                  </a:lnTo>
                  <a:lnTo>
                    <a:pt x="380" y="411"/>
                  </a:lnTo>
                  <a:lnTo>
                    <a:pt x="380" y="409"/>
                  </a:lnTo>
                  <a:lnTo>
                    <a:pt x="378" y="407"/>
                  </a:lnTo>
                  <a:lnTo>
                    <a:pt x="378" y="406"/>
                  </a:lnTo>
                  <a:lnTo>
                    <a:pt x="380" y="406"/>
                  </a:lnTo>
                  <a:lnTo>
                    <a:pt x="380" y="406"/>
                  </a:lnTo>
                  <a:lnTo>
                    <a:pt x="381" y="406"/>
                  </a:lnTo>
                  <a:lnTo>
                    <a:pt x="385" y="407"/>
                  </a:lnTo>
                  <a:lnTo>
                    <a:pt x="387" y="407"/>
                  </a:lnTo>
                  <a:lnTo>
                    <a:pt x="389" y="406"/>
                  </a:lnTo>
                  <a:lnTo>
                    <a:pt x="389" y="406"/>
                  </a:lnTo>
                  <a:lnTo>
                    <a:pt x="391" y="402"/>
                  </a:lnTo>
                  <a:lnTo>
                    <a:pt x="391" y="400"/>
                  </a:lnTo>
                  <a:lnTo>
                    <a:pt x="391" y="398"/>
                  </a:lnTo>
                  <a:lnTo>
                    <a:pt x="391" y="396"/>
                  </a:lnTo>
                  <a:lnTo>
                    <a:pt x="391" y="394"/>
                  </a:lnTo>
                  <a:lnTo>
                    <a:pt x="391" y="392"/>
                  </a:lnTo>
                  <a:lnTo>
                    <a:pt x="393" y="388"/>
                  </a:lnTo>
                  <a:lnTo>
                    <a:pt x="393" y="387"/>
                  </a:lnTo>
                  <a:lnTo>
                    <a:pt x="393" y="385"/>
                  </a:lnTo>
                  <a:lnTo>
                    <a:pt x="393" y="381"/>
                  </a:lnTo>
                  <a:lnTo>
                    <a:pt x="393" y="381"/>
                  </a:lnTo>
                  <a:lnTo>
                    <a:pt x="395" y="379"/>
                  </a:lnTo>
                  <a:lnTo>
                    <a:pt x="397" y="377"/>
                  </a:lnTo>
                  <a:lnTo>
                    <a:pt x="399" y="377"/>
                  </a:lnTo>
                  <a:lnTo>
                    <a:pt x="402" y="379"/>
                  </a:lnTo>
                  <a:lnTo>
                    <a:pt x="402" y="379"/>
                  </a:lnTo>
                  <a:lnTo>
                    <a:pt x="402" y="377"/>
                  </a:lnTo>
                  <a:lnTo>
                    <a:pt x="404" y="377"/>
                  </a:lnTo>
                  <a:lnTo>
                    <a:pt x="406" y="377"/>
                  </a:lnTo>
                  <a:lnTo>
                    <a:pt x="406" y="377"/>
                  </a:lnTo>
                  <a:lnTo>
                    <a:pt x="408" y="377"/>
                  </a:lnTo>
                  <a:lnTo>
                    <a:pt x="410" y="377"/>
                  </a:lnTo>
                  <a:lnTo>
                    <a:pt x="410" y="377"/>
                  </a:lnTo>
                  <a:lnTo>
                    <a:pt x="410" y="375"/>
                  </a:lnTo>
                  <a:lnTo>
                    <a:pt x="410" y="373"/>
                  </a:lnTo>
                  <a:lnTo>
                    <a:pt x="410" y="373"/>
                  </a:lnTo>
                  <a:lnTo>
                    <a:pt x="412" y="371"/>
                  </a:lnTo>
                  <a:lnTo>
                    <a:pt x="412" y="371"/>
                  </a:lnTo>
                  <a:lnTo>
                    <a:pt x="418" y="368"/>
                  </a:lnTo>
                  <a:lnTo>
                    <a:pt x="421" y="366"/>
                  </a:lnTo>
                  <a:lnTo>
                    <a:pt x="421" y="366"/>
                  </a:lnTo>
                  <a:lnTo>
                    <a:pt x="421" y="366"/>
                  </a:lnTo>
                  <a:lnTo>
                    <a:pt x="423" y="364"/>
                  </a:lnTo>
                  <a:lnTo>
                    <a:pt x="423" y="364"/>
                  </a:lnTo>
                  <a:lnTo>
                    <a:pt x="423" y="362"/>
                  </a:lnTo>
                  <a:lnTo>
                    <a:pt x="423" y="358"/>
                  </a:lnTo>
                  <a:lnTo>
                    <a:pt x="423" y="356"/>
                  </a:lnTo>
                  <a:lnTo>
                    <a:pt x="423" y="356"/>
                  </a:lnTo>
                  <a:lnTo>
                    <a:pt x="427" y="352"/>
                  </a:lnTo>
                  <a:lnTo>
                    <a:pt x="427" y="350"/>
                  </a:lnTo>
                  <a:lnTo>
                    <a:pt x="429" y="350"/>
                  </a:lnTo>
                  <a:lnTo>
                    <a:pt x="429" y="350"/>
                  </a:lnTo>
                  <a:lnTo>
                    <a:pt x="431" y="350"/>
                  </a:lnTo>
                  <a:lnTo>
                    <a:pt x="431" y="352"/>
                  </a:lnTo>
                  <a:lnTo>
                    <a:pt x="433" y="352"/>
                  </a:lnTo>
                  <a:lnTo>
                    <a:pt x="433" y="354"/>
                  </a:lnTo>
                  <a:lnTo>
                    <a:pt x="433" y="354"/>
                  </a:lnTo>
                  <a:lnTo>
                    <a:pt x="433" y="360"/>
                  </a:lnTo>
                  <a:lnTo>
                    <a:pt x="433" y="360"/>
                  </a:lnTo>
                  <a:lnTo>
                    <a:pt x="435" y="362"/>
                  </a:lnTo>
                  <a:lnTo>
                    <a:pt x="435" y="362"/>
                  </a:lnTo>
                  <a:lnTo>
                    <a:pt x="437" y="362"/>
                  </a:lnTo>
                  <a:lnTo>
                    <a:pt x="439" y="364"/>
                  </a:lnTo>
                  <a:lnTo>
                    <a:pt x="441" y="364"/>
                  </a:lnTo>
                  <a:lnTo>
                    <a:pt x="441" y="366"/>
                  </a:lnTo>
                  <a:lnTo>
                    <a:pt x="442" y="368"/>
                  </a:lnTo>
                  <a:lnTo>
                    <a:pt x="442" y="368"/>
                  </a:lnTo>
                  <a:lnTo>
                    <a:pt x="442" y="368"/>
                  </a:lnTo>
                  <a:lnTo>
                    <a:pt x="442" y="368"/>
                  </a:lnTo>
                  <a:lnTo>
                    <a:pt x="444" y="368"/>
                  </a:lnTo>
                  <a:lnTo>
                    <a:pt x="446" y="368"/>
                  </a:lnTo>
                  <a:lnTo>
                    <a:pt x="448" y="366"/>
                  </a:lnTo>
                  <a:lnTo>
                    <a:pt x="448" y="366"/>
                  </a:lnTo>
                  <a:lnTo>
                    <a:pt x="448" y="366"/>
                  </a:lnTo>
                  <a:lnTo>
                    <a:pt x="452" y="366"/>
                  </a:lnTo>
                  <a:lnTo>
                    <a:pt x="454" y="364"/>
                  </a:lnTo>
                  <a:lnTo>
                    <a:pt x="454" y="362"/>
                  </a:lnTo>
                  <a:lnTo>
                    <a:pt x="454" y="362"/>
                  </a:lnTo>
                  <a:lnTo>
                    <a:pt x="452" y="362"/>
                  </a:lnTo>
                  <a:lnTo>
                    <a:pt x="448" y="358"/>
                  </a:lnTo>
                  <a:lnTo>
                    <a:pt x="448" y="358"/>
                  </a:lnTo>
                  <a:lnTo>
                    <a:pt x="448" y="358"/>
                  </a:lnTo>
                  <a:lnTo>
                    <a:pt x="450" y="356"/>
                  </a:lnTo>
                  <a:lnTo>
                    <a:pt x="450" y="356"/>
                  </a:lnTo>
                  <a:lnTo>
                    <a:pt x="452" y="354"/>
                  </a:lnTo>
                  <a:lnTo>
                    <a:pt x="452" y="354"/>
                  </a:lnTo>
                  <a:lnTo>
                    <a:pt x="452" y="352"/>
                  </a:lnTo>
                  <a:lnTo>
                    <a:pt x="452" y="350"/>
                  </a:lnTo>
                  <a:lnTo>
                    <a:pt x="452" y="350"/>
                  </a:lnTo>
                  <a:lnTo>
                    <a:pt x="454" y="349"/>
                  </a:lnTo>
                  <a:lnTo>
                    <a:pt x="454" y="349"/>
                  </a:lnTo>
                  <a:lnTo>
                    <a:pt x="454" y="349"/>
                  </a:lnTo>
                  <a:lnTo>
                    <a:pt x="454" y="347"/>
                  </a:lnTo>
                  <a:lnTo>
                    <a:pt x="454" y="347"/>
                  </a:lnTo>
                  <a:lnTo>
                    <a:pt x="456" y="345"/>
                  </a:lnTo>
                  <a:lnTo>
                    <a:pt x="456" y="345"/>
                  </a:lnTo>
                  <a:lnTo>
                    <a:pt x="456" y="343"/>
                  </a:lnTo>
                  <a:lnTo>
                    <a:pt x="456" y="343"/>
                  </a:lnTo>
                  <a:lnTo>
                    <a:pt x="458" y="341"/>
                  </a:lnTo>
                  <a:lnTo>
                    <a:pt x="458" y="341"/>
                  </a:lnTo>
                  <a:lnTo>
                    <a:pt x="460" y="341"/>
                  </a:lnTo>
                  <a:lnTo>
                    <a:pt x="463" y="341"/>
                  </a:lnTo>
                  <a:lnTo>
                    <a:pt x="463" y="341"/>
                  </a:lnTo>
                  <a:lnTo>
                    <a:pt x="465" y="341"/>
                  </a:lnTo>
                  <a:lnTo>
                    <a:pt x="465" y="339"/>
                  </a:lnTo>
                  <a:lnTo>
                    <a:pt x="465" y="339"/>
                  </a:lnTo>
                  <a:lnTo>
                    <a:pt x="467" y="337"/>
                  </a:lnTo>
                  <a:lnTo>
                    <a:pt x="467" y="335"/>
                  </a:lnTo>
                  <a:lnTo>
                    <a:pt x="467" y="333"/>
                  </a:lnTo>
                  <a:lnTo>
                    <a:pt x="467" y="331"/>
                  </a:lnTo>
                  <a:lnTo>
                    <a:pt x="467" y="331"/>
                  </a:lnTo>
                  <a:lnTo>
                    <a:pt x="467" y="331"/>
                  </a:lnTo>
                  <a:lnTo>
                    <a:pt x="467" y="330"/>
                  </a:lnTo>
                  <a:lnTo>
                    <a:pt x="467" y="328"/>
                  </a:lnTo>
                  <a:lnTo>
                    <a:pt x="469" y="328"/>
                  </a:lnTo>
                  <a:lnTo>
                    <a:pt x="469" y="328"/>
                  </a:lnTo>
                  <a:lnTo>
                    <a:pt x="471" y="328"/>
                  </a:lnTo>
                  <a:lnTo>
                    <a:pt x="473" y="328"/>
                  </a:lnTo>
                  <a:lnTo>
                    <a:pt x="473" y="328"/>
                  </a:lnTo>
                  <a:lnTo>
                    <a:pt x="475" y="328"/>
                  </a:lnTo>
                  <a:lnTo>
                    <a:pt x="475" y="326"/>
                  </a:lnTo>
                  <a:lnTo>
                    <a:pt x="477" y="320"/>
                  </a:lnTo>
                  <a:lnTo>
                    <a:pt x="479" y="318"/>
                  </a:lnTo>
                  <a:lnTo>
                    <a:pt x="479" y="316"/>
                  </a:lnTo>
                  <a:lnTo>
                    <a:pt x="481" y="316"/>
                  </a:lnTo>
                  <a:lnTo>
                    <a:pt x="482" y="316"/>
                  </a:lnTo>
                  <a:lnTo>
                    <a:pt x="482" y="314"/>
                  </a:lnTo>
                  <a:lnTo>
                    <a:pt x="484" y="314"/>
                  </a:lnTo>
                  <a:lnTo>
                    <a:pt x="486" y="314"/>
                  </a:lnTo>
                  <a:lnTo>
                    <a:pt x="486" y="314"/>
                  </a:lnTo>
                  <a:lnTo>
                    <a:pt x="486" y="312"/>
                  </a:lnTo>
                  <a:lnTo>
                    <a:pt x="486" y="312"/>
                  </a:lnTo>
                  <a:lnTo>
                    <a:pt x="486" y="312"/>
                  </a:lnTo>
                  <a:lnTo>
                    <a:pt x="484" y="310"/>
                  </a:lnTo>
                  <a:lnTo>
                    <a:pt x="481" y="309"/>
                  </a:lnTo>
                  <a:lnTo>
                    <a:pt x="481" y="307"/>
                  </a:lnTo>
                  <a:lnTo>
                    <a:pt x="479" y="307"/>
                  </a:lnTo>
                  <a:lnTo>
                    <a:pt x="479" y="305"/>
                  </a:lnTo>
                  <a:lnTo>
                    <a:pt x="479" y="305"/>
                  </a:lnTo>
                  <a:lnTo>
                    <a:pt x="479" y="303"/>
                  </a:lnTo>
                  <a:lnTo>
                    <a:pt x="479" y="303"/>
                  </a:lnTo>
                  <a:lnTo>
                    <a:pt x="479" y="303"/>
                  </a:lnTo>
                  <a:lnTo>
                    <a:pt x="477" y="303"/>
                  </a:lnTo>
                  <a:lnTo>
                    <a:pt x="477" y="303"/>
                  </a:lnTo>
                  <a:lnTo>
                    <a:pt x="477" y="303"/>
                  </a:lnTo>
                  <a:lnTo>
                    <a:pt x="477" y="303"/>
                  </a:lnTo>
                  <a:lnTo>
                    <a:pt x="477" y="301"/>
                  </a:lnTo>
                  <a:lnTo>
                    <a:pt x="477" y="301"/>
                  </a:lnTo>
                  <a:lnTo>
                    <a:pt x="477" y="301"/>
                  </a:lnTo>
                  <a:lnTo>
                    <a:pt x="477" y="299"/>
                  </a:lnTo>
                  <a:lnTo>
                    <a:pt x="475" y="299"/>
                  </a:lnTo>
                  <a:lnTo>
                    <a:pt x="475" y="299"/>
                  </a:lnTo>
                  <a:lnTo>
                    <a:pt x="473" y="299"/>
                  </a:lnTo>
                  <a:lnTo>
                    <a:pt x="473" y="299"/>
                  </a:lnTo>
                  <a:lnTo>
                    <a:pt x="473" y="299"/>
                  </a:lnTo>
                  <a:lnTo>
                    <a:pt x="473" y="299"/>
                  </a:lnTo>
                  <a:lnTo>
                    <a:pt x="473" y="299"/>
                  </a:lnTo>
                  <a:lnTo>
                    <a:pt x="473" y="297"/>
                  </a:lnTo>
                  <a:lnTo>
                    <a:pt x="473" y="297"/>
                  </a:lnTo>
                  <a:lnTo>
                    <a:pt x="471" y="295"/>
                  </a:lnTo>
                  <a:lnTo>
                    <a:pt x="471" y="293"/>
                  </a:lnTo>
                  <a:lnTo>
                    <a:pt x="471" y="293"/>
                  </a:lnTo>
                  <a:lnTo>
                    <a:pt x="471" y="293"/>
                  </a:lnTo>
                  <a:lnTo>
                    <a:pt x="473" y="291"/>
                  </a:lnTo>
                  <a:lnTo>
                    <a:pt x="473" y="291"/>
                  </a:lnTo>
                  <a:lnTo>
                    <a:pt x="475" y="290"/>
                  </a:lnTo>
                  <a:lnTo>
                    <a:pt x="477" y="288"/>
                  </a:lnTo>
                  <a:lnTo>
                    <a:pt x="477" y="288"/>
                  </a:lnTo>
                  <a:lnTo>
                    <a:pt x="477" y="288"/>
                  </a:lnTo>
                  <a:lnTo>
                    <a:pt x="479" y="288"/>
                  </a:lnTo>
                  <a:lnTo>
                    <a:pt x="479" y="286"/>
                  </a:lnTo>
                  <a:lnTo>
                    <a:pt x="479" y="286"/>
                  </a:lnTo>
                  <a:lnTo>
                    <a:pt x="479" y="286"/>
                  </a:lnTo>
                  <a:lnTo>
                    <a:pt x="479" y="284"/>
                  </a:lnTo>
                  <a:lnTo>
                    <a:pt x="479" y="284"/>
                  </a:lnTo>
                  <a:lnTo>
                    <a:pt x="479" y="282"/>
                  </a:lnTo>
                  <a:lnTo>
                    <a:pt x="479" y="282"/>
                  </a:lnTo>
                  <a:lnTo>
                    <a:pt x="481" y="280"/>
                  </a:lnTo>
                  <a:lnTo>
                    <a:pt x="481" y="276"/>
                  </a:lnTo>
                  <a:lnTo>
                    <a:pt x="481" y="274"/>
                  </a:lnTo>
                  <a:lnTo>
                    <a:pt x="482" y="274"/>
                  </a:lnTo>
                  <a:lnTo>
                    <a:pt x="484" y="272"/>
                  </a:lnTo>
                  <a:lnTo>
                    <a:pt x="484" y="271"/>
                  </a:lnTo>
                  <a:lnTo>
                    <a:pt x="484" y="271"/>
                  </a:lnTo>
                  <a:lnTo>
                    <a:pt x="482" y="271"/>
                  </a:lnTo>
                  <a:lnTo>
                    <a:pt x="482" y="271"/>
                  </a:lnTo>
                  <a:lnTo>
                    <a:pt x="482" y="269"/>
                  </a:lnTo>
                  <a:lnTo>
                    <a:pt x="482" y="269"/>
                  </a:lnTo>
                  <a:lnTo>
                    <a:pt x="484" y="267"/>
                  </a:lnTo>
                  <a:lnTo>
                    <a:pt x="484" y="267"/>
                  </a:lnTo>
                  <a:lnTo>
                    <a:pt x="484" y="267"/>
                  </a:lnTo>
                  <a:lnTo>
                    <a:pt x="486" y="267"/>
                  </a:lnTo>
                  <a:lnTo>
                    <a:pt x="486" y="267"/>
                  </a:lnTo>
                  <a:lnTo>
                    <a:pt x="488" y="267"/>
                  </a:lnTo>
                  <a:lnTo>
                    <a:pt x="488" y="267"/>
                  </a:lnTo>
                  <a:lnTo>
                    <a:pt x="490" y="267"/>
                  </a:lnTo>
                  <a:lnTo>
                    <a:pt x="490" y="267"/>
                  </a:lnTo>
                  <a:lnTo>
                    <a:pt x="492" y="267"/>
                  </a:lnTo>
                  <a:lnTo>
                    <a:pt x="494" y="267"/>
                  </a:lnTo>
                  <a:lnTo>
                    <a:pt x="494" y="267"/>
                  </a:lnTo>
                  <a:lnTo>
                    <a:pt x="496" y="271"/>
                  </a:lnTo>
                  <a:lnTo>
                    <a:pt x="496" y="271"/>
                  </a:lnTo>
                  <a:lnTo>
                    <a:pt x="498" y="272"/>
                  </a:lnTo>
                  <a:lnTo>
                    <a:pt x="500" y="272"/>
                  </a:lnTo>
                  <a:lnTo>
                    <a:pt x="500" y="272"/>
                  </a:lnTo>
                  <a:lnTo>
                    <a:pt x="501" y="272"/>
                  </a:lnTo>
                  <a:lnTo>
                    <a:pt x="503" y="272"/>
                  </a:lnTo>
                  <a:lnTo>
                    <a:pt x="503" y="272"/>
                  </a:lnTo>
                  <a:lnTo>
                    <a:pt x="503" y="272"/>
                  </a:lnTo>
                  <a:lnTo>
                    <a:pt x="505" y="272"/>
                  </a:lnTo>
                  <a:lnTo>
                    <a:pt x="505" y="272"/>
                  </a:lnTo>
                  <a:lnTo>
                    <a:pt x="509" y="272"/>
                  </a:lnTo>
                  <a:lnTo>
                    <a:pt x="509" y="272"/>
                  </a:lnTo>
                  <a:lnTo>
                    <a:pt x="511" y="272"/>
                  </a:lnTo>
                  <a:lnTo>
                    <a:pt x="511" y="271"/>
                  </a:lnTo>
                  <a:lnTo>
                    <a:pt x="511" y="269"/>
                  </a:lnTo>
                  <a:lnTo>
                    <a:pt x="511" y="269"/>
                  </a:lnTo>
                  <a:lnTo>
                    <a:pt x="511" y="263"/>
                  </a:lnTo>
                  <a:lnTo>
                    <a:pt x="511" y="263"/>
                  </a:lnTo>
                  <a:lnTo>
                    <a:pt x="511" y="261"/>
                  </a:lnTo>
                  <a:lnTo>
                    <a:pt x="511" y="261"/>
                  </a:lnTo>
                  <a:lnTo>
                    <a:pt x="511" y="261"/>
                  </a:lnTo>
                  <a:lnTo>
                    <a:pt x="511" y="259"/>
                  </a:lnTo>
                  <a:lnTo>
                    <a:pt x="513" y="257"/>
                  </a:lnTo>
                  <a:lnTo>
                    <a:pt x="513" y="255"/>
                  </a:lnTo>
                  <a:lnTo>
                    <a:pt x="515" y="253"/>
                  </a:lnTo>
                  <a:lnTo>
                    <a:pt x="515" y="253"/>
                  </a:lnTo>
                  <a:lnTo>
                    <a:pt x="517" y="253"/>
                  </a:lnTo>
                  <a:lnTo>
                    <a:pt x="521" y="253"/>
                  </a:lnTo>
                  <a:lnTo>
                    <a:pt x="521" y="252"/>
                  </a:lnTo>
                  <a:lnTo>
                    <a:pt x="522" y="252"/>
                  </a:lnTo>
                  <a:lnTo>
                    <a:pt x="522" y="252"/>
                  </a:lnTo>
                  <a:lnTo>
                    <a:pt x="522" y="250"/>
                  </a:lnTo>
                  <a:lnTo>
                    <a:pt x="522" y="250"/>
                  </a:lnTo>
                  <a:lnTo>
                    <a:pt x="522" y="244"/>
                  </a:lnTo>
                  <a:lnTo>
                    <a:pt x="522" y="242"/>
                  </a:lnTo>
                  <a:lnTo>
                    <a:pt x="522" y="240"/>
                  </a:lnTo>
                  <a:lnTo>
                    <a:pt x="524" y="238"/>
                  </a:lnTo>
                  <a:lnTo>
                    <a:pt x="524" y="236"/>
                  </a:lnTo>
                  <a:lnTo>
                    <a:pt x="526" y="234"/>
                  </a:lnTo>
                  <a:lnTo>
                    <a:pt x="526" y="233"/>
                  </a:lnTo>
                  <a:lnTo>
                    <a:pt x="530" y="231"/>
                  </a:lnTo>
                  <a:lnTo>
                    <a:pt x="530" y="231"/>
                  </a:lnTo>
                  <a:lnTo>
                    <a:pt x="530" y="231"/>
                  </a:lnTo>
                  <a:lnTo>
                    <a:pt x="532" y="229"/>
                  </a:lnTo>
                  <a:lnTo>
                    <a:pt x="532" y="229"/>
                  </a:lnTo>
                  <a:lnTo>
                    <a:pt x="532" y="227"/>
                  </a:lnTo>
                  <a:lnTo>
                    <a:pt x="532" y="227"/>
                  </a:lnTo>
                  <a:lnTo>
                    <a:pt x="530" y="225"/>
                  </a:lnTo>
                  <a:lnTo>
                    <a:pt x="530" y="225"/>
                  </a:lnTo>
                  <a:lnTo>
                    <a:pt x="528" y="225"/>
                  </a:lnTo>
                  <a:lnTo>
                    <a:pt x="528" y="225"/>
                  </a:lnTo>
                  <a:lnTo>
                    <a:pt x="524" y="215"/>
                  </a:lnTo>
                  <a:lnTo>
                    <a:pt x="524" y="213"/>
                  </a:lnTo>
                  <a:lnTo>
                    <a:pt x="524" y="212"/>
                  </a:lnTo>
                  <a:lnTo>
                    <a:pt x="528" y="213"/>
                  </a:lnTo>
                  <a:lnTo>
                    <a:pt x="530" y="213"/>
                  </a:lnTo>
                  <a:lnTo>
                    <a:pt x="530" y="213"/>
                  </a:lnTo>
                  <a:lnTo>
                    <a:pt x="530" y="215"/>
                  </a:lnTo>
                  <a:lnTo>
                    <a:pt x="532" y="217"/>
                  </a:lnTo>
                  <a:lnTo>
                    <a:pt x="532" y="217"/>
                  </a:lnTo>
                  <a:lnTo>
                    <a:pt x="532" y="217"/>
                  </a:lnTo>
                  <a:lnTo>
                    <a:pt x="532" y="217"/>
                  </a:lnTo>
                  <a:lnTo>
                    <a:pt x="538" y="221"/>
                  </a:lnTo>
                  <a:lnTo>
                    <a:pt x="540" y="221"/>
                  </a:lnTo>
                  <a:lnTo>
                    <a:pt x="540" y="219"/>
                  </a:lnTo>
                  <a:lnTo>
                    <a:pt x="540" y="219"/>
                  </a:lnTo>
                  <a:lnTo>
                    <a:pt x="540" y="219"/>
                  </a:lnTo>
                  <a:lnTo>
                    <a:pt x="540" y="219"/>
                  </a:lnTo>
                  <a:lnTo>
                    <a:pt x="541" y="219"/>
                  </a:lnTo>
                  <a:lnTo>
                    <a:pt x="541" y="219"/>
                  </a:lnTo>
                  <a:lnTo>
                    <a:pt x="541" y="217"/>
                  </a:lnTo>
                  <a:lnTo>
                    <a:pt x="541" y="217"/>
                  </a:lnTo>
                  <a:lnTo>
                    <a:pt x="543" y="217"/>
                  </a:lnTo>
                  <a:lnTo>
                    <a:pt x="543" y="217"/>
                  </a:lnTo>
                  <a:lnTo>
                    <a:pt x="543" y="217"/>
                  </a:lnTo>
                  <a:lnTo>
                    <a:pt x="545" y="219"/>
                  </a:lnTo>
                  <a:lnTo>
                    <a:pt x="545" y="219"/>
                  </a:lnTo>
                  <a:lnTo>
                    <a:pt x="547" y="219"/>
                  </a:lnTo>
                  <a:lnTo>
                    <a:pt x="547" y="219"/>
                  </a:lnTo>
                  <a:lnTo>
                    <a:pt x="549" y="219"/>
                  </a:lnTo>
                  <a:lnTo>
                    <a:pt x="551" y="219"/>
                  </a:lnTo>
                  <a:lnTo>
                    <a:pt x="557" y="221"/>
                  </a:lnTo>
                  <a:lnTo>
                    <a:pt x="561" y="223"/>
                  </a:lnTo>
                  <a:lnTo>
                    <a:pt x="561" y="223"/>
                  </a:lnTo>
                  <a:lnTo>
                    <a:pt x="562" y="223"/>
                  </a:lnTo>
                  <a:lnTo>
                    <a:pt x="566" y="223"/>
                  </a:lnTo>
                  <a:lnTo>
                    <a:pt x="568" y="223"/>
                  </a:lnTo>
                  <a:lnTo>
                    <a:pt x="570" y="225"/>
                  </a:lnTo>
                  <a:lnTo>
                    <a:pt x="570" y="225"/>
                  </a:lnTo>
                  <a:lnTo>
                    <a:pt x="570" y="225"/>
                  </a:lnTo>
                  <a:lnTo>
                    <a:pt x="572" y="227"/>
                  </a:lnTo>
                  <a:lnTo>
                    <a:pt x="572" y="227"/>
                  </a:lnTo>
                  <a:lnTo>
                    <a:pt x="572" y="227"/>
                  </a:lnTo>
                  <a:lnTo>
                    <a:pt x="572" y="227"/>
                  </a:lnTo>
                  <a:lnTo>
                    <a:pt x="574" y="234"/>
                  </a:lnTo>
                  <a:lnTo>
                    <a:pt x="576" y="234"/>
                  </a:lnTo>
                  <a:lnTo>
                    <a:pt x="576" y="236"/>
                  </a:lnTo>
                  <a:lnTo>
                    <a:pt x="576" y="236"/>
                  </a:lnTo>
                  <a:lnTo>
                    <a:pt x="578" y="236"/>
                  </a:lnTo>
                  <a:lnTo>
                    <a:pt x="580" y="238"/>
                  </a:lnTo>
                  <a:lnTo>
                    <a:pt x="580" y="238"/>
                  </a:lnTo>
                  <a:lnTo>
                    <a:pt x="580" y="238"/>
                  </a:lnTo>
                  <a:lnTo>
                    <a:pt x="580" y="240"/>
                  </a:lnTo>
                  <a:lnTo>
                    <a:pt x="580" y="240"/>
                  </a:lnTo>
                  <a:lnTo>
                    <a:pt x="582" y="240"/>
                  </a:lnTo>
                  <a:lnTo>
                    <a:pt x="583" y="240"/>
                  </a:lnTo>
                  <a:lnTo>
                    <a:pt x="583" y="242"/>
                  </a:lnTo>
                  <a:lnTo>
                    <a:pt x="585" y="242"/>
                  </a:lnTo>
                  <a:lnTo>
                    <a:pt x="585" y="242"/>
                  </a:lnTo>
                  <a:lnTo>
                    <a:pt x="585" y="242"/>
                  </a:lnTo>
                  <a:lnTo>
                    <a:pt x="585" y="242"/>
                  </a:lnTo>
                  <a:lnTo>
                    <a:pt x="587" y="242"/>
                  </a:lnTo>
                  <a:lnTo>
                    <a:pt x="589" y="242"/>
                  </a:lnTo>
                  <a:lnTo>
                    <a:pt x="589" y="242"/>
                  </a:lnTo>
                  <a:lnTo>
                    <a:pt x="591" y="240"/>
                  </a:lnTo>
                  <a:lnTo>
                    <a:pt x="591" y="238"/>
                  </a:lnTo>
                  <a:lnTo>
                    <a:pt x="593" y="238"/>
                  </a:lnTo>
                  <a:lnTo>
                    <a:pt x="593" y="238"/>
                  </a:lnTo>
                  <a:lnTo>
                    <a:pt x="597" y="236"/>
                  </a:lnTo>
                  <a:lnTo>
                    <a:pt x="602" y="234"/>
                  </a:lnTo>
                  <a:lnTo>
                    <a:pt x="602" y="234"/>
                  </a:lnTo>
                  <a:lnTo>
                    <a:pt x="604" y="234"/>
                  </a:lnTo>
                  <a:lnTo>
                    <a:pt x="606" y="236"/>
                  </a:lnTo>
                  <a:lnTo>
                    <a:pt x="606" y="236"/>
                  </a:lnTo>
                  <a:lnTo>
                    <a:pt x="608" y="236"/>
                  </a:lnTo>
                  <a:lnTo>
                    <a:pt x="608" y="240"/>
                  </a:lnTo>
                  <a:lnTo>
                    <a:pt x="610" y="240"/>
                  </a:lnTo>
                  <a:lnTo>
                    <a:pt x="610" y="240"/>
                  </a:lnTo>
                  <a:lnTo>
                    <a:pt x="610" y="240"/>
                  </a:lnTo>
                  <a:lnTo>
                    <a:pt x="620" y="242"/>
                  </a:lnTo>
                  <a:lnTo>
                    <a:pt x="620" y="242"/>
                  </a:lnTo>
                  <a:lnTo>
                    <a:pt x="622" y="242"/>
                  </a:lnTo>
                  <a:lnTo>
                    <a:pt x="622" y="244"/>
                  </a:lnTo>
                  <a:lnTo>
                    <a:pt x="622" y="246"/>
                  </a:lnTo>
                  <a:lnTo>
                    <a:pt x="623" y="246"/>
                  </a:lnTo>
                  <a:lnTo>
                    <a:pt x="623" y="246"/>
                  </a:lnTo>
                  <a:lnTo>
                    <a:pt x="625" y="246"/>
                  </a:lnTo>
                  <a:lnTo>
                    <a:pt x="633" y="246"/>
                  </a:lnTo>
                  <a:lnTo>
                    <a:pt x="633" y="246"/>
                  </a:lnTo>
                  <a:lnTo>
                    <a:pt x="633" y="246"/>
                  </a:lnTo>
                  <a:lnTo>
                    <a:pt x="637" y="246"/>
                  </a:lnTo>
                  <a:lnTo>
                    <a:pt x="637" y="246"/>
                  </a:lnTo>
                  <a:lnTo>
                    <a:pt x="637" y="248"/>
                  </a:lnTo>
                  <a:lnTo>
                    <a:pt x="639" y="248"/>
                  </a:lnTo>
                  <a:lnTo>
                    <a:pt x="639" y="248"/>
                  </a:lnTo>
                  <a:lnTo>
                    <a:pt x="639" y="248"/>
                  </a:lnTo>
                  <a:lnTo>
                    <a:pt x="639" y="248"/>
                  </a:lnTo>
                  <a:lnTo>
                    <a:pt x="641" y="248"/>
                  </a:lnTo>
                  <a:lnTo>
                    <a:pt x="641" y="248"/>
                  </a:lnTo>
                  <a:lnTo>
                    <a:pt x="641" y="248"/>
                  </a:lnTo>
                  <a:lnTo>
                    <a:pt x="642" y="248"/>
                  </a:lnTo>
                  <a:lnTo>
                    <a:pt x="642" y="248"/>
                  </a:lnTo>
                  <a:lnTo>
                    <a:pt x="642" y="246"/>
                  </a:lnTo>
                  <a:lnTo>
                    <a:pt x="642" y="246"/>
                  </a:lnTo>
                  <a:lnTo>
                    <a:pt x="642" y="244"/>
                  </a:lnTo>
                  <a:lnTo>
                    <a:pt x="642" y="244"/>
                  </a:lnTo>
                  <a:lnTo>
                    <a:pt x="644" y="244"/>
                  </a:lnTo>
                  <a:lnTo>
                    <a:pt x="644" y="242"/>
                  </a:lnTo>
                  <a:lnTo>
                    <a:pt x="652" y="240"/>
                  </a:lnTo>
                  <a:lnTo>
                    <a:pt x="652" y="240"/>
                  </a:lnTo>
                  <a:lnTo>
                    <a:pt x="652" y="240"/>
                  </a:lnTo>
                  <a:lnTo>
                    <a:pt x="654" y="240"/>
                  </a:lnTo>
                  <a:lnTo>
                    <a:pt x="660" y="240"/>
                  </a:lnTo>
                  <a:lnTo>
                    <a:pt x="662" y="242"/>
                  </a:lnTo>
                  <a:lnTo>
                    <a:pt x="662" y="242"/>
                  </a:lnTo>
                  <a:lnTo>
                    <a:pt x="663" y="244"/>
                  </a:lnTo>
                  <a:lnTo>
                    <a:pt x="663" y="246"/>
                  </a:lnTo>
                  <a:lnTo>
                    <a:pt x="665" y="248"/>
                  </a:lnTo>
                  <a:lnTo>
                    <a:pt x="665" y="248"/>
                  </a:lnTo>
                  <a:lnTo>
                    <a:pt x="667" y="248"/>
                  </a:lnTo>
                  <a:lnTo>
                    <a:pt x="667" y="250"/>
                  </a:lnTo>
                  <a:lnTo>
                    <a:pt x="667" y="250"/>
                  </a:lnTo>
                  <a:lnTo>
                    <a:pt x="669" y="250"/>
                  </a:lnTo>
                  <a:lnTo>
                    <a:pt x="671" y="250"/>
                  </a:lnTo>
                  <a:lnTo>
                    <a:pt x="671" y="250"/>
                  </a:lnTo>
                  <a:lnTo>
                    <a:pt x="671" y="250"/>
                  </a:lnTo>
                  <a:lnTo>
                    <a:pt x="673" y="252"/>
                  </a:lnTo>
                  <a:lnTo>
                    <a:pt x="673" y="252"/>
                  </a:lnTo>
                  <a:lnTo>
                    <a:pt x="673" y="253"/>
                  </a:lnTo>
                  <a:lnTo>
                    <a:pt x="675" y="253"/>
                  </a:lnTo>
                  <a:lnTo>
                    <a:pt x="675" y="253"/>
                  </a:lnTo>
                  <a:lnTo>
                    <a:pt x="675" y="255"/>
                  </a:lnTo>
                  <a:lnTo>
                    <a:pt x="675" y="257"/>
                  </a:lnTo>
                  <a:lnTo>
                    <a:pt x="675" y="257"/>
                  </a:lnTo>
                  <a:lnTo>
                    <a:pt x="675" y="259"/>
                  </a:lnTo>
                  <a:lnTo>
                    <a:pt x="675" y="263"/>
                  </a:lnTo>
                  <a:lnTo>
                    <a:pt x="675" y="265"/>
                  </a:lnTo>
                  <a:lnTo>
                    <a:pt x="675" y="265"/>
                  </a:lnTo>
                  <a:lnTo>
                    <a:pt x="675" y="267"/>
                  </a:lnTo>
                  <a:lnTo>
                    <a:pt x="675" y="269"/>
                  </a:lnTo>
                  <a:lnTo>
                    <a:pt x="675" y="271"/>
                  </a:lnTo>
                  <a:lnTo>
                    <a:pt x="673" y="271"/>
                  </a:lnTo>
                  <a:lnTo>
                    <a:pt x="673" y="272"/>
                  </a:lnTo>
                  <a:lnTo>
                    <a:pt x="673" y="272"/>
                  </a:lnTo>
                  <a:lnTo>
                    <a:pt x="673" y="272"/>
                  </a:lnTo>
                  <a:lnTo>
                    <a:pt x="673" y="272"/>
                  </a:lnTo>
                  <a:lnTo>
                    <a:pt x="673" y="274"/>
                  </a:lnTo>
                  <a:lnTo>
                    <a:pt x="673" y="276"/>
                  </a:lnTo>
                  <a:lnTo>
                    <a:pt x="673" y="278"/>
                  </a:lnTo>
                  <a:lnTo>
                    <a:pt x="673" y="280"/>
                  </a:lnTo>
                  <a:lnTo>
                    <a:pt x="673" y="282"/>
                  </a:lnTo>
                  <a:lnTo>
                    <a:pt x="671" y="282"/>
                  </a:lnTo>
                  <a:lnTo>
                    <a:pt x="669" y="286"/>
                  </a:lnTo>
                  <a:lnTo>
                    <a:pt x="667" y="288"/>
                  </a:lnTo>
                  <a:lnTo>
                    <a:pt x="665" y="290"/>
                  </a:lnTo>
                  <a:lnTo>
                    <a:pt x="667" y="293"/>
                  </a:lnTo>
                  <a:lnTo>
                    <a:pt x="667" y="293"/>
                  </a:lnTo>
                  <a:lnTo>
                    <a:pt x="673" y="293"/>
                  </a:lnTo>
                  <a:lnTo>
                    <a:pt x="673" y="295"/>
                  </a:lnTo>
                  <a:lnTo>
                    <a:pt x="675" y="301"/>
                  </a:lnTo>
                  <a:lnTo>
                    <a:pt x="675" y="305"/>
                  </a:lnTo>
                  <a:lnTo>
                    <a:pt x="675" y="309"/>
                  </a:lnTo>
                  <a:lnTo>
                    <a:pt x="675" y="310"/>
                  </a:lnTo>
                  <a:lnTo>
                    <a:pt x="675" y="312"/>
                  </a:lnTo>
                  <a:lnTo>
                    <a:pt x="671" y="314"/>
                  </a:lnTo>
                  <a:lnTo>
                    <a:pt x="671" y="316"/>
                  </a:lnTo>
                  <a:lnTo>
                    <a:pt x="677" y="318"/>
                  </a:lnTo>
                  <a:lnTo>
                    <a:pt x="679" y="320"/>
                  </a:lnTo>
                  <a:lnTo>
                    <a:pt x="683" y="322"/>
                  </a:lnTo>
                  <a:lnTo>
                    <a:pt x="684" y="324"/>
                  </a:lnTo>
                  <a:lnTo>
                    <a:pt x="684" y="324"/>
                  </a:lnTo>
                  <a:lnTo>
                    <a:pt x="686" y="328"/>
                  </a:lnTo>
                  <a:lnTo>
                    <a:pt x="686" y="328"/>
                  </a:lnTo>
                  <a:lnTo>
                    <a:pt x="694" y="328"/>
                  </a:lnTo>
                  <a:lnTo>
                    <a:pt x="702" y="328"/>
                  </a:lnTo>
                  <a:lnTo>
                    <a:pt x="702" y="328"/>
                  </a:lnTo>
                  <a:lnTo>
                    <a:pt x="703" y="326"/>
                  </a:lnTo>
                  <a:lnTo>
                    <a:pt x="703" y="324"/>
                  </a:lnTo>
                  <a:lnTo>
                    <a:pt x="703" y="324"/>
                  </a:lnTo>
                  <a:lnTo>
                    <a:pt x="703" y="322"/>
                  </a:lnTo>
                  <a:lnTo>
                    <a:pt x="703" y="320"/>
                  </a:lnTo>
                  <a:lnTo>
                    <a:pt x="703" y="320"/>
                  </a:lnTo>
                  <a:lnTo>
                    <a:pt x="709" y="316"/>
                  </a:lnTo>
                  <a:lnTo>
                    <a:pt x="711" y="314"/>
                  </a:lnTo>
                  <a:lnTo>
                    <a:pt x="711" y="312"/>
                  </a:lnTo>
                  <a:lnTo>
                    <a:pt x="705" y="307"/>
                  </a:lnTo>
                  <a:lnTo>
                    <a:pt x="703" y="303"/>
                  </a:lnTo>
                  <a:lnTo>
                    <a:pt x="703" y="301"/>
                  </a:lnTo>
                  <a:lnTo>
                    <a:pt x="705" y="297"/>
                  </a:lnTo>
                  <a:lnTo>
                    <a:pt x="711" y="290"/>
                  </a:lnTo>
                  <a:lnTo>
                    <a:pt x="713" y="288"/>
                  </a:lnTo>
                  <a:lnTo>
                    <a:pt x="713" y="286"/>
                  </a:lnTo>
                  <a:lnTo>
                    <a:pt x="713" y="284"/>
                  </a:lnTo>
                  <a:lnTo>
                    <a:pt x="715" y="276"/>
                  </a:lnTo>
                  <a:lnTo>
                    <a:pt x="717" y="274"/>
                  </a:lnTo>
                  <a:lnTo>
                    <a:pt x="717" y="272"/>
                  </a:lnTo>
                  <a:lnTo>
                    <a:pt x="719" y="272"/>
                  </a:lnTo>
                  <a:lnTo>
                    <a:pt x="721" y="272"/>
                  </a:lnTo>
                  <a:lnTo>
                    <a:pt x="721" y="271"/>
                  </a:lnTo>
                  <a:lnTo>
                    <a:pt x="723" y="267"/>
                  </a:lnTo>
                  <a:lnTo>
                    <a:pt x="723" y="267"/>
                  </a:lnTo>
                  <a:lnTo>
                    <a:pt x="724" y="265"/>
                  </a:lnTo>
                  <a:lnTo>
                    <a:pt x="726" y="265"/>
                  </a:lnTo>
                  <a:lnTo>
                    <a:pt x="726" y="265"/>
                  </a:lnTo>
                  <a:lnTo>
                    <a:pt x="728" y="263"/>
                  </a:lnTo>
                  <a:lnTo>
                    <a:pt x="728" y="261"/>
                  </a:lnTo>
                  <a:lnTo>
                    <a:pt x="730" y="261"/>
                  </a:lnTo>
                  <a:lnTo>
                    <a:pt x="732" y="259"/>
                  </a:lnTo>
                  <a:lnTo>
                    <a:pt x="734" y="261"/>
                  </a:lnTo>
                  <a:lnTo>
                    <a:pt x="734" y="265"/>
                  </a:lnTo>
                  <a:lnTo>
                    <a:pt x="736" y="267"/>
                  </a:lnTo>
                  <a:lnTo>
                    <a:pt x="738" y="267"/>
                  </a:lnTo>
                  <a:lnTo>
                    <a:pt x="740" y="267"/>
                  </a:lnTo>
                  <a:lnTo>
                    <a:pt x="742" y="267"/>
                  </a:lnTo>
                  <a:lnTo>
                    <a:pt x="743" y="269"/>
                  </a:lnTo>
                  <a:lnTo>
                    <a:pt x="743" y="271"/>
                  </a:lnTo>
                  <a:lnTo>
                    <a:pt x="745" y="272"/>
                  </a:lnTo>
                  <a:lnTo>
                    <a:pt x="745" y="272"/>
                  </a:lnTo>
                  <a:lnTo>
                    <a:pt x="745" y="272"/>
                  </a:lnTo>
                  <a:lnTo>
                    <a:pt x="747" y="271"/>
                  </a:lnTo>
                  <a:lnTo>
                    <a:pt x="747" y="271"/>
                  </a:lnTo>
                  <a:lnTo>
                    <a:pt x="749" y="269"/>
                  </a:lnTo>
                  <a:lnTo>
                    <a:pt x="751" y="269"/>
                  </a:lnTo>
                  <a:lnTo>
                    <a:pt x="755" y="267"/>
                  </a:lnTo>
                  <a:lnTo>
                    <a:pt x="755" y="265"/>
                  </a:lnTo>
                  <a:lnTo>
                    <a:pt x="755" y="265"/>
                  </a:lnTo>
                  <a:lnTo>
                    <a:pt x="755" y="263"/>
                  </a:lnTo>
                  <a:lnTo>
                    <a:pt x="753" y="261"/>
                  </a:lnTo>
                  <a:lnTo>
                    <a:pt x="753" y="259"/>
                  </a:lnTo>
                  <a:lnTo>
                    <a:pt x="753" y="259"/>
                  </a:lnTo>
                  <a:lnTo>
                    <a:pt x="755" y="259"/>
                  </a:lnTo>
                  <a:lnTo>
                    <a:pt x="755" y="257"/>
                  </a:lnTo>
                  <a:lnTo>
                    <a:pt x="757" y="257"/>
                  </a:lnTo>
                  <a:lnTo>
                    <a:pt x="759" y="257"/>
                  </a:lnTo>
                  <a:lnTo>
                    <a:pt x="761" y="257"/>
                  </a:lnTo>
                  <a:lnTo>
                    <a:pt x="761" y="255"/>
                  </a:lnTo>
                  <a:lnTo>
                    <a:pt x="761" y="253"/>
                  </a:lnTo>
                  <a:lnTo>
                    <a:pt x="763" y="253"/>
                  </a:lnTo>
                  <a:lnTo>
                    <a:pt x="761" y="252"/>
                  </a:lnTo>
                  <a:close/>
                </a:path>
              </a:pathLst>
            </a:custGeom>
            <a:solidFill>
              <a:schemeClr val="accent6">
                <a:lumMod val="75000"/>
              </a:schemeClr>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88" name="Freeform 37">
              <a:extLst>
                <a:ext uri="{FF2B5EF4-FFF2-40B4-BE49-F238E27FC236}">
                  <a16:creationId xmlns:a16="http://schemas.microsoft.com/office/drawing/2014/main" id="{EDC402C7-3844-958C-D099-AD6079C20FAC}"/>
                </a:ext>
              </a:extLst>
            </p:cNvPr>
            <p:cNvSpPr>
              <a:spLocks/>
            </p:cNvSpPr>
            <p:nvPr/>
          </p:nvSpPr>
          <p:spPr bwMode="auto">
            <a:xfrm>
              <a:off x="1792815" y="3863086"/>
              <a:ext cx="1439425" cy="1055515"/>
            </a:xfrm>
            <a:custGeom>
              <a:avLst/>
              <a:gdLst>
                <a:gd name="T0" fmla="*/ 724 w 763"/>
                <a:gd name="T1" fmla="*/ 223 h 624"/>
                <a:gd name="T2" fmla="*/ 726 w 763"/>
                <a:gd name="T3" fmla="*/ 208 h 624"/>
                <a:gd name="T4" fmla="*/ 736 w 763"/>
                <a:gd name="T5" fmla="*/ 166 h 624"/>
                <a:gd name="T6" fmla="*/ 730 w 763"/>
                <a:gd name="T7" fmla="*/ 136 h 624"/>
                <a:gd name="T8" fmla="*/ 742 w 763"/>
                <a:gd name="T9" fmla="*/ 67 h 624"/>
                <a:gd name="T10" fmla="*/ 696 w 763"/>
                <a:gd name="T11" fmla="*/ 39 h 624"/>
                <a:gd name="T12" fmla="*/ 642 w 763"/>
                <a:gd name="T13" fmla="*/ 48 h 624"/>
                <a:gd name="T14" fmla="*/ 580 w 763"/>
                <a:gd name="T15" fmla="*/ 46 h 624"/>
                <a:gd name="T16" fmla="*/ 532 w 763"/>
                <a:gd name="T17" fmla="*/ 40 h 624"/>
                <a:gd name="T18" fmla="*/ 458 w 763"/>
                <a:gd name="T19" fmla="*/ 63 h 624"/>
                <a:gd name="T20" fmla="*/ 452 w 763"/>
                <a:gd name="T21" fmla="*/ 33 h 624"/>
                <a:gd name="T22" fmla="*/ 387 w 763"/>
                <a:gd name="T23" fmla="*/ 42 h 624"/>
                <a:gd name="T24" fmla="*/ 347 w 763"/>
                <a:gd name="T25" fmla="*/ 92 h 624"/>
                <a:gd name="T26" fmla="*/ 273 w 763"/>
                <a:gd name="T27" fmla="*/ 63 h 624"/>
                <a:gd name="T28" fmla="*/ 185 w 763"/>
                <a:gd name="T29" fmla="*/ 39 h 624"/>
                <a:gd name="T30" fmla="*/ 122 w 763"/>
                <a:gd name="T31" fmla="*/ 14 h 624"/>
                <a:gd name="T32" fmla="*/ 124 w 763"/>
                <a:gd name="T33" fmla="*/ 48 h 624"/>
                <a:gd name="T34" fmla="*/ 130 w 763"/>
                <a:gd name="T35" fmla="*/ 56 h 624"/>
                <a:gd name="T36" fmla="*/ 86 w 763"/>
                <a:gd name="T37" fmla="*/ 82 h 624"/>
                <a:gd name="T38" fmla="*/ 111 w 763"/>
                <a:gd name="T39" fmla="*/ 132 h 624"/>
                <a:gd name="T40" fmla="*/ 67 w 763"/>
                <a:gd name="T41" fmla="*/ 137 h 624"/>
                <a:gd name="T42" fmla="*/ 67 w 763"/>
                <a:gd name="T43" fmla="*/ 179 h 624"/>
                <a:gd name="T44" fmla="*/ 38 w 763"/>
                <a:gd name="T45" fmla="*/ 196 h 624"/>
                <a:gd name="T46" fmla="*/ 2 w 763"/>
                <a:gd name="T47" fmla="*/ 206 h 624"/>
                <a:gd name="T48" fmla="*/ 8 w 763"/>
                <a:gd name="T49" fmla="*/ 244 h 624"/>
                <a:gd name="T50" fmla="*/ 35 w 763"/>
                <a:gd name="T51" fmla="*/ 276 h 624"/>
                <a:gd name="T52" fmla="*/ 16 w 763"/>
                <a:gd name="T53" fmla="*/ 288 h 624"/>
                <a:gd name="T54" fmla="*/ 29 w 763"/>
                <a:gd name="T55" fmla="*/ 286 h 624"/>
                <a:gd name="T56" fmla="*/ 31 w 763"/>
                <a:gd name="T57" fmla="*/ 312 h 624"/>
                <a:gd name="T58" fmla="*/ 35 w 763"/>
                <a:gd name="T59" fmla="*/ 350 h 624"/>
                <a:gd name="T60" fmla="*/ 37 w 763"/>
                <a:gd name="T61" fmla="*/ 377 h 624"/>
                <a:gd name="T62" fmla="*/ 37 w 763"/>
                <a:gd name="T63" fmla="*/ 390 h 624"/>
                <a:gd name="T64" fmla="*/ 44 w 763"/>
                <a:gd name="T65" fmla="*/ 438 h 624"/>
                <a:gd name="T66" fmla="*/ 57 w 763"/>
                <a:gd name="T67" fmla="*/ 493 h 624"/>
                <a:gd name="T68" fmla="*/ 61 w 763"/>
                <a:gd name="T69" fmla="*/ 531 h 624"/>
                <a:gd name="T70" fmla="*/ 71 w 763"/>
                <a:gd name="T71" fmla="*/ 565 h 624"/>
                <a:gd name="T72" fmla="*/ 92 w 763"/>
                <a:gd name="T73" fmla="*/ 607 h 624"/>
                <a:gd name="T74" fmla="*/ 134 w 763"/>
                <a:gd name="T75" fmla="*/ 620 h 624"/>
                <a:gd name="T76" fmla="*/ 162 w 763"/>
                <a:gd name="T77" fmla="*/ 592 h 624"/>
                <a:gd name="T78" fmla="*/ 155 w 763"/>
                <a:gd name="T79" fmla="*/ 562 h 624"/>
                <a:gd name="T80" fmla="*/ 151 w 763"/>
                <a:gd name="T81" fmla="*/ 543 h 624"/>
                <a:gd name="T82" fmla="*/ 158 w 763"/>
                <a:gd name="T83" fmla="*/ 535 h 624"/>
                <a:gd name="T84" fmla="*/ 183 w 763"/>
                <a:gd name="T85" fmla="*/ 531 h 624"/>
                <a:gd name="T86" fmla="*/ 202 w 763"/>
                <a:gd name="T87" fmla="*/ 506 h 624"/>
                <a:gd name="T88" fmla="*/ 240 w 763"/>
                <a:gd name="T89" fmla="*/ 497 h 624"/>
                <a:gd name="T90" fmla="*/ 277 w 763"/>
                <a:gd name="T91" fmla="*/ 484 h 624"/>
                <a:gd name="T92" fmla="*/ 280 w 763"/>
                <a:gd name="T93" fmla="*/ 451 h 624"/>
                <a:gd name="T94" fmla="*/ 326 w 763"/>
                <a:gd name="T95" fmla="*/ 455 h 624"/>
                <a:gd name="T96" fmla="*/ 340 w 763"/>
                <a:gd name="T97" fmla="*/ 432 h 624"/>
                <a:gd name="T98" fmla="*/ 378 w 763"/>
                <a:gd name="T99" fmla="*/ 413 h 624"/>
                <a:gd name="T100" fmla="*/ 410 w 763"/>
                <a:gd name="T101" fmla="*/ 375 h 624"/>
                <a:gd name="T102" fmla="*/ 446 w 763"/>
                <a:gd name="T103" fmla="*/ 368 h 624"/>
                <a:gd name="T104" fmla="*/ 467 w 763"/>
                <a:gd name="T105" fmla="*/ 335 h 624"/>
                <a:gd name="T106" fmla="*/ 477 w 763"/>
                <a:gd name="T107" fmla="*/ 303 h 624"/>
                <a:gd name="T108" fmla="*/ 484 w 763"/>
                <a:gd name="T109" fmla="*/ 272 h 624"/>
                <a:gd name="T110" fmla="*/ 511 w 763"/>
                <a:gd name="T111" fmla="*/ 263 h 624"/>
                <a:gd name="T112" fmla="*/ 528 w 763"/>
                <a:gd name="T113" fmla="*/ 213 h 624"/>
                <a:gd name="T114" fmla="*/ 572 w 763"/>
                <a:gd name="T115" fmla="*/ 227 h 624"/>
                <a:gd name="T116" fmla="*/ 610 w 763"/>
                <a:gd name="T117" fmla="*/ 240 h 624"/>
                <a:gd name="T118" fmla="*/ 663 w 763"/>
                <a:gd name="T119" fmla="*/ 244 h 624"/>
                <a:gd name="T120" fmla="*/ 669 w 763"/>
                <a:gd name="T121" fmla="*/ 286 h 624"/>
                <a:gd name="T122" fmla="*/ 711 w 763"/>
                <a:gd name="T123" fmla="*/ 290 h 624"/>
                <a:gd name="T124" fmla="*/ 755 w 763"/>
                <a:gd name="T125" fmla="*/ 263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3" h="624">
                  <a:moveTo>
                    <a:pt x="761" y="252"/>
                  </a:moveTo>
                  <a:lnTo>
                    <a:pt x="761" y="250"/>
                  </a:lnTo>
                  <a:lnTo>
                    <a:pt x="757" y="248"/>
                  </a:lnTo>
                  <a:lnTo>
                    <a:pt x="757" y="246"/>
                  </a:lnTo>
                  <a:lnTo>
                    <a:pt x="755" y="244"/>
                  </a:lnTo>
                  <a:lnTo>
                    <a:pt x="755" y="244"/>
                  </a:lnTo>
                  <a:lnTo>
                    <a:pt x="755" y="244"/>
                  </a:lnTo>
                  <a:lnTo>
                    <a:pt x="753" y="244"/>
                  </a:lnTo>
                  <a:lnTo>
                    <a:pt x="751" y="242"/>
                  </a:lnTo>
                  <a:lnTo>
                    <a:pt x="749" y="242"/>
                  </a:lnTo>
                  <a:lnTo>
                    <a:pt x="745" y="240"/>
                  </a:lnTo>
                  <a:lnTo>
                    <a:pt x="743" y="240"/>
                  </a:lnTo>
                  <a:lnTo>
                    <a:pt x="743" y="238"/>
                  </a:lnTo>
                  <a:lnTo>
                    <a:pt x="742" y="238"/>
                  </a:lnTo>
                  <a:lnTo>
                    <a:pt x="742" y="233"/>
                  </a:lnTo>
                  <a:lnTo>
                    <a:pt x="740" y="231"/>
                  </a:lnTo>
                  <a:lnTo>
                    <a:pt x="740" y="231"/>
                  </a:lnTo>
                  <a:lnTo>
                    <a:pt x="740" y="231"/>
                  </a:lnTo>
                  <a:lnTo>
                    <a:pt x="738" y="229"/>
                  </a:lnTo>
                  <a:lnTo>
                    <a:pt x="734" y="229"/>
                  </a:lnTo>
                  <a:lnTo>
                    <a:pt x="734" y="229"/>
                  </a:lnTo>
                  <a:lnTo>
                    <a:pt x="732" y="227"/>
                  </a:lnTo>
                  <a:lnTo>
                    <a:pt x="730" y="227"/>
                  </a:lnTo>
                  <a:lnTo>
                    <a:pt x="730" y="225"/>
                  </a:lnTo>
                  <a:lnTo>
                    <a:pt x="730" y="221"/>
                  </a:lnTo>
                  <a:lnTo>
                    <a:pt x="728" y="219"/>
                  </a:lnTo>
                  <a:lnTo>
                    <a:pt x="728" y="219"/>
                  </a:lnTo>
                  <a:lnTo>
                    <a:pt x="728" y="219"/>
                  </a:lnTo>
                  <a:lnTo>
                    <a:pt x="726" y="219"/>
                  </a:lnTo>
                  <a:lnTo>
                    <a:pt x="726" y="219"/>
                  </a:lnTo>
                  <a:lnTo>
                    <a:pt x="724" y="219"/>
                  </a:lnTo>
                  <a:lnTo>
                    <a:pt x="724" y="219"/>
                  </a:lnTo>
                  <a:lnTo>
                    <a:pt x="724" y="221"/>
                  </a:lnTo>
                  <a:lnTo>
                    <a:pt x="724" y="221"/>
                  </a:lnTo>
                  <a:lnTo>
                    <a:pt x="724" y="221"/>
                  </a:lnTo>
                  <a:lnTo>
                    <a:pt x="724" y="221"/>
                  </a:lnTo>
                  <a:lnTo>
                    <a:pt x="724" y="223"/>
                  </a:lnTo>
                  <a:lnTo>
                    <a:pt x="724" y="223"/>
                  </a:lnTo>
                  <a:lnTo>
                    <a:pt x="724" y="223"/>
                  </a:lnTo>
                  <a:lnTo>
                    <a:pt x="724" y="223"/>
                  </a:lnTo>
                  <a:lnTo>
                    <a:pt x="723" y="223"/>
                  </a:lnTo>
                  <a:lnTo>
                    <a:pt x="723" y="223"/>
                  </a:lnTo>
                  <a:lnTo>
                    <a:pt x="721" y="223"/>
                  </a:lnTo>
                  <a:lnTo>
                    <a:pt x="719" y="223"/>
                  </a:lnTo>
                  <a:lnTo>
                    <a:pt x="717" y="223"/>
                  </a:lnTo>
                  <a:lnTo>
                    <a:pt x="717" y="221"/>
                  </a:lnTo>
                  <a:lnTo>
                    <a:pt x="717" y="221"/>
                  </a:lnTo>
                  <a:lnTo>
                    <a:pt x="717" y="221"/>
                  </a:lnTo>
                  <a:lnTo>
                    <a:pt x="717" y="219"/>
                  </a:lnTo>
                  <a:lnTo>
                    <a:pt x="719" y="219"/>
                  </a:lnTo>
                  <a:lnTo>
                    <a:pt x="721" y="219"/>
                  </a:lnTo>
                  <a:lnTo>
                    <a:pt x="723" y="217"/>
                  </a:lnTo>
                  <a:lnTo>
                    <a:pt x="723" y="217"/>
                  </a:lnTo>
                  <a:lnTo>
                    <a:pt x="723" y="217"/>
                  </a:lnTo>
                  <a:lnTo>
                    <a:pt x="723" y="215"/>
                  </a:lnTo>
                  <a:lnTo>
                    <a:pt x="723" y="215"/>
                  </a:lnTo>
                  <a:lnTo>
                    <a:pt x="724" y="215"/>
                  </a:lnTo>
                  <a:lnTo>
                    <a:pt x="724" y="213"/>
                  </a:lnTo>
                  <a:lnTo>
                    <a:pt x="723" y="213"/>
                  </a:lnTo>
                  <a:lnTo>
                    <a:pt x="723" y="213"/>
                  </a:lnTo>
                  <a:lnTo>
                    <a:pt x="721" y="212"/>
                  </a:lnTo>
                  <a:lnTo>
                    <a:pt x="719" y="212"/>
                  </a:lnTo>
                  <a:lnTo>
                    <a:pt x="719" y="212"/>
                  </a:lnTo>
                  <a:lnTo>
                    <a:pt x="719" y="212"/>
                  </a:lnTo>
                  <a:lnTo>
                    <a:pt x="719" y="212"/>
                  </a:lnTo>
                  <a:lnTo>
                    <a:pt x="719" y="210"/>
                  </a:lnTo>
                  <a:lnTo>
                    <a:pt x="719" y="210"/>
                  </a:lnTo>
                  <a:lnTo>
                    <a:pt x="721" y="208"/>
                  </a:lnTo>
                  <a:lnTo>
                    <a:pt x="721" y="206"/>
                  </a:lnTo>
                  <a:lnTo>
                    <a:pt x="721" y="206"/>
                  </a:lnTo>
                  <a:lnTo>
                    <a:pt x="723" y="206"/>
                  </a:lnTo>
                  <a:lnTo>
                    <a:pt x="724" y="208"/>
                  </a:lnTo>
                  <a:lnTo>
                    <a:pt x="726" y="208"/>
                  </a:lnTo>
                  <a:lnTo>
                    <a:pt x="726" y="208"/>
                  </a:lnTo>
                  <a:lnTo>
                    <a:pt x="728" y="208"/>
                  </a:lnTo>
                  <a:lnTo>
                    <a:pt x="728" y="208"/>
                  </a:lnTo>
                  <a:lnTo>
                    <a:pt x="728" y="208"/>
                  </a:lnTo>
                  <a:lnTo>
                    <a:pt x="728" y="206"/>
                  </a:lnTo>
                  <a:lnTo>
                    <a:pt x="728" y="200"/>
                  </a:lnTo>
                  <a:lnTo>
                    <a:pt x="730" y="198"/>
                  </a:lnTo>
                  <a:lnTo>
                    <a:pt x="730" y="198"/>
                  </a:lnTo>
                  <a:lnTo>
                    <a:pt x="730" y="196"/>
                  </a:lnTo>
                  <a:lnTo>
                    <a:pt x="730" y="196"/>
                  </a:lnTo>
                  <a:lnTo>
                    <a:pt x="730" y="193"/>
                  </a:lnTo>
                  <a:lnTo>
                    <a:pt x="728" y="187"/>
                  </a:lnTo>
                  <a:lnTo>
                    <a:pt x="726" y="187"/>
                  </a:lnTo>
                  <a:lnTo>
                    <a:pt x="726" y="187"/>
                  </a:lnTo>
                  <a:lnTo>
                    <a:pt x="726" y="187"/>
                  </a:lnTo>
                  <a:lnTo>
                    <a:pt x="719" y="187"/>
                  </a:lnTo>
                  <a:lnTo>
                    <a:pt x="717" y="185"/>
                  </a:lnTo>
                  <a:lnTo>
                    <a:pt x="717" y="185"/>
                  </a:lnTo>
                  <a:lnTo>
                    <a:pt x="717" y="185"/>
                  </a:lnTo>
                  <a:lnTo>
                    <a:pt x="719" y="181"/>
                  </a:lnTo>
                  <a:lnTo>
                    <a:pt x="719" y="179"/>
                  </a:lnTo>
                  <a:lnTo>
                    <a:pt x="719" y="179"/>
                  </a:lnTo>
                  <a:lnTo>
                    <a:pt x="719" y="177"/>
                  </a:lnTo>
                  <a:lnTo>
                    <a:pt x="719" y="175"/>
                  </a:lnTo>
                  <a:lnTo>
                    <a:pt x="719" y="175"/>
                  </a:lnTo>
                  <a:lnTo>
                    <a:pt x="721" y="175"/>
                  </a:lnTo>
                  <a:lnTo>
                    <a:pt x="726" y="175"/>
                  </a:lnTo>
                  <a:lnTo>
                    <a:pt x="726" y="174"/>
                  </a:lnTo>
                  <a:lnTo>
                    <a:pt x="728" y="174"/>
                  </a:lnTo>
                  <a:lnTo>
                    <a:pt x="730" y="174"/>
                  </a:lnTo>
                  <a:lnTo>
                    <a:pt x="732" y="172"/>
                  </a:lnTo>
                  <a:lnTo>
                    <a:pt x="732" y="170"/>
                  </a:lnTo>
                  <a:lnTo>
                    <a:pt x="734" y="170"/>
                  </a:lnTo>
                  <a:lnTo>
                    <a:pt x="736" y="170"/>
                  </a:lnTo>
                  <a:lnTo>
                    <a:pt x="736" y="168"/>
                  </a:lnTo>
                  <a:lnTo>
                    <a:pt x="736" y="168"/>
                  </a:lnTo>
                  <a:lnTo>
                    <a:pt x="736" y="166"/>
                  </a:lnTo>
                  <a:lnTo>
                    <a:pt x="736" y="166"/>
                  </a:lnTo>
                  <a:lnTo>
                    <a:pt x="736" y="164"/>
                  </a:lnTo>
                  <a:lnTo>
                    <a:pt x="736" y="162"/>
                  </a:lnTo>
                  <a:lnTo>
                    <a:pt x="736" y="160"/>
                  </a:lnTo>
                  <a:lnTo>
                    <a:pt x="736" y="155"/>
                  </a:lnTo>
                  <a:lnTo>
                    <a:pt x="736" y="155"/>
                  </a:lnTo>
                  <a:lnTo>
                    <a:pt x="736" y="153"/>
                  </a:lnTo>
                  <a:lnTo>
                    <a:pt x="738" y="151"/>
                  </a:lnTo>
                  <a:lnTo>
                    <a:pt x="738" y="151"/>
                  </a:lnTo>
                  <a:lnTo>
                    <a:pt x="738" y="149"/>
                  </a:lnTo>
                  <a:lnTo>
                    <a:pt x="736" y="149"/>
                  </a:lnTo>
                  <a:lnTo>
                    <a:pt x="736" y="149"/>
                  </a:lnTo>
                  <a:lnTo>
                    <a:pt x="736" y="147"/>
                  </a:lnTo>
                  <a:lnTo>
                    <a:pt x="736" y="143"/>
                  </a:lnTo>
                  <a:lnTo>
                    <a:pt x="736" y="143"/>
                  </a:lnTo>
                  <a:lnTo>
                    <a:pt x="736" y="141"/>
                  </a:lnTo>
                  <a:lnTo>
                    <a:pt x="736" y="141"/>
                  </a:lnTo>
                  <a:lnTo>
                    <a:pt x="736" y="141"/>
                  </a:lnTo>
                  <a:lnTo>
                    <a:pt x="736" y="141"/>
                  </a:lnTo>
                  <a:lnTo>
                    <a:pt x="734" y="141"/>
                  </a:lnTo>
                  <a:lnTo>
                    <a:pt x="732" y="139"/>
                  </a:lnTo>
                  <a:lnTo>
                    <a:pt x="732" y="139"/>
                  </a:lnTo>
                  <a:lnTo>
                    <a:pt x="732" y="139"/>
                  </a:lnTo>
                  <a:lnTo>
                    <a:pt x="730" y="139"/>
                  </a:lnTo>
                  <a:lnTo>
                    <a:pt x="730" y="141"/>
                  </a:lnTo>
                  <a:lnTo>
                    <a:pt x="728" y="143"/>
                  </a:lnTo>
                  <a:lnTo>
                    <a:pt x="726" y="143"/>
                  </a:lnTo>
                  <a:lnTo>
                    <a:pt x="726" y="143"/>
                  </a:lnTo>
                  <a:lnTo>
                    <a:pt x="726" y="143"/>
                  </a:lnTo>
                  <a:lnTo>
                    <a:pt x="724" y="143"/>
                  </a:lnTo>
                  <a:lnTo>
                    <a:pt x="724" y="141"/>
                  </a:lnTo>
                  <a:lnTo>
                    <a:pt x="724" y="141"/>
                  </a:lnTo>
                  <a:lnTo>
                    <a:pt x="724" y="141"/>
                  </a:lnTo>
                  <a:lnTo>
                    <a:pt x="724" y="139"/>
                  </a:lnTo>
                  <a:lnTo>
                    <a:pt x="724" y="137"/>
                  </a:lnTo>
                  <a:lnTo>
                    <a:pt x="726" y="137"/>
                  </a:lnTo>
                  <a:lnTo>
                    <a:pt x="726" y="137"/>
                  </a:lnTo>
                  <a:lnTo>
                    <a:pt x="730" y="136"/>
                  </a:lnTo>
                  <a:lnTo>
                    <a:pt x="730" y="134"/>
                  </a:lnTo>
                  <a:lnTo>
                    <a:pt x="732" y="134"/>
                  </a:lnTo>
                  <a:lnTo>
                    <a:pt x="732" y="132"/>
                  </a:lnTo>
                  <a:lnTo>
                    <a:pt x="730" y="124"/>
                  </a:lnTo>
                  <a:lnTo>
                    <a:pt x="730" y="115"/>
                  </a:lnTo>
                  <a:lnTo>
                    <a:pt x="730" y="113"/>
                  </a:lnTo>
                  <a:lnTo>
                    <a:pt x="730" y="111"/>
                  </a:lnTo>
                  <a:lnTo>
                    <a:pt x="730" y="111"/>
                  </a:lnTo>
                  <a:lnTo>
                    <a:pt x="730" y="109"/>
                  </a:lnTo>
                  <a:lnTo>
                    <a:pt x="728" y="109"/>
                  </a:lnTo>
                  <a:lnTo>
                    <a:pt x="728" y="109"/>
                  </a:lnTo>
                  <a:lnTo>
                    <a:pt x="728" y="109"/>
                  </a:lnTo>
                  <a:lnTo>
                    <a:pt x="726" y="109"/>
                  </a:lnTo>
                  <a:lnTo>
                    <a:pt x="724" y="109"/>
                  </a:lnTo>
                  <a:lnTo>
                    <a:pt x="724" y="109"/>
                  </a:lnTo>
                  <a:lnTo>
                    <a:pt x="724" y="109"/>
                  </a:lnTo>
                  <a:lnTo>
                    <a:pt x="723" y="109"/>
                  </a:lnTo>
                  <a:lnTo>
                    <a:pt x="723" y="109"/>
                  </a:lnTo>
                  <a:lnTo>
                    <a:pt x="723" y="107"/>
                  </a:lnTo>
                  <a:lnTo>
                    <a:pt x="721" y="107"/>
                  </a:lnTo>
                  <a:lnTo>
                    <a:pt x="721" y="107"/>
                  </a:lnTo>
                  <a:lnTo>
                    <a:pt x="719" y="105"/>
                  </a:lnTo>
                  <a:lnTo>
                    <a:pt x="719" y="101"/>
                  </a:lnTo>
                  <a:lnTo>
                    <a:pt x="719" y="101"/>
                  </a:lnTo>
                  <a:lnTo>
                    <a:pt x="719" y="99"/>
                  </a:lnTo>
                  <a:lnTo>
                    <a:pt x="721" y="96"/>
                  </a:lnTo>
                  <a:lnTo>
                    <a:pt x="721" y="90"/>
                  </a:lnTo>
                  <a:lnTo>
                    <a:pt x="721" y="88"/>
                  </a:lnTo>
                  <a:lnTo>
                    <a:pt x="723" y="88"/>
                  </a:lnTo>
                  <a:lnTo>
                    <a:pt x="723" y="86"/>
                  </a:lnTo>
                  <a:lnTo>
                    <a:pt x="724" y="86"/>
                  </a:lnTo>
                  <a:lnTo>
                    <a:pt x="730" y="82"/>
                  </a:lnTo>
                  <a:lnTo>
                    <a:pt x="736" y="78"/>
                  </a:lnTo>
                  <a:lnTo>
                    <a:pt x="738" y="77"/>
                  </a:lnTo>
                  <a:lnTo>
                    <a:pt x="740" y="75"/>
                  </a:lnTo>
                  <a:lnTo>
                    <a:pt x="742" y="73"/>
                  </a:lnTo>
                  <a:lnTo>
                    <a:pt x="742" y="67"/>
                  </a:lnTo>
                  <a:lnTo>
                    <a:pt x="740" y="67"/>
                  </a:lnTo>
                  <a:lnTo>
                    <a:pt x="738" y="69"/>
                  </a:lnTo>
                  <a:lnTo>
                    <a:pt x="738" y="69"/>
                  </a:lnTo>
                  <a:lnTo>
                    <a:pt x="738" y="69"/>
                  </a:lnTo>
                  <a:lnTo>
                    <a:pt x="736" y="69"/>
                  </a:lnTo>
                  <a:lnTo>
                    <a:pt x="736" y="69"/>
                  </a:lnTo>
                  <a:lnTo>
                    <a:pt x="724" y="63"/>
                  </a:lnTo>
                  <a:lnTo>
                    <a:pt x="724" y="63"/>
                  </a:lnTo>
                  <a:lnTo>
                    <a:pt x="723" y="61"/>
                  </a:lnTo>
                  <a:lnTo>
                    <a:pt x="723" y="61"/>
                  </a:lnTo>
                  <a:lnTo>
                    <a:pt x="721" y="63"/>
                  </a:lnTo>
                  <a:lnTo>
                    <a:pt x="719" y="63"/>
                  </a:lnTo>
                  <a:lnTo>
                    <a:pt x="717" y="63"/>
                  </a:lnTo>
                  <a:lnTo>
                    <a:pt x="717" y="63"/>
                  </a:lnTo>
                  <a:lnTo>
                    <a:pt x="717" y="63"/>
                  </a:lnTo>
                  <a:lnTo>
                    <a:pt x="715" y="63"/>
                  </a:lnTo>
                  <a:lnTo>
                    <a:pt x="715" y="61"/>
                  </a:lnTo>
                  <a:lnTo>
                    <a:pt x="715" y="61"/>
                  </a:lnTo>
                  <a:lnTo>
                    <a:pt x="717" y="59"/>
                  </a:lnTo>
                  <a:lnTo>
                    <a:pt x="717" y="59"/>
                  </a:lnTo>
                  <a:lnTo>
                    <a:pt x="717" y="59"/>
                  </a:lnTo>
                  <a:lnTo>
                    <a:pt x="717" y="58"/>
                  </a:lnTo>
                  <a:lnTo>
                    <a:pt x="717" y="58"/>
                  </a:lnTo>
                  <a:lnTo>
                    <a:pt x="717" y="56"/>
                  </a:lnTo>
                  <a:lnTo>
                    <a:pt x="717" y="54"/>
                  </a:lnTo>
                  <a:lnTo>
                    <a:pt x="715" y="54"/>
                  </a:lnTo>
                  <a:lnTo>
                    <a:pt x="709" y="50"/>
                  </a:lnTo>
                  <a:lnTo>
                    <a:pt x="709" y="48"/>
                  </a:lnTo>
                  <a:lnTo>
                    <a:pt x="709" y="48"/>
                  </a:lnTo>
                  <a:lnTo>
                    <a:pt x="709" y="46"/>
                  </a:lnTo>
                  <a:lnTo>
                    <a:pt x="709" y="46"/>
                  </a:lnTo>
                  <a:lnTo>
                    <a:pt x="707" y="46"/>
                  </a:lnTo>
                  <a:lnTo>
                    <a:pt x="707" y="44"/>
                  </a:lnTo>
                  <a:lnTo>
                    <a:pt x="703" y="44"/>
                  </a:lnTo>
                  <a:lnTo>
                    <a:pt x="702" y="42"/>
                  </a:lnTo>
                  <a:lnTo>
                    <a:pt x="698" y="40"/>
                  </a:lnTo>
                  <a:lnTo>
                    <a:pt x="696" y="39"/>
                  </a:lnTo>
                  <a:lnTo>
                    <a:pt x="696" y="40"/>
                  </a:lnTo>
                  <a:lnTo>
                    <a:pt x="696" y="40"/>
                  </a:lnTo>
                  <a:lnTo>
                    <a:pt x="694" y="40"/>
                  </a:lnTo>
                  <a:lnTo>
                    <a:pt x="688" y="42"/>
                  </a:lnTo>
                  <a:lnTo>
                    <a:pt x="686" y="44"/>
                  </a:lnTo>
                  <a:lnTo>
                    <a:pt x="686" y="46"/>
                  </a:lnTo>
                  <a:lnTo>
                    <a:pt x="679" y="48"/>
                  </a:lnTo>
                  <a:lnTo>
                    <a:pt x="679" y="48"/>
                  </a:lnTo>
                  <a:lnTo>
                    <a:pt x="677" y="48"/>
                  </a:lnTo>
                  <a:lnTo>
                    <a:pt x="677" y="48"/>
                  </a:lnTo>
                  <a:lnTo>
                    <a:pt x="677" y="48"/>
                  </a:lnTo>
                  <a:lnTo>
                    <a:pt x="677" y="46"/>
                  </a:lnTo>
                  <a:lnTo>
                    <a:pt x="677" y="46"/>
                  </a:lnTo>
                  <a:lnTo>
                    <a:pt x="675" y="46"/>
                  </a:lnTo>
                  <a:lnTo>
                    <a:pt x="673" y="48"/>
                  </a:lnTo>
                  <a:lnTo>
                    <a:pt x="673" y="48"/>
                  </a:lnTo>
                  <a:lnTo>
                    <a:pt x="671" y="48"/>
                  </a:lnTo>
                  <a:lnTo>
                    <a:pt x="671" y="48"/>
                  </a:lnTo>
                  <a:lnTo>
                    <a:pt x="669" y="50"/>
                  </a:lnTo>
                  <a:lnTo>
                    <a:pt x="667" y="50"/>
                  </a:lnTo>
                  <a:lnTo>
                    <a:pt x="665" y="50"/>
                  </a:lnTo>
                  <a:lnTo>
                    <a:pt x="665" y="50"/>
                  </a:lnTo>
                  <a:lnTo>
                    <a:pt x="663" y="50"/>
                  </a:lnTo>
                  <a:lnTo>
                    <a:pt x="663" y="48"/>
                  </a:lnTo>
                  <a:lnTo>
                    <a:pt x="663" y="46"/>
                  </a:lnTo>
                  <a:lnTo>
                    <a:pt x="662" y="46"/>
                  </a:lnTo>
                  <a:lnTo>
                    <a:pt x="662" y="44"/>
                  </a:lnTo>
                  <a:lnTo>
                    <a:pt x="660" y="44"/>
                  </a:lnTo>
                  <a:lnTo>
                    <a:pt x="658" y="44"/>
                  </a:lnTo>
                  <a:lnTo>
                    <a:pt x="656" y="44"/>
                  </a:lnTo>
                  <a:lnTo>
                    <a:pt x="652" y="44"/>
                  </a:lnTo>
                  <a:lnTo>
                    <a:pt x="648" y="44"/>
                  </a:lnTo>
                  <a:lnTo>
                    <a:pt x="648" y="44"/>
                  </a:lnTo>
                  <a:lnTo>
                    <a:pt x="646" y="44"/>
                  </a:lnTo>
                  <a:lnTo>
                    <a:pt x="644" y="46"/>
                  </a:lnTo>
                  <a:lnTo>
                    <a:pt x="642" y="48"/>
                  </a:lnTo>
                  <a:lnTo>
                    <a:pt x="642" y="48"/>
                  </a:lnTo>
                  <a:lnTo>
                    <a:pt x="641" y="48"/>
                  </a:lnTo>
                  <a:lnTo>
                    <a:pt x="639" y="48"/>
                  </a:lnTo>
                  <a:lnTo>
                    <a:pt x="639" y="48"/>
                  </a:lnTo>
                  <a:lnTo>
                    <a:pt x="637" y="48"/>
                  </a:lnTo>
                  <a:lnTo>
                    <a:pt x="637" y="46"/>
                  </a:lnTo>
                  <a:lnTo>
                    <a:pt x="637" y="44"/>
                  </a:lnTo>
                  <a:lnTo>
                    <a:pt x="637" y="44"/>
                  </a:lnTo>
                  <a:lnTo>
                    <a:pt x="637" y="44"/>
                  </a:lnTo>
                  <a:lnTo>
                    <a:pt x="637" y="42"/>
                  </a:lnTo>
                  <a:lnTo>
                    <a:pt x="635" y="40"/>
                  </a:lnTo>
                  <a:lnTo>
                    <a:pt x="633" y="39"/>
                  </a:lnTo>
                  <a:lnTo>
                    <a:pt x="631" y="37"/>
                  </a:lnTo>
                  <a:lnTo>
                    <a:pt x="629" y="35"/>
                  </a:lnTo>
                  <a:lnTo>
                    <a:pt x="625" y="35"/>
                  </a:lnTo>
                  <a:lnTo>
                    <a:pt x="625" y="35"/>
                  </a:lnTo>
                  <a:lnTo>
                    <a:pt x="623" y="35"/>
                  </a:lnTo>
                  <a:lnTo>
                    <a:pt x="622" y="35"/>
                  </a:lnTo>
                  <a:lnTo>
                    <a:pt x="622" y="33"/>
                  </a:lnTo>
                  <a:lnTo>
                    <a:pt x="618" y="35"/>
                  </a:lnTo>
                  <a:lnTo>
                    <a:pt x="616" y="33"/>
                  </a:lnTo>
                  <a:lnTo>
                    <a:pt x="614" y="33"/>
                  </a:lnTo>
                  <a:lnTo>
                    <a:pt x="610" y="31"/>
                  </a:lnTo>
                  <a:lnTo>
                    <a:pt x="608" y="31"/>
                  </a:lnTo>
                  <a:lnTo>
                    <a:pt x="608" y="33"/>
                  </a:lnTo>
                  <a:lnTo>
                    <a:pt x="608" y="33"/>
                  </a:lnTo>
                  <a:lnTo>
                    <a:pt x="608" y="33"/>
                  </a:lnTo>
                  <a:lnTo>
                    <a:pt x="608" y="35"/>
                  </a:lnTo>
                  <a:lnTo>
                    <a:pt x="608" y="37"/>
                  </a:lnTo>
                  <a:lnTo>
                    <a:pt x="606" y="37"/>
                  </a:lnTo>
                  <a:lnTo>
                    <a:pt x="604" y="39"/>
                  </a:lnTo>
                  <a:lnTo>
                    <a:pt x="602" y="39"/>
                  </a:lnTo>
                  <a:lnTo>
                    <a:pt x="597" y="40"/>
                  </a:lnTo>
                  <a:lnTo>
                    <a:pt x="595" y="42"/>
                  </a:lnTo>
                  <a:lnTo>
                    <a:pt x="585" y="42"/>
                  </a:lnTo>
                  <a:lnTo>
                    <a:pt x="582" y="44"/>
                  </a:lnTo>
                  <a:lnTo>
                    <a:pt x="580" y="44"/>
                  </a:lnTo>
                  <a:lnTo>
                    <a:pt x="580" y="46"/>
                  </a:lnTo>
                  <a:lnTo>
                    <a:pt x="580" y="46"/>
                  </a:lnTo>
                  <a:lnTo>
                    <a:pt x="580" y="48"/>
                  </a:lnTo>
                  <a:lnTo>
                    <a:pt x="580" y="48"/>
                  </a:lnTo>
                  <a:lnTo>
                    <a:pt x="580" y="50"/>
                  </a:lnTo>
                  <a:lnTo>
                    <a:pt x="580" y="50"/>
                  </a:lnTo>
                  <a:lnTo>
                    <a:pt x="580" y="52"/>
                  </a:lnTo>
                  <a:lnTo>
                    <a:pt x="578" y="52"/>
                  </a:lnTo>
                  <a:lnTo>
                    <a:pt x="574" y="52"/>
                  </a:lnTo>
                  <a:lnTo>
                    <a:pt x="572" y="52"/>
                  </a:lnTo>
                  <a:lnTo>
                    <a:pt x="568" y="54"/>
                  </a:lnTo>
                  <a:lnTo>
                    <a:pt x="562" y="54"/>
                  </a:lnTo>
                  <a:lnTo>
                    <a:pt x="561" y="56"/>
                  </a:lnTo>
                  <a:lnTo>
                    <a:pt x="559" y="56"/>
                  </a:lnTo>
                  <a:lnTo>
                    <a:pt x="553" y="56"/>
                  </a:lnTo>
                  <a:lnTo>
                    <a:pt x="545" y="54"/>
                  </a:lnTo>
                  <a:lnTo>
                    <a:pt x="545" y="52"/>
                  </a:lnTo>
                  <a:lnTo>
                    <a:pt x="543" y="52"/>
                  </a:lnTo>
                  <a:lnTo>
                    <a:pt x="543" y="50"/>
                  </a:lnTo>
                  <a:lnTo>
                    <a:pt x="541" y="50"/>
                  </a:lnTo>
                  <a:lnTo>
                    <a:pt x="540" y="50"/>
                  </a:lnTo>
                  <a:lnTo>
                    <a:pt x="540" y="50"/>
                  </a:lnTo>
                  <a:lnTo>
                    <a:pt x="538" y="50"/>
                  </a:lnTo>
                  <a:lnTo>
                    <a:pt x="538" y="52"/>
                  </a:lnTo>
                  <a:lnTo>
                    <a:pt x="536" y="52"/>
                  </a:lnTo>
                  <a:lnTo>
                    <a:pt x="536" y="52"/>
                  </a:lnTo>
                  <a:lnTo>
                    <a:pt x="534" y="52"/>
                  </a:lnTo>
                  <a:lnTo>
                    <a:pt x="534" y="52"/>
                  </a:lnTo>
                  <a:lnTo>
                    <a:pt x="534" y="52"/>
                  </a:lnTo>
                  <a:lnTo>
                    <a:pt x="534" y="52"/>
                  </a:lnTo>
                  <a:lnTo>
                    <a:pt x="534" y="52"/>
                  </a:lnTo>
                  <a:lnTo>
                    <a:pt x="534" y="52"/>
                  </a:lnTo>
                  <a:lnTo>
                    <a:pt x="534" y="50"/>
                  </a:lnTo>
                  <a:lnTo>
                    <a:pt x="534" y="48"/>
                  </a:lnTo>
                  <a:lnTo>
                    <a:pt x="534" y="46"/>
                  </a:lnTo>
                  <a:lnTo>
                    <a:pt x="532" y="44"/>
                  </a:lnTo>
                  <a:lnTo>
                    <a:pt x="532" y="42"/>
                  </a:lnTo>
                  <a:lnTo>
                    <a:pt x="532" y="40"/>
                  </a:lnTo>
                  <a:lnTo>
                    <a:pt x="530" y="40"/>
                  </a:lnTo>
                  <a:lnTo>
                    <a:pt x="530" y="40"/>
                  </a:lnTo>
                  <a:lnTo>
                    <a:pt x="528" y="40"/>
                  </a:lnTo>
                  <a:lnTo>
                    <a:pt x="528" y="40"/>
                  </a:lnTo>
                  <a:lnTo>
                    <a:pt x="526" y="40"/>
                  </a:lnTo>
                  <a:lnTo>
                    <a:pt x="526" y="40"/>
                  </a:lnTo>
                  <a:lnTo>
                    <a:pt x="524" y="40"/>
                  </a:lnTo>
                  <a:lnTo>
                    <a:pt x="522" y="44"/>
                  </a:lnTo>
                  <a:lnTo>
                    <a:pt x="519" y="46"/>
                  </a:lnTo>
                  <a:lnTo>
                    <a:pt x="513" y="46"/>
                  </a:lnTo>
                  <a:lnTo>
                    <a:pt x="513" y="48"/>
                  </a:lnTo>
                  <a:lnTo>
                    <a:pt x="511" y="48"/>
                  </a:lnTo>
                  <a:lnTo>
                    <a:pt x="509" y="50"/>
                  </a:lnTo>
                  <a:lnTo>
                    <a:pt x="507" y="54"/>
                  </a:lnTo>
                  <a:lnTo>
                    <a:pt x="505" y="54"/>
                  </a:lnTo>
                  <a:lnTo>
                    <a:pt x="501" y="56"/>
                  </a:lnTo>
                  <a:lnTo>
                    <a:pt x="498" y="59"/>
                  </a:lnTo>
                  <a:lnTo>
                    <a:pt x="486" y="63"/>
                  </a:lnTo>
                  <a:lnTo>
                    <a:pt x="484" y="63"/>
                  </a:lnTo>
                  <a:lnTo>
                    <a:pt x="482" y="63"/>
                  </a:lnTo>
                  <a:lnTo>
                    <a:pt x="481" y="61"/>
                  </a:lnTo>
                  <a:lnTo>
                    <a:pt x="477" y="59"/>
                  </a:lnTo>
                  <a:lnTo>
                    <a:pt x="475" y="59"/>
                  </a:lnTo>
                  <a:lnTo>
                    <a:pt x="475" y="59"/>
                  </a:lnTo>
                  <a:lnTo>
                    <a:pt x="473" y="61"/>
                  </a:lnTo>
                  <a:lnTo>
                    <a:pt x="471" y="63"/>
                  </a:lnTo>
                  <a:lnTo>
                    <a:pt x="467" y="65"/>
                  </a:lnTo>
                  <a:lnTo>
                    <a:pt x="467" y="65"/>
                  </a:lnTo>
                  <a:lnTo>
                    <a:pt x="465" y="65"/>
                  </a:lnTo>
                  <a:lnTo>
                    <a:pt x="465" y="63"/>
                  </a:lnTo>
                  <a:lnTo>
                    <a:pt x="465" y="63"/>
                  </a:lnTo>
                  <a:lnTo>
                    <a:pt x="463" y="63"/>
                  </a:lnTo>
                  <a:lnTo>
                    <a:pt x="461" y="63"/>
                  </a:lnTo>
                  <a:lnTo>
                    <a:pt x="461" y="63"/>
                  </a:lnTo>
                  <a:lnTo>
                    <a:pt x="460" y="63"/>
                  </a:lnTo>
                  <a:lnTo>
                    <a:pt x="460" y="63"/>
                  </a:lnTo>
                  <a:lnTo>
                    <a:pt x="458" y="63"/>
                  </a:lnTo>
                  <a:lnTo>
                    <a:pt x="456" y="63"/>
                  </a:lnTo>
                  <a:lnTo>
                    <a:pt x="456" y="63"/>
                  </a:lnTo>
                  <a:lnTo>
                    <a:pt x="454" y="63"/>
                  </a:lnTo>
                  <a:lnTo>
                    <a:pt x="454" y="63"/>
                  </a:lnTo>
                  <a:lnTo>
                    <a:pt x="454" y="63"/>
                  </a:lnTo>
                  <a:lnTo>
                    <a:pt x="452" y="61"/>
                  </a:lnTo>
                  <a:lnTo>
                    <a:pt x="452" y="61"/>
                  </a:lnTo>
                  <a:lnTo>
                    <a:pt x="450" y="61"/>
                  </a:lnTo>
                  <a:lnTo>
                    <a:pt x="450" y="61"/>
                  </a:lnTo>
                  <a:lnTo>
                    <a:pt x="450" y="61"/>
                  </a:lnTo>
                  <a:lnTo>
                    <a:pt x="448" y="61"/>
                  </a:lnTo>
                  <a:lnTo>
                    <a:pt x="448" y="63"/>
                  </a:lnTo>
                  <a:lnTo>
                    <a:pt x="448" y="63"/>
                  </a:lnTo>
                  <a:lnTo>
                    <a:pt x="446" y="63"/>
                  </a:lnTo>
                  <a:lnTo>
                    <a:pt x="446" y="63"/>
                  </a:lnTo>
                  <a:lnTo>
                    <a:pt x="446" y="61"/>
                  </a:lnTo>
                  <a:lnTo>
                    <a:pt x="446" y="59"/>
                  </a:lnTo>
                  <a:lnTo>
                    <a:pt x="444" y="56"/>
                  </a:lnTo>
                  <a:lnTo>
                    <a:pt x="442" y="54"/>
                  </a:lnTo>
                  <a:lnTo>
                    <a:pt x="442" y="52"/>
                  </a:lnTo>
                  <a:lnTo>
                    <a:pt x="442" y="52"/>
                  </a:lnTo>
                  <a:lnTo>
                    <a:pt x="442" y="50"/>
                  </a:lnTo>
                  <a:lnTo>
                    <a:pt x="442" y="50"/>
                  </a:lnTo>
                  <a:lnTo>
                    <a:pt x="442" y="48"/>
                  </a:lnTo>
                  <a:lnTo>
                    <a:pt x="442" y="48"/>
                  </a:lnTo>
                  <a:lnTo>
                    <a:pt x="444" y="48"/>
                  </a:lnTo>
                  <a:lnTo>
                    <a:pt x="454" y="48"/>
                  </a:lnTo>
                  <a:lnTo>
                    <a:pt x="454" y="48"/>
                  </a:lnTo>
                  <a:lnTo>
                    <a:pt x="456" y="48"/>
                  </a:lnTo>
                  <a:lnTo>
                    <a:pt x="456" y="48"/>
                  </a:lnTo>
                  <a:lnTo>
                    <a:pt x="456" y="46"/>
                  </a:lnTo>
                  <a:lnTo>
                    <a:pt x="454" y="46"/>
                  </a:lnTo>
                  <a:lnTo>
                    <a:pt x="454" y="44"/>
                  </a:lnTo>
                  <a:lnTo>
                    <a:pt x="454" y="42"/>
                  </a:lnTo>
                  <a:lnTo>
                    <a:pt x="454" y="42"/>
                  </a:lnTo>
                  <a:lnTo>
                    <a:pt x="454" y="40"/>
                  </a:lnTo>
                  <a:lnTo>
                    <a:pt x="452" y="33"/>
                  </a:lnTo>
                  <a:lnTo>
                    <a:pt x="452" y="33"/>
                  </a:lnTo>
                  <a:lnTo>
                    <a:pt x="452" y="31"/>
                  </a:lnTo>
                  <a:lnTo>
                    <a:pt x="450" y="31"/>
                  </a:lnTo>
                  <a:lnTo>
                    <a:pt x="448" y="29"/>
                  </a:lnTo>
                  <a:lnTo>
                    <a:pt x="448" y="29"/>
                  </a:lnTo>
                  <a:lnTo>
                    <a:pt x="448" y="29"/>
                  </a:lnTo>
                  <a:lnTo>
                    <a:pt x="448" y="29"/>
                  </a:lnTo>
                  <a:lnTo>
                    <a:pt x="448" y="29"/>
                  </a:lnTo>
                  <a:lnTo>
                    <a:pt x="448" y="27"/>
                  </a:lnTo>
                  <a:lnTo>
                    <a:pt x="446" y="27"/>
                  </a:lnTo>
                  <a:lnTo>
                    <a:pt x="446" y="27"/>
                  </a:lnTo>
                  <a:lnTo>
                    <a:pt x="444" y="25"/>
                  </a:lnTo>
                  <a:lnTo>
                    <a:pt x="433" y="25"/>
                  </a:lnTo>
                  <a:lnTo>
                    <a:pt x="431" y="25"/>
                  </a:lnTo>
                  <a:lnTo>
                    <a:pt x="431" y="27"/>
                  </a:lnTo>
                  <a:lnTo>
                    <a:pt x="429" y="29"/>
                  </a:lnTo>
                  <a:lnTo>
                    <a:pt x="429" y="29"/>
                  </a:lnTo>
                  <a:lnTo>
                    <a:pt x="425" y="29"/>
                  </a:lnTo>
                  <a:lnTo>
                    <a:pt x="425" y="29"/>
                  </a:lnTo>
                  <a:lnTo>
                    <a:pt x="423" y="31"/>
                  </a:lnTo>
                  <a:lnTo>
                    <a:pt x="423" y="33"/>
                  </a:lnTo>
                  <a:lnTo>
                    <a:pt x="423" y="33"/>
                  </a:lnTo>
                  <a:lnTo>
                    <a:pt x="421" y="33"/>
                  </a:lnTo>
                  <a:lnTo>
                    <a:pt x="421" y="33"/>
                  </a:lnTo>
                  <a:lnTo>
                    <a:pt x="421" y="33"/>
                  </a:lnTo>
                  <a:lnTo>
                    <a:pt x="420" y="33"/>
                  </a:lnTo>
                  <a:lnTo>
                    <a:pt x="420" y="31"/>
                  </a:lnTo>
                  <a:lnTo>
                    <a:pt x="420" y="31"/>
                  </a:lnTo>
                  <a:lnTo>
                    <a:pt x="420" y="31"/>
                  </a:lnTo>
                  <a:lnTo>
                    <a:pt x="418" y="31"/>
                  </a:lnTo>
                  <a:lnTo>
                    <a:pt x="418" y="31"/>
                  </a:lnTo>
                  <a:lnTo>
                    <a:pt x="412" y="31"/>
                  </a:lnTo>
                  <a:lnTo>
                    <a:pt x="408" y="31"/>
                  </a:lnTo>
                  <a:lnTo>
                    <a:pt x="404" y="33"/>
                  </a:lnTo>
                  <a:lnTo>
                    <a:pt x="395" y="40"/>
                  </a:lnTo>
                  <a:lnTo>
                    <a:pt x="393" y="42"/>
                  </a:lnTo>
                  <a:lnTo>
                    <a:pt x="387" y="42"/>
                  </a:lnTo>
                  <a:lnTo>
                    <a:pt x="385" y="42"/>
                  </a:lnTo>
                  <a:lnTo>
                    <a:pt x="383" y="44"/>
                  </a:lnTo>
                  <a:lnTo>
                    <a:pt x="381" y="48"/>
                  </a:lnTo>
                  <a:lnTo>
                    <a:pt x="381" y="50"/>
                  </a:lnTo>
                  <a:lnTo>
                    <a:pt x="381" y="50"/>
                  </a:lnTo>
                  <a:lnTo>
                    <a:pt x="381" y="52"/>
                  </a:lnTo>
                  <a:lnTo>
                    <a:pt x="381" y="52"/>
                  </a:lnTo>
                  <a:lnTo>
                    <a:pt x="381" y="52"/>
                  </a:lnTo>
                  <a:lnTo>
                    <a:pt x="381" y="54"/>
                  </a:lnTo>
                  <a:lnTo>
                    <a:pt x="381" y="54"/>
                  </a:lnTo>
                  <a:lnTo>
                    <a:pt x="381" y="54"/>
                  </a:lnTo>
                  <a:lnTo>
                    <a:pt x="381" y="56"/>
                  </a:lnTo>
                  <a:lnTo>
                    <a:pt x="380" y="56"/>
                  </a:lnTo>
                  <a:lnTo>
                    <a:pt x="380" y="58"/>
                  </a:lnTo>
                  <a:lnTo>
                    <a:pt x="378" y="61"/>
                  </a:lnTo>
                  <a:lnTo>
                    <a:pt x="376" y="61"/>
                  </a:lnTo>
                  <a:lnTo>
                    <a:pt x="376" y="63"/>
                  </a:lnTo>
                  <a:lnTo>
                    <a:pt x="372" y="65"/>
                  </a:lnTo>
                  <a:lnTo>
                    <a:pt x="370" y="67"/>
                  </a:lnTo>
                  <a:lnTo>
                    <a:pt x="368" y="67"/>
                  </a:lnTo>
                  <a:lnTo>
                    <a:pt x="368" y="69"/>
                  </a:lnTo>
                  <a:lnTo>
                    <a:pt x="368" y="69"/>
                  </a:lnTo>
                  <a:lnTo>
                    <a:pt x="368" y="71"/>
                  </a:lnTo>
                  <a:lnTo>
                    <a:pt x="370" y="73"/>
                  </a:lnTo>
                  <a:lnTo>
                    <a:pt x="370" y="77"/>
                  </a:lnTo>
                  <a:lnTo>
                    <a:pt x="370" y="78"/>
                  </a:lnTo>
                  <a:lnTo>
                    <a:pt x="368" y="80"/>
                  </a:lnTo>
                  <a:lnTo>
                    <a:pt x="368" y="82"/>
                  </a:lnTo>
                  <a:lnTo>
                    <a:pt x="366" y="82"/>
                  </a:lnTo>
                  <a:lnTo>
                    <a:pt x="360" y="82"/>
                  </a:lnTo>
                  <a:lnTo>
                    <a:pt x="359" y="82"/>
                  </a:lnTo>
                  <a:lnTo>
                    <a:pt x="355" y="84"/>
                  </a:lnTo>
                  <a:lnTo>
                    <a:pt x="355" y="86"/>
                  </a:lnTo>
                  <a:lnTo>
                    <a:pt x="353" y="88"/>
                  </a:lnTo>
                  <a:lnTo>
                    <a:pt x="351" y="90"/>
                  </a:lnTo>
                  <a:lnTo>
                    <a:pt x="349" y="92"/>
                  </a:lnTo>
                  <a:lnTo>
                    <a:pt x="347" y="92"/>
                  </a:lnTo>
                  <a:lnTo>
                    <a:pt x="345" y="94"/>
                  </a:lnTo>
                  <a:lnTo>
                    <a:pt x="340" y="94"/>
                  </a:lnTo>
                  <a:lnTo>
                    <a:pt x="336" y="96"/>
                  </a:lnTo>
                  <a:lnTo>
                    <a:pt x="326" y="94"/>
                  </a:lnTo>
                  <a:lnTo>
                    <a:pt x="324" y="94"/>
                  </a:lnTo>
                  <a:lnTo>
                    <a:pt x="322" y="92"/>
                  </a:lnTo>
                  <a:lnTo>
                    <a:pt x="320" y="86"/>
                  </a:lnTo>
                  <a:lnTo>
                    <a:pt x="319" y="86"/>
                  </a:lnTo>
                  <a:lnTo>
                    <a:pt x="319" y="86"/>
                  </a:lnTo>
                  <a:lnTo>
                    <a:pt x="319" y="86"/>
                  </a:lnTo>
                  <a:lnTo>
                    <a:pt x="319" y="86"/>
                  </a:lnTo>
                  <a:lnTo>
                    <a:pt x="319" y="86"/>
                  </a:lnTo>
                  <a:lnTo>
                    <a:pt x="320" y="84"/>
                  </a:lnTo>
                  <a:lnTo>
                    <a:pt x="320" y="84"/>
                  </a:lnTo>
                  <a:lnTo>
                    <a:pt x="320" y="84"/>
                  </a:lnTo>
                  <a:lnTo>
                    <a:pt x="322" y="84"/>
                  </a:lnTo>
                  <a:lnTo>
                    <a:pt x="322" y="84"/>
                  </a:lnTo>
                  <a:lnTo>
                    <a:pt x="322" y="82"/>
                  </a:lnTo>
                  <a:lnTo>
                    <a:pt x="322" y="78"/>
                  </a:lnTo>
                  <a:lnTo>
                    <a:pt x="322" y="75"/>
                  </a:lnTo>
                  <a:lnTo>
                    <a:pt x="320" y="69"/>
                  </a:lnTo>
                  <a:lnTo>
                    <a:pt x="319" y="67"/>
                  </a:lnTo>
                  <a:lnTo>
                    <a:pt x="317" y="65"/>
                  </a:lnTo>
                  <a:lnTo>
                    <a:pt x="317" y="65"/>
                  </a:lnTo>
                  <a:lnTo>
                    <a:pt x="315" y="65"/>
                  </a:lnTo>
                  <a:lnTo>
                    <a:pt x="315" y="65"/>
                  </a:lnTo>
                  <a:lnTo>
                    <a:pt x="313" y="65"/>
                  </a:lnTo>
                  <a:lnTo>
                    <a:pt x="309" y="65"/>
                  </a:lnTo>
                  <a:lnTo>
                    <a:pt x="305" y="63"/>
                  </a:lnTo>
                  <a:lnTo>
                    <a:pt x="303" y="63"/>
                  </a:lnTo>
                  <a:lnTo>
                    <a:pt x="301" y="63"/>
                  </a:lnTo>
                  <a:lnTo>
                    <a:pt x="298" y="63"/>
                  </a:lnTo>
                  <a:lnTo>
                    <a:pt x="292" y="65"/>
                  </a:lnTo>
                  <a:lnTo>
                    <a:pt x="282" y="65"/>
                  </a:lnTo>
                  <a:lnTo>
                    <a:pt x="279" y="65"/>
                  </a:lnTo>
                  <a:lnTo>
                    <a:pt x="275" y="63"/>
                  </a:lnTo>
                  <a:lnTo>
                    <a:pt x="273" y="63"/>
                  </a:lnTo>
                  <a:lnTo>
                    <a:pt x="273" y="65"/>
                  </a:lnTo>
                  <a:lnTo>
                    <a:pt x="269" y="65"/>
                  </a:lnTo>
                  <a:lnTo>
                    <a:pt x="267" y="65"/>
                  </a:lnTo>
                  <a:lnTo>
                    <a:pt x="265" y="65"/>
                  </a:lnTo>
                  <a:lnTo>
                    <a:pt x="261" y="65"/>
                  </a:lnTo>
                  <a:lnTo>
                    <a:pt x="252" y="65"/>
                  </a:lnTo>
                  <a:lnTo>
                    <a:pt x="252" y="65"/>
                  </a:lnTo>
                  <a:lnTo>
                    <a:pt x="250" y="65"/>
                  </a:lnTo>
                  <a:lnTo>
                    <a:pt x="250" y="63"/>
                  </a:lnTo>
                  <a:lnTo>
                    <a:pt x="246" y="65"/>
                  </a:lnTo>
                  <a:lnTo>
                    <a:pt x="237" y="63"/>
                  </a:lnTo>
                  <a:lnTo>
                    <a:pt x="231" y="59"/>
                  </a:lnTo>
                  <a:lnTo>
                    <a:pt x="231" y="59"/>
                  </a:lnTo>
                  <a:lnTo>
                    <a:pt x="229" y="59"/>
                  </a:lnTo>
                  <a:lnTo>
                    <a:pt x="229" y="58"/>
                  </a:lnTo>
                  <a:lnTo>
                    <a:pt x="227" y="58"/>
                  </a:lnTo>
                  <a:lnTo>
                    <a:pt x="227" y="54"/>
                  </a:lnTo>
                  <a:lnTo>
                    <a:pt x="223" y="50"/>
                  </a:lnTo>
                  <a:lnTo>
                    <a:pt x="221" y="48"/>
                  </a:lnTo>
                  <a:lnTo>
                    <a:pt x="221" y="46"/>
                  </a:lnTo>
                  <a:lnTo>
                    <a:pt x="218" y="46"/>
                  </a:lnTo>
                  <a:lnTo>
                    <a:pt x="218" y="46"/>
                  </a:lnTo>
                  <a:lnTo>
                    <a:pt x="214" y="44"/>
                  </a:lnTo>
                  <a:lnTo>
                    <a:pt x="212" y="44"/>
                  </a:lnTo>
                  <a:lnTo>
                    <a:pt x="210" y="44"/>
                  </a:lnTo>
                  <a:lnTo>
                    <a:pt x="210" y="42"/>
                  </a:lnTo>
                  <a:lnTo>
                    <a:pt x="208" y="42"/>
                  </a:lnTo>
                  <a:lnTo>
                    <a:pt x="208" y="42"/>
                  </a:lnTo>
                  <a:lnTo>
                    <a:pt x="204" y="40"/>
                  </a:lnTo>
                  <a:lnTo>
                    <a:pt x="204" y="40"/>
                  </a:lnTo>
                  <a:lnTo>
                    <a:pt x="195" y="42"/>
                  </a:lnTo>
                  <a:lnTo>
                    <a:pt x="193" y="42"/>
                  </a:lnTo>
                  <a:lnTo>
                    <a:pt x="191" y="42"/>
                  </a:lnTo>
                  <a:lnTo>
                    <a:pt x="189" y="40"/>
                  </a:lnTo>
                  <a:lnTo>
                    <a:pt x="187" y="40"/>
                  </a:lnTo>
                  <a:lnTo>
                    <a:pt x="187" y="39"/>
                  </a:lnTo>
                  <a:lnTo>
                    <a:pt x="185" y="39"/>
                  </a:lnTo>
                  <a:lnTo>
                    <a:pt x="181" y="37"/>
                  </a:lnTo>
                  <a:lnTo>
                    <a:pt x="179" y="37"/>
                  </a:lnTo>
                  <a:lnTo>
                    <a:pt x="176" y="33"/>
                  </a:lnTo>
                  <a:lnTo>
                    <a:pt x="174" y="33"/>
                  </a:lnTo>
                  <a:lnTo>
                    <a:pt x="174" y="31"/>
                  </a:lnTo>
                  <a:lnTo>
                    <a:pt x="172" y="31"/>
                  </a:lnTo>
                  <a:lnTo>
                    <a:pt x="172" y="29"/>
                  </a:lnTo>
                  <a:lnTo>
                    <a:pt x="172" y="27"/>
                  </a:lnTo>
                  <a:lnTo>
                    <a:pt x="172" y="25"/>
                  </a:lnTo>
                  <a:lnTo>
                    <a:pt x="170" y="23"/>
                  </a:lnTo>
                  <a:lnTo>
                    <a:pt x="170" y="23"/>
                  </a:lnTo>
                  <a:lnTo>
                    <a:pt x="170" y="21"/>
                  </a:lnTo>
                  <a:lnTo>
                    <a:pt x="170" y="12"/>
                  </a:lnTo>
                  <a:lnTo>
                    <a:pt x="170" y="12"/>
                  </a:lnTo>
                  <a:lnTo>
                    <a:pt x="170" y="8"/>
                  </a:lnTo>
                  <a:lnTo>
                    <a:pt x="164" y="2"/>
                  </a:lnTo>
                  <a:lnTo>
                    <a:pt x="162" y="0"/>
                  </a:lnTo>
                  <a:lnTo>
                    <a:pt x="160" y="0"/>
                  </a:lnTo>
                  <a:lnTo>
                    <a:pt x="157" y="4"/>
                  </a:lnTo>
                  <a:lnTo>
                    <a:pt x="157" y="4"/>
                  </a:lnTo>
                  <a:lnTo>
                    <a:pt x="155" y="6"/>
                  </a:lnTo>
                  <a:lnTo>
                    <a:pt x="153" y="6"/>
                  </a:lnTo>
                  <a:lnTo>
                    <a:pt x="153" y="6"/>
                  </a:lnTo>
                  <a:lnTo>
                    <a:pt x="151" y="6"/>
                  </a:lnTo>
                  <a:lnTo>
                    <a:pt x="151" y="6"/>
                  </a:lnTo>
                  <a:lnTo>
                    <a:pt x="151" y="8"/>
                  </a:lnTo>
                  <a:lnTo>
                    <a:pt x="151" y="8"/>
                  </a:lnTo>
                  <a:lnTo>
                    <a:pt x="151" y="8"/>
                  </a:lnTo>
                  <a:lnTo>
                    <a:pt x="149" y="10"/>
                  </a:lnTo>
                  <a:lnTo>
                    <a:pt x="147" y="10"/>
                  </a:lnTo>
                  <a:lnTo>
                    <a:pt x="145" y="10"/>
                  </a:lnTo>
                  <a:lnTo>
                    <a:pt x="143" y="10"/>
                  </a:lnTo>
                  <a:lnTo>
                    <a:pt x="141" y="10"/>
                  </a:lnTo>
                  <a:lnTo>
                    <a:pt x="139" y="8"/>
                  </a:lnTo>
                  <a:lnTo>
                    <a:pt x="138" y="8"/>
                  </a:lnTo>
                  <a:lnTo>
                    <a:pt x="130" y="8"/>
                  </a:lnTo>
                  <a:lnTo>
                    <a:pt x="122" y="14"/>
                  </a:lnTo>
                  <a:lnTo>
                    <a:pt x="122" y="14"/>
                  </a:lnTo>
                  <a:lnTo>
                    <a:pt x="120" y="16"/>
                  </a:lnTo>
                  <a:lnTo>
                    <a:pt x="117" y="16"/>
                  </a:lnTo>
                  <a:lnTo>
                    <a:pt x="117" y="16"/>
                  </a:lnTo>
                  <a:lnTo>
                    <a:pt x="113" y="18"/>
                  </a:lnTo>
                  <a:lnTo>
                    <a:pt x="109" y="20"/>
                  </a:lnTo>
                  <a:lnTo>
                    <a:pt x="109" y="20"/>
                  </a:lnTo>
                  <a:lnTo>
                    <a:pt x="107" y="20"/>
                  </a:lnTo>
                  <a:lnTo>
                    <a:pt x="107" y="21"/>
                  </a:lnTo>
                  <a:lnTo>
                    <a:pt x="105" y="23"/>
                  </a:lnTo>
                  <a:lnTo>
                    <a:pt x="107" y="23"/>
                  </a:lnTo>
                  <a:lnTo>
                    <a:pt x="107" y="27"/>
                  </a:lnTo>
                  <a:lnTo>
                    <a:pt x="107" y="27"/>
                  </a:lnTo>
                  <a:lnTo>
                    <a:pt x="107" y="29"/>
                  </a:lnTo>
                  <a:lnTo>
                    <a:pt x="107" y="31"/>
                  </a:lnTo>
                  <a:lnTo>
                    <a:pt x="107" y="31"/>
                  </a:lnTo>
                  <a:lnTo>
                    <a:pt x="109" y="33"/>
                  </a:lnTo>
                  <a:lnTo>
                    <a:pt x="109" y="33"/>
                  </a:lnTo>
                  <a:lnTo>
                    <a:pt x="111" y="35"/>
                  </a:lnTo>
                  <a:lnTo>
                    <a:pt x="109" y="39"/>
                  </a:lnTo>
                  <a:lnTo>
                    <a:pt x="107" y="39"/>
                  </a:lnTo>
                  <a:lnTo>
                    <a:pt x="105" y="40"/>
                  </a:lnTo>
                  <a:lnTo>
                    <a:pt x="103" y="40"/>
                  </a:lnTo>
                  <a:lnTo>
                    <a:pt x="101" y="40"/>
                  </a:lnTo>
                  <a:lnTo>
                    <a:pt x="101" y="42"/>
                  </a:lnTo>
                  <a:lnTo>
                    <a:pt x="103" y="42"/>
                  </a:lnTo>
                  <a:lnTo>
                    <a:pt x="103" y="44"/>
                  </a:lnTo>
                  <a:lnTo>
                    <a:pt x="105" y="48"/>
                  </a:lnTo>
                  <a:lnTo>
                    <a:pt x="107" y="48"/>
                  </a:lnTo>
                  <a:lnTo>
                    <a:pt x="107" y="52"/>
                  </a:lnTo>
                  <a:lnTo>
                    <a:pt x="107" y="52"/>
                  </a:lnTo>
                  <a:lnTo>
                    <a:pt x="109" y="52"/>
                  </a:lnTo>
                  <a:lnTo>
                    <a:pt x="109" y="52"/>
                  </a:lnTo>
                  <a:lnTo>
                    <a:pt x="111" y="50"/>
                  </a:lnTo>
                  <a:lnTo>
                    <a:pt x="118" y="50"/>
                  </a:lnTo>
                  <a:lnTo>
                    <a:pt x="120" y="48"/>
                  </a:lnTo>
                  <a:lnTo>
                    <a:pt x="124" y="48"/>
                  </a:lnTo>
                  <a:lnTo>
                    <a:pt x="126" y="46"/>
                  </a:lnTo>
                  <a:lnTo>
                    <a:pt x="128" y="46"/>
                  </a:lnTo>
                  <a:lnTo>
                    <a:pt x="136" y="48"/>
                  </a:lnTo>
                  <a:lnTo>
                    <a:pt x="136" y="48"/>
                  </a:lnTo>
                  <a:lnTo>
                    <a:pt x="136" y="46"/>
                  </a:lnTo>
                  <a:lnTo>
                    <a:pt x="138" y="46"/>
                  </a:lnTo>
                  <a:lnTo>
                    <a:pt x="138" y="46"/>
                  </a:lnTo>
                  <a:lnTo>
                    <a:pt x="138" y="46"/>
                  </a:lnTo>
                  <a:lnTo>
                    <a:pt x="138" y="46"/>
                  </a:lnTo>
                  <a:lnTo>
                    <a:pt x="139" y="46"/>
                  </a:lnTo>
                  <a:lnTo>
                    <a:pt x="139" y="46"/>
                  </a:lnTo>
                  <a:lnTo>
                    <a:pt x="141" y="46"/>
                  </a:lnTo>
                  <a:lnTo>
                    <a:pt x="141" y="48"/>
                  </a:lnTo>
                  <a:lnTo>
                    <a:pt x="141" y="48"/>
                  </a:lnTo>
                  <a:lnTo>
                    <a:pt x="143" y="48"/>
                  </a:lnTo>
                  <a:lnTo>
                    <a:pt x="147" y="48"/>
                  </a:lnTo>
                  <a:lnTo>
                    <a:pt x="147" y="48"/>
                  </a:lnTo>
                  <a:lnTo>
                    <a:pt x="147" y="46"/>
                  </a:lnTo>
                  <a:lnTo>
                    <a:pt x="149" y="46"/>
                  </a:lnTo>
                  <a:lnTo>
                    <a:pt x="151" y="46"/>
                  </a:lnTo>
                  <a:lnTo>
                    <a:pt x="151" y="46"/>
                  </a:lnTo>
                  <a:lnTo>
                    <a:pt x="151" y="46"/>
                  </a:lnTo>
                  <a:lnTo>
                    <a:pt x="151" y="46"/>
                  </a:lnTo>
                  <a:lnTo>
                    <a:pt x="151" y="46"/>
                  </a:lnTo>
                  <a:lnTo>
                    <a:pt x="153" y="48"/>
                  </a:lnTo>
                  <a:lnTo>
                    <a:pt x="153" y="48"/>
                  </a:lnTo>
                  <a:lnTo>
                    <a:pt x="153" y="50"/>
                  </a:lnTo>
                  <a:lnTo>
                    <a:pt x="153" y="50"/>
                  </a:lnTo>
                  <a:lnTo>
                    <a:pt x="153" y="50"/>
                  </a:lnTo>
                  <a:lnTo>
                    <a:pt x="153" y="52"/>
                  </a:lnTo>
                  <a:lnTo>
                    <a:pt x="151" y="52"/>
                  </a:lnTo>
                  <a:lnTo>
                    <a:pt x="149" y="54"/>
                  </a:lnTo>
                  <a:lnTo>
                    <a:pt x="147" y="54"/>
                  </a:lnTo>
                  <a:lnTo>
                    <a:pt x="136" y="58"/>
                  </a:lnTo>
                  <a:lnTo>
                    <a:pt x="134" y="58"/>
                  </a:lnTo>
                  <a:lnTo>
                    <a:pt x="134" y="58"/>
                  </a:lnTo>
                  <a:lnTo>
                    <a:pt x="130" y="56"/>
                  </a:lnTo>
                  <a:lnTo>
                    <a:pt x="130" y="56"/>
                  </a:lnTo>
                  <a:lnTo>
                    <a:pt x="128" y="56"/>
                  </a:lnTo>
                  <a:lnTo>
                    <a:pt x="128" y="58"/>
                  </a:lnTo>
                  <a:lnTo>
                    <a:pt x="126" y="59"/>
                  </a:lnTo>
                  <a:lnTo>
                    <a:pt x="124" y="61"/>
                  </a:lnTo>
                  <a:lnTo>
                    <a:pt x="122" y="61"/>
                  </a:lnTo>
                  <a:lnTo>
                    <a:pt x="120" y="63"/>
                  </a:lnTo>
                  <a:lnTo>
                    <a:pt x="120" y="65"/>
                  </a:lnTo>
                  <a:lnTo>
                    <a:pt x="118" y="71"/>
                  </a:lnTo>
                  <a:lnTo>
                    <a:pt x="117" y="73"/>
                  </a:lnTo>
                  <a:lnTo>
                    <a:pt x="117" y="75"/>
                  </a:lnTo>
                  <a:lnTo>
                    <a:pt x="111" y="77"/>
                  </a:lnTo>
                  <a:lnTo>
                    <a:pt x="111" y="77"/>
                  </a:lnTo>
                  <a:lnTo>
                    <a:pt x="109" y="75"/>
                  </a:lnTo>
                  <a:lnTo>
                    <a:pt x="107" y="75"/>
                  </a:lnTo>
                  <a:lnTo>
                    <a:pt x="107" y="75"/>
                  </a:lnTo>
                  <a:lnTo>
                    <a:pt x="107" y="75"/>
                  </a:lnTo>
                  <a:lnTo>
                    <a:pt x="105" y="77"/>
                  </a:lnTo>
                  <a:lnTo>
                    <a:pt x="105" y="80"/>
                  </a:lnTo>
                  <a:lnTo>
                    <a:pt x="103" y="82"/>
                  </a:lnTo>
                  <a:lnTo>
                    <a:pt x="103" y="82"/>
                  </a:lnTo>
                  <a:lnTo>
                    <a:pt x="101" y="82"/>
                  </a:lnTo>
                  <a:lnTo>
                    <a:pt x="99" y="84"/>
                  </a:lnTo>
                  <a:lnTo>
                    <a:pt x="99" y="84"/>
                  </a:lnTo>
                  <a:lnTo>
                    <a:pt x="99" y="84"/>
                  </a:lnTo>
                  <a:lnTo>
                    <a:pt x="98" y="86"/>
                  </a:lnTo>
                  <a:lnTo>
                    <a:pt x="98" y="86"/>
                  </a:lnTo>
                  <a:lnTo>
                    <a:pt x="98" y="86"/>
                  </a:lnTo>
                  <a:lnTo>
                    <a:pt x="96" y="86"/>
                  </a:lnTo>
                  <a:lnTo>
                    <a:pt x="96" y="86"/>
                  </a:lnTo>
                  <a:lnTo>
                    <a:pt x="94" y="86"/>
                  </a:lnTo>
                  <a:lnTo>
                    <a:pt x="94" y="84"/>
                  </a:lnTo>
                  <a:lnTo>
                    <a:pt x="94" y="86"/>
                  </a:lnTo>
                  <a:lnTo>
                    <a:pt x="92" y="86"/>
                  </a:lnTo>
                  <a:lnTo>
                    <a:pt x="92" y="86"/>
                  </a:lnTo>
                  <a:lnTo>
                    <a:pt x="92" y="86"/>
                  </a:lnTo>
                  <a:lnTo>
                    <a:pt x="86" y="82"/>
                  </a:lnTo>
                  <a:lnTo>
                    <a:pt x="84" y="82"/>
                  </a:lnTo>
                  <a:lnTo>
                    <a:pt x="84" y="82"/>
                  </a:lnTo>
                  <a:lnTo>
                    <a:pt x="84" y="82"/>
                  </a:lnTo>
                  <a:lnTo>
                    <a:pt x="84" y="84"/>
                  </a:lnTo>
                  <a:lnTo>
                    <a:pt x="84" y="84"/>
                  </a:lnTo>
                  <a:lnTo>
                    <a:pt x="84" y="84"/>
                  </a:lnTo>
                  <a:lnTo>
                    <a:pt x="88" y="88"/>
                  </a:lnTo>
                  <a:lnTo>
                    <a:pt x="92" y="90"/>
                  </a:lnTo>
                  <a:lnTo>
                    <a:pt x="94" y="90"/>
                  </a:lnTo>
                  <a:lnTo>
                    <a:pt x="94" y="90"/>
                  </a:lnTo>
                  <a:lnTo>
                    <a:pt x="96" y="90"/>
                  </a:lnTo>
                  <a:lnTo>
                    <a:pt x="96" y="90"/>
                  </a:lnTo>
                  <a:lnTo>
                    <a:pt x="98" y="90"/>
                  </a:lnTo>
                  <a:lnTo>
                    <a:pt x="98" y="90"/>
                  </a:lnTo>
                  <a:lnTo>
                    <a:pt x="99" y="92"/>
                  </a:lnTo>
                  <a:lnTo>
                    <a:pt x="99" y="92"/>
                  </a:lnTo>
                  <a:lnTo>
                    <a:pt x="99" y="94"/>
                  </a:lnTo>
                  <a:lnTo>
                    <a:pt x="101" y="96"/>
                  </a:lnTo>
                  <a:lnTo>
                    <a:pt x="103" y="96"/>
                  </a:lnTo>
                  <a:lnTo>
                    <a:pt x="105" y="96"/>
                  </a:lnTo>
                  <a:lnTo>
                    <a:pt x="107" y="97"/>
                  </a:lnTo>
                  <a:lnTo>
                    <a:pt x="107" y="99"/>
                  </a:lnTo>
                  <a:lnTo>
                    <a:pt x="109" y="101"/>
                  </a:lnTo>
                  <a:lnTo>
                    <a:pt x="111" y="103"/>
                  </a:lnTo>
                  <a:lnTo>
                    <a:pt x="113" y="103"/>
                  </a:lnTo>
                  <a:lnTo>
                    <a:pt x="113" y="105"/>
                  </a:lnTo>
                  <a:lnTo>
                    <a:pt x="113" y="105"/>
                  </a:lnTo>
                  <a:lnTo>
                    <a:pt x="115" y="109"/>
                  </a:lnTo>
                  <a:lnTo>
                    <a:pt x="115" y="111"/>
                  </a:lnTo>
                  <a:lnTo>
                    <a:pt x="117" y="113"/>
                  </a:lnTo>
                  <a:lnTo>
                    <a:pt x="117" y="120"/>
                  </a:lnTo>
                  <a:lnTo>
                    <a:pt x="117" y="122"/>
                  </a:lnTo>
                  <a:lnTo>
                    <a:pt x="117" y="124"/>
                  </a:lnTo>
                  <a:lnTo>
                    <a:pt x="117" y="126"/>
                  </a:lnTo>
                  <a:lnTo>
                    <a:pt x="115" y="126"/>
                  </a:lnTo>
                  <a:lnTo>
                    <a:pt x="115" y="128"/>
                  </a:lnTo>
                  <a:lnTo>
                    <a:pt x="111" y="132"/>
                  </a:lnTo>
                  <a:lnTo>
                    <a:pt x="107" y="134"/>
                  </a:lnTo>
                  <a:lnTo>
                    <a:pt x="107" y="136"/>
                  </a:lnTo>
                  <a:lnTo>
                    <a:pt x="107" y="137"/>
                  </a:lnTo>
                  <a:lnTo>
                    <a:pt x="107" y="137"/>
                  </a:lnTo>
                  <a:lnTo>
                    <a:pt x="107" y="139"/>
                  </a:lnTo>
                  <a:lnTo>
                    <a:pt x="107" y="139"/>
                  </a:lnTo>
                  <a:lnTo>
                    <a:pt x="105" y="141"/>
                  </a:lnTo>
                  <a:lnTo>
                    <a:pt x="105" y="141"/>
                  </a:lnTo>
                  <a:lnTo>
                    <a:pt x="103" y="143"/>
                  </a:lnTo>
                  <a:lnTo>
                    <a:pt x="101" y="143"/>
                  </a:lnTo>
                  <a:lnTo>
                    <a:pt x="98" y="145"/>
                  </a:lnTo>
                  <a:lnTo>
                    <a:pt x="98" y="145"/>
                  </a:lnTo>
                  <a:lnTo>
                    <a:pt x="92" y="145"/>
                  </a:lnTo>
                  <a:lnTo>
                    <a:pt x="92" y="145"/>
                  </a:lnTo>
                  <a:lnTo>
                    <a:pt x="90" y="145"/>
                  </a:lnTo>
                  <a:lnTo>
                    <a:pt x="90" y="145"/>
                  </a:lnTo>
                  <a:lnTo>
                    <a:pt x="88" y="141"/>
                  </a:lnTo>
                  <a:lnTo>
                    <a:pt x="86" y="139"/>
                  </a:lnTo>
                  <a:lnTo>
                    <a:pt x="86" y="139"/>
                  </a:lnTo>
                  <a:lnTo>
                    <a:pt x="82" y="137"/>
                  </a:lnTo>
                  <a:lnTo>
                    <a:pt x="78" y="136"/>
                  </a:lnTo>
                  <a:lnTo>
                    <a:pt x="78" y="136"/>
                  </a:lnTo>
                  <a:lnTo>
                    <a:pt x="78" y="136"/>
                  </a:lnTo>
                  <a:lnTo>
                    <a:pt x="77" y="134"/>
                  </a:lnTo>
                  <a:lnTo>
                    <a:pt x="77" y="134"/>
                  </a:lnTo>
                  <a:lnTo>
                    <a:pt x="75" y="132"/>
                  </a:lnTo>
                  <a:lnTo>
                    <a:pt x="75" y="130"/>
                  </a:lnTo>
                  <a:lnTo>
                    <a:pt x="75" y="130"/>
                  </a:lnTo>
                  <a:lnTo>
                    <a:pt x="75" y="130"/>
                  </a:lnTo>
                  <a:lnTo>
                    <a:pt x="73" y="130"/>
                  </a:lnTo>
                  <a:lnTo>
                    <a:pt x="73" y="130"/>
                  </a:lnTo>
                  <a:lnTo>
                    <a:pt x="73" y="130"/>
                  </a:lnTo>
                  <a:lnTo>
                    <a:pt x="71" y="134"/>
                  </a:lnTo>
                  <a:lnTo>
                    <a:pt x="71" y="136"/>
                  </a:lnTo>
                  <a:lnTo>
                    <a:pt x="67" y="136"/>
                  </a:lnTo>
                  <a:lnTo>
                    <a:pt x="67" y="136"/>
                  </a:lnTo>
                  <a:lnTo>
                    <a:pt x="67" y="137"/>
                  </a:lnTo>
                  <a:lnTo>
                    <a:pt x="67" y="137"/>
                  </a:lnTo>
                  <a:lnTo>
                    <a:pt x="67" y="137"/>
                  </a:lnTo>
                  <a:lnTo>
                    <a:pt x="67" y="137"/>
                  </a:lnTo>
                  <a:lnTo>
                    <a:pt x="69" y="137"/>
                  </a:lnTo>
                  <a:lnTo>
                    <a:pt x="69" y="137"/>
                  </a:lnTo>
                  <a:lnTo>
                    <a:pt x="69" y="137"/>
                  </a:lnTo>
                  <a:lnTo>
                    <a:pt x="71" y="139"/>
                  </a:lnTo>
                  <a:lnTo>
                    <a:pt x="71" y="139"/>
                  </a:lnTo>
                  <a:lnTo>
                    <a:pt x="71" y="141"/>
                  </a:lnTo>
                  <a:lnTo>
                    <a:pt x="71" y="141"/>
                  </a:lnTo>
                  <a:lnTo>
                    <a:pt x="71" y="143"/>
                  </a:lnTo>
                  <a:lnTo>
                    <a:pt x="71" y="143"/>
                  </a:lnTo>
                  <a:lnTo>
                    <a:pt x="73" y="143"/>
                  </a:lnTo>
                  <a:lnTo>
                    <a:pt x="73" y="143"/>
                  </a:lnTo>
                  <a:lnTo>
                    <a:pt x="73" y="143"/>
                  </a:lnTo>
                  <a:lnTo>
                    <a:pt x="75" y="143"/>
                  </a:lnTo>
                  <a:lnTo>
                    <a:pt x="75" y="143"/>
                  </a:lnTo>
                  <a:lnTo>
                    <a:pt x="75" y="145"/>
                  </a:lnTo>
                  <a:lnTo>
                    <a:pt x="75" y="147"/>
                  </a:lnTo>
                  <a:lnTo>
                    <a:pt x="75" y="149"/>
                  </a:lnTo>
                  <a:lnTo>
                    <a:pt x="73" y="153"/>
                  </a:lnTo>
                  <a:lnTo>
                    <a:pt x="69" y="160"/>
                  </a:lnTo>
                  <a:lnTo>
                    <a:pt x="67" y="162"/>
                  </a:lnTo>
                  <a:lnTo>
                    <a:pt x="65" y="164"/>
                  </a:lnTo>
                  <a:lnTo>
                    <a:pt x="67" y="164"/>
                  </a:lnTo>
                  <a:lnTo>
                    <a:pt x="67" y="166"/>
                  </a:lnTo>
                  <a:lnTo>
                    <a:pt x="67" y="166"/>
                  </a:lnTo>
                  <a:lnTo>
                    <a:pt x="67" y="166"/>
                  </a:lnTo>
                  <a:lnTo>
                    <a:pt x="67" y="166"/>
                  </a:lnTo>
                  <a:lnTo>
                    <a:pt x="69" y="168"/>
                  </a:lnTo>
                  <a:lnTo>
                    <a:pt x="69" y="168"/>
                  </a:lnTo>
                  <a:lnTo>
                    <a:pt x="69" y="170"/>
                  </a:lnTo>
                  <a:lnTo>
                    <a:pt x="69" y="174"/>
                  </a:lnTo>
                  <a:lnTo>
                    <a:pt x="69" y="175"/>
                  </a:lnTo>
                  <a:lnTo>
                    <a:pt x="69" y="177"/>
                  </a:lnTo>
                  <a:lnTo>
                    <a:pt x="67" y="177"/>
                  </a:lnTo>
                  <a:lnTo>
                    <a:pt x="67" y="179"/>
                  </a:lnTo>
                  <a:lnTo>
                    <a:pt x="67" y="179"/>
                  </a:lnTo>
                  <a:lnTo>
                    <a:pt x="69" y="181"/>
                  </a:lnTo>
                  <a:lnTo>
                    <a:pt x="67" y="183"/>
                  </a:lnTo>
                  <a:lnTo>
                    <a:pt x="67" y="183"/>
                  </a:lnTo>
                  <a:lnTo>
                    <a:pt x="67" y="183"/>
                  </a:lnTo>
                  <a:lnTo>
                    <a:pt x="65" y="183"/>
                  </a:lnTo>
                  <a:lnTo>
                    <a:pt x="63" y="183"/>
                  </a:lnTo>
                  <a:lnTo>
                    <a:pt x="57" y="181"/>
                  </a:lnTo>
                  <a:lnTo>
                    <a:pt x="57" y="181"/>
                  </a:lnTo>
                  <a:lnTo>
                    <a:pt x="56" y="183"/>
                  </a:lnTo>
                  <a:lnTo>
                    <a:pt x="56" y="183"/>
                  </a:lnTo>
                  <a:lnTo>
                    <a:pt x="56" y="185"/>
                  </a:lnTo>
                  <a:lnTo>
                    <a:pt x="56" y="185"/>
                  </a:lnTo>
                  <a:lnTo>
                    <a:pt x="56" y="185"/>
                  </a:lnTo>
                  <a:lnTo>
                    <a:pt x="56" y="187"/>
                  </a:lnTo>
                  <a:lnTo>
                    <a:pt x="56" y="187"/>
                  </a:lnTo>
                  <a:lnTo>
                    <a:pt x="54" y="187"/>
                  </a:lnTo>
                  <a:lnTo>
                    <a:pt x="54" y="189"/>
                  </a:lnTo>
                  <a:lnTo>
                    <a:pt x="52" y="189"/>
                  </a:lnTo>
                  <a:lnTo>
                    <a:pt x="52" y="189"/>
                  </a:lnTo>
                  <a:lnTo>
                    <a:pt x="50" y="189"/>
                  </a:lnTo>
                  <a:lnTo>
                    <a:pt x="48" y="189"/>
                  </a:lnTo>
                  <a:lnTo>
                    <a:pt x="48" y="193"/>
                  </a:lnTo>
                  <a:lnTo>
                    <a:pt x="48" y="194"/>
                  </a:lnTo>
                  <a:lnTo>
                    <a:pt x="48" y="196"/>
                  </a:lnTo>
                  <a:lnTo>
                    <a:pt x="46" y="196"/>
                  </a:lnTo>
                  <a:lnTo>
                    <a:pt x="46" y="198"/>
                  </a:lnTo>
                  <a:lnTo>
                    <a:pt x="46" y="198"/>
                  </a:lnTo>
                  <a:lnTo>
                    <a:pt x="46" y="198"/>
                  </a:lnTo>
                  <a:lnTo>
                    <a:pt x="44" y="196"/>
                  </a:lnTo>
                  <a:lnTo>
                    <a:pt x="44" y="196"/>
                  </a:lnTo>
                  <a:lnTo>
                    <a:pt x="42" y="194"/>
                  </a:lnTo>
                  <a:lnTo>
                    <a:pt x="42" y="194"/>
                  </a:lnTo>
                  <a:lnTo>
                    <a:pt x="40" y="194"/>
                  </a:lnTo>
                  <a:lnTo>
                    <a:pt x="40" y="194"/>
                  </a:lnTo>
                  <a:lnTo>
                    <a:pt x="38" y="196"/>
                  </a:lnTo>
                  <a:lnTo>
                    <a:pt x="38" y="196"/>
                  </a:lnTo>
                  <a:lnTo>
                    <a:pt x="38" y="196"/>
                  </a:lnTo>
                  <a:lnTo>
                    <a:pt x="38" y="196"/>
                  </a:lnTo>
                  <a:lnTo>
                    <a:pt x="37" y="196"/>
                  </a:lnTo>
                  <a:lnTo>
                    <a:pt x="37" y="194"/>
                  </a:lnTo>
                  <a:lnTo>
                    <a:pt x="37" y="194"/>
                  </a:lnTo>
                  <a:lnTo>
                    <a:pt x="35" y="194"/>
                  </a:lnTo>
                  <a:lnTo>
                    <a:pt x="35" y="196"/>
                  </a:lnTo>
                  <a:lnTo>
                    <a:pt x="33" y="196"/>
                  </a:lnTo>
                  <a:lnTo>
                    <a:pt x="33" y="196"/>
                  </a:lnTo>
                  <a:lnTo>
                    <a:pt x="33" y="196"/>
                  </a:lnTo>
                  <a:lnTo>
                    <a:pt x="31" y="196"/>
                  </a:lnTo>
                  <a:lnTo>
                    <a:pt x="31" y="194"/>
                  </a:lnTo>
                  <a:lnTo>
                    <a:pt x="29" y="193"/>
                  </a:lnTo>
                  <a:lnTo>
                    <a:pt x="27" y="189"/>
                  </a:lnTo>
                  <a:lnTo>
                    <a:pt x="23" y="191"/>
                  </a:lnTo>
                  <a:lnTo>
                    <a:pt x="21" y="191"/>
                  </a:lnTo>
                  <a:lnTo>
                    <a:pt x="19" y="191"/>
                  </a:lnTo>
                  <a:lnTo>
                    <a:pt x="17" y="191"/>
                  </a:lnTo>
                  <a:lnTo>
                    <a:pt x="16" y="191"/>
                  </a:lnTo>
                  <a:lnTo>
                    <a:pt x="16" y="191"/>
                  </a:lnTo>
                  <a:lnTo>
                    <a:pt x="16" y="191"/>
                  </a:lnTo>
                  <a:lnTo>
                    <a:pt x="16" y="191"/>
                  </a:lnTo>
                  <a:lnTo>
                    <a:pt x="12" y="191"/>
                  </a:lnTo>
                  <a:lnTo>
                    <a:pt x="12" y="191"/>
                  </a:lnTo>
                  <a:lnTo>
                    <a:pt x="12" y="191"/>
                  </a:lnTo>
                  <a:lnTo>
                    <a:pt x="10" y="191"/>
                  </a:lnTo>
                  <a:lnTo>
                    <a:pt x="10" y="193"/>
                  </a:lnTo>
                  <a:lnTo>
                    <a:pt x="8" y="193"/>
                  </a:lnTo>
                  <a:lnTo>
                    <a:pt x="6" y="193"/>
                  </a:lnTo>
                  <a:lnTo>
                    <a:pt x="6" y="194"/>
                  </a:lnTo>
                  <a:lnTo>
                    <a:pt x="6" y="200"/>
                  </a:lnTo>
                  <a:lnTo>
                    <a:pt x="6" y="200"/>
                  </a:lnTo>
                  <a:lnTo>
                    <a:pt x="4" y="202"/>
                  </a:lnTo>
                  <a:lnTo>
                    <a:pt x="4" y="204"/>
                  </a:lnTo>
                  <a:lnTo>
                    <a:pt x="2" y="204"/>
                  </a:lnTo>
                  <a:lnTo>
                    <a:pt x="2" y="206"/>
                  </a:lnTo>
                  <a:lnTo>
                    <a:pt x="2" y="206"/>
                  </a:lnTo>
                  <a:lnTo>
                    <a:pt x="2" y="208"/>
                  </a:lnTo>
                  <a:lnTo>
                    <a:pt x="2" y="212"/>
                  </a:lnTo>
                  <a:lnTo>
                    <a:pt x="0" y="213"/>
                  </a:lnTo>
                  <a:lnTo>
                    <a:pt x="0" y="215"/>
                  </a:lnTo>
                  <a:lnTo>
                    <a:pt x="0" y="215"/>
                  </a:lnTo>
                  <a:lnTo>
                    <a:pt x="2" y="219"/>
                  </a:lnTo>
                  <a:lnTo>
                    <a:pt x="2" y="219"/>
                  </a:lnTo>
                  <a:lnTo>
                    <a:pt x="2" y="223"/>
                  </a:lnTo>
                  <a:lnTo>
                    <a:pt x="2" y="225"/>
                  </a:lnTo>
                  <a:lnTo>
                    <a:pt x="4" y="225"/>
                  </a:lnTo>
                  <a:lnTo>
                    <a:pt x="8" y="221"/>
                  </a:lnTo>
                  <a:lnTo>
                    <a:pt x="8" y="223"/>
                  </a:lnTo>
                  <a:lnTo>
                    <a:pt x="8" y="223"/>
                  </a:lnTo>
                  <a:lnTo>
                    <a:pt x="8" y="223"/>
                  </a:lnTo>
                  <a:lnTo>
                    <a:pt x="8" y="225"/>
                  </a:lnTo>
                  <a:lnTo>
                    <a:pt x="8" y="225"/>
                  </a:lnTo>
                  <a:lnTo>
                    <a:pt x="6" y="225"/>
                  </a:lnTo>
                  <a:lnTo>
                    <a:pt x="6" y="225"/>
                  </a:lnTo>
                  <a:lnTo>
                    <a:pt x="6" y="227"/>
                  </a:lnTo>
                  <a:lnTo>
                    <a:pt x="8" y="229"/>
                  </a:lnTo>
                  <a:lnTo>
                    <a:pt x="8" y="229"/>
                  </a:lnTo>
                  <a:lnTo>
                    <a:pt x="6" y="231"/>
                  </a:lnTo>
                  <a:lnTo>
                    <a:pt x="6" y="229"/>
                  </a:lnTo>
                  <a:lnTo>
                    <a:pt x="4" y="229"/>
                  </a:lnTo>
                  <a:lnTo>
                    <a:pt x="4" y="229"/>
                  </a:lnTo>
                  <a:lnTo>
                    <a:pt x="4" y="227"/>
                  </a:lnTo>
                  <a:lnTo>
                    <a:pt x="6" y="234"/>
                  </a:lnTo>
                  <a:lnTo>
                    <a:pt x="6" y="238"/>
                  </a:lnTo>
                  <a:lnTo>
                    <a:pt x="6" y="240"/>
                  </a:lnTo>
                  <a:lnTo>
                    <a:pt x="6" y="246"/>
                  </a:lnTo>
                  <a:lnTo>
                    <a:pt x="8" y="248"/>
                  </a:lnTo>
                  <a:lnTo>
                    <a:pt x="10" y="248"/>
                  </a:lnTo>
                  <a:lnTo>
                    <a:pt x="10" y="248"/>
                  </a:lnTo>
                  <a:lnTo>
                    <a:pt x="10" y="248"/>
                  </a:lnTo>
                  <a:lnTo>
                    <a:pt x="10" y="246"/>
                  </a:lnTo>
                  <a:lnTo>
                    <a:pt x="8" y="246"/>
                  </a:lnTo>
                  <a:lnTo>
                    <a:pt x="8" y="244"/>
                  </a:lnTo>
                  <a:lnTo>
                    <a:pt x="8" y="244"/>
                  </a:lnTo>
                  <a:lnTo>
                    <a:pt x="8" y="242"/>
                  </a:lnTo>
                  <a:lnTo>
                    <a:pt x="8" y="242"/>
                  </a:lnTo>
                  <a:lnTo>
                    <a:pt x="8" y="242"/>
                  </a:lnTo>
                  <a:lnTo>
                    <a:pt x="10" y="242"/>
                  </a:lnTo>
                  <a:lnTo>
                    <a:pt x="12" y="244"/>
                  </a:lnTo>
                  <a:lnTo>
                    <a:pt x="12" y="244"/>
                  </a:lnTo>
                  <a:lnTo>
                    <a:pt x="12" y="246"/>
                  </a:lnTo>
                  <a:lnTo>
                    <a:pt x="12" y="246"/>
                  </a:lnTo>
                  <a:lnTo>
                    <a:pt x="14" y="246"/>
                  </a:lnTo>
                  <a:lnTo>
                    <a:pt x="14" y="248"/>
                  </a:lnTo>
                  <a:lnTo>
                    <a:pt x="16" y="246"/>
                  </a:lnTo>
                  <a:lnTo>
                    <a:pt x="17" y="246"/>
                  </a:lnTo>
                  <a:lnTo>
                    <a:pt x="19" y="246"/>
                  </a:lnTo>
                  <a:lnTo>
                    <a:pt x="21" y="246"/>
                  </a:lnTo>
                  <a:lnTo>
                    <a:pt x="12" y="250"/>
                  </a:lnTo>
                  <a:lnTo>
                    <a:pt x="10" y="252"/>
                  </a:lnTo>
                  <a:lnTo>
                    <a:pt x="10" y="253"/>
                  </a:lnTo>
                  <a:lnTo>
                    <a:pt x="10" y="255"/>
                  </a:lnTo>
                  <a:lnTo>
                    <a:pt x="10" y="261"/>
                  </a:lnTo>
                  <a:lnTo>
                    <a:pt x="10" y="261"/>
                  </a:lnTo>
                  <a:lnTo>
                    <a:pt x="14" y="265"/>
                  </a:lnTo>
                  <a:lnTo>
                    <a:pt x="14" y="267"/>
                  </a:lnTo>
                  <a:lnTo>
                    <a:pt x="16" y="267"/>
                  </a:lnTo>
                  <a:lnTo>
                    <a:pt x="17" y="265"/>
                  </a:lnTo>
                  <a:lnTo>
                    <a:pt x="19" y="265"/>
                  </a:lnTo>
                  <a:lnTo>
                    <a:pt x="21" y="267"/>
                  </a:lnTo>
                  <a:lnTo>
                    <a:pt x="23" y="269"/>
                  </a:lnTo>
                  <a:lnTo>
                    <a:pt x="25" y="269"/>
                  </a:lnTo>
                  <a:lnTo>
                    <a:pt x="31" y="269"/>
                  </a:lnTo>
                  <a:lnTo>
                    <a:pt x="31" y="269"/>
                  </a:lnTo>
                  <a:lnTo>
                    <a:pt x="33" y="271"/>
                  </a:lnTo>
                  <a:lnTo>
                    <a:pt x="35" y="272"/>
                  </a:lnTo>
                  <a:lnTo>
                    <a:pt x="35" y="272"/>
                  </a:lnTo>
                  <a:lnTo>
                    <a:pt x="35" y="272"/>
                  </a:lnTo>
                  <a:lnTo>
                    <a:pt x="35" y="274"/>
                  </a:lnTo>
                  <a:lnTo>
                    <a:pt x="35" y="276"/>
                  </a:lnTo>
                  <a:lnTo>
                    <a:pt x="37" y="276"/>
                  </a:lnTo>
                  <a:lnTo>
                    <a:pt x="35" y="278"/>
                  </a:lnTo>
                  <a:lnTo>
                    <a:pt x="33" y="276"/>
                  </a:lnTo>
                  <a:lnTo>
                    <a:pt x="31" y="271"/>
                  </a:lnTo>
                  <a:lnTo>
                    <a:pt x="31" y="271"/>
                  </a:lnTo>
                  <a:lnTo>
                    <a:pt x="29" y="269"/>
                  </a:lnTo>
                  <a:lnTo>
                    <a:pt x="27" y="271"/>
                  </a:lnTo>
                  <a:lnTo>
                    <a:pt x="27" y="271"/>
                  </a:lnTo>
                  <a:lnTo>
                    <a:pt x="23" y="271"/>
                  </a:lnTo>
                  <a:lnTo>
                    <a:pt x="21" y="269"/>
                  </a:lnTo>
                  <a:lnTo>
                    <a:pt x="19" y="267"/>
                  </a:lnTo>
                  <a:lnTo>
                    <a:pt x="17" y="267"/>
                  </a:lnTo>
                  <a:lnTo>
                    <a:pt x="14" y="267"/>
                  </a:lnTo>
                  <a:lnTo>
                    <a:pt x="12" y="269"/>
                  </a:lnTo>
                  <a:lnTo>
                    <a:pt x="12" y="272"/>
                  </a:lnTo>
                  <a:lnTo>
                    <a:pt x="12" y="278"/>
                  </a:lnTo>
                  <a:lnTo>
                    <a:pt x="14" y="276"/>
                  </a:lnTo>
                  <a:lnTo>
                    <a:pt x="14" y="274"/>
                  </a:lnTo>
                  <a:lnTo>
                    <a:pt x="16" y="274"/>
                  </a:lnTo>
                  <a:lnTo>
                    <a:pt x="17" y="274"/>
                  </a:lnTo>
                  <a:lnTo>
                    <a:pt x="16" y="274"/>
                  </a:lnTo>
                  <a:lnTo>
                    <a:pt x="14" y="278"/>
                  </a:lnTo>
                  <a:lnTo>
                    <a:pt x="12" y="282"/>
                  </a:lnTo>
                  <a:lnTo>
                    <a:pt x="12" y="282"/>
                  </a:lnTo>
                  <a:lnTo>
                    <a:pt x="14" y="284"/>
                  </a:lnTo>
                  <a:lnTo>
                    <a:pt x="14" y="284"/>
                  </a:lnTo>
                  <a:lnTo>
                    <a:pt x="14" y="284"/>
                  </a:lnTo>
                  <a:lnTo>
                    <a:pt x="14" y="282"/>
                  </a:lnTo>
                  <a:lnTo>
                    <a:pt x="16" y="282"/>
                  </a:lnTo>
                  <a:lnTo>
                    <a:pt x="16" y="282"/>
                  </a:lnTo>
                  <a:lnTo>
                    <a:pt x="16" y="282"/>
                  </a:lnTo>
                  <a:lnTo>
                    <a:pt x="16" y="282"/>
                  </a:lnTo>
                  <a:lnTo>
                    <a:pt x="16" y="284"/>
                  </a:lnTo>
                  <a:lnTo>
                    <a:pt x="16" y="284"/>
                  </a:lnTo>
                  <a:lnTo>
                    <a:pt x="16" y="286"/>
                  </a:lnTo>
                  <a:lnTo>
                    <a:pt x="16" y="286"/>
                  </a:lnTo>
                  <a:lnTo>
                    <a:pt x="16" y="288"/>
                  </a:lnTo>
                  <a:lnTo>
                    <a:pt x="16" y="290"/>
                  </a:lnTo>
                  <a:lnTo>
                    <a:pt x="16" y="291"/>
                  </a:lnTo>
                  <a:lnTo>
                    <a:pt x="16" y="291"/>
                  </a:lnTo>
                  <a:lnTo>
                    <a:pt x="16" y="293"/>
                  </a:lnTo>
                  <a:lnTo>
                    <a:pt x="16" y="293"/>
                  </a:lnTo>
                  <a:lnTo>
                    <a:pt x="16" y="295"/>
                  </a:lnTo>
                  <a:lnTo>
                    <a:pt x="16" y="295"/>
                  </a:lnTo>
                  <a:lnTo>
                    <a:pt x="14" y="295"/>
                  </a:lnTo>
                  <a:lnTo>
                    <a:pt x="14" y="297"/>
                  </a:lnTo>
                  <a:lnTo>
                    <a:pt x="14" y="299"/>
                  </a:lnTo>
                  <a:lnTo>
                    <a:pt x="14" y="299"/>
                  </a:lnTo>
                  <a:lnTo>
                    <a:pt x="12" y="303"/>
                  </a:lnTo>
                  <a:lnTo>
                    <a:pt x="12" y="303"/>
                  </a:lnTo>
                  <a:lnTo>
                    <a:pt x="12" y="305"/>
                  </a:lnTo>
                  <a:lnTo>
                    <a:pt x="14" y="303"/>
                  </a:lnTo>
                  <a:lnTo>
                    <a:pt x="14" y="303"/>
                  </a:lnTo>
                  <a:lnTo>
                    <a:pt x="14" y="303"/>
                  </a:lnTo>
                  <a:lnTo>
                    <a:pt x="14" y="303"/>
                  </a:lnTo>
                  <a:lnTo>
                    <a:pt x="16" y="303"/>
                  </a:lnTo>
                  <a:lnTo>
                    <a:pt x="14" y="305"/>
                  </a:lnTo>
                  <a:lnTo>
                    <a:pt x="14" y="307"/>
                  </a:lnTo>
                  <a:lnTo>
                    <a:pt x="14" y="307"/>
                  </a:lnTo>
                  <a:lnTo>
                    <a:pt x="16" y="309"/>
                  </a:lnTo>
                  <a:lnTo>
                    <a:pt x="16" y="309"/>
                  </a:lnTo>
                  <a:lnTo>
                    <a:pt x="17" y="307"/>
                  </a:lnTo>
                  <a:lnTo>
                    <a:pt x="17" y="303"/>
                  </a:lnTo>
                  <a:lnTo>
                    <a:pt x="19" y="299"/>
                  </a:lnTo>
                  <a:lnTo>
                    <a:pt x="21" y="297"/>
                  </a:lnTo>
                  <a:lnTo>
                    <a:pt x="21" y="295"/>
                  </a:lnTo>
                  <a:lnTo>
                    <a:pt x="23" y="297"/>
                  </a:lnTo>
                  <a:lnTo>
                    <a:pt x="23" y="299"/>
                  </a:lnTo>
                  <a:lnTo>
                    <a:pt x="27" y="295"/>
                  </a:lnTo>
                  <a:lnTo>
                    <a:pt x="27" y="293"/>
                  </a:lnTo>
                  <a:lnTo>
                    <a:pt x="25" y="291"/>
                  </a:lnTo>
                  <a:lnTo>
                    <a:pt x="27" y="290"/>
                  </a:lnTo>
                  <a:lnTo>
                    <a:pt x="27" y="288"/>
                  </a:lnTo>
                  <a:lnTo>
                    <a:pt x="29" y="286"/>
                  </a:lnTo>
                  <a:lnTo>
                    <a:pt x="29" y="282"/>
                  </a:lnTo>
                  <a:lnTo>
                    <a:pt x="31" y="282"/>
                  </a:lnTo>
                  <a:lnTo>
                    <a:pt x="29" y="290"/>
                  </a:lnTo>
                  <a:lnTo>
                    <a:pt x="31" y="291"/>
                  </a:lnTo>
                  <a:lnTo>
                    <a:pt x="31" y="291"/>
                  </a:lnTo>
                  <a:lnTo>
                    <a:pt x="33" y="291"/>
                  </a:lnTo>
                  <a:lnTo>
                    <a:pt x="31" y="293"/>
                  </a:lnTo>
                  <a:lnTo>
                    <a:pt x="31" y="295"/>
                  </a:lnTo>
                  <a:lnTo>
                    <a:pt x="31" y="297"/>
                  </a:lnTo>
                  <a:lnTo>
                    <a:pt x="31" y="299"/>
                  </a:lnTo>
                  <a:lnTo>
                    <a:pt x="35" y="297"/>
                  </a:lnTo>
                  <a:lnTo>
                    <a:pt x="37" y="297"/>
                  </a:lnTo>
                  <a:lnTo>
                    <a:pt x="38" y="297"/>
                  </a:lnTo>
                  <a:lnTo>
                    <a:pt x="37" y="299"/>
                  </a:lnTo>
                  <a:lnTo>
                    <a:pt x="37" y="299"/>
                  </a:lnTo>
                  <a:lnTo>
                    <a:pt x="33" y="299"/>
                  </a:lnTo>
                  <a:lnTo>
                    <a:pt x="29" y="301"/>
                  </a:lnTo>
                  <a:lnTo>
                    <a:pt x="29" y="301"/>
                  </a:lnTo>
                  <a:lnTo>
                    <a:pt x="29" y="301"/>
                  </a:lnTo>
                  <a:lnTo>
                    <a:pt x="31" y="301"/>
                  </a:lnTo>
                  <a:lnTo>
                    <a:pt x="31" y="303"/>
                  </a:lnTo>
                  <a:lnTo>
                    <a:pt x="29" y="303"/>
                  </a:lnTo>
                  <a:lnTo>
                    <a:pt x="27" y="303"/>
                  </a:lnTo>
                  <a:lnTo>
                    <a:pt x="27" y="303"/>
                  </a:lnTo>
                  <a:lnTo>
                    <a:pt x="27" y="307"/>
                  </a:lnTo>
                  <a:lnTo>
                    <a:pt x="25" y="307"/>
                  </a:lnTo>
                  <a:lnTo>
                    <a:pt x="25" y="305"/>
                  </a:lnTo>
                  <a:lnTo>
                    <a:pt x="23" y="309"/>
                  </a:lnTo>
                  <a:lnTo>
                    <a:pt x="25" y="310"/>
                  </a:lnTo>
                  <a:lnTo>
                    <a:pt x="27" y="312"/>
                  </a:lnTo>
                  <a:lnTo>
                    <a:pt x="29" y="310"/>
                  </a:lnTo>
                  <a:lnTo>
                    <a:pt x="29" y="310"/>
                  </a:lnTo>
                  <a:lnTo>
                    <a:pt x="29" y="310"/>
                  </a:lnTo>
                  <a:lnTo>
                    <a:pt x="31" y="310"/>
                  </a:lnTo>
                  <a:lnTo>
                    <a:pt x="31" y="310"/>
                  </a:lnTo>
                  <a:lnTo>
                    <a:pt x="31" y="310"/>
                  </a:lnTo>
                  <a:lnTo>
                    <a:pt x="31" y="312"/>
                  </a:lnTo>
                  <a:lnTo>
                    <a:pt x="31" y="312"/>
                  </a:lnTo>
                  <a:lnTo>
                    <a:pt x="31" y="312"/>
                  </a:lnTo>
                  <a:lnTo>
                    <a:pt x="31" y="314"/>
                  </a:lnTo>
                  <a:lnTo>
                    <a:pt x="31" y="316"/>
                  </a:lnTo>
                  <a:lnTo>
                    <a:pt x="35" y="316"/>
                  </a:lnTo>
                  <a:lnTo>
                    <a:pt x="33" y="318"/>
                  </a:lnTo>
                  <a:lnTo>
                    <a:pt x="33" y="320"/>
                  </a:lnTo>
                  <a:lnTo>
                    <a:pt x="31" y="322"/>
                  </a:lnTo>
                  <a:lnTo>
                    <a:pt x="33" y="324"/>
                  </a:lnTo>
                  <a:lnTo>
                    <a:pt x="31" y="324"/>
                  </a:lnTo>
                  <a:lnTo>
                    <a:pt x="29" y="324"/>
                  </a:lnTo>
                  <a:lnTo>
                    <a:pt x="29" y="322"/>
                  </a:lnTo>
                  <a:lnTo>
                    <a:pt x="31" y="320"/>
                  </a:lnTo>
                  <a:lnTo>
                    <a:pt x="27" y="316"/>
                  </a:lnTo>
                  <a:lnTo>
                    <a:pt x="25" y="314"/>
                  </a:lnTo>
                  <a:lnTo>
                    <a:pt x="25" y="318"/>
                  </a:lnTo>
                  <a:lnTo>
                    <a:pt x="23" y="318"/>
                  </a:lnTo>
                  <a:lnTo>
                    <a:pt x="21" y="316"/>
                  </a:lnTo>
                  <a:lnTo>
                    <a:pt x="21" y="316"/>
                  </a:lnTo>
                  <a:lnTo>
                    <a:pt x="19" y="318"/>
                  </a:lnTo>
                  <a:lnTo>
                    <a:pt x="19" y="320"/>
                  </a:lnTo>
                  <a:lnTo>
                    <a:pt x="19" y="320"/>
                  </a:lnTo>
                  <a:lnTo>
                    <a:pt x="19" y="326"/>
                  </a:lnTo>
                  <a:lnTo>
                    <a:pt x="19" y="330"/>
                  </a:lnTo>
                  <a:lnTo>
                    <a:pt x="19" y="333"/>
                  </a:lnTo>
                  <a:lnTo>
                    <a:pt x="21" y="333"/>
                  </a:lnTo>
                  <a:lnTo>
                    <a:pt x="23" y="339"/>
                  </a:lnTo>
                  <a:lnTo>
                    <a:pt x="25" y="341"/>
                  </a:lnTo>
                  <a:lnTo>
                    <a:pt x="25" y="341"/>
                  </a:lnTo>
                  <a:lnTo>
                    <a:pt x="29" y="341"/>
                  </a:lnTo>
                  <a:lnTo>
                    <a:pt x="29" y="341"/>
                  </a:lnTo>
                  <a:lnTo>
                    <a:pt x="29" y="343"/>
                  </a:lnTo>
                  <a:lnTo>
                    <a:pt x="31" y="345"/>
                  </a:lnTo>
                  <a:lnTo>
                    <a:pt x="31" y="347"/>
                  </a:lnTo>
                  <a:lnTo>
                    <a:pt x="31" y="349"/>
                  </a:lnTo>
                  <a:lnTo>
                    <a:pt x="33" y="349"/>
                  </a:lnTo>
                  <a:lnTo>
                    <a:pt x="35" y="350"/>
                  </a:lnTo>
                  <a:lnTo>
                    <a:pt x="33" y="352"/>
                  </a:lnTo>
                  <a:lnTo>
                    <a:pt x="31" y="350"/>
                  </a:lnTo>
                  <a:lnTo>
                    <a:pt x="29" y="345"/>
                  </a:lnTo>
                  <a:lnTo>
                    <a:pt x="27" y="343"/>
                  </a:lnTo>
                  <a:lnTo>
                    <a:pt x="25" y="343"/>
                  </a:lnTo>
                  <a:lnTo>
                    <a:pt x="23" y="345"/>
                  </a:lnTo>
                  <a:lnTo>
                    <a:pt x="23" y="347"/>
                  </a:lnTo>
                  <a:lnTo>
                    <a:pt x="23" y="349"/>
                  </a:lnTo>
                  <a:lnTo>
                    <a:pt x="23" y="352"/>
                  </a:lnTo>
                  <a:lnTo>
                    <a:pt x="23" y="354"/>
                  </a:lnTo>
                  <a:lnTo>
                    <a:pt x="23" y="354"/>
                  </a:lnTo>
                  <a:lnTo>
                    <a:pt x="23" y="356"/>
                  </a:lnTo>
                  <a:lnTo>
                    <a:pt x="25" y="356"/>
                  </a:lnTo>
                  <a:lnTo>
                    <a:pt x="25" y="358"/>
                  </a:lnTo>
                  <a:lnTo>
                    <a:pt x="25" y="358"/>
                  </a:lnTo>
                  <a:lnTo>
                    <a:pt x="25" y="360"/>
                  </a:lnTo>
                  <a:lnTo>
                    <a:pt x="25" y="360"/>
                  </a:lnTo>
                  <a:lnTo>
                    <a:pt x="25" y="360"/>
                  </a:lnTo>
                  <a:lnTo>
                    <a:pt x="25" y="360"/>
                  </a:lnTo>
                  <a:lnTo>
                    <a:pt x="25" y="360"/>
                  </a:lnTo>
                  <a:lnTo>
                    <a:pt x="25" y="360"/>
                  </a:lnTo>
                  <a:lnTo>
                    <a:pt x="27" y="362"/>
                  </a:lnTo>
                  <a:lnTo>
                    <a:pt x="29" y="364"/>
                  </a:lnTo>
                  <a:lnTo>
                    <a:pt x="29" y="364"/>
                  </a:lnTo>
                  <a:lnTo>
                    <a:pt x="31" y="364"/>
                  </a:lnTo>
                  <a:lnTo>
                    <a:pt x="29" y="366"/>
                  </a:lnTo>
                  <a:lnTo>
                    <a:pt x="31" y="368"/>
                  </a:lnTo>
                  <a:lnTo>
                    <a:pt x="33" y="368"/>
                  </a:lnTo>
                  <a:lnTo>
                    <a:pt x="35" y="368"/>
                  </a:lnTo>
                  <a:lnTo>
                    <a:pt x="37" y="368"/>
                  </a:lnTo>
                  <a:lnTo>
                    <a:pt x="38" y="368"/>
                  </a:lnTo>
                  <a:lnTo>
                    <a:pt x="38" y="369"/>
                  </a:lnTo>
                  <a:lnTo>
                    <a:pt x="38" y="371"/>
                  </a:lnTo>
                  <a:lnTo>
                    <a:pt x="40" y="373"/>
                  </a:lnTo>
                  <a:lnTo>
                    <a:pt x="38" y="375"/>
                  </a:lnTo>
                  <a:lnTo>
                    <a:pt x="38" y="377"/>
                  </a:lnTo>
                  <a:lnTo>
                    <a:pt x="37" y="377"/>
                  </a:lnTo>
                  <a:lnTo>
                    <a:pt x="37" y="375"/>
                  </a:lnTo>
                  <a:lnTo>
                    <a:pt x="38" y="375"/>
                  </a:lnTo>
                  <a:lnTo>
                    <a:pt x="37" y="373"/>
                  </a:lnTo>
                  <a:lnTo>
                    <a:pt x="35" y="373"/>
                  </a:lnTo>
                  <a:lnTo>
                    <a:pt x="35" y="371"/>
                  </a:lnTo>
                  <a:lnTo>
                    <a:pt x="33" y="371"/>
                  </a:lnTo>
                  <a:lnTo>
                    <a:pt x="31" y="371"/>
                  </a:lnTo>
                  <a:lnTo>
                    <a:pt x="31" y="371"/>
                  </a:lnTo>
                  <a:lnTo>
                    <a:pt x="31" y="371"/>
                  </a:lnTo>
                  <a:lnTo>
                    <a:pt x="29" y="371"/>
                  </a:lnTo>
                  <a:lnTo>
                    <a:pt x="29" y="369"/>
                  </a:lnTo>
                  <a:lnTo>
                    <a:pt x="29" y="369"/>
                  </a:lnTo>
                  <a:lnTo>
                    <a:pt x="29" y="368"/>
                  </a:lnTo>
                  <a:lnTo>
                    <a:pt x="27" y="368"/>
                  </a:lnTo>
                  <a:lnTo>
                    <a:pt x="27" y="369"/>
                  </a:lnTo>
                  <a:lnTo>
                    <a:pt x="27" y="369"/>
                  </a:lnTo>
                  <a:lnTo>
                    <a:pt x="27" y="371"/>
                  </a:lnTo>
                  <a:lnTo>
                    <a:pt x="27" y="371"/>
                  </a:lnTo>
                  <a:lnTo>
                    <a:pt x="27" y="371"/>
                  </a:lnTo>
                  <a:lnTo>
                    <a:pt x="25" y="373"/>
                  </a:lnTo>
                  <a:lnTo>
                    <a:pt x="29" y="375"/>
                  </a:lnTo>
                  <a:lnTo>
                    <a:pt x="29" y="377"/>
                  </a:lnTo>
                  <a:lnTo>
                    <a:pt x="31" y="385"/>
                  </a:lnTo>
                  <a:lnTo>
                    <a:pt x="31" y="385"/>
                  </a:lnTo>
                  <a:lnTo>
                    <a:pt x="31" y="385"/>
                  </a:lnTo>
                  <a:lnTo>
                    <a:pt x="31" y="387"/>
                  </a:lnTo>
                  <a:lnTo>
                    <a:pt x="31" y="387"/>
                  </a:lnTo>
                  <a:lnTo>
                    <a:pt x="31" y="387"/>
                  </a:lnTo>
                  <a:lnTo>
                    <a:pt x="31" y="388"/>
                  </a:lnTo>
                  <a:lnTo>
                    <a:pt x="31" y="388"/>
                  </a:lnTo>
                  <a:lnTo>
                    <a:pt x="33" y="390"/>
                  </a:lnTo>
                  <a:lnTo>
                    <a:pt x="33" y="392"/>
                  </a:lnTo>
                  <a:lnTo>
                    <a:pt x="35" y="390"/>
                  </a:lnTo>
                  <a:lnTo>
                    <a:pt x="35" y="390"/>
                  </a:lnTo>
                  <a:lnTo>
                    <a:pt x="35" y="388"/>
                  </a:lnTo>
                  <a:lnTo>
                    <a:pt x="37" y="388"/>
                  </a:lnTo>
                  <a:lnTo>
                    <a:pt x="37" y="390"/>
                  </a:lnTo>
                  <a:lnTo>
                    <a:pt x="37" y="392"/>
                  </a:lnTo>
                  <a:lnTo>
                    <a:pt x="35" y="392"/>
                  </a:lnTo>
                  <a:lnTo>
                    <a:pt x="33" y="392"/>
                  </a:lnTo>
                  <a:lnTo>
                    <a:pt x="33" y="394"/>
                  </a:lnTo>
                  <a:lnTo>
                    <a:pt x="33" y="396"/>
                  </a:lnTo>
                  <a:lnTo>
                    <a:pt x="35" y="396"/>
                  </a:lnTo>
                  <a:lnTo>
                    <a:pt x="37" y="396"/>
                  </a:lnTo>
                  <a:lnTo>
                    <a:pt x="35" y="398"/>
                  </a:lnTo>
                  <a:lnTo>
                    <a:pt x="35" y="400"/>
                  </a:lnTo>
                  <a:lnTo>
                    <a:pt x="38" y="407"/>
                  </a:lnTo>
                  <a:lnTo>
                    <a:pt x="40" y="409"/>
                  </a:lnTo>
                  <a:lnTo>
                    <a:pt x="40" y="413"/>
                  </a:lnTo>
                  <a:lnTo>
                    <a:pt x="40" y="413"/>
                  </a:lnTo>
                  <a:lnTo>
                    <a:pt x="42" y="415"/>
                  </a:lnTo>
                  <a:lnTo>
                    <a:pt x="42" y="417"/>
                  </a:lnTo>
                  <a:lnTo>
                    <a:pt x="42" y="419"/>
                  </a:lnTo>
                  <a:lnTo>
                    <a:pt x="44" y="419"/>
                  </a:lnTo>
                  <a:lnTo>
                    <a:pt x="44" y="421"/>
                  </a:lnTo>
                  <a:lnTo>
                    <a:pt x="44" y="423"/>
                  </a:lnTo>
                  <a:lnTo>
                    <a:pt x="44" y="423"/>
                  </a:lnTo>
                  <a:lnTo>
                    <a:pt x="42" y="425"/>
                  </a:lnTo>
                  <a:lnTo>
                    <a:pt x="42" y="425"/>
                  </a:lnTo>
                  <a:lnTo>
                    <a:pt x="42" y="427"/>
                  </a:lnTo>
                  <a:lnTo>
                    <a:pt x="44" y="428"/>
                  </a:lnTo>
                  <a:lnTo>
                    <a:pt x="44" y="428"/>
                  </a:lnTo>
                  <a:lnTo>
                    <a:pt x="44" y="430"/>
                  </a:lnTo>
                  <a:lnTo>
                    <a:pt x="44" y="432"/>
                  </a:lnTo>
                  <a:lnTo>
                    <a:pt x="44" y="432"/>
                  </a:lnTo>
                  <a:lnTo>
                    <a:pt x="46" y="434"/>
                  </a:lnTo>
                  <a:lnTo>
                    <a:pt x="46" y="434"/>
                  </a:lnTo>
                  <a:lnTo>
                    <a:pt x="50" y="434"/>
                  </a:lnTo>
                  <a:lnTo>
                    <a:pt x="52" y="436"/>
                  </a:lnTo>
                  <a:lnTo>
                    <a:pt x="48" y="438"/>
                  </a:lnTo>
                  <a:lnTo>
                    <a:pt x="46" y="438"/>
                  </a:lnTo>
                  <a:lnTo>
                    <a:pt x="46" y="438"/>
                  </a:lnTo>
                  <a:lnTo>
                    <a:pt x="44" y="438"/>
                  </a:lnTo>
                  <a:lnTo>
                    <a:pt x="44" y="438"/>
                  </a:lnTo>
                  <a:lnTo>
                    <a:pt x="44" y="440"/>
                  </a:lnTo>
                  <a:lnTo>
                    <a:pt x="48" y="444"/>
                  </a:lnTo>
                  <a:lnTo>
                    <a:pt x="50" y="446"/>
                  </a:lnTo>
                  <a:lnTo>
                    <a:pt x="48" y="447"/>
                  </a:lnTo>
                  <a:lnTo>
                    <a:pt x="50" y="449"/>
                  </a:lnTo>
                  <a:lnTo>
                    <a:pt x="50" y="451"/>
                  </a:lnTo>
                  <a:lnTo>
                    <a:pt x="48" y="453"/>
                  </a:lnTo>
                  <a:lnTo>
                    <a:pt x="48" y="453"/>
                  </a:lnTo>
                  <a:lnTo>
                    <a:pt x="48" y="455"/>
                  </a:lnTo>
                  <a:lnTo>
                    <a:pt x="50" y="457"/>
                  </a:lnTo>
                  <a:lnTo>
                    <a:pt x="52" y="459"/>
                  </a:lnTo>
                  <a:lnTo>
                    <a:pt x="54" y="463"/>
                  </a:lnTo>
                  <a:lnTo>
                    <a:pt x="56" y="465"/>
                  </a:lnTo>
                  <a:lnTo>
                    <a:pt x="54" y="465"/>
                  </a:lnTo>
                  <a:lnTo>
                    <a:pt x="52" y="465"/>
                  </a:lnTo>
                  <a:lnTo>
                    <a:pt x="52" y="463"/>
                  </a:lnTo>
                  <a:lnTo>
                    <a:pt x="50" y="463"/>
                  </a:lnTo>
                  <a:lnTo>
                    <a:pt x="50" y="465"/>
                  </a:lnTo>
                  <a:lnTo>
                    <a:pt x="52" y="466"/>
                  </a:lnTo>
                  <a:lnTo>
                    <a:pt x="52" y="466"/>
                  </a:lnTo>
                  <a:lnTo>
                    <a:pt x="52" y="468"/>
                  </a:lnTo>
                  <a:lnTo>
                    <a:pt x="54" y="470"/>
                  </a:lnTo>
                  <a:lnTo>
                    <a:pt x="54" y="472"/>
                  </a:lnTo>
                  <a:lnTo>
                    <a:pt x="56" y="476"/>
                  </a:lnTo>
                  <a:lnTo>
                    <a:pt x="57" y="478"/>
                  </a:lnTo>
                  <a:lnTo>
                    <a:pt x="57" y="480"/>
                  </a:lnTo>
                  <a:lnTo>
                    <a:pt x="56" y="480"/>
                  </a:lnTo>
                  <a:lnTo>
                    <a:pt x="57" y="482"/>
                  </a:lnTo>
                  <a:lnTo>
                    <a:pt x="57" y="484"/>
                  </a:lnTo>
                  <a:lnTo>
                    <a:pt x="57" y="487"/>
                  </a:lnTo>
                  <a:lnTo>
                    <a:pt x="57" y="489"/>
                  </a:lnTo>
                  <a:lnTo>
                    <a:pt x="56" y="487"/>
                  </a:lnTo>
                  <a:lnTo>
                    <a:pt x="56" y="487"/>
                  </a:lnTo>
                  <a:lnTo>
                    <a:pt x="56" y="489"/>
                  </a:lnTo>
                  <a:lnTo>
                    <a:pt x="57" y="491"/>
                  </a:lnTo>
                  <a:lnTo>
                    <a:pt x="56" y="491"/>
                  </a:lnTo>
                  <a:lnTo>
                    <a:pt x="57" y="493"/>
                  </a:lnTo>
                  <a:lnTo>
                    <a:pt x="59" y="493"/>
                  </a:lnTo>
                  <a:lnTo>
                    <a:pt x="57" y="497"/>
                  </a:lnTo>
                  <a:lnTo>
                    <a:pt x="57" y="497"/>
                  </a:lnTo>
                  <a:lnTo>
                    <a:pt x="57" y="499"/>
                  </a:lnTo>
                  <a:lnTo>
                    <a:pt x="57" y="503"/>
                  </a:lnTo>
                  <a:lnTo>
                    <a:pt x="57" y="503"/>
                  </a:lnTo>
                  <a:lnTo>
                    <a:pt x="57" y="504"/>
                  </a:lnTo>
                  <a:lnTo>
                    <a:pt x="57" y="506"/>
                  </a:lnTo>
                  <a:lnTo>
                    <a:pt x="59" y="510"/>
                  </a:lnTo>
                  <a:lnTo>
                    <a:pt x="59" y="510"/>
                  </a:lnTo>
                  <a:lnTo>
                    <a:pt x="61" y="510"/>
                  </a:lnTo>
                  <a:lnTo>
                    <a:pt x="61" y="512"/>
                  </a:lnTo>
                  <a:lnTo>
                    <a:pt x="59" y="514"/>
                  </a:lnTo>
                  <a:lnTo>
                    <a:pt x="59" y="518"/>
                  </a:lnTo>
                  <a:lnTo>
                    <a:pt x="59" y="520"/>
                  </a:lnTo>
                  <a:lnTo>
                    <a:pt x="61" y="522"/>
                  </a:lnTo>
                  <a:lnTo>
                    <a:pt x="63" y="522"/>
                  </a:lnTo>
                  <a:lnTo>
                    <a:pt x="63" y="524"/>
                  </a:lnTo>
                  <a:lnTo>
                    <a:pt x="63" y="524"/>
                  </a:lnTo>
                  <a:lnTo>
                    <a:pt x="61" y="525"/>
                  </a:lnTo>
                  <a:lnTo>
                    <a:pt x="61" y="525"/>
                  </a:lnTo>
                  <a:lnTo>
                    <a:pt x="61" y="525"/>
                  </a:lnTo>
                  <a:lnTo>
                    <a:pt x="63" y="529"/>
                  </a:lnTo>
                  <a:lnTo>
                    <a:pt x="63" y="527"/>
                  </a:lnTo>
                  <a:lnTo>
                    <a:pt x="65" y="527"/>
                  </a:lnTo>
                  <a:lnTo>
                    <a:pt x="67" y="527"/>
                  </a:lnTo>
                  <a:lnTo>
                    <a:pt x="67" y="529"/>
                  </a:lnTo>
                  <a:lnTo>
                    <a:pt x="67" y="531"/>
                  </a:lnTo>
                  <a:lnTo>
                    <a:pt x="67" y="531"/>
                  </a:lnTo>
                  <a:lnTo>
                    <a:pt x="65" y="531"/>
                  </a:lnTo>
                  <a:lnTo>
                    <a:pt x="65" y="529"/>
                  </a:lnTo>
                  <a:lnTo>
                    <a:pt x="63" y="529"/>
                  </a:lnTo>
                  <a:lnTo>
                    <a:pt x="63" y="529"/>
                  </a:lnTo>
                  <a:lnTo>
                    <a:pt x="61" y="531"/>
                  </a:lnTo>
                  <a:lnTo>
                    <a:pt x="61" y="531"/>
                  </a:lnTo>
                  <a:lnTo>
                    <a:pt x="61" y="531"/>
                  </a:lnTo>
                  <a:lnTo>
                    <a:pt x="61" y="531"/>
                  </a:lnTo>
                  <a:lnTo>
                    <a:pt x="63" y="533"/>
                  </a:lnTo>
                  <a:lnTo>
                    <a:pt x="63" y="533"/>
                  </a:lnTo>
                  <a:lnTo>
                    <a:pt x="65" y="535"/>
                  </a:lnTo>
                  <a:lnTo>
                    <a:pt x="67" y="535"/>
                  </a:lnTo>
                  <a:lnTo>
                    <a:pt x="67" y="535"/>
                  </a:lnTo>
                  <a:lnTo>
                    <a:pt x="65" y="537"/>
                  </a:lnTo>
                  <a:lnTo>
                    <a:pt x="65" y="537"/>
                  </a:lnTo>
                  <a:lnTo>
                    <a:pt x="65" y="537"/>
                  </a:lnTo>
                  <a:lnTo>
                    <a:pt x="65" y="537"/>
                  </a:lnTo>
                  <a:lnTo>
                    <a:pt x="67" y="539"/>
                  </a:lnTo>
                  <a:lnTo>
                    <a:pt x="67" y="539"/>
                  </a:lnTo>
                  <a:lnTo>
                    <a:pt x="65" y="539"/>
                  </a:lnTo>
                  <a:lnTo>
                    <a:pt x="65" y="539"/>
                  </a:lnTo>
                  <a:lnTo>
                    <a:pt x="63" y="535"/>
                  </a:lnTo>
                  <a:lnTo>
                    <a:pt x="63" y="535"/>
                  </a:lnTo>
                  <a:lnTo>
                    <a:pt x="61" y="535"/>
                  </a:lnTo>
                  <a:lnTo>
                    <a:pt x="61" y="535"/>
                  </a:lnTo>
                  <a:lnTo>
                    <a:pt x="61" y="535"/>
                  </a:lnTo>
                  <a:lnTo>
                    <a:pt x="61" y="537"/>
                  </a:lnTo>
                  <a:lnTo>
                    <a:pt x="61" y="539"/>
                  </a:lnTo>
                  <a:lnTo>
                    <a:pt x="61" y="539"/>
                  </a:lnTo>
                  <a:lnTo>
                    <a:pt x="61" y="539"/>
                  </a:lnTo>
                  <a:lnTo>
                    <a:pt x="63" y="543"/>
                  </a:lnTo>
                  <a:lnTo>
                    <a:pt x="63" y="546"/>
                  </a:lnTo>
                  <a:lnTo>
                    <a:pt x="65" y="548"/>
                  </a:lnTo>
                  <a:lnTo>
                    <a:pt x="67" y="548"/>
                  </a:lnTo>
                  <a:lnTo>
                    <a:pt x="69" y="550"/>
                  </a:lnTo>
                  <a:lnTo>
                    <a:pt x="67" y="550"/>
                  </a:lnTo>
                  <a:lnTo>
                    <a:pt x="67" y="550"/>
                  </a:lnTo>
                  <a:lnTo>
                    <a:pt x="65" y="552"/>
                  </a:lnTo>
                  <a:lnTo>
                    <a:pt x="65" y="552"/>
                  </a:lnTo>
                  <a:lnTo>
                    <a:pt x="67" y="554"/>
                  </a:lnTo>
                  <a:lnTo>
                    <a:pt x="67" y="554"/>
                  </a:lnTo>
                  <a:lnTo>
                    <a:pt x="67" y="556"/>
                  </a:lnTo>
                  <a:lnTo>
                    <a:pt x="67" y="556"/>
                  </a:lnTo>
                  <a:lnTo>
                    <a:pt x="71" y="563"/>
                  </a:lnTo>
                  <a:lnTo>
                    <a:pt x="71" y="565"/>
                  </a:lnTo>
                  <a:lnTo>
                    <a:pt x="71" y="567"/>
                  </a:lnTo>
                  <a:lnTo>
                    <a:pt x="71" y="567"/>
                  </a:lnTo>
                  <a:lnTo>
                    <a:pt x="73" y="567"/>
                  </a:lnTo>
                  <a:lnTo>
                    <a:pt x="73" y="567"/>
                  </a:lnTo>
                  <a:lnTo>
                    <a:pt x="73" y="567"/>
                  </a:lnTo>
                  <a:lnTo>
                    <a:pt x="73" y="569"/>
                  </a:lnTo>
                  <a:lnTo>
                    <a:pt x="73" y="573"/>
                  </a:lnTo>
                  <a:lnTo>
                    <a:pt x="75" y="577"/>
                  </a:lnTo>
                  <a:lnTo>
                    <a:pt x="75" y="575"/>
                  </a:lnTo>
                  <a:lnTo>
                    <a:pt x="75" y="573"/>
                  </a:lnTo>
                  <a:lnTo>
                    <a:pt x="75" y="571"/>
                  </a:lnTo>
                  <a:lnTo>
                    <a:pt x="78" y="569"/>
                  </a:lnTo>
                  <a:lnTo>
                    <a:pt x="77" y="571"/>
                  </a:lnTo>
                  <a:lnTo>
                    <a:pt x="77" y="571"/>
                  </a:lnTo>
                  <a:lnTo>
                    <a:pt x="75" y="573"/>
                  </a:lnTo>
                  <a:lnTo>
                    <a:pt x="75" y="575"/>
                  </a:lnTo>
                  <a:lnTo>
                    <a:pt x="75" y="581"/>
                  </a:lnTo>
                  <a:lnTo>
                    <a:pt x="75" y="581"/>
                  </a:lnTo>
                  <a:lnTo>
                    <a:pt x="75" y="581"/>
                  </a:lnTo>
                  <a:lnTo>
                    <a:pt x="75" y="582"/>
                  </a:lnTo>
                  <a:lnTo>
                    <a:pt x="75" y="582"/>
                  </a:lnTo>
                  <a:lnTo>
                    <a:pt x="75" y="582"/>
                  </a:lnTo>
                  <a:lnTo>
                    <a:pt x="75" y="582"/>
                  </a:lnTo>
                  <a:lnTo>
                    <a:pt x="77" y="584"/>
                  </a:lnTo>
                  <a:lnTo>
                    <a:pt x="77" y="584"/>
                  </a:lnTo>
                  <a:lnTo>
                    <a:pt x="77" y="586"/>
                  </a:lnTo>
                  <a:lnTo>
                    <a:pt x="78" y="586"/>
                  </a:lnTo>
                  <a:lnTo>
                    <a:pt x="80" y="586"/>
                  </a:lnTo>
                  <a:lnTo>
                    <a:pt x="80" y="586"/>
                  </a:lnTo>
                  <a:lnTo>
                    <a:pt x="78" y="586"/>
                  </a:lnTo>
                  <a:lnTo>
                    <a:pt x="78" y="588"/>
                  </a:lnTo>
                  <a:lnTo>
                    <a:pt x="80" y="592"/>
                  </a:lnTo>
                  <a:lnTo>
                    <a:pt x="82" y="594"/>
                  </a:lnTo>
                  <a:lnTo>
                    <a:pt x="86" y="598"/>
                  </a:lnTo>
                  <a:lnTo>
                    <a:pt x="88" y="600"/>
                  </a:lnTo>
                  <a:lnTo>
                    <a:pt x="92" y="605"/>
                  </a:lnTo>
                  <a:lnTo>
                    <a:pt x="92" y="607"/>
                  </a:lnTo>
                  <a:lnTo>
                    <a:pt x="92" y="613"/>
                  </a:lnTo>
                  <a:lnTo>
                    <a:pt x="92" y="613"/>
                  </a:lnTo>
                  <a:lnTo>
                    <a:pt x="94" y="615"/>
                  </a:lnTo>
                  <a:lnTo>
                    <a:pt x="96" y="615"/>
                  </a:lnTo>
                  <a:lnTo>
                    <a:pt x="96" y="615"/>
                  </a:lnTo>
                  <a:lnTo>
                    <a:pt x="98" y="615"/>
                  </a:lnTo>
                  <a:lnTo>
                    <a:pt x="99" y="613"/>
                  </a:lnTo>
                  <a:lnTo>
                    <a:pt x="103" y="613"/>
                  </a:lnTo>
                  <a:lnTo>
                    <a:pt x="105" y="613"/>
                  </a:lnTo>
                  <a:lnTo>
                    <a:pt x="105" y="613"/>
                  </a:lnTo>
                  <a:lnTo>
                    <a:pt x="107" y="613"/>
                  </a:lnTo>
                  <a:lnTo>
                    <a:pt x="107" y="609"/>
                  </a:lnTo>
                  <a:lnTo>
                    <a:pt x="109" y="609"/>
                  </a:lnTo>
                  <a:lnTo>
                    <a:pt x="109" y="609"/>
                  </a:lnTo>
                  <a:lnTo>
                    <a:pt x="109" y="609"/>
                  </a:lnTo>
                  <a:lnTo>
                    <a:pt x="109" y="609"/>
                  </a:lnTo>
                  <a:lnTo>
                    <a:pt x="111" y="611"/>
                  </a:lnTo>
                  <a:lnTo>
                    <a:pt x="111" y="611"/>
                  </a:lnTo>
                  <a:lnTo>
                    <a:pt x="111" y="613"/>
                  </a:lnTo>
                  <a:lnTo>
                    <a:pt x="111" y="613"/>
                  </a:lnTo>
                  <a:lnTo>
                    <a:pt x="111" y="613"/>
                  </a:lnTo>
                  <a:lnTo>
                    <a:pt x="113" y="613"/>
                  </a:lnTo>
                  <a:lnTo>
                    <a:pt x="115" y="613"/>
                  </a:lnTo>
                  <a:lnTo>
                    <a:pt x="117" y="615"/>
                  </a:lnTo>
                  <a:lnTo>
                    <a:pt x="117" y="615"/>
                  </a:lnTo>
                  <a:lnTo>
                    <a:pt x="117" y="617"/>
                  </a:lnTo>
                  <a:lnTo>
                    <a:pt x="118" y="620"/>
                  </a:lnTo>
                  <a:lnTo>
                    <a:pt x="118" y="622"/>
                  </a:lnTo>
                  <a:lnTo>
                    <a:pt x="120" y="622"/>
                  </a:lnTo>
                  <a:lnTo>
                    <a:pt x="122" y="624"/>
                  </a:lnTo>
                  <a:lnTo>
                    <a:pt x="122" y="624"/>
                  </a:lnTo>
                  <a:lnTo>
                    <a:pt x="124" y="624"/>
                  </a:lnTo>
                  <a:lnTo>
                    <a:pt x="126" y="624"/>
                  </a:lnTo>
                  <a:lnTo>
                    <a:pt x="130" y="622"/>
                  </a:lnTo>
                  <a:lnTo>
                    <a:pt x="134" y="622"/>
                  </a:lnTo>
                  <a:lnTo>
                    <a:pt x="134" y="620"/>
                  </a:lnTo>
                  <a:lnTo>
                    <a:pt x="134" y="620"/>
                  </a:lnTo>
                  <a:lnTo>
                    <a:pt x="134" y="620"/>
                  </a:lnTo>
                  <a:lnTo>
                    <a:pt x="134" y="619"/>
                  </a:lnTo>
                  <a:lnTo>
                    <a:pt x="136" y="619"/>
                  </a:lnTo>
                  <a:lnTo>
                    <a:pt x="136" y="619"/>
                  </a:lnTo>
                  <a:lnTo>
                    <a:pt x="136" y="619"/>
                  </a:lnTo>
                  <a:lnTo>
                    <a:pt x="136" y="615"/>
                  </a:lnTo>
                  <a:lnTo>
                    <a:pt x="138" y="615"/>
                  </a:lnTo>
                  <a:lnTo>
                    <a:pt x="141" y="611"/>
                  </a:lnTo>
                  <a:lnTo>
                    <a:pt x="143" y="611"/>
                  </a:lnTo>
                  <a:lnTo>
                    <a:pt x="143" y="611"/>
                  </a:lnTo>
                  <a:lnTo>
                    <a:pt x="145" y="611"/>
                  </a:lnTo>
                  <a:lnTo>
                    <a:pt x="145" y="611"/>
                  </a:lnTo>
                  <a:lnTo>
                    <a:pt x="145" y="611"/>
                  </a:lnTo>
                  <a:lnTo>
                    <a:pt x="145" y="613"/>
                  </a:lnTo>
                  <a:lnTo>
                    <a:pt x="145" y="613"/>
                  </a:lnTo>
                  <a:lnTo>
                    <a:pt x="145" y="613"/>
                  </a:lnTo>
                  <a:lnTo>
                    <a:pt x="145" y="615"/>
                  </a:lnTo>
                  <a:lnTo>
                    <a:pt x="145" y="615"/>
                  </a:lnTo>
                  <a:lnTo>
                    <a:pt x="145" y="615"/>
                  </a:lnTo>
                  <a:lnTo>
                    <a:pt x="145" y="615"/>
                  </a:lnTo>
                  <a:lnTo>
                    <a:pt x="149" y="615"/>
                  </a:lnTo>
                  <a:lnTo>
                    <a:pt x="151" y="615"/>
                  </a:lnTo>
                  <a:lnTo>
                    <a:pt x="153" y="613"/>
                  </a:lnTo>
                  <a:lnTo>
                    <a:pt x="153" y="613"/>
                  </a:lnTo>
                  <a:lnTo>
                    <a:pt x="155" y="611"/>
                  </a:lnTo>
                  <a:lnTo>
                    <a:pt x="155" y="611"/>
                  </a:lnTo>
                  <a:lnTo>
                    <a:pt x="157" y="609"/>
                  </a:lnTo>
                  <a:lnTo>
                    <a:pt x="158" y="605"/>
                  </a:lnTo>
                  <a:lnTo>
                    <a:pt x="158" y="603"/>
                  </a:lnTo>
                  <a:lnTo>
                    <a:pt x="158" y="603"/>
                  </a:lnTo>
                  <a:lnTo>
                    <a:pt x="158" y="601"/>
                  </a:lnTo>
                  <a:lnTo>
                    <a:pt x="157" y="601"/>
                  </a:lnTo>
                  <a:lnTo>
                    <a:pt x="157" y="601"/>
                  </a:lnTo>
                  <a:lnTo>
                    <a:pt x="158" y="600"/>
                  </a:lnTo>
                  <a:lnTo>
                    <a:pt x="160" y="598"/>
                  </a:lnTo>
                  <a:lnTo>
                    <a:pt x="162" y="594"/>
                  </a:lnTo>
                  <a:lnTo>
                    <a:pt x="162" y="592"/>
                  </a:lnTo>
                  <a:lnTo>
                    <a:pt x="164" y="590"/>
                  </a:lnTo>
                  <a:lnTo>
                    <a:pt x="164" y="588"/>
                  </a:lnTo>
                  <a:lnTo>
                    <a:pt x="164" y="586"/>
                  </a:lnTo>
                  <a:lnTo>
                    <a:pt x="164" y="584"/>
                  </a:lnTo>
                  <a:lnTo>
                    <a:pt x="164" y="584"/>
                  </a:lnTo>
                  <a:lnTo>
                    <a:pt x="164" y="584"/>
                  </a:lnTo>
                  <a:lnTo>
                    <a:pt x="164" y="584"/>
                  </a:lnTo>
                  <a:lnTo>
                    <a:pt x="164" y="582"/>
                  </a:lnTo>
                  <a:lnTo>
                    <a:pt x="162" y="582"/>
                  </a:lnTo>
                  <a:lnTo>
                    <a:pt x="160" y="582"/>
                  </a:lnTo>
                  <a:lnTo>
                    <a:pt x="160" y="582"/>
                  </a:lnTo>
                  <a:lnTo>
                    <a:pt x="160" y="581"/>
                  </a:lnTo>
                  <a:lnTo>
                    <a:pt x="160" y="581"/>
                  </a:lnTo>
                  <a:lnTo>
                    <a:pt x="162" y="581"/>
                  </a:lnTo>
                  <a:lnTo>
                    <a:pt x="162" y="579"/>
                  </a:lnTo>
                  <a:lnTo>
                    <a:pt x="164" y="579"/>
                  </a:lnTo>
                  <a:lnTo>
                    <a:pt x="168" y="579"/>
                  </a:lnTo>
                  <a:lnTo>
                    <a:pt x="168" y="579"/>
                  </a:lnTo>
                  <a:lnTo>
                    <a:pt x="168" y="577"/>
                  </a:lnTo>
                  <a:lnTo>
                    <a:pt x="168" y="577"/>
                  </a:lnTo>
                  <a:lnTo>
                    <a:pt x="168" y="573"/>
                  </a:lnTo>
                  <a:lnTo>
                    <a:pt x="168" y="569"/>
                  </a:lnTo>
                  <a:lnTo>
                    <a:pt x="168" y="567"/>
                  </a:lnTo>
                  <a:lnTo>
                    <a:pt x="168" y="565"/>
                  </a:lnTo>
                  <a:lnTo>
                    <a:pt x="168" y="565"/>
                  </a:lnTo>
                  <a:lnTo>
                    <a:pt x="168" y="565"/>
                  </a:lnTo>
                  <a:lnTo>
                    <a:pt x="168" y="563"/>
                  </a:lnTo>
                  <a:lnTo>
                    <a:pt x="166" y="563"/>
                  </a:lnTo>
                  <a:lnTo>
                    <a:pt x="158" y="560"/>
                  </a:lnTo>
                  <a:lnTo>
                    <a:pt x="158" y="560"/>
                  </a:lnTo>
                  <a:lnTo>
                    <a:pt x="158" y="560"/>
                  </a:lnTo>
                  <a:lnTo>
                    <a:pt x="157" y="560"/>
                  </a:lnTo>
                  <a:lnTo>
                    <a:pt x="157" y="562"/>
                  </a:lnTo>
                  <a:lnTo>
                    <a:pt x="157" y="562"/>
                  </a:lnTo>
                  <a:lnTo>
                    <a:pt x="155" y="562"/>
                  </a:lnTo>
                  <a:lnTo>
                    <a:pt x="155" y="562"/>
                  </a:lnTo>
                  <a:lnTo>
                    <a:pt x="155" y="562"/>
                  </a:lnTo>
                  <a:lnTo>
                    <a:pt x="155" y="560"/>
                  </a:lnTo>
                  <a:lnTo>
                    <a:pt x="155" y="560"/>
                  </a:lnTo>
                  <a:lnTo>
                    <a:pt x="155" y="558"/>
                  </a:lnTo>
                  <a:lnTo>
                    <a:pt x="155" y="558"/>
                  </a:lnTo>
                  <a:lnTo>
                    <a:pt x="155" y="558"/>
                  </a:lnTo>
                  <a:lnTo>
                    <a:pt x="155" y="556"/>
                  </a:lnTo>
                  <a:lnTo>
                    <a:pt x="153" y="556"/>
                  </a:lnTo>
                  <a:lnTo>
                    <a:pt x="153" y="554"/>
                  </a:lnTo>
                  <a:lnTo>
                    <a:pt x="153" y="552"/>
                  </a:lnTo>
                  <a:lnTo>
                    <a:pt x="153" y="552"/>
                  </a:lnTo>
                  <a:lnTo>
                    <a:pt x="153" y="552"/>
                  </a:lnTo>
                  <a:lnTo>
                    <a:pt x="155" y="552"/>
                  </a:lnTo>
                  <a:lnTo>
                    <a:pt x="157" y="550"/>
                  </a:lnTo>
                  <a:lnTo>
                    <a:pt x="157" y="550"/>
                  </a:lnTo>
                  <a:lnTo>
                    <a:pt x="157" y="550"/>
                  </a:lnTo>
                  <a:lnTo>
                    <a:pt x="158" y="550"/>
                  </a:lnTo>
                  <a:lnTo>
                    <a:pt x="158" y="550"/>
                  </a:lnTo>
                  <a:lnTo>
                    <a:pt x="158" y="550"/>
                  </a:lnTo>
                  <a:lnTo>
                    <a:pt x="157" y="548"/>
                  </a:lnTo>
                  <a:lnTo>
                    <a:pt x="157" y="548"/>
                  </a:lnTo>
                  <a:lnTo>
                    <a:pt x="155" y="548"/>
                  </a:lnTo>
                  <a:lnTo>
                    <a:pt x="155" y="548"/>
                  </a:lnTo>
                  <a:lnTo>
                    <a:pt x="155" y="548"/>
                  </a:lnTo>
                  <a:lnTo>
                    <a:pt x="155" y="546"/>
                  </a:lnTo>
                  <a:lnTo>
                    <a:pt x="155" y="546"/>
                  </a:lnTo>
                  <a:lnTo>
                    <a:pt x="155" y="546"/>
                  </a:lnTo>
                  <a:lnTo>
                    <a:pt x="155" y="544"/>
                  </a:lnTo>
                  <a:lnTo>
                    <a:pt x="155" y="544"/>
                  </a:lnTo>
                  <a:lnTo>
                    <a:pt x="153" y="544"/>
                  </a:lnTo>
                  <a:lnTo>
                    <a:pt x="153" y="544"/>
                  </a:lnTo>
                  <a:lnTo>
                    <a:pt x="153" y="544"/>
                  </a:lnTo>
                  <a:lnTo>
                    <a:pt x="151" y="544"/>
                  </a:lnTo>
                  <a:lnTo>
                    <a:pt x="151" y="544"/>
                  </a:lnTo>
                  <a:lnTo>
                    <a:pt x="151" y="544"/>
                  </a:lnTo>
                  <a:lnTo>
                    <a:pt x="151" y="543"/>
                  </a:lnTo>
                  <a:lnTo>
                    <a:pt x="151" y="543"/>
                  </a:lnTo>
                  <a:lnTo>
                    <a:pt x="151" y="543"/>
                  </a:lnTo>
                  <a:lnTo>
                    <a:pt x="151" y="543"/>
                  </a:lnTo>
                  <a:lnTo>
                    <a:pt x="151" y="541"/>
                  </a:lnTo>
                  <a:lnTo>
                    <a:pt x="149" y="541"/>
                  </a:lnTo>
                  <a:lnTo>
                    <a:pt x="149" y="541"/>
                  </a:lnTo>
                  <a:lnTo>
                    <a:pt x="149" y="541"/>
                  </a:lnTo>
                  <a:lnTo>
                    <a:pt x="149" y="541"/>
                  </a:lnTo>
                  <a:lnTo>
                    <a:pt x="149" y="541"/>
                  </a:lnTo>
                  <a:lnTo>
                    <a:pt x="147" y="543"/>
                  </a:lnTo>
                  <a:lnTo>
                    <a:pt x="147" y="543"/>
                  </a:lnTo>
                  <a:lnTo>
                    <a:pt x="147" y="543"/>
                  </a:lnTo>
                  <a:lnTo>
                    <a:pt x="147" y="543"/>
                  </a:lnTo>
                  <a:lnTo>
                    <a:pt x="145" y="543"/>
                  </a:lnTo>
                  <a:lnTo>
                    <a:pt x="145" y="541"/>
                  </a:lnTo>
                  <a:lnTo>
                    <a:pt x="145" y="541"/>
                  </a:lnTo>
                  <a:lnTo>
                    <a:pt x="145" y="541"/>
                  </a:lnTo>
                  <a:lnTo>
                    <a:pt x="147" y="539"/>
                  </a:lnTo>
                  <a:lnTo>
                    <a:pt x="147" y="537"/>
                  </a:lnTo>
                  <a:lnTo>
                    <a:pt x="147" y="535"/>
                  </a:lnTo>
                  <a:lnTo>
                    <a:pt x="149" y="537"/>
                  </a:lnTo>
                  <a:lnTo>
                    <a:pt x="149" y="537"/>
                  </a:lnTo>
                  <a:lnTo>
                    <a:pt x="151" y="537"/>
                  </a:lnTo>
                  <a:lnTo>
                    <a:pt x="151" y="537"/>
                  </a:lnTo>
                  <a:lnTo>
                    <a:pt x="151" y="537"/>
                  </a:lnTo>
                  <a:lnTo>
                    <a:pt x="153" y="537"/>
                  </a:lnTo>
                  <a:lnTo>
                    <a:pt x="153" y="537"/>
                  </a:lnTo>
                  <a:lnTo>
                    <a:pt x="153" y="537"/>
                  </a:lnTo>
                  <a:lnTo>
                    <a:pt x="153" y="535"/>
                  </a:lnTo>
                  <a:lnTo>
                    <a:pt x="153" y="535"/>
                  </a:lnTo>
                  <a:lnTo>
                    <a:pt x="155" y="533"/>
                  </a:lnTo>
                  <a:lnTo>
                    <a:pt x="155" y="535"/>
                  </a:lnTo>
                  <a:lnTo>
                    <a:pt x="155" y="535"/>
                  </a:lnTo>
                  <a:lnTo>
                    <a:pt x="155" y="535"/>
                  </a:lnTo>
                  <a:lnTo>
                    <a:pt x="157" y="535"/>
                  </a:lnTo>
                  <a:lnTo>
                    <a:pt x="157" y="537"/>
                  </a:lnTo>
                  <a:lnTo>
                    <a:pt x="157" y="537"/>
                  </a:lnTo>
                  <a:lnTo>
                    <a:pt x="157" y="537"/>
                  </a:lnTo>
                  <a:lnTo>
                    <a:pt x="158" y="535"/>
                  </a:lnTo>
                  <a:lnTo>
                    <a:pt x="160" y="533"/>
                  </a:lnTo>
                  <a:lnTo>
                    <a:pt x="160" y="533"/>
                  </a:lnTo>
                  <a:lnTo>
                    <a:pt x="160" y="533"/>
                  </a:lnTo>
                  <a:lnTo>
                    <a:pt x="162" y="533"/>
                  </a:lnTo>
                  <a:lnTo>
                    <a:pt x="162" y="531"/>
                  </a:lnTo>
                  <a:lnTo>
                    <a:pt x="162" y="531"/>
                  </a:lnTo>
                  <a:lnTo>
                    <a:pt x="164" y="531"/>
                  </a:lnTo>
                  <a:lnTo>
                    <a:pt x="164" y="529"/>
                  </a:lnTo>
                  <a:lnTo>
                    <a:pt x="164" y="527"/>
                  </a:lnTo>
                  <a:lnTo>
                    <a:pt x="164" y="525"/>
                  </a:lnTo>
                  <a:lnTo>
                    <a:pt x="164" y="525"/>
                  </a:lnTo>
                  <a:lnTo>
                    <a:pt x="166" y="525"/>
                  </a:lnTo>
                  <a:lnTo>
                    <a:pt x="166" y="527"/>
                  </a:lnTo>
                  <a:lnTo>
                    <a:pt x="168" y="527"/>
                  </a:lnTo>
                  <a:lnTo>
                    <a:pt x="170" y="527"/>
                  </a:lnTo>
                  <a:lnTo>
                    <a:pt x="172" y="527"/>
                  </a:lnTo>
                  <a:lnTo>
                    <a:pt x="174" y="527"/>
                  </a:lnTo>
                  <a:lnTo>
                    <a:pt x="174" y="527"/>
                  </a:lnTo>
                  <a:lnTo>
                    <a:pt x="174" y="529"/>
                  </a:lnTo>
                  <a:lnTo>
                    <a:pt x="174" y="531"/>
                  </a:lnTo>
                  <a:lnTo>
                    <a:pt x="174" y="531"/>
                  </a:lnTo>
                  <a:lnTo>
                    <a:pt x="176" y="533"/>
                  </a:lnTo>
                  <a:lnTo>
                    <a:pt x="176" y="533"/>
                  </a:lnTo>
                  <a:lnTo>
                    <a:pt x="176" y="533"/>
                  </a:lnTo>
                  <a:lnTo>
                    <a:pt x="176" y="533"/>
                  </a:lnTo>
                  <a:lnTo>
                    <a:pt x="176" y="535"/>
                  </a:lnTo>
                  <a:lnTo>
                    <a:pt x="176" y="535"/>
                  </a:lnTo>
                  <a:lnTo>
                    <a:pt x="176" y="535"/>
                  </a:lnTo>
                  <a:lnTo>
                    <a:pt x="176" y="535"/>
                  </a:lnTo>
                  <a:lnTo>
                    <a:pt x="176" y="535"/>
                  </a:lnTo>
                  <a:lnTo>
                    <a:pt x="176" y="535"/>
                  </a:lnTo>
                  <a:lnTo>
                    <a:pt x="178" y="535"/>
                  </a:lnTo>
                  <a:lnTo>
                    <a:pt x="178" y="535"/>
                  </a:lnTo>
                  <a:lnTo>
                    <a:pt x="179" y="535"/>
                  </a:lnTo>
                  <a:lnTo>
                    <a:pt x="181" y="531"/>
                  </a:lnTo>
                  <a:lnTo>
                    <a:pt x="183" y="531"/>
                  </a:lnTo>
                  <a:lnTo>
                    <a:pt x="183" y="531"/>
                  </a:lnTo>
                  <a:lnTo>
                    <a:pt x="183" y="531"/>
                  </a:lnTo>
                  <a:lnTo>
                    <a:pt x="185" y="531"/>
                  </a:lnTo>
                  <a:lnTo>
                    <a:pt x="187" y="529"/>
                  </a:lnTo>
                  <a:lnTo>
                    <a:pt x="187" y="529"/>
                  </a:lnTo>
                  <a:lnTo>
                    <a:pt x="187" y="527"/>
                  </a:lnTo>
                  <a:lnTo>
                    <a:pt x="185" y="525"/>
                  </a:lnTo>
                  <a:lnTo>
                    <a:pt x="185" y="524"/>
                  </a:lnTo>
                  <a:lnTo>
                    <a:pt x="187" y="524"/>
                  </a:lnTo>
                  <a:lnTo>
                    <a:pt x="187" y="524"/>
                  </a:lnTo>
                  <a:lnTo>
                    <a:pt x="187" y="524"/>
                  </a:lnTo>
                  <a:lnTo>
                    <a:pt x="189" y="520"/>
                  </a:lnTo>
                  <a:lnTo>
                    <a:pt x="189" y="520"/>
                  </a:lnTo>
                  <a:lnTo>
                    <a:pt x="189" y="520"/>
                  </a:lnTo>
                  <a:lnTo>
                    <a:pt x="191" y="520"/>
                  </a:lnTo>
                  <a:lnTo>
                    <a:pt x="191" y="520"/>
                  </a:lnTo>
                  <a:lnTo>
                    <a:pt x="191" y="520"/>
                  </a:lnTo>
                  <a:lnTo>
                    <a:pt x="193" y="518"/>
                  </a:lnTo>
                  <a:lnTo>
                    <a:pt x="193" y="518"/>
                  </a:lnTo>
                  <a:lnTo>
                    <a:pt x="193" y="518"/>
                  </a:lnTo>
                  <a:lnTo>
                    <a:pt x="193" y="516"/>
                  </a:lnTo>
                  <a:lnTo>
                    <a:pt x="195" y="516"/>
                  </a:lnTo>
                  <a:lnTo>
                    <a:pt x="197" y="516"/>
                  </a:lnTo>
                  <a:lnTo>
                    <a:pt x="198" y="514"/>
                  </a:lnTo>
                  <a:lnTo>
                    <a:pt x="198" y="514"/>
                  </a:lnTo>
                  <a:lnTo>
                    <a:pt x="198" y="514"/>
                  </a:lnTo>
                  <a:lnTo>
                    <a:pt x="200" y="514"/>
                  </a:lnTo>
                  <a:lnTo>
                    <a:pt x="202" y="516"/>
                  </a:lnTo>
                  <a:lnTo>
                    <a:pt x="204" y="516"/>
                  </a:lnTo>
                  <a:lnTo>
                    <a:pt x="204" y="516"/>
                  </a:lnTo>
                  <a:lnTo>
                    <a:pt x="204" y="514"/>
                  </a:lnTo>
                  <a:lnTo>
                    <a:pt x="204" y="514"/>
                  </a:lnTo>
                  <a:lnTo>
                    <a:pt x="204" y="514"/>
                  </a:lnTo>
                  <a:lnTo>
                    <a:pt x="204" y="514"/>
                  </a:lnTo>
                  <a:lnTo>
                    <a:pt x="204" y="510"/>
                  </a:lnTo>
                  <a:lnTo>
                    <a:pt x="204" y="508"/>
                  </a:lnTo>
                  <a:lnTo>
                    <a:pt x="204" y="508"/>
                  </a:lnTo>
                  <a:lnTo>
                    <a:pt x="202" y="506"/>
                  </a:lnTo>
                  <a:lnTo>
                    <a:pt x="202" y="506"/>
                  </a:lnTo>
                  <a:lnTo>
                    <a:pt x="202" y="506"/>
                  </a:lnTo>
                  <a:lnTo>
                    <a:pt x="202" y="504"/>
                  </a:lnTo>
                  <a:lnTo>
                    <a:pt x="204" y="504"/>
                  </a:lnTo>
                  <a:lnTo>
                    <a:pt x="208" y="504"/>
                  </a:lnTo>
                  <a:lnTo>
                    <a:pt x="210" y="503"/>
                  </a:lnTo>
                  <a:lnTo>
                    <a:pt x="210" y="503"/>
                  </a:lnTo>
                  <a:lnTo>
                    <a:pt x="210" y="503"/>
                  </a:lnTo>
                  <a:lnTo>
                    <a:pt x="212" y="501"/>
                  </a:lnTo>
                  <a:lnTo>
                    <a:pt x="212" y="501"/>
                  </a:lnTo>
                  <a:lnTo>
                    <a:pt x="212" y="499"/>
                  </a:lnTo>
                  <a:lnTo>
                    <a:pt x="214" y="497"/>
                  </a:lnTo>
                  <a:lnTo>
                    <a:pt x="214" y="497"/>
                  </a:lnTo>
                  <a:lnTo>
                    <a:pt x="214" y="497"/>
                  </a:lnTo>
                  <a:lnTo>
                    <a:pt x="218" y="497"/>
                  </a:lnTo>
                  <a:lnTo>
                    <a:pt x="221" y="497"/>
                  </a:lnTo>
                  <a:lnTo>
                    <a:pt x="221" y="497"/>
                  </a:lnTo>
                  <a:lnTo>
                    <a:pt x="221" y="497"/>
                  </a:lnTo>
                  <a:lnTo>
                    <a:pt x="223" y="497"/>
                  </a:lnTo>
                  <a:lnTo>
                    <a:pt x="223" y="499"/>
                  </a:lnTo>
                  <a:lnTo>
                    <a:pt x="223" y="499"/>
                  </a:lnTo>
                  <a:lnTo>
                    <a:pt x="223" y="501"/>
                  </a:lnTo>
                  <a:lnTo>
                    <a:pt x="225" y="501"/>
                  </a:lnTo>
                  <a:lnTo>
                    <a:pt x="227" y="501"/>
                  </a:lnTo>
                  <a:lnTo>
                    <a:pt x="227" y="503"/>
                  </a:lnTo>
                  <a:lnTo>
                    <a:pt x="227" y="503"/>
                  </a:lnTo>
                  <a:lnTo>
                    <a:pt x="229" y="503"/>
                  </a:lnTo>
                  <a:lnTo>
                    <a:pt x="229" y="504"/>
                  </a:lnTo>
                  <a:lnTo>
                    <a:pt x="231" y="504"/>
                  </a:lnTo>
                  <a:lnTo>
                    <a:pt x="231" y="504"/>
                  </a:lnTo>
                  <a:lnTo>
                    <a:pt x="233" y="504"/>
                  </a:lnTo>
                  <a:lnTo>
                    <a:pt x="235" y="504"/>
                  </a:lnTo>
                  <a:lnTo>
                    <a:pt x="240" y="501"/>
                  </a:lnTo>
                  <a:lnTo>
                    <a:pt x="240" y="501"/>
                  </a:lnTo>
                  <a:lnTo>
                    <a:pt x="240" y="499"/>
                  </a:lnTo>
                  <a:lnTo>
                    <a:pt x="240" y="497"/>
                  </a:lnTo>
                  <a:lnTo>
                    <a:pt x="240" y="497"/>
                  </a:lnTo>
                  <a:lnTo>
                    <a:pt x="240" y="497"/>
                  </a:lnTo>
                  <a:lnTo>
                    <a:pt x="246" y="495"/>
                  </a:lnTo>
                  <a:lnTo>
                    <a:pt x="248" y="495"/>
                  </a:lnTo>
                  <a:lnTo>
                    <a:pt x="248" y="495"/>
                  </a:lnTo>
                  <a:lnTo>
                    <a:pt x="250" y="493"/>
                  </a:lnTo>
                  <a:lnTo>
                    <a:pt x="252" y="493"/>
                  </a:lnTo>
                  <a:lnTo>
                    <a:pt x="256" y="493"/>
                  </a:lnTo>
                  <a:lnTo>
                    <a:pt x="258" y="493"/>
                  </a:lnTo>
                  <a:lnTo>
                    <a:pt x="258" y="495"/>
                  </a:lnTo>
                  <a:lnTo>
                    <a:pt x="258" y="495"/>
                  </a:lnTo>
                  <a:lnTo>
                    <a:pt x="259" y="495"/>
                  </a:lnTo>
                  <a:lnTo>
                    <a:pt x="259" y="495"/>
                  </a:lnTo>
                  <a:lnTo>
                    <a:pt x="261" y="495"/>
                  </a:lnTo>
                  <a:lnTo>
                    <a:pt x="263" y="495"/>
                  </a:lnTo>
                  <a:lnTo>
                    <a:pt x="265" y="493"/>
                  </a:lnTo>
                  <a:lnTo>
                    <a:pt x="265" y="493"/>
                  </a:lnTo>
                  <a:lnTo>
                    <a:pt x="267" y="493"/>
                  </a:lnTo>
                  <a:lnTo>
                    <a:pt x="267" y="491"/>
                  </a:lnTo>
                  <a:lnTo>
                    <a:pt x="267" y="491"/>
                  </a:lnTo>
                  <a:lnTo>
                    <a:pt x="269" y="491"/>
                  </a:lnTo>
                  <a:lnTo>
                    <a:pt x="269" y="491"/>
                  </a:lnTo>
                  <a:lnTo>
                    <a:pt x="271" y="493"/>
                  </a:lnTo>
                  <a:lnTo>
                    <a:pt x="273" y="495"/>
                  </a:lnTo>
                  <a:lnTo>
                    <a:pt x="275" y="495"/>
                  </a:lnTo>
                  <a:lnTo>
                    <a:pt x="275" y="495"/>
                  </a:lnTo>
                  <a:lnTo>
                    <a:pt x="277" y="493"/>
                  </a:lnTo>
                  <a:lnTo>
                    <a:pt x="277" y="493"/>
                  </a:lnTo>
                  <a:lnTo>
                    <a:pt x="277" y="493"/>
                  </a:lnTo>
                  <a:lnTo>
                    <a:pt x="277" y="491"/>
                  </a:lnTo>
                  <a:lnTo>
                    <a:pt x="277" y="491"/>
                  </a:lnTo>
                  <a:lnTo>
                    <a:pt x="277" y="489"/>
                  </a:lnTo>
                  <a:lnTo>
                    <a:pt x="275" y="487"/>
                  </a:lnTo>
                  <a:lnTo>
                    <a:pt x="275" y="487"/>
                  </a:lnTo>
                  <a:lnTo>
                    <a:pt x="275" y="485"/>
                  </a:lnTo>
                  <a:lnTo>
                    <a:pt x="275" y="485"/>
                  </a:lnTo>
                  <a:lnTo>
                    <a:pt x="277" y="485"/>
                  </a:lnTo>
                  <a:lnTo>
                    <a:pt x="277" y="484"/>
                  </a:lnTo>
                  <a:lnTo>
                    <a:pt x="277" y="484"/>
                  </a:lnTo>
                  <a:lnTo>
                    <a:pt x="277" y="482"/>
                  </a:lnTo>
                  <a:lnTo>
                    <a:pt x="277" y="480"/>
                  </a:lnTo>
                  <a:lnTo>
                    <a:pt x="275" y="480"/>
                  </a:lnTo>
                  <a:lnTo>
                    <a:pt x="275" y="478"/>
                  </a:lnTo>
                  <a:lnTo>
                    <a:pt x="273" y="478"/>
                  </a:lnTo>
                  <a:lnTo>
                    <a:pt x="273" y="476"/>
                  </a:lnTo>
                  <a:lnTo>
                    <a:pt x="273" y="474"/>
                  </a:lnTo>
                  <a:lnTo>
                    <a:pt x="273" y="474"/>
                  </a:lnTo>
                  <a:lnTo>
                    <a:pt x="275" y="472"/>
                  </a:lnTo>
                  <a:lnTo>
                    <a:pt x="275" y="472"/>
                  </a:lnTo>
                  <a:lnTo>
                    <a:pt x="275" y="470"/>
                  </a:lnTo>
                  <a:lnTo>
                    <a:pt x="275" y="470"/>
                  </a:lnTo>
                  <a:lnTo>
                    <a:pt x="275" y="468"/>
                  </a:lnTo>
                  <a:lnTo>
                    <a:pt x="275" y="466"/>
                  </a:lnTo>
                  <a:lnTo>
                    <a:pt x="273" y="466"/>
                  </a:lnTo>
                  <a:lnTo>
                    <a:pt x="273" y="465"/>
                  </a:lnTo>
                  <a:lnTo>
                    <a:pt x="271" y="465"/>
                  </a:lnTo>
                  <a:lnTo>
                    <a:pt x="271" y="465"/>
                  </a:lnTo>
                  <a:lnTo>
                    <a:pt x="271" y="463"/>
                  </a:lnTo>
                  <a:lnTo>
                    <a:pt x="271" y="461"/>
                  </a:lnTo>
                  <a:lnTo>
                    <a:pt x="269" y="461"/>
                  </a:lnTo>
                  <a:lnTo>
                    <a:pt x="269" y="457"/>
                  </a:lnTo>
                  <a:lnTo>
                    <a:pt x="269" y="455"/>
                  </a:lnTo>
                  <a:lnTo>
                    <a:pt x="269" y="453"/>
                  </a:lnTo>
                  <a:lnTo>
                    <a:pt x="271" y="453"/>
                  </a:lnTo>
                  <a:lnTo>
                    <a:pt x="271" y="451"/>
                  </a:lnTo>
                  <a:lnTo>
                    <a:pt x="271" y="451"/>
                  </a:lnTo>
                  <a:lnTo>
                    <a:pt x="273" y="447"/>
                  </a:lnTo>
                  <a:lnTo>
                    <a:pt x="273" y="447"/>
                  </a:lnTo>
                  <a:lnTo>
                    <a:pt x="275" y="447"/>
                  </a:lnTo>
                  <a:lnTo>
                    <a:pt x="275" y="446"/>
                  </a:lnTo>
                  <a:lnTo>
                    <a:pt x="277" y="446"/>
                  </a:lnTo>
                  <a:lnTo>
                    <a:pt x="277" y="446"/>
                  </a:lnTo>
                  <a:lnTo>
                    <a:pt x="279" y="447"/>
                  </a:lnTo>
                  <a:lnTo>
                    <a:pt x="279" y="449"/>
                  </a:lnTo>
                  <a:lnTo>
                    <a:pt x="280" y="451"/>
                  </a:lnTo>
                  <a:lnTo>
                    <a:pt x="282" y="451"/>
                  </a:lnTo>
                  <a:lnTo>
                    <a:pt x="284" y="451"/>
                  </a:lnTo>
                  <a:lnTo>
                    <a:pt x="286" y="451"/>
                  </a:lnTo>
                  <a:lnTo>
                    <a:pt x="286" y="453"/>
                  </a:lnTo>
                  <a:lnTo>
                    <a:pt x="288" y="453"/>
                  </a:lnTo>
                  <a:lnTo>
                    <a:pt x="288" y="455"/>
                  </a:lnTo>
                  <a:lnTo>
                    <a:pt x="288" y="455"/>
                  </a:lnTo>
                  <a:lnTo>
                    <a:pt x="290" y="455"/>
                  </a:lnTo>
                  <a:lnTo>
                    <a:pt x="292" y="455"/>
                  </a:lnTo>
                  <a:lnTo>
                    <a:pt x="292" y="453"/>
                  </a:lnTo>
                  <a:lnTo>
                    <a:pt x="294" y="451"/>
                  </a:lnTo>
                  <a:lnTo>
                    <a:pt x="296" y="453"/>
                  </a:lnTo>
                  <a:lnTo>
                    <a:pt x="298" y="451"/>
                  </a:lnTo>
                  <a:lnTo>
                    <a:pt x="298" y="453"/>
                  </a:lnTo>
                  <a:lnTo>
                    <a:pt x="299" y="453"/>
                  </a:lnTo>
                  <a:lnTo>
                    <a:pt x="299" y="455"/>
                  </a:lnTo>
                  <a:lnTo>
                    <a:pt x="299" y="457"/>
                  </a:lnTo>
                  <a:lnTo>
                    <a:pt x="299" y="459"/>
                  </a:lnTo>
                  <a:lnTo>
                    <a:pt x="301" y="459"/>
                  </a:lnTo>
                  <a:lnTo>
                    <a:pt x="301" y="459"/>
                  </a:lnTo>
                  <a:lnTo>
                    <a:pt x="303" y="461"/>
                  </a:lnTo>
                  <a:lnTo>
                    <a:pt x="303" y="461"/>
                  </a:lnTo>
                  <a:lnTo>
                    <a:pt x="305" y="459"/>
                  </a:lnTo>
                  <a:lnTo>
                    <a:pt x="305" y="459"/>
                  </a:lnTo>
                  <a:lnTo>
                    <a:pt x="309" y="459"/>
                  </a:lnTo>
                  <a:lnTo>
                    <a:pt x="311" y="459"/>
                  </a:lnTo>
                  <a:lnTo>
                    <a:pt x="311" y="459"/>
                  </a:lnTo>
                  <a:lnTo>
                    <a:pt x="313" y="459"/>
                  </a:lnTo>
                  <a:lnTo>
                    <a:pt x="313" y="459"/>
                  </a:lnTo>
                  <a:lnTo>
                    <a:pt x="315" y="457"/>
                  </a:lnTo>
                  <a:lnTo>
                    <a:pt x="319" y="455"/>
                  </a:lnTo>
                  <a:lnTo>
                    <a:pt x="320" y="455"/>
                  </a:lnTo>
                  <a:lnTo>
                    <a:pt x="320" y="455"/>
                  </a:lnTo>
                  <a:lnTo>
                    <a:pt x="322" y="457"/>
                  </a:lnTo>
                  <a:lnTo>
                    <a:pt x="324" y="457"/>
                  </a:lnTo>
                  <a:lnTo>
                    <a:pt x="324" y="455"/>
                  </a:lnTo>
                  <a:lnTo>
                    <a:pt x="326" y="455"/>
                  </a:lnTo>
                  <a:lnTo>
                    <a:pt x="328" y="455"/>
                  </a:lnTo>
                  <a:lnTo>
                    <a:pt x="328" y="455"/>
                  </a:lnTo>
                  <a:lnTo>
                    <a:pt x="330" y="455"/>
                  </a:lnTo>
                  <a:lnTo>
                    <a:pt x="330" y="455"/>
                  </a:lnTo>
                  <a:lnTo>
                    <a:pt x="332" y="457"/>
                  </a:lnTo>
                  <a:lnTo>
                    <a:pt x="334" y="457"/>
                  </a:lnTo>
                  <a:lnTo>
                    <a:pt x="334" y="457"/>
                  </a:lnTo>
                  <a:lnTo>
                    <a:pt x="336" y="457"/>
                  </a:lnTo>
                  <a:lnTo>
                    <a:pt x="338" y="457"/>
                  </a:lnTo>
                  <a:lnTo>
                    <a:pt x="340" y="459"/>
                  </a:lnTo>
                  <a:lnTo>
                    <a:pt x="341" y="459"/>
                  </a:lnTo>
                  <a:lnTo>
                    <a:pt x="341" y="457"/>
                  </a:lnTo>
                  <a:lnTo>
                    <a:pt x="343" y="457"/>
                  </a:lnTo>
                  <a:lnTo>
                    <a:pt x="345" y="455"/>
                  </a:lnTo>
                  <a:lnTo>
                    <a:pt x="345" y="455"/>
                  </a:lnTo>
                  <a:lnTo>
                    <a:pt x="343" y="453"/>
                  </a:lnTo>
                  <a:lnTo>
                    <a:pt x="341" y="451"/>
                  </a:lnTo>
                  <a:lnTo>
                    <a:pt x="341" y="451"/>
                  </a:lnTo>
                  <a:lnTo>
                    <a:pt x="341" y="449"/>
                  </a:lnTo>
                  <a:lnTo>
                    <a:pt x="340" y="447"/>
                  </a:lnTo>
                  <a:lnTo>
                    <a:pt x="340" y="447"/>
                  </a:lnTo>
                  <a:lnTo>
                    <a:pt x="340" y="446"/>
                  </a:lnTo>
                  <a:lnTo>
                    <a:pt x="340" y="446"/>
                  </a:lnTo>
                  <a:lnTo>
                    <a:pt x="340" y="444"/>
                  </a:lnTo>
                  <a:lnTo>
                    <a:pt x="341" y="444"/>
                  </a:lnTo>
                  <a:lnTo>
                    <a:pt x="341" y="442"/>
                  </a:lnTo>
                  <a:lnTo>
                    <a:pt x="341" y="442"/>
                  </a:lnTo>
                  <a:lnTo>
                    <a:pt x="340" y="440"/>
                  </a:lnTo>
                  <a:lnTo>
                    <a:pt x="340" y="440"/>
                  </a:lnTo>
                  <a:lnTo>
                    <a:pt x="341" y="438"/>
                  </a:lnTo>
                  <a:lnTo>
                    <a:pt x="341" y="438"/>
                  </a:lnTo>
                  <a:lnTo>
                    <a:pt x="341" y="438"/>
                  </a:lnTo>
                  <a:lnTo>
                    <a:pt x="340" y="436"/>
                  </a:lnTo>
                  <a:lnTo>
                    <a:pt x="340" y="434"/>
                  </a:lnTo>
                  <a:lnTo>
                    <a:pt x="338" y="434"/>
                  </a:lnTo>
                  <a:lnTo>
                    <a:pt x="338" y="434"/>
                  </a:lnTo>
                  <a:lnTo>
                    <a:pt x="340" y="432"/>
                  </a:lnTo>
                  <a:lnTo>
                    <a:pt x="345" y="430"/>
                  </a:lnTo>
                  <a:lnTo>
                    <a:pt x="347" y="428"/>
                  </a:lnTo>
                  <a:lnTo>
                    <a:pt x="347" y="428"/>
                  </a:lnTo>
                  <a:lnTo>
                    <a:pt x="347" y="427"/>
                  </a:lnTo>
                  <a:lnTo>
                    <a:pt x="349" y="427"/>
                  </a:lnTo>
                  <a:lnTo>
                    <a:pt x="349" y="427"/>
                  </a:lnTo>
                  <a:lnTo>
                    <a:pt x="351" y="425"/>
                  </a:lnTo>
                  <a:lnTo>
                    <a:pt x="353" y="425"/>
                  </a:lnTo>
                  <a:lnTo>
                    <a:pt x="353" y="425"/>
                  </a:lnTo>
                  <a:lnTo>
                    <a:pt x="353" y="423"/>
                  </a:lnTo>
                  <a:lnTo>
                    <a:pt x="353" y="423"/>
                  </a:lnTo>
                  <a:lnTo>
                    <a:pt x="353" y="423"/>
                  </a:lnTo>
                  <a:lnTo>
                    <a:pt x="353" y="421"/>
                  </a:lnTo>
                  <a:lnTo>
                    <a:pt x="353" y="421"/>
                  </a:lnTo>
                  <a:lnTo>
                    <a:pt x="355" y="421"/>
                  </a:lnTo>
                  <a:lnTo>
                    <a:pt x="355" y="421"/>
                  </a:lnTo>
                  <a:lnTo>
                    <a:pt x="357" y="419"/>
                  </a:lnTo>
                  <a:lnTo>
                    <a:pt x="357" y="419"/>
                  </a:lnTo>
                  <a:lnTo>
                    <a:pt x="357" y="417"/>
                  </a:lnTo>
                  <a:lnTo>
                    <a:pt x="359" y="417"/>
                  </a:lnTo>
                  <a:lnTo>
                    <a:pt x="359" y="417"/>
                  </a:lnTo>
                  <a:lnTo>
                    <a:pt x="360" y="419"/>
                  </a:lnTo>
                  <a:lnTo>
                    <a:pt x="362" y="419"/>
                  </a:lnTo>
                  <a:lnTo>
                    <a:pt x="364" y="417"/>
                  </a:lnTo>
                  <a:lnTo>
                    <a:pt x="364" y="417"/>
                  </a:lnTo>
                  <a:lnTo>
                    <a:pt x="364" y="419"/>
                  </a:lnTo>
                  <a:lnTo>
                    <a:pt x="366" y="421"/>
                  </a:lnTo>
                  <a:lnTo>
                    <a:pt x="368" y="421"/>
                  </a:lnTo>
                  <a:lnTo>
                    <a:pt x="368" y="421"/>
                  </a:lnTo>
                  <a:lnTo>
                    <a:pt x="370" y="423"/>
                  </a:lnTo>
                  <a:lnTo>
                    <a:pt x="372" y="425"/>
                  </a:lnTo>
                  <a:lnTo>
                    <a:pt x="374" y="419"/>
                  </a:lnTo>
                  <a:lnTo>
                    <a:pt x="374" y="417"/>
                  </a:lnTo>
                  <a:lnTo>
                    <a:pt x="374" y="415"/>
                  </a:lnTo>
                  <a:lnTo>
                    <a:pt x="376" y="415"/>
                  </a:lnTo>
                  <a:lnTo>
                    <a:pt x="378" y="413"/>
                  </a:lnTo>
                  <a:lnTo>
                    <a:pt x="378" y="413"/>
                  </a:lnTo>
                  <a:lnTo>
                    <a:pt x="380" y="413"/>
                  </a:lnTo>
                  <a:lnTo>
                    <a:pt x="380" y="413"/>
                  </a:lnTo>
                  <a:lnTo>
                    <a:pt x="380" y="411"/>
                  </a:lnTo>
                  <a:lnTo>
                    <a:pt x="380" y="409"/>
                  </a:lnTo>
                  <a:lnTo>
                    <a:pt x="378" y="407"/>
                  </a:lnTo>
                  <a:lnTo>
                    <a:pt x="378" y="406"/>
                  </a:lnTo>
                  <a:lnTo>
                    <a:pt x="380" y="406"/>
                  </a:lnTo>
                  <a:lnTo>
                    <a:pt x="380" y="406"/>
                  </a:lnTo>
                  <a:lnTo>
                    <a:pt x="381" y="406"/>
                  </a:lnTo>
                  <a:lnTo>
                    <a:pt x="385" y="407"/>
                  </a:lnTo>
                  <a:lnTo>
                    <a:pt x="387" y="407"/>
                  </a:lnTo>
                  <a:lnTo>
                    <a:pt x="389" y="406"/>
                  </a:lnTo>
                  <a:lnTo>
                    <a:pt x="389" y="406"/>
                  </a:lnTo>
                  <a:lnTo>
                    <a:pt x="391" y="402"/>
                  </a:lnTo>
                  <a:lnTo>
                    <a:pt x="391" y="400"/>
                  </a:lnTo>
                  <a:lnTo>
                    <a:pt x="391" y="398"/>
                  </a:lnTo>
                  <a:lnTo>
                    <a:pt x="391" y="396"/>
                  </a:lnTo>
                  <a:lnTo>
                    <a:pt x="391" y="394"/>
                  </a:lnTo>
                  <a:lnTo>
                    <a:pt x="391" y="392"/>
                  </a:lnTo>
                  <a:lnTo>
                    <a:pt x="393" y="388"/>
                  </a:lnTo>
                  <a:lnTo>
                    <a:pt x="393" y="387"/>
                  </a:lnTo>
                  <a:lnTo>
                    <a:pt x="393" y="385"/>
                  </a:lnTo>
                  <a:lnTo>
                    <a:pt x="393" y="381"/>
                  </a:lnTo>
                  <a:lnTo>
                    <a:pt x="393" y="381"/>
                  </a:lnTo>
                  <a:lnTo>
                    <a:pt x="395" y="379"/>
                  </a:lnTo>
                  <a:lnTo>
                    <a:pt x="397" y="377"/>
                  </a:lnTo>
                  <a:lnTo>
                    <a:pt x="399" y="377"/>
                  </a:lnTo>
                  <a:lnTo>
                    <a:pt x="402" y="379"/>
                  </a:lnTo>
                  <a:lnTo>
                    <a:pt x="402" y="379"/>
                  </a:lnTo>
                  <a:lnTo>
                    <a:pt x="402" y="377"/>
                  </a:lnTo>
                  <a:lnTo>
                    <a:pt x="404" y="377"/>
                  </a:lnTo>
                  <a:lnTo>
                    <a:pt x="406" y="377"/>
                  </a:lnTo>
                  <a:lnTo>
                    <a:pt x="406" y="377"/>
                  </a:lnTo>
                  <a:lnTo>
                    <a:pt x="408" y="377"/>
                  </a:lnTo>
                  <a:lnTo>
                    <a:pt x="410" y="377"/>
                  </a:lnTo>
                  <a:lnTo>
                    <a:pt x="410" y="377"/>
                  </a:lnTo>
                  <a:lnTo>
                    <a:pt x="410" y="375"/>
                  </a:lnTo>
                  <a:lnTo>
                    <a:pt x="410" y="373"/>
                  </a:lnTo>
                  <a:lnTo>
                    <a:pt x="410" y="373"/>
                  </a:lnTo>
                  <a:lnTo>
                    <a:pt x="412" y="371"/>
                  </a:lnTo>
                  <a:lnTo>
                    <a:pt x="412" y="371"/>
                  </a:lnTo>
                  <a:lnTo>
                    <a:pt x="418" y="368"/>
                  </a:lnTo>
                  <a:lnTo>
                    <a:pt x="421" y="366"/>
                  </a:lnTo>
                  <a:lnTo>
                    <a:pt x="421" y="366"/>
                  </a:lnTo>
                  <a:lnTo>
                    <a:pt x="421" y="366"/>
                  </a:lnTo>
                  <a:lnTo>
                    <a:pt x="423" y="364"/>
                  </a:lnTo>
                  <a:lnTo>
                    <a:pt x="423" y="364"/>
                  </a:lnTo>
                  <a:lnTo>
                    <a:pt x="423" y="362"/>
                  </a:lnTo>
                  <a:lnTo>
                    <a:pt x="423" y="358"/>
                  </a:lnTo>
                  <a:lnTo>
                    <a:pt x="423" y="356"/>
                  </a:lnTo>
                  <a:lnTo>
                    <a:pt x="423" y="356"/>
                  </a:lnTo>
                  <a:lnTo>
                    <a:pt x="427" y="352"/>
                  </a:lnTo>
                  <a:lnTo>
                    <a:pt x="427" y="350"/>
                  </a:lnTo>
                  <a:lnTo>
                    <a:pt x="429" y="350"/>
                  </a:lnTo>
                  <a:lnTo>
                    <a:pt x="429" y="350"/>
                  </a:lnTo>
                  <a:lnTo>
                    <a:pt x="431" y="350"/>
                  </a:lnTo>
                  <a:lnTo>
                    <a:pt x="431" y="352"/>
                  </a:lnTo>
                  <a:lnTo>
                    <a:pt x="433" y="352"/>
                  </a:lnTo>
                  <a:lnTo>
                    <a:pt x="433" y="354"/>
                  </a:lnTo>
                  <a:lnTo>
                    <a:pt x="433" y="354"/>
                  </a:lnTo>
                  <a:lnTo>
                    <a:pt x="433" y="360"/>
                  </a:lnTo>
                  <a:lnTo>
                    <a:pt x="433" y="360"/>
                  </a:lnTo>
                  <a:lnTo>
                    <a:pt x="435" y="362"/>
                  </a:lnTo>
                  <a:lnTo>
                    <a:pt x="435" y="362"/>
                  </a:lnTo>
                  <a:lnTo>
                    <a:pt x="437" y="362"/>
                  </a:lnTo>
                  <a:lnTo>
                    <a:pt x="439" y="364"/>
                  </a:lnTo>
                  <a:lnTo>
                    <a:pt x="441" y="364"/>
                  </a:lnTo>
                  <a:lnTo>
                    <a:pt x="441" y="366"/>
                  </a:lnTo>
                  <a:lnTo>
                    <a:pt x="442" y="368"/>
                  </a:lnTo>
                  <a:lnTo>
                    <a:pt x="442" y="368"/>
                  </a:lnTo>
                  <a:lnTo>
                    <a:pt x="442" y="368"/>
                  </a:lnTo>
                  <a:lnTo>
                    <a:pt x="442" y="368"/>
                  </a:lnTo>
                  <a:lnTo>
                    <a:pt x="444" y="368"/>
                  </a:lnTo>
                  <a:lnTo>
                    <a:pt x="446" y="368"/>
                  </a:lnTo>
                  <a:lnTo>
                    <a:pt x="448" y="366"/>
                  </a:lnTo>
                  <a:lnTo>
                    <a:pt x="448" y="366"/>
                  </a:lnTo>
                  <a:lnTo>
                    <a:pt x="448" y="366"/>
                  </a:lnTo>
                  <a:lnTo>
                    <a:pt x="452" y="366"/>
                  </a:lnTo>
                  <a:lnTo>
                    <a:pt x="454" y="364"/>
                  </a:lnTo>
                  <a:lnTo>
                    <a:pt x="454" y="362"/>
                  </a:lnTo>
                  <a:lnTo>
                    <a:pt x="454" y="362"/>
                  </a:lnTo>
                  <a:lnTo>
                    <a:pt x="452" y="362"/>
                  </a:lnTo>
                  <a:lnTo>
                    <a:pt x="448" y="358"/>
                  </a:lnTo>
                  <a:lnTo>
                    <a:pt x="448" y="358"/>
                  </a:lnTo>
                  <a:lnTo>
                    <a:pt x="448" y="358"/>
                  </a:lnTo>
                  <a:lnTo>
                    <a:pt x="450" y="356"/>
                  </a:lnTo>
                  <a:lnTo>
                    <a:pt x="450" y="356"/>
                  </a:lnTo>
                  <a:lnTo>
                    <a:pt x="452" y="354"/>
                  </a:lnTo>
                  <a:lnTo>
                    <a:pt x="452" y="354"/>
                  </a:lnTo>
                  <a:lnTo>
                    <a:pt x="452" y="352"/>
                  </a:lnTo>
                  <a:lnTo>
                    <a:pt x="452" y="350"/>
                  </a:lnTo>
                  <a:lnTo>
                    <a:pt x="452" y="350"/>
                  </a:lnTo>
                  <a:lnTo>
                    <a:pt x="454" y="349"/>
                  </a:lnTo>
                  <a:lnTo>
                    <a:pt x="454" y="349"/>
                  </a:lnTo>
                  <a:lnTo>
                    <a:pt x="454" y="349"/>
                  </a:lnTo>
                  <a:lnTo>
                    <a:pt x="454" y="347"/>
                  </a:lnTo>
                  <a:lnTo>
                    <a:pt x="454" y="347"/>
                  </a:lnTo>
                  <a:lnTo>
                    <a:pt x="456" y="345"/>
                  </a:lnTo>
                  <a:lnTo>
                    <a:pt x="456" y="345"/>
                  </a:lnTo>
                  <a:lnTo>
                    <a:pt x="456" y="343"/>
                  </a:lnTo>
                  <a:lnTo>
                    <a:pt x="456" y="343"/>
                  </a:lnTo>
                  <a:lnTo>
                    <a:pt x="458" y="341"/>
                  </a:lnTo>
                  <a:lnTo>
                    <a:pt x="458" y="341"/>
                  </a:lnTo>
                  <a:lnTo>
                    <a:pt x="460" y="341"/>
                  </a:lnTo>
                  <a:lnTo>
                    <a:pt x="463" y="341"/>
                  </a:lnTo>
                  <a:lnTo>
                    <a:pt x="463" y="341"/>
                  </a:lnTo>
                  <a:lnTo>
                    <a:pt x="465" y="341"/>
                  </a:lnTo>
                  <a:lnTo>
                    <a:pt x="465" y="339"/>
                  </a:lnTo>
                  <a:lnTo>
                    <a:pt x="465" y="339"/>
                  </a:lnTo>
                  <a:lnTo>
                    <a:pt x="467" y="337"/>
                  </a:lnTo>
                  <a:lnTo>
                    <a:pt x="467" y="335"/>
                  </a:lnTo>
                  <a:lnTo>
                    <a:pt x="467" y="333"/>
                  </a:lnTo>
                  <a:lnTo>
                    <a:pt x="467" y="331"/>
                  </a:lnTo>
                  <a:lnTo>
                    <a:pt x="467" y="331"/>
                  </a:lnTo>
                  <a:lnTo>
                    <a:pt x="467" y="331"/>
                  </a:lnTo>
                  <a:lnTo>
                    <a:pt x="467" y="330"/>
                  </a:lnTo>
                  <a:lnTo>
                    <a:pt x="467" y="328"/>
                  </a:lnTo>
                  <a:lnTo>
                    <a:pt x="469" y="328"/>
                  </a:lnTo>
                  <a:lnTo>
                    <a:pt x="469" y="328"/>
                  </a:lnTo>
                  <a:lnTo>
                    <a:pt x="471" y="328"/>
                  </a:lnTo>
                  <a:lnTo>
                    <a:pt x="473" y="328"/>
                  </a:lnTo>
                  <a:lnTo>
                    <a:pt x="473" y="328"/>
                  </a:lnTo>
                  <a:lnTo>
                    <a:pt x="475" y="328"/>
                  </a:lnTo>
                  <a:lnTo>
                    <a:pt x="475" y="326"/>
                  </a:lnTo>
                  <a:lnTo>
                    <a:pt x="477" y="320"/>
                  </a:lnTo>
                  <a:lnTo>
                    <a:pt x="479" y="318"/>
                  </a:lnTo>
                  <a:lnTo>
                    <a:pt x="479" y="316"/>
                  </a:lnTo>
                  <a:lnTo>
                    <a:pt x="481" y="316"/>
                  </a:lnTo>
                  <a:lnTo>
                    <a:pt x="482" y="316"/>
                  </a:lnTo>
                  <a:lnTo>
                    <a:pt x="482" y="314"/>
                  </a:lnTo>
                  <a:lnTo>
                    <a:pt x="484" y="314"/>
                  </a:lnTo>
                  <a:lnTo>
                    <a:pt x="486" y="314"/>
                  </a:lnTo>
                  <a:lnTo>
                    <a:pt x="486" y="314"/>
                  </a:lnTo>
                  <a:lnTo>
                    <a:pt x="486" y="312"/>
                  </a:lnTo>
                  <a:lnTo>
                    <a:pt x="486" y="312"/>
                  </a:lnTo>
                  <a:lnTo>
                    <a:pt x="486" y="312"/>
                  </a:lnTo>
                  <a:lnTo>
                    <a:pt x="484" y="310"/>
                  </a:lnTo>
                  <a:lnTo>
                    <a:pt x="481" y="309"/>
                  </a:lnTo>
                  <a:lnTo>
                    <a:pt x="481" y="307"/>
                  </a:lnTo>
                  <a:lnTo>
                    <a:pt x="479" y="307"/>
                  </a:lnTo>
                  <a:lnTo>
                    <a:pt x="479" y="305"/>
                  </a:lnTo>
                  <a:lnTo>
                    <a:pt x="479" y="305"/>
                  </a:lnTo>
                  <a:lnTo>
                    <a:pt x="479" y="303"/>
                  </a:lnTo>
                  <a:lnTo>
                    <a:pt x="479" y="303"/>
                  </a:lnTo>
                  <a:lnTo>
                    <a:pt x="479" y="303"/>
                  </a:lnTo>
                  <a:lnTo>
                    <a:pt x="477" y="303"/>
                  </a:lnTo>
                  <a:lnTo>
                    <a:pt x="477" y="303"/>
                  </a:lnTo>
                  <a:lnTo>
                    <a:pt x="477" y="303"/>
                  </a:lnTo>
                  <a:lnTo>
                    <a:pt x="477" y="303"/>
                  </a:lnTo>
                  <a:lnTo>
                    <a:pt x="477" y="301"/>
                  </a:lnTo>
                  <a:lnTo>
                    <a:pt x="477" y="301"/>
                  </a:lnTo>
                  <a:lnTo>
                    <a:pt x="477" y="301"/>
                  </a:lnTo>
                  <a:lnTo>
                    <a:pt x="477" y="299"/>
                  </a:lnTo>
                  <a:lnTo>
                    <a:pt x="475" y="299"/>
                  </a:lnTo>
                  <a:lnTo>
                    <a:pt x="475" y="299"/>
                  </a:lnTo>
                  <a:lnTo>
                    <a:pt x="473" y="299"/>
                  </a:lnTo>
                  <a:lnTo>
                    <a:pt x="473" y="299"/>
                  </a:lnTo>
                  <a:lnTo>
                    <a:pt x="473" y="299"/>
                  </a:lnTo>
                  <a:lnTo>
                    <a:pt x="473" y="299"/>
                  </a:lnTo>
                  <a:lnTo>
                    <a:pt x="473" y="299"/>
                  </a:lnTo>
                  <a:lnTo>
                    <a:pt x="473" y="297"/>
                  </a:lnTo>
                  <a:lnTo>
                    <a:pt x="473" y="297"/>
                  </a:lnTo>
                  <a:lnTo>
                    <a:pt x="471" y="295"/>
                  </a:lnTo>
                  <a:lnTo>
                    <a:pt x="471" y="293"/>
                  </a:lnTo>
                  <a:lnTo>
                    <a:pt x="471" y="293"/>
                  </a:lnTo>
                  <a:lnTo>
                    <a:pt x="471" y="293"/>
                  </a:lnTo>
                  <a:lnTo>
                    <a:pt x="473" y="291"/>
                  </a:lnTo>
                  <a:lnTo>
                    <a:pt x="473" y="291"/>
                  </a:lnTo>
                  <a:lnTo>
                    <a:pt x="475" y="290"/>
                  </a:lnTo>
                  <a:lnTo>
                    <a:pt x="477" y="288"/>
                  </a:lnTo>
                  <a:lnTo>
                    <a:pt x="477" y="288"/>
                  </a:lnTo>
                  <a:lnTo>
                    <a:pt x="477" y="288"/>
                  </a:lnTo>
                  <a:lnTo>
                    <a:pt x="479" y="288"/>
                  </a:lnTo>
                  <a:lnTo>
                    <a:pt x="479" y="286"/>
                  </a:lnTo>
                  <a:lnTo>
                    <a:pt x="479" y="286"/>
                  </a:lnTo>
                  <a:lnTo>
                    <a:pt x="479" y="286"/>
                  </a:lnTo>
                  <a:lnTo>
                    <a:pt x="479" y="284"/>
                  </a:lnTo>
                  <a:lnTo>
                    <a:pt x="479" y="284"/>
                  </a:lnTo>
                  <a:lnTo>
                    <a:pt x="479" y="282"/>
                  </a:lnTo>
                  <a:lnTo>
                    <a:pt x="479" y="282"/>
                  </a:lnTo>
                  <a:lnTo>
                    <a:pt x="481" y="280"/>
                  </a:lnTo>
                  <a:lnTo>
                    <a:pt x="481" y="276"/>
                  </a:lnTo>
                  <a:lnTo>
                    <a:pt x="481" y="274"/>
                  </a:lnTo>
                  <a:lnTo>
                    <a:pt x="482" y="274"/>
                  </a:lnTo>
                  <a:lnTo>
                    <a:pt x="484" y="272"/>
                  </a:lnTo>
                  <a:lnTo>
                    <a:pt x="484" y="271"/>
                  </a:lnTo>
                  <a:lnTo>
                    <a:pt x="484" y="271"/>
                  </a:lnTo>
                  <a:lnTo>
                    <a:pt x="482" y="271"/>
                  </a:lnTo>
                  <a:lnTo>
                    <a:pt x="482" y="271"/>
                  </a:lnTo>
                  <a:lnTo>
                    <a:pt x="482" y="269"/>
                  </a:lnTo>
                  <a:lnTo>
                    <a:pt x="482" y="269"/>
                  </a:lnTo>
                  <a:lnTo>
                    <a:pt x="484" y="267"/>
                  </a:lnTo>
                  <a:lnTo>
                    <a:pt x="484" y="267"/>
                  </a:lnTo>
                  <a:lnTo>
                    <a:pt x="484" y="267"/>
                  </a:lnTo>
                  <a:lnTo>
                    <a:pt x="486" y="267"/>
                  </a:lnTo>
                  <a:lnTo>
                    <a:pt x="486" y="267"/>
                  </a:lnTo>
                  <a:lnTo>
                    <a:pt x="488" y="267"/>
                  </a:lnTo>
                  <a:lnTo>
                    <a:pt x="488" y="267"/>
                  </a:lnTo>
                  <a:lnTo>
                    <a:pt x="490" y="267"/>
                  </a:lnTo>
                  <a:lnTo>
                    <a:pt x="490" y="267"/>
                  </a:lnTo>
                  <a:lnTo>
                    <a:pt x="492" y="267"/>
                  </a:lnTo>
                  <a:lnTo>
                    <a:pt x="494" y="267"/>
                  </a:lnTo>
                  <a:lnTo>
                    <a:pt x="494" y="267"/>
                  </a:lnTo>
                  <a:lnTo>
                    <a:pt x="496" y="271"/>
                  </a:lnTo>
                  <a:lnTo>
                    <a:pt x="496" y="271"/>
                  </a:lnTo>
                  <a:lnTo>
                    <a:pt x="498" y="272"/>
                  </a:lnTo>
                  <a:lnTo>
                    <a:pt x="500" y="272"/>
                  </a:lnTo>
                  <a:lnTo>
                    <a:pt x="500" y="272"/>
                  </a:lnTo>
                  <a:lnTo>
                    <a:pt x="501" y="272"/>
                  </a:lnTo>
                  <a:lnTo>
                    <a:pt x="503" y="272"/>
                  </a:lnTo>
                  <a:lnTo>
                    <a:pt x="503" y="272"/>
                  </a:lnTo>
                  <a:lnTo>
                    <a:pt x="503" y="272"/>
                  </a:lnTo>
                  <a:lnTo>
                    <a:pt x="505" y="272"/>
                  </a:lnTo>
                  <a:lnTo>
                    <a:pt x="505" y="272"/>
                  </a:lnTo>
                  <a:lnTo>
                    <a:pt x="509" y="272"/>
                  </a:lnTo>
                  <a:lnTo>
                    <a:pt x="509" y="272"/>
                  </a:lnTo>
                  <a:lnTo>
                    <a:pt x="511" y="272"/>
                  </a:lnTo>
                  <a:lnTo>
                    <a:pt x="511" y="271"/>
                  </a:lnTo>
                  <a:lnTo>
                    <a:pt x="511" y="269"/>
                  </a:lnTo>
                  <a:lnTo>
                    <a:pt x="511" y="269"/>
                  </a:lnTo>
                  <a:lnTo>
                    <a:pt x="511" y="263"/>
                  </a:lnTo>
                  <a:lnTo>
                    <a:pt x="511" y="263"/>
                  </a:lnTo>
                  <a:lnTo>
                    <a:pt x="511" y="261"/>
                  </a:lnTo>
                  <a:lnTo>
                    <a:pt x="511" y="261"/>
                  </a:lnTo>
                  <a:lnTo>
                    <a:pt x="511" y="261"/>
                  </a:lnTo>
                  <a:lnTo>
                    <a:pt x="511" y="259"/>
                  </a:lnTo>
                  <a:lnTo>
                    <a:pt x="513" y="257"/>
                  </a:lnTo>
                  <a:lnTo>
                    <a:pt x="513" y="255"/>
                  </a:lnTo>
                  <a:lnTo>
                    <a:pt x="515" y="253"/>
                  </a:lnTo>
                  <a:lnTo>
                    <a:pt x="515" y="253"/>
                  </a:lnTo>
                  <a:lnTo>
                    <a:pt x="517" y="253"/>
                  </a:lnTo>
                  <a:lnTo>
                    <a:pt x="521" y="253"/>
                  </a:lnTo>
                  <a:lnTo>
                    <a:pt x="521" y="252"/>
                  </a:lnTo>
                  <a:lnTo>
                    <a:pt x="522" y="252"/>
                  </a:lnTo>
                  <a:lnTo>
                    <a:pt x="522" y="252"/>
                  </a:lnTo>
                  <a:lnTo>
                    <a:pt x="522" y="250"/>
                  </a:lnTo>
                  <a:lnTo>
                    <a:pt x="522" y="250"/>
                  </a:lnTo>
                  <a:lnTo>
                    <a:pt x="522" y="244"/>
                  </a:lnTo>
                  <a:lnTo>
                    <a:pt x="522" y="242"/>
                  </a:lnTo>
                  <a:lnTo>
                    <a:pt x="522" y="240"/>
                  </a:lnTo>
                  <a:lnTo>
                    <a:pt x="524" y="238"/>
                  </a:lnTo>
                  <a:lnTo>
                    <a:pt x="524" y="236"/>
                  </a:lnTo>
                  <a:lnTo>
                    <a:pt x="526" y="234"/>
                  </a:lnTo>
                  <a:lnTo>
                    <a:pt x="526" y="233"/>
                  </a:lnTo>
                  <a:lnTo>
                    <a:pt x="530" y="231"/>
                  </a:lnTo>
                  <a:lnTo>
                    <a:pt x="530" y="231"/>
                  </a:lnTo>
                  <a:lnTo>
                    <a:pt x="530" y="231"/>
                  </a:lnTo>
                  <a:lnTo>
                    <a:pt x="532" y="229"/>
                  </a:lnTo>
                  <a:lnTo>
                    <a:pt x="532" y="229"/>
                  </a:lnTo>
                  <a:lnTo>
                    <a:pt x="532" y="227"/>
                  </a:lnTo>
                  <a:lnTo>
                    <a:pt x="532" y="227"/>
                  </a:lnTo>
                  <a:lnTo>
                    <a:pt x="530" y="225"/>
                  </a:lnTo>
                  <a:lnTo>
                    <a:pt x="530" y="225"/>
                  </a:lnTo>
                  <a:lnTo>
                    <a:pt x="528" y="225"/>
                  </a:lnTo>
                  <a:lnTo>
                    <a:pt x="528" y="225"/>
                  </a:lnTo>
                  <a:lnTo>
                    <a:pt x="524" y="215"/>
                  </a:lnTo>
                  <a:lnTo>
                    <a:pt x="524" y="213"/>
                  </a:lnTo>
                  <a:lnTo>
                    <a:pt x="524" y="212"/>
                  </a:lnTo>
                  <a:lnTo>
                    <a:pt x="528" y="213"/>
                  </a:lnTo>
                  <a:lnTo>
                    <a:pt x="530" y="213"/>
                  </a:lnTo>
                  <a:lnTo>
                    <a:pt x="530" y="213"/>
                  </a:lnTo>
                  <a:lnTo>
                    <a:pt x="530" y="215"/>
                  </a:lnTo>
                  <a:lnTo>
                    <a:pt x="532" y="217"/>
                  </a:lnTo>
                  <a:lnTo>
                    <a:pt x="532" y="217"/>
                  </a:lnTo>
                  <a:lnTo>
                    <a:pt x="532" y="217"/>
                  </a:lnTo>
                  <a:lnTo>
                    <a:pt x="532" y="217"/>
                  </a:lnTo>
                  <a:lnTo>
                    <a:pt x="538" y="221"/>
                  </a:lnTo>
                  <a:lnTo>
                    <a:pt x="540" y="221"/>
                  </a:lnTo>
                  <a:lnTo>
                    <a:pt x="540" y="219"/>
                  </a:lnTo>
                  <a:lnTo>
                    <a:pt x="540" y="219"/>
                  </a:lnTo>
                  <a:lnTo>
                    <a:pt x="540" y="219"/>
                  </a:lnTo>
                  <a:lnTo>
                    <a:pt x="540" y="219"/>
                  </a:lnTo>
                  <a:lnTo>
                    <a:pt x="541" y="219"/>
                  </a:lnTo>
                  <a:lnTo>
                    <a:pt x="541" y="219"/>
                  </a:lnTo>
                  <a:lnTo>
                    <a:pt x="541" y="217"/>
                  </a:lnTo>
                  <a:lnTo>
                    <a:pt x="541" y="217"/>
                  </a:lnTo>
                  <a:lnTo>
                    <a:pt x="543" y="217"/>
                  </a:lnTo>
                  <a:lnTo>
                    <a:pt x="543" y="217"/>
                  </a:lnTo>
                  <a:lnTo>
                    <a:pt x="543" y="217"/>
                  </a:lnTo>
                  <a:lnTo>
                    <a:pt x="545" y="219"/>
                  </a:lnTo>
                  <a:lnTo>
                    <a:pt x="545" y="219"/>
                  </a:lnTo>
                  <a:lnTo>
                    <a:pt x="547" y="219"/>
                  </a:lnTo>
                  <a:lnTo>
                    <a:pt x="547" y="219"/>
                  </a:lnTo>
                  <a:lnTo>
                    <a:pt x="549" y="219"/>
                  </a:lnTo>
                  <a:lnTo>
                    <a:pt x="551" y="219"/>
                  </a:lnTo>
                  <a:lnTo>
                    <a:pt x="557" y="221"/>
                  </a:lnTo>
                  <a:lnTo>
                    <a:pt x="561" y="223"/>
                  </a:lnTo>
                  <a:lnTo>
                    <a:pt x="561" y="223"/>
                  </a:lnTo>
                  <a:lnTo>
                    <a:pt x="562" y="223"/>
                  </a:lnTo>
                  <a:lnTo>
                    <a:pt x="566" y="223"/>
                  </a:lnTo>
                  <a:lnTo>
                    <a:pt x="568" y="223"/>
                  </a:lnTo>
                  <a:lnTo>
                    <a:pt x="570" y="225"/>
                  </a:lnTo>
                  <a:lnTo>
                    <a:pt x="570" y="225"/>
                  </a:lnTo>
                  <a:lnTo>
                    <a:pt x="570" y="225"/>
                  </a:lnTo>
                  <a:lnTo>
                    <a:pt x="572" y="227"/>
                  </a:lnTo>
                  <a:lnTo>
                    <a:pt x="572" y="227"/>
                  </a:lnTo>
                  <a:lnTo>
                    <a:pt x="572" y="227"/>
                  </a:lnTo>
                  <a:lnTo>
                    <a:pt x="572" y="227"/>
                  </a:lnTo>
                  <a:lnTo>
                    <a:pt x="574" y="234"/>
                  </a:lnTo>
                  <a:lnTo>
                    <a:pt x="576" y="234"/>
                  </a:lnTo>
                  <a:lnTo>
                    <a:pt x="576" y="236"/>
                  </a:lnTo>
                  <a:lnTo>
                    <a:pt x="576" y="236"/>
                  </a:lnTo>
                  <a:lnTo>
                    <a:pt x="578" y="236"/>
                  </a:lnTo>
                  <a:lnTo>
                    <a:pt x="580" y="238"/>
                  </a:lnTo>
                  <a:lnTo>
                    <a:pt x="580" y="238"/>
                  </a:lnTo>
                  <a:lnTo>
                    <a:pt x="580" y="238"/>
                  </a:lnTo>
                  <a:lnTo>
                    <a:pt x="580" y="240"/>
                  </a:lnTo>
                  <a:lnTo>
                    <a:pt x="580" y="240"/>
                  </a:lnTo>
                  <a:lnTo>
                    <a:pt x="582" y="240"/>
                  </a:lnTo>
                  <a:lnTo>
                    <a:pt x="583" y="240"/>
                  </a:lnTo>
                  <a:lnTo>
                    <a:pt x="583" y="242"/>
                  </a:lnTo>
                  <a:lnTo>
                    <a:pt x="585" y="242"/>
                  </a:lnTo>
                  <a:lnTo>
                    <a:pt x="585" y="242"/>
                  </a:lnTo>
                  <a:lnTo>
                    <a:pt x="585" y="242"/>
                  </a:lnTo>
                  <a:lnTo>
                    <a:pt x="585" y="242"/>
                  </a:lnTo>
                  <a:lnTo>
                    <a:pt x="587" y="242"/>
                  </a:lnTo>
                  <a:lnTo>
                    <a:pt x="589" y="242"/>
                  </a:lnTo>
                  <a:lnTo>
                    <a:pt x="589" y="242"/>
                  </a:lnTo>
                  <a:lnTo>
                    <a:pt x="591" y="240"/>
                  </a:lnTo>
                  <a:lnTo>
                    <a:pt x="591" y="238"/>
                  </a:lnTo>
                  <a:lnTo>
                    <a:pt x="593" y="238"/>
                  </a:lnTo>
                  <a:lnTo>
                    <a:pt x="593" y="238"/>
                  </a:lnTo>
                  <a:lnTo>
                    <a:pt x="597" y="236"/>
                  </a:lnTo>
                  <a:lnTo>
                    <a:pt x="602" y="234"/>
                  </a:lnTo>
                  <a:lnTo>
                    <a:pt x="602" y="234"/>
                  </a:lnTo>
                  <a:lnTo>
                    <a:pt x="604" y="234"/>
                  </a:lnTo>
                  <a:lnTo>
                    <a:pt x="606" y="236"/>
                  </a:lnTo>
                  <a:lnTo>
                    <a:pt x="606" y="236"/>
                  </a:lnTo>
                  <a:lnTo>
                    <a:pt x="608" y="236"/>
                  </a:lnTo>
                  <a:lnTo>
                    <a:pt x="608" y="240"/>
                  </a:lnTo>
                  <a:lnTo>
                    <a:pt x="610" y="240"/>
                  </a:lnTo>
                  <a:lnTo>
                    <a:pt x="610" y="240"/>
                  </a:lnTo>
                  <a:lnTo>
                    <a:pt x="610" y="240"/>
                  </a:lnTo>
                  <a:lnTo>
                    <a:pt x="620" y="242"/>
                  </a:lnTo>
                  <a:lnTo>
                    <a:pt x="620" y="242"/>
                  </a:lnTo>
                  <a:lnTo>
                    <a:pt x="622" y="242"/>
                  </a:lnTo>
                  <a:lnTo>
                    <a:pt x="622" y="244"/>
                  </a:lnTo>
                  <a:lnTo>
                    <a:pt x="622" y="246"/>
                  </a:lnTo>
                  <a:lnTo>
                    <a:pt x="623" y="246"/>
                  </a:lnTo>
                  <a:lnTo>
                    <a:pt x="623" y="246"/>
                  </a:lnTo>
                  <a:lnTo>
                    <a:pt x="625" y="246"/>
                  </a:lnTo>
                  <a:lnTo>
                    <a:pt x="633" y="246"/>
                  </a:lnTo>
                  <a:lnTo>
                    <a:pt x="633" y="246"/>
                  </a:lnTo>
                  <a:lnTo>
                    <a:pt x="633" y="246"/>
                  </a:lnTo>
                  <a:lnTo>
                    <a:pt x="637" y="246"/>
                  </a:lnTo>
                  <a:lnTo>
                    <a:pt x="637" y="246"/>
                  </a:lnTo>
                  <a:lnTo>
                    <a:pt x="637" y="248"/>
                  </a:lnTo>
                  <a:lnTo>
                    <a:pt x="639" y="248"/>
                  </a:lnTo>
                  <a:lnTo>
                    <a:pt x="639" y="248"/>
                  </a:lnTo>
                  <a:lnTo>
                    <a:pt x="639" y="248"/>
                  </a:lnTo>
                  <a:lnTo>
                    <a:pt x="639" y="248"/>
                  </a:lnTo>
                  <a:lnTo>
                    <a:pt x="641" y="248"/>
                  </a:lnTo>
                  <a:lnTo>
                    <a:pt x="641" y="248"/>
                  </a:lnTo>
                  <a:lnTo>
                    <a:pt x="641" y="248"/>
                  </a:lnTo>
                  <a:lnTo>
                    <a:pt x="642" y="248"/>
                  </a:lnTo>
                  <a:lnTo>
                    <a:pt x="642" y="248"/>
                  </a:lnTo>
                  <a:lnTo>
                    <a:pt x="642" y="246"/>
                  </a:lnTo>
                  <a:lnTo>
                    <a:pt x="642" y="246"/>
                  </a:lnTo>
                  <a:lnTo>
                    <a:pt x="642" y="244"/>
                  </a:lnTo>
                  <a:lnTo>
                    <a:pt x="642" y="244"/>
                  </a:lnTo>
                  <a:lnTo>
                    <a:pt x="644" y="244"/>
                  </a:lnTo>
                  <a:lnTo>
                    <a:pt x="644" y="242"/>
                  </a:lnTo>
                  <a:lnTo>
                    <a:pt x="652" y="240"/>
                  </a:lnTo>
                  <a:lnTo>
                    <a:pt x="652" y="240"/>
                  </a:lnTo>
                  <a:lnTo>
                    <a:pt x="652" y="240"/>
                  </a:lnTo>
                  <a:lnTo>
                    <a:pt x="654" y="240"/>
                  </a:lnTo>
                  <a:lnTo>
                    <a:pt x="660" y="240"/>
                  </a:lnTo>
                  <a:lnTo>
                    <a:pt x="662" y="242"/>
                  </a:lnTo>
                  <a:lnTo>
                    <a:pt x="662" y="242"/>
                  </a:lnTo>
                  <a:lnTo>
                    <a:pt x="663" y="244"/>
                  </a:lnTo>
                  <a:lnTo>
                    <a:pt x="663" y="246"/>
                  </a:lnTo>
                  <a:lnTo>
                    <a:pt x="665" y="248"/>
                  </a:lnTo>
                  <a:lnTo>
                    <a:pt x="665" y="248"/>
                  </a:lnTo>
                  <a:lnTo>
                    <a:pt x="667" y="248"/>
                  </a:lnTo>
                  <a:lnTo>
                    <a:pt x="667" y="250"/>
                  </a:lnTo>
                  <a:lnTo>
                    <a:pt x="667" y="250"/>
                  </a:lnTo>
                  <a:lnTo>
                    <a:pt x="669" y="250"/>
                  </a:lnTo>
                  <a:lnTo>
                    <a:pt x="671" y="250"/>
                  </a:lnTo>
                  <a:lnTo>
                    <a:pt x="671" y="250"/>
                  </a:lnTo>
                  <a:lnTo>
                    <a:pt x="671" y="250"/>
                  </a:lnTo>
                  <a:lnTo>
                    <a:pt x="673" y="252"/>
                  </a:lnTo>
                  <a:lnTo>
                    <a:pt x="673" y="252"/>
                  </a:lnTo>
                  <a:lnTo>
                    <a:pt x="673" y="253"/>
                  </a:lnTo>
                  <a:lnTo>
                    <a:pt x="675" y="253"/>
                  </a:lnTo>
                  <a:lnTo>
                    <a:pt x="675" y="253"/>
                  </a:lnTo>
                  <a:lnTo>
                    <a:pt x="675" y="255"/>
                  </a:lnTo>
                  <a:lnTo>
                    <a:pt x="675" y="257"/>
                  </a:lnTo>
                  <a:lnTo>
                    <a:pt x="675" y="257"/>
                  </a:lnTo>
                  <a:lnTo>
                    <a:pt x="675" y="259"/>
                  </a:lnTo>
                  <a:lnTo>
                    <a:pt x="675" y="263"/>
                  </a:lnTo>
                  <a:lnTo>
                    <a:pt x="675" y="265"/>
                  </a:lnTo>
                  <a:lnTo>
                    <a:pt x="675" y="265"/>
                  </a:lnTo>
                  <a:lnTo>
                    <a:pt x="675" y="267"/>
                  </a:lnTo>
                  <a:lnTo>
                    <a:pt x="675" y="269"/>
                  </a:lnTo>
                  <a:lnTo>
                    <a:pt x="675" y="271"/>
                  </a:lnTo>
                  <a:lnTo>
                    <a:pt x="673" y="271"/>
                  </a:lnTo>
                  <a:lnTo>
                    <a:pt x="673" y="272"/>
                  </a:lnTo>
                  <a:lnTo>
                    <a:pt x="673" y="272"/>
                  </a:lnTo>
                  <a:lnTo>
                    <a:pt x="673" y="272"/>
                  </a:lnTo>
                  <a:lnTo>
                    <a:pt x="673" y="272"/>
                  </a:lnTo>
                  <a:lnTo>
                    <a:pt x="673" y="274"/>
                  </a:lnTo>
                  <a:lnTo>
                    <a:pt x="673" y="276"/>
                  </a:lnTo>
                  <a:lnTo>
                    <a:pt x="673" y="278"/>
                  </a:lnTo>
                  <a:lnTo>
                    <a:pt x="673" y="280"/>
                  </a:lnTo>
                  <a:lnTo>
                    <a:pt x="673" y="282"/>
                  </a:lnTo>
                  <a:lnTo>
                    <a:pt x="671" y="282"/>
                  </a:lnTo>
                  <a:lnTo>
                    <a:pt x="669" y="286"/>
                  </a:lnTo>
                  <a:lnTo>
                    <a:pt x="667" y="288"/>
                  </a:lnTo>
                  <a:lnTo>
                    <a:pt x="665" y="290"/>
                  </a:lnTo>
                  <a:lnTo>
                    <a:pt x="667" y="293"/>
                  </a:lnTo>
                  <a:lnTo>
                    <a:pt x="667" y="293"/>
                  </a:lnTo>
                  <a:lnTo>
                    <a:pt x="673" y="293"/>
                  </a:lnTo>
                  <a:lnTo>
                    <a:pt x="673" y="295"/>
                  </a:lnTo>
                  <a:lnTo>
                    <a:pt x="675" y="301"/>
                  </a:lnTo>
                  <a:lnTo>
                    <a:pt x="675" y="305"/>
                  </a:lnTo>
                  <a:lnTo>
                    <a:pt x="675" y="309"/>
                  </a:lnTo>
                  <a:lnTo>
                    <a:pt x="675" y="310"/>
                  </a:lnTo>
                  <a:lnTo>
                    <a:pt x="675" y="312"/>
                  </a:lnTo>
                  <a:lnTo>
                    <a:pt x="671" y="314"/>
                  </a:lnTo>
                  <a:lnTo>
                    <a:pt x="671" y="316"/>
                  </a:lnTo>
                  <a:lnTo>
                    <a:pt x="677" y="318"/>
                  </a:lnTo>
                  <a:lnTo>
                    <a:pt x="679" y="320"/>
                  </a:lnTo>
                  <a:lnTo>
                    <a:pt x="683" y="322"/>
                  </a:lnTo>
                  <a:lnTo>
                    <a:pt x="684" y="324"/>
                  </a:lnTo>
                  <a:lnTo>
                    <a:pt x="684" y="324"/>
                  </a:lnTo>
                  <a:lnTo>
                    <a:pt x="686" y="328"/>
                  </a:lnTo>
                  <a:lnTo>
                    <a:pt x="686" y="328"/>
                  </a:lnTo>
                  <a:lnTo>
                    <a:pt x="694" y="328"/>
                  </a:lnTo>
                  <a:lnTo>
                    <a:pt x="702" y="328"/>
                  </a:lnTo>
                  <a:lnTo>
                    <a:pt x="702" y="328"/>
                  </a:lnTo>
                  <a:lnTo>
                    <a:pt x="703" y="326"/>
                  </a:lnTo>
                  <a:lnTo>
                    <a:pt x="703" y="324"/>
                  </a:lnTo>
                  <a:lnTo>
                    <a:pt x="703" y="324"/>
                  </a:lnTo>
                  <a:lnTo>
                    <a:pt x="703" y="322"/>
                  </a:lnTo>
                  <a:lnTo>
                    <a:pt x="703" y="320"/>
                  </a:lnTo>
                  <a:lnTo>
                    <a:pt x="703" y="320"/>
                  </a:lnTo>
                  <a:lnTo>
                    <a:pt x="709" y="316"/>
                  </a:lnTo>
                  <a:lnTo>
                    <a:pt x="711" y="314"/>
                  </a:lnTo>
                  <a:lnTo>
                    <a:pt x="711" y="312"/>
                  </a:lnTo>
                  <a:lnTo>
                    <a:pt x="705" y="307"/>
                  </a:lnTo>
                  <a:lnTo>
                    <a:pt x="703" y="303"/>
                  </a:lnTo>
                  <a:lnTo>
                    <a:pt x="703" y="301"/>
                  </a:lnTo>
                  <a:lnTo>
                    <a:pt x="705" y="297"/>
                  </a:lnTo>
                  <a:lnTo>
                    <a:pt x="711" y="290"/>
                  </a:lnTo>
                  <a:lnTo>
                    <a:pt x="713" y="288"/>
                  </a:lnTo>
                  <a:lnTo>
                    <a:pt x="713" y="286"/>
                  </a:lnTo>
                  <a:lnTo>
                    <a:pt x="713" y="284"/>
                  </a:lnTo>
                  <a:lnTo>
                    <a:pt x="715" y="276"/>
                  </a:lnTo>
                  <a:lnTo>
                    <a:pt x="717" y="274"/>
                  </a:lnTo>
                  <a:lnTo>
                    <a:pt x="717" y="272"/>
                  </a:lnTo>
                  <a:lnTo>
                    <a:pt x="719" y="272"/>
                  </a:lnTo>
                  <a:lnTo>
                    <a:pt x="721" y="272"/>
                  </a:lnTo>
                  <a:lnTo>
                    <a:pt x="721" y="271"/>
                  </a:lnTo>
                  <a:lnTo>
                    <a:pt x="723" y="267"/>
                  </a:lnTo>
                  <a:lnTo>
                    <a:pt x="723" y="267"/>
                  </a:lnTo>
                  <a:lnTo>
                    <a:pt x="724" y="265"/>
                  </a:lnTo>
                  <a:lnTo>
                    <a:pt x="726" y="265"/>
                  </a:lnTo>
                  <a:lnTo>
                    <a:pt x="726" y="265"/>
                  </a:lnTo>
                  <a:lnTo>
                    <a:pt x="728" y="263"/>
                  </a:lnTo>
                  <a:lnTo>
                    <a:pt x="728" y="261"/>
                  </a:lnTo>
                  <a:lnTo>
                    <a:pt x="730" y="261"/>
                  </a:lnTo>
                  <a:lnTo>
                    <a:pt x="732" y="259"/>
                  </a:lnTo>
                  <a:lnTo>
                    <a:pt x="734" y="261"/>
                  </a:lnTo>
                  <a:lnTo>
                    <a:pt x="734" y="265"/>
                  </a:lnTo>
                  <a:lnTo>
                    <a:pt x="736" y="267"/>
                  </a:lnTo>
                  <a:lnTo>
                    <a:pt x="738" y="267"/>
                  </a:lnTo>
                  <a:lnTo>
                    <a:pt x="740" y="267"/>
                  </a:lnTo>
                  <a:lnTo>
                    <a:pt x="742" y="267"/>
                  </a:lnTo>
                  <a:lnTo>
                    <a:pt x="743" y="269"/>
                  </a:lnTo>
                  <a:lnTo>
                    <a:pt x="743" y="271"/>
                  </a:lnTo>
                  <a:lnTo>
                    <a:pt x="745" y="272"/>
                  </a:lnTo>
                  <a:lnTo>
                    <a:pt x="745" y="272"/>
                  </a:lnTo>
                  <a:lnTo>
                    <a:pt x="745" y="272"/>
                  </a:lnTo>
                  <a:lnTo>
                    <a:pt x="747" y="271"/>
                  </a:lnTo>
                  <a:lnTo>
                    <a:pt x="747" y="271"/>
                  </a:lnTo>
                  <a:lnTo>
                    <a:pt x="749" y="269"/>
                  </a:lnTo>
                  <a:lnTo>
                    <a:pt x="751" y="269"/>
                  </a:lnTo>
                  <a:lnTo>
                    <a:pt x="755" y="267"/>
                  </a:lnTo>
                  <a:lnTo>
                    <a:pt x="755" y="265"/>
                  </a:lnTo>
                  <a:lnTo>
                    <a:pt x="755" y="265"/>
                  </a:lnTo>
                  <a:lnTo>
                    <a:pt x="755" y="263"/>
                  </a:lnTo>
                  <a:lnTo>
                    <a:pt x="753" y="261"/>
                  </a:lnTo>
                  <a:lnTo>
                    <a:pt x="753" y="259"/>
                  </a:lnTo>
                  <a:lnTo>
                    <a:pt x="753" y="259"/>
                  </a:lnTo>
                  <a:lnTo>
                    <a:pt x="755" y="259"/>
                  </a:lnTo>
                  <a:lnTo>
                    <a:pt x="755" y="257"/>
                  </a:lnTo>
                  <a:lnTo>
                    <a:pt x="757" y="257"/>
                  </a:lnTo>
                  <a:lnTo>
                    <a:pt x="759" y="257"/>
                  </a:lnTo>
                  <a:lnTo>
                    <a:pt x="761" y="257"/>
                  </a:lnTo>
                  <a:lnTo>
                    <a:pt x="761" y="255"/>
                  </a:lnTo>
                  <a:lnTo>
                    <a:pt x="761" y="253"/>
                  </a:lnTo>
                  <a:lnTo>
                    <a:pt x="763" y="253"/>
                  </a:lnTo>
                  <a:lnTo>
                    <a:pt x="761" y="252"/>
                  </a:lnTo>
                  <a:close/>
                </a:path>
              </a:pathLst>
            </a:custGeom>
            <a:noFill/>
            <a:ln w="317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89" name="Freeform 38">
              <a:extLst>
                <a:ext uri="{FF2B5EF4-FFF2-40B4-BE49-F238E27FC236}">
                  <a16:creationId xmlns:a16="http://schemas.microsoft.com/office/drawing/2014/main" id="{97398B99-D9B0-06D4-CBDD-AFDE83430F1B}"/>
                </a:ext>
              </a:extLst>
            </p:cNvPr>
            <p:cNvSpPr>
              <a:spLocks/>
            </p:cNvSpPr>
            <p:nvPr/>
          </p:nvSpPr>
          <p:spPr bwMode="auto">
            <a:xfrm>
              <a:off x="2034291" y="3037621"/>
              <a:ext cx="1531866" cy="987854"/>
            </a:xfrm>
            <a:custGeom>
              <a:avLst/>
              <a:gdLst>
                <a:gd name="T0" fmla="*/ 764 w 812"/>
                <a:gd name="T1" fmla="*/ 220 h 584"/>
                <a:gd name="T2" fmla="*/ 745 w 812"/>
                <a:gd name="T3" fmla="*/ 209 h 584"/>
                <a:gd name="T4" fmla="*/ 697 w 812"/>
                <a:gd name="T5" fmla="*/ 180 h 584"/>
                <a:gd name="T6" fmla="*/ 667 w 812"/>
                <a:gd name="T7" fmla="*/ 173 h 584"/>
                <a:gd name="T8" fmla="*/ 635 w 812"/>
                <a:gd name="T9" fmla="*/ 192 h 584"/>
                <a:gd name="T10" fmla="*/ 625 w 812"/>
                <a:gd name="T11" fmla="*/ 169 h 584"/>
                <a:gd name="T12" fmla="*/ 600 w 812"/>
                <a:gd name="T13" fmla="*/ 178 h 584"/>
                <a:gd name="T14" fmla="*/ 577 w 812"/>
                <a:gd name="T15" fmla="*/ 188 h 584"/>
                <a:gd name="T16" fmla="*/ 585 w 812"/>
                <a:gd name="T17" fmla="*/ 165 h 584"/>
                <a:gd name="T18" fmla="*/ 535 w 812"/>
                <a:gd name="T19" fmla="*/ 165 h 584"/>
                <a:gd name="T20" fmla="*/ 499 w 812"/>
                <a:gd name="T21" fmla="*/ 178 h 584"/>
                <a:gd name="T22" fmla="*/ 490 w 812"/>
                <a:gd name="T23" fmla="*/ 163 h 584"/>
                <a:gd name="T24" fmla="*/ 473 w 812"/>
                <a:gd name="T25" fmla="*/ 173 h 584"/>
                <a:gd name="T26" fmla="*/ 452 w 812"/>
                <a:gd name="T27" fmla="*/ 169 h 584"/>
                <a:gd name="T28" fmla="*/ 448 w 812"/>
                <a:gd name="T29" fmla="*/ 135 h 584"/>
                <a:gd name="T30" fmla="*/ 433 w 812"/>
                <a:gd name="T31" fmla="*/ 154 h 584"/>
                <a:gd name="T32" fmla="*/ 427 w 812"/>
                <a:gd name="T33" fmla="*/ 198 h 584"/>
                <a:gd name="T34" fmla="*/ 452 w 812"/>
                <a:gd name="T35" fmla="*/ 243 h 584"/>
                <a:gd name="T36" fmla="*/ 408 w 812"/>
                <a:gd name="T37" fmla="*/ 253 h 584"/>
                <a:gd name="T38" fmla="*/ 391 w 812"/>
                <a:gd name="T39" fmla="*/ 226 h 584"/>
                <a:gd name="T40" fmla="*/ 391 w 812"/>
                <a:gd name="T41" fmla="*/ 148 h 584"/>
                <a:gd name="T42" fmla="*/ 448 w 812"/>
                <a:gd name="T43" fmla="*/ 89 h 584"/>
                <a:gd name="T44" fmla="*/ 461 w 812"/>
                <a:gd name="T45" fmla="*/ 36 h 584"/>
                <a:gd name="T46" fmla="*/ 406 w 812"/>
                <a:gd name="T47" fmla="*/ 4 h 584"/>
                <a:gd name="T48" fmla="*/ 364 w 812"/>
                <a:gd name="T49" fmla="*/ 17 h 584"/>
                <a:gd name="T50" fmla="*/ 301 w 812"/>
                <a:gd name="T51" fmla="*/ 57 h 584"/>
                <a:gd name="T52" fmla="*/ 253 w 812"/>
                <a:gd name="T53" fmla="*/ 91 h 584"/>
                <a:gd name="T54" fmla="*/ 240 w 812"/>
                <a:gd name="T55" fmla="*/ 150 h 584"/>
                <a:gd name="T56" fmla="*/ 301 w 812"/>
                <a:gd name="T57" fmla="*/ 144 h 584"/>
                <a:gd name="T58" fmla="*/ 307 w 812"/>
                <a:gd name="T59" fmla="*/ 177 h 584"/>
                <a:gd name="T60" fmla="*/ 255 w 812"/>
                <a:gd name="T61" fmla="*/ 205 h 584"/>
                <a:gd name="T62" fmla="*/ 261 w 812"/>
                <a:gd name="T63" fmla="*/ 234 h 584"/>
                <a:gd name="T64" fmla="*/ 242 w 812"/>
                <a:gd name="T65" fmla="*/ 268 h 584"/>
                <a:gd name="T66" fmla="*/ 200 w 812"/>
                <a:gd name="T67" fmla="*/ 256 h 584"/>
                <a:gd name="T68" fmla="*/ 158 w 812"/>
                <a:gd name="T69" fmla="*/ 300 h 584"/>
                <a:gd name="T70" fmla="*/ 147 w 812"/>
                <a:gd name="T71" fmla="*/ 291 h 584"/>
                <a:gd name="T72" fmla="*/ 160 w 812"/>
                <a:gd name="T73" fmla="*/ 241 h 584"/>
                <a:gd name="T74" fmla="*/ 105 w 812"/>
                <a:gd name="T75" fmla="*/ 215 h 584"/>
                <a:gd name="T76" fmla="*/ 112 w 812"/>
                <a:gd name="T77" fmla="*/ 196 h 584"/>
                <a:gd name="T78" fmla="*/ 99 w 812"/>
                <a:gd name="T79" fmla="*/ 199 h 584"/>
                <a:gd name="T80" fmla="*/ 86 w 812"/>
                <a:gd name="T81" fmla="*/ 211 h 584"/>
                <a:gd name="T82" fmla="*/ 63 w 812"/>
                <a:gd name="T83" fmla="*/ 241 h 584"/>
                <a:gd name="T84" fmla="*/ 80 w 812"/>
                <a:gd name="T85" fmla="*/ 308 h 584"/>
                <a:gd name="T86" fmla="*/ 59 w 812"/>
                <a:gd name="T87" fmla="*/ 369 h 584"/>
                <a:gd name="T88" fmla="*/ 27 w 812"/>
                <a:gd name="T89" fmla="*/ 430 h 584"/>
                <a:gd name="T90" fmla="*/ 8 w 812"/>
                <a:gd name="T91" fmla="*/ 458 h 584"/>
                <a:gd name="T92" fmla="*/ 27 w 812"/>
                <a:gd name="T93" fmla="*/ 494 h 584"/>
                <a:gd name="T94" fmla="*/ 95 w 812"/>
                <a:gd name="T95" fmla="*/ 538 h 584"/>
                <a:gd name="T96" fmla="*/ 192 w 812"/>
                <a:gd name="T97" fmla="*/ 572 h 584"/>
                <a:gd name="T98" fmla="*/ 253 w 812"/>
                <a:gd name="T99" fmla="*/ 544 h 584"/>
                <a:gd name="T100" fmla="*/ 320 w 812"/>
                <a:gd name="T101" fmla="*/ 515 h 584"/>
                <a:gd name="T102" fmla="*/ 324 w 812"/>
                <a:gd name="T103" fmla="*/ 549 h 584"/>
                <a:gd name="T104" fmla="*/ 400 w 812"/>
                <a:gd name="T105" fmla="*/ 528 h 584"/>
                <a:gd name="T106" fmla="*/ 452 w 812"/>
                <a:gd name="T107" fmla="*/ 534 h 584"/>
                <a:gd name="T108" fmla="*/ 518 w 812"/>
                <a:gd name="T109" fmla="*/ 532 h 584"/>
                <a:gd name="T110" fmla="*/ 581 w 812"/>
                <a:gd name="T111" fmla="*/ 534 h 584"/>
                <a:gd name="T112" fmla="*/ 619 w 812"/>
                <a:gd name="T113" fmla="*/ 517 h 584"/>
                <a:gd name="T114" fmla="*/ 661 w 812"/>
                <a:gd name="T115" fmla="*/ 443 h 584"/>
                <a:gd name="T116" fmla="*/ 715 w 812"/>
                <a:gd name="T117" fmla="*/ 411 h 584"/>
                <a:gd name="T118" fmla="*/ 722 w 812"/>
                <a:gd name="T119" fmla="*/ 340 h 584"/>
                <a:gd name="T120" fmla="*/ 715 w 812"/>
                <a:gd name="T121" fmla="*/ 312 h 584"/>
                <a:gd name="T122" fmla="*/ 802 w 812"/>
                <a:gd name="T123" fmla="*/ 283 h 584"/>
                <a:gd name="T124" fmla="*/ 812 w 812"/>
                <a:gd name="T125" fmla="*/ 232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2" h="584">
                  <a:moveTo>
                    <a:pt x="810" y="230"/>
                  </a:moveTo>
                  <a:lnTo>
                    <a:pt x="810" y="230"/>
                  </a:lnTo>
                  <a:lnTo>
                    <a:pt x="808" y="228"/>
                  </a:lnTo>
                  <a:lnTo>
                    <a:pt x="808" y="228"/>
                  </a:lnTo>
                  <a:lnTo>
                    <a:pt x="808" y="224"/>
                  </a:lnTo>
                  <a:lnTo>
                    <a:pt x="808" y="224"/>
                  </a:lnTo>
                  <a:lnTo>
                    <a:pt x="806" y="224"/>
                  </a:lnTo>
                  <a:lnTo>
                    <a:pt x="806" y="222"/>
                  </a:lnTo>
                  <a:lnTo>
                    <a:pt x="802" y="222"/>
                  </a:lnTo>
                  <a:lnTo>
                    <a:pt x="802" y="222"/>
                  </a:lnTo>
                  <a:lnTo>
                    <a:pt x="802" y="222"/>
                  </a:lnTo>
                  <a:lnTo>
                    <a:pt x="802" y="222"/>
                  </a:lnTo>
                  <a:lnTo>
                    <a:pt x="802" y="218"/>
                  </a:lnTo>
                  <a:lnTo>
                    <a:pt x="802" y="218"/>
                  </a:lnTo>
                  <a:lnTo>
                    <a:pt x="800" y="218"/>
                  </a:lnTo>
                  <a:lnTo>
                    <a:pt x="800" y="218"/>
                  </a:lnTo>
                  <a:lnTo>
                    <a:pt x="800" y="218"/>
                  </a:lnTo>
                  <a:lnTo>
                    <a:pt x="793" y="220"/>
                  </a:lnTo>
                  <a:lnTo>
                    <a:pt x="793" y="220"/>
                  </a:lnTo>
                  <a:lnTo>
                    <a:pt x="791" y="222"/>
                  </a:lnTo>
                  <a:lnTo>
                    <a:pt x="787" y="220"/>
                  </a:lnTo>
                  <a:lnTo>
                    <a:pt x="777" y="218"/>
                  </a:lnTo>
                  <a:lnTo>
                    <a:pt x="776" y="218"/>
                  </a:lnTo>
                  <a:lnTo>
                    <a:pt x="776" y="218"/>
                  </a:lnTo>
                  <a:lnTo>
                    <a:pt x="776" y="218"/>
                  </a:lnTo>
                  <a:lnTo>
                    <a:pt x="774" y="220"/>
                  </a:lnTo>
                  <a:lnTo>
                    <a:pt x="774" y="220"/>
                  </a:lnTo>
                  <a:lnTo>
                    <a:pt x="776" y="222"/>
                  </a:lnTo>
                  <a:lnTo>
                    <a:pt x="776" y="224"/>
                  </a:lnTo>
                  <a:lnTo>
                    <a:pt x="776" y="224"/>
                  </a:lnTo>
                  <a:lnTo>
                    <a:pt x="774" y="226"/>
                  </a:lnTo>
                  <a:lnTo>
                    <a:pt x="774" y="226"/>
                  </a:lnTo>
                  <a:lnTo>
                    <a:pt x="772" y="226"/>
                  </a:lnTo>
                  <a:lnTo>
                    <a:pt x="768" y="226"/>
                  </a:lnTo>
                  <a:lnTo>
                    <a:pt x="764" y="226"/>
                  </a:lnTo>
                  <a:lnTo>
                    <a:pt x="764" y="226"/>
                  </a:lnTo>
                  <a:lnTo>
                    <a:pt x="764" y="226"/>
                  </a:lnTo>
                  <a:lnTo>
                    <a:pt x="766" y="222"/>
                  </a:lnTo>
                  <a:lnTo>
                    <a:pt x="766" y="220"/>
                  </a:lnTo>
                  <a:lnTo>
                    <a:pt x="764" y="220"/>
                  </a:lnTo>
                  <a:lnTo>
                    <a:pt x="764" y="220"/>
                  </a:lnTo>
                  <a:lnTo>
                    <a:pt x="764" y="218"/>
                  </a:lnTo>
                  <a:lnTo>
                    <a:pt x="762" y="218"/>
                  </a:lnTo>
                  <a:lnTo>
                    <a:pt x="762" y="218"/>
                  </a:lnTo>
                  <a:lnTo>
                    <a:pt x="762" y="220"/>
                  </a:lnTo>
                  <a:lnTo>
                    <a:pt x="762" y="220"/>
                  </a:lnTo>
                  <a:lnTo>
                    <a:pt x="760" y="220"/>
                  </a:lnTo>
                  <a:lnTo>
                    <a:pt x="760" y="218"/>
                  </a:lnTo>
                  <a:lnTo>
                    <a:pt x="760" y="218"/>
                  </a:lnTo>
                  <a:lnTo>
                    <a:pt x="760" y="218"/>
                  </a:lnTo>
                  <a:lnTo>
                    <a:pt x="760" y="213"/>
                  </a:lnTo>
                  <a:lnTo>
                    <a:pt x="760" y="211"/>
                  </a:lnTo>
                  <a:lnTo>
                    <a:pt x="760" y="211"/>
                  </a:lnTo>
                  <a:lnTo>
                    <a:pt x="758" y="211"/>
                  </a:lnTo>
                  <a:lnTo>
                    <a:pt x="758" y="211"/>
                  </a:lnTo>
                  <a:lnTo>
                    <a:pt x="758" y="211"/>
                  </a:lnTo>
                  <a:lnTo>
                    <a:pt x="758" y="213"/>
                  </a:lnTo>
                  <a:lnTo>
                    <a:pt x="758" y="213"/>
                  </a:lnTo>
                  <a:lnTo>
                    <a:pt x="756" y="215"/>
                  </a:lnTo>
                  <a:lnTo>
                    <a:pt x="756" y="215"/>
                  </a:lnTo>
                  <a:lnTo>
                    <a:pt x="756" y="215"/>
                  </a:lnTo>
                  <a:lnTo>
                    <a:pt x="755" y="213"/>
                  </a:lnTo>
                  <a:lnTo>
                    <a:pt x="755" y="213"/>
                  </a:lnTo>
                  <a:lnTo>
                    <a:pt x="755" y="213"/>
                  </a:lnTo>
                  <a:lnTo>
                    <a:pt x="755" y="211"/>
                  </a:lnTo>
                  <a:lnTo>
                    <a:pt x="755" y="211"/>
                  </a:lnTo>
                  <a:lnTo>
                    <a:pt x="755" y="209"/>
                  </a:lnTo>
                  <a:lnTo>
                    <a:pt x="755" y="207"/>
                  </a:lnTo>
                  <a:lnTo>
                    <a:pt x="755" y="207"/>
                  </a:lnTo>
                  <a:lnTo>
                    <a:pt x="755" y="205"/>
                  </a:lnTo>
                  <a:lnTo>
                    <a:pt x="755" y="205"/>
                  </a:lnTo>
                  <a:lnTo>
                    <a:pt x="755" y="205"/>
                  </a:lnTo>
                  <a:lnTo>
                    <a:pt x="753" y="205"/>
                  </a:lnTo>
                  <a:lnTo>
                    <a:pt x="749" y="209"/>
                  </a:lnTo>
                  <a:lnTo>
                    <a:pt x="749" y="209"/>
                  </a:lnTo>
                  <a:lnTo>
                    <a:pt x="749" y="209"/>
                  </a:lnTo>
                  <a:lnTo>
                    <a:pt x="747" y="209"/>
                  </a:lnTo>
                  <a:lnTo>
                    <a:pt x="747" y="209"/>
                  </a:lnTo>
                  <a:lnTo>
                    <a:pt x="747" y="209"/>
                  </a:lnTo>
                  <a:lnTo>
                    <a:pt x="745" y="209"/>
                  </a:lnTo>
                  <a:lnTo>
                    <a:pt x="741" y="205"/>
                  </a:lnTo>
                  <a:lnTo>
                    <a:pt x="739" y="203"/>
                  </a:lnTo>
                  <a:lnTo>
                    <a:pt x="737" y="203"/>
                  </a:lnTo>
                  <a:lnTo>
                    <a:pt x="736" y="203"/>
                  </a:lnTo>
                  <a:lnTo>
                    <a:pt x="734" y="203"/>
                  </a:lnTo>
                  <a:lnTo>
                    <a:pt x="732" y="203"/>
                  </a:lnTo>
                  <a:lnTo>
                    <a:pt x="732" y="203"/>
                  </a:lnTo>
                  <a:lnTo>
                    <a:pt x="724" y="198"/>
                  </a:lnTo>
                  <a:lnTo>
                    <a:pt x="724" y="198"/>
                  </a:lnTo>
                  <a:lnTo>
                    <a:pt x="724" y="196"/>
                  </a:lnTo>
                  <a:lnTo>
                    <a:pt x="724" y="196"/>
                  </a:lnTo>
                  <a:lnTo>
                    <a:pt x="724" y="196"/>
                  </a:lnTo>
                  <a:lnTo>
                    <a:pt x="724" y="194"/>
                  </a:lnTo>
                  <a:lnTo>
                    <a:pt x="724" y="194"/>
                  </a:lnTo>
                  <a:lnTo>
                    <a:pt x="724" y="192"/>
                  </a:lnTo>
                  <a:lnTo>
                    <a:pt x="724" y="192"/>
                  </a:lnTo>
                  <a:lnTo>
                    <a:pt x="722" y="190"/>
                  </a:lnTo>
                  <a:lnTo>
                    <a:pt x="722" y="190"/>
                  </a:lnTo>
                  <a:lnTo>
                    <a:pt x="722" y="190"/>
                  </a:lnTo>
                  <a:lnTo>
                    <a:pt x="722" y="188"/>
                  </a:lnTo>
                  <a:lnTo>
                    <a:pt x="720" y="186"/>
                  </a:lnTo>
                  <a:lnTo>
                    <a:pt x="720" y="186"/>
                  </a:lnTo>
                  <a:lnTo>
                    <a:pt x="718" y="186"/>
                  </a:lnTo>
                  <a:lnTo>
                    <a:pt x="718" y="186"/>
                  </a:lnTo>
                  <a:lnTo>
                    <a:pt x="716" y="186"/>
                  </a:lnTo>
                  <a:lnTo>
                    <a:pt x="716" y="186"/>
                  </a:lnTo>
                  <a:lnTo>
                    <a:pt x="715" y="188"/>
                  </a:lnTo>
                  <a:lnTo>
                    <a:pt x="715" y="188"/>
                  </a:lnTo>
                  <a:lnTo>
                    <a:pt x="713" y="188"/>
                  </a:lnTo>
                  <a:lnTo>
                    <a:pt x="711" y="188"/>
                  </a:lnTo>
                  <a:lnTo>
                    <a:pt x="711" y="186"/>
                  </a:lnTo>
                  <a:lnTo>
                    <a:pt x="709" y="186"/>
                  </a:lnTo>
                  <a:lnTo>
                    <a:pt x="709" y="184"/>
                  </a:lnTo>
                  <a:lnTo>
                    <a:pt x="709" y="184"/>
                  </a:lnTo>
                  <a:lnTo>
                    <a:pt x="709" y="182"/>
                  </a:lnTo>
                  <a:lnTo>
                    <a:pt x="705" y="182"/>
                  </a:lnTo>
                  <a:lnTo>
                    <a:pt x="701" y="182"/>
                  </a:lnTo>
                  <a:lnTo>
                    <a:pt x="699" y="182"/>
                  </a:lnTo>
                  <a:lnTo>
                    <a:pt x="697" y="182"/>
                  </a:lnTo>
                  <a:lnTo>
                    <a:pt x="697" y="180"/>
                  </a:lnTo>
                  <a:lnTo>
                    <a:pt x="696" y="180"/>
                  </a:lnTo>
                  <a:lnTo>
                    <a:pt x="696" y="180"/>
                  </a:lnTo>
                  <a:lnTo>
                    <a:pt x="696" y="178"/>
                  </a:lnTo>
                  <a:lnTo>
                    <a:pt x="697" y="178"/>
                  </a:lnTo>
                  <a:lnTo>
                    <a:pt x="697" y="178"/>
                  </a:lnTo>
                  <a:lnTo>
                    <a:pt x="697" y="178"/>
                  </a:lnTo>
                  <a:lnTo>
                    <a:pt x="696" y="177"/>
                  </a:lnTo>
                  <a:lnTo>
                    <a:pt x="696" y="177"/>
                  </a:lnTo>
                  <a:lnTo>
                    <a:pt x="696" y="175"/>
                  </a:lnTo>
                  <a:lnTo>
                    <a:pt x="696" y="173"/>
                  </a:lnTo>
                  <a:lnTo>
                    <a:pt x="694" y="169"/>
                  </a:lnTo>
                  <a:lnTo>
                    <a:pt x="684" y="173"/>
                  </a:lnTo>
                  <a:lnTo>
                    <a:pt x="682" y="173"/>
                  </a:lnTo>
                  <a:lnTo>
                    <a:pt x="682" y="173"/>
                  </a:lnTo>
                  <a:lnTo>
                    <a:pt x="684" y="173"/>
                  </a:lnTo>
                  <a:lnTo>
                    <a:pt x="686" y="175"/>
                  </a:lnTo>
                  <a:lnTo>
                    <a:pt x="686" y="177"/>
                  </a:lnTo>
                  <a:lnTo>
                    <a:pt x="686" y="177"/>
                  </a:lnTo>
                  <a:lnTo>
                    <a:pt x="686" y="178"/>
                  </a:lnTo>
                  <a:lnTo>
                    <a:pt x="686" y="178"/>
                  </a:lnTo>
                  <a:lnTo>
                    <a:pt x="684" y="178"/>
                  </a:lnTo>
                  <a:lnTo>
                    <a:pt x="682" y="178"/>
                  </a:lnTo>
                  <a:lnTo>
                    <a:pt x="678" y="178"/>
                  </a:lnTo>
                  <a:lnTo>
                    <a:pt x="678" y="178"/>
                  </a:lnTo>
                  <a:lnTo>
                    <a:pt x="676" y="178"/>
                  </a:lnTo>
                  <a:lnTo>
                    <a:pt x="676" y="178"/>
                  </a:lnTo>
                  <a:lnTo>
                    <a:pt x="676" y="177"/>
                  </a:lnTo>
                  <a:lnTo>
                    <a:pt x="676" y="177"/>
                  </a:lnTo>
                  <a:lnTo>
                    <a:pt x="676" y="175"/>
                  </a:lnTo>
                  <a:lnTo>
                    <a:pt x="678" y="175"/>
                  </a:lnTo>
                  <a:lnTo>
                    <a:pt x="676" y="175"/>
                  </a:lnTo>
                  <a:lnTo>
                    <a:pt x="676" y="175"/>
                  </a:lnTo>
                  <a:lnTo>
                    <a:pt x="676" y="173"/>
                  </a:lnTo>
                  <a:lnTo>
                    <a:pt x="675" y="173"/>
                  </a:lnTo>
                  <a:lnTo>
                    <a:pt x="673" y="173"/>
                  </a:lnTo>
                  <a:lnTo>
                    <a:pt x="673" y="173"/>
                  </a:lnTo>
                  <a:lnTo>
                    <a:pt x="671" y="173"/>
                  </a:lnTo>
                  <a:lnTo>
                    <a:pt x="669" y="173"/>
                  </a:lnTo>
                  <a:lnTo>
                    <a:pt x="669" y="173"/>
                  </a:lnTo>
                  <a:lnTo>
                    <a:pt x="667" y="173"/>
                  </a:lnTo>
                  <a:lnTo>
                    <a:pt x="665" y="173"/>
                  </a:lnTo>
                  <a:lnTo>
                    <a:pt x="665" y="173"/>
                  </a:lnTo>
                  <a:lnTo>
                    <a:pt x="665" y="173"/>
                  </a:lnTo>
                  <a:lnTo>
                    <a:pt x="665" y="177"/>
                  </a:lnTo>
                  <a:lnTo>
                    <a:pt x="665" y="178"/>
                  </a:lnTo>
                  <a:lnTo>
                    <a:pt x="665" y="178"/>
                  </a:lnTo>
                  <a:lnTo>
                    <a:pt x="665" y="180"/>
                  </a:lnTo>
                  <a:lnTo>
                    <a:pt x="665" y="180"/>
                  </a:lnTo>
                  <a:lnTo>
                    <a:pt x="663" y="182"/>
                  </a:lnTo>
                  <a:lnTo>
                    <a:pt x="663" y="184"/>
                  </a:lnTo>
                  <a:lnTo>
                    <a:pt x="659" y="188"/>
                  </a:lnTo>
                  <a:lnTo>
                    <a:pt x="659" y="188"/>
                  </a:lnTo>
                  <a:lnTo>
                    <a:pt x="659" y="188"/>
                  </a:lnTo>
                  <a:lnTo>
                    <a:pt x="659" y="190"/>
                  </a:lnTo>
                  <a:lnTo>
                    <a:pt x="659" y="190"/>
                  </a:lnTo>
                  <a:lnTo>
                    <a:pt x="659" y="190"/>
                  </a:lnTo>
                  <a:lnTo>
                    <a:pt x="659" y="190"/>
                  </a:lnTo>
                  <a:lnTo>
                    <a:pt x="659" y="192"/>
                  </a:lnTo>
                  <a:lnTo>
                    <a:pt x="659" y="192"/>
                  </a:lnTo>
                  <a:lnTo>
                    <a:pt x="659" y="192"/>
                  </a:lnTo>
                  <a:lnTo>
                    <a:pt x="659" y="194"/>
                  </a:lnTo>
                  <a:lnTo>
                    <a:pt x="659" y="194"/>
                  </a:lnTo>
                  <a:lnTo>
                    <a:pt x="659" y="194"/>
                  </a:lnTo>
                  <a:lnTo>
                    <a:pt x="659" y="194"/>
                  </a:lnTo>
                  <a:lnTo>
                    <a:pt x="657" y="194"/>
                  </a:lnTo>
                  <a:lnTo>
                    <a:pt x="656" y="196"/>
                  </a:lnTo>
                  <a:lnTo>
                    <a:pt x="656" y="196"/>
                  </a:lnTo>
                  <a:lnTo>
                    <a:pt x="656" y="196"/>
                  </a:lnTo>
                  <a:lnTo>
                    <a:pt x="652" y="199"/>
                  </a:lnTo>
                  <a:lnTo>
                    <a:pt x="650" y="198"/>
                  </a:lnTo>
                  <a:lnTo>
                    <a:pt x="646" y="194"/>
                  </a:lnTo>
                  <a:lnTo>
                    <a:pt x="644" y="194"/>
                  </a:lnTo>
                  <a:lnTo>
                    <a:pt x="644" y="194"/>
                  </a:lnTo>
                  <a:lnTo>
                    <a:pt x="642" y="194"/>
                  </a:lnTo>
                  <a:lnTo>
                    <a:pt x="640" y="194"/>
                  </a:lnTo>
                  <a:lnTo>
                    <a:pt x="640" y="194"/>
                  </a:lnTo>
                  <a:lnTo>
                    <a:pt x="638" y="194"/>
                  </a:lnTo>
                  <a:lnTo>
                    <a:pt x="636" y="194"/>
                  </a:lnTo>
                  <a:lnTo>
                    <a:pt x="636" y="194"/>
                  </a:lnTo>
                  <a:lnTo>
                    <a:pt x="635" y="192"/>
                  </a:lnTo>
                  <a:lnTo>
                    <a:pt x="635" y="192"/>
                  </a:lnTo>
                  <a:lnTo>
                    <a:pt x="635" y="192"/>
                  </a:lnTo>
                  <a:lnTo>
                    <a:pt x="633" y="192"/>
                  </a:lnTo>
                  <a:lnTo>
                    <a:pt x="629" y="192"/>
                  </a:lnTo>
                  <a:lnTo>
                    <a:pt x="627" y="192"/>
                  </a:lnTo>
                  <a:lnTo>
                    <a:pt x="625" y="194"/>
                  </a:lnTo>
                  <a:lnTo>
                    <a:pt x="623" y="192"/>
                  </a:lnTo>
                  <a:lnTo>
                    <a:pt x="621" y="192"/>
                  </a:lnTo>
                  <a:lnTo>
                    <a:pt x="621" y="192"/>
                  </a:lnTo>
                  <a:lnTo>
                    <a:pt x="621" y="190"/>
                  </a:lnTo>
                  <a:lnTo>
                    <a:pt x="621" y="190"/>
                  </a:lnTo>
                  <a:lnTo>
                    <a:pt x="621" y="190"/>
                  </a:lnTo>
                  <a:lnTo>
                    <a:pt x="623" y="188"/>
                  </a:lnTo>
                  <a:lnTo>
                    <a:pt x="623" y="188"/>
                  </a:lnTo>
                  <a:lnTo>
                    <a:pt x="623" y="188"/>
                  </a:lnTo>
                  <a:lnTo>
                    <a:pt x="623" y="186"/>
                  </a:lnTo>
                  <a:lnTo>
                    <a:pt x="623" y="186"/>
                  </a:lnTo>
                  <a:lnTo>
                    <a:pt x="623" y="184"/>
                  </a:lnTo>
                  <a:lnTo>
                    <a:pt x="625" y="184"/>
                  </a:lnTo>
                  <a:lnTo>
                    <a:pt x="625" y="184"/>
                  </a:lnTo>
                  <a:lnTo>
                    <a:pt x="625" y="182"/>
                  </a:lnTo>
                  <a:lnTo>
                    <a:pt x="625" y="182"/>
                  </a:lnTo>
                  <a:lnTo>
                    <a:pt x="627" y="180"/>
                  </a:lnTo>
                  <a:lnTo>
                    <a:pt x="627" y="180"/>
                  </a:lnTo>
                  <a:lnTo>
                    <a:pt x="627" y="178"/>
                  </a:lnTo>
                  <a:lnTo>
                    <a:pt x="627" y="177"/>
                  </a:lnTo>
                  <a:lnTo>
                    <a:pt x="631" y="171"/>
                  </a:lnTo>
                  <a:lnTo>
                    <a:pt x="631" y="169"/>
                  </a:lnTo>
                  <a:lnTo>
                    <a:pt x="631" y="169"/>
                  </a:lnTo>
                  <a:lnTo>
                    <a:pt x="629" y="167"/>
                  </a:lnTo>
                  <a:lnTo>
                    <a:pt x="629" y="167"/>
                  </a:lnTo>
                  <a:lnTo>
                    <a:pt x="629" y="167"/>
                  </a:lnTo>
                  <a:lnTo>
                    <a:pt x="627" y="167"/>
                  </a:lnTo>
                  <a:lnTo>
                    <a:pt x="627" y="167"/>
                  </a:lnTo>
                  <a:lnTo>
                    <a:pt x="625" y="167"/>
                  </a:lnTo>
                  <a:lnTo>
                    <a:pt x="625" y="169"/>
                  </a:lnTo>
                  <a:lnTo>
                    <a:pt x="625" y="169"/>
                  </a:lnTo>
                  <a:lnTo>
                    <a:pt x="625" y="169"/>
                  </a:lnTo>
                  <a:lnTo>
                    <a:pt x="625" y="169"/>
                  </a:lnTo>
                  <a:lnTo>
                    <a:pt x="625" y="169"/>
                  </a:lnTo>
                  <a:lnTo>
                    <a:pt x="623" y="173"/>
                  </a:lnTo>
                  <a:lnTo>
                    <a:pt x="623" y="173"/>
                  </a:lnTo>
                  <a:lnTo>
                    <a:pt x="623" y="173"/>
                  </a:lnTo>
                  <a:lnTo>
                    <a:pt x="621" y="173"/>
                  </a:lnTo>
                  <a:lnTo>
                    <a:pt x="621" y="173"/>
                  </a:lnTo>
                  <a:lnTo>
                    <a:pt x="614" y="175"/>
                  </a:lnTo>
                  <a:lnTo>
                    <a:pt x="614" y="175"/>
                  </a:lnTo>
                  <a:lnTo>
                    <a:pt x="614" y="175"/>
                  </a:lnTo>
                  <a:lnTo>
                    <a:pt x="612" y="175"/>
                  </a:lnTo>
                  <a:lnTo>
                    <a:pt x="612" y="175"/>
                  </a:lnTo>
                  <a:lnTo>
                    <a:pt x="612" y="175"/>
                  </a:lnTo>
                  <a:lnTo>
                    <a:pt x="614" y="175"/>
                  </a:lnTo>
                  <a:lnTo>
                    <a:pt x="617" y="178"/>
                  </a:lnTo>
                  <a:lnTo>
                    <a:pt x="617" y="178"/>
                  </a:lnTo>
                  <a:lnTo>
                    <a:pt x="617" y="180"/>
                  </a:lnTo>
                  <a:lnTo>
                    <a:pt x="617" y="180"/>
                  </a:lnTo>
                  <a:lnTo>
                    <a:pt x="617" y="180"/>
                  </a:lnTo>
                  <a:lnTo>
                    <a:pt x="615" y="182"/>
                  </a:lnTo>
                  <a:lnTo>
                    <a:pt x="614" y="182"/>
                  </a:lnTo>
                  <a:lnTo>
                    <a:pt x="614" y="182"/>
                  </a:lnTo>
                  <a:lnTo>
                    <a:pt x="612" y="182"/>
                  </a:lnTo>
                  <a:lnTo>
                    <a:pt x="610" y="182"/>
                  </a:lnTo>
                  <a:lnTo>
                    <a:pt x="610" y="182"/>
                  </a:lnTo>
                  <a:lnTo>
                    <a:pt x="610" y="182"/>
                  </a:lnTo>
                  <a:lnTo>
                    <a:pt x="606" y="178"/>
                  </a:lnTo>
                  <a:lnTo>
                    <a:pt x="606" y="178"/>
                  </a:lnTo>
                  <a:lnTo>
                    <a:pt x="606" y="177"/>
                  </a:lnTo>
                  <a:lnTo>
                    <a:pt x="604" y="175"/>
                  </a:lnTo>
                  <a:lnTo>
                    <a:pt x="604" y="175"/>
                  </a:lnTo>
                  <a:lnTo>
                    <a:pt x="604" y="175"/>
                  </a:lnTo>
                  <a:lnTo>
                    <a:pt x="602" y="175"/>
                  </a:lnTo>
                  <a:lnTo>
                    <a:pt x="602" y="175"/>
                  </a:lnTo>
                  <a:lnTo>
                    <a:pt x="602" y="175"/>
                  </a:lnTo>
                  <a:lnTo>
                    <a:pt x="602" y="175"/>
                  </a:lnTo>
                  <a:lnTo>
                    <a:pt x="602" y="177"/>
                  </a:lnTo>
                  <a:lnTo>
                    <a:pt x="602" y="177"/>
                  </a:lnTo>
                  <a:lnTo>
                    <a:pt x="602" y="178"/>
                  </a:lnTo>
                  <a:lnTo>
                    <a:pt x="602" y="178"/>
                  </a:lnTo>
                  <a:lnTo>
                    <a:pt x="602" y="178"/>
                  </a:lnTo>
                  <a:lnTo>
                    <a:pt x="600" y="178"/>
                  </a:lnTo>
                  <a:lnTo>
                    <a:pt x="600" y="178"/>
                  </a:lnTo>
                  <a:lnTo>
                    <a:pt x="598" y="178"/>
                  </a:lnTo>
                  <a:lnTo>
                    <a:pt x="596" y="178"/>
                  </a:lnTo>
                  <a:lnTo>
                    <a:pt x="595" y="178"/>
                  </a:lnTo>
                  <a:lnTo>
                    <a:pt x="593" y="178"/>
                  </a:lnTo>
                  <a:lnTo>
                    <a:pt x="593" y="178"/>
                  </a:lnTo>
                  <a:lnTo>
                    <a:pt x="593" y="178"/>
                  </a:lnTo>
                  <a:lnTo>
                    <a:pt x="593" y="178"/>
                  </a:lnTo>
                  <a:lnTo>
                    <a:pt x="593" y="180"/>
                  </a:lnTo>
                  <a:lnTo>
                    <a:pt x="593" y="180"/>
                  </a:lnTo>
                  <a:lnTo>
                    <a:pt x="595" y="182"/>
                  </a:lnTo>
                  <a:lnTo>
                    <a:pt x="595" y="182"/>
                  </a:lnTo>
                  <a:lnTo>
                    <a:pt x="595" y="182"/>
                  </a:lnTo>
                  <a:lnTo>
                    <a:pt x="598" y="184"/>
                  </a:lnTo>
                  <a:lnTo>
                    <a:pt x="598" y="184"/>
                  </a:lnTo>
                  <a:lnTo>
                    <a:pt x="598" y="184"/>
                  </a:lnTo>
                  <a:lnTo>
                    <a:pt x="598" y="186"/>
                  </a:lnTo>
                  <a:lnTo>
                    <a:pt x="595" y="188"/>
                  </a:lnTo>
                  <a:lnTo>
                    <a:pt x="595" y="188"/>
                  </a:lnTo>
                  <a:lnTo>
                    <a:pt x="593" y="188"/>
                  </a:lnTo>
                  <a:lnTo>
                    <a:pt x="593" y="188"/>
                  </a:lnTo>
                  <a:lnTo>
                    <a:pt x="593" y="188"/>
                  </a:lnTo>
                  <a:lnTo>
                    <a:pt x="591" y="184"/>
                  </a:lnTo>
                  <a:lnTo>
                    <a:pt x="589" y="184"/>
                  </a:lnTo>
                  <a:lnTo>
                    <a:pt x="589" y="182"/>
                  </a:lnTo>
                  <a:lnTo>
                    <a:pt x="589" y="184"/>
                  </a:lnTo>
                  <a:lnTo>
                    <a:pt x="589" y="184"/>
                  </a:lnTo>
                  <a:lnTo>
                    <a:pt x="589" y="184"/>
                  </a:lnTo>
                  <a:lnTo>
                    <a:pt x="589" y="186"/>
                  </a:lnTo>
                  <a:lnTo>
                    <a:pt x="589" y="188"/>
                  </a:lnTo>
                  <a:lnTo>
                    <a:pt x="589" y="188"/>
                  </a:lnTo>
                  <a:lnTo>
                    <a:pt x="587" y="188"/>
                  </a:lnTo>
                  <a:lnTo>
                    <a:pt x="587" y="188"/>
                  </a:lnTo>
                  <a:lnTo>
                    <a:pt x="587" y="188"/>
                  </a:lnTo>
                  <a:lnTo>
                    <a:pt x="585" y="188"/>
                  </a:lnTo>
                  <a:lnTo>
                    <a:pt x="585" y="188"/>
                  </a:lnTo>
                  <a:lnTo>
                    <a:pt x="583" y="188"/>
                  </a:lnTo>
                  <a:lnTo>
                    <a:pt x="581" y="188"/>
                  </a:lnTo>
                  <a:lnTo>
                    <a:pt x="579" y="188"/>
                  </a:lnTo>
                  <a:lnTo>
                    <a:pt x="577" y="188"/>
                  </a:lnTo>
                  <a:lnTo>
                    <a:pt x="577" y="188"/>
                  </a:lnTo>
                  <a:lnTo>
                    <a:pt x="577" y="186"/>
                  </a:lnTo>
                  <a:lnTo>
                    <a:pt x="575" y="186"/>
                  </a:lnTo>
                  <a:lnTo>
                    <a:pt x="575" y="182"/>
                  </a:lnTo>
                  <a:lnTo>
                    <a:pt x="575" y="182"/>
                  </a:lnTo>
                  <a:lnTo>
                    <a:pt x="575" y="180"/>
                  </a:lnTo>
                  <a:lnTo>
                    <a:pt x="575" y="180"/>
                  </a:lnTo>
                  <a:lnTo>
                    <a:pt x="575" y="180"/>
                  </a:lnTo>
                  <a:lnTo>
                    <a:pt x="575" y="180"/>
                  </a:lnTo>
                  <a:lnTo>
                    <a:pt x="577" y="180"/>
                  </a:lnTo>
                  <a:lnTo>
                    <a:pt x="577" y="180"/>
                  </a:lnTo>
                  <a:lnTo>
                    <a:pt x="579" y="180"/>
                  </a:lnTo>
                  <a:lnTo>
                    <a:pt x="579" y="180"/>
                  </a:lnTo>
                  <a:lnTo>
                    <a:pt x="581" y="178"/>
                  </a:lnTo>
                  <a:lnTo>
                    <a:pt x="583" y="177"/>
                  </a:lnTo>
                  <a:lnTo>
                    <a:pt x="583" y="177"/>
                  </a:lnTo>
                  <a:lnTo>
                    <a:pt x="583" y="175"/>
                  </a:lnTo>
                  <a:lnTo>
                    <a:pt x="583" y="175"/>
                  </a:lnTo>
                  <a:lnTo>
                    <a:pt x="585" y="175"/>
                  </a:lnTo>
                  <a:lnTo>
                    <a:pt x="585" y="175"/>
                  </a:lnTo>
                  <a:lnTo>
                    <a:pt x="585" y="175"/>
                  </a:lnTo>
                  <a:lnTo>
                    <a:pt x="587" y="173"/>
                  </a:lnTo>
                  <a:lnTo>
                    <a:pt x="589" y="173"/>
                  </a:lnTo>
                  <a:lnTo>
                    <a:pt x="589" y="173"/>
                  </a:lnTo>
                  <a:lnTo>
                    <a:pt x="589" y="171"/>
                  </a:lnTo>
                  <a:lnTo>
                    <a:pt x="591" y="171"/>
                  </a:lnTo>
                  <a:lnTo>
                    <a:pt x="591" y="171"/>
                  </a:lnTo>
                  <a:lnTo>
                    <a:pt x="589" y="171"/>
                  </a:lnTo>
                  <a:lnTo>
                    <a:pt x="589" y="169"/>
                  </a:lnTo>
                  <a:lnTo>
                    <a:pt x="589" y="169"/>
                  </a:lnTo>
                  <a:lnTo>
                    <a:pt x="589" y="167"/>
                  </a:lnTo>
                  <a:lnTo>
                    <a:pt x="589" y="165"/>
                  </a:lnTo>
                  <a:lnTo>
                    <a:pt x="589" y="165"/>
                  </a:lnTo>
                  <a:lnTo>
                    <a:pt x="587" y="165"/>
                  </a:lnTo>
                  <a:lnTo>
                    <a:pt x="587" y="165"/>
                  </a:lnTo>
                  <a:lnTo>
                    <a:pt x="587" y="165"/>
                  </a:lnTo>
                  <a:lnTo>
                    <a:pt x="587" y="165"/>
                  </a:lnTo>
                  <a:lnTo>
                    <a:pt x="585" y="165"/>
                  </a:lnTo>
                  <a:lnTo>
                    <a:pt x="585" y="165"/>
                  </a:lnTo>
                  <a:lnTo>
                    <a:pt x="585" y="165"/>
                  </a:lnTo>
                  <a:lnTo>
                    <a:pt x="585" y="163"/>
                  </a:lnTo>
                  <a:lnTo>
                    <a:pt x="585" y="163"/>
                  </a:lnTo>
                  <a:lnTo>
                    <a:pt x="583" y="161"/>
                  </a:lnTo>
                  <a:lnTo>
                    <a:pt x="583" y="161"/>
                  </a:lnTo>
                  <a:lnTo>
                    <a:pt x="581" y="161"/>
                  </a:lnTo>
                  <a:lnTo>
                    <a:pt x="581" y="159"/>
                  </a:lnTo>
                  <a:lnTo>
                    <a:pt x="581" y="159"/>
                  </a:lnTo>
                  <a:lnTo>
                    <a:pt x="579" y="156"/>
                  </a:lnTo>
                  <a:lnTo>
                    <a:pt x="579" y="152"/>
                  </a:lnTo>
                  <a:lnTo>
                    <a:pt x="579" y="152"/>
                  </a:lnTo>
                  <a:lnTo>
                    <a:pt x="579" y="150"/>
                  </a:lnTo>
                  <a:lnTo>
                    <a:pt x="577" y="148"/>
                  </a:lnTo>
                  <a:lnTo>
                    <a:pt x="577" y="148"/>
                  </a:lnTo>
                  <a:lnTo>
                    <a:pt x="575" y="148"/>
                  </a:lnTo>
                  <a:lnTo>
                    <a:pt x="575" y="148"/>
                  </a:lnTo>
                  <a:lnTo>
                    <a:pt x="574" y="148"/>
                  </a:lnTo>
                  <a:lnTo>
                    <a:pt x="572" y="148"/>
                  </a:lnTo>
                  <a:lnTo>
                    <a:pt x="572" y="148"/>
                  </a:lnTo>
                  <a:lnTo>
                    <a:pt x="572" y="148"/>
                  </a:lnTo>
                  <a:lnTo>
                    <a:pt x="570" y="148"/>
                  </a:lnTo>
                  <a:lnTo>
                    <a:pt x="570" y="148"/>
                  </a:lnTo>
                  <a:lnTo>
                    <a:pt x="568" y="148"/>
                  </a:lnTo>
                  <a:lnTo>
                    <a:pt x="568" y="148"/>
                  </a:lnTo>
                  <a:lnTo>
                    <a:pt x="568" y="150"/>
                  </a:lnTo>
                  <a:lnTo>
                    <a:pt x="568" y="150"/>
                  </a:lnTo>
                  <a:lnTo>
                    <a:pt x="566" y="150"/>
                  </a:lnTo>
                  <a:lnTo>
                    <a:pt x="562" y="154"/>
                  </a:lnTo>
                  <a:lnTo>
                    <a:pt x="562" y="154"/>
                  </a:lnTo>
                  <a:lnTo>
                    <a:pt x="562" y="154"/>
                  </a:lnTo>
                  <a:lnTo>
                    <a:pt x="560" y="154"/>
                  </a:lnTo>
                  <a:lnTo>
                    <a:pt x="558" y="152"/>
                  </a:lnTo>
                  <a:lnTo>
                    <a:pt x="553" y="156"/>
                  </a:lnTo>
                  <a:lnTo>
                    <a:pt x="551" y="158"/>
                  </a:lnTo>
                  <a:lnTo>
                    <a:pt x="549" y="159"/>
                  </a:lnTo>
                  <a:lnTo>
                    <a:pt x="545" y="161"/>
                  </a:lnTo>
                  <a:lnTo>
                    <a:pt x="543" y="163"/>
                  </a:lnTo>
                  <a:lnTo>
                    <a:pt x="541" y="163"/>
                  </a:lnTo>
                  <a:lnTo>
                    <a:pt x="539" y="163"/>
                  </a:lnTo>
                  <a:lnTo>
                    <a:pt x="537" y="165"/>
                  </a:lnTo>
                  <a:lnTo>
                    <a:pt x="535" y="165"/>
                  </a:lnTo>
                  <a:lnTo>
                    <a:pt x="535" y="165"/>
                  </a:lnTo>
                  <a:lnTo>
                    <a:pt x="535" y="167"/>
                  </a:lnTo>
                  <a:lnTo>
                    <a:pt x="535" y="167"/>
                  </a:lnTo>
                  <a:lnTo>
                    <a:pt x="535" y="167"/>
                  </a:lnTo>
                  <a:lnTo>
                    <a:pt x="535" y="169"/>
                  </a:lnTo>
                  <a:lnTo>
                    <a:pt x="535" y="169"/>
                  </a:lnTo>
                  <a:lnTo>
                    <a:pt x="537" y="169"/>
                  </a:lnTo>
                  <a:lnTo>
                    <a:pt x="537" y="171"/>
                  </a:lnTo>
                  <a:lnTo>
                    <a:pt x="539" y="173"/>
                  </a:lnTo>
                  <a:lnTo>
                    <a:pt x="539" y="173"/>
                  </a:lnTo>
                  <a:lnTo>
                    <a:pt x="539" y="175"/>
                  </a:lnTo>
                  <a:lnTo>
                    <a:pt x="537" y="175"/>
                  </a:lnTo>
                  <a:lnTo>
                    <a:pt x="537" y="175"/>
                  </a:lnTo>
                  <a:lnTo>
                    <a:pt x="535" y="175"/>
                  </a:lnTo>
                  <a:lnTo>
                    <a:pt x="534" y="177"/>
                  </a:lnTo>
                  <a:lnTo>
                    <a:pt x="532" y="177"/>
                  </a:lnTo>
                  <a:lnTo>
                    <a:pt x="532" y="177"/>
                  </a:lnTo>
                  <a:lnTo>
                    <a:pt x="530" y="175"/>
                  </a:lnTo>
                  <a:lnTo>
                    <a:pt x="530" y="175"/>
                  </a:lnTo>
                  <a:lnTo>
                    <a:pt x="530" y="175"/>
                  </a:lnTo>
                  <a:lnTo>
                    <a:pt x="530" y="173"/>
                  </a:lnTo>
                  <a:lnTo>
                    <a:pt x="526" y="175"/>
                  </a:lnTo>
                  <a:lnTo>
                    <a:pt x="520" y="175"/>
                  </a:lnTo>
                  <a:lnTo>
                    <a:pt x="518" y="175"/>
                  </a:lnTo>
                  <a:lnTo>
                    <a:pt x="516" y="173"/>
                  </a:lnTo>
                  <a:lnTo>
                    <a:pt x="513" y="173"/>
                  </a:lnTo>
                  <a:lnTo>
                    <a:pt x="511" y="171"/>
                  </a:lnTo>
                  <a:lnTo>
                    <a:pt x="511" y="171"/>
                  </a:lnTo>
                  <a:lnTo>
                    <a:pt x="509" y="171"/>
                  </a:lnTo>
                  <a:lnTo>
                    <a:pt x="509" y="171"/>
                  </a:lnTo>
                  <a:lnTo>
                    <a:pt x="507" y="173"/>
                  </a:lnTo>
                  <a:lnTo>
                    <a:pt x="507" y="173"/>
                  </a:lnTo>
                  <a:lnTo>
                    <a:pt x="505" y="177"/>
                  </a:lnTo>
                  <a:lnTo>
                    <a:pt x="505" y="177"/>
                  </a:lnTo>
                  <a:lnTo>
                    <a:pt x="505" y="178"/>
                  </a:lnTo>
                  <a:lnTo>
                    <a:pt x="503" y="178"/>
                  </a:lnTo>
                  <a:lnTo>
                    <a:pt x="501" y="178"/>
                  </a:lnTo>
                  <a:lnTo>
                    <a:pt x="501" y="178"/>
                  </a:lnTo>
                  <a:lnTo>
                    <a:pt x="501" y="178"/>
                  </a:lnTo>
                  <a:lnTo>
                    <a:pt x="499" y="178"/>
                  </a:lnTo>
                  <a:lnTo>
                    <a:pt x="499" y="177"/>
                  </a:lnTo>
                  <a:lnTo>
                    <a:pt x="499" y="177"/>
                  </a:lnTo>
                  <a:lnTo>
                    <a:pt x="499" y="177"/>
                  </a:lnTo>
                  <a:lnTo>
                    <a:pt x="499" y="175"/>
                  </a:lnTo>
                  <a:lnTo>
                    <a:pt x="497" y="175"/>
                  </a:lnTo>
                  <a:lnTo>
                    <a:pt x="495" y="175"/>
                  </a:lnTo>
                  <a:lnTo>
                    <a:pt x="495" y="175"/>
                  </a:lnTo>
                  <a:lnTo>
                    <a:pt x="495" y="177"/>
                  </a:lnTo>
                  <a:lnTo>
                    <a:pt x="495" y="177"/>
                  </a:lnTo>
                  <a:lnTo>
                    <a:pt x="495" y="178"/>
                  </a:lnTo>
                  <a:lnTo>
                    <a:pt x="495" y="180"/>
                  </a:lnTo>
                  <a:lnTo>
                    <a:pt x="495" y="180"/>
                  </a:lnTo>
                  <a:lnTo>
                    <a:pt x="495" y="182"/>
                  </a:lnTo>
                  <a:lnTo>
                    <a:pt x="492" y="182"/>
                  </a:lnTo>
                  <a:lnTo>
                    <a:pt x="490" y="182"/>
                  </a:lnTo>
                  <a:lnTo>
                    <a:pt x="490" y="182"/>
                  </a:lnTo>
                  <a:lnTo>
                    <a:pt x="490" y="180"/>
                  </a:lnTo>
                  <a:lnTo>
                    <a:pt x="490" y="180"/>
                  </a:lnTo>
                  <a:lnTo>
                    <a:pt x="490" y="178"/>
                  </a:lnTo>
                  <a:lnTo>
                    <a:pt x="490" y="177"/>
                  </a:lnTo>
                  <a:lnTo>
                    <a:pt x="490" y="175"/>
                  </a:lnTo>
                  <a:lnTo>
                    <a:pt x="490" y="175"/>
                  </a:lnTo>
                  <a:lnTo>
                    <a:pt x="490" y="175"/>
                  </a:lnTo>
                  <a:lnTo>
                    <a:pt x="492" y="171"/>
                  </a:lnTo>
                  <a:lnTo>
                    <a:pt x="494" y="171"/>
                  </a:lnTo>
                  <a:lnTo>
                    <a:pt x="495" y="167"/>
                  </a:lnTo>
                  <a:lnTo>
                    <a:pt x="497" y="163"/>
                  </a:lnTo>
                  <a:lnTo>
                    <a:pt x="499" y="161"/>
                  </a:lnTo>
                  <a:lnTo>
                    <a:pt x="499" y="159"/>
                  </a:lnTo>
                  <a:lnTo>
                    <a:pt x="499" y="159"/>
                  </a:lnTo>
                  <a:lnTo>
                    <a:pt x="497" y="159"/>
                  </a:lnTo>
                  <a:lnTo>
                    <a:pt x="497" y="159"/>
                  </a:lnTo>
                  <a:lnTo>
                    <a:pt x="495" y="161"/>
                  </a:lnTo>
                  <a:lnTo>
                    <a:pt x="495" y="161"/>
                  </a:lnTo>
                  <a:lnTo>
                    <a:pt x="494" y="161"/>
                  </a:lnTo>
                  <a:lnTo>
                    <a:pt x="494" y="161"/>
                  </a:lnTo>
                  <a:lnTo>
                    <a:pt x="494" y="161"/>
                  </a:lnTo>
                  <a:lnTo>
                    <a:pt x="492" y="161"/>
                  </a:lnTo>
                  <a:lnTo>
                    <a:pt x="490" y="161"/>
                  </a:lnTo>
                  <a:lnTo>
                    <a:pt x="490" y="163"/>
                  </a:lnTo>
                  <a:lnTo>
                    <a:pt x="490" y="163"/>
                  </a:lnTo>
                  <a:lnTo>
                    <a:pt x="490" y="163"/>
                  </a:lnTo>
                  <a:lnTo>
                    <a:pt x="490" y="165"/>
                  </a:lnTo>
                  <a:lnTo>
                    <a:pt x="488" y="165"/>
                  </a:lnTo>
                  <a:lnTo>
                    <a:pt x="488" y="165"/>
                  </a:lnTo>
                  <a:lnTo>
                    <a:pt x="488" y="165"/>
                  </a:lnTo>
                  <a:lnTo>
                    <a:pt x="486" y="165"/>
                  </a:lnTo>
                  <a:lnTo>
                    <a:pt x="486" y="163"/>
                  </a:lnTo>
                  <a:lnTo>
                    <a:pt x="486" y="161"/>
                  </a:lnTo>
                  <a:lnTo>
                    <a:pt x="486" y="161"/>
                  </a:lnTo>
                  <a:lnTo>
                    <a:pt x="486" y="159"/>
                  </a:lnTo>
                  <a:lnTo>
                    <a:pt x="486" y="159"/>
                  </a:lnTo>
                  <a:lnTo>
                    <a:pt x="486" y="159"/>
                  </a:lnTo>
                  <a:lnTo>
                    <a:pt x="488" y="156"/>
                  </a:lnTo>
                  <a:lnTo>
                    <a:pt x="488" y="154"/>
                  </a:lnTo>
                  <a:lnTo>
                    <a:pt x="488" y="154"/>
                  </a:lnTo>
                  <a:lnTo>
                    <a:pt x="488" y="152"/>
                  </a:lnTo>
                  <a:lnTo>
                    <a:pt x="488" y="152"/>
                  </a:lnTo>
                  <a:lnTo>
                    <a:pt x="486" y="152"/>
                  </a:lnTo>
                  <a:lnTo>
                    <a:pt x="484" y="156"/>
                  </a:lnTo>
                  <a:lnTo>
                    <a:pt x="482" y="158"/>
                  </a:lnTo>
                  <a:lnTo>
                    <a:pt x="482" y="159"/>
                  </a:lnTo>
                  <a:lnTo>
                    <a:pt x="482" y="159"/>
                  </a:lnTo>
                  <a:lnTo>
                    <a:pt x="482" y="161"/>
                  </a:lnTo>
                  <a:lnTo>
                    <a:pt x="486" y="169"/>
                  </a:lnTo>
                  <a:lnTo>
                    <a:pt x="486" y="171"/>
                  </a:lnTo>
                  <a:lnTo>
                    <a:pt x="486" y="171"/>
                  </a:lnTo>
                  <a:lnTo>
                    <a:pt x="486" y="173"/>
                  </a:lnTo>
                  <a:lnTo>
                    <a:pt x="484" y="173"/>
                  </a:lnTo>
                  <a:lnTo>
                    <a:pt x="484" y="173"/>
                  </a:lnTo>
                  <a:lnTo>
                    <a:pt x="482" y="173"/>
                  </a:lnTo>
                  <a:lnTo>
                    <a:pt x="480" y="171"/>
                  </a:lnTo>
                  <a:lnTo>
                    <a:pt x="480" y="171"/>
                  </a:lnTo>
                  <a:lnTo>
                    <a:pt x="478" y="173"/>
                  </a:lnTo>
                  <a:lnTo>
                    <a:pt x="478" y="173"/>
                  </a:lnTo>
                  <a:lnTo>
                    <a:pt x="476" y="171"/>
                  </a:lnTo>
                  <a:lnTo>
                    <a:pt x="474" y="171"/>
                  </a:lnTo>
                  <a:lnTo>
                    <a:pt x="474" y="171"/>
                  </a:lnTo>
                  <a:lnTo>
                    <a:pt x="473" y="173"/>
                  </a:lnTo>
                  <a:lnTo>
                    <a:pt x="473" y="173"/>
                  </a:lnTo>
                  <a:lnTo>
                    <a:pt x="473" y="175"/>
                  </a:lnTo>
                  <a:lnTo>
                    <a:pt x="471" y="175"/>
                  </a:lnTo>
                  <a:lnTo>
                    <a:pt x="471" y="175"/>
                  </a:lnTo>
                  <a:lnTo>
                    <a:pt x="469" y="175"/>
                  </a:lnTo>
                  <a:lnTo>
                    <a:pt x="469" y="175"/>
                  </a:lnTo>
                  <a:lnTo>
                    <a:pt x="469" y="171"/>
                  </a:lnTo>
                  <a:lnTo>
                    <a:pt x="469" y="169"/>
                  </a:lnTo>
                  <a:lnTo>
                    <a:pt x="467" y="169"/>
                  </a:lnTo>
                  <a:lnTo>
                    <a:pt x="467" y="169"/>
                  </a:lnTo>
                  <a:lnTo>
                    <a:pt x="463" y="171"/>
                  </a:lnTo>
                  <a:lnTo>
                    <a:pt x="461" y="171"/>
                  </a:lnTo>
                  <a:lnTo>
                    <a:pt x="461" y="173"/>
                  </a:lnTo>
                  <a:lnTo>
                    <a:pt x="459" y="171"/>
                  </a:lnTo>
                  <a:lnTo>
                    <a:pt x="459" y="171"/>
                  </a:lnTo>
                  <a:lnTo>
                    <a:pt x="459" y="171"/>
                  </a:lnTo>
                  <a:lnTo>
                    <a:pt x="459" y="169"/>
                  </a:lnTo>
                  <a:lnTo>
                    <a:pt x="459" y="167"/>
                  </a:lnTo>
                  <a:lnTo>
                    <a:pt x="459" y="167"/>
                  </a:lnTo>
                  <a:lnTo>
                    <a:pt x="463" y="163"/>
                  </a:lnTo>
                  <a:lnTo>
                    <a:pt x="463" y="163"/>
                  </a:lnTo>
                  <a:lnTo>
                    <a:pt x="463" y="163"/>
                  </a:lnTo>
                  <a:lnTo>
                    <a:pt x="463" y="163"/>
                  </a:lnTo>
                  <a:lnTo>
                    <a:pt x="461" y="163"/>
                  </a:lnTo>
                  <a:lnTo>
                    <a:pt x="461" y="161"/>
                  </a:lnTo>
                  <a:lnTo>
                    <a:pt x="461" y="161"/>
                  </a:lnTo>
                  <a:lnTo>
                    <a:pt x="461" y="161"/>
                  </a:lnTo>
                  <a:lnTo>
                    <a:pt x="459" y="161"/>
                  </a:lnTo>
                  <a:lnTo>
                    <a:pt x="459" y="161"/>
                  </a:lnTo>
                  <a:lnTo>
                    <a:pt x="457" y="161"/>
                  </a:lnTo>
                  <a:lnTo>
                    <a:pt x="457" y="161"/>
                  </a:lnTo>
                  <a:lnTo>
                    <a:pt x="457" y="161"/>
                  </a:lnTo>
                  <a:lnTo>
                    <a:pt x="457" y="163"/>
                  </a:lnTo>
                  <a:lnTo>
                    <a:pt x="457" y="165"/>
                  </a:lnTo>
                  <a:lnTo>
                    <a:pt x="457" y="165"/>
                  </a:lnTo>
                  <a:lnTo>
                    <a:pt x="455" y="167"/>
                  </a:lnTo>
                  <a:lnTo>
                    <a:pt x="455" y="167"/>
                  </a:lnTo>
                  <a:lnTo>
                    <a:pt x="454" y="167"/>
                  </a:lnTo>
                  <a:lnTo>
                    <a:pt x="454" y="167"/>
                  </a:lnTo>
                  <a:lnTo>
                    <a:pt x="452" y="167"/>
                  </a:lnTo>
                  <a:lnTo>
                    <a:pt x="452" y="169"/>
                  </a:lnTo>
                  <a:lnTo>
                    <a:pt x="450" y="171"/>
                  </a:lnTo>
                  <a:lnTo>
                    <a:pt x="448" y="171"/>
                  </a:lnTo>
                  <a:lnTo>
                    <a:pt x="448" y="173"/>
                  </a:lnTo>
                  <a:lnTo>
                    <a:pt x="446" y="171"/>
                  </a:lnTo>
                  <a:lnTo>
                    <a:pt x="446" y="171"/>
                  </a:lnTo>
                  <a:lnTo>
                    <a:pt x="446" y="169"/>
                  </a:lnTo>
                  <a:lnTo>
                    <a:pt x="446" y="167"/>
                  </a:lnTo>
                  <a:lnTo>
                    <a:pt x="446" y="165"/>
                  </a:lnTo>
                  <a:lnTo>
                    <a:pt x="448" y="163"/>
                  </a:lnTo>
                  <a:lnTo>
                    <a:pt x="448" y="163"/>
                  </a:lnTo>
                  <a:lnTo>
                    <a:pt x="450" y="161"/>
                  </a:lnTo>
                  <a:lnTo>
                    <a:pt x="452" y="159"/>
                  </a:lnTo>
                  <a:lnTo>
                    <a:pt x="452" y="159"/>
                  </a:lnTo>
                  <a:lnTo>
                    <a:pt x="452" y="159"/>
                  </a:lnTo>
                  <a:lnTo>
                    <a:pt x="454" y="158"/>
                  </a:lnTo>
                  <a:lnTo>
                    <a:pt x="454" y="158"/>
                  </a:lnTo>
                  <a:lnTo>
                    <a:pt x="452" y="156"/>
                  </a:lnTo>
                  <a:lnTo>
                    <a:pt x="452" y="154"/>
                  </a:lnTo>
                  <a:lnTo>
                    <a:pt x="454" y="154"/>
                  </a:lnTo>
                  <a:lnTo>
                    <a:pt x="454" y="150"/>
                  </a:lnTo>
                  <a:lnTo>
                    <a:pt x="455" y="150"/>
                  </a:lnTo>
                  <a:lnTo>
                    <a:pt x="455" y="146"/>
                  </a:lnTo>
                  <a:lnTo>
                    <a:pt x="455" y="146"/>
                  </a:lnTo>
                  <a:lnTo>
                    <a:pt x="455" y="144"/>
                  </a:lnTo>
                  <a:lnTo>
                    <a:pt x="454" y="144"/>
                  </a:lnTo>
                  <a:lnTo>
                    <a:pt x="454" y="144"/>
                  </a:lnTo>
                  <a:lnTo>
                    <a:pt x="454" y="144"/>
                  </a:lnTo>
                  <a:lnTo>
                    <a:pt x="452" y="144"/>
                  </a:lnTo>
                  <a:lnTo>
                    <a:pt x="452" y="144"/>
                  </a:lnTo>
                  <a:lnTo>
                    <a:pt x="450" y="144"/>
                  </a:lnTo>
                  <a:lnTo>
                    <a:pt x="450" y="144"/>
                  </a:lnTo>
                  <a:lnTo>
                    <a:pt x="450" y="144"/>
                  </a:lnTo>
                  <a:lnTo>
                    <a:pt x="450" y="142"/>
                  </a:lnTo>
                  <a:lnTo>
                    <a:pt x="452" y="140"/>
                  </a:lnTo>
                  <a:lnTo>
                    <a:pt x="452" y="140"/>
                  </a:lnTo>
                  <a:lnTo>
                    <a:pt x="452" y="139"/>
                  </a:lnTo>
                  <a:lnTo>
                    <a:pt x="452" y="137"/>
                  </a:lnTo>
                  <a:lnTo>
                    <a:pt x="450" y="137"/>
                  </a:lnTo>
                  <a:lnTo>
                    <a:pt x="450" y="135"/>
                  </a:lnTo>
                  <a:lnTo>
                    <a:pt x="448" y="135"/>
                  </a:lnTo>
                  <a:lnTo>
                    <a:pt x="448" y="135"/>
                  </a:lnTo>
                  <a:lnTo>
                    <a:pt x="446" y="137"/>
                  </a:lnTo>
                  <a:lnTo>
                    <a:pt x="446" y="137"/>
                  </a:lnTo>
                  <a:lnTo>
                    <a:pt x="446" y="139"/>
                  </a:lnTo>
                  <a:lnTo>
                    <a:pt x="446" y="139"/>
                  </a:lnTo>
                  <a:lnTo>
                    <a:pt x="444" y="140"/>
                  </a:lnTo>
                  <a:lnTo>
                    <a:pt x="444" y="140"/>
                  </a:lnTo>
                  <a:lnTo>
                    <a:pt x="446" y="144"/>
                  </a:lnTo>
                  <a:lnTo>
                    <a:pt x="446" y="146"/>
                  </a:lnTo>
                  <a:lnTo>
                    <a:pt x="444" y="146"/>
                  </a:lnTo>
                  <a:lnTo>
                    <a:pt x="444" y="146"/>
                  </a:lnTo>
                  <a:lnTo>
                    <a:pt x="442" y="148"/>
                  </a:lnTo>
                  <a:lnTo>
                    <a:pt x="440" y="146"/>
                  </a:lnTo>
                  <a:lnTo>
                    <a:pt x="440" y="146"/>
                  </a:lnTo>
                  <a:lnTo>
                    <a:pt x="440" y="144"/>
                  </a:lnTo>
                  <a:lnTo>
                    <a:pt x="440" y="140"/>
                  </a:lnTo>
                  <a:lnTo>
                    <a:pt x="440" y="139"/>
                  </a:lnTo>
                  <a:lnTo>
                    <a:pt x="440" y="139"/>
                  </a:lnTo>
                  <a:lnTo>
                    <a:pt x="440" y="139"/>
                  </a:lnTo>
                  <a:lnTo>
                    <a:pt x="438" y="137"/>
                  </a:lnTo>
                  <a:lnTo>
                    <a:pt x="436" y="137"/>
                  </a:lnTo>
                  <a:lnTo>
                    <a:pt x="436" y="139"/>
                  </a:lnTo>
                  <a:lnTo>
                    <a:pt x="434" y="139"/>
                  </a:lnTo>
                  <a:lnTo>
                    <a:pt x="434" y="139"/>
                  </a:lnTo>
                  <a:lnTo>
                    <a:pt x="433" y="139"/>
                  </a:lnTo>
                  <a:lnTo>
                    <a:pt x="433" y="140"/>
                  </a:lnTo>
                  <a:lnTo>
                    <a:pt x="433" y="142"/>
                  </a:lnTo>
                  <a:lnTo>
                    <a:pt x="433" y="142"/>
                  </a:lnTo>
                  <a:lnTo>
                    <a:pt x="434" y="144"/>
                  </a:lnTo>
                  <a:lnTo>
                    <a:pt x="434" y="146"/>
                  </a:lnTo>
                  <a:lnTo>
                    <a:pt x="434" y="146"/>
                  </a:lnTo>
                  <a:lnTo>
                    <a:pt x="434" y="148"/>
                  </a:lnTo>
                  <a:lnTo>
                    <a:pt x="434" y="148"/>
                  </a:lnTo>
                  <a:lnTo>
                    <a:pt x="434" y="150"/>
                  </a:lnTo>
                  <a:lnTo>
                    <a:pt x="434" y="150"/>
                  </a:lnTo>
                  <a:lnTo>
                    <a:pt x="434" y="150"/>
                  </a:lnTo>
                  <a:lnTo>
                    <a:pt x="434" y="152"/>
                  </a:lnTo>
                  <a:lnTo>
                    <a:pt x="434" y="154"/>
                  </a:lnTo>
                  <a:lnTo>
                    <a:pt x="434" y="154"/>
                  </a:lnTo>
                  <a:lnTo>
                    <a:pt x="433" y="154"/>
                  </a:lnTo>
                  <a:lnTo>
                    <a:pt x="433" y="154"/>
                  </a:lnTo>
                  <a:lnTo>
                    <a:pt x="433" y="154"/>
                  </a:lnTo>
                  <a:lnTo>
                    <a:pt x="431" y="152"/>
                  </a:lnTo>
                  <a:lnTo>
                    <a:pt x="431" y="152"/>
                  </a:lnTo>
                  <a:lnTo>
                    <a:pt x="429" y="150"/>
                  </a:lnTo>
                  <a:lnTo>
                    <a:pt x="429" y="150"/>
                  </a:lnTo>
                  <a:lnTo>
                    <a:pt x="427" y="148"/>
                  </a:lnTo>
                  <a:lnTo>
                    <a:pt x="427" y="148"/>
                  </a:lnTo>
                  <a:lnTo>
                    <a:pt x="427" y="148"/>
                  </a:lnTo>
                  <a:lnTo>
                    <a:pt x="425" y="148"/>
                  </a:lnTo>
                  <a:lnTo>
                    <a:pt x="423" y="148"/>
                  </a:lnTo>
                  <a:lnTo>
                    <a:pt x="421" y="148"/>
                  </a:lnTo>
                  <a:lnTo>
                    <a:pt x="421" y="148"/>
                  </a:lnTo>
                  <a:lnTo>
                    <a:pt x="419" y="148"/>
                  </a:lnTo>
                  <a:lnTo>
                    <a:pt x="419" y="148"/>
                  </a:lnTo>
                  <a:lnTo>
                    <a:pt x="419" y="150"/>
                  </a:lnTo>
                  <a:lnTo>
                    <a:pt x="419" y="150"/>
                  </a:lnTo>
                  <a:lnTo>
                    <a:pt x="419" y="150"/>
                  </a:lnTo>
                  <a:lnTo>
                    <a:pt x="419" y="152"/>
                  </a:lnTo>
                  <a:lnTo>
                    <a:pt x="419" y="152"/>
                  </a:lnTo>
                  <a:lnTo>
                    <a:pt x="419" y="152"/>
                  </a:lnTo>
                  <a:lnTo>
                    <a:pt x="417" y="154"/>
                  </a:lnTo>
                  <a:lnTo>
                    <a:pt x="417" y="154"/>
                  </a:lnTo>
                  <a:lnTo>
                    <a:pt x="415" y="158"/>
                  </a:lnTo>
                  <a:lnTo>
                    <a:pt x="413" y="159"/>
                  </a:lnTo>
                  <a:lnTo>
                    <a:pt x="413" y="159"/>
                  </a:lnTo>
                  <a:lnTo>
                    <a:pt x="413" y="161"/>
                  </a:lnTo>
                  <a:lnTo>
                    <a:pt x="413" y="161"/>
                  </a:lnTo>
                  <a:lnTo>
                    <a:pt x="413" y="163"/>
                  </a:lnTo>
                  <a:lnTo>
                    <a:pt x="413" y="163"/>
                  </a:lnTo>
                  <a:lnTo>
                    <a:pt x="415" y="163"/>
                  </a:lnTo>
                  <a:lnTo>
                    <a:pt x="417" y="165"/>
                  </a:lnTo>
                  <a:lnTo>
                    <a:pt x="417" y="167"/>
                  </a:lnTo>
                  <a:lnTo>
                    <a:pt x="419" y="169"/>
                  </a:lnTo>
                  <a:lnTo>
                    <a:pt x="423" y="177"/>
                  </a:lnTo>
                  <a:lnTo>
                    <a:pt x="423" y="178"/>
                  </a:lnTo>
                  <a:lnTo>
                    <a:pt x="423" y="182"/>
                  </a:lnTo>
                  <a:lnTo>
                    <a:pt x="425" y="194"/>
                  </a:lnTo>
                  <a:lnTo>
                    <a:pt x="427" y="196"/>
                  </a:lnTo>
                  <a:lnTo>
                    <a:pt x="427" y="198"/>
                  </a:lnTo>
                  <a:lnTo>
                    <a:pt x="431" y="201"/>
                  </a:lnTo>
                  <a:lnTo>
                    <a:pt x="433" y="203"/>
                  </a:lnTo>
                  <a:lnTo>
                    <a:pt x="433" y="205"/>
                  </a:lnTo>
                  <a:lnTo>
                    <a:pt x="434" y="207"/>
                  </a:lnTo>
                  <a:lnTo>
                    <a:pt x="434" y="209"/>
                  </a:lnTo>
                  <a:lnTo>
                    <a:pt x="434" y="213"/>
                  </a:lnTo>
                  <a:lnTo>
                    <a:pt x="434" y="217"/>
                  </a:lnTo>
                  <a:lnTo>
                    <a:pt x="434" y="218"/>
                  </a:lnTo>
                  <a:lnTo>
                    <a:pt x="434" y="218"/>
                  </a:lnTo>
                  <a:lnTo>
                    <a:pt x="434" y="218"/>
                  </a:lnTo>
                  <a:lnTo>
                    <a:pt x="433" y="220"/>
                  </a:lnTo>
                  <a:lnTo>
                    <a:pt x="433" y="222"/>
                  </a:lnTo>
                  <a:lnTo>
                    <a:pt x="433" y="224"/>
                  </a:lnTo>
                  <a:lnTo>
                    <a:pt x="433" y="224"/>
                  </a:lnTo>
                  <a:lnTo>
                    <a:pt x="433" y="226"/>
                  </a:lnTo>
                  <a:lnTo>
                    <a:pt x="434" y="226"/>
                  </a:lnTo>
                  <a:lnTo>
                    <a:pt x="434" y="228"/>
                  </a:lnTo>
                  <a:lnTo>
                    <a:pt x="436" y="228"/>
                  </a:lnTo>
                  <a:lnTo>
                    <a:pt x="436" y="226"/>
                  </a:lnTo>
                  <a:lnTo>
                    <a:pt x="440" y="226"/>
                  </a:lnTo>
                  <a:lnTo>
                    <a:pt x="442" y="226"/>
                  </a:lnTo>
                  <a:lnTo>
                    <a:pt x="442" y="226"/>
                  </a:lnTo>
                  <a:lnTo>
                    <a:pt x="444" y="226"/>
                  </a:lnTo>
                  <a:lnTo>
                    <a:pt x="446" y="226"/>
                  </a:lnTo>
                  <a:lnTo>
                    <a:pt x="446" y="228"/>
                  </a:lnTo>
                  <a:lnTo>
                    <a:pt x="448" y="230"/>
                  </a:lnTo>
                  <a:lnTo>
                    <a:pt x="448" y="230"/>
                  </a:lnTo>
                  <a:lnTo>
                    <a:pt x="448" y="232"/>
                  </a:lnTo>
                  <a:lnTo>
                    <a:pt x="448" y="234"/>
                  </a:lnTo>
                  <a:lnTo>
                    <a:pt x="450" y="236"/>
                  </a:lnTo>
                  <a:lnTo>
                    <a:pt x="452" y="237"/>
                  </a:lnTo>
                  <a:lnTo>
                    <a:pt x="452" y="237"/>
                  </a:lnTo>
                  <a:lnTo>
                    <a:pt x="450" y="239"/>
                  </a:lnTo>
                  <a:lnTo>
                    <a:pt x="450" y="239"/>
                  </a:lnTo>
                  <a:lnTo>
                    <a:pt x="450" y="241"/>
                  </a:lnTo>
                  <a:lnTo>
                    <a:pt x="450" y="241"/>
                  </a:lnTo>
                  <a:lnTo>
                    <a:pt x="450" y="241"/>
                  </a:lnTo>
                  <a:lnTo>
                    <a:pt x="452" y="241"/>
                  </a:lnTo>
                  <a:lnTo>
                    <a:pt x="452" y="241"/>
                  </a:lnTo>
                  <a:lnTo>
                    <a:pt x="452" y="243"/>
                  </a:lnTo>
                  <a:lnTo>
                    <a:pt x="454" y="243"/>
                  </a:lnTo>
                  <a:lnTo>
                    <a:pt x="455" y="243"/>
                  </a:lnTo>
                  <a:lnTo>
                    <a:pt x="457" y="243"/>
                  </a:lnTo>
                  <a:lnTo>
                    <a:pt x="457" y="247"/>
                  </a:lnTo>
                  <a:lnTo>
                    <a:pt x="455" y="249"/>
                  </a:lnTo>
                  <a:lnTo>
                    <a:pt x="455" y="251"/>
                  </a:lnTo>
                  <a:lnTo>
                    <a:pt x="454" y="251"/>
                  </a:lnTo>
                  <a:lnTo>
                    <a:pt x="454" y="253"/>
                  </a:lnTo>
                  <a:lnTo>
                    <a:pt x="454" y="253"/>
                  </a:lnTo>
                  <a:lnTo>
                    <a:pt x="450" y="256"/>
                  </a:lnTo>
                  <a:lnTo>
                    <a:pt x="448" y="258"/>
                  </a:lnTo>
                  <a:lnTo>
                    <a:pt x="448" y="260"/>
                  </a:lnTo>
                  <a:lnTo>
                    <a:pt x="446" y="264"/>
                  </a:lnTo>
                  <a:lnTo>
                    <a:pt x="444" y="266"/>
                  </a:lnTo>
                  <a:lnTo>
                    <a:pt x="442" y="268"/>
                  </a:lnTo>
                  <a:lnTo>
                    <a:pt x="440" y="268"/>
                  </a:lnTo>
                  <a:lnTo>
                    <a:pt x="440" y="270"/>
                  </a:lnTo>
                  <a:lnTo>
                    <a:pt x="438" y="268"/>
                  </a:lnTo>
                  <a:lnTo>
                    <a:pt x="436" y="268"/>
                  </a:lnTo>
                  <a:lnTo>
                    <a:pt x="436" y="266"/>
                  </a:lnTo>
                  <a:lnTo>
                    <a:pt x="436" y="264"/>
                  </a:lnTo>
                  <a:lnTo>
                    <a:pt x="436" y="264"/>
                  </a:lnTo>
                  <a:lnTo>
                    <a:pt x="436" y="262"/>
                  </a:lnTo>
                  <a:lnTo>
                    <a:pt x="434" y="262"/>
                  </a:lnTo>
                  <a:lnTo>
                    <a:pt x="434" y="262"/>
                  </a:lnTo>
                  <a:lnTo>
                    <a:pt x="433" y="262"/>
                  </a:lnTo>
                  <a:lnTo>
                    <a:pt x="431" y="262"/>
                  </a:lnTo>
                  <a:lnTo>
                    <a:pt x="429" y="262"/>
                  </a:lnTo>
                  <a:lnTo>
                    <a:pt x="427" y="260"/>
                  </a:lnTo>
                  <a:lnTo>
                    <a:pt x="425" y="260"/>
                  </a:lnTo>
                  <a:lnTo>
                    <a:pt x="423" y="256"/>
                  </a:lnTo>
                  <a:lnTo>
                    <a:pt x="421" y="256"/>
                  </a:lnTo>
                  <a:lnTo>
                    <a:pt x="415" y="251"/>
                  </a:lnTo>
                  <a:lnTo>
                    <a:pt x="413" y="251"/>
                  </a:lnTo>
                  <a:lnTo>
                    <a:pt x="412" y="249"/>
                  </a:lnTo>
                  <a:lnTo>
                    <a:pt x="410" y="249"/>
                  </a:lnTo>
                  <a:lnTo>
                    <a:pt x="410" y="249"/>
                  </a:lnTo>
                  <a:lnTo>
                    <a:pt x="410" y="251"/>
                  </a:lnTo>
                  <a:lnTo>
                    <a:pt x="408" y="251"/>
                  </a:lnTo>
                  <a:lnTo>
                    <a:pt x="408" y="253"/>
                  </a:lnTo>
                  <a:lnTo>
                    <a:pt x="408" y="253"/>
                  </a:lnTo>
                  <a:lnTo>
                    <a:pt x="408" y="255"/>
                  </a:lnTo>
                  <a:lnTo>
                    <a:pt x="408" y="255"/>
                  </a:lnTo>
                  <a:lnTo>
                    <a:pt x="408" y="256"/>
                  </a:lnTo>
                  <a:lnTo>
                    <a:pt x="408" y="256"/>
                  </a:lnTo>
                  <a:lnTo>
                    <a:pt x="406" y="258"/>
                  </a:lnTo>
                  <a:lnTo>
                    <a:pt x="406" y="258"/>
                  </a:lnTo>
                  <a:lnTo>
                    <a:pt x="404" y="260"/>
                  </a:lnTo>
                  <a:lnTo>
                    <a:pt x="402" y="260"/>
                  </a:lnTo>
                  <a:lnTo>
                    <a:pt x="400" y="260"/>
                  </a:lnTo>
                  <a:lnTo>
                    <a:pt x="398" y="260"/>
                  </a:lnTo>
                  <a:lnTo>
                    <a:pt x="398" y="258"/>
                  </a:lnTo>
                  <a:lnTo>
                    <a:pt x="396" y="258"/>
                  </a:lnTo>
                  <a:lnTo>
                    <a:pt x="396" y="256"/>
                  </a:lnTo>
                  <a:lnTo>
                    <a:pt x="396" y="255"/>
                  </a:lnTo>
                  <a:lnTo>
                    <a:pt x="396" y="255"/>
                  </a:lnTo>
                  <a:lnTo>
                    <a:pt x="398" y="251"/>
                  </a:lnTo>
                  <a:lnTo>
                    <a:pt x="398" y="251"/>
                  </a:lnTo>
                  <a:lnTo>
                    <a:pt x="398" y="249"/>
                  </a:lnTo>
                  <a:lnTo>
                    <a:pt x="398" y="249"/>
                  </a:lnTo>
                  <a:lnTo>
                    <a:pt x="396" y="249"/>
                  </a:lnTo>
                  <a:lnTo>
                    <a:pt x="394" y="247"/>
                  </a:lnTo>
                  <a:lnTo>
                    <a:pt x="393" y="247"/>
                  </a:lnTo>
                  <a:lnTo>
                    <a:pt x="393" y="245"/>
                  </a:lnTo>
                  <a:lnTo>
                    <a:pt x="391" y="243"/>
                  </a:lnTo>
                  <a:lnTo>
                    <a:pt x="391" y="243"/>
                  </a:lnTo>
                  <a:lnTo>
                    <a:pt x="391" y="243"/>
                  </a:lnTo>
                  <a:lnTo>
                    <a:pt x="389" y="241"/>
                  </a:lnTo>
                  <a:lnTo>
                    <a:pt x="389" y="241"/>
                  </a:lnTo>
                  <a:lnTo>
                    <a:pt x="389" y="241"/>
                  </a:lnTo>
                  <a:lnTo>
                    <a:pt x="387" y="239"/>
                  </a:lnTo>
                  <a:lnTo>
                    <a:pt x="387" y="239"/>
                  </a:lnTo>
                  <a:lnTo>
                    <a:pt x="387" y="237"/>
                  </a:lnTo>
                  <a:lnTo>
                    <a:pt x="389" y="234"/>
                  </a:lnTo>
                  <a:lnTo>
                    <a:pt x="391" y="232"/>
                  </a:lnTo>
                  <a:lnTo>
                    <a:pt x="391" y="230"/>
                  </a:lnTo>
                  <a:lnTo>
                    <a:pt x="391" y="228"/>
                  </a:lnTo>
                  <a:lnTo>
                    <a:pt x="391" y="228"/>
                  </a:lnTo>
                  <a:lnTo>
                    <a:pt x="391" y="226"/>
                  </a:lnTo>
                  <a:lnTo>
                    <a:pt x="391" y="226"/>
                  </a:lnTo>
                  <a:lnTo>
                    <a:pt x="391" y="224"/>
                  </a:lnTo>
                  <a:lnTo>
                    <a:pt x="391" y="224"/>
                  </a:lnTo>
                  <a:lnTo>
                    <a:pt x="391" y="220"/>
                  </a:lnTo>
                  <a:lnTo>
                    <a:pt x="389" y="218"/>
                  </a:lnTo>
                  <a:lnTo>
                    <a:pt x="389" y="218"/>
                  </a:lnTo>
                  <a:lnTo>
                    <a:pt x="387" y="217"/>
                  </a:lnTo>
                  <a:lnTo>
                    <a:pt x="387" y="215"/>
                  </a:lnTo>
                  <a:lnTo>
                    <a:pt x="387" y="213"/>
                  </a:lnTo>
                  <a:lnTo>
                    <a:pt x="387" y="211"/>
                  </a:lnTo>
                  <a:lnTo>
                    <a:pt x="385" y="205"/>
                  </a:lnTo>
                  <a:lnTo>
                    <a:pt x="385" y="205"/>
                  </a:lnTo>
                  <a:lnTo>
                    <a:pt x="383" y="205"/>
                  </a:lnTo>
                  <a:lnTo>
                    <a:pt x="383" y="205"/>
                  </a:lnTo>
                  <a:lnTo>
                    <a:pt x="381" y="203"/>
                  </a:lnTo>
                  <a:lnTo>
                    <a:pt x="381" y="201"/>
                  </a:lnTo>
                  <a:lnTo>
                    <a:pt x="383" y="201"/>
                  </a:lnTo>
                  <a:lnTo>
                    <a:pt x="387" y="198"/>
                  </a:lnTo>
                  <a:lnTo>
                    <a:pt x="391" y="196"/>
                  </a:lnTo>
                  <a:lnTo>
                    <a:pt x="394" y="192"/>
                  </a:lnTo>
                  <a:lnTo>
                    <a:pt x="396" y="190"/>
                  </a:lnTo>
                  <a:lnTo>
                    <a:pt x="396" y="188"/>
                  </a:lnTo>
                  <a:lnTo>
                    <a:pt x="398" y="184"/>
                  </a:lnTo>
                  <a:lnTo>
                    <a:pt x="396" y="182"/>
                  </a:lnTo>
                  <a:lnTo>
                    <a:pt x="396" y="180"/>
                  </a:lnTo>
                  <a:lnTo>
                    <a:pt x="396" y="180"/>
                  </a:lnTo>
                  <a:lnTo>
                    <a:pt x="398" y="178"/>
                  </a:lnTo>
                  <a:lnTo>
                    <a:pt x="398" y="177"/>
                  </a:lnTo>
                  <a:lnTo>
                    <a:pt x="398" y="175"/>
                  </a:lnTo>
                  <a:lnTo>
                    <a:pt x="400" y="173"/>
                  </a:lnTo>
                  <a:lnTo>
                    <a:pt x="400" y="171"/>
                  </a:lnTo>
                  <a:lnTo>
                    <a:pt x="400" y="169"/>
                  </a:lnTo>
                  <a:lnTo>
                    <a:pt x="400" y="169"/>
                  </a:lnTo>
                  <a:lnTo>
                    <a:pt x="398" y="167"/>
                  </a:lnTo>
                  <a:lnTo>
                    <a:pt x="394" y="156"/>
                  </a:lnTo>
                  <a:lnTo>
                    <a:pt x="393" y="154"/>
                  </a:lnTo>
                  <a:lnTo>
                    <a:pt x="391" y="154"/>
                  </a:lnTo>
                  <a:lnTo>
                    <a:pt x="391" y="152"/>
                  </a:lnTo>
                  <a:lnTo>
                    <a:pt x="389" y="150"/>
                  </a:lnTo>
                  <a:lnTo>
                    <a:pt x="389" y="150"/>
                  </a:lnTo>
                  <a:lnTo>
                    <a:pt x="391" y="148"/>
                  </a:lnTo>
                  <a:lnTo>
                    <a:pt x="391" y="148"/>
                  </a:lnTo>
                  <a:lnTo>
                    <a:pt x="396" y="142"/>
                  </a:lnTo>
                  <a:lnTo>
                    <a:pt x="398" y="140"/>
                  </a:lnTo>
                  <a:lnTo>
                    <a:pt x="398" y="135"/>
                  </a:lnTo>
                  <a:lnTo>
                    <a:pt x="400" y="133"/>
                  </a:lnTo>
                  <a:lnTo>
                    <a:pt x="408" y="131"/>
                  </a:lnTo>
                  <a:lnTo>
                    <a:pt x="412" y="131"/>
                  </a:lnTo>
                  <a:lnTo>
                    <a:pt x="412" y="131"/>
                  </a:lnTo>
                  <a:lnTo>
                    <a:pt x="415" y="131"/>
                  </a:lnTo>
                  <a:lnTo>
                    <a:pt x="417" y="131"/>
                  </a:lnTo>
                  <a:lnTo>
                    <a:pt x="417" y="131"/>
                  </a:lnTo>
                  <a:lnTo>
                    <a:pt x="419" y="131"/>
                  </a:lnTo>
                  <a:lnTo>
                    <a:pt x="419" y="129"/>
                  </a:lnTo>
                  <a:lnTo>
                    <a:pt x="423" y="127"/>
                  </a:lnTo>
                  <a:lnTo>
                    <a:pt x="433" y="125"/>
                  </a:lnTo>
                  <a:lnTo>
                    <a:pt x="434" y="123"/>
                  </a:lnTo>
                  <a:lnTo>
                    <a:pt x="436" y="123"/>
                  </a:lnTo>
                  <a:lnTo>
                    <a:pt x="436" y="123"/>
                  </a:lnTo>
                  <a:lnTo>
                    <a:pt x="436" y="123"/>
                  </a:lnTo>
                  <a:lnTo>
                    <a:pt x="436" y="121"/>
                  </a:lnTo>
                  <a:lnTo>
                    <a:pt x="436" y="121"/>
                  </a:lnTo>
                  <a:lnTo>
                    <a:pt x="436" y="120"/>
                  </a:lnTo>
                  <a:lnTo>
                    <a:pt x="434" y="118"/>
                  </a:lnTo>
                  <a:lnTo>
                    <a:pt x="434" y="116"/>
                  </a:lnTo>
                  <a:lnTo>
                    <a:pt x="433" y="116"/>
                  </a:lnTo>
                  <a:lnTo>
                    <a:pt x="433" y="114"/>
                  </a:lnTo>
                  <a:lnTo>
                    <a:pt x="433" y="114"/>
                  </a:lnTo>
                  <a:lnTo>
                    <a:pt x="434" y="112"/>
                  </a:lnTo>
                  <a:lnTo>
                    <a:pt x="434" y="110"/>
                  </a:lnTo>
                  <a:lnTo>
                    <a:pt x="434" y="108"/>
                  </a:lnTo>
                  <a:lnTo>
                    <a:pt x="434" y="108"/>
                  </a:lnTo>
                  <a:lnTo>
                    <a:pt x="436" y="106"/>
                  </a:lnTo>
                  <a:lnTo>
                    <a:pt x="438" y="106"/>
                  </a:lnTo>
                  <a:lnTo>
                    <a:pt x="438" y="106"/>
                  </a:lnTo>
                  <a:lnTo>
                    <a:pt x="440" y="104"/>
                  </a:lnTo>
                  <a:lnTo>
                    <a:pt x="442" y="101"/>
                  </a:lnTo>
                  <a:lnTo>
                    <a:pt x="444" y="97"/>
                  </a:lnTo>
                  <a:lnTo>
                    <a:pt x="448" y="93"/>
                  </a:lnTo>
                  <a:lnTo>
                    <a:pt x="448" y="91"/>
                  </a:lnTo>
                  <a:lnTo>
                    <a:pt x="448" y="89"/>
                  </a:lnTo>
                  <a:lnTo>
                    <a:pt x="448" y="87"/>
                  </a:lnTo>
                  <a:lnTo>
                    <a:pt x="450" y="83"/>
                  </a:lnTo>
                  <a:lnTo>
                    <a:pt x="454" y="78"/>
                  </a:lnTo>
                  <a:lnTo>
                    <a:pt x="454" y="78"/>
                  </a:lnTo>
                  <a:lnTo>
                    <a:pt x="454" y="76"/>
                  </a:lnTo>
                  <a:lnTo>
                    <a:pt x="454" y="76"/>
                  </a:lnTo>
                  <a:lnTo>
                    <a:pt x="452" y="74"/>
                  </a:lnTo>
                  <a:lnTo>
                    <a:pt x="452" y="74"/>
                  </a:lnTo>
                  <a:lnTo>
                    <a:pt x="452" y="72"/>
                  </a:lnTo>
                  <a:lnTo>
                    <a:pt x="452" y="70"/>
                  </a:lnTo>
                  <a:lnTo>
                    <a:pt x="452" y="70"/>
                  </a:lnTo>
                  <a:lnTo>
                    <a:pt x="452" y="70"/>
                  </a:lnTo>
                  <a:lnTo>
                    <a:pt x="454" y="68"/>
                  </a:lnTo>
                  <a:lnTo>
                    <a:pt x="454" y="68"/>
                  </a:lnTo>
                  <a:lnTo>
                    <a:pt x="455" y="68"/>
                  </a:lnTo>
                  <a:lnTo>
                    <a:pt x="454" y="66"/>
                  </a:lnTo>
                  <a:lnTo>
                    <a:pt x="454" y="64"/>
                  </a:lnTo>
                  <a:lnTo>
                    <a:pt x="454" y="64"/>
                  </a:lnTo>
                  <a:lnTo>
                    <a:pt x="454" y="62"/>
                  </a:lnTo>
                  <a:lnTo>
                    <a:pt x="454" y="61"/>
                  </a:lnTo>
                  <a:lnTo>
                    <a:pt x="454" y="61"/>
                  </a:lnTo>
                  <a:lnTo>
                    <a:pt x="454" y="59"/>
                  </a:lnTo>
                  <a:lnTo>
                    <a:pt x="455" y="59"/>
                  </a:lnTo>
                  <a:lnTo>
                    <a:pt x="455" y="59"/>
                  </a:lnTo>
                  <a:lnTo>
                    <a:pt x="457" y="59"/>
                  </a:lnTo>
                  <a:lnTo>
                    <a:pt x="459" y="59"/>
                  </a:lnTo>
                  <a:lnTo>
                    <a:pt x="461" y="57"/>
                  </a:lnTo>
                  <a:lnTo>
                    <a:pt x="461" y="57"/>
                  </a:lnTo>
                  <a:lnTo>
                    <a:pt x="461" y="55"/>
                  </a:lnTo>
                  <a:lnTo>
                    <a:pt x="463" y="53"/>
                  </a:lnTo>
                  <a:lnTo>
                    <a:pt x="465" y="51"/>
                  </a:lnTo>
                  <a:lnTo>
                    <a:pt x="465" y="51"/>
                  </a:lnTo>
                  <a:lnTo>
                    <a:pt x="463" y="51"/>
                  </a:lnTo>
                  <a:lnTo>
                    <a:pt x="463" y="51"/>
                  </a:lnTo>
                  <a:lnTo>
                    <a:pt x="463" y="49"/>
                  </a:lnTo>
                  <a:lnTo>
                    <a:pt x="463" y="49"/>
                  </a:lnTo>
                  <a:lnTo>
                    <a:pt x="463" y="45"/>
                  </a:lnTo>
                  <a:lnTo>
                    <a:pt x="463" y="42"/>
                  </a:lnTo>
                  <a:lnTo>
                    <a:pt x="463" y="40"/>
                  </a:lnTo>
                  <a:lnTo>
                    <a:pt x="461" y="36"/>
                  </a:lnTo>
                  <a:lnTo>
                    <a:pt x="455" y="28"/>
                  </a:lnTo>
                  <a:lnTo>
                    <a:pt x="455" y="26"/>
                  </a:lnTo>
                  <a:lnTo>
                    <a:pt x="454" y="23"/>
                  </a:lnTo>
                  <a:lnTo>
                    <a:pt x="454" y="19"/>
                  </a:lnTo>
                  <a:lnTo>
                    <a:pt x="454" y="19"/>
                  </a:lnTo>
                  <a:lnTo>
                    <a:pt x="454" y="19"/>
                  </a:lnTo>
                  <a:lnTo>
                    <a:pt x="454" y="17"/>
                  </a:lnTo>
                  <a:lnTo>
                    <a:pt x="454" y="17"/>
                  </a:lnTo>
                  <a:lnTo>
                    <a:pt x="452" y="15"/>
                  </a:lnTo>
                  <a:lnTo>
                    <a:pt x="452" y="15"/>
                  </a:lnTo>
                  <a:lnTo>
                    <a:pt x="450" y="15"/>
                  </a:lnTo>
                  <a:lnTo>
                    <a:pt x="446" y="15"/>
                  </a:lnTo>
                  <a:lnTo>
                    <a:pt x="446" y="15"/>
                  </a:lnTo>
                  <a:lnTo>
                    <a:pt x="444" y="15"/>
                  </a:lnTo>
                  <a:lnTo>
                    <a:pt x="442" y="11"/>
                  </a:lnTo>
                  <a:lnTo>
                    <a:pt x="440" y="9"/>
                  </a:lnTo>
                  <a:lnTo>
                    <a:pt x="438" y="9"/>
                  </a:lnTo>
                  <a:lnTo>
                    <a:pt x="438" y="9"/>
                  </a:lnTo>
                  <a:lnTo>
                    <a:pt x="436" y="9"/>
                  </a:lnTo>
                  <a:lnTo>
                    <a:pt x="436" y="7"/>
                  </a:lnTo>
                  <a:lnTo>
                    <a:pt x="436" y="7"/>
                  </a:lnTo>
                  <a:lnTo>
                    <a:pt x="434" y="5"/>
                  </a:lnTo>
                  <a:lnTo>
                    <a:pt x="434" y="7"/>
                  </a:lnTo>
                  <a:lnTo>
                    <a:pt x="433" y="7"/>
                  </a:lnTo>
                  <a:lnTo>
                    <a:pt x="433" y="5"/>
                  </a:lnTo>
                  <a:lnTo>
                    <a:pt x="431" y="5"/>
                  </a:lnTo>
                  <a:lnTo>
                    <a:pt x="427" y="7"/>
                  </a:lnTo>
                  <a:lnTo>
                    <a:pt x="425" y="7"/>
                  </a:lnTo>
                  <a:lnTo>
                    <a:pt x="423" y="7"/>
                  </a:lnTo>
                  <a:lnTo>
                    <a:pt x="423" y="7"/>
                  </a:lnTo>
                  <a:lnTo>
                    <a:pt x="423" y="7"/>
                  </a:lnTo>
                  <a:lnTo>
                    <a:pt x="421" y="9"/>
                  </a:lnTo>
                  <a:lnTo>
                    <a:pt x="421" y="9"/>
                  </a:lnTo>
                  <a:lnTo>
                    <a:pt x="419" y="9"/>
                  </a:lnTo>
                  <a:lnTo>
                    <a:pt x="417" y="9"/>
                  </a:lnTo>
                  <a:lnTo>
                    <a:pt x="413" y="7"/>
                  </a:lnTo>
                  <a:lnTo>
                    <a:pt x="412" y="7"/>
                  </a:lnTo>
                  <a:lnTo>
                    <a:pt x="410" y="5"/>
                  </a:lnTo>
                  <a:lnTo>
                    <a:pt x="408" y="5"/>
                  </a:lnTo>
                  <a:lnTo>
                    <a:pt x="406" y="4"/>
                  </a:lnTo>
                  <a:lnTo>
                    <a:pt x="406" y="4"/>
                  </a:lnTo>
                  <a:lnTo>
                    <a:pt x="406" y="4"/>
                  </a:lnTo>
                  <a:lnTo>
                    <a:pt x="404" y="4"/>
                  </a:lnTo>
                  <a:lnTo>
                    <a:pt x="402" y="4"/>
                  </a:lnTo>
                  <a:lnTo>
                    <a:pt x="402" y="2"/>
                  </a:lnTo>
                  <a:lnTo>
                    <a:pt x="400" y="0"/>
                  </a:lnTo>
                  <a:lnTo>
                    <a:pt x="398" y="0"/>
                  </a:lnTo>
                  <a:lnTo>
                    <a:pt x="396" y="0"/>
                  </a:lnTo>
                  <a:lnTo>
                    <a:pt x="393" y="0"/>
                  </a:lnTo>
                  <a:lnTo>
                    <a:pt x="393" y="0"/>
                  </a:lnTo>
                  <a:lnTo>
                    <a:pt x="391" y="0"/>
                  </a:lnTo>
                  <a:lnTo>
                    <a:pt x="391" y="4"/>
                  </a:lnTo>
                  <a:lnTo>
                    <a:pt x="391" y="4"/>
                  </a:lnTo>
                  <a:lnTo>
                    <a:pt x="389" y="4"/>
                  </a:lnTo>
                  <a:lnTo>
                    <a:pt x="387" y="4"/>
                  </a:lnTo>
                  <a:lnTo>
                    <a:pt x="385" y="4"/>
                  </a:lnTo>
                  <a:lnTo>
                    <a:pt x="383" y="4"/>
                  </a:lnTo>
                  <a:lnTo>
                    <a:pt x="381" y="4"/>
                  </a:lnTo>
                  <a:lnTo>
                    <a:pt x="381" y="5"/>
                  </a:lnTo>
                  <a:lnTo>
                    <a:pt x="381" y="7"/>
                  </a:lnTo>
                  <a:lnTo>
                    <a:pt x="377" y="5"/>
                  </a:lnTo>
                  <a:lnTo>
                    <a:pt x="375" y="5"/>
                  </a:lnTo>
                  <a:lnTo>
                    <a:pt x="375" y="7"/>
                  </a:lnTo>
                  <a:lnTo>
                    <a:pt x="375" y="9"/>
                  </a:lnTo>
                  <a:lnTo>
                    <a:pt x="375" y="9"/>
                  </a:lnTo>
                  <a:lnTo>
                    <a:pt x="375" y="11"/>
                  </a:lnTo>
                  <a:lnTo>
                    <a:pt x="375" y="11"/>
                  </a:lnTo>
                  <a:lnTo>
                    <a:pt x="375" y="13"/>
                  </a:lnTo>
                  <a:lnTo>
                    <a:pt x="373" y="13"/>
                  </a:lnTo>
                  <a:lnTo>
                    <a:pt x="373" y="15"/>
                  </a:lnTo>
                  <a:lnTo>
                    <a:pt x="373" y="17"/>
                  </a:lnTo>
                  <a:lnTo>
                    <a:pt x="373" y="17"/>
                  </a:lnTo>
                  <a:lnTo>
                    <a:pt x="372" y="17"/>
                  </a:lnTo>
                  <a:lnTo>
                    <a:pt x="372" y="17"/>
                  </a:lnTo>
                  <a:lnTo>
                    <a:pt x="370" y="17"/>
                  </a:lnTo>
                  <a:lnTo>
                    <a:pt x="370" y="17"/>
                  </a:lnTo>
                  <a:lnTo>
                    <a:pt x="368" y="17"/>
                  </a:lnTo>
                  <a:lnTo>
                    <a:pt x="368" y="17"/>
                  </a:lnTo>
                  <a:lnTo>
                    <a:pt x="366" y="17"/>
                  </a:lnTo>
                  <a:lnTo>
                    <a:pt x="364" y="17"/>
                  </a:lnTo>
                  <a:lnTo>
                    <a:pt x="362" y="19"/>
                  </a:lnTo>
                  <a:lnTo>
                    <a:pt x="360" y="19"/>
                  </a:lnTo>
                  <a:lnTo>
                    <a:pt x="358" y="19"/>
                  </a:lnTo>
                  <a:lnTo>
                    <a:pt x="356" y="19"/>
                  </a:lnTo>
                  <a:lnTo>
                    <a:pt x="356" y="21"/>
                  </a:lnTo>
                  <a:lnTo>
                    <a:pt x="356" y="21"/>
                  </a:lnTo>
                  <a:lnTo>
                    <a:pt x="356" y="23"/>
                  </a:lnTo>
                  <a:lnTo>
                    <a:pt x="354" y="23"/>
                  </a:lnTo>
                  <a:lnTo>
                    <a:pt x="354" y="24"/>
                  </a:lnTo>
                  <a:lnTo>
                    <a:pt x="349" y="24"/>
                  </a:lnTo>
                  <a:lnTo>
                    <a:pt x="351" y="28"/>
                  </a:lnTo>
                  <a:lnTo>
                    <a:pt x="349" y="30"/>
                  </a:lnTo>
                  <a:lnTo>
                    <a:pt x="345" y="32"/>
                  </a:lnTo>
                  <a:lnTo>
                    <a:pt x="343" y="32"/>
                  </a:lnTo>
                  <a:lnTo>
                    <a:pt x="341" y="34"/>
                  </a:lnTo>
                  <a:lnTo>
                    <a:pt x="339" y="36"/>
                  </a:lnTo>
                  <a:lnTo>
                    <a:pt x="339" y="36"/>
                  </a:lnTo>
                  <a:lnTo>
                    <a:pt x="337" y="36"/>
                  </a:lnTo>
                  <a:lnTo>
                    <a:pt x="333" y="38"/>
                  </a:lnTo>
                  <a:lnTo>
                    <a:pt x="332" y="38"/>
                  </a:lnTo>
                  <a:lnTo>
                    <a:pt x="332" y="38"/>
                  </a:lnTo>
                  <a:lnTo>
                    <a:pt x="326" y="42"/>
                  </a:lnTo>
                  <a:lnTo>
                    <a:pt x="322" y="43"/>
                  </a:lnTo>
                  <a:lnTo>
                    <a:pt x="322" y="45"/>
                  </a:lnTo>
                  <a:lnTo>
                    <a:pt x="320" y="45"/>
                  </a:lnTo>
                  <a:lnTo>
                    <a:pt x="316" y="45"/>
                  </a:lnTo>
                  <a:lnTo>
                    <a:pt x="314" y="45"/>
                  </a:lnTo>
                  <a:lnTo>
                    <a:pt x="314" y="47"/>
                  </a:lnTo>
                  <a:lnTo>
                    <a:pt x="314" y="47"/>
                  </a:lnTo>
                  <a:lnTo>
                    <a:pt x="314" y="49"/>
                  </a:lnTo>
                  <a:lnTo>
                    <a:pt x="313" y="49"/>
                  </a:lnTo>
                  <a:lnTo>
                    <a:pt x="311" y="49"/>
                  </a:lnTo>
                  <a:lnTo>
                    <a:pt x="311" y="49"/>
                  </a:lnTo>
                  <a:lnTo>
                    <a:pt x="309" y="51"/>
                  </a:lnTo>
                  <a:lnTo>
                    <a:pt x="307" y="49"/>
                  </a:lnTo>
                  <a:lnTo>
                    <a:pt x="305" y="51"/>
                  </a:lnTo>
                  <a:lnTo>
                    <a:pt x="303" y="51"/>
                  </a:lnTo>
                  <a:lnTo>
                    <a:pt x="303" y="53"/>
                  </a:lnTo>
                  <a:lnTo>
                    <a:pt x="301" y="55"/>
                  </a:lnTo>
                  <a:lnTo>
                    <a:pt x="301" y="57"/>
                  </a:lnTo>
                  <a:lnTo>
                    <a:pt x="301" y="57"/>
                  </a:lnTo>
                  <a:lnTo>
                    <a:pt x="299" y="57"/>
                  </a:lnTo>
                  <a:lnTo>
                    <a:pt x="299" y="59"/>
                  </a:lnTo>
                  <a:lnTo>
                    <a:pt x="297" y="59"/>
                  </a:lnTo>
                  <a:lnTo>
                    <a:pt x="295" y="61"/>
                  </a:lnTo>
                  <a:lnTo>
                    <a:pt x="293" y="62"/>
                  </a:lnTo>
                  <a:lnTo>
                    <a:pt x="290" y="62"/>
                  </a:lnTo>
                  <a:lnTo>
                    <a:pt x="288" y="62"/>
                  </a:lnTo>
                  <a:lnTo>
                    <a:pt x="286" y="62"/>
                  </a:lnTo>
                  <a:lnTo>
                    <a:pt x="284" y="64"/>
                  </a:lnTo>
                  <a:lnTo>
                    <a:pt x="282" y="66"/>
                  </a:lnTo>
                  <a:lnTo>
                    <a:pt x="282" y="66"/>
                  </a:lnTo>
                  <a:lnTo>
                    <a:pt x="282" y="68"/>
                  </a:lnTo>
                  <a:lnTo>
                    <a:pt x="282" y="68"/>
                  </a:lnTo>
                  <a:lnTo>
                    <a:pt x="280" y="68"/>
                  </a:lnTo>
                  <a:lnTo>
                    <a:pt x="280" y="68"/>
                  </a:lnTo>
                  <a:lnTo>
                    <a:pt x="278" y="68"/>
                  </a:lnTo>
                  <a:lnTo>
                    <a:pt x="276" y="70"/>
                  </a:lnTo>
                  <a:lnTo>
                    <a:pt x="274" y="70"/>
                  </a:lnTo>
                  <a:lnTo>
                    <a:pt x="274" y="72"/>
                  </a:lnTo>
                  <a:lnTo>
                    <a:pt x="274" y="72"/>
                  </a:lnTo>
                  <a:lnTo>
                    <a:pt x="272" y="74"/>
                  </a:lnTo>
                  <a:lnTo>
                    <a:pt x="271" y="74"/>
                  </a:lnTo>
                  <a:lnTo>
                    <a:pt x="271" y="76"/>
                  </a:lnTo>
                  <a:lnTo>
                    <a:pt x="269" y="76"/>
                  </a:lnTo>
                  <a:lnTo>
                    <a:pt x="269" y="78"/>
                  </a:lnTo>
                  <a:lnTo>
                    <a:pt x="265" y="78"/>
                  </a:lnTo>
                  <a:lnTo>
                    <a:pt x="265" y="78"/>
                  </a:lnTo>
                  <a:lnTo>
                    <a:pt x="265" y="80"/>
                  </a:lnTo>
                  <a:lnTo>
                    <a:pt x="265" y="80"/>
                  </a:lnTo>
                  <a:lnTo>
                    <a:pt x="263" y="81"/>
                  </a:lnTo>
                  <a:lnTo>
                    <a:pt x="263" y="81"/>
                  </a:lnTo>
                  <a:lnTo>
                    <a:pt x="257" y="85"/>
                  </a:lnTo>
                  <a:lnTo>
                    <a:pt x="255" y="87"/>
                  </a:lnTo>
                  <a:lnTo>
                    <a:pt x="255" y="87"/>
                  </a:lnTo>
                  <a:lnTo>
                    <a:pt x="255" y="89"/>
                  </a:lnTo>
                  <a:lnTo>
                    <a:pt x="255" y="91"/>
                  </a:lnTo>
                  <a:lnTo>
                    <a:pt x="255" y="91"/>
                  </a:lnTo>
                  <a:lnTo>
                    <a:pt x="253" y="91"/>
                  </a:lnTo>
                  <a:lnTo>
                    <a:pt x="253" y="91"/>
                  </a:lnTo>
                  <a:lnTo>
                    <a:pt x="253" y="93"/>
                  </a:lnTo>
                  <a:lnTo>
                    <a:pt x="252" y="93"/>
                  </a:lnTo>
                  <a:lnTo>
                    <a:pt x="250" y="95"/>
                  </a:lnTo>
                  <a:lnTo>
                    <a:pt x="250" y="97"/>
                  </a:lnTo>
                  <a:lnTo>
                    <a:pt x="248" y="97"/>
                  </a:lnTo>
                  <a:lnTo>
                    <a:pt x="246" y="97"/>
                  </a:lnTo>
                  <a:lnTo>
                    <a:pt x="242" y="95"/>
                  </a:lnTo>
                  <a:lnTo>
                    <a:pt x="240" y="95"/>
                  </a:lnTo>
                  <a:lnTo>
                    <a:pt x="240" y="97"/>
                  </a:lnTo>
                  <a:lnTo>
                    <a:pt x="240" y="99"/>
                  </a:lnTo>
                  <a:lnTo>
                    <a:pt x="238" y="99"/>
                  </a:lnTo>
                  <a:lnTo>
                    <a:pt x="238" y="101"/>
                  </a:lnTo>
                  <a:lnTo>
                    <a:pt x="236" y="101"/>
                  </a:lnTo>
                  <a:lnTo>
                    <a:pt x="236" y="101"/>
                  </a:lnTo>
                  <a:lnTo>
                    <a:pt x="232" y="102"/>
                  </a:lnTo>
                  <a:lnTo>
                    <a:pt x="232" y="102"/>
                  </a:lnTo>
                  <a:lnTo>
                    <a:pt x="232" y="102"/>
                  </a:lnTo>
                  <a:lnTo>
                    <a:pt x="231" y="106"/>
                  </a:lnTo>
                  <a:lnTo>
                    <a:pt x="229" y="108"/>
                  </a:lnTo>
                  <a:lnTo>
                    <a:pt x="229" y="110"/>
                  </a:lnTo>
                  <a:lnTo>
                    <a:pt x="229" y="112"/>
                  </a:lnTo>
                  <a:lnTo>
                    <a:pt x="229" y="114"/>
                  </a:lnTo>
                  <a:lnTo>
                    <a:pt x="229" y="114"/>
                  </a:lnTo>
                  <a:lnTo>
                    <a:pt x="227" y="114"/>
                  </a:lnTo>
                  <a:lnTo>
                    <a:pt x="227" y="116"/>
                  </a:lnTo>
                  <a:lnTo>
                    <a:pt x="225" y="116"/>
                  </a:lnTo>
                  <a:lnTo>
                    <a:pt x="227" y="118"/>
                  </a:lnTo>
                  <a:lnTo>
                    <a:pt x="227" y="118"/>
                  </a:lnTo>
                  <a:lnTo>
                    <a:pt x="227" y="120"/>
                  </a:lnTo>
                  <a:lnTo>
                    <a:pt x="231" y="133"/>
                  </a:lnTo>
                  <a:lnTo>
                    <a:pt x="232" y="139"/>
                  </a:lnTo>
                  <a:lnTo>
                    <a:pt x="232" y="142"/>
                  </a:lnTo>
                  <a:lnTo>
                    <a:pt x="232" y="142"/>
                  </a:lnTo>
                  <a:lnTo>
                    <a:pt x="232" y="144"/>
                  </a:lnTo>
                  <a:lnTo>
                    <a:pt x="234" y="144"/>
                  </a:lnTo>
                  <a:lnTo>
                    <a:pt x="234" y="144"/>
                  </a:lnTo>
                  <a:lnTo>
                    <a:pt x="236" y="144"/>
                  </a:lnTo>
                  <a:lnTo>
                    <a:pt x="236" y="144"/>
                  </a:lnTo>
                  <a:lnTo>
                    <a:pt x="238" y="146"/>
                  </a:lnTo>
                  <a:lnTo>
                    <a:pt x="240" y="150"/>
                  </a:lnTo>
                  <a:lnTo>
                    <a:pt x="240" y="150"/>
                  </a:lnTo>
                  <a:lnTo>
                    <a:pt x="242" y="152"/>
                  </a:lnTo>
                  <a:lnTo>
                    <a:pt x="242" y="152"/>
                  </a:lnTo>
                  <a:lnTo>
                    <a:pt x="244" y="152"/>
                  </a:lnTo>
                  <a:lnTo>
                    <a:pt x="246" y="152"/>
                  </a:lnTo>
                  <a:lnTo>
                    <a:pt x="246" y="152"/>
                  </a:lnTo>
                  <a:lnTo>
                    <a:pt x="248" y="152"/>
                  </a:lnTo>
                  <a:lnTo>
                    <a:pt x="252" y="156"/>
                  </a:lnTo>
                  <a:lnTo>
                    <a:pt x="252" y="156"/>
                  </a:lnTo>
                  <a:lnTo>
                    <a:pt x="253" y="156"/>
                  </a:lnTo>
                  <a:lnTo>
                    <a:pt x="253" y="156"/>
                  </a:lnTo>
                  <a:lnTo>
                    <a:pt x="257" y="156"/>
                  </a:lnTo>
                  <a:lnTo>
                    <a:pt x="257" y="154"/>
                  </a:lnTo>
                  <a:lnTo>
                    <a:pt x="257" y="154"/>
                  </a:lnTo>
                  <a:lnTo>
                    <a:pt x="261" y="156"/>
                  </a:lnTo>
                  <a:lnTo>
                    <a:pt x="263" y="156"/>
                  </a:lnTo>
                  <a:lnTo>
                    <a:pt x="267" y="158"/>
                  </a:lnTo>
                  <a:lnTo>
                    <a:pt x="267" y="158"/>
                  </a:lnTo>
                  <a:lnTo>
                    <a:pt x="267" y="158"/>
                  </a:lnTo>
                  <a:lnTo>
                    <a:pt x="269" y="158"/>
                  </a:lnTo>
                  <a:lnTo>
                    <a:pt x="274" y="158"/>
                  </a:lnTo>
                  <a:lnTo>
                    <a:pt x="276" y="156"/>
                  </a:lnTo>
                  <a:lnTo>
                    <a:pt x="280" y="154"/>
                  </a:lnTo>
                  <a:lnTo>
                    <a:pt x="282" y="154"/>
                  </a:lnTo>
                  <a:lnTo>
                    <a:pt x="282" y="154"/>
                  </a:lnTo>
                  <a:lnTo>
                    <a:pt x="284" y="154"/>
                  </a:lnTo>
                  <a:lnTo>
                    <a:pt x="286" y="154"/>
                  </a:lnTo>
                  <a:lnTo>
                    <a:pt x="288" y="156"/>
                  </a:lnTo>
                  <a:lnTo>
                    <a:pt x="290" y="156"/>
                  </a:lnTo>
                  <a:lnTo>
                    <a:pt x="290" y="156"/>
                  </a:lnTo>
                  <a:lnTo>
                    <a:pt x="292" y="154"/>
                  </a:lnTo>
                  <a:lnTo>
                    <a:pt x="292" y="154"/>
                  </a:lnTo>
                  <a:lnTo>
                    <a:pt x="293" y="152"/>
                  </a:lnTo>
                  <a:lnTo>
                    <a:pt x="293" y="152"/>
                  </a:lnTo>
                  <a:lnTo>
                    <a:pt x="295" y="148"/>
                  </a:lnTo>
                  <a:lnTo>
                    <a:pt x="295" y="148"/>
                  </a:lnTo>
                  <a:lnTo>
                    <a:pt x="295" y="146"/>
                  </a:lnTo>
                  <a:lnTo>
                    <a:pt x="297" y="146"/>
                  </a:lnTo>
                  <a:lnTo>
                    <a:pt x="299" y="144"/>
                  </a:lnTo>
                  <a:lnTo>
                    <a:pt x="301" y="144"/>
                  </a:lnTo>
                  <a:lnTo>
                    <a:pt x="303" y="144"/>
                  </a:lnTo>
                  <a:lnTo>
                    <a:pt x="305" y="144"/>
                  </a:lnTo>
                  <a:lnTo>
                    <a:pt x="305" y="144"/>
                  </a:lnTo>
                  <a:lnTo>
                    <a:pt x="305" y="144"/>
                  </a:lnTo>
                  <a:lnTo>
                    <a:pt x="307" y="146"/>
                  </a:lnTo>
                  <a:lnTo>
                    <a:pt x="307" y="146"/>
                  </a:lnTo>
                  <a:lnTo>
                    <a:pt x="307" y="146"/>
                  </a:lnTo>
                  <a:lnTo>
                    <a:pt x="307" y="148"/>
                  </a:lnTo>
                  <a:lnTo>
                    <a:pt x="307" y="148"/>
                  </a:lnTo>
                  <a:lnTo>
                    <a:pt x="307" y="148"/>
                  </a:lnTo>
                  <a:lnTo>
                    <a:pt x="307" y="150"/>
                  </a:lnTo>
                  <a:lnTo>
                    <a:pt x="307" y="150"/>
                  </a:lnTo>
                  <a:lnTo>
                    <a:pt x="305" y="152"/>
                  </a:lnTo>
                  <a:lnTo>
                    <a:pt x="305" y="152"/>
                  </a:lnTo>
                  <a:lnTo>
                    <a:pt x="305" y="154"/>
                  </a:lnTo>
                  <a:lnTo>
                    <a:pt x="307" y="154"/>
                  </a:lnTo>
                  <a:lnTo>
                    <a:pt x="307" y="156"/>
                  </a:lnTo>
                  <a:lnTo>
                    <a:pt x="307" y="156"/>
                  </a:lnTo>
                  <a:lnTo>
                    <a:pt x="307" y="158"/>
                  </a:lnTo>
                  <a:lnTo>
                    <a:pt x="307" y="158"/>
                  </a:lnTo>
                  <a:lnTo>
                    <a:pt x="307" y="159"/>
                  </a:lnTo>
                  <a:lnTo>
                    <a:pt x="307" y="159"/>
                  </a:lnTo>
                  <a:lnTo>
                    <a:pt x="307" y="159"/>
                  </a:lnTo>
                  <a:lnTo>
                    <a:pt x="307" y="161"/>
                  </a:lnTo>
                  <a:lnTo>
                    <a:pt x="307" y="161"/>
                  </a:lnTo>
                  <a:lnTo>
                    <a:pt x="307" y="163"/>
                  </a:lnTo>
                  <a:lnTo>
                    <a:pt x="309" y="163"/>
                  </a:lnTo>
                  <a:lnTo>
                    <a:pt x="311" y="167"/>
                  </a:lnTo>
                  <a:lnTo>
                    <a:pt x="311" y="167"/>
                  </a:lnTo>
                  <a:lnTo>
                    <a:pt x="311" y="169"/>
                  </a:lnTo>
                  <a:lnTo>
                    <a:pt x="311" y="169"/>
                  </a:lnTo>
                  <a:lnTo>
                    <a:pt x="311" y="169"/>
                  </a:lnTo>
                  <a:lnTo>
                    <a:pt x="311" y="171"/>
                  </a:lnTo>
                  <a:lnTo>
                    <a:pt x="309" y="171"/>
                  </a:lnTo>
                  <a:lnTo>
                    <a:pt x="311" y="173"/>
                  </a:lnTo>
                  <a:lnTo>
                    <a:pt x="311" y="175"/>
                  </a:lnTo>
                  <a:lnTo>
                    <a:pt x="309" y="175"/>
                  </a:lnTo>
                  <a:lnTo>
                    <a:pt x="309" y="175"/>
                  </a:lnTo>
                  <a:lnTo>
                    <a:pt x="307" y="177"/>
                  </a:lnTo>
                  <a:lnTo>
                    <a:pt x="307" y="177"/>
                  </a:lnTo>
                  <a:lnTo>
                    <a:pt x="307" y="177"/>
                  </a:lnTo>
                  <a:lnTo>
                    <a:pt x="307" y="177"/>
                  </a:lnTo>
                  <a:lnTo>
                    <a:pt x="305" y="178"/>
                  </a:lnTo>
                  <a:lnTo>
                    <a:pt x="305" y="178"/>
                  </a:lnTo>
                  <a:lnTo>
                    <a:pt x="303" y="178"/>
                  </a:lnTo>
                  <a:lnTo>
                    <a:pt x="301" y="178"/>
                  </a:lnTo>
                  <a:lnTo>
                    <a:pt x="299" y="177"/>
                  </a:lnTo>
                  <a:lnTo>
                    <a:pt x="299" y="177"/>
                  </a:lnTo>
                  <a:lnTo>
                    <a:pt x="297" y="177"/>
                  </a:lnTo>
                  <a:lnTo>
                    <a:pt x="295" y="177"/>
                  </a:lnTo>
                  <a:lnTo>
                    <a:pt x="293" y="177"/>
                  </a:lnTo>
                  <a:lnTo>
                    <a:pt x="292" y="177"/>
                  </a:lnTo>
                  <a:lnTo>
                    <a:pt x="292" y="177"/>
                  </a:lnTo>
                  <a:lnTo>
                    <a:pt x="282" y="180"/>
                  </a:lnTo>
                  <a:lnTo>
                    <a:pt x="278" y="180"/>
                  </a:lnTo>
                  <a:lnTo>
                    <a:pt x="276" y="180"/>
                  </a:lnTo>
                  <a:lnTo>
                    <a:pt x="274" y="180"/>
                  </a:lnTo>
                  <a:lnTo>
                    <a:pt x="274" y="180"/>
                  </a:lnTo>
                  <a:lnTo>
                    <a:pt x="267" y="184"/>
                  </a:lnTo>
                  <a:lnTo>
                    <a:pt x="263" y="184"/>
                  </a:lnTo>
                  <a:lnTo>
                    <a:pt x="261" y="186"/>
                  </a:lnTo>
                  <a:lnTo>
                    <a:pt x="261" y="186"/>
                  </a:lnTo>
                  <a:lnTo>
                    <a:pt x="261" y="188"/>
                  </a:lnTo>
                  <a:lnTo>
                    <a:pt x="259" y="188"/>
                  </a:lnTo>
                  <a:lnTo>
                    <a:pt x="259" y="190"/>
                  </a:lnTo>
                  <a:lnTo>
                    <a:pt x="259" y="190"/>
                  </a:lnTo>
                  <a:lnTo>
                    <a:pt x="259" y="190"/>
                  </a:lnTo>
                  <a:lnTo>
                    <a:pt x="259" y="190"/>
                  </a:lnTo>
                  <a:lnTo>
                    <a:pt x="261" y="194"/>
                  </a:lnTo>
                  <a:lnTo>
                    <a:pt x="263" y="196"/>
                  </a:lnTo>
                  <a:lnTo>
                    <a:pt x="263" y="198"/>
                  </a:lnTo>
                  <a:lnTo>
                    <a:pt x="263" y="199"/>
                  </a:lnTo>
                  <a:lnTo>
                    <a:pt x="263" y="201"/>
                  </a:lnTo>
                  <a:lnTo>
                    <a:pt x="263" y="201"/>
                  </a:lnTo>
                  <a:lnTo>
                    <a:pt x="261" y="203"/>
                  </a:lnTo>
                  <a:lnTo>
                    <a:pt x="261" y="203"/>
                  </a:lnTo>
                  <a:lnTo>
                    <a:pt x="259" y="203"/>
                  </a:lnTo>
                  <a:lnTo>
                    <a:pt x="257" y="203"/>
                  </a:lnTo>
                  <a:lnTo>
                    <a:pt x="255" y="205"/>
                  </a:lnTo>
                  <a:lnTo>
                    <a:pt x="255" y="205"/>
                  </a:lnTo>
                  <a:lnTo>
                    <a:pt x="255" y="205"/>
                  </a:lnTo>
                  <a:lnTo>
                    <a:pt x="253" y="205"/>
                  </a:lnTo>
                  <a:lnTo>
                    <a:pt x="253" y="207"/>
                  </a:lnTo>
                  <a:lnTo>
                    <a:pt x="253" y="207"/>
                  </a:lnTo>
                  <a:lnTo>
                    <a:pt x="255" y="209"/>
                  </a:lnTo>
                  <a:lnTo>
                    <a:pt x="259" y="215"/>
                  </a:lnTo>
                  <a:lnTo>
                    <a:pt x="263" y="217"/>
                  </a:lnTo>
                  <a:lnTo>
                    <a:pt x="267" y="217"/>
                  </a:lnTo>
                  <a:lnTo>
                    <a:pt x="267" y="217"/>
                  </a:lnTo>
                  <a:lnTo>
                    <a:pt x="269" y="217"/>
                  </a:lnTo>
                  <a:lnTo>
                    <a:pt x="269" y="217"/>
                  </a:lnTo>
                  <a:lnTo>
                    <a:pt x="271" y="217"/>
                  </a:lnTo>
                  <a:lnTo>
                    <a:pt x="271" y="217"/>
                  </a:lnTo>
                  <a:lnTo>
                    <a:pt x="274" y="220"/>
                  </a:lnTo>
                  <a:lnTo>
                    <a:pt x="276" y="222"/>
                  </a:lnTo>
                  <a:lnTo>
                    <a:pt x="278" y="222"/>
                  </a:lnTo>
                  <a:lnTo>
                    <a:pt x="278" y="226"/>
                  </a:lnTo>
                  <a:lnTo>
                    <a:pt x="280" y="230"/>
                  </a:lnTo>
                  <a:lnTo>
                    <a:pt x="280" y="232"/>
                  </a:lnTo>
                  <a:lnTo>
                    <a:pt x="280" y="234"/>
                  </a:lnTo>
                  <a:lnTo>
                    <a:pt x="278" y="236"/>
                  </a:lnTo>
                  <a:lnTo>
                    <a:pt x="278" y="236"/>
                  </a:lnTo>
                  <a:lnTo>
                    <a:pt x="276" y="236"/>
                  </a:lnTo>
                  <a:lnTo>
                    <a:pt x="269" y="241"/>
                  </a:lnTo>
                  <a:lnTo>
                    <a:pt x="269" y="241"/>
                  </a:lnTo>
                  <a:lnTo>
                    <a:pt x="267" y="241"/>
                  </a:lnTo>
                  <a:lnTo>
                    <a:pt x="265" y="241"/>
                  </a:lnTo>
                  <a:lnTo>
                    <a:pt x="265" y="241"/>
                  </a:lnTo>
                  <a:lnTo>
                    <a:pt x="265" y="241"/>
                  </a:lnTo>
                  <a:lnTo>
                    <a:pt x="265" y="241"/>
                  </a:lnTo>
                  <a:lnTo>
                    <a:pt x="265" y="239"/>
                  </a:lnTo>
                  <a:lnTo>
                    <a:pt x="265" y="237"/>
                  </a:lnTo>
                  <a:lnTo>
                    <a:pt x="265" y="237"/>
                  </a:lnTo>
                  <a:lnTo>
                    <a:pt x="265" y="237"/>
                  </a:lnTo>
                  <a:lnTo>
                    <a:pt x="263" y="236"/>
                  </a:lnTo>
                  <a:lnTo>
                    <a:pt x="263" y="236"/>
                  </a:lnTo>
                  <a:lnTo>
                    <a:pt x="263" y="234"/>
                  </a:lnTo>
                  <a:lnTo>
                    <a:pt x="263" y="234"/>
                  </a:lnTo>
                  <a:lnTo>
                    <a:pt x="261" y="234"/>
                  </a:lnTo>
                  <a:lnTo>
                    <a:pt x="261" y="234"/>
                  </a:lnTo>
                  <a:lnTo>
                    <a:pt x="259" y="234"/>
                  </a:lnTo>
                  <a:lnTo>
                    <a:pt x="259" y="234"/>
                  </a:lnTo>
                  <a:lnTo>
                    <a:pt x="259" y="234"/>
                  </a:lnTo>
                  <a:lnTo>
                    <a:pt x="257" y="232"/>
                  </a:lnTo>
                  <a:lnTo>
                    <a:pt x="257" y="232"/>
                  </a:lnTo>
                  <a:lnTo>
                    <a:pt x="257" y="234"/>
                  </a:lnTo>
                  <a:lnTo>
                    <a:pt x="255" y="234"/>
                  </a:lnTo>
                  <a:lnTo>
                    <a:pt x="255" y="236"/>
                  </a:lnTo>
                  <a:lnTo>
                    <a:pt x="257" y="237"/>
                  </a:lnTo>
                  <a:lnTo>
                    <a:pt x="257" y="239"/>
                  </a:lnTo>
                  <a:lnTo>
                    <a:pt x="257" y="239"/>
                  </a:lnTo>
                  <a:lnTo>
                    <a:pt x="257" y="239"/>
                  </a:lnTo>
                  <a:lnTo>
                    <a:pt x="255" y="243"/>
                  </a:lnTo>
                  <a:lnTo>
                    <a:pt x="255" y="243"/>
                  </a:lnTo>
                  <a:lnTo>
                    <a:pt x="255" y="245"/>
                  </a:lnTo>
                  <a:lnTo>
                    <a:pt x="255" y="245"/>
                  </a:lnTo>
                  <a:lnTo>
                    <a:pt x="257" y="247"/>
                  </a:lnTo>
                  <a:lnTo>
                    <a:pt x="257" y="255"/>
                  </a:lnTo>
                  <a:lnTo>
                    <a:pt x="257" y="256"/>
                  </a:lnTo>
                  <a:lnTo>
                    <a:pt x="259" y="258"/>
                  </a:lnTo>
                  <a:lnTo>
                    <a:pt x="263" y="264"/>
                  </a:lnTo>
                  <a:lnTo>
                    <a:pt x="263" y="266"/>
                  </a:lnTo>
                  <a:lnTo>
                    <a:pt x="265" y="268"/>
                  </a:lnTo>
                  <a:lnTo>
                    <a:pt x="263" y="268"/>
                  </a:lnTo>
                  <a:lnTo>
                    <a:pt x="263" y="270"/>
                  </a:lnTo>
                  <a:lnTo>
                    <a:pt x="263" y="270"/>
                  </a:lnTo>
                  <a:lnTo>
                    <a:pt x="263" y="272"/>
                  </a:lnTo>
                  <a:lnTo>
                    <a:pt x="261" y="272"/>
                  </a:lnTo>
                  <a:lnTo>
                    <a:pt x="261" y="274"/>
                  </a:lnTo>
                  <a:lnTo>
                    <a:pt x="261" y="274"/>
                  </a:lnTo>
                  <a:lnTo>
                    <a:pt x="259" y="274"/>
                  </a:lnTo>
                  <a:lnTo>
                    <a:pt x="257" y="274"/>
                  </a:lnTo>
                  <a:lnTo>
                    <a:pt x="257" y="274"/>
                  </a:lnTo>
                  <a:lnTo>
                    <a:pt x="257" y="274"/>
                  </a:lnTo>
                  <a:lnTo>
                    <a:pt x="255" y="275"/>
                  </a:lnTo>
                  <a:lnTo>
                    <a:pt x="252" y="275"/>
                  </a:lnTo>
                  <a:lnTo>
                    <a:pt x="250" y="274"/>
                  </a:lnTo>
                  <a:lnTo>
                    <a:pt x="248" y="272"/>
                  </a:lnTo>
                  <a:lnTo>
                    <a:pt x="244" y="268"/>
                  </a:lnTo>
                  <a:lnTo>
                    <a:pt x="242" y="268"/>
                  </a:lnTo>
                  <a:lnTo>
                    <a:pt x="242" y="266"/>
                  </a:lnTo>
                  <a:lnTo>
                    <a:pt x="242" y="266"/>
                  </a:lnTo>
                  <a:lnTo>
                    <a:pt x="242" y="264"/>
                  </a:lnTo>
                  <a:lnTo>
                    <a:pt x="244" y="264"/>
                  </a:lnTo>
                  <a:lnTo>
                    <a:pt x="244" y="262"/>
                  </a:lnTo>
                  <a:lnTo>
                    <a:pt x="244" y="260"/>
                  </a:lnTo>
                  <a:lnTo>
                    <a:pt x="244" y="260"/>
                  </a:lnTo>
                  <a:lnTo>
                    <a:pt x="242" y="260"/>
                  </a:lnTo>
                  <a:lnTo>
                    <a:pt x="242" y="260"/>
                  </a:lnTo>
                  <a:lnTo>
                    <a:pt x="238" y="260"/>
                  </a:lnTo>
                  <a:lnTo>
                    <a:pt x="236" y="262"/>
                  </a:lnTo>
                  <a:lnTo>
                    <a:pt x="234" y="262"/>
                  </a:lnTo>
                  <a:lnTo>
                    <a:pt x="234" y="264"/>
                  </a:lnTo>
                  <a:lnTo>
                    <a:pt x="234" y="264"/>
                  </a:lnTo>
                  <a:lnTo>
                    <a:pt x="232" y="268"/>
                  </a:lnTo>
                  <a:lnTo>
                    <a:pt x="232" y="268"/>
                  </a:lnTo>
                  <a:lnTo>
                    <a:pt x="232" y="270"/>
                  </a:lnTo>
                  <a:lnTo>
                    <a:pt x="231" y="270"/>
                  </a:lnTo>
                  <a:lnTo>
                    <a:pt x="229" y="270"/>
                  </a:lnTo>
                  <a:lnTo>
                    <a:pt x="229" y="270"/>
                  </a:lnTo>
                  <a:lnTo>
                    <a:pt x="227" y="270"/>
                  </a:lnTo>
                  <a:lnTo>
                    <a:pt x="227" y="268"/>
                  </a:lnTo>
                  <a:lnTo>
                    <a:pt x="227" y="266"/>
                  </a:lnTo>
                  <a:lnTo>
                    <a:pt x="225" y="266"/>
                  </a:lnTo>
                  <a:lnTo>
                    <a:pt x="225" y="264"/>
                  </a:lnTo>
                  <a:lnTo>
                    <a:pt x="223" y="264"/>
                  </a:lnTo>
                  <a:lnTo>
                    <a:pt x="219" y="264"/>
                  </a:lnTo>
                  <a:lnTo>
                    <a:pt x="217" y="264"/>
                  </a:lnTo>
                  <a:lnTo>
                    <a:pt x="215" y="264"/>
                  </a:lnTo>
                  <a:lnTo>
                    <a:pt x="210" y="262"/>
                  </a:lnTo>
                  <a:lnTo>
                    <a:pt x="208" y="262"/>
                  </a:lnTo>
                  <a:lnTo>
                    <a:pt x="206" y="262"/>
                  </a:lnTo>
                  <a:lnTo>
                    <a:pt x="202" y="262"/>
                  </a:lnTo>
                  <a:lnTo>
                    <a:pt x="202" y="262"/>
                  </a:lnTo>
                  <a:lnTo>
                    <a:pt x="200" y="262"/>
                  </a:lnTo>
                  <a:lnTo>
                    <a:pt x="200" y="260"/>
                  </a:lnTo>
                  <a:lnTo>
                    <a:pt x="198" y="260"/>
                  </a:lnTo>
                  <a:lnTo>
                    <a:pt x="198" y="258"/>
                  </a:lnTo>
                  <a:lnTo>
                    <a:pt x="198" y="258"/>
                  </a:lnTo>
                  <a:lnTo>
                    <a:pt x="200" y="256"/>
                  </a:lnTo>
                  <a:lnTo>
                    <a:pt x="200" y="256"/>
                  </a:lnTo>
                  <a:lnTo>
                    <a:pt x="198" y="255"/>
                  </a:lnTo>
                  <a:lnTo>
                    <a:pt x="198" y="255"/>
                  </a:lnTo>
                  <a:lnTo>
                    <a:pt x="198" y="255"/>
                  </a:lnTo>
                  <a:lnTo>
                    <a:pt x="196" y="256"/>
                  </a:lnTo>
                  <a:lnTo>
                    <a:pt x="194" y="256"/>
                  </a:lnTo>
                  <a:lnTo>
                    <a:pt x="194" y="258"/>
                  </a:lnTo>
                  <a:lnTo>
                    <a:pt x="192" y="258"/>
                  </a:lnTo>
                  <a:lnTo>
                    <a:pt x="192" y="260"/>
                  </a:lnTo>
                  <a:lnTo>
                    <a:pt x="192" y="262"/>
                  </a:lnTo>
                  <a:lnTo>
                    <a:pt x="192" y="264"/>
                  </a:lnTo>
                  <a:lnTo>
                    <a:pt x="192" y="266"/>
                  </a:lnTo>
                  <a:lnTo>
                    <a:pt x="192" y="268"/>
                  </a:lnTo>
                  <a:lnTo>
                    <a:pt x="192" y="272"/>
                  </a:lnTo>
                  <a:lnTo>
                    <a:pt x="192" y="272"/>
                  </a:lnTo>
                  <a:lnTo>
                    <a:pt x="192" y="275"/>
                  </a:lnTo>
                  <a:lnTo>
                    <a:pt x="192" y="275"/>
                  </a:lnTo>
                  <a:lnTo>
                    <a:pt x="192" y="277"/>
                  </a:lnTo>
                  <a:lnTo>
                    <a:pt x="189" y="281"/>
                  </a:lnTo>
                  <a:lnTo>
                    <a:pt x="181" y="285"/>
                  </a:lnTo>
                  <a:lnTo>
                    <a:pt x="181" y="287"/>
                  </a:lnTo>
                  <a:lnTo>
                    <a:pt x="179" y="289"/>
                  </a:lnTo>
                  <a:lnTo>
                    <a:pt x="181" y="289"/>
                  </a:lnTo>
                  <a:lnTo>
                    <a:pt x="181" y="291"/>
                  </a:lnTo>
                  <a:lnTo>
                    <a:pt x="181" y="291"/>
                  </a:lnTo>
                  <a:lnTo>
                    <a:pt x="181" y="291"/>
                  </a:lnTo>
                  <a:lnTo>
                    <a:pt x="181" y="291"/>
                  </a:lnTo>
                  <a:lnTo>
                    <a:pt x="181" y="293"/>
                  </a:lnTo>
                  <a:lnTo>
                    <a:pt x="181" y="293"/>
                  </a:lnTo>
                  <a:lnTo>
                    <a:pt x="181" y="295"/>
                  </a:lnTo>
                  <a:lnTo>
                    <a:pt x="179" y="295"/>
                  </a:lnTo>
                  <a:lnTo>
                    <a:pt x="171" y="298"/>
                  </a:lnTo>
                  <a:lnTo>
                    <a:pt x="168" y="300"/>
                  </a:lnTo>
                  <a:lnTo>
                    <a:pt x="164" y="302"/>
                  </a:lnTo>
                  <a:lnTo>
                    <a:pt x="162" y="302"/>
                  </a:lnTo>
                  <a:lnTo>
                    <a:pt x="160" y="302"/>
                  </a:lnTo>
                  <a:lnTo>
                    <a:pt x="160" y="302"/>
                  </a:lnTo>
                  <a:lnTo>
                    <a:pt x="160" y="300"/>
                  </a:lnTo>
                  <a:lnTo>
                    <a:pt x="158" y="300"/>
                  </a:lnTo>
                  <a:lnTo>
                    <a:pt x="158" y="300"/>
                  </a:lnTo>
                  <a:lnTo>
                    <a:pt x="156" y="300"/>
                  </a:lnTo>
                  <a:lnTo>
                    <a:pt x="156" y="300"/>
                  </a:lnTo>
                  <a:lnTo>
                    <a:pt x="156" y="300"/>
                  </a:lnTo>
                  <a:lnTo>
                    <a:pt x="156" y="300"/>
                  </a:lnTo>
                  <a:lnTo>
                    <a:pt x="156" y="304"/>
                  </a:lnTo>
                  <a:lnTo>
                    <a:pt x="156" y="304"/>
                  </a:lnTo>
                  <a:lnTo>
                    <a:pt x="156" y="306"/>
                  </a:lnTo>
                  <a:lnTo>
                    <a:pt x="154" y="308"/>
                  </a:lnTo>
                  <a:lnTo>
                    <a:pt x="154" y="310"/>
                  </a:lnTo>
                  <a:lnTo>
                    <a:pt x="154" y="310"/>
                  </a:lnTo>
                  <a:lnTo>
                    <a:pt x="154" y="312"/>
                  </a:lnTo>
                  <a:lnTo>
                    <a:pt x="154" y="312"/>
                  </a:lnTo>
                  <a:lnTo>
                    <a:pt x="152" y="312"/>
                  </a:lnTo>
                  <a:lnTo>
                    <a:pt x="152" y="312"/>
                  </a:lnTo>
                  <a:lnTo>
                    <a:pt x="151" y="310"/>
                  </a:lnTo>
                  <a:lnTo>
                    <a:pt x="149" y="310"/>
                  </a:lnTo>
                  <a:lnTo>
                    <a:pt x="149" y="310"/>
                  </a:lnTo>
                  <a:lnTo>
                    <a:pt x="145" y="310"/>
                  </a:lnTo>
                  <a:lnTo>
                    <a:pt x="143" y="308"/>
                  </a:lnTo>
                  <a:lnTo>
                    <a:pt x="143" y="306"/>
                  </a:lnTo>
                  <a:lnTo>
                    <a:pt x="143" y="304"/>
                  </a:lnTo>
                  <a:lnTo>
                    <a:pt x="143" y="304"/>
                  </a:lnTo>
                  <a:lnTo>
                    <a:pt x="137" y="300"/>
                  </a:lnTo>
                  <a:lnTo>
                    <a:pt x="135" y="300"/>
                  </a:lnTo>
                  <a:lnTo>
                    <a:pt x="135" y="298"/>
                  </a:lnTo>
                  <a:lnTo>
                    <a:pt x="135" y="296"/>
                  </a:lnTo>
                  <a:lnTo>
                    <a:pt x="133" y="293"/>
                  </a:lnTo>
                  <a:lnTo>
                    <a:pt x="133" y="293"/>
                  </a:lnTo>
                  <a:lnTo>
                    <a:pt x="135" y="289"/>
                  </a:lnTo>
                  <a:lnTo>
                    <a:pt x="137" y="287"/>
                  </a:lnTo>
                  <a:lnTo>
                    <a:pt x="137" y="287"/>
                  </a:lnTo>
                  <a:lnTo>
                    <a:pt x="137" y="287"/>
                  </a:lnTo>
                  <a:lnTo>
                    <a:pt x="139" y="287"/>
                  </a:lnTo>
                  <a:lnTo>
                    <a:pt x="139" y="287"/>
                  </a:lnTo>
                  <a:lnTo>
                    <a:pt x="141" y="289"/>
                  </a:lnTo>
                  <a:lnTo>
                    <a:pt x="143" y="289"/>
                  </a:lnTo>
                  <a:lnTo>
                    <a:pt x="143" y="289"/>
                  </a:lnTo>
                  <a:lnTo>
                    <a:pt x="145" y="291"/>
                  </a:lnTo>
                  <a:lnTo>
                    <a:pt x="145" y="291"/>
                  </a:lnTo>
                  <a:lnTo>
                    <a:pt x="147" y="291"/>
                  </a:lnTo>
                  <a:lnTo>
                    <a:pt x="149" y="291"/>
                  </a:lnTo>
                  <a:lnTo>
                    <a:pt x="149" y="291"/>
                  </a:lnTo>
                  <a:lnTo>
                    <a:pt x="151" y="289"/>
                  </a:lnTo>
                  <a:lnTo>
                    <a:pt x="152" y="289"/>
                  </a:lnTo>
                  <a:lnTo>
                    <a:pt x="152" y="289"/>
                  </a:lnTo>
                  <a:lnTo>
                    <a:pt x="154" y="291"/>
                  </a:lnTo>
                  <a:lnTo>
                    <a:pt x="156" y="291"/>
                  </a:lnTo>
                  <a:lnTo>
                    <a:pt x="156" y="291"/>
                  </a:lnTo>
                  <a:lnTo>
                    <a:pt x="156" y="291"/>
                  </a:lnTo>
                  <a:lnTo>
                    <a:pt x="158" y="291"/>
                  </a:lnTo>
                  <a:lnTo>
                    <a:pt x="158" y="289"/>
                  </a:lnTo>
                  <a:lnTo>
                    <a:pt x="158" y="287"/>
                  </a:lnTo>
                  <a:lnTo>
                    <a:pt x="160" y="285"/>
                  </a:lnTo>
                  <a:lnTo>
                    <a:pt x="162" y="283"/>
                  </a:lnTo>
                  <a:lnTo>
                    <a:pt x="164" y="281"/>
                  </a:lnTo>
                  <a:lnTo>
                    <a:pt x="164" y="279"/>
                  </a:lnTo>
                  <a:lnTo>
                    <a:pt x="164" y="279"/>
                  </a:lnTo>
                  <a:lnTo>
                    <a:pt x="160" y="277"/>
                  </a:lnTo>
                  <a:lnTo>
                    <a:pt x="158" y="275"/>
                  </a:lnTo>
                  <a:lnTo>
                    <a:pt x="158" y="274"/>
                  </a:lnTo>
                  <a:lnTo>
                    <a:pt x="158" y="272"/>
                  </a:lnTo>
                  <a:lnTo>
                    <a:pt x="160" y="270"/>
                  </a:lnTo>
                  <a:lnTo>
                    <a:pt x="162" y="266"/>
                  </a:lnTo>
                  <a:lnTo>
                    <a:pt x="164" y="264"/>
                  </a:lnTo>
                  <a:lnTo>
                    <a:pt x="164" y="262"/>
                  </a:lnTo>
                  <a:lnTo>
                    <a:pt x="164" y="260"/>
                  </a:lnTo>
                  <a:lnTo>
                    <a:pt x="162" y="258"/>
                  </a:lnTo>
                  <a:lnTo>
                    <a:pt x="162" y="258"/>
                  </a:lnTo>
                  <a:lnTo>
                    <a:pt x="162" y="258"/>
                  </a:lnTo>
                  <a:lnTo>
                    <a:pt x="160" y="258"/>
                  </a:lnTo>
                  <a:lnTo>
                    <a:pt x="160" y="256"/>
                  </a:lnTo>
                  <a:lnTo>
                    <a:pt x="158" y="256"/>
                  </a:lnTo>
                  <a:lnTo>
                    <a:pt x="158" y="255"/>
                  </a:lnTo>
                  <a:lnTo>
                    <a:pt x="158" y="251"/>
                  </a:lnTo>
                  <a:lnTo>
                    <a:pt x="158" y="249"/>
                  </a:lnTo>
                  <a:lnTo>
                    <a:pt x="156" y="249"/>
                  </a:lnTo>
                  <a:lnTo>
                    <a:pt x="156" y="247"/>
                  </a:lnTo>
                  <a:lnTo>
                    <a:pt x="158" y="243"/>
                  </a:lnTo>
                  <a:lnTo>
                    <a:pt x="158" y="241"/>
                  </a:lnTo>
                  <a:lnTo>
                    <a:pt x="160" y="241"/>
                  </a:lnTo>
                  <a:lnTo>
                    <a:pt x="160" y="241"/>
                  </a:lnTo>
                  <a:lnTo>
                    <a:pt x="162" y="241"/>
                  </a:lnTo>
                  <a:lnTo>
                    <a:pt x="166" y="243"/>
                  </a:lnTo>
                  <a:lnTo>
                    <a:pt x="166" y="243"/>
                  </a:lnTo>
                  <a:lnTo>
                    <a:pt x="168" y="243"/>
                  </a:lnTo>
                  <a:lnTo>
                    <a:pt x="170" y="243"/>
                  </a:lnTo>
                  <a:lnTo>
                    <a:pt x="170" y="241"/>
                  </a:lnTo>
                  <a:lnTo>
                    <a:pt x="170" y="241"/>
                  </a:lnTo>
                  <a:lnTo>
                    <a:pt x="170" y="239"/>
                  </a:lnTo>
                  <a:lnTo>
                    <a:pt x="170" y="239"/>
                  </a:lnTo>
                  <a:lnTo>
                    <a:pt x="170" y="230"/>
                  </a:lnTo>
                  <a:lnTo>
                    <a:pt x="168" y="226"/>
                  </a:lnTo>
                  <a:lnTo>
                    <a:pt x="166" y="224"/>
                  </a:lnTo>
                  <a:lnTo>
                    <a:pt x="164" y="224"/>
                  </a:lnTo>
                  <a:lnTo>
                    <a:pt x="164" y="222"/>
                  </a:lnTo>
                  <a:lnTo>
                    <a:pt x="164" y="222"/>
                  </a:lnTo>
                  <a:lnTo>
                    <a:pt x="164" y="220"/>
                  </a:lnTo>
                  <a:lnTo>
                    <a:pt x="164" y="218"/>
                  </a:lnTo>
                  <a:lnTo>
                    <a:pt x="162" y="215"/>
                  </a:lnTo>
                  <a:lnTo>
                    <a:pt x="160" y="213"/>
                  </a:lnTo>
                  <a:lnTo>
                    <a:pt x="160" y="213"/>
                  </a:lnTo>
                  <a:lnTo>
                    <a:pt x="158" y="213"/>
                  </a:lnTo>
                  <a:lnTo>
                    <a:pt x="156" y="213"/>
                  </a:lnTo>
                  <a:lnTo>
                    <a:pt x="156" y="213"/>
                  </a:lnTo>
                  <a:lnTo>
                    <a:pt x="149" y="217"/>
                  </a:lnTo>
                  <a:lnTo>
                    <a:pt x="145" y="217"/>
                  </a:lnTo>
                  <a:lnTo>
                    <a:pt x="139" y="217"/>
                  </a:lnTo>
                  <a:lnTo>
                    <a:pt x="131" y="220"/>
                  </a:lnTo>
                  <a:lnTo>
                    <a:pt x="128" y="220"/>
                  </a:lnTo>
                  <a:lnTo>
                    <a:pt x="126" y="220"/>
                  </a:lnTo>
                  <a:lnTo>
                    <a:pt x="120" y="218"/>
                  </a:lnTo>
                  <a:lnTo>
                    <a:pt x="118" y="218"/>
                  </a:lnTo>
                  <a:lnTo>
                    <a:pt x="114" y="218"/>
                  </a:lnTo>
                  <a:lnTo>
                    <a:pt x="112" y="218"/>
                  </a:lnTo>
                  <a:lnTo>
                    <a:pt x="111" y="218"/>
                  </a:lnTo>
                  <a:lnTo>
                    <a:pt x="109" y="218"/>
                  </a:lnTo>
                  <a:lnTo>
                    <a:pt x="107" y="217"/>
                  </a:lnTo>
                  <a:lnTo>
                    <a:pt x="107" y="217"/>
                  </a:lnTo>
                  <a:lnTo>
                    <a:pt x="105" y="215"/>
                  </a:lnTo>
                  <a:lnTo>
                    <a:pt x="105" y="215"/>
                  </a:lnTo>
                  <a:lnTo>
                    <a:pt x="105" y="213"/>
                  </a:lnTo>
                  <a:lnTo>
                    <a:pt x="107" y="211"/>
                  </a:lnTo>
                  <a:lnTo>
                    <a:pt x="109" y="209"/>
                  </a:lnTo>
                  <a:lnTo>
                    <a:pt x="109" y="209"/>
                  </a:lnTo>
                  <a:lnTo>
                    <a:pt x="109" y="207"/>
                  </a:lnTo>
                  <a:lnTo>
                    <a:pt x="109" y="207"/>
                  </a:lnTo>
                  <a:lnTo>
                    <a:pt x="109" y="205"/>
                  </a:lnTo>
                  <a:lnTo>
                    <a:pt x="107" y="203"/>
                  </a:lnTo>
                  <a:lnTo>
                    <a:pt x="107" y="201"/>
                  </a:lnTo>
                  <a:lnTo>
                    <a:pt x="107" y="201"/>
                  </a:lnTo>
                  <a:lnTo>
                    <a:pt x="107" y="201"/>
                  </a:lnTo>
                  <a:lnTo>
                    <a:pt x="107" y="199"/>
                  </a:lnTo>
                  <a:lnTo>
                    <a:pt x="109" y="201"/>
                  </a:lnTo>
                  <a:lnTo>
                    <a:pt x="109" y="201"/>
                  </a:lnTo>
                  <a:lnTo>
                    <a:pt x="111" y="203"/>
                  </a:lnTo>
                  <a:lnTo>
                    <a:pt x="112" y="205"/>
                  </a:lnTo>
                  <a:lnTo>
                    <a:pt x="114" y="205"/>
                  </a:lnTo>
                  <a:lnTo>
                    <a:pt x="114" y="205"/>
                  </a:lnTo>
                  <a:lnTo>
                    <a:pt x="116" y="205"/>
                  </a:lnTo>
                  <a:lnTo>
                    <a:pt x="118" y="205"/>
                  </a:lnTo>
                  <a:lnTo>
                    <a:pt x="120" y="205"/>
                  </a:lnTo>
                  <a:lnTo>
                    <a:pt x="122" y="205"/>
                  </a:lnTo>
                  <a:lnTo>
                    <a:pt x="124" y="205"/>
                  </a:lnTo>
                  <a:lnTo>
                    <a:pt x="124" y="203"/>
                  </a:lnTo>
                  <a:lnTo>
                    <a:pt x="126" y="203"/>
                  </a:lnTo>
                  <a:lnTo>
                    <a:pt x="126" y="201"/>
                  </a:lnTo>
                  <a:lnTo>
                    <a:pt x="126" y="201"/>
                  </a:lnTo>
                  <a:lnTo>
                    <a:pt x="128" y="199"/>
                  </a:lnTo>
                  <a:lnTo>
                    <a:pt x="126" y="199"/>
                  </a:lnTo>
                  <a:lnTo>
                    <a:pt x="126" y="199"/>
                  </a:lnTo>
                  <a:lnTo>
                    <a:pt x="126" y="199"/>
                  </a:lnTo>
                  <a:lnTo>
                    <a:pt x="122" y="201"/>
                  </a:lnTo>
                  <a:lnTo>
                    <a:pt x="118" y="201"/>
                  </a:lnTo>
                  <a:lnTo>
                    <a:pt x="116" y="201"/>
                  </a:lnTo>
                  <a:lnTo>
                    <a:pt x="114" y="201"/>
                  </a:lnTo>
                  <a:lnTo>
                    <a:pt x="112" y="199"/>
                  </a:lnTo>
                  <a:lnTo>
                    <a:pt x="112" y="199"/>
                  </a:lnTo>
                  <a:lnTo>
                    <a:pt x="112" y="198"/>
                  </a:lnTo>
                  <a:lnTo>
                    <a:pt x="112" y="198"/>
                  </a:lnTo>
                  <a:lnTo>
                    <a:pt x="112" y="196"/>
                  </a:lnTo>
                  <a:lnTo>
                    <a:pt x="112" y="196"/>
                  </a:lnTo>
                  <a:lnTo>
                    <a:pt x="112" y="196"/>
                  </a:lnTo>
                  <a:lnTo>
                    <a:pt x="114" y="196"/>
                  </a:lnTo>
                  <a:lnTo>
                    <a:pt x="116" y="198"/>
                  </a:lnTo>
                  <a:lnTo>
                    <a:pt x="116" y="198"/>
                  </a:lnTo>
                  <a:lnTo>
                    <a:pt x="118" y="198"/>
                  </a:lnTo>
                  <a:lnTo>
                    <a:pt x="118" y="198"/>
                  </a:lnTo>
                  <a:lnTo>
                    <a:pt x="118" y="196"/>
                  </a:lnTo>
                  <a:lnTo>
                    <a:pt x="118" y="196"/>
                  </a:lnTo>
                  <a:lnTo>
                    <a:pt x="118" y="194"/>
                  </a:lnTo>
                  <a:lnTo>
                    <a:pt x="116" y="192"/>
                  </a:lnTo>
                  <a:lnTo>
                    <a:pt x="116" y="192"/>
                  </a:lnTo>
                  <a:lnTo>
                    <a:pt x="116" y="192"/>
                  </a:lnTo>
                  <a:lnTo>
                    <a:pt x="116" y="190"/>
                  </a:lnTo>
                  <a:lnTo>
                    <a:pt x="118" y="186"/>
                  </a:lnTo>
                  <a:lnTo>
                    <a:pt x="118" y="186"/>
                  </a:lnTo>
                  <a:lnTo>
                    <a:pt x="120" y="184"/>
                  </a:lnTo>
                  <a:lnTo>
                    <a:pt x="120" y="184"/>
                  </a:lnTo>
                  <a:lnTo>
                    <a:pt x="118" y="184"/>
                  </a:lnTo>
                  <a:lnTo>
                    <a:pt x="118" y="184"/>
                  </a:lnTo>
                  <a:lnTo>
                    <a:pt x="118" y="184"/>
                  </a:lnTo>
                  <a:lnTo>
                    <a:pt x="114" y="184"/>
                  </a:lnTo>
                  <a:lnTo>
                    <a:pt x="111" y="186"/>
                  </a:lnTo>
                  <a:lnTo>
                    <a:pt x="109" y="186"/>
                  </a:lnTo>
                  <a:lnTo>
                    <a:pt x="103" y="184"/>
                  </a:lnTo>
                  <a:lnTo>
                    <a:pt x="103" y="186"/>
                  </a:lnTo>
                  <a:lnTo>
                    <a:pt x="101" y="186"/>
                  </a:lnTo>
                  <a:lnTo>
                    <a:pt x="101" y="186"/>
                  </a:lnTo>
                  <a:lnTo>
                    <a:pt x="101" y="186"/>
                  </a:lnTo>
                  <a:lnTo>
                    <a:pt x="101" y="188"/>
                  </a:lnTo>
                  <a:lnTo>
                    <a:pt x="101" y="188"/>
                  </a:lnTo>
                  <a:lnTo>
                    <a:pt x="101" y="188"/>
                  </a:lnTo>
                  <a:lnTo>
                    <a:pt x="99" y="190"/>
                  </a:lnTo>
                  <a:lnTo>
                    <a:pt x="99" y="190"/>
                  </a:lnTo>
                  <a:lnTo>
                    <a:pt x="99" y="192"/>
                  </a:lnTo>
                  <a:lnTo>
                    <a:pt x="97" y="192"/>
                  </a:lnTo>
                  <a:lnTo>
                    <a:pt x="97" y="192"/>
                  </a:lnTo>
                  <a:lnTo>
                    <a:pt x="99" y="196"/>
                  </a:lnTo>
                  <a:lnTo>
                    <a:pt x="99" y="198"/>
                  </a:lnTo>
                  <a:lnTo>
                    <a:pt x="99" y="199"/>
                  </a:lnTo>
                  <a:lnTo>
                    <a:pt x="97" y="199"/>
                  </a:lnTo>
                  <a:lnTo>
                    <a:pt x="97" y="201"/>
                  </a:lnTo>
                  <a:lnTo>
                    <a:pt x="97" y="201"/>
                  </a:lnTo>
                  <a:lnTo>
                    <a:pt x="97" y="201"/>
                  </a:lnTo>
                  <a:lnTo>
                    <a:pt x="95" y="201"/>
                  </a:lnTo>
                  <a:lnTo>
                    <a:pt x="93" y="199"/>
                  </a:lnTo>
                  <a:lnTo>
                    <a:pt x="93" y="199"/>
                  </a:lnTo>
                  <a:lnTo>
                    <a:pt x="93" y="199"/>
                  </a:lnTo>
                  <a:lnTo>
                    <a:pt x="91" y="203"/>
                  </a:lnTo>
                  <a:lnTo>
                    <a:pt x="90" y="203"/>
                  </a:lnTo>
                  <a:lnTo>
                    <a:pt x="90" y="203"/>
                  </a:lnTo>
                  <a:lnTo>
                    <a:pt x="88" y="203"/>
                  </a:lnTo>
                  <a:lnTo>
                    <a:pt x="86" y="203"/>
                  </a:lnTo>
                  <a:lnTo>
                    <a:pt x="86" y="203"/>
                  </a:lnTo>
                  <a:lnTo>
                    <a:pt x="82" y="201"/>
                  </a:lnTo>
                  <a:lnTo>
                    <a:pt x="82" y="201"/>
                  </a:lnTo>
                  <a:lnTo>
                    <a:pt x="80" y="201"/>
                  </a:lnTo>
                  <a:lnTo>
                    <a:pt x="80" y="199"/>
                  </a:lnTo>
                  <a:lnTo>
                    <a:pt x="80" y="199"/>
                  </a:lnTo>
                  <a:lnTo>
                    <a:pt x="78" y="198"/>
                  </a:lnTo>
                  <a:lnTo>
                    <a:pt x="76" y="198"/>
                  </a:lnTo>
                  <a:lnTo>
                    <a:pt x="74" y="196"/>
                  </a:lnTo>
                  <a:lnTo>
                    <a:pt x="72" y="196"/>
                  </a:lnTo>
                  <a:lnTo>
                    <a:pt x="72" y="198"/>
                  </a:lnTo>
                  <a:lnTo>
                    <a:pt x="72" y="198"/>
                  </a:lnTo>
                  <a:lnTo>
                    <a:pt x="74" y="203"/>
                  </a:lnTo>
                  <a:lnTo>
                    <a:pt x="74" y="203"/>
                  </a:lnTo>
                  <a:lnTo>
                    <a:pt x="74" y="205"/>
                  </a:lnTo>
                  <a:lnTo>
                    <a:pt x="74" y="207"/>
                  </a:lnTo>
                  <a:lnTo>
                    <a:pt x="74" y="209"/>
                  </a:lnTo>
                  <a:lnTo>
                    <a:pt x="74" y="211"/>
                  </a:lnTo>
                  <a:lnTo>
                    <a:pt x="74" y="211"/>
                  </a:lnTo>
                  <a:lnTo>
                    <a:pt x="76" y="211"/>
                  </a:lnTo>
                  <a:lnTo>
                    <a:pt x="78" y="211"/>
                  </a:lnTo>
                  <a:lnTo>
                    <a:pt x="80" y="211"/>
                  </a:lnTo>
                  <a:lnTo>
                    <a:pt x="82" y="211"/>
                  </a:lnTo>
                  <a:lnTo>
                    <a:pt x="82" y="211"/>
                  </a:lnTo>
                  <a:lnTo>
                    <a:pt x="84" y="211"/>
                  </a:lnTo>
                  <a:lnTo>
                    <a:pt x="84" y="211"/>
                  </a:lnTo>
                  <a:lnTo>
                    <a:pt x="86" y="211"/>
                  </a:lnTo>
                  <a:lnTo>
                    <a:pt x="86" y="211"/>
                  </a:lnTo>
                  <a:lnTo>
                    <a:pt x="88" y="211"/>
                  </a:lnTo>
                  <a:lnTo>
                    <a:pt x="88" y="213"/>
                  </a:lnTo>
                  <a:lnTo>
                    <a:pt x="88" y="213"/>
                  </a:lnTo>
                  <a:lnTo>
                    <a:pt x="86" y="215"/>
                  </a:lnTo>
                  <a:lnTo>
                    <a:pt x="86" y="217"/>
                  </a:lnTo>
                  <a:lnTo>
                    <a:pt x="86" y="218"/>
                  </a:lnTo>
                  <a:lnTo>
                    <a:pt x="86" y="218"/>
                  </a:lnTo>
                  <a:lnTo>
                    <a:pt x="86" y="220"/>
                  </a:lnTo>
                  <a:lnTo>
                    <a:pt x="86" y="222"/>
                  </a:lnTo>
                  <a:lnTo>
                    <a:pt x="84" y="222"/>
                  </a:lnTo>
                  <a:lnTo>
                    <a:pt x="84" y="224"/>
                  </a:lnTo>
                  <a:lnTo>
                    <a:pt x="82" y="224"/>
                  </a:lnTo>
                  <a:lnTo>
                    <a:pt x="78" y="224"/>
                  </a:lnTo>
                  <a:lnTo>
                    <a:pt x="78" y="224"/>
                  </a:lnTo>
                  <a:lnTo>
                    <a:pt x="76" y="222"/>
                  </a:lnTo>
                  <a:lnTo>
                    <a:pt x="76" y="222"/>
                  </a:lnTo>
                  <a:lnTo>
                    <a:pt x="74" y="220"/>
                  </a:lnTo>
                  <a:lnTo>
                    <a:pt x="74" y="218"/>
                  </a:lnTo>
                  <a:lnTo>
                    <a:pt x="72" y="218"/>
                  </a:lnTo>
                  <a:lnTo>
                    <a:pt x="72" y="217"/>
                  </a:lnTo>
                  <a:lnTo>
                    <a:pt x="70" y="217"/>
                  </a:lnTo>
                  <a:lnTo>
                    <a:pt x="70" y="215"/>
                  </a:lnTo>
                  <a:lnTo>
                    <a:pt x="70" y="213"/>
                  </a:lnTo>
                  <a:lnTo>
                    <a:pt x="70" y="213"/>
                  </a:lnTo>
                  <a:lnTo>
                    <a:pt x="69" y="213"/>
                  </a:lnTo>
                  <a:lnTo>
                    <a:pt x="69" y="213"/>
                  </a:lnTo>
                  <a:lnTo>
                    <a:pt x="69" y="213"/>
                  </a:lnTo>
                  <a:lnTo>
                    <a:pt x="69" y="217"/>
                  </a:lnTo>
                  <a:lnTo>
                    <a:pt x="69" y="220"/>
                  </a:lnTo>
                  <a:lnTo>
                    <a:pt x="69" y="220"/>
                  </a:lnTo>
                  <a:lnTo>
                    <a:pt x="69" y="222"/>
                  </a:lnTo>
                  <a:lnTo>
                    <a:pt x="69" y="224"/>
                  </a:lnTo>
                  <a:lnTo>
                    <a:pt x="67" y="232"/>
                  </a:lnTo>
                  <a:lnTo>
                    <a:pt x="63" y="236"/>
                  </a:lnTo>
                  <a:lnTo>
                    <a:pt x="63" y="237"/>
                  </a:lnTo>
                  <a:lnTo>
                    <a:pt x="63" y="237"/>
                  </a:lnTo>
                  <a:lnTo>
                    <a:pt x="63" y="239"/>
                  </a:lnTo>
                  <a:lnTo>
                    <a:pt x="63" y="239"/>
                  </a:lnTo>
                  <a:lnTo>
                    <a:pt x="63" y="241"/>
                  </a:lnTo>
                  <a:lnTo>
                    <a:pt x="72" y="243"/>
                  </a:lnTo>
                  <a:lnTo>
                    <a:pt x="74" y="243"/>
                  </a:lnTo>
                  <a:lnTo>
                    <a:pt x="74" y="245"/>
                  </a:lnTo>
                  <a:lnTo>
                    <a:pt x="74" y="247"/>
                  </a:lnTo>
                  <a:lnTo>
                    <a:pt x="74" y="249"/>
                  </a:lnTo>
                  <a:lnTo>
                    <a:pt x="72" y="251"/>
                  </a:lnTo>
                  <a:lnTo>
                    <a:pt x="69" y="255"/>
                  </a:lnTo>
                  <a:lnTo>
                    <a:pt x="67" y="256"/>
                  </a:lnTo>
                  <a:lnTo>
                    <a:pt x="67" y="256"/>
                  </a:lnTo>
                  <a:lnTo>
                    <a:pt x="67" y="258"/>
                  </a:lnTo>
                  <a:lnTo>
                    <a:pt x="67" y="260"/>
                  </a:lnTo>
                  <a:lnTo>
                    <a:pt x="67" y="262"/>
                  </a:lnTo>
                  <a:lnTo>
                    <a:pt x="65" y="262"/>
                  </a:lnTo>
                  <a:lnTo>
                    <a:pt x="65" y="264"/>
                  </a:lnTo>
                  <a:lnTo>
                    <a:pt x="65" y="264"/>
                  </a:lnTo>
                  <a:lnTo>
                    <a:pt x="67" y="264"/>
                  </a:lnTo>
                  <a:lnTo>
                    <a:pt x="67" y="264"/>
                  </a:lnTo>
                  <a:lnTo>
                    <a:pt x="70" y="264"/>
                  </a:lnTo>
                  <a:lnTo>
                    <a:pt x="72" y="264"/>
                  </a:lnTo>
                  <a:lnTo>
                    <a:pt x="74" y="266"/>
                  </a:lnTo>
                  <a:lnTo>
                    <a:pt x="76" y="266"/>
                  </a:lnTo>
                  <a:lnTo>
                    <a:pt x="78" y="268"/>
                  </a:lnTo>
                  <a:lnTo>
                    <a:pt x="78" y="268"/>
                  </a:lnTo>
                  <a:lnTo>
                    <a:pt x="78" y="270"/>
                  </a:lnTo>
                  <a:lnTo>
                    <a:pt x="78" y="275"/>
                  </a:lnTo>
                  <a:lnTo>
                    <a:pt x="80" y="277"/>
                  </a:lnTo>
                  <a:lnTo>
                    <a:pt x="80" y="279"/>
                  </a:lnTo>
                  <a:lnTo>
                    <a:pt x="80" y="281"/>
                  </a:lnTo>
                  <a:lnTo>
                    <a:pt x="82" y="281"/>
                  </a:lnTo>
                  <a:lnTo>
                    <a:pt x="82" y="283"/>
                  </a:lnTo>
                  <a:lnTo>
                    <a:pt x="84" y="285"/>
                  </a:lnTo>
                  <a:lnTo>
                    <a:pt x="86" y="285"/>
                  </a:lnTo>
                  <a:lnTo>
                    <a:pt x="86" y="287"/>
                  </a:lnTo>
                  <a:lnTo>
                    <a:pt x="86" y="287"/>
                  </a:lnTo>
                  <a:lnTo>
                    <a:pt x="86" y="289"/>
                  </a:lnTo>
                  <a:lnTo>
                    <a:pt x="86" y="289"/>
                  </a:lnTo>
                  <a:lnTo>
                    <a:pt x="84" y="291"/>
                  </a:lnTo>
                  <a:lnTo>
                    <a:pt x="80" y="302"/>
                  </a:lnTo>
                  <a:lnTo>
                    <a:pt x="80" y="306"/>
                  </a:lnTo>
                  <a:lnTo>
                    <a:pt x="80" y="308"/>
                  </a:lnTo>
                  <a:lnTo>
                    <a:pt x="80" y="310"/>
                  </a:lnTo>
                  <a:lnTo>
                    <a:pt x="80" y="312"/>
                  </a:lnTo>
                  <a:lnTo>
                    <a:pt x="82" y="314"/>
                  </a:lnTo>
                  <a:lnTo>
                    <a:pt x="84" y="315"/>
                  </a:lnTo>
                  <a:lnTo>
                    <a:pt x="84" y="319"/>
                  </a:lnTo>
                  <a:lnTo>
                    <a:pt x="84" y="321"/>
                  </a:lnTo>
                  <a:lnTo>
                    <a:pt x="84" y="323"/>
                  </a:lnTo>
                  <a:lnTo>
                    <a:pt x="84" y="325"/>
                  </a:lnTo>
                  <a:lnTo>
                    <a:pt x="82" y="327"/>
                  </a:lnTo>
                  <a:lnTo>
                    <a:pt x="82" y="327"/>
                  </a:lnTo>
                  <a:lnTo>
                    <a:pt x="80" y="329"/>
                  </a:lnTo>
                  <a:lnTo>
                    <a:pt x="80" y="329"/>
                  </a:lnTo>
                  <a:lnTo>
                    <a:pt x="80" y="331"/>
                  </a:lnTo>
                  <a:lnTo>
                    <a:pt x="78" y="334"/>
                  </a:lnTo>
                  <a:lnTo>
                    <a:pt x="78" y="336"/>
                  </a:lnTo>
                  <a:lnTo>
                    <a:pt x="76" y="338"/>
                  </a:lnTo>
                  <a:lnTo>
                    <a:pt x="76" y="338"/>
                  </a:lnTo>
                  <a:lnTo>
                    <a:pt x="72" y="342"/>
                  </a:lnTo>
                  <a:lnTo>
                    <a:pt x="72" y="342"/>
                  </a:lnTo>
                  <a:lnTo>
                    <a:pt x="70" y="342"/>
                  </a:lnTo>
                  <a:lnTo>
                    <a:pt x="69" y="342"/>
                  </a:lnTo>
                  <a:lnTo>
                    <a:pt x="63" y="346"/>
                  </a:lnTo>
                  <a:lnTo>
                    <a:pt x="61" y="346"/>
                  </a:lnTo>
                  <a:lnTo>
                    <a:pt x="57" y="348"/>
                  </a:lnTo>
                  <a:lnTo>
                    <a:pt x="55" y="350"/>
                  </a:lnTo>
                  <a:lnTo>
                    <a:pt x="50" y="355"/>
                  </a:lnTo>
                  <a:lnTo>
                    <a:pt x="48" y="355"/>
                  </a:lnTo>
                  <a:lnTo>
                    <a:pt x="46" y="363"/>
                  </a:lnTo>
                  <a:lnTo>
                    <a:pt x="46" y="363"/>
                  </a:lnTo>
                  <a:lnTo>
                    <a:pt x="46" y="365"/>
                  </a:lnTo>
                  <a:lnTo>
                    <a:pt x="46" y="365"/>
                  </a:lnTo>
                  <a:lnTo>
                    <a:pt x="46" y="367"/>
                  </a:lnTo>
                  <a:lnTo>
                    <a:pt x="48" y="367"/>
                  </a:lnTo>
                  <a:lnTo>
                    <a:pt x="48" y="367"/>
                  </a:lnTo>
                  <a:lnTo>
                    <a:pt x="51" y="367"/>
                  </a:lnTo>
                  <a:lnTo>
                    <a:pt x="53" y="369"/>
                  </a:lnTo>
                  <a:lnTo>
                    <a:pt x="55" y="369"/>
                  </a:lnTo>
                  <a:lnTo>
                    <a:pt x="57" y="369"/>
                  </a:lnTo>
                  <a:lnTo>
                    <a:pt x="57" y="369"/>
                  </a:lnTo>
                  <a:lnTo>
                    <a:pt x="59" y="369"/>
                  </a:lnTo>
                  <a:lnTo>
                    <a:pt x="59" y="371"/>
                  </a:lnTo>
                  <a:lnTo>
                    <a:pt x="61" y="371"/>
                  </a:lnTo>
                  <a:lnTo>
                    <a:pt x="61" y="372"/>
                  </a:lnTo>
                  <a:lnTo>
                    <a:pt x="63" y="372"/>
                  </a:lnTo>
                  <a:lnTo>
                    <a:pt x="63" y="374"/>
                  </a:lnTo>
                  <a:lnTo>
                    <a:pt x="63" y="374"/>
                  </a:lnTo>
                  <a:lnTo>
                    <a:pt x="59" y="376"/>
                  </a:lnTo>
                  <a:lnTo>
                    <a:pt x="53" y="380"/>
                  </a:lnTo>
                  <a:lnTo>
                    <a:pt x="48" y="382"/>
                  </a:lnTo>
                  <a:lnTo>
                    <a:pt x="40" y="386"/>
                  </a:lnTo>
                  <a:lnTo>
                    <a:pt x="38" y="386"/>
                  </a:lnTo>
                  <a:lnTo>
                    <a:pt x="38" y="386"/>
                  </a:lnTo>
                  <a:lnTo>
                    <a:pt x="36" y="384"/>
                  </a:lnTo>
                  <a:lnTo>
                    <a:pt x="34" y="384"/>
                  </a:lnTo>
                  <a:lnTo>
                    <a:pt x="32" y="384"/>
                  </a:lnTo>
                  <a:lnTo>
                    <a:pt x="32" y="384"/>
                  </a:lnTo>
                  <a:lnTo>
                    <a:pt x="30" y="386"/>
                  </a:lnTo>
                  <a:lnTo>
                    <a:pt x="30" y="386"/>
                  </a:lnTo>
                  <a:lnTo>
                    <a:pt x="29" y="386"/>
                  </a:lnTo>
                  <a:lnTo>
                    <a:pt x="27" y="388"/>
                  </a:lnTo>
                  <a:lnTo>
                    <a:pt x="29" y="393"/>
                  </a:lnTo>
                  <a:lnTo>
                    <a:pt x="30" y="401"/>
                  </a:lnTo>
                  <a:lnTo>
                    <a:pt x="30" y="403"/>
                  </a:lnTo>
                  <a:lnTo>
                    <a:pt x="30" y="405"/>
                  </a:lnTo>
                  <a:lnTo>
                    <a:pt x="30" y="405"/>
                  </a:lnTo>
                  <a:lnTo>
                    <a:pt x="32" y="405"/>
                  </a:lnTo>
                  <a:lnTo>
                    <a:pt x="32" y="405"/>
                  </a:lnTo>
                  <a:lnTo>
                    <a:pt x="32" y="403"/>
                  </a:lnTo>
                  <a:lnTo>
                    <a:pt x="34" y="403"/>
                  </a:lnTo>
                  <a:lnTo>
                    <a:pt x="34" y="403"/>
                  </a:lnTo>
                  <a:lnTo>
                    <a:pt x="36" y="405"/>
                  </a:lnTo>
                  <a:lnTo>
                    <a:pt x="38" y="407"/>
                  </a:lnTo>
                  <a:lnTo>
                    <a:pt x="40" y="409"/>
                  </a:lnTo>
                  <a:lnTo>
                    <a:pt x="40" y="411"/>
                  </a:lnTo>
                  <a:lnTo>
                    <a:pt x="32" y="426"/>
                  </a:lnTo>
                  <a:lnTo>
                    <a:pt x="30" y="428"/>
                  </a:lnTo>
                  <a:lnTo>
                    <a:pt x="30" y="428"/>
                  </a:lnTo>
                  <a:lnTo>
                    <a:pt x="29" y="430"/>
                  </a:lnTo>
                  <a:lnTo>
                    <a:pt x="29" y="430"/>
                  </a:lnTo>
                  <a:lnTo>
                    <a:pt x="27" y="430"/>
                  </a:lnTo>
                  <a:lnTo>
                    <a:pt x="27" y="430"/>
                  </a:lnTo>
                  <a:lnTo>
                    <a:pt x="25" y="430"/>
                  </a:lnTo>
                  <a:lnTo>
                    <a:pt x="23" y="430"/>
                  </a:lnTo>
                  <a:lnTo>
                    <a:pt x="23" y="430"/>
                  </a:lnTo>
                  <a:lnTo>
                    <a:pt x="15" y="435"/>
                  </a:lnTo>
                  <a:lnTo>
                    <a:pt x="11" y="439"/>
                  </a:lnTo>
                  <a:lnTo>
                    <a:pt x="11" y="441"/>
                  </a:lnTo>
                  <a:lnTo>
                    <a:pt x="10" y="441"/>
                  </a:lnTo>
                  <a:lnTo>
                    <a:pt x="10" y="441"/>
                  </a:lnTo>
                  <a:lnTo>
                    <a:pt x="8" y="441"/>
                  </a:lnTo>
                  <a:lnTo>
                    <a:pt x="2" y="439"/>
                  </a:lnTo>
                  <a:lnTo>
                    <a:pt x="2" y="439"/>
                  </a:lnTo>
                  <a:lnTo>
                    <a:pt x="2" y="439"/>
                  </a:lnTo>
                  <a:lnTo>
                    <a:pt x="0" y="439"/>
                  </a:lnTo>
                  <a:lnTo>
                    <a:pt x="0" y="441"/>
                  </a:lnTo>
                  <a:lnTo>
                    <a:pt x="0" y="443"/>
                  </a:lnTo>
                  <a:lnTo>
                    <a:pt x="0" y="443"/>
                  </a:lnTo>
                  <a:lnTo>
                    <a:pt x="0" y="445"/>
                  </a:lnTo>
                  <a:lnTo>
                    <a:pt x="4" y="449"/>
                  </a:lnTo>
                  <a:lnTo>
                    <a:pt x="6" y="450"/>
                  </a:lnTo>
                  <a:lnTo>
                    <a:pt x="8" y="450"/>
                  </a:lnTo>
                  <a:lnTo>
                    <a:pt x="8" y="450"/>
                  </a:lnTo>
                  <a:lnTo>
                    <a:pt x="11" y="450"/>
                  </a:lnTo>
                  <a:lnTo>
                    <a:pt x="15" y="450"/>
                  </a:lnTo>
                  <a:lnTo>
                    <a:pt x="17" y="450"/>
                  </a:lnTo>
                  <a:lnTo>
                    <a:pt x="19" y="450"/>
                  </a:lnTo>
                  <a:lnTo>
                    <a:pt x="19" y="452"/>
                  </a:lnTo>
                  <a:lnTo>
                    <a:pt x="19" y="452"/>
                  </a:lnTo>
                  <a:lnTo>
                    <a:pt x="19" y="454"/>
                  </a:lnTo>
                  <a:lnTo>
                    <a:pt x="19" y="454"/>
                  </a:lnTo>
                  <a:lnTo>
                    <a:pt x="19" y="456"/>
                  </a:lnTo>
                  <a:lnTo>
                    <a:pt x="17" y="456"/>
                  </a:lnTo>
                  <a:lnTo>
                    <a:pt x="17" y="458"/>
                  </a:lnTo>
                  <a:lnTo>
                    <a:pt x="15" y="458"/>
                  </a:lnTo>
                  <a:lnTo>
                    <a:pt x="13" y="458"/>
                  </a:lnTo>
                  <a:lnTo>
                    <a:pt x="11" y="460"/>
                  </a:lnTo>
                  <a:lnTo>
                    <a:pt x="10" y="460"/>
                  </a:lnTo>
                  <a:lnTo>
                    <a:pt x="10" y="458"/>
                  </a:lnTo>
                  <a:lnTo>
                    <a:pt x="8" y="458"/>
                  </a:lnTo>
                  <a:lnTo>
                    <a:pt x="8" y="458"/>
                  </a:lnTo>
                  <a:lnTo>
                    <a:pt x="6" y="456"/>
                  </a:lnTo>
                  <a:lnTo>
                    <a:pt x="6" y="456"/>
                  </a:lnTo>
                  <a:lnTo>
                    <a:pt x="4" y="456"/>
                  </a:lnTo>
                  <a:lnTo>
                    <a:pt x="4" y="456"/>
                  </a:lnTo>
                  <a:lnTo>
                    <a:pt x="4" y="456"/>
                  </a:lnTo>
                  <a:lnTo>
                    <a:pt x="4" y="458"/>
                  </a:lnTo>
                  <a:lnTo>
                    <a:pt x="2" y="460"/>
                  </a:lnTo>
                  <a:lnTo>
                    <a:pt x="2" y="462"/>
                  </a:lnTo>
                  <a:lnTo>
                    <a:pt x="2" y="464"/>
                  </a:lnTo>
                  <a:lnTo>
                    <a:pt x="2" y="466"/>
                  </a:lnTo>
                  <a:lnTo>
                    <a:pt x="4" y="468"/>
                  </a:lnTo>
                  <a:lnTo>
                    <a:pt x="2" y="469"/>
                  </a:lnTo>
                  <a:lnTo>
                    <a:pt x="4" y="471"/>
                  </a:lnTo>
                  <a:lnTo>
                    <a:pt x="4" y="471"/>
                  </a:lnTo>
                  <a:lnTo>
                    <a:pt x="6" y="473"/>
                  </a:lnTo>
                  <a:lnTo>
                    <a:pt x="6" y="473"/>
                  </a:lnTo>
                  <a:lnTo>
                    <a:pt x="8" y="475"/>
                  </a:lnTo>
                  <a:lnTo>
                    <a:pt x="8" y="477"/>
                  </a:lnTo>
                  <a:lnTo>
                    <a:pt x="8" y="479"/>
                  </a:lnTo>
                  <a:lnTo>
                    <a:pt x="8" y="481"/>
                  </a:lnTo>
                  <a:lnTo>
                    <a:pt x="8" y="481"/>
                  </a:lnTo>
                  <a:lnTo>
                    <a:pt x="10" y="483"/>
                  </a:lnTo>
                  <a:lnTo>
                    <a:pt x="10" y="485"/>
                  </a:lnTo>
                  <a:lnTo>
                    <a:pt x="10" y="485"/>
                  </a:lnTo>
                  <a:lnTo>
                    <a:pt x="10" y="488"/>
                  </a:lnTo>
                  <a:lnTo>
                    <a:pt x="10" y="496"/>
                  </a:lnTo>
                  <a:lnTo>
                    <a:pt x="11" y="496"/>
                  </a:lnTo>
                  <a:lnTo>
                    <a:pt x="13" y="498"/>
                  </a:lnTo>
                  <a:lnTo>
                    <a:pt x="15" y="498"/>
                  </a:lnTo>
                  <a:lnTo>
                    <a:pt x="17" y="498"/>
                  </a:lnTo>
                  <a:lnTo>
                    <a:pt x="19" y="498"/>
                  </a:lnTo>
                  <a:lnTo>
                    <a:pt x="21" y="498"/>
                  </a:lnTo>
                  <a:lnTo>
                    <a:pt x="23" y="496"/>
                  </a:lnTo>
                  <a:lnTo>
                    <a:pt x="23" y="496"/>
                  </a:lnTo>
                  <a:lnTo>
                    <a:pt x="23" y="496"/>
                  </a:lnTo>
                  <a:lnTo>
                    <a:pt x="23" y="494"/>
                  </a:lnTo>
                  <a:lnTo>
                    <a:pt x="23" y="494"/>
                  </a:lnTo>
                  <a:lnTo>
                    <a:pt x="25" y="494"/>
                  </a:lnTo>
                  <a:lnTo>
                    <a:pt x="25" y="494"/>
                  </a:lnTo>
                  <a:lnTo>
                    <a:pt x="27" y="494"/>
                  </a:lnTo>
                  <a:lnTo>
                    <a:pt x="29" y="492"/>
                  </a:lnTo>
                  <a:lnTo>
                    <a:pt x="29" y="492"/>
                  </a:lnTo>
                  <a:lnTo>
                    <a:pt x="32" y="488"/>
                  </a:lnTo>
                  <a:lnTo>
                    <a:pt x="34" y="488"/>
                  </a:lnTo>
                  <a:lnTo>
                    <a:pt x="36" y="490"/>
                  </a:lnTo>
                  <a:lnTo>
                    <a:pt x="42" y="496"/>
                  </a:lnTo>
                  <a:lnTo>
                    <a:pt x="42" y="500"/>
                  </a:lnTo>
                  <a:lnTo>
                    <a:pt x="42" y="500"/>
                  </a:lnTo>
                  <a:lnTo>
                    <a:pt x="42" y="509"/>
                  </a:lnTo>
                  <a:lnTo>
                    <a:pt x="42" y="511"/>
                  </a:lnTo>
                  <a:lnTo>
                    <a:pt x="42" y="511"/>
                  </a:lnTo>
                  <a:lnTo>
                    <a:pt x="44" y="513"/>
                  </a:lnTo>
                  <a:lnTo>
                    <a:pt x="44" y="515"/>
                  </a:lnTo>
                  <a:lnTo>
                    <a:pt x="44" y="517"/>
                  </a:lnTo>
                  <a:lnTo>
                    <a:pt x="44" y="519"/>
                  </a:lnTo>
                  <a:lnTo>
                    <a:pt x="46" y="519"/>
                  </a:lnTo>
                  <a:lnTo>
                    <a:pt x="46" y="521"/>
                  </a:lnTo>
                  <a:lnTo>
                    <a:pt x="48" y="521"/>
                  </a:lnTo>
                  <a:lnTo>
                    <a:pt x="51" y="525"/>
                  </a:lnTo>
                  <a:lnTo>
                    <a:pt x="53" y="525"/>
                  </a:lnTo>
                  <a:lnTo>
                    <a:pt x="57" y="527"/>
                  </a:lnTo>
                  <a:lnTo>
                    <a:pt x="59" y="527"/>
                  </a:lnTo>
                  <a:lnTo>
                    <a:pt x="59" y="528"/>
                  </a:lnTo>
                  <a:lnTo>
                    <a:pt x="61" y="528"/>
                  </a:lnTo>
                  <a:lnTo>
                    <a:pt x="63" y="530"/>
                  </a:lnTo>
                  <a:lnTo>
                    <a:pt x="65" y="530"/>
                  </a:lnTo>
                  <a:lnTo>
                    <a:pt x="67" y="530"/>
                  </a:lnTo>
                  <a:lnTo>
                    <a:pt x="76" y="528"/>
                  </a:lnTo>
                  <a:lnTo>
                    <a:pt x="76" y="528"/>
                  </a:lnTo>
                  <a:lnTo>
                    <a:pt x="80" y="530"/>
                  </a:lnTo>
                  <a:lnTo>
                    <a:pt x="80" y="530"/>
                  </a:lnTo>
                  <a:lnTo>
                    <a:pt x="82" y="530"/>
                  </a:lnTo>
                  <a:lnTo>
                    <a:pt x="82" y="532"/>
                  </a:lnTo>
                  <a:lnTo>
                    <a:pt x="84" y="532"/>
                  </a:lnTo>
                  <a:lnTo>
                    <a:pt x="86" y="532"/>
                  </a:lnTo>
                  <a:lnTo>
                    <a:pt x="90" y="534"/>
                  </a:lnTo>
                  <a:lnTo>
                    <a:pt x="90" y="534"/>
                  </a:lnTo>
                  <a:lnTo>
                    <a:pt x="93" y="534"/>
                  </a:lnTo>
                  <a:lnTo>
                    <a:pt x="93" y="536"/>
                  </a:lnTo>
                  <a:lnTo>
                    <a:pt x="95" y="538"/>
                  </a:lnTo>
                  <a:lnTo>
                    <a:pt x="99" y="542"/>
                  </a:lnTo>
                  <a:lnTo>
                    <a:pt x="99" y="546"/>
                  </a:lnTo>
                  <a:lnTo>
                    <a:pt x="101" y="546"/>
                  </a:lnTo>
                  <a:lnTo>
                    <a:pt x="101" y="547"/>
                  </a:lnTo>
                  <a:lnTo>
                    <a:pt x="103" y="547"/>
                  </a:lnTo>
                  <a:lnTo>
                    <a:pt x="103" y="547"/>
                  </a:lnTo>
                  <a:lnTo>
                    <a:pt x="109" y="551"/>
                  </a:lnTo>
                  <a:lnTo>
                    <a:pt x="118" y="553"/>
                  </a:lnTo>
                  <a:lnTo>
                    <a:pt x="122" y="551"/>
                  </a:lnTo>
                  <a:lnTo>
                    <a:pt x="122" y="553"/>
                  </a:lnTo>
                  <a:lnTo>
                    <a:pt x="124" y="553"/>
                  </a:lnTo>
                  <a:lnTo>
                    <a:pt x="124" y="553"/>
                  </a:lnTo>
                  <a:lnTo>
                    <a:pt x="133" y="553"/>
                  </a:lnTo>
                  <a:lnTo>
                    <a:pt x="137" y="553"/>
                  </a:lnTo>
                  <a:lnTo>
                    <a:pt x="139" y="553"/>
                  </a:lnTo>
                  <a:lnTo>
                    <a:pt x="141" y="553"/>
                  </a:lnTo>
                  <a:lnTo>
                    <a:pt x="145" y="553"/>
                  </a:lnTo>
                  <a:lnTo>
                    <a:pt x="145" y="551"/>
                  </a:lnTo>
                  <a:lnTo>
                    <a:pt x="147" y="551"/>
                  </a:lnTo>
                  <a:lnTo>
                    <a:pt x="151" y="553"/>
                  </a:lnTo>
                  <a:lnTo>
                    <a:pt x="154" y="553"/>
                  </a:lnTo>
                  <a:lnTo>
                    <a:pt x="164" y="553"/>
                  </a:lnTo>
                  <a:lnTo>
                    <a:pt x="170" y="551"/>
                  </a:lnTo>
                  <a:lnTo>
                    <a:pt x="173" y="551"/>
                  </a:lnTo>
                  <a:lnTo>
                    <a:pt x="175" y="551"/>
                  </a:lnTo>
                  <a:lnTo>
                    <a:pt x="177" y="551"/>
                  </a:lnTo>
                  <a:lnTo>
                    <a:pt x="181" y="553"/>
                  </a:lnTo>
                  <a:lnTo>
                    <a:pt x="185" y="553"/>
                  </a:lnTo>
                  <a:lnTo>
                    <a:pt x="187" y="553"/>
                  </a:lnTo>
                  <a:lnTo>
                    <a:pt x="187" y="553"/>
                  </a:lnTo>
                  <a:lnTo>
                    <a:pt x="189" y="553"/>
                  </a:lnTo>
                  <a:lnTo>
                    <a:pt x="189" y="553"/>
                  </a:lnTo>
                  <a:lnTo>
                    <a:pt x="191" y="555"/>
                  </a:lnTo>
                  <a:lnTo>
                    <a:pt x="192" y="557"/>
                  </a:lnTo>
                  <a:lnTo>
                    <a:pt x="194" y="563"/>
                  </a:lnTo>
                  <a:lnTo>
                    <a:pt x="194" y="566"/>
                  </a:lnTo>
                  <a:lnTo>
                    <a:pt x="194" y="570"/>
                  </a:lnTo>
                  <a:lnTo>
                    <a:pt x="194" y="572"/>
                  </a:lnTo>
                  <a:lnTo>
                    <a:pt x="194" y="572"/>
                  </a:lnTo>
                  <a:lnTo>
                    <a:pt x="192" y="572"/>
                  </a:lnTo>
                  <a:lnTo>
                    <a:pt x="192" y="572"/>
                  </a:lnTo>
                  <a:lnTo>
                    <a:pt x="192" y="572"/>
                  </a:lnTo>
                  <a:lnTo>
                    <a:pt x="191" y="574"/>
                  </a:lnTo>
                  <a:lnTo>
                    <a:pt x="191" y="574"/>
                  </a:lnTo>
                  <a:lnTo>
                    <a:pt x="191" y="574"/>
                  </a:lnTo>
                  <a:lnTo>
                    <a:pt x="191" y="574"/>
                  </a:lnTo>
                  <a:lnTo>
                    <a:pt x="191" y="574"/>
                  </a:lnTo>
                  <a:lnTo>
                    <a:pt x="192" y="574"/>
                  </a:lnTo>
                  <a:lnTo>
                    <a:pt x="194" y="580"/>
                  </a:lnTo>
                  <a:lnTo>
                    <a:pt x="196" y="582"/>
                  </a:lnTo>
                  <a:lnTo>
                    <a:pt x="198" y="582"/>
                  </a:lnTo>
                  <a:lnTo>
                    <a:pt x="208" y="584"/>
                  </a:lnTo>
                  <a:lnTo>
                    <a:pt x="212" y="582"/>
                  </a:lnTo>
                  <a:lnTo>
                    <a:pt x="217" y="582"/>
                  </a:lnTo>
                  <a:lnTo>
                    <a:pt x="219" y="580"/>
                  </a:lnTo>
                  <a:lnTo>
                    <a:pt x="221" y="580"/>
                  </a:lnTo>
                  <a:lnTo>
                    <a:pt x="223" y="578"/>
                  </a:lnTo>
                  <a:lnTo>
                    <a:pt x="225" y="576"/>
                  </a:lnTo>
                  <a:lnTo>
                    <a:pt x="227" y="574"/>
                  </a:lnTo>
                  <a:lnTo>
                    <a:pt x="227" y="572"/>
                  </a:lnTo>
                  <a:lnTo>
                    <a:pt x="231" y="570"/>
                  </a:lnTo>
                  <a:lnTo>
                    <a:pt x="232" y="570"/>
                  </a:lnTo>
                  <a:lnTo>
                    <a:pt x="238" y="570"/>
                  </a:lnTo>
                  <a:lnTo>
                    <a:pt x="240" y="570"/>
                  </a:lnTo>
                  <a:lnTo>
                    <a:pt x="240" y="568"/>
                  </a:lnTo>
                  <a:lnTo>
                    <a:pt x="242" y="566"/>
                  </a:lnTo>
                  <a:lnTo>
                    <a:pt x="242" y="565"/>
                  </a:lnTo>
                  <a:lnTo>
                    <a:pt x="242" y="561"/>
                  </a:lnTo>
                  <a:lnTo>
                    <a:pt x="240" y="559"/>
                  </a:lnTo>
                  <a:lnTo>
                    <a:pt x="240" y="557"/>
                  </a:lnTo>
                  <a:lnTo>
                    <a:pt x="240" y="557"/>
                  </a:lnTo>
                  <a:lnTo>
                    <a:pt x="240" y="555"/>
                  </a:lnTo>
                  <a:lnTo>
                    <a:pt x="242" y="555"/>
                  </a:lnTo>
                  <a:lnTo>
                    <a:pt x="244" y="553"/>
                  </a:lnTo>
                  <a:lnTo>
                    <a:pt x="248" y="551"/>
                  </a:lnTo>
                  <a:lnTo>
                    <a:pt x="248" y="549"/>
                  </a:lnTo>
                  <a:lnTo>
                    <a:pt x="250" y="549"/>
                  </a:lnTo>
                  <a:lnTo>
                    <a:pt x="252" y="546"/>
                  </a:lnTo>
                  <a:lnTo>
                    <a:pt x="252" y="544"/>
                  </a:lnTo>
                  <a:lnTo>
                    <a:pt x="253" y="544"/>
                  </a:lnTo>
                  <a:lnTo>
                    <a:pt x="253" y="542"/>
                  </a:lnTo>
                  <a:lnTo>
                    <a:pt x="253" y="542"/>
                  </a:lnTo>
                  <a:lnTo>
                    <a:pt x="253" y="542"/>
                  </a:lnTo>
                  <a:lnTo>
                    <a:pt x="253" y="540"/>
                  </a:lnTo>
                  <a:lnTo>
                    <a:pt x="253" y="540"/>
                  </a:lnTo>
                  <a:lnTo>
                    <a:pt x="253" y="540"/>
                  </a:lnTo>
                  <a:lnTo>
                    <a:pt x="253" y="538"/>
                  </a:lnTo>
                  <a:lnTo>
                    <a:pt x="253" y="538"/>
                  </a:lnTo>
                  <a:lnTo>
                    <a:pt x="255" y="536"/>
                  </a:lnTo>
                  <a:lnTo>
                    <a:pt x="255" y="532"/>
                  </a:lnTo>
                  <a:lnTo>
                    <a:pt x="257" y="530"/>
                  </a:lnTo>
                  <a:lnTo>
                    <a:pt x="259" y="530"/>
                  </a:lnTo>
                  <a:lnTo>
                    <a:pt x="265" y="530"/>
                  </a:lnTo>
                  <a:lnTo>
                    <a:pt x="267" y="528"/>
                  </a:lnTo>
                  <a:lnTo>
                    <a:pt x="276" y="521"/>
                  </a:lnTo>
                  <a:lnTo>
                    <a:pt x="280" y="519"/>
                  </a:lnTo>
                  <a:lnTo>
                    <a:pt x="284" y="519"/>
                  </a:lnTo>
                  <a:lnTo>
                    <a:pt x="290" y="519"/>
                  </a:lnTo>
                  <a:lnTo>
                    <a:pt x="290" y="519"/>
                  </a:lnTo>
                  <a:lnTo>
                    <a:pt x="292" y="519"/>
                  </a:lnTo>
                  <a:lnTo>
                    <a:pt x="292" y="519"/>
                  </a:lnTo>
                  <a:lnTo>
                    <a:pt x="292" y="519"/>
                  </a:lnTo>
                  <a:lnTo>
                    <a:pt x="292" y="521"/>
                  </a:lnTo>
                  <a:lnTo>
                    <a:pt x="293" y="521"/>
                  </a:lnTo>
                  <a:lnTo>
                    <a:pt x="293" y="521"/>
                  </a:lnTo>
                  <a:lnTo>
                    <a:pt x="293" y="521"/>
                  </a:lnTo>
                  <a:lnTo>
                    <a:pt x="295" y="521"/>
                  </a:lnTo>
                  <a:lnTo>
                    <a:pt x="295" y="521"/>
                  </a:lnTo>
                  <a:lnTo>
                    <a:pt x="295" y="519"/>
                  </a:lnTo>
                  <a:lnTo>
                    <a:pt x="297" y="517"/>
                  </a:lnTo>
                  <a:lnTo>
                    <a:pt x="297" y="517"/>
                  </a:lnTo>
                  <a:lnTo>
                    <a:pt x="301" y="517"/>
                  </a:lnTo>
                  <a:lnTo>
                    <a:pt x="301" y="517"/>
                  </a:lnTo>
                  <a:lnTo>
                    <a:pt x="303" y="515"/>
                  </a:lnTo>
                  <a:lnTo>
                    <a:pt x="303" y="513"/>
                  </a:lnTo>
                  <a:lnTo>
                    <a:pt x="305" y="513"/>
                  </a:lnTo>
                  <a:lnTo>
                    <a:pt x="316" y="513"/>
                  </a:lnTo>
                  <a:lnTo>
                    <a:pt x="318" y="515"/>
                  </a:lnTo>
                  <a:lnTo>
                    <a:pt x="318" y="515"/>
                  </a:lnTo>
                  <a:lnTo>
                    <a:pt x="320" y="515"/>
                  </a:lnTo>
                  <a:lnTo>
                    <a:pt x="320" y="517"/>
                  </a:lnTo>
                  <a:lnTo>
                    <a:pt x="320" y="517"/>
                  </a:lnTo>
                  <a:lnTo>
                    <a:pt x="320" y="517"/>
                  </a:lnTo>
                  <a:lnTo>
                    <a:pt x="320" y="517"/>
                  </a:lnTo>
                  <a:lnTo>
                    <a:pt x="320" y="517"/>
                  </a:lnTo>
                  <a:lnTo>
                    <a:pt x="322" y="519"/>
                  </a:lnTo>
                  <a:lnTo>
                    <a:pt x="324" y="519"/>
                  </a:lnTo>
                  <a:lnTo>
                    <a:pt x="324" y="521"/>
                  </a:lnTo>
                  <a:lnTo>
                    <a:pt x="324" y="521"/>
                  </a:lnTo>
                  <a:lnTo>
                    <a:pt x="326" y="528"/>
                  </a:lnTo>
                  <a:lnTo>
                    <a:pt x="326" y="530"/>
                  </a:lnTo>
                  <a:lnTo>
                    <a:pt x="326" y="530"/>
                  </a:lnTo>
                  <a:lnTo>
                    <a:pt x="326" y="532"/>
                  </a:lnTo>
                  <a:lnTo>
                    <a:pt x="326" y="534"/>
                  </a:lnTo>
                  <a:lnTo>
                    <a:pt x="328" y="534"/>
                  </a:lnTo>
                  <a:lnTo>
                    <a:pt x="328" y="536"/>
                  </a:lnTo>
                  <a:lnTo>
                    <a:pt x="328" y="536"/>
                  </a:lnTo>
                  <a:lnTo>
                    <a:pt x="326" y="536"/>
                  </a:lnTo>
                  <a:lnTo>
                    <a:pt x="326" y="536"/>
                  </a:lnTo>
                  <a:lnTo>
                    <a:pt x="316" y="536"/>
                  </a:lnTo>
                  <a:lnTo>
                    <a:pt x="314" y="536"/>
                  </a:lnTo>
                  <a:lnTo>
                    <a:pt x="314" y="536"/>
                  </a:lnTo>
                  <a:lnTo>
                    <a:pt x="314" y="538"/>
                  </a:lnTo>
                  <a:lnTo>
                    <a:pt x="314" y="538"/>
                  </a:lnTo>
                  <a:lnTo>
                    <a:pt x="314" y="540"/>
                  </a:lnTo>
                  <a:lnTo>
                    <a:pt x="314" y="540"/>
                  </a:lnTo>
                  <a:lnTo>
                    <a:pt x="314" y="542"/>
                  </a:lnTo>
                  <a:lnTo>
                    <a:pt x="316" y="544"/>
                  </a:lnTo>
                  <a:lnTo>
                    <a:pt x="318" y="547"/>
                  </a:lnTo>
                  <a:lnTo>
                    <a:pt x="318" y="549"/>
                  </a:lnTo>
                  <a:lnTo>
                    <a:pt x="318" y="551"/>
                  </a:lnTo>
                  <a:lnTo>
                    <a:pt x="318" y="551"/>
                  </a:lnTo>
                  <a:lnTo>
                    <a:pt x="320" y="551"/>
                  </a:lnTo>
                  <a:lnTo>
                    <a:pt x="320" y="551"/>
                  </a:lnTo>
                  <a:lnTo>
                    <a:pt x="320" y="549"/>
                  </a:lnTo>
                  <a:lnTo>
                    <a:pt x="322" y="549"/>
                  </a:lnTo>
                  <a:lnTo>
                    <a:pt x="322" y="549"/>
                  </a:lnTo>
                  <a:lnTo>
                    <a:pt x="322" y="549"/>
                  </a:lnTo>
                  <a:lnTo>
                    <a:pt x="324" y="549"/>
                  </a:lnTo>
                  <a:lnTo>
                    <a:pt x="324" y="549"/>
                  </a:lnTo>
                  <a:lnTo>
                    <a:pt x="326" y="551"/>
                  </a:lnTo>
                  <a:lnTo>
                    <a:pt x="326" y="551"/>
                  </a:lnTo>
                  <a:lnTo>
                    <a:pt x="326" y="551"/>
                  </a:lnTo>
                  <a:lnTo>
                    <a:pt x="328" y="551"/>
                  </a:lnTo>
                  <a:lnTo>
                    <a:pt x="328" y="551"/>
                  </a:lnTo>
                  <a:lnTo>
                    <a:pt x="330" y="551"/>
                  </a:lnTo>
                  <a:lnTo>
                    <a:pt x="332" y="551"/>
                  </a:lnTo>
                  <a:lnTo>
                    <a:pt x="332" y="551"/>
                  </a:lnTo>
                  <a:lnTo>
                    <a:pt x="333" y="551"/>
                  </a:lnTo>
                  <a:lnTo>
                    <a:pt x="333" y="551"/>
                  </a:lnTo>
                  <a:lnTo>
                    <a:pt x="335" y="551"/>
                  </a:lnTo>
                  <a:lnTo>
                    <a:pt x="337" y="551"/>
                  </a:lnTo>
                  <a:lnTo>
                    <a:pt x="337" y="551"/>
                  </a:lnTo>
                  <a:lnTo>
                    <a:pt x="337" y="553"/>
                  </a:lnTo>
                  <a:lnTo>
                    <a:pt x="339" y="553"/>
                  </a:lnTo>
                  <a:lnTo>
                    <a:pt x="339" y="553"/>
                  </a:lnTo>
                  <a:lnTo>
                    <a:pt x="343" y="551"/>
                  </a:lnTo>
                  <a:lnTo>
                    <a:pt x="345" y="549"/>
                  </a:lnTo>
                  <a:lnTo>
                    <a:pt x="347" y="547"/>
                  </a:lnTo>
                  <a:lnTo>
                    <a:pt x="347" y="547"/>
                  </a:lnTo>
                  <a:lnTo>
                    <a:pt x="349" y="547"/>
                  </a:lnTo>
                  <a:lnTo>
                    <a:pt x="353" y="549"/>
                  </a:lnTo>
                  <a:lnTo>
                    <a:pt x="354" y="551"/>
                  </a:lnTo>
                  <a:lnTo>
                    <a:pt x="356" y="551"/>
                  </a:lnTo>
                  <a:lnTo>
                    <a:pt x="358" y="551"/>
                  </a:lnTo>
                  <a:lnTo>
                    <a:pt x="370" y="547"/>
                  </a:lnTo>
                  <a:lnTo>
                    <a:pt x="373" y="544"/>
                  </a:lnTo>
                  <a:lnTo>
                    <a:pt x="377" y="542"/>
                  </a:lnTo>
                  <a:lnTo>
                    <a:pt x="379" y="542"/>
                  </a:lnTo>
                  <a:lnTo>
                    <a:pt x="381" y="538"/>
                  </a:lnTo>
                  <a:lnTo>
                    <a:pt x="383" y="536"/>
                  </a:lnTo>
                  <a:lnTo>
                    <a:pt x="385" y="536"/>
                  </a:lnTo>
                  <a:lnTo>
                    <a:pt x="385" y="534"/>
                  </a:lnTo>
                  <a:lnTo>
                    <a:pt x="391" y="534"/>
                  </a:lnTo>
                  <a:lnTo>
                    <a:pt x="394" y="532"/>
                  </a:lnTo>
                  <a:lnTo>
                    <a:pt x="396" y="528"/>
                  </a:lnTo>
                  <a:lnTo>
                    <a:pt x="398" y="528"/>
                  </a:lnTo>
                  <a:lnTo>
                    <a:pt x="398" y="528"/>
                  </a:lnTo>
                  <a:lnTo>
                    <a:pt x="400" y="528"/>
                  </a:lnTo>
                  <a:lnTo>
                    <a:pt x="400" y="528"/>
                  </a:lnTo>
                  <a:lnTo>
                    <a:pt x="402" y="528"/>
                  </a:lnTo>
                  <a:lnTo>
                    <a:pt x="402" y="528"/>
                  </a:lnTo>
                  <a:lnTo>
                    <a:pt x="404" y="528"/>
                  </a:lnTo>
                  <a:lnTo>
                    <a:pt x="404" y="530"/>
                  </a:lnTo>
                  <a:lnTo>
                    <a:pt x="404" y="532"/>
                  </a:lnTo>
                  <a:lnTo>
                    <a:pt x="406" y="534"/>
                  </a:lnTo>
                  <a:lnTo>
                    <a:pt x="406" y="536"/>
                  </a:lnTo>
                  <a:lnTo>
                    <a:pt x="406" y="538"/>
                  </a:lnTo>
                  <a:lnTo>
                    <a:pt x="406" y="540"/>
                  </a:lnTo>
                  <a:lnTo>
                    <a:pt x="406" y="540"/>
                  </a:lnTo>
                  <a:lnTo>
                    <a:pt x="406" y="540"/>
                  </a:lnTo>
                  <a:lnTo>
                    <a:pt x="406" y="540"/>
                  </a:lnTo>
                  <a:lnTo>
                    <a:pt x="406" y="540"/>
                  </a:lnTo>
                  <a:lnTo>
                    <a:pt x="406" y="540"/>
                  </a:lnTo>
                  <a:lnTo>
                    <a:pt x="408" y="540"/>
                  </a:lnTo>
                  <a:lnTo>
                    <a:pt x="408" y="540"/>
                  </a:lnTo>
                  <a:lnTo>
                    <a:pt x="410" y="540"/>
                  </a:lnTo>
                  <a:lnTo>
                    <a:pt x="410" y="538"/>
                  </a:lnTo>
                  <a:lnTo>
                    <a:pt x="412" y="538"/>
                  </a:lnTo>
                  <a:lnTo>
                    <a:pt x="412" y="538"/>
                  </a:lnTo>
                  <a:lnTo>
                    <a:pt x="413" y="538"/>
                  </a:lnTo>
                  <a:lnTo>
                    <a:pt x="415" y="538"/>
                  </a:lnTo>
                  <a:lnTo>
                    <a:pt x="415" y="540"/>
                  </a:lnTo>
                  <a:lnTo>
                    <a:pt x="417" y="540"/>
                  </a:lnTo>
                  <a:lnTo>
                    <a:pt x="417" y="542"/>
                  </a:lnTo>
                  <a:lnTo>
                    <a:pt x="425" y="544"/>
                  </a:lnTo>
                  <a:lnTo>
                    <a:pt x="431" y="544"/>
                  </a:lnTo>
                  <a:lnTo>
                    <a:pt x="433" y="544"/>
                  </a:lnTo>
                  <a:lnTo>
                    <a:pt x="434" y="542"/>
                  </a:lnTo>
                  <a:lnTo>
                    <a:pt x="440" y="542"/>
                  </a:lnTo>
                  <a:lnTo>
                    <a:pt x="444" y="540"/>
                  </a:lnTo>
                  <a:lnTo>
                    <a:pt x="446" y="540"/>
                  </a:lnTo>
                  <a:lnTo>
                    <a:pt x="450" y="540"/>
                  </a:lnTo>
                  <a:lnTo>
                    <a:pt x="452" y="540"/>
                  </a:lnTo>
                  <a:lnTo>
                    <a:pt x="452" y="538"/>
                  </a:lnTo>
                  <a:lnTo>
                    <a:pt x="452" y="538"/>
                  </a:lnTo>
                  <a:lnTo>
                    <a:pt x="452" y="536"/>
                  </a:lnTo>
                  <a:lnTo>
                    <a:pt x="452" y="536"/>
                  </a:lnTo>
                  <a:lnTo>
                    <a:pt x="452" y="534"/>
                  </a:lnTo>
                  <a:lnTo>
                    <a:pt x="452" y="534"/>
                  </a:lnTo>
                  <a:lnTo>
                    <a:pt x="452" y="532"/>
                  </a:lnTo>
                  <a:lnTo>
                    <a:pt x="454" y="532"/>
                  </a:lnTo>
                  <a:lnTo>
                    <a:pt x="457" y="530"/>
                  </a:lnTo>
                  <a:lnTo>
                    <a:pt x="467" y="530"/>
                  </a:lnTo>
                  <a:lnTo>
                    <a:pt x="469" y="528"/>
                  </a:lnTo>
                  <a:lnTo>
                    <a:pt x="474" y="527"/>
                  </a:lnTo>
                  <a:lnTo>
                    <a:pt x="476" y="527"/>
                  </a:lnTo>
                  <a:lnTo>
                    <a:pt x="478" y="525"/>
                  </a:lnTo>
                  <a:lnTo>
                    <a:pt x="480" y="525"/>
                  </a:lnTo>
                  <a:lnTo>
                    <a:pt x="480" y="523"/>
                  </a:lnTo>
                  <a:lnTo>
                    <a:pt x="480" y="521"/>
                  </a:lnTo>
                  <a:lnTo>
                    <a:pt x="480" y="521"/>
                  </a:lnTo>
                  <a:lnTo>
                    <a:pt x="480" y="521"/>
                  </a:lnTo>
                  <a:lnTo>
                    <a:pt x="480" y="519"/>
                  </a:lnTo>
                  <a:lnTo>
                    <a:pt x="482" y="519"/>
                  </a:lnTo>
                  <a:lnTo>
                    <a:pt x="486" y="521"/>
                  </a:lnTo>
                  <a:lnTo>
                    <a:pt x="488" y="521"/>
                  </a:lnTo>
                  <a:lnTo>
                    <a:pt x="490" y="523"/>
                  </a:lnTo>
                  <a:lnTo>
                    <a:pt x="494" y="521"/>
                  </a:lnTo>
                  <a:lnTo>
                    <a:pt x="494" y="523"/>
                  </a:lnTo>
                  <a:lnTo>
                    <a:pt x="495" y="523"/>
                  </a:lnTo>
                  <a:lnTo>
                    <a:pt x="497" y="523"/>
                  </a:lnTo>
                  <a:lnTo>
                    <a:pt x="497" y="523"/>
                  </a:lnTo>
                  <a:lnTo>
                    <a:pt x="501" y="523"/>
                  </a:lnTo>
                  <a:lnTo>
                    <a:pt x="503" y="525"/>
                  </a:lnTo>
                  <a:lnTo>
                    <a:pt x="505" y="527"/>
                  </a:lnTo>
                  <a:lnTo>
                    <a:pt x="507" y="528"/>
                  </a:lnTo>
                  <a:lnTo>
                    <a:pt x="509" y="530"/>
                  </a:lnTo>
                  <a:lnTo>
                    <a:pt x="509" y="532"/>
                  </a:lnTo>
                  <a:lnTo>
                    <a:pt x="509" y="532"/>
                  </a:lnTo>
                  <a:lnTo>
                    <a:pt x="509" y="532"/>
                  </a:lnTo>
                  <a:lnTo>
                    <a:pt x="509" y="534"/>
                  </a:lnTo>
                  <a:lnTo>
                    <a:pt x="509" y="536"/>
                  </a:lnTo>
                  <a:lnTo>
                    <a:pt x="511" y="536"/>
                  </a:lnTo>
                  <a:lnTo>
                    <a:pt x="511" y="536"/>
                  </a:lnTo>
                  <a:lnTo>
                    <a:pt x="513" y="536"/>
                  </a:lnTo>
                  <a:lnTo>
                    <a:pt x="514" y="536"/>
                  </a:lnTo>
                  <a:lnTo>
                    <a:pt x="514" y="536"/>
                  </a:lnTo>
                  <a:lnTo>
                    <a:pt x="516" y="534"/>
                  </a:lnTo>
                  <a:lnTo>
                    <a:pt x="518" y="532"/>
                  </a:lnTo>
                  <a:lnTo>
                    <a:pt x="520" y="532"/>
                  </a:lnTo>
                  <a:lnTo>
                    <a:pt x="520" y="532"/>
                  </a:lnTo>
                  <a:lnTo>
                    <a:pt x="524" y="532"/>
                  </a:lnTo>
                  <a:lnTo>
                    <a:pt x="528" y="532"/>
                  </a:lnTo>
                  <a:lnTo>
                    <a:pt x="530" y="532"/>
                  </a:lnTo>
                  <a:lnTo>
                    <a:pt x="532" y="532"/>
                  </a:lnTo>
                  <a:lnTo>
                    <a:pt x="534" y="532"/>
                  </a:lnTo>
                  <a:lnTo>
                    <a:pt x="534" y="534"/>
                  </a:lnTo>
                  <a:lnTo>
                    <a:pt x="535" y="534"/>
                  </a:lnTo>
                  <a:lnTo>
                    <a:pt x="535" y="536"/>
                  </a:lnTo>
                  <a:lnTo>
                    <a:pt x="535" y="538"/>
                  </a:lnTo>
                  <a:lnTo>
                    <a:pt x="537" y="538"/>
                  </a:lnTo>
                  <a:lnTo>
                    <a:pt x="537" y="538"/>
                  </a:lnTo>
                  <a:lnTo>
                    <a:pt x="539" y="538"/>
                  </a:lnTo>
                  <a:lnTo>
                    <a:pt x="541" y="538"/>
                  </a:lnTo>
                  <a:lnTo>
                    <a:pt x="543" y="536"/>
                  </a:lnTo>
                  <a:lnTo>
                    <a:pt x="543" y="536"/>
                  </a:lnTo>
                  <a:lnTo>
                    <a:pt x="545" y="536"/>
                  </a:lnTo>
                  <a:lnTo>
                    <a:pt x="545" y="536"/>
                  </a:lnTo>
                  <a:lnTo>
                    <a:pt x="547" y="534"/>
                  </a:lnTo>
                  <a:lnTo>
                    <a:pt x="549" y="534"/>
                  </a:lnTo>
                  <a:lnTo>
                    <a:pt x="549" y="534"/>
                  </a:lnTo>
                  <a:lnTo>
                    <a:pt x="549" y="536"/>
                  </a:lnTo>
                  <a:lnTo>
                    <a:pt x="549" y="536"/>
                  </a:lnTo>
                  <a:lnTo>
                    <a:pt x="549" y="536"/>
                  </a:lnTo>
                  <a:lnTo>
                    <a:pt x="551" y="536"/>
                  </a:lnTo>
                  <a:lnTo>
                    <a:pt x="551" y="536"/>
                  </a:lnTo>
                  <a:lnTo>
                    <a:pt x="558" y="534"/>
                  </a:lnTo>
                  <a:lnTo>
                    <a:pt x="558" y="532"/>
                  </a:lnTo>
                  <a:lnTo>
                    <a:pt x="560" y="530"/>
                  </a:lnTo>
                  <a:lnTo>
                    <a:pt x="566" y="528"/>
                  </a:lnTo>
                  <a:lnTo>
                    <a:pt x="568" y="528"/>
                  </a:lnTo>
                  <a:lnTo>
                    <a:pt x="568" y="528"/>
                  </a:lnTo>
                  <a:lnTo>
                    <a:pt x="568" y="527"/>
                  </a:lnTo>
                  <a:lnTo>
                    <a:pt x="570" y="528"/>
                  </a:lnTo>
                  <a:lnTo>
                    <a:pt x="574" y="530"/>
                  </a:lnTo>
                  <a:lnTo>
                    <a:pt x="575" y="532"/>
                  </a:lnTo>
                  <a:lnTo>
                    <a:pt x="579" y="532"/>
                  </a:lnTo>
                  <a:lnTo>
                    <a:pt x="579" y="534"/>
                  </a:lnTo>
                  <a:lnTo>
                    <a:pt x="581" y="534"/>
                  </a:lnTo>
                  <a:lnTo>
                    <a:pt x="581" y="534"/>
                  </a:lnTo>
                  <a:lnTo>
                    <a:pt x="581" y="536"/>
                  </a:lnTo>
                  <a:lnTo>
                    <a:pt x="581" y="536"/>
                  </a:lnTo>
                  <a:lnTo>
                    <a:pt x="581" y="538"/>
                  </a:lnTo>
                  <a:lnTo>
                    <a:pt x="587" y="542"/>
                  </a:lnTo>
                  <a:lnTo>
                    <a:pt x="589" y="542"/>
                  </a:lnTo>
                  <a:lnTo>
                    <a:pt x="589" y="544"/>
                  </a:lnTo>
                  <a:lnTo>
                    <a:pt x="589" y="546"/>
                  </a:lnTo>
                  <a:lnTo>
                    <a:pt x="589" y="546"/>
                  </a:lnTo>
                  <a:lnTo>
                    <a:pt x="589" y="547"/>
                  </a:lnTo>
                  <a:lnTo>
                    <a:pt x="589" y="547"/>
                  </a:lnTo>
                  <a:lnTo>
                    <a:pt x="589" y="547"/>
                  </a:lnTo>
                  <a:lnTo>
                    <a:pt x="587" y="549"/>
                  </a:lnTo>
                  <a:lnTo>
                    <a:pt x="587" y="549"/>
                  </a:lnTo>
                  <a:lnTo>
                    <a:pt x="587" y="551"/>
                  </a:lnTo>
                  <a:lnTo>
                    <a:pt x="589" y="551"/>
                  </a:lnTo>
                  <a:lnTo>
                    <a:pt x="589" y="551"/>
                  </a:lnTo>
                  <a:lnTo>
                    <a:pt x="589" y="551"/>
                  </a:lnTo>
                  <a:lnTo>
                    <a:pt x="591" y="551"/>
                  </a:lnTo>
                  <a:lnTo>
                    <a:pt x="593" y="551"/>
                  </a:lnTo>
                  <a:lnTo>
                    <a:pt x="595" y="549"/>
                  </a:lnTo>
                  <a:lnTo>
                    <a:pt x="595" y="549"/>
                  </a:lnTo>
                  <a:lnTo>
                    <a:pt x="596" y="551"/>
                  </a:lnTo>
                  <a:lnTo>
                    <a:pt x="596" y="551"/>
                  </a:lnTo>
                  <a:lnTo>
                    <a:pt x="608" y="557"/>
                  </a:lnTo>
                  <a:lnTo>
                    <a:pt x="608" y="557"/>
                  </a:lnTo>
                  <a:lnTo>
                    <a:pt x="610" y="557"/>
                  </a:lnTo>
                  <a:lnTo>
                    <a:pt x="610" y="557"/>
                  </a:lnTo>
                  <a:lnTo>
                    <a:pt x="610" y="557"/>
                  </a:lnTo>
                  <a:lnTo>
                    <a:pt x="612" y="555"/>
                  </a:lnTo>
                  <a:lnTo>
                    <a:pt x="614" y="555"/>
                  </a:lnTo>
                  <a:lnTo>
                    <a:pt x="615" y="551"/>
                  </a:lnTo>
                  <a:lnTo>
                    <a:pt x="615" y="547"/>
                  </a:lnTo>
                  <a:lnTo>
                    <a:pt x="617" y="544"/>
                  </a:lnTo>
                  <a:lnTo>
                    <a:pt x="617" y="542"/>
                  </a:lnTo>
                  <a:lnTo>
                    <a:pt x="617" y="532"/>
                  </a:lnTo>
                  <a:lnTo>
                    <a:pt x="617" y="530"/>
                  </a:lnTo>
                  <a:lnTo>
                    <a:pt x="617" y="528"/>
                  </a:lnTo>
                  <a:lnTo>
                    <a:pt x="617" y="519"/>
                  </a:lnTo>
                  <a:lnTo>
                    <a:pt x="619" y="517"/>
                  </a:lnTo>
                  <a:lnTo>
                    <a:pt x="621" y="515"/>
                  </a:lnTo>
                  <a:lnTo>
                    <a:pt x="623" y="515"/>
                  </a:lnTo>
                  <a:lnTo>
                    <a:pt x="625" y="513"/>
                  </a:lnTo>
                  <a:lnTo>
                    <a:pt x="627" y="511"/>
                  </a:lnTo>
                  <a:lnTo>
                    <a:pt x="629" y="506"/>
                  </a:lnTo>
                  <a:lnTo>
                    <a:pt x="627" y="500"/>
                  </a:lnTo>
                  <a:lnTo>
                    <a:pt x="629" y="496"/>
                  </a:lnTo>
                  <a:lnTo>
                    <a:pt x="629" y="494"/>
                  </a:lnTo>
                  <a:lnTo>
                    <a:pt x="633" y="485"/>
                  </a:lnTo>
                  <a:lnTo>
                    <a:pt x="635" y="483"/>
                  </a:lnTo>
                  <a:lnTo>
                    <a:pt x="636" y="481"/>
                  </a:lnTo>
                  <a:lnTo>
                    <a:pt x="636" y="481"/>
                  </a:lnTo>
                  <a:lnTo>
                    <a:pt x="638" y="483"/>
                  </a:lnTo>
                  <a:lnTo>
                    <a:pt x="640" y="487"/>
                  </a:lnTo>
                  <a:lnTo>
                    <a:pt x="642" y="487"/>
                  </a:lnTo>
                  <a:lnTo>
                    <a:pt x="642" y="487"/>
                  </a:lnTo>
                  <a:lnTo>
                    <a:pt x="644" y="485"/>
                  </a:lnTo>
                  <a:lnTo>
                    <a:pt x="644" y="483"/>
                  </a:lnTo>
                  <a:lnTo>
                    <a:pt x="642" y="483"/>
                  </a:lnTo>
                  <a:lnTo>
                    <a:pt x="642" y="481"/>
                  </a:lnTo>
                  <a:lnTo>
                    <a:pt x="642" y="479"/>
                  </a:lnTo>
                  <a:lnTo>
                    <a:pt x="642" y="479"/>
                  </a:lnTo>
                  <a:lnTo>
                    <a:pt x="644" y="479"/>
                  </a:lnTo>
                  <a:lnTo>
                    <a:pt x="644" y="479"/>
                  </a:lnTo>
                  <a:lnTo>
                    <a:pt x="646" y="477"/>
                  </a:lnTo>
                  <a:lnTo>
                    <a:pt x="646" y="471"/>
                  </a:lnTo>
                  <a:lnTo>
                    <a:pt x="646" y="469"/>
                  </a:lnTo>
                  <a:lnTo>
                    <a:pt x="648" y="469"/>
                  </a:lnTo>
                  <a:lnTo>
                    <a:pt x="648" y="468"/>
                  </a:lnTo>
                  <a:lnTo>
                    <a:pt x="652" y="466"/>
                  </a:lnTo>
                  <a:lnTo>
                    <a:pt x="654" y="462"/>
                  </a:lnTo>
                  <a:lnTo>
                    <a:pt x="654" y="460"/>
                  </a:lnTo>
                  <a:lnTo>
                    <a:pt x="656" y="458"/>
                  </a:lnTo>
                  <a:lnTo>
                    <a:pt x="654" y="454"/>
                  </a:lnTo>
                  <a:lnTo>
                    <a:pt x="654" y="450"/>
                  </a:lnTo>
                  <a:lnTo>
                    <a:pt x="656" y="449"/>
                  </a:lnTo>
                  <a:lnTo>
                    <a:pt x="659" y="445"/>
                  </a:lnTo>
                  <a:lnTo>
                    <a:pt x="659" y="443"/>
                  </a:lnTo>
                  <a:lnTo>
                    <a:pt x="661" y="443"/>
                  </a:lnTo>
                  <a:lnTo>
                    <a:pt x="661" y="443"/>
                  </a:lnTo>
                  <a:lnTo>
                    <a:pt x="661" y="445"/>
                  </a:lnTo>
                  <a:lnTo>
                    <a:pt x="663" y="447"/>
                  </a:lnTo>
                  <a:lnTo>
                    <a:pt x="663" y="447"/>
                  </a:lnTo>
                  <a:lnTo>
                    <a:pt x="665" y="447"/>
                  </a:lnTo>
                  <a:lnTo>
                    <a:pt x="667" y="447"/>
                  </a:lnTo>
                  <a:lnTo>
                    <a:pt x="669" y="445"/>
                  </a:lnTo>
                  <a:lnTo>
                    <a:pt x="671" y="445"/>
                  </a:lnTo>
                  <a:lnTo>
                    <a:pt x="673" y="443"/>
                  </a:lnTo>
                  <a:lnTo>
                    <a:pt x="675" y="441"/>
                  </a:lnTo>
                  <a:lnTo>
                    <a:pt x="676" y="441"/>
                  </a:lnTo>
                  <a:lnTo>
                    <a:pt x="678" y="443"/>
                  </a:lnTo>
                  <a:lnTo>
                    <a:pt x="678" y="443"/>
                  </a:lnTo>
                  <a:lnTo>
                    <a:pt x="680" y="447"/>
                  </a:lnTo>
                  <a:lnTo>
                    <a:pt x="682" y="447"/>
                  </a:lnTo>
                  <a:lnTo>
                    <a:pt x="682" y="447"/>
                  </a:lnTo>
                  <a:lnTo>
                    <a:pt x="684" y="447"/>
                  </a:lnTo>
                  <a:lnTo>
                    <a:pt x="686" y="445"/>
                  </a:lnTo>
                  <a:lnTo>
                    <a:pt x="688" y="445"/>
                  </a:lnTo>
                  <a:lnTo>
                    <a:pt x="688" y="443"/>
                  </a:lnTo>
                  <a:lnTo>
                    <a:pt x="690" y="441"/>
                  </a:lnTo>
                  <a:lnTo>
                    <a:pt x="694" y="439"/>
                  </a:lnTo>
                  <a:lnTo>
                    <a:pt x="696" y="439"/>
                  </a:lnTo>
                  <a:lnTo>
                    <a:pt x="697" y="439"/>
                  </a:lnTo>
                  <a:lnTo>
                    <a:pt x="699" y="437"/>
                  </a:lnTo>
                  <a:lnTo>
                    <a:pt x="701" y="437"/>
                  </a:lnTo>
                  <a:lnTo>
                    <a:pt x="703" y="437"/>
                  </a:lnTo>
                  <a:lnTo>
                    <a:pt x="703" y="435"/>
                  </a:lnTo>
                  <a:lnTo>
                    <a:pt x="703" y="433"/>
                  </a:lnTo>
                  <a:lnTo>
                    <a:pt x="703" y="431"/>
                  </a:lnTo>
                  <a:lnTo>
                    <a:pt x="705" y="430"/>
                  </a:lnTo>
                  <a:lnTo>
                    <a:pt x="711" y="426"/>
                  </a:lnTo>
                  <a:lnTo>
                    <a:pt x="713" y="426"/>
                  </a:lnTo>
                  <a:lnTo>
                    <a:pt x="715" y="426"/>
                  </a:lnTo>
                  <a:lnTo>
                    <a:pt x="715" y="424"/>
                  </a:lnTo>
                  <a:lnTo>
                    <a:pt x="713" y="422"/>
                  </a:lnTo>
                  <a:lnTo>
                    <a:pt x="713" y="420"/>
                  </a:lnTo>
                  <a:lnTo>
                    <a:pt x="715" y="418"/>
                  </a:lnTo>
                  <a:lnTo>
                    <a:pt x="716" y="416"/>
                  </a:lnTo>
                  <a:lnTo>
                    <a:pt x="715" y="412"/>
                  </a:lnTo>
                  <a:lnTo>
                    <a:pt x="715" y="411"/>
                  </a:lnTo>
                  <a:lnTo>
                    <a:pt x="715" y="409"/>
                  </a:lnTo>
                  <a:lnTo>
                    <a:pt x="716" y="407"/>
                  </a:lnTo>
                  <a:lnTo>
                    <a:pt x="718" y="405"/>
                  </a:lnTo>
                  <a:lnTo>
                    <a:pt x="722" y="405"/>
                  </a:lnTo>
                  <a:lnTo>
                    <a:pt x="722" y="403"/>
                  </a:lnTo>
                  <a:lnTo>
                    <a:pt x="726" y="401"/>
                  </a:lnTo>
                  <a:lnTo>
                    <a:pt x="730" y="397"/>
                  </a:lnTo>
                  <a:lnTo>
                    <a:pt x="730" y="395"/>
                  </a:lnTo>
                  <a:lnTo>
                    <a:pt x="730" y="391"/>
                  </a:lnTo>
                  <a:lnTo>
                    <a:pt x="730" y="390"/>
                  </a:lnTo>
                  <a:lnTo>
                    <a:pt x="730" y="388"/>
                  </a:lnTo>
                  <a:lnTo>
                    <a:pt x="732" y="386"/>
                  </a:lnTo>
                  <a:lnTo>
                    <a:pt x="737" y="384"/>
                  </a:lnTo>
                  <a:lnTo>
                    <a:pt x="741" y="382"/>
                  </a:lnTo>
                  <a:lnTo>
                    <a:pt x="743" y="380"/>
                  </a:lnTo>
                  <a:lnTo>
                    <a:pt x="745" y="382"/>
                  </a:lnTo>
                  <a:lnTo>
                    <a:pt x="747" y="382"/>
                  </a:lnTo>
                  <a:lnTo>
                    <a:pt x="749" y="380"/>
                  </a:lnTo>
                  <a:lnTo>
                    <a:pt x="751" y="376"/>
                  </a:lnTo>
                  <a:lnTo>
                    <a:pt x="751" y="374"/>
                  </a:lnTo>
                  <a:lnTo>
                    <a:pt x="751" y="371"/>
                  </a:lnTo>
                  <a:lnTo>
                    <a:pt x="753" y="363"/>
                  </a:lnTo>
                  <a:lnTo>
                    <a:pt x="753" y="361"/>
                  </a:lnTo>
                  <a:lnTo>
                    <a:pt x="751" y="359"/>
                  </a:lnTo>
                  <a:lnTo>
                    <a:pt x="749" y="355"/>
                  </a:lnTo>
                  <a:lnTo>
                    <a:pt x="747" y="355"/>
                  </a:lnTo>
                  <a:lnTo>
                    <a:pt x="745" y="353"/>
                  </a:lnTo>
                  <a:lnTo>
                    <a:pt x="745" y="353"/>
                  </a:lnTo>
                  <a:lnTo>
                    <a:pt x="739" y="355"/>
                  </a:lnTo>
                  <a:lnTo>
                    <a:pt x="739" y="355"/>
                  </a:lnTo>
                  <a:lnTo>
                    <a:pt x="737" y="353"/>
                  </a:lnTo>
                  <a:lnTo>
                    <a:pt x="737" y="352"/>
                  </a:lnTo>
                  <a:lnTo>
                    <a:pt x="737" y="352"/>
                  </a:lnTo>
                  <a:lnTo>
                    <a:pt x="736" y="352"/>
                  </a:lnTo>
                  <a:lnTo>
                    <a:pt x="736" y="352"/>
                  </a:lnTo>
                  <a:lnTo>
                    <a:pt x="734" y="350"/>
                  </a:lnTo>
                  <a:lnTo>
                    <a:pt x="732" y="344"/>
                  </a:lnTo>
                  <a:lnTo>
                    <a:pt x="728" y="342"/>
                  </a:lnTo>
                  <a:lnTo>
                    <a:pt x="726" y="340"/>
                  </a:lnTo>
                  <a:lnTo>
                    <a:pt x="722" y="340"/>
                  </a:lnTo>
                  <a:lnTo>
                    <a:pt x="716" y="338"/>
                  </a:lnTo>
                  <a:lnTo>
                    <a:pt x="715" y="338"/>
                  </a:lnTo>
                  <a:lnTo>
                    <a:pt x="713" y="336"/>
                  </a:lnTo>
                  <a:lnTo>
                    <a:pt x="713" y="336"/>
                  </a:lnTo>
                  <a:lnTo>
                    <a:pt x="711" y="338"/>
                  </a:lnTo>
                  <a:lnTo>
                    <a:pt x="709" y="340"/>
                  </a:lnTo>
                  <a:lnTo>
                    <a:pt x="707" y="340"/>
                  </a:lnTo>
                  <a:lnTo>
                    <a:pt x="703" y="342"/>
                  </a:lnTo>
                  <a:lnTo>
                    <a:pt x="703" y="344"/>
                  </a:lnTo>
                  <a:lnTo>
                    <a:pt x="701" y="342"/>
                  </a:lnTo>
                  <a:lnTo>
                    <a:pt x="701" y="342"/>
                  </a:lnTo>
                  <a:lnTo>
                    <a:pt x="699" y="340"/>
                  </a:lnTo>
                  <a:lnTo>
                    <a:pt x="699" y="338"/>
                  </a:lnTo>
                  <a:lnTo>
                    <a:pt x="697" y="336"/>
                  </a:lnTo>
                  <a:lnTo>
                    <a:pt x="697" y="334"/>
                  </a:lnTo>
                  <a:lnTo>
                    <a:pt x="697" y="334"/>
                  </a:lnTo>
                  <a:lnTo>
                    <a:pt x="699" y="334"/>
                  </a:lnTo>
                  <a:lnTo>
                    <a:pt x="699" y="333"/>
                  </a:lnTo>
                  <a:lnTo>
                    <a:pt x="699" y="333"/>
                  </a:lnTo>
                  <a:lnTo>
                    <a:pt x="701" y="329"/>
                  </a:lnTo>
                  <a:lnTo>
                    <a:pt x="701" y="327"/>
                  </a:lnTo>
                  <a:lnTo>
                    <a:pt x="703" y="327"/>
                  </a:lnTo>
                  <a:lnTo>
                    <a:pt x="703" y="327"/>
                  </a:lnTo>
                  <a:lnTo>
                    <a:pt x="705" y="325"/>
                  </a:lnTo>
                  <a:lnTo>
                    <a:pt x="705" y="323"/>
                  </a:lnTo>
                  <a:lnTo>
                    <a:pt x="707" y="323"/>
                  </a:lnTo>
                  <a:lnTo>
                    <a:pt x="707" y="321"/>
                  </a:lnTo>
                  <a:lnTo>
                    <a:pt x="707" y="319"/>
                  </a:lnTo>
                  <a:lnTo>
                    <a:pt x="705" y="315"/>
                  </a:lnTo>
                  <a:lnTo>
                    <a:pt x="703" y="310"/>
                  </a:lnTo>
                  <a:lnTo>
                    <a:pt x="701" y="308"/>
                  </a:lnTo>
                  <a:lnTo>
                    <a:pt x="701" y="308"/>
                  </a:lnTo>
                  <a:lnTo>
                    <a:pt x="701" y="306"/>
                  </a:lnTo>
                  <a:lnTo>
                    <a:pt x="701" y="306"/>
                  </a:lnTo>
                  <a:lnTo>
                    <a:pt x="701" y="304"/>
                  </a:lnTo>
                  <a:lnTo>
                    <a:pt x="703" y="302"/>
                  </a:lnTo>
                  <a:lnTo>
                    <a:pt x="707" y="302"/>
                  </a:lnTo>
                  <a:lnTo>
                    <a:pt x="709" y="304"/>
                  </a:lnTo>
                  <a:lnTo>
                    <a:pt x="713" y="308"/>
                  </a:lnTo>
                  <a:lnTo>
                    <a:pt x="715" y="312"/>
                  </a:lnTo>
                  <a:lnTo>
                    <a:pt x="718" y="312"/>
                  </a:lnTo>
                  <a:lnTo>
                    <a:pt x="720" y="312"/>
                  </a:lnTo>
                  <a:lnTo>
                    <a:pt x="722" y="310"/>
                  </a:lnTo>
                  <a:lnTo>
                    <a:pt x="728" y="308"/>
                  </a:lnTo>
                  <a:lnTo>
                    <a:pt x="730" y="308"/>
                  </a:lnTo>
                  <a:lnTo>
                    <a:pt x="736" y="308"/>
                  </a:lnTo>
                  <a:lnTo>
                    <a:pt x="737" y="308"/>
                  </a:lnTo>
                  <a:lnTo>
                    <a:pt x="743" y="312"/>
                  </a:lnTo>
                  <a:lnTo>
                    <a:pt x="745" y="312"/>
                  </a:lnTo>
                  <a:lnTo>
                    <a:pt x="755" y="312"/>
                  </a:lnTo>
                  <a:lnTo>
                    <a:pt x="758" y="312"/>
                  </a:lnTo>
                  <a:lnTo>
                    <a:pt x="760" y="312"/>
                  </a:lnTo>
                  <a:lnTo>
                    <a:pt x="774" y="314"/>
                  </a:lnTo>
                  <a:lnTo>
                    <a:pt x="781" y="314"/>
                  </a:lnTo>
                  <a:lnTo>
                    <a:pt x="785" y="314"/>
                  </a:lnTo>
                  <a:lnTo>
                    <a:pt x="785" y="314"/>
                  </a:lnTo>
                  <a:lnTo>
                    <a:pt x="787" y="312"/>
                  </a:lnTo>
                  <a:lnTo>
                    <a:pt x="787" y="310"/>
                  </a:lnTo>
                  <a:lnTo>
                    <a:pt x="793" y="310"/>
                  </a:lnTo>
                  <a:lnTo>
                    <a:pt x="795" y="308"/>
                  </a:lnTo>
                  <a:lnTo>
                    <a:pt x="797" y="306"/>
                  </a:lnTo>
                  <a:lnTo>
                    <a:pt x="797" y="306"/>
                  </a:lnTo>
                  <a:lnTo>
                    <a:pt x="797" y="304"/>
                  </a:lnTo>
                  <a:lnTo>
                    <a:pt x="797" y="302"/>
                  </a:lnTo>
                  <a:lnTo>
                    <a:pt x="797" y="302"/>
                  </a:lnTo>
                  <a:lnTo>
                    <a:pt x="798" y="300"/>
                  </a:lnTo>
                  <a:lnTo>
                    <a:pt x="802" y="300"/>
                  </a:lnTo>
                  <a:lnTo>
                    <a:pt x="804" y="300"/>
                  </a:lnTo>
                  <a:lnTo>
                    <a:pt x="806" y="298"/>
                  </a:lnTo>
                  <a:lnTo>
                    <a:pt x="808" y="296"/>
                  </a:lnTo>
                  <a:lnTo>
                    <a:pt x="808" y="296"/>
                  </a:lnTo>
                  <a:lnTo>
                    <a:pt x="808" y="295"/>
                  </a:lnTo>
                  <a:lnTo>
                    <a:pt x="808" y="293"/>
                  </a:lnTo>
                  <a:lnTo>
                    <a:pt x="808" y="293"/>
                  </a:lnTo>
                  <a:lnTo>
                    <a:pt x="810" y="291"/>
                  </a:lnTo>
                  <a:lnTo>
                    <a:pt x="806" y="287"/>
                  </a:lnTo>
                  <a:lnTo>
                    <a:pt x="804" y="285"/>
                  </a:lnTo>
                  <a:lnTo>
                    <a:pt x="804" y="285"/>
                  </a:lnTo>
                  <a:lnTo>
                    <a:pt x="804" y="285"/>
                  </a:lnTo>
                  <a:lnTo>
                    <a:pt x="802" y="283"/>
                  </a:lnTo>
                  <a:lnTo>
                    <a:pt x="804" y="283"/>
                  </a:lnTo>
                  <a:lnTo>
                    <a:pt x="804" y="281"/>
                  </a:lnTo>
                  <a:lnTo>
                    <a:pt x="804" y="279"/>
                  </a:lnTo>
                  <a:lnTo>
                    <a:pt x="804" y="279"/>
                  </a:lnTo>
                  <a:lnTo>
                    <a:pt x="802" y="279"/>
                  </a:lnTo>
                  <a:lnTo>
                    <a:pt x="802" y="277"/>
                  </a:lnTo>
                  <a:lnTo>
                    <a:pt x="800" y="277"/>
                  </a:lnTo>
                  <a:lnTo>
                    <a:pt x="798" y="275"/>
                  </a:lnTo>
                  <a:lnTo>
                    <a:pt x="798" y="274"/>
                  </a:lnTo>
                  <a:lnTo>
                    <a:pt x="798" y="274"/>
                  </a:lnTo>
                  <a:lnTo>
                    <a:pt x="798" y="272"/>
                  </a:lnTo>
                  <a:lnTo>
                    <a:pt x="798" y="272"/>
                  </a:lnTo>
                  <a:lnTo>
                    <a:pt x="798" y="272"/>
                  </a:lnTo>
                  <a:lnTo>
                    <a:pt x="800" y="272"/>
                  </a:lnTo>
                  <a:lnTo>
                    <a:pt x="802" y="270"/>
                  </a:lnTo>
                  <a:lnTo>
                    <a:pt x="802" y="270"/>
                  </a:lnTo>
                  <a:lnTo>
                    <a:pt x="804" y="262"/>
                  </a:lnTo>
                  <a:lnTo>
                    <a:pt x="806" y="260"/>
                  </a:lnTo>
                  <a:lnTo>
                    <a:pt x="806" y="258"/>
                  </a:lnTo>
                  <a:lnTo>
                    <a:pt x="806" y="258"/>
                  </a:lnTo>
                  <a:lnTo>
                    <a:pt x="806" y="253"/>
                  </a:lnTo>
                  <a:lnTo>
                    <a:pt x="806" y="251"/>
                  </a:lnTo>
                  <a:lnTo>
                    <a:pt x="806" y="249"/>
                  </a:lnTo>
                  <a:lnTo>
                    <a:pt x="804" y="249"/>
                  </a:lnTo>
                  <a:lnTo>
                    <a:pt x="804" y="249"/>
                  </a:lnTo>
                  <a:lnTo>
                    <a:pt x="802" y="247"/>
                  </a:lnTo>
                  <a:lnTo>
                    <a:pt x="802" y="247"/>
                  </a:lnTo>
                  <a:lnTo>
                    <a:pt x="804" y="241"/>
                  </a:lnTo>
                  <a:lnTo>
                    <a:pt x="804" y="239"/>
                  </a:lnTo>
                  <a:lnTo>
                    <a:pt x="804" y="237"/>
                  </a:lnTo>
                  <a:lnTo>
                    <a:pt x="804" y="236"/>
                  </a:lnTo>
                  <a:lnTo>
                    <a:pt x="804" y="236"/>
                  </a:lnTo>
                  <a:lnTo>
                    <a:pt x="804" y="234"/>
                  </a:lnTo>
                  <a:lnTo>
                    <a:pt x="804" y="234"/>
                  </a:lnTo>
                  <a:lnTo>
                    <a:pt x="804" y="234"/>
                  </a:lnTo>
                  <a:lnTo>
                    <a:pt x="806" y="234"/>
                  </a:lnTo>
                  <a:lnTo>
                    <a:pt x="808" y="234"/>
                  </a:lnTo>
                  <a:lnTo>
                    <a:pt x="810" y="234"/>
                  </a:lnTo>
                  <a:lnTo>
                    <a:pt x="810" y="234"/>
                  </a:lnTo>
                  <a:lnTo>
                    <a:pt x="812" y="232"/>
                  </a:lnTo>
                  <a:lnTo>
                    <a:pt x="812" y="232"/>
                  </a:lnTo>
                  <a:lnTo>
                    <a:pt x="810" y="230"/>
                  </a:lnTo>
                  <a:close/>
                </a:path>
              </a:pathLst>
            </a:custGeom>
            <a:solidFill>
              <a:schemeClr val="accent1">
                <a:lumMod val="20000"/>
                <a:lumOff val="80000"/>
              </a:schemeClr>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90" name="Freeform 39">
              <a:extLst>
                <a:ext uri="{FF2B5EF4-FFF2-40B4-BE49-F238E27FC236}">
                  <a16:creationId xmlns:a16="http://schemas.microsoft.com/office/drawing/2014/main" id="{26E0D9EB-7CAE-25F1-A0D5-5C2D40CBE3E9}"/>
                </a:ext>
              </a:extLst>
            </p:cNvPr>
            <p:cNvSpPr>
              <a:spLocks/>
            </p:cNvSpPr>
            <p:nvPr/>
          </p:nvSpPr>
          <p:spPr bwMode="auto">
            <a:xfrm>
              <a:off x="2036177" y="3038308"/>
              <a:ext cx="1531866" cy="987854"/>
            </a:xfrm>
            <a:custGeom>
              <a:avLst/>
              <a:gdLst>
                <a:gd name="T0" fmla="*/ 764 w 812"/>
                <a:gd name="T1" fmla="*/ 220 h 584"/>
                <a:gd name="T2" fmla="*/ 745 w 812"/>
                <a:gd name="T3" fmla="*/ 209 h 584"/>
                <a:gd name="T4" fmla="*/ 697 w 812"/>
                <a:gd name="T5" fmla="*/ 180 h 584"/>
                <a:gd name="T6" fmla="*/ 667 w 812"/>
                <a:gd name="T7" fmla="*/ 173 h 584"/>
                <a:gd name="T8" fmla="*/ 635 w 812"/>
                <a:gd name="T9" fmla="*/ 192 h 584"/>
                <a:gd name="T10" fmla="*/ 625 w 812"/>
                <a:gd name="T11" fmla="*/ 169 h 584"/>
                <a:gd name="T12" fmla="*/ 600 w 812"/>
                <a:gd name="T13" fmla="*/ 178 h 584"/>
                <a:gd name="T14" fmla="*/ 577 w 812"/>
                <a:gd name="T15" fmla="*/ 188 h 584"/>
                <a:gd name="T16" fmla="*/ 585 w 812"/>
                <a:gd name="T17" fmla="*/ 165 h 584"/>
                <a:gd name="T18" fmla="*/ 535 w 812"/>
                <a:gd name="T19" fmla="*/ 165 h 584"/>
                <a:gd name="T20" fmla="*/ 499 w 812"/>
                <a:gd name="T21" fmla="*/ 178 h 584"/>
                <a:gd name="T22" fmla="*/ 490 w 812"/>
                <a:gd name="T23" fmla="*/ 163 h 584"/>
                <a:gd name="T24" fmla="*/ 473 w 812"/>
                <a:gd name="T25" fmla="*/ 173 h 584"/>
                <a:gd name="T26" fmla="*/ 452 w 812"/>
                <a:gd name="T27" fmla="*/ 169 h 584"/>
                <a:gd name="T28" fmla="*/ 448 w 812"/>
                <a:gd name="T29" fmla="*/ 135 h 584"/>
                <a:gd name="T30" fmla="*/ 433 w 812"/>
                <a:gd name="T31" fmla="*/ 154 h 584"/>
                <a:gd name="T32" fmla="*/ 427 w 812"/>
                <a:gd name="T33" fmla="*/ 198 h 584"/>
                <a:gd name="T34" fmla="*/ 452 w 812"/>
                <a:gd name="T35" fmla="*/ 243 h 584"/>
                <a:gd name="T36" fmla="*/ 408 w 812"/>
                <a:gd name="T37" fmla="*/ 253 h 584"/>
                <a:gd name="T38" fmla="*/ 391 w 812"/>
                <a:gd name="T39" fmla="*/ 226 h 584"/>
                <a:gd name="T40" fmla="*/ 391 w 812"/>
                <a:gd name="T41" fmla="*/ 148 h 584"/>
                <a:gd name="T42" fmla="*/ 448 w 812"/>
                <a:gd name="T43" fmla="*/ 89 h 584"/>
                <a:gd name="T44" fmla="*/ 461 w 812"/>
                <a:gd name="T45" fmla="*/ 36 h 584"/>
                <a:gd name="T46" fmla="*/ 406 w 812"/>
                <a:gd name="T47" fmla="*/ 4 h 584"/>
                <a:gd name="T48" fmla="*/ 364 w 812"/>
                <a:gd name="T49" fmla="*/ 17 h 584"/>
                <a:gd name="T50" fmla="*/ 301 w 812"/>
                <a:gd name="T51" fmla="*/ 57 h 584"/>
                <a:gd name="T52" fmla="*/ 253 w 812"/>
                <a:gd name="T53" fmla="*/ 91 h 584"/>
                <a:gd name="T54" fmla="*/ 240 w 812"/>
                <a:gd name="T55" fmla="*/ 150 h 584"/>
                <a:gd name="T56" fmla="*/ 301 w 812"/>
                <a:gd name="T57" fmla="*/ 144 h 584"/>
                <a:gd name="T58" fmla="*/ 307 w 812"/>
                <a:gd name="T59" fmla="*/ 177 h 584"/>
                <a:gd name="T60" fmla="*/ 255 w 812"/>
                <a:gd name="T61" fmla="*/ 205 h 584"/>
                <a:gd name="T62" fmla="*/ 261 w 812"/>
                <a:gd name="T63" fmla="*/ 234 h 584"/>
                <a:gd name="T64" fmla="*/ 242 w 812"/>
                <a:gd name="T65" fmla="*/ 268 h 584"/>
                <a:gd name="T66" fmla="*/ 200 w 812"/>
                <a:gd name="T67" fmla="*/ 256 h 584"/>
                <a:gd name="T68" fmla="*/ 158 w 812"/>
                <a:gd name="T69" fmla="*/ 300 h 584"/>
                <a:gd name="T70" fmla="*/ 147 w 812"/>
                <a:gd name="T71" fmla="*/ 291 h 584"/>
                <a:gd name="T72" fmla="*/ 160 w 812"/>
                <a:gd name="T73" fmla="*/ 241 h 584"/>
                <a:gd name="T74" fmla="*/ 105 w 812"/>
                <a:gd name="T75" fmla="*/ 215 h 584"/>
                <a:gd name="T76" fmla="*/ 112 w 812"/>
                <a:gd name="T77" fmla="*/ 196 h 584"/>
                <a:gd name="T78" fmla="*/ 99 w 812"/>
                <a:gd name="T79" fmla="*/ 199 h 584"/>
                <a:gd name="T80" fmla="*/ 86 w 812"/>
                <a:gd name="T81" fmla="*/ 211 h 584"/>
                <a:gd name="T82" fmla="*/ 63 w 812"/>
                <a:gd name="T83" fmla="*/ 241 h 584"/>
                <a:gd name="T84" fmla="*/ 80 w 812"/>
                <a:gd name="T85" fmla="*/ 308 h 584"/>
                <a:gd name="T86" fmla="*/ 59 w 812"/>
                <a:gd name="T87" fmla="*/ 369 h 584"/>
                <a:gd name="T88" fmla="*/ 27 w 812"/>
                <a:gd name="T89" fmla="*/ 430 h 584"/>
                <a:gd name="T90" fmla="*/ 8 w 812"/>
                <a:gd name="T91" fmla="*/ 458 h 584"/>
                <a:gd name="T92" fmla="*/ 27 w 812"/>
                <a:gd name="T93" fmla="*/ 494 h 584"/>
                <a:gd name="T94" fmla="*/ 95 w 812"/>
                <a:gd name="T95" fmla="*/ 538 h 584"/>
                <a:gd name="T96" fmla="*/ 192 w 812"/>
                <a:gd name="T97" fmla="*/ 572 h 584"/>
                <a:gd name="T98" fmla="*/ 253 w 812"/>
                <a:gd name="T99" fmla="*/ 544 h 584"/>
                <a:gd name="T100" fmla="*/ 320 w 812"/>
                <a:gd name="T101" fmla="*/ 515 h 584"/>
                <a:gd name="T102" fmla="*/ 324 w 812"/>
                <a:gd name="T103" fmla="*/ 549 h 584"/>
                <a:gd name="T104" fmla="*/ 400 w 812"/>
                <a:gd name="T105" fmla="*/ 528 h 584"/>
                <a:gd name="T106" fmla="*/ 452 w 812"/>
                <a:gd name="T107" fmla="*/ 534 h 584"/>
                <a:gd name="T108" fmla="*/ 518 w 812"/>
                <a:gd name="T109" fmla="*/ 532 h 584"/>
                <a:gd name="T110" fmla="*/ 581 w 812"/>
                <a:gd name="T111" fmla="*/ 534 h 584"/>
                <a:gd name="T112" fmla="*/ 619 w 812"/>
                <a:gd name="T113" fmla="*/ 517 h 584"/>
                <a:gd name="T114" fmla="*/ 661 w 812"/>
                <a:gd name="T115" fmla="*/ 443 h 584"/>
                <a:gd name="T116" fmla="*/ 715 w 812"/>
                <a:gd name="T117" fmla="*/ 411 h 584"/>
                <a:gd name="T118" fmla="*/ 722 w 812"/>
                <a:gd name="T119" fmla="*/ 340 h 584"/>
                <a:gd name="T120" fmla="*/ 715 w 812"/>
                <a:gd name="T121" fmla="*/ 312 h 584"/>
                <a:gd name="T122" fmla="*/ 802 w 812"/>
                <a:gd name="T123" fmla="*/ 283 h 584"/>
                <a:gd name="T124" fmla="*/ 812 w 812"/>
                <a:gd name="T125" fmla="*/ 232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2" h="584">
                  <a:moveTo>
                    <a:pt x="810" y="230"/>
                  </a:moveTo>
                  <a:lnTo>
                    <a:pt x="810" y="230"/>
                  </a:lnTo>
                  <a:lnTo>
                    <a:pt x="808" y="228"/>
                  </a:lnTo>
                  <a:lnTo>
                    <a:pt x="808" y="228"/>
                  </a:lnTo>
                  <a:lnTo>
                    <a:pt x="808" y="224"/>
                  </a:lnTo>
                  <a:lnTo>
                    <a:pt x="808" y="224"/>
                  </a:lnTo>
                  <a:lnTo>
                    <a:pt x="806" y="224"/>
                  </a:lnTo>
                  <a:lnTo>
                    <a:pt x="806" y="222"/>
                  </a:lnTo>
                  <a:lnTo>
                    <a:pt x="802" y="222"/>
                  </a:lnTo>
                  <a:lnTo>
                    <a:pt x="802" y="222"/>
                  </a:lnTo>
                  <a:lnTo>
                    <a:pt x="802" y="222"/>
                  </a:lnTo>
                  <a:lnTo>
                    <a:pt x="802" y="222"/>
                  </a:lnTo>
                  <a:lnTo>
                    <a:pt x="802" y="218"/>
                  </a:lnTo>
                  <a:lnTo>
                    <a:pt x="802" y="218"/>
                  </a:lnTo>
                  <a:lnTo>
                    <a:pt x="800" y="218"/>
                  </a:lnTo>
                  <a:lnTo>
                    <a:pt x="800" y="218"/>
                  </a:lnTo>
                  <a:lnTo>
                    <a:pt x="800" y="218"/>
                  </a:lnTo>
                  <a:lnTo>
                    <a:pt x="793" y="220"/>
                  </a:lnTo>
                  <a:lnTo>
                    <a:pt x="793" y="220"/>
                  </a:lnTo>
                  <a:lnTo>
                    <a:pt x="791" y="222"/>
                  </a:lnTo>
                  <a:lnTo>
                    <a:pt x="787" y="220"/>
                  </a:lnTo>
                  <a:lnTo>
                    <a:pt x="777" y="218"/>
                  </a:lnTo>
                  <a:lnTo>
                    <a:pt x="776" y="218"/>
                  </a:lnTo>
                  <a:lnTo>
                    <a:pt x="776" y="218"/>
                  </a:lnTo>
                  <a:lnTo>
                    <a:pt x="776" y="218"/>
                  </a:lnTo>
                  <a:lnTo>
                    <a:pt x="774" y="220"/>
                  </a:lnTo>
                  <a:lnTo>
                    <a:pt x="774" y="220"/>
                  </a:lnTo>
                  <a:lnTo>
                    <a:pt x="776" y="222"/>
                  </a:lnTo>
                  <a:lnTo>
                    <a:pt x="776" y="224"/>
                  </a:lnTo>
                  <a:lnTo>
                    <a:pt x="776" y="224"/>
                  </a:lnTo>
                  <a:lnTo>
                    <a:pt x="774" y="226"/>
                  </a:lnTo>
                  <a:lnTo>
                    <a:pt x="774" y="226"/>
                  </a:lnTo>
                  <a:lnTo>
                    <a:pt x="772" y="226"/>
                  </a:lnTo>
                  <a:lnTo>
                    <a:pt x="768" y="226"/>
                  </a:lnTo>
                  <a:lnTo>
                    <a:pt x="764" y="226"/>
                  </a:lnTo>
                  <a:lnTo>
                    <a:pt x="764" y="226"/>
                  </a:lnTo>
                  <a:lnTo>
                    <a:pt x="764" y="226"/>
                  </a:lnTo>
                  <a:lnTo>
                    <a:pt x="766" y="222"/>
                  </a:lnTo>
                  <a:lnTo>
                    <a:pt x="766" y="220"/>
                  </a:lnTo>
                  <a:lnTo>
                    <a:pt x="764" y="220"/>
                  </a:lnTo>
                  <a:lnTo>
                    <a:pt x="764" y="220"/>
                  </a:lnTo>
                  <a:lnTo>
                    <a:pt x="764" y="218"/>
                  </a:lnTo>
                  <a:lnTo>
                    <a:pt x="762" y="218"/>
                  </a:lnTo>
                  <a:lnTo>
                    <a:pt x="762" y="218"/>
                  </a:lnTo>
                  <a:lnTo>
                    <a:pt x="762" y="220"/>
                  </a:lnTo>
                  <a:lnTo>
                    <a:pt x="762" y="220"/>
                  </a:lnTo>
                  <a:lnTo>
                    <a:pt x="760" y="220"/>
                  </a:lnTo>
                  <a:lnTo>
                    <a:pt x="760" y="218"/>
                  </a:lnTo>
                  <a:lnTo>
                    <a:pt x="760" y="218"/>
                  </a:lnTo>
                  <a:lnTo>
                    <a:pt x="760" y="218"/>
                  </a:lnTo>
                  <a:lnTo>
                    <a:pt x="760" y="213"/>
                  </a:lnTo>
                  <a:lnTo>
                    <a:pt x="760" y="211"/>
                  </a:lnTo>
                  <a:lnTo>
                    <a:pt x="760" y="211"/>
                  </a:lnTo>
                  <a:lnTo>
                    <a:pt x="758" y="211"/>
                  </a:lnTo>
                  <a:lnTo>
                    <a:pt x="758" y="211"/>
                  </a:lnTo>
                  <a:lnTo>
                    <a:pt x="758" y="211"/>
                  </a:lnTo>
                  <a:lnTo>
                    <a:pt x="758" y="213"/>
                  </a:lnTo>
                  <a:lnTo>
                    <a:pt x="758" y="213"/>
                  </a:lnTo>
                  <a:lnTo>
                    <a:pt x="756" y="215"/>
                  </a:lnTo>
                  <a:lnTo>
                    <a:pt x="756" y="215"/>
                  </a:lnTo>
                  <a:lnTo>
                    <a:pt x="756" y="215"/>
                  </a:lnTo>
                  <a:lnTo>
                    <a:pt x="755" y="213"/>
                  </a:lnTo>
                  <a:lnTo>
                    <a:pt x="755" y="213"/>
                  </a:lnTo>
                  <a:lnTo>
                    <a:pt x="755" y="213"/>
                  </a:lnTo>
                  <a:lnTo>
                    <a:pt x="755" y="211"/>
                  </a:lnTo>
                  <a:lnTo>
                    <a:pt x="755" y="211"/>
                  </a:lnTo>
                  <a:lnTo>
                    <a:pt x="755" y="209"/>
                  </a:lnTo>
                  <a:lnTo>
                    <a:pt x="755" y="207"/>
                  </a:lnTo>
                  <a:lnTo>
                    <a:pt x="755" y="207"/>
                  </a:lnTo>
                  <a:lnTo>
                    <a:pt x="755" y="205"/>
                  </a:lnTo>
                  <a:lnTo>
                    <a:pt x="755" y="205"/>
                  </a:lnTo>
                  <a:lnTo>
                    <a:pt x="755" y="205"/>
                  </a:lnTo>
                  <a:lnTo>
                    <a:pt x="753" y="205"/>
                  </a:lnTo>
                  <a:lnTo>
                    <a:pt x="749" y="209"/>
                  </a:lnTo>
                  <a:lnTo>
                    <a:pt x="749" y="209"/>
                  </a:lnTo>
                  <a:lnTo>
                    <a:pt x="749" y="209"/>
                  </a:lnTo>
                  <a:lnTo>
                    <a:pt x="747" y="209"/>
                  </a:lnTo>
                  <a:lnTo>
                    <a:pt x="747" y="209"/>
                  </a:lnTo>
                  <a:lnTo>
                    <a:pt x="747" y="209"/>
                  </a:lnTo>
                  <a:lnTo>
                    <a:pt x="745" y="209"/>
                  </a:lnTo>
                  <a:lnTo>
                    <a:pt x="741" y="205"/>
                  </a:lnTo>
                  <a:lnTo>
                    <a:pt x="739" y="203"/>
                  </a:lnTo>
                  <a:lnTo>
                    <a:pt x="737" y="203"/>
                  </a:lnTo>
                  <a:lnTo>
                    <a:pt x="736" y="203"/>
                  </a:lnTo>
                  <a:lnTo>
                    <a:pt x="734" y="203"/>
                  </a:lnTo>
                  <a:lnTo>
                    <a:pt x="732" y="203"/>
                  </a:lnTo>
                  <a:lnTo>
                    <a:pt x="732" y="203"/>
                  </a:lnTo>
                  <a:lnTo>
                    <a:pt x="724" y="198"/>
                  </a:lnTo>
                  <a:lnTo>
                    <a:pt x="724" y="198"/>
                  </a:lnTo>
                  <a:lnTo>
                    <a:pt x="724" y="196"/>
                  </a:lnTo>
                  <a:lnTo>
                    <a:pt x="724" y="196"/>
                  </a:lnTo>
                  <a:lnTo>
                    <a:pt x="724" y="196"/>
                  </a:lnTo>
                  <a:lnTo>
                    <a:pt x="724" y="194"/>
                  </a:lnTo>
                  <a:lnTo>
                    <a:pt x="724" y="194"/>
                  </a:lnTo>
                  <a:lnTo>
                    <a:pt x="724" y="192"/>
                  </a:lnTo>
                  <a:lnTo>
                    <a:pt x="724" y="192"/>
                  </a:lnTo>
                  <a:lnTo>
                    <a:pt x="722" y="190"/>
                  </a:lnTo>
                  <a:lnTo>
                    <a:pt x="722" y="190"/>
                  </a:lnTo>
                  <a:lnTo>
                    <a:pt x="722" y="190"/>
                  </a:lnTo>
                  <a:lnTo>
                    <a:pt x="722" y="188"/>
                  </a:lnTo>
                  <a:lnTo>
                    <a:pt x="720" y="186"/>
                  </a:lnTo>
                  <a:lnTo>
                    <a:pt x="720" y="186"/>
                  </a:lnTo>
                  <a:lnTo>
                    <a:pt x="718" y="186"/>
                  </a:lnTo>
                  <a:lnTo>
                    <a:pt x="718" y="186"/>
                  </a:lnTo>
                  <a:lnTo>
                    <a:pt x="716" y="186"/>
                  </a:lnTo>
                  <a:lnTo>
                    <a:pt x="716" y="186"/>
                  </a:lnTo>
                  <a:lnTo>
                    <a:pt x="715" y="188"/>
                  </a:lnTo>
                  <a:lnTo>
                    <a:pt x="715" y="188"/>
                  </a:lnTo>
                  <a:lnTo>
                    <a:pt x="713" y="188"/>
                  </a:lnTo>
                  <a:lnTo>
                    <a:pt x="711" y="188"/>
                  </a:lnTo>
                  <a:lnTo>
                    <a:pt x="711" y="186"/>
                  </a:lnTo>
                  <a:lnTo>
                    <a:pt x="709" y="186"/>
                  </a:lnTo>
                  <a:lnTo>
                    <a:pt x="709" y="184"/>
                  </a:lnTo>
                  <a:lnTo>
                    <a:pt x="709" y="184"/>
                  </a:lnTo>
                  <a:lnTo>
                    <a:pt x="709" y="182"/>
                  </a:lnTo>
                  <a:lnTo>
                    <a:pt x="705" y="182"/>
                  </a:lnTo>
                  <a:lnTo>
                    <a:pt x="701" y="182"/>
                  </a:lnTo>
                  <a:lnTo>
                    <a:pt x="699" y="182"/>
                  </a:lnTo>
                  <a:lnTo>
                    <a:pt x="697" y="182"/>
                  </a:lnTo>
                  <a:lnTo>
                    <a:pt x="697" y="180"/>
                  </a:lnTo>
                  <a:lnTo>
                    <a:pt x="696" y="180"/>
                  </a:lnTo>
                  <a:lnTo>
                    <a:pt x="696" y="180"/>
                  </a:lnTo>
                  <a:lnTo>
                    <a:pt x="696" y="178"/>
                  </a:lnTo>
                  <a:lnTo>
                    <a:pt x="697" y="178"/>
                  </a:lnTo>
                  <a:lnTo>
                    <a:pt x="697" y="178"/>
                  </a:lnTo>
                  <a:lnTo>
                    <a:pt x="697" y="178"/>
                  </a:lnTo>
                  <a:lnTo>
                    <a:pt x="696" y="177"/>
                  </a:lnTo>
                  <a:lnTo>
                    <a:pt x="696" y="177"/>
                  </a:lnTo>
                  <a:lnTo>
                    <a:pt x="696" y="175"/>
                  </a:lnTo>
                  <a:lnTo>
                    <a:pt x="696" y="173"/>
                  </a:lnTo>
                  <a:lnTo>
                    <a:pt x="694" y="169"/>
                  </a:lnTo>
                  <a:lnTo>
                    <a:pt x="684" y="173"/>
                  </a:lnTo>
                  <a:lnTo>
                    <a:pt x="682" y="173"/>
                  </a:lnTo>
                  <a:lnTo>
                    <a:pt x="682" y="173"/>
                  </a:lnTo>
                  <a:lnTo>
                    <a:pt x="684" y="173"/>
                  </a:lnTo>
                  <a:lnTo>
                    <a:pt x="686" y="175"/>
                  </a:lnTo>
                  <a:lnTo>
                    <a:pt x="686" y="177"/>
                  </a:lnTo>
                  <a:lnTo>
                    <a:pt x="686" y="177"/>
                  </a:lnTo>
                  <a:lnTo>
                    <a:pt x="686" y="178"/>
                  </a:lnTo>
                  <a:lnTo>
                    <a:pt x="686" y="178"/>
                  </a:lnTo>
                  <a:lnTo>
                    <a:pt x="684" y="178"/>
                  </a:lnTo>
                  <a:lnTo>
                    <a:pt x="682" y="178"/>
                  </a:lnTo>
                  <a:lnTo>
                    <a:pt x="678" y="178"/>
                  </a:lnTo>
                  <a:lnTo>
                    <a:pt x="678" y="178"/>
                  </a:lnTo>
                  <a:lnTo>
                    <a:pt x="676" y="178"/>
                  </a:lnTo>
                  <a:lnTo>
                    <a:pt x="676" y="178"/>
                  </a:lnTo>
                  <a:lnTo>
                    <a:pt x="676" y="177"/>
                  </a:lnTo>
                  <a:lnTo>
                    <a:pt x="676" y="177"/>
                  </a:lnTo>
                  <a:lnTo>
                    <a:pt x="676" y="175"/>
                  </a:lnTo>
                  <a:lnTo>
                    <a:pt x="678" y="175"/>
                  </a:lnTo>
                  <a:lnTo>
                    <a:pt x="676" y="175"/>
                  </a:lnTo>
                  <a:lnTo>
                    <a:pt x="676" y="175"/>
                  </a:lnTo>
                  <a:lnTo>
                    <a:pt x="676" y="173"/>
                  </a:lnTo>
                  <a:lnTo>
                    <a:pt x="675" y="173"/>
                  </a:lnTo>
                  <a:lnTo>
                    <a:pt x="673" y="173"/>
                  </a:lnTo>
                  <a:lnTo>
                    <a:pt x="673" y="173"/>
                  </a:lnTo>
                  <a:lnTo>
                    <a:pt x="671" y="173"/>
                  </a:lnTo>
                  <a:lnTo>
                    <a:pt x="669" y="173"/>
                  </a:lnTo>
                  <a:lnTo>
                    <a:pt x="669" y="173"/>
                  </a:lnTo>
                  <a:lnTo>
                    <a:pt x="667" y="173"/>
                  </a:lnTo>
                  <a:lnTo>
                    <a:pt x="665" y="173"/>
                  </a:lnTo>
                  <a:lnTo>
                    <a:pt x="665" y="173"/>
                  </a:lnTo>
                  <a:lnTo>
                    <a:pt x="665" y="173"/>
                  </a:lnTo>
                  <a:lnTo>
                    <a:pt x="665" y="177"/>
                  </a:lnTo>
                  <a:lnTo>
                    <a:pt x="665" y="178"/>
                  </a:lnTo>
                  <a:lnTo>
                    <a:pt x="665" y="178"/>
                  </a:lnTo>
                  <a:lnTo>
                    <a:pt x="665" y="180"/>
                  </a:lnTo>
                  <a:lnTo>
                    <a:pt x="665" y="180"/>
                  </a:lnTo>
                  <a:lnTo>
                    <a:pt x="663" y="182"/>
                  </a:lnTo>
                  <a:lnTo>
                    <a:pt x="663" y="184"/>
                  </a:lnTo>
                  <a:lnTo>
                    <a:pt x="659" y="188"/>
                  </a:lnTo>
                  <a:lnTo>
                    <a:pt x="659" y="188"/>
                  </a:lnTo>
                  <a:lnTo>
                    <a:pt x="659" y="188"/>
                  </a:lnTo>
                  <a:lnTo>
                    <a:pt x="659" y="190"/>
                  </a:lnTo>
                  <a:lnTo>
                    <a:pt x="659" y="190"/>
                  </a:lnTo>
                  <a:lnTo>
                    <a:pt x="659" y="190"/>
                  </a:lnTo>
                  <a:lnTo>
                    <a:pt x="659" y="190"/>
                  </a:lnTo>
                  <a:lnTo>
                    <a:pt x="659" y="192"/>
                  </a:lnTo>
                  <a:lnTo>
                    <a:pt x="659" y="192"/>
                  </a:lnTo>
                  <a:lnTo>
                    <a:pt x="659" y="192"/>
                  </a:lnTo>
                  <a:lnTo>
                    <a:pt x="659" y="194"/>
                  </a:lnTo>
                  <a:lnTo>
                    <a:pt x="659" y="194"/>
                  </a:lnTo>
                  <a:lnTo>
                    <a:pt x="659" y="194"/>
                  </a:lnTo>
                  <a:lnTo>
                    <a:pt x="659" y="194"/>
                  </a:lnTo>
                  <a:lnTo>
                    <a:pt x="657" y="194"/>
                  </a:lnTo>
                  <a:lnTo>
                    <a:pt x="656" y="196"/>
                  </a:lnTo>
                  <a:lnTo>
                    <a:pt x="656" y="196"/>
                  </a:lnTo>
                  <a:lnTo>
                    <a:pt x="656" y="196"/>
                  </a:lnTo>
                  <a:lnTo>
                    <a:pt x="652" y="199"/>
                  </a:lnTo>
                  <a:lnTo>
                    <a:pt x="650" y="198"/>
                  </a:lnTo>
                  <a:lnTo>
                    <a:pt x="646" y="194"/>
                  </a:lnTo>
                  <a:lnTo>
                    <a:pt x="644" y="194"/>
                  </a:lnTo>
                  <a:lnTo>
                    <a:pt x="644" y="194"/>
                  </a:lnTo>
                  <a:lnTo>
                    <a:pt x="642" y="194"/>
                  </a:lnTo>
                  <a:lnTo>
                    <a:pt x="640" y="194"/>
                  </a:lnTo>
                  <a:lnTo>
                    <a:pt x="640" y="194"/>
                  </a:lnTo>
                  <a:lnTo>
                    <a:pt x="638" y="194"/>
                  </a:lnTo>
                  <a:lnTo>
                    <a:pt x="636" y="194"/>
                  </a:lnTo>
                  <a:lnTo>
                    <a:pt x="636" y="194"/>
                  </a:lnTo>
                  <a:lnTo>
                    <a:pt x="635" y="192"/>
                  </a:lnTo>
                  <a:lnTo>
                    <a:pt x="635" y="192"/>
                  </a:lnTo>
                  <a:lnTo>
                    <a:pt x="635" y="192"/>
                  </a:lnTo>
                  <a:lnTo>
                    <a:pt x="633" y="192"/>
                  </a:lnTo>
                  <a:lnTo>
                    <a:pt x="629" y="192"/>
                  </a:lnTo>
                  <a:lnTo>
                    <a:pt x="627" y="192"/>
                  </a:lnTo>
                  <a:lnTo>
                    <a:pt x="625" y="194"/>
                  </a:lnTo>
                  <a:lnTo>
                    <a:pt x="623" y="192"/>
                  </a:lnTo>
                  <a:lnTo>
                    <a:pt x="621" y="192"/>
                  </a:lnTo>
                  <a:lnTo>
                    <a:pt x="621" y="192"/>
                  </a:lnTo>
                  <a:lnTo>
                    <a:pt x="621" y="190"/>
                  </a:lnTo>
                  <a:lnTo>
                    <a:pt x="621" y="190"/>
                  </a:lnTo>
                  <a:lnTo>
                    <a:pt x="621" y="190"/>
                  </a:lnTo>
                  <a:lnTo>
                    <a:pt x="623" y="188"/>
                  </a:lnTo>
                  <a:lnTo>
                    <a:pt x="623" y="188"/>
                  </a:lnTo>
                  <a:lnTo>
                    <a:pt x="623" y="188"/>
                  </a:lnTo>
                  <a:lnTo>
                    <a:pt x="623" y="186"/>
                  </a:lnTo>
                  <a:lnTo>
                    <a:pt x="623" y="186"/>
                  </a:lnTo>
                  <a:lnTo>
                    <a:pt x="623" y="184"/>
                  </a:lnTo>
                  <a:lnTo>
                    <a:pt x="625" y="184"/>
                  </a:lnTo>
                  <a:lnTo>
                    <a:pt x="625" y="184"/>
                  </a:lnTo>
                  <a:lnTo>
                    <a:pt x="625" y="182"/>
                  </a:lnTo>
                  <a:lnTo>
                    <a:pt x="625" y="182"/>
                  </a:lnTo>
                  <a:lnTo>
                    <a:pt x="627" y="180"/>
                  </a:lnTo>
                  <a:lnTo>
                    <a:pt x="627" y="180"/>
                  </a:lnTo>
                  <a:lnTo>
                    <a:pt x="627" y="178"/>
                  </a:lnTo>
                  <a:lnTo>
                    <a:pt x="627" y="177"/>
                  </a:lnTo>
                  <a:lnTo>
                    <a:pt x="631" y="171"/>
                  </a:lnTo>
                  <a:lnTo>
                    <a:pt x="631" y="169"/>
                  </a:lnTo>
                  <a:lnTo>
                    <a:pt x="631" y="169"/>
                  </a:lnTo>
                  <a:lnTo>
                    <a:pt x="629" y="167"/>
                  </a:lnTo>
                  <a:lnTo>
                    <a:pt x="629" y="167"/>
                  </a:lnTo>
                  <a:lnTo>
                    <a:pt x="629" y="167"/>
                  </a:lnTo>
                  <a:lnTo>
                    <a:pt x="627" y="167"/>
                  </a:lnTo>
                  <a:lnTo>
                    <a:pt x="627" y="167"/>
                  </a:lnTo>
                  <a:lnTo>
                    <a:pt x="625" y="167"/>
                  </a:lnTo>
                  <a:lnTo>
                    <a:pt x="625" y="169"/>
                  </a:lnTo>
                  <a:lnTo>
                    <a:pt x="625" y="169"/>
                  </a:lnTo>
                  <a:lnTo>
                    <a:pt x="625" y="169"/>
                  </a:lnTo>
                  <a:lnTo>
                    <a:pt x="625" y="169"/>
                  </a:lnTo>
                  <a:lnTo>
                    <a:pt x="625" y="169"/>
                  </a:lnTo>
                  <a:lnTo>
                    <a:pt x="623" y="173"/>
                  </a:lnTo>
                  <a:lnTo>
                    <a:pt x="623" y="173"/>
                  </a:lnTo>
                  <a:lnTo>
                    <a:pt x="623" y="173"/>
                  </a:lnTo>
                  <a:lnTo>
                    <a:pt x="621" y="173"/>
                  </a:lnTo>
                  <a:lnTo>
                    <a:pt x="621" y="173"/>
                  </a:lnTo>
                  <a:lnTo>
                    <a:pt x="614" y="175"/>
                  </a:lnTo>
                  <a:lnTo>
                    <a:pt x="614" y="175"/>
                  </a:lnTo>
                  <a:lnTo>
                    <a:pt x="614" y="175"/>
                  </a:lnTo>
                  <a:lnTo>
                    <a:pt x="612" y="175"/>
                  </a:lnTo>
                  <a:lnTo>
                    <a:pt x="612" y="175"/>
                  </a:lnTo>
                  <a:lnTo>
                    <a:pt x="612" y="175"/>
                  </a:lnTo>
                  <a:lnTo>
                    <a:pt x="614" y="175"/>
                  </a:lnTo>
                  <a:lnTo>
                    <a:pt x="617" y="178"/>
                  </a:lnTo>
                  <a:lnTo>
                    <a:pt x="617" y="178"/>
                  </a:lnTo>
                  <a:lnTo>
                    <a:pt x="617" y="180"/>
                  </a:lnTo>
                  <a:lnTo>
                    <a:pt x="617" y="180"/>
                  </a:lnTo>
                  <a:lnTo>
                    <a:pt x="617" y="180"/>
                  </a:lnTo>
                  <a:lnTo>
                    <a:pt x="615" y="182"/>
                  </a:lnTo>
                  <a:lnTo>
                    <a:pt x="614" y="182"/>
                  </a:lnTo>
                  <a:lnTo>
                    <a:pt x="614" y="182"/>
                  </a:lnTo>
                  <a:lnTo>
                    <a:pt x="612" y="182"/>
                  </a:lnTo>
                  <a:lnTo>
                    <a:pt x="610" y="182"/>
                  </a:lnTo>
                  <a:lnTo>
                    <a:pt x="610" y="182"/>
                  </a:lnTo>
                  <a:lnTo>
                    <a:pt x="610" y="182"/>
                  </a:lnTo>
                  <a:lnTo>
                    <a:pt x="606" y="178"/>
                  </a:lnTo>
                  <a:lnTo>
                    <a:pt x="606" y="178"/>
                  </a:lnTo>
                  <a:lnTo>
                    <a:pt x="606" y="177"/>
                  </a:lnTo>
                  <a:lnTo>
                    <a:pt x="604" y="175"/>
                  </a:lnTo>
                  <a:lnTo>
                    <a:pt x="604" y="175"/>
                  </a:lnTo>
                  <a:lnTo>
                    <a:pt x="604" y="175"/>
                  </a:lnTo>
                  <a:lnTo>
                    <a:pt x="602" y="175"/>
                  </a:lnTo>
                  <a:lnTo>
                    <a:pt x="602" y="175"/>
                  </a:lnTo>
                  <a:lnTo>
                    <a:pt x="602" y="175"/>
                  </a:lnTo>
                  <a:lnTo>
                    <a:pt x="602" y="175"/>
                  </a:lnTo>
                  <a:lnTo>
                    <a:pt x="602" y="177"/>
                  </a:lnTo>
                  <a:lnTo>
                    <a:pt x="602" y="177"/>
                  </a:lnTo>
                  <a:lnTo>
                    <a:pt x="602" y="178"/>
                  </a:lnTo>
                  <a:lnTo>
                    <a:pt x="602" y="178"/>
                  </a:lnTo>
                  <a:lnTo>
                    <a:pt x="602" y="178"/>
                  </a:lnTo>
                  <a:lnTo>
                    <a:pt x="600" y="178"/>
                  </a:lnTo>
                  <a:lnTo>
                    <a:pt x="600" y="178"/>
                  </a:lnTo>
                  <a:lnTo>
                    <a:pt x="598" y="178"/>
                  </a:lnTo>
                  <a:lnTo>
                    <a:pt x="596" y="178"/>
                  </a:lnTo>
                  <a:lnTo>
                    <a:pt x="595" y="178"/>
                  </a:lnTo>
                  <a:lnTo>
                    <a:pt x="593" y="178"/>
                  </a:lnTo>
                  <a:lnTo>
                    <a:pt x="593" y="178"/>
                  </a:lnTo>
                  <a:lnTo>
                    <a:pt x="593" y="178"/>
                  </a:lnTo>
                  <a:lnTo>
                    <a:pt x="593" y="178"/>
                  </a:lnTo>
                  <a:lnTo>
                    <a:pt x="593" y="180"/>
                  </a:lnTo>
                  <a:lnTo>
                    <a:pt x="593" y="180"/>
                  </a:lnTo>
                  <a:lnTo>
                    <a:pt x="595" y="182"/>
                  </a:lnTo>
                  <a:lnTo>
                    <a:pt x="595" y="182"/>
                  </a:lnTo>
                  <a:lnTo>
                    <a:pt x="595" y="182"/>
                  </a:lnTo>
                  <a:lnTo>
                    <a:pt x="598" y="184"/>
                  </a:lnTo>
                  <a:lnTo>
                    <a:pt x="598" y="184"/>
                  </a:lnTo>
                  <a:lnTo>
                    <a:pt x="598" y="184"/>
                  </a:lnTo>
                  <a:lnTo>
                    <a:pt x="598" y="186"/>
                  </a:lnTo>
                  <a:lnTo>
                    <a:pt x="595" y="188"/>
                  </a:lnTo>
                  <a:lnTo>
                    <a:pt x="595" y="188"/>
                  </a:lnTo>
                  <a:lnTo>
                    <a:pt x="593" y="188"/>
                  </a:lnTo>
                  <a:lnTo>
                    <a:pt x="593" y="188"/>
                  </a:lnTo>
                  <a:lnTo>
                    <a:pt x="593" y="188"/>
                  </a:lnTo>
                  <a:lnTo>
                    <a:pt x="591" y="184"/>
                  </a:lnTo>
                  <a:lnTo>
                    <a:pt x="589" y="184"/>
                  </a:lnTo>
                  <a:lnTo>
                    <a:pt x="589" y="182"/>
                  </a:lnTo>
                  <a:lnTo>
                    <a:pt x="589" y="184"/>
                  </a:lnTo>
                  <a:lnTo>
                    <a:pt x="589" y="184"/>
                  </a:lnTo>
                  <a:lnTo>
                    <a:pt x="589" y="184"/>
                  </a:lnTo>
                  <a:lnTo>
                    <a:pt x="589" y="186"/>
                  </a:lnTo>
                  <a:lnTo>
                    <a:pt x="589" y="188"/>
                  </a:lnTo>
                  <a:lnTo>
                    <a:pt x="589" y="188"/>
                  </a:lnTo>
                  <a:lnTo>
                    <a:pt x="587" y="188"/>
                  </a:lnTo>
                  <a:lnTo>
                    <a:pt x="587" y="188"/>
                  </a:lnTo>
                  <a:lnTo>
                    <a:pt x="587" y="188"/>
                  </a:lnTo>
                  <a:lnTo>
                    <a:pt x="585" y="188"/>
                  </a:lnTo>
                  <a:lnTo>
                    <a:pt x="585" y="188"/>
                  </a:lnTo>
                  <a:lnTo>
                    <a:pt x="583" y="188"/>
                  </a:lnTo>
                  <a:lnTo>
                    <a:pt x="581" y="188"/>
                  </a:lnTo>
                  <a:lnTo>
                    <a:pt x="579" y="188"/>
                  </a:lnTo>
                  <a:lnTo>
                    <a:pt x="577" y="188"/>
                  </a:lnTo>
                  <a:lnTo>
                    <a:pt x="577" y="188"/>
                  </a:lnTo>
                  <a:lnTo>
                    <a:pt x="577" y="186"/>
                  </a:lnTo>
                  <a:lnTo>
                    <a:pt x="575" y="186"/>
                  </a:lnTo>
                  <a:lnTo>
                    <a:pt x="575" y="182"/>
                  </a:lnTo>
                  <a:lnTo>
                    <a:pt x="575" y="182"/>
                  </a:lnTo>
                  <a:lnTo>
                    <a:pt x="575" y="180"/>
                  </a:lnTo>
                  <a:lnTo>
                    <a:pt x="575" y="180"/>
                  </a:lnTo>
                  <a:lnTo>
                    <a:pt x="575" y="180"/>
                  </a:lnTo>
                  <a:lnTo>
                    <a:pt x="575" y="180"/>
                  </a:lnTo>
                  <a:lnTo>
                    <a:pt x="577" y="180"/>
                  </a:lnTo>
                  <a:lnTo>
                    <a:pt x="577" y="180"/>
                  </a:lnTo>
                  <a:lnTo>
                    <a:pt x="579" y="180"/>
                  </a:lnTo>
                  <a:lnTo>
                    <a:pt x="579" y="180"/>
                  </a:lnTo>
                  <a:lnTo>
                    <a:pt x="581" y="178"/>
                  </a:lnTo>
                  <a:lnTo>
                    <a:pt x="583" y="177"/>
                  </a:lnTo>
                  <a:lnTo>
                    <a:pt x="583" y="177"/>
                  </a:lnTo>
                  <a:lnTo>
                    <a:pt x="583" y="175"/>
                  </a:lnTo>
                  <a:lnTo>
                    <a:pt x="583" y="175"/>
                  </a:lnTo>
                  <a:lnTo>
                    <a:pt x="585" y="175"/>
                  </a:lnTo>
                  <a:lnTo>
                    <a:pt x="585" y="175"/>
                  </a:lnTo>
                  <a:lnTo>
                    <a:pt x="585" y="175"/>
                  </a:lnTo>
                  <a:lnTo>
                    <a:pt x="587" y="173"/>
                  </a:lnTo>
                  <a:lnTo>
                    <a:pt x="589" y="173"/>
                  </a:lnTo>
                  <a:lnTo>
                    <a:pt x="589" y="173"/>
                  </a:lnTo>
                  <a:lnTo>
                    <a:pt x="589" y="171"/>
                  </a:lnTo>
                  <a:lnTo>
                    <a:pt x="591" y="171"/>
                  </a:lnTo>
                  <a:lnTo>
                    <a:pt x="591" y="171"/>
                  </a:lnTo>
                  <a:lnTo>
                    <a:pt x="589" y="171"/>
                  </a:lnTo>
                  <a:lnTo>
                    <a:pt x="589" y="169"/>
                  </a:lnTo>
                  <a:lnTo>
                    <a:pt x="589" y="169"/>
                  </a:lnTo>
                  <a:lnTo>
                    <a:pt x="589" y="167"/>
                  </a:lnTo>
                  <a:lnTo>
                    <a:pt x="589" y="165"/>
                  </a:lnTo>
                  <a:lnTo>
                    <a:pt x="589" y="165"/>
                  </a:lnTo>
                  <a:lnTo>
                    <a:pt x="587" y="165"/>
                  </a:lnTo>
                  <a:lnTo>
                    <a:pt x="587" y="165"/>
                  </a:lnTo>
                  <a:lnTo>
                    <a:pt x="587" y="165"/>
                  </a:lnTo>
                  <a:lnTo>
                    <a:pt x="587" y="165"/>
                  </a:lnTo>
                  <a:lnTo>
                    <a:pt x="585" y="165"/>
                  </a:lnTo>
                  <a:lnTo>
                    <a:pt x="585" y="165"/>
                  </a:lnTo>
                  <a:lnTo>
                    <a:pt x="585" y="165"/>
                  </a:lnTo>
                  <a:lnTo>
                    <a:pt x="585" y="163"/>
                  </a:lnTo>
                  <a:lnTo>
                    <a:pt x="585" y="163"/>
                  </a:lnTo>
                  <a:lnTo>
                    <a:pt x="583" y="161"/>
                  </a:lnTo>
                  <a:lnTo>
                    <a:pt x="583" y="161"/>
                  </a:lnTo>
                  <a:lnTo>
                    <a:pt x="581" y="161"/>
                  </a:lnTo>
                  <a:lnTo>
                    <a:pt x="581" y="159"/>
                  </a:lnTo>
                  <a:lnTo>
                    <a:pt x="581" y="159"/>
                  </a:lnTo>
                  <a:lnTo>
                    <a:pt x="579" y="156"/>
                  </a:lnTo>
                  <a:lnTo>
                    <a:pt x="579" y="152"/>
                  </a:lnTo>
                  <a:lnTo>
                    <a:pt x="579" y="152"/>
                  </a:lnTo>
                  <a:lnTo>
                    <a:pt x="579" y="150"/>
                  </a:lnTo>
                  <a:lnTo>
                    <a:pt x="577" y="148"/>
                  </a:lnTo>
                  <a:lnTo>
                    <a:pt x="577" y="148"/>
                  </a:lnTo>
                  <a:lnTo>
                    <a:pt x="575" y="148"/>
                  </a:lnTo>
                  <a:lnTo>
                    <a:pt x="575" y="148"/>
                  </a:lnTo>
                  <a:lnTo>
                    <a:pt x="574" y="148"/>
                  </a:lnTo>
                  <a:lnTo>
                    <a:pt x="572" y="148"/>
                  </a:lnTo>
                  <a:lnTo>
                    <a:pt x="572" y="148"/>
                  </a:lnTo>
                  <a:lnTo>
                    <a:pt x="572" y="148"/>
                  </a:lnTo>
                  <a:lnTo>
                    <a:pt x="570" y="148"/>
                  </a:lnTo>
                  <a:lnTo>
                    <a:pt x="570" y="148"/>
                  </a:lnTo>
                  <a:lnTo>
                    <a:pt x="568" y="148"/>
                  </a:lnTo>
                  <a:lnTo>
                    <a:pt x="568" y="148"/>
                  </a:lnTo>
                  <a:lnTo>
                    <a:pt x="568" y="150"/>
                  </a:lnTo>
                  <a:lnTo>
                    <a:pt x="568" y="150"/>
                  </a:lnTo>
                  <a:lnTo>
                    <a:pt x="566" y="150"/>
                  </a:lnTo>
                  <a:lnTo>
                    <a:pt x="562" y="154"/>
                  </a:lnTo>
                  <a:lnTo>
                    <a:pt x="562" y="154"/>
                  </a:lnTo>
                  <a:lnTo>
                    <a:pt x="562" y="154"/>
                  </a:lnTo>
                  <a:lnTo>
                    <a:pt x="560" y="154"/>
                  </a:lnTo>
                  <a:lnTo>
                    <a:pt x="558" y="152"/>
                  </a:lnTo>
                  <a:lnTo>
                    <a:pt x="553" y="156"/>
                  </a:lnTo>
                  <a:lnTo>
                    <a:pt x="551" y="158"/>
                  </a:lnTo>
                  <a:lnTo>
                    <a:pt x="549" y="159"/>
                  </a:lnTo>
                  <a:lnTo>
                    <a:pt x="545" y="161"/>
                  </a:lnTo>
                  <a:lnTo>
                    <a:pt x="543" y="163"/>
                  </a:lnTo>
                  <a:lnTo>
                    <a:pt x="541" y="163"/>
                  </a:lnTo>
                  <a:lnTo>
                    <a:pt x="539" y="163"/>
                  </a:lnTo>
                  <a:lnTo>
                    <a:pt x="537" y="165"/>
                  </a:lnTo>
                  <a:lnTo>
                    <a:pt x="535" y="165"/>
                  </a:lnTo>
                  <a:lnTo>
                    <a:pt x="535" y="165"/>
                  </a:lnTo>
                  <a:lnTo>
                    <a:pt x="535" y="167"/>
                  </a:lnTo>
                  <a:lnTo>
                    <a:pt x="535" y="167"/>
                  </a:lnTo>
                  <a:lnTo>
                    <a:pt x="535" y="167"/>
                  </a:lnTo>
                  <a:lnTo>
                    <a:pt x="535" y="169"/>
                  </a:lnTo>
                  <a:lnTo>
                    <a:pt x="535" y="169"/>
                  </a:lnTo>
                  <a:lnTo>
                    <a:pt x="537" y="169"/>
                  </a:lnTo>
                  <a:lnTo>
                    <a:pt x="537" y="171"/>
                  </a:lnTo>
                  <a:lnTo>
                    <a:pt x="539" y="173"/>
                  </a:lnTo>
                  <a:lnTo>
                    <a:pt x="539" y="173"/>
                  </a:lnTo>
                  <a:lnTo>
                    <a:pt x="539" y="175"/>
                  </a:lnTo>
                  <a:lnTo>
                    <a:pt x="537" y="175"/>
                  </a:lnTo>
                  <a:lnTo>
                    <a:pt x="537" y="175"/>
                  </a:lnTo>
                  <a:lnTo>
                    <a:pt x="535" y="175"/>
                  </a:lnTo>
                  <a:lnTo>
                    <a:pt x="534" y="177"/>
                  </a:lnTo>
                  <a:lnTo>
                    <a:pt x="532" y="177"/>
                  </a:lnTo>
                  <a:lnTo>
                    <a:pt x="532" y="177"/>
                  </a:lnTo>
                  <a:lnTo>
                    <a:pt x="530" y="175"/>
                  </a:lnTo>
                  <a:lnTo>
                    <a:pt x="530" y="175"/>
                  </a:lnTo>
                  <a:lnTo>
                    <a:pt x="530" y="175"/>
                  </a:lnTo>
                  <a:lnTo>
                    <a:pt x="530" y="173"/>
                  </a:lnTo>
                  <a:lnTo>
                    <a:pt x="526" y="175"/>
                  </a:lnTo>
                  <a:lnTo>
                    <a:pt x="520" y="175"/>
                  </a:lnTo>
                  <a:lnTo>
                    <a:pt x="518" y="175"/>
                  </a:lnTo>
                  <a:lnTo>
                    <a:pt x="516" y="173"/>
                  </a:lnTo>
                  <a:lnTo>
                    <a:pt x="513" y="173"/>
                  </a:lnTo>
                  <a:lnTo>
                    <a:pt x="511" y="171"/>
                  </a:lnTo>
                  <a:lnTo>
                    <a:pt x="511" y="171"/>
                  </a:lnTo>
                  <a:lnTo>
                    <a:pt x="509" y="171"/>
                  </a:lnTo>
                  <a:lnTo>
                    <a:pt x="509" y="171"/>
                  </a:lnTo>
                  <a:lnTo>
                    <a:pt x="507" y="173"/>
                  </a:lnTo>
                  <a:lnTo>
                    <a:pt x="507" y="173"/>
                  </a:lnTo>
                  <a:lnTo>
                    <a:pt x="505" y="177"/>
                  </a:lnTo>
                  <a:lnTo>
                    <a:pt x="505" y="177"/>
                  </a:lnTo>
                  <a:lnTo>
                    <a:pt x="505" y="178"/>
                  </a:lnTo>
                  <a:lnTo>
                    <a:pt x="503" y="178"/>
                  </a:lnTo>
                  <a:lnTo>
                    <a:pt x="501" y="178"/>
                  </a:lnTo>
                  <a:lnTo>
                    <a:pt x="501" y="178"/>
                  </a:lnTo>
                  <a:lnTo>
                    <a:pt x="501" y="178"/>
                  </a:lnTo>
                  <a:lnTo>
                    <a:pt x="499" y="178"/>
                  </a:lnTo>
                  <a:lnTo>
                    <a:pt x="499" y="177"/>
                  </a:lnTo>
                  <a:lnTo>
                    <a:pt x="499" y="177"/>
                  </a:lnTo>
                  <a:lnTo>
                    <a:pt x="499" y="177"/>
                  </a:lnTo>
                  <a:lnTo>
                    <a:pt x="499" y="175"/>
                  </a:lnTo>
                  <a:lnTo>
                    <a:pt x="497" y="175"/>
                  </a:lnTo>
                  <a:lnTo>
                    <a:pt x="495" y="175"/>
                  </a:lnTo>
                  <a:lnTo>
                    <a:pt x="495" y="175"/>
                  </a:lnTo>
                  <a:lnTo>
                    <a:pt x="495" y="177"/>
                  </a:lnTo>
                  <a:lnTo>
                    <a:pt x="495" y="177"/>
                  </a:lnTo>
                  <a:lnTo>
                    <a:pt x="495" y="178"/>
                  </a:lnTo>
                  <a:lnTo>
                    <a:pt x="495" y="180"/>
                  </a:lnTo>
                  <a:lnTo>
                    <a:pt x="495" y="180"/>
                  </a:lnTo>
                  <a:lnTo>
                    <a:pt x="495" y="182"/>
                  </a:lnTo>
                  <a:lnTo>
                    <a:pt x="492" y="182"/>
                  </a:lnTo>
                  <a:lnTo>
                    <a:pt x="490" y="182"/>
                  </a:lnTo>
                  <a:lnTo>
                    <a:pt x="490" y="182"/>
                  </a:lnTo>
                  <a:lnTo>
                    <a:pt x="490" y="180"/>
                  </a:lnTo>
                  <a:lnTo>
                    <a:pt x="490" y="180"/>
                  </a:lnTo>
                  <a:lnTo>
                    <a:pt x="490" y="178"/>
                  </a:lnTo>
                  <a:lnTo>
                    <a:pt x="490" y="177"/>
                  </a:lnTo>
                  <a:lnTo>
                    <a:pt x="490" y="175"/>
                  </a:lnTo>
                  <a:lnTo>
                    <a:pt x="490" y="175"/>
                  </a:lnTo>
                  <a:lnTo>
                    <a:pt x="490" y="175"/>
                  </a:lnTo>
                  <a:lnTo>
                    <a:pt x="492" y="171"/>
                  </a:lnTo>
                  <a:lnTo>
                    <a:pt x="494" y="171"/>
                  </a:lnTo>
                  <a:lnTo>
                    <a:pt x="495" y="167"/>
                  </a:lnTo>
                  <a:lnTo>
                    <a:pt x="497" y="163"/>
                  </a:lnTo>
                  <a:lnTo>
                    <a:pt x="499" y="161"/>
                  </a:lnTo>
                  <a:lnTo>
                    <a:pt x="499" y="159"/>
                  </a:lnTo>
                  <a:lnTo>
                    <a:pt x="499" y="159"/>
                  </a:lnTo>
                  <a:lnTo>
                    <a:pt x="497" y="159"/>
                  </a:lnTo>
                  <a:lnTo>
                    <a:pt x="497" y="159"/>
                  </a:lnTo>
                  <a:lnTo>
                    <a:pt x="495" y="161"/>
                  </a:lnTo>
                  <a:lnTo>
                    <a:pt x="495" y="161"/>
                  </a:lnTo>
                  <a:lnTo>
                    <a:pt x="494" y="161"/>
                  </a:lnTo>
                  <a:lnTo>
                    <a:pt x="494" y="161"/>
                  </a:lnTo>
                  <a:lnTo>
                    <a:pt x="494" y="161"/>
                  </a:lnTo>
                  <a:lnTo>
                    <a:pt x="492" y="161"/>
                  </a:lnTo>
                  <a:lnTo>
                    <a:pt x="490" y="161"/>
                  </a:lnTo>
                  <a:lnTo>
                    <a:pt x="490" y="163"/>
                  </a:lnTo>
                  <a:lnTo>
                    <a:pt x="490" y="163"/>
                  </a:lnTo>
                  <a:lnTo>
                    <a:pt x="490" y="163"/>
                  </a:lnTo>
                  <a:lnTo>
                    <a:pt x="490" y="165"/>
                  </a:lnTo>
                  <a:lnTo>
                    <a:pt x="488" y="165"/>
                  </a:lnTo>
                  <a:lnTo>
                    <a:pt x="488" y="165"/>
                  </a:lnTo>
                  <a:lnTo>
                    <a:pt x="488" y="165"/>
                  </a:lnTo>
                  <a:lnTo>
                    <a:pt x="486" y="165"/>
                  </a:lnTo>
                  <a:lnTo>
                    <a:pt x="486" y="163"/>
                  </a:lnTo>
                  <a:lnTo>
                    <a:pt x="486" y="161"/>
                  </a:lnTo>
                  <a:lnTo>
                    <a:pt x="486" y="161"/>
                  </a:lnTo>
                  <a:lnTo>
                    <a:pt x="486" y="159"/>
                  </a:lnTo>
                  <a:lnTo>
                    <a:pt x="486" y="159"/>
                  </a:lnTo>
                  <a:lnTo>
                    <a:pt x="486" y="159"/>
                  </a:lnTo>
                  <a:lnTo>
                    <a:pt x="488" y="156"/>
                  </a:lnTo>
                  <a:lnTo>
                    <a:pt x="488" y="154"/>
                  </a:lnTo>
                  <a:lnTo>
                    <a:pt x="488" y="154"/>
                  </a:lnTo>
                  <a:lnTo>
                    <a:pt x="488" y="152"/>
                  </a:lnTo>
                  <a:lnTo>
                    <a:pt x="488" y="152"/>
                  </a:lnTo>
                  <a:lnTo>
                    <a:pt x="486" y="152"/>
                  </a:lnTo>
                  <a:lnTo>
                    <a:pt x="484" y="156"/>
                  </a:lnTo>
                  <a:lnTo>
                    <a:pt x="482" y="158"/>
                  </a:lnTo>
                  <a:lnTo>
                    <a:pt x="482" y="159"/>
                  </a:lnTo>
                  <a:lnTo>
                    <a:pt x="482" y="159"/>
                  </a:lnTo>
                  <a:lnTo>
                    <a:pt x="482" y="161"/>
                  </a:lnTo>
                  <a:lnTo>
                    <a:pt x="486" y="169"/>
                  </a:lnTo>
                  <a:lnTo>
                    <a:pt x="486" y="171"/>
                  </a:lnTo>
                  <a:lnTo>
                    <a:pt x="486" y="171"/>
                  </a:lnTo>
                  <a:lnTo>
                    <a:pt x="486" y="173"/>
                  </a:lnTo>
                  <a:lnTo>
                    <a:pt x="484" y="173"/>
                  </a:lnTo>
                  <a:lnTo>
                    <a:pt x="484" y="173"/>
                  </a:lnTo>
                  <a:lnTo>
                    <a:pt x="482" y="173"/>
                  </a:lnTo>
                  <a:lnTo>
                    <a:pt x="480" y="171"/>
                  </a:lnTo>
                  <a:lnTo>
                    <a:pt x="480" y="171"/>
                  </a:lnTo>
                  <a:lnTo>
                    <a:pt x="478" y="173"/>
                  </a:lnTo>
                  <a:lnTo>
                    <a:pt x="478" y="173"/>
                  </a:lnTo>
                  <a:lnTo>
                    <a:pt x="476" y="171"/>
                  </a:lnTo>
                  <a:lnTo>
                    <a:pt x="474" y="171"/>
                  </a:lnTo>
                  <a:lnTo>
                    <a:pt x="474" y="171"/>
                  </a:lnTo>
                  <a:lnTo>
                    <a:pt x="473" y="173"/>
                  </a:lnTo>
                  <a:lnTo>
                    <a:pt x="473" y="173"/>
                  </a:lnTo>
                  <a:lnTo>
                    <a:pt x="473" y="175"/>
                  </a:lnTo>
                  <a:lnTo>
                    <a:pt x="471" y="175"/>
                  </a:lnTo>
                  <a:lnTo>
                    <a:pt x="471" y="175"/>
                  </a:lnTo>
                  <a:lnTo>
                    <a:pt x="469" y="175"/>
                  </a:lnTo>
                  <a:lnTo>
                    <a:pt x="469" y="175"/>
                  </a:lnTo>
                  <a:lnTo>
                    <a:pt x="469" y="171"/>
                  </a:lnTo>
                  <a:lnTo>
                    <a:pt x="469" y="169"/>
                  </a:lnTo>
                  <a:lnTo>
                    <a:pt x="467" y="169"/>
                  </a:lnTo>
                  <a:lnTo>
                    <a:pt x="467" y="169"/>
                  </a:lnTo>
                  <a:lnTo>
                    <a:pt x="463" y="171"/>
                  </a:lnTo>
                  <a:lnTo>
                    <a:pt x="461" y="171"/>
                  </a:lnTo>
                  <a:lnTo>
                    <a:pt x="461" y="173"/>
                  </a:lnTo>
                  <a:lnTo>
                    <a:pt x="459" y="171"/>
                  </a:lnTo>
                  <a:lnTo>
                    <a:pt x="459" y="171"/>
                  </a:lnTo>
                  <a:lnTo>
                    <a:pt x="459" y="171"/>
                  </a:lnTo>
                  <a:lnTo>
                    <a:pt x="459" y="169"/>
                  </a:lnTo>
                  <a:lnTo>
                    <a:pt x="459" y="167"/>
                  </a:lnTo>
                  <a:lnTo>
                    <a:pt x="459" y="167"/>
                  </a:lnTo>
                  <a:lnTo>
                    <a:pt x="463" y="163"/>
                  </a:lnTo>
                  <a:lnTo>
                    <a:pt x="463" y="163"/>
                  </a:lnTo>
                  <a:lnTo>
                    <a:pt x="463" y="163"/>
                  </a:lnTo>
                  <a:lnTo>
                    <a:pt x="463" y="163"/>
                  </a:lnTo>
                  <a:lnTo>
                    <a:pt x="461" y="163"/>
                  </a:lnTo>
                  <a:lnTo>
                    <a:pt x="461" y="161"/>
                  </a:lnTo>
                  <a:lnTo>
                    <a:pt x="461" y="161"/>
                  </a:lnTo>
                  <a:lnTo>
                    <a:pt x="461" y="161"/>
                  </a:lnTo>
                  <a:lnTo>
                    <a:pt x="459" y="161"/>
                  </a:lnTo>
                  <a:lnTo>
                    <a:pt x="459" y="161"/>
                  </a:lnTo>
                  <a:lnTo>
                    <a:pt x="457" y="161"/>
                  </a:lnTo>
                  <a:lnTo>
                    <a:pt x="457" y="161"/>
                  </a:lnTo>
                  <a:lnTo>
                    <a:pt x="457" y="161"/>
                  </a:lnTo>
                  <a:lnTo>
                    <a:pt x="457" y="163"/>
                  </a:lnTo>
                  <a:lnTo>
                    <a:pt x="457" y="165"/>
                  </a:lnTo>
                  <a:lnTo>
                    <a:pt x="457" y="165"/>
                  </a:lnTo>
                  <a:lnTo>
                    <a:pt x="455" y="167"/>
                  </a:lnTo>
                  <a:lnTo>
                    <a:pt x="455" y="167"/>
                  </a:lnTo>
                  <a:lnTo>
                    <a:pt x="454" y="167"/>
                  </a:lnTo>
                  <a:lnTo>
                    <a:pt x="454" y="167"/>
                  </a:lnTo>
                  <a:lnTo>
                    <a:pt x="452" y="167"/>
                  </a:lnTo>
                  <a:lnTo>
                    <a:pt x="452" y="169"/>
                  </a:lnTo>
                  <a:lnTo>
                    <a:pt x="450" y="171"/>
                  </a:lnTo>
                  <a:lnTo>
                    <a:pt x="448" y="171"/>
                  </a:lnTo>
                  <a:lnTo>
                    <a:pt x="448" y="173"/>
                  </a:lnTo>
                  <a:lnTo>
                    <a:pt x="446" y="171"/>
                  </a:lnTo>
                  <a:lnTo>
                    <a:pt x="446" y="171"/>
                  </a:lnTo>
                  <a:lnTo>
                    <a:pt x="446" y="169"/>
                  </a:lnTo>
                  <a:lnTo>
                    <a:pt x="446" y="167"/>
                  </a:lnTo>
                  <a:lnTo>
                    <a:pt x="446" y="165"/>
                  </a:lnTo>
                  <a:lnTo>
                    <a:pt x="448" y="163"/>
                  </a:lnTo>
                  <a:lnTo>
                    <a:pt x="448" y="163"/>
                  </a:lnTo>
                  <a:lnTo>
                    <a:pt x="450" y="161"/>
                  </a:lnTo>
                  <a:lnTo>
                    <a:pt x="452" y="159"/>
                  </a:lnTo>
                  <a:lnTo>
                    <a:pt x="452" y="159"/>
                  </a:lnTo>
                  <a:lnTo>
                    <a:pt x="452" y="159"/>
                  </a:lnTo>
                  <a:lnTo>
                    <a:pt x="454" y="158"/>
                  </a:lnTo>
                  <a:lnTo>
                    <a:pt x="454" y="158"/>
                  </a:lnTo>
                  <a:lnTo>
                    <a:pt x="452" y="156"/>
                  </a:lnTo>
                  <a:lnTo>
                    <a:pt x="452" y="154"/>
                  </a:lnTo>
                  <a:lnTo>
                    <a:pt x="454" y="154"/>
                  </a:lnTo>
                  <a:lnTo>
                    <a:pt x="454" y="150"/>
                  </a:lnTo>
                  <a:lnTo>
                    <a:pt x="455" y="150"/>
                  </a:lnTo>
                  <a:lnTo>
                    <a:pt x="455" y="146"/>
                  </a:lnTo>
                  <a:lnTo>
                    <a:pt x="455" y="146"/>
                  </a:lnTo>
                  <a:lnTo>
                    <a:pt x="455" y="144"/>
                  </a:lnTo>
                  <a:lnTo>
                    <a:pt x="454" y="144"/>
                  </a:lnTo>
                  <a:lnTo>
                    <a:pt x="454" y="144"/>
                  </a:lnTo>
                  <a:lnTo>
                    <a:pt x="454" y="144"/>
                  </a:lnTo>
                  <a:lnTo>
                    <a:pt x="452" y="144"/>
                  </a:lnTo>
                  <a:lnTo>
                    <a:pt x="452" y="144"/>
                  </a:lnTo>
                  <a:lnTo>
                    <a:pt x="450" y="144"/>
                  </a:lnTo>
                  <a:lnTo>
                    <a:pt x="450" y="144"/>
                  </a:lnTo>
                  <a:lnTo>
                    <a:pt x="450" y="144"/>
                  </a:lnTo>
                  <a:lnTo>
                    <a:pt x="450" y="142"/>
                  </a:lnTo>
                  <a:lnTo>
                    <a:pt x="452" y="140"/>
                  </a:lnTo>
                  <a:lnTo>
                    <a:pt x="452" y="140"/>
                  </a:lnTo>
                  <a:lnTo>
                    <a:pt x="452" y="139"/>
                  </a:lnTo>
                  <a:lnTo>
                    <a:pt x="452" y="137"/>
                  </a:lnTo>
                  <a:lnTo>
                    <a:pt x="450" y="137"/>
                  </a:lnTo>
                  <a:lnTo>
                    <a:pt x="450" y="135"/>
                  </a:lnTo>
                  <a:lnTo>
                    <a:pt x="448" y="135"/>
                  </a:lnTo>
                  <a:lnTo>
                    <a:pt x="448" y="135"/>
                  </a:lnTo>
                  <a:lnTo>
                    <a:pt x="446" y="137"/>
                  </a:lnTo>
                  <a:lnTo>
                    <a:pt x="446" y="137"/>
                  </a:lnTo>
                  <a:lnTo>
                    <a:pt x="446" y="139"/>
                  </a:lnTo>
                  <a:lnTo>
                    <a:pt x="446" y="139"/>
                  </a:lnTo>
                  <a:lnTo>
                    <a:pt x="444" y="140"/>
                  </a:lnTo>
                  <a:lnTo>
                    <a:pt x="444" y="140"/>
                  </a:lnTo>
                  <a:lnTo>
                    <a:pt x="446" y="144"/>
                  </a:lnTo>
                  <a:lnTo>
                    <a:pt x="446" y="146"/>
                  </a:lnTo>
                  <a:lnTo>
                    <a:pt x="444" y="146"/>
                  </a:lnTo>
                  <a:lnTo>
                    <a:pt x="444" y="146"/>
                  </a:lnTo>
                  <a:lnTo>
                    <a:pt x="442" y="148"/>
                  </a:lnTo>
                  <a:lnTo>
                    <a:pt x="440" y="146"/>
                  </a:lnTo>
                  <a:lnTo>
                    <a:pt x="440" y="146"/>
                  </a:lnTo>
                  <a:lnTo>
                    <a:pt x="440" y="144"/>
                  </a:lnTo>
                  <a:lnTo>
                    <a:pt x="440" y="140"/>
                  </a:lnTo>
                  <a:lnTo>
                    <a:pt x="440" y="139"/>
                  </a:lnTo>
                  <a:lnTo>
                    <a:pt x="440" y="139"/>
                  </a:lnTo>
                  <a:lnTo>
                    <a:pt x="440" y="139"/>
                  </a:lnTo>
                  <a:lnTo>
                    <a:pt x="438" y="137"/>
                  </a:lnTo>
                  <a:lnTo>
                    <a:pt x="436" y="137"/>
                  </a:lnTo>
                  <a:lnTo>
                    <a:pt x="436" y="139"/>
                  </a:lnTo>
                  <a:lnTo>
                    <a:pt x="434" y="139"/>
                  </a:lnTo>
                  <a:lnTo>
                    <a:pt x="434" y="139"/>
                  </a:lnTo>
                  <a:lnTo>
                    <a:pt x="433" y="139"/>
                  </a:lnTo>
                  <a:lnTo>
                    <a:pt x="433" y="140"/>
                  </a:lnTo>
                  <a:lnTo>
                    <a:pt x="433" y="142"/>
                  </a:lnTo>
                  <a:lnTo>
                    <a:pt x="433" y="142"/>
                  </a:lnTo>
                  <a:lnTo>
                    <a:pt x="434" y="144"/>
                  </a:lnTo>
                  <a:lnTo>
                    <a:pt x="434" y="146"/>
                  </a:lnTo>
                  <a:lnTo>
                    <a:pt x="434" y="146"/>
                  </a:lnTo>
                  <a:lnTo>
                    <a:pt x="434" y="148"/>
                  </a:lnTo>
                  <a:lnTo>
                    <a:pt x="434" y="148"/>
                  </a:lnTo>
                  <a:lnTo>
                    <a:pt x="434" y="150"/>
                  </a:lnTo>
                  <a:lnTo>
                    <a:pt x="434" y="150"/>
                  </a:lnTo>
                  <a:lnTo>
                    <a:pt x="434" y="150"/>
                  </a:lnTo>
                  <a:lnTo>
                    <a:pt x="434" y="152"/>
                  </a:lnTo>
                  <a:lnTo>
                    <a:pt x="434" y="154"/>
                  </a:lnTo>
                  <a:lnTo>
                    <a:pt x="434" y="154"/>
                  </a:lnTo>
                  <a:lnTo>
                    <a:pt x="433" y="154"/>
                  </a:lnTo>
                  <a:lnTo>
                    <a:pt x="433" y="154"/>
                  </a:lnTo>
                  <a:lnTo>
                    <a:pt x="433" y="154"/>
                  </a:lnTo>
                  <a:lnTo>
                    <a:pt x="431" y="152"/>
                  </a:lnTo>
                  <a:lnTo>
                    <a:pt x="431" y="152"/>
                  </a:lnTo>
                  <a:lnTo>
                    <a:pt x="429" y="150"/>
                  </a:lnTo>
                  <a:lnTo>
                    <a:pt x="429" y="150"/>
                  </a:lnTo>
                  <a:lnTo>
                    <a:pt x="427" y="148"/>
                  </a:lnTo>
                  <a:lnTo>
                    <a:pt x="427" y="148"/>
                  </a:lnTo>
                  <a:lnTo>
                    <a:pt x="427" y="148"/>
                  </a:lnTo>
                  <a:lnTo>
                    <a:pt x="425" y="148"/>
                  </a:lnTo>
                  <a:lnTo>
                    <a:pt x="423" y="148"/>
                  </a:lnTo>
                  <a:lnTo>
                    <a:pt x="421" y="148"/>
                  </a:lnTo>
                  <a:lnTo>
                    <a:pt x="421" y="148"/>
                  </a:lnTo>
                  <a:lnTo>
                    <a:pt x="419" y="148"/>
                  </a:lnTo>
                  <a:lnTo>
                    <a:pt x="419" y="148"/>
                  </a:lnTo>
                  <a:lnTo>
                    <a:pt x="419" y="150"/>
                  </a:lnTo>
                  <a:lnTo>
                    <a:pt x="419" y="150"/>
                  </a:lnTo>
                  <a:lnTo>
                    <a:pt x="419" y="150"/>
                  </a:lnTo>
                  <a:lnTo>
                    <a:pt x="419" y="152"/>
                  </a:lnTo>
                  <a:lnTo>
                    <a:pt x="419" y="152"/>
                  </a:lnTo>
                  <a:lnTo>
                    <a:pt x="419" y="152"/>
                  </a:lnTo>
                  <a:lnTo>
                    <a:pt x="417" y="154"/>
                  </a:lnTo>
                  <a:lnTo>
                    <a:pt x="417" y="154"/>
                  </a:lnTo>
                  <a:lnTo>
                    <a:pt x="415" y="158"/>
                  </a:lnTo>
                  <a:lnTo>
                    <a:pt x="413" y="159"/>
                  </a:lnTo>
                  <a:lnTo>
                    <a:pt x="413" y="159"/>
                  </a:lnTo>
                  <a:lnTo>
                    <a:pt x="413" y="161"/>
                  </a:lnTo>
                  <a:lnTo>
                    <a:pt x="413" y="161"/>
                  </a:lnTo>
                  <a:lnTo>
                    <a:pt x="413" y="163"/>
                  </a:lnTo>
                  <a:lnTo>
                    <a:pt x="413" y="163"/>
                  </a:lnTo>
                  <a:lnTo>
                    <a:pt x="415" y="163"/>
                  </a:lnTo>
                  <a:lnTo>
                    <a:pt x="417" y="165"/>
                  </a:lnTo>
                  <a:lnTo>
                    <a:pt x="417" y="167"/>
                  </a:lnTo>
                  <a:lnTo>
                    <a:pt x="419" y="169"/>
                  </a:lnTo>
                  <a:lnTo>
                    <a:pt x="423" y="177"/>
                  </a:lnTo>
                  <a:lnTo>
                    <a:pt x="423" y="178"/>
                  </a:lnTo>
                  <a:lnTo>
                    <a:pt x="423" y="182"/>
                  </a:lnTo>
                  <a:lnTo>
                    <a:pt x="425" y="194"/>
                  </a:lnTo>
                  <a:lnTo>
                    <a:pt x="427" y="196"/>
                  </a:lnTo>
                  <a:lnTo>
                    <a:pt x="427" y="198"/>
                  </a:lnTo>
                  <a:lnTo>
                    <a:pt x="431" y="201"/>
                  </a:lnTo>
                  <a:lnTo>
                    <a:pt x="433" y="203"/>
                  </a:lnTo>
                  <a:lnTo>
                    <a:pt x="433" y="205"/>
                  </a:lnTo>
                  <a:lnTo>
                    <a:pt x="434" y="207"/>
                  </a:lnTo>
                  <a:lnTo>
                    <a:pt x="434" y="209"/>
                  </a:lnTo>
                  <a:lnTo>
                    <a:pt x="434" y="213"/>
                  </a:lnTo>
                  <a:lnTo>
                    <a:pt x="434" y="217"/>
                  </a:lnTo>
                  <a:lnTo>
                    <a:pt x="434" y="218"/>
                  </a:lnTo>
                  <a:lnTo>
                    <a:pt x="434" y="218"/>
                  </a:lnTo>
                  <a:lnTo>
                    <a:pt x="434" y="218"/>
                  </a:lnTo>
                  <a:lnTo>
                    <a:pt x="433" y="220"/>
                  </a:lnTo>
                  <a:lnTo>
                    <a:pt x="433" y="222"/>
                  </a:lnTo>
                  <a:lnTo>
                    <a:pt x="433" y="224"/>
                  </a:lnTo>
                  <a:lnTo>
                    <a:pt x="433" y="224"/>
                  </a:lnTo>
                  <a:lnTo>
                    <a:pt x="433" y="226"/>
                  </a:lnTo>
                  <a:lnTo>
                    <a:pt x="434" y="226"/>
                  </a:lnTo>
                  <a:lnTo>
                    <a:pt x="434" y="228"/>
                  </a:lnTo>
                  <a:lnTo>
                    <a:pt x="436" y="228"/>
                  </a:lnTo>
                  <a:lnTo>
                    <a:pt x="436" y="226"/>
                  </a:lnTo>
                  <a:lnTo>
                    <a:pt x="440" y="226"/>
                  </a:lnTo>
                  <a:lnTo>
                    <a:pt x="442" y="226"/>
                  </a:lnTo>
                  <a:lnTo>
                    <a:pt x="442" y="226"/>
                  </a:lnTo>
                  <a:lnTo>
                    <a:pt x="444" y="226"/>
                  </a:lnTo>
                  <a:lnTo>
                    <a:pt x="446" y="226"/>
                  </a:lnTo>
                  <a:lnTo>
                    <a:pt x="446" y="228"/>
                  </a:lnTo>
                  <a:lnTo>
                    <a:pt x="448" y="230"/>
                  </a:lnTo>
                  <a:lnTo>
                    <a:pt x="448" y="230"/>
                  </a:lnTo>
                  <a:lnTo>
                    <a:pt x="448" y="232"/>
                  </a:lnTo>
                  <a:lnTo>
                    <a:pt x="448" y="234"/>
                  </a:lnTo>
                  <a:lnTo>
                    <a:pt x="450" y="236"/>
                  </a:lnTo>
                  <a:lnTo>
                    <a:pt x="452" y="237"/>
                  </a:lnTo>
                  <a:lnTo>
                    <a:pt x="452" y="237"/>
                  </a:lnTo>
                  <a:lnTo>
                    <a:pt x="450" y="239"/>
                  </a:lnTo>
                  <a:lnTo>
                    <a:pt x="450" y="239"/>
                  </a:lnTo>
                  <a:lnTo>
                    <a:pt x="450" y="241"/>
                  </a:lnTo>
                  <a:lnTo>
                    <a:pt x="450" y="241"/>
                  </a:lnTo>
                  <a:lnTo>
                    <a:pt x="450" y="241"/>
                  </a:lnTo>
                  <a:lnTo>
                    <a:pt x="452" y="241"/>
                  </a:lnTo>
                  <a:lnTo>
                    <a:pt x="452" y="241"/>
                  </a:lnTo>
                  <a:lnTo>
                    <a:pt x="452" y="243"/>
                  </a:lnTo>
                  <a:lnTo>
                    <a:pt x="454" y="243"/>
                  </a:lnTo>
                  <a:lnTo>
                    <a:pt x="455" y="243"/>
                  </a:lnTo>
                  <a:lnTo>
                    <a:pt x="457" y="243"/>
                  </a:lnTo>
                  <a:lnTo>
                    <a:pt x="457" y="247"/>
                  </a:lnTo>
                  <a:lnTo>
                    <a:pt x="455" y="249"/>
                  </a:lnTo>
                  <a:lnTo>
                    <a:pt x="455" y="251"/>
                  </a:lnTo>
                  <a:lnTo>
                    <a:pt x="454" y="251"/>
                  </a:lnTo>
                  <a:lnTo>
                    <a:pt x="454" y="253"/>
                  </a:lnTo>
                  <a:lnTo>
                    <a:pt x="454" y="253"/>
                  </a:lnTo>
                  <a:lnTo>
                    <a:pt x="450" y="256"/>
                  </a:lnTo>
                  <a:lnTo>
                    <a:pt x="448" y="258"/>
                  </a:lnTo>
                  <a:lnTo>
                    <a:pt x="448" y="260"/>
                  </a:lnTo>
                  <a:lnTo>
                    <a:pt x="446" y="264"/>
                  </a:lnTo>
                  <a:lnTo>
                    <a:pt x="444" y="266"/>
                  </a:lnTo>
                  <a:lnTo>
                    <a:pt x="442" y="268"/>
                  </a:lnTo>
                  <a:lnTo>
                    <a:pt x="440" y="268"/>
                  </a:lnTo>
                  <a:lnTo>
                    <a:pt x="440" y="270"/>
                  </a:lnTo>
                  <a:lnTo>
                    <a:pt x="438" y="268"/>
                  </a:lnTo>
                  <a:lnTo>
                    <a:pt x="436" y="268"/>
                  </a:lnTo>
                  <a:lnTo>
                    <a:pt x="436" y="266"/>
                  </a:lnTo>
                  <a:lnTo>
                    <a:pt x="436" y="264"/>
                  </a:lnTo>
                  <a:lnTo>
                    <a:pt x="436" y="264"/>
                  </a:lnTo>
                  <a:lnTo>
                    <a:pt x="436" y="262"/>
                  </a:lnTo>
                  <a:lnTo>
                    <a:pt x="434" y="262"/>
                  </a:lnTo>
                  <a:lnTo>
                    <a:pt x="434" y="262"/>
                  </a:lnTo>
                  <a:lnTo>
                    <a:pt x="433" y="262"/>
                  </a:lnTo>
                  <a:lnTo>
                    <a:pt x="431" y="262"/>
                  </a:lnTo>
                  <a:lnTo>
                    <a:pt x="429" y="262"/>
                  </a:lnTo>
                  <a:lnTo>
                    <a:pt x="427" y="260"/>
                  </a:lnTo>
                  <a:lnTo>
                    <a:pt x="425" y="260"/>
                  </a:lnTo>
                  <a:lnTo>
                    <a:pt x="423" y="256"/>
                  </a:lnTo>
                  <a:lnTo>
                    <a:pt x="421" y="256"/>
                  </a:lnTo>
                  <a:lnTo>
                    <a:pt x="415" y="251"/>
                  </a:lnTo>
                  <a:lnTo>
                    <a:pt x="413" y="251"/>
                  </a:lnTo>
                  <a:lnTo>
                    <a:pt x="412" y="249"/>
                  </a:lnTo>
                  <a:lnTo>
                    <a:pt x="410" y="249"/>
                  </a:lnTo>
                  <a:lnTo>
                    <a:pt x="410" y="249"/>
                  </a:lnTo>
                  <a:lnTo>
                    <a:pt x="410" y="251"/>
                  </a:lnTo>
                  <a:lnTo>
                    <a:pt x="408" y="251"/>
                  </a:lnTo>
                  <a:lnTo>
                    <a:pt x="408" y="253"/>
                  </a:lnTo>
                  <a:lnTo>
                    <a:pt x="408" y="253"/>
                  </a:lnTo>
                  <a:lnTo>
                    <a:pt x="408" y="255"/>
                  </a:lnTo>
                  <a:lnTo>
                    <a:pt x="408" y="255"/>
                  </a:lnTo>
                  <a:lnTo>
                    <a:pt x="408" y="256"/>
                  </a:lnTo>
                  <a:lnTo>
                    <a:pt x="408" y="256"/>
                  </a:lnTo>
                  <a:lnTo>
                    <a:pt x="406" y="258"/>
                  </a:lnTo>
                  <a:lnTo>
                    <a:pt x="406" y="258"/>
                  </a:lnTo>
                  <a:lnTo>
                    <a:pt x="404" y="260"/>
                  </a:lnTo>
                  <a:lnTo>
                    <a:pt x="402" y="260"/>
                  </a:lnTo>
                  <a:lnTo>
                    <a:pt x="400" y="260"/>
                  </a:lnTo>
                  <a:lnTo>
                    <a:pt x="398" y="260"/>
                  </a:lnTo>
                  <a:lnTo>
                    <a:pt x="398" y="258"/>
                  </a:lnTo>
                  <a:lnTo>
                    <a:pt x="396" y="258"/>
                  </a:lnTo>
                  <a:lnTo>
                    <a:pt x="396" y="256"/>
                  </a:lnTo>
                  <a:lnTo>
                    <a:pt x="396" y="255"/>
                  </a:lnTo>
                  <a:lnTo>
                    <a:pt x="396" y="255"/>
                  </a:lnTo>
                  <a:lnTo>
                    <a:pt x="398" y="251"/>
                  </a:lnTo>
                  <a:lnTo>
                    <a:pt x="398" y="251"/>
                  </a:lnTo>
                  <a:lnTo>
                    <a:pt x="398" y="249"/>
                  </a:lnTo>
                  <a:lnTo>
                    <a:pt x="398" y="249"/>
                  </a:lnTo>
                  <a:lnTo>
                    <a:pt x="396" y="249"/>
                  </a:lnTo>
                  <a:lnTo>
                    <a:pt x="394" y="247"/>
                  </a:lnTo>
                  <a:lnTo>
                    <a:pt x="393" y="247"/>
                  </a:lnTo>
                  <a:lnTo>
                    <a:pt x="393" y="245"/>
                  </a:lnTo>
                  <a:lnTo>
                    <a:pt x="391" y="243"/>
                  </a:lnTo>
                  <a:lnTo>
                    <a:pt x="391" y="243"/>
                  </a:lnTo>
                  <a:lnTo>
                    <a:pt x="391" y="243"/>
                  </a:lnTo>
                  <a:lnTo>
                    <a:pt x="389" y="241"/>
                  </a:lnTo>
                  <a:lnTo>
                    <a:pt x="389" y="241"/>
                  </a:lnTo>
                  <a:lnTo>
                    <a:pt x="389" y="241"/>
                  </a:lnTo>
                  <a:lnTo>
                    <a:pt x="387" y="239"/>
                  </a:lnTo>
                  <a:lnTo>
                    <a:pt x="387" y="239"/>
                  </a:lnTo>
                  <a:lnTo>
                    <a:pt x="387" y="237"/>
                  </a:lnTo>
                  <a:lnTo>
                    <a:pt x="389" y="234"/>
                  </a:lnTo>
                  <a:lnTo>
                    <a:pt x="391" y="232"/>
                  </a:lnTo>
                  <a:lnTo>
                    <a:pt x="391" y="230"/>
                  </a:lnTo>
                  <a:lnTo>
                    <a:pt x="391" y="228"/>
                  </a:lnTo>
                  <a:lnTo>
                    <a:pt x="391" y="228"/>
                  </a:lnTo>
                  <a:lnTo>
                    <a:pt x="391" y="226"/>
                  </a:lnTo>
                  <a:lnTo>
                    <a:pt x="391" y="226"/>
                  </a:lnTo>
                  <a:lnTo>
                    <a:pt x="391" y="224"/>
                  </a:lnTo>
                  <a:lnTo>
                    <a:pt x="391" y="224"/>
                  </a:lnTo>
                  <a:lnTo>
                    <a:pt x="391" y="220"/>
                  </a:lnTo>
                  <a:lnTo>
                    <a:pt x="389" y="218"/>
                  </a:lnTo>
                  <a:lnTo>
                    <a:pt x="389" y="218"/>
                  </a:lnTo>
                  <a:lnTo>
                    <a:pt x="387" y="217"/>
                  </a:lnTo>
                  <a:lnTo>
                    <a:pt x="387" y="215"/>
                  </a:lnTo>
                  <a:lnTo>
                    <a:pt x="387" y="213"/>
                  </a:lnTo>
                  <a:lnTo>
                    <a:pt x="387" y="211"/>
                  </a:lnTo>
                  <a:lnTo>
                    <a:pt x="385" y="205"/>
                  </a:lnTo>
                  <a:lnTo>
                    <a:pt x="385" y="205"/>
                  </a:lnTo>
                  <a:lnTo>
                    <a:pt x="383" y="205"/>
                  </a:lnTo>
                  <a:lnTo>
                    <a:pt x="383" y="205"/>
                  </a:lnTo>
                  <a:lnTo>
                    <a:pt x="381" y="203"/>
                  </a:lnTo>
                  <a:lnTo>
                    <a:pt x="381" y="201"/>
                  </a:lnTo>
                  <a:lnTo>
                    <a:pt x="383" y="201"/>
                  </a:lnTo>
                  <a:lnTo>
                    <a:pt x="387" y="198"/>
                  </a:lnTo>
                  <a:lnTo>
                    <a:pt x="391" y="196"/>
                  </a:lnTo>
                  <a:lnTo>
                    <a:pt x="394" y="192"/>
                  </a:lnTo>
                  <a:lnTo>
                    <a:pt x="396" y="190"/>
                  </a:lnTo>
                  <a:lnTo>
                    <a:pt x="396" y="188"/>
                  </a:lnTo>
                  <a:lnTo>
                    <a:pt x="398" y="184"/>
                  </a:lnTo>
                  <a:lnTo>
                    <a:pt x="396" y="182"/>
                  </a:lnTo>
                  <a:lnTo>
                    <a:pt x="396" y="180"/>
                  </a:lnTo>
                  <a:lnTo>
                    <a:pt x="396" y="180"/>
                  </a:lnTo>
                  <a:lnTo>
                    <a:pt x="398" y="178"/>
                  </a:lnTo>
                  <a:lnTo>
                    <a:pt x="398" y="177"/>
                  </a:lnTo>
                  <a:lnTo>
                    <a:pt x="398" y="175"/>
                  </a:lnTo>
                  <a:lnTo>
                    <a:pt x="400" y="173"/>
                  </a:lnTo>
                  <a:lnTo>
                    <a:pt x="400" y="171"/>
                  </a:lnTo>
                  <a:lnTo>
                    <a:pt x="400" y="169"/>
                  </a:lnTo>
                  <a:lnTo>
                    <a:pt x="400" y="169"/>
                  </a:lnTo>
                  <a:lnTo>
                    <a:pt x="398" y="167"/>
                  </a:lnTo>
                  <a:lnTo>
                    <a:pt x="394" y="156"/>
                  </a:lnTo>
                  <a:lnTo>
                    <a:pt x="393" y="154"/>
                  </a:lnTo>
                  <a:lnTo>
                    <a:pt x="391" y="154"/>
                  </a:lnTo>
                  <a:lnTo>
                    <a:pt x="391" y="152"/>
                  </a:lnTo>
                  <a:lnTo>
                    <a:pt x="389" y="150"/>
                  </a:lnTo>
                  <a:lnTo>
                    <a:pt x="389" y="150"/>
                  </a:lnTo>
                  <a:lnTo>
                    <a:pt x="391" y="148"/>
                  </a:lnTo>
                  <a:lnTo>
                    <a:pt x="391" y="148"/>
                  </a:lnTo>
                  <a:lnTo>
                    <a:pt x="396" y="142"/>
                  </a:lnTo>
                  <a:lnTo>
                    <a:pt x="398" y="140"/>
                  </a:lnTo>
                  <a:lnTo>
                    <a:pt x="398" y="135"/>
                  </a:lnTo>
                  <a:lnTo>
                    <a:pt x="400" y="133"/>
                  </a:lnTo>
                  <a:lnTo>
                    <a:pt x="408" y="131"/>
                  </a:lnTo>
                  <a:lnTo>
                    <a:pt x="412" y="131"/>
                  </a:lnTo>
                  <a:lnTo>
                    <a:pt x="412" y="131"/>
                  </a:lnTo>
                  <a:lnTo>
                    <a:pt x="415" y="131"/>
                  </a:lnTo>
                  <a:lnTo>
                    <a:pt x="417" y="131"/>
                  </a:lnTo>
                  <a:lnTo>
                    <a:pt x="417" y="131"/>
                  </a:lnTo>
                  <a:lnTo>
                    <a:pt x="419" y="131"/>
                  </a:lnTo>
                  <a:lnTo>
                    <a:pt x="419" y="129"/>
                  </a:lnTo>
                  <a:lnTo>
                    <a:pt x="423" y="127"/>
                  </a:lnTo>
                  <a:lnTo>
                    <a:pt x="433" y="125"/>
                  </a:lnTo>
                  <a:lnTo>
                    <a:pt x="434" y="123"/>
                  </a:lnTo>
                  <a:lnTo>
                    <a:pt x="436" y="123"/>
                  </a:lnTo>
                  <a:lnTo>
                    <a:pt x="436" y="123"/>
                  </a:lnTo>
                  <a:lnTo>
                    <a:pt x="436" y="123"/>
                  </a:lnTo>
                  <a:lnTo>
                    <a:pt x="436" y="121"/>
                  </a:lnTo>
                  <a:lnTo>
                    <a:pt x="436" y="121"/>
                  </a:lnTo>
                  <a:lnTo>
                    <a:pt x="436" y="120"/>
                  </a:lnTo>
                  <a:lnTo>
                    <a:pt x="434" y="118"/>
                  </a:lnTo>
                  <a:lnTo>
                    <a:pt x="434" y="116"/>
                  </a:lnTo>
                  <a:lnTo>
                    <a:pt x="433" y="116"/>
                  </a:lnTo>
                  <a:lnTo>
                    <a:pt x="433" y="114"/>
                  </a:lnTo>
                  <a:lnTo>
                    <a:pt x="433" y="114"/>
                  </a:lnTo>
                  <a:lnTo>
                    <a:pt x="434" y="112"/>
                  </a:lnTo>
                  <a:lnTo>
                    <a:pt x="434" y="110"/>
                  </a:lnTo>
                  <a:lnTo>
                    <a:pt x="434" y="108"/>
                  </a:lnTo>
                  <a:lnTo>
                    <a:pt x="434" y="108"/>
                  </a:lnTo>
                  <a:lnTo>
                    <a:pt x="436" y="106"/>
                  </a:lnTo>
                  <a:lnTo>
                    <a:pt x="438" y="106"/>
                  </a:lnTo>
                  <a:lnTo>
                    <a:pt x="438" y="106"/>
                  </a:lnTo>
                  <a:lnTo>
                    <a:pt x="440" y="104"/>
                  </a:lnTo>
                  <a:lnTo>
                    <a:pt x="442" y="101"/>
                  </a:lnTo>
                  <a:lnTo>
                    <a:pt x="444" y="97"/>
                  </a:lnTo>
                  <a:lnTo>
                    <a:pt x="448" y="93"/>
                  </a:lnTo>
                  <a:lnTo>
                    <a:pt x="448" y="91"/>
                  </a:lnTo>
                  <a:lnTo>
                    <a:pt x="448" y="89"/>
                  </a:lnTo>
                  <a:lnTo>
                    <a:pt x="448" y="87"/>
                  </a:lnTo>
                  <a:lnTo>
                    <a:pt x="450" y="83"/>
                  </a:lnTo>
                  <a:lnTo>
                    <a:pt x="454" y="78"/>
                  </a:lnTo>
                  <a:lnTo>
                    <a:pt x="454" y="78"/>
                  </a:lnTo>
                  <a:lnTo>
                    <a:pt x="454" y="76"/>
                  </a:lnTo>
                  <a:lnTo>
                    <a:pt x="454" y="76"/>
                  </a:lnTo>
                  <a:lnTo>
                    <a:pt x="452" y="74"/>
                  </a:lnTo>
                  <a:lnTo>
                    <a:pt x="452" y="74"/>
                  </a:lnTo>
                  <a:lnTo>
                    <a:pt x="452" y="72"/>
                  </a:lnTo>
                  <a:lnTo>
                    <a:pt x="452" y="70"/>
                  </a:lnTo>
                  <a:lnTo>
                    <a:pt x="452" y="70"/>
                  </a:lnTo>
                  <a:lnTo>
                    <a:pt x="452" y="70"/>
                  </a:lnTo>
                  <a:lnTo>
                    <a:pt x="454" y="68"/>
                  </a:lnTo>
                  <a:lnTo>
                    <a:pt x="454" y="68"/>
                  </a:lnTo>
                  <a:lnTo>
                    <a:pt x="455" y="68"/>
                  </a:lnTo>
                  <a:lnTo>
                    <a:pt x="454" y="66"/>
                  </a:lnTo>
                  <a:lnTo>
                    <a:pt x="454" y="64"/>
                  </a:lnTo>
                  <a:lnTo>
                    <a:pt x="454" y="64"/>
                  </a:lnTo>
                  <a:lnTo>
                    <a:pt x="454" y="62"/>
                  </a:lnTo>
                  <a:lnTo>
                    <a:pt x="454" y="61"/>
                  </a:lnTo>
                  <a:lnTo>
                    <a:pt x="454" y="61"/>
                  </a:lnTo>
                  <a:lnTo>
                    <a:pt x="454" y="59"/>
                  </a:lnTo>
                  <a:lnTo>
                    <a:pt x="455" y="59"/>
                  </a:lnTo>
                  <a:lnTo>
                    <a:pt x="455" y="59"/>
                  </a:lnTo>
                  <a:lnTo>
                    <a:pt x="457" y="59"/>
                  </a:lnTo>
                  <a:lnTo>
                    <a:pt x="459" y="59"/>
                  </a:lnTo>
                  <a:lnTo>
                    <a:pt x="461" y="57"/>
                  </a:lnTo>
                  <a:lnTo>
                    <a:pt x="461" y="57"/>
                  </a:lnTo>
                  <a:lnTo>
                    <a:pt x="461" y="55"/>
                  </a:lnTo>
                  <a:lnTo>
                    <a:pt x="463" y="53"/>
                  </a:lnTo>
                  <a:lnTo>
                    <a:pt x="465" y="51"/>
                  </a:lnTo>
                  <a:lnTo>
                    <a:pt x="465" y="51"/>
                  </a:lnTo>
                  <a:lnTo>
                    <a:pt x="463" y="51"/>
                  </a:lnTo>
                  <a:lnTo>
                    <a:pt x="463" y="51"/>
                  </a:lnTo>
                  <a:lnTo>
                    <a:pt x="463" y="49"/>
                  </a:lnTo>
                  <a:lnTo>
                    <a:pt x="463" y="49"/>
                  </a:lnTo>
                  <a:lnTo>
                    <a:pt x="463" y="45"/>
                  </a:lnTo>
                  <a:lnTo>
                    <a:pt x="463" y="42"/>
                  </a:lnTo>
                  <a:lnTo>
                    <a:pt x="463" y="40"/>
                  </a:lnTo>
                  <a:lnTo>
                    <a:pt x="461" y="36"/>
                  </a:lnTo>
                  <a:lnTo>
                    <a:pt x="455" y="28"/>
                  </a:lnTo>
                  <a:lnTo>
                    <a:pt x="455" y="26"/>
                  </a:lnTo>
                  <a:lnTo>
                    <a:pt x="454" y="23"/>
                  </a:lnTo>
                  <a:lnTo>
                    <a:pt x="454" y="19"/>
                  </a:lnTo>
                  <a:lnTo>
                    <a:pt x="454" y="19"/>
                  </a:lnTo>
                  <a:lnTo>
                    <a:pt x="454" y="19"/>
                  </a:lnTo>
                  <a:lnTo>
                    <a:pt x="454" y="17"/>
                  </a:lnTo>
                  <a:lnTo>
                    <a:pt x="454" y="17"/>
                  </a:lnTo>
                  <a:lnTo>
                    <a:pt x="452" y="15"/>
                  </a:lnTo>
                  <a:lnTo>
                    <a:pt x="452" y="15"/>
                  </a:lnTo>
                  <a:lnTo>
                    <a:pt x="450" y="15"/>
                  </a:lnTo>
                  <a:lnTo>
                    <a:pt x="446" y="15"/>
                  </a:lnTo>
                  <a:lnTo>
                    <a:pt x="446" y="15"/>
                  </a:lnTo>
                  <a:lnTo>
                    <a:pt x="444" y="15"/>
                  </a:lnTo>
                  <a:lnTo>
                    <a:pt x="442" y="11"/>
                  </a:lnTo>
                  <a:lnTo>
                    <a:pt x="440" y="9"/>
                  </a:lnTo>
                  <a:lnTo>
                    <a:pt x="438" y="9"/>
                  </a:lnTo>
                  <a:lnTo>
                    <a:pt x="438" y="9"/>
                  </a:lnTo>
                  <a:lnTo>
                    <a:pt x="436" y="9"/>
                  </a:lnTo>
                  <a:lnTo>
                    <a:pt x="436" y="7"/>
                  </a:lnTo>
                  <a:lnTo>
                    <a:pt x="436" y="7"/>
                  </a:lnTo>
                  <a:lnTo>
                    <a:pt x="434" y="5"/>
                  </a:lnTo>
                  <a:lnTo>
                    <a:pt x="434" y="7"/>
                  </a:lnTo>
                  <a:lnTo>
                    <a:pt x="433" y="7"/>
                  </a:lnTo>
                  <a:lnTo>
                    <a:pt x="433" y="5"/>
                  </a:lnTo>
                  <a:lnTo>
                    <a:pt x="431" y="5"/>
                  </a:lnTo>
                  <a:lnTo>
                    <a:pt x="427" y="7"/>
                  </a:lnTo>
                  <a:lnTo>
                    <a:pt x="425" y="7"/>
                  </a:lnTo>
                  <a:lnTo>
                    <a:pt x="423" y="7"/>
                  </a:lnTo>
                  <a:lnTo>
                    <a:pt x="423" y="7"/>
                  </a:lnTo>
                  <a:lnTo>
                    <a:pt x="423" y="7"/>
                  </a:lnTo>
                  <a:lnTo>
                    <a:pt x="421" y="9"/>
                  </a:lnTo>
                  <a:lnTo>
                    <a:pt x="421" y="9"/>
                  </a:lnTo>
                  <a:lnTo>
                    <a:pt x="419" y="9"/>
                  </a:lnTo>
                  <a:lnTo>
                    <a:pt x="417" y="9"/>
                  </a:lnTo>
                  <a:lnTo>
                    <a:pt x="413" y="7"/>
                  </a:lnTo>
                  <a:lnTo>
                    <a:pt x="412" y="7"/>
                  </a:lnTo>
                  <a:lnTo>
                    <a:pt x="410" y="5"/>
                  </a:lnTo>
                  <a:lnTo>
                    <a:pt x="408" y="5"/>
                  </a:lnTo>
                  <a:lnTo>
                    <a:pt x="406" y="4"/>
                  </a:lnTo>
                  <a:lnTo>
                    <a:pt x="406" y="4"/>
                  </a:lnTo>
                  <a:lnTo>
                    <a:pt x="406" y="4"/>
                  </a:lnTo>
                  <a:lnTo>
                    <a:pt x="404" y="4"/>
                  </a:lnTo>
                  <a:lnTo>
                    <a:pt x="402" y="4"/>
                  </a:lnTo>
                  <a:lnTo>
                    <a:pt x="402" y="2"/>
                  </a:lnTo>
                  <a:lnTo>
                    <a:pt x="400" y="0"/>
                  </a:lnTo>
                  <a:lnTo>
                    <a:pt x="398" y="0"/>
                  </a:lnTo>
                  <a:lnTo>
                    <a:pt x="396" y="0"/>
                  </a:lnTo>
                  <a:lnTo>
                    <a:pt x="393" y="0"/>
                  </a:lnTo>
                  <a:lnTo>
                    <a:pt x="393" y="0"/>
                  </a:lnTo>
                  <a:lnTo>
                    <a:pt x="391" y="0"/>
                  </a:lnTo>
                  <a:lnTo>
                    <a:pt x="391" y="4"/>
                  </a:lnTo>
                  <a:lnTo>
                    <a:pt x="391" y="4"/>
                  </a:lnTo>
                  <a:lnTo>
                    <a:pt x="389" y="4"/>
                  </a:lnTo>
                  <a:lnTo>
                    <a:pt x="387" y="4"/>
                  </a:lnTo>
                  <a:lnTo>
                    <a:pt x="385" y="4"/>
                  </a:lnTo>
                  <a:lnTo>
                    <a:pt x="383" y="4"/>
                  </a:lnTo>
                  <a:lnTo>
                    <a:pt x="381" y="4"/>
                  </a:lnTo>
                  <a:lnTo>
                    <a:pt x="381" y="5"/>
                  </a:lnTo>
                  <a:lnTo>
                    <a:pt x="381" y="7"/>
                  </a:lnTo>
                  <a:lnTo>
                    <a:pt x="377" y="5"/>
                  </a:lnTo>
                  <a:lnTo>
                    <a:pt x="375" y="5"/>
                  </a:lnTo>
                  <a:lnTo>
                    <a:pt x="375" y="7"/>
                  </a:lnTo>
                  <a:lnTo>
                    <a:pt x="375" y="9"/>
                  </a:lnTo>
                  <a:lnTo>
                    <a:pt x="375" y="9"/>
                  </a:lnTo>
                  <a:lnTo>
                    <a:pt x="375" y="11"/>
                  </a:lnTo>
                  <a:lnTo>
                    <a:pt x="375" y="11"/>
                  </a:lnTo>
                  <a:lnTo>
                    <a:pt x="375" y="13"/>
                  </a:lnTo>
                  <a:lnTo>
                    <a:pt x="373" y="13"/>
                  </a:lnTo>
                  <a:lnTo>
                    <a:pt x="373" y="15"/>
                  </a:lnTo>
                  <a:lnTo>
                    <a:pt x="373" y="17"/>
                  </a:lnTo>
                  <a:lnTo>
                    <a:pt x="373" y="17"/>
                  </a:lnTo>
                  <a:lnTo>
                    <a:pt x="372" y="17"/>
                  </a:lnTo>
                  <a:lnTo>
                    <a:pt x="372" y="17"/>
                  </a:lnTo>
                  <a:lnTo>
                    <a:pt x="370" y="17"/>
                  </a:lnTo>
                  <a:lnTo>
                    <a:pt x="370" y="17"/>
                  </a:lnTo>
                  <a:lnTo>
                    <a:pt x="368" y="17"/>
                  </a:lnTo>
                  <a:lnTo>
                    <a:pt x="368" y="17"/>
                  </a:lnTo>
                  <a:lnTo>
                    <a:pt x="366" y="17"/>
                  </a:lnTo>
                  <a:lnTo>
                    <a:pt x="364" y="17"/>
                  </a:lnTo>
                  <a:lnTo>
                    <a:pt x="362" y="19"/>
                  </a:lnTo>
                  <a:lnTo>
                    <a:pt x="360" y="19"/>
                  </a:lnTo>
                  <a:lnTo>
                    <a:pt x="358" y="19"/>
                  </a:lnTo>
                  <a:lnTo>
                    <a:pt x="356" y="19"/>
                  </a:lnTo>
                  <a:lnTo>
                    <a:pt x="356" y="21"/>
                  </a:lnTo>
                  <a:lnTo>
                    <a:pt x="356" y="21"/>
                  </a:lnTo>
                  <a:lnTo>
                    <a:pt x="356" y="23"/>
                  </a:lnTo>
                  <a:lnTo>
                    <a:pt x="354" y="23"/>
                  </a:lnTo>
                  <a:lnTo>
                    <a:pt x="354" y="24"/>
                  </a:lnTo>
                  <a:lnTo>
                    <a:pt x="349" y="24"/>
                  </a:lnTo>
                  <a:lnTo>
                    <a:pt x="351" y="28"/>
                  </a:lnTo>
                  <a:lnTo>
                    <a:pt x="349" y="30"/>
                  </a:lnTo>
                  <a:lnTo>
                    <a:pt x="345" y="32"/>
                  </a:lnTo>
                  <a:lnTo>
                    <a:pt x="343" y="32"/>
                  </a:lnTo>
                  <a:lnTo>
                    <a:pt x="341" y="34"/>
                  </a:lnTo>
                  <a:lnTo>
                    <a:pt x="339" y="36"/>
                  </a:lnTo>
                  <a:lnTo>
                    <a:pt x="339" y="36"/>
                  </a:lnTo>
                  <a:lnTo>
                    <a:pt x="337" y="36"/>
                  </a:lnTo>
                  <a:lnTo>
                    <a:pt x="333" y="38"/>
                  </a:lnTo>
                  <a:lnTo>
                    <a:pt x="332" y="38"/>
                  </a:lnTo>
                  <a:lnTo>
                    <a:pt x="332" y="38"/>
                  </a:lnTo>
                  <a:lnTo>
                    <a:pt x="326" y="42"/>
                  </a:lnTo>
                  <a:lnTo>
                    <a:pt x="322" y="43"/>
                  </a:lnTo>
                  <a:lnTo>
                    <a:pt x="322" y="45"/>
                  </a:lnTo>
                  <a:lnTo>
                    <a:pt x="320" y="45"/>
                  </a:lnTo>
                  <a:lnTo>
                    <a:pt x="316" y="45"/>
                  </a:lnTo>
                  <a:lnTo>
                    <a:pt x="314" y="45"/>
                  </a:lnTo>
                  <a:lnTo>
                    <a:pt x="314" y="47"/>
                  </a:lnTo>
                  <a:lnTo>
                    <a:pt x="314" y="47"/>
                  </a:lnTo>
                  <a:lnTo>
                    <a:pt x="314" y="49"/>
                  </a:lnTo>
                  <a:lnTo>
                    <a:pt x="313" y="49"/>
                  </a:lnTo>
                  <a:lnTo>
                    <a:pt x="311" y="49"/>
                  </a:lnTo>
                  <a:lnTo>
                    <a:pt x="311" y="49"/>
                  </a:lnTo>
                  <a:lnTo>
                    <a:pt x="309" y="51"/>
                  </a:lnTo>
                  <a:lnTo>
                    <a:pt x="307" y="49"/>
                  </a:lnTo>
                  <a:lnTo>
                    <a:pt x="305" y="51"/>
                  </a:lnTo>
                  <a:lnTo>
                    <a:pt x="303" y="51"/>
                  </a:lnTo>
                  <a:lnTo>
                    <a:pt x="303" y="53"/>
                  </a:lnTo>
                  <a:lnTo>
                    <a:pt x="301" y="55"/>
                  </a:lnTo>
                  <a:lnTo>
                    <a:pt x="301" y="57"/>
                  </a:lnTo>
                  <a:lnTo>
                    <a:pt x="301" y="57"/>
                  </a:lnTo>
                  <a:lnTo>
                    <a:pt x="299" y="57"/>
                  </a:lnTo>
                  <a:lnTo>
                    <a:pt x="299" y="59"/>
                  </a:lnTo>
                  <a:lnTo>
                    <a:pt x="297" y="59"/>
                  </a:lnTo>
                  <a:lnTo>
                    <a:pt x="295" y="61"/>
                  </a:lnTo>
                  <a:lnTo>
                    <a:pt x="293" y="62"/>
                  </a:lnTo>
                  <a:lnTo>
                    <a:pt x="290" y="62"/>
                  </a:lnTo>
                  <a:lnTo>
                    <a:pt x="288" y="62"/>
                  </a:lnTo>
                  <a:lnTo>
                    <a:pt x="286" y="62"/>
                  </a:lnTo>
                  <a:lnTo>
                    <a:pt x="284" y="64"/>
                  </a:lnTo>
                  <a:lnTo>
                    <a:pt x="282" y="66"/>
                  </a:lnTo>
                  <a:lnTo>
                    <a:pt x="282" y="66"/>
                  </a:lnTo>
                  <a:lnTo>
                    <a:pt x="282" y="68"/>
                  </a:lnTo>
                  <a:lnTo>
                    <a:pt x="282" y="68"/>
                  </a:lnTo>
                  <a:lnTo>
                    <a:pt x="280" y="68"/>
                  </a:lnTo>
                  <a:lnTo>
                    <a:pt x="280" y="68"/>
                  </a:lnTo>
                  <a:lnTo>
                    <a:pt x="278" y="68"/>
                  </a:lnTo>
                  <a:lnTo>
                    <a:pt x="276" y="70"/>
                  </a:lnTo>
                  <a:lnTo>
                    <a:pt x="274" y="70"/>
                  </a:lnTo>
                  <a:lnTo>
                    <a:pt x="274" y="72"/>
                  </a:lnTo>
                  <a:lnTo>
                    <a:pt x="274" y="72"/>
                  </a:lnTo>
                  <a:lnTo>
                    <a:pt x="272" y="74"/>
                  </a:lnTo>
                  <a:lnTo>
                    <a:pt x="271" y="74"/>
                  </a:lnTo>
                  <a:lnTo>
                    <a:pt x="271" y="76"/>
                  </a:lnTo>
                  <a:lnTo>
                    <a:pt x="269" y="76"/>
                  </a:lnTo>
                  <a:lnTo>
                    <a:pt x="269" y="78"/>
                  </a:lnTo>
                  <a:lnTo>
                    <a:pt x="265" y="78"/>
                  </a:lnTo>
                  <a:lnTo>
                    <a:pt x="265" y="78"/>
                  </a:lnTo>
                  <a:lnTo>
                    <a:pt x="265" y="80"/>
                  </a:lnTo>
                  <a:lnTo>
                    <a:pt x="265" y="80"/>
                  </a:lnTo>
                  <a:lnTo>
                    <a:pt x="263" y="81"/>
                  </a:lnTo>
                  <a:lnTo>
                    <a:pt x="263" y="81"/>
                  </a:lnTo>
                  <a:lnTo>
                    <a:pt x="257" y="85"/>
                  </a:lnTo>
                  <a:lnTo>
                    <a:pt x="255" y="87"/>
                  </a:lnTo>
                  <a:lnTo>
                    <a:pt x="255" y="87"/>
                  </a:lnTo>
                  <a:lnTo>
                    <a:pt x="255" y="89"/>
                  </a:lnTo>
                  <a:lnTo>
                    <a:pt x="255" y="91"/>
                  </a:lnTo>
                  <a:lnTo>
                    <a:pt x="255" y="91"/>
                  </a:lnTo>
                  <a:lnTo>
                    <a:pt x="253" y="91"/>
                  </a:lnTo>
                  <a:lnTo>
                    <a:pt x="253" y="91"/>
                  </a:lnTo>
                  <a:lnTo>
                    <a:pt x="253" y="93"/>
                  </a:lnTo>
                  <a:lnTo>
                    <a:pt x="252" y="93"/>
                  </a:lnTo>
                  <a:lnTo>
                    <a:pt x="250" y="95"/>
                  </a:lnTo>
                  <a:lnTo>
                    <a:pt x="250" y="97"/>
                  </a:lnTo>
                  <a:lnTo>
                    <a:pt x="248" y="97"/>
                  </a:lnTo>
                  <a:lnTo>
                    <a:pt x="246" y="97"/>
                  </a:lnTo>
                  <a:lnTo>
                    <a:pt x="242" y="95"/>
                  </a:lnTo>
                  <a:lnTo>
                    <a:pt x="240" y="95"/>
                  </a:lnTo>
                  <a:lnTo>
                    <a:pt x="240" y="97"/>
                  </a:lnTo>
                  <a:lnTo>
                    <a:pt x="240" y="99"/>
                  </a:lnTo>
                  <a:lnTo>
                    <a:pt x="238" y="99"/>
                  </a:lnTo>
                  <a:lnTo>
                    <a:pt x="238" y="101"/>
                  </a:lnTo>
                  <a:lnTo>
                    <a:pt x="236" y="101"/>
                  </a:lnTo>
                  <a:lnTo>
                    <a:pt x="236" y="101"/>
                  </a:lnTo>
                  <a:lnTo>
                    <a:pt x="232" y="102"/>
                  </a:lnTo>
                  <a:lnTo>
                    <a:pt x="232" y="102"/>
                  </a:lnTo>
                  <a:lnTo>
                    <a:pt x="232" y="102"/>
                  </a:lnTo>
                  <a:lnTo>
                    <a:pt x="231" y="106"/>
                  </a:lnTo>
                  <a:lnTo>
                    <a:pt x="229" y="108"/>
                  </a:lnTo>
                  <a:lnTo>
                    <a:pt x="229" y="110"/>
                  </a:lnTo>
                  <a:lnTo>
                    <a:pt x="229" y="112"/>
                  </a:lnTo>
                  <a:lnTo>
                    <a:pt x="229" y="114"/>
                  </a:lnTo>
                  <a:lnTo>
                    <a:pt x="229" y="114"/>
                  </a:lnTo>
                  <a:lnTo>
                    <a:pt x="227" y="114"/>
                  </a:lnTo>
                  <a:lnTo>
                    <a:pt x="227" y="116"/>
                  </a:lnTo>
                  <a:lnTo>
                    <a:pt x="225" y="116"/>
                  </a:lnTo>
                  <a:lnTo>
                    <a:pt x="227" y="118"/>
                  </a:lnTo>
                  <a:lnTo>
                    <a:pt x="227" y="118"/>
                  </a:lnTo>
                  <a:lnTo>
                    <a:pt x="227" y="120"/>
                  </a:lnTo>
                  <a:lnTo>
                    <a:pt x="231" y="133"/>
                  </a:lnTo>
                  <a:lnTo>
                    <a:pt x="232" y="139"/>
                  </a:lnTo>
                  <a:lnTo>
                    <a:pt x="232" y="142"/>
                  </a:lnTo>
                  <a:lnTo>
                    <a:pt x="232" y="142"/>
                  </a:lnTo>
                  <a:lnTo>
                    <a:pt x="232" y="144"/>
                  </a:lnTo>
                  <a:lnTo>
                    <a:pt x="234" y="144"/>
                  </a:lnTo>
                  <a:lnTo>
                    <a:pt x="234" y="144"/>
                  </a:lnTo>
                  <a:lnTo>
                    <a:pt x="236" y="144"/>
                  </a:lnTo>
                  <a:lnTo>
                    <a:pt x="236" y="144"/>
                  </a:lnTo>
                  <a:lnTo>
                    <a:pt x="238" y="146"/>
                  </a:lnTo>
                  <a:lnTo>
                    <a:pt x="240" y="150"/>
                  </a:lnTo>
                  <a:lnTo>
                    <a:pt x="240" y="150"/>
                  </a:lnTo>
                  <a:lnTo>
                    <a:pt x="242" y="152"/>
                  </a:lnTo>
                  <a:lnTo>
                    <a:pt x="242" y="152"/>
                  </a:lnTo>
                  <a:lnTo>
                    <a:pt x="244" y="152"/>
                  </a:lnTo>
                  <a:lnTo>
                    <a:pt x="246" y="152"/>
                  </a:lnTo>
                  <a:lnTo>
                    <a:pt x="246" y="152"/>
                  </a:lnTo>
                  <a:lnTo>
                    <a:pt x="248" y="152"/>
                  </a:lnTo>
                  <a:lnTo>
                    <a:pt x="252" y="156"/>
                  </a:lnTo>
                  <a:lnTo>
                    <a:pt x="252" y="156"/>
                  </a:lnTo>
                  <a:lnTo>
                    <a:pt x="253" y="156"/>
                  </a:lnTo>
                  <a:lnTo>
                    <a:pt x="253" y="156"/>
                  </a:lnTo>
                  <a:lnTo>
                    <a:pt x="257" y="156"/>
                  </a:lnTo>
                  <a:lnTo>
                    <a:pt x="257" y="154"/>
                  </a:lnTo>
                  <a:lnTo>
                    <a:pt x="257" y="154"/>
                  </a:lnTo>
                  <a:lnTo>
                    <a:pt x="261" y="156"/>
                  </a:lnTo>
                  <a:lnTo>
                    <a:pt x="263" y="156"/>
                  </a:lnTo>
                  <a:lnTo>
                    <a:pt x="267" y="158"/>
                  </a:lnTo>
                  <a:lnTo>
                    <a:pt x="267" y="158"/>
                  </a:lnTo>
                  <a:lnTo>
                    <a:pt x="267" y="158"/>
                  </a:lnTo>
                  <a:lnTo>
                    <a:pt x="269" y="158"/>
                  </a:lnTo>
                  <a:lnTo>
                    <a:pt x="274" y="158"/>
                  </a:lnTo>
                  <a:lnTo>
                    <a:pt x="276" y="156"/>
                  </a:lnTo>
                  <a:lnTo>
                    <a:pt x="280" y="154"/>
                  </a:lnTo>
                  <a:lnTo>
                    <a:pt x="282" y="154"/>
                  </a:lnTo>
                  <a:lnTo>
                    <a:pt x="282" y="154"/>
                  </a:lnTo>
                  <a:lnTo>
                    <a:pt x="284" y="154"/>
                  </a:lnTo>
                  <a:lnTo>
                    <a:pt x="286" y="154"/>
                  </a:lnTo>
                  <a:lnTo>
                    <a:pt x="288" y="156"/>
                  </a:lnTo>
                  <a:lnTo>
                    <a:pt x="290" y="156"/>
                  </a:lnTo>
                  <a:lnTo>
                    <a:pt x="290" y="156"/>
                  </a:lnTo>
                  <a:lnTo>
                    <a:pt x="292" y="154"/>
                  </a:lnTo>
                  <a:lnTo>
                    <a:pt x="292" y="154"/>
                  </a:lnTo>
                  <a:lnTo>
                    <a:pt x="293" y="152"/>
                  </a:lnTo>
                  <a:lnTo>
                    <a:pt x="293" y="152"/>
                  </a:lnTo>
                  <a:lnTo>
                    <a:pt x="295" y="148"/>
                  </a:lnTo>
                  <a:lnTo>
                    <a:pt x="295" y="148"/>
                  </a:lnTo>
                  <a:lnTo>
                    <a:pt x="295" y="146"/>
                  </a:lnTo>
                  <a:lnTo>
                    <a:pt x="297" y="146"/>
                  </a:lnTo>
                  <a:lnTo>
                    <a:pt x="299" y="144"/>
                  </a:lnTo>
                  <a:lnTo>
                    <a:pt x="301" y="144"/>
                  </a:lnTo>
                  <a:lnTo>
                    <a:pt x="303" y="144"/>
                  </a:lnTo>
                  <a:lnTo>
                    <a:pt x="305" y="144"/>
                  </a:lnTo>
                  <a:lnTo>
                    <a:pt x="305" y="144"/>
                  </a:lnTo>
                  <a:lnTo>
                    <a:pt x="305" y="144"/>
                  </a:lnTo>
                  <a:lnTo>
                    <a:pt x="307" y="146"/>
                  </a:lnTo>
                  <a:lnTo>
                    <a:pt x="307" y="146"/>
                  </a:lnTo>
                  <a:lnTo>
                    <a:pt x="307" y="146"/>
                  </a:lnTo>
                  <a:lnTo>
                    <a:pt x="307" y="148"/>
                  </a:lnTo>
                  <a:lnTo>
                    <a:pt x="307" y="148"/>
                  </a:lnTo>
                  <a:lnTo>
                    <a:pt x="307" y="148"/>
                  </a:lnTo>
                  <a:lnTo>
                    <a:pt x="307" y="150"/>
                  </a:lnTo>
                  <a:lnTo>
                    <a:pt x="307" y="150"/>
                  </a:lnTo>
                  <a:lnTo>
                    <a:pt x="305" y="152"/>
                  </a:lnTo>
                  <a:lnTo>
                    <a:pt x="305" y="152"/>
                  </a:lnTo>
                  <a:lnTo>
                    <a:pt x="305" y="154"/>
                  </a:lnTo>
                  <a:lnTo>
                    <a:pt x="307" y="154"/>
                  </a:lnTo>
                  <a:lnTo>
                    <a:pt x="307" y="156"/>
                  </a:lnTo>
                  <a:lnTo>
                    <a:pt x="307" y="156"/>
                  </a:lnTo>
                  <a:lnTo>
                    <a:pt x="307" y="158"/>
                  </a:lnTo>
                  <a:lnTo>
                    <a:pt x="307" y="158"/>
                  </a:lnTo>
                  <a:lnTo>
                    <a:pt x="307" y="159"/>
                  </a:lnTo>
                  <a:lnTo>
                    <a:pt x="307" y="159"/>
                  </a:lnTo>
                  <a:lnTo>
                    <a:pt x="307" y="159"/>
                  </a:lnTo>
                  <a:lnTo>
                    <a:pt x="307" y="161"/>
                  </a:lnTo>
                  <a:lnTo>
                    <a:pt x="307" y="161"/>
                  </a:lnTo>
                  <a:lnTo>
                    <a:pt x="307" y="163"/>
                  </a:lnTo>
                  <a:lnTo>
                    <a:pt x="309" y="163"/>
                  </a:lnTo>
                  <a:lnTo>
                    <a:pt x="311" y="167"/>
                  </a:lnTo>
                  <a:lnTo>
                    <a:pt x="311" y="167"/>
                  </a:lnTo>
                  <a:lnTo>
                    <a:pt x="311" y="169"/>
                  </a:lnTo>
                  <a:lnTo>
                    <a:pt x="311" y="169"/>
                  </a:lnTo>
                  <a:lnTo>
                    <a:pt x="311" y="169"/>
                  </a:lnTo>
                  <a:lnTo>
                    <a:pt x="311" y="171"/>
                  </a:lnTo>
                  <a:lnTo>
                    <a:pt x="309" y="171"/>
                  </a:lnTo>
                  <a:lnTo>
                    <a:pt x="311" y="173"/>
                  </a:lnTo>
                  <a:lnTo>
                    <a:pt x="311" y="175"/>
                  </a:lnTo>
                  <a:lnTo>
                    <a:pt x="309" y="175"/>
                  </a:lnTo>
                  <a:lnTo>
                    <a:pt x="309" y="175"/>
                  </a:lnTo>
                  <a:lnTo>
                    <a:pt x="307" y="177"/>
                  </a:lnTo>
                  <a:lnTo>
                    <a:pt x="307" y="177"/>
                  </a:lnTo>
                  <a:lnTo>
                    <a:pt x="307" y="177"/>
                  </a:lnTo>
                  <a:lnTo>
                    <a:pt x="307" y="177"/>
                  </a:lnTo>
                  <a:lnTo>
                    <a:pt x="305" y="178"/>
                  </a:lnTo>
                  <a:lnTo>
                    <a:pt x="305" y="178"/>
                  </a:lnTo>
                  <a:lnTo>
                    <a:pt x="303" y="178"/>
                  </a:lnTo>
                  <a:lnTo>
                    <a:pt x="301" y="178"/>
                  </a:lnTo>
                  <a:lnTo>
                    <a:pt x="299" y="177"/>
                  </a:lnTo>
                  <a:lnTo>
                    <a:pt x="299" y="177"/>
                  </a:lnTo>
                  <a:lnTo>
                    <a:pt x="297" y="177"/>
                  </a:lnTo>
                  <a:lnTo>
                    <a:pt x="295" y="177"/>
                  </a:lnTo>
                  <a:lnTo>
                    <a:pt x="293" y="177"/>
                  </a:lnTo>
                  <a:lnTo>
                    <a:pt x="292" y="177"/>
                  </a:lnTo>
                  <a:lnTo>
                    <a:pt x="292" y="177"/>
                  </a:lnTo>
                  <a:lnTo>
                    <a:pt x="282" y="180"/>
                  </a:lnTo>
                  <a:lnTo>
                    <a:pt x="278" y="180"/>
                  </a:lnTo>
                  <a:lnTo>
                    <a:pt x="276" y="180"/>
                  </a:lnTo>
                  <a:lnTo>
                    <a:pt x="274" y="180"/>
                  </a:lnTo>
                  <a:lnTo>
                    <a:pt x="274" y="180"/>
                  </a:lnTo>
                  <a:lnTo>
                    <a:pt x="267" y="184"/>
                  </a:lnTo>
                  <a:lnTo>
                    <a:pt x="263" y="184"/>
                  </a:lnTo>
                  <a:lnTo>
                    <a:pt x="261" y="186"/>
                  </a:lnTo>
                  <a:lnTo>
                    <a:pt x="261" y="186"/>
                  </a:lnTo>
                  <a:lnTo>
                    <a:pt x="261" y="188"/>
                  </a:lnTo>
                  <a:lnTo>
                    <a:pt x="259" y="188"/>
                  </a:lnTo>
                  <a:lnTo>
                    <a:pt x="259" y="190"/>
                  </a:lnTo>
                  <a:lnTo>
                    <a:pt x="259" y="190"/>
                  </a:lnTo>
                  <a:lnTo>
                    <a:pt x="259" y="190"/>
                  </a:lnTo>
                  <a:lnTo>
                    <a:pt x="259" y="190"/>
                  </a:lnTo>
                  <a:lnTo>
                    <a:pt x="261" y="194"/>
                  </a:lnTo>
                  <a:lnTo>
                    <a:pt x="263" y="196"/>
                  </a:lnTo>
                  <a:lnTo>
                    <a:pt x="263" y="198"/>
                  </a:lnTo>
                  <a:lnTo>
                    <a:pt x="263" y="199"/>
                  </a:lnTo>
                  <a:lnTo>
                    <a:pt x="263" y="201"/>
                  </a:lnTo>
                  <a:lnTo>
                    <a:pt x="263" y="201"/>
                  </a:lnTo>
                  <a:lnTo>
                    <a:pt x="261" y="203"/>
                  </a:lnTo>
                  <a:lnTo>
                    <a:pt x="261" y="203"/>
                  </a:lnTo>
                  <a:lnTo>
                    <a:pt x="259" y="203"/>
                  </a:lnTo>
                  <a:lnTo>
                    <a:pt x="257" y="203"/>
                  </a:lnTo>
                  <a:lnTo>
                    <a:pt x="255" y="205"/>
                  </a:lnTo>
                  <a:lnTo>
                    <a:pt x="255" y="205"/>
                  </a:lnTo>
                  <a:lnTo>
                    <a:pt x="255" y="205"/>
                  </a:lnTo>
                  <a:lnTo>
                    <a:pt x="253" y="205"/>
                  </a:lnTo>
                  <a:lnTo>
                    <a:pt x="253" y="207"/>
                  </a:lnTo>
                  <a:lnTo>
                    <a:pt x="253" y="207"/>
                  </a:lnTo>
                  <a:lnTo>
                    <a:pt x="255" y="209"/>
                  </a:lnTo>
                  <a:lnTo>
                    <a:pt x="259" y="215"/>
                  </a:lnTo>
                  <a:lnTo>
                    <a:pt x="263" y="217"/>
                  </a:lnTo>
                  <a:lnTo>
                    <a:pt x="267" y="217"/>
                  </a:lnTo>
                  <a:lnTo>
                    <a:pt x="267" y="217"/>
                  </a:lnTo>
                  <a:lnTo>
                    <a:pt x="269" y="217"/>
                  </a:lnTo>
                  <a:lnTo>
                    <a:pt x="269" y="217"/>
                  </a:lnTo>
                  <a:lnTo>
                    <a:pt x="271" y="217"/>
                  </a:lnTo>
                  <a:lnTo>
                    <a:pt x="271" y="217"/>
                  </a:lnTo>
                  <a:lnTo>
                    <a:pt x="274" y="220"/>
                  </a:lnTo>
                  <a:lnTo>
                    <a:pt x="276" y="222"/>
                  </a:lnTo>
                  <a:lnTo>
                    <a:pt x="278" y="222"/>
                  </a:lnTo>
                  <a:lnTo>
                    <a:pt x="278" y="226"/>
                  </a:lnTo>
                  <a:lnTo>
                    <a:pt x="280" y="230"/>
                  </a:lnTo>
                  <a:lnTo>
                    <a:pt x="280" y="232"/>
                  </a:lnTo>
                  <a:lnTo>
                    <a:pt x="280" y="234"/>
                  </a:lnTo>
                  <a:lnTo>
                    <a:pt x="278" y="236"/>
                  </a:lnTo>
                  <a:lnTo>
                    <a:pt x="278" y="236"/>
                  </a:lnTo>
                  <a:lnTo>
                    <a:pt x="276" y="236"/>
                  </a:lnTo>
                  <a:lnTo>
                    <a:pt x="269" y="241"/>
                  </a:lnTo>
                  <a:lnTo>
                    <a:pt x="269" y="241"/>
                  </a:lnTo>
                  <a:lnTo>
                    <a:pt x="267" y="241"/>
                  </a:lnTo>
                  <a:lnTo>
                    <a:pt x="265" y="241"/>
                  </a:lnTo>
                  <a:lnTo>
                    <a:pt x="265" y="241"/>
                  </a:lnTo>
                  <a:lnTo>
                    <a:pt x="265" y="241"/>
                  </a:lnTo>
                  <a:lnTo>
                    <a:pt x="265" y="241"/>
                  </a:lnTo>
                  <a:lnTo>
                    <a:pt x="265" y="239"/>
                  </a:lnTo>
                  <a:lnTo>
                    <a:pt x="265" y="237"/>
                  </a:lnTo>
                  <a:lnTo>
                    <a:pt x="265" y="237"/>
                  </a:lnTo>
                  <a:lnTo>
                    <a:pt x="265" y="237"/>
                  </a:lnTo>
                  <a:lnTo>
                    <a:pt x="263" y="236"/>
                  </a:lnTo>
                  <a:lnTo>
                    <a:pt x="263" y="236"/>
                  </a:lnTo>
                  <a:lnTo>
                    <a:pt x="263" y="234"/>
                  </a:lnTo>
                  <a:lnTo>
                    <a:pt x="263" y="234"/>
                  </a:lnTo>
                  <a:lnTo>
                    <a:pt x="261" y="234"/>
                  </a:lnTo>
                  <a:lnTo>
                    <a:pt x="261" y="234"/>
                  </a:lnTo>
                  <a:lnTo>
                    <a:pt x="259" y="234"/>
                  </a:lnTo>
                  <a:lnTo>
                    <a:pt x="259" y="234"/>
                  </a:lnTo>
                  <a:lnTo>
                    <a:pt x="259" y="234"/>
                  </a:lnTo>
                  <a:lnTo>
                    <a:pt x="257" y="232"/>
                  </a:lnTo>
                  <a:lnTo>
                    <a:pt x="257" y="232"/>
                  </a:lnTo>
                  <a:lnTo>
                    <a:pt x="257" y="234"/>
                  </a:lnTo>
                  <a:lnTo>
                    <a:pt x="255" y="234"/>
                  </a:lnTo>
                  <a:lnTo>
                    <a:pt x="255" y="236"/>
                  </a:lnTo>
                  <a:lnTo>
                    <a:pt x="257" y="237"/>
                  </a:lnTo>
                  <a:lnTo>
                    <a:pt x="257" y="239"/>
                  </a:lnTo>
                  <a:lnTo>
                    <a:pt x="257" y="239"/>
                  </a:lnTo>
                  <a:lnTo>
                    <a:pt x="257" y="239"/>
                  </a:lnTo>
                  <a:lnTo>
                    <a:pt x="255" y="243"/>
                  </a:lnTo>
                  <a:lnTo>
                    <a:pt x="255" y="243"/>
                  </a:lnTo>
                  <a:lnTo>
                    <a:pt x="255" y="245"/>
                  </a:lnTo>
                  <a:lnTo>
                    <a:pt x="255" y="245"/>
                  </a:lnTo>
                  <a:lnTo>
                    <a:pt x="257" y="247"/>
                  </a:lnTo>
                  <a:lnTo>
                    <a:pt x="257" y="255"/>
                  </a:lnTo>
                  <a:lnTo>
                    <a:pt x="257" y="256"/>
                  </a:lnTo>
                  <a:lnTo>
                    <a:pt x="259" y="258"/>
                  </a:lnTo>
                  <a:lnTo>
                    <a:pt x="263" y="264"/>
                  </a:lnTo>
                  <a:lnTo>
                    <a:pt x="263" y="266"/>
                  </a:lnTo>
                  <a:lnTo>
                    <a:pt x="265" y="268"/>
                  </a:lnTo>
                  <a:lnTo>
                    <a:pt x="263" y="268"/>
                  </a:lnTo>
                  <a:lnTo>
                    <a:pt x="263" y="270"/>
                  </a:lnTo>
                  <a:lnTo>
                    <a:pt x="263" y="270"/>
                  </a:lnTo>
                  <a:lnTo>
                    <a:pt x="263" y="272"/>
                  </a:lnTo>
                  <a:lnTo>
                    <a:pt x="261" y="272"/>
                  </a:lnTo>
                  <a:lnTo>
                    <a:pt x="261" y="274"/>
                  </a:lnTo>
                  <a:lnTo>
                    <a:pt x="261" y="274"/>
                  </a:lnTo>
                  <a:lnTo>
                    <a:pt x="259" y="274"/>
                  </a:lnTo>
                  <a:lnTo>
                    <a:pt x="257" y="274"/>
                  </a:lnTo>
                  <a:lnTo>
                    <a:pt x="257" y="274"/>
                  </a:lnTo>
                  <a:lnTo>
                    <a:pt x="257" y="274"/>
                  </a:lnTo>
                  <a:lnTo>
                    <a:pt x="255" y="275"/>
                  </a:lnTo>
                  <a:lnTo>
                    <a:pt x="252" y="275"/>
                  </a:lnTo>
                  <a:lnTo>
                    <a:pt x="250" y="274"/>
                  </a:lnTo>
                  <a:lnTo>
                    <a:pt x="248" y="272"/>
                  </a:lnTo>
                  <a:lnTo>
                    <a:pt x="244" y="268"/>
                  </a:lnTo>
                  <a:lnTo>
                    <a:pt x="242" y="268"/>
                  </a:lnTo>
                  <a:lnTo>
                    <a:pt x="242" y="266"/>
                  </a:lnTo>
                  <a:lnTo>
                    <a:pt x="242" y="266"/>
                  </a:lnTo>
                  <a:lnTo>
                    <a:pt x="242" y="264"/>
                  </a:lnTo>
                  <a:lnTo>
                    <a:pt x="244" y="264"/>
                  </a:lnTo>
                  <a:lnTo>
                    <a:pt x="244" y="262"/>
                  </a:lnTo>
                  <a:lnTo>
                    <a:pt x="244" y="260"/>
                  </a:lnTo>
                  <a:lnTo>
                    <a:pt x="244" y="260"/>
                  </a:lnTo>
                  <a:lnTo>
                    <a:pt x="242" y="260"/>
                  </a:lnTo>
                  <a:lnTo>
                    <a:pt x="242" y="260"/>
                  </a:lnTo>
                  <a:lnTo>
                    <a:pt x="238" y="260"/>
                  </a:lnTo>
                  <a:lnTo>
                    <a:pt x="236" y="262"/>
                  </a:lnTo>
                  <a:lnTo>
                    <a:pt x="234" y="262"/>
                  </a:lnTo>
                  <a:lnTo>
                    <a:pt x="234" y="264"/>
                  </a:lnTo>
                  <a:lnTo>
                    <a:pt x="234" y="264"/>
                  </a:lnTo>
                  <a:lnTo>
                    <a:pt x="232" y="268"/>
                  </a:lnTo>
                  <a:lnTo>
                    <a:pt x="232" y="268"/>
                  </a:lnTo>
                  <a:lnTo>
                    <a:pt x="232" y="270"/>
                  </a:lnTo>
                  <a:lnTo>
                    <a:pt x="231" y="270"/>
                  </a:lnTo>
                  <a:lnTo>
                    <a:pt x="229" y="270"/>
                  </a:lnTo>
                  <a:lnTo>
                    <a:pt x="229" y="270"/>
                  </a:lnTo>
                  <a:lnTo>
                    <a:pt x="227" y="270"/>
                  </a:lnTo>
                  <a:lnTo>
                    <a:pt x="227" y="268"/>
                  </a:lnTo>
                  <a:lnTo>
                    <a:pt x="227" y="266"/>
                  </a:lnTo>
                  <a:lnTo>
                    <a:pt x="225" y="266"/>
                  </a:lnTo>
                  <a:lnTo>
                    <a:pt x="225" y="264"/>
                  </a:lnTo>
                  <a:lnTo>
                    <a:pt x="223" y="264"/>
                  </a:lnTo>
                  <a:lnTo>
                    <a:pt x="219" y="264"/>
                  </a:lnTo>
                  <a:lnTo>
                    <a:pt x="217" y="264"/>
                  </a:lnTo>
                  <a:lnTo>
                    <a:pt x="215" y="264"/>
                  </a:lnTo>
                  <a:lnTo>
                    <a:pt x="210" y="262"/>
                  </a:lnTo>
                  <a:lnTo>
                    <a:pt x="208" y="262"/>
                  </a:lnTo>
                  <a:lnTo>
                    <a:pt x="206" y="262"/>
                  </a:lnTo>
                  <a:lnTo>
                    <a:pt x="202" y="262"/>
                  </a:lnTo>
                  <a:lnTo>
                    <a:pt x="202" y="262"/>
                  </a:lnTo>
                  <a:lnTo>
                    <a:pt x="200" y="262"/>
                  </a:lnTo>
                  <a:lnTo>
                    <a:pt x="200" y="260"/>
                  </a:lnTo>
                  <a:lnTo>
                    <a:pt x="198" y="260"/>
                  </a:lnTo>
                  <a:lnTo>
                    <a:pt x="198" y="258"/>
                  </a:lnTo>
                  <a:lnTo>
                    <a:pt x="198" y="258"/>
                  </a:lnTo>
                  <a:lnTo>
                    <a:pt x="200" y="256"/>
                  </a:lnTo>
                  <a:lnTo>
                    <a:pt x="200" y="256"/>
                  </a:lnTo>
                  <a:lnTo>
                    <a:pt x="198" y="255"/>
                  </a:lnTo>
                  <a:lnTo>
                    <a:pt x="198" y="255"/>
                  </a:lnTo>
                  <a:lnTo>
                    <a:pt x="198" y="255"/>
                  </a:lnTo>
                  <a:lnTo>
                    <a:pt x="196" y="256"/>
                  </a:lnTo>
                  <a:lnTo>
                    <a:pt x="194" y="256"/>
                  </a:lnTo>
                  <a:lnTo>
                    <a:pt x="194" y="258"/>
                  </a:lnTo>
                  <a:lnTo>
                    <a:pt x="192" y="258"/>
                  </a:lnTo>
                  <a:lnTo>
                    <a:pt x="192" y="260"/>
                  </a:lnTo>
                  <a:lnTo>
                    <a:pt x="192" y="262"/>
                  </a:lnTo>
                  <a:lnTo>
                    <a:pt x="192" y="264"/>
                  </a:lnTo>
                  <a:lnTo>
                    <a:pt x="192" y="266"/>
                  </a:lnTo>
                  <a:lnTo>
                    <a:pt x="192" y="268"/>
                  </a:lnTo>
                  <a:lnTo>
                    <a:pt x="192" y="272"/>
                  </a:lnTo>
                  <a:lnTo>
                    <a:pt x="192" y="272"/>
                  </a:lnTo>
                  <a:lnTo>
                    <a:pt x="192" y="275"/>
                  </a:lnTo>
                  <a:lnTo>
                    <a:pt x="192" y="275"/>
                  </a:lnTo>
                  <a:lnTo>
                    <a:pt x="192" y="277"/>
                  </a:lnTo>
                  <a:lnTo>
                    <a:pt x="189" y="281"/>
                  </a:lnTo>
                  <a:lnTo>
                    <a:pt x="181" y="285"/>
                  </a:lnTo>
                  <a:lnTo>
                    <a:pt x="181" y="287"/>
                  </a:lnTo>
                  <a:lnTo>
                    <a:pt x="179" y="289"/>
                  </a:lnTo>
                  <a:lnTo>
                    <a:pt x="181" y="289"/>
                  </a:lnTo>
                  <a:lnTo>
                    <a:pt x="181" y="291"/>
                  </a:lnTo>
                  <a:lnTo>
                    <a:pt x="181" y="291"/>
                  </a:lnTo>
                  <a:lnTo>
                    <a:pt x="181" y="291"/>
                  </a:lnTo>
                  <a:lnTo>
                    <a:pt x="181" y="291"/>
                  </a:lnTo>
                  <a:lnTo>
                    <a:pt x="181" y="293"/>
                  </a:lnTo>
                  <a:lnTo>
                    <a:pt x="181" y="293"/>
                  </a:lnTo>
                  <a:lnTo>
                    <a:pt x="181" y="295"/>
                  </a:lnTo>
                  <a:lnTo>
                    <a:pt x="179" y="295"/>
                  </a:lnTo>
                  <a:lnTo>
                    <a:pt x="171" y="298"/>
                  </a:lnTo>
                  <a:lnTo>
                    <a:pt x="168" y="300"/>
                  </a:lnTo>
                  <a:lnTo>
                    <a:pt x="164" y="302"/>
                  </a:lnTo>
                  <a:lnTo>
                    <a:pt x="162" y="302"/>
                  </a:lnTo>
                  <a:lnTo>
                    <a:pt x="160" y="302"/>
                  </a:lnTo>
                  <a:lnTo>
                    <a:pt x="160" y="302"/>
                  </a:lnTo>
                  <a:lnTo>
                    <a:pt x="160" y="300"/>
                  </a:lnTo>
                  <a:lnTo>
                    <a:pt x="158" y="300"/>
                  </a:lnTo>
                  <a:lnTo>
                    <a:pt x="158" y="300"/>
                  </a:lnTo>
                  <a:lnTo>
                    <a:pt x="156" y="300"/>
                  </a:lnTo>
                  <a:lnTo>
                    <a:pt x="156" y="300"/>
                  </a:lnTo>
                  <a:lnTo>
                    <a:pt x="156" y="300"/>
                  </a:lnTo>
                  <a:lnTo>
                    <a:pt x="156" y="300"/>
                  </a:lnTo>
                  <a:lnTo>
                    <a:pt x="156" y="304"/>
                  </a:lnTo>
                  <a:lnTo>
                    <a:pt x="156" y="304"/>
                  </a:lnTo>
                  <a:lnTo>
                    <a:pt x="156" y="306"/>
                  </a:lnTo>
                  <a:lnTo>
                    <a:pt x="154" y="308"/>
                  </a:lnTo>
                  <a:lnTo>
                    <a:pt x="154" y="310"/>
                  </a:lnTo>
                  <a:lnTo>
                    <a:pt x="154" y="310"/>
                  </a:lnTo>
                  <a:lnTo>
                    <a:pt x="154" y="312"/>
                  </a:lnTo>
                  <a:lnTo>
                    <a:pt x="154" y="312"/>
                  </a:lnTo>
                  <a:lnTo>
                    <a:pt x="152" y="312"/>
                  </a:lnTo>
                  <a:lnTo>
                    <a:pt x="152" y="312"/>
                  </a:lnTo>
                  <a:lnTo>
                    <a:pt x="151" y="310"/>
                  </a:lnTo>
                  <a:lnTo>
                    <a:pt x="149" y="310"/>
                  </a:lnTo>
                  <a:lnTo>
                    <a:pt x="149" y="310"/>
                  </a:lnTo>
                  <a:lnTo>
                    <a:pt x="145" y="310"/>
                  </a:lnTo>
                  <a:lnTo>
                    <a:pt x="143" y="308"/>
                  </a:lnTo>
                  <a:lnTo>
                    <a:pt x="143" y="306"/>
                  </a:lnTo>
                  <a:lnTo>
                    <a:pt x="143" y="304"/>
                  </a:lnTo>
                  <a:lnTo>
                    <a:pt x="143" y="304"/>
                  </a:lnTo>
                  <a:lnTo>
                    <a:pt x="137" y="300"/>
                  </a:lnTo>
                  <a:lnTo>
                    <a:pt x="135" y="300"/>
                  </a:lnTo>
                  <a:lnTo>
                    <a:pt x="135" y="298"/>
                  </a:lnTo>
                  <a:lnTo>
                    <a:pt x="135" y="296"/>
                  </a:lnTo>
                  <a:lnTo>
                    <a:pt x="133" y="293"/>
                  </a:lnTo>
                  <a:lnTo>
                    <a:pt x="133" y="293"/>
                  </a:lnTo>
                  <a:lnTo>
                    <a:pt x="135" y="289"/>
                  </a:lnTo>
                  <a:lnTo>
                    <a:pt x="137" y="287"/>
                  </a:lnTo>
                  <a:lnTo>
                    <a:pt x="137" y="287"/>
                  </a:lnTo>
                  <a:lnTo>
                    <a:pt x="137" y="287"/>
                  </a:lnTo>
                  <a:lnTo>
                    <a:pt x="139" y="287"/>
                  </a:lnTo>
                  <a:lnTo>
                    <a:pt x="139" y="287"/>
                  </a:lnTo>
                  <a:lnTo>
                    <a:pt x="141" y="289"/>
                  </a:lnTo>
                  <a:lnTo>
                    <a:pt x="143" y="289"/>
                  </a:lnTo>
                  <a:lnTo>
                    <a:pt x="143" y="289"/>
                  </a:lnTo>
                  <a:lnTo>
                    <a:pt x="145" y="291"/>
                  </a:lnTo>
                  <a:lnTo>
                    <a:pt x="145" y="291"/>
                  </a:lnTo>
                  <a:lnTo>
                    <a:pt x="147" y="291"/>
                  </a:lnTo>
                  <a:lnTo>
                    <a:pt x="149" y="291"/>
                  </a:lnTo>
                  <a:lnTo>
                    <a:pt x="149" y="291"/>
                  </a:lnTo>
                  <a:lnTo>
                    <a:pt x="151" y="289"/>
                  </a:lnTo>
                  <a:lnTo>
                    <a:pt x="152" y="289"/>
                  </a:lnTo>
                  <a:lnTo>
                    <a:pt x="152" y="289"/>
                  </a:lnTo>
                  <a:lnTo>
                    <a:pt x="154" y="291"/>
                  </a:lnTo>
                  <a:lnTo>
                    <a:pt x="156" y="291"/>
                  </a:lnTo>
                  <a:lnTo>
                    <a:pt x="156" y="291"/>
                  </a:lnTo>
                  <a:lnTo>
                    <a:pt x="156" y="291"/>
                  </a:lnTo>
                  <a:lnTo>
                    <a:pt x="158" y="291"/>
                  </a:lnTo>
                  <a:lnTo>
                    <a:pt x="158" y="289"/>
                  </a:lnTo>
                  <a:lnTo>
                    <a:pt x="158" y="287"/>
                  </a:lnTo>
                  <a:lnTo>
                    <a:pt x="160" y="285"/>
                  </a:lnTo>
                  <a:lnTo>
                    <a:pt x="162" y="283"/>
                  </a:lnTo>
                  <a:lnTo>
                    <a:pt x="164" y="281"/>
                  </a:lnTo>
                  <a:lnTo>
                    <a:pt x="164" y="279"/>
                  </a:lnTo>
                  <a:lnTo>
                    <a:pt x="164" y="279"/>
                  </a:lnTo>
                  <a:lnTo>
                    <a:pt x="160" y="277"/>
                  </a:lnTo>
                  <a:lnTo>
                    <a:pt x="158" y="275"/>
                  </a:lnTo>
                  <a:lnTo>
                    <a:pt x="158" y="274"/>
                  </a:lnTo>
                  <a:lnTo>
                    <a:pt x="158" y="272"/>
                  </a:lnTo>
                  <a:lnTo>
                    <a:pt x="160" y="270"/>
                  </a:lnTo>
                  <a:lnTo>
                    <a:pt x="162" y="266"/>
                  </a:lnTo>
                  <a:lnTo>
                    <a:pt x="164" y="264"/>
                  </a:lnTo>
                  <a:lnTo>
                    <a:pt x="164" y="262"/>
                  </a:lnTo>
                  <a:lnTo>
                    <a:pt x="164" y="260"/>
                  </a:lnTo>
                  <a:lnTo>
                    <a:pt x="162" y="258"/>
                  </a:lnTo>
                  <a:lnTo>
                    <a:pt x="162" y="258"/>
                  </a:lnTo>
                  <a:lnTo>
                    <a:pt x="162" y="258"/>
                  </a:lnTo>
                  <a:lnTo>
                    <a:pt x="160" y="258"/>
                  </a:lnTo>
                  <a:lnTo>
                    <a:pt x="160" y="256"/>
                  </a:lnTo>
                  <a:lnTo>
                    <a:pt x="158" y="256"/>
                  </a:lnTo>
                  <a:lnTo>
                    <a:pt x="158" y="255"/>
                  </a:lnTo>
                  <a:lnTo>
                    <a:pt x="158" y="251"/>
                  </a:lnTo>
                  <a:lnTo>
                    <a:pt x="158" y="249"/>
                  </a:lnTo>
                  <a:lnTo>
                    <a:pt x="156" y="249"/>
                  </a:lnTo>
                  <a:lnTo>
                    <a:pt x="156" y="247"/>
                  </a:lnTo>
                  <a:lnTo>
                    <a:pt x="158" y="243"/>
                  </a:lnTo>
                  <a:lnTo>
                    <a:pt x="158" y="241"/>
                  </a:lnTo>
                  <a:lnTo>
                    <a:pt x="160" y="241"/>
                  </a:lnTo>
                  <a:lnTo>
                    <a:pt x="160" y="241"/>
                  </a:lnTo>
                  <a:lnTo>
                    <a:pt x="162" y="241"/>
                  </a:lnTo>
                  <a:lnTo>
                    <a:pt x="166" y="243"/>
                  </a:lnTo>
                  <a:lnTo>
                    <a:pt x="166" y="243"/>
                  </a:lnTo>
                  <a:lnTo>
                    <a:pt x="168" y="243"/>
                  </a:lnTo>
                  <a:lnTo>
                    <a:pt x="170" y="243"/>
                  </a:lnTo>
                  <a:lnTo>
                    <a:pt x="170" y="241"/>
                  </a:lnTo>
                  <a:lnTo>
                    <a:pt x="170" y="241"/>
                  </a:lnTo>
                  <a:lnTo>
                    <a:pt x="170" y="239"/>
                  </a:lnTo>
                  <a:lnTo>
                    <a:pt x="170" y="239"/>
                  </a:lnTo>
                  <a:lnTo>
                    <a:pt x="170" y="230"/>
                  </a:lnTo>
                  <a:lnTo>
                    <a:pt x="168" y="226"/>
                  </a:lnTo>
                  <a:lnTo>
                    <a:pt x="166" y="224"/>
                  </a:lnTo>
                  <a:lnTo>
                    <a:pt x="164" y="224"/>
                  </a:lnTo>
                  <a:lnTo>
                    <a:pt x="164" y="222"/>
                  </a:lnTo>
                  <a:lnTo>
                    <a:pt x="164" y="222"/>
                  </a:lnTo>
                  <a:lnTo>
                    <a:pt x="164" y="220"/>
                  </a:lnTo>
                  <a:lnTo>
                    <a:pt x="164" y="218"/>
                  </a:lnTo>
                  <a:lnTo>
                    <a:pt x="162" y="215"/>
                  </a:lnTo>
                  <a:lnTo>
                    <a:pt x="160" y="213"/>
                  </a:lnTo>
                  <a:lnTo>
                    <a:pt x="160" y="213"/>
                  </a:lnTo>
                  <a:lnTo>
                    <a:pt x="158" y="213"/>
                  </a:lnTo>
                  <a:lnTo>
                    <a:pt x="156" y="213"/>
                  </a:lnTo>
                  <a:lnTo>
                    <a:pt x="156" y="213"/>
                  </a:lnTo>
                  <a:lnTo>
                    <a:pt x="149" y="217"/>
                  </a:lnTo>
                  <a:lnTo>
                    <a:pt x="145" y="217"/>
                  </a:lnTo>
                  <a:lnTo>
                    <a:pt x="139" y="217"/>
                  </a:lnTo>
                  <a:lnTo>
                    <a:pt x="131" y="220"/>
                  </a:lnTo>
                  <a:lnTo>
                    <a:pt x="128" y="220"/>
                  </a:lnTo>
                  <a:lnTo>
                    <a:pt x="126" y="220"/>
                  </a:lnTo>
                  <a:lnTo>
                    <a:pt x="120" y="218"/>
                  </a:lnTo>
                  <a:lnTo>
                    <a:pt x="118" y="218"/>
                  </a:lnTo>
                  <a:lnTo>
                    <a:pt x="114" y="218"/>
                  </a:lnTo>
                  <a:lnTo>
                    <a:pt x="112" y="218"/>
                  </a:lnTo>
                  <a:lnTo>
                    <a:pt x="111" y="218"/>
                  </a:lnTo>
                  <a:lnTo>
                    <a:pt x="109" y="218"/>
                  </a:lnTo>
                  <a:lnTo>
                    <a:pt x="107" y="217"/>
                  </a:lnTo>
                  <a:lnTo>
                    <a:pt x="107" y="217"/>
                  </a:lnTo>
                  <a:lnTo>
                    <a:pt x="105" y="215"/>
                  </a:lnTo>
                  <a:lnTo>
                    <a:pt x="105" y="215"/>
                  </a:lnTo>
                  <a:lnTo>
                    <a:pt x="105" y="213"/>
                  </a:lnTo>
                  <a:lnTo>
                    <a:pt x="107" y="211"/>
                  </a:lnTo>
                  <a:lnTo>
                    <a:pt x="109" y="209"/>
                  </a:lnTo>
                  <a:lnTo>
                    <a:pt x="109" y="209"/>
                  </a:lnTo>
                  <a:lnTo>
                    <a:pt x="109" y="207"/>
                  </a:lnTo>
                  <a:lnTo>
                    <a:pt x="109" y="207"/>
                  </a:lnTo>
                  <a:lnTo>
                    <a:pt x="109" y="205"/>
                  </a:lnTo>
                  <a:lnTo>
                    <a:pt x="107" y="203"/>
                  </a:lnTo>
                  <a:lnTo>
                    <a:pt x="107" y="201"/>
                  </a:lnTo>
                  <a:lnTo>
                    <a:pt x="107" y="201"/>
                  </a:lnTo>
                  <a:lnTo>
                    <a:pt x="107" y="201"/>
                  </a:lnTo>
                  <a:lnTo>
                    <a:pt x="107" y="199"/>
                  </a:lnTo>
                  <a:lnTo>
                    <a:pt x="109" y="201"/>
                  </a:lnTo>
                  <a:lnTo>
                    <a:pt x="109" y="201"/>
                  </a:lnTo>
                  <a:lnTo>
                    <a:pt x="111" y="203"/>
                  </a:lnTo>
                  <a:lnTo>
                    <a:pt x="112" y="205"/>
                  </a:lnTo>
                  <a:lnTo>
                    <a:pt x="114" y="205"/>
                  </a:lnTo>
                  <a:lnTo>
                    <a:pt x="114" y="205"/>
                  </a:lnTo>
                  <a:lnTo>
                    <a:pt x="116" y="205"/>
                  </a:lnTo>
                  <a:lnTo>
                    <a:pt x="118" y="205"/>
                  </a:lnTo>
                  <a:lnTo>
                    <a:pt x="120" y="205"/>
                  </a:lnTo>
                  <a:lnTo>
                    <a:pt x="122" y="205"/>
                  </a:lnTo>
                  <a:lnTo>
                    <a:pt x="124" y="205"/>
                  </a:lnTo>
                  <a:lnTo>
                    <a:pt x="124" y="203"/>
                  </a:lnTo>
                  <a:lnTo>
                    <a:pt x="126" y="203"/>
                  </a:lnTo>
                  <a:lnTo>
                    <a:pt x="126" y="201"/>
                  </a:lnTo>
                  <a:lnTo>
                    <a:pt x="126" y="201"/>
                  </a:lnTo>
                  <a:lnTo>
                    <a:pt x="128" y="199"/>
                  </a:lnTo>
                  <a:lnTo>
                    <a:pt x="126" y="199"/>
                  </a:lnTo>
                  <a:lnTo>
                    <a:pt x="126" y="199"/>
                  </a:lnTo>
                  <a:lnTo>
                    <a:pt x="126" y="199"/>
                  </a:lnTo>
                  <a:lnTo>
                    <a:pt x="122" y="201"/>
                  </a:lnTo>
                  <a:lnTo>
                    <a:pt x="118" y="201"/>
                  </a:lnTo>
                  <a:lnTo>
                    <a:pt x="116" y="201"/>
                  </a:lnTo>
                  <a:lnTo>
                    <a:pt x="114" y="201"/>
                  </a:lnTo>
                  <a:lnTo>
                    <a:pt x="112" y="199"/>
                  </a:lnTo>
                  <a:lnTo>
                    <a:pt x="112" y="199"/>
                  </a:lnTo>
                  <a:lnTo>
                    <a:pt x="112" y="198"/>
                  </a:lnTo>
                  <a:lnTo>
                    <a:pt x="112" y="198"/>
                  </a:lnTo>
                  <a:lnTo>
                    <a:pt x="112" y="196"/>
                  </a:lnTo>
                  <a:lnTo>
                    <a:pt x="112" y="196"/>
                  </a:lnTo>
                  <a:lnTo>
                    <a:pt x="112" y="196"/>
                  </a:lnTo>
                  <a:lnTo>
                    <a:pt x="114" y="196"/>
                  </a:lnTo>
                  <a:lnTo>
                    <a:pt x="116" y="198"/>
                  </a:lnTo>
                  <a:lnTo>
                    <a:pt x="116" y="198"/>
                  </a:lnTo>
                  <a:lnTo>
                    <a:pt x="118" y="198"/>
                  </a:lnTo>
                  <a:lnTo>
                    <a:pt x="118" y="198"/>
                  </a:lnTo>
                  <a:lnTo>
                    <a:pt x="118" y="196"/>
                  </a:lnTo>
                  <a:lnTo>
                    <a:pt x="118" y="196"/>
                  </a:lnTo>
                  <a:lnTo>
                    <a:pt x="118" y="194"/>
                  </a:lnTo>
                  <a:lnTo>
                    <a:pt x="116" y="192"/>
                  </a:lnTo>
                  <a:lnTo>
                    <a:pt x="116" y="192"/>
                  </a:lnTo>
                  <a:lnTo>
                    <a:pt x="116" y="192"/>
                  </a:lnTo>
                  <a:lnTo>
                    <a:pt x="116" y="190"/>
                  </a:lnTo>
                  <a:lnTo>
                    <a:pt x="118" y="186"/>
                  </a:lnTo>
                  <a:lnTo>
                    <a:pt x="118" y="186"/>
                  </a:lnTo>
                  <a:lnTo>
                    <a:pt x="120" y="184"/>
                  </a:lnTo>
                  <a:lnTo>
                    <a:pt x="120" y="184"/>
                  </a:lnTo>
                  <a:lnTo>
                    <a:pt x="118" y="184"/>
                  </a:lnTo>
                  <a:lnTo>
                    <a:pt x="118" y="184"/>
                  </a:lnTo>
                  <a:lnTo>
                    <a:pt x="118" y="184"/>
                  </a:lnTo>
                  <a:lnTo>
                    <a:pt x="114" y="184"/>
                  </a:lnTo>
                  <a:lnTo>
                    <a:pt x="111" y="186"/>
                  </a:lnTo>
                  <a:lnTo>
                    <a:pt x="109" y="186"/>
                  </a:lnTo>
                  <a:lnTo>
                    <a:pt x="103" y="184"/>
                  </a:lnTo>
                  <a:lnTo>
                    <a:pt x="103" y="186"/>
                  </a:lnTo>
                  <a:lnTo>
                    <a:pt x="101" y="186"/>
                  </a:lnTo>
                  <a:lnTo>
                    <a:pt x="101" y="186"/>
                  </a:lnTo>
                  <a:lnTo>
                    <a:pt x="101" y="186"/>
                  </a:lnTo>
                  <a:lnTo>
                    <a:pt x="101" y="188"/>
                  </a:lnTo>
                  <a:lnTo>
                    <a:pt x="101" y="188"/>
                  </a:lnTo>
                  <a:lnTo>
                    <a:pt x="101" y="188"/>
                  </a:lnTo>
                  <a:lnTo>
                    <a:pt x="99" y="190"/>
                  </a:lnTo>
                  <a:lnTo>
                    <a:pt x="99" y="190"/>
                  </a:lnTo>
                  <a:lnTo>
                    <a:pt x="99" y="192"/>
                  </a:lnTo>
                  <a:lnTo>
                    <a:pt x="97" y="192"/>
                  </a:lnTo>
                  <a:lnTo>
                    <a:pt x="97" y="192"/>
                  </a:lnTo>
                  <a:lnTo>
                    <a:pt x="99" y="196"/>
                  </a:lnTo>
                  <a:lnTo>
                    <a:pt x="99" y="198"/>
                  </a:lnTo>
                  <a:lnTo>
                    <a:pt x="99" y="199"/>
                  </a:lnTo>
                  <a:lnTo>
                    <a:pt x="97" y="199"/>
                  </a:lnTo>
                  <a:lnTo>
                    <a:pt x="97" y="201"/>
                  </a:lnTo>
                  <a:lnTo>
                    <a:pt x="97" y="201"/>
                  </a:lnTo>
                  <a:lnTo>
                    <a:pt x="97" y="201"/>
                  </a:lnTo>
                  <a:lnTo>
                    <a:pt x="95" y="201"/>
                  </a:lnTo>
                  <a:lnTo>
                    <a:pt x="93" y="199"/>
                  </a:lnTo>
                  <a:lnTo>
                    <a:pt x="93" y="199"/>
                  </a:lnTo>
                  <a:lnTo>
                    <a:pt x="93" y="199"/>
                  </a:lnTo>
                  <a:lnTo>
                    <a:pt x="91" y="203"/>
                  </a:lnTo>
                  <a:lnTo>
                    <a:pt x="90" y="203"/>
                  </a:lnTo>
                  <a:lnTo>
                    <a:pt x="90" y="203"/>
                  </a:lnTo>
                  <a:lnTo>
                    <a:pt x="88" y="203"/>
                  </a:lnTo>
                  <a:lnTo>
                    <a:pt x="86" y="203"/>
                  </a:lnTo>
                  <a:lnTo>
                    <a:pt x="86" y="203"/>
                  </a:lnTo>
                  <a:lnTo>
                    <a:pt x="82" y="201"/>
                  </a:lnTo>
                  <a:lnTo>
                    <a:pt x="82" y="201"/>
                  </a:lnTo>
                  <a:lnTo>
                    <a:pt x="80" y="201"/>
                  </a:lnTo>
                  <a:lnTo>
                    <a:pt x="80" y="199"/>
                  </a:lnTo>
                  <a:lnTo>
                    <a:pt x="80" y="199"/>
                  </a:lnTo>
                  <a:lnTo>
                    <a:pt x="78" y="198"/>
                  </a:lnTo>
                  <a:lnTo>
                    <a:pt x="76" y="198"/>
                  </a:lnTo>
                  <a:lnTo>
                    <a:pt x="74" y="196"/>
                  </a:lnTo>
                  <a:lnTo>
                    <a:pt x="72" y="196"/>
                  </a:lnTo>
                  <a:lnTo>
                    <a:pt x="72" y="198"/>
                  </a:lnTo>
                  <a:lnTo>
                    <a:pt x="72" y="198"/>
                  </a:lnTo>
                  <a:lnTo>
                    <a:pt x="74" y="203"/>
                  </a:lnTo>
                  <a:lnTo>
                    <a:pt x="74" y="203"/>
                  </a:lnTo>
                  <a:lnTo>
                    <a:pt x="74" y="205"/>
                  </a:lnTo>
                  <a:lnTo>
                    <a:pt x="74" y="207"/>
                  </a:lnTo>
                  <a:lnTo>
                    <a:pt x="74" y="209"/>
                  </a:lnTo>
                  <a:lnTo>
                    <a:pt x="74" y="211"/>
                  </a:lnTo>
                  <a:lnTo>
                    <a:pt x="74" y="211"/>
                  </a:lnTo>
                  <a:lnTo>
                    <a:pt x="76" y="211"/>
                  </a:lnTo>
                  <a:lnTo>
                    <a:pt x="78" y="211"/>
                  </a:lnTo>
                  <a:lnTo>
                    <a:pt x="80" y="211"/>
                  </a:lnTo>
                  <a:lnTo>
                    <a:pt x="82" y="211"/>
                  </a:lnTo>
                  <a:lnTo>
                    <a:pt x="82" y="211"/>
                  </a:lnTo>
                  <a:lnTo>
                    <a:pt x="84" y="211"/>
                  </a:lnTo>
                  <a:lnTo>
                    <a:pt x="84" y="211"/>
                  </a:lnTo>
                  <a:lnTo>
                    <a:pt x="86" y="211"/>
                  </a:lnTo>
                  <a:lnTo>
                    <a:pt x="86" y="211"/>
                  </a:lnTo>
                  <a:lnTo>
                    <a:pt x="88" y="211"/>
                  </a:lnTo>
                  <a:lnTo>
                    <a:pt x="88" y="213"/>
                  </a:lnTo>
                  <a:lnTo>
                    <a:pt x="88" y="213"/>
                  </a:lnTo>
                  <a:lnTo>
                    <a:pt x="86" y="215"/>
                  </a:lnTo>
                  <a:lnTo>
                    <a:pt x="86" y="217"/>
                  </a:lnTo>
                  <a:lnTo>
                    <a:pt x="86" y="218"/>
                  </a:lnTo>
                  <a:lnTo>
                    <a:pt x="86" y="218"/>
                  </a:lnTo>
                  <a:lnTo>
                    <a:pt x="86" y="220"/>
                  </a:lnTo>
                  <a:lnTo>
                    <a:pt x="86" y="222"/>
                  </a:lnTo>
                  <a:lnTo>
                    <a:pt x="84" y="222"/>
                  </a:lnTo>
                  <a:lnTo>
                    <a:pt x="84" y="224"/>
                  </a:lnTo>
                  <a:lnTo>
                    <a:pt x="82" y="224"/>
                  </a:lnTo>
                  <a:lnTo>
                    <a:pt x="78" y="224"/>
                  </a:lnTo>
                  <a:lnTo>
                    <a:pt x="78" y="224"/>
                  </a:lnTo>
                  <a:lnTo>
                    <a:pt x="76" y="222"/>
                  </a:lnTo>
                  <a:lnTo>
                    <a:pt x="76" y="222"/>
                  </a:lnTo>
                  <a:lnTo>
                    <a:pt x="74" y="220"/>
                  </a:lnTo>
                  <a:lnTo>
                    <a:pt x="74" y="218"/>
                  </a:lnTo>
                  <a:lnTo>
                    <a:pt x="72" y="218"/>
                  </a:lnTo>
                  <a:lnTo>
                    <a:pt x="72" y="217"/>
                  </a:lnTo>
                  <a:lnTo>
                    <a:pt x="70" y="217"/>
                  </a:lnTo>
                  <a:lnTo>
                    <a:pt x="70" y="215"/>
                  </a:lnTo>
                  <a:lnTo>
                    <a:pt x="70" y="213"/>
                  </a:lnTo>
                  <a:lnTo>
                    <a:pt x="70" y="213"/>
                  </a:lnTo>
                  <a:lnTo>
                    <a:pt x="69" y="213"/>
                  </a:lnTo>
                  <a:lnTo>
                    <a:pt x="69" y="213"/>
                  </a:lnTo>
                  <a:lnTo>
                    <a:pt x="69" y="213"/>
                  </a:lnTo>
                  <a:lnTo>
                    <a:pt x="69" y="217"/>
                  </a:lnTo>
                  <a:lnTo>
                    <a:pt x="69" y="220"/>
                  </a:lnTo>
                  <a:lnTo>
                    <a:pt x="69" y="220"/>
                  </a:lnTo>
                  <a:lnTo>
                    <a:pt x="69" y="222"/>
                  </a:lnTo>
                  <a:lnTo>
                    <a:pt x="69" y="224"/>
                  </a:lnTo>
                  <a:lnTo>
                    <a:pt x="67" y="232"/>
                  </a:lnTo>
                  <a:lnTo>
                    <a:pt x="63" y="236"/>
                  </a:lnTo>
                  <a:lnTo>
                    <a:pt x="63" y="237"/>
                  </a:lnTo>
                  <a:lnTo>
                    <a:pt x="63" y="237"/>
                  </a:lnTo>
                  <a:lnTo>
                    <a:pt x="63" y="239"/>
                  </a:lnTo>
                  <a:lnTo>
                    <a:pt x="63" y="239"/>
                  </a:lnTo>
                  <a:lnTo>
                    <a:pt x="63" y="241"/>
                  </a:lnTo>
                  <a:lnTo>
                    <a:pt x="72" y="243"/>
                  </a:lnTo>
                  <a:lnTo>
                    <a:pt x="74" y="243"/>
                  </a:lnTo>
                  <a:lnTo>
                    <a:pt x="74" y="245"/>
                  </a:lnTo>
                  <a:lnTo>
                    <a:pt x="74" y="247"/>
                  </a:lnTo>
                  <a:lnTo>
                    <a:pt x="74" y="249"/>
                  </a:lnTo>
                  <a:lnTo>
                    <a:pt x="72" y="251"/>
                  </a:lnTo>
                  <a:lnTo>
                    <a:pt x="69" y="255"/>
                  </a:lnTo>
                  <a:lnTo>
                    <a:pt x="67" y="256"/>
                  </a:lnTo>
                  <a:lnTo>
                    <a:pt x="67" y="256"/>
                  </a:lnTo>
                  <a:lnTo>
                    <a:pt x="67" y="258"/>
                  </a:lnTo>
                  <a:lnTo>
                    <a:pt x="67" y="260"/>
                  </a:lnTo>
                  <a:lnTo>
                    <a:pt x="67" y="262"/>
                  </a:lnTo>
                  <a:lnTo>
                    <a:pt x="65" y="262"/>
                  </a:lnTo>
                  <a:lnTo>
                    <a:pt x="65" y="264"/>
                  </a:lnTo>
                  <a:lnTo>
                    <a:pt x="65" y="264"/>
                  </a:lnTo>
                  <a:lnTo>
                    <a:pt x="67" y="264"/>
                  </a:lnTo>
                  <a:lnTo>
                    <a:pt x="67" y="264"/>
                  </a:lnTo>
                  <a:lnTo>
                    <a:pt x="70" y="264"/>
                  </a:lnTo>
                  <a:lnTo>
                    <a:pt x="72" y="264"/>
                  </a:lnTo>
                  <a:lnTo>
                    <a:pt x="74" y="266"/>
                  </a:lnTo>
                  <a:lnTo>
                    <a:pt x="76" y="266"/>
                  </a:lnTo>
                  <a:lnTo>
                    <a:pt x="78" y="268"/>
                  </a:lnTo>
                  <a:lnTo>
                    <a:pt x="78" y="268"/>
                  </a:lnTo>
                  <a:lnTo>
                    <a:pt x="78" y="270"/>
                  </a:lnTo>
                  <a:lnTo>
                    <a:pt x="78" y="275"/>
                  </a:lnTo>
                  <a:lnTo>
                    <a:pt x="80" y="277"/>
                  </a:lnTo>
                  <a:lnTo>
                    <a:pt x="80" y="279"/>
                  </a:lnTo>
                  <a:lnTo>
                    <a:pt x="80" y="281"/>
                  </a:lnTo>
                  <a:lnTo>
                    <a:pt x="82" y="281"/>
                  </a:lnTo>
                  <a:lnTo>
                    <a:pt x="82" y="283"/>
                  </a:lnTo>
                  <a:lnTo>
                    <a:pt x="84" y="285"/>
                  </a:lnTo>
                  <a:lnTo>
                    <a:pt x="86" y="285"/>
                  </a:lnTo>
                  <a:lnTo>
                    <a:pt x="86" y="287"/>
                  </a:lnTo>
                  <a:lnTo>
                    <a:pt x="86" y="287"/>
                  </a:lnTo>
                  <a:lnTo>
                    <a:pt x="86" y="289"/>
                  </a:lnTo>
                  <a:lnTo>
                    <a:pt x="86" y="289"/>
                  </a:lnTo>
                  <a:lnTo>
                    <a:pt x="84" y="291"/>
                  </a:lnTo>
                  <a:lnTo>
                    <a:pt x="80" y="302"/>
                  </a:lnTo>
                  <a:lnTo>
                    <a:pt x="80" y="306"/>
                  </a:lnTo>
                  <a:lnTo>
                    <a:pt x="80" y="308"/>
                  </a:lnTo>
                  <a:lnTo>
                    <a:pt x="80" y="310"/>
                  </a:lnTo>
                  <a:lnTo>
                    <a:pt x="80" y="312"/>
                  </a:lnTo>
                  <a:lnTo>
                    <a:pt x="82" y="314"/>
                  </a:lnTo>
                  <a:lnTo>
                    <a:pt x="84" y="315"/>
                  </a:lnTo>
                  <a:lnTo>
                    <a:pt x="84" y="319"/>
                  </a:lnTo>
                  <a:lnTo>
                    <a:pt x="84" y="321"/>
                  </a:lnTo>
                  <a:lnTo>
                    <a:pt x="84" y="323"/>
                  </a:lnTo>
                  <a:lnTo>
                    <a:pt x="84" y="325"/>
                  </a:lnTo>
                  <a:lnTo>
                    <a:pt x="82" y="327"/>
                  </a:lnTo>
                  <a:lnTo>
                    <a:pt x="82" y="327"/>
                  </a:lnTo>
                  <a:lnTo>
                    <a:pt x="80" y="329"/>
                  </a:lnTo>
                  <a:lnTo>
                    <a:pt x="80" y="329"/>
                  </a:lnTo>
                  <a:lnTo>
                    <a:pt x="80" y="331"/>
                  </a:lnTo>
                  <a:lnTo>
                    <a:pt x="78" y="334"/>
                  </a:lnTo>
                  <a:lnTo>
                    <a:pt x="78" y="336"/>
                  </a:lnTo>
                  <a:lnTo>
                    <a:pt x="76" y="338"/>
                  </a:lnTo>
                  <a:lnTo>
                    <a:pt x="76" y="338"/>
                  </a:lnTo>
                  <a:lnTo>
                    <a:pt x="72" y="342"/>
                  </a:lnTo>
                  <a:lnTo>
                    <a:pt x="72" y="342"/>
                  </a:lnTo>
                  <a:lnTo>
                    <a:pt x="70" y="342"/>
                  </a:lnTo>
                  <a:lnTo>
                    <a:pt x="69" y="342"/>
                  </a:lnTo>
                  <a:lnTo>
                    <a:pt x="63" y="346"/>
                  </a:lnTo>
                  <a:lnTo>
                    <a:pt x="61" y="346"/>
                  </a:lnTo>
                  <a:lnTo>
                    <a:pt x="57" y="348"/>
                  </a:lnTo>
                  <a:lnTo>
                    <a:pt x="55" y="350"/>
                  </a:lnTo>
                  <a:lnTo>
                    <a:pt x="50" y="355"/>
                  </a:lnTo>
                  <a:lnTo>
                    <a:pt x="48" y="355"/>
                  </a:lnTo>
                  <a:lnTo>
                    <a:pt x="46" y="363"/>
                  </a:lnTo>
                  <a:lnTo>
                    <a:pt x="46" y="363"/>
                  </a:lnTo>
                  <a:lnTo>
                    <a:pt x="46" y="365"/>
                  </a:lnTo>
                  <a:lnTo>
                    <a:pt x="46" y="365"/>
                  </a:lnTo>
                  <a:lnTo>
                    <a:pt x="46" y="367"/>
                  </a:lnTo>
                  <a:lnTo>
                    <a:pt x="48" y="367"/>
                  </a:lnTo>
                  <a:lnTo>
                    <a:pt x="48" y="367"/>
                  </a:lnTo>
                  <a:lnTo>
                    <a:pt x="51" y="367"/>
                  </a:lnTo>
                  <a:lnTo>
                    <a:pt x="53" y="369"/>
                  </a:lnTo>
                  <a:lnTo>
                    <a:pt x="55" y="369"/>
                  </a:lnTo>
                  <a:lnTo>
                    <a:pt x="57" y="369"/>
                  </a:lnTo>
                  <a:lnTo>
                    <a:pt x="57" y="369"/>
                  </a:lnTo>
                  <a:lnTo>
                    <a:pt x="59" y="369"/>
                  </a:lnTo>
                  <a:lnTo>
                    <a:pt x="59" y="371"/>
                  </a:lnTo>
                  <a:lnTo>
                    <a:pt x="61" y="371"/>
                  </a:lnTo>
                  <a:lnTo>
                    <a:pt x="61" y="372"/>
                  </a:lnTo>
                  <a:lnTo>
                    <a:pt x="63" y="372"/>
                  </a:lnTo>
                  <a:lnTo>
                    <a:pt x="63" y="374"/>
                  </a:lnTo>
                  <a:lnTo>
                    <a:pt x="63" y="374"/>
                  </a:lnTo>
                  <a:lnTo>
                    <a:pt x="59" y="376"/>
                  </a:lnTo>
                  <a:lnTo>
                    <a:pt x="53" y="380"/>
                  </a:lnTo>
                  <a:lnTo>
                    <a:pt x="48" y="382"/>
                  </a:lnTo>
                  <a:lnTo>
                    <a:pt x="40" y="386"/>
                  </a:lnTo>
                  <a:lnTo>
                    <a:pt x="38" y="386"/>
                  </a:lnTo>
                  <a:lnTo>
                    <a:pt x="38" y="386"/>
                  </a:lnTo>
                  <a:lnTo>
                    <a:pt x="36" y="384"/>
                  </a:lnTo>
                  <a:lnTo>
                    <a:pt x="34" y="384"/>
                  </a:lnTo>
                  <a:lnTo>
                    <a:pt x="32" y="384"/>
                  </a:lnTo>
                  <a:lnTo>
                    <a:pt x="32" y="384"/>
                  </a:lnTo>
                  <a:lnTo>
                    <a:pt x="30" y="386"/>
                  </a:lnTo>
                  <a:lnTo>
                    <a:pt x="30" y="386"/>
                  </a:lnTo>
                  <a:lnTo>
                    <a:pt x="29" y="386"/>
                  </a:lnTo>
                  <a:lnTo>
                    <a:pt x="27" y="388"/>
                  </a:lnTo>
                  <a:lnTo>
                    <a:pt x="29" y="393"/>
                  </a:lnTo>
                  <a:lnTo>
                    <a:pt x="30" y="401"/>
                  </a:lnTo>
                  <a:lnTo>
                    <a:pt x="30" y="403"/>
                  </a:lnTo>
                  <a:lnTo>
                    <a:pt x="30" y="405"/>
                  </a:lnTo>
                  <a:lnTo>
                    <a:pt x="30" y="405"/>
                  </a:lnTo>
                  <a:lnTo>
                    <a:pt x="32" y="405"/>
                  </a:lnTo>
                  <a:lnTo>
                    <a:pt x="32" y="405"/>
                  </a:lnTo>
                  <a:lnTo>
                    <a:pt x="32" y="403"/>
                  </a:lnTo>
                  <a:lnTo>
                    <a:pt x="34" y="403"/>
                  </a:lnTo>
                  <a:lnTo>
                    <a:pt x="34" y="403"/>
                  </a:lnTo>
                  <a:lnTo>
                    <a:pt x="36" y="405"/>
                  </a:lnTo>
                  <a:lnTo>
                    <a:pt x="38" y="407"/>
                  </a:lnTo>
                  <a:lnTo>
                    <a:pt x="40" y="409"/>
                  </a:lnTo>
                  <a:lnTo>
                    <a:pt x="40" y="411"/>
                  </a:lnTo>
                  <a:lnTo>
                    <a:pt x="32" y="426"/>
                  </a:lnTo>
                  <a:lnTo>
                    <a:pt x="30" y="428"/>
                  </a:lnTo>
                  <a:lnTo>
                    <a:pt x="30" y="428"/>
                  </a:lnTo>
                  <a:lnTo>
                    <a:pt x="29" y="430"/>
                  </a:lnTo>
                  <a:lnTo>
                    <a:pt x="29" y="430"/>
                  </a:lnTo>
                  <a:lnTo>
                    <a:pt x="27" y="430"/>
                  </a:lnTo>
                  <a:lnTo>
                    <a:pt x="27" y="430"/>
                  </a:lnTo>
                  <a:lnTo>
                    <a:pt x="25" y="430"/>
                  </a:lnTo>
                  <a:lnTo>
                    <a:pt x="23" y="430"/>
                  </a:lnTo>
                  <a:lnTo>
                    <a:pt x="23" y="430"/>
                  </a:lnTo>
                  <a:lnTo>
                    <a:pt x="15" y="435"/>
                  </a:lnTo>
                  <a:lnTo>
                    <a:pt x="11" y="439"/>
                  </a:lnTo>
                  <a:lnTo>
                    <a:pt x="11" y="441"/>
                  </a:lnTo>
                  <a:lnTo>
                    <a:pt x="10" y="441"/>
                  </a:lnTo>
                  <a:lnTo>
                    <a:pt x="10" y="441"/>
                  </a:lnTo>
                  <a:lnTo>
                    <a:pt x="8" y="441"/>
                  </a:lnTo>
                  <a:lnTo>
                    <a:pt x="2" y="439"/>
                  </a:lnTo>
                  <a:lnTo>
                    <a:pt x="2" y="439"/>
                  </a:lnTo>
                  <a:lnTo>
                    <a:pt x="2" y="439"/>
                  </a:lnTo>
                  <a:lnTo>
                    <a:pt x="0" y="439"/>
                  </a:lnTo>
                  <a:lnTo>
                    <a:pt x="0" y="441"/>
                  </a:lnTo>
                  <a:lnTo>
                    <a:pt x="0" y="443"/>
                  </a:lnTo>
                  <a:lnTo>
                    <a:pt x="0" y="443"/>
                  </a:lnTo>
                  <a:lnTo>
                    <a:pt x="0" y="445"/>
                  </a:lnTo>
                  <a:lnTo>
                    <a:pt x="4" y="449"/>
                  </a:lnTo>
                  <a:lnTo>
                    <a:pt x="6" y="450"/>
                  </a:lnTo>
                  <a:lnTo>
                    <a:pt x="8" y="450"/>
                  </a:lnTo>
                  <a:lnTo>
                    <a:pt x="8" y="450"/>
                  </a:lnTo>
                  <a:lnTo>
                    <a:pt x="11" y="450"/>
                  </a:lnTo>
                  <a:lnTo>
                    <a:pt x="15" y="450"/>
                  </a:lnTo>
                  <a:lnTo>
                    <a:pt x="17" y="450"/>
                  </a:lnTo>
                  <a:lnTo>
                    <a:pt x="19" y="450"/>
                  </a:lnTo>
                  <a:lnTo>
                    <a:pt x="19" y="452"/>
                  </a:lnTo>
                  <a:lnTo>
                    <a:pt x="19" y="452"/>
                  </a:lnTo>
                  <a:lnTo>
                    <a:pt x="19" y="454"/>
                  </a:lnTo>
                  <a:lnTo>
                    <a:pt x="19" y="454"/>
                  </a:lnTo>
                  <a:lnTo>
                    <a:pt x="19" y="456"/>
                  </a:lnTo>
                  <a:lnTo>
                    <a:pt x="17" y="456"/>
                  </a:lnTo>
                  <a:lnTo>
                    <a:pt x="17" y="458"/>
                  </a:lnTo>
                  <a:lnTo>
                    <a:pt x="15" y="458"/>
                  </a:lnTo>
                  <a:lnTo>
                    <a:pt x="13" y="458"/>
                  </a:lnTo>
                  <a:lnTo>
                    <a:pt x="11" y="460"/>
                  </a:lnTo>
                  <a:lnTo>
                    <a:pt x="10" y="460"/>
                  </a:lnTo>
                  <a:lnTo>
                    <a:pt x="10" y="458"/>
                  </a:lnTo>
                  <a:lnTo>
                    <a:pt x="8" y="458"/>
                  </a:lnTo>
                  <a:lnTo>
                    <a:pt x="8" y="458"/>
                  </a:lnTo>
                  <a:lnTo>
                    <a:pt x="6" y="456"/>
                  </a:lnTo>
                  <a:lnTo>
                    <a:pt x="6" y="456"/>
                  </a:lnTo>
                  <a:lnTo>
                    <a:pt x="4" y="456"/>
                  </a:lnTo>
                  <a:lnTo>
                    <a:pt x="4" y="456"/>
                  </a:lnTo>
                  <a:lnTo>
                    <a:pt x="4" y="456"/>
                  </a:lnTo>
                  <a:lnTo>
                    <a:pt x="4" y="458"/>
                  </a:lnTo>
                  <a:lnTo>
                    <a:pt x="2" y="460"/>
                  </a:lnTo>
                  <a:lnTo>
                    <a:pt x="2" y="462"/>
                  </a:lnTo>
                  <a:lnTo>
                    <a:pt x="2" y="464"/>
                  </a:lnTo>
                  <a:lnTo>
                    <a:pt x="2" y="466"/>
                  </a:lnTo>
                  <a:lnTo>
                    <a:pt x="4" y="468"/>
                  </a:lnTo>
                  <a:lnTo>
                    <a:pt x="2" y="469"/>
                  </a:lnTo>
                  <a:lnTo>
                    <a:pt x="4" y="471"/>
                  </a:lnTo>
                  <a:lnTo>
                    <a:pt x="4" y="471"/>
                  </a:lnTo>
                  <a:lnTo>
                    <a:pt x="6" y="473"/>
                  </a:lnTo>
                  <a:lnTo>
                    <a:pt x="6" y="473"/>
                  </a:lnTo>
                  <a:lnTo>
                    <a:pt x="8" y="475"/>
                  </a:lnTo>
                  <a:lnTo>
                    <a:pt x="8" y="477"/>
                  </a:lnTo>
                  <a:lnTo>
                    <a:pt x="8" y="479"/>
                  </a:lnTo>
                  <a:lnTo>
                    <a:pt x="8" y="481"/>
                  </a:lnTo>
                  <a:lnTo>
                    <a:pt x="8" y="481"/>
                  </a:lnTo>
                  <a:lnTo>
                    <a:pt x="10" y="483"/>
                  </a:lnTo>
                  <a:lnTo>
                    <a:pt x="10" y="485"/>
                  </a:lnTo>
                  <a:lnTo>
                    <a:pt x="10" y="485"/>
                  </a:lnTo>
                  <a:lnTo>
                    <a:pt x="10" y="488"/>
                  </a:lnTo>
                  <a:lnTo>
                    <a:pt x="10" y="496"/>
                  </a:lnTo>
                  <a:lnTo>
                    <a:pt x="11" y="496"/>
                  </a:lnTo>
                  <a:lnTo>
                    <a:pt x="13" y="498"/>
                  </a:lnTo>
                  <a:lnTo>
                    <a:pt x="15" y="498"/>
                  </a:lnTo>
                  <a:lnTo>
                    <a:pt x="17" y="498"/>
                  </a:lnTo>
                  <a:lnTo>
                    <a:pt x="19" y="498"/>
                  </a:lnTo>
                  <a:lnTo>
                    <a:pt x="21" y="498"/>
                  </a:lnTo>
                  <a:lnTo>
                    <a:pt x="23" y="496"/>
                  </a:lnTo>
                  <a:lnTo>
                    <a:pt x="23" y="496"/>
                  </a:lnTo>
                  <a:lnTo>
                    <a:pt x="23" y="496"/>
                  </a:lnTo>
                  <a:lnTo>
                    <a:pt x="23" y="494"/>
                  </a:lnTo>
                  <a:lnTo>
                    <a:pt x="23" y="494"/>
                  </a:lnTo>
                  <a:lnTo>
                    <a:pt x="25" y="494"/>
                  </a:lnTo>
                  <a:lnTo>
                    <a:pt x="25" y="494"/>
                  </a:lnTo>
                  <a:lnTo>
                    <a:pt x="27" y="494"/>
                  </a:lnTo>
                  <a:lnTo>
                    <a:pt x="29" y="492"/>
                  </a:lnTo>
                  <a:lnTo>
                    <a:pt x="29" y="492"/>
                  </a:lnTo>
                  <a:lnTo>
                    <a:pt x="32" y="488"/>
                  </a:lnTo>
                  <a:lnTo>
                    <a:pt x="34" y="488"/>
                  </a:lnTo>
                  <a:lnTo>
                    <a:pt x="36" y="490"/>
                  </a:lnTo>
                  <a:lnTo>
                    <a:pt x="42" y="496"/>
                  </a:lnTo>
                  <a:lnTo>
                    <a:pt x="42" y="500"/>
                  </a:lnTo>
                  <a:lnTo>
                    <a:pt x="42" y="500"/>
                  </a:lnTo>
                  <a:lnTo>
                    <a:pt x="42" y="509"/>
                  </a:lnTo>
                  <a:lnTo>
                    <a:pt x="42" y="511"/>
                  </a:lnTo>
                  <a:lnTo>
                    <a:pt x="42" y="511"/>
                  </a:lnTo>
                  <a:lnTo>
                    <a:pt x="44" y="513"/>
                  </a:lnTo>
                  <a:lnTo>
                    <a:pt x="44" y="515"/>
                  </a:lnTo>
                  <a:lnTo>
                    <a:pt x="44" y="517"/>
                  </a:lnTo>
                  <a:lnTo>
                    <a:pt x="44" y="519"/>
                  </a:lnTo>
                  <a:lnTo>
                    <a:pt x="46" y="519"/>
                  </a:lnTo>
                  <a:lnTo>
                    <a:pt x="46" y="521"/>
                  </a:lnTo>
                  <a:lnTo>
                    <a:pt x="48" y="521"/>
                  </a:lnTo>
                  <a:lnTo>
                    <a:pt x="51" y="525"/>
                  </a:lnTo>
                  <a:lnTo>
                    <a:pt x="53" y="525"/>
                  </a:lnTo>
                  <a:lnTo>
                    <a:pt x="57" y="527"/>
                  </a:lnTo>
                  <a:lnTo>
                    <a:pt x="59" y="527"/>
                  </a:lnTo>
                  <a:lnTo>
                    <a:pt x="59" y="528"/>
                  </a:lnTo>
                  <a:lnTo>
                    <a:pt x="61" y="528"/>
                  </a:lnTo>
                  <a:lnTo>
                    <a:pt x="63" y="530"/>
                  </a:lnTo>
                  <a:lnTo>
                    <a:pt x="65" y="530"/>
                  </a:lnTo>
                  <a:lnTo>
                    <a:pt x="67" y="530"/>
                  </a:lnTo>
                  <a:lnTo>
                    <a:pt x="76" y="528"/>
                  </a:lnTo>
                  <a:lnTo>
                    <a:pt x="76" y="528"/>
                  </a:lnTo>
                  <a:lnTo>
                    <a:pt x="80" y="530"/>
                  </a:lnTo>
                  <a:lnTo>
                    <a:pt x="80" y="530"/>
                  </a:lnTo>
                  <a:lnTo>
                    <a:pt x="82" y="530"/>
                  </a:lnTo>
                  <a:lnTo>
                    <a:pt x="82" y="532"/>
                  </a:lnTo>
                  <a:lnTo>
                    <a:pt x="84" y="532"/>
                  </a:lnTo>
                  <a:lnTo>
                    <a:pt x="86" y="532"/>
                  </a:lnTo>
                  <a:lnTo>
                    <a:pt x="90" y="534"/>
                  </a:lnTo>
                  <a:lnTo>
                    <a:pt x="90" y="534"/>
                  </a:lnTo>
                  <a:lnTo>
                    <a:pt x="93" y="534"/>
                  </a:lnTo>
                  <a:lnTo>
                    <a:pt x="93" y="536"/>
                  </a:lnTo>
                  <a:lnTo>
                    <a:pt x="95" y="538"/>
                  </a:lnTo>
                  <a:lnTo>
                    <a:pt x="99" y="542"/>
                  </a:lnTo>
                  <a:lnTo>
                    <a:pt x="99" y="546"/>
                  </a:lnTo>
                  <a:lnTo>
                    <a:pt x="101" y="546"/>
                  </a:lnTo>
                  <a:lnTo>
                    <a:pt x="101" y="547"/>
                  </a:lnTo>
                  <a:lnTo>
                    <a:pt x="103" y="547"/>
                  </a:lnTo>
                  <a:lnTo>
                    <a:pt x="103" y="547"/>
                  </a:lnTo>
                  <a:lnTo>
                    <a:pt x="109" y="551"/>
                  </a:lnTo>
                  <a:lnTo>
                    <a:pt x="118" y="553"/>
                  </a:lnTo>
                  <a:lnTo>
                    <a:pt x="122" y="551"/>
                  </a:lnTo>
                  <a:lnTo>
                    <a:pt x="122" y="553"/>
                  </a:lnTo>
                  <a:lnTo>
                    <a:pt x="124" y="553"/>
                  </a:lnTo>
                  <a:lnTo>
                    <a:pt x="124" y="553"/>
                  </a:lnTo>
                  <a:lnTo>
                    <a:pt x="133" y="553"/>
                  </a:lnTo>
                  <a:lnTo>
                    <a:pt x="137" y="553"/>
                  </a:lnTo>
                  <a:lnTo>
                    <a:pt x="139" y="553"/>
                  </a:lnTo>
                  <a:lnTo>
                    <a:pt x="141" y="553"/>
                  </a:lnTo>
                  <a:lnTo>
                    <a:pt x="145" y="553"/>
                  </a:lnTo>
                  <a:lnTo>
                    <a:pt x="145" y="551"/>
                  </a:lnTo>
                  <a:lnTo>
                    <a:pt x="147" y="551"/>
                  </a:lnTo>
                  <a:lnTo>
                    <a:pt x="151" y="553"/>
                  </a:lnTo>
                  <a:lnTo>
                    <a:pt x="154" y="553"/>
                  </a:lnTo>
                  <a:lnTo>
                    <a:pt x="164" y="553"/>
                  </a:lnTo>
                  <a:lnTo>
                    <a:pt x="170" y="551"/>
                  </a:lnTo>
                  <a:lnTo>
                    <a:pt x="173" y="551"/>
                  </a:lnTo>
                  <a:lnTo>
                    <a:pt x="175" y="551"/>
                  </a:lnTo>
                  <a:lnTo>
                    <a:pt x="177" y="551"/>
                  </a:lnTo>
                  <a:lnTo>
                    <a:pt x="181" y="553"/>
                  </a:lnTo>
                  <a:lnTo>
                    <a:pt x="185" y="553"/>
                  </a:lnTo>
                  <a:lnTo>
                    <a:pt x="187" y="553"/>
                  </a:lnTo>
                  <a:lnTo>
                    <a:pt x="187" y="553"/>
                  </a:lnTo>
                  <a:lnTo>
                    <a:pt x="189" y="553"/>
                  </a:lnTo>
                  <a:lnTo>
                    <a:pt x="189" y="553"/>
                  </a:lnTo>
                  <a:lnTo>
                    <a:pt x="191" y="555"/>
                  </a:lnTo>
                  <a:lnTo>
                    <a:pt x="192" y="557"/>
                  </a:lnTo>
                  <a:lnTo>
                    <a:pt x="194" y="563"/>
                  </a:lnTo>
                  <a:lnTo>
                    <a:pt x="194" y="566"/>
                  </a:lnTo>
                  <a:lnTo>
                    <a:pt x="194" y="570"/>
                  </a:lnTo>
                  <a:lnTo>
                    <a:pt x="194" y="572"/>
                  </a:lnTo>
                  <a:lnTo>
                    <a:pt x="194" y="572"/>
                  </a:lnTo>
                  <a:lnTo>
                    <a:pt x="192" y="572"/>
                  </a:lnTo>
                  <a:lnTo>
                    <a:pt x="192" y="572"/>
                  </a:lnTo>
                  <a:lnTo>
                    <a:pt x="192" y="572"/>
                  </a:lnTo>
                  <a:lnTo>
                    <a:pt x="191" y="574"/>
                  </a:lnTo>
                  <a:lnTo>
                    <a:pt x="191" y="574"/>
                  </a:lnTo>
                  <a:lnTo>
                    <a:pt x="191" y="574"/>
                  </a:lnTo>
                  <a:lnTo>
                    <a:pt x="191" y="574"/>
                  </a:lnTo>
                  <a:lnTo>
                    <a:pt x="191" y="574"/>
                  </a:lnTo>
                  <a:lnTo>
                    <a:pt x="192" y="574"/>
                  </a:lnTo>
                  <a:lnTo>
                    <a:pt x="194" y="580"/>
                  </a:lnTo>
                  <a:lnTo>
                    <a:pt x="196" y="582"/>
                  </a:lnTo>
                  <a:lnTo>
                    <a:pt x="198" y="582"/>
                  </a:lnTo>
                  <a:lnTo>
                    <a:pt x="208" y="584"/>
                  </a:lnTo>
                  <a:lnTo>
                    <a:pt x="212" y="582"/>
                  </a:lnTo>
                  <a:lnTo>
                    <a:pt x="217" y="582"/>
                  </a:lnTo>
                  <a:lnTo>
                    <a:pt x="219" y="580"/>
                  </a:lnTo>
                  <a:lnTo>
                    <a:pt x="221" y="580"/>
                  </a:lnTo>
                  <a:lnTo>
                    <a:pt x="223" y="578"/>
                  </a:lnTo>
                  <a:lnTo>
                    <a:pt x="225" y="576"/>
                  </a:lnTo>
                  <a:lnTo>
                    <a:pt x="227" y="574"/>
                  </a:lnTo>
                  <a:lnTo>
                    <a:pt x="227" y="572"/>
                  </a:lnTo>
                  <a:lnTo>
                    <a:pt x="231" y="570"/>
                  </a:lnTo>
                  <a:lnTo>
                    <a:pt x="232" y="570"/>
                  </a:lnTo>
                  <a:lnTo>
                    <a:pt x="238" y="570"/>
                  </a:lnTo>
                  <a:lnTo>
                    <a:pt x="240" y="570"/>
                  </a:lnTo>
                  <a:lnTo>
                    <a:pt x="240" y="568"/>
                  </a:lnTo>
                  <a:lnTo>
                    <a:pt x="242" y="566"/>
                  </a:lnTo>
                  <a:lnTo>
                    <a:pt x="242" y="565"/>
                  </a:lnTo>
                  <a:lnTo>
                    <a:pt x="242" y="561"/>
                  </a:lnTo>
                  <a:lnTo>
                    <a:pt x="240" y="559"/>
                  </a:lnTo>
                  <a:lnTo>
                    <a:pt x="240" y="557"/>
                  </a:lnTo>
                  <a:lnTo>
                    <a:pt x="240" y="557"/>
                  </a:lnTo>
                  <a:lnTo>
                    <a:pt x="240" y="555"/>
                  </a:lnTo>
                  <a:lnTo>
                    <a:pt x="242" y="555"/>
                  </a:lnTo>
                  <a:lnTo>
                    <a:pt x="244" y="553"/>
                  </a:lnTo>
                  <a:lnTo>
                    <a:pt x="248" y="551"/>
                  </a:lnTo>
                  <a:lnTo>
                    <a:pt x="248" y="549"/>
                  </a:lnTo>
                  <a:lnTo>
                    <a:pt x="250" y="549"/>
                  </a:lnTo>
                  <a:lnTo>
                    <a:pt x="252" y="546"/>
                  </a:lnTo>
                  <a:lnTo>
                    <a:pt x="252" y="544"/>
                  </a:lnTo>
                  <a:lnTo>
                    <a:pt x="253" y="544"/>
                  </a:lnTo>
                  <a:lnTo>
                    <a:pt x="253" y="542"/>
                  </a:lnTo>
                  <a:lnTo>
                    <a:pt x="253" y="542"/>
                  </a:lnTo>
                  <a:lnTo>
                    <a:pt x="253" y="542"/>
                  </a:lnTo>
                  <a:lnTo>
                    <a:pt x="253" y="540"/>
                  </a:lnTo>
                  <a:lnTo>
                    <a:pt x="253" y="540"/>
                  </a:lnTo>
                  <a:lnTo>
                    <a:pt x="253" y="540"/>
                  </a:lnTo>
                  <a:lnTo>
                    <a:pt x="253" y="538"/>
                  </a:lnTo>
                  <a:lnTo>
                    <a:pt x="253" y="538"/>
                  </a:lnTo>
                  <a:lnTo>
                    <a:pt x="255" y="536"/>
                  </a:lnTo>
                  <a:lnTo>
                    <a:pt x="255" y="532"/>
                  </a:lnTo>
                  <a:lnTo>
                    <a:pt x="257" y="530"/>
                  </a:lnTo>
                  <a:lnTo>
                    <a:pt x="259" y="530"/>
                  </a:lnTo>
                  <a:lnTo>
                    <a:pt x="265" y="530"/>
                  </a:lnTo>
                  <a:lnTo>
                    <a:pt x="267" y="528"/>
                  </a:lnTo>
                  <a:lnTo>
                    <a:pt x="276" y="521"/>
                  </a:lnTo>
                  <a:lnTo>
                    <a:pt x="280" y="519"/>
                  </a:lnTo>
                  <a:lnTo>
                    <a:pt x="284" y="519"/>
                  </a:lnTo>
                  <a:lnTo>
                    <a:pt x="290" y="519"/>
                  </a:lnTo>
                  <a:lnTo>
                    <a:pt x="290" y="519"/>
                  </a:lnTo>
                  <a:lnTo>
                    <a:pt x="292" y="519"/>
                  </a:lnTo>
                  <a:lnTo>
                    <a:pt x="292" y="519"/>
                  </a:lnTo>
                  <a:lnTo>
                    <a:pt x="292" y="519"/>
                  </a:lnTo>
                  <a:lnTo>
                    <a:pt x="292" y="521"/>
                  </a:lnTo>
                  <a:lnTo>
                    <a:pt x="293" y="521"/>
                  </a:lnTo>
                  <a:lnTo>
                    <a:pt x="293" y="521"/>
                  </a:lnTo>
                  <a:lnTo>
                    <a:pt x="293" y="521"/>
                  </a:lnTo>
                  <a:lnTo>
                    <a:pt x="295" y="521"/>
                  </a:lnTo>
                  <a:lnTo>
                    <a:pt x="295" y="521"/>
                  </a:lnTo>
                  <a:lnTo>
                    <a:pt x="295" y="519"/>
                  </a:lnTo>
                  <a:lnTo>
                    <a:pt x="297" y="517"/>
                  </a:lnTo>
                  <a:lnTo>
                    <a:pt x="297" y="517"/>
                  </a:lnTo>
                  <a:lnTo>
                    <a:pt x="301" y="517"/>
                  </a:lnTo>
                  <a:lnTo>
                    <a:pt x="301" y="517"/>
                  </a:lnTo>
                  <a:lnTo>
                    <a:pt x="303" y="515"/>
                  </a:lnTo>
                  <a:lnTo>
                    <a:pt x="303" y="513"/>
                  </a:lnTo>
                  <a:lnTo>
                    <a:pt x="305" y="513"/>
                  </a:lnTo>
                  <a:lnTo>
                    <a:pt x="316" y="513"/>
                  </a:lnTo>
                  <a:lnTo>
                    <a:pt x="318" y="515"/>
                  </a:lnTo>
                  <a:lnTo>
                    <a:pt x="318" y="515"/>
                  </a:lnTo>
                  <a:lnTo>
                    <a:pt x="320" y="515"/>
                  </a:lnTo>
                  <a:lnTo>
                    <a:pt x="320" y="517"/>
                  </a:lnTo>
                  <a:lnTo>
                    <a:pt x="320" y="517"/>
                  </a:lnTo>
                  <a:lnTo>
                    <a:pt x="320" y="517"/>
                  </a:lnTo>
                  <a:lnTo>
                    <a:pt x="320" y="517"/>
                  </a:lnTo>
                  <a:lnTo>
                    <a:pt x="320" y="517"/>
                  </a:lnTo>
                  <a:lnTo>
                    <a:pt x="322" y="519"/>
                  </a:lnTo>
                  <a:lnTo>
                    <a:pt x="324" y="519"/>
                  </a:lnTo>
                  <a:lnTo>
                    <a:pt x="324" y="521"/>
                  </a:lnTo>
                  <a:lnTo>
                    <a:pt x="324" y="521"/>
                  </a:lnTo>
                  <a:lnTo>
                    <a:pt x="326" y="528"/>
                  </a:lnTo>
                  <a:lnTo>
                    <a:pt x="326" y="530"/>
                  </a:lnTo>
                  <a:lnTo>
                    <a:pt x="326" y="530"/>
                  </a:lnTo>
                  <a:lnTo>
                    <a:pt x="326" y="532"/>
                  </a:lnTo>
                  <a:lnTo>
                    <a:pt x="326" y="534"/>
                  </a:lnTo>
                  <a:lnTo>
                    <a:pt x="328" y="534"/>
                  </a:lnTo>
                  <a:lnTo>
                    <a:pt x="328" y="536"/>
                  </a:lnTo>
                  <a:lnTo>
                    <a:pt x="328" y="536"/>
                  </a:lnTo>
                  <a:lnTo>
                    <a:pt x="326" y="536"/>
                  </a:lnTo>
                  <a:lnTo>
                    <a:pt x="326" y="536"/>
                  </a:lnTo>
                  <a:lnTo>
                    <a:pt x="316" y="536"/>
                  </a:lnTo>
                  <a:lnTo>
                    <a:pt x="314" y="536"/>
                  </a:lnTo>
                  <a:lnTo>
                    <a:pt x="314" y="536"/>
                  </a:lnTo>
                  <a:lnTo>
                    <a:pt x="314" y="538"/>
                  </a:lnTo>
                  <a:lnTo>
                    <a:pt x="314" y="538"/>
                  </a:lnTo>
                  <a:lnTo>
                    <a:pt x="314" y="540"/>
                  </a:lnTo>
                  <a:lnTo>
                    <a:pt x="314" y="540"/>
                  </a:lnTo>
                  <a:lnTo>
                    <a:pt x="314" y="542"/>
                  </a:lnTo>
                  <a:lnTo>
                    <a:pt x="316" y="544"/>
                  </a:lnTo>
                  <a:lnTo>
                    <a:pt x="318" y="547"/>
                  </a:lnTo>
                  <a:lnTo>
                    <a:pt x="318" y="549"/>
                  </a:lnTo>
                  <a:lnTo>
                    <a:pt x="318" y="551"/>
                  </a:lnTo>
                  <a:lnTo>
                    <a:pt x="318" y="551"/>
                  </a:lnTo>
                  <a:lnTo>
                    <a:pt x="320" y="551"/>
                  </a:lnTo>
                  <a:lnTo>
                    <a:pt x="320" y="551"/>
                  </a:lnTo>
                  <a:lnTo>
                    <a:pt x="320" y="549"/>
                  </a:lnTo>
                  <a:lnTo>
                    <a:pt x="322" y="549"/>
                  </a:lnTo>
                  <a:lnTo>
                    <a:pt x="322" y="549"/>
                  </a:lnTo>
                  <a:lnTo>
                    <a:pt x="322" y="549"/>
                  </a:lnTo>
                  <a:lnTo>
                    <a:pt x="324" y="549"/>
                  </a:lnTo>
                  <a:lnTo>
                    <a:pt x="324" y="549"/>
                  </a:lnTo>
                  <a:lnTo>
                    <a:pt x="326" y="551"/>
                  </a:lnTo>
                  <a:lnTo>
                    <a:pt x="326" y="551"/>
                  </a:lnTo>
                  <a:lnTo>
                    <a:pt x="326" y="551"/>
                  </a:lnTo>
                  <a:lnTo>
                    <a:pt x="328" y="551"/>
                  </a:lnTo>
                  <a:lnTo>
                    <a:pt x="328" y="551"/>
                  </a:lnTo>
                  <a:lnTo>
                    <a:pt x="330" y="551"/>
                  </a:lnTo>
                  <a:lnTo>
                    <a:pt x="332" y="551"/>
                  </a:lnTo>
                  <a:lnTo>
                    <a:pt x="332" y="551"/>
                  </a:lnTo>
                  <a:lnTo>
                    <a:pt x="333" y="551"/>
                  </a:lnTo>
                  <a:lnTo>
                    <a:pt x="333" y="551"/>
                  </a:lnTo>
                  <a:lnTo>
                    <a:pt x="335" y="551"/>
                  </a:lnTo>
                  <a:lnTo>
                    <a:pt x="337" y="551"/>
                  </a:lnTo>
                  <a:lnTo>
                    <a:pt x="337" y="551"/>
                  </a:lnTo>
                  <a:lnTo>
                    <a:pt x="337" y="553"/>
                  </a:lnTo>
                  <a:lnTo>
                    <a:pt x="339" y="553"/>
                  </a:lnTo>
                  <a:lnTo>
                    <a:pt x="339" y="553"/>
                  </a:lnTo>
                  <a:lnTo>
                    <a:pt x="343" y="551"/>
                  </a:lnTo>
                  <a:lnTo>
                    <a:pt x="345" y="549"/>
                  </a:lnTo>
                  <a:lnTo>
                    <a:pt x="347" y="547"/>
                  </a:lnTo>
                  <a:lnTo>
                    <a:pt x="347" y="547"/>
                  </a:lnTo>
                  <a:lnTo>
                    <a:pt x="349" y="547"/>
                  </a:lnTo>
                  <a:lnTo>
                    <a:pt x="353" y="549"/>
                  </a:lnTo>
                  <a:lnTo>
                    <a:pt x="354" y="551"/>
                  </a:lnTo>
                  <a:lnTo>
                    <a:pt x="356" y="551"/>
                  </a:lnTo>
                  <a:lnTo>
                    <a:pt x="358" y="551"/>
                  </a:lnTo>
                  <a:lnTo>
                    <a:pt x="370" y="547"/>
                  </a:lnTo>
                  <a:lnTo>
                    <a:pt x="373" y="544"/>
                  </a:lnTo>
                  <a:lnTo>
                    <a:pt x="377" y="542"/>
                  </a:lnTo>
                  <a:lnTo>
                    <a:pt x="379" y="542"/>
                  </a:lnTo>
                  <a:lnTo>
                    <a:pt x="381" y="538"/>
                  </a:lnTo>
                  <a:lnTo>
                    <a:pt x="383" y="536"/>
                  </a:lnTo>
                  <a:lnTo>
                    <a:pt x="385" y="536"/>
                  </a:lnTo>
                  <a:lnTo>
                    <a:pt x="385" y="534"/>
                  </a:lnTo>
                  <a:lnTo>
                    <a:pt x="391" y="534"/>
                  </a:lnTo>
                  <a:lnTo>
                    <a:pt x="394" y="532"/>
                  </a:lnTo>
                  <a:lnTo>
                    <a:pt x="396" y="528"/>
                  </a:lnTo>
                  <a:lnTo>
                    <a:pt x="398" y="528"/>
                  </a:lnTo>
                  <a:lnTo>
                    <a:pt x="398" y="528"/>
                  </a:lnTo>
                  <a:lnTo>
                    <a:pt x="400" y="528"/>
                  </a:lnTo>
                  <a:lnTo>
                    <a:pt x="400" y="528"/>
                  </a:lnTo>
                  <a:lnTo>
                    <a:pt x="402" y="528"/>
                  </a:lnTo>
                  <a:lnTo>
                    <a:pt x="402" y="528"/>
                  </a:lnTo>
                  <a:lnTo>
                    <a:pt x="404" y="528"/>
                  </a:lnTo>
                  <a:lnTo>
                    <a:pt x="404" y="530"/>
                  </a:lnTo>
                  <a:lnTo>
                    <a:pt x="404" y="532"/>
                  </a:lnTo>
                  <a:lnTo>
                    <a:pt x="406" y="534"/>
                  </a:lnTo>
                  <a:lnTo>
                    <a:pt x="406" y="536"/>
                  </a:lnTo>
                  <a:lnTo>
                    <a:pt x="406" y="538"/>
                  </a:lnTo>
                  <a:lnTo>
                    <a:pt x="406" y="540"/>
                  </a:lnTo>
                  <a:lnTo>
                    <a:pt x="406" y="540"/>
                  </a:lnTo>
                  <a:lnTo>
                    <a:pt x="406" y="540"/>
                  </a:lnTo>
                  <a:lnTo>
                    <a:pt x="406" y="540"/>
                  </a:lnTo>
                  <a:lnTo>
                    <a:pt x="406" y="540"/>
                  </a:lnTo>
                  <a:lnTo>
                    <a:pt x="406" y="540"/>
                  </a:lnTo>
                  <a:lnTo>
                    <a:pt x="408" y="540"/>
                  </a:lnTo>
                  <a:lnTo>
                    <a:pt x="408" y="540"/>
                  </a:lnTo>
                  <a:lnTo>
                    <a:pt x="410" y="540"/>
                  </a:lnTo>
                  <a:lnTo>
                    <a:pt x="410" y="538"/>
                  </a:lnTo>
                  <a:lnTo>
                    <a:pt x="412" y="538"/>
                  </a:lnTo>
                  <a:lnTo>
                    <a:pt x="412" y="538"/>
                  </a:lnTo>
                  <a:lnTo>
                    <a:pt x="413" y="538"/>
                  </a:lnTo>
                  <a:lnTo>
                    <a:pt x="415" y="538"/>
                  </a:lnTo>
                  <a:lnTo>
                    <a:pt x="415" y="540"/>
                  </a:lnTo>
                  <a:lnTo>
                    <a:pt x="417" y="540"/>
                  </a:lnTo>
                  <a:lnTo>
                    <a:pt x="417" y="542"/>
                  </a:lnTo>
                  <a:lnTo>
                    <a:pt x="425" y="544"/>
                  </a:lnTo>
                  <a:lnTo>
                    <a:pt x="431" y="544"/>
                  </a:lnTo>
                  <a:lnTo>
                    <a:pt x="433" y="544"/>
                  </a:lnTo>
                  <a:lnTo>
                    <a:pt x="434" y="542"/>
                  </a:lnTo>
                  <a:lnTo>
                    <a:pt x="440" y="542"/>
                  </a:lnTo>
                  <a:lnTo>
                    <a:pt x="444" y="540"/>
                  </a:lnTo>
                  <a:lnTo>
                    <a:pt x="446" y="540"/>
                  </a:lnTo>
                  <a:lnTo>
                    <a:pt x="450" y="540"/>
                  </a:lnTo>
                  <a:lnTo>
                    <a:pt x="452" y="540"/>
                  </a:lnTo>
                  <a:lnTo>
                    <a:pt x="452" y="538"/>
                  </a:lnTo>
                  <a:lnTo>
                    <a:pt x="452" y="538"/>
                  </a:lnTo>
                  <a:lnTo>
                    <a:pt x="452" y="536"/>
                  </a:lnTo>
                  <a:lnTo>
                    <a:pt x="452" y="536"/>
                  </a:lnTo>
                  <a:lnTo>
                    <a:pt x="452" y="534"/>
                  </a:lnTo>
                  <a:lnTo>
                    <a:pt x="452" y="534"/>
                  </a:lnTo>
                  <a:lnTo>
                    <a:pt x="452" y="532"/>
                  </a:lnTo>
                  <a:lnTo>
                    <a:pt x="454" y="532"/>
                  </a:lnTo>
                  <a:lnTo>
                    <a:pt x="457" y="530"/>
                  </a:lnTo>
                  <a:lnTo>
                    <a:pt x="467" y="530"/>
                  </a:lnTo>
                  <a:lnTo>
                    <a:pt x="469" y="528"/>
                  </a:lnTo>
                  <a:lnTo>
                    <a:pt x="474" y="527"/>
                  </a:lnTo>
                  <a:lnTo>
                    <a:pt x="476" y="527"/>
                  </a:lnTo>
                  <a:lnTo>
                    <a:pt x="478" y="525"/>
                  </a:lnTo>
                  <a:lnTo>
                    <a:pt x="480" y="525"/>
                  </a:lnTo>
                  <a:lnTo>
                    <a:pt x="480" y="523"/>
                  </a:lnTo>
                  <a:lnTo>
                    <a:pt x="480" y="521"/>
                  </a:lnTo>
                  <a:lnTo>
                    <a:pt x="480" y="521"/>
                  </a:lnTo>
                  <a:lnTo>
                    <a:pt x="480" y="521"/>
                  </a:lnTo>
                  <a:lnTo>
                    <a:pt x="480" y="519"/>
                  </a:lnTo>
                  <a:lnTo>
                    <a:pt x="482" y="519"/>
                  </a:lnTo>
                  <a:lnTo>
                    <a:pt x="486" y="521"/>
                  </a:lnTo>
                  <a:lnTo>
                    <a:pt x="488" y="521"/>
                  </a:lnTo>
                  <a:lnTo>
                    <a:pt x="490" y="523"/>
                  </a:lnTo>
                  <a:lnTo>
                    <a:pt x="494" y="521"/>
                  </a:lnTo>
                  <a:lnTo>
                    <a:pt x="494" y="523"/>
                  </a:lnTo>
                  <a:lnTo>
                    <a:pt x="495" y="523"/>
                  </a:lnTo>
                  <a:lnTo>
                    <a:pt x="497" y="523"/>
                  </a:lnTo>
                  <a:lnTo>
                    <a:pt x="497" y="523"/>
                  </a:lnTo>
                  <a:lnTo>
                    <a:pt x="501" y="523"/>
                  </a:lnTo>
                  <a:lnTo>
                    <a:pt x="503" y="525"/>
                  </a:lnTo>
                  <a:lnTo>
                    <a:pt x="505" y="527"/>
                  </a:lnTo>
                  <a:lnTo>
                    <a:pt x="507" y="528"/>
                  </a:lnTo>
                  <a:lnTo>
                    <a:pt x="509" y="530"/>
                  </a:lnTo>
                  <a:lnTo>
                    <a:pt x="509" y="532"/>
                  </a:lnTo>
                  <a:lnTo>
                    <a:pt x="509" y="532"/>
                  </a:lnTo>
                  <a:lnTo>
                    <a:pt x="509" y="532"/>
                  </a:lnTo>
                  <a:lnTo>
                    <a:pt x="509" y="534"/>
                  </a:lnTo>
                  <a:lnTo>
                    <a:pt x="509" y="536"/>
                  </a:lnTo>
                  <a:lnTo>
                    <a:pt x="511" y="536"/>
                  </a:lnTo>
                  <a:lnTo>
                    <a:pt x="511" y="536"/>
                  </a:lnTo>
                  <a:lnTo>
                    <a:pt x="513" y="536"/>
                  </a:lnTo>
                  <a:lnTo>
                    <a:pt x="514" y="536"/>
                  </a:lnTo>
                  <a:lnTo>
                    <a:pt x="514" y="536"/>
                  </a:lnTo>
                  <a:lnTo>
                    <a:pt x="516" y="534"/>
                  </a:lnTo>
                  <a:lnTo>
                    <a:pt x="518" y="532"/>
                  </a:lnTo>
                  <a:lnTo>
                    <a:pt x="520" y="532"/>
                  </a:lnTo>
                  <a:lnTo>
                    <a:pt x="520" y="532"/>
                  </a:lnTo>
                  <a:lnTo>
                    <a:pt x="524" y="532"/>
                  </a:lnTo>
                  <a:lnTo>
                    <a:pt x="528" y="532"/>
                  </a:lnTo>
                  <a:lnTo>
                    <a:pt x="530" y="532"/>
                  </a:lnTo>
                  <a:lnTo>
                    <a:pt x="532" y="532"/>
                  </a:lnTo>
                  <a:lnTo>
                    <a:pt x="534" y="532"/>
                  </a:lnTo>
                  <a:lnTo>
                    <a:pt x="534" y="534"/>
                  </a:lnTo>
                  <a:lnTo>
                    <a:pt x="535" y="534"/>
                  </a:lnTo>
                  <a:lnTo>
                    <a:pt x="535" y="536"/>
                  </a:lnTo>
                  <a:lnTo>
                    <a:pt x="535" y="538"/>
                  </a:lnTo>
                  <a:lnTo>
                    <a:pt x="537" y="538"/>
                  </a:lnTo>
                  <a:lnTo>
                    <a:pt x="537" y="538"/>
                  </a:lnTo>
                  <a:lnTo>
                    <a:pt x="539" y="538"/>
                  </a:lnTo>
                  <a:lnTo>
                    <a:pt x="541" y="538"/>
                  </a:lnTo>
                  <a:lnTo>
                    <a:pt x="543" y="536"/>
                  </a:lnTo>
                  <a:lnTo>
                    <a:pt x="543" y="536"/>
                  </a:lnTo>
                  <a:lnTo>
                    <a:pt x="545" y="536"/>
                  </a:lnTo>
                  <a:lnTo>
                    <a:pt x="545" y="536"/>
                  </a:lnTo>
                  <a:lnTo>
                    <a:pt x="547" y="534"/>
                  </a:lnTo>
                  <a:lnTo>
                    <a:pt x="549" y="534"/>
                  </a:lnTo>
                  <a:lnTo>
                    <a:pt x="549" y="534"/>
                  </a:lnTo>
                  <a:lnTo>
                    <a:pt x="549" y="536"/>
                  </a:lnTo>
                  <a:lnTo>
                    <a:pt x="549" y="536"/>
                  </a:lnTo>
                  <a:lnTo>
                    <a:pt x="549" y="536"/>
                  </a:lnTo>
                  <a:lnTo>
                    <a:pt x="551" y="536"/>
                  </a:lnTo>
                  <a:lnTo>
                    <a:pt x="551" y="536"/>
                  </a:lnTo>
                  <a:lnTo>
                    <a:pt x="558" y="534"/>
                  </a:lnTo>
                  <a:lnTo>
                    <a:pt x="558" y="532"/>
                  </a:lnTo>
                  <a:lnTo>
                    <a:pt x="560" y="530"/>
                  </a:lnTo>
                  <a:lnTo>
                    <a:pt x="566" y="528"/>
                  </a:lnTo>
                  <a:lnTo>
                    <a:pt x="568" y="528"/>
                  </a:lnTo>
                  <a:lnTo>
                    <a:pt x="568" y="528"/>
                  </a:lnTo>
                  <a:lnTo>
                    <a:pt x="568" y="527"/>
                  </a:lnTo>
                  <a:lnTo>
                    <a:pt x="570" y="528"/>
                  </a:lnTo>
                  <a:lnTo>
                    <a:pt x="574" y="530"/>
                  </a:lnTo>
                  <a:lnTo>
                    <a:pt x="575" y="532"/>
                  </a:lnTo>
                  <a:lnTo>
                    <a:pt x="579" y="532"/>
                  </a:lnTo>
                  <a:lnTo>
                    <a:pt x="579" y="534"/>
                  </a:lnTo>
                  <a:lnTo>
                    <a:pt x="581" y="534"/>
                  </a:lnTo>
                  <a:lnTo>
                    <a:pt x="581" y="534"/>
                  </a:lnTo>
                  <a:lnTo>
                    <a:pt x="581" y="536"/>
                  </a:lnTo>
                  <a:lnTo>
                    <a:pt x="581" y="536"/>
                  </a:lnTo>
                  <a:lnTo>
                    <a:pt x="581" y="538"/>
                  </a:lnTo>
                  <a:lnTo>
                    <a:pt x="587" y="542"/>
                  </a:lnTo>
                  <a:lnTo>
                    <a:pt x="589" y="542"/>
                  </a:lnTo>
                  <a:lnTo>
                    <a:pt x="589" y="544"/>
                  </a:lnTo>
                  <a:lnTo>
                    <a:pt x="589" y="546"/>
                  </a:lnTo>
                  <a:lnTo>
                    <a:pt x="589" y="546"/>
                  </a:lnTo>
                  <a:lnTo>
                    <a:pt x="589" y="547"/>
                  </a:lnTo>
                  <a:lnTo>
                    <a:pt x="589" y="547"/>
                  </a:lnTo>
                  <a:lnTo>
                    <a:pt x="589" y="547"/>
                  </a:lnTo>
                  <a:lnTo>
                    <a:pt x="587" y="549"/>
                  </a:lnTo>
                  <a:lnTo>
                    <a:pt x="587" y="549"/>
                  </a:lnTo>
                  <a:lnTo>
                    <a:pt x="587" y="551"/>
                  </a:lnTo>
                  <a:lnTo>
                    <a:pt x="589" y="551"/>
                  </a:lnTo>
                  <a:lnTo>
                    <a:pt x="589" y="551"/>
                  </a:lnTo>
                  <a:lnTo>
                    <a:pt x="589" y="551"/>
                  </a:lnTo>
                  <a:lnTo>
                    <a:pt x="591" y="551"/>
                  </a:lnTo>
                  <a:lnTo>
                    <a:pt x="593" y="551"/>
                  </a:lnTo>
                  <a:lnTo>
                    <a:pt x="595" y="549"/>
                  </a:lnTo>
                  <a:lnTo>
                    <a:pt x="595" y="549"/>
                  </a:lnTo>
                  <a:lnTo>
                    <a:pt x="596" y="551"/>
                  </a:lnTo>
                  <a:lnTo>
                    <a:pt x="596" y="551"/>
                  </a:lnTo>
                  <a:lnTo>
                    <a:pt x="608" y="557"/>
                  </a:lnTo>
                  <a:lnTo>
                    <a:pt x="608" y="557"/>
                  </a:lnTo>
                  <a:lnTo>
                    <a:pt x="610" y="557"/>
                  </a:lnTo>
                  <a:lnTo>
                    <a:pt x="610" y="557"/>
                  </a:lnTo>
                  <a:lnTo>
                    <a:pt x="610" y="557"/>
                  </a:lnTo>
                  <a:lnTo>
                    <a:pt x="612" y="555"/>
                  </a:lnTo>
                  <a:lnTo>
                    <a:pt x="614" y="555"/>
                  </a:lnTo>
                  <a:lnTo>
                    <a:pt x="615" y="551"/>
                  </a:lnTo>
                  <a:lnTo>
                    <a:pt x="615" y="547"/>
                  </a:lnTo>
                  <a:lnTo>
                    <a:pt x="617" y="544"/>
                  </a:lnTo>
                  <a:lnTo>
                    <a:pt x="617" y="542"/>
                  </a:lnTo>
                  <a:lnTo>
                    <a:pt x="617" y="532"/>
                  </a:lnTo>
                  <a:lnTo>
                    <a:pt x="617" y="530"/>
                  </a:lnTo>
                  <a:lnTo>
                    <a:pt x="617" y="528"/>
                  </a:lnTo>
                  <a:lnTo>
                    <a:pt x="617" y="519"/>
                  </a:lnTo>
                  <a:lnTo>
                    <a:pt x="619" y="517"/>
                  </a:lnTo>
                  <a:lnTo>
                    <a:pt x="621" y="515"/>
                  </a:lnTo>
                  <a:lnTo>
                    <a:pt x="623" y="515"/>
                  </a:lnTo>
                  <a:lnTo>
                    <a:pt x="625" y="513"/>
                  </a:lnTo>
                  <a:lnTo>
                    <a:pt x="627" y="511"/>
                  </a:lnTo>
                  <a:lnTo>
                    <a:pt x="629" y="506"/>
                  </a:lnTo>
                  <a:lnTo>
                    <a:pt x="627" y="500"/>
                  </a:lnTo>
                  <a:lnTo>
                    <a:pt x="629" y="496"/>
                  </a:lnTo>
                  <a:lnTo>
                    <a:pt x="629" y="494"/>
                  </a:lnTo>
                  <a:lnTo>
                    <a:pt x="633" y="485"/>
                  </a:lnTo>
                  <a:lnTo>
                    <a:pt x="635" y="483"/>
                  </a:lnTo>
                  <a:lnTo>
                    <a:pt x="636" y="481"/>
                  </a:lnTo>
                  <a:lnTo>
                    <a:pt x="636" y="481"/>
                  </a:lnTo>
                  <a:lnTo>
                    <a:pt x="638" y="483"/>
                  </a:lnTo>
                  <a:lnTo>
                    <a:pt x="640" y="487"/>
                  </a:lnTo>
                  <a:lnTo>
                    <a:pt x="642" y="487"/>
                  </a:lnTo>
                  <a:lnTo>
                    <a:pt x="642" y="487"/>
                  </a:lnTo>
                  <a:lnTo>
                    <a:pt x="644" y="485"/>
                  </a:lnTo>
                  <a:lnTo>
                    <a:pt x="644" y="483"/>
                  </a:lnTo>
                  <a:lnTo>
                    <a:pt x="642" y="483"/>
                  </a:lnTo>
                  <a:lnTo>
                    <a:pt x="642" y="481"/>
                  </a:lnTo>
                  <a:lnTo>
                    <a:pt x="642" y="479"/>
                  </a:lnTo>
                  <a:lnTo>
                    <a:pt x="642" y="479"/>
                  </a:lnTo>
                  <a:lnTo>
                    <a:pt x="644" y="479"/>
                  </a:lnTo>
                  <a:lnTo>
                    <a:pt x="644" y="479"/>
                  </a:lnTo>
                  <a:lnTo>
                    <a:pt x="646" y="477"/>
                  </a:lnTo>
                  <a:lnTo>
                    <a:pt x="646" y="471"/>
                  </a:lnTo>
                  <a:lnTo>
                    <a:pt x="646" y="469"/>
                  </a:lnTo>
                  <a:lnTo>
                    <a:pt x="648" y="469"/>
                  </a:lnTo>
                  <a:lnTo>
                    <a:pt x="648" y="468"/>
                  </a:lnTo>
                  <a:lnTo>
                    <a:pt x="652" y="466"/>
                  </a:lnTo>
                  <a:lnTo>
                    <a:pt x="654" y="462"/>
                  </a:lnTo>
                  <a:lnTo>
                    <a:pt x="654" y="460"/>
                  </a:lnTo>
                  <a:lnTo>
                    <a:pt x="656" y="458"/>
                  </a:lnTo>
                  <a:lnTo>
                    <a:pt x="654" y="454"/>
                  </a:lnTo>
                  <a:lnTo>
                    <a:pt x="654" y="450"/>
                  </a:lnTo>
                  <a:lnTo>
                    <a:pt x="656" y="449"/>
                  </a:lnTo>
                  <a:lnTo>
                    <a:pt x="659" y="445"/>
                  </a:lnTo>
                  <a:lnTo>
                    <a:pt x="659" y="443"/>
                  </a:lnTo>
                  <a:lnTo>
                    <a:pt x="661" y="443"/>
                  </a:lnTo>
                  <a:lnTo>
                    <a:pt x="661" y="443"/>
                  </a:lnTo>
                  <a:lnTo>
                    <a:pt x="661" y="445"/>
                  </a:lnTo>
                  <a:lnTo>
                    <a:pt x="663" y="447"/>
                  </a:lnTo>
                  <a:lnTo>
                    <a:pt x="663" y="447"/>
                  </a:lnTo>
                  <a:lnTo>
                    <a:pt x="665" y="447"/>
                  </a:lnTo>
                  <a:lnTo>
                    <a:pt x="667" y="447"/>
                  </a:lnTo>
                  <a:lnTo>
                    <a:pt x="669" y="445"/>
                  </a:lnTo>
                  <a:lnTo>
                    <a:pt x="671" y="445"/>
                  </a:lnTo>
                  <a:lnTo>
                    <a:pt x="673" y="443"/>
                  </a:lnTo>
                  <a:lnTo>
                    <a:pt x="675" y="441"/>
                  </a:lnTo>
                  <a:lnTo>
                    <a:pt x="676" y="441"/>
                  </a:lnTo>
                  <a:lnTo>
                    <a:pt x="678" y="443"/>
                  </a:lnTo>
                  <a:lnTo>
                    <a:pt x="678" y="443"/>
                  </a:lnTo>
                  <a:lnTo>
                    <a:pt x="680" y="447"/>
                  </a:lnTo>
                  <a:lnTo>
                    <a:pt x="682" y="447"/>
                  </a:lnTo>
                  <a:lnTo>
                    <a:pt x="682" y="447"/>
                  </a:lnTo>
                  <a:lnTo>
                    <a:pt x="684" y="447"/>
                  </a:lnTo>
                  <a:lnTo>
                    <a:pt x="686" y="445"/>
                  </a:lnTo>
                  <a:lnTo>
                    <a:pt x="688" y="445"/>
                  </a:lnTo>
                  <a:lnTo>
                    <a:pt x="688" y="443"/>
                  </a:lnTo>
                  <a:lnTo>
                    <a:pt x="690" y="441"/>
                  </a:lnTo>
                  <a:lnTo>
                    <a:pt x="694" y="439"/>
                  </a:lnTo>
                  <a:lnTo>
                    <a:pt x="696" y="439"/>
                  </a:lnTo>
                  <a:lnTo>
                    <a:pt x="697" y="439"/>
                  </a:lnTo>
                  <a:lnTo>
                    <a:pt x="699" y="437"/>
                  </a:lnTo>
                  <a:lnTo>
                    <a:pt x="701" y="437"/>
                  </a:lnTo>
                  <a:lnTo>
                    <a:pt x="703" y="437"/>
                  </a:lnTo>
                  <a:lnTo>
                    <a:pt x="703" y="435"/>
                  </a:lnTo>
                  <a:lnTo>
                    <a:pt x="703" y="433"/>
                  </a:lnTo>
                  <a:lnTo>
                    <a:pt x="703" y="431"/>
                  </a:lnTo>
                  <a:lnTo>
                    <a:pt x="705" y="430"/>
                  </a:lnTo>
                  <a:lnTo>
                    <a:pt x="711" y="426"/>
                  </a:lnTo>
                  <a:lnTo>
                    <a:pt x="713" y="426"/>
                  </a:lnTo>
                  <a:lnTo>
                    <a:pt x="715" y="426"/>
                  </a:lnTo>
                  <a:lnTo>
                    <a:pt x="715" y="424"/>
                  </a:lnTo>
                  <a:lnTo>
                    <a:pt x="713" y="422"/>
                  </a:lnTo>
                  <a:lnTo>
                    <a:pt x="713" y="420"/>
                  </a:lnTo>
                  <a:lnTo>
                    <a:pt x="715" y="418"/>
                  </a:lnTo>
                  <a:lnTo>
                    <a:pt x="716" y="416"/>
                  </a:lnTo>
                  <a:lnTo>
                    <a:pt x="715" y="412"/>
                  </a:lnTo>
                  <a:lnTo>
                    <a:pt x="715" y="411"/>
                  </a:lnTo>
                  <a:lnTo>
                    <a:pt x="715" y="409"/>
                  </a:lnTo>
                  <a:lnTo>
                    <a:pt x="716" y="407"/>
                  </a:lnTo>
                  <a:lnTo>
                    <a:pt x="718" y="405"/>
                  </a:lnTo>
                  <a:lnTo>
                    <a:pt x="722" y="405"/>
                  </a:lnTo>
                  <a:lnTo>
                    <a:pt x="722" y="403"/>
                  </a:lnTo>
                  <a:lnTo>
                    <a:pt x="726" y="401"/>
                  </a:lnTo>
                  <a:lnTo>
                    <a:pt x="730" y="397"/>
                  </a:lnTo>
                  <a:lnTo>
                    <a:pt x="730" y="395"/>
                  </a:lnTo>
                  <a:lnTo>
                    <a:pt x="730" y="391"/>
                  </a:lnTo>
                  <a:lnTo>
                    <a:pt x="730" y="390"/>
                  </a:lnTo>
                  <a:lnTo>
                    <a:pt x="730" y="388"/>
                  </a:lnTo>
                  <a:lnTo>
                    <a:pt x="732" y="386"/>
                  </a:lnTo>
                  <a:lnTo>
                    <a:pt x="737" y="384"/>
                  </a:lnTo>
                  <a:lnTo>
                    <a:pt x="741" y="382"/>
                  </a:lnTo>
                  <a:lnTo>
                    <a:pt x="743" y="380"/>
                  </a:lnTo>
                  <a:lnTo>
                    <a:pt x="745" y="382"/>
                  </a:lnTo>
                  <a:lnTo>
                    <a:pt x="747" y="382"/>
                  </a:lnTo>
                  <a:lnTo>
                    <a:pt x="749" y="380"/>
                  </a:lnTo>
                  <a:lnTo>
                    <a:pt x="751" y="376"/>
                  </a:lnTo>
                  <a:lnTo>
                    <a:pt x="751" y="374"/>
                  </a:lnTo>
                  <a:lnTo>
                    <a:pt x="751" y="371"/>
                  </a:lnTo>
                  <a:lnTo>
                    <a:pt x="753" y="363"/>
                  </a:lnTo>
                  <a:lnTo>
                    <a:pt x="753" y="361"/>
                  </a:lnTo>
                  <a:lnTo>
                    <a:pt x="751" y="359"/>
                  </a:lnTo>
                  <a:lnTo>
                    <a:pt x="749" y="355"/>
                  </a:lnTo>
                  <a:lnTo>
                    <a:pt x="747" y="355"/>
                  </a:lnTo>
                  <a:lnTo>
                    <a:pt x="745" y="353"/>
                  </a:lnTo>
                  <a:lnTo>
                    <a:pt x="745" y="353"/>
                  </a:lnTo>
                  <a:lnTo>
                    <a:pt x="739" y="355"/>
                  </a:lnTo>
                  <a:lnTo>
                    <a:pt x="739" y="355"/>
                  </a:lnTo>
                  <a:lnTo>
                    <a:pt x="737" y="353"/>
                  </a:lnTo>
                  <a:lnTo>
                    <a:pt x="737" y="352"/>
                  </a:lnTo>
                  <a:lnTo>
                    <a:pt x="737" y="352"/>
                  </a:lnTo>
                  <a:lnTo>
                    <a:pt x="736" y="352"/>
                  </a:lnTo>
                  <a:lnTo>
                    <a:pt x="736" y="352"/>
                  </a:lnTo>
                  <a:lnTo>
                    <a:pt x="734" y="350"/>
                  </a:lnTo>
                  <a:lnTo>
                    <a:pt x="732" y="344"/>
                  </a:lnTo>
                  <a:lnTo>
                    <a:pt x="728" y="342"/>
                  </a:lnTo>
                  <a:lnTo>
                    <a:pt x="726" y="340"/>
                  </a:lnTo>
                  <a:lnTo>
                    <a:pt x="722" y="340"/>
                  </a:lnTo>
                  <a:lnTo>
                    <a:pt x="716" y="338"/>
                  </a:lnTo>
                  <a:lnTo>
                    <a:pt x="715" y="338"/>
                  </a:lnTo>
                  <a:lnTo>
                    <a:pt x="713" y="336"/>
                  </a:lnTo>
                  <a:lnTo>
                    <a:pt x="713" y="336"/>
                  </a:lnTo>
                  <a:lnTo>
                    <a:pt x="711" y="338"/>
                  </a:lnTo>
                  <a:lnTo>
                    <a:pt x="709" y="340"/>
                  </a:lnTo>
                  <a:lnTo>
                    <a:pt x="707" y="340"/>
                  </a:lnTo>
                  <a:lnTo>
                    <a:pt x="703" y="342"/>
                  </a:lnTo>
                  <a:lnTo>
                    <a:pt x="703" y="344"/>
                  </a:lnTo>
                  <a:lnTo>
                    <a:pt x="701" y="342"/>
                  </a:lnTo>
                  <a:lnTo>
                    <a:pt x="701" y="342"/>
                  </a:lnTo>
                  <a:lnTo>
                    <a:pt x="699" y="340"/>
                  </a:lnTo>
                  <a:lnTo>
                    <a:pt x="699" y="338"/>
                  </a:lnTo>
                  <a:lnTo>
                    <a:pt x="697" y="336"/>
                  </a:lnTo>
                  <a:lnTo>
                    <a:pt x="697" y="334"/>
                  </a:lnTo>
                  <a:lnTo>
                    <a:pt x="697" y="334"/>
                  </a:lnTo>
                  <a:lnTo>
                    <a:pt x="699" y="334"/>
                  </a:lnTo>
                  <a:lnTo>
                    <a:pt x="699" y="333"/>
                  </a:lnTo>
                  <a:lnTo>
                    <a:pt x="699" y="333"/>
                  </a:lnTo>
                  <a:lnTo>
                    <a:pt x="701" y="329"/>
                  </a:lnTo>
                  <a:lnTo>
                    <a:pt x="701" y="327"/>
                  </a:lnTo>
                  <a:lnTo>
                    <a:pt x="703" y="327"/>
                  </a:lnTo>
                  <a:lnTo>
                    <a:pt x="703" y="327"/>
                  </a:lnTo>
                  <a:lnTo>
                    <a:pt x="705" y="325"/>
                  </a:lnTo>
                  <a:lnTo>
                    <a:pt x="705" y="323"/>
                  </a:lnTo>
                  <a:lnTo>
                    <a:pt x="707" y="323"/>
                  </a:lnTo>
                  <a:lnTo>
                    <a:pt x="707" y="321"/>
                  </a:lnTo>
                  <a:lnTo>
                    <a:pt x="707" y="319"/>
                  </a:lnTo>
                  <a:lnTo>
                    <a:pt x="705" y="315"/>
                  </a:lnTo>
                  <a:lnTo>
                    <a:pt x="703" y="310"/>
                  </a:lnTo>
                  <a:lnTo>
                    <a:pt x="701" y="308"/>
                  </a:lnTo>
                  <a:lnTo>
                    <a:pt x="701" y="308"/>
                  </a:lnTo>
                  <a:lnTo>
                    <a:pt x="701" y="306"/>
                  </a:lnTo>
                  <a:lnTo>
                    <a:pt x="701" y="306"/>
                  </a:lnTo>
                  <a:lnTo>
                    <a:pt x="701" y="304"/>
                  </a:lnTo>
                  <a:lnTo>
                    <a:pt x="703" y="302"/>
                  </a:lnTo>
                  <a:lnTo>
                    <a:pt x="707" y="302"/>
                  </a:lnTo>
                  <a:lnTo>
                    <a:pt x="709" y="304"/>
                  </a:lnTo>
                  <a:lnTo>
                    <a:pt x="713" y="308"/>
                  </a:lnTo>
                  <a:lnTo>
                    <a:pt x="715" y="312"/>
                  </a:lnTo>
                  <a:lnTo>
                    <a:pt x="718" y="312"/>
                  </a:lnTo>
                  <a:lnTo>
                    <a:pt x="720" y="312"/>
                  </a:lnTo>
                  <a:lnTo>
                    <a:pt x="722" y="310"/>
                  </a:lnTo>
                  <a:lnTo>
                    <a:pt x="728" y="308"/>
                  </a:lnTo>
                  <a:lnTo>
                    <a:pt x="730" y="308"/>
                  </a:lnTo>
                  <a:lnTo>
                    <a:pt x="736" y="308"/>
                  </a:lnTo>
                  <a:lnTo>
                    <a:pt x="737" y="308"/>
                  </a:lnTo>
                  <a:lnTo>
                    <a:pt x="743" y="312"/>
                  </a:lnTo>
                  <a:lnTo>
                    <a:pt x="745" y="312"/>
                  </a:lnTo>
                  <a:lnTo>
                    <a:pt x="755" y="312"/>
                  </a:lnTo>
                  <a:lnTo>
                    <a:pt x="758" y="312"/>
                  </a:lnTo>
                  <a:lnTo>
                    <a:pt x="760" y="312"/>
                  </a:lnTo>
                  <a:lnTo>
                    <a:pt x="774" y="314"/>
                  </a:lnTo>
                  <a:lnTo>
                    <a:pt x="781" y="314"/>
                  </a:lnTo>
                  <a:lnTo>
                    <a:pt x="785" y="314"/>
                  </a:lnTo>
                  <a:lnTo>
                    <a:pt x="785" y="314"/>
                  </a:lnTo>
                  <a:lnTo>
                    <a:pt x="787" y="312"/>
                  </a:lnTo>
                  <a:lnTo>
                    <a:pt x="787" y="310"/>
                  </a:lnTo>
                  <a:lnTo>
                    <a:pt x="793" y="310"/>
                  </a:lnTo>
                  <a:lnTo>
                    <a:pt x="795" y="308"/>
                  </a:lnTo>
                  <a:lnTo>
                    <a:pt x="797" y="306"/>
                  </a:lnTo>
                  <a:lnTo>
                    <a:pt x="797" y="306"/>
                  </a:lnTo>
                  <a:lnTo>
                    <a:pt x="797" y="304"/>
                  </a:lnTo>
                  <a:lnTo>
                    <a:pt x="797" y="302"/>
                  </a:lnTo>
                  <a:lnTo>
                    <a:pt x="797" y="302"/>
                  </a:lnTo>
                  <a:lnTo>
                    <a:pt x="798" y="300"/>
                  </a:lnTo>
                  <a:lnTo>
                    <a:pt x="802" y="300"/>
                  </a:lnTo>
                  <a:lnTo>
                    <a:pt x="804" y="300"/>
                  </a:lnTo>
                  <a:lnTo>
                    <a:pt x="806" y="298"/>
                  </a:lnTo>
                  <a:lnTo>
                    <a:pt x="808" y="296"/>
                  </a:lnTo>
                  <a:lnTo>
                    <a:pt x="808" y="296"/>
                  </a:lnTo>
                  <a:lnTo>
                    <a:pt x="808" y="295"/>
                  </a:lnTo>
                  <a:lnTo>
                    <a:pt x="808" y="293"/>
                  </a:lnTo>
                  <a:lnTo>
                    <a:pt x="808" y="293"/>
                  </a:lnTo>
                  <a:lnTo>
                    <a:pt x="810" y="291"/>
                  </a:lnTo>
                  <a:lnTo>
                    <a:pt x="806" y="287"/>
                  </a:lnTo>
                  <a:lnTo>
                    <a:pt x="804" y="285"/>
                  </a:lnTo>
                  <a:lnTo>
                    <a:pt x="804" y="285"/>
                  </a:lnTo>
                  <a:lnTo>
                    <a:pt x="804" y="285"/>
                  </a:lnTo>
                  <a:lnTo>
                    <a:pt x="802" y="283"/>
                  </a:lnTo>
                  <a:lnTo>
                    <a:pt x="804" y="283"/>
                  </a:lnTo>
                  <a:lnTo>
                    <a:pt x="804" y="281"/>
                  </a:lnTo>
                  <a:lnTo>
                    <a:pt x="804" y="279"/>
                  </a:lnTo>
                  <a:lnTo>
                    <a:pt x="804" y="279"/>
                  </a:lnTo>
                  <a:lnTo>
                    <a:pt x="802" y="279"/>
                  </a:lnTo>
                  <a:lnTo>
                    <a:pt x="802" y="277"/>
                  </a:lnTo>
                  <a:lnTo>
                    <a:pt x="800" y="277"/>
                  </a:lnTo>
                  <a:lnTo>
                    <a:pt x="798" y="275"/>
                  </a:lnTo>
                  <a:lnTo>
                    <a:pt x="798" y="274"/>
                  </a:lnTo>
                  <a:lnTo>
                    <a:pt x="798" y="274"/>
                  </a:lnTo>
                  <a:lnTo>
                    <a:pt x="798" y="272"/>
                  </a:lnTo>
                  <a:lnTo>
                    <a:pt x="798" y="272"/>
                  </a:lnTo>
                  <a:lnTo>
                    <a:pt x="798" y="272"/>
                  </a:lnTo>
                  <a:lnTo>
                    <a:pt x="800" y="272"/>
                  </a:lnTo>
                  <a:lnTo>
                    <a:pt x="802" y="270"/>
                  </a:lnTo>
                  <a:lnTo>
                    <a:pt x="802" y="270"/>
                  </a:lnTo>
                  <a:lnTo>
                    <a:pt x="804" y="262"/>
                  </a:lnTo>
                  <a:lnTo>
                    <a:pt x="806" y="260"/>
                  </a:lnTo>
                  <a:lnTo>
                    <a:pt x="806" y="258"/>
                  </a:lnTo>
                  <a:lnTo>
                    <a:pt x="806" y="258"/>
                  </a:lnTo>
                  <a:lnTo>
                    <a:pt x="806" y="253"/>
                  </a:lnTo>
                  <a:lnTo>
                    <a:pt x="806" y="251"/>
                  </a:lnTo>
                  <a:lnTo>
                    <a:pt x="806" y="249"/>
                  </a:lnTo>
                  <a:lnTo>
                    <a:pt x="804" y="249"/>
                  </a:lnTo>
                  <a:lnTo>
                    <a:pt x="804" y="249"/>
                  </a:lnTo>
                  <a:lnTo>
                    <a:pt x="802" y="247"/>
                  </a:lnTo>
                  <a:lnTo>
                    <a:pt x="802" y="247"/>
                  </a:lnTo>
                  <a:lnTo>
                    <a:pt x="804" y="241"/>
                  </a:lnTo>
                  <a:lnTo>
                    <a:pt x="804" y="239"/>
                  </a:lnTo>
                  <a:lnTo>
                    <a:pt x="804" y="237"/>
                  </a:lnTo>
                  <a:lnTo>
                    <a:pt x="804" y="236"/>
                  </a:lnTo>
                  <a:lnTo>
                    <a:pt x="804" y="236"/>
                  </a:lnTo>
                  <a:lnTo>
                    <a:pt x="804" y="234"/>
                  </a:lnTo>
                  <a:lnTo>
                    <a:pt x="804" y="234"/>
                  </a:lnTo>
                  <a:lnTo>
                    <a:pt x="804" y="234"/>
                  </a:lnTo>
                  <a:lnTo>
                    <a:pt x="806" y="234"/>
                  </a:lnTo>
                  <a:lnTo>
                    <a:pt x="808" y="234"/>
                  </a:lnTo>
                  <a:lnTo>
                    <a:pt x="810" y="234"/>
                  </a:lnTo>
                  <a:lnTo>
                    <a:pt x="810" y="234"/>
                  </a:lnTo>
                  <a:lnTo>
                    <a:pt x="812" y="232"/>
                  </a:lnTo>
                  <a:lnTo>
                    <a:pt x="812" y="232"/>
                  </a:lnTo>
                  <a:lnTo>
                    <a:pt x="810" y="230"/>
                  </a:lnTo>
                  <a:close/>
                </a:path>
              </a:pathLst>
            </a:custGeom>
            <a:solidFill>
              <a:schemeClr val="accent6">
                <a:lumMod val="75000"/>
              </a:schemeClr>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91" name="Freeform 40">
              <a:extLst>
                <a:ext uri="{FF2B5EF4-FFF2-40B4-BE49-F238E27FC236}">
                  <a16:creationId xmlns:a16="http://schemas.microsoft.com/office/drawing/2014/main" id="{D7D6CA16-B18C-C6CB-79C0-0ABF57912F55}"/>
                </a:ext>
              </a:extLst>
            </p:cNvPr>
            <p:cNvSpPr>
              <a:spLocks/>
            </p:cNvSpPr>
            <p:nvPr/>
          </p:nvSpPr>
          <p:spPr bwMode="auto">
            <a:xfrm>
              <a:off x="2522904" y="2680707"/>
              <a:ext cx="86781" cy="79502"/>
            </a:xfrm>
            <a:custGeom>
              <a:avLst/>
              <a:gdLst>
                <a:gd name="T0" fmla="*/ 46 w 46"/>
                <a:gd name="T1" fmla="*/ 24 h 47"/>
                <a:gd name="T2" fmla="*/ 44 w 46"/>
                <a:gd name="T3" fmla="*/ 21 h 47"/>
                <a:gd name="T4" fmla="*/ 44 w 46"/>
                <a:gd name="T5" fmla="*/ 17 h 47"/>
                <a:gd name="T6" fmla="*/ 36 w 46"/>
                <a:gd name="T7" fmla="*/ 9 h 47"/>
                <a:gd name="T8" fmla="*/ 34 w 46"/>
                <a:gd name="T9" fmla="*/ 5 h 47"/>
                <a:gd name="T10" fmla="*/ 33 w 46"/>
                <a:gd name="T11" fmla="*/ 0 h 47"/>
                <a:gd name="T12" fmla="*/ 29 w 46"/>
                <a:gd name="T13" fmla="*/ 2 h 47"/>
                <a:gd name="T14" fmla="*/ 27 w 46"/>
                <a:gd name="T15" fmla="*/ 0 h 47"/>
                <a:gd name="T16" fmla="*/ 21 w 46"/>
                <a:gd name="T17" fmla="*/ 0 h 47"/>
                <a:gd name="T18" fmla="*/ 19 w 46"/>
                <a:gd name="T19" fmla="*/ 2 h 47"/>
                <a:gd name="T20" fmla="*/ 15 w 46"/>
                <a:gd name="T21" fmla="*/ 2 h 47"/>
                <a:gd name="T22" fmla="*/ 12 w 46"/>
                <a:gd name="T23" fmla="*/ 3 h 47"/>
                <a:gd name="T24" fmla="*/ 10 w 46"/>
                <a:gd name="T25" fmla="*/ 7 h 47"/>
                <a:gd name="T26" fmla="*/ 10 w 46"/>
                <a:gd name="T27" fmla="*/ 9 h 47"/>
                <a:gd name="T28" fmla="*/ 10 w 46"/>
                <a:gd name="T29" fmla="*/ 15 h 47"/>
                <a:gd name="T30" fmla="*/ 10 w 46"/>
                <a:gd name="T31" fmla="*/ 17 h 47"/>
                <a:gd name="T32" fmla="*/ 10 w 46"/>
                <a:gd name="T33" fmla="*/ 21 h 47"/>
                <a:gd name="T34" fmla="*/ 8 w 46"/>
                <a:gd name="T35" fmla="*/ 22 h 47"/>
                <a:gd name="T36" fmla="*/ 6 w 46"/>
                <a:gd name="T37" fmla="*/ 24 h 47"/>
                <a:gd name="T38" fmla="*/ 4 w 46"/>
                <a:gd name="T39" fmla="*/ 26 h 47"/>
                <a:gd name="T40" fmla="*/ 2 w 46"/>
                <a:gd name="T41" fmla="*/ 26 h 47"/>
                <a:gd name="T42" fmla="*/ 0 w 46"/>
                <a:gd name="T43" fmla="*/ 30 h 47"/>
                <a:gd name="T44" fmla="*/ 0 w 46"/>
                <a:gd name="T45" fmla="*/ 32 h 47"/>
                <a:gd name="T46" fmla="*/ 2 w 46"/>
                <a:gd name="T47" fmla="*/ 34 h 47"/>
                <a:gd name="T48" fmla="*/ 2 w 46"/>
                <a:gd name="T49" fmla="*/ 36 h 47"/>
                <a:gd name="T50" fmla="*/ 2 w 46"/>
                <a:gd name="T51" fmla="*/ 36 h 47"/>
                <a:gd name="T52" fmla="*/ 6 w 46"/>
                <a:gd name="T53" fmla="*/ 36 h 47"/>
                <a:gd name="T54" fmla="*/ 13 w 46"/>
                <a:gd name="T55" fmla="*/ 36 h 47"/>
                <a:gd name="T56" fmla="*/ 13 w 46"/>
                <a:gd name="T57" fmla="*/ 34 h 47"/>
                <a:gd name="T58" fmla="*/ 15 w 46"/>
                <a:gd name="T59" fmla="*/ 34 h 47"/>
                <a:gd name="T60" fmla="*/ 21 w 46"/>
                <a:gd name="T61" fmla="*/ 36 h 47"/>
                <a:gd name="T62" fmla="*/ 23 w 46"/>
                <a:gd name="T63" fmla="*/ 38 h 47"/>
                <a:gd name="T64" fmla="*/ 23 w 46"/>
                <a:gd name="T65" fmla="*/ 41 h 47"/>
                <a:gd name="T66" fmla="*/ 25 w 46"/>
                <a:gd name="T67" fmla="*/ 43 h 47"/>
                <a:gd name="T68" fmla="*/ 29 w 46"/>
                <a:gd name="T69" fmla="*/ 45 h 47"/>
                <a:gd name="T70" fmla="*/ 36 w 46"/>
                <a:gd name="T71" fmla="*/ 45 h 47"/>
                <a:gd name="T72" fmla="*/ 36 w 46"/>
                <a:gd name="T73" fmla="*/ 45 h 47"/>
                <a:gd name="T74" fmla="*/ 36 w 46"/>
                <a:gd name="T75" fmla="*/ 43 h 47"/>
                <a:gd name="T76" fmla="*/ 36 w 46"/>
                <a:gd name="T77" fmla="*/ 43 h 47"/>
                <a:gd name="T78" fmla="*/ 36 w 46"/>
                <a:gd name="T79" fmla="*/ 41 h 47"/>
                <a:gd name="T80" fmla="*/ 38 w 46"/>
                <a:gd name="T81" fmla="*/ 40 h 47"/>
                <a:gd name="T82" fmla="*/ 46 w 46"/>
                <a:gd name="T83" fmla="*/ 38 h 47"/>
                <a:gd name="T84" fmla="*/ 42 w 46"/>
                <a:gd name="T85" fmla="*/ 32 h 47"/>
                <a:gd name="T86" fmla="*/ 44 w 46"/>
                <a:gd name="T87" fmla="*/ 30 h 47"/>
                <a:gd name="T88" fmla="*/ 46 w 46"/>
                <a:gd name="T89" fmla="*/ 28 h 47"/>
                <a:gd name="T90" fmla="*/ 46 w 46"/>
                <a:gd name="T91" fmla="*/ 26 h 47"/>
                <a:gd name="T92" fmla="*/ 46 w 46"/>
                <a:gd name="T93" fmla="*/ 2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 h="47">
                  <a:moveTo>
                    <a:pt x="46" y="26"/>
                  </a:moveTo>
                  <a:lnTo>
                    <a:pt x="46" y="24"/>
                  </a:lnTo>
                  <a:lnTo>
                    <a:pt x="44" y="21"/>
                  </a:lnTo>
                  <a:lnTo>
                    <a:pt x="44" y="21"/>
                  </a:lnTo>
                  <a:lnTo>
                    <a:pt x="44" y="19"/>
                  </a:lnTo>
                  <a:lnTo>
                    <a:pt x="44" y="17"/>
                  </a:lnTo>
                  <a:lnTo>
                    <a:pt x="44" y="17"/>
                  </a:lnTo>
                  <a:lnTo>
                    <a:pt x="36" y="9"/>
                  </a:lnTo>
                  <a:lnTo>
                    <a:pt x="34" y="7"/>
                  </a:lnTo>
                  <a:lnTo>
                    <a:pt x="34" y="5"/>
                  </a:lnTo>
                  <a:lnTo>
                    <a:pt x="34" y="3"/>
                  </a:lnTo>
                  <a:lnTo>
                    <a:pt x="33" y="0"/>
                  </a:lnTo>
                  <a:lnTo>
                    <a:pt x="29" y="2"/>
                  </a:lnTo>
                  <a:lnTo>
                    <a:pt x="29" y="2"/>
                  </a:lnTo>
                  <a:lnTo>
                    <a:pt x="27" y="2"/>
                  </a:lnTo>
                  <a:lnTo>
                    <a:pt x="27" y="0"/>
                  </a:lnTo>
                  <a:lnTo>
                    <a:pt x="21" y="0"/>
                  </a:lnTo>
                  <a:lnTo>
                    <a:pt x="21" y="0"/>
                  </a:lnTo>
                  <a:lnTo>
                    <a:pt x="21" y="0"/>
                  </a:lnTo>
                  <a:lnTo>
                    <a:pt x="19" y="2"/>
                  </a:lnTo>
                  <a:lnTo>
                    <a:pt x="17" y="2"/>
                  </a:lnTo>
                  <a:lnTo>
                    <a:pt x="15" y="2"/>
                  </a:lnTo>
                  <a:lnTo>
                    <a:pt x="13" y="3"/>
                  </a:lnTo>
                  <a:lnTo>
                    <a:pt x="12" y="3"/>
                  </a:lnTo>
                  <a:lnTo>
                    <a:pt x="10" y="5"/>
                  </a:lnTo>
                  <a:lnTo>
                    <a:pt x="10" y="7"/>
                  </a:lnTo>
                  <a:lnTo>
                    <a:pt x="10" y="7"/>
                  </a:lnTo>
                  <a:lnTo>
                    <a:pt x="10" y="9"/>
                  </a:lnTo>
                  <a:lnTo>
                    <a:pt x="10" y="15"/>
                  </a:lnTo>
                  <a:lnTo>
                    <a:pt x="10" y="15"/>
                  </a:lnTo>
                  <a:lnTo>
                    <a:pt x="10" y="17"/>
                  </a:lnTo>
                  <a:lnTo>
                    <a:pt x="10" y="17"/>
                  </a:lnTo>
                  <a:lnTo>
                    <a:pt x="10" y="19"/>
                  </a:lnTo>
                  <a:lnTo>
                    <a:pt x="10" y="21"/>
                  </a:lnTo>
                  <a:lnTo>
                    <a:pt x="8" y="21"/>
                  </a:lnTo>
                  <a:lnTo>
                    <a:pt x="8" y="22"/>
                  </a:lnTo>
                  <a:lnTo>
                    <a:pt x="8" y="24"/>
                  </a:lnTo>
                  <a:lnTo>
                    <a:pt x="6" y="24"/>
                  </a:lnTo>
                  <a:lnTo>
                    <a:pt x="6" y="24"/>
                  </a:lnTo>
                  <a:lnTo>
                    <a:pt x="4" y="26"/>
                  </a:lnTo>
                  <a:lnTo>
                    <a:pt x="4" y="26"/>
                  </a:lnTo>
                  <a:lnTo>
                    <a:pt x="2" y="26"/>
                  </a:lnTo>
                  <a:lnTo>
                    <a:pt x="2" y="28"/>
                  </a:lnTo>
                  <a:lnTo>
                    <a:pt x="0" y="30"/>
                  </a:lnTo>
                  <a:lnTo>
                    <a:pt x="0" y="32"/>
                  </a:lnTo>
                  <a:lnTo>
                    <a:pt x="0" y="32"/>
                  </a:lnTo>
                  <a:lnTo>
                    <a:pt x="0" y="32"/>
                  </a:lnTo>
                  <a:lnTo>
                    <a:pt x="2" y="34"/>
                  </a:lnTo>
                  <a:lnTo>
                    <a:pt x="2" y="34"/>
                  </a:lnTo>
                  <a:lnTo>
                    <a:pt x="2" y="36"/>
                  </a:lnTo>
                  <a:lnTo>
                    <a:pt x="2" y="36"/>
                  </a:lnTo>
                  <a:lnTo>
                    <a:pt x="2" y="36"/>
                  </a:lnTo>
                  <a:lnTo>
                    <a:pt x="4" y="38"/>
                  </a:lnTo>
                  <a:lnTo>
                    <a:pt x="6" y="36"/>
                  </a:lnTo>
                  <a:lnTo>
                    <a:pt x="12" y="36"/>
                  </a:lnTo>
                  <a:lnTo>
                    <a:pt x="13" y="36"/>
                  </a:lnTo>
                  <a:lnTo>
                    <a:pt x="13" y="36"/>
                  </a:lnTo>
                  <a:lnTo>
                    <a:pt x="13" y="34"/>
                  </a:lnTo>
                  <a:lnTo>
                    <a:pt x="13" y="34"/>
                  </a:lnTo>
                  <a:lnTo>
                    <a:pt x="15" y="34"/>
                  </a:lnTo>
                  <a:lnTo>
                    <a:pt x="15" y="34"/>
                  </a:lnTo>
                  <a:lnTo>
                    <a:pt x="21" y="36"/>
                  </a:lnTo>
                  <a:lnTo>
                    <a:pt x="21" y="38"/>
                  </a:lnTo>
                  <a:lnTo>
                    <a:pt x="23" y="38"/>
                  </a:lnTo>
                  <a:lnTo>
                    <a:pt x="23" y="40"/>
                  </a:lnTo>
                  <a:lnTo>
                    <a:pt x="23" y="41"/>
                  </a:lnTo>
                  <a:lnTo>
                    <a:pt x="25" y="41"/>
                  </a:lnTo>
                  <a:lnTo>
                    <a:pt x="25" y="43"/>
                  </a:lnTo>
                  <a:lnTo>
                    <a:pt x="27" y="43"/>
                  </a:lnTo>
                  <a:lnTo>
                    <a:pt x="29" y="45"/>
                  </a:lnTo>
                  <a:lnTo>
                    <a:pt x="33" y="47"/>
                  </a:lnTo>
                  <a:lnTo>
                    <a:pt x="36" y="45"/>
                  </a:lnTo>
                  <a:lnTo>
                    <a:pt x="36" y="45"/>
                  </a:lnTo>
                  <a:lnTo>
                    <a:pt x="36" y="45"/>
                  </a:lnTo>
                  <a:lnTo>
                    <a:pt x="36" y="45"/>
                  </a:lnTo>
                  <a:lnTo>
                    <a:pt x="36" y="43"/>
                  </a:lnTo>
                  <a:lnTo>
                    <a:pt x="36" y="43"/>
                  </a:lnTo>
                  <a:lnTo>
                    <a:pt x="36" y="43"/>
                  </a:lnTo>
                  <a:lnTo>
                    <a:pt x="36" y="41"/>
                  </a:lnTo>
                  <a:lnTo>
                    <a:pt x="36" y="41"/>
                  </a:lnTo>
                  <a:lnTo>
                    <a:pt x="36" y="40"/>
                  </a:lnTo>
                  <a:lnTo>
                    <a:pt x="38" y="40"/>
                  </a:lnTo>
                  <a:lnTo>
                    <a:pt x="40" y="38"/>
                  </a:lnTo>
                  <a:lnTo>
                    <a:pt x="46" y="38"/>
                  </a:lnTo>
                  <a:lnTo>
                    <a:pt x="42" y="32"/>
                  </a:lnTo>
                  <a:lnTo>
                    <a:pt x="42" y="32"/>
                  </a:lnTo>
                  <a:lnTo>
                    <a:pt x="42" y="30"/>
                  </a:lnTo>
                  <a:lnTo>
                    <a:pt x="44" y="30"/>
                  </a:lnTo>
                  <a:lnTo>
                    <a:pt x="44" y="30"/>
                  </a:lnTo>
                  <a:lnTo>
                    <a:pt x="46" y="28"/>
                  </a:lnTo>
                  <a:lnTo>
                    <a:pt x="46" y="28"/>
                  </a:lnTo>
                  <a:lnTo>
                    <a:pt x="46" y="26"/>
                  </a:lnTo>
                  <a:lnTo>
                    <a:pt x="46" y="26"/>
                  </a:lnTo>
                  <a:lnTo>
                    <a:pt x="46" y="26"/>
                  </a:lnTo>
                  <a:close/>
                </a:path>
              </a:pathLst>
            </a:custGeom>
            <a:solidFill>
              <a:srgbClr val="DCDDDF"/>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92" name="Freeform 41">
              <a:extLst>
                <a:ext uri="{FF2B5EF4-FFF2-40B4-BE49-F238E27FC236}">
                  <a16:creationId xmlns:a16="http://schemas.microsoft.com/office/drawing/2014/main" id="{1941846B-B904-81B3-C8CC-80012BE545FD}"/>
                </a:ext>
              </a:extLst>
            </p:cNvPr>
            <p:cNvSpPr>
              <a:spLocks/>
            </p:cNvSpPr>
            <p:nvPr/>
          </p:nvSpPr>
          <p:spPr bwMode="auto">
            <a:xfrm>
              <a:off x="2522904" y="2680707"/>
              <a:ext cx="86781" cy="79502"/>
            </a:xfrm>
            <a:custGeom>
              <a:avLst/>
              <a:gdLst>
                <a:gd name="T0" fmla="*/ 46 w 46"/>
                <a:gd name="T1" fmla="*/ 24 h 47"/>
                <a:gd name="T2" fmla="*/ 44 w 46"/>
                <a:gd name="T3" fmla="*/ 21 h 47"/>
                <a:gd name="T4" fmla="*/ 44 w 46"/>
                <a:gd name="T5" fmla="*/ 17 h 47"/>
                <a:gd name="T6" fmla="*/ 36 w 46"/>
                <a:gd name="T7" fmla="*/ 9 h 47"/>
                <a:gd name="T8" fmla="*/ 34 w 46"/>
                <a:gd name="T9" fmla="*/ 5 h 47"/>
                <a:gd name="T10" fmla="*/ 33 w 46"/>
                <a:gd name="T11" fmla="*/ 0 h 47"/>
                <a:gd name="T12" fmla="*/ 29 w 46"/>
                <a:gd name="T13" fmla="*/ 2 h 47"/>
                <a:gd name="T14" fmla="*/ 27 w 46"/>
                <a:gd name="T15" fmla="*/ 0 h 47"/>
                <a:gd name="T16" fmla="*/ 21 w 46"/>
                <a:gd name="T17" fmla="*/ 0 h 47"/>
                <a:gd name="T18" fmla="*/ 19 w 46"/>
                <a:gd name="T19" fmla="*/ 2 h 47"/>
                <a:gd name="T20" fmla="*/ 15 w 46"/>
                <a:gd name="T21" fmla="*/ 2 h 47"/>
                <a:gd name="T22" fmla="*/ 12 w 46"/>
                <a:gd name="T23" fmla="*/ 3 h 47"/>
                <a:gd name="T24" fmla="*/ 10 w 46"/>
                <a:gd name="T25" fmla="*/ 7 h 47"/>
                <a:gd name="T26" fmla="*/ 10 w 46"/>
                <a:gd name="T27" fmla="*/ 9 h 47"/>
                <a:gd name="T28" fmla="*/ 10 w 46"/>
                <a:gd name="T29" fmla="*/ 15 h 47"/>
                <a:gd name="T30" fmla="*/ 10 w 46"/>
                <a:gd name="T31" fmla="*/ 17 h 47"/>
                <a:gd name="T32" fmla="*/ 10 w 46"/>
                <a:gd name="T33" fmla="*/ 21 h 47"/>
                <a:gd name="T34" fmla="*/ 8 w 46"/>
                <a:gd name="T35" fmla="*/ 22 h 47"/>
                <a:gd name="T36" fmla="*/ 6 w 46"/>
                <a:gd name="T37" fmla="*/ 24 h 47"/>
                <a:gd name="T38" fmla="*/ 4 w 46"/>
                <a:gd name="T39" fmla="*/ 26 h 47"/>
                <a:gd name="T40" fmla="*/ 2 w 46"/>
                <a:gd name="T41" fmla="*/ 26 h 47"/>
                <a:gd name="T42" fmla="*/ 0 w 46"/>
                <a:gd name="T43" fmla="*/ 30 h 47"/>
                <a:gd name="T44" fmla="*/ 0 w 46"/>
                <a:gd name="T45" fmla="*/ 32 h 47"/>
                <a:gd name="T46" fmla="*/ 2 w 46"/>
                <a:gd name="T47" fmla="*/ 34 h 47"/>
                <a:gd name="T48" fmla="*/ 2 w 46"/>
                <a:gd name="T49" fmla="*/ 36 h 47"/>
                <a:gd name="T50" fmla="*/ 2 w 46"/>
                <a:gd name="T51" fmla="*/ 36 h 47"/>
                <a:gd name="T52" fmla="*/ 6 w 46"/>
                <a:gd name="T53" fmla="*/ 36 h 47"/>
                <a:gd name="T54" fmla="*/ 13 w 46"/>
                <a:gd name="T55" fmla="*/ 36 h 47"/>
                <a:gd name="T56" fmla="*/ 13 w 46"/>
                <a:gd name="T57" fmla="*/ 34 h 47"/>
                <a:gd name="T58" fmla="*/ 15 w 46"/>
                <a:gd name="T59" fmla="*/ 34 h 47"/>
                <a:gd name="T60" fmla="*/ 21 w 46"/>
                <a:gd name="T61" fmla="*/ 36 h 47"/>
                <a:gd name="T62" fmla="*/ 23 w 46"/>
                <a:gd name="T63" fmla="*/ 38 h 47"/>
                <a:gd name="T64" fmla="*/ 23 w 46"/>
                <a:gd name="T65" fmla="*/ 41 h 47"/>
                <a:gd name="T66" fmla="*/ 25 w 46"/>
                <a:gd name="T67" fmla="*/ 43 h 47"/>
                <a:gd name="T68" fmla="*/ 29 w 46"/>
                <a:gd name="T69" fmla="*/ 45 h 47"/>
                <a:gd name="T70" fmla="*/ 36 w 46"/>
                <a:gd name="T71" fmla="*/ 45 h 47"/>
                <a:gd name="T72" fmla="*/ 36 w 46"/>
                <a:gd name="T73" fmla="*/ 45 h 47"/>
                <a:gd name="T74" fmla="*/ 36 w 46"/>
                <a:gd name="T75" fmla="*/ 43 h 47"/>
                <a:gd name="T76" fmla="*/ 36 w 46"/>
                <a:gd name="T77" fmla="*/ 43 h 47"/>
                <a:gd name="T78" fmla="*/ 36 w 46"/>
                <a:gd name="T79" fmla="*/ 41 h 47"/>
                <a:gd name="T80" fmla="*/ 38 w 46"/>
                <a:gd name="T81" fmla="*/ 40 h 47"/>
                <a:gd name="T82" fmla="*/ 46 w 46"/>
                <a:gd name="T83" fmla="*/ 38 h 47"/>
                <a:gd name="T84" fmla="*/ 42 w 46"/>
                <a:gd name="T85" fmla="*/ 32 h 47"/>
                <a:gd name="T86" fmla="*/ 44 w 46"/>
                <a:gd name="T87" fmla="*/ 30 h 47"/>
                <a:gd name="T88" fmla="*/ 46 w 46"/>
                <a:gd name="T89" fmla="*/ 28 h 47"/>
                <a:gd name="T90" fmla="*/ 46 w 46"/>
                <a:gd name="T91" fmla="*/ 26 h 47"/>
                <a:gd name="T92" fmla="*/ 46 w 46"/>
                <a:gd name="T93" fmla="*/ 2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 h="47">
                  <a:moveTo>
                    <a:pt x="46" y="26"/>
                  </a:moveTo>
                  <a:lnTo>
                    <a:pt x="46" y="24"/>
                  </a:lnTo>
                  <a:lnTo>
                    <a:pt x="44" y="21"/>
                  </a:lnTo>
                  <a:lnTo>
                    <a:pt x="44" y="21"/>
                  </a:lnTo>
                  <a:lnTo>
                    <a:pt x="44" y="19"/>
                  </a:lnTo>
                  <a:lnTo>
                    <a:pt x="44" y="17"/>
                  </a:lnTo>
                  <a:lnTo>
                    <a:pt x="44" y="17"/>
                  </a:lnTo>
                  <a:lnTo>
                    <a:pt x="36" y="9"/>
                  </a:lnTo>
                  <a:lnTo>
                    <a:pt x="34" y="7"/>
                  </a:lnTo>
                  <a:lnTo>
                    <a:pt x="34" y="5"/>
                  </a:lnTo>
                  <a:lnTo>
                    <a:pt x="34" y="3"/>
                  </a:lnTo>
                  <a:lnTo>
                    <a:pt x="33" y="0"/>
                  </a:lnTo>
                  <a:lnTo>
                    <a:pt x="29" y="2"/>
                  </a:lnTo>
                  <a:lnTo>
                    <a:pt x="29" y="2"/>
                  </a:lnTo>
                  <a:lnTo>
                    <a:pt x="27" y="2"/>
                  </a:lnTo>
                  <a:lnTo>
                    <a:pt x="27" y="0"/>
                  </a:lnTo>
                  <a:lnTo>
                    <a:pt x="21" y="0"/>
                  </a:lnTo>
                  <a:lnTo>
                    <a:pt x="21" y="0"/>
                  </a:lnTo>
                  <a:lnTo>
                    <a:pt x="21" y="0"/>
                  </a:lnTo>
                  <a:lnTo>
                    <a:pt x="19" y="2"/>
                  </a:lnTo>
                  <a:lnTo>
                    <a:pt x="17" y="2"/>
                  </a:lnTo>
                  <a:lnTo>
                    <a:pt x="15" y="2"/>
                  </a:lnTo>
                  <a:lnTo>
                    <a:pt x="13" y="3"/>
                  </a:lnTo>
                  <a:lnTo>
                    <a:pt x="12" y="3"/>
                  </a:lnTo>
                  <a:lnTo>
                    <a:pt x="10" y="5"/>
                  </a:lnTo>
                  <a:lnTo>
                    <a:pt x="10" y="7"/>
                  </a:lnTo>
                  <a:lnTo>
                    <a:pt x="10" y="7"/>
                  </a:lnTo>
                  <a:lnTo>
                    <a:pt x="10" y="9"/>
                  </a:lnTo>
                  <a:lnTo>
                    <a:pt x="10" y="15"/>
                  </a:lnTo>
                  <a:lnTo>
                    <a:pt x="10" y="15"/>
                  </a:lnTo>
                  <a:lnTo>
                    <a:pt x="10" y="17"/>
                  </a:lnTo>
                  <a:lnTo>
                    <a:pt x="10" y="17"/>
                  </a:lnTo>
                  <a:lnTo>
                    <a:pt x="10" y="19"/>
                  </a:lnTo>
                  <a:lnTo>
                    <a:pt x="10" y="21"/>
                  </a:lnTo>
                  <a:lnTo>
                    <a:pt x="8" y="21"/>
                  </a:lnTo>
                  <a:lnTo>
                    <a:pt x="8" y="22"/>
                  </a:lnTo>
                  <a:lnTo>
                    <a:pt x="8" y="24"/>
                  </a:lnTo>
                  <a:lnTo>
                    <a:pt x="6" y="24"/>
                  </a:lnTo>
                  <a:lnTo>
                    <a:pt x="6" y="24"/>
                  </a:lnTo>
                  <a:lnTo>
                    <a:pt x="4" y="26"/>
                  </a:lnTo>
                  <a:lnTo>
                    <a:pt x="4" y="26"/>
                  </a:lnTo>
                  <a:lnTo>
                    <a:pt x="2" y="26"/>
                  </a:lnTo>
                  <a:lnTo>
                    <a:pt x="2" y="28"/>
                  </a:lnTo>
                  <a:lnTo>
                    <a:pt x="0" y="30"/>
                  </a:lnTo>
                  <a:lnTo>
                    <a:pt x="0" y="32"/>
                  </a:lnTo>
                  <a:lnTo>
                    <a:pt x="0" y="32"/>
                  </a:lnTo>
                  <a:lnTo>
                    <a:pt x="0" y="32"/>
                  </a:lnTo>
                  <a:lnTo>
                    <a:pt x="2" y="34"/>
                  </a:lnTo>
                  <a:lnTo>
                    <a:pt x="2" y="34"/>
                  </a:lnTo>
                  <a:lnTo>
                    <a:pt x="2" y="36"/>
                  </a:lnTo>
                  <a:lnTo>
                    <a:pt x="2" y="36"/>
                  </a:lnTo>
                  <a:lnTo>
                    <a:pt x="2" y="36"/>
                  </a:lnTo>
                  <a:lnTo>
                    <a:pt x="4" y="38"/>
                  </a:lnTo>
                  <a:lnTo>
                    <a:pt x="6" y="36"/>
                  </a:lnTo>
                  <a:lnTo>
                    <a:pt x="12" y="36"/>
                  </a:lnTo>
                  <a:lnTo>
                    <a:pt x="13" y="36"/>
                  </a:lnTo>
                  <a:lnTo>
                    <a:pt x="13" y="36"/>
                  </a:lnTo>
                  <a:lnTo>
                    <a:pt x="13" y="34"/>
                  </a:lnTo>
                  <a:lnTo>
                    <a:pt x="13" y="34"/>
                  </a:lnTo>
                  <a:lnTo>
                    <a:pt x="15" y="34"/>
                  </a:lnTo>
                  <a:lnTo>
                    <a:pt x="15" y="34"/>
                  </a:lnTo>
                  <a:lnTo>
                    <a:pt x="21" y="36"/>
                  </a:lnTo>
                  <a:lnTo>
                    <a:pt x="21" y="38"/>
                  </a:lnTo>
                  <a:lnTo>
                    <a:pt x="23" y="38"/>
                  </a:lnTo>
                  <a:lnTo>
                    <a:pt x="23" y="40"/>
                  </a:lnTo>
                  <a:lnTo>
                    <a:pt x="23" y="41"/>
                  </a:lnTo>
                  <a:lnTo>
                    <a:pt x="25" y="41"/>
                  </a:lnTo>
                  <a:lnTo>
                    <a:pt x="25" y="43"/>
                  </a:lnTo>
                  <a:lnTo>
                    <a:pt x="27" y="43"/>
                  </a:lnTo>
                  <a:lnTo>
                    <a:pt x="29" y="45"/>
                  </a:lnTo>
                  <a:lnTo>
                    <a:pt x="33" y="47"/>
                  </a:lnTo>
                  <a:lnTo>
                    <a:pt x="36" y="45"/>
                  </a:lnTo>
                  <a:lnTo>
                    <a:pt x="36" y="45"/>
                  </a:lnTo>
                  <a:lnTo>
                    <a:pt x="36" y="45"/>
                  </a:lnTo>
                  <a:lnTo>
                    <a:pt x="36" y="45"/>
                  </a:lnTo>
                  <a:lnTo>
                    <a:pt x="36" y="43"/>
                  </a:lnTo>
                  <a:lnTo>
                    <a:pt x="36" y="43"/>
                  </a:lnTo>
                  <a:lnTo>
                    <a:pt x="36" y="43"/>
                  </a:lnTo>
                  <a:lnTo>
                    <a:pt x="36" y="41"/>
                  </a:lnTo>
                  <a:lnTo>
                    <a:pt x="36" y="41"/>
                  </a:lnTo>
                  <a:lnTo>
                    <a:pt x="36" y="40"/>
                  </a:lnTo>
                  <a:lnTo>
                    <a:pt x="38" y="40"/>
                  </a:lnTo>
                  <a:lnTo>
                    <a:pt x="40" y="38"/>
                  </a:lnTo>
                  <a:lnTo>
                    <a:pt x="46" y="38"/>
                  </a:lnTo>
                  <a:lnTo>
                    <a:pt x="42" y="32"/>
                  </a:lnTo>
                  <a:lnTo>
                    <a:pt x="42" y="32"/>
                  </a:lnTo>
                  <a:lnTo>
                    <a:pt x="42" y="30"/>
                  </a:lnTo>
                  <a:lnTo>
                    <a:pt x="44" y="30"/>
                  </a:lnTo>
                  <a:lnTo>
                    <a:pt x="44" y="30"/>
                  </a:lnTo>
                  <a:lnTo>
                    <a:pt x="46" y="28"/>
                  </a:lnTo>
                  <a:lnTo>
                    <a:pt x="46" y="28"/>
                  </a:lnTo>
                  <a:lnTo>
                    <a:pt x="46" y="26"/>
                  </a:lnTo>
                  <a:lnTo>
                    <a:pt x="46" y="26"/>
                  </a:lnTo>
                  <a:lnTo>
                    <a:pt x="46" y="26"/>
                  </a:lnTo>
                  <a:close/>
                </a:path>
              </a:pathLst>
            </a:custGeom>
            <a:solidFill>
              <a:srgbClr val="DCDDDF"/>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93" name="Freeform 42">
              <a:extLst>
                <a:ext uri="{FF2B5EF4-FFF2-40B4-BE49-F238E27FC236}">
                  <a16:creationId xmlns:a16="http://schemas.microsoft.com/office/drawing/2014/main" id="{8EFF6672-37F5-D1C0-0546-5D92D3942B93}"/>
                </a:ext>
              </a:extLst>
            </p:cNvPr>
            <p:cNvSpPr>
              <a:spLocks noEditPoints="1"/>
            </p:cNvSpPr>
            <p:nvPr/>
          </p:nvSpPr>
          <p:spPr bwMode="auto">
            <a:xfrm>
              <a:off x="1709808" y="5549541"/>
              <a:ext cx="264114" cy="542980"/>
            </a:xfrm>
            <a:custGeom>
              <a:avLst/>
              <a:gdLst>
                <a:gd name="T0" fmla="*/ 84 w 140"/>
                <a:gd name="T1" fmla="*/ 316 h 321"/>
                <a:gd name="T2" fmla="*/ 82 w 140"/>
                <a:gd name="T3" fmla="*/ 318 h 321"/>
                <a:gd name="T4" fmla="*/ 81 w 140"/>
                <a:gd name="T5" fmla="*/ 320 h 321"/>
                <a:gd name="T6" fmla="*/ 79 w 140"/>
                <a:gd name="T7" fmla="*/ 321 h 321"/>
                <a:gd name="T8" fmla="*/ 79 w 140"/>
                <a:gd name="T9" fmla="*/ 320 h 321"/>
                <a:gd name="T10" fmla="*/ 79 w 140"/>
                <a:gd name="T11" fmla="*/ 321 h 321"/>
                <a:gd name="T12" fmla="*/ 81 w 140"/>
                <a:gd name="T13" fmla="*/ 321 h 321"/>
                <a:gd name="T14" fmla="*/ 82 w 140"/>
                <a:gd name="T15" fmla="*/ 320 h 321"/>
                <a:gd name="T16" fmla="*/ 84 w 140"/>
                <a:gd name="T17" fmla="*/ 316 h 321"/>
                <a:gd name="T18" fmla="*/ 84 w 140"/>
                <a:gd name="T19" fmla="*/ 316 h 321"/>
                <a:gd name="T20" fmla="*/ 136 w 140"/>
                <a:gd name="T21" fmla="*/ 150 h 321"/>
                <a:gd name="T22" fmla="*/ 136 w 140"/>
                <a:gd name="T23" fmla="*/ 152 h 321"/>
                <a:gd name="T24" fmla="*/ 136 w 140"/>
                <a:gd name="T25" fmla="*/ 154 h 321"/>
                <a:gd name="T26" fmla="*/ 136 w 140"/>
                <a:gd name="T27" fmla="*/ 152 h 321"/>
                <a:gd name="T28" fmla="*/ 136 w 140"/>
                <a:gd name="T29" fmla="*/ 150 h 321"/>
                <a:gd name="T30" fmla="*/ 136 w 140"/>
                <a:gd name="T31" fmla="*/ 150 h 321"/>
                <a:gd name="T32" fmla="*/ 138 w 140"/>
                <a:gd name="T33" fmla="*/ 145 h 321"/>
                <a:gd name="T34" fmla="*/ 138 w 140"/>
                <a:gd name="T35" fmla="*/ 147 h 321"/>
                <a:gd name="T36" fmla="*/ 138 w 140"/>
                <a:gd name="T37" fmla="*/ 145 h 321"/>
                <a:gd name="T38" fmla="*/ 138 w 140"/>
                <a:gd name="T39" fmla="*/ 145 h 321"/>
                <a:gd name="T40" fmla="*/ 138 w 140"/>
                <a:gd name="T41" fmla="*/ 145 h 321"/>
                <a:gd name="T42" fmla="*/ 42 w 140"/>
                <a:gd name="T43" fmla="*/ 107 h 321"/>
                <a:gd name="T44" fmla="*/ 42 w 140"/>
                <a:gd name="T45" fmla="*/ 107 h 321"/>
                <a:gd name="T46" fmla="*/ 42 w 140"/>
                <a:gd name="T47" fmla="*/ 107 h 321"/>
                <a:gd name="T48" fmla="*/ 44 w 140"/>
                <a:gd name="T49" fmla="*/ 107 h 321"/>
                <a:gd name="T50" fmla="*/ 44 w 140"/>
                <a:gd name="T51" fmla="*/ 105 h 321"/>
                <a:gd name="T52" fmla="*/ 44 w 140"/>
                <a:gd name="T53" fmla="*/ 105 h 321"/>
                <a:gd name="T54" fmla="*/ 35 w 140"/>
                <a:gd name="T55" fmla="*/ 86 h 321"/>
                <a:gd name="T56" fmla="*/ 35 w 140"/>
                <a:gd name="T57" fmla="*/ 86 h 321"/>
                <a:gd name="T58" fmla="*/ 35 w 140"/>
                <a:gd name="T59" fmla="*/ 86 h 321"/>
                <a:gd name="T60" fmla="*/ 35 w 140"/>
                <a:gd name="T61" fmla="*/ 86 h 321"/>
                <a:gd name="T62" fmla="*/ 138 w 140"/>
                <a:gd name="T63" fmla="*/ 82 h 321"/>
                <a:gd name="T64" fmla="*/ 138 w 140"/>
                <a:gd name="T65" fmla="*/ 82 h 321"/>
                <a:gd name="T66" fmla="*/ 140 w 140"/>
                <a:gd name="T67" fmla="*/ 82 h 321"/>
                <a:gd name="T68" fmla="*/ 140 w 140"/>
                <a:gd name="T69" fmla="*/ 82 h 321"/>
                <a:gd name="T70" fmla="*/ 0 w 140"/>
                <a:gd name="T71" fmla="*/ 78 h 321"/>
                <a:gd name="T72" fmla="*/ 0 w 140"/>
                <a:gd name="T73" fmla="*/ 82 h 321"/>
                <a:gd name="T74" fmla="*/ 2 w 140"/>
                <a:gd name="T75" fmla="*/ 80 h 321"/>
                <a:gd name="T76" fmla="*/ 2 w 140"/>
                <a:gd name="T77" fmla="*/ 76 h 321"/>
                <a:gd name="T78" fmla="*/ 2 w 140"/>
                <a:gd name="T79" fmla="*/ 78 h 321"/>
                <a:gd name="T80" fmla="*/ 52 w 140"/>
                <a:gd name="T81" fmla="*/ 55 h 321"/>
                <a:gd name="T82" fmla="*/ 54 w 140"/>
                <a:gd name="T83" fmla="*/ 55 h 321"/>
                <a:gd name="T84" fmla="*/ 54 w 140"/>
                <a:gd name="T85" fmla="*/ 55 h 321"/>
                <a:gd name="T86" fmla="*/ 54 w 140"/>
                <a:gd name="T87" fmla="*/ 53 h 321"/>
                <a:gd name="T88" fmla="*/ 56 w 140"/>
                <a:gd name="T89" fmla="*/ 44 h 321"/>
                <a:gd name="T90" fmla="*/ 56 w 140"/>
                <a:gd name="T91" fmla="*/ 46 h 321"/>
                <a:gd name="T92" fmla="*/ 56 w 140"/>
                <a:gd name="T93" fmla="*/ 48 h 321"/>
                <a:gd name="T94" fmla="*/ 58 w 140"/>
                <a:gd name="T95" fmla="*/ 46 h 321"/>
                <a:gd name="T96" fmla="*/ 58 w 140"/>
                <a:gd name="T97" fmla="*/ 42 h 321"/>
                <a:gd name="T98" fmla="*/ 58 w 140"/>
                <a:gd name="T99" fmla="*/ 42 h 321"/>
                <a:gd name="T100" fmla="*/ 58 w 140"/>
                <a:gd name="T101" fmla="*/ 40 h 321"/>
                <a:gd name="T102" fmla="*/ 56 w 140"/>
                <a:gd name="T103" fmla="*/ 44 h 321"/>
                <a:gd name="T104" fmla="*/ 77 w 140"/>
                <a:gd name="T105" fmla="*/ 19 h 321"/>
                <a:gd name="T106" fmla="*/ 77 w 140"/>
                <a:gd name="T107" fmla="*/ 19 h 321"/>
                <a:gd name="T108" fmla="*/ 79 w 140"/>
                <a:gd name="T109" fmla="*/ 17 h 321"/>
                <a:gd name="T110" fmla="*/ 77 w 140"/>
                <a:gd name="T111" fmla="*/ 19 h 321"/>
                <a:gd name="T112" fmla="*/ 48 w 140"/>
                <a:gd name="T113" fmla="*/ 0 h 321"/>
                <a:gd name="T114" fmla="*/ 50 w 140"/>
                <a:gd name="T115" fmla="*/ 0 h 321"/>
                <a:gd name="T116" fmla="*/ 50 w 140"/>
                <a:gd name="T117" fmla="*/ 0 h 321"/>
                <a:gd name="T118" fmla="*/ 50 w 140"/>
                <a:gd name="T119" fmla="*/ 0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 h="321">
                  <a:moveTo>
                    <a:pt x="84" y="316"/>
                  </a:moveTo>
                  <a:lnTo>
                    <a:pt x="84" y="316"/>
                  </a:lnTo>
                  <a:lnTo>
                    <a:pt x="84" y="316"/>
                  </a:lnTo>
                  <a:lnTo>
                    <a:pt x="82" y="318"/>
                  </a:lnTo>
                  <a:lnTo>
                    <a:pt x="82" y="320"/>
                  </a:lnTo>
                  <a:lnTo>
                    <a:pt x="81" y="320"/>
                  </a:lnTo>
                  <a:lnTo>
                    <a:pt x="79" y="321"/>
                  </a:lnTo>
                  <a:lnTo>
                    <a:pt x="79" y="321"/>
                  </a:lnTo>
                  <a:lnTo>
                    <a:pt x="79" y="320"/>
                  </a:lnTo>
                  <a:lnTo>
                    <a:pt x="79" y="320"/>
                  </a:lnTo>
                  <a:lnTo>
                    <a:pt x="79" y="320"/>
                  </a:lnTo>
                  <a:lnTo>
                    <a:pt x="79" y="321"/>
                  </a:lnTo>
                  <a:lnTo>
                    <a:pt x="81" y="321"/>
                  </a:lnTo>
                  <a:lnTo>
                    <a:pt x="81" y="321"/>
                  </a:lnTo>
                  <a:lnTo>
                    <a:pt x="82" y="321"/>
                  </a:lnTo>
                  <a:lnTo>
                    <a:pt x="82" y="320"/>
                  </a:lnTo>
                  <a:lnTo>
                    <a:pt x="84" y="316"/>
                  </a:lnTo>
                  <a:lnTo>
                    <a:pt x="84" y="316"/>
                  </a:lnTo>
                  <a:lnTo>
                    <a:pt x="84" y="316"/>
                  </a:lnTo>
                  <a:lnTo>
                    <a:pt x="84" y="316"/>
                  </a:lnTo>
                  <a:close/>
                  <a:moveTo>
                    <a:pt x="136" y="150"/>
                  </a:moveTo>
                  <a:lnTo>
                    <a:pt x="136" y="150"/>
                  </a:lnTo>
                  <a:lnTo>
                    <a:pt x="136" y="150"/>
                  </a:lnTo>
                  <a:lnTo>
                    <a:pt x="136" y="152"/>
                  </a:lnTo>
                  <a:lnTo>
                    <a:pt x="136" y="152"/>
                  </a:lnTo>
                  <a:lnTo>
                    <a:pt x="136" y="154"/>
                  </a:lnTo>
                  <a:lnTo>
                    <a:pt x="136" y="152"/>
                  </a:lnTo>
                  <a:lnTo>
                    <a:pt x="136" y="152"/>
                  </a:lnTo>
                  <a:lnTo>
                    <a:pt x="136" y="152"/>
                  </a:lnTo>
                  <a:lnTo>
                    <a:pt x="136" y="150"/>
                  </a:lnTo>
                  <a:lnTo>
                    <a:pt x="136" y="150"/>
                  </a:lnTo>
                  <a:lnTo>
                    <a:pt x="136" y="150"/>
                  </a:lnTo>
                  <a:close/>
                  <a:moveTo>
                    <a:pt x="138" y="145"/>
                  </a:moveTo>
                  <a:lnTo>
                    <a:pt x="138" y="145"/>
                  </a:lnTo>
                  <a:lnTo>
                    <a:pt x="138" y="147"/>
                  </a:lnTo>
                  <a:lnTo>
                    <a:pt x="138" y="147"/>
                  </a:lnTo>
                  <a:lnTo>
                    <a:pt x="138" y="147"/>
                  </a:lnTo>
                  <a:lnTo>
                    <a:pt x="138" y="145"/>
                  </a:lnTo>
                  <a:lnTo>
                    <a:pt x="138" y="145"/>
                  </a:lnTo>
                  <a:lnTo>
                    <a:pt x="138" y="145"/>
                  </a:lnTo>
                  <a:lnTo>
                    <a:pt x="138" y="145"/>
                  </a:lnTo>
                  <a:lnTo>
                    <a:pt x="138" y="145"/>
                  </a:lnTo>
                  <a:close/>
                  <a:moveTo>
                    <a:pt x="44" y="105"/>
                  </a:moveTo>
                  <a:lnTo>
                    <a:pt x="42" y="107"/>
                  </a:lnTo>
                  <a:lnTo>
                    <a:pt x="42" y="107"/>
                  </a:lnTo>
                  <a:lnTo>
                    <a:pt x="42" y="107"/>
                  </a:lnTo>
                  <a:lnTo>
                    <a:pt x="42" y="107"/>
                  </a:lnTo>
                  <a:lnTo>
                    <a:pt x="42" y="107"/>
                  </a:lnTo>
                  <a:lnTo>
                    <a:pt x="44" y="107"/>
                  </a:lnTo>
                  <a:lnTo>
                    <a:pt x="44" y="107"/>
                  </a:lnTo>
                  <a:lnTo>
                    <a:pt x="44" y="105"/>
                  </a:lnTo>
                  <a:lnTo>
                    <a:pt x="44" y="105"/>
                  </a:lnTo>
                  <a:lnTo>
                    <a:pt x="44" y="105"/>
                  </a:lnTo>
                  <a:lnTo>
                    <a:pt x="44" y="105"/>
                  </a:lnTo>
                  <a:lnTo>
                    <a:pt x="44" y="105"/>
                  </a:lnTo>
                  <a:close/>
                  <a:moveTo>
                    <a:pt x="35" y="86"/>
                  </a:moveTo>
                  <a:lnTo>
                    <a:pt x="35" y="86"/>
                  </a:lnTo>
                  <a:lnTo>
                    <a:pt x="35" y="86"/>
                  </a:lnTo>
                  <a:lnTo>
                    <a:pt x="35" y="86"/>
                  </a:lnTo>
                  <a:lnTo>
                    <a:pt x="35" y="86"/>
                  </a:lnTo>
                  <a:lnTo>
                    <a:pt x="35" y="86"/>
                  </a:lnTo>
                  <a:lnTo>
                    <a:pt x="35" y="86"/>
                  </a:lnTo>
                  <a:close/>
                  <a:moveTo>
                    <a:pt x="140" y="82"/>
                  </a:moveTo>
                  <a:lnTo>
                    <a:pt x="138" y="82"/>
                  </a:lnTo>
                  <a:lnTo>
                    <a:pt x="138" y="82"/>
                  </a:lnTo>
                  <a:lnTo>
                    <a:pt x="138" y="82"/>
                  </a:lnTo>
                  <a:lnTo>
                    <a:pt x="140" y="82"/>
                  </a:lnTo>
                  <a:lnTo>
                    <a:pt x="140" y="82"/>
                  </a:lnTo>
                  <a:lnTo>
                    <a:pt x="140" y="82"/>
                  </a:lnTo>
                  <a:lnTo>
                    <a:pt x="140" y="82"/>
                  </a:lnTo>
                  <a:close/>
                  <a:moveTo>
                    <a:pt x="2" y="78"/>
                  </a:moveTo>
                  <a:lnTo>
                    <a:pt x="0" y="78"/>
                  </a:lnTo>
                  <a:lnTo>
                    <a:pt x="0" y="80"/>
                  </a:lnTo>
                  <a:lnTo>
                    <a:pt x="0" y="82"/>
                  </a:lnTo>
                  <a:lnTo>
                    <a:pt x="0" y="84"/>
                  </a:lnTo>
                  <a:lnTo>
                    <a:pt x="2" y="80"/>
                  </a:lnTo>
                  <a:lnTo>
                    <a:pt x="2" y="78"/>
                  </a:lnTo>
                  <a:lnTo>
                    <a:pt x="2" y="76"/>
                  </a:lnTo>
                  <a:lnTo>
                    <a:pt x="2" y="76"/>
                  </a:lnTo>
                  <a:lnTo>
                    <a:pt x="2" y="78"/>
                  </a:lnTo>
                  <a:close/>
                  <a:moveTo>
                    <a:pt x="52" y="53"/>
                  </a:moveTo>
                  <a:lnTo>
                    <a:pt x="52" y="55"/>
                  </a:lnTo>
                  <a:lnTo>
                    <a:pt x="52" y="55"/>
                  </a:lnTo>
                  <a:lnTo>
                    <a:pt x="54" y="55"/>
                  </a:lnTo>
                  <a:lnTo>
                    <a:pt x="54" y="55"/>
                  </a:lnTo>
                  <a:lnTo>
                    <a:pt x="54" y="55"/>
                  </a:lnTo>
                  <a:lnTo>
                    <a:pt x="54" y="53"/>
                  </a:lnTo>
                  <a:lnTo>
                    <a:pt x="54" y="53"/>
                  </a:lnTo>
                  <a:lnTo>
                    <a:pt x="52" y="53"/>
                  </a:lnTo>
                  <a:close/>
                  <a:moveTo>
                    <a:pt x="56" y="44"/>
                  </a:moveTo>
                  <a:lnTo>
                    <a:pt x="56" y="46"/>
                  </a:lnTo>
                  <a:lnTo>
                    <a:pt x="56" y="46"/>
                  </a:lnTo>
                  <a:lnTo>
                    <a:pt x="56" y="46"/>
                  </a:lnTo>
                  <a:lnTo>
                    <a:pt x="56" y="48"/>
                  </a:lnTo>
                  <a:lnTo>
                    <a:pt x="56" y="48"/>
                  </a:lnTo>
                  <a:lnTo>
                    <a:pt x="58" y="46"/>
                  </a:lnTo>
                  <a:lnTo>
                    <a:pt x="58" y="44"/>
                  </a:lnTo>
                  <a:lnTo>
                    <a:pt x="58" y="42"/>
                  </a:lnTo>
                  <a:lnTo>
                    <a:pt x="58" y="42"/>
                  </a:lnTo>
                  <a:lnTo>
                    <a:pt x="58" y="42"/>
                  </a:lnTo>
                  <a:lnTo>
                    <a:pt x="58" y="42"/>
                  </a:lnTo>
                  <a:lnTo>
                    <a:pt x="58" y="40"/>
                  </a:lnTo>
                  <a:lnTo>
                    <a:pt x="58" y="40"/>
                  </a:lnTo>
                  <a:lnTo>
                    <a:pt x="56" y="44"/>
                  </a:lnTo>
                  <a:close/>
                  <a:moveTo>
                    <a:pt x="77" y="19"/>
                  </a:moveTo>
                  <a:lnTo>
                    <a:pt x="77" y="19"/>
                  </a:lnTo>
                  <a:lnTo>
                    <a:pt x="77" y="21"/>
                  </a:lnTo>
                  <a:lnTo>
                    <a:pt x="77" y="19"/>
                  </a:lnTo>
                  <a:lnTo>
                    <a:pt x="77" y="19"/>
                  </a:lnTo>
                  <a:lnTo>
                    <a:pt x="79" y="17"/>
                  </a:lnTo>
                  <a:lnTo>
                    <a:pt x="77" y="17"/>
                  </a:lnTo>
                  <a:lnTo>
                    <a:pt x="77" y="19"/>
                  </a:lnTo>
                  <a:close/>
                  <a:moveTo>
                    <a:pt x="50" y="0"/>
                  </a:moveTo>
                  <a:lnTo>
                    <a:pt x="48" y="0"/>
                  </a:lnTo>
                  <a:lnTo>
                    <a:pt x="48" y="0"/>
                  </a:lnTo>
                  <a:lnTo>
                    <a:pt x="50" y="0"/>
                  </a:lnTo>
                  <a:lnTo>
                    <a:pt x="50" y="0"/>
                  </a:lnTo>
                  <a:lnTo>
                    <a:pt x="50" y="0"/>
                  </a:lnTo>
                  <a:lnTo>
                    <a:pt x="50" y="0"/>
                  </a:lnTo>
                  <a:lnTo>
                    <a:pt x="50" y="0"/>
                  </a:lnTo>
                  <a:lnTo>
                    <a:pt x="50" y="0"/>
                  </a:lnTo>
                  <a:close/>
                </a:path>
              </a:pathLst>
            </a:custGeom>
            <a:solidFill>
              <a:srgbClr val="FCD4C7"/>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94" name="Freeform 43">
              <a:extLst>
                <a:ext uri="{FF2B5EF4-FFF2-40B4-BE49-F238E27FC236}">
                  <a16:creationId xmlns:a16="http://schemas.microsoft.com/office/drawing/2014/main" id="{84937E37-E6EF-FF63-E2A4-094361EA773B}"/>
                </a:ext>
              </a:extLst>
            </p:cNvPr>
            <p:cNvSpPr>
              <a:spLocks noEditPoints="1"/>
            </p:cNvSpPr>
            <p:nvPr/>
          </p:nvSpPr>
          <p:spPr bwMode="auto">
            <a:xfrm>
              <a:off x="1709808" y="5549541"/>
              <a:ext cx="264114" cy="542980"/>
            </a:xfrm>
            <a:custGeom>
              <a:avLst/>
              <a:gdLst>
                <a:gd name="T0" fmla="*/ 84 w 140"/>
                <a:gd name="T1" fmla="*/ 316 h 321"/>
                <a:gd name="T2" fmla="*/ 82 w 140"/>
                <a:gd name="T3" fmla="*/ 318 h 321"/>
                <a:gd name="T4" fmla="*/ 81 w 140"/>
                <a:gd name="T5" fmla="*/ 320 h 321"/>
                <a:gd name="T6" fmla="*/ 79 w 140"/>
                <a:gd name="T7" fmla="*/ 321 h 321"/>
                <a:gd name="T8" fmla="*/ 79 w 140"/>
                <a:gd name="T9" fmla="*/ 320 h 321"/>
                <a:gd name="T10" fmla="*/ 79 w 140"/>
                <a:gd name="T11" fmla="*/ 321 h 321"/>
                <a:gd name="T12" fmla="*/ 81 w 140"/>
                <a:gd name="T13" fmla="*/ 321 h 321"/>
                <a:gd name="T14" fmla="*/ 82 w 140"/>
                <a:gd name="T15" fmla="*/ 320 h 321"/>
                <a:gd name="T16" fmla="*/ 84 w 140"/>
                <a:gd name="T17" fmla="*/ 316 h 321"/>
                <a:gd name="T18" fmla="*/ 84 w 140"/>
                <a:gd name="T19" fmla="*/ 316 h 321"/>
                <a:gd name="T20" fmla="*/ 136 w 140"/>
                <a:gd name="T21" fmla="*/ 150 h 321"/>
                <a:gd name="T22" fmla="*/ 136 w 140"/>
                <a:gd name="T23" fmla="*/ 152 h 321"/>
                <a:gd name="T24" fmla="*/ 136 w 140"/>
                <a:gd name="T25" fmla="*/ 154 h 321"/>
                <a:gd name="T26" fmla="*/ 136 w 140"/>
                <a:gd name="T27" fmla="*/ 152 h 321"/>
                <a:gd name="T28" fmla="*/ 136 w 140"/>
                <a:gd name="T29" fmla="*/ 150 h 321"/>
                <a:gd name="T30" fmla="*/ 136 w 140"/>
                <a:gd name="T31" fmla="*/ 150 h 321"/>
                <a:gd name="T32" fmla="*/ 138 w 140"/>
                <a:gd name="T33" fmla="*/ 145 h 321"/>
                <a:gd name="T34" fmla="*/ 138 w 140"/>
                <a:gd name="T35" fmla="*/ 147 h 321"/>
                <a:gd name="T36" fmla="*/ 138 w 140"/>
                <a:gd name="T37" fmla="*/ 145 h 321"/>
                <a:gd name="T38" fmla="*/ 138 w 140"/>
                <a:gd name="T39" fmla="*/ 145 h 321"/>
                <a:gd name="T40" fmla="*/ 138 w 140"/>
                <a:gd name="T41" fmla="*/ 145 h 321"/>
                <a:gd name="T42" fmla="*/ 42 w 140"/>
                <a:gd name="T43" fmla="*/ 107 h 321"/>
                <a:gd name="T44" fmla="*/ 42 w 140"/>
                <a:gd name="T45" fmla="*/ 107 h 321"/>
                <a:gd name="T46" fmla="*/ 42 w 140"/>
                <a:gd name="T47" fmla="*/ 107 h 321"/>
                <a:gd name="T48" fmla="*/ 44 w 140"/>
                <a:gd name="T49" fmla="*/ 107 h 321"/>
                <a:gd name="T50" fmla="*/ 44 w 140"/>
                <a:gd name="T51" fmla="*/ 105 h 321"/>
                <a:gd name="T52" fmla="*/ 44 w 140"/>
                <a:gd name="T53" fmla="*/ 105 h 321"/>
                <a:gd name="T54" fmla="*/ 35 w 140"/>
                <a:gd name="T55" fmla="*/ 86 h 321"/>
                <a:gd name="T56" fmla="*/ 35 w 140"/>
                <a:gd name="T57" fmla="*/ 86 h 321"/>
                <a:gd name="T58" fmla="*/ 35 w 140"/>
                <a:gd name="T59" fmla="*/ 86 h 321"/>
                <a:gd name="T60" fmla="*/ 35 w 140"/>
                <a:gd name="T61" fmla="*/ 86 h 321"/>
                <a:gd name="T62" fmla="*/ 138 w 140"/>
                <a:gd name="T63" fmla="*/ 82 h 321"/>
                <a:gd name="T64" fmla="*/ 138 w 140"/>
                <a:gd name="T65" fmla="*/ 82 h 321"/>
                <a:gd name="T66" fmla="*/ 140 w 140"/>
                <a:gd name="T67" fmla="*/ 82 h 321"/>
                <a:gd name="T68" fmla="*/ 140 w 140"/>
                <a:gd name="T69" fmla="*/ 82 h 321"/>
                <a:gd name="T70" fmla="*/ 0 w 140"/>
                <a:gd name="T71" fmla="*/ 78 h 321"/>
                <a:gd name="T72" fmla="*/ 0 w 140"/>
                <a:gd name="T73" fmla="*/ 82 h 321"/>
                <a:gd name="T74" fmla="*/ 2 w 140"/>
                <a:gd name="T75" fmla="*/ 80 h 321"/>
                <a:gd name="T76" fmla="*/ 2 w 140"/>
                <a:gd name="T77" fmla="*/ 76 h 321"/>
                <a:gd name="T78" fmla="*/ 2 w 140"/>
                <a:gd name="T79" fmla="*/ 78 h 321"/>
                <a:gd name="T80" fmla="*/ 52 w 140"/>
                <a:gd name="T81" fmla="*/ 55 h 321"/>
                <a:gd name="T82" fmla="*/ 54 w 140"/>
                <a:gd name="T83" fmla="*/ 55 h 321"/>
                <a:gd name="T84" fmla="*/ 54 w 140"/>
                <a:gd name="T85" fmla="*/ 55 h 321"/>
                <a:gd name="T86" fmla="*/ 54 w 140"/>
                <a:gd name="T87" fmla="*/ 53 h 321"/>
                <a:gd name="T88" fmla="*/ 56 w 140"/>
                <a:gd name="T89" fmla="*/ 44 h 321"/>
                <a:gd name="T90" fmla="*/ 56 w 140"/>
                <a:gd name="T91" fmla="*/ 46 h 321"/>
                <a:gd name="T92" fmla="*/ 56 w 140"/>
                <a:gd name="T93" fmla="*/ 48 h 321"/>
                <a:gd name="T94" fmla="*/ 58 w 140"/>
                <a:gd name="T95" fmla="*/ 46 h 321"/>
                <a:gd name="T96" fmla="*/ 58 w 140"/>
                <a:gd name="T97" fmla="*/ 42 h 321"/>
                <a:gd name="T98" fmla="*/ 58 w 140"/>
                <a:gd name="T99" fmla="*/ 42 h 321"/>
                <a:gd name="T100" fmla="*/ 58 w 140"/>
                <a:gd name="T101" fmla="*/ 40 h 321"/>
                <a:gd name="T102" fmla="*/ 56 w 140"/>
                <a:gd name="T103" fmla="*/ 44 h 321"/>
                <a:gd name="T104" fmla="*/ 77 w 140"/>
                <a:gd name="T105" fmla="*/ 19 h 321"/>
                <a:gd name="T106" fmla="*/ 77 w 140"/>
                <a:gd name="T107" fmla="*/ 19 h 321"/>
                <a:gd name="T108" fmla="*/ 79 w 140"/>
                <a:gd name="T109" fmla="*/ 17 h 321"/>
                <a:gd name="T110" fmla="*/ 77 w 140"/>
                <a:gd name="T111" fmla="*/ 19 h 321"/>
                <a:gd name="T112" fmla="*/ 48 w 140"/>
                <a:gd name="T113" fmla="*/ 0 h 321"/>
                <a:gd name="T114" fmla="*/ 50 w 140"/>
                <a:gd name="T115" fmla="*/ 0 h 321"/>
                <a:gd name="T116" fmla="*/ 50 w 140"/>
                <a:gd name="T117" fmla="*/ 0 h 321"/>
                <a:gd name="T118" fmla="*/ 50 w 140"/>
                <a:gd name="T119" fmla="*/ 0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 h="321">
                  <a:moveTo>
                    <a:pt x="84" y="316"/>
                  </a:moveTo>
                  <a:lnTo>
                    <a:pt x="84" y="316"/>
                  </a:lnTo>
                  <a:lnTo>
                    <a:pt x="84" y="316"/>
                  </a:lnTo>
                  <a:lnTo>
                    <a:pt x="82" y="318"/>
                  </a:lnTo>
                  <a:lnTo>
                    <a:pt x="82" y="320"/>
                  </a:lnTo>
                  <a:lnTo>
                    <a:pt x="81" y="320"/>
                  </a:lnTo>
                  <a:lnTo>
                    <a:pt x="79" y="321"/>
                  </a:lnTo>
                  <a:lnTo>
                    <a:pt x="79" y="321"/>
                  </a:lnTo>
                  <a:lnTo>
                    <a:pt x="79" y="320"/>
                  </a:lnTo>
                  <a:lnTo>
                    <a:pt x="79" y="320"/>
                  </a:lnTo>
                  <a:lnTo>
                    <a:pt x="79" y="320"/>
                  </a:lnTo>
                  <a:lnTo>
                    <a:pt x="79" y="321"/>
                  </a:lnTo>
                  <a:lnTo>
                    <a:pt x="81" y="321"/>
                  </a:lnTo>
                  <a:lnTo>
                    <a:pt x="81" y="321"/>
                  </a:lnTo>
                  <a:lnTo>
                    <a:pt x="82" y="321"/>
                  </a:lnTo>
                  <a:lnTo>
                    <a:pt x="82" y="320"/>
                  </a:lnTo>
                  <a:lnTo>
                    <a:pt x="84" y="316"/>
                  </a:lnTo>
                  <a:lnTo>
                    <a:pt x="84" y="316"/>
                  </a:lnTo>
                  <a:lnTo>
                    <a:pt x="84" y="316"/>
                  </a:lnTo>
                  <a:lnTo>
                    <a:pt x="84" y="316"/>
                  </a:lnTo>
                  <a:close/>
                  <a:moveTo>
                    <a:pt x="136" y="150"/>
                  </a:moveTo>
                  <a:lnTo>
                    <a:pt x="136" y="150"/>
                  </a:lnTo>
                  <a:lnTo>
                    <a:pt x="136" y="150"/>
                  </a:lnTo>
                  <a:lnTo>
                    <a:pt x="136" y="152"/>
                  </a:lnTo>
                  <a:lnTo>
                    <a:pt x="136" y="152"/>
                  </a:lnTo>
                  <a:lnTo>
                    <a:pt x="136" y="154"/>
                  </a:lnTo>
                  <a:lnTo>
                    <a:pt x="136" y="152"/>
                  </a:lnTo>
                  <a:lnTo>
                    <a:pt x="136" y="152"/>
                  </a:lnTo>
                  <a:lnTo>
                    <a:pt x="136" y="152"/>
                  </a:lnTo>
                  <a:lnTo>
                    <a:pt x="136" y="150"/>
                  </a:lnTo>
                  <a:lnTo>
                    <a:pt x="136" y="150"/>
                  </a:lnTo>
                  <a:lnTo>
                    <a:pt x="136" y="150"/>
                  </a:lnTo>
                  <a:close/>
                  <a:moveTo>
                    <a:pt x="138" y="145"/>
                  </a:moveTo>
                  <a:lnTo>
                    <a:pt x="138" y="145"/>
                  </a:lnTo>
                  <a:lnTo>
                    <a:pt x="138" y="147"/>
                  </a:lnTo>
                  <a:lnTo>
                    <a:pt x="138" y="147"/>
                  </a:lnTo>
                  <a:lnTo>
                    <a:pt x="138" y="147"/>
                  </a:lnTo>
                  <a:lnTo>
                    <a:pt x="138" y="145"/>
                  </a:lnTo>
                  <a:lnTo>
                    <a:pt x="138" y="145"/>
                  </a:lnTo>
                  <a:lnTo>
                    <a:pt x="138" y="145"/>
                  </a:lnTo>
                  <a:lnTo>
                    <a:pt x="138" y="145"/>
                  </a:lnTo>
                  <a:lnTo>
                    <a:pt x="138" y="145"/>
                  </a:lnTo>
                  <a:close/>
                  <a:moveTo>
                    <a:pt x="44" y="105"/>
                  </a:moveTo>
                  <a:lnTo>
                    <a:pt x="42" y="107"/>
                  </a:lnTo>
                  <a:lnTo>
                    <a:pt x="42" y="107"/>
                  </a:lnTo>
                  <a:lnTo>
                    <a:pt x="42" y="107"/>
                  </a:lnTo>
                  <a:lnTo>
                    <a:pt x="42" y="107"/>
                  </a:lnTo>
                  <a:lnTo>
                    <a:pt x="42" y="107"/>
                  </a:lnTo>
                  <a:lnTo>
                    <a:pt x="44" y="107"/>
                  </a:lnTo>
                  <a:lnTo>
                    <a:pt x="44" y="107"/>
                  </a:lnTo>
                  <a:lnTo>
                    <a:pt x="44" y="105"/>
                  </a:lnTo>
                  <a:lnTo>
                    <a:pt x="44" y="105"/>
                  </a:lnTo>
                  <a:lnTo>
                    <a:pt x="44" y="105"/>
                  </a:lnTo>
                  <a:lnTo>
                    <a:pt x="44" y="105"/>
                  </a:lnTo>
                  <a:lnTo>
                    <a:pt x="44" y="105"/>
                  </a:lnTo>
                  <a:close/>
                  <a:moveTo>
                    <a:pt x="35" y="86"/>
                  </a:moveTo>
                  <a:lnTo>
                    <a:pt x="35" y="86"/>
                  </a:lnTo>
                  <a:lnTo>
                    <a:pt x="35" y="86"/>
                  </a:lnTo>
                  <a:lnTo>
                    <a:pt x="35" y="86"/>
                  </a:lnTo>
                  <a:lnTo>
                    <a:pt x="35" y="86"/>
                  </a:lnTo>
                  <a:lnTo>
                    <a:pt x="35" y="86"/>
                  </a:lnTo>
                  <a:lnTo>
                    <a:pt x="35" y="86"/>
                  </a:lnTo>
                  <a:close/>
                  <a:moveTo>
                    <a:pt x="140" y="82"/>
                  </a:moveTo>
                  <a:lnTo>
                    <a:pt x="138" y="82"/>
                  </a:lnTo>
                  <a:lnTo>
                    <a:pt x="138" y="82"/>
                  </a:lnTo>
                  <a:lnTo>
                    <a:pt x="138" y="82"/>
                  </a:lnTo>
                  <a:lnTo>
                    <a:pt x="140" y="82"/>
                  </a:lnTo>
                  <a:lnTo>
                    <a:pt x="140" y="82"/>
                  </a:lnTo>
                  <a:lnTo>
                    <a:pt x="140" y="82"/>
                  </a:lnTo>
                  <a:lnTo>
                    <a:pt x="140" y="82"/>
                  </a:lnTo>
                  <a:close/>
                  <a:moveTo>
                    <a:pt x="2" y="78"/>
                  </a:moveTo>
                  <a:lnTo>
                    <a:pt x="0" y="78"/>
                  </a:lnTo>
                  <a:lnTo>
                    <a:pt x="0" y="80"/>
                  </a:lnTo>
                  <a:lnTo>
                    <a:pt x="0" y="82"/>
                  </a:lnTo>
                  <a:lnTo>
                    <a:pt x="0" y="84"/>
                  </a:lnTo>
                  <a:lnTo>
                    <a:pt x="2" y="80"/>
                  </a:lnTo>
                  <a:lnTo>
                    <a:pt x="2" y="78"/>
                  </a:lnTo>
                  <a:lnTo>
                    <a:pt x="2" y="76"/>
                  </a:lnTo>
                  <a:lnTo>
                    <a:pt x="2" y="76"/>
                  </a:lnTo>
                  <a:lnTo>
                    <a:pt x="2" y="78"/>
                  </a:lnTo>
                  <a:close/>
                  <a:moveTo>
                    <a:pt x="52" y="53"/>
                  </a:moveTo>
                  <a:lnTo>
                    <a:pt x="52" y="55"/>
                  </a:lnTo>
                  <a:lnTo>
                    <a:pt x="52" y="55"/>
                  </a:lnTo>
                  <a:lnTo>
                    <a:pt x="54" y="55"/>
                  </a:lnTo>
                  <a:lnTo>
                    <a:pt x="54" y="55"/>
                  </a:lnTo>
                  <a:lnTo>
                    <a:pt x="54" y="55"/>
                  </a:lnTo>
                  <a:lnTo>
                    <a:pt x="54" y="53"/>
                  </a:lnTo>
                  <a:lnTo>
                    <a:pt x="54" y="53"/>
                  </a:lnTo>
                  <a:lnTo>
                    <a:pt x="52" y="53"/>
                  </a:lnTo>
                  <a:close/>
                  <a:moveTo>
                    <a:pt x="56" y="44"/>
                  </a:moveTo>
                  <a:lnTo>
                    <a:pt x="56" y="46"/>
                  </a:lnTo>
                  <a:lnTo>
                    <a:pt x="56" y="46"/>
                  </a:lnTo>
                  <a:lnTo>
                    <a:pt x="56" y="46"/>
                  </a:lnTo>
                  <a:lnTo>
                    <a:pt x="56" y="48"/>
                  </a:lnTo>
                  <a:lnTo>
                    <a:pt x="56" y="48"/>
                  </a:lnTo>
                  <a:lnTo>
                    <a:pt x="58" y="46"/>
                  </a:lnTo>
                  <a:lnTo>
                    <a:pt x="58" y="44"/>
                  </a:lnTo>
                  <a:lnTo>
                    <a:pt x="58" y="42"/>
                  </a:lnTo>
                  <a:lnTo>
                    <a:pt x="58" y="42"/>
                  </a:lnTo>
                  <a:lnTo>
                    <a:pt x="58" y="42"/>
                  </a:lnTo>
                  <a:lnTo>
                    <a:pt x="58" y="42"/>
                  </a:lnTo>
                  <a:lnTo>
                    <a:pt x="58" y="40"/>
                  </a:lnTo>
                  <a:lnTo>
                    <a:pt x="58" y="40"/>
                  </a:lnTo>
                  <a:lnTo>
                    <a:pt x="56" y="44"/>
                  </a:lnTo>
                  <a:close/>
                  <a:moveTo>
                    <a:pt x="77" y="19"/>
                  </a:moveTo>
                  <a:lnTo>
                    <a:pt x="77" y="19"/>
                  </a:lnTo>
                  <a:lnTo>
                    <a:pt x="77" y="21"/>
                  </a:lnTo>
                  <a:lnTo>
                    <a:pt x="77" y="19"/>
                  </a:lnTo>
                  <a:lnTo>
                    <a:pt x="77" y="19"/>
                  </a:lnTo>
                  <a:lnTo>
                    <a:pt x="79" y="17"/>
                  </a:lnTo>
                  <a:lnTo>
                    <a:pt x="77" y="17"/>
                  </a:lnTo>
                  <a:lnTo>
                    <a:pt x="77" y="19"/>
                  </a:lnTo>
                  <a:close/>
                  <a:moveTo>
                    <a:pt x="50" y="0"/>
                  </a:moveTo>
                  <a:lnTo>
                    <a:pt x="48" y="0"/>
                  </a:lnTo>
                  <a:lnTo>
                    <a:pt x="48" y="0"/>
                  </a:lnTo>
                  <a:lnTo>
                    <a:pt x="50" y="0"/>
                  </a:lnTo>
                  <a:lnTo>
                    <a:pt x="50" y="0"/>
                  </a:lnTo>
                  <a:lnTo>
                    <a:pt x="50" y="0"/>
                  </a:lnTo>
                  <a:lnTo>
                    <a:pt x="50" y="0"/>
                  </a:lnTo>
                  <a:lnTo>
                    <a:pt x="50" y="0"/>
                  </a:lnTo>
                  <a:lnTo>
                    <a:pt x="50" y="0"/>
                  </a:lnTo>
                  <a:close/>
                </a:path>
              </a:pathLst>
            </a:custGeom>
            <a:noFill/>
            <a:ln w="317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95" name="Freeform 44">
              <a:extLst>
                <a:ext uri="{FF2B5EF4-FFF2-40B4-BE49-F238E27FC236}">
                  <a16:creationId xmlns:a16="http://schemas.microsoft.com/office/drawing/2014/main" id="{4C2C2A3D-A894-2695-22F9-14CE69FD5881}"/>
                </a:ext>
              </a:extLst>
            </p:cNvPr>
            <p:cNvSpPr>
              <a:spLocks/>
            </p:cNvSpPr>
            <p:nvPr/>
          </p:nvSpPr>
          <p:spPr bwMode="auto">
            <a:xfrm>
              <a:off x="2177668" y="5375314"/>
              <a:ext cx="443336" cy="715517"/>
            </a:xfrm>
            <a:custGeom>
              <a:avLst/>
              <a:gdLst>
                <a:gd name="T0" fmla="*/ 219 w 235"/>
                <a:gd name="T1" fmla="*/ 303 h 423"/>
                <a:gd name="T2" fmla="*/ 219 w 235"/>
                <a:gd name="T3" fmla="*/ 282 h 423"/>
                <a:gd name="T4" fmla="*/ 223 w 235"/>
                <a:gd name="T5" fmla="*/ 246 h 423"/>
                <a:gd name="T6" fmla="*/ 216 w 235"/>
                <a:gd name="T7" fmla="*/ 229 h 423"/>
                <a:gd name="T8" fmla="*/ 191 w 235"/>
                <a:gd name="T9" fmla="*/ 240 h 423"/>
                <a:gd name="T10" fmla="*/ 181 w 235"/>
                <a:gd name="T11" fmla="*/ 223 h 423"/>
                <a:gd name="T12" fmla="*/ 185 w 235"/>
                <a:gd name="T13" fmla="*/ 200 h 423"/>
                <a:gd name="T14" fmla="*/ 185 w 235"/>
                <a:gd name="T15" fmla="*/ 185 h 423"/>
                <a:gd name="T16" fmla="*/ 168 w 235"/>
                <a:gd name="T17" fmla="*/ 170 h 423"/>
                <a:gd name="T18" fmla="*/ 176 w 235"/>
                <a:gd name="T19" fmla="*/ 164 h 423"/>
                <a:gd name="T20" fmla="*/ 170 w 235"/>
                <a:gd name="T21" fmla="*/ 151 h 423"/>
                <a:gd name="T22" fmla="*/ 155 w 235"/>
                <a:gd name="T23" fmla="*/ 149 h 423"/>
                <a:gd name="T24" fmla="*/ 155 w 235"/>
                <a:gd name="T25" fmla="*/ 139 h 423"/>
                <a:gd name="T26" fmla="*/ 128 w 235"/>
                <a:gd name="T27" fmla="*/ 122 h 423"/>
                <a:gd name="T28" fmla="*/ 128 w 235"/>
                <a:gd name="T29" fmla="*/ 113 h 423"/>
                <a:gd name="T30" fmla="*/ 143 w 235"/>
                <a:gd name="T31" fmla="*/ 107 h 423"/>
                <a:gd name="T32" fmla="*/ 139 w 235"/>
                <a:gd name="T33" fmla="*/ 97 h 423"/>
                <a:gd name="T34" fmla="*/ 128 w 235"/>
                <a:gd name="T35" fmla="*/ 92 h 423"/>
                <a:gd name="T36" fmla="*/ 116 w 235"/>
                <a:gd name="T37" fmla="*/ 88 h 423"/>
                <a:gd name="T38" fmla="*/ 103 w 235"/>
                <a:gd name="T39" fmla="*/ 80 h 423"/>
                <a:gd name="T40" fmla="*/ 84 w 235"/>
                <a:gd name="T41" fmla="*/ 67 h 423"/>
                <a:gd name="T42" fmla="*/ 73 w 235"/>
                <a:gd name="T43" fmla="*/ 65 h 423"/>
                <a:gd name="T44" fmla="*/ 52 w 235"/>
                <a:gd name="T45" fmla="*/ 46 h 423"/>
                <a:gd name="T46" fmla="*/ 44 w 235"/>
                <a:gd name="T47" fmla="*/ 36 h 423"/>
                <a:gd name="T48" fmla="*/ 46 w 235"/>
                <a:gd name="T49" fmla="*/ 29 h 423"/>
                <a:gd name="T50" fmla="*/ 38 w 235"/>
                <a:gd name="T51" fmla="*/ 25 h 423"/>
                <a:gd name="T52" fmla="*/ 31 w 235"/>
                <a:gd name="T53" fmla="*/ 17 h 423"/>
                <a:gd name="T54" fmla="*/ 23 w 235"/>
                <a:gd name="T55" fmla="*/ 12 h 423"/>
                <a:gd name="T56" fmla="*/ 15 w 235"/>
                <a:gd name="T57" fmla="*/ 10 h 423"/>
                <a:gd name="T58" fmla="*/ 10 w 235"/>
                <a:gd name="T59" fmla="*/ 6 h 423"/>
                <a:gd name="T60" fmla="*/ 0 w 235"/>
                <a:gd name="T61" fmla="*/ 2 h 423"/>
                <a:gd name="T62" fmla="*/ 21 w 235"/>
                <a:gd name="T63" fmla="*/ 46 h 423"/>
                <a:gd name="T64" fmla="*/ 31 w 235"/>
                <a:gd name="T65" fmla="*/ 71 h 423"/>
                <a:gd name="T66" fmla="*/ 40 w 235"/>
                <a:gd name="T67" fmla="*/ 63 h 423"/>
                <a:gd name="T68" fmla="*/ 46 w 235"/>
                <a:gd name="T69" fmla="*/ 65 h 423"/>
                <a:gd name="T70" fmla="*/ 38 w 235"/>
                <a:gd name="T71" fmla="*/ 75 h 423"/>
                <a:gd name="T72" fmla="*/ 50 w 235"/>
                <a:gd name="T73" fmla="*/ 82 h 423"/>
                <a:gd name="T74" fmla="*/ 69 w 235"/>
                <a:gd name="T75" fmla="*/ 118 h 423"/>
                <a:gd name="T76" fmla="*/ 82 w 235"/>
                <a:gd name="T77" fmla="*/ 135 h 423"/>
                <a:gd name="T78" fmla="*/ 97 w 235"/>
                <a:gd name="T79" fmla="*/ 189 h 423"/>
                <a:gd name="T80" fmla="*/ 113 w 235"/>
                <a:gd name="T81" fmla="*/ 221 h 423"/>
                <a:gd name="T82" fmla="*/ 126 w 235"/>
                <a:gd name="T83" fmla="*/ 238 h 423"/>
                <a:gd name="T84" fmla="*/ 122 w 235"/>
                <a:gd name="T85" fmla="*/ 250 h 423"/>
                <a:gd name="T86" fmla="*/ 126 w 235"/>
                <a:gd name="T87" fmla="*/ 251 h 423"/>
                <a:gd name="T88" fmla="*/ 141 w 235"/>
                <a:gd name="T89" fmla="*/ 274 h 423"/>
                <a:gd name="T90" fmla="*/ 143 w 235"/>
                <a:gd name="T91" fmla="*/ 289 h 423"/>
                <a:gd name="T92" fmla="*/ 149 w 235"/>
                <a:gd name="T93" fmla="*/ 308 h 423"/>
                <a:gd name="T94" fmla="*/ 139 w 235"/>
                <a:gd name="T95" fmla="*/ 284 h 423"/>
                <a:gd name="T96" fmla="*/ 137 w 235"/>
                <a:gd name="T97" fmla="*/ 289 h 423"/>
                <a:gd name="T98" fmla="*/ 132 w 235"/>
                <a:gd name="T99" fmla="*/ 274 h 423"/>
                <a:gd name="T100" fmla="*/ 128 w 235"/>
                <a:gd name="T101" fmla="*/ 272 h 423"/>
                <a:gd name="T102" fmla="*/ 147 w 235"/>
                <a:gd name="T103" fmla="*/ 335 h 423"/>
                <a:gd name="T104" fmla="*/ 149 w 235"/>
                <a:gd name="T105" fmla="*/ 345 h 423"/>
                <a:gd name="T106" fmla="*/ 156 w 235"/>
                <a:gd name="T107" fmla="*/ 358 h 423"/>
                <a:gd name="T108" fmla="*/ 168 w 235"/>
                <a:gd name="T109" fmla="*/ 354 h 423"/>
                <a:gd name="T110" fmla="*/ 158 w 235"/>
                <a:gd name="T111" fmla="*/ 362 h 423"/>
                <a:gd name="T112" fmla="*/ 166 w 235"/>
                <a:gd name="T113" fmla="*/ 373 h 423"/>
                <a:gd name="T114" fmla="*/ 212 w 235"/>
                <a:gd name="T115" fmla="*/ 421 h 423"/>
                <a:gd name="T116" fmla="*/ 217 w 235"/>
                <a:gd name="T117" fmla="*/ 409 h 423"/>
                <a:gd name="T118" fmla="*/ 223 w 235"/>
                <a:gd name="T119" fmla="*/ 402 h 423"/>
                <a:gd name="T120" fmla="*/ 214 w 235"/>
                <a:gd name="T121" fmla="*/ 385 h 423"/>
                <a:gd name="T122" fmla="*/ 216 w 235"/>
                <a:gd name="T123" fmla="*/ 362 h 423"/>
                <a:gd name="T124" fmla="*/ 235 w 235"/>
                <a:gd name="T125" fmla="*/ 312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423">
                  <a:moveTo>
                    <a:pt x="235" y="308"/>
                  </a:moveTo>
                  <a:lnTo>
                    <a:pt x="233" y="305"/>
                  </a:lnTo>
                  <a:lnTo>
                    <a:pt x="231" y="305"/>
                  </a:lnTo>
                  <a:lnTo>
                    <a:pt x="231" y="303"/>
                  </a:lnTo>
                  <a:lnTo>
                    <a:pt x="231" y="301"/>
                  </a:lnTo>
                  <a:lnTo>
                    <a:pt x="229" y="301"/>
                  </a:lnTo>
                  <a:lnTo>
                    <a:pt x="229" y="301"/>
                  </a:lnTo>
                  <a:lnTo>
                    <a:pt x="227" y="301"/>
                  </a:lnTo>
                  <a:lnTo>
                    <a:pt x="227" y="301"/>
                  </a:lnTo>
                  <a:lnTo>
                    <a:pt x="221" y="303"/>
                  </a:lnTo>
                  <a:lnTo>
                    <a:pt x="221" y="303"/>
                  </a:lnTo>
                  <a:lnTo>
                    <a:pt x="221" y="303"/>
                  </a:lnTo>
                  <a:lnTo>
                    <a:pt x="219" y="303"/>
                  </a:lnTo>
                  <a:lnTo>
                    <a:pt x="219" y="303"/>
                  </a:lnTo>
                  <a:lnTo>
                    <a:pt x="219" y="301"/>
                  </a:lnTo>
                  <a:lnTo>
                    <a:pt x="217" y="301"/>
                  </a:lnTo>
                  <a:lnTo>
                    <a:pt x="217" y="301"/>
                  </a:lnTo>
                  <a:lnTo>
                    <a:pt x="217" y="301"/>
                  </a:lnTo>
                  <a:lnTo>
                    <a:pt x="216" y="301"/>
                  </a:lnTo>
                  <a:lnTo>
                    <a:pt x="216" y="301"/>
                  </a:lnTo>
                  <a:lnTo>
                    <a:pt x="216" y="301"/>
                  </a:lnTo>
                  <a:lnTo>
                    <a:pt x="216" y="299"/>
                  </a:lnTo>
                  <a:lnTo>
                    <a:pt x="216" y="299"/>
                  </a:lnTo>
                  <a:lnTo>
                    <a:pt x="216" y="299"/>
                  </a:lnTo>
                  <a:lnTo>
                    <a:pt x="219" y="284"/>
                  </a:lnTo>
                  <a:lnTo>
                    <a:pt x="219" y="282"/>
                  </a:lnTo>
                  <a:lnTo>
                    <a:pt x="219" y="280"/>
                  </a:lnTo>
                  <a:lnTo>
                    <a:pt x="219" y="278"/>
                  </a:lnTo>
                  <a:lnTo>
                    <a:pt x="219" y="274"/>
                  </a:lnTo>
                  <a:lnTo>
                    <a:pt x="219" y="274"/>
                  </a:lnTo>
                  <a:lnTo>
                    <a:pt x="219" y="272"/>
                  </a:lnTo>
                  <a:lnTo>
                    <a:pt x="221" y="269"/>
                  </a:lnTo>
                  <a:lnTo>
                    <a:pt x="221" y="267"/>
                  </a:lnTo>
                  <a:lnTo>
                    <a:pt x="221" y="265"/>
                  </a:lnTo>
                  <a:lnTo>
                    <a:pt x="219" y="259"/>
                  </a:lnTo>
                  <a:lnTo>
                    <a:pt x="219" y="257"/>
                  </a:lnTo>
                  <a:lnTo>
                    <a:pt x="219" y="255"/>
                  </a:lnTo>
                  <a:lnTo>
                    <a:pt x="219" y="255"/>
                  </a:lnTo>
                  <a:lnTo>
                    <a:pt x="223" y="246"/>
                  </a:lnTo>
                  <a:lnTo>
                    <a:pt x="223" y="244"/>
                  </a:lnTo>
                  <a:lnTo>
                    <a:pt x="223" y="242"/>
                  </a:lnTo>
                  <a:lnTo>
                    <a:pt x="223" y="242"/>
                  </a:lnTo>
                  <a:lnTo>
                    <a:pt x="223" y="242"/>
                  </a:lnTo>
                  <a:lnTo>
                    <a:pt x="221" y="242"/>
                  </a:lnTo>
                  <a:lnTo>
                    <a:pt x="221" y="240"/>
                  </a:lnTo>
                  <a:lnTo>
                    <a:pt x="221" y="238"/>
                  </a:lnTo>
                  <a:lnTo>
                    <a:pt x="221" y="236"/>
                  </a:lnTo>
                  <a:lnTo>
                    <a:pt x="219" y="234"/>
                  </a:lnTo>
                  <a:lnTo>
                    <a:pt x="219" y="234"/>
                  </a:lnTo>
                  <a:lnTo>
                    <a:pt x="217" y="230"/>
                  </a:lnTo>
                  <a:lnTo>
                    <a:pt x="217" y="230"/>
                  </a:lnTo>
                  <a:lnTo>
                    <a:pt x="216" y="229"/>
                  </a:lnTo>
                  <a:lnTo>
                    <a:pt x="214" y="230"/>
                  </a:lnTo>
                  <a:lnTo>
                    <a:pt x="210" y="230"/>
                  </a:lnTo>
                  <a:lnTo>
                    <a:pt x="206" y="232"/>
                  </a:lnTo>
                  <a:lnTo>
                    <a:pt x="204" y="234"/>
                  </a:lnTo>
                  <a:lnTo>
                    <a:pt x="204" y="234"/>
                  </a:lnTo>
                  <a:lnTo>
                    <a:pt x="200" y="238"/>
                  </a:lnTo>
                  <a:lnTo>
                    <a:pt x="196" y="240"/>
                  </a:lnTo>
                  <a:lnTo>
                    <a:pt x="195" y="240"/>
                  </a:lnTo>
                  <a:lnTo>
                    <a:pt x="195" y="240"/>
                  </a:lnTo>
                  <a:lnTo>
                    <a:pt x="193" y="240"/>
                  </a:lnTo>
                  <a:lnTo>
                    <a:pt x="193" y="240"/>
                  </a:lnTo>
                  <a:lnTo>
                    <a:pt x="191" y="240"/>
                  </a:lnTo>
                  <a:lnTo>
                    <a:pt x="191" y="240"/>
                  </a:lnTo>
                  <a:lnTo>
                    <a:pt x="191" y="238"/>
                  </a:lnTo>
                  <a:lnTo>
                    <a:pt x="189" y="236"/>
                  </a:lnTo>
                  <a:lnTo>
                    <a:pt x="187" y="236"/>
                  </a:lnTo>
                  <a:lnTo>
                    <a:pt x="185" y="234"/>
                  </a:lnTo>
                  <a:lnTo>
                    <a:pt x="183" y="234"/>
                  </a:lnTo>
                  <a:lnTo>
                    <a:pt x="183" y="232"/>
                  </a:lnTo>
                  <a:lnTo>
                    <a:pt x="183" y="232"/>
                  </a:lnTo>
                  <a:lnTo>
                    <a:pt x="183" y="230"/>
                  </a:lnTo>
                  <a:lnTo>
                    <a:pt x="183" y="229"/>
                  </a:lnTo>
                  <a:lnTo>
                    <a:pt x="183" y="227"/>
                  </a:lnTo>
                  <a:lnTo>
                    <a:pt x="183" y="227"/>
                  </a:lnTo>
                  <a:lnTo>
                    <a:pt x="181" y="225"/>
                  </a:lnTo>
                  <a:lnTo>
                    <a:pt x="181" y="223"/>
                  </a:lnTo>
                  <a:lnTo>
                    <a:pt x="181" y="223"/>
                  </a:lnTo>
                  <a:lnTo>
                    <a:pt x="179" y="221"/>
                  </a:lnTo>
                  <a:lnTo>
                    <a:pt x="181" y="217"/>
                  </a:lnTo>
                  <a:lnTo>
                    <a:pt x="181" y="215"/>
                  </a:lnTo>
                  <a:lnTo>
                    <a:pt x="181" y="215"/>
                  </a:lnTo>
                  <a:lnTo>
                    <a:pt x="181" y="215"/>
                  </a:lnTo>
                  <a:lnTo>
                    <a:pt x="181" y="210"/>
                  </a:lnTo>
                  <a:lnTo>
                    <a:pt x="181" y="202"/>
                  </a:lnTo>
                  <a:lnTo>
                    <a:pt x="181" y="202"/>
                  </a:lnTo>
                  <a:lnTo>
                    <a:pt x="181" y="200"/>
                  </a:lnTo>
                  <a:lnTo>
                    <a:pt x="183" y="200"/>
                  </a:lnTo>
                  <a:lnTo>
                    <a:pt x="185" y="200"/>
                  </a:lnTo>
                  <a:lnTo>
                    <a:pt x="185" y="200"/>
                  </a:lnTo>
                  <a:lnTo>
                    <a:pt x="187" y="198"/>
                  </a:lnTo>
                  <a:lnTo>
                    <a:pt x="187" y="196"/>
                  </a:lnTo>
                  <a:lnTo>
                    <a:pt x="187" y="194"/>
                  </a:lnTo>
                  <a:lnTo>
                    <a:pt x="187" y="192"/>
                  </a:lnTo>
                  <a:lnTo>
                    <a:pt x="187" y="191"/>
                  </a:lnTo>
                  <a:lnTo>
                    <a:pt x="187" y="191"/>
                  </a:lnTo>
                  <a:lnTo>
                    <a:pt x="187" y="189"/>
                  </a:lnTo>
                  <a:lnTo>
                    <a:pt x="187" y="187"/>
                  </a:lnTo>
                  <a:lnTo>
                    <a:pt x="187" y="187"/>
                  </a:lnTo>
                  <a:lnTo>
                    <a:pt x="187" y="187"/>
                  </a:lnTo>
                  <a:lnTo>
                    <a:pt x="185" y="187"/>
                  </a:lnTo>
                  <a:lnTo>
                    <a:pt x="185" y="187"/>
                  </a:lnTo>
                  <a:lnTo>
                    <a:pt x="185" y="185"/>
                  </a:lnTo>
                  <a:lnTo>
                    <a:pt x="183" y="185"/>
                  </a:lnTo>
                  <a:lnTo>
                    <a:pt x="183" y="183"/>
                  </a:lnTo>
                  <a:lnTo>
                    <a:pt x="183" y="183"/>
                  </a:lnTo>
                  <a:lnTo>
                    <a:pt x="183" y="181"/>
                  </a:lnTo>
                  <a:lnTo>
                    <a:pt x="181" y="181"/>
                  </a:lnTo>
                  <a:lnTo>
                    <a:pt x="181" y="179"/>
                  </a:lnTo>
                  <a:lnTo>
                    <a:pt x="177" y="177"/>
                  </a:lnTo>
                  <a:lnTo>
                    <a:pt x="172" y="175"/>
                  </a:lnTo>
                  <a:lnTo>
                    <a:pt x="170" y="175"/>
                  </a:lnTo>
                  <a:lnTo>
                    <a:pt x="170" y="173"/>
                  </a:lnTo>
                  <a:lnTo>
                    <a:pt x="168" y="172"/>
                  </a:lnTo>
                  <a:lnTo>
                    <a:pt x="168" y="170"/>
                  </a:lnTo>
                  <a:lnTo>
                    <a:pt x="168" y="170"/>
                  </a:lnTo>
                  <a:lnTo>
                    <a:pt x="168" y="168"/>
                  </a:lnTo>
                  <a:lnTo>
                    <a:pt x="168" y="166"/>
                  </a:lnTo>
                  <a:lnTo>
                    <a:pt x="168" y="166"/>
                  </a:lnTo>
                  <a:lnTo>
                    <a:pt x="170" y="166"/>
                  </a:lnTo>
                  <a:lnTo>
                    <a:pt x="170" y="164"/>
                  </a:lnTo>
                  <a:lnTo>
                    <a:pt x="170" y="164"/>
                  </a:lnTo>
                  <a:lnTo>
                    <a:pt x="172" y="164"/>
                  </a:lnTo>
                  <a:lnTo>
                    <a:pt x="172" y="164"/>
                  </a:lnTo>
                  <a:lnTo>
                    <a:pt x="174" y="166"/>
                  </a:lnTo>
                  <a:lnTo>
                    <a:pt x="174" y="166"/>
                  </a:lnTo>
                  <a:lnTo>
                    <a:pt x="176" y="166"/>
                  </a:lnTo>
                  <a:lnTo>
                    <a:pt x="176" y="164"/>
                  </a:lnTo>
                  <a:lnTo>
                    <a:pt x="176" y="164"/>
                  </a:lnTo>
                  <a:lnTo>
                    <a:pt x="176" y="164"/>
                  </a:lnTo>
                  <a:lnTo>
                    <a:pt x="176" y="162"/>
                  </a:lnTo>
                  <a:lnTo>
                    <a:pt x="176" y="162"/>
                  </a:lnTo>
                  <a:lnTo>
                    <a:pt x="174" y="162"/>
                  </a:lnTo>
                  <a:lnTo>
                    <a:pt x="174" y="160"/>
                  </a:lnTo>
                  <a:lnTo>
                    <a:pt x="172" y="156"/>
                  </a:lnTo>
                  <a:lnTo>
                    <a:pt x="172" y="154"/>
                  </a:lnTo>
                  <a:lnTo>
                    <a:pt x="172" y="154"/>
                  </a:lnTo>
                  <a:lnTo>
                    <a:pt x="170" y="154"/>
                  </a:lnTo>
                  <a:lnTo>
                    <a:pt x="170" y="153"/>
                  </a:lnTo>
                  <a:lnTo>
                    <a:pt x="170" y="153"/>
                  </a:lnTo>
                  <a:lnTo>
                    <a:pt x="170" y="151"/>
                  </a:lnTo>
                  <a:lnTo>
                    <a:pt x="170" y="151"/>
                  </a:lnTo>
                  <a:lnTo>
                    <a:pt x="170" y="149"/>
                  </a:lnTo>
                  <a:lnTo>
                    <a:pt x="170" y="149"/>
                  </a:lnTo>
                  <a:lnTo>
                    <a:pt x="170" y="147"/>
                  </a:lnTo>
                  <a:lnTo>
                    <a:pt x="170" y="145"/>
                  </a:lnTo>
                  <a:lnTo>
                    <a:pt x="170" y="145"/>
                  </a:lnTo>
                  <a:lnTo>
                    <a:pt x="170" y="147"/>
                  </a:lnTo>
                  <a:lnTo>
                    <a:pt x="166" y="149"/>
                  </a:lnTo>
                  <a:lnTo>
                    <a:pt x="166" y="149"/>
                  </a:lnTo>
                  <a:lnTo>
                    <a:pt x="164" y="149"/>
                  </a:lnTo>
                  <a:lnTo>
                    <a:pt x="158" y="149"/>
                  </a:lnTo>
                  <a:lnTo>
                    <a:pt x="156" y="149"/>
                  </a:lnTo>
                  <a:lnTo>
                    <a:pt x="155" y="149"/>
                  </a:lnTo>
                  <a:lnTo>
                    <a:pt x="155" y="149"/>
                  </a:lnTo>
                  <a:lnTo>
                    <a:pt x="153" y="149"/>
                  </a:lnTo>
                  <a:lnTo>
                    <a:pt x="153" y="149"/>
                  </a:lnTo>
                  <a:lnTo>
                    <a:pt x="151" y="149"/>
                  </a:lnTo>
                  <a:lnTo>
                    <a:pt x="151" y="149"/>
                  </a:lnTo>
                  <a:lnTo>
                    <a:pt x="149" y="149"/>
                  </a:lnTo>
                  <a:lnTo>
                    <a:pt x="147" y="149"/>
                  </a:lnTo>
                  <a:lnTo>
                    <a:pt x="147" y="149"/>
                  </a:lnTo>
                  <a:lnTo>
                    <a:pt x="147" y="149"/>
                  </a:lnTo>
                  <a:lnTo>
                    <a:pt x="147" y="147"/>
                  </a:lnTo>
                  <a:lnTo>
                    <a:pt x="147" y="147"/>
                  </a:lnTo>
                  <a:lnTo>
                    <a:pt x="149" y="143"/>
                  </a:lnTo>
                  <a:lnTo>
                    <a:pt x="149" y="143"/>
                  </a:lnTo>
                  <a:lnTo>
                    <a:pt x="155" y="139"/>
                  </a:lnTo>
                  <a:lnTo>
                    <a:pt x="156" y="137"/>
                  </a:lnTo>
                  <a:lnTo>
                    <a:pt x="153" y="135"/>
                  </a:lnTo>
                  <a:lnTo>
                    <a:pt x="151" y="132"/>
                  </a:lnTo>
                  <a:lnTo>
                    <a:pt x="151" y="132"/>
                  </a:lnTo>
                  <a:lnTo>
                    <a:pt x="149" y="132"/>
                  </a:lnTo>
                  <a:lnTo>
                    <a:pt x="149" y="130"/>
                  </a:lnTo>
                  <a:lnTo>
                    <a:pt x="147" y="130"/>
                  </a:lnTo>
                  <a:lnTo>
                    <a:pt x="147" y="130"/>
                  </a:lnTo>
                  <a:lnTo>
                    <a:pt x="145" y="128"/>
                  </a:lnTo>
                  <a:lnTo>
                    <a:pt x="143" y="128"/>
                  </a:lnTo>
                  <a:lnTo>
                    <a:pt x="134" y="124"/>
                  </a:lnTo>
                  <a:lnTo>
                    <a:pt x="130" y="124"/>
                  </a:lnTo>
                  <a:lnTo>
                    <a:pt x="128" y="122"/>
                  </a:lnTo>
                  <a:lnTo>
                    <a:pt x="128" y="122"/>
                  </a:lnTo>
                  <a:lnTo>
                    <a:pt x="128" y="122"/>
                  </a:lnTo>
                  <a:lnTo>
                    <a:pt x="128" y="120"/>
                  </a:lnTo>
                  <a:lnTo>
                    <a:pt x="128" y="120"/>
                  </a:lnTo>
                  <a:lnTo>
                    <a:pt x="128" y="120"/>
                  </a:lnTo>
                  <a:lnTo>
                    <a:pt x="128" y="120"/>
                  </a:lnTo>
                  <a:lnTo>
                    <a:pt x="128" y="118"/>
                  </a:lnTo>
                  <a:lnTo>
                    <a:pt x="126" y="118"/>
                  </a:lnTo>
                  <a:lnTo>
                    <a:pt x="126" y="118"/>
                  </a:lnTo>
                  <a:lnTo>
                    <a:pt x="128" y="116"/>
                  </a:lnTo>
                  <a:lnTo>
                    <a:pt x="128" y="116"/>
                  </a:lnTo>
                  <a:lnTo>
                    <a:pt x="128" y="114"/>
                  </a:lnTo>
                  <a:lnTo>
                    <a:pt x="128" y="113"/>
                  </a:lnTo>
                  <a:lnTo>
                    <a:pt x="128" y="113"/>
                  </a:lnTo>
                  <a:lnTo>
                    <a:pt x="128" y="111"/>
                  </a:lnTo>
                  <a:lnTo>
                    <a:pt x="130" y="113"/>
                  </a:lnTo>
                  <a:lnTo>
                    <a:pt x="132" y="113"/>
                  </a:lnTo>
                  <a:lnTo>
                    <a:pt x="134" y="113"/>
                  </a:lnTo>
                  <a:lnTo>
                    <a:pt x="136" y="113"/>
                  </a:lnTo>
                  <a:lnTo>
                    <a:pt x="137" y="113"/>
                  </a:lnTo>
                  <a:lnTo>
                    <a:pt x="137" y="113"/>
                  </a:lnTo>
                  <a:lnTo>
                    <a:pt x="139" y="111"/>
                  </a:lnTo>
                  <a:lnTo>
                    <a:pt x="139" y="109"/>
                  </a:lnTo>
                  <a:lnTo>
                    <a:pt x="139" y="109"/>
                  </a:lnTo>
                  <a:lnTo>
                    <a:pt x="141" y="109"/>
                  </a:lnTo>
                  <a:lnTo>
                    <a:pt x="143" y="107"/>
                  </a:lnTo>
                  <a:lnTo>
                    <a:pt x="143" y="107"/>
                  </a:lnTo>
                  <a:lnTo>
                    <a:pt x="143" y="107"/>
                  </a:lnTo>
                  <a:lnTo>
                    <a:pt x="145" y="107"/>
                  </a:lnTo>
                  <a:lnTo>
                    <a:pt x="145" y="107"/>
                  </a:lnTo>
                  <a:lnTo>
                    <a:pt x="145" y="107"/>
                  </a:lnTo>
                  <a:lnTo>
                    <a:pt x="143" y="105"/>
                  </a:lnTo>
                  <a:lnTo>
                    <a:pt x="143" y="103"/>
                  </a:lnTo>
                  <a:lnTo>
                    <a:pt x="143" y="101"/>
                  </a:lnTo>
                  <a:lnTo>
                    <a:pt x="141" y="99"/>
                  </a:lnTo>
                  <a:lnTo>
                    <a:pt x="141" y="99"/>
                  </a:lnTo>
                  <a:lnTo>
                    <a:pt x="141" y="97"/>
                  </a:lnTo>
                  <a:lnTo>
                    <a:pt x="141" y="97"/>
                  </a:lnTo>
                  <a:lnTo>
                    <a:pt x="139" y="97"/>
                  </a:lnTo>
                  <a:lnTo>
                    <a:pt x="139" y="97"/>
                  </a:lnTo>
                  <a:lnTo>
                    <a:pt x="137" y="97"/>
                  </a:lnTo>
                  <a:lnTo>
                    <a:pt x="137" y="99"/>
                  </a:lnTo>
                  <a:lnTo>
                    <a:pt x="137" y="97"/>
                  </a:lnTo>
                  <a:lnTo>
                    <a:pt x="136" y="97"/>
                  </a:lnTo>
                  <a:lnTo>
                    <a:pt x="134" y="97"/>
                  </a:lnTo>
                  <a:lnTo>
                    <a:pt x="134" y="97"/>
                  </a:lnTo>
                  <a:lnTo>
                    <a:pt x="132" y="95"/>
                  </a:lnTo>
                  <a:lnTo>
                    <a:pt x="130" y="94"/>
                  </a:lnTo>
                  <a:lnTo>
                    <a:pt x="130" y="92"/>
                  </a:lnTo>
                  <a:lnTo>
                    <a:pt x="128" y="92"/>
                  </a:lnTo>
                  <a:lnTo>
                    <a:pt x="128" y="92"/>
                  </a:lnTo>
                  <a:lnTo>
                    <a:pt x="128" y="92"/>
                  </a:lnTo>
                  <a:lnTo>
                    <a:pt x="126" y="92"/>
                  </a:lnTo>
                  <a:lnTo>
                    <a:pt x="126" y="92"/>
                  </a:lnTo>
                  <a:lnTo>
                    <a:pt x="126" y="92"/>
                  </a:lnTo>
                  <a:lnTo>
                    <a:pt x="124" y="92"/>
                  </a:lnTo>
                  <a:lnTo>
                    <a:pt x="124" y="92"/>
                  </a:lnTo>
                  <a:lnTo>
                    <a:pt x="124" y="90"/>
                  </a:lnTo>
                  <a:lnTo>
                    <a:pt x="122" y="88"/>
                  </a:lnTo>
                  <a:lnTo>
                    <a:pt x="122" y="88"/>
                  </a:lnTo>
                  <a:lnTo>
                    <a:pt x="120" y="88"/>
                  </a:lnTo>
                  <a:lnTo>
                    <a:pt x="120" y="86"/>
                  </a:lnTo>
                  <a:lnTo>
                    <a:pt x="118" y="86"/>
                  </a:lnTo>
                  <a:lnTo>
                    <a:pt x="118" y="86"/>
                  </a:lnTo>
                  <a:lnTo>
                    <a:pt x="116" y="88"/>
                  </a:lnTo>
                  <a:lnTo>
                    <a:pt x="116" y="88"/>
                  </a:lnTo>
                  <a:lnTo>
                    <a:pt x="115" y="88"/>
                  </a:lnTo>
                  <a:lnTo>
                    <a:pt x="115" y="88"/>
                  </a:lnTo>
                  <a:lnTo>
                    <a:pt x="113" y="86"/>
                  </a:lnTo>
                  <a:lnTo>
                    <a:pt x="113" y="86"/>
                  </a:lnTo>
                  <a:lnTo>
                    <a:pt x="113" y="84"/>
                  </a:lnTo>
                  <a:lnTo>
                    <a:pt x="113" y="80"/>
                  </a:lnTo>
                  <a:lnTo>
                    <a:pt x="113" y="78"/>
                  </a:lnTo>
                  <a:lnTo>
                    <a:pt x="113" y="78"/>
                  </a:lnTo>
                  <a:lnTo>
                    <a:pt x="113" y="78"/>
                  </a:lnTo>
                  <a:lnTo>
                    <a:pt x="111" y="78"/>
                  </a:lnTo>
                  <a:lnTo>
                    <a:pt x="107" y="78"/>
                  </a:lnTo>
                  <a:lnTo>
                    <a:pt x="103" y="80"/>
                  </a:lnTo>
                  <a:lnTo>
                    <a:pt x="101" y="80"/>
                  </a:lnTo>
                  <a:lnTo>
                    <a:pt x="97" y="80"/>
                  </a:lnTo>
                  <a:lnTo>
                    <a:pt x="95" y="80"/>
                  </a:lnTo>
                  <a:lnTo>
                    <a:pt x="94" y="78"/>
                  </a:lnTo>
                  <a:lnTo>
                    <a:pt x="92" y="78"/>
                  </a:lnTo>
                  <a:lnTo>
                    <a:pt x="90" y="78"/>
                  </a:lnTo>
                  <a:lnTo>
                    <a:pt x="88" y="76"/>
                  </a:lnTo>
                  <a:lnTo>
                    <a:pt x="86" y="76"/>
                  </a:lnTo>
                  <a:lnTo>
                    <a:pt x="86" y="75"/>
                  </a:lnTo>
                  <a:lnTo>
                    <a:pt x="84" y="73"/>
                  </a:lnTo>
                  <a:lnTo>
                    <a:pt x="84" y="71"/>
                  </a:lnTo>
                  <a:lnTo>
                    <a:pt x="84" y="69"/>
                  </a:lnTo>
                  <a:lnTo>
                    <a:pt x="84" y="67"/>
                  </a:lnTo>
                  <a:lnTo>
                    <a:pt x="82" y="67"/>
                  </a:lnTo>
                  <a:lnTo>
                    <a:pt x="82" y="67"/>
                  </a:lnTo>
                  <a:lnTo>
                    <a:pt x="82" y="67"/>
                  </a:lnTo>
                  <a:lnTo>
                    <a:pt x="80" y="67"/>
                  </a:lnTo>
                  <a:lnTo>
                    <a:pt x="80" y="67"/>
                  </a:lnTo>
                  <a:lnTo>
                    <a:pt x="80" y="67"/>
                  </a:lnTo>
                  <a:lnTo>
                    <a:pt x="78" y="67"/>
                  </a:lnTo>
                  <a:lnTo>
                    <a:pt x="78" y="67"/>
                  </a:lnTo>
                  <a:lnTo>
                    <a:pt x="76" y="67"/>
                  </a:lnTo>
                  <a:lnTo>
                    <a:pt x="75" y="65"/>
                  </a:lnTo>
                  <a:lnTo>
                    <a:pt x="75" y="65"/>
                  </a:lnTo>
                  <a:lnTo>
                    <a:pt x="75" y="65"/>
                  </a:lnTo>
                  <a:lnTo>
                    <a:pt x="73" y="65"/>
                  </a:lnTo>
                  <a:lnTo>
                    <a:pt x="73" y="65"/>
                  </a:lnTo>
                  <a:lnTo>
                    <a:pt x="71" y="65"/>
                  </a:lnTo>
                  <a:lnTo>
                    <a:pt x="71" y="63"/>
                  </a:lnTo>
                  <a:lnTo>
                    <a:pt x="71" y="63"/>
                  </a:lnTo>
                  <a:lnTo>
                    <a:pt x="71" y="61"/>
                  </a:lnTo>
                  <a:lnTo>
                    <a:pt x="69" y="61"/>
                  </a:lnTo>
                  <a:lnTo>
                    <a:pt x="69" y="61"/>
                  </a:lnTo>
                  <a:lnTo>
                    <a:pt x="67" y="59"/>
                  </a:lnTo>
                  <a:lnTo>
                    <a:pt x="65" y="59"/>
                  </a:lnTo>
                  <a:lnTo>
                    <a:pt x="63" y="57"/>
                  </a:lnTo>
                  <a:lnTo>
                    <a:pt x="54" y="48"/>
                  </a:lnTo>
                  <a:lnTo>
                    <a:pt x="52" y="46"/>
                  </a:lnTo>
                  <a:lnTo>
                    <a:pt x="52" y="46"/>
                  </a:lnTo>
                  <a:lnTo>
                    <a:pt x="52" y="46"/>
                  </a:lnTo>
                  <a:lnTo>
                    <a:pt x="50" y="46"/>
                  </a:lnTo>
                  <a:lnTo>
                    <a:pt x="50" y="46"/>
                  </a:lnTo>
                  <a:lnTo>
                    <a:pt x="50" y="46"/>
                  </a:lnTo>
                  <a:lnTo>
                    <a:pt x="50" y="46"/>
                  </a:lnTo>
                  <a:lnTo>
                    <a:pt x="50" y="46"/>
                  </a:lnTo>
                  <a:lnTo>
                    <a:pt x="48" y="44"/>
                  </a:lnTo>
                  <a:lnTo>
                    <a:pt x="48" y="42"/>
                  </a:lnTo>
                  <a:lnTo>
                    <a:pt x="48" y="40"/>
                  </a:lnTo>
                  <a:lnTo>
                    <a:pt x="46" y="38"/>
                  </a:lnTo>
                  <a:lnTo>
                    <a:pt x="46" y="36"/>
                  </a:lnTo>
                  <a:lnTo>
                    <a:pt x="44" y="36"/>
                  </a:lnTo>
                  <a:lnTo>
                    <a:pt x="44" y="36"/>
                  </a:lnTo>
                  <a:lnTo>
                    <a:pt x="44" y="35"/>
                  </a:lnTo>
                  <a:lnTo>
                    <a:pt x="44" y="35"/>
                  </a:lnTo>
                  <a:lnTo>
                    <a:pt x="44" y="33"/>
                  </a:lnTo>
                  <a:lnTo>
                    <a:pt x="46" y="33"/>
                  </a:lnTo>
                  <a:lnTo>
                    <a:pt x="46" y="31"/>
                  </a:lnTo>
                  <a:lnTo>
                    <a:pt x="48" y="31"/>
                  </a:lnTo>
                  <a:lnTo>
                    <a:pt x="48" y="31"/>
                  </a:lnTo>
                  <a:lnTo>
                    <a:pt x="48" y="31"/>
                  </a:lnTo>
                  <a:lnTo>
                    <a:pt x="48" y="29"/>
                  </a:lnTo>
                  <a:lnTo>
                    <a:pt x="48" y="29"/>
                  </a:lnTo>
                  <a:lnTo>
                    <a:pt x="46" y="29"/>
                  </a:lnTo>
                  <a:lnTo>
                    <a:pt x="46" y="29"/>
                  </a:lnTo>
                  <a:lnTo>
                    <a:pt x="46" y="29"/>
                  </a:lnTo>
                  <a:lnTo>
                    <a:pt x="42" y="29"/>
                  </a:lnTo>
                  <a:lnTo>
                    <a:pt x="42" y="29"/>
                  </a:lnTo>
                  <a:lnTo>
                    <a:pt x="42" y="29"/>
                  </a:lnTo>
                  <a:lnTo>
                    <a:pt x="42" y="29"/>
                  </a:lnTo>
                  <a:lnTo>
                    <a:pt x="42" y="29"/>
                  </a:lnTo>
                  <a:lnTo>
                    <a:pt x="42" y="29"/>
                  </a:lnTo>
                  <a:lnTo>
                    <a:pt x="40" y="27"/>
                  </a:lnTo>
                  <a:lnTo>
                    <a:pt x="40" y="27"/>
                  </a:lnTo>
                  <a:lnTo>
                    <a:pt x="40" y="27"/>
                  </a:lnTo>
                  <a:lnTo>
                    <a:pt x="40" y="27"/>
                  </a:lnTo>
                  <a:lnTo>
                    <a:pt x="38" y="27"/>
                  </a:lnTo>
                  <a:lnTo>
                    <a:pt x="38" y="27"/>
                  </a:lnTo>
                  <a:lnTo>
                    <a:pt x="38" y="25"/>
                  </a:lnTo>
                  <a:lnTo>
                    <a:pt x="38" y="25"/>
                  </a:lnTo>
                  <a:lnTo>
                    <a:pt x="36" y="23"/>
                  </a:lnTo>
                  <a:lnTo>
                    <a:pt x="36" y="23"/>
                  </a:lnTo>
                  <a:lnTo>
                    <a:pt x="36" y="21"/>
                  </a:lnTo>
                  <a:lnTo>
                    <a:pt x="36" y="21"/>
                  </a:lnTo>
                  <a:lnTo>
                    <a:pt x="38" y="19"/>
                  </a:lnTo>
                  <a:lnTo>
                    <a:pt x="38" y="17"/>
                  </a:lnTo>
                  <a:lnTo>
                    <a:pt x="35" y="16"/>
                  </a:lnTo>
                  <a:lnTo>
                    <a:pt x="33" y="16"/>
                  </a:lnTo>
                  <a:lnTo>
                    <a:pt x="33" y="17"/>
                  </a:lnTo>
                  <a:lnTo>
                    <a:pt x="33" y="17"/>
                  </a:lnTo>
                  <a:lnTo>
                    <a:pt x="31" y="17"/>
                  </a:lnTo>
                  <a:lnTo>
                    <a:pt x="31" y="17"/>
                  </a:lnTo>
                  <a:lnTo>
                    <a:pt x="31" y="17"/>
                  </a:lnTo>
                  <a:lnTo>
                    <a:pt x="29" y="17"/>
                  </a:lnTo>
                  <a:lnTo>
                    <a:pt x="29" y="17"/>
                  </a:lnTo>
                  <a:lnTo>
                    <a:pt x="27" y="16"/>
                  </a:lnTo>
                  <a:lnTo>
                    <a:pt x="27" y="14"/>
                  </a:lnTo>
                  <a:lnTo>
                    <a:pt x="27" y="14"/>
                  </a:lnTo>
                  <a:lnTo>
                    <a:pt x="25" y="14"/>
                  </a:lnTo>
                  <a:lnTo>
                    <a:pt x="25" y="16"/>
                  </a:lnTo>
                  <a:lnTo>
                    <a:pt x="25" y="16"/>
                  </a:lnTo>
                  <a:lnTo>
                    <a:pt x="23" y="16"/>
                  </a:lnTo>
                  <a:lnTo>
                    <a:pt x="23" y="14"/>
                  </a:lnTo>
                  <a:lnTo>
                    <a:pt x="23" y="14"/>
                  </a:lnTo>
                  <a:lnTo>
                    <a:pt x="23" y="12"/>
                  </a:lnTo>
                  <a:lnTo>
                    <a:pt x="23" y="12"/>
                  </a:lnTo>
                  <a:lnTo>
                    <a:pt x="23" y="12"/>
                  </a:lnTo>
                  <a:lnTo>
                    <a:pt x="23" y="10"/>
                  </a:lnTo>
                  <a:lnTo>
                    <a:pt x="23" y="10"/>
                  </a:lnTo>
                  <a:lnTo>
                    <a:pt x="23" y="10"/>
                  </a:lnTo>
                  <a:lnTo>
                    <a:pt x="21" y="10"/>
                  </a:lnTo>
                  <a:lnTo>
                    <a:pt x="19" y="8"/>
                  </a:lnTo>
                  <a:lnTo>
                    <a:pt x="19" y="8"/>
                  </a:lnTo>
                  <a:lnTo>
                    <a:pt x="17" y="8"/>
                  </a:lnTo>
                  <a:lnTo>
                    <a:pt x="17" y="8"/>
                  </a:lnTo>
                  <a:lnTo>
                    <a:pt x="15" y="10"/>
                  </a:lnTo>
                  <a:lnTo>
                    <a:pt x="15" y="10"/>
                  </a:lnTo>
                  <a:lnTo>
                    <a:pt x="15" y="10"/>
                  </a:lnTo>
                  <a:lnTo>
                    <a:pt x="15" y="10"/>
                  </a:lnTo>
                  <a:lnTo>
                    <a:pt x="14" y="10"/>
                  </a:lnTo>
                  <a:lnTo>
                    <a:pt x="14" y="8"/>
                  </a:lnTo>
                  <a:lnTo>
                    <a:pt x="14" y="8"/>
                  </a:lnTo>
                  <a:lnTo>
                    <a:pt x="14" y="8"/>
                  </a:lnTo>
                  <a:lnTo>
                    <a:pt x="14" y="6"/>
                  </a:lnTo>
                  <a:lnTo>
                    <a:pt x="14" y="6"/>
                  </a:lnTo>
                  <a:lnTo>
                    <a:pt x="14" y="6"/>
                  </a:lnTo>
                  <a:lnTo>
                    <a:pt x="14" y="6"/>
                  </a:lnTo>
                  <a:lnTo>
                    <a:pt x="14" y="6"/>
                  </a:lnTo>
                  <a:lnTo>
                    <a:pt x="12" y="6"/>
                  </a:lnTo>
                  <a:lnTo>
                    <a:pt x="10" y="6"/>
                  </a:lnTo>
                  <a:lnTo>
                    <a:pt x="10" y="6"/>
                  </a:lnTo>
                  <a:lnTo>
                    <a:pt x="10" y="4"/>
                  </a:lnTo>
                  <a:lnTo>
                    <a:pt x="10" y="4"/>
                  </a:lnTo>
                  <a:lnTo>
                    <a:pt x="10" y="4"/>
                  </a:lnTo>
                  <a:lnTo>
                    <a:pt x="8" y="2"/>
                  </a:lnTo>
                  <a:lnTo>
                    <a:pt x="8" y="2"/>
                  </a:lnTo>
                  <a:lnTo>
                    <a:pt x="8" y="2"/>
                  </a:lnTo>
                  <a:lnTo>
                    <a:pt x="8" y="0"/>
                  </a:lnTo>
                  <a:lnTo>
                    <a:pt x="8" y="0"/>
                  </a:lnTo>
                  <a:lnTo>
                    <a:pt x="8" y="0"/>
                  </a:lnTo>
                  <a:lnTo>
                    <a:pt x="6" y="0"/>
                  </a:lnTo>
                  <a:lnTo>
                    <a:pt x="4" y="0"/>
                  </a:lnTo>
                  <a:lnTo>
                    <a:pt x="0" y="2"/>
                  </a:lnTo>
                  <a:lnTo>
                    <a:pt x="0" y="2"/>
                  </a:lnTo>
                  <a:lnTo>
                    <a:pt x="2" y="4"/>
                  </a:lnTo>
                  <a:lnTo>
                    <a:pt x="2" y="6"/>
                  </a:lnTo>
                  <a:lnTo>
                    <a:pt x="10" y="23"/>
                  </a:lnTo>
                  <a:lnTo>
                    <a:pt x="12" y="27"/>
                  </a:lnTo>
                  <a:lnTo>
                    <a:pt x="12" y="27"/>
                  </a:lnTo>
                  <a:lnTo>
                    <a:pt x="12" y="29"/>
                  </a:lnTo>
                  <a:lnTo>
                    <a:pt x="12" y="31"/>
                  </a:lnTo>
                  <a:lnTo>
                    <a:pt x="14" y="31"/>
                  </a:lnTo>
                  <a:lnTo>
                    <a:pt x="14" y="31"/>
                  </a:lnTo>
                  <a:lnTo>
                    <a:pt x="14" y="33"/>
                  </a:lnTo>
                  <a:lnTo>
                    <a:pt x="14" y="33"/>
                  </a:lnTo>
                  <a:lnTo>
                    <a:pt x="15" y="35"/>
                  </a:lnTo>
                  <a:lnTo>
                    <a:pt x="21" y="46"/>
                  </a:lnTo>
                  <a:lnTo>
                    <a:pt x="23" y="48"/>
                  </a:lnTo>
                  <a:lnTo>
                    <a:pt x="23" y="52"/>
                  </a:lnTo>
                  <a:lnTo>
                    <a:pt x="23" y="52"/>
                  </a:lnTo>
                  <a:lnTo>
                    <a:pt x="23" y="54"/>
                  </a:lnTo>
                  <a:lnTo>
                    <a:pt x="23" y="52"/>
                  </a:lnTo>
                  <a:lnTo>
                    <a:pt x="25" y="52"/>
                  </a:lnTo>
                  <a:lnTo>
                    <a:pt x="25" y="52"/>
                  </a:lnTo>
                  <a:lnTo>
                    <a:pt x="27" y="50"/>
                  </a:lnTo>
                  <a:lnTo>
                    <a:pt x="27" y="52"/>
                  </a:lnTo>
                  <a:lnTo>
                    <a:pt x="25" y="54"/>
                  </a:lnTo>
                  <a:lnTo>
                    <a:pt x="27" y="59"/>
                  </a:lnTo>
                  <a:lnTo>
                    <a:pt x="31" y="67"/>
                  </a:lnTo>
                  <a:lnTo>
                    <a:pt x="31" y="71"/>
                  </a:lnTo>
                  <a:lnTo>
                    <a:pt x="31" y="73"/>
                  </a:lnTo>
                  <a:lnTo>
                    <a:pt x="33" y="73"/>
                  </a:lnTo>
                  <a:lnTo>
                    <a:pt x="33" y="73"/>
                  </a:lnTo>
                  <a:lnTo>
                    <a:pt x="33" y="73"/>
                  </a:lnTo>
                  <a:lnTo>
                    <a:pt x="33" y="73"/>
                  </a:lnTo>
                  <a:lnTo>
                    <a:pt x="35" y="73"/>
                  </a:lnTo>
                  <a:lnTo>
                    <a:pt x="35" y="71"/>
                  </a:lnTo>
                  <a:lnTo>
                    <a:pt x="35" y="65"/>
                  </a:lnTo>
                  <a:lnTo>
                    <a:pt x="35" y="63"/>
                  </a:lnTo>
                  <a:lnTo>
                    <a:pt x="36" y="65"/>
                  </a:lnTo>
                  <a:lnTo>
                    <a:pt x="38" y="65"/>
                  </a:lnTo>
                  <a:lnTo>
                    <a:pt x="38" y="63"/>
                  </a:lnTo>
                  <a:lnTo>
                    <a:pt x="40" y="63"/>
                  </a:lnTo>
                  <a:lnTo>
                    <a:pt x="40" y="63"/>
                  </a:lnTo>
                  <a:lnTo>
                    <a:pt x="42" y="61"/>
                  </a:lnTo>
                  <a:lnTo>
                    <a:pt x="42" y="61"/>
                  </a:lnTo>
                  <a:lnTo>
                    <a:pt x="44" y="61"/>
                  </a:lnTo>
                  <a:lnTo>
                    <a:pt x="46" y="61"/>
                  </a:lnTo>
                  <a:lnTo>
                    <a:pt x="48" y="61"/>
                  </a:lnTo>
                  <a:lnTo>
                    <a:pt x="48" y="59"/>
                  </a:lnTo>
                  <a:lnTo>
                    <a:pt x="50" y="61"/>
                  </a:lnTo>
                  <a:lnTo>
                    <a:pt x="50" y="61"/>
                  </a:lnTo>
                  <a:lnTo>
                    <a:pt x="48" y="61"/>
                  </a:lnTo>
                  <a:lnTo>
                    <a:pt x="48" y="63"/>
                  </a:lnTo>
                  <a:lnTo>
                    <a:pt x="46" y="63"/>
                  </a:lnTo>
                  <a:lnTo>
                    <a:pt x="46" y="65"/>
                  </a:lnTo>
                  <a:lnTo>
                    <a:pt x="44" y="65"/>
                  </a:lnTo>
                  <a:lnTo>
                    <a:pt x="44" y="65"/>
                  </a:lnTo>
                  <a:lnTo>
                    <a:pt x="44" y="63"/>
                  </a:lnTo>
                  <a:lnTo>
                    <a:pt x="42" y="65"/>
                  </a:lnTo>
                  <a:lnTo>
                    <a:pt x="40" y="67"/>
                  </a:lnTo>
                  <a:lnTo>
                    <a:pt x="42" y="69"/>
                  </a:lnTo>
                  <a:lnTo>
                    <a:pt x="42" y="71"/>
                  </a:lnTo>
                  <a:lnTo>
                    <a:pt x="42" y="71"/>
                  </a:lnTo>
                  <a:lnTo>
                    <a:pt x="44" y="73"/>
                  </a:lnTo>
                  <a:lnTo>
                    <a:pt x="44" y="73"/>
                  </a:lnTo>
                  <a:lnTo>
                    <a:pt x="42" y="73"/>
                  </a:lnTo>
                  <a:lnTo>
                    <a:pt x="38" y="73"/>
                  </a:lnTo>
                  <a:lnTo>
                    <a:pt x="38" y="75"/>
                  </a:lnTo>
                  <a:lnTo>
                    <a:pt x="40" y="76"/>
                  </a:lnTo>
                  <a:lnTo>
                    <a:pt x="40" y="76"/>
                  </a:lnTo>
                  <a:lnTo>
                    <a:pt x="42" y="78"/>
                  </a:lnTo>
                  <a:lnTo>
                    <a:pt x="44" y="78"/>
                  </a:lnTo>
                  <a:lnTo>
                    <a:pt x="46" y="78"/>
                  </a:lnTo>
                  <a:lnTo>
                    <a:pt x="46" y="78"/>
                  </a:lnTo>
                  <a:lnTo>
                    <a:pt x="48" y="76"/>
                  </a:lnTo>
                  <a:lnTo>
                    <a:pt x="50" y="76"/>
                  </a:lnTo>
                  <a:lnTo>
                    <a:pt x="50" y="78"/>
                  </a:lnTo>
                  <a:lnTo>
                    <a:pt x="48" y="78"/>
                  </a:lnTo>
                  <a:lnTo>
                    <a:pt x="50" y="80"/>
                  </a:lnTo>
                  <a:lnTo>
                    <a:pt x="50" y="80"/>
                  </a:lnTo>
                  <a:lnTo>
                    <a:pt x="50" y="82"/>
                  </a:lnTo>
                  <a:lnTo>
                    <a:pt x="44" y="80"/>
                  </a:lnTo>
                  <a:lnTo>
                    <a:pt x="42" y="80"/>
                  </a:lnTo>
                  <a:lnTo>
                    <a:pt x="44" y="84"/>
                  </a:lnTo>
                  <a:lnTo>
                    <a:pt x="46" y="86"/>
                  </a:lnTo>
                  <a:lnTo>
                    <a:pt x="46" y="88"/>
                  </a:lnTo>
                  <a:lnTo>
                    <a:pt x="46" y="88"/>
                  </a:lnTo>
                  <a:lnTo>
                    <a:pt x="48" y="86"/>
                  </a:lnTo>
                  <a:lnTo>
                    <a:pt x="48" y="86"/>
                  </a:lnTo>
                  <a:lnTo>
                    <a:pt x="59" y="99"/>
                  </a:lnTo>
                  <a:lnTo>
                    <a:pt x="63" y="103"/>
                  </a:lnTo>
                  <a:lnTo>
                    <a:pt x="67" y="114"/>
                  </a:lnTo>
                  <a:lnTo>
                    <a:pt x="67" y="116"/>
                  </a:lnTo>
                  <a:lnTo>
                    <a:pt x="69" y="118"/>
                  </a:lnTo>
                  <a:lnTo>
                    <a:pt x="69" y="120"/>
                  </a:lnTo>
                  <a:lnTo>
                    <a:pt x="69" y="122"/>
                  </a:lnTo>
                  <a:lnTo>
                    <a:pt x="71" y="124"/>
                  </a:lnTo>
                  <a:lnTo>
                    <a:pt x="71" y="124"/>
                  </a:lnTo>
                  <a:lnTo>
                    <a:pt x="73" y="124"/>
                  </a:lnTo>
                  <a:lnTo>
                    <a:pt x="75" y="124"/>
                  </a:lnTo>
                  <a:lnTo>
                    <a:pt x="76" y="126"/>
                  </a:lnTo>
                  <a:lnTo>
                    <a:pt x="78" y="128"/>
                  </a:lnTo>
                  <a:lnTo>
                    <a:pt x="78" y="132"/>
                  </a:lnTo>
                  <a:lnTo>
                    <a:pt x="80" y="133"/>
                  </a:lnTo>
                  <a:lnTo>
                    <a:pt x="80" y="133"/>
                  </a:lnTo>
                  <a:lnTo>
                    <a:pt x="82" y="133"/>
                  </a:lnTo>
                  <a:lnTo>
                    <a:pt x="82" y="135"/>
                  </a:lnTo>
                  <a:lnTo>
                    <a:pt x="80" y="135"/>
                  </a:lnTo>
                  <a:lnTo>
                    <a:pt x="80" y="137"/>
                  </a:lnTo>
                  <a:lnTo>
                    <a:pt x="80" y="137"/>
                  </a:lnTo>
                  <a:lnTo>
                    <a:pt x="82" y="137"/>
                  </a:lnTo>
                  <a:lnTo>
                    <a:pt x="82" y="139"/>
                  </a:lnTo>
                  <a:lnTo>
                    <a:pt x="90" y="158"/>
                  </a:lnTo>
                  <a:lnTo>
                    <a:pt x="94" y="175"/>
                  </a:lnTo>
                  <a:lnTo>
                    <a:pt x="95" y="183"/>
                  </a:lnTo>
                  <a:lnTo>
                    <a:pt x="97" y="187"/>
                  </a:lnTo>
                  <a:lnTo>
                    <a:pt x="99" y="187"/>
                  </a:lnTo>
                  <a:lnTo>
                    <a:pt x="99" y="189"/>
                  </a:lnTo>
                  <a:lnTo>
                    <a:pt x="99" y="189"/>
                  </a:lnTo>
                  <a:lnTo>
                    <a:pt x="97" y="189"/>
                  </a:lnTo>
                  <a:lnTo>
                    <a:pt x="99" y="191"/>
                  </a:lnTo>
                  <a:lnTo>
                    <a:pt x="99" y="191"/>
                  </a:lnTo>
                  <a:lnTo>
                    <a:pt x="99" y="191"/>
                  </a:lnTo>
                  <a:lnTo>
                    <a:pt x="99" y="192"/>
                  </a:lnTo>
                  <a:lnTo>
                    <a:pt x="99" y="194"/>
                  </a:lnTo>
                  <a:lnTo>
                    <a:pt x="105" y="206"/>
                  </a:lnTo>
                  <a:lnTo>
                    <a:pt x="107" y="210"/>
                  </a:lnTo>
                  <a:lnTo>
                    <a:pt x="107" y="210"/>
                  </a:lnTo>
                  <a:lnTo>
                    <a:pt x="109" y="211"/>
                  </a:lnTo>
                  <a:lnTo>
                    <a:pt x="111" y="213"/>
                  </a:lnTo>
                  <a:lnTo>
                    <a:pt x="111" y="217"/>
                  </a:lnTo>
                  <a:lnTo>
                    <a:pt x="111" y="219"/>
                  </a:lnTo>
                  <a:lnTo>
                    <a:pt x="113" y="221"/>
                  </a:lnTo>
                  <a:lnTo>
                    <a:pt x="115" y="227"/>
                  </a:lnTo>
                  <a:lnTo>
                    <a:pt x="116" y="230"/>
                  </a:lnTo>
                  <a:lnTo>
                    <a:pt x="118" y="238"/>
                  </a:lnTo>
                  <a:lnTo>
                    <a:pt x="120" y="242"/>
                  </a:lnTo>
                  <a:lnTo>
                    <a:pt x="120" y="242"/>
                  </a:lnTo>
                  <a:lnTo>
                    <a:pt x="122" y="244"/>
                  </a:lnTo>
                  <a:lnTo>
                    <a:pt x="122" y="244"/>
                  </a:lnTo>
                  <a:lnTo>
                    <a:pt x="124" y="244"/>
                  </a:lnTo>
                  <a:lnTo>
                    <a:pt x="124" y="242"/>
                  </a:lnTo>
                  <a:lnTo>
                    <a:pt x="124" y="240"/>
                  </a:lnTo>
                  <a:lnTo>
                    <a:pt x="124" y="236"/>
                  </a:lnTo>
                  <a:lnTo>
                    <a:pt x="124" y="238"/>
                  </a:lnTo>
                  <a:lnTo>
                    <a:pt x="126" y="238"/>
                  </a:lnTo>
                  <a:lnTo>
                    <a:pt x="126" y="240"/>
                  </a:lnTo>
                  <a:lnTo>
                    <a:pt x="126" y="240"/>
                  </a:lnTo>
                  <a:lnTo>
                    <a:pt x="128" y="240"/>
                  </a:lnTo>
                  <a:lnTo>
                    <a:pt x="128" y="240"/>
                  </a:lnTo>
                  <a:lnTo>
                    <a:pt x="128" y="240"/>
                  </a:lnTo>
                  <a:lnTo>
                    <a:pt x="128" y="240"/>
                  </a:lnTo>
                  <a:lnTo>
                    <a:pt x="128" y="242"/>
                  </a:lnTo>
                  <a:lnTo>
                    <a:pt x="128" y="242"/>
                  </a:lnTo>
                  <a:lnTo>
                    <a:pt x="126" y="244"/>
                  </a:lnTo>
                  <a:lnTo>
                    <a:pt x="122" y="246"/>
                  </a:lnTo>
                  <a:lnTo>
                    <a:pt x="122" y="248"/>
                  </a:lnTo>
                  <a:lnTo>
                    <a:pt x="122" y="248"/>
                  </a:lnTo>
                  <a:lnTo>
                    <a:pt x="122" y="250"/>
                  </a:lnTo>
                  <a:lnTo>
                    <a:pt x="122" y="251"/>
                  </a:lnTo>
                  <a:lnTo>
                    <a:pt x="122" y="251"/>
                  </a:lnTo>
                  <a:lnTo>
                    <a:pt x="126" y="259"/>
                  </a:lnTo>
                  <a:lnTo>
                    <a:pt x="126" y="261"/>
                  </a:lnTo>
                  <a:lnTo>
                    <a:pt x="128" y="263"/>
                  </a:lnTo>
                  <a:lnTo>
                    <a:pt x="128" y="261"/>
                  </a:lnTo>
                  <a:lnTo>
                    <a:pt x="126" y="259"/>
                  </a:lnTo>
                  <a:lnTo>
                    <a:pt x="126" y="255"/>
                  </a:lnTo>
                  <a:lnTo>
                    <a:pt x="126" y="253"/>
                  </a:lnTo>
                  <a:lnTo>
                    <a:pt x="126" y="253"/>
                  </a:lnTo>
                  <a:lnTo>
                    <a:pt x="124" y="251"/>
                  </a:lnTo>
                  <a:lnTo>
                    <a:pt x="126" y="250"/>
                  </a:lnTo>
                  <a:lnTo>
                    <a:pt x="126" y="251"/>
                  </a:lnTo>
                  <a:lnTo>
                    <a:pt x="126" y="251"/>
                  </a:lnTo>
                  <a:lnTo>
                    <a:pt x="128" y="251"/>
                  </a:lnTo>
                  <a:lnTo>
                    <a:pt x="128" y="251"/>
                  </a:lnTo>
                  <a:lnTo>
                    <a:pt x="130" y="257"/>
                  </a:lnTo>
                  <a:lnTo>
                    <a:pt x="132" y="259"/>
                  </a:lnTo>
                  <a:lnTo>
                    <a:pt x="130" y="261"/>
                  </a:lnTo>
                  <a:lnTo>
                    <a:pt x="132" y="265"/>
                  </a:lnTo>
                  <a:lnTo>
                    <a:pt x="134" y="267"/>
                  </a:lnTo>
                  <a:lnTo>
                    <a:pt x="134" y="265"/>
                  </a:lnTo>
                  <a:lnTo>
                    <a:pt x="136" y="267"/>
                  </a:lnTo>
                  <a:lnTo>
                    <a:pt x="139" y="270"/>
                  </a:lnTo>
                  <a:lnTo>
                    <a:pt x="139" y="270"/>
                  </a:lnTo>
                  <a:lnTo>
                    <a:pt x="141" y="274"/>
                  </a:lnTo>
                  <a:lnTo>
                    <a:pt x="141" y="276"/>
                  </a:lnTo>
                  <a:lnTo>
                    <a:pt x="141" y="278"/>
                  </a:lnTo>
                  <a:lnTo>
                    <a:pt x="141" y="280"/>
                  </a:lnTo>
                  <a:lnTo>
                    <a:pt x="141" y="280"/>
                  </a:lnTo>
                  <a:lnTo>
                    <a:pt x="141" y="282"/>
                  </a:lnTo>
                  <a:lnTo>
                    <a:pt x="141" y="284"/>
                  </a:lnTo>
                  <a:lnTo>
                    <a:pt x="141" y="284"/>
                  </a:lnTo>
                  <a:lnTo>
                    <a:pt x="141" y="286"/>
                  </a:lnTo>
                  <a:lnTo>
                    <a:pt x="141" y="288"/>
                  </a:lnTo>
                  <a:lnTo>
                    <a:pt x="141" y="288"/>
                  </a:lnTo>
                  <a:lnTo>
                    <a:pt x="141" y="289"/>
                  </a:lnTo>
                  <a:lnTo>
                    <a:pt x="143" y="289"/>
                  </a:lnTo>
                  <a:lnTo>
                    <a:pt x="143" y="289"/>
                  </a:lnTo>
                  <a:lnTo>
                    <a:pt x="143" y="291"/>
                  </a:lnTo>
                  <a:lnTo>
                    <a:pt x="143" y="295"/>
                  </a:lnTo>
                  <a:lnTo>
                    <a:pt x="145" y="297"/>
                  </a:lnTo>
                  <a:lnTo>
                    <a:pt x="145" y="299"/>
                  </a:lnTo>
                  <a:lnTo>
                    <a:pt x="143" y="303"/>
                  </a:lnTo>
                  <a:lnTo>
                    <a:pt x="143" y="303"/>
                  </a:lnTo>
                  <a:lnTo>
                    <a:pt x="145" y="303"/>
                  </a:lnTo>
                  <a:lnTo>
                    <a:pt x="147" y="303"/>
                  </a:lnTo>
                  <a:lnTo>
                    <a:pt x="149" y="303"/>
                  </a:lnTo>
                  <a:lnTo>
                    <a:pt x="151" y="305"/>
                  </a:lnTo>
                  <a:lnTo>
                    <a:pt x="153" y="305"/>
                  </a:lnTo>
                  <a:lnTo>
                    <a:pt x="149" y="308"/>
                  </a:lnTo>
                  <a:lnTo>
                    <a:pt x="149" y="308"/>
                  </a:lnTo>
                  <a:lnTo>
                    <a:pt x="145" y="308"/>
                  </a:lnTo>
                  <a:lnTo>
                    <a:pt x="145" y="308"/>
                  </a:lnTo>
                  <a:lnTo>
                    <a:pt x="141" y="307"/>
                  </a:lnTo>
                  <a:lnTo>
                    <a:pt x="139" y="307"/>
                  </a:lnTo>
                  <a:lnTo>
                    <a:pt x="137" y="305"/>
                  </a:lnTo>
                  <a:lnTo>
                    <a:pt x="139" y="297"/>
                  </a:lnTo>
                  <a:lnTo>
                    <a:pt x="141" y="295"/>
                  </a:lnTo>
                  <a:lnTo>
                    <a:pt x="141" y="295"/>
                  </a:lnTo>
                  <a:lnTo>
                    <a:pt x="141" y="293"/>
                  </a:lnTo>
                  <a:lnTo>
                    <a:pt x="141" y="291"/>
                  </a:lnTo>
                  <a:lnTo>
                    <a:pt x="141" y="289"/>
                  </a:lnTo>
                  <a:lnTo>
                    <a:pt x="139" y="288"/>
                  </a:lnTo>
                  <a:lnTo>
                    <a:pt x="139" y="284"/>
                  </a:lnTo>
                  <a:lnTo>
                    <a:pt x="139" y="282"/>
                  </a:lnTo>
                  <a:lnTo>
                    <a:pt x="139" y="280"/>
                  </a:lnTo>
                  <a:lnTo>
                    <a:pt x="139" y="280"/>
                  </a:lnTo>
                  <a:lnTo>
                    <a:pt x="137" y="278"/>
                  </a:lnTo>
                  <a:lnTo>
                    <a:pt x="137" y="276"/>
                  </a:lnTo>
                  <a:lnTo>
                    <a:pt x="136" y="274"/>
                  </a:lnTo>
                  <a:lnTo>
                    <a:pt x="136" y="274"/>
                  </a:lnTo>
                  <a:lnTo>
                    <a:pt x="136" y="276"/>
                  </a:lnTo>
                  <a:lnTo>
                    <a:pt x="137" y="280"/>
                  </a:lnTo>
                  <a:lnTo>
                    <a:pt x="137" y="282"/>
                  </a:lnTo>
                  <a:lnTo>
                    <a:pt x="137" y="288"/>
                  </a:lnTo>
                  <a:lnTo>
                    <a:pt x="137" y="289"/>
                  </a:lnTo>
                  <a:lnTo>
                    <a:pt x="137" y="289"/>
                  </a:lnTo>
                  <a:lnTo>
                    <a:pt x="134" y="274"/>
                  </a:lnTo>
                  <a:lnTo>
                    <a:pt x="134" y="272"/>
                  </a:lnTo>
                  <a:lnTo>
                    <a:pt x="134" y="274"/>
                  </a:lnTo>
                  <a:lnTo>
                    <a:pt x="134" y="276"/>
                  </a:lnTo>
                  <a:lnTo>
                    <a:pt x="134" y="276"/>
                  </a:lnTo>
                  <a:lnTo>
                    <a:pt x="132" y="276"/>
                  </a:lnTo>
                  <a:lnTo>
                    <a:pt x="132" y="276"/>
                  </a:lnTo>
                  <a:lnTo>
                    <a:pt x="132" y="276"/>
                  </a:lnTo>
                  <a:lnTo>
                    <a:pt x="132" y="274"/>
                  </a:lnTo>
                  <a:lnTo>
                    <a:pt x="132" y="274"/>
                  </a:lnTo>
                  <a:lnTo>
                    <a:pt x="132" y="272"/>
                  </a:lnTo>
                  <a:lnTo>
                    <a:pt x="132" y="274"/>
                  </a:lnTo>
                  <a:lnTo>
                    <a:pt x="132" y="274"/>
                  </a:lnTo>
                  <a:lnTo>
                    <a:pt x="130" y="274"/>
                  </a:lnTo>
                  <a:lnTo>
                    <a:pt x="130" y="272"/>
                  </a:lnTo>
                  <a:lnTo>
                    <a:pt x="130" y="272"/>
                  </a:lnTo>
                  <a:lnTo>
                    <a:pt x="130" y="270"/>
                  </a:lnTo>
                  <a:lnTo>
                    <a:pt x="130" y="270"/>
                  </a:lnTo>
                  <a:lnTo>
                    <a:pt x="132" y="270"/>
                  </a:lnTo>
                  <a:lnTo>
                    <a:pt x="132" y="270"/>
                  </a:lnTo>
                  <a:lnTo>
                    <a:pt x="132" y="269"/>
                  </a:lnTo>
                  <a:lnTo>
                    <a:pt x="130" y="267"/>
                  </a:lnTo>
                  <a:lnTo>
                    <a:pt x="128" y="265"/>
                  </a:lnTo>
                  <a:lnTo>
                    <a:pt x="128" y="267"/>
                  </a:lnTo>
                  <a:lnTo>
                    <a:pt x="128" y="267"/>
                  </a:lnTo>
                  <a:lnTo>
                    <a:pt x="128" y="272"/>
                  </a:lnTo>
                  <a:lnTo>
                    <a:pt x="130" y="272"/>
                  </a:lnTo>
                  <a:lnTo>
                    <a:pt x="132" y="280"/>
                  </a:lnTo>
                  <a:lnTo>
                    <a:pt x="134" y="293"/>
                  </a:lnTo>
                  <a:lnTo>
                    <a:pt x="132" y="297"/>
                  </a:lnTo>
                  <a:lnTo>
                    <a:pt x="134" y="308"/>
                  </a:lnTo>
                  <a:lnTo>
                    <a:pt x="139" y="326"/>
                  </a:lnTo>
                  <a:lnTo>
                    <a:pt x="147" y="341"/>
                  </a:lnTo>
                  <a:lnTo>
                    <a:pt x="147" y="341"/>
                  </a:lnTo>
                  <a:lnTo>
                    <a:pt x="147" y="341"/>
                  </a:lnTo>
                  <a:lnTo>
                    <a:pt x="143" y="333"/>
                  </a:lnTo>
                  <a:lnTo>
                    <a:pt x="143" y="331"/>
                  </a:lnTo>
                  <a:lnTo>
                    <a:pt x="145" y="333"/>
                  </a:lnTo>
                  <a:lnTo>
                    <a:pt x="147" y="335"/>
                  </a:lnTo>
                  <a:lnTo>
                    <a:pt x="149" y="341"/>
                  </a:lnTo>
                  <a:lnTo>
                    <a:pt x="149" y="341"/>
                  </a:lnTo>
                  <a:lnTo>
                    <a:pt x="149" y="341"/>
                  </a:lnTo>
                  <a:lnTo>
                    <a:pt x="149" y="341"/>
                  </a:lnTo>
                  <a:lnTo>
                    <a:pt x="151" y="339"/>
                  </a:lnTo>
                  <a:lnTo>
                    <a:pt x="149" y="343"/>
                  </a:lnTo>
                  <a:lnTo>
                    <a:pt x="149" y="345"/>
                  </a:lnTo>
                  <a:lnTo>
                    <a:pt x="149" y="345"/>
                  </a:lnTo>
                  <a:lnTo>
                    <a:pt x="149" y="343"/>
                  </a:lnTo>
                  <a:lnTo>
                    <a:pt x="149" y="343"/>
                  </a:lnTo>
                  <a:lnTo>
                    <a:pt x="149" y="343"/>
                  </a:lnTo>
                  <a:lnTo>
                    <a:pt x="149" y="343"/>
                  </a:lnTo>
                  <a:lnTo>
                    <a:pt x="149" y="345"/>
                  </a:lnTo>
                  <a:lnTo>
                    <a:pt x="151" y="350"/>
                  </a:lnTo>
                  <a:lnTo>
                    <a:pt x="153" y="354"/>
                  </a:lnTo>
                  <a:lnTo>
                    <a:pt x="153" y="356"/>
                  </a:lnTo>
                  <a:lnTo>
                    <a:pt x="153" y="356"/>
                  </a:lnTo>
                  <a:lnTo>
                    <a:pt x="153" y="358"/>
                  </a:lnTo>
                  <a:lnTo>
                    <a:pt x="155" y="360"/>
                  </a:lnTo>
                  <a:lnTo>
                    <a:pt x="155" y="360"/>
                  </a:lnTo>
                  <a:lnTo>
                    <a:pt x="155" y="362"/>
                  </a:lnTo>
                  <a:lnTo>
                    <a:pt x="155" y="360"/>
                  </a:lnTo>
                  <a:lnTo>
                    <a:pt x="155" y="358"/>
                  </a:lnTo>
                  <a:lnTo>
                    <a:pt x="156" y="356"/>
                  </a:lnTo>
                  <a:lnTo>
                    <a:pt x="158" y="356"/>
                  </a:lnTo>
                  <a:lnTo>
                    <a:pt x="156" y="358"/>
                  </a:lnTo>
                  <a:lnTo>
                    <a:pt x="156" y="358"/>
                  </a:lnTo>
                  <a:lnTo>
                    <a:pt x="156" y="358"/>
                  </a:lnTo>
                  <a:lnTo>
                    <a:pt x="156" y="360"/>
                  </a:lnTo>
                  <a:lnTo>
                    <a:pt x="158" y="358"/>
                  </a:lnTo>
                  <a:lnTo>
                    <a:pt x="158" y="356"/>
                  </a:lnTo>
                  <a:lnTo>
                    <a:pt x="160" y="356"/>
                  </a:lnTo>
                  <a:lnTo>
                    <a:pt x="162" y="356"/>
                  </a:lnTo>
                  <a:lnTo>
                    <a:pt x="162" y="356"/>
                  </a:lnTo>
                  <a:lnTo>
                    <a:pt x="164" y="356"/>
                  </a:lnTo>
                  <a:lnTo>
                    <a:pt x="164" y="354"/>
                  </a:lnTo>
                  <a:lnTo>
                    <a:pt x="164" y="354"/>
                  </a:lnTo>
                  <a:lnTo>
                    <a:pt x="166" y="354"/>
                  </a:lnTo>
                  <a:lnTo>
                    <a:pt x="168" y="354"/>
                  </a:lnTo>
                  <a:lnTo>
                    <a:pt x="168" y="356"/>
                  </a:lnTo>
                  <a:lnTo>
                    <a:pt x="166" y="356"/>
                  </a:lnTo>
                  <a:lnTo>
                    <a:pt x="164" y="356"/>
                  </a:lnTo>
                  <a:lnTo>
                    <a:pt x="164" y="356"/>
                  </a:lnTo>
                  <a:lnTo>
                    <a:pt x="164" y="356"/>
                  </a:lnTo>
                  <a:lnTo>
                    <a:pt x="166" y="358"/>
                  </a:lnTo>
                  <a:lnTo>
                    <a:pt x="166" y="358"/>
                  </a:lnTo>
                  <a:lnTo>
                    <a:pt x="166" y="358"/>
                  </a:lnTo>
                  <a:lnTo>
                    <a:pt x="162" y="358"/>
                  </a:lnTo>
                  <a:lnTo>
                    <a:pt x="160" y="358"/>
                  </a:lnTo>
                  <a:lnTo>
                    <a:pt x="158" y="360"/>
                  </a:lnTo>
                  <a:lnTo>
                    <a:pt x="158" y="360"/>
                  </a:lnTo>
                  <a:lnTo>
                    <a:pt x="158" y="362"/>
                  </a:lnTo>
                  <a:lnTo>
                    <a:pt x="158" y="364"/>
                  </a:lnTo>
                  <a:lnTo>
                    <a:pt x="160" y="362"/>
                  </a:lnTo>
                  <a:lnTo>
                    <a:pt x="162" y="362"/>
                  </a:lnTo>
                  <a:lnTo>
                    <a:pt x="162" y="362"/>
                  </a:lnTo>
                  <a:lnTo>
                    <a:pt x="162" y="364"/>
                  </a:lnTo>
                  <a:lnTo>
                    <a:pt x="160" y="364"/>
                  </a:lnTo>
                  <a:lnTo>
                    <a:pt x="158" y="364"/>
                  </a:lnTo>
                  <a:lnTo>
                    <a:pt x="156" y="362"/>
                  </a:lnTo>
                  <a:lnTo>
                    <a:pt x="156" y="362"/>
                  </a:lnTo>
                  <a:lnTo>
                    <a:pt x="156" y="364"/>
                  </a:lnTo>
                  <a:lnTo>
                    <a:pt x="156" y="366"/>
                  </a:lnTo>
                  <a:lnTo>
                    <a:pt x="166" y="371"/>
                  </a:lnTo>
                  <a:lnTo>
                    <a:pt x="166" y="373"/>
                  </a:lnTo>
                  <a:lnTo>
                    <a:pt x="170" y="379"/>
                  </a:lnTo>
                  <a:lnTo>
                    <a:pt x="174" y="383"/>
                  </a:lnTo>
                  <a:lnTo>
                    <a:pt x="174" y="385"/>
                  </a:lnTo>
                  <a:lnTo>
                    <a:pt x="181" y="392"/>
                  </a:lnTo>
                  <a:lnTo>
                    <a:pt x="181" y="396"/>
                  </a:lnTo>
                  <a:lnTo>
                    <a:pt x="187" y="400"/>
                  </a:lnTo>
                  <a:lnTo>
                    <a:pt x="195" y="411"/>
                  </a:lnTo>
                  <a:lnTo>
                    <a:pt x="198" y="415"/>
                  </a:lnTo>
                  <a:lnTo>
                    <a:pt x="208" y="423"/>
                  </a:lnTo>
                  <a:lnTo>
                    <a:pt x="208" y="421"/>
                  </a:lnTo>
                  <a:lnTo>
                    <a:pt x="210" y="421"/>
                  </a:lnTo>
                  <a:lnTo>
                    <a:pt x="210" y="421"/>
                  </a:lnTo>
                  <a:lnTo>
                    <a:pt x="212" y="421"/>
                  </a:lnTo>
                  <a:lnTo>
                    <a:pt x="212" y="421"/>
                  </a:lnTo>
                  <a:lnTo>
                    <a:pt x="214" y="421"/>
                  </a:lnTo>
                  <a:lnTo>
                    <a:pt x="214" y="421"/>
                  </a:lnTo>
                  <a:lnTo>
                    <a:pt x="214" y="419"/>
                  </a:lnTo>
                  <a:lnTo>
                    <a:pt x="214" y="419"/>
                  </a:lnTo>
                  <a:lnTo>
                    <a:pt x="214" y="417"/>
                  </a:lnTo>
                  <a:lnTo>
                    <a:pt x="214" y="417"/>
                  </a:lnTo>
                  <a:lnTo>
                    <a:pt x="214" y="417"/>
                  </a:lnTo>
                  <a:lnTo>
                    <a:pt x="216" y="415"/>
                  </a:lnTo>
                  <a:lnTo>
                    <a:pt x="217" y="411"/>
                  </a:lnTo>
                  <a:lnTo>
                    <a:pt x="217" y="411"/>
                  </a:lnTo>
                  <a:lnTo>
                    <a:pt x="217" y="409"/>
                  </a:lnTo>
                  <a:lnTo>
                    <a:pt x="217" y="409"/>
                  </a:lnTo>
                  <a:lnTo>
                    <a:pt x="217" y="405"/>
                  </a:lnTo>
                  <a:lnTo>
                    <a:pt x="217" y="405"/>
                  </a:lnTo>
                  <a:lnTo>
                    <a:pt x="217" y="404"/>
                  </a:lnTo>
                  <a:lnTo>
                    <a:pt x="217" y="404"/>
                  </a:lnTo>
                  <a:lnTo>
                    <a:pt x="217" y="404"/>
                  </a:lnTo>
                  <a:lnTo>
                    <a:pt x="217" y="404"/>
                  </a:lnTo>
                  <a:lnTo>
                    <a:pt x="217" y="404"/>
                  </a:lnTo>
                  <a:lnTo>
                    <a:pt x="217" y="405"/>
                  </a:lnTo>
                  <a:lnTo>
                    <a:pt x="219" y="405"/>
                  </a:lnTo>
                  <a:lnTo>
                    <a:pt x="219" y="405"/>
                  </a:lnTo>
                  <a:lnTo>
                    <a:pt x="221" y="404"/>
                  </a:lnTo>
                  <a:lnTo>
                    <a:pt x="221" y="402"/>
                  </a:lnTo>
                  <a:lnTo>
                    <a:pt x="223" y="402"/>
                  </a:lnTo>
                  <a:lnTo>
                    <a:pt x="223" y="400"/>
                  </a:lnTo>
                  <a:lnTo>
                    <a:pt x="223" y="398"/>
                  </a:lnTo>
                  <a:lnTo>
                    <a:pt x="223" y="398"/>
                  </a:lnTo>
                  <a:lnTo>
                    <a:pt x="223" y="396"/>
                  </a:lnTo>
                  <a:lnTo>
                    <a:pt x="221" y="394"/>
                  </a:lnTo>
                  <a:lnTo>
                    <a:pt x="217" y="392"/>
                  </a:lnTo>
                  <a:lnTo>
                    <a:pt x="216" y="390"/>
                  </a:lnTo>
                  <a:lnTo>
                    <a:pt x="216" y="390"/>
                  </a:lnTo>
                  <a:lnTo>
                    <a:pt x="216" y="388"/>
                  </a:lnTo>
                  <a:lnTo>
                    <a:pt x="216" y="388"/>
                  </a:lnTo>
                  <a:lnTo>
                    <a:pt x="216" y="386"/>
                  </a:lnTo>
                  <a:lnTo>
                    <a:pt x="216" y="386"/>
                  </a:lnTo>
                  <a:lnTo>
                    <a:pt x="214" y="385"/>
                  </a:lnTo>
                  <a:lnTo>
                    <a:pt x="214" y="385"/>
                  </a:lnTo>
                  <a:lnTo>
                    <a:pt x="214" y="383"/>
                  </a:lnTo>
                  <a:lnTo>
                    <a:pt x="216" y="381"/>
                  </a:lnTo>
                  <a:lnTo>
                    <a:pt x="219" y="375"/>
                  </a:lnTo>
                  <a:lnTo>
                    <a:pt x="221" y="369"/>
                  </a:lnTo>
                  <a:lnTo>
                    <a:pt x="221" y="369"/>
                  </a:lnTo>
                  <a:lnTo>
                    <a:pt x="221" y="369"/>
                  </a:lnTo>
                  <a:lnTo>
                    <a:pt x="221" y="369"/>
                  </a:lnTo>
                  <a:lnTo>
                    <a:pt x="221" y="367"/>
                  </a:lnTo>
                  <a:lnTo>
                    <a:pt x="219" y="367"/>
                  </a:lnTo>
                  <a:lnTo>
                    <a:pt x="217" y="366"/>
                  </a:lnTo>
                  <a:lnTo>
                    <a:pt x="217" y="366"/>
                  </a:lnTo>
                  <a:lnTo>
                    <a:pt x="216" y="362"/>
                  </a:lnTo>
                  <a:lnTo>
                    <a:pt x="214" y="356"/>
                  </a:lnTo>
                  <a:lnTo>
                    <a:pt x="214" y="356"/>
                  </a:lnTo>
                  <a:lnTo>
                    <a:pt x="214" y="354"/>
                  </a:lnTo>
                  <a:lnTo>
                    <a:pt x="214" y="354"/>
                  </a:lnTo>
                  <a:lnTo>
                    <a:pt x="217" y="352"/>
                  </a:lnTo>
                  <a:lnTo>
                    <a:pt x="219" y="348"/>
                  </a:lnTo>
                  <a:lnTo>
                    <a:pt x="221" y="345"/>
                  </a:lnTo>
                  <a:lnTo>
                    <a:pt x="227" y="327"/>
                  </a:lnTo>
                  <a:lnTo>
                    <a:pt x="229" y="324"/>
                  </a:lnTo>
                  <a:lnTo>
                    <a:pt x="231" y="316"/>
                  </a:lnTo>
                  <a:lnTo>
                    <a:pt x="233" y="316"/>
                  </a:lnTo>
                  <a:lnTo>
                    <a:pt x="233" y="314"/>
                  </a:lnTo>
                  <a:lnTo>
                    <a:pt x="235" y="312"/>
                  </a:lnTo>
                  <a:lnTo>
                    <a:pt x="235" y="310"/>
                  </a:lnTo>
                  <a:lnTo>
                    <a:pt x="235" y="308"/>
                  </a:lnTo>
                  <a:close/>
                </a:path>
              </a:pathLst>
            </a:custGeom>
            <a:solidFill>
              <a:schemeClr val="accent4">
                <a:lumMod val="40000"/>
                <a:lumOff val="60000"/>
              </a:schemeClr>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96" name="Freeform 45">
              <a:extLst>
                <a:ext uri="{FF2B5EF4-FFF2-40B4-BE49-F238E27FC236}">
                  <a16:creationId xmlns:a16="http://schemas.microsoft.com/office/drawing/2014/main" id="{B950826A-199C-5F10-F265-7C2FCBA4399E}"/>
                </a:ext>
              </a:extLst>
            </p:cNvPr>
            <p:cNvSpPr>
              <a:spLocks/>
            </p:cNvSpPr>
            <p:nvPr/>
          </p:nvSpPr>
          <p:spPr bwMode="auto">
            <a:xfrm>
              <a:off x="2177668" y="5375314"/>
              <a:ext cx="443336" cy="715517"/>
            </a:xfrm>
            <a:custGeom>
              <a:avLst/>
              <a:gdLst>
                <a:gd name="T0" fmla="*/ 219 w 235"/>
                <a:gd name="T1" fmla="*/ 303 h 423"/>
                <a:gd name="T2" fmla="*/ 219 w 235"/>
                <a:gd name="T3" fmla="*/ 282 h 423"/>
                <a:gd name="T4" fmla="*/ 223 w 235"/>
                <a:gd name="T5" fmla="*/ 246 h 423"/>
                <a:gd name="T6" fmla="*/ 216 w 235"/>
                <a:gd name="T7" fmla="*/ 229 h 423"/>
                <a:gd name="T8" fmla="*/ 191 w 235"/>
                <a:gd name="T9" fmla="*/ 240 h 423"/>
                <a:gd name="T10" fmla="*/ 181 w 235"/>
                <a:gd name="T11" fmla="*/ 223 h 423"/>
                <a:gd name="T12" fmla="*/ 185 w 235"/>
                <a:gd name="T13" fmla="*/ 200 h 423"/>
                <a:gd name="T14" fmla="*/ 185 w 235"/>
                <a:gd name="T15" fmla="*/ 185 h 423"/>
                <a:gd name="T16" fmla="*/ 168 w 235"/>
                <a:gd name="T17" fmla="*/ 170 h 423"/>
                <a:gd name="T18" fmla="*/ 176 w 235"/>
                <a:gd name="T19" fmla="*/ 164 h 423"/>
                <a:gd name="T20" fmla="*/ 170 w 235"/>
                <a:gd name="T21" fmla="*/ 151 h 423"/>
                <a:gd name="T22" fmla="*/ 155 w 235"/>
                <a:gd name="T23" fmla="*/ 149 h 423"/>
                <a:gd name="T24" fmla="*/ 155 w 235"/>
                <a:gd name="T25" fmla="*/ 139 h 423"/>
                <a:gd name="T26" fmla="*/ 128 w 235"/>
                <a:gd name="T27" fmla="*/ 122 h 423"/>
                <a:gd name="T28" fmla="*/ 128 w 235"/>
                <a:gd name="T29" fmla="*/ 113 h 423"/>
                <a:gd name="T30" fmla="*/ 143 w 235"/>
                <a:gd name="T31" fmla="*/ 107 h 423"/>
                <a:gd name="T32" fmla="*/ 139 w 235"/>
                <a:gd name="T33" fmla="*/ 97 h 423"/>
                <a:gd name="T34" fmla="*/ 128 w 235"/>
                <a:gd name="T35" fmla="*/ 92 h 423"/>
                <a:gd name="T36" fmla="*/ 116 w 235"/>
                <a:gd name="T37" fmla="*/ 88 h 423"/>
                <a:gd name="T38" fmla="*/ 103 w 235"/>
                <a:gd name="T39" fmla="*/ 80 h 423"/>
                <a:gd name="T40" fmla="*/ 84 w 235"/>
                <a:gd name="T41" fmla="*/ 67 h 423"/>
                <a:gd name="T42" fmla="*/ 73 w 235"/>
                <a:gd name="T43" fmla="*/ 65 h 423"/>
                <a:gd name="T44" fmla="*/ 52 w 235"/>
                <a:gd name="T45" fmla="*/ 46 h 423"/>
                <a:gd name="T46" fmla="*/ 44 w 235"/>
                <a:gd name="T47" fmla="*/ 36 h 423"/>
                <a:gd name="T48" fmla="*/ 46 w 235"/>
                <a:gd name="T49" fmla="*/ 29 h 423"/>
                <a:gd name="T50" fmla="*/ 38 w 235"/>
                <a:gd name="T51" fmla="*/ 25 h 423"/>
                <a:gd name="T52" fmla="*/ 31 w 235"/>
                <a:gd name="T53" fmla="*/ 17 h 423"/>
                <a:gd name="T54" fmla="*/ 23 w 235"/>
                <a:gd name="T55" fmla="*/ 12 h 423"/>
                <a:gd name="T56" fmla="*/ 15 w 235"/>
                <a:gd name="T57" fmla="*/ 10 h 423"/>
                <a:gd name="T58" fmla="*/ 10 w 235"/>
                <a:gd name="T59" fmla="*/ 6 h 423"/>
                <a:gd name="T60" fmla="*/ 0 w 235"/>
                <a:gd name="T61" fmla="*/ 2 h 423"/>
                <a:gd name="T62" fmla="*/ 21 w 235"/>
                <a:gd name="T63" fmla="*/ 46 h 423"/>
                <a:gd name="T64" fmla="*/ 31 w 235"/>
                <a:gd name="T65" fmla="*/ 71 h 423"/>
                <a:gd name="T66" fmla="*/ 40 w 235"/>
                <a:gd name="T67" fmla="*/ 63 h 423"/>
                <a:gd name="T68" fmla="*/ 46 w 235"/>
                <a:gd name="T69" fmla="*/ 65 h 423"/>
                <a:gd name="T70" fmla="*/ 38 w 235"/>
                <a:gd name="T71" fmla="*/ 75 h 423"/>
                <a:gd name="T72" fmla="*/ 50 w 235"/>
                <a:gd name="T73" fmla="*/ 82 h 423"/>
                <a:gd name="T74" fmla="*/ 69 w 235"/>
                <a:gd name="T75" fmla="*/ 118 h 423"/>
                <a:gd name="T76" fmla="*/ 82 w 235"/>
                <a:gd name="T77" fmla="*/ 135 h 423"/>
                <a:gd name="T78" fmla="*/ 97 w 235"/>
                <a:gd name="T79" fmla="*/ 189 h 423"/>
                <a:gd name="T80" fmla="*/ 113 w 235"/>
                <a:gd name="T81" fmla="*/ 221 h 423"/>
                <a:gd name="T82" fmla="*/ 126 w 235"/>
                <a:gd name="T83" fmla="*/ 238 h 423"/>
                <a:gd name="T84" fmla="*/ 122 w 235"/>
                <a:gd name="T85" fmla="*/ 250 h 423"/>
                <a:gd name="T86" fmla="*/ 126 w 235"/>
                <a:gd name="T87" fmla="*/ 251 h 423"/>
                <a:gd name="T88" fmla="*/ 141 w 235"/>
                <a:gd name="T89" fmla="*/ 274 h 423"/>
                <a:gd name="T90" fmla="*/ 143 w 235"/>
                <a:gd name="T91" fmla="*/ 289 h 423"/>
                <a:gd name="T92" fmla="*/ 149 w 235"/>
                <a:gd name="T93" fmla="*/ 308 h 423"/>
                <a:gd name="T94" fmla="*/ 139 w 235"/>
                <a:gd name="T95" fmla="*/ 284 h 423"/>
                <a:gd name="T96" fmla="*/ 137 w 235"/>
                <a:gd name="T97" fmla="*/ 289 h 423"/>
                <a:gd name="T98" fmla="*/ 132 w 235"/>
                <a:gd name="T99" fmla="*/ 274 h 423"/>
                <a:gd name="T100" fmla="*/ 128 w 235"/>
                <a:gd name="T101" fmla="*/ 272 h 423"/>
                <a:gd name="T102" fmla="*/ 147 w 235"/>
                <a:gd name="T103" fmla="*/ 335 h 423"/>
                <a:gd name="T104" fmla="*/ 149 w 235"/>
                <a:gd name="T105" fmla="*/ 345 h 423"/>
                <a:gd name="T106" fmla="*/ 156 w 235"/>
                <a:gd name="T107" fmla="*/ 358 h 423"/>
                <a:gd name="T108" fmla="*/ 168 w 235"/>
                <a:gd name="T109" fmla="*/ 354 h 423"/>
                <a:gd name="T110" fmla="*/ 158 w 235"/>
                <a:gd name="T111" fmla="*/ 362 h 423"/>
                <a:gd name="T112" fmla="*/ 166 w 235"/>
                <a:gd name="T113" fmla="*/ 373 h 423"/>
                <a:gd name="T114" fmla="*/ 212 w 235"/>
                <a:gd name="T115" fmla="*/ 421 h 423"/>
                <a:gd name="T116" fmla="*/ 217 w 235"/>
                <a:gd name="T117" fmla="*/ 409 h 423"/>
                <a:gd name="T118" fmla="*/ 223 w 235"/>
                <a:gd name="T119" fmla="*/ 402 h 423"/>
                <a:gd name="T120" fmla="*/ 214 w 235"/>
                <a:gd name="T121" fmla="*/ 385 h 423"/>
                <a:gd name="T122" fmla="*/ 216 w 235"/>
                <a:gd name="T123" fmla="*/ 362 h 423"/>
                <a:gd name="T124" fmla="*/ 235 w 235"/>
                <a:gd name="T125" fmla="*/ 312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423">
                  <a:moveTo>
                    <a:pt x="235" y="308"/>
                  </a:moveTo>
                  <a:lnTo>
                    <a:pt x="233" y="305"/>
                  </a:lnTo>
                  <a:lnTo>
                    <a:pt x="231" y="305"/>
                  </a:lnTo>
                  <a:lnTo>
                    <a:pt x="231" y="303"/>
                  </a:lnTo>
                  <a:lnTo>
                    <a:pt x="231" y="301"/>
                  </a:lnTo>
                  <a:lnTo>
                    <a:pt x="229" y="301"/>
                  </a:lnTo>
                  <a:lnTo>
                    <a:pt x="229" y="301"/>
                  </a:lnTo>
                  <a:lnTo>
                    <a:pt x="227" y="301"/>
                  </a:lnTo>
                  <a:lnTo>
                    <a:pt x="227" y="301"/>
                  </a:lnTo>
                  <a:lnTo>
                    <a:pt x="221" y="303"/>
                  </a:lnTo>
                  <a:lnTo>
                    <a:pt x="221" y="303"/>
                  </a:lnTo>
                  <a:lnTo>
                    <a:pt x="221" y="303"/>
                  </a:lnTo>
                  <a:lnTo>
                    <a:pt x="219" y="303"/>
                  </a:lnTo>
                  <a:lnTo>
                    <a:pt x="219" y="303"/>
                  </a:lnTo>
                  <a:lnTo>
                    <a:pt x="219" y="301"/>
                  </a:lnTo>
                  <a:lnTo>
                    <a:pt x="217" y="301"/>
                  </a:lnTo>
                  <a:lnTo>
                    <a:pt x="217" y="301"/>
                  </a:lnTo>
                  <a:lnTo>
                    <a:pt x="217" y="301"/>
                  </a:lnTo>
                  <a:lnTo>
                    <a:pt x="216" y="301"/>
                  </a:lnTo>
                  <a:lnTo>
                    <a:pt x="216" y="301"/>
                  </a:lnTo>
                  <a:lnTo>
                    <a:pt x="216" y="301"/>
                  </a:lnTo>
                  <a:lnTo>
                    <a:pt x="216" y="299"/>
                  </a:lnTo>
                  <a:lnTo>
                    <a:pt x="216" y="299"/>
                  </a:lnTo>
                  <a:lnTo>
                    <a:pt x="216" y="299"/>
                  </a:lnTo>
                  <a:lnTo>
                    <a:pt x="219" y="284"/>
                  </a:lnTo>
                  <a:lnTo>
                    <a:pt x="219" y="282"/>
                  </a:lnTo>
                  <a:lnTo>
                    <a:pt x="219" y="280"/>
                  </a:lnTo>
                  <a:lnTo>
                    <a:pt x="219" y="278"/>
                  </a:lnTo>
                  <a:lnTo>
                    <a:pt x="219" y="274"/>
                  </a:lnTo>
                  <a:lnTo>
                    <a:pt x="219" y="274"/>
                  </a:lnTo>
                  <a:lnTo>
                    <a:pt x="219" y="272"/>
                  </a:lnTo>
                  <a:lnTo>
                    <a:pt x="221" y="269"/>
                  </a:lnTo>
                  <a:lnTo>
                    <a:pt x="221" y="267"/>
                  </a:lnTo>
                  <a:lnTo>
                    <a:pt x="221" y="265"/>
                  </a:lnTo>
                  <a:lnTo>
                    <a:pt x="219" y="259"/>
                  </a:lnTo>
                  <a:lnTo>
                    <a:pt x="219" y="257"/>
                  </a:lnTo>
                  <a:lnTo>
                    <a:pt x="219" y="255"/>
                  </a:lnTo>
                  <a:lnTo>
                    <a:pt x="219" y="255"/>
                  </a:lnTo>
                  <a:lnTo>
                    <a:pt x="223" y="246"/>
                  </a:lnTo>
                  <a:lnTo>
                    <a:pt x="223" y="244"/>
                  </a:lnTo>
                  <a:lnTo>
                    <a:pt x="223" y="242"/>
                  </a:lnTo>
                  <a:lnTo>
                    <a:pt x="223" y="242"/>
                  </a:lnTo>
                  <a:lnTo>
                    <a:pt x="223" y="242"/>
                  </a:lnTo>
                  <a:lnTo>
                    <a:pt x="221" y="242"/>
                  </a:lnTo>
                  <a:lnTo>
                    <a:pt x="221" y="240"/>
                  </a:lnTo>
                  <a:lnTo>
                    <a:pt x="221" y="238"/>
                  </a:lnTo>
                  <a:lnTo>
                    <a:pt x="221" y="236"/>
                  </a:lnTo>
                  <a:lnTo>
                    <a:pt x="219" y="234"/>
                  </a:lnTo>
                  <a:lnTo>
                    <a:pt x="219" y="234"/>
                  </a:lnTo>
                  <a:lnTo>
                    <a:pt x="217" y="230"/>
                  </a:lnTo>
                  <a:lnTo>
                    <a:pt x="217" y="230"/>
                  </a:lnTo>
                  <a:lnTo>
                    <a:pt x="216" y="229"/>
                  </a:lnTo>
                  <a:lnTo>
                    <a:pt x="214" y="230"/>
                  </a:lnTo>
                  <a:lnTo>
                    <a:pt x="210" y="230"/>
                  </a:lnTo>
                  <a:lnTo>
                    <a:pt x="206" y="232"/>
                  </a:lnTo>
                  <a:lnTo>
                    <a:pt x="204" y="234"/>
                  </a:lnTo>
                  <a:lnTo>
                    <a:pt x="204" y="234"/>
                  </a:lnTo>
                  <a:lnTo>
                    <a:pt x="200" y="238"/>
                  </a:lnTo>
                  <a:lnTo>
                    <a:pt x="196" y="240"/>
                  </a:lnTo>
                  <a:lnTo>
                    <a:pt x="195" y="240"/>
                  </a:lnTo>
                  <a:lnTo>
                    <a:pt x="195" y="240"/>
                  </a:lnTo>
                  <a:lnTo>
                    <a:pt x="193" y="240"/>
                  </a:lnTo>
                  <a:lnTo>
                    <a:pt x="193" y="240"/>
                  </a:lnTo>
                  <a:lnTo>
                    <a:pt x="191" y="240"/>
                  </a:lnTo>
                  <a:lnTo>
                    <a:pt x="191" y="240"/>
                  </a:lnTo>
                  <a:lnTo>
                    <a:pt x="191" y="238"/>
                  </a:lnTo>
                  <a:lnTo>
                    <a:pt x="189" y="236"/>
                  </a:lnTo>
                  <a:lnTo>
                    <a:pt x="187" y="236"/>
                  </a:lnTo>
                  <a:lnTo>
                    <a:pt x="185" y="234"/>
                  </a:lnTo>
                  <a:lnTo>
                    <a:pt x="183" y="234"/>
                  </a:lnTo>
                  <a:lnTo>
                    <a:pt x="183" y="232"/>
                  </a:lnTo>
                  <a:lnTo>
                    <a:pt x="183" y="232"/>
                  </a:lnTo>
                  <a:lnTo>
                    <a:pt x="183" y="230"/>
                  </a:lnTo>
                  <a:lnTo>
                    <a:pt x="183" y="229"/>
                  </a:lnTo>
                  <a:lnTo>
                    <a:pt x="183" y="227"/>
                  </a:lnTo>
                  <a:lnTo>
                    <a:pt x="183" y="227"/>
                  </a:lnTo>
                  <a:lnTo>
                    <a:pt x="181" y="225"/>
                  </a:lnTo>
                  <a:lnTo>
                    <a:pt x="181" y="223"/>
                  </a:lnTo>
                  <a:lnTo>
                    <a:pt x="181" y="223"/>
                  </a:lnTo>
                  <a:lnTo>
                    <a:pt x="179" y="221"/>
                  </a:lnTo>
                  <a:lnTo>
                    <a:pt x="181" y="217"/>
                  </a:lnTo>
                  <a:lnTo>
                    <a:pt x="181" y="215"/>
                  </a:lnTo>
                  <a:lnTo>
                    <a:pt x="181" y="215"/>
                  </a:lnTo>
                  <a:lnTo>
                    <a:pt x="181" y="215"/>
                  </a:lnTo>
                  <a:lnTo>
                    <a:pt x="181" y="210"/>
                  </a:lnTo>
                  <a:lnTo>
                    <a:pt x="181" y="202"/>
                  </a:lnTo>
                  <a:lnTo>
                    <a:pt x="181" y="202"/>
                  </a:lnTo>
                  <a:lnTo>
                    <a:pt x="181" y="200"/>
                  </a:lnTo>
                  <a:lnTo>
                    <a:pt x="183" y="200"/>
                  </a:lnTo>
                  <a:lnTo>
                    <a:pt x="185" y="200"/>
                  </a:lnTo>
                  <a:lnTo>
                    <a:pt x="185" y="200"/>
                  </a:lnTo>
                  <a:lnTo>
                    <a:pt x="187" y="198"/>
                  </a:lnTo>
                  <a:lnTo>
                    <a:pt x="187" y="196"/>
                  </a:lnTo>
                  <a:lnTo>
                    <a:pt x="187" y="194"/>
                  </a:lnTo>
                  <a:lnTo>
                    <a:pt x="187" y="192"/>
                  </a:lnTo>
                  <a:lnTo>
                    <a:pt x="187" y="191"/>
                  </a:lnTo>
                  <a:lnTo>
                    <a:pt x="187" y="191"/>
                  </a:lnTo>
                  <a:lnTo>
                    <a:pt x="187" y="189"/>
                  </a:lnTo>
                  <a:lnTo>
                    <a:pt x="187" y="187"/>
                  </a:lnTo>
                  <a:lnTo>
                    <a:pt x="187" y="187"/>
                  </a:lnTo>
                  <a:lnTo>
                    <a:pt x="187" y="187"/>
                  </a:lnTo>
                  <a:lnTo>
                    <a:pt x="185" y="187"/>
                  </a:lnTo>
                  <a:lnTo>
                    <a:pt x="185" y="187"/>
                  </a:lnTo>
                  <a:lnTo>
                    <a:pt x="185" y="185"/>
                  </a:lnTo>
                  <a:lnTo>
                    <a:pt x="183" y="185"/>
                  </a:lnTo>
                  <a:lnTo>
                    <a:pt x="183" y="183"/>
                  </a:lnTo>
                  <a:lnTo>
                    <a:pt x="183" y="183"/>
                  </a:lnTo>
                  <a:lnTo>
                    <a:pt x="183" y="181"/>
                  </a:lnTo>
                  <a:lnTo>
                    <a:pt x="181" y="181"/>
                  </a:lnTo>
                  <a:lnTo>
                    <a:pt x="181" y="179"/>
                  </a:lnTo>
                  <a:lnTo>
                    <a:pt x="177" y="177"/>
                  </a:lnTo>
                  <a:lnTo>
                    <a:pt x="172" y="175"/>
                  </a:lnTo>
                  <a:lnTo>
                    <a:pt x="170" y="175"/>
                  </a:lnTo>
                  <a:lnTo>
                    <a:pt x="170" y="173"/>
                  </a:lnTo>
                  <a:lnTo>
                    <a:pt x="168" y="172"/>
                  </a:lnTo>
                  <a:lnTo>
                    <a:pt x="168" y="170"/>
                  </a:lnTo>
                  <a:lnTo>
                    <a:pt x="168" y="170"/>
                  </a:lnTo>
                  <a:lnTo>
                    <a:pt x="168" y="168"/>
                  </a:lnTo>
                  <a:lnTo>
                    <a:pt x="168" y="166"/>
                  </a:lnTo>
                  <a:lnTo>
                    <a:pt x="168" y="166"/>
                  </a:lnTo>
                  <a:lnTo>
                    <a:pt x="170" y="166"/>
                  </a:lnTo>
                  <a:lnTo>
                    <a:pt x="170" y="164"/>
                  </a:lnTo>
                  <a:lnTo>
                    <a:pt x="170" y="164"/>
                  </a:lnTo>
                  <a:lnTo>
                    <a:pt x="172" y="164"/>
                  </a:lnTo>
                  <a:lnTo>
                    <a:pt x="172" y="164"/>
                  </a:lnTo>
                  <a:lnTo>
                    <a:pt x="174" y="166"/>
                  </a:lnTo>
                  <a:lnTo>
                    <a:pt x="174" y="166"/>
                  </a:lnTo>
                  <a:lnTo>
                    <a:pt x="176" y="166"/>
                  </a:lnTo>
                  <a:lnTo>
                    <a:pt x="176" y="164"/>
                  </a:lnTo>
                  <a:lnTo>
                    <a:pt x="176" y="164"/>
                  </a:lnTo>
                  <a:lnTo>
                    <a:pt x="176" y="164"/>
                  </a:lnTo>
                  <a:lnTo>
                    <a:pt x="176" y="162"/>
                  </a:lnTo>
                  <a:lnTo>
                    <a:pt x="176" y="162"/>
                  </a:lnTo>
                  <a:lnTo>
                    <a:pt x="174" y="162"/>
                  </a:lnTo>
                  <a:lnTo>
                    <a:pt x="174" y="160"/>
                  </a:lnTo>
                  <a:lnTo>
                    <a:pt x="172" y="156"/>
                  </a:lnTo>
                  <a:lnTo>
                    <a:pt x="172" y="154"/>
                  </a:lnTo>
                  <a:lnTo>
                    <a:pt x="172" y="154"/>
                  </a:lnTo>
                  <a:lnTo>
                    <a:pt x="170" y="154"/>
                  </a:lnTo>
                  <a:lnTo>
                    <a:pt x="170" y="153"/>
                  </a:lnTo>
                  <a:lnTo>
                    <a:pt x="170" y="153"/>
                  </a:lnTo>
                  <a:lnTo>
                    <a:pt x="170" y="151"/>
                  </a:lnTo>
                  <a:lnTo>
                    <a:pt x="170" y="151"/>
                  </a:lnTo>
                  <a:lnTo>
                    <a:pt x="170" y="149"/>
                  </a:lnTo>
                  <a:lnTo>
                    <a:pt x="170" y="149"/>
                  </a:lnTo>
                  <a:lnTo>
                    <a:pt x="170" y="147"/>
                  </a:lnTo>
                  <a:lnTo>
                    <a:pt x="170" y="145"/>
                  </a:lnTo>
                  <a:lnTo>
                    <a:pt x="170" y="145"/>
                  </a:lnTo>
                  <a:lnTo>
                    <a:pt x="170" y="147"/>
                  </a:lnTo>
                  <a:lnTo>
                    <a:pt x="166" y="149"/>
                  </a:lnTo>
                  <a:lnTo>
                    <a:pt x="166" y="149"/>
                  </a:lnTo>
                  <a:lnTo>
                    <a:pt x="164" y="149"/>
                  </a:lnTo>
                  <a:lnTo>
                    <a:pt x="158" y="149"/>
                  </a:lnTo>
                  <a:lnTo>
                    <a:pt x="156" y="149"/>
                  </a:lnTo>
                  <a:lnTo>
                    <a:pt x="155" y="149"/>
                  </a:lnTo>
                  <a:lnTo>
                    <a:pt x="155" y="149"/>
                  </a:lnTo>
                  <a:lnTo>
                    <a:pt x="153" y="149"/>
                  </a:lnTo>
                  <a:lnTo>
                    <a:pt x="153" y="149"/>
                  </a:lnTo>
                  <a:lnTo>
                    <a:pt x="151" y="149"/>
                  </a:lnTo>
                  <a:lnTo>
                    <a:pt x="151" y="149"/>
                  </a:lnTo>
                  <a:lnTo>
                    <a:pt x="149" y="149"/>
                  </a:lnTo>
                  <a:lnTo>
                    <a:pt x="147" y="149"/>
                  </a:lnTo>
                  <a:lnTo>
                    <a:pt x="147" y="149"/>
                  </a:lnTo>
                  <a:lnTo>
                    <a:pt x="147" y="149"/>
                  </a:lnTo>
                  <a:lnTo>
                    <a:pt x="147" y="147"/>
                  </a:lnTo>
                  <a:lnTo>
                    <a:pt x="147" y="147"/>
                  </a:lnTo>
                  <a:lnTo>
                    <a:pt x="149" y="143"/>
                  </a:lnTo>
                  <a:lnTo>
                    <a:pt x="149" y="143"/>
                  </a:lnTo>
                  <a:lnTo>
                    <a:pt x="155" y="139"/>
                  </a:lnTo>
                  <a:lnTo>
                    <a:pt x="156" y="137"/>
                  </a:lnTo>
                  <a:lnTo>
                    <a:pt x="153" y="135"/>
                  </a:lnTo>
                  <a:lnTo>
                    <a:pt x="151" y="132"/>
                  </a:lnTo>
                  <a:lnTo>
                    <a:pt x="151" y="132"/>
                  </a:lnTo>
                  <a:lnTo>
                    <a:pt x="149" y="132"/>
                  </a:lnTo>
                  <a:lnTo>
                    <a:pt x="149" y="130"/>
                  </a:lnTo>
                  <a:lnTo>
                    <a:pt x="147" y="130"/>
                  </a:lnTo>
                  <a:lnTo>
                    <a:pt x="147" y="130"/>
                  </a:lnTo>
                  <a:lnTo>
                    <a:pt x="145" y="128"/>
                  </a:lnTo>
                  <a:lnTo>
                    <a:pt x="143" y="128"/>
                  </a:lnTo>
                  <a:lnTo>
                    <a:pt x="134" y="124"/>
                  </a:lnTo>
                  <a:lnTo>
                    <a:pt x="130" y="124"/>
                  </a:lnTo>
                  <a:lnTo>
                    <a:pt x="128" y="122"/>
                  </a:lnTo>
                  <a:lnTo>
                    <a:pt x="128" y="122"/>
                  </a:lnTo>
                  <a:lnTo>
                    <a:pt x="128" y="122"/>
                  </a:lnTo>
                  <a:lnTo>
                    <a:pt x="128" y="120"/>
                  </a:lnTo>
                  <a:lnTo>
                    <a:pt x="128" y="120"/>
                  </a:lnTo>
                  <a:lnTo>
                    <a:pt x="128" y="120"/>
                  </a:lnTo>
                  <a:lnTo>
                    <a:pt x="128" y="120"/>
                  </a:lnTo>
                  <a:lnTo>
                    <a:pt x="128" y="118"/>
                  </a:lnTo>
                  <a:lnTo>
                    <a:pt x="126" y="118"/>
                  </a:lnTo>
                  <a:lnTo>
                    <a:pt x="126" y="118"/>
                  </a:lnTo>
                  <a:lnTo>
                    <a:pt x="128" y="116"/>
                  </a:lnTo>
                  <a:lnTo>
                    <a:pt x="128" y="116"/>
                  </a:lnTo>
                  <a:lnTo>
                    <a:pt x="128" y="114"/>
                  </a:lnTo>
                  <a:lnTo>
                    <a:pt x="128" y="113"/>
                  </a:lnTo>
                  <a:lnTo>
                    <a:pt x="128" y="113"/>
                  </a:lnTo>
                  <a:lnTo>
                    <a:pt x="128" y="111"/>
                  </a:lnTo>
                  <a:lnTo>
                    <a:pt x="130" y="113"/>
                  </a:lnTo>
                  <a:lnTo>
                    <a:pt x="132" y="113"/>
                  </a:lnTo>
                  <a:lnTo>
                    <a:pt x="134" y="113"/>
                  </a:lnTo>
                  <a:lnTo>
                    <a:pt x="136" y="113"/>
                  </a:lnTo>
                  <a:lnTo>
                    <a:pt x="137" y="113"/>
                  </a:lnTo>
                  <a:lnTo>
                    <a:pt x="137" y="113"/>
                  </a:lnTo>
                  <a:lnTo>
                    <a:pt x="139" y="111"/>
                  </a:lnTo>
                  <a:lnTo>
                    <a:pt x="139" y="109"/>
                  </a:lnTo>
                  <a:lnTo>
                    <a:pt x="139" y="109"/>
                  </a:lnTo>
                  <a:lnTo>
                    <a:pt x="141" y="109"/>
                  </a:lnTo>
                  <a:lnTo>
                    <a:pt x="143" y="107"/>
                  </a:lnTo>
                  <a:lnTo>
                    <a:pt x="143" y="107"/>
                  </a:lnTo>
                  <a:lnTo>
                    <a:pt x="143" y="107"/>
                  </a:lnTo>
                  <a:lnTo>
                    <a:pt x="145" y="107"/>
                  </a:lnTo>
                  <a:lnTo>
                    <a:pt x="145" y="107"/>
                  </a:lnTo>
                  <a:lnTo>
                    <a:pt x="145" y="107"/>
                  </a:lnTo>
                  <a:lnTo>
                    <a:pt x="143" y="105"/>
                  </a:lnTo>
                  <a:lnTo>
                    <a:pt x="143" y="103"/>
                  </a:lnTo>
                  <a:lnTo>
                    <a:pt x="143" y="101"/>
                  </a:lnTo>
                  <a:lnTo>
                    <a:pt x="141" y="99"/>
                  </a:lnTo>
                  <a:lnTo>
                    <a:pt x="141" y="99"/>
                  </a:lnTo>
                  <a:lnTo>
                    <a:pt x="141" y="97"/>
                  </a:lnTo>
                  <a:lnTo>
                    <a:pt x="141" y="97"/>
                  </a:lnTo>
                  <a:lnTo>
                    <a:pt x="139" y="97"/>
                  </a:lnTo>
                  <a:lnTo>
                    <a:pt x="139" y="97"/>
                  </a:lnTo>
                  <a:lnTo>
                    <a:pt x="137" y="97"/>
                  </a:lnTo>
                  <a:lnTo>
                    <a:pt x="137" y="99"/>
                  </a:lnTo>
                  <a:lnTo>
                    <a:pt x="137" y="97"/>
                  </a:lnTo>
                  <a:lnTo>
                    <a:pt x="136" y="97"/>
                  </a:lnTo>
                  <a:lnTo>
                    <a:pt x="134" y="97"/>
                  </a:lnTo>
                  <a:lnTo>
                    <a:pt x="134" y="97"/>
                  </a:lnTo>
                  <a:lnTo>
                    <a:pt x="132" y="95"/>
                  </a:lnTo>
                  <a:lnTo>
                    <a:pt x="130" y="94"/>
                  </a:lnTo>
                  <a:lnTo>
                    <a:pt x="130" y="92"/>
                  </a:lnTo>
                  <a:lnTo>
                    <a:pt x="128" y="92"/>
                  </a:lnTo>
                  <a:lnTo>
                    <a:pt x="128" y="92"/>
                  </a:lnTo>
                  <a:lnTo>
                    <a:pt x="128" y="92"/>
                  </a:lnTo>
                  <a:lnTo>
                    <a:pt x="126" y="92"/>
                  </a:lnTo>
                  <a:lnTo>
                    <a:pt x="126" y="92"/>
                  </a:lnTo>
                  <a:lnTo>
                    <a:pt x="126" y="92"/>
                  </a:lnTo>
                  <a:lnTo>
                    <a:pt x="124" y="92"/>
                  </a:lnTo>
                  <a:lnTo>
                    <a:pt x="124" y="92"/>
                  </a:lnTo>
                  <a:lnTo>
                    <a:pt x="124" y="90"/>
                  </a:lnTo>
                  <a:lnTo>
                    <a:pt x="122" y="88"/>
                  </a:lnTo>
                  <a:lnTo>
                    <a:pt x="122" y="88"/>
                  </a:lnTo>
                  <a:lnTo>
                    <a:pt x="120" y="88"/>
                  </a:lnTo>
                  <a:lnTo>
                    <a:pt x="120" y="86"/>
                  </a:lnTo>
                  <a:lnTo>
                    <a:pt x="118" y="86"/>
                  </a:lnTo>
                  <a:lnTo>
                    <a:pt x="118" y="86"/>
                  </a:lnTo>
                  <a:lnTo>
                    <a:pt x="116" y="88"/>
                  </a:lnTo>
                  <a:lnTo>
                    <a:pt x="116" y="88"/>
                  </a:lnTo>
                  <a:lnTo>
                    <a:pt x="115" y="88"/>
                  </a:lnTo>
                  <a:lnTo>
                    <a:pt x="115" y="88"/>
                  </a:lnTo>
                  <a:lnTo>
                    <a:pt x="113" y="86"/>
                  </a:lnTo>
                  <a:lnTo>
                    <a:pt x="113" y="86"/>
                  </a:lnTo>
                  <a:lnTo>
                    <a:pt x="113" y="84"/>
                  </a:lnTo>
                  <a:lnTo>
                    <a:pt x="113" y="80"/>
                  </a:lnTo>
                  <a:lnTo>
                    <a:pt x="113" y="78"/>
                  </a:lnTo>
                  <a:lnTo>
                    <a:pt x="113" y="78"/>
                  </a:lnTo>
                  <a:lnTo>
                    <a:pt x="113" y="78"/>
                  </a:lnTo>
                  <a:lnTo>
                    <a:pt x="111" y="78"/>
                  </a:lnTo>
                  <a:lnTo>
                    <a:pt x="107" y="78"/>
                  </a:lnTo>
                  <a:lnTo>
                    <a:pt x="103" y="80"/>
                  </a:lnTo>
                  <a:lnTo>
                    <a:pt x="101" y="80"/>
                  </a:lnTo>
                  <a:lnTo>
                    <a:pt x="97" y="80"/>
                  </a:lnTo>
                  <a:lnTo>
                    <a:pt x="95" y="80"/>
                  </a:lnTo>
                  <a:lnTo>
                    <a:pt x="94" y="78"/>
                  </a:lnTo>
                  <a:lnTo>
                    <a:pt x="92" y="78"/>
                  </a:lnTo>
                  <a:lnTo>
                    <a:pt x="90" y="78"/>
                  </a:lnTo>
                  <a:lnTo>
                    <a:pt x="88" y="76"/>
                  </a:lnTo>
                  <a:lnTo>
                    <a:pt x="86" y="76"/>
                  </a:lnTo>
                  <a:lnTo>
                    <a:pt x="86" y="75"/>
                  </a:lnTo>
                  <a:lnTo>
                    <a:pt x="84" y="73"/>
                  </a:lnTo>
                  <a:lnTo>
                    <a:pt x="84" y="71"/>
                  </a:lnTo>
                  <a:lnTo>
                    <a:pt x="84" y="69"/>
                  </a:lnTo>
                  <a:lnTo>
                    <a:pt x="84" y="67"/>
                  </a:lnTo>
                  <a:lnTo>
                    <a:pt x="82" y="67"/>
                  </a:lnTo>
                  <a:lnTo>
                    <a:pt x="82" y="67"/>
                  </a:lnTo>
                  <a:lnTo>
                    <a:pt x="82" y="67"/>
                  </a:lnTo>
                  <a:lnTo>
                    <a:pt x="80" y="67"/>
                  </a:lnTo>
                  <a:lnTo>
                    <a:pt x="80" y="67"/>
                  </a:lnTo>
                  <a:lnTo>
                    <a:pt x="80" y="67"/>
                  </a:lnTo>
                  <a:lnTo>
                    <a:pt x="78" y="67"/>
                  </a:lnTo>
                  <a:lnTo>
                    <a:pt x="78" y="67"/>
                  </a:lnTo>
                  <a:lnTo>
                    <a:pt x="76" y="67"/>
                  </a:lnTo>
                  <a:lnTo>
                    <a:pt x="75" y="65"/>
                  </a:lnTo>
                  <a:lnTo>
                    <a:pt x="75" y="65"/>
                  </a:lnTo>
                  <a:lnTo>
                    <a:pt x="75" y="65"/>
                  </a:lnTo>
                  <a:lnTo>
                    <a:pt x="73" y="65"/>
                  </a:lnTo>
                  <a:lnTo>
                    <a:pt x="73" y="65"/>
                  </a:lnTo>
                  <a:lnTo>
                    <a:pt x="71" y="65"/>
                  </a:lnTo>
                  <a:lnTo>
                    <a:pt x="71" y="63"/>
                  </a:lnTo>
                  <a:lnTo>
                    <a:pt x="71" y="63"/>
                  </a:lnTo>
                  <a:lnTo>
                    <a:pt x="71" y="61"/>
                  </a:lnTo>
                  <a:lnTo>
                    <a:pt x="69" y="61"/>
                  </a:lnTo>
                  <a:lnTo>
                    <a:pt x="69" y="61"/>
                  </a:lnTo>
                  <a:lnTo>
                    <a:pt x="67" y="59"/>
                  </a:lnTo>
                  <a:lnTo>
                    <a:pt x="65" y="59"/>
                  </a:lnTo>
                  <a:lnTo>
                    <a:pt x="63" y="57"/>
                  </a:lnTo>
                  <a:lnTo>
                    <a:pt x="54" y="48"/>
                  </a:lnTo>
                  <a:lnTo>
                    <a:pt x="52" y="46"/>
                  </a:lnTo>
                  <a:lnTo>
                    <a:pt x="52" y="46"/>
                  </a:lnTo>
                  <a:lnTo>
                    <a:pt x="52" y="46"/>
                  </a:lnTo>
                  <a:lnTo>
                    <a:pt x="50" y="46"/>
                  </a:lnTo>
                  <a:lnTo>
                    <a:pt x="50" y="46"/>
                  </a:lnTo>
                  <a:lnTo>
                    <a:pt x="50" y="46"/>
                  </a:lnTo>
                  <a:lnTo>
                    <a:pt x="50" y="46"/>
                  </a:lnTo>
                  <a:lnTo>
                    <a:pt x="50" y="46"/>
                  </a:lnTo>
                  <a:lnTo>
                    <a:pt x="48" y="44"/>
                  </a:lnTo>
                  <a:lnTo>
                    <a:pt x="48" y="42"/>
                  </a:lnTo>
                  <a:lnTo>
                    <a:pt x="48" y="40"/>
                  </a:lnTo>
                  <a:lnTo>
                    <a:pt x="46" y="38"/>
                  </a:lnTo>
                  <a:lnTo>
                    <a:pt x="46" y="36"/>
                  </a:lnTo>
                  <a:lnTo>
                    <a:pt x="44" y="36"/>
                  </a:lnTo>
                  <a:lnTo>
                    <a:pt x="44" y="36"/>
                  </a:lnTo>
                  <a:lnTo>
                    <a:pt x="44" y="35"/>
                  </a:lnTo>
                  <a:lnTo>
                    <a:pt x="44" y="35"/>
                  </a:lnTo>
                  <a:lnTo>
                    <a:pt x="44" y="33"/>
                  </a:lnTo>
                  <a:lnTo>
                    <a:pt x="46" y="33"/>
                  </a:lnTo>
                  <a:lnTo>
                    <a:pt x="46" y="31"/>
                  </a:lnTo>
                  <a:lnTo>
                    <a:pt x="48" y="31"/>
                  </a:lnTo>
                  <a:lnTo>
                    <a:pt x="48" y="31"/>
                  </a:lnTo>
                  <a:lnTo>
                    <a:pt x="48" y="31"/>
                  </a:lnTo>
                  <a:lnTo>
                    <a:pt x="48" y="29"/>
                  </a:lnTo>
                  <a:lnTo>
                    <a:pt x="48" y="29"/>
                  </a:lnTo>
                  <a:lnTo>
                    <a:pt x="46" y="29"/>
                  </a:lnTo>
                  <a:lnTo>
                    <a:pt x="46" y="29"/>
                  </a:lnTo>
                  <a:lnTo>
                    <a:pt x="46" y="29"/>
                  </a:lnTo>
                  <a:lnTo>
                    <a:pt x="42" y="29"/>
                  </a:lnTo>
                  <a:lnTo>
                    <a:pt x="42" y="29"/>
                  </a:lnTo>
                  <a:lnTo>
                    <a:pt x="42" y="29"/>
                  </a:lnTo>
                  <a:lnTo>
                    <a:pt x="42" y="29"/>
                  </a:lnTo>
                  <a:lnTo>
                    <a:pt x="42" y="29"/>
                  </a:lnTo>
                  <a:lnTo>
                    <a:pt x="42" y="29"/>
                  </a:lnTo>
                  <a:lnTo>
                    <a:pt x="40" y="27"/>
                  </a:lnTo>
                  <a:lnTo>
                    <a:pt x="40" y="27"/>
                  </a:lnTo>
                  <a:lnTo>
                    <a:pt x="40" y="27"/>
                  </a:lnTo>
                  <a:lnTo>
                    <a:pt x="40" y="27"/>
                  </a:lnTo>
                  <a:lnTo>
                    <a:pt x="38" y="27"/>
                  </a:lnTo>
                  <a:lnTo>
                    <a:pt x="38" y="27"/>
                  </a:lnTo>
                  <a:lnTo>
                    <a:pt x="38" y="25"/>
                  </a:lnTo>
                  <a:lnTo>
                    <a:pt x="38" y="25"/>
                  </a:lnTo>
                  <a:lnTo>
                    <a:pt x="36" y="23"/>
                  </a:lnTo>
                  <a:lnTo>
                    <a:pt x="36" y="23"/>
                  </a:lnTo>
                  <a:lnTo>
                    <a:pt x="36" y="21"/>
                  </a:lnTo>
                  <a:lnTo>
                    <a:pt x="36" y="21"/>
                  </a:lnTo>
                  <a:lnTo>
                    <a:pt x="38" y="19"/>
                  </a:lnTo>
                  <a:lnTo>
                    <a:pt x="38" y="17"/>
                  </a:lnTo>
                  <a:lnTo>
                    <a:pt x="35" y="16"/>
                  </a:lnTo>
                  <a:lnTo>
                    <a:pt x="33" y="16"/>
                  </a:lnTo>
                  <a:lnTo>
                    <a:pt x="33" y="17"/>
                  </a:lnTo>
                  <a:lnTo>
                    <a:pt x="33" y="17"/>
                  </a:lnTo>
                  <a:lnTo>
                    <a:pt x="31" y="17"/>
                  </a:lnTo>
                  <a:lnTo>
                    <a:pt x="31" y="17"/>
                  </a:lnTo>
                  <a:lnTo>
                    <a:pt x="31" y="17"/>
                  </a:lnTo>
                  <a:lnTo>
                    <a:pt x="29" y="17"/>
                  </a:lnTo>
                  <a:lnTo>
                    <a:pt x="29" y="17"/>
                  </a:lnTo>
                  <a:lnTo>
                    <a:pt x="27" y="16"/>
                  </a:lnTo>
                  <a:lnTo>
                    <a:pt x="27" y="14"/>
                  </a:lnTo>
                  <a:lnTo>
                    <a:pt x="27" y="14"/>
                  </a:lnTo>
                  <a:lnTo>
                    <a:pt x="25" y="14"/>
                  </a:lnTo>
                  <a:lnTo>
                    <a:pt x="25" y="16"/>
                  </a:lnTo>
                  <a:lnTo>
                    <a:pt x="25" y="16"/>
                  </a:lnTo>
                  <a:lnTo>
                    <a:pt x="23" y="16"/>
                  </a:lnTo>
                  <a:lnTo>
                    <a:pt x="23" y="14"/>
                  </a:lnTo>
                  <a:lnTo>
                    <a:pt x="23" y="14"/>
                  </a:lnTo>
                  <a:lnTo>
                    <a:pt x="23" y="12"/>
                  </a:lnTo>
                  <a:lnTo>
                    <a:pt x="23" y="12"/>
                  </a:lnTo>
                  <a:lnTo>
                    <a:pt x="23" y="12"/>
                  </a:lnTo>
                  <a:lnTo>
                    <a:pt x="23" y="10"/>
                  </a:lnTo>
                  <a:lnTo>
                    <a:pt x="23" y="10"/>
                  </a:lnTo>
                  <a:lnTo>
                    <a:pt x="23" y="10"/>
                  </a:lnTo>
                  <a:lnTo>
                    <a:pt x="21" y="10"/>
                  </a:lnTo>
                  <a:lnTo>
                    <a:pt x="19" y="8"/>
                  </a:lnTo>
                  <a:lnTo>
                    <a:pt x="19" y="8"/>
                  </a:lnTo>
                  <a:lnTo>
                    <a:pt x="17" y="8"/>
                  </a:lnTo>
                  <a:lnTo>
                    <a:pt x="17" y="8"/>
                  </a:lnTo>
                  <a:lnTo>
                    <a:pt x="15" y="10"/>
                  </a:lnTo>
                  <a:lnTo>
                    <a:pt x="15" y="10"/>
                  </a:lnTo>
                  <a:lnTo>
                    <a:pt x="15" y="10"/>
                  </a:lnTo>
                  <a:lnTo>
                    <a:pt x="15" y="10"/>
                  </a:lnTo>
                  <a:lnTo>
                    <a:pt x="14" y="10"/>
                  </a:lnTo>
                  <a:lnTo>
                    <a:pt x="14" y="8"/>
                  </a:lnTo>
                  <a:lnTo>
                    <a:pt x="14" y="8"/>
                  </a:lnTo>
                  <a:lnTo>
                    <a:pt x="14" y="8"/>
                  </a:lnTo>
                  <a:lnTo>
                    <a:pt x="14" y="6"/>
                  </a:lnTo>
                  <a:lnTo>
                    <a:pt x="14" y="6"/>
                  </a:lnTo>
                  <a:lnTo>
                    <a:pt x="14" y="6"/>
                  </a:lnTo>
                  <a:lnTo>
                    <a:pt x="14" y="6"/>
                  </a:lnTo>
                  <a:lnTo>
                    <a:pt x="14" y="6"/>
                  </a:lnTo>
                  <a:lnTo>
                    <a:pt x="12" y="6"/>
                  </a:lnTo>
                  <a:lnTo>
                    <a:pt x="10" y="6"/>
                  </a:lnTo>
                  <a:lnTo>
                    <a:pt x="10" y="6"/>
                  </a:lnTo>
                  <a:lnTo>
                    <a:pt x="10" y="4"/>
                  </a:lnTo>
                  <a:lnTo>
                    <a:pt x="10" y="4"/>
                  </a:lnTo>
                  <a:lnTo>
                    <a:pt x="10" y="4"/>
                  </a:lnTo>
                  <a:lnTo>
                    <a:pt x="8" y="2"/>
                  </a:lnTo>
                  <a:lnTo>
                    <a:pt x="8" y="2"/>
                  </a:lnTo>
                  <a:lnTo>
                    <a:pt x="8" y="2"/>
                  </a:lnTo>
                  <a:lnTo>
                    <a:pt x="8" y="0"/>
                  </a:lnTo>
                  <a:lnTo>
                    <a:pt x="8" y="0"/>
                  </a:lnTo>
                  <a:lnTo>
                    <a:pt x="8" y="0"/>
                  </a:lnTo>
                  <a:lnTo>
                    <a:pt x="6" y="0"/>
                  </a:lnTo>
                  <a:lnTo>
                    <a:pt x="4" y="0"/>
                  </a:lnTo>
                  <a:lnTo>
                    <a:pt x="0" y="2"/>
                  </a:lnTo>
                  <a:lnTo>
                    <a:pt x="0" y="2"/>
                  </a:lnTo>
                  <a:lnTo>
                    <a:pt x="2" y="4"/>
                  </a:lnTo>
                  <a:lnTo>
                    <a:pt x="2" y="6"/>
                  </a:lnTo>
                  <a:lnTo>
                    <a:pt x="10" y="23"/>
                  </a:lnTo>
                  <a:lnTo>
                    <a:pt x="12" y="27"/>
                  </a:lnTo>
                  <a:lnTo>
                    <a:pt x="12" y="27"/>
                  </a:lnTo>
                  <a:lnTo>
                    <a:pt x="12" y="29"/>
                  </a:lnTo>
                  <a:lnTo>
                    <a:pt x="12" y="31"/>
                  </a:lnTo>
                  <a:lnTo>
                    <a:pt x="14" y="31"/>
                  </a:lnTo>
                  <a:lnTo>
                    <a:pt x="14" y="31"/>
                  </a:lnTo>
                  <a:lnTo>
                    <a:pt x="14" y="33"/>
                  </a:lnTo>
                  <a:lnTo>
                    <a:pt x="14" y="33"/>
                  </a:lnTo>
                  <a:lnTo>
                    <a:pt x="15" y="35"/>
                  </a:lnTo>
                  <a:lnTo>
                    <a:pt x="21" y="46"/>
                  </a:lnTo>
                  <a:lnTo>
                    <a:pt x="23" y="48"/>
                  </a:lnTo>
                  <a:lnTo>
                    <a:pt x="23" y="52"/>
                  </a:lnTo>
                  <a:lnTo>
                    <a:pt x="23" y="52"/>
                  </a:lnTo>
                  <a:lnTo>
                    <a:pt x="23" y="54"/>
                  </a:lnTo>
                  <a:lnTo>
                    <a:pt x="23" y="52"/>
                  </a:lnTo>
                  <a:lnTo>
                    <a:pt x="25" y="52"/>
                  </a:lnTo>
                  <a:lnTo>
                    <a:pt x="25" y="52"/>
                  </a:lnTo>
                  <a:lnTo>
                    <a:pt x="27" y="50"/>
                  </a:lnTo>
                  <a:lnTo>
                    <a:pt x="27" y="52"/>
                  </a:lnTo>
                  <a:lnTo>
                    <a:pt x="25" y="54"/>
                  </a:lnTo>
                  <a:lnTo>
                    <a:pt x="27" y="59"/>
                  </a:lnTo>
                  <a:lnTo>
                    <a:pt x="31" y="67"/>
                  </a:lnTo>
                  <a:lnTo>
                    <a:pt x="31" y="71"/>
                  </a:lnTo>
                  <a:lnTo>
                    <a:pt x="31" y="73"/>
                  </a:lnTo>
                  <a:lnTo>
                    <a:pt x="33" y="73"/>
                  </a:lnTo>
                  <a:lnTo>
                    <a:pt x="33" y="73"/>
                  </a:lnTo>
                  <a:lnTo>
                    <a:pt x="33" y="73"/>
                  </a:lnTo>
                  <a:lnTo>
                    <a:pt x="33" y="73"/>
                  </a:lnTo>
                  <a:lnTo>
                    <a:pt x="35" y="73"/>
                  </a:lnTo>
                  <a:lnTo>
                    <a:pt x="35" y="71"/>
                  </a:lnTo>
                  <a:lnTo>
                    <a:pt x="35" y="65"/>
                  </a:lnTo>
                  <a:lnTo>
                    <a:pt x="35" y="63"/>
                  </a:lnTo>
                  <a:lnTo>
                    <a:pt x="36" y="65"/>
                  </a:lnTo>
                  <a:lnTo>
                    <a:pt x="38" y="65"/>
                  </a:lnTo>
                  <a:lnTo>
                    <a:pt x="38" y="63"/>
                  </a:lnTo>
                  <a:lnTo>
                    <a:pt x="40" y="63"/>
                  </a:lnTo>
                  <a:lnTo>
                    <a:pt x="40" y="63"/>
                  </a:lnTo>
                  <a:lnTo>
                    <a:pt x="42" y="61"/>
                  </a:lnTo>
                  <a:lnTo>
                    <a:pt x="42" y="61"/>
                  </a:lnTo>
                  <a:lnTo>
                    <a:pt x="44" y="61"/>
                  </a:lnTo>
                  <a:lnTo>
                    <a:pt x="46" y="61"/>
                  </a:lnTo>
                  <a:lnTo>
                    <a:pt x="48" y="61"/>
                  </a:lnTo>
                  <a:lnTo>
                    <a:pt x="48" y="59"/>
                  </a:lnTo>
                  <a:lnTo>
                    <a:pt x="50" y="61"/>
                  </a:lnTo>
                  <a:lnTo>
                    <a:pt x="50" y="61"/>
                  </a:lnTo>
                  <a:lnTo>
                    <a:pt x="48" y="61"/>
                  </a:lnTo>
                  <a:lnTo>
                    <a:pt x="48" y="63"/>
                  </a:lnTo>
                  <a:lnTo>
                    <a:pt x="46" y="63"/>
                  </a:lnTo>
                  <a:lnTo>
                    <a:pt x="46" y="65"/>
                  </a:lnTo>
                  <a:lnTo>
                    <a:pt x="44" y="65"/>
                  </a:lnTo>
                  <a:lnTo>
                    <a:pt x="44" y="65"/>
                  </a:lnTo>
                  <a:lnTo>
                    <a:pt x="44" y="63"/>
                  </a:lnTo>
                  <a:lnTo>
                    <a:pt x="42" y="65"/>
                  </a:lnTo>
                  <a:lnTo>
                    <a:pt x="40" y="67"/>
                  </a:lnTo>
                  <a:lnTo>
                    <a:pt x="42" y="69"/>
                  </a:lnTo>
                  <a:lnTo>
                    <a:pt x="42" y="71"/>
                  </a:lnTo>
                  <a:lnTo>
                    <a:pt x="42" y="71"/>
                  </a:lnTo>
                  <a:lnTo>
                    <a:pt x="44" y="73"/>
                  </a:lnTo>
                  <a:lnTo>
                    <a:pt x="44" y="73"/>
                  </a:lnTo>
                  <a:lnTo>
                    <a:pt x="42" y="73"/>
                  </a:lnTo>
                  <a:lnTo>
                    <a:pt x="38" y="73"/>
                  </a:lnTo>
                  <a:lnTo>
                    <a:pt x="38" y="75"/>
                  </a:lnTo>
                  <a:lnTo>
                    <a:pt x="40" y="76"/>
                  </a:lnTo>
                  <a:lnTo>
                    <a:pt x="40" y="76"/>
                  </a:lnTo>
                  <a:lnTo>
                    <a:pt x="42" y="78"/>
                  </a:lnTo>
                  <a:lnTo>
                    <a:pt x="44" y="78"/>
                  </a:lnTo>
                  <a:lnTo>
                    <a:pt x="46" y="78"/>
                  </a:lnTo>
                  <a:lnTo>
                    <a:pt x="46" y="78"/>
                  </a:lnTo>
                  <a:lnTo>
                    <a:pt x="48" y="76"/>
                  </a:lnTo>
                  <a:lnTo>
                    <a:pt x="50" y="76"/>
                  </a:lnTo>
                  <a:lnTo>
                    <a:pt x="50" y="78"/>
                  </a:lnTo>
                  <a:lnTo>
                    <a:pt x="48" y="78"/>
                  </a:lnTo>
                  <a:lnTo>
                    <a:pt x="50" y="80"/>
                  </a:lnTo>
                  <a:lnTo>
                    <a:pt x="50" y="80"/>
                  </a:lnTo>
                  <a:lnTo>
                    <a:pt x="50" y="82"/>
                  </a:lnTo>
                  <a:lnTo>
                    <a:pt x="44" y="80"/>
                  </a:lnTo>
                  <a:lnTo>
                    <a:pt x="42" y="80"/>
                  </a:lnTo>
                  <a:lnTo>
                    <a:pt x="44" y="84"/>
                  </a:lnTo>
                  <a:lnTo>
                    <a:pt x="46" y="86"/>
                  </a:lnTo>
                  <a:lnTo>
                    <a:pt x="46" y="88"/>
                  </a:lnTo>
                  <a:lnTo>
                    <a:pt x="46" y="88"/>
                  </a:lnTo>
                  <a:lnTo>
                    <a:pt x="48" y="86"/>
                  </a:lnTo>
                  <a:lnTo>
                    <a:pt x="48" y="86"/>
                  </a:lnTo>
                  <a:lnTo>
                    <a:pt x="59" y="99"/>
                  </a:lnTo>
                  <a:lnTo>
                    <a:pt x="63" y="103"/>
                  </a:lnTo>
                  <a:lnTo>
                    <a:pt x="67" y="114"/>
                  </a:lnTo>
                  <a:lnTo>
                    <a:pt x="67" y="116"/>
                  </a:lnTo>
                  <a:lnTo>
                    <a:pt x="69" y="118"/>
                  </a:lnTo>
                  <a:lnTo>
                    <a:pt x="69" y="120"/>
                  </a:lnTo>
                  <a:lnTo>
                    <a:pt x="69" y="122"/>
                  </a:lnTo>
                  <a:lnTo>
                    <a:pt x="71" y="124"/>
                  </a:lnTo>
                  <a:lnTo>
                    <a:pt x="71" y="124"/>
                  </a:lnTo>
                  <a:lnTo>
                    <a:pt x="73" y="124"/>
                  </a:lnTo>
                  <a:lnTo>
                    <a:pt x="75" y="124"/>
                  </a:lnTo>
                  <a:lnTo>
                    <a:pt x="76" y="126"/>
                  </a:lnTo>
                  <a:lnTo>
                    <a:pt x="78" y="128"/>
                  </a:lnTo>
                  <a:lnTo>
                    <a:pt x="78" y="132"/>
                  </a:lnTo>
                  <a:lnTo>
                    <a:pt x="80" y="133"/>
                  </a:lnTo>
                  <a:lnTo>
                    <a:pt x="80" y="133"/>
                  </a:lnTo>
                  <a:lnTo>
                    <a:pt x="82" y="133"/>
                  </a:lnTo>
                  <a:lnTo>
                    <a:pt x="82" y="135"/>
                  </a:lnTo>
                  <a:lnTo>
                    <a:pt x="80" y="135"/>
                  </a:lnTo>
                  <a:lnTo>
                    <a:pt x="80" y="137"/>
                  </a:lnTo>
                  <a:lnTo>
                    <a:pt x="80" y="137"/>
                  </a:lnTo>
                  <a:lnTo>
                    <a:pt x="82" y="137"/>
                  </a:lnTo>
                  <a:lnTo>
                    <a:pt x="82" y="139"/>
                  </a:lnTo>
                  <a:lnTo>
                    <a:pt x="90" y="158"/>
                  </a:lnTo>
                  <a:lnTo>
                    <a:pt x="94" y="175"/>
                  </a:lnTo>
                  <a:lnTo>
                    <a:pt x="95" y="183"/>
                  </a:lnTo>
                  <a:lnTo>
                    <a:pt x="97" y="187"/>
                  </a:lnTo>
                  <a:lnTo>
                    <a:pt x="99" y="187"/>
                  </a:lnTo>
                  <a:lnTo>
                    <a:pt x="99" y="189"/>
                  </a:lnTo>
                  <a:lnTo>
                    <a:pt x="99" y="189"/>
                  </a:lnTo>
                  <a:lnTo>
                    <a:pt x="97" y="189"/>
                  </a:lnTo>
                  <a:lnTo>
                    <a:pt x="99" y="191"/>
                  </a:lnTo>
                  <a:lnTo>
                    <a:pt x="99" y="191"/>
                  </a:lnTo>
                  <a:lnTo>
                    <a:pt x="99" y="191"/>
                  </a:lnTo>
                  <a:lnTo>
                    <a:pt x="99" y="192"/>
                  </a:lnTo>
                  <a:lnTo>
                    <a:pt x="99" y="194"/>
                  </a:lnTo>
                  <a:lnTo>
                    <a:pt x="105" y="206"/>
                  </a:lnTo>
                  <a:lnTo>
                    <a:pt x="107" y="210"/>
                  </a:lnTo>
                  <a:lnTo>
                    <a:pt x="107" y="210"/>
                  </a:lnTo>
                  <a:lnTo>
                    <a:pt x="109" y="211"/>
                  </a:lnTo>
                  <a:lnTo>
                    <a:pt x="111" y="213"/>
                  </a:lnTo>
                  <a:lnTo>
                    <a:pt x="111" y="217"/>
                  </a:lnTo>
                  <a:lnTo>
                    <a:pt x="111" y="219"/>
                  </a:lnTo>
                  <a:lnTo>
                    <a:pt x="113" y="221"/>
                  </a:lnTo>
                  <a:lnTo>
                    <a:pt x="115" y="227"/>
                  </a:lnTo>
                  <a:lnTo>
                    <a:pt x="116" y="230"/>
                  </a:lnTo>
                  <a:lnTo>
                    <a:pt x="118" y="238"/>
                  </a:lnTo>
                  <a:lnTo>
                    <a:pt x="120" y="242"/>
                  </a:lnTo>
                  <a:lnTo>
                    <a:pt x="120" y="242"/>
                  </a:lnTo>
                  <a:lnTo>
                    <a:pt x="122" y="244"/>
                  </a:lnTo>
                  <a:lnTo>
                    <a:pt x="122" y="244"/>
                  </a:lnTo>
                  <a:lnTo>
                    <a:pt x="124" y="244"/>
                  </a:lnTo>
                  <a:lnTo>
                    <a:pt x="124" y="242"/>
                  </a:lnTo>
                  <a:lnTo>
                    <a:pt x="124" y="240"/>
                  </a:lnTo>
                  <a:lnTo>
                    <a:pt x="124" y="236"/>
                  </a:lnTo>
                  <a:lnTo>
                    <a:pt x="124" y="238"/>
                  </a:lnTo>
                  <a:lnTo>
                    <a:pt x="126" y="238"/>
                  </a:lnTo>
                  <a:lnTo>
                    <a:pt x="126" y="240"/>
                  </a:lnTo>
                  <a:lnTo>
                    <a:pt x="126" y="240"/>
                  </a:lnTo>
                  <a:lnTo>
                    <a:pt x="128" y="240"/>
                  </a:lnTo>
                  <a:lnTo>
                    <a:pt x="128" y="240"/>
                  </a:lnTo>
                  <a:lnTo>
                    <a:pt x="128" y="240"/>
                  </a:lnTo>
                  <a:lnTo>
                    <a:pt x="128" y="240"/>
                  </a:lnTo>
                  <a:lnTo>
                    <a:pt x="128" y="242"/>
                  </a:lnTo>
                  <a:lnTo>
                    <a:pt x="128" y="242"/>
                  </a:lnTo>
                  <a:lnTo>
                    <a:pt x="126" y="244"/>
                  </a:lnTo>
                  <a:lnTo>
                    <a:pt x="122" y="246"/>
                  </a:lnTo>
                  <a:lnTo>
                    <a:pt x="122" y="248"/>
                  </a:lnTo>
                  <a:lnTo>
                    <a:pt x="122" y="248"/>
                  </a:lnTo>
                  <a:lnTo>
                    <a:pt x="122" y="250"/>
                  </a:lnTo>
                  <a:lnTo>
                    <a:pt x="122" y="251"/>
                  </a:lnTo>
                  <a:lnTo>
                    <a:pt x="122" y="251"/>
                  </a:lnTo>
                  <a:lnTo>
                    <a:pt x="126" y="259"/>
                  </a:lnTo>
                  <a:lnTo>
                    <a:pt x="126" y="261"/>
                  </a:lnTo>
                  <a:lnTo>
                    <a:pt x="128" y="263"/>
                  </a:lnTo>
                  <a:lnTo>
                    <a:pt x="128" y="261"/>
                  </a:lnTo>
                  <a:lnTo>
                    <a:pt x="126" y="259"/>
                  </a:lnTo>
                  <a:lnTo>
                    <a:pt x="126" y="255"/>
                  </a:lnTo>
                  <a:lnTo>
                    <a:pt x="126" y="253"/>
                  </a:lnTo>
                  <a:lnTo>
                    <a:pt x="126" y="253"/>
                  </a:lnTo>
                  <a:lnTo>
                    <a:pt x="124" y="251"/>
                  </a:lnTo>
                  <a:lnTo>
                    <a:pt x="126" y="250"/>
                  </a:lnTo>
                  <a:lnTo>
                    <a:pt x="126" y="251"/>
                  </a:lnTo>
                  <a:lnTo>
                    <a:pt x="126" y="251"/>
                  </a:lnTo>
                  <a:lnTo>
                    <a:pt x="128" y="251"/>
                  </a:lnTo>
                  <a:lnTo>
                    <a:pt x="128" y="251"/>
                  </a:lnTo>
                  <a:lnTo>
                    <a:pt x="130" y="257"/>
                  </a:lnTo>
                  <a:lnTo>
                    <a:pt x="132" y="259"/>
                  </a:lnTo>
                  <a:lnTo>
                    <a:pt x="130" y="261"/>
                  </a:lnTo>
                  <a:lnTo>
                    <a:pt x="132" y="265"/>
                  </a:lnTo>
                  <a:lnTo>
                    <a:pt x="134" y="267"/>
                  </a:lnTo>
                  <a:lnTo>
                    <a:pt x="134" y="265"/>
                  </a:lnTo>
                  <a:lnTo>
                    <a:pt x="136" y="267"/>
                  </a:lnTo>
                  <a:lnTo>
                    <a:pt x="139" y="270"/>
                  </a:lnTo>
                  <a:lnTo>
                    <a:pt x="139" y="270"/>
                  </a:lnTo>
                  <a:lnTo>
                    <a:pt x="141" y="274"/>
                  </a:lnTo>
                  <a:lnTo>
                    <a:pt x="141" y="276"/>
                  </a:lnTo>
                  <a:lnTo>
                    <a:pt x="141" y="278"/>
                  </a:lnTo>
                  <a:lnTo>
                    <a:pt x="141" y="280"/>
                  </a:lnTo>
                  <a:lnTo>
                    <a:pt x="141" y="280"/>
                  </a:lnTo>
                  <a:lnTo>
                    <a:pt x="141" y="282"/>
                  </a:lnTo>
                  <a:lnTo>
                    <a:pt x="141" y="284"/>
                  </a:lnTo>
                  <a:lnTo>
                    <a:pt x="141" y="284"/>
                  </a:lnTo>
                  <a:lnTo>
                    <a:pt x="141" y="286"/>
                  </a:lnTo>
                  <a:lnTo>
                    <a:pt x="141" y="288"/>
                  </a:lnTo>
                  <a:lnTo>
                    <a:pt x="141" y="288"/>
                  </a:lnTo>
                  <a:lnTo>
                    <a:pt x="141" y="289"/>
                  </a:lnTo>
                  <a:lnTo>
                    <a:pt x="143" y="289"/>
                  </a:lnTo>
                  <a:lnTo>
                    <a:pt x="143" y="289"/>
                  </a:lnTo>
                  <a:lnTo>
                    <a:pt x="143" y="291"/>
                  </a:lnTo>
                  <a:lnTo>
                    <a:pt x="143" y="295"/>
                  </a:lnTo>
                  <a:lnTo>
                    <a:pt x="145" y="297"/>
                  </a:lnTo>
                  <a:lnTo>
                    <a:pt x="145" y="299"/>
                  </a:lnTo>
                  <a:lnTo>
                    <a:pt x="143" y="303"/>
                  </a:lnTo>
                  <a:lnTo>
                    <a:pt x="143" y="303"/>
                  </a:lnTo>
                  <a:lnTo>
                    <a:pt x="145" y="303"/>
                  </a:lnTo>
                  <a:lnTo>
                    <a:pt x="147" y="303"/>
                  </a:lnTo>
                  <a:lnTo>
                    <a:pt x="149" y="303"/>
                  </a:lnTo>
                  <a:lnTo>
                    <a:pt x="151" y="305"/>
                  </a:lnTo>
                  <a:lnTo>
                    <a:pt x="153" y="305"/>
                  </a:lnTo>
                  <a:lnTo>
                    <a:pt x="149" y="308"/>
                  </a:lnTo>
                  <a:lnTo>
                    <a:pt x="149" y="308"/>
                  </a:lnTo>
                  <a:lnTo>
                    <a:pt x="145" y="308"/>
                  </a:lnTo>
                  <a:lnTo>
                    <a:pt x="145" y="308"/>
                  </a:lnTo>
                  <a:lnTo>
                    <a:pt x="141" y="307"/>
                  </a:lnTo>
                  <a:lnTo>
                    <a:pt x="139" y="307"/>
                  </a:lnTo>
                  <a:lnTo>
                    <a:pt x="137" y="305"/>
                  </a:lnTo>
                  <a:lnTo>
                    <a:pt x="139" y="297"/>
                  </a:lnTo>
                  <a:lnTo>
                    <a:pt x="141" y="295"/>
                  </a:lnTo>
                  <a:lnTo>
                    <a:pt x="141" y="295"/>
                  </a:lnTo>
                  <a:lnTo>
                    <a:pt x="141" y="293"/>
                  </a:lnTo>
                  <a:lnTo>
                    <a:pt x="141" y="291"/>
                  </a:lnTo>
                  <a:lnTo>
                    <a:pt x="141" y="289"/>
                  </a:lnTo>
                  <a:lnTo>
                    <a:pt x="139" y="288"/>
                  </a:lnTo>
                  <a:lnTo>
                    <a:pt x="139" y="284"/>
                  </a:lnTo>
                  <a:lnTo>
                    <a:pt x="139" y="282"/>
                  </a:lnTo>
                  <a:lnTo>
                    <a:pt x="139" y="280"/>
                  </a:lnTo>
                  <a:lnTo>
                    <a:pt x="139" y="280"/>
                  </a:lnTo>
                  <a:lnTo>
                    <a:pt x="137" y="278"/>
                  </a:lnTo>
                  <a:lnTo>
                    <a:pt x="137" y="276"/>
                  </a:lnTo>
                  <a:lnTo>
                    <a:pt x="136" y="274"/>
                  </a:lnTo>
                  <a:lnTo>
                    <a:pt x="136" y="274"/>
                  </a:lnTo>
                  <a:lnTo>
                    <a:pt x="136" y="276"/>
                  </a:lnTo>
                  <a:lnTo>
                    <a:pt x="137" y="280"/>
                  </a:lnTo>
                  <a:lnTo>
                    <a:pt x="137" y="282"/>
                  </a:lnTo>
                  <a:lnTo>
                    <a:pt x="137" y="288"/>
                  </a:lnTo>
                  <a:lnTo>
                    <a:pt x="137" y="289"/>
                  </a:lnTo>
                  <a:lnTo>
                    <a:pt x="137" y="289"/>
                  </a:lnTo>
                  <a:lnTo>
                    <a:pt x="134" y="274"/>
                  </a:lnTo>
                  <a:lnTo>
                    <a:pt x="134" y="272"/>
                  </a:lnTo>
                  <a:lnTo>
                    <a:pt x="134" y="274"/>
                  </a:lnTo>
                  <a:lnTo>
                    <a:pt x="134" y="276"/>
                  </a:lnTo>
                  <a:lnTo>
                    <a:pt x="134" y="276"/>
                  </a:lnTo>
                  <a:lnTo>
                    <a:pt x="132" y="276"/>
                  </a:lnTo>
                  <a:lnTo>
                    <a:pt x="132" y="276"/>
                  </a:lnTo>
                  <a:lnTo>
                    <a:pt x="132" y="276"/>
                  </a:lnTo>
                  <a:lnTo>
                    <a:pt x="132" y="274"/>
                  </a:lnTo>
                  <a:lnTo>
                    <a:pt x="132" y="274"/>
                  </a:lnTo>
                  <a:lnTo>
                    <a:pt x="132" y="272"/>
                  </a:lnTo>
                  <a:lnTo>
                    <a:pt x="132" y="274"/>
                  </a:lnTo>
                  <a:lnTo>
                    <a:pt x="132" y="274"/>
                  </a:lnTo>
                  <a:lnTo>
                    <a:pt x="130" y="274"/>
                  </a:lnTo>
                  <a:lnTo>
                    <a:pt x="130" y="272"/>
                  </a:lnTo>
                  <a:lnTo>
                    <a:pt x="130" y="272"/>
                  </a:lnTo>
                  <a:lnTo>
                    <a:pt x="130" y="270"/>
                  </a:lnTo>
                  <a:lnTo>
                    <a:pt x="130" y="270"/>
                  </a:lnTo>
                  <a:lnTo>
                    <a:pt x="132" y="270"/>
                  </a:lnTo>
                  <a:lnTo>
                    <a:pt x="132" y="270"/>
                  </a:lnTo>
                  <a:lnTo>
                    <a:pt x="132" y="269"/>
                  </a:lnTo>
                  <a:lnTo>
                    <a:pt x="130" y="267"/>
                  </a:lnTo>
                  <a:lnTo>
                    <a:pt x="128" y="265"/>
                  </a:lnTo>
                  <a:lnTo>
                    <a:pt x="128" y="267"/>
                  </a:lnTo>
                  <a:lnTo>
                    <a:pt x="128" y="267"/>
                  </a:lnTo>
                  <a:lnTo>
                    <a:pt x="128" y="272"/>
                  </a:lnTo>
                  <a:lnTo>
                    <a:pt x="130" y="272"/>
                  </a:lnTo>
                  <a:lnTo>
                    <a:pt x="132" y="280"/>
                  </a:lnTo>
                  <a:lnTo>
                    <a:pt x="134" y="293"/>
                  </a:lnTo>
                  <a:lnTo>
                    <a:pt x="132" y="297"/>
                  </a:lnTo>
                  <a:lnTo>
                    <a:pt x="134" y="308"/>
                  </a:lnTo>
                  <a:lnTo>
                    <a:pt x="139" y="326"/>
                  </a:lnTo>
                  <a:lnTo>
                    <a:pt x="147" y="341"/>
                  </a:lnTo>
                  <a:lnTo>
                    <a:pt x="147" y="341"/>
                  </a:lnTo>
                  <a:lnTo>
                    <a:pt x="147" y="341"/>
                  </a:lnTo>
                  <a:lnTo>
                    <a:pt x="143" y="333"/>
                  </a:lnTo>
                  <a:lnTo>
                    <a:pt x="143" y="331"/>
                  </a:lnTo>
                  <a:lnTo>
                    <a:pt x="145" y="333"/>
                  </a:lnTo>
                  <a:lnTo>
                    <a:pt x="147" y="335"/>
                  </a:lnTo>
                  <a:lnTo>
                    <a:pt x="149" y="341"/>
                  </a:lnTo>
                  <a:lnTo>
                    <a:pt x="149" y="341"/>
                  </a:lnTo>
                  <a:lnTo>
                    <a:pt x="149" y="341"/>
                  </a:lnTo>
                  <a:lnTo>
                    <a:pt x="149" y="341"/>
                  </a:lnTo>
                  <a:lnTo>
                    <a:pt x="151" y="339"/>
                  </a:lnTo>
                  <a:lnTo>
                    <a:pt x="149" y="343"/>
                  </a:lnTo>
                  <a:lnTo>
                    <a:pt x="149" y="345"/>
                  </a:lnTo>
                  <a:lnTo>
                    <a:pt x="149" y="345"/>
                  </a:lnTo>
                  <a:lnTo>
                    <a:pt x="149" y="343"/>
                  </a:lnTo>
                  <a:lnTo>
                    <a:pt x="149" y="343"/>
                  </a:lnTo>
                  <a:lnTo>
                    <a:pt x="149" y="343"/>
                  </a:lnTo>
                  <a:lnTo>
                    <a:pt x="149" y="343"/>
                  </a:lnTo>
                  <a:lnTo>
                    <a:pt x="149" y="345"/>
                  </a:lnTo>
                  <a:lnTo>
                    <a:pt x="151" y="350"/>
                  </a:lnTo>
                  <a:lnTo>
                    <a:pt x="153" y="354"/>
                  </a:lnTo>
                  <a:lnTo>
                    <a:pt x="153" y="356"/>
                  </a:lnTo>
                  <a:lnTo>
                    <a:pt x="153" y="356"/>
                  </a:lnTo>
                  <a:lnTo>
                    <a:pt x="153" y="358"/>
                  </a:lnTo>
                  <a:lnTo>
                    <a:pt x="155" y="360"/>
                  </a:lnTo>
                  <a:lnTo>
                    <a:pt x="155" y="360"/>
                  </a:lnTo>
                  <a:lnTo>
                    <a:pt x="155" y="362"/>
                  </a:lnTo>
                  <a:lnTo>
                    <a:pt x="155" y="360"/>
                  </a:lnTo>
                  <a:lnTo>
                    <a:pt x="155" y="358"/>
                  </a:lnTo>
                  <a:lnTo>
                    <a:pt x="156" y="356"/>
                  </a:lnTo>
                  <a:lnTo>
                    <a:pt x="158" y="356"/>
                  </a:lnTo>
                  <a:lnTo>
                    <a:pt x="156" y="358"/>
                  </a:lnTo>
                  <a:lnTo>
                    <a:pt x="156" y="358"/>
                  </a:lnTo>
                  <a:lnTo>
                    <a:pt x="156" y="358"/>
                  </a:lnTo>
                  <a:lnTo>
                    <a:pt x="156" y="360"/>
                  </a:lnTo>
                  <a:lnTo>
                    <a:pt x="158" y="358"/>
                  </a:lnTo>
                  <a:lnTo>
                    <a:pt x="158" y="356"/>
                  </a:lnTo>
                  <a:lnTo>
                    <a:pt x="160" y="356"/>
                  </a:lnTo>
                  <a:lnTo>
                    <a:pt x="162" y="356"/>
                  </a:lnTo>
                  <a:lnTo>
                    <a:pt x="162" y="356"/>
                  </a:lnTo>
                  <a:lnTo>
                    <a:pt x="164" y="356"/>
                  </a:lnTo>
                  <a:lnTo>
                    <a:pt x="164" y="354"/>
                  </a:lnTo>
                  <a:lnTo>
                    <a:pt x="164" y="354"/>
                  </a:lnTo>
                  <a:lnTo>
                    <a:pt x="166" y="354"/>
                  </a:lnTo>
                  <a:lnTo>
                    <a:pt x="168" y="354"/>
                  </a:lnTo>
                  <a:lnTo>
                    <a:pt x="168" y="356"/>
                  </a:lnTo>
                  <a:lnTo>
                    <a:pt x="166" y="356"/>
                  </a:lnTo>
                  <a:lnTo>
                    <a:pt x="164" y="356"/>
                  </a:lnTo>
                  <a:lnTo>
                    <a:pt x="164" y="356"/>
                  </a:lnTo>
                  <a:lnTo>
                    <a:pt x="164" y="356"/>
                  </a:lnTo>
                  <a:lnTo>
                    <a:pt x="166" y="358"/>
                  </a:lnTo>
                  <a:lnTo>
                    <a:pt x="166" y="358"/>
                  </a:lnTo>
                  <a:lnTo>
                    <a:pt x="166" y="358"/>
                  </a:lnTo>
                  <a:lnTo>
                    <a:pt x="162" y="358"/>
                  </a:lnTo>
                  <a:lnTo>
                    <a:pt x="160" y="358"/>
                  </a:lnTo>
                  <a:lnTo>
                    <a:pt x="158" y="360"/>
                  </a:lnTo>
                  <a:lnTo>
                    <a:pt x="158" y="360"/>
                  </a:lnTo>
                  <a:lnTo>
                    <a:pt x="158" y="362"/>
                  </a:lnTo>
                  <a:lnTo>
                    <a:pt x="158" y="364"/>
                  </a:lnTo>
                  <a:lnTo>
                    <a:pt x="160" y="362"/>
                  </a:lnTo>
                  <a:lnTo>
                    <a:pt x="162" y="362"/>
                  </a:lnTo>
                  <a:lnTo>
                    <a:pt x="162" y="362"/>
                  </a:lnTo>
                  <a:lnTo>
                    <a:pt x="162" y="364"/>
                  </a:lnTo>
                  <a:lnTo>
                    <a:pt x="160" y="364"/>
                  </a:lnTo>
                  <a:lnTo>
                    <a:pt x="158" y="364"/>
                  </a:lnTo>
                  <a:lnTo>
                    <a:pt x="156" y="362"/>
                  </a:lnTo>
                  <a:lnTo>
                    <a:pt x="156" y="362"/>
                  </a:lnTo>
                  <a:lnTo>
                    <a:pt x="156" y="364"/>
                  </a:lnTo>
                  <a:lnTo>
                    <a:pt x="156" y="366"/>
                  </a:lnTo>
                  <a:lnTo>
                    <a:pt x="166" y="371"/>
                  </a:lnTo>
                  <a:lnTo>
                    <a:pt x="166" y="373"/>
                  </a:lnTo>
                  <a:lnTo>
                    <a:pt x="170" y="379"/>
                  </a:lnTo>
                  <a:lnTo>
                    <a:pt x="174" y="383"/>
                  </a:lnTo>
                  <a:lnTo>
                    <a:pt x="174" y="385"/>
                  </a:lnTo>
                  <a:lnTo>
                    <a:pt x="181" y="392"/>
                  </a:lnTo>
                  <a:lnTo>
                    <a:pt x="181" y="396"/>
                  </a:lnTo>
                  <a:lnTo>
                    <a:pt x="187" y="400"/>
                  </a:lnTo>
                  <a:lnTo>
                    <a:pt x="195" y="411"/>
                  </a:lnTo>
                  <a:lnTo>
                    <a:pt x="198" y="415"/>
                  </a:lnTo>
                  <a:lnTo>
                    <a:pt x="208" y="423"/>
                  </a:lnTo>
                  <a:lnTo>
                    <a:pt x="208" y="421"/>
                  </a:lnTo>
                  <a:lnTo>
                    <a:pt x="210" y="421"/>
                  </a:lnTo>
                  <a:lnTo>
                    <a:pt x="210" y="421"/>
                  </a:lnTo>
                  <a:lnTo>
                    <a:pt x="212" y="421"/>
                  </a:lnTo>
                  <a:lnTo>
                    <a:pt x="212" y="421"/>
                  </a:lnTo>
                  <a:lnTo>
                    <a:pt x="214" y="421"/>
                  </a:lnTo>
                  <a:lnTo>
                    <a:pt x="214" y="421"/>
                  </a:lnTo>
                  <a:lnTo>
                    <a:pt x="214" y="419"/>
                  </a:lnTo>
                  <a:lnTo>
                    <a:pt x="214" y="419"/>
                  </a:lnTo>
                  <a:lnTo>
                    <a:pt x="214" y="417"/>
                  </a:lnTo>
                  <a:lnTo>
                    <a:pt x="214" y="417"/>
                  </a:lnTo>
                  <a:lnTo>
                    <a:pt x="214" y="417"/>
                  </a:lnTo>
                  <a:lnTo>
                    <a:pt x="216" y="415"/>
                  </a:lnTo>
                  <a:lnTo>
                    <a:pt x="217" y="411"/>
                  </a:lnTo>
                  <a:lnTo>
                    <a:pt x="217" y="411"/>
                  </a:lnTo>
                  <a:lnTo>
                    <a:pt x="217" y="409"/>
                  </a:lnTo>
                  <a:lnTo>
                    <a:pt x="217" y="409"/>
                  </a:lnTo>
                  <a:lnTo>
                    <a:pt x="217" y="405"/>
                  </a:lnTo>
                  <a:lnTo>
                    <a:pt x="217" y="405"/>
                  </a:lnTo>
                  <a:lnTo>
                    <a:pt x="217" y="404"/>
                  </a:lnTo>
                  <a:lnTo>
                    <a:pt x="217" y="404"/>
                  </a:lnTo>
                  <a:lnTo>
                    <a:pt x="217" y="404"/>
                  </a:lnTo>
                  <a:lnTo>
                    <a:pt x="217" y="404"/>
                  </a:lnTo>
                  <a:lnTo>
                    <a:pt x="217" y="404"/>
                  </a:lnTo>
                  <a:lnTo>
                    <a:pt x="217" y="405"/>
                  </a:lnTo>
                  <a:lnTo>
                    <a:pt x="219" y="405"/>
                  </a:lnTo>
                  <a:lnTo>
                    <a:pt x="219" y="405"/>
                  </a:lnTo>
                  <a:lnTo>
                    <a:pt x="221" y="404"/>
                  </a:lnTo>
                  <a:lnTo>
                    <a:pt x="221" y="402"/>
                  </a:lnTo>
                  <a:lnTo>
                    <a:pt x="223" y="402"/>
                  </a:lnTo>
                  <a:lnTo>
                    <a:pt x="223" y="400"/>
                  </a:lnTo>
                  <a:lnTo>
                    <a:pt x="223" y="398"/>
                  </a:lnTo>
                  <a:lnTo>
                    <a:pt x="223" y="398"/>
                  </a:lnTo>
                  <a:lnTo>
                    <a:pt x="223" y="396"/>
                  </a:lnTo>
                  <a:lnTo>
                    <a:pt x="221" y="394"/>
                  </a:lnTo>
                  <a:lnTo>
                    <a:pt x="217" y="392"/>
                  </a:lnTo>
                  <a:lnTo>
                    <a:pt x="216" y="390"/>
                  </a:lnTo>
                  <a:lnTo>
                    <a:pt x="216" y="390"/>
                  </a:lnTo>
                  <a:lnTo>
                    <a:pt x="216" y="388"/>
                  </a:lnTo>
                  <a:lnTo>
                    <a:pt x="216" y="388"/>
                  </a:lnTo>
                  <a:lnTo>
                    <a:pt x="216" y="386"/>
                  </a:lnTo>
                  <a:lnTo>
                    <a:pt x="216" y="386"/>
                  </a:lnTo>
                  <a:lnTo>
                    <a:pt x="214" y="385"/>
                  </a:lnTo>
                  <a:lnTo>
                    <a:pt x="214" y="385"/>
                  </a:lnTo>
                  <a:lnTo>
                    <a:pt x="214" y="383"/>
                  </a:lnTo>
                  <a:lnTo>
                    <a:pt x="216" y="381"/>
                  </a:lnTo>
                  <a:lnTo>
                    <a:pt x="219" y="375"/>
                  </a:lnTo>
                  <a:lnTo>
                    <a:pt x="221" y="369"/>
                  </a:lnTo>
                  <a:lnTo>
                    <a:pt x="221" y="369"/>
                  </a:lnTo>
                  <a:lnTo>
                    <a:pt x="221" y="369"/>
                  </a:lnTo>
                  <a:lnTo>
                    <a:pt x="221" y="369"/>
                  </a:lnTo>
                  <a:lnTo>
                    <a:pt x="221" y="367"/>
                  </a:lnTo>
                  <a:lnTo>
                    <a:pt x="219" y="367"/>
                  </a:lnTo>
                  <a:lnTo>
                    <a:pt x="217" y="366"/>
                  </a:lnTo>
                  <a:lnTo>
                    <a:pt x="217" y="366"/>
                  </a:lnTo>
                  <a:lnTo>
                    <a:pt x="216" y="362"/>
                  </a:lnTo>
                  <a:lnTo>
                    <a:pt x="214" y="356"/>
                  </a:lnTo>
                  <a:lnTo>
                    <a:pt x="214" y="356"/>
                  </a:lnTo>
                  <a:lnTo>
                    <a:pt x="214" y="354"/>
                  </a:lnTo>
                  <a:lnTo>
                    <a:pt x="214" y="354"/>
                  </a:lnTo>
                  <a:lnTo>
                    <a:pt x="217" y="352"/>
                  </a:lnTo>
                  <a:lnTo>
                    <a:pt x="219" y="348"/>
                  </a:lnTo>
                  <a:lnTo>
                    <a:pt x="221" y="345"/>
                  </a:lnTo>
                  <a:lnTo>
                    <a:pt x="227" y="327"/>
                  </a:lnTo>
                  <a:lnTo>
                    <a:pt x="229" y="324"/>
                  </a:lnTo>
                  <a:lnTo>
                    <a:pt x="231" y="316"/>
                  </a:lnTo>
                  <a:lnTo>
                    <a:pt x="233" y="316"/>
                  </a:lnTo>
                  <a:lnTo>
                    <a:pt x="233" y="314"/>
                  </a:lnTo>
                  <a:lnTo>
                    <a:pt x="235" y="312"/>
                  </a:lnTo>
                  <a:lnTo>
                    <a:pt x="235" y="310"/>
                  </a:lnTo>
                  <a:lnTo>
                    <a:pt x="235" y="308"/>
                  </a:lnTo>
                  <a:close/>
                </a:path>
              </a:pathLst>
            </a:custGeom>
            <a:solidFill>
              <a:schemeClr val="accent1"/>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97" name="Freeform 46">
              <a:extLst>
                <a:ext uri="{FF2B5EF4-FFF2-40B4-BE49-F238E27FC236}">
                  <a16:creationId xmlns:a16="http://schemas.microsoft.com/office/drawing/2014/main" id="{22AFDD87-BDCB-DAE8-8AD6-2DDAF7592D2A}"/>
                </a:ext>
              </a:extLst>
            </p:cNvPr>
            <p:cNvSpPr>
              <a:spLocks/>
            </p:cNvSpPr>
            <p:nvPr/>
          </p:nvSpPr>
          <p:spPr bwMode="auto">
            <a:xfrm>
              <a:off x="2045612" y="4455122"/>
              <a:ext cx="779140" cy="1104569"/>
            </a:xfrm>
            <a:custGeom>
              <a:avLst/>
              <a:gdLst>
                <a:gd name="T0" fmla="*/ 392 w 413"/>
                <a:gd name="T1" fmla="*/ 487 h 653"/>
                <a:gd name="T2" fmla="*/ 379 w 413"/>
                <a:gd name="T3" fmla="*/ 466 h 653"/>
                <a:gd name="T4" fmla="*/ 367 w 413"/>
                <a:gd name="T5" fmla="*/ 442 h 653"/>
                <a:gd name="T6" fmla="*/ 350 w 413"/>
                <a:gd name="T7" fmla="*/ 436 h 653"/>
                <a:gd name="T8" fmla="*/ 331 w 413"/>
                <a:gd name="T9" fmla="*/ 449 h 653"/>
                <a:gd name="T10" fmla="*/ 307 w 413"/>
                <a:gd name="T11" fmla="*/ 449 h 653"/>
                <a:gd name="T12" fmla="*/ 280 w 413"/>
                <a:gd name="T13" fmla="*/ 438 h 653"/>
                <a:gd name="T14" fmla="*/ 272 w 413"/>
                <a:gd name="T15" fmla="*/ 453 h 653"/>
                <a:gd name="T16" fmla="*/ 268 w 413"/>
                <a:gd name="T17" fmla="*/ 438 h 653"/>
                <a:gd name="T18" fmla="*/ 265 w 413"/>
                <a:gd name="T19" fmla="*/ 413 h 653"/>
                <a:gd name="T20" fmla="*/ 297 w 413"/>
                <a:gd name="T21" fmla="*/ 432 h 653"/>
                <a:gd name="T22" fmla="*/ 301 w 413"/>
                <a:gd name="T23" fmla="*/ 421 h 653"/>
                <a:gd name="T24" fmla="*/ 307 w 413"/>
                <a:gd name="T25" fmla="*/ 400 h 653"/>
                <a:gd name="T26" fmla="*/ 287 w 413"/>
                <a:gd name="T27" fmla="*/ 398 h 653"/>
                <a:gd name="T28" fmla="*/ 255 w 413"/>
                <a:gd name="T29" fmla="*/ 394 h 653"/>
                <a:gd name="T30" fmla="*/ 249 w 413"/>
                <a:gd name="T31" fmla="*/ 379 h 653"/>
                <a:gd name="T32" fmla="*/ 247 w 413"/>
                <a:gd name="T33" fmla="*/ 337 h 653"/>
                <a:gd name="T34" fmla="*/ 272 w 413"/>
                <a:gd name="T35" fmla="*/ 333 h 653"/>
                <a:gd name="T36" fmla="*/ 265 w 413"/>
                <a:gd name="T37" fmla="*/ 286 h 653"/>
                <a:gd name="T38" fmla="*/ 270 w 413"/>
                <a:gd name="T39" fmla="*/ 259 h 653"/>
                <a:gd name="T40" fmla="*/ 316 w 413"/>
                <a:gd name="T41" fmla="*/ 210 h 653"/>
                <a:gd name="T42" fmla="*/ 308 w 413"/>
                <a:gd name="T43" fmla="*/ 175 h 653"/>
                <a:gd name="T44" fmla="*/ 305 w 413"/>
                <a:gd name="T45" fmla="*/ 128 h 653"/>
                <a:gd name="T46" fmla="*/ 322 w 413"/>
                <a:gd name="T47" fmla="*/ 86 h 653"/>
                <a:gd name="T48" fmla="*/ 318 w 413"/>
                <a:gd name="T49" fmla="*/ 59 h 653"/>
                <a:gd name="T50" fmla="*/ 312 w 413"/>
                <a:gd name="T51" fmla="*/ 18 h 653"/>
                <a:gd name="T52" fmla="*/ 278 w 413"/>
                <a:gd name="T53" fmla="*/ 21 h 653"/>
                <a:gd name="T54" fmla="*/ 246 w 413"/>
                <a:gd name="T55" fmla="*/ 56 h 653"/>
                <a:gd name="T56" fmla="*/ 219 w 413"/>
                <a:gd name="T57" fmla="*/ 73 h 653"/>
                <a:gd name="T58" fmla="*/ 209 w 413"/>
                <a:gd name="T59" fmla="*/ 103 h 653"/>
                <a:gd name="T60" fmla="*/ 167 w 413"/>
                <a:gd name="T61" fmla="*/ 109 h 653"/>
                <a:gd name="T62" fmla="*/ 135 w 413"/>
                <a:gd name="T63" fmla="*/ 105 h 653"/>
                <a:gd name="T64" fmla="*/ 143 w 413"/>
                <a:gd name="T65" fmla="*/ 143 h 653"/>
                <a:gd name="T66" fmla="*/ 101 w 413"/>
                <a:gd name="T67" fmla="*/ 154 h 653"/>
                <a:gd name="T68" fmla="*/ 70 w 413"/>
                <a:gd name="T69" fmla="*/ 158 h 653"/>
                <a:gd name="T70" fmla="*/ 53 w 413"/>
                <a:gd name="T71" fmla="*/ 179 h 653"/>
                <a:gd name="T72" fmla="*/ 30 w 413"/>
                <a:gd name="T73" fmla="*/ 181 h 653"/>
                <a:gd name="T74" fmla="*/ 13 w 413"/>
                <a:gd name="T75" fmla="*/ 193 h 653"/>
                <a:gd name="T76" fmla="*/ 23 w 413"/>
                <a:gd name="T77" fmla="*/ 200 h 653"/>
                <a:gd name="T78" fmla="*/ 34 w 413"/>
                <a:gd name="T79" fmla="*/ 227 h 653"/>
                <a:gd name="T80" fmla="*/ 19 w 413"/>
                <a:gd name="T81" fmla="*/ 263 h 653"/>
                <a:gd name="T82" fmla="*/ 7 w 413"/>
                <a:gd name="T83" fmla="*/ 272 h 653"/>
                <a:gd name="T84" fmla="*/ 13 w 413"/>
                <a:gd name="T85" fmla="*/ 310 h 653"/>
                <a:gd name="T86" fmla="*/ 2 w 413"/>
                <a:gd name="T87" fmla="*/ 343 h 653"/>
                <a:gd name="T88" fmla="*/ 4 w 413"/>
                <a:gd name="T89" fmla="*/ 356 h 653"/>
                <a:gd name="T90" fmla="*/ 23 w 413"/>
                <a:gd name="T91" fmla="*/ 377 h 653"/>
                <a:gd name="T92" fmla="*/ 32 w 413"/>
                <a:gd name="T93" fmla="*/ 402 h 653"/>
                <a:gd name="T94" fmla="*/ 57 w 413"/>
                <a:gd name="T95" fmla="*/ 461 h 653"/>
                <a:gd name="T96" fmla="*/ 59 w 413"/>
                <a:gd name="T97" fmla="*/ 499 h 653"/>
                <a:gd name="T98" fmla="*/ 78 w 413"/>
                <a:gd name="T99" fmla="*/ 544 h 653"/>
                <a:gd name="T100" fmla="*/ 93 w 413"/>
                <a:gd name="T101" fmla="*/ 556 h 653"/>
                <a:gd name="T102" fmla="*/ 110 w 413"/>
                <a:gd name="T103" fmla="*/ 571 h 653"/>
                <a:gd name="T104" fmla="*/ 122 w 413"/>
                <a:gd name="T105" fmla="*/ 590 h 653"/>
                <a:gd name="T106" fmla="*/ 160 w 413"/>
                <a:gd name="T107" fmla="*/ 622 h 653"/>
                <a:gd name="T108" fmla="*/ 198 w 413"/>
                <a:gd name="T109" fmla="*/ 636 h 653"/>
                <a:gd name="T110" fmla="*/ 226 w 413"/>
                <a:gd name="T111" fmla="*/ 651 h 653"/>
                <a:gd name="T112" fmla="*/ 291 w 413"/>
                <a:gd name="T113" fmla="*/ 636 h 653"/>
                <a:gd name="T114" fmla="*/ 339 w 413"/>
                <a:gd name="T115" fmla="*/ 609 h 653"/>
                <a:gd name="T116" fmla="*/ 322 w 413"/>
                <a:gd name="T117" fmla="*/ 571 h 653"/>
                <a:gd name="T118" fmla="*/ 343 w 413"/>
                <a:gd name="T119" fmla="*/ 537 h 653"/>
                <a:gd name="T120" fmla="*/ 383 w 413"/>
                <a:gd name="T121" fmla="*/ 537 h 653"/>
                <a:gd name="T122" fmla="*/ 398 w 413"/>
                <a:gd name="T123" fmla="*/ 531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3" h="653">
                  <a:moveTo>
                    <a:pt x="413" y="497"/>
                  </a:moveTo>
                  <a:lnTo>
                    <a:pt x="413" y="497"/>
                  </a:lnTo>
                  <a:lnTo>
                    <a:pt x="411" y="497"/>
                  </a:lnTo>
                  <a:lnTo>
                    <a:pt x="411" y="495"/>
                  </a:lnTo>
                  <a:lnTo>
                    <a:pt x="411" y="495"/>
                  </a:lnTo>
                  <a:lnTo>
                    <a:pt x="409" y="497"/>
                  </a:lnTo>
                  <a:lnTo>
                    <a:pt x="409" y="497"/>
                  </a:lnTo>
                  <a:lnTo>
                    <a:pt x="409" y="497"/>
                  </a:lnTo>
                  <a:lnTo>
                    <a:pt x="409" y="497"/>
                  </a:lnTo>
                  <a:lnTo>
                    <a:pt x="407" y="497"/>
                  </a:lnTo>
                  <a:lnTo>
                    <a:pt x="407" y="497"/>
                  </a:lnTo>
                  <a:lnTo>
                    <a:pt x="407" y="497"/>
                  </a:lnTo>
                  <a:lnTo>
                    <a:pt x="404" y="495"/>
                  </a:lnTo>
                  <a:lnTo>
                    <a:pt x="402" y="493"/>
                  </a:lnTo>
                  <a:lnTo>
                    <a:pt x="402" y="493"/>
                  </a:lnTo>
                  <a:lnTo>
                    <a:pt x="402" y="493"/>
                  </a:lnTo>
                  <a:lnTo>
                    <a:pt x="402" y="493"/>
                  </a:lnTo>
                  <a:lnTo>
                    <a:pt x="400" y="493"/>
                  </a:lnTo>
                  <a:lnTo>
                    <a:pt x="400" y="493"/>
                  </a:lnTo>
                  <a:lnTo>
                    <a:pt x="400" y="493"/>
                  </a:lnTo>
                  <a:lnTo>
                    <a:pt x="398" y="493"/>
                  </a:lnTo>
                  <a:lnTo>
                    <a:pt x="398" y="493"/>
                  </a:lnTo>
                  <a:lnTo>
                    <a:pt x="396" y="493"/>
                  </a:lnTo>
                  <a:lnTo>
                    <a:pt x="396" y="493"/>
                  </a:lnTo>
                  <a:lnTo>
                    <a:pt x="396" y="493"/>
                  </a:lnTo>
                  <a:lnTo>
                    <a:pt x="394" y="491"/>
                  </a:lnTo>
                  <a:lnTo>
                    <a:pt x="394" y="491"/>
                  </a:lnTo>
                  <a:lnTo>
                    <a:pt x="394" y="489"/>
                  </a:lnTo>
                  <a:lnTo>
                    <a:pt x="394" y="489"/>
                  </a:lnTo>
                  <a:lnTo>
                    <a:pt x="392" y="489"/>
                  </a:lnTo>
                  <a:lnTo>
                    <a:pt x="392" y="487"/>
                  </a:lnTo>
                  <a:lnTo>
                    <a:pt x="392" y="487"/>
                  </a:lnTo>
                  <a:lnTo>
                    <a:pt x="392" y="487"/>
                  </a:lnTo>
                  <a:lnTo>
                    <a:pt x="392" y="485"/>
                  </a:lnTo>
                  <a:lnTo>
                    <a:pt x="394" y="485"/>
                  </a:lnTo>
                  <a:lnTo>
                    <a:pt x="394" y="485"/>
                  </a:lnTo>
                  <a:lnTo>
                    <a:pt x="394" y="485"/>
                  </a:lnTo>
                  <a:lnTo>
                    <a:pt x="394" y="480"/>
                  </a:lnTo>
                  <a:lnTo>
                    <a:pt x="394" y="480"/>
                  </a:lnTo>
                  <a:lnTo>
                    <a:pt x="394" y="478"/>
                  </a:lnTo>
                  <a:lnTo>
                    <a:pt x="394" y="478"/>
                  </a:lnTo>
                  <a:lnTo>
                    <a:pt x="394" y="476"/>
                  </a:lnTo>
                  <a:lnTo>
                    <a:pt x="394" y="476"/>
                  </a:lnTo>
                  <a:lnTo>
                    <a:pt x="394" y="474"/>
                  </a:lnTo>
                  <a:lnTo>
                    <a:pt x="394" y="472"/>
                  </a:lnTo>
                  <a:lnTo>
                    <a:pt x="394" y="472"/>
                  </a:lnTo>
                  <a:lnTo>
                    <a:pt x="394" y="470"/>
                  </a:lnTo>
                  <a:lnTo>
                    <a:pt x="394" y="468"/>
                  </a:lnTo>
                  <a:lnTo>
                    <a:pt x="394" y="468"/>
                  </a:lnTo>
                  <a:lnTo>
                    <a:pt x="394" y="468"/>
                  </a:lnTo>
                  <a:lnTo>
                    <a:pt x="394" y="468"/>
                  </a:lnTo>
                  <a:lnTo>
                    <a:pt x="392" y="468"/>
                  </a:lnTo>
                  <a:lnTo>
                    <a:pt x="392" y="468"/>
                  </a:lnTo>
                  <a:lnTo>
                    <a:pt x="390" y="468"/>
                  </a:lnTo>
                  <a:lnTo>
                    <a:pt x="390" y="468"/>
                  </a:lnTo>
                  <a:lnTo>
                    <a:pt x="390" y="468"/>
                  </a:lnTo>
                  <a:lnTo>
                    <a:pt x="388" y="466"/>
                  </a:lnTo>
                  <a:lnTo>
                    <a:pt x="388" y="466"/>
                  </a:lnTo>
                  <a:lnTo>
                    <a:pt x="388" y="466"/>
                  </a:lnTo>
                  <a:lnTo>
                    <a:pt x="387" y="466"/>
                  </a:lnTo>
                  <a:lnTo>
                    <a:pt x="387" y="468"/>
                  </a:lnTo>
                  <a:lnTo>
                    <a:pt x="385" y="468"/>
                  </a:lnTo>
                  <a:lnTo>
                    <a:pt x="385" y="468"/>
                  </a:lnTo>
                  <a:lnTo>
                    <a:pt x="383" y="468"/>
                  </a:lnTo>
                  <a:lnTo>
                    <a:pt x="381" y="468"/>
                  </a:lnTo>
                  <a:lnTo>
                    <a:pt x="379" y="466"/>
                  </a:lnTo>
                  <a:lnTo>
                    <a:pt x="379" y="466"/>
                  </a:lnTo>
                  <a:lnTo>
                    <a:pt x="377" y="466"/>
                  </a:lnTo>
                  <a:lnTo>
                    <a:pt x="377" y="466"/>
                  </a:lnTo>
                  <a:lnTo>
                    <a:pt x="377" y="466"/>
                  </a:lnTo>
                  <a:lnTo>
                    <a:pt x="375" y="466"/>
                  </a:lnTo>
                  <a:lnTo>
                    <a:pt x="373" y="463"/>
                  </a:lnTo>
                  <a:lnTo>
                    <a:pt x="371" y="461"/>
                  </a:lnTo>
                  <a:lnTo>
                    <a:pt x="371" y="461"/>
                  </a:lnTo>
                  <a:lnTo>
                    <a:pt x="369" y="461"/>
                  </a:lnTo>
                  <a:lnTo>
                    <a:pt x="369" y="461"/>
                  </a:lnTo>
                  <a:lnTo>
                    <a:pt x="367" y="463"/>
                  </a:lnTo>
                  <a:lnTo>
                    <a:pt x="367" y="463"/>
                  </a:lnTo>
                  <a:lnTo>
                    <a:pt x="366" y="461"/>
                  </a:lnTo>
                  <a:lnTo>
                    <a:pt x="366" y="461"/>
                  </a:lnTo>
                  <a:lnTo>
                    <a:pt x="366" y="459"/>
                  </a:lnTo>
                  <a:lnTo>
                    <a:pt x="366" y="459"/>
                  </a:lnTo>
                  <a:lnTo>
                    <a:pt x="366" y="457"/>
                  </a:lnTo>
                  <a:lnTo>
                    <a:pt x="366" y="457"/>
                  </a:lnTo>
                  <a:lnTo>
                    <a:pt x="367" y="459"/>
                  </a:lnTo>
                  <a:lnTo>
                    <a:pt x="369" y="459"/>
                  </a:lnTo>
                  <a:lnTo>
                    <a:pt x="369" y="457"/>
                  </a:lnTo>
                  <a:lnTo>
                    <a:pt x="369" y="457"/>
                  </a:lnTo>
                  <a:lnTo>
                    <a:pt x="369" y="457"/>
                  </a:lnTo>
                  <a:lnTo>
                    <a:pt x="369" y="455"/>
                  </a:lnTo>
                  <a:lnTo>
                    <a:pt x="369" y="455"/>
                  </a:lnTo>
                  <a:lnTo>
                    <a:pt x="367" y="453"/>
                  </a:lnTo>
                  <a:lnTo>
                    <a:pt x="367" y="453"/>
                  </a:lnTo>
                  <a:lnTo>
                    <a:pt x="367" y="451"/>
                  </a:lnTo>
                  <a:lnTo>
                    <a:pt x="369" y="449"/>
                  </a:lnTo>
                  <a:lnTo>
                    <a:pt x="369" y="447"/>
                  </a:lnTo>
                  <a:lnTo>
                    <a:pt x="369" y="447"/>
                  </a:lnTo>
                  <a:lnTo>
                    <a:pt x="369" y="445"/>
                  </a:lnTo>
                  <a:lnTo>
                    <a:pt x="367" y="442"/>
                  </a:lnTo>
                  <a:lnTo>
                    <a:pt x="364" y="440"/>
                  </a:lnTo>
                  <a:lnTo>
                    <a:pt x="360" y="442"/>
                  </a:lnTo>
                  <a:lnTo>
                    <a:pt x="360" y="442"/>
                  </a:lnTo>
                  <a:lnTo>
                    <a:pt x="360" y="442"/>
                  </a:lnTo>
                  <a:lnTo>
                    <a:pt x="358" y="442"/>
                  </a:lnTo>
                  <a:lnTo>
                    <a:pt x="358" y="442"/>
                  </a:lnTo>
                  <a:lnTo>
                    <a:pt x="356" y="442"/>
                  </a:lnTo>
                  <a:lnTo>
                    <a:pt x="356" y="442"/>
                  </a:lnTo>
                  <a:lnTo>
                    <a:pt x="354" y="444"/>
                  </a:lnTo>
                  <a:lnTo>
                    <a:pt x="354" y="445"/>
                  </a:lnTo>
                  <a:lnTo>
                    <a:pt x="352" y="445"/>
                  </a:lnTo>
                  <a:lnTo>
                    <a:pt x="352" y="445"/>
                  </a:lnTo>
                  <a:lnTo>
                    <a:pt x="352" y="444"/>
                  </a:lnTo>
                  <a:lnTo>
                    <a:pt x="352" y="444"/>
                  </a:lnTo>
                  <a:lnTo>
                    <a:pt x="352" y="442"/>
                  </a:lnTo>
                  <a:lnTo>
                    <a:pt x="352" y="440"/>
                  </a:lnTo>
                  <a:lnTo>
                    <a:pt x="352" y="440"/>
                  </a:lnTo>
                  <a:lnTo>
                    <a:pt x="352" y="440"/>
                  </a:lnTo>
                  <a:lnTo>
                    <a:pt x="354" y="438"/>
                  </a:lnTo>
                  <a:lnTo>
                    <a:pt x="354" y="438"/>
                  </a:lnTo>
                  <a:lnTo>
                    <a:pt x="354" y="436"/>
                  </a:lnTo>
                  <a:lnTo>
                    <a:pt x="354" y="436"/>
                  </a:lnTo>
                  <a:lnTo>
                    <a:pt x="354" y="434"/>
                  </a:lnTo>
                  <a:lnTo>
                    <a:pt x="354" y="434"/>
                  </a:lnTo>
                  <a:lnTo>
                    <a:pt x="354" y="432"/>
                  </a:lnTo>
                  <a:lnTo>
                    <a:pt x="354" y="432"/>
                  </a:lnTo>
                  <a:lnTo>
                    <a:pt x="354" y="432"/>
                  </a:lnTo>
                  <a:lnTo>
                    <a:pt x="354" y="432"/>
                  </a:lnTo>
                  <a:lnTo>
                    <a:pt x="352" y="434"/>
                  </a:lnTo>
                  <a:lnTo>
                    <a:pt x="352" y="434"/>
                  </a:lnTo>
                  <a:lnTo>
                    <a:pt x="352" y="434"/>
                  </a:lnTo>
                  <a:lnTo>
                    <a:pt x="350" y="436"/>
                  </a:lnTo>
                  <a:lnTo>
                    <a:pt x="350" y="436"/>
                  </a:lnTo>
                  <a:lnTo>
                    <a:pt x="350" y="436"/>
                  </a:lnTo>
                  <a:lnTo>
                    <a:pt x="348" y="436"/>
                  </a:lnTo>
                  <a:lnTo>
                    <a:pt x="348" y="436"/>
                  </a:lnTo>
                  <a:lnTo>
                    <a:pt x="347" y="436"/>
                  </a:lnTo>
                  <a:lnTo>
                    <a:pt x="347" y="436"/>
                  </a:lnTo>
                  <a:lnTo>
                    <a:pt x="347" y="436"/>
                  </a:lnTo>
                  <a:lnTo>
                    <a:pt x="345" y="436"/>
                  </a:lnTo>
                  <a:lnTo>
                    <a:pt x="343" y="436"/>
                  </a:lnTo>
                  <a:lnTo>
                    <a:pt x="341" y="434"/>
                  </a:lnTo>
                  <a:lnTo>
                    <a:pt x="341" y="434"/>
                  </a:lnTo>
                  <a:lnTo>
                    <a:pt x="341" y="434"/>
                  </a:lnTo>
                  <a:lnTo>
                    <a:pt x="339" y="436"/>
                  </a:lnTo>
                  <a:lnTo>
                    <a:pt x="339" y="436"/>
                  </a:lnTo>
                  <a:lnTo>
                    <a:pt x="339" y="436"/>
                  </a:lnTo>
                  <a:lnTo>
                    <a:pt x="339" y="438"/>
                  </a:lnTo>
                  <a:lnTo>
                    <a:pt x="339" y="438"/>
                  </a:lnTo>
                  <a:lnTo>
                    <a:pt x="341" y="438"/>
                  </a:lnTo>
                  <a:lnTo>
                    <a:pt x="341" y="440"/>
                  </a:lnTo>
                  <a:lnTo>
                    <a:pt x="341" y="440"/>
                  </a:lnTo>
                  <a:lnTo>
                    <a:pt x="341" y="440"/>
                  </a:lnTo>
                  <a:lnTo>
                    <a:pt x="341" y="442"/>
                  </a:lnTo>
                  <a:lnTo>
                    <a:pt x="341" y="442"/>
                  </a:lnTo>
                  <a:lnTo>
                    <a:pt x="339" y="442"/>
                  </a:lnTo>
                  <a:lnTo>
                    <a:pt x="337" y="444"/>
                  </a:lnTo>
                  <a:lnTo>
                    <a:pt x="337" y="444"/>
                  </a:lnTo>
                  <a:lnTo>
                    <a:pt x="335" y="445"/>
                  </a:lnTo>
                  <a:lnTo>
                    <a:pt x="335" y="445"/>
                  </a:lnTo>
                  <a:lnTo>
                    <a:pt x="335" y="445"/>
                  </a:lnTo>
                  <a:lnTo>
                    <a:pt x="333" y="447"/>
                  </a:lnTo>
                  <a:lnTo>
                    <a:pt x="331" y="447"/>
                  </a:lnTo>
                  <a:lnTo>
                    <a:pt x="331" y="447"/>
                  </a:lnTo>
                  <a:lnTo>
                    <a:pt x="331" y="449"/>
                  </a:lnTo>
                  <a:lnTo>
                    <a:pt x="331" y="449"/>
                  </a:lnTo>
                  <a:lnTo>
                    <a:pt x="329" y="451"/>
                  </a:lnTo>
                  <a:lnTo>
                    <a:pt x="329" y="451"/>
                  </a:lnTo>
                  <a:lnTo>
                    <a:pt x="329" y="451"/>
                  </a:lnTo>
                  <a:lnTo>
                    <a:pt x="329" y="451"/>
                  </a:lnTo>
                  <a:lnTo>
                    <a:pt x="327" y="451"/>
                  </a:lnTo>
                  <a:lnTo>
                    <a:pt x="327" y="449"/>
                  </a:lnTo>
                  <a:lnTo>
                    <a:pt x="327" y="449"/>
                  </a:lnTo>
                  <a:lnTo>
                    <a:pt x="326" y="449"/>
                  </a:lnTo>
                  <a:lnTo>
                    <a:pt x="324" y="449"/>
                  </a:lnTo>
                  <a:lnTo>
                    <a:pt x="324" y="449"/>
                  </a:lnTo>
                  <a:lnTo>
                    <a:pt x="324" y="451"/>
                  </a:lnTo>
                  <a:lnTo>
                    <a:pt x="322" y="451"/>
                  </a:lnTo>
                  <a:lnTo>
                    <a:pt x="322" y="451"/>
                  </a:lnTo>
                  <a:lnTo>
                    <a:pt x="322" y="453"/>
                  </a:lnTo>
                  <a:lnTo>
                    <a:pt x="324" y="453"/>
                  </a:lnTo>
                  <a:lnTo>
                    <a:pt x="322" y="453"/>
                  </a:lnTo>
                  <a:lnTo>
                    <a:pt x="322" y="453"/>
                  </a:lnTo>
                  <a:lnTo>
                    <a:pt x="320" y="453"/>
                  </a:lnTo>
                  <a:lnTo>
                    <a:pt x="318" y="453"/>
                  </a:lnTo>
                  <a:lnTo>
                    <a:pt x="316" y="455"/>
                  </a:lnTo>
                  <a:lnTo>
                    <a:pt x="314" y="457"/>
                  </a:lnTo>
                  <a:lnTo>
                    <a:pt x="314" y="457"/>
                  </a:lnTo>
                  <a:lnTo>
                    <a:pt x="312" y="457"/>
                  </a:lnTo>
                  <a:lnTo>
                    <a:pt x="310" y="457"/>
                  </a:lnTo>
                  <a:lnTo>
                    <a:pt x="310" y="457"/>
                  </a:lnTo>
                  <a:lnTo>
                    <a:pt x="310" y="457"/>
                  </a:lnTo>
                  <a:lnTo>
                    <a:pt x="308" y="457"/>
                  </a:lnTo>
                  <a:lnTo>
                    <a:pt x="308" y="457"/>
                  </a:lnTo>
                  <a:lnTo>
                    <a:pt x="308" y="455"/>
                  </a:lnTo>
                  <a:lnTo>
                    <a:pt x="308" y="453"/>
                  </a:lnTo>
                  <a:lnTo>
                    <a:pt x="308" y="453"/>
                  </a:lnTo>
                  <a:lnTo>
                    <a:pt x="308" y="449"/>
                  </a:lnTo>
                  <a:lnTo>
                    <a:pt x="307" y="449"/>
                  </a:lnTo>
                  <a:lnTo>
                    <a:pt x="307" y="447"/>
                  </a:lnTo>
                  <a:lnTo>
                    <a:pt x="307" y="447"/>
                  </a:lnTo>
                  <a:lnTo>
                    <a:pt x="305" y="447"/>
                  </a:lnTo>
                  <a:lnTo>
                    <a:pt x="305" y="445"/>
                  </a:lnTo>
                  <a:lnTo>
                    <a:pt x="305" y="445"/>
                  </a:lnTo>
                  <a:lnTo>
                    <a:pt x="305" y="444"/>
                  </a:lnTo>
                  <a:lnTo>
                    <a:pt x="305" y="444"/>
                  </a:lnTo>
                  <a:lnTo>
                    <a:pt x="303" y="444"/>
                  </a:lnTo>
                  <a:lnTo>
                    <a:pt x="301" y="444"/>
                  </a:lnTo>
                  <a:lnTo>
                    <a:pt x="299" y="444"/>
                  </a:lnTo>
                  <a:lnTo>
                    <a:pt x="297" y="444"/>
                  </a:lnTo>
                  <a:lnTo>
                    <a:pt x="297" y="444"/>
                  </a:lnTo>
                  <a:lnTo>
                    <a:pt x="295" y="444"/>
                  </a:lnTo>
                  <a:lnTo>
                    <a:pt x="295" y="444"/>
                  </a:lnTo>
                  <a:lnTo>
                    <a:pt x="293" y="444"/>
                  </a:lnTo>
                  <a:lnTo>
                    <a:pt x="293" y="442"/>
                  </a:lnTo>
                  <a:lnTo>
                    <a:pt x="291" y="442"/>
                  </a:lnTo>
                  <a:lnTo>
                    <a:pt x="291" y="442"/>
                  </a:lnTo>
                  <a:lnTo>
                    <a:pt x="289" y="442"/>
                  </a:lnTo>
                  <a:lnTo>
                    <a:pt x="287" y="442"/>
                  </a:lnTo>
                  <a:lnTo>
                    <a:pt x="287" y="440"/>
                  </a:lnTo>
                  <a:lnTo>
                    <a:pt x="286" y="440"/>
                  </a:lnTo>
                  <a:lnTo>
                    <a:pt x="286" y="440"/>
                  </a:lnTo>
                  <a:lnTo>
                    <a:pt x="286" y="440"/>
                  </a:lnTo>
                  <a:lnTo>
                    <a:pt x="284" y="442"/>
                  </a:lnTo>
                  <a:lnTo>
                    <a:pt x="282" y="442"/>
                  </a:lnTo>
                  <a:lnTo>
                    <a:pt x="282" y="440"/>
                  </a:lnTo>
                  <a:lnTo>
                    <a:pt x="282" y="440"/>
                  </a:lnTo>
                  <a:lnTo>
                    <a:pt x="282" y="438"/>
                  </a:lnTo>
                  <a:lnTo>
                    <a:pt x="282" y="438"/>
                  </a:lnTo>
                  <a:lnTo>
                    <a:pt x="282" y="438"/>
                  </a:lnTo>
                  <a:lnTo>
                    <a:pt x="282" y="438"/>
                  </a:lnTo>
                  <a:lnTo>
                    <a:pt x="280" y="438"/>
                  </a:lnTo>
                  <a:lnTo>
                    <a:pt x="280" y="438"/>
                  </a:lnTo>
                  <a:lnTo>
                    <a:pt x="280" y="438"/>
                  </a:lnTo>
                  <a:lnTo>
                    <a:pt x="280" y="440"/>
                  </a:lnTo>
                  <a:lnTo>
                    <a:pt x="280" y="440"/>
                  </a:lnTo>
                  <a:lnTo>
                    <a:pt x="280" y="440"/>
                  </a:lnTo>
                  <a:lnTo>
                    <a:pt x="280" y="440"/>
                  </a:lnTo>
                  <a:lnTo>
                    <a:pt x="280" y="440"/>
                  </a:lnTo>
                  <a:lnTo>
                    <a:pt x="280" y="442"/>
                  </a:lnTo>
                  <a:lnTo>
                    <a:pt x="280" y="442"/>
                  </a:lnTo>
                  <a:lnTo>
                    <a:pt x="280" y="442"/>
                  </a:lnTo>
                  <a:lnTo>
                    <a:pt x="278" y="442"/>
                  </a:lnTo>
                  <a:lnTo>
                    <a:pt x="278" y="442"/>
                  </a:lnTo>
                  <a:lnTo>
                    <a:pt x="278" y="444"/>
                  </a:lnTo>
                  <a:lnTo>
                    <a:pt x="278" y="444"/>
                  </a:lnTo>
                  <a:lnTo>
                    <a:pt x="278" y="444"/>
                  </a:lnTo>
                  <a:lnTo>
                    <a:pt x="278" y="444"/>
                  </a:lnTo>
                  <a:lnTo>
                    <a:pt x="280" y="444"/>
                  </a:lnTo>
                  <a:lnTo>
                    <a:pt x="280" y="445"/>
                  </a:lnTo>
                  <a:lnTo>
                    <a:pt x="280" y="445"/>
                  </a:lnTo>
                  <a:lnTo>
                    <a:pt x="280" y="447"/>
                  </a:lnTo>
                  <a:lnTo>
                    <a:pt x="280" y="447"/>
                  </a:lnTo>
                  <a:lnTo>
                    <a:pt x="280" y="449"/>
                  </a:lnTo>
                  <a:lnTo>
                    <a:pt x="280" y="449"/>
                  </a:lnTo>
                  <a:lnTo>
                    <a:pt x="280" y="451"/>
                  </a:lnTo>
                  <a:lnTo>
                    <a:pt x="280" y="451"/>
                  </a:lnTo>
                  <a:lnTo>
                    <a:pt x="278" y="451"/>
                  </a:lnTo>
                  <a:lnTo>
                    <a:pt x="278" y="451"/>
                  </a:lnTo>
                  <a:lnTo>
                    <a:pt x="276" y="451"/>
                  </a:lnTo>
                  <a:lnTo>
                    <a:pt x="274" y="451"/>
                  </a:lnTo>
                  <a:lnTo>
                    <a:pt x="274" y="451"/>
                  </a:lnTo>
                  <a:lnTo>
                    <a:pt x="274" y="451"/>
                  </a:lnTo>
                  <a:lnTo>
                    <a:pt x="272" y="451"/>
                  </a:lnTo>
                  <a:lnTo>
                    <a:pt x="272" y="453"/>
                  </a:lnTo>
                  <a:lnTo>
                    <a:pt x="272" y="453"/>
                  </a:lnTo>
                  <a:lnTo>
                    <a:pt x="272" y="453"/>
                  </a:lnTo>
                  <a:lnTo>
                    <a:pt x="270" y="453"/>
                  </a:lnTo>
                  <a:lnTo>
                    <a:pt x="270" y="453"/>
                  </a:lnTo>
                  <a:lnTo>
                    <a:pt x="268" y="451"/>
                  </a:lnTo>
                  <a:lnTo>
                    <a:pt x="268" y="451"/>
                  </a:lnTo>
                  <a:lnTo>
                    <a:pt x="268" y="449"/>
                  </a:lnTo>
                  <a:lnTo>
                    <a:pt x="268" y="449"/>
                  </a:lnTo>
                  <a:lnTo>
                    <a:pt x="266" y="449"/>
                  </a:lnTo>
                  <a:lnTo>
                    <a:pt x="266" y="449"/>
                  </a:lnTo>
                  <a:lnTo>
                    <a:pt x="266" y="449"/>
                  </a:lnTo>
                  <a:lnTo>
                    <a:pt x="266" y="451"/>
                  </a:lnTo>
                  <a:lnTo>
                    <a:pt x="266" y="451"/>
                  </a:lnTo>
                  <a:lnTo>
                    <a:pt x="266" y="453"/>
                  </a:lnTo>
                  <a:lnTo>
                    <a:pt x="265" y="453"/>
                  </a:lnTo>
                  <a:lnTo>
                    <a:pt x="265" y="453"/>
                  </a:lnTo>
                  <a:lnTo>
                    <a:pt x="265" y="451"/>
                  </a:lnTo>
                  <a:lnTo>
                    <a:pt x="265" y="449"/>
                  </a:lnTo>
                  <a:lnTo>
                    <a:pt x="265" y="447"/>
                  </a:lnTo>
                  <a:lnTo>
                    <a:pt x="265" y="445"/>
                  </a:lnTo>
                  <a:lnTo>
                    <a:pt x="265" y="445"/>
                  </a:lnTo>
                  <a:lnTo>
                    <a:pt x="265" y="444"/>
                  </a:lnTo>
                  <a:lnTo>
                    <a:pt x="266" y="444"/>
                  </a:lnTo>
                  <a:lnTo>
                    <a:pt x="266" y="442"/>
                  </a:lnTo>
                  <a:lnTo>
                    <a:pt x="266" y="442"/>
                  </a:lnTo>
                  <a:lnTo>
                    <a:pt x="266" y="442"/>
                  </a:lnTo>
                  <a:lnTo>
                    <a:pt x="266" y="440"/>
                  </a:lnTo>
                  <a:lnTo>
                    <a:pt x="268" y="440"/>
                  </a:lnTo>
                  <a:lnTo>
                    <a:pt x="268" y="440"/>
                  </a:lnTo>
                  <a:lnTo>
                    <a:pt x="268" y="440"/>
                  </a:lnTo>
                  <a:lnTo>
                    <a:pt x="268" y="438"/>
                  </a:lnTo>
                  <a:lnTo>
                    <a:pt x="268" y="438"/>
                  </a:lnTo>
                  <a:lnTo>
                    <a:pt x="268" y="438"/>
                  </a:lnTo>
                  <a:lnTo>
                    <a:pt x="268" y="436"/>
                  </a:lnTo>
                  <a:lnTo>
                    <a:pt x="268" y="436"/>
                  </a:lnTo>
                  <a:lnTo>
                    <a:pt x="266" y="434"/>
                  </a:lnTo>
                  <a:lnTo>
                    <a:pt x="266" y="432"/>
                  </a:lnTo>
                  <a:lnTo>
                    <a:pt x="265" y="430"/>
                  </a:lnTo>
                  <a:lnTo>
                    <a:pt x="263" y="430"/>
                  </a:lnTo>
                  <a:lnTo>
                    <a:pt x="263" y="428"/>
                  </a:lnTo>
                  <a:lnTo>
                    <a:pt x="263" y="428"/>
                  </a:lnTo>
                  <a:lnTo>
                    <a:pt x="263" y="428"/>
                  </a:lnTo>
                  <a:lnTo>
                    <a:pt x="261" y="426"/>
                  </a:lnTo>
                  <a:lnTo>
                    <a:pt x="263" y="425"/>
                  </a:lnTo>
                  <a:lnTo>
                    <a:pt x="263" y="425"/>
                  </a:lnTo>
                  <a:lnTo>
                    <a:pt x="263" y="423"/>
                  </a:lnTo>
                  <a:lnTo>
                    <a:pt x="263" y="423"/>
                  </a:lnTo>
                  <a:lnTo>
                    <a:pt x="263" y="423"/>
                  </a:lnTo>
                  <a:lnTo>
                    <a:pt x="261" y="421"/>
                  </a:lnTo>
                  <a:lnTo>
                    <a:pt x="257" y="415"/>
                  </a:lnTo>
                  <a:lnTo>
                    <a:pt x="255" y="415"/>
                  </a:lnTo>
                  <a:lnTo>
                    <a:pt x="255" y="415"/>
                  </a:lnTo>
                  <a:lnTo>
                    <a:pt x="257" y="413"/>
                  </a:lnTo>
                  <a:lnTo>
                    <a:pt x="257" y="413"/>
                  </a:lnTo>
                  <a:lnTo>
                    <a:pt x="259" y="413"/>
                  </a:lnTo>
                  <a:lnTo>
                    <a:pt x="259" y="413"/>
                  </a:lnTo>
                  <a:lnTo>
                    <a:pt x="259" y="411"/>
                  </a:lnTo>
                  <a:lnTo>
                    <a:pt x="259" y="411"/>
                  </a:lnTo>
                  <a:lnTo>
                    <a:pt x="261" y="411"/>
                  </a:lnTo>
                  <a:lnTo>
                    <a:pt x="261" y="411"/>
                  </a:lnTo>
                  <a:lnTo>
                    <a:pt x="261" y="411"/>
                  </a:lnTo>
                  <a:lnTo>
                    <a:pt x="261" y="411"/>
                  </a:lnTo>
                  <a:lnTo>
                    <a:pt x="263" y="413"/>
                  </a:lnTo>
                  <a:lnTo>
                    <a:pt x="263" y="413"/>
                  </a:lnTo>
                  <a:lnTo>
                    <a:pt x="265" y="413"/>
                  </a:lnTo>
                  <a:lnTo>
                    <a:pt x="265" y="413"/>
                  </a:lnTo>
                  <a:lnTo>
                    <a:pt x="265" y="413"/>
                  </a:lnTo>
                  <a:lnTo>
                    <a:pt x="265" y="413"/>
                  </a:lnTo>
                  <a:lnTo>
                    <a:pt x="265" y="413"/>
                  </a:lnTo>
                  <a:lnTo>
                    <a:pt x="265" y="415"/>
                  </a:lnTo>
                  <a:lnTo>
                    <a:pt x="266" y="419"/>
                  </a:lnTo>
                  <a:lnTo>
                    <a:pt x="266" y="421"/>
                  </a:lnTo>
                  <a:lnTo>
                    <a:pt x="266" y="423"/>
                  </a:lnTo>
                  <a:lnTo>
                    <a:pt x="268" y="423"/>
                  </a:lnTo>
                  <a:lnTo>
                    <a:pt x="268" y="423"/>
                  </a:lnTo>
                  <a:lnTo>
                    <a:pt x="268" y="423"/>
                  </a:lnTo>
                  <a:lnTo>
                    <a:pt x="270" y="425"/>
                  </a:lnTo>
                  <a:lnTo>
                    <a:pt x="270" y="425"/>
                  </a:lnTo>
                  <a:lnTo>
                    <a:pt x="274" y="425"/>
                  </a:lnTo>
                  <a:lnTo>
                    <a:pt x="274" y="425"/>
                  </a:lnTo>
                  <a:lnTo>
                    <a:pt x="276" y="426"/>
                  </a:lnTo>
                  <a:lnTo>
                    <a:pt x="276" y="426"/>
                  </a:lnTo>
                  <a:lnTo>
                    <a:pt x="276" y="428"/>
                  </a:lnTo>
                  <a:lnTo>
                    <a:pt x="278" y="428"/>
                  </a:lnTo>
                  <a:lnTo>
                    <a:pt x="278" y="428"/>
                  </a:lnTo>
                  <a:lnTo>
                    <a:pt x="280" y="428"/>
                  </a:lnTo>
                  <a:lnTo>
                    <a:pt x="282" y="428"/>
                  </a:lnTo>
                  <a:lnTo>
                    <a:pt x="284" y="428"/>
                  </a:lnTo>
                  <a:lnTo>
                    <a:pt x="284" y="428"/>
                  </a:lnTo>
                  <a:lnTo>
                    <a:pt x="291" y="426"/>
                  </a:lnTo>
                  <a:lnTo>
                    <a:pt x="291" y="426"/>
                  </a:lnTo>
                  <a:lnTo>
                    <a:pt x="291" y="426"/>
                  </a:lnTo>
                  <a:lnTo>
                    <a:pt x="293" y="426"/>
                  </a:lnTo>
                  <a:lnTo>
                    <a:pt x="293" y="428"/>
                  </a:lnTo>
                  <a:lnTo>
                    <a:pt x="295" y="428"/>
                  </a:lnTo>
                  <a:lnTo>
                    <a:pt x="295" y="428"/>
                  </a:lnTo>
                  <a:lnTo>
                    <a:pt x="295" y="428"/>
                  </a:lnTo>
                  <a:lnTo>
                    <a:pt x="295" y="428"/>
                  </a:lnTo>
                  <a:lnTo>
                    <a:pt x="297" y="432"/>
                  </a:lnTo>
                  <a:lnTo>
                    <a:pt x="299" y="434"/>
                  </a:lnTo>
                  <a:lnTo>
                    <a:pt x="299" y="434"/>
                  </a:lnTo>
                  <a:lnTo>
                    <a:pt x="299" y="436"/>
                  </a:lnTo>
                  <a:lnTo>
                    <a:pt x="299" y="436"/>
                  </a:lnTo>
                  <a:lnTo>
                    <a:pt x="299" y="438"/>
                  </a:lnTo>
                  <a:lnTo>
                    <a:pt x="299" y="438"/>
                  </a:lnTo>
                  <a:lnTo>
                    <a:pt x="299" y="438"/>
                  </a:lnTo>
                  <a:lnTo>
                    <a:pt x="301" y="438"/>
                  </a:lnTo>
                  <a:lnTo>
                    <a:pt x="303" y="440"/>
                  </a:lnTo>
                  <a:lnTo>
                    <a:pt x="303" y="440"/>
                  </a:lnTo>
                  <a:lnTo>
                    <a:pt x="305" y="440"/>
                  </a:lnTo>
                  <a:lnTo>
                    <a:pt x="305" y="438"/>
                  </a:lnTo>
                  <a:lnTo>
                    <a:pt x="305" y="438"/>
                  </a:lnTo>
                  <a:lnTo>
                    <a:pt x="305" y="438"/>
                  </a:lnTo>
                  <a:lnTo>
                    <a:pt x="303" y="436"/>
                  </a:lnTo>
                  <a:lnTo>
                    <a:pt x="303" y="434"/>
                  </a:lnTo>
                  <a:lnTo>
                    <a:pt x="303" y="434"/>
                  </a:lnTo>
                  <a:lnTo>
                    <a:pt x="305" y="432"/>
                  </a:lnTo>
                  <a:lnTo>
                    <a:pt x="303" y="432"/>
                  </a:lnTo>
                  <a:lnTo>
                    <a:pt x="303" y="432"/>
                  </a:lnTo>
                  <a:lnTo>
                    <a:pt x="303" y="430"/>
                  </a:lnTo>
                  <a:lnTo>
                    <a:pt x="301" y="430"/>
                  </a:lnTo>
                  <a:lnTo>
                    <a:pt x="301" y="430"/>
                  </a:lnTo>
                  <a:lnTo>
                    <a:pt x="301" y="428"/>
                  </a:lnTo>
                  <a:lnTo>
                    <a:pt x="301" y="428"/>
                  </a:lnTo>
                  <a:lnTo>
                    <a:pt x="301" y="426"/>
                  </a:lnTo>
                  <a:lnTo>
                    <a:pt x="301" y="426"/>
                  </a:lnTo>
                  <a:lnTo>
                    <a:pt x="299" y="425"/>
                  </a:lnTo>
                  <a:lnTo>
                    <a:pt x="299" y="425"/>
                  </a:lnTo>
                  <a:lnTo>
                    <a:pt x="299" y="425"/>
                  </a:lnTo>
                  <a:lnTo>
                    <a:pt x="299" y="423"/>
                  </a:lnTo>
                  <a:lnTo>
                    <a:pt x="299" y="423"/>
                  </a:lnTo>
                  <a:lnTo>
                    <a:pt x="301" y="421"/>
                  </a:lnTo>
                  <a:lnTo>
                    <a:pt x="301" y="419"/>
                  </a:lnTo>
                  <a:lnTo>
                    <a:pt x="301" y="419"/>
                  </a:lnTo>
                  <a:lnTo>
                    <a:pt x="301" y="419"/>
                  </a:lnTo>
                  <a:lnTo>
                    <a:pt x="301" y="419"/>
                  </a:lnTo>
                  <a:lnTo>
                    <a:pt x="299" y="417"/>
                  </a:lnTo>
                  <a:lnTo>
                    <a:pt x="299" y="417"/>
                  </a:lnTo>
                  <a:lnTo>
                    <a:pt x="299" y="417"/>
                  </a:lnTo>
                  <a:lnTo>
                    <a:pt x="299" y="417"/>
                  </a:lnTo>
                  <a:lnTo>
                    <a:pt x="299" y="417"/>
                  </a:lnTo>
                  <a:lnTo>
                    <a:pt x="301" y="415"/>
                  </a:lnTo>
                  <a:lnTo>
                    <a:pt x="303" y="413"/>
                  </a:lnTo>
                  <a:lnTo>
                    <a:pt x="303" y="413"/>
                  </a:lnTo>
                  <a:lnTo>
                    <a:pt x="303" y="413"/>
                  </a:lnTo>
                  <a:lnTo>
                    <a:pt x="305" y="413"/>
                  </a:lnTo>
                  <a:lnTo>
                    <a:pt x="308" y="413"/>
                  </a:lnTo>
                  <a:lnTo>
                    <a:pt x="310" y="411"/>
                  </a:lnTo>
                  <a:lnTo>
                    <a:pt x="310" y="411"/>
                  </a:lnTo>
                  <a:lnTo>
                    <a:pt x="310" y="411"/>
                  </a:lnTo>
                  <a:lnTo>
                    <a:pt x="310" y="411"/>
                  </a:lnTo>
                  <a:lnTo>
                    <a:pt x="310" y="409"/>
                  </a:lnTo>
                  <a:lnTo>
                    <a:pt x="310" y="409"/>
                  </a:lnTo>
                  <a:lnTo>
                    <a:pt x="310" y="407"/>
                  </a:lnTo>
                  <a:lnTo>
                    <a:pt x="310" y="406"/>
                  </a:lnTo>
                  <a:lnTo>
                    <a:pt x="310" y="406"/>
                  </a:lnTo>
                  <a:lnTo>
                    <a:pt x="310" y="404"/>
                  </a:lnTo>
                  <a:lnTo>
                    <a:pt x="310" y="402"/>
                  </a:lnTo>
                  <a:lnTo>
                    <a:pt x="310" y="402"/>
                  </a:lnTo>
                  <a:lnTo>
                    <a:pt x="310" y="402"/>
                  </a:lnTo>
                  <a:lnTo>
                    <a:pt x="310" y="402"/>
                  </a:lnTo>
                  <a:lnTo>
                    <a:pt x="307" y="400"/>
                  </a:lnTo>
                  <a:lnTo>
                    <a:pt x="307" y="400"/>
                  </a:lnTo>
                  <a:lnTo>
                    <a:pt x="307" y="400"/>
                  </a:lnTo>
                  <a:lnTo>
                    <a:pt x="307" y="400"/>
                  </a:lnTo>
                  <a:lnTo>
                    <a:pt x="307" y="400"/>
                  </a:lnTo>
                  <a:lnTo>
                    <a:pt x="307" y="398"/>
                  </a:lnTo>
                  <a:lnTo>
                    <a:pt x="305" y="398"/>
                  </a:lnTo>
                  <a:lnTo>
                    <a:pt x="305" y="398"/>
                  </a:lnTo>
                  <a:lnTo>
                    <a:pt x="305" y="398"/>
                  </a:lnTo>
                  <a:lnTo>
                    <a:pt x="303" y="398"/>
                  </a:lnTo>
                  <a:lnTo>
                    <a:pt x="303" y="398"/>
                  </a:lnTo>
                  <a:lnTo>
                    <a:pt x="301" y="398"/>
                  </a:lnTo>
                  <a:lnTo>
                    <a:pt x="301" y="398"/>
                  </a:lnTo>
                  <a:lnTo>
                    <a:pt x="301" y="400"/>
                  </a:lnTo>
                  <a:lnTo>
                    <a:pt x="301" y="400"/>
                  </a:lnTo>
                  <a:lnTo>
                    <a:pt x="301" y="402"/>
                  </a:lnTo>
                  <a:lnTo>
                    <a:pt x="301" y="402"/>
                  </a:lnTo>
                  <a:lnTo>
                    <a:pt x="303" y="404"/>
                  </a:lnTo>
                  <a:lnTo>
                    <a:pt x="305" y="406"/>
                  </a:lnTo>
                  <a:lnTo>
                    <a:pt x="303" y="406"/>
                  </a:lnTo>
                  <a:lnTo>
                    <a:pt x="303" y="406"/>
                  </a:lnTo>
                  <a:lnTo>
                    <a:pt x="303" y="406"/>
                  </a:lnTo>
                  <a:lnTo>
                    <a:pt x="301" y="406"/>
                  </a:lnTo>
                  <a:lnTo>
                    <a:pt x="299" y="404"/>
                  </a:lnTo>
                  <a:lnTo>
                    <a:pt x="299" y="402"/>
                  </a:lnTo>
                  <a:lnTo>
                    <a:pt x="297" y="402"/>
                  </a:lnTo>
                  <a:lnTo>
                    <a:pt x="297" y="402"/>
                  </a:lnTo>
                  <a:lnTo>
                    <a:pt x="293" y="402"/>
                  </a:lnTo>
                  <a:lnTo>
                    <a:pt x="293" y="400"/>
                  </a:lnTo>
                  <a:lnTo>
                    <a:pt x="291" y="400"/>
                  </a:lnTo>
                  <a:lnTo>
                    <a:pt x="291" y="398"/>
                  </a:lnTo>
                  <a:lnTo>
                    <a:pt x="291" y="398"/>
                  </a:lnTo>
                  <a:lnTo>
                    <a:pt x="291" y="398"/>
                  </a:lnTo>
                  <a:lnTo>
                    <a:pt x="291" y="398"/>
                  </a:lnTo>
                  <a:lnTo>
                    <a:pt x="291" y="398"/>
                  </a:lnTo>
                  <a:lnTo>
                    <a:pt x="289" y="398"/>
                  </a:lnTo>
                  <a:lnTo>
                    <a:pt x="287" y="398"/>
                  </a:lnTo>
                  <a:lnTo>
                    <a:pt x="286" y="398"/>
                  </a:lnTo>
                  <a:lnTo>
                    <a:pt x="284" y="398"/>
                  </a:lnTo>
                  <a:lnTo>
                    <a:pt x="282" y="398"/>
                  </a:lnTo>
                  <a:lnTo>
                    <a:pt x="282" y="396"/>
                  </a:lnTo>
                  <a:lnTo>
                    <a:pt x="280" y="396"/>
                  </a:lnTo>
                  <a:lnTo>
                    <a:pt x="280" y="396"/>
                  </a:lnTo>
                  <a:lnTo>
                    <a:pt x="278" y="398"/>
                  </a:lnTo>
                  <a:lnTo>
                    <a:pt x="278" y="400"/>
                  </a:lnTo>
                  <a:lnTo>
                    <a:pt x="276" y="402"/>
                  </a:lnTo>
                  <a:lnTo>
                    <a:pt x="276" y="402"/>
                  </a:lnTo>
                  <a:lnTo>
                    <a:pt x="276" y="402"/>
                  </a:lnTo>
                  <a:lnTo>
                    <a:pt x="276" y="406"/>
                  </a:lnTo>
                  <a:lnTo>
                    <a:pt x="276" y="406"/>
                  </a:lnTo>
                  <a:lnTo>
                    <a:pt x="276" y="406"/>
                  </a:lnTo>
                  <a:lnTo>
                    <a:pt x="274" y="407"/>
                  </a:lnTo>
                  <a:lnTo>
                    <a:pt x="274" y="407"/>
                  </a:lnTo>
                  <a:lnTo>
                    <a:pt x="272" y="407"/>
                  </a:lnTo>
                  <a:lnTo>
                    <a:pt x="270" y="406"/>
                  </a:lnTo>
                  <a:lnTo>
                    <a:pt x="268" y="406"/>
                  </a:lnTo>
                  <a:lnTo>
                    <a:pt x="265" y="406"/>
                  </a:lnTo>
                  <a:lnTo>
                    <a:pt x="259" y="404"/>
                  </a:lnTo>
                  <a:lnTo>
                    <a:pt x="259" y="404"/>
                  </a:lnTo>
                  <a:lnTo>
                    <a:pt x="259" y="402"/>
                  </a:lnTo>
                  <a:lnTo>
                    <a:pt x="261" y="402"/>
                  </a:lnTo>
                  <a:lnTo>
                    <a:pt x="261" y="402"/>
                  </a:lnTo>
                  <a:lnTo>
                    <a:pt x="261" y="400"/>
                  </a:lnTo>
                  <a:lnTo>
                    <a:pt x="261" y="400"/>
                  </a:lnTo>
                  <a:lnTo>
                    <a:pt x="261" y="400"/>
                  </a:lnTo>
                  <a:lnTo>
                    <a:pt x="257" y="398"/>
                  </a:lnTo>
                  <a:lnTo>
                    <a:pt x="257" y="398"/>
                  </a:lnTo>
                  <a:lnTo>
                    <a:pt x="255" y="396"/>
                  </a:lnTo>
                  <a:lnTo>
                    <a:pt x="255" y="396"/>
                  </a:lnTo>
                  <a:lnTo>
                    <a:pt x="255" y="394"/>
                  </a:lnTo>
                  <a:lnTo>
                    <a:pt x="255" y="394"/>
                  </a:lnTo>
                  <a:lnTo>
                    <a:pt x="255" y="392"/>
                  </a:lnTo>
                  <a:lnTo>
                    <a:pt x="255" y="392"/>
                  </a:lnTo>
                  <a:lnTo>
                    <a:pt x="255" y="390"/>
                  </a:lnTo>
                  <a:lnTo>
                    <a:pt x="255" y="390"/>
                  </a:lnTo>
                  <a:lnTo>
                    <a:pt x="257" y="390"/>
                  </a:lnTo>
                  <a:lnTo>
                    <a:pt x="257" y="390"/>
                  </a:lnTo>
                  <a:lnTo>
                    <a:pt x="257" y="390"/>
                  </a:lnTo>
                  <a:lnTo>
                    <a:pt x="257" y="390"/>
                  </a:lnTo>
                  <a:lnTo>
                    <a:pt x="259" y="390"/>
                  </a:lnTo>
                  <a:lnTo>
                    <a:pt x="259" y="390"/>
                  </a:lnTo>
                  <a:lnTo>
                    <a:pt x="259" y="390"/>
                  </a:lnTo>
                  <a:lnTo>
                    <a:pt x="259" y="390"/>
                  </a:lnTo>
                  <a:lnTo>
                    <a:pt x="261" y="388"/>
                  </a:lnTo>
                  <a:lnTo>
                    <a:pt x="261" y="388"/>
                  </a:lnTo>
                  <a:lnTo>
                    <a:pt x="261" y="387"/>
                  </a:lnTo>
                  <a:lnTo>
                    <a:pt x="261" y="387"/>
                  </a:lnTo>
                  <a:lnTo>
                    <a:pt x="261" y="385"/>
                  </a:lnTo>
                  <a:lnTo>
                    <a:pt x="261" y="385"/>
                  </a:lnTo>
                  <a:lnTo>
                    <a:pt x="261" y="383"/>
                  </a:lnTo>
                  <a:lnTo>
                    <a:pt x="261" y="383"/>
                  </a:lnTo>
                  <a:lnTo>
                    <a:pt x="259" y="383"/>
                  </a:lnTo>
                  <a:lnTo>
                    <a:pt x="257" y="383"/>
                  </a:lnTo>
                  <a:lnTo>
                    <a:pt x="255" y="383"/>
                  </a:lnTo>
                  <a:lnTo>
                    <a:pt x="255" y="383"/>
                  </a:lnTo>
                  <a:lnTo>
                    <a:pt x="255" y="383"/>
                  </a:lnTo>
                  <a:lnTo>
                    <a:pt x="253" y="383"/>
                  </a:lnTo>
                  <a:lnTo>
                    <a:pt x="253" y="383"/>
                  </a:lnTo>
                  <a:lnTo>
                    <a:pt x="251" y="383"/>
                  </a:lnTo>
                  <a:lnTo>
                    <a:pt x="251" y="383"/>
                  </a:lnTo>
                  <a:lnTo>
                    <a:pt x="251" y="383"/>
                  </a:lnTo>
                  <a:lnTo>
                    <a:pt x="251" y="381"/>
                  </a:lnTo>
                  <a:lnTo>
                    <a:pt x="249" y="379"/>
                  </a:lnTo>
                  <a:lnTo>
                    <a:pt x="249" y="379"/>
                  </a:lnTo>
                  <a:lnTo>
                    <a:pt x="249" y="377"/>
                  </a:lnTo>
                  <a:lnTo>
                    <a:pt x="247" y="377"/>
                  </a:lnTo>
                  <a:lnTo>
                    <a:pt x="247" y="377"/>
                  </a:lnTo>
                  <a:lnTo>
                    <a:pt x="246" y="377"/>
                  </a:lnTo>
                  <a:lnTo>
                    <a:pt x="246" y="375"/>
                  </a:lnTo>
                  <a:lnTo>
                    <a:pt x="246" y="375"/>
                  </a:lnTo>
                  <a:lnTo>
                    <a:pt x="244" y="371"/>
                  </a:lnTo>
                  <a:lnTo>
                    <a:pt x="244" y="369"/>
                  </a:lnTo>
                  <a:lnTo>
                    <a:pt x="244" y="367"/>
                  </a:lnTo>
                  <a:lnTo>
                    <a:pt x="244" y="366"/>
                  </a:lnTo>
                  <a:lnTo>
                    <a:pt x="246" y="364"/>
                  </a:lnTo>
                  <a:lnTo>
                    <a:pt x="246" y="362"/>
                  </a:lnTo>
                  <a:lnTo>
                    <a:pt x="246" y="360"/>
                  </a:lnTo>
                  <a:lnTo>
                    <a:pt x="246" y="360"/>
                  </a:lnTo>
                  <a:lnTo>
                    <a:pt x="246" y="356"/>
                  </a:lnTo>
                  <a:lnTo>
                    <a:pt x="246" y="356"/>
                  </a:lnTo>
                  <a:lnTo>
                    <a:pt x="247" y="356"/>
                  </a:lnTo>
                  <a:lnTo>
                    <a:pt x="249" y="354"/>
                  </a:lnTo>
                  <a:lnTo>
                    <a:pt x="249" y="354"/>
                  </a:lnTo>
                  <a:lnTo>
                    <a:pt x="249" y="354"/>
                  </a:lnTo>
                  <a:lnTo>
                    <a:pt x="249" y="354"/>
                  </a:lnTo>
                  <a:lnTo>
                    <a:pt x="251" y="347"/>
                  </a:lnTo>
                  <a:lnTo>
                    <a:pt x="251" y="345"/>
                  </a:lnTo>
                  <a:lnTo>
                    <a:pt x="251" y="343"/>
                  </a:lnTo>
                  <a:lnTo>
                    <a:pt x="251" y="341"/>
                  </a:lnTo>
                  <a:lnTo>
                    <a:pt x="251" y="341"/>
                  </a:lnTo>
                  <a:lnTo>
                    <a:pt x="251" y="339"/>
                  </a:lnTo>
                  <a:lnTo>
                    <a:pt x="251" y="339"/>
                  </a:lnTo>
                  <a:lnTo>
                    <a:pt x="249" y="339"/>
                  </a:lnTo>
                  <a:lnTo>
                    <a:pt x="249" y="339"/>
                  </a:lnTo>
                  <a:lnTo>
                    <a:pt x="249" y="337"/>
                  </a:lnTo>
                  <a:lnTo>
                    <a:pt x="247" y="337"/>
                  </a:lnTo>
                  <a:lnTo>
                    <a:pt x="246" y="337"/>
                  </a:lnTo>
                  <a:lnTo>
                    <a:pt x="246" y="337"/>
                  </a:lnTo>
                  <a:lnTo>
                    <a:pt x="244" y="335"/>
                  </a:lnTo>
                  <a:lnTo>
                    <a:pt x="242" y="335"/>
                  </a:lnTo>
                  <a:lnTo>
                    <a:pt x="242" y="335"/>
                  </a:lnTo>
                  <a:lnTo>
                    <a:pt x="242" y="335"/>
                  </a:lnTo>
                  <a:lnTo>
                    <a:pt x="242" y="333"/>
                  </a:lnTo>
                  <a:lnTo>
                    <a:pt x="244" y="333"/>
                  </a:lnTo>
                  <a:lnTo>
                    <a:pt x="244" y="333"/>
                  </a:lnTo>
                  <a:lnTo>
                    <a:pt x="244" y="331"/>
                  </a:lnTo>
                  <a:lnTo>
                    <a:pt x="244" y="331"/>
                  </a:lnTo>
                  <a:lnTo>
                    <a:pt x="244" y="329"/>
                  </a:lnTo>
                  <a:lnTo>
                    <a:pt x="244" y="328"/>
                  </a:lnTo>
                  <a:lnTo>
                    <a:pt x="246" y="326"/>
                  </a:lnTo>
                  <a:lnTo>
                    <a:pt x="247" y="326"/>
                  </a:lnTo>
                  <a:lnTo>
                    <a:pt x="255" y="329"/>
                  </a:lnTo>
                  <a:lnTo>
                    <a:pt x="257" y="329"/>
                  </a:lnTo>
                  <a:lnTo>
                    <a:pt x="259" y="329"/>
                  </a:lnTo>
                  <a:lnTo>
                    <a:pt x="261" y="331"/>
                  </a:lnTo>
                  <a:lnTo>
                    <a:pt x="263" y="331"/>
                  </a:lnTo>
                  <a:lnTo>
                    <a:pt x="263" y="331"/>
                  </a:lnTo>
                  <a:lnTo>
                    <a:pt x="265" y="331"/>
                  </a:lnTo>
                  <a:lnTo>
                    <a:pt x="265" y="331"/>
                  </a:lnTo>
                  <a:lnTo>
                    <a:pt x="266" y="331"/>
                  </a:lnTo>
                  <a:lnTo>
                    <a:pt x="266" y="331"/>
                  </a:lnTo>
                  <a:lnTo>
                    <a:pt x="268" y="331"/>
                  </a:lnTo>
                  <a:lnTo>
                    <a:pt x="268" y="331"/>
                  </a:lnTo>
                  <a:lnTo>
                    <a:pt x="268" y="331"/>
                  </a:lnTo>
                  <a:lnTo>
                    <a:pt x="270" y="331"/>
                  </a:lnTo>
                  <a:lnTo>
                    <a:pt x="270" y="333"/>
                  </a:lnTo>
                  <a:lnTo>
                    <a:pt x="270" y="333"/>
                  </a:lnTo>
                  <a:lnTo>
                    <a:pt x="270" y="333"/>
                  </a:lnTo>
                  <a:lnTo>
                    <a:pt x="272" y="333"/>
                  </a:lnTo>
                  <a:lnTo>
                    <a:pt x="272" y="333"/>
                  </a:lnTo>
                  <a:lnTo>
                    <a:pt x="272" y="333"/>
                  </a:lnTo>
                  <a:lnTo>
                    <a:pt x="276" y="329"/>
                  </a:lnTo>
                  <a:lnTo>
                    <a:pt x="276" y="329"/>
                  </a:lnTo>
                  <a:lnTo>
                    <a:pt x="276" y="328"/>
                  </a:lnTo>
                  <a:lnTo>
                    <a:pt x="278" y="326"/>
                  </a:lnTo>
                  <a:lnTo>
                    <a:pt x="278" y="324"/>
                  </a:lnTo>
                  <a:lnTo>
                    <a:pt x="278" y="324"/>
                  </a:lnTo>
                  <a:lnTo>
                    <a:pt x="280" y="324"/>
                  </a:lnTo>
                  <a:lnTo>
                    <a:pt x="280" y="322"/>
                  </a:lnTo>
                  <a:lnTo>
                    <a:pt x="280" y="322"/>
                  </a:lnTo>
                  <a:lnTo>
                    <a:pt x="280" y="320"/>
                  </a:lnTo>
                  <a:lnTo>
                    <a:pt x="280" y="320"/>
                  </a:lnTo>
                  <a:lnTo>
                    <a:pt x="280" y="316"/>
                  </a:lnTo>
                  <a:lnTo>
                    <a:pt x="280" y="316"/>
                  </a:lnTo>
                  <a:lnTo>
                    <a:pt x="278" y="310"/>
                  </a:lnTo>
                  <a:lnTo>
                    <a:pt x="278" y="305"/>
                  </a:lnTo>
                  <a:lnTo>
                    <a:pt x="276" y="303"/>
                  </a:lnTo>
                  <a:lnTo>
                    <a:pt x="276" y="303"/>
                  </a:lnTo>
                  <a:lnTo>
                    <a:pt x="274" y="303"/>
                  </a:lnTo>
                  <a:lnTo>
                    <a:pt x="272" y="301"/>
                  </a:lnTo>
                  <a:lnTo>
                    <a:pt x="270" y="301"/>
                  </a:lnTo>
                  <a:lnTo>
                    <a:pt x="270" y="301"/>
                  </a:lnTo>
                  <a:lnTo>
                    <a:pt x="270" y="299"/>
                  </a:lnTo>
                  <a:lnTo>
                    <a:pt x="268" y="293"/>
                  </a:lnTo>
                  <a:lnTo>
                    <a:pt x="268" y="293"/>
                  </a:lnTo>
                  <a:lnTo>
                    <a:pt x="268" y="291"/>
                  </a:lnTo>
                  <a:lnTo>
                    <a:pt x="268" y="291"/>
                  </a:lnTo>
                  <a:lnTo>
                    <a:pt x="266" y="291"/>
                  </a:lnTo>
                  <a:lnTo>
                    <a:pt x="266" y="290"/>
                  </a:lnTo>
                  <a:lnTo>
                    <a:pt x="266" y="288"/>
                  </a:lnTo>
                  <a:lnTo>
                    <a:pt x="265" y="286"/>
                  </a:lnTo>
                  <a:lnTo>
                    <a:pt x="265" y="286"/>
                  </a:lnTo>
                  <a:lnTo>
                    <a:pt x="265" y="286"/>
                  </a:lnTo>
                  <a:lnTo>
                    <a:pt x="265" y="284"/>
                  </a:lnTo>
                  <a:lnTo>
                    <a:pt x="265" y="284"/>
                  </a:lnTo>
                  <a:lnTo>
                    <a:pt x="266" y="284"/>
                  </a:lnTo>
                  <a:lnTo>
                    <a:pt x="268" y="286"/>
                  </a:lnTo>
                  <a:lnTo>
                    <a:pt x="268" y="286"/>
                  </a:lnTo>
                  <a:lnTo>
                    <a:pt x="268" y="286"/>
                  </a:lnTo>
                  <a:lnTo>
                    <a:pt x="268" y="286"/>
                  </a:lnTo>
                  <a:lnTo>
                    <a:pt x="268" y="284"/>
                  </a:lnTo>
                  <a:lnTo>
                    <a:pt x="268" y="280"/>
                  </a:lnTo>
                  <a:lnTo>
                    <a:pt x="268" y="274"/>
                  </a:lnTo>
                  <a:lnTo>
                    <a:pt x="268" y="274"/>
                  </a:lnTo>
                  <a:lnTo>
                    <a:pt x="268" y="274"/>
                  </a:lnTo>
                  <a:lnTo>
                    <a:pt x="268" y="274"/>
                  </a:lnTo>
                  <a:lnTo>
                    <a:pt x="268" y="272"/>
                  </a:lnTo>
                  <a:lnTo>
                    <a:pt x="270" y="270"/>
                  </a:lnTo>
                  <a:lnTo>
                    <a:pt x="270" y="270"/>
                  </a:lnTo>
                  <a:lnTo>
                    <a:pt x="272" y="270"/>
                  </a:lnTo>
                  <a:lnTo>
                    <a:pt x="272" y="270"/>
                  </a:lnTo>
                  <a:lnTo>
                    <a:pt x="272" y="270"/>
                  </a:lnTo>
                  <a:lnTo>
                    <a:pt x="274" y="270"/>
                  </a:lnTo>
                  <a:lnTo>
                    <a:pt x="274" y="270"/>
                  </a:lnTo>
                  <a:lnTo>
                    <a:pt x="276" y="270"/>
                  </a:lnTo>
                  <a:lnTo>
                    <a:pt x="276" y="270"/>
                  </a:lnTo>
                  <a:lnTo>
                    <a:pt x="274" y="269"/>
                  </a:lnTo>
                  <a:lnTo>
                    <a:pt x="274" y="265"/>
                  </a:lnTo>
                  <a:lnTo>
                    <a:pt x="272" y="263"/>
                  </a:lnTo>
                  <a:lnTo>
                    <a:pt x="272" y="263"/>
                  </a:lnTo>
                  <a:lnTo>
                    <a:pt x="272" y="263"/>
                  </a:lnTo>
                  <a:lnTo>
                    <a:pt x="272" y="263"/>
                  </a:lnTo>
                  <a:lnTo>
                    <a:pt x="270" y="263"/>
                  </a:lnTo>
                  <a:lnTo>
                    <a:pt x="270" y="261"/>
                  </a:lnTo>
                  <a:lnTo>
                    <a:pt x="270" y="259"/>
                  </a:lnTo>
                  <a:lnTo>
                    <a:pt x="270" y="255"/>
                  </a:lnTo>
                  <a:lnTo>
                    <a:pt x="270" y="253"/>
                  </a:lnTo>
                  <a:lnTo>
                    <a:pt x="270" y="251"/>
                  </a:lnTo>
                  <a:lnTo>
                    <a:pt x="270" y="250"/>
                  </a:lnTo>
                  <a:lnTo>
                    <a:pt x="274" y="246"/>
                  </a:lnTo>
                  <a:lnTo>
                    <a:pt x="282" y="242"/>
                  </a:lnTo>
                  <a:lnTo>
                    <a:pt x="284" y="242"/>
                  </a:lnTo>
                  <a:lnTo>
                    <a:pt x="289" y="240"/>
                  </a:lnTo>
                  <a:lnTo>
                    <a:pt x="289" y="240"/>
                  </a:lnTo>
                  <a:lnTo>
                    <a:pt x="291" y="242"/>
                  </a:lnTo>
                  <a:lnTo>
                    <a:pt x="293" y="242"/>
                  </a:lnTo>
                  <a:lnTo>
                    <a:pt x="297" y="242"/>
                  </a:lnTo>
                  <a:lnTo>
                    <a:pt x="308" y="242"/>
                  </a:lnTo>
                  <a:lnTo>
                    <a:pt x="308" y="242"/>
                  </a:lnTo>
                  <a:lnTo>
                    <a:pt x="308" y="242"/>
                  </a:lnTo>
                  <a:lnTo>
                    <a:pt x="310" y="242"/>
                  </a:lnTo>
                  <a:lnTo>
                    <a:pt x="312" y="240"/>
                  </a:lnTo>
                  <a:lnTo>
                    <a:pt x="312" y="238"/>
                  </a:lnTo>
                  <a:lnTo>
                    <a:pt x="312" y="238"/>
                  </a:lnTo>
                  <a:lnTo>
                    <a:pt x="312" y="234"/>
                  </a:lnTo>
                  <a:lnTo>
                    <a:pt x="312" y="232"/>
                  </a:lnTo>
                  <a:lnTo>
                    <a:pt x="312" y="229"/>
                  </a:lnTo>
                  <a:lnTo>
                    <a:pt x="312" y="227"/>
                  </a:lnTo>
                  <a:lnTo>
                    <a:pt x="312" y="223"/>
                  </a:lnTo>
                  <a:lnTo>
                    <a:pt x="312" y="221"/>
                  </a:lnTo>
                  <a:lnTo>
                    <a:pt x="312" y="219"/>
                  </a:lnTo>
                  <a:lnTo>
                    <a:pt x="312" y="217"/>
                  </a:lnTo>
                  <a:lnTo>
                    <a:pt x="312" y="217"/>
                  </a:lnTo>
                  <a:lnTo>
                    <a:pt x="312" y="213"/>
                  </a:lnTo>
                  <a:lnTo>
                    <a:pt x="314" y="213"/>
                  </a:lnTo>
                  <a:lnTo>
                    <a:pt x="314" y="212"/>
                  </a:lnTo>
                  <a:lnTo>
                    <a:pt x="314" y="212"/>
                  </a:lnTo>
                  <a:lnTo>
                    <a:pt x="316" y="210"/>
                  </a:lnTo>
                  <a:lnTo>
                    <a:pt x="318" y="210"/>
                  </a:lnTo>
                  <a:lnTo>
                    <a:pt x="318" y="208"/>
                  </a:lnTo>
                  <a:lnTo>
                    <a:pt x="318" y="208"/>
                  </a:lnTo>
                  <a:lnTo>
                    <a:pt x="320" y="206"/>
                  </a:lnTo>
                  <a:lnTo>
                    <a:pt x="318" y="206"/>
                  </a:lnTo>
                  <a:lnTo>
                    <a:pt x="318" y="204"/>
                  </a:lnTo>
                  <a:lnTo>
                    <a:pt x="318" y="204"/>
                  </a:lnTo>
                  <a:lnTo>
                    <a:pt x="314" y="202"/>
                  </a:lnTo>
                  <a:lnTo>
                    <a:pt x="312" y="202"/>
                  </a:lnTo>
                  <a:lnTo>
                    <a:pt x="307" y="202"/>
                  </a:lnTo>
                  <a:lnTo>
                    <a:pt x="305" y="202"/>
                  </a:lnTo>
                  <a:lnTo>
                    <a:pt x="295" y="198"/>
                  </a:lnTo>
                  <a:lnTo>
                    <a:pt x="295" y="198"/>
                  </a:lnTo>
                  <a:lnTo>
                    <a:pt x="291" y="194"/>
                  </a:lnTo>
                  <a:lnTo>
                    <a:pt x="291" y="194"/>
                  </a:lnTo>
                  <a:lnTo>
                    <a:pt x="293" y="194"/>
                  </a:lnTo>
                  <a:lnTo>
                    <a:pt x="297" y="191"/>
                  </a:lnTo>
                  <a:lnTo>
                    <a:pt x="299" y="189"/>
                  </a:lnTo>
                  <a:lnTo>
                    <a:pt x="303" y="189"/>
                  </a:lnTo>
                  <a:lnTo>
                    <a:pt x="303" y="187"/>
                  </a:lnTo>
                  <a:lnTo>
                    <a:pt x="303" y="187"/>
                  </a:lnTo>
                  <a:lnTo>
                    <a:pt x="303" y="185"/>
                  </a:lnTo>
                  <a:lnTo>
                    <a:pt x="305" y="183"/>
                  </a:lnTo>
                  <a:lnTo>
                    <a:pt x="305" y="183"/>
                  </a:lnTo>
                  <a:lnTo>
                    <a:pt x="307" y="183"/>
                  </a:lnTo>
                  <a:lnTo>
                    <a:pt x="307" y="181"/>
                  </a:lnTo>
                  <a:lnTo>
                    <a:pt x="308" y="181"/>
                  </a:lnTo>
                  <a:lnTo>
                    <a:pt x="308" y="179"/>
                  </a:lnTo>
                  <a:lnTo>
                    <a:pt x="308" y="179"/>
                  </a:lnTo>
                  <a:lnTo>
                    <a:pt x="308" y="177"/>
                  </a:lnTo>
                  <a:lnTo>
                    <a:pt x="308" y="177"/>
                  </a:lnTo>
                  <a:lnTo>
                    <a:pt x="308" y="175"/>
                  </a:lnTo>
                  <a:lnTo>
                    <a:pt x="308" y="175"/>
                  </a:lnTo>
                  <a:lnTo>
                    <a:pt x="308" y="175"/>
                  </a:lnTo>
                  <a:lnTo>
                    <a:pt x="307" y="175"/>
                  </a:lnTo>
                  <a:lnTo>
                    <a:pt x="307" y="175"/>
                  </a:lnTo>
                  <a:lnTo>
                    <a:pt x="307" y="175"/>
                  </a:lnTo>
                  <a:lnTo>
                    <a:pt x="307" y="175"/>
                  </a:lnTo>
                  <a:lnTo>
                    <a:pt x="307" y="174"/>
                  </a:lnTo>
                  <a:lnTo>
                    <a:pt x="307" y="174"/>
                  </a:lnTo>
                  <a:lnTo>
                    <a:pt x="308" y="172"/>
                  </a:lnTo>
                  <a:lnTo>
                    <a:pt x="308" y="172"/>
                  </a:lnTo>
                  <a:lnTo>
                    <a:pt x="308" y="172"/>
                  </a:lnTo>
                  <a:lnTo>
                    <a:pt x="308" y="170"/>
                  </a:lnTo>
                  <a:lnTo>
                    <a:pt x="307" y="170"/>
                  </a:lnTo>
                  <a:lnTo>
                    <a:pt x="307" y="170"/>
                  </a:lnTo>
                  <a:lnTo>
                    <a:pt x="307" y="168"/>
                  </a:lnTo>
                  <a:lnTo>
                    <a:pt x="307" y="168"/>
                  </a:lnTo>
                  <a:lnTo>
                    <a:pt x="307" y="164"/>
                  </a:lnTo>
                  <a:lnTo>
                    <a:pt x="307" y="162"/>
                  </a:lnTo>
                  <a:lnTo>
                    <a:pt x="307" y="162"/>
                  </a:lnTo>
                  <a:lnTo>
                    <a:pt x="308" y="162"/>
                  </a:lnTo>
                  <a:lnTo>
                    <a:pt x="308" y="160"/>
                  </a:lnTo>
                  <a:lnTo>
                    <a:pt x="308" y="149"/>
                  </a:lnTo>
                  <a:lnTo>
                    <a:pt x="308" y="147"/>
                  </a:lnTo>
                  <a:lnTo>
                    <a:pt x="308" y="145"/>
                  </a:lnTo>
                  <a:lnTo>
                    <a:pt x="310" y="143"/>
                  </a:lnTo>
                  <a:lnTo>
                    <a:pt x="310" y="141"/>
                  </a:lnTo>
                  <a:lnTo>
                    <a:pt x="310" y="139"/>
                  </a:lnTo>
                  <a:lnTo>
                    <a:pt x="310" y="137"/>
                  </a:lnTo>
                  <a:lnTo>
                    <a:pt x="308" y="134"/>
                  </a:lnTo>
                  <a:lnTo>
                    <a:pt x="308" y="134"/>
                  </a:lnTo>
                  <a:lnTo>
                    <a:pt x="307" y="130"/>
                  </a:lnTo>
                  <a:lnTo>
                    <a:pt x="307" y="128"/>
                  </a:lnTo>
                  <a:lnTo>
                    <a:pt x="307" y="128"/>
                  </a:lnTo>
                  <a:lnTo>
                    <a:pt x="305" y="128"/>
                  </a:lnTo>
                  <a:lnTo>
                    <a:pt x="303" y="126"/>
                  </a:lnTo>
                  <a:lnTo>
                    <a:pt x="303" y="126"/>
                  </a:lnTo>
                  <a:lnTo>
                    <a:pt x="303" y="126"/>
                  </a:lnTo>
                  <a:lnTo>
                    <a:pt x="301" y="124"/>
                  </a:lnTo>
                  <a:lnTo>
                    <a:pt x="301" y="124"/>
                  </a:lnTo>
                  <a:lnTo>
                    <a:pt x="303" y="120"/>
                  </a:lnTo>
                  <a:lnTo>
                    <a:pt x="314" y="105"/>
                  </a:lnTo>
                  <a:lnTo>
                    <a:pt x="314" y="103"/>
                  </a:lnTo>
                  <a:lnTo>
                    <a:pt x="316" y="101"/>
                  </a:lnTo>
                  <a:lnTo>
                    <a:pt x="316" y="101"/>
                  </a:lnTo>
                  <a:lnTo>
                    <a:pt x="318" y="99"/>
                  </a:lnTo>
                  <a:lnTo>
                    <a:pt x="318" y="99"/>
                  </a:lnTo>
                  <a:lnTo>
                    <a:pt x="320" y="99"/>
                  </a:lnTo>
                  <a:lnTo>
                    <a:pt x="320" y="99"/>
                  </a:lnTo>
                  <a:lnTo>
                    <a:pt x="322" y="97"/>
                  </a:lnTo>
                  <a:lnTo>
                    <a:pt x="322" y="97"/>
                  </a:lnTo>
                  <a:lnTo>
                    <a:pt x="322" y="96"/>
                  </a:lnTo>
                  <a:lnTo>
                    <a:pt x="324" y="96"/>
                  </a:lnTo>
                  <a:lnTo>
                    <a:pt x="327" y="94"/>
                  </a:lnTo>
                  <a:lnTo>
                    <a:pt x="327" y="94"/>
                  </a:lnTo>
                  <a:lnTo>
                    <a:pt x="327" y="94"/>
                  </a:lnTo>
                  <a:lnTo>
                    <a:pt x="331" y="88"/>
                  </a:lnTo>
                  <a:lnTo>
                    <a:pt x="331" y="88"/>
                  </a:lnTo>
                  <a:lnTo>
                    <a:pt x="331" y="86"/>
                  </a:lnTo>
                  <a:lnTo>
                    <a:pt x="329" y="86"/>
                  </a:lnTo>
                  <a:lnTo>
                    <a:pt x="327" y="86"/>
                  </a:lnTo>
                  <a:lnTo>
                    <a:pt x="327" y="88"/>
                  </a:lnTo>
                  <a:lnTo>
                    <a:pt x="326" y="88"/>
                  </a:lnTo>
                  <a:lnTo>
                    <a:pt x="324" y="90"/>
                  </a:lnTo>
                  <a:lnTo>
                    <a:pt x="324" y="90"/>
                  </a:lnTo>
                  <a:lnTo>
                    <a:pt x="322" y="90"/>
                  </a:lnTo>
                  <a:lnTo>
                    <a:pt x="322" y="88"/>
                  </a:lnTo>
                  <a:lnTo>
                    <a:pt x="322" y="86"/>
                  </a:lnTo>
                  <a:lnTo>
                    <a:pt x="318" y="86"/>
                  </a:lnTo>
                  <a:lnTo>
                    <a:pt x="318" y="86"/>
                  </a:lnTo>
                  <a:lnTo>
                    <a:pt x="316" y="86"/>
                  </a:lnTo>
                  <a:lnTo>
                    <a:pt x="314" y="86"/>
                  </a:lnTo>
                  <a:lnTo>
                    <a:pt x="314" y="86"/>
                  </a:lnTo>
                  <a:lnTo>
                    <a:pt x="312" y="86"/>
                  </a:lnTo>
                  <a:lnTo>
                    <a:pt x="310" y="84"/>
                  </a:lnTo>
                  <a:lnTo>
                    <a:pt x="310" y="84"/>
                  </a:lnTo>
                  <a:lnTo>
                    <a:pt x="307" y="82"/>
                  </a:lnTo>
                  <a:lnTo>
                    <a:pt x="307" y="80"/>
                  </a:lnTo>
                  <a:lnTo>
                    <a:pt x="307" y="78"/>
                  </a:lnTo>
                  <a:lnTo>
                    <a:pt x="310" y="75"/>
                  </a:lnTo>
                  <a:lnTo>
                    <a:pt x="310" y="73"/>
                  </a:lnTo>
                  <a:lnTo>
                    <a:pt x="312" y="73"/>
                  </a:lnTo>
                  <a:lnTo>
                    <a:pt x="312" y="73"/>
                  </a:lnTo>
                  <a:lnTo>
                    <a:pt x="316" y="71"/>
                  </a:lnTo>
                  <a:lnTo>
                    <a:pt x="316" y="71"/>
                  </a:lnTo>
                  <a:lnTo>
                    <a:pt x="316" y="69"/>
                  </a:lnTo>
                  <a:lnTo>
                    <a:pt x="318" y="69"/>
                  </a:lnTo>
                  <a:lnTo>
                    <a:pt x="316" y="67"/>
                  </a:lnTo>
                  <a:lnTo>
                    <a:pt x="316" y="67"/>
                  </a:lnTo>
                  <a:lnTo>
                    <a:pt x="316" y="65"/>
                  </a:lnTo>
                  <a:lnTo>
                    <a:pt x="314" y="65"/>
                  </a:lnTo>
                  <a:lnTo>
                    <a:pt x="314" y="63"/>
                  </a:lnTo>
                  <a:lnTo>
                    <a:pt x="314" y="63"/>
                  </a:lnTo>
                  <a:lnTo>
                    <a:pt x="314" y="63"/>
                  </a:lnTo>
                  <a:lnTo>
                    <a:pt x="314" y="63"/>
                  </a:lnTo>
                  <a:lnTo>
                    <a:pt x="314" y="61"/>
                  </a:lnTo>
                  <a:lnTo>
                    <a:pt x="316" y="61"/>
                  </a:lnTo>
                  <a:lnTo>
                    <a:pt x="316" y="59"/>
                  </a:lnTo>
                  <a:lnTo>
                    <a:pt x="316" y="59"/>
                  </a:lnTo>
                  <a:lnTo>
                    <a:pt x="318" y="59"/>
                  </a:lnTo>
                  <a:lnTo>
                    <a:pt x="318" y="59"/>
                  </a:lnTo>
                  <a:lnTo>
                    <a:pt x="320" y="57"/>
                  </a:lnTo>
                  <a:lnTo>
                    <a:pt x="326" y="52"/>
                  </a:lnTo>
                  <a:lnTo>
                    <a:pt x="326" y="52"/>
                  </a:lnTo>
                  <a:lnTo>
                    <a:pt x="326" y="52"/>
                  </a:lnTo>
                  <a:lnTo>
                    <a:pt x="326" y="50"/>
                  </a:lnTo>
                  <a:lnTo>
                    <a:pt x="326" y="46"/>
                  </a:lnTo>
                  <a:lnTo>
                    <a:pt x="324" y="44"/>
                  </a:lnTo>
                  <a:lnTo>
                    <a:pt x="324" y="42"/>
                  </a:lnTo>
                  <a:lnTo>
                    <a:pt x="324" y="40"/>
                  </a:lnTo>
                  <a:lnTo>
                    <a:pt x="320" y="38"/>
                  </a:lnTo>
                  <a:lnTo>
                    <a:pt x="320" y="38"/>
                  </a:lnTo>
                  <a:lnTo>
                    <a:pt x="320" y="37"/>
                  </a:lnTo>
                  <a:lnTo>
                    <a:pt x="320" y="37"/>
                  </a:lnTo>
                  <a:lnTo>
                    <a:pt x="320" y="37"/>
                  </a:lnTo>
                  <a:lnTo>
                    <a:pt x="320" y="35"/>
                  </a:lnTo>
                  <a:lnTo>
                    <a:pt x="322" y="35"/>
                  </a:lnTo>
                  <a:lnTo>
                    <a:pt x="322" y="35"/>
                  </a:lnTo>
                  <a:lnTo>
                    <a:pt x="324" y="35"/>
                  </a:lnTo>
                  <a:lnTo>
                    <a:pt x="324" y="35"/>
                  </a:lnTo>
                  <a:lnTo>
                    <a:pt x="324" y="33"/>
                  </a:lnTo>
                  <a:lnTo>
                    <a:pt x="322" y="29"/>
                  </a:lnTo>
                  <a:lnTo>
                    <a:pt x="320" y="23"/>
                  </a:lnTo>
                  <a:lnTo>
                    <a:pt x="320" y="23"/>
                  </a:lnTo>
                  <a:lnTo>
                    <a:pt x="320" y="21"/>
                  </a:lnTo>
                  <a:lnTo>
                    <a:pt x="322" y="19"/>
                  </a:lnTo>
                  <a:lnTo>
                    <a:pt x="322" y="19"/>
                  </a:lnTo>
                  <a:lnTo>
                    <a:pt x="322" y="18"/>
                  </a:lnTo>
                  <a:lnTo>
                    <a:pt x="322" y="18"/>
                  </a:lnTo>
                  <a:lnTo>
                    <a:pt x="318" y="16"/>
                  </a:lnTo>
                  <a:lnTo>
                    <a:pt x="314" y="16"/>
                  </a:lnTo>
                  <a:lnTo>
                    <a:pt x="314" y="16"/>
                  </a:lnTo>
                  <a:lnTo>
                    <a:pt x="314" y="16"/>
                  </a:lnTo>
                  <a:lnTo>
                    <a:pt x="312" y="18"/>
                  </a:lnTo>
                  <a:lnTo>
                    <a:pt x="310" y="18"/>
                  </a:lnTo>
                  <a:lnTo>
                    <a:pt x="308" y="18"/>
                  </a:lnTo>
                  <a:lnTo>
                    <a:pt x="308" y="18"/>
                  </a:lnTo>
                  <a:lnTo>
                    <a:pt x="308" y="18"/>
                  </a:lnTo>
                  <a:lnTo>
                    <a:pt x="308" y="18"/>
                  </a:lnTo>
                  <a:lnTo>
                    <a:pt x="307" y="16"/>
                  </a:lnTo>
                  <a:lnTo>
                    <a:pt x="307" y="14"/>
                  </a:lnTo>
                  <a:lnTo>
                    <a:pt x="305" y="14"/>
                  </a:lnTo>
                  <a:lnTo>
                    <a:pt x="303" y="12"/>
                  </a:lnTo>
                  <a:lnTo>
                    <a:pt x="301" y="12"/>
                  </a:lnTo>
                  <a:lnTo>
                    <a:pt x="301" y="12"/>
                  </a:lnTo>
                  <a:lnTo>
                    <a:pt x="299" y="10"/>
                  </a:lnTo>
                  <a:lnTo>
                    <a:pt x="299" y="10"/>
                  </a:lnTo>
                  <a:lnTo>
                    <a:pt x="299" y="4"/>
                  </a:lnTo>
                  <a:lnTo>
                    <a:pt x="299" y="4"/>
                  </a:lnTo>
                  <a:lnTo>
                    <a:pt x="299" y="2"/>
                  </a:lnTo>
                  <a:lnTo>
                    <a:pt x="297" y="2"/>
                  </a:lnTo>
                  <a:lnTo>
                    <a:pt x="297" y="0"/>
                  </a:lnTo>
                  <a:lnTo>
                    <a:pt x="295" y="0"/>
                  </a:lnTo>
                  <a:lnTo>
                    <a:pt x="295" y="0"/>
                  </a:lnTo>
                  <a:lnTo>
                    <a:pt x="293" y="0"/>
                  </a:lnTo>
                  <a:lnTo>
                    <a:pt x="293" y="2"/>
                  </a:lnTo>
                  <a:lnTo>
                    <a:pt x="289" y="6"/>
                  </a:lnTo>
                  <a:lnTo>
                    <a:pt x="289" y="6"/>
                  </a:lnTo>
                  <a:lnTo>
                    <a:pt x="289" y="8"/>
                  </a:lnTo>
                  <a:lnTo>
                    <a:pt x="289" y="12"/>
                  </a:lnTo>
                  <a:lnTo>
                    <a:pt x="289" y="14"/>
                  </a:lnTo>
                  <a:lnTo>
                    <a:pt x="289" y="14"/>
                  </a:lnTo>
                  <a:lnTo>
                    <a:pt x="287" y="16"/>
                  </a:lnTo>
                  <a:lnTo>
                    <a:pt x="287" y="16"/>
                  </a:lnTo>
                  <a:lnTo>
                    <a:pt x="287" y="16"/>
                  </a:lnTo>
                  <a:lnTo>
                    <a:pt x="284" y="18"/>
                  </a:lnTo>
                  <a:lnTo>
                    <a:pt x="278" y="21"/>
                  </a:lnTo>
                  <a:lnTo>
                    <a:pt x="278" y="21"/>
                  </a:lnTo>
                  <a:lnTo>
                    <a:pt x="276" y="23"/>
                  </a:lnTo>
                  <a:lnTo>
                    <a:pt x="276" y="23"/>
                  </a:lnTo>
                  <a:lnTo>
                    <a:pt x="276" y="25"/>
                  </a:lnTo>
                  <a:lnTo>
                    <a:pt x="276" y="27"/>
                  </a:lnTo>
                  <a:lnTo>
                    <a:pt x="276" y="27"/>
                  </a:lnTo>
                  <a:lnTo>
                    <a:pt x="274" y="27"/>
                  </a:lnTo>
                  <a:lnTo>
                    <a:pt x="272" y="27"/>
                  </a:lnTo>
                  <a:lnTo>
                    <a:pt x="272" y="27"/>
                  </a:lnTo>
                  <a:lnTo>
                    <a:pt x="270" y="27"/>
                  </a:lnTo>
                  <a:lnTo>
                    <a:pt x="268" y="27"/>
                  </a:lnTo>
                  <a:lnTo>
                    <a:pt x="268" y="29"/>
                  </a:lnTo>
                  <a:lnTo>
                    <a:pt x="268" y="29"/>
                  </a:lnTo>
                  <a:lnTo>
                    <a:pt x="265" y="27"/>
                  </a:lnTo>
                  <a:lnTo>
                    <a:pt x="263" y="27"/>
                  </a:lnTo>
                  <a:lnTo>
                    <a:pt x="261" y="29"/>
                  </a:lnTo>
                  <a:lnTo>
                    <a:pt x="259" y="31"/>
                  </a:lnTo>
                  <a:lnTo>
                    <a:pt x="259" y="31"/>
                  </a:lnTo>
                  <a:lnTo>
                    <a:pt x="259" y="35"/>
                  </a:lnTo>
                  <a:lnTo>
                    <a:pt x="259" y="37"/>
                  </a:lnTo>
                  <a:lnTo>
                    <a:pt x="259" y="38"/>
                  </a:lnTo>
                  <a:lnTo>
                    <a:pt x="257" y="42"/>
                  </a:lnTo>
                  <a:lnTo>
                    <a:pt x="257" y="44"/>
                  </a:lnTo>
                  <a:lnTo>
                    <a:pt x="257" y="46"/>
                  </a:lnTo>
                  <a:lnTo>
                    <a:pt x="257" y="48"/>
                  </a:lnTo>
                  <a:lnTo>
                    <a:pt x="257" y="50"/>
                  </a:lnTo>
                  <a:lnTo>
                    <a:pt x="257" y="52"/>
                  </a:lnTo>
                  <a:lnTo>
                    <a:pt x="255" y="56"/>
                  </a:lnTo>
                  <a:lnTo>
                    <a:pt x="255" y="56"/>
                  </a:lnTo>
                  <a:lnTo>
                    <a:pt x="253" y="57"/>
                  </a:lnTo>
                  <a:lnTo>
                    <a:pt x="251" y="57"/>
                  </a:lnTo>
                  <a:lnTo>
                    <a:pt x="247" y="56"/>
                  </a:lnTo>
                  <a:lnTo>
                    <a:pt x="246" y="56"/>
                  </a:lnTo>
                  <a:lnTo>
                    <a:pt x="246" y="56"/>
                  </a:lnTo>
                  <a:lnTo>
                    <a:pt x="244" y="56"/>
                  </a:lnTo>
                  <a:lnTo>
                    <a:pt x="244" y="57"/>
                  </a:lnTo>
                  <a:lnTo>
                    <a:pt x="246" y="59"/>
                  </a:lnTo>
                  <a:lnTo>
                    <a:pt x="246" y="61"/>
                  </a:lnTo>
                  <a:lnTo>
                    <a:pt x="246" y="63"/>
                  </a:lnTo>
                  <a:lnTo>
                    <a:pt x="246" y="63"/>
                  </a:lnTo>
                  <a:lnTo>
                    <a:pt x="244" y="63"/>
                  </a:lnTo>
                  <a:lnTo>
                    <a:pt x="244" y="63"/>
                  </a:lnTo>
                  <a:lnTo>
                    <a:pt x="242" y="65"/>
                  </a:lnTo>
                  <a:lnTo>
                    <a:pt x="240" y="65"/>
                  </a:lnTo>
                  <a:lnTo>
                    <a:pt x="240" y="67"/>
                  </a:lnTo>
                  <a:lnTo>
                    <a:pt x="240" y="69"/>
                  </a:lnTo>
                  <a:lnTo>
                    <a:pt x="238" y="75"/>
                  </a:lnTo>
                  <a:lnTo>
                    <a:pt x="236" y="73"/>
                  </a:lnTo>
                  <a:lnTo>
                    <a:pt x="234" y="71"/>
                  </a:lnTo>
                  <a:lnTo>
                    <a:pt x="234" y="71"/>
                  </a:lnTo>
                  <a:lnTo>
                    <a:pt x="232" y="71"/>
                  </a:lnTo>
                  <a:lnTo>
                    <a:pt x="230" y="69"/>
                  </a:lnTo>
                  <a:lnTo>
                    <a:pt x="230" y="67"/>
                  </a:lnTo>
                  <a:lnTo>
                    <a:pt x="230" y="67"/>
                  </a:lnTo>
                  <a:lnTo>
                    <a:pt x="228" y="69"/>
                  </a:lnTo>
                  <a:lnTo>
                    <a:pt x="226" y="69"/>
                  </a:lnTo>
                  <a:lnTo>
                    <a:pt x="225" y="67"/>
                  </a:lnTo>
                  <a:lnTo>
                    <a:pt x="225" y="67"/>
                  </a:lnTo>
                  <a:lnTo>
                    <a:pt x="223" y="67"/>
                  </a:lnTo>
                  <a:lnTo>
                    <a:pt x="223" y="69"/>
                  </a:lnTo>
                  <a:lnTo>
                    <a:pt x="223" y="69"/>
                  </a:lnTo>
                  <a:lnTo>
                    <a:pt x="221" y="71"/>
                  </a:lnTo>
                  <a:lnTo>
                    <a:pt x="221" y="71"/>
                  </a:lnTo>
                  <a:lnTo>
                    <a:pt x="219" y="71"/>
                  </a:lnTo>
                  <a:lnTo>
                    <a:pt x="219" y="71"/>
                  </a:lnTo>
                  <a:lnTo>
                    <a:pt x="219" y="73"/>
                  </a:lnTo>
                  <a:lnTo>
                    <a:pt x="219" y="73"/>
                  </a:lnTo>
                  <a:lnTo>
                    <a:pt x="219" y="73"/>
                  </a:lnTo>
                  <a:lnTo>
                    <a:pt x="219" y="75"/>
                  </a:lnTo>
                  <a:lnTo>
                    <a:pt x="219" y="75"/>
                  </a:lnTo>
                  <a:lnTo>
                    <a:pt x="217" y="75"/>
                  </a:lnTo>
                  <a:lnTo>
                    <a:pt x="215" y="77"/>
                  </a:lnTo>
                  <a:lnTo>
                    <a:pt x="215" y="77"/>
                  </a:lnTo>
                  <a:lnTo>
                    <a:pt x="213" y="77"/>
                  </a:lnTo>
                  <a:lnTo>
                    <a:pt x="213" y="78"/>
                  </a:lnTo>
                  <a:lnTo>
                    <a:pt x="213" y="78"/>
                  </a:lnTo>
                  <a:lnTo>
                    <a:pt x="211" y="80"/>
                  </a:lnTo>
                  <a:lnTo>
                    <a:pt x="206" y="82"/>
                  </a:lnTo>
                  <a:lnTo>
                    <a:pt x="204" y="84"/>
                  </a:lnTo>
                  <a:lnTo>
                    <a:pt x="204" y="84"/>
                  </a:lnTo>
                  <a:lnTo>
                    <a:pt x="206" y="84"/>
                  </a:lnTo>
                  <a:lnTo>
                    <a:pt x="206" y="86"/>
                  </a:lnTo>
                  <a:lnTo>
                    <a:pt x="207" y="88"/>
                  </a:lnTo>
                  <a:lnTo>
                    <a:pt x="207" y="88"/>
                  </a:lnTo>
                  <a:lnTo>
                    <a:pt x="207" y="88"/>
                  </a:lnTo>
                  <a:lnTo>
                    <a:pt x="206" y="90"/>
                  </a:lnTo>
                  <a:lnTo>
                    <a:pt x="206" y="90"/>
                  </a:lnTo>
                  <a:lnTo>
                    <a:pt x="207" y="92"/>
                  </a:lnTo>
                  <a:lnTo>
                    <a:pt x="207" y="92"/>
                  </a:lnTo>
                  <a:lnTo>
                    <a:pt x="207" y="94"/>
                  </a:lnTo>
                  <a:lnTo>
                    <a:pt x="206" y="94"/>
                  </a:lnTo>
                  <a:lnTo>
                    <a:pt x="206" y="96"/>
                  </a:lnTo>
                  <a:lnTo>
                    <a:pt x="206" y="96"/>
                  </a:lnTo>
                  <a:lnTo>
                    <a:pt x="206" y="97"/>
                  </a:lnTo>
                  <a:lnTo>
                    <a:pt x="206" y="97"/>
                  </a:lnTo>
                  <a:lnTo>
                    <a:pt x="207" y="99"/>
                  </a:lnTo>
                  <a:lnTo>
                    <a:pt x="207" y="101"/>
                  </a:lnTo>
                  <a:lnTo>
                    <a:pt x="207" y="101"/>
                  </a:lnTo>
                  <a:lnTo>
                    <a:pt x="209" y="103"/>
                  </a:lnTo>
                  <a:lnTo>
                    <a:pt x="211" y="105"/>
                  </a:lnTo>
                  <a:lnTo>
                    <a:pt x="211" y="105"/>
                  </a:lnTo>
                  <a:lnTo>
                    <a:pt x="209" y="107"/>
                  </a:lnTo>
                  <a:lnTo>
                    <a:pt x="207" y="107"/>
                  </a:lnTo>
                  <a:lnTo>
                    <a:pt x="207" y="109"/>
                  </a:lnTo>
                  <a:lnTo>
                    <a:pt x="206" y="109"/>
                  </a:lnTo>
                  <a:lnTo>
                    <a:pt x="204" y="107"/>
                  </a:lnTo>
                  <a:lnTo>
                    <a:pt x="202" y="107"/>
                  </a:lnTo>
                  <a:lnTo>
                    <a:pt x="200" y="107"/>
                  </a:lnTo>
                  <a:lnTo>
                    <a:pt x="200" y="107"/>
                  </a:lnTo>
                  <a:lnTo>
                    <a:pt x="198" y="107"/>
                  </a:lnTo>
                  <a:lnTo>
                    <a:pt x="196" y="105"/>
                  </a:lnTo>
                  <a:lnTo>
                    <a:pt x="196" y="105"/>
                  </a:lnTo>
                  <a:lnTo>
                    <a:pt x="194" y="105"/>
                  </a:lnTo>
                  <a:lnTo>
                    <a:pt x="194" y="105"/>
                  </a:lnTo>
                  <a:lnTo>
                    <a:pt x="192" y="105"/>
                  </a:lnTo>
                  <a:lnTo>
                    <a:pt x="190" y="105"/>
                  </a:lnTo>
                  <a:lnTo>
                    <a:pt x="190" y="107"/>
                  </a:lnTo>
                  <a:lnTo>
                    <a:pt x="188" y="107"/>
                  </a:lnTo>
                  <a:lnTo>
                    <a:pt x="186" y="105"/>
                  </a:lnTo>
                  <a:lnTo>
                    <a:pt x="186" y="105"/>
                  </a:lnTo>
                  <a:lnTo>
                    <a:pt x="185" y="105"/>
                  </a:lnTo>
                  <a:lnTo>
                    <a:pt x="181" y="107"/>
                  </a:lnTo>
                  <a:lnTo>
                    <a:pt x="179" y="109"/>
                  </a:lnTo>
                  <a:lnTo>
                    <a:pt x="179" y="109"/>
                  </a:lnTo>
                  <a:lnTo>
                    <a:pt x="177" y="109"/>
                  </a:lnTo>
                  <a:lnTo>
                    <a:pt x="177" y="109"/>
                  </a:lnTo>
                  <a:lnTo>
                    <a:pt x="175" y="109"/>
                  </a:lnTo>
                  <a:lnTo>
                    <a:pt x="171" y="109"/>
                  </a:lnTo>
                  <a:lnTo>
                    <a:pt x="171" y="109"/>
                  </a:lnTo>
                  <a:lnTo>
                    <a:pt x="169" y="111"/>
                  </a:lnTo>
                  <a:lnTo>
                    <a:pt x="169" y="111"/>
                  </a:lnTo>
                  <a:lnTo>
                    <a:pt x="167" y="109"/>
                  </a:lnTo>
                  <a:lnTo>
                    <a:pt x="167" y="109"/>
                  </a:lnTo>
                  <a:lnTo>
                    <a:pt x="165" y="109"/>
                  </a:lnTo>
                  <a:lnTo>
                    <a:pt x="165" y="107"/>
                  </a:lnTo>
                  <a:lnTo>
                    <a:pt x="165" y="105"/>
                  </a:lnTo>
                  <a:lnTo>
                    <a:pt x="165" y="103"/>
                  </a:lnTo>
                  <a:lnTo>
                    <a:pt x="164" y="103"/>
                  </a:lnTo>
                  <a:lnTo>
                    <a:pt x="164" y="101"/>
                  </a:lnTo>
                  <a:lnTo>
                    <a:pt x="162" y="103"/>
                  </a:lnTo>
                  <a:lnTo>
                    <a:pt x="160" y="101"/>
                  </a:lnTo>
                  <a:lnTo>
                    <a:pt x="158" y="103"/>
                  </a:lnTo>
                  <a:lnTo>
                    <a:pt x="158" y="105"/>
                  </a:lnTo>
                  <a:lnTo>
                    <a:pt x="156" y="105"/>
                  </a:lnTo>
                  <a:lnTo>
                    <a:pt x="154" y="105"/>
                  </a:lnTo>
                  <a:lnTo>
                    <a:pt x="154" y="105"/>
                  </a:lnTo>
                  <a:lnTo>
                    <a:pt x="154" y="103"/>
                  </a:lnTo>
                  <a:lnTo>
                    <a:pt x="152" y="103"/>
                  </a:lnTo>
                  <a:lnTo>
                    <a:pt x="152" y="101"/>
                  </a:lnTo>
                  <a:lnTo>
                    <a:pt x="150" y="101"/>
                  </a:lnTo>
                  <a:lnTo>
                    <a:pt x="148" y="101"/>
                  </a:lnTo>
                  <a:lnTo>
                    <a:pt x="146" y="101"/>
                  </a:lnTo>
                  <a:lnTo>
                    <a:pt x="145" y="99"/>
                  </a:lnTo>
                  <a:lnTo>
                    <a:pt x="145" y="97"/>
                  </a:lnTo>
                  <a:lnTo>
                    <a:pt x="143" y="96"/>
                  </a:lnTo>
                  <a:lnTo>
                    <a:pt x="143" y="96"/>
                  </a:lnTo>
                  <a:lnTo>
                    <a:pt x="141" y="96"/>
                  </a:lnTo>
                  <a:lnTo>
                    <a:pt x="141" y="97"/>
                  </a:lnTo>
                  <a:lnTo>
                    <a:pt x="139" y="97"/>
                  </a:lnTo>
                  <a:lnTo>
                    <a:pt x="139" y="97"/>
                  </a:lnTo>
                  <a:lnTo>
                    <a:pt x="137" y="101"/>
                  </a:lnTo>
                  <a:lnTo>
                    <a:pt x="137" y="101"/>
                  </a:lnTo>
                  <a:lnTo>
                    <a:pt x="137" y="103"/>
                  </a:lnTo>
                  <a:lnTo>
                    <a:pt x="135" y="103"/>
                  </a:lnTo>
                  <a:lnTo>
                    <a:pt x="135" y="105"/>
                  </a:lnTo>
                  <a:lnTo>
                    <a:pt x="135" y="107"/>
                  </a:lnTo>
                  <a:lnTo>
                    <a:pt x="135" y="111"/>
                  </a:lnTo>
                  <a:lnTo>
                    <a:pt x="137" y="111"/>
                  </a:lnTo>
                  <a:lnTo>
                    <a:pt x="137" y="113"/>
                  </a:lnTo>
                  <a:lnTo>
                    <a:pt x="137" y="115"/>
                  </a:lnTo>
                  <a:lnTo>
                    <a:pt x="137" y="115"/>
                  </a:lnTo>
                  <a:lnTo>
                    <a:pt x="139" y="115"/>
                  </a:lnTo>
                  <a:lnTo>
                    <a:pt x="139" y="116"/>
                  </a:lnTo>
                  <a:lnTo>
                    <a:pt x="141" y="116"/>
                  </a:lnTo>
                  <a:lnTo>
                    <a:pt x="141" y="118"/>
                  </a:lnTo>
                  <a:lnTo>
                    <a:pt x="141" y="120"/>
                  </a:lnTo>
                  <a:lnTo>
                    <a:pt x="141" y="120"/>
                  </a:lnTo>
                  <a:lnTo>
                    <a:pt x="141" y="122"/>
                  </a:lnTo>
                  <a:lnTo>
                    <a:pt x="141" y="122"/>
                  </a:lnTo>
                  <a:lnTo>
                    <a:pt x="139" y="124"/>
                  </a:lnTo>
                  <a:lnTo>
                    <a:pt x="139" y="124"/>
                  </a:lnTo>
                  <a:lnTo>
                    <a:pt x="139" y="126"/>
                  </a:lnTo>
                  <a:lnTo>
                    <a:pt x="139" y="128"/>
                  </a:lnTo>
                  <a:lnTo>
                    <a:pt x="141" y="128"/>
                  </a:lnTo>
                  <a:lnTo>
                    <a:pt x="141" y="130"/>
                  </a:lnTo>
                  <a:lnTo>
                    <a:pt x="143" y="130"/>
                  </a:lnTo>
                  <a:lnTo>
                    <a:pt x="143" y="132"/>
                  </a:lnTo>
                  <a:lnTo>
                    <a:pt x="143" y="134"/>
                  </a:lnTo>
                  <a:lnTo>
                    <a:pt x="143" y="134"/>
                  </a:lnTo>
                  <a:lnTo>
                    <a:pt x="143" y="135"/>
                  </a:lnTo>
                  <a:lnTo>
                    <a:pt x="141" y="135"/>
                  </a:lnTo>
                  <a:lnTo>
                    <a:pt x="141" y="135"/>
                  </a:lnTo>
                  <a:lnTo>
                    <a:pt x="141" y="137"/>
                  </a:lnTo>
                  <a:lnTo>
                    <a:pt x="141" y="137"/>
                  </a:lnTo>
                  <a:lnTo>
                    <a:pt x="143" y="139"/>
                  </a:lnTo>
                  <a:lnTo>
                    <a:pt x="143" y="141"/>
                  </a:lnTo>
                  <a:lnTo>
                    <a:pt x="143" y="141"/>
                  </a:lnTo>
                  <a:lnTo>
                    <a:pt x="143" y="143"/>
                  </a:lnTo>
                  <a:lnTo>
                    <a:pt x="143" y="143"/>
                  </a:lnTo>
                  <a:lnTo>
                    <a:pt x="143" y="143"/>
                  </a:lnTo>
                  <a:lnTo>
                    <a:pt x="141" y="145"/>
                  </a:lnTo>
                  <a:lnTo>
                    <a:pt x="141" y="145"/>
                  </a:lnTo>
                  <a:lnTo>
                    <a:pt x="139" y="145"/>
                  </a:lnTo>
                  <a:lnTo>
                    <a:pt x="137" y="143"/>
                  </a:lnTo>
                  <a:lnTo>
                    <a:pt x="135" y="141"/>
                  </a:lnTo>
                  <a:lnTo>
                    <a:pt x="135" y="141"/>
                  </a:lnTo>
                  <a:lnTo>
                    <a:pt x="133" y="141"/>
                  </a:lnTo>
                  <a:lnTo>
                    <a:pt x="133" y="141"/>
                  </a:lnTo>
                  <a:lnTo>
                    <a:pt x="133" y="143"/>
                  </a:lnTo>
                  <a:lnTo>
                    <a:pt x="131" y="143"/>
                  </a:lnTo>
                  <a:lnTo>
                    <a:pt x="131" y="143"/>
                  </a:lnTo>
                  <a:lnTo>
                    <a:pt x="129" y="145"/>
                  </a:lnTo>
                  <a:lnTo>
                    <a:pt x="127" y="145"/>
                  </a:lnTo>
                  <a:lnTo>
                    <a:pt x="125" y="145"/>
                  </a:lnTo>
                  <a:lnTo>
                    <a:pt x="125" y="145"/>
                  </a:lnTo>
                  <a:lnTo>
                    <a:pt x="124" y="145"/>
                  </a:lnTo>
                  <a:lnTo>
                    <a:pt x="124" y="145"/>
                  </a:lnTo>
                  <a:lnTo>
                    <a:pt x="124" y="143"/>
                  </a:lnTo>
                  <a:lnTo>
                    <a:pt x="122" y="143"/>
                  </a:lnTo>
                  <a:lnTo>
                    <a:pt x="118" y="143"/>
                  </a:lnTo>
                  <a:lnTo>
                    <a:pt x="116" y="143"/>
                  </a:lnTo>
                  <a:lnTo>
                    <a:pt x="114" y="145"/>
                  </a:lnTo>
                  <a:lnTo>
                    <a:pt x="114" y="145"/>
                  </a:lnTo>
                  <a:lnTo>
                    <a:pt x="112" y="145"/>
                  </a:lnTo>
                  <a:lnTo>
                    <a:pt x="106" y="147"/>
                  </a:lnTo>
                  <a:lnTo>
                    <a:pt x="106" y="147"/>
                  </a:lnTo>
                  <a:lnTo>
                    <a:pt x="106" y="147"/>
                  </a:lnTo>
                  <a:lnTo>
                    <a:pt x="106" y="149"/>
                  </a:lnTo>
                  <a:lnTo>
                    <a:pt x="106" y="151"/>
                  </a:lnTo>
                  <a:lnTo>
                    <a:pt x="106" y="151"/>
                  </a:lnTo>
                  <a:lnTo>
                    <a:pt x="101" y="154"/>
                  </a:lnTo>
                  <a:lnTo>
                    <a:pt x="99" y="154"/>
                  </a:lnTo>
                  <a:lnTo>
                    <a:pt x="97" y="154"/>
                  </a:lnTo>
                  <a:lnTo>
                    <a:pt x="97" y="154"/>
                  </a:lnTo>
                  <a:lnTo>
                    <a:pt x="95" y="154"/>
                  </a:lnTo>
                  <a:lnTo>
                    <a:pt x="95" y="153"/>
                  </a:lnTo>
                  <a:lnTo>
                    <a:pt x="93" y="153"/>
                  </a:lnTo>
                  <a:lnTo>
                    <a:pt x="93" y="153"/>
                  </a:lnTo>
                  <a:lnTo>
                    <a:pt x="93" y="151"/>
                  </a:lnTo>
                  <a:lnTo>
                    <a:pt x="91" y="151"/>
                  </a:lnTo>
                  <a:lnTo>
                    <a:pt x="89" y="151"/>
                  </a:lnTo>
                  <a:lnTo>
                    <a:pt x="89" y="149"/>
                  </a:lnTo>
                  <a:lnTo>
                    <a:pt x="89" y="149"/>
                  </a:lnTo>
                  <a:lnTo>
                    <a:pt x="89" y="147"/>
                  </a:lnTo>
                  <a:lnTo>
                    <a:pt x="87" y="147"/>
                  </a:lnTo>
                  <a:lnTo>
                    <a:pt x="87" y="147"/>
                  </a:lnTo>
                  <a:lnTo>
                    <a:pt x="87" y="147"/>
                  </a:lnTo>
                  <a:lnTo>
                    <a:pt x="84" y="147"/>
                  </a:lnTo>
                  <a:lnTo>
                    <a:pt x="80" y="147"/>
                  </a:lnTo>
                  <a:lnTo>
                    <a:pt x="80" y="147"/>
                  </a:lnTo>
                  <a:lnTo>
                    <a:pt x="80" y="147"/>
                  </a:lnTo>
                  <a:lnTo>
                    <a:pt x="78" y="149"/>
                  </a:lnTo>
                  <a:lnTo>
                    <a:pt x="78" y="151"/>
                  </a:lnTo>
                  <a:lnTo>
                    <a:pt x="78" y="151"/>
                  </a:lnTo>
                  <a:lnTo>
                    <a:pt x="76" y="153"/>
                  </a:lnTo>
                  <a:lnTo>
                    <a:pt x="76" y="153"/>
                  </a:lnTo>
                  <a:lnTo>
                    <a:pt x="76" y="153"/>
                  </a:lnTo>
                  <a:lnTo>
                    <a:pt x="74" y="154"/>
                  </a:lnTo>
                  <a:lnTo>
                    <a:pt x="70" y="154"/>
                  </a:lnTo>
                  <a:lnTo>
                    <a:pt x="68" y="154"/>
                  </a:lnTo>
                  <a:lnTo>
                    <a:pt x="68" y="156"/>
                  </a:lnTo>
                  <a:lnTo>
                    <a:pt x="68" y="156"/>
                  </a:lnTo>
                  <a:lnTo>
                    <a:pt x="68" y="156"/>
                  </a:lnTo>
                  <a:lnTo>
                    <a:pt x="70" y="158"/>
                  </a:lnTo>
                  <a:lnTo>
                    <a:pt x="70" y="158"/>
                  </a:lnTo>
                  <a:lnTo>
                    <a:pt x="70" y="160"/>
                  </a:lnTo>
                  <a:lnTo>
                    <a:pt x="70" y="164"/>
                  </a:lnTo>
                  <a:lnTo>
                    <a:pt x="70" y="164"/>
                  </a:lnTo>
                  <a:lnTo>
                    <a:pt x="70" y="164"/>
                  </a:lnTo>
                  <a:lnTo>
                    <a:pt x="70" y="164"/>
                  </a:lnTo>
                  <a:lnTo>
                    <a:pt x="70" y="166"/>
                  </a:lnTo>
                  <a:lnTo>
                    <a:pt x="70" y="166"/>
                  </a:lnTo>
                  <a:lnTo>
                    <a:pt x="68" y="166"/>
                  </a:lnTo>
                  <a:lnTo>
                    <a:pt x="66" y="164"/>
                  </a:lnTo>
                  <a:lnTo>
                    <a:pt x="64" y="164"/>
                  </a:lnTo>
                  <a:lnTo>
                    <a:pt x="64" y="164"/>
                  </a:lnTo>
                  <a:lnTo>
                    <a:pt x="64" y="164"/>
                  </a:lnTo>
                  <a:lnTo>
                    <a:pt x="63" y="166"/>
                  </a:lnTo>
                  <a:lnTo>
                    <a:pt x="61" y="166"/>
                  </a:lnTo>
                  <a:lnTo>
                    <a:pt x="59" y="166"/>
                  </a:lnTo>
                  <a:lnTo>
                    <a:pt x="59" y="168"/>
                  </a:lnTo>
                  <a:lnTo>
                    <a:pt x="59" y="168"/>
                  </a:lnTo>
                  <a:lnTo>
                    <a:pt x="59" y="168"/>
                  </a:lnTo>
                  <a:lnTo>
                    <a:pt x="57" y="170"/>
                  </a:lnTo>
                  <a:lnTo>
                    <a:pt x="57" y="170"/>
                  </a:lnTo>
                  <a:lnTo>
                    <a:pt x="57" y="170"/>
                  </a:lnTo>
                  <a:lnTo>
                    <a:pt x="55" y="170"/>
                  </a:lnTo>
                  <a:lnTo>
                    <a:pt x="55" y="170"/>
                  </a:lnTo>
                  <a:lnTo>
                    <a:pt x="55" y="170"/>
                  </a:lnTo>
                  <a:lnTo>
                    <a:pt x="53" y="174"/>
                  </a:lnTo>
                  <a:lnTo>
                    <a:pt x="53" y="174"/>
                  </a:lnTo>
                  <a:lnTo>
                    <a:pt x="53" y="174"/>
                  </a:lnTo>
                  <a:lnTo>
                    <a:pt x="51" y="174"/>
                  </a:lnTo>
                  <a:lnTo>
                    <a:pt x="51" y="175"/>
                  </a:lnTo>
                  <a:lnTo>
                    <a:pt x="53" y="177"/>
                  </a:lnTo>
                  <a:lnTo>
                    <a:pt x="53" y="179"/>
                  </a:lnTo>
                  <a:lnTo>
                    <a:pt x="53" y="179"/>
                  </a:lnTo>
                  <a:lnTo>
                    <a:pt x="51" y="181"/>
                  </a:lnTo>
                  <a:lnTo>
                    <a:pt x="49" y="181"/>
                  </a:lnTo>
                  <a:lnTo>
                    <a:pt x="49" y="181"/>
                  </a:lnTo>
                  <a:lnTo>
                    <a:pt x="49" y="181"/>
                  </a:lnTo>
                  <a:lnTo>
                    <a:pt x="47" y="181"/>
                  </a:lnTo>
                  <a:lnTo>
                    <a:pt x="45" y="185"/>
                  </a:lnTo>
                  <a:lnTo>
                    <a:pt x="44" y="185"/>
                  </a:lnTo>
                  <a:lnTo>
                    <a:pt x="44" y="185"/>
                  </a:lnTo>
                  <a:lnTo>
                    <a:pt x="42" y="185"/>
                  </a:lnTo>
                  <a:lnTo>
                    <a:pt x="42" y="185"/>
                  </a:lnTo>
                  <a:lnTo>
                    <a:pt x="42" y="185"/>
                  </a:lnTo>
                  <a:lnTo>
                    <a:pt x="42" y="185"/>
                  </a:lnTo>
                  <a:lnTo>
                    <a:pt x="42" y="185"/>
                  </a:lnTo>
                  <a:lnTo>
                    <a:pt x="42" y="185"/>
                  </a:lnTo>
                  <a:lnTo>
                    <a:pt x="42" y="183"/>
                  </a:lnTo>
                  <a:lnTo>
                    <a:pt x="42" y="183"/>
                  </a:lnTo>
                  <a:lnTo>
                    <a:pt x="42" y="183"/>
                  </a:lnTo>
                  <a:lnTo>
                    <a:pt x="42" y="183"/>
                  </a:lnTo>
                  <a:lnTo>
                    <a:pt x="40" y="181"/>
                  </a:lnTo>
                  <a:lnTo>
                    <a:pt x="40" y="181"/>
                  </a:lnTo>
                  <a:lnTo>
                    <a:pt x="40" y="179"/>
                  </a:lnTo>
                  <a:lnTo>
                    <a:pt x="40" y="177"/>
                  </a:lnTo>
                  <a:lnTo>
                    <a:pt x="40" y="177"/>
                  </a:lnTo>
                  <a:lnTo>
                    <a:pt x="38" y="177"/>
                  </a:lnTo>
                  <a:lnTo>
                    <a:pt x="36" y="177"/>
                  </a:lnTo>
                  <a:lnTo>
                    <a:pt x="34" y="177"/>
                  </a:lnTo>
                  <a:lnTo>
                    <a:pt x="32" y="177"/>
                  </a:lnTo>
                  <a:lnTo>
                    <a:pt x="32" y="175"/>
                  </a:lnTo>
                  <a:lnTo>
                    <a:pt x="30" y="175"/>
                  </a:lnTo>
                  <a:lnTo>
                    <a:pt x="30" y="175"/>
                  </a:lnTo>
                  <a:lnTo>
                    <a:pt x="30" y="177"/>
                  </a:lnTo>
                  <a:lnTo>
                    <a:pt x="30" y="179"/>
                  </a:lnTo>
                  <a:lnTo>
                    <a:pt x="30" y="181"/>
                  </a:lnTo>
                  <a:lnTo>
                    <a:pt x="28" y="181"/>
                  </a:lnTo>
                  <a:lnTo>
                    <a:pt x="28" y="181"/>
                  </a:lnTo>
                  <a:lnTo>
                    <a:pt x="28" y="183"/>
                  </a:lnTo>
                  <a:lnTo>
                    <a:pt x="26" y="183"/>
                  </a:lnTo>
                  <a:lnTo>
                    <a:pt x="26" y="183"/>
                  </a:lnTo>
                  <a:lnTo>
                    <a:pt x="26" y="183"/>
                  </a:lnTo>
                  <a:lnTo>
                    <a:pt x="24" y="185"/>
                  </a:lnTo>
                  <a:lnTo>
                    <a:pt x="23" y="187"/>
                  </a:lnTo>
                  <a:lnTo>
                    <a:pt x="23" y="187"/>
                  </a:lnTo>
                  <a:lnTo>
                    <a:pt x="23" y="187"/>
                  </a:lnTo>
                  <a:lnTo>
                    <a:pt x="23" y="185"/>
                  </a:lnTo>
                  <a:lnTo>
                    <a:pt x="21" y="185"/>
                  </a:lnTo>
                  <a:lnTo>
                    <a:pt x="21" y="185"/>
                  </a:lnTo>
                  <a:lnTo>
                    <a:pt x="21" y="185"/>
                  </a:lnTo>
                  <a:lnTo>
                    <a:pt x="21" y="183"/>
                  </a:lnTo>
                  <a:lnTo>
                    <a:pt x="19" y="185"/>
                  </a:lnTo>
                  <a:lnTo>
                    <a:pt x="19" y="185"/>
                  </a:lnTo>
                  <a:lnTo>
                    <a:pt x="19" y="187"/>
                  </a:lnTo>
                  <a:lnTo>
                    <a:pt x="19" y="187"/>
                  </a:lnTo>
                  <a:lnTo>
                    <a:pt x="19" y="187"/>
                  </a:lnTo>
                  <a:lnTo>
                    <a:pt x="17" y="187"/>
                  </a:lnTo>
                  <a:lnTo>
                    <a:pt x="17" y="187"/>
                  </a:lnTo>
                  <a:lnTo>
                    <a:pt x="17" y="187"/>
                  </a:lnTo>
                  <a:lnTo>
                    <a:pt x="15" y="187"/>
                  </a:lnTo>
                  <a:lnTo>
                    <a:pt x="15" y="187"/>
                  </a:lnTo>
                  <a:lnTo>
                    <a:pt x="13" y="185"/>
                  </a:lnTo>
                  <a:lnTo>
                    <a:pt x="13" y="187"/>
                  </a:lnTo>
                  <a:lnTo>
                    <a:pt x="13" y="189"/>
                  </a:lnTo>
                  <a:lnTo>
                    <a:pt x="11" y="191"/>
                  </a:lnTo>
                  <a:lnTo>
                    <a:pt x="11" y="191"/>
                  </a:lnTo>
                  <a:lnTo>
                    <a:pt x="11" y="191"/>
                  </a:lnTo>
                  <a:lnTo>
                    <a:pt x="11" y="193"/>
                  </a:lnTo>
                  <a:lnTo>
                    <a:pt x="13" y="193"/>
                  </a:lnTo>
                  <a:lnTo>
                    <a:pt x="13" y="193"/>
                  </a:lnTo>
                  <a:lnTo>
                    <a:pt x="13" y="193"/>
                  </a:lnTo>
                  <a:lnTo>
                    <a:pt x="13" y="193"/>
                  </a:lnTo>
                  <a:lnTo>
                    <a:pt x="15" y="191"/>
                  </a:lnTo>
                  <a:lnTo>
                    <a:pt x="15" y="191"/>
                  </a:lnTo>
                  <a:lnTo>
                    <a:pt x="15" y="191"/>
                  </a:lnTo>
                  <a:lnTo>
                    <a:pt x="15" y="191"/>
                  </a:lnTo>
                  <a:lnTo>
                    <a:pt x="15" y="191"/>
                  </a:lnTo>
                  <a:lnTo>
                    <a:pt x="17" y="191"/>
                  </a:lnTo>
                  <a:lnTo>
                    <a:pt x="17" y="193"/>
                  </a:lnTo>
                  <a:lnTo>
                    <a:pt x="17" y="193"/>
                  </a:lnTo>
                  <a:lnTo>
                    <a:pt x="17" y="193"/>
                  </a:lnTo>
                  <a:lnTo>
                    <a:pt x="17" y="193"/>
                  </a:lnTo>
                  <a:lnTo>
                    <a:pt x="17" y="194"/>
                  </a:lnTo>
                  <a:lnTo>
                    <a:pt x="17" y="194"/>
                  </a:lnTo>
                  <a:lnTo>
                    <a:pt x="17" y="194"/>
                  </a:lnTo>
                  <a:lnTo>
                    <a:pt x="19" y="194"/>
                  </a:lnTo>
                  <a:lnTo>
                    <a:pt x="19" y="194"/>
                  </a:lnTo>
                  <a:lnTo>
                    <a:pt x="19" y="194"/>
                  </a:lnTo>
                  <a:lnTo>
                    <a:pt x="21" y="194"/>
                  </a:lnTo>
                  <a:lnTo>
                    <a:pt x="21" y="194"/>
                  </a:lnTo>
                  <a:lnTo>
                    <a:pt x="21" y="196"/>
                  </a:lnTo>
                  <a:lnTo>
                    <a:pt x="21" y="196"/>
                  </a:lnTo>
                  <a:lnTo>
                    <a:pt x="21" y="196"/>
                  </a:lnTo>
                  <a:lnTo>
                    <a:pt x="21" y="198"/>
                  </a:lnTo>
                  <a:lnTo>
                    <a:pt x="21" y="198"/>
                  </a:lnTo>
                  <a:lnTo>
                    <a:pt x="21" y="198"/>
                  </a:lnTo>
                  <a:lnTo>
                    <a:pt x="23" y="198"/>
                  </a:lnTo>
                  <a:lnTo>
                    <a:pt x="23" y="198"/>
                  </a:lnTo>
                  <a:lnTo>
                    <a:pt x="24" y="200"/>
                  </a:lnTo>
                  <a:lnTo>
                    <a:pt x="24" y="200"/>
                  </a:lnTo>
                  <a:lnTo>
                    <a:pt x="24" y="200"/>
                  </a:lnTo>
                  <a:lnTo>
                    <a:pt x="23" y="200"/>
                  </a:lnTo>
                  <a:lnTo>
                    <a:pt x="23" y="200"/>
                  </a:lnTo>
                  <a:lnTo>
                    <a:pt x="23" y="200"/>
                  </a:lnTo>
                  <a:lnTo>
                    <a:pt x="21" y="202"/>
                  </a:lnTo>
                  <a:lnTo>
                    <a:pt x="19" y="202"/>
                  </a:lnTo>
                  <a:lnTo>
                    <a:pt x="19" y="202"/>
                  </a:lnTo>
                  <a:lnTo>
                    <a:pt x="19" y="202"/>
                  </a:lnTo>
                  <a:lnTo>
                    <a:pt x="19" y="204"/>
                  </a:lnTo>
                  <a:lnTo>
                    <a:pt x="19" y="206"/>
                  </a:lnTo>
                  <a:lnTo>
                    <a:pt x="21" y="206"/>
                  </a:lnTo>
                  <a:lnTo>
                    <a:pt x="21" y="208"/>
                  </a:lnTo>
                  <a:lnTo>
                    <a:pt x="21" y="208"/>
                  </a:lnTo>
                  <a:lnTo>
                    <a:pt x="21" y="208"/>
                  </a:lnTo>
                  <a:lnTo>
                    <a:pt x="21" y="210"/>
                  </a:lnTo>
                  <a:lnTo>
                    <a:pt x="21" y="210"/>
                  </a:lnTo>
                  <a:lnTo>
                    <a:pt x="21" y="212"/>
                  </a:lnTo>
                  <a:lnTo>
                    <a:pt x="21" y="212"/>
                  </a:lnTo>
                  <a:lnTo>
                    <a:pt x="21" y="212"/>
                  </a:lnTo>
                  <a:lnTo>
                    <a:pt x="23" y="212"/>
                  </a:lnTo>
                  <a:lnTo>
                    <a:pt x="23" y="212"/>
                  </a:lnTo>
                  <a:lnTo>
                    <a:pt x="23" y="210"/>
                  </a:lnTo>
                  <a:lnTo>
                    <a:pt x="24" y="210"/>
                  </a:lnTo>
                  <a:lnTo>
                    <a:pt x="24" y="210"/>
                  </a:lnTo>
                  <a:lnTo>
                    <a:pt x="24" y="210"/>
                  </a:lnTo>
                  <a:lnTo>
                    <a:pt x="32" y="213"/>
                  </a:lnTo>
                  <a:lnTo>
                    <a:pt x="34" y="213"/>
                  </a:lnTo>
                  <a:lnTo>
                    <a:pt x="34" y="215"/>
                  </a:lnTo>
                  <a:lnTo>
                    <a:pt x="34" y="215"/>
                  </a:lnTo>
                  <a:lnTo>
                    <a:pt x="34" y="215"/>
                  </a:lnTo>
                  <a:lnTo>
                    <a:pt x="34" y="217"/>
                  </a:lnTo>
                  <a:lnTo>
                    <a:pt x="34" y="219"/>
                  </a:lnTo>
                  <a:lnTo>
                    <a:pt x="34" y="223"/>
                  </a:lnTo>
                  <a:lnTo>
                    <a:pt x="34" y="227"/>
                  </a:lnTo>
                  <a:lnTo>
                    <a:pt x="34" y="227"/>
                  </a:lnTo>
                  <a:lnTo>
                    <a:pt x="34" y="229"/>
                  </a:lnTo>
                  <a:lnTo>
                    <a:pt x="34" y="229"/>
                  </a:lnTo>
                  <a:lnTo>
                    <a:pt x="30" y="229"/>
                  </a:lnTo>
                  <a:lnTo>
                    <a:pt x="28" y="229"/>
                  </a:lnTo>
                  <a:lnTo>
                    <a:pt x="28" y="231"/>
                  </a:lnTo>
                  <a:lnTo>
                    <a:pt x="26" y="231"/>
                  </a:lnTo>
                  <a:lnTo>
                    <a:pt x="26" y="231"/>
                  </a:lnTo>
                  <a:lnTo>
                    <a:pt x="26" y="232"/>
                  </a:lnTo>
                  <a:lnTo>
                    <a:pt x="26" y="232"/>
                  </a:lnTo>
                  <a:lnTo>
                    <a:pt x="28" y="232"/>
                  </a:lnTo>
                  <a:lnTo>
                    <a:pt x="30" y="232"/>
                  </a:lnTo>
                  <a:lnTo>
                    <a:pt x="30" y="234"/>
                  </a:lnTo>
                  <a:lnTo>
                    <a:pt x="30" y="234"/>
                  </a:lnTo>
                  <a:lnTo>
                    <a:pt x="30" y="234"/>
                  </a:lnTo>
                  <a:lnTo>
                    <a:pt x="30" y="234"/>
                  </a:lnTo>
                  <a:lnTo>
                    <a:pt x="30" y="236"/>
                  </a:lnTo>
                  <a:lnTo>
                    <a:pt x="30" y="238"/>
                  </a:lnTo>
                  <a:lnTo>
                    <a:pt x="30" y="240"/>
                  </a:lnTo>
                  <a:lnTo>
                    <a:pt x="28" y="242"/>
                  </a:lnTo>
                  <a:lnTo>
                    <a:pt x="28" y="244"/>
                  </a:lnTo>
                  <a:lnTo>
                    <a:pt x="26" y="248"/>
                  </a:lnTo>
                  <a:lnTo>
                    <a:pt x="24" y="250"/>
                  </a:lnTo>
                  <a:lnTo>
                    <a:pt x="23" y="251"/>
                  </a:lnTo>
                  <a:lnTo>
                    <a:pt x="23" y="251"/>
                  </a:lnTo>
                  <a:lnTo>
                    <a:pt x="24" y="251"/>
                  </a:lnTo>
                  <a:lnTo>
                    <a:pt x="24" y="253"/>
                  </a:lnTo>
                  <a:lnTo>
                    <a:pt x="24" y="253"/>
                  </a:lnTo>
                  <a:lnTo>
                    <a:pt x="24" y="255"/>
                  </a:lnTo>
                  <a:lnTo>
                    <a:pt x="23" y="259"/>
                  </a:lnTo>
                  <a:lnTo>
                    <a:pt x="21" y="261"/>
                  </a:lnTo>
                  <a:lnTo>
                    <a:pt x="21" y="261"/>
                  </a:lnTo>
                  <a:lnTo>
                    <a:pt x="19" y="263"/>
                  </a:lnTo>
                  <a:lnTo>
                    <a:pt x="19" y="263"/>
                  </a:lnTo>
                  <a:lnTo>
                    <a:pt x="17" y="265"/>
                  </a:lnTo>
                  <a:lnTo>
                    <a:pt x="15" y="265"/>
                  </a:lnTo>
                  <a:lnTo>
                    <a:pt x="11" y="265"/>
                  </a:lnTo>
                  <a:lnTo>
                    <a:pt x="11" y="265"/>
                  </a:lnTo>
                  <a:lnTo>
                    <a:pt x="11" y="265"/>
                  </a:lnTo>
                  <a:lnTo>
                    <a:pt x="11" y="265"/>
                  </a:lnTo>
                  <a:lnTo>
                    <a:pt x="11" y="263"/>
                  </a:lnTo>
                  <a:lnTo>
                    <a:pt x="11" y="263"/>
                  </a:lnTo>
                  <a:lnTo>
                    <a:pt x="11" y="263"/>
                  </a:lnTo>
                  <a:lnTo>
                    <a:pt x="11" y="261"/>
                  </a:lnTo>
                  <a:lnTo>
                    <a:pt x="11" y="261"/>
                  </a:lnTo>
                  <a:lnTo>
                    <a:pt x="11" y="261"/>
                  </a:lnTo>
                  <a:lnTo>
                    <a:pt x="9" y="261"/>
                  </a:lnTo>
                  <a:lnTo>
                    <a:pt x="9" y="261"/>
                  </a:lnTo>
                  <a:lnTo>
                    <a:pt x="7" y="261"/>
                  </a:lnTo>
                  <a:lnTo>
                    <a:pt x="4" y="265"/>
                  </a:lnTo>
                  <a:lnTo>
                    <a:pt x="2" y="265"/>
                  </a:lnTo>
                  <a:lnTo>
                    <a:pt x="2" y="269"/>
                  </a:lnTo>
                  <a:lnTo>
                    <a:pt x="2" y="269"/>
                  </a:lnTo>
                  <a:lnTo>
                    <a:pt x="2" y="269"/>
                  </a:lnTo>
                  <a:lnTo>
                    <a:pt x="0" y="269"/>
                  </a:lnTo>
                  <a:lnTo>
                    <a:pt x="0" y="270"/>
                  </a:lnTo>
                  <a:lnTo>
                    <a:pt x="0" y="270"/>
                  </a:lnTo>
                  <a:lnTo>
                    <a:pt x="0" y="270"/>
                  </a:lnTo>
                  <a:lnTo>
                    <a:pt x="0" y="272"/>
                  </a:lnTo>
                  <a:lnTo>
                    <a:pt x="2" y="272"/>
                  </a:lnTo>
                  <a:lnTo>
                    <a:pt x="4" y="272"/>
                  </a:lnTo>
                  <a:lnTo>
                    <a:pt x="4" y="272"/>
                  </a:lnTo>
                  <a:lnTo>
                    <a:pt x="5" y="272"/>
                  </a:lnTo>
                  <a:lnTo>
                    <a:pt x="5" y="272"/>
                  </a:lnTo>
                  <a:lnTo>
                    <a:pt x="5" y="270"/>
                  </a:lnTo>
                  <a:lnTo>
                    <a:pt x="7" y="270"/>
                  </a:lnTo>
                  <a:lnTo>
                    <a:pt x="7" y="272"/>
                  </a:lnTo>
                  <a:lnTo>
                    <a:pt x="9" y="272"/>
                  </a:lnTo>
                  <a:lnTo>
                    <a:pt x="11" y="274"/>
                  </a:lnTo>
                  <a:lnTo>
                    <a:pt x="13" y="274"/>
                  </a:lnTo>
                  <a:lnTo>
                    <a:pt x="13" y="274"/>
                  </a:lnTo>
                  <a:lnTo>
                    <a:pt x="13" y="278"/>
                  </a:lnTo>
                  <a:lnTo>
                    <a:pt x="15" y="284"/>
                  </a:lnTo>
                  <a:lnTo>
                    <a:pt x="15" y="284"/>
                  </a:lnTo>
                  <a:lnTo>
                    <a:pt x="15" y="286"/>
                  </a:lnTo>
                  <a:lnTo>
                    <a:pt x="13" y="288"/>
                  </a:lnTo>
                  <a:lnTo>
                    <a:pt x="13" y="290"/>
                  </a:lnTo>
                  <a:lnTo>
                    <a:pt x="13" y="290"/>
                  </a:lnTo>
                  <a:lnTo>
                    <a:pt x="15" y="291"/>
                  </a:lnTo>
                  <a:lnTo>
                    <a:pt x="15" y="291"/>
                  </a:lnTo>
                  <a:lnTo>
                    <a:pt x="15" y="293"/>
                  </a:lnTo>
                  <a:lnTo>
                    <a:pt x="15" y="293"/>
                  </a:lnTo>
                  <a:lnTo>
                    <a:pt x="15" y="293"/>
                  </a:lnTo>
                  <a:lnTo>
                    <a:pt x="15" y="295"/>
                  </a:lnTo>
                  <a:lnTo>
                    <a:pt x="15" y="295"/>
                  </a:lnTo>
                  <a:lnTo>
                    <a:pt x="15" y="297"/>
                  </a:lnTo>
                  <a:lnTo>
                    <a:pt x="15" y="297"/>
                  </a:lnTo>
                  <a:lnTo>
                    <a:pt x="19" y="301"/>
                  </a:lnTo>
                  <a:lnTo>
                    <a:pt x="19" y="301"/>
                  </a:lnTo>
                  <a:lnTo>
                    <a:pt x="19" y="301"/>
                  </a:lnTo>
                  <a:lnTo>
                    <a:pt x="19" y="303"/>
                  </a:lnTo>
                  <a:lnTo>
                    <a:pt x="19" y="307"/>
                  </a:lnTo>
                  <a:lnTo>
                    <a:pt x="19" y="307"/>
                  </a:lnTo>
                  <a:lnTo>
                    <a:pt x="19" y="309"/>
                  </a:lnTo>
                  <a:lnTo>
                    <a:pt x="17" y="309"/>
                  </a:lnTo>
                  <a:lnTo>
                    <a:pt x="17" y="309"/>
                  </a:lnTo>
                  <a:lnTo>
                    <a:pt x="15" y="309"/>
                  </a:lnTo>
                  <a:lnTo>
                    <a:pt x="13" y="309"/>
                  </a:lnTo>
                  <a:lnTo>
                    <a:pt x="13" y="310"/>
                  </a:lnTo>
                  <a:lnTo>
                    <a:pt x="13" y="310"/>
                  </a:lnTo>
                  <a:lnTo>
                    <a:pt x="13" y="310"/>
                  </a:lnTo>
                  <a:lnTo>
                    <a:pt x="13" y="312"/>
                  </a:lnTo>
                  <a:lnTo>
                    <a:pt x="13" y="312"/>
                  </a:lnTo>
                  <a:lnTo>
                    <a:pt x="17" y="314"/>
                  </a:lnTo>
                  <a:lnTo>
                    <a:pt x="17" y="314"/>
                  </a:lnTo>
                  <a:lnTo>
                    <a:pt x="17" y="314"/>
                  </a:lnTo>
                  <a:lnTo>
                    <a:pt x="17" y="314"/>
                  </a:lnTo>
                  <a:lnTo>
                    <a:pt x="19" y="316"/>
                  </a:lnTo>
                  <a:lnTo>
                    <a:pt x="19" y="316"/>
                  </a:lnTo>
                  <a:lnTo>
                    <a:pt x="17" y="318"/>
                  </a:lnTo>
                  <a:lnTo>
                    <a:pt x="15" y="322"/>
                  </a:lnTo>
                  <a:lnTo>
                    <a:pt x="15" y="324"/>
                  </a:lnTo>
                  <a:lnTo>
                    <a:pt x="15" y="324"/>
                  </a:lnTo>
                  <a:lnTo>
                    <a:pt x="15" y="326"/>
                  </a:lnTo>
                  <a:lnTo>
                    <a:pt x="15" y="326"/>
                  </a:lnTo>
                  <a:lnTo>
                    <a:pt x="15" y="329"/>
                  </a:lnTo>
                  <a:lnTo>
                    <a:pt x="15" y="329"/>
                  </a:lnTo>
                  <a:lnTo>
                    <a:pt x="15" y="331"/>
                  </a:lnTo>
                  <a:lnTo>
                    <a:pt x="15" y="331"/>
                  </a:lnTo>
                  <a:lnTo>
                    <a:pt x="15" y="333"/>
                  </a:lnTo>
                  <a:lnTo>
                    <a:pt x="15" y="333"/>
                  </a:lnTo>
                  <a:lnTo>
                    <a:pt x="13" y="335"/>
                  </a:lnTo>
                  <a:lnTo>
                    <a:pt x="13" y="337"/>
                  </a:lnTo>
                  <a:lnTo>
                    <a:pt x="13" y="337"/>
                  </a:lnTo>
                  <a:lnTo>
                    <a:pt x="13" y="337"/>
                  </a:lnTo>
                  <a:lnTo>
                    <a:pt x="11" y="339"/>
                  </a:lnTo>
                  <a:lnTo>
                    <a:pt x="11" y="341"/>
                  </a:lnTo>
                  <a:lnTo>
                    <a:pt x="9" y="341"/>
                  </a:lnTo>
                  <a:lnTo>
                    <a:pt x="7" y="341"/>
                  </a:lnTo>
                  <a:lnTo>
                    <a:pt x="5" y="341"/>
                  </a:lnTo>
                  <a:lnTo>
                    <a:pt x="5" y="341"/>
                  </a:lnTo>
                  <a:lnTo>
                    <a:pt x="5" y="341"/>
                  </a:lnTo>
                  <a:lnTo>
                    <a:pt x="2" y="343"/>
                  </a:lnTo>
                  <a:lnTo>
                    <a:pt x="0" y="345"/>
                  </a:lnTo>
                  <a:lnTo>
                    <a:pt x="0" y="347"/>
                  </a:lnTo>
                  <a:lnTo>
                    <a:pt x="2" y="348"/>
                  </a:lnTo>
                  <a:lnTo>
                    <a:pt x="2" y="348"/>
                  </a:lnTo>
                  <a:lnTo>
                    <a:pt x="4" y="348"/>
                  </a:lnTo>
                  <a:lnTo>
                    <a:pt x="5" y="347"/>
                  </a:lnTo>
                  <a:lnTo>
                    <a:pt x="5" y="347"/>
                  </a:lnTo>
                  <a:lnTo>
                    <a:pt x="5" y="345"/>
                  </a:lnTo>
                  <a:lnTo>
                    <a:pt x="9" y="345"/>
                  </a:lnTo>
                  <a:lnTo>
                    <a:pt x="9" y="343"/>
                  </a:lnTo>
                  <a:lnTo>
                    <a:pt x="11" y="345"/>
                  </a:lnTo>
                  <a:lnTo>
                    <a:pt x="11" y="345"/>
                  </a:lnTo>
                  <a:lnTo>
                    <a:pt x="13" y="345"/>
                  </a:lnTo>
                  <a:lnTo>
                    <a:pt x="13" y="345"/>
                  </a:lnTo>
                  <a:lnTo>
                    <a:pt x="13" y="347"/>
                  </a:lnTo>
                  <a:lnTo>
                    <a:pt x="11" y="347"/>
                  </a:lnTo>
                  <a:lnTo>
                    <a:pt x="11" y="347"/>
                  </a:lnTo>
                  <a:lnTo>
                    <a:pt x="9" y="347"/>
                  </a:lnTo>
                  <a:lnTo>
                    <a:pt x="9" y="347"/>
                  </a:lnTo>
                  <a:lnTo>
                    <a:pt x="7" y="347"/>
                  </a:lnTo>
                  <a:lnTo>
                    <a:pt x="7" y="348"/>
                  </a:lnTo>
                  <a:lnTo>
                    <a:pt x="5" y="350"/>
                  </a:lnTo>
                  <a:lnTo>
                    <a:pt x="5" y="350"/>
                  </a:lnTo>
                  <a:lnTo>
                    <a:pt x="4" y="348"/>
                  </a:lnTo>
                  <a:lnTo>
                    <a:pt x="4" y="348"/>
                  </a:lnTo>
                  <a:lnTo>
                    <a:pt x="2" y="350"/>
                  </a:lnTo>
                  <a:lnTo>
                    <a:pt x="2" y="350"/>
                  </a:lnTo>
                  <a:lnTo>
                    <a:pt x="2" y="352"/>
                  </a:lnTo>
                  <a:lnTo>
                    <a:pt x="2" y="352"/>
                  </a:lnTo>
                  <a:lnTo>
                    <a:pt x="0" y="352"/>
                  </a:lnTo>
                  <a:lnTo>
                    <a:pt x="0" y="354"/>
                  </a:lnTo>
                  <a:lnTo>
                    <a:pt x="2" y="354"/>
                  </a:lnTo>
                  <a:lnTo>
                    <a:pt x="4" y="356"/>
                  </a:lnTo>
                  <a:lnTo>
                    <a:pt x="4" y="356"/>
                  </a:lnTo>
                  <a:lnTo>
                    <a:pt x="5" y="358"/>
                  </a:lnTo>
                  <a:lnTo>
                    <a:pt x="5" y="358"/>
                  </a:lnTo>
                  <a:lnTo>
                    <a:pt x="7" y="358"/>
                  </a:lnTo>
                  <a:lnTo>
                    <a:pt x="7" y="358"/>
                  </a:lnTo>
                  <a:lnTo>
                    <a:pt x="7" y="358"/>
                  </a:lnTo>
                  <a:lnTo>
                    <a:pt x="9" y="362"/>
                  </a:lnTo>
                  <a:lnTo>
                    <a:pt x="9" y="360"/>
                  </a:lnTo>
                  <a:lnTo>
                    <a:pt x="11" y="358"/>
                  </a:lnTo>
                  <a:lnTo>
                    <a:pt x="13" y="360"/>
                  </a:lnTo>
                  <a:lnTo>
                    <a:pt x="15" y="360"/>
                  </a:lnTo>
                  <a:lnTo>
                    <a:pt x="15" y="362"/>
                  </a:lnTo>
                  <a:lnTo>
                    <a:pt x="15" y="366"/>
                  </a:lnTo>
                  <a:lnTo>
                    <a:pt x="17" y="367"/>
                  </a:lnTo>
                  <a:lnTo>
                    <a:pt x="15" y="369"/>
                  </a:lnTo>
                  <a:lnTo>
                    <a:pt x="15" y="369"/>
                  </a:lnTo>
                  <a:lnTo>
                    <a:pt x="17" y="371"/>
                  </a:lnTo>
                  <a:lnTo>
                    <a:pt x="17" y="371"/>
                  </a:lnTo>
                  <a:lnTo>
                    <a:pt x="19" y="371"/>
                  </a:lnTo>
                  <a:lnTo>
                    <a:pt x="21" y="371"/>
                  </a:lnTo>
                  <a:lnTo>
                    <a:pt x="21" y="369"/>
                  </a:lnTo>
                  <a:lnTo>
                    <a:pt x="23" y="371"/>
                  </a:lnTo>
                  <a:lnTo>
                    <a:pt x="23" y="371"/>
                  </a:lnTo>
                  <a:lnTo>
                    <a:pt x="19" y="371"/>
                  </a:lnTo>
                  <a:lnTo>
                    <a:pt x="19" y="373"/>
                  </a:lnTo>
                  <a:lnTo>
                    <a:pt x="19" y="375"/>
                  </a:lnTo>
                  <a:lnTo>
                    <a:pt x="19" y="377"/>
                  </a:lnTo>
                  <a:lnTo>
                    <a:pt x="19" y="379"/>
                  </a:lnTo>
                  <a:lnTo>
                    <a:pt x="19" y="379"/>
                  </a:lnTo>
                  <a:lnTo>
                    <a:pt x="21" y="379"/>
                  </a:lnTo>
                  <a:lnTo>
                    <a:pt x="23" y="379"/>
                  </a:lnTo>
                  <a:lnTo>
                    <a:pt x="23" y="377"/>
                  </a:lnTo>
                  <a:lnTo>
                    <a:pt x="23" y="377"/>
                  </a:lnTo>
                  <a:lnTo>
                    <a:pt x="23" y="375"/>
                  </a:lnTo>
                  <a:lnTo>
                    <a:pt x="24" y="375"/>
                  </a:lnTo>
                  <a:lnTo>
                    <a:pt x="24" y="375"/>
                  </a:lnTo>
                  <a:lnTo>
                    <a:pt x="24" y="375"/>
                  </a:lnTo>
                  <a:lnTo>
                    <a:pt x="24" y="377"/>
                  </a:lnTo>
                  <a:lnTo>
                    <a:pt x="24" y="377"/>
                  </a:lnTo>
                  <a:lnTo>
                    <a:pt x="24" y="377"/>
                  </a:lnTo>
                  <a:lnTo>
                    <a:pt x="26" y="377"/>
                  </a:lnTo>
                  <a:lnTo>
                    <a:pt x="26" y="377"/>
                  </a:lnTo>
                  <a:lnTo>
                    <a:pt x="26" y="379"/>
                  </a:lnTo>
                  <a:lnTo>
                    <a:pt x="24" y="379"/>
                  </a:lnTo>
                  <a:lnTo>
                    <a:pt x="26" y="379"/>
                  </a:lnTo>
                  <a:lnTo>
                    <a:pt x="30" y="385"/>
                  </a:lnTo>
                  <a:lnTo>
                    <a:pt x="28" y="383"/>
                  </a:lnTo>
                  <a:lnTo>
                    <a:pt x="28" y="385"/>
                  </a:lnTo>
                  <a:lnTo>
                    <a:pt x="28" y="385"/>
                  </a:lnTo>
                  <a:lnTo>
                    <a:pt x="26" y="385"/>
                  </a:lnTo>
                  <a:lnTo>
                    <a:pt x="26" y="383"/>
                  </a:lnTo>
                  <a:lnTo>
                    <a:pt x="24" y="381"/>
                  </a:lnTo>
                  <a:lnTo>
                    <a:pt x="23" y="379"/>
                  </a:lnTo>
                  <a:lnTo>
                    <a:pt x="24" y="381"/>
                  </a:lnTo>
                  <a:lnTo>
                    <a:pt x="26" y="385"/>
                  </a:lnTo>
                  <a:lnTo>
                    <a:pt x="26" y="388"/>
                  </a:lnTo>
                  <a:lnTo>
                    <a:pt x="26" y="388"/>
                  </a:lnTo>
                  <a:lnTo>
                    <a:pt x="26" y="388"/>
                  </a:lnTo>
                  <a:lnTo>
                    <a:pt x="26" y="390"/>
                  </a:lnTo>
                  <a:lnTo>
                    <a:pt x="26" y="392"/>
                  </a:lnTo>
                  <a:lnTo>
                    <a:pt x="28" y="394"/>
                  </a:lnTo>
                  <a:lnTo>
                    <a:pt x="28" y="394"/>
                  </a:lnTo>
                  <a:lnTo>
                    <a:pt x="28" y="396"/>
                  </a:lnTo>
                  <a:lnTo>
                    <a:pt x="30" y="400"/>
                  </a:lnTo>
                  <a:lnTo>
                    <a:pt x="30" y="402"/>
                  </a:lnTo>
                  <a:lnTo>
                    <a:pt x="32" y="402"/>
                  </a:lnTo>
                  <a:lnTo>
                    <a:pt x="38" y="404"/>
                  </a:lnTo>
                  <a:lnTo>
                    <a:pt x="38" y="406"/>
                  </a:lnTo>
                  <a:lnTo>
                    <a:pt x="36" y="406"/>
                  </a:lnTo>
                  <a:lnTo>
                    <a:pt x="34" y="406"/>
                  </a:lnTo>
                  <a:lnTo>
                    <a:pt x="32" y="406"/>
                  </a:lnTo>
                  <a:lnTo>
                    <a:pt x="30" y="404"/>
                  </a:lnTo>
                  <a:lnTo>
                    <a:pt x="30" y="406"/>
                  </a:lnTo>
                  <a:lnTo>
                    <a:pt x="32" y="407"/>
                  </a:lnTo>
                  <a:lnTo>
                    <a:pt x="34" y="411"/>
                  </a:lnTo>
                  <a:lnTo>
                    <a:pt x="34" y="413"/>
                  </a:lnTo>
                  <a:lnTo>
                    <a:pt x="34" y="419"/>
                  </a:lnTo>
                  <a:lnTo>
                    <a:pt x="36" y="421"/>
                  </a:lnTo>
                  <a:lnTo>
                    <a:pt x="36" y="421"/>
                  </a:lnTo>
                  <a:lnTo>
                    <a:pt x="36" y="423"/>
                  </a:lnTo>
                  <a:lnTo>
                    <a:pt x="36" y="423"/>
                  </a:lnTo>
                  <a:lnTo>
                    <a:pt x="36" y="425"/>
                  </a:lnTo>
                  <a:lnTo>
                    <a:pt x="36" y="426"/>
                  </a:lnTo>
                  <a:lnTo>
                    <a:pt x="38" y="428"/>
                  </a:lnTo>
                  <a:lnTo>
                    <a:pt x="40" y="432"/>
                  </a:lnTo>
                  <a:lnTo>
                    <a:pt x="42" y="434"/>
                  </a:lnTo>
                  <a:lnTo>
                    <a:pt x="45" y="438"/>
                  </a:lnTo>
                  <a:lnTo>
                    <a:pt x="45" y="442"/>
                  </a:lnTo>
                  <a:lnTo>
                    <a:pt x="47" y="445"/>
                  </a:lnTo>
                  <a:lnTo>
                    <a:pt x="49" y="451"/>
                  </a:lnTo>
                  <a:lnTo>
                    <a:pt x="51" y="459"/>
                  </a:lnTo>
                  <a:lnTo>
                    <a:pt x="51" y="461"/>
                  </a:lnTo>
                  <a:lnTo>
                    <a:pt x="53" y="457"/>
                  </a:lnTo>
                  <a:lnTo>
                    <a:pt x="55" y="457"/>
                  </a:lnTo>
                  <a:lnTo>
                    <a:pt x="55" y="459"/>
                  </a:lnTo>
                  <a:lnTo>
                    <a:pt x="55" y="459"/>
                  </a:lnTo>
                  <a:lnTo>
                    <a:pt x="55" y="459"/>
                  </a:lnTo>
                  <a:lnTo>
                    <a:pt x="55" y="461"/>
                  </a:lnTo>
                  <a:lnTo>
                    <a:pt x="57" y="461"/>
                  </a:lnTo>
                  <a:lnTo>
                    <a:pt x="57" y="463"/>
                  </a:lnTo>
                  <a:lnTo>
                    <a:pt x="59" y="463"/>
                  </a:lnTo>
                  <a:lnTo>
                    <a:pt x="57" y="463"/>
                  </a:lnTo>
                  <a:lnTo>
                    <a:pt x="57" y="463"/>
                  </a:lnTo>
                  <a:lnTo>
                    <a:pt x="55" y="463"/>
                  </a:lnTo>
                  <a:lnTo>
                    <a:pt x="55" y="463"/>
                  </a:lnTo>
                  <a:lnTo>
                    <a:pt x="53" y="463"/>
                  </a:lnTo>
                  <a:lnTo>
                    <a:pt x="53" y="463"/>
                  </a:lnTo>
                  <a:lnTo>
                    <a:pt x="53" y="464"/>
                  </a:lnTo>
                  <a:lnTo>
                    <a:pt x="53" y="464"/>
                  </a:lnTo>
                  <a:lnTo>
                    <a:pt x="53" y="464"/>
                  </a:lnTo>
                  <a:lnTo>
                    <a:pt x="53" y="464"/>
                  </a:lnTo>
                  <a:lnTo>
                    <a:pt x="53" y="464"/>
                  </a:lnTo>
                  <a:lnTo>
                    <a:pt x="53" y="464"/>
                  </a:lnTo>
                  <a:lnTo>
                    <a:pt x="53" y="464"/>
                  </a:lnTo>
                  <a:lnTo>
                    <a:pt x="53" y="466"/>
                  </a:lnTo>
                  <a:lnTo>
                    <a:pt x="53" y="472"/>
                  </a:lnTo>
                  <a:lnTo>
                    <a:pt x="53" y="474"/>
                  </a:lnTo>
                  <a:lnTo>
                    <a:pt x="55" y="480"/>
                  </a:lnTo>
                  <a:lnTo>
                    <a:pt x="55" y="482"/>
                  </a:lnTo>
                  <a:lnTo>
                    <a:pt x="55" y="484"/>
                  </a:lnTo>
                  <a:lnTo>
                    <a:pt x="57" y="485"/>
                  </a:lnTo>
                  <a:lnTo>
                    <a:pt x="55" y="484"/>
                  </a:lnTo>
                  <a:lnTo>
                    <a:pt x="55" y="482"/>
                  </a:lnTo>
                  <a:lnTo>
                    <a:pt x="53" y="480"/>
                  </a:lnTo>
                  <a:lnTo>
                    <a:pt x="53" y="482"/>
                  </a:lnTo>
                  <a:lnTo>
                    <a:pt x="55" y="485"/>
                  </a:lnTo>
                  <a:lnTo>
                    <a:pt x="55" y="487"/>
                  </a:lnTo>
                  <a:lnTo>
                    <a:pt x="55" y="487"/>
                  </a:lnTo>
                  <a:lnTo>
                    <a:pt x="55" y="489"/>
                  </a:lnTo>
                  <a:lnTo>
                    <a:pt x="57" y="491"/>
                  </a:lnTo>
                  <a:lnTo>
                    <a:pt x="57" y="493"/>
                  </a:lnTo>
                  <a:lnTo>
                    <a:pt x="59" y="499"/>
                  </a:lnTo>
                  <a:lnTo>
                    <a:pt x="59" y="503"/>
                  </a:lnTo>
                  <a:lnTo>
                    <a:pt x="61" y="508"/>
                  </a:lnTo>
                  <a:lnTo>
                    <a:pt x="61" y="508"/>
                  </a:lnTo>
                  <a:lnTo>
                    <a:pt x="61" y="508"/>
                  </a:lnTo>
                  <a:lnTo>
                    <a:pt x="61" y="510"/>
                  </a:lnTo>
                  <a:lnTo>
                    <a:pt x="61" y="512"/>
                  </a:lnTo>
                  <a:lnTo>
                    <a:pt x="63" y="514"/>
                  </a:lnTo>
                  <a:lnTo>
                    <a:pt x="63" y="514"/>
                  </a:lnTo>
                  <a:lnTo>
                    <a:pt x="63" y="516"/>
                  </a:lnTo>
                  <a:lnTo>
                    <a:pt x="63" y="520"/>
                  </a:lnTo>
                  <a:lnTo>
                    <a:pt x="66" y="537"/>
                  </a:lnTo>
                  <a:lnTo>
                    <a:pt x="70" y="537"/>
                  </a:lnTo>
                  <a:lnTo>
                    <a:pt x="74" y="537"/>
                  </a:lnTo>
                  <a:lnTo>
                    <a:pt x="78" y="535"/>
                  </a:lnTo>
                  <a:lnTo>
                    <a:pt x="78" y="537"/>
                  </a:lnTo>
                  <a:lnTo>
                    <a:pt x="76" y="537"/>
                  </a:lnTo>
                  <a:lnTo>
                    <a:pt x="74" y="537"/>
                  </a:lnTo>
                  <a:lnTo>
                    <a:pt x="72" y="539"/>
                  </a:lnTo>
                  <a:lnTo>
                    <a:pt x="72" y="539"/>
                  </a:lnTo>
                  <a:lnTo>
                    <a:pt x="70" y="541"/>
                  </a:lnTo>
                  <a:lnTo>
                    <a:pt x="70" y="541"/>
                  </a:lnTo>
                  <a:lnTo>
                    <a:pt x="70" y="541"/>
                  </a:lnTo>
                  <a:lnTo>
                    <a:pt x="66" y="539"/>
                  </a:lnTo>
                  <a:lnTo>
                    <a:pt x="66" y="541"/>
                  </a:lnTo>
                  <a:lnTo>
                    <a:pt x="68" y="541"/>
                  </a:lnTo>
                  <a:lnTo>
                    <a:pt x="68" y="542"/>
                  </a:lnTo>
                  <a:lnTo>
                    <a:pt x="70" y="542"/>
                  </a:lnTo>
                  <a:lnTo>
                    <a:pt x="70" y="544"/>
                  </a:lnTo>
                  <a:lnTo>
                    <a:pt x="70" y="546"/>
                  </a:lnTo>
                  <a:lnTo>
                    <a:pt x="74" y="544"/>
                  </a:lnTo>
                  <a:lnTo>
                    <a:pt x="76" y="544"/>
                  </a:lnTo>
                  <a:lnTo>
                    <a:pt x="78" y="544"/>
                  </a:lnTo>
                  <a:lnTo>
                    <a:pt x="78" y="544"/>
                  </a:lnTo>
                  <a:lnTo>
                    <a:pt x="78" y="544"/>
                  </a:lnTo>
                  <a:lnTo>
                    <a:pt x="78" y="546"/>
                  </a:lnTo>
                  <a:lnTo>
                    <a:pt x="78" y="546"/>
                  </a:lnTo>
                  <a:lnTo>
                    <a:pt x="78" y="546"/>
                  </a:lnTo>
                  <a:lnTo>
                    <a:pt x="80" y="548"/>
                  </a:lnTo>
                  <a:lnTo>
                    <a:pt x="80" y="548"/>
                  </a:lnTo>
                  <a:lnTo>
                    <a:pt x="80" y="548"/>
                  </a:lnTo>
                  <a:lnTo>
                    <a:pt x="80" y="550"/>
                  </a:lnTo>
                  <a:lnTo>
                    <a:pt x="80" y="550"/>
                  </a:lnTo>
                  <a:lnTo>
                    <a:pt x="82" y="550"/>
                  </a:lnTo>
                  <a:lnTo>
                    <a:pt x="84" y="550"/>
                  </a:lnTo>
                  <a:lnTo>
                    <a:pt x="84" y="550"/>
                  </a:lnTo>
                  <a:lnTo>
                    <a:pt x="84" y="550"/>
                  </a:lnTo>
                  <a:lnTo>
                    <a:pt x="84" y="550"/>
                  </a:lnTo>
                  <a:lnTo>
                    <a:pt x="84" y="550"/>
                  </a:lnTo>
                  <a:lnTo>
                    <a:pt x="84" y="552"/>
                  </a:lnTo>
                  <a:lnTo>
                    <a:pt x="84" y="552"/>
                  </a:lnTo>
                  <a:lnTo>
                    <a:pt x="84" y="552"/>
                  </a:lnTo>
                  <a:lnTo>
                    <a:pt x="84" y="554"/>
                  </a:lnTo>
                  <a:lnTo>
                    <a:pt x="85" y="554"/>
                  </a:lnTo>
                  <a:lnTo>
                    <a:pt x="85" y="554"/>
                  </a:lnTo>
                  <a:lnTo>
                    <a:pt x="85" y="554"/>
                  </a:lnTo>
                  <a:lnTo>
                    <a:pt x="85" y="554"/>
                  </a:lnTo>
                  <a:lnTo>
                    <a:pt x="87" y="552"/>
                  </a:lnTo>
                  <a:lnTo>
                    <a:pt x="87" y="552"/>
                  </a:lnTo>
                  <a:lnTo>
                    <a:pt x="89" y="552"/>
                  </a:lnTo>
                  <a:lnTo>
                    <a:pt x="89" y="552"/>
                  </a:lnTo>
                  <a:lnTo>
                    <a:pt x="91" y="554"/>
                  </a:lnTo>
                  <a:lnTo>
                    <a:pt x="93" y="554"/>
                  </a:lnTo>
                  <a:lnTo>
                    <a:pt x="93" y="554"/>
                  </a:lnTo>
                  <a:lnTo>
                    <a:pt x="93" y="554"/>
                  </a:lnTo>
                  <a:lnTo>
                    <a:pt x="93" y="556"/>
                  </a:lnTo>
                  <a:lnTo>
                    <a:pt x="93" y="556"/>
                  </a:lnTo>
                  <a:lnTo>
                    <a:pt x="93" y="556"/>
                  </a:lnTo>
                  <a:lnTo>
                    <a:pt x="93" y="558"/>
                  </a:lnTo>
                  <a:lnTo>
                    <a:pt x="93" y="558"/>
                  </a:lnTo>
                  <a:lnTo>
                    <a:pt x="93" y="560"/>
                  </a:lnTo>
                  <a:lnTo>
                    <a:pt x="95" y="560"/>
                  </a:lnTo>
                  <a:lnTo>
                    <a:pt x="95" y="560"/>
                  </a:lnTo>
                  <a:lnTo>
                    <a:pt x="95" y="558"/>
                  </a:lnTo>
                  <a:lnTo>
                    <a:pt x="97" y="558"/>
                  </a:lnTo>
                  <a:lnTo>
                    <a:pt x="97" y="558"/>
                  </a:lnTo>
                  <a:lnTo>
                    <a:pt x="97" y="560"/>
                  </a:lnTo>
                  <a:lnTo>
                    <a:pt x="99" y="561"/>
                  </a:lnTo>
                  <a:lnTo>
                    <a:pt x="99" y="561"/>
                  </a:lnTo>
                  <a:lnTo>
                    <a:pt x="101" y="561"/>
                  </a:lnTo>
                  <a:lnTo>
                    <a:pt x="101" y="561"/>
                  </a:lnTo>
                  <a:lnTo>
                    <a:pt x="101" y="561"/>
                  </a:lnTo>
                  <a:lnTo>
                    <a:pt x="103" y="561"/>
                  </a:lnTo>
                  <a:lnTo>
                    <a:pt x="103" y="561"/>
                  </a:lnTo>
                  <a:lnTo>
                    <a:pt x="103" y="560"/>
                  </a:lnTo>
                  <a:lnTo>
                    <a:pt x="105" y="560"/>
                  </a:lnTo>
                  <a:lnTo>
                    <a:pt x="108" y="561"/>
                  </a:lnTo>
                  <a:lnTo>
                    <a:pt x="108" y="563"/>
                  </a:lnTo>
                  <a:lnTo>
                    <a:pt x="106" y="565"/>
                  </a:lnTo>
                  <a:lnTo>
                    <a:pt x="106" y="565"/>
                  </a:lnTo>
                  <a:lnTo>
                    <a:pt x="106" y="567"/>
                  </a:lnTo>
                  <a:lnTo>
                    <a:pt x="106" y="567"/>
                  </a:lnTo>
                  <a:lnTo>
                    <a:pt x="108" y="569"/>
                  </a:lnTo>
                  <a:lnTo>
                    <a:pt x="108" y="569"/>
                  </a:lnTo>
                  <a:lnTo>
                    <a:pt x="108" y="571"/>
                  </a:lnTo>
                  <a:lnTo>
                    <a:pt x="108" y="571"/>
                  </a:lnTo>
                  <a:lnTo>
                    <a:pt x="110" y="571"/>
                  </a:lnTo>
                  <a:lnTo>
                    <a:pt x="110" y="571"/>
                  </a:lnTo>
                  <a:lnTo>
                    <a:pt x="110" y="571"/>
                  </a:lnTo>
                  <a:lnTo>
                    <a:pt x="110" y="571"/>
                  </a:lnTo>
                  <a:lnTo>
                    <a:pt x="112" y="573"/>
                  </a:lnTo>
                  <a:lnTo>
                    <a:pt x="112" y="573"/>
                  </a:lnTo>
                  <a:lnTo>
                    <a:pt x="112" y="573"/>
                  </a:lnTo>
                  <a:lnTo>
                    <a:pt x="112" y="573"/>
                  </a:lnTo>
                  <a:lnTo>
                    <a:pt x="112" y="573"/>
                  </a:lnTo>
                  <a:lnTo>
                    <a:pt x="112" y="573"/>
                  </a:lnTo>
                  <a:lnTo>
                    <a:pt x="116" y="573"/>
                  </a:lnTo>
                  <a:lnTo>
                    <a:pt x="116" y="573"/>
                  </a:lnTo>
                  <a:lnTo>
                    <a:pt x="116" y="573"/>
                  </a:lnTo>
                  <a:lnTo>
                    <a:pt x="118" y="573"/>
                  </a:lnTo>
                  <a:lnTo>
                    <a:pt x="118" y="573"/>
                  </a:lnTo>
                  <a:lnTo>
                    <a:pt x="118" y="575"/>
                  </a:lnTo>
                  <a:lnTo>
                    <a:pt x="118" y="575"/>
                  </a:lnTo>
                  <a:lnTo>
                    <a:pt x="118" y="575"/>
                  </a:lnTo>
                  <a:lnTo>
                    <a:pt x="116" y="575"/>
                  </a:lnTo>
                  <a:lnTo>
                    <a:pt x="116" y="577"/>
                  </a:lnTo>
                  <a:lnTo>
                    <a:pt x="114" y="577"/>
                  </a:lnTo>
                  <a:lnTo>
                    <a:pt x="114" y="579"/>
                  </a:lnTo>
                  <a:lnTo>
                    <a:pt x="114" y="579"/>
                  </a:lnTo>
                  <a:lnTo>
                    <a:pt x="114" y="580"/>
                  </a:lnTo>
                  <a:lnTo>
                    <a:pt x="114" y="580"/>
                  </a:lnTo>
                  <a:lnTo>
                    <a:pt x="116" y="580"/>
                  </a:lnTo>
                  <a:lnTo>
                    <a:pt x="116" y="582"/>
                  </a:lnTo>
                  <a:lnTo>
                    <a:pt x="118" y="584"/>
                  </a:lnTo>
                  <a:lnTo>
                    <a:pt x="118" y="586"/>
                  </a:lnTo>
                  <a:lnTo>
                    <a:pt x="118" y="588"/>
                  </a:lnTo>
                  <a:lnTo>
                    <a:pt x="120" y="590"/>
                  </a:lnTo>
                  <a:lnTo>
                    <a:pt x="120" y="590"/>
                  </a:lnTo>
                  <a:lnTo>
                    <a:pt x="120" y="590"/>
                  </a:lnTo>
                  <a:lnTo>
                    <a:pt x="120" y="590"/>
                  </a:lnTo>
                  <a:lnTo>
                    <a:pt x="120" y="590"/>
                  </a:lnTo>
                  <a:lnTo>
                    <a:pt x="122" y="590"/>
                  </a:lnTo>
                  <a:lnTo>
                    <a:pt x="122" y="590"/>
                  </a:lnTo>
                  <a:lnTo>
                    <a:pt x="122" y="590"/>
                  </a:lnTo>
                  <a:lnTo>
                    <a:pt x="124" y="592"/>
                  </a:lnTo>
                  <a:lnTo>
                    <a:pt x="133" y="601"/>
                  </a:lnTo>
                  <a:lnTo>
                    <a:pt x="135" y="603"/>
                  </a:lnTo>
                  <a:lnTo>
                    <a:pt x="137" y="603"/>
                  </a:lnTo>
                  <a:lnTo>
                    <a:pt x="139" y="605"/>
                  </a:lnTo>
                  <a:lnTo>
                    <a:pt x="139" y="605"/>
                  </a:lnTo>
                  <a:lnTo>
                    <a:pt x="141" y="605"/>
                  </a:lnTo>
                  <a:lnTo>
                    <a:pt x="141" y="607"/>
                  </a:lnTo>
                  <a:lnTo>
                    <a:pt x="141" y="607"/>
                  </a:lnTo>
                  <a:lnTo>
                    <a:pt x="141" y="609"/>
                  </a:lnTo>
                  <a:lnTo>
                    <a:pt x="143" y="609"/>
                  </a:lnTo>
                  <a:lnTo>
                    <a:pt x="143" y="609"/>
                  </a:lnTo>
                  <a:lnTo>
                    <a:pt x="145" y="609"/>
                  </a:lnTo>
                  <a:lnTo>
                    <a:pt x="145" y="609"/>
                  </a:lnTo>
                  <a:lnTo>
                    <a:pt x="145" y="609"/>
                  </a:lnTo>
                  <a:lnTo>
                    <a:pt x="146" y="611"/>
                  </a:lnTo>
                  <a:lnTo>
                    <a:pt x="148" y="611"/>
                  </a:lnTo>
                  <a:lnTo>
                    <a:pt x="148" y="611"/>
                  </a:lnTo>
                  <a:lnTo>
                    <a:pt x="150" y="611"/>
                  </a:lnTo>
                  <a:lnTo>
                    <a:pt x="150" y="611"/>
                  </a:lnTo>
                  <a:lnTo>
                    <a:pt x="150" y="611"/>
                  </a:lnTo>
                  <a:lnTo>
                    <a:pt x="152" y="611"/>
                  </a:lnTo>
                  <a:lnTo>
                    <a:pt x="152" y="611"/>
                  </a:lnTo>
                  <a:lnTo>
                    <a:pt x="152" y="611"/>
                  </a:lnTo>
                  <a:lnTo>
                    <a:pt x="154" y="611"/>
                  </a:lnTo>
                  <a:lnTo>
                    <a:pt x="154" y="613"/>
                  </a:lnTo>
                  <a:lnTo>
                    <a:pt x="154" y="615"/>
                  </a:lnTo>
                  <a:lnTo>
                    <a:pt x="154" y="617"/>
                  </a:lnTo>
                  <a:lnTo>
                    <a:pt x="156" y="619"/>
                  </a:lnTo>
                  <a:lnTo>
                    <a:pt x="156" y="620"/>
                  </a:lnTo>
                  <a:lnTo>
                    <a:pt x="158" y="620"/>
                  </a:lnTo>
                  <a:lnTo>
                    <a:pt x="160" y="622"/>
                  </a:lnTo>
                  <a:lnTo>
                    <a:pt x="162" y="622"/>
                  </a:lnTo>
                  <a:lnTo>
                    <a:pt x="164" y="622"/>
                  </a:lnTo>
                  <a:lnTo>
                    <a:pt x="165" y="624"/>
                  </a:lnTo>
                  <a:lnTo>
                    <a:pt x="167" y="624"/>
                  </a:lnTo>
                  <a:lnTo>
                    <a:pt x="171" y="624"/>
                  </a:lnTo>
                  <a:lnTo>
                    <a:pt x="173" y="624"/>
                  </a:lnTo>
                  <a:lnTo>
                    <a:pt x="177" y="622"/>
                  </a:lnTo>
                  <a:lnTo>
                    <a:pt x="181" y="622"/>
                  </a:lnTo>
                  <a:lnTo>
                    <a:pt x="183" y="622"/>
                  </a:lnTo>
                  <a:lnTo>
                    <a:pt x="183" y="622"/>
                  </a:lnTo>
                  <a:lnTo>
                    <a:pt x="183" y="622"/>
                  </a:lnTo>
                  <a:lnTo>
                    <a:pt x="183" y="624"/>
                  </a:lnTo>
                  <a:lnTo>
                    <a:pt x="183" y="628"/>
                  </a:lnTo>
                  <a:lnTo>
                    <a:pt x="183" y="630"/>
                  </a:lnTo>
                  <a:lnTo>
                    <a:pt x="183" y="630"/>
                  </a:lnTo>
                  <a:lnTo>
                    <a:pt x="185" y="632"/>
                  </a:lnTo>
                  <a:lnTo>
                    <a:pt x="185" y="632"/>
                  </a:lnTo>
                  <a:lnTo>
                    <a:pt x="186" y="632"/>
                  </a:lnTo>
                  <a:lnTo>
                    <a:pt x="186" y="632"/>
                  </a:lnTo>
                  <a:lnTo>
                    <a:pt x="188" y="630"/>
                  </a:lnTo>
                  <a:lnTo>
                    <a:pt x="188" y="630"/>
                  </a:lnTo>
                  <a:lnTo>
                    <a:pt x="190" y="630"/>
                  </a:lnTo>
                  <a:lnTo>
                    <a:pt x="190" y="632"/>
                  </a:lnTo>
                  <a:lnTo>
                    <a:pt x="192" y="632"/>
                  </a:lnTo>
                  <a:lnTo>
                    <a:pt x="192" y="632"/>
                  </a:lnTo>
                  <a:lnTo>
                    <a:pt x="192" y="634"/>
                  </a:lnTo>
                  <a:lnTo>
                    <a:pt x="194" y="636"/>
                  </a:lnTo>
                  <a:lnTo>
                    <a:pt x="194" y="636"/>
                  </a:lnTo>
                  <a:lnTo>
                    <a:pt x="196" y="636"/>
                  </a:lnTo>
                  <a:lnTo>
                    <a:pt x="196" y="636"/>
                  </a:lnTo>
                  <a:lnTo>
                    <a:pt x="196" y="636"/>
                  </a:lnTo>
                  <a:lnTo>
                    <a:pt x="198" y="636"/>
                  </a:lnTo>
                  <a:lnTo>
                    <a:pt x="198" y="636"/>
                  </a:lnTo>
                  <a:lnTo>
                    <a:pt x="198" y="636"/>
                  </a:lnTo>
                  <a:lnTo>
                    <a:pt x="200" y="636"/>
                  </a:lnTo>
                  <a:lnTo>
                    <a:pt x="200" y="638"/>
                  </a:lnTo>
                  <a:lnTo>
                    <a:pt x="202" y="639"/>
                  </a:lnTo>
                  <a:lnTo>
                    <a:pt x="204" y="641"/>
                  </a:lnTo>
                  <a:lnTo>
                    <a:pt x="204" y="641"/>
                  </a:lnTo>
                  <a:lnTo>
                    <a:pt x="206" y="641"/>
                  </a:lnTo>
                  <a:lnTo>
                    <a:pt x="207" y="641"/>
                  </a:lnTo>
                  <a:lnTo>
                    <a:pt x="207" y="643"/>
                  </a:lnTo>
                  <a:lnTo>
                    <a:pt x="207" y="641"/>
                  </a:lnTo>
                  <a:lnTo>
                    <a:pt x="209" y="641"/>
                  </a:lnTo>
                  <a:lnTo>
                    <a:pt x="209" y="641"/>
                  </a:lnTo>
                  <a:lnTo>
                    <a:pt x="211" y="641"/>
                  </a:lnTo>
                  <a:lnTo>
                    <a:pt x="211" y="641"/>
                  </a:lnTo>
                  <a:lnTo>
                    <a:pt x="211" y="643"/>
                  </a:lnTo>
                  <a:lnTo>
                    <a:pt x="211" y="643"/>
                  </a:lnTo>
                  <a:lnTo>
                    <a:pt x="213" y="645"/>
                  </a:lnTo>
                  <a:lnTo>
                    <a:pt x="213" y="647"/>
                  </a:lnTo>
                  <a:lnTo>
                    <a:pt x="213" y="649"/>
                  </a:lnTo>
                  <a:lnTo>
                    <a:pt x="215" y="649"/>
                  </a:lnTo>
                  <a:lnTo>
                    <a:pt x="215" y="647"/>
                  </a:lnTo>
                  <a:lnTo>
                    <a:pt x="215" y="647"/>
                  </a:lnTo>
                  <a:lnTo>
                    <a:pt x="217" y="647"/>
                  </a:lnTo>
                  <a:lnTo>
                    <a:pt x="217" y="645"/>
                  </a:lnTo>
                  <a:lnTo>
                    <a:pt x="219" y="645"/>
                  </a:lnTo>
                  <a:lnTo>
                    <a:pt x="221" y="645"/>
                  </a:lnTo>
                  <a:lnTo>
                    <a:pt x="223" y="645"/>
                  </a:lnTo>
                  <a:lnTo>
                    <a:pt x="225" y="645"/>
                  </a:lnTo>
                  <a:lnTo>
                    <a:pt x="226" y="647"/>
                  </a:lnTo>
                  <a:lnTo>
                    <a:pt x="226" y="647"/>
                  </a:lnTo>
                  <a:lnTo>
                    <a:pt x="226" y="649"/>
                  </a:lnTo>
                  <a:lnTo>
                    <a:pt x="226" y="651"/>
                  </a:lnTo>
                  <a:lnTo>
                    <a:pt x="226" y="651"/>
                  </a:lnTo>
                  <a:lnTo>
                    <a:pt x="226" y="653"/>
                  </a:lnTo>
                  <a:lnTo>
                    <a:pt x="228" y="653"/>
                  </a:lnTo>
                  <a:lnTo>
                    <a:pt x="230" y="653"/>
                  </a:lnTo>
                  <a:lnTo>
                    <a:pt x="232" y="653"/>
                  </a:lnTo>
                  <a:lnTo>
                    <a:pt x="246" y="651"/>
                  </a:lnTo>
                  <a:lnTo>
                    <a:pt x="246" y="653"/>
                  </a:lnTo>
                  <a:lnTo>
                    <a:pt x="251" y="653"/>
                  </a:lnTo>
                  <a:lnTo>
                    <a:pt x="251" y="653"/>
                  </a:lnTo>
                  <a:lnTo>
                    <a:pt x="253" y="651"/>
                  </a:lnTo>
                  <a:lnTo>
                    <a:pt x="253" y="645"/>
                  </a:lnTo>
                  <a:lnTo>
                    <a:pt x="255" y="641"/>
                  </a:lnTo>
                  <a:lnTo>
                    <a:pt x="259" y="638"/>
                  </a:lnTo>
                  <a:lnTo>
                    <a:pt x="261" y="636"/>
                  </a:lnTo>
                  <a:lnTo>
                    <a:pt x="261" y="636"/>
                  </a:lnTo>
                  <a:lnTo>
                    <a:pt x="263" y="636"/>
                  </a:lnTo>
                  <a:lnTo>
                    <a:pt x="265" y="636"/>
                  </a:lnTo>
                  <a:lnTo>
                    <a:pt x="266" y="636"/>
                  </a:lnTo>
                  <a:lnTo>
                    <a:pt x="268" y="634"/>
                  </a:lnTo>
                  <a:lnTo>
                    <a:pt x="268" y="636"/>
                  </a:lnTo>
                  <a:lnTo>
                    <a:pt x="270" y="636"/>
                  </a:lnTo>
                  <a:lnTo>
                    <a:pt x="276" y="641"/>
                  </a:lnTo>
                  <a:lnTo>
                    <a:pt x="276" y="641"/>
                  </a:lnTo>
                  <a:lnTo>
                    <a:pt x="278" y="641"/>
                  </a:lnTo>
                  <a:lnTo>
                    <a:pt x="278" y="639"/>
                  </a:lnTo>
                  <a:lnTo>
                    <a:pt x="278" y="638"/>
                  </a:lnTo>
                  <a:lnTo>
                    <a:pt x="280" y="638"/>
                  </a:lnTo>
                  <a:lnTo>
                    <a:pt x="280" y="638"/>
                  </a:lnTo>
                  <a:lnTo>
                    <a:pt x="282" y="638"/>
                  </a:lnTo>
                  <a:lnTo>
                    <a:pt x="284" y="636"/>
                  </a:lnTo>
                  <a:lnTo>
                    <a:pt x="287" y="638"/>
                  </a:lnTo>
                  <a:lnTo>
                    <a:pt x="289" y="636"/>
                  </a:lnTo>
                  <a:lnTo>
                    <a:pt x="291" y="636"/>
                  </a:lnTo>
                  <a:lnTo>
                    <a:pt x="291" y="636"/>
                  </a:lnTo>
                  <a:lnTo>
                    <a:pt x="293" y="636"/>
                  </a:lnTo>
                  <a:lnTo>
                    <a:pt x="293" y="636"/>
                  </a:lnTo>
                  <a:lnTo>
                    <a:pt x="295" y="636"/>
                  </a:lnTo>
                  <a:lnTo>
                    <a:pt x="297" y="638"/>
                  </a:lnTo>
                  <a:lnTo>
                    <a:pt x="297" y="638"/>
                  </a:lnTo>
                  <a:lnTo>
                    <a:pt x="299" y="638"/>
                  </a:lnTo>
                  <a:lnTo>
                    <a:pt x="301" y="638"/>
                  </a:lnTo>
                  <a:lnTo>
                    <a:pt x="303" y="638"/>
                  </a:lnTo>
                  <a:lnTo>
                    <a:pt x="307" y="638"/>
                  </a:lnTo>
                  <a:lnTo>
                    <a:pt x="307" y="638"/>
                  </a:lnTo>
                  <a:lnTo>
                    <a:pt x="308" y="636"/>
                  </a:lnTo>
                  <a:lnTo>
                    <a:pt x="308" y="634"/>
                  </a:lnTo>
                  <a:lnTo>
                    <a:pt x="310" y="630"/>
                  </a:lnTo>
                  <a:lnTo>
                    <a:pt x="310" y="628"/>
                  </a:lnTo>
                  <a:lnTo>
                    <a:pt x="312" y="626"/>
                  </a:lnTo>
                  <a:lnTo>
                    <a:pt x="312" y="624"/>
                  </a:lnTo>
                  <a:lnTo>
                    <a:pt x="314" y="624"/>
                  </a:lnTo>
                  <a:lnTo>
                    <a:pt x="316" y="624"/>
                  </a:lnTo>
                  <a:lnTo>
                    <a:pt x="326" y="622"/>
                  </a:lnTo>
                  <a:lnTo>
                    <a:pt x="327" y="622"/>
                  </a:lnTo>
                  <a:lnTo>
                    <a:pt x="327" y="622"/>
                  </a:lnTo>
                  <a:lnTo>
                    <a:pt x="329" y="622"/>
                  </a:lnTo>
                  <a:lnTo>
                    <a:pt x="329" y="620"/>
                  </a:lnTo>
                  <a:lnTo>
                    <a:pt x="331" y="619"/>
                  </a:lnTo>
                  <a:lnTo>
                    <a:pt x="333" y="615"/>
                  </a:lnTo>
                  <a:lnTo>
                    <a:pt x="335" y="613"/>
                  </a:lnTo>
                  <a:lnTo>
                    <a:pt x="335" y="613"/>
                  </a:lnTo>
                  <a:lnTo>
                    <a:pt x="337" y="611"/>
                  </a:lnTo>
                  <a:lnTo>
                    <a:pt x="337" y="611"/>
                  </a:lnTo>
                  <a:lnTo>
                    <a:pt x="337" y="611"/>
                  </a:lnTo>
                  <a:lnTo>
                    <a:pt x="339" y="609"/>
                  </a:lnTo>
                  <a:lnTo>
                    <a:pt x="339" y="609"/>
                  </a:lnTo>
                  <a:lnTo>
                    <a:pt x="339" y="609"/>
                  </a:lnTo>
                  <a:lnTo>
                    <a:pt x="339" y="609"/>
                  </a:lnTo>
                  <a:lnTo>
                    <a:pt x="339" y="607"/>
                  </a:lnTo>
                  <a:lnTo>
                    <a:pt x="339" y="607"/>
                  </a:lnTo>
                  <a:lnTo>
                    <a:pt x="339" y="607"/>
                  </a:lnTo>
                  <a:lnTo>
                    <a:pt x="339" y="605"/>
                  </a:lnTo>
                  <a:lnTo>
                    <a:pt x="335" y="601"/>
                  </a:lnTo>
                  <a:lnTo>
                    <a:pt x="335" y="601"/>
                  </a:lnTo>
                  <a:lnTo>
                    <a:pt x="335" y="601"/>
                  </a:lnTo>
                  <a:lnTo>
                    <a:pt x="333" y="600"/>
                  </a:lnTo>
                  <a:lnTo>
                    <a:pt x="329" y="600"/>
                  </a:lnTo>
                  <a:lnTo>
                    <a:pt x="314" y="600"/>
                  </a:lnTo>
                  <a:lnTo>
                    <a:pt x="312" y="598"/>
                  </a:lnTo>
                  <a:lnTo>
                    <a:pt x="312" y="598"/>
                  </a:lnTo>
                  <a:lnTo>
                    <a:pt x="312" y="596"/>
                  </a:lnTo>
                  <a:lnTo>
                    <a:pt x="312" y="596"/>
                  </a:lnTo>
                  <a:lnTo>
                    <a:pt x="310" y="594"/>
                  </a:lnTo>
                  <a:lnTo>
                    <a:pt x="310" y="594"/>
                  </a:lnTo>
                  <a:lnTo>
                    <a:pt x="310" y="594"/>
                  </a:lnTo>
                  <a:lnTo>
                    <a:pt x="312" y="592"/>
                  </a:lnTo>
                  <a:lnTo>
                    <a:pt x="312" y="592"/>
                  </a:lnTo>
                  <a:lnTo>
                    <a:pt x="312" y="590"/>
                  </a:lnTo>
                  <a:lnTo>
                    <a:pt x="316" y="588"/>
                  </a:lnTo>
                  <a:lnTo>
                    <a:pt x="320" y="586"/>
                  </a:lnTo>
                  <a:lnTo>
                    <a:pt x="320" y="584"/>
                  </a:lnTo>
                  <a:lnTo>
                    <a:pt x="322" y="582"/>
                  </a:lnTo>
                  <a:lnTo>
                    <a:pt x="324" y="580"/>
                  </a:lnTo>
                  <a:lnTo>
                    <a:pt x="324" y="580"/>
                  </a:lnTo>
                  <a:lnTo>
                    <a:pt x="326" y="575"/>
                  </a:lnTo>
                  <a:lnTo>
                    <a:pt x="326" y="573"/>
                  </a:lnTo>
                  <a:lnTo>
                    <a:pt x="326" y="571"/>
                  </a:lnTo>
                  <a:lnTo>
                    <a:pt x="324" y="571"/>
                  </a:lnTo>
                  <a:lnTo>
                    <a:pt x="324" y="571"/>
                  </a:lnTo>
                  <a:lnTo>
                    <a:pt x="322" y="571"/>
                  </a:lnTo>
                  <a:lnTo>
                    <a:pt x="322" y="571"/>
                  </a:lnTo>
                  <a:lnTo>
                    <a:pt x="322" y="571"/>
                  </a:lnTo>
                  <a:lnTo>
                    <a:pt x="322" y="571"/>
                  </a:lnTo>
                  <a:lnTo>
                    <a:pt x="322" y="571"/>
                  </a:lnTo>
                  <a:lnTo>
                    <a:pt x="322" y="571"/>
                  </a:lnTo>
                  <a:lnTo>
                    <a:pt x="322" y="569"/>
                  </a:lnTo>
                  <a:lnTo>
                    <a:pt x="322" y="569"/>
                  </a:lnTo>
                  <a:lnTo>
                    <a:pt x="322" y="567"/>
                  </a:lnTo>
                  <a:lnTo>
                    <a:pt x="320" y="567"/>
                  </a:lnTo>
                  <a:lnTo>
                    <a:pt x="320" y="565"/>
                  </a:lnTo>
                  <a:lnTo>
                    <a:pt x="320" y="563"/>
                  </a:lnTo>
                  <a:lnTo>
                    <a:pt x="322" y="560"/>
                  </a:lnTo>
                  <a:lnTo>
                    <a:pt x="324" y="554"/>
                  </a:lnTo>
                  <a:lnTo>
                    <a:pt x="326" y="554"/>
                  </a:lnTo>
                  <a:lnTo>
                    <a:pt x="327" y="554"/>
                  </a:lnTo>
                  <a:lnTo>
                    <a:pt x="327" y="554"/>
                  </a:lnTo>
                  <a:lnTo>
                    <a:pt x="329" y="554"/>
                  </a:lnTo>
                  <a:lnTo>
                    <a:pt x="331" y="554"/>
                  </a:lnTo>
                  <a:lnTo>
                    <a:pt x="331" y="554"/>
                  </a:lnTo>
                  <a:lnTo>
                    <a:pt x="333" y="554"/>
                  </a:lnTo>
                  <a:lnTo>
                    <a:pt x="337" y="552"/>
                  </a:lnTo>
                  <a:lnTo>
                    <a:pt x="337" y="552"/>
                  </a:lnTo>
                  <a:lnTo>
                    <a:pt x="339" y="550"/>
                  </a:lnTo>
                  <a:lnTo>
                    <a:pt x="339" y="550"/>
                  </a:lnTo>
                  <a:lnTo>
                    <a:pt x="339" y="550"/>
                  </a:lnTo>
                  <a:lnTo>
                    <a:pt x="339" y="548"/>
                  </a:lnTo>
                  <a:lnTo>
                    <a:pt x="337" y="548"/>
                  </a:lnTo>
                  <a:lnTo>
                    <a:pt x="337" y="548"/>
                  </a:lnTo>
                  <a:lnTo>
                    <a:pt x="337" y="546"/>
                  </a:lnTo>
                  <a:lnTo>
                    <a:pt x="339" y="546"/>
                  </a:lnTo>
                  <a:lnTo>
                    <a:pt x="339" y="544"/>
                  </a:lnTo>
                  <a:lnTo>
                    <a:pt x="341" y="542"/>
                  </a:lnTo>
                  <a:lnTo>
                    <a:pt x="343" y="537"/>
                  </a:lnTo>
                  <a:lnTo>
                    <a:pt x="347" y="537"/>
                  </a:lnTo>
                  <a:lnTo>
                    <a:pt x="350" y="535"/>
                  </a:lnTo>
                  <a:lnTo>
                    <a:pt x="352" y="537"/>
                  </a:lnTo>
                  <a:lnTo>
                    <a:pt x="352" y="537"/>
                  </a:lnTo>
                  <a:lnTo>
                    <a:pt x="354" y="537"/>
                  </a:lnTo>
                  <a:lnTo>
                    <a:pt x="354" y="537"/>
                  </a:lnTo>
                  <a:lnTo>
                    <a:pt x="354" y="539"/>
                  </a:lnTo>
                  <a:lnTo>
                    <a:pt x="356" y="539"/>
                  </a:lnTo>
                  <a:lnTo>
                    <a:pt x="356" y="541"/>
                  </a:lnTo>
                  <a:lnTo>
                    <a:pt x="358" y="542"/>
                  </a:lnTo>
                  <a:lnTo>
                    <a:pt x="360" y="542"/>
                  </a:lnTo>
                  <a:lnTo>
                    <a:pt x="360" y="542"/>
                  </a:lnTo>
                  <a:lnTo>
                    <a:pt x="362" y="542"/>
                  </a:lnTo>
                  <a:lnTo>
                    <a:pt x="362" y="541"/>
                  </a:lnTo>
                  <a:lnTo>
                    <a:pt x="362" y="541"/>
                  </a:lnTo>
                  <a:lnTo>
                    <a:pt x="362" y="541"/>
                  </a:lnTo>
                  <a:lnTo>
                    <a:pt x="364" y="539"/>
                  </a:lnTo>
                  <a:lnTo>
                    <a:pt x="364" y="539"/>
                  </a:lnTo>
                  <a:lnTo>
                    <a:pt x="366" y="539"/>
                  </a:lnTo>
                  <a:lnTo>
                    <a:pt x="367" y="541"/>
                  </a:lnTo>
                  <a:lnTo>
                    <a:pt x="373" y="544"/>
                  </a:lnTo>
                  <a:lnTo>
                    <a:pt x="375" y="544"/>
                  </a:lnTo>
                  <a:lnTo>
                    <a:pt x="381" y="546"/>
                  </a:lnTo>
                  <a:lnTo>
                    <a:pt x="383" y="546"/>
                  </a:lnTo>
                  <a:lnTo>
                    <a:pt x="383" y="544"/>
                  </a:lnTo>
                  <a:lnTo>
                    <a:pt x="383" y="542"/>
                  </a:lnTo>
                  <a:lnTo>
                    <a:pt x="383" y="542"/>
                  </a:lnTo>
                  <a:lnTo>
                    <a:pt x="383" y="541"/>
                  </a:lnTo>
                  <a:lnTo>
                    <a:pt x="383" y="539"/>
                  </a:lnTo>
                  <a:lnTo>
                    <a:pt x="383" y="539"/>
                  </a:lnTo>
                  <a:lnTo>
                    <a:pt x="383" y="537"/>
                  </a:lnTo>
                  <a:lnTo>
                    <a:pt x="383" y="537"/>
                  </a:lnTo>
                  <a:lnTo>
                    <a:pt x="383" y="537"/>
                  </a:lnTo>
                  <a:lnTo>
                    <a:pt x="385" y="537"/>
                  </a:lnTo>
                  <a:lnTo>
                    <a:pt x="385" y="537"/>
                  </a:lnTo>
                  <a:lnTo>
                    <a:pt x="385" y="539"/>
                  </a:lnTo>
                  <a:lnTo>
                    <a:pt x="387" y="539"/>
                  </a:lnTo>
                  <a:lnTo>
                    <a:pt x="387" y="539"/>
                  </a:lnTo>
                  <a:lnTo>
                    <a:pt x="387" y="539"/>
                  </a:lnTo>
                  <a:lnTo>
                    <a:pt x="387" y="539"/>
                  </a:lnTo>
                  <a:lnTo>
                    <a:pt x="388" y="537"/>
                  </a:lnTo>
                  <a:lnTo>
                    <a:pt x="388" y="537"/>
                  </a:lnTo>
                  <a:lnTo>
                    <a:pt x="388" y="537"/>
                  </a:lnTo>
                  <a:lnTo>
                    <a:pt x="390" y="537"/>
                  </a:lnTo>
                  <a:lnTo>
                    <a:pt x="390" y="537"/>
                  </a:lnTo>
                  <a:lnTo>
                    <a:pt x="390" y="537"/>
                  </a:lnTo>
                  <a:lnTo>
                    <a:pt x="392" y="537"/>
                  </a:lnTo>
                  <a:lnTo>
                    <a:pt x="392" y="535"/>
                  </a:lnTo>
                  <a:lnTo>
                    <a:pt x="392" y="533"/>
                  </a:lnTo>
                  <a:lnTo>
                    <a:pt x="392" y="533"/>
                  </a:lnTo>
                  <a:lnTo>
                    <a:pt x="392" y="531"/>
                  </a:lnTo>
                  <a:lnTo>
                    <a:pt x="392" y="531"/>
                  </a:lnTo>
                  <a:lnTo>
                    <a:pt x="394" y="531"/>
                  </a:lnTo>
                  <a:lnTo>
                    <a:pt x="394" y="531"/>
                  </a:lnTo>
                  <a:lnTo>
                    <a:pt x="394" y="531"/>
                  </a:lnTo>
                  <a:lnTo>
                    <a:pt x="394" y="533"/>
                  </a:lnTo>
                  <a:lnTo>
                    <a:pt x="400" y="537"/>
                  </a:lnTo>
                  <a:lnTo>
                    <a:pt x="402" y="537"/>
                  </a:lnTo>
                  <a:lnTo>
                    <a:pt x="404" y="537"/>
                  </a:lnTo>
                  <a:lnTo>
                    <a:pt x="404" y="537"/>
                  </a:lnTo>
                  <a:lnTo>
                    <a:pt x="404" y="535"/>
                  </a:lnTo>
                  <a:lnTo>
                    <a:pt x="404" y="535"/>
                  </a:lnTo>
                  <a:lnTo>
                    <a:pt x="402" y="533"/>
                  </a:lnTo>
                  <a:lnTo>
                    <a:pt x="400" y="531"/>
                  </a:lnTo>
                  <a:lnTo>
                    <a:pt x="400" y="531"/>
                  </a:lnTo>
                  <a:lnTo>
                    <a:pt x="398" y="531"/>
                  </a:lnTo>
                  <a:lnTo>
                    <a:pt x="398" y="531"/>
                  </a:lnTo>
                  <a:lnTo>
                    <a:pt x="398" y="529"/>
                  </a:lnTo>
                  <a:lnTo>
                    <a:pt x="398" y="529"/>
                  </a:lnTo>
                  <a:lnTo>
                    <a:pt x="402" y="525"/>
                  </a:lnTo>
                  <a:lnTo>
                    <a:pt x="402" y="523"/>
                  </a:lnTo>
                  <a:lnTo>
                    <a:pt x="402" y="523"/>
                  </a:lnTo>
                  <a:lnTo>
                    <a:pt x="402" y="523"/>
                  </a:lnTo>
                  <a:lnTo>
                    <a:pt x="404" y="522"/>
                  </a:lnTo>
                  <a:lnTo>
                    <a:pt x="404" y="520"/>
                  </a:lnTo>
                  <a:lnTo>
                    <a:pt x="404" y="520"/>
                  </a:lnTo>
                  <a:lnTo>
                    <a:pt x="404" y="520"/>
                  </a:lnTo>
                  <a:lnTo>
                    <a:pt x="406" y="518"/>
                  </a:lnTo>
                  <a:lnTo>
                    <a:pt x="407" y="518"/>
                  </a:lnTo>
                  <a:lnTo>
                    <a:pt x="407" y="516"/>
                  </a:lnTo>
                  <a:lnTo>
                    <a:pt x="407" y="516"/>
                  </a:lnTo>
                  <a:lnTo>
                    <a:pt x="407" y="514"/>
                  </a:lnTo>
                  <a:lnTo>
                    <a:pt x="407" y="512"/>
                  </a:lnTo>
                  <a:lnTo>
                    <a:pt x="409" y="510"/>
                  </a:lnTo>
                  <a:lnTo>
                    <a:pt x="409" y="510"/>
                  </a:lnTo>
                  <a:lnTo>
                    <a:pt x="411" y="508"/>
                  </a:lnTo>
                  <a:lnTo>
                    <a:pt x="411" y="506"/>
                  </a:lnTo>
                  <a:lnTo>
                    <a:pt x="411" y="506"/>
                  </a:lnTo>
                  <a:lnTo>
                    <a:pt x="411" y="504"/>
                  </a:lnTo>
                  <a:lnTo>
                    <a:pt x="411" y="504"/>
                  </a:lnTo>
                  <a:lnTo>
                    <a:pt x="413" y="503"/>
                  </a:lnTo>
                  <a:lnTo>
                    <a:pt x="413" y="503"/>
                  </a:lnTo>
                  <a:lnTo>
                    <a:pt x="413" y="503"/>
                  </a:lnTo>
                  <a:lnTo>
                    <a:pt x="413" y="501"/>
                  </a:lnTo>
                  <a:lnTo>
                    <a:pt x="413" y="499"/>
                  </a:lnTo>
                  <a:lnTo>
                    <a:pt x="413" y="499"/>
                  </a:lnTo>
                  <a:lnTo>
                    <a:pt x="413" y="497"/>
                  </a:lnTo>
                  <a:close/>
                </a:path>
              </a:pathLst>
            </a:custGeom>
            <a:solidFill>
              <a:schemeClr val="tx2">
                <a:lumMod val="20000"/>
                <a:lumOff val="80000"/>
              </a:schemeClr>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98" name="Freeform 47">
              <a:extLst>
                <a:ext uri="{FF2B5EF4-FFF2-40B4-BE49-F238E27FC236}">
                  <a16:creationId xmlns:a16="http://schemas.microsoft.com/office/drawing/2014/main" id="{DB8DCA39-7209-1230-442A-7DC02C9BBAB8}"/>
                </a:ext>
              </a:extLst>
            </p:cNvPr>
            <p:cNvSpPr>
              <a:spLocks/>
            </p:cNvSpPr>
            <p:nvPr/>
          </p:nvSpPr>
          <p:spPr bwMode="auto">
            <a:xfrm>
              <a:off x="2045612" y="4455122"/>
              <a:ext cx="779140" cy="1104569"/>
            </a:xfrm>
            <a:custGeom>
              <a:avLst/>
              <a:gdLst>
                <a:gd name="T0" fmla="*/ 392 w 413"/>
                <a:gd name="T1" fmla="*/ 487 h 653"/>
                <a:gd name="T2" fmla="*/ 379 w 413"/>
                <a:gd name="T3" fmla="*/ 466 h 653"/>
                <a:gd name="T4" fmla="*/ 367 w 413"/>
                <a:gd name="T5" fmla="*/ 442 h 653"/>
                <a:gd name="T6" fmla="*/ 350 w 413"/>
                <a:gd name="T7" fmla="*/ 436 h 653"/>
                <a:gd name="T8" fmla="*/ 331 w 413"/>
                <a:gd name="T9" fmla="*/ 449 h 653"/>
                <a:gd name="T10" fmla="*/ 307 w 413"/>
                <a:gd name="T11" fmla="*/ 449 h 653"/>
                <a:gd name="T12" fmla="*/ 280 w 413"/>
                <a:gd name="T13" fmla="*/ 438 h 653"/>
                <a:gd name="T14" fmla="*/ 272 w 413"/>
                <a:gd name="T15" fmla="*/ 453 h 653"/>
                <a:gd name="T16" fmla="*/ 268 w 413"/>
                <a:gd name="T17" fmla="*/ 438 h 653"/>
                <a:gd name="T18" fmla="*/ 265 w 413"/>
                <a:gd name="T19" fmla="*/ 413 h 653"/>
                <a:gd name="T20" fmla="*/ 297 w 413"/>
                <a:gd name="T21" fmla="*/ 432 h 653"/>
                <a:gd name="T22" fmla="*/ 301 w 413"/>
                <a:gd name="T23" fmla="*/ 421 h 653"/>
                <a:gd name="T24" fmla="*/ 307 w 413"/>
                <a:gd name="T25" fmla="*/ 400 h 653"/>
                <a:gd name="T26" fmla="*/ 287 w 413"/>
                <a:gd name="T27" fmla="*/ 398 h 653"/>
                <a:gd name="T28" fmla="*/ 255 w 413"/>
                <a:gd name="T29" fmla="*/ 394 h 653"/>
                <a:gd name="T30" fmla="*/ 249 w 413"/>
                <a:gd name="T31" fmla="*/ 379 h 653"/>
                <a:gd name="T32" fmla="*/ 247 w 413"/>
                <a:gd name="T33" fmla="*/ 337 h 653"/>
                <a:gd name="T34" fmla="*/ 272 w 413"/>
                <a:gd name="T35" fmla="*/ 333 h 653"/>
                <a:gd name="T36" fmla="*/ 265 w 413"/>
                <a:gd name="T37" fmla="*/ 286 h 653"/>
                <a:gd name="T38" fmla="*/ 270 w 413"/>
                <a:gd name="T39" fmla="*/ 259 h 653"/>
                <a:gd name="T40" fmla="*/ 316 w 413"/>
                <a:gd name="T41" fmla="*/ 210 h 653"/>
                <a:gd name="T42" fmla="*/ 308 w 413"/>
                <a:gd name="T43" fmla="*/ 175 h 653"/>
                <a:gd name="T44" fmla="*/ 305 w 413"/>
                <a:gd name="T45" fmla="*/ 128 h 653"/>
                <a:gd name="T46" fmla="*/ 322 w 413"/>
                <a:gd name="T47" fmla="*/ 86 h 653"/>
                <a:gd name="T48" fmla="*/ 318 w 413"/>
                <a:gd name="T49" fmla="*/ 59 h 653"/>
                <a:gd name="T50" fmla="*/ 312 w 413"/>
                <a:gd name="T51" fmla="*/ 18 h 653"/>
                <a:gd name="T52" fmla="*/ 278 w 413"/>
                <a:gd name="T53" fmla="*/ 21 h 653"/>
                <a:gd name="T54" fmla="*/ 246 w 413"/>
                <a:gd name="T55" fmla="*/ 56 h 653"/>
                <a:gd name="T56" fmla="*/ 219 w 413"/>
                <a:gd name="T57" fmla="*/ 73 h 653"/>
                <a:gd name="T58" fmla="*/ 209 w 413"/>
                <a:gd name="T59" fmla="*/ 103 h 653"/>
                <a:gd name="T60" fmla="*/ 167 w 413"/>
                <a:gd name="T61" fmla="*/ 109 h 653"/>
                <a:gd name="T62" fmla="*/ 135 w 413"/>
                <a:gd name="T63" fmla="*/ 105 h 653"/>
                <a:gd name="T64" fmla="*/ 143 w 413"/>
                <a:gd name="T65" fmla="*/ 143 h 653"/>
                <a:gd name="T66" fmla="*/ 101 w 413"/>
                <a:gd name="T67" fmla="*/ 154 h 653"/>
                <a:gd name="T68" fmla="*/ 70 w 413"/>
                <a:gd name="T69" fmla="*/ 158 h 653"/>
                <a:gd name="T70" fmla="*/ 53 w 413"/>
                <a:gd name="T71" fmla="*/ 179 h 653"/>
                <a:gd name="T72" fmla="*/ 30 w 413"/>
                <a:gd name="T73" fmla="*/ 181 h 653"/>
                <a:gd name="T74" fmla="*/ 13 w 413"/>
                <a:gd name="T75" fmla="*/ 193 h 653"/>
                <a:gd name="T76" fmla="*/ 23 w 413"/>
                <a:gd name="T77" fmla="*/ 200 h 653"/>
                <a:gd name="T78" fmla="*/ 34 w 413"/>
                <a:gd name="T79" fmla="*/ 227 h 653"/>
                <a:gd name="T80" fmla="*/ 19 w 413"/>
                <a:gd name="T81" fmla="*/ 263 h 653"/>
                <a:gd name="T82" fmla="*/ 7 w 413"/>
                <a:gd name="T83" fmla="*/ 272 h 653"/>
                <a:gd name="T84" fmla="*/ 13 w 413"/>
                <a:gd name="T85" fmla="*/ 310 h 653"/>
                <a:gd name="T86" fmla="*/ 2 w 413"/>
                <a:gd name="T87" fmla="*/ 343 h 653"/>
                <a:gd name="T88" fmla="*/ 4 w 413"/>
                <a:gd name="T89" fmla="*/ 356 h 653"/>
                <a:gd name="T90" fmla="*/ 23 w 413"/>
                <a:gd name="T91" fmla="*/ 377 h 653"/>
                <a:gd name="T92" fmla="*/ 32 w 413"/>
                <a:gd name="T93" fmla="*/ 402 h 653"/>
                <a:gd name="T94" fmla="*/ 57 w 413"/>
                <a:gd name="T95" fmla="*/ 461 h 653"/>
                <a:gd name="T96" fmla="*/ 59 w 413"/>
                <a:gd name="T97" fmla="*/ 499 h 653"/>
                <a:gd name="T98" fmla="*/ 78 w 413"/>
                <a:gd name="T99" fmla="*/ 544 h 653"/>
                <a:gd name="T100" fmla="*/ 93 w 413"/>
                <a:gd name="T101" fmla="*/ 556 h 653"/>
                <a:gd name="T102" fmla="*/ 110 w 413"/>
                <a:gd name="T103" fmla="*/ 571 h 653"/>
                <a:gd name="T104" fmla="*/ 122 w 413"/>
                <a:gd name="T105" fmla="*/ 590 h 653"/>
                <a:gd name="T106" fmla="*/ 160 w 413"/>
                <a:gd name="T107" fmla="*/ 622 h 653"/>
                <a:gd name="T108" fmla="*/ 198 w 413"/>
                <a:gd name="T109" fmla="*/ 636 h 653"/>
                <a:gd name="T110" fmla="*/ 226 w 413"/>
                <a:gd name="T111" fmla="*/ 651 h 653"/>
                <a:gd name="T112" fmla="*/ 291 w 413"/>
                <a:gd name="T113" fmla="*/ 636 h 653"/>
                <a:gd name="T114" fmla="*/ 339 w 413"/>
                <a:gd name="T115" fmla="*/ 609 h 653"/>
                <a:gd name="T116" fmla="*/ 322 w 413"/>
                <a:gd name="T117" fmla="*/ 571 h 653"/>
                <a:gd name="T118" fmla="*/ 343 w 413"/>
                <a:gd name="T119" fmla="*/ 537 h 653"/>
                <a:gd name="T120" fmla="*/ 383 w 413"/>
                <a:gd name="T121" fmla="*/ 537 h 653"/>
                <a:gd name="T122" fmla="*/ 398 w 413"/>
                <a:gd name="T123" fmla="*/ 531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3" h="653">
                  <a:moveTo>
                    <a:pt x="413" y="497"/>
                  </a:moveTo>
                  <a:lnTo>
                    <a:pt x="413" y="497"/>
                  </a:lnTo>
                  <a:lnTo>
                    <a:pt x="411" y="497"/>
                  </a:lnTo>
                  <a:lnTo>
                    <a:pt x="411" y="495"/>
                  </a:lnTo>
                  <a:lnTo>
                    <a:pt x="411" y="495"/>
                  </a:lnTo>
                  <a:lnTo>
                    <a:pt x="409" y="497"/>
                  </a:lnTo>
                  <a:lnTo>
                    <a:pt x="409" y="497"/>
                  </a:lnTo>
                  <a:lnTo>
                    <a:pt x="409" y="497"/>
                  </a:lnTo>
                  <a:lnTo>
                    <a:pt x="409" y="497"/>
                  </a:lnTo>
                  <a:lnTo>
                    <a:pt x="407" y="497"/>
                  </a:lnTo>
                  <a:lnTo>
                    <a:pt x="407" y="497"/>
                  </a:lnTo>
                  <a:lnTo>
                    <a:pt x="407" y="497"/>
                  </a:lnTo>
                  <a:lnTo>
                    <a:pt x="404" y="495"/>
                  </a:lnTo>
                  <a:lnTo>
                    <a:pt x="402" y="493"/>
                  </a:lnTo>
                  <a:lnTo>
                    <a:pt x="402" y="493"/>
                  </a:lnTo>
                  <a:lnTo>
                    <a:pt x="402" y="493"/>
                  </a:lnTo>
                  <a:lnTo>
                    <a:pt x="402" y="493"/>
                  </a:lnTo>
                  <a:lnTo>
                    <a:pt x="400" y="493"/>
                  </a:lnTo>
                  <a:lnTo>
                    <a:pt x="400" y="493"/>
                  </a:lnTo>
                  <a:lnTo>
                    <a:pt x="400" y="493"/>
                  </a:lnTo>
                  <a:lnTo>
                    <a:pt x="398" y="493"/>
                  </a:lnTo>
                  <a:lnTo>
                    <a:pt x="398" y="493"/>
                  </a:lnTo>
                  <a:lnTo>
                    <a:pt x="396" y="493"/>
                  </a:lnTo>
                  <a:lnTo>
                    <a:pt x="396" y="493"/>
                  </a:lnTo>
                  <a:lnTo>
                    <a:pt x="396" y="493"/>
                  </a:lnTo>
                  <a:lnTo>
                    <a:pt x="394" y="491"/>
                  </a:lnTo>
                  <a:lnTo>
                    <a:pt x="394" y="491"/>
                  </a:lnTo>
                  <a:lnTo>
                    <a:pt x="394" y="489"/>
                  </a:lnTo>
                  <a:lnTo>
                    <a:pt x="394" y="489"/>
                  </a:lnTo>
                  <a:lnTo>
                    <a:pt x="392" y="489"/>
                  </a:lnTo>
                  <a:lnTo>
                    <a:pt x="392" y="487"/>
                  </a:lnTo>
                  <a:lnTo>
                    <a:pt x="392" y="487"/>
                  </a:lnTo>
                  <a:lnTo>
                    <a:pt x="392" y="487"/>
                  </a:lnTo>
                  <a:lnTo>
                    <a:pt x="392" y="485"/>
                  </a:lnTo>
                  <a:lnTo>
                    <a:pt x="394" y="485"/>
                  </a:lnTo>
                  <a:lnTo>
                    <a:pt x="394" y="485"/>
                  </a:lnTo>
                  <a:lnTo>
                    <a:pt x="394" y="485"/>
                  </a:lnTo>
                  <a:lnTo>
                    <a:pt x="394" y="480"/>
                  </a:lnTo>
                  <a:lnTo>
                    <a:pt x="394" y="480"/>
                  </a:lnTo>
                  <a:lnTo>
                    <a:pt x="394" y="478"/>
                  </a:lnTo>
                  <a:lnTo>
                    <a:pt x="394" y="478"/>
                  </a:lnTo>
                  <a:lnTo>
                    <a:pt x="394" y="476"/>
                  </a:lnTo>
                  <a:lnTo>
                    <a:pt x="394" y="476"/>
                  </a:lnTo>
                  <a:lnTo>
                    <a:pt x="394" y="474"/>
                  </a:lnTo>
                  <a:lnTo>
                    <a:pt x="394" y="472"/>
                  </a:lnTo>
                  <a:lnTo>
                    <a:pt x="394" y="472"/>
                  </a:lnTo>
                  <a:lnTo>
                    <a:pt x="394" y="470"/>
                  </a:lnTo>
                  <a:lnTo>
                    <a:pt x="394" y="468"/>
                  </a:lnTo>
                  <a:lnTo>
                    <a:pt x="394" y="468"/>
                  </a:lnTo>
                  <a:lnTo>
                    <a:pt x="394" y="468"/>
                  </a:lnTo>
                  <a:lnTo>
                    <a:pt x="394" y="468"/>
                  </a:lnTo>
                  <a:lnTo>
                    <a:pt x="392" y="468"/>
                  </a:lnTo>
                  <a:lnTo>
                    <a:pt x="392" y="468"/>
                  </a:lnTo>
                  <a:lnTo>
                    <a:pt x="390" y="468"/>
                  </a:lnTo>
                  <a:lnTo>
                    <a:pt x="390" y="468"/>
                  </a:lnTo>
                  <a:lnTo>
                    <a:pt x="390" y="468"/>
                  </a:lnTo>
                  <a:lnTo>
                    <a:pt x="388" y="466"/>
                  </a:lnTo>
                  <a:lnTo>
                    <a:pt x="388" y="466"/>
                  </a:lnTo>
                  <a:lnTo>
                    <a:pt x="388" y="466"/>
                  </a:lnTo>
                  <a:lnTo>
                    <a:pt x="387" y="466"/>
                  </a:lnTo>
                  <a:lnTo>
                    <a:pt x="387" y="468"/>
                  </a:lnTo>
                  <a:lnTo>
                    <a:pt x="385" y="468"/>
                  </a:lnTo>
                  <a:lnTo>
                    <a:pt x="385" y="468"/>
                  </a:lnTo>
                  <a:lnTo>
                    <a:pt x="383" y="468"/>
                  </a:lnTo>
                  <a:lnTo>
                    <a:pt x="381" y="468"/>
                  </a:lnTo>
                  <a:lnTo>
                    <a:pt x="379" y="466"/>
                  </a:lnTo>
                  <a:lnTo>
                    <a:pt x="379" y="466"/>
                  </a:lnTo>
                  <a:lnTo>
                    <a:pt x="377" y="466"/>
                  </a:lnTo>
                  <a:lnTo>
                    <a:pt x="377" y="466"/>
                  </a:lnTo>
                  <a:lnTo>
                    <a:pt x="377" y="466"/>
                  </a:lnTo>
                  <a:lnTo>
                    <a:pt x="375" y="466"/>
                  </a:lnTo>
                  <a:lnTo>
                    <a:pt x="373" y="463"/>
                  </a:lnTo>
                  <a:lnTo>
                    <a:pt x="371" y="461"/>
                  </a:lnTo>
                  <a:lnTo>
                    <a:pt x="371" y="461"/>
                  </a:lnTo>
                  <a:lnTo>
                    <a:pt x="369" y="461"/>
                  </a:lnTo>
                  <a:lnTo>
                    <a:pt x="369" y="461"/>
                  </a:lnTo>
                  <a:lnTo>
                    <a:pt x="367" y="463"/>
                  </a:lnTo>
                  <a:lnTo>
                    <a:pt x="367" y="463"/>
                  </a:lnTo>
                  <a:lnTo>
                    <a:pt x="366" y="461"/>
                  </a:lnTo>
                  <a:lnTo>
                    <a:pt x="366" y="461"/>
                  </a:lnTo>
                  <a:lnTo>
                    <a:pt x="366" y="459"/>
                  </a:lnTo>
                  <a:lnTo>
                    <a:pt x="366" y="459"/>
                  </a:lnTo>
                  <a:lnTo>
                    <a:pt x="366" y="457"/>
                  </a:lnTo>
                  <a:lnTo>
                    <a:pt x="366" y="457"/>
                  </a:lnTo>
                  <a:lnTo>
                    <a:pt x="367" y="459"/>
                  </a:lnTo>
                  <a:lnTo>
                    <a:pt x="369" y="459"/>
                  </a:lnTo>
                  <a:lnTo>
                    <a:pt x="369" y="457"/>
                  </a:lnTo>
                  <a:lnTo>
                    <a:pt x="369" y="457"/>
                  </a:lnTo>
                  <a:lnTo>
                    <a:pt x="369" y="457"/>
                  </a:lnTo>
                  <a:lnTo>
                    <a:pt x="369" y="455"/>
                  </a:lnTo>
                  <a:lnTo>
                    <a:pt x="369" y="455"/>
                  </a:lnTo>
                  <a:lnTo>
                    <a:pt x="367" y="453"/>
                  </a:lnTo>
                  <a:lnTo>
                    <a:pt x="367" y="453"/>
                  </a:lnTo>
                  <a:lnTo>
                    <a:pt x="367" y="451"/>
                  </a:lnTo>
                  <a:lnTo>
                    <a:pt x="369" y="449"/>
                  </a:lnTo>
                  <a:lnTo>
                    <a:pt x="369" y="447"/>
                  </a:lnTo>
                  <a:lnTo>
                    <a:pt x="369" y="447"/>
                  </a:lnTo>
                  <a:lnTo>
                    <a:pt x="369" y="445"/>
                  </a:lnTo>
                  <a:lnTo>
                    <a:pt x="367" y="442"/>
                  </a:lnTo>
                  <a:lnTo>
                    <a:pt x="364" y="440"/>
                  </a:lnTo>
                  <a:lnTo>
                    <a:pt x="360" y="442"/>
                  </a:lnTo>
                  <a:lnTo>
                    <a:pt x="360" y="442"/>
                  </a:lnTo>
                  <a:lnTo>
                    <a:pt x="360" y="442"/>
                  </a:lnTo>
                  <a:lnTo>
                    <a:pt x="358" y="442"/>
                  </a:lnTo>
                  <a:lnTo>
                    <a:pt x="358" y="442"/>
                  </a:lnTo>
                  <a:lnTo>
                    <a:pt x="356" y="442"/>
                  </a:lnTo>
                  <a:lnTo>
                    <a:pt x="356" y="442"/>
                  </a:lnTo>
                  <a:lnTo>
                    <a:pt x="354" y="444"/>
                  </a:lnTo>
                  <a:lnTo>
                    <a:pt x="354" y="445"/>
                  </a:lnTo>
                  <a:lnTo>
                    <a:pt x="352" y="445"/>
                  </a:lnTo>
                  <a:lnTo>
                    <a:pt x="352" y="445"/>
                  </a:lnTo>
                  <a:lnTo>
                    <a:pt x="352" y="444"/>
                  </a:lnTo>
                  <a:lnTo>
                    <a:pt x="352" y="444"/>
                  </a:lnTo>
                  <a:lnTo>
                    <a:pt x="352" y="442"/>
                  </a:lnTo>
                  <a:lnTo>
                    <a:pt x="352" y="440"/>
                  </a:lnTo>
                  <a:lnTo>
                    <a:pt x="352" y="440"/>
                  </a:lnTo>
                  <a:lnTo>
                    <a:pt x="352" y="440"/>
                  </a:lnTo>
                  <a:lnTo>
                    <a:pt x="354" y="438"/>
                  </a:lnTo>
                  <a:lnTo>
                    <a:pt x="354" y="438"/>
                  </a:lnTo>
                  <a:lnTo>
                    <a:pt x="354" y="436"/>
                  </a:lnTo>
                  <a:lnTo>
                    <a:pt x="354" y="436"/>
                  </a:lnTo>
                  <a:lnTo>
                    <a:pt x="354" y="434"/>
                  </a:lnTo>
                  <a:lnTo>
                    <a:pt x="354" y="434"/>
                  </a:lnTo>
                  <a:lnTo>
                    <a:pt x="354" y="432"/>
                  </a:lnTo>
                  <a:lnTo>
                    <a:pt x="354" y="432"/>
                  </a:lnTo>
                  <a:lnTo>
                    <a:pt x="354" y="432"/>
                  </a:lnTo>
                  <a:lnTo>
                    <a:pt x="354" y="432"/>
                  </a:lnTo>
                  <a:lnTo>
                    <a:pt x="352" y="434"/>
                  </a:lnTo>
                  <a:lnTo>
                    <a:pt x="352" y="434"/>
                  </a:lnTo>
                  <a:lnTo>
                    <a:pt x="352" y="434"/>
                  </a:lnTo>
                  <a:lnTo>
                    <a:pt x="350" y="436"/>
                  </a:lnTo>
                  <a:lnTo>
                    <a:pt x="350" y="436"/>
                  </a:lnTo>
                  <a:lnTo>
                    <a:pt x="350" y="436"/>
                  </a:lnTo>
                  <a:lnTo>
                    <a:pt x="348" y="436"/>
                  </a:lnTo>
                  <a:lnTo>
                    <a:pt x="348" y="436"/>
                  </a:lnTo>
                  <a:lnTo>
                    <a:pt x="347" y="436"/>
                  </a:lnTo>
                  <a:lnTo>
                    <a:pt x="347" y="436"/>
                  </a:lnTo>
                  <a:lnTo>
                    <a:pt x="347" y="436"/>
                  </a:lnTo>
                  <a:lnTo>
                    <a:pt x="345" y="436"/>
                  </a:lnTo>
                  <a:lnTo>
                    <a:pt x="343" y="436"/>
                  </a:lnTo>
                  <a:lnTo>
                    <a:pt x="341" y="434"/>
                  </a:lnTo>
                  <a:lnTo>
                    <a:pt x="341" y="434"/>
                  </a:lnTo>
                  <a:lnTo>
                    <a:pt x="341" y="434"/>
                  </a:lnTo>
                  <a:lnTo>
                    <a:pt x="339" y="436"/>
                  </a:lnTo>
                  <a:lnTo>
                    <a:pt x="339" y="436"/>
                  </a:lnTo>
                  <a:lnTo>
                    <a:pt x="339" y="436"/>
                  </a:lnTo>
                  <a:lnTo>
                    <a:pt x="339" y="438"/>
                  </a:lnTo>
                  <a:lnTo>
                    <a:pt x="339" y="438"/>
                  </a:lnTo>
                  <a:lnTo>
                    <a:pt x="341" y="438"/>
                  </a:lnTo>
                  <a:lnTo>
                    <a:pt x="341" y="440"/>
                  </a:lnTo>
                  <a:lnTo>
                    <a:pt x="341" y="440"/>
                  </a:lnTo>
                  <a:lnTo>
                    <a:pt x="341" y="440"/>
                  </a:lnTo>
                  <a:lnTo>
                    <a:pt x="341" y="442"/>
                  </a:lnTo>
                  <a:lnTo>
                    <a:pt x="341" y="442"/>
                  </a:lnTo>
                  <a:lnTo>
                    <a:pt x="339" y="442"/>
                  </a:lnTo>
                  <a:lnTo>
                    <a:pt x="337" y="444"/>
                  </a:lnTo>
                  <a:lnTo>
                    <a:pt x="337" y="444"/>
                  </a:lnTo>
                  <a:lnTo>
                    <a:pt x="335" y="445"/>
                  </a:lnTo>
                  <a:lnTo>
                    <a:pt x="335" y="445"/>
                  </a:lnTo>
                  <a:lnTo>
                    <a:pt x="335" y="445"/>
                  </a:lnTo>
                  <a:lnTo>
                    <a:pt x="333" y="447"/>
                  </a:lnTo>
                  <a:lnTo>
                    <a:pt x="331" y="447"/>
                  </a:lnTo>
                  <a:lnTo>
                    <a:pt x="331" y="447"/>
                  </a:lnTo>
                  <a:lnTo>
                    <a:pt x="331" y="449"/>
                  </a:lnTo>
                  <a:lnTo>
                    <a:pt x="331" y="449"/>
                  </a:lnTo>
                  <a:lnTo>
                    <a:pt x="329" y="451"/>
                  </a:lnTo>
                  <a:lnTo>
                    <a:pt x="329" y="451"/>
                  </a:lnTo>
                  <a:lnTo>
                    <a:pt x="329" y="451"/>
                  </a:lnTo>
                  <a:lnTo>
                    <a:pt x="329" y="451"/>
                  </a:lnTo>
                  <a:lnTo>
                    <a:pt x="327" y="451"/>
                  </a:lnTo>
                  <a:lnTo>
                    <a:pt x="327" y="449"/>
                  </a:lnTo>
                  <a:lnTo>
                    <a:pt x="327" y="449"/>
                  </a:lnTo>
                  <a:lnTo>
                    <a:pt x="326" y="449"/>
                  </a:lnTo>
                  <a:lnTo>
                    <a:pt x="324" y="449"/>
                  </a:lnTo>
                  <a:lnTo>
                    <a:pt x="324" y="449"/>
                  </a:lnTo>
                  <a:lnTo>
                    <a:pt x="324" y="451"/>
                  </a:lnTo>
                  <a:lnTo>
                    <a:pt x="322" y="451"/>
                  </a:lnTo>
                  <a:lnTo>
                    <a:pt x="322" y="451"/>
                  </a:lnTo>
                  <a:lnTo>
                    <a:pt x="322" y="453"/>
                  </a:lnTo>
                  <a:lnTo>
                    <a:pt x="324" y="453"/>
                  </a:lnTo>
                  <a:lnTo>
                    <a:pt x="322" y="453"/>
                  </a:lnTo>
                  <a:lnTo>
                    <a:pt x="322" y="453"/>
                  </a:lnTo>
                  <a:lnTo>
                    <a:pt x="320" y="453"/>
                  </a:lnTo>
                  <a:lnTo>
                    <a:pt x="318" y="453"/>
                  </a:lnTo>
                  <a:lnTo>
                    <a:pt x="316" y="455"/>
                  </a:lnTo>
                  <a:lnTo>
                    <a:pt x="314" y="457"/>
                  </a:lnTo>
                  <a:lnTo>
                    <a:pt x="314" y="457"/>
                  </a:lnTo>
                  <a:lnTo>
                    <a:pt x="312" y="457"/>
                  </a:lnTo>
                  <a:lnTo>
                    <a:pt x="310" y="457"/>
                  </a:lnTo>
                  <a:lnTo>
                    <a:pt x="310" y="457"/>
                  </a:lnTo>
                  <a:lnTo>
                    <a:pt x="310" y="457"/>
                  </a:lnTo>
                  <a:lnTo>
                    <a:pt x="308" y="457"/>
                  </a:lnTo>
                  <a:lnTo>
                    <a:pt x="308" y="457"/>
                  </a:lnTo>
                  <a:lnTo>
                    <a:pt x="308" y="455"/>
                  </a:lnTo>
                  <a:lnTo>
                    <a:pt x="308" y="453"/>
                  </a:lnTo>
                  <a:lnTo>
                    <a:pt x="308" y="453"/>
                  </a:lnTo>
                  <a:lnTo>
                    <a:pt x="308" y="449"/>
                  </a:lnTo>
                  <a:lnTo>
                    <a:pt x="307" y="449"/>
                  </a:lnTo>
                  <a:lnTo>
                    <a:pt x="307" y="447"/>
                  </a:lnTo>
                  <a:lnTo>
                    <a:pt x="307" y="447"/>
                  </a:lnTo>
                  <a:lnTo>
                    <a:pt x="305" y="447"/>
                  </a:lnTo>
                  <a:lnTo>
                    <a:pt x="305" y="445"/>
                  </a:lnTo>
                  <a:lnTo>
                    <a:pt x="305" y="445"/>
                  </a:lnTo>
                  <a:lnTo>
                    <a:pt x="305" y="444"/>
                  </a:lnTo>
                  <a:lnTo>
                    <a:pt x="305" y="444"/>
                  </a:lnTo>
                  <a:lnTo>
                    <a:pt x="303" y="444"/>
                  </a:lnTo>
                  <a:lnTo>
                    <a:pt x="301" y="444"/>
                  </a:lnTo>
                  <a:lnTo>
                    <a:pt x="299" y="444"/>
                  </a:lnTo>
                  <a:lnTo>
                    <a:pt x="297" y="444"/>
                  </a:lnTo>
                  <a:lnTo>
                    <a:pt x="297" y="444"/>
                  </a:lnTo>
                  <a:lnTo>
                    <a:pt x="295" y="444"/>
                  </a:lnTo>
                  <a:lnTo>
                    <a:pt x="295" y="444"/>
                  </a:lnTo>
                  <a:lnTo>
                    <a:pt x="293" y="444"/>
                  </a:lnTo>
                  <a:lnTo>
                    <a:pt x="293" y="442"/>
                  </a:lnTo>
                  <a:lnTo>
                    <a:pt x="291" y="442"/>
                  </a:lnTo>
                  <a:lnTo>
                    <a:pt x="291" y="442"/>
                  </a:lnTo>
                  <a:lnTo>
                    <a:pt x="289" y="442"/>
                  </a:lnTo>
                  <a:lnTo>
                    <a:pt x="287" y="442"/>
                  </a:lnTo>
                  <a:lnTo>
                    <a:pt x="287" y="440"/>
                  </a:lnTo>
                  <a:lnTo>
                    <a:pt x="286" y="440"/>
                  </a:lnTo>
                  <a:lnTo>
                    <a:pt x="286" y="440"/>
                  </a:lnTo>
                  <a:lnTo>
                    <a:pt x="286" y="440"/>
                  </a:lnTo>
                  <a:lnTo>
                    <a:pt x="284" y="442"/>
                  </a:lnTo>
                  <a:lnTo>
                    <a:pt x="282" y="442"/>
                  </a:lnTo>
                  <a:lnTo>
                    <a:pt x="282" y="440"/>
                  </a:lnTo>
                  <a:lnTo>
                    <a:pt x="282" y="440"/>
                  </a:lnTo>
                  <a:lnTo>
                    <a:pt x="282" y="438"/>
                  </a:lnTo>
                  <a:lnTo>
                    <a:pt x="282" y="438"/>
                  </a:lnTo>
                  <a:lnTo>
                    <a:pt x="282" y="438"/>
                  </a:lnTo>
                  <a:lnTo>
                    <a:pt x="282" y="438"/>
                  </a:lnTo>
                  <a:lnTo>
                    <a:pt x="280" y="438"/>
                  </a:lnTo>
                  <a:lnTo>
                    <a:pt x="280" y="438"/>
                  </a:lnTo>
                  <a:lnTo>
                    <a:pt x="280" y="438"/>
                  </a:lnTo>
                  <a:lnTo>
                    <a:pt x="280" y="440"/>
                  </a:lnTo>
                  <a:lnTo>
                    <a:pt x="280" y="440"/>
                  </a:lnTo>
                  <a:lnTo>
                    <a:pt x="280" y="440"/>
                  </a:lnTo>
                  <a:lnTo>
                    <a:pt x="280" y="440"/>
                  </a:lnTo>
                  <a:lnTo>
                    <a:pt x="280" y="440"/>
                  </a:lnTo>
                  <a:lnTo>
                    <a:pt x="280" y="442"/>
                  </a:lnTo>
                  <a:lnTo>
                    <a:pt x="280" y="442"/>
                  </a:lnTo>
                  <a:lnTo>
                    <a:pt x="280" y="442"/>
                  </a:lnTo>
                  <a:lnTo>
                    <a:pt x="278" y="442"/>
                  </a:lnTo>
                  <a:lnTo>
                    <a:pt x="278" y="442"/>
                  </a:lnTo>
                  <a:lnTo>
                    <a:pt x="278" y="444"/>
                  </a:lnTo>
                  <a:lnTo>
                    <a:pt x="278" y="444"/>
                  </a:lnTo>
                  <a:lnTo>
                    <a:pt x="278" y="444"/>
                  </a:lnTo>
                  <a:lnTo>
                    <a:pt x="278" y="444"/>
                  </a:lnTo>
                  <a:lnTo>
                    <a:pt x="280" y="444"/>
                  </a:lnTo>
                  <a:lnTo>
                    <a:pt x="280" y="445"/>
                  </a:lnTo>
                  <a:lnTo>
                    <a:pt x="280" y="445"/>
                  </a:lnTo>
                  <a:lnTo>
                    <a:pt x="280" y="447"/>
                  </a:lnTo>
                  <a:lnTo>
                    <a:pt x="280" y="447"/>
                  </a:lnTo>
                  <a:lnTo>
                    <a:pt x="280" y="449"/>
                  </a:lnTo>
                  <a:lnTo>
                    <a:pt x="280" y="449"/>
                  </a:lnTo>
                  <a:lnTo>
                    <a:pt x="280" y="451"/>
                  </a:lnTo>
                  <a:lnTo>
                    <a:pt x="280" y="451"/>
                  </a:lnTo>
                  <a:lnTo>
                    <a:pt x="278" y="451"/>
                  </a:lnTo>
                  <a:lnTo>
                    <a:pt x="278" y="451"/>
                  </a:lnTo>
                  <a:lnTo>
                    <a:pt x="276" y="451"/>
                  </a:lnTo>
                  <a:lnTo>
                    <a:pt x="274" y="451"/>
                  </a:lnTo>
                  <a:lnTo>
                    <a:pt x="274" y="451"/>
                  </a:lnTo>
                  <a:lnTo>
                    <a:pt x="274" y="451"/>
                  </a:lnTo>
                  <a:lnTo>
                    <a:pt x="272" y="451"/>
                  </a:lnTo>
                  <a:lnTo>
                    <a:pt x="272" y="453"/>
                  </a:lnTo>
                  <a:lnTo>
                    <a:pt x="272" y="453"/>
                  </a:lnTo>
                  <a:lnTo>
                    <a:pt x="272" y="453"/>
                  </a:lnTo>
                  <a:lnTo>
                    <a:pt x="270" y="453"/>
                  </a:lnTo>
                  <a:lnTo>
                    <a:pt x="270" y="453"/>
                  </a:lnTo>
                  <a:lnTo>
                    <a:pt x="268" y="451"/>
                  </a:lnTo>
                  <a:lnTo>
                    <a:pt x="268" y="451"/>
                  </a:lnTo>
                  <a:lnTo>
                    <a:pt x="268" y="449"/>
                  </a:lnTo>
                  <a:lnTo>
                    <a:pt x="268" y="449"/>
                  </a:lnTo>
                  <a:lnTo>
                    <a:pt x="266" y="449"/>
                  </a:lnTo>
                  <a:lnTo>
                    <a:pt x="266" y="449"/>
                  </a:lnTo>
                  <a:lnTo>
                    <a:pt x="266" y="449"/>
                  </a:lnTo>
                  <a:lnTo>
                    <a:pt x="266" y="451"/>
                  </a:lnTo>
                  <a:lnTo>
                    <a:pt x="266" y="451"/>
                  </a:lnTo>
                  <a:lnTo>
                    <a:pt x="266" y="453"/>
                  </a:lnTo>
                  <a:lnTo>
                    <a:pt x="265" y="453"/>
                  </a:lnTo>
                  <a:lnTo>
                    <a:pt x="265" y="453"/>
                  </a:lnTo>
                  <a:lnTo>
                    <a:pt x="265" y="451"/>
                  </a:lnTo>
                  <a:lnTo>
                    <a:pt x="265" y="449"/>
                  </a:lnTo>
                  <a:lnTo>
                    <a:pt x="265" y="447"/>
                  </a:lnTo>
                  <a:lnTo>
                    <a:pt x="265" y="445"/>
                  </a:lnTo>
                  <a:lnTo>
                    <a:pt x="265" y="445"/>
                  </a:lnTo>
                  <a:lnTo>
                    <a:pt x="265" y="444"/>
                  </a:lnTo>
                  <a:lnTo>
                    <a:pt x="266" y="444"/>
                  </a:lnTo>
                  <a:lnTo>
                    <a:pt x="266" y="442"/>
                  </a:lnTo>
                  <a:lnTo>
                    <a:pt x="266" y="442"/>
                  </a:lnTo>
                  <a:lnTo>
                    <a:pt x="266" y="442"/>
                  </a:lnTo>
                  <a:lnTo>
                    <a:pt x="266" y="440"/>
                  </a:lnTo>
                  <a:lnTo>
                    <a:pt x="268" y="440"/>
                  </a:lnTo>
                  <a:lnTo>
                    <a:pt x="268" y="440"/>
                  </a:lnTo>
                  <a:lnTo>
                    <a:pt x="268" y="440"/>
                  </a:lnTo>
                  <a:lnTo>
                    <a:pt x="268" y="438"/>
                  </a:lnTo>
                  <a:lnTo>
                    <a:pt x="268" y="438"/>
                  </a:lnTo>
                  <a:lnTo>
                    <a:pt x="268" y="438"/>
                  </a:lnTo>
                  <a:lnTo>
                    <a:pt x="268" y="436"/>
                  </a:lnTo>
                  <a:lnTo>
                    <a:pt x="268" y="436"/>
                  </a:lnTo>
                  <a:lnTo>
                    <a:pt x="266" y="434"/>
                  </a:lnTo>
                  <a:lnTo>
                    <a:pt x="266" y="432"/>
                  </a:lnTo>
                  <a:lnTo>
                    <a:pt x="265" y="430"/>
                  </a:lnTo>
                  <a:lnTo>
                    <a:pt x="263" y="430"/>
                  </a:lnTo>
                  <a:lnTo>
                    <a:pt x="263" y="428"/>
                  </a:lnTo>
                  <a:lnTo>
                    <a:pt x="263" y="428"/>
                  </a:lnTo>
                  <a:lnTo>
                    <a:pt x="263" y="428"/>
                  </a:lnTo>
                  <a:lnTo>
                    <a:pt x="261" y="426"/>
                  </a:lnTo>
                  <a:lnTo>
                    <a:pt x="263" y="425"/>
                  </a:lnTo>
                  <a:lnTo>
                    <a:pt x="263" y="425"/>
                  </a:lnTo>
                  <a:lnTo>
                    <a:pt x="263" y="423"/>
                  </a:lnTo>
                  <a:lnTo>
                    <a:pt x="263" y="423"/>
                  </a:lnTo>
                  <a:lnTo>
                    <a:pt x="263" y="423"/>
                  </a:lnTo>
                  <a:lnTo>
                    <a:pt x="261" y="421"/>
                  </a:lnTo>
                  <a:lnTo>
                    <a:pt x="257" y="415"/>
                  </a:lnTo>
                  <a:lnTo>
                    <a:pt x="255" y="415"/>
                  </a:lnTo>
                  <a:lnTo>
                    <a:pt x="255" y="415"/>
                  </a:lnTo>
                  <a:lnTo>
                    <a:pt x="257" y="413"/>
                  </a:lnTo>
                  <a:lnTo>
                    <a:pt x="257" y="413"/>
                  </a:lnTo>
                  <a:lnTo>
                    <a:pt x="259" y="413"/>
                  </a:lnTo>
                  <a:lnTo>
                    <a:pt x="259" y="413"/>
                  </a:lnTo>
                  <a:lnTo>
                    <a:pt x="259" y="411"/>
                  </a:lnTo>
                  <a:lnTo>
                    <a:pt x="259" y="411"/>
                  </a:lnTo>
                  <a:lnTo>
                    <a:pt x="261" y="411"/>
                  </a:lnTo>
                  <a:lnTo>
                    <a:pt x="261" y="411"/>
                  </a:lnTo>
                  <a:lnTo>
                    <a:pt x="261" y="411"/>
                  </a:lnTo>
                  <a:lnTo>
                    <a:pt x="261" y="411"/>
                  </a:lnTo>
                  <a:lnTo>
                    <a:pt x="263" y="413"/>
                  </a:lnTo>
                  <a:lnTo>
                    <a:pt x="263" y="413"/>
                  </a:lnTo>
                  <a:lnTo>
                    <a:pt x="265" y="413"/>
                  </a:lnTo>
                  <a:lnTo>
                    <a:pt x="265" y="413"/>
                  </a:lnTo>
                  <a:lnTo>
                    <a:pt x="265" y="413"/>
                  </a:lnTo>
                  <a:lnTo>
                    <a:pt x="265" y="413"/>
                  </a:lnTo>
                  <a:lnTo>
                    <a:pt x="265" y="413"/>
                  </a:lnTo>
                  <a:lnTo>
                    <a:pt x="265" y="415"/>
                  </a:lnTo>
                  <a:lnTo>
                    <a:pt x="266" y="419"/>
                  </a:lnTo>
                  <a:lnTo>
                    <a:pt x="266" y="421"/>
                  </a:lnTo>
                  <a:lnTo>
                    <a:pt x="266" y="423"/>
                  </a:lnTo>
                  <a:lnTo>
                    <a:pt x="268" y="423"/>
                  </a:lnTo>
                  <a:lnTo>
                    <a:pt x="268" y="423"/>
                  </a:lnTo>
                  <a:lnTo>
                    <a:pt x="268" y="423"/>
                  </a:lnTo>
                  <a:lnTo>
                    <a:pt x="270" y="425"/>
                  </a:lnTo>
                  <a:lnTo>
                    <a:pt x="270" y="425"/>
                  </a:lnTo>
                  <a:lnTo>
                    <a:pt x="274" y="425"/>
                  </a:lnTo>
                  <a:lnTo>
                    <a:pt x="274" y="425"/>
                  </a:lnTo>
                  <a:lnTo>
                    <a:pt x="276" y="426"/>
                  </a:lnTo>
                  <a:lnTo>
                    <a:pt x="276" y="426"/>
                  </a:lnTo>
                  <a:lnTo>
                    <a:pt x="276" y="428"/>
                  </a:lnTo>
                  <a:lnTo>
                    <a:pt x="278" y="428"/>
                  </a:lnTo>
                  <a:lnTo>
                    <a:pt x="278" y="428"/>
                  </a:lnTo>
                  <a:lnTo>
                    <a:pt x="280" y="428"/>
                  </a:lnTo>
                  <a:lnTo>
                    <a:pt x="282" y="428"/>
                  </a:lnTo>
                  <a:lnTo>
                    <a:pt x="284" y="428"/>
                  </a:lnTo>
                  <a:lnTo>
                    <a:pt x="284" y="428"/>
                  </a:lnTo>
                  <a:lnTo>
                    <a:pt x="291" y="426"/>
                  </a:lnTo>
                  <a:lnTo>
                    <a:pt x="291" y="426"/>
                  </a:lnTo>
                  <a:lnTo>
                    <a:pt x="291" y="426"/>
                  </a:lnTo>
                  <a:lnTo>
                    <a:pt x="293" y="426"/>
                  </a:lnTo>
                  <a:lnTo>
                    <a:pt x="293" y="428"/>
                  </a:lnTo>
                  <a:lnTo>
                    <a:pt x="295" y="428"/>
                  </a:lnTo>
                  <a:lnTo>
                    <a:pt x="295" y="428"/>
                  </a:lnTo>
                  <a:lnTo>
                    <a:pt x="295" y="428"/>
                  </a:lnTo>
                  <a:lnTo>
                    <a:pt x="295" y="428"/>
                  </a:lnTo>
                  <a:lnTo>
                    <a:pt x="297" y="432"/>
                  </a:lnTo>
                  <a:lnTo>
                    <a:pt x="299" y="434"/>
                  </a:lnTo>
                  <a:lnTo>
                    <a:pt x="299" y="434"/>
                  </a:lnTo>
                  <a:lnTo>
                    <a:pt x="299" y="436"/>
                  </a:lnTo>
                  <a:lnTo>
                    <a:pt x="299" y="436"/>
                  </a:lnTo>
                  <a:lnTo>
                    <a:pt x="299" y="438"/>
                  </a:lnTo>
                  <a:lnTo>
                    <a:pt x="299" y="438"/>
                  </a:lnTo>
                  <a:lnTo>
                    <a:pt x="299" y="438"/>
                  </a:lnTo>
                  <a:lnTo>
                    <a:pt x="301" y="438"/>
                  </a:lnTo>
                  <a:lnTo>
                    <a:pt x="303" y="440"/>
                  </a:lnTo>
                  <a:lnTo>
                    <a:pt x="303" y="440"/>
                  </a:lnTo>
                  <a:lnTo>
                    <a:pt x="305" y="440"/>
                  </a:lnTo>
                  <a:lnTo>
                    <a:pt x="305" y="438"/>
                  </a:lnTo>
                  <a:lnTo>
                    <a:pt x="305" y="438"/>
                  </a:lnTo>
                  <a:lnTo>
                    <a:pt x="305" y="438"/>
                  </a:lnTo>
                  <a:lnTo>
                    <a:pt x="303" y="436"/>
                  </a:lnTo>
                  <a:lnTo>
                    <a:pt x="303" y="434"/>
                  </a:lnTo>
                  <a:lnTo>
                    <a:pt x="303" y="434"/>
                  </a:lnTo>
                  <a:lnTo>
                    <a:pt x="305" y="432"/>
                  </a:lnTo>
                  <a:lnTo>
                    <a:pt x="303" y="432"/>
                  </a:lnTo>
                  <a:lnTo>
                    <a:pt x="303" y="432"/>
                  </a:lnTo>
                  <a:lnTo>
                    <a:pt x="303" y="430"/>
                  </a:lnTo>
                  <a:lnTo>
                    <a:pt x="301" y="430"/>
                  </a:lnTo>
                  <a:lnTo>
                    <a:pt x="301" y="430"/>
                  </a:lnTo>
                  <a:lnTo>
                    <a:pt x="301" y="428"/>
                  </a:lnTo>
                  <a:lnTo>
                    <a:pt x="301" y="428"/>
                  </a:lnTo>
                  <a:lnTo>
                    <a:pt x="301" y="426"/>
                  </a:lnTo>
                  <a:lnTo>
                    <a:pt x="301" y="426"/>
                  </a:lnTo>
                  <a:lnTo>
                    <a:pt x="299" y="425"/>
                  </a:lnTo>
                  <a:lnTo>
                    <a:pt x="299" y="425"/>
                  </a:lnTo>
                  <a:lnTo>
                    <a:pt x="299" y="425"/>
                  </a:lnTo>
                  <a:lnTo>
                    <a:pt x="299" y="423"/>
                  </a:lnTo>
                  <a:lnTo>
                    <a:pt x="299" y="423"/>
                  </a:lnTo>
                  <a:lnTo>
                    <a:pt x="301" y="421"/>
                  </a:lnTo>
                  <a:lnTo>
                    <a:pt x="301" y="419"/>
                  </a:lnTo>
                  <a:lnTo>
                    <a:pt x="301" y="419"/>
                  </a:lnTo>
                  <a:lnTo>
                    <a:pt x="301" y="419"/>
                  </a:lnTo>
                  <a:lnTo>
                    <a:pt x="301" y="419"/>
                  </a:lnTo>
                  <a:lnTo>
                    <a:pt x="299" y="417"/>
                  </a:lnTo>
                  <a:lnTo>
                    <a:pt x="299" y="417"/>
                  </a:lnTo>
                  <a:lnTo>
                    <a:pt x="299" y="417"/>
                  </a:lnTo>
                  <a:lnTo>
                    <a:pt x="299" y="417"/>
                  </a:lnTo>
                  <a:lnTo>
                    <a:pt x="299" y="417"/>
                  </a:lnTo>
                  <a:lnTo>
                    <a:pt x="301" y="415"/>
                  </a:lnTo>
                  <a:lnTo>
                    <a:pt x="303" y="413"/>
                  </a:lnTo>
                  <a:lnTo>
                    <a:pt x="303" y="413"/>
                  </a:lnTo>
                  <a:lnTo>
                    <a:pt x="303" y="413"/>
                  </a:lnTo>
                  <a:lnTo>
                    <a:pt x="305" y="413"/>
                  </a:lnTo>
                  <a:lnTo>
                    <a:pt x="308" y="413"/>
                  </a:lnTo>
                  <a:lnTo>
                    <a:pt x="310" y="411"/>
                  </a:lnTo>
                  <a:lnTo>
                    <a:pt x="310" y="411"/>
                  </a:lnTo>
                  <a:lnTo>
                    <a:pt x="310" y="411"/>
                  </a:lnTo>
                  <a:lnTo>
                    <a:pt x="310" y="411"/>
                  </a:lnTo>
                  <a:lnTo>
                    <a:pt x="310" y="409"/>
                  </a:lnTo>
                  <a:lnTo>
                    <a:pt x="310" y="409"/>
                  </a:lnTo>
                  <a:lnTo>
                    <a:pt x="310" y="407"/>
                  </a:lnTo>
                  <a:lnTo>
                    <a:pt x="310" y="406"/>
                  </a:lnTo>
                  <a:lnTo>
                    <a:pt x="310" y="406"/>
                  </a:lnTo>
                  <a:lnTo>
                    <a:pt x="310" y="404"/>
                  </a:lnTo>
                  <a:lnTo>
                    <a:pt x="310" y="402"/>
                  </a:lnTo>
                  <a:lnTo>
                    <a:pt x="310" y="402"/>
                  </a:lnTo>
                  <a:lnTo>
                    <a:pt x="310" y="402"/>
                  </a:lnTo>
                  <a:lnTo>
                    <a:pt x="310" y="402"/>
                  </a:lnTo>
                  <a:lnTo>
                    <a:pt x="307" y="400"/>
                  </a:lnTo>
                  <a:lnTo>
                    <a:pt x="307" y="400"/>
                  </a:lnTo>
                  <a:lnTo>
                    <a:pt x="307" y="400"/>
                  </a:lnTo>
                  <a:lnTo>
                    <a:pt x="307" y="400"/>
                  </a:lnTo>
                  <a:lnTo>
                    <a:pt x="307" y="400"/>
                  </a:lnTo>
                  <a:lnTo>
                    <a:pt x="307" y="398"/>
                  </a:lnTo>
                  <a:lnTo>
                    <a:pt x="305" y="398"/>
                  </a:lnTo>
                  <a:lnTo>
                    <a:pt x="305" y="398"/>
                  </a:lnTo>
                  <a:lnTo>
                    <a:pt x="305" y="398"/>
                  </a:lnTo>
                  <a:lnTo>
                    <a:pt x="303" y="398"/>
                  </a:lnTo>
                  <a:lnTo>
                    <a:pt x="303" y="398"/>
                  </a:lnTo>
                  <a:lnTo>
                    <a:pt x="301" y="398"/>
                  </a:lnTo>
                  <a:lnTo>
                    <a:pt x="301" y="398"/>
                  </a:lnTo>
                  <a:lnTo>
                    <a:pt x="301" y="400"/>
                  </a:lnTo>
                  <a:lnTo>
                    <a:pt x="301" y="400"/>
                  </a:lnTo>
                  <a:lnTo>
                    <a:pt x="301" y="402"/>
                  </a:lnTo>
                  <a:lnTo>
                    <a:pt x="301" y="402"/>
                  </a:lnTo>
                  <a:lnTo>
                    <a:pt x="303" y="404"/>
                  </a:lnTo>
                  <a:lnTo>
                    <a:pt x="305" y="406"/>
                  </a:lnTo>
                  <a:lnTo>
                    <a:pt x="303" y="406"/>
                  </a:lnTo>
                  <a:lnTo>
                    <a:pt x="303" y="406"/>
                  </a:lnTo>
                  <a:lnTo>
                    <a:pt x="303" y="406"/>
                  </a:lnTo>
                  <a:lnTo>
                    <a:pt x="301" y="406"/>
                  </a:lnTo>
                  <a:lnTo>
                    <a:pt x="299" y="404"/>
                  </a:lnTo>
                  <a:lnTo>
                    <a:pt x="299" y="402"/>
                  </a:lnTo>
                  <a:lnTo>
                    <a:pt x="297" y="402"/>
                  </a:lnTo>
                  <a:lnTo>
                    <a:pt x="297" y="402"/>
                  </a:lnTo>
                  <a:lnTo>
                    <a:pt x="293" y="402"/>
                  </a:lnTo>
                  <a:lnTo>
                    <a:pt x="293" y="400"/>
                  </a:lnTo>
                  <a:lnTo>
                    <a:pt x="291" y="400"/>
                  </a:lnTo>
                  <a:lnTo>
                    <a:pt x="291" y="398"/>
                  </a:lnTo>
                  <a:lnTo>
                    <a:pt x="291" y="398"/>
                  </a:lnTo>
                  <a:lnTo>
                    <a:pt x="291" y="398"/>
                  </a:lnTo>
                  <a:lnTo>
                    <a:pt x="291" y="398"/>
                  </a:lnTo>
                  <a:lnTo>
                    <a:pt x="291" y="398"/>
                  </a:lnTo>
                  <a:lnTo>
                    <a:pt x="289" y="398"/>
                  </a:lnTo>
                  <a:lnTo>
                    <a:pt x="287" y="398"/>
                  </a:lnTo>
                  <a:lnTo>
                    <a:pt x="286" y="398"/>
                  </a:lnTo>
                  <a:lnTo>
                    <a:pt x="284" y="398"/>
                  </a:lnTo>
                  <a:lnTo>
                    <a:pt x="282" y="398"/>
                  </a:lnTo>
                  <a:lnTo>
                    <a:pt x="282" y="396"/>
                  </a:lnTo>
                  <a:lnTo>
                    <a:pt x="280" y="396"/>
                  </a:lnTo>
                  <a:lnTo>
                    <a:pt x="280" y="396"/>
                  </a:lnTo>
                  <a:lnTo>
                    <a:pt x="278" y="398"/>
                  </a:lnTo>
                  <a:lnTo>
                    <a:pt x="278" y="400"/>
                  </a:lnTo>
                  <a:lnTo>
                    <a:pt x="276" y="402"/>
                  </a:lnTo>
                  <a:lnTo>
                    <a:pt x="276" y="402"/>
                  </a:lnTo>
                  <a:lnTo>
                    <a:pt x="276" y="402"/>
                  </a:lnTo>
                  <a:lnTo>
                    <a:pt x="276" y="406"/>
                  </a:lnTo>
                  <a:lnTo>
                    <a:pt x="276" y="406"/>
                  </a:lnTo>
                  <a:lnTo>
                    <a:pt x="276" y="406"/>
                  </a:lnTo>
                  <a:lnTo>
                    <a:pt x="274" y="407"/>
                  </a:lnTo>
                  <a:lnTo>
                    <a:pt x="274" y="407"/>
                  </a:lnTo>
                  <a:lnTo>
                    <a:pt x="272" y="407"/>
                  </a:lnTo>
                  <a:lnTo>
                    <a:pt x="270" y="406"/>
                  </a:lnTo>
                  <a:lnTo>
                    <a:pt x="268" y="406"/>
                  </a:lnTo>
                  <a:lnTo>
                    <a:pt x="265" y="406"/>
                  </a:lnTo>
                  <a:lnTo>
                    <a:pt x="259" y="404"/>
                  </a:lnTo>
                  <a:lnTo>
                    <a:pt x="259" y="404"/>
                  </a:lnTo>
                  <a:lnTo>
                    <a:pt x="259" y="402"/>
                  </a:lnTo>
                  <a:lnTo>
                    <a:pt x="261" y="402"/>
                  </a:lnTo>
                  <a:lnTo>
                    <a:pt x="261" y="402"/>
                  </a:lnTo>
                  <a:lnTo>
                    <a:pt x="261" y="400"/>
                  </a:lnTo>
                  <a:lnTo>
                    <a:pt x="261" y="400"/>
                  </a:lnTo>
                  <a:lnTo>
                    <a:pt x="261" y="400"/>
                  </a:lnTo>
                  <a:lnTo>
                    <a:pt x="257" y="398"/>
                  </a:lnTo>
                  <a:lnTo>
                    <a:pt x="257" y="398"/>
                  </a:lnTo>
                  <a:lnTo>
                    <a:pt x="255" y="396"/>
                  </a:lnTo>
                  <a:lnTo>
                    <a:pt x="255" y="396"/>
                  </a:lnTo>
                  <a:lnTo>
                    <a:pt x="255" y="394"/>
                  </a:lnTo>
                  <a:lnTo>
                    <a:pt x="255" y="394"/>
                  </a:lnTo>
                  <a:lnTo>
                    <a:pt x="255" y="392"/>
                  </a:lnTo>
                  <a:lnTo>
                    <a:pt x="255" y="392"/>
                  </a:lnTo>
                  <a:lnTo>
                    <a:pt x="255" y="390"/>
                  </a:lnTo>
                  <a:lnTo>
                    <a:pt x="255" y="390"/>
                  </a:lnTo>
                  <a:lnTo>
                    <a:pt x="257" y="390"/>
                  </a:lnTo>
                  <a:lnTo>
                    <a:pt x="257" y="390"/>
                  </a:lnTo>
                  <a:lnTo>
                    <a:pt x="257" y="390"/>
                  </a:lnTo>
                  <a:lnTo>
                    <a:pt x="257" y="390"/>
                  </a:lnTo>
                  <a:lnTo>
                    <a:pt x="259" y="390"/>
                  </a:lnTo>
                  <a:lnTo>
                    <a:pt x="259" y="390"/>
                  </a:lnTo>
                  <a:lnTo>
                    <a:pt x="259" y="390"/>
                  </a:lnTo>
                  <a:lnTo>
                    <a:pt x="259" y="390"/>
                  </a:lnTo>
                  <a:lnTo>
                    <a:pt x="261" y="388"/>
                  </a:lnTo>
                  <a:lnTo>
                    <a:pt x="261" y="388"/>
                  </a:lnTo>
                  <a:lnTo>
                    <a:pt x="261" y="387"/>
                  </a:lnTo>
                  <a:lnTo>
                    <a:pt x="261" y="387"/>
                  </a:lnTo>
                  <a:lnTo>
                    <a:pt x="261" y="385"/>
                  </a:lnTo>
                  <a:lnTo>
                    <a:pt x="261" y="385"/>
                  </a:lnTo>
                  <a:lnTo>
                    <a:pt x="261" y="383"/>
                  </a:lnTo>
                  <a:lnTo>
                    <a:pt x="261" y="383"/>
                  </a:lnTo>
                  <a:lnTo>
                    <a:pt x="259" y="383"/>
                  </a:lnTo>
                  <a:lnTo>
                    <a:pt x="257" y="383"/>
                  </a:lnTo>
                  <a:lnTo>
                    <a:pt x="255" y="383"/>
                  </a:lnTo>
                  <a:lnTo>
                    <a:pt x="255" y="383"/>
                  </a:lnTo>
                  <a:lnTo>
                    <a:pt x="255" y="383"/>
                  </a:lnTo>
                  <a:lnTo>
                    <a:pt x="253" y="383"/>
                  </a:lnTo>
                  <a:lnTo>
                    <a:pt x="253" y="383"/>
                  </a:lnTo>
                  <a:lnTo>
                    <a:pt x="251" y="383"/>
                  </a:lnTo>
                  <a:lnTo>
                    <a:pt x="251" y="383"/>
                  </a:lnTo>
                  <a:lnTo>
                    <a:pt x="251" y="383"/>
                  </a:lnTo>
                  <a:lnTo>
                    <a:pt x="251" y="381"/>
                  </a:lnTo>
                  <a:lnTo>
                    <a:pt x="249" y="379"/>
                  </a:lnTo>
                  <a:lnTo>
                    <a:pt x="249" y="379"/>
                  </a:lnTo>
                  <a:lnTo>
                    <a:pt x="249" y="377"/>
                  </a:lnTo>
                  <a:lnTo>
                    <a:pt x="247" y="377"/>
                  </a:lnTo>
                  <a:lnTo>
                    <a:pt x="247" y="377"/>
                  </a:lnTo>
                  <a:lnTo>
                    <a:pt x="246" y="377"/>
                  </a:lnTo>
                  <a:lnTo>
                    <a:pt x="246" y="375"/>
                  </a:lnTo>
                  <a:lnTo>
                    <a:pt x="246" y="375"/>
                  </a:lnTo>
                  <a:lnTo>
                    <a:pt x="244" y="371"/>
                  </a:lnTo>
                  <a:lnTo>
                    <a:pt x="244" y="369"/>
                  </a:lnTo>
                  <a:lnTo>
                    <a:pt x="244" y="367"/>
                  </a:lnTo>
                  <a:lnTo>
                    <a:pt x="244" y="366"/>
                  </a:lnTo>
                  <a:lnTo>
                    <a:pt x="246" y="364"/>
                  </a:lnTo>
                  <a:lnTo>
                    <a:pt x="246" y="362"/>
                  </a:lnTo>
                  <a:lnTo>
                    <a:pt x="246" y="360"/>
                  </a:lnTo>
                  <a:lnTo>
                    <a:pt x="246" y="360"/>
                  </a:lnTo>
                  <a:lnTo>
                    <a:pt x="246" y="356"/>
                  </a:lnTo>
                  <a:lnTo>
                    <a:pt x="246" y="356"/>
                  </a:lnTo>
                  <a:lnTo>
                    <a:pt x="247" y="356"/>
                  </a:lnTo>
                  <a:lnTo>
                    <a:pt x="249" y="354"/>
                  </a:lnTo>
                  <a:lnTo>
                    <a:pt x="249" y="354"/>
                  </a:lnTo>
                  <a:lnTo>
                    <a:pt x="249" y="354"/>
                  </a:lnTo>
                  <a:lnTo>
                    <a:pt x="249" y="354"/>
                  </a:lnTo>
                  <a:lnTo>
                    <a:pt x="251" y="347"/>
                  </a:lnTo>
                  <a:lnTo>
                    <a:pt x="251" y="345"/>
                  </a:lnTo>
                  <a:lnTo>
                    <a:pt x="251" y="343"/>
                  </a:lnTo>
                  <a:lnTo>
                    <a:pt x="251" y="341"/>
                  </a:lnTo>
                  <a:lnTo>
                    <a:pt x="251" y="341"/>
                  </a:lnTo>
                  <a:lnTo>
                    <a:pt x="251" y="339"/>
                  </a:lnTo>
                  <a:lnTo>
                    <a:pt x="251" y="339"/>
                  </a:lnTo>
                  <a:lnTo>
                    <a:pt x="249" y="339"/>
                  </a:lnTo>
                  <a:lnTo>
                    <a:pt x="249" y="339"/>
                  </a:lnTo>
                  <a:lnTo>
                    <a:pt x="249" y="337"/>
                  </a:lnTo>
                  <a:lnTo>
                    <a:pt x="247" y="337"/>
                  </a:lnTo>
                  <a:lnTo>
                    <a:pt x="246" y="337"/>
                  </a:lnTo>
                  <a:lnTo>
                    <a:pt x="246" y="337"/>
                  </a:lnTo>
                  <a:lnTo>
                    <a:pt x="244" y="335"/>
                  </a:lnTo>
                  <a:lnTo>
                    <a:pt x="242" y="335"/>
                  </a:lnTo>
                  <a:lnTo>
                    <a:pt x="242" y="335"/>
                  </a:lnTo>
                  <a:lnTo>
                    <a:pt x="242" y="335"/>
                  </a:lnTo>
                  <a:lnTo>
                    <a:pt x="242" y="333"/>
                  </a:lnTo>
                  <a:lnTo>
                    <a:pt x="244" y="333"/>
                  </a:lnTo>
                  <a:lnTo>
                    <a:pt x="244" y="333"/>
                  </a:lnTo>
                  <a:lnTo>
                    <a:pt x="244" y="331"/>
                  </a:lnTo>
                  <a:lnTo>
                    <a:pt x="244" y="331"/>
                  </a:lnTo>
                  <a:lnTo>
                    <a:pt x="244" y="329"/>
                  </a:lnTo>
                  <a:lnTo>
                    <a:pt x="244" y="328"/>
                  </a:lnTo>
                  <a:lnTo>
                    <a:pt x="246" y="326"/>
                  </a:lnTo>
                  <a:lnTo>
                    <a:pt x="247" y="326"/>
                  </a:lnTo>
                  <a:lnTo>
                    <a:pt x="255" y="329"/>
                  </a:lnTo>
                  <a:lnTo>
                    <a:pt x="257" y="329"/>
                  </a:lnTo>
                  <a:lnTo>
                    <a:pt x="259" y="329"/>
                  </a:lnTo>
                  <a:lnTo>
                    <a:pt x="261" y="331"/>
                  </a:lnTo>
                  <a:lnTo>
                    <a:pt x="263" y="331"/>
                  </a:lnTo>
                  <a:lnTo>
                    <a:pt x="263" y="331"/>
                  </a:lnTo>
                  <a:lnTo>
                    <a:pt x="265" y="331"/>
                  </a:lnTo>
                  <a:lnTo>
                    <a:pt x="265" y="331"/>
                  </a:lnTo>
                  <a:lnTo>
                    <a:pt x="266" y="331"/>
                  </a:lnTo>
                  <a:lnTo>
                    <a:pt x="266" y="331"/>
                  </a:lnTo>
                  <a:lnTo>
                    <a:pt x="268" y="331"/>
                  </a:lnTo>
                  <a:lnTo>
                    <a:pt x="268" y="331"/>
                  </a:lnTo>
                  <a:lnTo>
                    <a:pt x="268" y="331"/>
                  </a:lnTo>
                  <a:lnTo>
                    <a:pt x="270" y="331"/>
                  </a:lnTo>
                  <a:lnTo>
                    <a:pt x="270" y="333"/>
                  </a:lnTo>
                  <a:lnTo>
                    <a:pt x="270" y="333"/>
                  </a:lnTo>
                  <a:lnTo>
                    <a:pt x="270" y="333"/>
                  </a:lnTo>
                  <a:lnTo>
                    <a:pt x="272" y="333"/>
                  </a:lnTo>
                  <a:lnTo>
                    <a:pt x="272" y="333"/>
                  </a:lnTo>
                  <a:lnTo>
                    <a:pt x="272" y="333"/>
                  </a:lnTo>
                  <a:lnTo>
                    <a:pt x="276" y="329"/>
                  </a:lnTo>
                  <a:lnTo>
                    <a:pt x="276" y="329"/>
                  </a:lnTo>
                  <a:lnTo>
                    <a:pt x="276" y="328"/>
                  </a:lnTo>
                  <a:lnTo>
                    <a:pt x="278" y="326"/>
                  </a:lnTo>
                  <a:lnTo>
                    <a:pt x="278" y="324"/>
                  </a:lnTo>
                  <a:lnTo>
                    <a:pt x="278" y="324"/>
                  </a:lnTo>
                  <a:lnTo>
                    <a:pt x="280" y="324"/>
                  </a:lnTo>
                  <a:lnTo>
                    <a:pt x="280" y="322"/>
                  </a:lnTo>
                  <a:lnTo>
                    <a:pt x="280" y="322"/>
                  </a:lnTo>
                  <a:lnTo>
                    <a:pt x="280" y="320"/>
                  </a:lnTo>
                  <a:lnTo>
                    <a:pt x="280" y="320"/>
                  </a:lnTo>
                  <a:lnTo>
                    <a:pt x="280" y="316"/>
                  </a:lnTo>
                  <a:lnTo>
                    <a:pt x="280" y="316"/>
                  </a:lnTo>
                  <a:lnTo>
                    <a:pt x="278" y="310"/>
                  </a:lnTo>
                  <a:lnTo>
                    <a:pt x="278" y="305"/>
                  </a:lnTo>
                  <a:lnTo>
                    <a:pt x="276" y="303"/>
                  </a:lnTo>
                  <a:lnTo>
                    <a:pt x="276" y="303"/>
                  </a:lnTo>
                  <a:lnTo>
                    <a:pt x="274" y="303"/>
                  </a:lnTo>
                  <a:lnTo>
                    <a:pt x="272" y="301"/>
                  </a:lnTo>
                  <a:lnTo>
                    <a:pt x="270" y="301"/>
                  </a:lnTo>
                  <a:lnTo>
                    <a:pt x="270" y="301"/>
                  </a:lnTo>
                  <a:lnTo>
                    <a:pt x="270" y="299"/>
                  </a:lnTo>
                  <a:lnTo>
                    <a:pt x="268" y="293"/>
                  </a:lnTo>
                  <a:lnTo>
                    <a:pt x="268" y="293"/>
                  </a:lnTo>
                  <a:lnTo>
                    <a:pt x="268" y="291"/>
                  </a:lnTo>
                  <a:lnTo>
                    <a:pt x="268" y="291"/>
                  </a:lnTo>
                  <a:lnTo>
                    <a:pt x="266" y="291"/>
                  </a:lnTo>
                  <a:lnTo>
                    <a:pt x="266" y="290"/>
                  </a:lnTo>
                  <a:lnTo>
                    <a:pt x="266" y="288"/>
                  </a:lnTo>
                  <a:lnTo>
                    <a:pt x="265" y="286"/>
                  </a:lnTo>
                  <a:lnTo>
                    <a:pt x="265" y="286"/>
                  </a:lnTo>
                  <a:lnTo>
                    <a:pt x="265" y="286"/>
                  </a:lnTo>
                  <a:lnTo>
                    <a:pt x="265" y="284"/>
                  </a:lnTo>
                  <a:lnTo>
                    <a:pt x="265" y="284"/>
                  </a:lnTo>
                  <a:lnTo>
                    <a:pt x="266" y="284"/>
                  </a:lnTo>
                  <a:lnTo>
                    <a:pt x="268" y="286"/>
                  </a:lnTo>
                  <a:lnTo>
                    <a:pt x="268" y="286"/>
                  </a:lnTo>
                  <a:lnTo>
                    <a:pt x="268" y="286"/>
                  </a:lnTo>
                  <a:lnTo>
                    <a:pt x="268" y="286"/>
                  </a:lnTo>
                  <a:lnTo>
                    <a:pt x="268" y="284"/>
                  </a:lnTo>
                  <a:lnTo>
                    <a:pt x="268" y="280"/>
                  </a:lnTo>
                  <a:lnTo>
                    <a:pt x="268" y="274"/>
                  </a:lnTo>
                  <a:lnTo>
                    <a:pt x="268" y="274"/>
                  </a:lnTo>
                  <a:lnTo>
                    <a:pt x="268" y="274"/>
                  </a:lnTo>
                  <a:lnTo>
                    <a:pt x="268" y="274"/>
                  </a:lnTo>
                  <a:lnTo>
                    <a:pt x="268" y="272"/>
                  </a:lnTo>
                  <a:lnTo>
                    <a:pt x="270" y="270"/>
                  </a:lnTo>
                  <a:lnTo>
                    <a:pt x="270" y="270"/>
                  </a:lnTo>
                  <a:lnTo>
                    <a:pt x="272" y="270"/>
                  </a:lnTo>
                  <a:lnTo>
                    <a:pt x="272" y="270"/>
                  </a:lnTo>
                  <a:lnTo>
                    <a:pt x="272" y="270"/>
                  </a:lnTo>
                  <a:lnTo>
                    <a:pt x="274" y="270"/>
                  </a:lnTo>
                  <a:lnTo>
                    <a:pt x="274" y="270"/>
                  </a:lnTo>
                  <a:lnTo>
                    <a:pt x="276" y="270"/>
                  </a:lnTo>
                  <a:lnTo>
                    <a:pt x="276" y="270"/>
                  </a:lnTo>
                  <a:lnTo>
                    <a:pt x="274" y="269"/>
                  </a:lnTo>
                  <a:lnTo>
                    <a:pt x="274" y="265"/>
                  </a:lnTo>
                  <a:lnTo>
                    <a:pt x="272" y="263"/>
                  </a:lnTo>
                  <a:lnTo>
                    <a:pt x="272" y="263"/>
                  </a:lnTo>
                  <a:lnTo>
                    <a:pt x="272" y="263"/>
                  </a:lnTo>
                  <a:lnTo>
                    <a:pt x="272" y="263"/>
                  </a:lnTo>
                  <a:lnTo>
                    <a:pt x="270" y="263"/>
                  </a:lnTo>
                  <a:lnTo>
                    <a:pt x="270" y="261"/>
                  </a:lnTo>
                  <a:lnTo>
                    <a:pt x="270" y="259"/>
                  </a:lnTo>
                  <a:lnTo>
                    <a:pt x="270" y="255"/>
                  </a:lnTo>
                  <a:lnTo>
                    <a:pt x="270" y="253"/>
                  </a:lnTo>
                  <a:lnTo>
                    <a:pt x="270" y="251"/>
                  </a:lnTo>
                  <a:lnTo>
                    <a:pt x="270" y="250"/>
                  </a:lnTo>
                  <a:lnTo>
                    <a:pt x="274" y="246"/>
                  </a:lnTo>
                  <a:lnTo>
                    <a:pt x="282" y="242"/>
                  </a:lnTo>
                  <a:lnTo>
                    <a:pt x="284" y="242"/>
                  </a:lnTo>
                  <a:lnTo>
                    <a:pt x="289" y="240"/>
                  </a:lnTo>
                  <a:lnTo>
                    <a:pt x="289" y="240"/>
                  </a:lnTo>
                  <a:lnTo>
                    <a:pt x="291" y="242"/>
                  </a:lnTo>
                  <a:lnTo>
                    <a:pt x="293" y="242"/>
                  </a:lnTo>
                  <a:lnTo>
                    <a:pt x="297" y="242"/>
                  </a:lnTo>
                  <a:lnTo>
                    <a:pt x="308" y="242"/>
                  </a:lnTo>
                  <a:lnTo>
                    <a:pt x="308" y="242"/>
                  </a:lnTo>
                  <a:lnTo>
                    <a:pt x="308" y="242"/>
                  </a:lnTo>
                  <a:lnTo>
                    <a:pt x="310" y="242"/>
                  </a:lnTo>
                  <a:lnTo>
                    <a:pt x="312" y="240"/>
                  </a:lnTo>
                  <a:lnTo>
                    <a:pt x="312" y="238"/>
                  </a:lnTo>
                  <a:lnTo>
                    <a:pt x="312" y="238"/>
                  </a:lnTo>
                  <a:lnTo>
                    <a:pt x="312" y="234"/>
                  </a:lnTo>
                  <a:lnTo>
                    <a:pt x="312" y="232"/>
                  </a:lnTo>
                  <a:lnTo>
                    <a:pt x="312" y="229"/>
                  </a:lnTo>
                  <a:lnTo>
                    <a:pt x="312" y="227"/>
                  </a:lnTo>
                  <a:lnTo>
                    <a:pt x="312" y="223"/>
                  </a:lnTo>
                  <a:lnTo>
                    <a:pt x="312" y="221"/>
                  </a:lnTo>
                  <a:lnTo>
                    <a:pt x="312" y="219"/>
                  </a:lnTo>
                  <a:lnTo>
                    <a:pt x="312" y="217"/>
                  </a:lnTo>
                  <a:lnTo>
                    <a:pt x="312" y="217"/>
                  </a:lnTo>
                  <a:lnTo>
                    <a:pt x="312" y="213"/>
                  </a:lnTo>
                  <a:lnTo>
                    <a:pt x="314" y="213"/>
                  </a:lnTo>
                  <a:lnTo>
                    <a:pt x="314" y="212"/>
                  </a:lnTo>
                  <a:lnTo>
                    <a:pt x="314" y="212"/>
                  </a:lnTo>
                  <a:lnTo>
                    <a:pt x="316" y="210"/>
                  </a:lnTo>
                  <a:lnTo>
                    <a:pt x="318" y="210"/>
                  </a:lnTo>
                  <a:lnTo>
                    <a:pt x="318" y="208"/>
                  </a:lnTo>
                  <a:lnTo>
                    <a:pt x="318" y="208"/>
                  </a:lnTo>
                  <a:lnTo>
                    <a:pt x="320" y="206"/>
                  </a:lnTo>
                  <a:lnTo>
                    <a:pt x="318" y="206"/>
                  </a:lnTo>
                  <a:lnTo>
                    <a:pt x="318" y="204"/>
                  </a:lnTo>
                  <a:lnTo>
                    <a:pt x="318" y="204"/>
                  </a:lnTo>
                  <a:lnTo>
                    <a:pt x="314" y="202"/>
                  </a:lnTo>
                  <a:lnTo>
                    <a:pt x="312" y="202"/>
                  </a:lnTo>
                  <a:lnTo>
                    <a:pt x="307" y="202"/>
                  </a:lnTo>
                  <a:lnTo>
                    <a:pt x="305" y="202"/>
                  </a:lnTo>
                  <a:lnTo>
                    <a:pt x="295" y="198"/>
                  </a:lnTo>
                  <a:lnTo>
                    <a:pt x="295" y="198"/>
                  </a:lnTo>
                  <a:lnTo>
                    <a:pt x="291" y="194"/>
                  </a:lnTo>
                  <a:lnTo>
                    <a:pt x="291" y="194"/>
                  </a:lnTo>
                  <a:lnTo>
                    <a:pt x="293" y="194"/>
                  </a:lnTo>
                  <a:lnTo>
                    <a:pt x="297" y="191"/>
                  </a:lnTo>
                  <a:lnTo>
                    <a:pt x="299" y="189"/>
                  </a:lnTo>
                  <a:lnTo>
                    <a:pt x="303" y="189"/>
                  </a:lnTo>
                  <a:lnTo>
                    <a:pt x="303" y="187"/>
                  </a:lnTo>
                  <a:lnTo>
                    <a:pt x="303" y="187"/>
                  </a:lnTo>
                  <a:lnTo>
                    <a:pt x="303" y="185"/>
                  </a:lnTo>
                  <a:lnTo>
                    <a:pt x="305" y="183"/>
                  </a:lnTo>
                  <a:lnTo>
                    <a:pt x="305" y="183"/>
                  </a:lnTo>
                  <a:lnTo>
                    <a:pt x="307" y="183"/>
                  </a:lnTo>
                  <a:lnTo>
                    <a:pt x="307" y="181"/>
                  </a:lnTo>
                  <a:lnTo>
                    <a:pt x="308" y="181"/>
                  </a:lnTo>
                  <a:lnTo>
                    <a:pt x="308" y="179"/>
                  </a:lnTo>
                  <a:lnTo>
                    <a:pt x="308" y="179"/>
                  </a:lnTo>
                  <a:lnTo>
                    <a:pt x="308" y="177"/>
                  </a:lnTo>
                  <a:lnTo>
                    <a:pt x="308" y="177"/>
                  </a:lnTo>
                  <a:lnTo>
                    <a:pt x="308" y="175"/>
                  </a:lnTo>
                  <a:lnTo>
                    <a:pt x="308" y="175"/>
                  </a:lnTo>
                  <a:lnTo>
                    <a:pt x="308" y="175"/>
                  </a:lnTo>
                  <a:lnTo>
                    <a:pt x="307" y="175"/>
                  </a:lnTo>
                  <a:lnTo>
                    <a:pt x="307" y="175"/>
                  </a:lnTo>
                  <a:lnTo>
                    <a:pt x="307" y="175"/>
                  </a:lnTo>
                  <a:lnTo>
                    <a:pt x="307" y="175"/>
                  </a:lnTo>
                  <a:lnTo>
                    <a:pt x="307" y="174"/>
                  </a:lnTo>
                  <a:lnTo>
                    <a:pt x="307" y="174"/>
                  </a:lnTo>
                  <a:lnTo>
                    <a:pt x="308" y="172"/>
                  </a:lnTo>
                  <a:lnTo>
                    <a:pt x="308" y="172"/>
                  </a:lnTo>
                  <a:lnTo>
                    <a:pt x="308" y="172"/>
                  </a:lnTo>
                  <a:lnTo>
                    <a:pt x="308" y="170"/>
                  </a:lnTo>
                  <a:lnTo>
                    <a:pt x="307" y="170"/>
                  </a:lnTo>
                  <a:lnTo>
                    <a:pt x="307" y="170"/>
                  </a:lnTo>
                  <a:lnTo>
                    <a:pt x="307" y="168"/>
                  </a:lnTo>
                  <a:lnTo>
                    <a:pt x="307" y="168"/>
                  </a:lnTo>
                  <a:lnTo>
                    <a:pt x="307" y="164"/>
                  </a:lnTo>
                  <a:lnTo>
                    <a:pt x="307" y="162"/>
                  </a:lnTo>
                  <a:lnTo>
                    <a:pt x="307" y="162"/>
                  </a:lnTo>
                  <a:lnTo>
                    <a:pt x="308" y="162"/>
                  </a:lnTo>
                  <a:lnTo>
                    <a:pt x="308" y="160"/>
                  </a:lnTo>
                  <a:lnTo>
                    <a:pt x="308" y="149"/>
                  </a:lnTo>
                  <a:lnTo>
                    <a:pt x="308" y="147"/>
                  </a:lnTo>
                  <a:lnTo>
                    <a:pt x="308" y="145"/>
                  </a:lnTo>
                  <a:lnTo>
                    <a:pt x="310" y="143"/>
                  </a:lnTo>
                  <a:lnTo>
                    <a:pt x="310" y="141"/>
                  </a:lnTo>
                  <a:lnTo>
                    <a:pt x="310" y="139"/>
                  </a:lnTo>
                  <a:lnTo>
                    <a:pt x="310" y="137"/>
                  </a:lnTo>
                  <a:lnTo>
                    <a:pt x="308" y="134"/>
                  </a:lnTo>
                  <a:lnTo>
                    <a:pt x="308" y="134"/>
                  </a:lnTo>
                  <a:lnTo>
                    <a:pt x="307" y="130"/>
                  </a:lnTo>
                  <a:lnTo>
                    <a:pt x="307" y="128"/>
                  </a:lnTo>
                  <a:lnTo>
                    <a:pt x="307" y="128"/>
                  </a:lnTo>
                  <a:lnTo>
                    <a:pt x="305" y="128"/>
                  </a:lnTo>
                  <a:lnTo>
                    <a:pt x="303" y="126"/>
                  </a:lnTo>
                  <a:lnTo>
                    <a:pt x="303" y="126"/>
                  </a:lnTo>
                  <a:lnTo>
                    <a:pt x="303" y="126"/>
                  </a:lnTo>
                  <a:lnTo>
                    <a:pt x="301" y="124"/>
                  </a:lnTo>
                  <a:lnTo>
                    <a:pt x="301" y="124"/>
                  </a:lnTo>
                  <a:lnTo>
                    <a:pt x="303" y="120"/>
                  </a:lnTo>
                  <a:lnTo>
                    <a:pt x="314" y="105"/>
                  </a:lnTo>
                  <a:lnTo>
                    <a:pt x="314" y="103"/>
                  </a:lnTo>
                  <a:lnTo>
                    <a:pt x="316" y="101"/>
                  </a:lnTo>
                  <a:lnTo>
                    <a:pt x="316" y="101"/>
                  </a:lnTo>
                  <a:lnTo>
                    <a:pt x="318" y="99"/>
                  </a:lnTo>
                  <a:lnTo>
                    <a:pt x="318" y="99"/>
                  </a:lnTo>
                  <a:lnTo>
                    <a:pt x="320" y="99"/>
                  </a:lnTo>
                  <a:lnTo>
                    <a:pt x="320" y="99"/>
                  </a:lnTo>
                  <a:lnTo>
                    <a:pt x="322" y="97"/>
                  </a:lnTo>
                  <a:lnTo>
                    <a:pt x="322" y="97"/>
                  </a:lnTo>
                  <a:lnTo>
                    <a:pt x="322" y="96"/>
                  </a:lnTo>
                  <a:lnTo>
                    <a:pt x="324" y="96"/>
                  </a:lnTo>
                  <a:lnTo>
                    <a:pt x="327" y="94"/>
                  </a:lnTo>
                  <a:lnTo>
                    <a:pt x="327" y="94"/>
                  </a:lnTo>
                  <a:lnTo>
                    <a:pt x="327" y="94"/>
                  </a:lnTo>
                  <a:lnTo>
                    <a:pt x="331" y="88"/>
                  </a:lnTo>
                  <a:lnTo>
                    <a:pt x="331" y="88"/>
                  </a:lnTo>
                  <a:lnTo>
                    <a:pt x="331" y="86"/>
                  </a:lnTo>
                  <a:lnTo>
                    <a:pt x="329" y="86"/>
                  </a:lnTo>
                  <a:lnTo>
                    <a:pt x="327" y="86"/>
                  </a:lnTo>
                  <a:lnTo>
                    <a:pt x="327" y="88"/>
                  </a:lnTo>
                  <a:lnTo>
                    <a:pt x="326" y="88"/>
                  </a:lnTo>
                  <a:lnTo>
                    <a:pt x="324" y="90"/>
                  </a:lnTo>
                  <a:lnTo>
                    <a:pt x="324" y="90"/>
                  </a:lnTo>
                  <a:lnTo>
                    <a:pt x="322" y="90"/>
                  </a:lnTo>
                  <a:lnTo>
                    <a:pt x="322" y="88"/>
                  </a:lnTo>
                  <a:lnTo>
                    <a:pt x="322" y="86"/>
                  </a:lnTo>
                  <a:lnTo>
                    <a:pt x="318" y="86"/>
                  </a:lnTo>
                  <a:lnTo>
                    <a:pt x="318" y="86"/>
                  </a:lnTo>
                  <a:lnTo>
                    <a:pt x="316" y="86"/>
                  </a:lnTo>
                  <a:lnTo>
                    <a:pt x="314" y="86"/>
                  </a:lnTo>
                  <a:lnTo>
                    <a:pt x="314" y="86"/>
                  </a:lnTo>
                  <a:lnTo>
                    <a:pt x="312" y="86"/>
                  </a:lnTo>
                  <a:lnTo>
                    <a:pt x="310" y="84"/>
                  </a:lnTo>
                  <a:lnTo>
                    <a:pt x="310" y="84"/>
                  </a:lnTo>
                  <a:lnTo>
                    <a:pt x="307" y="82"/>
                  </a:lnTo>
                  <a:lnTo>
                    <a:pt x="307" y="80"/>
                  </a:lnTo>
                  <a:lnTo>
                    <a:pt x="307" y="78"/>
                  </a:lnTo>
                  <a:lnTo>
                    <a:pt x="310" y="75"/>
                  </a:lnTo>
                  <a:lnTo>
                    <a:pt x="310" y="73"/>
                  </a:lnTo>
                  <a:lnTo>
                    <a:pt x="312" y="73"/>
                  </a:lnTo>
                  <a:lnTo>
                    <a:pt x="312" y="73"/>
                  </a:lnTo>
                  <a:lnTo>
                    <a:pt x="316" y="71"/>
                  </a:lnTo>
                  <a:lnTo>
                    <a:pt x="316" y="71"/>
                  </a:lnTo>
                  <a:lnTo>
                    <a:pt x="316" y="69"/>
                  </a:lnTo>
                  <a:lnTo>
                    <a:pt x="318" y="69"/>
                  </a:lnTo>
                  <a:lnTo>
                    <a:pt x="316" y="67"/>
                  </a:lnTo>
                  <a:lnTo>
                    <a:pt x="316" y="67"/>
                  </a:lnTo>
                  <a:lnTo>
                    <a:pt x="316" y="65"/>
                  </a:lnTo>
                  <a:lnTo>
                    <a:pt x="314" y="65"/>
                  </a:lnTo>
                  <a:lnTo>
                    <a:pt x="314" y="63"/>
                  </a:lnTo>
                  <a:lnTo>
                    <a:pt x="314" y="63"/>
                  </a:lnTo>
                  <a:lnTo>
                    <a:pt x="314" y="63"/>
                  </a:lnTo>
                  <a:lnTo>
                    <a:pt x="314" y="63"/>
                  </a:lnTo>
                  <a:lnTo>
                    <a:pt x="314" y="61"/>
                  </a:lnTo>
                  <a:lnTo>
                    <a:pt x="316" y="61"/>
                  </a:lnTo>
                  <a:lnTo>
                    <a:pt x="316" y="59"/>
                  </a:lnTo>
                  <a:lnTo>
                    <a:pt x="316" y="59"/>
                  </a:lnTo>
                  <a:lnTo>
                    <a:pt x="318" y="59"/>
                  </a:lnTo>
                  <a:lnTo>
                    <a:pt x="318" y="59"/>
                  </a:lnTo>
                  <a:lnTo>
                    <a:pt x="320" y="57"/>
                  </a:lnTo>
                  <a:lnTo>
                    <a:pt x="326" y="52"/>
                  </a:lnTo>
                  <a:lnTo>
                    <a:pt x="326" y="52"/>
                  </a:lnTo>
                  <a:lnTo>
                    <a:pt x="326" y="52"/>
                  </a:lnTo>
                  <a:lnTo>
                    <a:pt x="326" y="50"/>
                  </a:lnTo>
                  <a:lnTo>
                    <a:pt x="326" y="46"/>
                  </a:lnTo>
                  <a:lnTo>
                    <a:pt x="324" y="44"/>
                  </a:lnTo>
                  <a:lnTo>
                    <a:pt x="324" y="42"/>
                  </a:lnTo>
                  <a:lnTo>
                    <a:pt x="324" y="40"/>
                  </a:lnTo>
                  <a:lnTo>
                    <a:pt x="320" y="38"/>
                  </a:lnTo>
                  <a:lnTo>
                    <a:pt x="320" y="38"/>
                  </a:lnTo>
                  <a:lnTo>
                    <a:pt x="320" y="37"/>
                  </a:lnTo>
                  <a:lnTo>
                    <a:pt x="320" y="37"/>
                  </a:lnTo>
                  <a:lnTo>
                    <a:pt x="320" y="37"/>
                  </a:lnTo>
                  <a:lnTo>
                    <a:pt x="320" y="35"/>
                  </a:lnTo>
                  <a:lnTo>
                    <a:pt x="322" y="35"/>
                  </a:lnTo>
                  <a:lnTo>
                    <a:pt x="322" y="35"/>
                  </a:lnTo>
                  <a:lnTo>
                    <a:pt x="324" y="35"/>
                  </a:lnTo>
                  <a:lnTo>
                    <a:pt x="324" y="35"/>
                  </a:lnTo>
                  <a:lnTo>
                    <a:pt x="324" y="33"/>
                  </a:lnTo>
                  <a:lnTo>
                    <a:pt x="322" y="29"/>
                  </a:lnTo>
                  <a:lnTo>
                    <a:pt x="320" y="23"/>
                  </a:lnTo>
                  <a:lnTo>
                    <a:pt x="320" y="23"/>
                  </a:lnTo>
                  <a:lnTo>
                    <a:pt x="320" y="21"/>
                  </a:lnTo>
                  <a:lnTo>
                    <a:pt x="322" y="19"/>
                  </a:lnTo>
                  <a:lnTo>
                    <a:pt x="322" y="19"/>
                  </a:lnTo>
                  <a:lnTo>
                    <a:pt x="322" y="18"/>
                  </a:lnTo>
                  <a:lnTo>
                    <a:pt x="322" y="18"/>
                  </a:lnTo>
                  <a:lnTo>
                    <a:pt x="318" y="16"/>
                  </a:lnTo>
                  <a:lnTo>
                    <a:pt x="314" y="16"/>
                  </a:lnTo>
                  <a:lnTo>
                    <a:pt x="314" y="16"/>
                  </a:lnTo>
                  <a:lnTo>
                    <a:pt x="314" y="16"/>
                  </a:lnTo>
                  <a:lnTo>
                    <a:pt x="312" y="18"/>
                  </a:lnTo>
                  <a:lnTo>
                    <a:pt x="310" y="18"/>
                  </a:lnTo>
                  <a:lnTo>
                    <a:pt x="308" y="18"/>
                  </a:lnTo>
                  <a:lnTo>
                    <a:pt x="308" y="18"/>
                  </a:lnTo>
                  <a:lnTo>
                    <a:pt x="308" y="18"/>
                  </a:lnTo>
                  <a:lnTo>
                    <a:pt x="308" y="18"/>
                  </a:lnTo>
                  <a:lnTo>
                    <a:pt x="307" y="16"/>
                  </a:lnTo>
                  <a:lnTo>
                    <a:pt x="307" y="14"/>
                  </a:lnTo>
                  <a:lnTo>
                    <a:pt x="305" y="14"/>
                  </a:lnTo>
                  <a:lnTo>
                    <a:pt x="303" y="12"/>
                  </a:lnTo>
                  <a:lnTo>
                    <a:pt x="301" y="12"/>
                  </a:lnTo>
                  <a:lnTo>
                    <a:pt x="301" y="12"/>
                  </a:lnTo>
                  <a:lnTo>
                    <a:pt x="299" y="10"/>
                  </a:lnTo>
                  <a:lnTo>
                    <a:pt x="299" y="10"/>
                  </a:lnTo>
                  <a:lnTo>
                    <a:pt x="299" y="4"/>
                  </a:lnTo>
                  <a:lnTo>
                    <a:pt x="299" y="4"/>
                  </a:lnTo>
                  <a:lnTo>
                    <a:pt x="299" y="2"/>
                  </a:lnTo>
                  <a:lnTo>
                    <a:pt x="297" y="2"/>
                  </a:lnTo>
                  <a:lnTo>
                    <a:pt x="297" y="0"/>
                  </a:lnTo>
                  <a:lnTo>
                    <a:pt x="295" y="0"/>
                  </a:lnTo>
                  <a:lnTo>
                    <a:pt x="295" y="0"/>
                  </a:lnTo>
                  <a:lnTo>
                    <a:pt x="293" y="0"/>
                  </a:lnTo>
                  <a:lnTo>
                    <a:pt x="293" y="2"/>
                  </a:lnTo>
                  <a:lnTo>
                    <a:pt x="289" y="6"/>
                  </a:lnTo>
                  <a:lnTo>
                    <a:pt x="289" y="6"/>
                  </a:lnTo>
                  <a:lnTo>
                    <a:pt x="289" y="8"/>
                  </a:lnTo>
                  <a:lnTo>
                    <a:pt x="289" y="12"/>
                  </a:lnTo>
                  <a:lnTo>
                    <a:pt x="289" y="14"/>
                  </a:lnTo>
                  <a:lnTo>
                    <a:pt x="289" y="14"/>
                  </a:lnTo>
                  <a:lnTo>
                    <a:pt x="287" y="16"/>
                  </a:lnTo>
                  <a:lnTo>
                    <a:pt x="287" y="16"/>
                  </a:lnTo>
                  <a:lnTo>
                    <a:pt x="287" y="16"/>
                  </a:lnTo>
                  <a:lnTo>
                    <a:pt x="284" y="18"/>
                  </a:lnTo>
                  <a:lnTo>
                    <a:pt x="278" y="21"/>
                  </a:lnTo>
                  <a:lnTo>
                    <a:pt x="278" y="21"/>
                  </a:lnTo>
                  <a:lnTo>
                    <a:pt x="276" y="23"/>
                  </a:lnTo>
                  <a:lnTo>
                    <a:pt x="276" y="23"/>
                  </a:lnTo>
                  <a:lnTo>
                    <a:pt x="276" y="25"/>
                  </a:lnTo>
                  <a:lnTo>
                    <a:pt x="276" y="27"/>
                  </a:lnTo>
                  <a:lnTo>
                    <a:pt x="276" y="27"/>
                  </a:lnTo>
                  <a:lnTo>
                    <a:pt x="274" y="27"/>
                  </a:lnTo>
                  <a:lnTo>
                    <a:pt x="272" y="27"/>
                  </a:lnTo>
                  <a:lnTo>
                    <a:pt x="272" y="27"/>
                  </a:lnTo>
                  <a:lnTo>
                    <a:pt x="270" y="27"/>
                  </a:lnTo>
                  <a:lnTo>
                    <a:pt x="268" y="27"/>
                  </a:lnTo>
                  <a:lnTo>
                    <a:pt x="268" y="29"/>
                  </a:lnTo>
                  <a:lnTo>
                    <a:pt x="268" y="29"/>
                  </a:lnTo>
                  <a:lnTo>
                    <a:pt x="265" y="27"/>
                  </a:lnTo>
                  <a:lnTo>
                    <a:pt x="263" y="27"/>
                  </a:lnTo>
                  <a:lnTo>
                    <a:pt x="261" y="29"/>
                  </a:lnTo>
                  <a:lnTo>
                    <a:pt x="259" y="31"/>
                  </a:lnTo>
                  <a:lnTo>
                    <a:pt x="259" y="31"/>
                  </a:lnTo>
                  <a:lnTo>
                    <a:pt x="259" y="35"/>
                  </a:lnTo>
                  <a:lnTo>
                    <a:pt x="259" y="37"/>
                  </a:lnTo>
                  <a:lnTo>
                    <a:pt x="259" y="38"/>
                  </a:lnTo>
                  <a:lnTo>
                    <a:pt x="257" y="42"/>
                  </a:lnTo>
                  <a:lnTo>
                    <a:pt x="257" y="44"/>
                  </a:lnTo>
                  <a:lnTo>
                    <a:pt x="257" y="46"/>
                  </a:lnTo>
                  <a:lnTo>
                    <a:pt x="257" y="48"/>
                  </a:lnTo>
                  <a:lnTo>
                    <a:pt x="257" y="50"/>
                  </a:lnTo>
                  <a:lnTo>
                    <a:pt x="257" y="52"/>
                  </a:lnTo>
                  <a:lnTo>
                    <a:pt x="255" y="56"/>
                  </a:lnTo>
                  <a:lnTo>
                    <a:pt x="255" y="56"/>
                  </a:lnTo>
                  <a:lnTo>
                    <a:pt x="253" y="57"/>
                  </a:lnTo>
                  <a:lnTo>
                    <a:pt x="251" y="57"/>
                  </a:lnTo>
                  <a:lnTo>
                    <a:pt x="247" y="56"/>
                  </a:lnTo>
                  <a:lnTo>
                    <a:pt x="246" y="56"/>
                  </a:lnTo>
                  <a:lnTo>
                    <a:pt x="246" y="56"/>
                  </a:lnTo>
                  <a:lnTo>
                    <a:pt x="244" y="56"/>
                  </a:lnTo>
                  <a:lnTo>
                    <a:pt x="244" y="57"/>
                  </a:lnTo>
                  <a:lnTo>
                    <a:pt x="246" y="59"/>
                  </a:lnTo>
                  <a:lnTo>
                    <a:pt x="246" y="61"/>
                  </a:lnTo>
                  <a:lnTo>
                    <a:pt x="246" y="63"/>
                  </a:lnTo>
                  <a:lnTo>
                    <a:pt x="246" y="63"/>
                  </a:lnTo>
                  <a:lnTo>
                    <a:pt x="244" y="63"/>
                  </a:lnTo>
                  <a:lnTo>
                    <a:pt x="244" y="63"/>
                  </a:lnTo>
                  <a:lnTo>
                    <a:pt x="242" y="65"/>
                  </a:lnTo>
                  <a:lnTo>
                    <a:pt x="240" y="65"/>
                  </a:lnTo>
                  <a:lnTo>
                    <a:pt x="240" y="67"/>
                  </a:lnTo>
                  <a:lnTo>
                    <a:pt x="240" y="69"/>
                  </a:lnTo>
                  <a:lnTo>
                    <a:pt x="238" y="75"/>
                  </a:lnTo>
                  <a:lnTo>
                    <a:pt x="236" y="73"/>
                  </a:lnTo>
                  <a:lnTo>
                    <a:pt x="234" y="71"/>
                  </a:lnTo>
                  <a:lnTo>
                    <a:pt x="234" y="71"/>
                  </a:lnTo>
                  <a:lnTo>
                    <a:pt x="232" y="71"/>
                  </a:lnTo>
                  <a:lnTo>
                    <a:pt x="230" y="69"/>
                  </a:lnTo>
                  <a:lnTo>
                    <a:pt x="230" y="67"/>
                  </a:lnTo>
                  <a:lnTo>
                    <a:pt x="230" y="67"/>
                  </a:lnTo>
                  <a:lnTo>
                    <a:pt x="228" y="69"/>
                  </a:lnTo>
                  <a:lnTo>
                    <a:pt x="226" y="69"/>
                  </a:lnTo>
                  <a:lnTo>
                    <a:pt x="225" y="67"/>
                  </a:lnTo>
                  <a:lnTo>
                    <a:pt x="225" y="67"/>
                  </a:lnTo>
                  <a:lnTo>
                    <a:pt x="223" y="67"/>
                  </a:lnTo>
                  <a:lnTo>
                    <a:pt x="223" y="69"/>
                  </a:lnTo>
                  <a:lnTo>
                    <a:pt x="223" y="69"/>
                  </a:lnTo>
                  <a:lnTo>
                    <a:pt x="221" y="71"/>
                  </a:lnTo>
                  <a:lnTo>
                    <a:pt x="221" y="71"/>
                  </a:lnTo>
                  <a:lnTo>
                    <a:pt x="219" y="71"/>
                  </a:lnTo>
                  <a:lnTo>
                    <a:pt x="219" y="71"/>
                  </a:lnTo>
                  <a:lnTo>
                    <a:pt x="219" y="73"/>
                  </a:lnTo>
                  <a:lnTo>
                    <a:pt x="219" y="73"/>
                  </a:lnTo>
                  <a:lnTo>
                    <a:pt x="219" y="73"/>
                  </a:lnTo>
                  <a:lnTo>
                    <a:pt x="219" y="75"/>
                  </a:lnTo>
                  <a:lnTo>
                    <a:pt x="219" y="75"/>
                  </a:lnTo>
                  <a:lnTo>
                    <a:pt x="217" y="75"/>
                  </a:lnTo>
                  <a:lnTo>
                    <a:pt x="215" y="77"/>
                  </a:lnTo>
                  <a:lnTo>
                    <a:pt x="215" y="77"/>
                  </a:lnTo>
                  <a:lnTo>
                    <a:pt x="213" y="77"/>
                  </a:lnTo>
                  <a:lnTo>
                    <a:pt x="213" y="78"/>
                  </a:lnTo>
                  <a:lnTo>
                    <a:pt x="213" y="78"/>
                  </a:lnTo>
                  <a:lnTo>
                    <a:pt x="211" y="80"/>
                  </a:lnTo>
                  <a:lnTo>
                    <a:pt x="206" y="82"/>
                  </a:lnTo>
                  <a:lnTo>
                    <a:pt x="204" y="84"/>
                  </a:lnTo>
                  <a:lnTo>
                    <a:pt x="204" y="84"/>
                  </a:lnTo>
                  <a:lnTo>
                    <a:pt x="206" y="84"/>
                  </a:lnTo>
                  <a:lnTo>
                    <a:pt x="206" y="86"/>
                  </a:lnTo>
                  <a:lnTo>
                    <a:pt x="207" y="88"/>
                  </a:lnTo>
                  <a:lnTo>
                    <a:pt x="207" y="88"/>
                  </a:lnTo>
                  <a:lnTo>
                    <a:pt x="207" y="88"/>
                  </a:lnTo>
                  <a:lnTo>
                    <a:pt x="206" y="90"/>
                  </a:lnTo>
                  <a:lnTo>
                    <a:pt x="206" y="90"/>
                  </a:lnTo>
                  <a:lnTo>
                    <a:pt x="207" y="92"/>
                  </a:lnTo>
                  <a:lnTo>
                    <a:pt x="207" y="92"/>
                  </a:lnTo>
                  <a:lnTo>
                    <a:pt x="207" y="94"/>
                  </a:lnTo>
                  <a:lnTo>
                    <a:pt x="206" y="94"/>
                  </a:lnTo>
                  <a:lnTo>
                    <a:pt x="206" y="96"/>
                  </a:lnTo>
                  <a:lnTo>
                    <a:pt x="206" y="96"/>
                  </a:lnTo>
                  <a:lnTo>
                    <a:pt x="206" y="97"/>
                  </a:lnTo>
                  <a:lnTo>
                    <a:pt x="206" y="97"/>
                  </a:lnTo>
                  <a:lnTo>
                    <a:pt x="207" y="99"/>
                  </a:lnTo>
                  <a:lnTo>
                    <a:pt x="207" y="101"/>
                  </a:lnTo>
                  <a:lnTo>
                    <a:pt x="207" y="101"/>
                  </a:lnTo>
                  <a:lnTo>
                    <a:pt x="209" y="103"/>
                  </a:lnTo>
                  <a:lnTo>
                    <a:pt x="211" y="105"/>
                  </a:lnTo>
                  <a:lnTo>
                    <a:pt x="211" y="105"/>
                  </a:lnTo>
                  <a:lnTo>
                    <a:pt x="209" y="107"/>
                  </a:lnTo>
                  <a:lnTo>
                    <a:pt x="207" y="107"/>
                  </a:lnTo>
                  <a:lnTo>
                    <a:pt x="207" y="109"/>
                  </a:lnTo>
                  <a:lnTo>
                    <a:pt x="206" y="109"/>
                  </a:lnTo>
                  <a:lnTo>
                    <a:pt x="204" y="107"/>
                  </a:lnTo>
                  <a:lnTo>
                    <a:pt x="202" y="107"/>
                  </a:lnTo>
                  <a:lnTo>
                    <a:pt x="200" y="107"/>
                  </a:lnTo>
                  <a:lnTo>
                    <a:pt x="200" y="107"/>
                  </a:lnTo>
                  <a:lnTo>
                    <a:pt x="198" y="107"/>
                  </a:lnTo>
                  <a:lnTo>
                    <a:pt x="196" y="105"/>
                  </a:lnTo>
                  <a:lnTo>
                    <a:pt x="196" y="105"/>
                  </a:lnTo>
                  <a:lnTo>
                    <a:pt x="194" y="105"/>
                  </a:lnTo>
                  <a:lnTo>
                    <a:pt x="194" y="105"/>
                  </a:lnTo>
                  <a:lnTo>
                    <a:pt x="192" y="105"/>
                  </a:lnTo>
                  <a:lnTo>
                    <a:pt x="190" y="105"/>
                  </a:lnTo>
                  <a:lnTo>
                    <a:pt x="190" y="107"/>
                  </a:lnTo>
                  <a:lnTo>
                    <a:pt x="188" y="107"/>
                  </a:lnTo>
                  <a:lnTo>
                    <a:pt x="186" y="105"/>
                  </a:lnTo>
                  <a:lnTo>
                    <a:pt x="186" y="105"/>
                  </a:lnTo>
                  <a:lnTo>
                    <a:pt x="185" y="105"/>
                  </a:lnTo>
                  <a:lnTo>
                    <a:pt x="181" y="107"/>
                  </a:lnTo>
                  <a:lnTo>
                    <a:pt x="179" y="109"/>
                  </a:lnTo>
                  <a:lnTo>
                    <a:pt x="179" y="109"/>
                  </a:lnTo>
                  <a:lnTo>
                    <a:pt x="177" y="109"/>
                  </a:lnTo>
                  <a:lnTo>
                    <a:pt x="177" y="109"/>
                  </a:lnTo>
                  <a:lnTo>
                    <a:pt x="175" y="109"/>
                  </a:lnTo>
                  <a:lnTo>
                    <a:pt x="171" y="109"/>
                  </a:lnTo>
                  <a:lnTo>
                    <a:pt x="171" y="109"/>
                  </a:lnTo>
                  <a:lnTo>
                    <a:pt x="169" y="111"/>
                  </a:lnTo>
                  <a:lnTo>
                    <a:pt x="169" y="111"/>
                  </a:lnTo>
                  <a:lnTo>
                    <a:pt x="167" y="109"/>
                  </a:lnTo>
                  <a:lnTo>
                    <a:pt x="167" y="109"/>
                  </a:lnTo>
                  <a:lnTo>
                    <a:pt x="165" y="109"/>
                  </a:lnTo>
                  <a:lnTo>
                    <a:pt x="165" y="107"/>
                  </a:lnTo>
                  <a:lnTo>
                    <a:pt x="165" y="105"/>
                  </a:lnTo>
                  <a:lnTo>
                    <a:pt x="165" y="103"/>
                  </a:lnTo>
                  <a:lnTo>
                    <a:pt x="164" y="103"/>
                  </a:lnTo>
                  <a:lnTo>
                    <a:pt x="164" y="101"/>
                  </a:lnTo>
                  <a:lnTo>
                    <a:pt x="162" y="103"/>
                  </a:lnTo>
                  <a:lnTo>
                    <a:pt x="160" y="101"/>
                  </a:lnTo>
                  <a:lnTo>
                    <a:pt x="158" y="103"/>
                  </a:lnTo>
                  <a:lnTo>
                    <a:pt x="158" y="105"/>
                  </a:lnTo>
                  <a:lnTo>
                    <a:pt x="156" y="105"/>
                  </a:lnTo>
                  <a:lnTo>
                    <a:pt x="154" y="105"/>
                  </a:lnTo>
                  <a:lnTo>
                    <a:pt x="154" y="105"/>
                  </a:lnTo>
                  <a:lnTo>
                    <a:pt x="154" y="103"/>
                  </a:lnTo>
                  <a:lnTo>
                    <a:pt x="152" y="103"/>
                  </a:lnTo>
                  <a:lnTo>
                    <a:pt x="152" y="101"/>
                  </a:lnTo>
                  <a:lnTo>
                    <a:pt x="150" y="101"/>
                  </a:lnTo>
                  <a:lnTo>
                    <a:pt x="148" y="101"/>
                  </a:lnTo>
                  <a:lnTo>
                    <a:pt x="146" y="101"/>
                  </a:lnTo>
                  <a:lnTo>
                    <a:pt x="145" y="99"/>
                  </a:lnTo>
                  <a:lnTo>
                    <a:pt x="145" y="97"/>
                  </a:lnTo>
                  <a:lnTo>
                    <a:pt x="143" y="96"/>
                  </a:lnTo>
                  <a:lnTo>
                    <a:pt x="143" y="96"/>
                  </a:lnTo>
                  <a:lnTo>
                    <a:pt x="141" y="96"/>
                  </a:lnTo>
                  <a:lnTo>
                    <a:pt x="141" y="97"/>
                  </a:lnTo>
                  <a:lnTo>
                    <a:pt x="139" y="97"/>
                  </a:lnTo>
                  <a:lnTo>
                    <a:pt x="139" y="97"/>
                  </a:lnTo>
                  <a:lnTo>
                    <a:pt x="137" y="101"/>
                  </a:lnTo>
                  <a:lnTo>
                    <a:pt x="137" y="101"/>
                  </a:lnTo>
                  <a:lnTo>
                    <a:pt x="137" y="103"/>
                  </a:lnTo>
                  <a:lnTo>
                    <a:pt x="135" y="103"/>
                  </a:lnTo>
                  <a:lnTo>
                    <a:pt x="135" y="105"/>
                  </a:lnTo>
                  <a:lnTo>
                    <a:pt x="135" y="107"/>
                  </a:lnTo>
                  <a:lnTo>
                    <a:pt x="135" y="111"/>
                  </a:lnTo>
                  <a:lnTo>
                    <a:pt x="137" y="111"/>
                  </a:lnTo>
                  <a:lnTo>
                    <a:pt x="137" y="113"/>
                  </a:lnTo>
                  <a:lnTo>
                    <a:pt x="137" y="115"/>
                  </a:lnTo>
                  <a:lnTo>
                    <a:pt x="137" y="115"/>
                  </a:lnTo>
                  <a:lnTo>
                    <a:pt x="139" y="115"/>
                  </a:lnTo>
                  <a:lnTo>
                    <a:pt x="139" y="116"/>
                  </a:lnTo>
                  <a:lnTo>
                    <a:pt x="141" y="116"/>
                  </a:lnTo>
                  <a:lnTo>
                    <a:pt x="141" y="118"/>
                  </a:lnTo>
                  <a:lnTo>
                    <a:pt x="141" y="120"/>
                  </a:lnTo>
                  <a:lnTo>
                    <a:pt x="141" y="120"/>
                  </a:lnTo>
                  <a:lnTo>
                    <a:pt x="141" y="122"/>
                  </a:lnTo>
                  <a:lnTo>
                    <a:pt x="141" y="122"/>
                  </a:lnTo>
                  <a:lnTo>
                    <a:pt x="139" y="124"/>
                  </a:lnTo>
                  <a:lnTo>
                    <a:pt x="139" y="124"/>
                  </a:lnTo>
                  <a:lnTo>
                    <a:pt x="139" y="126"/>
                  </a:lnTo>
                  <a:lnTo>
                    <a:pt x="139" y="128"/>
                  </a:lnTo>
                  <a:lnTo>
                    <a:pt x="141" y="128"/>
                  </a:lnTo>
                  <a:lnTo>
                    <a:pt x="141" y="130"/>
                  </a:lnTo>
                  <a:lnTo>
                    <a:pt x="143" y="130"/>
                  </a:lnTo>
                  <a:lnTo>
                    <a:pt x="143" y="132"/>
                  </a:lnTo>
                  <a:lnTo>
                    <a:pt x="143" y="134"/>
                  </a:lnTo>
                  <a:lnTo>
                    <a:pt x="143" y="134"/>
                  </a:lnTo>
                  <a:lnTo>
                    <a:pt x="143" y="135"/>
                  </a:lnTo>
                  <a:lnTo>
                    <a:pt x="141" y="135"/>
                  </a:lnTo>
                  <a:lnTo>
                    <a:pt x="141" y="135"/>
                  </a:lnTo>
                  <a:lnTo>
                    <a:pt x="141" y="137"/>
                  </a:lnTo>
                  <a:lnTo>
                    <a:pt x="141" y="137"/>
                  </a:lnTo>
                  <a:lnTo>
                    <a:pt x="143" y="139"/>
                  </a:lnTo>
                  <a:lnTo>
                    <a:pt x="143" y="141"/>
                  </a:lnTo>
                  <a:lnTo>
                    <a:pt x="143" y="141"/>
                  </a:lnTo>
                  <a:lnTo>
                    <a:pt x="143" y="143"/>
                  </a:lnTo>
                  <a:lnTo>
                    <a:pt x="143" y="143"/>
                  </a:lnTo>
                  <a:lnTo>
                    <a:pt x="143" y="143"/>
                  </a:lnTo>
                  <a:lnTo>
                    <a:pt x="141" y="145"/>
                  </a:lnTo>
                  <a:lnTo>
                    <a:pt x="141" y="145"/>
                  </a:lnTo>
                  <a:lnTo>
                    <a:pt x="139" y="145"/>
                  </a:lnTo>
                  <a:lnTo>
                    <a:pt x="137" y="143"/>
                  </a:lnTo>
                  <a:lnTo>
                    <a:pt x="135" y="141"/>
                  </a:lnTo>
                  <a:lnTo>
                    <a:pt x="135" y="141"/>
                  </a:lnTo>
                  <a:lnTo>
                    <a:pt x="133" y="141"/>
                  </a:lnTo>
                  <a:lnTo>
                    <a:pt x="133" y="141"/>
                  </a:lnTo>
                  <a:lnTo>
                    <a:pt x="133" y="143"/>
                  </a:lnTo>
                  <a:lnTo>
                    <a:pt x="131" y="143"/>
                  </a:lnTo>
                  <a:lnTo>
                    <a:pt x="131" y="143"/>
                  </a:lnTo>
                  <a:lnTo>
                    <a:pt x="129" y="145"/>
                  </a:lnTo>
                  <a:lnTo>
                    <a:pt x="127" y="145"/>
                  </a:lnTo>
                  <a:lnTo>
                    <a:pt x="125" y="145"/>
                  </a:lnTo>
                  <a:lnTo>
                    <a:pt x="125" y="145"/>
                  </a:lnTo>
                  <a:lnTo>
                    <a:pt x="124" y="145"/>
                  </a:lnTo>
                  <a:lnTo>
                    <a:pt x="124" y="145"/>
                  </a:lnTo>
                  <a:lnTo>
                    <a:pt x="124" y="143"/>
                  </a:lnTo>
                  <a:lnTo>
                    <a:pt x="122" y="143"/>
                  </a:lnTo>
                  <a:lnTo>
                    <a:pt x="118" y="143"/>
                  </a:lnTo>
                  <a:lnTo>
                    <a:pt x="116" y="143"/>
                  </a:lnTo>
                  <a:lnTo>
                    <a:pt x="114" y="145"/>
                  </a:lnTo>
                  <a:lnTo>
                    <a:pt x="114" y="145"/>
                  </a:lnTo>
                  <a:lnTo>
                    <a:pt x="112" y="145"/>
                  </a:lnTo>
                  <a:lnTo>
                    <a:pt x="106" y="147"/>
                  </a:lnTo>
                  <a:lnTo>
                    <a:pt x="106" y="147"/>
                  </a:lnTo>
                  <a:lnTo>
                    <a:pt x="106" y="147"/>
                  </a:lnTo>
                  <a:lnTo>
                    <a:pt x="106" y="149"/>
                  </a:lnTo>
                  <a:lnTo>
                    <a:pt x="106" y="151"/>
                  </a:lnTo>
                  <a:lnTo>
                    <a:pt x="106" y="151"/>
                  </a:lnTo>
                  <a:lnTo>
                    <a:pt x="101" y="154"/>
                  </a:lnTo>
                  <a:lnTo>
                    <a:pt x="99" y="154"/>
                  </a:lnTo>
                  <a:lnTo>
                    <a:pt x="97" y="154"/>
                  </a:lnTo>
                  <a:lnTo>
                    <a:pt x="97" y="154"/>
                  </a:lnTo>
                  <a:lnTo>
                    <a:pt x="95" y="154"/>
                  </a:lnTo>
                  <a:lnTo>
                    <a:pt x="95" y="153"/>
                  </a:lnTo>
                  <a:lnTo>
                    <a:pt x="93" y="153"/>
                  </a:lnTo>
                  <a:lnTo>
                    <a:pt x="93" y="153"/>
                  </a:lnTo>
                  <a:lnTo>
                    <a:pt x="93" y="151"/>
                  </a:lnTo>
                  <a:lnTo>
                    <a:pt x="91" y="151"/>
                  </a:lnTo>
                  <a:lnTo>
                    <a:pt x="89" y="151"/>
                  </a:lnTo>
                  <a:lnTo>
                    <a:pt x="89" y="149"/>
                  </a:lnTo>
                  <a:lnTo>
                    <a:pt x="89" y="149"/>
                  </a:lnTo>
                  <a:lnTo>
                    <a:pt x="89" y="147"/>
                  </a:lnTo>
                  <a:lnTo>
                    <a:pt x="87" y="147"/>
                  </a:lnTo>
                  <a:lnTo>
                    <a:pt x="87" y="147"/>
                  </a:lnTo>
                  <a:lnTo>
                    <a:pt x="87" y="147"/>
                  </a:lnTo>
                  <a:lnTo>
                    <a:pt x="84" y="147"/>
                  </a:lnTo>
                  <a:lnTo>
                    <a:pt x="80" y="147"/>
                  </a:lnTo>
                  <a:lnTo>
                    <a:pt x="80" y="147"/>
                  </a:lnTo>
                  <a:lnTo>
                    <a:pt x="80" y="147"/>
                  </a:lnTo>
                  <a:lnTo>
                    <a:pt x="78" y="149"/>
                  </a:lnTo>
                  <a:lnTo>
                    <a:pt x="78" y="151"/>
                  </a:lnTo>
                  <a:lnTo>
                    <a:pt x="78" y="151"/>
                  </a:lnTo>
                  <a:lnTo>
                    <a:pt x="76" y="153"/>
                  </a:lnTo>
                  <a:lnTo>
                    <a:pt x="76" y="153"/>
                  </a:lnTo>
                  <a:lnTo>
                    <a:pt x="76" y="153"/>
                  </a:lnTo>
                  <a:lnTo>
                    <a:pt x="74" y="154"/>
                  </a:lnTo>
                  <a:lnTo>
                    <a:pt x="70" y="154"/>
                  </a:lnTo>
                  <a:lnTo>
                    <a:pt x="68" y="154"/>
                  </a:lnTo>
                  <a:lnTo>
                    <a:pt x="68" y="156"/>
                  </a:lnTo>
                  <a:lnTo>
                    <a:pt x="68" y="156"/>
                  </a:lnTo>
                  <a:lnTo>
                    <a:pt x="68" y="156"/>
                  </a:lnTo>
                  <a:lnTo>
                    <a:pt x="70" y="158"/>
                  </a:lnTo>
                  <a:lnTo>
                    <a:pt x="70" y="158"/>
                  </a:lnTo>
                  <a:lnTo>
                    <a:pt x="70" y="160"/>
                  </a:lnTo>
                  <a:lnTo>
                    <a:pt x="70" y="164"/>
                  </a:lnTo>
                  <a:lnTo>
                    <a:pt x="70" y="164"/>
                  </a:lnTo>
                  <a:lnTo>
                    <a:pt x="70" y="164"/>
                  </a:lnTo>
                  <a:lnTo>
                    <a:pt x="70" y="164"/>
                  </a:lnTo>
                  <a:lnTo>
                    <a:pt x="70" y="166"/>
                  </a:lnTo>
                  <a:lnTo>
                    <a:pt x="70" y="166"/>
                  </a:lnTo>
                  <a:lnTo>
                    <a:pt x="68" y="166"/>
                  </a:lnTo>
                  <a:lnTo>
                    <a:pt x="66" y="164"/>
                  </a:lnTo>
                  <a:lnTo>
                    <a:pt x="64" y="164"/>
                  </a:lnTo>
                  <a:lnTo>
                    <a:pt x="64" y="164"/>
                  </a:lnTo>
                  <a:lnTo>
                    <a:pt x="64" y="164"/>
                  </a:lnTo>
                  <a:lnTo>
                    <a:pt x="63" y="166"/>
                  </a:lnTo>
                  <a:lnTo>
                    <a:pt x="61" y="166"/>
                  </a:lnTo>
                  <a:lnTo>
                    <a:pt x="59" y="166"/>
                  </a:lnTo>
                  <a:lnTo>
                    <a:pt x="59" y="168"/>
                  </a:lnTo>
                  <a:lnTo>
                    <a:pt x="59" y="168"/>
                  </a:lnTo>
                  <a:lnTo>
                    <a:pt x="59" y="168"/>
                  </a:lnTo>
                  <a:lnTo>
                    <a:pt x="57" y="170"/>
                  </a:lnTo>
                  <a:lnTo>
                    <a:pt x="57" y="170"/>
                  </a:lnTo>
                  <a:lnTo>
                    <a:pt x="57" y="170"/>
                  </a:lnTo>
                  <a:lnTo>
                    <a:pt x="55" y="170"/>
                  </a:lnTo>
                  <a:lnTo>
                    <a:pt x="55" y="170"/>
                  </a:lnTo>
                  <a:lnTo>
                    <a:pt x="55" y="170"/>
                  </a:lnTo>
                  <a:lnTo>
                    <a:pt x="53" y="174"/>
                  </a:lnTo>
                  <a:lnTo>
                    <a:pt x="53" y="174"/>
                  </a:lnTo>
                  <a:lnTo>
                    <a:pt x="53" y="174"/>
                  </a:lnTo>
                  <a:lnTo>
                    <a:pt x="51" y="174"/>
                  </a:lnTo>
                  <a:lnTo>
                    <a:pt x="51" y="175"/>
                  </a:lnTo>
                  <a:lnTo>
                    <a:pt x="53" y="177"/>
                  </a:lnTo>
                  <a:lnTo>
                    <a:pt x="53" y="179"/>
                  </a:lnTo>
                  <a:lnTo>
                    <a:pt x="53" y="179"/>
                  </a:lnTo>
                  <a:lnTo>
                    <a:pt x="51" y="181"/>
                  </a:lnTo>
                  <a:lnTo>
                    <a:pt x="49" y="181"/>
                  </a:lnTo>
                  <a:lnTo>
                    <a:pt x="49" y="181"/>
                  </a:lnTo>
                  <a:lnTo>
                    <a:pt x="49" y="181"/>
                  </a:lnTo>
                  <a:lnTo>
                    <a:pt x="47" y="181"/>
                  </a:lnTo>
                  <a:lnTo>
                    <a:pt x="45" y="185"/>
                  </a:lnTo>
                  <a:lnTo>
                    <a:pt x="44" y="185"/>
                  </a:lnTo>
                  <a:lnTo>
                    <a:pt x="44" y="185"/>
                  </a:lnTo>
                  <a:lnTo>
                    <a:pt x="42" y="185"/>
                  </a:lnTo>
                  <a:lnTo>
                    <a:pt x="42" y="185"/>
                  </a:lnTo>
                  <a:lnTo>
                    <a:pt x="42" y="185"/>
                  </a:lnTo>
                  <a:lnTo>
                    <a:pt x="42" y="185"/>
                  </a:lnTo>
                  <a:lnTo>
                    <a:pt x="42" y="185"/>
                  </a:lnTo>
                  <a:lnTo>
                    <a:pt x="42" y="185"/>
                  </a:lnTo>
                  <a:lnTo>
                    <a:pt x="42" y="183"/>
                  </a:lnTo>
                  <a:lnTo>
                    <a:pt x="42" y="183"/>
                  </a:lnTo>
                  <a:lnTo>
                    <a:pt x="42" y="183"/>
                  </a:lnTo>
                  <a:lnTo>
                    <a:pt x="42" y="183"/>
                  </a:lnTo>
                  <a:lnTo>
                    <a:pt x="40" y="181"/>
                  </a:lnTo>
                  <a:lnTo>
                    <a:pt x="40" y="181"/>
                  </a:lnTo>
                  <a:lnTo>
                    <a:pt x="40" y="179"/>
                  </a:lnTo>
                  <a:lnTo>
                    <a:pt x="40" y="177"/>
                  </a:lnTo>
                  <a:lnTo>
                    <a:pt x="40" y="177"/>
                  </a:lnTo>
                  <a:lnTo>
                    <a:pt x="38" y="177"/>
                  </a:lnTo>
                  <a:lnTo>
                    <a:pt x="36" y="177"/>
                  </a:lnTo>
                  <a:lnTo>
                    <a:pt x="34" y="177"/>
                  </a:lnTo>
                  <a:lnTo>
                    <a:pt x="32" y="177"/>
                  </a:lnTo>
                  <a:lnTo>
                    <a:pt x="32" y="175"/>
                  </a:lnTo>
                  <a:lnTo>
                    <a:pt x="30" y="175"/>
                  </a:lnTo>
                  <a:lnTo>
                    <a:pt x="30" y="175"/>
                  </a:lnTo>
                  <a:lnTo>
                    <a:pt x="30" y="177"/>
                  </a:lnTo>
                  <a:lnTo>
                    <a:pt x="30" y="179"/>
                  </a:lnTo>
                  <a:lnTo>
                    <a:pt x="30" y="181"/>
                  </a:lnTo>
                  <a:lnTo>
                    <a:pt x="28" y="181"/>
                  </a:lnTo>
                  <a:lnTo>
                    <a:pt x="28" y="181"/>
                  </a:lnTo>
                  <a:lnTo>
                    <a:pt x="28" y="183"/>
                  </a:lnTo>
                  <a:lnTo>
                    <a:pt x="26" y="183"/>
                  </a:lnTo>
                  <a:lnTo>
                    <a:pt x="26" y="183"/>
                  </a:lnTo>
                  <a:lnTo>
                    <a:pt x="26" y="183"/>
                  </a:lnTo>
                  <a:lnTo>
                    <a:pt x="24" y="185"/>
                  </a:lnTo>
                  <a:lnTo>
                    <a:pt x="23" y="187"/>
                  </a:lnTo>
                  <a:lnTo>
                    <a:pt x="23" y="187"/>
                  </a:lnTo>
                  <a:lnTo>
                    <a:pt x="23" y="187"/>
                  </a:lnTo>
                  <a:lnTo>
                    <a:pt x="23" y="185"/>
                  </a:lnTo>
                  <a:lnTo>
                    <a:pt x="21" y="185"/>
                  </a:lnTo>
                  <a:lnTo>
                    <a:pt x="21" y="185"/>
                  </a:lnTo>
                  <a:lnTo>
                    <a:pt x="21" y="185"/>
                  </a:lnTo>
                  <a:lnTo>
                    <a:pt x="21" y="183"/>
                  </a:lnTo>
                  <a:lnTo>
                    <a:pt x="19" y="185"/>
                  </a:lnTo>
                  <a:lnTo>
                    <a:pt x="19" y="185"/>
                  </a:lnTo>
                  <a:lnTo>
                    <a:pt x="19" y="187"/>
                  </a:lnTo>
                  <a:lnTo>
                    <a:pt x="19" y="187"/>
                  </a:lnTo>
                  <a:lnTo>
                    <a:pt x="19" y="187"/>
                  </a:lnTo>
                  <a:lnTo>
                    <a:pt x="17" y="187"/>
                  </a:lnTo>
                  <a:lnTo>
                    <a:pt x="17" y="187"/>
                  </a:lnTo>
                  <a:lnTo>
                    <a:pt x="17" y="187"/>
                  </a:lnTo>
                  <a:lnTo>
                    <a:pt x="15" y="187"/>
                  </a:lnTo>
                  <a:lnTo>
                    <a:pt x="15" y="187"/>
                  </a:lnTo>
                  <a:lnTo>
                    <a:pt x="13" y="185"/>
                  </a:lnTo>
                  <a:lnTo>
                    <a:pt x="13" y="187"/>
                  </a:lnTo>
                  <a:lnTo>
                    <a:pt x="13" y="189"/>
                  </a:lnTo>
                  <a:lnTo>
                    <a:pt x="11" y="191"/>
                  </a:lnTo>
                  <a:lnTo>
                    <a:pt x="11" y="191"/>
                  </a:lnTo>
                  <a:lnTo>
                    <a:pt x="11" y="191"/>
                  </a:lnTo>
                  <a:lnTo>
                    <a:pt x="11" y="193"/>
                  </a:lnTo>
                  <a:lnTo>
                    <a:pt x="13" y="193"/>
                  </a:lnTo>
                  <a:lnTo>
                    <a:pt x="13" y="193"/>
                  </a:lnTo>
                  <a:lnTo>
                    <a:pt x="13" y="193"/>
                  </a:lnTo>
                  <a:lnTo>
                    <a:pt x="13" y="193"/>
                  </a:lnTo>
                  <a:lnTo>
                    <a:pt x="15" y="191"/>
                  </a:lnTo>
                  <a:lnTo>
                    <a:pt x="15" y="191"/>
                  </a:lnTo>
                  <a:lnTo>
                    <a:pt x="15" y="191"/>
                  </a:lnTo>
                  <a:lnTo>
                    <a:pt x="15" y="191"/>
                  </a:lnTo>
                  <a:lnTo>
                    <a:pt x="15" y="191"/>
                  </a:lnTo>
                  <a:lnTo>
                    <a:pt x="17" y="191"/>
                  </a:lnTo>
                  <a:lnTo>
                    <a:pt x="17" y="193"/>
                  </a:lnTo>
                  <a:lnTo>
                    <a:pt x="17" y="193"/>
                  </a:lnTo>
                  <a:lnTo>
                    <a:pt x="17" y="193"/>
                  </a:lnTo>
                  <a:lnTo>
                    <a:pt x="17" y="193"/>
                  </a:lnTo>
                  <a:lnTo>
                    <a:pt x="17" y="194"/>
                  </a:lnTo>
                  <a:lnTo>
                    <a:pt x="17" y="194"/>
                  </a:lnTo>
                  <a:lnTo>
                    <a:pt x="17" y="194"/>
                  </a:lnTo>
                  <a:lnTo>
                    <a:pt x="19" y="194"/>
                  </a:lnTo>
                  <a:lnTo>
                    <a:pt x="19" y="194"/>
                  </a:lnTo>
                  <a:lnTo>
                    <a:pt x="19" y="194"/>
                  </a:lnTo>
                  <a:lnTo>
                    <a:pt x="21" y="194"/>
                  </a:lnTo>
                  <a:lnTo>
                    <a:pt x="21" y="194"/>
                  </a:lnTo>
                  <a:lnTo>
                    <a:pt x="21" y="196"/>
                  </a:lnTo>
                  <a:lnTo>
                    <a:pt x="21" y="196"/>
                  </a:lnTo>
                  <a:lnTo>
                    <a:pt x="21" y="196"/>
                  </a:lnTo>
                  <a:lnTo>
                    <a:pt x="21" y="198"/>
                  </a:lnTo>
                  <a:lnTo>
                    <a:pt x="21" y="198"/>
                  </a:lnTo>
                  <a:lnTo>
                    <a:pt x="21" y="198"/>
                  </a:lnTo>
                  <a:lnTo>
                    <a:pt x="23" y="198"/>
                  </a:lnTo>
                  <a:lnTo>
                    <a:pt x="23" y="198"/>
                  </a:lnTo>
                  <a:lnTo>
                    <a:pt x="24" y="200"/>
                  </a:lnTo>
                  <a:lnTo>
                    <a:pt x="24" y="200"/>
                  </a:lnTo>
                  <a:lnTo>
                    <a:pt x="24" y="200"/>
                  </a:lnTo>
                  <a:lnTo>
                    <a:pt x="23" y="200"/>
                  </a:lnTo>
                  <a:lnTo>
                    <a:pt x="23" y="200"/>
                  </a:lnTo>
                  <a:lnTo>
                    <a:pt x="23" y="200"/>
                  </a:lnTo>
                  <a:lnTo>
                    <a:pt x="21" y="202"/>
                  </a:lnTo>
                  <a:lnTo>
                    <a:pt x="19" y="202"/>
                  </a:lnTo>
                  <a:lnTo>
                    <a:pt x="19" y="202"/>
                  </a:lnTo>
                  <a:lnTo>
                    <a:pt x="19" y="202"/>
                  </a:lnTo>
                  <a:lnTo>
                    <a:pt x="19" y="204"/>
                  </a:lnTo>
                  <a:lnTo>
                    <a:pt x="19" y="206"/>
                  </a:lnTo>
                  <a:lnTo>
                    <a:pt x="21" y="206"/>
                  </a:lnTo>
                  <a:lnTo>
                    <a:pt x="21" y="208"/>
                  </a:lnTo>
                  <a:lnTo>
                    <a:pt x="21" y="208"/>
                  </a:lnTo>
                  <a:lnTo>
                    <a:pt x="21" y="208"/>
                  </a:lnTo>
                  <a:lnTo>
                    <a:pt x="21" y="210"/>
                  </a:lnTo>
                  <a:lnTo>
                    <a:pt x="21" y="210"/>
                  </a:lnTo>
                  <a:lnTo>
                    <a:pt x="21" y="212"/>
                  </a:lnTo>
                  <a:lnTo>
                    <a:pt x="21" y="212"/>
                  </a:lnTo>
                  <a:lnTo>
                    <a:pt x="21" y="212"/>
                  </a:lnTo>
                  <a:lnTo>
                    <a:pt x="23" y="212"/>
                  </a:lnTo>
                  <a:lnTo>
                    <a:pt x="23" y="212"/>
                  </a:lnTo>
                  <a:lnTo>
                    <a:pt x="23" y="210"/>
                  </a:lnTo>
                  <a:lnTo>
                    <a:pt x="24" y="210"/>
                  </a:lnTo>
                  <a:lnTo>
                    <a:pt x="24" y="210"/>
                  </a:lnTo>
                  <a:lnTo>
                    <a:pt x="24" y="210"/>
                  </a:lnTo>
                  <a:lnTo>
                    <a:pt x="32" y="213"/>
                  </a:lnTo>
                  <a:lnTo>
                    <a:pt x="34" y="213"/>
                  </a:lnTo>
                  <a:lnTo>
                    <a:pt x="34" y="215"/>
                  </a:lnTo>
                  <a:lnTo>
                    <a:pt x="34" y="215"/>
                  </a:lnTo>
                  <a:lnTo>
                    <a:pt x="34" y="215"/>
                  </a:lnTo>
                  <a:lnTo>
                    <a:pt x="34" y="217"/>
                  </a:lnTo>
                  <a:lnTo>
                    <a:pt x="34" y="219"/>
                  </a:lnTo>
                  <a:lnTo>
                    <a:pt x="34" y="223"/>
                  </a:lnTo>
                  <a:lnTo>
                    <a:pt x="34" y="227"/>
                  </a:lnTo>
                  <a:lnTo>
                    <a:pt x="34" y="227"/>
                  </a:lnTo>
                  <a:lnTo>
                    <a:pt x="34" y="229"/>
                  </a:lnTo>
                  <a:lnTo>
                    <a:pt x="34" y="229"/>
                  </a:lnTo>
                  <a:lnTo>
                    <a:pt x="30" y="229"/>
                  </a:lnTo>
                  <a:lnTo>
                    <a:pt x="28" y="229"/>
                  </a:lnTo>
                  <a:lnTo>
                    <a:pt x="28" y="231"/>
                  </a:lnTo>
                  <a:lnTo>
                    <a:pt x="26" y="231"/>
                  </a:lnTo>
                  <a:lnTo>
                    <a:pt x="26" y="231"/>
                  </a:lnTo>
                  <a:lnTo>
                    <a:pt x="26" y="232"/>
                  </a:lnTo>
                  <a:lnTo>
                    <a:pt x="26" y="232"/>
                  </a:lnTo>
                  <a:lnTo>
                    <a:pt x="28" y="232"/>
                  </a:lnTo>
                  <a:lnTo>
                    <a:pt x="30" y="232"/>
                  </a:lnTo>
                  <a:lnTo>
                    <a:pt x="30" y="234"/>
                  </a:lnTo>
                  <a:lnTo>
                    <a:pt x="30" y="234"/>
                  </a:lnTo>
                  <a:lnTo>
                    <a:pt x="30" y="234"/>
                  </a:lnTo>
                  <a:lnTo>
                    <a:pt x="30" y="234"/>
                  </a:lnTo>
                  <a:lnTo>
                    <a:pt x="30" y="236"/>
                  </a:lnTo>
                  <a:lnTo>
                    <a:pt x="30" y="238"/>
                  </a:lnTo>
                  <a:lnTo>
                    <a:pt x="30" y="240"/>
                  </a:lnTo>
                  <a:lnTo>
                    <a:pt x="28" y="242"/>
                  </a:lnTo>
                  <a:lnTo>
                    <a:pt x="28" y="244"/>
                  </a:lnTo>
                  <a:lnTo>
                    <a:pt x="26" y="248"/>
                  </a:lnTo>
                  <a:lnTo>
                    <a:pt x="24" y="250"/>
                  </a:lnTo>
                  <a:lnTo>
                    <a:pt x="23" y="251"/>
                  </a:lnTo>
                  <a:lnTo>
                    <a:pt x="23" y="251"/>
                  </a:lnTo>
                  <a:lnTo>
                    <a:pt x="24" y="251"/>
                  </a:lnTo>
                  <a:lnTo>
                    <a:pt x="24" y="253"/>
                  </a:lnTo>
                  <a:lnTo>
                    <a:pt x="24" y="253"/>
                  </a:lnTo>
                  <a:lnTo>
                    <a:pt x="24" y="255"/>
                  </a:lnTo>
                  <a:lnTo>
                    <a:pt x="23" y="259"/>
                  </a:lnTo>
                  <a:lnTo>
                    <a:pt x="21" y="261"/>
                  </a:lnTo>
                  <a:lnTo>
                    <a:pt x="21" y="261"/>
                  </a:lnTo>
                  <a:lnTo>
                    <a:pt x="19" y="263"/>
                  </a:lnTo>
                  <a:lnTo>
                    <a:pt x="19" y="263"/>
                  </a:lnTo>
                  <a:lnTo>
                    <a:pt x="17" y="265"/>
                  </a:lnTo>
                  <a:lnTo>
                    <a:pt x="15" y="265"/>
                  </a:lnTo>
                  <a:lnTo>
                    <a:pt x="11" y="265"/>
                  </a:lnTo>
                  <a:lnTo>
                    <a:pt x="11" y="265"/>
                  </a:lnTo>
                  <a:lnTo>
                    <a:pt x="11" y="265"/>
                  </a:lnTo>
                  <a:lnTo>
                    <a:pt x="11" y="265"/>
                  </a:lnTo>
                  <a:lnTo>
                    <a:pt x="11" y="263"/>
                  </a:lnTo>
                  <a:lnTo>
                    <a:pt x="11" y="263"/>
                  </a:lnTo>
                  <a:lnTo>
                    <a:pt x="11" y="263"/>
                  </a:lnTo>
                  <a:lnTo>
                    <a:pt x="11" y="261"/>
                  </a:lnTo>
                  <a:lnTo>
                    <a:pt x="11" y="261"/>
                  </a:lnTo>
                  <a:lnTo>
                    <a:pt x="11" y="261"/>
                  </a:lnTo>
                  <a:lnTo>
                    <a:pt x="9" y="261"/>
                  </a:lnTo>
                  <a:lnTo>
                    <a:pt x="9" y="261"/>
                  </a:lnTo>
                  <a:lnTo>
                    <a:pt x="7" y="261"/>
                  </a:lnTo>
                  <a:lnTo>
                    <a:pt x="4" y="265"/>
                  </a:lnTo>
                  <a:lnTo>
                    <a:pt x="2" y="265"/>
                  </a:lnTo>
                  <a:lnTo>
                    <a:pt x="2" y="269"/>
                  </a:lnTo>
                  <a:lnTo>
                    <a:pt x="2" y="269"/>
                  </a:lnTo>
                  <a:lnTo>
                    <a:pt x="2" y="269"/>
                  </a:lnTo>
                  <a:lnTo>
                    <a:pt x="0" y="269"/>
                  </a:lnTo>
                  <a:lnTo>
                    <a:pt x="0" y="270"/>
                  </a:lnTo>
                  <a:lnTo>
                    <a:pt x="0" y="270"/>
                  </a:lnTo>
                  <a:lnTo>
                    <a:pt x="0" y="270"/>
                  </a:lnTo>
                  <a:lnTo>
                    <a:pt x="0" y="272"/>
                  </a:lnTo>
                  <a:lnTo>
                    <a:pt x="2" y="272"/>
                  </a:lnTo>
                  <a:lnTo>
                    <a:pt x="4" y="272"/>
                  </a:lnTo>
                  <a:lnTo>
                    <a:pt x="4" y="272"/>
                  </a:lnTo>
                  <a:lnTo>
                    <a:pt x="5" y="272"/>
                  </a:lnTo>
                  <a:lnTo>
                    <a:pt x="5" y="272"/>
                  </a:lnTo>
                  <a:lnTo>
                    <a:pt x="5" y="270"/>
                  </a:lnTo>
                  <a:lnTo>
                    <a:pt x="7" y="270"/>
                  </a:lnTo>
                  <a:lnTo>
                    <a:pt x="7" y="272"/>
                  </a:lnTo>
                  <a:lnTo>
                    <a:pt x="9" y="272"/>
                  </a:lnTo>
                  <a:lnTo>
                    <a:pt x="11" y="274"/>
                  </a:lnTo>
                  <a:lnTo>
                    <a:pt x="13" y="274"/>
                  </a:lnTo>
                  <a:lnTo>
                    <a:pt x="13" y="274"/>
                  </a:lnTo>
                  <a:lnTo>
                    <a:pt x="13" y="278"/>
                  </a:lnTo>
                  <a:lnTo>
                    <a:pt x="15" y="284"/>
                  </a:lnTo>
                  <a:lnTo>
                    <a:pt x="15" y="284"/>
                  </a:lnTo>
                  <a:lnTo>
                    <a:pt x="15" y="286"/>
                  </a:lnTo>
                  <a:lnTo>
                    <a:pt x="13" y="288"/>
                  </a:lnTo>
                  <a:lnTo>
                    <a:pt x="13" y="290"/>
                  </a:lnTo>
                  <a:lnTo>
                    <a:pt x="13" y="290"/>
                  </a:lnTo>
                  <a:lnTo>
                    <a:pt x="15" y="291"/>
                  </a:lnTo>
                  <a:lnTo>
                    <a:pt x="15" y="291"/>
                  </a:lnTo>
                  <a:lnTo>
                    <a:pt x="15" y="293"/>
                  </a:lnTo>
                  <a:lnTo>
                    <a:pt x="15" y="293"/>
                  </a:lnTo>
                  <a:lnTo>
                    <a:pt x="15" y="293"/>
                  </a:lnTo>
                  <a:lnTo>
                    <a:pt x="15" y="295"/>
                  </a:lnTo>
                  <a:lnTo>
                    <a:pt x="15" y="295"/>
                  </a:lnTo>
                  <a:lnTo>
                    <a:pt x="15" y="297"/>
                  </a:lnTo>
                  <a:lnTo>
                    <a:pt x="15" y="297"/>
                  </a:lnTo>
                  <a:lnTo>
                    <a:pt x="19" y="301"/>
                  </a:lnTo>
                  <a:lnTo>
                    <a:pt x="19" y="301"/>
                  </a:lnTo>
                  <a:lnTo>
                    <a:pt x="19" y="301"/>
                  </a:lnTo>
                  <a:lnTo>
                    <a:pt x="19" y="303"/>
                  </a:lnTo>
                  <a:lnTo>
                    <a:pt x="19" y="307"/>
                  </a:lnTo>
                  <a:lnTo>
                    <a:pt x="19" y="307"/>
                  </a:lnTo>
                  <a:lnTo>
                    <a:pt x="19" y="309"/>
                  </a:lnTo>
                  <a:lnTo>
                    <a:pt x="17" y="309"/>
                  </a:lnTo>
                  <a:lnTo>
                    <a:pt x="17" y="309"/>
                  </a:lnTo>
                  <a:lnTo>
                    <a:pt x="15" y="309"/>
                  </a:lnTo>
                  <a:lnTo>
                    <a:pt x="13" y="309"/>
                  </a:lnTo>
                  <a:lnTo>
                    <a:pt x="13" y="310"/>
                  </a:lnTo>
                  <a:lnTo>
                    <a:pt x="13" y="310"/>
                  </a:lnTo>
                  <a:lnTo>
                    <a:pt x="13" y="310"/>
                  </a:lnTo>
                  <a:lnTo>
                    <a:pt x="13" y="312"/>
                  </a:lnTo>
                  <a:lnTo>
                    <a:pt x="13" y="312"/>
                  </a:lnTo>
                  <a:lnTo>
                    <a:pt x="17" y="314"/>
                  </a:lnTo>
                  <a:lnTo>
                    <a:pt x="17" y="314"/>
                  </a:lnTo>
                  <a:lnTo>
                    <a:pt x="17" y="314"/>
                  </a:lnTo>
                  <a:lnTo>
                    <a:pt x="17" y="314"/>
                  </a:lnTo>
                  <a:lnTo>
                    <a:pt x="19" y="316"/>
                  </a:lnTo>
                  <a:lnTo>
                    <a:pt x="19" y="316"/>
                  </a:lnTo>
                  <a:lnTo>
                    <a:pt x="17" y="318"/>
                  </a:lnTo>
                  <a:lnTo>
                    <a:pt x="15" y="322"/>
                  </a:lnTo>
                  <a:lnTo>
                    <a:pt x="15" y="324"/>
                  </a:lnTo>
                  <a:lnTo>
                    <a:pt x="15" y="324"/>
                  </a:lnTo>
                  <a:lnTo>
                    <a:pt x="15" y="326"/>
                  </a:lnTo>
                  <a:lnTo>
                    <a:pt x="15" y="326"/>
                  </a:lnTo>
                  <a:lnTo>
                    <a:pt x="15" y="329"/>
                  </a:lnTo>
                  <a:lnTo>
                    <a:pt x="15" y="329"/>
                  </a:lnTo>
                  <a:lnTo>
                    <a:pt x="15" y="331"/>
                  </a:lnTo>
                  <a:lnTo>
                    <a:pt x="15" y="331"/>
                  </a:lnTo>
                  <a:lnTo>
                    <a:pt x="15" y="333"/>
                  </a:lnTo>
                  <a:lnTo>
                    <a:pt x="15" y="333"/>
                  </a:lnTo>
                  <a:lnTo>
                    <a:pt x="13" y="335"/>
                  </a:lnTo>
                  <a:lnTo>
                    <a:pt x="13" y="337"/>
                  </a:lnTo>
                  <a:lnTo>
                    <a:pt x="13" y="337"/>
                  </a:lnTo>
                  <a:lnTo>
                    <a:pt x="13" y="337"/>
                  </a:lnTo>
                  <a:lnTo>
                    <a:pt x="11" y="339"/>
                  </a:lnTo>
                  <a:lnTo>
                    <a:pt x="11" y="341"/>
                  </a:lnTo>
                  <a:lnTo>
                    <a:pt x="9" y="341"/>
                  </a:lnTo>
                  <a:lnTo>
                    <a:pt x="7" y="341"/>
                  </a:lnTo>
                  <a:lnTo>
                    <a:pt x="5" y="341"/>
                  </a:lnTo>
                  <a:lnTo>
                    <a:pt x="5" y="341"/>
                  </a:lnTo>
                  <a:lnTo>
                    <a:pt x="5" y="341"/>
                  </a:lnTo>
                  <a:lnTo>
                    <a:pt x="2" y="343"/>
                  </a:lnTo>
                  <a:lnTo>
                    <a:pt x="0" y="345"/>
                  </a:lnTo>
                  <a:lnTo>
                    <a:pt x="0" y="347"/>
                  </a:lnTo>
                  <a:lnTo>
                    <a:pt x="2" y="348"/>
                  </a:lnTo>
                  <a:lnTo>
                    <a:pt x="2" y="348"/>
                  </a:lnTo>
                  <a:lnTo>
                    <a:pt x="4" y="348"/>
                  </a:lnTo>
                  <a:lnTo>
                    <a:pt x="5" y="347"/>
                  </a:lnTo>
                  <a:lnTo>
                    <a:pt x="5" y="347"/>
                  </a:lnTo>
                  <a:lnTo>
                    <a:pt x="5" y="345"/>
                  </a:lnTo>
                  <a:lnTo>
                    <a:pt x="9" y="345"/>
                  </a:lnTo>
                  <a:lnTo>
                    <a:pt x="9" y="343"/>
                  </a:lnTo>
                  <a:lnTo>
                    <a:pt x="11" y="345"/>
                  </a:lnTo>
                  <a:lnTo>
                    <a:pt x="11" y="345"/>
                  </a:lnTo>
                  <a:lnTo>
                    <a:pt x="13" y="345"/>
                  </a:lnTo>
                  <a:lnTo>
                    <a:pt x="13" y="345"/>
                  </a:lnTo>
                  <a:lnTo>
                    <a:pt x="13" y="347"/>
                  </a:lnTo>
                  <a:lnTo>
                    <a:pt x="11" y="347"/>
                  </a:lnTo>
                  <a:lnTo>
                    <a:pt x="11" y="347"/>
                  </a:lnTo>
                  <a:lnTo>
                    <a:pt x="9" y="347"/>
                  </a:lnTo>
                  <a:lnTo>
                    <a:pt x="9" y="347"/>
                  </a:lnTo>
                  <a:lnTo>
                    <a:pt x="7" y="347"/>
                  </a:lnTo>
                  <a:lnTo>
                    <a:pt x="7" y="348"/>
                  </a:lnTo>
                  <a:lnTo>
                    <a:pt x="5" y="350"/>
                  </a:lnTo>
                  <a:lnTo>
                    <a:pt x="5" y="350"/>
                  </a:lnTo>
                  <a:lnTo>
                    <a:pt x="4" y="348"/>
                  </a:lnTo>
                  <a:lnTo>
                    <a:pt x="4" y="348"/>
                  </a:lnTo>
                  <a:lnTo>
                    <a:pt x="2" y="350"/>
                  </a:lnTo>
                  <a:lnTo>
                    <a:pt x="2" y="350"/>
                  </a:lnTo>
                  <a:lnTo>
                    <a:pt x="2" y="352"/>
                  </a:lnTo>
                  <a:lnTo>
                    <a:pt x="2" y="352"/>
                  </a:lnTo>
                  <a:lnTo>
                    <a:pt x="0" y="352"/>
                  </a:lnTo>
                  <a:lnTo>
                    <a:pt x="0" y="354"/>
                  </a:lnTo>
                  <a:lnTo>
                    <a:pt x="2" y="354"/>
                  </a:lnTo>
                  <a:lnTo>
                    <a:pt x="4" y="356"/>
                  </a:lnTo>
                  <a:lnTo>
                    <a:pt x="4" y="356"/>
                  </a:lnTo>
                  <a:lnTo>
                    <a:pt x="5" y="358"/>
                  </a:lnTo>
                  <a:lnTo>
                    <a:pt x="5" y="358"/>
                  </a:lnTo>
                  <a:lnTo>
                    <a:pt x="7" y="358"/>
                  </a:lnTo>
                  <a:lnTo>
                    <a:pt x="7" y="358"/>
                  </a:lnTo>
                  <a:lnTo>
                    <a:pt x="7" y="358"/>
                  </a:lnTo>
                  <a:lnTo>
                    <a:pt x="9" y="362"/>
                  </a:lnTo>
                  <a:lnTo>
                    <a:pt x="9" y="360"/>
                  </a:lnTo>
                  <a:lnTo>
                    <a:pt x="11" y="358"/>
                  </a:lnTo>
                  <a:lnTo>
                    <a:pt x="13" y="360"/>
                  </a:lnTo>
                  <a:lnTo>
                    <a:pt x="15" y="360"/>
                  </a:lnTo>
                  <a:lnTo>
                    <a:pt x="15" y="362"/>
                  </a:lnTo>
                  <a:lnTo>
                    <a:pt x="15" y="366"/>
                  </a:lnTo>
                  <a:lnTo>
                    <a:pt x="17" y="367"/>
                  </a:lnTo>
                  <a:lnTo>
                    <a:pt x="15" y="369"/>
                  </a:lnTo>
                  <a:lnTo>
                    <a:pt x="15" y="369"/>
                  </a:lnTo>
                  <a:lnTo>
                    <a:pt x="17" y="371"/>
                  </a:lnTo>
                  <a:lnTo>
                    <a:pt x="17" y="371"/>
                  </a:lnTo>
                  <a:lnTo>
                    <a:pt x="19" y="371"/>
                  </a:lnTo>
                  <a:lnTo>
                    <a:pt x="21" y="371"/>
                  </a:lnTo>
                  <a:lnTo>
                    <a:pt x="21" y="369"/>
                  </a:lnTo>
                  <a:lnTo>
                    <a:pt x="23" y="371"/>
                  </a:lnTo>
                  <a:lnTo>
                    <a:pt x="23" y="371"/>
                  </a:lnTo>
                  <a:lnTo>
                    <a:pt x="19" y="371"/>
                  </a:lnTo>
                  <a:lnTo>
                    <a:pt x="19" y="373"/>
                  </a:lnTo>
                  <a:lnTo>
                    <a:pt x="19" y="375"/>
                  </a:lnTo>
                  <a:lnTo>
                    <a:pt x="19" y="377"/>
                  </a:lnTo>
                  <a:lnTo>
                    <a:pt x="19" y="379"/>
                  </a:lnTo>
                  <a:lnTo>
                    <a:pt x="19" y="379"/>
                  </a:lnTo>
                  <a:lnTo>
                    <a:pt x="21" y="379"/>
                  </a:lnTo>
                  <a:lnTo>
                    <a:pt x="23" y="379"/>
                  </a:lnTo>
                  <a:lnTo>
                    <a:pt x="23" y="377"/>
                  </a:lnTo>
                  <a:lnTo>
                    <a:pt x="23" y="377"/>
                  </a:lnTo>
                  <a:lnTo>
                    <a:pt x="23" y="375"/>
                  </a:lnTo>
                  <a:lnTo>
                    <a:pt x="24" y="375"/>
                  </a:lnTo>
                  <a:lnTo>
                    <a:pt x="24" y="375"/>
                  </a:lnTo>
                  <a:lnTo>
                    <a:pt x="24" y="375"/>
                  </a:lnTo>
                  <a:lnTo>
                    <a:pt x="24" y="377"/>
                  </a:lnTo>
                  <a:lnTo>
                    <a:pt x="24" y="377"/>
                  </a:lnTo>
                  <a:lnTo>
                    <a:pt x="24" y="377"/>
                  </a:lnTo>
                  <a:lnTo>
                    <a:pt x="26" y="377"/>
                  </a:lnTo>
                  <a:lnTo>
                    <a:pt x="26" y="377"/>
                  </a:lnTo>
                  <a:lnTo>
                    <a:pt x="26" y="379"/>
                  </a:lnTo>
                  <a:lnTo>
                    <a:pt x="24" y="379"/>
                  </a:lnTo>
                  <a:lnTo>
                    <a:pt x="26" y="379"/>
                  </a:lnTo>
                  <a:lnTo>
                    <a:pt x="30" y="385"/>
                  </a:lnTo>
                  <a:lnTo>
                    <a:pt x="28" y="383"/>
                  </a:lnTo>
                  <a:lnTo>
                    <a:pt x="28" y="385"/>
                  </a:lnTo>
                  <a:lnTo>
                    <a:pt x="28" y="385"/>
                  </a:lnTo>
                  <a:lnTo>
                    <a:pt x="26" y="385"/>
                  </a:lnTo>
                  <a:lnTo>
                    <a:pt x="26" y="383"/>
                  </a:lnTo>
                  <a:lnTo>
                    <a:pt x="24" y="381"/>
                  </a:lnTo>
                  <a:lnTo>
                    <a:pt x="23" y="379"/>
                  </a:lnTo>
                  <a:lnTo>
                    <a:pt x="24" y="381"/>
                  </a:lnTo>
                  <a:lnTo>
                    <a:pt x="26" y="385"/>
                  </a:lnTo>
                  <a:lnTo>
                    <a:pt x="26" y="388"/>
                  </a:lnTo>
                  <a:lnTo>
                    <a:pt x="26" y="388"/>
                  </a:lnTo>
                  <a:lnTo>
                    <a:pt x="26" y="388"/>
                  </a:lnTo>
                  <a:lnTo>
                    <a:pt x="26" y="390"/>
                  </a:lnTo>
                  <a:lnTo>
                    <a:pt x="26" y="392"/>
                  </a:lnTo>
                  <a:lnTo>
                    <a:pt x="28" y="394"/>
                  </a:lnTo>
                  <a:lnTo>
                    <a:pt x="28" y="394"/>
                  </a:lnTo>
                  <a:lnTo>
                    <a:pt x="28" y="396"/>
                  </a:lnTo>
                  <a:lnTo>
                    <a:pt x="30" y="400"/>
                  </a:lnTo>
                  <a:lnTo>
                    <a:pt x="30" y="402"/>
                  </a:lnTo>
                  <a:lnTo>
                    <a:pt x="32" y="402"/>
                  </a:lnTo>
                  <a:lnTo>
                    <a:pt x="38" y="404"/>
                  </a:lnTo>
                  <a:lnTo>
                    <a:pt x="38" y="406"/>
                  </a:lnTo>
                  <a:lnTo>
                    <a:pt x="36" y="406"/>
                  </a:lnTo>
                  <a:lnTo>
                    <a:pt x="34" y="406"/>
                  </a:lnTo>
                  <a:lnTo>
                    <a:pt x="32" y="406"/>
                  </a:lnTo>
                  <a:lnTo>
                    <a:pt x="30" y="404"/>
                  </a:lnTo>
                  <a:lnTo>
                    <a:pt x="30" y="406"/>
                  </a:lnTo>
                  <a:lnTo>
                    <a:pt x="32" y="407"/>
                  </a:lnTo>
                  <a:lnTo>
                    <a:pt x="34" y="411"/>
                  </a:lnTo>
                  <a:lnTo>
                    <a:pt x="34" y="413"/>
                  </a:lnTo>
                  <a:lnTo>
                    <a:pt x="34" y="419"/>
                  </a:lnTo>
                  <a:lnTo>
                    <a:pt x="36" y="421"/>
                  </a:lnTo>
                  <a:lnTo>
                    <a:pt x="36" y="421"/>
                  </a:lnTo>
                  <a:lnTo>
                    <a:pt x="36" y="423"/>
                  </a:lnTo>
                  <a:lnTo>
                    <a:pt x="36" y="423"/>
                  </a:lnTo>
                  <a:lnTo>
                    <a:pt x="36" y="425"/>
                  </a:lnTo>
                  <a:lnTo>
                    <a:pt x="36" y="426"/>
                  </a:lnTo>
                  <a:lnTo>
                    <a:pt x="38" y="428"/>
                  </a:lnTo>
                  <a:lnTo>
                    <a:pt x="40" y="432"/>
                  </a:lnTo>
                  <a:lnTo>
                    <a:pt x="42" y="434"/>
                  </a:lnTo>
                  <a:lnTo>
                    <a:pt x="45" y="438"/>
                  </a:lnTo>
                  <a:lnTo>
                    <a:pt x="45" y="442"/>
                  </a:lnTo>
                  <a:lnTo>
                    <a:pt x="47" y="445"/>
                  </a:lnTo>
                  <a:lnTo>
                    <a:pt x="49" y="451"/>
                  </a:lnTo>
                  <a:lnTo>
                    <a:pt x="51" y="459"/>
                  </a:lnTo>
                  <a:lnTo>
                    <a:pt x="51" y="461"/>
                  </a:lnTo>
                  <a:lnTo>
                    <a:pt x="53" y="457"/>
                  </a:lnTo>
                  <a:lnTo>
                    <a:pt x="55" y="457"/>
                  </a:lnTo>
                  <a:lnTo>
                    <a:pt x="55" y="459"/>
                  </a:lnTo>
                  <a:lnTo>
                    <a:pt x="55" y="459"/>
                  </a:lnTo>
                  <a:lnTo>
                    <a:pt x="55" y="459"/>
                  </a:lnTo>
                  <a:lnTo>
                    <a:pt x="55" y="461"/>
                  </a:lnTo>
                  <a:lnTo>
                    <a:pt x="57" y="461"/>
                  </a:lnTo>
                  <a:lnTo>
                    <a:pt x="57" y="463"/>
                  </a:lnTo>
                  <a:lnTo>
                    <a:pt x="59" y="463"/>
                  </a:lnTo>
                  <a:lnTo>
                    <a:pt x="57" y="463"/>
                  </a:lnTo>
                  <a:lnTo>
                    <a:pt x="57" y="463"/>
                  </a:lnTo>
                  <a:lnTo>
                    <a:pt x="55" y="463"/>
                  </a:lnTo>
                  <a:lnTo>
                    <a:pt x="55" y="463"/>
                  </a:lnTo>
                  <a:lnTo>
                    <a:pt x="53" y="463"/>
                  </a:lnTo>
                  <a:lnTo>
                    <a:pt x="53" y="463"/>
                  </a:lnTo>
                  <a:lnTo>
                    <a:pt x="53" y="464"/>
                  </a:lnTo>
                  <a:lnTo>
                    <a:pt x="53" y="464"/>
                  </a:lnTo>
                  <a:lnTo>
                    <a:pt x="53" y="464"/>
                  </a:lnTo>
                  <a:lnTo>
                    <a:pt x="53" y="464"/>
                  </a:lnTo>
                  <a:lnTo>
                    <a:pt x="53" y="464"/>
                  </a:lnTo>
                  <a:lnTo>
                    <a:pt x="53" y="464"/>
                  </a:lnTo>
                  <a:lnTo>
                    <a:pt x="53" y="464"/>
                  </a:lnTo>
                  <a:lnTo>
                    <a:pt x="53" y="466"/>
                  </a:lnTo>
                  <a:lnTo>
                    <a:pt x="53" y="472"/>
                  </a:lnTo>
                  <a:lnTo>
                    <a:pt x="53" y="474"/>
                  </a:lnTo>
                  <a:lnTo>
                    <a:pt x="55" y="480"/>
                  </a:lnTo>
                  <a:lnTo>
                    <a:pt x="55" y="482"/>
                  </a:lnTo>
                  <a:lnTo>
                    <a:pt x="55" y="484"/>
                  </a:lnTo>
                  <a:lnTo>
                    <a:pt x="57" y="485"/>
                  </a:lnTo>
                  <a:lnTo>
                    <a:pt x="55" y="484"/>
                  </a:lnTo>
                  <a:lnTo>
                    <a:pt x="55" y="482"/>
                  </a:lnTo>
                  <a:lnTo>
                    <a:pt x="53" y="480"/>
                  </a:lnTo>
                  <a:lnTo>
                    <a:pt x="53" y="482"/>
                  </a:lnTo>
                  <a:lnTo>
                    <a:pt x="55" y="485"/>
                  </a:lnTo>
                  <a:lnTo>
                    <a:pt x="55" y="487"/>
                  </a:lnTo>
                  <a:lnTo>
                    <a:pt x="55" y="487"/>
                  </a:lnTo>
                  <a:lnTo>
                    <a:pt x="55" y="489"/>
                  </a:lnTo>
                  <a:lnTo>
                    <a:pt x="57" y="491"/>
                  </a:lnTo>
                  <a:lnTo>
                    <a:pt x="57" y="493"/>
                  </a:lnTo>
                  <a:lnTo>
                    <a:pt x="59" y="499"/>
                  </a:lnTo>
                  <a:lnTo>
                    <a:pt x="59" y="503"/>
                  </a:lnTo>
                  <a:lnTo>
                    <a:pt x="61" y="508"/>
                  </a:lnTo>
                  <a:lnTo>
                    <a:pt x="61" y="508"/>
                  </a:lnTo>
                  <a:lnTo>
                    <a:pt x="61" y="508"/>
                  </a:lnTo>
                  <a:lnTo>
                    <a:pt x="61" y="510"/>
                  </a:lnTo>
                  <a:lnTo>
                    <a:pt x="61" y="512"/>
                  </a:lnTo>
                  <a:lnTo>
                    <a:pt x="63" y="514"/>
                  </a:lnTo>
                  <a:lnTo>
                    <a:pt x="63" y="514"/>
                  </a:lnTo>
                  <a:lnTo>
                    <a:pt x="63" y="516"/>
                  </a:lnTo>
                  <a:lnTo>
                    <a:pt x="63" y="520"/>
                  </a:lnTo>
                  <a:lnTo>
                    <a:pt x="66" y="537"/>
                  </a:lnTo>
                  <a:lnTo>
                    <a:pt x="70" y="537"/>
                  </a:lnTo>
                  <a:lnTo>
                    <a:pt x="74" y="537"/>
                  </a:lnTo>
                  <a:lnTo>
                    <a:pt x="78" y="535"/>
                  </a:lnTo>
                  <a:lnTo>
                    <a:pt x="78" y="537"/>
                  </a:lnTo>
                  <a:lnTo>
                    <a:pt x="76" y="537"/>
                  </a:lnTo>
                  <a:lnTo>
                    <a:pt x="74" y="537"/>
                  </a:lnTo>
                  <a:lnTo>
                    <a:pt x="72" y="539"/>
                  </a:lnTo>
                  <a:lnTo>
                    <a:pt x="72" y="539"/>
                  </a:lnTo>
                  <a:lnTo>
                    <a:pt x="70" y="541"/>
                  </a:lnTo>
                  <a:lnTo>
                    <a:pt x="70" y="541"/>
                  </a:lnTo>
                  <a:lnTo>
                    <a:pt x="70" y="541"/>
                  </a:lnTo>
                  <a:lnTo>
                    <a:pt x="66" y="539"/>
                  </a:lnTo>
                  <a:lnTo>
                    <a:pt x="66" y="541"/>
                  </a:lnTo>
                  <a:lnTo>
                    <a:pt x="68" y="541"/>
                  </a:lnTo>
                  <a:lnTo>
                    <a:pt x="68" y="542"/>
                  </a:lnTo>
                  <a:lnTo>
                    <a:pt x="70" y="542"/>
                  </a:lnTo>
                  <a:lnTo>
                    <a:pt x="70" y="544"/>
                  </a:lnTo>
                  <a:lnTo>
                    <a:pt x="70" y="546"/>
                  </a:lnTo>
                  <a:lnTo>
                    <a:pt x="74" y="544"/>
                  </a:lnTo>
                  <a:lnTo>
                    <a:pt x="76" y="544"/>
                  </a:lnTo>
                  <a:lnTo>
                    <a:pt x="78" y="544"/>
                  </a:lnTo>
                  <a:lnTo>
                    <a:pt x="78" y="544"/>
                  </a:lnTo>
                  <a:lnTo>
                    <a:pt x="78" y="544"/>
                  </a:lnTo>
                  <a:lnTo>
                    <a:pt x="78" y="546"/>
                  </a:lnTo>
                  <a:lnTo>
                    <a:pt x="78" y="546"/>
                  </a:lnTo>
                  <a:lnTo>
                    <a:pt x="78" y="546"/>
                  </a:lnTo>
                  <a:lnTo>
                    <a:pt x="80" y="548"/>
                  </a:lnTo>
                  <a:lnTo>
                    <a:pt x="80" y="548"/>
                  </a:lnTo>
                  <a:lnTo>
                    <a:pt x="80" y="548"/>
                  </a:lnTo>
                  <a:lnTo>
                    <a:pt x="80" y="550"/>
                  </a:lnTo>
                  <a:lnTo>
                    <a:pt x="80" y="550"/>
                  </a:lnTo>
                  <a:lnTo>
                    <a:pt x="82" y="550"/>
                  </a:lnTo>
                  <a:lnTo>
                    <a:pt x="84" y="550"/>
                  </a:lnTo>
                  <a:lnTo>
                    <a:pt x="84" y="550"/>
                  </a:lnTo>
                  <a:lnTo>
                    <a:pt x="84" y="550"/>
                  </a:lnTo>
                  <a:lnTo>
                    <a:pt x="84" y="550"/>
                  </a:lnTo>
                  <a:lnTo>
                    <a:pt x="84" y="550"/>
                  </a:lnTo>
                  <a:lnTo>
                    <a:pt x="84" y="552"/>
                  </a:lnTo>
                  <a:lnTo>
                    <a:pt x="84" y="552"/>
                  </a:lnTo>
                  <a:lnTo>
                    <a:pt x="84" y="552"/>
                  </a:lnTo>
                  <a:lnTo>
                    <a:pt x="84" y="554"/>
                  </a:lnTo>
                  <a:lnTo>
                    <a:pt x="85" y="554"/>
                  </a:lnTo>
                  <a:lnTo>
                    <a:pt x="85" y="554"/>
                  </a:lnTo>
                  <a:lnTo>
                    <a:pt x="85" y="554"/>
                  </a:lnTo>
                  <a:lnTo>
                    <a:pt x="85" y="554"/>
                  </a:lnTo>
                  <a:lnTo>
                    <a:pt x="87" y="552"/>
                  </a:lnTo>
                  <a:lnTo>
                    <a:pt x="87" y="552"/>
                  </a:lnTo>
                  <a:lnTo>
                    <a:pt x="89" y="552"/>
                  </a:lnTo>
                  <a:lnTo>
                    <a:pt x="89" y="552"/>
                  </a:lnTo>
                  <a:lnTo>
                    <a:pt x="91" y="554"/>
                  </a:lnTo>
                  <a:lnTo>
                    <a:pt x="93" y="554"/>
                  </a:lnTo>
                  <a:lnTo>
                    <a:pt x="93" y="554"/>
                  </a:lnTo>
                  <a:lnTo>
                    <a:pt x="93" y="554"/>
                  </a:lnTo>
                  <a:lnTo>
                    <a:pt x="93" y="556"/>
                  </a:lnTo>
                  <a:lnTo>
                    <a:pt x="93" y="556"/>
                  </a:lnTo>
                  <a:lnTo>
                    <a:pt x="93" y="556"/>
                  </a:lnTo>
                  <a:lnTo>
                    <a:pt x="93" y="558"/>
                  </a:lnTo>
                  <a:lnTo>
                    <a:pt x="93" y="558"/>
                  </a:lnTo>
                  <a:lnTo>
                    <a:pt x="93" y="560"/>
                  </a:lnTo>
                  <a:lnTo>
                    <a:pt x="95" y="560"/>
                  </a:lnTo>
                  <a:lnTo>
                    <a:pt x="95" y="560"/>
                  </a:lnTo>
                  <a:lnTo>
                    <a:pt x="95" y="558"/>
                  </a:lnTo>
                  <a:lnTo>
                    <a:pt x="97" y="558"/>
                  </a:lnTo>
                  <a:lnTo>
                    <a:pt x="97" y="558"/>
                  </a:lnTo>
                  <a:lnTo>
                    <a:pt x="97" y="560"/>
                  </a:lnTo>
                  <a:lnTo>
                    <a:pt x="99" y="561"/>
                  </a:lnTo>
                  <a:lnTo>
                    <a:pt x="99" y="561"/>
                  </a:lnTo>
                  <a:lnTo>
                    <a:pt x="101" y="561"/>
                  </a:lnTo>
                  <a:lnTo>
                    <a:pt x="101" y="561"/>
                  </a:lnTo>
                  <a:lnTo>
                    <a:pt x="101" y="561"/>
                  </a:lnTo>
                  <a:lnTo>
                    <a:pt x="103" y="561"/>
                  </a:lnTo>
                  <a:lnTo>
                    <a:pt x="103" y="561"/>
                  </a:lnTo>
                  <a:lnTo>
                    <a:pt x="103" y="560"/>
                  </a:lnTo>
                  <a:lnTo>
                    <a:pt x="105" y="560"/>
                  </a:lnTo>
                  <a:lnTo>
                    <a:pt x="108" y="561"/>
                  </a:lnTo>
                  <a:lnTo>
                    <a:pt x="108" y="563"/>
                  </a:lnTo>
                  <a:lnTo>
                    <a:pt x="106" y="565"/>
                  </a:lnTo>
                  <a:lnTo>
                    <a:pt x="106" y="565"/>
                  </a:lnTo>
                  <a:lnTo>
                    <a:pt x="106" y="567"/>
                  </a:lnTo>
                  <a:lnTo>
                    <a:pt x="106" y="567"/>
                  </a:lnTo>
                  <a:lnTo>
                    <a:pt x="108" y="569"/>
                  </a:lnTo>
                  <a:lnTo>
                    <a:pt x="108" y="569"/>
                  </a:lnTo>
                  <a:lnTo>
                    <a:pt x="108" y="571"/>
                  </a:lnTo>
                  <a:lnTo>
                    <a:pt x="108" y="571"/>
                  </a:lnTo>
                  <a:lnTo>
                    <a:pt x="110" y="571"/>
                  </a:lnTo>
                  <a:lnTo>
                    <a:pt x="110" y="571"/>
                  </a:lnTo>
                  <a:lnTo>
                    <a:pt x="110" y="571"/>
                  </a:lnTo>
                  <a:lnTo>
                    <a:pt x="110" y="571"/>
                  </a:lnTo>
                  <a:lnTo>
                    <a:pt x="112" y="573"/>
                  </a:lnTo>
                  <a:lnTo>
                    <a:pt x="112" y="573"/>
                  </a:lnTo>
                  <a:lnTo>
                    <a:pt x="112" y="573"/>
                  </a:lnTo>
                  <a:lnTo>
                    <a:pt x="112" y="573"/>
                  </a:lnTo>
                  <a:lnTo>
                    <a:pt x="112" y="573"/>
                  </a:lnTo>
                  <a:lnTo>
                    <a:pt x="112" y="573"/>
                  </a:lnTo>
                  <a:lnTo>
                    <a:pt x="116" y="573"/>
                  </a:lnTo>
                  <a:lnTo>
                    <a:pt x="116" y="573"/>
                  </a:lnTo>
                  <a:lnTo>
                    <a:pt x="116" y="573"/>
                  </a:lnTo>
                  <a:lnTo>
                    <a:pt x="118" y="573"/>
                  </a:lnTo>
                  <a:lnTo>
                    <a:pt x="118" y="573"/>
                  </a:lnTo>
                  <a:lnTo>
                    <a:pt x="118" y="575"/>
                  </a:lnTo>
                  <a:lnTo>
                    <a:pt x="118" y="575"/>
                  </a:lnTo>
                  <a:lnTo>
                    <a:pt x="118" y="575"/>
                  </a:lnTo>
                  <a:lnTo>
                    <a:pt x="116" y="575"/>
                  </a:lnTo>
                  <a:lnTo>
                    <a:pt x="116" y="577"/>
                  </a:lnTo>
                  <a:lnTo>
                    <a:pt x="114" y="577"/>
                  </a:lnTo>
                  <a:lnTo>
                    <a:pt x="114" y="579"/>
                  </a:lnTo>
                  <a:lnTo>
                    <a:pt x="114" y="579"/>
                  </a:lnTo>
                  <a:lnTo>
                    <a:pt x="114" y="580"/>
                  </a:lnTo>
                  <a:lnTo>
                    <a:pt x="114" y="580"/>
                  </a:lnTo>
                  <a:lnTo>
                    <a:pt x="116" y="580"/>
                  </a:lnTo>
                  <a:lnTo>
                    <a:pt x="116" y="582"/>
                  </a:lnTo>
                  <a:lnTo>
                    <a:pt x="118" y="584"/>
                  </a:lnTo>
                  <a:lnTo>
                    <a:pt x="118" y="586"/>
                  </a:lnTo>
                  <a:lnTo>
                    <a:pt x="118" y="588"/>
                  </a:lnTo>
                  <a:lnTo>
                    <a:pt x="120" y="590"/>
                  </a:lnTo>
                  <a:lnTo>
                    <a:pt x="120" y="590"/>
                  </a:lnTo>
                  <a:lnTo>
                    <a:pt x="120" y="590"/>
                  </a:lnTo>
                  <a:lnTo>
                    <a:pt x="120" y="590"/>
                  </a:lnTo>
                  <a:lnTo>
                    <a:pt x="120" y="590"/>
                  </a:lnTo>
                  <a:lnTo>
                    <a:pt x="122" y="590"/>
                  </a:lnTo>
                  <a:lnTo>
                    <a:pt x="122" y="590"/>
                  </a:lnTo>
                  <a:lnTo>
                    <a:pt x="122" y="590"/>
                  </a:lnTo>
                  <a:lnTo>
                    <a:pt x="124" y="592"/>
                  </a:lnTo>
                  <a:lnTo>
                    <a:pt x="133" y="601"/>
                  </a:lnTo>
                  <a:lnTo>
                    <a:pt x="135" y="603"/>
                  </a:lnTo>
                  <a:lnTo>
                    <a:pt x="137" y="603"/>
                  </a:lnTo>
                  <a:lnTo>
                    <a:pt x="139" y="605"/>
                  </a:lnTo>
                  <a:lnTo>
                    <a:pt x="139" y="605"/>
                  </a:lnTo>
                  <a:lnTo>
                    <a:pt x="141" y="605"/>
                  </a:lnTo>
                  <a:lnTo>
                    <a:pt x="141" y="607"/>
                  </a:lnTo>
                  <a:lnTo>
                    <a:pt x="141" y="607"/>
                  </a:lnTo>
                  <a:lnTo>
                    <a:pt x="141" y="609"/>
                  </a:lnTo>
                  <a:lnTo>
                    <a:pt x="143" y="609"/>
                  </a:lnTo>
                  <a:lnTo>
                    <a:pt x="143" y="609"/>
                  </a:lnTo>
                  <a:lnTo>
                    <a:pt x="145" y="609"/>
                  </a:lnTo>
                  <a:lnTo>
                    <a:pt x="145" y="609"/>
                  </a:lnTo>
                  <a:lnTo>
                    <a:pt x="145" y="609"/>
                  </a:lnTo>
                  <a:lnTo>
                    <a:pt x="146" y="611"/>
                  </a:lnTo>
                  <a:lnTo>
                    <a:pt x="148" y="611"/>
                  </a:lnTo>
                  <a:lnTo>
                    <a:pt x="148" y="611"/>
                  </a:lnTo>
                  <a:lnTo>
                    <a:pt x="150" y="611"/>
                  </a:lnTo>
                  <a:lnTo>
                    <a:pt x="150" y="611"/>
                  </a:lnTo>
                  <a:lnTo>
                    <a:pt x="150" y="611"/>
                  </a:lnTo>
                  <a:lnTo>
                    <a:pt x="152" y="611"/>
                  </a:lnTo>
                  <a:lnTo>
                    <a:pt x="152" y="611"/>
                  </a:lnTo>
                  <a:lnTo>
                    <a:pt x="152" y="611"/>
                  </a:lnTo>
                  <a:lnTo>
                    <a:pt x="154" y="611"/>
                  </a:lnTo>
                  <a:lnTo>
                    <a:pt x="154" y="613"/>
                  </a:lnTo>
                  <a:lnTo>
                    <a:pt x="154" y="615"/>
                  </a:lnTo>
                  <a:lnTo>
                    <a:pt x="154" y="617"/>
                  </a:lnTo>
                  <a:lnTo>
                    <a:pt x="156" y="619"/>
                  </a:lnTo>
                  <a:lnTo>
                    <a:pt x="156" y="620"/>
                  </a:lnTo>
                  <a:lnTo>
                    <a:pt x="158" y="620"/>
                  </a:lnTo>
                  <a:lnTo>
                    <a:pt x="160" y="622"/>
                  </a:lnTo>
                  <a:lnTo>
                    <a:pt x="162" y="622"/>
                  </a:lnTo>
                  <a:lnTo>
                    <a:pt x="164" y="622"/>
                  </a:lnTo>
                  <a:lnTo>
                    <a:pt x="165" y="624"/>
                  </a:lnTo>
                  <a:lnTo>
                    <a:pt x="167" y="624"/>
                  </a:lnTo>
                  <a:lnTo>
                    <a:pt x="171" y="624"/>
                  </a:lnTo>
                  <a:lnTo>
                    <a:pt x="173" y="624"/>
                  </a:lnTo>
                  <a:lnTo>
                    <a:pt x="177" y="622"/>
                  </a:lnTo>
                  <a:lnTo>
                    <a:pt x="181" y="622"/>
                  </a:lnTo>
                  <a:lnTo>
                    <a:pt x="183" y="622"/>
                  </a:lnTo>
                  <a:lnTo>
                    <a:pt x="183" y="622"/>
                  </a:lnTo>
                  <a:lnTo>
                    <a:pt x="183" y="622"/>
                  </a:lnTo>
                  <a:lnTo>
                    <a:pt x="183" y="624"/>
                  </a:lnTo>
                  <a:lnTo>
                    <a:pt x="183" y="628"/>
                  </a:lnTo>
                  <a:lnTo>
                    <a:pt x="183" y="630"/>
                  </a:lnTo>
                  <a:lnTo>
                    <a:pt x="183" y="630"/>
                  </a:lnTo>
                  <a:lnTo>
                    <a:pt x="185" y="632"/>
                  </a:lnTo>
                  <a:lnTo>
                    <a:pt x="185" y="632"/>
                  </a:lnTo>
                  <a:lnTo>
                    <a:pt x="186" y="632"/>
                  </a:lnTo>
                  <a:lnTo>
                    <a:pt x="186" y="632"/>
                  </a:lnTo>
                  <a:lnTo>
                    <a:pt x="188" y="630"/>
                  </a:lnTo>
                  <a:lnTo>
                    <a:pt x="188" y="630"/>
                  </a:lnTo>
                  <a:lnTo>
                    <a:pt x="190" y="630"/>
                  </a:lnTo>
                  <a:lnTo>
                    <a:pt x="190" y="632"/>
                  </a:lnTo>
                  <a:lnTo>
                    <a:pt x="192" y="632"/>
                  </a:lnTo>
                  <a:lnTo>
                    <a:pt x="192" y="632"/>
                  </a:lnTo>
                  <a:lnTo>
                    <a:pt x="192" y="634"/>
                  </a:lnTo>
                  <a:lnTo>
                    <a:pt x="194" y="636"/>
                  </a:lnTo>
                  <a:lnTo>
                    <a:pt x="194" y="636"/>
                  </a:lnTo>
                  <a:lnTo>
                    <a:pt x="196" y="636"/>
                  </a:lnTo>
                  <a:lnTo>
                    <a:pt x="196" y="636"/>
                  </a:lnTo>
                  <a:lnTo>
                    <a:pt x="196" y="636"/>
                  </a:lnTo>
                  <a:lnTo>
                    <a:pt x="198" y="636"/>
                  </a:lnTo>
                  <a:lnTo>
                    <a:pt x="198" y="636"/>
                  </a:lnTo>
                  <a:lnTo>
                    <a:pt x="198" y="636"/>
                  </a:lnTo>
                  <a:lnTo>
                    <a:pt x="200" y="636"/>
                  </a:lnTo>
                  <a:lnTo>
                    <a:pt x="200" y="638"/>
                  </a:lnTo>
                  <a:lnTo>
                    <a:pt x="202" y="639"/>
                  </a:lnTo>
                  <a:lnTo>
                    <a:pt x="204" y="641"/>
                  </a:lnTo>
                  <a:lnTo>
                    <a:pt x="204" y="641"/>
                  </a:lnTo>
                  <a:lnTo>
                    <a:pt x="206" y="641"/>
                  </a:lnTo>
                  <a:lnTo>
                    <a:pt x="207" y="641"/>
                  </a:lnTo>
                  <a:lnTo>
                    <a:pt x="207" y="643"/>
                  </a:lnTo>
                  <a:lnTo>
                    <a:pt x="207" y="641"/>
                  </a:lnTo>
                  <a:lnTo>
                    <a:pt x="209" y="641"/>
                  </a:lnTo>
                  <a:lnTo>
                    <a:pt x="209" y="641"/>
                  </a:lnTo>
                  <a:lnTo>
                    <a:pt x="211" y="641"/>
                  </a:lnTo>
                  <a:lnTo>
                    <a:pt x="211" y="641"/>
                  </a:lnTo>
                  <a:lnTo>
                    <a:pt x="211" y="643"/>
                  </a:lnTo>
                  <a:lnTo>
                    <a:pt x="211" y="643"/>
                  </a:lnTo>
                  <a:lnTo>
                    <a:pt x="213" y="645"/>
                  </a:lnTo>
                  <a:lnTo>
                    <a:pt x="213" y="647"/>
                  </a:lnTo>
                  <a:lnTo>
                    <a:pt x="213" y="649"/>
                  </a:lnTo>
                  <a:lnTo>
                    <a:pt x="215" y="649"/>
                  </a:lnTo>
                  <a:lnTo>
                    <a:pt x="215" y="647"/>
                  </a:lnTo>
                  <a:lnTo>
                    <a:pt x="215" y="647"/>
                  </a:lnTo>
                  <a:lnTo>
                    <a:pt x="217" y="647"/>
                  </a:lnTo>
                  <a:lnTo>
                    <a:pt x="217" y="645"/>
                  </a:lnTo>
                  <a:lnTo>
                    <a:pt x="219" y="645"/>
                  </a:lnTo>
                  <a:lnTo>
                    <a:pt x="221" y="645"/>
                  </a:lnTo>
                  <a:lnTo>
                    <a:pt x="223" y="645"/>
                  </a:lnTo>
                  <a:lnTo>
                    <a:pt x="225" y="645"/>
                  </a:lnTo>
                  <a:lnTo>
                    <a:pt x="226" y="647"/>
                  </a:lnTo>
                  <a:lnTo>
                    <a:pt x="226" y="647"/>
                  </a:lnTo>
                  <a:lnTo>
                    <a:pt x="226" y="649"/>
                  </a:lnTo>
                  <a:lnTo>
                    <a:pt x="226" y="651"/>
                  </a:lnTo>
                  <a:lnTo>
                    <a:pt x="226" y="651"/>
                  </a:lnTo>
                  <a:lnTo>
                    <a:pt x="226" y="653"/>
                  </a:lnTo>
                  <a:lnTo>
                    <a:pt x="228" y="653"/>
                  </a:lnTo>
                  <a:lnTo>
                    <a:pt x="230" y="653"/>
                  </a:lnTo>
                  <a:lnTo>
                    <a:pt x="232" y="653"/>
                  </a:lnTo>
                  <a:lnTo>
                    <a:pt x="246" y="651"/>
                  </a:lnTo>
                  <a:lnTo>
                    <a:pt x="246" y="653"/>
                  </a:lnTo>
                  <a:lnTo>
                    <a:pt x="251" y="653"/>
                  </a:lnTo>
                  <a:lnTo>
                    <a:pt x="251" y="653"/>
                  </a:lnTo>
                  <a:lnTo>
                    <a:pt x="253" y="651"/>
                  </a:lnTo>
                  <a:lnTo>
                    <a:pt x="253" y="645"/>
                  </a:lnTo>
                  <a:lnTo>
                    <a:pt x="255" y="641"/>
                  </a:lnTo>
                  <a:lnTo>
                    <a:pt x="259" y="638"/>
                  </a:lnTo>
                  <a:lnTo>
                    <a:pt x="261" y="636"/>
                  </a:lnTo>
                  <a:lnTo>
                    <a:pt x="261" y="636"/>
                  </a:lnTo>
                  <a:lnTo>
                    <a:pt x="263" y="636"/>
                  </a:lnTo>
                  <a:lnTo>
                    <a:pt x="265" y="636"/>
                  </a:lnTo>
                  <a:lnTo>
                    <a:pt x="266" y="636"/>
                  </a:lnTo>
                  <a:lnTo>
                    <a:pt x="268" y="634"/>
                  </a:lnTo>
                  <a:lnTo>
                    <a:pt x="268" y="636"/>
                  </a:lnTo>
                  <a:lnTo>
                    <a:pt x="270" y="636"/>
                  </a:lnTo>
                  <a:lnTo>
                    <a:pt x="276" y="641"/>
                  </a:lnTo>
                  <a:lnTo>
                    <a:pt x="276" y="641"/>
                  </a:lnTo>
                  <a:lnTo>
                    <a:pt x="278" y="641"/>
                  </a:lnTo>
                  <a:lnTo>
                    <a:pt x="278" y="639"/>
                  </a:lnTo>
                  <a:lnTo>
                    <a:pt x="278" y="638"/>
                  </a:lnTo>
                  <a:lnTo>
                    <a:pt x="280" y="638"/>
                  </a:lnTo>
                  <a:lnTo>
                    <a:pt x="280" y="638"/>
                  </a:lnTo>
                  <a:lnTo>
                    <a:pt x="282" y="638"/>
                  </a:lnTo>
                  <a:lnTo>
                    <a:pt x="284" y="636"/>
                  </a:lnTo>
                  <a:lnTo>
                    <a:pt x="287" y="638"/>
                  </a:lnTo>
                  <a:lnTo>
                    <a:pt x="289" y="636"/>
                  </a:lnTo>
                  <a:lnTo>
                    <a:pt x="291" y="636"/>
                  </a:lnTo>
                  <a:lnTo>
                    <a:pt x="291" y="636"/>
                  </a:lnTo>
                  <a:lnTo>
                    <a:pt x="293" y="636"/>
                  </a:lnTo>
                  <a:lnTo>
                    <a:pt x="293" y="636"/>
                  </a:lnTo>
                  <a:lnTo>
                    <a:pt x="295" y="636"/>
                  </a:lnTo>
                  <a:lnTo>
                    <a:pt x="297" y="638"/>
                  </a:lnTo>
                  <a:lnTo>
                    <a:pt x="297" y="638"/>
                  </a:lnTo>
                  <a:lnTo>
                    <a:pt x="299" y="638"/>
                  </a:lnTo>
                  <a:lnTo>
                    <a:pt x="301" y="638"/>
                  </a:lnTo>
                  <a:lnTo>
                    <a:pt x="303" y="638"/>
                  </a:lnTo>
                  <a:lnTo>
                    <a:pt x="307" y="638"/>
                  </a:lnTo>
                  <a:lnTo>
                    <a:pt x="307" y="638"/>
                  </a:lnTo>
                  <a:lnTo>
                    <a:pt x="308" y="636"/>
                  </a:lnTo>
                  <a:lnTo>
                    <a:pt x="308" y="634"/>
                  </a:lnTo>
                  <a:lnTo>
                    <a:pt x="310" y="630"/>
                  </a:lnTo>
                  <a:lnTo>
                    <a:pt x="310" y="628"/>
                  </a:lnTo>
                  <a:lnTo>
                    <a:pt x="312" y="626"/>
                  </a:lnTo>
                  <a:lnTo>
                    <a:pt x="312" y="624"/>
                  </a:lnTo>
                  <a:lnTo>
                    <a:pt x="314" y="624"/>
                  </a:lnTo>
                  <a:lnTo>
                    <a:pt x="316" y="624"/>
                  </a:lnTo>
                  <a:lnTo>
                    <a:pt x="326" y="622"/>
                  </a:lnTo>
                  <a:lnTo>
                    <a:pt x="327" y="622"/>
                  </a:lnTo>
                  <a:lnTo>
                    <a:pt x="327" y="622"/>
                  </a:lnTo>
                  <a:lnTo>
                    <a:pt x="329" y="622"/>
                  </a:lnTo>
                  <a:lnTo>
                    <a:pt x="329" y="620"/>
                  </a:lnTo>
                  <a:lnTo>
                    <a:pt x="331" y="619"/>
                  </a:lnTo>
                  <a:lnTo>
                    <a:pt x="333" y="615"/>
                  </a:lnTo>
                  <a:lnTo>
                    <a:pt x="335" y="613"/>
                  </a:lnTo>
                  <a:lnTo>
                    <a:pt x="335" y="613"/>
                  </a:lnTo>
                  <a:lnTo>
                    <a:pt x="337" y="611"/>
                  </a:lnTo>
                  <a:lnTo>
                    <a:pt x="337" y="611"/>
                  </a:lnTo>
                  <a:lnTo>
                    <a:pt x="337" y="611"/>
                  </a:lnTo>
                  <a:lnTo>
                    <a:pt x="339" y="609"/>
                  </a:lnTo>
                  <a:lnTo>
                    <a:pt x="339" y="609"/>
                  </a:lnTo>
                  <a:lnTo>
                    <a:pt x="339" y="609"/>
                  </a:lnTo>
                  <a:lnTo>
                    <a:pt x="339" y="609"/>
                  </a:lnTo>
                  <a:lnTo>
                    <a:pt x="339" y="607"/>
                  </a:lnTo>
                  <a:lnTo>
                    <a:pt x="339" y="607"/>
                  </a:lnTo>
                  <a:lnTo>
                    <a:pt x="339" y="607"/>
                  </a:lnTo>
                  <a:lnTo>
                    <a:pt x="339" y="605"/>
                  </a:lnTo>
                  <a:lnTo>
                    <a:pt x="335" y="601"/>
                  </a:lnTo>
                  <a:lnTo>
                    <a:pt x="335" y="601"/>
                  </a:lnTo>
                  <a:lnTo>
                    <a:pt x="335" y="601"/>
                  </a:lnTo>
                  <a:lnTo>
                    <a:pt x="333" y="600"/>
                  </a:lnTo>
                  <a:lnTo>
                    <a:pt x="329" y="600"/>
                  </a:lnTo>
                  <a:lnTo>
                    <a:pt x="314" y="600"/>
                  </a:lnTo>
                  <a:lnTo>
                    <a:pt x="312" y="598"/>
                  </a:lnTo>
                  <a:lnTo>
                    <a:pt x="312" y="598"/>
                  </a:lnTo>
                  <a:lnTo>
                    <a:pt x="312" y="596"/>
                  </a:lnTo>
                  <a:lnTo>
                    <a:pt x="312" y="596"/>
                  </a:lnTo>
                  <a:lnTo>
                    <a:pt x="310" y="594"/>
                  </a:lnTo>
                  <a:lnTo>
                    <a:pt x="310" y="594"/>
                  </a:lnTo>
                  <a:lnTo>
                    <a:pt x="310" y="594"/>
                  </a:lnTo>
                  <a:lnTo>
                    <a:pt x="312" y="592"/>
                  </a:lnTo>
                  <a:lnTo>
                    <a:pt x="312" y="592"/>
                  </a:lnTo>
                  <a:lnTo>
                    <a:pt x="312" y="590"/>
                  </a:lnTo>
                  <a:lnTo>
                    <a:pt x="316" y="588"/>
                  </a:lnTo>
                  <a:lnTo>
                    <a:pt x="320" y="586"/>
                  </a:lnTo>
                  <a:lnTo>
                    <a:pt x="320" y="584"/>
                  </a:lnTo>
                  <a:lnTo>
                    <a:pt x="322" y="582"/>
                  </a:lnTo>
                  <a:lnTo>
                    <a:pt x="324" y="580"/>
                  </a:lnTo>
                  <a:lnTo>
                    <a:pt x="324" y="580"/>
                  </a:lnTo>
                  <a:lnTo>
                    <a:pt x="326" y="575"/>
                  </a:lnTo>
                  <a:lnTo>
                    <a:pt x="326" y="573"/>
                  </a:lnTo>
                  <a:lnTo>
                    <a:pt x="326" y="571"/>
                  </a:lnTo>
                  <a:lnTo>
                    <a:pt x="324" y="571"/>
                  </a:lnTo>
                  <a:lnTo>
                    <a:pt x="324" y="571"/>
                  </a:lnTo>
                  <a:lnTo>
                    <a:pt x="322" y="571"/>
                  </a:lnTo>
                  <a:lnTo>
                    <a:pt x="322" y="571"/>
                  </a:lnTo>
                  <a:lnTo>
                    <a:pt x="322" y="571"/>
                  </a:lnTo>
                  <a:lnTo>
                    <a:pt x="322" y="571"/>
                  </a:lnTo>
                  <a:lnTo>
                    <a:pt x="322" y="571"/>
                  </a:lnTo>
                  <a:lnTo>
                    <a:pt x="322" y="571"/>
                  </a:lnTo>
                  <a:lnTo>
                    <a:pt x="322" y="569"/>
                  </a:lnTo>
                  <a:lnTo>
                    <a:pt x="322" y="569"/>
                  </a:lnTo>
                  <a:lnTo>
                    <a:pt x="322" y="567"/>
                  </a:lnTo>
                  <a:lnTo>
                    <a:pt x="320" y="567"/>
                  </a:lnTo>
                  <a:lnTo>
                    <a:pt x="320" y="565"/>
                  </a:lnTo>
                  <a:lnTo>
                    <a:pt x="320" y="563"/>
                  </a:lnTo>
                  <a:lnTo>
                    <a:pt x="322" y="560"/>
                  </a:lnTo>
                  <a:lnTo>
                    <a:pt x="324" y="554"/>
                  </a:lnTo>
                  <a:lnTo>
                    <a:pt x="326" y="554"/>
                  </a:lnTo>
                  <a:lnTo>
                    <a:pt x="327" y="554"/>
                  </a:lnTo>
                  <a:lnTo>
                    <a:pt x="327" y="554"/>
                  </a:lnTo>
                  <a:lnTo>
                    <a:pt x="329" y="554"/>
                  </a:lnTo>
                  <a:lnTo>
                    <a:pt x="331" y="554"/>
                  </a:lnTo>
                  <a:lnTo>
                    <a:pt x="331" y="554"/>
                  </a:lnTo>
                  <a:lnTo>
                    <a:pt x="333" y="554"/>
                  </a:lnTo>
                  <a:lnTo>
                    <a:pt x="337" y="552"/>
                  </a:lnTo>
                  <a:lnTo>
                    <a:pt x="337" y="552"/>
                  </a:lnTo>
                  <a:lnTo>
                    <a:pt x="339" y="550"/>
                  </a:lnTo>
                  <a:lnTo>
                    <a:pt x="339" y="550"/>
                  </a:lnTo>
                  <a:lnTo>
                    <a:pt x="339" y="550"/>
                  </a:lnTo>
                  <a:lnTo>
                    <a:pt x="339" y="548"/>
                  </a:lnTo>
                  <a:lnTo>
                    <a:pt x="337" y="548"/>
                  </a:lnTo>
                  <a:lnTo>
                    <a:pt x="337" y="548"/>
                  </a:lnTo>
                  <a:lnTo>
                    <a:pt x="337" y="546"/>
                  </a:lnTo>
                  <a:lnTo>
                    <a:pt x="339" y="546"/>
                  </a:lnTo>
                  <a:lnTo>
                    <a:pt x="339" y="544"/>
                  </a:lnTo>
                  <a:lnTo>
                    <a:pt x="341" y="542"/>
                  </a:lnTo>
                  <a:lnTo>
                    <a:pt x="343" y="537"/>
                  </a:lnTo>
                  <a:lnTo>
                    <a:pt x="347" y="537"/>
                  </a:lnTo>
                  <a:lnTo>
                    <a:pt x="350" y="535"/>
                  </a:lnTo>
                  <a:lnTo>
                    <a:pt x="352" y="537"/>
                  </a:lnTo>
                  <a:lnTo>
                    <a:pt x="352" y="537"/>
                  </a:lnTo>
                  <a:lnTo>
                    <a:pt x="354" y="537"/>
                  </a:lnTo>
                  <a:lnTo>
                    <a:pt x="354" y="537"/>
                  </a:lnTo>
                  <a:lnTo>
                    <a:pt x="354" y="539"/>
                  </a:lnTo>
                  <a:lnTo>
                    <a:pt x="356" y="539"/>
                  </a:lnTo>
                  <a:lnTo>
                    <a:pt x="356" y="541"/>
                  </a:lnTo>
                  <a:lnTo>
                    <a:pt x="358" y="542"/>
                  </a:lnTo>
                  <a:lnTo>
                    <a:pt x="360" y="542"/>
                  </a:lnTo>
                  <a:lnTo>
                    <a:pt x="360" y="542"/>
                  </a:lnTo>
                  <a:lnTo>
                    <a:pt x="362" y="542"/>
                  </a:lnTo>
                  <a:lnTo>
                    <a:pt x="362" y="541"/>
                  </a:lnTo>
                  <a:lnTo>
                    <a:pt x="362" y="541"/>
                  </a:lnTo>
                  <a:lnTo>
                    <a:pt x="362" y="541"/>
                  </a:lnTo>
                  <a:lnTo>
                    <a:pt x="364" y="539"/>
                  </a:lnTo>
                  <a:lnTo>
                    <a:pt x="364" y="539"/>
                  </a:lnTo>
                  <a:lnTo>
                    <a:pt x="366" y="539"/>
                  </a:lnTo>
                  <a:lnTo>
                    <a:pt x="367" y="541"/>
                  </a:lnTo>
                  <a:lnTo>
                    <a:pt x="373" y="544"/>
                  </a:lnTo>
                  <a:lnTo>
                    <a:pt x="375" y="544"/>
                  </a:lnTo>
                  <a:lnTo>
                    <a:pt x="381" y="546"/>
                  </a:lnTo>
                  <a:lnTo>
                    <a:pt x="383" y="546"/>
                  </a:lnTo>
                  <a:lnTo>
                    <a:pt x="383" y="544"/>
                  </a:lnTo>
                  <a:lnTo>
                    <a:pt x="383" y="542"/>
                  </a:lnTo>
                  <a:lnTo>
                    <a:pt x="383" y="542"/>
                  </a:lnTo>
                  <a:lnTo>
                    <a:pt x="383" y="541"/>
                  </a:lnTo>
                  <a:lnTo>
                    <a:pt x="383" y="539"/>
                  </a:lnTo>
                  <a:lnTo>
                    <a:pt x="383" y="539"/>
                  </a:lnTo>
                  <a:lnTo>
                    <a:pt x="383" y="537"/>
                  </a:lnTo>
                  <a:lnTo>
                    <a:pt x="383" y="537"/>
                  </a:lnTo>
                  <a:lnTo>
                    <a:pt x="383" y="537"/>
                  </a:lnTo>
                  <a:lnTo>
                    <a:pt x="385" y="537"/>
                  </a:lnTo>
                  <a:lnTo>
                    <a:pt x="385" y="537"/>
                  </a:lnTo>
                  <a:lnTo>
                    <a:pt x="385" y="539"/>
                  </a:lnTo>
                  <a:lnTo>
                    <a:pt x="387" y="539"/>
                  </a:lnTo>
                  <a:lnTo>
                    <a:pt x="387" y="539"/>
                  </a:lnTo>
                  <a:lnTo>
                    <a:pt x="387" y="539"/>
                  </a:lnTo>
                  <a:lnTo>
                    <a:pt x="387" y="539"/>
                  </a:lnTo>
                  <a:lnTo>
                    <a:pt x="388" y="537"/>
                  </a:lnTo>
                  <a:lnTo>
                    <a:pt x="388" y="537"/>
                  </a:lnTo>
                  <a:lnTo>
                    <a:pt x="388" y="537"/>
                  </a:lnTo>
                  <a:lnTo>
                    <a:pt x="390" y="537"/>
                  </a:lnTo>
                  <a:lnTo>
                    <a:pt x="390" y="537"/>
                  </a:lnTo>
                  <a:lnTo>
                    <a:pt x="390" y="537"/>
                  </a:lnTo>
                  <a:lnTo>
                    <a:pt x="392" y="537"/>
                  </a:lnTo>
                  <a:lnTo>
                    <a:pt x="392" y="535"/>
                  </a:lnTo>
                  <a:lnTo>
                    <a:pt x="392" y="533"/>
                  </a:lnTo>
                  <a:lnTo>
                    <a:pt x="392" y="533"/>
                  </a:lnTo>
                  <a:lnTo>
                    <a:pt x="392" y="531"/>
                  </a:lnTo>
                  <a:lnTo>
                    <a:pt x="392" y="531"/>
                  </a:lnTo>
                  <a:lnTo>
                    <a:pt x="394" y="531"/>
                  </a:lnTo>
                  <a:lnTo>
                    <a:pt x="394" y="531"/>
                  </a:lnTo>
                  <a:lnTo>
                    <a:pt x="394" y="531"/>
                  </a:lnTo>
                  <a:lnTo>
                    <a:pt x="394" y="533"/>
                  </a:lnTo>
                  <a:lnTo>
                    <a:pt x="400" y="537"/>
                  </a:lnTo>
                  <a:lnTo>
                    <a:pt x="402" y="537"/>
                  </a:lnTo>
                  <a:lnTo>
                    <a:pt x="404" y="537"/>
                  </a:lnTo>
                  <a:lnTo>
                    <a:pt x="404" y="537"/>
                  </a:lnTo>
                  <a:lnTo>
                    <a:pt x="404" y="535"/>
                  </a:lnTo>
                  <a:lnTo>
                    <a:pt x="404" y="535"/>
                  </a:lnTo>
                  <a:lnTo>
                    <a:pt x="402" y="533"/>
                  </a:lnTo>
                  <a:lnTo>
                    <a:pt x="400" y="531"/>
                  </a:lnTo>
                  <a:lnTo>
                    <a:pt x="400" y="531"/>
                  </a:lnTo>
                  <a:lnTo>
                    <a:pt x="398" y="531"/>
                  </a:lnTo>
                  <a:lnTo>
                    <a:pt x="398" y="531"/>
                  </a:lnTo>
                  <a:lnTo>
                    <a:pt x="398" y="529"/>
                  </a:lnTo>
                  <a:lnTo>
                    <a:pt x="398" y="529"/>
                  </a:lnTo>
                  <a:lnTo>
                    <a:pt x="402" y="525"/>
                  </a:lnTo>
                  <a:lnTo>
                    <a:pt x="402" y="523"/>
                  </a:lnTo>
                  <a:lnTo>
                    <a:pt x="402" y="523"/>
                  </a:lnTo>
                  <a:lnTo>
                    <a:pt x="402" y="523"/>
                  </a:lnTo>
                  <a:lnTo>
                    <a:pt x="404" y="522"/>
                  </a:lnTo>
                  <a:lnTo>
                    <a:pt x="404" y="520"/>
                  </a:lnTo>
                  <a:lnTo>
                    <a:pt x="404" y="520"/>
                  </a:lnTo>
                  <a:lnTo>
                    <a:pt x="404" y="520"/>
                  </a:lnTo>
                  <a:lnTo>
                    <a:pt x="406" y="518"/>
                  </a:lnTo>
                  <a:lnTo>
                    <a:pt x="407" y="518"/>
                  </a:lnTo>
                  <a:lnTo>
                    <a:pt x="407" y="516"/>
                  </a:lnTo>
                  <a:lnTo>
                    <a:pt x="407" y="516"/>
                  </a:lnTo>
                  <a:lnTo>
                    <a:pt x="407" y="514"/>
                  </a:lnTo>
                  <a:lnTo>
                    <a:pt x="407" y="512"/>
                  </a:lnTo>
                  <a:lnTo>
                    <a:pt x="409" y="510"/>
                  </a:lnTo>
                  <a:lnTo>
                    <a:pt x="409" y="510"/>
                  </a:lnTo>
                  <a:lnTo>
                    <a:pt x="411" y="508"/>
                  </a:lnTo>
                  <a:lnTo>
                    <a:pt x="411" y="506"/>
                  </a:lnTo>
                  <a:lnTo>
                    <a:pt x="411" y="506"/>
                  </a:lnTo>
                  <a:lnTo>
                    <a:pt x="411" y="504"/>
                  </a:lnTo>
                  <a:lnTo>
                    <a:pt x="411" y="504"/>
                  </a:lnTo>
                  <a:lnTo>
                    <a:pt x="413" y="503"/>
                  </a:lnTo>
                  <a:lnTo>
                    <a:pt x="413" y="503"/>
                  </a:lnTo>
                  <a:lnTo>
                    <a:pt x="413" y="503"/>
                  </a:lnTo>
                  <a:lnTo>
                    <a:pt x="413" y="501"/>
                  </a:lnTo>
                  <a:lnTo>
                    <a:pt x="413" y="499"/>
                  </a:lnTo>
                  <a:lnTo>
                    <a:pt x="413" y="499"/>
                  </a:lnTo>
                  <a:lnTo>
                    <a:pt x="413" y="497"/>
                  </a:lnTo>
                  <a:close/>
                </a:path>
              </a:pathLst>
            </a:custGeom>
            <a:solidFill>
              <a:schemeClr val="accent1"/>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99" name="Freeform 48">
              <a:extLst>
                <a:ext uri="{FF2B5EF4-FFF2-40B4-BE49-F238E27FC236}">
                  <a16:creationId xmlns:a16="http://schemas.microsoft.com/office/drawing/2014/main" id="{817114AB-ACC6-D9DB-6B13-536F06116E06}"/>
                </a:ext>
              </a:extLst>
            </p:cNvPr>
            <p:cNvSpPr>
              <a:spLocks/>
            </p:cNvSpPr>
            <p:nvPr/>
          </p:nvSpPr>
          <p:spPr bwMode="auto">
            <a:xfrm>
              <a:off x="3654825" y="3304882"/>
              <a:ext cx="796117" cy="564971"/>
            </a:xfrm>
            <a:custGeom>
              <a:avLst/>
              <a:gdLst>
                <a:gd name="T0" fmla="*/ 418 w 422"/>
                <a:gd name="T1" fmla="*/ 57 h 334"/>
                <a:gd name="T2" fmla="*/ 418 w 422"/>
                <a:gd name="T3" fmla="*/ 45 h 334"/>
                <a:gd name="T4" fmla="*/ 410 w 422"/>
                <a:gd name="T5" fmla="*/ 17 h 334"/>
                <a:gd name="T6" fmla="*/ 391 w 422"/>
                <a:gd name="T7" fmla="*/ 1 h 334"/>
                <a:gd name="T8" fmla="*/ 372 w 422"/>
                <a:gd name="T9" fmla="*/ 13 h 334"/>
                <a:gd name="T10" fmla="*/ 355 w 422"/>
                <a:gd name="T11" fmla="*/ 26 h 334"/>
                <a:gd name="T12" fmla="*/ 345 w 422"/>
                <a:gd name="T13" fmla="*/ 66 h 334"/>
                <a:gd name="T14" fmla="*/ 319 w 422"/>
                <a:gd name="T15" fmla="*/ 74 h 334"/>
                <a:gd name="T16" fmla="*/ 290 w 422"/>
                <a:gd name="T17" fmla="*/ 91 h 334"/>
                <a:gd name="T18" fmla="*/ 275 w 422"/>
                <a:gd name="T19" fmla="*/ 83 h 334"/>
                <a:gd name="T20" fmla="*/ 250 w 422"/>
                <a:gd name="T21" fmla="*/ 60 h 334"/>
                <a:gd name="T22" fmla="*/ 220 w 422"/>
                <a:gd name="T23" fmla="*/ 59 h 334"/>
                <a:gd name="T24" fmla="*/ 210 w 422"/>
                <a:gd name="T25" fmla="*/ 78 h 334"/>
                <a:gd name="T26" fmla="*/ 180 w 422"/>
                <a:gd name="T27" fmla="*/ 83 h 334"/>
                <a:gd name="T28" fmla="*/ 162 w 422"/>
                <a:gd name="T29" fmla="*/ 93 h 334"/>
                <a:gd name="T30" fmla="*/ 136 w 422"/>
                <a:gd name="T31" fmla="*/ 83 h 334"/>
                <a:gd name="T32" fmla="*/ 115 w 422"/>
                <a:gd name="T33" fmla="*/ 95 h 334"/>
                <a:gd name="T34" fmla="*/ 96 w 422"/>
                <a:gd name="T35" fmla="*/ 93 h 334"/>
                <a:gd name="T36" fmla="*/ 84 w 422"/>
                <a:gd name="T37" fmla="*/ 79 h 334"/>
                <a:gd name="T38" fmla="*/ 75 w 422"/>
                <a:gd name="T39" fmla="*/ 81 h 334"/>
                <a:gd name="T40" fmla="*/ 61 w 422"/>
                <a:gd name="T41" fmla="*/ 72 h 334"/>
                <a:gd name="T42" fmla="*/ 33 w 422"/>
                <a:gd name="T43" fmla="*/ 81 h 334"/>
                <a:gd name="T44" fmla="*/ 10 w 422"/>
                <a:gd name="T45" fmla="*/ 93 h 334"/>
                <a:gd name="T46" fmla="*/ 4 w 422"/>
                <a:gd name="T47" fmla="*/ 119 h 334"/>
                <a:gd name="T48" fmla="*/ 37 w 422"/>
                <a:gd name="T49" fmla="*/ 157 h 334"/>
                <a:gd name="T50" fmla="*/ 44 w 422"/>
                <a:gd name="T51" fmla="*/ 175 h 334"/>
                <a:gd name="T52" fmla="*/ 56 w 422"/>
                <a:gd name="T53" fmla="*/ 169 h 334"/>
                <a:gd name="T54" fmla="*/ 58 w 422"/>
                <a:gd name="T55" fmla="*/ 186 h 334"/>
                <a:gd name="T56" fmla="*/ 63 w 422"/>
                <a:gd name="T57" fmla="*/ 195 h 334"/>
                <a:gd name="T58" fmla="*/ 73 w 422"/>
                <a:gd name="T59" fmla="*/ 233 h 334"/>
                <a:gd name="T60" fmla="*/ 84 w 422"/>
                <a:gd name="T61" fmla="*/ 233 h 334"/>
                <a:gd name="T62" fmla="*/ 92 w 422"/>
                <a:gd name="T63" fmla="*/ 249 h 334"/>
                <a:gd name="T64" fmla="*/ 69 w 422"/>
                <a:gd name="T65" fmla="*/ 270 h 334"/>
                <a:gd name="T66" fmla="*/ 73 w 422"/>
                <a:gd name="T67" fmla="*/ 291 h 334"/>
                <a:gd name="T68" fmla="*/ 107 w 422"/>
                <a:gd name="T69" fmla="*/ 294 h 334"/>
                <a:gd name="T70" fmla="*/ 145 w 422"/>
                <a:gd name="T71" fmla="*/ 291 h 334"/>
                <a:gd name="T72" fmla="*/ 155 w 422"/>
                <a:gd name="T73" fmla="*/ 317 h 334"/>
                <a:gd name="T74" fmla="*/ 174 w 422"/>
                <a:gd name="T75" fmla="*/ 330 h 334"/>
                <a:gd name="T76" fmla="*/ 220 w 422"/>
                <a:gd name="T77" fmla="*/ 325 h 334"/>
                <a:gd name="T78" fmla="*/ 225 w 422"/>
                <a:gd name="T79" fmla="*/ 330 h 334"/>
                <a:gd name="T80" fmla="*/ 242 w 422"/>
                <a:gd name="T81" fmla="*/ 310 h 334"/>
                <a:gd name="T82" fmla="*/ 242 w 422"/>
                <a:gd name="T83" fmla="*/ 283 h 334"/>
                <a:gd name="T84" fmla="*/ 277 w 422"/>
                <a:gd name="T85" fmla="*/ 298 h 334"/>
                <a:gd name="T86" fmla="*/ 313 w 422"/>
                <a:gd name="T87" fmla="*/ 308 h 334"/>
                <a:gd name="T88" fmla="*/ 319 w 422"/>
                <a:gd name="T89" fmla="*/ 296 h 334"/>
                <a:gd name="T90" fmla="*/ 315 w 422"/>
                <a:gd name="T91" fmla="*/ 283 h 334"/>
                <a:gd name="T92" fmla="*/ 292 w 422"/>
                <a:gd name="T93" fmla="*/ 258 h 334"/>
                <a:gd name="T94" fmla="*/ 286 w 422"/>
                <a:gd name="T95" fmla="*/ 237 h 334"/>
                <a:gd name="T96" fmla="*/ 275 w 422"/>
                <a:gd name="T97" fmla="*/ 232 h 334"/>
                <a:gd name="T98" fmla="*/ 235 w 422"/>
                <a:gd name="T99" fmla="*/ 214 h 334"/>
                <a:gd name="T100" fmla="*/ 231 w 422"/>
                <a:gd name="T101" fmla="*/ 190 h 334"/>
                <a:gd name="T102" fmla="*/ 246 w 422"/>
                <a:gd name="T103" fmla="*/ 175 h 334"/>
                <a:gd name="T104" fmla="*/ 260 w 422"/>
                <a:gd name="T105" fmla="*/ 184 h 334"/>
                <a:gd name="T106" fmla="*/ 277 w 422"/>
                <a:gd name="T107" fmla="*/ 178 h 334"/>
                <a:gd name="T108" fmla="*/ 321 w 422"/>
                <a:gd name="T109" fmla="*/ 152 h 334"/>
                <a:gd name="T110" fmla="*/ 340 w 422"/>
                <a:gd name="T111" fmla="*/ 146 h 334"/>
                <a:gd name="T112" fmla="*/ 355 w 422"/>
                <a:gd name="T113" fmla="*/ 146 h 334"/>
                <a:gd name="T114" fmla="*/ 364 w 422"/>
                <a:gd name="T115" fmla="*/ 137 h 334"/>
                <a:gd name="T116" fmla="*/ 368 w 422"/>
                <a:gd name="T117" fmla="*/ 133 h 334"/>
                <a:gd name="T118" fmla="*/ 385 w 422"/>
                <a:gd name="T119" fmla="*/ 119 h 334"/>
                <a:gd name="T120" fmla="*/ 397 w 422"/>
                <a:gd name="T121" fmla="*/ 110 h 334"/>
                <a:gd name="T122" fmla="*/ 410 w 422"/>
                <a:gd name="T123" fmla="*/ 85 h 334"/>
                <a:gd name="T124" fmla="*/ 408 w 422"/>
                <a:gd name="T125" fmla="*/ 72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2" h="334">
                  <a:moveTo>
                    <a:pt x="420" y="70"/>
                  </a:moveTo>
                  <a:lnTo>
                    <a:pt x="420" y="70"/>
                  </a:lnTo>
                  <a:lnTo>
                    <a:pt x="420" y="70"/>
                  </a:lnTo>
                  <a:lnTo>
                    <a:pt x="418" y="68"/>
                  </a:lnTo>
                  <a:lnTo>
                    <a:pt x="420" y="68"/>
                  </a:lnTo>
                  <a:lnTo>
                    <a:pt x="420" y="68"/>
                  </a:lnTo>
                  <a:lnTo>
                    <a:pt x="420" y="66"/>
                  </a:lnTo>
                  <a:lnTo>
                    <a:pt x="422" y="66"/>
                  </a:lnTo>
                  <a:lnTo>
                    <a:pt x="422" y="64"/>
                  </a:lnTo>
                  <a:lnTo>
                    <a:pt x="420" y="64"/>
                  </a:lnTo>
                  <a:lnTo>
                    <a:pt x="420" y="64"/>
                  </a:lnTo>
                  <a:lnTo>
                    <a:pt x="420" y="62"/>
                  </a:lnTo>
                  <a:lnTo>
                    <a:pt x="420" y="62"/>
                  </a:lnTo>
                  <a:lnTo>
                    <a:pt x="420" y="60"/>
                  </a:lnTo>
                  <a:lnTo>
                    <a:pt x="420" y="59"/>
                  </a:lnTo>
                  <a:lnTo>
                    <a:pt x="418" y="59"/>
                  </a:lnTo>
                  <a:lnTo>
                    <a:pt x="418" y="57"/>
                  </a:lnTo>
                  <a:lnTo>
                    <a:pt x="418" y="57"/>
                  </a:lnTo>
                  <a:lnTo>
                    <a:pt x="418" y="57"/>
                  </a:lnTo>
                  <a:lnTo>
                    <a:pt x="414" y="57"/>
                  </a:lnTo>
                  <a:lnTo>
                    <a:pt x="414" y="55"/>
                  </a:lnTo>
                  <a:lnTo>
                    <a:pt x="414" y="55"/>
                  </a:lnTo>
                  <a:lnTo>
                    <a:pt x="414" y="55"/>
                  </a:lnTo>
                  <a:lnTo>
                    <a:pt x="414" y="53"/>
                  </a:lnTo>
                  <a:lnTo>
                    <a:pt x="414" y="53"/>
                  </a:lnTo>
                  <a:lnTo>
                    <a:pt x="414" y="53"/>
                  </a:lnTo>
                  <a:lnTo>
                    <a:pt x="414" y="53"/>
                  </a:lnTo>
                  <a:lnTo>
                    <a:pt x="416" y="53"/>
                  </a:lnTo>
                  <a:lnTo>
                    <a:pt x="416" y="53"/>
                  </a:lnTo>
                  <a:lnTo>
                    <a:pt x="418" y="53"/>
                  </a:lnTo>
                  <a:lnTo>
                    <a:pt x="418" y="53"/>
                  </a:lnTo>
                  <a:lnTo>
                    <a:pt x="418" y="53"/>
                  </a:lnTo>
                  <a:lnTo>
                    <a:pt x="418" y="47"/>
                  </a:lnTo>
                  <a:lnTo>
                    <a:pt x="418" y="45"/>
                  </a:lnTo>
                  <a:lnTo>
                    <a:pt x="420" y="43"/>
                  </a:lnTo>
                  <a:lnTo>
                    <a:pt x="420" y="43"/>
                  </a:lnTo>
                  <a:lnTo>
                    <a:pt x="420" y="40"/>
                  </a:lnTo>
                  <a:lnTo>
                    <a:pt x="420" y="38"/>
                  </a:lnTo>
                  <a:lnTo>
                    <a:pt x="418" y="30"/>
                  </a:lnTo>
                  <a:lnTo>
                    <a:pt x="416" y="28"/>
                  </a:lnTo>
                  <a:lnTo>
                    <a:pt x="416" y="28"/>
                  </a:lnTo>
                  <a:lnTo>
                    <a:pt x="416" y="26"/>
                  </a:lnTo>
                  <a:lnTo>
                    <a:pt x="412" y="22"/>
                  </a:lnTo>
                  <a:lnTo>
                    <a:pt x="412" y="22"/>
                  </a:lnTo>
                  <a:lnTo>
                    <a:pt x="410" y="22"/>
                  </a:lnTo>
                  <a:lnTo>
                    <a:pt x="410" y="22"/>
                  </a:lnTo>
                  <a:lnTo>
                    <a:pt x="410" y="22"/>
                  </a:lnTo>
                  <a:lnTo>
                    <a:pt x="410" y="20"/>
                  </a:lnTo>
                  <a:lnTo>
                    <a:pt x="410" y="20"/>
                  </a:lnTo>
                  <a:lnTo>
                    <a:pt x="410" y="19"/>
                  </a:lnTo>
                  <a:lnTo>
                    <a:pt x="410" y="17"/>
                  </a:lnTo>
                  <a:lnTo>
                    <a:pt x="408" y="15"/>
                  </a:lnTo>
                  <a:lnTo>
                    <a:pt x="408" y="15"/>
                  </a:lnTo>
                  <a:lnTo>
                    <a:pt x="410" y="13"/>
                  </a:lnTo>
                  <a:lnTo>
                    <a:pt x="410" y="13"/>
                  </a:lnTo>
                  <a:lnTo>
                    <a:pt x="410" y="11"/>
                  </a:lnTo>
                  <a:lnTo>
                    <a:pt x="410" y="9"/>
                  </a:lnTo>
                  <a:lnTo>
                    <a:pt x="410" y="9"/>
                  </a:lnTo>
                  <a:lnTo>
                    <a:pt x="410" y="7"/>
                  </a:lnTo>
                  <a:lnTo>
                    <a:pt x="408" y="7"/>
                  </a:lnTo>
                  <a:lnTo>
                    <a:pt x="408" y="7"/>
                  </a:lnTo>
                  <a:lnTo>
                    <a:pt x="404" y="5"/>
                  </a:lnTo>
                  <a:lnTo>
                    <a:pt x="401" y="7"/>
                  </a:lnTo>
                  <a:lnTo>
                    <a:pt x="399" y="5"/>
                  </a:lnTo>
                  <a:lnTo>
                    <a:pt x="393" y="5"/>
                  </a:lnTo>
                  <a:lnTo>
                    <a:pt x="393" y="3"/>
                  </a:lnTo>
                  <a:lnTo>
                    <a:pt x="391" y="1"/>
                  </a:lnTo>
                  <a:lnTo>
                    <a:pt x="391" y="1"/>
                  </a:lnTo>
                  <a:lnTo>
                    <a:pt x="389" y="0"/>
                  </a:lnTo>
                  <a:lnTo>
                    <a:pt x="389" y="0"/>
                  </a:lnTo>
                  <a:lnTo>
                    <a:pt x="387" y="0"/>
                  </a:lnTo>
                  <a:lnTo>
                    <a:pt x="387" y="0"/>
                  </a:lnTo>
                  <a:lnTo>
                    <a:pt x="387" y="0"/>
                  </a:lnTo>
                  <a:lnTo>
                    <a:pt x="385" y="0"/>
                  </a:lnTo>
                  <a:lnTo>
                    <a:pt x="382" y="3"/>
                  </a:lnTo>
                  <a:lnTo>
                    <a:pt x="380" y="5"/>
                  </a:lnTo>
                  <a:lnTo>
                    <a:pt x="380" y="5"/>
                  </a:lnTo>
                  <a:lnTo>
                    <a:pt x="380" y="7"/>
                  </a:lnTo>
                  <a:lnTo>
                    <a:pt x="380" y="7"/>
                  </a:lnTo>
                  <a:lnTo>
                    <a:pt x="378" y="9"/>
                  </a:lnTo>
                  <a:lnTo>
                    <a:pt x="378" y="11"/>
                  </a:lnTo>
                  <a:lnTo>
                    <a:pt x="378" y="13"/>
                  </a:lnTo>
                  <a:lnTo>
                    <a:pt x="376" y="13"/>
                  </a:lnTo>
                  <a:lnTo>
                    <a:pt x="374" y="13"/>
                  </a:lnTo>
                  <a:lnTo>
                    <a:pt x="372" y="13"/>
                  </a:lnTo>
                  <a:lnTo>
                    <a:pt x="372" y="11"/>
                  </a:lnTo>
                  <a:lnTo>
                    <a:pt x="370" y="11"/>
                  </a:lnTo>
                  <a:lnTo>
                    <a:pt x="370" y="11"/>
                  </a:lnTo>
                  <a:lnTo>
                    <a:pt x="370" y="13"/>
                  </a:lnTo>
                  <a:lnTo>
                    <a:pt x="370" y="13"/>
                  </a:lnTo>
                  <a:lnTo>
                    <a:pt x="366" y="13"/>
                  </a:lnTo>
                  <a:lnTo>
                    <a:pt x="366" y="13"/>
                  </a:lnTo>
                  <a:lnTo>
                    <a:pt x="364" y="15"/>
                  </a:lnTo>
                  <a:lnTo>
                    <a:pt x="364" y="17"/>
                  </a:lnTo>
                  <a:lnTo>
                    <a:pt x="364" y="19"/>
                  </a:lnTo>
                  <a:lnTo>
                    <a:pt x="362" y="24"/>
                  </a:lnTo>
                  <a:lnTo>
                    <a:pt x="362" y="24"/>
                  </a:lnTo>
                  <a:lnTo>
                    <a:pt x="362" y="24"/>
                  </a:lnTo>
                  <a:lnTo>
                    <a:pt x="359" y="24"/>
                  </a:lnTo>
                  <a:lnTo>
                    <a:pt x="359" y="24"/>
                  </a:lnTo>
                  <a:lnTo>
                    <a:pt x="355" y="26"/>
                  </a:lnTo>
                  <a:lnTo>
                    <a:pt x="355" y="26"/>
                  </a:lnTo>
                  <a:lnTo>
                    <a:pt x="353" y="28"/>
                  </a:lnTo>
                  <a:lnTo>
                    <a:pt x="349" y="32"/>
                  </a:lnTo>
                  <a:lnTo>
                    <a:pt x="349" y="34"/>
                  </a:lnTo>
                  <a:lnTo>
                    <a:pt x="349" y="34"/>
                  </a:lnTo>
                  <a:lnTo>
                    <a:pt x="349" y="45"/>
                  </a:lnTo>
                  <a:lnTo>
                    <a:pt x="349" y="47"/>
                  </a:lnTo>
                  <a:lnTo>
                    <a:pt x="349" y="47"/>
                  </a:lnTo>
                  <a:lnTo>
                    <a:pt x="347" y="49"/>
                  </a:lnTo>
                  <a:lnTo>
                    <a:pt x="345" y="53"/>
                  </a:lnTo>
                  <a:lnTo>
                    <a:pt x="345" y="53"/>
                  </a:lnTo>
                  <a:lnTo>
                    <a:pt x="345" y="53"/>
                  </a:lnTo>
                  <a:lnTo>
                    <a:pt x="345" y="55"/>
                  </a:lnTo>
                  <a:lnTo>
                    <a:pt x="345" y="55"/>
                  </a:lnTo>
                  <a:lnTo>
                    <a:pt x="345" y="57"/>
                  </a:lnTo>
                  <a:lnTo>
                    <a:pt x="345" y="57"/>
                  </a:lnTo>
                  <a:lnTo>
                    <a:pt x="343" y="62"/>
                  </a:lnTo>
                  <a:lnTo>
                    <a:pt x="345" y="66"/>
                  </a:lnTo>
                  <a:lnTo>
                    <a:pt x="343" y="68"/>
                  </a:lnTo>
                  <a:lnTo>
                    <a:pt x="343" y="70"/>
                  </a:lnTo>
                  <a:lnTo>
                    <a:pt x="343" y="72"/>
                  </a:lnTo>
                  <a:lnTo>
                    <a:pt x="341" y="74"/>
                  </a:lnTo>
                  <a:lnTo>
                    <a:pt x="341" y="74"/>
                  </a:lnTo>
                  <a:lnTo>
                    <a:pt x="340" y="74"/>
                  </a:lnTo>
                  <a:lnTo>
                    <a:pt x="334" y="72"/>
                  </a:lnTo>
                  <a:lnTo>
                    <a:pt x="332" y="70"/>
                  </a:lnTo>
                  <a:lnTo>
                    <a:pt x="330" y="72"/>
                  </a:lnTo>
                  <a:lnTo>
                    <a:pt x="330" y="72"/>
                  </a:lnTo>
                  <a:lnTo>
                    <a:pt x="328" y="74"/>
                  </a:lnTo>
                  <a:lnTo>
                    <a:pt x="328" y="76"/>
                  </a:lnTo>
                  <a:lnTo>
                    <a:pt x="328" y="78"/>
                  </a:lnTo>
                  <a:lnTo>
                    <a:pt x="328" y="79"/>
                  </a:lnTo>
                  <a:lnTo>
                    <a:pt x="328" y="79"/>
                  </a:lnTo>
                  <a:lnTo>
                    <a:pt x="321" y="78"/>
                  </a:lnTo>
                  <a:lnTo>
                    <a:pt x="319" y="74"/>
                  </a:lnTo>
                  <a:lnTo>
                    <a:pt x="317" y="74"/>
                  </a:lnTo>
                  <a:lnTo>
                    <a:pt x="315" y="74"/>
                  </a:lnTo>
                  <a:lnTo>
                    <a:pt x="315" y="74"/>
                  </a:lnTo>
                  <a:lnTo>
                    <a:pt x="315" y="74"/>
                  </a:lnTo>
                  <a:lnTo>
                    <a:pt x="313" y="76"/>
                  </a:lnTo>
                  <a:lnTo>
                    <a:pt x="311" y="78"/>
                  </a:lnTo>
                  <a:lnTo>
                    <a:pt x="309" y="78"/>
                  </a:lnTo>
                  <a:lnTo>
                    <a:pt x="307" y="78"/>
                  </a:lnTo>
                  <a:lnTo>
                    <a:pt x="305" y="78"/>
                  </a:lnTo>
                  <a:lnTo>
                    <a:pt x="303" y="78"/>
                  </a:lnTo>
                  <a:lnTo>
                    <a:pt x="301" y="76"/>
                  </a:lnTo>
                  <a:lnTo>
                    <a:pt x="300" y="76"/>
                  </a:lnTo>
                  <a:lnTo>
                    <a:pt x="296" y="81"/>
                  </a:lnTo>
                  <a:lnTo>
                    <a:pt x="292" y="83"/>
                  </a:lnTo>
                  <a:lnTo>
                    <a:pt x="292" y="85"/>
                  </a:lnTo>
                  <a:lnTo>
                    <a:pt x="290" y="87"/>
                  </a:lnTo>
                  <a:lnTo>
                    <a:pt x="290" y="91"/>
                  </a:lnTo>
                  <a:lnTo>
                    <a:pt x="290" y="93"/>
                  </a:lnTo>
                  <a:lnTo>
                    <a:pt x="288" y="93"/>
                  </a:lnTo>
                  <a:lnTo>
                    <a:pt x="288" y="93"/>
                  </a:lnTo>
                  <a:lnTo>
                    <a:pt x="288" y="95"/>
                  </a:lnTo>
                  <a:lnTo>
                    <a:pt x="288" y="95"/>
                  </a:lnTo>
                  <a:lnTo>
                    <a:pt x="288" y="97"/>
                  </a:lnTo>
                  <a:lnTo>
                    <a:pt x="288" y="97"/>
                  </a:lnTo>
                  <a:lnTo>
                    <a:pt x="288" y="98"/>
                  </a:lnTo>
                  <a:lnTo>
                    <a:pt x="286" y="98"/>
                  </a:lnTo>
                  <a:lnTo>
                    <a:pt x="284" y="97"/>
                  </a:lnTo>
                  <a:lnTo>
                    <a:pt x="279" y="93"/>
                  </a:lnTo>
                  <a:lnTo>
                    <a:pt x="271" y="89"/>
                  </a:lnTo>
                  <a:lnTo>
                    <a:pt x="271" y="87"/>
                  </a:lnTo>
                  <a:lnTo>
                    <a:pt x="271" y="87"/>
                  </a:lnTo>
                  <a:lnTo>
                    <a:pt x="273" y="85"/>
                  </a:lnTo>
                  <a:lnTo>
                    <a:pt x="273" y="83"/>
                  </a:lnTo>
                  <a:lnTo>
                    <a:pt x="275" y="83"/>
                  </a:lnTo>
                  <a:lnTo>
                    <a:pt x="273" y="79"/>
                  </a:lnTo>
                  <a:lnTo>
                    <a:pt x="273" y="78"/>
                  </a:lnTo>
                  <a:lnTo>
                    <a:pt x="273" y="78"/>
                  </a:lnTo>
                  <a:lnTo>
                    <a:pt x="269" y="78"/>
                  </a:lnTo>
                  <a:lnTo>
                    <a:pt x="267" y="76"/>
                  </a:lnTo>
                  <a:lnTo>
                    <a:pt x="265" y="76"/>
                  </a:lnTo>
                  <a:lnTo>
                    <a:pt x="263" y="78"/>
                  </a:lnTo>
                  <a:lnTo>
                    <a:pt x="261" y="78"/>
                  </a:lnTo>
                  <a:lnTo>
                    <a:pt x="260" y="78"/>
                  </a:lnTo>
                  <a:lnTo>
                    <a:pt x="258" y="76"/>
                  </a:lnTo>
                  <a:lnTo>
                    <a:pt x="258" y="74"/>
                  </a:lnTo>
                  <a:lnTo>
                    <a:pt x="256" y="72"/>
                  </a:lnTo>
                  <a:lnTo>
                    <a:pt x="256" y="64"/>
                  </a:lnTo>
                  <a:lnTo>
                    <a:pt x="256" y="62"/>
                  </a:lnTo>
                  <a:lnTo>
                    <a:pt x="254" y="62"/>
                  </a:lnTo>
                  <a:lnTo>
                    <a:pt x="252" y="62"/>
                  </a:lnTo>
                  <a:lnTo>
                    <a:pt x="250" y="60"/>
                  </a:lnTo>
                  <a:lnTo>
                    <a:pt x="250" y="60"/>
                  </a:lnTo>
                  <a:lnTo>
                    <a:pt x="248" y="60"/>
                  </a:lnTo>
                  <a:lnTo>
                    <a:pt x="250" y="60"/>
                  </a:lnTo>
                  <a:lnTo>
                    <a:pt x="250" y="59"/>
                  </a:lnTo>
                  <a:lnTo>
                    <a:pt x="250" y="59"/>
                  </a:lnTo>
                  <a:lnTo>
                    <a:pt x="250" y="57"/>
                  </a:lnTo>
                  <a:lnTo>
                    <a:pt x="248" y="59"/>
                  </a:lnTo>
                  <a:lnTo>
                    <a:pt x="246" y="59"/>
                  </a:lnTo>
                  <a:lnTo>
                    <a:pt x="242" y="62"/>
                  </a:lnTo>
                  <a:lnTo>
                    <a:pt x="237" y="62"/>
                  </a:lnTo>
                  <a:lnTo>
                    <a:pt x="233" y="57"/>
                  </a:lnTo>
                  <a:lnTo>
                    <a:pt x="231" y="55"/>
                  </a:lnTo>
                  <a:lnTo>
                    <a:pt x="231" y="55"/>
                  </a:lnTo>
                  <a:lnTo>
                    <a:pt x="221" y="55"/>
                  </a:lnTo>
                  <a:lnTo>
                    <a:pt x="221" y="55"/>
                  </a:lnTo>
                  <a:lnTo>
                    <a:pt x="220" y="57"/>
                  </a:lnTo>
                  <a:lnTo>
                    <a:pt x="220" y="59"/>
                  </a:lnTo>
                  <a:lnTo>
                    <a:pt x="218" y="60"/>
                  </a:lnTo>
                  <a:lnTo>
                    <a:pt x="218" y="60"/>
                  </a:lnTo>
                  <a:lnTo>
                    <a:pt x="218" y="64"/>
                  </a:lnTo>
                  <a:lnTo>
                    <a:pt x="218" y="66"/>
                  </a:lnTo>
                  <a:lnTo>
                    <a:pt x="216" y="66"/>
                  </a:lnTo>
                  <a:lnTo>
                    <a:pt x="214" y="66"/>
                  </a:lnTo>
                  <a:lnTo>
                    <a:pt x="214" y="68"/>
                  </a:lnTo>
                  <a:lnTo>
                    <a:pt x="214" y="68"/>
                  </a:lnTo>
                  <a:lnTo>
                    <a:pt x="214" y="68"/>
                  </a:lnTo>
                  <a:lnTo>
                    <a:pt x="214" y="70"/>
                  </a:lnTo>
                  <a:lnTo>
                    <a:pt x="214" y="70"/>
                  </a:lnTo>
                  <a:lnTo>
                    <a:pt x="214" y="72"/>
                  </a:lnTo>
                  <a:lnTo>
                    <a:pt x="214" y="76"/>
                  </a:lnTo>
                  <a:lnTo>
                    <a:pt x="214" y="76"/>
                  </a:lnTo>
                  <a:lnTo>
                    <a:pt x="214" y="78"/>
                  </a:lnTo>
                  <a:lnTo>
                    <a:pt x="210" y="78"/>
                  </a:lnTo>
                  <a:lnTo>
                    <a:pt x="210" y="78"/>
                  </a:lnTo>
                  <a:lnTo>
                    <a:pt x="208" y="76"/>
                  </a:lnTo>
                  <a:lnTo>
                    <a:pt x="206" y="76"/>
                  </a:lnTo>
                  <a:lnTo>
                    <a:pt x="206" y="78"/>
                  </a:lnTo>
                  <a:lnTo>
                    <a:pt x="206" y="78"/>
                  </a:lnTo>
                  <a:lnTo>
                    <a:pt x="204" y="79"/>
                  </a:lnTo>
                  <a:lnTo>
                    <a:pt x="204" y="79"/>
                  </a:lnTo>
                  <a:lnTo>
                    <a:pt x="202" y="81"/>
                  </a:lnTo>
                  <a:lnTo>
                    <a:pt x="200" y="83"/>
                  </a:lnTo>
                  <a:lnTo>
                    <a:pt x="200" y="81"/>
                  </a:lnTo>
                  <a:lnTo>
                    <a:pt x="199" y="81"/>
                  </a:lnTo>
                  <a:lnTo>
                    <a:pt x="199" y="81"/>
                  </a:lnTo>
                  <a:lnTo>
                    <a:pt x="197" y="81"/>
                  </a:lnTo>
                  <a:lnTo>
                    <a:pt x="195" y="81"/>
                  </a:lnTo>
                  <a:lnTo>
                    <a:pt x="189" y="81"/>
                  </a:lnTo>
                  <a:lnTo>
                    <a:pt x="187" y="83"/>
                  </a:lnTo>
                  <a:lnTo>
                    <a:pt x="181" y="83"/>
                  </a:lnTo>
                  <a:lnTo>
                    <a:pt x="180" y="83"/>
                  </a:lnTo>
                  <a:lnTo>
                    <a:pt x="180" y="85"/>
                  </a:lnTo>
                  <a:lnTo>
                    <a:pt x="180" y="85"/>
                  </a:lnTo>
                  <a:lnTo>
                    <a:pt x="178" y="85"/>
                  </a:lnTo>
                  <a:lnTo>
                    <a:pt x="178" y="87"/>
                  </a:lnTo>
                  <a:lnTo>
                    <a:pt x="170" y="89"/>
                  </a:lnTo>
                  <a:lnTo>
                    <a:pt x="168" y="91"/>
                  </a:lnTo>
                  <a:lnTo>
                    <a:pt x="168" y="91"/>
                  </a:lnTo>
                  <a:lnTo>
                    <a:pt x="168" y="93"/>
                  </a:lnTo>
                  <a:lnTo>
                    <a:pt x="168" y="93"/>
                  </a:lnTo>
                  <a:lnTo>
                    <a:pt x="168" y="93"/>
                  </a:lnTo>
                  <a:lnTo>
                    <a:pt x="166" y="95"/>
                  </a:lnTo>
                  <a:lnTo>
                    <a:pt x="162" y="98"/>
                  </a:lnTo>
                  <a:lnTo>
                    <a:pt x="162" y="98"/>
                  </a:lnTo>
                  <a:lnTo>
                    <a:pt x="160" y="98"/>
                  </a:lnTo>
                  <a:lnTo>
                    <a:pt x="160" y="97"/>
                  </a:lnTo>
                  <a:lnTo>
                    <a:pt x="162" y="95"/>
                  </a:lnTo>
                  <a:lnTo>
                    <a:pt x="162" y="93"/>
                  </a:lnTo>
                  <a:lnTo>
                    <a:pt x="160" y="93"/>
                  </a:lnTo>
                  <a:lnTo>
                    <a:pt x="155" y="95"/>
                  </a:lnTo>
                  <a:lnTo>
                    <a:pt x="153" y="97"/>
                  </a:lnTo>
                  <a:lnTo>
                    <a:pt x="151" y="97"/>
                  </a:lnTo>
                  <a:lnTo>
                    <a:pt x="149" y="98"/>
                  </a:lnTo>
                  <a:lnTo>
                    <a:pt x="145" y="97"/>
                  </a:lnTo>
                  <a:lnTo>
                    <a:pt x="143" y="97"/>
                  </a:lnTo>
                  <a:lnTo>
                    <a:pt x="143" y="95"/>
                  </a:lnTo>
                  <a:lnTo>
                    <a:pt x="141" y="89"/>
                  </a:lnTo>
                  <a:lnTo>
                    <a:pt x="141" y="89"/>
                  </a:lnTo>
                  <a:lnTo>
                    <a:pt x="141" y="89"/>
                  </a:lnTo>
                  <a:lnTo>
                    <a:pt x="141" y="89"/>
                  </a:lnTo>
                  <a:lnTo>
                    <a:pt x="140" y="89"/>
                  </a:lnTo>
                  <a:lnTo>
                    <a:pt x="138" y="89"/>
                  </a:lnTo>
                  <a:lnTo>
                    <a:pt x="138" y="83"/>
                  </a:lnTo>
                  <a:lnTo>
                    <a:pt x="136" y="83"/>
                  </a:lnTo>
                  <a:lnTo>
                    <a:pt x="136" y="83"/>
                  </a:lnTo>
                  <a:lnTo>
                    <a:pt x="134" y="83"/>
                  </a:lnTo>
                  <a:lnTo>
                    <a:pt x="134" y="83"/>
                  </a:lnTo>
                  <a:lnTo>
                    <a:pt x="132" y="85"/>
                  </a:lnTo>
                  <a:lnTo>
                    <a:pt x="130" y="85"/>
                  </a:lnTo>
                  <a:lnTo>
                    <a:pt x="126" y="89"/>
                  </a:lnTo>
                  <a:lnTo>
                    <a:pt x="124" y="89"/>
                  </a:lnTo>
                  <a:lnTo>
                    <a:pt x="124" y="91"/>
                  </a:lnTo>
                  <a:lnTo>
                    <a:pt x="122" y="95"/>
                  </a:lnTo>
                  <a:lnTo>
                    <a:pt x="122" y="95"/>
                  </a:lnTo>
                  <a:lnTo>
                    <a:pt x="120" y="95"/>
                  </a:lnTo>
                  <a:lnTo>
                    <a:pt x="119" y="95"/>
                  </a:lnTo>
                  <a:lnTo>
                    <a:pt x="119" y="95"/>
                  </a:lnTo>
                  <a:lnTo>
                    <a:pt x="117" y="95"/>
                  </a:lnTo>
                  <a:lnTo>
                    <a:pt x="117" y="93"/>
                  </a:lnTo>
                  <a:lnTo>
                    <a:pt x="115" y="93"/>
                  </a:lnTo>
                  <a:lnTo>
                    <a:pt x="115" y="93"/>
                  </a:lnTo>
                  <a:lnTo>
                    <a:pt x="115" y="95"/>
                  </a:lnTo>
                  <a:lnTo>
                    <a:pt x="115" y="95"/>
                  </a:lnTo>
                  <a:lnTo>
                    <a:pt x="111" y="97"/>
                  </a:lnTo>
                  <a:lnTo>
                    <a:pt x="111" y="98"/>
                  </a:lnTo>
                  <a:lnTo>
                    <a:pt x="111" y="98"/>
                  </a:lnTo>
                  <a:lnTo>
                    <a:pt x="111" y="100"/>
                  </a:lnTo>
                  <a:lnTo>
                    <a:pt x="109" y="102"/>
                  </a:lnTo>
                  <a:lnTo>
                    <a:pt x="107" y="102"/>
                  </a:lnTo>
                  <a:lnTo>
                    <a:pt x="107" y="102"/>
                  </a:lnTo>
                  <a:lnTo>
                    <a:pt x="105" y="102"/>
                  </a:lnTo>
                  <a:lnTo>
                    <a:pt x="105" y="102"/>
                  </a:lnTo>
                  <a:lnTo>
                    <a:pt x="103" y="100"/>
                  </a:lnTo>
                  <a:lnTo>
                    <a:pt x="103" y="100"/>
                  </a:lnTo>
                  <a:lnTo>
                    <a:pt x="101" y="98"/>
                  </a:lnTo>
                  <a:lnTo>
                    <a:pt x="101" y="98"/>
                  </a:lnTo>
                  <a:lnTo>
                    <a:pt x="99" y="97"/>
                  </a:lnTo>
                  <a:lnTo>
                    <a:pt x="96" y="95"/>
                  </a:lnTo>
                  <a:lnTo>
                    <a:pt x="96" y="93"/>
                  </a:lnTo>
                  <a:lnTo>
                    <a:pt x="94" y="93"/>
                  </a:lnTo>
                  <a:lnTo>
                    <a:pt x="92" y="91"/>
                  </a:lnTo>
                  <a:lnTo>
                    <a:pt x="90" y="89"/>
                  </a:lnTo>
                  <a:lnTo>
                    <a:pt x="90" y="87"/>
                  </a:lnTo>
                  <a:lnTo>
                    <a:pt x="90" y="85"/>
                  </a:lnTo>
                  <a:lnTo>
                    <a:pt x="92" y="85"/>
                  </a:lnTo>
                  <a:lnTo>
                    <a:pt x="92" y="81"/>
                  </a:lnTo>
                  <a:lnTo>
                    <a:pt x="90" y="79"/>
                  </a:lnTo>
                  <a:lnTo>
                    <a:pt x="90" y="79"/>
                  </a:lnTo>
                  <a:lnTo>
                    <a:pt x="88" y="79"/>
                  </a:lnTo>
                  <a:lnTo>
                    <a:pt x="88" y="79"/>
                  </a:lnTo>
                  <a:lnTo>
                    <a:pt x="86" y="79"/>
                  </a:lnTo>
                  <a:lnTo>
                    <a:pt x="86" y="81"/>
                  </a:lnTo>
                  <a:lnTo>
                    <a:pt x="86" y="81"/>
                  </a:lnTo>
                  <a:lnTo>
                    <a:pt x="84" y="79"/>
                  </a:lnTo>
                  <a:lnTo>
                    <a:pt x="84" y="79"/>
                  </a:lnTo>
                  <a:lnTo>
                    <a:pt x="84" y="79"/>
                  </a:lnTo>
                  <a:lnTo>
                    <a:pt x="82" y="79"/>
                  </a:lnTo>
                  <a:lnTo>
                    <a:pt x="82" y="79"/>
                  </a:lnTo>
                  <a:lnTo>
                    <a:pt x="80" y="79"/>
                  </a:lnTo>
                  <a:lnTo>
                    <a:pt x="80" y="79"/>
                  </a:lnTo>
                  <a:lnTo>
                    <a:pt x="79" y="81"/>
                  </a:lnTo>
                  <a:lnTo>
                    <a:pt x="79" y="81"/>
                  </a:lnTo>
                  <a:lnTo>
                    <a:pt x="79" y="83"/>
                  </a:lnTo>
                  <a:lnTo>
                    <a:pt x="79" y="83"/>
                  </a:lnTo>
                  <a:lnTo>
                    <a:pt x="79" y="85"/>
                  </a:lnTo>
                  <a:lnTo>
                    <a:pt x="79" y="85"/>
                  </a:lnTo>
                  <a:lnTo>
                    <a:pt x="77" y="85"/>
                  </a:lnTo>
                  <a:lnTo>
                    <a:pt x="77" y="83"/>
                  </a:lnTo>
                  <a:lnTo>
                    <a:pt x="77" y="83"/>
                  </a:lnTo>
                  <a:lnTo>
                    <a:pt x="77" y="81"/>
                  </a:lnTo>
                  <a:lnTo>
                    <a:pt x="77" y="81"/>
                  </a:lnTo>
                  <a:lnTo>
                    <a:pt x="75" y="81"/>
                  </a:lnTo>
                  <a:lnTo>
                    <a:pt x="75" y="81"/>
                  </a:lnTo>
                  <a:lnTo>
                    <a:pt x="75" y="81"/>
                  </a:lnTo>
                  <a:lnTo>
                    <a:pt x="75" y="83"/>
                  </a:lnTo>
                  <a:lnTo>
                    <a:pt x="75" y="83"/>
                  </a:lnTo>
                  <a:lnTo>
                    <a:pt x="75" y="85"/>
                  </a:lnTo>
                  <a:lnTo>
                    <a:pt x="75" y="85"/>
                  </a:lnTo>
                  <a:lnTo>
                    <a:pt x="73" y="85"/>
                  </a:lnTo>
                  <a:lnTo>
                    <a:pt x="73" y="85"/>
                  </a:lnTo>
                  <a:lnTo>
                    <a:pt x="71" y="83"/>
                  </a:lnTo>
                  <a:lnTo>
                    <a:pt x="71" y="81"/>
                  </a:lnTo>
                  <a:lnTo>
                    <a:pt x="69" y="76"/>
                  </a:lnTo>
                  <a:lnTo>
                    <a:pt x="65" y="70"/>
                  </a:lnTo>
                  <a:lnTo>
                    <a:pt x="63" y="68"/>
                  </a:lnTo>
                  <a:lnTo>
                    <a:pt x="63" y="68"/>
                  </a:lnTo>
                  <a:lnTo>
                    <a:pt x="63" y="68"/>
                  </a:lnTo>
                  <a:lnTo>
                    <a:pt x="61" y="68"/>
                  </a:lnTo>
                  <a:lnTo>
                    <a:pt x="61" y="72"/>
                  </a:lnTo>
                  <a:lnTo>
                    <a:pt x="61" y="72"/>
                  </a:lnTo>
                  <a:lnTo>
                    <a:pt x="61" y="74"/>
                  </a:lnTo>
                  <a:lnTo>
                    <a:pt x="59" y="74"/>
                  </a:lnTo>
                  <a:lnTo>
                    <a:pt x="59" y="74"/>
                  </a:lnTo>
                  <a:lnTo>
                    <a:pt x="58" y="74"/>
                  </a:lnTo>
                  <a:lnTo>
                    <a:pt x="58" y="76"/>
                  </a:lnTo>
                  <a:lnTo>
                    <a:pt x="56" y="78"/>
                  </a:lnTo>
                  <a:lnTo>
                    <a:pt x="54" y="78"/>
                  </a:lnTo>
                  <a:lnTo>
                    <a:pt x="50" y="78"/>
                  </a:lnTo>
                  <a:lnTo>
                    <a:pt x="48" y="79"/>
                  </a:lnTo>
                  <a:lnTo>
                    <a:pt x="48" y="79"/>
                  </a:lnTo>
                  <a:lnTo>
                    <a:pt x="46" y="79"/>
                  </a:lnTo>
                  <a:lnTo>
                    <a:pt x="44" y="78"/>
                  </a:lnTo>
                  <a:lnTo>
                    <a:pt x="44" y="78"/>
                  </a:lnTo>
                  <a:lnTo>
                    <a:pt x="42" y="79"/>
                  </a:lnTo>
                  <a:lnTo>
                    <a:pt x="40" y="81"/>
                  </a:lnTo>
                  <a:lnTo>
                    <a:pt x="39" y="81"/>
                  </a:lnTo>
                  <a:lnTo>
                    <a:pt x="33" y="81"/>
                  </a:lnTo>
                  <a:lnTo>
                    <a:pt x="27" y="81"/>
                  </a:lnTo>
                  <a:lnTo>
                    <a:pt x="19" y="79"/>
                  </a:lnTo>
                  <a:lnTo>
                    <a:pt x="18" y="79"/>
                  </a:lnTo>
                  <a:lnTo>
                    <a:pt x="10" y="79"/>
                  </a:lnTo>
                  <a:lnTo>
                    <a:pt x="8" y="81"/>
                  </a:lnTo>
                  <a:lnTo>
                    <a:pt x="6" y="81"/>
                  </a:lnTo>
                  <a:lnTo>
                    <a:pt x="6" y="83"/>
                  </a:lnTo>
                  <a:lnTo>
                    <a:pt x="6" y="83"/>
                  </a:lnTo>
                  <a:lnTo>
                    <a:pt x="6" y="83"/>
                  </a:lnTo>
                  <a:lnTo>
                    <a:pt x="6" y="85"/>
                  </a:lnTo>
                  <a:lnTo>
                    <a:pt x="6" y="85"/>
                  </a:lnTo>
                  <a:lnTo>
                    <a:pt x="6" y="85"/>
                  </a:lnTo>
                  <a:lnTo>
                    <a:pt x="6" y="87"/>
                  </a:lnTo>
                  <a:lnTo>
                    <a:pt x="6" y="89"/>
                  </a:lnTo>
                  <a:lnTo>
                    <a:pt x="8" y="91"/>
                  </a:lnTo>
                  <a:lnTo>
                    <a:pt x="8" y="91"/>
                  </a:lnTo>
                  <a:lnTo>
                    <a:pt x="10" y="93"/>
                  </a:lnTo>
                  <a:lnTo>
                    <a:pt x="10" y="95"/>
                  </a:lnTo>
                  <a:lnTo>
                    <a:pt x="10" y="95"/>
                  </a:lnTo>
                  <a:lnTo>
                    <a:pt x="10" y="97"/>
                  </a:lnTo>
                  <a:lnTo>
                    <a:pt x="10" y="97"/>
                  </a:lnTo>
                  <a:lnTo>
                    <a:pt x="10" y="98"/>
                  </a:lnTo>
                  <a:lnTo>
                    <a:pt x="8" y="100"/>
                  </a:lnTo>
                  <a:lnTo>
                    <a:pt x="8" y="102"/>
                  </a:lnTo>
                  <a:lnTo>
                    <a:pt x="8" y="102"/>
                  </a:lnTo>
                  <a:lnTo>
                    <a:pt x="8" y="104"/>
                  </a:lnTo>
                  <a:lnTo>
                    <a:pt x="8" y="104"/>
                  </a:lnTo>
                  <a:lnTo>
                    <a:pt x="6" y="106"/>
                  </a:lnTo>
                  <a:lnTo>
                    <a:pt x="6" y="106"/>
                  </a:lnTo>
                  <a:lnTo>
                    <a:pt x="4" y="110"/>
                  </a:lnTo>
                  <a:lnTo>
                    <a:pt x="2" y="112"/>
                  </a:lnTo>
                  <a:lnTo>
                    <a:pt x="2" y="114"/>
                  </a:lnTo>
                  <a:lnTo>
                    <a:pt x="0" y="119"/>
                  </a:lnTo>
                  <a:lnTo>
                    <a:pt x="4" y="119"/>
                  </a:lnTo>
                  <a:lnTo>
                    <a:pt x="10" y="121"/>
                  </a:lnTo>
                  <a:lnTo>
                    <a:pt x="10" y="121"/>
                  </a:lnTo>
                  <a:lnTo>
                    <a:pt x="12" y="121"/>
                  </a:lnTo>
                  <a:lnTo>
                    <a:pt x="12" y="123"/>
                  </a:lnTo>
                  <a:lnTo>
                    <a:pt x="16" y="125"/>
                  </a:lnTo>
                  <a:lnTo>
                    <a:pt x="16" y="125"/>
                  </a:lnTo>
                  <a:lnTo>
                    <a:pt x="18" y="127"/>
                  </a:lnTo>
                  <a:lnTo>
                    <a:pt x="18" y="127"/>
                  </a:lnTo>
                  <a:lnTo>
                    <a:pt x="18" y="131"/>
                  </a:lnTo>
                  <a:lnTo>
                    <a:pt x="18" y="133"/>
                  </a:lnTo>
                  <a:lnTo>
                    <a:pt x="18" y="135"/>
                  </a:lnTo>
                  <a:lnTo>
                    <a:pt x="18" y="137"/>
                  </a:lnTo>
                  <a:lnTo>
                    <a:pt x="19" y="137"/>
                  </a:lnTo>
                  <a:lnTo>
                    <a:pt x="19" y="140"/>
                  </a:lnTo>
                  <a:lnTo>
                    <a:pt x="33" y="152"/>
                  </a:lnTo>
                  <a:lnTo>
                    <a:pt x="35" y="154"/>
                  </a:lnTo>
                  <a:lnTo>
                    <a:pt x="37" y="157"/>
                  </a:lnTo>
                  <a:lnTo>
                    <a:pt x="37" y="157"/>
                  </a:lnTo>
                  <a:lnTo>
                    <a:pt x="37" y="159"/>
                  </a:lnTo>
                  <a:lnTo>
                    <a:pt x="37" y="159"/>
                  </a:lnTo>
                  <a:lnTo>
                    <a:pt x="35" y="163"/>
                  </a:lnTo>
                  <a:lnTo>
                    <a:pt x="35" y="163"/>
                  </a:lnTo>
                  <a:lnTo>
                    <a:pt x="35" y="165"/>
                  </a:lnTo>
                  <a:lnTo>
                    <a:pt x="35" y="165"/>
                  </a:lnTo>
                  <a:lnTo>
                    <a:pt x="37" y="167"/>
                  </a:lnTo>
                  <a:lnTo>
                    <a:pt x="37" y="171"/>
                  </a:lnTo>
                  <a:lnTo>
                    <a:pt x="39" y="173"/>
                  </a:lnTo>
                  <a:lnTo>
                    <a:pt x="39" y="173"/>
                  </a:lnTo>
                  <a:lnTo>
                    <a:pt x="40" y="175"/>
                  </a:lnTo>
                  <a:lnTo>
                    <a:pt x="40" y="175"/>
                  </a:lnTo>
                  <a:lnTo>
                    <a:pt x="42" y="175"/>
                  </a:lnTo>
                  <a:lnTo>
                    <a:pt x="42" y="175"/>
                  </a:lnTo>
                  <a:lnTo>
                    <a:pt x="44" y="175"/>
                  </a:lnTo>
                  <a:lnTo>
                    <a:pt x="44" y="175"/>
                  </a:lnTo>
                  <a:lnTo>
                    <a:pt x="46" y="175"/>
                  </a:lnTo>
                  <a:lnTo>
                    <a:pt x="46" y="175"/>
                  </a:lnTo>
                  <a:lnTo>
                    <a:pt x="52" y="176"/>
                  </a:lnTo>
                  <a:lnTo>
                    <a:pt x="54" y="176"/>
                  </a:lnTo>
                  <a:lnTo>
                    <a:pt x="54" y="176"/>
                  </a:lnTo>
                  <a:lnTo>
                    <a:pt x="54" y="176"/>
                  </a:lnTo>
                  <a:lnTo>
                    <a:pt x="54" y="176"/>
                  </a:lnTo>
                  <a:lnTo>
                    <a:pt x="54" y="176"/>
                  </a:lnTo>
                  <a:lnTo>
                    <a:pt x="54" y="173"/>
                  </a:lnTo>
                  <a:lnTo>
                    <a:pt x="54" y="173"/>
                  </a:lnTo>
                  <a:lnTo>
                    <a:pt x="54" y="171"/>
                  </a:lnTo>
                  <a:lnTo>
                    <a:pt x="54" y="171"/>
                  </a:lnTo>
                  <a:lnTo>
                    <a:pt x="54" y="171"/>
                  </a:lnTo>
                  <a:lnTo>
                    <a:pt x="54" y="171"/>
                  </a:lnTo>
                  <a:lnTo>
                    <a:pt x="56" y="171"/>
                  </a:lnTo>
                  <a:lnTo>
                    <a:pt x="56" y="171"/>
                  </a:lnTo>
                  <a:lnTo>
                    <a:pt x="56" y="169"/>
                  </a:lnTo>
                  <a:lnTo>
                    <a:pt x="58" y="169"/>
                  </a:lnTo>
                  <a:lnTo>
                    <a:pt x="58" y="169"/>
                  </a:lnTo>
                  <a:lnTo>
                    <a:pt x="59" y="169"/>
                  </a:lnTo>
                  <a:lnTo>
                    <a:pt x="59" y="169"/>
                  </a:lnTo>
                  <a:lnTo>
                    <a:pt x="59" y="171"/>
                  </a:lnTo>
                  <a:lnTo>
                    <a:pt x="61" y="171"/>
                  </a:lnTo>
                  <a:lnTo>
                    <a:pt x="61" y="173"/>
                  </a:lnTo>
                  <a:lnTo>
                    <a:pt x="61" y="173"/>
                  </a:lnTo>
                  <a:lnTo>
                    <a:pt x="63" y="176"/>
                  </a:lnTo>
                  <a:lnTo>
                    <a:pt x="63" y="176"/>
                  </a:lnTo>
                  <a:lnTo>
                    <a:pt x="63" y="178"/>
                  </a:lnTo>
                  <a:lnTo>
                    <a:pt x="61" y="178"/>
                  </a:lnTo>
                  <a:lnTo>
                    <a:pt x="61" y="180"/>
                  </a:lnTo>
                  <a:lnTo>
                    <a:pt x="61" y="180"/>
                  </a:lnTo>
                  <a:lnTo>
                    <a:pt x="58" y="184"/>
                  </a:lnTo>
                  <a:lnTo>
                    <a:pt x="58" y="184"/>
                  </a:lnTo>
                  <a:lnTo>
                    <a:pt x="58" y="186"/>
                  </a:lnTo>
                  <a:lnTo>
                    <a:pt x="56" y="186"/>
                  </a:lnTo>
                  <a:lnTo>
                    <a:pt x="58" y="188"/>
                  </a:lnTo>
                  <a:lnTo>
                    <a:pt x="58" y="188"/>
                  </a:lnTo>
                  <a:lnTo>
                    <a:pt x="58" y="190"/>
                  </a:lnTo>
                  <a:lnTo>
                    <a:pt x="58" y="190"/>
                  </a:lnTo>
                  <a:lnTo>
                    <a:pt x="56" y="194"/>
                  </a:lnTo>
                  <a:lnTo>
                    <a:pt x="56" y="194"/>
                  </a:lnTo>
                  <a:lnTo>
                    <a:pt x="56" y="195"/>
                  </a:lnTo>
                  <a:lnTo>
                    <a:pt x="56" y="195"/>
                  </a:lnTo>
                  <a:lnTo>
                    <a:pt x="56" y="197"/>
                  </a:lnTo>
                  <a:lnTo>
                    <a:pt x="58" y="197"/>
                  </a:lnTo>
                  <a:lnTo>
                    <a:pt x="58" y="197"/>
                  </a:lnTo>
                  <a:lnTo>
                    <a:pt x="58" y="197"/>
                  </a:lnTo>
                  <a:lnTo>
                    <a:pt x="59" y="195"/>
                  </a:lnTo>
                  <a:lnTo>
                    <a:pt x="61" y="194"/>
                  </a:lnTo>
                  <a:lnTo>
                    <a:pt x="61" y="194"/>
                  </a:lnTo>
                  <a:lnTo>
                    <a:pt x="63" y="195"/>
                  </a:lnTo>
                  <a:lnTo>
                    <a:pt x="63" y="195"/>
                  </a:lnTo>
                  <a:lnTo>
                    <a:pt x="63" y="197"/>
                  </a:lnTo>
                  <a:lnTo>
                    <a:pt x="65" y="203"/>
                  </a:lnTo>
                  <a:lnTo>
                    <a:pt x="63" y="211"/>
                  </a:lnTo>
                  <a:lnTo>
                    <a:pt x="63" y="214"/>
                  </a:lnTo>
                  <a:lnTo>
                    <a:pt x="63" y="218"/>
                  </a:lnTo>
                  <a:lnTo>
                    <a:pt x="65" y="220"/>
                  </a:lnTo>
                  <a:lnTo>
                    <a:pt x="69" y="224"/>
                  </a:lnTo>
                  <a:lnTo>
                    <a:pt x="69" y="224"/>
                  </a:lnTo>
                  <a:lnTo>
                    <a:pt x="69" y="226"/>
                  </a:lnTo>
                  <a:lnTo>
                    <a:pt x="71" y="228"/>
                  </a:lnTo>
                  <a:lnTo>
                    <a:pt x="71" y="230"/>
                  </a:lnTo>
                  <a:lnTo>
                    <a:pt x="71" y="232"/>
                  </a:lnTo>
                  <a:lnTo>
                    <a:pt x="71" y="233"/>
                  </a:lnTo>
                  <a:lnTo>
                    <a:pt x="71" y="233"/>
                  </a:lnTo>
                  <a:lnTo>
                    <a:pt x="73" y="233"/>
                  </a:lnTo>
                  <a:lnTo>
                    <a:pt x="73" y="233"/>
                  </a:lnTo>
                  <a:lnTo>
                    <a:pt x="73" y="233"/>
                  </a:lnTo>
                  <a:lnTo>
                    <a:pt x="75" y="233"/>
                  </a:lnTo>
                  <a:lnTo>
                    <a:pt x="75" y="233"/>
                  </a:lnTo>
                  <a:lnTo>
                    <a:pt x="75" y="233"/>
                  </a:lnTo>
                  <a:lnTo>
                    <a:pt x="75" y="233"/>
                  </a:lnTo>
                  <a:lnTo>
                    <a:pt x="75" y="233"/>
                  </a:lnTo>
                  <a:lnTo>
                    <a:pt x="75" y="232"/>
                  </a:lnTo>
                  <a:lnTo>
                    <a:pt x="75" y="232"/>
                  </a:lnTo>
                  <a:lnTo>
                    <a:pt x="75" y="232"/>
                  </a:lnTo>
                  <a:lnTo>
                    <a:pt x="77" y="232"/>
                  </a:lnTo>
                  <a:lnTo>
                    <a:pt x="79" y="233"/>
                  </a:lnTo>
                  <a:lnTo>
                    <a:pt x="80" y="233"/>
                  </a:lnTo>
                  <a:lnTo>
                    <a:pt x="80" y="233"/>
                  </a:lnTo>
                  <a:lnTo>
                    <a:pt x="82" y="233"/>
                  </a:lnTo>
                  <a:lnTo>
                    <a:pt x="82" y="233"/>
                  </a:lnTo>
                  <a:lnTo>
                    <a:pt x="84" y="233"/>
                  </a:lnTo>
                  <a:lnTo>
                    <a:pt x="84" y="233"/>
                  </a:lnTo>
                  <a:lnTo>
                    <a:pt x="84" y="233"/>
                  </a:lnTo>
                  <a:lnTo>
                    <a:pt x="86" y="233"/>
                  </a:lnTo>
                  <a:lnTo>
                    <a:pt x="86" y="233"/>
                  </a:lnTo>
                  <a:lnTo>
                    <a:pt x="88" y="233"/>
                  </a:lnTo>
                  <a:lnTo>
                    <a:pt x="88" y="233"/>
                  </a:lnTo>
                  <a:lnTo>
                    <a:pt x="90" y="235"/>
                  </a:lnTo>
                  <a:lnTo>
                    <a:pt x="92" y="235"/>
                  </a:lnTo>
                  <a:lnTo>
                    <a:pt x="92" y="235"/>
                  </a:lnTo>
                  <a:lnTo>
                    <a:pt x="92" y="239"/>
                  </a:lnTo>
                  <a:lnTo>
                    <a:pt x="92" y="239"/>
                  </a:lnTo>
                  <a:lnTo>
                    <a:pt x="94" y="241"/>
                  </a:lnTo>
                  <a:lnTo>
                    <a:pt x="94" y="243"/>
                  </a:lnTo>
                  <a:lnTo>
                    <a:pt x="94" y="243"/>
                  </a:lnTo>
                  <a:lnTo>
                    <a:pt x="94" y="245"/>
                  </a:lnTo>
                  <a:lnTo>
                    <a:pt x="94" y="247"/>
                  </a:lnTo>
                  <a:lnTo>
                    <a:pt x="92" y="247"/>
                  </a:lnTo>
                  <a:lnTo>
                    <a:pt x="92" y="249"/>
                  </a:lnTo>
                  <a:lnTo>
                    <a:pt x="88" y="251"/>
                  </a:lnTo>
                  <a:lnTo>
                    <a:pt x="86" y="253"/>
                  </a:lnTo>
                  <a:lnTo>
                    <a:pt x="86" y="253"/>
                  </a:lnTo>
                  <a:lnTo>
                    <a:pt x="84" y="253"/>
                  </a:lnTo>
                  <a:lnTo>
                    <a:pt x="84" y="254"/>
                  </a:lnTo>
                  <a:lnTo>
                    <a:pt x="82" y="254"/>
                  </a:lnTo>
                  <a:lnTo>
                    <a:pt x="82" y="254"/>
                  </a:lnTo>
                  <a:lnTo>
                    <a:pt x="82" y="256"/>
                  </a:lnTo>
                  <a:lnTo>
                    <a:pt x="80" y="256"/>
                  </a:lnTo>
                  <a:lnTo>
                    <a:pt x="80" y="262"/>
                  </a:lnTo>
                  <a:lnTo>
                    <a:pt x="79" y="262"/>
                  </a:lnTo>
                  <a:lnTo>
                    <a:pt x="79" y="264"/>
                  </a:lnTo>
                  <a:lnTo>
                    <a:pt x="75" y="266"/>
                  </a:lnTo>
                  <a:lnTo>
                    <a:pt x="73" y="268"/>
                  </a:lnTo>
                  <a:lnTo>
                    <a:pt x="71" y="270"/>
                  </a:lnTo>
                  <a:lnTo>
                    <a:pt x="71" y="270"/>
                  </a:lnTo>
                  <a:lnTo>
                    <a:pt x="69" y="270"/>
                  </a:lnTo>
                  <a:lnTo>
                    <a:pt x="67" y="270"/>
                  </a:lnTo>
                  <a:lnTo>
                    <a:pt x="67" y="270"/>
                  </a:lnTo>
                  <a:lnTo>
                    <a:pt x="65" y="270"/>
                  </a:lnTo>
                  <a:lnTo>
                    <a:pt x="63" y="272"/>
                  </a:lnTo>
                  <a:lnTo>
                    <a:pt x="63" y="273"/>
                  </a:lnTo>
                  <a:lnTo>
                    <a:pt x="63" y="273"/>
                  </a:lnTo>
                  <a:lnTo>
                    <a:pt x="61" y="273"/>
                  </a:lnTo>
                  <a:lnTo>
                    <a:pt x="59" y="273"/>
                  </a:lnTo>
                  <a:lnTo>
                    <a:pt x="59" y="275"/>
                  </a:lnTo>
                  <a:lnTo>
                    <a:pt x="59" y="275"/>
                  </a:lnTo>
                  <a:lnTo>
                    <a:pt x="59" y="275"/>
                  </a:lnTo>
                  <a:lnTo>
                    <a:pt x="59" y="277"/>
                  </a:lnTo>
                  <a:lnTo>
                    <a:pt x="58" y="279"/>
                  </a:lnTo>
                  <a:lnTo>
                    <a:pt x="61" y="281"/>
                  </a:lnTo>
                  <a:lnTo>
                    <a:pt x="65" y="281"/>
                  </a:lnTo>
                  <a:lnTo>
                    <a:pt x="67" y="283"/>
                  </a:lnTo>
                  <a:lnTo>
                    <a:pt x="73" y="291"/>
                  </a:lnTo>
                  <a:lnTo>
                    <a:pt x="73" y="292"/>
                  </a:lnTo>
                  <a:lnTo>
                    <a:pt x="75" y="292"/>
                  </a:lnTo>
                  <a:lnTo>
                    <a:pt x="75" y="294"/>
                  </a:lnTo>
                  <a:lnTo>
                    <a:pt x="79" y="296"/>
                  </a:lnTo>
                  <a:lnTo>
                    <a:pt x="79" y="298"/>
                  </a:lnTo>
                  <a:lnTo>
                    <a:pt x="79" y="298"/>
                  </a:lnTo>
                  <a:lnTo>
                    <a:pt x="80" y="298"/>
                  </a:lnTo>
                  <a:lnTo>
                    <a:pt x="82" y="298"/>
                  </a:lnTo>
                  <a:lnTo>
                    <a:pt x="88" y="300"/>
                  </a:lnTo>
                  <a:lnTo>
                    <a:pt x="90" y="300"/>
                  </a:lnTo>
                  <a:lnTo>
                    <a:pt x="99" y="300"/>
                  </a:lnTo>
                  <a:lnTo>
                    <a:pt x="99" y="300"/>
                  </a:lnTo>
                  <a:lnTo>
                    <a:pt x="105" y="296"/>
                  </a:lnTo>
                  <a:lnTo>
                    <a:pt x="107" y="296"/>
                  </a:lnTo>
                  <a:lnTo>
                    <a:pt x="107" y="296"/>
                  </a:lnTo>
                  <a:lnTo>
                    <a:pt x="107" y="296"/>
                  </a:lnTo>
                  <a:lnTo>
                    <a:pt x="107" y="294"/>
                  </a:lnTo>
                  <a:lnTo>
                    <a:pt x="107" y="294"/>
                  </a:lnTo>
                  <a:lnTo>
                    <a:pt x="107" y="292"/>
                  </a:lnTo>
                  <a:lnTo>
                    <a:pt x="107" y="292"/>
                  </a:lnTo>
                  <a:lnTo>
                    <a:pt x="107" y="292"/>
                  </a:lnTo>
                  <a:lnTo>
                    <a:pt x="109" y="291"/>
                  </a:lnTo>
                  <a:lnTo>
                    <a:pt x="111" y="291"/>
                  </a:lnTo>
                  <a:lnTo>
                    <a:pt x="128" y="291"/>
                  </a:lnTo>
                  <a:lnTo>
                    <a:pt x="130" y="291"/>
                  </a:lnTo>
                  <a:lnTo>
                    <a:pt x="132" y="291"/>
                  </a:lnTo>
                  <a:lnTo>
                    <a:pt x="132" y="289"/>
                  </a:lnTo>
                  <a:lnTo>
                    <a:pt x="132" y="289"/>
                  </a:lnTo>
                  <a:lnTo>
                    <a:pt x="134" y="289"/>
                  </a:lnTo>
                  <a:lnTo>
                    <a:pt x="136" y="289"/>
                  </a:lnTo>
                  <a:lnTo>
                    <a:pt x="136" y="289"/>
                  </a:lnTo>
                  <a:lnTo>
                    <a:pt x="141" y="291"/>
                  </a:lnTo>
                  <a:lnTo>
                    <a:pt x="145" y="291"/>
                  </a:lnTo>
                  <a:lnTo>
                    <a:pt x="145" y="291"/>
                  </a:lnTo>
                  <a:lnTo>
                    <a:pt x="147" y="291"/>
                  </a:lnTo>
                  <a:lnTo>
                    <a:pt x="147" y="289"/>
                  </a:lnTo>
                  <a:lnTo>
                    <a:pt x="149" y="289"/>
                  </a:lnTo>
                  <a:lnTo>
                    <a:pt x="149" y="289"/>
                  </a:lnTo>
                  <a:lnTo>
                    <a:pt x="153" y="289"/>
                  </a:lnTo>
                  <a:lnTo>
                    <a:pt x="153" y="289"/>
                  </a:lnTo>
                  <a:lnTo>
                    <a:pt x="157" y="285"/>
                  </a:lnTo>
                  <a:lnTo>
                    <a:pt x="159" y="283"/>
                  </a:lnTo>
                  <a:lnTo>
                    <a:pt x="162" y="289"/>
                  </a:lnTo>
                  <a:lnTo>
                    <a:pt x="162" y="294"/>
                  </a:lnTo>
                  <a:lnTo>
                    <a:pt x="162" y="298"/>
                  </a:lnTo>
                  <a:lnTo>
                    <a:pt x="162" y="300"/>
                  </a:lnTo>
                  <a:lnTo>
                    <a:pt x="162" y="302"/>
                  </a:lnTo>
                  <a:lnTo>
                    <a:pt x="162" y="304"/>
                  </a:lnTo>
                  <a:lnTo>
                    <a:pt x="162" y="306"/>
                  </a:lnTo>
                  <a:lnTo>
                    <a:pt x="157" y="311"/>
                  </a:lnTo>
                  <a:lnTo>
                    <a:pt x="155" y="317"/>
                  </a:lnTo>
                  <a:lnTo>
                    <a:pt x="153" y="319"/>
                  </a:lnTo>
                  <a:lnTo>
                    <a:pt x="153" y="321"/>
                  </a:lnTo>
                  <a:lnTo>
                    <a:pt x="153" y="321"/>
                  </a:lnTo>
                  <a:lnTo>
                    <a:pt x="153" y="323"/>
                  </a:lnTo>
                  <a:lnTo>
                    <a:pt x="153" y="323"/>
                  </a:lnTo>
                  <a:lnTo>
                    <a:pt x="153" y="323"/>
                  </a:lnTo>
                  <a:lnTo>
                    <a:pt x="157" y="321"/>
                  </a:lnTo>
                  <a:lnTo>
                    <a:pt x="159" y="321"/>
                  </a:lnTo>
                  <a:lnTo>
                    <a:pt x="159" y="321"/>
                  </a:lnTo>
                  <a:lnTo>
                    <a:pt x="160" y="321"/>
                  </a:lnTo>
                  <a:lnTo>
                    <a:pt x="162" y="321"/>
                  </a:lnTo>
                  <a:lnTo>
                    <a:pt x="164" y="323"/>
                  </a:lnTo>
                  <a:lnTo>
                    <a:pt x="170" y="327"/>
                  </a:lnTo>
                  <a:lnTo>
                    <a:pt x="172" y="329"/>
                  </a:lnTo>
                  <a:lnTo>
                    <a:pt x="174" y="330"/>
                  </a:lnTo>
                  <a:lnTo>
                    <a:pt x="174" y="330"/>
                  </a:lnTo>
                  <a:lnTo>
                    <a:pt x="174" y="330"/>
                  </a:lnTo>
                  <a:lnTo>
                    <a:pt x="176" y="330"/>
                  </a:lnTo>
                  <a:lnTo>
                    <a:pt x="180" y="325"/>
                  </a:lnTo>
                  <a:lnTo>
                    <a:pt x="183" y="321"/>
                  </a:lnTo>
                  <a:lnTo>
                    <a:pt x="185" y="319"/>
                  </a:lnTo>
                  <a:lnTo>
                    <a:pt x="189" y="319"/>
                  </a:lnTo>
                  <a:lnTo>
                    <a:pt x="191" y="317"/>
                  </a:lnTo>
                  <a:lnTo>
                    <a:pt x="191" y="317"/>
                  </a:lnTo>
                  <a:lnTo>
                    <a:pt x="193" y="317"/>
                  </a:lnTo>
                  <a:lnTo>
                    <a:pt x="193" y="317"/>
                  </a:lnTo>
                  <a:lnTo>
                    <a:pt x="195" y="317"/>
                  </a:lnTo>
                  <a:lnTo>
                    <a:pt x="197" y="317"/>
                  </a:lnTo>
                  <a:lnTo>
                    <a:pt x="204" y="323"/>
                  </a:lnTo>
                  <a:lnTo>
                    <a:pt x="210" y="325"/>
                  </a:lnTo>
                  <a:lnTo>
                    <a:pt x="214" y="325"/>
                  </a:lnTo>
                  <a:lnTo>
                    <a:pt x="216" y="325"/>
                  </a:lnTo>
                  <a:lnTo>
                    <a:pt x="218" y="325"/>
                  </a:lnTo>
                  <a:lnTo>
                    <a:pt x="220" y="325"/>
                  </a:lnTo>
                  <a:lnTo>
                    <a:pt x="220" y="325"/>
                  </a:lnTo>
                  <a:lnTo>
                    <a:pt x="221" y="323"/>
                  </a:lnTo>
                  <a:lnTo>
                    <a:pt x="221" y="323"/>
                  </a:lnTo>
                  <a:lnTo>
                    <a:pt x="223" y="323"/>
                  </a:lnTo>
                  <a:lnTo>
                    <a:pt x="223" y="321"/>
                  </a:lnTo>
                  <a:lnTo>
                    <a:pt x="225" y="321"/>
                  </a:lnTo>
                  <a:lnTo>
                    <a:pt x="227" y="321"/>
                  </a:lnTo>
                  <a:lnTo>
                    <a:pt x="227" y="321"/>
                  </a:lnTo>
                  <a:lnTo>
                    <a:pt x="227" y="321"/>
                  </a:lnTo>
                  <a:lnTo>
                    <a:pt x="227" y="323"/>
                  </a:lnTo>
                  <a:lnTo>
                    <a:pt x="227" y="323"/>
                  </a:lnTo>
                  <a:lnTo>
                    <a:pt x="225" y="325"/>
                  </a:lnTo>
                  <a:lnTo>
                    <a:pt x="225" y="327"/>
                  </a:lnTo>
                  <a:lnTo>
                    <a:pt x="225" y="327"/>
                  </a:lnTo>
                  <a:lnTo>
                    <a:pt x="225" y="329"/>
                  </a:lnTo>
                  <a:lnTo>
                    <a:pt x="225" y="329"/>
                  </a:lnTo>
                  <a:lnTo>
                    <a:pt x="225" y="330"/>
                  </a:lnTo>
                  <a:lnTo>
                    <a:pt x="225" y="332"/>
                  </a:lnTo>
                  <a:lnTo>
                    <a:pt x="231" y="334"/>
                  </a:lnTo>
                  <a:lnTo>
                    <a:pt x="235" y="334"/>
                  </a:lnTo>
                  <a:lnTo>
                    <a:pt x="237" y="332"/>
                  </a:lnTo>
                  <a:lnTo>
                    <a:pt x="239" y="330"/>
                  </a:lnTo>
                  <a:lnTo>
                    <a:pt x="242" y="325"/>
                  </a:lnTo>
                  <a:lnTo>
                    <a:pt x="242" y="323"/>
                  </a:lnTo>
                  <a:lnTo>
                    <a:pt x="244" y="323"/>
                  </a:lnTo>
                  <a:lnTo>
                    <a:pt x="244" y="323"/>
                  </a:lnTo>
                  <a:lnTo>
                    <a:pt x="242" y="321"/>
                  </a:lnTo>
                  <a:lnTo>
                    <a:pt x="242" y="319"/>
                  </a:lnTo>
                  <a:lnTo>
                    <a:pt x="244" y="319"/>
                  </a:lnTo>
                  <a:lnTo>
                    <a:pt x="244" y="315"/>
                  </a:lnTo>
                  <a:lnTo>
                    <a:pt x="244" y="315"/>
                  </a:lnTo>
                  <a:lnTo>
                    <a:pt x="244" y="313"/>
                  </a:lnTo>
                  <a:lnTo>
                    <a:pt x="242" y="310"/>
                  </a:lnTo>
                  <a:lnTo>
                    <a:pt x="242" y="310"/>
                  </a:lnTo>
                  <a:lnTo>
                    <a:pt x="242" y="308"/>
                  </a:lnTo>
                  <a:lnTo>
                    <a:pt x="242" y="306"/>
                  </a:lnTo>
                  <a:lnTo>
                    <a:pt x="244" y="304"/>
                  </a:lnTo>
                  <a:lnTo>
                    <a:pt x="244" y="302"/>
                  </a:lnTo>
                  <a:lnTo>
                    <a:pt x="244" y="300"/>
                  </a:lnTo>
                  <a:lnTo>
                    <a:pt x="244" y="294"/>
                  </a:lnTo>
                  <a:lnTo>
                    <a:pt x="244" y="292"/>
                  </a:lnTo>
                  <a:lnTo>
                    <a:pt x="244" y="291"/>
                  </a:lnTo>
                  <a:lnTo>
                    <a:pt x="240" y="289"/>
                  </a:lnTo>
                  <a:lnTo>
                    <a:pt x="240" y="287"/>
                  </a:lnTo>
                  <a:lnTo>
                    <a:pt x="240" y="285"/>
                  </a:lnTo>
                  <a:lnTo>
                    <a:pt x="240" y="283"/>
                  </a:lnTo>
                  <a:lnTo>
                    <a:pt x="240" y="283"/>
                  </a:lnTo>
                  <a:lnTo>
                    <a:pt x="240" y="283"/>
                  </a:lnTo>
                  <a:lnTo>
                    <a:pt x="240" y="283"/>
                  </a:lnTo>
                  <a:lnTo>
                    <a:pt x="240" y="283"/>
                  </a:lnTo>
                  <a:lnTo>
                    <a:pt x="242" y="283"/>
                  </a:lnTo>
                  <a:lnTo>
                    <a:pt x="242" y="281"/>
                  </a:lnTo>
                  <a:lnTo>
                    <a:pt x="244" y="281"/>
                  </a:lnTo>
                  <a:lnTo>
                    <a:pt x="244" y="281"/>
                  </a:lnTo>
                  <a:lnTo>
                    <a:pt x="246" y="281"/>
                  </a:lnTo>
                  <a:lnTo>
                    <a:pt x="246" y="281"/>
                  </a:lnTo>
                  <a:lnTo>
                    <a:pt x="248" y="279"/>
                  </a:lnTo>
                  <a:lnTo>
                    <a:pt x="248" y="277"/>
                  </a:lnTo>
                  <a:lnTo>
                    <a:pt x="250" y="277"/>
                  </a:lnTo>
                  <a:lnTo>
                    <a:pt x="250" y="277"/>
                  </a:lnTo>
                  <a:lnTo>
                    <a:pt x="252" y="277"/>
                  </a:lnTo>
                  <a:lnTo>
                    <a:pt x="252" y="279"/>
                  </a:lnTo>
                  <a:lnTo>
                    <a:pt x="256" y="283"/>
                  </a:lnTo>
                  <a:lnTo>
                    <a:pt x="271" y="291"/>
                  </a:lnTo>
                  <a:lnTo>
                    <a:pt x="273" y="292"/>
                  </a:lnTo>
                  <a:lnTo>
                    <a:pt x="275" y="294"/>
                  </a:lnTo>
                  <a:lnTo>
                    <a:pt x="275" y="296"/>
                  </a:lnTo>
                  <a:lnTo>
                    <a:pt x="277" y="298"/>
                  </a:lnTo>
                  <a:lnTo>
                    <a:pt x="279" y="298"/>
                  </a:lnTo>
                  <a:lnTo>
                    <a:pt x="281" y="300"/>
                  </a:lnTo>
                  <a:lnTo>
                    <a:pt x="281" y="300"/>
                  </a:lnTo>
                  <a:lnTo>
                    <a:pt x="282" y="302"/>
                  </a:lnTo>
                  <a:lnTo>
                    <a:pt x="284" y="302"/>
                  </a:lnTo>
                  <a:lnTo>
                    <a:pt x="286" y="300"/>
                  </a:lnTo>
                  <a:lnTo>
                    <a:pt x="290" y="300"/>
                  </a:lnTo>
                  <a:lnTo>
                    <a:pt x="290" y="300"/>
                  </a:lnTo>
                  <a:lnTo>
                    <a:pt x="292" y="300"/>
                  </a:lnTo>
                  <a:lnTo>
                    <a:pt x="292" y="300"/>
                  </a:lnTo>
                  <a:lnTo>
                    <a:pt x="301" y="306"/>
                  </a:lnTo>
                  <a:lnTo>
                    <a:pt x="305" y="310"/>
                  </a:lnTo>
                  <a:lnTo>
                    <a:pt x="309" y="311"/>
                  </a:lnTo>
                  <a:lnTo>
                    <a:pt x="309" y="311"/>
                  </a:lnTo>
                  <a:lnTo>
                    <a:pt x="311" y="310"/>
                  </a:lnTo>
                  <a:lnTo>
                    <a:pt x="313" y="310"/>
                  </a:lnTo>
                  <a:lnTo>
                    <a:pt x="313" y="308"/>
                  </a:lnTo>
                  <a:lnTo>
                    <a:pt x="313" y="308"/>
                  </a:lnTo>
                  <a:lnTo>
                    <a:pt x="315" y="310"/>
                  </a:lnTo>
                  <a:lnTo>
                    <a:pt x="317" y="310"/>
                  </a:lnTo>
                  <a:lnTo>
                    <a:pt x="317" y="308"/>
                  </a:lnTo>
                  <a:lnTo>
                    <a:pt x="317" y="308"/>
                  </a:lnTo>
                  <a:lnTo>
                    <a:pt x="317" y="306"/>
                  </a:lnTo>
                  <a:lnTo>
                    <a:pt x="317" y="306"/>
                  </a:lnTo>
                  <a:lnTo>
                    <a:pt x="319" y="304"/>
                  </a:lnTo>
                  <a:lnTo>
                    <a:pt x="319" y="304"/>
                  </a:lnTo>
                  <a:lnTo>
                    <a:pt x="322" y="304"/>
                  </a:lnTo>
                  <a:lnTo>
                    <a:pt x="324" y="304"/>
                  </a:lnTo>
                  <a:lnTo>
                    <a:pt x="324" y="304"/>
                  </a:lnTo>
                  <a:lnTo>
                    <a:pt x="324" y="302"/>
                  </a:lnTo>
                  <a:lnTo>
                    <a:pt x="322" y="300"/>
                  </a:lnTo>
                  <a:lnTo>
                    <a:pt x="321" y="300"/>
                  </a:lnTo>
                  <a:lnTo>
                    <a:pt x="321" y="298"/>
                  </a:lnTo>
                  <a:lnTo>
                    <a:pt x="319" y="296"/>
                  </a:lnTo>
                  <a:lnTo>
                    <a:pt x="319" y="294"/>
                  </a:lnTo>
                  <a:lnTo>
                    <a:pt x="319" y="292"/>
                  </a:lnTo>
                  <a:lnTo>
                    <a:pt x="317" y="291"/>
                  </a:lnTo>
                  <a:lnTo>
                    <a:pt x="317" y="289"/>
                  </a:lnTo>
                  <a:lnTo>
                    <a:pt x="313" y="289"/>
                  </a:lnTo>
                  <a:lnTo>
                    <a:pt x="313" y="287"/>
                  </a:lnTo>
                  <a:lnTo>
                    <a:pt x="313" y="287"/>
                  </a:lnTo>
                  <a:lnTo>
                    <a:pt x="311" y="285"/>
                  </a:lnTo>
                  <a:lnTo>
                    <a:pt x="311" y="285"/>
                  </a:lnTo>
                  <a:lnTo>
                    <a:pt x="311" y="283"/>
                  </a:lnTo>
                  <a:lnTo>
                    <a:pt x="311" y="283"/>
                  </a:lnTo>
                  <a:lnTo>
                    <a:pt x="311" y="283"/>
                  </a:lnTo>
                  <a:lnTo>
                    <a:pt x="311" y="283"/>
                  </a:lnTo>
                  <a:lnTo>
                    <a:pt x="311" y="283"/>
                  </a:lnTo>
                  <a:lnTo>
                    <a:pt x="313" y="283"/>
                  </a:lnTo>
                  <a:lnTo>
                    <a:pt x="315" y="283"/>
                  </a:lnTo>
                  <a:lnTo>
                    <a:pt x="315" y="283"/>
                  </a:lnTo>
                  <a:lnTo>
                    <a:pt x="315" y="283"/>
                  </a:lnTo>
                  <a:lnTo>
                    <a:pt x="317" y="283"/>
                  </a:lnTo>
                  <a:lnTo>
                    <a:pt x="317" y="281"/>
                  </a:lnTo>
                  <a:lnTo>
                    <a:pt x="315" y="281"/>
                  </a:lnTo>
                  <a:lnTo>
                    <a:pt x="315" y="279"/>
                  </a:lnTo>
                  <a:lnTo>
                    <a:pt x="315" y="277"/>
                  </a:lnTo>
                  <a:lnTo>
                    <a:pt x="313" y="275"/>
                  </a:lnTo>
                  <a:lnTo>
                    <a:pt x="311" y="275"/>
                  </a:lnTo>
                  <a:lnTo>
                    <a:pt x="309" y="273"/>
                  </a:lnTo>
                  <a:lnTo>
                    <a:pt x="305" y="273"/>
                  </a:lnTo>
                  <a:lnTo>
                    <a:pt x="303" y="273"/>
                  </a:lnTo>
                  <a:lnTo>
                    <a:pt x="301" y="273"/>
                  </a:lnTo>
                  <a:lnTo>
                    <a:pt x="301" y="272"/>
                  </a:lnTo>
                  <a:lnTo>
                    <a:pt x="301" y="270"/>
                  </a:lnTo>
                  <a:lnTo>
                    <a:pt x="300" y="266"/>
                  </a:lnTo>
                  <a:lnTo>
                    <a:pt x="294" y="260"/>
                  </a:lnTo>
                  <a:lnTo>
                    <a:pt x="292" y="258"/>
                  </a:lnTo>
                  <a:lnTo>
                    <a:pt x="292" y="258"/>
                  </a:lnTo>
                  <a:lnTo>
                    <a:pt x="290" y="258"/>
                  </a:lnTo>
                  <a:lnTo>
                    <a:pt x="290" y="258"/>
                  </a:lnTo>
                  <a:lnTo>
                    <a:pt x="288" y="258"/>
                  </a:lnTo>
                  <a:lnTo>
                    <a:pt x="282" y="254"/>
                  </a:lnTo>
                  <a:lnTo>
                    <a:pt x="282" y="253"/>
                  </a:lnTo>
                  <a:lnTo>
                    <a:pt x="282" y="253"/>
                  </a:lnTo>
                  <a:lnTo>
                    <a:pt x="282" y="249"/>
                  </a:lnTo>
                  <a:lnTo>
                    <a:pt x="282" y="247"/>
                  </a:lnTo>
                  <a:lnTo>
                    <a:pt x="282" y="247"/>
                  </a:lnTo>
                  <a:lnTo>
                    <a:pt x="284" y="243"/>
                  </a:lnTo>
                  <a:lnTo>
                    <a:pt x="284" y="243"/>
                  </a:lnTo>
                  <a:lnTo>
                    <a:pt x="284" y="241"/>
                  </a:lnTo>
                  <a:lnTo>
                    <a:pt x="284" y="241"/>
                  </a:lnTo>
                  <a:lnTo>
                    <a:pt x="284" y="239"/>
                  </a:lnTo>
                  <a:lnTo>
                    <a:pt x="284" y="239"/>
                  </a:lnTo>
                  <a:lnTo>
                    <a:pt x="286" y="237"/>
                  </a:lnTo>
                  <a:lnTo>
                    <a:pt x="288" y="237"/>
                  </a:lnTo>
                  <a:lnTo>
                    <a:pt x="288" y="235"/>
                  </a:lnTo>
                  <a:lnTo>
                    <a:pt x="290" y="235"/>
                  </a:lnTo>
                  <a:lnTo>
                    <a:pt x="292" y="235"/>
                  </a:lnTo>
                  <a:lnTo>
                    <a:pt x="292" y="235"/>
                  </a:lnTo>
                  <a:lnTo>
                    <a:pt x="292" y="235"/>
                  </a:lnTo>
                  <a:lnTo>
                    <a:pt x="292" y="235"/>
                  </a:lnTo>
                  <a:lnTo>
                    <a:pt x="292" y="233"/>
                  </a:lnTo>
                  <a:lnTo>
                    <a:pt x="292" y="233"/>
                  </a:lnTo>
                  <a:lnTo>
                    <a:pt x="290" y="233"/>
                  </a:lnTo>
                  <a:lnTo>
                    <a:pt x="288" y="233"/>
                  </a:lnTo>
                  <a:lnTo>
                    <a:pt x="288" y="233"/>
                  </a:lnTo>
                  <a:lnTo>
                    <a:pt x="288" y="233"/>
                  </a:lnTo>
                  <a:lnTo>
                    <a:pt x="288" y="233"/>
                  </a:lnTo>
                  <a:lnTo>
                    <a:pt x="288" y="233"/>
                  </a:lnTo>
                  <a:lnTo>
                    <a:pt x="288" y="233"/>
                  </a:lnTo>
                  <a:lnTo>
                    <a:pt x="275" y="232"/>
                  </a:lnTo>
                  <a:lnTo>
                    <a:pt x="269" y="232"/>
                  </a:lnTo>
                  <a:lnTo>
                    <a:pt x="265" y="232"/>
                  </a:lnTo>
                  <a:lnTo>
                    <a:pt x="265" y="232"/>
                  </a:lnTo>
                  <a:lnTo>
                    <a:pt x="263" y="233"/>
                  </a:lnTo>
                  <a:lnTo>
                    <a:pt x="261" y="233"/>
                  </a:lnTo>
                  <a:lnTo>
                    <a:pt x="261" y="232"/>
                  </a:lnTo>
                  <a:lnTo>
                    <a:pt x="260" y="230"/>
                  </a:lnTo>
                  <a:lnTo>
                    <a:pt x="248" y="218"/>
                  </a:lnTo>
                  <a:lnTo>
                    <a:pt x="246" y="216"/>
                  </a:lnTo>
                  <a:lnTo>
                    <a:pt x="244" y="216"/>
                  </a:lnTo>
                  <a:lnTo>
                    <a:pt x="242" y="214"/>
                  </a:lnTo>
                  <a:lnTo>
                    <a:pt x="240" y="214"/>
                  </a:lnTo>
                  <a:lnTo>
                    <a:pt x="237" y="216"/>
                  </a:lnTo>
                  <a:lnTo>
                    <a:pt x="235" y="216"/>
                  </a:lnTo>
                  <a:lnTo>
                    <a:pt x="235" y="216"/>
                  </a:lnTo>
                  <a:lnTo>
                    <a:pt x="235" y="216"/>
                  </a:lnTo>
                  <a:lnTo>
                    <a:pt x="235" y="214"/>
                  </a:lnTo>
                  <a:lnTo>
                    <a:pt x="235" y="213"/>
                  </a:lnTo>
                  <a:lnTo>
                    <a:pt x="231" y="209"/>
                  </a:lnTo>
                  <a:lnTo>
                    <a:pt x="231" y="207"/>
                  </a:lnTo>
                  <a:lnTo>
                    <a:pt x="231" y="205"/>
                  </a:lnTo>
                  <a:lnTo>
                    <a:pt x="231" y="203"/>
                  </a:lnTo>
                  <a:lnTo>
                    <a:pt x="233" y="201"/>
                  </a:lnTo>
                  <a:lnTo>
                    <a:pt x="235" y="199"/>
                  </a:lnTo>
                  <a:lnTo>
                    <a:pt x="235" y="197"/>
                  </a:lnTo>
                  <a:lnTo>
                    <a:pt x="235" y="197"/>
                  </a:lnTo>
                  <a:lnTo>
                    <a:pt x="235" y="194"/>
                  </a:lnTo>
                  <a:lnTo>
                    <a:pt x="235" y="194"/>
                  </a:lnTo>
                  <a:lnTo>
                    <a:pt x="237" y="192"/>
                  </a:lnTo>
                  <a:lnTo>
                    <a:pt x="237" y="192"/>
                  </a:lnTo>
                  <a:lnTo>
                    <a:pt x="235" y="190"/>
                  </a:lnTo>
                  <a:lnTo>
                    <a:pt x="235" y="190"/>
                  </a:lnTo>
                  <a:lnTo>
                    <a:pt x="231" y="190"/>
                  </a:lnTo>
                  <a:lnTo>
                    <a:pt x="231" y="190"/>
                  </a:lnTo>
                  <a:lnTo>
                    <a:pt x="231" y="190"/>
                  </a:lnTo>
                  <a:lnTo>
                    <a:pt x="231" y="188"/>
                  </a:lnTo>
                  <a:lnTo>
                    <a:pt x="229" y="188"/>
                  </a:lnTo>
                  <a:lnTo>
                    <a:pt x="229" y="186"/>
                  </a:lnTo>
                  <a:lnTo>
                    <a:pt x="229" y="186"/>
                  </a:lnTo>
                  <a:lnTo>
                    <a:pt x="229" y="184"/>
                  </a:lnTo>
                  <a:lnTo>
                    <a:pt x="231" y="184"/>
                  </a:lnTo>
                  <a:lnTo>
                    <a:pt x="237" y="182"/>
                  </a:lnTo>
                  <a:lnTo>
                    <a:pt x="239" y="182"/>
                  </a:lnTo>
                  <a:lnTo>
                    <a:pt x="240" y="182"/>
                  </a:lnTo>
                  <a:lnTo>
                    <a:pt x="246" y="182"/>
                  </a:lnTo>
                  <a:lnTo>
                    <a:pt x="246" y="182"/>
                  </a:lnTo>
                  <a:lnTo>
                    <a:pt x="246" y="182"/>
                  </a:lnTo>
                  <a:lnTo>
                    <a:pt x="248" y="180"/>
                  </a:lnTo>
                  <a:lnTo>
                    <a:pt x="246" y="180"/>
                  </a:lnTo>
                  <a:lnTo>
                    <a:pt x="246" y="176"/>
                  </a:lnTo>
                  <a:lnTo>
                    <a:pt x="246" y="175"/>
                  </a:lnTo>
                  <a:lnTo>
                    <a:pt x="246" y="175"/>
                  </a:lnTo>
                  <a:lnTo>
                    <a:pt x="246" y="175"/>
                  </a:lnTo>
                  <a:lnTo>
                    <a:pt x="248" y="173"/>
                  </a:lnTo>
                  <a:lnTo>
                    <a:pt x="248" y="173"/>
                  </a:lnTo>
                  <a:lnTo>
                    <a:pt x="250" y="173"/>
                  </a:lnTo>
                  <a:lnTo>
                    <a:pt x="252" y="173"/>
                  </a:lnTo>
                  <a:lnTo>
                    <a:pt x="256" y="175"/>
                  </a:lnTo>
                  <a:lnTo>
                    <a:pt x="258" y="175"/>
                  </a:lnTo>
                  <a:lnTo>
                    <a:pt x="258" y="176"/>
                  </a:lnTo>
                  <a:lnTo>
                    <a:pt x="258" y="182"/>
                  </a:lnTo>
                  <a:lnTo>
                    <a:pt x="258" y="184"/>
                  </a:lnTo>
                  <a:lnTo>
                    <a:pt x="258" y="184"/>
                  </a:lnTo>
                  <a:lnTo>
                    <a:pt x="258" y="184"/>
                  </a:lnTo>
                  <a:lnTo>
                    <a:pt x="258" y="184"/>
                  </a:lnTo>
                  <a:lnTo>
                    <a:pt x="258" y="184"/>
                  </a:lnTo>
                  <a:lnTo>
                    <a:pt x="260" y="184"/>
                  </a:lnTo>
                  <a:lnTo>
                    <a:pt x="260" y="184"/>
                  </a:lnTo>
                  <a:lnTo>
                    <a:pt x="263" y="186"/>
                  </a:lnTo>
                  <a:lnTo>
                    <a:pt x="265" y="188"/>
                  </a:lnTo>
                  <a:lnTo>
                    <a:pt x="265" y="188"/>
                  </a:lnTo>
                  <a:lnTo>
                    <a:pt x="267" y="190"/>
                  </a:lnTo>
                  <a:lnTo>
                    <a:pt x="269" y="190"/>
                  </a:lnTo>
                  <a:lnTo>
                    <a:pt x="271" y="188"/>
                  </a:lnTo>
                  <a:lnTo>
                    <a:pt x="273" y="186"/>
                  </a:lnTo>
                  <a:lnTo>
                    <a:pt x="275" y="184"/>
                  </a:lnTo>
                  <a:lnTo>
                    <a:pt x="275" y="184"/>
                  </a:lnTo>
                  <a:lnTo>
                    <a:pt x="277" y="184"/>
                  </a:lnTo>
                  <a:lnTo>
                    <a:pt x="277" y="184"/>
                  </a:lnTo>
                  <a:lnTo>
                    <a:pt x="277" y="184"/>
                  </a:lnTo>
                  <a:lnTo>
                    <a:pt x="277" y="182"/>
                  </a:lnTo>
                  <a:lnTo>
                    <a:pt x="277" y="182"/>
                  </a:lnTo>
                  <a:lnTo>
                    <a:pt x="277" y="182"/>
                  </a:lnTo>
                  <a:lnTo>
                    <a:pt x="277" y="180"/>
                  </a:lnTo>
                  <a:lnTo>
                    <a:pt x="277" y="178"/>
                  </a:lnTo>
                  <a:lnTo>
                    <a:pt x="277" y="178"/>
                  </a:lnTo>
                  <a:lnTo>
                    <a:pt x="279" y="176"/>
                  </a:lnTo>
                  <a:lnTo>
                    <a:pt x="279" y="175"/>
                  </a:lnTo>
                  <a:lnTo>
                    <a:pt x="281" y="173"/>
                  </a:lnTo>
                  <a:lnTo>
                    <a:pt x="284" y="171"/>
                  </a:lnTo>
                  <a:lnTo>
                    <a:pt x="288" y="169"/>
                  </a:lnTo>
                  <a:lnTo>
                    <a:pt x="296" y="167"/>
                  </a:lnTo>
                  <a:lnTo>
                    <a:pt x="300" y="165"/>
                  </a:lnTo>
                  <a:lnTo>
                    <a:pt x="305" y="163"/>
                  </a:lnTo>
                  <a:lnTo>
                    <a:pt x="317" y="161"/>
                  </a:lnTo>
                  <a:lnTo>
                    <a:pt x="321" y="161"/>
                  </a:lnTo>
                  <a:lnTo>
                    <a:pt x="321" y="157"/>
                  </a:lnTo>
                  <a:lnTo>
                    <a:pt x="322" y="156"/>
                  </a:lnTo>
                  <a:lnTo>
                    <a:pt x="321" y="154"/>
                  </a:lnTo>
                  <a:lnTo>
                    <a:pt x="321" y="152"/>
                  </a:lnTo>
                  <a:lnTo>
                    <a:pt x="321" y="152"/>
                  </a:lnTo>
                  <a:lnTo>
                    <a:pt x="321" y="152"/>
                  </a:lnTo>
                  <a:lnTo>
                    <a:pt x="321" y="150"/>
                  </a:lnTo>
                  <a:lnTo>
                    <a:pt x="322" y="148"/>
                  </a:lnTo>
                  <a:lnTo>
                    <a:pt x="322" y="148"/>
                  </a:lnTo>
                  <a:lnTo>
                    <a:pt x="324" y="146"/>
                  </a:lnTo>
                  <a:lnTo>
                    <a:pt x="324" y="146"/>
                  </a:lnTo>
                  <a:lnTo>
                    <a:pt x="324" y="144"/>
                  </a:lnTo>
                  <a:lnTo>
                    <a:pt x="324" y="144"/>
                  </a:lnTo>
                  <a:lnTo>
                    <a:pt x="326" y="144"/>
                  </a:lnTo>
                  <a:lnTo>
                    <a:pt x="326" y="142"/>
                  </a:lnTo>
                  <a:lnTo>
                    <a:pt x="326" y="142"/>
                  </a:lnTo>
                  <a:lnTo>
                    <a:pt x="326" y="142"/>
                  </a:lnTo>
                  <a:lnTo>
                    <a:pt x="328" y="142"/>
                  </a:lnTo>
                  <a:lnTo>
                    <a:pt x="330" y="142"/>
                  </a:lnTo>
                  <a:lnTo>
                    <a:pt x="334" y="146"/>
                  </a:lnTo>
                  <a:lnTo>
                    <a:pt x="336" y="146"/>
                  </a:lnTo>
                  <a:lnTo>
                    <a:pt x="338" y="146"/>
                  </a:lnTo>
                  <a:lnTo>
                    <a:pt x="340" y="146"/>
                  </a:lnTo>
                  <a:lnTo>
                    <a:pt x="340" y="148"/>
                  </a:lnTo>
                  <a:lnTo>
                    <a:pt x="341" y="150"/>
                  </a:lnTo>
                  <a:lnTo>
                    <a:pt x="343" y="150"/>
                  </a:lnTo>
                  <a:lnTo>
                    <a:pt x="345" y="152"/>
                  </a:lnTo>
                  <a:lnTo>
                    <a:pt x="351" y="154"/>
                  </a:lnTo>
                  <a:lnTo>
                    <a:pt x="353" y="152"/>
                  </a:lnTo>
                  <a:lnTo>
                    <a:pt x="353" y="150"/>
                  </a:lnTo>
                  <a:lnTo>
                    <a:pt x="353" y="150"/>
                  </a:lnTo>
                  <a:lnTo>
                    <a:pt x="353" y="150"/>
                  </a:lnTo>
                  <a:lnTo>
                    <a:pt x="351" y="148"/>
                  </a:lnTo>
                  <a:lnTo>
                    <a:pt x="351" y="148"/>
                  </a:lnTo>
                  <a:lnTo>
                    <a:pt x="351" y="146"/>
                  </a:lnTo>
                  <a:lnTo>
                    <a:pt x="351" y="146"/>
                  </a:lnTo>
                  <a:lnTo>
                    <a:pt x="351" y="146"/>
                  </a:lnTo>
                  <a:lnTo>
                    <a:pt x="353" y="144"/>
                  </a:lnTo>
                  <a:lnTo>
                    <a:pt x="353" y="146"/>
                  </a:lnTo>
                  <a:lnTo>
                    <a:pt x="355" y="146"/>
                  </a:lnTo>
                  <a:lnTo>
                    <a:pt x="357" y="146"/>
                  </a:lnTo>
                  <a:lnTo>
                    <a:pt x="357" y="146"/>
                  </a:lnTo>
                  <a:lnTo>
                    <a:pt x="359" y="146"/>
                  </a:lnTo>
                  <a:lnTo>
                    <a:pt x="359" y="148"/>
                  </a:lnTo>
                  <a:lnTo>
                    <a:pt x="359" y="148"/>
                  </a:lnTo>
                  <a:lnTo>
                    <a:pt x="361" y="148"/>
                  </a:lnTo>
                  <a:lnTo>
                    <a:pt x="361" y="146"/>
                  </a:lnTo>
                  <a:lnTo>
                    <a:pt x="361" y="146"/>
                  </a:lnTo>
                  <a:lnTo>
                    <a:pt x="361" y="144"/>
                  </a:lnTo>
                  <a:lnTo>
                    <a:pt x="361" y="142"/>
                  </a:lnTo>
                  <a:lnTo>
                    <a:pt x="362" y="142"/>
                  </a:lnTo>
                  <a:lnTo>
                    <a:pt x="362" y="142"/>
                  </a:lnTo>
                  <a:lnTo>
                    <a:pt x="364" y="142"/>
                  </a:lnTo>
                  <a:lnTo>
                    <a:pt x="364" y="140"/>
                  </a:lnTo>
                  <a:lnTo>
                    <a:pt x="364" y="138"/>
                  </a:lnTo>
                  <a:lnTo>
                    <a:pt x="364" y="137"/>
                  </a:lnTo>
                  <a:lnTo>
                    <a:pt x="364" y="137"/>
                  </a:lnTo>
                  <a:lnTo>
                    <a:pt x="362" y="135"/>
                  </a:lnTo>
                  <a:lnTo>
                    <a:pt x="361" y="135"/>
                  </a:lnTo>
                  <a:lnTo>
                    <a:pt x="361" y="133"/>
                  </a:lnTo>
                  <a:lnTo>
                    <a:pt x="361" y="133"/>
                  </a:lnTo>
                  <a:lnTo>
                    <a:pt x="361" y="133"/>
                  </a:lnTo>
                  <a:lnTo>
                    <a:pt x="359" y="131"/>
                  </a:lnTo>
                  <a:lnTo>
                    <a:pt x="359" y="131"/>
                  </a:lnTo>
                  <a:lnTo>
                    <a:pt x="359" y="129"/>
                  </a:lnTo>
                  <a:lnTo>
                    <a:pt x="361" y="129"/>
                  </a:lnTo>
                  <a:lnTo>
                    <a:pt x="362" y="129"/>
                  </a:lnTo>
                  <a:lnTo>
                    <a:pt x="366" y="127"/>
                  </a:lnTo>
                  <a:lnTo>
                    <a:pt x="366" y="127"/>
                  </a:lnTo>
                  <a:lnTo>
                    <a:pt x="368" y="127"/>
                  </a:lnTo>
                  <a:lnTo>
                    <a:pt x="368" y="129"/>
                  </a:lnTo>
                  <a:lnTo>
                    <a:pt x="368" y="129"/>
                  </a:lnTo>
                  <a:lnTo>
                    <a:pt x="368" y="131"/>
                  </a:lnTo>
                  <a:lnTo>
                    <a:pt x="368" y="133"/>
                  </a:lnTo>
                  <a:lnTo>
                    <a:pt x="368" y="133"/>
                  </a:lnTo>
                  <a:lnTo>
                    <a:pt x="370" y="133"/>
                  </a:lnTo>
                  <a:lnTo>
                    <a:pt x="374" y="131"/>
                  </a:lnTo>
                  <a:lnTo>
                    <a:pt x="376" y="131"/>
                  </a:lnTo>
                  <a:lnTo>
                    <a:pt x="380" y="131"/>
                  </a:lnTo>
                  <a:lnTo>
                    <a:pt x="380" y="131"/>
                  </a:lnTo>
                  <a:lnTo>
                    <a:pt x="382" y="129"/>
                  </a:lnTo>
                  <a:lnTo>
                    <a:pt x="383" y="129"/>
                  </a:lnTo>
                  <a:lnTo>
                    <a:pt x="383" y="129"/>
                  </a:lnTo>
                  <a:lnTo>
                    <a:pt x="383" y="127"/>
                  </a:lnTo>
                  <a:lnTo>
                    <a:pt x="383" y="125"/>
                  </a:lnTo>
                  <a:lnTo>
                    <a:pt x="383" y="123"/>
                  </a:lnTo>
                  <a:lnTo>
                    <a:pt x="383" y="121"/>
                  </a:lnTo>
                  <a:lnTo>
                    <a:pt x="383" y="119"/>
                  </a:lnTo>
                  <a:lnTo>
                    <a:pt x="383" y="119"/>
                  </a:lnTo>
                  <a:lnTo>
                    <a:pt x="385" y="119"/>
                  </a:lnTo>
                  <a:lnTo>
                    <a:pt x="385" y="119"/>
                  </a:lnTo>
                  <a:lnTo>
                    <a:pt x="387" y="119"/>
                  </a:lnTo>
                  <a:lnTo>
                    <a:pt x="389" y="121"/>
                  </a:lnTo>
                  <a:lnTo>
                    <a:pt x="391" y="121"/>
                  </a:lnTo>
                  <a:lnTo>
                    <a:pt x="391" y="121"/>
                  </a:lnTo>
                  <a:lnTo>
                    <a:pt x="391" y="119"/>
                  </a:lnTo>
                  <a:lnTo>
                    <a:pt x="393" y="117"/>
                  </a:lnTo>
                  <a:lnTo>
                    <a:pt x="393" y="116"/>
                  </a:lnTo>
                  <a:lnTo>
                    <a:pt x="393" y="116"/>
                  </a:lnTo>
                  <a:lnTo>
                    <a:pt x="395" y="114"/>
                  </a:lnTo>
                  <a:lnTo>
                    <a:pt x="397" y="116"/>
                  </a:lnTo>
                  <a:lnTo>
                    <a:pt x="399" y="116"/>
                  </a:lnTo>
                  <a:lnTo>
                    <a:pt x="399" y="114"/>
                  </a:lnTo>
                  <a:lnTo>
                    <a:pt x="399" y="112"/>
                  </a:lnTo>
                  <a:lnTo>
                    <a:pt x="399" y="110"/>
                  </a:lnTo>
                  <a:lnTo>
                    <a:pt x="399" y="110"/>
                  </a:lnTo>
                  <a:lnTo>
                    <a:pt x="397" y="110"/>
                  </a:lnTo>
                  <a:lnTo>
                    <a:pt x="397" y="110"/>
                  </a:lnTo>
                  <a:lnTo>
                    <a:pt x="397" y="110"/>
                  </a:lnTo>
                  <a:lnTo>
                    <a:pt x="395" y="110"/>
                  </a:lnTo>
                  <a:lnTo>
                    <a:pt x="395" y="110"/>
                  </a:lnTo>
                  <a:lnTo>
                    <a:pt x="395" y="108"/>
                  </a:lnTo>
                  <a:lnTo>
                    <a:pt x="395" y="108"/>
                  </a:lnTo>
                  <a:lnTo>
                    <a:pt x="395" y="106"/>
                  </a:lnTo>
                  <a:lnTo>
                    <a:pt x="397" y="106"/>
                  </a:lnTo>
                  <a:lnTo>
                    <a:pt x="399" y="104"/>
                  </a:lnTo>
                  <a:lnTo>
                    <a:pt x="399" y="104"/>
                  </a:lnTo>
                  <a:lnTo>
                    <a:pt x="402" y="102"/>
                  </a:lnTo>
                  <a:lnTo>
                    <a:pt x="404" y="100"/>
                  </a:lnTo>
                  <a:lnTo>
                    <a:pt x="406" y="98"/>
                  </a:lnTo>
                  <a:lnTo>
                    <a:pt x="410" y="91"/>
                  </a:lnTo>
                  <a:lnTo>
                    <a:pt x="410" y="89"/>
                  </a:lnTo>
                  <a:lnTo>
                    <a:pt x="410" y="87"/>
                  </a:lnTo>
                  <a:lnTo>
                    <a:pt x="410" y="87"/>
                  </a:lnTo>
                  <a:lnTo>
                    <a:pt x="410" y="85"/>
                  </a:lnTo>
                  <a:lnTo>
                    <a:pt x="410" y="85"/>
                  </a:lnTo>
                  <a:lnTo>
                    <a:pt x="410" y="85"/>
                  </a:lnTo>
                  <a:lnTo>
                    <a:pt x="412" y="83"/>
                  </a:lnTo>
                  <a:lnTo>
                    <a:pt x="412" y="83"/>
                  </a:lnTo>
                  <a:lnTo>
                    <a:pt x="412" y="81"/>
                  </a:lnTo>
                  <a:lnTo>
                    <a:pt x="412" y="81"/>
                  </a:lnTo>
                  <a:lnTo>
                    <a:pt x="412" y="81"/>
                  </a:lnTo>
                  <a:lnTo>
                    <a:pt x="410" y="79"/>
                  </a:lnTo>
                  <a:lnTo>
                    <a:pt x="410" y="79"/>
                  </a:lnTo>
                  <a:lnTo>
                    <a:pt x="412" y="76"/>
                  </a:lnTo>
                  <a:lnTo>
                    <a:pt x="410" y="76"/>
                  </a:lnTo>
                  <a:lnTo>
                    <a:pt x="410" y="76"/>
                  </a:lnTo>
                  <a:lnTo>
                    <a:pt x="410" y="74"/>
                  </a:lnTo>
                  <a:lnTo>
                    <a:pt x="408" y="74"/>
                  </a:lnTo>
                  <a:lnTo>
                    <a:pt x="408" y="74"/>
                  </a:lnTo>
                  <a:lnTo>
                    <a:pt x="408" y="74"/>
                  </a:lnTo>
                  <a:lnTo>
                    <a:pt x="408" y="72"/>
                  </a:lnTo>
                  <a:lnTo>
                    <a:pt x="408" y="72"/>
                  </a:lnTo>
                  <a:lnTo>
                    <a:pt x="410" y="72"/>
                  </a:lnTo>
                  <a:lnTo>
                    <a:pt x="412" y="72"/>
                  </a:lnTo>
                  <a:lnTo>
                    <a:pt x="412" y="74"/>
                  </a:lnTo>
                  <a:lnTo>
                    <a:pt x="414" y="74"/>
                  </a:lnTo>
                  <a:lnTo>
                    <a:pt x="414" y="74"/>
                  </a:lnTo>
                  <a:lnTo>
                    <a:pt x="416" y="74"/>
                  </a:lnTo>
                  <a:lnTo>
                    <a:pt x="416" y="74"/>
                  </a:lnTo>
                  <a:lnTo>
                    <a:pt x="418" y="74"/>
                  </a:lnTo>
                  <a:lnTo>
                    <a:pt x="420" y="74"/>
                  </a:lnTo>
                  <a:lnTo>
                    <a:pt x="420" y="72"/>
                  </a:lnTo>
                  <a:lnTo>
                    <a:pt x="422" y="72"/>
                  </a:lnTo>
                  <a:lnTo>
                    <a:pt x="422" y="70"/>
                  </a:lnTo>
                  <a:lnTo>
                    <a:pt x="420" y="70"/>
                  </a:lnTo>
                  <a:close/>
                </a:path>
              </a:pathLst>
            </a:custGeom>
            <a:solidFill>
              <a:schemeClr val="tx2">
                <a:lumMod val="20000"/>
                <a:lumOff val="80000"/>
              </a:schemeClr>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00" name="Freeform 49">
              <a:extLst>
                <a:ext uri="{FF2B5EF4-FFF2-40B4-BE49-F238E27FC236}">
                  <a16:creationId xmlns:a16="http://schemas.microsoft.com/office/drawing/2014/main" id="{99B67C7B-2039-9DED-7595-F6EEF973521E}"/>
                </a:ext>
              </a:extLst>
            </p:cNvPr>
            <p:cNvSpPr>
              <a:spLocks/>
            </p:cNvSpPr>
            <p:nvPr/>
          </p:nvSpPr>
          <p:spPr bwMode="auto">
            <a:xfrm>
              <a:off x="3654825" y="3304882"/>
              <a:ext cx="796117" cy="564971"/>
            </a:xfrm>
            <a:custGeom>
              <a:avLst/>
              <a:gdLst>
                <a:gd name="T0" fmla="*/ 418 w 422"/>
                <a:gd name="T1" fmla="*/ 57 h 334"/>
                <a:gd name="T2" fmla="*/ 418 w 422"/>
                <a:gd name="T3" fmla="*/ 45 h 334"/>
                <a:gd name="T4" fmla="*/ 410 w 422"/>
                <a:gd name="T5" fmla="*/ 17 h 334"/>
                <a:gd name="T6" fmla="*/ 391 w 422"/>
                <a:gd name="T7" fmla="*/ 1 h 334"/>
                <a:gd name="T8" fmla="*/ 372 w 422"/>
                <a:gd name="T9" fmla="*/ 13 h 334"/>
                <a:gd name="T10" fmla="*/ 355 w 422"/>
                <a:gd name="T11" fmla="*/ 26 h 334"/>
                <a:gd name="T12" fmla="*/ 345 w 422"/>
                <a:gd name="T13" fmla="*/ 66 h 334"/>
                <a:gd name="T14" fmla="*/ 319 w 422"/>
                <a:gd name="T15" fmla="*/ 74 h 334"/>
                <a:gd name="T16" fmla="*/ 290 w 422"/>
                <a:gd name="T17" fmla="*/ 91 h 334"/>
                <a:gd name="T18" fmla="*/ 275 w 422"/>
                <a:gd name="T19" fmla="*/ 83 h 334"/>
                <a:gd name="T20" fmla="*/ 250 w 422"/>
                <a:gd name="T21" fmla="*/ 60 h 334"/>
                <a:gd name="T22" fmla="*/ 220 w 422"/>
                <a:gd name="T23" fmla="*/ 59 h 334"/>
                <a:gd name="T24" fmla="*/ 210 w 422"/>
                <a:gd name="T25" fmla="*/ 78 h 334"/>
                <a:gd name="T26" fmla="*/ 180 w 422"/>
                <a:gd name="T27" fmla="*/ 83 h 334"/>
                <a:gd name="T28" fmla="*/ 162 w 422"/>
                <a:gd name="T29" fmla="*/ 93 h 334"/>
                <a:gd name="T30" fmla="*/ 136 w 422"/>
                <a:gd name="T31" fmla="*/ 83 h 334"/>
                <a:gd name="T32" fmla="*/ 115 w 422"/>
                <a:gd name="T33" fmla="*/ 95 h 334"/>
                <a:gd name="T34" fmla="*/ 96 w 422"/>
                <a:gd name="T35" fmla="*/ 93 h 334"/>
                <a:gd name="T36" fmla="*/ 84 w 422"/>
                <a:gd name="T37" fmla="*/ 79 h 334"/>
                <a:gd name="T38" fmla="*/ 75 w 422"/>
                <a:gd name="T39" fmla="*/ 81 h 334"/>
                <a:gd name="T40" fmla="*/ 61 w 422"/>
                <a:gd name="T41" fmla="*/ 72 h 334"/>
                <a:gd name="T42" fmla="*/ 33 w 422"/>
                <a:gd name="T43" fmla="*/ 81 h 334"/>
                <a:gd name="T44" fmla="*/ 10 w 422"/>
                <a:gd name="T45" fmla="*/ 93 h 334"/>
                <a:gd name="T46" fmla="*/ 4 w 422"/>
                <a:gd name="T47" fmla="*/ 119 h 334"/>
                <a:gd name="T48" fmla="*/ 37 w 422"/>
                <a:gd name="T49" fmla="*/ 157 h 334"/>
                <a:gd name="T50" fmla="*/ 44 w 422"/>
                <a:gd name="T51" fmla="*/ 175 h 334"/>
                <a:gd name="T52" fmla="*/ 56 w 422"/>
                <a:gd name="T53" fmla="*/ 169 h 334"/>
                <a:gd name="T54" fmla="*/ 58 w 422"/>
                <a:gd name="T55" fmla="*/ 186 h 334"/>
                <a:gd name="T56" fmla="*/ 63 w 422"/>
                <a:gd name="T57" fmla="*/ 195 h 334"/>
                <a:gd name="T58" fmla="*/ 73 w 422"/>
                <a:gd name="T59" fmla="*/ 233 h 334"/>
                <a:gd name="T60" fmla="*/ 84 w 422"/>
                <a:gd name="T61" fmla="*/ 233 h 334"/>
                <a:gd name="T62" fmla="*/ 92 w 422"/>
                <a:gd name="T63" fmla="*/ 249 h 334"/>
                <a:gd name="T64" fmla="*/ 69 w 422"/>
                <a:gd name="T65" fmla="*/ 270 h 334"/>
                <a:gd name="T66" fmla="*/ 73 w 422"/>
                <a:gd name="T67" fmla="*/ 291 h 334"/>
                <a:gd name="T68" fmla="*/ 107 w 422"/>
                <a:gd name="T69" fmla="*/ 294 h 334"/>
                <a:gd name="T70" fmla="*/ 145 w 422"/>
                <a:gd name="T71" fmla="*/ 291 h 334"/>
                <a:gd name="T72" fmla="*/ 155 w 422"/>
                <a:gd name="T73" fmla="*/ 317 h 334"/>
                <a:gd name="T74" fmla="*/ 174 w 422"/>
                <a:gd name="T75" fmla="*/ 330 h 334"/>
                <a:gd name="T76" fmla="*/ 220 w 422"/>
                <a:gd name="T77" fmla="*/ 325 h 334"/>
                <a:gd name="T78" fmla="*/ 225 w 422"/>
                <a:gd name="T79" fmla="*/ 330 h 334"/>
                <a:gd name="T80" fmla="*/ 242 w 422"/>
                <a:gd name="T81" fmla="*/ 310 h 334"/>
                <a:gd name="T82" fmla="*/ 242 w 422"/>
                <a:gd name="T83" fmla="*/ 283 h 334"/>
                <a:gd name="T84" fmla="*/ 277 w 422"/>
                <a:gd name="T85" fmla="*/ 298 h 334"/>
                <a:gd name="T86" fmla="*/ 313 w 422"/>
                <a:gd name="T87" fmla="*/ 308 h 334"/>
                <a:gd name="T88" fmla="*/ 319 w 422"/>
                <a:gd name="T89" fmla="*/ 296 h 334"/>
                <a:gd name="T90" fmla="*/ 315 w 422"/>
                <a:gd name="T91" fmla="*/ 283 h 334"/>
                <a:gd name="T92" fmla="*/ 292 w 422"/>
                <a:gd name="T93" fmla="*/ 258 h 334"/>
                <a:gd name="T94" fmla="*/ 286 w 422"/>
                <a:gd name="T95" fmla="*/ 237 h 334"/>
                <a:gd name="T96" fmla="*/ 275 w 422"/>
                <a:gd name="T97" fmla="*/ 232 h 334"/>
                <a:gd name="T98" fmla="*/ 235 w 422"/>
                <a:gd name="T99" fmla="*/ 214 h 334"/>
                <a:gd name="T100" fmla="*/ 231 w 422"/>
                <a:gd name="T101" fmla="*/ 190 h 334"/>
                <a:gd name="T102" fmla="*/ 246 w 422"/>
                <a:gd name="T103" fmla="*/ 175 h 334"/>
                <a:gd name="T104" fmla="*/ 260 w 422"/>
                <a:gd name="T105" fmla="*/ 184 h 334"/>
                <a:gd name="T106" fmla="*/ 277 w 422"/>
                <a:gd name="T107" fmla="*/ 178 h 334"/>
                <a:gd name="T108" fmla="*/ 321 w 422"/>
                <a:gd name="T109" fmla="*/ 152 h 334"/>
                <a:gd name="T110" fmla="*/ 340 w 422"/>
                <a:gd name="T111" fmla="*/ 146 h 334"/>
                <a:gd name="T112" fmla="*/ 355 w 422"/>
                <a:gd name="T113" fmla="*/ 146 h 334"/>
                <a:gd name="T114" fmla="*/ 364 w 422"/>
                <a:gd name="T115" fmla="*/ 137 h 334"/>
                <a:gd name="T116" fmla="*/ 368 w 422"/>
                <a:gd name="T117" fmla="*/ 133 h 334"/>
                <a:gd name="T118" fmla="*/ 385 w 422"/>
                <a:gd name="T119" fmla="*/ 119 h 334"/>
                <a:gd name="T120" fmla="*/ 397 w 422"/>
                <a:gd name="T121" fmla="*/ 110 h 334"/>
                <a:gd name="T122" fmla="*/ 410 w 422"/>
                <a:gd name="T123" fmla="*/ 85 h 334"/>
                <a:gd name="T124" fmla="*/ 408 w 422"/>
                <a:gd name="T125" fmla="*/ 72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2" h="334">
                  <a:moveTo>
                    <a:pt x="420" y="70"/>
                  </a:moveTo>
                  <a:lnTo>
                    <a:pt x="420" y="70"/>
                  </a:lnTo>
                  <a:lnTo>
                    <a:pt x="420" y="70"/>
                  </a:lnTo>
                  <a:lnTo>
                    <a:pt x="418" y="68"/>
                  </a:lnTo>
                  <a:lnTo>
                    <a:pt x="420" y="68"/>
                  </a:lnTo>
                  <a:lnTo>
                    <a:pt x="420" y="68"/>
                  </a:lnTo>
                  <a:lnTo>
                    <a:pt x="420" y="66"/>
                  </a:lnTo>
                  <a:lnTo>
                    <a:pt x="422" y="66"/>
                  </a:lnTo>
                  <a:lnTo>
                    <a:pt x="422" y="64"/>
                  </a:lnTo>
                  <a:lnTo>
                    <a:pt x="420" y="64"/>
                  </a:lnTo>
                  <a:lnTo>
                    <a:pt x="420" y="64"/>
                  </a:lnTo>
                  <a:lnTo>
                    <a:pt x="420" y="62"/>
                  </a:lnTo>
                  <a:lnTo>
                    <a:pt x="420" y="62"/>
                  </a:lnTo>
                  <a:lnTo>
                    <a:pt x="420" y="60"/>
                  </a:lnTo>
                  <a:lnTo>
                    <a:pt x="420" y="59"/>
                  </a:lnTo>
                  <a:lnTo>
                    <a:pt x="418" y="59"/>
                  </a:lnTo>
                  <a:lnTo>
                    <a:pt x="418" y="57"/>
                  </a:lnTo>
                  <a:lnTo>
                    <a:pt x="418" y="57"/>
                  </a:lnTo>
                  <a:lnTo>
                    <a:pt x="418" y="57"/>
                  </a:lnTo>
                  <a:lnTo>
                    <a:pt x="414" y="57"/>
                  </a:lnTo>
                  <a:lnTo>
                    <a:pt x="414" y="55"/>
                  </a:lnTo>
                  <a:lnTo>
                    <a:pt x="414" y="55"/>
                  </a:lnTo>
                  <a:lnTo>
                    <a:pt x="414" y="55"/>
                  </a:lnTo>
                  <a:lnTo>
                    <a:pt x="414" y="53"/>
                  </a:lnTo>
                  <a:lnTo>
                    <a:pt x="414" y="53"/>
                  </a:lnTo>
                  <a:lnTo>
                    <a:pt x="414" y="53"/>
                  </a:lnTo>
                  <a:lnTo>
                    <a:pt x="414" y="53"/>
                  </a:lnTo>
                  <a:lnTo>
                    <a:pt x="416" y="53"/>
                  </a:lnTo>
                  <a:lnTo>
                    <a:pt x="416" y="53"/>
                  </a:lnTo>
                  <a:lnTo>
                    <a:pt x="418" y="53"/>
                  </a:lnTo>
                  <a:lnTo>
                    <a:pt x="418" y="53"/>
                  </a:lnTo>
                  <a:lnTo>
                    <a:pt x="418" y="53"/>
                  </a:lnTo>
                  <a:lnTo>
                    <a:pt x="418" y="47"/>
                  </a:lnTo>
                  <a:lnTo>
                    <a:pt x="418" y="45"/>
                  </a:lnTo>
                  <a:lnTo>
                    <a:pt x="420" y="43"/>
                  </a:lnTo>
                  <a:lnTo>
                    <a:pt x="420" y="43"/>
                  </a:lnTo>
                  <a:lnTo>
                    <a:pt x="420" y="40"/>
                  </a:lnTo>
                  <a:lnTo>
                    <a:pt x="420" y="38"/>
                  </a:lnTo>
                  <a:lnTo>
                    <a:pt x="418" y="30"/>
                  </a:lnTo>
                  <a:lnTo>
                    <a:pt x="416" y="28"/>
                  </a:lnTo>
                  <a:lnTo>
                    <a:pt x="416" y="28"/>
                  </a:lnTo>
                  <a:lnTo>
                    <a:pt x="416" y="26"/>
                  </a:lnTo>
                  <a:lnTo>
                    <a:pt x="412" y="22"/>
                  </a:lnTo>
                  <a:lnTo>
                    <a:pt x="412" y="22"/>
                  </a:lnTo>
                  <a:lnTo>
                    <a:pt x="410" y="22"/>
                  </a:lnTo>
                  <a:lnTo>
                    <a:pt x="410" y="22"/>
                  </a:lnTo>
                  <a:lnTo>
                    <a:pt x="410" y="22"/>
                  </a:lnTo>
                  <a:lnTo>
                    <a:pt x="410" y="20"/>
                  </a:lnTo>
                  <a:lnTo>
                    <a:pt x="410" y="20"/>
                  </a:lnTo>
                  <a:lnTo>
                    <a:pt x="410" y="19"/>
                  </a:lnTo>
                  <a:lnTo>
                    <a:pt x="410" y="17"/>
                  </a:lnTo>
                  <a:lnTo>
                    <a:pt x="408" y="15"/>
                  </a:lnTo>
                  <a:lnTo>
                    <a:pt x="408" y="15"/>
                  </a:lnTo>
                  <a:lnTo>
                    <a:pt x="410" y="13"/>
                  </a:lnTo>
                  <a:lnTo>
                    <a:pt x="410" y="13"/>
                  </a:lnTo>
                  <a:lnTo>
                    <a:pt x="410" y="11"/>
                  </a:lnTo>
                  <a:lnTo>
                    <a:pt x="410" y="9"/>
                  </a:lnTo>
                  <a:lnTo>
                    <a:pt x="410" y="9"/>
                  </a:lnTo>
                  <a:lnTo>
                    <a:pt x="410" y="7"/>
                  </a:lnTo>
                  <a:lnTo>
                    <a:pt x="408" y="7"/>
                  </a:lnTo>
                  <a:lnTo>
                    <a:pt x="408" y="7"/>
                  </a:lnTo>
                  <a:lnTo>
                    <a:pt x="404" y="5"/>
                  </a:lnTo>
                  <a:lnTo>
                    <a:pt x="401" y="7"/>
                  </a:lnTo>
                  <a:lnTo>
                    <a:pt x="399" y="5"/>
                  </a:lnTo>
                  <a:lnTo>
                    <a:pt x="393" y="5"/>
                  </a:lnTo>
                  <a:lnTo>
                    <a:pt x="393" y="3"/>
                  </a:lnTo>
                  <a:lnTo>
                    <a:pt x="391" y="1"/>
                  </a:lnTo>
                  <a:lnTo>
                    <a:pt x="391" y="1"/>
                  </a:lnTo>
                  <a:lnTo>
                    <a:pt x="389" y="0"/>
                  </a:lnTo>
                  <a:lnTo>
                    <a:pt x="389" y="0"/>
                  </a:lnTo>
                  <a:lnTo>
                    <a:pt x="387" y="0"/>
                  </a:lnTo>
                  <a:lnTo>
                    <a:pt x="387" y="0"/>
                  </a:lnTo>
                  <a:lnTo>
                    <a:pt x="387" y="0"/>
                  </a:lnTo>
                  <a:lnTo>
                    <a:pt x="385" y="0"/>
                  </a:lnTo>
                  <a:lnTo>
                    <a:pt x="382" y="3"/>
                  </a:lnTo>
                  <a:lnTo>
                    <a:pt x="380" y="5"/>
                  </a:lnTo>
                  <a:lnTo>
                    <a:pt x="380" y="5"/>
                  </a:lnTo>
                  <a:lnTo>
                    <a:pt x="380" y="7"/>
                  </a:lnTo>
                  <a:lnTo>
                    <a:pt x="380" y="7"/>
                  </a:lnTo>
                  <a:lnTo>
                    <a:pt x="378" y="9"/>
                  </a:lnTo>
                  <a:lnTo>
                    <a:pt x="378" y="11"/>
                  </a:lnTo>
                  <a:lnTo>
                    <a:pt x="378" y="13"/>
                  </a:lnTo>
                  <a:lnTo>
                    <a:pt x="376" y="13"/>
                  </a:lnTo>
                  <a:lnTo>
                    <a:pt x="374" y="13"/>
                  </a:lnTo>
                  <a:lnTo>
                    <a:pt x="372" y="13"/>
                  </a:lnTo>
                  <a:lnTo>
                    <a:pt x="372" y="11"/>
                  </a:lnTo>
                  <a:lnTo>
                    <a:pt x="370" y="11"/>
                  </a:lnTo>
                  <a:lnTo>
                    <a:pt x="370" y="11"/>
                  </a:lnTo>
                  <a:lnTo>
                    <a:pt x="370" y="13"/>
                  </a:lnTo>
                  <a:lnTo>
                    <a:pt x="370" y="13"/>
                  </a:lnTo>
                  <a:lnTo>
                    <a:pt x="366" y="13"/>
                  </a:lnTo>
                  <a:lnTo>
                    <a:pt x="366" y="13"/>
                  </a:lnTo>
                  <a:lnTo>
                    <a:pt x="364" y="15"/>
                  </a:lnTo>
                  <a:lnTo>
                    <a:pt x="364" y="17"/>
                  </a:lnTo>
                  <a:lnTo>
                    <a:pt x="364" y="19"/>
                  </a:lnTo>
                  <a:lnTo>
                    <a:pt x="362" y="24"/>
                  </a:lnTo>
                  <a:lnTo>
                    <a:pt x="362" y="24"/>
                  </a:lnTo>
                  <a:lnTo>
                    <a:pt x="362" y="24"/>
                  </a:lnTo>
                  <a:lnTo>
                    <a:pt x="359" y="24"/>
                  </a:lnTo>
                  <a:lnTo>
                    <a:pt x="359" y="24"/>
                  </a:lnTo>
                  <a:lnTo>
                    <a:pt x="355" y="26"/>
                  </a:lnTo>
                  <a:lnTo>
                    <a:pt x="355" y="26"/>
                  </a:lnTo>
                  <a:lnTo>
                    <a:pt x="353" y="28"/>
                  </a:lnTo>
                  <a:lnTo>
                    <a:pt x="349" y="32"/>
                  </a:lnTo>
                  <a:lnTo>
                    <a:pt x="349" y="34"/>
                  </a:lnTo>
                  <a:lnTo>
                    <a:pt x="349" y="34"/>
                  </a:lnTo>
                  <a:lnTo>
                    <a:pt x="349" y="45"/>
                  </a:lnTo>
                  <a:lnTo>
                    <a:pt x="349" y="47"/>
                  </a:lnTo>
                  <a:lnTo>
                    <a:pt x="349" y="47"/>
                  </a:lnTo>
                  <a:lnTo>
                    <a:pt x="347" y="49"/>
                  </a:lnTo>
                  <a:lnTo>
                    <a:pt x="345" y="53"/>
                  </a:lnTo>
                  <a:lnTo>
                    <a:pt x="345" y="53"/>
                  </a:lnTo>
                  <a:lnTo>
                    <a:pt x="345" y="53"/>
                  </a:lnTo>
                  <a:lnTo>
                    <a:pt x="345" y="55"/>
                  </a:lnTo>
                  <a:lnTo>
                    <a:pt x="345" y="55"/>
                  </a:lnTo>
                  <a:lnTo>
                    <a:pt x="345" y="57"/>
                  </a:lnTo>
                  <a:lnTo>
                    <a:pt x="345" y="57"/>
                  </a:lnTo>
                  <a:lnTo>
                    <a:pt x="343" y="62"/>
                  </a:lnTo>
                  <a:lnTo>
                    <a:pt x="345" y="66"/>
                  </a:lnTo>
                  <a:lnTo>
                    <a:pt x="343" y="68"/>
                  </a:lnTo>
                  <a:lnTo>
                    <a:pt x="343" y="70"/>
                  </a:lnTo>
                  <a:lnTo>
                    <a:pt x="343" y="72"/>
                  </a:lnTo>
                  <a:lnTo>
                    <a:pt x="341" y="74"/>
                  </a:lnTo>
                  <a:lnTo>
                    <a:pt x="341" y="74"/>
                  </a:lnTo>
                  <a:lnTo>
                    <a:pt x="340" y="74"/>
                  </a:lnTo>
                  <a:lnTo>
                    <a:pt x="334" y="72"/>
                  </a:lnTo>
                  <a:lnTo>
                    <a:pt x="332" y="70"/>
                  </a:lnTo>
                  <a:lnTo>
                    <a:pt x="330" y="72"/>
                  </a:lnTo>
                  <a:lnTo>
                    <a:pt x="330" y="72"/>
                  </a:lnTo>
                  <a:lnTo>
                    <a:pt x="328" y="74"/>
                  </a:lnTo>
                  <a:lnTo>
                    <a:pt x="328" y="76"/>
                  </a:lnTo>
                  <a:lnTo>
                    <a:pt x="328" y="78"/>
                  </a:lnTo>
                  <a:lnTo>
                    <a:pt x="328" y="79"/>
                  </a:lnTo>
                  <a:lnTo>
                    <a:pt x="328" y="79"/>
                  </a:lnTo>
                  <a:lnTo>
                    <a:pt x="321" y="78"/>
                  </a:lnTo>
                  <a:lnTo>
                    <a:pt x="319" y="74"/>
                  </a:lnTo>
                  <a:lnTo>
                    <a:pt x="317" y="74"/>
                  </a:lnTo>
                  <a:lnTo>
                    <a:pt x="315" y="74"/>
                  </a:lnTo>
                  <a:lnTo>
                    <a:pt x="315" y="74"/>
                  </a:lnTo>
                  <a:lnTo>
                    <a:pt x="315" y="74"/>
                  </a:lnTo>
                  <a:lnTo>
                    <a:pt x="313" y="76"/>
                  </a:lnTo>
                  <a:lnTo>
                    <a:pt x="311" y="78"/>
                  </a:lnTo>
                  <a:lnTo>
                    <a:pt x="309" y="78"/>
                  </a:lnTo>
                  <a:lnTo>
                    <a:pt x="307" y="78"/>
                  </a:lnTo>
                  <a:lnTo>
                    <a:pt x="305" y="78"/>
                  </a:lnTo>
                  <a:lnTo>
                    <a:pt x="303" y="78"/>
                  </a:lnTo>
                  <a:lnTo>
                    <a:pt x="301" y="76"/>
                  </a:lnTo>
                  <a:lnTo>
                    <a:pt x="300" y="76"/>
                  </a:lnTo>
                  <a:lnTo>
                    <a:pt x="296" y="81"/>
                  </a:lnTo>
                  <a:lnTo>
                    <a:pt x="292" y="83"/>
                  </a:lnTo>
                  <a:lnTo>
                    <a:pt x="292" y="85"/>
                  </a:lnTo>
                  <a:lnTo>
                    <a:pt x="290" y="87"/>
                  </a:lnTo>
                  <a:lnTo>
                    <a:pt x="290" y="91"/>
                  </a:lnTo>
                  <a:lnTo>
                    <a:pt x="290" y="93"/>
                  </a:lnTo>
                  <a:lnTo>
                    <a:pt x="288" y="93"/>
                  </a:lnTo>
                  <a:lnTo>
                    <a:pt x="288" y="93"/>
                  </a:lnTo>
                  <a:lnTo>
                    <a:pt x="288" y="95"/>
                  </a:lnTo>
                  <a:lnTo>
                    <a:pt x="288" y="95"/>
                  </a:lnTo>
                  <a:lnTo>
                    <a:pt x="288" y="97"/>
                  </a:lnTo>
                  <a:lnTo>
                    <a:pt x="288" y="97"/>
                  </a:lnTo>
                  <a:lnTo>
                    <a:pt x="288" y="98"/>
                  </a:lnTo>
                  <a:lnTo>
                    <a:pt x="286" y="98"/>
                  </a:lnTo>
                  <a:lnTo>
                    <a:pt x="284" y="97"/>
                  </a:lnTo>
                  <a:lnTo>
                    <a:pt x="279" y="93"/>
                  </a:lnTo>
                  <a:lnTo>
                    <a:pt x="271" y="89"/>
                  </a:lnTo>
                  <a:lnTo>
                    <a:pt x="271" y="87"/>
                  </a:lnTo>
                  <a:lnTo>
                    <a:pt x="271" y="87"/>
                  </a:lnTo>
                  <a:lnTo>
                    <a:pt x="273" y="85"/>
                  </a:lnTo>
                  <a:lnTo>
                    <a:pt x="273" y="83"/>
                  </a:lnTo>
                  <a:lnTo>
                    <a:pt x="275" y="83"/>
                  </a:lnTo>
                  <a:lnTo>
                    <a:pt x="273" y="79"/>
                  </a:lnTo>
                  <a:lnTo>
                    <a:pt x="273" y="78"/>
                  </a:lnTo>
                  <a:lnTo>
                    <a:pt x="273" y="78"/>
                  </a:lnTo>
                  <a:lnTo>
                    <a:pt x="269" y="78"/>
                  </a:lnTo>
                  <a:lnTo>
                    <a:pt x="267" y="76"/>
                  </a:lnTo>
                  <a:lnTo>
                    <a:pt x="265" y="76"/>
                  </a:lnTo>
                  <a:lnTo>
                    <a:pt x="263" y="78"/>
                  </a:lnTo>
                  <a:lnTo>
                    <a:pt x="261" y="78"/>
                  </a:lnTo>
                  <a:lnTo>
                    <a:pt x="260" y="78"/>
                  </a:lnTo>
                  <a:lnTo>
                    <a:pt x="258" y="76"/>
                  </a:lnTo>
                  <a:lnTo>
                    <a:pt x="258" y="74"/>
                  </a:lnTo>
                  <a:lnTo>
                    <a:pt x="256" y="72"/>
                  </a:lnTo>
                  <a:lnTo>
                    <a:pt x="256" y="64"/>
                  </a:lnTo>
                  <a:lnTo>
                    <a:pt x="256" y="62"/>
                  </a:lnTo>
                  <a:lnTo>
                    <a:pt x="254" y="62"/>
                  </a:lnTo>
                  <a:lnTo>
                    <a:pt x="252" y="62"/>
                  </a:lnTo>
                  <a:lnTo>
                    <a:pt x="250" y="60"/>
                  </a:lnTo>
                  <a:lnTo>
                    <a:pt x="250" y="60"/>
                  </a:lnTo>
                  <a:lnTo>
                    <a:pt x="248" y="60"/>
                  </a:lnTo>
                  <a:lnTo>
                    <a:pt x="250" y="60"/>
                  </a:lnTo>
                  <a:lnTo>
                    <a:pt x="250" y="59"/>
                  </a:lnTo>
                  <a:lnTo>
                    <a:pt x="250" y="59"/>
                  </a:lnTo>
                  <a:lnTo>
                    <a:pt x="250" y="57"/>
                  </a:lnTo>
                  <a:lnTo>
                    <a:pt x="248" y="59"/>
                  </a:lnTo>
                  <a:lnTo>
                    <a:pt x="246" y="59"/>
                  </a:lnTo>
                  <a:lnTo>
                    <a:pt x="242" y="62"/>
                  </a:lnTo>
                  <a:lnTo>
                    <a:pt x="237" y="62"/>
                  </a:lnTo>
                  <a:lnTo>
                    <a:pt x="233" y="57"/>
                  </a:lnTo>
                  <a:lnTo>
                    <a:pt x="231" y="55"/>
                  </a:lnTo>
                  <a:lnTo>
                    <a:pt x="231" y="55"/>
                  </a:lnTo>
                  <a:lnTo>
                    <a:pt x="221" y="55"/>
                  </a:lnTo>
                  <a:lnTo>
                    <a:pt x="221" y="55"/>
                  </a:lnTo>
                  <a:lnTo>
                    <a:pt x="220" y="57"/>
                  </a:lnTo>
                  <a:lnTo>
                    <a:pt x="220" y="59"/>
                  </a:lnTo>
                  <a:lnTo>
                    <a:pt x="218" y="60"/>
                  </a:lnTo>
                  <a:lnTo>
                    <a:pt x="218" y="60"/>
                  </a:lnTo>
                  <a:lnTo>
                    <a:pt x="218" y="64"/>
                  </a:lnTo>
                  <a:lnTo>
                    <a:pt x="218" y="66"/>
                  </a:lnTo>
                  <a:lnTo>
                    <a:pt x="216" y="66"/>
                  </a:lnTo>
                  <a:lnTo>
                    <a:pt x="214" y="66"/>
                  </a:lnTo>
                  <a:lnTo>
                    <a:pt x="214" y="68"/>
                  </a:lnTo>
                  <a:lnTo>
                    <a:pt x="214" y="68"/>
                  </a:lnTo>
                  <a:lnTo>
                    <a:pt x="214" y="68"/>
                  </a:lnTo>
                  <a:lnTo>
                    <a:pt x="214" y="70"/>
                  </a:lnTo>
                  <a:lnTo>
                    <a:pt x="214" y="70"/>
                  </a:lnTo>
                  <a:lnTo>
                    <a:pt x="214" y="72"/>
                  </a:lnTo>
                  <a:lnTo>
                    <a:pt x="214" y="76"/>
                  </a:lnTo>
                  <a:lnTo>
                    <a:pt x="214" y="76"/>
                  </a:lnTo>
                  <a:lnTo>
                    <a:pt x="214" y="78"/>
                  </a:lnTo>
                  <a:lnTo>
                    <a:pt x="210" y="78"/>
                  </a:lnTo>
                  <a:lnTo>
                    <a:pt x="210" y="78"/>
                  </a:lnTo>
                  <a:lnTo>
                    <a:pt x="208" y="76"/>
                  </a:lnTo>
                  <a:lnTo>
                    <a:pt x="206" y="76"/>
                  </a:lnTo>
                  <a:lnTo>
                    <a:pt x="206" y="78"/>
                  </a:lnTo>
                  <a:lnTo>
                    <a:pt x="206" y="78"/>
                  </a:lnTo>
                  <a:lnTo>
                    <a:pt x="204" y="79"/>
                  </a:lnTo>
                  <a:lnTo>
                    <a:pt x="204" y="79"/>
                  </a:lnTo>
                  <a:lnTo>
                    <a:pt x="202" y="81"/>
                  </a:lnTo>
                  <a:lnTo>
                    <a:pt x="200" y="83"/>
                  </a:lnTo>
                  <a:lnTo>
                    <a:pt x="200" y="81"/>
                  </a:lnTo>
                  <a:lnTo>
                    <a:pt x="199" y="81"/>
                  </a:lnTo>
                  <a:lnTo>
                    <a:pt x="199" y="81"/>
                  </a:lnTo>
                  <a:lnTo>
                    <a:pt x="197" y="81"/>
                  </a:lnTo>
                  <a:lnTo>
                    <a:pt x="195" y="81"/>
                  </a:lnTo>
                  <a:lnTo>
                    <a:pt x="189" y="81"/>
                  </a:lnTo>
                  <a:lnTo>
                    <a:pt x="187" y="83"/>
                  </a:lnTo>
                  <a:lnTo>
                    <a:pt x="181" y="83"/>
                  </a:lnTo>
                  <a:lnTo>
                    <a:pt x="180" y="83"/>
                  </a:lnTo>
                  <a:lnTo>
                    <a:pt x="180" y="85"/>
                  </a:lnTo>
                  <a:lnTo>
                    <a:pt x="180" y="85"/>
                  </a:lnTo>
                  <a:lnTo>
                    <a:pt x="178" y="85"/>
                  </a:lnTo>
                  <a:lnTo>
                    <a:pt x="178" y="87"/>
                  </a:lnTo>
                  <a:lnTo>
                    <a:pt x="170" y="89"/>
                  </a:lnTo>
                  <a:lnTo>
                    <a:pt x="168" y="91"/>
                  </a:lnTo>
                  <a:lnTo>
                    <a:pt x="168" y="91"/>
                  </a:lnTo>
                  <a:lnTo>
                    <a:pt x="168" y="93"/>
                  </a:lnTo>
                  <a:lnTo>
                    <a:pt x="168" y="93"/>
                  </a:lnTo>
                  <a:lnTo>
                    <a:pt x="168" y="93"/>
                  </a:lnTo>
                  <a:lnTo>
                    <a:pt x="166" y="95"/>
                  </a:lnTo>
                  <a:lnTo>
                    <a:pt x="162" y="98"/>
                  </a:lnTo>
                  <a:lnTo>
                    <a:pt x="162" y="98"/>
                  </a:lnTo>
                  <a:lnTo>
                    <a:pt x="160" y="98"/>
                  </a:lnTo>
                  <a:lnTo>
                    <a:pt x="160" y="97"/>
                  </a:lnTo>
                  <a:lnTo>
                    <a:pt x="162" y="95"/>
                  </a:lnTo>
                  <a:lnTo>
                    <a:pt x="162" y="93"/>
                  </a:lnTo>
                  <a:lnTo>
                    <a:pt x="160" y="93"/>
                  </a:lnTo>
                  <a:lnTo>
                    <a:pt x="155" y="95"/>
                  </a:lnTo>
                  <a:lnTo>
                    <a:pt x="153" y="97"/>
                  </a:lnTo>
                  <a:lnTo>
                    <a:pt x="151" y="97"/>
                  </a:lnTo>
                  <a:lnTo>
                    <a:pt x="149" y="98"/>
                  </a:lnTo>
                  <a:lnTo>
                    <a:pt x="145" y="97"/>
                  </a:lnTo>
                  <a:lnTo>
                    <a:pt x="143" y="97"/>
                  </a:lnTo>
                  <a:lnTo>
                    <a:pt x="143" y="95"/>
                  </a:lnTo>
                  <a:lnTo>
                    <a:pt x="141" y="89"/>
                  </a:lnTo>
                  <a:lnTo>
                    <a:pt x="141" y="89"/>
                  </a:lnTo>
                  <a:lnTo>
                    <a:pt x="141" y="89"/>
                  </a:lnTo>
                  <a:lnTo>
                    <a:pt x="141" y="89"/>
                  </a:lnTo>
                  <a:lnTo>
                    <a:pt x="140" y="89"/>
                  </a:lnTo>
                  <a:lnTo>
                    <a:pt x="138" y="89"/>
                  </a:lnTo>
                  <a:lnTo>
                    <a:pt x="138" y="83"/>
                  </a:lnTo>
                  <a:lnTo>
                    <a:pt x="136" y="83"/>
                  </a:lnTo>
                  <a:lnTo>
                    <a:pt x="136" y="83"/>
                  </a:lnTo>
                  <a:lnTo>
                    <a:pt x="134" y="83"/>
                  </a:lnTo>
                  <a:lnTo>
                    <a:pt x="134" y="83"/>
                  </a:lnTo>
                  <a:lnTo>
                    <a:pt x="132" y="85"/>
                  </a:lnTo>
                  <a:lnTo>
                    <a:pt x="130" y="85"/>
                  </a:lnTo>
                  <a:lnTo>
                    <a:pt x="126" y="89"/>
                  </a:lnTo>
                  <a:lnTo>
                    <a:pt x="124" y="89"/>
                  </a:lnTo>
                  <a:lnTo>
                    <a:pt x="124" y="91"/>
                  </a:lnTo>
                  <a:lnTo>
                    <a:pt x="122" y="95"/>
                  </a:lnTo>
                  <a:lnTo>
                    <a:pt x="122" y="95"/>
                  </a:lnTo>
                  <a:lnTo>
                    <a:pt x="120" y="95"/>
                  </a:lnTo>
                  <a:lnTo>
                    <a:pt x="119" y="95"/>
                  </a:lnTo>
                  <a:lnTo>
                    <a:pt x="119" y="95"/>
                  </a:lnTo>
                  <a:lnTo>
                    <a:pt x="117" y="95"/>
                  </a:lnTo>
                  <a:lnTo>
                    <a:pt x="117" y="93"/>
                  </a:lnTo>
                  <a:lnTo>
                    <a:pt x="115" y="93"/>
                  </a:lnTo>
                  <a:lnTo>
                    <a:pt x="115" y="93"/>
                  </a:lnTo>
                  <a:lnTo>
                    <a:pt x="115" y="95"/>
                  </a:lnTo>
                  <a:lnTo>
                    <a:pt x="115" y="95"/>
                  </a:lnTo>
                  <a:lnTo>
                    <a:pt x="111" y="97"/>
                  </a:lnTo>
                  <a:lnTo>
                    <a:pt x="111" y="98"/>
                  </a:lnTo>
                  <a:lnTo>
                    <a:pt x="111" y="98"/>
                  </a:lnTo>
                  <a:lnTo>
                    <a:pt x="111" y="100"/>
                  </a:lnTo>
                  <a:lnTo>
                    <a:pt x="109" y="102"/>
                  </a:lnTo>
                  <a:lnTo>
                    <a:pt x="107" y="102"/>
                  </a:lnTo>
                  <a:lnTo>
                    <a:pt x="107" y="102"/>
                  </a:lnTo>
                  <a:lnTo>
                    <a:pt x="105" y="102"/>
                  </a:lnTo>
                  <a:lnTo>
                    <a:pt x="105" y="102"/>
                  </a:lnTo>
                  <a:lnTo>
                    <a:pt x="103" y="100"/>
                  </a:lnTo>
                  <a:lnTo>
                    <a:pt x="103" y="100"/>
                  </a:lnTo>
                  <a:lnTo>
                    <a:pt x="101" y="98"/>
                  </a:lnTo>
                  <a:lnTo>
                    <a:pt x="101" y="98"/>
                  </a:lnTo>
                  <a:lnTo>
                    <a:pt x="99" y="97"/>
                  </a:lnTo>
                  <a:lnTo>
                    <a:pt x="96" y="95"/>
                  </a:lnTo>
                  <a:lnTo>
                    <a:pt x="96" y="93"/>
                  </a:lnTo>
                  <a:lnTo>
                    <a:pt x="94" y="93"/>
                  </a:lnTo>
                  <a:lnTo>
                    <a:pt x="92" y="91"/>
                  </a:lnTo>
                  <a:lnTo>
                    <a:pt x="90" y="89"/>
                  </a:lnTo>
                  <a:lnTo>
                    <a:pt x="90" y="87"/>
                  </a:lnTo>
                  <a:lnTo>
                    <a:pt x="90" y="85"/>
                  </a:lnTo>
                  <a:lnTo>
                    <a:pt x="92" y="85"/>
                  </a:lnTo>
                  <a:lnTo>
                    <a:pt x="92" y="81"/>
                  </a:lnTo>
                  <a:lnTo>
                    <a:pt x="90" y="79"/>
                  </a:lnTo>
                  <a:lnTo>
                    <a:pt x="90" y="79"/>
                  </a:lnTo>
                  <a:lnTo>
                    <a:pt x="88" y="79"/>
                  </a:lnTo>
                  <a:lnTo>
                    <a:pt x="88" y="79"/>
                  </a:lnTo>
                  <a:lnTo>
                    <a:pt x="86" y="79"/>
                  </a:lnTo>
                  <a:lnTo>
                    <a:pt x="86" y="81"/>
                  </a:lnTo>
                  <a:lnTo>
                    <a:pt x="86" y="81"/>
                  </a:lnTo>
                  <a:lnTo>
                    <a:pt x="84" y="79"/>
                  </a:lnTo>
                  <a:lnTo>
                    <a:pt x="84" y="79"/>
                  </a:lnTo>
                  <a:lnTo>
                    <a:pt x="84" y="79"/>
                  </a:lnTo>
                  <a:lnTo>
                    <a:pt x="82" y="79"/>
                  </a:lnTo>
                  <a:lnTo>
                    <a:pt x="82" y="79"/>
                  </a:lnTo>
                  <a:lnTo>
                    <a:pt x="80" y="79"/>
                  </a:lnTo>
                  <a:lnTo>
                    <a:pt x="80" y="79"/>
                  </a:lnTo>
                  <a:lnTo>
                    <a:pt x="79" y="81"/>
                  </a:lnTo>
                  <a:lnTo>
                    <a:pt x="79" y="81"/>
                  </a:lnTo>
                  <a:lnTo>
                    <a:pt x="79" y="83"/>
                  </a:lnTo>
                  <a:lnTo>
                    <a:pt x="79" y="83"/>
                  </a:lnTo>
                  <a:lnTo>
                    <a:pt x="79" y="85"/>
                  </a:lnTo>
                  <a:lnTo>
                    <a:pt x="79" y="85"/>
                  </a:lnTo>
                  <a:lnTo>
                    <a:pt x="77" y="85"/>
                  </a:lnTo>
                  <a:lnTo>
                    <a:pt x="77" y="83"/>
                  </a:lnTo>
                  <a:lnTo>
                    <a:pt x="77" y="83"/>
                  </a:lnTo>
                  <a:lnTo>
                    <a:pt x="77" y="81"/>
                  </a:lnTo>
                  <a:lnTo>
                    <a:pt x="77" y="81"/>
                  </a:lnTo>
                  <a:lnTo>
                    <a:pt x="75" y="81"/>
                  </a:lnTo>
                  <a:lnTo>
                    <a:pt x="75" y="81"/>
                  </a:lnTo>
                  <a:lnTo>
                    <a:pt x="75" y="81"/>
                  </a:lnTo>
                  <a:lnTo>
                    <a:pt x="75" y="83"/>
                  </a:lnTo>
                  <a:lnTo>
                    <a:pt x="75" y="83"/>
                  </a:lnTo>
                  <a:lnTo>
                    <a:pt x="75" y="85"/>
                  </a:lnTo>
                  <a:lnTo>
                    <a:pt x="75" y="85"/>
                  </a:lnTo>
                  <a:lnTo>
                    <a:pt x="73" y="85"/>
                  </a:lnTo>
                  <a:lnTo>
                    <a:pt x="73" y="85"/>
                  </a:lnTo>
                  <a:lnTo>
                    <a:pt x="71" y="83"/>
                  </a:lnTo>
                  <a:lnTo>
                    <a:pt x="71" y="81"/>
                  </a:lnTo>
                  <a:lnTo>
                    <a:pt x="69" y="76"/>
                  </a:lnTo>
                  <a:lnTo>
                    <a:pt x="65" y="70"/>
                  </a:lnTo>
                  <a:lnTo>
                    <a:pt x="63" y="68"/>
                  </a:lnTo>
                  <a:lnTo>
                    <a:pt x="63" y="68"/>
                  </a:lnTo>
                  <a:lnTo>
                    <a:pt x="63" y="68"/>
                  </a:lnTo>
                  <a:lnTo>
                    <a:pt x="61" y="68"/>
                  </a:lnTo>
                  <a:lnTo>
                    <a:pt x="61" y="72"/>
                  </a:lnTo>
                  <a:lnTo>
                    <a:pt x="61" y="72"/>
                  </a:lnTo>
                  <a:lnTo>
                    <a:pt x="61" y="74"/>
                  </a:lnTo>
                  <a:lnTo>
                    <a:pt x="59" y="74"/>
                  </a:lnTo>
                  <a:lnTo>
                    <a:pt x="59" y="74"/>
                  </a:lnTo>
                  <a:lnTo>
                    <a:pt x="58" y="74"/>
                  </a:lnTo>
                  <a:lnTo>
                    <a:pt x="58" y="76"/>
                  </a:lnTo>
                  <a:lnTo>
                    <a:pt x="56" y="78"/>
                  </a:lnTo>
                  <a:lnTo>
                    <a:pt x="54" y="78"/>
                  </a:lnTo>
                  <a:lnTo>
                    <a:pt x="50" y="78"/>
                  </a:lnTo>
                  <a:lnTo>
                    <a:pt x="48" y="79"/>
                  </a:lnTo>
                  <a:lnTo>
                    <a:pt x="48" y="79"/>
                  </a:lnTo>
                  <a:lnTo>
                    <a:pt x="46" y="79"/>
                  </a:lnTo>
                  <a:lnTo>
                    <a:pt x="44" y="78"/>
                  </a:lnTo>
                  <a:lnTo>
                    <a:pt x="44" y="78"/>
                  </a:lnTo>
                  <a:lnTo>
                    <a:pt x="42" y="79"/>
                  </a:lnTo>
                  <a:lnTo>
                    <a:pt x="40" y="81"/>
                  </a:lnTo>
                  <a:lnTo>
                    <a:pt x="39" y="81"/>
                  </a:lnTo>
                  <a:lnTo>
                    <a:pt x="33" y="81"/>
                  </a:lnTo>
                  <a:lnTo>
                    <a:pt x="27" y="81"/>
                  </a:lnTo>
                  <a:lnTo>
                    <a:pt x="19" y="79"/>
                  </a:lnTo>
                  <a:lnTo>
                    <a:pt x="18" y="79"/>
                  </a:lnTo>
                  <a:lnTo>
                    <a:pt x="10" y="79"/>
                  </a:lnTo>
                  <a:lnTo>
                    <a:pt x="8" y="81"/>
                  </a:lnTo>
                  <a:lnTo>
                    <a:pt x="6" y="81"/>
                  </a:lnTo>
                  <a:lnTo>
                    <a:pt x="6" y="83"/>
                  </a:lnTo>
                  <a:lnTo>
                    <a:pt x="6" y="83"/>
                  </a:lnTo>
                  <a:lnTo>
                    <a:pt x="6" y="83"/>
                  </a:lnTo>
                  <a:lnTo>
                    <a:pt x="6" y="85"/>
                  </a:lnTo>
                  <a:lnTo>
                    <a:pt x="6" y="85"/>
                  </a:lnTo>
                  <a:lnTo>
                    <a:pt x="6" y="85"/>
                  </a:lnTo>
                  <a:lnTo>
                    <a:pt x="6" y="87"/>
                  </a:lnTo>
                  <a:lnTo>
                    <a:pt x="6" y="89"/>
                  </a:lnTo>
                  <a:lnTo>
                    <a:pt x="8" y="91"/>
                  </a:lnTo>
                  <a:lnTo>
                    <a:pt x="8" y="91"/>
                  </a:lnTo>
                  <a:lnTo>
                    <a:pt x="10" y="93"/>
                  </a:lnTo>
                  <a:lnTo>
                    <a:pt x="10" y="95"/>
                  </a:lnTo>
                  <a:lnTo>
                    <a:pt x="10" y="95"/>
                  </a:lnTo>
                  <a:lnTo>
                    <a:pt x="10" y="97"/>
                  </a:lnTo>
                  <a:lnTo>
                    <a:pt x="10" y="97"/>
                  </a:lnTo>
                  <a:lnTo>
                    <a:pt x="10" y="98"/>
                  </a:lnTo>
                  <a:lnTo>
                    <a:pt x="8" y="100"/>
                  </a:lnTo>
                  <a:lnTo>
                    <a:pt x="8" y="102"/>
                  </a:lnTo>
                  <a:lnTo>
                    <a:pt x="8" y="102"/>
                  </a:lnTo>
                  <a:lnTo>
                    <a:pt x="8" y="104"/>
                  </a:lnTo>
                  <a:lnTo>
                    <a:pt x="8" y="104"/>
                  </a:lnTo>
                  <a:lnTo>
                    <a:pt x="6" y="106"/>
                  </a:lnTo>
                  <a:lnTo>
                    <a:pt x="6" y="106"/>
                  </a:lnTo>
                  <a:lnTo>
                    <a:pt x="4" y="110"/>
                  </a:lnTo>
                  <a:lnTo>
                    <a:pt x="2" y="112"/>
                  </a:lnTo>
                  <a:lnTo>
                    <a:pt x="2" y="114"/>
                  </a:lnTo>
                  <a:lnTo>
                    <a:pt x="0" y="119"/>
                  </a:lnTo>
                  <a:lnTo>
                    <a:pt x="4" y="119"/>
                  </a:lnTo>
                  <a:lnTo>
                    <a:pt x="10" y="121"/>
                  </a:lnTo>
                  <a:lnTo>
                    <a:pt x="10" y="121"/>
                  </a:lnTo>
                  <a:lnTo>
                    <a:pt x="12" y="121"/>
                  </a:lnTo>
                  <a:lnTo>
                    <a:pt x="12" y="123"/>
                  </a:lnTo>
                  <a:lnTo>
                    <a:pt x="16" y="125"/>
                  </a:lnTo>
                  <a:lnTo>
                    <a:pt x="16" y="125"/>
                  </a:lnTo>
                  <a:lnTo>
                    <a:pt x="18" y="127"/>
                  </a:lnTo>
                  <a:lnTo>
                    <a:pt x="18" y="127"/>
                  </a:lnTo>
                  <a:lnTo>
                    <a:pt x="18" y="131"/>
                  </a:lnTo>
                  <a:lnTo>
                    <a:pt x="18" y="133"/>
                  </a:lnTo>
                  <a:lnTo>
                    <a:pt x="18" y="135"/>
                  </a:lnTo>
                  <a:lnTo>
                    <a:pt x="18" y="137"/>
                  </a:lnTo>
                  <a:lnTo>
                    <a:pt x="19" y="137"/>
                  </a:lnTo>
                  <a:lnTo>
                    <a:pt x="19" y="140"/>
                  </a:lnTo>
                  <a:lnTo>
                    <a:pt x="33" y="152"/>
                  </a:lnTo>
                  <a:lnTo>
                    <a:pt x="35" y="154"/>
                  </a:lnTo>
                  <a:lnTo>
                    <a:pt x="37" y="157"/>
                  </a:lnTo>
                  <a:lnTo>
                    <a:pt x="37" y="157"/>
                  </a:lnTo>
                  <a:lnTo>
                    <a:pt x="37" y="159"/>
                  </a:lnTo>
                  <a:lnTo>
                    <a:pt x="37" y="159"/>
                  </a:lnTo>
                  <a:lnTo>
                    <a:pt x="35" y="163"/>
                  </a:lnTo>
                  <a:lnTo>
                    <a:pt x="35" y="163"/>
                  </a:lnTo>
                  <a:lnTo>
                    <a:pt x="35" y="165"/>
                  </a:lnTo>
                  <a:lnTo>
                    <a:pt x="35" y="165"/>
                  </a:lnTo>
                  <a:lnTo>
                    <a:pt x="37" y="167"/>
                  </a:lnTo>
                  <a:lnTo>
                    <a:pt x="37" y="171"/>
                  </a:lnTo>
                  <a:lnTo>
                    <a:pt x="39" y="173"/>
                  </a:lnTo>
                  <a:lnTo>
                    <a:pt x="39" y="173"/>
                  </a:lnTo>
                  <a:lnTo>
                    <a:pt x="40" y="175"/>
                  </a:lnTo>
                  <a:lnTo>
                    <a:pt x="40" y="175"/>
                  </a:lnTo>
                  <a:lnTo>
                    <a:pt x="42" y="175"/>
                  </a:lnTo>
                  <a:lnTo>
                    <a:pt x="42" y="175"/>
                  </a:lnTo>
                  <a:lnTo>
                    <a:pt x="44" y="175"/>
                  </a:lnTo>
                  <a:lnTo>
                    <a:pt x="44" y="175"/>
                  </a:lnTo>
                  <a:lnTo>
                    <a:pt x="46" y="175"/>
                  </a:lnTo>
                  <a:lnTo>
                    <a:pt x="46" y="175"/>
                  </a:lnTo>
                  <a:lnTo>
                    <a:pt x="52" y="176"/>
                  </a:lnTo>
                  <a:lnTo>
                    <a:pt x="54" y="176"/>
                  </a:lnTo>
                  <a:lnTo>
                    <a:pt x="54" y="176"/>
                  </a:lnTo>
                  <a:lnTo>
                    <a:pt x="54" y="176"/>
                  </a:lnTo>
                  <a:lnTo>
                    <a:pt x="54" y="176"/>
                  </a:lnTo>
                  <a:lnTo>
                    <a:pt x="54" y="176"/>
                  </a:lnTo>
                  <a:lnTo>
                    <a:pt x="54" y="173"/>
                  </a:lnTo>
                  <a:lnTo>
                    <a:pt x="54" y="173"/>
                  </a:lnTo>
                  <a:lnTo>
                    <a:pt x="54" y="171"/>
                  </a:lnTo>
                  <a:lnTo>
                    <a:pt x="54" y="171"/>
                  </a:lnTo>
                  <a:lnTo>
                    <a:pt x="54" y="171"/>
                  </a:lnTo>
                  <a:lnTo>
                    <a:pt x="54" y="171"/>
                  </a:lnTo>
                  <a:lnTo>
                    <a:pt x="56" y="171"/>
                  </a:lnTo>
                  <a:lnTo>
                    <a:pt x="56" y="171"/>
                  </a:lnTo>
                  <a:lnTo>
                    <a:pt x="56" y="169"/>
                  </a:lnTo>
                  <a:lnTo>
                    <a:pt x="58" y="169"/>
                  </a:lnTo>
                  <a:lnTo>
                    <a:pt x="58" y="169"/>
                  </a:lnTo>
                  <a:lnTo>
                    <a:pt x="59" y="169"/>
                  </a:lnTo>
                  <a:lnTo>
                    <a:pt x="59" y="169"/>
                  </a:lnTo>
                  <a:lnTo>
                    <a:pt x="59" y="171"/>
                  </a:lnTo>
                  <a:lnTo>
                    <a:pt x="61" y="171"/>
                  </a:lnTo>
                  <a:lnTo>
                    <a:pt x="61" y="173"/>
                  </a:lnTo>
                  <a:lnTo>
                    <a:pt x="61" y="173"/>
                  </a:lnTo>
                  <a:lnTo>
                    <a:pt x="63" y="176"/>
                  </a:lnTo>
                  <a:lnTo>
                    <a:pt x="63" y="176"/>
                  </a:lnTo>
                  <a:lnTo>
                    <a:pt x="63" y="178"/>
                  </a:lnTo>
                  <a:lnTo>
                    <a:pt x="61" y="178"/>
                  </a:lnTo>
                  <a:lnTo>
                    <a:pt x="61" y="180"/>
                  </a:lnTo>
                  <a:lnTo>
                    <a:pt x="61" y="180"/>
                  </a:lnTo>
                  <a:lnTo>
                    <a:pt x="58" y="184"/>
                  </a:lnTo>
                  <a:lnTo>
                    <a:pt x="58" y="184"/>
                  </a:lnTo>
                  <a:lnTo>
                    <a:pt x="58" y="186"/>
                  </a:lnTo>
                  <a:lnTo>
                    <a:pt x="56" y="186"/>
                  </a:lnTo>
                  <a:lnTo>
                    <a:pt x="58" y="188"/>
                  </a:lnTo>
                  <a:lnTo>
                    <a:pt x="58" y="188"/>
                  </a:lnTo>
                  <a:lnTo>
                    <a:pt x="58" y="190"/>
                  </a:lnTo>
                  <a:lnTo>
                    <a:pt x="58" y="190"/>
                  </a:lnTo>
                  <a:lnTo>
                    <a:pt x="56" y="194"/>
                  </a:lnTo>
                  <a:lnTo>
                    <a:pt x="56" y="194"/>
                  </a:lnTo>
                  <a:lnTo>
                    <a:pt x="56" y="195"/>
                  </a:lnTo>
                  <a:lnTo>
                    <a:pt x="56" y="195"/>
                  </a:lnTo>
                  <a:lnTo>
                    <a:pt x="56" y="197"/>
                  </a:lnTo>
                  <a:lnTo>
                    <a:pt x="58" y="197"/>
                  </a:lnTo>
                  <a:lnTo>
                    <a:pt x="58" y="197"/>
                  </a:lnTo>
                  <a:lnTo>
                    <a:pt x="58" y="197"/>
                  </a:lnTo>
                  <a:lnTo>
                    <a:pt x="59" y="195"/>
                  </a:lnTo>
                  <a:lnTo>
                    <a:pt x="61" y="194"/>
                  </a:lnTo>
                  <a:lnTo>
                    <a:pt x="61" y="194"/>
                  </a:lnTo>
                  <a:lnTo>
                    <a:pt x="63" y="195"/>
                  </a:lnTo>
                  <a:lnTo>
                    <a:pt x="63" y="195"/>
                  </a:lnTo>
                  <a:lnTo>
                    <a:pt x="63" y="197"/>
                  </a:lnTo>
                  <a:lnTo>
                    <a:pt x="65" y="203"/>
                  </a:lnTo>
                  <a:lnTo>
                    <a:pt x="63" y="211"/>
                  </a:lnTo>
                  <a:lnTo>
                    <a:pt x="63" y="214"/>
                  </a:lnTo>
                  <a:lnTo>
                    <a:pt x="63" y="218"/>
                  </a:lnTo>
                  <a:lnTo>
                    <a:pt x="65" y="220"/>
                  </a:lnTo>
                  <a:lnTo>
                    <a:pt x="69" y="224"/>
                  </a:lnTo>
                  <a:lnTo>
                    <a:pt x="69" y="224"/>
                  </a:lnTo>
                  <a:lnTo>
                    <a:pt x="69" y="226"/>
                  </a:lnTo>
                  <a:lnTo>
                    <a:pt x="71" y="228"/>
                  </a:lnTo>
                  <a:lnTo>
                    <a:pt x="71" y="230"/>
                  </a:lnTo>
                  <a:lnTo>
                    <a:pt x="71" y="232"/>
                  </a:lnTo>
                  <a:lnTo>
                    <a:pt x="71" y="233"/>
                  </a:lnTo>
                  <a:lnTo>
                    <a:pt x="71" y="233"/>
                  </a:lnTo>
                  <a:lnTo>
                    <a:pt x="73" y="233"/>
                  </a:lnTo>
                  <a:lnTo>
                    <a:pt x="73" y="233"/>
                  </a:lnTo>
                  <a:lnTo>
                    <a:pt x="73" y="233"/>
                  </a:lnTo>
                  <a:lnTo>
                    <a:pt x="75" y="233"/>
                  </a:lnTo>
                  <a:lnTo>
                    <a:pt x="75" y="233"/>
                  </a:lnTo>
                  <a:lnTo>
                    <a:pt x="75" y="233"/>
                  </a:lnTo>
                  <a:lnTo>
                    <a:pt x="75" y="233"/>
                  </a:lnTo>
                  <a:lnTo>
                    <a:pt x="75" y="233"/>
                  </a:lnTo>
                  <a:lnTo>
                    <a:pt x="75" y="232"/>
                  </a:lnTo>
                  <a:lnTo>
                    <a:pt x="75" y="232"/>
                  </a:lnTo>
                  <a:lnTo>
                    <a:pt x="75" y="232"/>
                  </a:lnTo>
                  <a:lnTo>
                    <a:pt x="77" y="232"/>
                  </a:lnTo>
                  <a:lnTo>
                    <a:pt x="79" y="233"/>
                  </a:lnTo>
                  <a:lnTo>
                    <a:pt x="80" y="233"/>
                  </a:lnTo>
                  <a:lnTo>
                    <a:pt x="80" y="233"/>
                  </a:lnTo>
                  <a:lnTo>
                    <a:pt x="82" y="233"/>
                  </a:lnTo>
                  <a:lnTo>
                    <a:pt x="82" y="233"/>
                  </a:lnTo>
                  <a:lnTo>
                    <a:pt x="84" y="233"/>
                  </a:lnTo>
                  <a:lnTo>
                    <a:pt x="84" y="233"/>
                  </a:lnTo>
                  <a:lnTo>
                    <a:pt x="84" y="233"/>
                  </a:lnTo>
                  <a:lnTo>
                    <a:pt x="86" y="233"/>
                  </a:lnTo>
                  <a:lnTo>
                    <a:pt x="86" y="233"/>
                  </a:lnTo>
                  <a:lnTo>
                    <a:pt x="88" y="233"/>
                  </a:lnTo>
                  <a:lnTo>
                    <a:pt x="88" y="233"/>
                  </a:lnTo>
                  <a:lnTo>
                    <a:pt x="90" y="235"/>
                  </a:lnTo>
                  <a:lnTo>
                    <a:pt x="92" y="235"/>
                  </a:lnTo>
                  <a:lnTo>
                    <a:pt x="92" y="235"/>
                  </a:lnTo>
                  <a:lnTo>
                    <a:pt x="92" y="239"/>
                  </a:lnTo>
                  <a:lnTo>
                    <a:pt x="92" y="239"/>
                  </a:lnTo>
                  <a:lnTo>
                    <a:pt x="94" y="241"/>
                  </a:lnTo>
                  <a:lnTo>
                    <a:pt x="94" y="243"/>
                  </a:lnTo>
                  <a:lnTo>
                    <a:pt x="94" y="243"/>
                  </a:lnTo>
                  <a:lnTo>
                    <a:pt x="94" y="245"/>
                  </a:lnTo>
                  <a:lnTo>
                    <a:pt x="94" y="247"/>
                  </a:lnTo>
                  <a:lnTo>
                    <a:pt x="92" y="247"/>
                  </a:lnTo>
                  <a:lnTo>
                    <a:pt x="92" y="249"/>
                  </a:lnTo>
                  <a:lnTo>
                    <a:pt x="88" y="251"/>
                  </a:lnTo>
                  <a:lnTo>
                    <a:pt x="86" y="253"/>
                  </a:lnTo>
                  <a:lnTo>
                    <a:pt x="86" y="253"/>
                  </a:lnTo>
                  <a:lnTo>
                    <a:pt x="84" y="253"/>
                  </a:lnTo>
                  <a:lnTo>
                    <a:pt x="84" y="254"/>
                  </a:lnTo>
                  <a:lnTo>
                    <a:pt x="82" y="254"/>
                  </a:lnTo>
                  <a:lnTo>
                    <a:pt x="82" y="254"/>
                  </a:lnTo>
                  <a:lnTo>
                    <a:pt x="82" y="256"/>
                  </a:lnTo>
                  <a:lnTo>
                    <a:pt x="80" y="256"/>
                  </a:lnTo>
                  <a:lnTo>
                    <a:pt x="80" y="262"/>
                  </a:lnTo>
                  <a:lnTo>
                    <a:pt x="79" y="262"/>
                  </a:lnTo>
                  <a:lnTo>
                    <a:pt x="79" y="264"/>
                  </a:lnTo>
                  <a:lnTo>
                    <a:pt x="75" y="266"/>
                  </a:lnTo>
                  <a:lnTo>
                    <a:pt x="73" y="268"/>
                  </a:lnTo>
                  <a:lnTo>
                    <a:pt x="71" y="270"/>
                  </a:lnTo>
                  <a:lnTo>
                    <a:pt x="71" y="270"/>
                  </a:lnTo>
                  <a:lnTo>
                    <a:pt x="69" y="270"/>
                  </a:lnTo>
                  <a:lnTo>
                    <a:pt x="67" y="270"/>
                  </a:lnTo>
                  <a:lnTo>
                    <a:pt x="67" y="270"/>
                  </a:lnTo>
                  <a:lnTo>
                    <a:pt x="65" y="270"/>
                  </a:lnTo>
                  <a:lnTo>
                    <a:pt x="63" y="272"/>
                  </a:lnTo>
                  <a:lnTo>
                    <a:pt x="63" y="273"/>
                  </a:lnTo>
                  <a:lnTo>
                    <a:pt x="63" y="273"/>
                  </a:lnTo>
                  <a:lnTo>
                    <a:pt x="61" y="273"/>
                  </a:lnTo>
                  <a:lnTo>
                    <a:pt x="59" y="273"/>
                  </a:lnTo>
                  <a:lnTo>
                    <a:pt x="59" y="275"/>
                  </a:lnTo>
                  <a:lnTo>
                    <a:pt x="59" y="275"/>
                  </a:lnTo>
                  <a:lnTo>
                    <a:pt x="59" y="275"/>
                  </a:lnTo>
                  <a:lnTo>
                    <a:pt x="59" y="277"/>
                  </a:lnTo>
                  <a:lnTo>
                    <a:pt x="58" y="279"/>
                  </a:lnTo>
                  <a:lnTo>
                    <a:pt x="61" y="281"/>
                  </a:lnTo>
                  <a:lnTo>
                    <a:pt x="65" y="281"/>
                  </a:lnTo>
                  <a:lnTo>
                    <a:pt x="67" y="283"/>
                  </a:lnTo>
                  <a:lnTo>
                    <a:pt x="73" y="291"/>
                  </a:lnTo>
                  <a:lnTo>
                    <a:pt x="73" y="292"/>
                  </a:lnTo>
                  <a:lnTo>
                    <a:pt x="75" y="292"/>
                  </a:lnTo>
                  <a:lnTo>
                    <a:pt x="75" y="294"/>
                  </a:lnTo>
                  <a:lnTo>
                    <a:pt x="79" y="296"/>
                  </a:lnTo>
                  <a:lnTo>
                    <a:pt x="79" y="298"/>
                  </a:lnTo>
                  <a:lnTo>
                    <a:pt x="79" y="298"/>
                  </a:lnTo>
                  <a:lnTo>
                    <a:pt x="80" y="298"/>
                  </a:lnTo>
                  <a:lnTo>
                    <a:pt x="82" y="298"/>
                  </a:lnTo>
                  <a:lnTo>
                    <a:pt x="88" y="300"/>
                  </a:lnTo>
                  <a:lnTo>
                    <a:pt x="90" y="300"/>
                  </a:lnTo>
                  <a:lnTo>
                    <a:pt x="99" y="300"/>
                  </a:lnTo>
                  <a:lnTo>
                    <a:pt x="99" y="300"/>
                  </a:lnTo>
                  <a:lnTo>
                    <a:pt x="105" y="296"/>
                  </a:lnTo>
                  <a:lnTo>
                    <a:pt x="107" y="296"/>
                  </a:lnTo>
                  <a:lnTo>
                    <a:pt x="107" y="296"/>
                  </a:lnTo>
                  <a:lnTo>
                    <a:pt x="107" y="296"/>
                  </a:lnTo>
                  <a:lnTo>
                    <a:pt x="107" y="294"/>
                  </a:lnTo>
                  <a:lnTo>
                    <a:pt x="107" y="294"/>
                  </a:lnTo>
                  <a:lnTo>
                    <a:pt x="107" y="292"/>
                  </a:lnTo>
                  <a:lnTo>
                    <a:pt x="107" y="292"/>
                  </a:lnTo>
                  <a:lnTo>
                    <a:pt x="107" y="292"/>
                  </a:lnTo>
                  <a:lnTo>
                    <a:pt x="109" y="291"/>
                  </a:lnTo>
                  <a:lnTo>
                    <a:pt x="111" y="291"/>
                  </a:lnTo>
                  <a:lnTo>
                    <a:pt x="128" y="291"/>
                  </a:lnTo>
                  <a:lnTo>
                    <a:pt x="130" y="291"/>
                  </a:lnTo>
                  <a:lnTo>
                    <a:pt x="132" y="291"/>
                  </a:lnTo>
                  <a:lnTo>
                    <a:pt x="132" y="289"/>
                  </a:lnTo>
                  <a:lnTo>
                    <a:pt x="132" y="289"/>
                  </a:lnTo>
                  <a:lnTo>
                    <a:pt x="134" y="289"/>
                  </a:lnTo>
                  <a:lnTo>
                    <a:pt x="136" y="289"/>
                  </a:lnTo>
                  <a:lnTo>
                    <a:pt x="136" y="289"/>
                  </a:lnTo>
                  <a:lnTo>
                    <a:pt x="141" y="291"/>
                  </a:lnTo>
                  <a:lnTo>
                    <a:pt x="145" y="291"/>
                  </a:lnTo>
                  <a:lnTo>
                    <a:pt x="145" y="291"/>
                  </a:lnTo>
                  <a:lnTo>
                    <a:pt x="147" y="291"/>
                  </a:lnTo>
                  <a:lnTo>
                    <a:pt x="147" y="289"/>
                  </a:lnTo>
                  <a:lnTo>
                    <a:pt x="149" y="289"/>
                  </a:lnTo>
                  <a:lnTo>
                    <a:pt x="149" y="289"/>
                  </a:lnTo>
                  <a:lnTo>
                    <a:pt x="153" y="289"/>
                  </a:lnTo>
                  <a:lnTo>
                    <a:pt x="153" y="289"/>
                  </a:lnTo>
                  <a:lnTo>
                    <a:pt x="157" y="285"/>
                  </a:lnTo>
                  <a:lnTo>
                    <a:pt x="159" y="283"/>
                  </a:lnTo>
                  <a:lnTo>
                    <a:pt x="162" y="289"/>
                  </a:lnTo>
                  <a:lnTo>
                    <a:pt x="162" y="294"/>
                  </a:lnTo>
                  <a:lnTo>
                    <a:pt x="162" y="298"/>
                  </a:lnTo>
                  <a:lnTo>
                    <a:pt x="162" y="300"/>
                  </a:lnTo>
                  <a:lnTo>
                    <a:pt x="162" y="302"/>
                  </a:lnTo>
                  <a:lnTo>
                    <a:pt x="162" y="304"/>
                  </a:lnTo>
                  <a:lnTo>
                    <a:pt x="162" y="306"/>
                  </a:lnTo>
                  <a:lnTo>
                    <a:pt x="157" y="311"/>
                  </a:lnTo>
                  <a:lnTo>
                    <a:pt x="155" y="317"/>
                  </a:lnTo>
                  <a:lnTo>
                    <a:pt x="153" y="319"/>
                  </a:lnTo>
                  <a:lnTo>
                    <a:pt x="153" y="321"/>
                  </a:lnTo>
                  <a:lnTo>
                    <a:pt x="153" y="321"/>
                  </a:lnTo>
                  <a:lnTo>
                    <a:pt x="153" y="323"/>
                  </a:lnTo>
                  <a:lnTo>
                    <a:pt x="153" y="323"/>
                  </a:lnTo>
                  <a:lnTo>
                    <a:pt x="153" y="323"/>
                  </a:lnTo>
                  <a:lnTo>
                    <a:pt x="157" y="321"/>
                  </a:lnTo>
                  <a:lnTo>
                    <a:pt x="159" y="321"/>
                  </a:lnTo>
                  <a:lnTo>
                    <a:pt x="159" y="321"/>
                  </a:lnTo>
                  <a:lnTo>
                    <a:pt x="160" y="321"/>
                  </a:lnTo>
                  <a:lnTo>
                    <a:pt x="162" y="321"/>
                  </a:lnTo>
                  <a:lnTo>
                    <a:pt x="164" y="323"/>
                  </a:lnTo>
                  <a:lnTo>
                    <a:pt x="170" y="327"/>
                  </a:lnTo>
                  <a:lnTo>
                    <a:pt x="172" y="329"/>
                  </a:lnTo>
                  <a:lnTo>
                    <a:pt x="174" y="330"/>
                  </a:lnTo>
                  <a:lnTo>
                    <a:pt x="174" y="330"/>
                  </a:lnTo>
                  <a:lnTo>
                    <a:pt x="174" y="330"/>
                  </a:lnTo>
                  <a:lnTo>
                    <a:pt x="176" y="330"/>
                  </a:lnTo>
                  <a:lnTo>
                    <a:pt x="180" y="325"/>
                  </a:lnTo>
                  <a:lnTo>
                    <a:pt x="183" y="321"/>
                  </a:lnTo>
                  <a:lnTo>
                    <a:pt x="185" y="319"/>
                  </a:lnTo>
                  <a:lnTo>
                    <a:pt x="189" y="319"/>
                  </a:lnTo>
                  <a:lnTo>
                    <a:pt x="191" y="317"/>
                  </a:lnTo>
                  <a:lnTo>
                    <a:pt x="191" y="317"/>
                  </a:lnTo>
                  <a:lnTo>
                    <a:pt x="193" y="317"/>
                  </a:lnTo>
                  <a:lnTo>
                    <a:pt x="193" y="317"/>
                  </a:lnTo>
                  <a:lnTo>
                    <a:pt x="195" y="317"/>
                  </a:lnTo>
                  <a:lnTo>
                    <a:pt x="197" y="317"/>
                  </a:lnTo>
                  <a:lnTo>
                    <a:pt x="204" y="323"/>
                  </a:lnTo>
                  <a:lnTo>
                    <a:pt x="210" y="325"/>
                  </a:lnTo>
                  <a:lnTo>
                    <a:pt x="214" y="325"/>
                  </a:lnTo>
                  <a:lnTo>
                    <a:pt x="216" y="325"/>
                  </a:lnTo>
                  <a:lnTo>
                    <a:pt x="218" y="325"/>
                  </a:lnTo>
                  <a:lnTo>
                    <a:pt x="220" y="325"/>
                  </a:lnTo>
                  <a:lnTo>
                    <a:pt x="220" y="325"/>
                  </a:lnTo>
                  <a:lnTo>
                    <a:pt x="221" y="323"/>
                  </a:lnTo>
                  <a:lnTo>
                    <a:pt x="221" y="323"/>
                  </a:lnTo>
                  <a:lnTo>
                    <a:pt x="223" y="323"/>
                  </a:lnTo>
                  <a:lnTo>
                    <a:pt x="223" y="321"/>
                  </a:lnTo>
                  <a:lnTo>
                    <a:pt x="225" y="321"/>
                  </a:lnTo>
                  <a:lnTo>
                    <a:pt x="227" y="321"/>
                  </a:lnTo>
                  <a:lnTo>
                    <a:pt x="227" y="321"/>
                  </a:lnTo>
                  <a:lnTo>
                    <a:pt x="227" y="321"/>
                  </a:lnTo>
                  <a:lnTo>
                    <a:pt x="227" y="323"/>
                  </a:lnTo>
                  <a:lnTo>
                    <a:pt x="227" y="323"/>
                  </a:lnTo>
                  <a:lnTo>
                    <a:pt x="225" y="325"/>
                  </a:lnTo>
                  <a:lnTo>
                    <a:pt x="225" y="327"/>
                  </a:lnTo>
                  <a:lnTo>
                    <a:pt x="225" y="327"/>
                  </a:lnTo>
                  <a:lnTo>
                    <a:pt x="225" y="329"/>
                  </a:lnTo>
                  <a:lnTo>
                    <a:pt x="225" y="329"/>
                  </a:lnTo>
                  <a:lnTo>
                    <a:pt x="225" y="330"/>
                  </a:lnTo>
                  <a:lnTo>
                    <a:pt x="225" y="332"/>
                  </a:lnTo>
                  <a:lnTo>
                    <a:pt x="231" y="334"/>
                  </a:lnTo>
                  <a:lnTo>
                    <a:pt x="235" y="334"/>
                  </a:lnTo>
                  <a:lnTo>
                    <a:pt x="237" y="332"/>
                  </a:lnTo>
                  <a:lnTo>
                    <a:pt x="239" y="330"/>
                  </a:lnTo>
                  <a:lnTo>
                    <a:pt x="242" y="325"/>
                  </a:lnTo>
                  <a:lnTo>
                    <a:pt x="242" y="323"/>
                  </a:lnTo>
                  <a:lnTo>
                    <a:pt x="244" y="323"/>
                  </a:lnTo>
                  <a:lnTo>
                    <a:pt x="244" y="323"/>
                  </a:lnTo>
                  <a:lnTo>
                    <a:pt x="242" y="321"/>
                  </a:lnTo>
                  <a:lnTo>
                    <a:pt x="242" y="319"/>
                  </a:lnTo>
                  <a:lnTo>
                    <a:pt x="244" y="319"/>
                  </a:lnTo>
                  <a:lnTo>
                    <a:pt x="244" y="315"/>
                  </a:lnTo>
                  <a:lnTo>
                    <a:pt x="244" y="315"/>
                  </a:lnTo>
                  <a:lnTo>
                    <a:pt x="244" y="313"/>
                  </a:lnTo>
                  <a:lnTo>
                    <a:pt x="242" y="310"/>
                  </a:lnTo>
                  <a:lnTo>
                    <a:pt x="242" y="310"/>
                  </a:lnTo>
                  <a:lnTo>
                    <a:pt x="242" y="308"/>
                  </a:lnTo>
                  <a:lnTo>
                    <a:pt x="242" y="306"/>
                  </a:lnTo>
                  <a:lnTo>
                    <a:pt x="244" y="304"/>
                  </a:lnTo>
                  <a:lnTo>
                    <a:pt x="244" y="302"/>
                  </a:lnTo>
                  <a:lnTo>
                    <a:pt x="244" y="300"/>
                  </a:lnTo>
                  <a:lnTo>
                    <a:pt x="244" y="294"/>
                  </a:lnTo>
                  <a:lnTo>
                    <a:pt x="244" y="292"/>
                  </a:lnTo>
                  <a:lnTo>
                    <a:pt x="244" y="291"/>
                  </a:lnTo>
                  <a:lnTo>
                    <a:pt x="240" y="289"/>
                  </a:lnTo>
                  <a:lnTo>
                    <a:pt x="240" y="287"/>
                  </a:lnTo>
                  <a:lnTo>
                    <a:pt x="240" y="285"/>
                  </a:lnTo>
                  <a:lnTo>
                    <a:pt x="240" y="283"/>
                  </a:lnTo>
                  <a:lnTo>
                    <a:pt x="240" y="283"/>
                  </a:lnTo>
                  <a:lnTo>
                    <a:pt x="240" y="283"/>
                  </a:lnTo>
                  <a:lnTo>
                    <a:pt x="240" y="283"/>
                  </a:lnTo>
                  <a:lnTo>
                    <a:pt x="240" y="283"/>
                  </a:lnTo>
                  <a:lnTo>
                    <a:pt x="242" y="283"/>
                  </a:lnTo>
                  <a:lnTo>
                    <a:pt x="242" y="281"/>
                  </a:lnTo>
                  <a:lnTo>
                    <a:pt x="244" y="281"/>
                  </a:lnTo>
                  <a:lnTo>
                    <a:pt x="244" y="281"/>
                  </a:lnTo>
                  <a:lnTo>
                    <a:pt x="246" y="281"/>
                  </a:lnTo>
                  <a:lnTo>
                    <a:pt x="246" y="281"/>
                  </a:lnTo>
                  <a:lnTo>
                    <a:pt x="248" y="279"/>
                  </a:lnTo>
                  <a:lnTo>
                    <a:pt x="248" y="277"/>
                  </a:lnTo>
                  <a:lnTo>
                    <a:pt x="250" y="277"/>
                  </a:lnTo>
                  <a:lnTo>
                    <a:pt x="250" y="277"/>
                  </a:lnTo>
                  <a:lnTo>
                    <a:pt x="252" y="277"/>
                  </a:lnTo>
                  <a:lnTo>
                    <a:pt x="252" y="279"/>
                  </a:lnTo>
                  <a:lnTo>
                    <a:pt x="256" y="283"/>
                  </a:lnTo>
                  <a:lnTo>
                    <a:pt x="271" y="291"/>
                  </a:lnTo>
                  <a:lnTo>
                    <a:pt x="273" y="292"/>
                  </a:lnTo>
                  <a:lnTo>
                    <a:pt x="275" y="294"/>
                  </a:lnTo>
                  <a:lnTo>
                    <a:pt x="275" y="296"/>
                  </a:lnTo>
                  <a:lnTo>
                    <a:pt x="277" y="298"/>
                  </a:lnTo>
                  <a:lnTo>
                    <a:pt x="279" y="298"/>
                  </a:lnTo>
                  <a:lnTo>
                    <a:pt x="281" y="300"/>
                  </a:lnTo>
                  <a:lnTo>
                    <a:pt x="281" y="300"/>
                  </a:lnTo>
                  <a:lnTo>
                    <a:pt x="282" y="302"/>
                  </a:lnTo>
                  <a:lnTo>
                    <a:pt x="284" y="302"/>
                  </a:lnTo>
                  <a:lnTo>
                    <a:pt x="286" y="300"/>
                  </a:lnTo>
                  <a:lnTo>
                    <a:pt x="290" y="300"/>
                  </a:lnTo>
                  <a:lnTo>
                    <a:pt x="290" y="300"/>
                  </a:lnTo>
                  <a:lnTo>
                    <a:pt x="292" y="300"/>
                  </a:lnTo>
                  <a:lnTo>
                    <a:pt x="292" y="300"/>
                  </a:lnTo>
                  <a:lnTo>
                    <a:pt x="301" y="306"/>
                  </a:lnTo>
                  <a:lnTo>
                    <a:pt x="305" y="310"/>
                  </a:lnTo>
                  <a:lnTo>
                    <a:pt x="309" y="311"/>
                  </a:lnTo>
                  <a:lnTo>
                    <a:pt x="309" y="311"/>
                  </a:lnTo>
                  <a:lnTo>
                    <a:pt x="311" y="310"/>
                  </a:lnTo>
                  <a:lnTo>
                    <a:pt x="313" y="310"/>
                  </a:lnTo>
                  <a:lnTo>
                    <a:pt x="313" y="308"/>
                  </a:lnTo>
                  <a:lnTo>
                    <a:pt x="313" y="308"/>
                  </a:lnTo>
                  <a:lnTo>
                    <a:pt x="315" y="310"/>
                  </a:lnTo>
                  <a:lnTo>
                    <a:pt x="317" y="310"/>
                  </a:lnTo>
                  <a:lnTo>
                    <a:pt x="317" y="308"/>
                  </a:lnTo>
                  <a:lnTo>
                    <a:pt x="317" y="308"/>
                  </a:lnTo>
                  <a:lnTo>
                    <a:pt x="317" y="306"/>
                  </a:lnTo>
                  <a:lnTo>
                    <a:pt x="317" y="306"/>
                  </a:lnTo>
                  <a:lnTo>
                    <a:pt x="319" y="304"/>
                  </a:lnTo>
                  <a:lnTo>
                    <a:pt x="319" y="304"/>
                  </a:lnTo>
                  <a:lnTo>
                    <a:pt x="322" y="304"/>
                  </a:lnTo>
                  <a:lnTo>
                    <a:pt x="324" y="304"/>
                  </a:lnTo>
                  <a:lnTo>
                    <a:pt x="324" y="304"/>
                  </a:lnTo>
                  <a:lnTo>
                    <a:pt x="324" y="302"/>
                  </a:lnTo>
                  <a:lnTo>
                    <a:pt x="322" y="300"/>
                  </a:lnTo>
                  <a:lnTo>
                    <a:pt x="321" y="300"/>
                  </a:lnTo>
                  <a:lnTo>
                    <a:pt x="321" y="298"/>
                  </a:lnTo>
                  <a:lnTo>
                    <a:pt x="319" y="296"/>
                  </a:lnTo>
                  <a:lnTo>
                    <a:pt x="319" y="294"/>
                  </a:lnTo>
                  <a:lnTo>
                    <a:pt x="319" y="292"/>
                  </a:lnTo>
                  <a:lnTo>
                    <a:pt x="317" y="291"/>
                  </a:lnTo>
                  <a:lnTo>
                    <a:pt x="317" y="289"/>
                  </a:lnTo>
                  <a:lnTo>
                    <a:pt x="313" y="289"/>
                  </a:lnTo>
                  <a:lnTo>
                    <a:pt x="313" y="287"/>
                  </a:lnTo>
                  <a:lnTo>
                    <a:pt x="313" y="287"/>
                  </a:lnTo>
                  <a:lnTo>
                    <a:pt x="311" y="285"/>
                  </a:lnTo>
                  <a:lnTo>
                    <a:pt x="311" y="285"/>
                  </a:lnTo>
                  <a:lnTo>
                    <a:pt x="311" y="283"/>
                  </a:lnTo>
                  <a:lnTo>
                    <a:pt x="311" y="283"/>
                  </a:lnTo>
                  <a:lnTo>
                    <a:pt x="311" y="283"/>
                  </a:lnTo>
                  <a:lnTo>
                    <a:pt x="311" y="283"/>
                  </a:lnTo>
                  <a:lnTo>
                    <a:pt x="311" y="283"/>
                  </a:lnTo>
                  <a:lnTo>
                    <a:pt x="313" y="283"/>
                  </a:lnTo>
                  <a:lnTo>
                    <a:pt x="315" y="283"/>
                  </a:lnTo>
                  <a:lnTo>
                    <a:pt x="315" y="283"/>
                  </a:lnTo>
                  <a:lnTo>
                    <a:pt x="315" y="283"/>
                  </a:lnTo>
                  <a:lnTo>
                    <a:pt x="317" y="283"/>
                  </a:lnTo>
                  <a:lnTo>
                    <a:pt x="317" y="281"/>
                  </a:lnTo>
                  <a:lnTo>
                    <a:pt x="315" y="281"/>
                  </a:lnTo>
                  <a:lnTo>
                    <a:pt x="315" y="279"/>
                  </a:lnTo>
                  <a:lnTo>
                    <a:pt x="315" y="277"/>
                  </a:lnTo>
                  <a:lnTo>
                    <a:pt x="313" y="275"/>
                  </a:lnTo>
                  <a:lnTo>
                    <a:pt x="311" y="275"/>
                  </a:lnTo>
                  <a:lnTo>
                    <a:pt x="309" y="273"/>
                  </a:lnTo>
                  <a:lnTo>
                    <a:pt x="305" y="273"/>
                  </a:lnTo>
                  <a:lnTo>
                    <a:pt x="303" y="273"/>
                  </a:lnTo>
                  <a:lnTo>
                    <a:pt x="301" y="273"/>
                  </a:lnTo>
                  <a:lnTo>
                    <a:pt x="301" y="272"/>
                  </a:lnTo>
                  <a:lnTo>
                    <a:pt x="301" y="270"/>
                  </a:lnTo>
                  <a:lnTo>
                    <a:pt x="300" y="266"/>
                  </a:lnTo>
                  <a:lnTo>
                    <a:pt x="294" y="260"/>
                  </a:lnTo>
                  <a:lnTo>
                    <a:pt x="292" y="258"/>
                  </a:lnTo>
                  <a:lnTo>
                    <a:pt x="292" y="258"/>
                  </a:lnTo>
                  <a:lnTo>
                    <a:pt x="290" y="258"/>
                  </a:lnTo>
                  <a:lnTo>
                    <a:pt x="290" y="258"/>
                  </a:lnTo>
                  <a:lnTo>
                    <a:pt x="288" y="258"/>
                  </a:lnTo>
                  <a:lnTo>
                    <a:pt x="282" y="254"/>
                  </a:lnTo>
                  <a:lnTo>
                    <a:pt x="282" y="253"/>
                  </a:lnTo>
                  <a:lnTo>
                    <a:pt x="282" y="253"/>
                  </a:lnTo>
                  <a:lnTo>
                    <a:pt x="282" y="249"/>
                  </a:lnTo>
                  <a:lnTo>
                    <a:pt x="282" y="247"/>
                  </a:lnTo>
                  <a:lnTo>
                    <a:pt x="282" y="247"/>
                  </a:lnTo>
                  <a:lnTo>
                    <a:pt x="284" y="243"/>
                  </a:lnTo>
                  <a:lnTo>
                    <a:pt x="284" y="243"/>
                  </a:lnTo>
                  <a:lnTo>
                    <a:pt x="284" y="241"/>
                  </a:lnTo>
                  <a:lnTo>
                    <a:pt x="284" y="241"/>
                  </a:lnTo>
                  <a:lnTo>
                    <a:pt x="284" y="239"/>
                  </a:lnTo>
                  <a:lnTo>
                    <a:pt x="284" y="239"/>
                  </a:lnTo>
                  <a:lnTo>
                    <a:pt x="286" y="237"/>
                  </a:lnTo>
                  <a:lnTo>
                    <a:pt x="288" y="237"/>
                  </a:lnTo>
                  <a:lnTo>
                    <a:pt x="288" y="235"/>
                  </a:lnTo>
                  <a:lnTo>
                    <a:pt x="290" y="235"/>
                  </a:lnTo>
                  <a:lnTo>
                    <a:pt x="292" y="235"/>
                  </a:lnTo>
                  <a:lnTo>
                    <a:pt x="292" y="235"/>
                  </a:lnTo>
                  <a:lnTo>
                    <a:pt x="292" y="235"/>
                  </a:lnTo>
                  <a:lnTo>
                    <a:pt x="292" y="235"/>
                  </a:lnTo>
                  <a:lnTo>
                    <a:pt x="292" y="233"/>
                  </a:lnTo>
                  <a:lnTo>
                    <a:pt x="292" y="233"/>
                  </a:lnTo>
                  <a:lnTo>
                    <a:pt x="290" y="233"/>
                  </a:lnTo>
                  <a:lnTo>
                    <a:pt x="288" y="233"/>
                  </a:lnTo>
                  <a:lnTo>
                    <a:pt x="288" y="233"/>
                  </a:lnTo>
                  <a:lnTo>
                    <a:pt x="288" y="233"/>
                  </a:lnTo>
                  <a:lnTo>
                    <a:pt x="288" y="233"/>
                  </a:lnTo>
                  <a:lnTo>
                    <a:pt x="288" y="233"/>
                  </a:lnTo>
                  <a:lnTo>
                    <a:pt x="288" y="233"/>
                  </a:lnTo>
                  <a:lnTo>
                    <a:pt x="275" y="232"/>
                  </a:lnTo>
                  <a:lnTo>
                    <a:pt x="269" y="232"/>
                  </a:lnTo>
                  <a:lnTo>
                    <a:pt x="265" y="232"/>
                  </a:lnTo>
                  <a:lnTo>
                    <a:pt x="265" y="232"/>
                  </a:lnTo>
                  <a:lnTo>
                    <a:pt x="263" y="233"/>
                  </a:lnTo>
                  <a:lnTo>
                    <a:pt x="261" y="233"/>
                  </a:lnTo>
                  <a:lnTo>
                    <a:pt x="261" y="232"/>
                  </a:lnTo>
                  <a:lnTo>
                    <a:pt x="260" y="230"/>
                  </a:lnTo>
                  <a:lnTo>
                    <a:pt x="248" y="218"/>
                  </a:lnTo>
                  <a:lnTo>
                    <a:pt x="246" y="216"/>
                  </a:lnTo>
                  <a:lnTo>
                    <a:pt x="244" y="216"/>
                  </a:lnTo>
                  <a:lnTo>
                    <a:pt x="242" y="214"/>
                  </a:lnTo>
                  <a:lnTo>
                    <a:pt x="240" y="214"/>
                  </a:lnTo>
                  <a:lnTo>
                    <a:pt x="237" y="216"/>
                  </a:lnTo>
                  <a:lnTo>
                    <a:pt x="235" y="216"/>
                  </a:lnTo>
                  <a:lnTo>
                    <a:pt x="235" y="216"/>
                  </a:lnTo>
                  <a:lnTo>
                    <a:pt x="235" y="216"/>
                  </a:lnTo>
                  <a:lnTo>
                    <a:pt x="235" y="214"/>
                  </a:lnTo>
                  <a:lnTo>
                    <a:pt x="235" y="213"/>
                  </a:lnTo>
                  <a:lnTo>
                    <a:pt x="231" y="209"/>
                  </a:lnTo>
                  <a:lnTo>
                    <a:pt x="231" y="207"/>
                  </a:lnTo>
                  <a:lnTo>
                    <a:pt x="231" y="205"/>
                  </a:lnTo>
                  <a:lnTo>
                    <a:pt x="231" y="203"/>
                  </a:lnTo>
                  <a:lnTo>
                    <a:pt x="233" y="201"/>
                  </a:lnTo>
                  <a:lnTo>
                    <a:pt x="235" y="199"/>
                  </a:lnTo>
                  <a:lnTo>
                    <a:pt x="235" y="197"/>
                  </a:lnTo>
                  <a:lnTo>
                    <a:pt x="235" y="197"/>
                  </a:lnTo>
                  <a:lnTo>
                    <a:pt x="235" y="194"/>
                  </a:lnTo>
                  <a:lnTo>
                    <a:pt x="235" y="194"/>
                  </a:lnTo>
                  <a:lnTo>
                    <a:pt x="237" y="192"/>
                  </a:lnTo>
                  <a:lnTo>
                    <a:pt x="237" y="192"/>
                  </a:lnTo>
                  <a:lnTo>
                    <a:pt x="235" y="190"/>
                  </a:lnTo>
                  <a:lnTo>
                    <a:pt x="235" y="190"/>
                  </a:lnTo>
                  <a:lnTo>
                    <a:pt x="231" y="190"/>
                  </a:lnTo>
                  <a:lnTo>
                    <a:pt x="231" y="190"/>
                  </a:lnTo>
                  <a:lnTo>
                    <a:pt x="231" y="190"/>
                  </a:lnTo>
                  <a:lnTo>
                    <a:pt x="231" y="188"/>
                  </a:lnTo>
                  <a:lnTo>
                    <a:pt x="229" y="188"/>
                  </a:lnTo>
                  <a:lnTo>
                    <a:pt x="229" y="186"/>
                  </a:lnTo>
                  <a:lnTo>
                    <a:pt x="229" y="186"/>
                  </a:lnTo>
                  <a:lnTo>
                    <a:pt x="229" y="184"/>
                  </a:lnTo>
                  <a:lnTo>
                    <a:pt x="231" y="184"/>
                  </a:lnTo>
                  <a:lnTo>
                    <a:pt x="237" y="182"/>
                  </a:lnTo>
                  <a:lnTo>
                    <a:pt x="239" y="182"/>
                  </a:lnTo>
                  <a:lnTo>
                    <a:pt x="240" y="182"/>
                  </a:lnTo>
                  <a:lnTo>
                    <a:pt x="246" y="182"/>
                  </a:lnTo>
                  <a:lnTo>
                    <a:pt x="246" y="182"/>
                  </a:lnTo>
                  <a:lnTo>
                    <a:pt x="246" y="182"/>
                  </a:lnTo>
                  <a:lnTo>
                    <a:pt x="248" y="180"/>
                  </a:lnTo>
                  <a:lnTo>
                    <a:pt x="246" y="180"/>
                  </a:lnTo>
                  <a:lnTo>
                    <a:pt x="246" y="176"/>
                  </a:lnTo>
                  <a:lnTo>
                    <a:pt x="246" y="175"/>
                  </a:lnTo>
                  <a:lnTo>
                    <a:pt x="246" y="175"/>
                  </a:lnTo>
                  <a:lnTo>
                    <a:pt x="246" y="175"/>
                  </a:lnTo>
                  <a:lnTo>
                    <a:pt x="248" y="173"/>
                  </a:lnTo>
                  <a:lnTo>
                    <a:pt x="248" y="173"/>
                  </a:lnTo>
                  <a:lnTo>
                    <a:pt x="250" y="173"/>
                  </a:lnTo>
                  <a:lnTo>
                    <a:pt x="252" y="173"/>
                  </a:lnTo>
                  <a:lnTo>
                    <a:pt x="256" y="175"/>
                  </a:lnTo>
                  <a:lnTo>
                    <a:pt x="258" y="175"/>
                  </a:lnTo>
                  <a:lnTo>
                    <a:pt x="258" y="176"/>
                  </a:lnTo>
                  <a:lnTo>
                    <a:pt x="258" y="182"/>
                  </a:lnTo>
                  <a:lnTo>
                    <a:pt x="258" y="184"/>
                  </a:lnTo>
                  <a:lnTo>
                    <a:pt x="258" y="184"/>
                  </a:lnTo>
                  <a:lnTo>
                    <a:pt x="258" y="184"/>
                  </a:lnTo>
                  <a:lnTo>
                    <a:pt x="258" y="184"/>
                  </a:lnTo>
                  <a:lnTo>
                    <a:pt x="258" y="184"/>
                  </a:lnTo>
                  <a:lnTo>
                    <a:pt x="260" y="184"/>
                  </a:lnTo>
                  <a:lnTo>
                    <a:pt x="260" y="184"/>
                  </a:lnTo>
                  <a:lnTo>
                    <a:pt x="263" y="186"/>
                  </a:lnTo>
                  <a:lnTo>
                    <a:pt x="265" y="188"/>
                  </a:lnTo>
                  <a:lnTo>
                    <a:pt x="265" y="188"/>
                  </a:lnTo>
                  <a:lnTo>
                    <a:pt x="267" y="190"/>
                  </a:lnTo>
                  <a:lnTo>
                    <a:pt x="269" y="190"/>
                  </a:lnTo>
                  <a:lnTo>
                    <a:pt x="271" y="188"/>
                  </a:lnTo>
                  <a:lnTo>
                    <a:pt x="273" y="186"/>
                  </a:lnTo>
                  <a:lnTo>
                    <a:pt x="275" y="184"/>
                  </a:lnTo>
                  <a:lnTo>
                    <a:pt x="275" y="184"/>
                  </a:lnTo>
                  <a:lnTo>
                    <a:pt x="277" y="184"/>
                  </a:lnTo>
                  <a:lnTo>
                    <a:pt x="277" y="184"/>
                  </a:lnTo>
                  <a:lnTo>
                    <a:pt x="277" y="184"/>
                  </a:lnTo>
                  <a:lnTo>
                    <a:pt x="277" y="182"/>
                  </a:lnTo>
                  <a:lnTo>
                    <a:pt x="277" y="182"/>
                  </a:lnTo>
                  <a:lnTo>
                    <a:pt x="277" y="182"/>
                  </a:lnTo>
                  <a:lnTo>
                    <a:pt x="277" y="180"/>
                  </a:lnTo>
                  <a:lnTo>
                    <a:pt x="277" y="178"/>
                  </a:lnTo>
                  <a:lnTo>
                    <a:pt x="277" y="178"/>
                  </a:lnTo>
                  <a:lnTo>
                    <a:pt x="279" y="176"/>
                  </a:lnTo>
                  <a:lnTo>
                    <a:pt x="279" y="175"/>
                  </a:lnTo>
                  <a:lnTo>
                    <a:pt x="281" y="173"/>
                  </a:lnTo>
                  <a:lnTo>
                    <a:pt x="284" y="171"/>
                  </a:lnTo>
                  <a:lnTo>
                    <a:pt x="288" y="169"/>
                  </a:lnTo>
                  <a:lnTo>
                    <a:pt x="296" y="167"/>
                  </a:lnTo>
                  <a:lnTo>
                    <a:pt x="300" y="165"/>
                  </a:lnTo>
                  <a:lnTo>
                    <a:pt x="305" y="163"/>
                  </a:lnTo>
                  <a:lnTo>
                    <a:pt x="317" y="161"/>
                  </a:lnTo>
                  <a:lnTo>
                    <a:pt x="321" y="161"/>
                  </a:lnTo>
                  <a:lnTo>
                    <a:pt x="321" y="157"/>
                  </a:lnTo>
                  <a:lnTo>
                    <a:pt x="322" y="156"/>
                  </a:lnTo>
                  <a:lnTo>
                    <a:pt x="321" y="154"/>
                  </a:lnTo>
                  <a:lnTo>
                    <a:pt x="321" y="152"/>
                  </a:lnTo>
                  <a:lnTo>
                    <a:pt x="321" y="152"/>
                  </a:lnTo>
                  <a:lnTo>
                    <a:pt x="321" y="152"/>
                  </a:lnTo>
                  <a:lnTo>
                    <a:pt x="321" y="150"/>
                  </a:lnTo>
                  <a:lnTo>
                    <a:pt x="322" y="148"/>
                  </a:lnTo>
                  <a:lnTo>
                    <a:pt x="322" y="148"/>
                  </a:lnTo>
                  <a:lnTo>
                    <a:pt x="324" y="146"/>
                  </a:lnTo>
                  <a:lnTo>
                    <a:pt x="324" y="146"/>
                  </a:lnTo>
                  <a:lnTo>
                    <a:pt x="324" y="144"/>
                  </a:lnTo>
                  <a:lnTo>
                    <a:pt x="324" y="144"/>
                  </a:lnTo>
                  <a:lnTo>
                    <a:pt x="326" y="144"/>
                  </a:lnTo>
                  <a:lnTo>
                    <a:pt x="326" y="142"/>
                  </a:lnTo>
                  <a:lnTo>
                    <a:pt x="326" y="142"/>
                  </a:lnTo>
                  <a:lnTo>
                    <a:pt x="326" y="142"/>
                  </a:lnTo>
                  <a:lnTo>
                    <a:pt x="328" y="142"/>
                  </a:lnTo>
                  <a:lnTo>
                    <a:pt x="330" y="142"/>
                  </a:lnTo>
                  <a:lnTo>
                    <a:pt x="334" y="146"/>
                  </a:lnTo>
                  <a:lnTo>
                    <a:pt x="336" y="146"/>
                  </a:lnTo>
                  <a:lnTo>
                    <a:pt x="338" y="146"/>
                  </a:lnTo>
                  <a:lnTo>
                    <a:pt x="340" y="146"/>
                  </a:lnTo>
                  <a:lnTo>
                    <a:pt x="340" y="148"/>
                  </a:lnTo>
                  <a:lnTo>
                    <a:pt x="341" y="150"/>
                  </a:lnTo>
                  <a:lnTo>
                    <a:pt x="343" y="150"/>
                  </a:lnTo>
                  <a:lnTo>
                    <a:pt x="345" y="152"/>
                  </a:lnTo>
                  <a:lnTo>
                    <a:pt x="351" y="154"/>
                  </a:lnTo>
                  <a:lnTo>
                    <a:pt x="353" y="152"/>
                  </a:lnTo>
                  <a:lnTo>
                    <a:pt x="353" y="150"/>
                  </a:lnTo>
                  <a:lnTo>
                    <a:pt x="353" y="150"/>
                  </a:lnTo>
                  <a:lnTo>
                    <a:pt x="353" y="150"/>
                  </a:lnTo>
                  <a:lnTo>
                    <a:pt x="351" y="148"/>
                  </a:lnTo>
                  <a:lnTo>
                    <a:pt x="351" y="148"/>
                  </a:lnTo>
                  <a:lnTo>
                    <a:pt x="351" y="146"/>
                  </a:lnTo>
                  <a:lnTo>
                    <a:pt x="351" y="146"/>
                  </a:lnTo>
                  <a:lnTo>
                    <a:pt x="351" y="146"/>
                  </a:lnTo>
                  <a:lnTo>
                    <a:pt x="353" y="144"/>
                  </a:lnTo>
                  <a:lnTo>
                    <a:pt x="353" y="146"/>
                  </a:lnTo>
                  <a:lnTo>
                    <a:pt x="355" y="146"/>
                  </a:lnTo>
                  <a:lnTo>
                    <a:pt x="357" y="146"/>
                  </a:lnTo>
                  <a:lnTo>
                    <a:pt x="357" y="146"/>
                  </a:lnTo>
                  <a:lnTo>
                    <a:pt x="359" y="146"/>
                  </a:lnTo>
                  <a:lnTo>
                    <a:pt x="359" y="148"/>
                  </a:lnTo>
                  <a:lnTo>
                    <a:pt x="359" y="148"/>
                  </a:lnTo>
                  <a:lnTo>
                    <a:pt x="361" y="148"/>
                  </a:lnTo>
                  <a:lnTo>
                    <a:pt x="361" y="146"/>
                  </a:lnTo>
                  <a:lnTo>
                    <a:pt x="361" y="146"/>
                  </a:lnTo>
                  <a:lnTo>
                    <a:pt x="361" y="144"/>
                  </a:lnTo>
                  <a:lnTo>
                    <a:pt x="361" y="142"/>
                  </a:lnTo>
                  <a:lnTo>
                    <a:pt x="362" y="142"/>
                  </a:lnTo>
                  <a:lnTo>
                    <a:pt x="362" y="142"/>
                  </a:lnTo>
                  <a:lnTo>
                    <a:pt x="364" y="142"/>
                  </a:lnTo>
                  <a:lnTo>
                    <a:pt x="364" y="140"/>
                  </a:lnTo>
                  <a:lnTo>
                    <a:pt x="364" y="138"/>
                  </a:lnTo>
                  <a:lnTo>
                    <a:pt x="364" y="137"/>
                  </a:lnTo>
                  <a:lnTo>
                    <a:pt x="364" y="137"/>
                  </a:lnTo>
                  <a:lnTo>
                    <a:pt x="362" y="135"/>
                  </a:lnTo>
                  <a:lnTo>
                    <a:pt x="361" y="135"/>
                  </a:lnTo>
                  <a:lnTo>
                    <a:pt x="361" y="133"/>
                  </a:lnTo>
                  <a:lnTo>
                    <a:pt x="361" y="133"/>
                  </a:lnTo>
                  <a:lnTo>
                    <a:pt x="361" y="133"/>
                  </a:lnTo>
                  <a:lnTo>
                    <a:pt x="359" y="131"/>
                  </a:lnTo>
                  <a:lnTo>
                    <a:pt x="359" y="131"/>
                  </a:lnTo>
                  <a:lnTo>
                    <a:pt x="359" y="129"/>
                  </a:lnTo>
                  <a:lnTo>
                    <a:pt x="361" y="129"/>
                  </a:lnTo>
                  <a:lnTo>
                    <a:pt x="362" y="129"/>
                  </a:lnTo>
                  <a:lnTo>
                    <a:pt x="366" y="127"/>
                  </a:lnTo>
                  <a:lnTo>
                    <a:pt x="366" y="127"/>
                  </a:lnTo>
                  <a:lnTo>
                    <a:pt x="368" y="127"/>
                  </a:lnTo>
                  <a:lnTo>
                    <a:pt x="368" y="129"/>
                  </a:lnTo>
                  <a:lnTo>
                    <a:pt x="368" y="129"/>
                  </a:lnTo>
                  <a:lnTo>
                    <a:pt x="368" y="131"/>
                  </a:lnTo>
                  <a:lnTo>
                    <a:pt x="368" y="133"/>
                  </a:lnTo>
                  <a:lnTo>
                    <a:pt x="368" y="133"/>
                  </a:lnTo>
                  <a:lnTo>
                    <a:pt x="370" y="133"/>
                  </a:lnTo>
                  <a:lnTo>
                    <a:pt x="374" y="131"/>
                  </a:lnTo>
                  <a:lnTo>
                    <a:pt x="376" y="131"/>
                  </a:lnTo>
                  <a:lnTo>
                    <a:pt x="380" y="131"/>
                  </a:lnTo>
                  <a:lnTo>
                    <a:pt x="380" y="131"/>
                  </a:lnTo>
                  <a:lnTo>
                    <a:pt x="382" y="129"/>
                  </a:lnTo>
                  <a:lnTo>
                    <a:pt x="383" y="129"/>
                  </a:lnTo>
                  <a:lnTo>
                    <a:pt x="383" y="129"/>
                  </a:lnTo>
                  <a:lnTo>
                    <a:pt x="383" y="127"/>
                  </a:lnTo>
                  <a:lnTo>
                    <a:pt x="383" y="125"/>
                  </a:lnTo>
                  <a:lnTo>
                    <a:pt x="383" y="123"/>
                  </a:lnTo>
                  <a:lnTo>
                    <a:pt x="383" y="121"/>
                  </a:lnTo>
                  <a:lnTo>
                    <a:pt x="383" y="119"/>
                  </a:lnTo>
                  <a:lnTo>
                    <a:pt x="383" y="119"/>
                  </a:lnTo>
                  <a:lnTo>
                    <a:pt x="385" y="119"/>
                  </a:lnTo>
                  <a:lnTo>
                    <a:pt x="385" y="119"/>
                  </a:lnTo>
                  <a:lnTo>
                    <a:pt x="387" y="119"/>
                  </a:lnTo>
                  <a:lnTo>
                    <a:pt x="389" y="121"/>
                  </a:lnTo>
                  <a:lnTo>
                    <a:pt x="391" y="121"/>
                  </a:lnTo>
                  <a:lnTo>
                    <a:pt x="391" y="121"/>
                  </a:lnTo>
                  <a:lnTo>
                    <a:pt x="391" y="119"/>
                  </a:lnTo>
                  <a:lnTo>
                    <a:pt x="393" y="117"/>
                  </a:lnTo>
                  <a:lnTo>
                    <a:pt x="393" y="116"/>
                  </a:lnTo>
                  <a:lnTo>
                    <a:pt x="393" y="116"/>
                  </a:lnTo>
                  <a:lnTo>
                    <a:pt x="395" y="114"/>
                  </a:lnTo>
                  <a:lnTo>
                    <a:pt x="397" y="116"/>
                  </a:lnTo>
                  <a:lnTo>
                    <a:pt x="399" y="116"/>
                  </a:lnTo>
                  <a:lnTo>
                    <a:pt x="399" y="114"/>
                  </a:lnTo>
                  <a:lnTo>
                    <a:pt x="399" y="112"/>
                  </a:lnTo>
                  <a:lnTo>
                    <a:pt x="399" y="110"/>
                  </a:lnTo>
                  <a:lnTo>
                    <a:pt x="399" y="110"/>
                  </a:lnTo>
                  <a:lnTo>
                    <a:pt x="397" y="110"/>
                  </a:lnTo>
                  <a:lnTo>
                    <a:pt x="397" y="110"/>
                  </a:lnTo>
                  <a:lnTo>
                    <a:pt x="397" y="110"/>
                  </a:lnTo>
                  <a:lnTo>
                    <a:pt x="395" y="110"/>
                  </a:lnTo>
                  <a:lnTo>
                    <a:pt x="395" y="110"/>
                  </a:lnTo>
                  <a:lnTo>
                    <a:pt x="395" y="108"/>
                  </a:lnTo>
                  <a:lnTo>
                    <a:pt x="395" y="108"/>
                  </a:lnTo>
                  <a:lnTo>
                    <a:pt x="395" y="106"/>
                  </a:lnTo>
                  <a:lnTo>
                    <a:pt x="397" y="106"/>
                  </a:lnTo>
                  <a:lnTo>
                    <a:pt x="399" y="104"/>
                  </a:lnTo>
                  <a:lnTo>
                    <a:pt x="399" y="104"/>
                  </a:lnTo>
                  <a:lnTo>
                    <a:pt x="402" y="102"/>
                  </a:lnTo>
                  <a:lnTo>
                    <a:pt x="404" y="100"/>
                  </a:lnTo>
                  <a:lnTo>
                    <a:pt x="406" y="98"/>
                  </a:lnTo>
                  <a:lnTo>
                    <a:pt x="410" y="91"/>
                  </a:lnTo>
                  <a:lnTo>
                    <a:pt x="410" y="89"/>
                  </a:lnTo>
                  <a:lnTo>
                    <a:pt x="410" y="87"/>
                  </a:lnTo>
                  <a:lnTo>
                    <a:pt x="410" y="87"/>
                  </a:lnTo>
                  <a:lnTo>
                    <a:pt x="410" y="85"/>
                  </a:lnTo>
                  <a:lnTo>
                    <a:pt x="410" y="85"/>
                  </a:lnTo>
                  <a:lnTo>
                    <a:pt x="410" y="85"/>
                  </a:lnTo>
                  <a:lnTo>
                    <a:pt x="412" y="83"/>
                  </a:lnTo>
                  <a:lnTo>
                    <a:pt x="412" y="83"/>
                  </a:lnTo>
                  <a:lnTo>
                    <a:pt x="412" y="81"/>
                  </a:lnTo>
                  <a:lnTo>
                    <a:pt x="412" y="81"/>
                  </a:lnTo>
                  <a:lnTo>
                    <a:pt x="412" y="81"/>
                  </a:lnTo>
                  <a:lnTo>
                    <a:pt x="410" y="79"/>
                  </a:lnTo>
                  <a:lnTo>
                    <a:pt x="410" y="79"/>
                  </a:lnTo>
                  <a:lnTo>
                    <a:pt x="412" y="76"/>
                  </a:lnTo>
                  <a:lnTo>
                    <a:pt x="410" y="76"/>
                  </a:lnTo>
                  <a:lnTo>
                    <a:pt x="410" y="76"/>
                  </a:lnTo>
                  <a:lnTo>
                    <a:pt x="410" y="74"/>
                  </a:lnTo>
                  <a:lnTo>
                    <a:pt x="408" y="74"/>
                  </a:lnTo>
                  <a:lnTo>
                    <a:pt x="408" y="74"/>
                  </a:lnTo>
                  <a:lnTo>
                    <a:pt x="408" y="74"/>
                  </a:lnTo>
                  <a:lnTo>
                    <a:pt x="408" y="72"/>
                  </a:lnTo>
                  <a:lnTo>
                    <a:pt x="408" y="72"/>
                  </a:lnTo>
                  <a:lnTo>
                    <a:pt x="410" y="72"/>
                  </a:lnTo>
                  <a:lnTo>
                    <a:pt x="412" y="72"/>
                  </a:lnTo>
                  <a:lnTo>
                    <a:pt x="412" y="74"/>
                  </a:lnTo>
                  <a:lnTo>
                    <a:pt x="414" y="74"/>
                  </a:lnTo>
                  <a:lnTo>
                    <a:pt x="414" y="74"/>
                  </a:lnTo>
                  <a:lnTo>
                    <a:pt x="416" y="74"/>
                  </a:lnTo>
                  <a:lnTo>
                    <a:pt x="416" y="74"/>
                  </a:lnTo>
                  <a:lnTo>
                    <a:pt x="418" y="74"/>
                  </a:lnTo>
                  <a:lnTo>
                    <a:pt x="420" y="74"/>
                  </a:lnTo>
                  <a:lnTo>
                    <a:pt x="420" y="72"/>
                  </a:lnTo>
                  <a:lnTo>
                    <a:pt x="422" y="72"/>
                  </a:lnTo>
                  <a:lnTo>
                    <a:pt x="422" y="70"/>
                  </a:lnTo>
                  <a:lnTo>
                    <a:pt x="420" y="70"/>
                  </a:lnTo>
                  <a:close/>
                </a:path>
              </a:pathLst>
            </a:custGeom>
            <a:solidFill>
              <a:schemeClr val="tx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01" name="Freeform 50">
              <a:extLst>
                <a:ext uri="{FF2B5EF4-FFF2-40B4-BE49-F238E27FC236}">
                  <a16:creationId xmlns:a16="http://schemas.microsoft.com/office/drawing/2014/main" id="{90A385C4-B44E-62E5-6AF7-E9816E14C6EE}"/>
                </a:ext>
              </a:extLst>
            </p:cNvPr>
            <p:cNvSpPr>
              <a:spLocks/>
            </p:cNvSpPr>
            <p:nvPr/>
          </p:nvSpPr>
          <p:spPr bwMode="auto">
            <a:xfrm>
              <a:off x="1768290" y="1158331"/>
              <a:ext cx="1369624" cy="901585"/>
            </a:xfrm>
            <a:custGeom>
              <a:avLst/>
              <a:gdLst>
                <a:gd name="T0" fmla="*/ 692 w 726"/>
                <a:gd name="T1" fmla="*/ 185 h 533"/>
                <a:gd name="T2" fmla="*/ 657 w 726"/>
                <a:gd name="T3" fmla="*/ 145 h 533"/>
                <a:gd name="T4" fmla="*/ 604 w 726"/>
                <a:gd name="T5" fmla="*/ 129 h 533"/>
                <a:gd name="T6" fmla="*/ 528 w 726"/>
                <a:gd name="T7" fmla="*/ 162 h 533"/>
                <a:gd name="T8" fmla="*/ 478 w 726"/>
                <a:gd name="T9" fmla="*/ 183 h 533"/>
                <a:gd name="T10" fmla="*/ 375 w 726"/>
                <a:gd name="T11" fmla="*/ 99 h 533"/>
                <a:gd name="T12" fmla="*/ 269 w 726"/>
                <a:gd name="T13" fmla="*/ 36 h 533"/>
                <a:gd name="T14" fmla="*/ 217 w 726"/>
                <a:gd name="T15" fmla="*/ 17 h 533"/>
                <a:gd name="T16" fmla="*/ 183 w 726"/>
                <a:gd name="T17" fmla="*/ 8 h 533"/>
                <a:gd name="T18" fmla="*/ 116 w 726"/>
                <a:gd name="T19" fmla="*/ 19 h 533"/>
                <a:gd name="T20" fmla="*/ 128 w 726"/>
                <a:gd name="T21" fmla="*/ 32 h 533"/>
                <a:gd name="T22" fmla="*/ 118 w 726"/>
                <a:gd name="T23" fmla="*/ 38 h 533"/>
                <a:gd name="T24" fmla="*/ 101 w 726"/>
                <a:gd name="T25" fmla="*/ 36 h 533"/>
                <a:gd name="T26" fmla="*/ 65 w 726"/>
                <a:gd name="T27" fmla="*/ 40 h 533"/>
                <a:gd name="T28" fmla="*/ 51 w 726"/>
                <a:gd name="T29" fmla="*/ 55 h 533"/>
                <a:gd name="T30" fmla="*/ 36 w 726"/>
                <a:gd name="T31" fmla="*/ 69 h 533"/>
                <a:gd name="T32" fmla="*/ 17 w 726"/>
                <a:gd name="T33" fmla="*/ 91 h 533"/>
                <a:gd name="T34" fmla="*/ 2 w 726"/>
                <a:gd name="T35" fmla="*/ 108 h 533"/>
                <a:gd name="T36" fmla="*/ 27 w 726"/>
                <a:gd name="T37" fmla="*/ 139 h 533"/>
                <a:gd name="T38" fmla="*/ 51 w 726"/>
                <a:gd name="T39" fmla="*/ 137 h 533"/>
                <a:gd name="T40" fmla="*/ 59 w 726"/>
                <a:gd name="T41" fmla="*/ 141 h 533"/>
                <a:gd name="T42" fmla="*/ 74 w 726"/>
                <a:gd name="T43" fmla="*/ 165 h 533"/>
                <a:gd name="T44" fmla="*/ 84 w 726"/>
                <a:gd name="T45" fmla="*/ 173 h 533"/>
                <a:gd name="T46" fmla="*/ 118 w 726"/>
                <a:gd name="T47" fmla="*/ 183 h 533"/>
                <a:gd name="T48" fmla="*/ 109 w 726"/>
                <a:gd name="T49" fmla="*/ 200 h 533"/>
                <a:gd name="T50" fmla="*/ 116 w 726"/>
                <a:gd name="T51" fmla="*/ 207 h 533"/>
                <a:gd name="T52" fmla="*/ 131 w 726"/>
                <a:gd name="T53" fmla="*/ 211 h 533"/>
                <a:gd name="T54" fmla="*/ 141 w 726"/>
                <a:gd name="T55" fmla="*/ 219 h 533"/>
                <a:gd name="T56" fmla="*/ 149 w 726"/>
                <a:gd name="T57" fmla="*/ 223 h 533"/>
                <a:gd name="T58" fmla="*/ 147 w 726"/>
                <a:gd name="T59" fmla="*/ 232 h 533"/>
                <a:gd name="T60" fmla="*/ 141 w 726"/>
                <a:gd name="T61" fmla="*/ 243 h 533"/>
                <a:gd name="T62" fmla="*/ 131 w 726"/>
                <a:gd name="T63" fmla="*/ 251 h 533"/>
                <a:gd name="T64" fmla="*/ 118 w 726"/>
                <a:gd name="T65" fmla="*/ 257 h 533"/>
                <a:gd name="T66" fmla="*/ 107 w 726"/>
                <a:gd name="T67" fmla="*/ 276 h 533"/>
                <a:gd name="T68" fmla="*/ 97 w 726"/>
                <a:gd name="T69" fmla="*/ 282 h 533"/>
                <a:gd name="T70" fmla="*/ 86 w 726"/>
                <a:gd name="T71" fmla="*/ 287 h 533"/>
                <a:gd name="T72" fmla="*/ 88 w 726"/>
                <a:gd name="T73" fmla="*/ 314 h 533"/>
                <a:gd name="T74" fmla="*/ 101 w 726"/>
                <a:gd name="T75" fmla="*/ 375 h 533"/>
                <a:gd name="T76" fmla="*/ 103 w 726"/>
                <a:gd name="T77" fmla="*/ 405 h 533"/>
                <a:gd name="T78" fmla="*/ 101 w 726"/>
                <a:gd name="T79" fmla="*/ 430 h 533"/>
                <a:gd name="T80" fmla="*/ 107 w 726"/>
                <a:gd name="T81" fmla="*/ 437 h 533"/>
                <a:gd name="T82" fmla="*/ 133 w 726"/>
                <a:gd name="T83" fmla="*/ 455 h 533"/>
                <a:gd name="T84" fmla="*/ 191 w 726"/>
                <a:gd name="T85" fmla="*/ 483 h 533"/>
                <a:gd name="T86" fmla="*/ 202 w 726"/>
                <a:gd name="T87" fmla="*/ 515 h 533"/>
                <a:gd name="T88" fmla="*/ 271 w 726"/>
                <a:gd name="T89" fmla="*/ 527 h 533"/>
                <a:gd name="T90" fmla="*/ 307 w 726"/>
                <a:gd name="T91" fmla="*/ 512 h 533"/>
                <a:gd name="T92" fmla="*/ 312 w 726"/>
                <a:gd name="T93" fmla="*/ 477 h 533"/>
                <a:gd name="T94" fmla="*/ 320 w 726"/>
                <a:gd name="T95" fmla="*/ 466 h 533"/>
                <a:gd name="T96" fmla="*/ 381 w 726"/>
                <a:gd name="T97" fmla="*/ 436 h 533"/>
                <a:gd name="T98" fmla="*/ 459 w 726"/>
                <a:gd name="T99" fmla="*/ 468 h 533"/>
                <a:gd name="T100" fmla="*/ 492 w 726"/>
                <a:gd name="T101" fmla="*/ 466 h 533"/>
                <a:gd name="T102" fmla="*/ 516 w 726"/>
                <a:gd name="T103" fmla="*/ 495 h 533"/>
                <a:gd name="T104" fmla="*/ 541 w 726"/>
                <a:gd name="T105" fmla="*/ 483 h 533"/>
                <a:gd name="T106" fmla="*/ 534 w 726"/>
                <a:gd name="T107" fmla="*/ 514 h 533"/>
                <a:gd name="T108" fmla="*/ 577 w 726"/>
                <a:gd name="T109" fmla="*/ 512 h 533"/>
                <a:gd name="T110" fmla="*/ 623 w 726"/>
                <a:gd name="T111" fmla="*/ 512 h 533"/>
                <a:gd name="T112" fmla="*/ 635 w 726"/>
                <a:gd name="T113" fmla="*/ 443 h 533"/>
                <a:gd name="T114" fmla="*/ 591 w 726"/>
                <a:gd name="T115" fmla="*/ 401 h 533"/>
                <a:gd name="T116" fmla="*/ 593 w 726"/>
                <a:gd name="T117" fmla="*/ 346 h 533"/>
                <a:gd name="T118" fmla="*/ 648 w 726"/>
                <a:gd name="T119" fmla="*/ 306 h 533"/>
                <a:gd name="T120" fmla="*/ 676 w 726"/>
                <a:gd name="T121" fmla="*/ 280 h 533"/>
                <a:gd name="T122" fmla="*/ 716 w 726"/>
                <a:gd name="T123" fmla="*/ 204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6" h="533">
                  <a:moveTo>
                    <a:pt x="726" y="181"/>
                  </a:moveTo>
                  <a:lnTo>
                    <a:pt x="724" y="177"/>
                  </a:lnTo>
                  <a:lnTo>
                    <a:pt x="722" y="177"/>
                  </a:lnTo>
                  <a:lnTo>
                    <a:pt x="720" y="177"/>
                  </a:lnTo>
                  <a:lnTo>
                    <a:pt x="720" y="177"/>
                  </a:lnTo>
                  <a:lnTo>
                    <a:pt x="720" y="177"/>
                  </a:lnTo>
                  <a:lnTo>
                    <a:pt x="718" y="179"/>
                  </a:lnTo>
                  <a:lnTo>
                    <a:pt x="716" y="179"/>
                  </a:lnTo>
                  <a:lnTo>
                    <a:pt x="716" y="177"/>
                  </a:lnTo>
                  <a:lnTo>
                    <a:pt x="715" y="177"/>
                  </a:lnTo>
                  <a:lnTo>
                    <a:pt x="713" y="173"/>
                  </a:lnTo>
                  <a:lnTo>
                    <a:pt x="713" y="173"/>
                  </a:lnTo>
                  <a:lnTo>
                    <a:pt x="709" y="171"/>
                  </a:lnTo>
                  <a:lnTo>
                    <a:pt x="707" y="173"/>
                  </a:lnTo>
                  <a:lnTo>
                    <a:pt x="705" y="181"/>
                  </a:lnTo>
                  <a:lnTo>
                    <a:pt x="703" y="183"/>
                  </a:lnTo>
                  <a:lnTo>
                    <a:pt x="701" y="186"/>
                  </a:lnTo>
                  <a:lnTo>
                    <a:pt x="697" y="188"/>
                  </a:lnTo>
                  <a:lnTo>
                    <a:pt x="696" y="188"/>
                  </a:lnTo>
                  <a:lnTo>
                    <a:pt x="694" y="188"/>
                  </a:lnTo>
                  <a:lnTo>
                    <a:pt x="692" y="185"/>
                  </a:lnTo>
                  <a:lnTo>
                    <a:pt x="690" y="181"/>
                  </a:lnTo>
                  <a:lnTo>
                    <a:pt x="690" y="177"/>
                  </a:lnTo>
                  <a:lnTo>
                    <a:pt x="688" y="173"/>
                  </a:lnTo>
                  <a:lnTo>
                    <a:pt x="686" y="169"/>
                  </a:lnTo>
                  <a:lnTo>
                    <a:pt x="684" y="165"/>
                  </a:lnTo>
                  <a:lnTo>
                    <a:pt x="680" y="167"/>
                  </a:lnTo>
                  <a:lnTo>
                    <a:pt x="680" y="169"/>
                  </a:lnTo>
                  <a:lnTo>
                    <a:pt x="678" y="171"/>
                  </a:lnTo>
                  <a:lnTo>
                    <a:pt x="676" y="171"/>
                  </a:lnTo>
                  <a:lnTo>
                    <a:pt x="675" y="169"/>
                  </a:lnTo>
                  <a:lnTo>
                    <a:pt x="675" y="169"/>
                  </a:lnTo>
                  <a:lnTo>
                    <a:pt x="673" y="165"/>
                  </a:lnTo>
                  <a:lnTo>
                    <a:pt x="673" y="164"/>
                  </a:lnTo>
                  <a:lnTo>
                    <a:pt x="671" y="164"/>
                  </a:lnTo>
                  <a:lnTo>
                    <a:pt x="663" y="162"/>
                  </a:lnTo>
                  <a:lnTo>
                    <a:pt x="661" y="160"/>
                  </a:lnTo>
                  <a:lnTo>
                    <a:pt x="659" y="154"/>
                  </a:lnTo>
                  <a:lnTo>
                    <a:pt x="655" y="150"/>
                  </a:lnTo>
                  <a:lnTo>
                    <a:pt x="655" y="148"/>
                  </a:lnTo>
                  <a:lnTo>
                    <a:pt x="657" y="146"/>
                  </a:lnTo>
                  <a:lnTo>
                    <a:pt x="657" y="145"/>
                  </a:lnTo>
                  <a:lnTo>
                    <a:pt x="659" y="145"/>
                  </a:lnTo>
                  <a:lnTo>
                    <a:pt x="657" y="141"/>
                  </a:lnTo>
                  <a:lnTo>
                    <a:pt x="657" y="141"/>
                  </a:lnTo>
                  <a:lnTo>
                    <a:pt x="654" y="141"/>
                  </a:lnTo>
                  <a:lnTo>
                    <a:pt x="654" y="141"/>
                  </a:lnTo>
                  <a:lnTo>
                    <a:pt x="652" y="139"/>
                  </a:lnTo>
                  <a:lnTo>
                    <a:pt x="652" y="139"/>
                  </a:lnTo>
                  <a:lnTo>
                    <a:pt x="652" y="137"/>
                  </a:lnTo>
                  <a:lnTo>
                    <a:pt x="650" y="137"/>
                  </a:lnTo>
                  <a:lnTo>
                    <a:pt x="648" y="137"/>
                  </a:lnTo>
                  <a:lnTo>
                    <a:pt x="644" y="139"/>
                  </a:lnTo>
                  <a:lnTo>
                    <a:pt x="640" y="137"/>
                  </a:lnTo>
                  <a:lnTo>
                    <a:pt x="638" y="135"/>
                  </a:lnTo>
                  <a:lnTo>
                    <a:pt x="638" y="131"/>
                  </a:lnTo>
                  <a:lnTo>
                    <a:pt x="638" y="127"/>
                  </a:lnTo>
                  <a:lnTo>
                    <a:pt x="636" y="126"/>
                  </a:lnTo>
                  <a:lnTo>
                    <a:pt x="633" y="124"/>
                  </a:lnTo>
                  <a:lnTo>
                    <a:pt x="629" y="124"/>
                  </a:lnTo>
                  <a:lnTo>
                    <a:pt x="627" y="124"/>
                  </a:lnTo>
                  <a:lnTo>
                    <a:pt x="617" y="127"/>
                  </a:lnTo>
                  <a:lnTo>
                    <a:pt x="604" y="129"/>
                  </a:lnTo>
                  <a:lnTo>
                    <a:pt x="595" y="133"/>
                  </a:lnTo>
                  <a:lnTo>
                    <a:pt x="591" y="133"/>
                  </a:lnTo>
                  <a:lnTo>
                    <a:pt x="589" y="133"/>
                  </a:lnTo>
                  <a:lnTo>
                    <a:pt x="581" y="131"/>
                  </a:lnTo>
                  <a:lnTo>
                    <a:pt x="579" y="129"/>
                  </a:lnTo>
                  <a:lnTo>
                    <a:pt x="575" y="131"/>
                  </a:lnTo>
                  <a:lnTo>
                    <a:pt x="572" y="131"/>
                  </a:lnTo>
                  <a:lnTo>
                    <a:pt x="572" y="133"/>
                  </a:lnTo>
                  <a:lnTo>
                    <a:pt x="568" y="139"/>
                  </a:lnTo>
                  <a:lnTo>
                    <a:pt x="568" y="139"/>
                  </a:lnTo>
                  <a:lnTo>
                    <a:pt x="558" y="146"/>
                  </a:lnTo>
                  <a:lnTo>
                    <a:pt x="554" y="148"/>
                  </a:lnTo>
                  <a:lnTo>
                    <a:pt x="547" y="148"/>
                  </a:lnTo>
                  <a:lnTo>
                    <a:pt x="545" y="150"/>
                  </a:lnTo>
                  <a:lnTo>
                    <a:pt x="541" y="152"/>
                  </a:lnTo>
                  <a:lnTo>
                    <a:pt x="537" y="154"/>
                  </a:lnTo>
                  <a:lnTo>
                    <a:pt x="534" y="156"/>
                  </a:lnTo>
                  <a:lnTo>
                    <a:pt x="534" y="156"/>
                  </a:lnTo>
                  <a:lnTo>
                    <a:pt x="532" y="158"/>
                  </a:lnTo>
                  <a:lnTo>
                    <a:pt x="530" y="160"/>
                  </a:lnTo>
                  <a:lnTo>
                    <a:pt x="528" y="162"/>
                  </a:lnTo>
                  <a:lnTo>
                    <a:pt x="524" y="162"/>
                  </a:lnTo>
                  <a:lnTo>
                    <a:pt x="522" y="164"/>
                  </a:lnTo>
                  <a:lnTo>
                    <a:pt x="520" y="165"/>
                  </a:lnTo>
                  <a:lnTo>
                    <a:pt x="518" y="169"/>
                  </a:lnTo>
                  <a:lnTo>
                    <a:pt x="518" y="173"/>
                  </a:lnTo>
                  <a:lnTo>
                    <a:pt x="516" y="173"/>
                  </a:lnTo>
                  <a:lnTo>
                    <a:pt x="514" y="173"/>
                  </a:lnTo>
                  <a:lnTo>
                    <a:pt x="505" y="171"/>
                  </a:lnTo>
                  <a:lnTo>
                    <a:pt x="503" y="171"/>
                  </a:lnTo>
                  <a:lnTo>
                    <a:pt x="501" y="173"/>
                  </a:lnTo>
                  <a:lnTo>
                    <a:pt x="501" y="175"/>
                  </a:lnTo>
                  <a:lnTo>
                    <a:pt x="499" y="179"/>
                  </a:lnTo>
                  <a:lnTo>
                    <a:pt x="497" y="181"/>
                  </a:lnTo>
                  <a:lnTo>
                    <a:pt x="494" y="181"/>
                  </a:lnTo>
                  <a:lnTo>
                    <a:pt x="492" y="179"/>
                  </a:lnTo>
                  <a:lnTo>
                    <a:pt x="490" y="179"/>
                  </a:lnTo>
                  <a:lnTo>
                    <a:pt x="486" y="179"/>
                  </a:lnTo>
                  <a:lnTo>
                    <a:pt x="486" y="179"/>
                  </a:lnTo>
                  <a:lnTo>
                    <a:pt x="484" y="179"/>
                  </a:lnTo>
                  <a:lnTo>
                    <a:pt x="480" y="181"/>
                  </a:lnTo>
                  <a:lnTo>
                    <a:pt x="478" y="183"/>
                  </a:lnTo>
                  <a:lnTo>
                    <a:pt x="476" y="183"/>
                  </a:lnTo>
                  <a:lnTo>
                    <a:pt x="463" y="181"/>
                  </a:lnTo>
                  <a:lnTo>
                    <a:pt x="463" y="179"/>
                  </a:lnTo>
                  <a:lnTo>
                    <a:pt x="461" y="169"/>
                  </a:lnTo>
                  <a:lnTo>
                    <a:pt x="457" y="162"/>
                  </a:lnTo>
                  <a:lnTo>
                    <a:pt x="454" y="162"/>
                  </a:lnTo>
                  <a:lnTo>
                    <a:pt x="448" y="152"/>
                  </a:lnTo>
                  <a:lnTo>
                    <a:pt x="444" y="152"/>
                  </a:lnTo>
                  <a:lnTo>
                    <a:pt x="434" y="154"/>
                  </a:lnTo>
                  <a:lnTo>
                    <a:pt x="427" y="152"/>
                  </a:lnTo>
                  <a:lnTo>
                    <a:pt x="423" y="150"/>
                  </a:lnTo>
                  <a:lnTo>
                    <a:pt x="421" y="146"/>
                  </a:lnTo>
                  <a:lnTo>
                    <a:pt x="415" y="141"/>
                  </a:lnTo>
                  <a:lnTo>
                    <a:pt x="410" y="139"/>
                  </a:lnTo>
                  <a:lnTo>
                    <a:pt x="400" y="137"/>
                  </a:lnTo>
                  <a:lnTo>
                    <a:pt x="394" y="131"/>
                  </a:lnTo>
                  <a:lnTo>
                    <a:pt x="394" y="116"/>
                  </a:lnTo>
                  <a:lnTo>
                    <a:pt x="393" y="108"/>
                  </a:lnTo>
                  <a:lnTo>
                    <a:pt x="389" y="103"/>
                  </a:lnTo>
                  <a:lnTo>
                    <a:pt x="385" y="99"/>
                  </a:lnTo>
                  <a:lnTo>
                    <a:pt x="375" y="99"/>
                  </a:lnTo>
                  <a:lnTo>
                    <a:pt x="366" y="97"/>
                  </a:lnTo>
                  <a:lnTo>
                    <a:pt x="362" y="93"/>
                  </a:lnTo>
                  <a:lnTo>
                    <a:pt x="358" y="86"/>
                  </a:lnTo>
                  <a:lnTo>
                    <a:pt x="353" y="84"/>
                  </a:lnTo>
                  <a:lnTo>
                    <a:pt x="345" y="86"/>
                  </a:lnTo>
                  <a:lnTo>
                    <a:pt x="337" y="72"/>
                  </a:lnTo>
                  <a:lnTo>
                    <a:pt x="320" y="70"/>
                  </a:lnTo>
                  <a:lnTo>
                    <a:pt x="320" y="69"/>
                  </a:lnTo>
                  <a:lnTo>
                    <a:pt x="320" y="69"/>
                  </a:lnTo>
                  <a:lnTo>
                    <a:pt x="311" y="49"/>
                  </a:lnTo>
                  <a:lnTo>
                    <a:pt x="309" y="48"/>
                  </a:lnTo>
                  <a:lnTo>
                    <a:pt x="303" y="42"/>
                  </a:lnTo>
                  <a:lnTo>
                    <a:pt x="297" y="38"/>
                  </a:lnTo>
                  <a:lnTo>
                    <a:pt x="290" y="34"/>
                  </a:lnTo>
                  <a:lnTo>
                    <a:pt x="282" y="34"/>
                  </a:lnTo>
                  <a:lnTo>
                    <a:pt x="276" y="36"/>
                  </a:lnTo>
                  <a:lnTo>
                    <a:pt x="276" y="36"/>
                  </a:lnTo>
                  <a:lnTo>
                    <a:pt x="276" y="38"/>
                  </a:lnTo>
                  <a:lnTo>
                    <a:pt x="276" y="38"/>
                  </a:lnTo>
                  <a:lnTo>
                    <a:pt x="271" y="38"/>
                  </a:lnTo>
                  <a:lnTo>
                    <a:pt x="269" y="36"/>
                  </a:lnTo>
                  <a:lnTo>
                    <a:pt x="267" y="30"/>
                  </a:lnTo>
                  <a:lnTo>
                    <a:pt x="267" y="27"/>
                  </a:lnTo>
                  <a:lnTo>
                    <a:pt x="267" y="23"/>
                  </a:lnTo>
                  <a:lnTo>
                    <a:pt x="265" y="19"/>
                  </a:lnTo>
                  <a:lnTo>
                    <a:pt x="263" y="17"/>
                  </a:lnTo>
                  <a:lnTo>
                    <a:pt x="259" y="15"/>
                  </a:lnTo>
                  <a:lnTo>
                    <a:pt x="248" y="13"/>
                  </a:lnTo>
                  <a:lnTo>
                    <a:pt x="246" y="11"/>
                  </a:lnTo>
                  <a:lnTo>
                    <a:pt x="242" y="8"/>
                  </a:lnTo>
                  <a:lnTo>
                    <a:pt x="242" y="8"/>
                  </a:lnTo>
                  <a:lnTo>
                    <a:pt x="240" y="8"/>
                  </a:lnTo>
                  <a:lnTo>
                    <a:pt x="232" y="8"/>
                  </a:lnTo>
                  <a:lnTo>
                    <a:pt x="229" y="8"/>
                  </a:lnTo>
                  <a:lnTo>
                    <a:pt x="225" y="10"/>
                  </a:lnTo>
                  <a:lnTo>
                    <a:pt x="223" y="10"/>
                  </a:lnTo>
                  <a:lnTo>
                    <a:pt x="221" y="11"/>
                  </a:lnTo>
                  <a:lnTo>
                    <a:pt x="221" y="11"/>
                  </a:lnTo>
                  <a:lnTo>
                    <a:pt x="221" y="15"/>
                  </a:lnTo>
                  <a:lnTo>
                    <a:pt x="219" y="17"/>
                  </a:lnTo>
                  <a:lnTo>
                    <a:pt x="219" y="17"/>
                  </a:lnTo>
                  <a:lnTo>
                    <a:pt x="217" y="17"/>
                  </a:lnTo>
                  <a:lnTo>
                    <a:pt x="217" y="13"/>
                  </a:lnTo>
                  <a:lnTo>
                    <a:pt x="217" y="11"/>
                  </a:lnTo>
                  <a:lnTo>
                    <a:pt x="213" y="8"/>
                  </a:lnTo>
                  <a:lnTo>
                    <a:pt x="213" y="8"/>
                  </a:lnTo>
                  <a:lnTo>
                    <a:pt x="211" y="6"/>
                  </a:lnTo>
                  <a:lnTo>
                    <a:pt x="204" y="4"/>
                  </a:lnTo>
                  <a:lnTo>
                    <a:pt x="202" y="2"/>
                  </a:lnTo>
                  <a:lnTo>
                    <a:pt x="200" y="0"/>
                  </a:lnTo>
                  <a:lnTo>
                    <a:pt x="198" y="0"/>
                  </a:lnTo>
                  <a:lnTo>
                    <a:pt x="196" y="2"/>
                  </a:lnTo>
                  <a:lnTo>
                    <a:pt x="191" y="4"/>
                  </a:lnTo>
                  <a:lnTo>
                    <a:pt x="189" y="4"/>
                  </a:lnTo>
                  <a:lnTo>
                    <a:pt x="189" y="4"/>
                  </a:lnTo>
                  <a:lnTo>
                    <a:pt x="189" y="6"/>
                  </a:lnTo>
                  <a:lnTo>
                    <a:pt x="189" y="6"/>
                  </a:lnTo>
                  <a:lnTo>
                    <a:pt x="189" y="8"/>
                  </a:lnTo>
                  <a:lnTo>
                    <a:pt x="187" y="11"/>
                  </a:lnTo>
                  <a:lnTo>
                    <a:pt x="187" y="11"/>
                  </a:lnTo>
                  <a:lnTo>
                    <a:pt x="185" y="10"/>
                  </a:lnTo>
                  <a:lnTo>
                    <a:pt x="183" y="8"/>
                  </a:lnTo>
                  <a:lnTo>
                    <a:pt x="183" y="8"/>
                  </a:lnTo>
                  <a:lnTo>
                    <a:pt x="181" y="6"/>
                  </a:lnTo>
                  <a:lnTo>
                    <a:pt x="181" y="6"/>
                  </a:lnTo>
                  <a:lnTo>
                    <a:pt x="177" y="6"/>
                  </a:lnTo>
                  <a:lnTo>
                    <a:pt x="173" y="8"/>
                  </a:lnTo>
                  <a:lnTo>
                    <a:pt x="171" y="10"/>
                  </a:lnTo>
                  <a:lnTo>
                    <a:pt x="164" y="13"/>
                  </a:lnTo>
                  <a:lnTo>
                    <a:pt x="160" y="17"/>
                  </a:lnTo>
                  <a:lnTo>
                    <a:pt x="158" y="19"/>
                  </a:lnTo>
                  <a:lnTo>
                    <a:pt x="151" y="17"/>
                  </a:lnTo>
                  <a:lnTo>
                    <a:pt x="151" y="19"/>
                  </a:lnTo>
                  <a:lnTo>
                    <a:pt x="149" y="19"/>
                  </a:lnTo>
                  <a:lnTo>
                    <a:pt x="149" y="21"/>
                  </a:lnTo>
                  <a:lnTo>
                    <a:pt x="147" y="25"/>
                  </a:lnTo>
                  <a:lnTo>
                    <a:pt x="147" y="27"/>
                  </a:lnTo>
                  <a:lnTo>
                    <a:pt x="141" y="29"/>
                  </a:lnTo>
                  <a:lnTo>
                    <a:pt x="139" y="29"/>
                  </a:lnTo>
                  <a:lnTo>
                    <a:pt x="135" y="27"/>
                  </a:lnTo>
                  <a:lnTo>
                    <a:pt x="133" y="27"/>
                  </a:lnTo>
                  <a:lnTo>
                    <a:pt x="126" y="21"/>
                  </a:lnTo>
                  <a:lnTo>
                    <a:pt x="122" y="21"/>
                  </a:lnTo>
                  <a:lnTo>
                    <a:pt x="116" y="19"/>
                  </a:lnTo>
                  <a:lnTo>
                    <a:pt x="111" y="19"/>
                  </a:lnTo>
                  <a:lnTo>
                    <a:pt x="111" y="19"/>
                  </a:lnTo>
                  <a:lnTo>
                    <a:pt x="111" y="21"/>
                  </a:lnTo>
                  <a:lnTo>
                    <a:pt x="111" y="23"/>
                  </a:lnTo>
                  <a:lnTo>
                    <a:pt x="111" y="23"/>
                  </a:lnTo>
                  <a:lnTo>
                    <a:pt x="111" y="23"/>
                  </a:lnTo>
                  <a:lnTo>
                    <a:pt x="112" y="23"/>
                  </a:lnTo>
                  <a:lnTo>
                    <a:pt x="112" y="23"/>
                  </a:lnTo>
                  <a:lnTo>
                    <a:pt x="112" y="25"/>
                  </a:lnTo>
                  <a:lnTo>
                    <a:pt x="112" y="25"/>
                  </a:lnTo>
                  <a:lnTo>
                    <a:pt x="112" y="25"/>
                  </a:lnTo>
                  <a:lnTo>
                    <a:pt x="114" y="25"/>
                  </a:lnTo>
                  <a:lnTo>
                    <a:pt x="116" y="25"/>
                  </a:lnTo>
                  <a:lnTo>
                    <a:pt x="118" y="25"/>
                  </a:lnTo>
                  <a:lnTo>
                    <a:pt x="120" y="27"/>
                  </a:lnTo>
                  <a:lnTo>
                    <a:pt x="120" y="27"/>
                  </a:lnTo>
                  <a:lnTo>
                    <a:pt x="120" y="29"/>
                  </a:lnTo>
                  <a:lnTo>
                    <a:pt x="120" y="29"/>
                  </a:lnTo>
                  <a:lnTo>
                    <a:pt x="126" y="30"/>
                  </a:lnTo>
                  <a:lnTo>
                    <a:pt x="126" y="30"/>
                  </a:lnTo>
                  <a:lnTo>
                    <a:pt x="128" y="32"/>
                  </a:lnTo>
                  <a:lnTo>
                    <a:pt x="128" y="32"/>
                  </a:lnTo>
                  <a:lnTo>
                    <a:pt x="128" y="32"/>
                  </a:lnTo>
                  <a:lnTo>
                    <a:pt x="128" y="32"/>
                  </a:lnTo>
                  <a:lnTo>
                    <a:pt x="128" y="34"/>
                  </a:lnTo>
                  <a:lnTo>
                    <a:pt x="128" y="34"/>
                  </a:lnTo>
                  <a:lnTo>
                    <a:pt x="128" y="34"/>
                  </a:lnTo>
                  <a:lnTo>
                    <a:pt x="128" y="34"/>
                  </a:lnTo>
                  <a:lnTo>
                    <a:pt x="128" y="36"/>
                  </a:lnTo>
                  <a:lnTo>
                    <a:pt x="128" y="36"/>
                  </a:lnTo>
                  <a:lnTo>
                    <a:pt x="128" y="38"/>
                  </a:lnTo>
                  <a:lnTo>
                    <a:pt x="128" y="38"/>
                  </a:lnTo>
                  <a:lnTo>
                    <a:pt x="128" y="38"/>
                  </a:lnTo>
                  <a:lnTo>
                    <a:pt x="128" y="38"/>
                  </a:lnTo>
                  <a:lnTo>
                    <a:pt x="128" y="40"/>
                  </a:lnTo>
                  <a:lnTo>
                    <a:pt x="128" y="40"/>
                  </a:lnTo>
                  <a:lnTo>
                    <a:pt x="126" y="40"/>
                  </a:lnTo>
                  <a:lnTo>
                    <a:pt x="124" y="40"/>
                  </a:lnTo>
                  <a:lnTo>
                    <a:pt x="122" y="38"/>
                  </a:lnTo>
                  <a:lnTo>
                    <a:pt x="120" y="38"/>
                  </a:lnTo>
                  <a:lnTo>
                    <a:pt x="118" y="38"/>
                  </a:lnTo>
                  <a:lnTo>
                    <a:pt x="118" y="38"/>
                  </a:lnTo>
                  <a:lnTo>
                    <a:pt x="116" y="40"/>
                  </a:lnTo>
                  <a:lnTo>
                    <a:pt x="116" y="40"/>
                  </a:lnTo>
                  <a:lnTo>
                    <a:pt x="116" y="40"/>
                  </a:lnTo>
                  <a:lnTo>
                    <a:pt x="114" y="38"/>
                  </a:lnTo>
                  <a:lnTo>
                    <a:pt x="112" y="38"/>
                  </a:lnTo>
                  <a:lnTo>
                    <a:pt x="112" y="38"/>
                  </a:lnTo>
                  <a:lnTo>
                    <a:pt x="112" y="38"/>
                  </a:lnTo>
                  <a:lnTo>
                    <a:pt x="111" y="40"/>
                  </a:lnTo>
                  <a:lnTo>
                    <a:pt x="109" y="40"/>
                  </a:lnTo>
                  <a:lnTo>
                    <a:pt x="109" y="40"/>
                  </a:lnTo>
                  <a:lnTo>
                    <a:pt x="109" y="40"/>
                  </a:lnTo>
                  <a:lnTo>
                    <a:pt x="107" y="40"/>
                  </a:lnTo>
                  <a:lnTo>
                    <a:pt x="107" y="40"/>
                  </a:lnTo>
                  <a:lnTo>
                    <a:pt x="103" y="40"/>
                  </a:lnTo>
                  <a:lnTo>
                    <a:pt x="103" y="40"/>
                  </a:lnTo>
                  <a:lnTo>
                    <a:pt x="103" y="40"/>
                  </a:lnTo>
                  <a:lnTo>
                    <a:pt x="103" y="40"/>
                  </a:lnTo>
                  <a:lnTo>
                    <a:pt x="103" y="40"/>
                  </a:lnTo>
                  <a:lnTo>
                    <a:pt x="101" y="38"/>
                  </a:lnTo>
                  <a:lnTo>
                    <a:pt x="101" y="38"/>
                  </a:lnTo>
                  <a:lnTo>
                    <a:pt x="101" y="36"/>
                  </a:lnTo>
                  <a:lnTo>
                    <a:pt x="101" y="36"/>
                  </a:lnTo>
                  <a:lnTo>
                    <a:pt x="101" y="36"/>
                  </a:lnTo>
                  <a:lnTo>
                    <a:pt x="99" y="38"/>
                  </a:lnTo>
                  <a:lnTo>
                    <a:pt x="99" y="38"/>
                  </a:lnTo>
                  <a:lnTo>
                    <a:pt x="97" y="38"/>
                  </a:lnTo>
                  <a:lnTo>
                    <a:pt x="97" y="38"/>
                  </a:lnTo>
                  <a:lnTo>
                    <a:pt x="97" y="38"/>
                  </a:lnTo>
                  <a:lnTo>
                    <a:pt x="95" y="38"/>
                  </a:lnTo>
                  <a:lnTo>
                    <a:pt x="93" y="38"/>
                  </a:lnTo>
                  <a:lnTo>
                    <a:pt x="93" y="38"/>
                  </a:lnTo>
                  <a:lnTo>
                    <a:pt x="88" y="36"/>
                  </a:lnTo>
                  <a:lnTo>
                    <a:pt x="86" y="36"/>
                  </a:lnTo>
                  <a:lnTo>
                    <a:pt x="84" y="34"/>
                  </a:lnTo>
                  <a:lnTo>
                    <a:pt x="74" y="38"/>
                  </a:lnTo>
                  <a:lnTo>
                    <a:pt x="72" y="40"/>
                  </a:lnTo>
                  <a:lnTo>
                    <a:pt x="72" y="40"/>
                  </a:lnTo>
                  <a:lnTo>
                    <a:pt x="70" y="38"/>
                  </a:lnTo>
                  <a:lnTo>
                    <a:pt x="69" y="40"/>
                  </a:lnTo>
                  <a:lnTo>
                    <a:pt x="65" y="40"/>
                  </a:lnTo>
                  <a:lnTo>
                    <a:pt x="65" y="40"/>
                  </a:lnTo>
                  <a:lnTo>
                    <a:pt x="65" y="40"/>
                  </a:lnTo>
                  <a:lnTo>
                    <a:pt x="65" y="40"/>
                  </a:lnTo>
                  <a:lnTo>
                    <a:pt x="63" y="38"/>
                  </a:lnTo>
                  <a:lnTo>
                    <a:pt x="63" y="38"/>
                  </a:lnTo>
                  <a:lnTo>
                    <a:pt x="61" y="36"/>
                  </a:lnTo>
                  <a:lnTo>
                    <a:pt x="61" y="38"/>
                  </a:lnTo>
                  <a:lnTo>
                    <a:pt x="59" y="40"/>
                  </a:lnTo>
                  <a:lnTo>
                    <a:pt x="57" y="40"/>
                  </a:lnTo>
                  <a:lnTo>
                    <a:pt x="55" y="40"/>
                  </a:lnTo>
                  <a:lnTo>
                    <a:pt x="53" y="42"/>
                  </a:lnTo>
                  <a:lnTo>
                    <a:pt x="51" y="42"/>
                  </a:lnTo>
                  <a:lnTo>
                    <a:pt x="51" y="42"/>
                  </a:lnTo>
                  <a:lnTo>
                    <a:pt x="51" y="42"/>
                  </a:lnTo>
                  <a:lnTo>
                    <a:pt x="51" y="42"/>
                  </a:lnTo>
                  <a:lnTo>
                    <a:pt x="51" y="46"/>
                  </a:lnTo>
                  <a:lnTo>
                    <a:pt x="53" y="48"/>
                  </a:lnTo>
                  <a:lnTo>
                    <a:pt x="53" y="51"/>
                  </a:lnTo>
                  <a:lnTo>
                    <a:pt x="55" y="51"/>
                  </a:lnTo>
                  <a:lnTo>
                    <a:pt x="55" y="51"/>
                  </a:lnTo>
                  <a:lnTo>
                    <a:pt x="55" y="51"/>
                  </a:lnTo>
                  <a:lnTo>
                    <a:pt x="53" y="53"/>
                  </a:lnTo>
                  <a:lnTo>
                    <a:pt x="51" y="55"/>
                  </a:lnTo>
                  <a:lnTo>
                    <a:pt x="51" y="57"/>
                  </a:lnTo>
                  <a:lnTo>
                    <a:pt x="51" y="57"/>
                  </a:lnTo>
                  <a:lnTo>
                    <a:pt x="51" y="59"/>
                  </a:lnTo>
                  <a:lnTo>
                    <a:pt x="51" y="59"/>
                  </a:lnTo>
                  <a:lnTo>
                    <a:pt x="50" y="61"/>
                  </a:lnTo>
                  <a:lnTo>
                    <a:pt x="50" y="61"/>
                  </a:lnTo>
                  <a:lnTo>
                    <a:pt x="44" y="63"/>
                  </a:lnTo>
                  <a:lnTo>
                    <a:pt x="44" y="63"/>
                  </a:lnTo>
                  <a:lnTo>
                    <a:pt x="44" y="63"/>
                  </a:lnTo>
                  <a:lnTo>
                    <a:pt x="44" y="63"/>
                  </a:lnTo>
                  <a:lnTo>
                    <a:pt x="44" y="65"/>
                  </a:lnTo>
                  <a:lnTo>
                    <a:pt x="44" y="65"/>
                  </a:lnTo>
                  <a:lnTo>
                    <a:pt x="44" y="65"/>
                  </a:lnTo>
                  <a:lnTo>
                    <a:pt x="44" y="67"/>
                  </a:lnTo>
                  <a:lnTo>
                    <a:pt x="44" y="67"/>
                  </a:lnTo>
                  <a:lnTo>
                    <a:pt x="44" y="67"/>
                  </a:lnTo>
                  <a:lnTo>
                    <a:pt x="44" y="67"/>
                  </a:lnTo>
                  <a:lnTo>
                    <a:pt x="42" y="69"/>
                  </a:lnTo>
                  <a:lnTo>
                    <a:pt x="38" y="69"/>
                  </a:lnTo>
                  <a:lnTo>
                    <a:pt x="36" y="69"/>
                  </a:lnTo>
                  <a:lnTo>
                    <a:pt x="36" y="69"/>
                  </a:lnTo>
                  <a:lnTo>
                    <a:pt x="36" y="69"/>
                  </a:lnTo>
                  <a:lnTo>
                    <a:pt x="36" y="70"/>
                  </a:lnTo>
                  <a:lnTo>
                    <a:pt x="34" y="70"/>
                  </a:lnTo>
                  <a:lnTo>
                    <a:pt x="34" y="74"/>
                  </a:lnTo>
                  <a:lnTo>
                    <a:pt x="34" y="76"/>
                  </a:lnTo>
                  <a:lnTo>
                    <a:pt x="34" y="76"/>
                  </a:lnTo>
                  <a:lnTo>
                    <a:pt x="34" y="76"/>
                  </a:lnTo>
                  <a:lnTo>
                    <a:pt x="34" y="78"/>
                  </a:lnTo>
                  <a:lnTo>
                    <a:pt x="34" y="78"/>
                  </a:lnTo>
                  <a:lnTo>
                    <a:pt x="30" y="78"/>
                  </a:lnTo>
                  <a:lnTo>
                    <a:pt x="30" y="78"/>
                  </a:lnTo>
                  <a:lnTo>
                    <a:pt x="29" y="80"/>
                  </a:lnTo>
                  <a:lnTo>
                    <a:pt x="25" y="84"/>
                  </a:lnTo>
                  <a:lnTo>
                    <a:pt x="25" y="84"/>
                  </a:lnTo>
                  <a:lnTo>
                    <a:pt x="25" y="86"/>
                  </a:lnTo>
                  <a:lnTo>
                    <a:pt x="23" y="86"/>
                  </a:lnTo>
                  <a:lnTo>
                    <a:pt x="21" y="86"/>
                  </a:lnTo>
                  <a:lnTo>
                    <a:pt x="19" y="88"/>
                  </a:lnTo>
                  <a:lnTo>
                    <a:pt x="19" y="88"/>
                  </a:lnTo>
                  <a:lnTo>
                    <a:pt x="17" y="89"/>
                  </a:lnTo>
                  <a:lnTo>
                    <a:pt x="17" y="91"/>
                  </a:lnTo>
                  <a:lnTo>
                    <a:pt x="15" y="91"/>
                  </a:lnTo>
                  <a:lnTo>
                    <a:pt x="13" y="89"/>
                  </a:lnTo>
                  <a:lnTo>
                    <a:pt x="13" y="89"/>
                  </a:lnTo>
                  <a:lnTo>
                    <a:pt x="11" y="89"/>
                  </a:lnTo>
                  <a:lnTo>
                    <a:pt x="11" y="89"/>
                  </a:lnTo>
                  <a:lnTo>
                    <a:pt x="10" y="89"/>
                  </a:lnTo>
                  <a:lnTo>
                    <a:pt x="8" y="91"/>
                  </a:lnTo>
                  <a:lnTo>
                    <a:pt x="8" y="91"/>
                  </a:lnTo>
                  <a:lnTo>
                    <a:pt x="6" y="93"/>
                  </a:lnTo>
                  <a:lnTo>
                    <a:pt x="6" y="93"/>
                  </a:lnTo>
                  <a:lnTo>
                    <a:pt x="6" y="95"/>
                  </a:lnTo>
                  <a:lnTo>
                    <a:pt x="6" y="95"/>
                  </a:lnTo>
                  <a:lnTo>
                    <a:pt x="4" y="99"/>
                  </a:lnTo>
                  <a:lnTo>
                    <a:pt x="4" y="101"/>
                  </a:lnTo>
                  <a:lnTo>
                    <a:pt x="4" y="103"/>
                  </a:lnTo>
                  <a:lnTo>
                    <a:pt x="4" y="103"/>
                  </a:lnTo>
                  <a:lnTo>
                    <a:pt x="6" y="103"/>
                  </a:lnTo>
                  <a:lnTo>
                    <a:pt x="6" y="105"/>
                  </a:lnTo>
                  <a:lnTo>
                    <a:pt x="6" y="105"/>
                  </a:lnTo>
                  <a:lnTo>
                    <a:pt x="2" y="108"/>
                  </a:lnTo>
                  <a:lnTo>
                    <a:pt x="2" y="108"/>
                  </a:lnTo>
                  <a:lnTo>
                    <a:pt x="2" y="108"/>
                  </a:lnTo>
                  <a:lnTo>
                    <a:pt x="2" y="110"/>
                  </a:lnTo>
                  <a:lnTo>
                    <a:pt x="2" y="110"/>
                  </a:lnTo>
                  <a:lnTo>
                    <a:pt x="2" y="110"/>
                  </a:lnTo>
                  <a:lnTo>
                    <a:pt x="2" y="112"/>
                  </a:lnTo>
                  <a:lnTo>
                    <a:pt x="2" y="112"/>
                  </a:lnTo>
                  <a:lnTo>
                    <a:pt x="4" y="112"/>
                  </a:lnTo>
                  <a:lnTo>
                    <a:pt x="4" y="112"/>
                  </a:lnTo>
                  <a:lnTo>
                    <a:pt x="6" y="116"/>
                  </a:lnTo>
                  <a:lnTo>
                    <a:pt x="8" y="116"/>
                  </a:lnTo>
                  <a:lnTo>
                    <a:pt x="8" y="118"/>
                  </a:lnTo>
                  <a:lnTo>
                    <a:pt x="8" y="120"/>
                  </a:lnTo>
                  <a:lnTo>
                    <a:pt x="8" y="120"/>
                  </a:lnTo>
                  <a:lnTo>
                    <a:pt x="8" y="120"/>
                  </a:lnTo>
                  <a:lnTo>
                    <a:pt x="0" y="131"/>
                  </a:lnTo>
                  <a:lnTo>
                    <a:pt x="4" y="133"/>
                  </a:lnTo>
                  <a:lnTo>
                    <a:pt x="13" y="137"/>
                  </a:lnTo>
                  <a:lnTo>
                    <a:pt x="13" y="137"/>
                  </a:lnTo>
                  <a:lnTo>
                    <a:pt x="23" y="139"/>
                  </a:lnTo>
                  <a:lnTo>
                    <a:pt x="27" y="139"/>
                  </a:lnTo>
                  <a:lnTo>
                    <a:pt x="27" y="139"/>
                  </a:lnTo>
                  <a:lnTo>
                    <a:pt x="29" y="139"/>
                  </a:lnTo>
                  <a:lnTo>
                    <a:pt x="29" y="139"/>
                  </a:lnTo>
                  <a:lnTo>
                    <a:pt x="29" y="139"/>
                  </a:lnTo>
                  <a:lnTo>
                    <a:pt x="29" y="139"/>
                  </a:lnTo>
                  <a:lnTo>
                    <a:pt x="32" y="135"/>
                  </a:lnTo>
                  <a:lnTo>
                    <a:pt x="32" y="135"/>
                  </a:lnTo>
                  <a:lnTo>
                    <a:pt x="34" y="135"/>
                  </a:lnTo>
                  <a:lnTo>
                    <a:pt x="44" y="135"/>
                  </a:lnTo>
                  <a:lnTo>
                    <a:pt x="44" y="135"/>
                  </a:lnTo>
                  <a:lnTo>
                    <a:pt x="44" y="135"/>
                  </a:lnTo>
                  <a:lnTo>
                    <a:pt x="44" y="135"/>
                  </a:lnTo>
                  <a:lnTo>
                    <a:pt x="46" y="137"/>
                  </a:lnTo>
                  <a:lnTo>
                    <a:pt x="46" y="137"/>
                  </a:lnTo>
                  <a:lnTo>
                    <a:pt x="46" y="137"/>
                  </a:lnTo>
                  <a:lnTo>
                    <a:pt x="46" y="137"/>
                  </a:lnTo>
                  <a:lnTo>
                    <a:pt x="48" y="137"/>
                  </a:lnTo>
                  <a:lnTo>
                    <a:pt x="48" y="137"/>
                  </a:lnTo>
                  <a:lnTo>
                    <a:pt x="48" y="137"/>
                  </a:lnTo>
                  <a:lnTo>
                    <a:pt x="50" y="137"/>
                  </a:lnTo>
                  <a:lnTo>
                    <a:pt x="50" y="137"/>
                  </a:lnTo>
                  <a:lnTo>
                    <a:pt x="51" y="137"/>
                  </a:lnTo>
                  <a:lnTo>
                    <a:pt x="51" y="137"/>
                  </a:lnTo>
                  <a:lnTo>
                    <a:pt x="51" y="137"/>
                  </a:lnTo>
                  <a:lnTo>
                    <a:pt x="51" y="137"/>
                  </a:lnTo>
                  <a:lnTo>
                    <a:pt x="53" y="135"/>
                  </a:lnTo>
                  <a:lnTo>
                    <a:pt x="53" y="135"/>
                  </a:lnTo>
                  <a:lnTo>
                    <a:pt x="53" y="135"/>
                  </a:lnTo>
                  <a:lnTo>
                    <a:pt x="53" y="135"/>
                  </a:lnTo>
                  <a:lnTo>
                    <a:pt x="53" y="135"/>
                  </a:lnTo>
                  <a:lnTo>
                    <a:pt x="53" y="135"/>
                  </a:lnTo>
                  <a:lnTo>
                    <a:pt x="53" y="135"/>
                  </a:lnTo>
                  <a:lnTo>
                    <a:pt x="53" y="135"/>
                  </a:lnTo>
                  <a:lnTo>
                    <a:pt x="53" y="137"/>
                  </a:lnTo>
                  <a:lnTo>
                    <a:pt x="55" y="137"/>
                  </a:lnTo>
                  <a:lnTo>
                    <a:pt x="57" y="139"/>
                  </a:lnTo>
                  <a:lnTo>
                    <a:pt x="57" y="139"/>
                  </a:lnTo>
                  <a:lnTo>
                    <a:pt x="57" y="139"/>
                  </a:lnTo>
                  <a:lnTo>
                    <a:pt x="57" y="139"/>
                  </a:lnTo>
                  <a:lnTo>
                    <a:pt x="59" y="141"/>
                  </a:lnTo>
                  <a:lnTo>
                    <a:pt x="59" y="141"/>
                  </a:lnTo>
                  <a:lnTo>
                    <a:pt x="59" y="141"/>
                  </a:lnTo>
                  <a:lnTo>
                    <a:pt x="59" y="141"/>
                  </a:lnTo>
                  <a:lnTo>
                    <a:pt x="59" y="141"/>
                  </a:lnTo>
                  <a:lnTo>
                    <a:pt x="59" y="143"/>
                  </a:lnTo>
                  <a:lnTo>
                    <a:pt x="57" y="145"/>
                  </a:lnTo>
                  <a:lnTo>
                    <a:pt x="57" y="145"/>
                  </a:lnTo>
                  <a:lnTo>
                    <a:pt x="57" y="145"/>
                  </a:lnTo>
                  <a:lnTo>
                    <a:pt x="57" y="150"/>
                  </a:lnTo>
                  <a:lnTo>
                    <a:pt x="57" y="150"/>
                  </a:lnTo>
                  <a:lnTo>
                    <a:pt x="57" y="152"/>
                  </a:lnTo>
                  <a:lnTo>
                    <a:pt x="57" y="152"/>
                  </a:lnTo>
                  <a:lnTo>
                    <a:pt x="57" y="152"/>
                  </a:lnTo>
                  <a:lnTo>
                    <a:pt x="57" y="154"/>
                  </a:lnTo>
                  <a:lnTo>
                    <a:pt x="67" y="160"/>
                  </a:lnTo>
                  <a:lnTo>
                    <a:pt x="69" y="160"/>
                  </a:lnTo>
                  <a:lnTo>
                    <a:pt x="69" y="162"/>
                  </a:lnTo>
                  <a:lnTo>
                    <a:pt x="69" y="162"/>
                  </a:lnTo>
                  <a:lnTo>
                    <a:pt x="72" y="164"/>
                  </a:lnTo>
                  <a:lnTo>
                    <a:pt x="72" y="164"/>
                  </a:lnTo>
                  <a:lnTo>
                    <a:pt x="72" y="164"/>
                  </a:lnTo>
                  <a:lnTo>
                    <a:pt x="72" y="165"/>
                  </a:lnTo>
                  <a:lnTo>
                    <a:pt x="72" y="165"/>
                  </a:lnTo>
                  <a:lnTo>
                    <a:pt x="74" y="165"/>
                  </a:lnTo>
                  <a:lnTo>
                    <a:pt x="74" y="167"/>
                  </a:lnTo>
                  <a:lnTo>
                    <a:pt x="74" y="167"/>
                  </a:lnTo>
                  <a:lnTo>
                    <a:pt x="74" y="167"/>
                  </a:lnTo>
                  <a:lnTo>
                    <a:pt x="74" y="167"/>
                  </a:lnTo>
                  <a:lnTo>
                    <a:pt x="74" y="167"/>
                  </a:lnTo>
                  <a:lnTo>
                    <a:pt x="76" y="167"/>
                  </a:lnTo>
                  <a:lnTo>
                    <a:pt x="76" y="167"/>
                  </a:lnTo>
                  <a:lnTo>
                    <a:pt x="78" y="167"/>
                  </a:lnTo>
                  <a:lnTo>
                    <a:pt x="78" y="167"/>
                  </a:lnTo>
                  <a:lnTo>
                    <a:pt x="80" y="167"/>
                  </a:lnTo>
                  <a:lnTo>
                    <a:pt x="80" y="167"/>
                  </a:lnTo>
                  <a:lnTo>
                    <a:pt x="80" y="167"/>
                  </a:lnTo>
                  <a:lnTo>
                    <a:pt x="80" y="167"/>
                  </a:lnTo>
                  <a:lnTo>
                    <a:pt x="80" y="167"/>
                  </a:lnTo>
                  <a:lnTo>
                    <a:pt x="80" y="167"/>
                  </a:lnTo>
                  <a:lnTo>
                    <a:pt x="82" y="169"/>
                  </a:lnTo>
                  <a:lnTo>
                    <a:pt x="82" y="169"/>
                  </a:lnTo>
                  <a:lnTo>
                    <a:pt x="82" y="169"/>
                  </a:lnTo>
                  <a:lnTo>
                    <a:pt x="82" y="169"/>
                  </a:lnTo>
                  <a:lnTo>
                    <a:pt x="84" y="173"/>
                  </a:lnTo>
                  <a:lnTo>
                    <a:pt x="84" y="173"/>
                  </a:lnTo>
                  <a:lnTo>
                    <a:pt x="84" y="173"/>
                  </a:lnTo>
                  <a:lnTo>
                    <a:pt x="84" y="173"/>
                  </a:lnTo>
                  <a:lnTo>
                    <a:pt x="86" y="171"/>
                  </a:lnTo>
                  <a:lnTo>
                    <a:pt x="88" y="171"/>
                  </a:lnTo>
                  <a:lnTo>
                    <a:pt x="88" y="171"/>
                  </a:lnTo>
                  <a:lnTo>
                    <a:pt x="88" y="171"/>
                  </a:lnTo>
                  <a:lnTo>
                    <a:pt x="88" y="171"/>
                  </a:lnTo>
                  <a:lnTo>
                    <a:pt x="91" y="175"/>
                  </a:lnTo>
                  <a:lnTo>
                    <a:pt x="91" y="175"/>
                  </a:lnTo>
                  <a:lnTo>
                    <a:pt x="91" y="175"/>
                  </a:lnTo>
                  <a:lnTo>
                    <a:pt x="91" y="175"/>
                  </a:lnTo>
                  <a:lnTo>
                    <a:pt x="97" y="173"/>
                  </a:lnTo>
                  <a:lnTo>
                    <a:pt x="103" y="173"/>
                  </a:lnTo>
                  <a:lnTo>
                    <a:pt x="116" y="175"/>
                  </a:lnTo>
                  <a:lnTo>
                    <a:pt x="116" y="175"/>
                  </a:lnTo>
                  <a:lnTo>
                    <a:pt x="116" y="175"/>
                  </a:lnTo>
                  <a:lnTo>
                    <a:pt x="116" y="175"/>
                  </a:lnTo>
                  <a:lnTo>
                    <a:pt x="116" y="175"/>
                  </a:lnTo>
                  <a:lnTo>
                    <a:pt x="118" y="177"/>
                  </a:lnTo>
                  <a:lnTo>
                    <a:pt x="118" y="177"/>
                  </a:lnTo>
                  <a:lnTo>
                    <a:pt x="118" y="183"/>
                  </a:lnTo>
                  <a:lnTo>
                    <a:pt x="118" y="183"/>
                  </a:lnTo>
                  <a:lnTo>
                    <a:pt x="118" y="183"/>
                  </a:lnTo>
                  <a:lnTo>
                    <a:pt x="118" y="185"/>
                  </a:lnTo>
                  <a:lnTo>
                    <a:pt x="118" y="185"/>
                  </a:lnTo>
                  <a:lnTo>
                    <a:pt x="118" y="185"/>
                  </a:lnTo>
                  <a:lnTo>
                    <a:pt x="118" y="185"/>
                  </a:lnTo>
                  <a:lnTo>
                    <a:pt x="116" y="185"/>
                  </a:lnTo>
                  <a:lnTo>
                    <a:pt x="114" y="186"/>
                  </a:lnTo>
                  <a:lnTo>
                    <a:pt x="112" y="186"/>
                  </a:lnTo>
                  <a:lnTo>
                    <a:pt x="112" y="188"/>
                  </a:lnTo>
                  <a:lnTo>
                    <a:pt x="112" y="188"/>
                  </a:lnTo>
                  <a:lnTo>
                    <a:pt x="112" y="188"/>
                  </a:lnTo>
                  <a:lnTo>
                    <a:pt x="112" y="190"/>
                  </a:lnTo>
                  <a:lnTo>
                    <a:pt x="111" y="194"/>
                  </a:lnTo>
                  <a:lnTo>
                    <a:pt x="109" y="194"/>
                  </a:lnTo>
                  <a:lnTo>
                    <a:pt x="109" y="194"/>
                  </a:lnTo>
                  <a:lnTo>
                    <a:pt x="109" y="194"/>
                  </a:lnTo>
                  <a:lnTo>
                    <a:pt x="109" y="196"/>
                  </a:lnTo>
                  <a:lnTo>
                    <a:pt x="109" y="196"/>
                  </a:lnTo>
                  <a:lnTo>
                    <a:pt x="109" y="198"/>
                  </a:lnTo>
                  <a:lnTo>
                    <a:pt x="109" y="200"/>
                  </a:lnTo>
                  <a:lnTo>
                    <a:pt x="109" y="200"/>
                  </a:lnTo>
                  <a:lnTo>
                    <a:pt x="109" y="200"/>
                  </a:lnTo>
                  <a:lnTo>
                    <a:pt x="112" y="205"/>
                  </a:lnTo>
                  <a:lnTo>
                    <a:pt x="112" y="205"/>
                  </a:lnTo>
                  <a:lnTo>
                    <a:pt x="112" y="205"/>
                  </a:lnTo>
                  <a:lnTo>
                    <a:pt x="112" y="207"/>
                  </a:lnTo>
                  <a:lnTo>
                    <a:pt x="112" y="207"/>
                  </a:lnTo>
                  <a:lnTo>
                    <a:pt x="112" y="209"/>
                  </a:lnTo>
                  <a:lnTo>
                    <a:pt x="112" y="209"/>
                  </a:lnTo>
                  <a:lnTo>
                    <a:pt x="112" y="209"/>
                  </a:lnTo>
                  <a:lnTo>
                    <a:pt x="112" y="211"/>
                  </a:lnTo>
                  <a:lnTo>
                    <a:pt x="112" y="211"/>
                  </a:lnTo>
                  <a:lnTo>
                    <a:pt x="112" y="211"/>
                  </a:lnTo>
                  <a:lnTo>
                    <a:pt x="112" y="211"/>
                  </a:lnTo>
                  <a:lnTo>
                    <a:pt x="112" y="211"/>
                  </a:lnTo>
                  <a:lnTo>
                    <a:pt x="114" y="211"/>
                  </a:lnTo>
                  <a:lnTo>
                    <a:pt x="114" y="211"/>
                  </a:lnTo>
                  <a:lnTo>
                    <a:pt x="114" y="211"/>
                  </a:lnTo>
                  <a:lnTo>
                    <a:pt x="114" y="211"/>
                  </a:lnTo>
                  <a:lnTo>
                    <a:pt x="116" y="209"/>
                  </a:lnTo>
                  <a:lnTo>
                    <a:pt x="116" y="207"/>
                  </a:lnTo>
                  <a:lnTo>
                    <a:pt x="116" y="207"/>
                  </a:lnTo>
                  <a:lnTo>
                    <a:pt x="118" y="207"/>
                  </a:lnTo>
                  <a:lnTo>
                    <a:pt x="120" y="207"/>
                  </a:lnTo>
                  <a:lnTo>
                    <a:pt x="120" y="207"/>
                  </a:lnTo>
                  <a:lnTo>
                    <a:pt x="120" y="207"/>
                  </a:lnTo>
                  <a:lnTo>
                    <a:pt x="120" y="207"/>
                  </a:lnTo>
                  <a:lnTo>
                    <a:pt x="120" y="207"/>
                  </a:lnTo>
                  <a:lnTo>
                    <a:pt x="122" y="209"/>
                  </a:lnTo>
                  <a:lnTo>
                    <a:pt x="124" y="209"/>
                  </a:lnTo>
                  <a:lnTo>
                    <a:pt x="126" y="211"/>
                  </a:lnTo>
                  <a:lnTo>
                    <a:pt x="126" y="211"/>
                  </a:lnTo>
                  <a:lnTo>
                    <a:pt x="126" y="211"/>
                  </a:lnTo>
                  <a:lnTo>
                    <a:pt x="126" y="211"/>
                  </a:lnTo>
                  <a:lnTo>
                    <a:pt x="126" y="211"/>
                  </a:lnTo>
                  <a:lnTo>
                    <a:pt x="126" y="211"/>
                  </a:lnTo>
                  <a:lnTo>
                    <a:pt x="128" y="211"/>
                  </a:lnTo>
                  <a:lnTo>
                    <a:pt x="128" y="211"/>
                  </a:lnTo>
                  <a:lnTo>
                    <a:pt x="128" y="211"/>
                  </a:lnTo>
                  <a:lnTo>
                    <a:pt x="130" y="211"/>
                  </a:lnTo>
                  <a:lnTo>
                    <a:pt x="130" y="211"/>
                  </a:lnTo>
                  <a:lnTo>
                    <a:pt x="131" y="211"/>
                  </a:lnTo>
                  <a:lnTo>
                    <a:pt x="133" y="215"/>
                  </a:lnTo>
                  <a:lnTo>
                    <a:pt x="133" y="215"/>
                  </a:lnTo>
                  <a:lnTo>
                    <a:pt x="133" y="215"/>
                  </a:lnTo>
                  <a:lnTo>
                    <a:pt x="133" y="215"/>
                  </a:lnTo>
                  <a:lnTo>
                    <a:pt x="133" y="215"/>
                  </a:lnTo>
                  <a:lnTo>
                    <a:pt x="133" y="215"/>
                  </a:lnTo>
                  <a:lnTo>
                    <a:pt x="135" y="215"/>
                  </a:lnTo>
                  <a:lnTo>
                    <a:pt x="135" y="215"/>
                  </a:lnTo>
                  <a:lnTo>
                    <a:pt x="137" y="215"/>
                  </a:lnTo>
                  <a:lnTo>
                    <a:pt x="137" y="215"/>
                  </a:lnTo>
                  <a:lnTo>
                    <a:pt x="137" y="215"/>
                  </a:lnTo>
                  <a:lnTo>
                    <a:pt x="137" y="215"/>
                  </a:lnTo>
                  <a:lnTo>
                    <a:pt x="137" y="215"/>
                  </a:lnTo>
                  <a:lnTo>
                    <a:pt x="139" y="215"/>
                  </a:lnTo>
                  <a:lnTo>
                    <a:pt x="139" y="215"/>
                  </a:lnTo>
                  <a:lnTo>
                    <a:pt x="139" y="215"/>
                  </a:lnTo>
                  <a:lnTo>
                    <a:pt x="139" y="217"/>
                  </a:lnTo>
                  <a:lnTo>
                    <a:pt x="141" y="217"/>
                  </a:lnTo>
                  <a:lnTo>
                    <a:pt x="141" y="219"/>
                  </a:lnTo>
                  <a:lnTo>
                    <a:pt x="141" y="219"/>
                  </a:lnTo>
                  <a:lnTo>
                    <a:pt x="141" y="219"/>
                  </a:lnTo>
                  <a:lnTo>
                    <a:pt x="141" y="219"/>
                  </a:lnTo>
                  <a:lnTo>
                    <a:pt x="143" y="219"/>
                  </a:lnTo>
                  <a:lnTo>
                    <a:pt x="145" y="219"/>
                  </a:lnTo>
                  <a:lnTo>
                    <a:pt x="145" y="219"/>
                  </a:lnTo>
                  <a:lnTo>
                    <a:pt x="147" y="219"/>
                  </a:lnTo>
                  <a:lnTo>
                    <a:pt x="147" y="219"/>
                  </a:lnTo>
                  <a:lnTo>
                    <a:pt x="147" y="219"/>
                  </a:lnTo>
                  <a:lnTo>
                    <a:pt x="147" y="219"/>
                  </a:lnTo>
                  <a:lnTo>
                    <a:pt x="147" y="219"/>
                  </a:lnTo>
                  <a:lnTo>
                    <a:pt x="147" y="219"/>
                  </a:lnTo>
                  <a:lnTo>
                    <a:pt x="147" y="219"/>
                  </a:lnTo>
                  <a:lnTo>
                    <a:pt x="147" y="219"/>
                  </a:lnTo>
                  <a:lnTo>
                    <a:pt x="147" y="219"/>
                  </a:lnTo>
                  <a:lnTo>
                    <a:pt x="147" y="221"/>
                  </a:lnTo>
                  <a:lnTo>
                    <a:pt x="147" y="221"/>
                  </a:lnTo>
                  <a:lnTo>
                    <a:pt x="149" y="223"/>
                  </a:lnTo>
                  <a:lnTo>
                    <a:pt x="149" y="223"/>
                  </a:lnTo>
                  <a:lnTo>
                    <a:pt x="149" y="223"/>
                  </a:lnTo>
                  <a:lnTo>
                    <a:pt x="149" y="223"/>
                  </a:lnTo>
                  <a:lnTo>
                    <a:pt x="149" y="223"/>
                  </a:lnTo>
                  <a:lnTo>
                    <a:pt x="149" y="223"/>
                  </a:lnTo>
                  <a:lnTo>
                    <a:pt x="149" y="223"/>
                  </a:lnTo>
                  <a:lnTo>
                    <a:pt x="149" y="223"/>
                  </a:lnTo>
                  <a:lnTo>
                    <a:pt x="147" y="224"/>
                  </a:lnTo>
                  <a:lnTo>
                    <a:pt x="147" y="224"/>
                  </a:lnTo>
                  <a:lnTo>
                    <a:pt x="145" y="226"/>
                  </a:lnTo>
                  <a:lnTo>
                    <a:pt x="145" y="226"/>
                  </a:lnTo>
                  <a:lnTo>
                    <a:pt x="145" y="226"/>
                  </a:lnTo>
                  <a:lnTo>
                    <a:pt x="145" y="228"/>
                  </a:lnTo>
                  <a:lnTo>
                    <a:pt x="145" y="228"/>
                  </a:lnTo>
                  <a:lnTo>
                    <a:pt x="145" y="230"/>
                  </a:lnTo>
                  <a:lnTo>
                    <a:pt x="145" y="230"/>
                  </a:lnTo>
                  <a:lnTo>
                    <a:pt x="145" y="230"/>
                  </a:lnTo>
                  <a:lnTo>
                    <a:pt x="145" y="230"/>
                  </a:lnTo>
                  <a:lnTo>
                    <a:pt x="145" y="230"/>
                  </a:lnTo>
                  <a:lnTo>
                    <a:pt x="145" y="230"/>
                  </a:lnTo>
                  <a:lnTo>
                    <a:pt x="145" y="230"/>
                  </a:lnTo>
                  <a:lnTo>
                    <a:pt x="145" y="230"/>
                  </a:lnTo>
                  <a:lnTo>
                    <a:pt x="147" y="230"/>
                  </a:lnTo>
                  <a:lnTo>
                    <a:pt x="147" y="230"/>
                  </a:lnTo>
                  <a:lnTo>
                    <a:pt x="147" y="232"/>
                  </a:lnTo>
                  <a:lnTo>
                    <a:pt x="147" y="232"/>
                  </a:lnTo>
                  <a:lnTo>
                    <a:pt x="147" y="232"/>
                  </a:lnTo>
                  <a:lnTo>
                    <a:pt x="147" y="234"/>
                  </a:lnTo>
                  <a:lnTo>
                    <a:pt x="147" y="234"/>
                  </a:lnTo>
                  <a:lnTo>
                    <a:pt x="147" y="234"/>
                  </a:lnTo>
                  <a:lnTo>
                    <a:pt x="147" y="234"/>
                  </a:lnTo>
                  <a:lnTo>
                    <a:pt x="147" y="234"/>
                  </a:lnTo>
                  <a:lnTo>
                    <a:pt x="147" y="234"/>
                  </a:lnTo>
                  <a:lnTo>
                    <a:pt x="145" y="236"/>
                  </a:lnTo>
                  <a:lnTo>
                    <a:pt x="145" y="236"/>
                  </a:lnTo>
                  <a:lnTo>
                    <a:pt x="145" y="238"/>
                  </a:lnTo>
                  <a:lnTo>
                    <a:pt x="143" y="238"/>
                  </a:lnTo>
                  <a:lnTo>
                    <a:pt x="143" y="240"/>
                  </a:lnTo>
                  <a:lnTo>
                    <a:pt x="143" y="242"/>
                  </a:lnTo>
                  <a:lnTo>
                    <a:pt x="143" y="242"/>
                  </a:lnTo>
                  <a:lnTo>
                    <a:pt x="143" y="242"/>
                  </a:lnTo>
                  <a:lnTo>
                    <a:pt x="143" y="242"/>
                  </a:lnTo>
                  <a:lnTo>
                    <a:pt x="141" y="243"/>
                  </a:lnTo>
                  <a:lnTo>
                    <a:pt x="141" y="243"/>
                  </a:lnTo>
                  <a:lnTo>
                    <a:pt x="141" y="243"/>
                  </a:lnTo>
                  <a:lnTo>
                    <a:pt x="141" y="243"/>
                  </a:lnTo>
                  <a:lnTo>
                    <a:pt x="141" y="243"/>
                  </a:lnTo>
                  <a:lnTo>
                    <a:pt x="141" y="245"/>
                  </a:lnTo>
                  <a:lnTo>
                    <a:pt x="141" y="247"/>
                  </a:lnTo>
                  <a:lnTo>
                    <a:pt x="141" y="247"/>
                  </a:lnTo>
                  <a:lnTo>
                    <a:pt x="139" y="247"/>
                  </a:lnTo>
                  <a:lnTo>
                    <a:pt x="139" y="247"/>
                  </a:lnTo>
                  <a:lnTo>
                    <a:pt x="139" y="247"/>
                  </a:lnTo>
                  <a:lnTo>
                    <a:pt x="139" y="247"/>
                  </a:lnTo>
                  <a:lnTo>
                    <a:pt x="139" y="249"/>
                  </a:lnTo>
                  <a:lnTo>
                    <a:pt x="139" y="249"/>
                  </a:lnTo>
                  <a:lnTo>
                    <a:pt x="137" y="249"/>
                  </a:lnTo>
                  <a:lnTo>
                    <a:pt x="137" y="249"/>
                  </a:lnTo>
                  <a:lnTo>
                    <a:pt x="137" y="249"/>
                  </a:lnTo>
                  <a:lnTo>
                    <a:pt x="135" y="249"/>
                  </a:lnTo>
                  <a:lnTo>
                    <a:pt x="135" y="249"/>
                  </a:lnTo>
                  <a:lnTo>
                    <a:pt x="133" y="249"/>
                  </a:lnTo>
                  <a:lnTo>
                    <a:pt x="133" y="249"/>
                  </a:lnTo>
                  <a:lnTo>
                    <a:pt x="133" y="251"/>
                  </a:lnTo>
                  <a:lnTo>
                    <a:pt x="133" y="251"/>
                  </a:lnTo>
                  <a:lnTo>
                    <a:pt x="133" y="251"/>
                  </a:lnTo>
                  <a:lnTo>
                    <a:pt x="131" y="251"/>
                  </a:lnTo>
                  <a:lnTo>
                    <a:pt x="131" y="251"/>
                  </a:lnTo>
                  <a:lnTo>
                    <a:pt x="131" y="253"/>
                  </a:lnTo>
                  <a:lnTo>
                    <a:pt x="131" y="253"/>
                  </a:lnTo>
                  <a:lnTo>
                    <a:pt x="131" y="253"/>
                  </a:lnTo>
                  <a:lnTo>
                    <a:pt x="131" y="253"/>
                  </a:lnTo>
                  <a:lnTo>
                    <a:pt x="131" y="253"/>
                  </a:lnTo>
                  <a:lnTo>
                    <a:pt x="130" y="253"/>
                  </a:lnTo>
                  <a:lnTo>
                    <a:pt x="130" y="255"/>
                  </a:lnTo>
                  <a:lnTo>
                    <a:pt x="130" y="255"/>
                  </a:lnTo>
                  <a:lnTo>
                    <a:pt x="130" y="255"/>
                  </a:lnTo>
                  <a:lnTo>
                    <a:pt x="128" y="255"/>
                  </a:lnTo>
                  <a:lnTo>
                    <a:pt x="128" y="255"/>
                  </a:lnTo>
                  <a:lnTo>
                    <a:pt x="128" y="255"/>
                  </a:lnTo>
                  <a:lnTo>
                    <a:pt x="128" y="255"/>
                  </a:lnTo>
                  <a:lnTo>
                    <a:pt x="128" y="255"/>
                  </a:lnTo>
                  <a:lnTo>
                    <a:pt x="124" y="255"/>
                  </a:lnTo>
                  <a:lnTo>
                    <a:pt x="122" y="255"/>
                  </a:lnTo>
                  <a:lnTo>
                    <a:pt x="120" y="257"/>
                  </a:lnTo>
                  <a:lnTo>
                    <a:pt x="120" y="257"/>
                  </a:lnTo>
                  <a:lnTo>
                    <a:pt x="120" y="257"/>
                  </a:lnTo>
                  <a:lnTo>
                    <a:pt x="120" y="257"/>
                  </a:lnTo>
                  <a:lnTo>
                    <a:pt x="118" y="257"/>
                  </a:lnTo>
                  <a:lnTo>
                    <a:pt x="118" y="257"/>
                  </a:lnTo>
                  <a:lnTo>
                    <a:pt x="118" y="259"/>
                  </a:lnTo>
                  <a:lnTo>
                    <a:pt x="116" y="257"/>
                  </a:lnTo>
                  <a:lnTo>
                    <a:pt x="114" y="259"/>
                  </a:lnTo>
                  <a:lnTo>
                    <a:pt x="114" y="259"/>
                  </a:lnTo>
                  <a:lnTo>
                    <a:pt x="114" y="259"/>
                  </a:lnTo>
                  <a:lnTo>
                    <a:pt x="112" y="261"/>
                  </a:lnTo>
                  <a:lnTo>
                    <a:pt x="111" y="261"/>
                  </a:lnTo>
                  <a:lnTo>
                    <a:pt x="111" y="262"/>
                  </a:lnTo>
                  <a:lnTo>
                    <a:pt x="111" y="262"/>
                  </a:lnTo>
                  <a:lnTo>
                    <a:pt x="111" y="262"/>
                  </a:lnTo>
                  <a:lnTo>
                    <a:pt x="109" y="266"/>
                  </a:lnTo>
                  <a:lnTo>
                    <a:pt x="109" y="266"/>
                  </a:lnTo>
                  <a:lnTo>
                    <a:pt x="105" y="270"/>
                  </a:lnTo>
                  <a:lnTo>
                    <a:pt x="105" y="272"/>
                  </a:lnTo>
                  <a:lnTo>
                    <a:pt x="105" y="272"/>
                  </a:lnTo>
                  <a:lnTo>
                    <a:pt x="105" y="272"/>
                  </a:lnTo>
                  <a:lnTo>
                    <a:pt x="105" y="272"/>
                  </a:lnTo>
                  <a:lnTo>
                    <a:pt x="107" y="274"/>
                  </a:lnTo>
                  <a:lnTo>
                    <a:pt x="107" y="274"/>
                  </a:lnTo>
                  <a:lnTo>
                    <a:pt x="107" y="276"/>
                  </a:lnTo>
                  <a:lnTo>
                    <a:pt x="107" y="276"/>
                  </a:lnTo>
                  <a:lnTo>
                    <a:pt x="105" y="282"/>
                  </a:lnTo>
                  <a:lnTo>
                    <a:pt x="103" y="283"/>
                  </a:lnTo>
                  <a:lnTo>
                    <a:pt x="103" y="283"/>
                  </a:lnTo>
                  <a:lnTo>
                    <a:pt x="103" y="283"/>
                  </a:lnTo>
                  <a:lnTo>
                    <a:pt x="103" y="283"/>
                  </a:lnTo>
                  <a:lnTo>
                    <a:pt x="103" y="283"/>
                  </a:lnTo>
                  <a:lnTo>
                    <a:pt x="103" y="283"/>
                  </a:lnTo>
                  <a:lnTo>
                    <a:pt x="103" y="283"/>
                  </a:lnTo>
                  <a:lnTo>
                    <a:pt x="101" y="282"/>
                  </a:lnTo>
                  <a:lnTo>
                    <a:pt x="101" y="282"/>
                  </a:lnTo>
                  <a:lnTo>
                    <a:pt x="101" y="282"/>
                  </a:lnTo>
                  <a:lnTo>
                    <a:pt x="101" y="282"/>
                  </a:lnTo>
                  <a:lnTo>
                    <a:pt x="101" y="282"/>
                  </a:lnTo>
                  <a:lnTo>
                    <a:pt x="101" y="282"/>
                  </a:lnTo>
                  <a:lnTo>
                    <a:pt x="101" y="282"/>
                  </a:lnTo>
                  <a:lnTo>
                    <a:pt x="101" y="282"/>
                  </a:lnTo>
                  <a:lnTo>
                    <a:pt x="99" y="282"/>
                  </a:lnTo>
                  <a:lnTo>
                    <a:pt x="99" y="282"/>
                  </a:lnTo>
                  <a:lnTo>
                    <a:pt x="97" y="282"/>
                  </a:lnTo>
                  <a:lnTo>
                    <a:pt x="97" y="282"/>
                  </a:lnTo>
                  <a:lnTo>
                    <a:pt x="95" y="282"/>
                  </a:lnTo>
                  <a:lnTo>
                    <a:pt x="95" y="283"/>
                  </a:lnTo>
                  <a:lnTo>
                    <a:pt x="95" y="283"/>
                  </a:lnTo>
                  <a:lnTo>
                    <a:pt x="93" y="283"/>
                  </a:lnTo>
                  <a:lnTo>
                    <a:pt x="93" y="283"/>
                  </a:lnTo>
                  <a:lnTo>
                    <a:pt x="91" y="282"/>
                  </a:lnTo>
                  <a:lnTo>
                    <a:pt x="91" y="282"/>
                  </a:lnTo>
                  <a:lnTo>
                    <a:pt x="91" y="282"/>
                  </a:lnTo>
                  <a:lnTo>
                    <a:pt x="91" y="282"/>
                  </a:lnTo>
                  <a:lnTo>
                    <a:pt x="88" y="283"/>
                  </a:lnTo>
                  <a:lnTo>
                    <a:pt x="88" y="283"/>
                  </a:lnTo>
                  <a:lnTo>
                    <a:pt x="88" y="283"/>
                  </a:lnTo>
                  <a:lnTo>
                    <a:pt x="88" y="283"/>
                  </a:lnTo>
                  <a:lnTo>
                    <a:pt x="88" y="283"/>
                  </a:lnTo>
                  <a:lnTo>
                    <a:pt x="88" y="285"/>
                  </a:lnTo>
                  <a:lnTo>
                    <a:pt x="88" y="285"/>
                  </a:lnTo>
                  <a:lnTo>
                    <a:pt x="88" y="285"/>
                  </a:lnTo>
                  <a:lnTo>
                    <a:pt x="86" y="287"/>
                  </a:lnTo>
                  <a:lnTo>
                    <a:pt x="86" y="287"/>
                  </a:lnTo>
                  <a:lnTo>
                    <a:pt x="86" y="287"/>
                  </a:lnTo>
                  <a:lnTo>
                    <a:pt x="86" y="287"/>
                  </a:lnTo>
                  <a:lnTo>
                    <a:pt x="86" y="289"/>
                  </a:lnTo>
                  <a:lnTo>
                    <a:pt x="86" y="291"/>
                  </a:lnTo>
                  <a:lnTo>
                    <a:pt x="86" y="291"/>
                  </a:lnTo>
                  <a:lnTo>
                    <a:pt x="86" y="293"/>
                  </a:lnTo>
                  <a:lnTo>
                    <a:pt x="86" y="293"/>
                  </a:lnTo>
                  <a:lnTo>
                    <a:pt x="86" y="293"/>
                  </a:lnTo>
                  <a:lnTo>
                    <a:pt x="86" y="293"/>
                  </a:lnTo>
                  <a:lnTo>
                    <a:pt x="86" y="293"/>
                  </a:lnTo>
                  <a:lnTo>
                    <a:pt x="86" y="295"/>
                  </a:lnTo>
                  <a:lnTo>
                    <a:pt x="86" y="297"/>
                  </a:lnTo>
                  <a:lnTo>
                    <a:pt x="86" y="299"/>
                  </a:lnTo>
                  <a:lnTo>
                    <a:pt x="86" y="299"/>
                  </a:lnTo>
                  <a:lnTo>
                    <a:pt x="86" y="299"/>
                  </a:lnTo>
                  <a:lnTo>
                    <a:pt x="84" y="301"/>
                  </a:lnTo>
                  <a:lnTo>
                    <a:pt x="84" y="302"/>
                  </a:lnTo>
                  <a:lnTo>
                    <a:pt x="82" y="304"/>
                  </a:lnTo>
                  <a:lnTo>
                    <a:pt x="82" y="304"/>
                  </a:lnTo>
                  <a:lnTo>
                    <a:pt x="82" y="304"/>
                  </a:lnTo>
                  <a:lnTo>
                    <a:pt x="84" y="306"/>
                  </a:lnTo>
                  <a:lnTo>
                    <a:pt x="88" y="312"/>
                  </a:lnTo>
                  <a:lnTo>
                    <a:pt x="88" y="314"/>
                  </a:lnTo>
                  <a:lnTo>
                    <a:pt x="88" y="314"/>
                  </a:lnTo>
                  <a:lnTo>
                    <a:pt x="90" y="316"/>
                  </a:lnTo>
                  <a:lnTo>
                    <a:pt x="90" y="316"/>
                  </a:lnTo>
                  <a:lnTo>
                    <a:pt x="91" y="323"/>
                  </a:lnTo>
                  <a:lnTo>
                    <a:pt x="91" y="325"/>
                  </a:lnTo>
                  <a:lnTo>
                    <a:pt x="91" y="329"/>
                  </a:lnTo>
                  <a:lnTo>
                    <a:pt x="91" y="329"/>
                  </a:lnTo>
                  <a:lnTo>
                    <a:pt x="91" y="331"/>
                  </a:lnTo>
                  <a:lnTo>
                    <a:pt x="91" y="331"/>
                  </a:lnTo>
                  <a:lnTo>
                    <a:pt x="91" y="333"/>
                  </a:lnTo>
                  <a:lnTo>
                    <a:pt x="93" y="339"/>
                  </a:lnTo>
                  <a:lnTo>
                    <a:pt x="93" y="344"/>
                  </a:lnTo>
                  <a:lnTo>
                    <a:pt x="93" y="346"/>
                  </a:lnTo>
                  <a:lnTo>
                    <a:pt x="93" y="346"/>
                  </a:lnTo>
                  <a:lnTo>
                    <a:pt x="93" y="346"/>
                  </a:lnTo>
                  <a:lnTo>
                    <a:pt x="99" y="356"/>
                  </a:lnTo>
                  <a:lnTo>
                    <a:pt x="99" y="359"/>
                  </a:lnTo>
                  <a:lnTo>
                    <a:pt x="97" y="367"/>
                  </a:lnTo>
                  <a:lnTo>
                    <a:pt x="99" y="371"/>
                  </a:lnTo>
                  <a:lnTo>
                    <a:pt x="99" y="373"/>
                  </a:lnTo>
                  <a:lnTo>
                    <a:pt x="101" y="375"/>
                  </a:lnTo>
                  <a:lnTo>
                    <a:pt x="101" y="377"/>
                  </a:lnTo>
                  <a:lnTo>
                    <a:pt x="101" y="379"/>
                  </a:lnTo>
                  <a:lnTo>
                    <a:pt x="101" y="380"/>
                  </a:lnTo>
                  <a:lnTo>
                    <a:pt x="99" y="384"/>
                  </a:lnTo>
                  <a:lnTo>
                    <a:pt x="99" y="384"/>
                  </a:lnTo>
                  <a:lnTo>
                    <a:pt x="99" y="386"/>
                  </a:lnTo>
                  <a:lnTo>
                    <a:pt x="99" y="386"/>
                  </a:lnTo>
                  <a:lnTo>
                    <a:pt x="99" y="388"/>
                  </a:lnTo>
                  <a:lnTo>
                    <a:pt x="101" y="390"/>
                  </a:lnTo>
                  <a:lnTo>
                    <a:pt x="103" y="392"/>
                  </a:lnTo>
                  <a:lnTo>
                    <a:pt x="103" y="394"/>
                  </a:lnTo>
                  <a:lnTo>
                    <a:pt x="105" y="396"/>
                  </a:lnTo>
                  <a:lnTo>
                    <a:pt x="105" y="398"/>
                  </a:lnTo>
                  <a:lnTo>
                    <a:pt x="105" y="398"/>
                  </a:lnTo>
                  <a:lnTo>
                    <a:pt x="103" y="399"/>
                  </a:lnTo>
                  <a:lnTo>
                    <a:pt x="103" y="399"/>
                  </a:lnTo>
                  <a:lnTo>
                    <a:pt x="103" y="399"/>
                  </a:lnTo>
                  <a:lnTo>
                    <a:pt x="103" y="401"/>
                  </a:lnTo>
                  <a:lnTo>
                    <a:pt x="103" y="403"/>
                  </a:lnTo>
                  <a:lnTo>
                    <a:pt x="103" y="405"/>
                  </a:lnTo>
                  <a:lnTo>
                    <a:pt x="103" y="405"/>
                  </a:lnTo>
                  <a:lnTo>
                    <a:pt x="103" y="407"/>
                  </a:lnTo>
                  <a:lnTo>
                    <a:pt x="103" y="407"/>
                  </a:lnTo>
                  <a:lnTo>
                    <a:pt x="103" y="407"/>
                  </a:lnTo>
                  <a:lnTo>
                    <a:pt x="103" y="407"/>
                  </a:lnTo>
                  <a:lnTo>
                    <a:pt x="103" y="407"/>
                  </a:lnTo>
                  <a:lnTo>
                    <a:pt x="101" y="409"/>
                  </a:lnTo>
                  <a:lnTo>
                    <a:pt x="101" y="411"/>
                  </a:lnTo>
                  <a:lnTo>
                    <a:pt x="99" y="413"/>
                  </a:lnTo>
                  <a:lnTo>
                    <a:pt x="99" y="415"/>
                  </a:lnTo>
                  <a:lnTo>
                    <a:pt x="99" y="417"/>
                  </a:lnTo>
                  <a:lnTo>
                    <a:pt x="99" y="418"/>
                  </a:lnTo>
                  <a:lnTo>
                    <a:pt x="101" y="418"/>
                  </a:lnTo>
                  <a:lnTo>
                    <a:pt x="101" y="420"/>
                  </a:lnTo>
                  <a:lnTo>
                    <a:pt x="101" y="420"/>
                  </a:lnTo>
                  <a:lnTo>
                    <a:pt x="101" y="422"/>
                  </a:lnTo>
                  <a:lnTo>
                    <a:pt x="101" y="424"/>
                  </a:lnTo>
                  <a:lnTo>
                    <a:pt x="101" y="426"/>
                  </a:lnTo>
                  <a:lnTo>
                    <a:pt x="101" y="428"/>
                  </a:lnTo>
                  <a:lnTo>
                    <a:pt x="101" y="430"/>
                  </a:lnTo>
                  <a:lnTo>
                    <a:pt x="101" y="430"/>
                  </a:lnTo>
                  <a:lnTo>
                    <a:pt x="101" y="430"/>
                  </a:lnTo>
                  <a:lnTo>
                    <a:pt x="99" y="430"/>
                  </a:lnTo>
                  <a:lnTo>
                    <a:pt x="99" y="430"/>
                  </a:lnTo>
                  <a:lnTo>
                    <a:pt x="99" y="430"/>
                  </a:lnTo>
                  <a:lnTo>
                    <a:pt x="99" y="430"/>
                  </a:lnTo>
                  <a:lnTo>
                    <a:pt x="99" y="432"/>
                  </a:lnTo>
                  <a:lnTo>
                    <a:pt x="99" y="432"/>
                  </a:lnTo>
                  <a:lnTo>
                    <a:pt x="99" y="432"/>
                  </a:lnTo>
                  <a:lnTo>
                    <a:pt x="101" y="432"/>
                  </a:lnTo>
                  <a:lnTo>
                    <a:pt x="101" y="432"/>
                  </a:lnTo>
                  <a:lnTo>
                    <a:pt x="101" y="432"/>
                  </a:lnTo>
                  <a:lnTo>
                    <a:pt x="101" y="432"/>
                  </a:lnTo>
                  <a:lnTo>
                    <a:pt x="101" y="432"/>
                  </a:lnTo>
                  <a:lnTo>
                    <a:pt x="103" y="432"/>
                  </a:lnTo>
                  <a:lnTo>
                    <a:pt x="103" y="432"/>
                  </a:lnTo>
                  <a:lnTo>
                    <a:pt x="103" y="432"/>
                  </a:lnTo>
                  <a:lnTo>
                    <a:pt x="103" y="434"/>
                  </a:lnTo>
                  <a:lnTo>
                    <a:pt x="103" y="434"/>
                  </a:lnTo>
                  <a:lnTo>
                    <a:pt x="105" y="434"/>
                  </a:lnTo>
                  <a:lnTo>
                    <a:pt x="105" y="436"/>
                  </a:lnTo>
                  <a:lnTo>
                    <a:pt x="107" y="436"/>
                  </a:lnTo>
                  <a:lnTo>
                    <a:pt x="107" y="437"/>
                  </a:lnTo>
                  <a:lnTo>
                    <a:pt x="105" y="439"/>
                  </a:lnTo>
                  <a:lnTo>
                    <a:pt x="105" y="439"/>
                  </a:lnTo>
                  <a:lnTo>
                    <a:pt x="105" y="441"/>
                  </a:lnTo>
                  <a:lnTo>
                    <a:pt x="103" y="443"/>
                  </a:lnTo>
                  <a:lnTo>
                    <a:pt x="105" y="445"/>
                  </a:lnTo>
                  <a:lnTo>
                    <a:pt x="109" y="447"/>
                  </a:lnTo>
                  <a:lnTo>
                    <a:pt x="112" y="449"/>
                  </a:lnTo>
                  <a:lnTo>
                    <a:pt x="116" y="451"/>
                  </a:lnTo>
                  <a:lnTo>
                    <a:pt x="116" y="453"/>
                  </a:lnTo>
                  <a:lnTo>
                    <a:pt x="118" y="455"/>
                  </a:lnTo>
                  <a:lnTo>
                    <a:pt x="120" y="455"/>
                  </a:lnTo>
                  <a:lnTo>
                    <a:pt x="122" y="455"/>
                  </a:lnTo>
                  <a:lnTo>
                    <a:pt x="122" y="455"/>
                  </a:lnTo>
                  <a:lnTo>
                    <a:pt x="122" y="455"/>
                  </a:lnTo>
                  <a:lnTo>
                    <a:pt x="124" y="455"/>
                  </a:lnTo>
                  <a:lnTo>
                    <a:pt x="124" y="455"/>
                  </a:lnTo>
                  <a:lnTo>
                    <a:pt x="126" y="455"/>
                  </a:lnTo>
                  <a:lnTo>
                    <a:pt x="126" y="453"/>
                  </a:lnTo>
                  <a:lnTo>
                    <a:pt x="130" y="453"/>
                  </a:lnTo>
                  <a:lnTo>
                    <a:pt x="131" y="455"/>
                  </a:lnTo>
                  <a:lnTo>
                    <a:pt x="133" y="455"/>
                  </a:lnTo>
                  <a:lnTo>
                    <a:pt x="133" y="455"/>
                  </a:lnTo>
                  <a:lnTo>
                    <a:pt x="133" y="456"/>
                  </a:lnTo>
                  <a:lnTo>
                    <a:pt x="133" y="456"/>
                  </a:lnTo>
                  <a:lnTo>
                    <a:pt x="133" y="456"/>
                  </a:lnTo>
                  <a:lnTo>
                    <a:pt x="135" y="460"/>
                  </a:lnTo>
                  <a:lnTo>
                    <a:pt x="137" y="460"/>
                  </a:lnTo>
                  <a:lnTo>
                    <a:pt x="168" y="475"/>
                  </a:lnTo>
                  <a:lnTo>
                    <a:pt x="168" y="475"/>
                  </a:lnTo>
                  <a:lnTo>
                    <a:pt x="166" y="477"/>
                  </a:lnTo>
                  <a:lnTo>
                    <a:pt x="168" y="479"/>
                  </a:lnTo>
                  <a:lnTo>
                    <a:pt x="168" y="481"/>
                  </a:lnTo>
                  <a:lnTo>
                    <a:pt x="170" y="483"/>
                  </a:lnTo>
                  <a:lnTo>
                    <a:pt x="171" y="483"/>
                  </a:lnTo>
                  <a:lnTo>
                    <a:pt x="173" y="483"/>
                  </a:lnTo>
                  <a:lnTo>
                    <a:pt x="177" y="481"/>
                  </a:lnTo>
                  <a:lnTo>
                    <a:pt x="179" y="479"/>
                  </a:lnTo>
                  <a:lnTo>
                    <a:pt x="179" y="481"/>
                  </a:lnTo>
                  <a:lnTo>
                    <a:pt x="183" y="483"/>
                  </a:lnTo>
                  <a:lnTo>
                    <a:pt x="185" y="485"/>
                  </a:lnTo>
                  <a:lnTo>
                    <a:pt x="187" y="485"/>
                  </a:lnTo>
                  <a:lnTo>
                    <a:pt x="191" y="483"/>
                  </a:lnTo>
                  <a:lnTo>
                    <a:pt x="192" y="483"/>
                  </a:lnTo>
                  <a:lnTo>
                    <a:pt x="194" y="481"/>
                  </a:lnTo>
                  <a:lnTo>
                    <a:pt x="196" y="481"/>
                  </a:lnTo>
                  <a:lnTo>
                    <a:pt x="196" y="479"/>
                  </a:lnTo>
                  <a:lnTo>
                    <a:pt x="196" y="475"/>
                  </a:lnTo>
                  <a:lnTo>
                    <a:pt x="198" y="475"/>
                  </a:lnTo>
                  <a:lnTo>
                    <a:pt x="200" y="474"/>
                  </a:lnTo>
                  <a:lnTo>
                    <a:pt x="202" y="475"/>
                  </a:lnTo>
                  <a:lnTo>
                    <a:pt x="202" y="477"/>
                  </a:lnTo>
                  <a:lnTo>
                    <a:pt x="200" y="479"/>
                  </a:lnTo>
                  <a:lnTo>
                    <a:pt x="198" y="485"/>
                  </a:lnTo>
                  <a:lnTo>
                    <a:pt x="198" y="487"/>
                  </a:lnTo>
                  <a:lnTo>
                    <a:pt x="198" y="489"/>
                  </a:lnTo>
                  <a:lnTo>
                    <a:pt x="198" y="495"/>
                  </a:lnTo>
                  <a:lnTo>
                    <a:pt x="198" y="496"/>
                  </a:lnTo>
                  <a:lnTo>
                    <a:pt x="198" y="498"/>
                  </a:lnTo>
                  <a:lnTo>
                    <a:pt x="196" y="500"/>
                  </a:lnTo>
                  <a:lnTo>
                    <a:pt x="196" y="502"/>
                  </a:lnTo>
                  <a:lnTo>
                    <a:pt x="196" y="504"/>
                  </a:lnTo>
                  <a:lnTo>
                    <a:pt x="198" y="512"/>
                  </a:lnTo>
                  <a:lnTo>
                    <a:pt x="202" y="515"/>
                  </a:lnTo>
                  <a:lnTo>
                    <a:pt x="206" y="515"/>
                  </a:lnTo>
                  <a:lnTo>
                    <a:pt x="208" y="515"/>
                  </a:lnTo>
                  <a:lnTo>
                    <a:pt x="211" y="514"/>
                  </a:lnTo>
                  <a:lnTo>
                    <a:pt x="215" y="514"/>
                  </a:lnTo>
                  <a:lnTo>
                    <a:pt x="221" y="517"/>
                  </a:lnTo>
                  <a:lnTo>
                    <a:pt x="225" y="517"/>
                  </a:lnTo>
                  <a:lnTo>
                    <a:pt x="229" y="515"/>
                  </a:lnTo>
                  <a:lnTo>
                    <a:pt x="232" y="515"/>
                  </a:lnTo>
                  <a:lnTo>
                    <a:pt x="234" y="515"/>
                  </a:lnTo>
                  <a:lnTo>
                    <a:pt x="238" y="519"/>
                  </a:lnTo>
                  <a:lnTo>
                    <a:pt x="242" y="521"/>
                  </a:lnTo>
                  <a:lnTo>
                    <a:pt x="248" y="523"/>
                  </a:lnTo>
                  <a:lnTo>
                    <a:pt x="252" y="525"/>
                  </a:lnTo>
                  <a:lnTo>
                    <a:pt x="257" y="531"/>
                  </a:lnTo>
                  <a:lnTo>
                    <a:pt x="261" y="529"/>
                  </a:lnTo>
                  <a:lnTo>
                    <a:pt x="267" y="529"/>
                  </a:lnTo>
                  <a:lnTo>
                    <a:pt x="269" y="529"/>
                  </a:lnTo>
                  <a:lnTo>
                    <a:pt x="269" y="527"/>
                  </a:lnTo>
                  <a:lnTo>
                    <a:pt x="271" y="527"/>
                  </a:lnTo>
                  <a:lnTo>
                    <a:pt x="271" y="527"/>
                  </a:lnTo>
                  <a:lnTo>
                    <a:pt x="271" y="527"/>
                  </a:lnTo>
                  <a:lnTo>
                    <a:pt x="271" y="529"/>
                  </a:lnTo>
                  <a:lnTo>
                    <a:pt x="271" y="531"/>
                  </a:lnTo>
                  <a:lnTo>
                    <a:pt x="272" y="531"/>
                  </a:lnTo>
                  <a:lnTo>
                    <a:pt x="272" y="531"/>
                  </a:lnTo>
                  <a:lnTo>
                    <a:pt x="274" y="533"/>
                  </a:lnTo>
                  <a:lnTo>
                    <a:pt x="274" y="533"/>
                  </a:lnTo>
                  <a:lnTo>
                    <a:pt x="276" y="533"/>
                  </a:lnTo>
                  <a:lnTo>
                    <a:pt x="280" y="529"/>
                  </a:lnTo>
                  <a:lnTo>
                    <a:pt x="284" y="525"/>
                  </a:lnTo>
                  <a:lnTo>
                    <a:pt x="286" y="523"/>
                  </a:lnTo>
                  <a:lnTo>
                    <a:pt x="293" y="523"/>
                  </a:lnTo>
                  <a:lnTo>
                    <a:pt x="295" y="521"/>
                  </a:lnTo>
                  <a:lnTo>
                    <a:pt x="295" y="521"/>
                  </a:lnTo>
                  <a:lnTo>
                    <a:pt x="297" y="519"/>
                  </a:lnTo>
                  <a:lnTo>
                    <a:pt x="297" y="519"/>
                  </a:lnTo>
                  <a:lnTo>
                    <a:pt x="297" y="519"/>
                  </a:lnTo>
                  <a:lnTo>
                    <a:pt x="299" y="515"/>
                  </a:lnTo>
                  <a:lnTo>
                    <a:pt x="299" y="515"/>
                  </a:lnTo>
                  <a:lnTo>
                    <a:pt x="303" y="514"/>
                  </a:lnTo>
                  <a:lnTo>
                    <a:pt x="305" y="512"/>
                  </a:lnTo>
                  <a:lnTo>
                    <a:pt x="307" y="512"/>
                  </a:lnTo>
                  <a:lnTo>
                    <a:pt x="307" y="512"/>
                  </a:lnTo>
                  <a:lnTo>
                    <a:pt x="309" y="510"/>
                  </a:lnTo>
                  <a:lnTo>
                    <a:pt x="309" y="508"/>
                  </a:lnTo>
                  <a:lnTo>
                    <a:pt x="311" y="506"/>
                  </a:lnTo>
                  <a:lnTo>
                    <a:pt x="311" y="504"/>
                  </a:lnTo>
                  <a:lnTo>
                    <a:pt x="312" y="500"/>
                  </a:lnTo>
                  <a:lnTo>
                    <a:pt x="314" y="500"/>
                  </a:lnTo>
                  <a:lnTo>
                    <a:pt x="314" y="498"/>
                  </a:lnTo>
                  <a:lnTo>
                    <a:pt x="316" y="498"/>
                  </a:lnTo>
                  <a:lnTo>
                    <a:pt x="316" y="496"/>
                  </a:lnTo>
                  <a:lnTo>
                    <a:pt x="316" y="496"/>
                  </a:lnTo>
                  <a:lnTo>
                    <a:pt x="316" y="495"/>
                  </a:lnTo>
                  <a:lnTo>
                    <a:pt x="314" y="491"/>
                  </a:lnTo>
                  <a:lnTo>
                    <a:pt x="314" y="489"/>
                  </a:lnTo>
                  <a:lnTo>
                    <a:pt x="314" y="485"/>
                  </a:lnTo>
                  <a:lnTo>
                    <a:pt x="314" y="483"/>
                  </a:lnTo>
                  <a:lnTo>
                    <a:pt x="314" y="483"/>
                  </a:lnTo>
                  <a:lnTo>
                    <a:pt x="314" y="481"/>
                  </a:lnTo>
                  <a:lnTo>
                    <a:pt x="314" y="481"/>
                  </a:lnTo>
                  <a:lnTo>
                    <a:pt x="312" y="479"/>
                  </a:lnTo>
                  <a:lnTo>
                    <a:pt x="312" y="477"/>
                  </a:lnTo>
                  <a:lnTo>
                    <a:pt x="311" y="477"/>
                  </a:lnTo>
                  <a:lnTo>
                    <a:pt x="311" y="475"/>
                  </a:lnTo>
                  <a:lnTo>
                    <a:pt x="309" y="474"/>
                  </a:lnTo>
                  <a:lnTo>
                    <a:pt x="307" y="472"/>
                  </a:lnTo>
                  <a:lnTo>
                    <a:pt x="305" y="470"/>
                  </a:lnTo>
                  <a:lnTo>
                    <a:pt x="305" y="468"/>
                  </a:lnTo>
                  <a:lnTo>
                    <a:pt x="305" y="466"/>
                  </a:lnTo>
                  <a:lnTo>
                    <a:pt x="305" y="466"/>
                  </a:lnTo>
                  <a:lnTo>
                    <a:pt x="305" y="464"/>
                  </a:lnTo>
                  <a:lnTo>
                    <a:pt x="307" y="464"/>
                  </a:lnTo>
                  <a:lnTo>
                    <a:pt x="309" y="462"/>
                  </a:lnTo>
                  <a:lnTo>
                    <a:pt x="309" y="462"/>
                  </a:lnTo>
                  <a:lnTo>
                    <a:pt x="311" y="464"/>
                  </a:lnTo>
                  <a:lnTo>
                    <a:pt x="312" y="464"/>
                  </a:lnTo>
                  <a:lnTo>
                    <a:pt x="314" y="464"/>
                  </a:lnTo>
                  <a:lnTo>
                    <a:pt x="314" y="464"/>
                  </a:lnTo>
                  <a:lnTo>
                    <a:pt x="314" y="466"/>
                  </a:lnTo>
                  <a:lnTo>
                    <a:pt x="316" y="468"/>
                  </a:lnTo>
                  <a:lnTo>
                    <a:pt x="318" y="468"/>
                  </a:lnTo>
                  <a:lnTo>
                    <a:pt x="318" y="468"/>
                  </a:lnTo>
                  <a:lnTo>
                    <a:pt x="320" y="466"/>
                  </a:lnTo>
                  <a:lnTo>
                    <a:pt x="328" y="460"/>
                  </a:lnTo>
                  <a:lnTo>
                    <a:pt x="330" y="458"/>
                  </a:lnTo>
                  <a:lnTo>
                    <a:pt x="330" y="456"/>
                  </a:lnTo>
                  <a:lnTo>
                    <a:pt x="332" y="455"/>
                  </a:lnTo>
                  <a:lnTo>
                    <a:pt x="337" y="453"/>
                  </a:lnTo>
                  <a:lnTo>
                    <a:pt x="341" y="453"/>
                  </a:lnTo>
                  <a:lnTo>
                    <a:pt x="343" y="451"/>
                  </a:lnTo>
                  <a:lnTo>
                    <a:pt x="345" y="449"/>
                  </a:lnTo>
                  <a:lnTo>
                    <a:pt x="347" y="447"/>
                  </a:lnTo>
                  <a:lnTo>
                    <a:pt x="347" y="445"/>
                  </a:lnTo>
                  <a:lnTo>
                    <a:pt x="349" y="443"/>
                  </a:lnTo>
                  <a:lnTo>
                    <a:pt x="349" y="443"/>
                  </a:lnTo>
                  <a:lnTo>
                    <a:pt x="349" y="441"/>
                  </a:lnTo>
                  <a:lnTo>
                    <a:pt x="351" y="441"/>
                  </a:lnTo>
                  <a:lnTo>
                    <a:pt x="354" y="437"/>
                  </a:lnTo>
                  <a:lnTo>
                    <a:pt x="358" y="436"/>
                  </a:lnTo>
                  <a:lnTo>
                    <a:pt x="370" y="434"/>
                  </a:lnTo>
                  <a:lnTo>
                    <a:pt x="373" y="432"/>
                  </a:lnTo>
                  <a:lnTo>
                    <a:pt x="373" y="432"/>
                  </a:lnTo>
                  <a:lnTo>
                    <a:pt x="379" y="436"/>
                  </a:lnTo>
                  <a:lnTo>
                    <a:pt x="381" y="436"/>
                  </a:lnTo>
                  <a:lnTo>
                    <a:pt x="391" y="436"/>
                  </a:lnTo>
                  <a:lnTo>
                    <a:pt x="393" y="436"/>
                  </a:lnTo>
                  <a:lnTo>
                    <a:pt x="394" y="436"/>
                  </a:lnTo>
                  <a:lnTo>
                    <a:pt x="398" y="443"/>
                  </a:lnTo>
                  <a:lnTo>
                    <a:pt x="400" y="443"/>
                  </a:lnTo>
                  <a:lnTo>
                    <a:pt x="406" y="449"/>
                  </a:lnTo>
                  <a:lnTo>
                    <a:pt x="408" y="451"/>
                  </a:lnTo>
                  <a:lnTo>
                    <a:pt x="410" y="453"/>
                  </a:lnTo>
                  <a:lnTo>
                    <a:pt x="412" y="455"/>
                  </a:lnTo>
                  <a:lnTo>
                    <a:pt x="415" y="456"/>
                  </a:lnTo>
                  <a:lnTo>
                    <a:pt x="423" y="462"/>
                  </a:lnTo>
                  <a:lnTo>
                    <a:pt x="427" y="464"/>
                  </a:lnTo>
                  <a:lnTo>
                    <a:pt x="434" y="468"/>
                  </a:lnTo>
                  <a:lnTo>
                    <a:pt x="448" y="472"/>
                  </a:lnTo>
                  <a:lnTo>
                    <a:pt x="450" y="472"/>
                  </a:lnTo>
                  <a:lnTo>
                    <a:pt x="450" y="470"/>
                  </a:lnTo>
                  <a:lnTo>
                    <a:pt x="450" y="470"/>
                  </a:lnTo>
                  <a:lnTo>
                    <a:pt x="452" y="470"/>
                  </a:lnTo>
                  <a:lnTo>
                    <a:pt x="452" y="468"/>
                  </a:lnTo>
                  <a:lnTo>
                    <a:pt x="455" y="468"/>
                  </a:lnTo>
                  <a:lnTo>
                    <a:pt x="459" y="468"/>
                  </a:lnTo>
                  <a:lnTo>
                    <a:pt x="461" y="466"/>
                  </a:lnTo>
                  <a:lnTo>
                    <a:pt x="465" y="466"/>
                  </a:lnTo>
                  <a:lnTo>
                    <a:pt x="467" y="466"/>
                  </a:lnTo>
                  <a:lnTo>
                    <a:pt x="467" y="464"/>
                  </a:lnTo>
                  <a:lnTo>
                    <a:pt x="469" y="464"/>
                  </a:lnTo>
                  <a:lnTo>
                    <a:pt x="471" y="460"/>
                  </a:lnTo>
                  <a:lnTo>
                    <a:pt x="473" y="460"/>
                  </a:lnTo>
                  <a:lnTo>
                    <a:pt x="473" y="460"/>
                  </a:lnTo>
                  <a:lnTo>
                    <a:pt x="474" y="460"/>
                  </a:lnTo>
                  <a:lnTo>
                    <a:pt x="474" y="458"/>
                  </a:lnTo>
                  <a:lnTo>
                    <a:pt x="476" y="458"/>
                  </a:lnTo>
                  <a:lnTo>
                    <a:pt x="476" y="456"/>
                  </a:lnTo>
                  <a:lnTo>
                    <a:pt x="476" y="456"/>
                  </a:lnTo>
                  <a:lnTo>
                    <a:pt x="478" y="456"/>
                  </a:lnTo>
                  <a:lnTo>
                    <a:pt x="480" y="455"/>
                  </a:lnTo>
                  <a:lnTo>
                    <a:pt x="480" y="455"/>
                  </a:lnTo>
                  <a:lnTo>
                    <a:pt x="482" y="455"/>
                  </a:lnTo>
                  <a:lnTo>
                    <a:pt x="482" y="456"/>
                  </a:lnTo>
                  <a:lnTo>
                    <a:pt x="484" y="458"/>
                  </a:lnTo>
                  <a:lnTo>
                    <a:pt x="486" y="460"/>
                  </a:lnTo>
                  <a:lnTo>
                    <a:pt x="492" y="466"/>
                  </a:lnTo>
                  <a:lnTo>
                    <a:pt x="494" y="470"/>
                  </a:lnTo>
                  <a:lnTo>
                    <a:pt x="497" y="477"/>
                  </a:lnTo>
                  <a:lnTo>
                    <a:pt x="499" y="479"/>
                  </a:lnTo>
                  <a:lnTo>
                    <a:pt x="499" y="481"/>
                  </a:lnTo>
                  <a:lnTo>
                    <a:pt x="501" y="483"/>
                  </a:lnTo>
                  <a:lnTo>
                    <a:pt x="501" y="489"/>
                  </a:lnTo>
                  <a:lnTo>
                    <a:pt x="501" y="491"/>
                  </a:lnTo>
                  <a:lnTo>
                    <a:pt x="503" y="491"/>
                  </a:lnTo>
                  <a:lnTo>
                    <a:pt x="505" y="495"/>
                  </a:lnTo>
                  <a:lnTo>
                    <a:pt x="505" y="495"/>
                  </a:lnTo>
                  <a:lnTo>
                    <a:pt x="507" y="496"/>
                  </a:lnTo>
                  <a:lnTo>
                    <a:pt x="507" y="498"/>
                  </a:lnTo>
                  <a:lnTo>
                    <a:pt x="509" y="500"/>
                  </a:lnTo>
                  <a:lnTo>
                    <a:pt x="511" y="500"/>
                  </a:lnTo>
                  <a:lnTo>
                    <a:pt x="513" y="498"/>
                  </a:lnTo>
                  <a:lnTo>
                    <a:pt x="514" y="496"/>
                  </a:lnTo>
                  <a:lnTo>
                    <a:pt x="514" y="496"/>
                  </a:lnTo>
                  <a:lnTo>
                    <a:pt x="514" y="496"/>
                  </a:lnTo>
                  <a:lnTo>
                    <a:pt x="516" y="495"/>
                  </a:lnTo>
                  <a:lnTo>
                    <a:pt x="516" y="495"/>
                  </a:lnTo>
                  <a:lnTo>
                    <a:pt x="516" y="495"/>
                  </a:lnTo>
                  <a:lnTo>
                    <a:pt x="518" y="493"/>
                  </a:lnTo>
                  <a:lnTo>
                    <a:pt x="520" y="493"/>
                  </a:lnTo>
                  <a:lnTo>
                    <a:pt x="522" y="493"/>
                  </a:lnTo>
                  <a:lnTo>
                    <a:pt x="524" y="491"/>
                  </a:lnTo>
                  <a:lnTo>
                    <a:pt x="524" y="491"/>
                  </a:lnTo>
                  <a:lnTo>
                    <a:pt x="526" y="491"/>
                  </a:lnTo>
                  <a:lnTo>
                    <a:pt x="528" y="491"/>
                  </a:lnTo>
                  <a:lnTo>
                    <a:pt x="530" y="491"/>
                  </a:lnTo>
                  <a:lnTo>
                    <a:pt x="530" y="491"/>
                  </a:lnTo>
                  <a:lnTo>
                    <a:pt x="532" y="489"/>
                  </a:lnTo>
                  <a:lnTo>
                    <a:pt x="534" y="487"/>
                  </a:lnTo>
                  <a:lnTo>
                    <a:pt x="535" y="487"/>
                  </a:lnTo>
                  <a:lnTo>
                    <a:pt x="535" y="485"/>
                  </a:lnTo>
                  <a:lnTo>
                    <a:pt x="537" y="485"/>
                  </a:lnTo>
                  <a:lnTo>
                    <a:pt x="535" y="483"/>
                  </a:lnTo>
                  <a:lnTo>
                    <a:pt x="537" y="483"/>
                  </a:lnTo>
                  <a:lnTo>
                    <a:pt x="537" y="483"/>
                  </a:lnTo>
                  <a:lnTo>
                    <a:pt x="537" y="483"/>
                  </a:lnTo>
                  <a:lnTo>
                    <a:pt x="539" y="481"/>
                  </a:lnTo>
                  <a:lnTo>
                    <a:pt x="541" y="483"/>
                  </a:lnTo>
                  <a:lnTo>
                    <a:pt x="541" y="483"/>
                  </a:lnTo>
                  <a:lnTo>
                    <a:pt x="541" y="483"/>
                  </a:lnTo>
                  <a:lnTo>
                    <a:pt x="541" y="483"/>
                  </a:lnTo>
                  <a:lnTo>
                    <a:pt x="543" y="487"/>
                  </a:lnTo>
                  <a:lnTo>
                    <a:pt x="543" y="489"/>
                  </a:lnTo>
                  <a:lnTo>
                    <a:pt x="543" y="489"/>
                  </a:lnTo>
                  <a:lnTo>
                    <a:pt x="543" y="493"/>
                  </a:lnTo>
                  <a:lnTo>
                    <a:pt x="541" y="495"/>
                  </a:lnTo>
                  <a:lnTo>
                    <a:pt x="541" y="495"/>
                  </a:lnTo>
                  <a:lnTo>
                    <a:pt x="541" y="496"/>
                  </a:lnTo>
                  <a:lnTo>
                    <a:pt x="541" y="496"/>
                  </a:lnTo>
                  <a:lnTo>
                    <a:pt x="537" y="498"/>
                  </a:lnTo>
                  <a:lnTo>
                    <a:pt x="535" y="500"/>
                  </a:lnTo>
                  <a:lnTo>
                    <a:pt x="535" y="500"/>
                  </a:lnTo>
                  <a:lnTo>
                    <a:pt x="535" y="502"/>
                  </a:lnTo>
                  <a:lnTo>
                    <a:pt x="534" y="504"/>
                  </a:lnTo>
                  <a:lnTo>
                    <a:pt x="534" y="506"/>
                  </a:lnTo>
                  <a:lnTo>
                    <a:pt x="534" y="508"/>
                  </a:lnTo>
                  <a:lnTo>
                    <a:pt x="532" y="510"/>
                  </a:lnTo>
                  <a:lnTo>
                    <a:pt x="532" y="512"/>
                  </a:lnTo>
                  <a:lnTo>
                    <a:pt x="532" y="512"/>
                  </a:lnTo>
                  <a:lnTo>
                    <a:pt x="534" y="514"/>
                  </a:lnTo>
                  <a:lnTo>
                    <a:pt x="534" y="514"/>
                  </a:lnTo>
                  <a:lnTo>
                    <a:pt x="535" y="515"/>
                  </a:lnTo>
                  <a:lnTo>
                    <a:pt x="535" y="515"/>
                  </a:lnTo>
                  <a:lnTo>
                    <a:pt x="541" y="510"/>
                  </a:lnTo>
                  <a:lnTo>
                    <a:pt x="543" y="508"/>
                  </a:lnTo>
                  <a:lnTo>
                    <a:pt x="543" y="506"/>
                  </a:lnTo>
                  <a:lnTo>
                    <a:pt x="545" y="506"/>
                  </a:lnTo>
                  <a:lnTo>
                    <a:pt x="549" y="504"/>
                  </a:lnTo>
                  <a:lnTo>
                    <a:pt x="562" y="504"/>
                  </a:lnTo>
                  <a:lnTo>
                    <a:pt x="566" y="502"/>
                  </a:lnTo>
                  <a:lnTo>
                    <a:pt x="568" y="502"/>
                  </a:lnTo>
                  <a:lnTo>
                    <a:pt x="568" y="500"/>
                  </a:lnTo>
                  <a:lnTo>
                    <a:pt x="572" y="496"/>
                  </a:lnTo>
                  <a:lnTo>
                    <a:pt x="574" y="496"/>
                  </a:lnTo>
                  <a:lnTo>
                    <a:pt x="575" y="496"/>
                  </a:lnTo>
                  <a:lnTo>
                    <a:pt x="577" y="498"/>
                  </a:lnTo>
                  <a:lnTo>
                    <a:pt x="575" y="500"/>
                  </a:lnTo>
                  <a:lnTo>
                    <a:pt x="575" y="502"/>
                  </a:lnTo>
                  <a:lnTo>
                    <a:pt x="575" y="504"/>
                  </a:lnTo>
                  <a:lnTo>
                    <a:pt x="575" y="506"/>
                  </a:lnTo>
                  <a:lnTo>
                    <a:pt x="577" y="512"/>
                  </a:lnTo>
                  <a:lnTo>
                    <a:pt x="579" y="515"/>
                  </a:lnTo>
                  <a:lnTo>
                    <a:pt x="587" y="523"/>
                  </a:lnTo>
                  <a:lnTo>
                    <a:pt x="589" y="525"/>
                  </a:lnTo>
                  <a:lnTo>
                    <a:pt x="591" y="527"/>
                  </a:lnTo>
                  <a:lnTo>
                    <a:pt x="595" y="529"/>
                  </a:lnTo>
                  <a:lnTo>
                    <a:pt x="596" y="527"/>
                  </a:lnTo>
                  <a:lnTo>
                    <a:pt x="598" y="527"/>
                  </a:lnTo>
                  <a:lnTo>
                    <a:pt x="600" y="525"/>
                  </a:lnTo>
                  <a:lnTo>
                    <a:pt x="602" y="525"/>
                  </a:lnTo>
                  <a:lnTo>
                    <a:pt x="604" y="525"/>
                  </a:lnTo>
                  <a:lnTo>
                    <a:pt x="606" y="525"/>
                  </a:lnTo>
                  <a:lnTo>
                    <a:pt x="606" y="525"/>
                  </a:lnTo>
                  <a:lnTo>
                    <a:pt x="608" y="523"/>
                  </a:lnTo>
                  <a:lnTo>
                    <a:pt x="610" y="517"/>
                  </a:lnTo>
                  <a:lnTo>
                    <a:pt x="610" y="515"/>
                  </a:lnTo>
                  <a:lnTo>
                    <a:pt x="612" y="514"/>
                  </a:lnTo>
                  <a:lnTo>
                    <a:pt x="614" y="512"/>
                  </a:lnTo>
                  <a:lnTo>
                    <a:pt x="617" y="512"/>
                  </a:lnTo>
                  <a:lnTo>
                    <a:pt x="619" y="510"/>
                  </a:lnTo>
                  <a:lnTo>
                    <a:pt x="621" y="512"/>
                  </a:lnTo>
                  <a:lnTo>
                    <a:pt x="623" y="512"/>
                  </a:lnTo>
                  <a:lnTo>
                    <a:pt x="625" y="512"/>
                  </a:lnTo>
                  <a:lnTo>
                    <a:pt x="627" y="512"/>
                  </a:lnTo>
                  <a:lnTo>
                    <a:pt x="631" y="508"/>
                  </a:lnTo>
                  <a:lnTo>
                    <a:pt x="640" y="500"/>
                  </a:lnTo>
                  <a:lnTo>
                    <a:pt x="644" y="496"/>
                  </a:lnTo>
                  <a:lnTo>
                    <a:pt x="646" y="493"/>
                  </a:lnTo>
                  <a:lnTo>
                    <a:pt x="646" y="489"/>
                  </a:lnTo>
                  <a:lnTo>
                    <a:pt x="646" y="485"/>
                  </a:lnTo>
                  <a:lnTo>
                    <a:pt x="644" y="481"/>
                  </a:lnTo>
                  <a:lnTo>
                    <a:pt x="640" y="479"/>
                  </a:lnTo>
                  <a:lnTo>
                    <a:pt x="640" y="475"/>
                  </a:lnTo>
                  <a:lnTo>
                    <a:pt x="640" y="472"/>
                  </a:lnTo>
                  <a:lnTo>
                    <a:pt x="638" y="470"/>
                  </a:lnTo>
                  <a:lnTo>
                    <a:pt x="633" y="464"/>
                  </a:lnTo>
                  <a:lnTo>
                    <a:pt x="631" y="462"/>
                  </a:lnTo>
                  <a:lnTo>
                    <a:pt x="631" y="456"/>
                  </a:lnTo>
                  <a:lnTo>
                    <a:pt x="631" y="455"/>
                  </a:lnTo>
                  <a:lnTo>
                    <a:pt x="631" y="449"/>
                  </a:lnTo>
                  <a:lnTo>
                    <a:pt x="633" y="447"/>
                  </a:lnTo>
                  <a:lnTo>
                    <a:pt x="635" y="445"/>
                  </a:lnTo>
                  <a:lnTo>
                    <a:pt x="635" y="443"/>
                  </a:lnTo>
                  <a:lnTo>
                    <a:pt x="635" y="439"/>
                  </a:lnTo>
                  <a:lnTo>
                    <a:pt x="631" y="437"/>
                  </a:lnTo>
                  <a:lnTo>
                    <a:pt x="623" y="437"/>
                  </a:lnTo>
                  <a:lnTo>
                    <a:pt x="621" y="436"/>
                  </a:lnTo>
                  <a:lnTo>
                    <a:pt x="614" y="432"/>
                  </a:lnTo>
                  <a:lnTo>
                    <a:pt x="612" y="432"/>
                  </a:lnTo>
                  <a:lnTo>
                    <a:pt x="608" y="434"/>
                  </a:lnTo>
                  <a:lnTo>
                    <a:pt x="606" y="432"/>
                  </a:lnTo>
                  <a:lnTo>
                    <a:pt x="606" y="430"/>
                  </a:lnTo>
                  <a:lnTo>
                    <a:pt x="606" y="428"/>
                  </a:lnTo>
                  <a:lnTo>
                    <a:pt x="606" y="426"/>
                  </a:lnTo>
                  <a:lnTo>
                    <a:pt x="604" y="426"/>
                  </a:lnTo>
                  <a:lnTo>
                    <a:pt x="602" y="424"/>
                  </a:lnTo>
                  <a:lnTo>
                    <a:pt x="598" y="424"/>
                  </a:lnTo>
                  <a:lnTo>
                    <a:pt x="596" y="422"/>
                  </a:lnTo>
                  <a:lnTo>
                    <a:pt x="593" y="415"/>
                  </a:lnTo>
                  <a:lnTo>
                    <a:pt x="593" y="415"/>
                  </a:lnTo>
                  <a:lnTo>
                    <a:pt x="591" y="413"/>
                  </a:lnTo>
                  <a:lnTo>
                    <a:pt x="591" y="411"/>
                  </a:lnTo>
                  <a:lnTo>
                    <a:pt x="591" y="407"/>
                  </a:lnTo>
                  <a:lnTo>
                    <a:pt x="591" y="401"/>
                  </a:lnTo>
                  <a:lnTo>
                    <a:pt x="591" y="399"/>
                  </a:lnTo>
                  <a:lnTo>
                    <a:pt x="589" y="394"/>
                  </a:lnTo>
                  <a:lnTo>
                    <a:pt x="589" y="392"/>
                  </a:lnTo>
                  <a:lnTo>
                    <a:pt x="591" y="388"/>
                  </a:lnTo>
                  <a:lnTo>
                    <a:pt x="593" y="386"/>
                  </a:lnTo>
                  <a:lnTo>
                    <a:pt x="595" y="386"/>
                  </a:lnTo>
                  <a:lnTo>
                    <a:pt x="596" y="388"/>
                  </a:lnTo>
                  <a:lnTo>
                    <a:pt x="600" y="388"/>
                  </a:lnTo>
                  <a:lnTo>
                    <a:pt x="600" y="386"/>
                  </a:lnTo>
                  <a:lnTo>
                    <a:pt x="600" y="384"/>
                  </a:lnTo>
                  <a:lnTo>
                    <a:pt x="598" y="379"/>
                  </a:lnTo>
                  <a:lnTo>
                    <a:pt x="598" y="377"/>
                  </a:lnTo>
                  <a:lnTo>
                    <a:pt x="598" y="373"/>
                  </a:lnTo>
                  <a:lnTo>
                    <a:pt x="596" y="371"/>
                  </a:lnTo>
                  <a:lnTo>
                    <a:pt x="595" y="369"/>
                  </a:lnTo>
                  <a:lnTo>
                    <a:pt x="593" y="365"/>
                  </a:lnTo>
                  <a:lnTo>
                    <a:pt x="593" y="361"/>
                  </a:lnTo>
                  <a:lnTo>
                    <a:pt x="591" y="356"/>
                  </a:lnTo>
                  <a:lnTo>
                    <a:pt x="589" y="352"/>
                  </a:lnTo>
                  <a:lnTo>
                    <a:pt x="591" y="348"/>
                  </a:lnTo>
                  <a:lnTo>
                    <a:pt x="593" y="346"/>
                  </a:lnTo>
                  <a:lnTo>
                    <a:pt x="604" y="346"/>
                  </a:lnTo>
                  <a:lnTo>
                    <a:pt x="606" y="346"/>
                  </a:lnTo>
                  <a:lnTo>
                    <a:pt x="606" y="346"/>
                  </a:lnTo>
                  <a:lnTo>
                    <a:pt x="608" y="346"/>
                  </a:lnTo>
                  <a:lnTo>
                    <a:pt x="608" y="344"/>
                  </a:lnTo>
                  <a:lnTo>
                    <a:pt x="610" y="344"/>
                  </a:lnTo>
                  <a:lnTo>
                    <a:pt x="612" y="342"/>
                  </a:lnTo>
                  <a:lnTo>
                    <a:pt x="635" y="344"/>
                  </a:lnTo>
                  <a:lnTo>
                    <a:pt x="636" y="344"/>
                  </a:lnTo>
                  <a:lnTo>
                    <a:pt x="640" y="339"/>
                  </a:lnTo>
                  <a:lnTo>
                    <a:pt x="644" y="337"/>
                  </a:lnTo>
                  <a:lnTo>
                    <a:pt x="646" y="335"/>
                  </a:lnTo>
                  <a:lnTo>
                    <a:pt x="646" y="333"/>
                  </a:lnTo>
                  <a:lnTo>
                    <a:pt x="644" y="329"/>
                  </a:lnTo>
                  <a:lnTo>
                    <a:pt x="644" y="325"/>
                  </a:lnTo>
                  <a:lnTo>
                    <a:pt x="646" y="325"/>
                  </a:lnTo>
                  <a:lnTo>
                    <a:pt x="648" y="325"/>
                  </a:lnTo>
                  <a:lnTo>
                    <a:pt x="648" y="325"/>
                  </a:lnTo>
                  <a:lnTo>
                    <a:pt x="650" y="323"/>
                  </a:lnTo>
                  <a:lnTo>
                    <a:pt x="650" y="318"/>
                  </a:lnTo>
                  <a:lnTo>
                    <a:pt x="648" y="306"/>
                  </a:lnTo>
                  <a:lnTo>
                    <a:pt x="646" y="302"/>
                  </a:lnTo>
                  <a:lnTo>
                    <a:pt x="646" y="301"/>
                  </a:lnTo>
                  <a:lnTo>
                    <a:pt x="648" y="299"/>
                  </a:lnTo>
                  <a:lnTo>
                    <a:pt x="650" y="299"/>
                  </a:lnTo>
                  <a:lnTo>
                    <a:pt x="657" y="301"/>
                  </a:lnTo>
                  <a:lnTo>
                    <a:pt x="661" y="301"/>
                  </a:lnTo>
                  <a:lnTo>
                    <a:pt x="665" y="301"/>
                  </a:lnTo>
                  <a:lnTo>
                    <a:pt x="665" y="301"/>
                  </a:lnTo>
                  <a:lnTo>
                    <a:pt x="667" y="297"/>
                  </a:lnTo>
                  <a:lnTo>
                    <a:pt x="667" y="295"/>
                  </a:lnTo>
                  <a:lnTo>
                    <a:pt x="667" y="293"/>
                  </a:lnTo>
                  <a:lnTo>
                    <a:pt x="665" y="293"/>
                  </a:lnTo>
                  <a:lnTo>
                    <a:pt x="665" y="291"/>
                  </a:lnTo>
                  <a:lnTo>
                    <a:pt x="665" y="289"/>
                  </a:lnTo>
                  <a:lnTo>
                    <a:pt x="665" y="287"/>
                  </a:lnTo>
                  <a:lnTo>
                    <a:pt x="667" y="285"/>
                  </a:lnTo>
                  <a:lnTo>
                    <a:pt x="669" y="285"/>
                  </a:lnTo>
                  <a:lnTo>
                    <a:pt x="673" y="283"/>
                  </a:lnTo>
                  <a:lnTo>
                    <a:pt x="675" y="283"/>
                  </a:lnTo>
                  <a:lnTo>
                    <a:pt x="676" y="282"/>
                  </a:lnTo>
                  <a:lnTo>
                    <a:pt x="676" y="280"/>
                  </a:lnTo>
                  <a:lnTo>
                    <a:pt x="678" y="276"/>
                  </a:lnTo>
                  <a:lnTo>
                    <a:pt x="678" y="274"/>
                  </a:lnTo>
                  <a:lnTo>
                    <a:pt x="680" y="272"/>
                  </a:lnTo>
                  <a:lnTo>
                    <a:pt x="684" y="272"/>
                  </a:lnTo>
                  <a:lnTo>
                    <a:pt x="686" y="272"/>
                  </a:lnTo>
                  <a:lnTo>
                    <a:pt x="692" y="274"/>
                  </a:lnTo>
                  <a:lnTo>
                    <a:pt x="696" y="272"/>
                  </a:lnTo>
                  <a:lnTo>
                    <a:pt x="696" y="272"/>
                  </a:lnTo>
                  <a:lnTo>
                    <a:pt x="697" y="264"/>
                  </a:lnTo>
                  <a:lnTo>
                    <a:pt x="699" y="259"/>
                  </a:lnTo>
                  <a:lnTo>
                    <a:pt x="701" y="257"/>
                  </a:lnTo>
                  <a:lnTo>
                    <a:pt x="707" y="251"/>
                  </a:lnTo>
                  <a:lnTo>
                    <a:pt x="707" y="249"/>
                  </a:lnTo>
                  <a:lnTo>
                    <a:pt x="709" y="245"/>
                  </a:lnTo>
                  <a:lnTo>
                    <a:pt x="707" y="226"/>
                  </a:lnTo>
                  <a:lnTo>
                    <a:pt x="709" y="223"/>
                  </a:lnTo>
                  <a:lnTo>
                    <a:pt x="711" y="219"/>
                  </a:lnTo>
                  <a:lnTo>
                    <a:pt x="715" y="215"/>
                  </a:lnTo>
                  <a:lnTo>
                    <a:pt x="716" y="213"/>
                  </a:lnTo>
                  <a:lnTo>
                    <a:pt x="716" y="209"/>
                  </a:lnTo>
                  <a:lnTo>
                    <a:pt x="716" y="204"/>
                  </a:lnTo>
                  <a:lnTo>
                    <a:pt x="715" y="200"/>
                  </a:lnTo>
                  <a:lnTo>
                    <a:pt x="718" y="196"/>
                  </a:lnTo>
                  <a:lnTo>
                    <a:pt x="724" y="190"/>
                  </a:lnTo>
                  <a:lnTo>
                    <a:pt x="726" y="186"/>
                  </a:lnTo>
                  <a:lnTo>
                    <a:pt x="726" y="183"/>
                  </a:lnTo>
                  <a:lnTo>
                    <a:pt x="726" y="181"/>
                  </a:lnTo>
                  <a:close/>
                </a:path>
              </a:pathLst>
            </a:custGeom>
            <a:solidFill>
              <a:srgbClr val="DA291C"/>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02" name="Freeform 52">
              <a:extLst>
                <a:ext uri="{FF2B5EF4-FFF2-40B4-BE49-F238E27FC236}">
                  <a16:creationId xmlns:a16="http://schemas.microsoft.com/office/drawing/2014/main" id="{EF5438E5-F2C0-77E5-A895-BAAA3DCC15F9}"/>
                </a:ext>
              </a:extLst>
            </p:cNvPr>
            <p:cNvSpPr>
              <a:spLocks/>
            </p:cNvSpPr>
            <p:nvPr/>
          </p:nvSpPr>
          <p:spPr bwMode="auto">
            <a:xfrm>
              <a:off x="2304064" y="1889072"/>
              <a:ext cx="592372" cy="520990"/>
            </a:xfrm>
            <a:custGeom>
              <a:avLst/>
              <a:gdLst>
                <a:gd name="T0" fmla="*/ 301 w 314"/>
                <a:gd name="T1" fmla="*/ 211 h 308"/>
                <a:gd name="T2" fmla="*/ 293 w 314"/>
                <a:gd name="T3" fmla="*/ 198 h 308"/>
                <a:gd name="T4" fmla="*/ 293 w 314"/>
                <a:gd name="T5" fmla="*/ 171 h 308"/>
                <a:gd name="T6" fmla="*/ 288 w 314"/>
                <a:gd name="T7" fmla="*/ 163 h 308"/>
                <a:gd name="T8" fmla="*/ 291 w 314"/>
                <a:gd name="T9" fmla="*/ 139 h 308"/>
                <a:gd name="T10" fmla="*/ 267 w 314"/>
                <a:gd name="T11" fmla="*/ 110 h 308"/>
                <a:gd name="T12" fmla="*/ 263 w 314"/>
                <a:gd name="T13" fmla="*/ 91 h 308"/>
                <a:gd name="T14" fmla="*/ 251 w 314"/>
                <a:gd name="T15" fmla="*/ 83 h 308"/>
                <a:gd name="T16" fmla="*/ 251 w 314"/>
                <a:gd name="T17" fmla="*/ 70 h 308"/>
                <a:gd name="T18" fmla="*/ 259 w 314"/>
                <a:gd name="T19" fmla="*/ 57 h 308"/>
                <a:gd name="T20" fmla="*/ 253 w 314"/>
                <a:gd name="T21" fmla="*/ 51 h 308"/>
                <a:gd name="T22" fmla="*/ 246 w 314"/>
                <a:gd name="T23" fmla="*/ 59 h 308"/>
                <a:gd name="T24" fmla="*/ 232 w 314"/>
                <a:gd name="T25" fmla="*/ 63 h 308"/>
                <a:gd name="T26" fmla="*/ 223 w 314"/>
                <a:gd name="T27" fmla="*/ 64 h 308"/>
                <a:gd name="T28" fmla="*/ 213 w 314"/>
                <a:gd name="T29" fmla="*/ 45 h 308"/>
                <a:gd name="T30" fmla="*/ 194 w 314"/>
                <a:gd name="T31" fmla="*/ 24 h 308"/>
                <a:gd name="T32" fmla="*/ 185 w 314"/>
                <a:gd name="T33" fmla="*/ 32 h 308"/>
                <a:gd name="T34" fmla="*/ 166 w 314"/>
                <a:gd name="T35" fmla="*/ 38 h 308"/>
                <a:gd name="T36" fmla="*/ 126 w 314"/>
                <a:gd name="T37" fmla="*/ 21 h 308"/>
                <a:gd name="T38" fmla="*/ 95 w 314"/>
                <a:gd name="T39" fmla="*/ 4 h 308"/>
                <a:gd name="T40" fmla="*/ 65 w 314"/>
                <a:gd name="T41" fmla="*/ 11 h 308"/>
                <a:gd name="T42" fmla="*/ 46 w 314"/>
                <a:gd name="T43" fmla="*/ 26 h 308"/>
                <a:gd name="T44" fmla="*/ 28 w 314"/>
                <a:gd name="T45" fmla="*/ 32 h 308"/>
                <a:gd name="T46" fmla="*/ 21 w 314"/>
                <a:gd name="T47" fmla="*/ 38 h 308"/>
                <a:gd name="T48" fmla="*/ 30 w 314"/>
                <a:gd name="T49" fmla="*/ 51 h 308"/>
                <a:gd name="T50" fmla="*/ 30 w 314"/>
                <a:gd name="T51" fmla="*/ 66 h 308"/>
                <a:gd name="T52" fmla="*/ 27 w 314"/>
                <a:gd name="T53" fmla="*/ 80 h 308"/>
                <a:gd name="T54" fmla="*/ 11 w 314"/>
                <a:gd name="T55" fmla="*/ 104 h 308"/>
                <a:gd name="T56" fmla="*/ 4 w 314"/>
                <a:gd name="T57" fmla="*/ 114 h 308"/>
                <a:gd name="T58" fmla="*/ 6 w 314"/>
                <a:gd name="T59" fmla="*/ 116 h 308"/>
                <a:gd name="T60" fmla="*/ 11 w 314"/>
                <a:gd name="T61" fmla="*/ 127 h 308"/>
                <a:gd name="T62" fmla="*/ 36 w 314"/>
                <a:gd name="T63" fmla="*/ 152 h 308"/>
                <a:gd name="T64" fmla="*/ 32 w 314"/>
                <a:gd name="T65" fmla="*/ 156 h 308"/>
                <a:gd name="T66" fmla="*/ 59 w 314"/>
                <a:gd name="T67" fmla="*/ 209 h 308"/>
                <a:gd name="T68" fmla="*/ 67 w 314"/>
                <a:gd name="T69" fmla="*/ 205 h 308"/>
                <a:gd name="T70" fmla="*/ 70 w 314"/>
                <a:gd name="T71" fmla="*/ 196 h 308"/>
                <a:gd name="T72" fmla="*/ 82 w 314"/>
                <a:gd name="T73" fmla="*/ 209 h 308"/>
                <a:gd name="T74" fmla="*/ 86 w 314"/>
                <a:gd name="T75" fmla="*/ 211 h 308"/>
                <a:gd name="T76" fmla="*/ 89 w 314"/>
                <a:gd name="T77" fmla="*/ 215 h 308"/>
                <a:gd name="T78" fmla="*/ 91 w 314"/>
                <a:gd name="T79" fmla="*/ 217 h 308"/>
                <a:gd name="T80" fmla="*/ 93 w 314"/>
                <a:gd name="T81" fmla="*/ 222 h 308"/>
                <a:gd name="T82" fmla="*/ 95 w 314"/>
                <a:gd name="T83" fmla="*/ 236 h 308"/>
                <a:gd name="T84" fmla="*/ 110 w 314"/>
                <a:gd name="T85" fmla="*/ 251 h 308"/>
                <a:gd name="T86" fmla="*/ 118 w 314"/>
                <a:gd name="T87" fmla="*/ 253 h 308"/>
                <a:gd name="T88" fmla="*/ 128 w 314"/>
                <a:gd name="T89" fmla="*/ 262 h 308"/>
                <a:gd name="T90" fmla="*/ 135 w 314"/>
                <a:gd name="T91" fmla="*/ 268 h 308"/>
                <a:gd name="T92" fmla="*/ 145 w 314"/>
                <a:gd name="T93" fmla="*/ 285 h 308"/>
                <a:gd name="T94" fmla="*/ 150 w 314"/>
                <a:gd name="T95" fmla="*/ 298 h 308"/>
                <a:gd name="T96" fmla="*/ 166 w 314"/>
                <a:gd name="T97" fmla="*/ 304 h 308"/>
                <a:gd name="T98" fmla="*/ 171 w 314"/>
                <a:gd name="T99" fmla="*/ 304 h 308"/>
                <a:gd name="T100" fmla="*/ 185 w 314"/>
                <a:gd name="T101" fmla="*/ 308 h 308"/>
                <a:gd name="T102" fmla="*/ 202 w 314"/>
                <a:gd name="T103" fmla="*/ 296 h 308"/>
                <a:gd name="T104" fmla="*/ 204 w 314"/>
                <a:gd name="T105" fmla="*/ 291 h 308"/>
                <a:gd name="T106" fmla="*/ 202 w 314"/>
                <a:gd name="T107" fmla="*/ 277 h 308"/>
                <a:gd name="T108" fmla="*/ 200 w 314"/>
                <a:gd name="T109" fmla="*/ 257 h 308"/>
                <a:gd name="T110" fmla="*/ 204 w 314"/>
                <a:gd name="T111" fmla="*/ 249 h 308"/>
                <a:gd name="T112" fmla="*/ 204 w 314"/>
                <a:gd name="T113" fmla="*/ 243 h 308"/>
                <a:gd name="T114" fmla="*/ 217 w 314"/>
                <a:gd name="T115" fmla="*/ 224 h 308"/>
                <a:gd name="T116" fmla="*/ 240 w 314"/>
                <a:gd name="T117" fmla="*/ 215 h 308"/>
                <a:gd name="T118" fmla="*/ 259 w 314"/>
                <a:gd name="T119" fmla="*/ 213 h 308"/>
                <a:gd name="T120" fmla="*/ 270 w 314"/>
                <a:gd name="T121" fmla="*/ 218 h 308"/>
                <a:gd name="T122" fmla="*/ 290 w 314"/>
                <a:gd name="T123" fmla="*/ 218 h 308"/>
                <a:gd name="T124" fmla="*/ 309 w 314"/>
                <a:gd name="T125" fmla="*/ 23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4" h="308">
                  <a:moveTo>
                    <a:pt x="314" y="224"/>
                  </a:moveTo>
                  <a:lnTo>
                    <a:pt x="312" y="220"/>
                  </a:lnTo>
                  <a:lnTo>
                    <a:pt x="311" y="217"/>
                  </a:lnTo>
                  <a:lnTo>
                    <a:pt x="307" y="213"/>
                  </a:lnTo>
                  <a:lnTo>
                    <a:pt x="307" y="213"/>
                  </a:lnTo>
                  <a:lnTo>
                    <a:pt x="305" y="209"/>
                  </a:lnTo>
                  <a:lnTo>
                    <a:pt x="305" y="211"/>
                  </a:lnTo>
                  <a:lnTo>
                    <a:pt x="303" y="211"/>
                  </a:lnTo>
                  <a:lnTo>
                    <a:pt x="301" y="211"/>
                  </a:lnTo>
                  <a:lnTo>
                    <a:pt x="299" y="211"/>
                  </a:lnTo>
                  <a:lnTo>
                    <a:pt x="297" y="211"/>
                  </a:lnTo>
                  <a:lnTo>
                    <a:pt x="295" y="211"/>
                  </a:lnTo>
                  <a:lnTo>
                    <a:pt x="293" y="209"/>
                  </a:lnTo>
                  <a:lnTo>
                    <a:pt x="291" y="209"/>
                  </a:lnTo>
                  <a:lnTo>
                    <a:pt x="291" y="207"/>
                  </a:lnTo>
                  <a:lnTo>
                    <a:pt x="291" y="205"/>
                  </a:lnTo>
                  <a:lnTo>
                    <a:pt x="291" y="201"/>
                  </a:lnTo>
                  <a:lnTo>
                    <a:pt x="293" y="198"/>
                  </a:lnTo>
                  <a:lnTo>
                    <a:pt x="293" y="194"/>
                  </a:lnTo>
                  <a:lnTo>
                    <a:pt x="291" y="192"/>
                  </a:lnTo>
                  <a:lnTo>
                    <a:pt x="288" y="190"/>
                  </a:lnTo>
                  <a:lnTo>
                    <a:pt x="288" y="186"/>
                  </a:lnTo>
                  <a:lnTo>
                    <a:pt x="297" y="180"/>
                  </a:lnTo>
                  <a:lnTo>
                    <a:pt x="299" y="179"/>
                  </a:lnTo>
                  <a:lnTo>
                    <a:pt x="299" y="177"/>
                  </a:lnTo>
                  <a:lnTo>
                    <a:pt x="297" y="173"/>
                  </a:lnTo>
                  <a:lnTo>
                    <a:pt x="293" y="171"/>
                  </a:lnTo>
                  <a:lnTo>
                    <a:pt x="291" y="171"/>
                  </a:lnTo>
                  <a:lnTo>
                    <a:pt x="291" y="169"/>
                  </a:lnTo>
                  <a:lnTo>
                    <a:pt x="290" y="169"/>
                  </a:lnTo>
                  <a:lnTo>
                    <a:pt x="290" y="169"/>
                  </a:lnTo>
                  <a:lnTo>
                    <a:pt x="290" y="167"/>
                  </a:lnTo>
                  <a:lnTo>
                    <a:pt x="288" y="165"/>
                  </a:lnTo>
                  <a:lnTo>
                    <a:pt x="288" y="165"/>
                  </a:lnTo>
                  <a:lnTo>
                    <a:pt x="288" y="163"/>
                  </a:lnTo>
                  <a:lnTo>
                    <a:pt x="288" y="163"/>
                  </a:lnTo>
                  <a:lnTo>
                    <a:pt x="288" y="161"/>
                  </a:lnTo>
                  <a:lnTo>
                    <a:pt x="286" y="160"/>
                  </a:lnTo>
                  <a:lnTo>
                    <a:pt x="286" y="158"/>
                  </a:lnTo>
                  <a:lnTo>
                    <a:pt x="288" y="154"/>
                  </a:lnTo>
                  <a:lnTo>
                    <a:pt x="288" y="152"/>
                  </a:lnTo>
                  <a:lnTo>
                    <a:pt x="290" y="146"/>
                  </a:lnTo>
                  <a:lnTo>
                    <a:pt x="290" y="144"/>
                  </a:lnTo>
                  <a:lnTo>
                    <a:pt x="291" y="140"/>
                  </a:lnTo>
                  <a:lnTo>
                    <a:pt x="291" y="139"/>
                  </a:lnTo>
                  <a:lnTo>
                    <a:pt x="291" y="135"/>
                  </a:lnTo>
                  <a:lnTo>
                    <a:pt x="290" y="135"/>
                  </a:lnTo>
                  <a:lnTo>
                    <a:pt x="286" y="133"/>
                  </a:lnTo>
                  <a:lnTo>
                    <a:pt x="284" y="129"/>
                  </a:lnTo>
                  <a:lnTo>
                    <a:pt x="274" y="118"/>
                  </a:lnTo>
                  <a:lnTo>
                    <a:pt x="272" y="114"/>
                  </a:lnTo>
                  <a:lnTo>
                    <a:pt x="270" y="112"/>
                  </a:lnTo>
                  <a:lnTo>
                    <a:pt x="267" y="110"/>
                  </a:lnTo>
                  <a:lnTo>
                    <a:pt x="267" y="110"/>
                  </a:lnTo>
                  <a:lnTo>
                    <a:pt x="267" y="110"/>
                  </a:lnTo>
                  <a:lnTo>
                    <a:pt x="265" y="108"/>
                  </a:lnTo>
                  <a:lnTo>
                    <a:pt x="265" y="108"/>
                  </a:lnTo>
                  <a:lnTo>
                    <a:pt x="267" y="106"/>
                  </a:lnTo>
                  <a:lnTo>
                    <a:pt x="267" y="102"/>
                  </a:lnTo>
                  <a:lnTo>
                    <a:pt x="263" y="93"/>
                  </a:lnTo>
                  <a:lnTo>
                    <a:pt x="263" y="93"/>
                  </a:lnTo>
                  <a:lnTo>
                    <a:pt x="263" y="93"/>
                  </a:lnTo>
                  <a:lnTo>
                    <a:pt x="263" y="91"/>
                  </a:lnTo>
                  <a:lnTo>
                    <a:pt x="265" y="89"/>
                  </a:lnTo>
                  <a:lnTo>
                    <a:pt x="265" y="89"/>
                  </a:lnTo>
                  <a:lnTo>
                    <a:pt x="265" y="89"/>
                  </a:lnTo>
                  <a:lnTo>
                    <a:pt x="265" y="87"/>
                  </a:lnTo>
                  <a:lnTo>
                    <a:pt x="261" y="82"/>
                  </a:lnTo>
                  <a:lnTo>
                    <a:pt x="259" y="76"/>
                  </a:lnTo>
                  <a:lnTo>
                    <a:pt x="257" y="78"/>
                  </a:lnTo>
                  <a:lnTo>
                    <a:pt x="251" y="83"/>
                  </a:lnTo>
                  <a:lnTo>
                    <a:pt x="251" y="83"/>
                  </a:lnTo>
                  <a:lnTo>
                    <a:pt x="250" y="82"/>
                  </a:lnTo>
                  <a:lnTo>
                    <a:pt x="250" y="82"/>
                  </a:lnTo>
                  <a:lnTo>
                    <a:pt x="248" y="80"/>
                  </a:lnTo>
                  <a:lnTo>
                    <a:pt x="248" y="80"/>
                  </a:lnTo>
                  <a:lnTo>
                    <a:pt x="248" y="78"/>
                  </a:lnTo>
                  <a:lnTo>
                    <a:pt x="250" y="76"/>
                  </a:lnTo>
                  <a:lnTo>
                    <a:pt x="250" y="74"/>
                  </a:lnTo>
                  <a:lnTo>
                    <a:pt x="250" y="72"/>
                  </a:lnTo>
                  <a:lnTo>
                    <a:pt x="251" y="70"/>
                  </a:lnTo>
                  <a:lnTo>
                    <a:pt x="251" y="68"/>
                  </a:lnTo>
                  <a:lnTo>
                    <a:pt x="251" y="68"/>
                  </a:lnTo>
                  <a:lnTo>
                    <a:pt x="253" y="66"/>
                  </a:lnTo>
                  <a:lnTo>
                    <a:pt x="257" y="64"/>
                  </a:lnTo>
                  <a:lnTo>
                    <a:pt x="257" y="64"/>
                  </a:lnTo>
                  <a:lnTo>
                    <a:pt x="257" y="63"/>
                  </a:lnTo>
                  <a:lnTo>
                    <a:pt x="257" y="63"/>
                  </a:lnTo>
                  <a:lnTo>
                    <a:pt x="259" y="61"/>
                  </a:lnTo>
                  <a:lnTo>
                    <a:pt x="259" y="57"/>
                  </a:lnTo>
                  <a:lnTo>
                    <a:pt x="259" y="57"/>
                  </a:lnTo>
                  <a:lnTo>
                    <a:pt x="259" y="55"/>
                  </a:lnTo>
                  <a:lnTo>
                    <a:pt x="257" y="51"/>
                  </a:lnTo>
                  <a:lnTo>
                    <a:pt x="257" y="51"/>
                  </a:lnTo>
                  <a:lnTo>
                    <a:pt x="257" y="51"/>
                  </a:lnTo>
                  <a:lnTo>
                    <a:pt x="257" y="51"/>
                  </a:lnTo>
                  <a:lnTo>
                    <a:pt x="255" y="49"/>
                  </a:lnTo>
                  <a:lnTo>
                    <a:pt x="253" y="51"/>
                  </a:lnTo>
                  <a:lnTo>
                    <a:pt x="253" y="51"/>
                  </a:lnTo>
                  <a:lnTo>
                    <a:pt x="253" y="51"/>
                  </a:lnTo>
                  <a:lnTo>
                    <a:pt x="251" y="51"/>
                  </a:lnTo>
                  <a:lnTo>
                    <a:pt x="253" y="53"/>
                  </a:lnTo>
                  <a:lnTo>
                    <a:pt x="251" y="53"/>
                  </a:lnTo>
                  <a:lnTo>
                    <a:pt x="251" y="55"/>
                  </a:lnTo>
                  <a:lnTo>
                    <a:pt x="250" y="55"/>
                  </a:lnTo>
                  <a:lnTo>
                    <a:pt x="248" y="57"/>
                  </a:lnTo>
                  <a:lnTo>
                    <a:pt x="246" y="59"/>
                  </a:lnTo>
                  <a:lnTo>
                    <a:pt x="246" y="59"/>
                  </a:lnTo>
                  <a:lnTo>
                    <a:pt x="244" y="59"/>
                  </a:lnTo>
                  <a:lnTo>
                    <a:pt x="242" y="59"/>
                  </a:lnTo>
                  <a:lnTo>
                    <a:pt x="240" y="59"/>
                  </a:lnTo>
                  <a:lnTo>
                    <a:pt x="240" y="59"/>
                  </a:lnTo>
                  <a:lnTo>
                    <a:pt x="238" y="61"/>
                  </a:lnTo>
                  <a:lnTo>
                    <a:pt x="236" y="61"/>
                  </a:lnTo>
                  <a:lnTo>
                    <a:pt x="234" y="61"/>
                  </a:lnTo>
                  <a:lnTo>
                    <a:pt x="232" y="63"/>
                  </a:lnTo>
                  <a:lnTo>
                    <a:pt x="232" y="63"/>
                  </a:lnTo>
                  <a:lnTo>
                    <a:pt x="232" y="63"/>
                  </a:lnTo>
                  <a:lnTo>
                    <a:pt x="230" y="64"/>
                  </a:lnTo>
                  <a:lnTo>
                    <a:pt x="230" y="64"/>
                  </a:lnTo>
                  <a:lnTo>
                    <a:pt x="230" y="64"/>
                  </a:lnTo>
                  <a:lnTo>
                    <a:pt x="229" y="66"/>
                  </a:lnTo>
                  <a:lnTo>
                    <a:pt x="227" y="68"/>
                  </a:lnTo>
                  <a:lnTo>
                    <a:pt x="225" y="68"/>
                  </a:lnTo>
                  <a:lnTo>
                    <a:pt x="223" y="66"/>
                  </a:lnTo>
                  <a:lnTo>
                    <a:pt x="223" y="64"/>
                  </a:lnTo>
                  <a:lnTo>
                    <a:pt x="221" y="63"/>
                  </a:lnTo>
                  <a:lnTo>
                    <a:pt x="221" y="63"/>
                  </a:lnTo>
                  <a:lnTo>
                    <a:pt x="219" y="59"/>
                  </a:lnTo>
                  <a:lnTo>
                    <a:pt x="217" y="59"/>
                  </a:lnTo>
                  <a:lnTo>
                    <a:pt x="217" y="57"/>
                  </a:lnTo>
                  <a:lnTo>
                    <a:pt x="217" y="51"/>
                  </a:lnTo>
                  <a:lnTo>
                    <a:pt x="215" y="49"/>
                  </a:lnTo>
                  <a:lnTo>
                    <a:pt x="215" y="47"/>
                  </a:lnTo>
                  <a:lnTo>
                    <a:pt x="213" y="45"/>
                  </a:lnTo>
                  <a:lnTo>
                    <a:pt x="210" y="38"/>
                  </a:lnTo>
                  <a:lnTo>
                    <a:pt x="208" y="34"/>
                  </a:lnTo>
                  <a:lnTo>
                    <a:pt x="202" y="28"/>
                  </a:lnTo>
                  <a:lnTo>
                    <a:pt x="200" y="26"/>
                  </a:lnTo>
                  <a:lnTo>
                    <a:pt x="198" y="24"/>
                  </a:lnTo>
                  <a:lnTo>
                    <a:pt x="198" y="23"/>
                  </a:lnTo>
                  <a:lnTo>
                    <a:pt x="196" y="23"/>
                  </a:lnTo>
                  <a:lnTo>
                    <a:pt x="196" y="23"/>
                  </a:lnTo>
                  <a:lnTo>
                    <a:pt x="194" y="24"/>
                  </a:lnTo>
                  <a:lnTo>
                    <a:pt x="192" y="24"/>
                  </a:lnTo>
                  <a:lnTo>
                    <a:pt x="192" y="24"/>
                  </a:lnTo>
                  <a:lnTo>
                    <a:pt x="192" y="26"/>
                  </a:lnTo>
                  <a:lnTo>
                    <a:pt x="190" y="26"/>
                  </a:lnTo>
                  <a:lnTo>
                    <a:pt x="190" y="28"/>
                  </a:lnTo>
                  <a:lnTo>
                    <a:pt x="189" y="28"/>
                  </a:lnTo>
                  <a:lnTo>
                    <a:pt x="189" y="28"/>
                  </a:lnTo>
                  <a:lnTo>
                    <a:pt x="187" y="28"/>
                  </a:lnTo>
                  <a:lnTo>
                    <a:pt x="185" y="32"/>
                  </a:lnTo>
                  <a:lnTo>
                    <a:pt x="183" y="32"/>
                  </a:lnTo>
                  <a:lnTo>
                    <a:pt x="183" y="34"/>
                  </a:lnTo>
                  <a:lnTo>
                    <a:pt x="181" y="34"/>
                  </a:lnTo>
                  <a:lnTo>
                    <a:pt x="177" y="34"/>
                  </a:lnTo>
                  <a:lnTo>
                    <a:pt x="175" y="36"/>
                  </a:lnTo>
                  <a:lnTo>
                    <a:pt x="171" y="36"/>
                  </a:lnTo>
                  <a:lnTo>
                    <a:pt x="168" y="36"/>
                  </a:lnTo>
                  <a:lnTo>
                    <a:pt x="168" y="38"/>
                  </a:lnTo>
                  <a:lnTo>
                    <a:pt x="166" y="38"/>
                  </a:lnTo>
                  <a:lnTo>
                    <a:pt x="166" y="38"/>
                  </a:lnTo>
                  <a:lnTo>
                    <a:pt x="166" y="40"/>
                  </a:lnTo>
                  <a:lnTo>
                    <a:pt x="164" y="40"/>
                  </a:lnTo>
                  <a:lnTo>
                    <a:pt x="150" y="36"/>
                  </a:lnTo>
                  <a:lnTo>
                    <a:pt x="143" y="32"/>
                  </a:lnTo>
                  <a:lnTo>
                    <a:pt x="139" y="30"/>
                  </a:lnTo>
                  <a:lnTo>
                    <a:pt x="131" y="24"/>
                  </a:lnTo>
                  <a:lnTo>
                    <a:pt x="128" y="23"/>
                  </a:lnTo>
                  <a:lnTo>
                    <a:pt x="126" y="21"/>
                  </a:lnTo>
                  <a:lnTo>
                    <a:pt x="124" y="19"/>
                  </a:lnTo>
                  <a:lnTo>
                    <a:pt x="122" y="17"/>
                  </a:lnTo>
                  <a:lnTo>
                    <a:pt x="116" y="11"/>
                  </a:lnTo>
                  <a:lnTo>
                    <a:pt x="114" y="11"/>
                  </a:lnTo>
                  <a:lnTo>
                    <a:pt x="110" y="4"/>
                  </a:lnTo>
                  <a:lnTo>
                    <a:pt x="109" y="4"/>
                  </a:lnTo>
                  <a:lnTo>
                    <a:pt x="107" y="4"/>
                  </a:lnTo>
                  <a:lnTo>
                    <a:pt x="97" y="4"/>
                  </a:lnTo>
                  <a:lnTo>
                    <a:pt x="95" y="4"/>
                  </a:lnTo>
                  <a:lnTo>
                    <a:pt x="89" y="0"/>
                  </a:lnTo>
                  <a:lnTo>
                    <a:pt x="89" y="0"/>
                  </a:lnTo>
                  <a:lnTo>
                    <a:pt x="86" y="2"/>
                  </a:lnTo>
                  <a:lnTo>
                    <a:pt x="74" y="4"/>
                  </a:lnTo>
                  <a:lnTo>
                    <a:pt x="70" y="5"/>
                  </a:lnTo>
                  <a:lnTo>
                    <a:pt x="67" y="9"/>
                  </a:lnTo>
                  <a:lnTo>
                    <a:pt x="65" y="9"/>
                  </a:lnTo>
                  <a:lnTo>
                    <a:pt x="65" y="11"/>
                  </a:lnTo>
                  <a:lnTo>
                    <a:pt x="65" y="11"/>
                  </a:lnTo>
                  <a:lnTo>
                    <a:pt x="63" y="13"/>
                  </a:lnTo>
                  <a:lnTo>
                    <a:pt x="63" y="15"/>
                  </a:lnTo>
                  <a:lnTo>
                    <a:pt x="61" y="17"/>
                  </a:lnTo>
                  <a:lnTo>
                    <a:pt x="59" y="19"/>
                  </a:lnTo>
                  <a:lnTo>
                    <a:pt x="57" y="21"/>
                  </a:lnTo>
                  <a:lnTo>
                    <a:pt x="53" y="21"/>
                  </a:lnTo>
                  <a:lnTo>
                    <a:pt x="48" y="23"/>
                  </a:lnTo>
                  <a:lnTo>
                    <a:pt x="46" y="24"/>
                  </a:lnTo>
                  <a:lnTo>
                    <a:pt x="46" y="26"/>
                  </a:lnTo>
                  <a:lnTo>
                    <a:pt x="44" y="28"/>
                  </a:lnTo>
                  <a:lnTo>
                    <a:pt x="36" y="34"/>
                  </a:lnTo>
                  <a:lnTo>
                    <a:pt x="34" y="36"/>
                  </a:lnTo>
                  <a:lnTo>
                    <a:pt x="34" y="36"/>
                  </a:lnTo>
                  <a:lnTo>
                    <a:pt x="32" y="36"/>
                  </a:lnTo>
                  <a:lnTo>
                    <a:pt x="30" y="34"/>
                  </a:lnTo>
                  <a:lnTo>
                    <a:pt x="30" y="32"/>
                  </a:lnTo>
                  <a:lnTo>
                    <a:pt x="30" y="32"/>
                  </a:lnTo>
                  <a:lnTo>
                    <a:pt x="28" y="32"/>
                  </a:lnTo>
                  <a:lnTo>
                    <a:pt x="27" y="32"/>
                  </a:lnTo>
                  <a:lnTo>
                    <a:pt x="25" y="30"/>
                  </a:lnTo>
                  <a:lnTo>
                    <a:pt x="25" y="30"/>
                  </a:lnTo>
                  <a:lnTo>
                    <a:pt x="23" y="32"/>
                  </a:lnTo>
                  <a:lnTo>
                    <a:pt x="21" y="32"/>
                  </a:lnTo>
                  <a:lnTo>
                    <a:pt x="21" y="34"/>
                  </a:lnTo>
                  <a:lnTo>
                    <a:pt x="21" y="34"/>
                  </a:lnTo>
                  <a:lnTo>
                    <a:pt x="21" y="36"/>
                  </a:lnTo>
                  <a:lnTo>
                    <a:pt x="21" y="38"/>
                  </a:lnTo>
                  <a:lnTo>
                    <a:pt x="23" y="40"/>
                  </a:lnTo>
                  <a:lnTo>
                    <a:pt x="25" y="42"/>
                  </a:lnTo>
                  <a:lnTo>
                    <a:pt x="27" y="43"/>
                  </a:lnTo>
                  <a:lnTo>
                    <a:pt x="27" y="45"/>
                  </a:lnTo>
                  <a:lnTo>
                    <a:pt x="28" y="45"/>
                  </a:lnTo>
                  <a:lnTo>
                    <a:pt x="28" y="47"/>
                  </a:lnTo>
                  <a:lnTo>
                    <a:pt x="30" y="49"/>
                  </a:lnTo>
                  <a:lnTo>
                    <a:pt x="30" y="49"/>
                  </a:lnTo>
                  <a:lnTo>
                    <a:pt x="30" y="51"/>
                  </a:lnTo>
                  <a:lnTo>
                    <a:pt x="30" y="51"/>
                  </a:lnTo>
                  <a:lnTo>
                    <a:pt x="30" y="53"/>
                  </a:lnTo>
                  <a:lnTo>
                    <a:pt x="30" y="57"/>
                  </a:lnTo>
                  <a:lnTo>
                    <a:pt x="30" y="59"/>
                  </a:lnTo>
                  <a:lnTo>
                    <a:pt x="32" y="63"/>
                  </a:lnTo>
                  <a:lnTo>
                    <a:pt x="32" y="64"/>
                  </a:lnTo>
                  <a:lnTo>
                    <a:pt x="32" y="64"/>
                  </a:lnTo>
                  <a:lnTo>
                    <a:pt x="32" y="66"/>
                  </a:lnTo>
                  <a:lnTo>
                    <a:pt x="30" y="66"/>
                  </a:lnTo>
                  <a:lnTo>
                    <a:pt x="30" y="68"/>
                  </a:lnTo>
                  <a:lnTo>
                    <a:pt x="28" y="68"/>
                  </a:lnTo>
                  <a:lnTo>
                    <a:pt x="27" y="72"/>
                  </a:lnTo>
                  <a:lnTo>
                    <a:pt x="27" y="74"/>
                  </a:lnTo>
                  <a:lnTo>
                    <a:pt x="25" y="76"/>
                  </a:lnTo>
                  <a:lnTo>
                    <a:pt x="25" y="78"/>
                  </a:lnTo>
                  <a:lnTo>
                    <a:pt x="25" y="78"/>
                  </a:lnTo>
                  <a:lnTo>
                    <a:pt x="27" y="80"/>
                  </a:lnTo>
                  <a:lnTo>
                    <a:pt x="27" y="80"/>
                  </a:lnTo>
                  <a:lnTo>
                    <a:pt x="30" y="87"/>
                  </a:lnTo>
                  <a:lnTo>
                    <a:pt x="30" y="87"/>
                  </a:lnTo>
                  <a:lnTo>
                    <a:pt x="30" y="89"/>
                  </a:lnTo>
                  <a:lnTo>
                    <a:pt x="30" y="89"/>
                  </a:lnTo>
                  <a:lnTo>
                    <a:pt x="25" y="91"/>
                  </a:lnTo>
                  <a:lnTo>
                    <a:pt x="19" y="97"/>
                  </a:lnTo>
                  <a:lnTo>
                    <a:pt x="15" y="101"/>
                  </a:lnTo>
                  <a:lnTo>
                    <a:pt x="13" y="102"/>
                  </a:lnTo>
                  <a:lnTo>
                    <a:pt x="11" y="104"/>
                  </a:lnTo>
                  <a:lnTo>
                    <a:pt x="9" y="104"/>
                  </a:lnTo>
                  <a:lnTo>
                    <a:pt x="4" y="106"/>
                  </a:lnTo>
                  <a:lnTo>
                    <a:pt x="4" y="106"/>
                  </a:lnTo>
                  <a:lnTo>
                    <a:pt x="4" y="106"/>
                  </a:lnTo>
                  <a:lnTo>
                    <a:pt x="2" y="108"/>
                  </a:lnTo>
                  <a:lnTo>
                    <a:pt x="2" y="110"/>
                  </a:lnTo>
                  <a:lnTo>
                    <a:pt x="2" y="112"/>
                  </a:lnTo>
                  <a:lnTo>
                    <a:pt x="4" y="112"/>
                  </a:lnTo>
                  <a:lnTo>
                    <a:pt x="4" y="114"/>
                  </a:lnTo>
                  <a:lnTo>
                    <a:pt x="4" y="114"/>
                  </a:lnTo>
                  <a:lnTo>
                    <a:pt x="6" y="114"/>
                  </a:lnTo>
                  <a:lnTo>
                    <a:pt x="6" y="112"/>
                  </a:lnTo>
                  <a:lnTo>
                    <a:pt x="6" y="112"/>
                  </a:lnTo>
                  <a:lnTo>
                    <a:pt x="8" y="112"/>
                  </a:lnTo>
                  <a:lnTo>
                    <a:pt x="8" y="112"/>
                  </a:lnTo>
                  <a:lnTo>
                    <a:pt x="8" y="114"/>
                  </a:lnTo>
                  <a:lnTo>
                    <a:pt x="8" y="116"/>
                  </a:lnTo>
                  <a:lnTo>
                    <a:pt x="6" y="116"/>
                  </a:lnTo>
                  <a:lnTo>
                    <a:pt x="6" y="118"/>
                  </a:lnTo>
                  <a:lnTo>
                    <a:pt x="0" y="123"/>
                  </a:lnTo>
                  <a:lnTo>
                    <a:pt x="0" y="125"/>
                  </a:lnTo>
                  <a:lnTo>
                    <a:pt x="0" y="125"/>
                  </a:lnTo>
                  <a:lnTo>
                    <a:pt x="0" y="125"/>
                  </a:lnTo>
                  <a:lnTo>
                    <a:pt x="2" y="127"/>
                  </a:lnTo>
                  <a:lnTo>
                    <a:pt x="8" y="127"/>
                  </a:lnTo>
                  <a:lnTo>
                    <a:pt x="9" y="129"/>
                  </a:lnTo>
                  <a:lnTo>
                    <a:pt x="11" y="127"/>
                  </a:lnTo>
                  <a:lnTo>
                    <a:pt x="11" y="129"/>
                  </a:lnTo>
                  <a:lnTo>
                    <a:pt x="15" y="131"/>
                  </a:lnTo>
                  <a:lnTo>
                    <a:pt x="21" y="133"/>
                  </a:lnTo>
                  <a:lnTo>
                    <a:pt x="27" y="137"/>
                  </a:lnTo>
                  <a:lnTo>
                    <a:pt x="27" y="137"/>
                  </a:lnTo>
                  <a:lnTo>
                    <a:pt x="28" y="139"/>
                  </a:lnTo>
                  <a:lnTo>
                    <a:pt x="32" y="144"/>
                  </a:lnTo>
                  <a:lnTo>
                    <a:pt x="36" y="150"/>
                  </a:lnTo>
                  <a:lnTo>
                    <a:pt x="36" y="152"/>
                  </a:lnTo>
                  <a:lnTo>
                    <a:pt x="36" y="152"/>
                  </a:lnTo>
                  <a:lnTo>
                    <a:pt x="34" y="152"/>
                  </a:lnTo>
                  <a:lnTo>
                    <a:pt x="34" y="152"/>
                  </a:lnTo>
                  <a:lnTo>
                    <a:pt x="32" y="152"/>
                  </a:lnTo>
                  <a:lnTo>
                    <a:pt x="32" y="152"/>
                  </a:lnTo>
                  <a:lnTo>
                    <a:pt x="32" y="152"/>
                  </a:lnTo>
                  <a:lnTo>
                    <a:pt x="32" y="154"/>
                  </a:lnTo>
                  <a:lnTo>
                    <a:pt x="30" y="154"/>
                  </a:lnTo>
                  <a:lnTo>
                    <a:pt x="32" y="156"/>
                  </a:lnTo>
                  <a:lnTo>
                    <a:pt x="34" y="160"/>
                  </a:lnTo>
                  <a:lnTo>
                    <a:pt x="46" y="180"/>
                  </a:lnTo>
                  <a:lnTo>
                    <a:pt x="49" y="196"/>
                  </a:lnTo>
                  <a:lnTo>
                    <a:pt x="51" y="201"/>
                  </a:lnTo>
                  <a:lnTo>
                    <a:pt x="51" y="203"/>
                  </a:lnTo>
                  <a:lnTo>
                    <a:pt x="53" y="205"/>
                  </a:lnTo>
                  <a:lnTo>
                    <a:pt x="55" y="207"/>
                  </a:lnTo>
                  <a:lnTo>
                    <a:pt x="57" y="209"/>
                  </a:lnTo>
                  <a:lnTo>
                    <a:pt x="59" y="209"/>
                  </a:lnTo>
                  <a:lnTo>
                    <a:pt x="59" y="207"/>
                  </a:lnTo>
                  <a:lnTo>
                    <a:pt x="61" y="207"/>
                  </a:lnTo>
                  <a:lnTo>
                    <a:pt x="63" y="209"/>
                  </a:lnTo>
                  <a:lnTo>
                    <a:pt x="63" y="209"/>
                  </a:lnTo>
                  <a:lnTo>
                    <a:pt x="65" y="209"/>
                  </a:lnTo>
                  <a:lnTo>
                    <a:pt x="65" y="209"/>
                  </a:lnTo>
                  <a:lnTo>
                    <a:pt x="65" y="207"/>
                  </a:lnTo>
                  <a:lnTo>
                    <a:pt x="65" y="205"/>
                  </a:lnTo>
                  <a:lnTo>
                    <a:pt x="67" y="205"/>
                  </a:lnTo>
                  <a:lnTo>
                    <a:pt x="67" y="203"/>
                  </a:lnTo>
                  <a:lnTo>
                    <a:pt x="69" y="205"/>
                  </a:lnTo>
                  <a:lnTo>
                    <a:pt x="69" y="203"/>
                  </a:lnTo>
                  <a:lnTo>
                    <a:pt x="69" y="203"/>
                  </a:lnTo>
                  <a:lnTo>
                    <a:pt x="69" y="199"/>
                  </a:lnTo>
                  <a:lnTo>
                    <a:pt x="69" y="198"/>
                  </a:lnTo>
                  <a:lnTo>
                    <a:pt x="70" y="198"/>
                  </a:lnTo>
                  <a:lnTo>
                    <a:pt x="70" y="198"/>
                  </a:lnTo>
                  <a:lnTo>
                    <a:pt x="70" y="196"/>
                  </a:lnTo>
                  <a:lnTo>
                    <a:pt x="72" y="196"/>
                  </a:lnTo>
                  <a:lnTo>
                    <a:pt x="72" y="196"/>
                  </a:lnTo>
                  <a:lnTo>
                    <a:pt x="72" y="198"/>
                  </a:lnTo>
                  <a:lnTo>
                    <a:pt x="76" y="203"/>
                  </a:lnTo>
                  <a:lnTo>
                    <a:pt x="78" y="207"/>
                  </a:lnTo>
                  <a:lnTo>
                    <a:pt x="80" y="209"/>
                  </a:lnTo>
                  <a:lnTo>
                    <a:pt x="80" y="211"/>
                  </a:lnTo>
                  <a:lnTo>
                    <a:pt x="80" y="211"/>
                  </a:lnTo>
                  <a:lnTo>
                    <a:pt x="82" y="209"/>
                  </a:lnTo>
                  <a:lnTo>
                    <a:pt x="82" y="209"/>
                  </a:lnTo>
                  <a:lnTo>
                    <a:pt x="82" y="209"/>
                  </a:lnTo>
                  <a:lnTo>
                    <a:pt x="82" y="209"/>
                  </a:lnTo>
                  <a:lnTo>
                    <a:pt x="84" y="211"/>
                  </a:lnTo>
                  <a:lnTo>
                    <a:pt x="84" y="211"/>
                  </a:lnTo>
                  <a:lnTo>
                    <a:pt x="84" y="211"/>
                  </a:lnTo>
                  <a:lnTo>
                    <a:pt x="84" y="211"/>
                  </a:lnTo>
                  <a:lnTo>
                    <a:pt x="86" y="211"/>
                  </a:lnTo>
                  <a:lnTo>
                    <a:pt x="86" y="211"/>
                  </a:lnTo>
                  <a:lnTo>
                    <a:pt x="86" y="211"/>
                  </a:lnTo>
                  <a:lnTo>
                    <a:pt x="86" y="211"/>
                  </a:lnTo>
                  <a:lnTo>
                    <a:pt x="88" y="211"/>
                  </a:lnTo>
                  <a:lnTo>
                    <a:pt x="88" y="213"/>
                  </a:lnTo>
                  <a:lnTo>
                    <a:pt x="88" y="213"/>
                  </a:lnTo>
                  <a:lnTo>
                    <a:pt x="88" y="215"/>
                  </a:lnTo>
                  <a:lnTo>
                    <a:pt x="89" y="215"/>
                  </a:lnTo>
                  <a:lnTo>
                    <a:pt x="89" y="215"/>
                  </a:lnTo>
                  <a:lnTo>
                    <a:pt x="89" y="215"/>
                  </a:lnTo>
                  <a:lnTo>
                    <a:pt x="89" y="213"/>
                  </a:lnTo>
                  <a:lnTo>
                    <a:pt x="89" y="213"/>
                  </a:lnTo>
                  <a:lnTo>
                    <a:pt x="91" y="213"/>
                  </a:lnTo>
                  <a:lnTo>
                    <a:pt x="91" y="213"/>
                  </a:lnTo>
                  <a:lnTo>
                    <a:pt x="91" y="213"/>
                  </a:lnTo>
                  <a:lnTo>
                    <a:pt x="91" y="213"/>
                  </a:lnTo>
                  <a:lnTo>
                    <a:pt x="93" y="215"/>
                  </a:lnTo>
                  <a:lnTo>
                    <a:pt x="93" y="215"/>
                  </a:lnTo>
                  <a:lnTo>
                    <a:pt x="91" y="217"/>
                  </a:lnTo>
                  <a:lnTo>
                    <a:pt x="91" y="218"/>
                  </a:lnTo>
                  <a:lnTo>
                    <a:pt x="93" y="218"/>
                  </a:lnTo>
                  <a:lnTo>
                    <a:pt x="95" y="217"/>
                  </a:lnTo>
                  <a:lnTo>
                    <a:pt x="95" y="218"/>
                  </a:lnTo>
                  <a:lnTo>
                    <a:pt x="97" y="218"/>
                  </a:lnTo>
                  <a:lnTo>
                    <a:pt x="95" y="220"/>
                  </a:lnTo>
                  <a:lnTo>
                    <a:pt x="95" y="220"/>
                  </a:lnTo>
                  <a:lnTo>
                    <a:pt x="93" y="222"/>
                  </a:lnTo>
                  <a:lnTo>
                    <a:pt x="93" y="222"/>
                  </a:lnTo>
                  <a:lnTo>
                    <a:pt x="93" y="228"/>
                  </a:lnTo>
                  <a:lnTo>
                    <a:pt x="93" y="228"/>
                  </a:lnTo>
                  <a:lnTo>
                    <a:pt x="95" y="230"/>
                  </a:lnTo>
                  <a:lnTo>
                    <a:pt x="95" y="230"/>
                  </a:lnTo>
                  <a:lnTo>
                    <a:pt x="95" y="232"/>
                  </a:lnTo>
                  <a:lnTo>
                    <a:pt x="95" y="234"/>
                  </a:lnTo>
                  <a:lnTo>
                    <a:pt x="95" y="234"/>
                  </a:lnTo>
                  <a:lnTo>
                    <a:pt x="95" y="236"/>
                  </a:lnTo>
                  <a:lnTo>
                    <a:pt x="95" y="236"/>
                  </a:lnTo>
                  <a:lnTo>
                    <a:pt x="95" y="237"/>
                  </a:lnTo>
                  <a:lnTo>
                    <a:pt x="95" y="239"/>
                  </a:lnTo>
                  <a:lnTo>
                    <a:pt x="97" y="239"/>
                  </a:lnTo>
                  <a:lnTo>
                    <a:pt x="99" y="241"/>
                  </a:lnTo>
                  <a:lnTo>
                    <a:pt x="103" y="247"/>
                  </a:lnTo>
                  <a:lnTo>
                    <a:pt x="105" y="249"/>
                  </a:lnTo>
                  <a:lnTo>
                    <a:pt x="109" y="253"/>
                  </a:lnTo>
                  <a:lnTo>
                    <a:pt x="110" y="251"/>
                  </a:lnTo>
                  <a:lnTo>
                    <a:pt x="110" y="251"/>
                  </a:lnTo>
                  <a:lnTo>
                    <a:pt x="112" y="249"/>
                  </a:lnTo>
                  <a:lnTo>
                    <a:pt x="112" y="249"/>
                  </a:lnTo>
                  <a:lnTo>
                    <a:pt x="114" y="249"/>
                  </a:lnTo>
                  <a:lnTo>
                    <a:pt x="114" y="249"/>
                  </a:lnTo>
                  <a:lnTo>
                    <a:pt x="114" y="249"/>
                  </a:lnTo>
                  <a:lnTo>
                    <a:pt x="114" y="251"/>
                  </a:lnTo>
                  <a:lnTo>
                    <a:pt x="116" y="253"/>
                  </a:lnTo>
                  <a:lnTo>
                    <a:pt x="116" y="253"/>
                  </a:lnTo>
                  <a:lnTo>
                    <a:pt x="118" y="253"/>
                  </a:lnTo>
                  <a:lnTo>
                    <a:pt x="120" y="253"/>
                  </a:lnTo>
                  <a:lnTo>
                    <a:pt x="120" y="253"/>
                  </a:lnTo>
                  <a:lnTo>
                    <a:pt x="122" y="253"/>
                  </a:lnTo>
                  <a:lnTo>
                    <a:pt x="124" y="255"/>
                  </a:lnTo>
                  <a:lnTo>
                    <a:pt x="126" y="257"/>
                  </a:lnTo>
                  <a:lnTo>
                    <a:pt x="126" y="257"/>
                  </a:lnTo>
                  <a:lnTo>
                    <a:pt x="126" y="258"/>
                  </a:lnTo>
                  <a:lnTo>
                    <a:pt x="126" y="260"/>
                  </a:lnTo>
                  <a:lnTo>
                    <a:pt x="128" y="262"/>
                  </a:lnTo>
                  <a:lnTo>
                    <a:pt x="128" y="262"/>
                  </a:lnTo>
                  <a:lnTo>
                    <a:pt x="129" y="262"/>
                  </a:lnTo>
                  <a:lnTo>
                    <a:pt x="129" y="262"/>
                  </a:lnTo>
                  <a:lnTo>
                    <a:pt x="129" y="264"/>
                  </a:lnTo>
                  <a:lnTo>
                    <a:pt x="131" y="264"/>
                  </a:lnTo>
                  <a:lnTo>
                    <a:pt x="131" y="266"/>
                  </a:lnTo>
                  <a:lnTo>
                    <a:pt x="131" y="266"/>
                  </a:lnTo>
                  <a:lnTo>
                    <a:pt x="131" y="266"/>
                  </a:lnTo>
                  <a:lnTo>
                    <a:pt x="135" y="268"/>
                  </a:lnTo>
                  <a:lnTo>
                    <a:pt x="139" y="270"/>
                  </a:lnTo>
                  <a:lnTo>
                    <a:pt x="141" y="272"/>
                  </a:lnTo>
                  <a:lnTo>
                    <a:pt x="143" y="274"/>
                  </a:lnTo>
                  <a:lnTo>
                    <a:pt x="145" y="276"/>
                  </a:lnTo>
                  <a:lnTo>
                    <a:pt x="145" y="277"/>
                  </a:lnTo>
                  <a:lnTo>
                    <a:pt x="145" y="277"/>
                  </a:lnTo>
                  <a:lnTo>
                    <a:pt x="145" y="281"/>
                  </a:lnTo>
                  <a:lnTo>
                    <a:pt x="145" y="283"/>
                  </a:lnTo>
                  <a:lnTo>
                    <a:pt x="145" y="285"/>
                  </a:lnTo>
                  <a:lnTo>
                    <a:pt x="143" y="287"/>
                  </a:lnTo>
                  <a:lnTo>
                    <a:pt x="143" y="289"/>
                  </a:lnTo>
                  <a:lnTo>
                    <a:pt x="143" y="291"/>
                  </a:lnTo>
                  <a:lnTo>
                    <a:pt x="145" y="291"/>
                  </a:lnTo>
                  <a:lnTo>
                    <a:pt x="149" y="296"/>
                  </a:lnTo>
                  <a:lnTo>
                    <a:pt x="150" y="296"/>
                  </a:lnTo>
                  <a:lnTo>
                    <a:pt x="150" y="298"/>
                  </a:lnTo>
                  <a:lnTo>
                    <a:pt x="150" y="298"/>
                  </a:lnTo>
                  <a:lnTo>
                    <a:pt x="150" y="298"/>
                  </a:lnTo>
                  <a:lnTo>
                    <a:pt x="152" y="296"/>
                  </a:lnTo>
                  <a:lnTo>
                    <a:pt x="156" y="298"/>
                  </a:lnTo>
                  <a:lnTo>
                    <a:pt x="158" y="300"/>
                  </a:lnTo>
                  <a:lnTo>
                    <a:pt x="158" y="300"/>
                  </a:lnTo>
                  <a:lnTo>
                    <a:pt x="164" y="300"/>
                  </a:lnTo>
                  <a:lnTo>
                    <a:pt x="164" y="300"/>
                  </a:lnTo>
                  <a:lnTo>
                    <a:pt x="164" y="302"/>
                  </a:lnTo>
                  <a:lnTo>
                    <a:pt x="166" y="302"/>
                  </a:lnTo>
                  <a:lnTo>
                    <a:pt x="166" y="304"/>
                  </a:lnTo>
                  <a:lnTo>
                    <a:pt x="168" y="304"/>
                  </a:lnTo>
                  <a:lnTo>
                    <a:pt x="170" y="302"/>
                  </a:lnTo>
                  <a:lnTo>
                    <a:pt x="171" y="300"/>
                  </a:lnTo>
                  <a:lnTo>
                    <a:pt x="173" y="300"/>
                  </a:lnTo>
                  <a:lnTo>
                    <a:pt x="173" y="300"/>
                  </a:lnTo>
                  <a:lnTo>
                    <a:pt x="173" y="302"/>
                  </a:lnTo>
                  <a:lnTo>
                    <a:pt x="171" y="304"/>
                  </a:lnTo>
                  <a:lnTo>
                    <a:pt x="171" y="304"/>
                  </a:lnTo>
                  <a:lnTo>
                    <a:pt x="171" y="304"/>
                  </a:lnTo>
                  <a:lnTo>
                    <a:pt x="173" y="304"/>
                  </a:lnTo>
                  <a:lnTo>
                    <a:pt x="175" y="304"/>
                  </a:lnTo>
                  <a:lnTo>
                    <a:pt x="175" y="304"/>
                  </a:lnTo>
                  <a:lnTo>
                    <a:pt x="177" y="304"/>
                  </a:lnTo>
                  <a:lnTo>
                    <a:pt x="179" y="304"/>
                  </a:lnTo>
                  <a:lnTo>
                    <a:pt x="181" y="306"/>
                  </a:lnTo>
                  <a:lnTo>
                    <a:pt x="185" y="308"/>
                  </a:lnTo>
                  <a:lnTo>
                    <a:pt x="185" y="308"/>
                  </a:lnTo>
                  <a:lnTo>
                    <a:pt x="185" y="308"/>
                  </a:lnTo>
                  <a:lnTo>
                    <a:pt x="183" y="306"/>
                  </a:lnTo>
                  <a:lnTo>
                    <a:pt x="183" y="304"/>
                  </a:lnTo>
                  <a:lnTo>
                    <a:pt x="185" y="304"/>
                  </a:lnTo>
                  <a:lnTo>
                    <a:pt x="187" y="302"/>
                  </a:lnTo>
                  <a:lnTo>
                    <a:pt x="189" y="302"/>
                  </a:lnTo>
                  <a:lnTo>
                    <a:pt x="190" y="302"/>
                  </a:lnTo>
                  <a:lnTo>
                    <a:pt x="192" y="302"/>
                  </a:lnTo>
                  <a:lnTo>
                    <a:pt x="194" y="300"/>
                  </a:lnTo>
                  <a:lnTo>
                    <a:pt x="202" y="296"/>
                  </a:lnTo>
                  <a:lnTo>
                    <a:pt x="204" y="295"/>
                  </a:lnTo>
                  <a:lnTo>
                    <a:pt x="206" y="295"/>
                  </a:lnTo>
                  <a:lnTo>
                    <a:pt x="206" y="293"/>
                  </a:lnTo>
                  <a:lnTo>
                    <a:pt x="206" y="293"/>
                  </a:lnTo>
                  <a:lnTo>
                    <a:pt x="206" y="291"/>
                  </a:lnTo>
                  <a:lnTo>
                    <a:pt x="206" y="291"/>
                  </a:lnTo>
                  <a:lnTo>
                    <a:pt x="206" y="291"/>
                  </a:lnTo>
                  <a:lnTo>
                    <a:pt x="204" y="291"/>
                  </a:lnTo>
                  <a:lnTo>
                    <a:pt x="204" y="291"/>
                  </a:lnTo>
                  <a:lnTo>
                    <a:pt x="202" y="289"/>
                  </a:lnTo>
                  <a:lnTo>
                    <a:pt x="202" y="289"/>
                  </a:lnTo>
                  <a:lnTo>
                    <a:pt x="200" y="285"/>
                  </a:lnTo>
                  <a:lnTo>
                    <a:pt x="200" y="285"/>
                  </a:lnTo>
                  <a:lnTo>
                    <a:pt x="202" y="283"/>
                  </a:lnTo>
                  <a:lnTo>
                    <a:pt x="202" y="283"/>
                  </a:lnTo>
                  <a:lnTo>
                    <a:pt x="202" y="281"/>
                  </a:lnTo>
                  <a:lnTo>
                    <a:pt x="202" y="279"/>
                  </a:lnTo>
                  <a:lnTo>
                    <a:pt x="202" y="277"/>
                  </a:lnTo>
                  <a:lnTo>
                    <a:pt x="200" y="276"/>
                  </a:lnTo>
                  <a:lnTo>
                    <a:pt x="200" y="274"/>
                  </a:lnTo>
                  <a:lnTo>
                    <a:pt x="200" y="272"/>
                  </a:lnTo>
                  <a:lnTo>
                    <a:pt x="198" y="270"/>
                  </a:lnTo>
                  <a:lnTo>
                    <a:pt x="196" y="268"/>
                  </a:lnTo>
                  <a:lnTo>
                    <a:pt x="196" y="266"/>
                  </a:lnTo>
                  <a:lnTo>
                    <a:pt x="196" y="264"/>
                  </a:lnTo>
                  <a:lnTo>
                    <a:pt x="198" y="260"/>
                  </a:lnTo>
                  <a:lnTo>
                    <a:pt x="200" y="257"/>
                  </a:lnTo>
                  <a:lnTo>
                    <a:pt x="200" y="255"/>
                  </a:lnTo>
                  <a:lnTo>
                    <a:pt x="202" y="255"/>
                  </a:lnTo>
                  <a:lnTo>
                    <a:pt x="202" y="255"/>
                  </a:lnTo>
                  <a:lnTo>
                    <a:pt x="202" y="257"/>
                  </a:lnTo>
                  <a:lnTo>
                    <a:pt x="204" y="257"/>
                  </a:lnTo>
                  <a:lnTo>
                    <a:pt x="204" y="253"/>
                  </a:lnTo>
                  <a:lnTo>
                    <a:pt x="204" y="251"/>
                  </a:lnTo>
                  <a:lnTo>
                    <a:pt x="204" y="249"/>
                  </a:lnTo>
                  <a:lnTo>
                    <a:pt x="204" y="249"/>
                  </a:lnTo>
                  <a:lnTo>
                    <a:pt x="202" y="249"/>
                  </a:lnTo>
                  <a:lnTo>
                    <a:pt x="202" y="247"/>
                  </a:lnTo>
                  <a:lnTo>
                    <a:pt x="200" y="245"/>
                  </a:lnTo>
                  <a:lnTo>
                    <a:pt x="200" y="245"/>
                  </a:lnTo>
                  <a:lnTo>
                    <a:pt x="200" y="243"/>
                  </a:lnTo>
                  <a:lnTo>
                    <a:pt x="202" y="243"/>
                  </a:lnTo>
                  <a:lnTo>
                    <a:pt x="202" y="245"/>
                  </a:lnTo>
                  <a:lnTo>
                    <a:pt x="204" y="245"/>
                  </a:lnTo>
                  <a:lnTo>
                    <a:pt x="204" y="243"/>
                  </a:lnTo>
                  <a:lnTo>
                    <a:pt x="206" y="243"/>
                  </a:lnTo>
                  <a:lnTo>
                    <a:pt x="206" y="241"/>
                  </a:lnTo>
                  <a:lnTo>
                    <a:pt x="206" y="241"/>
                  </a:lnTo>
                  <a:lnTo>
                    <a:pt x="204" y="239"/>
                  </a:lnTo>
                  <a:lnTo>
                    <a:pt x="204" y="237"/>
                  </a:lnTo>
                  <a:lnTo>
                    <a:pt x="206" y="237"/>
                  </a:lnTo>
                  <a:lnTo>
                    <a:pt x="211" y="232"/>
                  </a:lnTo>
                  <a:lnTo>
                    <a:pt x="213" y="228"/>
                  </a:lnTo>
                  <a:lnTo>
                    <a:pt x="217" y="224"/>
                  </a:lnTo>
                  <a:lnTo>
                    <a:pt x="217" y="224"/>
                  </a:lnTo>
                  <a:lnTo>
                    <a:pt x="219" y="222"/>
                  </a:lnTo>
                  <a:lnTo>
                    <a:pt x="219" y="222"/>
                  </a:lnTo>
                  <a:lnTo>
                    <a:pt x="225" y="224"/>
                  </a:lnTo>
                  <a:lnTo>
                    <a:pt x="227" y="224"/>
                  </a:lnTo>
                  <a:lnTo>
                    <a:pt x="227" y="224"/>
                  </a:lnTo>
                  <a:lnTo>
                    <a:pt x="230" y="222"/>
                  </a:lnTo>
                  <a:lnTo>
                    <a:pt x="234" y="218"/>
                  </a:lnTo>
                  <a:lnTo>
                    <a:pt x="240" y="215"/>
                  </a:lnTo>
                  <a:lnTo>
                    <a:pt x="246" y="215"/>
                  </a:lnTo>
                  <a:lnTo>
                    <a:pt x="250" y="211"/>
                  </a:lnTo>
                  <a:lnTo>
                    <a:pt x="251" y="211"/>
                  </a:lnTo>
                  <a:lnTo>
                    <a:pt x="251" y="211"/>
                  </a:lnTo>
                  <a:lnTo>
                    <a:pt x="255" y="211"/>
                  </a:lnTo>
                  <a:lnTo>
                    <a:pt x="257" y="211"/>
                  </a:lnTo>
                  <a:lnTo>
                    <a:pt x="259" y="211"/>
                  </a:lnTo>
                  <a:lnTo>
                    <a:pt x="259" y="211"/>
                  </a:lnTo>
                  <a:lnTo>
                    <a:pt x="259" y="213"/>
                  </a:lnTo>
                  <a:lnTo>
                    <a:pt x="261" y="213"/>
                  </a:lnTo>
                  <a:lnTo>
                    <a:pt x="261" y="213"/>
                  </a:lnTo>
                  <a:lnTo>
                    <a:pt x="263" y="213"/>
                  </a:lnTo>
                  <a:lnTo>
                    <a:pt x="263" y="213"/>
                  </a:lnTo>
                  <a:lnTo>
                    <a:pt x="265" y="215"/>
                  </a:lnTo>
                  <a:lnTo>
                    <a:pt x="267" y="217"/>
                  </a:lnTo>
                  <a:lnTo>
                    <a:pt x="269" y="218"/>
                  </a:lnTo>
                  <a:lnTo>
                    <a:pt x="269" y="218"/>
                  </a:lnTo>
                  <a:lnTo>
                    <a:pt x="270" y="218"/>
                  </a:lnTo>
                  <a:lnTo>
                    <a:pt x="272" y="218"/>
                  </a:lnTo>
                  <a:lnTo>
                    <a:pt x="276" y="217"/>
                  </a:lnTo>
                  <a:lnTo>
                    <a:pt x="278" y="217"/>
                  </a:lnTo>
                  <a:lnTo>
                    <a:pt x="280" y="218"/>
                  </a:lnTo>
                  <a:lnTo>
                    <a:pt x="282" y="218"/>
                  </a:lnTo>
                  <a:lnTo>
                    <a:pt x="284" y="218"/>
                  </a:lnTo>
                  <a:lnTo>
                    <a:pt x="284" y="218"/>
                  </a:lnTo>
                  <a:lnTo>
                    <a:pt x="286" y="218"/>
                  </a:lnTo>
                  <a:lnTo>
                    <a:pt x="290" y="218"/>
                  </a:lnTo>
                  <a:lnTo>
                    <a:pt x="293" y="220"/>
                  </a:lnTo>
                  <a:lnTo>
                    <a:pt x="295" y="220"/>
                  </a:lnTo>
                  <a:lnTo>
                    <a:pt x="297" y="220"/>
                  </a:lnTo>
                  <a:lnTo>
                    <a:pt x="297" y="220"/>
                  </a:lnTo>
                  <a:lnTo>
                    <a:pt x="299" y="224"/>
                  </a:lnTo>
                  <a:lnTo>
                    <a:pt x="301" y="226"/>
                  </a:lnTo>
                  <a:lnTo>
                    <a:pt x="301" y="228"/>
                  </a:lnTo>
                  <a:lnTo>
                    <a:pt x="303" y="228"/>
                  </a:lnTo>
                  <a:lnTo>
                    <a:pt x="309" y="230"/>
                  </a:lnTo>
                  <a:lnTo>
                    <a:pt x="311" y="230"/>
                  </a:lnTo>
                  <a:lnTo>
                    <a:pt x="312" y="228"/>
                  </a:lnTo>
                  <a:lnTo>
                    <a:pt x="314" y="228"/>
                  </a:lnTo>
                  <a:lnTo>
                    <a:pt x="314" y="226"/>
                  </a:lnTo>
                  <a:lnTo>
                    <a:pt x="314" y="224"/>
                  </a:lnTo>
                  <a:close/>
                </a:path>
              </a:pathLst>
            </a:custGeom>
            <a:solidFill>
              <a:srgbClr val="DCDDDF"/>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03" name="Freeform 53">
              <a:extLst>
                <a:ext uri="{FF2B5EF4-FFF2-40B4-BE49-F238E27FC236}">
                  <a16:creationId xmlns:a16="http://schemas.microsoft.com/office/drawing/2014/main" id="{5CD5A4F2-7C73-C6B4-D6BA-339C00EB608E}"/>
                </a:ext>
              </a:extLst>
            </p:cNvPr>
            <p:cNvSpPr>
              <a:spLocks/>
            </p:cNvSpPr>
            <p:nvPr/>
          </p:nvSpPr>
          <p:spPr bwMode="auto">
            <a:xfrm>
              <a:off x="2304064" y="1889072"/>
              <a:ext cx="592372" cy="520990"/>
            </a:xfrm>
            <a:custGeom>
              <a:avLst/>
              <a:gdLst>
                <a:gd name="T0" fmla="*/ 301 w 314"/>
                <a:gd name="T1" fmla="*/ 211 h 308"/>
                <a:gd name="T2" fmla="*/ 293 w 314"/>
                <a:gd name="T3" fmla="*/ 198 h 308"/>
                <a:gd name="T4" fmla="*/ 293 w 314"/>
                <a:gd name="T5" fmla="*/ 171 h 308"/>
                <a:gd name="T6" fmla="*/ 288 w 314"/>
                <a:gd name="T7" fmla="*/ 163 h 308"/>
                <a:gd name="T8" fmla="*/ 291 w 314"/>
                <a:gd name="T9" fmla="*/ 139 h 308"/>
                <a:gd name="T10" fmla="*/ 267 w 314"/>
                <a:gd name="T11" fmla="*/ 110 h 308"/>
                <a:gd name="T12" fmla="*/ 263 w 314"/>
                <a:gd name="T13" fmla="*/ 91 h 308"/>
                <a:gd name="T14" fmla="*/ 251 w 314"/>
                <a:gd name="T15" fmla="*/ 83 h 308"/>
                <a:gd name="T16" fmla="*/ 251 w 314"/>
                <a:gd name="T17" fmla="*/ 70 h 308"/>
                <a:gd name="T18" fmla="*/ 259 w 314"/>
                <a:gd name="T19" fmla="*/ 57 h 308"/>
                <a:gd name="T20" fmla="*/ 253 w 314"/>
                <a:gd name="T21" fmla="*/ 51 h 308"/>
                <a:gd name="T22" fmla="*/ 246 w 314"/>
                <a:gd name="T23" fmla="*/ 59 h 308"/>
                <a:gd name="T24" fmla="*/ 232 w 314"/>
                <a:gd name="T25" fmla="*/ 63 h 308"/>
                <a:gd name="T26" fmla="*/ 223 w 314"/>
                <a:gd name="T27" fmla="*/ 64 h 308"/>
                <a:gd name="T28" fmla="*/ 213 w 314"/>
                <a:gd name="T29" fmla="*/ 45 h 308"/>
                <a:gd name="T30" fmla="*/ 194 w 314"/>
                <a:gd name="T31" fmla="*/ 24 h 308"/>
                <a:gd name="T32" fmla="*/ 185 w 314"/>
                <a:gd name="T33" fmla="*/ 32 h 308"/>
                <a:gd name="T34" fmla="*/ 166 w 314"/>
                <a:gd name="T35" fmla="*/ 38 h 308"/>
                <a:gd name="T36" fmla="*/ 126 w 314"/>
                <a:gd name="T37" fmla="*/ 21 h 308"/>
                <a:gd name="T38" fmla="*/ 95 w 314"/>
                <a:gd name="T39" fmla="*/ 4 h 308"/>
                <a:gd name="T40" fmla="*/ 65 w 314"/>
                <a:gd name="T41" fmla="*/ 11 h 308"/>
                <a:gd name="T42" fmla="*/ 46 w 314"/>
                <a:gd name="T43" fmla="*/ 26 h 308"/>
                <a:gd name="T44" fmla="*/ 28 w 314"/>
                <a:gd name="T45" fmla="*/ 32 h 308"/>
                <a:gd name="T46" fmla="*/ 21 w 314"/>
                <a:gd name="T47" fmla="*/ 38 h 308"/>
                <a:gd name="T48" fmla="*/ 30 w 314"/>
                <a:gd name="T49" fmla="*/ 51 h 308"/>
                <a:gd name="T50" fmla="*/ 30 w 314"/>
                <a:gd name="T51" fmla="*/ 66 h 308"/>
                <a:gd name="T52" fmla="*/ 27 w 314"/>
                <a:gd name="T53" fmla="*/ 80 h 308"/>
                <a:gd name="T54" fmla="*/ 11 w 314"/>
                <a:gd name="T55" fmla="*/ 104 h 308"/>
                <a:gd name="T56" fmla="*/ 4 w 314"/>
                <a:gd name="T57" fmla="*/ 114 h 308"/>
                <a:gd name="T58" fmla="*/ 6 w 314"/>
                <a:gd name="T59" fmla="*/ 116 h 308"/>
                <a:gd name="T60" fmla="*/ 11 w 314"/>
                <a:gd name="T61" fmla="*/ 127 h 308"/>
                <a:gd name="T62" fmla="*/ 36 w 314"/>
                <a:gd name="T63" fmla="*/ 152 h 308"/>
                <a:gd name="T64" fmla="*/ 32 w 314"/>
                <a:gd name="T65" fmla="*/ 156 h 308"/>
                <a:gd name="T66" fmla="*/ 59 w 314"/>
                <a:gd name="T67" fmla="*/ 209 h 308"/>
                <a:gd name="T68" fmla="*/ 67 w 314"/>
                <a:gd name="T69" fmla="*/ 205 h 308"/>
                <a:gd name="T70" fmla="*/ 70 w 314"/>
                <a:gd name="T71" fmla="*/ 196 h 308"/>
                <a:gd name="T72" fmla="*/ 82 w 314"/>
                <a:gd name="T73" fmla="*/ 209 h 308"/>
                <a:gd name="T74" fmla="*/ 86 w 314"/>
                <a:gd name="T75" fmla="*/ 211 h 308"/>
                <a:gd name="T76" fmla="*/ 89 w 314"/>
                <a:gd name="T77" fmla="*/ 215 h 308"/>
                <a:gd name="T78" fmla="*/ 91 w 314"/>
                <a:gd name="T79" fmla="*/ 217 h 308"/>
                <a:gd name="T80" fmla="*/ 93 w 314"/>
                <a:gd name="T81" fmla="*/ 222 h 308"/>
                <a:gd name="T82" fmla="*/ 95 w 314"/>
                <a:gd name="T83" fmla="*/ 236 h 308"/>
                <a:gd name="T84" fmla="*/ 110 w 314"/>
                <a:gd name="T85" fmla="*/ 251 h 308"/>
                <a:gd name="T86" fmla="*/ 118 w 314"/>
                <a:gd name="T87" fmla="*/ 253 h 308"/>
                <a:gd name="T88" fmla="*/ 128 w 314"/>
                <a:gd name="T89" fmla="*/ 262 h 308"/>
                <a:gd name="T90" fmla="*/ 135 w 314"/>
                <a:gd name="T91" fmla="*/ 268 h 308"/>
                <a:gd name="T92" fmla="*/ 145 w 314"/>
                <a:gd name="T93" fmla="*/ 285 h 308"/>
                <a:gd name="T94" fmla="*/ 150 w 314"/>
                <a:gd name="T95" fmla="*/ 298 h 308"/>
                <a:gd name="T96" fmla="*/ 166 w 314"/>
                <a:gd name="T97" fmla="*/ 304 h 308"/>
                <a:gd name="T98" fmla="*/ 171 w 314"/>
                <a:gd name="T99" fmla="*/ 304 h 308"/>
                <a:gd name="T100" fmla="*/ 185 w 314"/>
                <a:gd name="T101" fmla="*/ 308 h 308"/>
                <a:gd name="T102" fmla="*/ 202 w 314"/>
                <a:gd name="T103" fmla="*/ 296 h 308"/>
                <a:gd name="T104" fmla="*/ 204 w 314"/>
                <a:gd name="T105" fmla="*/ 291 h 308"/>
                <a:gd name="T106" fmla="*/ 202 w 314"/>
                <a:gd name="T107" fmla="*/ 277 h 308"/>
                <a:gd name="T108" fmla="*/ 200 w 314"/>
                <a:gd name="T109" fmla="*/ 257 h 308"/>
                <a:gd name="T110" fmla="*/ 204 w 314"/>
                <a:gd name="T111" fmla="*/ 249 h 308"/>
                <a:gd name="T112" fmla="*/ 204 w 314"/>
                <a:gd name="T113" fmla="*/ 243 h 308"/>
                <a:gd name="T114" fmla="*/ 217 w 314"/>
                <a:gd name="T115" fmla="*/ 224 h 308"/>
                <a:gd name="T116" fmla="*/ 240 w 314"/>
                <a:gd name="T117" fmla="*/ 215 h 308"/>
                <a:gd name="T118" fmla="*/ 259 w 314"/>
                <a:gd name="T119" fmla="*/ 213 h 308"/>
                <a:gd name="T120" fmla="*/ 270 w 314"/>
                <a:gd name="T121" fmla="*/ 218 h 308"/>
                <a:gd name="T122" fmla="*/ 290 w 314"/>
                <a:gd name="T123" fmla="*/ 218 h 308"/>
                <a:gd name="T124" fmla="*/ 309 w 314"/>
                <a:gd name="T125" fmla="*/ 23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4" h="308">
                  <a:moveTo>
                    <a:pt x="314" y="224"/>
                  </a:moveTo>
                  <a:lnTo>
                    <a:pt x="312" y="220"/>
                  </a:lnTo>
                  <a:lnTo>
                    <a:pt x="311" y="217"/>
                  </a:lnTo>
                  <a:lnTo>
                    <a:pt x="307" y="213"/>
                  </a:lnTo>
                  <a:lnTo>
                    <a:pt x="307" y="213"/>
                  </a:lnTo>
                  <a:lnTo>
                    <a:pt x="305" y="209"/>
                  </a:lnTo>
                  <a:lnTo>
                    <a:pt x="305" y="211"/>
                  </a:lnTo>
                  <a:lnTo>
                    <a:pt x="303" y="211"/>
                  </a:lnTo>
                  <a:lnTo>
                    <a:pt x="301" y="211"/>
                  </a:lnTo>
                  <a:lnTo>
                    <a:pt x="299" y="211"/>
                  </a:lnTo>
                  <a:lnTo>
                    <a:pt x="297" y="211"/>
                  </a:lnTo>
                  <a:lnTo>
                    <a:pt x="295" y="211"/>
                  </a:lnTo>
                  <a:lnTo>
                    <a:pt x="293" y="209"/>
                  </a:lnTo>
                  <a:lnTo>
                    <a:pt x="291" y="209"/>
                  </a:lnTo>
                  <a:lnTo>
                    <a:pt x="291" y="207"/>
                  </a:lnTo>
                  <a:lnTo>
                    <a:pt x="291" y="205"/>
                  </a:lnTo>
                  <a:lnTo>
                    <a:pt x="291" y="201"/>
                  </a:lnTo>
                  <a:lnTo>
                    <a:pt x="293" y="198"/>
                  </a:lnTo>
                  <a:lnTo>
                    <a:pt x="293" y="194"/>
                  </a:lnTo>
                  <a:lnTo>
                    <a:pt x="291" y="192"/>
                  </a:lnTo>
                  <a:lnTo>
                    <a:pt x="288" y="190"/>
                  </a:lnTo>
                  <a:lnTo>
                    <a:pt x="288" y="186"/>
                  </a:lnTo>
                  <a:lnTo>
                    <a:pt x="297" y="180"/>
                  </a:lnTo>
                  <a:lnTo>
                    <a:pt x="299" y="179"/>
                  </a:lnTo>
                  <a:lnTo>
                    <a:pt x="299" y="177"/>
                  </a:lnTo>
                  <a:lnTo>
                    <a:pt x="297" y="173"/>
                  </a:lnTo>
                  <a:lnTo>
                    <a:pt x="293" y="171"/>
                  </a:lnTo>
                  <a:lnTo>
                    <a:pt x="291" y="171"/>
                  </a:lnTo>
                  <a:lnTo>
                    <a:pt x="291" y="169"/>
                  </a:lnTo>
                  <a:lnTo>
                    <a:pt x="290" y="169"/>
                  </a:lnTo>
                  <a:lnTo>
                    <a:pt x="290" y="169"/>
                  </a:lnTo>
                  <a:lnTo>
                    <a:pt x="290" y="167"/>
                  </a:lnTo>
                  <a:lnTo>
                    <a:pt x="288" y="165"/>
                  </a:lnTo>
                  <a:lnTo>
                    <a:pt x="288" y="165"/>
                  </a:lnTo>
                  <a:lnTo>
                    <a:pt x="288" y="163"/>
                  </a:lnTo>
                  <a:lnTo>
                    <a:pt x="288" y="163"/>
                  </a:lnTo>
                  <a:lnTo>
                    <a:pt x="288" y="161"/>
                  </a:lnTo>
                  <a:lnTo>
                    <a:pt x="286" y="160"/>
                  </a:lnTo>
                  <a:lnTo>
                    <a:pt x="286" y="158"/>
                  </a:lnTo>
                  <a:lnTo>
                    <a:pt x="288" y="154"/>
                  </a:lnTo>
                  <a:lnTo>
                    <a:pt x="288" y="152"/>
                  </a:lnTo>
                  <a:lnTo>
                    <a:pt x="290" y="146"/>
                  </a:lnTo>
                  <a:lnTo>
                    <a:pt x="290" y="144"/>
                  </a:lnTo>
                  <a:lnTo>
                    <a:pt x="291" y="140"/>
                  </a:lnTo>
                  <a:lnTo>
                    <a:pt x="291" y="139"/>
                  </a:lnTo>
                  <a:lnTo>
                    <a:pt x="291" y="135"/>
                  </a:lnTo>
                  <a:lnTo>
                    <a:pt x="290" y="135"/>
                  </a:lnTo>
                  <a:lnTo>
                    <a:pt x="286" y="133"/>
                  </a:lnTo>
                  <a:lnTo>
                    <a:pt x="284" y="129"/>
                  </a:lnTo>
                  <a:lnTo>
                    <a:pt x="274" y="118"/>
                  </a:lnTo>
                  <a:lnTo>
                    <a:pt x="272" y="114"/>
                  </a:lnTo>
                  <a:lnTo>
                    <a:pt x="270" y="112"/>
                  </a:lnTo>
                  <a:lnTo>
                    <a:pt x="267" y="110"/>
                  </a:lnTo>
                  <a:lnTo>
                    <a:pt x="267" y="110"/>
                  </a:lnTo>
                  <a:lnTo>
                    <a:pt x="267" y="110"/>
                  </a:lnTo>
                  <a:lnTo>
                    <a:pt x="265" y="108"/>
                  </a:lnTo>
                  <a:lnTo>
                    <a:pt x="265" y="108"/>
                  </a:lnTo>
                  <a:lnTo>
                    <a:pt x="267" y="106"/>
                  </a:lnTo>
                  <a:lnTo>
                    <a:pt x="267" y="102"/>
                  </a:lnTo>
                  <a:lnTo>
                    <a:pt x="263" y="93"/>
                  </a:lnTo>
                  <a:lnTo>
                    <a:pt x="263" y="93"/>
                  </a:lnTo>
                  <a:lnTo>
                    <a:pt x="263" y="93"/>
                  </a:lnTo>
                  <a:lnTo>
                    <a:pt x="263" y="91"/>
                  </a:lnTo>
                  <a:lnTo>
                    <a:pt x="265" y="89"/>
                  </a:lnTo>
                  <a:lnTo>
                    <a:pt x="265" y="89"/>
                  </a:lnTo>
                  <a:lnTo>
                    <a:pt x="265" y="89"/>
                  </a:lnTo>
                  <a:lnTo>
                    <a:pt x="265" y="87"/>
                  </a:lnTo>
                  <a:lnTo>
                    <a:pt x="261" y="82"/>
                  </a:lnTo>
                  <a:lnTo>
                    <a:pt x="259" y="76"/>
                  </a:lnTo>
                  <a:lnTo>
                    <a:pt x="257" y="78"/>
                  </a:lnTo>
                  <a:lnTo>
                    <a:pt x="251" y="83"/>
                  </a:lnTo>
                  <a:lnTo>
                    <a:pt x="251" y="83"/>
                  </a:lnTo>
                  <a:lnTo>
                    <a:pt x="250" y="82"/>
                  </a:lnTo>
                  <a:lnTo>
                    <a:pt x="250" y="82"/>
                  </a:lnTo>
                  <a:lnTo>
                    <a:pt x="248" y="80"/>
                  </a:lnTo>
                  <a:lnTo>
                    <a:pt x="248" y="80"/>
                  </a:lnTo>
                  <a:lnTo>
                    <a:pt x="248" y="78"/>
                  </a:lnTo>
                  <a:lnTo>
                    <a:pt x="250" y="76"/>
                  </a:lnTo>
                  <a:lnTo>
                    <a:pt x="250" y="74"/>
                  </a:lnTo>
                  <a:lnTo>
                    <a:pt x="250" y="72"/>
                  </a:lnTo>
                  <a:lnTo>
                    <a:pt x="251" y="70"/>
                  </a:lnTo>
                  <a:lnTo>
                    <a:pt x="251" y="68"/>
                  </a:lnTo>
                  <a:lnTo>
                    <a:pt x="251" y="68"/>
                  </a:lnTo>
                  <a:lnTo>
                    <a:pt x="253" y="66"/>
                  </a:lnTo>
                  <a:lnTo>
                    <a:pt x="257" y="64"/>
                  </a:lnTo>
                  <a:lnTo>
                    <a:pt x="257" y="64"/>
                  </a:lnTo>
                  <a:lnTo>
                    <a:pt x="257" y="63"/>
                  </a:lnTo>
                  <a:lnTo>
                    <a:pt x="257" y="63"/>
                  </a:lnTo>
                  <a:lnTo>
                    <a:pt x="259" y="61"/>
                  </a:lnTo>
                  <a:lnTo>
                    <a:pt x="259" y="57"/>
                  </a:lnTo>
                  <a:lnTo>
                    <a:pt x="259" y="57"/>
                  </a:lnTo>
                  <a:lnTo>
                    <a:pt x="259" y="55"/>
                  </a:lnTo>
                  <a:lnTo>
                    <a:pt x="257" y="51"/>
                  </a:lnTo>
                  <a:lnTo>
                    <a:pt x="257" y="51"/>
                  </a:lnTo>
                  <a:lnTo>
                    <a:pt x="257" y="51"/>
                  </a:lnTo>
                  <a:lnTo>
                    <a:pt x="257" y="51"/>
                  </a:lnTo>
                  <a:lnTo>
                    <a:pt x="255" y="49"/>
                  </a:lnTo>
                  <a:lnTo>
                    <a:pt x="253" y="51"/>
                  </a:lnTo>
                  <a:lnTo>
                    <a:pt x="253" y="51"/>
                  </a:lnTo>
                  <a:lnTo>
                    <a:pt x="253" y="51"/>
                  </a:lnTo>
                  <a:lnTo>
                    <a:pt x="251" y="51"/>
                  </a:lnTo>
                  <a:lnTo>
                    <a:pt x="253" y="53"/>
                  </a:lnTo>
                  <a:lnTo>
                    <a:pt x="251" y="53"/>
                  </a:lnTo>
                  <a:lnTo>
                    <a:pt x="251" y="55"/>
                  </a:lnTo>
                  <a:lnTo>
                    <a:pt x="250" y="55"/>
                  </a:lnTo>
                  <a:lnTo>
                    <a:pt x="248" y="57"/>
                  </a:lnTo>
                  <a:lnTo>
                    <a:pt x="246" y="59"/>
                  </a:lnTo>
                  <a:lnTo>
                    <a:pt x="246" y="59"/>
                  </a:lnTo>
                  <a:lnTo>
                    <a:pt x="244" y="59"/>
                  </a:lnTo>
                  <a:lnTo>
                    <a:pt x="242" y="59"/>
                  </a:lnTo>
                  <a:lnTo>
                    <a:pt x="240" y="59"/>
                  </a:lnTo>
                  <a:lnTo>
                    <a:pt x="240" y="59"/>
                  </a:lnTo>
                  <a:lnTo>
                    <a:pt x="238" y="61"/>
                  </a:lnTo>
                  <a:lnTo>
                    <a:pt x="236" y="61"/>
                  </a:lnTo>
                  <a:lnTo>
                    <a:pt x="234" y="61"/>
                  </a:lnTo>
                  <a:lnTo>
                    <a:pt x="232" y="63"/>
                  </a:lnTo>
                  <a:lnTo>
                    <a:pt x="232" y="63"/>
                  </a:lnTo>
                  <a:lnTo>
                    <a:pt x="232" y="63"/>
                  </a:lnTo>
                  <a:lnTo>
                    <a:pt x="230" y="64"/>
                  </a:lnTo>
                  <a:lnTo>
                    <a:pt x="230" y="64"/>
                  </a:lnTo>
                  <a:lnTo>
                    <a:pt x="230" y="64"/>
                  </a:lnTo>
                  <a:lnTo>
                    <a:pt x="229" y="66"/>
                  </a:lnTo>
                  <a:lnTo>
                    <a:pt x="227" y="68"/>
                  </a:lnTo>
                  <a:lnTo>
                    <a:pt x="225" y="68"/>
                  </a:lnTo>
                  <a:lnTo>
                    <a:pt x="223" y="66"/>
                  </a:lnTo>
                  <a:lnTo>
                    <a:pt x="223" y="64"/>
                  </a:lnTo>
                  <a:lnTo>
                    <a:pt x="221" y="63"/>
                  </a:lnTo>
                  <a:lnTo>
                    <a:pt x="221" y="63"/>
                  </a:lnTo>
                  <a:lnTo>
                    <a:pt x="219" y="59"/>
                  </a:lnTo>
                  <a:lnTo>
                    <a:pt x="217" y="59"/>
                  </a:lnTo>
                  <a:lnTo>
                    <a:pt x="217" y="57"/>
                  </a:lnTo>
                  <a:lnTo>
                    <a:pt x="217" y="51"/>
                  </a:lnTo>
                  <a:lnTo>
                    <a:pt x="215" y="49"/>
                  </a:lnTo>
                  <a:lnTo>
                    <a:pt x="215" y="47"/>
                  </a:lnTo>
                  <a:lnTo>
                    <a:pt x="213" y="45"/>
                  </a:lnTo>
                  <a:lnTo>
                    <a:pt x="210" y="38"/>
                  </a:lnTo>
                  <a:lnTo>
                    <a:pt x="208" y="34"/>
                  </a:lnTo>
                  <a:lnTo>
                    <a:pt x="202" y="28"/>
                  </a:lnTo>
                  <a:lnTo>
                    <a:pt x="200" y="26"/>
                  </a:lnTo>
                  <a:lnTo>
                    <a:pt x="198" y="24"/>
                  </a:lnTo>
                  <a:lnTo>
                    <a:pt x="198" y="23"/>
                  </a:lnTo>
                  <a:lnTo>
                    <a:pt x="196" y="23"/>
                  </a:lnTo>
                  <a:lnTo>
                    <a:pt x="196" y="23"/>
                  </a:lnTo>
                  <a:lnTo>
                    <a:pt x="194" y="24"/>
                  </a:lnTo>
                  <a:lnTo>
                    <a:pt x="192" y="24"/>
                  </a:lnTo>
                  <a:lnTo>
                    <a:pt x="192" y="24"/>
                  </a:lnTo>
                  <a:lnTo>
                    <a:pt x="192" y="26"/>
                  </a:lnTo>
                  <a:lnTo>
                    <a:pt x="190" y="26"/>
                  </a:lnTo>
                  <a:lnTo>
                    <a:pt x="190" y="28"/>
                  </a:lnTo>
                  <a:lnTo>
                    <a:pt x="189" y="28"/>
                  </a:lnTo>
                  <a:lnTo>
                    <a:pt x="189" y="28"/>
                  </a:lnTo>
                  <a:lnTo>
                    <a:pt x="187" y="28"/>
                  </a:lnTo>
                  <a:lnTo>
                    <a:pt x="185" y="32"/>
                  </a:lnTo>
                  <a:lnTo>
                    <a:pt x="183" y="32"/>
                  </a:lnTo>
                  <a:lnTo>
                    <a:pt x="183" y="34"/>
                  </a:lnTo>
                  <a:lnTo>
                    <a:pt x="181" y="34"/>
                  </a:lnTo>
                  <a:lnTo>
                    <a:pt x="177" y="34"/>
                  </a:lnTo>
                  <a:lnTo>
                    <a:pt x="175" y="36"/>
                  </a:lnTo>
                  <a:lnTo>
                    <a:pt x="171" y="36"/>
                  </a:lnTo>
                  <a:lnTo>
                    <a:pt x="168" y="36"/>
                  </a:lnTo>
                  <a:lnTo>
                    <a:pt x="168" y="38"/>
                  </a:lnTo>
                  <a:lnTo>
                    <a:pt x="166" y="38"/>
                  </a:lnTo>
                  <a:lnTo>
                    <a:pt x="166" y="38"/>
                  </a:lnTo>
                  <a:lnTo>
                    <a:pt x="166" y="40"/>
                  </a:lnTo>
                  <a:lnTo>
                    <a:pt x="164" y="40"/>
                  </a:lnTo>
                  <a:lnTo>
                    <a:pt x="150" y="36"/>
                  </a:lnTo>
                  <a:lnTo>
                    <a:pt x="143" y="32"/>
                  </a:lnTo>
                  <a:lnTo>
                    <a:pt x="139" y="30"/>
                  </a:lnTo>
                  <a:lnTo>
                    <a:pt x="131" y="24"/>
                  </a:lnTo>
                  <a:lnTo>
                    <a:pt x="128" y="23"/>
                  </a:lnTo>
                  <a:lnTo>
                    <a:pt x="126" y="21"/>
                  </a:lnTo>
                  <a:lnTo>
                    <a:pt x="124" y="19"/>
                  </a:lnTo>
                  <a:lnTo>
                    <a:pt x="122" y="17"/>
                  </a:lnTo>
                  <a:lnTo>
                    <a:pt x="116" y="11"/>
                  </a:lnTo>
                  <a:lnTo>
                    <a:pt x="114" y="11"/>
                  </a:lnTo>
                  <a:lnTo>
                    <a:pt x="110" y="4"/>
                  </a:lnTo>
                  <a:lnTo>
                    <a:pt x="109" y="4"/>
                  </a:lnTo>
                  <a:lnTo>
                    <a:pt x="107" y="4"/>
                  </a:lnTo>
                  <a:lnTo>
                    <a:pt x="97" y="4"/>
                  </a:lnTo>
                  <a:lnTo>
                    <a:pt x="95" y="4"/>
                  </a:lnTo>
                  <a:lnTo>
                    <a:pt x="89" y="0"/>
                  </a:lnTo>
                  <a:lnTo>
                    <a:pt x="89" y="0"/>
                  </a:lnTo>
                  <a:lnTo>
                    <a:pt x="86" y="2"/>
                  </a:lnTo>
                  <a:lnTo>
                    <a:pt x="74" y="4"/>
                  </a:lnTo>
                  <a:lnTo>
                    <a:pt x="70" y="5"/>
                  </a:lnTo>
                  <a:lnTo>
                    <a:pt x="67" y="9"/>
                  </a:lnTo>
                  <a:lnTo>
                    <a:pt x="65" y="9"/>
                  </a:lnTo>
                  <a:lnTo>
                    <a:pt x="65" y="11"/>
                  </a:lnTo>
                  <a:lnTo>
                    <a:pt x="65" y="11"/>
                  </a:lnTo>
                  <a:lnTo>
                    <a:pt x="63" y="13"/>
                  </a:lnTo>
                  <a:lnTo>
                    <a:pt x="63" y="15"/>
                  </a:lnTo>
                  <a:lnTo>
                    <a:pt x="61" y="17"/>
                  </a:lnTo>
                  <a:lnTo>
                    <a:pt x="59" y="19"/>
                  </a:lnTo>
                  <a:lnTo>
                    <a:pt x="57" y="21"/>
                  </a:lnTo>
                  <a:lnTo>
                    <a:pt x="53" y="21"/>
                  </a:lnTo>
                  <a:lnTo>
                    <a:pt x="48" y="23"/>
                  </a:lnTo>
                  <a:lnTo>
                    <a:pt x="46" y="24"/>
                  </a:lnTo>
                  <a:lnTo>
                    <a:pt x="46" y="26"/>
                  </a:lnTo>
                  <a:lnTo>
                    <a:pt x="44" y="28"/>
                  </a:lnTo>
                  <a:lnTo>
                    <a:pt x="36" y="34"/>
                  </a:lnTo>
                  <a:lnTo>
                    <a:pt x="34" y="36"/>
                  </a:lnTo>
                  <a:lnTo>
                    <a:pt x="34" y="36"/>
                  </a:lnTo>
                  <a:lnTo>
                    <a:pt x="32" y="36"/>
                  </a:lnTo>
                  <a:lnTo>
                    <a:pt x="30" y="34"/>
                  </a:lnTo>
                  <a:lnTo>
                    <a:pt x="30" y="32"/>
                  </a:lnTo>
                  <a:lnTo>
                    <a:pt x="30" y="32"/>
                  </a:lnTo>
                  <a:lnTo>
                    <a:pt x="28" y="32"/>
                  </a:lnTo>
                  <a:lnTo>
                    <a:pt x="27" y="32"/>
                  </a:lnTo>
                  <a:lnTo>
                    <a:pt x="25" y="30"/>
                  </a:lnTo>
                  <a:lnTo>
                    <a:pt x="25" y="30"/>
                  </a:lnTo>
                  <a:lnTo>
                    <a:pt x="23" y="32"/>
                  </a:lnTo>
                  <a:lnTo>
                    <a:pt x="21" y="32"/>
                  </a:lnTo>
                  <a:lnTo>
                    <a:pt x="21" y="34"/>
                  </a:lnTo>
                  <a:lnTo>
                    <a:pt x="21" y="34"/>
                  </a:lnTo>
                  <a:lnTo>
                    <a:pt x="21" y="36"/>
                  </a:lnTo>
                  <a:lnTo>
                    <a:pt x="21" y="38"/>
                  </a:lnTo>
                  <a:lnTo>
                    <a:pt x="23" y="40"/>
                  </a:lnTo>
                  <a:lnTo>
                    <a:pt x="25" y="42"/>
                  </a:lnTo>
                  <a:lnTo>
                    <a:pt x="27" y="43"/>
                  </a:lnTo>
                  <a:lnTo>
                    <a:pt x="27" y="45"/>
                  </a:lnTo>
                  <a:lnTo>
                    <a:pt x="28" y="45"/>
                  </a:lnTo>
                  <a:lnTo>
                    <a:pt x="28" y="47"/>
                  </a:lnTo>
                  <a:lnTo>
                    <a:pt x="30" y="49"/>
                  </a:lnTo>
                  <a:lnTo>
                    <a:pt x="30" y="49"/>
                  </a:lnTo>
                  <a:lnTo>
                    <a:pt x="30" y="51"/>
                  </a:lnTo>
                  <a:lnTo>
                    <a:pt x="30" y="51"/>
                  </a:lnTo>
                  <a:lnTo>
                    <a:pt x="30" y="53"/>
                  </a:lnTo>
                  <a:lnTo>
                    <a:pt x="30" y="57"/>
                  </a:lnTo>
                  <a:lnTo>
                    <a:pt x="30" y="59"/>
                  </a:lnTo>
                  <a:lnTo>
                    <a:pt x="32" y="63"/>
                  </a:lnTo>
                  <a:lnTo>
                    <a:pt x="32" y="64"/>
                  </a:lnTo>
                  <a:lnTo>
                    <a:pt x="32" y="64"/>
                  </a:lnTo>
                  <a:lnTo>
                    <a:pt x="32" y="66"/>
                  </a:lnTo>
                  <a:lnTo>
                    <a:pt x="30" y="66"/>
                  </a:lnTo>
                  <a:lnTo>
                    <a:pt x="30" y="68"/>
                  </a:lnTo>
                  <a:lnTo>
                    <a:pt x="28" y="68"/>
                  </a:lnTo>
                  <a:lnTo>
                    <a:pt x="27" y="72"/>
                  </a:lnTo>
                  <a:lnTo>
                    <a:pt x="27" y="74"/>
                  </a:lnTo>
                  <a:lnTo>
                    <a:pt x="25" y="76"/>
                  </a:lnTo>
                  <a:lnTo>
                    <a:pt x="25" y="78"/>
                  </a:lnTo>
                  <a:lnTo>
                    <a:pt x="25" y="78"/>
                  </a:lnTo>
                  <a:lnTo>
                    <a:pt x="27" y="80"/>
                  </a:lnTo>
                  <a:lnTo>
                    <a:pt x="27" y="80"/>
                  </a:lnTo>
                  <a:lnTo>
                    <a:pt x="30" y="87"/>
                  </a:lnTo>
                  <a:lnTo>
                    <a:pt x="30" y="87"/>
                  </a:lnTo>
                  <a:lnTo>
                    <a:pt x="30" y="89"/>
                  </a:lnTo>
                  <a:lnTo>
                    <a:pt x="30" y="89"/>
                  </a:lnTo>
                  <a:lnTo>
                    <a:pt x="25" y="91"/>
                  </a:lnTo>
                  <a:lnTo>
                    <a:pt x="19" y="97"/>
                  </a:lnTo>
                  <a:lnTo>
                    <a:pt x="15" y="101"/>
                  </a:lnTo>
                  <a:lnTo>
                    <a:pt x="13" y="102"/>
                  </a:lnTo>
                  <a:lnTo>
                    <a:pt x="11" y="104"/>
                  </a:lnTo>
                  <a:lnTo>
                    <a:pt x="9" y="104"/>
                  </a:lnTo>
                  <a:lnTo>
                    <a:pt x="4" y="106"/>
                  </a:lnTo>
                  <a:lnTo>
                    <a:pt x="4" y="106"/>
                  </a:lnTo>
                  <a:lnTo>
                    <a:pt x="4" y="106"/>
                  </a:lnTo>
                  <a:lnTo>
                    <a:pt x="2" y="108"/>
                  </a:lnTo>
                  <a:lnTo>
                    <a:pt x="2" y="110"/>
                  </a:lnTo>
                  <a:lnTo>
                    <a:pt x="2" y="112"/>
                  </a:lnTo>
                  <a:lnTo>
                    <a:pt x="4" y="112"/>
                  </a:lnTo>
                  <a:lnTo>
                    <a:pt x="4" y="114"/>
                  </a:lnTo>
                  <a:lnTo>
                    <a:pt x="4" y="114"/>
                  </a:lnTo>
                  <a:lnTo>
                    <a:pt x="6" y="114"/>
                  </a:lnTo>
                  <a:lnTo>
                    <a:pt x="6" y="112"/>
                  </a:lnTo>
                  <a:lnTo>
                    <a:pt x="6" y="112"/>
                  </a:lnTo>
                  <a:lnTo>
                    <a:pt x="8" y="112"/>
                  </a:lnTo>
                  <a:lnTo>
                    <a:pt x="8" y="112"/>
                  </a:lnTo>
                  <a:lnTo>
                    <a:pt x="8" y="114"/>
                  </a:lnTo>
                  <a:lnTo>
                    <a:pt x="8" y="116"/>
                  </a:lnTo>
                  <a:lnTo>
                    <a:pt x="6" y="116"/>
                  </a:lnTo>
                  <a:lnTo>
                    <a:pt x="6" y="118"/>
                  </a:lnTo>
                  <a:lnTo>
                    <a:pt x="0" y="123"/>
                  </a:lnTo>
                  <a:lnTo>
                    <a:pt x="0" y="125"/>
                  </a:lnTo>
                  <a:lnTo>
                    <a:pt x="0" y="125"/>
                  </a:lnTo>
                  <a:lnTo>
                    <a:pt x="0" y="125"/>
                  </a:lnTo>
                  <a:lnTo>
                    <a:pt x="2" y="127"/>
                  </a:lnTo>
                  <a:lnTo>
                    <a:pt x="8" y="127"/>
                  </a:lnTo>
                  <a:lnTo>
                    <a:pt x="9" y="129"/>
                  </a:lnTo>
                  <a:lnTo>
                    <a:pt x="11" y="127"/>
                  </a:lnTo>
                  <a:lnTo>
                    <a:pt x="11" y="129"/>
                  </a:lnTo>
                  <a:lnTo>
                    <a:pt x="15" y="131"/>
                  </a:lnTo>
                  <a:lnTo>
                    <a:pt x="21" y="133"/>
                  </a:lnTo>
                  <a:lnTo>
                    <a:pt x="27" y="137"/>
                  </a:lnTo>
                  <a:lnTo>
                    <a:pt x="27" y="137"/>
                  </a:lnTo>
                  <a:lnTo>
                    <a:pt x="28" y="139"/>
                  </a:lnTo>
                  <a:lnTo>
                    <a:pt x="32" y="144"/>
                  </a:lnTo>
                  <a:lnTo>
                    <a:pt x="36" y="150"/>
                  </a:lnTo>
                  <a:lnTo>
                    <a:pt x="36" y="152"/>
                  </a:lnTo>
                  <a:lnTo>
                    <a:pt x="36" y="152"/>
                  </a:lnTo>
                  <a:lnTo>
                    <a:pt x="34" y="152"/>
                  </a:lnTo>
                  <a:lnTo>
                    <a:pt x="34" y="152"/>
                  </a:lnTo>
                  <a:lnTo>
                    <a:pt x="32" y="152"/>
                  </a:lnTo>
                  <a:lnTo>
                    <a:pt x="32" y="152"/>
                  </a:lnTo>
                  <a:lnTo>
                    <a:pt x="32" y="152"/>
                  </a:lnTo>
                  <a:lnTo>
                    <a:pt x="32" y="154"/>
                  </a:lnTo>
                  <a:lnTo>
                    <a:pt x="30" y="154"/>
                  </a:lnTo>
                  <a:lnTo>
                    <a:pt x="32" y="156"/>
                  </a:lnTo>
                  <a:lnTo>
                    <a:pt x="34" y="160"/>
                  </a:lnTo>
                  <a:lnTo>
                    <a:pt x="46" y="180"/>
                  </a:lnTo>
                  <a:lnTo>
                    <a:pt x="49" y="196"/>
                  </a:lnTo>
                  <a:lnTo>
                    <a:pt x="51" y="201"/>
                  </a:lnTo>
                  <a:lnTo>
                    <a:pt x="51" y="203"/>
                  </a:lnTo>
                  <a:lnTo>
                    <a:pt x="53" y="205"/>
                  </a:lnTo>
                  <a:lnTo>
                    <a:pt x="55" y="207"/>
                  </a:lnTo>
                  <a:lnTo>
                    <a:pt x="57" y="209"/>
                  </a:lnTo>
                  <a:lnTo>
                    <a:pt x="59" y="209"/>
                  </a:lnTo>
                  <a:lnTo>
                    <a:pt x="59" y="207"/>
                  </a:lnTo>
                  <a:lnTo>
                    <a:pt x="61" y="207"/>
                  </a:lnTo>
                  <a:lnTo>
                    <a:pt x="63" y="209"/>
                  </a:lnTo>
                  <a:lnTo>
                    <a:pt x="63" y="209"/>
                  </a:lnTo>
                  <a:lnTo>
                    <a:pt x="65" y="209"/>
                  </a:lnTo>
                  <a:lnTo>
                    <a:pt x="65" y="209"/>
                  </a:lnTo>
                  <a:lnTo>
                    <a:pt x="65" y="207"/>
                  </a:lnTo>
                  <a:lnTo>
                    <a:pt x="65" y="205"/>
                  </a:lnTo>
                  <a:lnTo>
                    <a:pt x="67" y="205"/>
                  </a:lnTo>
                  <a:lnTo>
                    <a:pt x="67" y="203"/>
                  </a:lnTo>
                  <a:lnTo>
                    <a:pt x="69" y="205"/>
                  </a:lnTo>
                  <a:lnTo>
                    <a:pt x="69" y="203"/>
                  </a:lnTo>
                  <a:lnTo>
                    <a:pt x="69" y="203"/>
                  </a:lnTo>
                  <a:lnTo>
                    <a:pt x="69" y="199"/>
                  </a:lnTo>
                  <a:lnTo>
                    <a:pt x="69" y="198"/>
                  </a:lnTo>
                  <a:lnTo>
                    <a:pt x="70" y="198"/>
                  </a:lnTo>
                  <a:lnTo>
                    <a:pt x="70" y="198"/>
                  </a:lnTo>
                  <a:lnTo>
                    <a:pt x="70" y="196"/>
                  </a:lnTo>
                  <a:lnTo>
                    <a:pt x="72" y="196"/>
                  </a:lnTo>
                  <a:lnTo>
                    <a:pt x="72" y="196"/>
                  </a:lnTo>
                  <a:lnTo>
                    <a:pt x="72" y="198"/>
                  </a:lnTo>
                  <a:lnTo>
                    <a:pt x="76" y="203"/>
                  </a:lnTo>
                  <a:lnTo>
                    <a:pt x="78" y="207"/>
                  </a:lnTo>
                  <a:lnTo>
                    <a:pt x="80" y="209"/>
                  </a:lnTo>
                  <a:lnTo>
                    <a:pt x="80" y="211"/>
                  </a:lnTo>
                  <a:lnTo>
                    <a:pt x="80" y="211"/>
                  </a:lnTo>
                  <a:lnTo>
                    <a:pt x="82" y="209"/>
                  </a:lnTo>
                  <a:lnTo>
                    <a:pt x="82" y="209"/>
                  </a:lnTo>
                  <a:lnTo>
                    <a:pt x="82" y="209"/>
                  </a:lnTo>
                  <a:lnTo>
                    <a:pt x="82" y="209"/>
                  </a:lnTo>
                  <a:lnTo>
                    <a:pt x="84" y="211"/>
                  </a:lnTo>
                  <a:lnTo>
                    <a:pt x="84" y="211"/>
                  </a:lnTo>
                  <a:lnTo>
                    <a:pt x="84" y="211"/>
                  </a:lnTo>
                  <a:lnTo>
                    <a:pt x="84" y="211"/>
                  </a:lnTo>
                  <a:lnTo>
                    <a:pt x="86" y="211"/>
                  </a:lnTo>
                  <a:lnTo>
                    <a:pt x="86" y="211"/>
                  </a:lnTo>
                  <a:lnTo>
                    <a:pt x="86" y="211"/>
                  </a:lnTo>
                  <a:lnTo>
                    <a:pt x="86" y="211"/>
                  </a:lnTo>
                  <a:lnTo>
                    <a:pt x="88" y="211"/>
                  </a:lnTo>
                  <a:lnTo>
                    <a:pt x="88" y="213"/>
                  </a:lnTo>
                  <a:lnTo>
                    <a:pt x="88" y="213"/>
                  </a:lnTo>
                  <a:lnTo>
                    <a:pt x="88" y="215"/>
                  </a:lnTo>
                  <a:lnTo>
                    <a:pt x="89" y="215"/>
                  </a:lnTo>
                  <a:lnTo>
                    <a:pt x="89" y="215"/>
                  </a:lnTo>
                  <a:lnTo>
                    <a:pt x="89" y="215"/>
                  </a:lnTo>
                  <a:lnTo>
                    <a:pt x="89" y="213"/>
                  </a:lnTo>
                  <a:lnTo>
                    <a:pt x="89" y="213"/>
                  </a:lnTo>
                  <a:lnTo>
                    <a:pt x="91" y="213"/>
                  </a:lnTo>
                  <a:lnTo>
                    <a:pt x="91" y="213"/>
                  </a:lnTo>
                  <a:lnTo>
                    <a:pt x="91" y="213"/>
                  </a:lnTo>
                  <a:lnTo>
                    <a:pt x="91" y="213"/>
                  </a:lnTo>
                  <a:lnTo>
                    <a:pt x="93" y="215"/>
                  </a:lnTo>
                  <a:lnTo>
                    <a:pt x="93" y="215"/>
                  </a:lnTo>
                  <a:lnTo>
                    <a:pt x="91" y="217"/>
                  </a:lnTo>
                  <a:lnTo>
                    <a:pt x="91" y="218"/>
                  </a:lnTo>
                  <a:lnTo>
                    <a:pt x="93" y="218"/>
                  </a:lnTo>
                  <a:lnTo>
                    <a:pt x="95" y="217"/>
                  </a:lnTo>
                  <a:lnTo>
                    <a:pt x="95" y="218"/>
                  </a:lnTo>
                  <a:lnTo>
                    <a:pt x="97" y="218"/>
                  </a:lnTo>
                  <a:lnTo>
                    <a:pt x="95" y="220"/>
                  </a:lnTo>
                  <a:lnTo>
                    <a:pt x="95" y="220"/>
                  </a:lnTo>
                  <a:lnTo>
                    <a:pt x="93" y="222"/>
                  </a:lnTo>
                  <a:lnTo>
                    <a:pt x="93" y="222"/>
                  </a:lnTo>
                  <a:lnTo>
                    <a:pt x="93" y="228"/>
                  </a:lnTo>
                  <a:lnTo>
                    <a:pt x="93" y="228"/>
                  </a:lnTo>
                  <a:lnTo>
                    <a:pt x="95" y="230"/>
                  </a:lnTo>
                  <a:lnTo>
                    <a:pt x="95" y="230"/>
                  </a:lnTo>
                  <a:lnTo>
                    <a:pt x="95" y="232"/>
                  </a:lnTo>
                  <a:lnTo>
                    <a:pt x="95" y="234"/>
                  </a:lnTo>
                  <a:lnTo>
                    <a:pt x="95" y="234"/>
                  </a:lnTo>
                  <a:lnTo>
                    <a:pt x="95" y="236"/>
                  </a:lnTo>
                  <a:lnTo>
                    <a:pt x="95" y="236"/>
                  </a:lnTo>
                  <a:lnTo>
                    <a:pt x="95" y="237"/>
                  </a:lnTo>
                  <a:lnTo>
                    <a:pt x="95" y="239"/>
                  </a:lnTo>
                  <a:lnTo>
                    <a:pt x="97" y="239"/>
                  </a:lnTo>
                  <a:lnTo>
                    <a:pt x="99" y="241"/>
                  </a:lnTo>
                  <a:lnTo>
                    <a:pt x="103" y="247"/>
                  </a:lnTo>
                  <a:lnTo>
                    <a:pt x="105" y="249"/>
                  </a:lnTo>
                  <a:lnTo>
                    <a:pt x="109" y="253"/>
                  </a:lnTo>
                  <a:lnTo>
                    <a:pt x="110" y="251"/>
                  </a:lnTo>
                  <a:lnTo>
                    <a:pt x="110" y="251"/>
                  </a:lnTo>
                  <a:lnTo>
                    <a:pt x="112" y="249"/>
                  </a:lnTo>
                  <a:lnTo>
                    <a:pt x="112" y="249"/>
                  </a:lnTo>
                  <a:lnTo>
                    <a:pt x="114" y="249"/>
                  </a:lnTo>
                  <a:lnTo>
                    <a:pt x="114" y="249"/>
                  </a:lnTo>
                  <a:lnTo>
                    <a:pt x="114" y="249"/>
                  </a:lnTo>
                  <a:lnTo>
                    <a:pt x="114" y="251"/>
                  </a:lnTo>
                  <a:lnTo>
                    <a:pt x="116" y="253"/>
                  </a:lnTo>
                  <a:lnTo>
                    <a:pt x="116" y="253"/>
                  </a:lnTo>
                  <a:lnTo>
                    <a:pt x="118" y="253"/>
                  </a:lnTo>
                  <a:lnTo>
                    <a:pt x="120" y="253"/>
                  </a:lnTo>
                  <a:lnTo>
                    <a:pt x="120" y="253"/>
                  </a:lnTo>
                  <a:lnTo>
                    <a:pt x="122" y="253"/>
                  </a:lnTo>
                  <a:lnTo>
                    <a:pt x="124" y="255"/>
                  </a:lnTo>
                  <a:lnTo>
                    <a:pt x="126" y="257"/>
                  </a:lnTo>
                  <a:lnTo>
                    <a:pt x="126" y="257"/>
                  </a:lnTo>
                  <a:lnTo>
                    <a:pt x="126" y="258"/>
                  </a:lnTo>
                  <a:lnTo>
                    <a:pt x="126" y="260"/>
                  </a:lnTo>
                  <a:lnTo>
                    <a:pt x="128" y="262"/>
                  </a:lnTo>
                  <a:lnTo>
                    <a:pt x="128" y="262"/>
                  </a:lnTo>
                  <a:lnTo>
                    <a:pt x="129" y="262"/>
                  </a:lnTo>
                  <a:lnTo>
                    <a:pt x="129" y="262"/>
                  </a:lnTo>
                  <a:lnTo>
                    <a:pt x="129" y="264"/>
                  </a:lnTo>
                  <a:lnTo>
                    <a:pt x="131" y="264"/>
                  </a:lnTo>
                  <a:lnTo>
                    <a:pt x="131" y="266"/>
                  </a:lnTo>
                  <a:lnTo>
                    <a:pt x="131" y="266"/>
                  </a:lnTo>
                  <a:lnTo>
                    <a:pt x="131" y="266"/>
                  </a:lnTo>
                  <a:lnTo>
                    <a:pt x="135" y="268"/>
                  </a:lnTo>
                  <a:lnTo>
                    <a:pt x="139" y="270"/>
                  </a:lnTo>
                  <a:lnTo>
                    <a:pt x="141" y="272"/>
                  </a:lnTo>
                  <a:lnTo>
                    <a:pt x="143" y="274"/>
                  </a:lnTo>
                  <a:lnTo>
                    <a:pt x="145" y="276"/>
                  </a:lnTo>
                  <a:lnTo>
                    <a:pt x="145" y="277"/>
                  </a:lnTo>
                  <a:lnTo>
                    <a:pt x="145" y="277"/>
                  </a:lnTo>
                  <a:lnTo>
                    <a:pt x="145" y="281"/>
                  </a:lnTo>
                  <a:lnTo>
                    <a:pt x="145" y="283"/>
                  </a:lnTo>
                  <a:lnTo>
                    <a:pt x="145" y="285"/>
                  </a:lnTo>
                  <a:lnTo>
                    <a:pt x="143" y="287"/>
                  </a:lnTo>
                  <a:lnTo>
                    <a:pt x="143" y="289"/>
                  </a:lnTo>
                  <a:lnTo>
                    <a:pt x="143" y="291"/>
                  </a:lnTo>
                  <a:lnTo>
                    <a:pt x="145" y="291"/>
                  </a:lnTo>
                  <a:lnTo>
                    <a:pt x="149" y="296"/>
                  </a:lnTo>
                  <a:lnTo>
                    <a:pt x="150" y="296"/>
                  </a:lnTo>
                  <a:lnTo>
                    <a:pt x="150" y="298"/>
                  </a:lnTo>
                  <a:lnTo>
                    <a:pt x="150" y="298"/>
                  </a:lnTo>
                  <a:lnTo>
                    <a:pt x="150" y="298"/>
                  </a:lnTo>
                  <a:lnTo>
                    <a:pt x="152" y="296"/>
                  </a:lnTo>
                  <a:lnTo>
                    <a:pt x="156" y="298"/>
                  </a:lnTo>
                  <a:lnTo>
                    <a:pt x="158" y="300"/>
                  </a:lnTo>
                  <a:lnTo>
                    <a:pt x="158" y="300"/>
                  </a:lnTo>
                  <a:lnTo>
                    <a:pt x="164" y="300"/>
                  </a:lnTo>
                  <a:lnTo>
                    <a:pt x="164" y="300"/>
                  </a:lnTo>
                  <a:lnTo>
                    <a:pt x="164" y="302"/>
                  </a:lnTo>
                  <a:lnTo>
                    <a:pt x="166" y="302"/>
                  </a:lnTo>
                  <a:lnTo>
                    <a:pt x="166" y="304"/>
                  </a:lnTo>
                  <a:lnTo>
                    <a:pt x="168" y="304"/>
                  </a:lnTo>
                  <a:lnTo>
                    <a:pt x="170" y="302"/>
                  </a:lnTo>
                  <a:lnTo>
                    <a:pt x="171" y="300"/>
                  </a:lnTo>
                  <a:lnTo>
                    <a:pt x="173" y="300"/>
                  </a:lnTo>
                  <a:lnTo>
                    <a:pt x="173" y="300"/>
                  </a:lnTo>
                  <a:lnTo>
                    <a:pt x="173" y="302"/>
                  </a:lnTo>
                  <a:lnTo>
                    <a:pt x="171" y="304"/>
                  </a:lnTo>
                  <a:lnTo>
                    <a:pt x="171" y="304"/>
                  </a:lnTo>
                  <a:lnTo>
                    <a:pt x="171" y="304"/>
                  </a:lnTo>
                  <a:lnTo>
                    <a:pt x="173" y="304"/>
                  </a:lnTo>
                  <a:lnTo>
                    <a:pt x="175" y="304"/>
                  </a:lnTo>
                  <a:lnTo>
                    <a:pt x="175" y="304"/>
                  </a:lnTo>
                  <a:lnTo>
                    <a:pt x="177" y="304"/>
                  </a:lnTo>
                  <a:lnTo>
                    <a:pt x="179" y="304"/>
                  </a:lnTo>
                  <a:lnTo>
                    <a:pt x="181" y="306"/>
                  </a:lnTo>
                  <a:lnTo>
                    <a:pt x="185" y="308"/>
                  </a:lnTo>
                  <a:lnTo>
                    <a:pt x="185" y="308"/>
                  </a:lnTo>
                  <a:lnTo>
                    <a:pt x="185" y="308"/>
                  </a:lnTo>
                  <a:lnTo>
                    <a:pt x="183" y="306"/>
                  </a:lnTo>
                  <a:lnTo>
                    <a:pt x="183" y="304"/>
                  </a:lnTo>
                  <a:lnTo>
                    <a:pt x="185" y="304"/>
                  </a:lnTo>
                  <a:lnTo>
                    <a:pt x="187" y="302"/>
                  </a:lnTo>
                  <a:lnTo>
                    <a:pt x="189" y="302"/>
                  </a:lnTo>
                  <a:lnTo>
                    <a:pt x="190" y="302"/>
                  </a:lnTo>
                  <a:lnTo>
                    <a:pt x="192" y="302"/>
                  </a:lnTo>
                  <a:lnTo>
                    <a:pt x="194" y="300"/>
                  </a:lnTo>
                  <a:lnTo>
                    <a:pt x="202" y="296"/>
                  </a:lnTo>
                  <a:lnTo>
                    <a:pt x="204" y="295"/>
                  </a:lnTo>
                  <a:lnTo>
                    <a:pt x="206" y="295"/>
                  </a:lnTo>
                  <a:lnTo>
                    <a:pt x="206" y="293"/>
                  </a:lnTo>
                  <a:lnTo>
                    <a:pt x="206" y="293"/>
                  </a:lnTo>
                  <a:lnTo>
                    <a:pt x="206" y="291"/>
                  </a:lnTo>
                  <a:lnTo>
                    <a:pt x="206" y="291"/>
                  </a:lnTo>
                  <a:lnTo>
                    <a:pt x="206" y="291"/>
                  </a:lnTo>
                  <a:lnTo>
                    <a:pt x="204" y="291"/>
                  </a:lnTo>
                  <a:lnTo>
                    <a:pt x="204" y="291"/>
                  </a:lnTo>
                  <a:lnTo>
                    <a:pt x="202" y="289"/>
                  </a:lnTo>
                  <a:lnTo>
                    <a:pt x="202" y="289"/>
                  </a:lnTo>
                  <a:lnTo>
                    <a:pt x="200" y="285"/>
                  </a:lnTo>
                  <a:lnTo>
                    <a:pt x="200" y="285"/>
                  </a:lnTo>
                  <a:lnTo>
                    <a:pt x="202" y="283"/>
                  </a:lnTo>
                  <a:lnTo>
                    <a:pt x="202" y="283"/>
                  </a:lnTo>
                  <a:lnTo>
                    <a:pt x="202" y="281"/>
                  </a:lnTo>
                  <a:lnTo>
                    <a:pt x="202" y="279"/>
                  </a:lnTo>
                  <a:lnTo>
                    <a:pt x="202" y="277"/>
                  </a:lnTo>
                  <a:lnTo>
                    <a:pt x="200" y="276"/>
                  </a:lnTo>
                  <a:lnTo>
                    <a:pt x="200" y="274"/>
                  </a:lnTo>
                  <a:lnTo>
                    <a:pt x="200" y="272"/>
                  </a:lnTo>
                  <a:lnTo>
                    <a:pt x="198" y="270"/>
                  </a:lnTo>
                  <a:lnTo>
                    <a:pt x="196" y="268"/>
                  </a:lnTo>
                  <a:lnTo>
                    <a:pt x="196" y="266"/>
                  </a:lnTo>
                  <a:lnTo>
                    <a:pt x="196" y="264"/>
                  </a:lnTo>
                  <a:lnTo>
                    <a:pt x="198" y="260"/>
                  </a:lnTo>
                  <a:lnTo>
                    <a:pt x="200" y="257"/>
                  </a:lnTo>
                  <a:lnTo>
                    <a:pt x="200" y="255"/>
                  </a:lnTo>
                  <a:lnTo>
                    <a:pt x="202" y="255"/>
                  </a:lnTo>
                  <a:lnTo>
                    <a:pt x="202" y="255"/>
                  </a:lnTo>
                  <a:lnTo>
                    <a:pt x="202" y="257"/>
                  </a:lnTo>
                  <a:lnTo>
                    <a:pt x="204" y="257"/>
                  </a:lnTo>
                  <a:lnTo>
                    <a:pt x="204" y="253"/>
                  </a:lnTo>
                  <a:lnTo>
                    <a:pt x="204" y="251"/>
                  </a:lnTo>
                  <a:lnTo>
                    <a:pt x="204" y="249"/>
                  </a:lnTo>
                  <a:lnTo>
                    <a:pt x="204" y="249"/>
                  </a:lnTo>
                  <a:lnTo>
                    <a:pt x="202" y="249"/>
                  </a:lnTo>
                  <a:lnTo>
                    <a:pt x="202" y="247"/>
                  </a:lnTo>
                  <a:lnTo>
                    <a:pt x="200" y="245"/>
                  </a:lnTo>
                  <a:lnTo>
                    <a:pt x="200" y="245"/>
                  </a:lnTo>
                  <a:lnTo>
                    <a:pt x="200" y="243"/>
                  </a:lnTo>
                  <a:lnTo>
                    <a:pt x="202" y="243"/>
                  </a:lnTo>
                  <a:lnTo>
                    <a:pt x="202" y="245"/>
                  </a:lnTo>
                  <a:lnTo>
                    <a:pt x="204" y="245"/>
                  </a:lnTo>
                  <a:lnTo>
                    <a:pt x="204" y="243"/>
                  </a:lnTo>
                  <a:lnTo>
                    <a:pt x="206" y="243"/>
                  </a:lnTo>
                  <a:lnTo>
                    <a:pt x="206" y="241"/>
                  </a:lnTo>
                  <a:lnTo>
                    <a:pt x="206" y="241"/>
                  </a:lnTo>
                  <a:lnTo>
                    <a:pt x="204" y="239"/>
                  </a:lnTo>
                  <a:lnTo>
                    <a:pt x="204" y="237"/>
                  </a:lnTo>
                  <a:lnTo>
                    <a:pt x="206" y="237"/>
                  </a:lnTo>
                  <a:lnTo>
                    <a:pt x="211" y="232"/>
                  </a:lnTo>
                  <a:lnTo>
                    <a:pt x="213" y="228"/>
                  </a:lnTo>
                  <a:lnTo>
                    <a:pt x="217" y="224"/>
                  </a:lnTo>
                  <a:lnTo>
                    <a:pt x="217" y="224"/>
                  </a:lnTo>
                  <a:lnTo>
                    <a:pt x="219" y="222"/>
                  </a:lnTo>
                  <a:lnTo>
                    <a:pt x="219" y="222"/>
                  </a:lnTo>
                  <a:lnTo>
                    <a:pt x="225" y="224"/>
                  </a:lnTo>
                  <a:lnTo>
                    <a:pt x="227" y="224"/>
                  </a:lnTo>
                  <a:lnTo>
                    <a:pt x="227" y="224"/>
                  </a:lnTo>
                  <a:lnTo>
                    <a:pt x="230" y="222"/>
                  </a:lnTo>
                  <a:lnTo>
                    <a:pt x="234" y="218"/>
                  </a:lnTo>
                  <a:lnTo>
                    <a:pt x="240" y="215"/>
                  </a:lnTo>
                  <a:lnTo>
                    <a:pt x="246" y="215"/>
                  </a:lnTo>
                  <a:lnTo>
                    <a:pt x="250" y="211"/>
                  </a:lnTo>
                  <a:lnTo>
                    <a:pt x="251" y="211"/>
                  </a:lnTo>
                  <a:lnTo>
                    <a:pt x="251" y="211"/>
                  </a:lnTo>
                  <a:lnTo>
                    <a:pt x="255" y="211"/>
                  </a:lnTo>
                  <a:lnTo>
                    <a:pt x="257" y="211"/>
                  </a:lnTo>
                  <a:lnTo>
                    <a:pt x="259" y="211"/>
                  </a:lnTo>
                  <a:lnTo>
                    <a:pt x="259" y="211"/>
                  </a:lnTo>
                  <a:lnTo>
                    <a:pt x="259" y="213"/>
                  </a:lnTo>
                  <a:lnTo>
                    <a:pt x="261" y="213"/>
                  </a:lnTo>
                  <a:lnTo>
                    <a:pt x="261" y="213"/>
                  </a:lnTo>
                  <a:lnTo>
                    <a:pt x="263" y="213"/>
                  </a:lnTo>
                  <a:lnTo>
                    <a:pt x="263" y="213"/>
                  </a:lnTo>
                  <a:lnTo>
                    <a:pt x="265" y="215"/>
                  </a:lnTo>
                  <a:lnTo>
                    <a:pt x="267" y="217"/>
                  </a:lnTo>
                  <a:lnTo>
                    <a:pt x="269" y="218"/>
                  </a:lnTo>
                  <a:lnTo>
                    <a:pt x="269" y="218"/>
                  </a:lnTo>
                  <a:lnTo>
                    <a:pt x="270" y="218"/>
                  </a:lnTo>
                  <a:lnTo>
                    <a:pt x="272" y="218"/>
                  </a:lnTo>
                  <a:lnTo>
                    <a:pt x="276" y="217"/>
                  </a:lnTo>
                  <a:lnTo>
                    <a:pt x="278" y="217"/>
                  </a:lnTo>
                  <a:lnTo>
                    <a:pt x="280" y="218"/>
                  </a:lnTo>
                  <a:lnTo>
                    <a:pt x="282" y="218"/>
                  </a:lnTo>
                  <a:lnTo>
                    <a:pt x="284" y="218"/>
                  </a:lnTo>
                  <a:lnTo>
                    <a:pt x="284" y="218"/>
                  </a:lnTo>
                  <a:lnTo>
                    <a:pt x="286" y="218"/>
                  </a:lnTo>
                  <a:lnTo>
                    <a:pt x="290" y="218"/>
                  </a:lnTo>
                  <a:lnTo>
                    <a:pt x="293" y="220"/>
                  </a:lnTo>
                  <a:lnTo>
                    <a:pt x="295" y="220"/>
                  </a:lnTo>
                  <a:lnTo>
                    <a:pt x="297" y="220"/>
                  </a:lnTo>
                  <a:lnTo>
                    <a:pt x="297" y="220"/>
                  </a:lnTo>
                  <a:lnTo>
                    <a:pt x="299" y="224"/>
                  </a:lnTo>
                  <a:lnTo>
                    <a:pt x="301" y="226"/>
                  </a:lnTo>
                  <a:lnTo>
                    <a:pt x="301" y="228"/>
                  </a:lnTo>
                  <a:lnTo>
                    <a:pt x="303" y="228"/>
                  </a:lnTo>
                  <a:lnTo>
                    <a:pt x="309" y="230"/>
                  </a:lnTo>
                  <a:lnTo>
                    <a:pt x="311" y="230"/>
                  </a:lnTo>
                  <a:lnTo>
                    <a:pt x="312" y="228"/>
                  </a:lnTo>
                  <a:lnTo>
                    <a:pt x="314" y="228"/>
                  </a:lnTo>
                  <a:lnTo>
                    <a:pt x="314" y="226"/>
                  </a:lnTo>
                  <a:lnTo>
                    <a:pt x="314" y="224"/>
                  </a:lnTo>
                  <a:close/>
                </a:path>
              </a:pathLst>
            </a:custGeom>
            <a:solidFill>
              <a:srgbClr val="DA291C"/>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04" name="Freeform 54">
              <a:extLst>
                <a:ext uri="{FF2B5EF4-FFF2-40B4-BE49-F238E27FC236}">
                  <a16:creationId xmlns:a16="http://schemas.microsoft.com/office/drawing/2014/main" id="{D95C91B5-AEB7-BBE2-9482-8989D5F2652E}"/>
                </a:ext>
              </a:extLst>
            </p:cNvPr>
            <p:cNvSpPr>
              <a:spLocks/>
            </p:cNvSpPr>
            <p:nvPr/>
          </p:nvSpPr>
          <p:spPr bwMode="auto">
            <a:xfrm>
              <a:off x="2109752" y="2310263"/>
              <a:ext cx="543322" cy="581886"/>
            </a:xfrm>
            <a:custGeom>
              <a:avLst/>
              <a:gdLst>
                <a:gd name="T0" fmla="*/ 269 w 288"/>
                <a:gd name="T1" fmla="*/ 53 h 344"/>
                <a:gd name="T2" fmla="*/ 248 w 288"/>
                <a:gd name="T3" fmla="*/ 28 h 344"/>
                <a:gd name="T4" fmla="*/ 227 w 288"/>
                <a:gd name="T5" fmla="*/ 6 h 344"/>
                <a:gd name="T6" fmla="*/ 215 w 288"/>
                <a:gd name="T7" fmla="*/ 9 h 344"/>
                <a:gd name="T8" fmla="*/ 219 w 288"/>
                <a:gd name="T9" fmla="*/ 27 h 344"/>
                <a:gd name="T10" fmla="*/ 225 w 288"/>
                <a:gd name="T11" fmla="*/ 46 h 344"/>
                <a:gd name="T12" fmla="*/ 213 w 288"/>
                <a:gd name="T13" fmla="*/ 55 h 344"/>
                <a:gd name="T14" fmla="*/ 194 w 288"/>
                <a:gd name="T15" fmla="*/ 72 h 344"/>
                <a:gd name="T16" fmla="*/ 198 w 288"/>
                <a:gd name="T17" fmla="*/ 76 h 344"/>
                <a:gd name="T18" fmla="*/ 181 w 288"/>
                <a:gd name="T19" fmla="*/ 87 h 344"/>
                <a:gd name="T20" fmla="*/ 173 w 288"/>
                <a:gd name="T21" fmla="*/ 85 h 344"/>
                <a:gd name="T22" fmla="*/ 160 w 288"/>
                <a:gd name="T23" fmla="*/ 87 h 344"/>
                <a:gd name="T24" fmla="*/ 158 w 288"/>
                <a:gd name="T25" fmla="*/ 103 h 344"/>
                <a:gd name="T26" fmla="*/ 145 w 288"/>
                <a:gd name="T27" fmla="*/ 125 h 344"/>
                <a:gd name="T28" fmla="*/ 116 w 288"/>
                <a:gd name="T29" fmla="*/ 122 h 344"/>
                <a:gd name="T30" fmla="*/ 84 w 288"/>
                <a:gd name="T31" fmla="*/ 129 h 344"/>
                <a:gd name="T32" fmla="*/ 72 w 288"/>
                <a:gd name="T33" fmla="*/ 146 h 344"/>
                <a:gd name="T34" fmla="*/ 65 w 288"/>
                <a:gd name="T35" fmla="*/ 133 h 344"/>
                <a:gd name="T36" fmla="*/ 71 w 288"/>
                <a:gd name="T37" fmla="*/ 125 h 344"/>
                <a:gd name="T38" fmla="*/ 61 w 288"/>
                <a:gd name="T39" fmla="*/ 120 h 344"/>
                <a:gd name="T40" fmla="*/ 57 w 288"/>
                <a:gd name="T41" fmla="*/ 108 h 344"/>
                <a:gd name="T42" fmla="*/ 44 w 288"/>
                <a:gd name="T43" fmla="*/ 108 h 344"/>
                <a:gd name="T44" fmla="*/ 23 w 288"/>
                <a:gd name="T45" fmla="*/ 103 h 344"/>
                <a:gd name="T46" fmla="*/ 6 w 288"/>
                <a:gd name="T47" fmla="*/ 118 h 344"/>
                <a:gd name="T48" fmla="*/ 10 w 288"/>
                <a:gd name="T49" fmla="*/ 125 h 344"/>
                <a:gd name="T50" fmla="*/ 13 w 288"/>
                <a:gd name="T51" fmla="*/ 156 h 344"/>
                <a:gd name="T52" fmla="*/ 15 w 288"/>
                <a:gd name="T53" fmla="*/ 171 h 344"/>
                <a:gd name="T54" fmla="*/ 36 w 288"/>
                <a:gd name="T55" fmla="*/ 163 h 344"/>
                <a:gd name="T56" fmla="*/ 53 w 288"/>
                <a:gd name="T57" fmla="*/ 177 h 344"/>
                <a:gd name="T58" fmla="*/ 74 w 288"/>
                <a:gd name="T59" fmla="*/ 179 h 344"/>
                <a:gd name="T60" fmla="*/ 86 w 288"/>
                <a:gd name="T61" fmla="*/ 179 h 344"/>
                <a:gd name="T62" fmla="*/ 86 w 288"/>
                <a:gd name="T63" fmla="*/ 194 h 344"/>
                <a:gd name="T64" fmla="*/ 95 w 288"/>
                <a:gd name="T65" fmla="*/ 219 h 344"/>
                <a:gd name="T66" fmla="*/ 120 w 288"/>
                <a:gd name="T67" fmla="*/ 262 h 344"/>
                <a:gd name="T68" fmla="*/ 149 w 288"/>
                <a:gd name="T69" fmla="*/ 293 h 344"/>
                <a:gd name="T70" fmla="*/ 139 w 288"/>
                <a:gd name="T71" fmla="*/ 302 h 344"/>
                <a:gd name="T72" fmla="*/ 139 w 288"/>
                <a:gd name="T73" fmla="*/ 310 h 344"/>
                <a:gd name="T74" fmla="*/ 141 w 288"/>
                <a:gd name="T75" fmla="*/ 327 h 344"/>
                <a:gd name="T76" fmla="*/ 156 w 288"/>
                <a:gd name="T77" fmla="*/ 308 h 344"/>
                <a:gd name="T78" fmla="*/ 173 w 288"/>
                <a:gd name="T79" fmla="*/ 304 h 344"/>
                <a:gd name="T80" fmla="*/ 170 w 288"/>
                <a:gd name="T81" fmla="*/ 289 h 344"/>
                <a:gd name="T82" fmla="*/ 185 w 288"/>
                <a:gd name="T83" fmla="*/ 298 h 344"/>
                <a:gd name="T84" fmla="*/ 191 w 288"/>
                <a:gd name="T85" fmla="*/ 306 h 344"/>
                <a:gd name="T86" fmla="*/ 200 w 288"/>
                <a:gd name="T87" fmla="*/ 304 h 344"/>
                <a:gd name="T88" fmla="*/ 219 w 288"/>
                <a:gd name="T89" fmla="*/ 287 h 344"/>
                <a:gd name="T90" fmla="*/ 229 w 288"/>
                <a:gd name="T91" fmla="*/ 314 h 344"/>
                <a:gd name="T92" fmla="*/ 227 w 288"/>
                <a:gd name="T93" fmla="*/ 342 h 344"/>
                <a:gd name="T94" fmla="*/ 236 w 288"/>
                <a:gd name="T95" fmla="*/ 333 h 344"/>
                <a:gd name="T96" fmla="*/ 255 w 288"/>
                <a:gd name="T97" fmla="*/ 333 h 344"/>
                <a:gd name="T98" fmla="*/ 278 w 288"/>
                <a:gd name="T99" fmla="*/ 319 h 344"/>
                <a:gd name="T100" fmla="*/ 280 w 288"/>
                <a:gd name="T101" fmla="*/ 289 h 344"/>
                <a:gd name="T102" fmla="*/ 276 w 288"/>
                <a:gd name="T103" fmla="*/ 266 h 344"/>
                <a:gd name="T104" fmla="*/ 265 w 288"/>
                <a:gd name="T105" fmla="*/ 257 h 344"/>
                <a:gd name="T106" fmla="*/ 242 w 288"/>
                <a:gd name="T107" fmla="*/ 259 h 344"/>
                <a:gd name="T108" fmla="*/ 219 w 288"/>
                <a:gd name="T109" fmla="*/ 251 h 344"/>
                <a:gd name="T110" fmla="*/ 229 w 288"/>
                <a:gd name="T111" fmla="*/ 224 h 344"/>
                <a:gd name="T112" fmla="*/ 250 w 288"/>
                <a:gd name="T113" fmla="*/ 209 h 344"/>
                <a:gd name="T114" fmla="*/ 246 w 288"/>
                <a:gd name="T115" fmla="*/ 169 h 344"/>
                <a:gd name="T116" fmla="*/ 240 w 288"/>
                <a:gd name="T117" fmla="*/ 148 h 344"/>
                <a:gd name="T118" fmla="*/ 246 w 288"/>
                <a:gd name="T119" fmla="*/ 125 h 344"/>
                <a:gd name="T120" fmla="*/ 263 w 288"/>
                <a:gd name="T121" fmla="*/ 95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8" h="344">
                  <a:moveTo>
                    <a:pt x="288" y="59"/>
                  </a:moveTo>
                  <a:lnTo>
                    <a:pt x="288" y="59"/>
                  </a:lnTo>
                  <a:lnTo>
                    <a:pt x="288" y="59"/>
                  </a:lnTo>
                  <a:lnTo>
                    <a:pt x="284" y="57"/>
                  </a:lnTo>
                  <a:lnTo>
                    <a:pt x="282" y="55"/>
                  </a:lnTo>
                  <a:lnTo>
                    <a:pt x="280" y="55"/>
                  </a:lnTo>
                  <a:lnTo>
                    <a:pt x="278" y="55"/>
                  </a:lnTo>
                  <a:lnTo>
                    <a:pt x="278" y="55"/>
                  </a:lnTo>
                  <a:lnTo>
                    <a:pt x="276" y="55"/>
                  </a:lnTo>
                  <a:lnTo>
                    <a:pt x="274" y="55"/>
                  </a:lnTo>
                  <a:lnTo>
                    <a:pt x="274" y="55"/>
                  </a:lnTo>
                  <a:lnTo>
                    <a:pt x="274" y="55"/>
                  </a:lnTo>
                  <a:lnTo>
                    <a:pt x="276" y="53"/>
                  </a:lnTo>
                  <a:lnTo>
                    <a:pt x="276" y="51"/>
                  </a:lnTo>
                  <a:lnTo>
                    <a:pt x="276" y="51"/>
                  </a:lnTo>
                  <a:lnTo>
                    <a:pt x="274" y="51"/>
                  </a:lnTo>
                  <a:lnTo>
                    <a:pt x="273" y="53"/>
                  </a:lnTo>
                  <a:lnTo>
                    <a:pt x="271" y="55"/>
                  </a:lnTo>
                  <a:lnTo>
                    <a:pt x="269" y="55"/>
                  </a:lnTo>
                  <a:lnTo>
                    <a:pt x="269" y="53"/>
                  </a:lnTo>
                  <a:lnTo>
                    <a:pt x="267" y="53"/>
                  </a:lnTo>
                  <a:lnTo>
                    <a:pt x="267" y="51"/>
                  </a:lnTo>
                  <a:lnTo>
                    <a:pt x="267" y="51"/>
                  </a:lnTo>
                  <a:lnTo>
                    <a:pt x="261" y="51"/>
                  </a:lnTo>
                  <a:lnTo>
                    <a:pt x="261" y="51"/>
                  </a:lnTo>
                  <a:lnTo>
                    <a:pt x="259" y="49"/>
                  </a:lnTo>
                  <a:lnTo>
                    <a:pt x="255" y="47"/>
                  </a:lnTo>
                  <a:lnTo>
                    <a:pt x="253" y="49"/>
                  </a:lnTo>
                  <a:lnTo>
                    <a:pt x="253" y="49"/>
                  </a:lnTo>
                  <a:lnTo>
                    <a:pt x="253" y="49"/>
                  </a:lnTo>
                  <a:lnTo>
                    <a:pt x="253" y="47"/>
                  </a:lnTo>
                  <a:lnTo>
                    <a:pt x="252" y="47"/>
                  </a:lnTo>
                  <a:lnTo>
                    <a:pt x="248" y="42"/>
                  </a:lnTo>
                  <a:lnTo>
                    <a:pt x="246" y="42"/>
                  </a:lnTo>
                  <a:lnTo>
                    <a:pt x="246" y="40"/>
                  </a:lnTo>
                  <a:lnTo>
                    <a:pt x="246" y="38"/>
                  </a:lnTo>
                  <a:lnTo>
                    <a:pt x="248" y="36"/>
                  </a:lnTo>
                  <a:lnTo>
                    <a:pt x="248" y="34"/>
                  </a:lnTo>
                  <a:lnTo>
                    <a:pt x="248" y="32"/>
                  </a:lnTo>
                  <a:lnTo>
                    <a:pt x="248" y="28"/>
                  </a:lnTo>
                  <a:lnTo>
                    <a:pt x="248" y="28"/>
                  </a:lnTo>
                  <a:lnTo>
                    <a:pt x="248" y="27"/>
                  </a:lnTo>
                  <a:lnTo>
                    <a:pt x="246" y="25"/>
                  </a:lnTo>
                  <a:lnTo>
                    <a:pt x="244" y="23"/>
                  </a:lnTo>
                  <a:lnTo>
                    <a:pt x="242" y="21"/>
                  </a:lnTo>
                  <a:lnTo>
                    <a:pt x="238" y="19"/>
                  </a:lnTo>
                  <a:lnTo>
                    <a:pt x="234" y="17"/>
                  </a:lnTo>
                  <a:lnTo>
                    <a:pt x="234" y="17"/>
                  </a:lnTo>
                  <a:lnTo>
                    <a:pt x="234" y="17"/>
                  </a:lnTo>
                  <a:lnTo>
                    <a:pt x="234" y="15"/>
                  </a:lnTo>
                  <a:lnTo>
                    <a:pt x="232" y="15"/>
                  </a:lnTo>
                  <a:lnTo>
                    <a:pt x="232" y="13"/>
                  </a:lnTo>
                  <a:lnTo>
                    <a:pt x="232" y="13"/>
                  </a:lnTo>
                  <a:lnTo>
                    <a:pt x="231" y="13"/>
                  </a:lnTo>
                  <a:lnTo>
                    <a:pt x="231" y="13"/>
                  </a:lnTo>
                  <a:lnTo>
                    <a:pt x="229" y="11"/>
                  </a:lnTo>
                  <a:lnTo>
                    <a:pt x="229" y="9"/>
                  </a:lnTo>
                  <a:lnTo>
                    <a:pt x="229" y="8"/>
                  </a:lnTo>
                  <a:lnTo>
                    <a:pt x="229" y="8"/>
                  </a:lnTo>
                  <a:lnTo>
                    <a:pt x="227" y="6"/>
                  </a:lnTo>
                  <a:lnTo>
                    <a:pt x="225" y="4"/>
                  </a:lnTo>
                  <a:lnTo>
                    <a:pt x="223" y="4"/>
                  </a:lnTo>
                  <a:lnTo>
                    <a:pt x="223" y="4"/>
                  </a:lnTo>
                  <a:lnTo>
                    <a:pt x="221" y="4"/>
                  </a:lnTo>
                  <a:lnTo>
                    <a:pt x="219" y="4"/>
                  </a:lnTo>
                  <a:lnTo>
                    <a:pt x="219" y="4"/>
                  </a:lnTo>
                  <a:lnTo>
                    <a:pt x="217" y="2"/>
                  </a:lnTo>
                  <a:lnTo>
                    <a:pt x="217" y="0"/>
                  </a:lnTo>
                  <a:lnTo>
                    <a:pt x="217" y="0"/>
                  </a:lnTo>
                  <a:lnTo>
                    <a:pt x="217" y="0"/>
                  </a:lnTo>
                  <a:lnTo>
                    <a:pt x="215" y="0"/>
                  </a:lnTo>
                  <a:lnTo>
                    <a:pt x="215" y="0"/>
                  </a:lnTo>
                  <a:lnTo>
                    <a:pt x="213" y="2"/>
                  </a:lnTo>
                  <a:lnTo>
                    <a:pt x="213" y="2"/>
                  </a:lnTo>
                  <a:lnTo>
                    <a:pt x="212" y="4"/>
                  </a:lnTo>
                  <a:lnTo>
                    <a:pt x="213" y="4"/>
                  </a:lnTo>
                  <a:lnTo>
                    <a:pt x="213" y="6"/>
                  </a:lnTo>
                  <a:lnTo>
                    <a:pt x="215" y="8"/>
                  </a:lnTo>
                  <a:lnTo>
                    <a:pt x="215" y="9"/>
                  </a:lnTo>
                  <a:lnTo>
                    <a:pt x="215" y="9"/>
                  </a:lnTo>
                  <a:lnTo>
                    <a:pt x="217" y="9"/>
                  </a:lnTo>
                  <a:lnTo>
                    <a:pt x="217" y="9"/>
                  </a:lnTo>
                  <a:lnTo>
                    <a:pt x="219" y="9"/>
                  </a:lnTo>
                  <a:lnTo>
                    <a:pt x="219" y="11"/>
                  </a:lnTo>
                  <a:lnTo>
                    <a:pt x="219" y="11"/>
                  </a:lnTo>
                  <a:lnTo>
                    <a:pt x="219" y="11"/>
                  </a:lnTo>
                  <a:lnTo>
                    <a:pt x="217" y="13"/>
                  </a:lnTo>
                  <a:lnTo>
                    <a:pt x="217" y="15"/>
                  </a:lnTo>
                  <a:lnTo>
                    <a:pt x="217" y="17"/>
                  </a:lnTo>
                  <a:lnTo>
                    <a:pt x="217" y="17"/>
                  </a:lnTo>
                  <a:lnTo>
                    <a:pt x="217" y="19"/>
                  </a:lnTo>
                  <a:lnTo>
                    <a:pt x="217" y="21"/>
                  </a:lnTo>
                  <a:lnTo>
                    <a:pt x="217" y="21"/>
                  </a:lnTo>
                  <a:lnTo>
                    <a:pt x="217" y="21"/>
                  </a:lnTo>
                  <a:lnTo>
                    <a:pt x="217" y="23"/>
                  </a:lnTo>
                  <a:lnTo>
                    <a:pt x="217" y="25"/>
                  </a:lnTo>
                  <a:lnTo>
                    <a:pt x="217" y="27"/>
                  </a:lnTo>
                  <a:lnTo>
                    <a:pt x="219" y="28"/>
                  </a:lnTo>
                  <a:lnTo>
                    <a:pt x="219" y="27"/>
                  </a:lnTo>
                  <a:lnTo>
                    <a:pt x="219" y="27"/>
                  </a:lnTo>
                  <a:lnTo>
                    <a:pt x="219" y="27"/>
                  </a:lnTo>
                  <a:lnTo>
                    <a:pt x="221" y="27"/>
                  </a:lnTo>
                  <a:lnTo>
                    <a:pt x="221" y="28"/>
                  </a:lnTo>
                  <a:lnTo>
                    <a:pt x="221" y="28"/>
                  </a:lnTo>
                  <a:lnTo>
                    <a:pt x="221" y="30"/>
                  </a:lnTo>
                  <a:lnTo>
                    <a:pt x="221" y="32"/>
                  </a:lnTo>
                  <a:lnTo>
                    <a:pt x="223" y="32"/>
                  </a:lnTo>
                  <a:lnTo>
                    <a:pt x="223" y="32"/>
                  </a:lnTo>
                  <a:lnTo>
                    <a:pt x="223" y="32"/>
                  </a:lnTo>
                  <a:lnTo>
                    <a:pt x="223" y="32"/>
                  </a:lnTo>
                  <a:lnTo>
                    <a:pt x="225" y="34"/>
                  </a:lnTo>
                  <a:lnTo>
                    <a:pt x="225" y="36"/>
                  </a:lnTo>
                  <a:lnTo>
                    <a:pt x="225" y="36"/>
                  </a:lnTo>
                  <a:lnTo>
                    <a:pt x="225" y="36"/>
                  </a:lnTo>
                  <a:lnTo>
                    <a:pt x="225" y="40"/>
                  </a:lnTo>
                  <a:lnTo>
                    <a:pt x="225" y="42"/>
                  </a:lnTo>
                  <a:lnTo>
                    <a:pt x="225" y="44"/>
                  </a:lnTo>
                  <a:lnTo>
                    <a:pt x="225" y="44"/>
                  </a:lnTo>
                  <a:lnTo>
                    <a:pt x="225" y="44"/>
                  </a:lnTo>
                  <a:lnTo>
                    <a:pt x="225" y="46"/>
                  </a:lnTo>
                  <a:lnTo>
                    <a:pt x="225" y="46"/>
                  </a:lnTo>
                  <a:lnTo>
                    <a:pt x="225" y="47"/>
                  </a:lnTo>
                  <a:lnTo>
                    <a:pt x="225" y="47"/>
                  </a:lnTo>
                  <a:lnTo>
                    <a:pt x="225" y="47"/>
                  </a:lnTo>
                  <a:lnTo>
                    <a:pt x="225" y="51"/>
                  </a:lnTo>
                  <a:lnTo>
                    <a:pt x="225" y="53"/>
                  </a:lnTo>
                  <a:lnTo>
                    <a:pt x="225" y="57"/>
                  </a:lnTo>
                  <a:lnTo>
                    <a:pt x="225" y="57"/>
                  </a:lnTo>
                  <a:lnTo>
                    <a:pt x="225" y="59"/>
                  </a:lnTo>
                  <a:lnTo>
                    <a:pt x="225" y="61"/>
                  </a:lnTo>
                  <a:lnTo>
                    <a:pt x="223" y="61"/>
                  </a:lnTo>
                  <a:lnTo>
                    <a:pt x="223" y="63"/>
                  </a:lnTo>
                  <a:lnTo>
                    <a:pt x="221" y="61"/>
                  </a:lnTo>
                  <a:lnTo>
                    <a:pt x="221" y="61"/>
                  </a:lnTo>
                  <a:lnTo>
                    <a:pt x="221" y="57"/>
                  </a:lnTo>
                  <a:lnTo>
                    <a:pt x="219" y="55"/>
                  </a:lnTo>
                  <a:lnTo>
                    <a:pt x="219" y="55"/>
                  </a:lnTo>
                  <a:lnTo>
                    <a:pt x="217" y="55"/>
                  </a:lnTo>
                  <a:lnTo>
                    <a:pt x="215" y="55"/>
                  </a:lnTo>
                  <a:lnTo>
                    <a:pt x="213" y="55"/>
                  </a:lnTo>
                  <a:lnTo>
                    <a:pt x="212" y="53"/>
                  </a:lnTo>
                  <a:lnTo>
                    <a:pt x="212" y="53"/>
                  </a:lnTo>
                  <a:lnTo>
                    <a:pt x="210" y="55"/>
                  </a:lnTo>
                  <a:lnTo>
                    <a:pt x="208" y="55"/>
                  </a:lnTo>
                  <a:lnTo>
                    <a:pt x="208" y="57"/>
                  </a:lnTo>
                  <a:lnTo>
                    <a:pt x="208" y="59"/>
                  </a:lnTo>
                  <a:lnTo>
                    <a:pt x="208" y="61"/>
                  </a:lnTo>
                  <a:lnTo>
                    <a:pt x="208" y="61"/>
                  </a:lnTo>
                  <a:lnTo>
                    <a:pt x="208" y="61"/>
                  </a:lnTo>
                  <a:lnTo>
                    <a:pt x="210" y="61"/>
                  </a:lnTo>
                  <a:lnTo>
                    <a:pt x="210" y="61"/>
                  </a:lnTo>
                  <a:lnTo>
                    <a:pt x="210" y="61"/>
                  </a:lnTo>
                  <a:lnTo>
                    <a:pt x="210" y="63"/>
                  </a:lnTo>
                  <a:lnTo>
                    <a:pt x="210" y="63"/>
                  </a:lnTo>
                  <a:lnTo>
                    <a:pt x="208" y="65"/>
                  </a:lnTo>
                  <a:lnTo>
                    <a:pt x="202" y="68"/>
                  </a:lnTo>
                  <a:lnTo>
                    <a:pt x="200" y="68"/>
                  </a:lnTo>
                  <a:lnTo>
                    <a:pt x="198" y="70"/>
                  </a:lnTo>
                  <a:lnTo>
                    <a:pt x="198" y="70"/>
                  </a:lnTo>
                  <a:lnTo>
                    <a:pt x="194" y="72"/>
                  </a:lnTo>
                  <a:lnTo>
                    <a:pt x="192" y="72"/>
                  </a:lnTo>
                  <a:lnTo>
                    <a:pt x="191" y="74"/>
                  </a:lnTo>
                  <a:lnTo>
                    <a:pt x="191" y="74"/>
                  </a:lnTo>
                  <a:lnTo>
                    <a:pt x="191" y="76"/>
                  </a:lnTo>
                  <a:lnTo>
                    <a:pt x="191" y="76"/>
                  </a:lnTo>
                  <a:lnTo>
                    <a:pt x="192" y="76"/>
                  </a:lnTo>
                  <a:lnTo>
                    <a:pt x="192" y="76"/>
                  </a:lnTo>
                  <a:lnTo>
                    <a:pt x="192" y="76"/>
                  </a:lnTo>
                  <a:lnTo>
                    <a:pt x="192" y="76"/>
                  </a:lnTo>
                  <a:lnTo>
                    <a:pt x="194" y="74"/>
                  </a:lnTo>
                  <a:lnTo>
                    <a:pt x="194" y="74"/>
                  </a:lnTo>
                  <a:lnTo>
                    <a:pt x="196" y="74"/>
                  </a:lnTo>
                  <a:lnTo>
                    <a:pt x="196" y="74"/>
                  </a:lnTo>
                  <a:lnTo>
                    <a:pt x="196" y="74"/>
                  </a:lnTo>
                  <a:lnTo>
                    <a:pt x="196" y="74"/>
                  </a:lnTo>
                  <a:lnTo>
                    <a:pt x="196" y="74"/>
                  </a:lnTo>
                  <a:lnTo>
                    <a:pt x="196" y="76"/>
                  </a:lnTo>
                  <a:lnTo>
                    <a:pt x="196" y="76"/>
                  </a:lnTo>
                  <a:lnTo>
                    <a:pt x="198" y="76"/>
                  </a:lnTo>
                  <a:lnTo>
                    <a:pt x="198" y="76"/>
                  </a:lnTo>
                  <a:lnTo>
                    <a:pt x="198" y="78"/>
                  </a:lnTo>
                  <a:lnTo>
                    <a:pt x="200" y="78"/>
                  </a:lnTo>
                  <a:lnTo>
                    <a:pt x="200" y="78"/>
                  </a:lnTo>
                  <a:lnTo>
                    <a:pt x="200" y="78"/>
                  </a:lnTo>
                  <a:lnTo>
                    <a:pt x="200" y="78"/>
                  </a:lnTo>
                  <a:lnTo>
                    <a:pt x="200" y="80"/>
                  </a:lnTo>
                  <a:lnTo>
                    <a:pt x="200" y="80"/>
                  </a:lnTo>
                  <a:lnTo>
                    <a:pt x="200" y="80"/>
                  </a:lnTo>
                  <a:lnTo>
                    <a:pt x="200" y="82"/>
                  </a:lnTo>
                  <a:lnTo>
                    <a:pt x="200" y="84"/>
                  </a:lnTo>
                  <a:lnTo>
                    <a:pt x="200" y="84"/>
                  </a:lnTo>
                  <a:lnTo>
                    <a:pt x="200" y="85"/>
                  </a:lnTo>
                  <a:lnTo>
                    <a:pt x="196" y="87"/>
                  </a:lnTo>
                  <a:lnTo>
                    <a:pt x="191" y="91"/>
                  </a:lnTo>
                  <a:lnTo>
                    <a:pt x="187" y="91"/>
                  </a:lnTo>
                  <a:lnTo>
                    <a:pt x="187" y="91"/>
                  </a:lnTo>
                  <a:lnTo>
                    <a:pt x="185" y="89"/>
                  </a:lnTo>
                  <a:lnTo>
                    <a:pt x="183" y="89"/>
                  </a:lnTo>
                  <a:lnTo>
                    <a:pt x="183" y="89"/>
                  </a:lnTo>
                  <a:lnTo>
                    <a:pt x="181" y="87"/>
                  </a:lnTo>
                  <a:lnTo>
                    <a:pt x="181" y="85"/>
                  </a:lnTo>
                  <a:lnTo>
                    <a:pt x="181" y="82"/>
                  </a:lnTo>
                  <a:lnTo>
                    <a:pt x="179" y="80"/>
                  </a:lnTo>
                  <a:lnTo>
                    <a:pt x="179" y="80"/>
                  </a:lnTo>
                  <a:lnTo>
                    <a:pt x="179" y="80"/>
                  </a:lnTo>
                  <a:lnTo>
                    <a:pt x="177" y="80"/>
                  </a:lnTo>
                  <a:lnTo>
                    <a:pt x="177" y="82"/>
                  </a:lnTo>
                  <a:lnTo>
                    <a:pt x="177" y="82"/>
                  </a:lnTo>
                  <a:lnTo>
                    <a:pt x="177" y="82"/>
                  </a:lnTo>
                  <a:lnTo>
                    <a:pt x="177" y="84"/>
                  </a:lnTo>
                  <a:lnTo>
                    <a:pt x="177" y="84"/>
                  </a:lnTo>
                  <a:lnTo>
                    <a:pt x="177" y="84"/>
                  </a:lnTo>
                  <a:lnTo>
                    <a:pt x="177" y="85"/>
                  </a:lnTo>
                  <a:lnTo>
                    <a:pt x="177" y="87"/>
                  </a:lnTo>
                  <a:lnTo>
                    <a:pt x="177" y="87"/>
                  </a:lnTo>
                  <a:lnTo>
                    <a:pt x="175" y="87"/>
                  </a:lnTo>
                  <a:lnTo>
                    <a:pt x="175" y="87"/>
                  </a:lnTo>
                  <a:lnTo>
                    <a:pt x="175" y="87"/>
                  </a:lnTo>
                  <a:lnTo>
                    <a:pt x="175" y="87"/>
                  </a:lnTo>
                  <a:lnTo>
                    <a:pt x="173" y="85"/>
                  </a:lnTo>
                  <a:lnTo>
                    <a:pt x="173" y="85"/>
                  </a:lnTo>
                  <a:lnTo>
                    <a:pt x="172" y="85"/>
                  </a:lnTo>
                  <a:lnTo>
                    <a:pt x="172" y="85"/>
                  </a:lnTo>
                  <a:lnTo>
                    <a:pt x="172" y="85"/>
                  </a:lnTo>
                  <a:lnTo>
                    <a:pt x="172" y="87"/>
                  </a:lnTo>
                  <a:lnTo>
                    <a:pt x="172" y="87"/>
                  </a:lnTo>
                  <a:lnTo>
                    <a:pt x="172" y="87"/>
                  </a:lnTo>
                  <a:lnTo>
                    <a:pt x="172" y="89"/>
                  </a:lnTo>
                  <a:lnTo>
                    <a:pt x="170" y="89"/>
                  </a:lnTo>
                  <a:lnTo>
                    <a:pt x="170" y="89"/>
                  </a:lnTo>
                  <a:lnTo>
                    <a:pt x="168" y="87"/>
                  </a:lnTo>
                  <a:lnTo>
                    <a:pt x="168" y="87"/>
                  </a:lnTo>
                  <a:lnTo>
                    <a:pt x="166" y="87"/>
                  </a:lnTo>
                  <a:lnTo>
                    <a:pt x="166" y="87"/>
                  </a:lnTo>
                  <a:lnTo>
                    <a:pt x="162" y="85"/>
                  </a:lnTo>
                  <a:lnTo>
                    <a:pt x="162" y="85"/>
                  </a:lnTo>
                  <a:lnTo>
                    <a:pt x="162" y="85"/>
                  </a:lnTo>
                  <a:lnTo>
                    <a:pt x="160" y="85"/>
                  </a:lnTo>
                  <a:lnTo>
                    <a:pt x="160" y="87"/>
                  </a:lnTo>
                  <a:lnTo>
                    <a:pt x="160" y="87"/>
                  </a:lnTo>
                  <a:lnTo>
                    <a:pt x="160" y="87"/>
                  </a:lnTo>
                  <a:lnTo>
                    <a:pt x="162" y="89"/>
                  </a:lnTo>
                  <a:lnTo>
                    <a:pt x="162" y="89"/>
                  </a:lnTo>
                  <a:lnTo>
                    <a:pt x="164" y="89"/>
                  </a:lnTo>
                  <a:lnTo>
                    <a:pt x="164" y="89"/>
                  </a:lnTo>
                  <a:lnTo>
                    <a:pt x="166" y="91"/>
                  </a:lnTo>
                  <a:lnTo>
                    <a:pt x="164" y="91"/>
                  </a:lnTo>
                  <a:lnTo>
                    <a:pt x="162" y="91"/>
                  </a:lnTo>
                  <a:lnTo>
                    <a:pt x="162" y="91"/>
                  </a:lnTo>
                  <a:lnTo>
                    <a:pt x="162" y="91"/>
                  </a:lnTo>
                  <a:lnTo>
                    <a:pt x="162" y="93"/>
                  </a:lnTo>
                  <a:lnTo>
                    <a:pt x="162" y="93"/>
                  </a:lnTo>
                  <a:lnTo>
                    <a:pt x="162" y="93"/>
                  </a:lnTo>
                  <a:lnTo>
                    <a:pt x="162" y="95"/>
                  </a:lnTo>
                  <a:lnTo>
                    <a:pt x="162" y="95"/>
                  </a:lnTo>
                  <a:lnTo>
                    <a:pt x="162" y="95"/>
                  </a:lnTo>
                  <a:lnTo>
                    <a:pt x="162" y="95"/>
                  </a:lnTo>
                  <a:lnTo>
                    <a:pt x="160" y="97"/>
                  </a:lnTo>
                  <a:lnTo>
                    <a:pt x="160" y="97"/>
                  </a:lnTo>
                  <a:lnTo>
                    <a:pt x="158" y="103"/>
                  </a:lnTo>
                  <a:lnTo>
                    <a:pt x="158" y="104"/>
                  </a:lnTo>
                  <a:lnTo>
                    <a:pt x="158" y="106"/>
                  </a:lnTo>
                  <a:lnTo>
                    <a:pt x="158" y="106"/>
                  </a:lnTo>
                  <a:lnTo>
                    <a:pt x="158" y="108"/>
                  </a:lnTo>
                  <a:lnTo>
                    <a:pt x="158" y="108"/>
                  </a:lnTo>
                  <a:lnTo>
                    <a:pt x="158" y="110"/>
                  </a:lnTo>
                  <a:lnTo>
                    <a:pt x="160" y="110"/>
                  </a:lnTo>
                  <a:lnTo>
                    <a:pt x="160" y="110"/>
                  </a:lnTo>
                  <a:lnTo>
                    <a:pt x="162" y="112"/>
                  </a:lnTo>
                  <a:lnTo>
                    <a:pt x="162" y="112"/>
                  </a:lnTo>
                  <a:lnTo>
                    <a:pt x="162" y="114"/>
                  </a:lnTo>
                  <a:lnTo>
                    <a:pt x="162" y="116"/>
                  </a:lnTo>
                  <a:lnTo>
                    <a:pt x="158" y="116"/>
                  </a:lnTo>
                  <a:lnTo>
                    <a:pt x="156" y="118"/>
                  </a:lnTo>
                  <a:lnTo>
                    <a:pt x="154" y="120"/>
                  </a:lnTo>
                  <a:lnTo>
                    <a:pt x="152" y="120"/>
                  </a:lnTo>
                  <a:lnTo>
                    <a:pt x="149" y="122"/>
                  </a:lnTo>
                  <a:lnTo>
                    <a:pt x="147" y="125"/>
                  </a:lnTo>
                  <a:lnTo>
                    <a:pt x="145" y="125"/>
                  </a:lnTo>
                  <a:lnTo>
                    <a:pt x="145" y="125"/>
                  </a:lnTo>
                  <a:lnTo>
                    <a:pt x="141" y="125"/>
                  </a:lnTo>
                  <a:lnTo>
                    <a:pt x="141" y="125"/>
                  </a:lnTo>
                  <a:lnTo>
                    <a:pt x="139" y="127"/>
                  </a:lnTo>
                  <a:lnTo>
                    <a:pt x="137" y="127"/>
                  </a:lnTo>
                  <a:lnTo>
                    <a:pt x="135" y="127"/>
                  </a:lnTo>
                  <a:lnTo>
                    <a:pt x="133" y="127"/>
                  </a:lnTo>
                  <a:lnTo>
                    <a:pt x="131" y="127"/>
                  </a:lnTo>
                  <a:lnTo>
                    <a:pt x="130" y="125"/>
                  </a:lnTo>
                  <a:lnTo>
                    <a:pt x="130" y="125"/>
                  </a:lnTo>
                  <a:lnTo>
                    <a:pt x="128" y="122"/>
                  </a:lnTo>
                  <a:lnTo>
                    <a:pt x="128" y="122"/>
                  </a:lnTo>
                  <a:lnTo>
                    <a:pt x="126" y="120"/>
                  </a:lnTo>
                  <a:lnTo>
                    <a:pt x="126" y="118"/>
                  </a:lnTo>
                  <a:lnTo>
                    <a:pt x="124" y="118"/>
                  </a:lnTo>
                  <a:lnTo>
                    <a:pt x="122" y="118"/>
                  </a:lnTo>
                  <a:lnTo>
                    <a:pt x="122" y="118"/>
                  </a:lnTo>
                  <a:lnTo>
                    <a:pt x="120" y="118"/>
                  </a:lnTo>
                  <a:lnTo>
                    <a:pt x="116" y="120"/>
                  </a:lnTo>
                  <a:lnTo>
                    <a:pt x="116" y="122"/>
                  </a:lnTo>
                  <a:lnTo>
                    <a:pt x="116" y="122"/>
                  </a:lnTo>
                  <a:lnTo>
                    <a:pt x="116" y="124"/>
                  </a:lnTo>
                  <a:lnTo>
                    <a:pt x="116" y="124"/>
                  </a:lnTo>
                  <a:lnTo>
                    <a:pt x="114" y="124"/>
                  </a:lnTo>
                  <a:lnTo>
                    <a:pt x="114" y="125"/>
                  </a:lnTo>
                  <a:lnTo>
                    <a:pt x="111" y="124"/>
                  </a:lnTo>
                  <a:lnTo>
                    <a:pt x="109" y="124"/>
                  </a:lnTo>
                  <a:lnTo>
                    <a:pt x="107" y="125"/>
                  </a:lnTo>
                  <a:lnTo>
                    <a:pt x="105" y="125"/>
                  </a:lnTo>
                  <a:lnTo>
                    <a:pt x="103" y="125"/>
                  </a:lnTo>
                  <a:lnTo>
                    <a:pt x="99" y="124"/>
                  </a:lnTo>
                  <a:lnTo>
                    <a:pt x="99" y="122"/>
                  </a:lnTo>
                  <a:lnTo>
                    <a:pt x="99" y="124"/>
                  </a:lnTo>
                  <a:lnTo>
                    <a:pt x="97" y="122"/>
                  </a:lnTo>
                  <a:lnTo>
                    <a:pt x="93" y="122"/>
                  </a:lnTo>
                  <a:lnTo>
                    <a:pt x="91" y="120"/>
                  </a:lnTo>
                  <a:lnTo>
                    <a:pt x="91" y="120"/>
                  </a:lnTo>
                  <a:lnTo>
                    <a:pt x="90" y="120"/>
                  </a:lnTo>
                  <a:lnTo>
                    <a:pt x="90" y="124"/>
                  </a:lnTo>
                  <a:lnTo>
                    <a:pt x="88" y="125"/>
                  </a:lnTo>
                  <a:lnTo>
                    <a:pt x="84" y="129"/>
                  </a:lnTo>
                  <a:lnTo>
                    <a:pt x="84" y="131"/>
                  </a:lnTo>
                  <a:lnTo>
                    <a:pt x="82" y="133"/>
                  </a:lnTo>
                  <a:lnTo>
                    <a:pt x="82" y="133"/>
                  </a:lnTo>
                  <a:lnTo>
                    <a:pt x="82" y="135"/>
                  </a:lnTo>
                  <a:lnTo>
                    <a:pt x="82" y="135"/>
                  </a:lnTo>
                  <a:lnTo>
                    <a:pt x="80" y="135"/>
                  </a:lnTo>
                  <a:lnTo>
                    <a:pt x="80" y="137"/>
                  </a:lnTo>
                  <a:lnTo>
                    <a:pt x="80" y="135"/>
                  </a:lnTo>
                  <a:lnTo>
                    <a:pt x="78" y="135"/>
                  </a:lnTo>
                  <a:lnTo>
                    <a:pt x="78" y="137"/>
                  </a:lnTo>
                  <a:lnTo>
                    <a:pt x="76" y="139"/>
                  </a:lnTo>
                  <a:lnTo>
                    <a:pt x="76" y="141"/>
                  </a:lnTo>
                  <a:lnTo>
                    <a:pt x="76" y="141"/>
                  </a:lnTo>
                  <a:lnTo>
                    <a:pt x="76" y="143"/>
                  </a:lnTo>
                  <a:lnTo>
                    <a:pt x="76" y="143"/>
                  </a:lnTo>
                  <a:lnTo>
                    <a:pt x="78" y="144"/>
                  </a:lnTo>
                  <a:lnTo>
                    <a:pt x="76" y="144"/>
                  </a:lnTo>
                  <a:lnTo>
                    <a:pt x="76" y="144"/>
                  </a:lnTo>
                  <a:lnTo>
                    <a:pt x="74" y="146"/>
                  </a:lnTo>
                  <a:lnTo>
                    <a:pt x="72" y="146"/>
                  </a:lnTo>
                  <a:lnTo>
                    <a:pt x="71" y="146"/>
                  </a:lnTo>
                  <a:lnTo>
                    <a:pt x="71" y="144"/>
                  </a:lnTo>
                  <a:lnTo>
                    <a:pt x="71" y="143"/>
                  </a:lnTo>
                  <a:lnTo>
                    <a:pt x="71" y="143"/>
                  </a:lnTo>
                  <a:lnTo>
                    <a:pt x="69" y="143"/>
                  </a:lnTo>
                  <a:lnTo>
                    <a:pt x="69" y="141"/>
                  </a:lnTo>
                  <a:lnTo>
                    <a:pt x="69" y="141"/>
                  </a:lnTo>
                  <a:lnTo>
                    <a:pt x="69" y="141"/>
                  </a:lnTo>
                  <a:lnTo>
                    <a:pt x="69" y="139"/>
                  </a:lnTo>
                  <a:lnTo>
                    <a:pt x="67" y="139"/>
                  </a:lnTo>
                  <a:lnTo>
                    <a:pt x="67" y="137"/>
                  </a:lnTo>
                  <a:lnTo>
                    <a:pt x="67" y="137"/>
                  </a:lnTo>
                  <a:lnTo>
                    <a:pt x="67" y="137"/>
                  </a:lnTo>
                  <a:lnTo>
                    <a:pt x="67" y="137"/>
                  </a:lnTo>
                  <a:lnTo>
                    <a:pt x="67" y="137"/>
                  </a:lnTo>
                  <a:lnTo>
                    <a:pt x="67" y="135"/>
                  </a:lnTo>
                  <a:lnTo>
                    <a:pt x="65" y="135"/>
                  </a:lnTo>
                  <a:lnTo>
                    <a:pt x="65" y="133"/>
                  </a:lnTo>
                  <a:lnTo>
                    <a:pt x="65" y="133"/>
                  </a:lnTo>
                  <a:lnTo>
                    <a:pt x="65" y="133"/>
                  </a:lnTo>
                  <a:lnTo>
                    <a:pt x="67" y="133"/>
                  </a:lnTo>
                  <a:lnTo>
                    <a:pt x="67" y="133"/>
                  </a:lnTo>
                  <a:lnTo>
                    <a:pt x="67" y="131"/>
                  </a:lnTo>
                  <a:lnTo>
                    <a:pt x="69" y="131"/>
                  </a:lnTo>
                  <a:lnTo>
                    <a:pt x="69" y="131"/>
                  </a:lnTo>
                  <a:lnTo>
                    <a:pt x="69" y="131"/>
                  </a:lnTo>
                  <a:lnTo>
                    <a:pt x="69" y="129"/>
                  </a:lnTo>
                  <a:lnTo>
                    <a:pt x="69" y="127"/>
                  </a:lnTo>
                  <a:lnTo>
                    <a:pt x="69" y="127"/>
                  </a:lnTo>
                  <a:lnTo>
                    <a:pt x="69" y="127"/>
                  </a:lnTo>
                  <a:lnTo>
                    <a:pt x="69" y="127"/>
                  </a:lnTo>
                  <a:lnTo>
                    <a:pt x="69" y="127"/>
                  </a:lnTo>
                  <a:lnTo>
                    <a:pt x="69" y="127"/>
                  </a:lnTo>
                  <a:lnTo>
                    <a:pt x="69" y="127"/>
                  </a:lnTo>
                  <a:lnTo>
                    <a:pt x="71" y="127"/>
                  </a:lnTo>
                  <a:lnTo>
                    <a:pt x="71" y="127"/>
                  </a:lnTo>
                  <a:lnTo>
                    <a:pt x="71" y="127"/>
                  </a:lnTo>
                  <a:lnTo>
                    <a:pt x="71" y="127"/>
                  </a:lnTo>
                  <a:lnTo>
                    <a:pt x="71" y="127"/>
                  </a:lnTo>
                  <a:lnTo>
                    <a:pt x="71" y="125"/>
                  </a:lnTo>
                  <a:lnTo>
                    <a:pt x="71" y="125"/>
                  </a:lnTo>
                  <a:lnTo>
                    <a:pt x="71" y="125"/>
                  </a:lnTo>
                  <a:lnTo>
                    <a:pt x="69" y="124"/>
                  </a:lnTo>
                  <a:lnTo>
                    <a:pt x="69" y="122"/>
                  </a:lnTo>
                  <a:lnTo>
                    <a:pt x="69" y="120"/>
                  </a:lnTo>
                  <a:lnTo>
                    <a:pt x="67" y="120"/>
                  </a:lnTo>
                  <a:lnTo>
                    <a:pt x="67" y="118"/>
                  </a:lnTo>
                  <a:lnTo>
                    <a:pt x="67" y="118"/>
                  </a:lnTo>
                  <a:lnTo>
                    <a:pt x="67" y="118"/>
                  </a:lnTo>
                  <a:lnTo>
                    <a:pt x="67" y="118"/>
                  </a:lnTo>
                  <a:lnTo>
                    <a:pt x="65" y="118"/>
                  </a:lnTo>
                  <a:lnTo>
                    <a:pt x="65" y="118"/>
                  </a:lnTo>
                  <a:lnTo>
                    <a:pt x="63" y="120"/>
                  </a:lnTo>
                  <a:lnTo>
                    <a:pt x="63" y="120"/>
                  </a:lnTo>
                  <a:lnTo>
                    <a:pt x="63" y="122"/>
                  </a:lnTo>
                  <a:lnTo>
                    <a:pt x="63" y="122"/>
                  </a:lnTo>
                  <a:lnTo>
                    <a:pt x="63" y="122"/>
                  </a:lnTo>
                  <a:lnTo>
                    <a:pt x="63" y="122"/>
                  </a:lnTo>
                  <a:lnTo>
                    <a:pt x="63" y="122"/>
                  </a:lnTo>
                  <a:lnTo>
                    <a:pt x="61" y="120"/>
                  </a:lnTo>
                  <a:lnTo>
                    <a:pt x="61" y="120"/>
                  </a:lnTo>
                  <a:lnTo>
                    <a:pt x="59" y="120"/>
                  </a:lnTo>
                  <a:lnTo>
                    <a:pt x="59" y="118"/>
                  </a:lnTo>
                  <a:lnTo>
                    <a:pt x="59" y="118"/>
                  </a:lnTo>
                  <a:lnTo>
                    <a:pt x="59" y="116"/>
                  </a:lnTo>
                  <a:lnTo>
                    <a:pt x="59" y="116"/>
                  </a:lnTo>
                  <a:lnTo>
                    <a:pt x="59" y="114"/>
                  </a:lnTo>
                  <a:lnTo>
                    <a:pt x="57" y="114"/>
                  </a:lnTo>
                  <a:lnTo>
                    <a:pt x="57" y="114"/>
                  </a:lnTo>
                  <a:lnTo>
                    <a:pt x="57" y="114"/>
                  </a:lnTo>
                  <a:lnTo>
                    <a:pt x="57" y="114"/>
                  </a:lnTo>
                  <a:lnTo>
                    <a:pt x="59" y="114"/>
                  </a:lnTo>
                  <a:lnTo>
                    <a:pt x="59" y="112"/>
                  </a:lnTo>
                  <a:lnTo>
                    <a:pt x="59" y="112"/>
                  </a:lnTo>
                  <a:lnTo>
                    <a:pt x="59" y="112"/>
                  </a:lnTo>
                  <a:lnTo>
                    <a:pt x="59" y="110"/>
                  </a:lnTo>
                  <a:lnTo>
                    <a:pt x="59" y="110"/>
                  </a:lnTo>
                  <a:lnTo>
                    <a:pt x="59" y="108"/>
                  </a:lnTo>
                  <a:lnTo>
                    <a:pt x="59" y="108"/>
                  </a:lnTo>
                  <a:lnTo>
                    <a:pt x="57" y="108"/>
                  </a:lnTo>
                  <a:lnTo>
                    <a:pt x="57" y="108"/>
                  </a:lnTo>
                  <a:lnTo>
                    <a:pt x="57" y="108"/>
                  </a:lnTo>
                  <a:lnTo>
                    <a:pt x="57" y="108"/>
                  </a:lnTo>
                  <a:lnTo>
                    <a:pt x="57" y="110"/>
                  </a:lnTo>
                  <a:lnTo>
                    <a:pt x="57" y="110"/>
                  </a:lnTo>
                  <a:lnTo>
                    <a:pt x="57" y="110"/>
                  </a:lnTo>
                  <a:lnTo>
                    <a:pt x="55" y="112"/>
                  </a:lnTo>
                  <a:lnTo>
                    <a:pt x="55" y="112"/>
                  </a:lnTo>
                  <a:lnTo>
                    <a:pt x="55" y="112"/>
                  </a:lnTo>
                  <a:lnTo>
                    <a:pt x="53" y="112"/>
                  </a:lnTo>
                  <a:lnTo>
                    <a:pt x="51" y="114"/>
                  </a:lnTo>
                  <a:lnTo>
                    <a:pt x="50" y="114"/>
                  </a:lnTo>
                  <a:lnTo>
                    <a:pt x="50" y="114"/>
                  </a:lnTo>
                  <a:lnTo>
                    <a:pt x="48" y="112"/>
                  </a:lnTo>
                  <a:lnTo>
                    <a:pt x="48" y="112"/>
                  </a:lnTo>
                  <a:lnTo>
                    <a:pt x="48" y="112"/>
                  </a:lnTo>
                  <a:lnTo>
                    <a:pt x="46" y="112"/>
                  </a:lnTo>
                  <a:lnTo>
                    <a:pt x="44" y="110"/>
                  </a:lnTo>
                  <a:lnTo>
                    <a:pt x="44" y="110"/>
                  </a:lnTo>
                  <a:lnTo>
                    <a:pt x="44" y="108"/>
                  </a:lnTo>
                  <a:lnTo>
                    <a:pt x="44" y="108"/>
                  </a:lnTo>
                  <a:lnTo>
                    <a:pt x="44" y="106"/>
                  </a:lnTo>
                  <a:lnTo>
                    <a:pt x="42" y="106"/>
                  </a:lnTo>
                  <a:lnTo>
                    <a:pt x="42" y="106"/>
                  </a:lnTo>
                  <a:lnTo>
                    <a:pt x="42" y="106"/>
                  </a:lnTo>
                  <a:lnTo>
                    <a:pt x="42" y="104"/>
                  </a:lnTo>
                  <a:lnTo>
                    <a:pt x="40" y="104"/>
                  </a:lnTo>
                  <a:lnTo>
                    <a:pt x="36" y="104"/>
                  </a:lnTo>
                  <a:lnTo>
                    <a:pt x="34" y="104"/>
                  </a:lnTo>
                  <a:lnTo>
                    <a:pt x="34" y="103"/>
                  </a:lnTo>
                  <a:lnTo>
                    <a:pt x="34" y="103"/>
                  </a:lnTo>
                  <a:lnTo>
                    <a:pt x="32" y="103"/>
                  </a:lnTo>
                  <a:lnTo>
                    <a:pt x="32" y="101"/>
                  </a:lnTo>
                  <a:lnTo>
                    <a:pt x="32" y="101"/>
                  </a:lnTo>
                  <a:lnTo>
                    <a:pt x="30" y="101"/>
                  </a:lnTo>
                  <a:lnTo>
                    <a:pt x="29" y="103"/>
                  </a:lnTo>
                  <a:lnTo>
                    <a:pt x="25" y="103"/>
                  </a:lnTo>
                  <a:lnTo>
                    <a:pt x="25" y="103"/>
                  </a:lnTo>
                  <a:lnTo>
                    <a:pt x="23" y="103"/>
                  </a:lnTo>
                  <a:lnTo>
                    <a:pt x="23" y="103"/>
                  </a:lnTo>
                  <a:lnTo>
                    <a:pt x="19" y="106"/>
                  </a:lnTo>
                  <a:lnTo>
                    <a:pt x="19" y="106"/>
                  </a:lnTo>
                  <a:lnTo>
                    <a:pt x="19" y="106"/>
                  </a:lnTo>
                  <a:lnTo>
                    <a:pt x="17" y="108"/>
                  </a:lnTo>
                  <a:lnTo>
                    <a:pt x="17" y="108"/>
                  </a:lnTo>
                  <a:lnTo>
                    <a:pt x="17" y="108"/>
                  </a:lnTo>
                  <a:lnTo>
                    <a:pt x="15" y="108"/>
                  </a:lnTo>
                  <a:lnTo>
                    <a:pt x="10" y="106"/>
                  </a:lnTo>
                  <a:lnTo>
                    <a:pt x="4" y="106"/>
                  </a:lnTo>
                  <a:lnTo>
                    <a:pt x="4" y="108"/>
                  </a:lnTo>
                  <a:lnTo>
                    <a:pt x="4" y="110"/>
                  </a:lnTo>
                  <a:lnTo>
                    <a:pt x="6" y="110"/>
                  </a:lnTo>
                  <a:lnTo>
                    <a:pt x="6" y="110"/>
                  </a:lnTo>
                  <a:lnTo>
                    <a:pt x="8" y="112"/>
                  </a:lnTo>
                  <a:lnTo>
                    <a:pt x="8" y="112"/>
                  </a:lnTo>
                  <a:lnTo>
                    <a:pt x="8" y="114"/>
                  </a:lnTo>
                  <a:lnTo>
                    <a:pt x="8" y="114"/>
                  </a:lnTo>
                  <a:lnTo>
                    <a:pt x="8" y="116"/>
                  </a:lnTo>
                  <a:lnTo>
                    <a:pt x="6" y="116"/>
                  </a:lnTo>
                  <a:lnTo>
                    <a:pt x="6" y="118"/>
                  </a:lnTo>
                  <a:lnTo>
                    <a:pt x="2" y="118"/>
                  </a:lnTo>
                  <a:lnTo>
                    <a:pt x="2" y="118"/>
                  </a:lnTo>
                  <a:lnTo>
                    <a:pt x="2" y="118"/>
                  </a:lnTo>
                  <a:lnTo>
                    <a:pt x="0" y="120"/>
                  </a:lnTo>
                  <a:lnTo>
                    <a:pt x="0" y="122"/>
                  </a:lnTo>
                  <a:lnTo>
                    <a:pt x="0" y="124"/>
                  </a:lnTo>
                  <a:lnTo>
                    <a:pt x="0" y="125"/>
                  </a:lnTo>
                  <a:lnTo>
                    <a:pt x="0" y="125"/>
                  </a:lnTo>
                  <a:lnTo>
                    <a:pt x="0" y="127"/>
                  </a:lnTo>
                  <a:lnTo>
                    <a:pt x="2" y="127"/>
                  </a:lnTo>
                  <a:lnTo>
                    <a:pt x="2" y="127"/>
                  </a:lnTo>
                  <a:lnTo>
                    <a:pt x="4" y="127"/>
                  </a:lnTo>
                  <a:lnTo>
                    <a:pt x="4" y="127"/>
                  </a:lnTo>
                  <a:lnTo>
                    <a:pt x="4" y="127"/>
                  </a:lnTo>
                  <a:lnTo>
                    <a:pt x="6" y="127"/>
                  </a:lnTo>
                  <a:lnTo>
                    <a:pt x="6" y="127"/>
                  </a:lnTo>
                  <a:lnTo>
                    <a:pt x="8" y="125"/>
                  </a:lnTo>
                  <a:lnTo>
                    <a:pt x="8" y="125"/>
                  </a:lnTo>
                  <a:lnTo>
                    <a:pt x="10" y="125"/>
                  </a:lnTo>
                  <a:lnTo>
                    <a:pt x="10" y="125"/>
                  </a:lnTo>
                  <a:lnTo>
                    <a:pt x="10" y="125"/>
                  </a:lnTo>
                  <a:lnTo>
                    <a:pt x="10" y="125"/>
                  </a:lnTo>
                  <a:lnTo>
                    <a:pt x="10" y="125"/>
                  </a:lnTo>
                  <a:lnTo>
                    <a:pt x="11" y="124"/>
                  </a:lnTo>
                  <a:lnTo>
                    <a:pt x="11" y="125"/>
                  </a:lnTo>
                  <a:lnTo>
                    <a:pt x="11" y="125"/>
                  </a:lnTo>
                  <a:lnTo>
                    <a:pt x="13" y="125"/>
                  </a:lnTo>
                  <a:lnTo>
                    <a:pt x="13" y="127"/>
                  </a:lnTo>
                  <a:lnTo>
                    <a:pt x="13" y="129"/>
                  </a:lnTo>
                  <a:lnTo>
                    <a:pt x="11" y="133"/>
                  </a:lnTo>
                  <a:lnTo>
                    <a:pt x="11" y="135"/>
                  </a:lnTo>
                  <a:lnTo>
                    <a:pt x="10" y="144"/>
                  </a:lnTo>
                  <a:lnTo>
                    <a:pt x="10" y="144"/>
                  </a:lnTo>
                  <a:lnTo>
                    <a:pt x="11" y="146"/>
                  </a:lnTo>
                  <a:lnTo>
                    <a:pt x="13" y="148"/>
                  </a:lnTo>
                  <a:lnTo>
                    <a:pt x="13" y="150"/>
                  </a:lnTo>
                  <a:lnTo>
                    <a:pt x="13" y="150"/>
                  </a:lnTo>
                  <a:lnTo>
                    <a:pt x="13" y="154"/>
                  </a:lnTo>
                  <a:lnTo>
                    <a:pt x="13" y="156"/>
                  </a:lnTo>
                  <a:lnTo>
                    <a:pt x="13" y="156"/>
                  </a:lnTo>
                  <a:lnTo>
                    <a:pt x="11" y="156"/>
                  </a:lnTo>
                  <a:lnTo>
                    <a:pt x="11" y="156"/>
                  </a:lnTo>
                  <a:lnTo>
                    <a:pt x="8" y="156"/>
                  </a:lnTo>
                  <a:lnTo>
                    <a:pt x="8" y="156"/>
                  </a:lnTo>
                  <a:lnTo>
                    <a:pt x="8" y="158"/>
                  </a:lnTo>
                  <a:lnTo>
                    <a:pt x="6" y="158"/>
                  </a:lnTo>
                  <a:lnTo>
                    <a:pt x="6" y="160"/>
                  </a:lnTo>
                  <a:lnTo>
                    <a:pt x="8" y="160"/>
                  </a:lnTo>
                  <a:lnTo>
                    <a:pt x="8" y="160"/>
                  </a:lnTo>
                  <a:lnTo>
                    <a:pt x="8" y="162"/>
                  </a:lnTo>
                  <a:lnTo>
                    <a:pt x="10" y="163"/>
                  </a:lnTo>
                  <a:lnTo>
                    <a:pt x="10" y="163"/>
                  </a:lnTo>
                  <a:lnTo>
                    <a:pt x="11" y="165"/>
                  </a:lnTo>
                  <a:lnTo>
                    <a:pt x="11" y="167"/>
                  </a:lnTo>
                  <a:lnTo>
                    <a:pt x="11" y="169"/>
                  </a:lnTo>
                  <a:lnTo>
                    <a:pt x="13" y="171"/>
                  </a:lnTo>
                  <a:lnTo>
                    <a:pt x="13" y="171"/>
                  </a:lnTo>
                  <a:lnTo>
                    <a:pt x="15" y="171"/>
                  </a:lnTo>
                  <a:lnTo>
                    <a:pt x="15" y="171"/>
                  </a:lnTo>
                  <a:lnTo>
                    <a:pt x="15" y="171"/>
                  </a:lnTo>
                  <a:lnTo>
                    <a:pt x="15" y="169"/>
                  </a:lnTo>
                  <a:lnTo>
                    <a:pt x="17" y="169"/>
                  </a:lnTo>
                  <a:lnTo>
                    <a:pt x="17" y="167"/>
                  </a:lnTo>
                  <a:lnTo>
                    <a:pt x="17" y="167"/>
                  </a:lnTo>
                  <a:lnTo>
                    <a:pt x="17" y="167"/>
                  </a:lnTo>
                  <a:lnTo>
                    <a:pt x="17" y="167"/>
                  </a:lnTo>
                  <a:lnTo>
                    <a:pt x="19" y="167"/>
                  </a:lnTo>
                  <a:lnTo>
                    <a:pt x="21" y="167"/>
                  </a:lnTo>
                  <a:lnTo>
                    <a:pt x="23" y="167"/>
                  </a:lnTo>
                  <a:lnTo>
                    <a:pt x="25" y="167"/>
                  </a:lnTo>
                  <a:lnTo>
                    <a:pt x="27" y="167"/>
                  </a:lnTo>
                  <a:lnTo>
                    <a:pt x="29" y="167"/>
                  </a:lnTo>
                  <a:lnTo>
                    <a:pt x="29" y="167"/>
                  </a:lnTo>
                  <a:lnTo>
                    <a:pt x="29" y="165"/>
                  </a:lnTo>
                  <a:lnTo>
                    <a:pt x="30" y="165"/>
                  </a:lnTo>
                  <a:lnTo>
                    <a:pt x="32" y="163"/>
                  </a:lnTo>
                  <a:lnTo>
                    <a:pt x="32" y="163"/>
                  </a:lnTo>
                  <a:lnTo>
                    <a:pt x="34" y="163"/>
                  </a:lnTo>
                  <a:lnTo>
                    <a:pt x="34" y="163"/>
                  </a:lnTo>
                  <a:lnTo>
                    <a:pt x="36" y="163"/>
                  </a:lnTo>
                  <a:lnTo>
                    <a:pt x="36" y="165"/>
                  </a:lnTo>
                  <a:lnTo>
                    <a:pt x="38" y="165"/>
                  </a:lnTo>
                  <a:lnTo>
                    <a:pt x="40" y="165"/>
                  </a:lnTo>
                  <a:lnTo>
                    <a:pt x="40" y="165"/>
                  </a:lnTo>
                  <a:lnTo>
                    <a:pt x="42" y="167"/>
                  </a:lnTo>
                  <a:lnTo>
                    <a:pt x="42" y="167"/>
                  </a:lnTo>
                  <a:lnTo>
                    <a:pt x="44" y="169"/>
                  </a:lnTo>
                  <a:lnTo>
                    <a:pt x="44" y="169"/>
                  </a:lnTo>
                  <a:lnTo>
                    <a:pt x="44" y="171"/>
                  </a:lnTo>
                  <a:lnTo>
                    <a:pt x="46" y="175"/>
                  </a:lnTo>
                  <a:lnTo>
                    <a:pt x="46" y="175"/>
                  </a:lnTo>
                  <a:lnTo>
                    <a:pt x="46" y="177"/>
                  </a:lnTo>
                  <a:lnTo>
                    <a:pt x="48" y="177"/>
                  </a:lnTo>
                  <a:lnTo>
                    <a:pt x="48" y="177"/>
                  </a:lnTo>
                  <a:lnTo>
                    <a:pt x="50" y="177"/>
                  </a:lnTo>
                  <a:lnTo>
                    <a:pt x="50" y="177"/>
                  </a:lnTo>
                  <a:lnTo>
                    <a:pt x="51" y="175"/>
                  </a:lnTo>
                  <a:lnTo>
                    <a:pt x="51" y="175"/>
                  </a:lnTo>
                  <a:lnTo>
                    <a:pt x="53" y="175"/>
                  </a:lnTo>
                  <a:lnTo>
                    <a:pt x="53" y="177"/>
                  </a:lnTo>
                  <a:lnTo>
                    <a:pt x="55" y="177"/>
                  </a:lnTo>
                  <a:lnTo>
                    <a:pt x="55" y="181"/>
                  </a:lnTo>
                  <a:lnTo>
                    <a:pt x="55" y="181"/>
                  </a:lnTo>
                  <a:lnTo>
                    <a:pt x="57" y="181"/>
                  </a:lnTo>
                  <a:lnTo>
                    <a:pt x="57" y="181"/>
                  </a:lnTo>
                  <a:lnTo>
                    <a:pt x="59" y="181"/>
                  </a:lnTo>
                  <a:lnTo>
                    <a:pt x="59" y="181"/>
                  </a:lnTo>
                  <a:lnTo>
                    <a:pt x="61" y="181"/>
                  </a:lnTo>
                  <a:lnTo>
                    <a:pt x="61" y="179"/>
                  </a:lnTo>
                  <a:lnTo>
                    <a:pt x="63" y="179"/>
                  </a:lnTo>
                  <a:lnTo>
                    <a:pt x="65" y="179"/>
                  </a:lnTo>
                  <a:lnTo>
                    <a:pt x="65" y="177"/>
                  </a:lnTo>
                  <a:lnTo>
                    <a:pt x="67" y="177"/>
                  </a:lnTo>
                  <a:lnTo>
                    <a:pt x="67" y="177"/>
                  </a:lnTo>
                  <a:lnTo>
                    <a:pt x="67" y="179"/>
                  </a:lnTo>
                  <a:lnTo>
                    <a:pt x="69" y="179"/>
                  </a:lnTo>
                  <a:lnTo>
                    <a:pt x="71" y="179"/>
                  </a:lnTo>
                  <a:lnTo>
                    <a:pt x="72" y="179"/>
                  </a:lnTo>
                  <a:lnTo>
                    <a:pt x="74" y="179"/>
                  </a:lnTo>
                  <a:lnTo>
                    <a:pt x="74" y="179"/>
                  </a:lnTo>
                  <a:lnTo>
                    <a:pt x="74" y="177"/>
                  </a:lnTo>
                  <a:lnTo>
                    <a:pt x="74" y="177"/>
                  </a:lnTo>
                  <a:lnTo>
                    <a:pt x="74" y="177"/>
                  </a:lnTo>
                  <a:lnTo>
                    <a:pt x="74" y="177"/>
                  </a:lnTo>
                  <a:lnTo>
                    <a:pt x="78" y="175"/>
                  </a:lnTo>
                  <a:lnTo>
                    <a:pt x="78" y="175"/>
                  </a:lnTo>
                  <a:lnTo>
                    <a:pt x="80" y="175"/>
                  </a:lnTo>
                  <a:lnTo>
                    <a:pt x="80" y="175"/>
                  </a:lnTo>
                  <a:lnTo>
                    <a:pt x="80" y="177"/>
                  </a:lnTo>
                  <a:lnTo>
                    <a:pt x="80" y="179"/>
                  </a:lnTo>
                  <a:lnTo>
                    <a:pt x="78" y="179"/>
                  </a:lnTo>
                  <a:lnTo>
                    <a:pt x="80" y="181"/>
                  </a:lnTo>
                  <a:lnTo>
                    <a:pt x="80" y="181"/>
                  </a:lnTo>
                  <a:lnTo>
                    <a:pt x="80" y="181"/>
                  </a:lnTo>
                  <a:lnTo>
                    <a:pt x="80" y="181"/>
                  </a:lnTo>
                  <a:lnTo>
                    <a:pt x="82" y="181"/>
                  </a:lnTo>
                  <a:lnTo>
                    <a:pt x="82" y="181"/>
                  </a:lnTo>
                  <a:lnTo>
                    <a:pt x="82" y="179"/>
                  </a:lnTo>
                  <a:lnTo>
                    <a:pt x="84" y="179"/>
                  </a:lnTo>
                  <a:lnTo>
                    <a:pt x="86" y="179"/>
                  </a:lnTo>
                  <a:lnTo>
                    <a:pt x="86" y="179"/>
                  </a:lnTo>
                  <a:lnTo>
                    <a:pt x="86" y="181"/>
                  </a:lnTo>
                  <a:lnTo>
                    <a:pt x="88" y="182"/>
                  </a:lnTo>
                  <a:lnTo>
                    <a:pt x="88" y="184"/>
                  </a:lnTo>
                  <a:lnTo>
                    <a:pt x="88" y="184"/>
                  </a:lnTo>
                  <a:lnTo>
                    <a:pt x="88" y="184"/>
                  </a:lnTo>
                  <a:lnTo>
                    <a:pt x="88" y="186"/>
                  </a:lnTo>
                  <a:lnTo>
                    <a:pt x="86" y="186"/>
                  </a:lnTo>
                  <a:lnTo>
                    <a:pt x="86" y="186"/>
                  </a:lnTo>
                  <a:lnTo>
                    <a:pt x="86" y="186"/>
                  </a:lnTo>
                  <a:lnTo>
                    <a:pt x="84" y="186"/>
                  </a:lnTo>
                  <a:lnTo>
                    <a:pt x="84" y="188"/>
                  </a:lnTo>
                  <a:lnTo>
                    <a:pt x="84" y="188"/>
                  </a:lnTo>
                  <a:lnTo>
                    <a:pt x="84" y="188"/>
                  </a:lnTo>
                  <a:lnTo>
                    <a:pt x="84" y="190"/>
                  </a:lnTo>
                  <a:lnTo>
                    <a:pt x="86" y="190"/>
                  </a:lnTo>
                  <a:lnTo>
                    <a:pt x="86" y="192"/>
                  </a:lnTo>
                  <a:lnTo>
                    <a:pt x="86" y="192"/>
                  </a:lnTo>
                  <a:lnTo>
                    <a:pt x="86" y="192"/>
                  </a:lnTo>
                  <a:lnTo>
                    <a:pt x="86" y="194"/>
                  </a:lnTo>
                  <a:lnTo>
                    <a:pt x="86" y="194"/>
                  </a:lnTo>
                  <a:lnTo>
                    <a:pt x="86" y="196"/>
                  </a:lnTo>
                  <a:lnTo>
                    <a:pt x="88" y="198"/>
                  </a:lnTo>
                  <a:lnTo>
                    <a:pt x="88" y="200"/>
                  </a:lnTo>
                  <a:lnTo>
                    <a:pt x="91" y="203"/>
                  </a:lnTo>
                  <a:lnTo>
                    <a:pt x="91" y="203"/>
                  </a:lnTo>
                  <a:lnTo>
                    <a:pt x="95" y="205"/>
                  </a:lnTo>
                  <a:lnTo>
                    <a:pt x="97" y="205"/>
                  </a:lnTo>
                  <a:lnTo>
                    <a:pt x="97" y="205"/>
                  </a:lnTo>
                  <a:lnTo>
                    <a:pt x="97" y="207"/>
                  </a:lnTo>
                  <a:lnTo>
                    <a:pt x="97" y="209"/>
                  </a:lnTo>
                  <a:lnTo>
                    <a:pt x="97" y="209"/>
                  </a:lnTo>
                  <a:lnTo>
                    <a:pt x="97" y="211"/>
                  </a:lnTo>
                  <a:lnTo>
                    <a:pt x="95" y="211"/>
                  </a:lnTo>
                  <a:lnTo>
                    <a:pt x="95" y="211"/>
                  </a:lnTo>
                  <a:lnTo>
                    <a:pt x="95" y="213"/>
                  </a:lnTo>
                  <a:lnTo>
                    <a:pt x="93" y="213"/>
                  </a:lnTo>
                  <a:lnTo>
                    <a:pt x="93" y="213"/>
                  </a:lnTo>
                  <a:lnTo>
                    <a:pt x="95" y="215"/>
                  </a:lnTo>
                  <a:lnTo>
                    <a:pt x="95" y="219"/>
                  </a:lnTo>
                  <a:lnTo>
                    <a:pt x="95" y="221"/>
                  </a:lnTo>
                  <a:lnTo>
                    <a:pt x="97" y="222"/>
                  </a:lnTo>
                  <a:lnTo>
                    <a:pt x="97" y="224"/>
                  </a:lnTo>
                  <a:lnTo>
                    <a:pt x="97" y="226"/>
                  </a:lnTo>
                  <a:lnTo>
                    <a:pt x="99" y="228"/>
                  </a:lnTo>
                  <a:lnTo>
                    <a:pt x="99" y="232"/>
                  </a:lnTo>
                  <a:lnTo>
                    <a:pt x="103" y="241"/>
                  </a:lnTo>
                  <a:lnTo>
                    <a:pt x="105" y="243"/>
                  </a:lnTo>
                  <a:lnTo>
                    <a:pt x="105" y="245"/>
                  </a:lnTo>
                  <a:lnTo>
                    <a:pt x="107" y="247"/>
                  </a:lnTo>
                  <a:lnTo>
                    <a:pt x="109" y="251"/>
                  </a:lnTo>
                  <a:lnTo>
                    <a:pt x="111" y="251"/>
                  </a:lnTo>
                  <a:lnTo>
                    <a:pt x="111" y="251"/>
                  </a:lnTo>
                  <a:lnTo>
                    <a:pt x="111" y="253"/>
                  </a:lnTo>
                  <a:lnTo>
                    <a:pt x="114" y="257"/>
                  </a:lnTo>
                  <a:lnTo>
                    <a:pt x="118" y="260"/>
                  </a:lnTo>
                  <a:lnTo>
                    <a:pt x="120" y="260"/>
                  </a:lnTo>
                  <a:lnTo>
                    <a:pt x="120" y="262"/>
                  </a:lnTo>
                  <a:lnTo>
                    <a:pt x="120" y="262"/>
                  </a:lnTo>
                  <a:lnTo>
                    <a:pt x="120" y="262"/>
                  </a:lnTo>
                  <a:lnTo>
                    <a:pt x="120" y="264"/>
                  </a:lnTo>
                  <a:lnTo>
                    <a:pt x="120" y="266"/>
                  </a:lnTo>
                  <a:lnTo>
                    <a:pt x="122" y="266"/>
                  </a:lnTo>
                  <a:lnTo>
                    <a:pt x="122" y="266"/>
                  </a:lnTo>
                  <a:lnTo>
                    <a:pt x="124" y="266"/>
                  </a:lnTo>
                  <a:lnTo>
                    <a:pt x="124" y="266"/>
                  </a:lnTo>
                  <a:lnTo>
                    <a:pt x="124" y="266"/>
                  </a:lnTo>
                  <a:lnTo>
                    <a:pt x="126" y="266"/>
                  </a:lnTo>
                  <a:lnTo>
                    <a:pt x="128" y="268"/>
                  </a:lnTo>
                  <a:lnTo>
                    <a:pt x="130" y="268"/>
                  </a:lnTo>
                  <a:lnTo>
                    <a:pt x="131" y="268"/>
                  </a:lnTo>
                  <a:lnTo>
                    <a:pt x="133" y="270"/>
                  </a:lnTo>
                  <a:lnTo>
                    <a:pt x="137" y="276"/>
                  </a:lnTo>
                  <a:lnTo>
                    <a:pt x="145" y="283"/>
                  </a:lnTo>
                  <a:lnTo>
                    <a:pt x="145" y="285"/>
                  </a:lnTo>
                  <a:lnTo>
                    <a:pt x="147" y="287"/>
                  </a:lnTo>
                  <a:lnTo>
                    <a:pt x="147" y="289"/>
                  </a:lnTo>
                  <a:lnTo>
                    <a:pt x="147" y="289"/>
                  </a:lnTo>
                  <a:lnTo>
                    <a:pt x="149" y="291"/>
                  </a:lnTo>
                  <a:lnTo>
                    <a:pt x="149" y="293"/>
                  </a:lnTo>
                  <a:lnTo>
                    <a:pt x="149" y="293"/>
                  </a:lnTo>
                  <a:lnTo>
                    <a:pt x="149" y="295"/>
                  </a:lnTo>
                  <a:lnTo>
                    <a:pt x="147" y="295"/>
                  </a:lnTo>
                  <a:lnTo>
                    <a:pt x="147" y="293"/>
                  </a:lnTo>
                  <a:lnTo>
                    <a:pt x="145" y="291"/>
                  </a:lnTo>
                  <a:lnTo>
                    <a:pt x="145" y="291"/>
                  </a:lnTo>
                  <a:lnTo>
                    <a:pt x="145" y="291"/>
                  </a:lnTo>
                  <a:lnTo>
                    <a:pt x="143" y="293"/>
                  </a:lnTo>
                  <a:lnTo>
                    <a:pt x="143" y="295"/>
                  </a:lnTo>
                  <a:lnTo>
                    <a:pt x="141" y="295"/>
                  </a:lnTo>
                  <a:lnTo>
                    <a:pt x="141" y="295"/>
                  </a:lnTo>
                  <a:lnTo>
                    <a:pt x="139" y="297"/>
                  </a:lnTo>
                  <a:lnTo>
                    <a:pt x="137" y="297"/>
                  </a:lnTo>
                  <a:lnTo>
                    <a:pt x="137" y="297"/>
                  </a:lnTo>
                  <a:lnTo>
                    <a:pt x="137" y="297"/>
                  </a:lnTo>
                  <a:lnTo>
                    <a:pt x="135" y="298"/>
                  </a:lnTo>
                  <a:lnTo>
                    <a:pt x="137" y="298"/>
                  </a:lnTo>
                  <a:lnTo>
                    <a:pt x="137" y="300"/>
                  </a:lnTo>
                  <a:lnTo>
                    <a:pt x="139" y="302"/>
                  </a:lnTo>
                  <a:lnTo>
                    <a:pt x="139" y="302"/>
                  </a:lnTo>
                  <a:lnTo>
                    <a:pt x="141" y="302"/>
                  </a:lnTo>
                  <a:lnTo>
                    <a:pt x="141" y="300"/>
                  </a:lnTo>
                  <a:lnTo>
                    <a:pt x="141" y="300"/>
                  </a:lnTo>
                  <a:lnTo>
                    <a:pt x="141" y="300"/>
                  </a:lnTo>
                  <a:lnTo>
                    <a:pt x="143" y="298"/>
                  </a:lnTo>
                  <a:lnTo>
                    <a:pt x="143" y="298"/>
                  </a:lnTo>
                  <a:lnTo>
                    <a:pt x="143" y="298"/>
                  </a:lnTo>
                  <a:lnTo>
                    <a:pt x="145" y="300"/>
                  </a:lnTo>
                  <a:lnTo>
                    <a:pt x="145" y="300"/>
                  </a:lnTo>
                  <a:lnTo>
                    <a:pt x="145" y="302"/>
                  </a:lnTo>
                  <a:lnTo>
                    <a:pt x="143" y="304"/>
                  </a:lnTo>
                  <a:lnTo>
                    <a:pt x="141" y="306"/>
                  </a:lnTo>
                  <a:lnTo>
                    <a:pt x="141" y="306"/>
                  </a:lnTo>
                  <a:lnTo>
                    <a:pt x="141" y="308"/>
                  </a:lnTo>
                  <a:lnTo>
                    <a:pt x="139" y="308"/>
                  </a:lnTo>
                  <a:lnTo>
                    <a:pt x="139" y="310"/>
                  </a:lnTo>
                  <a:lnTo>
                    <a:pt x="139" y="310"/>
                  </a:lnTo>
                  <a:lnTo>
                    <a:pt x="139" y="310"/>
                  </a:lnTo>
                  <a:lnTo>
                    <a:pt x="139" y="310"/>
                  </a:lnTo>
                  <a:lnTo>
                    <a:pt x="139" y="310"/>
                  </a:lnTo>
                  <a:lnTo>
                    <a:pt x="139" y="312"/>
                  </a:lnTo>
                  <a:lnTo>
                    <a:pt x="139" y="312"/>
                  </a:lnTo>
                  <a:lnTo>
                    <a:pt x="141" y="314"/>
                  </a:lnTo>
                  <a:lnTo>
                    <a:pt x="141" y="314"/>
                  </a:lnTo>
                  <a:lnTo>
                    <a:pt x="139" y="314"/>
                  </a:lnTo>
                  <a:lnTo>
                    <a:pt x="139" y="316"/>
                  </a:lnTo>
                  <a:lnTo>
                    <a:pt x="139" y="316"/>
                  </a:lnTo>
                  <a:lnTo>
                    <a:pt x="137" y="316"/>
                  </a:lnTo>
                  <a:lnTo>
                    <a:pt x="135" y="316"/>
                  </a:lnTo>
                  <a:lnTo>
                    <a:pt x="135" y="316"/>
                  </a:lnTo>
                  <a:lnTo>
                    <a:pt x="135" y="318"/>
                  </a:lnTo>
                  <a:lnTo>
                    <a:pt x="135" y="319"/>
                  </a:lnTo>
                  <a:lnTo>
                    <a:pt x="139" y="321"/>
                  </a:lnTo>
                  <a:lnTo>
                    <a:pt x="139" y="321"/>
                  </a:lnTo>
                  <a:lnTo>
                    <a:pt x="139" y="323"/>
                  </a:lnTo>
                  <a:lnTo>
                    <a:pt x="139" y="323"/>
                  </a:lnTo>
                  <a:lnTo>
                    <a:pt x="139" y="325"/>
                  </a:lnTo>
                  <a:lnTo>
                    <a:pt x="139" y="325"/>
                  </a:lnTo>
                  <a:lnTo>
                    <a:pt x="141" y="327"/>
                  </a:lnTo>
                  <a:lnTo>
                    <a:pt x="141" y="327"/>
                  </a:lnTo>
                  <a:lnTo>
                    <a:pt x="151" y="325"/>
                  </a:lnTo>
                  <a:lnTo>
                    <a:pt x="152" y="327"/>
                  </a:lnTo>
                  <a:lnTo>
                    <a:pt x="154" y="329"/>
                  </a:lnTo>
                  <a:lnTo>
                    <a:pt x="158" y="331"/>
                  </a:lnTo>
                  <a:lnTo>
                    <a:pt x="160" y="329"/>
                  </a:lnTo>
                  <a:lnTo>
                    <a:pt x="162" y="327"/>
                  </a:lnTo>
                  <a:lnTo>
                    <a:pt x="162" y="327"/>
                  </a:lnTo>
                  <a:lnTo>
                    <a:pt x="162" y="327"/>
                  </a:lnTo>
                  <a:lnTo>
                    <a:pt x="160" y="325"/>
                  </a:lnTo>
                  <a:lnTo>
                    <a:pt x="160" y="325"/>
                  </a:lnTo>
                  <a:lnTo>
                    <a:pt x="160" y="323"/>
                  </a:lnTo>
                  <a:lnTo>
                    <a:pt x="160" y="323"/>
                  </a:lnTo>
                  <a:lnTo>
                    <a:pt x="160" y="321"/>
                  </a:lnTo>
                  <a:lnTo>
                    <a:pt x="158" y="321"/>
                  </a:lnTo>
                  <a:lnTo>
                    <a:pt x="158" y="319"/>
                  </a:lnTo>
                  <a:lnTo>
                    <a:pt x="158" y="319"/>
                  </a:lnTo>
                  <a:lnTo>
                    <a:pt x="158" y="318"/>
                  </a:lnTo>
                  <a:lnTo>
                    <a:pt x="158" y="316"/>
                  </a:lnTo>
                  <a:lnTo>
                    <a:pt x="156" y="312"/>
                  </a:lnTo>
                  <a:lnTo>
                    <a:pt x="156" y="308"/>
                  </a:lnTo>
                  <a:lnTo>
                    <a:pt x="156" y="308"/>
                  </a:lnTo>
                  <a:lnTo>
                    <a:pt x="156" y="306"/>
                  </a:lnTo>
                  <a:lnTo>
                    <a:pt x="156" y="304"/>
                  </a:lnTo>
                  <a:lnTo>
                    <a:pt x="156" y="304"/>
                  </a:lnTo>
                  <a:lnTo>
                    <a:pt x="158" y="304"/>
                  </a:lnTo>
                  <a:lnTo>
                    <a:pt x="158" y="302"/>
                  </a:lnTo>
                  <a:lnTo>
                    <a:pt x="158" y="302"/>
                  </a:lnTo>
                  <a:lnTo>
                    <a:pt x="158" y="302"/>
                  </a:lnTo>
                  <a:lnTo>
                    <a:pt x="160" y="304"/>
                  </a:lnTo>
                  <a:lnTo>
                    <a:pt x="162" y="304"/>
                  </a:lnTo>
                  <a:lnTo>
                    <a:pt x="162" y="304"/>
                  </a:lnTo>
                  <a:lnTo>
                    <a:pt x="164" y="304"/>
                  </a:lnTo>
                  <a:lnTo>
                    <a:pt x="164" y="302"/>
                  </a:lnTo>
                  <a:lnTo>
                    <a:pt x="164" y="302"/>
                  </a:lnTo>
                  <a:lnTo>
                    <a:pt x="166" y="302"/>
                  </a:lnTo>
                  <a:lnTo>
                    <a:pt x="166" y="302"/>
                  </a:lnTo>
                  <a:lnTo>
                    <a:pt x="170" y="306"/>
                  </a:lnTo>
                  <a:lnTo>
                    <a:pt x="172" y="306"/>
                  </a:lnTo>
                  <a:lnTo>
                    <a:pt x="172" y="306"/>
                  </a:lnTo>
                  <a:lnTo>
                    <a:pt x="173" y="304"/>
                  </a:lnTo>
                  <a:lnTo>
                    <a:pt x="173" y="302"/>
                  </a:lnTo>
                  <a:lnTo>
                    <a:pt x="173" y="302"/>
                  </a:lnTo>
                  <a:lnTo>
                    <a:pt x="173" y="300"/>
                  </a:lnTo>
                  <a:lnTo>
                    <a:pt x="172" y="300"/>
                  </a:lnTo>
                  <a:lnTo>
                    <a:pt x="170" y="300"/>
                  </a:lnTo>
                  <a:lnTo>
                    <a:pt x="170" y="298"/>
                  </a:lnTo>
                  <a:lnTo>
                    <a:pt x="170" y="298"/>
                  </a:lnTo>
                  <a:lnTo>
                    <a:pt x="170" y="298"/>
                  </a:lnTo>
                  <a:lnTo>
                    <a:pt x="172" y="298"/>
                  </a:lnTo>
                  <a:lnTo>
                    <a:pt x="172" y="297"/>
                  </a:lnTo>
                  <a:lnTo>
                    <a:pt x="173" y="297"/>
                  </a:lnTo>
                  <a:lnTo>
                    <a:pt x="173" y="297"/>
                  </a:lnTo>
                  <a:lnTo>
                    <a:pt x="173" y="295"/>
                  </a:lnTo>
                  <a:lnTo>
                    <a:pt x="172" y="295"/>
                  </a:lnTo>
                  <a:lnTo>
                    <a:pt x="170" y="295"/>
                  </a:lnTo>
                  <a:lnTo>
                    <a:pt x="170" y="293"/>
                  </a:lnTo>
                  <a:lnTo>
                    <a:pt x="170" y="293"/>
                  </a:lnTo>
                  <a:lnTo>
                    <a:pt x="170" y="291"/>
                  </a:lnTo>
                  <a:lnTo>
                    <a:pt x="170" y="289"/>
                  </a:lnTo>
                  <a:lnTo>
                    <a:pt x="170" y="289"/>
                  </a:lnTo>
                  <a:lnTo>
                    <a:pt x="172" y="291"/>
                  </a:lnTo>
                  <a:lnTo>
                    <a:pt x="172" y="291"/>
                  </a:lnTo>
                  <a:lnTo>
                    <a:pt x="173" y="291"/>
                  </a:lnTo>
                  <a:lnTo>
                    <a:pt x="173" y="291"/>
                  </a:lnTo>
                  <a:lnTo>
                    <a:pt x="173" y="293"/>
                  </a:lnTo>
                  <a:lnTo>
                    <a:pt x="173" y="293"/>
                  </a:lnTo>
                  <a:lnTo>
                    <a:pt x="173" y="293"/>
                  </a:lnTo>
                  <a:lnTo>
                    <a:pt x="175" y="295"/>
                  </a:lnTo>
                  <a:lnTo>
                    <a:pt x="175" y="295"/>
                  </a:lnTo>
                  <a:lnTo>
                    <a:pt x="175" y="295"/>
                  </a:lnTo>
                  <a:lnTo>
                    <a:pt x="179" y="293"/>
                  </a:lnTo>
                  <a:lnTo>
                    <a:pt x="181" y="293"/>
                  </a:lnTo>
                  <a:lnTo>
                    <a:pt x="183" y="293"/>
                  </a:lnTo>
                  <a:lnTo>
                    <a:pt x="183" y="293"/>
                  </a:lnTo>
                  <a:lnTo>
                    <a:pt x="185" y="297"/>
                  </a:lnTo>
                  <a:lnTo>
                    <a:pt x="187" y="298"/>
                  </a:lnTo>
                  <a:lnTo>
                    <a:pt x="187" y="298"/>
                  </a:lnTo>
                  <a:lnTo>
                    <a:pt x="187" y="298"/>
                  </a:lnTo>
                  <a:lnTo>
                    <a:pt x="185" y="298"/>
                  </a:lnTo>
                  <a:lnTo>
                    <a:pt x="185" y="298"/>
                  </a:lnTo>
                  <a:lnTo>
                    <a:pt x="183" y="298"/>
                  </a:lnTo>
                  <a:lnTo>
                    <a:pt x="183" y="298"/>
                  </a:lnTo>
                  <a:lnTo>
                    <a:pt x="183" y="298"/>
                  </a:lnTo>
                  <a:lnTo>
                    <a:pt x="183" y="298"/>
                  </a:lnTo>
                  <a:lnTo>
                    <a:pt x="183" y="298"/>
                  </a:lnTo>
                  <a:lnTo>
                    <a:pt x="183" y="300"/>
                  </a:lnTo>
                  <a:lnTo>
                    <a:pt x="185" y="300"/>
                  </a:lnTo>
                  <a:lnTo>
                    <a:pt x="185" y="302"/>
                  </a:lnTo>
                  <a:lnTo>
                    <a:pt x="185" y="302"/>
                  </a:lnTo>
                  <a:lnTo>
                    <a:pt x="185" y="302"/>
                  </a:lnTo>
                  <a:lnTo>
                    <a:pt x="185" y="302"/>
                  </a:lnTo>
                  <a:lnTo>
                    <a:pt x="183" y="302"/>
                  </a:lnTo>
                  <a:lnTo>
                    <a:pt x="183" y="304"/>
                  </a:lnTo>
                  <a:lnTo>
                    <a:pt x="183" y="304"/>
                  </a:lnTo>
                  <a:lnTo>
                    <a:pt x="183" y="304"/>
                  </a:lnTo>
                  <a:lnTo>
                    <a:pt x="187" y="306"/>
                  </a:lnTo>
                  <a:lnTo>
                    <a:pt x="187" y="306"/>
                  </a:lnTo>
                  <a:lnTo>
                    <a:pt x="189" y="306"/>
                  </a:lnTo>
                  <a:lnTo>
                    <a:pt x="189" y="306"/>
                  </a:lnTo>
                  <a:lnTo>
                    <a:pt x="191" y="306"/>
                  </a:lnTo>
                  <a:lnTo>
                    <a:pt x="191" y="308"/>
                  </a:lnTo>
                  <a:lnTo>
                    <a:pt x="191" y="312"/>
                  </a:lnTo>
                  <a:lnTo>
                    <a:pt x="191" y="312"/>
                  </a:lnTo>
                  <a:lnTo>
                    <a:pt x="192" y="314"/>
                  </a:lnTo>
                  <a:lnTo>
                    <a:pt x="192" y="314"/>
                  </a:lnTo>
                  <a:lnTo>
                    <a:pt x="192" y="314"/>
                  </a:lnTo>
                  <a:lnTo>
                    <a:pt x="194" y="314"/>
                  </a:lnTo>
                  <a:lnTo>
                    <a:pt x="196" y="312"/>
                  </a:lnTo>
                  <a:lnTo>
                    <a:pt x="196" y="310"/>
                  </a:lnTo>
                  <a:lnTo>
                    <a:pt x="196" y="310"/>
                  </a:lnTo>
                  <a:lnTo>
                    <a:pt x="198" y="310"/>
                  </a:lnTo>
                  <a:lnTo>
                    <a:pt x="198" y="310"/>
                  </a:lnTo>
                  <a:lnTo>
                    <a:pt x="200" y="310"/>
                  </a:lnTo>
                  <a:lnTo>
                    <a:pt x="202" y="310"/>
                  </a:lnTo>
                  <a:lnTo>
                    <a:pt x="202" y="308"/>
                  </a:lnTo>
                  <a:lnTo>
                    <a:pt x="202" y="308"/>
                  </a:lnTo>
                  <a:lnTo>
                    <a:pt x="202" y="308"/>
                  </a:lnTo>
                  <a:lnTo>
                    <a:pt x="202" y="306"/>
                  </a:lnTo>
                  <a:lnTo>
                    <a:pt x="200" y="304"/>
                  </a:lnTo>
                  <a:lnTo>
                    <a:pt x="200" y="304"/>
                  </a:lnTo>
                  <a:lnTo>
                    <a:pt x="200" y="302"/>
                  </a:lnTo>
                  <a:lnTo>
                    <a:pt x="200" y="302"/>
                  </a:lnTo>
                  <a:lnTo>
                    <a:pt x="202" y="302"/>
                  </a:lnTo>
                  <a:lnTo>
                    <a:pt x="202" y="300"/>
                  </a:lnTo>
                  <a:lnTo>
                    <a:pt x="202" y="300"/>
                  </a:lnTo>
                  <a:lnTo>
                    <a:pt x="204" y="300"/>
                  </a:lnTo>
                  <a:lnTo>
                    <a:pt x="204" y="298"/>
                  </a:lnTo>
                  <a:lnTo>
                    <a:pt x="206" y="298"/>
                  </a:lnTo>
                  <a:lnTo>
                    <a:pt x="206" y="298"/>
                  </a:lnTo>
                  <a:lnTo>
                    <a:pt x="208" y="297"/>
                  </a:lnTo>
                  <a:lnTo>
                    <a:pt x="210" y="297"/>
                  </a:lnTo>
                  <a:lnTo>
                    <a:pt x="210" y="295"/>
                  </a:lnTo>
                  <a:lnTo>
                    <a:pt x="212" y="295"/>
                  </a:lnTo>
                  <a:lnTo>
                    <a:pt x="213" y="291"/>
                  </a:lnTo>
                  <a:lnTo>
                    <a:pt x="215" y="289"/>
                  </a:lnTo>
                  <a:lnTo>
                    <a:pt x="215" y="289"/>
                  </a:lnTo>
                  <a:lnTo>
                    <a:pt x="215" y="287"/>
                  </a:lnTo>
                  <a:lnTo>
                    <a:pt x="217" y="287"/>
                  </a:lnTo>
                  <a:lnTo>
                    <a:pt x="219" y="287"/>
                  </a:lnTo>
                  <a:lnTo>
                    <a:pt x="219" y="287"/>
                  </a:lnTo>
                  <a:lnTo>
                    <a:pt x="219" y="287"/>
                  </a:lnTo>
                  <a:lnTo>
                    <a:pt x="221" y="287"/>
                  </a:lnTo>
                  <a:lnTo>
                    <a:pt x="221" y="287"/>
                  </a:lnTo>
                  <a:lnTo>
                    <a:pt x="221" y="287"/>
                  </a:lnTo>
                  <a:lnTo>
                    <a:pt x="223" y="289"/>
                  </a:lnTo>
                  <a:lnTo>
                    <a:pt x="223" y="291"/>
                  </a:lnTo>
                  <a:lnTo>
                    <a:pt x="227" y="293"/>
                  </a:lnTo>
                  <a:lnTo>
                    <a:pt x="229" y="295"/>
                  </a:lnTo>
                  <a:lnTo>
                    <a:pt x="229" y="295"/>
                  </a:lnTo>
                  <a:lnTo>
                    <a:pt x="229" y="297"/>
                  </a:lnTo>
                  <a:lnTo>
                    <a:pt x="229" y="298"/>
                  </a:lnTo>
                  <a:lnTo>
                    <a:pt x="227" y="304"/>
                  </a:lnTo>
                  <a:lnTo>
                    <a:pt x="227" y="306"/>
                  </a:lnTo>
                  <a:lnTo>
                    <a:pt x="227" y="308"/>
                  </a:lnTo>
                  <a:lnTo>
                    <a:pt x="227" y="310"/>
                  </a:lnTo>
                  <a:lnTo>
                    <a:pt x="227" y="312"/>
                  </a:lnTo>
                  <a:lnTo>
                    <a:pt x="229" y="312"/>
                  </a:lnTo>
                  <a:lnTo>
                    <a:pt x="229" y="312"/>
                  </a:lnTo>
                  <a:lnTo>
                    <a:pt x="229" y="314"/>
                  </a:lnTo>
                  <a:lnTo>
                    <a:pt x="229" y="314"/>
                  </a:lnTo>
                  <a:lnTo>
                    <a:pt x="229" y="316"/>
                  </a:lnTo>
                  <a:lnTo>
                    <a:pt x="229" y="316"/>
                  </a:lnTo>
                  <a:lnTo>
                    <a:pt x="229" y="318"/>
                  </a:lnTo>
                  <a:lnTo>
                    <a:pt x="229" y="319"/>
                  </a:lnTo>
                  <a:lnTo>
                    <a:pt x="229" y="319"/>
                  </a:lnTo>
                  <a:lnTo>
                    <a:pt x="229" y="321"/>
                  </a:lnTo>
                  <a:lnTo>
                    <a:pt x="229" y="325"/>
                  </a:lnTo>
                  <a:lnTo>
                    <a:pt x="229" y="325"/>
                  </a:lnTo>
                  <a:lnTo>
                    <a:pt x="229" y="327"/>
                  </a:lnTo>
                  <a:lnTo>
                    <a:pt x="229" y="327"/>
                  </a:lnTo>
                  <a:lnTo>
                    <a:pt x="227" y="329"/>
                  </a:lnTo>
                  <a:lnTo>
                    <a:pt x="227" y="331"/>
                  </a:lnTo>
                  <a:lnTo>
                    <a:pt x="225" y="337"/>
                  </a:lnTo>
                  <a:lnTo>
                    <a:pt x="225" y="338"/>
                  </a:lnTo>
                  <a:lnTo>
                    <a:pt x="225" y="338"/>
                  </a:lnTo>
                  <a:lnTo>
                    <a:pt x="225" y="340"/>
                  </a:lnTo>
                  <a:lnTo>
                    <a:pt x="227" y="340"/>
                  </a:lnTo>
                  <a:lnTo>
                    <a:pt x="227" y="340"/>
                  </a:lnTo>
                  <a:lnTo>
                    <a:pt x="227" y="340"/>
                  </a:lnTo>
                  <a:lnTo>
                    <a:pt x="227" y="342"/>
                  </a:lnTo>
                  <a:lnTo>
                    <a:pt x="225" y="342"/>
                  </a:lnTo>
                  <a:lnTo>
                    <a:pt x="225" y="342"/>
                  </a:lnTo>
                  <a:lnTo>
                    <a:pt x="223" y="342"/>
                  </a:lnTo>
                  <a:lnTo>
                    <a:pt x="223" y="344"/>
                  </a:lnTo>
                  <a:lnTo>
                    <a:pt x="225" y="344"/>
                  </a:lnTo>
                  <a:lnTo>
                    <a:pt x="225" y="344"/>
                  </a:lnTo>
                  <a:lnTo>
                    <a:pt x="225" y="344"/>
                  </a:lnTo>
                  <a:lnTo>
                    <a:pt x="229" y="344"/>
                  </a:lnTo>
                  <a:lnTo>
                    <a:pt x="231" y="344"/>
                  </a:lnTo>
                  <a:lnTo>
                    <a:pt x="232" y="342"/>
                  </a:lnTo>
                  <a:lnTo>
                    <a:pt x="232" y="340"/>
                  </a:lnTo>
                  <a:lnTo>
                    <a:pt x="234" y="338"/>
                  </a:lnTo>
                  <a:lnTo>
                    <a:pt x="236" y="338"/>
                  </a:lnTo>
                  <a:lnTo>
                    <a:pt x="240" y="338"/>
                  </a:lnTo>
                  <a:lnTo>
                    <a:pt x="240" y="337"/>
                  </a:lnTo>
                  <a:lnTo>
                    <a:pt x="240" y="337"/>
                  </a:lnTo>
                  <a:lnTo>
                    <a:pt x="240" y="337"/>
                  </a:lnTo>
                  <a:lnTo>
                    <a:pt x="238" y="335"/>
                  </a:lnTo>
                  <a:lnTo>
                    <a:pt x="236" y="333"/>
                  </a:lnTo>
                  <a:lnTo>
                    <a:pt x="236" y="333"/>
                  </a:lnTo>
                  <a:lnTo>
                    <a:pt x="238" y="331"/>
                  </a:lnTo>
                  <a:lnTo>
                    <a:pt x="238" y="331"/>
                  </a:lnTo>
                  <a:lnTo>
                    <a:pt x="240" y="331"/>
                  </a:lnTo>
                  <a:lnTo>
                    <a:pt x="244" y="333"/>
                  </a:lnTo>
                  <a:lnTo>
                    <a:pt x="244" y="333"/>
                  </a:lnTo>
                  <a:lnTo>
                    <a:pt x="246" y="333"/>
                  </a:lnTo>
                  <a:lnTo>
                    <a:pt x="248" y="331"/>
                  </a:lnTo>
                  <a:lnTo>
                    <a:pt x="248" y="329"/>
                  </a:lnTo>
                  <a:lnTo>
                    <a:pt x="250" y="329"/>
                  </a:lnTo>
                  <a:lnTo>
                    <a:pt x="250" y="331"/>
                  </a:lnTo>
                  <a:lnTo>
                    <a:pt x="250" y="331"/>
                  </a:lnTo>
                  <a:lnTo>
                    <a:pt x="250" y="331"/>
                  </a:lnTo>
                  <a:lnTo>
                    <a:pt x="252" y="331"/>
                  </a:lnTo>
                  <a:lnTo>
                    <a:pt x="252" y="331"/>
                  </a:lnTo>
                  <a:lnTo>
                    <a:pt x="252" y="329"/>
                  </a:lnTo>
                  <a:lnTo>
                    <a:pt x="253" y="329"/>
                  </a:lnTo>
                  <a:lnTo>
                    <a:pt x="253" y="331"/>
                  </a:lnTo>
                  <a:lnTo>
                    <a:pt x="253" y="331"/>
                  </a:lnTo>
                  <a:lnTo>
                    <a:pt x="255" y="333"/>
                  </a:lnTo>
                  <a:lnTo>
                    <a:pt x="255" y="333"/>
                  </a:lnTo>
                  <a:lnTo>
                    <a:pt x="255" y="333"/>
                  </a:lnTo>
                  <a:lnTo>
                    <a:pt x="255" y="333"/>
                  </a:lnTo>
                  <a:lnTo>
                    <a:pt x="257" y="331"/>
                  </a:lnTo>
                  <a:lnTo>
                    <a:pt x="259" y="331"/>
                  </a:lnTo>
                  <a:lnTo>
                    <a:pt x="263" y="329"/>
                  </a:lnTo>
                  <a:lnTo>
                    <a:pt x="263" y="327"/>
                  </a:lnTo>
                  <a:lnTo>
                    <a:pt x="263" y="327"/>
                  </a:lnTo>
                  <a:lnTo>
                    <a:pt x="265" y="327"/>
                  </a:lnTo>
                  <a:lnTo>
                    <a:pt x="265" y="327"/>
                  </a:lnTo>
                  <a:lnTo>
                    <a:pt x="265" y="327"/>
                  </a:lnTo>
                  <a:lnTo>
                    <a:pt x="267" y="325"/>
                  </a:lnTo>
                  <a:lnTo>
                    <a:pt x="271" y="325"/>
                  </a:lnTo>
                  <a:lnTo>
                    <a:pt x="271" y="325"/>
                  </a:lnTo>
                  <a:lnTo>
                    <a:pt x="273" y="321"/>
                  </a:lnTo>
                  <a:lnTo>
                    <a:pt x="274" y="321"/>
                  </a:lnTo>
                  <a:lnTo>
                    <a:pt x="274" y="321"/>
                  </a:lnTo>
                  <a:lnTo>
                    <a:pt x="276" y="323"/>
                  </a:lnTo>
                  <a:lnTo>
                    <a:pt x="276" y="323"/>
                  </a:lnTo>
                  <a:lnTo>
                    <a:pt x="278" y="321"/>
                  </a:lnTo>
                  <a:lnTo>
                    <a:pt x="278" y="319"/>
                  </a:lnTo>
                  <a:lnTo>
                    <a:pt x="280" y="318"/>
                  </a:lnTo>
                  <a:lnTo>
                    <a:pt x="280" y="318"/>
                  </a:lnTo>
                  <a:lnTo>
                    <a:pt x="282" y="316"/>
                  </a:lnTo>
                  <a:lnTo>
                    <a:pt x="282" y="314"/>
                  </a:lnTo>
                  <a:lnTo>
                    <a:pt x="282" y="310"/>
                  </a:lnTo>
                  <a:lnTo>
                    <a:pt x="280" y="308"/>
                  </a:lnTo>
                  <a:lnTo>
                    <a:pt x="280" y="308"/>
                  </a:lnTo>
                  <a:lnTo>
                    <a:pt x="278" y="306"/>
                  </a:lnTo>
                  <a:lnTo>
                    <a:pt x="276" y="306"/>
                  </a:lnTo>
                  <a:lnTo>
                    <a:pt x="278" y="302"/>
                  </a:lnTo>
                  <a:lnTo>
                    <a:pt x="278" y="300"/>
                  </a:lnTo>
                  <a:lnTo>
                    <a:pt x="276" y="298"/>
                  </a:lnTo>
                  <a:lnTo>
                    <a:pt x="280" y="300"/>
                  </a:lnTo>
                  <a:lnTo>
                    <a:pt x="280" y="298"/>
                  </a:lnTo>
                  <a:lnTo>
                    <a:pt x="280" y="295"/>
                  </a:lnTo>
                  <a:lnTo>
                    <a:pt x="280" y="293"/>
                  </a:lnTo>
                  <a:lnTo>
                    <a:pt x="284" y="291"/>
                  </a:lnTo>
                  <a:lnTo>
                    <a:pt x="282" y="291"/>
                  </a:lnTo>
                  <a:lnTo>
                    <a:pt x="280" y="291"/>
                  </a:lnTo>
                  <a:lnTo>
                    <a:pt x="280" y="289"/>
                  </a:lnTo>
                  <a:lnTo>
                    <a:pt x="280" y="289"/>
                  </a:lnTo>
                  <a:lnTo>
                    <a:pt x="280" y="289"/>
                  </a:lnTo>
                  <a:lnTo>
                    <a:pt x="282" y="287"/>
                  </a:lnTo>
                  <a:lnTo>
                    <a:pt x="282" y="287"/>
                  </a:lnTo>
                  <a:lnTo>
                    <a:pt x="282" y="287"/>
                  </a:lnTo>
                  <a:lnTo>
                    <a:pt x="282" y="285"/>
                  </a:lnTo>
                  <a:lnTo>
                    <a:pt x="284" y="285"/>
                  </a:lnTo>
                  <a:lnTo>
                    <a:pt x="284" y="285"/>
                  </a:lnTo>
                  <a:lnTo>
                    <a:pt x="282" y="283"/>
                  </a:lnTo>
                  <a:lnTo>
                    <a:pt x="280" y="283"/>
                  </a:lnTo>
                  <a:lnTo>
                    <a:pt x="280" y="283"/>
                  </a:lnTo>
                  <a:lnTo>
                    <a:pt x="278" y="281"/>
                  </a:lnTo>
                  <a:lnTo>
                    <a:pt x="278" y="281"/>
                  </a:lnTo>
                  <a:lnTo>
                    <a:pt x="278" y="279"/>
                  </a:lnTo>
                  <a:lnTo>
                    <a:pt x="276" y="278"/>
                  </a:lnTo>
                  <a:lnTo>
                    <a:pt x="278" y="276"/>
                  </a:lnTo>
                  <a:lnTo>
                    <a:pt x="280" y="270"/>
                  </a:lnTo>
                  <a:lnTo>
                    <a:pt x="278" y="270"/>
                  </a:lnTo>
                  <a:lnTo>
                    <a:pt x="276" y="270"/>
                  </a:lnTo>
                  <a:lnTo>
                    <a:pt x="276" y="266"/>
                  </a:lnTo>
                  <a:lnTo>
                    <a:pt x="276" y="266"/>
                  </a:lnTo>
                  <a:lnTo>
                    <a:pt x="276" y="266"/>
                  </a:lnTo>
                  <a:lnTo>
                    <a:pt x="274" y="266"/>
                  </a:lnTo>
                  <a:lnTo>
                    <a:pt x="273" y="266"/>
                  </a:lnTo>
                  <a:lnTo>
                    <a:pt x="273" y="264"/>
                  </a:lnTo>
                  <a:lnTo>
                    <a:pt x="273" y="264"/>
                  </a:lnTo>
                  <a:lnTo>
                    <a:pt x="273" y="262"/>
                  </a:lnTo>
                  <a:lnTo>
                    <a:pt x="273" y="262"/>
                  </a:lnTo>
                  <a:lnTo>
                    <a:pt x="273" y="262"/>
                  </a:lnTo>
                  <a:lnTo>
                    <a:pt x="271" y="262"/>
                  </a:lnTo>
                  <a:lnTo>
                    <a:pt x="271" y="262"/>
                  </a:lnTo>
                  <a:lnTo>
                    <a:pt x="269" y="262"/>
                  </a:lnTo>
                  <a:lnTo>
                    <a:pt x="269" y="262"/>
                  </a:lnTo>
                  <a:lnTo>
                    <a:pt x="269" y="262"/>
                  </a:lnTo>
                  <a:lnTo>
                    <a:pt x="269" y="260"/>
                  </a:lnTo>
                  <a:lnTo>
                    <a:pt x="269" y="260"/>
                  </a:lnTo>
                  <a:lnTo>
                    <a:pt x="267" y="260"/>
                  </a:lnTo>
                  <a:lnTo>
                    <a:pt x="267" y="259"/>
                  </a:lnTo>
                  <a:lnTo>
                    <a:pt x="265" y="259"/>
                  </a:lnTo>
                  <a:lnTo>
                    <a:pt x="265" y="257"/>
                  </a:lnTo>
                  <a:lnTo>
                    <a:pt x="265" y="257"/>
                  </a:lnTo>
                  <a:lnTo>
                    <a:pt x="259" y="257"/>
                  </a:lnTo>
                  <a:lnTo>
                    <a:pt x="257" y="259"/>
                  </a:lnTo>
                  <a:lnTo>
                    <a:pt x="255" y="259"/>
                  </a:lnTo>
                  <a:lnTo>
                    <a:pt x="255" y="260"/>
                  </a:lnTo>
                  <a:lnTo>
                    <a:pt x="255" y="260"/>
                  </a:lnTo>
                  <a:lnTo>
                    <a:pt x="255" y="262"/>
                  </a:lnTo>
                  <a:lnTo>
                    <a:pt x="255" y="262"/>
                  </a:lnTo>
                  <a:lnTo>
                    <a:pt x="255" y="262"/>
                  </a:lnTo>
                  <a:lnTo>
                    <a:pt x="255" y="264"/>
                  </a:lnTo>
                  <a:lnTo>
                    <a:pt x="255" y="264"/>
                  </a:lnTo>
                  <a:lnTo>
                    <a:pt x="255" y="264"/>
                  </a:lnTo>
                  <a:lnTo>
                    <a:pt x="255" y="264"/>
                  </a:lnTo>
                  <a:lnTo>
                    <a:pt x="252" y="266"/>
                  </a:lnTo>
                  <a:lnTo>
                    <a:pt x="248" y="264"/>
                  </a:lnTo>
                  <a:lnTo>
                    <a:pt x="246" y="262"/>
                  </a:lnTo>
                  <a:lnTo>
                    <a:pt x="244" y="262"/>
                  </a:lnTo>
                  <a:lnTo>
                    <a:pt x="244" y="260"/>
                  </a:lnTo>
                  <a:lnTo>
                    <a:pt x="242" y="260"/>
                  </a:lnTo>
                  <a:lnTo>
                    <a:pt x="242" y="259"/>
                  </a:lnTo>
                  <a:lnTo>
                    <a:pt x="242" y="257"/>
                  </a:lnTo>
                  <a:lnTo>
                    <a:pt x="240" y="257"/>
                  </a:lnTo>
                  <a:lnTo>
                    <a:pt x="240" y="255"/>
                  </a:lnTo>
                  <a:lnTo>
                    <a:pt x="234" y="253"/>
                  </a:lnTo>
                  <a:lnTo>
                    <a:pt x="234" y="253"/>
                  </a:lnTo>
                  <a:lnTo>
                    <a:pt x="232" y="253"/>
                  </a:lnTo>
                  <a:lnTo>
                    <a:pt x="232" y="253"/>
                  </a:lnTo>
                  <a:lnTo>
                    <a:pt x="232" y="255"/>
                  </a:lnTo>
                  <a:lnTo>
                    <a:pt x="232" y="255"/>
                  </a:lnTo>
                  <a:lnTo>
                    <a:pt x="231" y="255"/>
                  </a:lnTo>
                  <a:lnTo>
                    <a:pt x="225" y="255"/>
                  </a:lnTo>
                  <a:lnTo>
                    <a:pt x="223" y="257"/>
                  </a:lnTo>
                  <a:lnTo>
                    <a:pt x="221" y="255"/>
                  </a:lnTo>
                  <a:lnTo>
                    <a:pt x="221" y="255"/>
                  </a:lnTo>
                  <a:lnTo>
                    <a:pt x="221" y="255"/>
                  </a:lnTo>
                  <a:lnTo>
                    <a:pt x="221" y="253"/>
                  </a:lnTo>
                  <a:lnTo>
                    <a:pt x="221" y="253"/>
                  </a:lnTo>
                  <a:lnTo>
                    <a:pt x="219" y="251"/>
                  </a:lnTo>
                  <a:lnTo>
                    <a:pt x="219" y="251"/>
                  </a:lnTo>
                  <a:lnTo>
                    <a:pt x="219" y="251"/>
                  </a:lnTo>
                  <a:lnTo>
                    <a:pt x="219" y="249"/>
                  </a:lnTo>
                  <a:lnTo>
                    <a:pt x="221" y="247"/>
                  </a:lnTo>
                  <a:lnTo>
                    <a:pt x="221" y="245"/>
                  </a:lnTo>
                  <a:lnTo>
                    <a:pt x="223" y="245"/>
                  </a:lnTo>
                  <a:lnTo>
                    <a:pt x="223" y="245"/>
                  </a:lnTo>
                  <a:lnTo>
                    <a:pt x="225" y="243"/>
                  </a:lnTo>
                  <a:lnTo>
                    <a:pt x="225" y="243"/>
                  </a:lnTo>
                  <a:lnTo>
                    <a:pt x="227" y="243"/>
                  </a:lnTo>
                  <a:lnTo>
                    <a:pt x="227" y="241"/>
                  </a:lnTo>
                  <a:lnTo>
                    <a:pt x="227" y="240"/>
                  </a:lnTo>
                  <a:lnTo>
                    <a:pt x="229" y="240"/>
                  </a:lnTo>
                  <a:lnTo>
                    <a:pt x="229" y="238"/>
                  </a:lnTo>
                  <a:lnTo>
                    <a:pt x="229" y="236"/>
                  </a:lnTo>
                  <a:lnTo>
                    <a:pt x="229" y="236"/>
                  </a:lnTo>
                  <a:lnTo>
                    <a:pt x="229" y="234"/>
                  </a:lnTo>
                  <a:lnTo>
                    <a:pt x="229" y="234"/>
                  </a:lnTo>
                  <a:lnTo>
                    <a:pt x="229" y="228"/>
                  </a:lnTo>
                  <a:lnTo>
                    <a:pt x="229" y="226"/>
                  </a:lnTo>
                  <a:lnTo>
                    <a:pt x="229" y="226"/>
                  </a:lnTo>
                  <a:lnTo>
                    <a:pt x="229" y="224"/>
                  </a:lnTo>
                  <a:lnTo>
                    <a:pt x="231" y="222"/>
                  </a:lnTo>
                  <a:lnTo>
                    <a:pt x="232" y="222"/>
                  </a:lnTo>
                  <a:lnTo>
                    <a:pt x="234" y="221"/>
                  </a:lnTo>
                  <a:lnTo>
                    <a:pt x="236" y="221"/>
                  </a:lnTo>
                  <a:lnTo>
                    <a:pt x="238" y="221"/>
                  </a:lnTo>
                  <a:lnTo>
                    <a:pt x="240" y="219"/>
                  </a:lnTo>
                  <a:lnTo>
                    <a:pt x="240" y="219"/>
                  </a:lnTo>
                  <a:lnTo>
                    <a:pt x="240" y="219"/>
                  </a:lnTo>
                  <a:lnTo>
                    <a:pt x="246" y="219"/>
                  </a:lnTo>
                  <a:lnTo>
                    <a:pt x="246" y="221"/>
                  </a:lnTo>
                  <a:lnTo>
                    <a:pt x="248" y="221"/>
                  </a:lnTo>
                  <a:lnTo>
                    <a:pt x="248" y="221"/>
                  </a:lnTo>
                  <a:lnTo>
                    <a:pt x="252" y="219"/>
                  </a:lnTo>
                  <a:lnTo>
                    <a:pt x="253" y="217"/>
                  </a:lnTo>
                  <a:lnTo>
                    <a:pt x="253" y="215"/>
                  </a:lnTo>
                  <a:lnTo>
                    <a:pt x="253" y="215"/>
                  </a:lnTo>
                  <a:lnTo>
                    <a:pt x="253" y="215"/>
                  </a:lnTo>
                  <a:lnTo>
                    <a:pt x="253" y="213"/>
                  </a:lnTo>
                  <a:lnTo>
                    <a:pt x="253" y="211"/>
                  </a:lnTo>
                  <a:lnTo>
                    <a:pt x="250" y="209"/>
                  </a:lnTo>
                  <a:lnTo>
                    <a:pt x="250" y="207"/>
                  </a:lnTo>
                  <a:lnTo>
                    <a:pt x="252" y="207"/>
                  </a:lnTo>
                  <a:lnTo>
                    <a:pt x="252" y="205"/>
                  </a:lnTo>
                  <a:lnTo>
                    <a:pt x="250" y="201"/>
                  </a:lnTo>
                  <a:lnTo>
                    <a:pt x="248" y="196"/>
                  </a:lnTo>
                  <a:lnTo>
                    <a:pt x="248" y="196"/>
                  </a:lnTo>
                  <a:lnTo>
                    <a:pt x="248" y="194"/>
                  </a:lnTo>
                  <a:lnTo>
                    <a:pt x="246" y="194"/>
                  </a:lnTo>
                  <a:lnTo>
                    <a:pt x="246" y="194"/>
                  </a:lnTo>
                  <a:lnTo>
                    <a:pt x="246" y="194"/>
                  </a:lnTo>
                  <a:lnTo>
                    <a:pt x="246" y="194"/>
                  </a:lnTo>
                  <a:lnTo>
                    <a:pt x="248" y="192"/>
                  </a:lnTo>
                  <a:lnTo>
                    <a:pt x="248" y="192"/>
                  </a:lnTo>
                  <a:lnTo>
                    <a:pt x="246" y="177"/>
                  </a:lnTo>
                  <a:lnTo>
                    <a:pt x="246" y="175"/>
                  </a:lnTo>
                  <a:lnTo>
                    <a:pt x="248" y="175"/>
                  </a:lnTo>
                  <a:lnTo>
                    <a:pt x="248" y="173"/>
                  </a:lnTo>
                  <a:lnTo>
                    <a:pt x="248" y="171"/>
                  </a:lnTo>
                  <a:lnTo>
                    <a:pt x="246" y="171"/>
                  </a:lnTo>
                  <a:lnTo>
                    <a:pt x="246" y="169"/>
                  </a:lnTo>
                  <a:lnTo>
                    <a:pt x="246" y="167"/>
                  </a:lnTo>
                  <a:lnTo>
                    <a:pt x="246" y="165"/>
                  </a:lnTo>
                  <a:lnTo>
                    <a:pt x="246" y="165"/>
                  </a:lnTo>
                  <a:lnTo>
                    <a:pt x="248" y="163"/>
                  </a:lnTo>
                  <a:lnTo>
                    <a:pt x="248" y="163"/>
                  </a:lnTo>
                  <a:lnTo>
                    <a:pt x="248" y="162"/>
                  </a:lnTo>
                  <a:lnTo>
                    <a:pt x="246" y="162"/>
                  </a:lnTo>
                  <a:lnTo>
                    <a:pt x="244" y="162"/>
                  </a:lnTo>
                  <a:lnTo>
                    <a:pt x="240" y="162"/>
                  </a:lnTo>
                  <a:lnTo>
                    <a:pt x="240" y="162"/>
                  </a:lnTo>
                  <a:lnTo>
                    <a:pt x="240" y="160"/>
                  </a:lnTo>
                  <a:lnTo>
                    <a:pt x="244" y="156"/>
                  </a:lnTo>
                  <a:lnTo>
                    <a:pt x="246" y="154"/>
                  </a:lnTo>
                  <a:lnTo>
                    <a:pt x="244" y="154"/>
                  </a:lnTo>
                  <a:lnTo>
                    <a:pt x="240" y="154"/>
                  </a:lnTo>
                  <a:lnTo>
                    <a:pt x="240" y="152"/>
                  </a:lnTo>
                  <a:lnTo>
                    <a:pt x="240" y="152"/>
                  </a:lnTo>
                  <a:lnTo>
                    <a:pt x="240" y="152"/>
                  </a:lnTo>
                  <a:lnTo>
                    <a:pt x="240" y="150"/>
                  </a:lnTo>
                  <a:lnTo>
                    <a:pt x="240" y="148"/>
                  </a:lnTo>
                  <a:lnTo>
                    <a:pt x="240" y="148"/>
                  </a:lnTo>
                  <a:lnTo>
                    <a:pt x="240" y="146"/>
                  </a:lnTo>
                  <a:lnTo>
                    <a:pt x="240" y="146"/>
                  </a:lnTo>
                  <a:lnTo>
                    <a:pt x="242" y="144"/>
                  </a:lnTo>
                  <a:lnTo>
                    <a:pt x="242" y="144"/>
                  </a:lnTo>
                  <a:lnTo>
                    <a:pt x="244" y="144"/>
                  </a:lnTo>
                  <a:lnTo>
                    <a:pt x="242" y="143"/>
                  </a:lnTo>
                  <a:lnTo>
                    <a:pt x="242" y="141"/>
                  </a:lnTo>
                  <a:lnTo>
                    <a:pt x="242" y="141"/>
                  </a:lnTo>
                  <a:lnTo>
                    <a:pt x="242" y="139"/>
                  </a:lnTo>
                  <a:lnTo>
                    <a:pt x="242" y="137"/>
                  </a:lnTo>
                  <a:lnTo>
                    <a:pt x="244" y="133"/>
                  </a:lnTo>
                  <a:lnTo>
                    <a:pt x="244" y="131"/>
                  </a:lnTo>
                  <a:lnTo>
                    <a:pt x="246" y="131"/>
                  </a:lnTo>
                  <a:lnTo>
                    <a:pt x="246" y="129"/>
                  </a:lnTo>
                  <a:lnTo>
                    <a:pt x="248" y="129"/>
                  </a:lnTo>
                  <a:lnTo>
                    <a:pt x="246" y="127"/>
                  </a:lnTo>
                  <a:lnTo>
                    <a:pt x="246" y="127"/>
                  </a:lnTo>
                  <a:lnTo>
                    <a:pt x="246" y="125"/>
                  </a:lnTo>
                  <a:lnTo>
                    <a:pt x="246" y="125"/>
                  </a:lnTo>
                  <a:lnTo>
                    <a:pt x="248" y="124"/>
                  </a:lnTo>
                  <a:lnTo>
                    <a:pt x="248" y="124"/>
                  </a:lnTo>
                  <a:lnTo>
                    <a:pt x="248" y="125"/>
                  </a:lnTo>
                  <a:lnTo>
                    <a:pt x="250" y="124"/>
                  </a:lnTo>
                  <a:lnTo>
                    <a:pt x="250" y="122"/>
                  </a:lnTo>
                  <a:lnTo>
                    <a:pt x="253" y="108"/>
                  </a:lnTo>
                  <a:lnTo>
                    <a:pt x="253" y="104"/>
                  </a:lnTo>
                  <a:lnTo>
                    <a:pt x="255" y="103"/>
                  </a:lnTo>
                  <a:lnTo>
                    <a:pt x="255" y="103"/>
                  </a:lnTo>
                  <a:lnTo>
                    <a:pt x="259" y="99"/>
                  </a:lnTo>
                  <a:lnTo>
                    <a:pt x="259" y="97"/>
                  </a:lnTo>
                  <a:lnTo>
                    <a:pt x="259" y="97"/>
                  </a:lnTo>
                  <a:lnTo>
                    <a:pt x="259" y="97"/>
                  </a:lnTo>
                  <a:lnTo>
                    <a:pt x="261" y="95"/>
                  </a:lnTo>
                  <a:lnTo>
                    <a:pt x="261" y="95"/>
                  </a:lnTo>
                  <a:lnTo>
                    <a:pt x="261" y="97"/>
                  </a:lnTo>
                  <a:lnTo>
                    <a:pt x="263" y="95"/>
                  </a:lnTo>
                  <a:lnTo>
                    <a:pt x="263" y="95"/>
                  </a:lnTo>
                  <a:lnTo>
                    <a:pt x="263" y="95"/>
                  </a:lnTo>
                  <a:lnTo>
                    <a:pt x="263" y="95"/>
                  </a:lnTo>
                  <a:lnTo>
                    <a:pt x="263" y="95"/>
                  </a:lnTo>
                  <a:lnTo>
                    <a:pt x="263" y="93"/>
                  </a:lnTo>
                  <a:lnTo>
                    <a:pt x="263" y="93"/>
                  </a:lnTo>
                  <a:lnTo>
                    <a:pt x="265" y="93"/>
                  </a:lnTo>
                  <a:lnTo>
                    <a:pt x="269" y="89"/>
                  </a:lnTo>
                  <a:lnTo>
                    <a:pt x="271" y="87"/>
                  </a:lnTo>
                  <a:lnTo>
                    <a:pt x="271" y="85"/>
                  </a:lnTo>
                  <a:lnTo>
                    <a:pt x="273" y="84"/>
                  </a:lnTo>
                  <a:lnTo>
                    <a:pt x="274" y="82"/>
                  </a:lnTo>
                  <a:lnTo>
                    <a:pt x="280" y="76"/>
                  </a:lnTo>
                  <a:lnTo>
                    <a:pt x="284" y="72"/>
                  </a:lnTo>
                  <a:lnTo>
                    <a:pt x="286" y="70"/>
                  </a:lnTo>
                  <a:lnTo>
                    <a:pt x="288" y="65"/>
                  </a:lnTo>
                  <a:lnTo>
                    <a:pt x="288" y="61"/>
                  </a:lnTo>
                  <a:lnTo>
                    <a:pt x="288" y="59"/>
                  </a:lnTo>
                  <a:close/>
                </a:path>
              </a:pathLst>
            </a:custGeom>
            <a:solidFill>
              <a:srgbClr val="DCDDDF"/>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05" name="Freeform 55">
              <a:extLst>
                <a:ext uri="{FF2B5EF4-FFF2-40B4-BE49-F238E27FC236}">
                  <a16:creationId xmlns:a16="http://schemas.microsoft.com/office/drawing/2014/main" id="{99BFCA03-6749-0013-4382-34181F02ACBD}"/>
                </a:ext>
              </a:extLst>
            </p:cNvPr>
            <p:cNvSpPr>
              <a:spLocks/>
            </p:cNvSpPr>
            <p:nvPr/>
          </p:nvSpPr>
          <p:spPr bwMode="auto">
            <a:xfrm>
              <a:off x="2109752" y="2310263"/>
              <a:ext cx="543322" cy="581886"/>
            </a:xfrm>
            <a:custGeom>
              <a:avLst/>
              <a:gdLst>
                <a:gd name="T0" fmla="*/ 269 w 288"/>
                <a:gd name="T1" fmla="*/ 53 h 344"/>
                <a:gd name="T2" fmla="*/ 248 w 288"/>
                <a:gd name="T3" fmla="*/ 28 h 344"/>
                <a:gd name="T4" fmla="*/ 227 w 288"/>
                <a:gd name="T5" fmla="*/ 6 h 344"/>
                <a:gd name="T6" fmla="*/ 215 w 288"/>
                <a:gd name="T7" fmla="*/ 9 h 344"/>
                <a:gd name="T8" fmla="*/ 219 w 288"/>
                <a:gd name="T9" fmla="*/ 27 h 344"/>
                <a:gd name="T10" fmla="*/ 225 w 288"/>
                <a:gd name="T11" fmla="*/ 46 h 344"/>
                <a:gd name="T12" fmla="*/ 213 w 288"/>
                <a:gd name="T13" fmla="*/ 55 h 344"/>
                <a:gd name="T14" fmla="*/ 194 w 288"/>
                <a:gd name="T15" fmla="*/ 72 h 344"/>
                <a:gd name="T16" fmla="*/ 198 w 288"/>
                <a:gd name="T17" fmla="*/ 76 h 344"/>
                <a:gd name="T18" fmla="*/ 181 w 288"/>
                <a:gd name="T19" fmla="*/ 87 h 344"/>
                <a:gd name="T20" fmla="*/ 173 w 288"/>
                <a:gd name="T21" fmla="*/ 85 h 344"/>
                <a:gd name="T22" fmla="*/ 160 w 288"/>
                <a:gd name="T23" fmla="*/ 87 h 344"/>
                <a:gd name="T24" fmla="*/ 158 w 288"/>
                <a:gd name="T25" fmla="*/ 103 h 344"/>
                <a:gd name="T26" fmla="*/ 145 w 288"/>
                <a:gd name="T27" fmla="*/ 125 h 344"/>
                <a:gd name="T28" fmla="*/ 116 w 288"/>
                <a:gd name="T29" fmla="*/ 122 h 344"/>
                <a:gd name="T30" fmla="*/ 84 w 288"/>
                <a:gd name="T31" fmla="*/ 129 h 344"/>
                <a:gd name="T32" fmla="*/ 72 w 288"/>
                <a:gd name="T33" fmla="*/ 146 h 344"/>
                <a:gd name="T34" fmla="*/ 65 w 288"/>
                <a:gd name="T35" fmla="*/ 133 h 344"/>
                <a:gd name="T36" fmla="*/ 71 w 288"/>
                <a:gd name="T37" fmla="*/ 125 h 344"/>
                <a:gd name="T38" fmla="*/ 61 w 288"/>
                <a:gd name="T39" fmla="*/ 120 h 344"/>
                <a:gd name="T40" fmla="*/ 57 w 288"/>
                <a:gd name="T41" fmla="*/ 108 h 344"/>
                <a:gd name="T42" fmla="*/ 44 w 288"/>
                <a:gd name="T43" fmla="*/ 108 h 344"/>
                <a:gd name="T44" fmla="*/ 23 w 288"/>
                <a:gd name="T45" fmla="*/ 103 h 344"/>
                <a:gd name="T46" fmla="*/ 6 w 288"/>
                <a:gd name="T47" fmla="*/ 118 h 344"/>
                <a:gd name="T48" fmla="*/ 10 w 288"/>
                <a:gd name="T49" fmla="*/ 125 h 344"/>
                <a:gd name="T50" fmla="*/ 13 w 288"/>
                <a:gd name="T51" fmla="*/ 156 h 344"/>
                <a:gd name="T52" fmla="*/ 15 w 288"/>
                <a:gd name="T53" fmla="*/ 171 h 344"/>
                <a:gd name="T54" fmla="*/ 36 w 288"/>
                <a:gd name="T55" fmla="*/ 163 h 344"/>
                <a:gd name="T56" fmla="*/ 53 w 288"/>
                <a:gd name="T57" fmla="*/ 177 h 344"/>
                <a:gd name="T58" fmla="*/ 74 w 288"/>
                <a:gd name="T59" fmla="*/ 179 h 344"/>
                <a:gd name="T60" fmla="*/ 86 w 288"/>
                <a:gd name="T61" fmla="*/ 179 h 344"/>
                <a:gd name="T62" fmla="*/ 86 w 288"/>
                <a:gd name="T63" fmla="*/ 194 h 344"/>
                <a:gd name="T64" fmla="*/ 95 w 288"/>
                <a:gd name="T65" fmla="*/ 219 h 344"/>
                <a:gd name="T66" fmla="*/ 120 w 288"/>
                <a:gd name="T67" fmla="*/ 262 h 344"/>
                <a:gd name="T68" fmla="*/ 149 w 288"/>
                <a:gd name="T69" fmla="*/ 293 h 344"/>
                <a:gd name="T70" fmla="*/ 139 w 288"/>
                <a:gd name="T71" fmla="*/ 302 h 344"/>
                <a:gd name="T72" fmla="*/ 139 w 288"/>
                <a:gd name="T73" fmla="*/ 310 h 344"/>
                <a:gd name="T74" fmla="*/ 141 w 288"/>
                <a:gd name="T75" fmla="*/ 327 h 344"/>
                <a:gd name="T76" fmla="*/ 156 w 288"/>
                <a:gd name="T77" fmla="*/ 308 h 344"/>
                <a:gd name="T78" fmla="*/ 173 w 288"/>
                <a:gd name="T79" fmla="*/ 304 h 344"/>
                <a:gd name="T80" fmla="*/ 170 w 288"/>
                <a:gd name="T81" fmla="*/ 289 h 344"/>
                <a:gd name="T82" fmla="*/ 185 w 288"/>
                <a:gd name="T83" fmla="*/ 298 h 344"/>
                <a:gd name="T84" fmla="*/ 191 w 288"/>
                <a:gd name="T85" fmla="*/ 306 h 344"/>
                <a:gd name="T86" fmla="*/ 200 w 288"/>
                <a:gd name="T87" fmla="*/ 304 h 344"/>
                <a:gd name="T88" fmla="*/ 219 w 288"/>
                <a:gd name="T89" fmla="*/ 287 h 344"/>
                <a:gd name="T90" fmla="*/ 229 w 288"/>
                <a:gd name="T91" fmla="*/ 314 h 344"/>
                <a:gd name="T92" fmla="*/ 227 w 288"/>
                <a:gd name="T93" fmla="*/ 342 h 344"/>
                <a:gd name="T94" fmla="*/ 236 w 288"/>
                <a:gd name="T95" fmla="*/ 333 h 344"/>
                <a:gd name="T96" fmla="*/ 255 w 288"/>
                <a:gd name="T97" fmla="*/ 333 h 344"/>
                <a:gd name="T98" fmla="*/ 278 w 288"/>
                <a:gd name="T99" fmla="*/ 319 h 344"/>
                <a:gd name="T100" fmla="*/ 280 w 288"/>
                <a:gd name="T101" fmla="*/ 289 h 344"/>
                <a:gd name="T102" fmla="*/ 276 w 288"/>
                <a:gd name="T103" fmla="*/ 266 h 344"/>
                <a:gd name="T104" fmla="*/ 265 w 288"/>
                <a:gd name="T105" fmla="*/ 257 h 344"/>
                <a:gd name="T106" fmla="*/ 242 w 288"/>
                <a:gd name="T107" fmla="*/ 259 h 344"/>
                <a:gd name="T108" fmla="*/ 219 w 288"/>
                <a:gd name="T109" fmla="*/ 251 h 344"/>
                <a:gd name="T110" fmla="*/ 229 w 288"/>
                <a:gd name="T111" fmla="*/ 224 h 344"/>
                <a:gd name="T112" fmla="*/ 250 w 288"/>
                <a:gd name="T113" fmla="*/ 209 h 344"/>
                <a:gd name="T114" fmla="*/ 246 w 288"/>
                <a:gd name="T115" fmla="*/ 169 h 344"/>
                <a:gd name="T116" fmla="*/ 240 w 288"/>
                <a:gd name="T117" fmla="*/ 148 h 344"/>
                <a:gd name="T118" fmla="*/ 246 w 288"/>
                <a:gd name="T119" fmla="*/ 125 h 344"/>
                <a:gd name="T120" fmla="*/ 263 w 288"/>
                <a:gd name="T121" fmla="*/ 95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8" h="344">
                  <a:moveTo>
                    <a:pt x="288" y="59"/>
                  </a:moveTo>
                  <a:lnTo>
                    <a:pt x="288" y="59"/>
                  </a:lnTo>
                  <a:lnTo>
                    <a:pt x="288" y="59"/>
                  </a:lnTo>
                  <a:lnTo>
                    <a:pt x="284" y="57"/>
                  </a:lnTo>
                  <a:lnTo>
                    <a:pt x="282" y="55"/>
                  </a:lnTo>
                  <a:lnTo>
                    <a:pt x="280" y="55"/>
                  </a:lnTo>
                  <a:lnTo>
                    <a:pt x="278" y="55"/>
                  </a:lnTo>
                  <a:lnTo>
                    <a:pt x="278" y="55"/>
                  </a:lnTo>
                  <a:lnTo>
                    <a:pt x="276" y="55"/>
                  </a:lnTo>
                  <a:lnTo>
                    <a:pt x="274" y="55"/>
                  </a:lnTo>
                  <a:lnTo>
                    <a:pt x="274" y="55"/>
                  </a:lnTo>
                  <a:lnTo>
                    <a:pt x="274" y="55"/>
                  </a:lnTo>
                  <a:lnTo>
                    <a:pt x="276" y="53"/>
                  </a:lnTo>
                  <a:lnTo>
                    <a:pt x="276" y="51"/>
                  </a:lnTo>
                  <a:lnTo>
                    <a:pt x="276" y="51"/>
                  </a:lnTo>
                  <a:lnTo>
                    <a:pt x="274" y="51"/>
                  </a:lnTo>
                  <a:lnTo>
                    <a:pt x="273" y="53"/>
                  </a:lnTo>
                  <a:lnTo>
                    <a:pt x="271" y="55"/>
                  </a:lnTo>
                  <a:lnTo>
                    <a:pt x="269" y="55"/>
                  </a:lnTo>
                  <a:lnTo>
                    <a:pt x="269" y="53"/>
                  </a:lnTo>
                  <a:lnTo>
                    <a:pt x="267" y="53"/>
                  </a:lnTo>
                  <a:lnTo>
                    <a:pt x="267" y="51"/>
                  </a:lnTo>
                  <a:lnTo>
                    <a:pt x="267" y="51"/>
                  </a:lnTo>
                  <a:lnTo>
                    <a:pt x="261" y="51"/>
                  </a:lnTo>
                  <a:lnTo>
                    <a:pt x="261" y="51"/>
                  </a:lnTo>
                  <a:lnTo>
                    <a:pt x="259" y="49"/>
                  </a:lnTo>
                  <a:lnTo>
                    <a:pt x="255" y="47"/>
                  </a:lnTo>
                  <a:lnTo>
                    <a:pt x="253" y="49"/>
                  </a:lnTo>
                  <a:lnTo>
                    <a:pt x="253" y="49"/>
                  </a:lnTo>
                  <a:lnTo>
                    <a:pt x="253" y="49"/>
                  </a:lnTo>
                  <a:lnTo>
                    <a:pt x="253" y="47"/>
                  </a:lnTo>
                  <a:lnTo>
                    <a:pt x="252" y="47"/>
                  </a:lnTo>
                  <a:lnTo>
                    <a:pt x="248" y="42"/>
                  </a:lnTo>
                  <a:lnTo>
                    <a:pt x="246" y="42"/>
                  </a:lnTo>
                  <a:lnTo>
                    <a:pt x="246" y="40"/>
                  </a:lnTo>
                  <a:lnTo>
                    <a:pt x="246" y="38"/>
                  </a:lnTo>
                  <a:lnTo>
                    <a:pt x="248" y="36"/>
                  </a:lnTo>
                  <a:lnTo>
                    <a:pt x="248" y="34"/>
                  </a:lnTo>
                  <a:lnTo>
                    <a:pt x="248" y="32"/>
                  </a:lnTo>
                  <a:lnTo>
                    <a:pt x="248" y="28"/>
                  </a:lnTo>
                  <a:lnTo>
                    <a:pt x="248" y="28"/>
                  </a:lnTo>
                  <a:lnTo>
                    <a:pt x="248" y="27"/>
                  </a:lnTo>
                  <a:lnTo>
                    <a:pt x="246" y="25"/>
                  </a:lnTo>
                  <a:lnTo>
                    <a:pt x="244" y="23"/>
                  </a:lnTo>
                  <a:lnTo>
                    <a:pt x="242" y="21"/>
                  </a:lnTo>
                  <a:lnTo>
                    <a:pt x="238" y="19"/>
                  </a:lnTo>
                  <a:lnTo>
                    <a:pt x="234" y="17"/>
                  </a:lnTo>
                  <a:lnTo>
                    <a:pt x="234" y="17"/>
                  </a:lnTo>
                  <a:lnTo>
                    <a:pt x="234" y="17"/>
                  </a:lnTo>
                  <a:lnTo>
                    <a:pt x="234" y="15"/>
                  </a:lnTo>
                  <a:lnTo>
                    <a:pt x="232" y="15"/>
                  </a:lnTo>
                  <a:lnTo>
                    <a:pt x="232" y="13"/>
                  </a:lnTo>
                  <a:lnTo>
                    <a:pt x="232" y="13"/>
                  </a:lnTo>
                  <a:lnTo>
                    <a:pt x="231" y="13"/>
                  </a:lnTo>
                  <a:lnTo>
                    <a:pt x="231" y="13"/>
                  </a:lnTo>
                  <a:lnTo>
                    <a:pt x="229" y="11"/>
                  </a:lnTo>
                  <a:lnTo>
                    <a:pt x="229" y="9"/>
                  </a:lnTo>
                  <a:lnTo>
                    <a:pt x="229" y="8"/>
                  </a:lnTo>
                  <a:lnTo>
                    <a:pt x="229" y="8"/>
                  </a:lnTo>
                  <a:lnTo>
                    <a:pt x="227" y="6"/>
                  </a:lnTo>
                  <a:lnTo>
                    <a:pt x="225" y="4"/>
                  </a:lnTo>
                  <a:lnTo>
                    <a:pt x="223" y="4"/>
                  </a:lnTo>
                  <a:lnTo>
                    <a:pt x="223" y="4"/>
                  </a:lnTo>
                  <a:lnTo>
                    <a:pt x="221" y="4"/>
                  </a:lnTo>
                  <a:lnTo>
                    <a:pt x="219" y="4"/>
                  </a:lnTo>
                  <a:lnTo>
                    <a:pt x="219" y="4"/>
                  </a:lnTo>
                  <a:lnTo>
                    <a:pt x="217" y="2"/>
                  </a:lnTo>
                  <a:lnTo>
                    <a:pt x="217" y="0"/>
                  </a:lnTo>
                  <a:lnTo>
                    <a:pt x="217" y="0"/>
                  </a:lnTo>
                  <a:lnTo>
                    <a:pt x="217" y="0"/>
                  </a:lnTo>
                  <a:lnTo>
                    <a:pt x="215" y="0"/>
                  </a:lnTo>
                  <a:lnTo>
                    <a:pt x="215" y="0"/>
                  </a:lnTo>
                  <a:lnTo>
                    <a:pt x="213" y="2"/>
                  </a:lnTo>
                  <a:lnTo>
                    <a:pt x="213" y="2"/>
                  </a:lnTo>
                  <a:lnTo>
                    <a:pt x="212" y="4"/>
                  </a:lnTo>
                  <a:lnTo>
                    <a:pt x="213" y="4"/>
                  </a:lnTo>
                  <a:lnTo>
                    <a:pt x="213" y="6"/>
                  </a:lnTo>
                  <a:lnTo>
                    <a:pt x="215" y="8"/>
                  </a:lnTo>
                  <a:lnTo>
                    <a:pt x="215" y="9"/>
                  </a:lnTo>
                  <a:lnTo>
                    <a:pt x="215" y="9"/>
                  </a:lnTo>
                  <a:lnTo>
                    <a:pt x="217" y="9"/>
                  </a:lnTo>
                  <a:lnTo>
                    <a:pt x="217" y="9"/>
                  </a:lnTo>
                  <a:lnTo>
                    <a:pt x="219" y="9"/>
                  </a:lnTo>
                  <a:lnTo>
                    <a:pt x="219" y="11"/>
                  </a:lnTo>
                  <a:lnTo>
                    <a:pt x="219" y="11"/>
                  </a:lnTo>
                  <a:lnTo>
                    <a:pt x="219" y="11"/>
                  </a:lnTo>
                  <a:lnTo>
                    <a:pt x="217" y="13"/>
                  </a:lnTo>
                  <a:lnTo>
                    <a:pt x="217" y="15"/>
                  </a:lnTo>
                  <a:lnTo>
                    <a:pt x="217" y="17"/>
                  </a:lnTo>
                  <a:lnTo>
                    <a:pt x="217" y="17"/>
                  </a:lnTo>
                  <a:lnTo>
                    <a:pt x="217" y="19"/>
                  </a:lnTo>
                  <a:lnTo>
                    <a:pt x="217" y="21"/>
                  </a:lnTo>
                  <a:lnTo>
                    <a:pt x="217" y="21"/>
                  </a:lnTo>
                  <a:lnTo>
                    <a:pt x="217" y="21"/>
                  </a:lnTo>
                  <a:lnTo>
                    <a:pt x="217" y="23"/>
                  </a:lnTo>
                  <a:lnTo>
                    <a:pt x="217" y="25"/>
                  </a:lnTo>
                  <a:lnTo>
                    <a:pt x="217" y="27"/>
                  </a:lnTo>
                  <a:lnTo>
                    <a:pt x="219" y="28"/>
                  </a:lnTo>
                  <a:lnTo>
                    <a:pt x="219" y="27"/>
                  </a:lnTo>
                  <a:lnTo>
                    <a:pt x="219" y="27"/>
                  </a:lnTo>
                  <a:lnTo>
                    <a:pt x="219" y="27"/>
                  </a:lnTo>
                  <a:lnTo>
                    <a:pt x="221" y="27"/>
                  </a:lnTo>
                  <a:lnTo>
                    <a:pt x="221" y="28"/>
                  </a:lnTo>
                  <a:lnTo>
                    <a:pt x="221" y="28"/>
                  </a:lnTo>
                  <a:lnTo>
                    <a:pt x="221" y="30"/>
                  </a:lnTo>
                  <a:lnTo>
                    <a:pt x="221" y="32"/>
                  </a:lnTo>
                  <a:lnTo>
                    <a:pt x="223" y="32"/>
                  </a:lnTo>
                  <a:lnTo>
                    <a:pt x="223" y="32"/>
                  </a:lnTo>
                  <a:lnTo>
                    <a:pt x="223" y="32"/>
                  </a:lnTo>
                  <a:lnTo>
                    <a:pt x="223" y="32"/>
                  </a:lnTo>
                  <a:lnTo>
                    <a:pt x="225" y="34"/>
                  </a:lnTo>
                  <a:lnTo>
                    <a:pt x="225" y="36"/>
                  </a:lnTo>
                  <a:lnTo>
                    <a:pt x="225" y="36"/>
                  </a:lnTo>
                  <a:lnTo>
                    <a:pt x="225" y="36"/>
                  </a:lnTo>
                  <a:lnTo>
                    <a:pt x="225" y="40"/>
                  </a:lnTo>
                  <a:lnTo>
                    <a:pt x="225" y="42"/>
                  </a:lnTo>
                  <a:lnTo>
                    <a:pt x="225" y="44"/>
                  </a:lnTo>
                  <a:lnTo>
                    <a:pt x="225" y="44"/>
                  </a:lnTo>
                  <a:lnTo>
                    <a:pt x="225" y="44"/>
                  </a:lnTo>
                  <a:lnTo>
                    <a:pt x="225" y="46"/>
                  </a:lnTo>
                  <a:lnTo>
                    <a:pt x="225" y="46"/>
                  </a:lnTo>
                  <a:lnTo>
                    <a:pt x="225" y="47"/>
                  </a:lnTo>
                  <a:lnTo>
                    <a:pt x="225" y="47"/>
                  </a:lnTo>
                  <a:lnTo>
                    <a:pt x="225" y="47"/>
                  </a:lnTo>
                  <a:lnTo>
                    <a:pt x="225" y="51"/>
                  </a:lnTo>
                  <a:lnTo>
                    <a:pt x="225" y="53"/>
                  </a:lnTo>
                  <a:lnTo>
                    <a:pt x="225" y="57"/>
                  </a:lnTo>
                  <a:lnTo>
                    <a:pt x="225" y="57"/>
                  </a:lnTo>
                  <a:lnTo>
                    <a:pt x="225" y="59"/>
                  </a:lnTo>
                  <a:lnTo>
                    <a:pt x="225" y="61"/>
                  </a:lnTo>
                  <a:lnTo>
                    <a:pt x="223" y="61"/>
                  </a:lnTo>
                  <a:lnTo>
                    <a:pt x="223" y="63"/>
                  </a:lnTo>
                  <a:lnTo>
                    <a:pt x="221" y="61"/>
                  </a:lnTo>
                  <a:lnTo>
                    <a:pt x="221" y="61"/>
                  </a:lnTo>
                  <a:lnTo>
                    <a:pt x="221" y="57"/>
                  </a:lnTo>
                  <a:lnTo>
                    <a:pt x="219" y="55"/>
                  </a:lnTo>
                  <a:lnTo>
                    <a:pt x="219" y="55"/>
                  </a:lnTo>
                  <a:lnTo>
                    <a:pt x="217" y="55"/>
                  </a:lnTo>
                  <a:lnTo>
                    <a:pt x="215" y="55"/>
                  </a:lnTo>
                  <a:lnTo>
                    <a:pt x="213" y="55"/>
                  </a:lnTo>
                  <a:lnTo>
                    <a:pt x="212" y="53"/>
                  </a:lnTo>
                  <a:lnTo>
                    <a:pt x="212" y="53"/>
                  </a:lnTo>
                  <a:lnTo>
                    <a:pt x="210" y="55"/>
                  </a:lnTo>
                  <a:lnTo>
                    <a:pt x="208" y="55"/>
                  </a:lnTo>
                  <a:lnTo>
                    <a:pt x="208" y="57"/>
                  </a:lnTo>
                  <a:lnTo>
                    <a:pt x="208" y="59"/>
                  </a:lnTo>
                  <a:lnTo>
                    <a:pt x="208" y="61"/>
                  </a:lnTo>
                  <a:lnTo>
                    <a:pt x="208" y="61"/>
                  </a:lnTo>
                  <a:lnTo>
                    <a:pt x="208" y="61"/>
                  </a:lnTo>
                  <a:lnTo>
                    <a:pt x="210" y="61"/>
                  </a:lnTo>
                  <a:lnTo>
                    <a:pt x="210" y="61"/>
                  </a:lnTo>
                  <a:lnTo>
                    <a:pt x="210" y="61"/>
                  </a:lnTo>
                  <a:lnTo>
                    <a:pt x="210" y="63"/>
                  </a:lnTo>
                  <a:lnTo>
                    <a:pt x="210" y="63"/>
                  </a:lnTo>
                  <a:lnTo>
                    <a:pt x="208" y="65"/>
                  </a:lnTo>
                  <a:lnTo>
                    <a:pt x="202" y="68"/>
                  </a:lnTo>
                  <a:lnTo>
                    <a:pt x="200" y="68"/>
                  </a:lnTo>
                  <a:lnTo>
                    <a:pt x="198" y="70"/>
                  </a:lnTo>
                  <a:lnTo>
                    <a:pt x="198" y="70"/>
                  </a:lnTo>
                  <a:lnTo>
                    <a:pt x="194" y="72"/>
                  </a:lnTo>
                  <a:lnTo>
                    <a:pt x="192" y="72"/>
                  </a:lnTo>
                  <a:lnTo>
                    <a:pt x="191" y="74"/>
                  </a:lnTo>
                  <a:lnTo>
                    <a:pt x="191" y="74"/>
                  </a:lnTo>
                  <a:lnTo>
                    <a:pt x="191" y="76"/>
                  </a:lnTo>
                  <a:lnTo>
                    <a:pt x="191" y="76"/>
                  </a:lnTo>
                  <a:lnTo>
                    <a:pt x="192" y="76"/>
                  </a:lnTo>
                  <a:lnTo>
                    <a:pt x="192" y="76"/>
                  </a:lnTo>
                  <a:lnTo>
                    <a:pt x="192" y="76"/>
                  </a:lnTo>
                  <a:lnTo>
                    <a:pt x="192" y="76"/>
                  </a:lnTo>
                  <a:lnTo>
                    <a:pt x="194" y="74"/>
                  </a:lnTo>
                  <a:lnTo>
                    <a:pt x="194" y="74"/>
                  </a:lnTo>
                  <a:lnTo>
                    <a:pt x="196" y="74"/>
                  </a:lnTo>
                  <a:lnTo>
                    <a:pt x="196" y="74"/>
                  </a:lnTo>
                  <a:lnTo>
                    <a:pt x="196" y="74"/>
                  </a:lnTo>
                  <a:lnTo>
                    <a:pt x="196" y="74"/>
                  </a:lnTo>
                  <a:lnTo>
                    <a:pt x="196" y="74"/>
                  </a:lnTo>
                  <a:lnTo>
                    <a:pt x="196" y="76"/>
                  </a:lnTo>
                  <a:lnTo>
                    <a:pt x="196" y="76"/>
                  </a:lnTo>
                  <a:lnTo>
                    <a:pt x="198" y="76"/>
                  </a:lnTo>
                  <a:lnTo>
                    <a:pt x="198" y="76"/>
                  </a:lnTo>
                  <a:lnTo>
                    <a:pt x="198" y="78"/>
                  </a:lnTo>
                  <a:lnTo>
                    <a:pt x="200" y="78"/>
                  </a:lnTo>
                  <a:lnTo>
                    <a:pt x="200" y="78"/>
                  </a:lnTo>
                  <a:lnTo>
                    <a:pt x="200" y="78"/>
                  </a:lnTo>
                  <a:lnTo>
                    <a:pt x="200" y="78"/>
                  </a:lnTo>
                  <a:lnTo>
                    <a:pt x="200" y="80"/>
                  </a:lnTo>
                  <a:lnTo>
                    <a:pt x="200" y="80"/>
                  </a:lnTo>
                  <a:lnTo>
                    <a:pt x="200" y="80"/>
                  </a:lnTo>
                  <a:lnTo>
                    <a:pt x="200" y="82"/>
                  </a:lnTo>
                  <a:lnTo>
                    <a:pt x="200" y="84"/>
                  </a:lnTo>
                  <a:lnTo>
                    <a:pt x="200" y="84"/>
                  </a:lnTo>
                  <a:lnTo>
                    <a:pt x="200" y="85"/>
                  </a:lnTo>
                  <a:lnTo>
                    <a:pt x="196" y="87"/>
                  </a:lnTo>
                  <a:lnTo>
                    <a:pt x="191" y="91"/>
                  </a:lnTo>
                  <a:lnTo>
                    <a:pt x="187" y="91"/>
                  </a:lnTo>
                  <a:lnTo>
                    <a:pt x="187" y="91"/>
                  </a:lnTo>
                  <a:lnTo>
                    <a:pt x="185" y="89"/>
                  </a:lnTo>
                  <a:lnTo>
                    <a:pt x="183" y="89"/>
                  </a:lnTo>
                  <a:lnTo>
                    <a:pt x="183" y="89"/>
                  </a:lnTo>
                  <a:lnTo>
                    <a:pt x="181" y="87"/>
                  </a:lnTo>
                  <a:lnTo>
                    <a:pt x="181" y="85"/>
                  </a:lnTo>
                  <a:lnTo>
                    <a:pt x="181" y="82"/>
                  </a:lnTo>
                  <a:lnTo>
                    <a:pt x="179" y="80"/>
                  </a:lnTo>
                  <a:lnTo>
                    <a:pt x="179" y="80"/>
                  </a:lnTo>
                  <a:lnTo>
                    <a:pt x="179" y="80"/>
                  </a:lnTo>
                  <a:lnTo>
                    <a:pt x="177" y="80"/>
                  </a:lnTo>
                  <a:lnTo>
                    <a:pt x="177" y="82"/>
                  </a:lnTo>
                  <a:lnTo>
                    <a:pt x="177" y="82"/>
                  </a:lnTo>
                  <a:lnTo>
                    <a:pt x="177" y="82"/>
                  </a:lnTo>
                  <a:lnTo>
                    <a:pt x="177" y="84"/>
                  </a:lnTo>
                  <a:lnTo>
                    <a:pt x="177" y="84"/>
                  </a:lnTo>
                  <a:lnTo>
                    <a:pt x="177" y="84"/>
                  </a:lnTo>
                  <a:lnTo>
                    <a:pt x="177" y="85"/>
                  </a:lnTo>
                  <a:lnTo>
                    <a:pt x="177" y="87"/>
                  </a:lnTo>
                  <a:lnTo>
                    <a:pt x="177" y="87"/>
                  </a:lnTo>
                  <a:lnTo>
                    <a:pt x="175" y="87"/>
                  </a:lnTo>
                  <a:lnTo>
                    <a:pt x="175" y="87"/>
                  </a:lnTo>
                  <a:lnTo>
                    <a:pt x="175" y="87"/>
                  </a:lnTo>
                  <a:lnTo>
                    <a:pt x="175" y="87"/>
                  </a:lnTo>
                  <a:lnTo>
                    <a:pt x="173" y="85"/>
                  </a:lnTo>
                  <a:lnTo>
                    <a:pt x="173" y="85"/>
                  </a:lnTo>
                  <a:lnTo>
                    <a:pt x="172" y="85"/>
                  </a:lnTo>
                  <a:lnTo>
                    <a:pt x="172" y="85"/>
                  </a:lnTo>
                  <a:lnTo>
                    <a:pt x="172" y="85"/>
                  </a:lnTo>
                  <a:lnTo>
                    <a:pt x="172" y="87"/>
                  </a:lnTo>
                  <a:lnTo>
                    <a:pt x="172" y="87"/>
                  </a:lnTo>
                  <a:lnTo>
                    <a:pt x="172" y="87"/>
                  </a:lnTo>
                  <a:lnTo>
                    <a:pt x="172" y="89"/>
                  </a:lnTo>
                  <a:lnTo>
                    <a:pt x="170" y="89"/>
                  </a:lnTo>
                  <a:lnTo>
                    <a:pt x="170" y="89"/>
                  </a:lnTo>
                  <a:lnTo>
                    <a:pt x="168" y="87"/>
                  </a:lnTo>
                  <a:lnTo>
                    <a:pt x="168" y="87"/>
                  </a:lnTo>
                  <a:lnTo>
                    <a:pt x="166" y="87"/>
                  </a:lnTo>
                  <a:lnTo>
                    <a:pt x="166" y="87"/>
                  </a:lnTo>
                  <a:lnTo>
                    <a:pt x="162" y="85"/>
                  </a:lnTo>
                  <a:lnTo>
                    <a:pt x="162" y="85"/>
                  </a:lnTo>
                  <a:lnTo>
                    <a:pt x="162" y="85"/>
                  </a:lnTo>
                  <a:lnTo>
                    <a:pt x="160" y="85"/>
                  </a:lnTo>
                  <a:lnTo>
                    <a:pt x="160" y="87"/>
                  </a:lnTo>
                  <a:lnTo>
                    <a:pt x="160" y="87"/>
                  </a:lnTo>
                  <a:lnTo>
                    <a:pt x="160" y="87"/>
                  </a:lnTo>
                  <a:lnTo>
                    <a:pt x="162" y="89"/>
                  </a:lnTo>
                  <a:lnTo>
                    <a:pt x="162" y="89"/>
                  </a:lnTo>
                  <a:lnTo>
                    <a:pt x="164" y="89"/>
                  </a:lnTo>
                  <a:lnTo>
                    <a:pt x="164" y="89"/>
                  </a:lnTo>
                  <a:lnTo>
                    <a:pt x="166" y="91"/>
                  </a:lnTo>
                  <a:lnTo>
                    <a:pt x="164" y="91"/>
                  </a:lnTo>
                  <a:lnTo>
                    <a:pt x="162" y="91"/>
                  </a:lnTo>
                  <a:lnTo>
                    <a:pt x="162" y="91"/>
                  </a:lnTo>
                  <a:lnTo>
                    <a:pt x="162" y="91"/>
                  </a:lnTo>
                  <a:lnTo>
                    <a:pt x="162" y="93"/>
                  </a:lnTo>
                  <a:lnTo>
                    <a:pt x="162" y="93"/>
                  </a:lnTo>
                  <a:lnTo>
                    <a:pt x="162" y="93"/>
                  </a:lnTo>
                  <a:lnTo>
                    <a:pt x="162" y="95"/>
                  </a:lnTo>
                  <a:lnTo>
                    <a:pt x="162" y="95"/>
                  </a:lnTo>
                  <a:lnTo>
                    <a:pt x="162" y="95"/>
                  </a:lnTo>
                  <a:lnTo>
                    <a:pt x="162" y="95"/>
                  </a:lnTo>
                  <a:lnTo>
                    <a:pt x="160" y="97"/>
                  </a:lnTo>
                  <a:lnTo>
                    <a:pt x="160" y="97"/>
                  </a:lnTo>
                  <a:lnTo>
                    <a:pt x="158" y="103"/>
                  </a:lnTo>
                  <a:lnTo>
                    <a:pt x="158" y="104"/>
                  </a:lnTo>
                  <a:lnTo>
                    <a:pt x="158" y="106"/>
                  </a:lnTo>
                  <a:lnTo>
                    <a:pt x="158" y="106"/>
                  </a:lnTo>
                  <a:lnTo>
                    <a:pt x="158" y="108"/>
                  </a:lnTo>
                  <a:lnTo>
                    <a:pt x="158" y="108"/>
                  </a:lnTo>
                  <a:lnTo>
                    <a:pt x="158" y="110"/>
                  </a:lnTo>
                  <a:lnTo>
                    <a:pt x="160" y="110"/>
                  </a:lnTo>
                  <a:lnTo>
                    <a:pt x="160" y="110"/>
                  </a:lnTo>
                  <a:lnTo>
                    <a:pt x="162" y="112"/>
                  </a:lnTo>
                  <a:lnTo>
                    <a:pt x="162" y="112"/>
                  </a:lnTo>
                  <a:lnTo>
                    <a:pt x="162" y="114"/>
                  </a:lnTo>
                  <a:lnTo>
                    <a:pt x="162" y="116"/>
                  </a:lnTo>
                  <a:lnTo>
                    <a:pt x="158" y="116"/>
                  </a:lnTo>
                  <a:lnTo>
                    <a:pt x="156" y="118"/>
                  </a:lnTo>
                  <a:lnTo>
                    <a:pt x="154" y="120"/>
                  </a:lnTo>
                  <a:lnTo>
                    <a:pt x="152" y="120"/>
                  </a:lnTo>
                  <a:lnTo>
                    <a:pt x="149" y="122"/>
                  </a:lnTo>
                  <a:lnTo>
                    <a:pt x="147" y="125"/>
                  </a:lnTo>
                  <a:lnTo>
                    <a:pt x="145" y="125"/>
                  </a:lnTo>
                  <a:lnTo>
                    <a:pt x="145" y="125"/>
                  </a:lnTo>
                  <a:lnTo>
                    <a:pt x="141" y="125"/>
                  </a:lnTo>
                  <a:lnTo>
                    <a:pt x="141" y="125"/>
                  </a:lnTo>
                  <a:lnTo>
                    <a:pt x="139" y="127"/>
                  </a:lnTo>
                  <a:lnTo>
                    <a:pt x="137" y="127"/>
                  </a:lnTo>
                  <a:lnTo>
                    <a:pt x="135" y="127"/>
                  </a:lnTo>
                  <a:lnTo>
                    <a:pt x="133" y="127"/>
                  </a:lnTo>
                  <a:lnTo>
                    <a:pt x="131" y="127"/>
                  </a:lnTo>
                  <a:lnTo>
                    <a:pt x="130" y="125"/>
                  </a:lnTo>
                  <a:lnTo>
                    <a:pt x="130" y="125"/>
                  </a:lnTo>
                  <a:lnTo>
                    <a:pt x="128" y="122"/>
                  </a:lnTo>
                  <a:lnTo>
                    <a:pt x="128" y="122"/>
                  </a:lnTo>
                  <a:lnTo>
                    <a:pt x="126" y="120"/>
                  </a:lnTo>
                  <a:lnTo>
                    <a:pt x="126" y="118"/>
                  </a:lnTo>
                  <a:lnTo>
                    <a:pt x="124" y="118"/>
                  </a:lnTo>
                  <a:lnTo>
                    <a:pt x="122" y="118"/>
                  </a:lnTo>
                  <a:lnTo>
                    <a:pt x="122" y="118"/>
                  </a:lnTo>
                  <a:lnTo>
                    <a:pt x="120" y="118"/>
                  </a:lnTo>
                  <a:lnTo>
                    <a:pt x="116" y="120"/>
                  </a:lnTo>
                  <a:lnTo>
                    <a:pt x="116" y="122"/>
                  </a:lnTo>
                  <a:lnTo>
                    <a:pt x="116" y="122"/>
                  </a:lnTo>
                  <a:lnTo>
                    <a:pt x="116" y="124"/>
                  </a:lnTo>
                  <a:lnTo>
                    <a:pt x="116" y="124"/>
                  </a:lnTo>
                  <a:lnTo>
                    <a:pt x="114" y="124"/>
                  </a:lnTo>
                  <a:lnTo>
                    <a:pt x="114" y="125"/>
                  </a:lnTo>
                  <a:lnTo>
                    <a:pt x="111" y="124"/>
                  </a:lnTo>
                  <a:lnTo>
                    <a:pt x="109" y="124"/>
                  </a:lnTo>
                  <a:lnTo>
                    <a:pt x="107" y="125"/>
                  </a:lnTo>
                  <a:lnTo>
                    <a:pt x="105" y="125"/>
                  </a:lnTo>
                  <a:lnTo>
                    <a:pt x="103" y="125"/>
                  </a:lnTo>
                  <a:lnTo>
                    <a:pt x="99" y="124"/>
                  </a:lnTo>
                  <a:lnTo>
                    <a:pt x="99" y="122"/>
                  </a:lnTo>
                  <a:lnTo>
                    <a:pt x="99" y="124"/>
                  </a:lnTo>
                  <a:lnTo>
                    <a:pt x="97" y="122"/>
                  </a:lnTo>
                  <a:lnTo>
                    <a:pt x="93" y="122"/>
                  </a:lnTo>
                  <a:lnTo>
                    <a:pt x="91" y="120"/>
                  </a:lnTo>
                  <a:lnTo>
                    <a:pt x="91" y="120"/>
                  </a:lnTo>
                  <a:lnTo>
                    <a:pt x="90" y="120"/>
                  </a:lnTo>
                  <a:lnTo>
                    <a:pt x="90" y="124"/>
                  </a:lnTo>
                  <a:lnTo>
                    <a:pt x="88" y="125"/>
                  </a:lnTo>
                  <a:lnTo>
                    <a:pt x="84" y="129"/>
                  </a:lnTo>
                  <a:lnTo>
                    <a:pt x="84" y="131"/>
                  </a:lnTo>
                  <a:lnTo>
                    <a:pt x="82" y="133"/>
                  </a:lnTo>
                  <a:lnTo>
                    <a:pt x="82" y="133"/>
                  </a:lnTo>
                  <a:lnTo>
                    <a:pt x="82" y="135"/>
                  </a:lnTo>
                  <a:lnTo>
                    <a:pt x="82" y="135"/>
                  </a:lnTo>
                  <a:lnTo>
                    <a:pt x="80" y="135"/>
                  </a:lnTo>
                  <a:lnTo>
                    <a:pt x="80" y="137"/>
                  </a:lnTo>
                  <a:lnTo>
                    <a:pt x="80" y="135"/>
                  </a:lnTo>
                  <a:lnTo>
                    <a:pt x="78" y="135"/>
                  </a:lnTo>
                  <a:lnTo>
                    <a:pt x="78" y="137"/>
                  </a:lnTo>
                  <a:lnTo>
                    <a:pt x="76" y="139"/>
                  </a:lnTo>
                  <a:lnTo>
                    <a:pt x="76" y="141"/>
                  </a:lnTo>
                  <a:lnTo>
                    <a:pt x="76" y="141"/>
                  </a:lnTo>
                  <a:lnTo>
                    <a:pt x="76" y="143"/>
                  </a:lnTo>
                  <a:lnTo>
                    <a:pt x="76" y="143"/>
                  </a:lnTo>
                  <a:lnTo>
                    <a:pt x="78" y="144"/>
                  </a:lnTo>
                  <a:lnTo>
                    <a:pt x="76" y="144"/>
                  </a:lnTo>
                  <a:lnTo>
                    <a:pt x="76" y="144"/>
                  </a:lnTo>
                  <a:lnTo>
                    <a:pt x="74" y="146"/>
                  </a:lnTo>
                  <a:lnTo>
                    <a:pt x="72" y="146"/>
                  </a:lnTo>
                  <a:lnTo>
                    <a:pt x="71" y="146"/>
                  </a:lnTo>
                  <a:lnTo>
                    <a:pt x="71" y="144"/>
                  </a:lnTo>
                  <a:lnTo>
                    <a:pt x="71" y="143"/>
                  </a:lnTo>
                  <a:lnTo>
                    <a:pt x="71" y="143"/>
                  </a:lnTo>
                  <a:lnTo>
                    <a:pt x="69" y="143"/>
                  </a:lnTo>
                  <a:lnTo>
                    <a:pt x="69" y="141"/>
                  </a:lnTo>
                  <a:lnTo>
                    <a:pt x="69" y="141"/>
                  </a:lnTo>
                  <a:lnTo>
                    <a:pt x="69" y="141"/>
                  </a:lnTo>
                  <a:lnTo>
                    <a:pt x="69" y="139"/>
                  </a:lnTo>
                  <a:lnTo>
                    <a:pt x="67" y="139"/>
                  </a:lnTo>
                  <a:lnTo>
                    <a:pt x="67" y="137"/>
                  </a:lnTo>
                  <a:lnTo>
                    <a:pt x="67" y="137"/>
                  </a:lnTo>
                  <a:lnTo>
                    <a:pt x="67" y="137"/>
                  </a:lnTo>
                  <a:lnTo>
                    <a:pt x="67" y="137"/>
                  </a:lnTo>
                  <a:lnTo>
                    <a:pt x="67" y="137"/>
                  </a:lnTo>
                  <a:lnTo>
                    <a:pt x="67" y="135"/>
                  </a:lnTo>
                  <a:lnTo>
                    <a:pt x="65" y="135"/>
                  </a:lnTo>
                  <a:lnTo>
                    <a:pt x="65" y="133"/>
                  </a:lnTo>
                  <a:lnTo>
                    <a:pt x="65" y="133"/>
                  </a:lnTo>
                  <a:lnTo>
                    <a:pt x="65" y="133"/>
                  </a:lnTo>
                  <a:lnTo>
                    <a:pt x="67" y="133"/>
                  </a:lnTo>
                  <a:lnTo>
                    <a:pt x="67" y="133"/>
                  </a:lnTo>
                  <a:lnTo>
                    <a:pt x="67" y="131"/>
                  </a:lnTo>
                  <a:lnTo>
                    <a:pt x="69" y="131"/>
                  </a:lnTo>
                  <a:lnTo>
                    <a:pt x="69" y="131"/>
                  </a:lnTo>
                  <a:lnTo>
                    <a:pt x="69" y="131"/>
                  </a:lnTo>
                  <a:lnTo>
                    <a:pt x="69" y="129"/>
                  </a:lnTo>
                  <a:lnTo>
                    <a:pt x="69" y="127"/>
                  </a:lnTo>
                  <a:lnTo>
                    <a:pt x="69" y="127"/>
                  </a:lnTo>
                  <a:lnTo>
                    <a:pt x="69" y="127"/>
                  </a:lnTo>
                  <a:lnTo>
                    <a:pt x="69" y="127"/>
                  </a:lnTo>
                  <a:lnTo>
                    <a:pt x="69" y="127"/>
                  </a:lnTo>
                  <a:lnTo>
                    <a:pt x="69" y="127"/>
                  </a:lnTo>
                  <a:lnTo>
                    <a:pt x="69" y="127"/>
                  </a:lnTo>
                  <a:lnTo>
                    <a:pt x="71" y="127"/>
                  </a:lnTo>
                  <a:lnTo>
                    <a:pt x="71" y="127"/>
                  </a:lnTo>
                  <a:lnTo>
                    <a:pt x="71" y="127"/>
                  </a:lnTo>
                  <a:lnTo>
                    <a:pt x="71" y="127"/>
                  </a:lnTo>
                  <a:lnTo>
                    <a:pt x="71" y="127"/>
                  </a:lnTo>
                  <a:lnTo>
                    <a:pt x="71" y="125"/>
                  </a:lnTo>
                  <a:lnTo>
                    <a:pt x="71" y="125"/>
                  </a:lnTo>
                  <a:lnTo>
                    <a:pt x="71" y="125"/>
                  </a:lnTo>
                  <a:lnTo>
                    <a:pt x="69" y="124"/>
                  </a:lnTo>
                  <a:lnTo>
                    <a:pt x="69" y="122"/>
                  </a:lnTo>
                  <a:lnTo>
                    <a:pt x="69" y="120"/>
                  </a:lnTo>
                  <a:lnTo>
                    <a:pt x="67" y="120"/>
                  </a:lnTo>
                  <a:lnTo>
                    <a:pt x="67" y="118"/>
                  </a:lnTo>
                  <a:lnTo>
                    <a:pt x="67" y="118"/>
                  </a:lnTo>
                  <a:lnTo>
                    <a:pt x="67" y="118"/>
                  </a:lnTo>
                  <a:lnTo>
                    <a:pt x="67" y="118"/>
                  </a:lnTo>
                  <a:lnTo>
                    <a:pt x="65" y="118"/>
                  </a:lnTo>
                  <a:lnTo>
                    <a:pt x="65" y="118"/>
                  </a:lnTo>
                  <a:lnTo>
                    <a:pt x="63" y="120"/>
                  </a:lnTo>
                  <a:lnTo>
                    <a:pt x="63" y="120"/>
                  </a:lnTo>
                  <a:lnTo>
                    <a:pt x="63" y="122"/>
                  </a:lnTo>
                  <a:lnTo>
                    <a:pt x="63" y="122"/>
                  </a:lnTo>
                  <a:lnTo>
                    <a:pt x="63" y="122"/>
                  </a:lnTo>
                  <a:lnTo>
                    <a:pt x="63" y="122"/>
                  </a:lnTo>
                  <a:lnTo>
                    <a:pt x="63" y="122"/>
                  </a:lnTo>
                  <a:lnTo>
                    <a:pt x="61" y="120"/>
                  </a:lnTo>
                  <a:lnTo>
                    <a:pt x="61" y="120"/>
                  </a:lnTo>
                  <a:lnTo>
                    <a:pt x="59" y="120"/>
                  </a:lnTo>
                  <a:lnTo>
                    <a:pt x="59" y="118"/>
                  </a:lnTo>
                  <a:lnTo>
                    <a:pt x="59" y="118"/>
                  </a:lnTo>
                  <a:lnTo>
                    <a:pt x="59" y="116"/>
                  </a:lnTo>
                  <a:lnTo>
                    <a:pt x="59" y="116"/>
                  </a:lnTo>
                  <a:lnTo>
                    <a:pt x="59" y="114"/>
                  </a:lnTo>
                  <a:lnTo>
                    <a:pt x="57" y="114"/>
                  </a:lnTo>
                  <a:lnTo>
                    <a:pt x="57" y="114"/>
                  </a:lnTo>
                  <a:lnTo>
                    <a:pt x="57" y="114"/>
                  </a:lnTo>
                  <a:lnTo>
                    <a:pt x="57" y="114"/>
                  </a:lnTo>
                  <a:lnTo>
                    <a:pt x="59" y="114"/>
                  </a:lnTo>
                  <a:lnTo>
                    <a:pt x="59" y="112"/>
                  </a:lnTo>
                  <a:lnTo>
                    <a:pt x="59" y="112"/>
                  </a:lnTo>
                  <a:lnTo>
                    <a:pt x="59" y="112"/>
                  </a:lnTo>
                  <a:lnTo>
                    <a:pt x="59" y="110"/>
                  </a:lnTo>
                  <a:lnTo>
                    <a:pt x="59" y="110"/>
                  </a:lnTo>
                  <a:lnTo>
                    <a:pt x="59" y="108"/>
                  </a:lnTo>
                  <a:lnTo>
                    <a:pt x="59" y="108"/>
                  </a:lnTo>
                  <a:lnTo>
                    <a:pt x="57" y="108"/>
                  </a:lnTo>
                  <a:lnTo>
                    <a:pt x="57" y="108"/>
                  </a:lnTo>
                  <a:lnTo>
                    <a:pt x="57" y="108"/>
                  </a:lnTo>
                  <a:lnTo>
                    <a:pt x="57" y="108"/>
                  </a:lnTo>
                  <a:lnTo>
                    <a:pt x="57" y="110"/>
                  </a:lnTo>
                  <a:lnTo>
                    <a:pt x="57" y="110"/>
                  </a:lnTo>
                  <a:lnTo>
                    <a:pt x="57" y="110"/>
                  </a:lnTo>
                  <a:lnTo>
                    <a:pt x="55" y="112"/>
                  </a:lnTo>
                  <a:lnTo>
                    <a:pt x="55" y="112"/>
                  </a:lnTo>
                  <a:lnTo>
                    <a:pt x="55" y="112"/>
                  </a:lnTo>
                  <a:lnTo>
                    <a:pt x="53" y="112"/>
                  </a:lnTo>
                  <a:lnTo>
                    <a:pt x="51" y="114"/>
                  </a:lnTo>
                  <a:lnTo>
                    <a:pt x="50" y="114"/>
                  </a:lnTo>
                  <a:lnTo>
                    <a:pt x="50" y="114"/>
                  </a:lnTo>
                  <a:lnTo>
                    <a:pt x="48" y="112"/>
                  </a:lnTo>
                  <a:lnTo>
                    <a:pt x="48" y="112"/>
                  </a:lnTo>
                  <a:lnTo>
                    <a:pt x="48" y="112"/>
                  </a:lnTo>
                  <a:lnTo>
                    <a:pt x="46" y="112"/>
                  </a:lnTo>
                  <a:lnTo>
                    <a:pt x="44" y="110"/>
                  </a:lnTo>
                  <a:lnTo>
                    <a:pt x="44" y="110"/>
                  </a:lnTo>
                  <a:lnTo>
                    <a:pt x="44" y="108"/>
                  </a:lnTo>
                  <a:lnTo>
                    <a:pt x="44" y="108"/>
                  </a:lnTo>
                  <a:lnTo>
                    <a:pt x="44" y="106"/>
                  </a:lnTo>
                  <a:lnTo>
                    <a:pt x="42" y="106"/>
                  </a:lnTo>
                  <a:lnTo>
                    <a:pt x="42" y="106"/>
                  </a:lnTo>
                  <a:lnTo>
                    <a:pt x="42" y="106"/>
                  </a:lnTo>
                  <a:lnTo>
                    <a:pt x="42" y="104"/>
                  </a:lnTo>
                  <a:lnTo>
                    <a:pt x="40" y="104"/>
                  </a:lnTo>
                  <a:lnTo>
                    <a:pt x="36" y="104"/>
                  </a:lnTo>
                  <a:lnTo>
                    <a:pt x="34" y="104"/>
                  </a:lnTo>
                  <a:lnTo>
                    <a:pt x="34" y="103"/>
                  </a:lnTo>
                  <a:lnTo>
                    <a:pt x="34" y="103"/>
                  </a:lnTo>
                  <a:lnTo>
                    <a:pt x="32" y="103"/>
                  </a:lnTo>
                  <a:lnTo>
                    <a:pt x="32" y="101"/>
                  </a:lnTo>
                  <a:lnTo>
                    <a:pt x="32" y="101"/>
                  </a:lnTo>
                  <a:lnTo>
                    <a:pt x="30" y="101"/>
                  </a:lnTo>
                  <a:lnTo>
                    <a:pt x="29" y="103"/>
                  </a:lnTo>
                  <a:lnTo>
                    <a:pt x="25" y="103"/>
                  </a:lnTo>
                  <a:lnTo>
                    <a:pt x="25" y="103"/>
                  </a:lnTo>
                  <a:lnTo>
                    <a:pt x="23" y="103"/>
                  </a:lnTo>
                  <a:lnTo>
                    <a:pt x="23" y="103"/>
                  </a:lnTo>
                  <a:lnTo>
                    <a:pt x="19" y="106"/>
                  </a:lnTo>
                  <a:lnTo>
                    <a:pt x="19" y="106"/>
                  </a:lnTo>
                  <a:lnTo>
                    <a:pt x="19" y="106"/>
                  </a:lnTo>
                  <a:lnTo>
                    <a:pt x="17" y="108"/>
                  </a:lnTo>
                  <a:lnTo>
                    <a:pt x="17" y="108"/>
                  </a:lnTo>
                  <a:lnTo>
                    <a:pt x="17" y="108"/>
                  </a:lnTo>
                  <a:lnTo>
                    <a:pt x="15" y="108"/>
                  </a:lnTo>
                  <a:lnTo>
                    <a:pt x="10" y="106"/>
                  </a:lnTo>
                  <a:lnTo>
                    <a:pt x="4" y="106"/>
                  </a:lnTo>
                  <a:lnTo>
                    <a:pt x="4" y="108"/>
                  </a:lnTo>
                  <a:lnTo>
                    <a:pt x="4" y="110"/>
                  </a:lnTo>
                  <a:lnTo>
                    <a:pt x="6" y="110"/>
                  </a:lnTo>
                  <a:lnTo>
                    <a:pt x="6" y="110"/>
                  </a:lnTo>
                  <a:lnTo>
                    <a:pt x="8" y="112"/>
                  </a:lnTo>
                  <a:lnTo>
                    <a:pt x="8" y="112"/>
                  </a:lnTo>
                  <a:lnTo>
                    <a:pt x="8" y="114"/>
                  </a:lnTo>
                  <a:lnTo>
                    <a:pt x="8" y="114"/>
                  </a:lnTo>
                  <a:lnTo>
                    <a:pt x="8" y="116"/>
                  </a:lnTo>
                  <a:lnTo>
                    <a:pt x="6" y="116"/>
                  </a:lnTo>
                  <a:lnTo>
                    <a:pt x="6" y="118"/>
                  </a:lnTo>
                  <a:lnTo>
                    <a:pt x="2" y="118"/>
                  </a:lnTo>
                  <a:lnTo>
                    <a:pt x="2" y="118"/>
                  </a:lnTo>
                  <a:lnTo>
                    <a:pt x="2" y="118"/>
                  </a:lnTo>
                  <a:lnTo>
                    <a:pt x="0" y="120"/>
                  </a:lnTo>
                  <a:lnTo>
                    <a:pt x="0" y="122"/>
                  </a:lnTo>
                  <a:lnTo>
                    <a:pt x="0" y="124"/>
                  </a:lnTo>
                  <a:lnTo>
                    <a:pt x="0" y="125"/>
                  </a:lnTo>
                  <a:lnTo>
                    <a:pt x="0" y="125"/>
                  </a:lnTo>
                  <a:lnTo>
                    <a:pt x="0" y="127"/>
                  </a:lnTo>
                  <a:lnTo>
                    <a:pt x="2" y="127"/>
                  </a:lnTo>
                  <a:lnTo>
                    <a:pt x="2" y="127"/>
                  </a:lnTo>
                  <a:lnTo>
                    <a:pt x="4" y="127"/>
                  </a:lnTo>
                  <a:lnTo>
                    <a:pt x="4" y="127"/>
                  </a:lnTo>
                  <a:lnTo>
                    <a:pt x="4" y="127"/>
                  </a:lnTo>
                  <a:lnTo>
                    <a:pt x="6" y="127"/>
                  </a:lnTo>
                  <a:lnTo>
                    <a:pt x="6" y="127"/>
                  </a:lnTo>
                  <a:lnTo>
                    <a:pt x="8" y="125"/>
                  </a:lnTo>
                  <a:lnTo>
                    <a:pt x="8" y="125"/>
                  </a:lnTo>
                  <a:lnTo>
                    <a:pt x="10" y="125"/>
                  </a:lnTo>
                  <a:lnTo>
                    <a:pt x="10" y="125"/>
                  </a:lnTo>
                  <a:lnTo>
                    <a:pt x="10" y="125"/>
                  </a:lnTo>
                  <a:lnTo>
                    <a:pt x="10" y="125"/>
                  </a:lnTo>
                  <a:lnTo>
                    <a:pt x="10" y="125"/>
                  </a:lnTo>
                  <a:lnTo>
                    <a:pt x="11" y="124"/>
                  </a:lnTo>
                  <a:lnTo>
                    <a:pt x="11" y="125"/>
                  </a:lnTo>
                  <a:lnTo>
                    <a:pt x="11" y="125"/>
                  </a:lnTo>
                  <a:lnTo>
                    <a:pt x="13" y="125"/>
                  </a:lnTo>
                  <a:lnTo>
                    <a:pt x="13" y="127"/>
                  </a:lnTo>
                  <a:lnTo>
                    <a:pt x="13" y="129"/>
                  </a:lnTo>
                  <a:lnTo>
                    <a:pt x="11" y="133"/>
                  </a:lnTo>
                  <a:lnTo>
                    <a:pt x="11" y="135"/>
                  </a:lnTo>
                  <a:lnTo>
                    <a:pt x="10" y="144"/>
                  </a:lnTo>
                  <a:lnTo>
                    <a:pt x="10" y="144"/>
                  </a:lnTo>
                  <a:lnTo>
                    <a:pt x="11" y="146"/>
                  </a:lnTo>
                  <a:lnTo>
                    <a:pt x="13" y="148"/>
                  </a:lnTo>
                  <a:lnTo>
                    <a:pt x="13" y="150"/>
                  </a:lnTo>
                  <a:lnTo>
                    <a:pt x="13" y="150"/>
                  </a:lnTo>
                  <a:lnTo>
                    <a:pt x="13" y="154"/>
                  </a:lnTo>
                  <a:lnTo>
                    <a:pt x="13" y="156"/>
                  </a:lnTo>
                  <a:lnTo>
                    <a:pt x="13" y="156"/>
                  </a:lnTo>
                  <a:lnTo>
                    <a:pt x="11" y="156"/>
                  </a:lnTo>
                  <a:lnTo>
                    <a:pt x="11" y="156"/>
                  </a:lnTo>
                  <a:lnTo>
                    <a:pt x="8" y="156"/>
                  </a:lnTo>
                  <a:lnTo>
                    <a:pt x="8" y="156"/>
                  </a:lnTo>
                  <a:lnTo>
                    <a:pt x="8" y="158"/>
                  </a:lnTo>
                  <a:lnTo>
                    <a:pt x="6" y="158"/>
                  </a:lnTo>
                  <a:lnTo>
                    <a:pt x="6" y="160"/>
                  </a:lnTo>
                  <a:lnTo>
                    <a:pt x="8" y="160"/>
                  </a:lnTo>
                  <a:lnTo>
                    <a:pt x="8" y="160"/>
                  </a:lnTo>
                  <a:lnTo>
                    <a:pt x="8" y="162"/>
                  </a:lnTo>
                  <a:lnTo>
                    <a:pt x="10" y="163"/>
                  </a:lnTo>
                  <a:lnTo>
                    <a:pt x="10" y="163"/>
                  </a:lnTo>
                  <a:lnTo>
                    <a:pt x="11" y="165"/>
                  </a:lnTo>
                  <a:lnTo>
                    <a:pt x="11" y="167"/>
                  </a:lnTo>
                  <a:lnTo>
                    <a:pt x="11" y="169"/>
                  </a:lnTo>
                  <a:lnTo>
                    <a:pt x="13" y="171"/>
                  </a:lnTo>
                  <a:lnTo>
                    <a:pt x="13" y="171"/>
                  </a:lnTo>
                  <a:lnTo>
                    <a:pt x="15" y="171"/>
                  </a:lnTo>
                  <a:lnTo>
                    <a:pt x="15" y="171"/>
                  </a:lnTo>
                  <a:lnTo>
                    <a:pt x="15" y="171"/>
                  </a:lnTo>
                  <a:lnTo>
                    <a:pt x="15" y="169"/>
                  </a:lnTo>
                  <a:lnTo>
                    <a:pt x="17" y="169"/>
                  </a:lnTo>
                  <a:lnTo>
                    <a:pt x="17" y="167"/>
                  </a:lnTo>
                  <a:lnTo>
                    <a:pt x="17" y="167"/>
                  </a:lnTo>
                  <a:lnTo>
                    <a:pt x="17" y="167"/>
                  </a:lnTo>
                  <a:lnTo>
                    <a:pt x="17" y="167"/>
                  </a:lnTo>
                  <a:lnTo>
                    <a:pt x="19" y="167"/>
                  </a:lnTo>
                  <a:lnTo>
                    <a:pt x="21" y="167"/>
                  </a:lnTo>
                  <a:lnTo>
                    <a:pt x="23" y="167"/>
                  </a:lnTo>
                  <a:lnTo>
                    <a:pt x="25" y="167"/>
                  </a:lnTo>
                  <a:lnTo>
                    <a:pt x="27" y="167"/>
                  </a:lnTo>
                  <a:lnTo>
                    <a:pt x="29" y="167"/>
                  </a:lnTo>
                  <a:lnTo>
                    <a:pt x="29" y="167"/>
                  </a:lnTo>
                  <a:lnTo>
                    <a:pt x="29" y="165"/>
                  </a:lnTo>
                  <a:lnTo>
                    <a:pt x="30" y="165"/>
                  </a:lnTo>
                  <a:lnTo>
                    <a:pt x="32" y="163"/>
                  </a:lnTo>
                  <a:lnTo>
                    <a:pt x="32" y="163"/>
                  </a:lnTo>
                  <a:lnTo>
                    <a:pt x="34" y="163"/>
                  </a:lnTo>
                  <a:lnTo>
                    <a:pt x="34" y="163"/>
                  </a:lnTo>
                  <a:lnTo>
                    <a:pt x="36" y="163"/>
                  </a:lnTo>
                  <a:lnTo>
                    <a:pt x="36" y="165"/>
                  </a:lnTo>
                  <a:lnTo>
                    <a:pt x="38" y="165"/>
                  </a:lnTo>
                  <a:lnTo>
                    <a:pt x="40" y="165"/>
                  </a:lnTo>
                  <a:lnTo>
                    <a:pt x="40" y="165"/>
                  </a:lnTo>
                  <a:lnTo>
                    <a:pt x="42" y="167"/>
                  </a:lnTo>
                  <a:lnTo>
                    <a:pt x="42" y="167"/>
                  </a:lnTo>
                  <a:lnTo>
                    <a:pt x="44" y="169"/>
                  </a:lnTo>
                  <a:lnTo>
                    <a:pt x="44" y="169"/>
                  </a:lnTo>
                  <a:lnTo>
                    <a:pt x="44" y="171"/>
                  </a:lnTo>
                  <a:lnTo>
                    <a:pt x="46" y="175"/>
                  </a:lnTo>
                  <a:lnTo>
                    <a:pt x="46" y="175"/>
                  </a:lnTo>
                  <a:lnTo>
                    <a:pt x="46" y="177"/>
                  </a:lnTo>
                  <a:lnTo>
                    <a:pt x="48" y="177"/>
                  </a:lnTo>
                  <a:lnTo>
                    <a:pt x="48" y="177"/>
                  </a:lnTo>
                  <a:lnTo>
                    <a:pt x="50" y="177"/>
                  </a:lnTo>
                  <a:lnTo>
                    <a:pt x="50" y="177"/>
                  </a:lnTo>
                  <a:lnTo>
                    <a:pt x="51" y="175"/>
                  </a:lnTo>
                  <a:lnTo>
                    <a:pt x="51" y="175"/>
                  </a:lnTo>
                  <a:lnTo>
                    <a:pt x="53" y="175"/>
                  </a:lnTo>
                  <a:lnTo>
                    <a:pt x="53" y="177"/>
                  </a:lnTo>
                  <a:lnTo>
                    <a:pt x="55" y="177"/>
                  </a:lnTo>
                  <a:lnTo>
                    <a:pt x="55" y="181"/>
                  </a:lnTo>
                  <a:lnTo>
                    <a:pt x="55" y="181"/>
                  </a:lnTo>
                  <a:lnTo>
                    <a:pt x="57" y="181"/>
                  </a:lnTo>
                  <a:lnTo>
                    <a:pt x="57" y="181"/>
                  </a:lnTo>
                  <a:lnTo>
                    <a:pt x="59" y="181"/>
                  </a:lnTo>
                  <a:lnTo>
                    <a:pt x="59" y="181"/>
                  </a:lnTo>
                  <a:lnTo>
                    <a:pt x="61" y="181"/>
                  </a:lnTo>
                  <a:lnTo>
                    <a:pt x="61" y="179"/>
                  </a:lnTo>
                  <a:lnTo>
                    <a:pt x="63" y="179"/>
                  </a:lnTo>
                  <a:lnTo>
                    <a:pt x="65" y="179"/>
                  </a:lnTo>
                  <a:lnTo>
                    <a:pt x="65" y="177"/>
                  </a:lnTo>
                  <a:lnTo>
                    <a:pt x="67" y="177"/>
                  </a:lnTo>
                  <a:lnTo>
                    <a:pt x="67" y="177"/>
                  </a:lnTo>
                  <a:lnTo>
                    <a:pt x="67" y="179"/>
                  </a:lnTo>
                  <a:lnTo>
                    <a:pt x="69" y="179"/>
                  </a:lnTo>
                  <a:lnTo>
                    <a:pt x="71" y="179"/>
                  </a:lnTo>
                  <a:lnTo>
                    <a:pt x="72" y="179"/>
                  </a:lnTo>
                  <a:lnTo>
                    <a:pt x="74" y="179"/>
                  </a:lnTo>
                  <a:lnTo>
                    <a:pt x="74" y="179"/>
                  </a:lnTo>
                  <a:lnTo>
                    <a:pt x="74" y="177"/>
                  </a:lnTo>
                  <a:lnTo>
                    <a:pt x="74" y="177"/>
                  </a:lnTo>
                  <a:lnTo>
                    <a:pt x="74" y="177"/>
                  </a:lnTo>
                  <a:lnTo>
                    <a:pt x="74" y="177"/>
                  </a:lnTo>
                  <a:lnTo>
                    <a:pt x="78" y="175"/>
                  </a:lnTo>
                  <a:lnTo>
                    <a:pt x="78" y="175"/>
                  </a:lnTo>
                  <a:lnTo>
                    <a:pt x="80" y="175"/>
                  </a:lnTo>
                  <a:lnTo>
                    <a:pt x="80" y="175"/>
                  </a:lnTo>
                  <a:lnTo>
                    <a:pt x="80" y="177"/>
                  </a:lnTo>
                  <a:lnTo>
                    <a:pt x="80" y="179"/>
                  </a:lnTo>
                  <a:lnTo>
                    <a:pt x="78" y="179"/>
                  </a:lnTo>
                  <a:lnTo>
                    <a:pt x="80" y="181"/>
                  </a:lnTo>
                  <a:lnTo>
                    <a:pt x="80" y="181"/>
                  </a:lnTo>
                  <a:lnTo>
                    <a:pt x="80" y="181"/>
                  </a:lnTo>
                  <a:lnTo>
                    <a:pt x="80" y="181"/>
                  </a:lnTo>
                  <a:lnTo>
                    <a:pt x="82" y="181"/>
                  </a:lnTo>
                  <a:lnTo>
                    <a:pt x="82" y="181"/>
                  </a:lnTo>
                  <a:lnTo>
                    <a:pt x="82" y="179"/>
                  </a:lnTo>
                  <a:lnTo>
                    <a:pt x="84" y="179"/>
                  </a:lnTo>
                  <a:lnTo>
                    <a:pt x="86" y="179"/>
                  </a:lnTo>
                  <a:lnTo>
                    <a:pt x="86" y="179"/>
                  </a:lnTo>
                  <a:lnTo>
                    <a:pt x="86" y="181"/>
                  </a:lnTo>
                  <a:lnTo>
                    <a:pt x="88" y="182"/>
                  </a:lnTo>
                  <a:lnTo>
                    <a:pt x="88" y="184"/>
                  </a:lnTo>
                  <a:lnTo>
                    <a:pt x="88" y="184"/>
                  </a:lnTo>
                  <a:lnTo>
                    <a:pt x="88" y="184"/>
                  </a:lnTo>
                  <a:lnTo>
                    <a:pt x="88" y="186"/>
                  </a:lnTo>
                  <a:lnTo>
                    <a:pt x="86" y="186"/>
                  </a:lnTo>
                  <a:lnTo>
                    <a:pt x="86" y="186"/>
                  </a:lnTo>
                  <a:lnTo>
                    <a:pt x="86" y="186"/>
                  </a:lnTo>
                  <a:lnTo>
                    <a:pt x="84" y="186"/>
                  </a:lnTo>
                  <a:lnTo>
                    <a:pt x="84" y="188"/>
                  </a:lnTo>
                  <a:lnTo>
                    <a:pt x="84" y="188"/>
                  </a:lnTo>
                  <a:lnTo>
                    <a:pt x="84" y="188"/>
                  </a:lnTo>
                  <a:lnTo>
                    <a:pt x="84" y="190"/>
                  </a:lnTo>
                  <a:lnTo>
                    <a:pt x="86" y="190"/>
                  </a:lnTo>
                  <a:lnTo>
                    <a:pt x="86" y="192"/>
                  </a:lnTo>
                  <a:lnTo>
                    <a:pt x="86" y="192"/>
                  </a:lnTo>
                  <a:lnTo>
                    <a:pt x="86" y="192"/>
                  </a:lnTo>
                  <a:lnTo>
                    <a:pt x="86" y="194"/>
                  </a:lnTo>
                  <a:lnTo>
                    <a:pt x="86" y="194"/>
                  </a:lnTo>
                  <a:lnTo>
                    <a:pt x="86" y="196"/>
                  </a:lnTo>
                  <a:lnTo>
                    <a:pt x="88" y="198"/>
                  </a:lnTo>
                  <a:lnTo>
                    <a:pt x="88" y="200"/>
                  </a:lnTo>
                  <a:lnTo>
                    <a:pt x="91" y="203"/>
                  </a:lnTo>
                  <a:lnTo>
                    <a:pt x="91" y="203"/>
                  </a:lnTo>
                  <a:lnTo>
                    <a:pt x="95" y="205"/>
                  </a:lnTo>
                  <a:lnTo>
                    <a:pt x="97" y="205"/>
                  </a:lnTo>
                  <a:lnTo>
                    <a:pt x="97" y="205"/>
                  </a:lnTo>
                  <a:lnTo>
                    <a:pt x="97" y="207"/>
                  </a:lnTo>
                  <a:lnTo>
                    <a:pt x="97" y="209"/>
                  </a:lnTo>
                  <a:lnTo>
                    <a:pt x="97" y="209"/>
                  </a:lnTo>
                  <a:lnTo>
                    <a:pt x="97" y="211"/>
                  </a:lnTo>
                  <a:lnTo>
                    <a:pt x="95" y="211"/>
                  </a:lnTo>
                  <a:lnTo>
                    <a:pt x="95" y="211"/>
                  </a:lnTo>
                  <a:lnTo>
                    <a:pt x="95" y="213"/>
                  </a:lnTo>
                  <a:lnTo>
                    <a:pt x="93" y="213"/>
                  </a:lnTo>
                  <a:lnTo>
                    <a:pt x="93" y="213"/>
                  </a:lnTo>
                  <a:lnTo>
                    <a:pt x="95" y="215"/>
                  </a:lnTo>
                  <a:lnTo>
                    <a:pt x="95" y="219"/>
                  </a:lnTo>
                  <a:lnTo>
                    <a:pt x="95" y="221"/>
                  </a:lnTo>
                  <a:lnTo>
                    <a:pt x="97" y="222"/>
                  </a:lnTo>
                  <a:lnTo>
                    <a:pt x="97" y="224"/>
                  </a:lnTo>
                  <a:lnTo>
                    <a:pt x="97" y="226"/>
                  </a:lnTo>
                  <a:lnTo>
                    <a:pt x="99" y="228"/>
                  </a:lnTo>
                  <a:lnTo>
                    <a:pt x="99" y="232"/>
                  </a:lnTo>
                  <a:lnTo>
                    <a:pt x="103" y="241"/>
                  </a:lnTo>
                  <a:lnTo>
                    <a:pt x="105" y="243"/>
                  </a:lnTo>
                  <a:lnTo>
                    <a:pt x="105" y="245"/>
                  </a:lnTo>
                  <a:lnTo>
                    <a:pt x="107" y="247"/>
                  </a:lnTo>
                  <a:lnTo>
                    <a:pt x="109" y="251"/>
                  </a:lnTo>
                  <a:lnTo>
                    <a:pt x="111" y="251"/>
                  </a:lnTo>
                  <a:lnTo>
                    <a:pt x="111" y="251"/>
                  </a:lnTo>
                  <a:lnTo>
                    <a:pt x="111" y="253"/>
                  </a:lnTo>
                  <a:lnTo>
                    <a:pt x="114" y="257"/>
                  </a:lnTo>
                  <a:lnTo>
                    <a:pt x="118" y="260"/>
                  </a:lnTo>
                  <a:lnTo>
                    <a:pt x="120" y="260"/>
                  </a:lnTo>
                  <a:lnTo>
                    <a:pt x="120" y="262"/>
                  </a:lnTo>
                  <a:lnTo>
                    <a:pt x="120" y="262"/>
                  </a:lnTo>
                  <a:lnTo>
                    <a:pt x="120" y="262"/>
                  </a:lnTo>
                  <a:lnTo>
                    <a:pt x="120" y="264"/>
                  </a:lnTo>
                  <a:lnTo>
                    <a:pt x="120" y="266"/>
                  </a:lnTo>
                  <a:lnTo>
                    <a:pt x="122" y="266"/>
                  </a:lnTo>
                  <a:lnTo>
                    <a:pt x="122" y="266"/>
                  </a:lnTo>
                  <a:lnTo>
                    <a:pt x="124" y="266"/>
                  </a:lnTo>
                  <a:lnTo>
                    <a:pt x="124" y="266"/>
                  </a:lnTo>
                  <a:lnTo>
                    <a:pt x="124" y="266"/>
                  </a:lnTo>
                  <a:lnTo>
                    <a:pt x="126" y="266"/>
                  </a:lnTo>
                  <a:lnTo>
                    <a:pt x="128" y="268"/>
                  </a:lnTo>
                  <a:lnTo>
                    <a:pt x="130" y="268"/>
                  </a:lnTo>
                  <a:lnTo>
                    <a:pt x="131" y="268"/>
                  </a:lnTo>
                  <a:lnTo>
                    <a:pt x="133" y="270"/>
                  </a:lnTo>
                  <a:lnTo>
                    <a:pt x="137" y="276"/>
                  </a:lnTo>
                  <a:lnTo>
                    <a:pt x="145" y="283"/>
                  </a:lnTo>
                  <a:lnTo>
                    <a:pt x="145" y="285"/>
                  </a:lnTo>
                  <a:lnTo>
                    <a:pt x="147" y="287"/>
                  </a:lnTo>
                  <a:lnTo>
                    <a:pt x="147" y="289"/>
                  </a:lnTo>
                  <a:lnTo>
                    <a:pt x="147" y="289"/>
                  </a:lnTo>
                  <a:lnTo>
                    <a:pt x="149" y="291"/>
                  </a:lnTo>
                  <a:lnTo>
                    <a:pt x="149" y="293"/>
                  </a:lnTo>
                  <a:lnTo>
                    <a:pt x="149" y="293"/>
                  </a:lnTo>
                  <a:lnTo>
                    <a:pt x="149" y="295"/>
                  </a:lnTo>
                  <a:lnTo>
                    <a:pt x="147" y="295"/>
                  </a:lnTo>
                  <a:lnTo>
                    <a:pt x="147" y="293"/>
                  </a:lnTo>
                  <a:lnTo>
                    <a:pt x="145" y="291"/>
                  </a:lnTo>
                  <a:lnTo>
                    <a:pt x="145" y="291"/>
                  </a:lnTo>
                  <a:lnTo>
                    <a:pt x="145" y="291"/>
                  </a:lnTo>
                  <a:lnTo>
                    <a:pt x="143" y="293"/>
                  </a:lnTo>
                  <a:lnTo>
                    <a:pt x="143" y="295"/>
                  </a:lnTo>
                  <a:lnTo>
                    <a:pt x="141" y="295"/>
                  </a:lnTo>
                  <a:lnTo>
                    <a:pt x="141" y="295"/>
                  </a:lnTo>
                  <a:lnTo>
                    <a:pt x="139" y="297"/>
                  </a:lnTo>
                  <a:lnTo>
                    <a:pt x="137" y="297"/>
                  </a:lnTo>
                  <a:lnTo>
                    <a:pt x="137" y="297"/>
                  </a:lnTo>
                  <a:lnTo>
                    <a:pt x="137" y="297"/>
                  </a:lnTo>
                  <a:lnTo>
                    <a:pt x="135" y="298"/>
                  </a:lnTo>
                  <a:lnTo>
                    <a:pt x="137" y="298"/>
                  </a:lnTo>
                  <a:lnTo>
                    <a:pt x="137" y="300"/>
                  </a:lnTo>
                  <a:lnTo>
                    <a:pt x="139" y="302"/>
                  </a:lnTo>
                  <a:lnTo>
                    <a:pt x="139" y="302"/>
                  </a:lnTo>
                  <a:lnTo>
                    <a:pt x="141" y="302"/>
                  </a:lnTo>
                  <a:lnTo>
                    <a:pt x="141" y="300"/>
                  </a:lnTo>
                  <a:lnTo>
                    <a:pt x="141" y="300"/>
                  </a:lnTo>
                  <a:lnTo>
                    <a:pt x="141" y="300"/>
                  </a:lnTo>
                  <a:lnTo>
                    <a:pt x="143" y="298"/>
                  </a:lnTo>
                  <a:lnTo>
                    <a:pt x="143" y="298"/>
                  </a:lnTo>
                  <a:lnTo>
                    <a:pt x="143" y="298"/>
                  </a:lnTo>
                  <a:lnTo>
                    <a:pt x="145" y="300"/>
                  </a:lnTo>
                  <a:lnTo>
                    <a:pt x="145" y="300"/>
                  </a:lnTo>
                  <a:lnTo>
                    <a:pt x="145" y="302"/>
                  </a:lnTo>
                  <a:lnTo>
                    <a:pt x="143" y="304"/>
                  </a:lnTo>
                  <a:lnTo>
                    <a:pt x="141" y="306"/>
                  </a:lnTo>
                  <a:lnTo>
                    <a:pt x="141" y="306"/>
                  </a:lnTo>
                  <a:lnTo>
                    <a:pt x="141" y="308"/>
                  </a:lnTo>
                  <a:lnTo>
                    <a:pt x="139" y="308"/>
                  </a:lnTo>
                  <a:lnTo>
                    <a:pt x="139" y="310"/>
                  </a:lnTo>
                  <a:lnTo>
                    <a:pt x="139" y="310"/>
                  </a:lnTo>
                  <a:lnTo>
                    <a:pt x="139" y="310"/>
                  </a:lnTo>
                  <a:lnTo>
                    <a:pt x="139" y="310"/>
                  </a:lnTo>
                  <a:lnTo>
                    <a:pt x="139" y="310"/>
                  </a:lnTo>
                  <a:lnTo>
                    <a:pt x="139" y="312"/>
                  </a:lnTo>
                  <a:lnTo>
                    <a:pt x="139" y="312"/>
                  </a:lnTo>
                  <a:lnTo>
                    <a:pt x="141" y="314"/>
                  </a:lnTo>
                  <a:lnTo>
                    <a:pt x="141" y="314"/>
                  </a:lnTo>
                  <a:lnTo>
                    <a:pt x="139" y="314"/>
                  </a:lnTo>
                  <a:lnTo>
                    <a:pt x="139" y="316"/>
                  </a:lnTo>
                  <a:lnTo>
                    <a:pt x="139" y="316"/>
                  </a:lnTo>
                  <a:lnTo>
                    <a:pt x="137" y="316"/>
                  </a:lnTo>
                  <a:lnTo>
                    <a:pt x="135" y="316"/>
                  </a:lnTo>
                  <a:lnTo>
                    <a:pt x="135" y="316"/>
                  </a:lnTo>
                  <a:lnTo>
                    <a:pt x="135" y="318"/>
                  </a:lnTo>
                  <a:lnTo>
                    <a:pt x="135" y="319"/>
                  </a:lnTo>
                  <a:lnTo>
                    <a:pt x="139" y="321"/>
                  </a:lnTo>
                  <a:lnTo>
                    <a:pt x="139" y="321"/>
                  </a:lnTo>
                  <a:lnTo>
                    <a:pt x="139" y="323"/>
                  </a:lnTo>
                  <a:lnTo>
                    <a:pt x="139" y="323"/>
                  </a:lnTo>
                  <a:lnTo>
                    <a:pt x="139" y="325"/>
                  </a:lnTo>
                  <a:lnTo>
                    <a:pt x="139" y="325"/>
                  </a:lnTo>
                  <a:lnTo>
                    <a:pt x="141" y="327"/>
                  </a:lnTo>
                  <a:lnTo>
                    <a:pt x="141" y="327"/>
                  </a:lnTo>
                  <a:lnTo>
                    <a:pt x="151" y="325"/>
                  </a:lnTo>
                  <a:lnTo>
                    <a:pt x="152" y="327"/>
                  </a:lnTo>
                  <a:lnTo>
                    <a:pt x="154" y="329"/>
                  </a:lnTo>
                  <a:lnTo>
                    <a:pt x="158" y="331"/>
                  </a:lnTo>
                  <a:lnTo>
                    <a:pt x="160" y="329"/>
                  </a:lnTo>
                  <a:lnTo>
                    <a:pt x="162" y="327"/>
                  </a:lnTo>
                  <a:lnTo>
                    <a:pt x="162" y="327"/>
                  </a:lnTo>
                  <a:lnTo>
                    <a:pt x="162" y="327"/>
                  </a:lnTo>
                  <a:lnTo>
                    <a:pt x="160" y="325"/>
                  </a:lnTo>
                  <a:lnTo>
                    <a:pt x="160" y="325"/>
                  </a:lnTo>
                  <a:lnTo>
                    <a:pt x="160" y="323"/>
                  </a:lnTo>
                  <a:lnTo>
                    <a:pt x="160" y="323"/>
                  </a:lnTo>
                  <a:lnTo>
                    <a:pt x="160" y="321"/>
                  </a:lnTo>
                  <a:lnTo>
                    <a:pt x="158" y="321"/>
                  </a:lnTo>
                  <a:lnTo>
                    <a:pt x="158" y="319"/>
                  </a:lnTo>
                  <a:lnTo>
                    <a:pt x="158" y="319"/>
                  </a:lnTo>
                  <a:lnTo>
                    <a:pt x="158" y="318"/>
                  </a:lnTo>
                  <a:lnTo>
                    <a:pt x="158" y="316"/>
                  </a:lnTo>
                  <a:lnTo>
                    <a:pt x="156" y="312"/>
                  </a:lnTo>
                  <a:lnTo>
                    <a:pt x="156" y="308"/>
                  </a:lnTo>
                  <a:lnTo>
                    <a:pt x="156" y="308"/>
                  </a:lnTo>
                  <a:lnTo>
                    <a:pt x="156" y="306"/>
                  </a:lnTo>
                  <a:lnTo>
                    <a:pt x="156" y="304"/>
                  </a:lnTo>
                  <a:lnTo>
                    <a:pt x="156" y="304"/>
                  </a:lnTo>
                  <a:lnTo>
                    <a:pt x="158" y="304"/>
                  </a:lnTo>
                  <a:lnTo>
                    <a:pt x="158" y="302"/>
                  </a:lnTo>
                  <a:lnTo>
                    <a:pt x="158" y="302"/>
                  </a:lnTo>
                  <a:lnTo>
                    <a:pt x="158" y="302"/>
                  </a:lnTo>
                  <a:lnTo>
                    <a:pt x="160" y="304"/>
                  </a:lnTo>
                  <a:lnTo>
                    <a:pt x="162" y="304"/>
                  </a:lnTo>
                  <a:lnTo>
                    <a:pt x="162" y="304"/>
                  </a:lnTo>
                  <a:lnTo>
                    <a:pt x="164" y="304"/>
                  </a:lnTo>
                  <a:lnTo>
                    <a:pt x="164" y="302"/>
                  </a:lnTo>
                  <a:lnTo>
                    <a:pt x="164" y="302"/>
                  </a:lnTo>
                  <a:lnTo>
                    <a:pt x="166" y="302"/>
                  </a:lnTo>
                  <a:lnTo>
                    <a:pt x="166" y="302"/>
                  </a:lnTo>
                  <a:lnTo>
                    <a:pt x="170" y="306"/>
                  </a:lnTo>
                  <a:lnTo>
                    <a:pt x="172" y="306"/>
                  </a:lnTo>
                  <a:lnTo>
                    <a:pt x="172" y="306"/>
                  </a:lnTo>
                  <a:lnTo>
                    <a:pt x="173" y="304"/>
                  </a:lnTo>
                  <a:lnTo>
                    <a:pt x="173" y="302"/>
                  </a:lnTo>
                  <a:lnTo>
                    <a:pt x="173" y="302"/>
                  </a:lnTo>
                  <a:lnTo>
                    <a:pt x="173" y="300"/>
                  </a:lnTo>
                  <a:lnTo>
                    <a:pt x="172" y="300"/>
                  </a:lnTo>
                  <a:lnTo>
                    <a:pt x="170" y="300"/>
                  </a:lnTo>
                  <a:lnTo>
                    <a:pt x="170" y="298"/>
                  </a:lnTo>
                  <a:lnTo>
                    <a:pt x="170" y="298"/>
                  </a:lnTo>
                  <a:lnTo>
                    <a:pt x="170" y="298"/>
                  </a:lnTo>
                  <a:lnTo>
                    <a:pt x="172" y="298"/>
                  </a:lnTo>
                  <a:lnTo>
                    <a:pt x="172" y="297"/>
                  </a:lnTo>
                  <a:lnTo>
                    <a:pt x="173" y="297"/>
                  </a:lnTo>
                  <a:lnTo>
                    <a:pt x="173" y="297"/>
                  </a:lnTo>
                  <a:lnTo>
                    <a:pt x="173" y="295"/>
                  </a:lnTo>
                  <a:lnTo>
                    <a:pt x="172" y="295"/>
                  </a:lnTo>
                  <a:lnTo>
                    <a:pt x="170" y="295"/>
                  </a:lnTo>
                  <a:lnTo>
                    <a:pt x="170" y="293"/>
                  </a:lnTo>
                  <a:lnTo>
                    <a:pt x="170" y="293"/>
                  </a:lnTo>
                  <a:lnTo>
                    <a:pt x="170" y="291"/>
                  </a:lnTo>
                  <a:lnTo>
                    <a:pt x="170" y="289"/>
                  </a:lnTo>
                  <a:lnTo>
                    <a:pt x="170" y="289"/>
                  </a:lnTo>
                  <a:lnTo>
                    <a:pt x="172" y="291"/>
                  </a:lnTo>
                  <a:lnTo>
                    <a:pt x="172" y="291"/>
                  </a:lnTo>
                  <a:lnTo>
                    <a:pt x="173" y="291"/>
                  </a:lnTo>
                  <a:lnTo>
                    <a:pt x="173" y="291"/>
                  </a:lnTo>
                  <a:lnTo>
                    <a:pt x="173" y="293"/>
                  </a:lnTo>
                  <a:lnTo>
                    <a:pt x="173" y="293"/>
                  </a:lnTo>
                  <a:lnTo>
                    <a:pt x="173" y="293"/>
                  </a:lnTo>
                  <a:lnTo>
                    <a:pt x="175" y="295"/>
                  </a:lnTo>
                  <a:lnTo>
                    <a:pt x="175" y="295"/>
                  </a:lnTo>
                  <a:lnTo>
                    <a:pt x="175" y="295"/>
                  </a:lnTo>
                  <a:lnTo>
                    <a:pt x="179" y="293"/>
                  </a:lnTo>
                  <a:lnTo>
                    <a:pt x="181" y="293"/>
                  </a:lnTo>
                  <a:lnTo>
                    <a:pt x="183" y="293"/>
                  </a:lnTo>
                  <a:lnTo>
                    <a:pt x="183" y="293"/>
                  </a:lnTo>
                  <a:lnTo>
                    <a:pt x="185" y="297"/>
                  </a:lnTo>
                  <a:lnTo>
                    <a:pt x="187" y="298"/>
                  </a:lnTo>
                  <a:lnTo>
                    <a:pt x="187" y="298"/>
                  </a:lnTo>
                  <a:lnTo>
                    <a:pt x="187" y="298"/>
                  </a:lnTo>
                  <a:lnTo>
                    <a:pt x="185" y="298"/>
                  </a:lnTo>
                  <a:lnTo>
                    <a:pt x="185" y="298"/>
                  </a:lnTo>
                  <a:lnTo>
                    <a:pt x="183" y="298"/>
                  </a:lnTo>
                  <a:lnTo>
                    <a:pt x="183" y="298"/>
                  </a:lnTo>
                  <a:lnTo>
                    <a:pt x="183" y="298"/>
                  </a:lnTo>
                  <a:lnTo>
                    <a:pt x="183" y="298"/>
                  </a:lnTo>
                  <a:lnTo>
                    <a:pt x="183" y="298"/>
                  </a:lnTo>
                  <a:lnTo>
                    <a:pt x="183" y="300"/>
                  </a:lnTo>
                  <a:lnTo>
                    <a:pt x="185" y="300"/>
                  </a:lnTo>
                  <a:lnTo>
                    <a:pt x="185" y="302"/>
                  </a:lnTo>
                  <a:lnTo>
                    <a:pt x="185" y="302"/>
                  </a:lnTo>
                  <a:lnTo>
                    <a:pt x="185" y="302"/>
                  </a:lnTo>
                  <a:lnTo>
                    <a:pt x="185" y="302"/>
                  </a:lnTo>
                  <a:lnTo>
                    <a:pt x="183" y="302"/>
                  </a:lnTo>
                  <a:lnTo>
                    <a:pt x="183" y="304"/>
                  </a:lnTo>
                  <a:lnTo>
                    <a:pt x="183" y="304"/>
                  </a:lnTo>
                  <a:lnTo>
                    <a:pt x="183" y="304"/>
                  </a:lnTo>
                  <a:lnTo>
                    <a:pt x="187" y="306"/>
                  </a:lnTo>
                  <a:lnTo>
                    <a:pt x="187" y="306"/>
                  </a:lnTo>
                  <a:lnTo>
                    <a:pt x="189" y="306"/>
                  </a:lnTo>
                  <a:lnTo>
                    <a:pt x="189" y="306"/>
                  </a:lnTo>
                  <a:lnTo>
                    <a:pt x="191" y="306"/>
                  </a:lnTo>
                  <a:lnTo>
                    <a:pt x="191" y="308"/>
                  </a:lnTo>
                  <a:lnTo>
                    <a:pt x="191" y="312"/>
                  </a:lnTo>
                  <a:lnTo>
                    <a:pt x="191" y="312"/>
                  </a:lnTo>
                  <a:lnTo>
                    <a:pt x="192" y="314"/>
                  </a:lnTo>
                  <a:lnTo>
                    <a:pt x="192" y="314"/>
                  </a:lnTo>
                  <a:lnTo>
                    <a:pt x="192" y="314"/>
                  </a:lnTo>
                  <a:lnTo>
                    <a:pt x="194" y="314"/>
                  </a:lnTo>
                  <a:lnTo>
                    <a:pt x="196" y="312"/>
                  </a:lnTo>
                  <a:lnTo>
                    <a:pt x="196" y="310"/>
                  </a:lnTo>
                  <a:lnTo>
                    <a:pt x="196" y="310"/>
                  </a:lnTo>
                  <a:lnTo>
                    <a:pt x="198" y="310"/>
                  </a:lnTo>
                  <a:lnTo>
                    <a:pt x="198" y="310"/>
                  </a:lnTo>
                  <a:lnTo>
                    <a:pt x="200" y="310"/>
                  </a:lnTo>
                  <a:lnTo>
                    <a:pt x="202" y="310"/>
                  </a:lnTo>
                  <a:lnTo>
                    <a:pt x="202" y="308"/>
                  </a:lnTo>
                  <a:lnTo>
                    <a:pt x="202" y="308"/>
                  </a:lnTo>
                  <a:lnTo>
                    <a:pt x="202" y="308"/>
                  </a:lnTo>
                  <a:lnTo>
                    <a:pt x="202" y="306"/>
                  </a:lnTo>
                  <a:lnTo>
                    <a:pt x="200" y="304"/>
                  </a:lnTo>
                  <a:lnTo>
                    <a:pt x="200" y="304"/>
                  </a:lnTo>
                  <a:lnTo>
                    <a:pt x="200" y="302"/>
                  </a:lnTo>
                  <a:lnTo>
                    <a:pt x="200" y="302"/>
                  </a:lnTo>
                  <a:lnTo>
                    <a:pt x="202" y="302"/>
                  </a:lnTo>
                  <a:lnTo>
                    <a:pt x="202" y="300"/>
                  </a:lnTo>
                  <a:lnTo>
                    <a:pt x="202" y="300"/>
                  </a:lnTo>
                  <a:lnTo>
                    <a:pt x="204" y="300"/>
                  </a:lnTo>
                  <a:lnTo>
                    <a:pt x="204" y="298"/>
                  </a:lnTo>
                  <a:lnTo>
                    <a:pt x="206" y="298"/>
                  </a:lnTo>
                  <a:lnTo>
                    <a:pt x="206" y="298"/>
                  </a:lnTo>
                  <a:lnTo>
                    <a:pt x="208" y="297"/>
                  </a:lnTo>
                  <a:lnTo>
                    <a:pt x="210" y="297"/>
                  </a:lnTo>
                  <a:lnTo>
                    <a:pt x="210" y="295"/>
                  </a:lnTo>
                  <a:lnTo>
                    <a:pt x="212" y="295"/>
                  </a:lnTo>
                  <a:lnTo>
                    <a:pt x="213" y="291"/>
                  </a:lnTo>
                  <a:lnTo>
                    <a:pt x="215" y="289"/>
                  </a:lnTo>
                  <a:lnTo>
                    <a:pt x="215" y="289"/>
                  </a:lnTo>
                  <a:lnTo>
                    <a:pt x="215" y="287"/>
                  </a:lnTo>
                  <a:lnTo>
                    <a:pt x="217" y="287"/>
                  </a:lnTo>
                  <a:lnTo>
                    <a:pt x="219" y="287"/>
                  </a:lnTo>
                  <a:lnTo>
                    <a:pt x="219" y="287"/>
                  </a:lnTo>
                  <a:lnTo>
                    <a:pt x="219" y="287"/>
                  </a:lnTo>
                  <a:lnTo>
                    <a:pt x="221" y="287"/>
                  </a:lnTo>
                  <a:lnTo>
                    <a:pt x="221" y="287"/>
                  </a:lnTo>
                  <a:lnTo>
                    <a:pt x="221" y="287"/>
                  </a:lnTo>
                  <a:lnTo>
                    <a:pt x="223" y="289"/>
                  </a:lnTo>
                  <a:lnTo>
                    <a:pt x="223" y="291"/>
                  </a:lnTo>
                  <a:lnTo>
                    <a:pt x="227" y="293"/>
                  </a:lnTo>
                  <a:lnTo>
                    <a:pt x="229" y="295"/>
                  </a:lnTo>
                  <a:lnTo>
                    <a:pt x="229" y="295"/>
                  </a:lnTo>
                  <a:lnTo>
                    <a:pt x="229" y="297"/>
                  </a:lnTo>
                  <a:lnTo>
                    <a:pt x="229" y="298"/>
                  </a:lnTo>
                  <a:lnTo>
                    <a:pt x="227" y="304"/>
                  </a:lnTo>
                  <a:lnTo>
                    <a:pt x="227" y="306"/>
                  </a:lnTo>
                  <a:lnTo>
                    <a:pt x="227" y="308"/>
                  </a:lnTo>
                  <a:lnTo>
                    <a:pt x="227" y="310"/>
                  </a:lnTo>
                  <a:lnTo>
                    <a:pt x="227" y="312"/>
                  </a:lnTo>
                  <a:lnTo>
                    <a:pt x="229" y="312"/>
                  </a:lnTo>
                  <a:lnTo>
                    <a:pt x="229" y="312"/>
                  </a:lnTo>
                  <a:lnTo>
                    <a:pt x="229" y="314"/>
                  </a:lnTo>
                  <a:lnTo>
                    <a:pt x="229" y="314"/>
                  </a:lnTo>
                  <a:lnTo>
                    <a:pt x="229" y="316"/>
                  </a:lnTo>
                  <a:lnTo>
                    <a:pt x="229" y="316"/>
                  </a:lnTo>
                  <a:lnTo>
                    <a:pt x="229" y="318"/>
                  </a:lnTo>
                  <a:lnTo>
                    <a:pt x="229" y="319"/>
                  </a:lnTo>
                  <a:lnTo>
                    <a:pt x="229" y="319"/>
                  </a:lnTo>
                  <a:lnTo>
                    <a:pt x="229" y="321"/>
                  </a:lnTo>
                  <a:lnTo>
                    <a:pt x="229" y="325"/>
                  </a:lnTo>
                  <a:lnTo>
                    <a:pt x="229" y="325"/>
                  </a:lnTo>
                  <a:lnTo>
                    <a:pt x="229" y="327"/>
                  </a:lnTo>
                  <a:lnTo>
                    <a:pt x="229" y="327"/>
                  </a:lnTo>
                  <a:lnTo>
                    <a:pt x="227" y="329"/>
                  </a:lnTo>
                  <a:lnTo>
                    <a:pt x="227" y="331"/>
                  </a:lnTo>
                  <a:lnTo>
                    <a:pt x="225" y="337"/>
                  </a:lnTo>
                  <a:lnTo>
                    <a:pt x="225" y="338"/>
                  </a:lnTo>
                  <a:lnTo>
                    <a:pt x="225" y="338"/>
                  </a:lnTo>
                  <a:lnTo>
                    <a:pt x="225" y="340"/>
                  </a:lnTo>
                  <a:lnTo>
                    <a:pt x="227" y="340"/>
                  </a:lnTo>
                  <a:lnTo>
                    <a:pt x="227" y="340"/>
                  </a:lnTo>
                  <a:lnTo>
                    <a:pt x="227" y="340"/>
                  </a:lnTo>
                  <a:lnTo>
                    <a:pt x="227" y="342"/>
                  </a:lnTo>
                  <a:lnTo>
                    <a:pt x="225" y="342"/>
                  </a:lnTo>
                  <a:lnTo>
                    <a:pt x="225" y="342"/>
                  </a:lnTo>
                  <a:lnTo>
                    <a:pt x="223" y="342"/>
                  </a:lnTo>
                  <a:lnTo>
                    <a:pt x="223" y="344"/>
                  </a:lnTo>
                  <a:lnTo>
                    <a:pt x="225" y="344"/>
                  </a:lnTo>
                  <a:lnTo>
                    <a:pt x="225" y="344"/>
                  </a:lnTo>
                  <a:lnTo>
                    <a:pt x="225" y="344"/>
                  </a:lnTo>
                  <a:lnTo>
                    <a:pt x="229" y="344"/>
                  </a:lnTo>
                  <a:lnTo>
                    <a:pt x="231" y="344"/>
                  </a:lnTo>
                  <a:lnTo>
                    <a:pt x="232" y="342"/>
                  </a:lnTo>
                  <a:lnTo>
                    <a:pt x="232" y="340"/>
                  </a:lnTo>
                  <a:lnTo>
                    <a:pt x="234" y="338"/>
                  </a:lnTo>
                  <a:lnTo>
                    <a:pt x="236" y="338"/>
                  </a:lnTo>
                  <a:lnTo>
                    <a:pt x="240" y="338"/>
                  </a:lnTo>
                  <a:lnTo>
                    <a:pt x="240" y="337"/>
                  </a:lnTo>
                  <a:lnTo>
                    <a:pt x="240" y="337"/>
                  </a:lnTo>
                  <a:lnTo>
                    <a:pt x="240" y="337"/>
                  </a:lnTo>
                  <a:lnTo>
                    <a:pt x="238" y="335"/>
                  </a:lnTo>
                  <a:lnTo>
                    <a:pt x="236" y="333"/>
                  </a:lnTo>
                  <a:lnTo>
                    <a:pt x="236" y="333"/>
                  </a:lnTo>
                  <a:lnTo>
                    <a:pt x="238" y="331"/>
                  </a:lnTo>
                  <a:lnTo>
                    <a:pt x="238" y="331"/>
                  </a:lnTo>
                  <a:lnTo>
                    <a:pt x="240" y="331"/>
                  </a:lnTo>
                  <a:lnTo>
                    <a:pt x="244" y="333"/>
                  </a:lnTo>
                  <a:lnTo>
                    <a:pt x="244" y="333"/>
                  </a:lnTo>
                  <a:lnTo>
                    <a:pt x="246" y="333"/>
                  </a:lnTo>
                  <a:lnTo>
                    <a:pt x="248" y="331"/>
                  </a:lnTo>
                  <a:lnTo>
                    <a:pt x="248" y="329"/>
                  </a:lnTo>
                  <a:lnTo>
                    <a:pt x="250" y="329"/>
                  </a:lnTo>
                  <a:lnTo>
                    <a:pt x="250" y="331"/>
                  </a:lnTo>
                  <a:lnTo>
                    <a:pt x="250" y="331"/>
                  </a:lnTo>
                  <a:lnTo>
                    <a:pt x="250" y="331"/>
                  </a:lnTo>
                  <a:lnTo>
                    <a:pt x="252" y="331"/>
                  </a:lnTo>
                  <a:lnTo>
                    <a:pt x="252" y="331"/>
                  </a:lnTo>
                  <a:lnTo>
                    <a:pt x="252" y="329"/>
                  </a:lnTo>
                  <a:lnTo>
                    <a:pt x="253" y="329"/>
                  </a:lnTo>
                  <a:lnTo>
                    <a:pt x="253" y="331"/>
                  </a:lnTo>
                  <a:lnTo>
                    <a:pt x="253" y="331"/>
                  </a:lnTo>
                  <a:lnTo>
                    <a:pt x="255" y="333"/>
                  </a:lnTo>
                  <a:lnTo>
                    <a:pt x="255" y="333"/>
                  </a:lnTo>
                  <a:lnTo>
                    <a:pt x="255" y="333"/>
                  </a:lnTo>
                  <a:lnTo>
                    <a:pt x="255" y="333"/>
                  </a:lnTo>
                  <a:lnTo>
                    <a:pt x="257" y="331"/>
                  </a:lnTo>
                  <a:lnTo>
                    <a:pt x="259" y="331"/>
                  </a:lnTo>
                  <a:lnTo>
                    <a:pt x="263" y="329"/>
                  </a:lnTo>
                  <a:lnTo>
                    <a:pt x="263" y="327"/>
                  </a:lnTo>
                  <a:lnTo>
                    <a:pt x="263" y="327"/>
                  </a:lnTo>
                  <a:lnTo>
                    <a:pt x="265" y="327"/>
                  </a:lnTo>
                  <a:lnTo>
                    <a:pt x="265" y="327"/>
                  </a:lnTo>
                  <a:lnTo>
                    <a:pt x="265" y="327"/>
                  </a:lnTo>
                  <a:lnTo>
                    <a:pt x="267" y="325"/>
                  </a:lnTo>
                  <a:lnTo>
                    <a:pt x="271" y="325"/>
                  </a:lnTo>
                  <a:lnTo>
                    <a:pt x="271" y="325"/>
                  </a:lnTo>
                  <a:lnTo>
                    <a:pt x="273" y="321"/>
                  </a:lnTo>
                  <a:lnTo>
                    <a:pt x="274" y="321"/>
                  </a:lnTo>
                  <a:lnTo>
                    <a:pt x="274" y="321"/>
                  </a:lnTo>
                  <a:lnTo>
                    <a:pt x="276" y="323"/>
                  </a:lnTo>
                  <a:lnTo>
                    <a:pt x="276" y="323"/>
                  </a:lnTo>
                  <a:lnTo>
                    <a:pt x="278" y="321"/>
                  </a:lnTo>
                  <a:lnTo>
                    <a:pt x="278" y="319"/>
                  </a:lnTo>
                  <a:lnTo>
                    <a:pt x="280" y="318"/>
                  </a:lnTo>
                  <a:lnTo>
                    <a:pt x="280" y="318"/>
                  </a:lnTo>
                  <a:lnTo>
                    <a:pt x="282" y="316"/>
                  </a:lnTo>
                  <a:lnTo>
                    <a:pt x="282" y="314"/>
                  </a:lnTo>
                  <a:lnTo>
                    <a:pt x="282" y="310"/>
                  </a:lnTo>
                  <a:lnTo>
                    <a:pt x="280" y="308"/>
                  </a:lnTo>
                  <a:lnTo>
                    <a:pt x="280" y="308"/>
                  </a:lnTo>
                  <a:lnTo>
                    <a:pt x="278" y="306"/>
                  </a:lnTo>
                  <a:lnTo>
                    <a:pt x="276" y="306"/>
                  </a:lnTo>
                  <a:lnTo>
                    <a:pt x="278" y="302"/>
                  </a:lnTo>
                  <a:lnTo>
                    <a:pt x="278" y="300"/>
                  </a:lnTo>
                  <a:lnTo>
                    <a:pt x="276" y="298"/>
                  </a:lnTo>
                  <a:lnTo>
                    <a:pt x="280" y="300"/>
                  </a:lnTo>
                  <a:lnTo>
                    <a:pt x="280" y="298"/>
                  </a:lnTo>
                  <a:lnTo>
                    <a:pt x="280" y="295"/>
                  </a:lnTo>
                  <a:lnTo>
                    <a:pt x="280" y="293"/>
                  </a:lnTo>
                  <a:lnTo>
                    <a:pt x="284" y="291"/>
                  </a:lnTo>
                  <a:lnTo>
                    <a:pt x="282" y="291"/>
                  </a:lnTo>
                  <a:lnTo>
                    <a:pt x="280" y="291"/>
                  </a:lnTo>
                  <a:lnTo>
                    <a:pt x="280" y="289"/>
                  </a:lnTo>
                  <a:lnTo>
                    <a:pt x="280" y="289"/>
                  </a:lnTo>
                  <a:lnTo>
                    <a:pt x="280" y="289"/>
                  </a:lnTo>
                  <a:lnTo>
                    <a:pt x="282" y="287"/>
                  </a:lnTo>
                  <a:lnTo>
                    <a:pt x="282" y="287"/>
                  </a:lnTo>
                  <a:lnTo>
                    <a:pt x="282" y="287"/>
                  </a:lnTo>
                  <a:lnTo>
                    <a:pt x="282" y="285"/>
                  </a:lnTo>
                  <a:lnTo>
                    <a:pt x="284" y="285"/>
                  </a:lnTo>
                  <a:lnTo>
                    <a:pt x="284" y="285"/>
                  </a:lnTo>
                  <a:lnTo>
                    <a:pt x="282" y="283"/>
                  </a:lnTo>
                  <a:lnTo>
                    <a:pt x="280" y="283"/>
                  </a:lnTo>
                  <a:lnTo>
                    <a:pt x="280" y="283"/>
                  </a:lnTo>
                  <a:lnTo>
                    <a:pt x="278" y="281"/>
                  </a:lnTo>
                  <a:lnTo>
                    <a:pt x="278" y="281"/>
                  </a:lnTo>
                  <a:lnTo>
                    <a:pt x="278" y="279"/>
                  </a:lnTo>
                  <a:lnTo>
                    <a:pt x="276" y="278"/>
                  </a:lnTo>
                  <a:lnTo>
                    <a:pt x="278" y="276"/>
                  </a:lnTo>
                  <a:lnTo>
                    <a:pt x="280" y="270"/>
                  </a:lnTo>
                  <a:lnTo>
                    <a:pt x="278" y="270"/>
                  </a:lnTo>
                  <a:lnTo>
                    <a:pt x="276" y="270"/>
                  </a:lnTo>
                  <a:lnTo>
                    <a:pt x="276" y="266"/>
                  </a:lnTo>
                  <a:lnTo>
                    <a:pt x="276" y="266"/>
                  </a:lnTo>
                  <a:lnTo>
                    <a:pt x="276" y="266"/>
                  </a:lnTo>
                  <a:lnTo>
                    <a:pt x="274" y="266"/>
                  </a:lnTo>
                  <a:lnTo>
                    <a:pt x="273" y="266"/>
                  </a:lnTo>
                  <a:lnTo>
                    <a:pt x="273" y="264"/>
                  </a:lnTo>
                  <a:lnTo>
                    <a:pt x="273" y="264"/>
                  </a:lnTo>
                  <a:lnTo>
                    <a:pt x="273" y="262"/>
                  </a:lnTo>
                  <a:lnTo>
                    <a:pt x="273" y="262"/>
                  </a:lnTo>
                  <a:lnTo>
                    <a:pt x="273" y="262"/>
                  </a:lnTo>
                  <a:lnTo>
                    <a:pt x="271" y="262"/>
                  </a:lnTo>
                  <a:lnTo>
                    <a:pt x="271" y="262"/>
                  </a:lnTo>
                  <a:lnTo>
                    <a:pt x="269" y="262"/>
                  </a:lnTo>
                  <a:lnTo>
                    <a:pt x="269" y="262"/>
                  </a:lnTo>
                  <a:lnTo>
                    <a:pt x="269" y="262"/>
                  </a:lnTo>
                  <a:lnTo>
                    <a:pt x="269" y="260"/>
                  </a:lnTo>
                  <a:lnTo>
                    <a:pt x="269" y="260"/>
                  </a:lnTo>
                  <a:lnTo>
                    <a:pt x="267" y="260"/>
                  </a:lnTo>
                  <a:lnTo>
                    <a:pt x="267" y="259"/>
                  </a:lnTo>
                  <a:lnTo>
                    <a:pt x="265" y="259"/>
                  </a:lnTo>
                  <a:lnTo>
                    <a:pt x="265" y="257"/>
                  </a:lnTo>
                  <a:lnTo>
                    <a:pt x="265" y="257"/>
                  </a:lnTo>
                  <a:lnTo>
                    <a:pt x="259" y="257"/>
                  </a:lnTo>
                  <a:lnTo>
                    <a:pt x="257" y="259"/>
                  </a:lnTo>
                  <a:lnTo>
                    <a:pt x="255" y="259"/>
                  </a:lnTo>
                  <a:lnTo>
                    <a:pt x="255" y="260"/>
                  </a:lnTo>
                  <a:lnTo>
                    <a:pt x="255" y="260"/>
                  </a:lnTo>
                  <a:lnTo>
                    <a:pt x="255" y="262"/>
                  </a:lnTo>
                  <a:lnTo>
                    <a:pt x="255" y="262"/>
                  </a:lnTo>
                  <a:lnTo>
                    <a:pt x="255" y="262"/>
                  </a:lnTo>
                  <a:lnTo>
                    <a:pt x="255" y="264"/>
                  </a:lnTo>
                  <a:lnTo>
                    <a:pt x="255" y="264"/>
                  </a:lnTo>
                  <a:lnTo>
                    <a:pt x="255" y="264"/>
                  </a:lnTo>
                  <a:lnTo>
                    <a:pt x="255" y="264"/>
                  </a:lnTo>
                  <a:lnTo>
                    <a:pt x="252" y="266"/>
                  </a:lnTo>
                  <a:lnTo>
                    <a:pt x="248" y="264"/>
                  </a:lnTo>
                  <a:lnTo>
                    <a:pt x="246" y="262"/>
                  </a:lnTo>
                  <a:lnTo>
                    <a:pt x="244" y="262"/>
                  </a:lnTo>
                  <a:lnTo>
                    <a:pt x="244" y="260"/>
                  </a:lnTo>
                  <a:lnTo>
                    <a:pt x="242" y="260"/>
                  </a:lnTo>
                  <a:lnTo>
                    <a:pt x="242" y="259"/>
                  </a:lnTo>
                  <a:lnTo>
                    <a:pt x="242" y="257"/>
                  </a:lnTo>
                  <a:lnTo>
                    <a:pt x="240" y="257"/>
                  </a:lnTo>
                  <a:lnTo>
                    <a:pt x="240" y="255"/>
                  </a:lnTo>
                  <a:lnTo>
                    <a:pt x="234" y="253"/>
                  </a:lnTo>
                  <a:lnTo>
                    <a:pt x="234" y="253"/>
                  </a:lnTo>
                  <a:lnTo>
                    <a:pt x="232" y="253"/>
                  </a:lnTo>
                  <a:lnTo>
                    <a:pt x="232" y="253"/>
                  </a:lnTo>
                  <a:lnTo>
                    <a:pt x="232" y="255"/>
                  </a:lnTo>
                  <a:lnTo>
                    <a:pt x="232" y="255"/>
                  </a:lnTo>
                  <a:lnTo>
                    <a:pt x="231" y="255"/>
                  </a:lnTo>
                  <a:lnTo>
                    <a:pt x="225" y="255"/>
                  </a:lnTo>
                  <a:lnTo>
                    <a:pt x="223" y="257"/>
                  </a:lnTo>
                  <a:lnTo>
                    <a:pt x="221" y="255"/>
                  </a:lnTo>
                  <a:lnTo>
                    <a:pt x="221" y="255"/>
                  </a:lnTo>
                  <a:lnTo>
                    <a:pt x="221" y="255"/>
                  </a:lnTo>
                  <a:lnTo>
                    <a:pt x="221" y="253"/>
                  </a:lnTo>
                  <a:lnTo>
                    <a:pt x="221" y="253"/>
                  </a:lnTo>
                  <a:lnTo>
                    <a:pt x="219" y="251"/>
                  </a:lnTo>
                  <a:lnTo>
                    <a:pt x="219" y="251"/>
                  </a:lnTo>
                  <a:lnTo>
                    <a:pt x="219" y="251"/>
                  </a:lnTo>
                  <a:lnTo>
                    <a:pt x="219" y="249"/>
                  </a:lnTo>
                  <a:lnTo>
                    <a:pt x="221" y="247"/>
                  </a:lnTo>
                  <a:lnTo>
                    <a:pt x="221" y="245"/>
                  </a:lnTo>
                  <a:lnTo>
                    <a:pt x="223" y="245"/>
                  </a:lnTo>
                  <a:lnTo>
                    <a:pt x="223" y="245"/>
                  </a:lnTo>
                  <a:lnTo>
                    <a:pt x="225" y="243"/>
                  </a:lnTo>
                  <a:lnTo>
                    <a:pt x="225" y="243"/>
                  </a:lnTo>
                  <a:lnTo>
                    <a:pt x="227" y="243"/>
                  </a:lnTo>
                  <a:lnTo>
                    <a:pt x="227" y="241"/>
                  </a:lnTo>
                  <a:lnTo>
                    <a:pt x="227" y="240"/>
                  </a:lnTo>
                  <a:lnTo>
                    <a:pt x="229" y="240"/>
                  </a:lnTo>
                  <a:lnTo>
                    <a:pt x="229" y="238"/>
                  </a:lnTo>
                  <a:lnTo>
                    <a:pt x="229" y="236"/>
                  </a:lnTo>
                  <a:lnTo>
                    <a:pt x="229" y="236"/>
                  </a:lnTo>
                  <a:lnTo>
                    <a:pt x="229" y="234"/>
                  </a:lnTo>
                  <a:lnTo>
                    <a:pt x="229" y="234"/>
                  </a:lnTo>
                  <a:lnTo>
                    <a:pt x="229" y="228"/>
                  </a:lnTo>
                  <a:lnTo>
                    <a:pt x="229" y="226"/>
                  </a:lnTo>
                  <a:lnTo>
                    <a:pt x="229" y="226"/>
                  </a:lnTo>
                  <a:lnTo>
                    <a:pt x="229" y="224"/>
                  </a:lnTo>
                  <a:lnTo>
                    <a:pt x="231" y="222"/>
                  </a:lnTo>
                  <a:lnTo>
                    <a:pt x="232" y="222"/>
                  </a:lnTo>
                  <a:lnTo>
                    <a:pt x="234" y="221"/>
                  </a:lnTo>
                  <a:lnTo>
                    <a:pt x="236" y="221"/>
                  </a:lnTo>
                  <a:lnTo>
                    <a:pt x="238" y="221"/>
                  </a:lnTo>
                  <a:lnTo>
                    <a:pt x="240" y="219"/>
                  </a:lnTo>
                  <a:lnTo>
                    <a:pt x="240" y="219"/>
                  </a:lnTo>
                  <a:lnTo>
                    <a:pt x="240" y="219"/>
                  </a:lnTo>
                  <a:lnTo>
                    <a:pt x="246" y="219"/>
                  </a:lnTo>
                  <a:lnTo>
                    <a:pt x="246" y="221"/>
                  </a:lnTo>
                  <a:lnTo>
                    <a:pt x="248" y="221"/>
                  </a:lnTo>
                  <a:lnTo>
                    <a:pt x="248" y="221"/>
                  </a:lnTo>
                  <a:lnTo>
                    <a:pt x="252" y="219"/>
                  </a:lnTo>
                  <a:lnTo>
                    <a:pt x="253" y="217"/>
                  </a:lnTo>
                  <a:lnTo>
                    <a:pt x="253" y="215"/>
                  </a:lnTo>
                  <a:lnTo>
                    <a:pt x="253" y="215"/>
                  </a:lnTo>
                  <a:lnTo>
                    <a:pt x="253" y="215"/>
                  </a:lnTo>
                  <a:lnTo>
                    <a:pt x="253" y="213"/>
                  </a:lnTo>
                  <a:lnTo>
                    <a:pt x="253" y="211"/>
                  </a:lnTo>
                  <a:lnTo>
                    <a:pt x="250" y="209"/>
                  </a:lnTo>
                  <a:lnTo>
                    <a:pt x="250" y="207"/>
                  </a:lnTo>
                  <a:lnTo>
                    <a:pt x="252" y="207"/>
                  </a:lnTo>
                  <a:lnTo>
                    <a:pt x="252" y="205"/>
                  </a:lnTo>
                  <a:lnTo>
                    <a:pt x="250" y="201"/>
                  </a:lnTo>
                  <a:lnTo>
                    <a:pt x="248" y="196"/>
                  </a:lnTo>
                  <a:lnTo>
                    <a:pt x="248" y="196"/>
                  </a:lnTo>
                  <a:lnTo>
                    <a:pt x="248" y="194"/>
                  </a:lnTo>
                  <a:lnTo>
                    <a:pt x="246" y="194"/>
                  </a:lnTo>
                  <a:lnTo>
                    <a:pt x="246" y="194"/>
                  </a:lnTo>
                  <a:lnTo>
                    <a:pt x="246" y="194"/>
                  </a:lnTo>
                  <a:lnTo>
                    <a:pt x="246" y="194"/>
                  </a:lnTo>
                  <a:lnTo>
                    <a:pt x="248" y="192"/>
                  </a:lnTo>
                  <a:lnTo>
                    <a:pt x="248" y="192"/>
                  </a:lnTo>
                  <a:lnTo>
                    <a:pt x="246" y="177"/>
                  </a:lnTo>
                  <a:lnTo>
                    <a:pt x="246" y="175"/>
                  </a:lnTo>
                  <a:lnTo>
                    <a:pt x="248" y="175"/>
                  </a:lnTo>
                  <a:lnTo>
                    <a:pt x="248" y="173"/>
                  </a:lnTo>
                  <a:lnTo>
                    <a:pt x="248" y="171"/>
                  </a:lnTo>
                  <a:lnTo>
                    <a:pt x="246" y="171"/>
                  </a:lnTo>
                  <a:lnTo>
                    <a:pt x="246" y="169"/>
                  </a:lnTo>
                  <a:lnTo>
                    <a:pt x="246" y="167"/>
                  </a:lnTo>
                  <a:lnTo>
                    <a:pt x="246" y="165"/>
                  </a:lnTo>
                  <a:lnTo>
                    <a:pt x="246" y="165"/>
                  </a:lnTo>
                  <a:lnTo>
                    <a:pt x="248" y="163"/>
                  </a:lnTo>
                  <a:lnTo>
                    <a:pt x="248" y="163"/>
                  </a:lnTo>
                  <a:lnTo>
                    <a:pt x="248" y="162"/>
                  </a:lnTo>
                  <a:lnTo>
                    <a:pt x="246" y="162"/>
                  </a:lnTo>
                  <a:lnTo>
                    <a:pt x="244" y="162"/>
                  </a:lnTo>
                  <a:lnTo>
                    <a:pt x="240" y="162"/>
                  </a:lnTo>
                  <a:lnTo>
                    <a:pt x="240" y="162"/>
                  </a:lnTo>
                  <a:lnTo>
                    <a:pt x="240" y="160"/>
                  </a:lnTo>
                  <a:lnTo>
                    <a:pt x="244" y="156"/>
                  </a:lnTo>
                  <a:lnTo>
                    <a:pt x="246" y="154"/>
                  </a:lnTo>
                  <a:lnTo>
                    <a:pt x="244" y="154"/>
                  </a:lnTo>
                  <a:lnTo>
                    <a:pt x="240" y="154"/>
                  </a:lnTo>
                  <a:lnTo>
                    <a:pt x="240" y="152"/>
                  </a:lnTo>
                  <a:lnTo>
                    <a:pt x="240" y="152"/>
                  </a:lnTo>
                  <a:lnTo>
                    <a:pt x="240" y="152"/>
                  </a:lnTo>
                  <a:lnTo>
                    <a:pt x="240" y="150"/>
                  </a:lnTo>
                  <a:lnTo>
                    <a:pt x="240" y="148"/>
                  </a:lnTo>
                  <a:lnTo>
                    <a:pt x="240" y="148"/>
                  </a:lnTo>
                  <a:lnTo>
                    <a:pt x="240" y="146"/>
                  </a:lnTo>
                  <a:lnTo>
                    <a:pt x="240" y="146"/>
                  </a:lnTo>
                  <a:lnTo>
                    <a:pt x="242" y="144"/>
                  </a:lnTo>
                  <a:lnTo>
                    <a:pt x="242" y="144"/>
                  </a:lnTo>
                  <a:lnTo>
                    <a:pt x="244" y="144"/>
                  </a:lnTo>
                  <a:lnTo>
                    <a:pt x="242" y="143"/>
                  </a:lnTo>
                  <a:lnTo>
                    <a:pt x="242" y="141"/>
                  </a:lnTo>
                  <a:lnTo>
                    <a:pt x="242" y="141"/>
                  </a:lnTo>
                  <a:lnTo>
                    <a:pt x="242" y="139"/>
                  </a:lnTo>
                  <a:lnTo>
                    <a:pt x="242" y="137"/>
                  </a:lnTo>
                  <a:lnTo>
                    <a:pt x="244" y="133"/>
                  </a:lnTo>
                  <a:lnTo>
                    <a:pt x="244" y="131"/>
                  </a:lnTo>
                  <a:lnTo>
                    <a:pt x="246" y="131"/>
                  </a:lnTo>
                  <a:lnTo>
                    <a:pt x="246" y="129"/>
                  </a:lnTo>
                  <a:lnTo>
                    <a:pt x="248" y="129"/>
                  </a:lnTo>
                  <a:lnTo>
                    <a:pt x="246" y="127"/>
                  </a:lnTo>
                  <a:lnTo>
                    <a:pt x="246" y="127"/>
                  </a:lnTo>
                  <a:lnTo>
                    <a:pt x="246" y="125"/>
                  </a:lnTo>
                  <a:lnTo>
                    <a:pt x="246" y="125"/>
                  </a:lnTo>
                  <a:lnTo>
                    <a:pt x="248" y="124"/>
                  </a:lnTo>
                  <a:lnTo>
                    <a:pt x="248" y="124"/>
                  </a:lnTo>
                  <a:lnTo>
                    <a:pt x="248" y="125"/>
                  </a:lnTo>
                  <a:lnTo>
                    <a:pt x="250" y="124"/>
                  </a:lnTo>
                  <a:lnTo>
                    <a:pt x="250" y="122"/>
                  </a:lnTo>
                  <a:lnTo>
                    <a:pt x="253" y="108"/>
                  </a:lnTo>
                  <a:lnTo>
                    <a:pt x="253" y="104"/>
                  </a:lnTo>
                  <a:lnTo>
                    <a:pt x="255" y="103"/>
                  </a:lnTo>
                  <a:lnTo>
                    <a:pt x="255" y="103"/>
                  </a:lnTo>
                  <a:lnTo>
                    <a:pt x="259" y="99"/>
                  </a:lnTo>
                  <a:lnTo>
                    <a:pt x="259" y="97"/>
                  </a:lnTo>
                  <a:lnTo>
                    <a:pt x="259" y="97"/>
                  </a:lnTo>
                  <a:lnTo>
                    <a:pt x="259" y="97"/>
                  </a:lnTo>
                  <a:lnTo>
                    <a:pt x="261" y="95"/>
                  </a:lnTo>
                  <a:lnTo>
                    <a:pt x="261" y="95"/>
                  </a:lnTo>
                  <a:lnTo>
                    <a:pt x="261" y="97"/>
                  </a:lnTo>
                  <a:lnTo>
                    <a:pt x="263" y="95"/>
                  </a:lnTo>
                  <a:lnTo>
                    <a:pt x="263" y="95"/>
                  </a:lnTo>
                  <a:lnTo>
                    <a:pt x="263" y="95"/>
                  </a:lnTo>
                  <a:lnTo>
                    <a:pt x="263" y="95"/>
                  </a:lnTo>
                  <a:lnTo>
                    <a:pt x="263" y="95"/>
                  </a:lnTo>
                  <a:lnTo>
                    <a:pt x="263" y="93"/>
                  </a:lnTo>
                  <a:lnTo>
                    <a:pt x="263" y="93"/>
                  </a:lnTo>
                  <a:lnTo>
                    <a:pt x="265" y="93"/>
                  </a:lnTo>
                  <a:lnTo>
                    <a:pt x="269" y="89"/>
                  </a:lnTo>
                  <a:lnTo>
                    <a:pt x="271" y="87"/>
                  </a:lnTo>
                  <a:lnTo>
                    <a:pt x="271" y="85"/>
                  </a:lnTo>
                  <a:lnTo>
                    <a:pt x="273" y="84"/>
                  </a:lnTo>
                  <a:lnTo>
                    <a:pt x="274" y="82"/>
                  </a:lnTo>
                  <a:lnTo>
                    <a:pt x="280" y="76"/>
                  </a:lnTo>
                  <a:lnTo>
                    <a:pt x="284" y="72"/>
                  </a:lnTo>
                  <a:lnTo>
                    <a:pt x="286" y="70"/>
                  </a:lnTo>
                  <a:lnTo>
                    <a:pt x="288" y="65"/>
                  </a:lnTo>
                  <a:lnTo>
                    <a:pt x="288" y="61"/>
                  </a:lnTo>
                  <a:lnTo>
                    <a:pt x="288" y="59"/>
                  </a:lnTo>
                  <a:close/>
                </a:path>
              </a:pathLst>
            </a:custGeom>
            <a:solidFill>
              <a:srgbClr val="DA291C"/>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06" name="Freeform 56">
              <a:extLst>
                <a:ext uri="{FF2B5EF4-FFF2-40B4-BE49-F238E27FC236}">
                  <a16:creationId xmlns:a16="http://schemas.microsoft.com/office/drawing/2014/main" id="{18908D4E-3FE1-9A65-6349-884B6C20C0E3}"/>
                </a:ext>
              </a:extLst>
            </p:cNvPr>
            <p:cNvSpPr>
              <a:spLocks/>
            </p:cNvSpPr>
            <p:nvPr/>
          </p:nvSpPr>
          <p:spPr bwMode="auto">
            <a:xfrm>
              <a:off x="1009903" y="3406374"/>
              <a:ext cx="1099849" cy="783179"/>
            </a:xfrm>
            <a:custGeom>
              <a:avLst/>
              <a:gdLst>
                <a:gd name="T0" fmla="*/ 553 w 583"/>
                <a:gd name="T1" fmla="*/ 158 h 463"/>
                <a:gd name="T2" fmla="*/ 513 w 583"/>
                <a:gd name="T3" fmla="*/ 132 h 463"/>
                <a:gd name="T4" fmla="*/ 493 w 583"/>
                <a:gd name="T5" fmla="*/ 103 h 463"/>
                <a:gd name="T6" fmla="*/ 484 w 583"/>
                <a:gd name="T7" fmla="*/ 71 h 463"/>
                <a:gd name="T8" fmla="*/ 457 w 583"/>
                <a:gd name="T9" fmla="*/ 44 h 463"/>
                <a:gd name="T10" fmla="*/ 457 w 583"/>
                <a:gd name="T11" fmla="*/ 29 h 463"/>
                <a:gd name="T12" fmla="*/ 444 w 583"/>
                <a:gd name="T13" fmla="*/ 35 h 463"/>
                <a:gd name="T14" fmla="*/ 400 w 583"/>
                <a:gd name="T15" fmla="*/ 29 h 463"/>
                <a:gd name="T16" fmla="*/ 381 w 583"/>
                <a:gd name="T17" fmla="*/ 16 h 463"/>
                <a:gd name="T18" fmla="*/ 349 w 583"/>
                <a:gd name="T19" fmla="*/ 6 h 463"/>
                <a:gd name="T20" fmla="*/ 305 w 583"/>
                <a:gd name="T21" fmla="*/ 4 h 463"/>
                <a:gd name="T22" fmla="*/ 261 w 583"/>
                <a:gd name="T23" fmla="*/ 25 h 463"/>
                <a:gd name="T24" fmla="*/ 221 w 583"/>
                <a:gd name="T25" fmla="*/ 37 h 463"/>
                <a:gd name="T26" fmla="*/ 93 w 583"/>
                <a:gd name="T27" fmla="*/ 48 h 463"/>
                <a:gd name="T28" fmla="*/ 21 w 583"/>
                <a:gd name="T29" fmla="*/ 77 h 463"/>
                <a:gd name="T30" fmla="*/ 6 w 583"/>
                <a:gd name="T31" fmla="*/ 84 h 463"/>
                <a:gd name="T32" fmla="*/ 2 w 583"/>
                <a:gd name="T33" fmla="*/ 111 h 463"/>
                <a:gd name="T34" fmla="*/ 49 w 583"/>
                <a:gd name="T35" fmla="*/ 90 h 463"/>
                <a:gd name="T36" fmla="*/ 30 w 583"/>
                <a:gd name="T37" fmla="*/ 111 h 463"/>
                <a:gd name="T38" fmla="*/ 28 w 583"/>
                <a:gd name="T39" fmla="*/ 132 h 463"/>
                <a:gd name="T40" fmla="*/ 38 w 583"/>
                <a:gd name="T41" fmla="*/ 141 h 463"/>
                <a:gd name="T42" fmla="*/ 122 w 583"/>
                <a:gd name="T43" fmla="*/ 194 h 463"/>
                <a:gd name="T44" fmla="*/ 183 w 583"/>
                <a:gd name="T45" fmla="*/ 175 h 463"/>
                <a:gd name="T46" fmla="*/ 204 w 583"/>
                <a:gd name="T47" fmla="*/ 179 h 463"/>
                <a:gd name="T48" fmla="*/ 215 w 583"/>
                <a:gd name="T49" fmla="*/ 177 h 463"/>
                <a:gd name="T50" fmla="*/ 156 w 583"/>
                <a:gd name="T51" fmla="*/ 227 h 463"/>
                <a:gd name="T52" fmla="*/ 129 w 583"/>
                <a:gd name="T53" fmla="*/ 236 h 463"/>
                <a:gd name="T54" fmla="*/ 95 w 583"/>
                <a:gd name="T55" fmla="*/ 238 h 463"/>
                <a:gd name="T56" fmla="*/ 74 w 583"/>
                <a:gd name="T57" fmla="*/ 236 h 463"/>
                <a:gd name="T58" fmla="*/ 131 w 583"/>
                <a:gd name="T59" fmla="*/ 309 h 463"/>
                <a:gd name="T60" fmla="*/ 244 w 583"/>
                <a:gd name="T61" fmla="*/ 402 h 463"/>
                <a:gd name="T62" fmla="*/ 314 w 583"/>
                <a:gd name="T63" fmla="*/ 375 h 463"/>
                <a:gd name="T64" fmla="*/ 366 w 583"/>
                <a:gd name="T65" fmla="*/ 343 h 463"/>
                <a:gd name="T66" fmla="*/ 373 w 583"/>
                <a:gd name="T67" fmla="*/ 297 h 463"/>
                <a:gd name="T68" fmla="*/ 360 w 583"/>
                <a:gd name="T69" fmla="*/ 286 h 463"/>
                <a:gd name="T70" fmla="*/ 362 w 583"/>
                <a:gd name="T71" fmla="*/ 276 h 463"/>
                <a:gd name="T72" fmla="*/ 383 w 583"/>
                <a:gd name="T73" fmla="*/ 267 h 463"/>
                <a:gd name="T74" fmla="*/ 387 w 583"/>
                <a:gd name="T75" fmla="*/ 240 h 463"/>
                <a:gd name="T76" fmla="*/ 423 w 583"/>
                <a:gd name="T77" fmla="*/ 248 h 463"/>
                <a:gd name="T78" fmla="*/ 413 w 583"/>
                <a:gd name="T79" fmla="*/ 251 h 463"/>
                <a:gd name="T80" fmla="*/ 421 w 583"/>
                <a:gd name="T81" fmla="*/ 274 h 463"/>
                <a:gd name="T82" fmla="*/ 432 w 583"/>
                <a:gd name="T83" fmla="*/ 305 h 463"/>
                <a:gd name="T84" fmla="*/ 423 w 583"/>
                <a:gd name="T85" fmla="*/ 318 h 463"/>
                <a:gd name="T86" fmla="*/ 410 w 583"/>
                <a:gd name="T87" fmla="*/ 339 h 463"/>
                <a:gd name="T88" fmla="*/ 419 w 583"/>
                <a:gd name="T89" fmla="*/ 356 h 463"/>
                <a:gd name="T90" fmla="*/ 431 w 583"/>
                <a:gd name="T91" fmla="*/ 373 h 463"/>
                <a:gd name="T92" fmla="*/ 438 w 583"/>
                <a:gd name="T93" fmla="*/ 398 h 463"/>
                <a:gd name="T94" fmla="*/ 425 w 583"/>
                <a:gd name="T95" fmla="*/ 444 h 463"/>
                <a:gd name="T96" fmla="*/ 442 w 583"/>
                <a:gd name="T97" fmla="*/ 457 h 463"/>
                <a:gd name="T98" fmla="*/ 453 w 583"/>
                <a:gd name="T99" fmla="*/ 438 h 463"/>
                <a:gd name="T100" fmla="*/ 457 w 583"/>
                <a:gd name="T101" fmla="*/ 457 h 463"/>
                <a:gd name="T102" fmla="*/ 484 w 583"/>
                <a:gd name="T103" fmla="*/ 451 h 463"/>
                <a:gd name="T104" fmla="*/ 486 w 583"/>
                <a:gd name="T105" fmla="*/ 411 h 463"/>
                <a:gd name="T106" fmla="*/ 505 w 583"/>
                <a:gd name="T107" fmla="*/ 415 h 463"/>
                <a:gd name="T108" fmla="*/ 524 w 583"/>
                <a:gd name="T109" fmla="*/ 371 h 463"/>
                <a:gd name="T110" fmla="*/ 511 w 583"/>
                <a:gd name="T111" fmla="*/ 356 h 463"/>
                <a:gd name="T112" fmla="*/ 545 w 583"/>
                <a:gd name="T113" fmla="*/ 326 h 463"/>
                <a:gd name="T114" fmla="*/ 553 w 583"/>
                <a:gd name="T115" fmla="*/ 316 h 463"/>
                <a:gd name="T116" fmla="*/ 522 w 583"/>
                <a:gd name="T117" fmla="*/ 299 h 463"/>
                <a:gd name="T118" fmla="*/ 545 w 583"/>
                <a:gd name="T119" fmla="*/ 251 h 463"/>
                <a:gd name="T120" fmla="*/ 551 w 583"/>
                <a:gd name="T121" fmla="*/ 232 h 463"/>
                <a:gd name="T122" fmla="*/ 581 w 583"/>
                <a:gd name="T123" fmla="*/ 189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3" h="463">
                  <a:moveTo>
                    <a:pt x="581" y="189"/>
                  </a:moveTo>
                  <a:lnTo>
                    <a:pt x="579" y="187"/>
                  </a:lnTo>
                  <a:lnTo>
                    <a:pt x="577" y="185"/>
                  </a:lnTo>
                  <a:lnTo>
                    <a:pt x="577" y="185"/>
                  </a:lnTo>
                  <a:lnTo>
                    <a:pt x="575" y="185"/>
                  </a:lnTo>
                  <a:lnTo>
                    <a:pt x="575" y="187"/>
                  </a:lnTo>
                  <a:lnTo>
                    <a:pt x="575" y="187"/>
                  </a:lnTo>
                  <a:lnTo>
                    <a:pt x="573" y="187"/>
                  </a:lnTo>
                  <a:lnTo>
                    <a:pt x="573" y="187"/>
                  </a:lnTo>
                  <a:lnTo>
                    <a:pt x="573" y="185"/>
                  </a:lnTo>
                  <a:lnTo>
                    <a:pt x="573" y="183"/>
                  </a:lnTo>
                  <a:lnTo>
                    <a:pt x="572" y="175"/>
                  </a:lnTo>
                  <a:lnTo>
                    <a:pt x="570" y="170"/>
                  </a:lnTo>
                  <a:lnTo>
                    <a:pt x="570" y="168"/>
                  </a:lnTo>
                  <a:lnTo>
                    <a:pt x="568" y="166"/>
                  </a:lnTo>
                  <a:lnTo>
                    <a:pt x="568" y="166"/>
                  </a:lnTo>
                  <a:lnTo>
                    <a:pt x="568" y="166"/>
                  </a:lnTo>
                  <a:lnTo>
                    <a:pt x="566" y="164"/>
                  </a:lnTo>
                  <a:lnTo>
                    <a:pt x="566" y="164"/>
                  </a:lnTo>
                  <a:lnTo>
                    <a:pt x="564" y="162"/>
                  </a:lnTo>
                  <a:lnTo>
                    <a:pt x="564" y="160"/>
                  </a:lnTo>
                  <a:lnTo>
                    <a:pt x="562" y="158"/>
                  </a:lnTo>
                  <a:lnTo>
                    <a:pt x="562" y="158"/>
                  </a:lnTo>
                  <a:lnTo>
                    <a:pt x="558" y="156"/>
                  </a:lnTo>
                  <a:lnTo>
                    <a:pt x="558" y="156"/>
                  </a:lnTo>
                  <a:lnTo>
                    <a:pt x="556" y="156"/>
                  </a:lnTo>
                  <a:lnTo>
                    <a:pt x="556" y="156"/>
                  </a:lnTo>
                  <a:lnTo>
                    <a:pt x="554" y="156"/>
                  </a:lnTo>
                  <a:lnTo>
                    <a:pt x="554" y="158"/>
                  </a:lnTo>
                  <a:lnTo>
                    <a:pt x="553" y="158"/>
                  </a:lnTo>
                  <a:lnTo>
                    <a:pt x="553" y="156"/>
                  </a:lnTo>
                  <a:lnTo>
                    <a:pt x="551" y="156"/>
                  </a:lnTo>
                  <a:lnTo>
                    <a:pt x="551" y="154"/>
                  </a:lnTo>
                  <a:lnTo>
                    <a:pt x="551" y="153"/>
                  </a:lnTo>
                  <a:lnTo>
                    <a:pt x="551" y="151"/>
                  </a:lnTo>
                  <a:lnTo>
                    <a:pt x="551" y="151"/>
                  </a:lnTo>
                  <a:lnTo>
                    <a:pt x="551" y="149"/>
                  </a:lnTo>
                  <a:lnTo>
                    <a:pt x="549" y="147"/>
                  </a:lnTo>
                  <a:lnTo>
                    <a:pt x="547" y="147"/>
                  </a:lnTo>
                  <a:lnTo>
                    <a:pt x="543" y="143"/>
                  </a:lnTo>
                  <a:lnTo>
                    <a:pt x="539" y="141"/>
                  </a:lnTo>
                  <a:lnTo>
                    <a:pt x="535" y="137"/>
                  </a:lnTo>
                  <a:lnTo>
                    <a:pt x="535" y="137"/>
                  </a:lnTo>
                  <a:lnTo>
                    <a:pt x="533" y="137"/>
                  </a:lnTo>
                  <a:lnTo>
                    <a:pt x="533" y="137"/>
                  </a:lnTo>
                  <a:lnTo>
                    <a:pt x="533" y="139"/>
                  </a:lnTo>
                  <a:lnTo>
                    <a:pt x="533" y="139"/>
                  </a:lnTo>
                  <a:lnTo>
                    <a:pt x="533" y="139"/>
                  </a:lnTo>
                  <a:lnTo>
                    <a:pt x="532" y="139"/>
                  </a:lnTo>
                  <a:lnTo>
                    <a:pt x="532" y="139"/>
                  </a:lnTo>
                  <a:lnTo>
                    <a:pt x="532" y="139"/>
                  </a:lnTo>
                  <a:lnTo>
                    <a:pt x="530" y="139"/>
                  </a:lnTo>
                  <a:lnTo>
                    <a:pt x="530" y="139"/>
                  </a:lnTo>
                  <a:lnTo>
                    <a:pt x="526" y="135"/>
                  </a:lnTo>
                  <a:lnTo>
                    <a:pt x="524" y="132"/>
                  </a:lnTo>
                  <a:lnTo>
                    <a:pt x="522" y="130"/>
                  </a:lnTo>
                  <a:lnTo>
                    <a:pt x="522" y="130"/>
                  </a:lnTo>
                  <a:lnTo>
                    <a:pt x="520" y="130"/>
                  </a:lnTo>
                  <a:lnTo>
                    <a:pt x="513" y="132"/>
                  </a:lnTo>
                  <a:lnTo>
                    <a:pt x="513" y="132"/>
                  </a:lnTo>
                  <a:lnTo>
                    <a:pt x="511" y="130"/>
                  </a:lnTo>
                  <a:lnTo>
                    <a:pt x="509" y="130"/>
                  </a:lnTo>
                  <a:lnTo>
                    <a:pt x="505" y="130"/>
                  </a:lnTo>
                  <a:lnTo>
                    <a:pt x="505" y="128"/>
                  </a:lnTo>
                  <a:lnTo>
                    <a:pt x="505" y="126"/>
                  </a:lnTo>
                  <a:lnTo>
                    <a:pt x="507" y="124"/>
                  </a:lnTo>
                  <a:lnTo>
                    <a:pt x="505" y="124"/>
                  </a:lnTo>
                  <a:lnTo>
                    <a:pt x="505" y="122"/>
                  </a:lnTo>
                  <a:lnTo>
                    <a:pt x="505" y="120"/>
                  </a:lnTo>
                  <a:lnTo>
                    <a:pt x="505" y="118"/>
                  </a:lnTo>
                  <a:lnTo>
                    <a:pt x="505" y="116"/>
                  </a:lnTo>
                  <a:lnTo>
                    <a:pt x="505" y="115"/>
                  </a:lnTo>
                  <a:lnTo>
                    <a:pt x="505" y="113"/>
                  </a:lnTo>
                  <a:lnTo>
                    <a:pt x="503" y="111"/>
                  </a:lnTo>
                  <a:lnTo>
                    <a:pt x="501" y="109"/>
                  </a:lnTo>
                  <a:lnTo>
                    <a:pt x="499" y="109"/>
                  </a:lnTo>
                  <a:lnTo>
                    <a:pt x="499" y="111"/>
                  </a:lnTo>
                  <a:lnTo>
                    <a:pt x="497" y="113"/>
                  </a:lnTo>
                  <a:lnTo>
                    <a:pt x="495" y="113"/>
                  </a:lnTo>
                  <a:lnTo>
                    <a:pt x="495" y="113"/>
                  </a:lnTo>
                  <a:lnTo>
                    <a:pt x="493" y="113"/>
                  </a:lnTo>
                  <a:lnTo>
                    <a:pt x="493" y="113"/>
                  </a:lnTo>
                  <a:lnTo>
                    <a:pt x="493" y="111"/>
                  </a:lnTo>
                  <a:lnTo>
                    <a:pt x="493" y="109"/>
                  </a:lnTo>
                  <a:lnTo>
                    <a:pt x="493" y="107"/>
                  </a:lnTo>
                  <a:lnTo>
                    <a:pt x="493" y="107"/>
                  </a:lnTo>
                  <a:lnTo>
                    <a:pt x="495" y="105"/>
                  </a:lnTo>
                  <a:lnTo>
                    <a:pt x="495" y="105"/>
                  </a:lnTo>
                  <a:lnTo>
                    <a:pt x="495" y="103"/>
                  </a:lnTo>
                  <a:lnTo>
                    <a:pt x="493" y="103"/>
                  </a:lnTo>
                  <a:lnTo>
                    <a:pt x="493" y="103"/>
                  </a:lnTo>
                  <a:lnTo>
                    <a:pt x="493" y="101"/>
                  </a:lnTo>
                  <a:lnTo>
                    <a:pt x="490" y="101"/>
                  </a:lnTo>
                  <a:lnTo>
                    <a:pt x="490" y="101"/>
                  </a:lnTo>
                  <a:lnTo>
                    <a:pt x="488" y="99"/>
                  </a:lnTo>
                  <a:lnTo>
                    <a:pt x="488" y="99"/>
                  </a:lnTo>
                  <a:lnTo>
                    <a:pt x="486" y="97"/>
                  </a:lnTo>
                  <a:lnTo>
                    <a:pt x="486" y="96"/>
                  </a:lnTo>
                  <a:lnTo>
                    <a:pt x="486" y="96"/>
                  </a:lnTo>
                  <a:lnTo>
                    <a:pt x="484" y="96"/>
                  </a:lnTo>
                  <a:lnTo>
                    <a:pt x="484" y="94"/>
                  </a:lnTo>
                  <a:lnTo>
                    <a:pt x="480" y="96"/>
                  </a:lnTo>
                  <a:lnTo>
                    <a:pt x="480" y="94"/>
                  </a:lnTo>
                  <a:lnTo>
                    <a:pt x="480" y="94"/>
                  </a:lnTo>
                  <a:lnTo>
                    <a:pt x="482" y="90"/>
                  </a:lnTo>
                  <a:lnTo>
                    <a:pt x="482" y="88"/>
                  </a:lnTo>
                  <a:lnTo>
                    <a:pt x="482" y="86"/>
                  </a:lnTo>
                  <a:lnTo>
                    <a:pt x="482" y="84"/>
                  </a:lnTo>
                  <a:lnTo>
                    <a:pt x="482" y="82"/>
                  </a:lnTo>
                  <a:lnTo>
                    <a:pt x="482" y="82"/>
                  </a:lnTo>
                  <a:lnTo>
                    <a:pt x="484" y="80"/>
                  </a:lnTo>
                  <a:lnTo>
                    <a:pt x="486" y="80"/>
                  </a:lnTo>
                  <a:lnTo>
                    <a:pt x="486" y="80"/>
                  </a:lnTo>
                  <a:lnTo>
                    <a:pt x="486" y="78"/>
                  </a:lnTo>
                  <a:lnTo>
                    <a:pt x="486" y="77"/>
                  </a:lnTo>
                  <a:lnTo>
                    <a:pt x="486" y="75"/>
                  </a:lnTo>
                  <a:lnTo>
                    <a:pt x="484" y="73"/>
                  </a:lnTo>
                  <a:lnTo>
                    <a:pt x="484" y="73"/>
                  </a:lnTo>
                  <a:lnTo>
                    <a:pt x="484" y="73"/>
                  </a:lnTo>
                  <a:lnTo>
                    <a:pt x="484" y="71"/>
                  </a:lnTo>
                  <a:lnTo>
                    <a:pt x="484" y="69"/>
                  </a:lnTo>
                  <a:lnTo>
                    <a:pt x="484" y="67"/>
                  </a:lnTo>
                  <a:lnTo>
                    <a:pt x="480" y="63"/>
                  </a:lnTo>
                  <a:lnTo>
                    <a:pt x="480" y="61"/>
                  </a:lnTo>
                  <a:lnTo>
                    <a:pt x="478" y="63"/>
                  </a:lnTo>
                  <a:lnTo>
                    <a:pt x="478" y="63"/>
                  </a:lnTo>
                  <a:lnTo>
                    <a:pt x="476" y="67"/>
                  </a:lnTo>
                  <a:lnTo>
                    <a:pt x="476" y="67"/>
                  </a:lnTo>
                  <a:lnTo>
                    <a:pt x="476" y="69"/>
                  </a:lnTo>
                  <a:lnTo>
                    <a:pt x="474" y="69"/>
                  </a:lnTo>
                  <a:lnTo>
                    <a:pt x="471" y="71"/>
                  </a:lnTo>
                  <a:lnTo>
                    <a:pt x="471" y="71"/>
                  </a:lnTo>
                  <a:lnTo>
                    <a:pt x="469" y="71"/>
                  </a:lnTo>
                  <a:lnTo>
                    <a:pt x="467" y="67"/>
                  </a:lnTo>
                  <a:lnTo>
                    <a:pt x="467" y="67"/>
                  </a:lnTo>
                  <a:lnTo>
                    <a:pt x="467" y="65"/>
                  </a:lnTo>
                  <a:lnTo>
                    <a:pt x="465" y="65"/>
                  </a:lnTo>
                  <a:lnTo>
                    <a:pt x="465" y="63"/>
                  </a:lnTo>
                  <a:lnTo>
                    <a:pt x="463" y="63"/>
                  </a:lnTo>
                  <a:lnTo>
                    <a:pt x="463" y="61"/>
                  </a:lnTo>
                  <a:lnTo>
                    <a:pt x="461" y="61"/>
                  </a:lnTo>
                  <a:lnTo>
                    <a:pt x="461" y="59"/>
                  </a:lnTo>
                  <a:lnTo>
                    <a:pt x="459" y="59"/>
                  </a:lnTo>
                  <a:lnTo>
                    <a:pt x="457" y="57"/>
                  </a:lnTo>
                  <a:lnTo>
                    <a:pt x="457" y="57"/>
                  </a:lnTo>
                  <a:lnTo>
                    <a:pt x="457" y="56"/>
                  </a:lnTo>
                  <a:lnTo>
                    <a:pt x="455" y="52"/>
                  </a:lnTo>
                  <a:lnTo>
                    <a:pt x="455" y="52"/>
                  </a:lnTo>
                  <a:lnTo>
                    <a:pt x="455" y="50"/>
                  </a:lnTo>
                  <a:lnTo>
                    <a:pt x="457" y="44"/>
                  </a:lnTo>
                  <a:lnTo>
                    <a:pt x="457" y="42"/>
                  </a:lnTo>
                  <a:lnTo>
                    <a:pt x="459" y="42"/>
                  </a:lnTo>
                  <a:lnTo>
                    <a:pt x="459" y="40"/>
                  </a:lnTo>
                  <a:lnTo>
                    <a:pt x="459" y="40"/>
                  </a:lnTo>
                  <a:lnTo>
                    <a:pt x="459" y="40"/>
                  </a:lnTo>
                  <a:lnTo>
                    <a:pt x="461" y="38"/>
                  </a:lnTo>
                  <a:lnTo>
                    <a:pt x="461" y="38"/>
                  </a:lnTo>
                  <a:lnTo>
                    <a:pt x="461" y="38"/>
                  </a:lnTo>
                  <a:lnTo>
                    <a:pt x="463" y="38"/>
                  </a:lnTo>
                  <a:lnTo>
                    <a:pt x="465" y="38"/>
                  </a:lnTo>
                  <a:lnTo>
                    <a:pt x="465" y="38"/>
                  </a:lnTo>
                  <a:lnTo>
                    <a:pt x="467" y="38"/>
                  </a:lnTo>
                  <a:lnTo>
                    <a:pt x="467" y="38"/>
                  </a:lnTo>
                  <a:lnTo>
                    <a:pt x="467" y="37"/>
                  </a:lnTo>
                  <a:lnTo>
                    <a:pt x="467" y="35"/>
                  </a:lnTo>
                  <a:lnTo>
                    <a:pt x="467" y="35"/>
                  </a:lnTo>
                  <a:lnTo>
                    <a:pt x="467" y="35"/>
                  </a:lnTo>
                  <a:lnTo>
                    <a:pt x="467" y="33"/>
                  </a:lnTo>
                  <a:lnTo>
                    <a:pt x="465" y="33"/>
                  </a:lnTo>
                  <a:lnTo>
                    <a:pt x="465" y="35"/>
                  </a:lnTo>
                  <a:lnTo>
                    <a:pt x="465" y="35"/>
                  </a:lnTo>
                  <a:lnTo>
                    <a:pt x="463" y="35"/>
                  </a:lnTo>
                  <a:lnTo>
                    <a:pt x="463" y="35"/>
                  </a:lnTo>
                  <a:lnTo>
                    <a:pt x="459" y="33"/>
                  </a:lnTo>
                  <a:lnTo>
                    <a:pt x="457" y="33"/>
                  </a:lnTo>
                  <a:lnTo>
                    <a:pt x="457" y="33"/>
                  </a:lnTo>
                  <a:lnTo>
                    <a:pt x="455" y="31"/>
                  </a:lnTo>
                  <a:lnTo>
                    <a:pt x="455" y="31"/>
                  </a:lnTo>
                  <a:lnTo>
                    <a:pt x="455" y="31"/>
                  </a:lnTo>
                  <a:lnTo>
                    <a:pt x="457" y="29"/>
                  </a:lnTo>
                  <a:lnTo>
                    <a:pt x="457" y="25"/>
                  </a:lnTo>
                  <a:lnTo>
                    <a:pt x="457" y="23"/>
                  </a:lnTo>
                  <a:lnTo>
                    <a:pt x="457" y="23"/>
                  </a:lnTo>
                  <a:lnTo>
                    <a:pt x="457" y="23"/>
                  </a:lnTo>
                  <a:lnTo>
                    <a:pt x="457" y="21"/>
                  </a:lnTo>
                  <a:lnTo>
                    <a:pt x="457" y="21"/>
                  </a:lnTo>
                  <a:lnTo>
                    <a:pt x="455" y="21"/>
                  </a:lnTo>
                  <a:lnTo>
                    <a:pt x="455" y="21"/>
                  </a:lnTo>
                  <a:lnTo>
                    <a:pt x="453" y="21"/>
                  </a:lnTo>
                  <a:lnTo>
                    <a:pt x="450" y="23"/>
                  </a:lnTo>
                  <a:lnTo>
                    <a:pt x="450" y="23"/>
                  </a:lnTo>
                  <a:lnTo>
                    <a:pt x="448" y="23"/>
                  </a:lnTo>
                  <a:lnTo>
                    <a:pt x="448" y="23"/>
                  </a:lnTo>
                  <a:lnTo>
                    <a:pt x="448" y="23"/>
                  </a:lnTo>
                  <a:lnTo>
                    <a:pt x="446" y="25"/>
                  </a:lnTo>
                  <a:lnTo>
                    <a:pt x="446" y="25"/>
                  </a:lnTo>
                  <a:lnTo>
                    <a:pt x="446" y="25"/>
                  </a:lnTo>
                  <a:lnTo>
                    <a:pt x="446" y="27"/>
                  </a:lnTo>
                  <a:lnTo>
                    <a:pt x="446" y="27"/>
                  </a:lnTo>
                  <a:lnTo>
                    <a:pt x="446" y="29"/>
                  </a:lnTo>
                  <a:lnTo>
                    <a:pt x="446" y="29"/>
                  </a:lnTo>
                  <a:lnTo>
                    <a:pt x="444" y="29"/>
                  </a:lnTo>
                  <a:lnTo>
                    <a:pt x="444" y="31"/>
                  </a:lnTo>
                  <a:lnTo>
                    <a:pt x="444" y="31"/>
                  </a:lnTo>
                  <a:lnTo>
                    <a:pt x="444" y="31"/>
                  </a:lnTo>
                  <a:lnTo>
                    <a:pt x="444" y="31"/>
                  </a:lnTo>
                  <a:lnTo>
                    <a:pt x="444" y="33"/>
                  </a:lnTo>
                  <a:lnTo>
                    <a:pt x="444" y="33"/>
                  </a:lnTo>
                  <a:lnTo>
                    <a:pt x="444" y="33"/>
                  </a:lnTo>
                  <a:lnTo>
                    <a:pt x="444" y="35"/>
                  </a:lnTo>
                  <a:lnTo>
                    <a:pt x="442" y="35"/>
                  </a:lnTo>
                  <a:lnTo>
                    <a:pt x="440" y="37"/>
                  </a:lnTo>
                  <a:lnTo>
                    <a:pt x="440" y="37"/>
                  </a:lnTo>
                  <a:lnTo>
                    <a:pt x="438" y="37"/>
                  </a:lnTo>
                  <a:lnTo>
                    <a:pt x="434" y="35"/>
                  </a:lnTo>
                  <a:lnTo>
                    <a:pt x="432" y="35"/>
                  </a:lnTo>
                  <a:lnTo>
                    <a:pt x="429" y="35"/>
                  </a:lnTo>
                  <a:lnTo>
                    <a:pt x="425" y="35"/>
                  </a:lnTo>
                  <a:lnTo>
                    <a:pt x="423" y="35"/>
                  </a:lnTo>
                  <a:lnTo>
                    <a:pt x="421" y="33"/>
                  </a:lnTo>
                  <a:lnTo>
                    <a:pt x="421" y="33"/>
                  </a:lnTo>
                  <a:lnTo>
                    <a:pt x="419" y="31"/>
                  </a:lnTo>
                  <a:lnTo>
                    <a:pt x="419" y="31"/>
                  </a:lnTo>
                  <a:lnTo>
                    <a:pt x="417" y="27"/>
                  </a:lnTo>
                  <a:lnTo>
                    <a:pt x="417" y="27"/>
                  </a:lnTo>
                  <a:lnTo>
                    <a:pt x="417" y="27"/>
                  </a:lnTo>
                  <a:lnTo>
                    <a:pt x="415" y="25"/>
                  </a:lnTo>
                  <a:lnTo>
                    <a:pt x="415" y="25"/>
                  </a:lnTo>
                  <a:lnTo>
                    <a:pt x="413" y="25"/>
                  </a:lnTo>
                  <a:lnTo>
                    <a:pt x="412" y="25"/>
                  </a:lnTo>
                  <a:lnTo>
                    <a:pt x="412" y="25"/>
                  </a:lnTo>
                  <a:lnTo>
                    <a:pt x="406" y="21"/>
                  </a:lnTo>
                  <a:lnTo>
                    <a:pt x="406" y="21"/>
                  </a:lnTo>
                  <a:lnTo>
                    <a:pt x="404" y="21"/>
                  </a:lnTo>
                  <a:lnTo>
                    <a:pt x="402" y="21"/>
                  </a:lnTo>
                  <a:lnTo>
                    <a:pt x="402" y="21"/>
                  </a:lnTo>
                  <a:lnTo>
                    <a:pt x="402" y="21"/>
                  </a:lnTo>
                  <a:lnTo>
                    <a:pt x="402" y="21"/>
                  </a:lnTo>
                  <a:lnTo>
                    <a:pt x="402" y="23"/>
                  </a:lnTo>
                  <a:lnTo>
                    <a:pt x="400" y="29"/>
                  </a:lnTo>
                  <a:lnTo>
                    <a:pt x="400" y="29"/>
                  </a:lnTo>
                  <a:lnTo>
                    <a:pt x="400" y="29"/>
                  </a:lnTo>
                  <a:lnTo>
                    <a:pt x="400" y="29"/>
                  </a:lnTo>
                  <a:lnTo>
                    <a:pt x="398" y="29"/>
                  </a:lnTo>
                  <a:lnTo>
                    <a:pt x="398" y="29"/>
                  </a:lnTo>
                  <a:lnTo>
                    <a:pt x="398" y="29"/>
                  </a:lnTo>
                  <a:lnTo>
                    <a:pt x="396" y="29"/>
                  </a:lnTo>
                  <a:lnTo>
                    <a:pt x="396" y="27"/>
                  </a:lnTo>
                  <a:lnTo>
                    <a:pt x="394" y="25"/>
                  </a:lnTo>
                  <a:lnTo>
                    <a:pt x="394" y="25"/>
                  </a:lnTo>
                  <a:lnTo>
                    <a:pt x="394" y="23"/>
                  </a:lnTo>
                  <a:lnTo>
                    <a:pt x="394" y="23"/>
                  </a:lnTo>
                  <a:lnTo>
                    <a:pt x="394" y="21"/>
                  </a:lnTo>
                  <a:lnTo>
                    <a:pt x="394" y="21"/>
                  </a:lnTo>
                  <a:lnTo>
                    <a:pt x="394" y="21"/>
                  </a:lnTo>
                  <a:lnTo>
                    <a:pt x="394" y="19"/>
                  </a:lnTo>
                  <a:lnTo>
                    <a:pt x="392" y="19"/>
                  </a:lnTo>
                  <a:lnTo>
                    <a:pt x="391" y="19"/>
                  </a:lnTo>
                  <a:lnTo>
                    <a:pt x="391" y="19"/>
                  </a:lnTo>
                  <a:lnTo>
                    <a:pt x="389" y="19"/>
                  </a:lnTo>
                  <a:lnTo>
                    <a:pt x="389" y="19"/>
                  </a:lnTo>
                  <a:lnTo>
                    <a:pt x="387" y="19"/>
                  </a:lnTo>
                  <a:lnTo>
                    <a:pt x="387" y="18"/>
                  </a:lnTo>
                  <a:lnTo>
                    <a:pt x="387" y="18"/>
                  </a:lnTo>
                  <a:lnTo>
                    <a:pt x="387" y="18"/>
                  </a:lnTo>
                  <a:lnTo>
                    <a:pt x="387" y="18"/>
                  </a:lnTo>
                  <a:lnTo>
                    <a:pt x="385" y="16"/>
                  </a:lnTo>
                  <a:lnTo>
                    <a:pt x="383" y="16"/>
                  </a:lnTo>
                  <a:lnTo>
                    <a:pt x="381" y="16"/>
                  </a:lnTo>
                  <a:lnTo>
                    <a:pt x="381" y="16"/>
                  </a:lnTo>
                  <a:lnTo>
                    <a:pt x="379" y="14"/>
                  </a:lnTo>
                  <a:lnTo>
                    <a:pt x="379" y="14"/>
                  </a:lnTo>
                  <a:lnTo>
                    <a:pt x="377" y="12"/>
                  </a:lnTo>
                  <a:lnTo>
                    <a:pt x="379" y="12"/>
                  </a:lnTo>
                  <a:lnTo>
                    <a:pt x="379" y="12"/>
                  </a:lnTo>
                  <a:lnTo>
                    <a:pt x="379" y="12"/>
                  </a:lnTo>
                  <a:lnTo>
                    <a:pt x="383" y="12"/>
                  </a:lnTo>
                  <a:lnTo>
                    <a:pt x="385" y="10"/>
                  </a:lnTo>
                  <a:lnTo>
                    <a:pt x="385" y="10"/>
                  </a:lnTo>
                  <a:lnTo>
                    <a:pt x="387" y="10"/>
                  </a:lnTo>
                  <a:lnTo>
                    <a:pt x="387" y="10"/>
                  </a:lnTo>
                  <a:lnTo>
                    <a:pt x="387" y="8"/>
                  </a:lnTo>
                  <a:lnTo>
                    <a:pt x="385" y="8"/>
                  </a:lnTo>
                  <a:lnTo>
                    <a:pt x="385" y="8"/>
                  </a:lnTo>
                  <a:lnTo>
                    <a:pt x="383" y="8"/>
                  </a:lnTo>
                  <a:lnTo>
                    <a:pt x="379" y="8"/>
                  </a:lnTo>
                  <a:lnTo>
                    <a:pt x="373" y="10"/>
                  </a:lnTo>
                  <a:lnTo>
                    <a:pt x="371" y="8"/>
                  </a:lnTo>
                  <a:lnTo>
                    <a:pt x="364" y="6"/>
                  </a:lnTo>
                  <a:lnTo>
                    <a:pt x="362" y="6"/>
                  </a:lnTo>
                  <a:lnTo>
                    <a:pt x="362" y="2"/>
                  </a:lnTo>
                  <a:lnTo>
                    <a:pt x="360" y="2"/>
                  </a:lnTo>
                  <a:lnTo>
                    <a:pt x="360" y="0"/>
                  </a:lnTo>
                  <a:lnTo>
                    <a:pt x="358" y="2"/>
                  </a:lnTo>
                  <a:lnTo>
                    <a:pt x="354" y="2"/>
                  </a:lnTo>
                  <a:lnTo>
                    <a:pt x="352" y="2"/>
                  </a:lnTo>
                  <a:lnTo>
                    <a:pt x="352" y="4"/>
                  </a:lnTo>
                  <a:lnTo>
                    <a:pt x="351" y="4"/>
                  </a:lnTo>
                  <a:lnTo>
                    <a:pt x="351" y="6"/>
                  </a:lnTo>
                  <a:lnTo>
                    <a:pt x="349" y="6"/>
                  </a:lnTo>
                  <a:lnTo>
                    <a:pt x="349" y="6"/>
                  </a:lnTo>
                  <a:lnTo>
                    <a:pt x="347" y="6"/>
                  </a:lnTo>
                  <a:lnTo>
                    <a:pt x="345" y="6"/>
                  </a:lnTo>
                  <a:lnTo>
                    <a:pt x="345" y="4"/>
                  </a:lnTo>
                  <a:lnTo>
                    <a:pt x="345" y="4"/>
                  </a:lnTo>
                  <a:lnTo>
                    <a:pt x="343" y="4"/>
                  </a:lnTo>
                  <a:lnTo>
                    <a:pt x="343" y="4"/>
                  </a:lnTo>
                  <a:lnTo>
                    <a:pt x="341" y="4"/>
                  </a:lnTo>
                  <a:lnTo>
                    <a:pt x="339" y="4"/>
                  </a:lnTo>
                  <a:lnTo>
                    <a:pt x="339" y="6"/>
                  </a:lnTo>
                  <a:lnTo>
                    <a:pt x="339" y="6"/>
                  </a:lnTo>
                  <a:lnTo>
                    <a:pt x="339" y="8"/>
                  </a:lnTo>
                  <a:lnTo>
                    <a:pt x="339" y="8"/>
                  </a:lnTo>
                  <a:lnTo>
                    <a:pt x="339" y="8"/>
                  </a:lnTo>
                  <a:lnTo>
                    <a:pt x="337" y="8"/>
                  </a:lnTo>
                  <a:lnTo>
                    <a:pt x="335" y="8"/>
                  </a:lnTo>
                  <a:lnTo>
                    <a:pt x="335" y="8"/>
                  </a:lnTo>
                  <a:lnTo>
                    <a:pt x="333" y="6"/>
                  </a:lnTo>
                  <a:lnTo>
                    <a:pt x="333" y="4"/>
                  </a:lnTo>
                  <a:lnTo>
                    <a:pt x="333" y="4"/>
                  </a:lnTo>
                  <a:lnTo>
                    <a:pt x="331" y="4"/>
                  </a:lnTo>
                  <a:lnTo>
                    <a:pt x="324" y="6"/>
                  </a:lnTo>
                  <a:lnTo>
                    <a:pt x="322" y="6"/>
                  </a:lnTo>
                  <a:lnTo>
                    <a:pt x="320" y="6"/>
                  </a:lnTo>
                  <a:lnTo>
                    <a:pt x="320" y="6"/>
                  </a:lnTo>
                  <a:lnTo>
                    <a:pt x="318" y="4"/>
                  </a:lnTo>
                  <a:lnTo>
                    <a:pt x="316" y="4"/>
                  </a:lnTo>
                  <a:lnTo>
                    <a:pt x="312" y="4"/>
                  </a:lnTo>
                  <a:lnTo>
                    <a:pt x="307" y="4"/>
                  </a:lnTo>
                  <a:lnTo>
                    <a:pt x="305" y="4"/>
                  </a:lnTo>
                  <a:lnTo>
                    <a:pt x="303" y="4"/>
                  </a:lnTo>
                  <a:lnTo>
                    <a:pt x="301" y="6"/>
                  </a:lnTo>
                  <a:lnTo>
                    <a:pt x="299" y="8"/>
                  </a:lnTo>
                  <a:lnTo>
                    <a:pt x="297" y="8"/>
                  </a:lnTo>
                  <a:lnTo>
                    <a:pt x="295" y="8"/>
                  </a:lnTo>
                  <a:lnTo>
                    <a:pt x="293" y="6"/>
                  </a:lnTo>
                  <a:lnTo>
                    <a:pt x="293" y="6"/>
                  </a:lnTo>
                  <a:lnTo>
                    <a:pt x="290" y="6"/>
                  </a:lnTo>
                  <a:lnTo>
                    <a:pt x="290" y="6"/>
                  </a:lnTo>
                  <a:lnTo>
                    <a:pt x="288" y="8"/>
                  </a:lnTo>
                  <a:lnTo>
                    <a:pt x="286" y="8"/>
                  </a:lnTo>
                  <a:lnTo>
                    <a:pt x="284" y="8"/>
                  </a:lnTo>
                  <a:lnTo>
                    <a:pt x="284" y="8"/>
                  </a:lnTo>
                  <a:lnTo>
                    <a:pt x="274" y="6"/>
                  </a:lnTo>
                  <a:lnTo>
                    <a:pt x="270" y="4"/>
                  </a:lnTo>
                  <a:lnTo>
                    <a:pt x="269" y="2"/>
                  </a:lnTo>
                  <a:lnTo>
                    <a:pt x="269" y="4"/>
                  </a:lnTo>
                  <a:lnTo>
                    <a:pt x="267" y="6"/>
                  </a:lnTo>
                  <a:lnTo>
                    <a:pt x="261" y="8"/>
                  </a:lnTo>
                  <a:lnTo>
                    <a:pt x="259" y="10"/>
                  </a:lnTo>
                  <a:lnTo>
                    <a:pt x="259" y="14"/>
                  </a:lnTo>
                  <a:lnTo>
                    <a:pt x="259" y="18"/>
                  </a:lnTo>
                  <a:lnTo>
                    <a:pt x="261" y="18"/>
                  </a:lnTo>
                  <a:lnTo>
                    <a:pt x="261" y="19"/>
                  </a:lnTo>
                  <a:lnTo>
                    <a:pt x="261" y="19"/>
                  </a:lnTo>
                  <a:lnTo>
                    <a:pt x="261" y="19"/>
                  </a:lnTo>
                  <a:lnTo>
                    <a:pt x="261" y="21"/>
                  </a:lnTo>
                  <a:lnTo>
                    <a:pt x="261" y="23"/>
                  </a:lnTo>
                  <a:lnTo>
                    <a:pt x="261" y="23"/>
                  </a:lnTo>
                  <a:lnTo>
                    <a:pt x="261" y="25"/>
                  </a:lnTo>
                  <a:lnTo>
                    <a:pt x="261" y="25"/>
                  </a:lnTo>
                  <a:lnTo>
                    <a:pt x="261" y="25"/>
                  </a:lnTo>
                  <a:lnTo>
                    <a:pt x="263" y="27"/>
                  </a:lnTo>
                  <a:lnTo>
                    <a:pt x="267" y="27"/>
                  </a:lnTo>
                  <a:lnTo>
                    <a:pt x="270" y="29"/>
                  </a:lnTo>
                  <a:lnTo>
                    <a:pt x="270" y="31"/>
                  </a:lnTo>
                  <a:lnTo>
                    <a:pt x="270" y="33"/>
                  </a:lnTo>
                  <a:lnTo>
                    <a:pt x="265" y="35"/>
                  </a:lnTo>
                  <a:lnTo>
                    <a:pt x="265" y="35"/>
                  </a:lnTo>
                  <a:lnTo>
                    <a:pt x="263" y="37"/>
                  </a:lnTo>
                  <a:lnTo>
                    <a:pt x="263" y="37"/>
                  </a:lnTo>
                  <a:lnTo>
                    <a:pt x="261" y="37"/>
                  </a:lnTo>
                  <a:lnTo>
                    <a:pt x="259" y="37"/>
                  </a:lnTo>
                  <a:lnTo>
                    <a:pt x="257" y="37"/>
                  </a:lnTo>
                  <a:lnTo>
                    <a:pt x="255" y="37"/>
                  </a:lnTo>
                  <a:lnTo>
                    <a:pt x="250" y="40"/>
                  </a:lnTo>
                  <a:lnTo>
                    <a:pt x="248" y="42"/>
                  </a:lnTo>
                  <a:lnTo>
                    <a:pt x="250" y="44"/>
                  </a:lnTo>
                  <a:lnTo>
                    <a:pt x="250" y="46"/>
                  </a:lnTo>
                  <a:lnTo>
                    <a:pt x="250" y="46"/>
                  </a:lnTo>
                  <a:lnTo>
                    <a:pt x="248" y="46"/>
                  </a:lnTo>
                  <a:lnTo>
                    <a:pt x="246" y="48"/>
                  </a:lnTo>
                  <a:lnTo>
                    <a:pt x="242" y="50"/>
                  </a:lnTo>
                  <a:lnTo>
                    <a:pt x="240" y="50"/>
                  </a:lnTo>
                  <a:lnTo>
                    <a:pt x="229" y="48"/>
                  </a:lnTo>
                  <a:lnTo>
                    <a:pt x="225" y="46"/>
                  </a:lnTo>
                  <a:lnTo>
                    <a:pt x="223" y="46"/>
                  </a:lnTo>
                  <a:lnTo>
                    <a:pt x="223" y="44"/>
                  </a:lnTo>
                  <a:lnTo>
                    <a:pt x="221" y="40"/>
                  </a:lnTo>
                  <a:lnTo>
                    <a:pt x="221" y="37"/>
                  </a:lnTo>
                  <a:lnTo>
                    <a:pt x="221" y="35"/>
                  </a:lnTo>
                  <a:lnTo>
                    <a:pt x="221" y="35"/>
                  </a:lnTo>
                  <a:lnTo>
                    <a:pt x="223" y="33"/>
                  </a:lnTo>
                  <a:lnTo>
                    <a:pt x="223" y="33"/>
                  </a:lnTo>
                  <a:lnTo>
                    <a:pt x="223" y="31"/>
                  </a:lnTo>
                  <a:lnTo>
                    <a:pt x="219" y="31"/>
                  </a:lnTo>
                  <a:lnTo>
                    <a:pt x="210" y="33"/>
                  </a:lnTo>
                  <a:lnTo>
                    <a:pt x="206" y="35"/>
                  </a:lnTo>
                  <a:lnTo>
                    <a:pt x="204" y="37"/>
                  </a:lnTo>
                  <a:lnTo>
                    <a:pt x="198" y="37"/>
                  </a:lnTo>
                  <a:lnTo>
                    <a:pt x="196" y="37"/>
                  </a:lnTo>
                  <a:lnTo>
                    <a:pt x="192" y="40"/>
                  </a:lnTo>
                  <a:lnTo>
                    <a:pt x="190" y="40"/>
                  </a:lnTo>
                  <a:lnTo>
                    <a:pt x="189" y="40"/>
                  </a:lnTo>
                  <a:lnTo>
                    <a:pt x="185" y="42"/>
                  </a:lnTo>
                  <a:lnTo>
                    <a:pt x="181" y="42"/>
                  </a:lnTo>
                  <a:lnTo>
                    <a:pt x="179" y="42"/>
                  </a:lnTo>
                  <a:lnTo>
                    <a:pt x="179" y="44"/>
                  </a:lnTo>
                  <a:lnTo>
                    <a:pt x="177" y="50"/>
                  </a:lnTo>
                  <a:lnTo>
                    <a:pt x="175" y="52"/>
                  </a:lnTo>
                  <a:lnTo>
                    <a:pt x="171" y="56"/>
                  </a:lnTo>
                  <a:lnTo>
                    <a:pt x="168" y="56"/>
                  </a:lnTo>
                  <a:lnTo>
                    <a:pt x="149" y="56"/>
                  </a:lnTo>
                  <a:lnTo>
                    <a:pt x="145" y="56"/>
                  </a:lnTo>
                  <a:lnTo>
                    <a:pt x="141" y="54"/>
                  </a:lnTo>
                  <a:lnTo>
                    <a:pt x="133" y="46"/>
                  </a:lnTo>
                  <a:lnTo>
                    <a:pt x="129" y="44"/>
                  </a:lnTo>
                  <a:lnTo>
                    <a:pt x="105" y="44"/>
                  </a:lnTo>
                  <a:lnTo>
                    <a:pt x="97" y="46"/>
                  </a:lnTo>
                  <a:lnTo>
                    <a:pt x="93" y="48"/>
                  </a:lnTo>
                  <a:lnTo>
                    <a:pt x="91" y="46"/>
                  </a:lnTo>
                  <a:lnTo>
                    <a:pt x="88" y="44"/>
                  </a:lnTo>
                  <a:lnTo>
                    <a:pt x="84" y="44"/>
                  </a:lnTo>
                  <a:lnTo>
                    <a:pt x="82" y="44"/>
                  </a:lnTo>
                  <a:lnTo>
                    <a:pt x="80" y="46"/>
                  </a:lnTo>
                  <a:lnTo>
                    <a:pt x="76" y="48"/>
                  </a:lnTo>
                  <a:lnTo>
                    <a:pt x="74" y="46"/>
                  </a:lnTo>
                  <a:lnTo>
                    <a:pt x="74" y="46"/>
                  </a:lnTo>
                  <a:lnTo>
                    <a:pt x="72" y="42"/>
                  </a:lnTo>
                  <a:lnTo>
                    <a:pt x="70" y="42"/>
                  </a:lnTo>
                  <a:lnTo>
                    <a:pt x="70" y="40"/>
                  </a:lnTo>
                  <a:lnTo>
                    <a:pt x="69" y="40"/>
                  </a:lnTo>
                  <a:lnTo>
                    <a:pt x="69" y="40"/>
                  </a:lnTo>
                  <a:lnTo>
                    <a:pt x="69" y="40"/>
                  </a:lnTo>
                  <a:lnTo>
                    <a:pt x="67" y="42"/>
                  </a:lnTo>
                  <a:lnTo>
                    <a:pt x="67" y="42"/>
                  </a:lnTo>
                  <a:lnTo>
                    <a:pt x="65" y="48"/>
                  </a:lnTo>
                  <a:lnTo>
                    <a:pt x="63" y="50"/>
                  </a:lnTo>
                  <a:lnTo>
                    <a:pt x="61" y="48"/>
                  </a:lnTo>
                  <a:lnTo>
                    <a:pt x="61" y="42"/>
                  </a:lnTo>
                  <a:lnTo>
                    <a:pt x="59" y="40"/>
                  </a:lnTo>
                  <a:lnTo>
                    <a:pt x="55" y="40"/>
                  </a:lnTo>
                  <a:lnTo>
                    <a:pt x="53" y="44"/>
                  </a:lnTo>
                  <a:lnTo>
                    <a:pt x="53" y="52"/>
                  </a:lnTo>
                  <a:lnTo>
                    <a:pt x="53" y="63"/>
                  </a:lnTo>
                  <a:lnTo>
                    <a:pt x="53" y="77"/>
                  </a:lnTo>
                  <a:lnTo>
                    <a:pt x="46" y="77"/>
                  </a:lnTo>
                  <a:lnTo>
                    <a:pt x="36" y="77"/>
                  </a:lnTo>
                  <a:lnTo>
                    <a:pt x="27" y="77"/>
                  </a:lnTo>
                  <a:lnTo>
                    <a:pt x="21" y="77"/>
                  </a:lnTo>
                  <a:lnTo>
                    <a:pt x="19" y="78"/>
                  </a:lnTo>
                  <a:lnTo>
                    <a:pt x="19" y="78"/>
                  </a:lnTo>
                  <a:lnTo>
                    <a:pt x="19" y="77"/>
                  </a:lnTo>
                  <a:lnTo>
                    <a:pt x="19" y="77"/>
                  </a:lnTo>
                  <a:lnTo>
                    <a:pt x="17" y="77"/>
                  </a:lnTo>
                  <a:lnTo>
                    <a:pt x="17" y="77"/>
                  </a:lnTo>
                  <a:lnTo>
                    <a:pt x="17" y="77"/>
                  </a:lnTo>
                  <a:lnTo>
                    <a:pt x="17" y="78"/>
                  </a:lnTo>
                  <a:lnTo>
                    <a:pt x="17" y="78"/>
                  </a:lnTo>
                  <a:lnTo>
                    <a:pt x="15" y="80"/>
                  </a:lnTo>
                  <a:lnTo>
                    <a:pt x="15" y="82"/>
                  </a:lnTo>
                  <a:lnTo>
                    <a:pt x="13" y="82"/>
                  </a:lnTo>
                  <a:lnTo>
                    <a:pt x="13" y="82"/>
                  </a:lnTo>
                  <a:lnTo>
                    <a:pt x="11" y="80"/>
                  </a:lnTo>
                  <a:lnTo>
                    <a:pt x="11" y="80"/>
                  </a:lnTo>
                  <a:lnTo>
                    <a:pt x="11" y="78"/>
                  </a:lnTo>
                  <a:lnTo>
                    <a:pt x="9" y="78"/>
                  </a:lnTo>
                  <a:lnTo>
                    <a:pt x="9" y="80"/>
                  </a:lnTo>
                  <a:lnTo>
                    <a:pt x="9" y="80"/>
                  </a:lnTo>
                  <a:lnTo>
                    <a:pt x="9" y="82"/>
                  </a:lnTo>
                  <a:lnTo>
                    <a:pt x="9" y="82"/>
                  </a:lnTo>
                  <a:lnTo>
                    <a:pt x="9" y="82"/>
                  </a:lnTo>
                  <a:lnTo>
                    <a:pt x="9" y="82"/>
                  </a:lnTo>
                  <a:lnTo>
                    <a:pt x="9" y="84"/>
                  </a:lnTo>
                  <a:lnTo>
                    <a:pt x="9" y="84"/>
                  </a:lnTo>
                  <a:lnTo>
                    <a:pt x="9" y="84"/>
                  </a:lnTo>
                  <a:lnTo>
                    <a:pt x="8" y="84"/>
                  </a:lnTo>
                  <a:lnTo>
                    <a:pt x="8" y="84"/>
                  </a:lnTo>
                  <a:lnTo>
                    <a:pt x="8" y="84"/>
                  </a:lnTo>
                  <a:lnTo>
                    <a:pt x="6" y="84"/>
                  </a:lnTo>
                  <a:lnTo>
                    <a:pt x="6" y="86"/>
                  </a:lnTo>
                  <a:lnTo>
                    <a:pt x="4" y="88"/>
                  </a:lnTo>
                  <a:lnTo>
                    <a:pt x="4" y="88"/>
                  </a:lnTo>
                  <a:lnTo>
                    <a:pt x="4" y="90"/>
                  </a:lnTo>
                  <a:lnTo>
                    <a:pt x="2" y="90"/>
                  </a:lnTo>
                  <a:lnTo>
                    <a:pt x="2" y="94"/>
                  </a:lnTo>
                  <a:lnTo>
                    <a:pt x="2" y="96"/>
                  </a:lnTo>
                  <a:lnTo>
                    <a:pt x="2" y="97"/>
                  </a:lnTo>
                  <a:lnTo>
                    <a:pt x="2" y="97"/>
                  </a:lnTo>
                  <a:lnTo>
                    <a:pt x="2" y="97"/>
                  </a:lnTo>
                  <a:lnTo>
                    <a:pt x="4" y="96"/>
                  </a:lnTo>
                  <a:lnTo>
                    <a:pt x="4" y="97"/>
                  </a:lnTo>
                  <a:lnTo>
                    <a:pt x="4" y="99"/>
                  </a:lnTo>
                  <a:lnTo>
                    <a:pt x="4" y="101"/>
                  </a:lnTo>
                  <a:lnTo>
                    <a:pt x="6" y="103"/>
                  </a:lnTo>
                  <a:lnTo>
                    <a:pt x="8" y="105"/>
                  </a:lnTo>
                  <a:lnTo>
                    <a:pt x="8" y="105"/>
                  </a:lnTo>
                  <a:lnTo>
                    <a:pt x="9" y="105"/>
                  </a:lnTo>
                  <a:lnTo>
                    <a:pt x="11" y="105"/>
                  </a:lnTo>
                  <a:lnTo>
                    <a:pt x="11" y="107"/>
                  </a:lnTo>
                  <a:lnTo>
                    <a:pt x="9" y="107"/>
                  </a:lnTo>
                  <a:lnTo>
                    <a:pt x="9" y="107"/>
                  </a:lnTo>
                  <a:lnTo>
                    <a:pt x="8" y="109"/>
                  </a:lnTo>
                  <a:lnTo>
                    <a:pt x="6" y="107"/>
                  </a:lnTo>
                  <a:lnTo>
                    <a:pt x="6" y="107"/>
                  </a:lnTo>
                  <a:lnTo>
                    <a:pt x="4" y="107"/>
                  </a:lnTo>
                  <a:lnTo>
                    <a:pt x="4" y="109"/>
                  </a:lnTo>
                  <a:lnTo>
                    <a:pt x="4" y="109"/>
                  </a:lnTo>
                  <a:lnTo>
                    <a:pt x="2" y="109"/>
                  </a:lnTo>
                  <a:lnTo>
                    <a:pt x="2" y="111"/>
                  </a:lnTo>
                  <a:lnTo>
                    <a:pt x="0" y="111"/>
                  </a:lnTo>
                  <a:lnTo>
                    <a:pt x="0" y="111"/>
                  </a:lnTo>
                  <a:lnTo>
                    <a:pt x="0" y="113"/>
                  </a:lnTo>
                  <a:lnTo>
                    <a:pt x="0" y="113"/>
                  </a:lnTo>
                  <a:lnTo>
                    <a:pt x="2" y="115"/>
                  </a:lnTo>
                  <a:lnTo>
                    <a:pt x="8" y="115"/>
                  </a:lnTo>
                  <a:lnTo>
                    <a:pt x="13" y="115"/>
                  </a:lnTo>
                  <a:lnTo>
                    <a:pt x="15" y="115"/>
                  </a:lnTo>
                  <a:lnTo>
                    <a:pt x="15" y="115"/>
                  </a:lnTo>
                  <a:lnTo>
                    <a:pt x="17" y="115"/>
                  </a:lnTo>
                  <a:lnTo>
                    <a:pt x="17" y="113"/>
                  </a:lnTo>
                  <a:lnTo>
                    <a:pt x="19" y="113"/>
                  </a:lnTo>
                  <a:lnTo>
                    <a:pt x="19" y="113"/>
                  </a:lnTo>
                  <a:lnTo>
                    <a:pt x="19" y="111"/>
                  </a:lnTo>
                  <a:lnTo>
                    <a:pt x="17" y="111"/>
                  </a:lnTo>
                  <a:lnTo>
                    <a:pt x="25" y="103"/>
                  </a:lnTo>
                  <a:lnTo>
                    <a:pt x="25" y="101"/>
                  </a:lnTo>
                  <a:lnTo>
                    <a:pt x="27" y="101"/>
                  </a:lnTo>
                  <a:lnTo>
                    <a:pt x="30" y="99"/>
                  </a:lnTo>
                  <a:lnTo>
                    <a:pt x="32" y="99"/>
                  </a:lnTo>
                  <a:lnTo>
                    <a:pt x="34" y="97"/>
                  </a:lnTo>
                  <a:lnTo>
                    <a:pt x="36" y="97"/>
                  </a:lnTo>
                  <a:lnTo>
                    <a:pt x="38" y="96"/>
                  </a:lnTo>
                  <a:lnTo>
                    <a:pt x="40" y="96"/>
                  </a:lnTo>
                  <a:lnTo>
                    <a:pt x="42" y="96"/>
                  </a:lnTo>
                  <a:lnTo>
                    <a:pt x="42" y="94"/>
                  </a:lnTo>
                  <a:lnTo>
                    <a:pt x="44" y="90"/>
                  </a:lnTo>
                  <a:lnTo>
                    <a:pt x="44" y="90"/>
                  </a:lnTo>
                  <a:lnTo>
                    <a:pt x="46" y="90"/>
                  </a:lnTo>
                  <a:lnTo>
                    <a:pt x="49" y="90"/>
                  </a:lnTo>
                  <a:lnTo>
                    <a:pt x="51" y="90"/>
                  </a:lnTo>
                  <a:lnTo>
                    <a:pt x="55" y="88"/>
                  </a:lnTo>
                  <a:lnTo>
                    <a:pt x="57" y="86"/>
                  </a:lnTo>
                  <a:lnTo>
                    <a:pt x="57" y="86"/>
                  </a:lnTo>
                  <a:lnTo>
                    <a:pt x="61" y="84"/>
                  </a:lnTo>
                  <a:lnTo>
                    <a:pt x="61" y="86"/>
                  </a:lnTo>
                  <a:lnTo>
                    <a:pt x="57" y="90"/>
                  </a:lnTo>
                  <a:lnTo>
                    <a:pt x="55" y="90"/>
                  </a:lnTo>
                  <a:lnTo>
                    <a:pt x="55" y="90"/>
                  </a:lnTo>
                  <a:lnTo>
                    <a:pt x="53" y="92"/>
                  </a:lnTo>
                  <a:lnTo>
                    <a:pt x="51" y="92"/>
                  </a:lnTo>
                  <a:lnTo>
                    <a:pt x="49" y="92"/>
                  </a:lnTo>
                  <a:lnTo>
                    <a:pt x="48" y="92"/>
                  </a:lnTo>
                  <a:lnTo>
                    <a:pt x="46" y="94"/>
                  </a:lnTo>
                  <a:lnTo>
                    <a:pt x="46" y="97"/>
                  </a:lnTo>
                  <a:lnTo>
                    <a:pt x="42" y="97"/>
                  </a:lnTo>
                  <a:lnTo>
                    <a:pt x="40" y="99"/>
                  </a:lnTo>
                  <a:lnTo>
                    <a:pt x="38" y="103"/>
                  </a:lnTo>
                  <a:lnTo>
                    <a:pt x="36" y="105"/>
                  </a:lnTo>
                  <a:lnTo>
                    <a:pt x="36" y="105"/>
                  </a:lnTo>
                  <a:lnTo>
                    <a:pt x="34" y="105"/>
                  </a:lnTo>
                  <a:lnTo>
                    <a:pt x="32" y="105"/>
                  </a:lnTo>
                  <a:lnTo>
                    <a:pt x="30" y="107"/>
                  </a:lnTo>
                  <a:lnTo>
                    <a:pt x="28" y="107"/>
                  </a:lnTo>
                  <a:lnTo>
                    <a:pt x="28" y="107"/>
                  </a:lnTo>
                  <a:lnTo>
                    <a:pt x="28" y="109"/>
                  </a:lnTo>
                  <a:lnTo>
                    <a:pt x="30" y="109"/>
                  </a:lnTo>
                  <a:lnTo>
                    <a:pt x="30" y="109"/>
                  </a:lnTo>
                  <a:lnTo>
                    <a:pt x="32" y="109"/>
                  </a:lnTo>
                  <a:lnTo>
                    <a:pt x="30" y="111"/>
                  </a:lnTo>
                  <a:lnTo>
                    <a:pt x="30" y="111"/>
                  </a:lnTo>
                  <a:lnTo>
                    <a:pt x="25" y="111"/>
                  </a:lnTo>
                  <a:lnTo>
                    <a:pt x="23" y="111"/>
                  </a:lnTo>
                  <a:lnTo>
                    <a:pt x="23" y="113"/>
                  </a:lnTo>
                  <a:lnTo>
                    <a:pt x="25" y="118"/>
                  </a:lnTo>
                  <a:lnTo>
                    <a:pt x="23" y="122"/>
                  </a:lnTo>
                  <a:lnTo>
                    <a:pt x="25" y="124"/>
                  </a:lnTo>
                  <a:lnTo>
                    <a:pt x="27" y="124"/>
                  </a:lnTo>
                  <a:lnTo>
                    <a:pt x="27" y="122"/>
                  </a:lnTo>
                  <a:lnTo>
                    <a:pt x="27" y="122"/>
                  </a:lnTo>
                  <a:lnTo>
                    <a:pt x="27" y="120"/>
                  </a:lnTo>
                  <a:lnTo>
                    <a:pt x="27" y="118"/>
                  </a:lnTo>
                  <a:lnTo>
                    <a:pt x="27" y="118"/>
                  </a:lnTo>
                  <a:lnTo>
                    <a:pt x="28" y="120"/>
                  </a:lnTo>
                  <a:lnTo>
                    <a:pt x="28" y="120"/>
                  </a:lnTo>
                  <a:lnTo>
                    <a:pt x="28" y="122"/>
                  </a:lnTo>
                  <a:lnTo>
                    <a:pt x="30" y="120"/>
                  </a:lnTo>
                  <a:lnTo>
                    <a:pt x="30" y="120"/>
                  </a:lnTo>
                  <a:lnTo>
                    <a:pt x="30" y="122"/>
                  </a:lnTo>
                  <a:lnTo>
                    <a:pt x="28" y="122"/>
                  </a:lnTo>
                  <a:lnTo>
                    <a:pt x="27" y="124"/>
                  </a:lnTo>
                  <a:lnTo>
                    <a:pt x="27" y="126"/>
                  </a:lnTo>
                  <a:lnTo>
                    <a:pt x="25" y="128"/>
                  </a:lnTo>
                  <a:lnTo>
                    <a:pt x="27" y="130"/>
                  </a:lnTo>
                  <a:lnTo>
                    <a:pt x="27" y="130"/>
                  </a:lnTo>
                  <a:lnTo>
                    <a:pt x="28" y="130"/>
                  </a:lnTo>
                  <a:lnTo>
                    <a:pt x="28" y="128"/>
                  </a:lnTo>
                  <a:lnTo>
                    <a:pt x="28" y="130"/>
                  </a:lnTo>
                  <a:lnTo>
                    <a:pt x="28" y="132"/>
                  </a:lnTo>
                  <a:lnTo>
                    <a:pt x="28" y="132"/>
                  </a:lnTo>
                  <a:lnTo>
                    <a:pt x="30" y="134"/>
                  </a:lnTo>
                  <a:lnTo>
                    <a:pt x="30" y="132"/>
                  </a:lnTo>
                  <a:lnTo>
                    <a:pt x="32" y="132"/>
                  </a:lnTo>
                  <a:lnTo>
                    <a:pt x="32" y="132"/>
                  </a:lnTo>
                  <a:lnTo>
                    <a:pt x="34" y="132"/>
                  </a:lnTo>
                  <a:lnTo>
                    <a:pt x="34" y="132"/>
                  </a:lnTo>
                  <a:lnTo>
                    <a:pt x="34" y="130"/>
                  </a:lnTo>
                  <a:lnTo>
                    <a:pt x="36" y="132"/>
                  </a:lnTo>
                  <a:lnTo>
                    <a:pt x="36" y="132"/>
                  </a:lnTo>
                  <a:lnTo>
                    <a:pt x="34" y="132"/>
                  </a:lnTo>
                  <a:lnTo>
                    <a:pt x="34" y="132"/>
                  </a:lnTo>
                  <a:lnTo>
                    <a:pt x="34" y="134"/>
                  </a:lnTo>
                  <a:lnTo>
                    <a:pt x="34" y="134"/>
                  </a:lnTo>
                  <a:lnTo>
                    <a:pt x="34" y="135"/>
                  </a:lnTo>
                  <a:lnTo>
                    <a:pt x="34" y="135"/>
                  </a:lnTo>
                  <a:lnTo>
                    <a:pt x="34" y="137"/>
                  </a:lnTo>
                  <a:lnTo>
                    <a:pt x="36" y="137"/>
                  </a:lnTo>
                  <a:lnTo>
                    <a:pt x="36" y="137"/>
                  </a:lnTo>
                  <a:lnTo>
                    <a:pt x="36" y="137"/>
                  </a:lnTo>
                  <a:lnTo>
                    <a:pt x="38" y="137"/>
                  </a:lnTo>
                  <a:lnTo>
                    <a:pt x="38" y="137"/>
                  </a:lnTo>
                  <a:lnTo>
                    <a:pt x="38" y="137"/>
                  </a:lnTo>
                  <a:lnTo>
                    <a:pt x="38" y="137"/>
                  </a:lnTo>
                  <a:lnTo>
                    <a:pt x="38" y="139"/>
                  </a:lnTo>
                  <a:lnTo>
                    <a:pt x="40" y="139"/>
                  </a:lnTo>
                  <a:lnTo>
                    <a:pt x="40" y="139"/>
                  </a:lnTo>
                  <a:lnTo>
                    <a:pt x="42" y="139"/>
                  </a:lnTo>
                  <a:lnTo>
                    <a:pt x="42" y="141"/>
                  </a:lnTo>
                  <a:lnTo>
                    <a:pt x="42" y="141"/>
                  </a:lnTo>
                  <a:lnTo>
                    <a:pt x="38" y="141"/>
                  </a:lnTo>
                  <a:lnTo>
                    <a:pt x="38" y="141"/>
                  </a:lnTo>
                  <a:lnTo>
                    <a:pt x="36" y="145"/>
                  </a:lnTo>
                  <a:lnTo>
                    <a:pt x="36" y="147"/>
                  </a:lnTo>
                  <a:lnTo>
                    <a:pt x="40" y="147"/>
                  </a:lnTo>
                  <a:lnTo>
                    <a:pt x="42" y="147"/>
                  </a:lnTo>
                  <a:lnTo>
                    <a:pt x="44" y="147"/>
                  </a:lnTo>
                  <a:lnTo>
                    <a:pt x="44" y="147"/>
                  </a:lnTo>
                  <a:lnTo>
                    <a:pt x="44" y="149"/>
                  </a:lnTo>
                  <a:lnTo>
                    <a:pt x="42" y="151"/>
                  </a:lnTo>
                  <a:lnTo>
                    <a:pt x="42" y="149"/>
                  </a:lnTo>
                  <a:lnTo>
                    <a:pt x="42" y="149"/>
                  </a:lnTo>
                  <a:lnTo>
                    <a:pt x="42" y="151"/>
                  </a:lnTo>
                  <a:lnTo>
                    <a:pt x="42" y="153"/>
                  </a:lnTo>
                  <a:lnTo>
                    <a:pt x="44" y="154"/>
                  </a:lnTo>
                  <a:lnTo>
                    <a:pt x="46" y="154"/>
                  </a:lnTo>
                  <a:lnTo>
                    <a:pt x="46" y="156"/>
                  </a:lnTo>
                  <a:lnTo>
                    <a:pt x="46" y="156"/>
                  </a:lnTo>
                  <a:lnTo>
                    <a:pt x="46" y="158"/>
                  </a:lnTo>
                  <a:lnTo>
                    <a:pt x="48" y="158"/>
                  </a:lnTo>
                  <a:lnTo>
                    <a:pt x="49" y="160"/>
                  </a:lnTo>
                  <a:lnTo>
                    <a:pt x="67" y="172"/>
                  </a:lnTo>
                  <a:lnTo>
                    <a:pt x="82" y="179"/>
                  </a:lnTo>
                  <a:lnTo>
                    <a:pt x="91" y="185"/>
                  </a:lnTo>
                  <a:lnTo>
                    <a:pt x="97" y="189"/>
                  </a:lnTo>
                  <a:lnTo>
                    <a:pt x="101" y="189"/>
                  </a:lnTo>
                  <a:lnTo>
                    <a:pt x="110" y="191"/>
                  </a:lnTo>
                  <a:lnTo>
                    <a:pt x="112" y="191"/>
                  </a:lnTo>
                  <a:lnTo>
                    <a:pt x="116" y="193"/>
                  </a:lnTo>
                  <a:lnTo>
                    <a:pt x="118" y="193"/>
                  </a:lnTo>
                  <a:lnTo>
                    <a:pt x="122" y="194"/>
                  </a:lnTo>
                  <a:lnTo>
                    <a:pt x="122" y="194"/>
                  </a:lnTo>
                  <a:lnTo>
                    <a:pt x="124" y="194"/>
                  </a:lnTo>
                  <a:lnTo>
                    <a:pt x="124" y="194"/>
                  </a:lnTo>
                  <a:lnTo>
                    <a:pt x="124" y="194"/>
                  </a:lnTo>
                  <a:lnTo>
                    <a:pt x="126" y="194"/>
                  </a:lnTo>
                  <a:lnTo>
                    <a:pt x="129" y="194"/>
                  </a:lnTo>
                  <a:lnTo>
                    <a:pt x="129" y="196"/>
                  </a:lnTo>
                  <a:lnTo>
                    <a:pt x="131" y="196"/>
                  </a:lnTo>
                  <a:lnTo>
                    <a:pt x="133" y="196"/>
                  </a:lnTo>
                  <a:lnTo>
                    <a:pt x="139" y="198"/>
                  </a:lnTo>
                  <a:lnTo>
                    <a:pt x="143" y="198"/>
                  </a:lnTo>
                  <a:lnTo>
                    <a:pt x="145" y="198"/>
                  </a:lnTo>
                  <a:lnTo>
                    <a:pt x="145" y="198"/>
                  </a:lnTo>
                  <a:lnTo>
                    <a:pt x="149" y="193"/>
                  </a:lnTo>
                  <a:lnTo>
                    <a:pt x="150" y="191"/>
                  </a:lnTo>
                  <a:lnTo>
                    <a:pt x="152" y="189"/>
                  </a:lnTo>
                  <a:lnTo>
                    <a:pt x="156" y="187"/>
                  </a:lnTo>
                  <a:lnTo>
                    <a:pt x="156" y="187"/>
                  </a:lnTo>
                  <a:lnTo>
                    <a:pt x="160" y="187"/>
                  </a:lnTo>
                  <a:lnTo>
                    <a:pt x="166" y="185"/>
                  </a:lnTo>
                  <a:lnTo>
                    <a:pt x="170" y="185"/>
                  </a:lnTo>
                  <a:lnTo>
                    <a:pt x="177" y="181"/>
                  </a:lnTo>
                  <a:lnTo>
                    <a:pt x="181" y="181"/>
                  </a:lnTo>
                  <a:lnTo>
                    <a:pt x="183" y="181"/>
                  </a:lnTo>
                  <a:lnTo>
                    <a:pt x="183" y="179"/>
                  </a:lnTo>
                  <a:lnTo>
                    <a:pt x="181" y="177"/>
                  </a:lnTo>
                  <a:lnTo>
                    <a:pt x="181" y="177"/>
                  </a:lnTo>
                  <a:lnTo>
                    <a:pt x="183" y="173"/>
                  </a:lnTo>
                  <a:lnTo>
                    <a:pt x="183" y="175"/>
                  </a:lnTo>
                  <a:lnTo>
                    <a:pt x="183" y="175"/>
                  </a:lnTo>
                  <a:lnTo>
                    <a:pt x="183" y="177"/>
                  </a:lnTo>
                  <a:lnTo>
                    <a:pt x="183" y="177"/>
                  </a:lnTo>
                  <a:lnTo>
                    <a:pt x="185" y="177"/>
                  </a:lnTo>
                  <a:lnTo>
                    <a:pt x="185" y="177"/>
                  </a:lnTo>
                  <a:lnTo>
                    <a:pt x="185" y="177"/>
                  </a:lnTo>
                  <a:lnTo>
                    <a:pt x="185" y="177"/>
                  </a:lnTo>
                  <a:lnTo>
                    <a:pt x="185" y="179"/>
                  </a:lnTo>
                  <a:lnTo>
                    <a:pt x="187" y="179"/>
                  </a:lnTo>
                  <a:lnTo>
                    <a:pt x="187" y="177"/>
                  </a:lnTo>
                  <a:lnTo>
                    <a:pt x="187" y="177"/>
                  </a:lnTo>
                  <a:lnTo>
                    <a:pt x="189" y="177"/>
                  </a:lnTo>
                  <a:lnTo>
                    <a:pt x="190" y="177"/>
                  </a:lnTo>
                  <a:lnTo>
                    <a:pt x="192" y="175"/>
                  </a:lnTo>
                  <a:lnTo>
                    <a:pt x="192" y="173"/>
                  </a:lnTo>
                  <a:lnTo>
                    <a:pt x="194" y="175"/>
                  </a:lnTo>
                  <a:lnTo>
                    <a:pt x="194" y="175"/>
                  </a:lnTo>
                  <a:lnTo>
                    <a:pt x="196" y="177"/>
                  </a:lnTo>
                  <a:lnTo>
                    <a:pt x="198" y="177"/>
                  </a:lnTo>
                  <a:lnTo>
                    <a:pt x="198" y="177"/>
                  </a:lnTo>
                  <a:lnTo>
                    <a:pt x="198" y="179"/>
                  </a:lnTo>
                  <a:lnTo>
                    <a:pt x="198" y="179"/>
                  </a:lnTo>
                  <a:lnTo>
                    <a:pt x="200" y="179"/>
                  </a:lnTo>
                  <a:lnTo>
                    <a:pt x="200" y="179"/>
                  </a:lnTo>
                  <a:lnTo>
                    <a:pt x="200" y="179"/>
                  </a:lnTo>
                  <a:lnTo>
                    <a:pt x="200" y="179"/>
                  </a:lnTo>
                  <a:lnTo>
                    <a:pt x="202" y="179"/>
                  </a:lnTo>
                  <a:lnTo>
                    <a:pt x="202" y="179"/>
                  </a:lnTo>
                  <a:lnTo>
                    <a:pt x="202" y="179"/>
                  </a:lnTo>
                  <a:lnTo>
                    <a:pt x="202" y="181"/>
                  </a:lnTo>
                  <a:lnTo>
                    <a:pt x="204" y="179"/>
                  </a:lnTo>
                  <a:lnTo>
                    <a:pt x="204" y="179"/>
                  </a:lnTo>
                  <a:lnTo>
                    <a:pt x="204" y="179"/>
                  </a:lnTo>
                  <a:lnTo>
                    <a:pt x="206" y="179"/>
                  </a:lnTo>
                  <a:lnTo>
                    <a:pt x="208" y="179"/>
                  </a:lnTo>
                  <a:lnTo>
                    <a:pt x="208" y="179"/>
                  </a:lnTo>
                  <a:lnTo>
                    <a:pt x="208" y="177"/>
                  </a:lnTo>
                  <a:lnTo>
                    <a:pt x="208" y="177"/>
                  </a:lnTo>
                  <a:lnTo>
                    <a:pt x="208" y="175"/>
                  </a:lnTo>
                  <a:lnTo>
                    <a:pt x="208" y="173"/>
                  </a:lnTo>
                  <a:lnTo>
                    <a:pt x="208" y="173"/>
                  </a:lnTo>
                  <a:lnTo>
                    <a:pt x="208" y="172"/>
                  </a:lnTo>
                  <a:lnTo>
                    <a:pt x="208" y="170"/>
                  </a:lnTo>
                  <a:lnTo>
                    <a:pt x="208" y="170"/>
                  </a:lnTo>
                  <a:lnTo>
                    <a:pt x="208" y="168"/>
                  </a:lnTo>
                  <a:lnTo>
                    <a:pt x="208" y="166"/>
                  </a:lnTo>
                  <a:lnTo>
                    <a:pt x="208" y="164"/>
                  </a:lnTo>
                  <a:lnTo>
                    <a:pt x="211" y="162"/>
                  </a:lnTo>
                  <a:lnTo>
                    <a:pt x="213" y="162"/>
                  </a:lnTo>
                  <a:lnTo>
                    <a:pt x="213" y="160"/>
                  </a:lnTo>
                  <a:lnTo>
                    <a:pt x="215" y="160"/>
                  </a:lnTo>
                  <a:lnTo>
                    <a:pt x="217" y="162"/>
                  </a:lnTo>
                  <a:lnTo>
                    <a:pt x="219" y="164"/>
                  </a:lnTo>
                  <a:lnTo>
                    <a:pt x="219" y="166"/>
                  </a:lnTo>
                  <a:lnTo>
                    <a:pt x="219" y="168"/>
                  </a:lnTo>
                  <a:lnTo>
                    <a:pt x="219" y="172"/>
                  </a:lnTo>
                  <a:lnTo>
                    <a:pt x="219" y="173"/>
                  </a:lnTo>
                  <a:lnTo>
                    <a:pt x="217" y="173"/>
                  </a:lnTo>
                  <a:lnTo>
                    <a:pt x="217" y="175"/>
                  </a:lnTo>
                  <a:lnTo>
                    <a:pt x="217" y="177"/>
                  </a:lnTo>
                  <a:lnTo>
                    <a:pt x="215" y="177"/>
                  </a:lnTo>
                  <a:lnTo>
                    <a:pt x="215" y="177"/>
                  </a:lnTo>
                  <a:lnTo>
                    <a:pt x="213" y="177"/>
                  </a:lnTo>
                  <a:lnTo>
                    <a:pt x="213" y="177"/>
                  </a:lnTo>
                  <a:lnTo>
                    <a:pt x="211" y="177"/>
                  </a:lnTo>
                  <a:lnTo>
                    <a:pt x="208" y="181"/>
                  </a:lnTo>
                  <a:lnTo>
                    <a:pt x="206" y="183"/>
                  </a:lnTo>
                  <a:lnTo>
                    <a:pt x="206" y="183"/>
                  </a:lnTo>
                  <a:lnTo>
                    <a:pt x="202" y="189"/>
                  </a:lnTo>
                  <a:lnTo>
                    <a:pt x="200" y="191"/>
                  </a:lnTo>
                  <a:lnTo>
                    <a:pt x="200" y="191"/>
                  </a:lnTo>
                  <a:lnTo>
                    <a:pt x="200" y="193"/>
                  </a:lnTo>
                  <a:lnTo>
                    <a:pt x="200" y="194"/>
                  </a:lnTo>
                  <a:lnTo>
                    <a:pt x="200" y="196"/>
                  </a:lnTo>
                  <a:lnTo>
                    <a:pt x="196" y="202"/>
                  </a:lnTo>
                  <a:lnTo>
                    <a:pt x="192" y="208"/>
                  </a:lnTo>
                  <a:lnTo>
                    <a:pt x="190" y="212"/>
                  </a:lnTo>
                  <a:lnTo>
                    <a:pt x="189" y="215"/>
                  </a:lnTo>
                  <a:lnTo>
                    <a:pt x="187" y="217"/>
                  </a:lnTo>
                  <a:lnTo>
                    <a:pt x="185" y="219"/>
                  </a:lnTo>
                  <a:lnTo>
                    <a:pt x="175" y="217"/>
                  </a:lnTo>
                  <a:lnTo>
                    <a:pt x="173" y="217"/>
                  </a:lnTo>
                  <a:lnTo>
                    <a:pt x="171" y="219"/>
                  </a:lnTo>
                  <a:lnTo>
                    <a:pt x="170" y="219"/>
                  </a:lnTo>
                  <a:lnTo>
                    <a:pt x="168" y="219"/>
                  </a:lnTo>
                  <a:lnTo>
                    <a:pt x="168" y="219"/>
                  </a:lnTo>
                  <a:lnTo>
                    <a:pt x="168" y="219"/>
                  </a:lnTo>
                  <a:lnTo>
                    <a:pt x="162" y="225"/>
                  </a:lnTo>
                  <a:lnTo>
                    <a:pt x="160" y="227"/>
                  </a:lnTo>
                  <a:lnTo>
                    <a:pt x="158" y="227"/>
                  </a:lnTo>
                  <a:lnTo>
                    <a:pt x="156" y="227"/>
                  </a:lnTo>
                  <a:lnTo>
                    <a:pt x="156" y="227"/>
                  </a:lnTo>
                  <a:lnTo>
                    <a:pt x="156" y="227"/>
                  </a:lnTo>
                  <a:lnTo>
                    <a:pt x="154" y="229"/>
                  </a:lnTo>
                  <a:lnTo>
                    <a:pt x="154" y="229"/>
                  </a:lnTo>
                  <a:lnTo>
                    <a:pt x="154" y="231"/>
                  </a:lnTo>
                  <a:lnTo>
                    <a:pt x="152" y="231"/>
                  </a:lnTo>
                  <a:lnTo>
                    <a:pt x="152" y="231"/>
                  </a:lnTo>
                  <a:lnTo>
                    <a:pt x="150" y="231"/>
                  </a:lnTo>
                  <a:lnTo>
                    <a:pt x="147" y="227"/>
                  </a:lnTo>
                  <a:lnTo>
                    <a:pt x="147" y="225"/>
                  </a:lnTo>
                  <a:lnTo>
                    <a:pt x="145" y="227"/>
                  </a:lnTo>
                  <a:lnTo>
                    <a:pt x="143" y="231"/>
                  </a:lnTo>
                  <a:lnTo>
                    <a:pt x="143" y="232"/>
                  </a:lnTo>
                  <a:lnTo>
                    <a:pt x="143" y="232"/>
                  </a:lnTo>
                  <a:lnTo>
                    <a:pt x="141" y="232"/>
                  </a:lnTo>
                  <a:lnTo>
                    <a:pt x="141" y="232"/>
                  </a:lnTo>
                  <a:lnTo>
                    <a:pt x="141" y="232"/>
                  </a:lnTo>
                  <a:lnTo>
                    <a:pt x="139" y="232"/>
                  </a:lnTo>
                  <a:lnTo>
                    <a:pt x="139" y="232"/>
                  </a:lnTo>
                  <a:lnTo>
                    <a:pt x="139" y="234"/>
                  </a:lnTo>
                  <a:lnTo>
                    <a:pt x="139" y="234"/>
                  </a:lnTo>
                  <a:lnTo>
                    <a:pt x="137" y="234"/>
                  </a:lnTo>
                  <a:lnTo>
                    <a:pt x="137" y="236"/>
                  </a:lnTo>
                  <a:lnTo>
                    <a:pt x="137" y="234"/>
                  </a:lnTo>
                  <a:lnTo>
                    <a:pt x="135" y="236"/>
                  </a:lnTo>
                  <a:lnTo>
                    <a:pt x="135" y="236"/>
                  </a:lnTo>
                  <a:lnTo>
                    <a:pt x="135" y="238"/>
                  </a:lnTo>
                  <a:lnTo>
                    <a:pt x="133" y="236"/>
                  </a:lnTo>
                  <a:lnTo>
                    <a:pt x="131" y="236"/>
                  </a:lnTo>
                  <a:lnTo>
                    <a:pt x="129" y="236"/>
                  </a:lnTo>
                  <a:lnTo>
                    <a:pt x="129" y="234"/>
                  </a:lnTo>
                  <a:lnTo>
                    <a:pt x="129" y="232"/>
                  </a:lnTo>
                  <a:lnTo>
                    <a:pt x="129" y="229"/>
                  </a:lnTo>
                  <a:lnTo>
                    <a:pt x="128" y="229"/>
                  </a:lnTo>
                  <a:lnTo>
                    <a:pt x="128" y="229"/>
                  </a:lnTo>
                  <a:lnTo>
                    <a:pt x="126" y="229"/>
                  </a:lnTo>
                  <a:lnTo>
                    <a:pt x="126" y="229"/>
                  </a:lnTo>
                  <a:lnTo>
                    <a:pt x="126" y="231"/>
                  </a:lnTo>
                  <a:lnTo>
                    <a:pt x="126" y="232"/>
                  </a:lnTo>
                  <a:lnTo>
                    <a:pt x="126" y="232"/>
                  </a:lnTo>
                  <a:lnTo>
                    <a:pt x="128" y="234"/>
                  </a:lnTo>
                  <a:lnTo>
                    <a:pt x="126" y="236"/>
                  </a:lnTo>
                  <a:lnTo>
                    <a:pt x="126" y="236"/>
                  </a:lnTo>
                  <a:lnTo>
                    <a:pt x="126" y="236"/>
                  </a:lnTo>
                  <a:lnTo>
                    <a:pt x="124" y="236"/>
                  </a:lnTo>
                  <a:lnTo>
                    <a:pt x="124" y="236"/>
                  </a:lnTo>
                  <a:lnTo>
                    <a:pt x="124" y="238"/>
                  </a:lnTo>
                  <a:lnTo>
                    <a:pt x="122" y="238"/>
                  </a:lnTo>
                  <a:lnTo>
                    <a:pt x="122" y="240"/>
                  </a:lnTo>
                  <a:lnTo>
                    <a:pt x="118" y="240"/>
                  </a:lnTo>
                  <a:lnTo>
                    <a:pt x="112" y="240"/>
                  </a:lnTo>
                  <a:lnTo>
                    <a:pt x="110" y="240"/>
                  </a:lnTo>
                  <a:lnTo>
                    <a:pt x="109" y="242"/>
                  </a:lnTo>
                  <a:lnTo>
                    <a:pt x="105" y="244"/>
                  </a:lnTo>
                  <a:lnTo>
                    <a:pt x="97" y="246"/>
                  </a:lnTo>
                  <a:lnTo>
                    <a:pt x="97" y="246"/>
                  </a:lnTo>
                  <a:lnTo>
                    <a:pt x="95" y="244"/>
                  </a:lnTo>
                  <a:lnTo>
                    <a:pt x="95" y="242"/>
                  </a:lnTo>
                  <a:lnTo>
                    <a:pt x="93" y="240"/>
                  </a:lnTo>
                  <a:lnTo>
                    <a:pt x="95" y="238"/>
                  </a:lnTo>
                  <a:lnTo>
                    <a:pt x="95" y="236"/>
                  </a:lnTo>
                  <a:lnTo>
                    <a:pt x="97" y="234"/>
                  </a:lnTo>
                  <a:lnTo>
                    <a:pt x="97" y="232"/>
                  </a:lnTo>
                  <a:lnTo>
                    <a:pt x="95" y="231"/>
                  </a:lnTo>
                  <a:lnTo>
                    <a:pt x="95" y="231"/>
                  </a:lnTo>
                  <a:lnTo>
                    <a:pt x="93" y="231"/>
                  </a:lnTo>
                  <a:lnTo>
                    <a:pt x="93" y="232"/>
                  </a:lnTo>
                  <a:lnTo>
                    <a:pt x="91" y="232"/>
                  </a:lnTo>
                  <a:lnTo>
                    <a:pt x="91" y="232"/>
                  </a:lnTo>
                  <a:lnTo>
                    <a:pt x="91" y="232"/>
                  </a:lnTo>
                  <a:lnTo>
                    <a:pt x="89" y="232"/>
                  </a:lnTo>
                  <a:lnTo>
                    <a:pt x="89" y="232"/>
                  </a:lnTo>
                  <a:lnTo>
                    <a:pt x="88" y="234"/>
                  </a:lnTo>
                  <a:lnTo>
                    <a:pt x="86" y="234"/>
                  </a:lnTo>
                  <a:lnTo>
                    <a:pt x="86" y="232"/>
                  </a:lnTo>
                  <a:lnTo>
                    <a:pt x="84" y="232"/>
                  </a:lnTo>
                  <a:lnTo>
                    <a:pt x="82" y="231"/>
                  </a:lnTo>
                  <a:lnTo>
                    <a:pt x="84" y="229"/>
                  </a:lnTo>
                  <a:lnTo>
                    <a:pt x="86" y="229"/>
                  </a:lnTo>
                  <a:lnTo>
                    <a:pt x="86" y="227"/>
                  </a:lnTo>
                  <a:lnTo>
                    <a:pt x="86" y="227"/>
                  </a:lnTo>
                  <a:lnTo>
                    <a:pt x="86" y="225"/>
                  </a:lnTo>
                  <a:lnTo>
                    <a:pt x="86" y="225"/>
                  </a:lnTo>
                  <a:lnTo>
                    <a:pt x="82" y="227"/>
                  </a:lnTo>
                  <a:lnTo>
                    <a:pt x="80" y="229"/>
                  </a:lnTo>
                  <a:lnTo>
                    <a:pt x="78" y="231"/>
                  </a:lnTo>
                  <a:lnTo>
                    <a:pt x="76" y="231"/>
                  </a:lnTo>
                  <a:lnTo>
                    <a:pt x="76" y="232"/>
                  </a:lnTo>
                  <a:lnTo>
                    <a:pt x="76" y="234"/>
                  </a:lnTo>
                  <a:lnTo>
                    <a:pt x="74" y="236"/>
                  </a:lnTo>
                  <a:lnTo>
                    <a:pt x="74" y="238"/>
                  </a:lnTo>
                  <a:lnTo>
                    <a:pt x="74" y="240"/>
                  </a:lnTo>
                  <a:lnTo>
                    <a:pt x="72" y="242"/>
                  </a:lnTo>
                  <a:lnTo>
                    <a:pt x="72" y="244"/>
                  </a:lnTo>
                  <a:lnTo>
                    <a:pt x="74" y="246"/>
                  </a:lnTo>
                  <a:lnTo>
                    <a:pt x="76" y="250"/>
                  </a:lnTo>
                  <a:lnTo>
                    <a:pt x="78" y="253"/>
                  </a:lnTo>
                  <a:lnTo>
                    <a:pt x="80" y="255"/>
                  </a:lnTo>
                  <a:lnTo>
                    <a:pt x="82" y="257"/>
                  </a:lnTo>
                  <a:lnTo>
                    <a:pt x="88" y="263"/>
                  </a:lnTo>
                  <a:lnTo>
                    <a:pt x="88" y="265"/>
                  </a:lnTo>
                  <a:lnTo>
                    <a:pt x="89" y="267"/>
                  </a:lnTo>
                  <a:lnTo>
                    <a:pt x="91" y="269"/>
                  </a:lnTo>
                  <a:lnTo>
                    <a:pt x="97" y="274"/>
                  </a:lnTo>
                  <a:lnTo>
                    <a:pt x="97" y="276"/>
                  </a:lnTo>
                  <a:lnTo>
                    <a:pt x="101" y="278"/>
                  </a:lnTo>
                  <a:lnTo>
                    <a:pt x="109" y="288"/>
                  </a:lnTo>
                  <a:lnTo>
                    <a:pt x="110" y="288"/>
                  </a:lnTo>
                  <a:lnTo>
                    <a:pt x="112" y="288"/>
                  </a:lnTo>
                  <a:lnTo>
                    <a:pt x="114" y="286"/>
                  </a:lnTo>
                  <a:lnTo>
                    <a:pt x="114" y="288"/>
                  </a:lnTo>
                  <a:lnTo>
                    <a:pt x="114" y="290"/>
                  </a:lnTo>
                  <a:lnTo>
                    <a:pt x="114" y="291"/>
                  </a:lnTo>
                  <a:lnTo>
                    <a:pt x="118" y="295"/>
                  </a:lnTo>
                  <a:lnTo>
                    <a:pt x="120" y="297"/>
                  </a:lnTo>
                  <a:lnTo>
                    <a:pt x="122" y="297"/>
                  </a:lnTo>
                  <a:lnTo>
                    <a:pt x="124" y="301"/>
                  </a:lnTo>
                  <a:lnTo>
                    <a:pt x="126" y="303"/>
                  </a:lnTo>
                  <a:lnTo>
                    <a:pt x="129" y="307"/>
                  </a:lnTo>
                  <a:lnTo>
                    <a:pt x="131" y="309"/>
                  </a:lnTo>
                  <a:lnTo>
                    <a:pt x="137" y="310"/>
                  </a:lnTo>
                  <a:lnTo>
                    <a:pt x="149" y="324"/>
                  </a:lnTo>
                  <a:lnTo>
                    <a:pt x="150" y="326"/>
                  </a:lnTo>
                  <a:lnTo>
                    <a:pt x="150" y="326"/>
                  </a:lnTo>
                  <a:lnTo>
                    <a:pt x="152" y="326"/>
                  </a:lnTo>
                  <a:lnTo>
                    <a:pt x="154" y="329"/>
                  </a:lnTo>
                  <a:lnTo>
                    <a:pt x="156" y="333"/>
                  </a:lnTo>
                  <a:lnTo>
                    <a:pt x="162" y="341"/>
                  </a:lnTo>
                  <a:lnTo>
                    <a:pt x="168" y="345"/>
                  </a:lnTo>
                  <a:lnTo>
                    <a:pt x="168" y="347"/>
                  </a:lnTo>
                  <a:lnTo>
                    <a:pt x="168" y="347"/>
                  </a:lnTo>
                  <a:lnTo>
                    <a:pt x="175" y="358"/>
                  </a:lnTo>
                  <a:lnTo>
                    <a:pt x="185" y="364"/>
                  </a:lnTo>
                  <a:lnTo>
                    <a:pt x="194" y="373"/>
                  </a:lnTo>
                  <a:lnTo>
                    <a:pt x="198" y="377"/>
                  </a:lnTo>
                  <a:lnTo>
                    <a:pt x="202" y="379"/>
                  </a:lnTo>
                  <a:lnTo>
                    <a:pt x="208" y="381"/>
                  </a:lnTo>
                  <a:lnTo>
                    <a:pt x="210" y="383"/>
                  </a:lnTo>
                  <a:lnTo>
                    <a:pt x="211" y="387"/>
                  </a:lnTo>
                  <a:lnTo>
                    <a:pt x="213" y="387"/>
                  </a:lnTo>
                  <a:lnTo>
                    <a:pt x="215" y="388"/>
                  </a:lnTo>
                  <a:lnTo>
                    <a:pt x="221" y="390"/>
                  </a:lnTo>
                  <a:lnTo>
                    <a:pt x="234" y="398"/>
                  </a:lnTo>
                  <a:lnTo>
                    <a:pt x="238" y="400"/>
                  </a:lnTo>
                  <a:lnTo>
                    <a:pt x="238" y="400"/>
                  </a:lnTo>
                  <a:lnTo>
                    <a:pt x="240" y="400"/>
                  </a:lnTo>
                  <a:lnTo>
                    <a:pt x="242" y="400"/>
                  </a:lnTo>
                  <a:lnTo>
                    <a:pt x="242" y="400"/>
                  </a:lnTo>
                  <a:lnTo>
                    <a:pt x="244" y="400"/>
                  </a:lnTo>
                  <a:lnTo>
                    <a:pt x="244" y="402"/>
                  </a:lnTo>
                  <a:lnTo>
                    <a:pt x="246" y="402"/>
                  </a:lnTo>
                  <a:lnTo>
                    <a:pt x="248" y="402"/>
                  </a:lnTo>
                  <a:lnTo>
                    <a:pt x="261" y="402"/>
                  </a:lnTo>
                  <a:lnTo>
                    <a:pt x="261" y="400"/>
                  </a:lnTo>
                  <a:lnTo>
                    <a:pt x="261" y="400"/>
                  </a:lnTo>
                  <a:lnTo>
                    <a:pt x="261" y="398"/>
                  </a:lnTo>
                  <a:lnTo>
                    <a:pt x="261" y="398"/>
                  </a:lnTo>
                  <a:lnTo>
                    <a:pt x="263" y="398"/>
                  </a:lnTo>
                  <a:lnTo>
                    <a:pt x="263" y="398"/>
                  </a:lnTo>
                  <a:lnTo>
                    <a:pt x="263" y="398"/>
                  </a:lnTo>
                  <a:lnTo>
                    <a:pt x="263" y="398"/>
                  </a:lnTo>
                  <a:lnTo>
                    <a:pt x="265" y="398"/>
                  </a:lnTo>
                  <a:lnTo>
                    <a:pt x="267" y="398"/>
                  </a:lnTo>
                  <a:lnTo>
                    <a:pt x="269" y="398"/>
                  </a:lnTo>
                  <a:lnTo>
                    <a:pt x="270" y="398"/>
                  </a:lnTo>
                  <a:lnTo>
                    <a:pt x="270" y="396"/>
                  </a:lnTo>
                  <a:lnTo>
                    <a:pt x="272" y="396"/>
                  </a:lnTo>
                  <a:lnTo>
                    <a:pt x="272" y="396"/>
                  </a:lnTo>
                  <a:lnTo>
                    <a:pt x="274" y="396"/>
                  </a:lnTo>
                  <a:lnTo>
                    <a:pt x="276" y="396"/>
                  </a:lnTo>
                  <a:lnTo>
                    <a:pt x="291" y="387"/>
                  </a:lnTo>
                  <a:lnTo>
                    <a:pt x="297" y="387"/>
                  </a:lnTo>
                  <a:lnTo>
                    <a:pt x="305" y="383"/>
                  </a:lnTo>
                  <a:lnTo>
                    <a:pt x="307" y="383"/>
                  </a:lnTo>
                  <a:lnTo>
                    <a:pt x="309" y="381"/>
                  </a:lnTo>
                  <a:lnTo>
                    <a:pt x="309" y="379"/>
                  </a:lnTo>
                  <a:lnTo>
                    <a:pt x="312" y="375"/>
                  </a:lnTo>
                  <a:lnTo>
                    <a:pt x="314" y="375"/>
                  </a:lnTo>
                  <a:lnTo>
                    <a:pt x="316" y="375"/>
                  </a:lnTo>
                  <a:lnTo>
                    <a:pt x="314" y="375"/>
                  </a:lnTo>
                  <a:lnTo>
                    <a:pt x="314" y="375"/>
                  </a:lnTo>
                  <a:lnTo>
                    <a:pt x="314" y="377"/>
                  </a:lnTo>
                  <a:lnTo>
                    <a:pt x="316" y="377"/>
                  </a:lnTo>
                  <a:lnTo>
                    <a:pt x="322" y="373"/>
                  </a:lnTo>
                  <a:lnTo>
                    <a:pt x="326" y="371"/>
                  </a:lnTo>
                  <a:lnTo>
                    <a:pt x="330" y="369"/>
                  </a:lnTo>
                  <a:lnTo>
                    <a:pt x="330" y="369"/>
                  </a:lnTo>
                  <a:lnTo>
                    <a:pt x="331" y="369"/>
                  </a:lnTo>
                  <a:lnTo>
                    <a:pt x="333" y="369"/>
                  </a:lnTo>
                  <a:lnTo>
                    <a:pt x="335" y="367"/>
                  </a:lnTo>
                  <a:lnTo>
                    <a:pt x="337" y="366"/>
                  </a:lnTo>
                  <a:lnTo>
                    <a:pt x="349" y="360"/>
                  </a:lnTo>
                  <a:lnTo>
                    <a:pt x="352" y="360"/>
                  </a:lnTo>
                  <a:lnTo>
                    <a:pt x="354" y="358"/>
                  </a:lnTo>
                  <a:lnTo>
                    <a:pt x="360" y="356"/>
                  </a:lnTo>
                  <a:lnTo>
                    <a:pt x="362" y="354"/>
                  </a:lnTo>
                  <a:lnTo>
                    <a:pt x="362" y="354"/>
                  </a:lnTo>
                  <a:lnTo>
                    <a:pt x="362" y="354"/>
                  </a:lnTo>
                  <a:lnTo>
                    <a:pt x="364" y="354"/>
                  </a:lnTo>
                  <a:lnTo>
                    <a:pt x="364" y="354"/>
                  </a:lnTo>
                  <a:lnTo>
                    <a:pt x="366" y="352"/>
                  </a:lnTo>
                  <a:lnTo>
                    <a:pt x="366" y="350"/>
                  </a:lnTo>
                  <a:lnTo>
                    <a:pt x="364" y="348"/>
                  </a:lnTo>
                  <a:lnTo>
                    <a:pt x="364" y="347"/>
                  </a:lnTo>
                  <a:lnTo>
                    <a:pt x="364" y="347"/>
                  </a:lnTo>
                  <a:lnTo>
                    <a:pt x="364" y="347"/>
                  </a:lnTo>
                  <a:lnTo>
                    <a:pt x="364" y="345"/>
                  </a:lnTo>
                  <a:lnTo>
                    <a:pt x="364" y="345"/>
                  </a:lnTo>
                  <a:lnTo>
                    <a:pt x="366" y="343"/>
                  </a:lnTo>
                  <a:lnTo>
                    <a:pt x="366" y="343"/>
                  </a:lnTo>
                  <a:lnTo>
                    <a:pt x="366" y="343"/>
                  </a:lnTo>
                  <a:lnTo>
                    <a:pt x="366" y="341"/>
                  </a:lnTo>
                  <a:lnTo>
                    <a:pt x="366" y="341"/>
                  </a:lnTo>
                  <a:lnTo>
                    <a:pt x="370" y="337"/>
                  </a:lnTo>
                  <a:lnTo>
                    <a:pt x="370" y="335"/>
                  </a:lnTo>
                  <a:lnTo>
                    <a:pt x="371" y="333"/>
                  </a:lnTo>
                  <a:lnTo>
                    <a:pt x="375" y="328"/>
                  </a:lnTo>
                  <a:lnTo>
                    <a:pt x="377" y="324"/>
                  </a:lnTo>
                  <a:lnTo>
                    <a:pt x="381" y="312"/>
                  </a:lnTo>
                  <a:lnTo>
                    <a:pt x="381" y="312"/>
                  </a:lnTo>
                  <a:lnTo>
                    <a:pt x="383" y="312"/>
                  </a:lnTo>
                  <a:lnTo>
                    <a:pt x="383" y="310"/>
                  </a:lnTo>
                  <a:lnTo>
                    <a:pt x="383" y="310"/>
                  </a:lnTo>
                  <a:lnTo>
                    <a:pt x="383" y="309"/>
                  </a:lnTo>
                  <a:lnTo>
                    <a:pt x="383" y="309"/>
                  </a:lnTo>
                  <a:lnTo>
                    <a:pt x="383" y="307"/>
                  </a:lnTo>
                  <a:lnTo>
                    <a:pt x="383" y="307"/>
                  </a:lnTo>
                  <a:lnTo>
                    <a:pt x="381" y="307"/>
                  </a:lnTo>
                  <a:lnTo>
                    <a:pt x="381" y="305"/>
                  </a:lnTo>
                  <a:lnTo>
                    <a:pt x="381" y="305"/>
                  </a:lnTo>
                  <a:lnTo>
                    <a:pt x="379" y="303"/>
                  </a:lnTo>
                  <a:lnTo>
                    <a:pt x="379" y="305"/>
                  </a:lnTo>
                  <a:lnTo>
                    <a:pt x="377" y="303"/>
                  </a:lnTo>
                  <a:lnTo>
                    <a:pt x="377" y="303"/>
                  </a:lnTo>
                  <a:lnTo>
                    <a:pt x="375" y="303"/>
                  </a:lnTo>
                  <a:lnTo>
                    <a:pt x="375" y="303"/>
                  </a:lnTo>
                  <a:lnTo>
                    <a:pt x="375" y="301"/>
                  </a:lnTo>
                  <a:lnTo>
                    <a:pt x="373" y="299"/>
                  </a:lnTo>
                  <a:lnTo>
                    <a:pt x="373" y="297"/>
                  </a:lnTo>
                  <a:lnTo>
                    <a:pt x="373" y="297"/>
                  </a:lnTo>
                  <a:lnTo>
                    <a:pt x="371" y="297"/>
                  </a:lnTo>
                  <a:lnTo>
                    <a:pt x="371" y="295"/>
                  </a:lnTo>
                  <a:lnTo>
                    <a:pt x="371" y="293"/>
                  </a:lnTo>
                  <a:lnTo>
                    <a:pt x="371" y="293"/>
                  </a:lnTo>
                  <a:lnTo>
                    <a:pt x="366" y="295"/>
                  </a:lnTo>
                  <a:lnTo>
                    <a:pt x="364" y="295"/>
                  </a:lnTo>
                  <a:lnTo>
                    <a:pt x="364" y="295"/>
                  </a:lnTo>
                  <a:lnTo>
                    <a:pt x="362" y="293"/>
                  </a:lnTo>
                  <a:lnTo>
                    <a:pt x="360" y="295"/>
                  </a:lnTo>
                  <a:lnTo>
                    <a:pt x="358" y="295"/>
                  </a:lnTo>
                  <a:lnTo>
                    <a:pt x="358" y="295"/>
                  </a:lnTo>
                  <a:lnTo>
                    <a:pt x="358" y="293"/>
                  </a:lnTo>
                  <a:lnTo>
                    <a:pt x="358" y="293"/>
                  </a:lnTo>
                  <a:lnTo>
                    <a:pt x="356" y="293"/>
                  </a:lnTo>
                  <a:lnTo>
                    <a:pt x="356" y="293"/>
                  </a:lnTo>
                  <a:lnTo>
                    <a:pt x="356" y="293"/>
                  </a:lnTo>
                  <a:lnTo>
                    <a:pt x="354" y="293"/>
                  </a:lnTo>
                  <a:lnTo>
                    <a:pt x="354" y="291"/>
                  </a:lnTo>
                  <a:lnTo>
                    <a:pt x="354" y="290"/>
                  </a:lnTo>
                  <a:lnTo>
                    <a:pt x="354" y="288"/>
                  </a:lnTo>
                  <a:lnTo>
                    <a:pt x="356" y="288"/>
                  </a:lnTo>
                  <a:lnTo>
                    <a:pt x="362" y="290"/>
                  </a:lnTo>
                  <a:lnTo>
                    <a:pt x="364" y="290"/>
                  </a:lnTo>
                  <a:lnTo>
                    <a:pt x="366" y="290"/>
                  </a:lnTo>
                  <a:lnTo>
                    <a:pt x="364" y="286"/>
                  </a:lnTo>
                  <a:lnTo>
                    <a:pt x="362" y="286"/>
                  </a:lnTo>
                  <a:lnTo>
                    <a:pt x="362" y="286"/>
                  </a:lnTo>
                  <a:lnTo>
                    <a:pt x="360" y="286"/>
                  </a:lnTo>
                  <a:lnTo>
                    <a:pt x="360" y="286"/>
                  </a:lnTo>
                  <a:lnTo>
                    <a:pt x="360" y="286"/>
                  </a:lnTo>
                  <a:lnTo>
                    <a:pt x="360" y="284"/>
                  </a:lnTo>
                  <a:lnTo>
                    <a:pt x="362" y="284"/>
                  </a:lnTo>
                  <a:lnTo>
                    <a:pt x="364" y="286"/>
                  </a:lnTo>
                  <a:lnTo>
                    <a:pt x="366" y="286"/>
                  </a:lnTo>
                  <a:lnTo>
                    <a:pt x="366" y="288"/>
                  </a:lnTo>
                  <a:lnTo>
                    <a:pt x="368" y="288"/>
                  </a:lnTo>
                  <a:lnTo>
                    <a:pt x="370" y="290"/>
                  </a:lnTo>
                  <a:lnTo>
                    <a:pt x="371" y="290"/>
                  </a:lnTo>
                  <a:lnTo>
                    <a:pt x="370" y="288"/>
                  </a:lnTo>
                  <a:lnTo>
                    <a:pt x="370" y="286"/>
                  </a:lnTo>
                  <a:lnTo>
                    <a:pt x="371" y="286"/>
                  </a:lnTo>
                  <a:lnTo>
                    <a:pt x="371" y="284"/>
                  </a:lnTo>
                  <a:lnTo>
                    <a:pt x="370" y="284"/>
                  </a:lnTo>
                  <a:lnTo>
                    <a:pt x="370" y="282"/>
                  </a:lnTo>
                  <a:lnTo>
                    <a:pt x="370" y="282"/>
                  </a:lnTo>
                  <a:lnTo>
                    <a:pt x="370" y="282"/>
                  </a:lnTo>
                  <a:lnTo>
                    <a:pt x="370" y="280"/>
                  </a:lnTo>
                  <a:lnTo>
                    <a:pt x="368" y="280"/>
                  </a:lnTo>
                  <a:lnTo>
                    <a:pt x="366" y="282"/>
                  </a:lnTo>
                  <a:lnTo>
                    <a:pt x="364" y="282"/>
                  </a:lnTo>
                  <a:lnTo>
                    <a:pt x="358" y="280"/>
                  </a:lnTo>
                  <a:lnTo>
                    <a:pt x="358" y="278"/>
                  </a:lnTo>
                  <a:lnTo>
                    <a:pt x="360" y="278"/>
                  </a:lnTo>
                  <a:lnTo>
                    <a:pt x="362" y="278"/>
                  </a:lnTo>
                  <a:lnTo>
                    <a:pt x="364" y="278"/>
                  </a:lnTo>
                  <a:lnTo>
                    <a:pt x="364" y="278"/>
                  </a:lnTo>
                  <a:lnTo>
                    <a:pt x="364" y="278"/>
                  </a:lnTo>
                  <a:lnTo>
                    <a:pt x="366" y="278"/>
                  </a:lnTo>
                  <a:lnTo>
                    <a:pt x="366" y="278"/>
                  </a:lnTo>
                  <a:lnTo>
                    <a:pt x="362" y="276"/>
                  </a:lnTo>
                  <a:lnTo>
                    <a:pt x="362" y="274"/>
                  </a:lnTo>
                  <a:lnTo>
                    <a:pt x="366" y="276"/>
                  </a:lnTo>
                  <a:lnTo>
                    <a:pt x="368" y="276"/>
                  </a:lnTo>
                  <a:lnTo>
                    <a:pt x="368" y="274"/>
                  </a:lnTo>
                  <a:lnTo>
                    <a:pt x="366" y="274"/>
                  </a:lnTo>
                  <a:lnTo>
                    <a:pt x="364" y="272"/>
                  </a:lnTo>
                  <a:lnTo>
                    <a:pt x="366" y="272"/>
                  </a:lnTo>
                  <a:lnTo>
                    <a:pt x="368" y="272"/>
                  </a:lnTo>
                  <a:lnTo>
                    <a:pt x="370" y="274"/>
                  </a:lnTo>
                  <a:lnTo>
                    <a:pt x="370" y="274"/>
                  </a:lnTo>
                  <a:lnTo>
                    <a:pt x="370" y="276"/>
                  </a:lnTo>
                  <a:lnTo>
                    <a:pt x="371" y="276"/>
                  </a:lnTo>
                  <a:lnTo>
                    <a:pt x="371" y="274"/>
                  </a:lnTo>
                  <a:lnTo>
                    <a:pt x="373" y="274"/>
                  </a:lnTo>
                  <a:lnTo>
                    <a:pt x="373" y="274"/>
                  </a:lnTo>
                  <a:lnTo>
                    <a:pt x="373" y="272"/>
                  </a:lnTo>
                  <a:lnTo>
                    <a:pt x="373" y="272"/>
                  </a:lnTo>
                  <a:lnTo>
                    <a:pt x="373" y="274"/>
                  </a:lnTo>
                  <a:lnTo>
                    <a:pt x="375" y="274"/>
                  </a:lnTo>
                  <a:lnTo>
                    <a:pt x="375" y="272"/>
                  </a:lnTo>
                  <a:lnTo>
                    <a:pt x="375" y="272"/>
                  </a:lnTo>
                  <a:lnTo>
                    <a:pt x="377" y="272"/>
                  </a:lnTo>
                  <a:lnTo>
                    <a:pt x="379" y="272"/>
                  </a:lnTo>
                  <a:lnTo>
                    <a:pt x="379" y="272"/>
                  </a:lnTo>
                  <a:lnTo>
                    <a:pt x="381" y="270"/>
                  </a:lnTo>
                  <a:lnTo>
                    <a:pt x="381" y="270"/>
                  </a:lnTo>
                  <a:lnTo>
                    <a:pt x="381" y="269"/>
                  </a:lnTo>
                  <a:lnTo>
                    <a:pt x="383" y="269"/>
                  </a:lnTo>
                  <a:lnTo>
                    <a:pt x="383" y="269"/>
                  </a:lnTo>
                  <a:lnTo>
                    <a:pt x="383" y="267"/>
                  </a:lnTo>
                  <a:lnTo>
                    <a:pt x="383" y="265"/>
                  </a:lnTo>
                  <a:lnTo>
                    <a:pt x="385" y="255"/>
                  </a:lnTo>
                  <a:lnTo>
                    <a:pt x="383" y="250"/>
                  </a:lnTo>
                  <a:lnTo>
                    <a:pt x="379" y="251"/>
                  </a:lnTo>
                  <a:lnTo>
                    <a:pt x="377" y="250"/>
                  </a:lnTo>
                  <a:lnTo>
                    <a:pt x="377" y="250"/>
                  </a:lnTo>
                  <a:lnTo>
                    <a:pt x="377" y="248"/>
                  </a:lnTo>
                  <a:lnTo>
                    <a:pt x="377" y="246"/>
                  </a:lnTo>
                  <a:lnTo>
                    <a:pt x="377" y="246"/>
                  </a:lnTo>
                  <a:lnTo>
                    <a:pt x="377" y="244"/>
                  </a:lnTo>
                  <a:lnTo>
                    <a:pt x="375" y="248"/>
                  </a:lnTo>
                  <a:lnTo>
                    <a:pt x="373" y="248"/>
                  </a:lnTo>
                  <a:lnTo>
                    <a:pt x="371" y="248"/>
                  </a:lnTo>
                  <a:lnTo>
                    <a:pt x="370" y="246"/>
                  </a:lnTo>
                  <a:lnTo>
                    <a:pt x="370" y="246"/>
                  </a:lnTo>
                  <a:lnTo>
                    <a:pt x="373" y="246"/>
                  </a:lnTo>
                  <a:lnTo>
                    <a:pt x="373" y="244"/>
                  </a:lnTo>
                  <a:lnTo>
                    <a:pt x="375" y="244"/>
                  </a:lnTo>
                  <a:lnTo>
                    <a:pt x="375" y="244"/>
                  </a:lnTo>
                  <a:lnTo>
                    <a:pt x="377" y="244"/>
                  </a:lnTo>
                  <a:lnTo>
                    <a:pt x="379" y="244"/>
                  </a:lnTo>
                  <a:lnTo>
                    <a:pt x="379" y="244"/>
                  </a:lnTo>
                  <a:lnTo>
                    <a:pt x="379" y="246"/>
                  </a:lnTo>
                  <a:lnTo>
                    <a:pt x="381" y="248"/>
                  </a:lnTo>
                  <a:lnTo>
                    <a:pt x="381" y="248"/>
                  </a:lnTo>
                  <a:lnTo>
                    <a:pt x="383" y="248"/>
                  </a:lnTo>
                  <a:lnTo>
                    <a:pt x="385" y="248"/>
                  </a:lnTo>
                  <a:lnTo>
                    <a:pt x="387" y="244"/>
                  </a:lnTo>
                  <a:lnTo>
                    <a:pt x="387" y="244"/>
                  </a:lnTo>
                  <a:lnTo>
                    <a:pt x="387" y="240"/>
                  </a:lnTo>
                  <a:lnTo>
                    <a:pt x="389" y="238"/>
                  </a:lnTo>
                  <a:lnTo>
                    <a:pt x="389" y="238"/>
                  </a:lnTo>
                  <a:lnTo>
                    <a:pt x="392" y="236"/>
                  </a:lnTo>
                  <a:lnTo>
                    <a:pt x="392" y="238"/>
                  </a:lnTo>
                  <a:lnTo>
                    <a:pt x="392" y="240"/>
                  </a:lnTo>
                  <a:lnTo>
                    <a:pt x="391" y="242"/>
                  </a:lnTo>
                  <a:lnTo>
                    <a:pt x="391" y="242"/>
                  </a:lnTo>
                  <a:lnTo>
                    <a:pt x="391" y="244"/>
                  </a:lnTo>
                  <a:lnTo>
                    <a:pt x="391" y="246"/>
                  </a:lnTo>
                  <a:lnTo>
                    <a:pt x="391" y="248"/>
                  </a:lnTo>
                  <a:lnTo>
                    <a:pt x="394" y="248"/>
                  </a:lnTo>
                  <a:lnTo>
                    <a:pt x="394" y="248"/>
                  </a:lnTo>
                  <a:lnTo>
                    <a:pt x="396" y="246"/>
                  </a:lnTo>
                  <a:lnTo>
                    <a:pt x="398" y="248"/>
                  </a:lnTo>
                  <a:lnTo>
                    <a:pt x="398" y="248"/>
                  </a:lnTo>
                  <a:lnTo>
                    <a:pt x="398" y="250"/>
                  </a:lnTo>
                  <a:lnTo>
                    <a:pt x="398" y="250"/>
                  </a:lnTo>
                  <a:lnTo>
                    <a:pt x="398" y="250"/>
                  </a:lnTo>
                  <a:lnTo>
                    <a:pt x="400" y="250"/>
                  </a:lnTo>
                  <a:lnTo>
                    <a:pt x="402" y="250"/>
                  </a:lnTo>
                  <a:lnTo>
                    <a:pt x="404" y="248"/>
                  </a:lnTo>
                  <a:lnTo>
                    <a:pt x="406" y="246"/>
                  </a:lnTo>
                  <a:lnTo>
                    <a:pt x="408" y="244"/>
                  </a:lnTo>
                  <a:lnTo>
                    <a:pt x="410" y="244"/>
                  </a:lnTo>
                  <a:lnTo>
                    <a:pt x="412" y="246"/>
                  </a:lnTo>
                  <a:lnTo>
                    <a:pt x="413" y="246"/>
                  </a:lnTo>
                  <a:lnTo>
                    <a:pt x="413" y="246"/>
                  </a:lnTo>
                  <a:lnTo>
                    <a:pt x="415" y="246"/>
                  </a:lnTo>
                  <a:lnTo>
                    <a:pt x="415" y="246"/>
                  </a:lnTo>
                  <a:lnTo>
                    <a:pt x="423" y="248"/>
                  </a:lnTo>
                  <a:lnTo>
                    <a:pt x="425" y="250"/>
                  </a:lnTo>
                  <a:lnTo>
                    <a:pt x="429" y="248"/>
                  </a:lnTo>
                  <a:lnTo>
                    <a:pt x="429" y="246"/>
                  </a:lnTo>
                  <a:lnTo>
                    <a:pt x="431" y="246"/>
                  </a:lnTo>
                  <a:lnTo>
                    <a:pt x="432" y="246"/>
                  </a:lnTo>
                  <a:lnTo>
                    <a:pt x="434" y="246"/>
                  </a:lnTo>
                  <a:lnTo>
                    <a:pt x="436" y="248"/>
                  </a:lnTo>
                  <a:lnTo>
                    <a:pt x="436" y="248"/>
                  </a:lnTo>
                  <a:lnTo>
                    <a:pt x="438" y="246"/>
                  </a:lnTo>
                  <a:lnTo>
                    <a:pt x="438" y="246"/>
                  </a:lnTo>
                  <a:lnTo>
                    <a:pt x="440" y="246"/>
                  </a:lnTo>
                  <a:lnTo>
                    <a:pt x="440" y="248"/>
                  </a:lnTo>
                  <a:lnTo>
                    <a:pt x="440" y="250"/>
                  </a:lnTo>
                  <a:lnTo>
                    <a:pt x="440" y="251"/>
                  </a:lnTo>
                  <a:lnTo>
                    <a:pt x="438" y="251"/>
                  </a:lnTo>
                  <a:lnTo>
                    <a:pt x="436" y="251"/>
                  </a:lnTo>
                  <a:lnTo>
                    <a:pt x="434" y="250"/>
                  </a:lnTo>
                  <a:lnTo>
                    <a:pt x="434" y="250"/>
                  </a:lnTo>
                  <a:lnTo>
                    <a:pt x="431" y="250"/>
                  </a:lnTo>
                  <a:lnTo>
                    <a:pt x="429" y="251"/>
                  </a:lnTo>
                  <a:lnTo>
                    <a:pt x="425" y="257"/>
                  </a:lnTo>
                  <a:lnTo>
                    <a:pt x="423" y="255"/>
                  </a:lnTo>
                  <a:lnTo>
                    <a:pt x="421" y="255"/>
                  </a:lnTo>
                  <a:lnTo>
                    <a:pt x="421" y="255"/>
                  </a:lnTo>
                  <a:lnTo>
                    <a:pt x="419" y="255"/>
                  </a:lnTo>
                  <a:lnTo>
                    <a:pt x="419" y="255"/>
                  </a:lnTo>
                  <a:lnTo>
                    <a:pt x="419" y="255"/>
                  </a:lnTo>
                  <a:lnTo>
                    <a:pt x="417" y="253"/>
                  </a:lnTo>
                  <a:lnTo>
                    <a:pt x="415" y="253"/>
                  </a:lnTo>
                  <a:lnTo>
                    <a:pt x="413" y="251"/>
                  </a:lnTo>
                  <a:lnTo>
                    <a:pt x="412" y="251"/>
                  </a:lnTo>
                  <a:lnTo>
                    <a:pt x="410" y="253"/>
                  </a:lnTo>
                  <a:lnTo>
                    <a:pt x="408" y="253"/>
                  </a:lnTo>
                  <a:lnTo>
                    <a:pt x="406" y="255"/>
                  </a:lnTo>
                  <a:lnTo>
                    <a:pt x="406" y="257"/>
                  </a:lnTo>
                  <a:lnTo>
                    <a:pt x="404" y="259"/>
                  </a:lnTo>
                  <a:lnTo>
                    <a:pt x="404" y="261"/>
                  </a:lnTo>
                  <a:lnTo>
                    <a:pt x="404" y="263"/>
                  </a:lnTo>
                  <a:lnTo>
                    <a:pt x="404" y="265"/>
                  </a:lnTo>
                  <a:lnTo>
                    <a:pt x="404" y="265"/>
                  </a:lnTo>
                  <a:lnTo>
                    <a:pt x="404" y="267"/>
                  </a:lnTo>
                  <a:lnTo>
                    <a:pt x="404" y="269"/>
                  </a:lnTo>
                  <a:lnTo>
                    <a:pt x="404" y="270"/>
                  </a:lnTo>
                  <a:lnTo>
                    <a:pt x="402" y="274"/>
                  </a:lnTo>
                  <a:lnTo>
                    <a:pt x="402" y="276"/>
                  </a:lnTo>
                  <a:lnTo>
                    <a:pt x="402" y="276"/>
                  </a:lnTo>
                  <a:lnTo>
                    <a:pt x="404" y="282"/>
                  </a:lnTo>
                  <a:lnTo>
                    <a:pt x="406" y="282"/>
                  </a:lnTo>
                  <a:lnTo>
                    <a:pt x="408" y="282"/>
                  </a:lnTo>
                  <a:lnTo>
                    <a:pt x="410" y="280"/>
                  </a:lnTo>
                  <a:lnTo>
                    <a:pt x="412" y="278"/>
                  </a:lnTo>
                  <a:lnTo>
                    <a:pt x="412" y="278"/>
                  </a:lnTo>
                  <a:lnTo>
                    <a:pt x="413" y="276"/>
                  </a:lnTo>
                  <a:lnTo>
                    <a:pt x="419" y="276"/>
                  </a:lnTo>
                  <a:lnTo>
                    <a:pt x="419" y="276"/>
                  </a:lnTo>
                  <a:lnTo>
                    <a:pt x="419" y="274"/>
                  </a:lnTo>
                  <a:lnTo>
                    <a:pt x="419" y="274"/>
                  </a:lnTo>
                  <a:lnTo>
                    <a:pt x="421" y="274"/>
                  </a:lnTo>
                  <a:lnTo>
                    <a:pt x="421" y="274"/>
                  </a:lnTo>
                  <a:lnTo>
                    <a:pt x="421" y="274"/>
                  </a:lnTo>
                  <a:lnTo>
                    <a:pt x="423" y="274"/>
                  </a:lnTo>
                  <a:lnTo>
                    <a:pt x="423" y="274"/>
                  </a:lnTo>
                  <a:lnTo>
                    <a:pt x="423" y="274"/>
                  </a:lnTo>
                  <a:lnTo>
                    <a:pt x="421" y="274"/>
                  </a:lnTo>
                  <a:lnTo>
                    <a:pt x="421" y="276"/>
                  </a:lnTo>
                  <a:lnTo>
                    <a:pt x="421" y="278"/>
                  </a:lnTo>
                  <a:lnTo>
                    <a:pt x="419" y="280"/>
                  </a:lnTo>
                  <a:lnTo>
                    <a:pt x="415" y="278"/>
                  </a:lnTo>
                  <a:lnTo>
                    <a:pt x="413" y="280"/>
                  </a:lnTo>
                  <a:lnTo>
                    <a:pt x="412" y="280"/>
                  </a:lnTo>
                  <a:lnTo>
                    <a:pt x="410" y="286"/>
                  </a:lnTo>
                  <a:lnTo>
                    <a:pt x="410" y="288"/>
                  </a:lnTo>
                  <a:lnTo>
                    <a:pt x="408" y="288"/>
                  </a:lnTo>
                  <a:lnTo>
                    <a:pt x="408" y="290"/>
                  </a:lnTo>
                  <a:lnTo>
                    <a:pt x="406" y="295"/>
                  </a:lnTo>
                  <a:lnTo>
                    <a:pt x="406" y="297"/>
                  </a:lnTo>
                  <a:lnTo>
                    <a:pt x="404" y="301"/>
                  </a:lnTo>
                  <a:lnTo>
                    <a:pt x="404" y="303"/>
                  </a:lnTo>
                  <a:lnTo>
                    <a:pt x="404" y="305"/>
                  </a:lnTo>
                  <a:lnTo>
                    <a:pt x="406" y="307"/>
                  </a:lnTo>
                  <a:lnTo>
                    <a:pt x="408" y="307"/>
                  </a:lnTo>
                  <a:lnTo>
                    <a:pt x="412" y="305"/>
                  </a:lnTo>
                  <a:lnTo>
                    <a:pt x="413" y="305"/>
                  </a:lnTo>
                  <a:lnTo>
                    <a:pt x="415" y="305"/>
                  </a:lnTo>
                  <a:lnTo>
                    <a:pt x="417" y="305"/>
                  </a:lnTo>
                  <a:lnTo>
                    <a:pt x="423" y="305"/>
                  </a:lnTo>
                  <a:lnTo>
                    <a:pt x="425" y="305"/>
                  </a:lnTo>
                  <a:lnTo>
                    <a:pt x="429" y="305"/>
                  </a:lnTo>
                  <a:lnTo>
                    <a:pt x="431" y="305"/>
                  </a:lnTo>
                  <a:lnTo>
                    <a:pt x="432" y="305"/>
                  </a:lnTo>
                  <a:lnTo>
                    <a:pt x="434" y="303"/>
                  </a:lnTo>
                  <a:lnTo>
                    <a:pt x="436" y="303"/>
                  </a:lnTo>
                  <a:lnTo>
                    <a:pt x="440" y="305"/>
                  </a:lnTo>
                  <a:lnTo>
                    <a:pt x="444" y="305"/>
                  </a:lnTo>
                  <a:lnTo>
                    <a:pt x="448" y="303"/>
                  </a:lnTo>
                  <a:lnTo>
                    <a:pt x="450" y="301"/>
                  </a:lnTo>
                  <a:lnTo>
                    <a:pt x="450" y="301"/>
                  </a:lnTo>
                  <a:lnTo>
                    <a:pt x="452" y="299"/>
                  </a:lnTo>
                  <a:lnTo>
                    <a:pt x="452" y="299"/>
                  </a:lnTo>
                  <a:lnTo>
                    <a:pt x="455" y="299"/>
                  </a:lnTo>
                  <a:lnTo>
                    <a:pt x="459" y="297"/>
                  </a:lnTo>
                  <a:lnTo>
                    <a:pt x="459" y="297"/>
                  </a:lnTo>
                  <a:lnTo>
                    <a:pt x="459" y="297"/>
                  </a:lnTo>
                  <a:lnTo>
                    <a:pt x="459" y="299"/>
                  </a:lnTo>
                  <a:lnTo>
                    <a:pt x="459" y="299"/>
                  </a:lnTo>
                  <a:lnTo>
                    <a:pt x="457" y="299"/>
                  </a:lnTo>
                  <a:lnTo>
                    <a:pt x="455" y="299"/>
                  </a:lnTo>
                  <a:lnTo>
                    <a:pt x="450" y="303"/>
                  </a:lnTo>
                  <a:lnTo>
                    <a:pt x="444" y="305"/>
                  </a:lnTo>
                  <a:lnTo>
                    <a:pt x="442" y="307"/>
                  </a:lnTo>
                  <a:lnTo>
                    <a:pt x="438" y="309"/>
                  </a:lnTo>
                  <a:lnTo>
                    <a:pt x="436" y="309"/>
                  </a:lnTo>
                  <a:lnTo>
                    <a:pt x="434" y="309"/>
                  </a:lnTo>
                  <a:lnTo>
                    <a:pt x="432" y="309"/>
                  </a:lnTo>
                  <a:lnTo>
                    <a:pt x="431" y="309"/>
                  </a:lnTo>
                  <a:lnTo>
                    <a:pt x="431" y="309"/>
                  </a:lnTo>
                  <a:lnTo>
                    <a:pt x="429" y="312"/>
                  </a:lnTo>
                  <a:lnTo>
                    <a:pt x="427" y="314"/>
                  </a:lnTo>
                  <a:lnTo>
                    <a:pt x="425" y="316"/>
                  </a:lnTo>
                  <a:lnTo>
                    <a:pt x="423" y="318"/>
                  </a:lnTo>
                  <a:lnTo>
                    <a:pt x="421" y="318"/>
                  </a:lnTo>
                  <a:lnTo>
                    <a:pt x="419" y="318"/>
                  </a:lnTo>
                  <a:lnTo>
                    <a:pt x="415" y="322"/>
                  </a:lnTo>
                  <a:lnTo>
                    <a:pt x="413" y="322"/>
                  </a:lnTo>
                  <a:lnTo>
                    <a:pt x="413" y="324"/>
                  </a:lnTo>
                  <a:lnTo>
                    <a:pt x="410" y="329"/>
                  </a:lnTo>
                  <a:lnTo>
                    <a:pt x="410" y="331"/>
                  </a:lnTo>
                  <a:lnTo>
                    <a:pt x="412" y="331"/>
                  </a:lnTo>
                  <a:lnTo>
                    <a:pt x="417" y="328"/>
                  </a:lnTo>
                  <a:lnTo>
                    <a:pt x="419" y="326"/>
                  </a:lnTo>
                  <a:lnTo>
                    <a:pt x="423" y="324"/>
                  </a:lnTo>
                  <a:lnTo>
                    <a:pt x="425" y="326"/>
                  </a:lnTo>
                  <a:lnTo>
                    <a:pt x="425" y="326"/>
                  </a:lnTo>
                  <a:lnTo>
                    <a:pt x="425" y="328"/>
                  </a:lnTo>
                  <a:lnTo>
                    <a:pt x="423" y="326"/>
                  </a:lnTo>
                  <a:lnTo>
                    <a:pt x="417" y="329"/>
                  </a:lnTo>
                  <a:lnTo>
                    <a:pt x="417" y="329"/>
                  </a:lnTo>
                  <a:lnTo>
                    <a:pt x="413" y="331"/>
                  </a:lnTo>
                  <a:lnTo>
                    <a:pt x="408" y="333"/>
                  </a:lnTo>
                  <a:lnTo>
                    <a:pt x="408" y="333"/>
                  </a:lnTo>
                  <a:lnTo>
                    <a:pt x="408" y="335"/>
                  </a:lnTo>
                  <a:lnTo>
                    <a:pt x="410" y="335"/>
                  </a:lnTo>
                  <a:lnTo>
                    <a:pt x="410" y="337"/>
                  </a:lnTo>
                  <a:lnTo>
                    <a:pt x="413" y="335"/>
                  </a:lnTo>
                  <a:lnTo>
                    <a:pt x="413" y="335"/>
                  </a:lnTo>
                  <a:lnTo>
                    <a:pt x="415" y="337"/>
                  </a:lnTo>
                  <a:lnTo>
                    <a:pt x="413" y="337"/>
                  </a:lnTo>
                  <a:lnTo>
                    <a:pt x="412" y="337"/>
                  </a:lnTo>
                  <a:lnTo>
                    <a:pt x="410" y="337"/>
                  </a:lnTo>
                  <a:lnTo>
                    <a:pt x="410" y="339"/>
                  </a:lnTo>
                  <a:lnTo>
                    <a:pt x="410" y="339"/>
                  </a:lnTo>
                  <a:lnTo>
                    <a:pt x="410" y="341"/>
                  </a:lnTo>
                  <a:lnTo>
                    <a:pt x="412" y="345"/>
                  </a:lnTo>
                  <a:lnTo>
                    <a:pt x="412" y="347"/>
                  </a:lnTo>
                  <a:lnTo>
                    <a:pt x="412" y="347"/>
                  </a:lnTo>
                  <a:lnTo>
                    <a:pt x="413" y="347"/>
                  </a:lnTo>
                  <a:lnTo>
                    <a:pt x="415" y="345"/>
                  </a:lnTo>
                  <a:lnTo>
                    <a:pt x="415" y="347"/>
                  </a:lnTo>
                  <a:lnTo>
                    <a:pt x="415" y="348"/>
                  </a:lnTo>
                  <a:lnTo>
                    <a:pt x="417" y="348"/>
                  </a:lnTo>
                  <a:lnTo>
                    <a:pt x="417" y="350"/>
                  </a:lnTo>
                  <a:lnTo>
                    <a:pt x="419" y="350"/>
                  </a:lnTo>
                  <a:lnTo>
                    <a:pt x="423" y="352"/>
                  </a:lnTo>
                  <a:lnTo>
                    <a:pt x="423" y="352"/>
                  </a:lnTo>
                  <a:lnTo>
                    <a:pt x="421" y="352"/>
                  </a:lnTo>
                  <a:lnTo>
                    <a:pt x="421" y="352"/>
                  </a:lnTo>
                  <a:lnTo>
                    <a:pt x="419" y="354"/>
                  </a:lnTo>
                  <a:lnTo>
                    <a:pt x="413" y="358"/>
                  </a:lnTo>
                  <a:lnTo>
                    <a:pt x="412" y="360"/>
                  </a:lnTo>
                  <a:lnTo>
                    <a:pt x="412" y="362"/>
                  </a:lnTo>
                  <a:lnTo>
                    <a:pt x="413" y="364"/>
                  </a:lnTo>
                  <a:lnTo>
                    <a:pt x="413" y="364"/>
                  </a:lnTo>
                  <a:lnTo>
                    <a:pt x="415" y="362"/>
                  </a:lnTo>
                  <a:lnTo>
                    <a:pt x="417" y="362"/>
                  </a:lnTo>
                  <a:lnTo>
                    <a:pt x="417" y="362"/>
                  </a:lnTo>
                  <a:lnTo>
                    <a:pt x="417" y="362"/>
                  </a:lnTo>
                  <a:lnTo>
                    <a:pt x="417" y="358"/>
                  </a:lnTo>
                  <a:lnTo>
                    <a:pt x="417" y="358"/>
                  </a:lnTo>
                  <a:lnTo>
                    <a:pt x="417" y="356"/>
                  </a:lnTo>
                  <a:lnTo>
                    <a:pt x="419" y="356"/>
                  </a:lnTo>
                  <a:lnTo>
                    <a:pt x="421" y="356"/>
                  </a:lnTo>
                  <a:lnTo>
                    <a:pt x="421" y="356"/>
                  </a:lnTo>
                  <a:lnTo>
                    <a:pt x="423" y="358"/>
                  </a:lnTo>
                  <a:lnTo>
                    <a:pt x="421" y="360"/>
                  </a:lnTo>
                  <a:lnTo>
                    <a:pt x="421" y="362"/>
                  </a:lnTo>
                  <a:lnTo>
                    <a:pt x="419" y="366"/>
                  </a:lnTo>
                  <a:lnTo>
                    <a:pt x="423" y="364"/>
                  </a:lnTo>
                  <a:lnTo>
                    <a:pt x="423" y="364"/>
                  </a:lnTo>
                  <a:lnTo>
                    <a:pt x="423" y="362"/>
                  </a:lnTo>
                  <a:lnTo>
                    <a:pt x="423" y="360"/>
                  </a:lnTo>
                  <a:lnTo>
                    <a:pt x="423" y="360"/>
                  </a:lnTo>
                  <a:lnTo>
                    <a:pt x="425" y="360"/>
                  </a:lnTo>
                  <a:lnTo>
                    <a:pt x="425" y="362"/>
                  </a:lnTo>
                  <a:lnTo>
                    <a:pt x="425" y="362"/>
                  </a:lnTo>
                  <a:lnTo>
                    <a:pt x="429" y="360"/>
                  </a:lnTo>
                  <a:lnTo>
                    <a:pt x="431" y="360"/>
                  </a:lnTo>
                  <a:lnTo>
                    <a:pt x="431" y="360"/>
                  </a:lnTo>
                  <a:lnTo>
                    <a:pt x="434" y="367"/>
                  </a:lnTo>
                  <a:lnTo>
                    <a:pt x="432" y="367"/>
                  </a:lnTo>
                  <a:lnTo>
                    <a:pt x="431" y="369"/>
                  </a:lnTo>
                  <a:lnTo>
                    <a:pt x="427" y="367"/>
                  </a:lnTo>
                  <a:lnTo>
                    <a:pt x="427" y="367"/>
                  </a:lnTo>
                  <a:lnTo>
                    <a:pt x="427" y="369"/>
                  </a:lnTo>
                  <a:lnTo>
                    <a:pt x="427" y="371"/>
                  </a:lnTo>
                  <a:lnTo>
                    <a:pt x="429" y="371"/>
                  </a:lnTo>
                  <a:lnTo>
                    <a:pt x="429" y="371"/>
                  </a:lnTo>
                  <a:lnTo>
                    <a:pt x="431" y="371"/>
                  </a:lnTo>
                  <a:lnTo>
                    <a:pt x="431" y="371"/>
                  </a:lnTo>
                  <a:lnTo>
                    <a:pt x="431" y="373"/>
                  </a:lnTo>
                  <a:lnTo>
                    <a:pt x="431" y="373"/>
                  </a:lnTo>
                  <a:lnTo>
                    <a:pt x="432" y="375"/>
                  </a:lnTo>
                  <a:lnTo>
                    <a:pt x="434" y="375"/>
                  </a:lnTo>
                  <a:lnTo>
                    <a:pt x="436" y="373"/>
                  </a:lnTo>
                  <a:lnTo>
                    <a:pt x="438" y="373"/>
                  </a:lnTo>
                  <a:lnTo>
                    <a:pt x="436" y="375"/>
                  </a:lnTo>
                  <a:lnTo>
                    <a:pt x="434" y="377"/>
                  </a:lnTo>
                  <a:lnTo>
                    <a:pt x="432" y="379"/>
                  </a:lnTo>
                  <a:lnTo>
                    <a:pt x="434" y="383"/>
                  </a:lnTo>
                  <a:lnTo>
                    <a:pt x="434" y="383"/>
                  </a:lnTo>
                  <a:lnTo>
                    <a:pt x="432" y="387"/>
                  </a:lnTo>
                  <a:lnTo>
                    <a:pt x="432" y="388"/>
                  </a:lnTo>
                  <a:lnTo>
                    <a:pt x="436" y="387"/>
                  </a:lnTo>
                  <a:lnTo>
                    <a:pt x="436" y="385"/>
                  </a:lnTo>
                  <a:lnTo>
                    <a:pt x="438" y="385"/>
                  </a:lnTo>
                  <a:lnTo>
                    <a:pt x="438" y="385"/>
                  </a:lnTo>
                  <a:lnTo>
                    <a:pt x="438" y="387"/>
                  </a:lnTo>
                  <a:lnTo>
                    <a:pt x="436" y="388"/>
                  </a:lnTo>
                  <a:lnTo>
                    <a:pt x="436" y="390"/>
                  </a:lnTo>
                  <a:lnTo>
                    <a:pt x="438" y="392"/>
                  </a:lnTo>
                  <a:lnTo>
                    <a:pt x="440" y="390"/>
                  </a:lnTo>
                  <a:lnTo>
                    <a:pt x="440" y="390"/>
                  </a:lnTo>
                  <a:lnTo>
                    <a:pt x="440" y="392"/>
                  </a:lnTo>
                  <a:lnTo>
                    <a:pt x="440" y="392"/>
                  </a:lnTo>
                  <a:lnTo>
                    <a:pt x="440" y="392"/>
                  </a:lnTo>
                  <a:lnTo>
                    <a:pt x="440" y="394"/>
                  </a:lnTo>
                  <a:lnTo>
                    <a:pt x="442" y="394"/>
                  </a:lnTo>
                  <a:lnTo>
                    <a:pt x="442" y="394"/>
                  </a:lnTo>
                  <a:lnTo>
                    <a:pt x="442" y="396"/>
                  </a:lnTo>
                  <a:lnTo>
                    <a:pt x="442" y="396"/>
                  </a:lnTo>
                  <a:lnTo>
                    <a:pt x="438" y="398"/>
                  </a:lnTo>
                  <a:lnTo>
                    <a:pt x="438" y="400"/>
                  </a:lnTo>
                  <a:lnTo>
                    <a:pt x="440" y="402"/>
                  </a:lnTo>
                  <a:lnTo>
                    <a:pt x="438" y="406"/>
                  </a:lnTo>
                  <a:lnTo>
                    <a:pt x="438" y="407"/>
                  </a:lnTo>
                  <a:lnTo>
                    <a:pt x="438" y="409"/>
                  </a:lnTo>
                  <a:lnTo>
                    <a:pt x="436" y="409"/>
                  </a:lnTo>
                  <a:lnTo>
                    <a:pt x="436" y="411"/>
                  </a:lnTo>
                  <a:lnTo>
                    <a:pt x="438" y="413"/>
                  </a:lnTo>
                  <a:lnTo>
                    <a:pt x="438" y="413"/>
                  </a:lnTo>
                  <a:lnTo>
                    <a:pt x="438" y="417"/>
                  </a:lnTo>
                  <a:lnTo>
                    <a:pt x="436" y="419"/>
                  </a:lnTo>
                  <a:lnTo>
                    <a:pt x="436" y="421"/>
                  </a:lnTo>
                  <a:lnTo>
                    <a:pt x="434" y="425"/>
                  </a:lnTo>
                  <a:lnTo>
                    <a:pt x="434" y="425"/>
                  </a:lnTo>
                  <a:lnTo>
                    <a:pt x="436" y="426"/>
                  </a:lnTo>
                  <a:lnTo>
                    <a:pt x="436" y="430"/>
                  </a:lnTo>
                  <a:lnTo>
                    <a:pt x="436" y="432"/>
                  </a:lnTo>
                  <a:lnTo>
                    <a:pt x="434" y="434"/>
                  </a:lnTo>
                  <a:lnTo>
                    <a:pt x="432" y="434"/>
                  </a:lnTo>
                  <a:lnTo>
                    <a:pt x="431" y="434"/>
                  </a:lnTo>
                  <a:lnTo>
                    <a:pt x="431" y="434"/>
                  </a:lnTo>
                  <a:lnTo>
                    <a:pt x="431" y="434"/>
                  </a:lnTo>
                  <a:lnTo>
                    <a:pt x="431" y="434"/>
                  </a:lnTo>
                  <a:lnTo>
                    <a:pt x="429" y="436"/>
                  </a:lnTo>
                  <a:lnTo>
                    <a:pt x="429" y="436"/>
                  </a:lnTo>
                  <a:lnTo>
                    <a:pt x="427" y="436"/>
                  </a:lnTo>
                  <a:lnTo>
                    <a:pt x="427" y="438"/>
                  </a:lnTo>
                  <a:lnTo>
                    <a:pt x="427" y="440"/>
                  </a:lnTo>
                  <a:lnTo>
                    <a:pt x="425" y="442"/>
                  </a:lnTo>
                  <a:lnTo>
                    <a:pt x="425" y="444"/>
                  </a:lnTo>
                  <a:lnTo>
                    <a:pt x="423" y="445"/>
                  </a:lnTo>
                  <a:lnTo>
                    <a:pt x="423" y="447"/>
                  </a:lnTo>
                  <a:lnTo>
                    <a:pt x="423" y="449"/>
                  </a:lnTo>
                  <a:lnTo>
                    <a:pt x="425" y="449"/>
                  </a:lnTo>
                  <a:lnTo>
                    <a:pt x="425" y="449"/>
                  </a:lnTo>
                  <a:lnTo>
                    <a:pt x="425" y="449"/>
                  </a:lnTo>
                  <a:lnTo>
                    <a:pt x="425" y="449"/>
                  </a:lnTo>
                  <a:lnTo>
                    <a:pt x="425" y="451"/>
                  </a:lnTo>
                  <a:lnTo>
                    <a:pt x="423" y="453"/>
                  </a:lnTo>
                  <a:lnTo>
                    <a:pt x="423" y="453"/>
                  </a:lnTo>
                  <a:lnTo>
                    <a:pt x="423" y="457"/>
                  </a:lnTo>
                  <a:lnTo>
                    <a:pt x="421" y="463"/>
                  </a:lnTo>
                  <a:lnTo>
                    <a:pt x="421" y="463"/>
                  </a:lnTo>
                  <a:lnTo>
                    <a:pt x="421" y="463"/>
                  </a:lnTo>
                  <a:lnTo>
                    <a:pt x="423" y="463"/>
                  </a:lnTo>
                  <a:lnTo>
                    <a:pt x="425" y="463"/>
                  </a:lnTo>
                  <a:lnTo>
                    <a:pt x="425" y="461"/>
                  </a:lnTo>
                  <a:lnTo>
                    <a:pt x="427" y="461"/>
                  </a:lnTo>
                  <a:lnTo>
                    <a:pt x="427" y="461"/>
                  </a:lnTo>
                  <a:lnTo>
                    <a:pt x="427" y="461"/>
                  </a:lnTo>
                  <a:lnTo>
                    <a:pt x="431" y="461"/>
                  </a:lnTo>
                  <a:lnTo>
                    <a:pt x="431" y="461"/>
                  </a:lnTo>
                  <a:lnTo>
                    <a:pt x="431" y="461"/>
                  </a:lnTo>
                  <a:lnTo>
                    <a:pt x="431" y="461"/>
                  </a:lnTo>
                  <a:lnTo>
                    <a:pt x="432" y="461"/>
                  </a:lnTo>
                  <a:lnTo>
                    <a:pt x="434" y="461"/>
                  </a:lnTo>
                  <a:lnTo>
                    <a:pt x="436" y="461"/>
                  </a:lnTo>
                  <a:lnTo>
                    <a:pt x="438" y="461"/>
                  </a:lnTo>
                  <a:lnTo>
                    <a:pt x="442" y="459"/>
                  </a:lnTo>
                  <a:lnTo>
                    <a:pt x="442" y="457"/>
                  </a:lnTo>
                  <a:lnTo>
                    <a:pt x="442" y="453"/>
                  </a:lnTo>
                  <a:lnTo>
                    <a:pt x="442" y="453"/>
                  </a:lnTo>
                  <a:lnTo>
                    <a:pt x="442" y="451"/>
                  </a:lnTo>
                  <a:lnTo>
                    <a:pt x="442" y="451"/>
                  </a:lnTo>
                  <a:lnTo>
                    <a:pt x="440" y="451"/>
                  </a:lnTo>
                  <a:lnTo>
                    <a:pt x="438" y="449"/>
                  </a:lnTo>
                  <a:lnTo>
                    <a:pt x="438" y="449"/>
                  </a:lnTo>
                  <a:lnTo>
                    <a:pt x="438" y="447"/>
                  </a:lnTo>
                  <a:lnTo>
                    <a:pt x="438" y="447"/>
                  </a:lnTo>
                  <a:lnTo>
                    <a:pt x="438" y="447"/>
                  </a:lnTo>
                  <a:lnTo>
                    <a:pt x="438" y="447"/>
                  </a:lnTo>
                  <a:lnTo>
                    <a:pt x="438" y="445"/>
                  </a:lnTo>
                  <a:lnTo>
                    <a:pt x="438" y="445"/>
                  </a:lnTo>
                  <a:lnTo>
                    <a:pt x="438" y="445"/>
                  </a:lnTo>
                  <a:lnTo>
                    <a:pt x="440" y="445"/>
                  </a:lnTo>
                  <a:lnTo>
                    <a:pt x="440" y="445"/>
                  </a:lnTo>
                  <a:lnTo>
                    <a:pt x="442" y="445"/>
                  </a:lnTo>
                  <a:lnTo>
                    <a:pt x="442" y="445"/>
                  </a:lnTo>
                  <a:lnTo>
                    <a:pt x="442" y="445"/>
                  </a:lnTo>
                  <a:lnTo>
                    <a:pt x="444" y="442"/>
                  </a:lnTo>
                  <a:lnTo>
                    <a:pt x="444" y="442"/>
                  </a:lnTo>
                  <a:lnTo>
                    <a:pt x="444" y="442"/>
                  </a:lnTo>
                  <a:lnTo>
                    <a:pt x="446" y="442"/>
                  </a:lnTo>
                  <a:lnTo>
                    <a:pt x="446" y="442"/>
                  </a:lnTo>
                  <a:lnTo>
                    <a:pt x="448" y="442"/>
                  </a:lnTo>
                  <a:lnTo>
                    <a:pt x="448" y="442"/>
                  </a:lnTo>
                  <a:lnTo>
                    <a:pt x="450" y="440"/>
                  </a:lnTo>
                  <a:lnTo>
                    <a:pt x="452" y="438"/>
                  </a:lnTo>
                  <a:lnTo>
                    <a:pt x="453" y="438"/>
                  </a:lnTo>
                  <a:lnTo>
                    <a:pt x="453" y="438"/>
                  </a:lnTo>
                  <a:lnTo>
                    <a:pt x="453" y="438"/>
                  </a:lnTo>
                  <a:lnTo>
                    <a:pt x="455" y="438"/>
                  </a:lnTo>
                  <a:lnTo>
                    <a:pt x="455" y="440"/>
                  </a:lnTo>
                  <a:lnTo>
                    <a:pt x="453" y="440"/>
                  </a:lnTo>
                  <a:lnTo>
                    <a:pt x="453" y="442"/>
                  </a:lnTo>
                  <a:lnTo>
                    <a:pt x="455" y="442"/>
                  </a:lnTo>
                  <a:lnTo>
                    <a:pt x="455" y="442"/>
                  </a:lnTo>
                  <a:lnTo>
                    <a:pt x="455" y="442"/>
                  </a:lnTo>
                  <a:lnTo>
                    <a:pt x="457" y="442"/>
                  </a:lnTo>
                  <a:lnTo>
                    <a:pt x="457" y="442"/>
                  </a:lnTo>
                  <a:lnTo>
                    <a:pt x="459" y="442"/>
                  </a:lnTo>
                  <a:lnTo>
                    <a:pt x="459" y="444"/>
                  </a:lnTo>
                  <a:lnTo>
                    <a:pt x="459" y="444"/>
                  </a:lnTo>
                  <a:lnTo>
                    <a:pt x="459" y="444"/>
                  </a:lnTo>
                  <a:lnTo>
                    <a:pt x="459" y="445"/>
                  </a:lnTo>
                  <a:lnTo>
                    <a:pt x="457" y="445"/>
                  </a:lnTo>
                  <a:lnTo>
                    <a:pt x="452" y="449"/>
                  </a:lnTo>
                  <a:lnTo>
                    <a:pt x="452" y="449"/>
                  </a:lnTo>
                  <a:lnTo>
                    <a:pt x="452" y="449"/>
                  </a:lnTo>
                  <a:lnTo>
                    <a:pt x="452" y="449"/>
                  </a:lnTo>
                  <a:lnTo>
                    <a:pt x="452" y="451"/>
                  </a:lnTo>
                  <a:lnTo>
                    <a:pt x="452" y="451"/>
                  </a:lnTo>
                  <a:lnTo>
                    <a:pt x="452" y="451"/>
                  </a:lnTo>
                  <a:lnTo>
                    <a:pt x="452" y="455"/>
                  </a:lnTo>
                  <a:lnTo>
                    <a:pt x="452" y="455"/>
                  </a:lnTo>
                  <a:lnTo>
                    <a:pt x="453" y="457"/>
                  </a:lnTo>
                  <a:lnTo>
                    <a:pt x="453" y="457"/>
                  </a:lnTo>
                  <a:lnTo>
                    <a:pt x="455" y="457"/>
                  </a:lnTo>
                  <a:lnTo>
                    <a:pt x="457" y="457"/>
                  </a:lnTo>
                  <a:lnTo>
                    <a:pt x="457" y="457"/>
                  </a:lnTo>
                  <a:lnTo>
                    <a:pt x="457" y="455"/>
                  </a:lnTo>
                  <a:lnTo>
                    <a:pt x="457" y="455"/>
                  </a:lnTo>
                  <a:lnTo>
                    <a:pt x="457" y="453"/>
                  </a:lnTo>
                  <a:lnTo>
                    <a:pt x="457" y="453"/>
                  </a:lnTo>
                  <a:lnTo>
                    <a:pt x="457" y="453"/>
                  </a:lnTo>
                  <a:lnTo>
                    <a:pt x="459" y="453"/>
                  </a:lnTo>
                  <a:lnTo>
                    <a:pt x="461" y="453"/>
                  </a:lnTo>
                  <a:lnTo>
                    <a:pt x="463" y="453"/>
                  </a:lnTo>
                  <a:lnTo>
                    <a:pt x="463" y="455"/>
                  </a:lnTo>
                  <a:lnTo>
                    <a:pt x="463" y="459"/>
                  </a:lnTo>
                  <a:lnTo>
                    <a:pt x="465" y="459"/>
                  </a:lnTo>
                  <a:lnTo>
                    <a:pt x="467" y="459"/>
                  </a:lnTo>
                  <a:lnTo>
                    <a:pt x="467" y="459"/>
                  </a:lnTo>
                  <a:lnTo>
                    <a:pt x="469" y="459"/>
                  </a:lnTo>
                  <a:lnTo>
                    <a:pt x="469" y="457"/>
                  </a:lnTo>
                  <a:lnTo>
                    <a:pt x="471" y="457"/>
                  </a:lnTo>
                  <a:lnTo>
                    <a:pt x="471" y="457"/>
                  </a:lnTo>
                  <a:lnTo>
                    <a:pt x="471" y="455"/>
                  </a:lnTo>
                  <a:lnTo>
                    <a:pt x="471" y="455"/>
                  </a:lnTo>
                  <a:lnTo>
                    <a:pt x="471" y="455"/>
                  </a:lnTo>
                  <a:lnTo>
                    <a:pt x="471" y="453"/>
                  </a:lnTo>
                  <a:lnTo>
                    <a:pt x="471" y="453"/>
                  </a:lnTo>
                  <a:lnTo>
                    <a:pt x="472" y="451"/>
                  </a:lnTo>
                  <a:lnTo>
                    <a:pt x="472" y="451"/>
                  </a:lnTo>
                  <a:lnTo>
                    <a:pt x="478" y="453"/>
                  </a:lnTo>
                  <a:lnTo>
                    <a:pt x="480" y="453"/>
                  </a:lnTo>
                  <a:lnTo>
                    <a:pt x="482" y="453"/>
                  </a:lnTo>
                  <a:lnTo>
                    <a:pt x="482" y="453"/>
                  </a:lnTo>
                  <a:lnTo>
                    <a:pt x="482" y="453"/>
                  </a:lnTo>
                  <a:lnTo>
                    <a:pt x="484" y="451"/>
                  </a:lnTo>
                  <a:lnTo>
                    <a:pt x="482" y="449"/>
                  </a:lnTo>
                  <a:lnTo>
                    <a:pt x="482" y="449"/>
                  </a:lnTo>
                  <a:lnTo>
                    <a:pt x="482" y="447"/>
                  </a:lnTo>
                  <a:lnTo>
                    <a:pt x="484" y="447"/>
                  </a:lnTo>
                  <a:lnTo>
                    <a:pt x="484" y="445"/>
                  </a:lnTo>
                  <a:lnTo>
                    <a:pt x="484" y="444"/>
                  </a:lnTo>
                  <a:lnTo>
                    <a:pt x="484" y="440"/>
                  </a:lnTo>
                  <a:lnTo>
                    <a:pt x="484" y="438"/>
                  </a:lnTo>
                  <a:lnTo>
                    <a:pt x="484" y="438"/>
                  </a:lnTo>
                  <a:lnTo>
                    <a:pt x="484" y="436"/>
                  </a:lnTo>
                  <a:lnTo>
                    <a:pt x="482" y="436"/>
                  </a:lnTo>
                  <a:lnTo>
                    <a:pt x="482" y="436"/>
                  </a:lnTo>
                  <a:lnTo>
                    <a:pt x="482" y="436"/>
                  </a:lnTo>
                  <a:lnTo>
                    <a:pt x="482" y="434"/>
                  </a:lnTo>
                  <a:lnTo>
                    <a:pt x="480" y="434"/>
                  </a:lnTo>
                  <a:lnTo>
                    <a:pt x="482" y="432"/>
                  </a:lnTo>
                  <a:lnTo>
                    <a:pt x="484" y="430"/>
                  </a:lnTo>
                  <a:lnTo>
                    <a:pt x="488" y="423"/>
                  </a:lnTo>
                  <a:lnTo>
                    <a:pt x="490" y="419"/>
                  </a:lnTo>
                  <a:lnTo>
                    <a:pt x="490" y="417"/>
                  </a:lnTo>
                  <a:lnTo>
                    <a:pt x="490" y="415"/>
                  </a:lnTo>
                  <a:lnTo>
                    <a:pt x="490" y="413"/>
                  </a:lnTo>
                  <a:lnTo>
                    <a:pt x="490" y="413"/>
                  </a:lnTo>
                  <a:lnTo>
                    <a:pt x="488" y="413"/>
                  </a:lnTo>
                  <a:lnTo>
                    <a:pt x="488" y="413"/>
                  </a:lnTo>
                  <a:lnTo>
                    <a:pt x="488" y="413"/>
                  </a:lnTo>
                  <a:lnTo>
                    <a:pt x="486" y="413"/>
                  </a:lnTo>
                  <a:lnTo>
                    <a:pt x="486" y="413"/>
                  </a:lnTo>
                  <a:lnTo>
                    <a:pt x="486" y="411"/>
                  </a:lnTo>
                  <a:lnTo>
                    <a:pt x="486" y="411"/>
                  </a:lnTo>
                  <a:lnTo>
                    <a:pt x="486" y="409"/>
                  </a:lnTo>
                  <a:lnTo>
                    <a:pt x="486" y="409"/>
                  </a:lnTo>
                  <a:lnTo>
                    <a:pt x="484" y="407"/>
                  </a:lnTo>
                  <a:lnTo>
                    <a:pt x="484" y="407"/>
                  </a:lnTo>
                  <a:lnTo>
                    <a:pt x="484" y="407"/>
                  </a:lnTo>
                  <a:lnTo>
                    <a:pt x="482" y="407"/>
                  </a:lnTo>
                  <a:lnTo>
                    <a:pt x="482" y="407"/>
                  </a:lnTo>
                  <a:lnTo>
                    <a:pt x="482" y="407"/>
                  </a:lnTo>
                  <a:lnTo>
                    <a:pt x="482" y="407"/>
                  </a:lnTo>
                  <a:lnTo>
                    <a:pt x="482" y="406"/>
                  </a:lnTo>
                  <a:lnTo>
                    <a:pt x="482" y="406"/>
                  </a:lnTo>
                  <a:lnTo>
                    <a:pt x="486" y="406"/>
                  </a:lnTo>
                  <a:lnTo>
                    <a:pt x="486" y="404"/>
                  </a:lnTo>
                  <a:lnTo>
                    <a:pt x="488" y="400"/>
                  </a:lnTo>
                  <a:lnTo>
                    <a:pt x="488" y="400"/>
                  </a:lnTo>
                  <a:lnTo>
                    <a:pt x="488" y="400"/>
                  </a:lnTo>
                  <a:lnTo>
                    <a:pt x="490" y="400"/>
                  </a:lnTo>
                  <a:lnTo>
                    <a:pt x="490" y="400"/>
                  </a:lnTo>
                  <a:lnTo>
                    <a:pt x="490" y="400"/>
                  </a:lnTo>
                  <a:lnTo>
                    <a:pt x="490" y="402"/>
                  </a:lnTo>
                  <a:lnTo>
                    <a:pt x="492" y="404"/>
                  </a:lnTo>
                  <a:lnTo>
                    <a:pt x="492" y="404"/>
                  </a:lnTo>
                  <a:lnTo>
                    <a:pt x="493" y="406"/>
                  </a:lnTo>
                  <a:lnTo>
                    <a:pt x="493" y="406"/>
                  </a:lnTo>
                  <a:lnTo>
                    <a:pt x="493" y="406"/>
                  </a:lnTo>
                  <a:lnTo>
                    <a:pt x="497" y="407"/>
                  </a:lnTo>
                  <a:lnTo>
                    <a:pt x="501" y="409"/>
                  </a:lnTo>
                  <a:lnTo>
                    <a:pt x="501" y="409"/>
                  </a:lnTo>
                  <a:lnTo>
                    <a:pt x="503" y="411"/>
                  </a:lnTo>
                  <a:lnTo>
                    <a:pt x="505" y="415"/>
                  </a:lnTo>
                  <a:lnTo>
                    <a:pt x="505" y="415"/>
                  </a:lnTo>
                  <a:lnTo>
                    <a:pt x="507" y="415"/>
                  </a:lnTo>
                  <a:lnTo>
                    <a:pt x="507" y="415"/>
                  </a:lnTo>
                  <a:lnTo>
                    <a:pt x="513" y="415"/>
                  </a:lnTo>
                  <a:lnTo>
                    <a:pt x="513" y="415"/>
                  </a:lnTo>
                  <a:lnTo>
                    <a:pt x="516" y="413"/>
                  </a:lnTo>
                  <a:lnTo>
                    <a:pt x="518" y="413"/>
                  </a:lnTo>
                  <a:lnTo>
                    <a:pt x="520" y="411"/>
                  </a:lnTo>
                  <a:lnTo>
                    <a:pt x="520" y="411"/>
                  </a:lnTo>
                  <a:lnTo>
                    <a:pt x="522" y="409"/>
                  </a:lnTo>
                  <a:lnTo>
                    <a:pt x="522" y="409"/>
                  </a:lnTo>
                  <a:lnTo>
                    <a:pt x="522" y="407"/>
                  </a:lnTo>
                  <a:lnTo>
                    <a:pt x="522" y="407"/>
                  </a:lnTo>
                  <a:lnTo>
                    <a:pt x="522" y="406"/>
                  </a:lnTo>
                  <a:lnTo>
                    <a:pt x="522" y="404"/>
                  </a:lnTo>
                  <a:lnTo>
                    <a:pt x="526" y="402"/>
                  </a:lnTo>
                  <a:lnTo>
                    <a:pt x="530" y="398"/>
                  </a:lnTo>
                  <a:lnTo>
                    <a:pt x="530" y="396"/>
                  </a:lnTo>
                  <a:lnTo>
                    <a:pt x="532" y="396"/>
                  </a:lnTo>
                  <a:lnTo>
                    <a:pt x="532" y="394"/>
                  </a:lnTo>
                  <a:lnTo>
                    <a:pt x="532" y="392"/>
                  </a:lnTo>
                  <a:lnTo>
                    <a:pt x="532" y="390"/>
                  </a:lnTo>
                  <a:lnTo>
                    <a:pt x="532" y="383"/>
                  </a:lnTo>
                  <a:lnTo>
                    <a:pt x="530" y="381"/>
                  </a:lnTo>
                  <a:lnTo>
                    <a:pt x="530" y="379"/>
                  </a:lnTo>
                  <a:lnTo>
                    <a:pt x="528" y="375"/>
                  </a:lnTo>
                  <a:lnTo>
                    <a:pt x="528" y="375"/>
                  </a:lnTo>
                  <a:lnTo>
                    <a:pt x="528" y="373"/>
                  </a:lnTo>
                  <a:lnTo>
                    <a:pt x="526" y="373"/>
                  </a:lnTo>
                  <a:lnTo>
                    <a:pt x="524" y="371"/>
                  </a:lnTo>
                  <a:lnTo>
                    <a:pt x="522" y="369"/>
                  </a:lnTo>
                  <a:lnTo>
                    <a:pt x="522" y="367"/>
                  </a:lnTo>
                  <a:lnTo>
                    <a:pt x="520" y="366"/>
                  </a:lnTo>
                  <a:lnTo>
                    <a:pt x="518" y="366"/>
                  </a:lnTo>
                  <a:lnTo>
                    <a:pt x="516" y="366"/>
                  </a:lnTo>
                  <a:lnTo>
                    <a:pt x="514" y="364"/>
                  </a:lnTo>
                  <a:lnTo>
                    <a:pt x="514" y="362"/>
                  </a:lnTo>
                  <a:lnTo>
                    <a:pt x="514" y="362"/>
                  </a:lnTo>
                  <a:lnTo>
                    <a:pt x="513" y="360"/>
                  </a:lnTo>
                  <a:lnTo>
                    <a:pt x="513" y="360"/>
                  </a:lnTo>
                  <a:lnTo>
                    <a:pt x="511" y="360"/>
                  </a:lnTo>
                  <a:lnTo>
                    <a:pt x="511" y="360"/>
                  </a:lnTo>
                  <a:lnTo>
                    <a:pt x="509" y="360"/>
                  </a:lnTo>
                  <a:lnTo>
                    <a:pt x="509" y="360"/>
                  </a:lnTo>
                  <a:lnTo>
                    <a:pt x="507" y="360"/>
                  </a:lnTo>
                  <a:lnTo>
                    <a:pt x="503" y="358"/>
                  </a:lnTo>
                  <a:lnTo>
                    <a:pt x="499" y="354"/>
                  </a:lnTo>
                  <a:lnTo>
                    <a:pt x="499" y="354"/>
                  </a:lnTo>
                  <a:lnTo>
                    <a:pt x="499" y="354"/>
                  </a:lnTo>
                  <a:lnTo>
                    <a:pt x="499" y="352"/>
                  </a:lnTo>
                  <a:lnTo>
                    <a:pt x="499" y="352"/>
                  </a:lnTo>
                  <a:lnTo>
                    <a:pt x="499" y="352"/>
                  </a:lnTo>
                  <a:lnTo>
                    <a:pt x="501" y="352"/>
                  </a:lnTo>
                  <a:lnTo>
                    <a:pt x="507" y="356"/>
                  </a:lnTo>
                  <a:lnTo>
                    <a:pt x="507" y="356"/>
                  </a:lnTo>
                  <a:lnTo>
                    <a:pt x="507" y="356"/>
                  </a:lnTo>
                  <a:lnTo>
                    <a:pt x="509" y="356"/>
                  </a:lnTo>
                  <a:lnTo>
                    <a:pt x="509" y="354"/>
                  </a:lnTo>
                  <a:lnTo>
                    <a:pt x="509" y="356"/>
                  </a:lnTo>
                  <a:lnTo>
                    <a:pt x="511" y="356"/>
                  </a:lnTo>
                  <a:lnTo>
                    <a:pt x="511" y="356"/>
                  </a:lnTo>
                  <a:lnTo>
                    <a:pt x="513" y="356"/>
                  </a:lnTo>
                  <a:lnTo>
                    <a:pt x="513" y="356"/>
                  </a:lnTo>
                  <a:lnTo>
                    <a:pt x="513" y="356"/>
                  </a:lnTo>
                  <a:lnTo>
                    <a:pt x="514" y="354"/>
                  </a:lnTo>
                  <a:lnTo>
                    <a:pt x="514" y="354"/>
                  </a:lnTo>
                  <a:lnTo>
                    <a:pt x="514" y="354"/>
                  </a:lnTo>
                  <a:lnTo>
                    <a:pt x="516" y="352"/>
                  </a:lnTo>
                  <a:lnTo>
                    <a:pt x="518" y="352"/>
                  </a:lnTo>
                  <a:lnTo>
                    <a:pt x="518" y="352"/>
                  </a:lnTo>
                  <a:lnTo>
                    <a:pt x="520" y="350"/>
                  </a:lnTo>
                  <a:lnTo>
                    <a:pt x="520" y="347"/>
                  </a:lnTo>
                  <a:lnTo>
                    <a:pt x="522" y="345"/>
                  </a:lnTo>
                  <a:lnTo>
                    <a:pt x="522" y="345"/>
                  </a:lnTo>
                  <a:lnTo>
                    <a:pt x="522" y="345"/>
                  </a:lnTo>
                  <a:lnTo>
                    <a:pt x="524" y="345"/>
                  </a:lnTo>
                  <a:lnTo>
                    <a:pt x="526" y="347"/>
                  </a:lnTo>
                  <a:lnTo>
                    <a:pt x="526" y="347"/>
                  </a:lnTo>
                  <a:lnTo>
                    <a:pt x="532" y="345"/>
                  </a:lnTo>
                  <a:lnTo>
                    <a:pt x="532" y="343"/>
                  </a:lnTo>
                  <a:lnTo>
                    <a:pt x="533" y="341"/>
                  </a:lnTo>
                  <a:lnTo>
                    <a:pt x="535" y="335"/>
                  </a:lnTo>
                  <a:lnTo>
                    <a:pt x="535" y="333"/>
                  </a:lnTo>
                  <a:lnTo>
                    <a:pt x="537" y="331"/>
                  </a:lnTo>
                  <a:lnTo>
                    <a:pt x="539" y="331"/>
                  </a:lnTo>
                  <a:lnTo>
                    <a:pt x="541" y="329"/>
                  </a:lnTo>
                  <a:lnTo>
                    <a:pt x="543" y="328"/>
                  </a:lnTo>
                  <a:lnTo>
                    <a:pt x="543" y="326"/>
                  </a:lnTo>
                  <a:lnTo>
                    <a:pt x="545" y="326"/>
                  </a:lnTo>
                  <a:lnTo>
                    <a:pt x="545" y="326"/>
                  </a:lnTo>
                  <a:lnTo>
                    <a:pt x="549" y="328"/>
                  </a:lnTo>
                  <a:lnTo>
                    <a:pt x="549" y="328"/>
                  </a:lnTo>
                  <a:lnTo>
                    <a:pt x="551" y="328"/>
                  </a:lnTo>
                  <a:lnTo>
                    <a:pt x="562" y="324"/>
                  </a:lnTo>
                  <a:lnTo>
                    <a:pt x="564" y="324"/>
                  </a:lnTo>
                  <a:lnTo>
                    <a:pt x="566" y="322"/>
                  </a:lnTo>
                  <a:lnTo>
                    <a:pt x="568" y="322"/>
                  </a:lnTo>
                  <a:lnTo>
                    <a:pt x="568" y="320"/>
                  </a:lnTo>
                  <a:lnTo>
                    <a:pt x="568" y="320"/>
                  </a:lnTo>
                  <a:lnTo>
                    <a:pt x="568" y="320"/>
                  </a:lnTo>
                  <a:lnTo>
                    <a:pt x="568" y="318"/>
                  </a:lnTo>
                  <a:lnTo>
                    <a:pt x="568" y="318"/>
                  </a:lnTo>
                  <a:lnTo>
                    <a:pt x="566" y="316"/>
                  </a:lnTo>
                  <a:lnTo>
                    <a:pt x="566" y="316"/>
                  </a:lnTo>
                  <a:lnTo>
                    <a:pt x="566" y="316"/>
                  </a:lnTo>
                  <a:lnTo>
                    <a:pt x="566" y="316"/>
                  </a:lnTo>
                  <a:lnTo>
                    <a:pt x="566" y="316"/>
                  </a:lnTo>
                  <a:lnTo>
                    <a:pt x="564" y="316"/>
                  </a:lnTo>
                  <a:lnTo>
                    <a:pt x="562" y="316"/>
                  </a:lnTo>
                  <a:lnTo>
                    <a:pt x="562" y="318"/>
                  </a:lnTo>
                  <a:lnTo>
                    <a:pt x="562" y="318"/>
                  </a:lnTo>
                  <a:lnTo>
                    <a:pt x="558" y="318"/>
                  </a:lnTo>
                  <a:lnTo>
                    <a:pt x="556" y="318"/>
                  </a:lnTo>
                  <a:lnTo>
                    <a:pt x="556" y="318"/>
                  </a:lnTo>
                  <a:lnTo>
                    <a:pt x="556" y="316"/>
                  </a:lnTo>
                  <a:lnTo>
                    <a:pt x="554" y="316"/>
                  </a:lnTo>
                  <a:lnTo>
                    <a:pt x="554" y="316"/>
                  </a:lnTo>
                  <a:lnTo>
                    <a:pt x="553" y="316"/>
                  </a:lnTo>
                  <a:lnTo>
                    <a:pt x="553" y="316"/>
                  </a:lnTo>
                  <a:lnTo>
                    <a:pt x="553" y="316"/>
                  </a:lnTo>
                  <a:lnTo>
                    <a:pt x="553" y="316"/>
                  </a:lnTo>
                  <a:lnTo>
                    <a:pt x="551" y="316"/>
                  </a:lnTo>
                  <a:lnTo>
                    <a:pt x="551" y="318"/>
                  </a:lnTo>
                  <a:lnTo>
                    <a:pt x="551" y="318"/>
                  </a:lnTo>
                  <a:lnTo>
                    <a:pt x="543" y="316"/>
                  </a:lnTo>
                  <a:lnTo>
                    <a:pt x="541" y="316"/>
                  </a:lnTo>
                  <a:lnTo>
                    <a:pt x="539" y="318"/>
                  </a:lnTo>
                  <a:lnTo>
                    <a:pt x="535" y="318"/>
                  </a:lnTo>
                  <a:lnTo>
                    <a:pt x="533" y="320"/>
                  </a:lnTo>
                  <a:lnTo>
                    <a:pt x="526" y="320"/>
                  </a:lnTo>
                  <a:lnTo>
                    <a:pt x="524" y="322"/>
                  </a:lnTo>
                  <a:lnTo>
                    <a:pt x="524" y="322"/>
                  </a:lnTo>
                  <a:lnTo>
                    <a:pt x="522" y="322"/>
                  </a:lnTo>
                  <a:lnTo>
                    <a:pt x="522" y="322"/>
                  </a:lnTo>
                  <a:lnTo>
                    <a:pt x="522" y="318"/>
                  </a:lnTo>
                  <a:lnTo>
                    <a:pt x="520" y="318"/>
                  </a:lnTo>
                  <a:lnTo>
                    <a:pt x="518" y="314"/>
                  </a:lnTo>
                  <a:lnTo>
                    <a:pt x="518" y="312"/>
                  </a:lnTo>
                  <a:lnTo>
                    <a:pt x="516" y="312"/>
                  </a:lnTo>
                  <a:lnTo>
                    <a:pt x="516" y="310"/>
                  </a:lnTo>
                  <a:lnTo>
                    <a:pt x="518" y="310"/>
                  </a:lnTo>
                  <a:lnTo>
                    <a:pt x="520" y="310"/>
                  </a:lnTo>
                  <a:lnTo>
                    <a:pt x="522" y="309"/>
                  </a:lnTo>
                  <a:lnTo>
                    <a:pt x="524" y="309"/>
                  </a:lnTo>
                  <a:lnTo>
                    <a:pt x="526" y="305"/>
                  </a:lnTo>
                  <a:lnTo>
                    <a:pt x="524" y="303"/>
                  </a:lnTo>
                  <a:lnTo>
                    <a:pt x="524" y="303"/>
                  </a:lnTo>
                  <a:lnTo>
                    <a:pt x="522" y="301"/>
                  </a:lnTo>
                  <a:lnTo>
                    <a:pt x="522" y="301"/>
                  </a:lnTo>
                  <a:lnTo>
                    <a:pt x="522" y="299"/>
                  </a:lnTo>
                  <a:lnTo>
                    <a:pt x="522" y="297"/>
                  </a:lnTo>
                  <a:lnTo>
                    <a:pt x="522" y="297"/>
                  </a:lnTo>
                  <a:lnTo>
                    <a:pt x="522" y="293"/>
                  </a:lnTo>
                  <a:lnTo>
                    <a:pt x="522" y="293"/>
                  </a:lnTo>
                  <a:lnTo>
                    <a:pt x="522" y="291"/>
                  </a:lnTo>
                  <a:lnTo>
                    <a:pt x="522" y="290"/>
                  </a:lnTo>
                  <a:lnTo>
                    <a:pt x="524" y="290"/>
                  </a:lnTo>
                  <a:lnTo>
                    <a:pt x="524" y="290"/>
                  </a:lnTo>
                  <a:lnTo>
                    <a:pt x="528" y="288"/>
                  </a:lnTo>
                  <a:lnTo>
                    <a:pt x="532" y="286"/>
                  </a:lnTo>
                  <a:lnTo>
                    <a:pt x="532" y="286"/>
                  </a:lnTo>
                  <a:lnTo>
                    <a:pt x="535" y="286"/>
                  </a:lnTo>
                  <a:lnTo>
                    <a:pt x="537" y="284"/>
                  </a:lnTo>
                  <a:lnTo>
                    <a:pt x="537" y="284"/>
                  </a:lnTo>
                  <a:lnTo>
                    <a:pt x="545" y="278"/>
                  </a:lnTo>
                  <a:lnTo>
                    <a:pt x="553" y="278"/>
                  </a:lnTo>
                  <a:lnTo>
                    <a:pt x="553" y="270"/>
                  </a:lnTo>
                  <a:lnTo>
                    <a:pt x="553" y="267"/>
                  </a:lnTo>
                  <a:lnTo>
                    <a:pt x="553" y="267"/>
                  </a:lnTo>
                  <a:lnTo>
                    <a:pt x="553" y="265"/>
                  </a:lnTo>
                  <a:lnTo>
                    <a:pt x="551" y="263"/>
                  </a:lnTo>
                  <a:lnTo>
                    <a:pt x="551" y="263"/>
                  </a:lnTo>
                  <a:lnTo>
                    <a:pt x="551" y="261"/>
                  </a:lnTo>
                  <a:lnTo>
                    <a:pt x="551" y="259"/>
                  </a:lnTo>
                  <a:lnTo>
                    <a:pt x="551" y="257"/>
                  </a:lnTo>
                  <a:lnTo>
                    <a:pt x="549" y="255"/>
                  </a:lnTo>
                  <a:lnTo>
                    <a:pt x="549" y="255"/>
                  </a:lnTo>
                  <a:lnTo>
                    <a:pt x="547" y="253"/>
                  </a:lnTo>
                  <a:lnTo>
                    <a:pt x="547" y="253"/>
                  </a:lnTo>
                  <a:lnTo>
                    <a:pt x="545" y="251"/>
                  </a:lnTo>
                  <a:lnTo>
                    <a:pt x="547" y="250"/>
                  </a:lnTo>
                  <a:lnTo>
                    <a:pt x="545" y="248"/>
                  </a:lnTo>
                  <a:lnTo>
                    <a:pt x="545" y="246"/>
                  </a:lnTo>
                  <a:lnTo>
                    <a:pt x="545" y="244"/>
                  </a:lnTo>
                  <a:lnTo>
                    <a:pt x="545" y="242"/>
                  </a:lnTo>
                  <a:lnTo>
                    <a:pt x="547" y="240"/>
                  </a:lnTo>
                  <a:lnTo>
                    <a:pt x="547" y="238"/>
                  </a:lnTo>
                  <a:lnTo>
                    <a:pt x="547" y="238"/>
                  </a:lnTo>
                  <a:lnTo>
                    <a:pt x="547" y="238"/>
                  </a:lnTo>
                  <a:lnTo>
                    <a:pt x="549" y="238"/>
                  </a:lnTo>
                  <a:lnTo>
                    <a:pt x="549" y="238"/>
                  </a:lnTo>
                  <a:lnTo>
                    <a:pt x="551" y="240"/>
                  </a:lnTo>
                  <a:lnTo>
                    <a:pt x="551" y="240"/>
                  </a:lnTo>
                  <a:lnTo>
                    <a:pt x="553" y="240"/>
                  </a:lnTo>
                  <a:lnTo>
                    <a:pt x="553" y="242"/>
                  </a:lnTo>
                  <a:lnTo>
                    <a:pt x="554" y="242"/>
                  </a:lnTo>
                  <a:lnTo>
                    <a:pt x="556" y="240"/>
                  </a:lnTo>
                  <a:lnTo>
                    <a:pt x="558" y="240"/>
                  </a:lnTo>
                  <a:lnTo>
                    <a:pt x="560" y="240"/>
                  </a:lnTo>
                  <a:lnTo>
                    <a:pt x="560" y="238"/>
                  </a:lnTo>
                  <a:lnTo>
                    <a:pt x="562" y="238"/>
                  </a:lnTo>
                  <a:lnTo>
                    <a:pt x="562" y="236"/>
                  </a:lnTo>
                  <a:lnTo>
                    <a:pt x="562" y="236"/>
                  </a:lnTo>
                  <a:lnTo>
                    <a:pt x="562" y="234"/>
                  </a:lnTo>
                  <a:lnTo>
                    <a:pt x="562" y="234"/>
                  </a:lnTo>
                  <a:lnTo>
                    <a:pt x="562" y="232"/>
                  </a:lnTo>
                  <a:lnTo>
                    <a:pt x="560" y="232"/>
                  </a:lnTo>
                  <a:lnTo>
                    <a:pt x="558" y="232"/>
                  </a:lnTo>
                  <a:lnTo>
                    <a:pt x="554" y="232"/>
                  </a:lnTo>
                  <a:lnTo>
                    <a:pt x="551" y="232"/>
                  </a:lnTo>
                  <a:lnTo>
                    <a:pt x="551" y="232"/>
                  </a:lnTo>
                  <a:lnTo>
                    <a:pt x="549" y="232"/>
                  </a:lnTo>
                  <a:lnTo>
                    <a:pt x="547" y="231"/>
                  </a:lnTo>
                  <a:lnTo>
                    <a:pt x="543" y="227"/>
                  </a:lnTo>
                  <a:lnTo>
                    <a:pt x="543" y="225"/>
                  </a:lnTo>
                  <a:lnTo>
                    <a:pt x="543" y="225"/>
                  </a:lnTo>
                  <a:lnTo>
                    <a:pt x="543" y="223"/>
                  </a:lnTo>
                  <a:lnTo>
                    <a:pt x="543" y="221"/>
                  </a:lnTo>
                  <a:lnTo>
                    <a:pt x="545" y="221"/>
                  </a:lnTo>
                  <a:lnTo>
                    <a:pt x="545" y="221"/>
                  </a:lnTo>
                  <a:lnTo>
                    <a:pt x="545" y="221"/>
                  </a:lnTo>
                  <a:lnTo>
                    <a:pt x="551" y="223"/>
                  </a:lnTo>
                  <a:lnTo>
                    <a:pt x="553" y="223"/>
                  </a:lnTo>
                  <a:lnTo>
                    <a:pt x="553" y="223"/>
                  </a:lnTo>
                  <a:lnTo>
                    <a:pt x="554" y="223"/>
                  </a:lnTo>
                  <a:lnTo>
                    <a:pt x="554" y="221"/>
                  </a:lnTo>
                  <a:lnTo>
                    <a:pt x="558" y="217"/>
                  </a:lnTo>
                  <a:lnTo>
                    <a:pt x="566" y="212"/>
                  </a:lnTo>
                  <a:lnTo>
                    <a:pt x="566" y="212"/>
                  </a:lnTo>
                  <a:lnTo>
                    <a:pt x="568" y="212"/>
                  </a:lnTo>
                  <a:lnTo>
                    <a:pt x="570" y="212"/>
                  </a:lnTo>
                  <a:lnTo>
                    <a:pt x="570" y="212"/>
                  </a:lnTo>
                  <a:lnTo>
                    <a:pt x="572" y="212"/>
                  </a:lnTo>
                  <a:lnTo>
                    <a:pt x="572" y="212"/>
                  </a:lnTo>
                  <a:lnTo>
                    <a:pt x="573" y="210"/>
                  </a:lnTo>
                  <a:lnTo>
                    <a:pt x="573" y="210"/>
                  </a:lnTo>
                  <a:lnTo>
                    <a:pt x="575" y="208"/>
                  </a:lnTo>
                  <a:lnTo>
                    <a:pt x="583" y="193"/>
                  </a:lnTo>
                  <a:lnTo>
                    <a:pt x="583" y="191"/>
                  </a:lnTo>
                  <a:lnTo>
                    <a:pt x="581" y="189"/>
                  </a:lnTo>
                  <a:close/>
                </a:path>
              </a:pathLst>
            </a:custGeom>
            <a:solidFill>
              <a:schemeClr val="accent6">
                <a:lumMod val="75000"/>
              </a:schemeClr>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07" name="Freeform 57">
              <a:extLst>
                <a:ext uri="{FF2B5EF4-FFF2-40B4-BE49-F238E27FC236}">
                  <a16:creationId xmlns:a16="http://schemas.microsoft.com/office/drawing/2014/main" id="{9AE5E7F7-5DCA-24CE-5466-462B2F64E223}"/>
                </a:ext>
              </a:extLst>
            </p:cNvPr>
            <p:cNvSpPr>
              <a:spLocks/>
            </p:cNvSpPr>
            <p:nvPr/>
          </p:nvSpPr>
          <p:spPr bwMode="auto">
            <a:xfrm>
              <a:off x="1009903" y="3406374"/>
              <a:ext cx="1099849" cy="783179"/>
            </a:xfrm>
            <a:custGeom>
              <a:avLst/>
              <a:gdLst>
                <a:gd name="T0" fmla="*/ 553 w 583"/>
                <a:gd name="T1" fmla="*/ 158 h 463"/>
                <a:gd name="T2" fmla="*/ 513 w 583"/>
                <a:gd name="T3" fmla="*/ 132 h 463"/>
                <a:gd name="T4" fmla="*/ 493 w 583"/>
                <a:gd name="T5" fmla="*/ 103 h 463"/>
                <a:gd name="T6" fmla="*/ 484 w 583"/>
                <a:gd name="T7" fmla="*/ 71 h 463"/>
                <a:gd name="T8" fmla="*/ 457 w 583"/>
                <a:gd name="T9" fmla="*/ 44 h 463"/>
                <a:gd name="T10" fmla="*/ 457 w 583"/>
                <a:gd name="T11" fmla="*/ 29 h 463"/>
                <a:gd name="T12" fmla="*/ 444 w 583"/>
                <a:gd name="T13" fmla="*/ 35 h 463"/>
                <a:gd name="T14" fmla="*/ 400 w 583"/>
                <a:gd name="T15" fmla="*/ 29 h 463"/>
                <a:gd name="T16" fmla="*/ 381 w 583"/>
                <a:gd name="T17" fmla="*/ 16 h 463"/>
                <a:gd name="T18" fmla="*/ 349 w 583"/>
                <a:gd name="T19" fmla="*/ 6 h 463"/>
                <a:gd name="T20" fmla="*/ 305 w 583"/>
                <a:gd name="T21" fmla="*/ 4 h 463"/>
                <a:gd name="T22" fmla="*/ 261 w 583"/>
                <a:gd name="T23" fmla="*/ 25 h 463"/>
                <a:gd name="T24" fmla="*/ 221 w 583"/>
                <a:gd name="T25" fmla="*/ 37 h 463"/>
                <a:gd name="T26" fmla="*/ 93 w 583"/>
                <a:gd name="T27" fmla="*/ 48 h 463"/>
                <a:gd name="T28" fmla="*/ 21 w 583"/>
                <a:gd name="T29" fmla="*/ 77 h 463"/>
                <a:gd name="T30" fmla="*/ 6 w 583"/>
                <a:gd name="T31" fmla="*/ 84 h 463"/>
                <a:gd name="T32" fmla="*/ 2 w 583"/>
                <a:gd name="T33" fmla="*/ 111 h 463"/>
                <a:gd name="T34" fmla="*/ 49 w 583"/>
                <a:gd name="T35" fmla="*/ 90 h 463"/>
                <a:gd name="T36" fmla="*/ 30 w 583"/>
                <a:gd name="T37" fmla="*/ 111 h 463"/>
                <a:gd name="T38" fmla="*/ 28 w 583"/>
                <a:gd name="T39" fmla="*/ 132 h 463"/>
                <a:gd name="T40" fmla="*/ 38 w 583"/>
                <a:gd name="T41" fmla="*/ 141 h 463"/>
                <a:gd name="T42" fmla="*/ 122 w 583"/>
                <a:gd name="T43" fmla="*/ 194 h 463"/>
                <a:gd name="T44" fmla="*/ 183 w 583"/>
                <a:gd name="T45" fmla="*/ 175 h 463"/>
                <a:gd name="T46" fmla="*/ 204 w 583"/>
                <a:gd name="T47" fmla="*/ 179 h 463"/>
                <a:gd name="T48" fmla="*/ 215 w 583"/>
                <a:gd name="T49" fmla="*/ 177 h 463"/>
                <a:gd name="T50" fmla="*/ 156 w 583"/>
                <a:gd name="T51" fmla="*/ 227 h 463"/>
                <a:gd name="T52" fmla="*/ 129 w 583"/>
                <a:gd name="T53" fmla="*/ 236 h 463"/>
                <a:gd name="T54" fmla="*/ 95 w 583"/>
                <a:gd name="T55" fmla="*/ 238 h 463"/>
                <a:gd name="T56" fmla="*/ 74 w 583"/>
                <a:gd name="T57" fmla="*/ 236 h 463"/>
                <a:gd name="T58" fmla="*/ 131 w 583"/>
                <a:gd name="T59" fmla="*/ 309 h 463"/>
                <a:gd name="T60" fmla="*/ 244 w 583"/>
                <a:gd name="T61" fmla="*/ 402 h 463"/>
                <a:gd name="T62" fmla="*/ 314 w 583"/>
                <a:gd name="T63" fmla="*/ 375 h 463"/>
                <a:gd name="T64" fmla="*/ 366 w 583"/>
                <a:gd name="T65" fmla="*/ 343 h 463"/>
                <a:gd name="T66" fmla="*/ 373 w 583"/>
                <a:gd name="T67" fmla="*/ 297 h 463"/>
                <a:gd name="T68" fmla="*/ 360 w 583"/>
                <a:gd name="T69" fmla="*/ 286 h 463"/>
                <a:gd name="T70" fmla="*/ 362 w 583"/>
                <a:gd name="T71" fmla="*/ 276 h 463"/>
                <a:gd name="T72" fmla="*/ 383 w 583"/>
                <a:gd name="T73" fmla="*/ 267 h 463"/>
                <a:gd name="T74" fmla="*/ 387 w 583"/>
                <a:gd name="T75" fmla="*/ 240 h 463"/>
                <a:gd name="T76" fmla="*/ 423 w 583"/>
                <a:gd name="T77" fmla="*/ 248 h 463"/>
                <a:gd name="T78" fmla="*/ 413 w 583"/>
                <a:gd name="T79" fmla="*/ 251 h 463"/>
                <a:gd name="T80" fmla="*/ 421 w 583"/>
                <a:gd name="T81" fmla="*/ 274 h 463"/>
                <a:gd name="T82" fmla="*/ 432 w 583"/>
                <a:gd name="T83" fmla="*/ 305 h 463"/>
                <a:gd name="T84" fmla="*/ 423 w 583"/>
                <a:gd name="T85" fmla="*/ 318 h 463"/>
                <a:gd name="T86" fmla="*/ 410 w 583"/>
                <a:gd name="T87" fmla="*/ 339 h 463"/>
                <a:gd name="T88" fmla="*/ 419 w 583"/>
                <a:gd name="T89" fmla="*/ 356 h 463"/>
                <a:gd name="T90" fmla="*/ 431 w 583"/>
                <a:gd name="T91" fmla="*/ 373 h 463"/>
                <a:gd name="T92" fmla="*/ 438 w 583"/>
                <a:gd name="T93" fmla="*/ 398 h 463"/>
                <a:gd name="T94" fmla="*/ 425 w 583"/>
                <a:gd name="T95" fmla="*/ 444 h 463"/>
                <a:gd name="T96" fmla="*/ 442 w 583"/>
                <a:gd name="T97" fmla="*/ 457 h 463"/>
                <a:gd name="T98" fmla="*/ 453 w 583"/>
                <a:gd name="T99" fmla="*/ 438 h 463"/>
                <a:gd name="T100" fmla="*/ 457 w 583"/>
                <a:gd name="T101" fmla="*/ 457 h 463"/>
                <a:gd name="T102" fmla="*/ 484 w 583"/>
                <a:gd name="T103" fmla="*/ 451 h 463"/>
                <a:gd name="T104" fmla="*/ 486 w 583"/>
                <a:gd name="T105" fmla="*/ 411 h 463"/>
                <a:gd name="T106" fmla="*/ 505 w 583"/>
                <a:gd name="T107" fmla="*/ 415 h 463"/>
                <a:gd name="T108" fmla="*/ 524 w 583"/>
                <a:gd name="T109" fmla="*/ 371 h 463"/>
                <a:gd name="T110" fmla="*/ 511 w 583"/>
                <a:gd name="T111" fmla="*/ 356 h 463"/>
                <a:gd name="T112" fmla="*/ 545 w 583"/>
                <a:gd name="T113" fmla="*/ 326 h 463"/>
                <a:gd name="T114" fmla="*/ 553 w 583"/>
                <a:gd name="T115" fmla="*/ 316 h 463"/>
                <a:gd name="T116" fmla="*/ 522 w 583"/>
                <a:gd name="T117" fmla="*/ 299 h 463"/>
                <a:gd name="T118" fmla="*/ 545 w 583"/>
                <a:gd name="T119" fmla="*/ 251 h 463"/>
                <a:gd name="T120" fmla="*/ 551 w 583"/>
                <a:gd name="T121" fmla="*/ 232 h 463"/>
                <a:gd name="T122" fmla="*/ 581 w 583"/>
                <a:gd name="T123" fmla="*/ 189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3" h="463">
                  <a:moveTo>
                    <a:pt x="581" y="189"/>
                  </a:moveTo>
                  <a:lnTo>
                    <a:pt x="579" y="187"/>
                  </a:lnTo>
                  <a:lnTo>
                    <a:pt x="577" y="185"/>
                  </a:lnTo>
                  <a:lnTo>
                    <a:pt x="577" y="185"/>
                  </a:lnTo>
                  <a:lnTo>
                    <a:pt x="575" y="185"/>
                  </a:lnTo>
                  <a:lnTo>
                    <a:pt x="575" y="187"/>
                  </a:lnTo>
                  <a:lnTo>
                    <a:pt x="575" y="187"/>
                  </a:lnTo>
                  <a:lnTo>
                    <a:pt x="573" y="187"/>
                  </a:lnTo>
                  <a:lnTo>
                    <a:pt x="573" y="187"/>
                  </a:lnTo>
                  <a:lnTo>
                    <a:pt x="573" y="185"/>
                  </a:lnTo>
                  <a:lnTo>
                    <a:pt x="573" y="183"/>
                  </a:lnTo>
                  <a:lnTo>
                    <a:pt x="572" y="175"/>
                  </a:lnTo>
                  <a:lnTo>
                    <a:pt x="570" y="170"/>
                  </a:lnTo>
                  <a:lnTo>
                    <a:pt x="570" y="168"/>
                  </a:lnTo>
                  <a:lnTo>
                    <a:pt x="568" y="166"/>
                  </a:lnTo>
                  <a:lnTo>
                    <a:pt x="568" y="166"/>
                  </a:lnTo>
                  <a:lnTo>
                    <a:pt x="568" y="166"/>
                  </a:lnTo>
                  <a:lnTo>
                    <a:pt x="566" y="164"/>
                  </a:lnTo>
                  <a:lnTo>
                    <a:pt x="566" y="164"/>
                  </a:lnTo>
                  <a:lnTo>
                    <a:pt x="564" y="162"/>
                  </a:lnTo>
                  <a:lnTo>
                    <a:pt x="564" y="160"/>
                  </a:lnTo>
                  <a:lnTo>
                    <a:pt x="562" y="158"/>
                  </a:lnTo>
                  <a:lnTo>
                    <a:pt x="562" y="158"/>
                  </a:lnTo>
                  <a:lnTo>
                    <a:pt x="558" y="156"/>
                  </a:lnTo>
                  <a:lnTo>
                    <a:pt x="558" y="156"/>
                  </a:lnTo>
                  <a:lnTo>
                    <a:pt x="556" y="156"/>
                  </a:lnTo>
                  <a:lnTo>
                    <a:pt x="556" y="156"/>
                  </a:lnTo>
                  <a:lnTo>
                    <a:pt x="554" y="156"/>
                  </a:lnTo>
                  <a:lnTo>
                    <a:pt x="554" y="158"/>
                  </a:lnTo>
                  <a:lnTo>
                    <a:pt x="553" y="158"/>
                  </a:lnTo>
                  <a:lnTo>
                    <a:pt x="553" y="156"/>
                  </a:lnTo>
                  <a:lnTo>
                    <a:pt x="551" y="156"/>
                  </a:lnTo>
                  <a:lnTo>
                    <a:pt x="551" y="154"/>
                  </a:lnTo>
                  <a:lnTo>
                    <a:pt x="551" y="153"/>
                  </a:lnTo>
                  <a:lnTo>
                    <a:pt x="551" y="151"/>
                  </a:lnTo>
                  <a:lnTo>
                    <a:pt x="551" y="151"/>
                  </a:lnTo>
                  <a:lnTo>
                    <a:pt x="551" y="149"/>
                  </a:lnTo>
                  <a:lnTo>
                    <a:pt x="549" y="147"/>
                  </a:lnTo>
                  <a:lnTo>
                    <a:pt x="547" y="147"/>
                  </a:lnTo>
                  <a:lnTo>
                    <a:pt x="543" y="143"/>
                  </a:lnTo>
                  <a:lnTo>
                    <a:pt x="539" y="141"/>
                  </a:lnTo>
                  <a:lnTo>
                    <a:pt x="535" y="137"/>
                  </a:lnTo>
                  <a:lnTo>
                    <a:pt x="535" y="137"/>
                  </a:lnTo>
                  <a:lnTo>
                    <a:pt x="533" y="137"/>
                  </a:lnTo>
                  <a:lnTo>
                    <a:pt x="533" y="137"/>
                  </a:lnTo>
                  <a:lnTo>
                    <a:pt x="533" y="139"/>
                  </a:lnTo>
                  <a:lnTo>
                    <a:pt x="533" y="139"/>
                  </a:lnTo>
                  <a:lnTo>
                    <a:pt x="533" y="139"/>
                  </a:lnTo>
                  <a:lnTo>
                    <a:pt x="532" y="139"/>
                  </a:lnTo>
                  <a:lnTo>
                    <a:pt x="532" y="139"/>
                  </a:lnTo>
                  <a:lnTo>
                    <a:pt x="532" y="139"/>
                  </a:lnTo>
                  <a:lnTo>
                    <a:pt x="530" y="139"/>
                  </a:lnTo>
                  <a:lnTo>
                    <a:pt x="530" y="139"/>
                  </a:lnTo>
                  <a:lnTo>
                    <a:pt x="526" y="135"/>
                  </a:lnTo>
                  <a:lnTo>
                    <a:pt x="524" y="132"/>
                  </a:lnTo>
                  <a:lnTo>
                    <a:pt x="522" y="130"/>
                  </a:lnTo>
                  <a:lnTo>
                    <a:pt x="522" y="130"/>
                  </a:lnTo>
                  <a:lnTo>
                    <a:pt x="520" y="130"/>
                  </a:lnTo>
                  <a:lnTo>
                    <a:pt x="513" y="132"/>
                  </a:lnTo>
                  <a:lnTo>
                    <a:pt x="513" y="132"/>
                  </a:lnTo>
                  <a:lnTo>
                    <a:pt x="511" y="130"/>
                  </a:lnTo>
                  <a:lnTo>
                    <a:pt x="509" y="130"/>
                  </a:lnTo>
                  <a:lnTo>
                    <a:pt x="505" y="130"/>
                  </a:lnTo>
                  <a:lnTo>
                    <a:pt x="505" y="128"/>
                  </a:lnTo>
                  <a:lnTo>
                    <a:pt x="505" y="126"/>
                  </a:lnTo>
                  <a:lnTo>
                    <a:pt x="507" y="124"/>
                  </a:lnTo>
                  <a:lnTo>
                    <a:pt x="505" y="124"/>
                  </a:lnTo>
                  <a:lnTo>
                    <a:pt x="505" y="122"/>
                  </a:lnTo>
                  <a:lnTo>
                    <a:pt x="505" y="120"/>
                  </a:lnTo>
                  <a:lnTo>
                    <a:pt x="505" y="118"/>
                  </a:lnTo>
                  <a:lnTo>
                    <a:pt x="505" y="116"/>
                  </a:lnTo>
                  <a:lnTo>
                    <a:pt x="505" y="115"/>
                  </a:lnTo>
                  <a:lnTo>
                    <a:pt x="505" y="113"/>
                  </a:lnTo>
                  <a:lnTo>
                    <a:pt x="503" y="111"/>
                  </a:lnTo>
                  <a:lnTo>
                    <a:pt x="501" y="109"/>
                  </a:lnTo>
                  <a:lnTo>
                    <a:pt x="499" y="109"/>
                  </a:lnTo>
                  <a:lnTo>
                    <a:pt x="499" y="111"/>
                  </a:lnTo>
                  <a:lnTo>
                    <a:pt x="497" y="113"/>
                  </a:lnTo>
                  <a:lnTo>
                    <a:pt x="495" y="113"/>
                  </a:lnTo>
                  <a:lnTo>
                    <a:pt x="495" y="113"/>
                  </a:lnTo>
                  <a:lnTo>
                    <a:pt x="493" y="113"/>
                  </a:lnTo>
                  <a:lnTo>
                    <a:pt x="493" y="113"/>
                  </a:lnTo>
                  <a:lnTo>
                    <a:pt x="493" y="111"/>
                  </a:lnTo>
                  <a:lnTo>
                    <a:pt x="493" y="109"/>
                  </a:lnTo>
                  <a:lnTo>
                    <a:pt x="493" y="107"/>
                  </a:lnTo>
                  <a:lnTo>
                    <a:pt x="493" y="107"/>
                  </a:lnTo>
                  <a:lnTo>
                    <a:pt x="495" y="105"/>
                  </a:lnTo>
                  <a:lnTo>
                    <a:pt x="495" y="105"/>
                  </a:lnTo>
                  <a:lnTo>
                    <a:pt x="495" y="103"/>
                  </a:lnTo>
                  <a:lnTo>
                    <a:pt x="493" y="103"/>
                  </a:lnTo>
                  <a:lnTo>
                    <a:pt x="493" y="103"/>
                  </a:lnTo>
                  <a:lnTo>
                    <a:pt x="493" y="101"/>
                  </a:lnTo>
                  <a:lnTo>
                    <a:pt x="490" y="101"/>
                  </a:lnTo>
                  <a:lnTo>
                    <a:pt x="490" y="101"/>
                  </a:lnTo>
                  <a:lnTo>
                    <a:pt x="488" y="99"/>
                  </a:lnTo>
                  <a:lnTo>
                    <a:pt x="488" y="99"/>
                  </a:lnTo>
                  <a:lnTo>
                    <a:pt x="486" y="97"/>
                  </a:lnTo>
                  <a:lnTo>
                    <a:pt x="486" y="96"/>
                  </a:lnTo>
                  <a:lnTo>
                    <a:pt x="486" y="96"/>
                  </a:lnTo>
                  <a:lnTo>
                    <a:pt x="484" y="96"/>
                  </a:lnTo>
                  <a:lnTo>
                    <a:pt x="484" y="94"/>
                  </a:lnTo>
                  <a:lnTo>
                    <a:pt x="480" y="96"/>
                  </a:lnTo>
                  <a:lnTo>
                    <a:pt x="480" y="94"/>
                  </a:lnTo>
                  <a:lnTo>
                    <a:pt x="480" y="94"/>
                  </a:lnTo>
                  <a:lnTo>
                    <a:pt x="482" y="90"/>
                  </a:lnTo>
                  <a:lnTo>
                    <a:pt x="482" y="88"/>
                  </a:lnTo>
                  <a:lnTo>
                    <a:pt x="482" y="86"/>
                  </a:lnTo>
                  <a:lnTo>
                    <a:pt x="482" y="84"/>
                  </a:lnTo>
                  <a:lnTo>
                    <a:pt x="482" y="82"/>
                  </a:lnTo>
                  <a:lnTo>
                    <a:pt x="482" y="82"/>
                  </a:lnTo>
                  <a:lnTo>
                    <a:pt x="484" y="80"/>
                  </a:lnTo>
                  <a:lnTo>
                    <a:pt x="486" y="80"/>
                  </a:lnTo>
                  <a:lnTo>
                    <a:pt x="486" y="80"/>
                  </a:lnTo>
                  <a:lnTo>
                    <a:pt x="486" y="78"/>
                  </a:lnTo>
                  <a:lnTo>
                    <a:pt x="486" y="77"/>
                  </a:lnTo>
                  <a:lnTo>
                    <a:pt x="486" y="75"/>
                  </a:lnTo>
                  <a:lnTo>
                    <a:pt x="484" y="73"/>
                  </a:lnTo>
                  <a:lnTo>
                    <a:pt x="484" y="73"/>
                  </a:lnTo>
                  <a:lnTo>
                    <a:pt x="484" y="73"/>
                  </a:lnTo>
                  <a:lnTo>
                    <a:pt x="484" y="71"/>
                  </a:lnTo>
                  <a:lnTo>
                    <a:pt x="484" y="69"/>
                  </a:lnTo>
                  <a:lnTo>
                    <a:pt x="484" y="67"/>
                  </a:lnTo>
                  <a:lnTo>
                    <a:pt x="480" y="63"/>
                  </a:lnTo>
                  <a:lnTo>
                    <a:pt x="480" y="61"/>
                  </a:lnTo>
                  <a:lnTo>
                    <a:pt x="478" y="63"/>
                  </a:lnTo>
                  <a:lnTo>
                    <a:pt x="478" y="63"/>
                  </a:lnTo>
                  <a:lnTo>
                    <a:pt x="476" y="67"/>
                  </a:lnTo>
                  <a:lnTo>
                    <a:pt x="476" y="67"/>
                  </a:lnTo>
                  <a:lnTo>
                    <a:pt x="476" y="69"/>
                  </a:lnTo>
                  <a:lnTo>
                    <a:pt x="474" y="69"/>
                  </a:lnTo>
                  <a:lnTo>
                    <a:pt x="471" y="71"/>
                  </a:lnTo>
                  <a:lnTo>
                    <a:pt x="471" y="71"/>
                  </a:lnTo>
                  <a:lnTo>
                    <a:pt x="469" y="71"/>
                  </a:lnTo>
                  <a:lnTo>
                    <a:pt x="467" y="67"/>
                  </a:lnTo>
                  <a:lnTo>
                    <a:pt x="467" y="67"/>
                  </a:lnTo>
                  <a:lnTo>
                    <a:pt x="467" y="65"/>
                  </a:lnTo>
                  <a:lnTo>
                    <a:pt x="465" y="65"/>
                  </a:lnTo>
                  <a:lnTo>
                    <a:pt x="465" y="63"/>
                  </a:lnTo>
                  <a:lnTo>
                    <a:pt x="463" y="63"/>
                  </a:lnTo>
                  <a:lnTo>
                    <a:pt x="463" y="61"/>
                  </a:lnTo>
                  <a:lnTo>
                    <a:pt x="461" y="61"/>
                  </a:lnTo>
                  <a:lnTo>
                    <a:pt x="461" y="59"/>
                  </a:lnTo>
                  <a:lnTo>
                    <a:pt x="459" y="59"/>
                  </a:lnTo>
                  <a:lnTo>
                    <a:pt x="457" y="57"/>
                  </a:lnTo>
                  <a:lnTo>
                    <a:pt x="457" y="57"/>
                  </a:lnTo>
                  <a:lnTo>
                    <a:pt x="457" y="56"/>
                  </a:lnTo>
                  <a:lnTo>
                    <a:pt x="455" y="52"/>
                  </a:lnTo>
                  <a:lnTo>
                    <a:pt x="455" y="52"/>
                  </a:lnTo>
                  <a:lnTo>
                    <a:pt x="455" y="50"/>
                  </a:lnTo>
                  <a:lnTo>
                    <a:pt x="457" y="44"/>
                  </a:lnTo>
                  <a:lnTo>
                    <a:pt x="457" y="42"/>
                  </a:lnTo>
                  <a:lnTo>
                    <a:pt x="459" y="42"/>
                  </a:lnTo>
                  <a:lnTo>
                    <a:pt x="459" y="40"/>
                  </a:lnTo>
                  <a:lnTo>
                    <a:pt x="459" y="40"/>
                  </a:lnTo>
                  <a:lnTo>
                    <a:pt x="459" y="40"/>
                  </a:lnTo>
                  <a:lnTo>
                    <a:pt x="461" y="38"/>
                  </a:lnTo>
                  <a:lnTo>
                    <a:pt x="461" y="38"/>
                  </a:lnTo>
                  <a:lnTo>
                    <a:pt x="461" y="38"/>
                  </a:lnTo>
                  <a:lnTo>
                    <a:pt x="463" y="38"/>
                  </a:lnTo>
                  <a:lnTo>
                    <a:pt x="465" y="38"/>
                  </a:lnTo>
                  <a:lnTo>
                    <a:pt x="465" y="38"/>
                  </a:lnTo>
                  <a:lnTo>
                    <a:pt x="467" y="38"/>
                  </a:lnTo>
                  <a:lnTo>
                    <a:pt x="467" y="38"/>
                  </a:lnTo>
                  <a:lnTo>
                    <a:pt x="467" y="37"/>
                  </a:lnTo>
                  <a:lnTo>
                    <a:pt x="467" y="35"/>
                  </a:lnTo>
                  <a:lnTo>
                    <a:pt x="467" y="35"/>
                  </a:lnTo>
                  <a:lnTo>
                    <a:pt x="467" y="35"/>
                  </a:lnTo>
                  <a:lnTo>
                    <a:pt x="467" y="33"/>
                  </a:lnTo>
                  <a:lnTo>
                    <a:pt x="465" y="33"/>
                  </a:lnTo>
                  <a:lnTo>
                    <a:pt x="465" y="35"/>
                  </a:lnTo>
                  <a:lnTo>
                    <a:pt x="465" y="35"/>
                  </a:lnTo>
                  <a:lnTo>
                    <a:pt x="463" y="35"/>
                  </a:lnTo>
                  <a:lnTo>
                    <a:pt x="463" y="35"/>
                  </a:lnTo>
                  <a:lnTo>
                    <a:pt x="459" y="33"/>
                  </a:lnTo>
                  <a:lnTo>
                    <a:pt x="457" y="33"/>
                  </a:lnTo>
                  <a:lnTo>
                    <a:pt x="457" y="33"/>
                  </a:lnTo>
                  <a:lnTo>
                    <a:pt x="455" y="31"/>
                  </a:lnTo>
                  <a:lnTo>
                    <a:pt x="455" y="31"/>
                  </a:lnTo>
                  <a:lnTo>
                    <a:pt x="455" y="31"/>
                  </a:lnTo>
                  <a:lnTo>
                    <a:pt x="457" y="29"/>
                  </a:lnTo>
                  <a:lnTo>
                    <a:pt x="457" y="25"/>
                  </a:lnTo>
                  <a:lnTo>
                    <a:pt x="457" y="23"/>
                  </a:lnTo>
                  <a:lnTo>
                    <a:pt x="457" y="23"/>
                  </a:lnTo>
                  <a:lnTo>
                    <a:pt x="457" y="23"/>
                  </a:lnTo>
                  <a:lnTo>
                    <a:pt x="457" y="21"/>
                  </a:lnTo>
                  <a:lnTo>
                    <a:pt x="457" y="21"/>
                  </a:lnTo>
                  <a:lnTo>
                    <a:pt x="455" y="21"/>
                  </a:lnTo>
                  <a:lnTo>
                    <a:pt x="455" y="21"/>
                  </a:lnTo>
                  <a:lnTo>
                    <a:pt x="453" y="21"/>
                  </a:lnTo>
                  <a:lnTo>
                    <a:pt x="450" y="23"/>
                  </a:lnTo>
                  <a:lnTo>
                    <a:pt x="450" y="23"/>
                  </a:lnTo>
                  <a:lnTo>
                    <a:pt x="448" y="23"/>
                  </a:lnTo>
                  <a:lnTo>
                    <a:pt x="448" y="23"/>
                  </a:lnTo>
                  <a:lnTo>
                    <a:pt x="448" y="23"/>
                  </a:lnTo>
                  <a:lnTo>
                    <a:pt x="446" y="25"/>
                  </a:lnTo>
                  <a:lnTo>
                    <a:pt x="446" y="25"/>
                  </a:lnTo>
                  <a:lnTo>
                    <a:pt x="446" y="25"/>
                  </a:lnTo>
                  <a:lnTo>
                    <a:pt x="446" y="27"/>
                  </a:lnTo>
                  <a:lnTo>
                    <a:pt x="446" y="27"/>
                  </a:lnTo>
                  <a:lnTo>
                    <a:pt x="446" y="29"/>
                  </a:lnTo>
                  <a:lnTo>
                    <a:pt x="446" y="29"/>
                  </a:lnTo>
                  <a:lnTo>
                    <a:pt x="444" y="29"/>
                  </a:lnTo>
                  <a:lnTo>
                    <a:pt x="444" y="31"/>
                  </a:lnTo>
                  <a:lnTo>
                    <a:pt x="444" y="31"/>
                  </a:lnTo>
                  <a:lnTo>
                    <a:pt x="444" y="31"/>
                  </a:lnTo>
                  <a:lnTo>
                    <a:pt x="444" y="31"/>
                  </a:lnTo>
                  <a:lnTo>
                    <a:pt x="444" y="33"/>
                  </a:lnTo>
                  <a:lnTo>
                    <a:pt x="444" y="33"/>
                  </a:lnTo>
                  <a:lnTo>
                    <a:pt x="444" y="33"/>
                  </a:lnTo>
                  <a:lnTo>
                    <a:pt x="444" y="35"/>
                  </a:lnTo>
                  <a:lnTo>
                    <a:pt x="442" y="35"/>
                  </a:lnTo>
                  <a:lnTo>
                    <a:pt x="440" y="37"/>
                  </a:lnTo>
                  <a:lnTo>
                    <a:pt x="440" y="37"/>
                  </a:lnTo>
                  <a:lnTo>
                    <a:pt x="438" y="37"/>
                  </a:lnTo>
                  <a:lnTo>
                    <a:pt x="434" y="35"/>
                  </a:lnTo>
                  <a:lnTo>
                    <a:pt x="432" y="35"/>
                  </a:lnTo>
                  <a:lnTo>
                    <a:pt x="429" y="35"/>
                  </a:lnTo>
                  <a:lnTo>
                    <a:pt x="425" y="35"/>
                  </a:lnTo>
                  <a:lnTo>
                    <a:pt x="423" y="35"/>
                  </a:lnTo>
                  <a:lnTo>
                    <a:pt x="421" y="33"/>
                  </a:lnTo>
                  <a:lnTo>
                    <a:pt x="421" y="33"/>
                  </a:lnTo>
                  <a:lnTo>
                    <a:pt x="419" y="31"/>
                  </a:lnTo>
                  <a:lnTo>
                    <a:pt x="419" y="31"/>
                  </a:lnTo>
                  <a:lnTo>
                    <a:pt x="417" y="27"/>
                  </a:lnTo>
                  <a:lnTo>
                    <a:pt x="417" y="27"/>
                  </a:lnTo>
                  <a:lnTo>
                    <a:pt x="417" y="27"/>
                  </a:lnTo>
                  <a:lnTo>
                    <a:pt x="415" y="25"/>
                  </a:lnTo>
                  <a:lnTo>
                    <a:pt x="415" y="25"/>
                  </a:lnTo>
                  <a:lnTo>
                    <a:pt x="413" y="25"/>
                  </a:lnTo>
                  <a:lnTo>
                    <a:pt x="412" y="25"/>
                  </a:lnTo>
                  <a:lnTo>
                    <a:pt x="412" y="25"/>
                  </a:lnTo>
                  <a:lnTo>
                    <a:pt x="406" y="21"/>
                  </a:lnTo>
                  <a:lnTo>
                    <a:pt x="406" y="21"/>
                  </a:lnTo>
                  <a:lnTo>
                    <a:pt x="404" y="21"/>
                  </a:lnTo>
                  <a:lnTo>
                    <a:pt x="402" y="21"/>
                  </a:lnTo>
                  <a:lnTo>
                    <a:pt x="402" y="21"/>
                  </a:lnTo>
                  <a:lnTo>
                    <a:pt x="402" y="21"/>
                  </a:lnTo>
                  <a:lnTo>
                    <a:pt x="402" y="21"/>
                  </a:lnTo>
                  <a:lnTo>
                    <a:pt x="402" y="23"/>
                  </a:lnTo>
                  <a:lnTo>
                    <a:pt x="400" y="29"/>
                  </a:lnTo>
                  <a:lnTo>
                    <a:pt x="400" y="29"/>
                  </a:lnTo>
                  <a:lnTo>
                    <a:pt x="400" y="29"/>
                  </a:lnTo>
                  <a:lnTo>
                    <a:pt x="400" y="29"/>
                  </a:lnTo>
                  <a:lnTo>
                    <a:pt x="398" y="29"/>
                  </a:lnTo>
                  <a:lnTo>
                    <a:pt x="398" y="29"/>
                  </a:lnTo>
                  <a:lnTo>
                    <a:pt x="398" y="29"/>
                  </a:lnTo>
                  <a:lnTo>
                    <a:pt x="396" y="29"/>
                  </a:lnTo>
                  <a:lnTo>
                    <a:pt x="396" y="27"/>
                  </a:lnTo>
                  <a:lnTo>
                    <a:pt x="394" y="25"/>
                  </a:lnTo>
                  <a:lnTo>
                    <a:pt x="394" y="25"/>
                  </a:lnTo>
                  <a:lnTo>
                    <a:pt x="394" y="23"/>
                  </a:lnTo>
                  <a:lnTo>
                    <a:pt x="394" y="23"/>
                  </a:lnTo>
                  <a:lnTo>
                    <a:pt x="394" y="21"/>
                  </a:lnTo>
                  <a:lnTo>
                    <a:pt x="394" y="21"/>
                  </a:lnTo>
                  <a:lnTo>
                    <a:pt x="394" y="21"/>
                  </a:lnTo>
                  <a:lnTo>
                    <a:pt x="394" y="19"/>
                  </a:lnTo>
                  <a:lnTo>
                    <a:pt x="392" y="19"/>
                  </a:lnTo>
                  <a:lnTo>
                    <a:pt x="391" y="19"/>
                  </a:lnTo>
                  <a:lnTo>
                    <a:pt x="391" y="19"/>
                  </a:lnTo>
                  <a:lnTo>
                    <a:pt x="389" y="19"/>
                  </a:lnTo>
                  <a:lnTo>
                    <a:pt x="389" y="19"/>
                  </a:lnTo>
                  <a:lnTo>
                    <a:pt x="387" y="19"/>
                  </a:lnTo>
                  <a:lnTo>
                    <a:pt x="387" y="18"/>
                  </a:lnTo>
                  <a:lnTo>
                    <a:pt x="387" y="18"/>
                  </a:lnTo>
                  <a:lnTo>
                    <a:pt x="387" y="18"/>
                  </a:lnTo>
                  <a:lnTo>
                    <a:pt x="387" y="18"/>
                  </a:lnTo>
                  <a:lnTo>
                    <a:pt x="385" y="16"/>
                  </a:lnTo>
                  <a:lnTo>
                    <a:pt x="383" y="16"/>
                  </a:lnTo>
                  <a:lnTo>
                    <a:pt x="381" y="16"/>
                  </a:lnTo>
                  <a:lnTo>
                    <a:pt x="381" y="16"/>
                  </a:lnTo>
                  <a:lnTo>
                    <a:pt x="379" y="14"/>
                  </a:lnTo>
                  <a:lnTo>
                    <a:pt x="379" y="14"/>
                  </a:lnTo>
                  <a:lnTo>
                    <a:pt x="377" y="12"/>
                  </a:lnTo>
                  <a:lnTo>
                    <a:pt x="379" y="12"/>
                  </a:lnTo>
                  <a:lnTo>
                    <a:pt x="379" y="12"/>
                  </a:lnTo>
                  <a:lnTo>
                    <a:pt x="379" y="12"/>
                  </a:lnTo>
                  <a:lnTo>
                    <a:pt x="383" y="12"/>
                  </a:lnTo>
                  <a:lnTo>
                    <a:pt x="385" y="10"/>
                  </a:lnTo>
                  <a:lnTo>
                    <a:pt x="385" y="10"/>
                  </a:lnTo>
                  <a:lnTo>
                    <a:pt x="387" y="10"/>
                  </a:lnTo>
                  <a:lnTo>
                    <a:pt x="387" y="10"/>
                  </a:lnTo>
                  <a:lnTo>
                    <a:pt x="387" y="8"/>
                  </a:lnTo>
                  <a:lnTo>
                    <a:pt x="385" y="8"/>
                  </a:lnTo>
                  <a:lnTo>
                    <a:pt x="385" y="8"/>
                  </a:lnTo>
                  <a:lnTo>
                    <a:pt x="383" y="8"/>
                  </a:lnTo>
                  <a:lnTo>
                    <a:pt x="379" y="8"/>
                  </a:lnTo>
                  <a:lnTo>
                    <a:pt x="373" y="10"/>
                  </a:lnTo>
                  <a:lnTo>
                    <a:pt x="371" y="8"/>
                  </a:lnTo>
                  <a:lnTo>
                    <a:pt x="364" y="6"/>
                  </a:lnTo>
                  <a:lnTo>
                    <a:pt x="362" y="6"/>
                  </a:lnTo>
                  <a:lnTo>
                    <a:pt x="362" y="2"/>
                  </a:lnTo>
                  <a:lnTo>
                    <a:pt x="360" y="2"/>
                  </a:lnTo>
                  <a:lnTo>
                    <a:pt x="360" y="0"/>
                  </a:lnTo>
                  <a:lnTo>
                    <a:pt x="358" y="2"/>
                  </a:lnTo>
                  <a:lnTo>
                    <a:pt x="354" y="2"/>
                  </a:lnTo>
                  <a:lnTo>
                    <a:pt x="352" y="2"/>
                  </a:lnTo>
                  <a:lnTo>
                    <a:pt x="352" y="4"/>
                  </a:lnTo>
                  <a:lnTo>
                    <a:pt x="351" y="4"/>
                  </a:lnTo>
                  <a:lnTo>
                    <a:pt x="351" y="6"/>
                  </a:lnTo>
                  <a:lnTo>
                    <a:pt x="349" y="6"/>
                  </a:lnTo>
                  <a:lnTo>
                    <a:pt x="349" y="6"/>
                  </a:lnTo>
                  <a:lnTo>
                    <a:pt x="347" y="6"/>
                  </a:lnTo>
                  <a:lnTo>
                    <a:pt x="345" y="6"/>
                  </a:lnTo>
                  <a:lnTo>
                    <a:pt x="345" y="4"/>
                  </a:lnTo>
                  <a:lnTo>
                    <a:pt x="345" y="4"/>
                  </a:lnTo>
                  <a:lnTo>
                    <a:pt x="343" y="4"/>
                  </a:lnTo>
                  <a:lnTo>
                    <a:pt x="343" y="4"/>
                  </a:lnTo>
                  <a:lnTo>
                    <a:pt x="341" y="4"/>
                  </a:lnTo>
                  <a:lnTo>
                    <a:pt x="339" y="4"/>
                  </a:lnTo>
                  <a:lnTo>
                    <a:pt x="339" y="6"/>
                  </a:lnTo>
                  <a:lnTo>
                    <a:pt x="339" y="6"/>
                  </a:lnTo>
                  <a:lnTo>
                    <a:pt x="339" y="8"/>
                  </a:lnTo>
                  <a:lnTo>
                    <a:pt x="339" y="8"/>
                  </a:lnTo>
                  <a:lnTo>
                    <a:pt x="339" y="8"/>
                  </a:lnTo>
                  <a:lnTo>
                    <a:pt x="337" y="8"/>
                  </a:lnTo>
                  <a:lnTo>
                    <a:pt x="335" y="8"/>
                  </a:lnTo>
                  <a:lnTo>
                    <a:pt x="335" y="8"/>
                  </a:lnTo>
                  <a:lnTo>
                    <a:pt x="333" y="6"/>
                  </a:lnTo>
                  <a:lnTo>
                    <a:pt x="333" y="4"/>
                  </a:lnTo>
                  <a:lnTo>
                    <a:pt x="333" y="4"/>
                  </a:lnTo>
                  <a:lnTo>
                    <a:pt x="331" y="4"/>
                  </a:lnTo>
                  <a:lnTo>
                    <a:pt x="324" y="6"/>
                  </a:lnTo>
                  <a:lnTo>
                    <a:pt x="322" y="6"/>
                  </a:lnTo>
                  <a:lnTo>
                    <a:pt x="320" y="6"/>
                  </a:lnTo>
                  <a:lnTo>
                    <a:pt x="320" y="6"/>
                  </a:lnTo>
                  <a:lnTo>
                    <a:pt x="318" y="4"/>
                  </a:lnTo>
                  <a:lnTo>
                    <a:pt x="316" y="4"/>
                  </a:lnTo>
                  <a:lnTo>
                    <a:pt x="312" y="4"/>
                  </a:lnTo>
                  <a:lnTo>
                    <a:pt x="307" y="4"/>
                  </a:lnTo>
                  <a:lnTo>
                    <a:pt x="305" y="4"/>
                  </a:lnTo>
                  <a:lnTo>
                    <a:pt x="303" y="4"/>
                  </a:lnTo>
                  <a:lnTo>
                    <a:pt x="301" y="6"/>
                  </a:lnTo>
                  <a:lnTo>
                    <a:pt x="299" y="8"/>
                  </a:lnTo>
                  <a:lnTo>
                    <a:pt x="297" y="8"/>
                  </a:lnTo>
                  <a:lnTo>
                    <a:pt x="295" y="8"/>
                  </a:lnTo>
                  <a:lnTo>
                    <a:pt x="293" y="6"/>
                  </a:lnTo>
                  <a:lnTo>
                    <a:pt x="293" y="6"/>
                  </a:lnTo>
                  <a:lnTo>
                    <a:pt x="290" y="6"/>
                  </a:lnTo>
                  <a:lnTo>
                    <a:pt x="290" y="6"/>
                  </a:lnTo>
                  <a:lnTo>
                    <a:pt x="288" y="8"/>
                  </a:lnTo>
                  <a:lnTo>
                    <a:pt x="286" y="8"/>
                  </a:lnTo>
                  <a:lnTo>
                    <a:pt x="284" y="8"/>
                  </a:lnTo>
                  <a:lnTo>
                    <a:pt x="284" y="8"/>
                  </a:lnTo>
                  <a:lnTo>
                    <a:pt x="274" y="6"/>
                  </a:lnTo>
                  <a:lnTo>
                    <a:pt x="270" y="4"/>
                  </a:lnTo>
                  <a:lnTo>
                    <a:pt x="269" y="2"/>
                  </a:lnTo>
                  <a:lnTo>
                    <a:pt x="269" y="4"/>
                  </a:lnTo>
                  <a:lnTo>
                    <a:pt x="267" y="6"/>
                  </a:lnTo>
                  <a:lnTo>
                    <a:pt x="261" y="8"/>
                  </a:lnTo>
                  <a:lnTo>
                    <a:pt x="259" y="10"/>
                  </a:lnTo>
                  <a:lnTo>
                    <a:pt x="259" y="14"/>
                  </a:lnTo>
                  <a:lnTo>
                    <a:pt x="259" y="18"/>
                  </a:lnTo>
                  <a:lnTo>
                    <a:pt x="261" y="18"/>
                  </a:lnTo>
                  <a:lnTo>
                    <a:pt x="261" y="19"/>
                  </a:lnTo>
                  <a:lnTo>
                    <a:pt x="261" y="19"/>
                  </a:lnTo>
                  <a:lnTo>
                    <a:pt x="261" y="19"/>
                  </a:lnTo>
                  <a:lnTo>
                    <a:pt x="261" y="21"/>
                  </a:lnTo>
                  <a:lnTo>
                    <a:pt x="261" y="23"/>
                  </a:lnTo>
                  <a:lnTo>
                    <a:pt x="261" y="23"/>
                  </a:lnTo>
                  <a:lnTo>
                    <a:pt x="261" y="25"/>
                  </a:lnTo>
                  <a:lnTo>
                    <a:pt x="261" y="25"/>
                  </a:lnTo>
                  <a:lnTo>
                    <a:pt x="261" y="25"/>
                  </a:lnTo>
                  <a:lnTo>
                    <a:pt x="263" y="27"/>
                  </a:lnTo>
                  <a:lnTo>
                    <a:pt x="267" y="27"/>
                  </a:lnTo>
                  <a:lnTo>
                    <a:pt x="270" y="29"/>
                  </a:lnTo>
                  <a:lnTo>
                    <a:pt x="270" y="31"/>
                  </a:lnTo>
                  <a:lnTo>
                    <a:pt x="270" y="33"/>
                  </a:lnTo>
                  <a:lnTo>
                    <a:pt x="265" y="35"/>
                  </a:lnTo>
                  <a:lnTo>
                    <a:pt x="265" y="35"/>
                  </a:lnTo>
                  <a:lnTo>
                    <a:pt x="263" y="37"/>
                  </a:lnTo>
                  <a:lnTo>
                    <a:pt x="263" y="37"/>
                  </a:lnTo>
                  <a:lnTo>
                    <a:pt x="261" y="37"/>
                  </a:lnTo>
                  <a:lnTo>
                    <a:pt x="259" y="37"/>
                  </a:lnTo>
                  <a:lnTo>
                    <a:pt x="257" y="37"/>
                  </a:lnTo>
                  <a:lnTo>
                    <a:pt x="255" y="37"/>
                  </a:lnTo>
                  <a:lnTo>
                    <a:pt x="250" y="40"/>
                  </a:lnTo>
                  <a:lnTo>
                    <a:pt x="248" y="42"/>
                  </a:lnTo>
                  <a:lnTo>
                    <a:pt x="250" y="44"/>
                  </a:lnTo>
                  <a:lnTo>
                    <a:pt x="250" y="46"/>
                  </a:lnTo>
                  <a:lnTo>
                    <a:pt x="250" y="46"/>
                  </a:lnTo>
                  <a:lnTo>
                    <a:pt x="248" y="46"/>
                  </a:lnTo>
                  <a:lnTo>
                    <a:pt x="246" y="48"/>
                  </a:lnTo>
                  <a:lnTo>
                    <a:pt x="242" y="50"/>
                  </a:lnTo>
                  <a:lnTo>
                    <a:pt x="240" y="50"/>
                  </a:lnTo>
                  <a:lnTo>
                    <a:pt x="229" y="48"/>
                  </a:lnTo>
                  <a:lnTo>
                    <a:pt x="225" y="46"/>
                  </a:lnTo>
                  <a:lnTo>
                    <a:pt x="223" y="46"/>
                  </a:lnTo>
                  <a:lnTo>
                    <a:pt x="223" y="44"/>
                  </a:lnTo>
                  <a:lnTo>
                    <a:pt x="221" y="40"/>
                  </a:lnTo>
                  <a:lnTo>
                    <a:pt x="221" y="37"/>
                  </a:lnTo>
                  <a:lnTo>
                    <a:pt x="221" y="35"/>
                  </a:lnTo>
                  <a:lnTo>
                    <a:pt x="221" y="35"/>
                  </a:lnTo>
                  <a:lnTo>
                    <a:pt x="223" y="33"/>
                  </a:lnTo>
                  <a:lnTo>
                    <a:pt x="223" y="33"/>
                  </a:lnTo>
                  <a:lnTo>
                    <a:pt x="223" y="31"/>
                  </a:lnTo>
                  <a:lnTo>
                    <a:pt x="219" y="31"/>
                  </a:lnTo>
                  <a:lnTo>
                    <a:pt x="210" y="33"/>
                  </a:lnTo>
                  <a:lnTo>
                    <a:pt x="206" y="35"/>
                  </a:lnTo>
                  <a:lnTo>
                    <a:pt x="204" y="37"/>
                  </a:lnTo>
                  <a:lnTo>
                    <a:pt x="198" y="37"/>
                  </a:lnTo>
                  <a:lnTo>
                    <a:pt x="196" y="37"/>
                  </a:lnTo>
                  <a:lnTo>
                    <a:pt x="192" y="40"/>
                  </a:lnTo>
                  <a:lnTo>
                    <a:pt x="190" y="40"/>
                  </a:lnTo>
                  <a:lnTo>
                    <a:pt x="189" y="40"/>
                  </a:lnTo>
                  <a:lnTo>
                    <a:pt x="185" y="42"/>
                  </a:lnTo>
                  <a:lnTo>
                    <a:pt x="181" y="42"/>
                  </a:lnTo>
                  <a:lnTo>
                    <a:pt x="179" y="42"/>
                  </a:lnTo>
                  <a:lnTo>
                    <a:pt x="179" y="44"/>
                  </a:lnTo>
                  <a:lnTo>
                    <a:pt x="177" y="50"/>
                  </a:lnTo>
                  <a:lnTo>
                    <a:pt x="175" y="52"/>
                  </a:lnTo>
                  <a:lnTo>
                    <a:pt x="171" y="56"/>
                  </a:lnTo>
                  <a:lnTo>
                    <a:pt x="168" y="56"/>
                  </a:lnTo>
                  <a:lnTo>
                    <a:pt x="149" y="56"/>
                  </a:lnTo>
                  <a:lnTo>
                    <a:pt x="145" y="56"/>
                  </a:lnTo>
                  <a:lnTo>
                    <a:pt x="141" y="54"/>
                  </a:lnTo>
                  <a:lnTo>
                    <a:pt x="133" y="46"/>
                  </a:lnTo>
                  <a:lnTo>
                    <a:pt x="129" y="44"/>
                  </a:lnTo>
                  <a:lnTo>
                    <a:pt x="105" y="44"/>
                  </a:lnTo>
                  <a:lnTo>
                    <a:pt x="97" y="46"/>
                  </a:lnTo>
                  <a:lnTo>
                    <a:pt x="93" y="48"/>
                  </a:lnTo>
                  <a:lnTo>
                    <a:pt x="91" y="46"/>
                  </a:lnTo>
                  <a:lnTo>
                    <a:pt x="88" y="44"/>
                  </a:lnTo>
                  <a:lnTo>
                    <a:pt x="84" y="44"/>
                  </a:lnTo>
                  <a:lnTo>
                    <a:pt x="82" y="44"/>
                  </a:lnTo>
                  <a:lnTo>
                    <a:pt x="80" y="46"/>
                  </a:lnTo>
                  <a:lnTo>
                    <a:pt x="76" y="48"/>
                  </a:lnTo>
                  <a:lnTo>
                    <a:pt x="74" y="46"/>
                  </a:lnTo>
                  <a:lnTo>
                    <a:pt x="74" y="46"/>
                  </a:lnTo>
                  <a:lnTo>
                    <a:pt x="72" y="42"/>
                  </a:lnTo>
                  <a:lnTo>
                    <a:pt x="70" y="42"/>
                  </a:lnTo>
                  <a:lnTo>
                    <a:pt x="70" y="40"/>
                  </a:lnTo>
                  <a:lnTo>
                    <a:pt x="69" y="40"/>
                  </a:lnTo>
                  <a:lnTo>
                    <a:pt x="69" y="40"/>
                  </a:lnTo>
                  <a:lnTo>
                    <a:pt x="69" y="40"/>
                  </a:lnTo>
                  <a:lnTo>
                    <a:pt x="67" y="42"/>
                  </a:lnTo>
                  <a:lnTo>
                    <a:pt x="67" y="42"/>
                  </a:lnTo>
                  <a:lnTo>
                    <a:pt x="65" y="48"/>
                  </a:lnTo>
                  <a:lnTo>
                    <a:pt x="63" y="50"/>
                  </a:lnTo>
                  <a:lnTo>
                    <a:pt x="61" y="48"/>
                  </a:lnTo>
                  <a:lnTo>
                    <a:pt x="61" y="42"/>
                  </a:lnTo>
                  <a:lnTo>
                    <a:pt x="59" y="40"/>
                  </a:lnTo>
                  <a:lnTo>
                    <a:pt x="55" y="40"/>
                  </a:lnTo>
                  <a:lnTo>
                    <a:pt x="53" y="44"/>
                  </a:lnTo>
                  <a:lnTo>
                    <a:pt x="53" y="52"/>
                  </a:lnTo>
                  <a:lnTo>
                    <a:pt x="53" y="63"/>
                  </a:lnTo>
                  <a:lnTo>
                    <a:pt x="53" y="77"/>
                  </a:lnTo>
                  <a:lnTo>
                    <a:pt x="46" y="77"/>
                  </a:lnTo>
                  <a:lnTo>
                    <a:pt x="36" y="77"/>
                  </a:lnTo>
                  <a:lnTo>
                    <a:pt x="27" y="77"/>
                  </a:lnTo>
                  <a:lnTo>
                    <a:pt x="21" y="77"/>
                  </a:lnTo>
                  <a:lnTo>
                    <a:pt x="19" y="78"/>
                  </a:lnTo>
                  <a:lnTo>
                    <a:pt x="19" y="78"/>
                  </a:lnTo>
                  <a:lnTo>
                    <a:pt x="19" y="77"/>
                  </a:lnTo>
                  <a:lnTo>
                    <a:pt x="19" y="77"/>
                  </a:lnTo>
                  <a:lnTo>
                    <a:pt x="17" y="77"/>
                  </a:lnTo>
                  <a:lnTo>
                    <a:pt x="17" y="77"/>
                  </a:lnTo>
                  <a:lnTo>
                    <a:pt x="17" y="77"/>
                  </a:lnTo>
                  <a:lnTo>
                    <a:pt x="17" y="78"/>
                  </a:lnTo>
                  <a:lnTo>
                    <a:pt x="17" y="78"/>
                  </a:lnTo>
                  <a:lnTo>
                    <a:pt x="15" y="80"/>
                  </a:lnTo>
                  <a:lnTo>
                    <a:pt x="15" y="82"/>
                  </a:lnTo>
                  <a:lnTo>
                    <a:pt x="13" y="82"/>
                  </a:lnTo>
                  <a:lnTo>
                    <a:pt x="13" y="82"/>
                  </a:lnTo>
                  <a:lnTo>
                    <a:pt x="11" y="80"/>
                  </a:lnTo>
                  <a:lnTo>
                    <a:pt x="11" y="80"/>
                  </a:lnTo>
                  <a:lnTo>
                    <a:pt x="11" y="78"/>
                  </a:lnTo>
                  <a:lnTo>
                    <a:pt x="9" y="78"/>
                  </a:lnTo>
                  <a:lnTo>
                    <a:pt x="9" y="80"/>
                  </a:lnTo>
                  <a:lnTo>
                    <a:pt x="9" y="80"/>
                  </a:lnTo>
                  <a:lnTo>
                    <a:pt x="9" y="82"/>
                  </a:lnTo>
                  <a:lnTo>
                    <a:pt x="9" y="82"/>
                  </a:lnTo>
                  <a:lnTo>
                    <a:pt x="9" y="82"/>
                  </a:lnTo>
                  <a:lnTo>
                    <a:pt x="9" y="82"/>
                  </a:lnTo>
                  <a:lnTo>
                    <a:pt x="9" y="84"/>
                  </a:lnTo>
                  <a:lnTo>
                    <a:pt x="9" y="84"/>
                  </a:lnTo>
                  <a:lnTo>
                    <a:pt x="9" y="84"/>
                  </a:lnTo>
                  <a:lnTo>
                    <a:pt x="8" y="84"/>
                  </a:lnTo>
                  <a:lnTo>
                    <a:pt x="8" y="84"/>
                  </a:lnTo>
                  <a:lnTo>
                    <a:pt x="8" y="84"/>
                  </a:lnTo>
                  <a:lnTo>
                    <a:pt x="6" y="84"/>
                  </a:lnTo>
                  <a:lnTo>
                    <a:pt x="6" y="86"/>
                  </a:lnTo>
                  <a:lnTo>
                    <a:pt x="4" y="88"/>
                  </a:lnTo>
                  <a:lnTo>
                    <a:pt x="4" y="88"/>
                  </a:lnTo>
                  <a:lnTo>
                    <a:pt x="4" y="90"/>
                  </a:lnTo>
                  <a:lnTo>
                    <a:pt x="2" y="90"/>
                  </a:lnTo>
                  <a:lnTo>
                    <a:pt x="2" y="94"/>
                  </a:lnTo>
                  <a:lnTo>
                    <a:pt x="2" y="96"/>
                  </a:lnTo>
                  <a:lnTo>
                    <a:pt x="2" y="97"/>
                  </a:lnTo>
                  <a:lnTo>
                    <a:pt x="2" y="97"/>
                  </a:lnTo>
                  <a:lnTo>
                    <a:pt x="2" y="97"/>
                  </a:lnTo>
                  <a:lnTo>
                    <a:pt x="4" y="96"/>
                  </a:lnTo>
                  <a:lnTo>
                    <a:pt x="4" y="97"/>
                  </a:lnTo>
                  <a:lnTo>
                    <a:pt x="4" y="99"/>
                  </a:lnTo>
                  <a:lnTo>
                    <a:pt x="4" y="101"/>
                  </a:lnTo>
                  <a:lnTo>
                    <a:pt x="6" y="103"/>
                  </a:lnTo>
                  <a:lnTo>
                    <a:pt x="8" y="105"/>
                  </a:lnTo>
                  <a:lnTo>
                    <a:pt x="8" y="105"/>
                  </a:lnTo>
                  <a:lnTo>
                    <a:pt x="9" y="105"/>
                  </a:lnTo>
                  <a:lnTo>
                    <a:pt x="11" y="105"/>
                  </a:lnTo>
                  <a:lnTo>
                    <a:pt x="11" y="107"/>
                  </a:lnTo>
                  <a:lnTo>
                    <a:pt x="9" y="107"/>
                  </a:lnTo>
                  <a:lnTo>
                    <a:pt x="9" y="107"/>
                  </a:lnTo>
                  <a:lnTo>
                    <a:pt x="8" y="109"/>
                  </a:lnTo>
                  <a:lnTo>
                    <a:pt x="6" y="107"/>
                  </a:lnTo>
                  <a:lnTo>
                    <a:pt x="6" y="107"/>
                  </a:lnTo>
                  <a:lnTo>
                    <a:pt x="4" y="107"/>
                  </a:lnTo>
                  <a:lnTo>
                    <a:pt x="4" y="109"/>
                  </a:lnTo>
                  <a:lnTo>
                    <a:pt x="4" y="109"/>
                  </a:lnTo>
                  <a:lnTo>
                    <a:pt x="2" y="109"/>
                  </a:lnTo>
                  <a:lnTo>
                    <a:pt x="2" y="111"/>
                  </a:lnTo>
                  <a:lnTo>
                    <a:pt x="0" y="111"/>
                  </a:lnTo>
                  <a:lnTo>
                    <a:pt x="0" y="111"/>
                  </a:lnTo>
                  <a:lnTo>
                    <a:pt x="0" y="113"/>
                  </a:lnTo>
                  <a:lnTo>
                    <a:pt x="0" y="113"/>
                  </a:lnTo>
                  <a:lnTo>
                    <a:pt x="2" y="115"/>
                  </a:lnTo>
                  <a:lnTo>
                    <a:pt x="8" y="115"/>
                  </a:lnTo>
                  <a:lnTo>
                    <a:pt x="13" y="115"/>
                  </a:lnTo>
                  <a:lnTo>
                    <a:pt x="15" y="115"/>
                  </a:lnTo>
                  <a:lnTo>
                    <a:pt x="15" y="115"/>
                  </a:lnTo>
                  <a:lnTo>
                    <a:pt x="17" y="115"/>
                  </a:lnTo>
                  <a:lnTo>
                    <a:pt x="17" y="113"/>
                  </a:lnTo>
                  <a:lnTo>
                    <a:pt x="19" y="113"/>
                  </a:lnTo>
                  <a:lnTo>
                    <a:pt x="19" y="113"/>
                  </a:lnTo>
                  <a:lnTo>
                    <a:pt x="19" y="111"/>
                  </a:lnTo>
                  <a:lnTo>
                    <a:pt x="17" y="111"/>
                  </a:lnTo>
                  <a:lnTo>
                    <a:pt x="25" y="103"/>
                  </a:lnTo>
                  <a:lnTo>
                    <a:pt x="25" y="101"/>
                  </a:lnTo>
                  <a:lnTo>
                    <a:pt x="27" y="101"/>
                  </a:lnTo>
                  <a:lnTo>
                    <a:pt x="30" y="99"/>
                  </a:lnTo>
                  <a:lnTo>
                    <a:pt x="32" y="99"/>
                  </a:lnTo>
                  <a:lnTo>
                    <a:pt x="34" y="97"/>
                  </a:lnTo>
                  <a:lnTo>
                    <a:pt x="36" y="97"/>
                  </a:lnTo>
                  <a:lnTo>
                    <a:pt x="38" y="96"/>
                  </a:lnTo>
                  <a:lnTo>
                    <a:pt x="40" y="96"/>
                  </a:lnTo>
                  <a:lnTo>
                    <a:pt x="42" y="96"/>
                  </a:lnTo>
                  <a:lnTo>
                    <a:pt x="42" y="94"/>
                  </a:lnTo>
                  <a:lnTo>
                    <a:pt x="44" y="90"/>
                  </a:lnTo>
                  <a:lnTo>
                    <a:pt x="44" y="90"/>
                  </a:lnTo>
                  <a:lnTo>
                    <a:pt x="46" y="90"/>
                  </a:lnTo>
                  <a:lnTo>
                    <a:pt x="49" y="90"/>
                  </a:lnTo>
                  <a:lnTo>
                    <a:pt x="51" y="90"/>
                  </a:lnTo>
                  <a:lnTo>
                    <a:pt x="55" y="88"/>
                  </a:lnTo>
                  <a:lnTo>
                    <a:pt x="57" y="86"/>
                  </a:lnTo>
                  <a:lnTo>
                    <a:pt x="57" y="86"/>
                  </a:lnTo>
                  <a:lnTo>
                    <a:pt x="61" y="84"/>
                  </a:lnTo>
                  <a:lnTo>
                    <a:pt x="61" y="86"/>
                  </a:lnTo>
                  <a:lnTo>
                    <a:pt x="57" y="90"/>
                  </a:lnTo>
                  <a:lnTo>
                    <a:pt x="55" y="90"/>
                  </a:lnTo>
                  <a:lnTo>
                    <a:pt x="55" y="90"/>
                  </a:lnTo>
                  <a:lnTo>
                    <a:pt x="53" y="92"/>
                  </a:lnTo>
                  <a:lnTo>
                    <a:pt x="51" y="92"/>
                  </a:lnTo>
                  <a:lnTo>
                    <a:pt x="49" y="92"/>
                  </a:lnTo>
                  <a:lnTo>
                    <a:pt x="48" y="92"/>
                  </a:lnTo>
                  <a:lnTo>
                    <a:pt x="46" y="94"/>
                  </a:lnTo>
                  <a:lnTo>
                    <a:pt x="46" y="97"/>
                  </a:lnTo>
                  <a:lnTo>
                    <a:pt x="42" y="97"/>
                  </a:lnTo>
                  <a:lnTo>
                    <a:pt x="40" y="99"/>
                  </a:lnTo>
                  <a:lnTo>
                    <a:pt x="38" y="103"/>
                  </a:lnTo>
                  <a:lnTo>
                    <a:pt x="36" y="105"/>
                  </a:lnTo>
                  <a:lnTo>
                    <a:pt x="36" y="105"/>
                  </a:lnTo>
                  <a:lnTo>
                    <a:pt x="34" y="105"/>
                  </a:lnTo>
                  <a:lnTo>
                    <a:pt x="32" y="105"/>
                  </a:lnTo>
                  <a:lnTo>
                    <a:pt x="30" y="107"/>
                  </a:lnTo>
                  <a:lnTo>
                    <a:pt x="28" y="107"/>
                  </a:lnTo>
                  <a:lnTo>
                    <a:pt x="28" y="107"/>
                  </a:lnTo>
                  <a:lnTo>
                    <a:pt x="28" y="109"/>
                  </a:lnTo>
                  <a:lnTo>
                    <a:pt x="30" y="109"/>
                  </a:lnTo>
                  <a:lnTo>
                    <a:pt x="30" y="109"/>
                  </a:lnTo>
                  <a:lnTo>
                    <a:pt x="32" y="109"/>
                  </a:lnTo>
                  <a:lnTo>
                    <a:pt x="30" y="111"/>
                  </a:lnTo>
                  <a:lnTo>
                    <a:pt x="30" y="111"/>
                  </a:lnTo>
                  <a:lnTo>
                    <a:pt x="25" y="111"/>
                  </a:lnTo>
                  <a:lnTo>
                    <a:pt x="23" y="111"/>
                  </a:lnTo>
                  <a:lnTo>
                    <a:pt x="23" y="113"/>
                  </a:lnTo>
                  <a:lnTo>
                    <a:pt x="25" y="118"/>
                  </a:lnTo>
                  <a:lnTo>
                    <a:pt x="23" y="122"/>
                  </a:lnTo>
                  <a:lnTo>
                    <a:pt x="25" y="124"/>
                  </a:lnTo>
                  <a:lnTo>
                    <a:pt x="27" y="124"/>
                  </a:lnTo>
                  <a:lnTo>
                    <a:pt x="27" y="122"/>
                  </a:lnTo>
                  <a:lnTo>
                    <a:pt x="27" y="122"/>
                  </a:lnTo>
                  <a:lnTo>
                    <a:pt x="27" y="120"/>
                  </a:lnTo>
                  <a:lnTo>
                    <a:pt x="27" y="118"/>
                  </a:lnTo>
                  <a:lnTo>
                    <a:pt x="27" y="118"/>
                  </a:lnTo>
                  <a:lnTo>
                    <a:pt x="28" y="120"/>
                  </a:lnTo>
                  <a:lnTo>
                    <a:pt x="28" y="120"/>
                  </a:lnTo>
                  <a:lnTo>
                    <a:pt x="28" y="122"/>
                  </a:lnTo>
                  <a:lnTo>
                    <a:pt x="30" y="120"/>
                  </a:lnTo>
                  <a:lnTo>
                    <a:pt x="30" y="120"/>
                  </a:lnTo>
                  <a:lnTo>
                    <a:pt x="30" y="122"/>
                  </a:lnTo>
                  <a:lnTo>
                    <a:pt x="28" y="122"/>
                  </a:lnTo>
                  <a:lnTo>
                    <a:pt x="27" y="124"/>
                  </a:lnTo>
                  <a:lnTo>
                    <a:pt x="27" y="126"/>
                  </a:lnTo>
                  <a:lnTo>
                    <a:pt x="25" y="128"/>
                  </a:lnTo>
                  <a:lnTo>
                    <a:pt x="27" y="130"/>
                  </a:lnTo>
                  <a:lnTo>
                    <a:pt x="27" y="130"/>
                  </a:lnTo>
                  <a:lnTo>
                    <a:pt x="28" y="130"/>
                  </a:lnTo>
                  <a:lnTo>
                    <a:pt x="28" y="128"/>
                  </a:lnTo>
                  <a:lnTo>
                    <a:pt x="28" y="130"/>
                  </a:lnTo>
                  <a:lnTo>
                    <a:pt x="28" y="132"/>
                  </a:lnTo>
                  <a:lnTo>
                    <a:pt x="28" y="132"/>
                  </a:lnTo>
                  <a:lnTo>
                    <a:pt x="30" y="134"/>
                  </a:lnTo>
                  <a:lnTo>
                    <a:pt x="30" y="132"/>
                  </a:lnTo>
                  <a:lnTo>
                    <a:pt x="32" y="132"/>
                  </a:lnTo>
                  <a:lnTo>
                    <a:pt x="32" y="132"/>
                  </a:lnTo>
                  <a:lnTo>
                    <a:pt x="34" y="132"/>
                  </a:lnTo>
                  <a:lnTo>
                    <a:pt x="34" y="132"/>
                  </a:lnTo>
                  <a:lnTo>
                    <a:pt x="34" y="130"/>
                  </a:lnTo>
                  <a:lnTo>
                    <a:pt x="36" y="132"/>
                  </a:lnTo>
                  <a:lnTo>
                    <a:pt x="36" y="132"/>
                  </a:lnTo>
                  <a:lnTo>
                    <a:pt x="34" y="132"/>
                  </a:lnTo>
                  <a:lnTo>
                    <a:pt x="34" y="132"/>
                  </a:lnTo>
                  <a:lnTo>
                    <a:pt x="34" y="134"/>
                  </a:lnTo>
                  <a:lnTo>
                    <a:pt x="34" y="134"/>
                  </a:lnTo>
                  <a:lnTo>
                    <a:pt x="34" y="135"/>
                  </a:lnTo>
                  <a:lnTo>
                    <a:pt x="34" y="135"/>
                  </a:lnTo>
                  <a:lnTo>
                    <a:pt x="34" y="137"/>
                  </a:lnTo>
                  <a:lnTo>
                    <a:pt x="36" y="137"/>
                  </a:lnTo>
                  <a:lnTo>
                    <a:pt x="36" y="137"/>
                  </a:lnTo>
                  <a:lnTo>
                    <a:pt x="36" y="137"/>
                  </a:lnTo>
                  <a:lnTo>
                    <a:pt x="38" y="137"/>
                  </a:lnTo>
                  <a:lnTo>
                    <a:pt x="38" y="137"/>
                  </a:lnTo>
                  <a:lnTo>
                    <a:pt x="38" y="137"/>
                  </a:lnTo>
                  <a:lnTo>
                    <a:pt x="38" y="137"/>
                  </a:lnTo>
                  <a:lnTo>
                    <a:pt x="38" y="139"/>
                  </a:lnTo>
                  <a:lnTo>
                    <a:pt x="40" y="139"/>
                  </a:lnTo>
                  <a:lnTo>
                    <a:pt x="40" y="139"/>
                  </a:lnTo>
                  <a:lnTo>
                    <a:pt x="42" y="139"/>
                  </a:lnTo>
                  <a:lnTo>
                    <a:pt x="42" y="141"/>
                  </a:lnTo>
                  <a:lnTo>
                    <a:pt x="42" y="141"/>
                  </a:lnTo>
                  <a:lnTo>
                    <a:pt x="38" y="141"/>
                  </a:lnTo>
                  <a:lnTo>
                    <a:pt x="38" y="141"/>
                  </a:lnTo>
                  <a:lnTo>
                    <a:pt x="36" y="145"/>
                  </a:lnTo>
                  <a:lnTo>
                    <a:pt x="36" y="147"/>
                  </a:lnTo>
                  <a:lnTo>
                    <a:pt x="40" y="147"/>
                  </a:lnTo>
                  <a:lnTo>
                    <a:pt x="42" y="147"/>
                  </a:lnTo>
                  <a:lnTo>
                    <a:pt x="44" y="147"/>
                  </a:lnTo>
                  <a:lnTo>
                    <a:pt x="44" y="147"/>
                  </a:lnTo>
                  <a:lnTo>
                    <a:pt x="44" y="149"/>
                  </a:lnTo>
                  <a:lnTo>
                    <a:pt x="42" y="151"/>
                  </a:lnTo>
                  <a:lnTo>
                    <a:pt x="42" y="149"/>
                  </a:lnTo>
                  <a:lnTo>
                    <a:pt x="42" y="149"/>
                  </a:lnTo>
                  <a:lnTo>
                    <a:pt x="42" y="151"/>
                  </a:lnTo>
                  <a:lnTo>
                    <a:pt x="42" y="153"/>
                  </a:lnTo>
                  <a:lnTo>
                    <a:pt x="44" y="154"/>
                  </a:lnTo>
                  <a:lnTo>
                    <a:pt x="46" y="154"/>
                  </a:lnTo>
                  <a:lnTo>
                    <a:pt x="46" y="156"/>
                  </a:lnTo>
                  <a:lnTo>
                    <a:pt x="46" y="156"/>
                  </a:lnTo>
                  <a:lnTo>
                    <a:pt x="46" y="158"/>
                  </a:lnTo>
                  <a:lnTo>
                    <a:pt x="48" y="158"/>
                  </a:lnTo>
                  <a:lnTo>
                    <a:pt x="49" y="160"/>
                  </a:lnTo>
                  <a:lnTo>
                    <a:pt x="67" y="172"/>
                  </a:lnTo>
                  <a:lnTo>
                    <a:pt x="82" y="179"/>
                  </a:lnTo>
                  <a:lnTo>
                    <a:pt x="91" y="185"/>
                  </a:lnTo>
                  <a:lnTo>
                    <a:pt x="97" y="189"/>
                  </a:lnTo>
                  <a:lnTo>
                    <a:pt x="101" y="189"/>
                  </a:lnTo>
                  <a:lnTo>
                    <a:pt x="110" y="191"/>
                  </a:lnTo>
                  <a:lnTo>
                    <a:pt x="112" y="191"/>
                  </a:lnTo>
                  <a:lnTo>
                    <a:pt x="116" y="193"/>
                  </a:lnTo>
                  <a:lnTo>
                    <a:pt x="118" y="193"/>
                  </a:lnTo>
                  <a:lnTo>
                    <a:pt x="122" y="194"/>
                  </a:lnTo>
                  <a:lnTo>
                    <a:pt x="122" y="194"/>
                  </a:lnTo>
                  <a:lnTo>
                    <a:pt x="124" y="194"/>
                  </a:lnTo>
                  <a:lnTo>
                    <a:pt x="124" y="194"/>
                  </a:lnTo>
                  <a:lnTo>
                    <a:pt x="124" y="194"/>
                  </a:lnTo>
                  <a:lnTo>
                    <a:pt x="126" y="194"/>
                  </a:lnTo>
                  <a:lnTo>
                    <a:pt x="129" y="194"/>
                  </a:lnTo>
                  <a:lnTo>
                    <a:pt x="129" y="196"/>
                  </a:lnTo>
                  <a:lnTo>
                    <a:pt x="131" y="196"/>
                  </a:lnTo>
                  <a:lnTo>
                    <a:pt x="133" y="196"/>
                  </a:lnTo>
                  <a:lnTo>
                    <a:pt x="139" y="198"/>
                  </a:lnTo>
                  <a:lnTo>
                    <a:pt x="143" y="198"/>
                  </a:lnTo>
                  <a:lnTo>
                    <a:pt x="145" y="198"/>
                  </a:lnTo>
                  <a:lnTo>
                    <a:pt x="145" y="198"/>
                  </a:lnTo>
                  <a:lnTo>
                    <a:pt x="149" y="193"/>
                  </a:lnTo>
                  <a:lnTo>
                    <a:pt x="150" y="191"/>
                  </a:lnTo>
                  <a:lnTo>
                    <a:pt x="152" y="189"/>
                  </a:lnTo>
                  <a:lnTo>
                    <a:pt x="156" y="187"/>
                  </a:lnTo>
                  <a:lnTo>
                    <a:pt x="156" y="187"/>
                  </a:lnTo>
                  <a:lnTo>
                    <a:pt x="160" y="187"/>
                  </a:lnTo>
                  <a:lnTo>
                    <a:pt x="166" y="185"/>
                  </a:lnTo>
                  <a:lnTo>
                    <a:pt x="170" y="185"/>
                  </a:lnTo>
                  <a:lnTo>
                    <a:pt x="177" y="181"/>
                  </a:lnTo>
                  <a:lnTo>
                    <a:pt x="181" y="181"/>
                  </a:lnTo>
                  <a:lnTo>
                    <a:pt x="183" y="181"/>
                  </a:lnTo>
                  <a:lnTo>
                    <a:pt x="183" y="179"/>
                  </a:lnTo>
                  <a:lnTo>
                    <a:pt x="181" y="177"/>
                  </a:lnTo>
                  <a:lnTo>
                    <a:pt x="181" y="177"/>
                  </a:lnTo>
                  <a:lnTo>
                    <a:pt x="183" y="173"/>
                  </a:lnTo>
                  <a:lnTo>
                    <a:pt x="183" y="175"/>
                  </a:lnTo>
                  <a:lnTo>
                    <a:pt x="183" y="175"/>
                  </a:lnTo>
                  <a:lnTo>
                    <a:pt x="183" y="177"/>
                  </a:lnTo>
                  <a:lnTo>
                    <a:pt x="183" y="177"/>
                  </a:lnTo>
                  <a:lnTo>
                    <a:pt x="185" y="177"/>
                  </a:lnTo>
                  <a:lnTo>
                    <a:pt x="185" y="177"/>
                  </a:lnTo>
                  <a:lnTo>
                    <a:pt x="185" y="177"/>
                  </a:lnTo>
                  <a:lnTo>
                    <a:pt x="185" y="177"/>
                  </a:lnTo>
                  <a:lnTo>
                    <a:pt x="185" y="179"/>
                  </a:lnTo>
                  <a:lnTo>
                    <a:pt x="187" y="179"/>
                  </a:lnTo>
                  <a:lnTo>
                    <a:pt x="187" y="177"/>
                  </a:lnTo>
                  <a:lnTo>
                    <a:pt x="187" y="177"/>
                  </a:lnTo>
                  <a:lnTo>
                    <a:pt x="189" y="177"/>
                  </a:lnTo>
                  <a:lnTo>
                    <a:pt x="190" y="177"/>
                  </a:lnTo>
                  <a:lnTo>
                    <a:pt x="192" y="175"/>
                  </a:lnTo>
                  <a:lnTo>
                    <a:pt x="192" y="173"/>
                  </a:lnTo>
                  <a:lnTo>
                    <a:pt x="194" y="175"/>
                  </a:lnTo>
                  <a:lnTo>
                    <a:pt x="194" y="175"/>
                  </a:lnTo>
                  <a:lnTo>
                    <a:pt x="196" y="177"/>
                  </a:lnTo>
                  <a:lnTo>
                    <a:pt x="198" y="177"/>
                  </a:lnTo>
                  <a:lnTo>
                    <a:pt x="198" y="177"/>
                  </a:lnTo>
                  <a:lnTo>
                    <a:pt x="198" y="179"/>
                  </a:lnTo>
                  <a:lnTo>
                    <a:pt x="198" y="179"/>
                  </a:lnTo>
                  <a:lnTo>
                    <a:pt x="200" y="179"/>
                  </a:lnTo>
                  <a:lnTo>
                    <a:pt x="200" y="179"/>
                  </a:lnTo>
                  <a:lnTo>
                    <a:pt x="200" y="179"/>
                  </a:lnTo>
                  <a:lnTo>
                    <a:pt x="200" y="179"/>
                  </a:lnTo>
                  <a:lnTo>
                    <a:pt x="202" y="179"/>
                  </a:lnTo>
                  <a:lnTo>
                    <a:pt x="202" y="179"/>
                  </a:lnTo>
                  <a:lnTo>
                    <a:pt x="202" y="179"/>
                  </a:lnTo>
                  <a:lnTo>
                    <a:pt x="202" y="181"/>
                  </a:lnTo>
                  <a:lnTo>
                    <a:pt x="204" y="179"/>
                  </a:lnTo>
                  <a:lnTo>
                    <a:pt x="204" y="179"/>
                  </a:lnTo>
                  <a:lnTo>
                    <a:pt x="204" y="179"/>
                  </a:lnTo>
                  <a:lnTo>
                    <a:pt x="206" y="179"/>
                  </a:lnTo>
                  <a:lnTo>
                    <a:pt x="208" y="179"/>
                  </a:lnTo>
                  <a:lnTo>
                    <a:pt x="208" y="179"/>
                  </a:lnTo>
                  <a:lnTo>
                    <a:pt x="208" y="177"/>
                  </a:lnTo>
                  <a:lnTo>
                    <a:pt x="208" y="177"/>
                  </a:lnTo>
                  <a:lnTo>
                    <a:pt x="208" y="175"/>
                  </a:lnTo>
                  <a:lnTo>
                    <a:pt x="208" y="173"/>
                  </a:lnTo>
                  <a:lnTo>
                    <a:pt x="208" y="173"/>
                  </a:lnTo>
                  <a:lnTo>
                    <a:pt x="208" y="172"/>
                  </a:lnTo>
                  <a:lnTo>
                    <a:pt x="208" y="170"/>
                  </a:lnTo>
                  <a:lnTo>
                    <a:pt x="208" y="170"/>
                  </a:lnTo>
                  <a:lnTo>
                    <a:pt x="208" y="168"/>
                  </a:lnTo>
                  <a:lnTo>
                    <a:pt x="208" y="166"/>
                  </a:lnTo>
                  <a:lnTo>
                    <a:pt x="208" y="164"/>
                  </a:lnTo>
                  <a:lnTo>
                    <a:pt x="211" y="162"/>
                  </a:lnTo>
                  <a:lnTo>
                    <a:pt x="213" y="162"/>
                  </a:lnTo>
                  <a:lnTo>
                    <a:pt x="213" y="160"/>
                  </a:lnTo>
                  <a:lnTo>
                    <a:pt x="215" y="160"/>
                  </a:lnTo>
                  <a:lnTo>
                    <a:pt x="217" y="162"/>
                  </a:lnTo>
                  <a:lnTo>
                    <a:pt x="219" y="164"/>
                  </a:lnTo>
                  <a:lnTo>
                    <a:pt x="219" y="166"/>
                  </a:lnTo>
                  <a:lnTo>
                    <a:pt x="219" y="168"/>
                  </a:lnTo>
                  <a:lnTo>
                    <a:pt x="219" y="172"/>
                  </a:lnTo>
                  <a:lnTo>
                    <a:pt x="219" y="173"/>
                  </a:lnTo>
                  <a:lnTo>
                    <a:pt x="217" y="173"/>
                  </a:lnTo>
                  <a:lnTo>
                    <a:pt x="217" y="175"/>
                  </a:lnTo>
                  <a:lnTo>
                    <a:pt x="217" y="177"/>
                  </a:lnTo>
                  <a:lnTo>
                    <a:pt x="215" y="177"/>
                  </a:lnTo>
                  <a:lnTo>
                    <a:pt x="215" y="177"/>
                  </a:lnTo>
                  <a:lnTo>
                    <a:pt x="213" y="177"/>
                  </a:lnTo>
                  <a:lnTo>
                    <a:pt x="213" y="177"/>
                  </a:lnTo>
                  <a:lnTo>
                    <a:pt x="211" y="177"/>
                  </a:lnTo>
                  <a:lnTo>
                    <a:pt x="208" y="181"/>
                  </a:lnTo>
                  <a:lnTo>
                    <a:pt x="206" y="183"/>
                  </a:lnTo>
                  <a:lnTo>
                    <a:pt x="206" y="183"/>
                  </a:lnTo>
                  <a:lnTo>
                    <a:pt x="202" y="189"/>
                  </a:lnTo>
                  <a:lnTo>
                    <a:pt x="200" y="191"/>
                  </a:lnTo>
                  <a:lnTo>
                    <a:pt x="200" y="191"/>
                  </a:lnTo>
                  <a:lnTo>
                    <a:pt x="200" y="193"/>
                  </a:lnTo>
                  <a:lnTo>
                    <a:pt x="200" y="194"/>
                  </a:lnTo>
                  <a:lnTo>
                    <a:pt x="200" y="196"/>
                  </a:lnTo>
                  <a:lnTo>
                    <a:pt x="196" y="202"/>
                  </a:lnTo>
                  <a:lnTo>
                    <a:pt x="192" y="208"/>
                  </a:lnTo>
                  <a:lnTo>
                    <a:pt x="190" y="212"/>
                  </a:lnTo>
                  <a:lnTo>
                    <a:pt x="189" y="215"/>
                  </a:lnTo>
                  <a:lnTo>
                    <a:pt x="187" y="217"/>
                  </a:lnTo>
                  <a:lnTo>
                    <a:pt x="185" y="219"/>
                  </a:lnTo>
                  <a:lnTo>
                    <a:pt x="175" y="217"/>
                  </a:lnTo>
                  <a:lnTo>
                    <a:pt x="173" y="217"/>
                  </a:lnTo>
                  <a:lnTo>
                    <a:pt x="171" y="219"/>
                  </a:lnTo>
                  <a:lnTo>
                    <a:pt x="170" y="219"/>
                  </a:lnTo>
                  <a:lnTo>
                    <a:pt x="168" y="219"/>
                  </a:lnTo>
                  <a:lnTo>
                    <a:pt x="168" y="219"/>
                  </a:lnTo>
                  <a:lnTo>
                    <a:pt x="168" y="219"/>
                  </a:lnTo>
                  <a:lnTo>
                    <a:pt x="162" y="225"/>
                  </a:lnTo>
                  <a:lnTo>
                    <a:pt x="160" y="227"/>
                  </a:lnTo>
                  <a:lnTo>
                    <a:pt x="158" y="227"/>
                  </a:lnTo>
                  <a:lnTo>
                    <a:pt x="156" y="227"/>
                  </a:lnTo>
                  <a:lnTo>
                    <a:pt x="156" y="227"/>
                  </a:lnTo>
                  <a:lnTo>
                    <a:pt x="156" y="227"/>
                  </a:lnTo>
                  <a:lnTo>
                    <a:pt x="154" y="229"/>
                  </a:lnTo>
                  <a:lnTo>
                    <a:pt x="154" y="229"/>
                  </a:lnTo>
                  <a:lnTo>
                    <a:pt x="154" y="231"/>
                  </a:lnTo>
                  <a:lnTo>
                    <a:pt x="152" y="231"/>
                  </a:lnTo>
                  <a:lnTo>
                    <a:pt x="152" y="231"/>
                  </a:lnTo>
                  <a:lnTo>
                    <a:pt x="150" y="231"/>
                  </a:lnTo>
                  <a:lnTo>
                    <a:pt x="147" y="227"/>
                  </a:lnTo>
                  <a:lnTo>
                    <a:pt x="147" y="225"/>
                  </a:lnTo>
                  <a:lnTo>
                    <a:pt x="145" y="227"/>
                  </a:lnTo>
                  <a:lnTo>
                    <a:pt x="143" y="231"/>
                  </a:lnTo>
                  <a:lnTo>
                    <a:pt x="143" y="232"/>
                  </a:lnTo>
                  <a:lnTo>
                    <a:pt x="143" y="232"/>
                  </a:lnTo>
                  <a:lnTo>
                    <a:pt x="141" y="232"/>
                  </a:lnTo>
                  <a:lnTo>
                    <a:pt x="141" y="232"/>
                  </a:lnTo>
                  <a:lnTo>
                    <a:pt x="141" y="232"/>
                  </a:lnTo>
                  <a:lnTo>
                    <a:pt x="139" y="232"/>
                  </a:lnTo>
                  <a:lnTo>
                    <a:pt x="139" y="232"/>
                  </a:lnTo>
                  <a:lnTo>
                    <a:pt x="139" y="234"/>
                  </a:lnTo>
                  <a:lnTo>
                    <a:pt x="139" y="234"/>
                  </a:lnTo>
                  <a:lnTo>
                    <a:pt x="137" y="234"/>
                  </a:lnTo>
                  <a:lnTo>
                    <a:pt x="137" y="236"/>
                  </a:lnTo>
                  <a:lnTo>
                    <a:pt x="137" y="234"/>
                  </a:lnTo>
                  <a:lnTo>
                    <a:pt x="135" y="236"/>
                  </a:lnTo>
                  <a:lnTo>
                    <a:pt x="135" y="236"/>
                  </a:lnTo>
                  <a:lnTo>
                    <a:pt x="135" y="238"/>
                  </a:lnTo>
                  <a:lnTo>
                    <a:pt x="133" y="236"/>
                  </a:lnTo>
                  <a:lnTo>
                    <a:pt x="131" y="236"/>
                  </a:lnTo>
                  <a:lnTo>
                    <a:pt x="129" y="236"/>
                  </a:lnTo>
                  <a:lnTo>
                    <a:pt x="129" y="234"/>
                  </a:lnTo>
                  <a:lnTo>
                    <a:pt x="129" y="232"/>
                  </a:lnTo>
                  <a:lnTo>
                    <a:pt x="129" y="229"/>
                  </a:lnTo>
                  <a:lnTo>
                    <a:pt x="128" y="229"/>
                  </a:lnTo>
                  <a:lnTo>
                    <a:pt x="128" y="229"/>
                  </a:lnTo>
                  <a:lnTo>
                    <a:pt x="126" y="229"/>
                  </a:lnTo>
                  <a:lnTo>
                    <a:pt x="126" y="229"/>
                  </a:lnTo>
                  <a:lnTo>
                    <a:pt x="126" y="231"/>
                  </a:lnTo>
                  <a:lnTo>
                    <a:pt x="126" y="232"/>
                  </a:lnTo>
                  <a:lnTo>
                    <a:pt x="126" y="232"/>
                  </a:lnTo>
                  <a:lnTo>
                    <a:pt x="128" y="234"/>
                  </a:lnTo>
                  <a:lnTo>
                    <a:pt x="126" y="236"/>
                  </a:lnTo>
                  <a:lnTo>
                    <a:pt x="126" y="236"/>
                  </a:lnTo>
                  <a:lnTo>
                    <a:pt x="126" y="236"/>
                  </a:lnTo>
                  <a:lnTo>
                    <a:pt x="124" y="236"/>
                  </a:lnTo>
                  <a:lnTo>
                    <a:pt x="124" y="236"/>
                  </a:lnTo>
                  <a:lnTo>
                    <a:pt x="124" y="238"/>
                  </a:lnTo>
                  <a:lnTo>
                    <a:pt x="122" y="238"/>
                  </a:lnTo>
                  <a:lnTo>
                    <a:pt x="122" y="240"/>
                  </a:lnTo>
                  <a:lnTo>
                    <a:pt x="118" y="240"/>
                  </a:lnTo>
                  <a:lnTo>
                    <a:pt x="112" y="240"/>
                  </a:lnTo>
                  <a:lnTo>
                    <a:pt x="110" y="240"/>
                  </a:lnTo>
                  <a:lnTo>
                    <a:pt x="109" y="242"/>
                  </a:lnTo>
                  <a:lnTo>
                    <a:pt x="105" y="244"/>
                  </a:lnTo>
                  <a:lnTo>
                    <a:pt x="97" y="246"/>
                  </a:lnTo>
                  <a:lnTo>
                    <a:pt x="97" y="246"/>
                  </a:lnTo>
                  <a:lnTo>
                    <a:pt x="95" y="244"/>
                  </a:lnTo>
                  <a:lnTo>
                    <a:pt x="95" y="242"/>
                  </a:lnTo>
                  <a:lnTo>
                    <a:pt x="93" y="240"/>
                  </a:lnTo>
                  <a:lnTo>
                    <a:pt x="95" y="238"/>
                  </a:lnTo>
                  <a:lnTo>
                    <a:pt x="95" y="236"/>
                  </a:lnTo>
                  <a:lnTo>
                    <a:pt x="97" y="234"/>
                  </a:lnTo>
                  <a:lnTo>
                    <a:pt x="97" y="232"/>
                  </a:lnTo>
                  <a:lnTo>
                    <a:pt x="95" y="231"/>
                  </a:lnTo>
                  <a:lnTo>
                    <a:pt x="95" y="231"/>
                  </a:lnTo>
                  <a:lnTo>
                    <a:pt x="93" y="231"/>
                  </a:lnTo>
                  <a:lnTo>
                    <a:pt x="93" y="232"/>
                  </a:lnTo>
                  <a:lnTo>
                    <a:pt x="91" y="232"/>
                  </a:lnTo>
                  <a:lnTo>
                    <a:pt x="91" y="232"/>
                  </a:lnTo>
                  <a:lnTo>
                    <a:pt x="91" y="232"/>
                  </a:lnTo>
                  <a:lnTo>
                    <a:pt x="89" y="232"/>
                  </a:lnTo>
                  <a:lnTo>
                    <a:pt x="89" y="232"/>
                  </a:lnTo>
                  <a:lnTo>
                    <a:pt x="88" y="234"/>
                  </a:lnTo>
                  <a:lnTo>
                    <a:pt x="86" y="234"/>
                  </a:lnTo>
                  <a:lnTo>
                    <a:pt x="86" y="232"/>
                  </a:lnTo>
                  <a:lnTo>
                    <a:pt x="84" y="232"/>
                  </a:lnTo>
                  <a:lnTo>
                    <a:pt x="82" y="231"/>
                  </a:lnTo>
                  <a:lnTo>
                    <a:pt x="84" y="229"/>
                  </a:lnTo>
                  <a:lnTo>
                    <a:pt x="86" y="229"/>
                  </a:lnTo>
                  <a:lnTo>
                    <a:pt x="86" y="227"/>
                  </a:lnTo>
                  <a:lnTo>
                    <a:pt x="86" y="227"/>
                  </a:lnTo>
                  <a:lnTo>
                    <a:pt x="86" y="225"/>
                  </a:lnTo>
                  <a:lnTo>
                    <a:pt x="86" y="225"/>
                  </a:lnTo>
                  <a:lnTo>
                    <a:pt x="82" y="227"/>
                  </a:lnTo>
                  <a:lnTo>
                    <a:pt x="80" y="229"/>
                  </a:lnTo>
                  <a:lnTo>
                    <a:pt x="78" y="231"/>
                  </a:lnTo>
                  <a:lnTo>
                    <a:pt x="76" y="231"/>
                  </a:lnTo>
                  <a:lnTo>
                    <a:pt x="76" y="232"/>
                  </a:lnTo>
                  <a:lnTo>
                    <a:pt x="76" y="234"/>
                  </a:lnTo>
                  <a:lnTo>
                    <a:pt x="74" y="236"/>
                  </a:lnTo>
                  <a:lnTo>
                    <a:pt x="74" y="238"/>
                  </a:lnTo>
                  <a:lnTo>
                    <a:pt x="74" y="240"/>
                  </a:lnTo>
                  <a:lnTo>
                    <a:pt x="72" y="242"/>
                  </a:lnTo>
                  <a:lnTo>
                    <a:pt x="72" y="244"/>
                  </a:lnTo>
                  <a:lnTo>
                    <a:pt x="74" y="246"/>
                  </a:lnTo>
                  <a:lnTo>
                    <a:pt x="76" y="250"/>
                  </a:lnTo>
                  <a:lnTo>
                    <a:pt x="78" y="253"/>
                  </a:lnTo>
                  <a:lnTo>
                    <a:pt x="80" y="255"/>
                  </a:lnTo>
                  <a:lnTo>
                    <a:pt x="82" y="257"/>
                  </a:lnTo>
                  <a:lnTo>
                    <a:pt x="88" y="263"/>
                  </a:lnTo>
                  <a:lnTo>
                    <a:pt x="88" y="265"/>
                  </a:lnTo>
                  <a:lnTo>
                    <a:pt x="89" y="267"/>
                  </a:lnTo>
                  <a:lnTo>
                    <a:pt x="91" y="269"/>
                  </a:lnTo>
                  <a:lnTo>
                    <a:pt x="97" y="274"/>
                  </a:lnTo>
                  <a:lnTo>
                    <a:pt x="97" y="276"/>
                  </a:lnTo>
                  <a:lnTo>
                    <a:pt x="101" y="278"/>
                  </a:lnTo>
                  <a:lnTo>
                    <a:pt x="109" y="288"/>
                  </a:lnTo>
                  <a:lnTo>
                    <a:pt x="110" y="288"/>
                  </a:lnTo>
                  <a:lnTo>
                    <a:pt x="112" y="288"/>
                  </a:lnTo>
                  <a:lnTo>
                    <a:pt x="114" y="286"/>
                  </a:lnTo>
                  <a:lnTo>
                    <a:pt x="114" y="288"/>
                  </a:lnTo>
                  <a:lnTo>
                    <a:pt x="114" y="290"/>
                  </a:lnTo>
                  <a:lnTo>
                    <a:pt x="114" y="291"/>
                  </a:lnTo>
                  <a:lnTo>
                    <a:pt x="118" y="295"/>
                  </a:lnTo>
                  <a:lnTo>
                    <a:pt x="120" y="297"/>
                  </a:lnTo>
                  <a:lnTo>
                    <a:pt x="122" y="297"/>
                  </a:lnTo>
                  <a:lnTo>
                    <a:pt x="124" y="301"/>
                  </a:lnTo>
                  <a:lnTo>
                    <a:pt x="126" y="303"/>
                  </a:lnTo>
                  <a:lnTo>
                    <a:pt x="129" y="307"/>
                  </a:lnTo>
                  <a:lnTo>
                    <a:pt x="131" y="309"/>
                  </a:lnTo>
                  <a:lnTo>
                    <a:pt x="137" y="310"/>
                  </a:lnTo>
                  <a:lnTo>
                    <a:pt x="149" y="324"/>
                  </a:lnTo>
                  <a:lnTo>
                    <a:pt x="150" y="326"/>
                  </a:lnTo>
                  <a:lnTo>
                    <a:pt x="150" y="326"/>
                  </a:lnTo>
                  <a:lnTo>
                    <a:pt x="152" y="326"/>
                  </a:lnTo>
                  <a:lnTo>
                    <a:pt x="154" y="329"/>
                  </a:lnTo>
                  <a:lnTo>
                    <a:pt x="156" y="333"/>
                  </a:lnTo>
                  <a:lnTo>
                    <a:pt x="162" y="341"/>
                  </a:lnTo>
                  <a:lnTo>
                    <a:pt x="168" y="345"/>
                  </a:lnTo>
                  <a:lnTo>
                    <a:pt x="168" y="347"/>
                  </a:lnTo>
                  <a:lnTo>
                    <a:pt x="168" y="347"/>
                  </a:lnTo>
                  <a:lnTo>
                    <a:pt x="175" y="358"/>
                  </a:lnTo>
                  <a:lnTo>
                    <a:pt x="185" y="364"/>
                  </a:lnTo>
                  <a:lnTo>
                    <a:pt x="194" y="373"/>
                  </a:lnTo>
                  <a:lnTo>
                    <a:pt x="198" y="377"/>
                  </a:lnTo>
                  <a:lnTo>
                    <a:pt x="202" y="379"/>
                  </a:lnTo>
                  <a:lnTo>
                    <a:pt x="208" y="381"/>
                  </a:lnTo>
                  <a:lnTo>
                    <a:pt x="210" y="383"/>
                  </a:lnTo>
                  <a:lnTo>
                    <a:pt x="211" y="387"/>
                  </a:lnTo>
                  <a:lnTo>
                    <a:pt x="213" y="387"/>
                  </a:lnTo>
                  <a:lnTo>
                    <a:pt x="215" y="388"/>
                  </a:lnTo>
                  <a:lnTo>
                    <a:pt x="221" y="390"/>
                  </a:lnTo>
                  <a:lnTo>
                    <a:pt x="234" y="398"/>
                  </a:lnTo>
                  <a:lnTo>
                    <a:pt x="238" y="400"/>
                  </a:lnTo>
                  <a:lnTo>
                    <a:pt x="238" y="400"/>
                  </a:lnTo>
                  <a:lnTo>
                    <a:pt x="240" y="400"/>
                  </a:lnTo>
                  <a:lnTo>
                    <a:pt x="242" y="400"/>
                  </a:lnTo>
                  <a:lnTo>
                    <a:pt x="242" y="400"/>
                  </a:lnTo>
                  <a:lnTo>
                    <a:pt x="244" y="400"/>
                  </a:lnTo>
                  <a:lnTo>
                    <a:pt x="244" y="402"/>
                  </a:lnTo>
                  <a:lnTo>
                    <a:pt x="246" y="402"/>
                  </a:lnTo>
                  <a:lnTo>
                    <a:pt x="248" y="402"/>
                  </a:lnTo>
                  <a:lnTo>
                    <a:pt x="261" y="402"/>
                  </a:lnTo>
                  <a:lnTo>
                    <a:pt x="261" y="400"/>
                  </a:lnTo>
                  <a:lnTo>
                    <a:pt x="261" y="400"/>
                  </a:lnTo>
                  <a:lnTo>
                    <a:pt x="261" y="398"/>
                  </a:lnTo>
                  <a:lnTo>
                    <a:pt x="261" y="398"/>
                  </a:lnTo>
                  <a:lnTo>
                    <a:pt x="263" y="398"/>
                  </a:lnTo>
                  <a:lnTo>
                    <a:pt x="263" y="398"/>
                  </a:lnTo>
                  <a:lnTo>
                    <a:pt x="263" y="398"/>
                  </a:lnTo>
                  <a:lnTo>
                    <a:pt x="263" y="398"/>
                  </a:lnTo>
                  <a:lnTo>
                    <a:pt x="265" y="398"/>
                  </a:lnTo>
                  <a:lnTo>
                    <a:pt x="267" y="398"/>
                  </a:lnTo>
                  <a:lnTo>
                    <a:pt x="269" y="398"/>
                  </a:lnTo>
                  <a:lnTo>
                    <a:pt x="270" y="398"/>
                  </a:lnTo>
                  <a:lnTo>
                    <a:pt x="270" y="396"/>
                  </a:lnTo>
                  <a:lnTo>
                    <a:pt x="272" y="396"/>
                  </a:lnTo>
                  <a:lnTo>
                    <a:pt x="272" y="396"/>
                  </a:lnTo>
                  <a:lnTo>
                    <a:pt x="274" y="396"/>
                  </a:lnTo>
                  <a:lnTo>
                    <a:pt x="276" y="396"/>
                  </a:lnTo>
                  <a:lnTo>
                    <a:pt x="291" y="387"/>
                  </a:lnTo>
                  <a:lnTo>
                    <a:pt x="297" y="387"/>
                  </a:lnTo>
                  <a:lnTo>
                    <a:pt x="305" y="383"/>
                  </a:lnTo>
                  <a:lnTo>
                    <a:pt x="307" y="383"/>
                  </a:lnTo>
                  <a:lnTo>
                    <a:pt x="309" y="381"/>
                  </a:lnTo>
                  <a:lnTo>
                    <a:pt x="309" y="379"/>
                  </a:lnTo>
                  <a:lnTo>
                    <a:pt x="312" y="375"/>
                  </a:lnTo>
                  <a:lnTo>
                    <a:pt x="314" y="375"/>
                  </a:lnTo>
                  <a:lnTo>
                    <a:pt x="316" y="375"/>
                  </a:lnTo>
                  <a:lnTo>
                    <a:pt x="314" y="375"/>
                  </a:lnTo>
                  <a:lnTo>
                    <a:pt x="314" y="375"/>
                  </a:lnTo>
                  <a:lnTo>
                    <a:pt x="314" y="377"/>
                  </a:lnTo>
                  <a:lnTo>
                    <a:pt x="316" y="377"/>
                  </a:lnTo>
                  <a:lnTo>
                    <a:pt x="322" y="373"/>
                  </a:lnTo>
                  <a:lnTo>
                    <a:pt x="326" y="371"/>
                  </a:lnTo>
                  <a:lnTo>
                    <a:pt x="330" y="369"/>
                  </a:lnTo>
                  <a:lnTo>
                    <a:pt x="330" y="369"/>
                  </a:lnTo>
                  <a:lnTo>
                    <a:pt x="331" y="369"/>
                  </a:lnTo>
                  <a:lnTo>
                    <a:pt x="333" y="369"/>
                  </a:lnTo>
                  <a:lnTo>
                    <a:pt x="335" y="367"/>
                  </a:lnTo>
                  <a:lnTo>
                    <a:pt x="337" y="366"/>
                  </a:lnTo>
                  <a:lnTo>
                    <a:pt x="349" y="360"/>
                  </a:lnTo>
                  <a:lnTo>
                    <a:pt x="352" y="360"/>
                  </a:lnTo>
                  <a:lnTo>
                    <a:pt x="354" y="358"/>
                  </a:lnTo>
                  <a:lnTo>
                    <a:pt x="360" y="356"/>
                  </a:lnTo>
                  <a:lnTo>
                    <a:pt x="362" y="354"/>
                  </a:lnTo>
                  <a:lnTo>
                    <a:pt x="362" y="354"/>
                  </a:lnTo>
                  <a:lnTo>
                    <a:pt x="362" y="354"/>
                  </a:lnTo>
                  <a:lnTo>
                    <a:pt x="364" y="354"/>
                  </a:lnTo>
                  <a:lnTo>
                    <a:pt x="364" y="354"/>
                  </a:lnTo>
                  <a:lnTo>
                    <a:pt x="366" y="352"/>
                  </a:lnTo>
                  <a:lnTo>
                    <a:pt x="366" y="350"/>
                  </a:lnTo>
                  <a:lnTo>
                    <a:pt x="364" y="348"/>
                  </a:lnTo>
                  <a:lnTo>
                    <a:pt x="364" y="347"/>
                  </a:lnTo>
                  <a:lnTo>
                    <a:pt x="364" y="347"/>
                  </a:lnTo>
                  <a:lnTo>
                    <a:pt x="364" y="347"/>
                  </a:lnTo>
                  <a:lnTo>
                    <a:pt x="364" y="345"/>
                  </a:lnTo>
                  <a:lnTo>
                    <a:pt x="364" y="345"/>
                  </a:lnTo>
                  <a:lnTo>
                    <a:pt x="366" y="343"/>
                  </a:lnTo>
                  <a:lnTo>
                    <a:pt x="366" y="343"/>
                  </a:lnTo>
                  <a:lnTo>
                    <a:pt x="366" y="343"/>
                  </a:lnTo>
                  <a:lnTo>
                    <a:pt x="366" y="341"/>
                  </a:lnTo>
                  <a:lnTo>
                    <a:pt x="366" y="341"/>
                  </a:lnTo>
                  <a:lnTo>
                    <a:pt x="370" y="337"/>
                  </a:lnTo>
                  <a:lnTo>
                    <a:pt x="370" y="335"/>
                  </a:lnTo>
                  <a:lnTo>
                    <a:pt x="371" y="333"/>
                  </a:lnTo>
                  <a:lnTo>
                    <a:pt x="375" y="328"/>
                  </a:lnTo>
                  <a:lnTo>
                    <a:pt x="377" y="324"/>
                  </a:lnTo>
                  <a:lnTo>
                    <a:pt x="381" y="312"/>
                  </a:lnTo>
                  <a:lnTo>
                    <a:pt x="381" y="312"/>
                  </a:lnTo>
                  <a:lnTo>
                    <a:pt x="383" y="312"/>
                  </a:lnTo>
                  <a:lnTo>
                    <a:pt x="383" y="310"/>
                  </a:lnTo>
                  <a:lnTo>
                    <a:pt x="383" y="310"/>
                  </a:lnTo>
                  <a:lnTo>
                    <a:pt x="383" y="309"/>
                  </a:lnTo>
                  <a:lnTo>
                    <a:pt x="383" y="309"/>
                  </a:lnTo>
                  <a:lnTo>
                    <a:pt x="383" y="307"/>
                  </a:lnTo>
                  <a:lnTo>
                    <a:pt x="383" y="307"/>
                  </a:lnTo>
                  <a:lnTo>
                    <a:pt x="381" y="307"/>
                  </a:lnTo>
                  <a:lnTo>
                    <a:pt x="381" y="305"/>
                  </a:lnTo>
                  <a:lnTo>
                    <a:pt x="381" y="305"/>
                  </a:lnTo>
                  <a:lnTo>
                    <a:pt x="379" y="303"/>
                  </a:lnTo>
                  <a:lnTo>
                    <a:pt x="379" y="305"/>
                  </a:lnTo>
                  <a:lnTo>
                    <a:pt x="377" y="303"/>
                  </a:lnTo>
                  <a:lnTo>
                    <a:pt x="377" y="303"/>
                  </a:lnTo>
                  <a:lnTo>
                    <a:pt x="375" y="303"/>
                  </a:lnTo>
                  <a:lnTo>
                    <a:pt x="375" y="303"/>
                  </a:lnTo>
                  <a:lnTo>
                    <a:pt x="375" y="301"/>
                  </a:lnTo>
                  <a:lnTo>
                    <a:pt x="373" y="299"/>
                  </a:lnTo>
                  <a:lnTo>
                    <a:pt x="373" y="297"/>
                  </a:lnTo>
                  <a:lnTo>
                    <a:pt x="373" y="297"/>
                  </a:lnTo>
                  <a:lnTo>
                    <a:pt x="371" y="297"/>
                  </a:lnTo>
                  <a:lnTo>
                    <a:pt x="371" y="295"/>
                  </a:lnTo>
                  <a:lnTo>
                    <a:pt x="371" y="293"/>
                  </a:lnTo>
                  <a:lnTo>
                    <a:pt x="371" y="293"/>
                  </a:lnTo>
                  <a:lnTo>
                    <a:pt x="366" y="295"/>
                  </a:lnTo>
                  <a:lnTo>
                    <a:pt x="364" y="295"/>
                  </a:lnTo>
                  <a:lnTo>
                    <a:pt x="364" y="295"/>
                  </a:lnTo>
                  <a:lnTo>
                    <a:pt x="362" y="293"/>
                  </a:lnTo>
                  <a:lnTo>
                    <a:pt x="360" y="295"/>
                  </a:lnTo>
                  <a:lnTo>
                    <a:pt x="358" y="295"/>
                  </a:lnTo>
                  <a:lnTo>
                    <a:pt x="358" y="295"/>
                  </a:lnTo>
                  <a:lnTo>
                    <a:pt x="358" y="293"/>
                  </a:lnTo>
                  <a:lnTo>
                    <a:pt x="358" y="293"/>
                  </a:lnTo>
                  <a:lnTo>
                    <a:pt x="356" y="293"/>
                  </a:lnTo>
                  <a:lnTo>
                    <a:pt x="356" y="293"/>
                  </a:lnTo>
                  <a:lnTo>
                    <a:pt x="356" y="293"/>
                  </a:lnTo>
                  <a:lnTo>
                    <a:pt x="354" y="293"/>
                  </a:lnTo>
                  <a:lnTo>
                    <a:pt x="354" y="291"/>
                  </a:lnTo>
                  <a:lnTo>
                    <a:pt x="354" y="290"/>
                  </a:lnTo>
                  <a:lnTo>
                    <a:pt x="354" y="288"/>
                  </a:lnTo>
                  <a:lnTo>
                    <a:pt x="356" y="288"/>
                  </a:lnTo>
                  <a:lnTo>
                    <a:pt x="362" y="290"/>
                  </a:lnTo>
                  <a:lnTo>
                    <a:pt x="364" y="290"/>
                  </a:lnTo>
                  <a:lnTo>
                    <a:pt x="366" y="290"/>
                  </a:lnTo>
                  <a:lnTo>
                    <a:pt x="364" y="286"/>
                  </a:lnTo>
                  <a:lnTo>
                    <a:pt x="362" y="286"/>
                  </a:lnTo>
                  <a:lnTo>
                    <a:pt x="362" y="286"/>
                  </a:lnTo>
                  <a:lnTo>
                    <a:pt x="360" y="286"/>
                  </a:lnTo>
                  <a:lnTo>
                    <a:pt x="360" y="286"/>
                  </a:lnTo>
                  <a:lnTo>
                    <a:pt x="360" y="286"/>
                  </a:lnTo>
                  <a:lnTo>
                    <a:pt x="360" y="284"/>
                  </a:lnTo>
                  <a:lnTo>
                    <a:pt x="362" y="284"/>
                  </a:lnTo>
                  <a:lnTo>
                    <a:pt x="364" y="286"/>
                  </a:lnTo>
                  <a:lnTo>
                    <a:pt x="366" y="286"/>
                  </a:lnTo>
                  <a:lnTo>
                    <a:pt x="366" y="288"/>
                  </a:lnTo>
                  <a:lnTo>
                    <a:pt x="368" y="288"/>
                  </a:lnTo>
                  <a:lnTo>
                    <a:pt x="370" y="290"/>
                  </a:lnTo>
                  <a:lnTo>
                    <a:pt x="371" y="290"/>
                  </a:lnTo>
                  <a:lnTo>
                    <a:pt x="370" y="288"/>
                  </a:lnTo>
                  <a:lnTo>
                    <a:pt x="370" y="286"/>
                  </a:lnTo>
                  <a:lnTo>
                    <a:pt x="371" y="286"/>
                  </a:lnTo>
                  <a:lnTo>
                    <a:pt x="371" y="284"/>
                  </a:lnTo>
                  <a:lnTo>
                    <a:pt x="370" y="284"/>
                  </a:lnTo>
                  <a:lnTo>
                    <a:pt x="370" y="282"/>
                  </a:lnTo>
                  <a:lnTo>
                    <a:pt x="370" y="282"/>
                  </a:lnTo>
                  <a:lnTo>
                    <a:pt x="370" y="282"/>
                  </a:lnTo>
                  <a:lnTo>
                    <a:pt x="370" y="280"/>
                  </a:lnTo>
                  <a:lnTo>
                    <a:pt x="368" y="280"/>
                  </a:lnTo>
                  <a:lnTo>
                    <a:pt x="366" y="282"/>
                  </a:lnTo>
                  <a:lnTo>
                    <a:pt x="364" y="282"/>
                  </a:lnTo>
                  <a:lnTo>
                    <a:pt x="358" y="280"/>
                  </a:lnTo>
                  <a:lnTo>
                    <a:pt x="358" y="278"/>
                  </a:lnTo>
                  <a:lnTo>
                    <a:pt x="360" y="278"/>
                  </a:lnTo>
                  <a:lnTo>
                    <a:pt x="362" y="278"/>
                  </a:lnTo>
                  <a:lnTo>
                    <a:pt x="364" y="278"/>
                  </a:lnTo>
                  <a:lnTo>
                    <a:pt x="364" y="278"/>
                  </a:lnTo>
                  <a:lnTo>
                    <a:pt x="364" y="278"/>
                  </a:lnTo>
                  <a:lnTo>
                    <a:pt x="366" y="278"/>
                  </a:lnTo>
                  <a:lnTo>
                    <a:pt x="366" y="278"/>
                  </a:lnTo>
                  <a:lnTo>
                    <a:pt x="362" y="276"/>
                  </a:lnTo>
                  <a:lnTo>
                    <a:pt x="362" y="274"/>
                  </a:lnTo>
                  <a:lnTo>
                    <a:pt x="366" y="276"/>
                  </a:lnTo>
                  <a:lnTo>
                    <a:pt x="368" y="276"/>
                  </a:lnTo>
                  <a:lnTo>
                    <a:pt x="368" y="274"/>
                  </a:lnTo>
                  <a:lnTo>
                    <a:pt x="366" y="274"/>
                  </a:lnTo>
                  <a:lnTo>
                    <a:pt x="364" y="272"/>
                  </a:lnTo>
                  <a:lnTo>
                    <a:pt x="366" y="272"/>
                  </a:lnTo>
                  <a:lnTo>
                    <a:pt x="368" y="272"/>
                  </a:lnTo>
                  <a:lnTo>
                    <a:pt x="370" y="274"/>
                  </a:lnTo>
                  <a:lnTo>
                    <a:pt x="370" y="274"/>
                  </a:lnTo>
                  <a:lnTo>
                    <a:pt x="370" y="276"/>
                  </a:lnTo>
                  <a:lnTo>
                    <a:pt x="371" y="276"/>
                  </a:lnTo>
                  <a:lnTo>
                    <a:pt x="371" y="274"/>
                  </a:lnTo>
                  <a:lnTo>
                    <a:pt x="373" y="274"/>
                  </a:lnTo>
                  <a:lnTo>
                    <a:pt x="373" y="274"/>
                  </a:lnTo>
                  <a:lnTo>
                    <a:pt x="373" y="272"/>
                  </a:lnTo>
                  <a:lnTo>
                    <a:pt x="373" y="272"/>
                  </a:lnTo>
                  <a:lnTo>
                    <a:pt x="373" y="274"/>
                  </a:lnTo>
                  <a:lnTo>
                    <a:pt x="375" y="274"/>
                  </a:lnTo>
                  <a:lnTo>
                    <a:pt x="375" y="272"/>
                  </a:lnTo>
                  <a:lnTo>
                    <a:pt x="375" y="272"/>
                  </a:lnTo>
                  <a:lnTo>
                    <a:pt x="377" y="272"/>
                  </a:lnTo>
                  <a:lnTo>
                    <a:pt x="379" y="272"/>
                  </a:lnTo>
                  <a:lnTo>
                    <a:pt x="379" y="272"/>
                  </a:lnTo>
                  <a:lnTo>
                    <a:pt x="381" y="270"/>
                  </a:lnTo>
                  <a:lnTo>
                    <a:pt x="381" y="270"/>
                  </a:lnTo>
                  <a:lnTo>
                    <a:pt x="381" y="269"/>
                  </a:lnTo>
                  <a:lnTo>
                    <a:pt x="383" y="269"/>
                  </a:lnTo>
                  <a:lnTo>
                    <a:pt x="383" y="269"/>
                  </a:lnTo>
                  <a:lnTo>
                    <a:pt x="383" y="267"/>
                  </a:lnTo>
                  <a:lnTo>
                    <a:pt x="383" y="265"/>
                  </a:lnTo>
                  <a:lnTo>
                    <a:pt x="385" y="255"/>
                  </a:lnTo>
                  <a:lnTo>
                    <a:pt x="383" y="250"/>
                  </a:lnTo>
                  <a:lnTo>
                    <a:pt x="379" y="251"/>
                  </a:lnTo>
                  <a:lnTo>
                    <a:pt x="377" y="250"/>
                  </a:lnTo>
                  <a:lnTo>
                    <a:pt x="377" y="250"/>
                  </a:lnTo>
                  <a:lnTo>
                    <a:pt x="377" y="248"/>
                  </a:lnTo>
                  <a:lnTo>
                    <a:pt x="377" y="246"/>
                  </a:lnTo>
                  <a:lnTo>
                    <a:pt x="377" y="246"/>
                  </a:lnTo>
                  <a:lnTo>
                    <a:pt x="377" y="244"/>
                  </a:lnTo>
                  <a:lnTo>
                    <a:pt x="375" y="248"/>
                  </a:lnTo>
                  <a:lnTo>
                    <a:pt x="373" y="248"/>
                  </a:lnTo>
                  <a:lnTo>
                    <a:pt x="371" y="248"/>
                  </a:lnTo>
                  <a:lnTo>
                    <a:pt x="370" y="246"/>
                  </a:lnTo>
                  <a:lnTo>
                    <a:pt x="370" y="246"/>
                  </a:lnTo>
                  <a:lnTo>
                    <a:pt x="373" y="246"/>
                  </a:lnTo>
                  <a:lnTo>
                    <a:pt x="373" y="244"/>
                  </a:lnTo>
                  <a:lnTo>
                    <a:pt x="375" y="244"/>
                  </a:lnTo>
                  <a:lnTo>
                    <a:pt x="375" y="244"/>
                  </a:lnTo>
                  <a:lnTo>
                    <a:pt x="377" y="244"/>
                  </a:lnTo>
                  <a:lnTo>
                    <a:pt x="379" y="244"/>
                  </a:lnTo>
                  <a:lnTo>
                    <a:pt x="379" y="244"/>
                  </a:lnTo>
                  <a:lnTo>
                    <a:pt x="379" y="246"/>
                  </a:lnTo>
                  <a:lnTo>
                    <a:pt x="381" y="248"/>
                  </a:lnTo>
                  <a:lnTo>
                    <a:pt x="381" y="248"/>
                  </a:lnTo>
                  <a:lnTo>
                    <a:pt x="383" y="248"/>
                  </a:lnTo>
                  <a:lnTo>
                    <a:pt x="385" y="248"/>
                  </a:lnTo>
                  <a:lnTo>
                    <a:pt x="387" y="244"/>
                  </a:lnTo>
                  <a:lnTo>
                    <a:pt x="387" y="244"/>
                  </a:lnTo>
                  <a:lnTo>
                    <a:pt x="387" y="240"/>
                  </a:lnTo>
                  <a:lnTo>
                    <a:pt x="389" y="238"/>
                  </a:lnTo>
                  <a:lnTo>
                    <a:pt x="389" y="238"/>
                  </a:lnTo>
                  <a:lnTo>
                    <a:pt x="392" y="236"/>
                  </a:lnTo>
                  <a:lnTo>
                    <a:pt x="392" y="238"/>
                  </a:lnTo>
                  <a:lnTo>
                    <a:pt x="392" y="240"/>
                  </a:lnTo>
                  <a:lnTo>
                    <a:pt x="391" y="242"/>
                  </a:lnTo>
                  <a:lnTo>
                    <a:pt x="391" y="242"/>
                  </a:lnTo>
                  <a:lnTo>
                    <a:pt x="391" y="244"/>
                  </a:lnTo>
                  <a:lnTo>
                    <a:pt x="391" y="246"/>
                  </a:lnTo>
                  <a:lnTo>
                    <a:pt x="391" y="248"/>
                  </a:lnTo>
                  <a:lnTo>
                    <a:pt x="394" y="248"/>
                  </a:lnTo>
                  <a:lnTo>
                    <a:pt x="394" y="248"/>
                  </a:lnTo>
                  <a:lnTo>
                    <a:pt x="396" y="246"/>
                  </a:lnTo>
                  <a:lnTo>
                    <a:pt x="398" y="248"/>
                  </a:lnTo>
                  <a:lnTo>
                    <a:pt x="398" y="248"/>
                  </a:lnTo>
                  <a:lnTo>
                    <a:pt x="398" y="250"/>
                  </a:lnTo>
                  <a:lnTo>
                    <a:pt x="398" y="250"/>
                  </a:lnTo>
                  <a:lnTo>
                    <a:pt x="398" y="250"/>
                  </a:lnTo>
                  <a:lnTo>
                    <a:pt x="400" y="250"/>
                  </a:lnTo>
                  <a:lnTo>
                    <a:pt x="402" y="250"/>
                  </a:lnTo>
                  <a:lnTo>
                    <a:pt x="404" y="248"/>
                  </a:lnTo>
                  <a:lnTo>
                    <a:pt x="406" y="246"/>
                  </a:lnTo>
                  <a:lnTo>
                    <a:pt x="408" y="244"/>
                  </a:lnTo>
                  <a:lnTo>
                    <a:pt x="410" y="244"/>
                  </a:lnTo>
                  <a:lnTo>
                    <a:pt x="412" y="246"/>
                  </a:lnTo>
                  <a:lnTo>
                    <a:pt x="413" y="246"/>
                  </a:lnTo>
                  <a:lnTo>
                    <a:pt x="413" y="246"/>
                  </a:lnTo>
                  <a:lnTo>
                    <a:pt x="415" y="246"/>
                  </a:lnTo>
                  <a:lnTo>
                    <a:pt x="415" y="246"/>
                  </a:lnTo>
                  <a:lnTo>
                    <a:pt x="423" y="248"/>
                  </a:lnTo>
                  <a:lnTo>
                    <a:pt x="425" y="250"/>
                  </a:lnTo>
                  <a:lnTo>
                    <a:pt x="429" y="248"/>
                  </a:lnTo>
                  <a:lnTo>
                    <a:pt x="429" y="246"/>
                  </a:lnTo>
                  <a:lnTo>
                    <a:pt x="431" y="246"/>
                  </a:lnTo>
                  <a:lnTo>
                    <a:pt x="432" y="246"/>
                  </a:lnTo>
                  <a:lnTo>
                    <a:pt x="434" y="246"/>
                  </a:lnTo>
                  <a:lnTo>
                    <a:pt x="436" y="248"/>
                  </a:lnTo>
                  <a:lnTo>
                    <a:pt x="436" y="248"/>
                  </a:lnTo>
                  <a:lnTo>
                    <a:pt x="438" y="246"/>
                  </a:lnTo>
                  <a:lnTo>
                    <a:pt x="438" y="246"/>
                  </a:lnTo>
                  <a:lnTo>
                    <a:pt x="440" y="246"/>
                  </a:lnTo>
                  <a:lnTo>
                    <a:pt x="440" y="248"/>
                  </a:lnTo>
                  <a:lnTo>
                    <a:pt x="440" y="250"/>
                  </a:lnTo>
                  <a:lnTo>
                    <a:pt x="440" y="251"/>
                  </a:lnTo>
                  <a:lnTo>
                    <a:pt x="438" y="251"/>
                  </a:lnTo>
                  <a:lnTo>
                    <a:pt x="436" y="251"/>
                  </a:lnTo>
                  <a:lnTo>
                    <a:pt x="434" y="250"/>
                  </a:lnTo>
                  <a:lnTo>
                    <a:pt x="434" y="250"/>
                  </a:lnTo>
                  <a:lnTo>
                    <a:pt x="431" y="250"/>
                  </a:lnTo>
                  <a:lnTo>
                    <a:pt x="429" y="251"/>
                  </a:lnTo>
                  <a:lnTo>
                    <a:pt x="425" y="257"/>
                  </a:lnTo>
                  <a:lnTo>
                    <a:pt x="423" y="255"/>
                  </a:lnTo>
                  <a:lnTo>
                    <a:pt x="421" y="255"/>
                  </a:lnTo>
                  <a:lnTo>
                    <a:pt x="421" y="255"/>
                  </a:lnTo>
                  <a:lnTo>
                    <a:pt x="419" y="255"/>
                  </a:lnTo>
                  <a:lnTo>
                    <a:pt x="419" y="255"/>
                  </a:lnTo>
                  <a:lnTo>
                    <a:pt x="419" y="255"/>
                  </a:lnTo>
                  <a:lnTo>
                    <a:pt x="417" y="253"/>
                  </a:lnTo>
                  <a:lnTo>
                    <a:pt x="415" y="253"/>
                  </a:lnTo>
                  <a:lnTo>
                    <a:pt x="413" y="251"/>
                  </a:lnTo>
                  <a:lnTo>
                    <a:pt x="412" y="251"/>
                  </a:lnTo>
                  <a:lnTo>
                    <a:pt x="410" y="253"/>
                  </a:lnTo>
                  <a:lnTo>
                    <a:pt x="408" y="253"/>
                  </a:lnTo>
                  <a:lnTo>
                    <a:pt x="406" y="255"/>
                  </a:lnTo>
                  <a:lnTo>
                    <a:pt x="406" y="257"/>
                  </a:lnTo>
                  <a:lnTo>
                    <a:pt x="404" y="259"/>
                  </a:lnTo>
                  <a:lnTo>
                    <a:pt x="404" y="261"/>
                  </a:lnTo>
                  <a:lnTo>
                    <a:pt x="404" y="263"/>
                  </a:lnTo>
                  <a:lnTo>
                    <a:pt x="404" y="265"/>
                  </a:lnTo>
                  <a:lnTo>
                    <a:pt x="404" y="265"/>
                  </a:lnTo>
                  <a:lnTo>
                    <a:pt x="404" y="267"/>
                  </a:lnTo>
                  <a:lnTo>
                    <a:pt x="404" y="269"/>
                  </a:lnTo>
                  <a:lnTo>
                    <a:pt x="404" y="270"/>
                  </a:lnTo>
                  <a:lnTo>
                    <a:pt x="402" y="274"/>
                  </a:lnTo>
                  <a:lnTo>
                    <a:pt x="402" y="276"/>
                  </a:lnTo>
                  <a:lnTo>
                    <a:pt x="402" y="276"/>
                  </a:lnTo>
                  <a:lnTo>
                    <a:pt x="404" y="282"/>
                  </a:lnTo>
                  <a:lnTo>
                    <a:pt x="406" y="282"/>
                  </a:lnTo>
                  <a:lnTo>
                    <a:pt x="408" y="282"/>
                  </a:lnTo>
                  <a:lnTo>
                    <a:pt x="410" y="280"/>
                  </a:lnTo>
                  <a:lnTo>
                    <a:pt x="412" y="278"/>
                  </a:lnTo>
                  <a:lnTo>
                    <a:pt x="412" y="278"/>
                  </a:lnTo>
                  <a:lnTo>
                    <a:pt x="413" y="276"/>
                  </a:lnTo>
                  <a:lnTo>
                    <a:pt x="419" y="276"/>
                  </a:lnTo>
                  <a:lnTo>
                    <a:pt x="419" y="276"/>
                  </a:lnTo>
                  <a:lnTo>
                    <a:pt x="419" y="274"/>
                  </a:lnTo>
                  <a:lnTo>
                    <a:pt x="419" y="274"/>
                  </a:lnTo>
                  <a:lnTo>
                    <a:pt x="421" y="274"/>
                  </a:lnTo>
                  <a:lnTo>
                    <a:pt x="421" y="274"/>
                  </a:lnTo>
                  <a:lnTo>
                    <a:pt x="421" y="274"/>
                  </a:lnTo>
                  <a:lnTo>
                    <a:pt x="423" y="274"/>
                  </a:lnTo>
                  <a:lnTo>
                    <a:pt x="423" y="274"/>
                  </a:lnTo>
                  <a:lnTo>
                    <a:pt x="423" y="274"/>
                  </a:lnTo>
                  <a:lnTo>
                    <a:pt x="421" y="274"/>
                  </a:lnTo>
                  <a:lnTo>
                    <a:pt x="421" y="276"/>
                  </a:lnTo>
                  <a:lnTo>
                    <a:pt x="421" y="278"/>
                  </a:lnTo>
                  <a:lnTo>
                    <a:pt x="419" y="280"/>
                  </a:lnTo>
                  <a:lnTo>
                    <a:pt x="415" y="278"/>
                  </a:lnTo>
                  <a:lnTo>
                    <a:pt x="413" y="280"/>
                  </a:lnTo>
                  <a:lnTo>
                    <a:pt x="412" y="280"/>
                  </a:lnTo>
                  <a:lnTo>
                    <a:pt x="410" y="286"/>
                  </a:lnTo>
                  <a:lnTo>
                    <a:pt x="410" y="288"/>
                  </a:lnTo>
                  <a:lnTo>
                    <a:pt x="408" y="288"/>
                  </a:lnTo>
                  <a:lnTo>
                    <a:pt x="408" y="290"/>
                  </a:lnTo>
                  <a:lnTo>
                    <a:pt x="406" y="295"/>
                  </a:lnTo>
                  <a:lnTo>
                    <a:pt x="406" y="297"/>
                  </a:lnTo>
                  <a:lnTo>
                    <a:pt x="404" y="301"/>
                  </a:lnTo>
                  <a:lnTo>
                    <a:pt x="404" y="303"/>
                  </a:lnTo>
                  <a:lnTo>
                    <a:pt x="404" y="305"/>
                  </a:lnTo>
                  <a:lnTo>
                    <a:pt x="406" y="307"/>
                  </a:lnTo>
                  <a:lnTo>
                    <a:pt x="408" y="307"/>
                  </a:lnTo>
                  <a:lnTo>
                    <a:pt x="412" y="305"/>
                  </a:lnTo>
                  <a:lnTo>
                    <a:pt x="413" y="305"/>
                  </a:lnTo>
                  <a:lnTo>
                    <a:pt x="415" y="305"/>
                  </a:lnTo>
                  <a:lnTo>
                    <a:pt x="417" y="305"/>
                  </a:lnTo>
                  <a:lnTo>
                    <a:pt x="423" y="305"/>
                  </a:lnTo>
                  <a:lnTo>
                    <a:pt x="425" y="305"/>
                  </a:lnTo>
                  <a:lnTo>
                    <a:pt x="429" y="305"/>
                  </a:lnTo>
                  <a:lnTo>
                    <a:pt x="431" y="305"/>
                  </a:lnTo>
                  <a:lnTo>
                    <a:pt x="432" y="305"/>
                  </a:lnTo>
                  <a:lnTo>
                    <a:pt x="434" y="303"/>
                  </a:lnTo>
                  <a:lnTo>
                    <a:pt x="436" y="303"/>
                  </a:lnTo>
                  <a:lnTo>
                    <a:pt x="440" y="305"/>
                  </a:lnTo>
                  <a:lnTo>
                    <a:pt x="444" y="305"/>
                  </a:lnTo>
                  <a:lnTo>
                    <a:pt x="448" y="303"/>
                  </a:lnTo>
                  <a:lnTo>
                    <a:pt x="450" y="301"/>
                  </a:lnTo>
                  <a:lnTo>
                    <a:pt x="450" y="301"/>
                  </a:lnTo>
                  <a:lnTo>
                    <a:pt x="452" y="299"/>
                  </a:lnTo>
                  <a:lnTo>
                    <a:pt x="452" y="299"/>
                  </a:lnTo>
                  <a:lnTo>
                    <a:pt x="455" y="299"/>
                  </a:lnTo>
                  <a:lnTo>
                    <a:pt x="459" y="297"/>
                  </a:lnTo>
                  <a:lnTo>
                    <a:pt x="459" y="297"/>
                  </a:lnTo>
                  <a:lnTo>
                    <a:pt x="459" y="297"/>
                  </a:lnTo>
                  <a:lnTo>
                    <a:pt x="459" y="299"/>
                  </a:lnTo>
                  <a:lnTo>
                    <a:pt x="459" y="299"/>
                  </a:lnTo>
                  <a:lnTo>
                    <a:pt x="457" y="299"/>
                  </a:lnTo>
                  <a:lnTo>
                    <a:pt x="455" y="299"/>
                  </a:lnTo>
                  <a:lnTo>
                    <a:pt x="450" y="303"/>
                  </a:lnTo>
                  <a:lnTo>
                    <a:pt x="444" y="305"/>
                  </a:lnTo>
                  <a:lnTo>
                    <a:pt x="442" y="307"/>
                  </a:lnTo>
                  <a:lnTo>
                    <a:pt x="438" y="309"/>
                  </a:lnTo>
                  <a:lnTo>
                    <a:pt x="436" y="309"/>
                  </a:lnTo>
                  <a:lnTo>
                    <a:pt x="434" y="309"/>
                  </a:lnTo>
                  <a:lnTo>
                    <a:pt x="432" y="309"/>
                  </a:lnTo>
                  <a:lnTo>
                    <a:pt x="431" y="309"/>
                  </a:lnTo>
                  <a:lnTo>
                    <a:pt x="431" y="309"/>
                  </a:lnTo>
                  <a:lnTo>
                    <a:pt x="429" y="312"/>
                  </a:lnTo>
                  <a:lnTo>
                    <a:pt x="427" y="314"/>
                  </a:lnTo>
                  <a:lnTo>
                    <a:pt x="425" y="316"/>
                  </a:lnTo>
                  <a:lnTo>
                    <a:pt x="423" y="318"/>
                  </a:lnTo>
                  <a:lnTo>
                    <a:pt x="421" y="318"/>
                  </a:lnTo>
                  <a:lnTo>
                    <a:pt x="419" y="318"/>
                  </a:lnTo>
                  <a:lnTo>
                    <a:pt x="415" y="322"/>
                  </a:lnTo>
                  <a:lnTo>
                    <a:pt x="413" y="322"/>
                  </a:lnTo>
                  <a:lnTo>
                    <a:pt x="413" y="324"/>
                  </a:lnTo>
                  <a:lnTo>
                    <a:pt x="410" y="329"/>
                  </a:lnTo>
                  <a:lnTo>
                    <a:pt x="410" y="331"/>
                  </a:lnTo>
                  <a:lnTo>
                    <a:pt x="412" y="331"/>
                  </a:lnTo>
                  <a:lnTo>
                    <a:pt x="417" y="328"/>
                  </a:lnTo>
                  <a:lnTo>
                    <a:pt x="419" y="326"/>
                  </a:lnTo>
                  <a:lnTo>
                    <a:pt x="423" y="324"/>
                  </a:lnTo>
                  <a:lnTo>
                    <a:pt x="425" y="326"/>
                  </a:lnTo>
                  <a:lnTo>
                    <a:pt x="425" y="326"/>
                  </a:lnTo>
                  <a:lnTo>
                    <a:pt x="425" y="328"/>
                  </a:lnTo>
                  <a:lnTo>
                    <a:pt x="423" y="326"/>
                  </a:lnTo>
                  <a:lnTo>
                    <a:pt x="417" y="329"/>
                  </a:lnTo>
                  <a:lnTo>
                    <a:pt x="417" y="329"/>
                  </a:lnTo>
                  <a:lnTo>
                    <a:pt x="413" y="331"/>
                  </a:lnTo>
                  <a:lnTo>
                    <a:pt x="408" y="333"/>
                  </a:lnTo>
                  <a:lnTo>
                    <a:pt x="408" y="333"/>
                  </a:lnTo>
                  <a:lnTo>
                    <a:pt x="408" y="335"/>
                  </a:lnTo>
                  <a:lnTo>
                    <a:pt x="410" y="335"/>
                  </a:lnTo>
                  <a:lnTo>
                    <a:pt x="410" y="337"/>
                  </a:lnTo>
                  <a:lnTo>
                    <a:pt x="413" y="335"/>
                  </a:lnTo>
                  <a:lnTo>
                    <a:pt x="413" y="335"/>
                  </a:lnTo>
                  <a:lnTo>
                    <a:pt x="415" y="337"/>
                  </a:lnTo>
                  <a:lnTo>
                    <a:pt x="413" y="337"/>
                  </a:lnTo>
                  <a:lnTo>
                    <a:pt x="412" y="337"/>
                  </a:lnTo>
                  <a:lnTo>
                    <a:pt x="410" y="337"/>
                  </a:lnTo>
                  <a:lnTo>
                    <a:pt x="410" y="339"/>
                  </a:lnTo>
                  <a:lnTo>
                    <a:pt x="410" y="339"/>
                  </a:lnTo>
                  <a:lnTo>
                    <a:pt x="410" y="341"/>
                  </a:lnTo>
                  <a:lnTo>
                    <a:pt x="412" y="345"/>
                  </a:lnTo>
                  <a:lnTo>
                    <a:pt x="412" y="347"/>
                  </a:lnTo>
                  <a:lnTo>
                    <a:pt x="412" y="347"/>
                  </a:lnTo>
                  <a:lnTo>
                    <a:pt x="413" y="347"/>
                  </a:lnTo>
                  <a:lnTo>
                    <a:pt x="415" y="345"/>
                  </a:lnTo>
                  <a:lnTo>
                    <a:pt x="415" y="347"/>
                  </a:lnTo>
                  <a:lnTo>
                    <a:pt x="415" y="348"/>
                  </a:lnTo>
                  <a:lnTo>
                    <a:pt x="417" y="348"/>
                  </a:lnTo>
                  <a:lnTo>
                    <a:pt x="417" y="350"/>
                  </a:lnTo>
                  <a:lnTo>
                    <a:pt x="419" y="350"/>
                  </a:lnTo>
                  <a:lnTo>
                    <a:pt x="423" y="352"/>
                  </a:lnTo>
                  <a:lnTo>
                    <a:pt x="423" y="352"/>
                  </a:lnTo>
                  <a:lnTo>
                    <a:pt x="421" y="352"/>
                  </a:lnTo>
                  <a:lnTo>
                    <a:pt x="421" y="352"/>
                  </a:lnTo>
                  <a:lnTo>
                    <a:pt x="419" y="354"/>
                  </a:lnTo>
                  <a:lnTo>
                    <a:pt x="413" y="358"/>
                  </a:lnTo>
                  <a:lnTo>
                    <a:pt x="412" y="360"/>
                  </a:lnTo>
                  <a:lnTo>
                    <a:pt x="412" y="362"/>
                  </a:lnTo>
                  <a:lnTo>
                    <a:pt x="413" y="364"/>
                  </a:lnTo>
                  <a:lnTo>
                    <a:pt x="413" y="364"/>
                  </a:lnTo>
                  <a:lnTo>
                    <a:pt x="415" y="362"/>
                  </a:lnTo>
                  <a:lnTo>
                    <a:pt x="417" y="362"/>
                  </a:lnTo>
                  <a:lnTo>
                    <a:pt x="417" y="362"/>
                  </a:lnTo>
                  <a:lnTo>
                    <a:pt x="417" y="362"/>
                  </a:lnTo>
                  <a:lnTo>
                    <a:pt x="417" y="358"/>
                  </a:lnTo>
                  <a:lnTo>
                    <a:pt x="417" y="358"/>
                  </a:lnTo>
                  <a:lnTo>
                    <a:pt x="417" y="356"/>
                  </a:lnTo>
                  <a:lnTo>
                    <a:pt x="419" y="356"/>
                  </a:lnTo>
                  <a:lnTo>
                    <a:pt x="421" y="356"/>
                  </a:lnTo>
                  <a:lnTo>
                    <a:pt x="421" y="356"/>
                  </a:lnTo>
                  <a:lnTo>
                    <a:pt x="423" y="358"/>
                  </a:lnTo>
                  <a:lnTo>
                    <a:pt x="421" y="360"/>
                  </a:lnTo>
                  <a:lnTo>
                    <a:pt x="421" y="362"/>
                  </a:lnTo>
                  <a:lnTo>
                    <a:pt x="419" y="366"/>
                  </a:lnTo>
                  <a:lnTo>
                    <a:pt x="423" y="364"/>
                  </a:lnTo>
                  <a:lnTo>
                    <a:pt x="423" y="364"/>
                  </a:lnTo>
                  <a:lnTo>
                    <a:pt x="423" y="362"/>
                  </a:lnTo>
                  <a:lnTo>
                    <a:pt x="423" y="360"/>
                  </a:lnTo>
                  <a:lnTo>
                    <a:pt x="423" y="360"/>
                  </a:lnTo>
                  <a:lnTo>
                    <a:pt x="425" y="360"/>
                  </a:lnTo>
                  <a:lnTo>
                    <a:pt x="425" y="362"/>
                  </a:lnTo>
                  <a:lnTo>
                    <a:pt x="425" y="362"/>
                  </a:lnTo>
                  <a:lnTo>
                    <a:pt x="429" y="360"/>
                  </a:lnTo>
                  <a:lnTo>
                    <a:pt x="431" y="360"/>
                  </a:lnTo>
                  <a:lnTo>
                    <a:pt x="431" y="360"/>
                  </a:lnTo>
                  <a:lnTo>
                    <a:pt x="434" y="367"/>
                  </a:lnTo>
                  <a:lnTo>
                    <a:pt x="432" y="367"/>
                  </a:lnTo>
                  <a:lnTo>
                    <a:pt x="431" y="369"/>
                  </a:lnTo>
                  <a:lnTo>
                    <a:pt x="427" y="367"/>
                  </a:lnTo>
                  <a:lnTo>
                    <a:pt x="427" y="367"/>
                  </a:lnTo>
                  <a:lnTo>
                    <a:pt x="427" y="369"/>
                  </a:lnTo>
                  <a:lnTo>
                    <a:pt x="427" y="371"/>
                  </a:lnTo>
                  <a:lnTo>
                    <a:pt x="429" y="371"/>
                  </a:lnTo>
                  <a:lnTo>
                    <a:pt x="429" y="371"/>
                  </a:lnTo>
                  <a:lnTo>
                    <a:pt x="431" y="371"/>
                  </a:lnTo>
                  <a:lnTo>
                    <a:pt x="431" y="371"/>
                  </a:lnTo>
                  <a:lnTo>
                    <a:pt x="431" y="373"/>
                  </a:lnTo>
                  <a:lnTo>
                    <a:pt x="431" y="373"/>
                  </a:lnTo>
                  <a:lnTo>
                    <a:pt x="432" y="375"/>
                  </a:lnTo>
                  <a:lnTo>
                    <a:pt x="434" y="375"/>
                  </a:lnTo>
                  <a:lnTo>
                    <a:pt x="436" y="373"/>
                  </a:lnTo>
                  <a:lnTo>
                    <a:pt x="438" y="373"/>
                  </a:lnTo>
                  <a:lnTo>
                    <a:pt x="436" y="375"/>
                  </a:lnTo>
                  <a:lnTo>
                    <a:pt x="434" y="377"/>
                  </a:lnTo>
                  <a:lnTo>
                    <a:pt x="432" y="379"/>
                  </a:lnTo>
                  <a:lnTo>
                    <a:pt x="434" y="383"/>
                  </a:lnTo>
                  <a:lnTo>
                    <a:pt x="434" y="383"/>
                  </a:lnTo>
                  <a:lnTo>
                    <a:pt x="432" y="387"/>
                  </a:lnTo>
                  <a:lnTo>
                    <a:pt x="432" y="388"/>
                  </a:lnTo>
                  <a:lnTo>
                    <a:pt x="436" y="387"/>
                  </a:lnTo>
                  <a:lnTo>
                    <a:pt x="436" y="385"/>
                  </a:lnTo>
                  <a:lnTo>
                    <a:pt x="438" y="385"/>
                  </a:lnTo>
                  <a:lnTo>
                    <a:pt x="438" y="385"/>
                  </a:lnTo>
                  <a:lnTo>
                    <a:pt x="438" y="387"/>
                  </a:lnTo>
                  <a:lnTo>
                    <a:pt x="436" y="388"/>
                  </a:lnTo>
                  <a:lnTo>
                    <a:pt x="436" y="390"/>
                  </a:lnTo>
                  <a:lnTo>
                    <a:pt x="438" y="392"/>
                  </a:lnTo>
                  <a:lnTo>
                    <a:pt x="440" y="390"/>
                  </a:lnTo>
                  <a:lnTo>
                    <a:pt x="440" y="390"/>
                  </a:lnTo>
                  <a:lnTo>
                    <a:pt x="440" y="392"/>
                  </a:lnTo>
                  <a:lnTo>
                    <a:pt x="440" y="392"/>
                  </a:lnTo>
                  <a:lnTo>
                    <a:pt x="440" y="392"/>
                  </a:lnTo>
                  <a:lnTo>
                    <a:pt x="440" y="394"/>
                  </a:lnTo>
                  <a:lnTo>
                    <a:pt x="442" y="394"/>
                  </a:lnTo>
                  <a:lnTo>
                    <a:pt x="442" y="394"/>
                  </a:lnTo>
                  <a:lnTo>
                    <a:pt x="442" y="396"/>
                  </a:lnTo>
                  <a:lnTo>
                    <a:pt x="442" y="396"/>
                  </a:lnTo>
                  <a:lnTo>
                    <a:pt x="438" y="398"/>
                  </a:lnTo>
                  <a:lnTo>
                    <a:pt x="438" y="400"/>
                  </a:lnTo>
                  <a:lnTo>
                    <a:pt x="440" y="402"/>
                  </a:lnTo>
                  <a:lnTo>
                    <a:pt x="438" y="406"/>
                  </a:lnTo>
                  <a:lnTo>
                    <a:pt x="438" y="407"/>
                  </a:lnTo>
                  <a:lnTo>
                    <a:pt x="438" y="409"/>
                  </a:lnTo>
                  <a:lnTo>
                    <a:pt x="436" y="409"/>
                  </a:lnTo>
                  <a:lnTo>
                    <a:pt x="436" y="411"/>
                  </a:lnTo>
                  <a:lnTo>
                    <a:pt x="438" y="413"/>
                  </a:lnTo>
                  <a:lnTo>
                    <a:pt x="438" y="413"/>
                  </a:lnTo>
                  <a:lnTo>
                    <a:pt x="438" y="417"/>
                  </a:lnTo>
                  <a:lnTo>
                    <a:pt x="436" y="419"/>
                  </a:lnTo>
                  <a:lnTo>
                    <a:pt x="436" y="421"/>
                  </a:lnTo>
                  <a:lnTo>
                    <a:pt x="434" y="425"/>
                  </a:lnTo>
                  <a:lnTo>
                    <a:pt x="434" y="425"/>
                  </a:lnTo>
                  <a:lnTo>
                    <a:pt x="436" y="426"/>
                  </a:lnTo>
                  <a:lnTo>
                    <a:pt x="436" y="430"/>
                  </a:lnTo>
                  <a:lnTo>
                    <a:pt x="436" y="432"/>
                  </a:lnTo>
                  <a:lnTo>
                    <a:pt x="434" y="434"/>
                  </a:lnTo>
                  <a:lnTo>
                    <a:pt x="432" y="434"/>
                  </a:lnTo>
                  <a:lnTo>
                    <a:pt x="431" y="434"/>
                  </a:lnTo>
                  <a:lnTo>
                    <a:pt x="431" y="434"/>
                  </a:lnTo>
                  <a:lnTo>
                    <a:pt x="431" y="434"/>
                  </a:lnTo>
                  <a:lnTo>
                    <a:pt x="431" y="434"/>
                  </a:lnTo>
                  <a:lnTo>
                    <a:pt x="429" y="436"/>
                  </a:lnTo>
                  <a:lnTo>
                    <a:pt x="429" y="436"/>
                  </a:lnTo>
                  <a:lnTo>
                    <a:pt x="427" y="436"/>
                  </a:lnTo>
                  <a:lnTo>
                    <a:pt x="427" y="438"/>
                  </a:lnTo>
                  <a:lnTo>
                    <a:pt x="427" y="440"/>
                  </a:lnTo>
                  <a:lnTo>
                    <a:pt x="425" y="442"/>
                  </a:lnTo>
                  <a:lnTo>
                    <a:pt x="425" y="444"/>
                  </a:lnTo>
                  <a:lnTo>
                    <a:pt x="423" y="445"/>
                  </a:lnTo>
                  <a:lnTo>
                    <a:pt x="423" y="447"/>
                  </a:lnTo>
                  <a:lnTo>
                    <a:pt x="423" y="449"/>
                  </a:lnTo>
                  <a:lnTo>
                    <a:pt x="425" y="449"/>
                  </a:lnTo>
                  <a:lnTo>
                    <a:pt x="425" y="449"/>
                  </a:lnTo>
                  <a:lnTo>
                    <a:pt x="425" y="449"/>
                  </a:lnTo>
                  <a:lnTo>
                    <a:pt x="425" y="449"/>
                  </a:lnTo>
                  <a:lnTo>
                    <a:pt x="425" y="451"/>
                  </a:lnTo>
                  <a:lnTo>
                    <a:pt x="423" y="453"/>
                  </a:lnTo>
                  <a:lnTo>
                    <a:pt x="423" y="453"/>
                  </a:lnTo>
                  <a:lnTo>
                    <a:pt x="423" y="457"/>
                  </a:lnTo>
                  <a:lnTo>
                    <a:pt x="421" y="463"/>
                  </a:lnTo>
                  <a:lnTo>
                    <a:pt x="421" y="463"/>
                  </a:lnTo>
                  <a:lnTo>
                    <a:pt x="421" y="463"/>
                  </a:lnTo>
                  <a:lnTo>
                    <a:pt x="423" y="463"/>
                  </a:lnTo>
                  <a:lnTo>
                    <a:pt x="425" y="463"/>
                  </a:lnTo>
                  <a:lnTo>
                    <a:pt x="425" y="461"/>
                  </a:lnTo>
                  <a:lnTo>
                    <a:pt x="427" y="461"/>
                  </a:lnTo>
                  <a:lnTo>
                    <a:pt x="427" y="461"/>
                  </a:lnTo>
                  <a:lnTo>
                    <a:pt x="427" y="461"/>
                  </a:lnTo>
                  <a:lnTo>
                    <a:pt x="431" y="461"/>
                  </a:lnTo>
                  <a:lnTo>
                    <a:pt x="431" y="461"/>
                  </a:lnTo>
                  <a:lnTo>
                    <a:pt x="431" y="461"/>
                  </a:lnTo>
                  <a:lnTo>
                    <a:pt x="431" y="461"/>
                  </a:lnTo>
                  <a:lnTo>
                    <a:pt x="432" y="461"/>
                  </a:lnTo>
                  <a:lnTo>
                    <a:pt x="434" y="461"/>
                  </a:lnTo>
                  <a:lnTo>
                    <a:pt x="436" y="461"/>
                  </a:lnTo>
                  <a:lnTo>
                    <a:pt x="438" y="461"/>
                  </a:lnTo>
                  <a:lnTo>
                    <a:pt x="442" y="459"/>
                  </a:lnTo>
                  <a:lnTo>
                    <a:pt x="442" y="457"/>
                  </a:lnTo>
                  <a:lnTo>
                    <a:pt x="442" y="453"/>
                  </a:lnTo>
                  <a:lnTo>
                    <a:pt x="442" y="453"/>
                  </a:lnTo>
                  <a:lnTo>
                    <a:pt x="442" y="451"/>
                  </a:lnTo>
                  <a:lnTo>
                    <a:pt x="442" y="451"/>
                  </a:lnTo>
                  <a:lnTo>
                    <a:pt x="440" y="451"/>
                  </a:lnTo>
                  <a:lnTo>
                    <a:pt x="438" y="449"/>
                  </a:lnTo>
                  <a:lnTo>
                    <a:pt x="438" y="449"/>
                  </a:lnTo>
                  <a:lnTo>
                    <a:pt x="438" y="447"/>
                  </a:lnTo>
                  <a:lnTo>
                    <a:pt x="438" y="447"/>
                  </a:lnTo>
                  <a:lnTo>
                    <a:pt x="438" y="447"/>
                  </a:lnTo>
                  <a:lnTo>
                    <a:pt x="438" y="447"/>
                  </a:lnTo>
                  <a:lnTo>
                    <a:pt x="438" y="445"/>
                  </a:lnTo>
                  <a:lnTo>
                    <a:pt x="438" y="445"/>
                  </a:lnTo>
                  <a:lnTo>
                    <a:pt x="438" y="445"/>
                  </a:lnTo>
                  <a:lnTo>
                    <a:pt x="440" y="445"/>
                  </a:lnTo>
                  <a:lnTo>
                    <a:pt x="440" y="445"/>
                  </a:lnTo>
                  <a:lnTo>
                    <a:pt x="442" y="445"/>
                  </a:lnTo>
                  <a:lnTo>
                    <a:pt x="442" y="445"/>
                  </a:lnTo>
                  <a:lnTo>
                    <a:pt x="442" y="445"/>
                  </a:lnTo>
                  <a:lnTo>
                    <a:pt x="444" y="442"/>
                  </a:lnTo>
                  <a:lnTo>
                    <a:pt x="444" y="442"/>
                  </a:lnTo>
                  <a:lnTo>
                    <a:pt x="444" y="442"/>
                  </a:lnTo>
                  <a:lnTo>
                    <a:pt x="446" y="442"/>
                  </a:lnTo>
                  <a:lnTo>
                    <a:pt x="446" y="442"/>
                  </a:lnTo>
                  <a:lnTo>
                    <a:pt x="448" y="442"/>
                  </a:lnTo>
                  <a:lnTo>
                    <a:pt x="448" y="442"/>
                  </a:lnTo>
                  <a:lnTo>
                    <a:pt x="450" y="440"/>
                  </a:lnTo>
                  <a:lnTo>
                    <a:pt x="452" y="438"/>
                  </a:lnTo>
                  <a:lnTo>
                    <a:pt x="453" y="438"/>
                  </a:lnTo>
                  <a:lnTo>
                    <a:pt x="453" y="438"/>
                  </a:lnTo>
                  <a:lnTo>
                    <a:pt x="453" y="438"/>
                  </a:lnTo>
                  <a:lnTo>
                    <a:pt x="455" y="438"/>
                  </a:lnTo>
                  <a:lnTo>
                    <a:pt x="455" y="440"/>
                  </a:lnTo>
                  <a:lnTo>
                    <a:pt x="453" y="440"/>
                  </a:lnTo>
                  <a:lnTo>
                    <a:pt x="453" y="442"/>
                  </a:lnTo>
                  <a:lnTo>
                    <a:pt x="455" y="442"/>
                  </a:lnTo>
                  <a:lnTo>
                    <a:pt x="455" y="442"/>
                  </a:lnTo>
                  <a:lnTo>
                    <a:pt x="455" y="442"/>
                  </a:lnTo>
                  <a:lnTo>
                    <a:pt x="457" y="442"/>
                  </a:lnTo>
                  <a:lnTo>
                    <a:pt x="457" y="442"/>
                  </a:lnTo>
                  <a:lnTo>
                    <a:pt x="459" y="442"/>
                  </a:lnTo>
                  <a:lnTo>
                    <a:pt x="459" y="444"/>
                  </a:lnTo>
                  <a:lnTo>
                    <a:pt x="459" y="444"/>
                  </a:lnTo>
                  <a:lnTo>
                    <a:pt x="459" y="444"/>
                  </a:lnTo>
                  <a:lnTo>
                    <a:pt x="459" y="445"/>
                  </a:lnTo>
                  <a:lnTo>
                    <a:pt x="457" y="445"/>
                  </a:lnTo>
                  <a:lnTo>
                    <a:pt x="452" y="449"/>
                  </a:lnTo>
                  <a:lnTo>
                    <a:pt x="452" y="449"/>
                  </a:lnTo>
                  <a:lnTo>
                    <a:pt x="452" y="449"/>
                  </a:lnTo>
                  <a:lnTo>
                    <a:pt x="452" y="449"/>
                  </a:lnTo>
                  <a:lnTo>
                    <a:pt x="452" y="451"/>
                  </a:lnTo>
                  <a:lnTo>
                    <a:pt x="452" y="451"/>
                  </a:lnTo>
                  <a:lnTo>
                    <a:pt x="452" y="451"/>
                  </a:lnTo>
                  <a:lnTo>
                    <a:pt x="452" y="455"/>
                  </a:lnTo>
                  <a:lnTo>
                    <a:pt x="452" y="455"/>
                  </a:lnTo>
                  <a:lnTo>
                    <a:pt x="453" y="457"/>
                  </a:lnTo>
                  <a:lnTo>
                    <a:pt x="453" y="457"/>
                  </a:lnTo>
                  <a:lnTo>
                    <a:pt x="455" y="457"/>
                  </a:lnTo>
                  <a:lnTo>
                    <a:pt x="457" y="457"/>
                  </a:lnTo>
                  <a:lnTo>
                    <a:pt x="457" y="457"/>
                  </a:lnTo>
                  <a:lnTo>
                    <a:pt x="457" y="455"/>
                  </a:lnTo>
                  <a:lnTo>
                    <a:pt x="457" y="455"/>
                  </a:lnTo>
                  <a:lnTo>
                    <a:pt x="457" y="453"/>
                  </a:lnTo>
                  <a:lnTo>
                    <a:pt x="457" y="453"/>
                  </a:lnTo>
                  <a:lnTo>
                    <a:pt x="457" y="453"/>
                  </a:lnTo>
                  <a:lnTo>
                    <a:pt x="459" y="453"/>
                  </a:lnTo>
                  <a:lnTo>
                    <a:pt x="461" y="453"/>
                  </a:lnTo>
                  <a:lnTo>
                    <a:pt x="463" y="453"/>
                  </a:lnTo>
                  <a:lnTo>
                    <a:pt x="463" y="455"/>
                  </a:lnTo>
                  <a:lnTo>
                    <a:pt x="463" y="459"/>
                  </a:lnTo>
                  <a:lnTo>
                    <a:pt x="465" y="459"/>
                  </a:lnTo>
                  <a:lnTo>
                    <a:pt x="467" y="459"/>
                  </a:lnTo>
                  <a:lnTo>
                    <a:pt x="467" y="459"/>
                  </a:lnTo>
                  <a:lnTo>
                    <a:pt x="469" y="459"/>
                  </a:lnTo>
                  <a:lnTo>
                    <a:pt x="469" y="457"/>
                  </a:lnTo>
                  <a:lnTo>
                    <a:pt x="471" y="457"/>
                  </a:lnTo>
                  <a:lnTo>
                    <a:pt x="471" y="457"/>
                  </a:lnTo>
                  <a:lnTo>
                    <a:pt x="471" y="455"/>
                  </a:lnTo>
                  <a:lnTo>
                    <a:pt x="471" y="455"/>
                  </a:lnTo>
                  <a:lnTo>
                    <a:pt x="471" y="455"/>
                  </a:lnTo>
                  <a:lnTo>
                    <a:pt x="471" y="453"/>
                  </a:lnTo>
                  <a:lnTo>
                    <a:pt x="471" y="453"/>
                  </a:lnTo>
                  <a:lnTo>
                    <a:pt x="472" y="451"/>
                  </a:lnTo>
                  <a:lnTo>
                    <a:pt x="472" y="451"/>
                  </a:lnTo>
                  <a:lnTo>
                    <a:pt x="478" y="453"/>
                  </a:lnTo>
                  <a:lnTo>
                    <a:pt x="480" y="453"/>
                  </a:lnTo>
                  <a:lnTo>
                    <a:pt x="482" y="453"/>
                  </a:lnTo>
                  <a:lnTo>
                    <a:pt x="482" y="453"/>
                  </a:lnTo>
                  <a:lnTo>
                    <a:pt x="482" y="453"/>
                  </a:lnTo>
                  <a:lnTo>
                    <a:pt x="484" y="451"/>
                  </a:lnTo>
                  <a:lnTo>
                    <a:pt x="482" y="449"/>
                  </a:lnTo>
                  <a:lnTo>
                    <a:pt x="482" y="449"/>
                  </a:lnTo>
                  <a:lnTo>
                    <a:pt x="482" y="447"/>
                  </a:lnTo>
                  <a:lnTo>
                    <a:pt x="484" y="447"/>
                  </a:lnTo>
                  <a:lnTo>
                    <a:pt x="484" y="445"/>
                  </a:lnTo>
                  <a:lnTo>
                    <a:pt x="484" y="444"/>
                  </a:lnTo>
                  <a:lnTo>
                    <a:pt x="484" y="440"/>
                  </a:lnTo>
                  <a:lnTo>
                    <a:pt x="484" y="438"/>
                  </a:lnTo>
                  <a:lnTo>
                    <a:pt x="484" y="438"/>
                  </a:lnTo>
                  <a:lnTo>
                    <a:pt x="484" y="436"/>
                  </a:lnTo>
                  <a:lnTo>
                    <a:pt x="482" y="436"/>
                  </a:lnTo>
                  <a:lnTo>
                    <a:pt x="482" y="436"/>
                  </a:lnTo>
                  <a:lnTo>
                    <a:pt x="482" y="436"/>
                  </a:lnTo>
                  <a:lnTo>
                    <a:pt x="482" y="434"/>
                  </a:lnTo>
                  <a:lnTo>
                    <a:pt x="480" y="434"/>
                  </a:lnTo>
                  <a:lnTo>
                    <a:pt x="482" y="432"/>
                  </a:lnTo>
                  <a:lnTo>
                    <a:pt x="484" y="430"/>
                  </a:lnTo>
                  <a:lnTo>
                    <a:pt x="488" y="423"/>
                  </a:lnTo>
                  <a:lnTo>
                    <a:pt x="490" y="419"/>
                  </a:lnTo>
                  <a:lnTo>
                    <a:pt x="490" y="417"/>
                  </a:lnTo>
                  <a:lnTo>
                    <a:pt x="490" y="415"/>
                  </a:lnTo>
                  <a:lnTo>
                    <a:pt x="490" y="413"/>
                  </a:lnTo>
                  <a:lnTo>
                    <a:pt x="490" y="413"/>
                  </a:lnTo>
                  <a:lnTo>
                    <a:pt x="488" y="413"/>
                  </a:lnTo>
                  <a:lnTo>
                    <a:pt x="488" y="413"/>
                  </a:lnTo>
                  <a:lnTo>
                    <a:pt x="488" y="413"/>
                  </a:lnTo>
                  <a:lnTo>
                    <a:pt x="486" y="413"/>
                  </a:lnTo>
                  <a:lnTo>
                    <a:pt x="486" y="413"/>
                  </a:lnTo>
                  <a:lnTo>
                    <a:pt x="486" y="411"/>
                  </a:lnTo>
                  <a:lnTo>
                    <a:pt x="486" y="411"/>
                  </a:lnTo>
                  <a:lnTo>
                    <a:pt x="486" y="409"/>
                  </a:lnTo>
                  <a:lnTo>
                    <a:pt x="486" y="409"/>
                  </a:lnTo>
                  <a:lnTo>
                    <a:pt x="484" y="407"/>
                  </a:lnTo>
                  <a:lnTo>
                    <a:pt x="484" y="407"/>
                  </a:lnTo>
                  <a:lnTo>
                    <a:pt x="484" y="407"/>
                  </a:lnTo>
                  <a:lnTo>
                    <a:pt x="482" y="407"/>
                  </a:lnTo>
                  <a:lnTo>
                    <a:pt x="482" y="407"/>
                  </a:lnTo>
                  <a:lnTo>
                    <a:pt x="482" y="407"/>
                  </a:lnTo>
                  <a:lnTo>
                    <a:pt x="482" y="407"/>
                  </a:lnTo>
                  <a:lnTo>
                    <a:pt x="482" y="406"/>
                  </a:lnTo>
                  <a:lnTo>
                    <a:pt x="482" y="406"/>
                  </a:lnTo>
                  <a:lnTo>
                    <a:pt x="486" y="406"/>
                  </a:lnTo>
                  <a:lnTo>
                    <a:pt x="486" y="404"/>
                  </a:lnTo>
                  <a:lnTo>
                    <a:pt x="488" y="400"/>
                  </a:lnTo>
                  <a:lnTo>
                    <a:pt x="488" y="400"/>
                  </a:lnTo>
                  <a:lnTo>
                    <a:pt x="488" y="400"/>
                  </a:lnTo>
                  <a:lnTo>
                    <a:pt x="490" y="400"/>
                  </a:lnTo>
                  <a:lnTo>
                    <a:pt x="490" y="400"/>
                  </a:lnTo>
                  <a:lnTo>
                    <a:pt x="490" y="400"/>
                  </a:lnTo>
                  <a:lnTo>
                    <a:pt x="490" y="402"/>
                  </a:lnTo>
                  <a:lnTo>
                    <a:pt x="492" y="404"/>
                  </a:lnTo>
                  <a:lnTo>
                    <a:pt x="492" y="404"/>
                  </a:lnTo>
                  <a:lnTo>
                    <a:pt x="493" y="406"/>
                  </a:lnTo>
                  <a:lnTo>
                    <a:pt x="493" y="406"/>
                  </a:lnTo>
                  <a:lnTo>
                    <a:pt x="493" y="406"/>
                  </a:lnTo>
                  <a:lnTo>
                    <a:pt x="497" y="407"/>
                  </a:lnTo>
                  <a:lnTo>
                    <a:pt x="501" y="409"/>
                  </a:lnTo>
                  <a:lnTo>
                    <a:pt x="501" y="409"/>
                  </a:lnTo>
                  <a:lnTo>
                    <a:pt x="503" y="411"/>
                  </a:lnTo>
                  <a:lnTo>
                    <a:pt x="505" y="415"/>
                  </a:lnTo>
                  <a:lnTo>
                    <a:pt x="505" y="415"/>
                  </a:lnTo>
                  <a:lnTo>
                    <a:pt x="507" y="415"/>
                  </a:lnTo>
                  <a:lnTo>
                    <a:pt x="507" y="415"/>
                  </a:lnTo>
                  <a:lnTo>
                    <a:pt x="513" y="415"/>
                  </a:lnTo>
                  <a:lnTo>
                    <a:pt x="513" y="415"/>
                  </a:lnTo>
                  <a:lnTo>
                    <a:pt x="516" y="413"/>
                  </a:lnTo>
                  <a:lnTo>
                    <a:pt x="518" y="413"/>
                  </a:lnTo>
                  <a:lnTo>
                    <a:pt x="520" y="411"/>
                  </a:lnTo>
                  <a:lnTo>
                    <a:pt x="520" y="411"/>
                  </a:lnTo>
                  <a:lnTo>
                    <a:pt x="522" y="409"/>
                  </a:lnTo>
                  <a:lnTo>
                    <a:pt x="522" y="409"/>
                  </a:lnTo>
                  <a:lnTo>
                    <a:pt x="522" y="407"/>
                  </a:lnTo>
                  <a:lnTo>
                    <a:pt x="522" y="407"/>
                  </a:lnTo>
                  <a:lnTo>
                    <a:pt x="522" y="406"/>
                  </a:lnTo>
                  <a:lnTo>
                    <a:pt x="522" y="404"/>
                  </a:lnTo>
                  <a:lnTo>
                    <a:pt x="526" y="402"/>
                  </a:lnTo>
                  <a:lnTo>
                    <a:pt x="530" y="398"/>
                  </a:lnTo>
                  <a:lnTo>
                    <a:pt x="530" y="396"/>
                  </a:lnTo>
                  <a:lnTo>
                    <a:pt x="532" y="396"/>
                  </a:lnTo>
                  <a:lnTo>
                    <a:pt x="532" y="394"/>
                  </a:lnTo>
                  <a:lnTo>
                    <a:pt x="532" y="392"/>
                  </a:lnTo>
                  <a:lnTo>
                    <a:pt x="532" y="390"/>
                  </a:lnTo>
                  <a:lnTo>
                    <a:pt x="532" y="383"/>
                  </a:lnTo>
                  <a:lnTo>
                    <a:pt x="530" y="381"/>
                  </a:lnTo>
                  <a:lnTo>
                    <a:pt x="530" y="379"/>
                  </a:lnTo>
                  <a:lnTo>
                    <a:pt x="528" y="375"/>
                  </a:lnTo>
                  <a:lnTo>
                    <a:pt x="528" y="375"/>
                  </a:lnTo>
                  <a:lnTo>
                    <a:pt x="528" y="373"/>
                  </a:lnTo>
                  <a:lnTo>
                    <a:pt x="526" y="373"/>
                  </a:lnTo>
                  <a:lnTo>
                    <a:pt x="524" y="371"/>
                  </a:lnTo>
                  <a:lnTo>
                    <a:pt x="522" y="369"/>
                  </a:lnTo>
                  <a:lnTo>
                    <a:pt x="522" y="367"/>
                  </a:lnTo>
                  <a:lnTo>
                    <a:pt x="520" y="366"/>
                  </a:lnTo>
                  <a:lnTo>
                    <a:pt x="518" y="366"/>
                  </a:lnTo>
                  <a:lnTo>
                    <a:pt x="516" y="366"/>
                  </a:lnTo>
                  <a:lnTo>
                    <a:pt x="514" y="364"/>
                  </a:lnTo>
                  <a:lnTo>
                    <a:pt x="514" y="362"/>
                  </a:lnTo>
                  <a:lnTo>
                    <a:pt x="514" y="362"/>
                  </a:lnTo>
                  <a:lnTo>
                    <a:pt x="513" y="360"/>
                  </a:lnTo>
                  <a:lnTo>
                    <a:pt x="513" y="360"/>
                  </a:lnTo>
                  <a:lnTo>
                    <a:pt x="511" y="360"/>
                  </a:lnTo>
                  <a:lnTo>
                    <a:pt x="511" y="360"/>
                  </a:lnTo>
                  <a:lnTo>
                    <a:pt x="509" y="360"/>
                  </a:lnTo>
                  <a:lnTo>
                    <a:pt x="509" y="360"/>
                  </a:lnTo>
                  <a:lnTo>
                    <a:pt x="507" y="360"/>
                  </a:lnTo>
                  <a:lnTo>
                    <a:pt x="503" y="358"/>
                  </a:lnTo>
                  <a:lnTo>
                    <a:pt x="499" y="354"/>
                  </a:lnTo>
                  <a:lnTo>
                    <a:pt x="499" y="354"/>
                  </a:lnTo>
                  <a:lnTo>
                    <a:pt x="499" y="354"/>
                  </a:lnTo>
                  <a:lnTo>
                    <a:pt x="499" y="352"/>
                  </a:lnTo>
                  <a:lnTo>
                    <a:pt x="499" y="352"/>
                  </a:lnTo>
                  <a:lnTo>
                    <a:pt x="499" y="352"/>
                  </a:lnTo>
                  <a:lnTo>
                    <a:pt x="501" y="352"/>
                  </a:lnTo>
                  <a:lnTo>
                    <a:pt x="507" y="356"/>
                  </a:lnTo>
                  <a:lnTo>
                    <a:pt x="507" y="356"/>
                  </a:lnTo>
                  <a:lnTo>
                    <a:pt x="507" y="356"/>
                  </a:lnTo>
                  <a:lnTo>
                    <a:pt x="509" y="356"/>
                  </a:lnTo>
                  <a:lnTo>
                    <a:pt x="509" y="354"/>
                  </a:lnTo>
                  <a:lnTo>
                    <a:pt x="509" y="356"/>
                  </a:lnTo>
                  <a:lnTo>
                    <a:pt x="511" y="356"/>
                  </a:lnTo>
                  <a:lnTo>
                    <a:pt x="511" y="356"/>
                  </a:lnTo>
                  <a:lnTo>
                    <a:pt x="513" y="356"/>
                  </a:lnTo>
                  <a:lnTo>
                    <a:pt x="513" y="356"/>
                  </a:lnTo>
                  <a:lnTo>
                    <a:pt x="513" y="356"/>
                  </a:lnTo>
                  <a:lnTo>
                    <a:pt x="514" y="354"/>
                  </a:lnTo>
                  <a:lnTo>
                    <a:pt x="514" y="354"/>
                  </a:lnTo>
                  <a:lnTo>
                    <a:pt x="514" y="354"/>
                  </a:lnTo>
                  <a:lnTo>
                    <a:pt x="516" y="352"/>
                  </a:lnTo>
                  <a:lnTo>
                    <a:pt x="518" y="352"/>
                  </a:lnTo>
                  <a:lnTo>
                    <a:pt x="518" y="352"/>
                  </a:lnTo>
                  <a:lnTo>
                    <a:pt x="520" y="350"/>
                  </a:lnTo>
                  <a:lnTo>
                    <a:pt x="520" y="347"/>
                  </a:lnTo>
                  <a:lnTo>
                    <a:pt x="522" y="345"/>
                  </a:lnTo>
                  <a:lnTo>
                    <a:pt x="522" y="345"/>
                  </a:lnTo>
                  <a:lnTo>
                    <a:pt x="522" y="345"/>
                  </a:lnTo>
                  <a:lnTo>
                    <a:pt x="524" y="345"/>
                  </a:lnTo>
                  <a:lnTo>
                    <a:pt x="526" y="347"/>
                  </a:lnTo>
                  <a:lnTo>
                    <a:pt x="526" y="347"/>
                  </a:lnTo>
                  <a:lnTo>
                    <a:pt x="532" y="345"/>
                  </a:lnTo>
                  <a:lnTo>
                    <a:pt x="532" y="343"/>
                  </a:lnTo>
                  <a:lnTo>
                    <a:pt x="533" y="341"/>
                  </a:lnTo>
                  <a:lnTo>
                    <a:pt x="535" y="335"/>
                  </a:lnTo>
                  <a:lnTo>
                    <a:pt x="535" y="333"/>
                  </a:lnTo>
                  <a:lnTo>
                    <a:pt x="537" y="331"/>
                  </a:lnTo>
                  <a:lnTo>
                    <a:pt x="539" y="331"/>
                  </a:lnTo>
                  <a:lnTo>
                    <a:pt x="541" y="329"/>
                  </a:lnTo>
                  <a:lnTo>
                    <a:pt x="543" y="328"/>
                  </a:lnTo>
                  <a:lnTo>
                    <a:pt x="543" y="326"/>
                  </a:lnTo>
                  <a:lnTo>
                    <a:pt x="545" y="326"/>
                  </a:lnTo>
                  <a:lnTo>
                    <a:pt x="545" y="326"/>
                  </a:lnTo>
                  <a:lnTo>
                    <a:pt x="549" y="328"/>
                  </a:lnTo>
                  <a:lnTo>
                    <a:pt x="549" y="328"/>
                  </a:lnTo>
                  <a:lnTo>
                    <a:pt x="551" y="328"/>
                  </a:lnTo>
                  <a:lnTo>
                    <a:pt x="562" y="324"/>
                  </a:lnTo>
                  <a:lnTo>
                    <a:pt x="564" y="324"/>
                  </a:lnTo>
                  <a:lnTo>
                    <a:pt x="566" y="322"/>
                  </a:lnTo>
                  <a:lnTo>
                    <a:pt x="568" y="322"/>
                  </a:lnTo>
                  <a:lnTo>
                    <a:pt x="568" y="320"/>
                  </a:lnTo>
                  <a:lnTo>
                    <a:pt x="568" y="320"/>
                  </a:lnTo>
                  <a:lnTo>
                    <a:pt x="568" y="320"/>
                  </a:lnTo>
                  <a:lnTo>
                    <a:pt x="568" y="318"/>
                  </a:lnTo>
                  <a:lnTo>
                    <a:pt x="568" y="318"/>
                  </a:lnTo>
                  <a:lnTo>
                    <a:pt x="566" y="316"/>
                  </a:lnTo>
                  <a:lnTo>
                    <a:pt x="566" y="316"/>
                  </a:lnTo>
                  <a:lnTo>
                    <a:pt x="566" y="316"/>
                  </a:lnTo>
                  <a:lnTo>
                    <a:pt x="566" y="316"/>
                  </a:lnTo>
                  <a:lnTo>
                    <a:pt x="566" y="316"/>
                  </a:lnTo>
                  <a:lnTo>
                    <a:pt x="564" y="316"/>
                  </a:lnTo>
                  <a:lnTo>
                    <a:pt x="562" y="316"/>
                  </a:lnTo>
                  <a:lnTo>
                    <a:pt x="562" y="318"/>
                  </a:lnTo>
                  <a:lnTo>
                    <a:pt x="562" y="318"/>
                  </a:lnTo>
                  <a:lnTo>
                    <a:pt x="558" y="318"/>
                  </a:lnTo>
                  <a:lnTo>
                    <a:pt x="556" y="318"/>
                  </a:lnTo>
                  <a:lnTo>
                    <a:pt x="556" y="318"/>
                  </a:lnTo>
                  <a:lnTo>
                    <a:pt x="556" y="316"/>
                  </a:lnTo>
                  <a:lnTo>
                    <a:pt x="554" y="316"/>
                  </a:lnTo>
                  <a:lnTo>
                    <a:pt x="554" y="316"/>
                  </a:lnTo>
                  <a:lnTo>
                    <a:pt x="553" y="316"/>
                  </a:lnTo>
                  <a:lnTo>
                    <a:pt x="553" y="316"/>
                  </a:lnTo>
                  <a:lnTo>
                    <a:pt x="553" y="316"/>
                  </a:lnTo>
                  <a:lnTo>
                    <a:pt x="553" y="316"/>
                  </a:lnTo>
                  <a:lnTo>
                    <a:pt x="551" y="316"/>
                  </a:lnTo>
                  <a:lnTo>
                    <a:pt x="551" y="318"/>
                  </a:lnTo>
                  <a:lnTo>
                    <a:pt x="551" y="318"/>
                  </a:lnTo>
                  <a:lnTo>
                    <a:pt x="543" y="316"/>
                  </a:lnTo>
                  <a:lnTo>
                    <a:pt x="541" y="316"/>
                  </a:lnTo>
                  <a:lnTo>
                    <a:pt x="539" y="318"/>
                  </a:lnTo>
                  <a:lnTo>
                    <a:pt x="535" y="318"/>
                  </a:lnTo>
                  <a:lnTo>
                    <a:pt x="533" y="320"/>
                  </a:lnTo>
                  <a:lnTo>
                    <a:pt x="526" y="320"/>
                  </a:lnTo>
                  <a:lnTo>
                    <a:pt x="524" y="322"/>
                  </a:lnTo>
                  <a:lnTo>
                    <a:pt x="524" y="322"/>
                  </a:lnTo>
                  <a:lnTo>
                    <a:pt x="522" y="322"/>
                  </a:lnTo>
                  <a:lnTo>
                    <a:pt x="522" y="322"/>
                  </a:lnTo>
                  <a:lnTo>
                    <a:pt x="522" y="318"/>
                  </a:lnTo>
                  <a:lnTo>
                    <a:pt x="520" y="318"/>
                  </a:lnTo>
                  <a:lnTo>
                    <a:pt x="518" y="314"/>
                  </a:lnTo>
                  <a:lnTo>
                    <a:pt x="518" y="312"/>
                  </a:lnTo>
                  <a:lnTo>
                    <a:pt x="516" y="312"/>
                  </a:lnTo>
                  <a:lnTo>
                    <a:pt x="516" y="310"/>
                  </a:lnTo>
                  <a:lnTo>
                    <a:pt x="518" y="310"/>
                  </a:lnTo>
                  <a:lnTo>
                    <a:pt x="520" y="310"/>
                  </a:lnTo>
                  <a:lnTo>
                    <a:pt x="522" y="309"/>
                  </a:lnTo>
                  <a:lnTo>
                    <a:pt x="524" y="309"/>
                  </a:lnTo>
                  <a:lnTo>
                    <a:pt x="526" y="305"/>
                  </a:lnTo>
                  <a:lnTo>
                    <a:pt x="524" y="303"/>
                  </a:lnTo>
                  <a:lnTo>
                    <a:pt x="524" y="303"/>
                  </a:lnTo>
                  <a:lnTo>
                    <a:pt x="522" y="301"/>
                  </a:lnTo>
                  <a:lnTo>
                    <a:pt x="522" y="301"/>
                  </a:lnTo>
                  <a:lnTo>
                    <a:pt x="522" y="299"/>
                  </a:lnTo>
                  <a:lnTo>
                    <a:pt x="522" y="297"/>
                  </a:lnTo>
                  <a:lnTo>
                    <a:pt x="522" y="297"/>
                  </a:lnTo>
                  <a:lnTo>
                    <a:pt x="522" y="293"/>
                  </a:lnTo>
                  <a:lnTo>
                    <a:pt x="522" y="293"/>
                  </a:lnTo>
                  <a:lnTo>
                    <a:pt x="522" y="291"/>
                  </a:lnTo>
                  <a:lnTo>
                    <a:pt x="522" y="290"/>
                  </a:lnTo>
                  <a:lnTo>
                    <a:pt x="524" y="290"/>
                  </a:lnTo>
                  <a:lnTo>
                    <a:pt x="524" y="290"/>
                  </a:lnTo>
                  <a:lnTo>
                    <a:pt x="528" y="288"/>
                  </a:lnTo>
                  <a:lnTo>
                    <a:pt x="532" y="286"/>
                  </a:lnTo>
                  <a:lnTo>
                    <a:pt x="532" y="286"/>
                  </a:lnTo>
                  <a:lnTo>
                    <a:pt x="535" y="286"/>
                  </a:lnTo>
                  <a:lnTo>
                    <a:pt x="537" y="284"/>
                  </a:lnTo>
                  <a:lnTo>
                    <a:pt x="537" y="284"/>
                  </a:lnTo>
                  <a:lnTo>
                    <a:pt x="545" y="278"/>
                  </a:lnTo>
                  <a:lnTo>
                    <a:pt x="553" y="278"/>
                  </a:lnTo>
                  <a:lnTo>
                    <a:pt x="553" y="270"/>
                  </a:lnTo>
                  <a:lnTo>
                    <a:pt x="553" y="267"/>
                  </a:lnTo>
                  <a:lnTo>
                    <a:pt x="553" y="267"/>
                  </a:lnTo>
                  <a:lnTo>
                    <a:pt x="553" y="265"/>
                  </a:lnTo>
                  <a:lnTo>
                    <a:pt x="551" y="263"/>
                  </a:lnTo>
                  <a:lnTo>
                    <a:pt x="551" y="263"/>
                  </a:lnTo>
                  <a:lnTo>
                    <a:pt x="551" y="261"/>
                  </a:lnTo>
                  <a:lnTo>
                    <a:pt x="551" y="259"/>
                  </a:lnTo>
                  <a:lnTo>
                    <a:pt x="551" y="257"/>
                  </a:lnTo>
                  <a:lnTo>
                    <a:pt x="549" y="255"/>
                  </a:lnTo>
                  <a:lnTo>
                    <a:pt x="549" y="255"/>
                  </a:lnTo>
                  <a:lnTo>
                    <a:pt x="547" y="253"/>
                  </a:lnTo>
                  <a:lnTo>
                    <a:pt x="547" y="253"/>
                  </a:lnTo>
                  <a:lnTo>
                    <a:pt x="545" y="251"/>
                  </a:lnTo>
                  <a:lnTo>
                    <a:pt x="547" y="250"/>
                  </a:lnTo>
                  <a:lnTo>
                    <a:pt x="545" y="248"/>
                  </a:lnTo>
                  <a:lnTo>
                    <a:pt x="545" y="246"/>
                  </a:lnTo>
                  <a:lnTo>
                    <a:pt x="545" y="244"/>
                  </a:lnTo>
                  <a:lnTo>
                    <a:pt x="545" y="242"/>
                  </a:lnTo>
                  <a:lnTo>
                    <a:pt x="547" y="240"/>
                  </a:lnTo>
                  <a:lnTo>
                    <a:pt x="547" y="238"/>
                  </a:lnTo>
                  <a:lnTo>
                    <a:pt x="547" y="238"/>
                  </a:lnTo>
                  <a:lnTo>
                    <a:pt x="547" y="238"/>
                  </a:lnTo>
                  <a:lnTo>
                    <a:pt x="549" y="238"/>
                  </a:lnTo>
                  <a:lnTo>
                    <a:pt x="549" y="238"/>
                  </a:lnTo>
                  <a:lnTo>
                    <a:pt x="551" y="240"/>
                  </a:lnTo>
                  <a:lnTo>
                    <a:pt x="551" y="240"/>
                  </a:lnTo>
                  <a:lnTo>
                    <a:pt x="553" y="240"/>
                  </a:lnTo>
                  <a:lnTo>
                    <a:pt x="553" y="242"/>
                  </a:lnTo>
                  <a:lnTo>
                    <a:pt x="554" y="242"/>
                  </a:lnTo>
                  <a:lnTo>
                    <a:pt x="556" y="240"/>
                  </a:lnTo>
                  <a:lnTo>
                    <a:pt x="558" y="240"/>
                  </a:lnTo>
                  <a:lnTo>
                    <a:pt x="560" y="240"/>
                  </a:lnTo>
                  <a:lnTo>
                    <a:pt x="560" y="238"/>
                  </a:lnTo>
                  <a:lnTo>
                    <a:pt x="562" y="238"/>
                  </a:lnTo>
                  <a:lnTo>
                    <a:pt x="562" y="236"/>
                  </a:lnTo>
                  <a:lnTo>
                    <a:pt x="562" y="236"/>
                  </a:lnTo>
                  <a:lnTo>
                    <a:pt x="562" y="234"/>
                  </a:lnTo>
                  <a:lnTo>
                    <a:pt x="562" y="234"/>
                  </a:lnTo>
                  <a:lnTo>
                    <a:pt x="562" y="232"/>
                  </a:lnTo>
                  <a:lnTo>
                    <a:pt x="560" y="232"/>
                  </a:lnTo>
                  <a:lnTo>
                    <a:pt x="558" y="232"/>
                  </a:lnTo>
                  <a:lnTo>
                    <a:pt x="554" y="232"/>
                  </a:lnTo>
                  <a:lnTo>
                    <a:pt x="551" y="232"/>
                  </a:lnTo>
                  <a:lnTo>
                    <a:pt x="551" y="232"/>
                  </a:lnTo>
                  <a:lnTo>
                    <a:pt x="549" y="232"/>
                  </a:lnTo>
                  <a:lnTo>
                    <a:pt x="547" y="231"/>
                  </a:lnTo>
                  <a:lnTo>
                    <a:pt x="543" y="227"/>
                  </a:lnTo>
                  <a:lnTo>
                    <a:pt x="543" y="225"/>
                  </a:lnTo>
                  <a:lnTo>
                    <a:pt x="543" y="225"/>
                  </a:lnTo>
                  <a:lnTo>
                    <a:pt x="543" y="223"/>
                  </a:lnTo>
                  <a:lnTo>
                    <a:pt x="543" y="221"/>
                  </a:lnTo>
                  <a:lnTo>
                    <a:pt x="545" y="221"/>
                  </a:lnTo>
                  <a:lnTo>
                    <a:pt x="545" y="221"/>
                  </a:lnTo>
                  <a:lnTo>
                    <a:pt x="545" y="221"/>
                  </a:lnTo>
                  <a:lnTo>
                    <a:pt x="551" y="223"/>
                  </a:lnTo>
                  <a:lnTo>
                    <a:pt x="553" y="223"/>
                  </a:lnTo>
                  <a:lnTo>
                    <a:pt x="553" y="223"/>
                  </a:lnTo>
                  <a:lnTo>
                    <a:pt x="554" y="223"/>
                  </a:lnTo>
                  <a:lnTo>
                    <a:pt x="554" y="221"/>
                  </a:lnTo>
                  <a:lnTo>
                    <a:pt x="558" y="217"/>
                  </a:lnTo>
                  <a:lnTo>
                    <a:pt x="566" y="212"/>
                  </a:lnTo>
                  <a:lnTo>
                    <a:pt x="566" y="212"/>
                  </a:lnTo>
                  <a:lnTo>
                    <a:pt x="568" y="212"/>
                  </a:lnTo>
                  <a:lnTo>
                    <a:pt x="570" y="212"/>
                  </a:lnTo>
                  <a:lnTo>
                    <a:pt x="570" y="212"/>
                  </a:lnTo>
                  <a:lnTo>
                    <a:pt x="572" y="212"/>
                  </a:lnTo>
                  <a:lnTo>
                    <a:pt x="572" y="212"/>
                  </a:lnTo>
                  <a:lnTo>
                    <a:pt x="573" y="210"/>
                  </a:lnTo>
                  <a:lnTo>
                    <a:pt x="573" y="210"/>
                  </a:lnTo>
                  <a:lnTo>
                    <a:pt x="575" y="208"/>
                  </a:lnTo>
                  <a:lnTo>
                    <a:pt x="583" y="193"/>
                  </a:lnTo>
                  <a:lnTo>
                    <a:pt x="583" y="191"/>
                  </a:lnTo>
                  <a:lnTo>
                    <a:pt x="581" y="189"/>
                  </a:lnTo>
                  <a:close/>
                </a:path>
              </a:pathLst>
            </a:custGeom>
            <a:noFill/>
            <a:ln w="317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08" name="Freeform 58">
              <a:extLst>
                <a:ext uri="{FF2B5EF4-FFF2-40B4-BE49-F238E27FC236}">
                  <a16:creationId xmlns:a16="http://schemas.microsoft.com/office/drawing/2014/main" id="{8C9118A0-6B20-EE5C-F5D8-E5F2E32DE63C}"/>
                </a:ext>
              </a:extLst>
            </p:cNvPr>
            <p:cNvSpPr>
              <a:spLocks/>
            </p:cNvSpPr>
            <p:nvPr/>
          </p:nvSpPr>
          <p:spPr bwMode="auto">
            <a:xfrm>
              <a:off x="1973922" y="4893229"/>
              <a:ext cx="107534" cy="145472"/>
            </a:xfrm>
            <a:custGeom>
              <a:avLst/>
              <a:gdLst>
                <a:gd name="T0" fmla="*/ 57 w 57"/>
                <a:gd name="T1" fmla="*/ 42 h 86"/>
                <a:gd name="T2" fmla="*/ 53 w 57"/>
                <a:gd name="T3" fmla="*/ 36 h 86"/>
                <a:gd name="T4" fmla="*/ 53 w 57"/>
                <a:gd name="T5" fmla="*/ 32 h 86"/>
                <a:gd name="T6" fmla="*/ 51 w 57"/>
                <a:gd name="T7" fmla="*/ 29 h 86"/>
                <a:gd name="T8" fmla="*/ 51 w 57"/>
                <a:gd name="T9" fmla="*/ 19 h 86"/>
                <a:gd name="T10" fmla="*/ 47 w 57"/>
                <a:gd name="T11" fmla="*/ 13 h 86"/>
                <a:gd name="T12" fmla="*/ 43 w 57"/>
                <a:gd name="T13" fmla="*/ 13 h 86"/>
                <a:gd name="T14" fmla="*/ 40 w 57"/>
                <a:gd name="T15" fmla="*/ 13 h 86"/>
                <a:gd name="T16" fmla="*/ 28 w 57"/>
                <a:gd name="T17" fmla="*/ 15 h 86"/>
                <a:gd name="T18" fmla="*/ 22 w 57"/>
                <a:gd name="T19" fmla="*/ 13 h 86"/>
                <a:gd name="T20" fmla="*/ 21 w 57"/>
                <a:gd name="T21" fmla="*/ 6 h 86"/>
                <a:gd name="T22" fmla="*/ 15 w 57"/>
                <a:gd name="T23" fmla="*/ 4 h 86"/>
                <a:gd name="T24" fmla="*/ 13 w 57"/>
                <a:gd name="T25" fmla="*/ 0 h 86"/>
                <a:gd name="T26" fmla="*/ 11 w 57"/>
                <a:gd name="T27" fmla="*/ 0 h 86"/>
                <a:gd name="T28" fmla="*/ 7 w 57"/>
                <a:gd name="T29" fmla="*/ 4 h 86"/>
                <a:gd name="T30" fmla="*/ 0 w 57"/>
                <a:gd name="T31" fmla="*/ 8 h 86"/>
                <a:gd name="T32" fmla="*/ 3 w 57"/>
                <a:gd name="T33" fmla="*/ 15 h 86"/>
                <a:gd name="T34" fmla="*/ 9 w 57"/>
                <a:gd name="T35" fmla="*/ 13 h 86"/>
                <a:gd name="T36" fmla="*/ 15 w 57"/>
                <a:gd name="T37" fmla="*/ 11 h 86"/>
                <a:gd name="T38" fmla="*/ 5 w 57"/>
                <a:gd name="T39" fmla="*/ 17 h 86"/>
                <a:gd name="T40" fmla="*/ 5 w 57"/>
                <a:gd name="T41" fmla="*/ 21 h 86"/>
                <a:gd name="T42" fmla="*/ 7 w 57"/>
                <a:gd name="T43" fmla="*/ 27 h 86"/>
                <a:gd name="T44" fmla="*/ 17 w 57"/>
                <a:gd name="T45" fmla="*/ 25 h 86"/>
                <a:gd name="T46" fmla="*/ 17 w 57"/>
                <a:gd name="T47" fmla="*/ 27 h 86"/>
                <a:gd name="T48" fmla="*/ 11 w 57"/>
                <a:gd name="T49" fmla="*/ 29 h 86"/>
                <a:gd name="T50" fmla="*/ 15 w 57"/>
                <a:gd name="T51" fmla="*/ 32 h 86"/>
                <a:gd name="T52" fmla="*/ 17 w 57"/>
                <a:gd name="T53" fmla="*/ 32 h 86"/>
                <a:gd name="T54" fmla="*/ 22 w 57"/>
                <a:gd name="T55" fmla="*/ 36 h 86"/>
                <a:gd name="T56" fmla="*/ 26 w 57"/>
                <a:gd name="T57" fmla="*/ 40 h 86"/>
                <a:gd name="T58" fmla="*/ 22 w 57"/>
                <a:gd name="T59" fmla="*/ 36 h 86"/>
                <a:gd name="T60" fmla="*/ 17 w 57"/>
                <a:gd name="T61" fmla="*/ 36 h 86"/>
                <a:gd name="T62" fmla="*/ 11 w 57"/>
                <a:gd name="T63" fmla="*/ 38 h 86"/>
                <a:gd name="T64" fmla="*/ 19 w 57"/>
                <a:gd name="T65" fmla="*/ 40 h 86"/>
                <a:gd name="T66" fmla="*/ 26 w 57"/>
                <a:gd name="T67" fmla="*/ 61 h 86"/>
                <a:gd name="T68" fmla="*/ 22 w 57"/>
                <a:gd name="T69" fmla="*/ 65 h 86"/>
                <a:gd name="T70" fmla="*/ 28 w 57"/>
                <a:gd name="T71" fmla="*/ 74 h 86"/>
                <a:gd name="T72" fmla="*/ 32 w 57"/>
                <a:gd name="T73" fmla="*/ 76 h 86"/>
                <a:gd name="T74" fmla="*/ 36 w 57"/>
                <a:gd name="T75" fmla="*/ 84 h 86"/>
                <a:gd name="T76" fmla="*/ 43 w 57"/>
                <a:gd name="T77" fmla="*/ 82 h 86"/>
                <a:gd name="T78" fmla="*/ 47 w 57"/>
                <a:gd name="T79" fmla="*/ 82 h 86"/>
                <a:gd name="T80" fmla="*/ 51 w 57"/>
                <a:gd name="T81" fmla="*/ 78 h 86"/>
                <a:gd name="T82" fmla="*/ 53 w 57"/>
                <a:gd name="T83" fmla="*/ 74 h 86"/>
                <a:gd name="T84" fmla="*/ 53 w 57"/>
                <a:gd name="T85" fmla="*/ 70 h 86"/>
                <a:gd name="T86" fmla="*/ 53 w 57"/>
                <a:gd name="T87" fmla="*/ 65 h 86"/>
                <a:gd name="T88" fmla="*/ 57 w 57"/>
                <a:gd name="T89" fmla="*/ 57 h 86"/>
                <a:gd name="T90" fmla="*/ 55 w 57"/>
                <a:gd name="T91" fmla="*/ 55 h 86"/>
                <a:gd name="T92" fmla="*/ 51 w 57"/>
                <a:gd name="T93" fmla="*/ 51 h 86"/>
                <a:gd name="T94" fmla="*/ 55 w 57"/>
                <a:gd name="T95" fmla="*/ 50 h 86"/>
                <a:gd name="T96" fmla="*/ 57 w 57"/>
                <a:gd name="T97" fmla="*/ 4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 h="86">
                  <a:moveTo>
                    <a:pt x="57" y="44"/>
                  </a:moveTo>
                  <a:lnTo>
                    <a:pt x="57" y="42"/>
                  </a:lnTo>
                  <a:lnTo>
                    <a:pt x="57" y="42"/>
                  </a:lnTo>
                  <a:lnTo>
                    <a:pt x="57" y="42"/>
                  </a:lnTo>
                  <a:lnTo>
                    <a:pt x="53" y="38"/>
                  </a:lnTo>
                  <a:lnTo>
                    <a:pt x="53" y="38"/>
                  </a:lnTo>
                  <a:lnTo>
                    <a:pt x="53" y="36"/>
                  </a:lnTo>
                  <a:lnTo>
                    <a:pt x="53" y="36"/>
                  </a:lnTo>
                  <a:lnTo>
                    <a:pt x="53" y="34"/>
                  </a:lnTo>
                  <a:lnTo>
                    <a:pt x="53" y="34"/>
                  </a:lnTo>
                  <a:lnTo>
                    <a:pt x="53" y="34"/>
                  </a:lnTo>
                  <a:lnTo>
                    <a:pt x="53" y="32"/>
                  </a:lnTo>
                  <a:lnTo>
                    <a:pt x="53" y="32"/>
                  </a:lnTo>
                  <a:lnTo>
                    <a:pt x="51" y="31"/>
                  </a:lnTo>
                  <a:lnTo>
                    <a:pt x="51" y="31"/>
                  </a:lnTo>
                  <a:lnTo>
                    <a:pt x="51" y="29"/>
                  </a:lnTo>
                  <a:lnTo>
                    <a:pt x="53" y="27"/>
                  </a:lnTo>
                  <a:lnTo>
                    <a:pt x="53" y="25"/>
                  </a:lnTo>
                  <a:lnTo>
                    <a:pt x="53" y="25"/>
                  </a:lnTo>
                  <a:lnTo>
                    <a:pt x="51" y="19"/>
                  </a:lnTo>
                  <a:lnTo>
                    <a:pt x="51" y="15"/>
                  </a:lnTo>
                  <a:lnTo>
                    <a:pt x="51" y="15"/>
                  </a:lnTo>
                  <a:lnTo>
                    <a:pt x="49" y="15"/>
                  </a:lnTo>
                  <a:lnTo>
                    <a:pt x="47" y="13"/>
                  </a:lnTo>
                  <a:lnTo>
                    <a:pt x="45" y="13"/>
                  </a:lnTo>
                  <a:lnTo>
                    <a:pt x="45" y="11"/>
                  </a:lnTo>
                  <a:lnTo>
                    <a:pt x="43" y="13"/>
                  </a:lnTo>
                  <a:lnTo>
                    <a:pt x="43" y="13"/>
                  </a:lnTo>
                  <a:lnTo>
                    <a:pt x="43" y="13"/>
                  </a:lnTo>
                  <a:lnTo>
                    <a:pt x="42" y="13"/>
                  </a:lnTo>
                  <a:lnTo>
                    <a:pt x="42" y="13"/>
                  </a:lnTo>
                  <a:lnTo>
                    <a:pt x="40" y="13"/>
                  </a:lnTo>
                  <a:lnTo>
                    <a:pt x="38" y="13"/>
                  </a:lnTo>
                  <a:lnTo>
                    <a:pt x="34" y="13"/>
                  </a:lnTo>
                  <a:lnTo>
                    <a:pt x="30" y="15"/>
                  </a:lnTo>
                  <a:lnTo>
                    <a:pt x="28" y="15"/>
                  </a:lnTo>
                  <a:lnTo>
                    <a:pt x="26" y="15"/>
                  </a:lnTo>
                  <a:lnTo>
                    <a:pt x="26" y="15"/>
                  </a:lnTo>
                  <a:lnTo>
                    <a:pt x="24" y="15"/>
                  </a:lnTo>
                  <a:lnTo>
                    <a:pt x="22" y="13"/>
                  </a:lnTo>
                  <a:lnTo>
                    <a:pt x="22" y="11"/>
                  </a:lnTo>
                  <a:lnTo>
                    <a:pt x="21" y="8"/>
                  </a:lnTo>
                  <a:lnTo>
                    <a:pt x="21" y="6"/>
                  </a:lnTo>
                  <a:lnTo>
                    <a:pt x="21" y="6"/>
                  </a:lnTo>
                  <a:lnTo>
                    <a:pt x="19" y="4"/>
                  </a:lnTo>
                  <a:lnTo>
                    <a:pt x="17" y="4"/>
                  </a:lnTo>
                  <a:lnTo>
                    <a:pt x="15" y="4"/>
                  </a:lnTo>
                  <a:lnTo>
                    <a:pt x="15" y="4"/>
                  </a:lnTo>
                  <a:lnTo>
                    <a:pt x="15" y="4"/>
                  </a:lnTo>
                  <a:lnTo>
                    <a:pt x="15" y="2"/>
                  </a:lnTo>
                  <a:lnTo>
                    <a:pt x="15" y="2"/>
                  </a:lnTo>
                  <a:lnTo>
                    <a:pt x="13" y="0"/>
                  </a:lnTo>
                  <a:lnTo>
                    <a:pt x="13" y="0"/>
                  </a:lnTo>
                  <a:lnTo>
                    <a:pt x="13" y="0"/>
                  </a:lnTo>
                  <a:lnTo>
                    <a:pt x="13" y="0"/>
                  </a:lnTo>
                  <a:lnTo>
                    <a:pt x="11" y="0"/>
                  </a:lnTo>
                  <a:lnTo>
                    <a:pt x="11" y="4"/>
                  </a:lnTo>
                  <a:lnTo>
                    <a:pt x="9" y="4"/>
                  </a:lnTo>
                  <a:lnTo>
                    <a:pt x="9" y="4"/>
                  </a:lnTo>
                  <a:lnTo>
                    <a:pt x="7" y="4"/>
                  </a:lnTo>
                  <a:lnTo>
                    <a:pt x="3" y="4"/>
                  </a:lnTo>
                  <a:lnTo>
                    <a:pt x="2" y="6"/>
                  </a:lnTo>
                  <a:lnTo>
                    <a:pt x="0" y="6"/>
                  </a:lnTo>
                  <a:lnTo>
                    <a:pt x="0" y="8"/>
                  </a:lnTo>
                  <a:lnTo>
                    <a:pt x="0" y="8"/>
                  </a:lnTo>
                  <a:lnTo>
                    <a:pt x="2" y="11"/>
                  </a:lnTo>
                  <a:lnTo>
                    <a:pt x="2" y="13"/>
                  </a:lnTo>
                  <a:lnTo>
                    <a:pt x="3" y="15"/>
                  </a:lnTo>
                  <a:lnTo>
                    <a:pt x="3" y="15"/>
                  </a:lnTo>
                  <a:lnTo>
                    <a:pt x="3" y="15"/>
                  </a:lnTo>
                  <a:lnTo>
                    <a:pt x="7" y="13"/>
                  </a:lnTo>
                  <a:lnTo>
                    <a:pt x="9" y="13"/>
                  </a:lnTo>
                  <a:lnTo>
                    <a:pt x="9" y="11"/>
                  </a:lnTo>
                  <a:lnTo>
                    <a:pt x="11" y="11"/>
                  </a:lnTo>
                  <a:lnTo>
                    <a:pt x="15" y="11"/>
                  </a:lnTo>
                  <a:lnTo>
                    <a:pt x="15" y="11"/>
                  </a:lnTo>
                  <a:lnTo>
                    <a:pt x="9" y="13"/>
                  </a:lnTo>
                  <a:lnTo>
                    <a:pt x="7" y="15"/>
                  </a:lnTo>
                  <a:lnTo>
                    <a:pt x="5" y="15"/>
                  </a:lnTo>
                  <a:lnTo>
                    <a:pt x="5" y="17"/>
                  </a:lnTo>
                  <a:lnTo>
                    <a:pt x="5" y="17"/>
                  </a:lnTo>
                  <a:lnTo>
                    <a:pt x="5" y="17"/>
                  </a:lnTo>
                  <a:lnTo>
                    <a:pt x="5" y="19"/>
                  </a:lnTo>
                  <a:lnTo>
                    <a:pt x="5" y="21"/>
                  </a:lnTo>
                  <a:lnTo>
                    <a:pt x="5" y="21"/>
                  </a:lnTo>
                  <a:lnTo>
                    <a:pt x="7" y="23"/>
                  </a:lnTo>
                  <a:lnTo>
                    <a:pt x="5" y="27"/>
                  </a:lnTo>
                  <a:lnTo>
                    <a:pt x="7" y="27"/>
                  </a:lnTo>
                  <a:lnTo>
                    <a:pt x="9" y="29"/>
                  </a:lnTo>
                  <a:lnTo>
                    <a:pt x="11" y="27"/>
                  </a:lnTo>
                  <a:lnTo>
                    <a:pt x="17" y="23"/>
                  </a:lnTo>
                  <a:lnTo>
                    <a:pt x="17" y="25"/>
                  </a:lnTo>
                  <a:lnTo>
                    <a:pt x="17" y="25"/>
                  </a:lnTo>
                  <a:lnTo>
                    <a:pt x="17" y="25"/>
                  </a:lnTo>
                  <a:lnTo>
                    <a:pt x="17" y="25"/>
                  </a:lnTo>
                  <a:lnTo>
                    <a:pt x="17" y="27"/>
                  </a:lnTo>
                  <a:lnTo>
                    <a:pt x="13" y="27"/>
                  </a:lnTo>
                  <a:lnTo>
                    <a:pt x="13" y="27"/>
                  </a:lnTo>
                  <a:lnTo>
                    <a:pt x="11" y="29"/>
                  </a:lnTo>
                  <a:lnTo>
                    <a:pt x="11" y="29"/>
                  </a:lnTo>
                  <a:lnTo>
                    <a:pt x="9" y="31"/>
                  </a:lnTo>
                  <a:lnTo>
                    <a:pt x="11" y="32"/>
                  </a:lnTo>
                  <a:lnTo>
                    <a:pt x="11" y="32"/>
                  </a:lnTo>
                  <a:lnTo>
                    <a:pt x="15" y="32"/>
                  </a:lnTo>
                  <a:lnTo>
                    <a:pt x="15" y="32"/>
                  </a:lnTo>
                  <a:lnTo>
                    <a:pt x="15" y="32"/>
                  </a:lnTo>
                  <a:lnTo>
                    <a:pt x="17" y="32"/>
                  </a:lnTo>
                  <a:lnTo>
                    <a:pt x="17" y="32"/>
                  </a:lnTo>
                  <a:lnTo>
                    <a:pt x="19" y="32"/>
                  </a:lnTo>
                  <a:lnTo>
                    <a:pt x="19" y="32"/>
                  </a:lnTo>
                  <a:lnTo>
                    <a:pt x="22" y="34"/>
                  </a:lnTo>
                  <a:lnTo>
                    <a:pt x="22" y="36"/>
                  </a:lnTo>
                  <a:lnTo>
                    <a:pt x="24" y="38"/>
                  </a:lnTo>
                  <a:lnTo>
                    <a:pt x="26" y="40"/>
                  </a:lnTo>
                  <a:lnTo>
                    <a:pt x="26" y="40"/>
                  </a:lnTo>
                  <a:lnTo>
                    <a:pt x="26" y="40"/>
                  </a:lnTo>
                  <a:lnTo>
                    <a:pt x="24" y="40"/>
                  </a:lnTo>
                  <a:lnTo>
                    <a:pt x="24" y="40"/>
                  </a:lnTo>
                  <a:lnTo>
                    <a:pt x="24" y="38"/>
                  </a:lnTo>
                  <a:lnTo>
                    <a:pt x="22" y="36"/>
                  </a:lnTo>
                  <a:lnTo>
                    <a:pt x="21" y="36"/>
                  </a:lnTo>
                  <a:lnTo>
                    <a:pt x="19" y="36"/>
                  </a:lnTo>
                  <a:lnTo>
                    <a:pt x="17" y="36"/>
                  </a:lnTo>
                  <a:lnTo>
                    <a:pt x="17" y="36"/>
                  </a:lnTo>
                  <a:lnTo>
                    <a:pt x="15" y="36"/>
                  </a:lnTo>
                  <a:lnTo>
                    <a:pt x="15" y="36"/>
                  </a:lnTo>
                  <a:lnTo>
                    <a:pt x="9" y="36"/>
                  </a:lnTo>
                  <a:lnTo>
                    <a:pt x="11" y="38"/>
                  </a:lnTo>
                  <a:lnTo>
                    <a:pt x="13" y="40"/>
                  </a:lnTo>
                  <a:lnTo>
                    <a:pt x="15" y="40"/>
                  </a:lnTo>
                  <a:lnTo>
                    <a:pt x="17" y="40"/>
                  </a:lnTo>
                  <a:lnTo>
                    <a:pt x="19" y="40"/>
                  </a:lnTo>
                  <a:lnTo>
                    <a:pt x="19" y="42"/>
                  </a:lnTo>
                  <a:lnTo>
                    <a:pt x="24" y="59"/>
                  </a:lnTo>
                  <a:lnTo>
                    <a:pt x="24" y="59"/>
                  </a:lnTo>
                  <a:lnTo>
                    <a:pt x="26" y="61"/>
                  </a:lnTo>
                  <a:lnTo>
                    <a:pt x="24" y="61"/>
                  </a:lnTo>
                  <a:lnTo>
                    <a:pt x="22" y="63"/>
                  </a:lnTo>
                  <a:lnTo>
                    <a:pt x="22" y="63"/>
                  </a:lnTo>
                  <a:lnTo>
                    <a:pt x="22" y="65"/>
                  </a:lnTo>
                  <a:lnTo>
                    <a:pt x="21" y="67"/>
                  </a:lnTo>
                  <a:lnTo>
                    <a:pt x="26" y="69"/>
                  </a:lnTo>
                  <a:lnTo>
                    <a:pt x="26" y="69"/>
                  </a:lnTo>
                  <a:lnTo>
                    <a:pt x="28" y="74"/>
                  </a:lnTo>
                  <a:lnTo>
                    <a:pt x="30" y="74"/>
                  </a:lnTo>
                  <a:lnTo>
                    <a:pt x="30" y="74"/>
                  </a:lnTo>
                  <a:lnTo>
                    <a:pt x="32" y="76"/>
                  </a:lnTo>
                  <a:lnTo>
                    <a:pt x="32" y="76"/>
                  </a:lnTo>
                  <a:lnTo>
                    <a:pt x="32" y="80"/>
                  </a:lnTo>
                  <a:lnTo>
                    <a:pt x="32" y="82"/>
                  </a:lnTo>
                  <a:lnTo>
                    <a:pt x="32" y="82"/>
                  </a:lnTo>
                  <a:lnTo>
                    <a:pt x="36" y="84"/>
                  </a:lnTo>
                  <a:lnTo>
                    <a:pt x="36" y="86"/>
                  </a:lnTo>
                  <a:lnTo>
                    <a:pt x="38" y="86"/>
                  </a:lnTo>
                  <a:lnTo>
                    <a:pt x="40" y="84"/>
                  </a:lnTo>
                  <a:lnTo>
                    <a:pt x="43" y="82"/>
                  </a:lnTo>
                  <a:lnTo>
                    <a:pt x="43" y="82"/>
                  </a:lnTo>
                  <a:lnTo>
                    <a:pt x="43" y="82"/>
                  </a:lnTo>
                  <a:lnTo>
                    <a:pt x="45" y="82"/>
                  </a:lnTo>
                  <a:lnTo>
                    <a:pt x="47" y="82"/>
                  </a:lnTo>
                  <a:lnTo>
                    <a:pt x="49" y="82"/>
                  </a:lnTo>
                  <a:lnTo>
                    <a:pt x="49" y="80"/>
                  </a:lnTo>
                  <a:lnTo>
                    <a:pt x="51" y="78"/>
                  </a:lnTo>
                  <a:lnTo>
                    <a:pt x="51" y="78"/>
                  </a:lnTo>
                  <a:lnTo>
                    <a:pt x="51" y="78"/>
                  </a:lnTo>
                  <a:lnTo>
                    <a:pt x="51" y="76"/>
                  </a:lnTo>
                  <a:lnTo>
                    <a:pt x="53" y="74"/>
                  </a:lnTo>
                  <a:lnTo>
                    <a:pt x="53" y="74"/>
                  </a:lnTo>
                  <a:lnTo>
                    <a:pt x="53" y="72"/>
                  </a:lnTo>
                  <a:lnTo>
                    <a:pt x="53" y="72"/>
                  </a:lnTo>
                  <a:lnTo>
                    <a:pt x="53" y="70"/>
                  </a:lnTo>
                  <a:lnTo>
                    <a:pt x="53" y="70"/>
                  </a:lnTo>
                  <a:lnTo>
                    <a:pt x="53" y="67"/>
                  </a:lnTo>
                  <a:lnTo>
                    <a:pt x="53" y="67"/>
                  </a:lnTo>
                  <a:lnTo>
                    <a:pt x="53" y="65"/>
                  </a:lnTo>
                  <a:lnTo>
                    <a:pt x="53" y="65"/>
                  </a:lnTo>
                  <a:lnTo>
                    <a:pt x="53" y="63"/>
                  </a:lnTo>
                  <a:lnTo>
                    <a:pt x="55" y="59"/>
                  </a:lnTo>
                  <a:lnTo>
                    <a:pt x="57" y="57"/>
                  </a:lnTo>
                  <a:lnTo>
                    <a:pt x="57" y="57"/>
                  </a:lnTo>
                  <a:lnTo>
                    <a:pt x="55" y="55"/>
                  </a:lnTo>
                  <a:lnTo>
                    <a:pt x="55" y="55"/>
                  </a:lnTo>
                  <a:lnTo>
                    <a:pt x="55" y="55"/>
                  </a:lnTo>
                  <a:lnTo>
                    <a:pt x="55" y="55"/>
                  </a:lnTo>
                  <a:lnTo>
                    <a:pt x="51" y="53"/>
                  </a:lnTo>
                  <a:lnTo>
                    <a:pt x="51" y="53"/>
                  </a:lnTo>
                  <a:lnTo>
                    <a:pt x="51" y="51"/>
                  </a:lnTo>
                  <a:lnTo>
                    <a:pt x="51" y="51"/>
                  </a:lnTo>
                  <a:lnTo>
                    <a:pt x="51" y="51"/>
                  </a:lnTo>
                  <a:lnTo>
                    <a:pt x="51" y="50"/>
                  </a:lnTo>
                  <a:lnTo>
                    <a:pt x="53" y="50"/>
                  </a:lnTo>
                  <a:lnTo>
                    <a:pt x="55" y="50"/>
                  </a:lnTo>
                  <a:lnTo>
                    <a:pt x="55" y="50"/>
                  </a:lnTo>
                  <a:lnTo>
                    <a:pt x="57" y="50"/>
                  </a:lnTo>
                  <a:lnTo>
                    <a:pt x="57" y="48"/>
                  </a:lnTo>
                  <a:lnTo>
                    <a:pt x="57" y="48"/>
                  </a:lnTo>
                  <a:lnTo>
                    <a:pt x="57" y="44"/>
                  </a:lnTo>
                  <a:close/>
                </a:path>
              </a:pathLst>
            </a:custGeom>
            <a:solidFill>
              <a:srgbClr val="EBEDC3"/>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09" name="Freeform 59">
              <a:extLst>
                <a:ext uri="{FF2B5EF4-FFF2-40B4-BE49-F238E27FC236}">
                  <a16:creationId xmlns:a16="http://schemas.microsoft.com/office/drawing/2014/main" id="{0CA4B300-358B-BA24-342D-6BD2A8A24A06}"/>
                </a:ext>
              </a:extLst>
            </p:cNvPr>
            <p:cNvSpPr>
              <a:spLocks/>
            </p:cNvSpPr>
            <p:nvPr/>
          </p:nvSpPr>
          <p:spPr bwMode="auto">
            <a:xfrm>
              <a:off x="1973922" y="4893229"/>
              <a:ext cx="107534" cy="145472"/>
            </a:xfrm>
            <a:custGeom>
              <a:avLst/>
              <a:gdLst>
                <a:gd name="T0" fmla="*/ 57 w 57"/>
                <a:gd name="T1" fmla="*/ 42 h 86"/>
                <a:gd name="T2" fmla="*/ 53 w 57"/>
                <a:gd name="T3" fmla="*/ 36 h 86"/>
                <a:gd name="T4" fmla="*/ 53 w 57"/>
                <a:gd name="T5" fmla="*/ 32 h 86"/>
                <a:gd name="T6" fmla="*/ 51 w 57"/>
                <a:gd name="T7" fmla="*/ 29 h 86"/>
                <a:gd name="T8" fmla="*/ 51 w 57"/>
                <a:gd name="T9" fmla="*/ 19 h 86"/>
                <a:gd name="T10" fmla="*/ 47 w 57"/>
                <a:gd name="T11" fmla="*/ 13 h 86"/>
                <a:gd name="T12" fmla="*/ 43 w 57"/>
                <a:gd name="T13" fmla="*/ 13 h 86"/>
                <a:gd name="T14" fmla="*/ 40 w 57"/>
                <a:gd name="T15" fmla="*/ 13 h 86"/>
                <a:gd name="T16" fmla="*/ 28 w 57"/>
                <a:gd name="T17" fmla="*/ 15 h 86"/>
                <a:gd name="T18" fmla="*/ 22 w 57"/>
                <a:gd name="T19" fmla="*/ 13 h 86"/>
                <a:gd name="T20" fmla="*/ 21 w 57"/>
                <a:gd name="T21" fmla="*/ 6 h 86"/>
                <a:gd name="T22" fmla="*/ 15 w 57"/>
                <a:gd name="T23" fmla="*/ 4 h 86"/>
                <a:gd name="T24" fmla="*/ 13 w 57"/>
                <a:gd name="T25" fmla="*/ 0 h 86"/>
                <a:gd name="T26" fmla="*/ 11 w 57"/>
                <a:gd name="T27" fmla="*/ 0 h 86"/>
                <a:gd name="T28" fmla="*/ 7 w 57"/>
                <a:gd name="T29" fmla="*/ 4 h 86"/>
                <a:gd name="T30" fmla="*/ 0 w 57"/>
                <a:gd name="T31" fmla="*/ 8 h 86"/>
                <a:gd name="T32" fmla="*/ 3 w 57"/>
                <a:gd name="T33" fmla="*/ 15 h 86"/>
                <a:gd name="T34" fmla="*/ 9 w 57"/>
                <a:gd name="T35" fmla="*/ 13 h 86"/>
                <a:gd name="T36" fmla="*/ 15 w 57"/>
                <a:gd name="T37" fmla="*/ 11 h 86"/>
                <a:gd name="T38" fmla="*/ 5 w 57"/>
                <a:gd name="T39" fmla="*/ 17 h 86"/>
                <a:gd name="T40" fmla="*/ 5 w 57"/>
                <a:gd name="T41" fmla="*/ 21 h 86"/>
                <a:gd name="T42" fmla="*/ 7 w 57"/>
                <a:gd name="T43" fmla="*/ 27 h 86"/>
                <a:gd name="T44" fmla="*/ 17 w 57"/>
                <a:gd name="T45" fmla="*/ 25 h 86"/>
                <a:gd name="T46" fmla="*/ 17 w 57"/>
                <a:gd name="T47" fmla="*/ 27 h 86"/>
                <a:gd name="T48" fmla="*/ 11 w 57"/>
                <a:gd name="T49" fmla="*/ 29 h 86"/>
                <a:gd name="T50" fmla="*/ 15 w 57"/>
                <a:gd name="T51" fmla="*/ 32 h 86"/>
                <a:gd name="T52" fmla="*/ 17 w 57"/>
                <a:gd name="T53" fmla="*/ 32 h 86"/>
                <a:gd name="T54" fmla="*/ 22 w 57"/>
                <a:gd name="T55" fmla="*/ 36 h 86"/>
                <a:gd name="T56" fmla="*/ 26 w 57"/>
                <a:gd name="T57" fmla="*/ 40 h 86"/>
                <a:gd name="T58" fmla="*/ 22 w 57"/>
                <a:gd name="T59" fmla="*/ 36 h 86"/>
                <a:gd name="T60" fmla="*/ 17 w 57"/>
                <a:gd name="T61" fmla="*/ 36 h 86"/>
                <a:gd name="T62" fmla="*/ 11 w 57"/>
                <a:gd name="T63" fmla="*/ 38 h 86"/>
                <a:gd name="T64" fmla="*/ 19 w 57"/>
                <a:gd name="T65" fmla="*/ 40 h 86"/>
                <a:gd name="T66" fmla="*/ 26 w 57"/>
                <a:gd name="T67" fmla="*/ 61 h 86"/>
                <a:gd name="T68" fmla="*/ 22 w 57"/>
                <a:gd name="T69" fmla="*/ 65 h 86"/>
                <a:gd name="T70" fmla="*/ 28 w 57"/>
                <a:gd name="T71" fmla="*/ 74 h 86"/>
                <a:gd name="T72" fmla="*/ 32 w 57"/>
                <a:gd name="T73" fmla="*/ 76 h 86"/>
                <a:gd name="T74" fmla="*/ 36 w 57"/>
                <a:gd name="T75" fmla="*/ 84 h 86"/>
                <a:gd name="T76" fmla="*/ 43 w 57"/>
                <a:gd name="T77" fmla="*/ 82 h 86"/>
                <a:gd name="T78" fmla="*/ 47 w 57"/>
                <a:gd name="T79" fmla="*/ 82 h 86"/>
                <a:gd name="T80" fmla="*/ 51 w 57"/>
                <a:gd name="T81" fmla="*/ 78 h 86"/>
                <a:gd name="T82" fmla="*/ 53 w 57"/>
                <a:gd name="T83" fmla="*/ 74 h 86"/>
                <a:gd name="T84" fmla="*/ 53 w 57"/>
                <a:gd name="T85" fmla="*/ 70 h 86"/>
                <a:gd name="T86" fmla="*/ 53 w 57"/>
                <a:gd name="T87" fmla="*/ 65 h 86"/>
                <a:gd name="T88" fmla="*/ 57 w 57"/>
                <a:gd name="T89" fmla="*/ 57 h 86"/>
                <a:gd name="T90" fmla="*/ 55 w 57"/>
                <a:gd name="T91" fmla="*/ 55 h 86"/>
                <a:gd name="T92" fmla="*/ 51 w 57"/>
                <a:gd name="T93" fmla="*/ 51 h 86"/>
                <a:gd name="T94" fmla="*/ 55 w 57"/>
                <a:gd name="T95" fmla="*/ 50 h 86"/>
                <a:gd name="T96" fmla="*/ 57 w 57"/>
                <a:gd name="T97" fmla="*/ 4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 h="86">
                  <a:moveTo>
                    <a:pt x="57" y="44"/>
                  </a:moveTo>
                  <a:lnTo>
                    <a:pt x="57" y="42"/>
                  </a:lnTo>
                  <a:lnTo>
                    <a:pt x="57" y="42"/>
                  </a:lnTo>
                  <a:lnTo>
                    <a:pt x="57" y="42"/>
                  </a:lnTo>
                  <a:lnTo>
                    <a:pt x="53" y="38"/>
                  </a:lnTo>
                  <a:lnTo>
                    <a:pt x="53" y="38"/>
                  </a:lnTo>
                  <a:lnTo>
                    <a:pt x="53" y="36"/>
                  </a:lnTo>
                  <a:lnTo>
                    <a:pt x="53" y="36"/>
                  </a:lnTo>
                  <a:lnTo>
                    <a:pt x="53" y="34"/>
                  </a:lnTo>
                  <a:lnTo>
                    <a:pt x="53" y="34"/>
                  </a:lnTo>
                  <a:lnTo>
                    <a:pt x="53" y="34"/>
                  </a:lnTo>
                  <a:lnTo>
                    <a:pt x="53" y="32"/>
                  </a:lnTo>
                  <a:lnTo>
                    <a:pt x="53" y="32"/>
                  </a:lnTo>
                  <a:lnTo>
                    <a:pt x="51" y="31"/>
                  </a:lnTo>
                  <a:lnTo>
                    <a:pt x="51" y="31"/>
                  </a:lnTo>
                  <a:lnTo>
                    <a:pt x="51" y="29"/>
                  </a:lnTo>
                  <a:lnTo>
                    <a:pt x="53" y="27"/>
                  </a:lnTo>
                  <a:lnTo>
                    <a:pt x="53" y="25"/>
                  </a:lnTo>
                  <a:lnTo>
                    <a:pt x="53" y="25"/>
                  </a:lnTo>
                  <a:lnTo>
                    <a:pt x="51" y="19"/>
                  </a:lnTo>
                  <a:lnTo>
                    <a:pt x="51" y="15"/>
                  </a:lnTo>
                  <a:lnTo>
                    <a:pt x="51" y="15"/>
                  </a:lnTo>
                  <a:lnTo>
                    <a:pt x="49" y="15"/>
                  </a:lnTo>
                  <a:lnTo>
                    <a:pt x="47" y="13"/>
                  </a:lnTo>
                  <a:lnTo>
                    <a:pt x="45" y="13"/>
                  </a:lnTo>
                  <a:lnTo>
                    <a:pt x="45" y="11"/>
                  </a:lnTo>
                  <a:lnTo>
                    <a:pt x="43" y="13"/>
                  </a:lnTo>
                  <a:lnTo>
                    <a:pt x="43" y="13"/>
                  </a:lnTo>
                  <a:lnTo>
                    <a:pt x="43" y="13"/>
                  </a:lnTo>
                  <a:lnTo>
                    <a:pt x="42" y="13"/>
                  </a:lnTo>
                  <a:lnTo>
                    <a:pt x="42" y="13"/>
                  </a:lnTo>
                  <a:lnTo>
                    <a:pt x="40" y="13"/>
                  </a:lnTo>
                  <a:lnTo>
                    <a:pt x="38" y="13"/>
                  </a:lnTo>
                  <a:lnTo>
                    <a:pt x="34" y="13"/>
                  </a:lnTo>
                  <a:lnTo>
                    <a:pt x="30" y="15"/>
                  </a:lnTo>
                  <a:lnTo>
                    <a:pt x="28" y="15"/>
                  </a:lnTo>
                  <a:lnTo>
                    <a:pt x="26" y="15"/>
                  </a:lnTo>
                  <a:lnTo>
                    <a:pt x="26" y="15"/>
                  </a:lnTo>
                  <a:lnTo>
                    <a:pt x="24" y="15"/>
                  </a:lnTo>
                  <a:lnTo>
                    <a:pt x="22" y="13"/>
                  </a:lnTo>
                  <a:lnTo>
                    <a:pt x="22" y="11"/>
                  </a:lnTo>
                  <a:lnTo>
                    <a:pt x="21" y="8"/>
                  </a:lnTo>
                  <a:lnTo>
                    <a:pt x="21" y="6"/>
                  </a:lnTo>
                  <a:lnTo>
                    <a:pt x="21" y="6"/>
                  </a:lnTo>
                  <a:lnTo>
                    <a:pt x="19" y="4"/>
                  </a:lnTo>
                  <a:lnTo>
                    <a:pt x="17" y="4"/>
                  </a:lnTo>
                  <a:lnTo>
                    <a:pt x="15" y="4"/>
                  </a:lnTo>
                  <a:lnTo>
                    <a:pt x="15" y="4"/>
                  </a:lnTo>
                  <a:lnTo>
                    <a:pt x="15" y="4"/>
                  </a:lnTo>
                  <a:lnTo>
                    <a:pt x="15" y="2"/>
                  </a:lnTo>
                  <a:lnTo>
                    <a:pt x="15" y="2"/>
                  </a:lnTo>
                  <a:lnTo>
                    <a:pt x="13" y="0"/>
                  </a:lnTo>
                  <a:lnTo>
                    <a:pt x="13" y="0"/>
                  </a:lnTo>
                  <a:lnTo>
                    <a:pt x="13" y="0"/>
                  </a:lnTo>
                  <a:lnTo>
                    <a:pt x="13" y="0"/>
                  </a:lnTo>
                  <a:lnTo>
                    <a:pt x="11" y="0"/>
                  </a:lnTo>
                  <a:lnTo>
                    <a:pt x="11" y="4"/>
                  </a:lnTo>
                  <a:lnTo>
                    <a:pt x="9" y="4"/>
                  </a:lnTo>
                  <a:lnTo>
                    <a:pt x="9" y="4"/>
                  </a:lnTo>
                  <a:lnTo>
                    <a:pt x="7" y="4"/>
                  </a:lnTo>
                  <a:lnTo>
                    <a:pt x="3" y="4"/>
                  </a:lnTo>
                  <a:lnTo>
                    <a:pt x="2" y="6"/>
                  </a:lnTo>
                  <a:lnTo>
                    <a:pt x="0" y="6"/>
                  </a:lnTo>
                  <a:lnTo>
                    <a:pt x="0" y="8"/>
                  </a:lnTo>
                  <a:lnTo>
                    <a:pt x="0" y="8"/>
                  </a:lnTo>
                  <a:lnTo>
                    <a:pt x="2" y="11"/>
                  </a:lnTo>
                  <a:lnTo>
                    <a:pt x="2" y="13"/>
                  </a:lnTo>
                  <a:lnTo>
                    <a:pt x="3" y="15"/>
                  </a:lnTo>
                  <a:lnTo>
                    <a:pt x="3" y="15"/>
                  </a:lnTo>
                  <a:lnTo>
                    <a:pt x="3" y="15"/>
                  </a:lnTo>
                  <a:lnTo>
                    <a:pt x="7" y="13"/>
                  </a:lnTo>
                  <a:lnTo>
                    <a:pt x="9" y="13"/>
                  </a:lnTo>
                  <a:lnTo>
                    <a:pt x="9" y="11"/>
                  </a:lnTo>
                  <a:lnTo>
                    <a:pt x="11" y="11"/>
                  </a:lnTo>
                  <a:lnTo>
                    <a:pt x="15" y="11"/>
                  </a:lnTo>
                  <a:lnTo>
                    <a:pt x="15" y="11"/>
                  </a:lnTo>
                  <a:lnTo>
                    <a:pt x="9" y="13"/>
                  </a:lnTo>
                  <a:lnTo>
                    <a:pt x="7" y="15"/>
                  </a:lnTo>
                  <a:lnTo>
                    <a:pt x="5" y="15"/>
                  </a:lnTo>
                  <a:lnTo>
                    <a:pt x="5" y="17"/>
                  </a:lnTo>
                  <a:lnTo>
                    <a:pt x="5" y="17"/>
                  </a:lnTo>
                  <a:lnTo>
                    <a:pt x="5" y="17"/>
                  </a:lnTo>
                  <a:lnTo>
                    <a:pt x="5" y="19"/>
                  </a:lnTo>
                  <a:lnTo>
                    <a:pt x="5" y="21"/>
                  </a:lnTo>
                  <a:lnTo>
                    <a:pt x="5" y="21"/>
                  </a:lnTo>
                  <a:lnTo>
                    <a:pt x="7" y="23"/>
                  </a:lnTo>
                  <a:lnTo>
                    <a:pt x="5" y="27"/>
                  </a:lnTo>
                  <a:lnTo>
                    <a:pt x="7" y="27"/>
                  </a:lnTo>
                  <a:lnTo>
                    <a:pt x="9" y="29"/>
                  </a:lnTo>
                  <a:lnTo>
                    <a:pt x="11" y="27"/>
                  </a:lnTo>
                  <a:lnTo>
                    <a:pt x="17" y="23"/>
                  </a:lnTo>
                  <a:lnTo>
                    <a:pt x="17" y="25"/>
                  </a:lnTo>
                  <a:lnTo>
                    <a:pt x="17" y="25"/>
                  </a:lnTo>
                  <a:lnTo>
                    <a:pt x="17" y="25"/>
                  </a:lnTo>
                  <a:lnTo>
                    <a:pt x="17" y="25"/>
                  </a:lnTo>
                  <a:lnTo>
                    <a:pt x="17" y="27"/>
                  </a:lnTo>
                  <a:lnTo>
                    <a:pt x="13" y="27"/>
                  </a:lnTo>
                  <a:lnTo>
                    <a:pt x="13" y="27"/>
                  </a:lnTo>
                  <a:lnTo>
                    <a:pt x="11" y="29"/>
                  </a:lnTo>
                  <a:lnTo>
                    <a:pt x="11" y="29"/>
                  </a:lnTo>
                  <a:lnTo>
                    <a:pt x="9" y="31"/>
                  </a:lnTo>
                  <a:lnTo>
                    <a:pt x="11" y="32"/>
                  </a:lnTo>
                  <a:lnTo>
                    <a:pt x="11" y="32"/>
                  </a:lnTo>
                  <a:lnTo>
                    <a:pt x="15" y="32"/>
                  </a:lnTo>
                  <a:lnTo>
                    <a:pt x="15" y="32"/>
                  </a:lnTo>
                  <a:lnTo>
                    <a:pt x="15" y="32"/>
                  </a:lnTo>
                  <a:lnTo>
                    <a:pt x="17" y="32"/>
                  </a:lnTo>
                  <a:lnTo>
                    <a:pt x="17" y="32"/>
                  </a:lnTo>
                  <a:lnTo>
                    <a:pt x="19" y="32"/>
                  </a:lnTo>
                  <a:lnTo>
                    <a:pt x="19" y="32"/>
                  </a:lnTo>
                  <a:lnTo>
                    <a:pt x="22" y="34"/>
                  </a:lnTo>
                  <a:lnTo>
                    <a:pt x="22" y="36"/>
                  </a:lnTo>
                  <a:lnTo>
                    <a:pt x="24" y="38"/>
                  </a:lnTo>
                  <a:lnTo>
                    <a:pt x="26" y="40"/>
                  </a:lnTo>
                  <a:lnTo>
                    <a:pt x="26" y="40"/>
                  </a:lnTo>
                  <a:lnTo>
                    <a:pt x="26" y="40"/>
                  </a:lnTo>
                  <a:lnTo>
                    <a:pt x="24" y="40"/>
                  </a:lnTo>
                  <a:lnTo>
                    <a:pt x="24" y="40"/>
                  </a:lnTo>
                  <a:lnTo>
                    <a:pt x="24" y="38"/>
                  </a:lnTo>
                  <a:lnTo>
                    <a:pt x="22" y="36"/>
                  </a:lnTo>
                  <a:lnTo>
                    <a:pt x="21" y="36"/>
                  </a:lnTo>
                  <a:lnTo>
                    <a:pt x="19" y="36"/>
                  </a:lnTo>
                  <a:lnTo>
                    <a:pt x="17" y="36"/>
                  </a:lnTo>
                  <a:lnTo>
                    <a:pt x="17" y="36"/>
                  </a:lnTo>
                  <a:lnTo>
                    <a:pt x="15" y="36"/>
                  </a:lnTo>
                  <a:lnTo>
                    <a:pt x="15" y="36"/>
                  </a:lnTo>
                  <a:lnTo>
                    <a:pt x="9" y="36"/>
                  </a:lnTo>
                  <a:lnTo>
                    <a:pt x="11" y="38"/>
                  </a:lnTo>
                  <a:lnTo>
                    <a:pt x="13" y="40"/>
                  </a:lnTo>
                  <a:lnTo>
                    <a:pt x="15" y="40"/>
                  </a:lnTo>
                  <a:lnTo>
                    <a:pt x="17" y="40"/>
                  </a:lnTo>
                  <a:lnTo>
                    <a:pt x="19" y="40"/>
                  </a:lnTo>
                  <a:lnTo>
                    <a:pt x="19" y="42"/>
                  </a:lnTo>
                  <a:lnTo>
                    <a:pt x="24" y="59"/>
                  </a:lnTo>
                  <a:lnTo>
                    <a:pt x="24" y="59"/>
                  </a:lnTo>
                  <a:lnTo>
                    <a:pt x="26" y="61"/>
                  </a:lnTo>
                  <a:lnTo>
                    <a:pt x="24" y="61"/>
                  </a:lnTo>
                  <a:lnTo>
                    <a:pt x="22" y="63"/>
                  </a:lnTo>
                  <a:lnTo>
                    <a:pt x="22" y="63"/>
                  </a:lnTo>
                  <a:lnTo>
                    <a:pt x="22" y="65"/>
                  </a:lnTo>
                  <a:lnTo>
                    <a:pt x="21" y="67"/>
                  </a:lnTo>
                  <a:lnTo>
                    <a:pt x="26" y="69"/>
                  </a:lnTo>
                  <a:lnTo>
                    <a:pt x="26" y="69"/>
                  </a:lnTo>
                  <a:lnTo>
                    <a:pt x="28" y="74"/>
                  </a:lnTo>
                  <a:lnTo>
                    <a:pt x="30" y="74"/>
                  </a:lnTo>
                  <a:lnTo>
                    <a:pt x="30" y="74"/>
                  </a:lnTo>
                  <a:lnTo>
                    <a:pt x="32" y="76"/>
                  </a:lnTo>
                  <a:lnTo>
                    <a:pt x="32" y="76"/>
                  </a:lnTo>
                  <a:lnTo>
                    <a:pt x="32" y="80"/>
                  </a:lnTo>
                  <a:lnTo>
                    <a:pt x="32" y="82"/>
                  </a:lnTo>
                  <a:lnTo>
                    <a:pt x="32" y="82"/>
                  </a:lnTo>
                  <a:lnTo>
                    <a:pt x="36" y="84"/>
                  </a:lnTo>
                  <a:lnTo>
                    <a:pt x="36" y="86"/>
                  </a:lnTo>
                  <a:lnTo>
                    <a:pt x="38" y="86"/>
                  </a:lnTo>
                  <a:lnTo>
                    <a:pt x="40" y="84"/>
                  </a:lnTo>
                  <a:lnTo>
                    <a:pt x="43" y="82"/>
                  </a:lnTo>
                  <a:lnTo>
                    <a:pt x="43" y="82"/>
                  </a:lnTo>
                  <a:lnTo>
                    <a:pt x="43" y="82"/>
                  </a:lnTo>
                  <a:lnTo>
                    <a:pt x="45" y="82"/>
                  </a:lnTo>
                  <a:lnTo>
                    <a:pt x="47" y="82"/>
                  </a:lnTo>
                  <a:lnTo>
                    <a:pt x="49" y="82"/>
                  </a:lnTo>
                  <a:lnTo>
                    <a:pt x="49" y="80"/>
                  </a:lnTo>
                  <a:lnTo>
                    <a:pt x="51" y="78"/>
                  </a:lnTo>
                  <a:lnTo>
                    <a:pt x="51" y="78"/>
                  </a:lnTo>
                  <a:lnTo>
                    <a:pt x="51" y="78"/>
                  </a:lnTo>
                  <a:lnTo>
                    <a:pt x="51" y="76"/>
                  </a:lnTo>
                  <a:lnTo>
                    <a:pt x="53" y="74"/>
                  </a:lnTo>
                  <a:lnTo>
                    <a:pt x="53" y="74"/>
                  </a:lnTo>
                  <a:lnTo>
                    <a:pt x="53" y="72"/>
                  </a:lnTo>
                  <a:lnTo>
                    <a:pt x="53" y="72"/>
                  </a:lnTo>
                  <a:lnTo>
                    <a:pt x="53" y="70"/>
                  </a:lnTo>
                  <a:lnTo>
                    <a:pt x="53" y="70"/>
                  </a:lnTo>
                  <a:lnTo>
                    <a:pt x="53" y="67"/>
                  </a:lnTo>
                  <a:lnTo>
                    <a:pt x="53" y="67"/>
                  </a:lnTo>
                  <a:lnTo>
                    <a:pt x="53" y="65"/>
                  </a:lnTo>
                  <a:lnTo>
                    <a:pt x="53" y="65"/>
                  </a:lnTo>
                  <a:lnTo>
                    <a:pt x="53" y="63"/>
                  </a:lnTo>
                  <a:lnTo>
                    <a:pt x="55" y="59"/>
                  </a:lnTo>
                  <a:lnTo>
                    <a:pt x="57" y="57"/>
                  </a:lnTo>
                  <a:lnTo>
                    <a:pt x="57" y="57"/>
                  </a:lnTo>
                  <a:lnTo>
                    <a:pt x="55" y="55"/>
                  </a:lnTo>
                  <a:lnTo>
                    <a:pt x="55" y="55"/>
                  </a:lnTo>
                  <a:lnTo>
                    <a:pt x="55" y="55"/>
                  </a:lnTo>
                  <a:lnTo>
                    <a:pt x="55" y="55"/>
                  </a:lnTo>
                  <a:lnTo>
                    <a:pt x="51" y="53"/>
                  </a:lnTo>
                  <a:lnTo>
                    <a:pt x="51" y="53"/>
                  </a:lnTo>
                  <a:lnTo>
                    <a:pt x="51" y="51"/>
                  </a:lnTo>
                  <a:lnTo>
                    <a:pt x="51" y="51"/>
                  </a:lnTo>
                  <a:lnTo>
                    <a:pt x="51" y="51"/>
                  </a:lnTo>
                  <a:lnTo>
                    <a:pt x="51" y="50"/>
                  </a:lnTo>
                  <a:lnTo>
                    <a:pt x="53" y="50"/>
                  </a:lnTo>
                  <a:lnTo>
                    <a:pt x="55" y="50"/>
                  </a:lnTo>
                  <a:lnTo>
                    <a:pt x="55" y="50"/>
                  </a:lnTo>
                  <a:lnTo>
                    <a:pt x="57" y="50"/>
                  </a:lnTo>
                  <a:lnTo>
                    <a:pt x="57" y="48"/>
                  </a:lnTo>
                  <a:lnTo>
                    <a:pt x="57" y="48"/>
                  </a:lnTo>
                  <a:lnTo>
                    <a:pt x="57" y="44"/>
                  </a:lnTo>
                  <a:close/>
                </a:path>
              </a:pathLst>
            </a:custGeom>
            <a:solidFill>
              <a:srgbClr val="F2F2F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10" name="Freeform 60">
              <a:extLst>
                <a:ext uri="{FF2B5EF4-FFF2-40B4-BE49-F238E27FC236}">
                  <a16:creationId xmlns:a16="http://schemas.microsoft.com/office/drawing/2014/main" id="{5B1E2C81-BEBA-48EE-47BE-3A85C09E0212}"/>
                </a:ext>
              </a:extLst>
            </p:cNvPr>
            <p:cNvSpPr>
              <a:spLocks noEditPoints="1"/>
            </p:cNvSpPr>
            <p:nvPr/>
          </p:nvSpPr>
          <p:spPr bwMode="auto">
            <a:xfrm>
              <a:off x="1502289" y="4079602"/>
              <a:ext cx="330143" cy="60894"/>
            </a:xfrm>
            <a:custGeom>
              <a:avLst/>
              <a:gdLst>
                <a:gd name="T0" fmla="*/ 175 w 175"/>
                <a:gd name="T1" fmla="*/ 28 h 36"/>
                <a:gd name="T2" fmla="*/ 173 w 175"/>
                <a:gd name="T3" fmla="*/ 27 h 36"/>
                <a:gd name="T4" fmla="*/ 173 w 175"/>
                <a:gd name="T5" fmla="*/ 27 h 36"/>
                <a:gd name="T6" fmla="*/ 171 w 175"/>
                <a:gd name="T7" fmla="*/ 27 h 36"/>
                <a:gd name="T8" fmla="*/ 171 w 175"/>
                <a:gd name="T9" fmla="*/ 30 h 36"/>
                <a:gd name="T10" fmla="*/ 170 w 175"/>
                <a:gd name="T11" fmla="*/ 32 h 36"/>
                <a:gd name="T12" fmla="*/ 170 w 175"/>
                <a:gd name="T13" fmla="*/ 34 h 36"/>
                <a:gd name="T14" fmla="*/ 170 w 175"/>
                <a:gd name="T15" fmla="*/ 36 h 36"/>
                <a:gd name="T16" fmla="*/ 170 w 175"/>
                <a:gd name="T17" fmla="*/ 36 h 36"/>
                <a:gd name="T18" fmla="*/ 171 w 175"/>
                <a:gd name="T19" fmla="*/ 36 h 36"/>
                <a:gd name="T20" fmla="*/ 173 w 175"/>
                <a:gd name="T21" fmla="*/ 36 h 36"/>
                <a:gd name="T22" fmla="*/ 175 w 175"/>
                <a:gd name="T23" fmla="*/ 34 h 36"/>
                <a:gd name="T24" fmla="*/ 175 w 175"/>
                <a:gd name="T25" fmla="*/ 32 h 36"/>
                <a:gd name="T26" fmla="*/ 175 w 175"/>
                <a:gd name="T27" fmla="*/ 28 h 36"/>
                <a:gd name="T28" fmla="*/ 2 w 175"/>
                <a:gd name="T29" fmla="*/ 0 h 36"/>
                <a:gd name="T30" fmla="*/ 0 w 175"/>
                <a:gd name="T31" fmla="*/ 0 h 36"/>
                <a:gd name="T32" fmla="*/ 0 w 175"/>
                <a:gd name="T33" fmla="*/ 0 h 36"/>
                <a:gd name="T34" fmla="*/ 0 w 175"/>
                <a:gd name="T35" fmla="*/ 2 h 36"/>
                <a:gd name="T36" fmla="*/ 0 w 175"/>
                <a:gd name="T37" fmla="*/ 2 h 36"/>
                <a:gd name="T38" fmla="*/ 0 w 175"/>
                <a:gd name="T39" fmla="*/ 4 h 36"/>
                <a:gd name="T40" fmla="*/ 0 w 175"/>
                <a:gd name="T41" fmla="*/ 2 h 36"/>
                <a:gd name="T42" fmla="*/ 2 w 175"/>
                <a:gd name="T43" fmla="*/ 2 h 36"/>
                <a:gd name="T44" fmla="*/ 2 w 175"/>
                <a:gd name="T45" fmla="*/ 0 h 36"/>
                <a:gd name="T46" fmla="*/ 2 w 175"/>
                <a:gd name="T47" fmla="*/ 0 h 36"/>
                <a:gd name="T48" fmla="*/ 2 w 175"/>
                <a:gd name="T4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36">
                  <a:moveTo>
                    <a:pt x="175" y="28"/>
                  </a:moveTo>
                  <a:lnTo>
                    <a:pt x="173" y="27"/>
                  </a:lnTo>
                  <a:lnTo>
                    <a:pt x="173" y="27"/>
                  </a:lnTo>
                  <a:lnTo>
                    <a:pt x="171" y="27"/>
                  </a:lnTo>
                  <a:lnTo>
                    <a:pt x="171" y="30"/>
                  </a:lnTo>
                  <a:lnTo>
                    <a:pt x="170" y="32"/>
                  </a:lnTo>
                  <a:lnTo>
                    <a:pt x="170" y="34"/>
                  </a:lnTo>
                  <a:lnTo>
                    <a:pt x="170" y="36"/>
                  </a:lnTo>
                  <a:lnTo>
                    <a:pt x="170" y="36"/>
                  </a:lnTo>
                  <a:lnTo>
                    <a:pt x="171" y="36"/>
                  </a:lnTo>
                  <a:lnTo>
                    <a:pt x="173" y="36"/>
                  </a:lnTo>
                  <a:lnTo>
                    <a:pt x="175" y="34"/>
                  </a:lnTo>
                  <a:lnTo>
                    <a:pt x="175" y="32"/>
                  </a:lnTo>
                  <a:lnTo>
                    <a:pt x="175" y="28"/>
                  </a:lnTo>
                  <a:close/>
                  <a:moveTo>
                    <a:pt x="2" y="0"/>
                  </a:moveTo>
                  <a:lnTo>
                    <a:pt x="0" y="0"/>
                  </a:lnTo>
                  <a:lnTo>
                    <a:pt x="0" y="0"/>
                  </a:lnTo>
                  <a:lnTo>
                    <a:pt x="0" y="2"/>
                  </a:lnTo>
                  <a:lnTo>
                    <a:pt x="0" y="2"/>
                  </a:lnTo>
                  <a:lnTo>
                    <a:pt x="0" y="4"/>
                  </a:lnTo>
                  <a:lnTo>
                    <a:pt x="0" y="2"/>
                  </a:lnTo>
                  <a:lnTo>
                    <a:pt x="2" y="2"/>
                  </a:lnTo>
                  <a:lnTo>
                    <a:pt x="2" y="0"/>
                  </a:lnTo>
                  <a:lnTo>
                    <a:pt x="2" y="0"/>
                  </a:lnTo>
                  <a:lnTo>
                    <a:pt x="2" y="0"/>
                  </a:lnTo>
                  <a:close/>
                </a:path>
              </a:pathLst>
            </a:custGeom>
            <a:solidFill>
              <a:srgbClr val="FFE3CA"/>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11" name="Freeform 61">
              <a:extLst>
                <a:ext uri="{FF2B5EF4-FFF2-40B4-BE49-F238E27FC236}">
                  <a16:creationId xmlns:a16="http://schemas.microsoft.com/office/drawing/2014/main" id="{4D5B07F8-4BD6-468A-26E1-46202C0F247C}"/>
                </a:ext>
              </a:extLst>
            </p:cNvPr>
            <p:cNvSpPr>
              <a:spLocks noEditPoints="1"/>
            </p:cNvSpPr>
            <p:nvPr/>
          </p:nvSpPr>
          <p:spPr bwMode="auto">
            <a:xfrm>
              <a:off x="1502289" y="4079602"/>
              <a:ext cx="330143" cy="60894"/>
            </a:xfrm>
            <a:custGeom>
              <a:avLst/>
              <a:gdLst>
                <a:gd name="T0" fmla="*/ 175 w 175"/>
                <a:gd name="T1" fmla="*/ 28 h 36"/>
                <a:gd name="T2" fmla="*/ 173 w 175"/>
                <a:gd name="T3" fmla="*/ 27 h 36"/>
                <a:gd name="T4" fmla="*/ 173 w 175"/>
                <a:gd name="T5" fmla="*/ 27 h 36"/>
                <a:gd name="T6" fmla="*/ 171 w 175"/>
                <a:gd name="T7" fmla="*/ 27 h 36"/>
                <a:gd name="T8" fmla="*/ 171 w 175"/>
                <a:gd name="T9" fmla="*/ 30 h 36"/>
                <a:gd name="T10" fmla="*/ 170 w 175"/>
                <a:gd name="T11" fmla="*/ 32 h 36"/>
                <a:gd name="T12" fmla="*/ 170 w 175"/>
                <a:gd name="T13" fmla="*/ 34 h 36"/>
                <a:gd name="T14" fmla="*/ 170 w 175"/>
                <a:gd name="T15" fmla="*/ 36 h 36"/>
                <a:gd name="T16" fmla="*/ 170 w 175"/>
                <a:gd name="T17" fmla="*/ 36 h 36"/>
                <a:gd name="T18" fmla="*/ 171 w 175"/>
                <a:gd name="T19" fmla="*/ 36 h 36"/>
                <a:gd name="T20" fmla="*/ 173 w 175"/>
                <a:gd name="T21" fmla="*/ 36 h 36"/>
                <a:gd name="T22" fmla="*/ 175 w 175"/>
                <a:gd name="T23" fmla="*/ 34 h 36"/>
                <a:gd name="T24" fmla="*/ 175 w 175"/>
                <a:gd name="T25" fmla="*/ 32 h 36"/>
                <a:gd name="T26" fmla="*/ 175 w 175"/>
                <a:gd name="T27" fmla="*/ 28 h 36"/>
                <a:gd name="T28" fmla="*/ 2 w 175"/>
                <a:gd name="T29" fmla="*/ 0 h 36"/>
                <a:gd name="T30" fmla="*/ 0 w 175"/>
                <a:gd name="T31" fmla="*/ 0 h 36"/>
                <a:gd name="T32" fmla="*/ 0 w 175"/>
                <a:gd name="T33" fmla="*/ 0 h 36"/>
                <a:gd name="T34" fmla="*/ 0 w 175"/>
                <a:gd name="T35" fmla="*/ 2 h 36"/>
                <a:gd name="T36" fmla="*/ 0 w 175"/>
                <a:gd name="T37" fmla="*/ 2 h 36"/>
                <a:gd name="T38" fmla="*/ 0 w 175"/>
                <a:gd name="T39" fmla="*/ 4 h 36"/>
                <a:gd name="T40" fmla="*/ 0 w 175"/>
                <a:gd name="T41" fmla="*/ 2 h 36"/>
                <a:gd name="T42" fmla="*/ 2 w 175"/>
                <a:gd name="T43" fmla="*/ 2 h 36"/>
                <a:gd name="T44" fmla="*/ 2 w 175"/>
                <a:gd name="T45" fmla="*/ 0 h 36"/>
                <a:gd name="T46" fmla="*/ 2 w 175"/>
                <a:gd name="T47" fmla="*/ 0 h 36"/>
                <a:gd name="T48" fmla="*/ 2 w 175"/>
                <a:gd name="T4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36">
                  <a:moveTo>
                    <a:pt x="175" y="28"/>
                  </a:moveTo>
                  <a:lnTo>
                    <a:pt x="173" y="27"/>
                  </a:lnTo>
                  <a:lnTo>
                    <a:pt x="173" y="27"/>
                  </a:lnTo>
                  <a:lnTo>
                    <a:pt x="171" y="27"/>
                  </a:lnTo>
                  <a:lnTo>
                    <a:pt x="171" y="30"/>
                  </a:lnTo>
                  <a:lnTo>
                    <a:pt x="170" y="32"/>
                  </a:lnTo>
                  <a:lnTo>
                    <a:pt x="170" y="34"/>
                  </a:lnTo>
                  <a:lnTo>
                    <a:pt x="170" y="36"/>
                  </a:lnTo>
                  <a:lnTo>
                    <a:pt x="170" y="36"/>
                  </a:lnTo>
                  <a:lnTo>
                    <a:pt x="171" y="36"/>
                  </a:lnTo>
                  <a:lnTo>
                    <a:pt x="173" y="36"/>
                  </a:lnTo>
                  <a:lnTo>
                    <a:pt x="175" y="34"/>
                  </a:lnTo>
                  <a:lnTo>
                    <a:pt x="175" y="32"/>
                  </a:lnTo>
                  <a:lnTo>
                    <a:pt x="175" y="28"/>
                  </a:lnTo>
                  <a:close/>
                  <a:moveTo>
                    <a:pt x="2" y="0"/>
                  </a:moveTo>
                  <a:lnTo>
                    <a:pt x="0" y="0"/>
                  </a:lnTo>
                  <a:lnTo>
                    <a:pt x="0" y="0"/>
                  </a:lnTo>
                  <a:lnTo>
                    <a:pt x="0" y="2"/>
                  </a:lnTo>
                  <a:lnTo>
                    <a:pt x="0" y="2"/>
                  </a:lnTo>
                  <a:lnTo>
                    <a:pt x="0" y="4"/>
                  </a:lnTo>
                  <a:lnTo>
                    <a:pt x="0" y="2"/>
                  </a:lnTo>
                  <a:lnTo>
                    <a:pt x="2" y="2"/>
                  </a:lnTo>
                  <a:lnTo>
                    <a:pt x="2" y="0"/>
                  </a:lnTo>
                  <a:lnTo>
                    <a:pt x="2" y="0"/>
                  </a:lnTo>
                  <a:lnTo>
                    <a:pt x="2" y="0"/>
                  </a:lnTo>
                  <a:close/>
                </a:path>
              </a:pathLst>
            </a:custGeom>
            <a:noFill/>
            <a:ln w="317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12" name="Freeform 62">
              <a:extLst>
                <a:ext uri="{FF2B5EF4-FFF2-40B4-BE49-F238E27FC236}">
                  <a16:creationId xmlns:a16="http://schemas.microsoft.com/office/drawing/2014/main" id="{6E44E8BC-C29B-D9B8-B4B3-045FBAF5C8F9}"/>
                </a:ext>
              </a:extLst>
            </p:cNvPr>
            <p:cNvSpPr>
              <a:spLocks/>
            </p:cNvSpPr>
            <p:nvPr/>
          </p:nvSpPr>
          <p:spPr bwMode="auto">
            <a:xfrm>
              <a:off x="1836205" y="4147263"/>
              <a:ext cx="47164" cy="50746"/>
            </a:xfrm>
            <a:custGeom>
              <a:avLst/>
              <a:gdLst>
                <a:gd name="T0" fmla="*/ 25 w 25"/>
                <a:gd name="T1" fmla="*/ 15 h 30"/>
                <a:gd name="T2" fmla="*/ 21 w 25"/>
                <a:gd name="T3" fmla="*/ 15 h 30"/>
                <a:gd name="T4" fmla="*/ 19 w 25"/>
                <a:gd name="T5" fmla="*/ 15 h 30"/>
                <a:gd name="T6" fmla="*/ 19 w 25"/>
                <a:gd name="T7" fmla="*/ 17 h 30"/>
                <a:gd name="T8" fmla="*/ 19 w 25"/>
                <a:gd name="T9" fmla="*/ 19 h 30"/>
                <a:gd name="T10" fmla="*/ 17 w 25"/>
                <a:gd name="T11" fmla="*/ 19 h 30"/>
                <a:gd name="T12" fmla="*/ 15 w 25"/>
                <a:gd name="T13" fmla="*/ 19 h 30"/>
                <a:gd name="T14" fmla="*/ 14 w 25"/>
                <a:gd name="T15" fmla="*/ 17 h 30"/>
                <a:gd name="T16" fmla="*/ 14 w 25"/>
                <a:gd name="T17" fmla="*/ 13 h 30"/>
                <a:gd name="T18" fmla="*/ 14 w 25"/>
                <a:gd name="T19" fmla="*/ 11 h 30"/>
                <a:gd name="T20" fmla="*/ 14 w 25"/>
                <a:gd name="T21" fmla="*/ 11 h 30"/>
                <a:gd name="T22" fmla="*/ 19 w 25"/>
                <a:gd name="T23" fmla="*/ 7 h 30"/>
                <a:gd name="T24" fmla="*/ 21 w 25"/>
                <a:gd name="T25" fmla="*/ 6 h 30"/>
                <a:gd name="T26" fmla="*/ 21 w 25"/>
                <a:gd name="T27" fmla="*/ 6 h 30"/>
                <a:gd name="T28" fmla="*/ 19 w 25"/>
                <a:gd name="T29" fmla="*/ 4 h 30"/>
                <a:gd name="T30" fmla="*/ 17 w 25"/>
                <a:gd name="T31" fmla="*/ 4 h 30"/>
                <a:gd name="T32" fmla="*/ 17 w 25"/>
                <a:gd name="T33" fmla="*/ 4 h 30"/>
                <a:gd name="T34" fmla="*/ 15 w 25"/>
                <a:gd name="T35" fmla="*/ 2 h 30"/>
                <a:gd name="T36" fmla="*/ 17 w 25"/>
                <a:gd name="T37" fmla="*/ 0 h 30"/>
                <a:gd name="T38" fmla="*/ 15 w 25"/>
                <a:gd name="T39" fmla="*/ 0 h 30"/>
                <a:gd name="T40" fmla="*/ 14 w 25"/>
                <a:gd name="T41" fmla="*/ 0 h 30"/>
                <a:gd name="T42" fmla="*/ 10 w 25"/>
                <a:gd name="T43" fmla="*/ 4 h 30"/>
                <a:gd name="T44" fmla="*/ 8 w 25"/>
                <a:gd name="T45" fmla="*/ 4 h 30"/>
                <a:gd name="T46" fmla="*/ 6 w 25"/>
                <a:gd name="T47" fmla="*/ 4 h 30"/>
                <a:gd name="T48" fmla="*/ 6 w 25"/>
                <a:gd name="T49" fmla="*/ 4 h 30"/>
                <a:gd name="T50" fmla="*/ 4 w 25"/>
                <a:gd name="T51" fmla="*/ 7 h 30"/>
                <a:gd name="T52" fmla="*/ 2 w 25"/>
                <a:gd name="T53" fmla="*/ 7 h 30"/>
                <a:gd name="T54" fmla="*/ 0 w 25"/>
                <a:gd name="T55" fmla="*/ 7 h 30"/>
                <a:gd name="T56" fmla="*/ 0 w 25"/>
                <a:gd name="T57" fmla="*/ 7 h 30"/>
                <a:gd name="T58" fmla="*/ 0 w 25"/>
                <a:gd name="T59" fmla="*/ 9 h 30"/>
                <a:gd name="T60" fmla="*/ 0 w 25"/>
                <a:gd name="T61" fmla="*/ 9 h 30"/>
                <a:gd name="T62" fmla="*/ 0 w 25"/>
                <a:gd name="T63" fmla="*/ 11 h 30"/>
                <a:gd name="T64" fmla="*/ 4 w 25"/>
                <a:gd name="T65" fmla="*/ 13 h 30"/>
                <a:gd name="T66" fmla="*/ 4 w 25"/>
                <a:gd name="T67" fmla="*/ 15 h 30"/>
                <a:gd name="T68" fmla="*/ 4 w 25"/>
                <a:gd name="T69" fmla="*/ 19 h 30"/>
                <a:gd name="T70" fmla="*/ 6 w 25"/>
                <a:gd name="T71" fmla="*/ 25 h 30"/>
                <a:gd name="T72" fmla="*/ 8 w 25"/>
                <a:gd name="T73" fmla="*/ 28 h 30"/>
                <a:gd name="T74" fmla="*/ 10 w 25"/>
                <a:gd name="T75" fmla="*/ 28 h 30"/>
                <a:gd name="T76" fmla="*/ 12 w 25"/>
                <a:gd name="T77" fmla="*/ 28 h 30"/>
                <a:gd name="T78" fmla="*/ 14 w 25"/>
                <a:gd name="T79" fmla="*/ 26 h 30"/>
                <a:gd name="T80" fmla="*/ 14 w 25"/>
                <a:gd name="T81" fmla="*/ 28 h 30"/>
                <a:gd name="T82" fmla="*/ 15 w 25"/>
                <a:gd name="T83" fmla="*/ 28 h 30"/>
                <a:gd name="T84" fmla="*/ 15 w 25"/>
                <a:gd name="T85" fmla="*/ 28 h 30"/>
                <a:gd name="T86" fmla="*/ 17 w 25"/>
                <a:gd name="T87" fmla="*/ 26 h 30"/>
                <a:gd name="T88" fmla="*/ 19 w 25"/>
                <a:gd name="T89" fmla="*/ 26 h 30"/>
                <a:gd name="T90" fmla="*/ 21 w 25"/>
                <a:gd name="T91" fmla="*/ 28 h 30"/>
                <a:gd name="T92" fmla="*/ 23 w 25"/>
                <a:gd name="T93" fmla="*/ 30 h 30"/>
                <a:gd name="T94" fmla="*/ 23 w 25"/>
                <a:gd name="T95" fmla="*/ 28 h 30"/>
                <a:gd name="T96" fmla="*/ 25 w 25"/>
                <a:gd name="T97" fmla="*/ 26 h 30"/>
                <a:gd name="T98" fmla="*/ 25 w 25"/>
                <a:gd name="T99"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 h="30">
                  <a:moveTo>
                    <a:pt x="25" y="17"/>
                  </a:moveTo>
                  <a:lnTo>
                    <a:pt x="25" y="15"/>
                  </a:lnTo>
                  <a:lnTo>
                    <a:pt x="23" y="15"/>
                  </a:lnTo>
                  <a:lnTo>
                    <a:pt x="21" y="15"/>
                  </a:lnTo>
                  <a:lnTo>
                    <a:pt x="19" y="15"/>
                  </a:lnTo>
                  <a:lnTo>
                    <a:pt x="19" y="15"/>
                  </a:lnTo>
                  <a:lnTo>
                    <a:pt x="19" y="15"/>
                  </a:lnTo>
                  <a:lnTo>
                    <a:pt x="19" y="17"/>
                  </a:lnTo>
                  <a:lnTo>
                    <a:pt x="19" y="17"/>
                  </a:lnTo>
                  <a:lnTo>
                    <a:pt x="19" y="19"/>
                  </a:lnTo>
                  <a:lnTo>
                    <a:pt x="19" y="19"/>
                  </a:lnTo>
                  <a:lnTo>
                    <a:pt x="17" y="19"/>
                  </a:lnTo>
                  <a:lnTo>
                    <a:pt x="15" y="19"/>
                  </a:lnTo>
                  <a:lnTo>
                    <a:pt x="15" y="19"/>
                  </a:lnTo>
                  <a:lnTo>
                    <a:pt x="14" y="17"/>
                  </a:lnTo>
                  <a:lnTo>
                    <a:pt x="14" y="17"/>
                  </a:lnTo>
                  <a:lnTo>
                    <a:pt x="14" y="13"/>
                  </a:lnTo>
                  <a:lnTo>
                    <a:pt x="14" y="13"/>
                  </a:lnTo>
                  <a:lnTo>
                    <a:pt x="14" y="13"/>
                  </a:lnTo>
                  <a:lnTo>
                    <a:pt x="14" y="11"/>
                  </a:lnTo>
                  <a:lnTo>
                    <a:pt x="14" y="11"/>
                  </a:lnTo>
                  <a:lnTo>
                    <a:pt x="14" y="11"/>
                  </a:lnTo>
                  <a:lnTo>
                    <a:pt x="14" y="11"/>
                  </a:lnTo>
                  <a:lnTo>
                    <a:pt x="19" y="7"/>
                  </a:lnTo>
                  <a:lnTo>
                    <a:pt x="21" y="7"/>
                  </a:lnTo>
                  <a:lnTo>
                    <a:pt x="21" y="6"/>
                  </a:lnTo>
                  <a:lnTo>
                    <a:pt x="21" y="6"/>
                  </a:lnTo>
                  <a:lnTo>
                    <a:pt x="21" y="6"/>
                  </a:lnTo>
                  <a:lnTo>
                    <a:pt x="21" y="4"/>
                  </a:lnTo>
                  <a:lnTo>
                    <a:pt x="19" y="4"/>
                  </a:lnTo>
                  <a:lnTo>
                    <a:pt x="19" y="4"/>
                  </a:lnTo>
                  <a:lnTo>
                    <a:pt x="17" y="4"/>
                  </a:lnTo>
                  <a:lnTo>
                    <a:pt x="17" y="4"/>
                  </a:lnTo>
                  <a:lnTo>
                    <a:pt x="17" y="4"/>
                  </a:lnTo>
                  <a:lnTo>
                    <a:pt x="15" y="4"/>
                  </a:lnTo>
                  <a:lnTo>
                    <a:pt x="15" y="2"/>
                  </a:lnTo>
                  <a:lnTo>
                    <a:pt x="17" y="2"/>
                  </a:lnTo>
                  <a:lnTo>
                    <a:pt x="17" y="0"/>
                  </a:lnTo>
                  <a:lnTo>
                    <a:pt x="15" y="0"/>
                  </a:lnTo>
                  <a:lnTo>
                    <a:pt x="15" y="0"/>
                  </a:lnTo>
                  <a:lnTo>
                    <a:pt x="15" y="0"/>
                  </a:lnTo>
                  <a:lnTo>
                    <a:pt x="14" y="0"/>
                  </a:lnTo>
                  <a:lnTo>
                    <a:pt x="12" y="2"/>
                  </a:lnTo>
                  <a:lnTo>
                    <a:pt x="10" y="4"/>
                  </a:lnTo>
                  <a:lnTo>
                    <a:pt x="10" y="4"/>
                  </a:lnTo>
                  <a:lnTo>
                    <a:pt x="8" y="4"/>
                  </a:lnTo>
                  <a:lnTo>
                    <a:pt x="8" y="4"/>
                  </a:lnTo>
                  <a:lnTo>
                    <a:pt x="6" y="4"/>
                  </a:lnTo>
                  <a:lnTo>
                    <a:pt x="6" y="4"/>
                  </a:lnTo>
                  <a:lnTo>
                    <a:pt x="6" y="4"/>
                  </a:lnTo>
                  <a:lnTo>
                    <a:pt x="4" y="7"/>
                  </a:lnTo>
                  <a:lnTo>
                    <a:pt x="4" y="7"/>
                  </a:lnTo>
                  <a:lnTo>
                    <a:pt x="4" y="7"/>
                  </a:lnTo>
                  <a:lnTo>
                    <a:pt x="2" y="7"/>
                  </a:lnTo>
                  <a:lnTo>
                    <a:pt x="2" y="7"/>
                  </a:lnTo>
                  <a:lnTo>
                    <a:pt x="0" y="7"/>
                  </a:lnTo>
                  <a:lnTo>
                    <a:pt x="0" y="7"/>
                  </a:lnTo>
                  <a:lnTo>
                    <a:pt x="0" y="7"/>
                  </a:lnTo>
                  <a:lnTo>
                    <a:pt x="0" y="9"/>
                  </a:lnTo>
                  <a:lnTo>
                    <a:pt x="0" y="9"/>
                  </a:lnTo>
                  <a:lnTo>
                    <a:pt x="0" y="9"/>
                  </a:lnTo>
                  <a:lnTo>
                    <a:pt x="0" y="9"/>
                  </a:lnTo>
                  <a:lnTo>
                    <a:pt x="0" y="11"/>
                  </a:lnTo>
                  <a:lnTo>
                    <a:pt x="0" y="11"/>
                  </a:lnTo>
                  <a:lnTo>
                    <a:pt x="2" y="13"/>
                  </a:lnTo>
                  <a:lnTo>
                    <a:pt x="4" y="13"/>
                  </a:lnTo>
                  <a:lnTo>
                    <a:pt x="4" y="13"/>
                  </a:lnTo>
                  <a:lnTo>
                    <a:pt x="4" y="15"/>
                  </a:lnTo>
                  <a:lnTo>
                    <a:pt x="4" y="15"/>
                  </a:lnTo>
                  <a:lnTo>
                    <a:pt x="4" y="19"/>
                  </a:lnTo>
                  <a:lnTo>
                    <a:pt x="4" y="21"/>
                  </a:lnTo>
                  <a:lnTo>
                    <a:pt x="6" y="25"/>
                  </a:lnTo>
                  <a:lnTo>
                    <a:pt x="8" y="26"/>
                  </a:lnTo>
                  <a:lnTo>
                    <a:pt x="8" y="28"/>
                  </a:lnTo>
                  <a:lnTo>
                    <a:pt x="10" y="28"/>
                  </a:lnTo>
                  <a:lnTo>
                    <a:pt x="10" y="28"/>
                  </a:lnTo>
                  <a:lnTo>
                    <a:pt x="10" y="28"/>
                  </a:lnTo>
                  <a:lnTo>
                    <a:pt x="12" y="28"/>
                  </a:lnTo>
                  <a:lnTo>
                    <a:pt x="12" y="26"/>
                  </a:lnTo>
                  <a:lnTo>
                    <a:pt x="14" y="26"/>
                  </a:lnTo>
                  <a:lnTo>
                    <a:pt x="14" y="26"/>
                  </a:lnTo>
                  <a:lnTo>
                    <a:pt x="14" y="28"/>
                  </a:lnTo>
                  <a:lnTo>
                    <a:pt x="15" y="28"/>
                  </a:lnTo>
                  <a:lnTo>
                    <a:pt x="15" y="28"/>
                  </a:lnTo>
                  <a:lnTo>
                    <a:pt x="15" y="28"/>
                  </a:lnTo>
                  <a:lnTo>
                    <a:pt x="15" y="28"/>
                  </a:lnTo>
                  <a:lnTo>
                    <a:pt x="17" y="26"/>
                  </a:lnTo>
                  <a:lnTo>
                    <a:pt x="17" y="26"/>
                  </a:lnTo>
                  <a:lnTo>
                    <a:pt x="19" y="26"/>
                  </a:lnTo>
                  <a:lnTo>
                    <a:pt x="19" y="26"/>
                  </a:lnTo>
                  <a:lnTo>
                    <a:pt x="21" y="28"/>
                  </a:lnTo>
                  <a:lnTo>
                    <a:pt x="21" y="28"/>
                  </a:lnTo>
                  <a:lnTo>
                    <a:pt x="23" y="30"/>
                  </a:lnTo>
                  <a:lnTo>
                    <a:pt x="23" y="30"/>
                  </a:lnTo>
                  <a:lnTo>
                    <a:pt x="23" y="30"/>
                  </a:lnTo>
                  <a:lnTo>
                    <a:pt x="23" y="28"/>
                  </a:lnTo>
                  <a:lnTo>
                    <a:pt x="25" y="28"/>
                  </a:lnTo>
                  <a:lnTo>
                    <a:pt x="25" y="26"/>
                  </a:lnTo>
                  <a:lnTo>
                    <a:pt x="25" y="25"/>
                  </a:lnTo>
                  <a:lnTo>
                    <a:pt x="25" y="21"/>
                  </a:lnTo>
                  <a:lnTo>
                    <a:pt x="25" y="17"/>
                  </a:lnTo>
                  <a:close/>
                </a:path>
              </a:pathLst>
            </a:custGeom>
            <a:solidFill>
              <a:srgbClr val="FCD4C7"/>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13" name="Freeform 63">
              <a:extLst>
                <a:ext uri="{FF2B5EF4-FFF2-40B4-BE49-F238E27FC236}">
                  <a16:creationId xmlns:a16="http://schemas.microsoft.com/office/drawing/2014/main" id="{33CC6157-D396-8704-5E92-00948A2AF497}"/>
                </a:ext>
              </a:extLst>
            </p:cNvPr>
            <p:cNvSpPr>
              <a:spLocks/>
            </p:cNvSpPr>
            <p:nvPr/>
          </p:nvSpPr>
          <p:spPr bwMode="auto">
            <a:xfrm>
              <a:off x="1836205" y="4147263"/>
              <a:ext cx="47164" cy="50746"/>
            </a:xfrm>
            <a:custGeom>
              <a:avLst/>
              <a:gdLst>
                <a:gd name="T0" fmla="*/ 25 w 25"/>
                <a:gd name="T1" fmla="*/ 15 h 30"/>
                <a:gd name="T2" fmla="*/ 21 w 25"/>
                <a:gd name="T3" fmla="*/ 15 h 30"/>
                <a:gd name="T4" fmla="*/ 19 w 25"/>
                <a:gd name="T5" fmla="*/ 15 h 30"/>
                <a:gd name="T6" fmla="*/ 19 w 25"/>
                <a:gd name="T7" fmla="*/ 17 h 30"/>
                <a:gd name="T8" fmla="*/ 19 w 25"/>
                <a:gd name="T9" fmla="*/ 19 h 30"/>
                <a:gd name="T10" fmla="*/ 17 w 25"/>
                <a:gd name="T11" fmla="*/ 19 h 30"/>
                <a:gd name="T12" fmla="*/ 15 w 25"/>
                <a:gd name="T13" fmla="*/ 19 h 30"/>
                <a:gd name="T14" fmla="*/ 14 w 25"/>
                <a:gd name="T15" fmla="*/ 17 h 30"/>
                <a:gd name="T16" fmla="*/ 14 w 25"/>
                <a:gd name="T17" fmla="*/ 13 h 30"/>
                <a:gd name="T18" fmla="*/ 14 w 25"/>
                <a:gd name="T19" fmla="*/ 11 h 30"/>
                <a:gd name="T20" fmla="*/ 14 w 25"/>
                <a:gd name="T21" fmla="*/ 11 h 30"/>
                <a:gd name="T22" fmla="*/ 19 w 25"/>
                <a:gd name="T23" fmla="*/ 7 h 30"/>
                <a:gd name="T24" fmla="*/ 21 w 25"/>
                <a:gd name="T25" fmla="*/ 6 h 30"/>
                <a:gd name="T26" fmla="*/ 21 w 25"/>
                <a:gd name="T27" fmla="*/ 6 h 30"/>
                <a:gd name="T28" fmla="*/ 19 w 25"/>
                <a:gd name="T29" fmla="*/ 4 h 30"/>
                <a:gd name="T30" fmla="*/ 17 w 25"/>
                <a:gd name="T31" fmla="*/ 4 h 30"/>
                <a:gd name="T32" fmla="*/ 17 w 25"/>
                <a:gd name="T33" fmla="*/ 4 h 30"/>
                <a:gd name="T34" fmla="*/ 15 w 25"/>
                <a:gd name="T35" fmla="*/ 2 h 30"/>
                <a:gd name="T36" fmla="*/ 17 w 25"/>
                <a:gd name="T37" fmla="*/ 0 h 30"/>
                <a:gd name="T38" fmla="*/ 15 w 25"/>
                <a:gd name="T39" fmla="*/ 0 h 30"/>
                <a:gd name="T40" fmla="*/ 14 w 25"/>
                <a:gd name="T41" fmla="*/ 0 h 30"/>
                <a:gd name="T42" fmla="*/ 10 w 25"/>
                <a:gd name="T43" fmla="*/ 4 h 30"/>
                <a:gd name="T44" fmla="*/ 8 w 25"/>
                <a:gd name="T45" fmla="*/ 4 h 30"/>
                <a:gd name="T46" fmla="*/ 6 w 25"/>
                <a:gd name="T47" fmla="*/ 4 h 30"/>
                <a:gd name="T48" fmla="*/ 6 w 25"/>
                <a:gd name="T49" fmla="*/ 4 h 30"/>
                <a:gd name="T50" fmla="*/ 4 w 25"/>
                <a:gd name="T51" fmla="*/ 7 h 30"/>
                <a:gd name="T52" fmla="*/ 2 w 25"/>
                <a:gd name="T53" fmla="*/ 7 h 30"/>
                <a:gd name="T54" fmla="*/ 0 w 25"/>
                <a:gd name="T55" fmla="*/ 7 h 30"/>
                <a:gd name="T56" fmla="*/ 0 w 25"/>
                <a:gd name="T57" fmla="*/ 7 h 30"/>
                <a:gd name="T58" fmla="*/ 0 w 25"/>
                <a:gd name="T59" fmla="*/ 9 h 30"/>
                <a:gd name="T60" fmla="*/ 0 w 25"/>
                <a:gd name="T61" fmla="*/ 9 h 30"/>
                <a:gd name="T62" fmla="*/ 0 w 25"/>
                <a:gd name="T63" fmla="*/ 11 h 30"/>
                <a:gd name="T64" fmla="*/ 4 w 25"/>
                <a:gd name="T65" fmla="*/ 13 h 30"/>
                <a:gd name="T66" fmla="*/ 4 w 25"/>
                <a:gd name="T67" fmla="*/ 15 h 30"/>
                <a:gd name="T68" fmla="*/ 4 w 25"/>
                <a:gd name="T69" fmla="*/ 19 h 30"/>
                <a:gd name="T70" fmla="*/ 6 w 25"/>
                <a:gd name="T71" fmla="*/ 25 h 30"/>
                <a:gd name="T72" fmla="*/ 8 w 25"/>
                <a:gd name="T73" fmla="*/ 28 h 30"/>
                <a:gd name="T74" fmla="*/ 10 w 25"/>
                <a:gd name="T75" fmla="*/ 28 h 30"/>
                <a:gd name="T76" fmla="*/ 12 w 25"/>
                <a:gd name="T77" fmla="*/ 28 h 30"/>
                <a:gd name="T78" fmla="*/ 14 w 25"/>
                <a:gd name="T79" fmla="*/ 26 h 30"/>
                <a:gd name="T80" fmla="*/ 14 w 25"/>
                <a:gd name="T81" fmla="*/ 28 h 30"/>
                <a:gd name="T82" fmla="*/ 15 w 25"/>
                <a:gd name="T83" fmla="*/ 28 h 30"/>
                <a:gd name="T84" fmla="*/ 15 w 25"/>
                <a:gd name="T85" fmla="*/ 28 h 30"/>
                <a:gd name="T86" fmla="*/ 17 w 25"/>
                <a:gd name="T87" fmla="*/ 26 h 30"/>
                <a:gd name="T88" fmla="*/ 19 w 25"/>
                <a:gd name="T89" fmla="*/ 26 h 30"/>
                <a:gd name="T90" fmla="*/ 21 w 25"/>
                <a:gd name="T91" fmla="*/ 28 h 30"/>
                <a:gd name="T92" fmla="*/ 23 w 25"/>
                <a:gd name="T93" fmla="*/ 30 h 30"/>
                <a:gd name="T94" fmla="*/ 23 w 25"/>
                <a:gd name="T95" fmla="*/ 28 h 30"/>
                <a:gd name="T96" fmla="*/ 25 w 25"/>
                <a:gd name="T97" fmla="*/ 26 h 30"/>
                <a:gd name="T98" fmla="*/ 25 w 25"/>
                <a:gd name="T99"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 h="30">
                  <a:moveTo>
                    <a:pt x="25" y="17"/>
                  </a:moveTo>
                  <a:lnTo>
                    <a:pt x="25" y="15"/>
                  </a:lnTo>
                  <a:lnTo>
                    <a:pt x="23" y="15"/>
                  </a:lnTo>
                  <a:lnTo>
                    <a:pt x="21" y="15"/>
                  </a:lnTo>
                  <a:lnTo>
                    <a:pt x="19" y="15"/>
                  </a:lnTo>
                  <a:lnTo>
                    <a:pt x="19" y="15"/>
                  </a:lnTo>
                  <a:lnTo>
                    <a:pt x="19" y="15"/>
                  </a:lnTo>
                  <a:lnTo>
                    <a:pt x="19" y="17"/>
                  </a:lnTo>
                  <a:lnTo>
                    <a:pt x="19" y="17"/>
                  </a:lnTo>
                  <a:lnTo>
                    <a:pt x="19" y="19"/>
                  </a:lnTo>
                  <a:lnTo>
                    <a:pt x="19" y="19"/>
                  </a:lnTo>
                  <a:lnTo>
                    <a:pt x="17" y="19"/>
                  </a:lnTo>
                  <a:lnTo>
                    <a:pt x="15" y="19"/>
                  </a:lnTo>
                  <a:lnTo>
                    <a:pt x="15" y="19"/>
                  </a:lnTo>
                  <a:lnTo>
                    <a:pt x="14" y="17"/>
                  </a:lnTo>
                  <a:lnTo>
                    <a:pt x="14" y="17"/>
                  </a:lnTo>
                  <a:lnTo>
                    <a:pt x="14" y="13"/>
                  </a:lnTo>
                  <a:lnTo>
                    <a:pt x="14" y="13"/>
                  </a:lnTo>
                  <a:lnTo>
                    <a:pt x="14" y="13"/>
                  </a:lnTo>
                  <a:lnTo>
                    <a:pt x="14" y="11"/>
                  </a:lnTo>
                  <a:lnTo>
                    <a:pt x="14" y="11"/>
                  </a:lnTo>
                  <a:lnTo>
                    <a:pt x="14" y="11"/>
                  </a:lnTo>
                  <a:lnTo>
                    <a:pt x="14" y="11"/>
                  </a:lnTo>
                  <a:lnTo>
                    <a:pt x="19" y="7"/>
                  </a:lnTo>
                  <a:lnTo>
                    <a:pt x="21" y="7"/>
                  </a:lnTo>
                  <a:lnTo>
                    <a:pt x="21" y="6"/>
                  </a:lnTo>
                  <a:lnTo>
                    <a:pt x="21" y="6"/>
                  </a:lnTo>
                  <a:lnTo>
                    <a:pt x="21" y="6"/>
                  </a:lnTo>
                  <a:lnTo>
                    <a:pt x="21" y="4"/>
                  </a:lnTo>
                  <a:lnTo>
                    <a:pt x="19" y="4"/>
                  </a:lnTo>
                  <a:lnTo>
                    <a:pt x="19" y="4"/>
                  </a:lnTo>
                  <a:lnTo>
                    <a:pt x="17" y="4"/>
                  </a:lnTo>
                  <a:lnTo>
                    <a:pt x="17" y="4"/>
                  </a:lnTo>
                  <a:lnTo>
                    <a:pt x="17" y="4"/>
                  </a:lnTo>
                  <a:lnTo>
                    <a:pt x="15" y="4"/>
                  </a:lnTo>
                  <a:lnTo>
                    <a:pt x="15" y="2"/>
                  </a:lnTo>
                  <a:lnTo>
                    <a:pt x="17" y="2"/>
                  </a:lnTo>
                  <a:lnTo>
                    <a:pt x="17" y="0"/>
                  </a:lnTo>
                  <a:lnTo>
                    <a:pt x="15" y="0"/>
                  </a:lnTo>
                  <a:lnTo>
                    <a:pt x="15" y="0"/>
                  </a:lnTo>
                  <a:lnTo>
                    <a:pt x="15" y="0"/>
                  </a:lnTo>
                  <a:lnTo>
                    <a:pt x="14" y="0"/>
                  </a:lnTo>
                  <a:lnTo>
                    <a:pt x="12" y="2"/>
                  </a:lnTo>
                  <a:lnTo>
                    <a:pt x="10" y="4"/>
                  </a:lnTo>
                  <a:lnTo>
                    <a:pt x="10" y="4"/>
                  </a:lnTo>
                  <a:lnTo>
                    <a:pt x="8" y="4"/>
                  </a:lnTo>
                  <a:lnTo>
                    <a:pt x="8" y="4"/>
                  </a:lnTo>
                  <a:lnTo>
                    <a:pt x="6" y="4"/>
                  </a:lnTo>
                  <a:lnTo>
                    <a:pt x="6" y="4"/>
                  </a:lnTo>
                  <a:lnTo>
                    <a:pt x="6" y="4"/>
                  </a:lnTo>
                  <a:lnTo>
                    <a:pt x="4" y="7"/>
                  </a:lnTo>
                  <a:lnTo>
                    <a:pt x="4" y="7"/>
                  </a:lnTo>
                  <a:lnTo>
                    <a:pt x="4" y="7"/>
                  </a:lnTo>
                  <a:lnTo>
                    <a:pt x="2" y="7"/>
                  </a:lnTo>
                  <a:lnTo>
                    <a:pt x="2" y="7"/>
                  </a:lnTo>
                  <a:lnTo>
                    <a:pt x="0" y="7"/>
                  </a:lnTo>
                  <a:lnTo>
                    <a:pt x="0" y="7"/>
                  </a:lnTo>
                  <a:lnTo>
                    <a:pt x="0" y="7"/>
                  </a:lnTo>
                  <a:lnTo>
                    <a:pt x="0" y="9"/>
                  </a:lnTo>
                  <a:lnTo>
                    <a:pt x="0" y="9"/>
                  </a:lnTo>
                  <a:lnTo>
                    <a:pt x="0" y="9"/>
                  </a:lnTo>
                  <a:lnTo>
                    <a:pt x="0" y="9"/>
                  </a:lnTo>
                  <a:lnTo>
                    <a:pt x="0" y="11"/>
                  </a:lnTo>
                  <a:lnTo>
                    <a:pt x="0" y="11"/>
                  </a:lnTo>
                  <a:lnTo>
                    <a:pt x="2" y="13"/>
                  </a:lnTo>
                  <a:lnTo>
                    <a:pt x="4" y="13"/>
                  </a:lnTo>
                  <a:lnTo>
                    <a:pt x="4" y="13"/>
                  </a:lnTo>
                  <a:lnTo>
                    <a:pt x="4" y="15"/>
                  </a:lnTo>
                  <a:lnTo>
                    <a:pt x="4" y="15"/>
                  </a:lnTo>
                  <a:lnTo>
                    <a:pt x="4" y="19"/>
                  </a:lnTo>
                  <a:lnTo>
                    <a:pt x="4" y="21"/>
                  </a:lnTo>
                  <a:lnTo>
                    <a:pt x="6" y="25"/>
                  </a:lnTo>
                  <a:lnTo>
                    <a:pt x="8" y="26"/>
                  </a:lnTo>
                  <a:lnTo>
                    <a:pt x="8" y="28"/>
                  </a:lnTo>
                  <a:lnTo>
                    <a:pt x="10" y="28"/>
                  </a:lnTo>
                  <a:lnTo>
                    <a:pt x="10" y="28"/>
                  </a:lnTo>
                  <a:lnTo>
                    <a:pt x="10" y="28"/>
                  </a:lnTo>
                  <a:lnTo>
                    <a:pt x="12" y="28"/>
                  </a:lnTo>
                  <a:lnTo>
                    <a:pt x="12" y="26"/>
                  </a:lnTo>
                  <a:lnTo>
                    <a:pt x="14" y="26"/>
                  </a:lnTo>
                  <a:lnTo>
                    <a:pt x="14" y="26"/>
                  </a:lnTo>
                  <a:lnTo>
                    <a:pt x="14" y="28"/>
                  </a:lnTo>
                  <a:lnTo>
                    <a:pt x="15" y="28"/>
                  </a:lnTo>
                  <a:lnTo>
                    <a:pt x="15" y="28"/>
                  </a:lnTo>
                  <a:lnTo>
                    <a:pt x="15" y="28"/>
                  </a:lnTo>
                  <a:lnTo>
                    <a:pt x="15" y="28"/>
                  </a:lnTo>
                  <a:lnTo>
                    <a:pt x="17" y="26"/>
                  </a:lnTo>
                  <a:lnTo>
                    <a:pt x="17" y="26"/>
                  </a:lnTo>
                  <a:lnTo>
                    <a:pt x="19" y="26"/>
                  </a:lnTo>
                  <a:lnTo>
                    <a:pt x="19" y="26"/>
                  </a:lnTo>
                  <a:lnTo>
                    <a:pt x="21" y="28"/>
                  </a:lnTo>
                  <a:lnTo>
                    <a:pt x="21" y="28"/>
                  </a:lnTo>
                  <a:lnTo>
                    <a:pt x="23" y="30"/>
                  </a:lnTo>
                  <a:lnTo>
                    <a:pt x="23" y="30"/>
                  </a:lnTo>
                  <a:lnTo>
                    <a:pt x="23" y="30"/>
                  </a:lnTo>
                  <a:lnTo>
                    <a:pt x="23" y="28"/>
                  </a:lnTo>
                  <a:lnTo>
                    <a:pt x="25" y="28"/>
                  </a:lnTo>
                  <a:lnTo>
                    <a:pt x="25" y="26"/>
                  </a:lnTo>
                  <a:lnTo>
                    <a:pt x="25" y="25"/>
                  </a:lnTo>
                  <a:lnTo>
                    <a:pt x="25" y="21"/>
                  </a:lnTo>
                  <a:lnTo>
                    <a:pt x="25" y="17"/>
                  </a:lnTo>
                  <a:close/>
                </a:path>
              </a:pathLst>
            </a:custGeom>
            <a:noFill/>
            <a:ln w="317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14" name="Freeform 64">
              <a:extLst>
                <a:ext uri="{FF2B5EF4-FFF2-40B4-BE49-F238E27FC236}">
                  <a16:creationId xmlns:a16="http://schemas.microsoft.com/office/drawing/2014/main" id="{D45D349C-878A-AD09-FF50-031183362F72}"/>
                </a:ext>
              </a:extLst>
            </p:cNvPr>
            <p:cNvSpPr>
              <a:spLocks/>
            </p:cNvSpPr>
            <p:nvPr/>
          </p:nvSpPr>
          <p:spPr bwMode="auto">
            <a:xfrm>
              <a:off x="3119049" y="3506173"/>
              <a:ext cx="713110" cy="1062280"/>
            </a:xfrm>
            <a:custGeom>
              <a:avLst/>
              <a:gdLst>
                <a:gd name="T0" fmla="*/ 359 w 378"/>
                <a:gd name="T1" fmla="*/ 113 h 628"/>
                <a:gd name="T2" fmla="*/ 347 w 378"/>
                <a:gd name="T3" fmla="*/ 95 h 628"/>
                <a:gd name="T4" fmla="*/ 340 w 378"/>
                <a:gd name="T5" fmla="*/ 67 h 628"/>
                <a:gd name="T6" fmla="*/ 338 w 378"/>
                <a:gd name="T7" fmla="*/ 52 h 628"/>
                <a:gd name="T8" fmla="*/ 323 w 378"/>
                <a:gd name="T9" fmla="*/ 54 h 628"/>
                <a:gd name="T10" fmla="*/ 300 w 378"/>
                <a:gd name="T11" fmla="*/ 6 h 628"/>
                <a:gd name="T12" fmla="*/ 271 w 378"/>
                <a:gd name="T13" fmla="*/ 19 h 628"/>
                <a:gd name="T14" fmla="*/ 231 w 378"/>
                <a:gd name="T15" fmla="*/ 21 h 628"/>
                <a:gd name="T16" fmla="*/ 168 w 378"/>
                <a:gd name="T17" fmla="*/ 35 h 628"/>
                <a:gd name="T18" fmla="*/ 132 w 378"/>
                <a:gd name="T19" fmla="*/ 44 h 628"/>
                <a:gd name="T20" fmla="*/ 134 w 378"/>
                <a:gd name="T21" fmla="*/ 63 h 628"/>
                <a:gd name="T22" fmla="*/ 174 w 378"/>
                <a:gd name="T23" fmla="*/ 78 h 628"/>
                <a:gd name="T24" fmla="*/ 145 w 378"/>
                <a:gd name="T25" fmla="*/ 128 h 628"/>
                <a:gd name="T26" fmla="*/ 122 w 378"/>
                <a:gd name="T27" fmla="*/ 162 h 628"/>
                <a:gd name="T28" fmla="*/ 88 w 378"/>
                <a:gd name="T29" fmla="*/ 170 h 628"/>
                <a:gd name="T30" fmla="*/ 67 w 378"/>
                <a:gd name="T31" fmla="*/ 202 h 628"/>
                <a:gd name="T32" fmla="*/ 44 w 378"/>
                <a:gd name="T33" fmla="*/ 240 h 628"/>
                <a:gd name="T34" fmla="*/ 16 w 378"/>
                <a:gd name="T35" fmla="*/ 310 h 628"/>
                <a:gd name="T36" fmla="*/ 27 w 378"/>
                <a:gd name="T37" fmla="*/ 335 h 628"/>
                <a:gd name="T38" fmla="*/ 29 w 378"/>
                <a:gd name="T39" fmla="*/ 350 h 628"/>
                <a:gd name="T40" fmla="*/ 33 w 378"/>
                <a:gd name="T41" fmla="*/ 377 h 628"/>
                <a:gd name="T42" fmla="*/ 16 w 378"/>
                <a:gd name="T43" fmla="*/ 398 h 628"/>
                <a:gd name="T44" fmla="*/ 18 w 378"/>
                <a:gd name="T45" fmla="*/ 419 h 628"/>
                <a:gd name="T46" fmla="*/ 14 w 378"/>
                <a:gd name="T47" fmla="*/ 432 h 628"/>
                <a:gd name="T48" fmla="*/ 25 w 378"/>
                <a:gd name="T49" fmla="*/ 430 h 628"/>
                <a:gd name="T50" fmla="*/ 52 w 378"/>
                <a:gd name="T51" fmla="*/ 455 h 628"/>
                <a:gd name="T52" fmla="*/ 46 w 378"/>
                <a:gd name="T53" fmla="*/ 480 h 628"/>
                <a:gd name="T54" fmla="*/ 20 w 378"/>
                <a:gd name="T55" fmla="*/ 478 h 628"/>
                <a:gd name="T56" fmla="*/ 0 w 378"/>
                <a:gd name="T57" fmla="*/ 533 h 628"/>
                <a:gd name="T58" fmla="*/ 12 w 378"/>
                <a:gd name="T59" fmla="*/ 548 h 628"/>
                <a:gd name="T60" fmla="*/ 46 w 378"/>
                <a:gd name="T61" fmla="*/ 580 h 628"/>
                <a:gd name="T62" fmla="*/ 52 w 378"/>
                <a:gd name="T63" fmla="*/ 586 h 628"/>
                <a:gd name="T64" fmla="*/ 63 w 378"/>
                <a:gd name="T65" fmla="*/ 599 h 628"/>
                <a:gd name="T66" fmla="*/ 90 w 378"/>
                <a:gd name="T67" fmla="*/ 626 h 628"/>
                <a:gd name="T68" fmla="*/ 109 w 378"/>
                <a:gd name="T69" fmla="*/ 615 h 628"/>
                <a:gd name="T70" fmla="*/ 117 w 378"/>
                <a:gd name="T71" fmla="*/ 590 h 628"/>
                <a:gd name="T72" fmla="*/ 132 w 378"/>
                <a:gd name="T73" fmla="*/ 575 h 628"/>
                <a:gd name="T74" fmla="*/ 153 w 378"/>
                <a:gd name="T75" fmla="*/ 546 h 628"/>
                <a:gd name="T76" fmla="*/ 170 w 378"/>
                <a:gd name="T77" fmla="*/ 531 h 628"/>
                <a:gd name="T78" fmla="*/ 181 w 378"/>
                <a:gd name="T79" fmla="*/ 518 h 628"/>
                <a:gd name="T80" fmla="*/ 174 w 378"/>
                <a:gd name="T81" fmla="*/ 485 h 628"/>
                <a:gd name="T82" fmla="*/ 170 w 378"/>
                <a:gd name="T83" fmla="*/ 466 h 628"/>
                <a:gd name="T84" fmla="*/ 159 w 378"/>
                <a:gd name="T85" fmla="*/ 432 h 628"/>
                <a:gd name="T86" fmla="*/ 155 w 378"/>
                <a:gd name="T87" fmla="*/ 402 h 628"/>
                <a:gd name="T88" fmla="*/ 170 w 378"/>
                <a:gd name="T89" fmla="*/ 407 h 628"/>
                <a:gd name="T90" fmla="*/ 191 w 378"/>
                <a:gd name="T91" fmla="*/ 424 h 628"/>
                <a:gd name="T92" fmla="*/ 214 w 378"/>
                <a:gd name="T93" fmla="*/ 434 h 628"/>
                <a:gd name="T94" fmla="*/ 225 w 378"/>
                <a:gd name="T95" fmla="*/ 413 h 628"/>
                <a:gd name="T96" fmla="*/ 212 w 378"/>
                <a:gd name="T97" fmla="*/ 409 h 628"/>
                <a:gd name="T98" fmla="*/ 199 w 378"/>
                <a:gd name="T99" fmla="*/ 369 h 628"/>
                <a:gd name="T100" fmla="*/ 191 w 378"/>
                <a:gd name="T101" fmla="*/ 358 h 628"/>
                <a:gd name="T102" fmla="*/ 199 w 378"/>
                <a:gd name="T103" fmla="*/ 326 h 628"/>
                <a:gd name="T104" fmla="*/ 216 w 378"/>
                <a:gd name="T105" fmla="*/ 310 h 628"/>
                <a:gd name="T106" fmla="*/ 250 w 378"/>
                <a:gd name="T107" fmla="*/ 295 h 628"/>
                <a:gd name="T108" fmla="*/ 277 w 378"/>
                <a:gd name="T109" fmla="*/ 284 h 628"/>
                <a:gd name="T110" fmla="*/ 288 w 378"/>
                <a:gd name="T111" fmla="*/ 274 h 628"/>
                <a:gd name="T112" fmla="*/ 300 w 378"/>
                <a:gd name="T113" fmla="*/ 234 h 628"/>
                <a:gd name="T114" fmla="*/ 302 w 378"/>
                <a:gd name="T115" fmla="*/ 219 h 628"/>
                <a:gd name="T116" fmla="*/ 311 w 378"/>
                <a:gd name="T117" fmla="*/ 192 h 628"/>
                <a:gd name="T118" fmla="*/ 342 w 378"/>
                <a:gd name="T119" fmla="*/ 160 h 628"/>
                <a:gd name="T120" fmla="*/ 364 w 378"/>
                <a:gd name="T121" fmla="*/ 137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8" h="628">
                  <a:moveTo>
                    <a:pt x="378" y="124"/>
                  </a:moveTo>
                  <a:lnTo>
                    <a:pt x="378" y="122"/>
                  </a:lnTo>
                  <a:lnTo>
                    <a:pt x="376" y="120"/>
                  </a:lnTo>
                  <a:lnTo>
                    <a:pt x="376" y="120"/>
                  </a:lnTo>
                  <a:lnTo>
                    <a:pt x="376" y="116"/>
                  </a:lnTo>
                  <a:lnTo>
                    <a:pt x="376" y="116"/>
                  </a:lnTo>
                  <a:lnTo>
                    <a:pt x="374" y="116"/>
                  </a:lnTo>
                  <a:lnTo>
                    <a:pt x="372" y="114"/>
                  </a:lnTo>
                  <a:lnTo>
                    <a:pt x="372" y="114"/>
                  </a:lnTo>
                  <a:lnTo>
                    <a:pt x="370" y="114"/>
                  </a:lnTo>
                  <a:lnTo>
                    <a:pt x="370" y="114"/>
                  </a:lnTo>
                  <a:lnTo>
                    <a:pt x="368" y="114"/>
                  </a:lnTo>
                  <a:lnTo>
                    <a:pt x="368" y="114"/>
                  </a:lnTo>
                  <a:lnTo>
                    <a:pt x="368" y="114"/>
                  </a:lnTo>
                  <a:lnTo>
                    <a:pt x="366" y="114"/>
                  </a:lnTo>
                  <a:lnTo>
                    <a:pt x="366" y="114"/>
                  </a:lnTo>
                  <a:lnTo>
                    <a:pt x="364" y="114"/>
                  </a:lnTo>
                  <a:lnTo>
                    <a:pt x="364" y="114"/>
                  </a:lnTo>
                  <a:lnTo>
                    <a:pt x="363" y="114"/>
                  </a:lnTo>
                  <a:lnTo>
                    <a:pt x="361" y="113"/>
                  </a:lnTo>
                  <a:lnTo>
                    <a:pt x="359" y="113"/>
                  </a:lnTo>
                  <a:lnTo>
                    <a:pt x="359" y="113"/>
                  </a:lnTo>
                  <a:lnTo>
                    <a:pt x="359" y="113"/>
                  </a:lnTo>
                  <a:lnTo>
                    <a:pt x="359" y="114"/>
                  </a:lnTo>
                  <a:lnTo>
                    <a:pt x="359" y="114"/>
                  </a:lnTo>
                  <a:lnTo>
                    <a:pt x="359" y="114"/>
                  </a:lnTo>
                  <a:lnTo>
                    <a:pt x="359" y="114"/>
                  </a:lnTo>
                  <a:lnTo>
                    <a:pt x="359" y="114"/>
                  </a:lnTo>
                  <a:lnTo>
                    <a:pt x="357" y="114"/>
                  </a:lnTo>
                  <a:lnTo>
                    <a:pt x="357" y="114"/>
                  </a:lnTo>
                  <a:lnTo>
                    <a:pt x="357" y="114"/>
                  </a:lnTo>
                  <a:lnTo>
                    <a:pt x="355" y="114"/>
                  </a:lnTo>
                  <a:lnTo>
                    <a:pt x="355" y="114"/>
                  </a:lnTo>
                  <a:lnTo>
                    <a:pt x="355" y="113"/>
                  </a:lnTo>
                  <a:lnTo>
                    <a:pt x="355" y="111"/>
                  </a:lnTo>
                  <a:lnTo>
                    <a:pt x="355" y="109"/>
                  </a:lnTo>
                  <a:lnTo>
                    <a:pt x="353" y="107"/>
                  </a:lnTo>
                  <a:lnTo>
                    <a:pt x="353" y="105"/>
                  </a:lnTo>
                  <a:lnTo>
                    <a:pt x="353" y="105"/>
                  </a:lnTo>
                  <a:lnTo>
                    <a:pt x="349" y="101"/>
                  </a:lnTo>
                  <a:lnTo>
                    <a:pt x="347" y="99"/>
                  </a:lnTo>
                  <a:lnTo>
                    <a:pt x="347" y="95"/>
                  </a:lnTo>
                  <a:lnTo>
                    <a:pt x="347" y="92"/>
                  </a:lnTo>
                  <a:lnTo>
                    <a:pt x="349" y="84"/>
                  </a:lnTo>
                  <a:lnTo>
                    <a:pt x="347" y="78"/>
                  </a:lnTo>
                  <a:lnTo>
                    <a:pt x="347" y="76"/>
                  </a:lnTo>
                  <a:lnTo>
                    <a:pt x="347" y="76"/>
                  </a:lnTo>
                  <a:lnTo>
                    <a:pt x="345" y="75"/>
                  </a:lnTo>
                  <a:lnTo>
                    <a:pt x="345" y="75"/>
                  </a:lnTo>
                  <a:lnTo>
                    <a:pt x="343" y="76"/>
                  </a:lnTo>
                  <a:lnTo>
                    <a:pt x="342" y="78"/>
                  </a:lnTo>
                  <a:lnTo>
                    <a:pt x="342" y="78"/>
                  </a:lnTo>
                  <a:lnTo>
                    <a:pt x="342" y="78"/>
                  </a:lnTo>
                  <a:lnTo>
                    <a:pt x="340" y="78"/>
                  </a:lnTo>
                  <a:lnTo>
                    <a:pt x="340" y="76"/>
                  </a:lnTo>
                  <a:lnTo>
                    <a:pt x="340" y="76"/>
                  </a:lnTo>
                  <a:lnTo>
                    <a:pt x="340" y="75"/>
                  </a:lnTo>
                  <a:lnTo>
                    <a:pt x="340" y="75"/>
                  </a:lnTo>
                  <a:lnTo>
                    <a:pt x="342" y="71"/>
                  </a:lnTo>
                  <a:lnTo>
                    <a:pt x="342" y="71"/>
                  </a:lnTo>
                  <a:lnTo>
                    <a:pt x="342" y="69"/>
                  </a:lnTo>
                  <a:lnTo>
                    <a:pt x="342" y="69"/>
                  </a:lnTo>
                  <a:lnTo>
                    <a:pt x="340" y="67"/>
                  </a:lnTo>
                  <a:lnTo>
                    <a:pt x="342" y="67"/>
                  </a:lnTo>
                  <a:lnTo>
                    <a:pt x="342" y="65"/>
                  </a:lnTo>
                  <a:lnTo>
                    <a:pt x="342" y="65"/>
                  </a:lnTo>
                  <a:lnTo>
                    <a:pt x="345" y="61"/>
                  </a:lnTo>
                  <a:lnTo>
                    <a:pt x="345" y="61"/>
                  </a:lnTo>
                  <a:lnTo>
                    <a:pt x="345" y="59"/>
                  </a:lnTo>
                  <a:lnTo>
                    <a:pt x="347" y="59"/>
                  </a:lnTo>
                  <a:lnTo>
                    <a:pt x="347" y="57"/>
                  </a:lnTo>
                  <a:lnTo>
                    <a:pt x="347" y="57"/>
                  </a:lnTo>
                  <a:lnTo>
                    <a:pt x="345" y="54"/>
                  </a:lnTo>
                  <a:lnTo>
                    <a:pt x="345" y="54"/>
                  </a:lnTo>
                  <a:lnTo>
                    <a:pt x="345" y="52"/>
                  </a:lnTo>
                  <a:lnTo>
                    <a:pt x="343" y="52"/>
                  </a:lnTo>
                  <a:lnTo>
                    <a:pt x="343" y="50"/>
                  </a:lnTo>
                  <a:lnTo>
                    <a:pt x="343" y="50"/>
                  </a:lnTo>
                  <a:lnTo>
                    <a:pt x="342" y="50"/>
                  </a:lnTo>
                  <a:lnTo>
                    <a:pt x="342" y="50"/>
                  </a:lnTo>
                  <a:lnTo>
                    <a:pt x="340" y="50"/>
                  </a:lnTo>
                  <a:lnTo>
                    <a:pt x="340" y="52"/>
                  </a:lnTo>
                  <a:lnTo>
                    <a:pt x="340" y="52"/>
                  </a:lnTo>
                  <a:lnTo>
                    <a:pt x="338" y="52"/>
                  </a:lnTo>
                  <a:lnTo>
                    <a:pt x="338" y="52"/>
                  </a:lnTo>
                  <a:lnTo>
                    <a:pt x="338" y="52"/>
                  </a:lnTo>
                  <a:lnTo>
                    <a:pt x="338" y="52"/>
                  </a:lnTo>
                  <a:lnTo>
                    <a:pt x="338" y="54"/>
                  </a:lnTo>
                  <a:lnTo>
                    <a:pt x="338" y="54"/>
                  </a:lnTo>
                  <a:lnTo>
                    <a:pt x="338" y="57"/>
                  </a:lnTo>
                  <a:lnTo>
                    <a:pt x="338" y="57"/>
                  </a:lnTo>
                  <a:lnTo>
                    <a:pt x="338" y="57"/>
                  </a:lnTo>
                  <a:lnTo>
                    <a:pt x="338" y="57"/>
                  </a:lnTo>
                  <a:lnTo>
                    <a:pt x="338" y="57"/>
                  </a:lnTo>
                  <a:lnTo>
                    <a:pt x="336" y="57"/>
                  </a:lnTo>
                  <a:lnTo>
                    <a:pt x="330" y="56"/>
                  </a:lnTo>
                  <a:lnTo>
                    <a:pt x="330" y="56"/>
                  </a:lnTo>
                  <a:lnTo>
                    <a:pt x="328" y="56"/>
                  </a:lnTo>
                  <a:lnTo>
                    <a:pt x="328" y="56"/>
                  </a:lnTo>
                  <a:lnTo>
                    <a:pt x="326" y="56"/>
                  </a:lnTo>
                  <a:lnTo>
                    <a:pt x="326" y="56"/>
                  </a:lnTo>
                  <a:lnTo>
                    <a:pt x="324" y="56"/>
                  </a:lnTo>
                  <a:lnTo>
                    <a:pt x="324" y="56"/>
                  </a:lnTo>
                  <a:lnTo>
                    <a:pt x="323" y="54"/>
                  </a:lnTo>
                  <a:lnTo>
                    <a:pt x="323" y="54"/>
                  </a:lnTo>
                  <a:lnTo>
                    <a:pt x="321" y="52"/>
                  </a:lnTo>
                  <a:lnTo>
                    <a:pt x="321" y="48"/>
                  </a:lnTo>
                  <a:lnTo>
                    <a:pt x="319" y="46"/>
                  </a:lnTo>
                  <a:lnTo>
                    <a:pt x="319" y="46"/>
                  </a:lnTo>
                  <a:lnTo>
                    <a:pt x="319" y="44"/>
                  </a:lnTo>
                  <a:lnTo>
                    <a:pt x="319" y="44"/>
                  </a:lnTo>
                  <a:lnTo>
                    <a:pt x="321" y="40"/>
                  </a:lnTo>
                  <a:lnTo>
                    <a:pt x="321" y="40"/>
                  </a:lnTo>
                  <a:lnTo>
                    <a:pt x="321" y="38"/>
                  </a:lnTo>
                  <a:lnTo>
                    <a:pt x="321" y="38"/>
                  </a:lnTo>
                  <a:lnTo>
                    <a:pt x="319" y="35"/>
                  </a:lnTo>
                  <a:lnTo>
                    <a:pt x="317" y="33"/>
                  </a:lnTo>
                  <a:lnTo>
                    <a:pt x="303" y="21"/>
                  </a:lnTo>
                  <a:lnTo>
                    <a:pt x="303" y="18"/>
                  </a:lnTo>
                  <a:lnTo>
                    <a:pt x="302" y="18"/>
                  </a:lnTo>
                  <a:lnTo>
                    <a:pt x="302" y="16"/>
                  </a:lnTo>
                  <a:lnTo>
                    <a:pt x="302" y="14"/>
                  </a:lnTo>
                  <a:lnTo>
                    <a:pt x="302" y="12"/>
                  </a:lnTo>
                  <a:lnTo>
                    <a:pt x="302" y="8"/>
                  </a:lnTo>
                  <a:lnTo>
                    <a:pt x="302" y="8"/>
                  </a:lnTo>
                  <a:lnTo>
                    <a:pt x="300" y="6"/>
                  </a:lnTo>
                  <a:lnTo>
                    <a:pt x="300" y="6"/>
                  </a:lnTo>
                  <a:lnTo>
                    <a:pt x="296" y="4"/>
                  </a:lnTo>
                  <a:lnTo>
                    <a:pt x="296" y="2"/>
                  </a:lnTo>
                  <a:lnTo>
                    <a:pt x="294" y="2"/>
                  </a:lnTo>
                  <a:lnTo>
                    <a:pt x="294" y="2"/>
                  </a:lnTo>
                  <a:lnTo>
                    <a:pt x="288" y="0"/>
                  </a:lnTo>
                  <a:lnTo>
                    <a:pt x="284" y="0"/>
                  </a:lnTo>
                  <a:lnTo>
                    <a:pt x="282" y="0"/>
                  </a:lnTo>
                  <a:lnTo>
                    <a:pt x="282" y="4"/>
                  </a:lnTo>
                  <a:lnTo>
                    <a:pt x="281" y="6"/>
                  </a:lnTo>
                  <a:lnTo>
                    <a:pt x="281" y="6"/>
                  </a:lnTo>
                  <a:lnTo>
                    <a:pt x="277" y="8"/>
                  </a:lnTo>
                  <a:lnTo>
                    <a:pt x="277" y="10"/>
                  </a:lnTo>
                  <a:lnTo>
                    <a:pt x="277" y="10"/>
                  </a:lnTo>
                  <a:lnTo>
                    <a:pt x="277" y="14"/>
                  </a:lnTo>
                  <a:lnTo>
                    <a:pt x="277" y="14"/>
                  </a:lnTo>
                  <a:lnTo>
                    <a:pt x="275" y="14"/>
                  </a:lnTo>
                  <a:lnTo>
                    <a:pt x="273" y="18"/>
                  </a:lnTo>
                  <a:lnTo>
                    <a:pt x="273" y="19"/>
                  </a:lnTo>
                  <a:lnTo>
                    <a:pt x="273" y="19"/>
                  </a:lnTo>
                  <a:lnTo>
                    <a:pt x="271" y="19"/>
                  </a:lnTo>
                  <a:lnTo>
                    <a:pt x="269" y="19"/>
                  </a:lnTo>
                  <a:lnTo>
                    <a:pt x="267" y="21"/>
                  </a:lnTo>
                  <a:lnTo>
                    <a:pt x="265" y="21"/>
                  </a:lnTo>
                  <a:lnTo>
                    <a:pt x="263" y="23"/>
                  </a:lnTo>
                  <a:lnTo>
                    <a:pt x="262" y="23"/>
                  </a:lnTo>
                  <a:lnTo>
                    <a:pt x="262" y="23"/>
                  </a:lnTo>
                  <a:lnTo>
                    <a:pt x="256" y="23"/>
                  </a:lnTo>
                  <a:lnTo>
                    <a:pt x="254" y="21"/>
                  </a:lnTo>
                  <a:lnTo>
                    <a:pt x="250" y="23"/>
                  </a:lnTo>
                  <a:lnTo>
                    <a:pt x="250" y="23"/>
                  </a:lnTo>
                  <a:lnTo>
                    <a:pt x="246" y="21"/>
                  </a:lnTo>
                  <a:lnTo>
                    <a:pt x="244" y="21"/>
                  </a:lnTo>
                  <a:lnTo>
                    <a:pt x="242" y="19"/>
                  </a:lnTo>
                  <a:lnTo>
                    <a:pt x="239" y="16"/>
                  </a:lnTo>
                  <a:lnTo>
                    <a:pt x="235" y="14"/>
                  </a:lnTo>
                  <a:lnTo>
                    <a:pt x="233" y="16"/>
                  </a:lnTo>
                  <a:lnTo>
                    <a:pt x="233" y="16"/>
                  </a:lnTo>
                  <a:lnTo>
                    <a:pt x="233" y="18"/>
                  </a:lnTo>
                  <a:lnTo>
                    <a:pt x="233" y="19"/>
                  </a:lnTo>
                  <a:lnTo>
                    <a:pt x="233" y="19"/>
                  </a:lnTo>
                  <a:lnTo>
                    <a:pt x="231" y="21"/>
                  </a:lnTo>
                  <a:lnTo>
                    <a:pt x="229" y="23"/>
                  </a:lnTo>
                  <a:lnTo>
                    <a:pt x="227" y="23"/>
                  </a:lnTo>
                  <a:lnTo>
                    <a:pt x="223" y="23"/>
                  </a:lnTo>
                  <a:lnTo>
                    <a:pt x="222" y="25"/>
                  </a:lnTo>
                  <a:lnTo>
                    <a:pt x="222" y="25"/>
                  </a:lnTo>
                  <a:lnTo>
                    <a:pt x="222" y="27"/>
                  </a:lnTo>
                  <a:lnTo>
                    <a:pt x="222" y="29"/>
                  </a:lnTo>
                  <a:lnTo>
                    <a:pt x="222" y="29"/>
                  </a:lnTo>
                  <a:lnTo>
                    <a:pt x="220" y="31"/>
                  </a:lnTo>
                  <a:lnTo>
                    <a:pt x="218" y="33"/>
                  </a:lnTo>
                  <a:lnTo>
                    <a:pt x="212" y="33"/>
                  </a:lnTo>
                  <a:lnTo>
                    <a:pt x="212" y="35"/>
                  </a:lnTo>
                  <a:lnTo>
                    <a:pt x="210" y="37"/>
                  </a:lnTo>
                  <a:lnTo>
                    <a:pt x="210" y="37"/>
                  </a:lnTo>
                  <a:lnTo>
                    <a:pt x="206" y="37"/>
                  </a:lnTo>
                  <a:lnTo>
                    <a:pt x="199" y="37"/>
                  </a:lnTo>
                  <a:lnTo>
                    <a:pt x="185" y="35"/>
                  </a:lnTo>
                  <a:lnTo>
                    <a:pt x="183" y="35"/>
                  </a:lnTo>
                  <a:lnTo>
                    <a:pt x="180" y="35"/>
                  </a:lnTo>
                  <a:lnTo>
                    <a:pt x="170" y="35"/>
                  </a:lnTo>
                  <a:lnTo>
                    <a:pt x="168" y="35"/>
                  </a:lnTo>
                  <a:lnTo>
                    <a:pt x="162" y="31"/>
                  </a:lnTo>
                  <a:lnTo>
                    <a:pt x="161" y="31"/>
                  </a:lnTo>
                  <a:lnTo>
                    <a:pt x="155" y="31"/>
                  </a:lnTo>
                  <a:lnTo>
                    <a:pt x="153" y="31"/>
                  </a:lnTo>
                  <a:lnTo>
                    <a:pt x="147" y="33"/>
                  </a:lnTo>
                  <a:lnTo>
                    <a:pt x="145" y="35"/>
                  </a:lnTo>
                  <a:lnTo>
                    <a:pt x="143" y="35"/>
                  </a:lnTo>
                  <a:lnTo>
                    <a:pt x="140" y="35"/>
                  </a:lnTo>
                  <a:lnTo>
                    <a:pt x="138" y="31"/>
                  </a:lnTo>
                  <a:lnTo>
                    <a:pt x="134" y="27"/>
                  </a:lnTo>
                  <a:lnTo>
                    <a:pt x="132" y="25"/>
                  </a:lnTo>
                  <a:lnTo>
                    <a:pt x="128" y="25"/>
                  </a:lnTo>
                  <a:lnTo>
                    <a:pt x="126" y="27"/>
                  </a:lnTo>
                  <a:lnTo>
                    <a:pt x="126" y="29"/>
                  </a:lnTo>
                  <a:lnTo>
                    <a:pt x="126" y="29"/>
                  </a:lnTo>
                  <a:lnTo>
                    <a:pt x="126" y="31"/>
                  </a:lnTo>
                  <a:lnTo>
                    <a:pt x="126" y="31"/>
                  </a:lnTo>
                  <a:lnTo>
                    <a:pt x="128" y="33"/>
                  </a:lnTo>
                  <a:lnTo>
                    <a:pt x="130" y="38"/>
                  </a:lnTo>
                  <a:lnTo>
                    <a:pt x="132" y="42"/>
                  </a:lnTo>
                  <a:lnTo>
                    <a:pt x="132" y="44"/>
                  </a:lnTo>
                  <a:lnTo>
                    <a:pt x="132" y="46"/>
                  </a:lnTo>
                  <a:lnTo>
                    <a:pt x="130" y="46"/>
                  </a:lnTo>
                  <a:lnTo>
                    <a:pt x="130" y="48"/>
                  </a:lnTo>
                  <a:lnTo>
                    <a:pt x="128" y="50"/>
                  </a:lnTo>
                  <a:lnTo>
                    <a:pt x="128" y="50"/>
                  </a:lnTo>
                  <a:lnTo>
                    <a:pt x="126" y="50"/>
                  </a:lnTo>
                  <a:lnTo>
                    <a:pt x="126" y="52"/>
                  </a:lnTo>
                  <a:lnTo>
                    <a:pt x="124" y="56"/>
                  </a:lnTo>
                  <a:lnTo>
                    <a:pt x="124" y="56"/>
                  </a:lnTo>
                  <a:lnTo>
                    <a:pt x="124" y="57"/>
                  </a:lnTo>
                  <a:lnTo>
                    <a:pt x="122" y="57"/>
                  </a:lnTo>
                  <a:lnTo>
                    <a:pt x="122" y="57"/>
                  </a:lnTo>
                  <a:lnTo>
                    <a:pt x="122" y="59"/>
                  </a:lnTo>
                  <a:lnTo>
                    <a:pt x="124" y="61"/>
                  </a:lnTo>
                  <a:lnTo>
                    <a:pt x="124" y="63"/>
                  </a:lnTo>
                  <a:lnTo>
                    <a:pt x="126" y="65"/>
                  </a:lnTo>
                  <a:lnTo>
                    <a:pt x="126" y="65"/>
                  </a:lnTo>
                  <a:lnTo>
                    <a:pt x="128" y="67"/>
                  </a:lnTo>
                  <a:lnTo>
                    <a:pt x="128" y="65"/>
                  </a:lnTo>
                  <a:lnTo>
                    <a:pt x="132" y="63"/>
                  </a:lnTo>
                  <a:lnTo>
                    <a:pt x="134" y="63"/>
                  </a:lnTo>
                  <a:lnTo>
                    <a:pt x="136" y="61"/>
                  </a:lnTo>
                  <a:lnTo>
                    <a:pt x="138" y="59"/>
                  </a:lnTo>
                  <a:lnTo>
                    <a:pt x="138" y="59"/>
                  </a:lnTo>
                  <a:lnTo>
                    <a:pt x="140" y="61"/>
                  </a:lnTo>
                  <a:lnTo>
                    <a:pt x="141" y="61"/>
                  </a:lnTo>
                  <a:lnTo>
                    <a:pt x="147" y="63"/>
                  </a:lnTo>
                  <a:lnTo>
                    <a:pt x="151" y="63"/>
                  </a:lnTo>
                  <a:lnTo>
                    <a:pt x="153" y="65"/>
                  </a:lnTo>
                  <a:lnTo>
                    <a:pt x="157" y="67"/>
                  </a:lnTo>
                  <a:lnTo>
                    <a:pt x="159" y="73"/>
                  </a:lnTo>
                  <a:lnTo>
                    <a:pt x="161" y="75"/>
                  </a:lnTo>
                  <a:lnTo>
                    <a:pt x="161" y="75"/>
                  </a:lnTo>
                  <a:lnTo>
                    <a:pt x="162" y="75"/>
                  </a:lnTo>
                  <a:lnTo>
                    <a:pt x="162" y="75"/>
                  </a:lnTo>
                  <a:lnTo>
                    <a:pt x="162" y="76"/>
                  </a:lnTo>
                  <a:lnTo>
                    <a:pt x="164" y="78"/>
                  </a:lnTo>
                  <a:lnTo>
                    <a:pt x="164" y="78"/>
                  </a:lnTo>
                  <a:lnTo>
                    <a:pt x="170" y="76"/>
                  </a:lnTo>
                  <a:lnTo>
                    <a:pt x="170" y="76"/>
                  </a:lnTo>
                  <a:lnTo>
                    <a:pt x="172" y="78"/>
                  </a:lnTo>
                  <a:lnTo>
                    <a:pt x="174" y="78"/>
                  </a:lnTo>
                  <a:lnTo>
                    <a:pt x="176" y="82"/>
                  </a:lnTo>
                  <a:lnTo>
                    <a:pt x="178" y="84"/>
                  </a:lnTo>
                  <a:lnTo>
                    <a:pt x="178" y="86"/>
                  </a:lnTo>
                  <a:lnTo>
                    <a:pt x="176" y="94"/>
                  </a:lnTo>
                  <a:lnTo>
                    <a:pt x="176" y="97"/>
                  </a:lnTo>
                  <a:lnTo>
                    <a:pt x="176" y="99"/>
                  </a:lnTo>
                  <a:lnTo>
                    <a:pt x="174" y="103"/>
                  </a:lnTo>
                  <a:lnTo>
                    <a:pt x="172" y="105"/>
                  </a:lnTo>
                  <a:lnTo>
                    <a:pt x="170" y="105"/>
                  </a:lnTo>
                  <a:lnTo>
                    <a:pt x="168" y="103"/>
                  </a:lnTo>
                  <a:lnTo>
                    <a:pt x="166" y="105"/>
                  </a:lnTo>
                  <a:lnTo>
                    <a:pt x="162" y="107"/>
                  </a:lnTo>
                  <a:lnTo>
                    <a:pt x="157" y="109"/>
                  </a:lnTo>
                  <a:lnTo>
                    <a:pt x="155" y="111"/>
                  </a:lnTo>
                  <a:lnTo>
                    <a:pt x="155" y="113"/>
                  </a:lnTo>
                  <a:lnTo>
                    <a:pt x="155" y="114"/>
                  </a:lnTo>
                  <a:lnTo>
                    <a:pt x="155" y="118"/>
                  </a:lnTo>
                  <a:lnTo>
                    <a:pt x="155" y="120"/>
                  </a:lnTo>
                  <a:lnTo>
                    <a:pt x="151" y="124"/>
                  </a:lnTo>
                  <a:lnTo>
                    <a:pt x="147" y="126"/>
                  </a:lnTo>
                  <a:lnTo>
                    <a:pt x="145" y="128"/>
                  </a:lnTo>
                  <a:lnTo>
                    <a:pt x="143" y="128"/>
                  </a:lnTo>
                  <a:lnTo>
                    <a:pt x="141" y="130"/>
                  </a:lnTo>
                  <a:lnTo>
                    <a:pt x="140" y="132"/>
                  </a:lnTo>
                  <a:lnTo>
                    <a:pt x="140" y="134"/>
                  </a:lnTo>
                  <a:lnTo>
                    <a:pt x="140" y="135"/>
                  </a:lnTo>
                  <a:lnTo>
                    <a:pt x="141" y="139"/>
                  </a:lnTo>
                  <a:lnTo>
                    <a:pt x="140" y="141"/>
                  </a:lnTo>
                  <a:lnTo>
                    <a:pt x="138" y="143"/>
                  </a:lnTo>
                  <a:lnTo>
                    <a:pt x="138" y="145"/>
                  </a:lnTo>
                  <a:lnTo>
                    <a:pt x="140" y="147"/>
                  </a:lnTo>
                  <a:lnTo>
                    <a:pt x="140" y="149"/>
                  </a:lnTo>
                  <a:lnTo>
                    <a:pt x="138" y="149"/>
                  </a:lnTo>
                  <a:lnTo>
                    <a:pt x="136" y="149"/>
                  </a:lnTo>
                  <a:lnTo>
                    <a:pt x="130" y="153"/>
                  </a:lnTo>
                  <a:lnTo>
                    <a:pt x="128" y="154"/>
                  </a:lnTo>
                  <a:lnTo>
                    <a:pt x="128" y="156"/>
                  </a:lnTo>
                  <a:lnTo>
                    <a:pt x="128" y="158"/>
                  </a:lnTo>
                  <a:lnTo>
                    <a:pt x="128" y="160"/>
                  </a:lnTo>
                  <a:lnTo>
                    <a:pt x="126" y="160"/>
                  </a:lnTo>
                  <a:lnTo>
                    <a:pt x="124" y="160"/>
                  </a:lnTo>
                  <a:lnTo>
                    <a:pt x="122" y="162"/>
                  </a:lnTo>
                  <a:lnTo>
                    <a:pt x="121" y="162"/>
                  </a:lnTo>
                  <a:lnTo>
                    <a:pt x="119" y="162"/>
                  </a:lnTo>
                  <a:lnTo>
                    <a:pt x="115" y="164"/>
                  </a:lnTo>
                  <a:lnTo>
                    <a:pt x="113" y="166"/>
                  </a:lnTo>
                  <a:lnTo>
                    <a:pt x="113" y="168"/>
                  </a:lnTo>
                  <a:lnTo>
                    <a:pt x="111" y="168"/>
                  </a:lnTo>
                  <a:lnTo>
                    <a:pt x="109" y="170"/>
                  </a:lnTo>
                  <a:lnTo>
                    <a:pt x="107" y="170"/>
                  </a:lnTo>
                  <a:lnTo>
                    <a:pt x="107" y="170"/>
                  </a:lnTo>
                  <a:lnTo>
                    <a:pt x="105" y="170"/>
                  </a:lnTo>
                  <a:lnTo>
                    <a:pt x="103" y="166"/>
                  </a:lnTo>
                  <a:lnTo>
                    <a:pt x="103" y="166"/>
                  </a:lnTo>
                  <a:lnTo>
                    <a:pt x="101" y="164"/>
                  </a:lnTo>
                  <a:lnTo>
                    <a:pt x="100" y="164"/>
                  </a:lnTo>
                  <a:lnTo>
                    <a:pt x="98" y="166"/>
                  </a:lnTo>
                  <a:lnTo>
                    <a:pt x="96" y="168"/>
                  </a:lnTo>
                  <a:lnTo>
                    <a:pt x="94" y="168"/>
                  </a:lnTo>
                  <a:lnTo>
                    <a:pt x="92" y="170"/>
                  </a:lnTo>
                  <a:lnTo>
                    <a:pt x="90" y="170"/>
                  </a:lnTo>
                  <a:lnTo>
                    <a:pt x="88" y="170"/>
                  </a:lnTo>
                  <a:lnTo>
                    <a:pt x="88" y="170"/>
                  </a:lnTo>
                  <a:lnTo>
                    <a:pt x="86" y="168"/>
                  </a:lnTo>
                  <a:lnTo>
                    <a:pt x="86" y="166"/>
                  </a:lnTo>
                  <a:lnTo>
                    <a:pt x="86" y="166"/>
                  </a:lnTo>
                  <a:lnTo>
                    <a:pt x="84" y="166"/>
                  </a:lnTo>
                  <a:lnTo>
                    <a:pt x="84" y="168"/>
                  </a:lnTo>
                  <a:lnTo>
                    <a:pt x="81" y="172"/>
                  </a:lnTo>
                  <a:lnTo>
                    <a:pt x="79" y="173"/>
                  </a:lnTo>
                  <a:lnTo>
                    <a:pt x="79" y="177"/>
                  </a:lnTo>
                  <a:lnTo>
                    <a:pt x="81" y="181"/>
                  </a:lnTo>
                  <a:lnTo>
                    <a:pt x="79" y="183"/>
                  </a:lnTo>
                  <a:lnTo>
                    <a:pt x="79" y="185"/>
                  </a:lnTo>
                  <a:lnTo>
                    <a:pt x="77" y="189"/>
                  </a:lnTo>
                  <a:lnTo>
                    <a:pt x="73" y="191"/>
                  </a:lnTo>
                  <a:lnTo>
                    <a:pt x="73" y="192"/>
                  </a:lnTo>
                  <a:lnTo>
                    <a:pt x="71" y="192"/>
                  </a:lnTo>
                  <a:lnTo>
                    <a:pt x="71" y="194"/>
                  </a:lnTo>
                  <a:lnTo>
                    <a:pt x="71" y="200"/>
                  </a:lnTo>
                  <a:lnTo>
                    <a:pt x="69" y="202"/>
                  </a:lnTo>
                  <a:lnTo>
                    <a:pt x="69" y="202"/>
                  </a:lnTo>
                  <a:lnTo>
                    <a:pt x="67" y="202"/>
                  </a:lnTo>
                  <a:lnTo>
                    <a:pt x="67" y="202"/>
                  </a:lnTo>
                  <a:lnTo>
                    <a:pt x="67" y="204"/>
                  </a:lnTo>
                  <a:lnTo>
                    <a:pt x="67" y="206"/>
                  </a:lnTo>
                  <a:lnTo>
                    <a:pt x="69" y="206"/>
                  </a:lnTo>
                  <a:lnTo>
                    <a:pt x="69" y="208"/>
                  </a:lnTo>
                  <a:lnTo>
                    <a:pt x="67" y="210"/>
                  </a:lnTo>
                  <a:lnTo>
                    <a:pt x="67" y="210"/>
                  </a:lnTo>
                  <a:lnTo>
                    <a:pt x="65" y="210"/>
                  </a:lnTo>
                  <a:lnTo>
                    <a:pt x="63" y="206"/>
                  </a:lnTo>
                  <a:lnTo>
                    <a:pt x="61" y="204"/>
                  </a:lnTo>
                  <a:lnTo>
                    <a:pt x="61" y="204"/>
                  </a:lnTo>
                  <a:lnTo>
                    <a:pt x="60" y="206"/>
                  </a:lnTo>
                  <a:lnTo>
                    <a:pt x="58" y="208"/>
                  </a:lnTo>
                  <a:lnTo>
                    <a:pt x="54" y="217"/>
                  </a:lnTo>
                  <a:lnTo>
                    <a:pt x="54" y="219"/>
                  </a:lnTo>
                  <a:lnTo>
                    <a:pt x="52" y="223"/>
                  </a:lnTo>
                  <a:lnTo>
                    <a:pt x="54" y="229"/>
                  </a:lnTo>
                  <a:lnTo>
                    <a:pt x="52" y="234"/>
                  </a:lnTo>
                  <a:lnTo>
                    <a:pt x="50" y="236"/>
                  </a:lnTo>
                  <a:lnTo>
                    <a:pt x="48" y="238"/>
                  </a:lnTo>
                  <a:lnTo>
                    <a:pt x="46" y="238"/>
                  </a:lnTo>
                  <a:lnTo>
                    <a:pt x="44" y="240"/>
                  </a:lnTo>
                  <a:lnTo>
                    <a:pt x="42" y="242"/>
                  </a:lnTo>
                  <a:lnTo>
                    <a:pt x="42" y="251"/>
                  </a:lnTo>
                  <a:lnTo>
                    <a:pt x="42" y="253"/>
                  </a:lnTo>
                  <a:lnTo>
                    <a:pt x="42" y="255"/>
                  </a:lnTo>
                  <a:lnTo>
                    <a:pt x="42" y="265"/>
                  </a:lnTo>
                  <a:lnTo>
                    <a:pt x="42" y="267"/>
                  </a:lnTo>
                  <a:lnTo>
                    <a:pt x="40" y="270"/>
                  </a:lnTo>
                  <a:lnTo>
                    <a:pt x="40" y="274"/>
                  </a:lnTo>
                  <a:lnTo>
                    <a:pt x="39" y="278"/>
                  </a:lnTo>
                  <a:lnTo>
                    <a:pt x="39" y="284"/>
                  </a:lnTo>
                  <a:lnTo>
                    <a:pt x="37" y="286"/>
                  </a:lnTo>
                  <a:lnTo>
                    <a:pt x="35" y="288"/>
                  </a:lnTo>
                  <a:lnTo>
                    <a:pt x="33" y="289"/>
                  </a:lnTo>
                  <a:lnTo>
                    <a:pt x="27" y="293"/>
                  </a:lnTo>
                  <a:lnTo>
                    <a:pt x="21" y="297"/>
                  </a:lnTo>
                  <a:lnTo>
                    <a:pt x="20" y="297"/>
                  </a:lnTo>
                  <a:lnTo>
                    <a:pt x="20" y="299"/>
                  </a:lnTo>
                  <a:lnTo>
                    <a:pt x="18" y="299"/>
                  </a:lnTo>
                  <a:lnTo>
                    <a:pt x="18" y="301"/>
                  </a:lnTo>
                  <a:lnTo>
                    <a:pt x="18" y="307"/>
                  </a:lnTo>
                  <a:lnTo>
                    <a:pt x="16" y="310"/>
                  </a:lnTo>
                  <a:lnTo>
                    <a:pt x="16" y="312"/>
                  </a:lnTo>
                  <a:lnTo>
                    <a:pt x="16" y="312"/>
                  </a:lnTo>
                  <a:lnTo>
                    <a:pt x="16" y="316"/>
                  </a:lnTo>
                  <a:lnTo>
                    <a:pt x="18" y="318"/>
                  </a:lnTo>
                  <a:lnTo>
                    <a:pt x="18" y="318"/>
                  </a:lnTo>
                  <a:lnTo>
                    <a:pt x="20" y="318"/>
                  </a:lnTo>
                  <a:lnTo>
                    <a:pt x="20" y="320"/>
                  </a:lnTo>
                  <a:lnTo>
                    <a:pt x="20" y="320"/>
                  </a:lnTo>
                  <a:lnTo>
                    <a:pt x="21" y="320"/>
                  </a:lnTo>
                  <a:lnTo>
                    <a:pt x="21" y="320"/>
                  </a:lnTo>
                  <a:lnTo>
                    <a:pt x="21" y="320"/>
                  </a:lnTo>
                  <a:lnTo>
                    <a:pt x="23" y="320"/>
                  </a:lnTo>
                  <a:lnTo>
                    <a:pt x="25" y="320"/>
                  </a:lnTo>
                  <a:lnTo>
                    <a:pt x="25" y="320"/>
                  </a:lnTo>
                  <a:lnTo>
                    <a:pt x="25" y="320"/>
                  </a:lnTo>
                  <a:lnTo>
                    <a:pt x="27" y="320"/>
                  </a:lnTo>
                  <a:lnTo>
                    <a:pt x="27" y="322"/>
                  </a:lnTo>
                  <a:lnTo>
                    <a:pt x="27" y="322"/>
                  </a:lnTo>
                  <a:lnTo>
                    <a:pt x="27" y="324"/>
                  </a:lnTo>
                  <a:lnTo>
                    <a:pt x="27" y="326"/>
                  </a:lnTo>
                  <a:lnTo>
                    <a:pt x="27" y="335"/>
                  </a:lnTo>
                  <a:lnTo>
                    <a:pt x="29" y="343"/>
                  </a:lnTo>
                  <a:lnTo>
                    <a:pt x="29" y="345"/>
                  </a:lnTo>
                  <a:lnTo>
                    <a:pt x="27" y="345"/>
                  </a:lnTo>
                  <a:lnTo>
                    <a:pt x="27" y="347"/>
                  </a:lnTo>
                  <a:lnTo>
                    <a:pt x="23" y="348"/>
                  </a:lnTo>
                  <a:lnTo>
                    <a:pt x="23" y="348"/>
                  </a:lnTo>
                  <a:lnTo>
                    <a:pt x="21" y="348"/>
                  </a:lnTo>
                  <a:lnTo>
                    <a:pt x="21" y="350"/>
                  </a:lnTo>
                  <a:lnTo>
                    <a:pt x="21" y="352"/>
                  </a:lnTo>
                  <a:lnTo>
                    <a:pt x="21" y="352"/>
                  </a:lnTo>
                  <a:lnTo>
                    <a:pt x="21" y="352"/>
                  </a:lnTo>
                  <a:lnTo>
                    <a:pt x="21" y="354"/>
                  </a:lnTo>
                  <a:lnTo>
                    <a:pt x="23" y="354"/>
                  </a:lnTo>
                  <a:lnTo>
                    <a:pt x="23" y="354"/>
                  </a:lnTo>
                  <a:lnTo>
                    <a:pt x="23" y="354"/>
                  </a:lnTo>
                  <a:lnTo>
                    <a:pt x="25" y="354"/>
                  </a:lnTo>
                  <a:lnTo>
                    <a:pt x="27" y="352"/>
                  </a:lnTo>
                  <a:lnTo>
                    <a:pt x="27" y="350"/>
                  </a:lnTo>
                  <a:lnTo>
                    <a:pt x="29" y="350"/>
                  </a:lnTo>
                  <a:lnTo>
                    <a:pt x="29" y="350"/>
                  </a:lnTo>
                  <a:lnTo>
                    <a:pt x="29" y="350"/>
                  </a:lnTo>
                  <a:lnTo>
                    <a:pt x="31" y="352"/>
                  </a:lnTo>
                  <a:lnTo>
                    <a:pt x="33" y="352"/>
                  </a:lnTo>
                  <a:lnTo>
                    <a:pt x="33" y="352"/>
                  </a:lnTo>
                  <a:lnTo>
                    <a:pt x="33" y="352"/>
                  </a:lnTo>
                  <a:lnTo>
                    <a:pt x="33" y="352"/>
                  </a:lnTo>
                  <a:lnTo>
                    <a:pt x="33" y="354"/>
                  </a:lnTo>
                  <a:lnTo>
                    <a:pt x="33" y="354"/>
                  </a:lnTo>
                  <a:lnTo>
                    <a:pt x="33" y="358"/>
                  </a:lnTo>
                  <a:lnTo>
                    <a:pt x="33" y="360"/>
                  </a:lnTo>
                  <a:lnTo>
                    <a:pt x="33" y="360"/>
                  </a:lnTo>
                  <a:lnTo>
                    <a:pt x="35" y="360"/>
                  </a:lnTo>
                  <a:lnTo>
                    <a:pt x="35" y="362"/>
                  </a:lnTo>
                  <a:lnTo>
                    <a:pt x="35" y="362"/>
                  </a:lnTo>
                  <a:lnTo>
                    <a:pt x="33" y="364"/>
                  </a:lnTo>
                  <a:lnTo>
                    <a:pt x="33" y="366"/>
                  </a:lnTo>
                  <a:lnTo>
                    <a:pt x="33" y="366"/>
                  </a:lnTo>
                  <a:lnTo>
                    <a:pt x="33" y="371"/>
                  </a:lnTo>
                  <a:lnTo>
                    <a:pt x="33" y="373"/>
                  </a:lnTo>
                  <a:lnTo>
                    <a:pt x="33" y="375"/>
                  </a:lnTo>
                  <a:lnTo>
                    <a:pt x="33" y="377"/>
                  </a:lnTo>
                  <a:lnTo>
                    <a:pt x="33" y="377"/>
                  </a:lnTo>
                  <a:lnTo>
                    <a:pt x="33" y="379"/>
                  </a:lnTo>
                  <a:lnTo>
                    <a:pt x="33" y="379"/>
                  </a:lnTo>
                  <a:lnTo>
                    <a:pt x="33" y="381"/>
                  </a:lnTo>
                  <a:lnTo>
                    <a:pt x="31" y="381"/>
                  </a:lnTo>
                  <a:lnTo>
                    <a:pt x="29" y="381"/>
                  </a:lnTo>
                  <a:lnTo>
                    <a:pt x="29" y="383"/>
                  </a:lnTo>
                  <a:lnTo>
                    <a:pt x="27" y="385"/>
                  </a:lnTo>
                  <a:lnTo>
                    <a:pt x="25" y="385"/>
                  </a:lnTo>
                  <a:lnTo>
                    <a:pt x="23" y="385"/>
                  </a:lnTo>
                  <a:lnTo>
                    <a:pt x="23" y="386"/>
                  </a:lnTo>
                  <a:lnTo>
                    <a:pt x="18" y="386"/>
                  </a:lnTo>
                  <a:lnTo>
                    <a:pt x="16" y="386"/>
                  </a:lnTo>
                  <a:lnTo>
                    <a:pt x="16" y="386"/>
                  </a:lnTo>
                  <a:lnTo>
                    <a:pt x="16" y="388"/>
                  </a:lnTo>
                  <a:lnTo>
                    <a:pt x="16" y="390"/>
                  </a:lnTo>
                  <a:lnTo>
                    <a:pt x="16" y="390"/>
                  </a:lnTo>
                  <a:lnTo>
                    <a:pt x="16" y="392"/>
                  </a:lnTo>
                  <a:lnTo>
                    <a:pt x="14" y="396"/>
                  </a:lnTo>
                  <a:lnTo>
                    <a:pt x="14" y="396"/>
                  </a:lnTo>
                  <a:lnTo>
                    <a:pt x="14" y="396"/>
                  </a:lnTo>
                  <a:lnTo>
                    <a:pt x="16" y="398"/>
                  </a:lnTo>
                  <a:lnTo>
                    <a:pt x="23" y="398"/>
                  </a:lnTo>
                  <a:lnTo>
                    <a:pt x="23" y="398"/>
                  </a:lnTo>
                  <a:lnTo>
                    <a:pt x="23" y="398"/>
                  </a:lnTo>
                  <a:lnTo>
                    <a:pt x="25" y="398"/>
                  </a:lnTo>
                  <a:lnTo>
                    <a:pt x="27" y="404"/>
                  </a:lnTo>
                  <a:lnTo>
                    <a:pt x="27" y="407"/>
                  </a:lnTo>
                  <a:lnTo>
                    <a:pt x="27" y="407"/>
                  </a:lnTo>
                  <a:lnTo>
                    <a:pt x="27" y="409"/>
                  </a:lnTo>
                  <a:lnTo>
                    <a:pt x="27" y="409"/>
                  </a:lnTo>
                  <a:lnTo>
                    <a:pt x="25" y="411"/>
                  </a:lnTo>
                  <a:lnTo>
                    <a:pt x="25" y="417"/>
                  </a:lnTo>
                  <a:lnTo>
                    <a:pt x="25" y="419"/>
                  </a:lnTo>
                  <a:lnTo>
                    <a:pt x="25" y="419"/>
                  </a:lnTo>
                  <a:lnTo>
                    <a:pt x="25" y="419"/>
                  </a:lnTo>
                  <a:lnTo>
                    <a:pt x="23" y="419"/>
                  </a:lnTo>
                  <a:lnTo>
                    <a:pt x="23" y="419"/>
                  </a:lnTo>
                  <a:lnTo>
                    <a:pt x="21" y="419"/>
                  </a:lnTo>
                  <a:lnTo>
                    <a:pt x="20" y="417"/>
                  </a:lnTo>
                  <a:lnTo>
                    <a:pt x="18" y="417"/>
                  </a:lnTo>
                  <a:lnTo>
                    <a:pt x="18" y="417"/>
                  </a:lnTo>
                  <a:lnTo>
                    <a:pt x="18" y="419"/>
                  </a:lnTo>
                  <a:lnTo>
                    <a:pt x="16" y="421"/>
                  </a:lnTo>
                  <a:lnTo>
                    <a:pt x="16" y="421"/>
                  </a:lnTo>
                  <a:lnTo>
                    <a:pt x="16" y="423"/>
                  </a:lnTo>
                  <a:lnTo>
                    <a:pt x="16" y="423"/>
                  </a:lnTo>
                  <a:lnTo>
                    <a:pt x="16" y="423"/>
                  </a:lnTo>
                  <a:lnTo>
                    <a:pt x="16" y="423"/>
                  </a:lnTo>
                  <a:lnTo>
                    <a:pt x="18" y="423"/>
                  </a:lnTo>
                  <a:lnTo>
                    <a:pt x="20" y="424"/>
                  </a:lnTo>
                  <a:lnTo>
                    <a:pt x="20" y="424"/>
                  </a:lnTo>
                  <a:lnTo>
                    <a:pt x="21" y="424"/>
                  </a:lnTo>
                  <a:lnTo>
                    <a:pt x="21" y="426"/>
                  </a:lnTo>
                  <a:lnTo>
                    <a:pt x="20" y="426"/>
                  </a:lnTo>
                  <a:lnTo>
                    <a:pt x="20" y="426"/>
                  </a:lnTo>
                  <a:lnTo>
                    <a:pt x="20" y="428"/>
                  </a:lnTo>
                  <a:lnTo>
                    <a:pt x="20" y="428"/>
                  </a:lnTo>
                  <a:lnTo>
                    <a:pt x="20" y="428"/>
                  </a:lnTo>
                  <a:lnTo>
                    <a:pt x="18" y="430"/>
                  </a:lnTo>
                  <a:lnTo>
                    <a:pt x="16" y="430"/>
                  </a:lnTo>
                  <a:lnTo>
                    <a:pt x="14" y="430"/>
                  </a:lnTo>
                  <a:lnTo>
                    <a:pt x="14" y="432"/>
                  </a:lnTo>
                  <a:lnTo>
                    <a:pt x="14" y="432"/>
                  </a:lnTo>
                  <a:lnTo>
                    <a:pt x="14" y="432"/>
                  </a:lnTo>
                  <a:lnTo>
                    <a:pt x="14" y="434"/>
                  </a:lnTo>
                  <a:lnTo>
                    <a:pt x="16" y="434"/>
                  </a:lnTo>
                  <a:lnTo>
                    <a:pt x="18" y="434"/>
                  </a:lnTo>
                  <a:lnTo>
                    <a:pt x="20" y="434"/>
                  </a:lnTo>
                  <a:lnTo>
                    <a:pt x="20" y="434"/>
                  </a:lnTo>
                  <a:lnTo>
                    <a:pt x="21" y="434"/>
                  </a:lnTo>
                  <a:lnTo>
                    <a:pt x="21" y="434"/>
                  </a:lnTo>
                  <a:lnTo>
                    <a:pt x="21" y="434"/>
                  </a:lnTo>
                  <a:lnTo>
                    <a:pt x="21" y="434"/>
                  </a:lnTo>
                  <a:lnTo>
                    <a:pt x="21" y="432"/>
                  </a:lnTo>
                  <a:lnTo>
                    <a:pt x="21" y="432"/>
                  </a:lnTo>
                  <a:lnTo>
                    <a:pt x="21" y="432"/>
                  </a:lnTo>
                  <a:lnTo>
                    <a:pt x="21" y="432"/>
                  </a:lnTo>
                  <a:lnTo>
                    <a:pt x="21" y="430"/>
                  </a:lnTo>
                  <a:lnTo>
                    <a:pt x="21" y="430"/>
                  </a:lnTo>
                  <a:lnTo>
                    <a:pt x="23" y="430"/>
                  </a:lnTo>
                  <a:lnTo>
                    <a:pt x="23" y="430"/>
                  </a:lnTo>
                  <a:lnTo>
                    <a:pt x="25" y="430"/>
                  </a:lnTo>
                  <a:lnTo>
                    <a:pt x="25" y="430"/>
                  </a:lnTo>
                  <a:lnTo>
                    <a:pt x="25" y="430"/>
                  </a:lnTo>
                  <a:lnTo>
                    <a:pt x="27" y="432"/>
                  </a:lnTo>
                  <a:lnTo>
                    <a:pt x="27" y="436"/>
                  </a:lnTo>
                  <a:lnTo>
                    <a:pt x="27" y="438"/>
                  </a:lnTo>
                  <a:lnTo>
                    <a:pt x="29" y="438"/>
                  </a:lnTo>
                  <a:lnTo>
                    <a:pt x="31" y="440"/>
                  </a:lnTo>
                  <a:lnTo>
                    <a:pt x="31" y="440"/>
                  </a:lnTo>
                  <a:lnTo>
                    <a:pt x="35" y="440"/>
                  </a:lnTo>
                  <a:lnTo>
                    <a:pt x="37" y="442"/>
                  </a:lnTo>
                  <a:lnTo>
                    <a:pt x="37" y="442"/>
                  </a:lnTo>
                  <a:lnTo>
                    <a:pt x="37" y="442"/>
                  </a:lnTo>
                  <a:lnTo>
                    <a:pt x="39" y="444"/>
                  </a:lnTo>
                  <a:lnTo>
                    <a:pt x="39" y="449"/>
                  </a:lnTo>
                  <a:lnTo>
                    <a:pt x="40" y="449"/>
                  </a:lnTo>
                  <a:lnTo>
                    <a:pt x="40" y="451"/>
                  </a:lnTo>
                  <a:lnTo>
                    <a:pt x="42" y="451"/>
                  </a:lnTo>
                  <a:lnTo>
                    <a:pt x="46" y="453"/>
                  </a:lnTo>
                  <a:lnTo>
                    <a:pt x="48" y="453"/>
                  </a:lnTo>
                  <a:lnTo>
                    <a:pt x="50" y="455"/>
                  </a:lnTo>
                  <a:lnTo>
                    <a:pt x="52" y="455"/>
                  </a:lnTo>
                  <a:lnTo>
                    <a:pt x="52" y="455"/>
                  </a:lnTo>
                  <a:lnTo>
                    <a:pt x="52" y="455"/>
                  </a:lnTo>
                  <a:lnTo>
                    <a:pt x="54" y="457"/>
                  </a:lnTo>
                  <a:lnTo>
                    <a:pt x="54" y="459"/>
                  </a:lnTo>
                  <a:lnTo>
                    <a:pt x="58" y="461"/>
                  </a:lnTo>
                  <a:lnTo>
                    <a:pt x="58" y="463"/>
                  </a:lnTo>
                  <a:lnTo>
                    <a:pt x="60" y="464"/>
                  </a:lnTo>
                  <a:lnTo>
                    <a:pt x="58" y="464"/>
                  </a:lnTo>
                  <a:lnTo>
                    <a:pt x="58" y="466"/>
                  </a:lnTo>
                  <a:lnTo>
                    <a:pt x="58" y="468"/>
                  </a:lnTo>
                  <a:lnTo>
                    <a:pt x="56" y="468"/>
                  </a:lnTo>
                  <a:lnTo>
                    <a:pt x="54" y="468"/>
                  </a:lnTo>
                  <a:lnTo>
                    <a:pt x="52" y="468"/>
                  </a:lnTo>
                  <a:lnTo>
                    <a:pt x="52" y="470"/>
                  </a:lnTo>
                  <a:lnTo>
                    <a:pt x="50" y="470"/>
                  </a:lnTo>
                  <a:lnTo>
                    <a:pt x="50" y="470"/>
                  </a:lnTo>
                  <a:lnTo>
                    <a:pt x="50" y="472"/>
                  </a:lnTo>
                  <a:lnTo>
                    <a:pt x="52" y="474"/>
                  </a:lnTo>
                  <a:lnTo>
                    <a:pt x="52" y="476"/>
                  </a:lnTo>
                  <a:lnTo>
                    <a:pt x="52" y="476"/>
                  </a:lnTo>
                  <a:lnTo>
                    <a:pt x="52" y="478"/>
                  </a:lnTo>
                  <a:lnTo>
                    <a:pt x="48" y="480"/>
                  </a:lnTo>
                  <a:lnTo>
                    <a:pt x="46" y="480"/>
                  </a:lnTo>
                  <a:lnTo>
                    <a:pt x="44" y="482"/>
                  </a:lnTo>
                  <a:lnTo>
                    <a:pt x="44" y="482"/>
                  </a:lnTo>
                  <a:lnTo>
                    <a:pt x="42" y="483"/>
                  </a:lnTo>
                  <a:lnTo>
                    <a:pt x="42" y="483"/>
                  </a:lnTo>
                  <a:lnTo>
                    <a:pt x="42" y="483"/>
                  </a:lnTo>
                  <a:lnTo>
                    <a:pt x="40" y="482"/>
                  </a:lnTo>
                  <a:lnTo>
                    <a:pt x="40" y="480"/>
                  </a:lnTo>
                  <a:lnTo>
                    <a:pt x="39" y="478"/>
                  </a:lnTo>
                  <a:lnTo>
                    <a:pt x="37" y="478"/>
                  </a:lnTo>
                  <a:lnTo>
                    <a:pt x="35" y="478"/>
                  </a:lnTo>
                  <a:lnTo>
                    <a:pt x="33" y="478"/>
                  </a:lnTo>
                  <a:lnTo>
                    <a:pt x="31" y="476"/>
                  </a:lnTo>
                  <a:lnTo>
                    <a:pt x="31" y="472"/>
                  </a:lnTo>
                  <a:lnTo>
                    <a:pt x="29" y="470"/>
                  </a:lnTo>
                  <a:lnTo>
                    <a:pt x="27" y="472"/>
                  </a:lnTo>
                  <a:lnTo>
                    <a:pt x="25" y="472"/>
                  </a:lnTo>
                  <a:lnTo>
                    <a:pt x="25" y="474"/>
                  </a:lnTo>
                  <a:lnTo>
                    <a:pt x="23" y="476"/>
                  </a:lnTo>
                  <a:lnTo>
                    <a:pt x="23" y="476"/>
                  </a:lnTo>
                  <a:lnTo>
                    <a:pt x="21" y="476"/>
                  </a:lnTo>
                  <a:lnTo>
                    <a:pt x="20" y="478"/>
                  </a:lnTo>
                  <a:lnTo>
                    <a:pt x="20" y="478"/>
                  </a:lnTo>
                  <a:lnTo>
                    <a:pt x="18" y="482"/>
                  </a:lnTo>
                  <a:lnTo>
                    <a:pt x="18" y="483"/>
                  </a:lnTo>
                  <a:lnTo>
                    <a:pt x="16" y="483"/>
                  </a:lnTo>
                  <a:lnTo>
                    <a:pt x="14" y="483"/>
                  </a:lnTo>
                  <a:lnTo>
                    <a:pt x="14" y="485"/>
                  </a:lnTo>
                  <a:lnTo>
                    <a:pt x="12" y="487"/>
                  </a:lnTo>
                  <a:lnTo>
                    <a:pt x="10" y="495"/>
                  </a:lnTo>
                  <a:lnTo>
                    <a:pt x="10" y="497"/>
                  </a:lnTo>
                  <a:lnTo>
                    <a:pt x="10" y="499"/>
                  </a:lnTo>
                  <a:lnTo>
                    <a:pt x="8" y="501"/>
                  </a:lnTo>
                  <a:lnTo>
                    <a:pt x="2" y="508"/>
                  </a:lnTo>
                  <a:lnTo>
                    <a:pt x="0" y="512"/>
                  </a:lnTo>
                  <a:lnTo>
                    <a:pt x="0" y="514"/>
                  </a:lnTo>
                  <a:lnTo>
                    <a:pt x="2" y="518"/>
                  </a:lnTo>
                  <a:lnTo>
                    <a:pt x="8" y="523"/>
                  </a:lnTo>
                  <a:lnTo>
                    <a:pt x="8" y="525"/>
                  </a:lnTo>
                  <a:lnTo>
                    <a:pt x="6" y="527"/>
                  </a:lnTo>
                  <a:lnTo>
                    <a:pt x="0" y="531"/>
                  </a:lnTo>
                  <a:lnTo>
                    <a:pt x="0" y="531"/>
                  </a:lnTo>
                  <a:lnTo>
                    <a:pt x="0" y="533"/>
                  </a:lnTo>
                  <a:lnTo>
                    <a:pt x="0" y="535"/>
                  </a:lnTo>
                  <a:lnTo>
                    <a:pt x="0" y="535"/>
                  </a:lnTo>
                  <a:lnTo>
                    <a:pt x="0" y="537"/>
                  </a:lnTo>
                  <a:lnTo>
                    <a:pt x="2" y="537"/>
                  </a:lnTo>
                  <a:lnTo>
                    <a:pt x="2" y="537"/>
                  </a:lnTo>
                  <a:lnTo>
                    <a:pt x="4" y="539"/>
                  </a:lnTo>
                  <a:lnTo>
                    <a:pt x="4" y="539"/>
                  </a:lnTo>
                  <a:lnTo>
                    <a:pt x="4" y="541"/>
                  </a:lnTo>
                  <a:lnTo>
                    <a:pt x="4" y="541"/>
                  </a:lnTo>
                  <a:lnTo>
                    <a:pt x="4" y="542"/>
                  </a:lnTo>
                  <a:lnTo>
                    <a:pt x="6" y="544"/>
                  </a:lnTo>
                  <a:lnTo>
                    <a:pt x="6" y="544"/>
                  </a:lnTo>
                  <a:lnTo>
                    <a:pt x="6" y="546"/>
                  </a:lnTo>
                  <a:lnTo>
                    <a:pt x="8" y="546"/>
                  </a:lnTo>
                  <a:lnTo>
                    <a:pt x="8" y="548"/>
                  </a:lnTo>
                  <a:lnTo>
                    <a:pt x="8" y="548"/>
                  </a:lnTo>
                  <a:lnTo>
                    <a:pt x="10" y="548"/>
                  </a:lnTo>
                  <a:lnTo>
                    <a:pt x="10" y="548"/>
                  </a:lnTo>
                  <a:lnTo>
                    <a:pt x="10" y="546"/>
                  </a:lnTo>
                  <a:lnTo>
                    <a:pt x="12" y="546"/>
                  </a:lnTo>
                  <a:lnTo>
                    <a:pt x="12" y="548"/>
                  </a:lnTo>
                  <a:lnTo>
                    <a:pt x="12" y="548"/>
                  </a:lnTo>
                  <a:lnTo>
                    <a:pt x="14" y="550"/>
                  </a:lnTo>
                  <a:lnTo>
                    <a:pt x="16" y="548"/>
                  </a:lnTo>
                  <a:lnTo>
                    <a:pt x="20" y="548"/>
                  </a:lnTo>
                  <a:lnTo>
                    <a:pt x="21" y="548"/>
                  </a:lnTo>
                  <a:lnTo>
                    <a:pt x="21" y="548"/>
                  </a:lnTo>
                  <a:lnTo>
                    <a:pt x="23" y="550"/>
                  </a:lnTo>
                  <a:lnTo>
                    <a:pt x="25" y="550"/>
                  </a:lnTo>
                  <a:lnTo>
                    <a:pt x="27" y="552"/>
                  </a:lnTo>
                  <a:lnTo>
                    <a:pt x="27" y="552"/>
                  </a:lnTo>
                  <a:lnTo>
                    <a:pt x="29" y="554"/>
                  </a:lnTo>
                  <a:lnTo>
                    <a:pt x="35" y="560"/>
                  </a:lnTo>
                  <a:lnTo>
                    <a:pt x="35" y="561"/>
                  </a:lnTo>
                  <a:lnTo>
                    <a:pt x="37" y="563"/>
                  </a:lnTo>
                  <a:lnTo>
                    <a:pt x="39" y="565"/>
                  </a:lnTo>
                  <a:lnTo>
                    <a:pt x="40" y="567"/>
                  </a:lnTo>
                  <a:lnTo>
                    <a:pt x="40" y="567"/>
                  </a:lnTo>
                  <a:lnTo>
                    <a:pt x="42" y="569"/>
                  </a:lnTo>
                  <a:lnTo>
                    <a:pt x="42" y="573"/>
                  </a:lnTo>
                  <a:lnTo>
                    <a:pt x="44" y="579"/>
                  </a:lnTo>
                  <a:lnTo>
                    <a:pt x="46" y="580"/>
                  </a:lnTo>
                  <a:lnTo>
                    <a:pt x="48" y="582"/>
                  </a:lnTo>
                  <a:lnTo>
                    <a:pt x="48" y="582"/>
                  </a:lnTo>
                  <a:lnTo>
                    <a:pt x="46" y="584"/>
                  </a:lnTo>
                  <a:lnTo>
                    <a:pt x="46" y="584"/>
                  </a:lnTo>
                  <a:lnTo>
                    <a:pt x="44" y="584"/>
                  </a:lnTo>
                  <a:lnTo>
                    <a:pt x="44" y="586"/>
                  </a:lnTo>
                  <a:lnTo>
                    <a:pt x="44" y="586"/>
                  </a:lnTo>
                  <a:lnTo>
                    <a:pt x="42" y="588"/>
                  </a:lnTo>
                  <a:lnTo>
                    <a:pt x="42" y="588"/>
                  </a:lnTo>
                  <a:lnTo>
                    <a:pt x="44" y="590"/>
                  </a:lnTo>
                  <a:lnTo>
                    <a:pt x="44" y="590"/>
                  </a:lnTo>
                  <a:lnTo>
                    <a:pt x="46" y="590"/>
                  </a:lnTo>
                  <a:lnTo>
                    <a:pt x="48" y="590"/>
                  </a:lnTo>
                  <a:lnTo>
                    <a:pt x="48" y="590"/>
                  </a:lnTo>
                  <a:lnTo>
                    <a:pt x="50" y="590"/>
                  </a:lnTo>
                  <a:lnTo>
                    <a:pt x="50" y="590"/>
                  </a:lnTo>
                  <a:lnTo>
                    <a:pt x="50" y="590"/>
                  </a:lnTo>
                  <a:lnTo>
                    <a:pt x="50" y="588"/>
                  </a:lnTo>
                  <a:lnTo>
                    <a:pt x="50" y="586"/>
                  </a:lnTo>
                  <a:lnTo>
                    <a:pt x="52" y="586"/>
                  </a:lnTo>
                  <a:lnTo>
                    <a:pt x="52" y="586"/>
                  </a:lnTo>
                  <a:lnTo>
                    <a:pt x="52" y="586"/>
                  </a:lnTo>
                  <a:lnTo>
                    <a:pt x="54" y="586"/>
                  </a:lnTo>
                  <a:lnTo>
                    <a:pt x="54" y="586"/>
                  </a:lnTo>
                  <a:lnTo>
                    <a:pt x="54" y="588"/>
                  </a:lnTo>
                  <a:lnTo>
                    <a:pt x="54" y="588"/>
                  </a:lnTo>
                  <a:lnTo>
                    <a:pt x="54" y="590"/>
                  </a:lnTo>
                  <a:lnTo>
                    <a:pt x="56" y="592"/>
                  </a:lnTo>
                  <a:lnTo>
                    <a:pt x="56" y="592"/>
                  </a:lnTo>
                  <a:lnTo>
                    <a:pt x="56" y="594"/>
                  </a:lnTo>
                  <a:lnTo>
                    <a:pt x="58" y="594"/>
                  </a:lnTo>
                  <a:lnTo>
                    <a:pt x="60" y="592"/>
                  </a:lnTo>
                  <a:lnTo>
                    <a:pt x="61" y="592"/>
                  </a:lnTo>
                  <a:lnTo>
                    <a:pt x="61" y="592"/>
                  </a:lnTo>
                  <a:lnTo>
                    <a:pt x="63" y="592"/>
                  </a:lnTo>
                  <a:lnTo>
                    <a:pt x="65" y="592"/>
                  </a:lnTo>
                  <a:lnTo>
                    <a:pt x="65" y="594"/>
                  </a:lnTo>
                  <a:lnTo>
                    <a:pt x="63" y="594"/>
                  </a:lnTo>
                  <a:lnTo>
                    <a:pt x="63" y="596"/>
                  </a:lnTo>
                  <a:lnTo>
                    <a:pt x="63" y="596"/>
                  </a:lnTo>
                  <a:lnTo>
                    <a:pt x="61" y="598"/>
                  </a:lnTo>
                  <a:lnTo>
                    <a:pt x="63" y="599"/>
                  </a:lnTo>
                  <a:lnTo>
                    <a:pt x="63" y="601"/>
                  </a:lnTo>
                  <a:lnTo>
                    <a:pt x="63" y="603"/>
                  </a:lnTo>
                  <a:lnTo>
                    <a:pt x="63" y="605"/>
                  </a:lnTo>
                  <a:lnTo>
                    <a:pt x="65" y="609"/>
                  </a:lnTo>
                  <a:lnTo>
                    <a:pt x="67" y="609"/>
                  </a:lnTo>
                  <a:lnTo>
                    <a:pt x="67" y="622"/>
                  </a:lnTo>
                  <a:lnTo>
                    <a:pt x="69" y="624"/>
                  </a:lnTo>
                  <a:lnTo>
                    <a:pt x="69" y="628"/>
                  </a:lnTo>
                  <a:lnTo>
                    <a:pt x="71" y="628"/>
                  </a:lnTo>
                  <a:lnTo>
                    <a:pt x="73" y="628"/>
                  </a:lnTo>
                  <a:lnTo>
                    <a:pt x="73" y="628"/>
                  </a:lnTo>
                  <a:lnTo>
                    <a:pt x="77" y="626"/>
                  </a:lnTo>
                  <a:lnTo>
                    <a:pt x="79" y="624"/>
                  </a:lnTo>
                  <a:lnTo>
                    <a:pt x="81" y="622"/>
                  </a:lnTo>
                  <a:lnTo>
                    <a:pt x="82" y="622"/>
                  </a:lnTo>
                  <a:lnTo>
                    <a:pt x="82" y="622"/>
                  </a:lnTo>
                  <a:lnTo>
                    <a:pt x="84" y="622"/>
                  </a:lnTo>
                  <a:lnTo>
                    <a:pt x="84" y="622"/>
                  </a:lnTo>
                  <a:lnTo>
                    <a:pt x="86" y="624"/>
                  </a:lnTo>
                  <a:lnTo>
                    <a:pt x="88" y="624"/>
                  </a:lnTo>
                  <a:lnTo>
                    <a:pt x="90" y="626"/>
                  </a:lnTo>
                  <a:lnTo>
                    <a:pt x="94" y="626"/>
                  </a:lnTo>
                  <a:lnTo>
                    <a:pt x="98" y="624"/>
                  </a:lnTo>
                  <a:lnTo>
                    <a:pt x="105" y="626"/>
                  </a:lnTo>
                  <a:lnTo>
                    <a:pt x="103" y="624"/>
                  </a:lnTo>
                  <a:lnTo>
                    <a:pt x="103" y="622"/>
                  </a:lnTo>
                  <a:lnTo>
                    <a:pt x="105" y="620"/>
                  </a:lnTo>
                  <a:lnTo>
                    <a:pt x="105" y="618"/>
                  </a:lnTo>
                  <a:lnTo>
                    <a:pt x="105" y="618"/>
                  </a:lnTo>
                  <a:lnTo>
                    <a:pt x="105" y="618"/>
                  </a:lnTo>
                  <a:lnTo>
                    <a:pt x="105" y="617"/>
                  </a:lnTo>
                  <a:lnTo>
                    <a:pt x="105" y="617"/>
                  </a:lnTo>
                  <a:lnTo>
                    <a:pt x="107" y="617"/>
                  </a:lnTo>
                  <a:lnTo>
                    <a:pt x="107" y="617"/>
                  </a:lnTo>
                  <a:lnTo>
                    <a:pt x="107" y="618"/>
                  </a:lnTo>
                  <a:lnTo>
                    <a:pt x="107" y="618"/>
                  </a:lnTo>
                  <a:lnTo>
                    <a:pt x="109" y="618"/>
                  </a:lnTo>
                  <a:lnTo>
                    <a:pt x="109" y="618"/>
                  </a:lnTo>
                  <a:lnTo>
                    <a:pt x="109" y="618"/>
                  </a:lnTo>
                  <a:lnTo>
                    <a:pt x="109" y="618"/>
                  </a:lnTo>
                  <a:lnTo>
                    <a:pt x="109" y="617"/>
                  </a:lnTo>
                  <a:lnTo>
                    <a:pt x="109" y="615"/>
                  </a:lnTo>
                  <a:lnTo>
                    <a:pt x="109" y="615"/>
                  </a:lnTo>
                  <a:lnTo>
                    <a:pt x="109" y="613"/>
                  </a:lnTo>
                  <a:lnTo>
                    <a:pt x="111" y="613"/>
                  </a:lnTo>
                  <a:lnTo>
                    <a:pt x="111" y="611"/>
                  </a:lnTo>
                  <a:lnTo>
                    <a:pt x="111" y="611"/>
                  </a:lnTo>
                  <a:lnTo>
                    <a:pt x="113" y="611"/>
                  </a:lnTo>
                  <a:lnTo>
                    <a:pt x="113" y="609"/>
                  </a:lnTo>
                  <a:lnTo>
                    <a:pt x="113" y="607"/>
                  </a:lnTo>
                  <a:lnTo>
                    <a:pt x="113" y="603"/>
                  </a:lnTo>
                  <a:lnTo>
                    <a:pt x="113" y="603"/>
                  </a:lnTo>
                  <a:lnTo>
                    <a:pt x="113" y="601"/>
                  </a:lnTo>
                  <a:lnTo>
                    <a:pt x="113" y="601"/>
                  </a:lnTo>
                  <a:lnTo>
                    <a:pt x="113" y="601"/>
                  </a:lnTo>
                  <a:lnTo>
                    <a:pt x="115" y="599"/>
                  </a:lnTo>
                  <a:lnTo>
                    <a:pt x="115" y="599"/>
                  </a:lnTo>
                  <a:lnTo>
                    <a:pt x="115" y="599"/>
                  </a:lnTo>
                  <a:lnTo>
                    <a:pt x="115" y="598"/>
                  </a:lnTo>
                  <a:lnTo>
                    <a:pt x="117" y="596"/>
                  </a:lnTo>
                  <a:lnTo>
                    <a:pt x="117" y="594"/>
                  </a:lnTo>
                  <a:lnTo>
                    <a:pt x="117" y="592"/>
                  </a:lnTo>
                  <a:lnTo>
                    <a:pt x="117" y="590"/>
                  </a:lnTo>
                  <a:lnTo>
                    <a:pt x="117" y="590"/>
                  </a:lnTo>
                  <a:lnTo>
                    <a:pt x="115" y="588"/>
                  </a:lnTo>
                  <a:lnTo>
                    <a:pt x="115" y="588"/>
                  </a:lnTo>
                  <a:lnTo>
                    <a:pt x="115" y="588"/>
                  </a:lnTo>
                  <a:lnTo>
                    <a:pt x="115" y="586"/>
                  </a:lnTo>
                  <a:lnTo>
                    <a:pt x="117" y="586"/>
                  </a:lnTo>
                  <a:lnTo>
                    <a:pt x="117" y="586"/>
                  </a:lnTo>
                  <a:lnTo>
                    <a:pt x="117" y="584"/>
                  </a:lnTo>
                  <a:lnTo>
                    <a:pt x="119" y="580"/>
                  </a:lnTo>
                  <a:lnTo>
                    <a:pt x="119" y="580"/>
                  </a:lnTo>
                  <a:lnTo>
                    <a:pt x="119" y="580"/>
                  </a:lnTo>
                  <a:lnTo>
                    <a:pt x="121" y="580"/>
                  </a:lnTo>
                  <a:lnTo>
                    <a:pt x="121" y="580"/>
                  </a:lnTo>
                  <a:lnTo>
                    <a:pt x="121" y="580"/>
                  </a:lnTo>
                  <a:lnTo>
                    <a:pt x="122" y="580"/>
                  </a:lnTo>
                  <a:lnTo>
                    <a:pt x="128" y="579"/>
                  </a:lnTo>
                  <a:lnTo>
                    <a:pt x="128" y="577"/>
                  </a:lnTo>
                  <a:lnTo>
                    <a:pt x="128" y="577"/>
                  </a:lnTo>
                  <a:lnTo>
                    <a:pt x="130" y="575"/>
                  </a:lnTo>
                  <a:lnTo>
                    <a:pt x="130" y="575"/>
                  </a:lnTo>
                  <a:lnTo>
                    <a:pt x="132" y="575"/>
                  </a:lnTo>
                  <a:lnTo>
                    <a:pt x="132" y="573"/>
                  </a:lnTo>
                  <a:lnTo>
                    <a:pt x="134" y="573"/>
                  </a:lnTo>
                  <a:lnTo>
                    <a:pt x="136" y="573"/>
                  </a:lnTo>
                  <a:lnTo>
                    <a:pt x="136" y="573"/>
                  </a:lnTo>
                  <a:lnTo>
                    <a:pt x="136" y="571"/>
                  </a:lnTo>
                  <a:lnTo>
                    <a:pt x="140" y="567"/>
                  </a:lnTo>
                  <a:lnTo>
                    <a:pt x="141" y="563"/>
                  </a:lnTo>
                  <a:lnTo>
                    <a:pt x="143" y="563"/>
                  </a:lnTo>
                  <a:lnTo>
                    <a:pt x="145" y="560"/>
                  </a:lnTo>
                  <a:lnTo>
                    <a:pt x="149" y="558"/>
                  </a:lnTo>
                  <a:lnTo>
                    <a:pt x="151" y="556"/>
                  </a:lnTo>
                  <a:lnTo>
                    <a:pt x="153" y="554"/>
                  </a:lnTo>
                  <a:lnTo>
                    <a:pt x="153" y="554"/>
                  </a:lnTo>
                  <a:lnTo>
                    <a:pt x="155" y="552"/>
                  </a:lnTo>
                  <a:lnTo>
                    <a:pt x="155" y="552"/>
                  </a:lnTo>
                  <a:lnTo>
                    <a:pt x="155" y="552"/>
                  </a:lnTo>
                  <a:lnTo>
                    <a:pt x="155" y="550"/>
                  </a:lnTo>
                  <a:lnTo>
                    <a:pt x="155" y="548"/>
                  </a:lnTo>
                  <a:lnTo>
                    <a:pt x="155" y="548"/>
                  </a:lnTo>
                  <a:lnTo>
                    <a:pt x="153" y="546"/>
                  </a:lnTo>
                  <a:lnTo>
                    <a:pt x="153" y="546"/>
                  </a:lnTo>
                  <a:lnTo>
                    <a:pt x="151" y="546"/>
                  </a:lnTo>
                  <a:lnTo>
                    <a:pt x="151" y="546"/>
                  </a:lnTo>
                  <a:lnTo>
                    <a:pt x="151" y="544"/>
                  </a:lnTo>
                  <a:lnTo>
                    <a:pt x="153" y="544"/>
                  </a:lnTo>
                  <a:lnTo>
                    <a:pt x="153" y="544"/>
                  </a:lnTo>
                  <a:lnTo>
                    <a:pt x="153" y="544"/>
                  </a:lnTo>
                  <a:lnTo>
                    <a:pt x="155" y="544"/>
                  </a:lnTo>
                  <a:lnTo>
                    <a:pt x="155" y="542"/>
                  </a:lnTo>
                  <a:lnTo>
                    <a:pt x="155" y="542"/>
                  </a:lnTo>
                  <a:lnTo>
                    <a:pt x="157" y="541"/>
                  </a:lnTo>
                  <a:lnTo>
                    <a:pt x="157" y="541"/>
                  </a:lnTo>
                  <a:lnTo>
                    <a:pt x="159" y="539"/>
                  </a:lnTo>
                  <a:lnTo>
                    <a:pt x="159" y="539"/>
                  </a:lnTo>
                  <a:lnTo>
                    <a:pt x="161" y="539"/>
                  </a:lnTo>
                  <a:lnTo>
                    <a:pt x="161" y="539"/>
                  </a:lnTo>
                  <a:lnTo>
                    <a:pt x="164" y="537"/>
                  </a:lnTo>
                  <a:lnTo>
                    <a:pt x="166" y="537"/>
                  </a:lnTo>
                  <a:lnTo>
                    <a:pt x="166" y="537"/>
                  </a:lnTo>
                  <a:lnTo>
                    <a:pt x="168" y="535"/>
                  </a:lnTo>
                  <a:lnTo>
                    <a:pt x="168" y="533"/>
                  </a:lnTo>
                  <a:lnTo>
                    <a:pt x="170" y="531"/>
                  </a:lnTo>
                  <a:lnTo>
                    <a:pt x="170" y="531"/>
                  </a:lnTo>
                  <a:lnTo>
                    <a:pt x="170" y="531"/>
                  </a:lnTo>
                  <a:lnTo>
                    <a:pt x="170" y="531"/>
                  </a:lnTo>
                  <a:lnTo>
                    <a:pt x="172" y="533"/>
                  </a:lnTo>
                  <a:lnTo>
                    <a:pt x="172" y="533"/>
                  </a:lnTo>
                  <a:lnTo>
                    <a:pt x="174" y="535"/>
                  </a:lnTo>
                  <a:lnTo>
                    <a:pt x="174" y="533"/>
                  </a:lnTo>
                  <a:lnTo>
                    <a:pt x="174" y="531"/>
                  </a:lnTo>
                  <a:lnTo>
                    <a:pt x="174" y="529"/>
                  </a:lnTo>
                  <a:lnTo>
                    <a:pt x="174" y="529"/>
                  </a:lnTo>
                  <a:lnTo>
                    <a:pt x="176" y="525"/>
                  </a:lnTo>
                  <a:lnTo>
                    <a:pt x="176" y="521"/>
                  </a:lnTo>
                  <a:lnTo>
                    <a:pt x="176" y="521"/>
                  </a:lnTo>
                  <a:lnTo>
                    <a:pt x="176" y="521"/>
                  </a:lnTo>
                  <a:lnTo>
                    <a:pt x="176" y="520"/>
                  </a:lnTo>
                  <a:lnTo>
                    <a:pt x="178" y="520"/>
                  </a:lnTo>
                  <a:lnTo>
                    <a:pt x="178" y="520"/>
                  </a:lnTo>
                  <a:lnTo>
                    <a:pt x="178" y="520"/>
                  </a:lnTo>
                  <a:lnTo>
                    <a:pt x="178" y="520"/>
                  </a:lnTo>
                  <a:lnTo>
                    <a:pt x="180" y="518"/>
                  </a:lnTo>
                  <a:lnTo>
                    <a:pt x="181" y="518"/>
                  </a:lnTo>
                  <a:lnTo>
                    <a:pt x="181" y="518"/>
                  </a:lnTo>
                  <a:lnTo>
                    <a:pt x="181" y="516"/>
                  </a:lnTo>
                  <a:lnTo>
                    <a:pt x="181" y="510"/>
                  </a:lnTo>
                  <a:lnTo>
                    <a:pt x="181" y="508"/>
                  </a:lnTo>
                  <a:lnTo>
                    <a:pt x="181" y="508"/>
                  </a:lnTo>
                  <a:lnTo>
                    <a:pt x="181" y="506"/>
                  </a:lnTo>
                  <a:lnTo>
                    <a:pt x="180" y="504"/>
                  </a:lnTo>
                  <a:lnTo>
                    <a:pt x="180" y="504"/>
                  </a:lnTo>
                  <a:lnTo>
                    <a:pt x="180" y="501"/>
                  </a:lnTo>
                  <a:lnTo>
                    <a:pt x="178" y="501"/>
                  </a:lnTo>
                  <a:lnTo>
                    <a:pt x="178" y="499"/>
                  </a:lnTo>
                  <a:lnTo>
                    <a:pt x="176" y="499"/>
                  </a:lnTo>
                  <a:lnTo>
                    <a:pt x="176" y="497"/>
                  </a:lnTo>
                  <a:lnTo>
                    <a:pt x="176" y="497"/>
                  </a:lnTo>
                  <a:lnTo>
                    <a:pt x="176" y="495"/>
                  </a:lnTo>
                  <a:lnTo>
                    <a:pt x="176" y="493"/>
                  </a:lnTo>
                  <a:lnTo>
                    <a:pt x="176" y="491"/>
                  </a:lnTo>
                  <a:lnTo>
                    <a:pt x="174" y="489"/>
                  </a:lnTo>
                  <a:lnTo>
                    <a:pt x="174" y="489"/>
                  </a:lnTo>
                  <a:lnTo>
                    <a:pt x="174" y="487"/>
                  </a:lnTo>
                  <a:lnTo>
                    <a:pt x="174" y="485"/>
                  </a:lnTo>
                  <a:lnTo>
                    <a:pt x="174" y="483"/>
                  </a:lnTo>
                  <a:lnTo>
                    <a:pt x="174" y="483"/>
                  </a:lnTo>
                  <a:lnTo>
                    <a:pt x="176" y="480"/>
                  </a:lnTo>
                  <a:lnTo>
                    <a:pt x="176" y="478"/>
                  </a:lnTo>
                  <a:lnTo>
                    <a:pt x="176" y="478"/>
                  </a:lnTo>
                  <a:lnTo>
                    <a:pt x="176" y="476"/>
                  </a:lnTo>
                  <a:lnTo>
                    <a:pt x="174" y="476"/>
                  </a:lnTo>
                  <a:lnTo>
                    <a:pt x="174" y="476"/>
                  </a:lnTo>
                  <a:lnTo>
                    <a:pt x="174" y="474"/>
                  </a:lnTo>
                  <a:lnTo>
                    <a:pt x="174" y="474"/>
                  </a:lnTo>
                  <a:lnTo>
                    <a:pt x="174" y="474"/>
                  </a:lnTo>
                  <a:lnTo>
                    <a:pt x="176" y="472"/>
                  </a:lnTo>
                  <a:lnTo>
                    <a:pt x="176" y="472"/>
                  </a:lnTo>
                  <a:lnTo>
                    <a:pt x="176" y="470"/>
                  </a:lnTo>
                  <a:lnTo>
                    <a:pt x="176" y="470"/>
                  </a:lnTo>
                  <a:lnTo>
                    <a:pt x="176" y="468"/>
                  </a:lnTo>
                  <a:lnTo>
                    <a:pt x="174" y="468"/>
                  </a:lnTo>
                  <a:lnTo>
                    <a:pt x="174" y="468"/>
                  </a:lnTo>
                  <a:lnTo>
                    <a:pt x="172" y="466"/>
                  </a:lnTo>
                  <a:lnTo>
                    <a:pt x="170" y="466"/>
                  </a:lnTo>
                  <a:lnTo>
                    <a:pt x="170" y="466"/>
                  </a:lnTo>
                  <a:lnTo>
                    <a:pt x="170" y="466"/>
                  </a:lnTo>
                  <a:lnTo>
                    <a:pt x="168" y="463"/>
                  </a:lnTo>
                  <a:lnTo>
                    <a:pt x="168" y="461"/>
                  </a:lnTo>
                  <a:lnTo>
                    <a:pt x="168" y="461"/>
                  </a:lnTo>
                  <a:lnTo>
                    <a:pt x="166" y="461"/>
                  </a:lnTo>
                  <a:lnTo>
                    <a:pt x="164" y="461"/>
                  </a:lnTo>
                  <a:lnTo>
                    <a:pt x="164" y="459"/>
                  </a:lnTo>
                  <a:lnTo>
                    <a:pt x="162" y="459"/>
                  </a:lnTo>
                  <a:lnTo>
                    <a:pt x="164" y="451"/>
                  </a:lnTo>
                  <a:lnTo>
                    <a:pt x="164" y="449"/>
                  </a:lnTo>
                  <a:lnTo>
                    <a:pt x="164" y="447"/>
                  </a:lnTo>
                  <a:lnTo>
                    <a:pt x="164" y="445"/>
                  </a:lnTo>
                  <a:lnTo>
                    <a:pt x="162" y="444"/>
                  </a:lnTo>
                  <a:lnTo>
                    <a:pt x="162" y="442"/>
                  </a:lnTo>
                  <a:lnTo>
                    <a:pt x="162" y="440"/>
                  </a:lnTo>
                  <a:lnTo>
                    <a:pt x="164" y="436"/>
                  </a:lnTo>
                  <a:lnTo>
                    <a:pt x="164" y="434"/>
                  </a:lnTo>
                  <a:lnTo>
                    <a:pt x="162" y="434"/>
                  </a:lnTo>
                  <a:lnTo>
                    <a:pt x="162" y="432"/>
                  </a:lnTo>
                  <a:lnTo>
                    <a:pt x="162" y="432"/>
                  </a:lnTo>
                  <a:lnTo>
                    <a:pt x="159" y="432"/>
                  </a:lnTo>
                  <a:lnTo>
                    <a:pt x="157" y="432"/>
                  </a:lnTo>
                  <a:lnTo>
                    <a:pt x="157" y="432"/>
                  </a:lnTo>
                  <a:lnTo>
                    <a:pt x="157" y="430"/>
                  </a:lnTo>
                  <a:lnTo>
                    <a:pt x="155" y="428"/>
                  </a:lnTo>
                  <a:lnTo>
                    <a:pt x="155" y="426"/>
                  </a:lnTo>
                  <a:lnTo>
                    <a:pt x="155" y="426"/>
                  </a:lnTo>
                  <a:lnTo>
                    <a:pt x="145" y="423"/>
                  </a:lnTo>
                  <a:lnTo>
                    <a:pt x="145" y="421"/>
                  </a:lnTo>
                  <a:lnTo>
                    <a:pt x="143" y="421"/>
                  </a:lnTo>
                  <a:lnTo>
                    <a:pt x="143" y="419"/>
                  </a:lnTo>
                  <a:lnTo>
                    <a:pt x="143" y="419"/>
                  </a:lnTo>
                  <a:lnTo>
                    <a:pt x="143" y="417"/>
                  </a:lnTo>
                  <a:lnTo>
                    <a:pt x="143" y="415"/>
                  </a:lnTo>
                  <a:lnTo>
                    <a:pt x="143" y="415"/>
                  </a:lnTo>
                  <a:lnTo>
                    <a:pt x="147" y="407"/>
                  </a:lnTo>
                  <a:lnTo>
                    <a:pt x="149" y="407"/>
                  </a:lnTo>
                  <a:lnTo>
                    <a:pt x="149" y="407"/>
                  </a:lnTo>
                  <a:lnTo>
                    <a:pt x="151" y="405"/>
                  </a:lnTo>
                  <a:lnTo>
                    <a:pt x="155" y="402"/>
                  </a:lnTo>
                  <a:lnTo>
                    <a:pt x="155" y="402"/>
                  </a:lnTo>
                  <a:lnTo>
                    <a:pt x="155" y="402"/>
                  </a:lnTo>
                  <a:lnTo>
                    <a:pt x="157" y="402"/>
                  </a:lnTo>
                  <a:lnTo>
                    <a:pt x="157" y="402"/>
                  </a:lnTo>
                  <a:lnTo>
                    <a:pt x="161" y="407"/>
                  </a:lnTo>
                  <a:lnTo>
                    <a:pt x="162" y="407"/>
                  </a:lnTo>
                  <a:lnTo>
                    <a:pt x="162" y="409"/>
                  </a:lnTo>
                  <a:lnTo>
                    <a:pt x="162" y="409"/>
                  </a:lnTo>
                  <a:lnTo>
                    <a:pt x="162" y="409"/>
                  </a:lnTo>
                  <a:lnTo>
                    <a:pt x="162" y="411"/>
                  </a:lnTo>
                  <a:lnTo>
                    <a:pt x="164" y="411"/>
                  </a:lnTo>
                  <a:lnTo>
                    <a:pt x="164" y="409"/>
                  </a:lnTo>
                  <a:lnTo>
                    <a:pt x="164" y="409"/>
                  </a:lnTo>
                  <a:lnTo>
                    <a:pt x="164" y="409"/>
                  </a:lnTo>
                  <a:lnTo>
                    <a:pt x="166" y="407"/>
                  </a:lnTo>
                  <a:lnTo>
                    <a:pt x="166" y="407"/>
                  </a:lnTo>
                  <a:lnTo>
                    <a:pt x="166" y="405"/>
                  </a:lnTo>
                  <a:lnTo>
                    <a:pt x="166" y="405"/>
                  </a:lnTo>
                  <a:lnTo>
                    <a:pt x="168" y="405"/>
                  </a:lnTo>
                  <a:lnTo>
                    <a:pt x="168" y="405"/>
                  </a:lnTo>
                  <a:lnTo>
                    <a:pt x="168" y="405"/>
                  </a:lnTo>
                  <a:lnTo>
                    <a:pt x="168" y="405"/>
                  </a:lnTo>
                  <a:lnTo>
                    <a:pt x="170" y="407"/>
                  </a:lnTo>
                  <a:lnTo>
                    <a:pt x="172" y="409"/>
                  </a:lnTo>
                  <a:lnTo>
                    <a:pt x="174" y="411"/>
                  </a:lnTo>
                  <a:lnTo>
                    <a:pt x="174" y="411"/>
                  </a:lnTo>
                  <a:lnTo>
                    <a:pt x="174" y="411"/>
                  </a:lnTo>
                  <a:lnTo>
                    <a:pt x="174" y="411"/>
                  </a:lnTo>
                  <a:lnTo>
                    <a:pt x="176" y="413"/>
                  </a:lnTo>
                  <a:lnTo>
                    <a:pt x="176" y="413"/>
                  </a:lnTo>
                  <a:lnTo>
                    <a:pt x="176" y="413"/>
                  </a:lnTo>
                  <a:lnTo>
                    <a:pt x="176" y="413"/>
                  </a:lnTo>
                  <a:lnTo>
                    <a:pt x="176" y="413"/>
                  </a:lnTo>
                  <a:lnTo>
                    <a:pt x="178" y="413"/>
                  </a:lnTo>
                  <a:lnTo>
                    <a:pt x="180" y="413"/>
                  </a:lnTo>
                  <a:lnTo>
                    <a:pt x="180" y="413"/>
                  </a:lnTo>
                  <a:lnTo>
                    <a:pt x="181" y="415"/>
                  </a:lnTo>
                  <a:lnTo>
                    <a:pt x="181" y="415"/>
                  </a:lnTo>
                  <a:lnTo>
                    <a:pt x="187" y="428"/>
                  </a:lnTo>
                  <a:lnTo>
                    <a:pt x="187" y="428"/>
                  </a:lnTo>
                  <a:lnTo>
                    <a:pt x="189" y="428"/>
                  </a:lnTo>
                  <a:lnTo>
                    <a:pt x="189" y="428"/>
                  </a:lnTo>
                  <a:lnTo>
                    <a:pt x="189" y="428"/>
                  </a:lnTo>
                  <a:lnTo>
                    <a:pt x="191" y="424"/>
                  </a:lnTo>
                  <a:lnTo>
                    <a:pt x="191" y="424"/>
                  </a:lnTo>
                  <a:lnTo>
                    <a:pt x="193" y="424"/>
                  </a:lnTo>
                  <a:lnTo>
                    <a:pt x="193" y="424"/>
                  </a:lnTo>
                  <a:lnTo>
                    <a:pt x="193" y="423"/>
                  </a:lnTo>
                  <a:lnTo>
                    <a:pt x="193" y="423"/>
                  </a:lnTo>
                  <a:lnTo>
                    <a:pt x="195" y="423"/>
                  </a:lnTo>
                  <a:lnTo>
                    <a:pt x="195" y="423"/>
                  </a:lnTo>
                  <a:lnTo>
                    <a:pt x="204" y="424"/>
                  </a:lnTo>
                  <a:lnTo>
                    <a:pt x="206" y="424"/>
                  </a:lnTo>
                  <a:lnTo>
                    <a:pt x="208" y="426"/>
                  </a:lnTo>
                  <a:lnTo>
                    <a:pt x="208" y="426"/>
                  </a:lnTo>
                  <a:lnTo>
                    <a:pt x="212" y="426"/>
                  </a:lnTo>
                  <a:lnTo>
                    <a:pt x="214" y="426"/>
                  </a:lnTo>
                  <a:lnTo>
                    <a:pt x="214" y="426"/>
                  </a:lnTo>
                  <a:lnTo>
                    <a:pt x="214" y="428"/>
                  </a:lnTo>
                  <a:lnTo>
                    <a:pt x="214" y="428"/>
                  </a:lnTo>
                  <a:lnTo>
                    <a:pt x="214" y="430"/>
                  </a:lnTo>
                  <a:lnTo>
                    <a:pt x="214" y="430"/>
                  </a:lnTo>
                  <a:lnTo>
                    <a:pt x="214" y="432"/>
                  </a:lnTo>
                  <a:lnTo>
                    <a:pt x="214" y="432"/>
                  </a:lnTo>
                  <a:lnTo>
                    <a:pt x="214" y="434"/>
                  </a:lnTo>
                  <a:lnTo>
                    <a:pt x="214" y="434"/>
                  </a:lnTo>
                  <a:lnTo>
                    <a:pt x="214" y="434"/>
                  </a:lnTo>
                  <a:lnTo>
                    <a:pt x="216" y="434"/>
                  </a:lnTo>
                  <a:lnTo>
                    <a:pt x="216" y="434"/>
                  </a:lnTo>
                  <a:lnTo>
                    <a:pt x="220" y="430"/>
                  </a:lnTo>
                  <a:lnTo>
                    <a:pt x="220" y="430"/>
                  </a:lnTo>
                  <a:lnTo>
                    <a:pt x="222" y="430"/>
                  </a:lnTo>
                  <a:lnTo>
                    <a:pt x="223" y="428"/>
                  </a:lnTo>
                  <a:lnTo>
                    <a:pt x="223" y="428"/>
                  </a:lnTo>
                  <a:lnTo>
                    <a:pt x="225" y="426"/>
                  </a:lnTo>
                  <a:lnTo>
                    <a:pt x="227" y="426"/>
                  </a:lnTo>
                  <a:lnTo>
                    <a:pt x="227" y="426"/>
                  </a:lnTo>
                  <a:lnTo>
                    <a:pt x="225" y="424"/>
                  </a:lnTo>
                  <a:lnTo>
                    <a:pt x="223" y="423"/>
                  </a:lnTo>
                  <a:lnTo>
                    <a:pt x="223" y="423"/>
                  </a:lnTo>
                  <a:lnTo>
                    <a:pt x="223" y="423"/>
                  </a:lnTo>
                  <a:lnTo>
                    <a:pt x="223" y="423"/>
                  </a:lnTo>
                  <a:lnTo>
                    <a:pt x="223" y="421"/>
                  </a:lnTo>
                  <a:lnTo>
                    <a:pt x="225" y="415"/>
                  </a:lnTo>
                  <a:lnTo>
                    <a:pt x="225" y="415"/>
                  </a:lnTo>
                  <a:lnTo>
                    <a:pt x="225" y="413"/>
                  </a:lnTo>
                  <a:lnTo>
                    <a:pt x="225" y="411"/>
                  </a:lnTo>
                  <a:lnTo>
                    <a:pt x="225" y="411"/>
                  </a:lnTo>
                  <a:lnTo>
                    <a:pt x="225" y="411"/>
                  </a:lnTo>
                  <a:lnTo>
                    <a:pt x="223" y="411"/>
                  </a:lnTo>
                  <a:lnTo>
                    <a:pt x="222" y="411"/>
                  </a:lnTo>
                  <a:lnTo>
                    <a:pt x="222" y="411"/>
                  </a:lnTo>
                  <a:lnTo>
                    <a:pt x="220" y="411"/>
                  </a:lnTo>
                  <a:lnTo>
                    <a:pt x="220" y="411"/>
                  </a:lnTo>
                  <a:lnTo>
                    <a:pt x="220" y="411"/>
                  </a:lnTo>
                  <a:lnTo>
                    <a:pt x="220" y="411"/>
                  </a:lnTo>
                  <a:lnTo>
                    <a:pt x="218" y="413"/>
                  </a:lnTo>
                  <a:lnTo>
                    <a:pt x="218" y="413"/>
                  </a:lnTo>
                  <a:lnTo>
                    <a:pt x="218" y="413"/>
                  </a:lnTo>
                  <a:lnTo>
                    <a:pt x="216" y="413"/>
                  </a:lnTo>
                  <a:lnTo>
                    <a:pt x="216" y="413"/>
                  </a:lnTo>
                  <a:lnTo>
                    <a:pt x="216" y="411"/>
                  </a:lnTo>
                  <a:lnTo>
                    <a:pt x="216" y="411"/>
                  </a:lnTo>
                  <a:lnTo>
                    <a:pt x="214" y="409"/>
                  </a:lnTo>
                  <a:lnTo>
                    <a:pt x="214" y="409"/>
                  </a:lnTo>
                  <a:lnTo>
                    <a:pt x="212" y="409"/>
                  </a:lnTo>
                  <a:lnTo>
                    <a:pt x="212" y="409"/>
                  </a:lnTo>
                  <a:lnTo>
                    <a:pt x="212" y="409"/>
                  </a:lnTo>
                  <a:lnTo>
                    <a:pt x="208" y="409"/>
                  </a:lnTo>
                  <a:lnTo>
                    <a:pt x="206" y="409"/>
                  </a:lnTo>
                  <a:lnTo>
                    <a:pt x="206" y="409"/>
                  </a:lnTo>
                  <a:lnTo>
                    <a:pt x="206" y="409"/>
                  </a:lnTo>
                  <a:lnTo>
                    <a:pt x="204" y="407"/>
                  </a:lnTo>
                  <a:lnTo>
                    <a:pt x="202" y="407"/>
                  </a:lnTo>
                  <a:lnTo>
                    <a:pt x="199" y="405"/>
                  </a:lnTo>
                  <a:lnTo>
                    <a:pt x="199" y="404"/>
                  </a:lnTo>
                  <a:lnTo>
                    <a:pt x="199" y="402"/>
                  </a:lnTo>
                  <a:lnTo>
                    <a:pt x="201" y="396"/>
                  </a:lnTo>
                  <a:lnTo>
                    <a:pt x="201" y="394"/>
                  </a:lnTo>
                  <a:lnTo>
                    <a:pt x="201" y="392"/>
                  </a:lnTo>
                  <a:lnTo>
                    <a:pt x="201" y="388"/>
                  </a:lnTo>
                  <a:lnTo>
                    <a:pt x="201" y="383"/>
                  </a:lnTo>
                  <a:lnTo>
                    <a:pt x="199" y="381"/>
                  </a:lnTo>
                  <a:lnTo>
                    <a:pt x="199" y="381"/>
                  </a:lnTo>
                  <a:lnTo>
                    <a:pt x="199" y="381"/>
                  </a:lnTo>
                  <a:lnTo>
                    <a:pt x="199" y="379"/>
                  </a:lnTo>
                  <a:lnTo>
                    <a:pt x="199" y="377"/>
                  </a:lnTo>
                  <a:lnTo>
                    <a:pt x="199" y="369"/>
                  </a:lnTo>
                  <a:lnTo>
                    <a:pt x="199" y="367"/>
                  </a:lnTo>
                  <a:lnTo>
                    <a:pt x="199" y="366"/>
                  </a:lnTo>
                  <a:lnTo>
                    <a:pt x="199" y="366"/>
                  </a:lnTo>
                  <a:lnTo>
                    <a:pt x="199" y="367"/>
                  </a:lnTo>
                  <a:lnTo>
                    <a:pt x="197" y="367"/>
                  </a:lnTo>
                  <a:lnTo>
                    <a:pt x="197" y="367"/>
                  </a:lnTo>
                  <a:lnTo>
                    <a:pt x="197" y="367"/>
                  </a:lnTo>
                  <a:lnTo>
                    <a:pt x="197" y="366"/>
                  </a:lnTo>
                  <a:lnTo>
                    <a:pt x="197" y="364"/>
                  </a:lnTo>
                  <a:lnTo>
                    <a:pt x="195" y="362"/>
                  </a:lnTo>
                  <a:lnTo>
                    <a:pt x="195" y="362"/>
                  </a:lnTo>
                  <a:lnTo>
                    <a:pt x="195" y="362"/>
                  </a:lnTo>
                  <a:lnTo>
                    <a:pt x="195" y="362"/>
                  </a:lnTo>
                  <a:lnTo>
                    <a:pt x="195" y="362"/>
                  </a:lnTo>
                  <a:lnTo>
                    <a:pt x="195" y="362"/>
                  </a:lnTo>
                  <a:lnTo>
                    <a:pt x="195" y="362"/>
                  </a:lnTo>
                  <a:lnTo>
                    <a:pt x="193" y="362"/>
                  </a:lnTo>
                  <a:lnTo>
                    <a:pt x="193" y="362"/>
                  </a:lnTo>
                  <a:lnTo>
                    <a:pt x="193" y="362"/>
                  </a:lnTo>
                  <a:lnTo>
                    <a:pt x="193" y="360"/>
                  </a:lnTo>
                  <a:lnTo>
                    <a:pt x="191" y="358"/>
                  </a:lnTo>
                  <a:lnTo>
                    <a:pt x="191" y="356"/>
                  </a:lnTo>
                  <a:lnTo>
                    <a:pt x="193" y="350"/>
                  </a:lnTo>
                  <a:lnTo>
                    <a:pt x="195" y="348"/>
                  </a:lnTo>
                  <a:lnTo>
                    <a:pt x="195" y="347"/>
                  </a:lnTo>
                  <a:lnTo>
                    <a:pt x="195" y="347"/>
                  </a:lnTo>
                  <a:lnTo>
                    <a:pt x="195" y="345"/>
                  </a:lnTo>
                  <a:lnTo>
                    <a:pt x="195" y="343"/>
                  </a:lnTo>
                  <a:lnTo>
                    <a:pt x="193" y="343"/>
                  </a:lnTo>
                  <a:lnTo>
                    <a:pt x="193" y="341"/>
                  </a:lnTo>
                  <a:lnTo>
                    <a:pt x="193" y="339"/>
                  </a:lnTo>
                  <a:lnTo>
                    <a:pt x="193" y="339"/>
                  </a:lnTo>
                  <a:lnTo>
                    <a:pt x="193" y="328"/>
                  </a:lnTo>
                  <a:lnTo>
                    <a:pt x="193" y="326"/>
                  </a:lnTo>
                  <a:lnTo>
                    <a:pt x="193" y="326"/>
                  </a:lnTo>
                  <a:lnTo>
                    <a:pt x="193" y="326"/>
                  </a:lnTo>
                  <a:lnTo>
                    <a:pt x="193" y="326"/>
                  </a:lnTo>
                  <a:lnTo>
                    <a:pt x="193" y="326"/>
                  </a:lnTo>
                  <a:lnTo>
                    <a:pt x="195" y="326"/>
                  </a:lnTo>
                  <a:lnTo>
                    <a:pt x="197" y="326"/>
                  </a:lnTo>
                  <a:lnTo>
                    <a:pt x="197" y="326"/>
                  </a:lnTo>
                  <a:lnTo>
                    <a:pt x="199" y="326"/>
                  </a:lnTo>
                  <a:lnTo>
                    <a:pt x="199" y="326"/>
                  </a:lnTo>
                  <a:lnTo>
                    <a:pt x="199" y="328"/>
                  </a:lnTo>
                  <a:lnTo>
                    <a:pt x="199" y="328"/>
                  </a:lnTo>
                  <a:lnTo>
                    <a:pt x="199" y="329"/>
                  </a:lnTo>
                  <a:lnTo>
                    <a:pt x="199" y="329"/>
                  </a:lnTo>
                  <a:lnTo>
                    <a:pt x="199" y="329"/>
                  </a:lnTo>
                  <a:lnTo>
                    <a:pt x="199" y="329"/>
                  </a:lnTo>
                  <a:lnTo>
                    <a:pt x="199" y="329"/>
                  </a:lnTo>
                  <a:lnTo>
                    <a:pt x="201" y="329"/>
                  </a:lnTo>
                  <a:lnTo>
                    <a:pt x="202" y="328"/>
                  </a:lnTo>
                  <a:lnTo>
                    <a:pt x="202" y="328"/>
                  </a:lnTo>
                  <a:lnTo>
                    <a:pt x="204" y="326"/>
                  </a:lnTo>
                  <a:lnTo>
                    <a:pt x="206" y="324"/>
                  </a:lnTo>
                  <a:lnTo>
                    <a:pt x="206" y="322"/>
                  </a:lnTo>
                  <a:lnTo>
                    <a:pt x="208" y="320"/>
                  </a:lnTo>
                  <a:lnTo>
                    <a:pt x="208" y="320"/>
                  </a:lnTo>
                  <a:lnTo>
                    <a:pt x="210" y="320"/>
                  </a:lnTo>
                  <a:lnTo>
                    <a:pt x="210" y="320"/>
                  </a:lnTo>
                  <a:lnTo>
                    <a:pt x="212" y="320"/>
                  </a:lnTo>
                  <a:lnTo>
                    <a:pt x="212" y="318"/>
                  </a:lnTo>
                  <a:lnTo>
                    <a:pt x="216" y="310"/>
                  </a:lnTo>
                  <a:lnTo>
                    <a:pt x="218" y="305"/>
                  </a:lnTo>
                  <a:lnTo>
                    <a:pt x="220" y="303"/>
                  </a:lnTo>
                  <a:lnTo>
                    <a:pt x="220" y="301"/>
                  </a:lnTo>
                  <a:lnTo>
                    <a:pt x="220" y="299"/>
                  </a:lnTo>
                  <a:lnTo>
                    <a:pt x="220" y="299"/>
                  </a:lnTo>
                  <a:lnTo>
                    <a:pt x="220" y="299"/>
                  </a:lnTo>
                  <a:lnTo>
                    <a:pt x="220" y="299"/>
                  </a:lnTo>
                  <a:lnTo>
                    <a:pt x="222" y="299"/>
                  </a:lnTo>
                  <a:lnTo>
                    <a:pt x="222" y="297"/>
                  </a:lnTo>
                  <a:lnTo>
                    <a:pt x="229" y="297"/>
                  </a:lnTo>
                  <a:lnTo>
                    <a:pt x="231" y="297"/>
                  </a:lnTo>
                  <a:lnTo>
                    <a:pt x="231" y="297"/>
                  </a:lnTo>
                  <a:lnTo>
                    <a:pt x="233" y="299"/>
                  </a:lnTo>
                  <a:lnTo>
                    <a:pt x="233" y="299"/>
                  </a:lnTo>
                  <a:lnTo>
                    <a:pt x="233" y="299"/>
                  </a:lnTo>
                  <a:lnTo>
                    <a:pt x="235" y="299"/>
                  </a:lnTo>
                  <a:lnTo>
                    <a:pt x="235" y="297"/>
                  </a:lnTo>
                  <a:lnTo>
                    <a:pt x="237" y="297"/>
                  </a:lnTo>
                  <a:lnTo>
                    <a:pt x="239" y="297"/>
                  </a:lnTo>
                  <a:lnTo>
                    <a:pt x="241" y="297"/>
                  </a:lnTo>
                  <a:lnTo>
                    <a:pt x="250" y="295"/>
                  </a:lnTo>
                  <a:lnTo>
                    <a:pt x="250" y="295"/>
                  </a:lnTo>
                  <a:lnTo>
                    <a:pt x="252" y="297"/>
                  </a:lnTo>
                  <a:lnTo>
                    <a:pt x="252" y="297"/>
                  </a:lnTo>
                  <a:lnTo>
                    <a:pt x="252" y="297"/>
                  </a:lnTo>
                  <a:lnTo>
                    <a:pt x="254" y="299"/>
                  </a:lnTo>
                  <a:lnTo>
                    <a:pt x="254" y="299"/>
                  </a:lnTo>
                  <a:lnTo>
                    <a:pt x="256" y="299"/>
                  </a:lnTo>
                  <a:lnTo>
                    <a:pt x="256" y="299"/>
                  </a:lnTo>
                  <a:lnTo>
                    <a:pt x="258" y="299"/>
                  </a:lnTo>
                  <a:lnTo>
                    <a:pt x="258" y="301"/>
                  </a:lnTo>
                  <a:lnTo>
                    <a:pt x="260" y="301"/>
                  </a:lnTo>
                  <a:lnTo>
                    <a:pt x="260" y="301"/>
                  </a:lnTo>
                  <a:lnTo>
                    <a:pt x="265" y="301"/>
                  </a:lnTo>
                  <a:lnTo>
                    <a:pt x="265" y="301"/>
                  </a:lnTo>
                  <a:lnTo>
                    <a:pt x="267" y="301"/>
                  </a:lnTo>
                  <a:lnTo>
                    <a:pt x="269" y="299"/>
                  </a:lnTo>
                  <a:lnTo>
                    <a:pt x="269" y="297"/>
                  </a:lnTo>
                  <a:lnTo>
                    <a:pt x="271" y="295"/>
                  </a:lnTo>
                  <a:lnTo>
                    <a:pt x="273" y="288"/>
                  </a:lnTo>
                  <a:lnTo>
                    <a:pt x="275" y="288"/>
                  </a:lnTo>
                  <a:lnTo>
                    <a:pt x="277" y="284"/>
                  </a:lnTo>
                  <a:lnTo>
                    <a:pt x="277" y="284"/>
                  </a:lnTo>
                  <a:lnTo>
                    <a:pt x="277" y="284"/>
                  </a:lnTo>
                  <a:lnTo>
                    <a:pt x="277" y="282"/>
                  </a:lnTo>
                  <a:lnTo>
                    <a:pt x="277" y="282"/>
                  </a:lnTo>
                  <a:lnTo>
                    <a:pt x="277" y="282"/>
                  </a:lnTo>
                  <a:lnTo>
                    <a:pt x="277" y="282"/>
                  </a:lnTo>
                  <a:lnTo>
                    <a:pt x="277" y="280"/>
                  </a:lnTo>
                  <a:lnTo>
                    <a:pt x="277" y="280"/>
                  </a:lnTo>
                  <a:lnTo>
                    <a:pt x="279" y="278"/>
                  </a:lnTo>
                  <a:lnTo>
                    <a:pt x="279" y="278"/>
                  </a:lnTo>
                  <a:lnTo>
                    <a:pt x="279" y="278"/>
                  </a:lnTo>
                  <a:lnTo>
                    <a:pt x="281" y="278"/>
                  </a:lnTo>
                  <a:lnTo>
                    <a:pt x="284" y="280"/>
                  </a:lnTo>
                  <a:lnTo>
                    <a:pt x="286" y="280"/>
                  </a:lnTo>
                  <a:lnTo>
                    <a:pt x="286" y="280"/>
                  </a:lnTo>
                  <a:lnTo>
                    <a:pt x="286" y="280"/>
                  </a:lnTo>
                  <a:lnTo>
                    <a:pt x="288" y="280"/>
                  </a:lnTo>
                  <a:lnTo>
                    <a:pt x="288" y="278"/>
                  </a:lnTo>
                  <a:lnTo>
                    <a:pt x="288" y="278"/>
                  </a:lnTo>
                  <a:lnTo>
                    <a:pt x="288" y="276"/>
                  </a:lnTo>
                  <a:lnTo>
                    <a:pt x="288" y="274"/>
                  </a:lnTo>
                  <a:lnTo>
                    <a:pt x="288" y="274"/>
                  </a:lnTo>
                  <a:lnTo>
                    <a:pt x="288" y="272"/>
                  </a:lnTo>
                  <a:lnTo>
                    <a:pt x="284" y="270"/>
                  </a:lnTo>
                  <a:lnTo>
                    <a:pt x="284" y="269"/>
                  </a:lnTo>
                  <a:lnTo>
                    <a:pt x="282" y="269"/>
                  </a:lnTo>
                  <a:lnTo>
                    <a:pt x="282" y="267"/>
                  </a:lnTo>
                  <a:lnTo>
                    <a:pt x="282" y="265"/>
                  </a:lnTo>
                  <a:lnTo>
                    <a:pt x="282" y="263"/>
                  </a:lnTo>
                  <a:lnTo>
                    <a:pt x="284" y="261"/>
                  </a:lnTo>
                  <a:lnTo>
                    <a:pt x="284" y="259"/>
                  </a:lnTo>
                  <a:lnTo>
                    <a:pt x="284" y="257"/>
                  </a:lnTo>
                  <a:lnTo>
                    <a:pt x="284" y="255"/>
                  </a:lnTo>
                  <a:lnTo>
                    <a:pt x="294" y="242"/>
                  </a:lnTo>
                  <a:lnTo>
                    <a:pt x="296" y="240"/>
                  </a:lnTo>
                  <a:lnTo>
                    <a:pt x="296" y="238"/>
                  </a:lnTo>
                  <a:lnTo>
                    <a:pt x="296" y="234"/>
                  </a:lnTo>
                  <a:lnTo>
                    <a:pt x="296" y="234"/>
                  </a:lnTo>
                  <a:lnTo>
                    <a:pt x="296" y="232"/>
                  </a:lnTo>
                  <a:lnTo>
                    <a:pt x="298" y="232"/>
                  </a:lnTo>
                  <a:lnTo>
                    <a:pt x="298" y="232"/>
                  </a:lnTo>
                  <a:lnTo>
                    <a:pt x="300" y="234"/>
                  </a:lnTo>
                  <a:lnTo>
                    <a:pt x="300" y="234"/>
                  </a:lnTo>
                  <a:lnTo>
                    <a:pt x="300" y="234"/>
                  </a:lnTo>
                  <a:lnTo>
                    <a:pt x="300" y="234"/>
                  </a:lnTo>
                  <a:lnTo>
                    <a:pt x="302" y="232"/>
                  </a:lnTo>
                  <a:lnTo>
                    <a:pt x="302" y="231"/>
                  </a:lnTo>
                  <a:lnTo>
                    <a:pt x="302" y="231"/>
                  </a:lnTo>
                  <a:lnTo>
                    <a:pt x="302" y="231"/>
                  </a:lnTo>
                  <a:lnTo>
                    <a:pt x="303" y="231"/>
                  </a:lnTo>
                  <a:lnTo>
                    <a:pt x="303" y="231"/>
                  </a:lnTo>
                  <a:lnTo>
                    <a:pt x="303" y="231"/>
                  </a:lnTo>
                  <a:lnTo>
                    <a:pt x="305" y="229"/>
                  </a:lnTo>
                  <a:lnTo>
                    <a:pt x="305" y="227"/>
                  </a:lnTo>
                  <a:lnTo>
                    <a:pt x="305" y="227"/>
                  </a:lnTo>
                  <a:lnTo>
                    <a:pt x="305" y="225"/>
                  </a:lnTo>
                  <a:lnTo>
                    <a:pt x="305" y="223"/>
                  </a:lnTo>
                  <a:lnTo>
                    <a:pt x="305" y="223"/>
                  </a:lnTo>
                  <a:lnTo>
                    <a:pt x="305" y="221"/>
                  </a:lnTo>
                  <a:lnTo>
                    <a:pt x="305" y="221"/>
                  </a:lnTo>
                  <a:lnTo>
                    <a:pt x="303" y="221"/>
                  </a:lnTo>
                  <a:lnTo>
                    <a:pt x="302" y="219"/>
                  </a:lnTo>
                  <a:lnTo>
                    <a:pt x="302" y="219"/>
                  </a:lnTo>
                  <a:lnTo>
                    <a:pt x="300" y="217"/>
                  </a:lnTo>
                  <a:lnTo>
                    <a:pt x="300" y="217"/>
                  </a:lnTo>
                  <a:lnTo>
                    <a:pt x="300" y="215"/>
                  </a:lnTo>
                  <a:lnTo>
                    <a:pt x="302" y="211"/>
                  </a:lnTo>
                  <a:lnTo>
                    <a:pt x="302" y="211"/>
                  </a:lnTo>
                  <a:lnTo>
                    <a:pt x="302" y="211"/>
                  </a:lnTo>
                  <a:lnTo>
                    <a:pt x="303" y="210"/>
                  </a:lnTo>
                  <a:lnTo>
                    <a:pt x="303" y="210"/>
                  </a:lnTo>
                  <a:lnTo>
                    <a:pt x="305" y="210"/>
                  </a:lnTo>
                  <a:lnTo>
                    <a:pt x="305" y="208"/>
                  </a:lnTo>
                  <a:lnTo>
                    <a:pt x="305" y="208"/>
                  </a:lnTo>
                  <a:lnTo>
                    <a:pt x="305" y="206"/>
                  </a:lnTo>
                  <a:lnTo>
                    <a:pt x="305" y="206"/>
                  </a:lnTo>
                  <a:lnTo>
                    <a:pt x="305" y="206"/>
                  </a:lnTo>
                  <a:lnTo>
                    <a:pt x="303" y="204"/>
                  </a:lnTo>
                  <a:lnTo>
                    <a:pt x="303" y="204"/>
                  </a:lnTo>
                  <a:lnTo>
                    <a:pt x="303" y="202"/>
                  </a:lnTo>
                  <a:lnTo>
                    <a:pt x="303" y="202"/>
                  </a:lnTo>
                  <a:lnTo>
                    <a:pt x="309" y="194"/>
                  </a:lnTo>
                  <a:lnTo>
                    <a:pt x="311" y="192"/>
                  </a:lnTo>
                  <a:lnTo>
                    <a:pt x="311" y="192"/>
                  </a:lnTo>
                  <a:lnTo>
                    <a:pt x="315" y="191"/>
                  </a:lnTo>
                  <a:lnTo>
                    <a:pt x="319" y="189"/>
                  </a:lnTo>
                  <a:lnTo>
                    <a:pt x="321" y="189"/>
                  </a:lnTo>
                  <a:lnTo>
                    <a:pt x="328" y="181"/>
                  </a:lnTo>
                  <a:lnTo>
                    <a:pt x="330" y="179"/>
                  </a:lnTo>
                  <a:lnTo>
                    <a:pt x="334" y="179"/>
                  </a:lnTo>
                  <a:lnTo>
                    <a:pt x="338" y="177"/>
                  </a:lnTo>
                  <a:lnTo>
                    <a:pt x="340" y="177"/>
                  </a:lnTo>
                  <a:lnTo>
                    <a:pt x="340" y="177"/>
                  </a:lnTo>
                  <a:lnTo>
                    <a:pt x="342" y="177"/>
                  </a:lnTo>
                  <a:lnTo>
                    <a:pt x="343" y="173"/>
                  </a:lnTo>
                  <a:lnTo>
                    <a:pt x="343" y="173"/>
                  </a:lnTo>
                  <a:lnTo>
                    <a:pt x="345" y="172"/>
                  </a:lnTo>
                  <a:lnTo>
                    <a:pt x="345" y="172"/>
                  </a:lnTo>
                  <a:lnTo>
                    <a:pt x="345" y="170"/>
                  </a:lnTo>
                  <a:lnTo>
                    <a:pt x="345" y="170"/>
                  </a:lnTo>
                  <a:lnTo>
                    <a:pt x="345" y="168"/>
                  </a:lnTo>
                  <a:lnTo>
                    <a:pt x="343" y="166"/>
                  </a:lnTo>
                  <a:lnTo>
                    <a:pt x="342" y="162"/>
                  </a:lnTo>
                  <a:lnTo>
                    <a:pt x="342" y="162"/>
                  </a:lnTo>
                  <a:lnTo>
                    <a:pt x="342" y="160"/>
                  </a:lnTo>
                  <a:lnTo>
                    <a:pt x="343" y="158"/>
                  </a:lnTo>
                  <a:lnTo>
                    <a:pt x="343" y="156"/>
                  </a:lnTo>
                  <a:lnTo>
                    <a:pt x="343" y="156"/>
                  </a:lnTo>
                  <a:lnTo>
                    <a:pt x="343" y="156"/>
                  </a:lnTo>
                  <a:lnTo>
                    <a:pt x="343" y="154"/>
                  </a:lnTo>
                  <a:lnTo>
                    <a:pt x="345" y="154"/>
                  </a:lnTo>
                  <a:lnTo>
                    <a:pt x="347" y="154"/>
                  </a:lnTo>
                  <a:lnTo>
                    <a:pt x="347" y="154"/>
                  </a:lnTo>
                  <a:lnTo>
                    <a:pt x="347" y="153"/>
                  </a:lnTo>
                  <a:lnTo>
                    <a:pt x="349" y="151"/>
                  </a:lnTo>
                  <a:lnTo>
                    <a:pt x="351" y="151"/>
                  </a:lnTo>
                  <a:lnTo>
                    <a:pt x="351" y="151"/>
                  </a:lnTo>
                  <a:lnTo>
                    <a:pt x="353" y="151"/>
                  </a:lnTo>
                  <a:lnTo>
                    <a:pt x="355" y="151"/>
                  </a:lnTo>
                  <a:lnTo>
                    <a:pt x="355" y="151"/>
                  </a:lnTo>
                  <a:lnTo>
                    <a:pt x="357" y="149"/>
                  </a:lnTo>
                  <a:lnTo>
                    <a:pt x="359" y="147"/>
                  </a:lnTo>
                  <a:lnTo>
                    <a:pt x="363" y="145"/>
                  </a:lnTo>
                  <a:lnTo>
                    <a:pt x="363" y="143"/>
                  </a:lnTo>
                  <a:lnTo>
                    <a:pt x="364" y="143"/>
                  </a:lnTo>
                  <a:lnTo>
                    <a:pt x="364" y="137"/>
                  </a:lnTo>
                  <a:lnTo>
                    <a:pt x="366" y="137"/>
                  </a:lnTo>
                  <a:lnTo>
                    <a:pt x="366" y="135"/>
                  </a:lnTo>
                  <a:lnTo>
                    <a:pt x="366" y="135"/>
                  </a:lnTo>
                  <a:lnTo>
                    <a:pt x="368" y="135"/>
                  </a:lnTo>
                  <a:lnTo>
                    <a:pt x="368" y="134"/>
                  </a:lnTo>
                  <a:lnTo>
                    <a:pt x="370" y="134"/>
                  </a:lnTo>
                  <a:lnTo>
                    <a:pt x="370" y="134"/>
                  </a:lnTo>
                  <a:lnTo>
                    <a:pt x="372" y="132"/>
                  </a:lnTo>
                  <a:lnTo>
                    <a:pt x="376" y="130"/>
                  </a:lnTo>
                  <a:lnTo>
                    <a:pt x="376" y="128"/>
                  </a:lnTo>
                  <a:lnTo>
                    <a:pt x="378" y="128"/>
                  </a:lnTo>
                  <a:lnTo>
                    <a:pt x="378" y="126"/>
                  </a:lnTo>
                  <a:lnTo>
                    <a:pt x="378" y="124"/>
                  </a:lnTo>
                  <a:lnTo>
                    <a:pt x="378" y="124"/>
                  </a:lnTo>
                  <a:close/>
                </a:path>
              </a:pathLst>
            </a:custGeom>
            <a:solidFill>
              <a:schemeClr val="accent6">
                <a:lumMod val="75000"/>
              </a:schemeClr>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15" name="Freeform 65">
              <a:extLst>
                <a:ext uri="{FF2B5EF4-FFF2-40B4-BE49-F238E27FC236}">
                  <a16:creationId xmlns:a16="http://schemas.microsoft.com/office/drawing/2014/main" id="{8C0777EF-2DB7-04A5-8095-10C0509E0EF6}"/>
                </a:ext>
              </a:extLst>
            </p:cNvPr>
            <p:cNvSpPr>
              <a:spLocks/>
            </p:cNvSpPr>
            <p:nvPr/>
          </p:nvSpPr>
          <p:spPr bwMode="auto">
            <a:xfrm>
              <a:off x="3119049" y="3506173"/>
              <a:ext cx="713110" cy="1062280"/>
            </a:xfrm>
            <a:custGeom>
              <a:avLst/>
              <a:gdLst>
                <a:gd name="T0" fmla="*/ 359 w 378"/>
                <a:gd name="T1" fmla="*/ 113 h 628"/>
                <a:gd name="T2" fmla="*/ 347 w 378"/>
                <a:gd name="T3" fmla="*/ 95 h 628"/>
                <a:gd name="T4" fmla="*/ 340 w 378"/>
                <a:gd name="T5" fmla="*/ 67 h 628"/>
                <a:gd name="T6" fmla="*/ 338 w 378"/>
                <a:gd name="T7" fmla="*/ 52 h 628"/>
                <a:gd name="T8" fmla="*/ 323 w 378"/>
                <a:gd name="T9" fmla="*/ 54 h 628"/>
                <a:gd name="T10" fmla="*/ 300 w 378"/>
                <a:gd name="T11" fmla="*/ 6 h 628"/>
                <a:gd name="T12" fmla="*/ 271 w 378"/>
                <a:gd name="T13" fmla="*/ 19 h 628"/>
                <a:gd name="T14" fmla="*/ 231 w 378"/>
                <a:gd name="T15" fmla="*/ 21 h 628"/>
                <a:gd name="T16" fmla="*/ 168 w 378"/>
                <a:gd name="T17" fmla="*/ 35 h 628"/>
                <a:gd name="T18" fmla="*/ 132 w 378"/>
                <a:gd name="T19" fmla="*/ 44 h 628"/>
                <a:gd name="T20" fmla="*/ 134 w 378"/>
                <a:gd name="T21" fmla="*/ 63 h 628"/>
                <a:gd name="T22" fmla="*/ 174 w 378"/>
                <a:gd name="T23" fmla="*/ 78 h 628"/>
                <a:gd name="T24" fmla="*/ 145 w 378"/>
                <a:gd name="T25" fmla="*/ 128 h 628"/>
                <a:gd name="T26" fmla="*/ 122 w 378"/>
                <a:gd name="T27" fmla="*/ 162 h 628"/>
                <a:gd name="T28" fmla="*/ 88 w 378"/>
                <a:gd name="T29" fmla="*/ 170 h 628"/>
                <a:gd name="T30" fmla="*/ 67 w 378"/>
                <a:gd name="T31" fmla="*/ 202 h 628"/>
                <a:gd name="T32" fmla="*/ 44 w 378"/>
                <a:gd name="T33" fmla="*/ 240 h 628"/>
                <a:gd name="T34" fmla="*/ 16 w 378"/>
                <a:gd name="T35" fmla="*/ 310 h 628"/>
                <a:gd name="T36" fmla="*/ 27 w 378"/>
                <a:gd name="T37" fmla="*/ 335 h 628"/>
                <a:gd name="T38" fmla="*/ 29 w 378"/>
                <a:gd name="T39" fmla="*/ 350 h 628"/>
                <a:gd name="T40" fmla="*/ 33 w 378"/>
                <a:gd name="T41" fmla="*/ 377 h 628"/>
                <a:gd name="T42" fmla="*/ 16 w 378"/>
                <a:gd name="T43" fmla="*/ 398 h 628"/>
                <a:gd name="T44" fmla="*/ 18 w 378"/>
                <a:gd name="T45" fmla="*/ 419 h 628"/>
                <a:gd name="T46" fmla="*/ 14 w 378"/>
                <a:gd name="T47" fmla="*/ 432 h 628"/>
                <a:gd name="T48" fmla="*/ 25 w 378"/>
                <a:gd name="T49" fmla="*/ 430 h 628"/>
                <a:gd name="T50" fmla="*/ 52 w 378"/>
                <a:gd name="T51" fmla="*/ 455 h 628"/>
                <a:gd name="T52" fmla="*/ 46 w 378"/>
                <a:gd name="T53" fmla="*/ 480 h 628"/>
                <a:gd name="T54" fmla="*/ 20 w 378"/>
                <a:gd name="T55" fmla="*/ 478 h 628"/>
                <a:gd name="T56" fmla="*/ 0 w 378"/>
                <a:gd name="T57" fmla="*/ 533 h 628"/>
                <a:gd name="T58" fmla="*/ 12 w 378"/>
                <a:gd name="T59" fmla="*/ 548 h 628"/>
                <a:gd name="T60" fmla="*/ 46 w 378"/>
                <a:gd name="T61" fmla="*/ 580 h 628"/>
                <a:gd name="T62" fmla="*/ 52 w 378"/>
                <a:gd name="T63" fmla="*/ 586 h 628"/>
                <a:gd name="T64" fmla="*/ 63 w 378"/>
                <a:gd name="T65" fmla="*/ 599 h 628"/>
                <a:gd name="T66" fmla="*/ 90 w 378"/>
                <a:gd name="T67" fmla="*/ 626 h 628"/>
                <a:gd name="T68" fmla="*/ 109 w 378"/>
                <a:gd name="T69" fmla="*/ 615 h 628"/>
                <a:gd name="T70" fmla="*/ 117 w 378"/>
                <a:gd name="T71" fmla="*/ 590 h 628"/>
                <a:gd name="T72" fmla="*/ 132 w 378"/>
                <a:gd name="T73" fmla="*/ 575 h 628"/>
                <a:gd name="T74" fmla="*/ 153 w 378"/>
                <a:gd name="T75" fmla="*/ 546 h 628"/>
                <a:gd name="T76" fmla="*/ 170 w 378"/>
                <a:gd name="T77" fmla="*/ 531 h 628"/>
                <a:gd name="T78" fmla="*/ 181 w 378"/>
                <a:gd name="T79" fmla="*/ 518 h 628"/>
                <a:gd name="T80" fmla="*/ 174 w 378"/>
                <a:gd name="T81" fmla="*/ 485 h 628"/>
                <a:gd name="T82" fmla="*/ 170 w 378"/>
                <a:gd name="T83" fmla="*/ 466 h 628"/>
                <a:gd name="T84" fmla="*/ 159 w 378"/>
                <a:gd name="T85" fmla="*/ 432 h 628"/>
                <a:gd name="T86" fmla="*/ 155 w 378"/>
                <a:gd name="T87" fmla="*/ 402 h 628"/>
                <a:gd name="T88" fmla="*/ 170 w 378"/>
                <a:gd name="T89" fmla="*/ 407 h 628"/>
                <a:gd name="T90" fmla="*/ 191 w 378"/>
                <a:gd name="T91" fmla="*/ 424 h 628"/>
                <a:gd name="T92" fmla="*/ 214 w 378"/>
                <a:gd name="T93" fmla="*/ 434 h 628"/>
                <a:gd name="T94" fmla="*/ 225 w 378"/>
                <a:gd name="T95" fmla="*/ 413 h 628"/>
                <a:gd name="T96" fmla="*/ 212 w 378"/>
                <a:gd name="T97" fmla="*/ 409 h 628"/>
                <a:gd name="T98" fmla="*/ 199 w 378"/>
                <a:gd name="T99" fmla="*/ 369 h 628"/>
                <a:gd name="T100" fmla="*/ 191 w 378"/>
                <a:gd name="T101" fmla="*/ 358 h 628"/>
                <a:gd name="T102" fmla="*/ 199 w 378"/>
                <a:gd name="T103" fmla="*/ 326 h 628"/>
                <a:gd name="T104" fmla="*/ 216 w 378"/>
                <a:gd name="T105" fmla="*/ 310 h 628"/>
                <a:gd name="T106" fmla="*/ 250 w 378"/>
                <a:gd name="T107" fmla="*/ 295 h 628"/>
                <a:gd name="T108" fmla="*/ 277 w 378"/>
                <a:gd name="T109" fmla="*/ 284 h 628"/>
                <a:gd name="T110" fmla="*/ 288 w 378"/>
                <a:gd name="T111" fmla="*/ 274 h 628"/>
                <a:gd name="T112" fmla="*/ 300 w 378"/>
                <a:gd name="T113" fmla="*/ 234 h 628"/>
                <a:gd name="T114" fmla="*/ 302 w 378"/>
                <a:gd name="T115" fmla="*/ 219 h 628"/>
                <a:gd name="T116" fmla="*/ 311 w 378"/>
                <a:gd name="T117" fmla="*/ 192 h 628"/>
                <a:gd name="T118" fmla="*/ 342 w 378"/>
                <a:gd name="T119" fmla="*/ 160 h 628"/>
                <a:gd name="T120" fmla="*/ 364 w 378"/>
                <a:gd name="T121" fmla="*/ 137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8" h="628">
                  <a:moveTo>
                    <a:pt x="378" y="124"/>
                  </a:moveTo>
                  <a:lnTo>
                    <a:pt x="378" y="122"/>
                  </a:lnTo>
                  <a:lnTo>
                    <a:pt x="376" y="120"/>
                  </a:lnTo>
                  <a:lnTo>
                    <a:pt x="376" y="120"/>
                  </a:lnTo>
                  <a:lnTo>
                    <a:pt x="376" y="116"/>
                  </a:lnTo>
                  <a:lnTo>
                    <a:pt x="376" y="116"/>
                  </a:lnTo>
                  <a:lnTo>
                    <a:pt x="374" y="116"/>
                  </a:lnTo>
                  <a:lnTo>
                    <a:pt x="372" y="114"/>
                  </a:lnTo>
                  <a:lnTo>
                    <a:pt x="372" y="114"/>
                  </a:lnTo>
                  <a:lnTo>
                    <a:pt x="370" y="114"/>
                  </a:lnTo>
                  <a:lnTo>
                    <a:pt x="370" y="114"/>
                  </a:lnTo>
                  <a:lnTo>
                    <a:pt x="368" y="114"/>
                  </a:lnTo>
                  <a:lnTo>
                    <a:pt x="368" y="114"/>
                  </a:lnTo>
                  <a:lnTo>
                    <a:pt x="368" y="114"/>
                  </a:lnTo>
                  <a:lnTo>
                    <a:pt x="366" y="114"/>
                  </a:lnTo>
                  <a:lnTo>
                    <a:pt x="366" y="114"/>
                  </a:lnTo>
                  <a:lnTo>
                    <a:pt x="364" y="114"/>
                  </a:lnTo>
                  <a:lnTo>
                    <a:pt x="364" y="114"/>
                  </a:lnTo>
                  <a:lnTo>
                    <a:pt x="363" y="114"/>
                  </a:lnTo>
                  <a:lnTo>
                    <a:pt x="361" y="113"/>
                  </a:lnTo>
                  <a:lnTo>
                    <a:pt x="359" y="113"/>
                  </a:lnTo>
                  <a:lnTo>
                    <a:pt x="359" y="113"/>
                  </a:lnTo>
                  <a:lnTo>
                    <a:pt x="359" y="113"/>
                  </a:lnTo>
                  <a:lnTo>
                    <a:pt x="359" y="114"/>
                  </a:lnTo>
                  <a:lnTo>
                    <a:pt x="359" y="114"/>
                  </a:lnTo>
                  <a:lnTo>
                    <a:pt x="359" y="114"/>
                  </a:lnTo>
                  <a:lnTo>
                    <a:pt x="359" y="114"/>
                  </a:lnTo>
                  <a:lnTo>
                    <a:pt x="359" y="114"/>
                  </a:lnTo>
                  <a:lnTo>
                    <a:pt x="357" y="114"/>
                  </a:lnTo>
                  <a:lnTo>
                    <a:pt x="357" y="114"/>
                  </a:lnTo>
                  <a:lnTo>
                    <a:pt x="357" y="114"/>
                  </a:lnTo>
                  <a:lnTo>
                    <a:pt x="355" y="114"/>
                  </a:lnTo>
                  <a:lnTo>
                    <a:pt x="355" y="114"/>
                  </a:lnTo>
                  <a:lnTo>
                    <a:pt x="355" y="113"/>
                  </a:lnTo>
                  <a:lnTo>
                    <a:pt x="355" y="111"/>
                  </a:lnTo>
                  <a:lnTo>
                    <a:pt x="355" y="109"/>
                  </a:lnTo>
                  <a:lnTo>
                    <a:pt x="353" y="107"/>
                  </a:lnTo>
                  <a:lnTo>
                    <a:pt x="353" y="105"/>
                  </a:lnTo>
                  <a:lnTo>
                    <a:pt x="353" y="105"/>
                  </a:lnTo>
                  <a:lnTo>
                    <a:pt x="349" y="101"/>
                  </a:lnTo>
                  <a:lnTo>
                    <a:pt x="347" y="99"/>
                  </a:lnTo>
                  <a:lnTo>
                    <a:pt x="347" y="95"/>
                  </a:lnTo>
                  <a:lnTo>
                    <a:pt x="347" y="92"/>
                  </a:lnTo>
                  <a:lnTo>
                    <a:pt x="349" y="84"/>
                  </a:lnTo>
                  <a:lnTo>
                    <a:pt x="347" y="78"/>
                  </a:lnTo>
                  <a:lnTo>
                    <a:pt x="347" y="76"/>
                  </a:lnTo>
                  <a:lnTo>
                    <a:pt x="347" y="76"/>
                  </a:lnTo>
                  <a:lnTo>
                    <a:pt x="345" y="75"/>
                  </a:lnTo>
                  <a:lnTo>
                    <a:pt x="345" y="75"/>
                  </a:lnTo>
                  <a:lnTo>
                    <a:pt x="343" y="76"/>
                  </a:lnTo>
                  <a:lnTo>
                    <a:pt x="342" y="78"/>
                  </a:lnTo>
                  <a:lnTo>
                    <a:pt x="342" y="78"/>
                  </a:lnTo>
                  <a:lnTo>
                    <a:pt x="342" y="78"/>
                  </a:lnTo>
                  <a:lnTo>
                    <a:pt x="340" y="78"/>
                  </a:lnTo>
                  <a:lnTo>
                    <a:pt x="340" y="76"/>
                  </a:lnTo>
                  <a:lnTo>
                    <a:pt x="340" y="76"/>
                  </a:lnTo>
                  <a:lnTo>
                    <a:pt x="340" y="75"/>
                  </a:lnTo>
                  <a:lnTo>
                    <a:pt x="340" y="75"/>
                  </a:lnTo>
                  <a:lnTo>
                    <a:pt x="342" y="71"/>
                  </a:lnTo>
                  <a:lnTo>
                    <a:pt x="342" y="71"/>
                  </a:lnTo>
                  <a:lnTo>
                    <a:pt x="342" y="69"/>
                  </a:lnTo>
                  <a:lnTo>
                    <a:pt x="342" y="69"/>
                  </a:lnTo>
                  <a:lnTo>
                    <a:pt x="340" y="67"/>
                  </a:lnTo>
                  <a:lnTo>
                    <a:pt x="342" y="67"/>
                  </a:lnTo>
                  <a:lnTo>
                    <a:pt x="342" y="65"/>
                  </a:lnTo>
                  <a:lnTo>
                    <a:pt x="342" y="65"/>
                  </a:lnTo>
                  <a:lnTo>
                    <a:pt x="345" y="61"/>
                  </a:lnTo>
                  <a:lnTo>
                    <a:pt x="345" y="61"/>
                  </a:lnTo>
                  <a:lnTo>
                    <a:pt x="345" y="59"/>
                  </a:lnTo>
                  <a:lnTo>
                    <a:pt x="347" y="59"/>
                  </a:lnTo>
                  <a:lnTo>
                    <a:pt x="347" y="57"/>
                  </a:lnTo>
                  <a:lnTo>
                    <a:pt x="347" y="57"/>
                  </a:lnTo>
                  <a:lnTo>
                    <a:pt x="345" y="54"/>
                  </a:lnTo>
                  <a:lnTo>
                    <a:pt x="345" y="54"/>
                  </a:lnTo>
                  <a:lnTo>
                    <a:pt x="345" y="52"/>
                  </a:lnTo>
                  <a:lnTo>
                    <a:pt x="343" y="52"/>
                  </a:lnTo>
                  <a:lnTo>
                    <a:pt x="343" y="50"/>
                  </a:lnTo>
                  <a:lnTo>
                    <a:pt x="343" y="50"/>
                  </a:lnTo>
                  <a:lnTo>
                    <a:pt x="342" y="50"/>
                  </a:lnTo>
                  <a:lnTo>
                    <a:pt x="342" y="50"/>
                  </a:lnTo>
                  <a:lnTo>
                    <a:pt x="340" y="50"/>
                  </a:lnTo>
                  <a:lnTo>
                    <a:pt x="340" y="52"/>
                  </a:lnTo>
                  <a:lnTo>
                    <a:pt x="340" y="52"/>
                  </a:lnTo>
                  <a:lnTo>
                    <a:pt x="338" y="52"/>
                  </a:lnTo>
                  <a:lnTo>
                    <a:pt x="338" y="52"/>
                  </a:lnTo>
                  <a:lnTo>
                    <a:pt x="338" y="52"/>
                  </a:lnTo>
                  <a:lnTo>
                    <a:pt x="338" y="52"/>
                  </a:lnTo>
                  <a:lnTo>
                    <a:pt x="338" y="54"/>
                  </a:lnTo>
                  <a:lnTo>
                    <a:pt x="338" y="54"/>
                  </a:lnTo>
                  <a:lnTo>
                    <a:pt x="338" y="57"/>
                  </a:lnTo>
                  <a:lnTo>
                    <a:pt x="338" y="57"/>
                  </a:lnTo>
                  <a:lnTo>
                    <a:pt x="338" y="57"/>
                  </a:lnTo>
                  <a:lnTo>
                    <a:pt x="338" y="57"/>
                  </a:lnTo>
                  <a:lnTo>
                    <a:pt x="338" y="57"/>
                  </a:lnTo>
                  <a:lnTo>
                    <a:pt x="336" y="57"/>
                  </a:lnTo>
                  <a:lnTo>
                    <a:pt x="330" y="56"/>
                  </a:lnTo>
                  <a:lnTo>
                    <a:pt x="330" y="56"/>
                  </a:lnTo>
                  <a:lnTo>
                    <a:pt x="328" y="56"/>
                  </a:lnTo>
                  <a:lnTo>
                    <a:pt x="328" y="56"/>
                  </a:lnTo>
                  <a:lnTo>
                    <a:pt x="326" y="56"/>
                  </a:lnTo>
                  <a:lnTo>
                    <a:pt x="326" y="56"/>
                  </a:lnTo>
                  <a:lnTo>
                    <a:pt x="324" y="56"/>
                  </a:lnTo>
                  <a:lnTo>
                    <a:pt x="324" y="56"/>
                  </a:lnTo>
                  <a:lnTo>
                    <a:pt x="323" y="54"/>
                  </a:lnTo>
                  <a:lnTo>
                    <a:pt x="323" y="54"/>
                  </a:lnTo>
                  <a:lnTo>
                    <a:pt x="321" y="52"/>
                  </a:lnTo>
                  <a:lnTo>
                    <a:pt x="321" y="48"/>
                  </a:lnTo>
                  <a:lnTo>
                    <a:pt x="319" y="46"/>
                  </a:lnTo>
                  <a:lnTo>
                    <a:pt x="319" y="46"/>
                  </a:lnTo>
                  <a:lnTo>
                    <a:pt x="319" y="44"/>
                  </a:lnTo>
                  <a:lnTo>
                    <a:pt x="319" y="44"/>
                  </a:lnTo>
                  <a:lnTo>
                    <a:pt x="321" y="40"/>
                  </a:lnTo>
                  <a:lnTo>
                    <a:pt x="321" y="40"/>
                  </a:lnTo>
                  <a:lnTo>
                    <a:pt x="321" y="38"/>
                  </a:lnTo>
                  <a:lnTo>
                    <a:pt x="321" y="38"/>
                  </a:lnTo>
                  <a:lnTo>
                    <a:pt x="319" y="35"/>
                  </a:lnTo>
                  <a:lnTo>
                    <a:pt x="317" y="33"/>
                  </a:lnTo>
                  <a:lnTo>
                    <a:pt x="303" y="21"/>
                  </a:lnTo>
                  <a:lnTo>
                    <a:pt x="303" y="18"/>
                  </a:lnTo>
                  <a:lnTo>
                    <a:pt x="302" y="18"/>
                  </a:lnTo>
                  <a:lnTo>
                    <a:pt x="302" y="16"/>
                  </a:lnTo>
                  <a:lnTo>
                    <a:pt x="302" y="14"/>
                  </a:lnTo>
                  <a:lnTo>
                    <a:pt x="302" y="12"/>
                  </a:lnTo>
                  <a:lnTo>
                    <a:pt x="302" y="8"/>
                  </a:lnTo>
                  <a:lnTo>
                    <a:pt x="302" y="8"/>
                  </a:lnTo>
                  <a:lnTo>
                    <a:pt x="300" y="6"/>
                  </a:lnTo>
                  <a:lnTo>
                    <a:pt x="300" y="6"/>
                  </a:lnTo>
                  <a:lnTo>
                    <a:pt x="296" y="4"/>
                  </a:lnTo>
                  <a:lnTo>
                    <a:pt x="296" y="2"/>
                  </a:lnTo>
                  <a:lnTo>
                    <a:pt x="294" y="2"/>
                  </a:lnTo>
                  <a:lnTo>
                    <a:pt x="294" y="2"/>
                  </a:lnTo>
                  <a:lnTo>
                    <a:pt x="288" y="0"/>
                  </a:lnTo>
                  <a:lnTo>
                    <a:pt x="284" y="0"/>
                  </a:lnTo>
                  <a:lnTo>
                    <a:pt x="282" y="0"/>
                  </a:lnTo>
                  <a:lnTo>
                    <a:pt x="282" y="4"/>
                  </a:lnTo>
                  <a:lnTo>
                    <a:pt x="281" y="6"/>
                  </a:lnTo>
                  <a:lnTo>
                    <a:pt x="281" y="6"/>
                  </a:lnTo>
                  <a:lnTo>
                    <a:pt x="277" y="8"/>
                  </a:lnTo>
                  <a:lnTo>
                    <a:pt x="277" y="10"/>
                  </a:lnTo>
                  <a:lnTo>
                    <a:pt x="277" y="10"/>
                  </a:lnTo>
                  <a:lnTo>
                    <a:pt x="277" y="14"/>
                  </a:lnTo>
                  <a:lnTo>
                    <a:pt x="277" y="14"/>
                  </a:lnTo>
                  <a:lnTo>
                    <a:pt x="275" y="14"/>
                  </a:lnTo>
                  <a:lnTo>
                    <a:pt x="273" y="18"/>
                  </a:lnTo>
                  <a:lnTo>
                    <a:pt x="273" y="19"/>
                  </a:lnTo>
                  <a:lnTo>
                    <a:pt x="273" y="19"/>
                  </a:lnTo>
                  <a:lnTo>
                    <a:pt x="271" y="19"/>
                  </a:lnTo>
                  <a:lnTo>
                    <a:pt x="269" y="19"/>
                  </a:lnTo>
                  <a:lnTo>
                    <a:pt x="267" y="21"/>
                  </a:lnTo>
                  <a:lnTo>
                    <a:pt x="265" y="21"/>
                  </a:lnTo>
                  <a:lnTo>
                    <a:pt x="263" y="23"/>
                  </a:lnTo>
                  <a:lnTo>
                    <a:pt x="262" y="23"/>
                  </a:lnTo>
                  <a:lnTo>
                    <a:pt x="262" y="23"/>
                  </a:lnTo>
                  <a:lnTo>
                    <a:pt x="256" y="23"/>
                  </a:lnTo>
                  <a:lnTo>
                    <a:pt x="254" y="21"/>
                  </a:lnTo>
                  <a:lnTo>
                    <a:pt x="250" y="23"/>
                  </a:lnTo>
                  <a:lnTo>
                    <a:pt x="250" y="23"/>
                  </a:lnTo>
                  <a:lnTo>
                    <a:pt x="246" y="21"/>
                  </a:lnTo>
                  <a:lnTo>
                    <a:pt x="244" y="21"/>
                  </a:lnTo>
                  <a:lnTo>
                    <a:pt x="242" y="19"/>
                  </a:lnTo>
                  <a:lnTo>
                    <a:pt x="239" y="16"/>
                  </a:lnTo>
                  <a:lnTo>
                    <a:pt x="235" y="14"/>
                  </a:lnTo>
                  <a:lnTo>
                    <a:pt x="233" y="16"/>
                  </a:lnTo>
                  <a:lnTo>
                    <a:pt x="233" y="16"/>
                  </a:lnTo>
                  <a:lnTo>
                    <a:pt x="233" y="18"/>
                  </a:lnTo>
                  <a:lnTo>
                    <a:pt x="233" y="19"/>
                  </a:lnTo>
                  <a:lnTo>
                    <a:pt x="233" y="19"/>
                  </a:lnTo>
                  <a:lnTo>
                    <a:pt x="231" y="21"/>
                  </a:lnTo>
                  <a:lnTo>
                    <a:pt x="229" y="23"/>
                  </a:lnTo>
                  <a:lnTo>
                    <a:pt x="227" y="23"/>
                  </a:lnTo>
                  <a:lnTo>
                    <a:pt x="223" y="23"/>
                  </a:lnTo>
                  <a:lnTo>
                    <a:pt x="222" y="25"/>
                  </a:lnTo>
                  <a:lnTo>
                    <a:pt x="222" y="25"/>
                  </a:lnTo>
                  <a:lnTo>
                    <a:pt x="222" y="27"/>
                  </a:lnTo>
                  <a:lnTo>
                    <a:pt x="222" y="29"/>
                  </a:lnTo>
                  <a:lnTo>
                    <a:pt x="222" y="29"/>
                  </a:lnTo>
                  <a:lnTo>
                    <a:pt x="220" y="31"/>
                  </a:lnTo>
                  <a:lnTo>
                    <a:pt x="218" y="33"/>
                  </a:lnTo>
                  <a:lnTo>
                    <a:pt x="212" y="33"/>
                  </a:lnTo>
                  <a:lnTo>
                    <a:pt x="212" y="35"/>
                  </a:lnTo>
                  <a:lnTo>
                    <a:pt x="210" y="37"/>
                  </a:lnTo>
                  <a:lnTo>
                    <a:pt x="210" y="37"/>
                  </a:lnTo>
                  <a:lnTo>
                    <a:pt x="206" y="37"/>
                  </a:lnTo>
                  <a:lnTo>
                    <a:pt x="199" y="37"/>
                  </a:lnTo>
                  <a:lnTo>
                    <a:pt x="185" y="35"/>
                  </a:lnTo>
                  <a:lnTo>
                    <a:pt x="183" y="35"/>
                  </a:lnTo>
                  <a:lnTo>
                    <a:pt x="180" y="35"/>
                  </a:lnTo>
                  <a:lnTo>
                    <a:pt x="170" y="35"/>
                  </a:lnTo>
                  <a:lnTo>
                    <a:pt x="168" y="35"/>
                  </a:lnTo>
                  <a:lnTo>
                    <a:pt x="162" y="31"/>
                  </a:lnTo>
                  <a:lnTo>
                    <a:pt x="161" y="31"/>
                  </a:lnTo>
                  <a:lnTo>
                    <a:pt x="155" y="31"/>
                  </a:lnTo>
                  <a:lnTo>
                    <a:pt x="153" y="31"/>
                  </a:lnTo>
                  <a:lnTo>
                    <a:pt x="147" y="33"/>
                  </a:lnTo>
                  <a:lnTo>
                    <a:pt x="145" y="35"/>
                  </a:lnTo>
                  <a:lnTo>
                    <a:pt x="143" y="35"/>
                  </a:lnTo>
                  <a:lnTo>
                    <a:pt x="140" y="35"/>
                  </a:lnTo>
                  <a:lnTo>
                    <a:pt x="138" y="31"/>
                  </a:lnTo>
                  <a:lnTo>
                    <a:pt x="134" y="27"/>
                  </a:lnTo>
                  <a:lnTo>
                    <a:pt x="132" y="25"/>
                  </a:lnTo>
                  <a:lnTo>
                    <a:pt x="128" y="25"/>
                  </a:lnTo>
                  <a:lnTo>
                    <a:pt x="126" y="27"/>
                  </a:lnTo>
                  <a:lnTo>
                    <a:pt x="126" y="29"/>
                  </a:lnTo>
                  <a:lnTo>
                    <a:pt x="126" y="29"/>
                  </a:lnTo>
                  <a:lnTo>
                    <a:pt x="126" y="31"/>
                  </a:lnTo>
                  <a:lnTo>
                    <a:pt x="126" y="31"/>
                  </a:lnTo>
                  <a:lnTo>
                    <a:pt x="128" y="33"/>
                  </a:lnTo>
                  <a:lnTo>
                    <a:pt x="130" y="38"/>
                  </a:lnTo>
                  <a:lnTo>
                    <a:pt x="132" y="42"/>
                  </a:lnTo>
                  <a:lnTo>
                    <a:pt x="132" y="44"/>
                  </a:lnTo>
                  <a:lnTo>
                    <a:pt x="132" y="46"/>
                  </a:lnTo>
                  <a:lnTo>
                    <a:pt x="130" y="46"/>
                  </a:lnTo>
                  <a:lnTo>
                    <a:pt x="130" y="48"/>
                  </a:lnTo>
                  <a:lnTo>
                    <a:pt x="128" y="50"/>
                  </a:lnTo>
                  <a:lnTo>
                    <a:pt x="128" y="50"/>
                  </a:lnTo>
                  <a:lnTo>
                    <a:pt x="126" y="50"/>
                  </a:lnTo>
                  <a:lnTo>
                    <a:pt x="126" y="52"/>
                  </a:lnTo>
                  <a:lnTo>
                    <a:pt x="124" y="56"/>
                  </a:lnTo>
                  <a:lnTo>
                    <a:pt x="124" y="56"/>
                  </a:lnTo>
                  <a:lnTo>
                    <a:pt x="124" y="57"/>
                  </a:lnTo>
                  <a:lnTo>
                    <a:pt x="122" y="57"/>
                  </a:lnTo>
                  <a:lnTo>
                    <a:pt x="122" y="57"/>
                  </a:lnTo>
                  <a:lnTo>
                    <a:pt x="122" y="59"/>
                  </a:lnTo>
                  <a:lnTo>
                    <a:pt x="124" y="61"/>
                  </a:lnTo>
                  <a:lnTo>
                    <a:pt x="124" y="63"/>
                  </a:lnTo>
                  <a:lnTo>
                    <a:pt x="126" y="65"/>
                  </a:lnTo>
                  <a:lnTo>
                    <a:pt x="126" y="65"/>
                  </a:lnTo>
                  <a:lnTo>
                    <a:pt x="128" y="67"/>
                  </a:lnTo>
                  <a:lnTo>
                    <a:pt x="128" y="65"/>
                  </a:lnTo>
                  <a:lnTo>
                    <a:pt x="132" y="63"/>
                  </a:lnTo>
                  <a:lnTo>
                    <a:pt x="134" y="63"/>
                  </a:lnTo>
                  <a:lnTo>
                    <a:pt x="136" y="61"/>
                  </a:lnTo>
                  <a:lnTo>
                    <a:pt x="138" y="59"/>
                  </a:lnTo>
                  <a:lnTo>
                    <a:pt x="138" y="59"/>
                  </a:lnTo>
                  <a:lnTo>
                    <a:pt x="140" y="61"/>
                  </a:lnTo>
                  <a:lnTo>
                    <a:pt x="141" y="61"/>
                  </a:lnTo>
                  <a:lnTo>
                    <a:pt x="147" y="63"/>
                  </a:lnTo>
                  <a:lnTo>
                    <a:pt x="151" y="63"/>
                  </a:lnTo>
                  <a:lnTo>
                    <a:pt x="153" y="65"/>
                  </a:lnTo>
                  <a:lnTo>
                    <a:pt x="157" y="67"/>
                  </a:lnTo>
                  <a:lnTo>
                    <a:pt x="159" y="73"/>
                  </a:lnTo>
                  <a:lnTo>
                    <a:pt x="161" y="75"/>
                  </a:lnTo>
                  <a:lnTo>
                    <a:pt x="161" y="75"/>
                  </a:lnTo>
                  <a:lnTo>
                    <a:pt x="162" y="75"/>
                  </a:lnTo>
                  <a:lnTo>
                    <a:pt x="162" y="75"/>
                  </a:lnTo>
                  <a:lnTo>
                    <a:pt x="162" y="76"/>
                  </a:lnTo>
                  <a:lnTo>
                    <a:pt x="164" y="78"/>
                  </a:lnTo>
                  <a:lnTo>
                    <a:pt x="164" y="78"/>
                  </a:lnTo>
                  <a:lnTo>
                    <a:pt x="170" y="76"/>
                  </a:lnTo>
                  <a:lnTo>
                    <a:pt x="170" y="76"/>
                  </a:lnTo>
                  <a:lnTo>
                    <a:pt x="172" y="78"/>
                  </a:lnTo>
                  <a:lnTo>
                    <a:pt x="174" y="78"/>
                  </a:lnTo>
                  <a:lnTo>
                    <a:pt x="176" y="82"/>
                  </a:lnTo>
                  <a:lnTo>
                    <a:pt x="178" y="84"/>
                  </a:lnTo>
                  <a:lnTo>
                    <a:pt x="178" y="86"/>
                  </a:lnTo>
                  <a:lnTo>
                    <a:pt x="176" y="94"/>
                  </a:lnTo>
                  <a:lnTo>
                    <a:pt x="176" y="97"/>
                  </a:lnTo>
                  <a:lnTo>
                    <a:pt x="176" y="99"/>
                  </a:lnTo>
                  <a:lnTo>
                    <a:pt x="174" y="103"/>
                  </a:lnTo>
                  <a:lnTo>
                    <a:pt x="172" y="105"/>
                  </a:lnTo>
                  <a:lnTo>
                    <a:pt x="170" y="105"/>
                  </a:lnTo>
                  <a:lnTo>
                    <a:pt x="168" y="103"/>
                  </a:lnTo>
                  <a:lnTo>
                    <a:pt x="166" y="105"/>
                  </a:lnTo>
                  <a:lnTo>
                    <a:pt x="162" y="107"/>
                  </a:lnTo>
                  <a:lnTo>
                    <a:pt x="157" y="109"/>
                  </a:lnTo>
                  <a:lnTo>
                    <a:pt x="155" y="111"/>
                  </a:lnTo>
                  <a:lnTo>
                    <a:pt x="155" y="113"/>
                  </a:lnTo>
                  <a:lnTo>
                    <a:pt x="155" y="114"/>
                  </a:lnTo>
                  <a:lnTo>
                    <a:pt x="155" y="118"/>
                  </a:lnTo>
                  <a:lnTo>
                    <a:pt x="155" y="120"/>
                  </a:lnTo>
                  <a:lnTo>
                    <a:pt x="151" y="124"/>
                  </a:lnTo>
                  <a:lnTo>
                    <a:pt x="147" y="126"/>
                  </a:lnTo>
                  <a:lnTo>
                    <a:pt x="145" y="128"/>
                  </a:lnTo>
                  <a:lnTo>
                    <a:pt x="143" y="128"/>
                  </a:lnTo>
                  <a:lnTo>
                    <a:pt x="141" y="130"/>
                  </a:lnTo>
                  <a:lnTo>
                    <a:pt x="140" y="132"/>
                  </a:lnTo>
                  <a:lnTo>
                    <a:pt x="140" y="134"/>
                  </a:lnTo>
                  <a:lnTo>
                    <a:pt x="140" y="135"/>
                  </a:lnTo>
                  <a:lnTo>
                    <a:pt x="141" y="139"/>
                  </a:lnTo>
                  <a:lnTo>
                    <a:pt x="140" y="141"/>
                  </a:lnTo>
                  <a:lnTo>
                    <a:pt x="138" y="143"/>
                  </a:lnTo>
                  <a:lnTo>
                    <a:pt x="138" y="145"/>
                  </a:lnTo>
                  <a:lnTo>
                    <a:pt x="140" y="147"/>
                  </a:lnTo>
                  <a:lnTo>
                    <a:pt x="140" y="149"/>
                  </a:lnTo>
                  <a:lnTo>
                    <a:pt x="138" y="149"/>
                  </a:lnTo>
                  <a:lnTo>
                    <a:pt x="136" y="149"/>
                  </a:lnTo>
                  <a:lnTo>
                    <a:pt x="130" y="153"/>
                  </a:lnTo>
                  <a:lnTo>
                    <a:pt x="128" y="154"/>
                  </a:lnTo>
                  <a:lnTo>
                    <a:pt x="128" y="156"/>
                  </a:lnTo>
                  <a:lnTo>
                    <a:pt x="128" y="158"/>
                  </a:lnTo>
                  <a:lnTo>
                    <a:pt x="128" y="160"/>
                  </a:lnTo>
                  <a:lnTo>
                    <a:pt x="126" y="160"/>
                  </a:lnTo>
                  <a:lnTo>
                    <a:pt x="124" y="160"/>
                  </a:lnTo>
                  <a:lnTo>
                    <a:pt x="122" y="162"/>
                  </a:lnTo>
                  <a:lnTo>
                    <a:pt x="121" y="162"/>
                  </a:lnTo>
                  <a:lnTo>
                    <a:pt x="119" y="162"/>
                  </a:lnTo>
                  <a:lnTo>
                    <a:pt x="115" y="164"/>
                  </a:lnTo>
                  <a:lnTo>
                    <a:pt x="113" y="166"/>
                  </a:lnTo>
                  <a:lnTo>
                    <a:pt x="113" y="168"/>
                  </a:lnTo>
                  <a:lnTo>
                    <a:pt x="111" y="168"/>
                  </a:lnTo>
                  <a:lnTo>
                    <a:pt x="109" y="170"/>
                  </a:lnTo>
                  <a:lnTo>
                    <a:pt x="107" y="170"/>
                  </a:lnTo>
                  <a:lnTo>
                    <a:pt x="107" y="170"/>
                  </a:lnTo>
                  <a:lnTo>
                    <a:pt x="105" y="170"/>
                  </a:lnTo>
                  <a:lnTo>
                    <a:pt x="103" y="166"/>
                  </a:lnTo>
                  <a:lnTo>
                    <a:pt x="103" y="166"/>
                  </a:lnTo>
                  <a:lnTo>
                    <a:pt x="101" y="164"/>
                  </a:lnTo>
                  <a:lnTo>
                    <a:pt x="100" y="164"/>
                  </a:lnTo>
                  <a:lnTo>
                    <a:pt x="98" y="166"/>
                  </a:lnTo>
                  <a:lnTo>
                    <a:pt x="96" y="168"/>
                  </a:lnTo>
                  <a:lnTo>
                    <a:pt x="94" y="168"/>
                  </a:lnTo>
                  <a:lnTo>
                    <a:pt x="92" y="170"/>
                  </a:lnTo>
                  <a:lnTo>
                    <a:pt x="90" y="170"/>
                  </a:lnTo>
                  <a:lnTo>
                    <a:pt x="88" y="170"/>
                  </a:lnTo>
                  <a:lnTo>
                    <a:pt x="88" y="170"/>
                  </a:lnTo>
                  <a:lnTo>
                    <a:pt x="86" y="168"/>
                  </a:lnTo>
                  <a:lnTo>
                    <a:pt x="86" y="166"/>
                  </a:lnTo>
                  <a:lnTo>
                    <a:pt x="86" y="166"/>
                  </a:lnTo>
                  <a:lnTo>
                    <a:pt x="84" y="166"/>
                  </a:lnTo>
                  <a:lnTo>
                    <a:pt x="84" y="168"/>
                  </a:lnTo>
                  <a:lnTo>
                    <a:pt x="81" y="172"/>
                  </a:lnTo>
                  <a:lnTo>
                    <a:pt x="79" y="173"/>
                  </a:lnTo>
                  <a:lnTo>
                    <a:pt x="79" y="177"/>
                  </a:lnTo>
                  <a:lnTo>
                    <a:pt x="81" y="181"/>
                  </a:lnTo>
                  <a:lnTo>
                    <a:pt x="79" y="183"/>
                  </a:lnTo>
                  <a:lnTo>
                    <a:pt x="79" y="185"/>
                  </a:lnTo>
                  <a:lnTo>
                    <a:pt x="77" y="189"/>
                  </a:lnTo>
                  <a:lnTo>
                    <a:pt x="73" y="191"/>
                  </a:lnTo>
                  <a:lnTo>
                    <a:pt x="73" y="192"/>
                  </a:lnTo>
                  <a:lnTo>
                    <a:pt x="71" y="192"/>
                  </a:lnTo>
                  <a:lnTo>
                    <a:pt x="71" y="194"/>
                  </a:lnTo>
                  <a:lnTo>
                    <a:pt x="71" y="200"/>
                  </a:lnTo>
                  <a:lnTo>
                    <a:pt x="69" y="202"/>
                  </a:lnTo>
                  <a:lnTo>
                    <a:pt x="69" y="202"/>
                  </a:lnTo>
                  <a:lnTo>
                    <a:pt x="67" y="202"/>
                  </a:lnTo>
                  <a:lnTo>
                    <a:pt x="67" y="202"/>
                  </a:lnTo>
                  <a:lnTo>
                    <a:pt x="67" y="204"/>
                  </a:lnTo>
                  <a:lnTo>
                    <a:pt x="67" y="206"/>
                  </a:lnTo>
                  <a:lnTo>
                    <a:pt x="69" y="206"/>
                  </a:lnTo>
                  <a:lnTo>
                    <a:pt x="69" y="208"/>
                  </a:lnTo>
                  <a:lnTo>
                    <a:pt x="67" y="210"/>
                  </a:lnTo>
                  <a:lnTo>
                    <a:pt x="67" y="210"/>
                  </a:lnTo>
                  <a:lnTo>
                    <a:pt x="65" y="210"/>
                  </a:lnTo>
                  <a:lnTo>
                    <a:pt x="63" y="206"/>
                  </a:lnTo>
                  <a:lnTo>
                    <a:pt x="61" y="204"/>
                  </a:lnTo>
                  <a:lnTo>
                    <a:pt x="61" y="204"/>
                  </a:lnTo>
                  <a:lnTo>
                    <a:pt x="60" y="206"/>
                  </a:lnTo>
                  <a:lnTo>
                    <a:pt x="58" y="208"/>
                  </a:lnTo>
                  <a:lnTo>
                    <a:pt x="54" y="217"/>
                  </a:lnTo>
                  <a:lnTo>
                    <a:pt x="54" y="219"/>
                  </a:lnTo>
                  <a:lnTo>
                    <a:pt x="52" y="223"/>
                  </a:lnTo>
                  <a:lnTo>
                    <a:pt x="54" y="229"/>
                  </a:lnTo>
                  <a:lnTo>
                    <a:pt x="52" y="234"/>
                  </a:lnTo>
                  <a:lnTo>
                    <a:pt x="50" y="236"/>
                  </a:lnTo>
                  <a:lnTo>
                    <a:pt x="48" y="238"/>
                  </a:lnTo>
                  <a:lnTo>
                    <a:pt x="46" y="238"/>
                  </a:lnTo>
                  <a:lnTo>
                    <a:pt x="44" y="240"/>
                  </a:lnTo>
                  <a:lnTo>
                    <a:pt x="42" y="242"/>
                  </a:lnTo>
                  <a:lnTo>
                    <a:pt x="42" y="251"/>
                  </a:lnTo>
                  <a:lnTo>
                    <a:pt x="42" y="253"/>
                  </a:lnTo>
                  <a:lnTo>
                    <a:pt x="42" y="255"/>
                  </a:lnTo>
                  <a:lnTo>
                    <a:pt x="42" y="265"/>
                  </a:lnTo>
                  <a:lnTo>
                    <a:pt x="42" y="267"/>
                  </a:lnTo>
                  <a:lnTo>
                    <a:pt x="40" y="270"/>
                  </a:lnTo>
                  <a:lnTo>
                    <a:pt x="40" y="274"/>
                  </a:lnTo>
                  <a:lnTo>
                    <a:pt x="39" y="278"/>
                  </a:lnTo>
                  <a:lnTo>
                    <a:pt x="39" y="284"/>
                  </a:lnTo>
                  <a:lnTo>
                    <a:pt x="37" y="286"/>
                  </a:lnTo>
                  <a:lnTo>
                    <a:pt x="35" y="288"/>
                  </a:lnTo>
                  <a:lnTo>
                    <a:pt x="33" y="289"/>
                  </a:lnTo>
                  <a:lnTo>
                    <a:pt x="27" y="293"/>
                  </a:lnTo>
                  <a:lnTo>
                    <a:pt x="21" y="297"/>
                  </a:lnTo>
                  <a:lnTo>
                    <a:pt x="20" y="297"/>
                  </a:lnTo>
                  <a:lnTo>
                    <a:pt x="20" y="299"/>
                  </a:lnTo>
                  <a:lnTo>
                    <a:pt x="18" y="299"/>
                  </a:lnTo>
                  <a:lnTo>
                    <a:pt x="18" y="301"/>
                  </a:lnTo>
                  <a:lnTo>
                    <a:pt x="18" y="307"/>
                  </a:lnTo>
                  <a:lnTo>
                    <a:pt x="16" y="310"/>
                  </a:lnTo>
                  <a:lnTo>
                    <a:pt x="16" y="312"/>
                  </a:lnTo>
                  <a:lnTo>
                    <a:pt x="16" y="312"/>
                  </a:lnTo>
                  <a:lnTo>
                    <a:pt x="16" y="316"/>
                  </a:lnTo>
                  <a:lnTo>
                    <a:pt x="18" y="318"/>
                  </a:lnTo>
                  <a:lnTo>
                    <a:pt x="18" y="318"/>
                  </a:lnTo>
                  <a:lnTo>
                    <a:pt x="20" y="318"/>
                  </a:lnTo>
                  <a:lnTo>
                    <a:pt x="20" y="320"/>
                  </a:lnTo>
                  <a:lnTo>
                    <a:pt x="20" y="320"/>
                  </a:lnTo>
                  <a:lnTo>
                    <a:pt x="21" y="320"/>
                  </a:lnTo>
                  <a:lnTo>
                    <a:pt x="21" y="320"/>
                  </a:lnTo>
                  <a:lnTo>
                    <a:pt x="21" y="320"/>
                  </a:lnTo>
                  <a:lnTo>
                    <a:pt x="23" y="320"/>
                  </a:lnTo>
                  <a:lnTo>
                    <a:pt x="25" y="320"/>
                  </a:lnTo>
                  <a:lnTo>
                    <a:pt x="25" y="320"/>
                  </a:lnTo>
                  <a:lnTo>
                    <a:pt x="25" y="320"/>
                  </a:lnTo>
                  <a:lnTo>
                    <a:pt x="27" y="320"/>
                  </a:lnTo>
                  <a:lnTo>
                    <a:pt x="27" y="322"/>
                  </a:lnTo>
                  <a:lnTo>
                    <a:pt x="27" y="322"/>
                  </a:lnTo>
                  <a:lnTo>
                    <a:pt x="27" y="324"/>
                  </a:lnTo>
                  <a:lnTo>
                    <a:pt x="27" y="326"/>
                  </a:lnTo>
                  <a:lnTo>
                    <a:pt x="27" y="335"/>
                  </a:lnTo>
                  <a:lnTo>
                    <a:pt x="29" y="343"/>
                  </a:lnTo>
                  <a:lnTo>
                    <a:pt x="29" y="345"/>
                  </a:lnTo>
                  <a:lnTo>
                    <a:pt x="27" y="345"/>
                  </a:lnTo>
                  <a:lnTo>
                    <a:pt x="27" y="347"/>
                  </a:lnTo>
                  <a:lnTo>
                    <a:pt x="23" y="348"/>
                  </a:lnTo>
                  <a:lnTo>
                    <a:pt x="23" y="348"/>
                  </a:lnTo>
                  <a:lnTo>
                    <a:pt x="21" y="348"/>
                  </a:lnTo>
                  <a:lnTo>
                    <a:pt x="21" y="350"/>
                  </a:lnTo>
                  <a:lnTo>
                    <a:pt x="21" y="352"/>
                  </a:lnTo>
                  <a:lnTo>
                    <a:pt x="21" y="352"/>
                  </a:lnTo>
                  <a:lnTo>
                    <a:pt x="21" y="352"/>
                  </a:lnTo>
                  <a:lnTo>
                    <a:pt x="21" y="354"/>
                  </a:lnTo>
                  <a:lnTo>
                    <a:pt x="23" y="354"/>
                  </a:lnTo>
                  <a:lnTo>
                    <a:pt x="23" y="354"/>
                  </a:lnTo>
                  <a:lnTo>
                    <a:pt x="23" y="354"/>
                  </a:lnTo>
                  <a:lnTo>
                    <a:pt x="25" y="354"/>
                  </a:lnTo>
                  <a:lnTo>
                    <a:pt x="27" y="352"/>
                  </a:lnTo>
                  <a:lnTo>
                    <a:pt x="27" y="350"/>
                  </a:lnTo>
                  <a:lnTo>
                    <a:pt x="29" y="350"/>
                  </a:lnTo>
                  <a:lnTo>
                    <a:pt x="29" y="350"/>
                  </a:lnTo>
                  <a:lnTo>
                    <a:pt x="29" y="350"/>
                  </a:lnTo>
                  <a:lnTo>
                    <a:pt x="31" y="352"/>
                  </a:lnTo>
                  <a:lnTo>
                    <a:pt x="33" y="352"/>
                  </a:lnTo>
                  <a:lnTo>
                    <a:pt x="33" y="352"/>
                  </a:lnTo>
                  <a:lnTo>
                    <a:pt x="33" y="352"/>
                  </a:lnTo>
                  <a:lnTo>
                    <a:pt x="33" y="352"/>
                  </a:lnTo>
                  <a:lnTo>
                    <a:pt x="33" y="354"/>
                  </a:lnTo>
                  <a:lnTo>
                    <a:pt x="33" y="354"/>
                  </a:lnTo>
                  <a:lnTo>
                    <a:pt x="33" y="358"/>
                  </a:lnTo>
                  <a:lnTo>
                    <a:pt x="33" y="360"/>
                  </a:lnTo>
                  <a:lnTo>
                    <a:pt x="33" y="360"/>
                  </a:lnTo>
                  <a:lnTo>
                    <a:pt x="35" y="360"/>
                  </a:lnTo>
                  <a:lnTo>
                    <a:pt x="35" y="362"/>
                  </a:lnTo>
                  <a:lnTo>
                    <a:pt x="35" y="362"/>
                  </a:lnTo>
                  <a:lnTo>
                    <a:pt x="33" y="364"/>
                  </a:lnTo>
                  <a:lnTo>
                    <a:pt x="33" y="366"/>
                  </a:lnTo>
                  <a:lnTo>
                    <a:pt x="33" y="366"/>
                  </a:lnTo>
                  <a:lnTo>
                    <a:pt x="33" y="371"/>
                  </a:lnTo>
                  <a:lnTo>
                    <a:pt x="33" y="373"/>
                  </a:lnTo>
                  <a:lnTo>
                    <a:pt x="33" y="375"/>
                  </a:lnTo>
                  <a:lnTo>
                    <a:pt x="33" y="377"/>
                  </a:lnTo>
                  <a:lnTo>
                    <a:pt x="33" y="377"/>
                  </a:lnTo>
                  <a:lnTo>
                    <a:pt x="33" y="379"/>
                  </a:lnTo>
                  <a:lnTo>
                    <a:pt x="33" y="379"/>
                  </a:lnTo>
                  <a:lnTo>
                    <a:pt x="33" y="381"/>
                  </a:lnTo>
                  <a:lnTo>
                    <a:pt x="31" y="381"/>
                  </a:lnTo>
                  <a:lnTo>
                    <a:pt x="29" y="381"/>
                  </a:lnTo>
                  <a:lnTo>
                    <a:pt x="29" y="383"/>
                  </a:lnTo>
                  <a:lnTo>
                    <a:pt x="27" y="385"/>
                  </a:lnTo>
                  <a:lnTo>
                    <a:pt x="25" y="385"/>
                  </a:lnTo>
                  <a:lnTo>
                    <a:pt x="23" y="385"/>
                  </a:lnTo>
                  <a:lnTo>
                    <a:pt x="23" y="386"/>
                  </a:lnTo>
                  <a:lnTo>
                    <a:pt x="18" y="386"/>
                  </a:lnTo>
                  <a:lnTo>
                    <a:pt x="16" y="386"/>
                  </a:lnTo>
                  <a:lnTo>
                    <a:pt x="16" y="386"/>
                  </a:lnTo>
                  <a:lnTo>
                    <a:pt x="16" y="388"/>
                  </a:lnTo>
                  <a:lnTo>
                    <a:pt x="16" y="390"/>
                  </a:lnTo>
                  <a:lnTo>
                    <a:pt x="16" y="390"/>
                  </a:lnTo>
                  <a:lnTo>
                    <a:pt x="16" y="392"/>
                  </a:lnTo>
                  <a:lnTo>
                    <a:pt x="14" y="396"/>
                  </a:lnTo>
                  <a:lnTo>
                    <a:pt x="14" y="396"/>
                  </a:lnTo>
                  <a:lnTo>
                    <a:pt x="14" y="396"/>
                  </a:lnTo>
                  <a:lnTo>
                    <a:pt x="16" y="398"/>
                  </a:lnTo>
                  <a:lnTo>
                    <a:pt x="23" y="398"/>
                  </a:lnTo>
                  <a:lnTo>
                    <a:pt x="23" y="398"/>
                  </a:lnTo>
                  <a:lnTo>
                    <a:pt x="23" y="398"/>
                  </a:lnTo>
                  <a:lnTo>
                    <a:pt x="25" y="398"/>
                  </a:lnTo>
                  <a:lnTo>
                    <a:pt x="27" y="404"/>
                  </a:lnTo>
                  <a:lnTo>
                    <a:pt x="27" y="407"/>
                  </a:lnTo>
                  <a:lnTo>
                    <a:pt x="27" y="407"/>
                  </a:lnTo>
                  <a:lnTo>
                    <a:pt x="27" y="409"/>
                  </a:lnTo>
                  <a:lnTo>
                    <a:pt x="27" y="409"/>
                  </a:lnTo>
                  <a:lnTo>
                    <a:pt x="25" y="411"/>
                  </a:lnTo>
                  <a:lnTo>
                    <a:pt x="25" y="417"/>
                  </a:lnTo>
                  <a:lnTo>
                    <a:pt x="25" y="419"/>
                  </a:lnTo>
                  <a:lnTo>
                    <a:pt x="25" y="419"/>
                  </a:lnTo>
                  <a:lnTo>
                    <a:pt x="25" y="419"/>
                  </a:lnTo>
                  <a:lnTo>
                    <a:pt x="23" y="419"/>
                  </a:lnTo>
                  <a:lnTo>
                    <a:pt x="23" y="419"/>
                  </a:lnTo>
                  <a:lnTo>
                    <a:pt x="21" y="419"/>
                  </a:lnTo>
                  <a:lnTo>
                    <a:pt x="20" y="417"/>
                  </a:lnTo>
                  <a:lnTo>
                    <a:pt x="18" y="417"/>
                  </a:lnTo>
                  <a:lnTo>
                    <a:pt x="18" y="417"/>
                  </a:lnTo>
                  <a:lnTo>
                    <a:pt x="18" y="419"/>
                  </a:lnTo>
                  <a:lnTo>
                    <a:pt x="16" y="421"/>
                  </a:lnTo>
                  <a:lnTo>
                    <a:pt x="16" y="421"/>
                  </a:lnTo>
                  <a:lnTo>
                    <a:pt x="16" y="423"/>
                  </a:lnTo>
                  <a:lnTo>
                    <a:pt x="16" y="423"/>
                  </a:lnTo>
                  <a:lnTo>
                    <a:pt x="16" y="423"/>
                  </a:lnTo>
                  <a:lnTo>
                    <a:pt x="16" y="423"/>
                  </a:lnTo>
                  <a:lnTo>
                    <a:pt x="18" y="423"/>
                  </a:lnTo>
                  <a:lnTo>
                    <a:pt x="20" y="424"/>
                  </a:lnTo>
                  <a:lnTo>
                    <a:pt x="20" y="424"/>
                  </a:lnTo>
                  <a:lnTo>
                    <a:pt x="21" y="424"/>
                  </a:lnTo>
                  <a:lnTo>
                    <a:pt x="21" y="426"/>
                  </a:lnTo>
                  <a:lnTo>
                    <a:pt x="20" y="426"/>
                  </a:lnTo>
                  <a:lnTo>
                    <a:pt x="20" y="426"/>
                  </a:lnTo>
                  <a:lnTo>
                    <a:pt x="20" y="428"/>
                  </a:lnTo>
                  <a:lnTo>
                    <a:pt x="20" y="428"/>
                  </a:lnTo>
                  <a:lnTo>
                    <a:pt x="20" y="428"/>
                  </a:lnTo>
                  <a:lnTo>
                    <a:pt x="18" y="430"/>
                  </a:lnTo>
                  <a:lnTo>
                    <a:pt x="16" y="430"/>
                  </a:lnTo>
                  <a:lnTo>
                    <a:pt x="14" y="430"/>
                  </a:lnTo>
                  <a:lnTo>
                    <a:pt x="14" y="432"/>
                  </a:lnTo>
                  <a:lnTo>
                    <a:pt x="14" y="432"/>
                  </a:lnTo>
                  <a:lnTo>
                    <a:pt x="14" y="432"/>
                  </a:lnTo>
                  <a:lnTo>
                    <a:pt x="14" y="434"/>
                  </a:lnTo>
                  <a:lnTo>
                    <a:pt x="16" y="434"/>
                  </a:lnTo>
                  <a:lnTo>
                    <a:pt x="18" y="434"/>
                  </a:lnTo>
                  <a:lnTo>
                    <a:pt x="20" y="434"/>
                  </a:lnTo>
                  <a:lnTo>
                    <a:pt x="20" y="434"/>
                  </a:lnTo>
                  <a:lnTo>
                    <a:pt x="21" y="434"/>
                  </a:lnTo>
                  <a:lnTo>
                    <a:pt x="21" y="434"/>
                  </a:lnTo>
                  <a:lnTo>
                    <a:pt x="21" y="434"/>
                  </a:lnTo>
                  <a:lnTo>
                    <a:pt x="21" y="434"/>
                  </a:lnTo>
                  <a:lnTo>
                    <a:pt x="21" y="432"/>
                  </a:lnTo>
                  <a:lnTo>
                    <a:pt x="21" y="432"/>
                  </a:lnTo>
                  <a:lnTo>
                    <a:pt x="21" y="432"/>
                  </a:lnTo>
                  <a:lnTo>
                    <a:pt x="21" y="432"/>
                  </a:lnTo>
                  <a:lnTo>
                    <a:pt x="21" y="430"/>
                  </a:lnTo>
                  <a:lnTo>
                    <a:pt x="21" y="430"/>
                  </a:lnTo>
                  <a:lnTo>
                    <a:pt x="23" y="430"/>
                  </a:lnTo>
                  <a:lnTo>
                    <a:pt x="23" y="430"/>
                  </a:lnTo>
                  <a:lnTo>
                    <a:pt x="25" y="430"/>
                  </a:lnTo>
                  <a:lnTo>
                    <a:pt x="25" y="430"/>
                  </a:lnTo>
                  <a:lnTo>
                    <a:pt x="25" y="430"/>
                  </a:lnTo>
                  <a:lnTo>
                    <a:pt x="27" y="432"/>
                  </a:lnTo>
                  <a:lnTo>
                    <a:pt x="27" y="436"/>
                  </a:lnTo>
                  <a:lnTo>
                    <a:pt x="27" y="438"/>
                  </a:lnTo>
                  <a:lnTo>
                    <a:pt x="29" y="438"/>
                  </a:lnTo>
                  <a:lnTo>
                    <a:pt x="31" y="440"/>
                  </a:lnTo>
                  <a:lnTo>
                    <a:pt x="31" y="440"/>
                  </a:lnTo>
                  <a:lnTo>
                    <a:pt x="35" y="440"/>
                  </a:lnTo>
                  <a:lnTo>
                    <a:pt x="37" y="442"/>
                  </a:lnTo>
                  <a:lnTo>
                    <a:pt x="37" y="442"/>
                  </a:lnTo>
                  <a:lnTo>
                    <a:pt x="37" y="442"/>
                  </a:lnTo>
                  <a:lnTo>
                    <a:pt x="39" y="444"/>
                  </a:lnTo>
                  <a:lnTo>
                    <a:pt x="39" y="449"/>
                  </a:lnTo>
                  <a:lnTo>
                    <a:pt x="40" y="449"/>
                  </a:lnTo>
                  <a:lnTo>
                    <a:pt x="40" y="451"/>
                  </a:lnTo>
                  <a:lnTo>
                    <a:pt x="42" y="451"/>
                  </a:lnTo>
                  <a:lnTo>
                    <a:pt x="46" y="453"/>
                  </a:lnTo>
                  <a:lnTo>
                    <a:pt x="48" y="453"/>
                  </a:lnTo>
                  <a:lnTo>
                    <a:pt x="50" y="455"/>
                  </a:lnTo>
                  <a:lnTo>
                    <a:pt x="52" y="455"/>
                  </a:lnTo>
                  <a:lnTo>
                    <a:pt x="52" y="455"/>
                  </a:lnTo>
                  <a:lnTo>
                    <a:pt x="52" y="455"/>
                  </a:lnTo>
                  <a:lnTo>
                    <a:pt x="54" y="457"/>
                  </a:lnTo>
                  <a:lnTo>
                    <a:pt x="54" y="459"/>
                  </a:lnTo>
                  <a:lnTo>
                    <a:pt x="58" y="461"/>
                  </a:lnTo>
                  <a:lnTo>
                    <a:pt x="58" y="463"/>
                  </a:lnTo>
                  <a:lnTo>
                    <a:pt x="60" y="464"/>
                  </a:lnTo>
                  <a:lnTo>
                    <a:pt x="58" y="464"/>
                  </a:lnTo>
                  <a:lnTo>
                    <a:pt x="58" y="466"/>
                  </a:lnTo>
                  <a:lnTo>
                    <a:pt x="58" y="468"/>
                  </a:lnTo>
                  <a:lnTo>
                    <a:pt x="56" y="468"/>
                  </a:lnTo>
                  <a:lnTo>
                    <a:pt x="54" y="468"/>
                  </a:lnTo>
                  <a:lnTo>
                    <a:pt x="52" y="468"/>
                  </a:lnTo>
                  <a:lnTo>
                    <a:pt x="52" y="470"/>
                  </a:lnTo>
                  <a:lnTo>
                    <a:pt x="50" y="470"/>
                  </a:lnTo>
                  <a:lnTo>
                    <a:pt x="50" y="470"/>
                  </a:lnTo>
                  <a:lnTo>
                    <a:pt x="50" y="472"/>
                  </a:lnTo>
                  <a:lnTo>
                    <a:pt x="52" y="474"/>
                  </a:lnTo>
                  <a:lnTo>
                    <a:pt x="52" y="476"/>
                  </a:lnTo>
                  <a:lnTo>
                    <a:pt x="52" y="476"/>
                  </a:lnTo>
                  <a:lnTo>
                    <a:pt x="52" y="478"/>
                  </a:lnTo>
                  <a:lnTo>
                    <a:pt x="48" y="480"/>
                  </a:lnTo>
                  <a:lnTo>
                    <a:pt x="46" y="480"/>
                  </a:lnTo>
                  <a:lnTo>
                    <a:pt x="44" y="482"/>
                  </a:lnTo>
                  <a:lnTo>
                    <a:pt x="44" y="482"/>
                  </a:lnTo>
                  <a:lnTo>
                    <a:pt x="42" y="483"/>
                  </a:lnTo>
                  <a:lnTo>
                    <a:pt x="42" y="483"/>
                  </a:lnTo>
                  <a:lnTo>
                    <a:pt x="42" y="483"/>
                  </a:lnTo>
                  <a:lnTo>
                    <a:pt x="40" y="482"/>
                  </a:lnTo>
                  <a:lnTo>
                    <a:pt x="40" y="480"/>
                  </a:lnTo>
                  <a:lnTo>
                    <a:pt x="39" y="478"/>
                  </a:lnTo>
                  <a:lnTo>
                    <a:pt x="37" y="478"/>
                  </a:lnTo>
                  <a:lnTo>
                    <a:pt x="35" y="478"/>
                  </a:lnTo>
                  <a:lnTo>
                    <a:pt x="33" y="478"/>
                  </a:lnTo>
                  <a:lnTo>
                    <a:pt x="31" y="476"/>
                  </a:lnTo>
                  <a:lnTo>
                    <a:pt x="31" y="472"/>
                  </a:lnTo>
                  <a:lnTo>
                    <a:pt x="29" y="470"/>
                  </a:lnTo>
                  <a:lnTo>
                    <a:pt x="27" y="472"/>
                  </a:lnTo>
                  <a:lnTo>
                    <a:pt x="25" y="472"/>
                  </a:lnTo>
                  <a:lnTo>
                    <a:pt x="25" y="474"/>
                  </a:lnTo>
                  <a:lnTo>
                    <a:pt x="23" y="476"/>
                  </a:lnTo>
                  <a:lnTo>
                    <a:pt x="23" y="476"/>
                  </a:lnTo>
                  <a:lnTo>
                    <a:pt x="21" y="476"/>
                  </a:lnTo>
                  <a:lnTo>
                    <a:pt x="20" y="478"/>
                  </a:lnTo>
                  <a:lnTo>
                    <a:pt x="20" y="478"/>
                  </a:lnTo>
                  <a:lnTo>
                    <a:pt x="18" y="482"/>
                  </a:lnTo>
                  <a:lnTo>
                    <a:pt x="18" y="483"/>
                  </a:lnTo>
                  <a:lnTo>
                    <a:pt x="16" y="483"/>
                  </a:lnTo>
                  <a:lnTo>
                    <a:pt x="14" y="483"/>
                  </a:lnTo>
                  <a:lnTo>
                    <a:pt x="14" y="485"/>
                  </a:lnTo>
                  <a:lnTo>
                    <a:pt x="12" y="487"/>
                  </a:lnTo>
                  <a:lnTo>
                    <a:pt x="10" y="495"/>
                  </a:lnTo>
                  <a:lnTo>
                    <a:pt x="10" y="497"/>
                  </a:lnTo>
                  <a:lnTo>
                    <a:pt x="10" y="499"/>
                  </a:lnTo>
                  <a:lnTo>
                    <a:pt x="8" y="501"/>
                  </a:lnTo>
                  <a:lnTo>
                    <a:pt x="2" y="508"/>
                  </a:lnTo>
                  <a:lnTo>
                    <a:pt x="0" y="512"/>
                  </a:lnTo>
                  <a:lnTo>
                    <a:pt x="0" y="514"/>
                  </a:lnTo>
                  <a:lnTo>
                    <a:pt x="2" y="518"/>
                  </a:lnTo>
                  <a:lnTo>
                    <a:pt x="8" y="523"/>
                  </a:lnTo>
                  <a:lnTo>
                    <a:pt x="8" y="525"/>
                  </a:lnTo>
                  <a:lnTo>
                    <a:pt x="6" y="527"/>
                  </a:lnTo>
                  <a:lnTo>
                    <a:pt x="0" y="531"/>
                  </a:lnTo>
                  <a:lnTo>
                    <a:pt x="0" y="531"/>
                  </a:lnTo>
                  <a:lnTo>
                    <a:pt x="0" y="533"/>
                  </a:lnTo>
                  <a:lnTo>
                    <a:pt x="0" y="535"/>
                  </a:lnTo>
                  <a:lnTo>
                    <a:pt x="0" y="535"/>
                  </a:lnTo>
                  <a:lnTo>
                    <a:pt x="0" y="537"/>
                  </a:lnTo>
                  <a:lnTo>
                    <a:pt x="2" y="537"/>
                  </a:lnTo>
                  <a:lnTo>
                    <a:pt x="2" y="537"/>
                  </a:lnTo>
                  <a:lnTo>
                    <a:pt x="4" y="539"/>
                  </a:lnTo>
                  <a:lnTo>
                    <a:pt x="4" y="539"/>
                  </a:lnTo>
                  <a:lnTo>
                    <a:pt x="4" y="541"/>
                  </a:lnTo>
                  <a:lnTo>
                    <a:pt x="4" y="541"/>
                  </a:lnTo>
                  <a:lnTo>
                    <a:pt x="4" y="542"/>
                  </a:lnTo>
                  <a:lnTo>
                    <a:pt x="6" y="544"/>
                  </a:lnTo>
                  <a:lnTo>
                    <a:pt x="6" y="544"/>
                  </a:lnTo>
                  <a:lnTo>
                    <a:pt x="6" y="546"/>
                  </a:lnTo>
                  <a:lnTo>
                    <a:pt x="8" y="546"/>
                  </a:lnTo>
                  <a:lnTo>
                    <a:pt x="8" y="548"/>
                  </a:lnTo>
                  <a:lnTo>
                    <a:pt x="8" y="548"/>
                  </a:lnTo>
                  <a:lnTo>
                    <a:pt x="10" y="548"/>
                  </a:lnTo>
                  <a:lnTo>
                    <a:pt x="10" y="548"/>
                  </a:lnTo>
                  <a:lnTo>
                    <a:pt x="10" y="546"/>
                  </a:lnTo>
                  <a:lnTo>
                    <a:pt x="12" y="546"/>
                  </a:lnTo>
                  <a:lnTo>
                    <a:pt x="12" y="548"/>
                  </a:lnTo>
                  <a:lnTo>
                    <a:pt x="12" y="548"/>
                  </a:lnTo>
                  <a:lnTo>
                    <a:pt x="14" y="550"/>
                  </a:lnTo>
                  <a:lnTo>
                    <a:pt x="16" y="548"/>
                  </a:lnTo>
                  <a:lnTo>
                    <a:pt x="20" y="548"/>
                  </a:lnTo>
                  <a:lnTo>
                    <a:pt x="21" y="548"/>
                  </a:lnTo>
                  <a:lnTo>
                    <a:pt x="21" y="548"/>
                  </a:lnTo>
                  <a:lnTo>
                    <a:pt x="23" y="550"/>
                  </a:lnTo>
                  <a:lnTo>
                    <a:pt x="25" y="550"/>
                  </a:lnTo>
                  <a:lnTo>
                    <a:pt x="27" y="552"/>
                  </a:lnTo>
                  <a:lnTo>
                    <a:pt x="27" y="552"/>
                  </a:lnTo>
                  <a:lnTo>
                    <a:pt x="29" y="554"/>
                  </a:lnTo>
                  <a:lnTo>
                    <a:pt x="35" y="560"/>
                  </a:lnTo>
                  <a:lnTo>
                    <a:pt x="35" y="561"/>
                  </a:lnTo>
                  <a:lnTo>
                    <a:pt x="37" y="563"/>
                  </a:lnTo>
                  <a:lnTo>
                    <a:pt x="39" y="565"/>
                  </a:lnTo>
                  <a:lnTo>
                    <a:pt x="40" y="567"/>
                  </a:lnTo>
                  <a:lnTo>
                    <a:pt x="40" y="567"/>
                  </a:lnTo>
                  <a:lnTo>
                    <a:pt x="42" y="569"/>
                  </a:lnTo>
                  <a:lnTo>
                    <a:pt x="42" y="573"/>
                  </a:lnTo>
                  <a:lnTo>
                    <a:pt x="44" y="579"/>
                  </a:lnTo>
                  <a:lnTo>
                    <a:pt x="46" y="580"/>
                  </a:lnTo>
                  <a:lnTo>
                    <a:pt x="48" y="582"/>
                  </a:lnTo>
                  <a:lnTo>
                    <a:pt x="48" y="582"/>
                  </a:lnTo>
                  <a:lnTo>
                    <a:pt x="46" y="584"/>
                  </a:lnTo>
                  <a:lnTo>
                    <a:pt x="46" y="584"/>
                  </a:lnTo>
                  <a:lnTo>
                    <a:pt x="44" y="584"/>
                  </a:lnTo>
                  <a:lnTo>
                    <a:pt x="44" y="586"/>
                  </a:lnTo>
                  <a:lnTo>
                    <a:pt x="44" y="586"/>
                  </a:lnTo>
                  <a:lnTo>
                    <a:pt x="42" y="588"/>
                  </a:lnTo>
                  <a:lnTo>
                    <a:pt x="42" y="588"/>
                  </a:lnTo>
                  <a:lnTo>
                    <a:pt x="44" y="590"/>
                  </a:lnTo>
                  <a:lnTo>
                    <a:pt x="44" y="590"/>
                  </a:lnTo>
                  <a:lnTo>
                    <a:pt x="46" y="590"/>
                  </a:lnTo>
                  <a:lnTo>
                    <a:pt x="48" y="590"/>
                  </a:lnTo>
                  <a:lnTo>
                    <a:pt x="48" y="590"/>
                  </a:lnTo>
                  <a:lnTo>
                    <a:pt x="50" y="590"/>
                  </a:lnTo>
                  <a:lnTo>
                    <a:pt x="50" y="590"/>
                  </a:lnTo>
                  <a:lnTo>
                    <a:pt x="50" y="590"/>
                  </a:lnTo>
                  <a:lnTo>
                    <a:pt x="50" y="588"/>
                  </a:lnTo>
                  <a:lnTo>
                    <a:pt x="50" y="586"/>
                  </a:lnTo>
                  <a:lnTo>
                    <a:pt x="52" y="586"/>
                  </a:lnTo>
                  <a:lnTo>
                    <a:pt x="52" y="586"/>
                  </a:lnTo>
                  <a:lnTo>
                    <a:pt x="52" y="586"/>
                  </a:lnTo>
                  <a:lnTo>
                    <a:pt x="54" y="586"/>
                  </a:lnTo>
                  <a:lnTo>
                    <a:pt x="54" y="586"/>
                  </a:lnTo>
                  <a:lnTo>
                    <a:pt x="54" y="588"/>
                  </a:lnTo>
                  <a:lnTo>
                    <a:pt x="54" y="588"/>
                  </a:lnTo>
                  <a:lnTo>
                    <a:pt x="54" y="590"/>
                  </a:lnTo>
                  <a:lnTo>
                    <a:pt x="56" y="592"/>
                  </a:lnTo>
                  <a:lnTo>
                    <a:pt x="56" y="592"/>
                  </a:lnTo>
                  <a:lnTo>
                    <a:pt x="56" y="594"/>
                  </a:lnTo>
                  <a:lnTo>
                    <a:pt x="58" y="594"/>
                  </a:lnTo>
                  <a:lnTo>
                    <a:pt x="60" y="592"/>
                  </a:lnTo>
                  <a:lnTo>
                    <a:pt x="61" y="592"/>
                  </a:lnTo>
                  <a:lnTo>
                    <a:pt x="61" y="592"/>
                  </a:lnTo>
                  <a:lnTo>
                    <a:pt x="63" y="592"/>
                  </a:lnTo>
                  <a:lnTo>
                    <a:pt x="65" y="592"/>
                  </a:lnTo>
                  <a:lnTo>
                    <a:pt x="65" y="594"/>
                  </a:lnTo>
                  <a:lnTo>
                    <a:pt x="63" y="594"/>
                  </a:lnTo>
                  <a:lnTo>
                    <a:pt x="63" y="596"/>
                  </a:lnTo>
                  <a:lnTo>
                    <a:pt x="63" y="596"/>
                  </a:lnTo>
                  <a:lnTo>
                    <a:pt x="61" y="598"/>
                  </a:lnTo>
                  <a:lnTo>
                    <a:pt x="63" y="599"/>
                  </a:lnTo>
                  <a:lnTo>
                    <a:pt x="63" y="601"/>
                  </a:lnTo>
                  <a:lnTo>
                    <a:pt x="63" y="603"/>
                  </a:lnTo>
                  <a:lnTo>
                    <a:pt x="63" y="605"/>
                  </a:lnTo>
                  <a:lnTo>
                    <a:pt x="65" y="609"/>
                  </a:lnTo>
                  <a:lnTo>
                    <a:pt x="67" y="609"/>
                  </a:lnTo>
                  <a:lnTo>
                    <a:pt x="67" y="622"/>
                  </a:lnTo>
                  <a:lnTo>
                    <a:pt x="69" y="624"/>
                  </a:lnTo>
                  <a:lnTo>
                    <a:pt x="69" y="628"/>
                  </a:lnTo>
                  <a:lnTo>
                    <a:pt x="71" y="628"/>
                  </a:lnTo>
                  <a:lnTo>
                    <a:pt x="73" y="628"/>
                  </a:lnTo>
                  <a:lnTo>
                    <a:pt x="73" y="628"/>
                  </a:lnTo>
                  <a:lnTo>
                    <a:pt x="77" y="626"/>
                  </a:lnTo>
                  <a:lnTo>
                    <a:pt x="79" y="624"/>
                  </a:lnTo>
                  <a:lnTo>
                    <a:pt x="81" y="622"/>
                  </a:lnTo>
                  <a:lnTo>
                    <a:pt x="82" y="622"/>
                  </a:lnTo>
                  <a:lnTo>
                    <a:pt x="82" y="622"/>
                  </a:lnTo>
                  <a:lnTo>
                    <a:pt x="84" y="622"/>
                  </a:lnTo>
                  <a:lnTo>
                    <a:pt x="84" y="622"/>
                  </a:lnTo>
                  <a:lnTo>
                    <a:pt x="86" y="624"/>
                  </a:lnTo>
                  <a:lnTo>
                    <a:pt x="88" y="624"/>
                  </a:lnTo>
                  <a:lnTo>
                    <a:pt x="90" y="626"/>
                  </a:lnTo>
                  <a:lnTo>
                    <a:pt x="94" y="626"/>
                  </a:lnTo>
                  <a:lnTo>
                    <a:pt x="98" y="624"/>
                  </a:lnTo>
                  <a:lnTo>
                    <a:pt x="105" y="626"/>
                  </a:lnTo>
                  <a:lnTo>
                    <a:pt x="103" y="624"/>
                  </a:lnTo>
                  <a:lnTo>
                    <a:pt x="103" y="622"/>
                  </a:lnTo>
                  <a:lnTo>
                    <a:pt x="105" y="620"/>
                  </a:lnTo>
                  <a:lnTo>
                    <a:pt x="105" y="618"/>
                  </a:lnTo>
                  <a:lnTo>
                    <a:pt x="105" y="618"/>
                  </a:lnTo>
                  <a:lnTo>
                    <a:pt x="105" y="618"/>
                  </a:lnTo>
                  <a:lnTo>
                    <a:pt x="105" y="617"/>
                  </a:lnTo>
                  <a:lnTo>
                    <a:pt x="105" y="617"/>
                  </a:lnTo>
                  <a:lnTo>
                    <a:pt x="107" y="617"/>
                  </a:lnTo>
                  <a:lnTo>
                    <a:pt x="107" y="617"/>
                  </a:lnTo>
                  <a:lnTo>
                    <a:pt x="107" y="618"/>
                  </a:lnTo>
                  <a:lnTo>
                    <a:pt x="107" y="618"/>
                  </a:lnTo>
                  <a:lnTo>
                    <a:pt x="109" y="618"/>
                  </a:lnTo>
                  <a:lnTo>
                    <a:pt x="109" y="618"/>
                  </a:lnTo>
                  <a:lnTo>
                    <a:pt x="109" y="618"/>
                  </a:lnTo>
                  <a:lnTo>
                    <a:pt x="109" y="618"/>
                  </a:lnTo>
                  <a:lnTo>
                    <a:pt x="109" y="617"/>
                  </a:lnTo>
                  <a:lnTo>
                    <a:pt x="109" y="615"/>
                  </a:lnTo>
                  <a:lnTo>
                    <a:pt x="109" y="615"/>
                  </a:lnTo>
                  <a:lnTo>
                    <a:pt x="109" y="613"/>
                  </a:lnTo>
                  <a:lnTo>
                    <a:pt x="111" y="613"/>
                  </a:lnTo>
                  <a:lnTo>
                    <a:pt x="111" y="611"/>
                  </a:lnTo>
                  <a:lnTo>
                    <a:pt x="111" y="611"/>
                  </a:lnTo>
                  <a:lnTo>
                    <a:pt x="113" y="611"/>
                  </a:lnTo>
                  <a:lnTo>
                    <a:pt x="113" y="609"/>
                  </a:lnTo>
                  <a:lnTo>
                    <a:pt x="113" y="607"/>
                  </a:lnTo>
                  <a:lnTo>
                    <a:pt x="113" y="603"/>
                  </a:lnTo>
                  <a:lnTo>
                    <a:pt x="113" y="603"/>
                  </a:lnTo>
                  <a:lnTo>
                    <a:pt x="113" y="601"/>
                  </a:lnTo>
                  <a:lnTo>
                    <a:pt x="113" y="601"/>
                  </a:lnTo>
                  <a:lnTo>
                    <a:pt x="113" y="601"/>
                  </a:lnTo>
                  <a:lnTo>
                    <a:pt x="115" y="599"/>
                  </a:lnTo>
                  <a:lnTo>
                    <a:pt x="115" y="599"/>
                  </a:lnTo>
                  <a:lnTo>
                    <a:pt x="115" y="599"/>
                  </a:lnTo>
                  <a:lnTo>
                    <a:pt x="115" y="598"/>
                  </a:lnTo>
                  <a:lnTo>
                    <a:pt x="117" y="596"/>
                  </a:lnTo>
                  <a:lnTo>
                    <a:pt x="117" y="594"/>
                  </a:lnTo>
                  <a:lnTo>
                    <a:pt x="117" y="592"/>
                  </a:lnTo>
                  <a:lnTo>
                    <a:pt x="117" y="590"/>
                  </a:lnTo>
                  <a:lnTo>
                    <a:pt x="117" y="590"/>
                  </a:lnTo>
                  <a:lnTo>
                    <a:pt x="115" y="588"/>
                  </a:lnTo>
                  <a:lnTo>
                    <a:pt x="115" y="588"/>
                  </a:lnTo>
                  <a:lnTo>
                    <a:pt x="115" y="588"/>
                  </a:lnTo>
                  <a:lnTo>
                    <a:pt x="115" y="586"/>
                  </a:lnTo>
                  <a:lnTo>
                    <a:pt x="117" y="586"/>
                  </a:lnTo>
                  <a:lnTo>
                    <a:pt x="117" y="586"/>
                  </a:lnTo>
                  <a:lnTo>
                    <a:pt x="117" y="584"/>
                  </a:lnTo>
                  <a:lnTo>
                    <a:pt x="119" y="580"/>
                  </a:lnTo>
                  <a:lnTo>
                    <a:pt x="119" y="580"/>
                  </a:lnTo>
                  <a:lnTo>
                    <a:pt x="119" y="580"/>
                  </a:lnTo>
                  <a:lnTo>
                    <a:pt x="121" y="580"/>
                  </a:lnTo>
                  <a:lnTo>
                    <a:pt x="121" y="580"/>
                  </a:lnTo>
                  <a:lnTo>
                    <a:pt x="121" y="580"/>
                  </a:lnTo>
                  <a:lnTo>
                    <a:pt x="122" y="580"/>
                  </a:lnTo>
                  <a:lnTo>
                    <a:pt x="128" y="579"/>
                  </a:lnTo>
                  <a:lnTo>
                    <a:pt x="128" y="577"/>
                  </a:lnTo>
                  <a:lnTo>
                    <a:pt x="128" y="577"/>
                  </a:lnTo>
                  <a:lnTo>
                    <a:pt x="130" y="575"/>
                  </a:lnTo>
                  <a:lnTo>
                    <a:pt x="130" y="575"/>
                  </a:lnTo>
                  <a:lnTo>
                    <a:pt x="132" y="575"/>
                  </a:lnTo>
                  <a:lnTo>
                    <a:pt x="132" y="573"/>
                  </a:lnTo>
                  <a:lnTo>
                    <a:pt x="134" y="573"/>
                  </a:lnTo>
                  <a:lnTo>
                    <a:pt x="136" y="573"/>
                  </a:lnTo>
                  <a:lnTo>
                    <a:pt x="136" y="573"/>
                  </a:lnTo>
                  <a:lnTo>
                    <a:pt x="136" y="571"/>
                  </a:lnTo>
                  <a:lnTo>
                    <a:pt x="140" y="567"/>
                  </a:lnTo>
                  <a:lnTo>
                    <a:pt x="141" y="563"/>
                  </a:lnTo>
                  <a:lnTo>
                    <a:pt x="143" y="563"/>
                  </a:lnTo>
                  <a:lnTo>
                    <a:pt x="145" y="560"/>
                  </a:lnTo>
                  <a:lnTo>
                    <a:pt x="149" y="558"/>
                  </a:lnTo>
                  <a:lnTo>
                    <a:pt x="151" y="556"/>
                  </a:lnTo>
                  <a:lnTo>
                    <a:pt x="153" y="554"/>
                  </a:lnTo>
                  <a:lnTo>
                    <a:pt x="153" y="554"/>
                  </a:lnTo>
                  <a:lnTo>
                    <a:pt x="155" y="552"/>
                  </a:lnTo>
                  <a:lnTo>
                    <a:pt x="155" y="552"/>
                  </a:lnTo>
                  <a:lnTo>
                    <a:pt x="155" y="552"/>
                  </a:lnTo>
                  <a:lnTo>
                    <a:pt x="155" y="550"/>
                  </a:lnTo>
                  <a:lnTo>
                    <a:pt x="155" y="548"/>
                  </a:lnTo>
                  <a:lnTo>
                    <a:pt x="155" y="548"/>
                  </a:lnTo>
                  <a:lnTo>
                    <a:pt x="153" y="546"/>
                  </a:lnTo>
                  <a:lnTo>
                    <a:pt x="153" y="546"/>
                  </a:lnTo>
                  <a:lnTo>
                    <a:pt x="151" y="546"/>
                  </a:lnTo>
                  <a:lnTo>
                    <a:pt x="151" y="546"/>
                  </a:lnTo>
                  <a:lnTo>
                    <a:pt x="151" y="544"/>
                  </a:lnTo>
                  <a:lnTo>
                    <a:pt x="153" y="544"/>
                  </a:lnTo>
                  <a:lnTo>
                    <a:pt x="153" y="544"/>
                  </a:lnTo>
                  <a:lnTo>
                    <a:pt x="153" y="544"/>
                  </a:lnTo>
                  <a:lnTo>
                    <a:pt x="155" y="544"/>
                  </a:lnTo>
                  <a:lnTo>
                    <a:pt x="155" y="542"/>
                  </a:lnTo>
                  <a:lnTo>
                    <a:pt x="155" y="542"/>
                  </a:lnTo>
                  <a:lnTo>
                    <a:pt x="157" y="541"/>
                  </a:lnTo>
                  <a:lnTo>
                    <a:pt x="157" y="541"/>
                  </a:lnTo>
                  <a:lnTo>
                    <a:pt x="159" y="539"/>
                  </a:lnTo>
                  <a:lnTo>
                    <a:pt x="159" y="539"/>
                  </a:lnTo>
                  <a:lnTo>
                    <a:pt x="161" y="539"/>
                  </a:lnTo>
                  <a:lnTo>
                    <a:pt x="161" y="539"/>
                  </a:lnTo>
                  <a:lnTo>
                    <a:pt x="164" y="537"/>
                  </a:lnTo>
                  <a:lnTo>
                    <a:pt x="166" y="537"/>
                  </a:lnTo>
                  <a:lnTo>
                    <a:pt x="166" y="537"/>
                  </a:lnTo>
                  <a:lnTo>
                    <a:pt x="168" y="535"/>
                  </a:lnTo>
                  <a:lnTo>
                    <a:pt x="168" y="533"/>
                  </a:lnTo>
                  <a:lnTo>
                    <a:pt x="170" y="531"/>
                  </a:lnTo>
                  <a:lnTo>
                    <a:pt x="170" y="531"/>
                  </a:lnTo>
                  <a:lnTo>
                    <a:pt x="170" y="531"/>
                  </a:lnTo>
                  <a:lnTo>
                    <a:pt x="170" y="531"/>
                  </a:lnTo>
                  <a:lnTo>
                    <a:pt x="172" y="533"/>
                  </a:lnTo>
                  <a:lnTo>
                    <a:pt x="172" y="533"/>
                  </a:lnTo>
                  <a:lnTo>
                    <a:pt x="174" y="535"/>
                  </a:lnTo>
                  <a:lnTo>
                    <a:pt x="174" y="533"/>
                  </a:lnTo>
                  <a:lnTo>
                    <a:pt x="174" y="531"/>
                  </a:lnTo>
                  <a:lnTo>
                    <a:pt x="174" y="529"/>
                  </a:lnTo>
                  <a:lnTo>
                    <a:pt x="174" y="529"/>
                  </a:lnTo>
                  <a:lnTo>
                    <a:pt x="176" y="525"/>
                  </a:lnTo>
                  <a:lnTo>
                    <a:pt x="176" y="521"/>
                  </a:lnTo>
                  <a:lnTo>
                    <a:pt x="176" y="521"/>
                  </a:lnTo>
                  <a:lnTo>
                    <a:pt x="176" y="521"/>
                  </a:lnTo>
                  <a:lnTo>
                    <a:pt x="176" y="520"/>
                  </a:lnTo>
                  <a:lnTo>
                    <a:pt x="178" y="520"/>
                  </a:lnTo>
                  <a:lnTo>
                    <a:pt x="178" y="520"/>
                  </a:lnTo>
                  <a:lnTo>
                    <a:pt x="178" y="520"/>
                  </a:lnTo>
                  <a:lnTo>
                    <a:pt x="178" y="520"/>
                  </a:lnTo>
                  <a:lnTo>
                    <a:pt x="180" y="518"/>
                  </a:lnTo>
                  <a:lnTo>
                    <a:pt x="181" y="518"/>
                  </a:lnTo>
                  <a:lnTo>
                    <a:pt x="181" y="518"/>
                  </a:lnTo>
                  <a:lnTo>
                    <a:pt x="181" y="516"/>
                  </a:lnTo>
                  <a:lnTo>
                    <a:pt x="181" y="510"/>
                  </a:lnTo>
                  <a:lnTo>
                    <a:pt x="181" y="508"/>
                  </a:lnTo>
                  <a:lnTo>
                    <a:pt x="181" y="508"/>
                  </a:lnTo>
                  <a:lnTo>
                    <a:pt x="181" y="506"/>
                  </a:lnTo>
                  <a:lnTo>
                    <a:pt x="180" y="504"/>
                  </a:lnTo>
                  <a:lnTo>
                    <a:pt x="180" y="504"/>
                  </a:lnTo>
                  <a:lnTo>
                    <a:pt x="180" y="501"/>
                  </a:lnTo>
                  <a:lnTo>
                    <a:pt x="178" y="501"/>
                  </a:lnTo>
                  <a:lnTo>
                    <a:pt x="178" y="499"/>
                  </a:lnTo>
                  <a:lnTo>
                    <a:pt x="176" y="499"/>
                  </a:lnTo>
                  <a:lnTo>
                    <a:pt x="176" y="497"/>
                  </a:lnTo>
                  <a:lnTo>
                    <a:pt x="176" y="497"/>
                  </a:lnTo>
                  <a:lnTo>
                    <a:pt x="176" y="495"/>
                  </a:lnTo>
                  <a:lnTo>
                    <a:pt x="176" y="493"/>
                  </a:lnTo>
                  <a:lnTo>
                    <a:pt x="176" y="491"/>
                  </a:lnTo>
                  <a:lnTo>
                    <a:pt x="174" y="489"/>
                  </a:lnTo>
                  <a:lnTo>
                    <a:pt x="174" y="489"/>
                  </a:lnTo>
                  <a:lnTo>
                    <a:pt x="174" y="487"/>
                  </a:lnTo>
                  <a:lnTo>
                    <a:pt x="174" y="485"/>
                  </a:lnTo>
                  <a:lnTo>
                    <a:pt x="174" y="483"/>
                  </a:lnTo>
                  <a:lnTo>
                    <a:pt x="174" y="483"/>
                  </a:lnTo>
                  <a:lnTo>
                    <a:pt x="176" y="480"/>
                  </a:lnTo>
                  <a:lnTo>
                    <a:pt x="176" y="478"/>
                  </a:lnTo>
                  <a:lnTo>
                    <a:pt x="176" y="478"/>
                  </a:lnTo>
                  <a:lnTo>
                    <a:pt x="176" y="476"/>
                  </a:lnTo>
                  <a:lnTo>
                    <a:pt x="174" y="476"/>
                  </a:lnTo>
                  <a:lnTo>
                    <a:pt x="174" y="476"/>
                  </a:lnTo>
                  <a:lnTo>
                    <a:pt x="174" y="474"/>
                  </a:lnTo>
                  <a:lnTo>
                    <a:pt x="174" y="474"/>
                  </a:lnTo>
                  <a:lnTo>
                    <a:pt x="174" y="474"/>
                  </a:lnTo>
                  <a:lnTo>
                    <a:pt x="176" y="472"/>
                  </a:lnTo>
                  <a:lnTo>
                    <a:pt x="176" y="472"/>
                  </a:lnTo>
                  <a:lnTo>
                    <a:pt x="176" y="470"/>
                  </a:lnTo>
                  <a:lnTo>
                    <a:pt x="176" y="470"/>
                  </a:lnTo>
                  <a:lnTo>
                    <a:pt x="176" y="468"/>
                  </a:lnTo>
                  <a:lnTo>
                    <a:pt x="174" y="468"/>
                  </a:lnTo>
                  <a:lnTo>
                    <a:pt x="174" y="468"/>
                  </a:lnTo>
                  <a:lnTo>
                    <a:pt x="172" y="466"/>
                  </a:lnTo>
                  <a:lnTo>
                    <a:pt x="170" y="466"/>
                  </a:lnTo>
                  <a:lnTo>
                    <a:pt x="170" y="466"/>
                  </a:lnTo>
                  <a:lnTo>
                    <a:pt x="170" y="466"/>
                  </a:lnTo>
                  <a:lnTo>
                    <a:pt x="168" y="463"/>
                  </a:lnTo>
                  <a:lnTo>
                    <a:pt x="168" y="461"/>
                  </a:lnTo>
                  <a:lnTo>
                    <a:pt x="168" y="461"/>
                  </a:lnTo>
                  <a:lnTo>
                    <a:pt x="166" y="461"/>
                  </a:lnTo>
                  <a:lnTo>
                    <a:pt x="164" y="461"/>
                  </a:lnTo>
                  <a:lnTo>
                    <a:pt x="164" y="459"/>
                  </a:lnTo>
                  <a:lnTo>
                    <a:pt x="162" y="459"/>
                  </a:lnTo>
                  <a:lnTo>
                    <a:pt x="164" y="451"/>
                  </a:lnTo>
                  <a:lnTo>
                    <a:pt x="164" y="449"/>
                  </a:lnTo>
                  <a:lnTo>
                    <a:pt x="164" y="447"/>
                  </a:lnTo>
                  <a:lnTo>
                    <a:pt x="164" y="445"/>
                  </a:lnTo>
                  <a:lnTo>
                    <a:pt x="162" y="444"/>
                  </a:lnTo>
                  <a:lnTo>
                    <a:pt x="162" y="442"/>
                  </a:lnTo>
                  <a:lnTo>
                    <a:pt x="162" y="440"/>
                  </a:lnTo>
                  <a:lnTo>
                    <a:pt x="164" y="436"/>
                  </a:lnTo>
                  <a:lnTo>
                    <a:pt x="164" y="434"/>
                  </a:lnTo>
                  <a:lnTo>
                    <a:pt x="162" y="434"/>
                  </a:lnTo>
                  <a:lnTo>
                    <a:pt x="162" y="432"/>
                  </a:lnTo>
                  <a:lnTo>
                    <a:pt x="162" y="432"/>
                  </a:lnTo>
                  <a:lnTo>
                    <a:pt x="159" y="432"/>
                  </a:lnTo>
                  <a:lnTo>
                    <a:pt x="157" y="432"/>
                  </a:lnTo>
                  <a:lnTo>
                    <a:pt x="157" y="432"/>
                  </a:lnTo>
                  <a:lnTo>
                    <a:pt x="157" y="430"/>
                  </a:lnTo>
                  <a:lnTo>
                    <a:pt x="155" y="428"/>
                  </a:lnTo>
                  <a:lnTo>
                    <a:pt x="155" y="426"/>
                  </a:lnTo>
                  <a:lnTo>
                    <a:pt x="155" y="426"/>
                  </a:lnTo>
                  <a:lnTo>
                    <a:pt x="145" y="423"/>
                  </a:lnTo>
                  <a:lnTo>
                    <a:pt x="145" y="421"/>
                  </a:lnTo>
                  <a:lnTo>
                    <a:pt x="143" y="421"/>
                  </a:lnTo>
                  <a:lnTo>
                    <a:pt x="143" y="419"/>
                  </a:lnTo>
                  <a:lnTo>
                    <a:pt x="143" y="419"/>
                  </a:lnTo>
                  <a:lnTo>
                    <a:pt x="143" y="417"/>
                  </a:lnTo>
                  <a:lnTo>
                    <a:pt x="143" y="415"/>
                  </a:lnTo>
                  <a:lnTo>
                    <a:pt x="143" y="415"/>
                  </a:lnTo>
                  <a:lnTo>
                    <a:pt x="147" y="407"/>
                  </a:lnTo>
                  <a:lnTo>
                    <a:pt x="149" y="407"/>
                  </a:lnTo>
                  <a:lnTo>
                    <a:pt x="149" y="407"/>
                  </a:lnTo>
                  <a:lnTo>
                    <a:pt x="151" y="405"/>
                  </a:lnTo>
                  <a:lnTo>
                    <a:pt x="155" y="402"/>
                  </a:lnTo>
                  <a:lnTo>
                    <a:pt x="155" y="402"/>
                  </a:lnTo>
                  <a:lnTo>
                    <a:pt x="155" y="402"/>
                  </a:lnTo>
                  <a:lnTo>
                    <a:pt x="157" y="402"/>
                  </a:lnTo>
                  <a:lnTo>
                    <a:pt x="157" y="402"/>
                  </a:lnTo>
                  <a:lnTo>
                    <a:pt x="161" y="407"/>
                  </a:lnTo>
                  <a:lnTo>
                    <a:pt x="162" y="407"/>
                  </a:lnTo>
                  <a:lnTo>
                    <a:pt x="162" y="409"/>
                  </a:lnTo>
                  <a:lnTo>
                    <a:pt x="162" y="409"/>
                  </a:lnTo>
                  <a:lnTo>
                    <a:pt x="162" y="409"/>
                  </a:lnTo>
                  <a:lnTo>
                    <a:pt x="162" y="411"/>
                  </a:lnTo>
                  <a:lnTo>
                    <a:pt x="164" y="411"/>
                  </a:lnTo>
                  <a:lnTo>
                    <a:pt x="164" y="409"/>
                  </a:lnTo>
                  <a:lnTo>
                    <a:pt x="164" y="409"/>
                  </a:lnTo>
                  <a:lnTo>
                    <a:pt x="164" y="409"/>
                  </a:lnTo>
                  <a:lnTo>
                    <a:pt x="166" y="407"/>
                  </a:lnTo>
                  <a:lnTo>
                    <a:pt x="166" y="407"/>
                  </a:lnTo>
                  <a:lnTo>
                    <a:pt x="166" y="405"/>
                  </a:lnTo>
                  <a:lnTo>
                    <a:pt x="166" y="405"/>
                  </a:lnTo>
                  <a:lnTo>
                    <a:pt x="168" y="405"/>
                  </a:lnTo>
                  <a:lnTo>
                    <a:pt x="168" y="405"/>
                  </a:lnTo>
                  <a:lnTo>
                    <a:pt x="168" y="405"/>
                  </a:lnTo>
                  <a:lnTo>
                    <a:pt x="168" y="405"/>
                  </a:lnTo>
                  <a:lnTo>
                    <a:pt x="170" y="407"/>
                  </a:lnTo>
                  <a:lnTo>
                    <a:pt x="172" y="409"/>
                  </a:lnTo>
                  <a:lnTo>
                    <a:pt x="174" y="411"/>
                  </a:lnTo>
                  <a:lnTo>
                    <a:pt x="174" y="411"/>
                  </a:lnTo>
                  <a:lnTo>
                    <a:pt x="174" y="411"/>
                  </a:lnTo>
                  <a:lnTo>
                    <a:pt x="174" y="411"/>
                  </a:lnTo>
                  <a:lnTo>
                    <a:pt x="176" y="413"/>
                  </a:lnTo>
                  <a:lnTo>
                    <a:pt x="176" y="413"/>
                  </a:lnTo>
                  <a:lnTo>
                    <a:pt x="176" y="413"/>
                  </a:lnTo>
                  <a:lnTo>
                    <a:pt x="176" y="413"/>
                  </a:lnTo>
                  <a:lnTo>
                    <a:pt x="176" y="413"/>
                  </a:lnTo>
                  <a:lnTo>
                    <a:pt x="178" y="413"/>
                  </a:lnTo>
                  <a:lnTo>
                    <a:pt x="180" y="413"/>
                  </a:lnTo>
                  <a:lnTo>
                    <a:pt x="180" y="413"/>
                  </a:lnTo>
                  <a:lnTo>
                    <a:pt x="181" y="415"/>
                  </a:lnTo>
                  <a:lnTo>
                    <a:pt x="181" y="415"/>
                  </a:lnTo>
                  <a:lnTo>
                    <a:pt x="187" y="428"/>
                  </a:lnTo>
                  <a:lnTo>
                    <a:pt x="187" y="428"/>
                  </a:lnTo>
                  <a:lnTo>
                    <a:pt x="189" y="428"/>
                  </a:lnTo>
                  <a:lnTo>
                    <a:pt x="189" y="428"/>
                  </a:lnTo>
                  <a:lnTo>
                    <a:pt x="189" y="428"/>
                  </a:lnTo>
                  <a:lnTo>
                    <a:pt x="191" y="424"/>
                  </a:lnTo>
                  <a:lnTo>
                    <a:pt x="191" y="424"/>
                  </a:lnTo>
                  <a:lnTo>
                    <a:pt x="193" y="424"/>
                  </a:lnTo>
                  <a:lnTo>
                    <a:pt x="193" y="424"/>
                  </a:lnTo>
                  <a:lnTo>
                    <a:pt x="193" y="423"/>
                  </a:lnTo>
                  <a:lnTo>
                    <a:pt x="193" y="423"/>
                  </a:lnTo>
                  <a:lnTo>
                    <a:pt x="195" y="423"/>
                  </a:lnTo>
                  <a:lnTo>
                    <a:pt x="195" y="423"/>
                  </a:lnTo>
                  <a:lnTo>
                    <a:pt x="204" y="424"/>
                  </a:lnTo>
                  <a:lnTo>
                    <a:pt x="206" y="424"/>
                  </a:lnTo>
                  <a:lnTo>
                    <a:pt x="208" y="426"/>
                  </a:lnTo>
                  <a:lnTo>
                    <a:pt x="208" y="426"/>
                  </a:lnTo>
                  <a:lnTo>
                    <a:pt x="212" y="426"/>
                  </a:lnTo>
                  <a:lnTo>
                    <a:pt x="214" y="426"/>
                  </a:lnTo>
                  <a:lnTo>
                    <a:pt x="214" y="426"/>
                  </a:lnTo>
                  <a:lnTo>
                    <a:pt x="214" y="428"/>
                  </a:lnTo>
                  <a:lnTo>
                    <a:pt x="214" y="428"/>
                  </a:lnTo>
                  <a:lnTo>
                    <a:pt x="214" y="430"/>
                  </a:lnTo>
                  <a:lnTo>
                    <a:pt x="214" y="430"/>
                  </a:lnTo>
                  <a:lnTo>
                    <a:pt x="214" y="432"/>
                  </a:lnTo>
                  <a:lnTo>
                    <a:pt x="214" y="432"/>
                  </a:lnTo>
                  <a:lnTo>
                    <a:pt x="214" y="434"/>
                  </a:lnTo>
                  <a:lnTo>
                    <a:pt x="214" y="434"/>
                  </a:lnTo>
                  <a:lnTo>
                    <a:pt x="214" y="434"/>
                  </a:lnTo>
                  <a:lnTo>
                    <a:pt x="216" y="434"/>
                  </a:lnTo>
                  <a:lnTo>
                    <a:pt x="216" y="434"/>
                  </a:lnTo>
                  <a:lnTo>
                    <a:pt x="220" y="430"/>
                  </a:lnTo>
                  <a:lnTo>
                    <a:pt x="220" y="430"/>
                  </a:lnTo>
                  <a:lnTo>
                    <a:pt x="222" y="430"/>
                  </a:lnTo>
                  <a:lnTo>
                    <a:pt x="223" y="428"/>
                  </a:lnTo>
                  <a:lnTo>
                    <a:pt x="223" y="428"/>
                  </a:lnTo>
                  <a:lnTo>
                    <a:pt x="225" y="426"/>
                  </a:lnTo>
                  <a:lnTo>
                    <a:pt x="227" y="426"/>
                  </a:lnTo>
                  <a:lnTo>
                    <a:pt x="227" y="426"/>
                  </a:lnTo>
                  <a:lnTo>
                    <a:pt x="225" y="424"/>
                  </a:lnTo>
                  <a:lnTo>
                    <a:pt x="223" y="423"/>
                  </a:lnTo>
                  <a:lnTo>
                    <a:pt x="223" y="423"/>
                  </a:lnTo>
                  <a:lnTo>
                    <a:pt x="223" y="423"/>
                  </a:lnTo>
                  <a:lnTo>
                    <a:pt x="223" y="423"/>
                  </a:lnTo>
                  <a:lnTo>
                    <a:pt x="223" y="421"/>
                  </a:lnTo>
                  <a:lnTo>
                    <a:pt x="225" y="415"/>
                  </a:lnTo>
                  <a:lnTo>
                    <a:pt x="225" y="415"/>
                  </a:lnTo>
                  <a:lnTo>
                    <a:pt x="225" y="413"/>
                  </a:lnTo>
                  <a:lnTo>
                    <a:pt x="225" y="411"/>
                  </a:lnTo>
                  <a:lnTo>
                    <a:pt x="225" y="411"/>
                  </a:lnTo>
                  <a:lnTo>
                    <a:pt x="225" y="411"/>
                  </a:lnTo>
                  <a:lnTo>
                    <a:pt x="223" y="411"/>
                  </a:lnTo>
                  <a:lnTo>
                    <a:pt x="222" y="411"/>
                  </a:lnTo>
                  <a:lnTo>
                    <a:pt x="222" y="411"/>
                  </a:lnTo>
                  <a:lnTo>
                    <a:pt x="220" y="411"/>
                  </a:lnTo>
                  <a:lnTo>
                    <a:pt x="220" y="411"/>
                  </a:lnTo>
                  <a:lnTo>
                    <a:pt x="220" y="411"/>
                  </a:lnTo>
                  <a:lnTo>
                    <a:pt x="220" y="411"/>
                  </a:lnTo>
                  <a:lnTo>
                    <a:pt x="218" y="413"/>
                  </a:lnTo>
                  <a:lnTo>
                    <a:pt x="218" y="413"/>
                  </a:lnTo>
                  <a:lnTo>
                    <a:pt x="218" y="413"/>
                  </a:lnTo>
                  <a:lnTo>
                    <a:pt x="216" y="413"/>
                  </a:lnTo>
                  <a:lnTo>
                    <a:pt x="216" y="413"/>
                  </a:lnTo>
                  <a:lnTo>
                    <a:pt x="216" y="411"/>
                  </a:lnTo>
                  <a:lnTo>
                    <a:pt x="216" y="411"/>
                  </a:lnTo>
                  <a:lnTo>
                    <a:pt x="214" y="409"/>
                  </a:lnTo>
                  <a:lnTo>
                    <a:pt x="214" y="409"/>
                  </a:lnTo>
                  <a:lnTo>
                    <a:pt x="212" y="409"/>
                  </a:lnTo>
                  <a:lnTo>
                    <a:pt x="212" y="409"/>
                  </a:lnTo>
                  <a:lnTo>
                    <a:pt x="212" y="409"/>
                  </a:lnTo>
                  <a:lnTo>
                    <a:pt x="208" y="409"/>
                  </a:lnTo>
                  <a:lnTo>
                    <a:pt x="206" y="409"/>
                  </a:lnTo>
                  <a:lnTo>
                    <a:pt x="206" y="409"/>
                  </a:lnTo>
                  <a:lnTo>
                    <a:pt x="206" y="409"/>
                  </a:lnTo>
                  <a:lnTo>
                    <a:pt x="204" y="407"/>
                  </a:lnTo>
                  <a:lnTo>
                    <a:pt x="202" y="407"/>
                  </a:lnTo>
                  <a:lnTo>
                    <a:pt x="199" y="405"/>
                  </a:lnTo>
                  <a:lnTo>
                    <a:pt x="199" y="404"/>
                  </a:lnTo>
                  <a:lnTo>
                    <a:pt x="199" y="402"/>
                  </a:lnTo>
                  <a:lnTo>
                    <a:pt x="201" y="396"/>
                  </a:lnTo>
                  <a:lnTo>
                    <a:pt x="201" y="394"/>
                  </a:lnTo>
                  <a:lnTo>
                    <a:pt x="201" y="392"/>
                  </a:lnTo>
                  <a:lnTo>
                    <a:pt x="201" y="388"/>
                  </a:lnTo>
                  <a:lnTo>
                    <a:pt x="201" y="383"/>
                  </a:lnTo>
                  <a:lnTo>
                    <a:pt x="199" y="381"/>
                  </a:lnTo>
                  <a:lnTo>
                    <a:pt x="199" y="381"/>
                  </a:lnTo>
                  <a:lnTo>
                    <a:pt x="199" y="381"/>
                  </a:lnTo>
                  <a:lnTo>
                    <a:pt x="199" y="379"/>
                  </a:lnTo>
                  <a:lnTo>
                    <a:pt x="199" y="377"/>
                  </a:lnTo>
                  <a:lnTo>
                    <a:pt x="199" y="369"/>
                  </a:lnTo>
                  <a:lnTo>
                    <a:pt x="199" y="367"/>
                  </a:lnTo>
                  <a:lnTo>
                    <a:pt x="199" y="366"/>
                  </a:lnTo>
                  <a:lnTo>
                    <a:pt x="199" y="366"/>
                  </a:lnTo>
                  <a:lnTo>
                    <a:pt x="199" y="367"/>
                  </a:lnTo>
                  <a:lnTo>
                    <a:pt x="197" y="367"/>
                  </a:lnTo>
                  <a:lnTo>
                    <a:pt x="197" y="367"/>
                  </a:lnTo>
                  <a:lnTo>
                    <a:pt x="197" y="367"/>
                  </a:lnTo>
                  <a:lnTo>
                    <a:pt x="197" y="366"/>
                  </a:lnTo>
                  <a:lnTo>
                    <a:pt x="197" y="364"/>
                  </a:lnTo>
                  <a:lnTo>
                    <a:pt x="195" y="362"/>
                  </a:lnTo>
                  <a:lnTo>
                    <a:pt x="195" y="362"/>
                  </a:lnTo>
                  <a:lnTo>
                    <a:pt x="195" y="362"/>
                  </a:lnTo>
                  <a:lnTo>
                    <a:pt x="195" y="362"/>
                  </a:lnTo>
                  <a:lnTo>
                    <a:pt x="195" y="362"/>
                  </a:lnTo>
                  <a:lnTo>
                    <a:pt x="195" y="362"/>
                  </a:lnTo>
                  <a:lnTo>
                    <a:pt x="195" y="362"/>
                  </a:lnTo>
                  <a:lnTo>
                    <a:pt x="193" y="362"/>
                  </a:lnTo>
                  <a:lnTo>
                    <a:pt x="193" y="362"/>
                  </a:lnTo>
                  <a:lnTo>
                    <a:pt x="193" y="362"/>
                  </a:lnTo>
                  <a:lnTo>
                    <a:pt x="193" y="360"/>
                  </a:lnTo>
                  <a:lnTo>
                    <a:pt x="191" y="358"/>
                  </a:lnTo>
                  <a:lnTo>
                    <a:pt x="191" y="356"/>
                  </a:lnTo>
                  <a:lnTo>
                    <a:pt x="193" y="350"/>
                  </a:lnTo>
                  <a:lnTo>
                    <a:pt x="195" y="348"/>
                  </a:lnTo>
                  <a:lnTo>
                    <a:pt x="195" y="347"/>
                  </a:lnTo>
                  <a:lnTo>
                    <a:pt x="195" y="347"/>
                  </a:lnTo>
                  <a:lnTo>
                    <a:pt x="195" y="345"/>
                  </a:lnTo>
                  <a:lnTo>
                    <a:pt x="195" y="343"/>
                  </a:lnTo>
                  <a:lnTo>
                    <a:pt x="193" y="343"/>
                  </a:lnTo>
                  <a:lnTo>
                    <a:pt x="193" y="341"/>
                  </a:lnTo>
                  <a:lnTo>
                    <a:pt x="193" y="339"/>
                  </a:lnTo>
                  <a:lnTo>
                    <a:pt x="193" y="339"/>
                  </a:lnTo>
                  <a:lnTo>
                    <a:pt x="193" y="328"/>
                  </a:lnTo>
                  <a:lnTo>
                    <a:pt x="193" y="326"/>
                  </a:lnTo>
                  <a:lnTo>
                    <a:pt x="193" y="326"/>
                  </a:lnTo>
                  <a:lnTo>
                    <a:pt x="193" y="326"/>
                  </a:lnTo>
                  <a:lnTo>
                    <a:pt x="193" y="326"/>
                  </a:lnTo>
                  <a:lnTo>
                    <a:pt x="193" y="326"/>
                  </a:lnTo>
                  <a:lnTo>
                    <a:pt x="195" y="326"/>
                  </a:lnTo>
                  <a:lnTo>
                    <a:pt x="197" y="326"/>
                  </a:lnTo>
                  <a:lnTo>
                    <a:pt x="197" y="326"/>
                  </a:lnTo>
                  <a:lnTo>
                    <a:pt x="199" y="326"/>
                  </a:lnTo>
                  <a:lnTo>
                    <a:pt x="199" y="326"/>
                  </a:lnTo>
                  <a:lnTo>
                    <a:pt x="199" y="328"/>
                  </a:lnTo>
                  <a:lnTo>
                    <a:pt x="199" y="328"/>
                  </a:lnTo>
                  <a:lnTo>
                    <a:pt x="199" y="329"/>
                  </a:lnTo>
                  <a:lnTo>
                    <a:pt x="199" y="329"/>
                  </a:lnTo>
                  <a:lnTo>
                    <a:pt x="199" y="329"/>
                  </a:lnTo>
                  <a:lnTo>
                    <a:pt x="199" y="329"/>
                  </a:lnTo>
                  <a:lnTo>
                    <a:pt x="199" y="329"/>
                  </a:lnTo>
                  <a:lnTo>
                    <a:pt x="201" y="329"/>
                  </a:lnTo>
                  <a:lnTo>
                    <a:pt x="202" y="328"/>
                  </a:lnTo>
                  <a:lnTo>
                    <a:pt x="202" y="328"/>
                  </a:lnTo>
                  <a:lnTo>
                    <a:pt x="204" y="326"/>
                  </a:lnTo>
                  <a:lnTo>
                    <a:pt x="206" y="324"/>
                  </a:lnTo>
                  <a:lnTo>
                    <a:pt x="206" y="322"/>
                  </a:lnTo>
                  <a:lnTo>
                    <a:pt x="208" y="320"/>
                  </a:lnTo>
                  <a:lnTo>
                    <a:pt x="208" y="320"/>
                  </a:lnTo>
                  <a:lnTo>
                    <a:pt x="210" y="320"/>
                  </a:lnTo>
                  <a:lnTo>
                    <a:pt x="210" y="320"/>
                  </a:lnTo>
                  <a:lnTo>
                    <a:pt x="212" y="320"/>
                  </a:lnTo>
                  <a:lnTo>
                    <a:pt x="212" y="318"/>
                  </a:lnTo>
                  <a:lnTo>
                    <a:pt x="216" y="310"/>
                  </a:lnTo>
                  <a:lnTo>
                    <a:pt x="218" y="305"/>
                  </a:lnTo>
                  <a:lnTo>
                    <a:pt x="220" y="303"/>
                  </a:lnTo>
                  <a:lnTo>
                    <a:pt x="220" y="301"/>
                  </a:lnTo>
                  <a:lnTo>
                    <a:pt x="220" y="299"/>
                  </a:lnTo>
                  <a:lnTo>
                    <a:pt x="220" y="299"/>
                  </a:lnTo>
                  <a:lnTo>
                    <a:pt x="220" y="299"/>
                  </a:lnTo>
                  <a:lnTo>
                    <a:pt x="220" y="299"/>
                  </a:lnTo>
                  <a:lnTo>
                    <a:pt x="222" y="299"/>
                  </a:lnTo>
                  <a:lnTo>
                    <a:pt x="222" y="297"/>
                  </a:lnTo>
                  <a:lnTo>
                    <a:pt x="229" y="297"/>
                  </a:lnTo>
                  <a:lnTo>
                    <a:pt x="231" y="297"/>
                  </a:lnTo>
                  <a:lnTo>
                    <a:pt x="231" y="297"/>
                  </a:lnTo>
                  <a:lnTo>
                    <a:pt x="233" y="299"/>
                  </a:lnTo>
                  <a:lnTo>
                    <a:pt x="233" y="299"/>
                  </a:lnTo>
                  <a:lnTo>
                    <a:pt x="233" y="299"/>
                  </a:lnTo>
                  <a:lnTo>
                    <a:pt x="235" y="299"/>
                  </a:lnTo>
                  <a:lnTo>
                    <a:pt x="235" y="297"/>
                  </a:lnTo>
                  <a:lnTo>
                    <a:pt x="237" y="297"/>
                  </a:lnTo>
                  <a:lnTo>
                    <a:pt x="239" y="297"/>
                  </a:lnTo>
                  <a:lnTo>
                    <a:pt x="241" y="297"/>
                  </a:lnTo>
                  <a:lnTo>
                    <a:pt x="250" y="295"/>
                  </a:lnTo>
                  <a:lnTo>
                    <a:pt x="250" y="295"/>
                  </a:lnTo>
                  <a:lnTo>
                    <a:pt x="252" y="297"/>
                  </a:lnTo>
                  <a:lnTo>
                    <a:pt x="252" y="297"/>
                  </a:lnTo>
                  <a:lnTo>
                    <a:pt x="252" y="297"/>
                  </a:lnTo>
                  <a:lnTo>
                    <a:pt x="254" y="299"/>
                  </a:lnTo>
                  <a:lnTo>
                    <a:pt x="254" y="299"/>
                  </a:lnTo>
                  <a:lnTo>
                    <a:pt x="256" y="299"/>
                  </a:lnTo>
                  <a:lnTo>
                    <a:pt x="256" y="299"/>
                  </a:lnTo>
                  <a:lnTo>
                    <a:pt x="258" y="299"/>
                  </a:lnTo>
                  <a:lnTo>
                    <a:pt x="258" y="301"/>
                  </a:lnTo>
                  <a:lnTo>
                    <a:pt x="260" y="301"/>
                  </a:lnTo>
                  <a:lnTo>
                    <a:pt x="260" y="301"/>
                  </a:lnTo>
                  <a:lnTo>
                    <a:pt x="265" y="301"/>
                  </a:lnTo>
                  <a:lnTo>
                    <a:pt x="265" y="301"/>
                  </a:lnTo>
                  <a:lnTo>
                    <a:pt x="267" y="301"/>
                  </a:lnTo>
                  <a:lnTo>
                    <a:pt x="269" y="299"/>
                  </a:lnTo>
                  <a:lnTo>
                    <a:pt x="269" y="297"/>
                  </a:lnTo>
                  <a:lnTo>
                    <a:pt x="271" y="295"/>
                  </a:lnTo>
                  <a:lnTo>
                    <a:pt x="273" y="288"/>
                  </a:lnTo>
                  <a:lnTo>
                    <a:pt x="275" y="288"/>
                  </a:lnTo>
                  <a:lnTo>
                    <a:pt x="277" y="284"/>
                  </a:lnTo>
                  <a:lnTo>
                    <a:pt x="277" y="284"/>
                  </a:lnTo>
                  <a:lnTo>
                    <a:pt x="277" y="284"/>
                  </a:lnTo>
                  <a:lnTo>
                    <a:pt x="277" y="282"/>
                  </a:lnTo>
                  <a:lnTo>
                    <a:pt x="277" y="282"/>
                  </a:lnTo>
                  <a:lnTo>
                    <a:pt x="277" y="282"/>
                  </a:lnTo>
                  <a:lnTo>
                    <a:pt x="277" y="282"/>
                  </a:lnTo>
                  <a:lnTo>
                    <a:pt x="277" y="280"/>
                  </a:lnTo>
                  <a:lnTo>
                    <a:pt x="277" y="280"/>
                  </a:lnTo>
                  <a:lnTo>
                    <a:pt x="279" y="278"/>
                  </a:lnTo>
                  <a:lnTo>
                    <a:pt x="279" y="278"/>
                  </a:lnTo>
                  <a:lnTo>
                    <a:pt x="279" y="278"/>
                  </a:lnTo>
                  <a:lnTo>
                    <a:pt x="281" y="278"/>
                  </a:lnTo>
                  <a:lnTo>
                    <a:pt x="284" y="280"/>
                  </a:lnTo>
                  <a:lnTo>
                    <a:pt x="286" y="280"/>
                  </a:lnTo>
                  <a:lnTo>
                    <a:pt x="286" y="280"/>
                  </a:lnTo>
                  <a:lnTo>
                    <a:pt x="286" y="280"/>
                  </a:lnTo>
                  <a:lnTo>
                    <a:pt x="288" y="280"/>
                  </a:lnTo>
                  <a:lnTo>
                    <a:pt x="288" y="278"/>
                  </a:lnTo>
                  <a:lnTo>
                    <a:pt x="288" y="278"/>
                  </a:lnTo>
                  <a:lnTo>
                    <a:pt x="288" y="276"/>
                  </a:lnTo>
                  <a:lnTo>
                    <a:pt x="288" y="274"/>
                  </a:lnTo>
                  <a:lnTo>
                    <a:pt x="288" y="274"/>
                  </a:lnTo>
                  <a:lnTo>
                    <a:pt x="288" y="272"/>
                  </a:lnTo>
                  <a:lnTo>
                    <a:pt x="284" y="270"/>
                  </a:lnTo>
                  <a:lnTo>
                    <a:pt x="284" y="269"/>
                  </a:lnTo>
                  <a:lnTo>
                    <a:pt x="282" y="269"/>
                  </a:lnTo>
                  <a:lnTo>
                    <a:pt x="282" y="267"/>
                  </a:lnTo>
                  <a:lnTo>
                    <a:pt x="282" y="265"/>
                  </a:lnTo>
                  <a:lnTo>
                    <a:pt x="282" y="263"/>
                  </a:lnTo>
                  <a:lnTo>
                    <a:pt x="284" y="261"/>
                  </a:lnTo>
                  <a:lnTo>
                    <a:pt x="284" y="259"/>
                  </a:lnTo>
                  <a:lnTo>
                    <a:pt x="284" y="257"/>
                  </a:lnTo>
                  <a:lnTo>
                    <a:pt x="284" y="255"/>
                  </a:lnTo>
                  <a:lnTo>
                    <a:pt x="294" y="242"/>
                  </a:lnTo>
                  <a:lnTo>
                    <a:pt x="296" y="240"/>
                  </a:lnTo>
                  <a:lnTo>
                    <a:pt x="296" y="238"/>
                  </a:lnTo>
                  <a:lnTo>
                    <a:pt x="296" y="234"/>
                  </a:lnTo>
                  <a:lnTo>
                    <a:pt x="296" y="234"/>
                  </a:lnTo>
                  <a:lnTo>
                    <a:pt x="296" y="232"/>
                  </a:lnTo>
                  <a:lnTo>
                    <a:pt x="298" y="232"/>
                  </a:lnTo>
                  <a:lnTo>
                    <a:pt x="298" y="232"/>
                  </a:lnTo>
                  <a:lnTo>
                    <a:pt x="300" y="234"/>
                  </a:lnTo>
                  <a:lnTo>
                    <a:pt x="300" y="234"/>
                  </a:lnTo>
                  <a:lnTo>
                    <a:pt x="300" y="234"/>
                  </a:lnTo>
                  <a:lnTo>
                    <a:pt x="300" y="234"/>
                  </a:lnTo>
                  <a:lnTo>
                    <a:pt x="302" y="232"/>
                  </a:lnTo>
                  <a:lnTo>
                    <a:pt x="302" y="231"/>
                  </a:lnTo>
                  <a:lnTo>
                    <a:pt x="302" y="231"/>
                  </a:lnTo>
                  <a:lnTo>
                    <a:pt x="302" y="231"/>
                  </a:lnTo>
                  <a:lnTo>
                    <a:pt x="303" y="231"/>
                  </a:lnTo>
                  <a:lnTo>
                    <a:pt x="303" y="231"/>
                  </a:lnTo>
                  <a:lnTo>
                    <a:pt x="303" y="231"/>
                  </a:lnTo>
                  <a:lnTo>
                    <a:pt x="305" y="229"/>
                  </a:lnTo>
                  <a:lnTo>
                    <a:pt x="305" y="227"/>
                  </a:lnTo>
                  <a:lnTo>
                    <a:pt x="305" y="227"/>
                  </a:lnTo>
                  <a:lnTo>
                    <a:pt x="305" y="225"/>
                  </a:lnTo>
                  <a:lnTo>
                    <a:pt x="305" y="223"/>
                  </a:lnTo>
                  <a:lnTo>
                    <a:pt x="305" y="223"/>
                  </a:lnTo>
                  <a:lnTo>
                    <a:pt x="305" y="221"/>
                  </a:lnTo>
                  <a:lnTo>
                    <a:pt x="305" y="221"/>
                  </a:lnTo>
                  <a:lnTo>
                    <a:pt x="303" y="221"/>
                  </a:lnTo>
                  <a:lnTo>
                    <a:pt x="302" y="219"/>
                  </a:lnTo>
                  <a:lnTo>
                    <a:pt x="302" y="219"/>
                  </a:lnTo>
                  <a:lnTo>
                    <a:pt x="300" y="217"/>
                  </a:lnTo>
                  <a:lnTo>
                    <a:pt x="300" y="217"/>
                  </a:lnTo>
                  <a:lnTo>
                    <a:pt x="300" y="215"/>
                  </a:lnTo>
                  <a:lnTo>
                    <a:pt x="302" y="211"/>
                  </a:lnTo>
                  <a:lnTo>
                    <a:pt x="302" y="211"/>
                  </a:lnTo>
                  <a:lnTo>
                    <a:pt x="302" y="211"/>
                  </a:lnTo>
                  <a:lnTo>
                    <a:pt x="303" y="210"/>
                  </a:lnTo>
                  <a:lnTo>
                    <a:pt x="303" y="210"/>
                  </a:lnTo>
                  <a:lnTo>
                    <a:pt x="305" y="210"/>
                  </a:lnTo>
                  <a:lnTo>
                    <a:pt x="305" y="208"/>
                  </a:lnTo>
                  <a:lnTo>
                    <a:pt x="305" y="208"/>
                  </a:lnTo>
                  <a:lnTo>
                    <a:pt x="305" y="206"/>
                  </a:lnTo>
                  <a:lnTo>
                    <a:pt x="305" y="206"/>
                  </a:lnTo>
                  <a:lnTo>
                    <a:pt x="305" y="206"/>
                  </a:lnTo>
                  <a:lnTo>
                    <a:pt x="303" y="204"/>
                  </a:lnTo>
                  <a:lnTo>
                    <a:pt x="303" y="204"/>
                  </a:lnTo>
                  <a:lnTo>
                    <a:pt x="303" y="202"/>
                  </a:lnTo>
                  <a:lnTo>
                    <a:pt x="303" y="202"/>
                  </a:lnTo>
                  <a:lnTo>
                    <a:pt x="309" y="194"/>
                  </a:lnTo>
                  <a:lnTo>
                    <a:pt x="311" y="192"/>
                  </a:lnTo>
                  <a:lnTo>
                    <a:pt x="311" y="192"/>
                  </a:lnTo>
                  <a:lnTo>
                    <a:pt x="315" y="191"/>
                  </a:lnTo>
                  <a:lnTo>
                    <a:pt x="319" y="189"/>
                  </a:lnTo>
                  <a:lnTo>
                    <a:pt x="321" y="189"/>
                  </a:lnTo>
                  <a:lnTo>
                    <a:pt x="328" y="181"/>
                  </a:lnTo>
                  <a:lnTo>
                    <a:pt x="330" y="179"/>
                  </a:lnTo>
                  <a:lnTo>
                    <a:pt x="334" y="179"/>
                  </a:lnTo>
                  <a:lnTo>
                    <a:pt x="338" y="177"/>
                  </a:lnTo>
                  <a:lnTo>
                    <a:pt x="340" y="177"/>
                  </a:lnTo>
                  <a:lnTo>
                    <a:pt x="340" y="177"/>
                  </a:lnTo>
                  <a:lnTo>
                    <a:pt x="342" y="177"/>
                  </a:lnTo>
                  <a:lnTo>
                    <a:pt x="343" y="173"/>
                  </a:lnTo>
                  <a:lnTo>
                    <a:pt x="343" y="173"/>
                  </a:lnTo>
                  <a:lnTo>
                    <a:pt x="345" y="172"/>
                  </a:lnTo>
                  <a:lnTo>
                    <a:pt x="345" y="172"/>
                  </a:lnTo>
                  <a:lnTo>
                    <a:pt x="345" y="170"/>
                  </a:lnTo>
                  <a:lnTo>
                    <a:pt x="345" y="170"/>
                  </a:lnTo>
                  <a:lnTo>
                    <a:pt x="345" y="168"/>
                  </a:lnTo>
                  <a:lnTo>
                    <a:pt x="343" y="166"/>
                  </a:lnTo>
                  <a:lnTo>
                    <a:pt x="342" y="162"/>
                  </a:lnTo>
                  <a:lnTo>
                    <a:pt x="342" y="162"/>
                  </a:lnTo>
                  <a:lnTo>
                    <a:pt x="342" y="160"/>
                  </a:lnTo>
                  <a:lnTo>
                    <a:pt x="343" y="158"/>
                  </a:lnTo>
                  <a:lnTo>
                    <a:pt x="343" y="156"/>
                  </a:lnTo>
                  <a:lnTo>
                    <a:pt x="343" y="156"/>
                  </a:lnTo>
                  <a:lnTo>
                    <a:pt x="343" y="156"/>
                  </a:lnTo>
                  <a:lnTo>
                    <a:pt x="343" y="154"/>
                  </a:lnTo>
                  <a:lnTo>
                    <a:pt x="345" y="154"/>
                  </a:lnTo>
                  <a:lnTo>
                    <a:pt x="347" y="154"/>
                  </a:lnTo>
                  <a:lnTo>
                    <a:pt x="347" y="154"/>
                  </a:lnTo>
                  <a:lnTo>
                    <a:pt x="347" y="153"/>
                  </a:lnTo>
                  <a:lnTo>
                    <a:pt x="349" y="151"/>
                  </a:lnTo>
                  <a:lnTo>
                    <a:pt x="351" y="151"/>
                  </a:lnTo>
                  <a:lnTo>
                    <a:pt x="351" y="151"/>
                  </a:lnTo>
                  <a:lnTo>
                    <a:pt x="353" y="151"/>
                  </a:lnTo>
                  <a:lnTo>
                    <a:pt x="355" y="151"/>
                  </a:lnTo>
                  <a:lnTo>
                    <a:pt x="355" y="151"/>
                  </a:lnTo>
                  <a:lnTo>
                    <a:pt x="357" y="149"/>
                  </a:lnTo>
                  <a:lnTo>
                    <a:pt x="359" y="147"/>
                  </a:lnTo>
                  <a:lnTo>
                    <a:pt x="363" y="145"/>
                  </a:lnTo>
                  <a:lnTo>
                    <a:pt x="363" y="143"/>
                  </a:lnTo>
                  <a:lnTo>
                    <a:pt x="364" y="143"/>
                  </a:lnTo>
                  <a:lnTo>
                    <a:pt x="364" y="137"/>
                  </a:lnTo>
                  <a:lnTo>
                    <a:pt x="366" y="137"/>
                  </a:lnTo>
                  <a:lnTo>
                    <a:pt x="366" y="135"/>
                  </a:lnTo>
                  <a:lnTo>
                    <a:pt x="366" y="135"/>
                  </a:lnTo>
                  <a:lnTo>
                    <a:pt x="368" y="135"/>
                  </a:lnTo>
                  <a:lnTo>
                    <a:pt x="368" y="134"/>
                  </a:lnTo>
                  <a:lnTo>
                    <a:pt x="370" y="134"/>
                  </a:lnTo>
                  <a:lnTo>
                    <a:pt x="370" y="134"/>
                  </a:lnTo>
                  <a:lnTo>
                    <a:pt x="372" y="132"/>
                  </a:lnTo>
                  <a:lnTo>
                    <a:pt x="376" y="130"/>
                  </a:lnTo>
                  <a:lnTo>
                    <a:pt x="376" y="128"/>
                  </a:lnTo>
                  <a:lnTo>
                    <a:pt x="378" y="128"/>
                  </a:lnTo>
                  <a:lnTo>
                    <a:pt x="378" y="126"/>
                  </a:lnTo>
                  <a:lnTo>
                    <a:pt x="378" y="124"/>
                  </a:lnTo>
                  <a:lnTo>
                    <a:pt x="378" y="124"/>
                  </a:lnTo>
                  <a:close/>
                </a:path>
              </a:pathLst>
            </a:custGeom>
            <a:noFill/>
            <a:ln w="317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16" name="Freeform 66">
              <a:extLst>
                <a:ext uri="{FF2B5EF4-FFF2-40B4-BE49-F238E27FC236}">
                  <a16:creationId xmlns:a16="http://schemas.microsoft.com/office/drawing/2014/main" id="{83F299A2-CD0D-1C18-1913-5BA6846C32F5}"/>
                </a:ext>
              </a:extLst>
            </p:cNvPr>
            <p:cNvSpPr>
              <a:spLocks/>
            </p:cNvSpPr>
            <p:nvPr/>
          </p:nvSpPr>
          <p:spPr bwMode="auto">
            <a:xfrm>
              <a:off x="2498379" y="2335636"/>
              <a:ext cx="20753" cy="21990"/>
            </a:xfrm>
            <a:custGeom>
              <a:avLst/>
              <a:gdLst>
                <a:gd name="T0" fmla="*/ 11 w 11"/>
                <a:gd name="T1" fmla="*/ 10 h 13"/>
                <a:gd name="T2" fmla="*/ 11 w 11"/>
                <a:gd name="T3" fmla="*/ 8 h 13"/>
                <a:gd name="T4" fmla="*/ 11 w 11"/>
                <a:gd name="T5" fmla="*/ 6 h 13"/>
                <a:gd name="T6" fmla="*/ 11 w 11"/>
                <a:gd name="T7" fmla="*/ 6 h 13"/>
                <a:gd name="T8" fmla="*/ 11 w 11"/>
                <a:gd name="T9" fmla="*/ 6 h 13"/>
                <a:gd name="T10" fmla="*/ 11 w 11"/>
                <a:gd name="T11" fmla="*/ 4 h 13"/>
                <a:gd name="T12" fmla="*/ 11 w 11"/>
                <a:gd name="T13" fmla="*/ 2 h 13"/>
                <a:gd name="T14" fmla="*/ 11 w 11"/>
                <a:gd name="T15" fmla="*/ 2 h 13"/>
                <a:gd name="T16" fmla="*/ 11 w 11"/>
                <a:gd name="T17" fmla="*/ 0 h 13"/>
                <a:gd name="T18" fmla="*/ 7 w 11"/>
                <a:gd name="T19" fmla="*/ 0 h 13"/>
                <a:gd name="T20" fmla="*/ 6 w 11"/>
                <a:gd name="T21" fmla="*/ 0 h 13"/>
                <a:gd name="T22" fmla="*/ 4 w 11"/>
                <a:gd name="T23" fmla="*/ 0 h 13"/>
                <a:gd name="T24" fmla="*/ 0 w 11"/>
                <a:gd name="T25" fmla="*/ 2 h 13"/>
                <a:gd name="T26" fmla="*/ 0 w 11"/>
                <a:gd name="T27" fmla="*/ 2 h 13"/>
                <a:gd name="T28" fmla="*/ 0 w 11"/>
                <a:gd name="T29" fmla="*/ 2 h 13"/>
                <a:gd name="T30" fmla="*/ 0 w 11"/>
                <a:gd name="T31" fmla="*/ 4 h 13"/>
                <a:gd name="T32" fmla="*/ 0 w 11"/>
                <a:gd name="T33" fmla="*/ 4 h 13"/>
                <a:gd name="T34" fmla="*/ 0 w 11"/>
                <a:gd name="T35" fmla="*/ 6 h 13"/>
                <a:gd name="T36" fmla="*/ 0 w 11"/>
                <a:gd name="T37" fmla="*/ 6 h 13"/>
                <a:gd name="T38" fmla="*/ 4 w 11"/>
                <a:gd name="T39" fmla="*/ 8 h 13"/>
                <a:gd name="T40" fmla="*/ 6 w 11"/>
                <a:gd name="T41" fmla="*/ 12 h 13"/>
                <a:gd name="T42" fmla="*/ 7 w 11"/>
                <a:gd name="T43" fmla="*/ 12 h 13"/>
                <a:gd name="T44" fmla="*/ 7 w 11"/>
                <a:gd name="T45" fmla="*/ 13 h 13"/>
                <a:gd name="T46" fmla="*/ 7 w 11"/>
                <a:gd name="T47" fmla="*/ 13 h 13"/>
                <a:gd name="T48" fmla="*/ 7 w 11"/>
                <a:gd name="T49" fmla="*/ 13 h 13"/>
                <a:gd name="T50" fmla="*/ 9 w 11"/>
                <a:gd name="T51" fmla="*/ 12 h 13"/>
                <a:gd name="T52" fmla="*/ 9 w 11"/>
                <a:gd name="T53" fmla="*/ 12 h 13"/>
                <a:gd name="T54" fmla="*/ 9 w 11"/>
                <a:gd name="T55" fmla="*/ 12 h 13"/>
                <a:gd name="T56" fmla="*/ 11 w 11"/>
                <a:gd name="T57" fmla="*/ 12 h 13"/>
                <a:gd name="T58" fmla="*/ 11 w 11"/>
                <a:gd name="T59" fmla="*/ 12 h 13"/>
                <a:gd name="T60" fmla="*/ 11 w 11"/>
                <a:gd name="T61"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13">
                  <a:moveTo>
                    <a:pt x="11" y="10"/>
                  </a:moveTo>
                  <a:lnTo>
                    <a:pt x="11" y="8"/>
                  </a:lnTo>
                  <a:lnTo>
                    <a:pt x="11" y="6"/>
                  </a:lnTo>
                  <a:lnTo>
                    <a:pt x="11" y="6"/>
                  </a:lnTo>
                  <a:lnTo>
                    <a:pt x="11" y="6"/>
                  </a:lnTo>
                  <a:lnTo>
                    <a:pt x="11" y="4"/>
                  </a:lnTo>
                  <a:lnTo>
                    <a:pt x="11" y="2"/>
                  </a:lnTo>
                  <a:lnTo>
                    <a:pt x="11" y="2"/>
                  </a:lnTo>
                  <a:lnTo>
                    <a:pt x="11" y="0"/>
                  </a:lnTo>
                  <a:lnTo>
                    <a:pt x="7" y="0"/>
                  </a:lnTo>
                  <a:lnTo>
                    <a:pt x="6" y="0"/>
                  </a:lnTo>
                  <a:lnTo>
                    <a:pt x="4" y="0"/>
                  </a:lnTo>
                  <a:lnTo>
                    <a:pt x="0" y="2"/>
                  </a:lnTo>
                  <a:lnTo>
                    <a:pt x="0" y="2"/>
                  </a:lnTo>
                  <a:lnTo>
                    <a:pt x="0" y="2"/>
                  </a:lnTo>
                  <a:lnTo>
                    <a:pt x="0" y="4"/>
                  </a:lnTo>
                  <a:lnTo>
                    <a:pt x="0" y="4"/>
                  </a:lnTo>
                  <a:lnTo>
                    <a:pt x="0" y="6"/>
                  </a:lnTo>
                  <a:lnTo>
                    <a:pt x="0" y="6"/>
                  </a:lnTo>
                  <a:lnTo>
                    <a:pt x="4" y="8"/>
                  </a:lnTo>
                  <a:lnTo>
                    <a:pt x="6" y="12"/>
                  </a:lnTo>
                  <a:lnTo>
                    <a:pt x="7" y="12"/>
                  </a:lnTo>
                  <a:lnTo>
                    <a:pt x="7" y="13"/>
                  </a:lnTo>
                  <a:lnTo>
                    <a:pt x="7" y="13"/>
                  </a:lnTo>
                  <a:lnTo>
                    <a:pt x="7" y="13"/>
                  </a:lnTo>
                  <a:lnTo>
                    <a:pt x="9" y="12"/>
                  </a:lnTo>
                  <a:lnTo>
                    <a:pt x="9" y="12"/>
                  </a:lnTo>
                  <a:lnTo>
                    <a:pt x="9" y="12"/>
                  </a:lnTo>
                  <a:lnTo>
                    <a:pt x="11" y="12"/>
                  </a:lnTo>
                  <a:lnTo>
                    <a:pt x="11" y="12"/>
                  </a:lnTo>
                  <a:lnTo>
                    <a:pt x="11" y="10"/>
                  </a:lnTo>
                  <a:close/>
                </a:path>
              </a:pathLst>
            </a:custGeom>
            <a:solidFill>
              <a:srgbClr val="DCDDDF"/>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17" name="Freeform 67">
              <a:extLst>
                <a:ext uri="{FF2B5EF4-FFF2-40B4-BE49-F238E27FC236}">
                  <a16:creationId xmlns:a16="http://schemas.microsoft.com/office/drawing/2014/main" id="{BB310C56-A5A3-66ED-3C87-857A83B21BF6}"/>
                </a:ext>
              </a:extLst>
            </p:cNvPr>
            <p:cNvSpPr>
              <a:spLocks/>
            </p:cNvSpPr>
            <p:nvPr/>
          </p:nvSpPr>
          <p:spPr bwMode="auto">
            <a:xfrm>
              <a:off x="2498379" y="2335636"/>
              <a:ext cx="20753" cy="21990"/>
            </a:xfrm>
            <a:custGeom>
              <a:avLst/>
              <a:gdLst>
                <a:gd name="T0" fmla="*/ 11 w 11"/>
                <a:gd name="T1" fmla="*/ 10 h 13"/>
                <a:gd name="T2" fmla="*/ 11 w 11"/>
                <a:gd name="T3" fmla="*/ 8 h 13"/>
                <a:gd name="T4" fmla="*/ 11 w 11"/>
                <a:gd name="T5" fmla="*/ 6 h 13"/>
                <a:gd name="T6" fmla="*/ 11 w 11"/>
                <a:gd name="T7" fmla="*/ 6 h 13"/>
                <a:gd name="T8" fmla="*/ 11 w 11"/>
                <a:gd name="T9" fmla="*/ 6 h 13"/>
                <a:gd name="T10" fmla="*/ 11 w 11"/>
                <a:gd name="T11" fmla="*/ 4 h 13"/>
                <a:gd name="T12" fmla="*/ 11 w 11"/>
                <a:gd name="T13" fmla="*/ 2 h 13"/>
                <a:gd name="T14" fmla="*/ 11 w 11"/>
                <a:gd name="T15" fmla="*/ 2 h 13"/>
                <a:gd name="T16" fmla="*/ 11 w 11"/>
                <a:gd name="T17" fmla="*/ 0 h 13"/>
                <a:gd name="T18" fmla="*/ 7 w 11"/>
                <a:gd name="T19" fmla="*/ 0 h 13"/>
                <a:gd name="T20" fmla="*/ 6 w 11"/>
                <a:gd name="T21" fmla="*/ 0 h 13"/>
                <a:gd name="T22" fmla="*/ 4 w 11"/>
                <a:gd name="T23" fmla="*/ 0 h 13"/>
                <a:gd name="T24" fmla="*/ 0 w 11"/>
                <a:gd name="T25" fmla="*/ 2 h 13"/>
                <a:gd name="T26" fmla="*/ 0 w 11"/>
                <a:gd name="T27" fmla="*/ 2 h 13"/>
                <a:gd name="T28" fmla="*/ 0 w 11"/>
                <a:gd name="T29" fmla="*/ 2 h 13"/>
                <a:gd name="T30" fmla="*/ 0 w 11"/>
                <a:gd name="T31" fmla="*/ 4 h 13"/>
                <a:gd name="T32" fmla="*/ 0 w 11"/>
                <a:gd name="T33" fmla="*/ 4 h 13"/>
                <a:gd name="T34" fmla="*/ 0 w 11"/>
                <a:gd name="T35" fmla="*/ 6 h 13"/>
                <a:gd name="T36" fmla="*/ 0 w 11"/>
                <a:gd name="T37" fmla="*/ 6 h 13"/>
                <a:gd name="T38" fmla="*/ 4 w 11"/>
                <a:gd name="T39" fmla="*/ 8 h 13"/>
                <a:gd name="T40" fmla="*/ 6 w 11"/>
                <a:gd name="T41" fmla="*/ 12 h 13"/>
                <a:gd name="T42" fmla="*/ 7 w 11"/>
                <a:gd name="T43" fmla="*/ 12 h 13"/>
                <a:gd name="T44" fmla="*/ 7 w 11"/>
                <a:gd name="T45" fmla="*/ 13 h 13"/>
                <a:gd name="T46" fmla="*/ 7 w 11"/>
                <a:gd name="T47" fmla="*/ 13 h 13"/>
                <a:gd name="T48" fmla="*/ 7 w 11"/>
                <a:gd name="T49" fmla="*/ 13 h 13"/>
                <a:gd name="T50" fmla="*/ 9 w 11"/>
                <a:gd name="T51" fmla="*/ 12 h 13"/>
                <a:gd name="T52" fmla="*/ 9 w 11"/>
                <a:gd name="T53" fmla="*/ 12 h 13"/>
                <a:gd name="T54" fmla="*/ 9 w 11"/>
                <a:gd name="T55" fmla="*/ 12 h 13"/>
                <a:gd name="T56" fmla="*/ 11 w 11"/>
                <a:gd name="T57" fmla="*/ 12 h 13"/>
                <a:gd name="T58" fmla="*/ 11 w 11"/>
                <a:gd name="T59" fmla="*/ 12 h 13"/>
                <a:gd name="T60" fmla="*/ 11 w 11"/>
                <a:gd name="T61"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13">
                  <a:moveTo>
                    <a:pt x="11" y="10"/>
                  </a:moveTo>
                  <a:lnTo>
                    <a:pt x="11" y="8"/>
                  </a:lnTo>
                  <a:lnTo>
                    <a:pt x="11" y="6"/>
                  </a:lnTo>
                  <a:lnTo>
                    <a:pt x="11" y="6"/>
                  </a:lnTo>
                  <a:lnTo>
                    <a:pt x="11" y="6"/>
                  </a:lnTo>
                  <a:lnTo>
                    <a:pt x="11" y="4"/>
                  </a:lnTo>
                  <a:lnTo>
                    <a:pt x="11" y="2"/>
                  </a:lnTo>
                  <a:lnTo>
                    <a:pt x="11" y="2"/>
                  </a:lnTo>
                  <a:lnTo>
                    <a:pt x="11" y="0"/>
                  </a:lnTo>
                  <a:lnTo>
                    <a:pt x="7" y="0"/>
                  </a:lnTo>
                  <a:lnTo>
                    <a:pt x="6" y="0"/>
                  </a:lnTo>
                  <a:lnTo>
                    <a:pt x="4" y="0"/>
                  </a:lnTo>
                  <a:lnTo>
                    <a:pt x="0" y="2"/>
                  </a:lnTo>
                  <a:lnTo>
                    <a:pt x="0" y="2"/>
                  </a:lnTo>
                  <a:lnTo>
                    <a:pt x="0" y="2"/>
                  </a:lnTo>
                  <a:lnTo>
                    <a:pt x="0" y="4"/>
                  </a:lnTo>
                  <a:lnTo>
                    <a:pt x="0" y="4"/>
                  </a:lnTo>
                  <a:lnTo>
                    <a:pt x="0" y="6"/>
                  </a:lnTo>
                  <a:lnTo>
                    <a:pt x="0" y="6"/>
                  </a:lnTo>
                  <a:lnTo>
                    <a:pt x="4" y="8"/>
                  </a:lnTo>
                  <a:lnTo>
                    <a:pt x="6" y="12"/>
                  </a:lnTo>
                  <a:lnTo>
                    <a:pt x="7" y="12"/>
                  </a:lnTo>
                  <a:lnTo>
                    <a:pt x="7" y="13"/>
                  </a:lnTo>
                  <a:lnTo>
                    <a:pt x="7" y="13"/>
                  </a:lnTo>
                  <a:lnTo>
                    <a:pt x="7" y="13"/>
                  </a:lnTo>
                  <a:lnTo>
                    <a:pt x="9" y="12"/>
                  </a:lnTo>
                  <a:lnTo>
                    <a:pt x="9" y="12"/>
                  </a:lnTo>
                  <a:lnTo>
                    <a:pt x="9" y="12"/>
                  </a:lnTo>
                  <a:lnTo>
                    <a:pt x="11" y="12"/>
                  </a:lnTo>
                  <a:lnTo>
                    <a:pt x="11" y="12"/>
                  </a:lnTo>
                  <a:lnTo>
                    <a:pt x="11" y="10"/>
                  </a:lnTo>
                  <a:close/>
                </a:path>
              </a:pathLst>
            </a:custGeom>
            <a:solidFill>
              <a:srgbClr val="DCDDDF"/>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18" name="Freeform 68">
              <a:extLst>
                <a:ext uri="{FF2B5EF4-FFF2-40B4-BE49-F238E27FC236}">
                  <a16:creationId xmlns:a16="http://schemas.microsoft.com/office/drawing/2014/main" id="{1ED9A9D1-3AED-77FD-4083-46928B2BFBD2}"/>
                </a:ext>
              </a:extLst>
            </p:cNvPr>
            <p:cNvSpPr>
              <a:spLocks/>
            </p:cNvSpPr>
            <p:nvPr/>
          </p:nvSpPr>
          <p:spPr bwMode="auto">
            <a:xfrm>
              <a:off x="3651052" y="2920905"/>
              <a:ext cx="867805" cy="556514"/>
            </a:xfrm>
            <a:custGeom>
              <a:avLst/>
              <a:gdLst>
                <a:gd name="T0" fmla="*/ 454 w 460"/>
                <a:gd name="T1" fmla="*/ 107 h 329"/>
                <a:gd name="T2" fmla="*/ 441 w 460"/>
                <a:gd name="T3" fmla="*/ 103 h 329"/>
                <a:gd name="T4" fmla="*/ 420 w 460"/>
                <a:gd name="T5" fmla="*/ 109 h 329"/>
                <a:gd name="T6" fmla="*/ 391 w 460"/>
                <a:gd name="T7" fmla="*/ 116 h 329"/>
                <a:gd name="T8" fmla="*/ 353 w 460"/>
                <a:gd name="T9" fmla="*/ 116 h 329"/>
                <a:gd name="T10" fmla="*/ 328 w 460"/>
                <a:gd name="T11" fmla="*/ 109 h 329"/>
                <a:gd name="T12" fmla="*/ 296 w 460"/>
                <a:gd name="T13" fmla="*/ 103 h 329"/>
                <a:gd name="T14" fmla="*/ 265 w 460"/>
                <a:gd name="T15" fmla="*/ 97 h 329"/>
                <a:gd name="T16" fmla="*/ 235 w 460"/>
                <a:gd name="T17" fmla="*/ 97 h 329"/>
                <a:gd name="T18" fmla="*/ 220 w 460"/>
                <a:gd name="T19" fmla="*/ 73 h 329"/>
                <a:gd name="T20" fmla="*/ 170 w 460"/>
                <a:gd name="T21" fmla="*/ 76 h 329"/>
                <a:gd name="T22" fmla="*/ 147 w 460"/>
                <a:gd name="T23" fmla="*/ 57 h 329"/>
                <a:gd name="T24" fmla="*/ 124 w 460"/>
                <a:gd name="T25" fmla="*/ 33 h 329"/>
                <a:gd name="T26" fmla="*/ 75 w 460"/>
                <a:gd name="T27" fmla="*/ 2 h 329"/>
                <a:gd name="T28" fmla="*/ 52 w 460"/>
                <a:gd name="T29" fmla="*/ 15 h 329"/>
                <a:gd name="T30" fmla="*/ 52 w 460"/>
                <a:gd name="T31" fmla="*/ 25 h 329"/>
                <a:gd name="T32" fmla="*/ 65 w 460"/>
                <a:gd name="T33" fmla="*/ 46 h 329"/>
                <a:gd name="T34" fmla="*/ 81 w 460"/>
                <a:gd name="T35" fmla="*/ 65 h 329"/>
                <a:gd name="T36" fmla="*/ 90 w 460"/>
                <a:gd name="T37" fmla="*/ 78 h 329"/>
                <a:gd name="T38" fmla="*/ 71 w 460"/>
                <a:gd name="T39" fmla="*/ 90 h 329"/>
                <a:gd name="T40" fmla="*/ 60 w 460"/>
                <a:gd name="T41" fmla="*/ 103 h 329"/>
                <a:gd name="T42" fmla="*/ 56 w 460"/>
                <a:gd name="T43" fmla="*/ 109 h 329"/>
                <a:gd name="T44" fmla="*/ 79 w 460"/>
                <a:gd name="T45" fmla="*/ 114 h 329"/>
                <a:gd name="T46" fmla="*/ 75 w 460"/>
                <a:gd name="T47" fmla="*/ 128 h 329"/>
                <a:gd name="T48" fmla="*/ 65 w 460"/>
                <a:gd name="T49" fmla="*/ 137 h 329"/>
                <a:gd name="T50" fmla="*/ 82 w 460"/>
                <a:gd name="T51" fmla="*/ 156 h 329"/>
                <a:gd name="T52" fmla="*/ 105 w 460"/>
                <a:gd name="T53" fmla="*/ 170 h 329"/>
                <a:gd name="T54" fmla="*/ 109 w 460"/>
                <a:gd name="T55" fmla="*/ 187 h 329"/>
                <a:gd name="T56" fmla="*/ 94 w 460"/>
                <a:gd name="T57" fmla="*/ 190 h 329"/>
                <a:gd name="T58" fmla="*/ 82 w 460"/>
                <a:gd name="T59" fmla="*/ 190 h 329"/>
                <a:gd name="T60" fmla="*/ 54 w 460"/>
                <a:gd name="T61" fmla="*/ 204 h 329"/>
                <a:gd name="T62" fmla="*/ 4 w 460"/>
                <a:gd name="T63" fmla="*/ 236 h 329"/>
                <a:gd name="T64" fmla="*/ 4 w 460"/>
                <a:gd name="T65" fmla="*/ 267 h 329"/>
                <a:gd name="T66" fmla="*/ 20 w 460"/>
                <a:gd name="T67" fmla="*/ 284 h 329"/>
                <a:gd name="T68" fmla="*/ 35 w 460"/>
                <a:gd name="T69" fmla="*/ 308 h 329"/>
                <a:gd name="T70" fmla="*/ 63 w 460"/>
                <a:gd name="T71" fmla="*/ 301 h 329"/>
                <a:gd name="T72" fmla="*/ 77 w 460"/>
                <a:gd name="T73" fmla="*/ 310 h 329"/>
                <a:gd name="T74" fmla="*/ 82 w 460"/>
                <a:gd name="T75" fmla="*/ 306 h 329"/>
                <a:gd name="T76" fmla="*/ 92 w 460"/>
                <a:gd name="T77" fmla="*/ 314 h 329"/>
                <a:gd name="T78" fmla="*/ 113 w 460"/>
                <a:gd name="T79" fmla="*/ 327 h 329"/>
                <a:gd name="T80" fmla="*/ 126 w 460"/>
                <a:gd name="T81" fmla="*/ 316 h 329"/>
                <a:gd name="T82" fmla="*/ 145 w 460"/>
                <a:gd name="T83" fmla="*/ 324 h 329"/>
                <a:gd name="T84" fmla="*/ 170 w 460"/>
                <a:gd name="T85" fmla="*/ 320 h 329"/>
                <a:gd name="T86" fmla="*/ 202 w 460"/>
                <a:gd name="T87" fmla="*/ 308 h 329"/>
                <a:gd name="T88" fmla="*/ 216 w 460"/>
                <a:gd name="T89" fmla="*/ 297 h 329"/>
                <a:gd name="T90" fmla="*/ 235 w 460"/>
                <a:gd name="T91" fmla="*/ 284 h 329"/>
                <a:gd name="T92" fmla="*/ 258 w 460"/>
                <a:gd name="T93" fmla="*/ 299 h 329"/>
                <a:gd name="T94" fmla="*/ 273 w 460"/>
                <a:gd name="T95" fmla="*/ 314 h 329"/>
                <a:gd name="T96" fmla="*/ 294 w 460"/>
                <a:gd name="T97" fmla="*/ 310 h 329"/>
                <a:gd name="T98" fmla="*/ 330 w 460"/>
                <a:gd name="T99" fmla="*/ 306 h 329"/>
                <a:gd name="T100" fmla="*/ 345 w 460"/>
                <a:gd name="T101" fmla="*/ 289 h 329"/>
                <a:gd name="T102" fmla="*/ 357 w 460"/>
                <a:gd name="T103" fmla="*/ 253 h 329"/>
                <a:gd name="T104" fmla="*/ 374 w 460"/>
                <a:gd name="T105" fmla="*/ 238 h 329"/>
                <a:gd name="T106" fmla="*/ 391 w 460"/>
                <a:gd name="T107" fmla="*/ 227 h 329"/>
                <a:gd name="T108" fmla="*/ 418 w 460"/>
                <a:gd name="T109" fmla="*/ 228 h 329"/>
                <a:gd name="T110" fmla="*/ 410 w 460"/>
                <a:gd name="T111" fmla="*/ 219 h 329"/>
                <a:gd name="T112" fmla="*/ 418 w 460"/>
                <a:gd name="T113" fmla="*/ 211 h 329"/>
                <a:gd name="T114" fmla="*/ 439 w 460"/>
                <a:gd name="T115" fmla="*/ 209 h 329"/>
                <a:gd name="T116" fmla="*/ 435 w 460"/>
                <a:gd name="T117" fmla="*/ 189 h 329"/>
                <a:gd name="T118" fmla="*/ 414 w 460"/>
                <a:gd name="T119" fmla="*/ 168 h 329"/>
                <a:gd name="T120" fmla="*/ 416 w 460"/>
                <a:gd name="T121" fmla="*/ 156 h 329"/>
                <a:gd name="T122" fmla="*/ 439 w 460"/>
                <a:gd name="T123" fmla="*/ 137 h 329"/>
                <a:gd name="T124" fmla="*/ 460 w 460"/>
                <a:gd name="T125" fmla="*/ 12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0" h="329">
                  <a:moveTo>
                    <a:pt x="460" y="120"/>
                  </a:moveTo>
                  <a:lnTo>
                    <a:pt x="460" y="118"/>
                  </a:lnTo>
                  <a:lnTo>
                    <a:pt x="460" y="118"/>
                  </a:lnTo>
                  <a:lnTo>
                    <a:pt x="458" y="116"/>
                  </a:lnTo>
                  <a:lnTo>
                    <a:pt x="456" y="116"/>
                  </a:lnTo>
                  <a:lnTo>
                    <a:pt x="456" y="116"/>
                  </a:lnTo>
                  <a:lnTo>
                    <a:pt x="456" y="114"/>
                  </a:lnTo>
                  <a:lnTo>
                    <a:pt x="456" y="114"/>
                  </a:lnTo>
                  <a:lnTo>
                    <a:pt x="456" y="114"/>
                  </a:lnTo>
                  <a:lnTo>
                    <a:pt x="458" y="112"/>
                  </a:lnTo>
                  <a:lnTo>
                    <a:pt x="458" y="112"/>
                  </a:lnTo>
                  <a:lnTo>
                    <a:pt x="458" y="112"/>
                  </a:lnTo>
                  <a:lnTo>
                    <a:pt x="458" y="112"/>
                  </a:lnTo>
                  <a:lnTo>
                    <a:pt x="458" y="111"/>
                  </a:lnTo>
                  <a:lnTo>
                    <a:pt x="454" y="109"/>
                  </a:lnTo>
                  <a:lnTo>
                    <a:pt x="454" y="107"/>
                  </a:lnTo>
                  <a:lnTo>
                    <a:pt x="452" y="107"/>
                  </a:lnTo>
                  <a:lnTo>
                    <a:pt x="452" y="107"/>
                  </a:lnTo>
                  <a:lnTo>
                    <a:pt x="450" y="105"/>
                  </a:lnTo>
                  <a:lnTo>
                    <a:pt x="450" y="105"/>
                  </a:lnTo>
                  <a:lnTo>
                    <a:pt x="450" y="105"/>
                  </a:lnTo>
                  <a:lnTo>
                    <a:pt x="450" y="105"/>
                  </a:lnTo>
                  <a:lnTo>
                    <a:pt x="450" y="103"/>
                  </a:lnTo>
                  <a:lnTo>
                    <a:pt x="452" y="101"/>
                  </a:lnTo>
                  <a:lnTo>
                    <a:pt x="452" y="101"/>
                  </a:lnTo>
                  <a:lnTo>
                    <a:pt x="450" y="99"/>
                  </a:lnTo>
                  <a:lnTo>
                    <a:pt x="446" y="101"/>
                  </a:lnTo>
                  <a:lnTo>
                    <a:pt x="444" y="101"/>
                  </a:lnTo>
                  <a:lnTo>
                    <a:pt x="444" y="103"/>
                  </a:lnTo>
                  <a:lnTo>
                    <a:pt x="443" y="101"/>
                  </a:lnTo>
                  <a:lnTo>
                    <a:pt x="441" y="101"/>
                  </a:lnTo>
                  <a:lnTo>
                    <a:pt x="441" y="103"/>
                  </a:lnTo>
                  <a:lnTo>
                    <a:pt x="441" y="105"/>
                  </a:lnTo>
                  <a:lnTo>
                    <a:pt x="441" y="105"/>
                  </a:lnTo>
                  <a:lnTo>
                    <a:pt x="439" y="111"/>
                  </a:lnTo>
                  <a:lnTo>
                    <a:pt x="437" y="114"/>
                  </a:lnTo>
                  <a:lnTo>
                    <a:pt x="433" y="118"/>
                  </a:lnTo>
                  <a:lnTo>
                    <a:pt x="429" y="118"/>
                  </a:lnTo>
                  <a:lnTo>
                    <a:pt x="429" y="118"/>
                  </a:lnTo>
                  <a:lnTo>
                    <a:pt x="425" y="116"/>
                  </a:lnTo>
                  <a:lnTo>
                    <a:pt x="425" y="114"/>
                  </a:lnTo>
                  <a:lnTo>
                    <a:pt x="424" y="114"/>
                  </a:lnTo>
                  <a:lnTo>
                    <a:pt x="424" y="112"/>
                  </a:lnTo>
                  <a:lnTo>
                    <a:pt x="424" y="111"/>
                  </a:lnTo>
                  <a:lnTo>
                    <a:pt x="424" y="111"/>
                  </a:lnTo>
                  <a:lnTo>
                    <a:pt x="420" y="109"/>
                  </a:lnTo>
                  <a:lnTo>
                    <a:pt x="420" y="109"/>
                  </a:lnTo>
                  <a:lnTo>
                    <a:pt x="420" y="109"/>
                  </a:lnTo>
                  <a:lnTo>
                    <a:pt x="416" y="112"/>
                  </a:lnTo>
                  <a:lnTo>
                    <a:pt x="414" y="112"/>
                  </a:lnTo>
                  <a:lnTo>
                    <a:pt x="412" y="111"/>
                  </a:lnTo>
                  <a:lnTo>
                    <a:pt x="410" y="111"/>
                  </a:lnTo>
                  <a:lnTo>
                    <a:pt x="410" y="111"/>
                  </a:lnTo>
                  <a:lnTo>
                    <a:pt x="410" y="112"/>
                  </a:lnTo>
                  <a:lnTo>
                    <a:pt x="408" y="114"/>
                  </a:lnTo>
                  <a:lnTo>
                    <a:pt x="406" y="114"/>
                  </a:lnTo>
                  <a:lnTo>
                    <a:pt x="406" y="114"/>
                  </a:lnTo>
                  <a:lnTo>
                    <a:pt x="404" y="114"/>
                  </a:lnTo>
                  <a:lnTo>
                    <a:pt x="403" y="112"/>
                  </a:lnTo>
                  <a:lnTo>
                    <a:pt x="401" y="114"/>
                  </a:lnTo>
                  <a:lnTo>
                    <a:pt x="401" y="114"/>
                  </a:lnTo>
                  <a:lnTo>
                    <a:pt x="397" y="116"/>
                  </a:lnTo>
                  <a:lnTo>
                    <a:pt x="395" y="118"/>
                  </a:lnTo>
                  <a:lnTo>
                    <a:pt x="391" y="116"/>
                  </a:lnTo>
                  <a:lnTo>
                    <a:pt x="384" y="112"/>
                  </a:lnTo>
                  <a:lnTo>
                    <a:pt x="382" y="112"/>
                  </a:lnTo>
                  <a:lnTo>
                    <a:pt x="378" y="112"/>
                  </a:lnTo>
                  <a:lnTo>
                    <a:pt x="376" y="114"/>
                  </a:lnTo>
                  <a:lnTo>
                    <a:pt x="372" y="114"/>
                  </a:lnTo>
                  <a:lnTo>
                    <a:pt x="372" y="116"/>
                  </a:lnTo>
                  <a:lnTo>
                    <a:pt x="370" y="120"/>
                  </a:lnTo>
                  <a:lnTo>
                    <a:pt x="368" y="122"/>
                  </a:lnTo>
                  <a:lnTo>
                    <a:pt x="368" y="120"/>
                  </a:lnTo>
                  <a:lnTo>
                    <a:pt x="364" y="120"/>
                  </a:lnTo>
                  <a:lnTo>
                    <a:pt x="363" y="118"/>
                  </a:lnTo>
                  <a:lnTo>
                    <a:pt x="363" y="116"/>
                  </a:lnTo>
                  <a:lnTo>
                    <a:pt x="361" y="116"/>
                  </a:lnTo>
                  <a:lnTo>
                    <a:pt x="361" y="114"/>
                  </a:lnTo>
                  <a:lnTo>
                    <a:pt x="357" y="116"/>
                  </a:lnTo>
                  <a:lnTo>
                    <a:pt x="353" y="116"/>
                  </a:lnTo>
                  <a:lnTo>
                    <a:pt x="349" y="114"/>
                  </a:lnTo>
                  <a:lnTo>
                    <a:pt x="347" y="112"/>
                  </a:lnTo>
                  <a:lnTo>
                    <a:pt x="345" y="109"/>
                  </a:lnTo>
                  <a:lnTo>
                    <a:pt x="345" y="105"/>
                  </a:lnTo>
                  <a:lnTo>
                    <a:pt x="345" y="105"/>
                  </a:lnTo>
                  <a:lnTo>
                    <a:pt x="343" y="101"/>
                  </a:lnTo>
                  <a:lnTo>
                    <a:pt x="343" y="99"/>
                  </a:lnTo>
                  <a:lnTo>
                    <a:pt x="343" y="97"/>
                  </a:lnTo>
                  <a:lnTo>
                    <a:pt x="343" y="97"/>
                  </a:lnTo>
                  <a:lnTo>
                    <a:pt x="342" y="97"/>
                  </a:lnTo>
                  <a:lnTo>
                    <a:pt x="340" y="101"/>
                  </a:lnTo>
                  <a:lnTo>
                    <a:pt x="338" y="101"/>
                  </a:lnTo>
                  <a:lnTo>
                    <a:pt x="334" y="103"/>
                  </a:lnTo>
                  <a:lnTo>
                    <a:pt x="332" y="105"/>
                  </a:lnTo>
                  <a:lnTo>
                    <a:pt x="328" y="105"/>
                  </a:lnTo>
                  <a:lnTo>
                    <a:pt x="328" y="109"/>
                  </a:lnTo>
                  <a:lnTo>
                    <a:pt x="326" y="111"/>
                  </a:lnTo>
                  <a:lnTo>
                    <a:pt x="324" y="112"/>
                  </a:lnTo>
                  <a:lnTo>
                    <a:pt x="321" y="112"/>
                  </a:lnTo>
                  <a:lnTo>
                    <a:pt x="321" y="112"/>
                  </a:lnTo>
                  <a:lnTo>
                    <a:pt x="317" y="111"/>
                  </a:lnTo>
                  <a:lnTo>
                    <a:pt x="317" y="111"/>
                  </a:lnTo>
                  <a:lnTo>
                    <a:pt x="315" y="112"/>
                  </a:lnTo>
                  <a:lnTo>
                    <a:pt x="315" y="112"/>
                  </a:lnTo>
                  <a:lnTo>
                    <a:pt x="313" y="114"/>
                  </a:lnTo>
                  <a:lnTo>
                    <a:pt x="311" y="114"/>
                  </a:lnTo>
                  <a:lnTo>
                    <a:pt x="305" y="111"/>
                  </a:lnTo>
                  <a:lnTo>
                    <a:pt x="300" y="107"/>
                  </a:lnTo>
                  <a:lnTo>
                    <a:pt x="298" y="105"/>
                  </a:lnTo>
                  <a:lnTo>
                    <a:pt x="298" y="105"/>
                  </a:lnTo>
                  <a:lnTo>
                    <a:pt x="296" y="105"/>
                  </a:lnTo>
                  <a:lnTo>
                    <a:pt x="296" y="103"/>
                  </a:lnTo>
                  <a:lnTo>
                    <a:pt x="294" y="103"/>
                  </a:lnTo>
                  <a:lnTo>
                    <a:pt x="292" y="101"/>
                  </a:lnTo>
                  <a:lnTo>
                    <a:pt x="288" y="101"/>
                  </a:lnTo>
                  <a:lnTo>
                    <a:pt x="283" y="97"/>
                  </a:lnTo>
                  <a:lnTo>
                    <a:pt x="281" y="97"/>
                  </a:lnTo>
                  <a:lnTo>
                    <a:pt x="279" y="97"/>
                  </a:lnTo>
                  <a:lnTo>
                    <a:pt x="277" y="97"/>
                  </a:lnTo>
                  <a:lnTo>
                    <a:pt x="277" y="97"/>
                  </a:lnTo>
                  <a:lnTo>
                    <a:pt x="277" y="95"/>
                  </a:lnTo>
                  <a:lnTo>
                    <a:pt x="277" y="95"/>
                  </a:lnTo>
                  <a:lnTo>
                    <a:pt x="275" y="93"/>
                  </a:lnTo>
                  <a:lnTo>
                    <a:pt x="275" y="93"/>
                  </a:lnTo>
                  <a:lnTo>
                    <a:pt x="273" y="93"/>
                  </a:lnTo>
                  <a:lnTo>
                    <a:pt x="269" y="95"/>
                  </a:lnTo>
                  <a:lnTo>
                    <a:pt x="267" y="97"/>
                  </a:lnTo>
                  <a:lnTo>
                    <a:pt x="265" y="97"/>
                  </a:lnTo>
                  <a:lnTo>
                    <a:pt x="265" y="97"/>
                  </a:lnTo>
                  <a:lnTo>
                    <a:pt x="263" y="95"/>
                  </a:lnTo>
                  <a:lnTo>
                    <a:pt x="263" y="95"/>
                  </a:lnTo>
                  <a:lnTo>
                    <a:pt x="263" y="95"/>
                  </a:lnTo>
                  <a:lnTo>
                    <a:pt x="262" y="95"/>
                  </a:lnTo>
                  <a:lnTo>
                    <a:pt x="262" y="95"/>
                  </a:lnTo>
                  <a:lnTo>
                    <a:pt x="262" y="95"/>
                  </a:lnTo>
                  <a:lnTo>
                    <a:pt x="260" y="95"/>
                  </a:lnTo>
                  <a:lnTo>
                    <a:pt x="258" y="95"/>
                  </a:lnTo>
                  <a:lnTo>
                    <a:pt x="258" y="93"/>
                  </a:lnTo>
                  <a:lnTo>
                    <a:pt x="252" y="90"/>
                  </a:lnTo>
                  <a:lnTo>
                    <a:pt x="248" y="90"/>
                  </a:lnTo>
                  <a:lnTo>
                    <a:pt x="246" y="90"/>
                  </a:lnTo>
                  <a:lnTo>
                    <a:pt x="242" y="90"/>
                  </a:lnTo>
                  <a:lnTo>
                    <a:pt x="242" y="92"/>
                  </a:lnTo>
                  <a:lnTo>
                    <a:pt x="235" y="97"/>
                  </a:lnTo>
                  <a:lnTo>
                    <a:pt x="233" y="97"/>
                  </a:lnTo>
                  <a:lnTo>
                    <a:pt x="231" y="99"/>
                  </a:lnTo>
                  <a:lnTo>
                    <a:pt x="231" y="97"/>
                  </a:lnTo>
                  <a:lnTo>
                    <a:pt x="231" y="97"/>
                  </a:lnTo>
                  <a:lnTo>
                    <a:pt x="231" y="95"/>
                  </a:lnTo>
                  <a:lnTo>
                    <a:pt x="231" y="95"/>
                  </a:lnTo>
                  <a:lnTo>
                    <a:pt x="231" y="95"/>
                  </a:lnTo>
                  <a:lnTo>
                    <a:pt x="229" y="95"/>
                  </a:lnTo>
                  <a:lnTo>
                    <a:pt x="229" y="95"/>
                  </a:lnTo>
                  <a:lnTo>
                    <a:pt x="227" y="95"/>
                  </a:lnTo>
                  <a:lnTo>
                    <a:pt x="223" y="92"/>
                  </a:lnTo>
                  <a:lnTo>
                    <a:pt x="222" y="90"/>
                  </a:lnTo>
                  <a:lnTo>
                    <a:pt x="220" y="86"/>
                  </a:lnTo>
                  <a:lnTo>
                    <a:pt x="222" y="78"/>
                  </a:lnTo>
                  <a:lnTo>
                    <a:pt x="220" y="74"/>
                  </a:lnTo>
                  <a:lnTo>
                    <a:pt x="220" y="73"/>
                  </a:lnTo>
                  <a:lnTo>
                    <a:pt x="212" y="69"/>
                  </a:lnTo>
                  <a:lnTo>
                    <a:pt x="210" y="69"/>
                  </a:lnTo>
                  <a:lnTo>
                    <a:pt x="202" y="71"/>
                  </a:lnTo>
                  <a:lnTo>
                    <a:pt x="199" y="74"/>
                  </a:lnTo>
                  <a:lnTo>
                    <a:pt x="197" y="76"/>
                  </a:lnTo>
                  <a:lnTo>
                    <a:pt x="195" y="76"/>
                  </a:lnTo>
                  <a:lnTo>
                    <a:pt x="193" y="76"/>
                  </a:lnTo>
                  <a:lnTo>
                    <a:pt x="191" y="76"/>
                  </a:lnTo>
                  <a:lnTo>
                    <a:pt x="189" y="76"/>
                  </a:lnTo>
                  <a:lnTo>
                    <a:pt x="189" y="78"/>
                  </a:lnTo>
                  <a:lnTo>
                    <a:pt x="187" y="78"/>
                  </a:lnTo>
                  <a:lnTo>
                    <a:pt x="187" y="80"/>
                  </a:lnTo>
                  <a:lnTo>
                    <a:pt x="183" y="80"/>
                  </a:lnTo>
                  <a:lnTo>
                    <a:pt x="182" y="80"/>
                  </a:lnTo>
                  <a:lnTo>
                    <a:pt x="174" y="78"/>
                  </a:lnTo>
                  <a:lnTo>
                    <a:pt x="170" y="76"/>
                  </a:lnTo>
                  <a:lnTo>
                    <a:pt x="170" y="73"/>
                  </a:lnTo>
                  <a:lnTo>
                    <a:pt x="170" y="69"/>
                  </a:lnTo>
                  <a:lnTo>
                    <a:pt x="166" y="67"/>
                  </a:lnTo>
                  <a:lnTo>
                    <a:pt x="164" y="67"/>
                  </a:lnTo>
                  <a:lnTo>
                    <a:pt x="159" y="71"/>
                  </a:lnTo>
                  <a:lnTo>
                    <a:pt x="157" y="69"/>
                  </a:lnTo>
                  <a:lnTo>
                    <a:pt x="157" y="69"/>
                  </a:lnTo>
                  <a:lnTo>
                    <a:pt x="157" y="67"/>
                  </a:lnTo>
                  <a:lnTo>
                    <a:pt x="155" y="65"/>
                  </a:lnTo>
                  <a:lnTo>
                    <a:pt x="155" y="65"/>
                  </a:lnTo>
                  <a:lnTo>
                    <a:pt x="153" y="65"/>
                  </a:lnTo>
                  <a:lnTo>
                    <a:pt x="151" y="65"/>
                  </a:lnTo>
                  <a:lnTo>
                    <a:pt x="151" y="63"/>
                  </a:lnTo>
                  <a:lnTo>
                    <a:pt x="149" y="59"/>
                  </a:lnTo>
                  <a:lnTo>
                    <a:pt x="149" y="57"/>
                  </a:lnTo>
                  <a:lnTo>
                    <a:pt x="147" y="57"/>
                  </a:lnTo>
                  <a:lnTo>
                    <a:pt x="142" y="55"/>
                  </a:lnTo>
                  <a:lnTo>
                    <a:pt x="140" y="54"/>
                  </a:lnTo>
                  <a:lnTo>
                    <a:pt x="140" y="54"/>
                  </a:lnTo>
                  <a:lnTo>
                    <a:pt x="138" y="52"/>
                  </a:lnTo>
                  <a:lnTo>
                    <a:pt x="138" y="52"/>
                  </a:lnTo>
                  <a:lnTo>
                    <a:pt x="136" y="54"/>
                  </a:lnTo>
                  <a:lnTo>
                    <a:pt x="134" y="54"/>
                  </a:lnTo>
                  <a:lnTo>
                    <a:pt x="134" y="54"/>
                  </a:lnTo>
                  <a:lnTo>
                    <a:pt x="122" y="50"/>
                  </a:lnTo>
                  <a:lnTo>
                    <a:pt x="121" y="50"/>
                  </a:lnTo>
                  <a:lnTo>
                    <a:pt x="121" y="48"/>
                  </a:lnTo>
                  <a:lnTo>
                    <a:pt x="121" y="46"/>
                  </a:lnTo>
                  <a:lnTo>
                    <a:pt x="122" y="42"/>
                  </a:lnTo>
                  <a:lnTo>
                    <a:pt x="124" y="40"/>
                  </a:lnTo>
                  <a:lnTo>
                    <a:pt x="124" y="36"/>
                  </a:lnTo>
                  <a:lnTo>
                    <a:pt x="124" y="33"/>
                  </a:lnTo>
                  <a:lnTo>
                    <a:pt x="122" y="29"/>
                  </a:lnTo>
                  <a:lnTo>
                    <a:pt x="121" y="25"/>
                  </a:lnTo>
                  <a:lnTo>
                    <a:pt x="119" y="21"/>
                  </a:lnTo>
                  <a:lnTo>
                    <a:pt x="117" y="19"/>
                  </a:lnTo>
                  <a:lnTo>
                    <a:pt x="90" y="15"/>
                  </a:lnTo>
                  <a:lnTo>
                    <a:pt x="88" y="14"/>
                  </a:lnTo>
                  <a:lnTo>
                    <a:pt x="86" y="12"/>
                  </a:lnTo>
                  <a:lnTo>
                    <a:pt x="84" y="10"/>
                  </a:lnTo>
                  <a:lnTo>
                    <a:pt x="84" y="8"/>
                  </a:lnTo>
                  <a:lnTo>
                    <a:pt x="81" y="8"/>
                  </a:lnTo>
                  <a:lnTo>
                    <a:pt x="81" y="8"/>
                  </a:lnTo>
                  <a:lnTo>
                    <a:pt x="79" y="6"/>
                  </a:lnTo>
                  <a:lnTo>
                    <a:pt x="79" y="4"/>
                  </a:lnTo>
                  <a:lnTo>
                    <a:pt x="77" y="4"/>
                  </a:lnTo>
                  <a:lnTo>
                    <a:pt x="75" y="4"/>
                  </a:lnTo>
                  <a:lnTo>
                    <a:pt x="75" y="2"/>
                  </a:lnTo>
                  <a:lnTo>
                    <a:pt x="75" y="0"/>
                  </a:lnTo>
                  <a:lnTo>
                    <a:pt x="73" y="0"/>
                  </a:lnTo>
                  <a:lnTo>
                    <a:pt x="71" y="0"/>
                  </a:lnTo>
                  <a:lnTo>
                    <a:pt x="65" y="6"/>
                  </a:lnTo>
                  <a:lnTo>
                    <a:pt x="63" y="8"/>
                  </a:lnTo>
                  <a:lnTo>
                    <a:pt x="61" y="8"/>
                  </a:lnTo>
                  <a:lnTo>
                    <a:pt x="58" y="8"/>
                  </a:lnTo>
                  <a:lnTo>
                    <a:pt x="56" y="8"/>
                  </a:lnTo>
                  <a:lnTo>
                    <a:pt x="56" y="8"/>
                  </a:lnTo>
                  <a:lnTo>
                    <a:pt x="54" y="8"/>
                  </a:lnTo>
                  <a:lnTo>
                    <a:pt x="50" y="8"/>
                  </a:lnTo>
                  <a:lnTo>
                    <a:pt x="48" y="8"/>
                  </a:lnTo>
                  <a:lnTo>
                    <a:pt x="48" y="10"/>
                  </a:lnTo>
                  <a:lnTo>
                    <a:pt x="52" y="14"/>
                  </a:lnTo>
                  <a:lnTo>
                    <a:pt x="52" y="14"/>
                  </a:lnTo>
                  <a:lnTo>
                    <a:pt x="52" y="15"/>
                  </a:lnTo>
                  <a:lnTo>
                    <a:pt x="52" y="15"/>
                  </a:lnTo>
                  <a:lnTo>
                    <a:pt x="50" y="17"/>
                  </a:lnTo>
                  <a:lnTo>
                    <a:pt x="50" y="17"/>
                  </a:lnTo>
                  <a:lnTo>
                    <a:pt x="50" y="17"/>
                  </a:lnTo>
                  <a:lnTo>
                    <a:pt x="50" y="17"/>
                  </a:lnTo>
                  <a:lnTo>
                    <a:pt x="50" y="17"/>
                  </a:lnTo>
                  <a:lnTo>
                    <a:pt x="50" y="19"/>
                  </a:lnTo>
                  <a:lnTo>
                    <a:pt x="50" y="19"/>
                  </a:lnTo>
                  <a:lnTo>
                    <a:pt x="50" y="19"/>
                  </a:lnTo>
                  <a:lnTo>
                    <a:pt x="50" y="19"/>
                  </a:lnTo>
                  <a:lnTo>
                    <a:pt x="52" y="19"/>
                  </a:lnTo>
                  <a:lnTo>
                    <a:pt x="54" y="19"/>
                  </a:lnTo>
                  <a:lnTo>
                    <a:pt x="54" y="19"/>
                  </a:lnTo>
                  <a:lnTo>
                    <a:pt x="54" y="21"/>
                  </a:lnTo>
                  <a:lnTo>
                    <a:pt x="52" y="23"/>
                  </a:lnTo>
                  <a:lnTo>
                    <a:pt x="52" y="25"/>
                  </a:lnTo>
                  <a:lnTo>
                    <a:pt x="54" y="25"/>
                  </a:lnTo>
                  <a:lnTo>
                    <a:pt x="54" y="27"/>
                  </a:lnTo>
                  <a:lnTo>
                    <a:pt x="56" y="27"/>
                  </a:lnTo>
                  <a:lnTo>
                    <a:pt x="56" y="29"/>
                  </a:lnTo>
                  <a:lnTo>
                    <a:pt x="56" y="29"/>
                  </a:lnTo>
                  <a:lnTo>
                    <a:pt x="58" y="31"/>
                  </a:lnTo>
                  <a:lnTo>
                    <a:pt x="58" y="33"/>
                  </a:lnTo>
                  <a:lnTo>
                    <a:pt x="58" y="34"/>
                  </a:lnTo>
                  <a:lnTo>
                    <a:pt x="58" y="36"/>
                  </a:lnTo>
                  <a:lnTo>
                    <a:pt x="58" y="38"/>
                  </a:lnTo>
                  <a:lnTo>
                    <a:pt x="58" y="38"/>
                  </a:lnTo>
                  <a:lnTo>
                    <a:pt x="61" y="40"/>
                  </a:lnTo>
                  <a:lnTo>
                    <a:pt x="61" y="42"/>
                  </a:lnTo>
                  <a:lnTo>
                    <a:pt x="61" y="44"/>
                  </a:lnTo>
                  <a:lnTo>
                    <a:pt x="63" y="46"/>
                  </a:lnTo>
                  <a:lnTo>
                    <a:pt x="65" y="46"/>
                  </a:lnTo>
                  <a:lnTo>
                    <a:pt x="65" y="48"/>
                  </a:lnTo>
                  <a:lnTo>
                    <a:pt x="65" y="50"/>
                  </a:lnTo>
                  <a:lnTo>
                    <a:pt x="65" y="50"/>
                  </a:lnTo>
                  <a:lnTo>
                    <a:pt x="65" y="54"/>
                  </a:lnTo>
                  <a:lnTo>
                    <a:pt x="65" y="54"/>
                  </a:lnTo>
                  <a:lnTo>
                    <a:pt x="69" y="59"/>
                  </a:lnTo>
                  <a:lnTo>
                    <a:pt x="69" y="61"/>
                  </a:lnTo>
                  <a:lnTo>
                    <a:pt x="71" y="63"/>
                  </a:lnTo>
                  <a:lnTo>
                    <a:pt x="73" y="63"/>
                  </a:lnTo>
                  <a:lnTo>
                    <a:pt x="73" y="63"/>
                  </a:lnTo>
                  <a:lnTo>
                    <a:pt x="75" y="65"/>
                  </a:lnTo>
                  <a:lnTo>
                    <a:pt x="77" y="67"/>
                  </a:lnTo>
                  <a:lnTo>
                    <a:pt x="79" y="67"/>
                  </a:lnTo>
                  <a:lnTo>
                    <a:pt x="79" y="67"/>
                  </a:lnTo>
                  <a:lnTo>
                    <a:pt x="79" y="65"/>
                  </a:lnTo>
                  <a:lnTo>
                    <a:pt x="81" y="65"/>
                  </a:lnTo>
                  <a:lnTo>
                    <a:pt x="81" y="65"/>
                  </a:lnTo>
                  <a:lnTo>
                    <a:pt x="81" y="65"/>
                  </a:lnTo>
                  <a:lnTo>
                    <a:pt x="82" y="65"/>
                  </a:lnTo>
                  <a:lnTo>
                    <a:pt x="82" y="65"/>
                  </a:lnTo>
                  <a:lnTo>
                    <a:pt x="84" y="65"/>
                  </a:lnTo>
                  <a:lnTo>
                    <a:pt x="84" y="65"/>
                  </a:lnTo>
                  <a:lnTo>
                    <a:pt x="86" y="67"/>
                  </a:lnTo>
                  <a:lnTo>
                    <a:pt x="86" y="69"/>
                  </a:lnTo>
                  <a:lnTo>
                    <a:pt x="86" y="71"/>
                  </a:lnTo>
                  <a:lnTo>
                    <a:pt x="86" y="73"/>
                  </a:lnTo>
                  <a:lnTo>
                    <a:pt x="86" y="76"/>
                  </a:lnTo>
                  <a:lnTo>
                    <a:pt x="86" y="78"/>
                  </a:lnTo>
                  <a:lnTo>
                    <a:pt x="86" y="78"/>
                  </a:lnTo>
                  <a:lnTo>
                    <a:pt x="86" y="78"/>
                  </a:lnTo>
                  <a:lnTo>
                    <a:pt x="88" y="78"/>
                  </a:lnTo>
                  <a:lnTo>
                    <a:pt x="90" y="78"/>
                  </a:lnTo>
                  <a:lnTo>
                    <a:pt x="90" y="80"/>
                  </a:lnTo>
                  <a:lnTo>
                    <a:pt x="92" y="80"/>
                  </a:lnTo>
                  <a:lnTo>
                    <a:pt x="98" y="88"/>
                  </a:lnTo>
                  <a:lnTo>
                    <a:pt x="100" y="88"/>
                  </a:lnTo>
                  <a:lnTo>
                    <a:pt x="100" y="88"/>
                  </a:lnTo>
                  <a:lnTo>
                    <a:pt x="100" y="90"/>
                  </a:lnTo>
                  <a:lnTo>
                    <a:pt x="100" y="90"/>
                  </a:lnTo>
                  <a:lnTo>
                    <a:pt x="98" y="90"/>
                  </a:lnTo>
                  <a:lnTo>
                    <a:pt x="84" y="92"/>
                  </a:lnTo>
                  <a:lnTo>
                    <a:pt x="81" y="90"/>
                  </a:lnTo>
                  <a:lnTo>
                    <a:pt x="79" y="90"/>
                  </a:lnTo>
                  <a:lnTo>
                    <a:pt x="77" y="90"/>
                  </a:lnTo>
                  <a:lnTo>
                    <a:pt x="77" y="90"/>
                  </a:lnTo>
                  <a:lnTo>
                    <a:pt x="73" y="90"/>
                  </a:lnTo>
                  <a:lnTo>
                    <a:pt x="73" y="90"/>
                  </a:lnTo>
                  <a:lnTo>
                    <a:pt x="71" y="90"/>
                  </a:lnTo>
                  <a:lnTo>
                    <a:pt x="71" y="92"/>
                  </a:lnTo>
                  <a:lnTo>
                    <a:pt x="71" y="92"/>
                  </a:lnTo>
                  <a:lnTo>
                    <a:pt x="69" y="95"/>
                  </a:lnTo>
                  <a:lnTo>
                    <a:pt x="69" y="97"/>
                  </a:lnTo>
                  <a:lnTo>
                    <a:pt x="69" y="97"/>
                  </a:lnTo>
                  <a:lnTo>
                    <a:pt x="67" y="99"/>
                  </a:lnTo>
                  <a:lnTo>
                    <a:pt x="67" y="99"/>
                  </a:lnTo>
                  <a:lnTo>
                    <a:pt x="67" y="99"/>
                  </a:lnTo>
                  <a:lnTo>
                    <a:pt x="63" y="101"/>
                  </a:lnTo>
                  <a:lnTo>
                    <a:pt x="61" y="101"/>
                  </a:lnTo>
                  <a:lnTo>
                    <a:pt x="61" y="101"/>
                  </a:lnTo>
                  <a:lnTo>
                    <a:pt x="61" y="101"/>
                  </a:lnTo>
                  <a:lnTo>
                    <a:pt x="60" y="103"/>
                  </a:lnTo>
                  <a:lnTo>
                    <a:pt x="60" y="103"/>
                  </a:lnTo>
                  <a:lnTo>
                    <a:pt x="60" y="103"/>
                  </a:lnTo>
                  <a:lnTo>
                    <a:pt x="60" y="103"/>
                  </a:lnTo>
                  <a:lnTo>
                    <a:pt x="60" y="103"/>
                  </a:lnTo>
                  <a:lnTo>
                    <a:pt x="60" y="103"/>
                  </a:lnTo>
                  <a:lnTo>
                    <a:pt x="60" y="101"/>
                  </a:lnTo>
                  <a:lnTo>
                    <a:pt x="58" y="101"/>
                  </a:lnTo>
                  <a:lnTo>
                    <a:pt x="58" y="101"/>
                  </a:lnTo>
                  <a:lnTo>
                    <a:pt x="58" y="99"/>
                  </a:lnTo>
                  <a:lnTo>
                    <a:pt x="58" y="99"/>
                  </a:lnTo>
                  <a:lnTo>
                    <a:pt x="58" y="99"/>
                  </a:lnTo>
                  <a:lnTo>
                    <a:pt x="56" y="101"/>
                  </a:lnTo>
                  <a:lnTo>
                    <a:pt x="56" y="101"/>
                  </a:lnTo>
                  <a:lnTo>
                    <a:pt x="56" y="101"/>
                  </a:lnTo>
                  <a:lnTo>
                    <a:pt x="56" y="105"/>
                  </a:lnTo>
                  <a:lnTo>
                    <a:pt x="56" y="105"/>
                  </a:lnTo>
                  <a:lnTo>
                    <a:pt x="56" y="107"/>
                  </a:lnTo>
                  <a:lnTo>
                    <a:pt x="56" y="109"/>
                  </a:lnTo>
                  <a:lnTo>
                    <a:pt x="56" y="109"/>
                  </a:lnTo>
                  <a:lnTo>
                    <a:pt x="58" y="109"/>
                  </a:lnTo>
                  <a:lnTo>
                    <a:pt x="60" y="111"/>
                  </a:lnTo>
                  <a:lnTo>
                    <a:pt x="60" y="111"/>
                  </a:lnTo>
                  <a:lnTo>
                    <a:pt x="61" y="111"/>
                  </a:lnTo>
                  <a:lnTo>
                    <a:pt x="61" y="109"/>
                  </a:lnTo>
                  <a:lnTo>
                    <a:pt x="63" y="109"/>
                  </a:lnTo>
                  <a:lnTo>
                    <a:pt x="63" y="109"/>
                  </a:lnTo>
                  <a:lnTo>
                    <a:pt x="63" y="109"/>
                  </a:lnTo>
                  <a:lnTo>
                    <a:pt x="63" y="109"/>
                  </a:lnTo>
                  <a:lnTo>
                    <a:pt x="65" y="109"/>
                  </a:lnTo>
                  <a:lnTo>
                    <a:pt x="65" y="109"/>
                  </a:lnTo>
                  <a:lnTo>
                    <a:pt x="67" y="109"/>
                  </a:lnTo>
                  <a:lnTo>
                    <a:pt x="69" y="112"/>
                  </a:lnTo>
                  <a:lnTo>
                    <a:pt x="71" y="112"/>
                  </a:lnTo>
                  <a:lnTo>
                    <a:pt x="73" y="114"/>
                  </a:lnTo>
                  <a:lnTo>
                    <a:pt x="79" y="114"/>
                  </a:lnTo>
                  <a:lnTo>
                    <a:pt x="81" y="116"/>
                  </a:lnTo>
                  <a:lnTo>
                    <a:pt x="81" y="116"/>
                  </a:lnTo>
                  <a:lnTo>
                    <a:pt x="81" y="116"/>
                  </a:lnTo>
                  <a:lnTo>
                    <a:pt x="81" y="118"/>
                  </a:lnTo>
                  <a:lnTo>
                    <a:pt x="79" y="122"/>
                  </a:lnTo>
                  <a:lnTo>
                    <a:pt x="79" y="122"/>
                  </a:lnTo>
                  <a:lnTo>
                    <a:pt x="79" y="122"/>
                  </a:lnTo>
                  <a:lnTo>
                    <a:pt x="79" y="124"/>
                  </a:lnTo>
                  <a:lnTo>
                    <a:pt x="81" y="126"/>
                  </a:lnTo>
                  <a:lnTo>
                    <a:pt x="81" y="128"/>
                  </a:lnTo>
                  <a:lnTo>
                    <a:pt x="81" y="128"/>
                  </a:lnTo>
                  <a:lnTo>
                    <a:pt x="79" y="128"/>
                  </a:lnTo>
                  <a:lnTo>
                    <a:pt x="77" y="128"/>
                  </a:lnTo>
                  <a:lnTo>
                    <a:pt x="77" y="128"/>
                  </a:lnTo>
                  <a:lnTo>
                    <a:pt x="75" y="128"/>
                  </a:lnTo>
                  <a:lnTo>
                    <a:pt x="75" y="128"/>
                  </a:lnTo>
                  <a:lnTo>
                    <a:pt x="73" y="128"/>
                  </a:lnTo>
                  <a:lnTo>
                    <a:pt x="73" y="128"/>
                  </a:lnTo>
                  <a:lnTo>
                    <a:pt x="73" y="130"/>
                  </a:lnTo>
                  <a:lnTo>
                    <a:pt x="71" y="130"/>
                  </a:lnTo>
                  <a:lnTo>
                    <a:pt x="71" y="130"/>
                  </a:lnTo>
                  <a:lnTo>
                    <a:pt x="65" y="130"/>
                  </a:lnTo>
                  <a:lnTo>
                    <a:pt x="63" y="131"/>
                  </a:lnTo>
                  <a:lnTo>
                    <a:pt x="63" y="131"/>
                  </a:lnTo>
                  <a:lnTo>
                    <a:pt x="63" y="131"/>
                  </a:lnTo>
                  <a:lnTo>
                    <a:pt x="63" y="131"/>
                  </a:lnTo>
                  <a:lnTo>
                    <a:pt x="61" y="131"/>
                  </a:lnTo>
                  <a:lnTo>
                    <a:pt x="61" y="133"/>
                  </a:lnTo>
                  <a:lnTo>
                    <a:pt x="61" y="133"/>
                  </a:lnTo>
                  <a:lnTo>
                    <a:pt x="61" y="135"/>
                  </a:lnTo>
                  <a:lnTo>
                    <a:pt x="63" y="135"/>
                  </a:lnTo>
                  <a:lnTo>
                    <a:pt x="65" y="137"/>
                  </a:lnTo>
                  <a:lnTo>
                    <a:pt x="67" y="139"/>
                  </a:lnTo>
                  <a:lnTo>
                    <a:pt x="69" y="147"/>
                  </a:lnTo>
                  <a:lnTo>
                    <a:pt x="69" y="147"/>
                  </a:lnTo>
                  <a:lnTo>
                    <a:pt x="71" y="147"/>
                  </a:lnTo>
                  <a:lnTo>
                    <a:pt x="73" y="147"/>
                  </a:lnTo>
                  <a:lnTo>
                    <a:pt x="73" y="147"/>
                  </a:lnTo>
                  <a:lnTo>
                    <a:pt x="75" y="149"/>
                  </a:lnTo>
                  <a:lnTo>
                    <a:pt x="77" y="149"/>
                  </a:lnTo>
                  <a:lnTo>
                    <a:pt x="77" y="150"/>
                  </a:lnTo>
                  <a:lnTo>
                    <a:pt x="79" y="150"/>
                  </a:lnTo>
                  <a:lnTo>
                    <a:pt x="79" y="152"/>
                  </a:lnTo>
                  <a:lnTo>
                    <a:pt x="79" y="154"/>
                  </a:lnTo>
                  <a:lnTo>
                    <a:pt x="81" y="154"/>
                  </a:lnTo>
                  <a:lnTo>
                    <a:pt x="81" y="154"/>
                  </a:lnTo>
                  <a:lnTo>
                    <a:pt x="82" y="154"/>
                  </a:lnTo>
                  <a:lnTo>
                    <a:pt x="82" y="156"/>
                  </a:lnTo>
                  <a:lnTo>
                    <a:pt x="84" y="160"/>
                  </a:lnTo>
                  <a:lnTo>
                    <a:pt x="84" y="160"/>
                  </a:lnTo>
                  <a:lnTo>
                    <a:pt x="84" y="162"/>
                  </a:lnTo>
                  <a:lnTo>
                    <a:pt x="86" y="162"/>
                  </a:lnTo>
                  <a:lnTo>
                    <a:pt x="88" y="164"/>
                  </a:lnTo>
                  <a:lnTo>
                    <a:pt x="88" y="164"/>
                  </a:lnTo>
                  <a:lnTo>
                    <a:pt x="90" y="164"/>
                  </a:lnTo>
                  <a:lnTo>
                    <a:pt x="94" y="162"/>
                  </a:lnTo>
                  <a:lnTo>
                    <a:pt x="96" y="162"/>
                  </a:lnTo>
                  <a:lnTo>
                    <a:pt x="98" y="162"/>
                  </a:lnTo>
                  <a:lnTo>
                    <a:pt x="98" y="164"/>
                  </a:lnTo>
                  <a:lnTo>
                    <a:pt x="100" y="164"/>
                  </a:lnTo>
                  <a:lnTo>
                    <a:pt x="101" y="166"/>
                  </a:lnTo>
                  <a:lnTo>
                    <a:pt x="101" y="168"/>
                  </a:lnTo>
                  <a:lnTo>
                    <a:pt x="101" y="168"/>
                  </a:lnTo>
                  <a:lnTo>
                    <a:pt x="105" y="170"/>
                  </a:lnTo>
                  <a:lnTo>
                    <a:pt x="107" y="170"/>
                  </a:lnTo>
                  <a:lnTo>
                    <a:pt x="109" y="170"/>
                  </a:lnTo>
                  <a:lnTo>
                    <a:pt x="111" y="170"/>
                  </a:lnTo>
                  <a:lnTo>
                    <a:pt x="113" y="171"/>
                  </a:lnTo>
                  <a:lnTo>
                    <a:pt x="119" y="177"/>
                  </a:lnTo>
                  <a:lnTo>
                    <a:pt x="119" y="177"/>
                  </a:lnTo>
                  <a:lnTo>
                    <a:pt x="121" y="179"/>
                  </a:lnTo>
                  <a:lnTo>
                    <a:pt x="119" y="179"/>
                  </a:lnTo>
                  <a:lnTo>
                    <a:pt x="119" y="181"/>
                  </a:lnTo>
                  <a:lnTo>
                    <a:pt x="119" y="183"/>
                  </a:lnTo>
                  <a:lnTo>
                    <a:pt x="119" y="183"/>
                  </a:lnTo>
                  <a:lnTo>
                    <a:pt x="117" y="183"/>
                  </a:lnTo>
                  <a:lnTo>
                    <a:pt x="113" y="187"/>
                  </a:lnTo>
                  <a:lnTo>
                    <a:pt x="113" y="187"/>
                  </a:lnTo>
                  <a:lnTo>
                    <a:pt x="111" y="187"/>
                  </a:lnTo>
                  <a:lnTo>
                    <a:pt x="109" y="187"/>
                  </a:lnTo>
                  <a:lnTo>
                    <a:pt x="107" y="187"/>
                  </a:lnTo>
                  <a:lnTo>
                    <a:pt x="107" y="187"/>
                  </a:lnTo>
                  <a:lnTo>
                    <a:pt x="105" y="187"/>
                  </a:lnTo>
                  <a:lnTo>
                    <a:pt x="103" y="185"/>
                  </a:lnTo>
                  <a:lnTo>
                    <a:pt x="101" y="185"/>
                  </a:lnTo>
                  <a:lnTo>
                    <a:pt x="100" y="181"/>
                  </a:lnTo>
                  <a:lnTo>
                    <a:pt x="98" y="181"/>
                  </a:lnTo>
                  <a:lnTo>
                    <a:pt x="96" y="181"/>
                  </a:lnTo>
                  <a:lnTo>
                    <a:pt x="94" y="181"/>
                  </a:lnTo>
                  <a:lnTo>
                    <a:pt x="94" y="183"/>
                  </a:lnTo>
                  <a:lnTo>
                    <a:pt x="92" y="183"/>
                  </a:lnTo>
                  <a:lnTo>
                    <a:pt x="92" y="185"/>
                  </a:lnTo>
                  <a:lnTo>
                    <a:pt x="94" y="189"/>
                  </a:lnTo>
                  <a:lnTo>
                    <a:pt x="94" y="189"/>
                  </a:lnTo>
                  <a:lnTo>
                    <a:pt x="94" y="189"/>
                  </a:lnTo>
                  <a:lnTo>
                    <a:pt x="94" y="190"/>
                  </a:lnTo>
                  <a:lnTo>
                    <a:pt x="94" y="190"/>
                  </a:lnTo>
                  <a:lnTo>
                    <a:pt x="94" y="190"/>
                  </a:lnTo>
                  <a:lnTo>
                    <a:pt x="94" y="192"/>
                  </a:lnTo>
                  <a:lnTo>
                    <a:pt x="92" y="192"/>
                  </a:lnTo>
                  <a:lnTo>
                    <a:pt x="92" y="192"/>
                  </a:lnTo>
                  <a:lnTo>
                    <a:pt x="90" y="192"/>
                  </a:lnTo>
                  <a:lnTo>
                    <a:pt x="88" y="192"/>
                  </a:lnTo>
                  <a:lnTo>
                    <a:pt x="86" y="192"/>
                  </a:lnTo>
                  <a:lnTo>
                    <a:pt x="86" y="192"/>
                  </a:lnTo>
                  <a:lnTo>
                    <a:pt x="86" y="192"/>
                  </a:lnTo>
                  <a:lnTo>
                    <a:pt x="84" y="192"/>
                  </a:lnTo>
                  <a:lnTo>
                    <a:pt x="84" y="192"/>
                  </a:lnTo>
                  <a:lnTo>
                    <a:pt x="84" y="192"/>
                  </a:lnTo>
                  <a:lnTo>
                    <a:pt x="84" y="190"/>
                  </a:lnTo>
                  <a:lnTo>
                    <a:pt x="84" y="190"/>
                  </a:lnTo>
                  <a:lnTo>
                    <a:pt x="82" y="190"/>
                  </a:lnTo>
                  <a:lnTo>
                    <a:pt x="82" y="190"/>
                  </a:lnTo>
                  <a:lnTo>
                    <a:pt x="82" y="189"/>
                  </a:lnTo>
                  <a:lnTo>
                    <a:pt x="82" y="189"/>
                  </a:lnTo>
                  <a:lnTo>
                    <a:pt x="82" y="189"/>
                  </a:lnTo>
                  <a:lnTo>
                    <a:pt x="82" y="187"/>
                  </a:lnTo>
                  <a:lnTo>
                    <a:pt x="82" y="187"/>
                  </a:lnTo>
                  <a:lnTo>
                    <a:pt x="82" y="185"/>
                  </a:lnTo>
                  <a:lnTo>
                    <a:pt x="82" y="185"/>
                  </a:lnTo>
                  <a:lnTo>
                    <a:pt x="81" y="183"/>
                  </a:lnTo>
                  <a:lnTo>
                    <a:pt x="77" y="183"/>
                  </a:lnTo>
                  <a:lnTo>
                    <a:pt x="69" y="190"/>
                  </a:lnTo>
                  <a:lnTo>
                    <a:pt x="63" y="196"/>
                  </a:lnTo>
                  <a:lnTo>
                    <a:pt x="61" y="198"/>
                  </a:lnTo>
                  <a:lnTo>
                    <a:pt x="56" y="202"/>
                  </a:lnTo>
                  <a:lnTo>
                    <a:pt x="54" y="204"/>
                  </a:lnTo>
                  <a:lnTo>
                    <a:pt x="54" y="204"/>
                  </a:lnTo>
                  <a:lnTo>
                    <a:pt x="52" y="206"/>
                  </a:lnTo>
                  <a:lnTo>
                    <a:pt x="50" y="208"/>
                  </a:lnTo>
                  <a:lnTo>
                    <a:pt x="46" y="209"/>
                  </a:lnTo>
                  <a:lnTo>
                    <a:pt x="46" y="209"/>
                  </a:lnTo>
                  <a:lnTo>
                    <a:pt x="44" y="209"/>
                  </a:lnTo>
                  <a:lnTo>
                    <a:pt x="44" y="211"/>
                  </a:lnTo>
                  <a:lnTo>
                    <a:pt x="42" y="213"/>
                  </a:lnTo>
                  <a:lnTo>
                    <a:pt x="33" y="219"/>
                  </a:lnTo>
                  <a:lnTo>
                    <a:pt x="20" y="227"/>
                  </a:lnTo>
                  <a:lnTo>
                    <a:pt x="18" y="227"/>
                  </a:lnTo>
                  <a:lnTo>
                    <a:pt x="16" y="230"/>
                  </a:lnTo>
                  <a:lnTo>
                    <a:pt x="14" y="230"/>
                  </a:lnTo>
                  <a:lnTo>
                    <a:pt x="10" y="232"/>
                  </a:lnTo>
                  <a:lnTo>
                    <a:pt x="6" y="234"/>
                  </a:lnTo>
                  <a:lnTo>
                    <a:pt x="4" y="236"/>
                  </a:lnTo>
                  <a:lnTo>
                    <a:pt x="4" y="236"/>
                  </a:lnTo>
                  <a:lnTo>
                    <a:pt x="2" y="238"/>
                  </a:lnTo>
                  <a:lnTo>
                    <a:pt x="2" y="240"/>
                  </a:lnTo>
                  <a:lnTo>
                    <a:pt x="2" y="240"/>
                  </a:lnTo>
                  <a:lnTo>
                    <a:pt x="2" y="242"/>
                  </a:lnTo>
                  <a:lnTo>
                    <a:pt x="0" y="244"/>
                  </a:lnTo>
                  <a:lnTo>
                    <a:pt x="0" y="249"/>
                  </a:lnTo>
                  <a:lnTo>
                    <a:pt x="0" y="251"/>
                  </a:lnTo>
                  <a:lnTo>
                    <a:pt x="0" y="251"/>
                  </a:lnTo>
                  <a:lnTo>
                    <a:pt x="0" y="253"/>
                  </a:lnTo>
                  <a:lnTo>
                    <a:pt x="2" y="255"/>
                  </a:lnTo>
                  <a:lnTo>
                    <a:pt x="4" y="257"/>
                  </a:lnTo>
                  <a:lnTo>
                    <a:pt x="4" y="259"/>
                  </a:lnTo>
                  <a:lnTo>
                    <a:pt x="4" y="259"/>
                  </a:lnTo>
                  <a:lnTo>
                    <a:pt x="4" y="263"/>
                  </a:lnTo>
                  <a:lnTo>
                    <a:pt x="4" y="267"/>
                  </a:lnTo>
                  <a:lnTo>
                    <a:pt x="4" y="267"/>
                  </a:lnTo>
                  <a:lnTo>
                    <a:pt x="4" y="268"/>
                  </a:lnTo>
                  <a:lnTo>
                    <a:pt x="4" y="268"/>
                  </a:lnTo>
                  <a:lnTo>
                    <a:pt x="4" y="270"/>
                  </a:lnTo>
                  <a:lnTo>
                    <a:pt x="4" y="272"/>
                  </a:lnTo>
                  <a:lnTo>
                    <a:pt x="4" y="272"/>
                  </a:lnTo>
                  <a:lnTo>
                    <a:pt x="6" y="274"/>
                  </a:lnTo>
                  <a:lnTo>
                    <a:pt x="6" y="274"/>
                  </a:lnTo>
                  <a:lnTo>
                    <a:pt x="8" y="276"/>
                  </a:lnTo>
                  <a:lnTo>
                    <a:pt x="8" y="276"/>
                  </a:lnTo>
                  <a:lnTo>
                    <a:pt x="10" y="278"/>
                  </a:lnTo>
                  <a:lnTo>
                    <a:pt x="10" y="280"/>
                  </a:lnTo>
                  <a:lnTo>
                    <a:pt x="12" y="280"/>
                  </a:lnTo>
                  <a:lnTo>
                    <a:pt x="14" y="282"/>
                  </a:lnTo>
                  <a:lnTo>
                    <a:pt x="14" y="282"/>
                  </a:lnTo>
                  <a:lnTo>
                    <a:pt x="18" y="284"/>
                  </a:lnTo>
                  <a:lnTo>
                    <a:pt x="20" y="284"/>
                  </a:lnTo>
                  <a:lnTo>
                    <a:pt x="20" y="284"/>
                  </a:lnTo>
                  <a:lnTo>
                    <a:pt x="20" y="286"/>
                  </a:lnTo>
                  <a:lnTo>
                    <a:pt x="20" y="287"/>
                  </a:lnTo>
                  <a:lnTo>
                    <a:pt x="20" y="289"/>
                  </a:lnTo>
                  <a:lnTo>
                    <a:pt x="18" y="291"/>
                  </a:lnTo>
                  <a:lnTo>
                    <a:pt x="18" y="293"/>
                  </a:lnTo>
                  <a:lnTo>
                    <a:pt x="18" y="293"/>
                  </a:lnTo>
                  <a:lnTo>
                    <a:pt x="20" y="295"/>
                  </a:lnTo>
                  <a:lnTo>
                    <a:pt x="20" y="297"/>
                  </a:lnTo>
                  <a:lnTo>
                    <a:pt x="20" y="297"/>
                  </a:lnTo>
                  <a:lnTo>
                    <a:pt x="20" y="301"/>
                  </a:lnTo>
                  <a:lnTo>
                    <a:pt x="20" y="303"/>
                  </a:lnTo>
                  <a:lnTo>
                    <a:pt x="20" y="306"/>
                  </a:lnTo>
                  <a:lnTo>
                    <a:pt x="21" y="306"/>
                  </a:lnTo>
                  <a:lnTo>
                    <a:pt x="29" y="308"/>
                  </a:lnTo>
                  <a:lnTo>
                    <a:pt x="35" y="308"/>
                  </a:lnTo>
                  <a:lnTo>
                    <a:pt x="41" y="308"/>
                  </a:lnTo>
                  <a:lnTo>
                    <a:pt x="42" y="308"/>
                  </a:lnTo>
                  <a:lnTo>
                    <a:pt x="44" y="306"/>
                  </a:lnTo>
                  <a:lnTo>
                    <a:pt x="46" y="305"/>
                  </a:lnTo>
                  <a:lnTo>
                    <a:pt x="46" y="305"/>
                  </a:lnTo>
                  <a:lnTo>
                    <a:pt x="48" y="306"/>
                  </a:lnTo>
                  <a:lnTo>
                    <a:pt x="50" y="306"/>
                  </a:lnTo>
                  <a:lnTo>
                    <a:pt x="50" y="306"/>
                  </a:lnTo>
                  <a:lnTo>
                    <a:pt x="52" y="305"/>
                  </a:lnTo>
                  <a:lnTo>
                    <a:pt x="56" y="305"/>
                  </a:lnTo>
                  <a:lnTo>
                    <a:pt x="58" y="305"/>
                  </a:lnTo>
                  <a:lnTo>
                    <a:pt x="60" y="303"/>
                  </a:lnTo>
                  <a:lnTo>
                    <a:pt x="60" y="301"/>
                  </a:lnTo>
                  <a:lnTo>
                    <a:pt x="61" y="301"/>
                  </a:lnTo>
                  <a:lnTo>
                    <a:pt x="61" y="301"/>
                  </a:lnTo>
                  <a:lnTo>
                    <a:pt x="63" y="301"/>
                  </a:lnTo>
                  <a:lnTo>
                    <a:pt x="63" y="299"/>
                  </a:lnTo>
                  <a:lnTo>
                    <a:pt x="63" y="299"/>
                  </a:lnTo>
                  <a:lnTo>
                    <a:pt x="63" y="295"/>
                  </a:lnTo>
                  <a:lnTo>
                    <a:pt x="65" y="295"/>
                  </a:lnTo>
                  <a:lnTo>
                    <a:pt x="65" y="295"/>
                  </a:lnTo>
                  <a:lnTo>
                    <a:pt x="65" y="295"/>
                  </a:lnTo>
                  <a:lnTo>
                    <a:pt x="67" y="297"/>
                  </a:lnTo>
                  <a:lnTo>
                    <a:pt x="71" y="303"/>
                  </a:lnTo>
                  <a:lnTo>
                    <a:pt x="73" y="308"/>
                  </a:lnTo>
                  <a:lnTo>
                    <a:pt x="73" y="310"/>
                  </a:lnTo>
                  <a:lnTo>
                    <a:pt x="75" y="312"/>
                  </a:lnTo>
                  <a:lnTo>
                    <a:pt x="75" y="312"/>
                  </a:lnTo>
                  <a:lnTo>
                    <a:pt x="77" y="312"/>
                  </a:lnTo>
                  <a:lnTo>
                    <a:pt x="77" y="312"/>
                  </a:lnTo>
                  <a:lnTo>
                    <a:pt x="77" y="310"/>
                  </a:lnTo>
                  <a:lnTo>
                    <a:pt x="77" y="310"/>
                  </a:lnTo>
                  <a:lnTo>
                    <a:pt x="77" y="308"/>
                  </a:lnTo>
                  <a:lnTo>
                    <a:pt x="77" y="308"/>
                  </a:lnTo>
                  <a:lnTo>
                    <a:pt x="77" y="308"/>
                  </a:lnTo>
                  <a:lnTo>
                    <a:pt x="79" y="308"/>
                  </a:lnTo>
                  <a:lnTo>
                    <a:pt x="79" y="308"/>
                  </a:lnTo>
                  <a:lnTo>
                    <a:pt x="79" y="310"/>
                  </a:lnTo>
                  <a:lnTo>
                    <a:pt x="79" y="310"/>
                  </a:lnTo>
                  <a:lnTo>
                    <a:pt x="79" y="312"/>
                  </a:lnTo>
                  <a:lnTo>
                    <a:pt x="81" y="312"/>
                  </a:lnTo>
                  <a:lnTo>
                    <a:pt x="81" y="312"/>
                  </a:lnTo>
                  <a:lnTo>
                    <a:pt x="81" y="310"/>
                  </a:lnTo>
                  <a:lnTo>
                    <a:pt x="81" y="310"/>
                  </a:lnTo>
                  <a:lnTo>
                    <a:pt x="81" y="308"/>
                  </a:lnTo>
                  <a:lnTo>
                    <a:pt x="81" y="308"/>
                  </a:lnTo>
                  <a:lnTo>
                    <a:pt x="82" y="306"/>
                  </a:lnTo>
                  <a:lnTo>
                    <a:pt x="82" y="306"/>
                  </a:lnTo>
                  <a:lnTo>
                    <a:pt x="84" y="306"/>
                  </a:lnTo>
                  <a:lnTo>
                    <a:pt x="84" y="306"/>
                  </a:lnTo>
                  <a:lnTo>
                    <a:pt x="86" y="306"/>
                  </a:lnTo>
                  <a:lnTo>
                    <a:pt x="86" y="306"/>
                  </a:lnTo>
                  <a:lnTo>
                    <a:pt x="86" y="306"/>
                  </a:lnTo>
                  <a:lnTo>
                    <a:pt x="88" y="308"/>
                  </a:lnTo>
                  <a:lnTo>
                    <a:pt x="88" y="308"/>
                  </a:lnTo>
                  <a:lnTo>
                    <a:pt x="88" y="306"/>
                  </a:lnTo>
                  <a:lnTo>
                    <a:pt x="90" y="306"/>
                  </a:lnTo>
                  <a:lnTo>
                    <a:pt x="90" y="306"/>
                  </a:lnTo>
                  <a:lnTo>
                    <a:pt x="92" y="306"/>
                  </a:lnTo>
                  <a:lnTo>
                    <a:pt x="92" y="306"/>
                  </a:lnTo>
                  <a:lnTo>
                    <a:pt x="94" y="308"/>
                  </a:lnTo>
                  <a:lnTo>
                    <a:pt x="94" y="312"/>
                  </a:lnTo>
                  <a:lnTo>
                    <a:pt x="92" y="312"/>
                  </a:lnTo>
                  <a:lnTo>
                    <a:pt x="92" y="314"/>
                  </a:lnTo>
                  <a:lnTo>
                    <a:pt x="92" y="316"/>
                  </a:lnTo>
                  <a:lnTo>
                    <a:pt x="94" y="318"/>
                  </a:lnTo>
                  <a:lnTo>
                    <a:pt x="96" y="320"/>
                  </a:lnTo>
                  <a:lnTo>
                    <a:pt x="98" y="320"/>
                  </a:lnTo>
                  <a:lnTo>
                    <a:pt x="98" y="322"/>
                  </a:lnTo>
                  <a:lnTo>
                    <a:pt x="101" y="324"/>
                  </a:lnTo>
                  <a:lnTo>
                    <a:pt x="103" y="325"/>
                  </a:lnTo>
                  <a:lnTo>
                    <a:pt x="103" y="325"/>
                  </a:lnTo>
                  <a:lnTo>
                    <a:pt x="105" y="327"/>
                  </a:lnTo>
                  <a:lnTo>
                    <a:pt x="105" y="327"/>
                  </a:lnTo>
                  <a:lnTo>
                    <a:pt x="107" y="329"/>
                  </a:lnTo>
                  <a:lnTo>
                    <a:pt x="107" y="329"/>
                  </a:lnTo>
                  <a:lnTo>
                    <a:pt x="109" y="329"/>
                  </a:lnTo>
                  <a:lnTo>
                    <a:pt x="109" y="329"/>
                  </a:lnTo>
                  <a:lnTo>
                    <a:pt x="111" y="329"/>
                  </a:lnTo>
                  <a:lnTo>
                    <a:pt x="113" y="327"/>
                  </a:lnTo>
                  <a:lnTo>
                    <a:pt x="113" y="325"/>
                  </a:lnTo>
                  <a:lnTo>
                    <a:pt x="113" y="325"/>
                  </a:lnTo>
                  <a:lnTo>
                    <a:pt x="113" y="324"/>
                  </a:lnTo>
                  <a:lnTo>
                    <a:pt x="117" y="322"/>
                  </a:lnTo>
                  <a:lnTo>
                    <a:pt x="117" y="322"/>
                  </a:lnTo>
                  <a:lnTo>
                    <a:pt x="117" y="320"/>
                  </a:lnTo>
                  <a:lnTo>
                    <a:pt x="117" y="320"/>
                  </a:lnTo>
                  <a:lnTo>
                    <a:pt x="119" y="320"/>
                  </a:lnTo>
                  <a:lnTo>
                    <a:pt x="119" y="322"/>
                  </a:lnTo>
                  <a:lnTo>
                    <a:pt x="121" y="322"/>
                  </a:lnTo>
                  <a:lnTo>
                    <a:pt x="121" y="322"/>
                  </a:lnTo>
                  <a:lnTo>
                    <a:pt x="122" y="322"/>
                  </a:lnTo>
                  <a:lnTo>
                    <a:pt x="124" y="322"/>
                  </a:lnTo>
                  <a:lnTo>
                    <a:pt x="124" y="322"/>
                  </a:lnTo>
                  <a:lnTo>
                    <a:pt x="126" y="318"/>
                  </a:lnTo>
                  <a:lnTo>
                    <a:pt x="126" y="316"/>
                  </a:lnTo>
                  <a:lnTo>
                    <a:pt x="128" y="316"/>
                  </a:lnTo>
                  <a:lnTo>
                    <a:pt x="132" y="312"/>
                  </a:lnTo>
                  <a:lnTo>
                    <a:pt x="134" y="312"/>
                  </a:lnTo>
                  <a:lnTo>
                    <a:pt x="136" y="310"/>
                  </a:lnTo>
                  <a:lnTo>
                    <a:pt x="136" y="310"/>
                  </a:lnTo>
                  <a:lnTo>
                    <a:pt x="138" y="310"/>
                  </a:lnTo>
                  <a:lnTo>
                    <a:pt x="138" y="310"/>
                  </a:lnTo>
                  <a:lnTo>
                    <a:pt x="140" y="310"/>
                  </a:lnTo>
                  <a:lnTo>
                    <a:pt x="140" y="316"/>
                  </a:lnTo>
                  <a:lnTo>
                    <a:pt x="142" y="316"/>
                  </a:lnTo>
                  <a:lnTo>
                    <a:pt x="143" y="316"/>
                  </a:lnTo>
                  <a:lnTo>
                    <a:pt x="143" y="316"/>
                  </a:lnTo>
                  <a:lnTo>
                    <a:pt x="143" y="316"/>
                  </a:lnTo>
                  <a:lnTo>
                    <a:pt x="143" y="316"/>
                  </a:lnTo>
                  <a:lnTo>
                    <a:pt x="145" y="322"/>
                  </a:lnTo>
                  <a:lnTo>
                    <a:pt x="145" y="324"/>
                  </a:lnTo>
                  <a:lnTo>
                    <a:pt x="147" y="324"/>
                  </a:lnTo>
                  <a:lnTo>
                    <a:pt x="151" y="325"/>
                  </a:lnTo>
                  <a:lnTo>
                    <a:pt x="153" y="324"/>
                  </a:lnTo>
                  <a:lnTo>
                    <a:pt x="155" y="324"/>
                  </a:lnTo>
                  <a:lnTo>
                    <a:pt x="157" y="322"/>
                  </a:lnTo>
                  <a:lnTo>
                    <a:pt x="162" y="320"/>
                  </a:lnTo>
                  <a:lnTo>
                    <a:pt x="164" y="320"/>
                  </a:lnTo>
                  <a:lnTo>
                    <a:pt x="164" y="322"/>
                  </a:lnTo>
                  <a:lnTo>
                    <a:pt x="162" y="324"/>
                  </a:lnTo>
                  <a:lnTo>
                    <a:pt x="162" y="325"/>
                  </a:lnTo>
                  <a:lnTo>
                    <a:pt x="164" y="325"/>
                  </a:lnTo>
                  <a:lnTo>
                    <a:pt x="164" y="325"/>
                  </a:lnTo>
                  <a:lnTo>
                    <a:pt x="168" y="322"/>
                  </a:lnTo>
                  <a:lnTo>
                    <a:pt x="170" y="320"/>
                  </a:lnTo>
                  <a:lnTo>
                    <a:pt x="170" y="320"/>
                  </a:lnTo>
                  <a:lnTo>
                    <a:pt x="170" y="320"/>
                  </a:lnTo>
                  <a:lnTo>
                    <a:pt x="170" y="318"/>
                  </a:lnTo>
                  <a:lnTo>
                    <a:pt x="170" y="318"/>
                  </a:lnTo>
                  <a:lnTo>
                    <a:pt x="172" y="316"/>
                  </a:lnTo>
                  <a:lnTo>
                    <a:pt x="180" y="314"/>
                  </a:lnTo>
                  <a:lnTo>
                    <a:pt x="180" y="312"/>
                  </a:lnTo>
                  <a:lnTo>
                    <a:pt x="182" y="312"/>
                  </a:lnTo>
                  <a:lnTo>
                    <a:pt x="182" y="312"/>
                  </a:lnTo>
                  <a:lnTo>
                    <a:pt x="182" y="310"/>
                  </a:lnTo>
                  <a:lnTo>
                    <a:pt x="183" y="310"/>
                  </a:lnTo>
                  <a:lnTo>
                    <a:pt x="189" y="310"/>
                  </a:lnTo>
                  <a:lnTo>
                    <a:pt x="191" y="308"/>
                  </a:lnTo>
                  <a:lnTo>
                    <a:pt x="197" y="308"/>
                  </a:lnTo>
                  <a:lnTo>
                    <a:pt x="199" y="308"/>
                  </a:lnTo>
                  <a:lnTo>
                    <a:pt x="201" y="308"/>
                  </a:lnTo>
                  <a:lnTo>
                    <a:pt x="201" y="308"/>
                  </a:lnTo>
                  <a:lnTo>
                    <a:pt x="202" y="308"/>
                  </a:lnTo>
                  <a:lnTo>
                    <a:pt x="202" y="310"/>
                  </a:lnTo>
                  <a:lnTo>
                    <a:pt x="204" y="308"/>
                  </a:lnTo>
                  <a:lnTo>
                    <a:pt x="206" y="306"/>
                  </a:lnTo>
                  <a:lnTo>
                    <a:pt x="206" y="306"/>
                  </a:lnTo>
                  <a:lnTo>
                    <a:pt x="208" y="305"/>
                  </a:lnTo>
                  <a:lnTo>
                    <a:pt x="208" y="305"/>
                  </a:lnTo>
                  <a:lnTo>
                    <a:pt x="208" y="303"/>
                  </a:lnTo>
                  <a:lnTo>
                    <a:pt x="210" y="303"/>
                  </a:lnTo>
                  <a:lnTo>
                    <a:pt x="212" y="305"/>
                  </a:lnTo>
                  <a:lnTo>
                    <a:pt x="212" y="305"/>
                  </a:lnTo>
                  <a:lnTo>
                    <a:pt x="216" y="305"/>
                  </a:lnTo>
                  <a:lnTo>
                    <a:pt x="216" y="303"/>
                  </a:lnTo>
                  <a:lnTo>
                    <a:pt x="216" y="303"/>
                  </a:lnTo>
                  <a:lnTo>
                    <a:pt x="216" y="299"/>
                  </a:lnTo>
                  <a:lnTo>
                    <a:pt x="216" y="297"/>
                  </a:lnTo>
                  <a:lnTo>
                    <a:pt x="216" y="297"/>
                  </a:lnTo>
                  <a:lnTo>
                    <a:pt x="216" y="295"/>
                  </a:lnTo>
                  <a:lnTo>
                    <a:pt x="216" y="295"/>
                  </a:lnTo>
                  <a:lnTo>
                    <a:pt x="216" y="295"/>
                  </a:lnTo>
                  <a:lnTo>
                    <a:pt x="216" y="293"/>
                  </a:lnTo>
                  <a:lnTo>
                    <a:pt x="218" y="293"/>
                  </a:lnTo>
                  <a:lnTo>
                    <a:pt x="220" y="293"/>
                  </a:lnTo>
                  <a:lnTo>
                    <a:pt x="220" y="291"/>
                  </a:lnTo>
                  <a:lnTo>
                    <a:pt x="220" y="287"/>
                  </a:lnTo>
                  <a:lnTo>
                    <a:pt x="220" y="287"/>
                  </a:lnTo>
                  <a:lnTo>
                    <a:pt x="222" y="286"/>
                  </a:lnTo>
                  <a:lnTo>
                    <a:pt x="222" y="284"/>
                  </a:lnTo>
                  <a:lnTo>
                    <a:pt x="223" y="282"/>
                  </a:lnTo>
                  <a:lnTo>
                    <a:pt x="223" y="282"/>
                  </a:lnTo>
                  <a:lnTo>
                    <a:pt x="233" y="282"/>
                  </a:lnTo>
                  <a:lnTo>
                    <a:pt x="233" y="282"/>
                  </a:lnTo>
                  <a:lnTo>
                    <a:pt x="235" y="284"/>
                  </a:lnTo>
                  <a:lnTo>
                    <a:pt x="239" y="289"/>
                  </a:lnTo>
                  <a:lnTo>
                    <a:pt x="244" y="289"/>
                  </a:lnTo>
                  <a:lnTo>
                    <a:pt x="248" y="286"/>
                  </a:lnTo>
                  <a:lnTo>
                    <a:pt x="250" y="286"/>
                  </a:lnTo>
                  <a:lnTo>
                    <a:pt x="252" y="284"/>
                  </a:lnTo>
                  <a:lnTo>
                    <a:pt x="252" y="286"/>
                  </a:lnTo>
                  <a:lnTo>
                    <a:pt x="252" y="286"/>
                  </a:lnTo>
                  <a:lnTo>
                    <a:pt x="252" y="287"/>
                  </a:lnTo>
                  <a:lnTo>
                    <a:pt x="250" y="287"/>
                  </a:lnTo>
                  <a:lnTo>
                    <a:pt x="252" y="287"/>
                  </a:lnTo>
                  <a:lnTo>
                    <a:pt x="252" y="287"/>
                  </a:lnTo>
                  <a:lnTo>
                    <a:pt x="254" y="289"/>
                  </a:lnTo>
                  <a:lnTo>
                    <a:pt x="256" y="289"/>
                  </a:lnTo>
                  <a:lnTo>
                    <a:pt x="258" y="289"/>
                  </a:lnTo>
                  <a:lnTo>
                    <a:pt x="258" y="291"/>
                  </a:lnTo>
                  <a:lnTo>
                    <a:pt x="258" y="299"/>
                  </a:lnTo>
                  <a:lnTo>
                    <a:pt x="260" y="301"/>
                  </a:lnTo>
                  <a:lnTo>
                    <a:pt x="260" y="303"/>
                  </a:lnTo>
                  <a:lnTo>
                    <a:pt x="262" y="305"/>
                  </a:lnTo>
                  <a:lnTo>
                    <a:pt x="263" y="305"/>
                  </a:lnTo>
                  <a:lnTo>
                    <a:pt x="265" y="305"/>
                  </a:lnTo>
                  <a:lnTo>
                    <a:pt x="267" y="303"/>
                  </a:lnTo>
                  <a:lnTo>
                    <a:pt x="269" y="303"/>
                  </a:lnTo>
                  <a:lnTo>
                    <a:pt x="271" y="305"/>
                  </a:lnTo>
                  <a:lnTo>
                    <a:pt x="275" y="305"/>
                  </a:lnTo>
                  <a:lnTo>
                    <a:pt x="275" y="305"/>
                  </a:lnTo>
                  <a:lnTo>
                    <a:pt x="275" y="306"/>
                  </a:lnTo>
                  <a:lnTo>
                    <a:pt x="277" y="310"/>
                  </a:lnTo>
                  <a:lnTo>
                    <a:pt x="275" y="310"/>
                  </a:lnTo>
                  <a:lnTo>
                    <a:pt x="275" y="312"/>
                  </a:lnTo>
                  <a:lnTo>
                    <a:pt x="273" y="314"/>
                  </a:lnTo>
                  <a:lnTo>
                    <a:pt x="273" y="314"/>
                  </a:lnTo>
                  <a:lnTo>
                    <a:pt x="273" y="316"/>
                  </a:lnTo>
                  <a:lnTo>
                    <a:pt x="281" y="320"/>
                  </a:lnTo>
                  <a:lnTo>
                    <a:pt x="286" y="324"/>
                  </a:lnTo>
                  <a:lnTo>
                    <a:pt x="288" y="325"/>
                  </a:lnTo>
                  <a:lnTo>
                    <a:pt x="290" y="325"/>
                  </a:lnTo>
                  <a:lnTo>
                    <a:pt x="290" y="324"/>
                  </a:lnTo>
                  <a:lnTo>
                    <a:pt x="290" y="324"/>
                  </a:lnTo>
                  <a:lnTo>
                    <a:pt x="290" y="322"/>
                  </a:lnTo>
                  <a:lnTo>
                    <a:pt x="290" y="322"/>
                  </a:lnTo>
                  <a:lnTo>
                    <a:pt x="290" y="320"/>
                  </a:lnTo>
                  <a:lnTo>
                    <a:pt x="290" y="320"/>
                  </a:lnTo>
                  <a:lnTo>
                    <a:pt x="292" y="320"/>
                  </a:lnTo>
                  <a:lnTo>
                    <a:pt x="292" y="318"/>
                  </a:lnTo>
                  <a:lnTo>
                    <a:pt x="292" y="314"/>
                  </a:lnTo>
                  <a:lnTo>
                    <a:pt x="294" y="312"/>
                  </a:lnTo>
                  <a:lnTo>
                    <a:pt x="294" y="310"/>
                  </a:lnTo>
                  <a:lnTo>
                    <a:pt x="298" y="308"/>
                  </a:lnTo>
                  <a:lnTo>
                    <a:pt x="302" y="303"/>
                  </a:lnTo>
                  <a:lnTo>
                    <a:pt x="303" y="303"/>
                  </a:lnTo>
                  <a:lnTo>
                    <a:pt x="305" y="305"/>
                  </a:lnTo>
                  <a:lnTo>
                    <a:pt x="307" y="305"/>
                  </a:lnTo>
                  <a:lnTo>
                    <a:pt x="309" y="305"/>
                  </a:lnTo>
                  <a:lnTo>
                    <a:pt x="311" y="305"/>
                  </a:lnTo>
                  <a:lnTo>
                    <a:pt x="313" y="305"/>
                  </a:lnTo>
                  <a:lnTo>
                    <a:pt x="315" y="303"/>
                  </a:lnTo>
                  <a:lnTo>
                    <a:pt x="317" y="301"/>
                  </a:lnTo>
                  <a:lnTo>
                    <a:pt x="317" y="301"/>
                  </a:lnTo>
                  <a:lnTo>
                    <a:pt x="317" y="301"/>
                  </a:lnTo>
                  <a:lnTo>
                    <a:pt x="319" y="301"/>
                  </a:lnTo>
                  <a:lnTo>
                    <a:pt x="321" y="301"/>
                  </a:lnTo>
                  <a:lnTo>
                    <a:pt x="323" y="305"/>
                  </a:lnTo>
                  <a:lnTo>
                    <a:pt x="330" y="306"/>
                  </a:lnTo>
                  <a:lnTo>
                    <a:pt x="330" y="306"/>
                  </a:lnTo>
                  <a:lnTo>
                    <a:pt x="330" y="305"/>
                  </a:lnTo>
                  <a:lnTo>
                    <a:pt x="330" y="303"/>
                  </a:lnTo>
                  <a:lnTo>
                    <a:pt x="330" y="301"/>
                  </a:lnTo>
                  <a:lnTo>
                    <a:pt x="332" y="299"/>
                  </a:lnTo>
                  <a:lnTo>
                    <a:pt x="332" y="299"/>
                  </a:lnTo>
                  <a:lnTo>
                    <a:pt x="334" y="297"/>
                  </a:lnTo>
                  <a:lnTo>
                    <a:pt x="336" y="299"/>
                  </a:lnTo>
                  <a:lnTo>
                    <a:pt x="342" y="301"/>
                  </a:lnTo>
                  <a:lnTo>
                    <a:pt x="343" y="301"/>
                  </a:lnTo>
                  <a:lnTo>
                    <a:pt x="343" y="301"/>
                  </a:lnTo>
                  <a:lnTo>
                    <a:pt x="345" y="299"/>
                  </a:lnTo>
                  <a:lnTo>
                    <a:pt x="345" y="297"/>
                  </a:lnTo>
                  <a:lnTo>
                    <a:pt x="345" y="295"/>
                  </a:lnTo>
                  <a:lnTo>
                    <a:pt x="347" y="293"/>
                  </a:lnTo>
                  <a:lnTo>
                    <a:pt x="345" y="289"/>
                  </a:lnTo>
                  <a:lnTo>
                    <a:pt x="347" y="284"/>
                  </a:lnTo>
                  <a:lnTo>
                    <a:pt x="347" y="284"/>
                  </a:lnTo>
                  <a:lnTo>
                    <a:pt x="347" y="282"/>
                  </a:lnTo>
                  <a:lnTo>
                    <a:pt x="347" y="282"/>
                  </a:lnTo>
                  <a:lnTo>
                    <a:pt x="347" y="280"/>
                  </a:lnTo>
                  <a:lnTo>
                    <a:pt x="347" y="280"/>
                  </a:lnTo>
                  <a:lnTo>
                    <a:pt x="347" y="280"/>
                  </a:lnTo>
                  <a:lnTo>
                    <a:pt x="349" y="276"/>
                  </a:lnTo>
                  <a:lnTo>
                    <a:pt x="351" y="274"/>
                  </a:lnTo>
                  <a:lnTo>
                    <a:pt x="351" y="274"/>
                  </a:lnTo>
                  <a:lnTo>
                    <a:pt x="351" y="272"/>
                  </a:lnTo>
                  <a:lnTo>
                    <a:pt x="351" y="261"/>
                  </a:lnTo>
                  <a:lnTo>
                    <a:pt x="351" y="261"/>
                  </a:lnTo>
                  <a:lnTo>
                    <a:pt x="351" y="259"/>
                  </a:lnTo>
                  <a:lnTo>
                    <a:pt x="355" y="255"/>
                  </a:lnTo>
                  <a:lnTo>
                    <a:pt x="357" y="253"/>
                  </a:lnTo>
                  <a:lnTo>
                    <a:pt x="357" y="253"/>
                  </a:lnTo>
                  <a:lnTo>
                    <a:pt x="361" y="251"/>
                  </a:lnTo>
                  <a:lnTo>
                    <a:pt x="361" y="251"/>
                  </a:lnTo>
                  <a:lnTo>
                    <a:pt x="364" y="251"/>
                  </a:lnTo>
                  <a:lnTo>
                    <a:pt x="364" y="251"/>
                  </a:lnTo>
                  <a:lnTo>
                    <a:pt x="364" y="251"/>
                  </a:lnTo>
                  <a:lnTo>
                    <a:pt x="366" y="246"/>
                  </a:lnTo>
                  <a:lnTo>
                    <a:pt x="366" y="244"/>
                  </a:lnTo>
                  <a:lnTo>
                    <a:pt x="366" y="242"/>
                  </a:lnTo>
                  <a:lnTo>
                    <a:pt x="368" y="240"/>
                  </a:lnTo>
                  <a:lnTo>
                    <a:pt x="368" y="240"/>
                  </a:lnTo>
                  <a:lnTo>
                    <a:pt x="372" y="240"/>
                  </a:lnTo>
                  <a:lnTo>
                    <a:pt x="372" y="240"/>
                  </a:lnTo>
                  <a:lnTo>
                    <a:pt x="372" y="238"/>
                  </a:lnTo>
                  <a:lnTo>
                    <a:pt x="372" y="238"/>
                  </a:lnTo>
                  <a:lnTo>
                    <a:pt x="374" y="238"/>
                  </a:lnTo>
                  <a:lnTo>
                    <a:pt x="374" y="240"/>
                  </a:lnTo>
                  <a:lnTo>
                    <a:pt x="376" y="240"/>
                  </a:lnTo>
                  <a:lnTo>
                    <a:pt x="378" y="240"/>
                  </a:lnTo>
                  <a:lnTo>
                    <a:pt x="380" y="240"/>
                  </a:lnTo>
                  <a:lnTo>
                    <a:pt x="380" y="238"/>
                  </a:lnTo>
                  <a:lnTo>
                    <a:pt x="380" y="236"/>
                  </a:lnTo>
                  <a:lnTo>
                    <a:pt x="382" y="234"/>
                  </a:lnTo>
                  <a:lnTo>
                    <a:pt x="382" y="234"/>
                  </a:lnTo>
                  <a:lnTo>
                    <a:pt x="382" y="232"/>
                  </a:lnTo>
                  <a:lnTo>
                    <a:pt x="382" y="232"/>
                  </a:lnTo>
                  <a:lnTo>
                    <a:pt x="384" y="230"/>
                  </a:lnTo>
                  <a:lnTo>
                    <a:pt x="387" y="227"/>
                  </a:lnTo>
                  <a:lnTo>
                    <a:pt x="389" y="227"/>
                  </a:lnTo>
                  <a:lnTo>
                    <a:pt x="389" y="227"/>
                  </a:lnTo>
                  <a:lnTo>
                    <a:pt x="389" y="227"/>
                  </a:lnTo>
                  <a:lnTo>
                    <a:pt x="391" y="227"/>
                  </a:lnTo>
                  <a:lnTo>
                    <a:pt x="391" y="227"/>
                  </a:lnTo>
                  <a:lnTo>
                    <a:pt x="393" y="228"/>
                  </a:lnTo>
                  <a:lnTo>
                    <a:pt x="393" y="228"/>
                  </a:lnTo>
                  <a:lnTo>
                    <a:pt x="395" y="230"/>
                  </a:lnTo>
                  <a:lnTo>
                    <a:pt x="395" y="232"/>
                  </a:lnTo>
                  <a:lnTo>
                    <a:pt x="401" y="232"/>
                  </a:lnTo>
                  <a:lnTo>
                    <a:pt x="403" y="234"/>
                  </a:lnTo>
                  <a:lnTo>
                    <a:pt x="406" y="232"/>
                  </a:lnTo>
                  <a:lnTo>
                    <a:pt x="410" y="234"/>
                  </a:lnTo>
                  <a:lnTo>
                    <a:pt x="410" y="234"/>
                  </a:lnTo>
                  <a:lnTo>
                    <a:pt x="412" y="234"/>
                  </a:lnTo>
                  <a:lnTo>
                    <a:pt x="412" y="236"/>
                  </a:lnTo>
                  <a:lnTo>
                    <a:pt x="412" y="236"/>
                  </a:lnTo>
                  <a:lnTo>
                    <a:pt x="416" y="234"/>
                  </a:lnTo>
                  <a:lnTo>
                    <a:pt x="418" y="230"/>
                  </a:lnTo>
                  <a:lnTo>
                    <a:pt x="418" y="228"/>
                  </a:lnTo>
                  <a:lnTo>
                    <a:pt x="416" y="228"/>
                  </a:lnTo>
                  <a:lnTo>
                    <a:pt x="416" y="227"/>
                  </a:lnTo>
                  <a:lnTo>
                    <a:pt x="416" y="225"/>
                  </a:lnTo>
                  <a:lnTo>
                    <a:pt x="416" y="223"/>
                  </a:lnTo>
                  <a:lnTo>
                    <a:pt x="414" y="223"/>
                  </a:lnTo>
                  <a:lnTo>
                    <a:pt x="414" y="221"/>
                  </a:lnTo>
                  <a:lnTo>
                    <a:pt x="414" y="221"/>
                  </a:lnTo>
                  <a:lnTo>
                    <a:pt x="414" y="221"/>
                  </a:lnTo>
                  <a:lnTo>
                    <a:pt x="412" y="221"/>
                  </a:lnTo>
                  <a:lnTo>
                    <a:pt x="412" y="221"/>
                  </a:lnTo>
                  <a:lnTo>
                    <a:pt x="412" y="221"/>
                  </a:lnTo>
                  <a:lnTo>
                    <a:pt x="412" y="221"/>
                  </a:lnTo>
                  <a:lnTo>
                    <a:pt x="412" y="221"/>
                  </a:lnTo>
                  <a:lnTo>
                    <a:pt x="412" y="221"/>
                  </a:lnTo>
                  <a:lnTo>
                    <a:pt x="410" y="219"/>
                  </a:lnTo>
                  <a:lnTo>
                    <a:pt x="410" y="219"/>
                  </a:lnTo>
                  <a:lnTo>
                    <a:pt x="410" y="219"/>
                  </a:lnTo>
                  <a:lnTo>
                    <a:pt x="410" y="219"/>
                  </a:lnTo>
                  <a:lnTo>
                    <a:pt x="408" y="219"/>
                  </a:lnTo>
                  <a:lnTo>
                    <a:pt x="408" y="217"/>
                  </a:lnTo>
                  <a:lnTo>
                    <a:pt x="408" y="217"/>
                  </a:lnTo>
                  <a:lnTo>
                    <a:pt x="408" y="217"/>
                  </a:lnTo>
                  <a:lnTo>
                    <a:pt x="410" y="217"/>
                  </a:lnTo>
                  <a:lnTo>
                    <a:pt x="410" y="215"/>
                  </a:lnTo>
                  <a:lnTo>
                    <a:pt x="410" y="215"/>
                  </a:lnTo>
                  <a:lnTo>
                    <a:pt x="410" y="215"/>
                  </a:lnTo>
                  <a:lnTo>
                    <a:pt x="410" y="215"/>
                  </a:lnTo>
                  <a:lnTo>
                    <a:pt x="410" y="215"/>
                  </a:lnTo>
                  <a:lnTo>
                    <a:pt x="410" y="213"/>
                  </a:lnTo>
                  <a:lnTo>
                    <a:pt x="412" y="213"/>
                  </a:lnTo>
                  <a:lnTo>
                    <a:pt x="416" y="211"/>
                  </a:lnTo>
                  <a:lnTo>
                    <a:pt x="418" y="211"/>
                  </a:lnTo>
                  <a:lnTo>
                    <a:pt x="420" y="209"/>
                  </a:lnTo>
                  <a:lnTo>
                    <a:pt x="420" y="209"/>
                  </a:lnTo>
                  <a:lnTo>
                    <a:pt x="422" y="208"/>
                  </a:lnTo>
                  <a:lnTo>
                    <a:pt x="422" y="208"/>
                  </a:lnTo>
                  <a:lnTo>
                    <a:pt x="422" y="208"/>
                  </a:lnTo>
                  <a:lnTo>
                    <a:pt x="422" y="208"/>
                  </a:lnTo>
                  <a:lnTo>
                    <a:pt x="422" y="208"/>
                  </a:lnTo>
                  <a:lnTo>
                    <a:pt x="425" y="206"/>
                  </a:lnTo>
                  <a:lnTo>
                    <a:pt x="427" y="206"/>
                  </a:lnTo>
                  <a:lnTo>
                    <a:pt x="429" y="204"/>
                  </a:lnTo>
                  <a:lnTo>
                    <a:pt x="429" y="206"/>
                  </a:lnTo>
                  <a:lnTo>
                    <a:pt x="431" y="206"/>
                  </a:lnTo>
                  <a:lnTo>
                    <a:pt x="431" y="206"/>
                  </a:lnTo>
                  <a:lnTo>
                    <a:pt x="431" y="208"/>
                  </a:lnTo>
                  <a:lnTo>
                    <a:pt x="433" y="208"/>
                  </a:lnTo>
                  <a:lnTo>
                    <a:pt x="439" y="209"/>
                  </a:lnTo>
                  <a:lnTo>
                    <a:pt x="439" y="208"/>
                  </a:lnTo>
                  <a:lnTo>
                    <a:pt x="439" y="206"/>
                  </a:lnTo>
                  <a:lnTo>
                    <a:pt x="439" y="206"/>
                  </a:lnTo>
                  <a:lnTo>
                    <a:pt x="439" y="204"/>
                  </a:lnTo>
                  <a:lnTo>
                    <a:pt x="437" y="204"/>
                  </a:lnTo>
                  <a:lnTo>
                    <a:pt x="437" y="204"/>
                  </a:lnTo>
                  <a:lnTo>
                    <a:pt x="437" y="204"/>
                  </a:lnTo>
                  <a:lnTo>
                    <a:pt x="437" y="202"/>
                  </a:lnTo>
                  <a:lnTo>
                    <a:pt x="437" y="200"/>
                  </a:lnTo>
                  <a:lnTo>
                    <a:pt x="437" y="196"/>
                  </a:lnTo>
                  <a:lnTo>
                    <a:pt x="437" y="196"/>
                  </a:lnTo>
                  <a:lnTo>
                    <a:pt x="437" y="194"/>
                  </a:lnTo>
                  <a:lnTo>
                    <a:pt x="437" y="192"/>
                  </a:lnTo>
                  <a:lnTo>
                    <a:pt x="437" y="190"/>
                  </a:lnTo>
                  <a:lnTo>
                    <a:pt x="437" y="190"/>
                  </a:lnTo>
                  <a:lnTo>
                    <a:pt x="435" y="189"/>
                  </a:lnTo>
                  <a:lnTo>
                    <a:pt x="433" y="187"/>
                  </a:lnTo>
                  <a:lnTo>
                    <a:pt x="427" y="183"/>
                  </a:lnTo>
                  <a:lnTo>
                    <a:pt x="425" y="183"/>
                  </a:lnTo>
                  <a:lnTo>
                    <a:pt x="424" y="181"/>
                  </a:lnTo>
                  <a:lnTo>
                    <a:pt x="424" y="179"/>
                  </a:lnTo>
                  <a:lnTo>
                    <a:pt x="424" y="179"/>
                  </a:lnTo>
                  <a:lnTo>
                    <a:pt x="422" y="177"/>
                  </a:lnTo>
                  <a:lnTo>
                    <a:pt x="422" y="175"/>
                  </a:lnTo>
                  <a:lnTo>
                    <a:pt x="422" y="175"/>
                  </a:lnTo>
                  <a:lnTo>
                    <a:pt x="422" y="175"/>
                  </a:lnTo>
                  <a:lnTo>
                    <a:pt x="420" y="173"/>
                  </a:lnTo>
                  <a:lnTo>
                    <a:pt x="420" y="171"/>
                  </a:lnTo>
                  <a:lnTo>
                    <a:pt x="416" y="171"/>
                  </a:lnTo>
                  <a:lnTo>
                    <a:pt x="414" y="170"/>
                  </a:lnTo>
                  <a:lnTo>
                    <a:pt x="414" y="170"/>
                  </a:lnTo>
                  <a:lnTo>
                    <a:pt x="414" y="168"/>
                  </a:lnTo>
                  <a:lnTo>
                    <a:pt x="414" y="168"/>
                  </a:lnTo>
                  <a:lnTo>
                    <a:pt x="414" y="168"/>
                  </a:lnTo>
                  <a:lnTo>
                    <a:pt x="414" y="168"/>
                  </a:lnTo>
                  <a:lnTo>
                    <a:pt x="412" y="166"/>
                  </a:lnTo>
                  <a:lnTo>
                    <a:pt x="412" y="166"/>
                  </a:lnTo>
                  <a:lnTo>
                    <a:pt x="412" y="166"/>
                  </a:lnTo>
                  <a:lnTo>
                    <a:pt x="412" y="166"/>
                  </a:lnTo>
                  <a:lnTo>
                    <a:pt x="414" y="164"/>
                  </a:lnTo>
                  <a:lnTo>
                    <a:pt x="414" y="164"/>
                  </a:lnTo>
                  <a:lnTo>
                    <a:pt x="416" y="164"/>
                  </a:lnTo>
                  <a:lnTo>
                    <a:pt x="416" y="164"/>
                  </a:lnTo>
                  <a:lnTo>
                    <a:pt x="416" y="164"/>
                  </a:lnTo>
                  <a:lnTo>
                    <a:pt x="416" y="160"/>
                  </a:lnTo>
                  <a:lnTo>
                    <a:pt x="416" y="158"/>
                  </a:lnTo>
                  <a:lnTo>
                    <a:pt x="416" y="158"/>
                  </a:lnTo>
                  <a:lnTo>
                    <a:pt x="416" y="156"/>
                  </a:lnTo>
                  <a:lnTo>
                    <a:pt x="416" y="156"/>
                  </a:lnTo>
                  <a:lnTo>
                    <a:pt x="416" y="156"/>
                  </a:lnTo>
                  <a:lnTo>
                    <a:pt x="416" y="156"/>
                  </a:lnTo>
                  <a:lnTo>
                    <a:pt x="418" y="154"/>
                  </a:lnTo>
                  <a:lnTo>
                    <a:pt x="420" y="152"/>
                  </a:lnTo>
                  <a:lnTo>
                    <a:pt x="427" y="147"/>
                  </a:lnTo>
                  <a:lnTo>
                    <a:pt x="429" y="143"/>
                  </a:lnTo>
                  <a:lnTo>
                    <a:pt x="431" y="141"/>
                  </a:lnTo>
                  <a:lnTo>
                    <a:pt x="431" y="141"/>
                  </a:lnTo>
                  <a:lnTo>
                    <a:pt x="431" y="141"/>
                  </a:lnTo>
                  <a:lnTo>
                    <a:pt x="433" y="141"/>
                  </a:lnTo>
                  <a:lnTo>
                    <a:pt x="433" y="141"/>
                  </a:lnTo>
                  <a:lnTo>
                    <a:pt x="433" y="141"/>
                  </a:lnTo>
                  <a:lnTo>
                    <a:pt x="437" y="139"/>
                  </a:lnTo>
                  <a:lnTo>
                    <a:pt x="437" y="139"/>
                  </a:lnTo>
                  <a:lnTo>
                    <a:pt x="439" y="137"/>
                  </a:lnTo>
                  <a:lnTo>
                    <a:pt x="441" y="137"/>
                  </a:lnTo>
                  <a:lnTo>
                    <a:pt x="441" y="135"/>
                  </a:lnTo>
                  <a:lnTo>
                    <a:pt x="443" y="133"/>
                  </a:lnTo>
                  <a:lnTo>
                    <a:pt x="446" y="130"/>
                  </a:lnTo>
                  <a:lnTo>
                    <a:pt x="448" y="128"/>
                  </a:lnTo>
                  <a:lnTo>
                    <a:pt x="448" y="128"/>
                  </a:lnTo>
                  <a:lnTo>
                    <a:pt x="452" y="126"/>
                  </a:lnTo>
                  <a:lnTo>
                    <a:pt x="452" y="126"/>
                  </a:lnTo>
                  <a:lnTo>
                    <a:pt x="456" y="124"/>
                  </a:lnTo>
                  <a:lnTo>
                    <a:pt x="456" y="122"/>
                  </a:lnTo>
                  <a:lnTo>
                    <a:pt x="458" y="122"/>
                  </a:lnTo>
                  <a:lnTo>
                    <a:pt x="460" y="122"/>
                  </a:lnTo>
                  <a:lnTo>
                    <a:pt x="460" y="122"/>
                  </a:lnTo>
                  <a:lnTo>
                    <a:pt x="460" y="122"/>
                  </a:lnTo>
                  <a:lnTo>
                    <a:pt x="460" y="122"/>
                  </a:lnTo>
                  <a:lnTo>
                    <a:pt x="460" y="120"/>
                  </a:lnTo>
                  <a:lnTo>
                    <a:pt x="460" y="120"/>
                  </a:lnTo>
                  <a:close/>
                </a:path>
              </a:pathLst>
            </a:custGeom>
            <a:solidFill>
              <a:srgbClr val="DCDDDF"/>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19" name="Freeform 69">
              <a:extLst>
                <a:ext uri="{FF2B5EF4-FFF2-40B4-BE49-F238E27FC236}">
                  <a16:creationId xmlns:a16="http://schemas.microsoft.com/office/drawing/2014/main" id="{7E8B9F18-3B8F-AF32-9263-2DD28D0BCE25}"/>
                </a:ext>
              </a:extLst>
            </p:cNvPr>
            <p:cNvSpPr>
              <a:spLocks/>
            </p:cNvSpPr>
            <p:nvPr/>
          </p:nvSpPr>
          <p:spPr bwMode="auto">
            <a:xfrm>
              <a:off x="3651052" y="2920905"/>
              <a:ext cx="867805" cy="556514"/>
            </a:xfrm>
            <a:custGeom>
              <a:avLst/>
              <a:gdLst>
                <a:gd name="T0" fmla="*/ 454 w 460"/>
                <a:gd name="T1" fmla="*/ 107 h 329"/>
                <a:gd name="T2" fmla="*/ 441 w 460"/>
                <a:gd name="T3" fmla="*/ 103 h 329"/>
                <a:gd name="T4" fmla="*/ 420 w 460"/>
                <a:gd name="T5" fmla="*/ 109 h 329"/>
                <a:gd name="T6" fmla="*/ 391 w 460"/>
                <a:gd name="T7" fmla="*/ 116 h 329"/>
                <a:gd name="T8" fmla="*/ 353 w 460"/>
                <a:gd name="T9" fmla="*/ 116 h 329"/>
                <a:gd name="T10" fmla="*/ 328 w 460"/>
                <a:gd name="T11" fmla="*/ 109 h 329"/>
                <a:gd name="T12" fmla="*/ 296 w 460"/>
                <a:gd name="T13" fmla="*/ 103 h 329"/>
                <a:gd name="T14" fmla="*/ 265 w 460"/>
                <a:gd name="T15" fmla="*/ 97 h 329"/>
                <a:gd name="T16" fmla="*/ 235 w 460"/>
                <a:gd name="T17" fmla="*/ 97 h 329"/>
                <a:gd name="T18" fmla="*/ 220 w 460"/>
                <a:gd name="T19" fmla="*/ 73 h 329"/>
                <a:gd name="T20" fmla="*/ 170 w 460"/>
                <a:gd name="T21" fmla="*/ 76 h 329"/>
                <a:gd name="T22" fmla="*/ 147 w 460"/>
                <a:gd name="T23" fmla="*/ 57 h 329"/>
                <a:gd name="T24" fmla="*/ 124 w 460"/>
                <a:gd name="T25" fmla="*/ 33 h 329"/>
                <a:gd name="T26" fmla="*/ 75 w 460"/>
                <a:gd name="T27" fmla="*/ 2 h 329"/>
                <a:gd name="T28" fmla="*/ 52 w 460"/>
                <a:gd name="T29" fmla="*/ 15 h 329"/>
                <a:gd name="T30" fmla="*/ 52 w 460"/>
                <a:gd name="T31" fmla="*/ 25 h 329"/>
                <a:gd name="T32" fmla="*/ 65 w 460"/>
                <a:gd name="T33" fmla="*/ 46 h 329"/>
                <a:gd name="T34" fmla="*/ 81 w 460"/>
                <a:gd name="T35" fmla="*/ 65 h 329"/>
                <a:gd name="T36" fmla="*/ 90 w 460"/>
                <a:gd name="T37" fmla="*/ 78 h 329"/>
                <a:gd name="T38" fmla="*/ 71 w 460"/>
                <a:gd name="T39" fmla="*/ 90 h 329"/>
                <a:gd name="T40" fmla="*/ 60 w 460"/>
                <a:gd name="T41" fmla="*/ 103 h 329"/>
                <a:gd name="T42" fmla="*/ 56 w 460"/>
                <a:gd name="T43" fmla="*/ 109 h 329"/>
                <a:gd name="T44" fmla="*/ 79 w 460"/>
                <a:gd name="T45" fmla="*/ 114 h 329"/>
                <a:gd name="T46" fmla="*/ 75 w 460"/>
                <a:gd name="T47" fmla="*/ 128 h 329"/>
                <a:gd name="T48" fmla="*/ 65 w 460"/>
                <a:gd name="T49" fmla="*/ 137 h 329"/>
                <a:gd name="T50" fmla="*/ 82 w 460"/>
                <a:gd name="T51" fmla="*/ 156 h 329"/>
                <a:gd name="T52" fmla="*/ 105 w 460"/>
                <a:gd name="T53" fmla="*/ 170 h 329"/>
                <a:gd name="T54" fmla="*/ 109 w 460"/>
                <a:gd name="T55" fmla="*/ 187 h 329"/>
                <a:gd name="T56" fmla="*/ 94 w 460"/>
                <a:gd name="T57" fmla="*/ 190 h 329"/>
                <a:gd name="T58" fmla="*/ 82 w 460"/>
                <a:gd name="T59" fmla="*/ 190 h 329"/>
                <a:gd name="T60" fmla="*/ 54 w 460"/>
                <a:gd name="T61" fmla="*/ 204 h 329"/>
                <a:gd name="T62" fmla="*/ 4 w 460"/>
                <a:gd name="T63" fmla="*/ 236 h 329"/>
                <a:gd name="T64" fmla="*/ 4 w 460"/>
                <a:gd name="T65" fmla="*/ 267 h 329"/>
                <a:gd name="T66" fmla="*/ 20 w 460"/>
                <a:gd name="T67" fmla="*/ 284 h 329"/>
                <a:gd name="T68" fmla="*/ 35 w 460"/>
                <a:gd name="T69" fmla="*/ 308 h 329"/>
                <a:gd name="T70" fmla="*/ 63 w 460"/>
                <a:gd name="T71" fmla="*/ 301 h 329"/>
                <a:gd name="T72" fmla="*/ 77 w 460"/>
                <a:gd name="T73" fmla="*/ 310 h 329"/>
                <a:gd name="T74" fmla="*/ 82 w 460"/>
                <a:gd name="T75" fmla="*/ 306 h 329"/>
                <a:gd name="T76" fmla="*/ 92 w 460"/>
                <a:gd name="T77" fmla="*/ 314 h 329"/>
                <a:gd name="T78" fmla="*/ 113 w 460"/>
                <a:gd name="T79" fmla="*/ 327 h 329"/>
                <a:gd name="T80" fmla="*/ 126 w 460"/>
                <a:gd name="T81" fmla="*/ 316 h 329"/>
                <a:gd name="T82" fmla="*/ 145 w 460"/>
                <a:gd name="T83" fmla="*/ 324 h 329"/>
                <a:gd name="T84" fmla="*/ 170 w 460"/>
                <a:gd name="T85" fmla="*/ 320 h 329"/>
                <a:gd name="T86" fmla="*/ 202 w 460"/>
                <a:gd name="T87" fmla="*/ 308 h 329"/>
                <a:gd name="T88" fmla="*/ 216 w 460"/>
                <a:gd name="T89" fmla="*/ 297 h 329"/>
                <a:gd name="T90" fmla="*/ 235 w 460"/>
                <a:gd name="T91" fmla="*/ 284 h 329"/>
                <a:gd name="T92" fmla="*/ 258 w 460"/>
                <a:gd name="T93" fmla="*/ 299 h 329"/>
                <a:gd name="T94" fmla="*/ 273 w 460"/>
                <a:gd name="T95" fmla="*/ 314 h 329"/>
                <a:gd name="T96" fmla="*/ 294 w 460"/>
                <a:gd name="T97" fmla="*/ 310 h 329"/>
                <a:gd name="T98" fmla="*/ 330 w 460"/>
                <a:gd name="T99" fmla="*/ 306 h 329"/>
                <a:gd name="T100" fmla="*/ 345 w 460"/>
                <a:gd name="T101" fmla="*/ 289 h 329"/>
                <a:gd name="T102" fmla="*/ 357 w 460"/>
                <a:gd name="T103" fmla="*/ 253 h 329"/>
                <a:gd name="T104" fmla="*/ 374 w 460"/>
                <a:gd name="T105" fmla="*/ 238 h 329"/>
                <a:gd name="T106" fmla="*/ 391 w 460"/>
                <a:gd name="T107" fmla="*/ 227 h 329"/>
                <a:gd name="T108" fmla="*/ 418 w 460"/>
                <a:gd name="T109" fmla="*/ 228 h 329"/>
                <a:gd name="T110" fmla="*/ 410 w 460"/>
                <a:gd name="T111" fmla="*/ 219 h 329"/>
                <a:gd name="T112" fmla="*/ 418 w 460"/>
                <a:gd name="T113" fmla="*/ 211 h 329"/>
                <a:gd name="T114" fmla="*/ 439 w 460"/>
                <a:gd name="T115" fmla="*/ 209 h 329"/>
                <a:gd name="T116" fmla="*/ 435 w 460"/>
                <a:gd name="T117" fmla="*/ 189 h 329"/>
                <a:gd name="T118" fmla="*/ 414 w 460"/>
                <a:gd name="T119" fmla="*/ 168 h 329"/>
                <a:gd name="T120" fmla="*/ 416 w 460"/>
                <a:gd name="T121" fmla="*/ 156 h 329"/>
                <a:gd name="T122" fmla="*/ 439 w 460"/>
                <a:gd name="T123" fmla="*/ 137 h 329"/>
                <a:gd name="T124" fmla="*/ 460 w 460"/>
                <a:gd name="T125" fmla="*/ 12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0" h="329">
                  <a:moveTo>
                    <a:pt x="460" y="120"/>
                  </a:moveTo>
                  <a:lnTo>
                    <a:pt x="460" y="118"/>
                  </a:lnTo>
                  <a:lnTo>
                    <a:pt x="460" y="118"/>
                  </a:lnTo>
                  <a:lnTo>
                    <a:pt x="458" y="116"/>
                  </a:lnTo>
                  <a:lnTo>
                    <a:pt x="456" y="116"/>
                  </a:lnTo>
                  <a:lnTo>
                    <a:pt x="456" y="116"/>
                  </a:lnTo>
                  <a:lnTo>
                    <a:pt x="456" y="114"/>
                  </a:lnTo>
                  <a:lnTo>
                    <a:pt x="456" y="114"/>
                  </a:lnTo>
                  <a:lnTo>
                    <a:pt x="456" y="114"/>
                  </a:lnTo>
                  <a:lnTo>
                    <a:pt x="458" y="112"/>
                  </a:lnTo>
                  <a:lnTo>
                    <a:pt x="458" y="112"/>
                  </a:lnTo>
                  <a:lnTo>
                    <a:pt x="458" y="112"/>
                  </a:lnTo>
                  <a:lnTo>
                    <a:pt x="458" y="112"/>
                  </a:lnTo>
                  <a:lnTo>
                    <a:pt x="458" y="111"/>
                  </a:lnTo>
                  <a:lnTo>
                    <a:pt x="454" y="109"/>
                  </a:lnTo>
                  <a:lnTo>
                    <a:pt x="454" y="107"/>
                  </a:lnTo>
                  <a:lnTo>
                    <a:pt x="452" y="107"/>
                  </a:lnTo>
                  <a:lnTo>
                    <a:pt x="452" y="107"/>
                  </a:lnTo>
                  <a:lnTo>
                    <a:pt x="450" y="105"/>
                  </a:lnTo>
                  <a:lnTo>
                    <a:pt x="450" y="105"/>
                  </a:lnTo>
                  <a:lnTo>
                    <a:pt x="450" y="105"/>
                  </a:lnTo>
                  <a:lnTo>
                    <a:pt x="450" y="105"/>
                  </a:lnTo>
                  <a:lnTo>
                    <a:pt x="450" y="103"/>
                  </a:lnTo>
                  <a:lnTo>
                    <a:pt x="452" y="101"/>
                  </a:lnTo>
                  <a:lnTo>
                    <a:pt x="452" y="101"/>
                  </a:lnTo>
                  <a:lnTo>
                    <a:pt x="450" y="99"/>
                  </a:lnTo>
                  <a:lnTo>
                    <a:pt x="446" y="101"/>
                  </a:lnTo>
                  <a:lnTo>
                    <a:pt x="444" y="101"/>
                  </a:lnTo>
                  <a:lnTo>
                    <a:pt x="444" y="103"/>
                  </a:lnTo>
                  <a:lnTo>
                    <a:pt x="443" y="101"/>
                  </a:lnTo>
                  <a:lnTo>
                    <a:pt x="441" y="101"/>
                  </a:lnTo>
                  <a:lnTo>
                    <a:pt x="441" y="103"/>
                  </a:lnTo>
                  <a:lnTo>
                    <a:pt x="441" y="105"/>
                  </a:lnTo>
                  <a:lnTo>
                    <a:pt x="441" y="105"/>
                  </a:lnTo>
                  <a:lnTo>
                    <a:pt x="439" y="111"/>
                  </a:lnTo>
                  <a:lnTo>
                    <a:pt x="437" y="114"/>
                  </a:lnTo>
                  <a:lnTo>
                    <a:pt x="433" y="118"/>
                  </a:lnTo>
                  <a:lnTo>
                    <a:pt x="429" y="118"/>
                  </a:lnTo>
                  <a:lnTo>
                    <a:pt x="429" y="118"/>
                  </a:lnTo>
                  <a:lnTo>
                    <a:pt x="425" y="116"/>
                  </a:lnTo>
                  <a:lnTo>
                    <a:pt x="425" y="114"/>
                  </a:lnTo>
                  <a:lnTo>
                    <a:pt x="424" y="114"/>
                  </a:lnTo>
                  <a:lnTo>
                    <a:pt x="424" y="112"/>
                  </a:lnTo>
                  <a:lnTo>
                    <a:pt x="424" y="111"/>
                  </a:lnTo>
                  <a:lnTo>
                    <a:pt x="424" y="111"/>
                  </a:lnTo>
                  <a:lnTo>
                    <a:pt x="420" y="109"/>
                  </a:lnTo>
                  <a:lnTo>
                    <a:pt x="420" y="109"/>
                  </a:lnTo>
                  <a:lnTo>
                    <a:pt x="420" y="109"/>
                  </a:lnTo>
                  <a:lnTo>
                    <a:pt x="416" y="112"/>
                  </a:lnTo>
                  <a:lnTo>
                    <a:pt x="414" y="112"/>
                  </a:lnTo>
                  <a:lnTo>
                    <a:pt x="412" y="111"/>
                  </a:lnTo>
                  <a:lnTo>
                    <a:pt x="410" y="111"/>
                  </a:lnTo>
                  <a:lnTo>
                    <a:pt x="410" y="111"/>
                  </a:lnTo>
                  <a:lnTo>
                    <a:pt x="410" y="112"/>
                  </a:lnTo>
                  <a:lnTo>
                    <a:pt x="408" y="114"/>
                  </a:lnTo>
                  <a:lnTo>
                    <a:pt x="406" y="114"/>
                  </a:lnTo>
                  <a:lnTo>
                    <a:pt x="406" y="114"/>
                  </a:lnTo>
                  <a:lnTo>
                    <a:pt x="404" y="114"/>
                  </a:lnTo>
                  <a:lnTo>
                    <a:pt x="403" y="112"/>
                  </a:lnTo>
                  <a:lnTo>
                    <a:pt x="401" y="114"/>
                  </a:lnTo>
                  <a:lnTo>
                    <a:pt x="401" y="114"/>
                  </a:lnTo>
                  <a:lnTo>
                    <a:pt x="397" y="116"/>
                  </a:lnTo>
                  <a:lnTo>
                    <a:pt x="395" y="118"/>
                  </a:lnTo>
                  <a:lnTo>
                    <a:pt x="391" y="116"/>
                  </a:lnTo>
                  <a:lnTo>
                    <a:pt x="384" y="112"/>
                  </a:lnTo>
                  <a:lnTo>
                    <a:pt x="382" y="112"/>
                  </a:lnTo>
                  <a:lnTo>
                    <a:pt x="378" y="112"/>
                  </a:lnTo>
                  <a:lnTo>
                    <a:pt x="376" y="114"/>
                  </a:lnTo>
                  <a:lnTo>
                    <a:pt x="372" y="114"/>
                  </a:lnTo>
                  <a:lnTo>
                    <a:pt x="372" y="116"/>
                  </a:lnTo>
                  <a:lnTo>
                    <a:pt x="370" y="120"/>
                  </a:lnTo>
                  <a:lnTo>
                    <a:pt x="368" y="122"/>
                  </a:lnTo>
                  <a:lnTo>
                    <a:pt x="368" y="120"/>
                  </a:lnTo>
                  <a:lnTo>
                    <a:pt x="364" y="120"/>
                  </a:lnTo>
                  <a:lnTo>
                    <a:pt x="363" y="118"/>
                  </a:lnTo>
                  <a:lnTo>
                    <a:pt x="363" y="116"/>
                  </a:lnTo>
                  <a:lnTo>
                    <a:pt x="361" y="116"/>
                  </a:lnTo>
                  <a:lnTo>
                    <a:pt x="361" y="114"/>
                  </a:lnTo>
                  <a:lnTo>
                    <a:pt x="357" y="116"/>
                  </a:lnTo>
                  <a:lnTo>
                    <a:pt x="353" y="116"/>
                  </a:lnTo>
                  <a:lnTo>
                    <a:pt x="349" y="114"/>
                  </a:lnTo>
                  <a:lnTo>
                    <a:pt x="347" y="112"/>
                  </a:lnTo>
                  <a:lnTo>
                    <a:pt x="345" y="109"/>
                  </a:lnTo>
                  <a:lnTo>
                    <a:pt x="345" y="105"/>
                  </a:lnTo>
                  <a:lnTo>
                    <a:pt x="345" y="105"/>
                  </a:lnTo>
                  <a:lnTo>
                    <a:pt x="343" y="101"/>
                  </a:lnTo>
                  <a:lnTo>
                    <a:pt x="343" y="99"/>
                  </a:lnTo>
                  <a:lnTo>
                    <a:pt x="343" y="97"/>
                  </a:lnTo>
                  <a:lnTo>
                    <a:pt x="343" y="97"/>
                  </a:lnTo>
                  <a:lnTo>
                    <a:pt x="342" y="97"/>
                  </a:lnTo>
                  <a:lnTo>
                    <a:pt x="340" y="101"/>
                  </a:lnTo>
                  <a:lnTo>
                    <a:pt x="338" y="101"/>
                  </a:lnTo>
                  <a:lnTo>
                    <a:pt x="334" y="103"/>
                  </a:lnTo>
                  <a:lnTo>
                    <a:pt x="332" y="105"/>
                  </a:lnTo>
                  <a:lnTo>
                    <a:pt x="328" y="105"/>
                  </a:lnTo>
                  <a:lnTo>
                    <a:pt x="328" y="109"/>
                  </a:lnTo>
                  <a:lnTo>
                    <a:pt x="326" y="111"/>
                  </a:lnTo>
                  <a:lnTo>
                    <a:pt x="324" y="112"/>
                  </a:lnTo>
                  <a:lnTo>
                    <a:pt x="321" y="112"/>
                  </a:lnTo>
                  <a:lnTo>
                    <a:pt x="321" y="112"/>
                  </a:lnTo>
                  <a:lnTo>
                    <a:pt x="317" y="111"/>
                  </a:lnTo>
                  <a:lnTo>
                    <a:pt x="317" y="111"/>
                  </a:lnTo>
                  <a:lnTo>
                    <a:pt x="315" y="112"/>
                  </a:lnTo>
                  <a:lnTo>
                    <a:pt x="315" y="112"/>
                  </a:lnTo>
                  <a:lnTo>
                    <a:pt x="313" y="114"/>
                  </a:lnTo>
                  <a:lnTo>
                    <a:pt x="311" y="114"/>
                  </a:lnTo>
                  <a:lnTo>
                    <a:pt x="305" y="111"/>
                  </a:lnTo>
                  <a:lnTo>
                    <a:pt x="300" y="107"/>
                  </a:lnTo>
                  <a:lnTo>
                    <a:pt x="298" y="105"/>
                  </a:lnTo>
                  <a:lnTo>
                    <a:pt x="298" y="105"/>
                  </a:lnTo>
                  <a:lnTo>
                    <a:pt x="296" y="105"/>
                  </a:lnTo>
                  <a:lnTo>
                    <a:pt x="296" y="103"/>
                  </a:lnTo>
                  <a:lnTo>
                    <a:pt x="294" y="103"/>
                  </a:lnTo>
                  <a:lnTo>
                    <a:pt x="292" y="101"/>
                  </a:lnTo>
                  <a:lnTo>
                    <a:pt x="288" y="101"/>
                  </a:lnTo>
                  <a:lnTo>
                    <a:pt x="283" y="97"/>
                  </a:lnTo>
                  <a:lnTo>
                    <a:pt x="281" y="97"/>
                  </a:lnTo>
                  <a:lnTo>
                    <a:pt x="279" y="97"/>
                  </a:lnTo>
                  <a:lnTo>
                    <a:pt x="277" y="97"/>
                  </a:lnTo>
                  <a:lnTo>
                    <a:pt x="277" y="97"/>
                  </a:lnTo>
                  <a:lnTo>
                    <a:pt x="277" y="95"/>
                  </a:lnTo>
                  <a:lnTo>
                    <a:pt x="277" y="95"/>
                  </a:lnTo>
                  <a:lnTo>
                    <a:pt x="275" y="93"/>
                  </a:lnTo>
                  <a:lnTo>
                    <a:pt x="275" y="93"/>
                  </a:lnTo>
                  <a:lnTo>
                    <a:pt x="273" y="93"/>
                  </a:lnTo>
                  <a:lnTo>
                    <a:pt x="269" y="95"/>
                  </a:lnTo>
                  <a:lnTo>
                    <a:pt x="267" y="97"/>
                  </a:lnTo>
                  <a:lnTo>
                    <a:pt x="265" y="97"/>
                  </a:lnTo>
                  <a:lnTo>
                    <a:pt x="265" y="97"/>
                  </a:lnTo>
                  <a:lnTo>
                    <a:pt x="263" y="95"/>
                  </a:lnTo>
                  <a:lnTo>
                    <a:pt x="263" y="95"/>
                  </a:lnTo>
                  <a:lnTo>
                    <a:pt x="263" y="95"/>
                  </a:lnTo>
                  <a:lnTo>
                    <a:pt x="262" y="95"/>
                  </a:lnTo>
                  <a:lnTo>
                    <a:pt x="262" y="95"/>
                  </a:lnTo>
                  <a:lnTo>
                    <a:pt x="262" y="95"/>
                  </a:lnTo>
                  <a:lnTo>
                    <a:pt x="260" y="95"/>
                  </a:lnTo>
                  <a:lnTo>
                    <a:pt x="258" y="95"/>
                  </a:lnTo>
                  <a:lnTo>
                    <a:pt x="258" y="93"/>
                  </a:lnTo>
                  <a:lnTo>
                    <a:pt x="252" y="90"/>
                  </a:lnTo>
                  <a:lnTo>
                    <a:pt x="248" y="90"/>
                  </a:lnTo>
                  <a:lnTo>
                    <a:pt x="246" y="90"/>
                  </a:lnTo>
                  <a:lnTo>
                    <a:pt x="242" y="90"/>
                  </a:lnTo>
                  <a:lnTo>
                    <a:pt x="242" y="92"/>
                  </a:lnTo>
                  <a:lnTo>
                    <a:pt x="235" y="97"/>
                  </a:lnTo>
                  <a:lnTo>
                    <a:pt x="233" y="97"/>
                  </a:lnTo>
                  <a:lnTo>
                    <a:pt x="231" y="99"/>
                  </a:lnTo>
                  <a:lnTo>
                    <a:pt x="231" y="97"/>
                  </a:lnTo>
                  <a:lnTo>
                    <a:pt x="231" y="97"/>
                  </a:lnTo>
                  <a:lnTo>
                    <a:pt x="231" y="95"/>
                  </a:lnTo>
                  <a:lnTo>
                    <a:pt x="231" y="95"/>
                  </a:lnTo>
                  <a:lnTo>
                    <a:pt x="231" y="95"/>
                  </a:lnTo>
                  <a:lnTo>
                    <a:pt x="229" y="95"/>
                  </a:lnTo>
                  <a:lnTo>
                    <a:pt x="229" y="95"/>
                  </a:lnTo>
                  <a:lnTo>
                    <a:pt x="227" y="95"/>
                  </a:lnTo>
                  <a:lnTo>
                    <a:pt x="223" y="92"/>
                  </a:lnTo>
                  <a:lnTo>
                    <a:pt x="222" y="90"/>
                  </a:lnTo>
                  <a:lnTo>
                    <a:pt x="220" y="86"/>
                  </a:lnTo>
                  <a:lnTo>
                    <a:pt x="222" y="78"/>
                  </a:lnTo>
                  <a:lnTo>
                    <a:pt x="220" y="74"/>
                  </a:lnTo>
                  <a:lnTo>
                    <a:pt x="220" y="73"/>
                  </a:lnTo>
                  <a:lnTo>
                    <a:pt x="212" y="69"/>
                  </a:lnTo>
                  <a:lnTo>
                    <a:pt x="210" y="69"/>
                  </a:lnTo>
                  <a:lnTo>
                    <a:pt x="202" y="71"/>
                  </a:lnTo>
                  <a:lnTo>
                    <a:pt x="199" y="74"/>
                  </a:lnTo>
                  <a:lnTo>
                    <a:pt x="197" y="76"/>
                  </a:lnTo>
                  <a:lnTo>
                    <a:pt x="195" y="76"/>
                  </a:lnTo>
                  <a:lnTo>
                    <a:pt x="193" y="76"/>
                  </a:lnTo>
                  <a:lnTo>
                    <a:pt x="191" y="76"/>
                  </a:lnTo>
                  <a:lnTo>
                    <a:pt x="189" y="76"/>
                  </a:lnTo>
                  <a:lnTo>
                    <a:pt x="189" y="78"/>
                  </a:lnTo>
                  <a:lnTo>
                    <a:pt x="187" y="78"/>
                  </a:lnTo>
                  <a:lnTo>
                    <a:pt x="187" y="80"/>
                  </a:lnTo>
                  <a:lnTo>
                    <a:pt x="183" y="80"/>
                  </a:lnTo>
                  <a:lnTo>
                    <a:pt x="182" y="80"/>
                  </a:lnTo>
                  <a:lnTo>
                    <a:pt x="174" y="78"/>
                  </a:lnTo>
                  <a:lnTo>
                    <a:pt x="170" y="76"/>
                  </a:lnTo>
                  <a:lnTo>
                    <a:pt x="170" y="73"/>
                  </a:lnTo>
                  <a:lnTo>
                    <a:pt x="170" y="69"/>
                  </a:lnTo>
                  <a:lnTo>
                    <a:pt x="166" y="67"/>
                  </a:lnTo>
                  <a:lnTo>
                    <a:pt x="164" y="67"/>
                  </a:lnTo>
                  <a:lnTo>
                    <a:pt x="159" y="71"/>
                  </a:lnTo>
                  <a:lnTo>
                    <a:pt x="157" y="69"/>
                  </a:lnTo>
                  <a:lnTo>
                    <a:pt x="157" y="69"/>
                  </a:lnTo>
                  <a:lnTo>
                    <a:pt x="157" y="67"/>
                  </a:lnTo>
                  <a:lnTo>
                    <a:pt x="155" y="65"/>
                  </a:lnTo>
                  <a:lnTo>
                    <a:pt x="155" y="65"/>
                  </a:lnTo>
                  <a:lnTo>
                    <a:pt x="153" y="65"/>
                  </a:lnTo>
                  <a:lnTo>
                    <a:pt x="151" y="65"/>
                  </a:lnTo>
                  <a:lnTo>
                    <a:pt x="151" y="63"/>
                  </a:lnTo>
                  <a:lnTo>
                    <a:pt x="149" y="59"/>
                  </a:lnTo>
                  <a:lnTo>
                    <a:pt x="149" y="57"/>
                  </a:lnTo>
                  <a:lnTo>
                    <a:pt x="147" y="57"/>
                  </a:lnTo>
                  <a:lnTo>
                    <a:pt x="142" y="55"/>
                  </a:lnTo>
                  <a:lnTo>
                    <a:pt x="140" y="54"/>
                  </a:lnTo>
                  <a:lnTo>
                    <a:pt x="140" y="54"/>
                  </a:lnTo>
                  <a:lnTo>
                    <a:pt x="138" y="52"/>
                  </a:lnTo>
                  <a:lnTo>
                    <a:pt x="138" y="52"/>
                  </a:lnTo>
                  <a:lnTo>
                    <a:pt x="136" y="54"/>
                  </a:lnTo>
                  <a:lnTo>
                    <a:pt x="134" y="54"/>
                  </a:lnTo>
                  <a:lnTo>
                    <a:pt x="134" y="54"/>
                  </a:lnTo>
                  <a:lnTo>
                    <a:pt x="122" y="50"/>
                  </a:lnTo>
                  <a:lnTo>
                    <a:pt x="121" y="50"/>
                  </a:lnTo>
                  <a:lnTo>
                    <a:pt x="121" y="48"/>
                  </a:lnTo>
                  <a:lnTo>
                    <a:pt x="121" y="46"/>
                  </a:lnTo>
                  <a:lnTo>
                    <a:pt x="122" y="42"/>
                  </a:lnTo>
                  <a:lnTo>
                    <a:pt x="124" y="40"/>
                  </a:lnTo>
                  <a:lnTo>
                    <a:pt x="124" y="36"/>
                  </a:lnTo>
                  <a:lnTo>
                    <a:pt x="124" y="33"/>
                  </a:lnTo>
                  <a:lnTo>
                    <a:pt x="122" y="29"/>
                  </a:lnTo>
                  <a:lnTo>
                    <a:pt x="121" y="25"/>
                  </a:lnTo>
                  <a:lnTo>
                    <a:pt x="119" y="21"/>
                  </a:lnTo>
                  <a:lnTo>
                    <a:pt x="117" y="19"/>
                  </a:lnTo>
                  <a:lnTo>
                    <a:pt x="90" y="15"/>
                  </a:lnTo>
                  <a:lnTo>
                    <a:pt x="88" y="14"/>
                  </a:lnTo>
                  <a:lnTo>
                    <a:pt x="86" y="12"/>
                  </a:lnTo>
                  <a:lnTo>
                    <a:pt x="84" y="10"/>
                  </a:lnTo>
                  <a:lnTo>
                    <a:pt x="84" y="8"/>
                  </a:lnTo>
                  <a:lnTo>
                    <a:pt x="81" y="8"/>
                  </a:lnTo>
                  <a:lnTo>
                    <a:pt x="81" y="8"/>
                  </a:lnTo>
                  <a:lnTo>
                    <a:pt x="79" y="6"/>
                  </a:lnTo>
                  <a:lnTo>
                    <a:pt x="79" y="4"/>
                  </a:lnTo>
                  <a:lnTo>
                    <a:pt x="77" y="4"/>
                  </a:lnTo>
                  <a:lnTo>
                    <a:pt x="75" y="4"/>
                  </a:lnTo>
                  <a:lnTo>
                    <a:pt x="75" y="2"/>
                  </a:lnTo>
                  <a:lnTo>
                    <a:pt x="75" y="0"/>
                  </a:lnTo>
                  <a:lnTo>
                    <a:pt x="73" y="0"/>
                  </a:lnTo>
                  <a:lnTo>
                    <a:pt x="71" y="0"/>
                  </a:lnTo>
                  <a:lnTo>
                    <a:pt x="65" y="6"/>
                  </a:lnTo>
                  <a:lnTo>
                    <a:pt x="63" y="8"/>
                  </a:lnTo>
                  <a:lnTo>
                    <a:pt x="61" y="8"/>
                  </a:lnTo>
                  <a:lnTo>
                    <a:pt x="58" y="8"/>
                  </a:lnTo>
                  <a:lnTo>
                    <a:pt x="56" y="8"/>
                  </a:lnTo>
                  <a:lnTo>
                    <a:pt x="56" y="8"/>
                  </a:lnTo>
                  <a:lnTo>
                    <a:pt x="54" y="8"/>
                  </a:lnTo>
                  <a:lnTo>
                    <a:pt x="50" y="8"/>
                  </a:lnTo>
                  <a:lnTo>
                    <a:pt x="48" y="8"/>
                  </a:lnTo>
                  <a:lnTo>
                    <a:pt x="48" y="10"/>
                  </a:lnTo>
                  <a:lnTo>
                    <a:pt x="52" y="14"/>
                  </a:lnTo>
                  <a:lnTo>
                    <a:pt x="52" y="14"/>
                  </a:lnTo>
                  <a:lnTo>
                    <a:pt x="52" y="15"/>
                  </a:lnTo>
                  <a:lnTo>
                    <a:pt x="52" y="15"/>
                  </a:lnTo>
                  <a:lnTo>
                    <a:pt x="50" y="17"/>
                  </a:lnTo>
                  <a:lnTo>
                    <a:pt x="50" y="17"/>
                  </a:lnTo>
                  <a:lnTo>
                    <a:pt x="50" y="17"/>
                  </a:lnTo>
                  <a:lnTo>
                    <a:pt x="50" y="17"/>
                  </a:lnTo>
                  <a:lnTo>
                    <a:pt x="50" y="17"/>
                  </a:lnTo>
                  <a:lnTo>
                    <a:pt x="50" y="19"/>
                  </a:lnTo>
                  <a:lnTo>
                    <a:pt x="50" y="19"/>
                  </a:lnTo>
                  <a:lnTo>
                    <a:pt x="50" y="19"/>
                  </a:lnTo>
                  <a:lnTo>
                    <a:pt x="50" y="19"/>
                  </a:lnTo>
                  <a:lnTo>
                    <a:pt x="52" y="19"/>
                  </a:lnTo>
                  <a:lnTo>
                    <a:pt x="54" y="19"/>
                  </a:lnTo>
                  <a:lnTo>
                    <a:pt x="54" y="19"/>
                  </a:lnTo>
                  <a:lnTo>
                    <a:pt x="54" y="21"/>
                  </a:lnTo>
                  <a:lnTo>
                    <a:pt x="52" y="23"/>
                  </a:lnTo>
                  <a:lnTo>
                    <a:pt x="52" y="25"/>
                  </a:lnTo>
                  <a:lnTo>
                    <a:pt x="54" y="25"/>
                  </a:lnTo>
                  <a:lnTo>
                    <a:pt x="54" y="27"/>
                  </a:lnTo>
                  <a:lnTo>
                    <a:pt x="56" y="27"/>
                  </a:lnTo>
                  <a:lnTo>
                    <a:pt x="56" y="29"/>
                  </a:lnTo>
                  <a:lnTo>
                    <a:pt x="56" y="29"/>
                  </a:lnTo>
                  <a:lnTo>
                    <a:pt x="58" y="31"/>
                  </a:lnTo>
                  <a:lnTo>
                    <a:pt x="58" y="33"/>
                  </a:lnTo>
                  <a:lnTo>
                    <a:pt x="58" y="34"/>
                  </a:lnTo>
                  <a:lnTo>
                    <a:pt x="58" y="36"/>
                  </a:lnTo>
                  <a:lnTo>
                    <a:pt x="58" y="38"/>
                  </a:lnTo>
                  <a:lnTo>
                    <a:pt x="58" y="38"/>
                  </a:lnTo>
                  <a:lnTo>
                    <a:pt x="61" y="40"/>
                  </a:lnTo>
                  <a:lnTo>
                    <a:pt x="61" y="42"/>
                  </a:lnTo>
                  <a:lnTo>
                    <a:pt x="61" y="44"/>
                  </a:lnTo>
                  <a:lnTo>
                    <a:pt x="63" y="46"/>
                  </a:lnTo>
                  <a:lnTo>
                    <a:pt x="65" y="46"/>
                  </a:lnTo>
                  <a:lnTo>
                    <a:pt x="65" y="48"/>
                  </a:lnTo>
                  <a:lnTo>
                    <a:pt x="65" y="50"/>
                  </a:lnTo>
                  <a:lnTo>
                    <a:pt x="65" y="50"/>
                  </a:lnTo>
                  <a:lnTo>
                    <a:pt x="65" y="54"/>
                  </a:lnTo>
                  <a:lnTo>
                    <a:pt x="65" y="54"/>
                  </a:lnTo>
                  <a:lnTo>
                    <a:pt x="69" y="59"/>
                  </a:lnTo>
                  <a:lnTo>
                    <a:pt x="69" y="61"/>
                  </a:lnTo>
                  <a:lnTo>
                    <a:pt x="71" y="63"/>
                  </a:lnTo>
                  <a:lnTo>
                    <a:pt x="73" y="63"/>
                  </a:lnTo>
                  <a:lnTo>
                    <a:pt x="73" y="63"/>
                  </a:lnTo>
                  <a:lnTo>
                    <a:pt x="75" y="65"/>
                  </a:lnTo>
                  <a:lnTo>
                    <a:pt x="77" y="67"/>
                  </a:lnTo>
                  <a:lnTo>
                    <a:pt x="79" y="67"/>
                  </a:lnTo>
                  <a:lnTo>
                    <a:pt x="79" y="67"/>
                  </a:lnTo>
                  <a:lnTo>
                    <a:pt x="79" y="65"/>
                  </a:lnTo>
                  <a:lnTo>
                    <a:pt x="81" y="65"/>
                  </a:lnTo>
                  <a:lnTo>
                    <a:pt x="81" y="65"/>
                  </a:lnTo>
                  <a:lnTo>
                    <a:pt x="81" y="65"/>
                  </a:lnTo>
                  <a:lnTo>
                    <a:pt x="82" y="65"/>
                  </a:lnTo>
                  <a:lnTo>
                    <a:pt x="82" y="65"/>
                  </a:lnTo>
                  <a:lnTo>
                    <a:pt x="84" y="65"/>
                  </a:lnTo>
                  <a:lnTo>
                    <a:pt x="84" y="65"/>
                  </a:lnTo>
                  <a:lnTo>
                    <a:pt x="86" y="67"/>
                  </a:lnTo>
                  <a:lnTo>
                    <a:pt x="86" y="69"/>
                  </a:lnTo>
                  <a:lnTo>
                    <a:pt x="86" y="71"/>
                  </a:lnTo>
                  <a:lnTo>
                    <a:pt x="86" y="73"/>
                  </a:lnTo>
                  <a:lnTo>
                    <a:pt x="86" y="76"/>
                  </a:lnTo>
                  <a:lnTo>
                    <a:pt x="86" y="78"/>
                  </a:lnTo>
                  <a:lnTo>
                    <a:pt x="86" y="78"/>
                  </a:lnTo>
                  <a:lnTo>
                    <a:pt x="86" y="78"/>
                  </a:lnTo>
                  <a:lnTo>
                    <a:pt x="88" y="78"/>
                  </a:lnTo>
                  <a:lnTo>
                    <a:pt x="90" y="78"/>
                  </a:lnTo>
                  <a:lnTo>
                    <a:pt x="90" y="80"/>
                  </a:lnTo>
                  <a:lnTo>
                    <a:pt x="92" y="80"/>
                  </a:lnTo>
                  <a:lnTo>
                    <a:pt x="98" y="88"/>
                  </a:lnTo>
                  <a:lnTo>
                    <a:pt x="100" y="88"/>
                  </a:lnTo>
                  <a:lnTo>
                    <a:pt x="100" y="88"/>
                  </a:lnTo>
                  <a:lnTo>
                    <a:pt x="100" y="90"/>
                  </a:lnTo>
                  <a:lnTo>
                    <a:pt x="100" y="90"/>
                  </a:lnTo>
                  <a:lnTo>
                    <a:pt x="98" y="90"/>
                  </a:lnTo>
                  <a:lnTo>
                    <a:pt x="84" y="92"/>
                  </a:lnTo>
                  <a:lnTo>
                    <a:pt x="81" y="90"/>
                  </a:lnTo>
                  <a:lnTo>
                    <a:pt x="79" y="90"/>
                  </a:lnTo>
                  <a:lnTo>
                    <a:pt x="77" y="90"/>
                  </a:lnTo>
                  <a:lnTo>
                    <a:pt x="77" y="90"/>
                  </a:lnTo>
                  <a:lnTo>
                    <a:pt x="73" y="90"/>
                  </a:lnTo>
                  <a:lnTo>
                    <a:pt x="73" y="90"/>
                  </a:lnTo>
                  <a:lnTo>
                    <a:pt x="71" y="90"/>
                  </a:lnTo>
                  <a:lnTo>
                    <a:pt x="71" y="92"/>
                  </a:lnTo>
                  <a:lnTo>
                    <a:pt x="71" y="92"/>
                  </a:lnTo>
                  <a:lnTo>
                    <a:pt x="69" y="95"/>
                  </a:lnTo>
                  <a:lnTo>
                    <a:pt x="69" y="97"/>
                  </a:lnTo>
                  <a:lnTo>
                    <a:pt x="69" y="97"/>
                  </a:lnTo>
                  <a:lnTo>
                    <a:pt x="67" y="99"/>
                  </a:lnTo>
                  <a:lnTo>
                    <a:pt x="67" y="99"/>
                  </a:lnTo>
                  <a:lnTo>
                    <a:pt x="67" y="99"/>
                  </a:lnTo>
                  <a:lnTo>
                    <a:pt x="63" y="101"/>
                  </a:lnTo>
                  <a:lnTo>
                    <a:pt x="61" y="101"/>
                  </a:lnTo>
                  <a:lnTo>
                    <a:pt x="61" y="101"/>
                  </a:lnTo>
                  <a:lnTo>
                    <a:pt x="61" y="101"/>
                  </a:lnTo>
                  <a:lnTo>
                    <a:pt x="60" y="103"/>
                  </a:lnTo>
                  <a:lnTo>
                    <a:pt x="60" y="103"/>
                  </a:lnTo>
                  <a:lnTo>
                    <a:pt x="60" y="103"/>
                  </a:lnTo>
                  <a:lnTo>
                    <a:pt x="60" y="103"/>
                  </a:lnTo>
                  <a:lnTo>
                    <a:pt x="60" y="103"/>
                  </a:lnTo>
                  <a:lnTo>
                    <a:pt x="60" y="103"/>
                  </a:lnTo>
                  <a:lnTo>
                    <a:pt x="60" y="101"/>
                  </a:lnTo>
                  <a:lnTo>
                    <a:pt x="58" y="101"/>
                  </a:lnTo>
                  <a:lnTo>
                    <a:pt x="58" y="101"/>
                  </a:lnTo>
                  <a:lnTo>
                    <a:pt x="58" y="99"/>
                  </a:lnTo>
                  <a:lnTo>
                    <a:pt x="58" y="99"/>
                  </a:lnTo>
                  <a:lnTo>
                    <a:pt x="58" y="99"/>
                  </a:lnTo>
                  <a:lnTo>
                    <a:pt x="56" y="101"/>
                  </a:lnTo>
                  <a:lnTo>
                    <a:pt x="56" y="101"/>
                  </a:lnTo>
                  <a:lnTo>
                    <a:pt x="56" y="101"/>
                  </a:lnTo>
                  <a:lnTo>
                    <a:pt x="56" y="105"/>
                  </a:lnTo>
                  <a:lnTo>
                    <a:pt x="56" y="105"/>
                  </a:lnTo>
                  <a:lnTo>
                    <a:pt x="56" y="107"/>
                  </a:lnTo>
                  <a:lnTo>
                    <a:pt x="56" y="109"/>
                  </a:lnTo>
                  <a:lnTo>
                    <a:pt x="56" y="109"/>
                  </a:lnTo>
                  <a:lnTo>
                    <a:pt x="58" y="109"/>
                  </a:lnTo>
                  <a:lnTo>
                    <a:pt x="60" y="111"/>
                  </a:lnTo>
                  <a:lnTo>
                    <a:pt x="60" y="111"/>
                  </a:lnTo>
                  <a:lnTo>
                    <a:pt x="61" y="111"/>
                  </a:lnTo>
                  <a:lnTo>
                    <a:pt x="61" y="109"/>
                  </a:lnTo>
                  <a:lnTo>
                    <a:pt x="63" y="109"/>
                  </a:lnTo>
                  <a:lnTo>
                    <a:pt x="63" y="109"/>
                  </a:lnTo>
                  <a:lnTo>
                    <a:pt x="63" y="109"/>
                  </a:lnTo>
                  <a:lnTo>
                    <a:pt x="63" y="109"/>
                  </a:lnTo>
                  <a:lnTo>
                    <a:pt x="65" y="109"/>
                  </a:lnTo>
                  <a:lnTo>
                    <a:pt x="65" y="109"/>
                  </a:lnTo>
                  <a:lnTo>
                    <a:pt x="67" y="109"/>
                  </a:lnTo>
                  <a:lnTo>
                    <a:pt x="69" y="112"/>
                  </a:lnTo>
                  <a:lnTo>
                    <a:pt x="71" y="112"/>
                  </a:lnTo>
                  <a:lnTo>
                    <a:pt x="73" y="114"/>
                  </a:lnTo>
                  <a:lnTo>
                    <a:pt x="79" y="114"/>
                  </a:lnTo>
                  <a:lnTo>
                    <a:pt x="81" y="116"/>
                  </a:lnTo>
                  <a:lnTo>
                    <a:pt x="81" y="116"/>
                  </a:lnTo>
                  <a:lnTo>
                    <a:pt x="81" y="116"/>
                  </a:lnTo>
                  <a:lnTo>
                    <a:pt x="81" y="118"/>
                  </a:lnTo>
                  <a:lnTo>
                    <a:pt x="79" y="122"/>
                  </a:lnTo>
                  <a:lnTo>
                    <a:pt x="79" y="122"/>
                  </a:lnTo>
                  <a:lnTo>
                    <a:pt x="79" y="122"/>
                  </a:lnTo>
                  <a:lnTo>
                    <a:pt x="79" y="124"/>
                  </a:lnTo>
                  <a:lnTo>
                    <a:pt x="81" y="126"/>
                  </a:lnTo>
                  <a:lnTo>
                    <a:pt x="81" y="128"/>
                  </a:lnTo>
                  <a:lnTo>
                    <a:pt x="81" y="128"/>
                  </a:lnTo>
                  <a:lnTo>
                    <a:pt x="79" y="128"/>
                  </a:lnTo>
                  <a:lnTo>
                    <a:pt x="77" y="128"/>
                  </a:lnTo>
                  <a:lnTo>
                    <a:pt x="77" y="128"/>
                  </a:lnTo>
                  <a:lnTo>
                    <a:pt x="75" y="128"/>
                  </a:lnTo>
                  <a:lnTo>
                    <a:pt x="75" y="128"/>
                  </a:lnTo>
                  <a:lnTo>
                    <a:pt x="73" y="128"/>
                  </a:lnTo>
                  <a:lnTo>
                    <a:pt x="73" y="128"/>
                  </a:lnTo>
                  <a:lnTo>
                    <a:pt x="73" y="130"/>
                  </a:lnTo>
                  <a:lnTo>
                    <a:pt x="71" y="130"/>
                  </a:lnTo>
                  <a:lnTo>
                    <a:pt x="71" y="130"/>
                  </a:lnTo>
                  <a:lnTo>
                    <a:pt x="65" y="130"/>
                  </a:lnTo>
                  <a:lnTo>
                    <a:pt x="63" y="131"/>
                  </a:lnTo>
                  <a:lnTo>
                    <a:pt x="63" y="131"/>
                  </a:lnTo>
                  <a:lnTo>
                    <a:pt x="63" y="131"/>
                  </a:lnTo>
                  <a:lnTo>
                    <a:pt x="63" y="131"/>
                  </a:lnTo>
                  <a:lnTo>
                    <a:pt x="61" y="131"/>
                  </a:lnTo>
                  <a:lnTo>
                    <a:pt x="61" y="133"/>
                  </a:lnTo>
                  <a:lnTo>
                    <a:pt x="61" y="133"/>
                  </a:lnTo>
                  <a:lnTo>
                    <a:pt x="61" y="135"/>
                  </a:lnTo>
                  <a:lnTo>
                    <a:pt x="63" y="135"/>
                  </a:lnTo>
                  <a:lnTo>
                    <a:pt x="65" y="137"/>
                  </a:lnTo>
                  <a:lnTo>
                    <a:pt x="67" y="139"/>
                  </a:lnTo>
                  <a:lnTo>
                    <a:pt x="69" y="147"/>
                  </a:lnTo>
                  <a:lnTo>
                    <a:pt x="69" y="147"/>
                  </a:lnTo>
                  <a:lnTo>
                    <a:pt x="71" y="147"/>
                  </a:lnTo>
                  <a:lnTo>
                    <a:pt x="73" y="147"/>
                  </a:lnTo>
                  <a:lnTo>
                    <a:pt x="73" y="147"/>
                  </a:lnTo>
                  <a:lnTo>
                    <a:pt x="75" y="149"/>
                  </a:lnTo>
                  <a:lnTo>
                    <a:pt x="77" y="149"/>
                  </a:lnTo>
                  <a:lnTo>
                    <a:pt x="77" y="150"/>
                  </a:lnTo>
                  <a:lnTo>
                    <a:pt x="79" y="150"/>
                  </a:lnTo>
                  <a:lnTo>
                    <a:pt x="79" y="152"/>
                  </a:lnTo>
                  <a:lnTo>
                    <a:pt x="79" y="154"/>
                  </a:lnTo>
                  <a:lnTo>
                    <a:pt x="81" y="154"/>
                  </a:lnTo>
                  <a:lnTo>
                    <a:pt x="81" y="154"/>
                  </a:lnTo>
                  <a:lnTo>
                    <a:pt x="82" y="154"/>
                  </a:lnTo>
                  <a:lnTo>
                    <a:pt x="82" y="156"/>
                  </a:lnTo>
                  <a:lnTo>
                    <a:pt x="84" y="160"/>
                  </a:lnTo>
                  <a:lnTo>
                    <a:pt x="84" y="160"/>
                  </a:lnTo>
                  <a:lnTo>
                    <a:pt x="84" y="162"/>
                  </a:lnTo>
                  <a:lnTo>
                    <a:pt x="86" y="162"/>
                  </a:lnTo>
                  <a:lnTo>
                    <a:pt x="88" y="164"/>
                  </a:lnTo>
                  <a:lnTo>
                    <a:pt x="88" y="164"/>
                  </a:lnTo>
                  <a:lnTo>
                    <a:pt x="90" y="164"/>
                  </a:lnTo>
                  <a:lnTo>
                    <a:pt x="94" y="162"/>
                  </a:lnTo>
                  <a:lnTo>
                    <a:pt x="96" y="162"/>
                  </a:lnTo>
                  <a:lnTo>
                    <a:pt x="98" y="162"/>
                  </a:lnTo>
                  <a:lnTo>
                    <a:pt x="98" y="164"/>
                  </a:lnTo>
                  <a:lnTo>
                    <a:pt x="100" y="164"/>
                  </a:lnTo>
                  <a:lnTo>
                    <a:pt x="101" y="166"/>
                  </a:lnTo>
                  <a:lnTo>
                    <a:pt x="101" y="168"/>
                  </a:lnTo>
                  <a:lnTo>
                    <a:pt x="101" y="168"/>
                  </a:lnTo>
                  <a:lnTo>
                    <a:pt x="105" y="170"/>
                  </a:lnTo>
                  <a:lnTo>
                    <a:pt x="107" y="170"/>
                  </a:lnTo>
                  <a:lnTo>
                    <a:pt x="109" y="170"/>
                  </a:lnTo>
                  <a:lnTo>
                    <a:pt x="111" y="170"/>
                  </a:lnTo>
                  <a:lnTo>
                    <a:pt x="113" y="171"/>
                  </a:lnTo>
                  <a:lnTo>
                    <a:pt x="119" y="177"/>
                  </a:lnTo>
                  <a:lnTo>
                    <a:pt x="119" y="177"/>
                  </a:lnTo>
                  <a:lnTo>
                    <a:pt x="121" y="179"/>
                  </a:lnTo>
                  <a:lnTo>
                    <a:pt x="119" y="179"/>
                  </a:lnTo>
                  <a:lnTo>
                    <a:pt x="119" y="181"/>
                  </a:lnTo>
                  <a:lnTo>
                    <a:pt x="119" y="183"/>
                  </a:lnTo>
                  <a:lnTo>
                    <a:pt x="119" y="183"/>
                  </a:lnTo>
                  <a:lnTo>
                    <a:pt x="117" y="183"/>
                  </a:lnTo>
                  <a:lnTo>
                    <a:pt x="113" y="187"/>
                  </a:lnTo>
                  <a:lnTo>
                    <a:pt x="113" y="187"/>
                  </a:lnTo>
                  <a:lnTo>
                    <a:pt x="111" y="187"/>
                  </a:lnTo>
                  <a:lnTo>
                    <a:pt x="109" y="187"/>
                  </a:lnTo>
                  <a:lnTo>
                    <a:pt x="107" y="187"/>
                  </a:lnTo>
                  <a:lnTo>
                    <a:pt x="107" y="187"/>
                  </a:lnTo>
                  <a:lnTo>
                    <a:pt x="105" y="187"/>
                  </a:lnTo>
                  <a:lnTo>
                    <a:pt x="103" y="185"/>
                  </a:lnTo>
                  <a:lnTo>
                    <a:pt x="101" y="185"/>
                  </a:lnTo>
                  <a:lnTo>
                    <a:pt x="100" y="181"/>
                  </a:lnTo>
                  <a:lnTo>
                    <a:pt x="98" y="181"/>
                  </a:lnTo>
                  <a:lnTo>
                    <a:pt x="96" y="181"/>
                  </a:lnTo>
                  <a:lnTo>
                    <a:pt x="94" y="181"/>
                  </a:lnTo>
                  <a:lnTo>
                    <a:pt x="94" y="183"/>
                  </a:lnTo>
                  <a:lnTo>
                    <a:pt x="92" y="183"/>
                  </a:lnTo>
                  <a:lnTo>
                    <a:pt x="92" y="185"/>
                  </a:lnTo>
                  <a:lnTo>
                    <a:pt x="94" y="189"/>
                  </a:lnTo>
                  <a:lnTo>
                    <a:pt x="94" y="189"/>
                  </a:lnTo>
                  <a:lnTo>
                    <a:pt x="94" y="189"/>
                  </a:lnTo>
                  <a:lnTo>
                    <a:pt x="94" y="190"/>
                  </a:lnTo>
                  <a:lnTo>
                    <a:pt x="94" y="190"/>
                  </a:lnTo>
                  <a:lnTo>
                    <a:pt x="94" y="190"/>
                  </a:lnTo>
                  <a:lnTo>
                    <a:pt x="94" y="192"/>
                  </a:lnTo>
                  <a:lnTo>
                    <a:pt x="92" y="192"/>
                  </a:lnTo>
                  <a:lnTo>
                    <a:pt x="92" y="192"/>
                  </a:lnTo>
                  <a:lnTo>
                    <a:pt x="90" y="192"/>
                  </a:lnTo>
                  <a:lnTo>
                    <a:pt x="88" y="192"/>
                  </a:lnTo>
                  <a:lnTo>
                    <a:pt x="86" y="192"/>
                  </a:lnTo>
                  <a:lnTo>
                    <a:pt x="86" y="192"/>
                  </a:lnTo>
                  <a:lnTo>
                    <a:pt x="86" y="192"/>
                  </a:lnTo>
                  <a:lnTo>
                    <a:pt x="84" y="192"/>
                  </a:lnTo>
                  <a:lnTo>
                    <a:pt x="84" y="192"/>
                  </a:lnTo>
                  <a:lnTo>
                    <a:pt x="84" y="192"/>
                  </a:lnTo>
                  <a:lnTo>
                    <a:pt x="84" y="190"/>
                  </a:lnTo>
                  <a:lnTo>
                    <a:pt x="84" y="190"/>
                  </a:lnTo>
                  <a:lnTo>
                    <a:pt x="82" y="190"/>
                  </a:lnTo>
                  <a:lnTo>
                    <a:pt x="82" y="190"/>
                  </a:lnTo>
                  <a:lnTo>
                    <a:pt x="82" y="189"/>
                  </a:lnTo>
                  <a:lnTo>
                    <a:pt x="82" y="189"/>
                  </a:lnTo>
                  <a:lnTo>
                    <a:pt x="82" y="189"/>
                  </a:lnTo>
                  <a:lnTo>
                    <a:pt x="82" y="187"/>
                  </a:lnTo>
                  <a:lnTo>
                    <a:pt x="82" y="187"/>
                  </a:lnTo>
                  <a:lnTo>
                    <a:pt x="82" y="185"/>
                  </a:lnTo>
                  <a:lnTo>
                    <a:pt x="82" y="185"/>
                  </a:lnTo>
                  <a:lnTo>
                    <a:pt x="81" y="183"/>
                  </a:lnTo>
                  <a:lnTo>
                    <a:pt x="77" y="183"/>
                  </a:lnTo>
                  <a:lnTo>
                    <a:pt x="69" y="190"/>
                  </a:lnTo>
                  <a:lnTo>
                    <a:pt x="63" y="196"/>
                  </a:lnTo>
                  <a:lnTo>
                    <a:pt x="61" y="198"/>
                  </a:lnTo>
                  <a:lnTo>
                    <a:pt x="56" y="202"/>
                  </a:lnTo>
                  <a:lnTo>
                    <a:pt x="54" y="204"/>
                  </a:lnTo>
                  <a:lnTo>
                    <a:pt x="54" y="204"/>
                  </a:lnTo>
                  <a:lnTo>
                    <a:pt x="52" y="206"/>
                  </a:lnTo>
                  <a:lnTo>
                    <a:pt x="50" y="208"/>
                  </a:lnTo>
                  <a:lnTo>
                    <a:pt x="46" y="209"/>
                  </a:lnTo>
                  <a:lnTo>
                    <a:pt x="46" y="209"/>
                  </a:lnTo>
                  <a:lnTo>
                    <a:pt x="44" y="209"/>
                  </a:lnTo>
                  <a:lnTo>
                    <a:pt x="44" y="211"/>
                  </a:lnTo>
                  <a:lnTo>
                    <a:pt x="42" y="213"/>
                  </a:lnTo>
                  <a:lnTo>
                    <a:pt x="33" y="219"/>
                  </a:lnTo>
                  <a:lnTo>
                    <a:pt x="20" y="227"/>
                  </a:lnTo>
                  <a:lnTo>
                    <a:pt x="18" y="227"/>
                  </a:lnTo>
                  <a:lnTo>
                    <a:pt x="16" y="230"/>
                  </a:lnTo>
                  <a:lnTo>
                    <a:pt x="14" y="230"/>
                  </a:lnTo>
                  <a:lnTo>
                    <a:pt x="10" y="232"/>
                  </a:lnTo>
                  <a:lnTo>
                    <a:pt x="6" y="234"/>
                  </a:lnTo>
                  <a:lnTo>
                    <a:pt x="4" y="236"/>
                  </a:lnTo>
                  <a:lnTo>
                    <a:pt x="4" y="236"/>
                  </a:lnTo>
                  <a:lnTo>
                    <a:pt x="2" y="238"/>
                  </a:lnTo>
                  <a:lnTo>
                    <a:pt x="2" y="240"/>
                  </a:lnTo>
                  <a:lnTo>
                    <a:pt x="2" y="240"/>
                  </a:lnTo>
                  <a:lnTo>
                    <a:pt x="2" y="242"/>
                  </a:lnTo>
                  <a:lnTo>
                    <a:pt x="0" y="244"/>
                  </a:lnTo>
                  <a:lnTo>
                    <a:pt x="0" y="249"/>
                  </a:lnTo>
                  <a:lnTo>
                    <a:pt x="0" y="251"/>
                  </a:lnTo>
                  <a:lnTo>
                    <a:pt x="0" y="251"/>
                  </a:lnTo>
                  <a:lnTo>
                    <a:pt x="0" y="253"/>
                  </a:lnTo>
                  <a:lnTo>
                    <a:pt x="2" y="255"/>
                  </a:lnTo>
                  <a:lnTo>
                    <a:pt x="4" y="257"/>
                  </a:lnTo>
                  <a:lnTo>
                    <a:pt x="4" y="259"/>
                  </a:lnTo>
                  <a:lnTo>
                    <a:pt x="4" y="259"/>
                  </a:lnTo>
                  <a:lnTo>
                    <a:pt x="4" y="263"/>
                  </a:lnTo>
                  <a:lnTo>
                    <a:pt x="4" y="267"/>
                  </a:lnTo>
                  <a:lnTo>
                    <a:pt x="4" y="267"/>
                  </a:lnTo>
                  <a:lnTo>
                    <a:pt x="4" y="268"/>
                  </a:lnTo>
                  <a:lnTo>
                    <a:pt x="4" y="268"/>
                  </a:lnTo>
                  <a:lnTo>
                    <a:pt x="4" y="270"/>
                  </a:lnTo>
                  <a:lnTo>
                    <a:pt x="4" y="272"/>
                  </a:lnTo>
                  <a:lnTo>
                    <a:pt x="4" y="272"/>
                  </a:lnTo>
                  <a:lnTo>
                    <a:pt x="6" y="274"/>
                  </a:lnTo>
                  <a:lnTo>
                    <a:pt x="6" y="274"/>
                  </a:lnTo>
                  <a:lnTo>
                    <a:pt x="8" y="276"/>
                  </a:lnTo>
                  <a:lnTo>
                    <a:pt x="8" y="276"/>
                  </a:lnTo>
                  <a:lnTo>
                    <a:pt x="10" y="278"/>
                  </a:lnTo>
                  <a:lnTo>
                    <a:pt x="10" y="280"/>
                  </a:lnTo>
                  <a:lnTo>
                    <a:pt x="12" y="280"/>
                  </a:lnTo>
                  <a:lnTo>
                    <a:pt x="14" y="282"/>
                  </a:lnTo>
                  <a:lnTo>
                    <a:pt x="14" y="282"/>
                  </a:lnTo>
                  <a:lnTo>
                    <a:pt x="18" y="284"/>
                  </a:lnTo>
                  <a:lnTo>
                    <a:pt x="20" y="284"/>
                  </a:lnTo>
                  <a:lnTo>
                    <a:pt x="20" y="284"/>
                  </a:lnTo>
                  <a:lnTo>
                    <a:pt x="20" y="286"/>
                  </a:lnTo>
                  <a:lnTo>
                    <a:pt x="20" y="287"/>
                  </a:lnTo>
                  <a:lnTo>
                    <a:pt x="20" y="289"/>
                  </a:lnTo>
                  <a:lnTo>
                    <a:pt x="18" y="291"/>
                  </a:lnTo>
                  <a:lnTo>
                    <a:pt x="18" y="293"/>
                  </a:lnTo>
                  <a:lnTo>
                    <a:pt x="18" y="293"/>
                  </a:lnTo>
                  <a:lnTo>
                    <a:pt x="20" y="295"/>
                  </a:lnTo>
                  <a:lnTo>
                    <a:pt x="20" y="297"/>
                  </a:lnTo>
                  <a:lnTo>
                    <a:pt x="20" y="297"/>
                  </a:lnTo>
                  <a:lnTo>
                    <a:pt x="20" y="301"/>
                  </a:lnTo>
                  <a:lnTo>
                    <a:pt x="20" y="303"/>
                  </a:lnTo>
                  <a:lnTo>
                    <a:pt x="20" y="306"/>
                  </a:lnTo>
                  <a:lnTo>
                    <a:pt x="21" y="306"/>
                  </a:lnTo>
                  <a:lnTo>
                    <a:pt x="29" y="308"/>
                  </a:lnTo>
                  <a:lnTo>
                    <a:pt x="35" y="308"/>
                  </a:lnTo>
                  <a:lnTo>
                    <a:pt x="41" y="308"/>
                  </a:lnTo>
                  <a:lnTo>
                    <a:pt x="42" y="308"/>
                  </a:lnTo>
                  <a:lnTo>
                    <a:pt x="44" y="306"/>
                  </a:lnTo>
                  <a:lnTo>
                    <a:pt x="46" y="305"/>
                  </a:lnTo>
                  <a:lnTo>
                    <a:pt x="46" y="305"/>
                  </a:lnTo>
                  <a:lnTo>
                    <a:pt x="48" y="306"/>
                  </a:lnTo>
                  <a:lnTo>
                    <a:pt x="50" y="306"/>
                  </a:lnTo>
                  <a:lnTo>
                    <a:pt x="50" y="306"/>
                  </a:lnTo>
                  <a:lnTo>
                    <a:pt x="52" y="305"/>
                  </a:lnTo>
                  <a:lnTo>
                    <a:pt x="56" y="305"/>
                  </a:lnTo>
                  <a:lnTo>
                    <a:pt x="58" y="305"/>
                  </a:lnTo>
                  <a:lnTo>
                    <a:pt x="60" y="303"/>
                  </a:lnTo>
                  <a:lnTo>
                    <a:pt x="60" y="301"/>
                  </a:lnTo>
                  <a:lnTo>
                    <a:pt x="61" y="301"/>
                  </a:lnTo>
                  <a:lnTo>
                    <a:pt x="61" y="301"/>
                  </a:lnTo>
                  <a:lnTo>
                    <a:pt x="63" y="301"/>
                  </a:lnTo>
                  <a:lnTo>
                    <a:pt x="63" y="299"/>
                  </a:lnTo>
                  <a:lnTo>
                    <a:pt x="63" y="299"/>
                  </a:lnTo>
                  <a:lnTo>
                    <a:pt x="63" y="295"/>
                  </a:lnTo>
                  <a:lnTo>
                    <a:pt x="65" y="295"/>
                  </a:lnTo>
                  <a:lnTo>
                    <a:pt x="65" y="295"/>
                  </a:lnTo>
                  <a:lnTo>
                    <a:pt x="65" y="295"/>
                  </a:lnTo>
                  <a:lnTo>
                    <a:pt x="67" y="297"/>
                  </a:lnTo>
                  <a:lnTo>
                    <a:pt x="71" y="303"/>
                  </a:lnTo>
                  <a:lnTo>
                    <a:pt x="73" y="308"/>
                  </a:lnTo>
                  <a:lnTo>
                    <a:pt x="73" y="310"/>
                  </a:lnTo>
                  <a:lnTo>
                    <a:pt x="75" y="312"/>
                  </a:lnTo>
                  <a:lnTo>
                    <a:pt x="75" y="312"/>
                  </a:lnTo>
                  <a:lnTo>
                    <a:pt x="77" y="312"/>
                  </a:lnTo>
                  <a:lnTo>
                    <a:pt x="77" y="312"/>
                  </a:lnTo>
                  <a:lnTo>
                    <a:pt x="77" y="310"/>
                  </a:lnTo>
                  <a:lnTo>
                    <a:pt x="77" y="310"/>
                  </a:lnTo>
                  <a:lnTo>
                    <a:pt x="77" y="308"/>
                  </a:lnTo>
                  <a:lnTo>
                    <a:pt x="77" y="308"/>
                  </a:lnTo>
                  <a:lnTo>
                    <a:pt x="77" y="308"/>
                  </a:lnTo>
                  <a:lnTo>
                    <a:pt x="79" y="308"/>
                  </a:lnTo>
                  <a:lnTo>
                    <a:pt x="79" y="308"/>
                  </a:lnTo>
                  <a:lnTo>
                    <a:pt x="79" y="310"/>
                  </a:lnTo>
                  <a:lnTo>
                    <a:pt x="79" y="310"/>
                  </a:lnTo>
                  <a:lnTo>
                    <a:pt x="79" y="312"/>
                  </a:lnTo>
                  <a:lnTo>
                    <a:pt x="81" y="312"/>
                  </a:lnTo>
                  <a:lnTo>
                    <a:pt x="81" y="312"/>
                  </a:lnTo>
                  <a:lnTo>
                    <a:pt x="81" y="310"/>
                  </a:lnTo>
                  <a:lnTo>
                    <a:pt x="81" y="310"/>
                  </a:lnTo>
                  <a:lnTo>
                    <a:pt x="81" y="308"/>
                  </a:lnTo>
                  <a:lnTo>
                    <a:pt x="81" y="308"/>
                  </a:lnTo>
                  <a:lnTo>
                    <a:pt x="82" y="306"/>
                  </a:lnTo>
                  <a:lnTo>
                    <a:pt x="82" y="306"/>
                  </a:lnTo>
                  <a:lnTo>
                    <a:pt x="84" y="306"/>
                  </a:lnTo>
                  <a:lnTo>
                    <a:pt x="84" y="306"/>
                  </a:lnTo>
                  <a:lnTo>
                    <a:pt x="86" y="306"/>
                  </a:lnTo>
                  <a:lnTo>
                    <a:pt x="86" y="306"/>
                  </a:lnTo>
                  <a:lnTo>
                    <a:pt x="86" y="306"/>
                  </a:lnTo>
                  <a:lnTo>
                    <a:pt x="88" y="308"/>
                  </a:lnTo>
                  <a:lnTo>
                    <a:pt x="88" y="308"/>
                  </a:lnTo>
                  <a:lnTo>
                    <a:pt x="88" y="306"/>
                  </a:lnTo>
                  <a:lnTo>
                    <a:pt x="90" y="306"/>
                  </a:lnTo>
                  <a:lnTo>
                    <a:pt x="90" y="306"/>
                  </a:lnTo>
                  <a:lnTo>
                    <a:pt x="92" y="306"/>
                  </a:lnTo>
                  <a:lnTo>
                    <a:pt x="92" y="306"/>
                  </a:lnTo>
                  <a:lnTo>
                    <a:pt x="94" y="308"/>
                  </a:lnTo>
                  <a:lnTo>
                    <a:pt x="94" y="312"/>
                  </a:lnTo>
                  <a:lnTo>
                    <a:pt x="92" y="312"/>
                  </a:lnTo>
                  <a:lnTo>
                    <a:pt x="92" y="314"/>
                  </a:lnTo>
                  <a:lnTo>
                    <a:pt x="92" y="316"/>
                  </a:lnTo>
                  <a:lnTo>
                    <a:pt x="94" y="318"/>
                  </a:lnTo>
                  <a:lnTo>
                    <a:pt x="96" y="320"/>
                  </a:lnTo>
                  <a:lnTo>
                    <a:pt x="98" y="320"/>
                  </a:lnTo>
                  <a:lnTo>
                    <a:pt x="98" y="322"/>
                  </a:lnTo>
                  <a:lnTo>
                    <a:pt x="101" y="324"/>
                  </a:lnTo>
                  <a:lnTo>
                    <a:pt x="103" y="325"/>
                  </a:lnTo>
                  <a:lnTo>
                    <a:pt x="103" y="325"/>
                  </a:lnTo>
                  <a:lnTo>
                    <a:pt x="105" y="327"/>
                  </a:lnTo>
                  <a:lnTo>
                    <a:pt x="105" y="327"/>
                  </a:lnTo>
                  <a:lnTo>
                    <a:pt x="107" y="329"/>
                  </a:lnTo>
                  <a:lnTo>
                    <a:pt x="107" y="329"/>
                  </a:lnTo>
                  <a:lnTo>
                    <a:pt x="109" y="329"/>
                  </a:lnTo>
                  <a:lnTo>
                    <a:pt x="109" y="329"/>
                  </a:lnTo>
                  <a:lnTo>
                    <a:pt x="111" y="329"/>
                  </a:lnTo>
                  <a:lnTo>
                    <a:pt x="113" y="327"/>
                  </a:lnTo>
                  <a:lnTo>
                    <a:pt x="113" y="325"/>
                  </a:lnTo>
                  <a:lnTo>
                    <a:pt x="113" y="325"/>
                  </a:lnTo>
                  <a:lnTo>
                    <a:pt x="113" y="324"/>
                  </a:lnTo>
                  <a:lnTo>
                    <a:pt x="117" y="322"/>
                  </a:lnTo>
                  <a:lnTo>
                    <a:pt x="117" y="322"/>
                  </a:lnTo>
                  <a:lnTo>
                    <a:pt x="117" y="320"/>
                  </a:lnTo>
                  <a:lnTo>
                    <a:pt x="117" y="320"/>
                  </a:lnTo>
                  <a:lnTo>
                    <a:pt x="119" y="320"/>
                  </a:lnTo>
                  <a:lnTo>
                    <a:pt x="119" y="322"/>
                  </a:lnTo>
                  <a:lnTo>
                    <a:pt x="121" y="322"/>
                  </a:lnTo>
                  <a:lnTo>
                    <a:pt x="121" y="322"/>
                  </a:lnTo>
                  <a:lnTo>
                    <a:pt x="122" y="322"/>
                  </a:lnTo>
                  <a:lnTo>
                    <a:pt x="124" y="322"/>
                  </a:lnTo>
                  <a:lnTo>
                    <a:pt x="124" y="322"/>
                  </a:lnTo>
                  <a:lnTo>
                    <a:pt x="126" y="318"/>
                  </a:lnTo>
                  <a:lnTo>
                    <a:pt x="126" y="316"/>
                  </a:lnTo>
                  <a:lnTo>
                    <a:pt x="128" y="316"/>
                  </a:lnTo>
                  <a:lnTo>
                    <a:pt x="132" y="312"/>
                  </a:lnTo>
                  <a:lnTo>
                    <a:pt x="134" y="312"/>
                  </a:lnTo>
                  <a:lnTo>
                    <a:pt x="136" y="310"/>
                  </a:lnTo>
                  <a:lnTo>
                    <a:pt x="136" y="310"/>
                  </a:lnTo>
                  <a:lnTo>
                    <a:pt x="138" y="310"/>
                  </a:lnTo>
                  <a:lnTo>
                    <a:pt x="138" y="310"/>
                  </a:lnTo>
                  <a:lnTo>
                    <a:pt x="140" y="310"/>
                  </a:lnTo>
                  <a:lnTo>
                    <a:pt x="140" y="316"/>
                  </a:lnTo>
                  <a:lnTo>
                    <a:pt x="142" y="316"/>
                  </a:lnTo>
                  <a:lnTo>
                    <a:pt x="143" y="316"/>
                  </a:lnTo>
                  <a:lnTo>
                    <a:pt x="143" y="316"/>
                  </a:lnTo>
                  <a:lnTo>
                    <a:pt x="143" y="316"/>
                  </a:lnTo>
                  <a:lnTo>
                    <a:pt x="143" y="316"/>
                  </a:lnTo>
                  <a:lnTo>
                    <a:pt x="145" y="322"/>
                  </a:lnTo>
                  <a:lnTo>
                    <a:pt x="145" y="324"/>
                  </a:lnTo>
                  <a:lnTo>
                    <a:pt x="147" y="324"/>
                  </a:lnTo>
                  <a:lnTo>
                    <a:pt x="151" y="325"/>
                  </a:lnTo>
                  <a:lnTo>
                    <a:pt x="153" y="324"/>
                  </a:lnTo>
                  <a:lnTo>
                    <a:pt x="155" y="324"/>
                  </a:lnTo>
                  <a:lnTo>
                    <a:pt x="157" y="322"/>
                  </a:lnTo>
                  <a:lnTo>
                    <a:pt x="162" y="320"/>
                  </a:lnTo>
                  <a:lnTo>
                    <a:pt x="164" y="320"/>
                  </a:lnTo>
                  <a:lnTo>
                    <a:pt x="164" y="322"/>
                  </a:lnTo>
                  <a:lnTo>
                    <a:pt x="162" y="324"/>
                  </a:lnTo>
                  <a:lnTo>
                    <a:pt x="162" y="325"/>
                  </a:lnTo>
                  <a:lnTo>
                    <a:pt x="164" y="325"/>
                  </a:lnTo>
                  <a:lnTo>
                    <a:pt x="164" y="325"/>
                  </a:lnTo>
                  <a:lnTo>
                    <a:pt x="168" y="322"/>
                  </a:lnTo>
                  <a:lnTo>
                    <a:pt x="170" y="320"/>
                  </a:lnTo>
                  <a:lnTo>
                    <a:pt x="170" y="320"/>
                  </a:lnTo>
                  <a:lnTo>
                    <a:pt x="170" y="320"/>
                  </a:lnTo>
                  <a:lnTo>
                    <a:pt x="170" y="318"/>
                  </a:lnTo>
                  <a:lnTo>
                    <a:pt x="170" y="318"/>
                  </a:lnTo>
                  <a:lnTo>
                    <a:pt x="172" y="316"/>
                  </a:lnTo>
                  <a:lnTo>
                    <a:pt x="180" y="314"/>
                  </a:lnTo>
                  <a:lnTo>
                    <a:pt x="180" y="312"/>
                  </a:lnTo>
                  <a:lnTo>
                    <a:pt x="182" y="312"/>
                  </a:lnTo>
                  <a:lnTo>
                    <a:pt x="182" y="312"/>
                  </a:lnTo>
                  <a:lnTo>
                    <a:pt x="182" y="310"/>
                  </a:lnTo>
                  <a:lnTo>
                    <a:pt x="183" y="310"/>
                  </a:lnTo>
                  <a:lnTo>
                    <a:pt x="189" y="310"/>
                  </a:lnTo>
                  <a:lnTo>
                    <a:pt x="191" y="308"/>
                  </a:lnTo>
                  <a:lnTo>
                    <a:pt x="197" y="308"/>
                  </a:lnTo>
                  <a:lnTo>
                    <a:pt x="199" y="308"/>
                  </a:lnTo>
                  <a:lnTo>
                    <a:pt x="201" y="308"/>
                  </a:lnTo>
                  <a:lnTo>
                    <a:pt x="201" y="308"/>
                  </a:lnTo>
                  <a:lnTo>
                    <a:pt x="202" y="308"/>
                  </a:lnTo>
                  <a:lnTo>
                    <a:pt x="202" y="310"/>
                  </a:lnTo>
                  <a:lnTo>
                    <a:pt x="204" y="308"/>
                  </a:lnTo>
                  <a:lnTo>
                    <a:pt x="206" y="306"/>
                  </a:lnTo>
                  <a:lnTo>
                    <a:pt x="206" y="306"/>
                  </a:lnTo>
                  <a:lnTo>
                    <a:pt x="208" y="305"/>
                  </a:lnTo>
                  <a:lnTo>
                    <a:pt x="208" y="305"/>
                  </a:lnTo>
                  <a:lnTo>
                    <a:pt x="208" y="303"/>
                  </a:lnTo>
                  <a:lnTo>
                    <a:pt x="210" y="303"/>
                  </a:lnTo>
                  <a:lnTo>
                    <a:pt x="212" y="305"/>
                  </a:lnTo>
                  <a:lnTo>
                    <a:pt x="212" y="305"/>
                  </a:lnTo>
                  <a:lnTo>
                    <a:pt x="216" y="305"/>
                  </a:lnTo>
                  <a:lnTo>
                    <a:pt x="216" y="303"/>
                  </a:lnTo>
                  <a:lnTo>
                    <a:pt x="216" y="303"/>
                  </a:lnTo>
                  <a:lnTo>
                    <a:pt x="216" y="299"/>
                  </a:lnTo>
                  <a:lnTo>
                    <a:pt x="216" y="297"/>
                  </a:lnTo>
                  <a:lnTo>
                    <a:pt x="216" y="297"/>
                  </a:lnTo>
                  <a:lnTo>
                    <a:pt x="216" y="295"/>
                  </a:lnTo>
                  <a:lnTo>
                    <a:pt x="216" y="295"/>
                  </a:lnTo>
                  <a:lnTo>
                    <a:pt x="216" y="295"/>
                  </a:lnTo>
                  <a:lnTo>
                    <a:pt x="216" y="293"/>
                  </a:lnTo>
                  <a:lnTo>
                    <a:pt x="218" y="293"/>
                  </a:lnTo>
                  <a:lnTo>
                    <a:pt x="220" y="293"/>
                  </a:lnTo>
                  <a:lnTo>
                    <a:pt x="220" y="291"/>
                  </a:lnTo>
                  <a:lnTo>
                    <a:pt x="220" y="287"/>
                  </a:lnTo>
                  <a:lnTo>
                    <a:pt x="220" y="287"/>
                  </a:lnTo>
                  <a:lnTo>
                    <a:pt x="222" y="286"/>
                  </a:lnTo>
                  <a:lnTo>
                    <a:pt x="222" y="284"/>
                  </a:lnTo>
                  <a:lnTo>
                    <a:pt x="223" y="282"/>
                  </a:lnTo>
                  <a:lnTo>
                    <a:pt x="223" y="282"/>
                  </a:lnTo>
                  <a:lnTo>
                    <a:pt x="233" y="282"/>
                  </a:lnTo>
                  <a:lnTo>
                    <a:pt x="233" y="282"/>
                  </a:lnTo>
                  <a:lnTo>
                    <a:pt x="235" y="284"/>
                  </a:lnTo>
                  <a:lnTo>
                    <a:pt x="239" y="289"/>
                  </a:lnTo>
                  <a:lnTo>
                    <a:pt x="244" y="289"/>
                  </a:lnTo>
                  <a:lnTo>
                    <a:pt x="248" y="286"/>
                  </a:lnTo>
                  <a:lnTo>
                    <a:pt x="250" y="286"/>
                  </a:lnTo>
                  <a:lnTo>
                    <a:pt x="252" y="284"/>
                  </a:lnTo>
                  <a:lnTo>
                    <a:pt x="252" y="286"/>
                  </a:lnTo>
                  <a:lnTo>
                    <a:pt x="252" y="286"/>
                  </a:lnTo>
                  <a:lnTo>
                    <a:pt x="252" y="287"/>
                  </a:lnTo>
                  <a:lnTo>
                    <a:pt x="250" y="287"/>
                  </a:lnTo>
                  <a:lnTo>
                    <a:pt x="252" y="287"/>
                  </a:lnTo>
                  <a:lnTo>
                    <a:pt x="252" y="287"/>
                  </a:lnTo>
                  <a:lnTo>
                    <a:pt x="254" y="289"/>
                  </a:lnTo>
                  <a:lnTo>
                    <a:pt x="256" y="289"/>
                  </a:lnTo>
                  <a:lnTo>
                    <a:pt x="258" y="289"/>
                  </a:lnTo>
                  <a:lnTo>
                    <a:pt x="258" y="291"/>
                  </a:lnTo>
                  <a:lnTo>
                    <a:pt x="258" y="299"/>
                  </a:lnTo>
                  <a:lnTo>
                    <a:pt x="260" y="301"/>
                  </a:lnTo>
                  <a:lnTo>
                    <a:pt x="260" y="303"/>
                  </a:lnTo>
                  <a:lnTo>
                    <a:pt x="262" y="305"/>
                  </a:lnTo>
                  <a:lnTo>
                    <a:pt x="263" y="305"/>
                  </a:lnTo>
                  <a:lnTo>
                    <a:pt x="265" y="305"/>
                  </a:lnTo>
                  <a:lnTo>
                    <a:pt x="267" y="303"/>
                  </a:lnTo>
                  <a:lnTo>
                    <a:pt x="269" y="303"/>
                  </a:lnTo>
                  <a:lnTo>
                    <a:pt x="271" y="305"/>
                  </a:lnTo>
                  <a:lnTo>
                    <a:pt x="275" y="305"/>
                  </a:lnTo>
                  <a:lnTo>
                    <a:pt x="275" y="305"/>
                  </a:lnTo>
                  <a:lnTo>
                    <a:pt x="275" y="306"/>
                  </a:lnTo>
                  <a:lnTo>
                    <a:pt x="277" y="310"/>
                  </a:lnTo>
                  <a:lnTo>
                    <a:pt x="275" y="310"/>
                  </a:lnTo>
                  <a:lnTo>
                    <a:pt x="275" y="312"/>
                  </a:lnTo>
                  <a:lnTo>
                    <a:pt x="273" y="314"/>
                  </a:lnTo>
                  <a:lnTo>
                    <a:pt x="273" y="314"/>
                  </a:lnTo>
                  <a:lnTo>
                    <a:pt x="273" y="316"/>
                  </a:lnTo>
                  <a:lnTo>
                    <a:pt x="281" y="320"/>
                  </a:lnTo>
                  <a:lnTo>
                    <a:pt x="286" y="324"/>
                  </a:lnTo>
                  <a:lnTo>
                    <a:pt x="288" y="325"/>
                  </a:lnTo>
                  <a:lnTo>
                    <a:pt x="290" y="325"/>
                  </a:lnTo>
                  <a:lnTo>
                    <a:pt x="290" y="324"/>
                  </a:lnTo>
                  <a:lnTo>
                    <a:pt x="290" y="324"/>
                  </a:lnTo>
                  <a:lnTo>
                    <a:pt x="290" y="322"/>
                  </a:lnTo>
                  <a:lnTo>
                    <a:pt x="290" y="322"/>
                  </a:lnTo>
                  <a:lnTo>
                    <a:pt x="290" y="320"/>
                  </a:lnTo>
                  <a:lnTo>
                    <a:pt x="290" y="320"/>
                  </a:lnTo>
                  <a:lnTo>
                    <a:pt x="292" y="320"/>
                  </a:lnTo>
                  <a:lnTo>
                    <a:pt x="292" y="318"/>
                  </a:lnTo>
                  <a:lnTo>
                    <a:pt x="292" y="314"/>
                  </a:lnTo>
                  <a:lnTo>
                    <a:pt x="294" y="312"/>
                  </a:lnTo>
                  <a:lnTo>
                    <a:pt x="294" y="310"/>
                  </a:lnTo>
                  <a:lnTo>
                    <a:pt x="298" y="308"/>
                  </a:lnTo>
                  <a:lnTo>
                    <a:pt x="302" y="303"/>
                  </a:lnTo>
                  <a:lnTo>
                    <a:pt x="303" y="303"/>
                  </a:lnTo>
                  <a:lnTo>
                    <a:pt x="305" y="305"/>
                  </a:lnTo>
                  <a:lnTo>
                    <a:pt x="307" y="305"/>
                  </a:lnTo>
                  <a:lnTo>
                    <a:pt x="309" y="305"/>
                  </a:lnTo>
                  <a:lnTo>
                    <a:pt x="311" y="305"/>
                  </a:lnTo>
                  <a:lnTo>
                    <a:pt x="313" y="305"/>
                  </a:lnTo>
                  <a:lnTo>
                    <a:pt x="315" y="303"/>
                  </a:lnTo>
                  <a:lnTo>
                    <a:pt x="317" y="301"/>
                  </a:lnTo>
                  <a:lnTo>
                    <a:pt x="317" y="301"/>
                  </a:lnTo>
                  <a:lnTo>
                    <a:pt x="317" y="301"/>
                  </a:lnTo>
                  <a:lnTo>
                    <a:pt x="319" y="301"/>
                  </a:lnTo>
                  <a:lnTo>
                    <a:pt x="321" y="301"/>
                  </a:lnTo>
                  <a:lnTo>
                    <a:pt x="323" y="305"/>
                  </a:lnTo>
                  <a:lnTo>
                    <a:pt x="330" y="306"/>
                  </a:lnTo>
                  <a:lnTo>
                    <a:pt x="330" y="306"/>
                  </a:lnTo>
                  <a:lnTo>
                    <a:pt x="330" y="305"/>
                  </a:lnTo>
                  <a:lnTo>
                    <a:pt x="330" y="303"/>
                  </a:lnTo>
                  <a:lnTo>
                    <a:pt x="330" y="301"/>
                  </a:lnTo>
                  <a:lnTo>
                    <a:pt x="332" y="299"/>
                  </a:lnTo>
                  <a:lnTo>
                    <a:pt x="332" y="299"/>
                  </a:lnTo>
                  <a:lnTo>
                    <a:pt x="334" y="297"/>
                  </a:lnTo>
                  <a:lnTo>
                    <a:pt x="336" y="299"/>
                  </a:lnTo>
                  <a:lnTo>
                    <a:pt x="342" y="301"/>
                  </a:lnTo>
                  <a:lnTo>
                    <a:pt x="343" y="301"/>
                  </a:lnTo>
                  <a:lnTo>
                    <a:pt x="343" y="301"/>
                  </a:lnTo>
                  <a:lnTo>
                    <a:pt x="345" y="299"/>
                  </a:lnTo>
                  <a:lnTo>
                    <a:pt x="345" y="297"/>
                  </a:lnTo>
                  <a:lnTo>
                    <a:pt x="345" y="295"/>
                  </a:lnTo>
                  <a:lnTo>
                    <a:pt x="347" y="293"/>
                  </a:lnTo>
                  <a:lnTo>
                    <a:pt x="345" y="289"/>
                  </a:lnTo>
                  <a:lnTo>
                    <a:pt x="347" y="284"/>
                  </a:lnTo>
                  <a:lnTo>
                    <a:pt x="347" y="284"/>
                  </a:lnTo>
                  <a:lnTo>
                    <a:pt x="347" y="282"/>
                  </a:lnTo>
                  <a:lnTo>
                    <a:pt x="347" y="282"/>
                  </a:lnTo>
                  <a:lnTo>
                    <a:pt x="347" y="280"/>
                  </a:lnTo>
                  <a:lnTo>
                    <a:pt x="347" y="280"/>
                  </a:lnTo>
                  <a:lnTo>
                    <a:pt x="347" y="280"/>
                  </a:lnTo>
                  <a:lnTo>
                    <a:pt x="349" y="276"/>
                  </a:lnTo>
                  <a:lnTo>
                    <a:pt x="351" y="274"/>
                  </a:lnTo>
                  <a:lnTo>
                    <a:pt x="351" y="274"/>
                  </a:lnTo>
                  <a:lnTo>
                    <a:pt x="351" y="272"/>
                  </a:lnTo>
                  <a:lnTo>
                    <a:pt x="351" y="261"/>
                  </a:lnTo>
                  <a:lnTo>
                    <a:pt x="351" y="261"/>
                  </a:lnTo>
                  <a:lnTo>
                    <a:pt x="351" y="259"/>
                  </a:lnTo>
                  <a:lnTo>
                    <a:pt x="355" y="255"/>
                  </a:lnTo>
                  <a:lnTo>
                    <a:pt x="357" y="253"/>
                  </a:lnTo>
                  <a:lnTo>
                    <a:pt x="357" y="253"/>
                  </a:lnTo>
                  <a:lnTo>
                    <a:pt x="361" y="251"/>
                  </a:lnTo>
                  <a:lnTo>
                    <a:pt x="361" y="251"/>
                  </a:lnTo>
                  <a:lnTo>
                    <a:pt x="364" y="251"/>
                  </a:lnTo>
                  <a:lnTo>
                    <a:pt x="364" y="251"/>
                  </a:lnTo>
                  <a:lnTo>
                    <a:pt x="364" y="251"/>
                  </a:lnTo>
                  <a:lnTo>
                    <a:pt x="366" y="246"/>
                  </a:lnTo>
                  <a:lnTo>
                    <a:pt x="366" y="244"/>
                  </a:lnTo>
                  <a:lnTo>
                    <a:pt x="366" y="242"/>
                  </a:lnTo>
                  <a:lnTo>
                    <a:pt x="368" y="240"/>
                  </a:lnTo>
                  <a:lnTo>
                    <a:pt x="368" y="240"/>
                  </a:lnTo>
                  <a:lnTo>
                    <a:pt x="372" y="240"/>
                  </a:lnTo>
                  <a:lnTo>
                    <a:pt x="372" y="240"/>
                  </a:lnTo>
                  <a:lnTo>
                    <a:pt x="372" y="238"/>
                  </a:lnTo>
                  <a:lnTo>
                    <a:pt x="372" y="238"/>
                  </a:lnTo>
                  <a:lnTo>
                    <a:pt x="374" y="238"/>
                  </a:lnTo>
                  <a:lnTo>
                    <a:pt x="374" y="240"/>
                  </a:lnTo>
                  <a:lnTo>
                    <a:pt x="376" y="240"/>
                  </a:lnTo>
                  <a:lnTo>
                    <a:pt x="378" y="240"/>
                  </a:lnTo>
                  <a:lnTo>
                    <a:pt x="380" y="240"/>
                  </a:lnTo>
                  <a:lnTo>
                    <a:pt x="380" y="238"/>
                  </a:lnTo>
                  <a:lnTo>
                    <a:pt x="380" y="236"/>
                  </a:lnTo>
                  <a:lnTo>
                    <a:pt x="382" y="234"/>
                  </a:lnTo>
                  <a:lnTo>
                    <a:pt x="382" y="234"/>
                  </a:lnTo>
                  <a:lnTo>
                    <a:pt x="382" y="232"/>
                  </a:lnTo>
                  <a:lnTo>
                    <a:pt x="382" y="232"/>
                  </a:lnTo>
                  <a:lnTo>
                    <a:pt x="384" y="230"/>
                  </a:lnTo>
                  <a:lnTo>
                    <a:pt x="387" y="227"/>
                  </a:lnTo>
                  <a:lnTo>
                    <a:pt x="389" y="227"/>
                  </a:lnTo>
                  <a:lnTo>
                    <a:pt x="389" y="227"/>
                  </a:lnTo>
                  <a:lnTo>
                    <a:pt x="389" y="227"/>
                  </a:lnTo>
                  <a:lnTo>
                    <a:pt x="391" y="227"/>
                  </a:lnTo>
                  <a:lnTo>
                    <a:pt x="391" y="227"/>
                  </a:lnTo>
                  <a:lnTo>
                    <a:pt x="393" y="228"/>
                  </a:lnTo>
                  <a:lnTo>
                    <a:pt x="393" y="228"/>
                  </a:lnTo>
                  <a:lnTo>
                    <a:pt x="395" y="230"/>
                  </a:lnTo>
                  <a:lnTo>
                    <a:pt x="395" y="232"/>
                  </a:lnTo>
                  <a:lnTo>
                    <a:pt x="401" y="232"/>
                  </a:lnTo>
                  <a:lnTo>
                    <a:pt x="403" y="234"/>
                  </a:lnTo>
                  <a:lnTo>
                    <a:pt x="406" y="232"/>
                  </a:lnTo>
                  <a:lnTo>
                    <a:pt x="410" y="234"/>
                  </a:lnTo>
                  <a:lnTo>
                    <a:pt x="410" y="234"/>
                  </a:lnTo>
                  <a:lnTo>
                    <a:pt x="412" y="234"/>
                  </a:lnTo>
                  <a:lnTo>
                    <a:pt x="412" y="236"/>
                  </a:lnTo>
                  <a:lnTo>
                    <a:pt x="412" y="236"/>
                  </a:lnTo>
                  <a:lnTo>
                    <a:pt x="416" y="234"/>
                  </a:lnTo>
                  <a:lnTo>
                    <a:pt x="418" y="230"/>
                  </a:lnTo>
                  <a:lnTo>
                    <a:pt x="418" y="228"/>
                  </a:lnTo>
                  <a:lnTo>
                    <a:pt x="416" y="228"/>
                  </a:lnTo>
                  <a:lnTo>
                    <a:pt x="416" y="227"/>
                  </a:lnTo>
                  <a:lnTo>
                    <a:pt x="416" y="225"/>
                  </a:lnTo>
                  <a:lnTo>
                    <a:pt x="416" y="223"/>
                  </a:lnTo>
                  <a:lnTo>
                    <a:pt x="414" y="223"/>
                  </a:lnTo>
                  <a:lnTo>
                    <a:pt x="414" y="221"/>
                  </a:lnTo>
                  <a:lnTo>
                    <a:pt x="414" y="221"/>
                  </a:lnTo>
                  <a:lnTo>
                    <a:pt x="414" y="221"/>
                  </a:lnTo>
                  <a:lnTo>
                    <a:pt x="412" y="221"/>
                  </a:lnTo>
                  <a:lnTo>
                    <a:pt x="412" y="221"/>
                  </a:lnTo>
                  <a:lnTo>
                    <a:pt x="412" y="221"/>
                  </a:lnTo>
                  <a:lnTo>
                    <a:pt x="412" y="221"/>
                  </a:lnTo>
                  <a:lnTo>
                    <a:pt x="412" y="221"/>
                  </a:lnTo>
                  <a:lnTo>
                    <a:pt x="412" y="221"/>
                  </a:lnTo>
                  <a:lnTo>
                    <a:pt x="410" y="219"/>
                  </a:lnTo>
                  <a:lnTo>
                    <a:pt x="410" y="219"/>
                  </a:lnTo>
                  <a:lnTo>
                    <a:pt x="410" y="219"/>
                  </a:lnTo>
                  <a:lnTo>
                    <a:pt x="410" y="219"/>
                  </a:lnTo>
                  <a:lnTo>
                    <a:pt x="408" y="219"/>
                  </a:lnTo>
                  <a:lnTo>
                    <a:pt x="408" y="217"/>
                  </a:lnTo>
                  <a:lnTo>
                    <a:pt x="408" y="217"/>
                  </a:lnTo>
                  <a:lnTo>
                    <a:pt x="408" y="217"/>
                  </a:lnTo>
                  <a:lnTo>
                    <a:pt x="410" y="217"/>
                  </a:lnTo>
                  <a:lnTo>
                    <a:pt x="410" y="215"/>
                  </a:lnTo>
                  <a:lnTo>
                    <a:pt x="410" y="215"/>
                  </a:lnTo>
                  <a:lnTo>
                    <a:pt x="410" y="215"/>
                  </a:lnTo>
                  <a:lnTo>
                    <a:pt x="410" y="215"/>
                  </a:lnTo>
                  <a:lnTo>
                    <a:pt x="410" y="215"/>
                  </a:lnTo>
                  <a:lnTo>
                    <a:pt x="410" y="213"/>
                  </a:lnTo>
                  <a:lnTo>
                    <a:pt x="412" y="213"/>
                  </a:lnTo>
                  <a:lnTo>
                    <a:pt x="416" y="211"/>
                  </a:lnTo>
                  <a:lnTo>
                    <a:pt x="418" y="211"/>
                  </a:lnTo>
                  <a:lnTo>
                    <a:pt x="420" y="209"/>
                  </a:lnTo>
                  <a:lnTo>
                    <a:pt x="420" y="209"/>
                  </a:lnTo>
                  <a:lnTo>
                    <a:pt x="422" y="208"/>
                  </a:lnTo>
                  <a:lnTo>
                    <a:pt x="422" y="208"/>
                  </a:lnTo>
                  <a:lnTo>
                    <a:pt x="422" y="208"/>
                  </a:lnTo>
                  <a:lnTo>
                    <a:pt x="422" y="208"/>
                  </a:lnTo>
                  <a:lnTo>
                    <a:pt x="422" y="208"/>
                  </a:lnTo>
                  <a:lnTo>
                    <a:pt x="425" y="206"/>
                  </a:lnTo>
                  <a:lnTo>
                    <a:pt x="427" y="206"/>
                  </a:lnTo>
                  <a:lnTo>
                    <a:pt x="429" y="204"/>
                  </a:lnTo>
                  <a:lnTo>
                    <a:pt x="429" y="206"/>
                  </a:lnTo>
                  <a:lnTo>
                    <a:pt x="431" y="206"/>
                  </a:lnTo>
                  <a:lnTo>
                    <a:pt x="431" y="206"/>
                  </a:lnTo>
                  <a:lnTo>
                    <a:pt x="431" y="208"/>
                  </a:lnTo>
                  <a:lnTo>
                    <a:pt x="433" y="208"/>
                  </a:lnTo>
                  <a:lnTo>
                    <a:pt x="439" y="209"/>
                  </a:lnTo>
                  <a:lnTo>
                    <a:pt x="439" y="208"/>
                  </a:lnTo>
                  <a:lnTo>
                    <a:pt x="439" y="206"/>
                  </a:lnTo>
                  <a:lnTo>
                    <a:pt x="439" y="206"/>
                  </a:lnTo>
                  <a:lnTo>
                    <a:pt x="439" y="204"/>
                  </a:lnTo>
                  <a:lnTo>
                    <a:pt x="437" y="204"/>
                  </a:lnTo>
                  <a:lnTo>
                    <a:pt x="437" y="204"/>
                  </a:lnTo>
                  <a:lnTo>
                    <a:pt x="437" y="204"/>
                  </a:lnTo>
                  <a:lnTo>
                    <a:pt x="437" y="202"/>
                  </a:lnTo>
                  <a:lnTo>
                    <a:pt x="437" y="200"/>
                  </a:lnTo>
                  <a:lnTo>
                    <a:pt x="437" y="196"/>
                  </a:lnTo>
                  <a:lnTo>
                    <a:pt x="437" y="196"/>
                  </a:lnTo>
                  <a:lnTo>
                    <a:pt x="437" y="194"/>
                  </a:lnTo>
                  <a:lnTo>
                    <a:pt x="437" y="192"/>
                  </a:lnTo>
                  <a:lnTo>
                    <a:pt x="437" y="190"/>
                  </a:lnTo>
                  <a:lnTo>
                    <a:pt x="437" y="190"/>
                  </a:lnTo>
                  <a:lnTo>
                    <a:pt x="435" y="189"/>
                  </a:lnTo>
                  <a:lnTo>
                    <a:pt x="433" y="187"/>
                  </a:lnTo>
                  <a:lnTo>
                    <a:pt x="427" y="183"/>
                  </a:lnTo>
                  <a:lnTo>
                    <a:pt x="425" y="183"/>
                  </a:lnTo>
                  <a:lnTo>
                    <a:pt x="424" y="181"/>
                  </a:lnTo>
                  <a:lnTo>
                    <a:pt x="424" y="179"/>
                  </a:lnTo>
                  <a:lnTo>
                    <a:pt x="424" y="179"/>
                  </a:lnTo>
                  <a:lnTo>
                    <a:pt x="422" y="177"/>
                  </a:lnTo>
                  <a:lnTo>
                    <a:pt x="422" y="175"/>
                  </a:lnTo>
                  <a:lnTo>
                    <a:pt x="422" y="175"/>
                  </a:lnTo>
                  <a:lnTo>
                    <a:pt x="422" y="175"/>
                  </a:lnTo>
                  <a:lnTo>
                    <a:pt x="420" y="173"/>
                  </a:lnTo>
                  <a:lnTo>
                    <a:pt x="420" y="171"/>
                  </a:lnTo>
                  <a:lnTo>
                    <a:pt x="416" y="171"/>
                  </a:lnTo>
                  <a:lnTo>
                    <a:pt x="414" y="170"/>
                  </a:lnTo>
                  <a:lnTo>
                    <a:pt x="414" y="170"/>
                  </a:lnTo>
                  <a:lnTo>
                    <a:pt x="414" y="168"/>
                  </a:lnTo>
                  <a:lnTo>
                    <a:pt x="414" y="168"/>
                  </a:lnTo>
                  <a:lnTo>
                    <a:pt x="414" y="168"/>
                  </a:lnTo>
                  <a:lnTo>
                    <a:pt x="414" y="168"/>
                  </a:lnTo>
                  <a:lnTo>
                    <a:pt x="412" y="166"/>
                  </a:lnTo>
                  <a:lnTo>
                    <a:pt x="412" y="166"/>
                  </a:lnTo>
                  <a:lnTo>
                    <a:pt x="412" y="166"/>
                  </a:lnTo>
                  <a:lnTo>
                    <a:pt x="412" y="166"/>
                  </a:lnTo>
                  <a:lnTo>
                    <a:pt x="414" y="164"/>
                  </a:lnTo>
                  <a:lnTo>
                    <a:pt x="414" y="164"/>
                  </a:lnTo>
                  <a:lnTo>
                    <a:pt x="416" y="164"/>
                  </a:lnTo>
                  <a:lnTo>
                    <a:pt x="416" y="164"/>
                  </a:lnTo>
                  <a:lnTo>
                    <a:pt x="416" y="164"/>
                  </a:lnTo>
                  <a:lnTo>
                    <a:pt x="416" y="160"/>
                  </a:lnTo>
                  <a:lnTo>
                    <a:pt x="416" y="158"/>
                  </a:lnTo>
                  <a:lnTo>
                    <a:pt x="416" y="158"/>
                  </a:lnTo>
                  <a:lnTo>
                    <a:pt x="416" y="156"/>
                  </a:lnTo>
                  <a:lnTo>
                    <a:pt x="416" y="156"/>
                  </a:lnTo>
                  <a:lnTo>
                    <a:pt x="416" y="156"/>
                  </a:lnTo>
                  <a:lnTo>
                    <a:pt x="416" y="156"/>
                  </a:lnTo>
                  <a:lnTo>
                    <a:pt x="418" y="154"/>
                  </a:lnTo>
                  <a:lnTo>
                    <a:pt x="420" y="152"/>
                  </a:lnTo>
                  <a:lnTo>
                    <a:pt x="427" y="147"/>
                  </a:lnTo>
                  <a:lnTo>
                    <a:pt x="429" y="143"/>
                  </a:lnTo>
                  <a:lnTo>
                    <a:pt x="431" y="141"/>
                  </a:lnTo>
                  <a:lnTo>
                    <a:pt x="431" y="141"/>
                  </a:lnTo>
                  <a:lnTo>
                    <a:pt x="431" y="141"/>
                  </a:lnTo>
                  <a:lnTo>
                    <a:pt x="433" y="141"/>
                  </a:lnTo>
                  <a:lnTo>
                    <a:pt x="433" y="141"/>
                  </a:lnTo>
                  <a:lnTo>
                    <a:pt x="433" y="141"/>
                  </a:lnTo>
                  <a:lnTo>
                    <a:pt x="437" y="139"/>
                  </a:lnTo>
                  <a:lnTo>
                    <a:pt x="437" y="139"/>
                  </a:lnTo>
                  <a:lnTo>
                    <a:pt x="439" y="137"/>
                  </a:lnTo>
                  <a:lnTo>
                    <a:pt x="441" y="137"/>
                  </a:lnTo>
                  <a:lnTo>
                    <a:pt x="441" y="135"/>
                  </a:lnTo>
                  <a:lnTo>
                    <a:pt x="443" y="133"/>
                  </a:lnTo>
                  <a:lnTo>
                    <a:pt x="446" y="130"/>
                  </a:lnTo>
                  <a:lnTo>
                    <a:pt x="448" y="128"/>
                  </a:lnTo>
                  <a:lnTo>
                    <a:pt x="448" y="128"/>
                  </a:lnTo>
                  <a:lnTo>
                    <a:pt x="452" y="126"/>
                  </a:lnTo>
                  <a:lnTo>
                    <a:pt x="452" y="126"/>
                  </a:lnTo>
                  <a:lnTo>
                    <a:pt x="456" y="124"/>
                  </a:lnTo>
                  <a:lnTo>
                    <a:pt x="456" y="122"/>
                  </a:lnTo>
                  <a:lnTo>
                    <a:pt x="458" y="122"/>
                  </a:lnTo>
                  <a:lnTo>
                    <a:pt x="460" y="122"/>
                  </a:lnTo>
                  <a:lnTo>
                    <a:pt x="460" y="122"/>
                  </a:lnTo>
                  <a:lnTo>
                    <a:pt x="460" y="122"/>
                  </a:lnTo>
                  <a:lnTo>
                    <a:pt x="460" y="122"/>
                  </a:lnTo>
                  <a:lnTo>
                    <a:pt x="460" y="120"/>
                  </a:lnTo>
                  <a:lnTo>
                    <a:pt x="460" y="120"/>
                  </a:lnTo>
                  <a:close/>
                </a:path>
              </a:pathLst>
            </a:custGeom>
            <a:solidFill>
              <a:schemeClr val="tx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20" name="Freeform 70">
              <a:extLst>
                <a:ext uri="{FF2B5EF4-FFF2-40B4-BE49-F238E27FC236}">
                  <a16:creationId xmlns:a16="http://schemas.microsoft.com/office/drawing/2014/main" id="{932C8BF0-FFA1-19D9-2047-23416B777A80}"/>
                </a:ext>
              </a:extLst>
            </p:cNvPr>
            <p:cNvSpPr>
              <a:spLocks/>
            </p:cNvSpPr>
            <p:nvPr/>
          </p:nvSpPr>
          <p:spPr bwMode="auto">
            <a:xfrm>
              <a:off x="4754673" y="2838019"/>
              <a:ext cx="1107396" cy="668154"/>
            </a:xfrm>
            <a:custGeom>
              <a:avLst/>
              <a:gdLst>
                <a:gd name="T0" fmla="*/ 576 w 587"/>
                <a:gd name="T1" fmla="*/ 57 h 395"/>
                <a:gd name="T2" fmla="*/ 566 w 587"/>
                <a:gd name="T3" fmla="*/ 36 h 395"/>
                <a:gd name="T4" fmla="*/ 544 w 587"/>
                <a:gd name="T5" fmla="*/ 9 h 395"/>
                <a:gd name="T6" fmla="*/ 462 w 587"/>
                <a:gd name="T7" fmla="*/ 34 h 395"/>
                <a:gd name="T8" fmla="*/ 425 w 587"/>
                <a:gd name="T9" fmla="*/ 36 h 395"/>
                <a:gd name="T10" fmla="*/ 397 w 587"/>
                <a:gd name="T11" fmla="*/ 70 h 395"/>
                <a:gd name="T12" fmla="*/ 359 w 587"/>
                <a:gd name="T13" fmla="*/ 106 h 395"/>
                <a:gd name="T14" fmla="*/ 292 w 587"/>
                <a:gd name="T15" fmla="*/ 97 h 395"/>
                <a:gd name="T16" fmla="*/ 223 w 587"/>
                <a:gd name="T17" fmla="*/ 110 h 395"/>
                <a:gd name="T18" fmla="*/ 202 w 587"/>
                <a:gd name="T19" fmla="*/ 118 h 395"/>
                <a:gd name="T20" fmla="*/ 161 w 587"/>
                <a:gd name="T21" fmla="*/ 118 h 395"/>
                <a:gd name="T22" fmla="*/ 119 w 587"/>
                <a:gd name="T23" fmla="*/ 125 h 395"/>
                <a:gd name="T24" fmla="*/ 29 w 587"/>
                <a:gd name="T25" fmla="*/ 131 h 395"/>
                <a:gd name="T26" fmla="*/ 18 w 587"/>
                <a:gd name="T27" fmla="*/ 167 h 395"/>
                <a:gd name="T28" fmla="*/ 8 w 587"/>
                <a:gd name="T29" fmla="*/ 180 h 395"/>
                <a:gd name="T30" fmla="*/ 6 w 587"/>
                <a:gd name="T31" fmla="*/ 190 h 395"/>
                <a:gd name="T32" fmla="*/ 14 w 587"/>
                <a:gd name="T33" fmla="*/ 205 h 395"/>
                <a:gd name="T34" fmla="*/ 16 w 587"/>
                <a:gd name="T35" fmla="*/ 251 h 395"/>
                <a:gd name="T36" fmla="*/ 31 w 587"/>
                <a:gd name="T37" fmla="*/ 249 h 395"/>
                <a:gd name="T38" fmla="*/ 29 w 587"/>
                <a:gd name="T39" fmla="*/ 230 h 395"/>
                <a:gd name="T40" fmla="*/ 61 w 587"/>
                <a:gd name="T41" fmla="*/ 207 h 395"/>
                <a:gd name="T42" fmla="*/ 82 w 587"/>
                <a:gd name="T43" fmla="*/ 213 h 395"/>
                <a:gd name="T44" fmla="*/ 92 w 587"/>
                <a:gd name="T45" fmla="*/ 213 h 395"/>
                <a:gd name="T46" fmla="*/ 122 w 587"/>
                <a:gd name="T47" fmla="*/ 211 h 395"/>
                <a:gd name="T48" fmla="*/ 132 w 587"/>
                <a:gd name="T49" fmla="*/ 222 h 395"/>
                <a:gd name="T50" fmla="*/ 157 w 587"/>
                <a:gd name="T51" fmla="*/ 222 h 395"/>
                <a:gd name="T52" fmla="*/ 174 w 587"/>
                <a:gd name="T53" fmla="*/ 209 h 395"/>
                <a:gd name="T54" fmla="*/ 183 w 587"/>
                <a:gd name="T55" fmla="*/ 213 h 395"/>
                <a:gd name="T56" fmla="*/ 208 w 587"/>
                <a:gd name="T57" fmla="*/ 201 h 395"/>
                <a:gd name="T58" fmla="*/ 233 w 587"/>
                <a:gd name="T59" fmla="*/ 207 h 395"/>
                <a:gd name="T60" fmla="*/ 233 w 587"/>
                <a:gd name="T61" fmla="*/ 238 h 395"/>
                <a:gd name="T62" fmla="*/ 265 w 587"/>
                <a:gd name="T63" fmla="*/ 239 h 395"/>
                <a:gd name="T64" fmla="*/ 279 w 587"/>
                <a:gd name="T65" fmla="*/ 249 h 395"/>
                <a:gd name="T66" fmla="*/ 281 w 587"/>
                <a:gd name="T67" fmla="*/ 264 h 395"/>
                <a:gd name="T68" fmla="*/ 290 w 587"/>
                <a:gd name="T69" fmla="*/ 281 h 395"/>
                <a:gd name="T70" fmla="*/ 265 w 587"/>
                <a:gd name="T71" fmla="*/ 295 h 395"/>
                <a:gd name="T72" fmla="*/ 258 w 587"/>
                <a:gd name="T73" fmla="*/ 312 h 395"/>
                <a:gd name="T74" fmla="*/ 250 w 587"/>
                <a:gd name="T75" fmla="*/ 325 h 395"/>
                <a:gd name="T76" fmla="*/ 239 w 587"/>
                <a:gd name="T77" fmla="*/ 329 h 395"/>
                <a:gd name="T78" fmla="*/ 241 w 587"/>
                <a:gd name="T79" fmla="*/ 371 h 395"/>
                <a:gd name="T80" fmla="*/ 256 w 587"/>
                <a:gd name="T81" fmla="*/ 388 h 395"/>
                <a:gd name="T82" fmla="*/ 273 w 587"/>
                <a:gd name="T83" fmla="*/ 386 h 395"/>
                <a:gd name="T84" fmla="*/ 288 w 587"/>
                <a:gd name="T85" fmla="*/ 361 h 395"/>
                <a:gd name="T86" fmla="*/ 317 w 587"/>
                <a:gd name="T87" fmla="*/ 352 h 395"/>
                <a:gd name="T88" fmla="*/ 321 w 587"/>
                <a:gd name="T89" fmla="*/ 327 h 395"/>
                <a:gd name="T90" fmla="*/ 332 w 587"/>
                <a:gd name="T91" fmla="*/ 316 h 395"/>
                <a:gd name="T92" fmla="*/ 336 w 587"/>
                <a:gd name="T93" fmla="*/ 302 h 395"/>
                <a:gd name="T94" fmla="*/ 351 w 587"/>
                <a:gd name="T95" fmla="*/ 268 h 395"/>
                <a:gd name="T96" fmla="*/ 342 w 587"/>
                <a:gd name="T97" fmla="*/ 255 h 395"/>
                <a:gd name="T98" fmla="*/ 372 w 587"/>
                <a:gd name="T99" fmla="*/ 215 h 395"/>
                <a:gd name="T100" fmla="*/ 384 w 587"/>
                <a:gd name="T101" fmla="*/ 219 h 395"/>
                <a:gd name="T102" fmla="*/ 401 w 587"/>
                <a:gd name="T103" fmla="*/ 211 h 395"/>
                <a:gd name="T104" fmla="*/ 410 w 587"/>
                <a:gd name="T105" fmla="*/ 175 h 395"/>
                <a:gd name="T106" fmla="*/ 429 w 587"/>
                <a:gd name="T107" fmla="*/ 156 h 395"/>
                <a:gd name="T108" fmla="*/ 446 w 587"/>
                <a:gd name="T109" fmla="*/ 137 h 395"/>
                <a:gd name="T110" fmla="*/ 486 w 587"/>
                <a:gd name="T111" fmla="*/ 108 h 395"/>
                <a:gd name="T112" fmla="*/ 511 w 587"/>
                <a:gd name="T113" fmla="*/ 99 h 395"/>
                <a:gd name="T114" fmla="*/ 538 w 587"/>
                <a:gd name="T115" fmla="*/ 78 h 395"/>
                <a:gd name="T116" fmla="*/ 574 w 587"/>
                <a:gd name="T117" fmla="*/ 72 h 395"/>
                <a:gd name="T118" fmla="*/ 586 w 587"/>
                <a:gd name="T119" fmla="*/ 64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7" h="395">
                  <a:moveTo>
                    <a:pt x="587" y="61"/>
                  </a:moveTo>
                  <a:lnTo>
                    <a:pt x="586" y="59"/>
                  </a:lnTo>
                  <a:lnTo>
                    <a:pt x="586" y="57"/>
                  </a:lnTo>
                  <a:lnTo>
                    <a:pt x="584" y="57"/>
                  </a:lnTo>
                  <a:lnTo>
                    <a:pt x="584" y="55"/>
                  </a:lnTo>
                  <a:lnTo>
                    <a:pt x="582" y="55"/>
                  </a:lnTo>
                  <a:lnTo>
                    <a:pt x="582" y="57"/>
                  </a:lnTo>
                  <a:lnTo>
                    <a:pt x="582" y="57"/>
                  </a:lnTo>
                  <a:lnTo>
                    <a:pt x="580" y="57"/>
                  </a:lnTo>
                  <a:lnTo>
                    <a:pt x="580" y="57"/>
                  </a:lnTo>
                  <a:lnTo>
                    <a:pt x="580" y="57"/>
                  </a:lnTo>
                  <a:lnTo>
                    <a:pt x="576" y="61"/>
                  </a:lnTo>
                  <a:lnTo>
                    <a:pt x="576" y="61"/>
                  </a:lnTo>
                  <a:lnTo>
                    <a:pt x="576" y="61"/>
                  </a:lnTo>
                  <a:lnTo>
                    <a:pt x="576" y="61"/>
                  </a:lnTo>
                  <a:lnTo>
                    <a:pt x="576" y="59"/>
                  </a:lnTo>
                  <a:lnTo>
                    <a:pt x="576" y="57"/>
                  </a:lnTo>
                  <a:lnTo>
                    <a:pt x="576" y="57"/>
                  </a:lnTo>
                  <a:lnTo>
                    <a:pt x="574" y="55"/>
                  </a:lnTo>
                  <a:lnTo>
                    <a:pt x="574" y="55"/>
                  </a:lnTo>
                  <a:lnTo>
                    <a:pt x="574" y="55"/>
                  </a:lnTo>
                  <a:lnTo>
                    <a:pt x="576" y="51"/>
                  </a:lnTo>
                  <a:lnTo>
                    <a:pt x="576" y="49"/>
                  </a:lnTo>
                  <a:lnTo>
                    <a:pt x="576" y="45"/>
                  </a:lnTo>
                  <a:lnTo>
                    <a:pt x="574" y="44"/>
                  </a:lnTo>
                  <a:lnTo>
                    <a:pt x="574" y="44"/>
                  </a:lnTo>
                  <a:lnTo>
                    <a:pt x="572" y="42"/>
                  </a:lnTo>
                  <a:lnTo>
                    <a:pt x="570" y="42"/>
                  </a:lnTo>
                  <a:lnTo>
                    <a:pt x="570" y="40"/>
                  </a:lnTo>
                  <a:lnTo>
                    <a:pt x="570" y="40"/>
                  </a:lnTo>
                  <a:lnTo>
                    <a:pt x="568" y="40"/>
                  </a:lnTo>
                  <a:lnTo>
                    <a:pt x="568" y="38"/>
                  </a:lnTo>
                  <a:lnTo>
                    <a:pt x="566" y="38"/>
                  </a:lnTo>
                  <a:lnTo>
                    <a:pt x="566" y="36"/>
                  </a:lnTo>
                  <a:lnTo>
                    <a:pt x="566" y="30"/>
                  </a:lnTo>
                  <a:lnTo>
                    <a:pt x="566" y="30"/>
                  </a:lnTo>
                  <a:lnTo>
                    <a:pt x="565" y="28"/>
                  </a:lnTo>
                  <a:lnTo>
                    <a:pt x="566" y="26"/>
                  </a:lnTo>
                  <a:lnTo>
                    <a:pt x="568" y="23"/>
                  </a:lnTo>
                  <a:lnTo>
                    <a:pt x="576" y="13"/>
                  </a:lnTo>
                  <a:lnTo>
                    <a:pt x="580" y="7"/>
                  </a:lnTo>
                  <a:lnTo>
                    <a:pt x="582" y="4"/>
                  </a:lnTo>
                  <a:lnTo>
                    <a:pt x="584" y="2"/>
                  </a:lnTo>
                  <a:lnTo>
                    <a:pt x="584" y="0"/>
                  </a:lnTo>
                  <a:lnTo>
                    <a:pt x="584" y="0"/>
                  </a:lnTo>
                  <a:lnTo>
                    <a:pt x="584" y="0"/>
                  </a:lnTo>
                  <a:lnTo>
                    <a:pt x="561" y="0"/>
                  </a:lnTo>
                  <a:lnTo>
                    <a:pt x="555" y="2"/>
                  </a:lnTo>
                  <a:lnTo>
                    <a:pt x="547" y="6"/>
                  </a:lnTo>
                  <a:lnTo>
                    <a:pt x="545" y="7"/>
                  </a:lnTo>
                  <a:lnTo>
                    <a:pt x="544" y="9"/>
                  </a:lnTo>
                  <a:lnTo>
                    <a:pt x="540" y="11"/>
                  </a:lnTo>
                  <a:lnTo>
                    <a:pt x="532" y="13"/>
                  </a:lnTo>
                  <a:lnTo>
                    <a:pt x="528" y="13"/>
                  </a:lnTo>
                  <a:lnTo>
                    <a:pt x="528" y="11"/>
                  </a:lnTo>
                  <a:lnTo>
                    <a:pt x="526" y="11"/>
                  </a:lnTo>
                  <a:lnTo>
                    <a:pt x="525" y="11"/>
                  </a:lnTo>
                  <a:lnTo>
                    <a:pt x="523" y="9"/>
                  </a:lnTo>
                  <a:lnTo>
                    <a:pt x="523" y="9"/>
                  </a:lnTo>
                  <a:lnTo>
                    <a:pt x="521" y="9"/>
                  </a:lnTo>
                  <a:lnTo>
                    <a:pt x="517" y="13"/>
                  </a:lnTo>
                  <a:lnTo>
                    <a:pt x="488" y="23"/>
                  </a:lnTo>
                  <a:lnTo>
                    <a:pt x="485" y="25"/>
                  </a:lnTo>
                  <a:lnTo>
                    <a:pt x="477" y="28"/>
                  </a:lnTo>
                  <a:lnTo>
                    <a:pt x="475" y="30"/>
                  </a:lnTo>
                  <a:lnTo>
                    <a:pt x="475" y="30"/>
                  </a:lnTo>
                  <a:lnTo>
                    <a:pt x="467" y="32"/>
                  </a:lnTo>
                  <a:lnTo>
                    <a:pt x="462" y="34"/>
                  </a:lnTo>
                  <a:lnTo>
                    <a:pt x="458" y="36"/>
                  </a:lnTo>
                  <a:lnTo>
                    <a:pt x="454" y="38"/>
                  </a:lnTo>
                  <a:lnTo>
                    <a:pt x="452" y="40"/>
                  </a:lnTo>
                  <a:lnTo>
                    <a:pt x="450" y="40"/>
                  </a:lnTo>
                  <a:lnTo>
                    <a:pt x="448" y="40"/>
                  </a:lnTo>
                  <a:lnTo>
                    <a:pt x="448" y="40"/>
                  </a:lnTo>
                  <a:lnTo>
                    <a:pt x="444" y="42"/>
                  </a:lnTo>
                  <a:lnTo>
                    <a:pt x="443" y="38"/>
                  </a:lnTo>
                  <a:lnTo>
                    <a:pt x="433" y="42"/>
                  </a:lnTo>
                  <a:lnTo>
                    <a:pt x="431" y="40"/>
                  </a:lnTo>
                  <a:lnTo>
                    <a:pt x="429" y="40"/>
                  </a:lnTo>
                  <a:lnTo>
                    <a:pt x="427" y="38"/>
                  </a:lnTo>
                  <a:lnTo>
                    <a:pt x="427" y="38"/>
                  </a:lnTo>
                  <a:lnTo>
                    <a:pt x="427" y="36"/>
                  </a:lnTo>
                  <a:lnTo>
                    <a:pt x="425" y="36"/>
                  </a:lnTo>
                  <a:lnTo>
                    <a:pt x="425" y="36"/>
                  </a:lnTo>
                  <a:lnTo>
                    <a:pt x="425" y="36"/>
                  </a:lnTo>
                  <a:lnTo>
                    <a:pt x="424" y="36"/>
                  </a:lnTo>
                  <a:lnTo>
                    <a:pt x="422" y="38"/>
                  </a:lnTo>
                  <a:lnTo>
                    <a:pt x="422" y="40"/>
                  </a:lnTo>
                  <a:lnTo>
                    <a:pt x="422" y="42"/>
                  </a:lnTo>
                  <a:lnTo>
                    <a:pt x="422" y="42"/>
                  </a:lnTo>
                  <a:lnTo>
                    <a:pt x="424" y="44"/>
                  </a:lnTo>
                  <a:lnTo>
                    <a:pt x="424" y="44"/>
                  </a:lnTo>
                  <a:lnTo>
                    <a:pt x="425" y="45"/>
                  </a:lnTo>
                  <a:lnTo>
                    <a:pt x="425" y="45"/>
                  </a:lnTo>
                  <a:lnTo>
                    <a:pt x="424" y="47"/>
                  </a:lnTo>
                  <a:lnTo>
                    <a:pt x="424" y="47"/>
                  </a:lnTo>
                  <a:lnTo>
                    <a:pt x="412" y="59"/>
                  </a:lnTo>
                  <a:lnTo>
                    <a:pt x="408" y="63"/>
                  </a:lnTo>
                  <a:lnTo>
                    <a:pt x="404" y="64"/>
                  </a:lnTo>
                  <a:lnTo>
                    <a:pt x="401" y="68"/>
                  </a:lnTo>
                  <a:lnTo>
                    <a:pt x="401" y="68"/>
                  </a:lnTo>
                  <a:lnTo>
                    <a:pt x="397" y="70"/>
                  </a:lnTo>
                  <a:lnTo>
                    <a:pt x="387" y="82"/>
                  </a:lnTo>
                  <a:lnTo>
                    <a:pt x="387" y="82"/>
                  </a:lnTo>
                  <a:lnTo>
                    <a:pt x="385" y="83"/>
                  </a:lnTo>
                  <a:lnTo>
                    <a:pt x="385" y="85"/>
                  </a:lnTo>
                  <a:lnTo>
                    <a:pt x="385" y="87"/>
                  </a:lnTo>
                  <a:lnTo>
                    <a:pt x="385" y="91"/>
                  </a:lnTo>
                  <a:lnTo>
                    <a:pt x="385" y="91"/>
                  </a:lnTo>
                  <a:lnTo>
                    <a:pt x="385" y="93"/>
                  </a:lnTo>
                  <a:lnTo>
                    <a:pt x="384" y="95"/>
                  </a:lnTo>
                  <a:lnTo>
                    <a:pt x="380" y="97"/>
                  </a:lnTo>
                  <a:lnTo>
                    <a:pt x="380" y="97"/>
                  </a:lnTo>
                  <a:lnTo>
                    <a:pt x="378" y="99"/>
                  </a:lnTo>
                  <a:lnTo>
                    <a:pt x="376" y="101"/>
                  </a:lnTo>
                  <a:lnTo>
                    <a:pt x="374" y="103"/>
                  </a:lnTo>
                  <a:lnTo>
                    <a:pt x="368" y="104"/>
                  </a:lnTo>
                  <a:lnTo>
                    <a:pt x="364" y="104"/>
                  </a:lnTo>
                  <a:lnTo>
                    <a:pt x="359" y="106"/>
                  </a:lnTo>
                  <a:lnTo>
                    <a:pt x="357" y="106"/>
                  </a:lnTo>
                  <a:lnTo>
                    <a:pt x="353" y="108"/>
                  </a:lnTo>
                  <a:lnTo>
                    <a:pt x="351" y="108"/>
                  </a:lnTo>
                  <a:lnTo>
                    <a:pt x="349" y="106"/>
                  </a:lnTo>
                  <a:lnTo>
                    <a:pt x="347" y="104"/>
                  </a:lnTo>
                  <a:lnTo>
                    <a:pt x="345" y="104"/>
                  </a:lnTo>
                  <a:lnTo>
                    <a:pt x="343" y="104"/>
                  </a:lnTo>
                  <a:lnTo>
                    <a:pt x="311" y="108"/>
                  </a:lnTo>
                  <a:lnTo>
                    <a:pt x="307" y="106"/>
                  </a:lnTo>
                  <a:lnTo>
                    <a:pt x="305" y="106"/>
                  </a:lnTo>
                  <a:lnTo>
                    <a:pt x="303" y="104"/>
                  </a:lnTo>
                  <a:lnTo>
                    <a:pt x="303" y="104"/>
                  </a:lnTo>
                  <a:lnTo>
                    <a:pt x="303" y="103"/>
                  </a:lnTo>
                  <a:lnTo>
                    <a:pt x="303" y="103"/>
                  </a:lnTo>
                  <a:lnTo>
                    <a:pt x="303" y="103"/>
                  </a:lnTo>
                  <a:lnTo>
                    <a:pt x="300" y="101"/>
                  </a:lnTo>
                  <a:lnTo>
                    <a:pt x="292" y="97"/>
                  </a:lnTo>
                  <a:lnTo>
                    <a:pt x="284" y="97"/>
                  </a:lnTo>
                  <a:lnTo>
                    <a:pt x="281" y="95"/>
                  </a:lnTo>
                  <a:lnTo>
                    <a:pt x="279" y="97"/>
                  </a:lnTo>
                  <a:lnTo>
                    <a:pt x="277" y="99"/>
                  </a:lnTo>
                  <a:lnTo>
                    <a:pt x="277" y="99"/>
                  </a:lnTo>
                  <a:lnTo>
                    <a:pt x="275" y="101"/>
                  </a:lnTo>
                  <a:lnTo>
                    <a:pt x="273" y="103"/>
                  </a:lnTo>
                  <a:lnTo>
                    <a:pt x="267" y="103"/>
                  </a:lnTo>
                  <a:lnTo>
                    <a:pt x="262" y="104"/>
                  </a:lnTo>
                  <a:lnTo>
                    <a:pt x="250" y="108"/>
                  </a:lnTo>
                  <a:lnTo>
                    <a:pt x="246" y="110"/>
                  </a:lnTo>
                  <a:lnTo>
                    <a:pt x="246" y="110"/>
                  </a:lnTo>
                  <a:lnTo>
                    <a:pt x="243" y="110"/>
                  </a:lnTo>
                  <a:lnTo>
                    <a:pt x="241" y="110"/>
                  </a:lnTo>
                  <a:lnTo>
                    <a:pt x="237" y="112"/>
                  </a:lnTo>
                  <a:lnTo>
                    <a:pt x="227" y="110"/>
                  </a:lnTo>
                  <a:lnTo>
                    <a:pt x="223" y="110"/>
                  </a:lnTo>
                  <a:lnTo>
                    <a:pt x="223" y="114"/>
                  </a:lnTo>
                  <a:lnTo>
                    <a:pt x="220" y="118"/>
                  </a:lnTo>
                  <a:lnTo>
                    <a:pt x="214" y="118"/>
                  </a:lnTo>
                  <a:lnTo>
                    <a:pt x="212" y="118"/>
                  </a:lnTo>
                  <a:lnTo>
                    <a:pt x="210" y="116"/>
                  </a:lnTo>
                  <a:lnTo>
                    <a:pt x="208" y="114"/>
                  </a:lnTo>
                  <a:lnTo>
                    <a:pt x="206" y="114"/>
                  </a:lnTo>
                  <a:lnTo>
                    <a:pt x="206" y="116"/>
                  </a:lnTo>
                  <a:lnTo>
                    <a:pt x="206" y="118"/>
                  </a:lnTo>
                  <a:lnTo>
                    <a:pt x="204" y="120"/>
                  </a:lnTo>
                  <a:lnTo>
                    <a:pt x="206" y="120"/>
                  </a:lnTo>
                  <a:lnTo>
                    <a:pt x="206" y="122"/>
                  </a:lnTo>
                  <a:lnTo>
                    <a:pt x="206" y="123"/>
                  </a:lnTo>
                  <a:lnTo>
                    <a:pt x="204" y="123"/>
                  </a:lnTo>
                  <a:lnTo>
                    <a:pt x="202" y="122"/>
                  </a:lnTo>
                  <a:lnTo>
                    <a:pt x="202" y="120"/>
                  </a:lnTo>
                  <a:lnTo>
                    <a:pt x="202" y="118"/>
                  </a:lnTo>
                  <a:lnTo>
                    <a:pt x="201" y="118"/>
                  </a:lnTo>
                  <a:lnTo>
                    <a:pt x="199" y="118"/>
                  </a:lnTo>
                  <a:lnTo>
                    <a:pt x="191" y="122"/>
                  </a:lnTo>
                  <a:lnTo>
                    <a:pt x="189" y="123"/>
                  </a:lnTo>
                  <a:lnTo>
                    <a:pt x="185" y="123"/>
                  </a:lnTo>
                  <a:lnTo>
                    <a:pt x="183" y="123"/>
                  </a:lnTo>
                  <a:lnTo>
                    <a:pt x="180" y="122"/>
                  </a:lnTo>
                  <a:lnTo>
                    <a:pt x="178" y="122"/>
                  </a:lnTo>
                  <a:lnTo>
                    <a:pt x="174" y="123"/>
                  </a:lnTo>
                  <a:lnTo>
                    <a:pt x="172" y="123"/>
                  </a:lnTo>
                  <a:lnTo>
                    <a:pt x="172" y="122"/>
                  </a:lnTo>
                  <a:lnTo>
                    <a:pt x="168" y="118"/>
                  </a:lnTo>
                  <a:lnTo>
                    <a:pt x="168" y="116"/>
                  </a:lnTo>
                  <a:lnTo>
                    <a:pt x="166" y="116"/>
                  </a:lnTo>
                  <a:lnTo>
                    <a:pt x="162" y="116"/>
                  </a:lnTo>
                  <a:lnTo>
                    <a:pt x="162" y="116"/>
                  </a:lnTo>
                  <a:lnTo>
                    <a:pt x="161" y="118"/>
                  </a:lnTo>
                  <a:lnTo>
                    <a:pt x="159" y="120"/>
                  </a:lnTo>
                  <a:lnTo>
                    <a:pt x="159" y="122"/>
                  </a:lnTo>
                  <a:lnTo>
                    <a:pt x="157" y="123"/>
                  </a:lnTo>
                  <a:lnTo>
                    <a:pt x="157" y="123"/>
                  </a:lnTo>
                  <a:lnTo>
                    <a:pt x="155" y="125"/>
                  </a:lnTo>
                  <a:lnTo>
                    <a:pt x="153" y="125"/>
                  </a:lnTo>
                  <a:lnTo>
                    <a:pt x="151" y="125"/>
                  </a:lnTo>
                  <a:lnTo>
                    <a:pt x="149" y="125"/>
                  </a:lnTo>
                  <a:lnTo>
                    <a:pt x="149" y="125"/>
                  </a:lnTo>
                  <a:lnTo>
                    <a:pt x="145" y="123"/>
                  </a:lnTo>
                  <a:lnTo>
                    <a:pt x="143" y="123"/>
                  </a:lnTo>
                  <a:lnTo>
                    <a:pt x="136" y="123"/>
                  </a:lnTo>
                  <a:lnTo>
                    <a:pt x="132" y="123"/>
                  </a:lnTo>
                  <a:lnTo>
                    <a:pt x="130" y="123"/>
                  </a:lnTo>
                  <a:lnTo>
                    <a:pt x="126" y="125"/>
                  </a:lnTo>
                  <a:lnTo>
                    <a:pt x="124" y="125"/>
                  </a:lnTo>
                  <a:lnTo>
                    <a:pt x="119" y="125"/>
                  </a:lnTo>
                  <a:lnTo>
                    <a:pt x="98" y="127"/>
                  </a:lnTo>
                  <a:lnTo>
                    <a:pt x="86" y="125"/>
                  </a:lnTo>
                  <a:lnTo>
                    <a:pt x="77" y="120"/>
                  </a:lnTo>
                  <a:lnTo>
                    <a:pt x="67" y="114"/>
                  </a:lnTo>
                  <a:lnTo>
                    <a:pt x="63" y="114"/>
                  </a:lnTo>
                  <a:lnTo>
                    <a:pt x="61" y="114"/>
                  </a:lnTo>
                  <a:lnTo>
                    <a:pt x="61" y="116"/>
                  </a:lnTo>
                  <a:lnTo>
                    <a:pt x="60" y="116"/>
                  </a:lnTo>
                  <a:lnTo>
                    <a:pt x="58" y="118"/>
                  </a:lnTo>
                  <a:lnTo>
                    <a:pt x="56" y="118"/>
                  </a:lnTo>
                  <a:lnTo>
                    <a:pt x="54" y="118"/>
                  </a:lnTo>
                  <a:lnTo>
                    <a:pt x="52" y="118"/>
                  </a:lnTo>
                  <a:lnTo>
                    <a:pt x="48" y="120"/>
                  </a:lnTo>
                  <a:lnTo>
                    <a:pt x="46" y="125"/>
                  </a:lnTo>
                  <a:lnTo>
                    <a:pt x="44" y="129"/>
                  </a:lnTo>
                  <a:lnTo>
                    <a:pt x="41" y="129"/>
                  </a:lnTo>
                  <a:lnTo>
                    <a:pt x="29" y="131"/>
                  </a:lnTo>
                  <a:lnTo>
                    <a:pt x="23" y="131"/>
                  </a:lnTo>
                  <a:lnTo>
                    <a:pt x="21" y="133"/>
                  </a:lnTo>
                  <a:lnTo>
                    <a:pt x="21" y="131"/>
                  </a:lnTo>
                  <a:lnTo>
                    <a:pt x="20" y="131"/>
                  </a:lnTo>
                  <a:lnTo>
                    <a:pt x="20" y="131"/>
                  </a:lnTo>
                  <a:lnTo>
                    <a:pt x="18" y="133"/>
                  </a:lnTo>
                  <a:lnTo>
                    <a:pt x="20" y="139"/>
                  </a:lnTo>
                  <a:lnTo>
                    <a:pt x="21" y="141"/>
                  </a:lnTo>
                  <a:lnTo>
                    <a:pt x="21" y="150"/>
                  </a:lnTo>
                  <a:lnTo>
                    <a:pt x="20" y="154"/>
                  </a:lnTo>
                  <a:lnTo>
                    <a:pt x="20" y="154"/>
                  </a:lnTo>
                  <a:lnTo>
                    <a:pt x="20" y="154"/>
                  </a:lnTo>
                  <a:lnTo>
                    <a:pt x="20" y="154"/>
                  </a:lnTo>
                  <a:lnTo>
                    <a:pt x="20" y="158"/>
                  </a:lnTo>
                  <a:lnTo>
                    <a:pt x="18" y="160"/>
                  </a:lnTo>
                  <a:lnTo>
                    <a:pt x="18" y="167"/>
                  </a:lnTo>
                  <a:lnTo>
                    <a:pt x="18" y="167"/>
                  </a:lnTo>
                  <a:lnTo>
                    <a:pt x="18" y="167"/>
                  </a:lnTo>
                  <a:lnTo>
                    <a:pt x="16" y="167"/>
                  </a:lnTo>
                  <a:lnTo>
                    <a:pt x="16" y="169"/>
                  </a:lnTo>
                  <a:lnTo>
                    <a:pt x="16" y="169"/>
                  </a:lnTo>
                  <a:lnTo>
                    <a:pt x="16" y="169"/>
                  </a:lnTo>
                  <a:lnTo>
                    <a:pt x="16" y="169"/>
                  </a:lnTo>
                  <a:lnTo>
                    <a:pt x="16" y="171"/>
                  </a:lnTo>
                  <a:lnTo>
                    <a:pt x="16" y="171"/>
                  </a:lnTo>
                  <a:lnTo>
                    <a:pt x="16" y="171"/>
                  </a:lnTo>
                  <a:lnTo>
                    <a:pt x="16" y="173"/>
                  </a:lnTo>
                  <a:lnTo>
                    <a:pt x="14" y="173"/>
                  </a:lnTo>
                  <a:lnTo>
                    <a:pt x="12" y="175"/>
                  </a:lnTo>
                  <a:lnTo>
                    <a:pt x="12" y="175"/>
                  </a:lnTo>
                  <a:lnTo>
                    <a:pt x="12" y="175"/>
                  </a:lnTo>
                  <a:lnTo>
                    <a:pt x="10" y="179"/>
                  </a:lnTo>
                  <a:lnTo>
                    <a:pt x="8" y="179"/>
                  </a:lnTo>
                  <a:lnTo>
                    <a:pt x="8" y="180"/>
                  </a:lnTo>
                  <a:lnTo>
                    <a:pt x="8" y="180"/>
                  </a:lnTo>
                  <a:lnTo>
                    <a:pt x="8" y="180"/>
                  </a:lnTo>
                  <a:lnTo>
                    <a:pt x="8" y="182"/>
                  </a:lnTo>
                  <a:lnTo>
                    <a:pt x="8" y="182"/>
                  </a:lnTo>
                  <a:lnTo>
                    <a:pt x="8" y="184"/>
                  </a:lnTo>
                  <a:lnTo>
                    <a:pt x="6" y="184"/>
                  </a:lnTo>
                  <a:lnTo>
                    <a:pt x="4" y="184"/>
                  </a:lnTo>
                  <a:lnTo>
                    <a:pt x="2" y="186"/>
                  </a:lnTo>
                  <a:lnTo>
                    <a:pt x="0" y="186"/>
                  </a:lnTo>
                  <a:lnTo>
                    <a:pt x="0" y="188"/>
                  </a:lnTo>
                  <a:lnTo>
                    <a:pt x="0" y="188"/>
                  </a:lnTo>
                  <a:lnTo>
                    <a:pt x="0" y="190"/>
                  </a:lnTo>
                  <a:lnTo>
                    <a:pt x="2" y="190"/>
                  </a:lnTo>
                  <a:lnTo>
                    <a:pt x="2" y="190"/>
                  </a:lnTo>
                  <a:lnTo>
                    <a:pt x="4" y="190"/>
                  </a:lnTo>
                  <a:lnTo>
                    <a:pt x="4" y="190"/>
                  </a:lnTo>
                  <a:lnTo>
                    <a:pt x="6" y="190"/>
                  </a:lnTo>
                  <a:lnTo>
                    <a:pt x="6" y="192"/>
                  </a:lnTo>
                  <a:lnTo>
                    <a:pt x="6" y="194"/>
                  </a:lnTo>
                  <a:lnTo>
                    <a:pt x="8" y="196"/>
                  </a:lnTo>
                  <a:lnTo>
                    <a:pt x="8" y="198"/>
                  </a:lnTo>
                  <a:lnTo>
                    <a:pt x="10" y="198"/>
                  </a:lnTo>
                  <a:lnTo>
                    <a:pt x="8" y="199"/>
                  </a:lnTo>
                  <a:lnTo>
                    <a:pt x="8" y="201"/>
                  </a:lnTo>
                  <a:lnTo>
                    <a:pt x="10" y="201"/>
                  </a:lnTo>
                  <a:lnTo>
                    <a:pt x="12" y="205"/>
                  </a:lnTo>
                  <a:lnTo>
                    <a:pt x="12" y="205"/>
                  </a:lnTo>
                  <a:lnTo>
                    <a:pt x="12" y="207"/>
                  </a:lnTo>
                  <a:lnTo>
                    <a:pt x="14" y="207"/>
                  </a:lnTo>
                  <a:lnTo>
                    <a:pt x="14" y="207"/>
                  </a:lnTo>
                  <a:lnTo>
                    <a:pt x="14" y="205"/>
                  </a:lnTo>
                  <a:lnTo>
                    <a:pt x="14" y="205"/>
                  </a:lnTo>
                  <a:lnTo>
                    <a:pt x="14" y="205"/>
                  </a:lnTo>
                  <a:lnTo>
                    <a:pt x="14" y="205"/>
                  </a:lnTo>
                  <a:lnTo>
                    <a:pt x="14" y="205"/>
                  </a:lnTo>
                  <a:lnTo>
                    <a:pt x="16" y="205"/>
                  </a:lnTo>
                  <a:lnTo>
                    <a:pt x="16" y="205"/>
                  </a:lnTo>
                  <a:lnTo>
                    <a:pt x="16" y="207"/>
                  </a:lnTo>
                  <a:lnTo>
                    <a:pt x="16" y="209"/>
                  </a:lnTo>
                  <a:lnTo>
                    <a:pt x="14" y="211"/>
                  </a:lnTo>
                  <a:lnTo>
                    <a:pt x="12" y="211"/>
                  </a:lnTo>
                  <a:lnTo>
                    <a:pt x="14" y="211"/>
                  </a:lnTo>
                  <a:lnTo>
                    <a:pt x="16" y="213"/>
                  </a:lnTo>
                  <a:lnTo>
                    <a:pt x="18" y="213"/>
                  </a:lnTo>
                  <a:lnTo>
                    <a:pt x="16" y="215"/>
                  </a:lnTo>
                  <a:lnTo>
                    <a:pt x="12" y="222"/>
                  </a:lnTo>
                  <a:lnTo>
                    <a:pt x="12" y="224"/>
                  </a:lnTo>
                  <a:lnTo>
                    <a:pt x="14" y="234"/>
                  </a:lnTo>
                  <a:lnTo>
                    <a:pt x="16" y="239"/>
                  </a:lnTo>
                  <a:lnTo>
                    <a:pt x="18" y="243"/>
                  </a:lnTo>
                  <a:lnTo>
                    <a:pt x="16" y="251"/>
                  </a:lnTo>
                  <a:lnTo>
                    <a:pt x="16" y="258"/>
                  </a:lnTo>
                  <a:lnTo>
                    <a:pt x="14" y="262"/>
                  </a:lnTo>
                  <a:lnTo>
                    <a:pt x="18" y="262"/>
                  </a:lnTo>
                  <a:lnTo>
                    <a:pt x="21" y="260"/>
                  </a:lnTo>
                  <a:lnTo>
                    <a:pt x="21" y="260"/>
                  </a:lnTo>
                  <a:lnTo>
                    <a:pt x="21" y="260"/>
                  </a:lnTo>
                  <a:lnTo>
                    <a:pt x="21" y="258"/>
                  </a:lnTo>
                  <a:lnTo>
                    <a:pt x="23" y="257"/>
                  </a:lnTo>
                  <a:lnTo>
                    <a:pt x="23" y="255"/>
                  </a:lnTo>
                  <a:lnTo>
                    <a:pt x="23" y="253"/>
                  </a:lnTo>
                  <a:lnTo>
                    <a:pt x="23" y="251"/>
                  </a:lnTo>
                  <a:lnTo>
                    <a:pt x="25" y="251"/>
                  </a:lnTo>
                  <a:lnTo>
                    <a:pt x="27" y="251"/>
                  </a:lnTo>
                  <a:lnTo>
                    <a:pt x="29" y="251"/>
                  </a:lnTo>
                  <a:lnTo>
                    <a:pt x="31" y="249"/>
                  </a:lnTo>
                  <a:lnTo>
                    <a:pt x="31" y="249"/>
                  </a:lnTo>
                  <a:lnTo>
                    <a:pt x="31" y="249"/>
                  </a:lnTo>
                  <a:lnTo>
                    <a:pt x="33" y="247"/>
                  </a:lnTo>
                  <a:lnTo>
                    <a:pt x="33" y="247"/>
                  </a:lnTo>
                  <a:lnTo>
                    <a:pt x="33" y="245"/>
                  </a:lnTo>
                  <a:lnTo>
                    <a:pt x="33" y="245"/>
                  </a:lnTo>
                  <a:lnTo>
                    <a:pt x="31" y="245"/>
                  </a:lnTo>
                  <a:lnTo>
                    <a:pt x="29" y="243"/>
                  </a:lnTo>
                  <a:lnTo>
                    <a:pt x="29" y="241"/>
                  </a:lnTo>
                  <a:lnTo>
                    <a:pt x="27" y="241"/>
                  </a:lnTo>
                  <a:lnTo>
                    <a:pt x="27" y="239"/>
                  </a:lnTo>
                  <a:lnTo>
                    <a:pt x="27" y="238"/>
                  </a:lnTo>
                  <a:lnTo>
                    <a:pt x="27" y="236"/>
                  </a:lnTo>
                  <a:lnTo>
                    <a:pt x="27" y="236"/>
                  </a:lnTo>
                  <a:lnTo>
                    <a:pt x="27" y="234"/>
                  </a:lnTo>
                  <a:lnTo>
                    <a:pt x="27" y="232"/>
                  </a:lnTo>
                  <a:lnTo>
                    <a:pt x="29" y="230"/>
                  </a:lnTo>
                  <a:lnTo>
                    <a:pt x="29" y="230"/>
                  </a:lnTo>
                  <a:lnTo>
                    <a:pt x="29" y="230"/>
                  </a:lnTo>
                  <a:lnTo>
                    <a:pt x="29" y="228"/>
                  </a:lnTo>
                  <a:lnTo>
                    <a:pt x="29" y="226"/>
                  </a:lnTo>
                  <a:lnTo>
                    <a:pt x="31" y="224"/>
                  </a:lnTo>
                  <a:lnTo>
                    <a:pt x="31" y="224"/>
                  </a:lnTo>
                  <a:lnTo>
                    <a:pt x="35" y="220"/>
                  </a:lnTo>
                  <a:lnTo>
                    <a:pt x="35" y="220"/>
                  </a:lnTo>
                  <a:lnTo>
                    <a:pt x="35" y="219"/>
                  </a:lnTo>
                  <a:lnTo>
                    <a:pt x="37" y="217"/>
                  </a:lnTo>
                  <a:lnTo>
                    <a:pt x="37" y="217"/>
                  </a:lnTo>
                  <a:lnTo>
                    <a:pt x="41" y="213"/>
                  </a:lnTo>
                  <a:lnTo>
                    <a:pt x="42" y="211"/>
                  </a:lnTo>
                  <a:lnTo>
                    <a:pt x="42" y="211"/>
                  </a:lnTo>
                  <a:lnTo>
                    <a:pt x="44" y="209"/>
                  </a:lnTo>
                  <a:lnTo>
                    <a:pt x="52" y="209"/>
                  </a:lnTo>
                  <a:lnTo>
                    <a:pt x="58" y="209"/>
                  </a:lnTo>
                  <a:lnTo>
                    <a:pt x="60" y="207"/>
                  </a:lnTo>
                  <a:lnTo>
                    <a:pt x="61" y="207"/>
                  </a:lnTo>
                  <a:lnTo>
                    <a:pt x="63" y="207"/>
                  </a:lnTo>
                  <a:lnTo>
                    <a:pt x="63" y="207"/>
                  </a:lnTo>
                  <a:lnTo>
                    <a:pt x="65" y="205"/>
                  </a:lnTo>
                  <a:lnTo>
                    <a:pt x="67" y="203"/>
                  </a:lnTo>
                  <a:lnTo>
                    <a:pt x="67" y="203"/>
                  </a:lnTo>
                  <a:lnTo>
                    <a:pt x="69" y="203"/>
                  </a:lnTo>
                  <a:lnTo>
                    <a:pt x="73" y="205"/>
                  </a:lnTo>
                  <a:lnTo>
                    <a:pt x="75" y="205"/>
                  </a:lnTo>
                  <a:lnTo>
                    <a:pt x="77" y="205"/>
                  </a:lnTo>
                  <a:lnTo>
                    <a:pt x="77" y="205"/>
                  </a:lnTo>
                  <a:lnTo>
                    <a:pt x="79" y="205"/>
                  </a:lnTo>
                  <a:lnTo>
                    <a:pt x="81" y="205"/>
                  </a:lnTo>
                  <a:lnTo>
                    <a:pt x="82" y="207"/>
                  </a:lnTo>
                  <a:lnTo>
                    <a:pt x="82" y="209"/>
                  </a:lnTo>
                  <a:lnTo>
                    <a:pt x="82" y="209"/>
                  </a:lnTo>
                  <a:lnTo>
                    <a:pt x="82" y="211"/>
                  </a:lnTo>
                  <a:lnTo>
                    <a:pt x="82" y="213"/>
                  </a:lnTo>
                  <a:lnTo>
                    <a:pt x="81" y="213"/>
                  </a:lnTo>
                  <a:lnTo>
                    <a:pt x="81" y="215"/>
                  </a:lnTo>
                  <a:lnTo>
                    <a:pt x="81" y="215"/>
                  </a:lnTo>
                  <a:lnTo>
                    <a:pt x="81" y="215"/>
                  </a:lnTo>
                  <a:lnTo>
                    <a:pt x="82" y="215"/>
                  </a:lnTo>
                  <a:lnTo>
                    <a:pt x="86" y="213"/>
                  </a:lnTo>
                  <a:lnTo>
                    <a:pt x="86" y="211"/>
                  </a:lnTo>
                  <a:lnTo>
                    <a:pt x="86" y="211"/>
                  </a:lnTo>
                  <a:lnTo>
                    <a:pt x="88" y="209"/>
                  </a:lnTo>
                  <a:lnTo>
                    <a:pt x="88" y="209"/>
                  </a:lnTo>
                  <a:lnTo>
                    <a:pt x="88" y="209"/>
                  </a:lnTo>
                  <a:lnTo>
                    <a:pt x="90" y="209"/>
                  </a:lnTo>
                  <a:lnTo>
                    <a:pt x="90" y="211"/>
                  </a:lnTo>
                  <a:lnTo>
                    <a:pt x="90" y="211"/>
                  </a:lnTo>
                  <a:lnTo>
                    <a:pt x="90" y="211"/>
                  </a:lnTo>
                  <a:lnTo>
                    <a:pt x="90" y="213"/>
                  </a:lnTo>
                  <a:lnTo>
                    <a:pt x="92" y="213"/>
                  </a:lnTo>
                  <a:lnTo>
                    <a:pt x="94" y="211"/>
                  </a:lnTo>
                  <a:lnTo>
                    <a:pt x="96" y="211"/>
                  </a:lnTo>
                  <a:lnTo>
                    <a:pt x="101" y="209"/>
                  </a:lnTo>
                  <a:lnTo>
                    <a:pt x="101" y="209"/>
                  </a:lnTo>
                  <a:lnTo>
                    <a:pt x="103" y="209"/>
                  </a:lnTo>
                  <a:lnTo>
                    <a:pt x="103" y="211"/>
                  </a:lnTo>
                  <a:lnTo>
                    <a:pt x="103" y="213"/>
                  </a:lnTo>
                  <a:lnTo>
                    <a:pt x="103" y="213"/>
                  </a:lnTo>
                  <a:lnTo>
                    <a:pt x="103" y="213"/>
                  </a:lnTo>
                  <a:lnTo>
                    <a:pt x="105" y="213"/>
                  </a:lnTo>
                  <a:lnTo>
                    <a:pt x="107" y="211"/>
                  </a:lnTo>
                  <a:lnTo>
                    <a:pt x="109" y="211"/>
                  </a:lnTo>
                  <a:lnTo>
                    <a:pt x="113" y="211"/>
                  </a:lnTo>
                  <a:lnTo>
                    <a:pt x="115" y="211"/>
                  </a:lnTo>
                  <a:lnTo>
                    <a:pt x="117" y="211"/>
                  </a:lnTo>
                  <a:lnTo>
                    <a:pt x="121" y="211"/>
                  </a:lnTo>
                  <a:lnTo>
                    <a:pt x="122" y="211"/>
                  </a:lnTo>
                  <a:lnTo>
                    <a:pt x="122" y="213"/>
                  </a:lnTo>
                  <a:lnTo>
                    <a:pt x="122" y="213"/>
                  </a:lnTo>
                  <a:lnTo>
                    <a:pt x="124" y="215"/>
                  </a:lnTo>
                  <a:lnTo>
                    <a:pt x="124" y="215"/>
                  </a:lnTo>
                  <a:lnTo>
                    <a:pt x="126" y="215"/>
                  </a:lnTo>
                  <a:lnTo>
                    <a:pt x="126" y="215"/>
                  </a:lnTo>
                  <a:lnTo>
                    <a:pt x="126" y="217"/>
                  </a:lnTo>
                  <a:lnTo>
                    <a:pt x="128" y="217"/>
                  </a:lnTo>
                  <a:lnTo>
                    <a:pt x="126" y="219"/>
                  </a:lnTo>
                  <a:lnTo>
                    <a:pt x="126" y="220"/>
                  </a:lnTo>
                  <a:lnTo>
                    <a:pt x="126" y="222"/>
                  </a:lnTo>
                  <a:lnTo>
                    <a:pt x="128" y="222"/>
                  </a:lnTo>
                  <a:lnTo>
                    <a:pt x="128" y="222"/>
                  </a:lnTo>
                  <a:lnTo>
                    <a:pt x="130" y="220"/>
                  </a:lnTo>
                  <a:lnTo>
                    <a:pt x="130" y="220"/>
                  </a:lnTo>
                  <a:lnTo>
                    <a:pt x="130" y="220"/>
                  </a:lnTo>
                  <a:lnTo>
                    <a:pt x="132" y="222"/>
                  </a:lnTo>
                  <a:lnTo>
                    <a:pt x="132" y="222"/>
                  </a:lnTo>
                  <a:lnTo>
                    <a:pt x="134" y="222"/>
                  </a:lnTo>
                  <a:lnTo>
                    <a:pt x="142" y="219"/>
                  </a:lnTo>
                  <a:lnTo>
                    <a:pt x="143" y="219"/>
                  </a:lnTo>
                  <a:lnTo>
                    <a:pt x="143" y="220"/>
                  </a:lnTo>
                  <a:lnTo>
                    <a:pt x="142" y="222"/>
                  </a:lnTo>
                  <a:lnTo>
                    <a:pt x="142" y="224"/>
                  </a:lnTo>
                  <a:lnTo>
                    <a:pt x="143" y="226"/>
                  </a:lnTo>
                  <a:lnTo>
                    <a:pt x="143" y="230"/>
                  </a:lnTo>
                  <a:lnTo>
                    <a:pt x="143" y="232"/>
                  </a:lnTo>
                  <a:lnTo>
                    <a:pt x="145" y="234"/>
                  </a:lnTo>
                  <a:lnTo>
                    <a:pt x="145" y="234"/>
                  </a:lnTo>
                  <a:lnTo>
                    <a:pt x="147" y="232"/>
                  </a:lnTo>
                  <a:lnTo>
                    <a:pt x="149" y="232"/>
                  </a:lnTo>
                  <a:lnTo>
                    <a:pt x="153" y="226"/>
                  </a:lnTo>
                  <a:lnTo>
                    <a:pt x="155" y="224"/>
                  </a:lnTo>
                  <a:lnTo>
                    <a:pt x="157" y="222"/>
                  </a:lnTo>
                  <a:lnTo>
                    <a:pt x="157" y="222"/>
                  </a:lnTo>
                  <a:lnTo>
                    <a:pt x="162" y="220"/>
                  </a:lnTo>
                  <a:lnTo>
                    <a:pt x="168" y="220"/>
                  </a:lnTo>
                  <a:lnTo>
                    <a:pt x="174" y="217"/>
                  </a:lnTo>
                  <a:lnTo>
                    <a:pt x="174" y="217"/>
                  </a:lnTo>
                  <a:lnTo>
                    <a:pt x="174" y="215"/>
                  </a:lnTo>
                  <a:lnTo>
                    <a:pt x="174" y="215"/>
                  </a:lnTo>
                  <a:lnTo>
                    <a:pt x="170" y="217"/>
                  </a:lnTo>
                  <a:lnTo>
                    <a:pt x="170" y="217"/>
                  </a:lnTo>
                  <a:lnTo>
                    <a:pt x="170" y="219"/>
                  </a:lnTo>
                  <a:lnTo>
                    <a:pt x="168" y="217"/>
                  </a:lnTo>
                  <a:lnTo>
                    <a:pt x="168" y="217"/>
                  </a:lnTo>
                  <a:lnTo>
                    <a:pt x="168" y="217"/>
                  </a:lnTo>
                  <a:lnTo>
                    <a:pt x="170" y="215"/>
                  </a:lnTo>
                  <a:lnTo>
                    <a:pt x="170" y="215"/>
                  </a:lnTo>
                  <a:lnTo>
                    <a:pt x="172" y="211"/>
                  </a:lnTo>
                  <a:lnTo>
                    <a:pt x="174" y="209"/>
                  </a:lnTo>
                  <a:lnTo>
                    <a:pt x="176" y="207"/>
                  </a:lnTo>
                  <a:lnTo>
                    <a:pt x="178" y="205"/>
                  </a:lnTo>
                  <a:lnTo>
                    <a:pt x="178" y="205"/>
                  </a:lnTo>
                  <a:lnTo>
                    <a:pt x="178" y="203"/>
                  </a:lnTo>
                  <a:lnTo>
                    <a:pt x="180" y="201"/>
                  </a:lnTo>
                  <a:lnTo>
                    <a:pt x="180" y="201"/>
                  </a:lnTo>
                  <a:lnTo>
                    <a:pt x="182" y="201"/>
                  </a:lnTo>
                  <a:lnTo>
                    <a:pt x="183" y="203"/>
                  </a:lnTo>
                  <a:lnTo>
                    <a:pt x="183" y="203"/>
                  </a:lnTo>
                  <a:lnTo>
                    <a:pt x="183" y="205"/>
                  </a:lnTo>
                  <a:lnTo>
                    <a:pt x="183" y="205"/>
                  </a:lnTo>
                  <a:lnTo>
                    <a:pt x="183" y="207"/>
                  </a:lnTo>
                  <a:lnTo>
                    <a:pt x="183" y="209"/>
                  </a:lnTo>
                  <a:lnTo>
                    <a:pt x="183" y="209"/>
                  </a:lnTo>
                  <a:lnTo>
                    <a:pt x="183" y="211"/>
                  </a:lnTo>
                  <a:lnTo>
                    <a:pt x="183" y="211"/>
                  </a:lnTo>
                  <a:lnTo>
                    <a:pt x="183" y="213"/>
                  </a:lnTo>
                  <a:lnTo>
                    <a:pt x="185" y="213"/>
                  </a:lnTo>
                  <a:lnTo>
                    <a:pt x="187" y="213"/>
                  </a:lnTo>
                  <a:lnTo>
                    <a:pt x="189" y="211"/>
                  </a:lnTo>
                  <a:lnTo>
                    <a:pt x="189" y="211"/>
                  </a:lnTo>
                  <a:lnTo>
                    <a:pt x="191" y="209"/>
                  </a:lnTo>
                  <a:lnTo>
                    <a:pt x="191" y="207"/>
                  </a:lnTo>
                  <a:lnTo>
                    <a:pt x="193" y="205"/>
                  </a:lnTo>
                  <a:lnTo>
                    <a:pt x="193" y="203"/>
                  </a:lnTo>
                  <a:lnTo>
                    <a:pt x="193" y="201"/>
                  </a:lnTo>
                  <a:lnTo>
                    <a:pt x="193" y="201"/>
                  </a:lnTo>
                  <a:lnTo>
                    <a:pt x="197" y="198"/>
                  </a:lnTo>
                  <a:lnTo>
                    <a:pt x="199" y="196"/>
                  </a:lnTo>
                  <a:lnTo>
                    <a:pt x="201" y="196"/>
                  </a:lnTo>
                  <a:lnTo>
                    <a:pt x="202" y="198"/>
                  </a:lnTo>
                  <a:lnTo>
                    <a:pt x="206" y="199"/>
                  </a:lnTo>
                  <a:lnTo>
                    <a:pt x="206" y="201"/>
                  </a:lnTo>
                  <a:lnTo>
                    <a:pt x="208" y="201"/>
                  </a:lnTo>
                  <a:lnTo>
                    <a:pt x="210" y="201"/>
                  </a:lnTo>
                  <a:lnTo>
                    <a:pt x="212" y="201"/>
                  </a:lnTo>
                  <a:lnTo>
                    <a:pt x="218" y="199"/>
                  </a:lnTo>
                  <a:lnTo>
                    <a:pt x="220" y="199"/>
                  </a:lnTo>
                  <a:lnTo>
                    <a:pt x="222" y="199"/>
                  </a:lnTo>
                  <a:lnTo>
                    <a:pt x="222" y="199"/>
                  </a:lnTo>
                  <a:lnTo>
                    <a:pt x="227" y="198"/>
                  </a:lnTo>
                  <a:lnTo>
                    <a:pt x="231" y="198"/>
                  </a:lnTo>
                  <a:lnTo>
                    <a:pt x="231" y="196"/>
                  </a:lnTo>
                  <a:lnTo>
                    <a:pt x="241" y="198"/>
                  </a:lnTo>
                  <a:lnTo>
                    <a:pt x="241" y="198"/>
                  </a:lnTo>
                  <a:lnTo>
                    <a:pt x="241" y="198"/>
                  </a:lnTo>
                  <a:lnTo>
                    <a:pt x="243" y="198"/>
                  </a:lnTo>
                  <a:lnTo>
                    <a:pt x="241" y="199"/>
                  </a:lnTo>
                  <a:lnTo>
                    <a:pt x="233" y="207"/>
                  </a:lnTo>
                  <a:lnTo>
                    <a:pt x="233" y="207"/>
                  </a:lnTo>
                  <a:lnTo>
                    <a:pt x="233" y="207"/>
                  </a:lnTo>
                  <a:lnTo>
                    <a:pt x="233" y="209"/>
                  </a:lnTo>
                  <a:lnTo>
                    <a:pt x="233" y="209"/>
                  </a:lnTo>
                  <a:lnTo>
                    <a:pt x="233" y="211"/>
                  </a:lnTo>
                  <a:lnTo>
                    <a:pt x="235" y="211"/>
                  </a:lnTo>
                  <a:lnTo>
                    <a:pt x="237" y="211"/>
                  </a:lnTo>
                  <a:lnTo>
                    <a:pt x="237" y="213"/>
                  </a:lnTo>
                  <a:lnTo>
                    <a:pt x="237" y="215"/>
                  </a:lnTo>
                  <a:lnTo>
                    <a:pt x="235" y="217"/>
                  </a:lnTo>
                  <a:lnTo>
                    <a:pt x="233" y="220"/>
                  </a:lnTo>
                  <a:lnTo>
                    <a:pt x="233" y="224"/>
                  </a:lnTo>
                  <a:lnTo>
                    <a:pt x="231" y="224"/>
                  </a:lnTo>
                  <a:lnTo>
                    <a:pt x="233" y="226"/>
                  </a:lnTo>
                  <a:lnTo>
                    <a:pt x="233" y="228"/>
                  </a:lnTo>
                  <a:lnTo>
                    <a:pt x="233" y="228"/>
                  </a:lnTo>
                  <a:lnTo>
                    <a:pt x="233" y="230"/>
                  </a:lnTo>
                  <a:lnTo>
                    <a:pt x="233" y="236"/>
                  </a:lnTo>
                  <a:lnTo>
                    <a:pt x="233" y="238"/>
                  </a:lnTo>
                  <a:lnTo>
                    <a:pt x="233" y="238"/>
                  </a:lnTo>
                  <a:lnTo>
                    <a:pt x="233" y="238"/>
                  </a:lnTo>
                  <a:lnTo>
                    <a:pt x="235" y="238"/>
                  </a:lnTo>
                  <a:lnTo>
                    <a:pt x="235" y="236"/>
                  </a:lnTo>
                  <a:lnTo>
                    <a:pt x="237" y="236"/>
                  </a:lnTo>
                  <a:lnTo>
                    <a:pt x="241" y="234"/>
                  </a:lnTo>
                  <a:lnTo>
                    <a:pt x="246" y="234"/>
                  </a:lnTo>
                  <a:lnTo>
                    <a:pt x="248" y="232"/>
                  </a:lnTo>
                  <a:lnTo>
                    <a:pt x="248" y="232"/>
                  </a:lnTo>
                  <a:lnTo>
                    <a:pt x="250" y="230"/>
                  </a:lnTo>
                  <a:lnTo>
                    <a:pt x="250" y="230"/>
                  </a:lnTo>
                  <a:lnTo>
                    <a:pt x="252" y="230"/>
                  </a:lnTo>
                  <a:lnTo>
                    <a:pt x="254" y="230"/>
                  </a:lnTo>
                  <a:lnTo>
                    <a:pt x="256" y="232"/>
                  </a:lnTo>
                  <a:lnTo>
                    <a:pt x="256" y="234"/>
                  </a:lnTo>
                  <a:lnTo>
                    <a:pt x="262" y="236"/>
                  </a:lnTo>
                  <a:lnTo>
                    <a:pt x="265" y="239"/>
                  </a:lnTo>
                  <a:lnTo>
                    <a:pt x="271" y="247"/>
                  </a:lnTo>
                  <a:lnTo>
                    <a:pt x="271" y="247"/>
                  </a:lnTo>
                  <a:lnTo>
                    <a:pt x="271" y="249"/>
                  </a:lnTo>
                  <a:lnTo>
                    <a:pt x="273" y="249"/>
                  </a:lnTo>
                  <a:lnTo>
                    <a:pt x="273" y="249"/>
                  </a:lnTo>
                  <a:lnTo>
                    <a:pt x="273" y="247"/>
                  </a:lnTo>
                  <a:lnTo>
                    <a:pt x="275" y="247"/>
                  </a:lnTo>
                  <a:lnTo>
                    <a:pt x="277" y="245"/>
                  </a:lnTo>
                  <a:lnTo>
                    <a:pt x="277" y="245"/>
                  </a:lnTo>
                  <a:lnTo>
                    <a:pt x="279" y="245"/>
                  </a:lnTo>
                  <a:lnTo>
                    <a:pt x="279" y="245"/>
                  </a:lnTo>
                  <a:lnTo>
                    <a:pt x="279" y="245"/>
                  </a:lnTo>
                  <a:lnTo>
                    <a:pt x="281" y="245"/>
                  </a:lnTo>
                  <a:lnTo>
                    <a:pt x="281" y="247"/>
                  </a:lnTo>
                  <a:lnTo>
                    <a:pt x="279" y="247"/>
                  </a:lnTo>
                  <a:lnTo>
                    <a:pt x="279" y="249"/>
                  </a:lnTo>
                  <a:lnTo>
                    <a:pt x="279" y="249"/>
                  </a:lnTo>
                  <a:lnTo>
                    <a:pt x="277" y="251"/>
                  </a:lnTo>
                  <a:lnTo>
                    <a:pt x="277" y="251"/>
                  </a:lnTo>
                  <a:lnTo>
                    <a:pt x="277" y="253"/>
                  </a:lnTo>
                  <a:lnTo>
                    <a:pt x="275" y="253"/>
                  </a:lnTo>
                  <a:lnTo>
                    <a:pt x="275" y="255"/>
                  </a:lnTo>
                  <a:lnTo>
                    <a:pt x="273" y="255"/>
                  </a:lnTo>
                  <a:lnTo>
                    <a:pt x="271" y="257"/>
                  </a:lnTo>
                  <a:lnTo>
                    <a:pt x="271" y="257"/>
                  </a:lnTo>
                  <a:lnTo>
                    <a:pt x="271" y="258"/>
                  </a:lnTo>
                  <a:lnTo>
                    <a:pt x="271" y="258"/>
                  </a:lnTo>
                  <a:lnTo>
                    <a:pt x="273" y="258"/>
                  </a:lnTo>
                  <a:lnTo>
                    <a:pt x="275" y="260"/>
                  </a:lnTo>
                  <a:lnTo>
                    <a:pt x="275" y="260"/>
                  </a:lnTo>
                  <a:lnTo>
                    <a:pt x="275" y="262"/>
                  </a:lnTo>
                  <a:lnTo>
                    <a:pt x="275" y="262"/>
                  </a:lnTo>
                  <a:lnTo>
                    <a:pt x="279" y="262"/>
                  </a:lnTo>
                  <a:lnTo>
                    <a:pt x="281" y="264"/>
                  </a:lnTo>
                  <a:lnTo>
                    <a:pt x="281" y="264"/>
                  </a:lnTo>
                  <a:lnTo>
                    <a:pt x="281" y="264"/>
                  </a:lnTo>
                  <a:lnTo>
                    <a:pt x="284" y="268"/>
                  </a:lnTo>
                  <a:lnTo>
                    <a:pt x="286" y="270"/>
                  </a:lnTo>
                  <a:lnTo>
                    <a:pt x="286" y="270"/>
                  </a:lnTo>
                  <a:lnTo>
                    <a:pt x="288" y="272"/>
                  </a:lnTo>
                  <a:lnTo>
                    <a:pt x="290" y="272"/>
                  </a:lnTo>
                  <a:lnTo>
                    <a:pt x="290" y="274"/>
                  </a:lnTo>
                  <a:lnTo>
                    <a:pt x="290" y="274"/>
                  </a:lnTo>
                  <a:lnTo>
                    <a:pt x="290" y="276"/>
                  </a:lnTo>
                  <a:lnTo>
                    <a:pt x="290" y="277"/>
                  </a:lnTo>
                  <a:lnTo>
                    <a:pt x="290" y="277"/>
                  </a:lnTo>
                  <a:lnTo>
                    <a:pt x="290" y="279"/>
                  </a:lnTo>
                  <a:lnTo>
                    <a:pt x="290" y="279"/>
                  </a:lnTo>
                  <a:lnTo>
                    <a:pt x="290" y="279"/>
                  </a:lnTo>
                  <a:lnTo>
                    <a:pt x="290" y="281"/>
                  </a:lnTo>
                  <a:lnTo>
                    <a:pt x="290" y="281"/>
                  </a:lnTo>
                  <a:lnTo>
                    <a:pt x="290" y="281"/>
                  </a:lnTo>
                  <a:lnTo>
                    <a:pt x="292" y="283"/>
                  </a:lnTo>
                  <a:lnTo>
                    <a:pt x="292" y="283"/>
                  </a:lnTo>
                  <a:lnTo>
                    <a:pt x="290" y="285"/>
                  </a:lnTo>
                  <a:lnTo>
                    <a:pt x="279" y="289"/>
                  </a:lnTo>
                  <a:lnTo>
                    <a:pt x="277" y="293"/>
                  </a:lnTo>
                  <a:lnTo>
                    <a:pt x="275" y="293"/>
                  </a:lnTo>
                  <a:lnTo>
                    <a:pt x="273" y="293"/>
                  </a:lnTo>
                  <a:lnTo>
                    <a:pt x="271" y="293"/>
                  </a:lnTo>
                  <a:lnTo>
                    <a:pt x="269" y="293"/>
                  </a:lnTo>
                  <a:lnTo>
                    <a:pt x="269" y="293"/>
                  </a:lnTo>
                  <a:lnTo>
                    <a:pt x="269" y="293"/>
                  </a:lnTo>
                  <a:lnTo>
                    <a:pt x="269" y="295"/>
                  </a:lnTo>
                  <a:lnTo>
                    <a:pt x="267" y="295"/>
                  </a:lnTo>
                  <a:lnTo>
                    <a:pt x="267" y="295"/>
                  </a:lnTo>
                  <a:lnTo>
                    <a:pt x="265" y="295"/>
                  </a:lnTo>
                  <a:lnTo>
                    <a:pt x="265" y="295"/>
                  </a:lnTo>
                  <a:lnTo>
                    <a:pt x="263" y="296"/>
                  </a:lnTo>
                  <a:lnTo>
                    <a:pt x="262" y="298"/>
                  </a:lnTo>
                  <a:lnTo>
                    <a:pt x="258" y="300"/>
                  </a:lnTo>
                  <a:lnTo>
                    <a:pt x="254" y="304"/>
                  </a:lnTo>
                  <a:lnTo>
                    <a:pt x="252" y="308"/>
                  </a:lnTo>
                  <a:lnTo>
                    <a:pt x="252" y="308"/>
                  </a:lnTo>
                  <a:lnTo>
                    <a:pt x="252" y="308"/>
                  </a:lnTo>
                  <a:lnTo>
                    <a:pt x="252" y="308"/>
                  </a:lnTo>
                  <a:lnTo>
                    <a:pt x="254" y="308"/>
                  </a:lnTo>
                  <a:lnTo>
                    <a:pt x="254" y="310"/>
                  </a:lnTo>
                  <a:lnTo>
                    <a:pt x="254" y="310"/>
                  </a:lnTo>
                  <a:lnTo>
                    <a:pt x="254" y="310"/>
                  </a:lnTo>
                  <a:lnTo>
                    <a:pt x="254" y="310"/>
                  </a:lnTo>
                  <a:lnTo>
                    <a:pt x="254" y="310"/>
                  </a:lnTo>
                  <a:lnTo>
                    <a:pt x="258" y="312"/>
                  </a:lnTo>
                  <a:lnTo>
                    <a:pt x="258" y="312"/>
                  </a:lnTo>
                  <a:lnTo>
                    <a:pt x="258" y="312"/>
                  </a:lnTo>
                  <a:lnTo>
                    <a:pt x="258" y="312"/>
                  </a:lnTo>
                  <a:lnTo>
                    <a:pt x="260" y="312"/>
                  </a:lnTo>
                  <a:lnTo>
                    <a:pt x="260" y="312"/>
                  </a:lnTo>
                  <a:lnTo>
                    <a:pt x="258" y="314"/>
                  </a:lnTo>
                  <a:lnTo>
                    <a:pt x="258" y="314"/>
                  </a:lnTo>
                  <a:lnTo>
                    <a:pt x="258" y="314"/>
                  </a:lnTo>
                  <a:lnTo>
                    <a:pt x="260" y="314"/>
                  </a:lnTo>
                  <a:lnTo>
                    <a:pt x="260" y="314"/>
                  </a:lnTo>
                  <a:lnTo>
                    <a:pt x="262" y="316"/>
                  </a:lnTo>
                  <a:lnTo>
                    <a:pt x="262" y="317"/>
                  </a:lnTo>
                  <a:lnTo>
                    <a:pt x="262" y="317"/>
                  </a:lnTo>
                  <a:lnTo>
                    <a:pt x="262" y="317"/>
                  </a:lnTo>
                  <a:lnTo>
                    <a:pt x="262" y="319"/>
                  </a:lnTo>
                  <a:lnTo>
                    <a:pt x="262" y="321"/>
                  </a:lnTo>
                  <a:lnTo>
                    <a:pt x="258" y="323"/>
                  </a:lnTo>
                  <a:lnTo>
                    <a:pt x="252" y="325"/>
                  </a:lnTo>
                  <a:lnTo>
                    <a:pt x="250" y="325"/>
                  </a:lnTo>
                  <a:lnTo>
                    <a:pt x="250" y="323"/>
                  </a:lnTo>
                  <a:lnTo>
                    <a:pt x="250" y="323"/>
                  </a:lnTo>
                  <a:lnTo>
                    <a:pt x="250" y="323"/>
                  </a:lnTo>
                  <a:lnTo>
                    <a:pt x="250" y="323"/>
                  </a:lnTo>
                  <a:lnTo>
                    <a:pt x="250" y="323"/>
                  </a:lnTo>
                  <a:lnTo>
                    <a:pt x="250" y="323"/>
                  </a:lnTo>
                  <a:lnTo>
                    <a:pt x="244" y="319"/>
                  </a:lnTo>
                  <a:lnTo>
                    <a:pt x="244" y="319"/>
                  </a:lnTo>
                  <a:lnTo>
                    <a:pt x="241" y="317"/>
                  </a:lnTo>
                  <a:lnTo>
                    <a:pt x="237" y="319"/>
                  </a:lnTo>
                  <a:lnTo>
                    <a:pt x="237" y="321"/>
                  </a:lnTo>
                  <a:lnTo>
                    <a:pt x="237" y="321"/>
                  </a:lnTo>
                  <a:lnTo>
                    <a:pt x="237" y="323"/>
                  </a:lnTo>
                  <a:lnTo>
                    <a:pt x="239" y="325"/>
                  </a:lnTo>
                  <a:lnTo>
                    <a:pt x="239" y="325"/>
                  </a:lnTo>
                  <a:lnTo>
                    <a:pt x="239" y="327"/>
                  </a:lnTo>
                  <a:lnTo>
                    <a:pt x="239" y="329"/>
                  </a:lnTo>
                  <a:lnTo>
                    <a:pt x="239" y="331"/>
                  </a:lnTo>
                  <a:lnTo>
                    <a:pt x="233" y="344"/>
                  </a:lnTo>
                  <a:lnTo>
                    <a:pt x="233" y="348"/>
                  </a:lnTo>
                  <a:lnTo>
                    <a:pt x="233" y="352"/>
                  </a:lnTo>
                  <a:lnTo>
                    <a:pt x="231" y="352"/>
                  </a:lnTo>
                  <a:lnTo>
                    <a:pt x="231" y="354"/>
                  </a:lnTo>
                  <a:lnTo>
                    <a:pt x="231" y="354"/>
                  </a:lnTo>
                  <a:lnTo>
                    <a:pt x="231" y="354"/>
                  </a:lnTo>
                  <a:lnTo>
                    <a:pt x="237" y="359"/>
                  </a:lnTo>
                  <a:lnTo>
                    <a:pt x="239" y="359"/>
                  </a:lnTo>
                  <a:lnTo>
                    <a:pt x="239" y="359"/>
                  </a:lnTo>
                  <a:lnTo>
                    <a:pt x="239" y="361"/>
                  </a:lnTo>
                  <a:lnTo>
                    <a:pt x="239" y="363"/>
                  </a:lnTo>
                  <a:lnTo>
                    <a:pt x="239" y="365"/>
                  </a:lnTo>
                  <a:lnTo>
                    <a:pt x="239" y="365"/>
                  </a:lnTo>
                  <a:lnTo>
                    <a:pt x="241" y="369"/>
                  </a:lnTo>
                  <a:lnTo>
                    <a:pt x="241" y="371"/>
                  </a:lnTo>
                  <a:lnTo>
                    <a:pt x="241" y="373"/>
                  </a:lnTo>
                  <a:lnTo>
                    <a:pt x="241" y="373"/>
                  </a:lnTo>
                  <a:lnTo>
                    <a:pt x="241" y="374"/>
                  </a:lnTo>
                  <a:lnTo>
                    <a:pt x="237" y="382"/>
                  </a:lnTo>
                  <a:lnTo>
                    <a:pt x="237" y="384"/>
                  </a:lnTo>
                  <a:lnTo>
                    <a:pt x="239" y="384"/>
                  </a:lnTo>
                  <a:lnTo>
                    <a:pt x="244" y="384"/>
                  </a:lnTo>
                  <a:lnTo>
                    <a:pt x="250" y="384"/>
                  </a:lnTo>
                  <a:lnTo>
                    <a:pt x="256" y="384"/>
                  </a:lnTo>
                  <a:lnTo>
                    <a:pt x="256" y="384"/>
                  </a:lnTo>
                  <a:lnTo>
                    <a:pt x="256" y="386"/>
                  </a:lnTo>
                  <a:lnTo>
                    <a:pt x="256" y="386"/>
                  </a:lnTo>
                  <a:lnTo>
                    <a:pt x="256" y="386"/>
                  </a:lnTo>
                  <a:lnTo>
                    <a:pt x="256" y="386"/>
                  </a:lnTo>
                  <a:lnTo>
                    <a:pt x="256" y="386"/>
                  </a:lnTo>
                  <a:lnTo>
                    <a:pt x="256" y="388"/>
                  </a:lnTo>
                  <a:lnTo>
                    <a:pt x="256" y="388"/>
                  </a:lnTo>
                  <a:lnTo>
                    <a:pt x="256" y="390"/>
                  </a:lnTo>
                  <a:lnTo>
                    <a:pt x="256" y="392"/>
                  </a:lnTo>
                  <a:lnTo>
                    <a:pt x="256" y="393"/>
                  </a:lnTo>
                  <a:lnTo>
                    <a:pt x="258" y="393"/>
                  </a:lnTo>
                  <a:lnTo>
                    <a:pt x="258" y="395"/>
                  </a:lnTo>
                  <a:lnTo>
                    <a:pt x="258" y="395"/>
                  </a:lnTo>
                  <a:lnTo>
                    <a:pt x="260" y="395"/>
                  </a:lnTo>
                  <a:lnTo>
                    <a:pt x="260" y="395"/>
                  </a:lnTo>
                  <a:lnTo>
                    <a:pt x="262" y="395"/>
                  </a:lnTo>
                  <a:lnTo>
                    <a:pt x="262" y="395"/>
                  </a:lnTo>
                  <a:lnTo>
                    <a:pt x="263" y="395"/>
                  </a:lnTo>
                  <a:lnTo>
                    <a:pt x="263" y="393"/>
                  </a:lnTo>
                  <a:lnTo>
                    <a:pt x="265" y="392"/>
                  </a:lnTo>
                  <a:lnTo>
                    <a:pt x="267" y="390"/>
                  </a:lnTo>
                  <a:lnTo>
                    <a:pt x="271" y="386"/>
                  </a:lnTo>
                  <a:lnTo>
                    <a:pt x="273" y="386"/>
                  </a:lnTo>
                  <a:lnTo>
                    <a:pt x="273" y="386"/>
                  </a:lnTo>
                  <a:lnTo>
                    <a:pt x="273" y="386"/>
                  </a:lnTo>
                  <a:lnTo>
                    <a:pt x="275" y="384"/>
                  </a:lnTo>
                  <a:lnTo>
                    <a:pt x="275" y="384"/>
                  </a:lnTo>
                  <a:lnTo>
                    <a:pt x="275" y="384"/>
                  </a:lnTo>
                  <a:lnTo>
                    <a:pt x="275" y="382"/>
                  </a:lnTo>
                  <a:lnTo>
                    <a:pt x="275" y="380"/>
                  </a:lnTo>
                  <a:lnTo>
                    <a:pt x="275" y="378"/>
                  </a:lnTo>
                  <a:lnTo>
                    <a:pt x="279" y="374"/>
                  </a:lnTo>
                  <a:lnTo>
                    <a:pt x="281" y="373"/>
                  </a:lnTo>
                  <a:lnTo>
                    <a:pt x="283" y="371"/>
                  </a:lnTo>
                  <a:lnTo>
                    <a:pt x="283" y="371"/>
                  </a:lnTo>
                  <a:lnTo>
                    <a:pt x="283" y="369"/>
                  </a:lnTo>
                  <a:lnTo>
                    <a:pt x="286" y="361"/>
                  </a:lnTo>
                  <a:lnTo>
                    <a:pt x="286" y="361"/>
                  </a:lnTo>
                  <a:lnTo>
                    <a:pt x="286" y="359"/>
                  </a:lnTo>
                  <a:lnTo>
                    <a:pt x="288" y="361"/>
                  </a:lnTo>
                  <a:lnTo>
                    <a:pt x="288" y="361"/>
                  </a:lnTo>
                  <a:lnTo>
                    <a:pt x="288" y="363"/>
                  </a:lnTo>
                  <a:lnTo>
                    <a:pt x="294" y="371"/>
                  </a:lnTo>
                  <a:lnTo>
                    <a:pt x="294" y="373"/>
                  </a:lnTo>
                  <a:lnTo>
                    <a:pt x="296" y="373"/>
                  </a:lnTo>
                  <a:lnTo>
                    <a:pt x="296" y="373"/>
                  </a:lnTo>
                  <a:lnTo>
                    <a:pt x="303" y="369"/>
                  </a:lnTo>
                  <a:lnTo>
                    <a:pt x="303" y="371"/>
                  </a:lnTo>
                  <a:lnTo>
                    <a:pt x="307" y="371"/>
                  </a:lnTo>
                  <a:lnTo>
                    <a:pt x="309" y="371"/>
                  </a:lnTo>
                  <a:lnTo>
                    <a:pt x="311" y="369"/>
                  </a:lnTo>
                  <a:lnTo>
                    <a:pt x="309" y="367"/>
                  </a:lnTo>
                  <a:lnTo>
                    <a:pt x="313" y="367"/>
                  </a:lnTo>
                  <a:lnTo>
                    <a:pt x="313" y="363"/>
                  </a:lnTo>
                  <a:lnTo>
                    <a:pt x="313" y="355"/>
                  </a:lnTo>
                  <a:lnTo>
                    <a:pt x="315" y="352"/>
                  </a:lnTo>
                  <a:lnTo>
                    <a:pt x="315" y="352"/>
                  </a:lnTo>
                  <a:lnTo>
                    <a:pt x="317" y="352"/>
                  </a:lnTo>
                  <a:lnTo>
                    <a:pt x="319" y="350"/>
                  </a:lnTo>
                  <a:lnTo>
                    <a:pt x="319" y="350"/>
                  </a:lnTo>
                  <a:lnTo>
                    <a:pt x="317" y="346"/>
                  </a:lnTo>
                  <a:lnTo>
                    <a:pt x="319" y="342"/>
                  </a:lnTo>
                  <a:lnTo>
                    <a:pt x="319" y="340"/>
                  </a:lnTo>
                  <a:lnTo>
                    <a:pt x="319" y="340"/>
                  </a:lnTo>
                  <a:lnTo>
                    <a:pt x="317" y="340"/>
                  </a:lnTo>
                  <a:lnTo>
                    <a:pt x="317" y="338"/>
                  </a:lnTo>
                  <a:lnTo>
                    <a:pt x="317" y="338"/>
                  </a:lnTo>
                  <a:lnTo>
                    <a:pt x="317" y="336"/>
                  </a:lnTo>
                  <a:lnTo>
                    <a:pt x="317" y="336"/>
                  </a:lnTo>
                  <a:lnTo>
                    <a:pt x="319" y="335"/>
                  </a:lnTo>
                  <a:lnTo>
                    <a:pt x="319" y="335"/>
                  </a:lnTo>
                  <a:lnTo>
                    <a:pt x="319" y="331"/>
                  </a:lnTo>
                  <a:lnTo>
                    <a:pt x="321" y="329"/>
                  </a:lnTo>
                  <a:lnTo>
                    <a:pt x="321" y="327"/>
                  </a:lnTo>
                  <a:lnTo>
                    <a:pt x="321" y="327"/>
                  </a:lnTo>
                  <a:lnTo>
                    <a:pt x="321" y="327"/>
                  </a:lnTo>
                  <a:lnTo>
                    <a:pt x="323" y="325"/>
                  </a:lnTo>
                  <a:lnTo>
                    <a:pt x="323" y="325"/>
                  </a:lnTo>
                  <a:lnTo>
                    <a:pt x="323" y="325"/>
                  </a:lnTo>
                  <a:lnTo>
                    <a:pt x="323" y="325"/>
                  </a:lnTo>
                  <a:lnTo>
                    <a:pt x="323" y="325"/>
                  </a:lnTo>
                  <a:lnTo>
                    <a:pt x="324" y="327"/>
                  </a:lnTo>
                  <a:lnTo>
                    <a:pt x="324" y="327"/>
                  </a:lnTo>
                  <a:lnTo>
                    <a:pt x="326" y="327"/>
                  </a:lnTo>
                  <a:lnTo>
                    <a:pt x="326" y="327"/>
                  </a:lnTo>
                  <a:lnTo>
                    <a:pt x="328" y="327"/>
                  </a:lnTo>
                  <a:lnTo>
                    <a:pt x="328" y="325"/>
                  </a:lnTo>
                  <a:lnTo>
                    <a:pt x="328" y="325"/>
                  </a:lnTo>
                  <a:lnTo>
                    <a:pt x="328" y="323"/>
                  </a:lnTo>
                  <a:lnTo>
                    <a:pt x="330" y="319"/>
                  </a:lnTo>
                  <a:lnTo>
                    <a:pt x="332" y="316"/>
                  </a:lnTo>
                  <a:lnTo>
                    <a:pt x="332" y="316"/>
                  </a:lnTo>
                  <a:lnTo>
                    <a:pt x="332" y="316"/>
                  </a:lnTo>
                  <a:lnTo>
                    <a:pt x="332" y="314"/>
                  </a:lnTo>
                  <a:lnTo>
                    <a:pt x="332" y="314"/>
                  </a:lnTo>
                  <a:lnTo>
                    <a:pt x="332" y="314"/>
                  </a:lnTo>
                  <a:lnTo>
                    <a:pt x="332" y="312"/>
                  </a:lnTo>
                  <a:lnTo>
                    <a:pt x="332" y="312"/>
                  </a:lnTo>
                  <a:lnTo>
                    <a:pt x="332" y="312"/>
                  </a:lnTo>
                  <a:lnTo>
                    <a:pt x="334" y="312"/>
                  </a:lnTo>
                  <a:lnTo>
                    <a:pt x="334" y="312"/>
                  </a:lnTo>
                  <a:lnTo>
                    <a:pt x="334" y="310"/>
                  </a:lnTo>
                  <a:lnTo>
                    <a:pt x="334" y="310"/>
                  </a:lnTo>
                  <a:lnTo>
                    <a:pt x="334" y="306"/>
                  </a:lnTo>
                  <a:lnTo>
                    <a:pt x="334" y="304"/>
                  </a:lnTo>
                  <a:lnTo>
                    <a:pt x="334" y="304"/>
                  </a:lnTo>
                  <a:lnTo>
                    <a:pt x="334" y="302"/>
                  </a:lnTo>
                  <a:lnTo>
                    <a:pt x="334" y="302"/>
                  </a:lnTo>
                  <a:lnTo>
                    <a:pt x="336" y="302"/>
                  </a:lnTo>
                  <a:lnTo>
                    <a:pt x="336" y="302"/>
                  </a:lnTo>
                  <a:lnTo>
                    <a:pt x="338" y="302"/>
                  </a:lnTo>
                  <a:lnTo>
                    <a:pt x="338" y="300"/>
                  </a:lnTo>
                  <a:lnTo>
                    <a:pt x="338" y="300"/>
                  </a:lnTo>
                  <a:lnTo>
                    <a:pt x="338" y="298"/>
                  </a:lnTo>
                  <a:lnTo>
                    <a:pt x="340" y="298"/>
                  </a:lnTo>
                  <a:lnTo>
                    <a:pt x="340" y="296"/>
                  </a:lnTo>
                  <a:lnTo>
                    <a:pt x="342" y="295"/>
                  </a:lnTo>
                  <a:lnTo>
                    <a:pt x="343" y="289"/>
                  </a:lnTo>
                  <a:lnTo>
                    <a:pt x="345" y="283"/>
                  </a:lnTo>
                  <a:lnTo>
                    <a:pt x="347" y="281"/>
                  </a:lnTo>
                  <a:lnTo>
                    <a:pt x="347" y="279"/>
                  </a:lnTo>
                  <a:lnTo>
                    <a:pt x="351" y="277"/>
                  </a:lnTo>
                  <a:lnTo>
                    <a:pt x="351" y="276"/>
                  </a:lnTo>
                  <a:lnTo>
                    <a:pt x="351" y="274"/>
                  </a:lnTo>
                  <a:lnTo>
                    <a:pt x="351" y="270"/>
                  </a:lnTo>
                  <a:lnTo>
                    <a:pt x="351" y="268"/>
                  </a:lnTo>
                  <a:lnTo>
                    <a:pt x="351" y="268"/>
                  </a:lnTo>
                  <a:lnTo>
                    <a:pt x="351" y="266"/>
                  </a:lnTo>
                  <a:lnTo>
                    <a:pt x="349" y="264"/>
                  </a:lnTo>
                  <a:lnTo>
                    <a:pt x="349" y="264"/>
                  </a:lnTo>
                  <a:lnTo>
                    <a:pt x="349" y="262"/>
                  </a:lnTo>
                  <a:lnTo>
                    <a:pt x="347" y="262"/>
                  </a:lnTo>
                  <a:lnTo>
                    <a:pt x="347" y="262"/>
                  </a:lnTo>
                  <a:lnTo>
                    <a:pt x="345" y="260"/>
                  </a:lnTo>
                  <a:lnTo>
                    <a:pt x="345" y="260"/>
                  </a:lnTo>
                  <a:lnTo>
                    <a:pt x="345" y="258"/>
                  </a:lnTo>
                  <a:lnTo>
                    <a:pt x="343" y="258"/>
                  </a:lnTo>
                  <a:lnTo>
                    <a:pt x="343" y="257"/>
                  </a:lnTo>
                  <a:lnTo>
                    <a:pt x="343" y="257"/>
                  </a:lnTo>
                  <a:lnTo>
                    <a:pt x="343" y="257"/>
                  </a:lnTo>
                  <a:lnTo>
                    <a:pt x="343" y="257"/>
                  </a:lnTo>
                  <a:lnTo>
                    <a:pt x="342" y="257"/>
                  </a:lnTo>
                  <a:lnTo>
                    <a:pt x="342" y="255"/>
                  </a:lnTo>
                  <a:lnTo>
                    <a:pt x="340" y="255"/>
                  </a:lnTo>
                  <a:lnTo>
                    <a:pt x="340" y="253"/>
                  </a:lnTo>
                  <a:lnTo>
                    <a:pt x="340" y="251"/>
                  </a:lnTo>
                  <a:lnTo>
                    <a:pt x="342" y="251"/>
                  </a:lnTo>
                  <a:lnTo>
                    <a:pt x="343" y="249"/>
                  </a:lnTo>
                  <a:lnTo>
                    <a:pt x="347" y="245"/>
                  </a:lnTo>
                  <a:lnTo>
                    <a:pt x="353" y="241"/>
                  </a:lnTo>
                  <a:lnTo>
                    <a:pt x="357" y="238"/>
                  </a:lnTo>
                  <a:lnTo>
                    <a:pt x="363" y="230"/>
                  </a:lnTo>
                  <a:lnTo>
                    <a:pt x="364" y="228"/>
                  </a:lnTo>
                  <a:lnTo>
                    <a:pt x="374" y="220"/>
                  </a:lnTo>
                  <a:lnTo>
                    <a:pt x="374" y="219"/>
                  </a:lnTo>
                  <a:lnTo>
                    <a:pt x="374" y="219"/>
                  </a:lnTo>
                  <a:lnTo>
                    <a:pt x="374" y="219"/>
                  </a:lnTo>
                  <a:lnTo>
                    <a:pt x="374" y="219"/>
                  </a:lnTo>
                  <a:lnTo>
                    <a:pt x="372" y="217"/>
                  </a:lnTo>
                  <a:lnTo>
                    <a:pt x="372" y="215"/>
                  </a:lnTo>
                  <a:lnTo>
                    <a:pt x="372" y="215"/>
                  </a:lnTo>
                  <a:lnTo>
                    <a:pt x="372" y="215"/>
                  </a:lnTo>
                  <a:lnTo>
                    <a:pt x="372" y="213"/>
                  </a:lnTo>
                  <a:lnTo>
                    <a:pt x="374" y="213"/>
                  </a:lnTo>
                  <a:lnTo>
                    <a:pt x="376" y="211"/>
                  </a:lnTo>
                  <a:lnTo>
                    <a:pt x="378" y="211"/>
                  </a:lnTo>
                  <a:lnTo>
                    <a:pt x="378" y="209"/>
                  </a:lnTo>
                  <a:lnTo>
                    <a:pt x="380" y="209"/>
                  </a:lnTo>
                  <a:lnTo>
                    <a:pt x="380" y="209"/>
                  </a:lnTo>
                  <a:lnTo>
                    <a:pt x="382" y="211"/>
                  </a:lnTo>
                  <a:lnTo>
                    <a:pt x="382" y="211"/>
                  </a:lnTo>
                  <a:lnTo>
                    <a:pt x="384" y="211"/>
                  </a:lnTo>
                  <a:lnTo>
                    <a:pt x="384" y="213"/>
                  </a:lnTo>
                  <a:lnTo>
                    <a:pt x="384" y="215"/>
                  </a:lnTo>
                  <a:lnTo>
                    <a:pt x="384" y="215"/>
                  </a:lnTo>
                  <a:lnTo>
                    <a:pt x="384" y="217"/>
                  </a:lnTo>
                  <a:lnTo>
                    <a:pt x="384" y="219"/>
                  </a:lnTo>
                  <a:lnTo>
                    <a:pt x="382" y="219"/>
                  </a:lnTo>
                  <a:lnTo>
                    <a:pt x="382" y="220"/>
                  </a:lnTo>
                  <a:lnTo>
                    <a:pt x="380" y="220"/>
                  </a:lnTo>
                  <a:lnTo>
                    <a:pt x="380" y="222"/>
                  </a:lnTo>
                  <a:lnTo>
                    <a:pt x="380" y="222"/>
                  </a:lnTo>
                  <a:lnTo>
                    <a:pt x="382" y="222"/>
                  </a:lnTo>
                  <a:lnTo>
                    <a:pt x="382" y="222"/>
                  </a:lnTo>
                  <a:lnTo>
                    <a:pt x="384" y="222"/>
                  </a:lnTo>
                  <a:lnTo>
                    <a:pt x="385" y="222"/>
                  </a:lnTo>
                  <a:lnTo>
                    <a:pt x="391" y="220"/>
                  </a:lnTo>
                  <a:lnTo>
                    <a:pt x="393" y="220"/>
                  </a:lnTo>
                  <a:lnTo>
                    <a:pt x="395" y="219"/>
                  </a:lnTo>
                  <a:lnTo>
                    <a:pt x="397" y="217"/>
                  </a:lnTo>
                  <a:lnTo>
                    <a:pt x="399" y="213"/>
                  </a:lnTo>
                  <a:lnTo>
                    <a:pt x="399" y="213"/>
                  </a:lnTo>
                  <a:lnTo>
                    <a:pt x="401" y="211"/>
                  </a:lnTo>
                  <a:lnTo>
                    <a:pt x="401" y="211"/>
                  </a:lnTo>
                  <a:lnTo>
                    <a:pt x="399" y="209"/>
                  </a:lnTo>
                  <a:lnTo>
                    <a:pt x="399" y="207"/>
                  </a:lnTo>
                  <a:lnTo>
                    <a:pt x="399" y="207"/>
                  </a:lnTo>
                  <a:lnTo>
                    <a:pt x="399" y="207"/>
                  </a:lnTo>
                  <a:lnTo>
                    <a:pt x="399" y="205"/>
                  </a:lnTo>
                  <a:lnTo>
                    <a:pt x="399" y="203"/>
                  </a:lnTo>
                  <a:lnTo>
                    <a:pt x="399" y="201"/>
                  </a:lnTo>
                  <a:lnTo>
                    <a:pt x="401" y="199"/>
                  </a:lnTo>
                  <a:lnTo>
                    <a:pt x="401" y="199"/>
                  </a:lnTo>
                  <a:lnTo>
                    <a:pt x="401" y="199"/>
                  </a:lnTo>
                  <a:lnTo>
                    <a:pt x="401" y="198"/>
                  </a:lnTo>
                  <a:lnTo>
                    <a:pt x="403" y="192"/>
                  </a:lnTo>
                  <a:lnTo>
                    <a:pt x="403" y="190"/>
                  </a:lnTo>
                  <a:lnTo>
                    <a:pt x="401" y="188"/>
                  </a:lnTo>
                  <a:lnTo>
                    <a:pt x="401" y="188"/>
                  </a:lnTo>
                  <a:lnTo>
                    <a:pt x="403" y="186"/>
                  </a:lnTo>
                  <a:lnTo>
                    <a:pt x="410" y="175"/>
                  </a:lnTo>
                  <a:lnTo>
                    <a:pt x="414" y="171"/>
                  </a:lnTo>
                  <a:lnTo>
                    <a:pt x="416" y="169"/>
                  </a:lnTo>
                  <a:lnTo>
                    <a:pt x="418" y="169"/>
                  </a:lnTo>
                  <a:lnTo>
                    <a:pt x="418" y="167"/>
                  </a:lnTo>
                  <a:lnTo>
                    <a:pt x="418" y="165"/>
                  </a:lnTo>
                  <a:lnTo>
                    <a:pt x="420" y="160"/>
                  </a:lnTo>
                  <a:lnTo>
                    <a:pt x="420" y="158"/>
                  </a:lnTo>
                  <a:lnTo>
                    <a:pt x="420" y="156"/>
                  </a:lnTo>
                  <a:lnTo>
                    <a:pt x="424" y="152"/>
                  </a:lnTo>
                  <a:lnTo>
                    <a:pt x="425" y="148"/>
                  </a:lnTo>
                  <a:lnTo>
                    <a:pt x="427" y="150"/>
                  </a:lnTo>
                  <a:lnTo>
                    <a:pt x="429" y="152"/>
                  </a:lnTo>
                  <a:lnTo>
                    <a:pt x="429" y="154"/>
                  </a:lnTo>
                  <a:lnTo>
                    <a:pt x="429" y="154"/>
                  </a:lnTo>
                  <a:lnTo>
                    <a:pt x="429" y="154"/>
                  </a:lnTo>
                  <a:lnTo>
                    <a:pt x="429" y="156"/>
                  </a:lnTo>
                  <a:lnTo>
                    <a:pt x="429" y="156"/>
                  </a:lnTo>
                  <a:lnTo>
                    <a:pt x="431" y="156"/>
                  </a:lnTo>
                  <a:lnTo>
                    <a:pt x="431" y="156"/>
                  </a:lnTo>
                  <a:lnTo>
                    <a:pt x="433" y="156"/>
                  </a:lnTo>
                  <a:lnTo>
                    <a:pt x="435" y="154"/>
                  </a:lnTo>
                  <a:lnTo>
                    <a:pt x="435" y="154"/>
                  </a:lnTo>
                  <a:lnTo>
                    <a:pt x="437" y="152"/>
                  </a:lnTo>
                  <a:lnTo>
                    <a:pt x="439" y="150"/>
                  </a:lnTo>
                  <a:lnTo>
                    <a:pt x="441" y="148"/>
                  </a:lnTo>
                  <a:lnTo>
                    <a:pt x="441" y="146"/>
                  </a:lnTo>
                  <a:lnTo>
                    <a:pt x="441" y="144"/>
                  </a:lnTo>
                  <a:lnTo>
                    <a:pt x="441" y="144"/>
                  </a:lnTo>
                  <a:lnTo>
                    <a:pt x="441" y="142"/>
                  </a:lnTo>
                  <a:lnTo>
                    <a:pt x="444" y="139"/>
                  </a:lnTo>
                  <a:lnTo>
                    <a:pt x="444" y="137"/>
                  </a:lnTo>
                  <a:lnTo>
                    <a:pt x="446" y="137"/>
                  </a:lnTo>
                  <a:lnTo>
                    <a:pt x="446" y="137"/>
                  </a:lnTo>
                  <a:lnTo>
                    <a:pt x="446" y="137"/>
                  </a:lnTo>
                  <a:lnTo>
                    <a:pt x="448" y="137"/>
                  </a:lnTo>
                  <a:lnTo>
                    <a:pt x="450" y="135"/>
                  </a:lnTo>
                  <a:lnTo>
                    <a:pt x="450" y="135"/>
                  </a:lnTo>
                  <a:lnTo>
                    <a:pt x="452" y="133"/>
                  </a:lnTo>
                  <a:lnTo>
                    <a:pt x="452" y="133"/>
                  </a:lnTo>
                  <a:lnTo>
                    <a:pt x="452" y="133"/>
                  </a:lnTo>
                  <a:lnTo>
                    <a:pt x="456" y="133"/>
                  </a:lnTo>
                  <a:lnTo>
                    <a:pt x="464" y="131"/>
                  </a:lnTo>
                  <a:lnTo>
                    <a:pt x="465" y="129"/>
                  </a:lnTo>
                  <a:lnTo>
                    <a:pt x="471" y="125"/>
                  </a:lnTo>
                  <a:lnTo>
                    <a:pt x="475" y="122"/>
                  </a:lnTo>
                  <a:lnTo>
                    <a:pt x="479" y="118"/>
                  </a:lnTo>
                  <a:lnTo>
                    <a:pt x="481" y="112"/>
                  </a:lnTo>
                  <a:lnTo>
                    <a:pt x="483" y="112"/>
                  </a:lnTo>
                  <a:lnTo>
                    <a:pt x="485" y="108"/>
                  </a:lnTo>
                  <a:lnTo>
                    <a:pt x="485" y="108"/>
                  </a:lnTo>
                  <a:lnTo>
                    <a:pt x="486" y="108"/>
                  </a:lnTo>
                  <a:lnTo>
                    <a:pt x="486" y="108"/>
                  </a:lnTo>
                  <a:lnTo>
                    <a:pt x="486" y="108"/>
                  </a:lnTo>
                  <a:lnTo>
                    <a:pt x="490" y="110"/>
                  </a:lnTo>
                  <a:lnTo>
                    <a:pt x="490" y="110"/>
                  </a:lnTo>
                  <a:lnTo>
                    <a:pt x="492" y="110"/>
                  </a:lnTo>
                  <a:lnTo>
                    <a:pt x="494" y="110"/>
                  </a:lnTo>
                  <a:lnTo>
                    <a:pt x="496" y="110"/>
                  </a:lnTo>
                  <a:lnTo>
                    <a:pt x="496" y="110"/>
                  </a:lnTo>
                  <a:lnTo>
                    <a:pt x="507" y="103"/>
                  </a:lnTo>
                  <a:lnTo>
                    <a:pt x="507" y="103"/>
                  </a:lnTo>
                  <a:lnTo>
                    <a:pt x="507" y="103"/>
                  </a:lnTo>
                  <a:lnTo>
                    <a:pt x="507" y="103"/>
                  </a:lnTo>
                  <a:lnTo>
                    <a:pt x="507" y="101"/>
                  </a:lnTo>
                  <a:lnTo>
                    <a:pt x="509" y="101"/>
                  </a:lnTo>
                  <a:lnTo>
                    <a:pt x="509" y="99"/>
                  </a:lnTo>
                  <a:lnTo>
                    <a:pt x="511" y="99"/>
                  </a:lnTo>
                  <a:lnTo>
                    <a:pt x="511" y="99"/>
                  </a:lnTo>
                  <a:lnTo>
                    <a:pt x="511" y="97"/>
                  </a:lnTo>
                  <a:lnTo>
                    <a:pt x="513" y="99"/>
                  </a:lnTo>
                  <a:lnTo>
                    <a:pt x="515" y="99"/>
                  </a:lnTo>
                  <a:lnTo>
                    <a:pt x="517" y="99"/>
                  </a:lnTo>
                  <a:lnTo>
                    <a:pt x="517" y="97"/>
                  </a:lnTo>
                  <a:lnTo>
                    <a:pt x="523" y="95"/>
                  </a:lnTo>
                  <a:lnTo>
                    <a:pt x="526" y="91"/>
                  </a:lnTo>
                  <a:lnTo>
                    <a:pt x="528" y="89"/>
                  </a:lnTo>
                  <a:lnTo>
                    <a:pt x="530" y="89"/>
                  </a:lnTo>
                  <a:lnTo>
                    <a:pt x="530" y="89"/>
                  </a:lnTo>
                  <a:lnTo>
                    <a:pt x="532" y="87"/>
                  </a:lnTo>
                  <a:lnTo>
                    <a:pt x="536" y="85"/>
                  </a:lnTo>
                  <a:lnTo>
                    <a:pt x="536" y="83"/>
                  </a:lnTo>
                  <a:lnTo>
                    <a:pt x="538" y="82"/>
                  </a:lnTo>
                  <a:lnTo>
                    <a:pt x="538" y="82"/>
                  </a:lnTo>
                  <a:lnTo>
                    <a:pt x="538" y="78"/>
                  </a:lnTo>
                  <a:lnTo>
                    <a:pt x="538" y="78"/>
                  </a:lnTo>
                  <a:lnTo>
                    <a:pt x="540" y="76"/>
                  </a:lnTo>
                  <a:lnTo>
                    <a:pt x="540" y="76"/>
                  </a:lnTo>
                  <a:lnTo>
                    <a:pt x="542" y="76"/>
                  </a:lnTo>
                  <a:lnTo>
                    <a:pt x="544" y="74"/>
                  </a:lnTo>
                  <a:lnTo>
                    <a:pt x="544" y="74"/>
                  </a:lnTo>
                  <a:lnTo>
                    <a:pt x="545" y="74"/>
                  </a:lnTo>
                  <a:lnTo>
                    <a:pt x="547" y="76"/>
                  </a:lnTo>
                  <a:lnTo>
                    <a:pt x="549" y="78"/>
                  </a:lnTo>
                  <a:lnTo>
                    <a:pt x="551" y="78"/>
                  </a:lnTo>
                  <a:lnTo>
                    <a:pt x="553" y="80"/>
                  </a:lnTo>
                  <a:lnTo>
                    <a:pt x="568" y="72"/>
                  </a:lnTo>
                  <a:lnTo>
                    <a:pt x="568" y="72"/>
                  </a:lnTo>
                  <a:lnTo>
                    <a:pt x="572" y="74"/>
                  </a:lnTo>
                  <a:lnTo>
                    <a:pt x="572" y="74"/>
                  </a:lnTo>
                  <a:lnTo>
                    <a:pt x="574" y="72"/>
                  </a:lnTo>
                  <a:lnTo>
                    <a:pt x="574" y="72"/>
                  </a:lnTo>
                  <a:lnTo>
                    <a:pt x="574" y="72"/>
                  </a:lnTo>
                  <a:lnTo>
                    <a:pt x="578" y="74"/>
                  </a:lnTo>
                  <a:lnTo>
                    <a:pt x="578" y="74"/>
                  </a:lnTo>
                  <a:lnTo>
                    <a:pt x="578" y="74"/>
                  </a:lnTo>
                  <a:lnTo>
                    <a:pt x="578" y="72"/>
                  </a:lnTo>
                  <a:lnTo>
                    <a:pt x="578" y="72"/>
                  </a:lnTo>
                  <a:lnTo>
                    <a:pt x="580" y="70"/>
                  </a:lnTo>
                  <a:lnTo>
                    <a:pt x="580" y="70"/>
                  </a:lnTo>
                  <a:lnTo>
                    <a:pt x="582" y="70"/>
                  </a:lnTo>
                  <a:lnTo>
                    <a:pt x="582" y="70"/>
                  </a:lnTo>
                  <a:lnTo>
                    <a:pt x="582" y="70"/>
                  </a:lnTo>
                  <a:lnTo>
                    <a:pt x="582" y="70"/>
                  </a:lnTo>
                  <a:lnTo>
                    <a:pt x="584" y="68"/>
                  </a:lnTo>
                  <a:lnTo>
                    <a:pt x="584" y="68"/>
                  </a:lnTo>
                  <a:lnTo>
                    <a:pt x="584" y="66"/>
                  </a:lnTo>
                  <a:lnTo>
                    <a:pt x="584" y="66"/>
                  </a:lnTo>
                  <a:lnTo>
                    <a:pt x="584" y="66"/>
                  </a:lnTo>
                  <a:lnTo>
                    <a:pt x="586" y="64"/>
                  </a:lnTo>
                  <a:lnTo>
                    <a:pt x="586" y="64"/>
                  </a:lnTo>
                  <a:lnTo>
                    <a:pt x="587" y="64"/>
                  </a:lnTo>
                  <a:lnTo>
                    <a:pt x="587" y="64"/>
                  </a:lnTo>
                  <a:lnTo>
                    <a:pt x="587" y="64"/>
                  </a:lnTo>
                  <a:lnTo>
                    <a:pt x="587" y="61"/>
                  </a:lnTo>
                  <a:lnTo>
                    <a:pt x="587" y="61"/>
                  </a:lnTo>
                  <a:close/>
                </a:path>
              </a:pathLst>
            </a:custGeom>
            <a:solidFill>
              <a:srgbClr val="F2F2F2"/>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21" name="Freeform 71">
              <a:extLst>
                <a:ext uri="{FF2B5EF4-FFF2-40B4-BE49-F238E27FC236}">
                  <a16:creationId xmlns:a16="http://schemas.microsoft.com/office/drawing/2014/main" id="{3CA666E5-493D-82D9-26EE-9E643FC4BB05}"/>
                </a:ext>
              </a:extLst>
            </p:cNvPr>
            <p:cNvSpPr>
              <a:spLocks/>
            </p:cNvSpPr>
            <p:nvPr/>
          </p:nvSpPr>
          <p:spPr bwMode="auto">
            <a:xfrm>
              <a:off x="4754673" y="2838019"/>
              <a:ext cx="1107396" cy="668154"/>
            </a:xfrm>
            <a:custGeom>
              <a:avLst/>
              <a:gdLst>
                <a:gd name="T0" fmla="*/ 576 w 587"/>
                <a:gd name="T1" fmla="*/ 57 h 395"/>
                <a:gd name="T2" fmla="*/ 566 w 587"/>
                <a:gd name="T3" fmla="*/ 36 h 395"/>
                <a:gd name="T4" fmla="*/ 544 w 587"/>
                <a:gd name="T5" fmla="*/ 9 h 395"/>
                <a:gd name="T6" fmla="*/ 462 w 587"/>
                <a:gd name="T7" fmla="*/ 34 h 395"/>
                <a:gd name="T8" fmla="*/ 425 w 587"/>
                <a:gd name="T9" fmla="*/ 36 h 395"/>
                <a:gd name="T10" fmla="*/ 397 w 587"/>
                <a:gd name="T11" fmla="*/ 70 h 395"/>
                <a:gd name="T12" fmla="*/ 359 w 587"/>
                <a:gd name="T13" fmla="*/ 106 h 395"/>
                <a:gd name="T14" fmla="*/ 292 w 587"/>
                <a:gd name="T15" fmla="*/ 97 h 395"/>
                <a:gd name="T16" fmla="*/ 223 w 587"/>
                <a:gd name="T17" fmla="*/ 110 h 395"/>
                <a:gd name="T18" fmla="*/ 202 w 587"/>
                <a:gd name="T19" fmla="*/ 118 h 395"/>
                <a:gd name="T20" fmla="*/ 161 w 587"/>
                <a:gd name="T21" fmla="*/ 118 h 395"/>
                <a:gd name="T22" fmla="*/ 119 w 587"/>
                <a:gd name="T23" fmla="*/ 125 h 395"/>
                <a:gd name="T24" fmla="*/ 29 w 587"/>
                <a:gd name="T25" fmla="*/ 131 h 395"/>
                <a:gd name="T26" fmla="*/ 18 w 587"/>
                <a:gd name="T27" fmla="*/ 167 h 395"/>
                <a:gd name="T28" fmla="*/ 8 w 587"/>
                <a:gd name="T29" fmla="*/ 180 h 395"/>
                <a:gd name="T30" fmla="*/ 6 w 587"/>
                <a:gd name="T31" fmla="*/ 190 h 395"/>
                <a:gd name="T32" fmla="*/ 14 w 587"/>
                <a:gd name="T33" fmla="*/ 205 h 395"/>
                <a:gd name="T34" fmla="*/ 16 w 587"/>
                <a:gd name="T35" fmla="*/ 251 h 395"/>
                <a:gd name="T36" fmla="*/ 31 w 587"/>
                <a:gd name="T37" fmla="*/ 249 h 395"/>
                <a:gd name="T38" fmla="*/ 29 w 587"/>
                <a:gd name="T39" fmla="*/ 230 h 395"/>
                <a:gd name="T40" fmla="*/ 61 w 587"/>
                <a:gd name="T41" fmla="*/ 207 h 395"/>
                <a:gd name="T42" fmla="*/ 82 w 587"/>
                <a:gd name="T43" fmla="*/ 213 h 395"/>
                <a:gd name="T44" fmla="*/ 92 w 587"/>
                <a:gd name="T45" fmla="*/ 213 h 395"/>
                <a:gd name="T46" fmla="*/ 122 w 587"/>
                <a:gd name="T47" fmla="*/ 211 h 395"/>
                <a:gd name="T48" fmla="*/ 132 w 587"/>
                <a:gd name="T49" fmla="*/ 222 h 395"/>
                <a:gd name="T50" fmla="*/ 157 w 587"/>
                <a:gd name="T51" fmla="*/ 222 h 395"/>
                <a:gd name="T52" fmla="*/ 174 w 587"/>
                <a:gd name="T53" fmla="*/ 209 h 395"/>
                <a:gd name="T54" fmla="*/ 183 w 587"/>
                <a:gd name="T55" fmla="*/ 213 h 395"/>
                <a:gd name="T56" fmla="*/ 208 w 587"/>
                <a:gd name="T57" fmla="*/ 201 h 395"/>
                <a:gd name="T58" fmla="*/ 233 w 587"/>
                <a:gd name="T59" fmla="*/ 207 h 395"/>
                <a:gd name="T60" fmla="*/ 233 w 587"/>
                <a:gd name="T61" fmla="*/ 238 h 395"/>
                <a:gd name="T62" fmla="*/ 265 w 587"/>
                <a:gd name="T63" fmla="*/ 239 h 395"/>
                <a:gd name="T64" fmla="*/ 279 w 587"/>
                <a:gd name="T65" fmla="*/ 249 h 395"/>
                <a:gd name="T66" fmla="*/ 281 w 587"/>
                <a:gd name="T67" fmla="*/ 264 h 395"/>
                <a:gd name="T68" fmla="*/ 290 w 587"/>
                <a:gd name="T69" fmla="*/ 281 h 395"/>
                <a:gd name="T70" fmla="*/ 265 w 587"/>
                <a:gd name="T71" fmla="*/ 295 h 395"/>
                <a:gd name="T72" fmla="*/ 258 w 587"/>
                <a:gd name="T73" fmla="*/ 312 h 395"/>
                <a:gd name="T74" fmla="*/ 250 w 587"/>
                <a:gd name="T75" fmla="*/ 325 h 395"/>
                <a:gd name="T76" fmla="*/ 239 w 587"/>
                <a:gd name="T77" fmla="*/ 329 h 395"/>
                <a:gd name="T78" fmla="*/ 241 w 587"/>
                <a:gd name="T79" fmla="*/ 371 h 395"/>
                <a:gd name="T80" fmla="*/ 256 w 587"/>
                <a:gd name="T81" fmla="*/ 388 h 395"/>
                <a:gd name="T82" fmla="*/ 273 w 587"/>
                <a:gd name="T83" fmla="*/ 386 h 395"/>
                <a:gd name="T84" fmla="*/ 288 w 587"/>
                <a:gd name="T85" fmla="*/ 361 h 395"/>
                <a:gd name="T86" fmla="*/ 317 w 587"/>
                <a:gd name="T87" fmla="*/ 352 h 395"/>
                <a:gd name="T88" fmla="*/ 321 w 587"/>
                <a:gd name="T89" fmla="*/ 327 h 395"/>
                <a:gd name="T90" fmla="*/ 332 w 587"/>
                <a:gd name="T91" fmla="*/ 316 h 395"/>
                <a:gd name="T92" fmla="*/ 336 w 587"/>
                <a:gd name="T93" fmla="*/ 302 h 395"/>
                <a:gd name="T94" fmla="*/ 351 w 587"/>
                <a:gd name="T95" fmla="*/ 268 h 395"/>
                <a:gd name="T96" fmla="*/ 342 w 587"/>
                <a:gd name="T97" fmla="*/ 255 h 395"/>
                <a:gd name="T98" fmla="*/ 372 w 587"/>
                <a:gd name="T99" fmla="*/ 215 h 395"/>
                <a:gd name="T100" fmla="*/ 384 w 587"/>
                <a:gd name="T101" fmla="*/ 219 h 395"/>
                <a:gd name="T102" fmla="*/ 401 w 587"/>
                <a:gd name="T103" fmla="*/ 211 h 395"/>
                <a:gd name="T104" fmla="*/ 410 w 587"/>
                <a:gd name="T105" fmla="*/ 175 h 395"/>
                <a:gd name="T106" fmla="*/ 429 w 587"/>
                <a:gd name="T107" fmla="*/ 156 h 395"/>
                <a:gd name="T108" fmla="*/ 446 w 587"/>
                <a:gd name="T109" fmla="*/ 137 h 395"/>
                <a:gd name="T110" fmla="*/ 486 w 587"/>
                <a:gd name="T111" fmla="*/ 108 h 395"/>
                <a:gd name="T112" fmla="*/ 511 w 587"/>
                <a:gd name="T113" fmla="*/ 99 h 395"/>
                <a:gd name="T114" fmla="*/ 538 w 587"/>
                <a:gd name="T115" fmla="*/ 78 h 395"/>
                <a:gd name="T116" fmla="*/ 574 w 587"/>
                <a:gd name="T117" fmla="*/ 72 h 395"/>
                <a:gd name="T118" fmla="*/ 586 w 587"/>
                <a:gd name="T119" fmla="*/ 64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7" h="395">
                  <a:moveTo>
                    <a:pt x="587" y="61"/>
                  </a:moveTo>
                  <a:lnTo>
                    <a:pt x="586" y="59"/>
                  </a:lnTo>
                  <a:lnTo>
                    <a:pt x="586" y="57"/>
                  </a:lnTo>
                  <a:lnTo>
                    <a:pt x="584" y="57"/>
                  </a:lnTo>
                  <a:lnTo>
                    <a:pt x="584" y="55"/>
                  </a:lnTo>
                  <a:lnTo>
                    <a:pt x="582" y="55"/>
                  </a:lnTo>
                  <a:lnTo>
                    <a:pt x="582" y="57"/>
                  </a:lnTo>
                  <a:lnTo>
                    <a:pt x="582" y="57"/>
                  </a:lnTo>
                  <a:lnTo>
                    <a:pt x="580" y="57"/>
                  </a:lnTo>
                  <a:lnTo>
                    <a:pt x="580" y="57"/>
                  </a:lnTo>
                  <a:lnTo>
                    <a:pt x="580" y="57"/>
                  </a:lnTo>
                  <a:lnTo>
                    <a:pt x="576" y="61"/>
                  </a:lnTo>
                  <a:lnTo>
                    <a:pt x="576" y="61"/>
                  </a:lnTo>
                  <a:lnTo>
                    <a:pt x="576" y="61"/>
                  </a:lnTo>
                  <a:lnTo>
                    <a:pt x="576" y="61"/>
                  </a:lnTo>
                  <a:lnTo>
                    <a:pt x="576" y="59"/>
                  </a:lnTo>
                  <a:lnTo>
                    <a:pt x="576" y="57"/>
                  </a:lnTo>
                  <a:lnTo>
                    <a:pt x="576" y="57"/>
                  </a:lnTo>
                  <a:lnTo>
                    <a:pt x="574" y="55"/>
                  </a:lnTo>
                  <a:lnTo>
                    <a:pt x="574" y="55"/>
                  </a:lnTo>
                  <a:lnTo>
                    <a:pt x="574" y="55"/>
                  </a:lnTo>
                  <a:lnTo>
                    <a:pt x="576" y="51"/>
                  </a:lnTo>
                  <a:lnTo>
                    <a:pt x="576" y="49"/>
                  </a:lnTo>
                  <a:lnTo>
                    <a:pt x="576" y="45"/>
                  </a:lnTo>
                  <a:lnTo>
                    <a:pt x="574" y="44"/>
                  </a:lnTo>
                  <a:lnTo>
                    <a:pt x="574" y="44"/>
                  </a:lnTo>
                  <a:lnTo>
                    <a:pt x="572" y="42"/>
                  </a:lnTo>
                  <a:lnTo>
                    <a:pt x="570" y="42"/>
                  </a:lnTo>
                  <a:lnTo>
                    <a:pt x="570" y="40"/>
                  </a:lnTo>
                  <a:lnTo>
                    <a:pt x="570" y="40"/>
                  </a:lnTo>
                  <a:lnTo>
                    <a:pt x="568" y="40"/>
                  </a:lnTo>
                  <a:lnTo>
                    <a:pt x="568" y="38"/>
                  </a:lnTo>
                  <a:lnTo>
                    <a:pt x="566" y="38"/>
                  </a:lnTo>
                  <a:lnTo>
                    <a:pt x="566" y="36"/>
                  </a:lnTo>
                  <a:lnTo>
                    <a:pt x="566" y="30"/>
                  </a:lnTo>
                  <a:lnTo>
                    <a:pt x="566" y="30"/>
                  </a:lnTo>
                  <a:lnTo>
                    <a:pt x="565" y="28"/>
                  </a:lnTo>
                  <a:lnTo>
                    <a:pt x="566" y="26"/>
                  </a:lnTo>
                  <a:lnTo>
                    <a:pt x="568" y="23"/>
                  </a:lnTo>
                  <a:lnTo>
                    <a:pt x="576" y="13"/>
                  </a:lnTo>
                  <a:lnTo>
                    <a:pt x="580" y="7"/>
                  </a:lnTo>
                  <a:lnTo>
                    <a:pt x="582" y="4"/>
                  </a:lnTo>
                  <a:lnTo>
                    <a:pt x="584" y="2"/>
                  </a:lnTo>
                  <a:lnTo>
                    <a:pt x="584" y="0"/>
                  </a:lnTo>
                  <a:lnTo>
                    <a:pt x="584" y="0"/>
                  </a:lnTo>
                  <a:lnTo>
                    <a:pt x="584" y="0"/>
                  </a:lnTo>
                  <a:lnTo>
                    <a:pt x="561" y="0"/>
                  </a:lnTo>
                  <a:lnTo>
                    <a:pt x="555" y="2"/>
                  </a:lnTo>
                  <a:lnTo>
                    <a:pt x="547" y="6"/>
                  </a:lnTo>
                  <a:lnTo>
                    <a:pt x="545" y="7"/>
                  </a:lnTo>
                  <a:lnTo>
                    <a:pt x="544" y="9"/>
                  </a:lnTo>
                  <a:lnTo>
                    <a:pt x="540" y="11"/>
                  </a:lnTo>
                  <a:lnTo>
                    <a:pt x="532" y="13"/>
                  </a:lnTo>
                  <a:lnTo>
                    <a:pt x="528" y="13"/>
                  </a:lnTo>
                  <a:lnTo>
                    <a:pt x="528" y="11"/>
                  </a:lnTo>
                  <a:lnTo>
                    <a:pt x="526" y="11"/>
                  </a:lnTo>
                  <a:lnTo>
                    <a:pt x="525" y="11"/>
                  </a:lnTo>
                  <a:lnTo>
                    <a:pt x="523" y="9"/>
                  </a:lnTo>
                  <a:lnTo>
                    <a:pt x="523" y="9"/>
                  </a:lnTo>
                  <a:lnTo>
                    <a:pt x="521" y="9"/>
                  </a:lnTo>
                  <a:lnTo>
                    <a:pt x="517" y="13"/>
                  </a:lnTo>
                  <a:lnTo>
                    <a:pt x="488" y="23"/>
                  </a:lnTo>
                  <a:lnTo>
                    <a:pt x="485" y="25"/>
                  </a:lnTo>
                  <a:lnTo>
                    <a:pt x="477" y="28"/>
                  </a:lnTo>
                  <a:lnTo>
                    <a:pt x="475" y="30"/>
                  </a:lnTo>
                  <a:lnTo>
                    <a:pt x="475" y="30"/>
                  </a:lnTo>
                  <a:lnTo>
                    <a:pt x="467" y="32"/>
                  </a:lnTo>
                  <a:lnTo>
                    <a:pt x="462" y="34"/>
                  </a:lnTo>
                  <a:lnTo>
                    <a:pt x="458" y="36"/>
                  </a:lnTo>
                  <a:lnTo>
                    <a:pt x="454" y="38"/>
                  </a:lnTo>
                  <a:lnTo>
                    <a:pt x="452" y="40"/>
                  </a:lnTo>
                  <a:lnTo>
                    <a:pt x="450" y="40"/>
                  </a:lnTo>
                  <a:lnTo>
                    <a:pt x="448" y="40"/>
                  </a:lnTo>
                  <a:lnTo>
                    <a:pt x="448" y="40"/>
                  </a:lnTo>
                  <a:lnTo>
                    <a:pt x="444" y="42"/>
                  </a:lnTo>
                  <a:lnTo>
                    <a:pt x="443" y="38"/>
                  </a:lnTo>
                  <a:lnTo>
                    <a:pt x="433" y="42"/>
                  </a:lnTo>
                  <a:lnTo>
                    <a:pt x="431" y="40"/>
                  </a:lnTo>
                  <a:lnTo>
                    <a:pt x="429" y="40"/>
                  </a:lnTo>
                  <a:lnTo>
                    <a:pt x="427" y="38"/>
                  </a:lnTo>
                  <a:lnTo>
                    <a:pt x="427" y="38"/>
                  </a:lnTo>
                  <a:lnTo>
                    <a:pt x="427" y="36"/>
                  </a:lnTo>
                  <a:lnTo>
                    <a:pt x="425" y="36"/>
                  </a:lnTo>
                  <a:lnTo>
                    <a:pt x="425" y="36"/>
                  </a:lnTo>
                  <a:lnTo>
                    <a:pt x="425" y="36"/>
                  </a:lnTo>
                  <a:lnTo>
                    <a:pt x="424" y="36"/>
                  </a:lnTo>
                  <a:lnTo>
                    <a:pt x="422" y="38"/>
                  </a:lnTo>
                  <a:lnTo>
                    <a:pt x="422" y="40"/>
                  </a:lnTo>
                  <a:lnTo>
                    <a:pt x="422" y="42"/>
                  </a:lnTo>
                  <a:lnTo>
                    <a:pt x="422" y="42"/>
                  </a:lnTo>
                  <a:lnTo>
                    <a:pt x="424" y="44"/>
                  </a:lnTo>
                  <a:lnTo>
                    <a:pt x="424" y="44"/>
                  </a:lnTo>
                  <a:lnTo>
                    <a:pt x="425" y="45"/>
                  </a:lnTo>
                  <a:lnTo>
                    <a:pt x="425" y="45"/>
                  </a:lnTo>
                  <a:lnTo>
                    <a:pt x="424" y="47"/>
                  </a:lnTo>
                  <a:lnTo>
                    <a:pt x="424" y="47"/>
                  </a:lnTo>
                  <a:lnTo>
                    <a:pt x="412" y="59"/>
                  </a:lnTo>
                  <a:lnTo>
                    <a:pt x="408" y="63"/>
                  </a:lnTo>
                  <a:lnTo>
                    <a:pt x="404" y="64"/>
                  </a:lnTo>
                  <a:lnTo>
                    <a:pt x="401" y="68"/>
                  </a:lnTo>
                  <a:lnTo>
                    <a:pt x="401" y="68"/>
                  </a:lnTo>
                  <a:lnTo>
                    <a:pt x="397" y="70"/>
                  </a:lnTo>
                  <a:lnTo>
                    <a:pt x="387" y="82"/>
                  </a:lnTo>
                  <a:lnTo>
                    <a:pt x="387" y="82"/>
                  </a:lnTo>
                  <a:lnTo>
                    <a:pt x="385" y="83"/>
                  </a:lnTo>
                  <a:lnTo>
                    <a:pt x="385" y="85"/>
                  </a:lnTo>
                  <a:lnTo>
                    <a:pt x="385" y="87"/>
                  </a:lnTo>
                  <a:lnTo>
                    <a:pt x="385" y="91"/>
                  </a:lnTo>
                  <a:lnTo>
                    <a:pt x="385" y="91"/>
                  </a:lnTo>
                  <a:lnTo>
                    <a:pt x="385" y="93"/>
                  </a:lnTo>
                  <a:lnTo>
                    <a:pt x="384" y="95"/>
                  </a:lnTo>
                  <a:lnTo>
                    <a:pt x="380" y="97"/>
                  </a:lnTo>
                  <a:lnTo>
                    <a:pt x="380" y="97"/>
                  </a:lnTo>
                  <a:lnTo>
                    <a:pt x="378" y="99"/>
                  </a:lnTo>
                  <a:lnTo>
                    <a:pt x="376" y="101"/>
                  </a:lnTo>
                  <a:lnTo>
                    <a:pt x="374" y="103"/>
                  </a:lnTo>
                  <a:lnTo>
                    <a:pt x="368" y="104"/>
                  </a:lnTo>
                  <a:lnTo>
                    <a:pt x="364" y="104"/>
                  </a:lnTo>
                  <a:lnTo>
                    <a:pt x="359" y="106"/>
                  </a:lnTo>
                  <a:lnTo>
                    <a:pt x="357" y="106"/>
                  </a:lnTo>
                  <a:lnTo>
                    <a:pt x="353" y="108"/>
                  </a:lnTo>
                  <a:lnTo>
                    <a:pt x="351" y="108"/>
                  </a:lnTo>
                  <a:lnTo>
                    <a:pt x="349" y="106"/>
                  </a:lnTo>
                  <a:lnTo>
                    <a:pt x="347" y="104"/>
                  </a:lnTo>
                  <a:lnTo>
                    <a:pt x="345" y="104"/>
                  </a:lnTo>
                  <a:lnTo>
                    <a:pt x="343" y="104"/>
                  </a:lnTo>
                  <a:lnTo>
                    <a:pt x="311" y="108"/>
                  </a:lnTo>
                  <a:lnTo>
                    <a:pt x="307" y="106"/>
                  </a:lnTo>
                  <a:lnTo>
                    <a:pt x="305" y="106"/>
                  </a:lnTo>
                  <a:lnTo>
                    <a:pt x="303" y="104"/>
                  </a:lnTo>
                  <a:lnTo>
                    <a:pt x="303" y="104"/>
                  </a:lnTo>
                  <a:lnTo>
                    <a:pt x="303" y="103"/>
                  </a:lnTo>
                  <a:lnTo>
                    <a:pt x="303" y="103"/>
                  </a:lnTo>
                  <a:lnTo>
                    <a:pt x="303" y="103"/>
                  </a:lnTo>
                  <a:lnTo>
                    <a:pt x="300" y="101"/>
                  </a:lnTo>
                  <a:lnTo>
                    <a:pt x="292" y="97"/>
                  </a:lnTo>
                  <a:lnTo>
                    <a:pt x="284" y="97"/>
                  </a:lnTo>
                  <a:lnTo>
                    <a:pt x="281" y="95"/>
                  </a:lnTo>
                  <a:lnTo>
                    <a:pt x="279" y="97"/>
                  </a:lnTo>
                  <a:lnTo>
                    <a:pt x="277" y="99"/>
                  </a:lnTo>
                  <a:lnTo>
                    <a:pt x="277" y="99"/>
                  </a:lnTo>
                  <a:lnTo>
                    <a:pt x="275" y="101"/>
                  </a:lnTo>
                  <a:lnTo>
                    <a:pt x="273" y="103"/>
                  </a:lnTo>
                  <a:lnTo>
                    <a:pt x="267" y="103"/>
                  </a:lnTo>
                  <a:lnTo>
                    <a:pt x="262" y="104"/>
                  </a:lnTo>
                  <a:lnTo>
                    <a:pt x="250" y="108"/>
                  </a:lnTo>
                  <a:lnTo>
                    <a:pt x="246" y="110"/>
                  </a:lnTo>
                  <a:lnTo>
                    <a:pt x="246" y="110"/>
                  </a:lnTo>
                  <a:lnTo>
                    <a:pt x="243" y="110"/>
                  </a:lnTo>
                  <a:lnTo>
                    <a:pt x="241" y="110"/>
                  </a:lnTo>
                  <a:lnTo>
                    <a:pt x="237" y="112"/>
                  </a:lnTo>
                  <a:lnTo>
                    <a:pt x="227" y="110"/>
                  </a:lnTo>
                  <a:lnTo>
                    <a:pt x="223" y="110"/>
                  </a:lnTo>
                  <a:lnTo>
                    <a:pt x="223" y="114"/>
                  </a:lnTo>
                  <a:lnTo>
                    <a:pt x="220" y="118"/>
                  </a:lnTo>
                  <a:lnTo>
                    <a:pt x="214" y="118"/>
                  </a:lnTo>
                  <a:lnTo>
                    <a:pt x="212" y="118"/>
                  </a:lnTo>
                  <a:lnTo>
                    <a:pt x="210" y="116"/>
                  </a:lnTo>
                  <a:lnTo>
                    <a:pt x="208" y="114"/>
                  </a:lnTo>
                  <a:lnTo>
                    <a:pt x="206" y="114"/>
                  </a:lnTo>
                  <a:lnTo>
                    <a:pt x="206" y="116"/>
                  </a:lnTo>
                  <a:lnTo>
                    <a:pt x="206" y="118"/>
                  </a:lnTo>
                  <a:lnTo>
                    <a:pt x="204" y="120"/>
                  </a:lnTo>
                  <a:lnTo>
                    <a:pt x="206" y="120"/>
                  </a:lnTo>
                  <a:lnTo>
                    <a:pt x="206" y="122"/>
                  </a:lnTo>
                  <a:lnTo>
                    <a:pt x="206" y="123"/>
                  </a:lnTo>
                  <a:lnTo>
                    <a:pt x="204" y="123"/>
                  </a:lnTo>
                  <a:lnTo>
                    <a:pt x="202" y="122"/>
                  </a:lnTo>
                  <a:lnTo>
                    <a:pt x="202" y="120"/>
                  </a:lnTo>
                  <a:lnTo>
                    <a:pt x="202" y="118"/>
                  </a:lnTo>
                  <a:lnTo>
                    <a:pt x="201" y="118"/>
                  </a:lnTo>
                  <a:lnTo>
                    <a:pt x="199" y="118"/>
                  </a:lnTo>
                  <a:lnTo>
                    <a:pt x="191" y="122"/>
                  </a:lnTo>
                  <a:lnTo>
                    <a:pt x="189" y="123"/>
                  </a:lnTo>
                  <a:lnTo>
                    <a:pt x="185" y="123"/>
                  </a:lnTo>
                  <a:lnTo>
                    <a:pt x="183" y="123"/>
                  </a:lnTo>
                  <a:lnTo>
                    <a:pt x="180" y="122"/>
                  </a:lnTo>
                  <a:lnTo>
                    <a:pt x="178" y="122"/>
                  </a:lnTo>
                  <a:lnTo>
                    <a:pt x="174" y="123"/>
                  </a:lnTo>
                  <a:lnTo>
                    <a:pt x="172" y="123"/>
                  </a:lnTo>
                  <a:lnTo>
                    <a:pt x="172" y="122"/>
                  </a:lnTo>
                  <a:lnTo>
                    <a:pt x="168" y="118"/>
                  </a:lnTo>
                  <a:lnTo>
                    <a:pt x="168" y="116"/>
                  </a:lnTo>
                  <a:lnTo>
                    <a:pt x="166" y="116"/>
                  </a:lnTo>
                  <a:lnTo>
                    <a:pt x="162" y="116"/>
                  </a:lnTo>
                  <a:lnTo>
                    <a:pt x="162" y="116"/>
                  </a:lnTo>
                  <a:lnTo>
                    <a:pt x="161" y="118"/>
                  </a:lnTo>
                  <a:lnTo>
                    <a:pt x="159" y="120"/>
                  </a:lnTo>
                  <a:lnTo>
                    <a:pt x="159" y="122"/>
                  </a:lnTo>
                  <a:lnTo>
                    <a:pt x="157" y="123"/>
                  </a:lnTo>
                  <a:lnTo>
                    <a:pt x="157" y="123"/>
                  </a:lnTo>
                  <a:lnTo>
                    <a:pt x="155" y="125"/>
                  </a:lnTo>
                  <a:lnTo>
                    <a:pt x="153" y="125"/>
                  </a:lnTo>
                  <a:lnTo>
                    <a:pt x="151" y="125"/>
                  </a:lnTo>
                  <a:lnTo>
                    <a:pt x="149" y="125"/>
                  </a:lnTo>
                  <a:lnTo>
                    <a:pt x="149" y="125"/>
                  </a:lnTo>
                  <a:lnTo>
                    <a:pt x="145" y="123"/>
                  </a:lnTo>
                  <a:lnTo>
                    <a:pt x="143" y="123"/>
                  </a:lnTo>
                  <a:lnTo>
                    <a:pt x="136" y="123"/>
                  </a:lnTo>
                  <a:lnTo>
                    <a:pt x="132" y="123"/>
                  </a:lnTo>
                  <a:lnTo>
                    <a:pt x="130" y="123"/>
                  </a:lnTo>
                  <a:lnTo>
                    <a:pt x="126" y="125"/>
                  </a:lnTo>
                  <a:lnTo>
                    <a:pt x="124" y="125"/>
                  </a:lnTo>
                  <a:lnTo>
                    <a:pt x="119" y="125"/>
                  </a:lnTo>
                  <a:lnTo>
                    <a:pt x="98" y="127"/>
                  </a:lnTo>
                  <a:lnTo>
                    <a:pt x="86" y="125"/>
                  </a:lnTo>
                  <a:lnTo>
                    <a:pt x="77" y="120"/>
                  </a:lnTo>
                  <a:lnTo>
                    <a:pt x="67" y="114"/>
                  </a:lnTo>
                  <a:lnTo>
                    <a:pt x="63" y="114"/>
                  </a:lnTo>
                  <a:lnTo>
                    <a:pt x="61" y="114"/>
                  </a:lnTo>
                  <a:lnTo>
                    <a:pt x="61" y="116"/>
                  </a:lnTo>
                  <a:lnTo>
                    <a:pt x="60" y="116"/>
                  </a:lnTo>
                  <a:lnTo>
                    <a:pt x="58" y="118"/>
                  </a:lnTo>
                  <a:lnTo>
                    <a:pt x="56" y="118"/>
                  </a:lnTo>
                  <a:lnTo>
                    <a:pt x="54" y="118"/>
                  </a:lnTo>
                  <a:lnTo>
                    <a:pt x="52" y="118"/>
                  </a:lnTo>
                  <a:lnTo>
                    <a:pt x="48" y="120"/>
                  </a:lnTo>
                  <a:lnTo>
                    <a:pt x="46" y="125"/>
                  </a:lnTo>
                  <a:lnTo>
                    <a:pt x="44" y="129"/>
                  </a:lnTo>
                  <a:lnTo>
                    <a:pt x="41" y="129"/>
                  </a:lnTo>
                  <a:lnTo>
                    <a:pt x="29" y="131"/>
                  </a:lnTo>
                  <a:lnTo>
                    <a:pt x="23" y="131"/>
                  </a:lnTo>
                  <a:lnTo>
                    <a:pt x="21" y="133"/>
                  </a:lnTo>
                  <a:lnTo>
                    <a:pt x="21" y="131"/>
                  </a:lnTo>
                  <a:lnTo>
                    <a:pt x="20" y="131"/>
                  </a:lnTo>
                  <a:lnTo>
                    <a:pt x="20" y="131"/>
                  </a:lnTo>
                  <a:lnTo>
                    <a:pt x="18" y="133"/>
                  </a:lnTo>
                  <a:lnTo>
                    <a:pt x="20" y="139"/>
                  </a:lnTo>
                  <a:lnTo>
                    <a:pt x="21" y="141"/>
                  </a:lnTo>
                  <a:lnTo>
                    <a:pt x="21" y="150"/>
                  </a:lnTo>
                  <a:lnTo>
                    <a:pt x="20" y="154"/>
                  </a:lnTo>
                  <a:lnTo>
                    <a:pt x="20" y="154"/>
                  </a:lnTo>
                  <a:lnTo>
                    <a:pt x="20" y="154"/>
                  </a:lnTo>
                  <a:lnTo>
                    <a:pt x="20" y="154"/>
                  </a:lnTo>
                  <a:lnTo>
                    <a:pt x="20" y="158"/>
                  </a:lnTo>
                  <a:lnTo>
                    <a:pt x="18" y="160"/>
                  </a:lnTo>
                  <a:lnTo>
                    <a:pt x="18" y="167"/>
                  </a:lnTo>
                  <a:lnTo>
                    <a:pt x="18" y="167"/>
                  </a:lnTo>
                  <a:lnTo>
                    <a:pt x="18" y="167"/>
                  </a:lnTo>
                  <a:lnTo>
                    <a:pt x="16" y="167"/>
                  </a:lnTo>
                  <a:lnTo>
                    <a:pt x="16" y="169"/>
                  </a:lnTo>
                  <a:lnTo>
                    <a:pt x="16" y="169"/>
                  </a:lnTo>
                  <a:lnTo>
                    <a:pt x="16" y="169"/>
                  </a:lnTo>
                  <a:lnTo>
                    <a:pt x="16" y="169"/>
                  </a:lnTo>
                  <a:lnTo>
                    <a:pt x="16" y="171"/>
                  </a:lnTo>
                  <a:lnTo>
                    <a:pt x="16" y="171"/>
                  </a:lnTo>
                  <a:lnTo>
                    <a:pt x="16" y="171"/>
                  </a:lnTo>
                  <a:lnTo>
                    <a:pt x="16" y="173"/>
                  </a:lnTo>
                  <a:lnTo>
                    <a:pt x="14" y="173"/>
                  </a:lnTo>
                  <a:lnTo>
                    <a:pt x="12" y="175"/>
                  </a:lnTo>
                  <a:lnTo>
                    <a:pt x="12" y="175"/>
                  </a:lnTo>
                  <a:lnTo>
                    <a:pt x="12" y="175"/>
                  </a:lnTo>
                  <a:lnTo>
                    <a:pt x="10" y="179"/>
                  </a:lnTo>
                  <a:lnTo>
                    <a:pt x="8" y="179"/>
                  </a:lnTo>
                  <a:lnTo>
                    <a:pt x="8" y="180"/>
                  </a:lnTo>
                  <a:lnTo>
                    <a:pt x="8" y="180"/>
                  </a:lnTo>
                  <a:lnTo>
                    <a:pt x="8" y="180"/>
                  </a:lnTo>
                  <a:lnTo>
                    <a:pt x="8" y="182"/>
                  </a:lnTo>
                  <a:lnTo>
                    <a:pt x="8" y="182"/>
                  </a:lnTo>
                  <a:lnTo>
                    <a:pt x="8" y="184"/>
                  </a:lnTo>
                  <a:lnTo>
                    <a:pt x="6" y="184"/>
                  </a:lnTo>
                  <a:lnTo>
                    <a:pt x="4" y="184"/>
                  </a:lnTo>
                  <a:lnTo>
                    <a:pt x="2" y="186"/>
                  </a:lnTo>
                  <a:lnTo>
                    <a:pt x="0" y="186"/>
                  </a:lnTo>
                  <a:lnTo>
                    <a:pt x="0" y="188"/>
                  </a:lnTo>
                  <a:lnTo>
                    <a:pt x="0" y="188"/>
                  </a:lnTo>
                  <a:lnTo>
                    <a:pt x="0" y="190"/>
                  </a:lnTo>
                  <a:lnTo>
                    <a:pt x="2" y="190"/>
                  </a:lnTo>
                  <a:lnTo>
                    <a:pt x="2" y="190"/>
                  </a:lnTo>
                  <a:lnTo>
                    <a:pt x="4" y="190"/>
                  </a:lnTo>
                  <a:lnTo>
                    <a:pt x="4" y="190"/>
                  </a:lnTo>
                  <a:lnTo>
                    <a:pt x="6" y="190"/>
                  </a:lnTo>
                  <a:lnTo>
                    <a:pt x="6" y="192"/>
                  </a:lnTo>
                  <a:lnTo>
                    <a:pt x="6" y="194"/>
                  </a:lnTo>
                  <a:lnTo>
                    <a:pt x="8" y="196"/>
                  </a:lnTo>
                  <a:lnTo>
                    <a:pt x="8" y="198"/>
                  </a:lnTo>
                  <a:lnTo>
                    <a:pt x="10" y="198"/>
                  </a:lnTo>
                  <a:lnTo>
                    <a:pt x="8" y="199"/>
                  </a:lnTo>
                  <a:lnTo>
                    <a:pt x="8" y="201"/>
                  </a:lnTo>
                  <a:lnTo>
                    <a:pt x="10" y="201"/>
                  </a:lnTo>
                  <a:lnTo>
                    <a:pt x="12" y="205"/>
                  </a:lnTo>
                  <a:lnTo>
                    <a:pt x="12" y="205"/>
                  </a:lnTo>
                  <a:lnTo>
                    <a:pt x="12" y="207"/>
                  </a:lnTo>
                  <a:lnTo>
                    <a:pt x="14" y="207"/>
                  </a:lnTo>
                  <a:lnTo>
                    <a:pt x="14" y="207"/>
                  </a:lnTo>
                  <a:lnTo>
                    <a:pt x="14" y="205"/>
                  </a:lnTo>
                  <a:lnTo>
                    <a:pt x="14" y="205"/>
                  </a:lnTo>
                  <a:lnTo>
                    <a:pt x="14" y="205"/>
                  </a:lnTo>
                  <a:lnTo>
                    <a:pt x="14" y="205"/>
                  </a:lnTo>
                  <a:lnTo>
                    <a:pt x="14" y="205"/>
                  </a:lnTo>
                  <a:lnTo>
                    <a:pt x="16" y="205"/>
                  </a:lnTo>
                  <a:lnTo>
                    <a:pt x="16" y="205"/>
                  </a:lnTo>
                  <a:lnTo>
                    <a:pt x="16" y="207"/>
                  </a:lnTo>
                  <a:lnTo>
                    <a:pt x="16" y="209"/>
                  </a:lnTo>
                  <a:lnTo>
                    <a:pt x="14" y="211"/>
                  </a:lnTo>
                  <a:lnTo>
                    <a:pt x="12" y="211"/>
                  </a:lnTo>
                  <a:lnTo>
                    <a:pt x="14" y="211"/>
                  </a:lnTo>
                  <a:lnTo>
                    <a:pt x="16" y="213"/>
                  </a:lnTo>
                  <a:lnTo>
                    <a:pt x="18" y="213"/>
                  </a:lnTo>
                  <a:lnTo>
                    <a:pt x="16" y="215"/>
                  </a:lnTo>
                  <a:lnTo>
                    <a:pt x="12" y="222"/>
                  </a:lnTo>
                  <a:lnTo>
                    <a:pt x="12" y="224"/>
                  </a:lnTo>
                  <a:lnTo>
                    <a:pt x="14" y="234"/>
                  </a:lnTo>
                  <a:lnTo>
                    <a:pt x="16" y="239"/>
                  </a:lnTo>
                  <a:lnTo>
                    <a:pt x="18" y="243"/>
                  </a:lnTo>
                  <a:lnTo>
                    <a:pt x="16" y="251"/>
                  </a:lnTo>
                  <a:lnTo>
                    <a:pt x="16" y="258"/>
                  </a:lnTo>
                  <a:lnTo>
                    <a:pt x="14" y="262"/>
                  </a:lnTo>
                  <a:lnTo>
                    <a:pt x="18" y="262"/>
                  </a:lnTo>
                  <a:lnTo>
                    <a:pt x="21" y="260"/>
                  </a:lnTo>
                  <a:lnTo>
                    <a:pt x="21" y="260"/>
                  </a:lnTo>
                  <a:lnTo>
                    <a:pt x="21" y="260"/>
                  </a:lnTo>
                  <a:lnTo>
                    <a:pt x="21" y="258"/>
                  </a:lnTo>
                  <a:lnTo>
                    <a:pt x="23" y="257"/>
                  </a:lnTo>
                  <a:lnTo>
                    <a:pt x="23" y="255"/>
                  </a:lnTo>
                  <a:lnTo>
                    <a:pt x="23" y="253"/>
                  </a:lnTo>
                  <a:lnTo>
                    <a:pt x="23" y="251"/>
                  </a:lnTo>
                  <a:lnTo>
                    <a:pt x="25" y="251"/>
                  </a:lnTo>
                  <a:lnTo>
                    <a:pt x="27" y="251"/>
                  </a:lnTo>
                  <a:lnTo>
                    <a:pt x="29" y="251"/>
                  </a:lnTo>
                  <a:lnTo>
                    <a:pt x="31" y="249"/>
                  </a:lnTo>
                  <a:lnTo>
                    <a:pt x="31" y="249"/>
                  </a:lnTo>
                  <a:lnTo>
                    <a:pt x="31" y="249"/>
                  </a:lnTo>
                  <a:lnTo>
                    <a:pt x="33" y="247"/>
                  </a:lnTo>
                  <a:lnTo>
                    <a:pt x="33" y="247"/>
                  </a:lnTo>
                  <a:lnTo>
                    <a:pt x="33" y="245"/>
                  </a:lnTo>
                  <a:lnTo>
                    <a:pt x="33" y="245"/>
                  </a:lnTo>
                  <a:lnTo>
                    <a:pt x="31" y="245"/>
                  </a:lnTo>
                  <a:lnTo>
                    <a:pt x="29" y="243"/>
                  </a:lnTo>
                  <a:lnTo>
                    <a:pt x="29" y="241"/>
                  </a:lnTo>
                  <a:lnTo>
                    <a:pt x="27" y="241"/>
                  </a:lnTo>
                  <a:lnTo>
                    <a:pt x="27" y="239"/>
                  </a:lnTo>
                  <a:lnTo>
                    <a:pt x="27" y="238"/>
                  </a:lnTo>
                  <a:lnTo>
                    <a:pt x="27" y="236"/>
                  </a:lnTo>
                  <a:lnTo>
                    <a:pt x="27" y="236"/>
                  </a:lnTo>
                  <a:lnTo>
                    <a:pt x="27" y="234"/>
                  </a:lnTo>
                  <a:lnTo>
                    <a:pt x="27" y="232"/>
                  </a:lnTo>
                  <a:lnTo>
                    <a:pt x="29" y="230"/>
                  </a:lnTo>
                  <a:lnTo>
                    <a:pt x="29" y="230"/>
                  </a:lnTo>
                  <a:lnTo>
                    <a:pt x="29" y="230"/>
                  </a:lnTo>
                  <a:lnTo>
                    <a:pt x="29" y="228"/>
                  </a:lnTo>
                  <a:lnTo>
                    <a:pt x="29" y="226"/>
                  </a:lnTo>
                  <a:lnTo>
                    <a:pt x="31" y="224"/>
                  </a:lnTo>
                  <a:lnTo>
                    <a:pt x="31" y="224"/>
                  </a:lnTo>
                  <a:lnTo>
                    <a:pt x="35" y="220"/>
                  </a:lnTo>
                  <a:lnTo>
                    <a:pt x="35" y="220"/>
                  </a:lnTo>
                  <a:lnTo>
                    <a:pt x="35" y="219"/>
                  </a:lnTo>
                  <a:lnTo>
                    <a:pt x="37" y="217"/>
                  </a:lnTo>
                  <a:lnTo>
                    <a:pt x="37" y="217"/>
                  </a:lnTo>
                  <a:lnTo>
                    <a:pt x="41" y="213"/>
                  </a:lnTo>
                  <a:lnTo>
                    <a:pt x="42" y="211"/>
                  </a:lnTo>
                  <a:lnTo>
                    <a:pt x="42" y="211"/>
                  </a:lnTo>
                  <a:lnTo>
                    <a:pt x="44" y="209"/>
                  </a:lnTo>
                  <a:lnTo>
                    <a:pt x="52" y="209"/>
                  </a:lnTo>
                  <a:lnTo>
                    <a:pt x="58" y="209"/>
                  </a:lnTo>
                  <a:lnTo>
                    <a:pt x="60" y="207"/>
                  </a:lnTo>
                  <a:lnTo>
                    <a:pt x="61" y="207"/>
                  </a:lnTo>
                  <a:lnTo>
                    <a:pt x="63" y="207"/>
                  </a:lnTo>
                  <a:lnTo>
                    <a:pt x="63" y="207"/>
                  </a:lnTo>
                  <a:lnTo>
                    <a:pt x="65" y="205"/>
                  </a:lnTo>
                  <a:lnTo>
                    <a:pt x="67" y="203"/>
                  </a:lnTo>
                  <a:lnTo>
                    <a:pt x="67" y="203"/>
                  </a:lnTo>
                  <a:lnTo>
                    <a:pt x="69" y="203"/>
                  </a:lnTo>
                  <a:lnTo>
                    <a:pt x="73" y="205"/>
                  </a:lnTo>
                  <a:lnTo>
                    <a:pt x="75" y="205"/>
                  </a:lnTo>
                  <a:lnTo>
                    <a:pt x="77" y="205"/>
                  </a:lnTo>
                  <a:lnTo>
                    <a:pt x="77" y="205"/>
                  </a:lnTo>
                  <a:lnTo>
                    <a:pt x="79" y="205"/>
                  </a:lnTo>
                  <a:lnTo>
                    <a:pt x="81" y="205"/>
                  </a:lnTo>
                  <a:lnTo>
                    <a:pt x="82" y="207"/>
                  </a:lnTo>
                  <a:lnTo>
                    <a:pt x="82" y="209"/>
                  </a:lnTo>
                  <a:lnTo>
                    <a:pt x="82" y="209"/>
                  </a:lnTo>
                  <a:lnTo>
                    <a:pt x="82" y="211"/>
                  </a:lnTo>
                  <a:lnTo>
                    <a:pt x="82" y="213"/>
                  </a:lnTo>
                  <a:lnTo>
                    <a:pt x="81" y="213"/>
                  </a:lnTo>
                  <a:lnTo>
                    <a:pt x="81" y="215"/>
                  </a:lnTo>
                  <a:lnTo>
                    <a:pt x="81" y="215"/>
                  </a:lnTo>
                  <a:lnTo>
                    <a:pt x="81" y="215"/>
                  </a:lnTo>
                  <a:lnTo>
                    <a:pt x="82" y="215"/>
                  </a:lnTo>
                  <a:lnTo>
                    <a:pt x="86" y="213"/>
                  </a:lnTo>
                  <a:lnTo>
                    <a:pt x="86" y="211"/>
                  </a:lnTo>
                  <a:lnTo>
                    <a:pt x="86" y="211"/>
                  </a:lnTo>
                  <a:lnTo>
                    <a:pt x="88" y="209"/>
                  </a:lnTo>
                  <a:lnTo>
                    <a:pt x="88" y="209"/>
                  </a:lnTo>
                  <a:lnTo>
                    <a:pt x="88" y="209"/>
                  </a:lnTo>
                  <a:lnTo>
                    <a:pt x="90" y="209"/>
                  </a:lnTo>
                  <a:lnTo>
                    <a:pt x="90" y="211"/>
                  </a:lnTo>
                  <a:lnTo>
                    <a:pt x="90" y="211"/>
                  </a:lnTo>
                  <a:lnTo>
                    <a:pt x="90" y="211"/>
                  </a:lnTo>
                  <a:lnTo>
                    <a:pt x="90" y="213"/>
                  </a:lnTo>
                  <a:lnTo>
                    <a:pt x="92" y="213"/>
                  </a:lnTo>
                  <a:lnTo>
                    <a:pt x="94" y="211"/>
                  </a:lnTo>
                  <a:lnTo>
                    <a:pt x="96" y="211"/>
                  </a:lnTo>
                  <a:lnTo>
                    <a:pt x="101" y="209"/>
                  </a:lnTo>
                  <a:lnTo>
                    <a:pt x="101" y="209"/>
                  </a:lnTo>
                  <a:lnTo>
                    <a:pt x="103" y="209"/>
                  </a:lnTo>
                  <a:lnTo>
                    <a:pt x="103" y="211"/>
                  </a:lnTo>
                  <a:lnTo>
                    <a:pt x="103" y="213"/>
                  </a:lnTo>
                  <a:lnTo>
                    <a:pt x="103" y="213"/>
                  </a:lnTo>
                  <a:lnTo>
                    <a:pt x="103" y="213"/>
                  </a:lnTo>
                  <a:lnTo>
                    <a:pt x="105" y="213"/>
                  </a:lnTo>
                  <a:lnTo>
                    <a:pt x="107" y="211"/>
                  </a:lnTo>
                  <a:lnTo>
                    <a:pt x="109" y="211"/>
                  </a:lnTo>
                  <a:lnTo>
                    <a:pt x="113" y="211"/>
                  </a:lnTo>
                  <a:lnTo>
                    <a:pt x="115" y="211"/>
                  </a:lnTo>
                  <a:lnTo>
                    <a:pt x="117" y="211"/>
                  </a:lnTo>
                  <a:lnTo>
                    <a:pt x="121" y="211"/>
                  </a:lnTo>
                  <a:lnTo>
                    <a:pt x="122" y="211"/>
                  </a:lnTo>
                  <a:lnTo>
                    <a:pt x="122" y="213"/>
                  </a:lnTo>
                  <a:lnTo>
                    <a:pt x="122" y="213"/>
                  </a:lnTo>
                  <a:lnTo>
                    <a:pt x="124" y="215"/>
                  </a:lnTo>
                  <a:lnTo>
                    <a:pt x="124" y="215"/>
                  </a:lnTo>
                  <a:lnTo>
                    <a:pt x="126" y="215"/>
                  </a:lnTo>
                  <a:lnTo>
                    <a:pt x="126" y="215"/>
                  </a:lnTo>
                  <a:lnTo>
                    <a:pt x="126" y="217"/>
                  </a:lnTo>
                  <a:lnTo>
                    <a:pt x="128" y="217"/>
                  </a:lnTo>
                  <a:lnTo>
                    <a:pt x="126" y="219"/>
                  </a:lnTo>
                  <a:lnTo>
                    <a:pt x="126" y="220"/>
                  </a:lnTo>
                  <a:lnTo>
                    <a:pt x="126" y="222"/>
                  </a:lnTo>
                  <a:lnTo>
                    <a:pt x="128" y="222"/>
                  </a:lnTo>
                  <a:lnTo>
                    <a:pt x="128" y="222"/>
                  </a:lnTo>
                  <a:lnTo>
                    <a:pt x="130" y="220"/>
                  </a:lnTo>
                  <a:lnTo>
                    <a:pt x="130" y="220"/>
                  </a:lnTo>
                  <a:lnTo>
                    <a:pt x="130" y="220"/>
                  </a:lnTo>
                  <a:lnTo>
                    <a:pt x="132" y="222"/>
                  </a:lnTo>
                  <a:lnTo>
                    <a:pt x="132" y="222"/>
                  </a:lnTo>
                  <a:lnTo>
                    <a:pt x="134" y="222"/>
                  </a:lnTo>
                  <a:lnTo>
                    <a:pt x="142" y="219"/>
                  </a:lnTo>
                  <a:lnTo>
                    <a:pt x="143" y="219"/>
                  </a:lnTo>
                  <a:lnTo>
                    <a:pt x="143" y="220"/>
                  </a:lnTo>
                  <a:lnTo>
                    <a:pt x="142" y="222"/>
                  </a:lnTo>
                  <a:lnTo>
                    <a:pt x="142" y="224"/>
                  </a:lnTo>
                  <a:lnTo>
                    <a:pt x="143" y="226"/>
                  </a:lnTo>
                  <a:lnTo>
                    <a:pt x="143" y="230"/>
                  </a:lnTo>
                  <a:lnTo>
                    <a:pt x="143" y="232"/>
                  </a:lnTo>
                  <a:lnTo>
                    <a:pt x="145" y="234"/>
                  </a:lnTo>
                  <a:lnTo>
                    <a:pt x="145" y="234"/>
                  </a:lnTo>
                  <a:lnTo>
                    <a:pt x="147" y="232"/>
                  </a:lnTo>
                  <a:lnTo>
                    <a:pt x="149" y="232"/>
                  </a:lnTo>
                  <a:lnTo>
                    <a:pt x="153" y="226"/>
                  </a:lnTo>
                  <a:lnTo>
                    <a:pt x="155" y="224"/>
                  </a:lnTo>
                  <a:lnTo>
                    <a:pt x="157" y="222"/>
                  </a:lnTo>
                  <a:lnTo>
                    <a:pt x="157" y="222"/>
                  </a:lnTo>
                  <a:lnTo>
                    <a:pt x="162" y="220"/>
                  </a:lnTo>
                  <a:lnTo>
                    <a:pt x="168" y="220"/>
                  </a:lnTo>
                  <a:lnTo>
                    <a:pt x="174" y="217"/>
                  </a:lnTo>
                  <a:lnTo>
                    <a:pt x="174" y="217"/>
                  </a:lnTo>
                  <a:lnTo>
                    <a:pt x="174" y="215"/>
                  </a:lnTo>
                  <a:lnTo>
                    <a:pt x="174" y="215"/>
                  </a:lnTo>
                  <a:lnTo>
                    <a:pt x="170" y="217"/>
                  </a:lnTo>
                  <a:lnTo>
                    <a:pt x="170" y="217"/>
                  </a:lnTo>
                  <a:lnTo>
                    <a:pt x="170" y="219"/>
                  </a:lnTo>
                  <a:lnTo>
                    <a:pt x="168" y="217"/>
                  </a:lnTo>
                  <a:lnTo>
                    <a:pt x="168" y="217"/>
                  </a:lnTo>
                  <a:lnTo>
                    <a:pt x="168" y="217"/>
                  </a:lnTo>
                  <a:lnTo>
                    <a:pt x="170" y="215"/>
                  </a:lnTo>
                  <a:lnTo>
                    <a:pt x="170" y="215"/>
                  </a:lnTo>
                  <a:lnTo>
                    <a:pt x="172" y="211"/>
                  </a:lnTo>
                  <a:lnTo>
                    <a:pt x="174" y="209"/>
                  </a:lnTo>
                  <a:lnTo>
                    <a:pt x="176" y="207"/>
                  </a:lnTo>
                  <a:lnTo>
                    <a:pt x="178" y="205"/>
                  </a:lnTo>
                  <a:lnTo>
                    <a:pt x="178" y="205"/>
                  </a:lnTo>
                  <a:lnTo>
                    <a:pt x="178" y="203"/>
                  </a:lnTo>
                  <a:lnTo>
                    <a:pt x="180" y="201"/>
                  </a:lnTo>
                  <a:lnTo>
                    <a:pt x="180" y="201"/>
                  </a:lnTo>
                  <a:lnTo>
                    <a:pt x="182" y="201"/>
                  </a:lnTo>
                  <a:lnTo>
                    <a:pt x="183" y="203"/>
                  </a:lnTo>
                  <a:lnTo>
                    <a:pt x="183" y="203"/>
                  </a:lnTo>
                  <a:lnTo>
                    <a:pt x="183" y="205"/>
                  </a:lnTo>
                  <a:lnTo>
                    <a:pt x="183" y="205"/>
                  </a:lnTo>
                  <a:lnTo>
                    <a:pt x="183" y="207"/>
                  </a:lnTo>
                  <a:lnTo>
                    <a:pt x="183" y="209"/>
                  </a:lnTo>
                  <a:lnTo>
                    <a:pt x="183" y="209"/>
                  </a:lnTo>
                  <a:lnTo>
                    <a:pt x="183" y="211"/>
                  </a:lnTo>
                  <a:lnTo>
                    <a:pt x="183" y="211"/>
                  </a:lnTo>
                  <a:lnTo>
                    <a:pt x="183" y="213"/>
                  </a:lnTo>
                  <a:lnTo>
                    <a:pt x="185" y="213"/>
                  </a:lnTo>
                  <a:lnTo>
                    <a:pt x="187" y="213"/>
                  </a:lnTo>
                  <a:lnTo>
                    <a:pt x="189" y="211"/>
                  </a:lnTo>
                  <a:lnTo>
                    <a:pt x="189" y="211"/>
                  </a:lnTo>
                  <a:lnTo>
                    <a:pt x="191" y="209"/>
                  </a:lnTo>
                  <a:lnTo>
                    <a:pt x="191" y="207"/>
                  </a:lnTo>
                  <a:lnTo>
                    <a:pt x="193" y="205"/>
                  </a:lnTo>
                  <a:lnTo>
                    <a:pt x="193" y="203"/>
                  </a:lnTo>
                  <a:lnTo>
                    <a:pt x="193" y="201"/>
                  </a:lnTo>
                  <a:lnTo>
                    <a:pt x="193" y="201"/>
                  </a:lnTo>
                  <a:lnTo>
                    <a:pt x="197" y="198"/>
                  </a:lnTo>
                  <a:lnTo>
                    <a:pt x="199" y="196"/>
                  </a:lnTo>
                  <a:lnTo>
                    <a:pt x="201" y="196"/>
                  </a:lnTo>
                  <a:lnTo>
                    <a:pt x="202" y="198"/>
                  </a:lnTo>
                  <a:lnTo>
                    <a:pt x="206" y="199"/>
                  </a:lnTo>
                  <a:lnTo>
                    <a:pt x="206" y="201"/>
                  </a:lnTo>
                  <a:lnTo>
                    <a:pt x="208" y="201"/>
                  </a:lnTo>
                  <a:lnTo>
                    <a:pt x="210" y="201"/>
                  </a:lnTo>
                  <a:lnTo>
                    <a:pt x="212" y="201"/>
                  </a:lnTo>
                  <a:lnTo>
                    <a:pt x="218" y="199"/>
                  </a:lnTo>
                  <a:lnTo>
                    <a:pt x="220" y="199"/>
                  </a:lnTo>
                  <a:lnTo>
                    <a:pt x="222" y="199"/>
                  </a:lnTo>
                  <a:lnTo>
                    <a:pt x="222" y="199"/>
                  </a:lnTo>
                  <a:lnTo>
                    <a:pt x="227" y="198"/>
                  </a:lnTo>
                  <a:lnTo>
                    <a:pt x="231" y="198"/>
                  </a:lnTo>
                  <a:lnTo>
                    <a:pt x="231" y="196"/>
                  </a:lnTo>
                  <a:lnTo>
                    <a:pt x="241" y="198"/>
                  </a:lnTo>
                  <a:lnTo>
                    <a:pt x="241" y="198"/>
                  </a:lnTo>
                  <a:lnTo>
                    <a:pt x="241" y="198"/>
                  </a:lnTo>
                  <a:lnTo>
                    <a:pt x="243" y="198"/>
                  </a:lnTo>
                  <a:lnTo>
                    <a:pt x="241" y="199"/>
                  </a:lnTo>
                  <a:lnTo>
                    <a:pt x="233" y="207"/>
                  </a:lnTo>
                  <a:lnTo>
                    <a:pt x="233" y="207"/>
                  </a:lnTo>
                  <a:lnTo>
                    <a:pt x="233" y="207"/>
                  </a:lnTo>
                  <a:lnTo>
                    <a:pt x="233" y="209"/>
                  </a:lnTo>
                  <a:lnTo>
                    <a:pt x="233" y="209"/>
                  </a:lnTo>
                  <a:lnTo>
                    <a:pt x="233" y="211"/>
                  </a:lnTo>
                  <a:lnTo>
                    <a:pt x="235" y="211"/>
                  </a:lnTo>
                  <a:lnTo>
                    <a:pt x="237" y="211"/>
                  </a:lnTo>
                  <a:lnTo>
                    <a:pt x="237" y="213"/>
                  </a:lnTo>
                  <a:lnTo>
                    <a:pt x="237" y="215"/>
                  </a:lnTo>
                  <a:lnTo>
                    <a:pt x="235" y="217"/>
                  </a:lnTo>
                  <a:lnTo>
                    <a:pt x="233" y="220"/>
                  </a:lnTo>
                  <a:lnTo>
                    <a:pt x="233" y="224"/>
                  </a:lnTo>
                  <a:lnTo>
                    <a:pt x="231" y="224"/>
                  </a:lnTo>
                  <a:lnTo>
                    <a:pt x="233" y="226"/>
                  </a:lnTo>
                  <a:lnTo>
                    <a:pt x="233" y="228"/>
                  </a:lnTo>
                  <a:lnTo>
                    <a:pt x="233" y="228"/>
                  </a:lnTo>
                  <a:lnTo>
                    <a:pt x="233" y="230"/>
                  </a:lnTo>
                  <a:lnTo>
                    <a:pt x="233" y="236"/>
                  </a:lnTo>
                  <a:lnTo>
                    <a:pt x="233" y="238"/>
                  </a:lnTo>
                  <a:lnTo>
                    <a:pt x="233" y="238"/>
                  </a:lnTo>
                  <a:lnTo>
                    <a:pt x="233" y="238"/>
                  </a:lnTo>
                  <a:lnTo>
                    <a:pt x="235" y="238"/>
                  </a:lnTo>
                  <a:lnTo>
                    <a:pt x="235" y="236"/>
                  </a:lnTo>
                  <a:lnTo>
                    <a:pt x="237" y="236"/>
                  </a:lnTo>
                  <a:lnTo>
                    <a:pt x="241" y="234"/>
                  </a:lnTo>
                  <a:lnTo>
                    <a:pt x="246" y="234"/>
                  </a:lnTo>
                  <a:lnTo>
                    <a:pt x="248" y="232"/>
                  </a:lnTo>
                  <a:lnTo>
                    <a:pt x="248" y="232"/>
                  </a:lnTo>
                  <a:lnTo>
                    <a:pt x="250" y="230"/>
                  </a:lnTo>
                  <a:lnTo>
                    <a:pt x="250" y="230"/>
                  </a:lnTo>
                  <a:lnTo>
                    <a:pt x="252" y="230"/>
                  </a:lnTo>
                  <a:lnTo>
                    <a:pt x="254" y="230"/>
                  </a:lnTo>
                  <a:lnTo>
                    <a:pt x="256" y="232"/>
                  </a:lnTo>
                  <a:lnTo>
                    <a:pt x="256" y="234"/>
                  </a:lnTo>
                  <a:lnTo>
                    <a:pt x="262" y="236"/>
                  </a:lnTo>
                  <a:lnTo>
                    <a:pt x="265" y="239"/>
                  </a:lnTo>
                  <a:lnTo>
                    <a:pt x="271" y="247"/>
                  </a:lnTo>
                  <a:lnTo>
                    <a:pt x="271" y="247"/>
                  </a:lnTo>
                  <a:lnTo>
                    <a:pt x="271" y="249"/>
                  </a:lnTo>
                  <a:lnTo>
                    <a:pt x="273" y="249"/>
                  </a:lnTo>
                  <a:lnTo>
                    <a:pt x="273" y="249"/>
                  </a:lnTo>
                  <a:lnTo>
                    <a:pt x="273" y="247"/>
                  </a:lnTo>
                  <a:lnTo>
                    <a:pt x="275" y="247"/>
                  </a:lnTo>
                  <a:lnTo>
                    <a:pt x="277" y="245"/>
                  </a:lnTo>
                  <a:lnTo>
                    <a:pt x="277" y="245"/>
                  </a:lnTo>
                  <a:lnTo>
                    <a:pt x="279" y="245"/>
                  </a:lnTo>
                  <a:lnTo>
                    <a:pt x="279" y="245"/>
                  </a:lnTo>
                  <a:lnTo>
                    <a:pt x="279" y="245"/>
                  </a:lnTo>
                  <a:lnTo>
                    <a:pt x="281" y="245"/>
                  </a:lnTo>
                  <a:lnTo>
                    <a:pt x="281" y="247"/>
                  </a:lnTo>
                  <a:lnTo>
                    <a:pt x="279" y="247"/>
                  </a:lnTo>
                  <a:lnTo>
                    <a:pt x="279" y="249"/>
                  </a:lnTo>
                  <a:lnTo>
                    <a:pt x="279" y="249"/>
                  </a:lnTo>
                  <a:lnTo>
                    <a:pt x="277" y="251"/>
                  </a:lnTo>
                  <a:lnTo>
                    <a:pt x="277" y="251"/>
                  </a:lnTo>
                  <a:lnTo>
                    <a:pt x="277" y="253"/>
                  </a:lnTo>
                  <a:lnTo>
                    <a:pt x="275" y="253"/>
                  </a:lnTo>
                  <a:lnTo>
                    <a:pt x="275" y="255"/>
                  </a:lnTo>
                  <a:lnTo>
                    <a:pt x="273" y="255"/>
                  </a:lnTo>
                  <a:lnTo>
                    <a:pt x="271" y="257"/>
                  </a:lnTo>
                  <a:lnTo>
                    <a:pt x="271" y="257"/>
                  </a:lnTo>
                  <a:lnTo>
                    <a:pt x="271" y="258"/>
                  </a:lnTo>
                  <a:lnTo>
                    <a:pt x="271" y="258"/>
                  </a:lnTo>
                  <a:lnTo>
                    <a:pt x="273" y="258"/>
                  </a:lnTo>
                  <a:lnTo>
                    <a:pt x="275" y="260"/>
                  </a:lnTo>
                  <a:lnTo>
                    <a:pt x="275" y="260"/>
                  </a:lnTo>
                  <a:lnTo>
                    <a:pt x="275" y="262"/>
                  </a:lnTo>
                  <a:lnTo>
                    <a:pt x="275" y="262"/>
                  </a:lnTo>
                  <a:lnTo>
                    <a:pt x="279" y="262"/>
                  </a:lnTo>
                  <a:lnTo>
                    <a:pt x="281" y="264"/>
                  </a:lnTo>
                  <a:lnTo>
                    <a:pt x="281" y="264"/>
                  </a:lnTo>
                  <a:lnTo>
                    <a:pt x="281" y="264"/>
                  </a:lnTo>
                  <a:lnTo>
                    <a:pt x="284" y="268"/>
                  </a:lnTo>
                  <a:lnTo>
                    <a:pt x="286" y="270"/>
                  </a:lnTo>
                  <a:lnTo>
                    <a:pt x="286" y="270"/>
                  </a:lnTo>
                  <a:lnTo>
                    <a:pt x="288" y="272"/>
                  </a:lnTo>
                  <a:lnTo>
                    <a:pt x="290" y="272"/>
                  </a:lnTo>
                  <a:lnTo>
                    <a:pt x="290" y="274"/>
                  </a:lnTo>
                  <a:lnTo>
                    <a:pt x="290" y="274"/>
                  </a:lnTo>
                  <a:lnTo>
                    <a:pt x="290" y="276"/>
                  </a:lnTo>
                  <a:lnTo>
                    <a:pt x="290" y="277"/>
                  </a:lnTo>
                  <a:lnTo>
                    <a:pt x="290" y="277"/>
                  </a:lnTo>
                  <a:lnTo>
                    <a:pt x="290" y="279"/>
                  </a:lnTo>
                  <a:lnTo>
                    <a:pt x="290" y="279"/>
                  </a:lnTo>
                  <a:lnTo>
                    <a:pt x="290" y="279"/>
                  </a:lnTo>
                  <a:lnTo>
                    <a:pt x="290" y="281"/>
                  </a:lnTo>
                  <a:lnTo>
                    <a:pt x="290" y="281"/>
                  </a:lnTo>
                  <a:lnTo>
                    <a:pt x="290" y="281"/>
                  </a:lnTo>
                  <a:lnTo>
                    <a:pt x="292" y="283"/>
                  </a:lnTo>
                  <a:lnTo>
                    <a:pt x="292" y="283"/>
                  </a:lnTo>
                  <a:lnTo>
                    <a:pt x="290" y="285"/>
                  </a:lnTo>
                  <a:lnTo>
                    <a:pt x="279" y="289"/>
                  </a:lnTo>
                  <a:lnTo>
                    <a:pt x="277" y="293"/>
                  </a:lnTo>
                  <a:lnTo>
                    <a:pt x="275" y="293"/>
                  </a:lnTo>
                  <a:lnTo>
                    <a:pt x="273" y="293"/>
                  </a:lnTo>
                  <a:lnTo>
                    <a:pt x="271" y="293"/>
                  </a:lnTo>
                  <a:lnTo>
                    <a:pt x="269" y="293"/>
                  </a:lnTo>
                  <a:lnTo>
                    <a:pt x="269" y="293"/>
                  </a:lnTo>
                  <a:lnTo>
                    <a:pt x="269" y="293"/>
                  </a:lnTo>
                  <a:lnTo>
                    <a:pt x="269" y="295"/>
                  </a:lnTo>
                  <a:lnTo>
                    <a:pt x="267" y="295"/>
                  </a:lnTo>
                  <a:lnTo>
                    <a:pt x="267" y="295"/>
                  </a:lnTo>
                  <a:lnTo>
                    <a:pt x="265" y="295"/>
                  </a:lnTo>
                  <a:lnTo>
                    <a:pt x="265" y="295"/>
                  </a:lnTo>
                  <a:lnTo>
                    <a:pt x="263" y="296"/>
                  </a:lnTo>
                  <a:lnTo>
                    <a:pt x="262" y="298"/>
                  </a:lnTo>
                  <a:lnTo>
                    <a:pt x="258" y="300"/>
                  </a:lnTo>
                  <a:lnTo>
                    <a:pt x="254" y="304"/>
                  </a:lnTo>
                  <a:lnTo>
                    <a:pt x="252" y="308"/>
                  </a:lnTo>
                  <a:lnTo>
                    <a:pt x="252" y="308"/>
                  </a:lnTo>
                  <a:lnTo>
                    <a:pt x="252" y="308"/>
                  </a:lnTo>
                  <a:lnTo>
                    <a:pt x="252" y="308"/>
                  </a:lnTo>
                  <a:lnTo>
                    <a:pt x="254" y="308"/>
                  </a:lnTo>
                  <a:lnTo>
                    <a:pt x="254" y="310"/>
                  </a:lnTo>
                  <a:lnTo>
                    <a:pt x="254" y="310"/>
                  </a:lnTo>
                  <a:lnTo>
                    <a:pt x="254" y="310"/>
                  </a:lnTo>
                  <a:lnTo>
                    <a:pt x="254" y="310"/>
                  </a:lnTo>
                  <a:lnTo>
                    <a:pt x="254" y="310"/>
                  </a:lnTo>
                  <a:lnTo>
                    <a:pt x="258" y="312"/>
                  </a:lnTo>
                  <a:lnTo>
                    <a:pt x="258" y="312"/>
                  </a:lnTo>
                  <a:lnTo>
                    <a:pt x="258" y="312"/>
                  </a:lnTo>
                  <a:lnTo>
                    <a:pt x="258" y="312"/>
                  </a:lnTo>
                  <a:lnTo>
                    <a:pt x="260" y="312"/>
                  </a:lnTo>
                  <a:lnTo>
                    <a:pt x="260" y="312"/>
                  </a:lnTo>
                  <a:lnTo>
                    <a:pt x="258" y="314"/>
                  </a:lnTo>
                  <a:lnTo>
                    <a:pt x="258" y="314"/>
                  </a:lnTo>
                  <a:lnTo>
                    <a:pt x="258" y="314"/>
                  </a:lnTo>
                  <a:lnTo>
                    <a:pt x="260" y="314"/>
                  </a:lnTo>
                  <a:lnTo>
                    <a:pt x="260" y="314"/>
                  </a:lnTo>
                  <a:lnTo>
                    <a:pt x="262" y="316"/>
                  </a:lnTo>
                  <a:lnTo>
                    <a:pt x="262" y="317"/>
                  </a:lnTo>
                  <a:lnTo>
                    <a:pt x="262" y="317"/>
                  </a:lnTo>
                  <a:lnTo>
                    <a:pt x="262" y="317"/>
                  </a:lnTo>
                  <a:lnTo>
                    <a:pt x="262" y="319"/>
                  </a:lnTo>
                  <a:lnTo>
                    <a:pt x="262" y="321"/>
                  </a:lnTo>
                  <a:lnTo>
                    <a:pt x="258" y="323"/>
                  </a:lnTo>
                  <a:lnTo>
                    <a:pt x="252" y="325"/>
                  </a:lnTo>
                  <a:lnTo>
                    <a:pt x="250" y="325"/>
                  </a:lnTo>
                  <a:lnTo>
                    <a:pt x="250" y="323"/>
                  </a:lnTo>
                  <a:lnTo>
                    <a:pt x="250" y="323"/>
                  </a:lnTo>
                  <a:lnTo>
                    <a:pt x="250" y="323"/>
                  </a:lnTo>
                  <a:lnTo>
                    <a:pt x="250" y="323"/>
                  </a:lnTo>
                  <a:lnTo>
                    <a:pt x="250" y="323"/>
                  </a:lnTo>
                  <a:lnTo>
                    <a:pt x="250" y="323"/>
                  </a:lnTo>
                  <a:lnTo>
                    <a:pt x="244" y="319"/>
                  </a:lnTo>
                  <a:lnTo>
                    <a:pt x="244" y="319"/>
                  </a:lnTo>
                  <a:lnTo>
                    <a:pt x="241" y="317"/>
                  </a:lnTo>
                  <a:lnTo>
                    <a:pt x="237" y="319"/>
                  </a:lnTo>
                  <a:lnTo>
                    <a:pt x="237" y="321"/>
                  </a:lnTo>
                  <a:lnTo>
                    <a:pt x="237" y="321"/>
                  </a:lnTo>
                  <a:lnTo>
                    <a:pt x="237" y="323"/>
                  </a:lnTo>
                  <a:lnTo>
                    <a:pt x="239" y="325"/>
                  </a:lnTo>
                  <a:lnTo>
                    <a:pt x="239" y="325"/>
                  </a:lnTo>
                  <a:lnTo>
                    <a:pt x="239" y="327"/>
                  </a:lnTo>
                  <a:lnTo>
                    <a:pt x="239" y="329"/>
                  </a:lnTo>
                  <a:lnTo>
                    <a:pt x="239" y="331"/>
                  </a:lnTo>
                  <a:lnTo>
                    <a:pt x="233" y="344"/>
                  </a:lnTo>
                  <a:lnTo>
                    <a:pt x="233" y="348"/>
                  </a:lnTo>
                  <a:lnTo>
                    <a:pt x="233" y="352"/>
                  </a:lnTo>
                  <a:lnTo>
                    <a:pt x="231" y="352"/>
                  </a:lnTo>
                  <a:lnTo>
                    <a:pt x="231" y="354"/>
                  </a:lnTo>
                  <a:lnTo>
                    <a:pt x="231" y="354"/>
                  </a:lnTo>
                  <a:lnTo>
                    <a:pt x="231" y="354"/>
                  </a:lnTo>
                  <a:lnTo>
                    <a:pt x="237" y="359"/>
                  </a:lnTo>
                  <a:lnTo>
                    <a:pt x="239" y="359"/>
                  </a:lnTo>
                  <a:lnTo>
                    <a:pt x="239" y="359"/>
                  </a:lnTo>
                  <a:lnTo>
                    <a:pt x="239" y="361"/>
                  </a:lnTo>
                  <a:lnTo>
                    <a:pt x="239" y="363"/>
                  </a:lnTo>
                  <a:lnTo>
                    <a:pt x="239" y="365"/>
                  </a:lnTo>
                  <a:lnTo>
                    <a:pt x="239" y="365"/>
                  </a:lnTo>
                  <a:lnTo>
                    <a:pt x="241" y="369"/>
                  </a:lnTo>
                  <a:lnTo>
                    <a:pt x="241" y="371"/>
                  </a:lnTo>
                  <a:lnTo>
                    <a:pt x="241" y="373"/>
                  </a:lnTo>
                  <a:lnTo>
                    <a:pt x="241" y="373"/>
                  </a:lnTo>
                  <a:lnTo>
                    <a:pt x="241" y="374"/>
                  </a:lnTo>
                  <a:lnTo>
                    <a:pt x="237" y="382"/>
                  </a:lnTo>
                  <a:lnTo>
                    <a:pt x="237" y="384"/>
                  </a:lnTo>
                  <a:lnTo>
                    <a:pt x="239" y="384"/>
                  </a:lnTo>
                  <a:lnTo>
                    <a:pt x="244" y="384"/>
                  </a:lnTo>
                  <a:lnTo>
                    <a:pt x="250" y="384"/>
                  </a:lnTo>
                  <a:lnTo>
                    <a:pt x="256" y="384"/>
                  </a:lnTo>
                  <a:lnTo>
                    <a:pt x="256" y="384"/>
                  </a:lnTo>
                  <a:lnTo>
                    <a:pt x="256" y="386"/>
                  </a:lnTo>
                  <a:lnTo>
                    <a:pt x="256" y="386"/>
                  </a:lnTo>
                  <a:lnTo>
                    <a:pt x="256" y="386"/>
                  </a:lnTo>
                  <a:lnTo>
                    <a:pt x="256" y="386"/>
                  </a:lnTo>
                  <a:lnTo>
                    <a:pt x="256" y="386"/>
                  </a:lnTo>
                  <a:lnTo>
                    <a:pt x="256" y="388"/>
                  </a:lnTo>
                  <a:lnTo>
                    <a:pt x="256" y="388"/>
                  </a:lnTo>
                  <a:lnTo>
                    <a:pt x="256" y="390"/>
                  </a:lnTo>
                  <a:lnTo>
                    <a:pt x="256" y="392"/>
                  </a:lnTo>
                  <a:lnTo>
                    <a:pt x="256" y="393"/>
                  </a:lnTo>
                  <a:lnTo>
                    <a:pt x="258" y="393"/>
                  </a:lnTo>
                  <a:lnTo>
                    <a:pt x="258" y="395"/>
                  </a:lnTo>
                  <a:lnTo>
                    <a:pt x="258" y="395"/>
                  </a:lnTo>
                  <a:lnTo>
                    <a:pt x="260" y="395"/>
                  </a:lnTo>
                  <a:lnTo>
                    <a:pt x="260" y="395"/>
                  </a:lnTo>
                  <a:lnTo>
                    <a:pt x="262" y="395"/>
                  </a:lnTo>
                  <a:lnTo>
                    <a:pt x="262" y="395"/>
                  </a:lnTo>
                  <a:lnTo>
                    <a:pt x="263" y="395"/>
                  </a:lnTo>
                  <a:lnTo>
                    <a:pt x="263" y="393"/>
                  </a:lnTo>
                  <a:lnTo>
                    <a:pt x="265" y="392"/>
                  </a:lnTo>
                  <a:lnTo>
                    <a:pt x="267" y="390"/>
                  </a:lnTo>
                  <a:lnTo>
                    <a:pt x="271" y="386"/>
                  </a:lnTo>
                  <a:lnTo>
                    <a:pt x="273" y="386"/>
                  </a:lnTo>
                  <a:lnTo>
                    <a:pt x="273" y="386"/>
                  </a:lnTo>
                  <a:lnTo>
                    <a:pt x="273" y="386"/>
                  </a:lnTo>
                  <a:lnTo>
                    <a:pt x="275" y="384"/>
                  </a:lnTo>
                  <a:lnTo>
                    <a:pt x="275" y="384"/>
                  </a:lnTo>
                  <a:lnTo>
                    <a:pt x="275" y="384"/>
                  </a:lnTo>
                  <a:lnTo>
                    <a:pt x="275" y="382"/>
                  </a:lnTo>
                  <a:lnTo>
                    <a:pt x="275" y="380"/>
                  </a:lnTo>
                  <a:lnTo>
                    <a:pt x="275" y="378"/>
                  </a:lnTo>
                  <a:lnTo>
                    <a:pt x="279" y="374"/>
                  </a:lnTo>
                  <a:lnTo>
                    <a:pt x="281" y="373"/>
                  </a:lnTo>
                  <a:lnTo>
                    <a:pt x="283" y="371"/>
                  </a:lnTo>
                  <a:lnTo>
                    <a:pt x="283" y="371"/>
                  </a:lnTo>
                  <a:lnTo>
                    <a:pt x="283" y="369"/>
                  </a:lnTo>
                  <a:lnTo>
                    <a:pt x="286" y="361"/>
                  </a:lnTo>
                  <a:lnTo>
                    <a:pt x="286" y="361"/>
                  </a:lnTo>
                  <a:lnTo>
                    <a:pt x="286" y="359"/>
                  </a:lnTo>
                  <a:lnTo>
                    <a:pt x="288" y="361"/>
                  </a:lnTo>
                  <a:lnTo>
                    <a:pt x="288" y="361"/>
                  </a:lnTo>
                  <a:lnTo>
                    <a:pt x="288" y="363"/>
                  </a:lnTo>
                  <a:lnTo>
                    <a:pt x="294" y="371"/>
                  </a:lnTo>
                  <a:lnTo>
                    <a:pt x="294" y="373"/>
                  </a:lnTo>
                  <a:lnTo>
                    <a:pt x="296" y="373"/>
                  </a:lnTo>
                  <a:lnTo>
                    <a:pt x="296" y="373"/>
                  </a:lnTo>
                  <a:lnTo>
                    <a:pt x="303" y="369"/>
                  </a:lnTo>
                  <a:lnTo>
                    <a:pt x="303" y="371"/>
                  </a:lnTo>
                  <a:lnTo>
                    <a:pt x="307" y="371"/>
                  </a:lnTo>
                  <a:lnTo>
                    <a:pt x="309" y="371"/>
                  </a:lnTo>
                  <a:lnTo>
                    <a:pt x="311" y="369"/>
                  </a:lnTo>
                  <a:lnTo>
                    <a:pt x="309" y="367"/>
                  </a:lnTo>
                  <a:lnTo>
                    <a:pt x="313" y="367"/>
                  </a:lnTo>
                  <a:lnTo>
                    <a:pt x="313" y="363"/>
                  </a:lnTo>
                  <a:lnTo>
                    <a:pt x="313" y="355"/>
                  </a:lnTo>
                  <a:lnTo>
                    <a:pt x="315" y="352"/>
                  </a:lnTo>
                  <a:lnTo>
                    <a:pt x="315" y="352"/>
                  </a:lnTo>
                  <a:lnTo>
                    <a:pt x="317" y="352"/>
                  </a:lnTo>
                  <a:lnTo>
                    <a:pt x="319" y="350"/>
                  </a:lnTo>
                  <a:lnTo>
                    <a:pt x="319" y="350"/>
                  </a:lnTo>
                  <a:lnTo>
                    <a:pt x="317" y="346"/>
                  </a:lnTo>
                  <a:lnTo>
                    <a:pt x="319" y="342"/>
                  </a:lnTo>
                  <a:lnTo>
                    <a:pt x="319" y="340"/>
                  </a:lnTo>
                  <a:lnTo>
                    <a:pt x="319" y="340"/>
                  </a:lnTo>
                  <a:lnTo>
                    <a:pt x="317" y="340"/>
                  </a:lnTo>
                  <a:lnTo>
                    <a:pt x="317" y="338"/>
                  </a:lnTo>
                  <a:lnTo>
                    <a:pt x="317" y="338"/>
                  </a:lnTo>
                  <a:lnTo>
                    <a:pt x="317" y="336"/>
                  </a:lnTo>
                  <a:lnTo>
                    <a:pt x="317" y="336"/>
                  </a:lnTo>
                  <a:lnTo>
                    <a:pt x="319" y="335"/>
                  </a:lnTo>
                  <a:lnTo>
                    <a:pt x="319" y="335"/>
                  </a:lnTo>
                  <a:lnTo>
                    <a:pt x="319" y="331"/>
                  </a:lnTo>
                  <a:lnTo>
                    <a:pt x="321" y="329"/>
                  </a:lnTo>
                  <a:lnTo>
                    <a:pt x="321" y="327"/>
                  </a:lnTo>
                  <a:lnTo>
                    <a:pt x="321" y="327"/>
                  </a:lnTo>
                  <a:lnTo>
                    <a:pt x="321" y="327"/>
                  </a:lnTo>
                  <a:lnTo>
                    <a:pt x="323" y="325"/>
                  </a:lnTo>
                  <a:lnTo>
                    <a:pt x="323" y="325"/>
                  </a:lnTo>
                  <a:lnTo>
                    <a:pt x="323" y="325"/>
                  </a:lnTo>
                  <a:lnTo>
                    <a:pt x="323" y="325"/>
                  </a:lnTo>
                  <a:lnTo>
                    <a:pt x="323" y="325"/>
                  </a:lnTo>
                  <a:lnTo>
                    <a:pt x="324" y="327"/>
                  </a:lnTo>
                  <a:lnTo>
                    <a:pt x="324" y="327"/>
                  </a:lnTo>
                  <a:lnTo>
                    <a:pt x="326" y="327"/>
                  </a:lnTo>
                  <a:lnTo>
                    <a:pt x="326" y="327"/>
                  </a:lnTo>
                  <a:lnTo>
                    <a:pt x="328" y="327"/>
                  </a:lnTo>
                  <a:lnTo>
                    <a:pt x="328" y="325"/>
                  </a:lnTo>
                  <a:lnTo>
                    <a:pt x="328" y="325"/>
                  </a:lnTo>
                  <a:lnTo>
                    <a:pt x="328" y="323"/>
                  </a:lnTo>
                  <a:lnTo>
                    <a:pt x="330" y="319"/>
                  </a:lnTo>
                  <a:lnTo>
                    <a:pt x="332" y="316"/>
                  </a:lnTo>
                  <a:lnTo>
                    <a:pt x="332" y="316"/>
                  </a:lnTo>
                  <a:lnTo>
                    <a:pt x="332" y="316"/>
                  </a:lnTo>
                  <a:lnTo>
                    <a:pt x="332" y="314"/>
                  </a:lnTo>
                  <a:lnTo>
                    <a:pt x="332" y="314"/>
                  </a:lnTo>
                  <a:lnTo>
                    <a:pt x="332" y="314"/>
                  </a:lnTo>
                  <a:lnTo>
                    <a:pt x="332" y="312"/>
                  </a:lnTo>
                  <a:lnTo>
                    <a:pt x="332" y="312"/>
                  </a:lnTo>
                  <a:lnTo>
                    <a:pt x="332" y="312"/>
                  </a:lnTo>
                  <a:lnTo>
                    <a:pt x="334" y="312"/>
                  </a:lnTo>
                  <a:lnTo>
                    <a:pt x="334" y="312"/>
                  </a:lnTo>
                  <a:lnTo>
                    <a:pt x="334" y="310"/>
                  </a:lnTo>
                  <a:lnTo>
                    <a:pt x="334" y="310"/>
                  </a:lnTo>
                  <a:lnTo>
                    <a:pt x="334" y="306"/>
                  </a:lnTo>
                  <a:lnTo>
                    <a:pt x="334" y="304"/>
                  </a:lnTo>
                  <a:lnTo>
                    <a:pt x="334" y="304"/>
                  </a:lnTo>
                  <a:lnTo>
                    <a:pt x="334" y="302"/>
                  </a:lnTo>
                  <a:lnTo>
                    <a:pt x="334" y="302"/>
                  </a:lnTo>
                  <a:lnTo>
                    <a:pt x="336" y="302"/>
                  </a:lnTo>
                  <a:lnTo>
                    <a:pt x="336" y="302"/>
                  </a:lnTo>
                  <a:lnTo>
                    <a:pt x="338" y="302"/>
                  </a:lnTo>
                  <a:lnTo>
                    <a:pt x="338" y="300"/>
                  </a:lnTo>
                  <a:lnTo>
                    <a:pt x="338" y="300"/>
                  </a:lnTo>
                  <a:lnTo>
                    <a:pt x="338" y="298"/>
                  </a:lnTo>
                  <a:lnTo>
                    <a:pt x="340" y="298"/>
                  </a:lnTo>
                  <a:lnTo>
                    <a:pt x="340" y="296"/>
                  </a:lnTo>
                  <a:lnTo>
                    <a:pt x="342" y="295"/>
                  </a:lnTo>
                  <a:lnTo>
                    <a:pt x="343" y="289"/>
                  </a:lnTo>
                  <a:lnTo>
                    <a:pt x="345" y="283"/>
                  </a:lnTo>
                  <a:lnTo>
                    <a:pt x="347" y="281"/>
                  </a:lnTo>
                  <a:lnTo>
                    <a:pt x="347" y="279"/>
                  </a:lnTo>
                  <a:lnTo>
                    <a:pt x="351" y="277"/>
                  </a:lnTo>
                  <a:lnTo>
                    <a:pt x="351" y="276"/>
                  </a:lnTo>
                  <a:lnTo>
                    <a:pt x="351" y="274"/>
                  </a:lnTo>
                  <a:lnTo>
                    <a:pt x="351" y="270"/>
                  </a:lnTo>
                  <a:lnTo>
                    <a:pt x="351" y="268"/>
                  </a:lnTo>
                  <a:lnTo>
                    <a:pt x="351" y="268"/>
                  </a:lnTo>
                  <a:lnTo>
                    <a:pt x="351" y="266"/>
                  </a:lnTo>
                  <a:lnTo>
                    <a:pt x="349" y="264"/>
                  </a:lnTo>
                  <a:lnTo>
                    <a:pt x="349" y="264"/>
                  </a:lnTo>
                  <a:lnTo>
                    <a:pt x="349" y="262"/>
                  </a:lnTo>
                  <a:lnTo>
                    <a:pt x="347" y="262"/>
                  </a:lnTo>
                  <a:lnTo>
                    <a:pt x="347" y="262"/>
                  </a:lnTo>
                  <a:lnTo>
                    <a:pt x="345" y="260"/>
                  </a:lnTo>
                  <a:lnTo>
                    <a:pt x="345" y="260"/>
                  </a:lnTo>
                  <a:lnTo>
                    <a:pt x="345" y="258"/>
                  </a:lnTo>
                  <a:lnTo>
                    <a:pt x="343" y="258"/>
                  </a:lnTo>
                  <a:lnTo>
                    <a:pt x="343" y="257"/>
                  </a:lnTo>
                  <a:lnTo>
                    <a:pt x="343" y="257"/>
                  </a:lnTo>
                  <a:lnTo>
                    <a:pt x="343" y="257"/>
                  </a:lnTo>
                  <a:lnTo>
                    <a:pt x="343" y="257"/>
                  </a:lnTo>
                  <a:lnTo>
                    <a:pt x="342" y="257"/>
                  </a:lnTo>
                  <a:lnTo>
                    <a:pt x="342" y="255"/>
                  </a:lnTo>
                  <a:lnTo>
                    <a:pt x="340" y="255"/>
                  </a:lnTo>
                  <a:lnTo>
                    <a:pt x="340" y="253"/>
                  </a:lnTo>
                  <a:lnTo>
                    <a:pt x="340" y="251"/>
                  </a:lnTo>
                  <a:lnTo>
                    <a:pt x="342" y="251"/>
                  </a:lnTo>
                  <a:lnTo>
                    <a:pt x="343" y="249"/>
                  </a:lnTo>
                  <a:lnTo>
                    <a:pt x="347" y="245"/>
                  </a:lnTo>
                  <a:lnTo>
                    <a:pt x="353" y="241"/>
                  </a:lnTo>
                  <a:lnTo>
                    <a:pt x="357" y="238"/>
                  </a:lnTo>
                  <a:lnTo>
                    <a:pt x="363" y="230"/>
                  </a:lnTo>
                  <a:lnTo>
                    <a:pt x="364" y="228"/>
                  </a:lnTo>
                  <a:lnTo>
                    <a:pt x="374" y="220"/>
                  </a:lnTo>
                  <a:lnTo>
                    <a:pt x="374" y="219"/>
                  </a:lnTo>
                  <a:lnTo>
                    <a:pt x="374" y="219"/>
                  </a:lnTo>
                  <a:lnTo>
                    <a:pt x="374" y="219"/>
                  </a:lnTo>
                  <a:lnTo>
                    <a:pt x="374" y="219"/>
                  </a:lnTo>
                  <a:lnTo>
                    <a:pt x="372" y="217"/>
                  </a:lnTo>
                  <a:lnTo>
                    <a:pt x="372" y="215"/>
                  </a:lnTo>
                  <a:lnTo>
                    <a:pt x="372" y="215"/>
                  </a:lnTo>
                  <a:lnTo>
                    <a:pt x="372" y="215"/>
                  </a:lnTo>
                  <a:lnTo>
                    <a:pt x="372" y="213"/>
                  </a:lnTo>
                  <a:lnTo>
                    <a:pt x="374" y="213"/>
                  </a:lnTo>
                  <a:lnTo>
                    <a:pt x="376" y="211"/>
                  </a:lnTo>
                  <a:lnTo>
                    <a:pt x="378" y="211"/>
                  </a:lnTo>
                  <a:lnTo>
                    <a:pt x="378" y="209"/>
                  </a:lnTo>
                  <a:lnTo>
                    <a:pt x="380" y="209"/>
                  </a:lnTo>
                  <a:lnTo>
                    <a:pt x="380" y="209"/>
                  </a:lnTo>
                  <a:lnTo>
                    <a:pt x="382" y="211"/>
                  </a:lnTo>
                  <a:lnTo>
                    <a:pt x="382" y="211"/>
                  </a:lnTo>
                  <a:lnTo>
                    <a:pt x="384" y="211"/>
                  </a:lnTo>
                  <a:lnTo>
                    <a:pt x="384" y="213"/>
                  </a:lnTo>
                  <a:lnTo>
                    <a:pt x="384" y="215"/>
                  </a:lnTo>
                  <a:lnTo>
                    <a:pt x="384" y="215"/>
                  </a:lnTo>
                  <a:lnTo>
                    <a:pt x="384" y="217"/>
                  </a:lnTo>
                  <a:lnTo>
                    <a:pt x="384" y="219"/>
                  </a:lnTo>
                  <a:lnTo>
                    <a:pt x="382" y="219"/>
                  </a:lnTo>
                  <a:lnTo>
                    <a:pt x="382" y="220"/>
                  </a:lnTo>
                  <a:lnTo>
                    <a:pt x="380" y="220"/>
                  </a:lnTo>
                  <a:lnTo>
                    <a:pt x="380" y="222"/>
                  </a:lnTo>
                  <a:lnTo>
                    <a:pt x="380" y="222"/>
                  </a:lnTo>
                  <a:lnTo>
                    <a:pt x="382" y="222"/>
                  </a:lnTo>
                  <a:lnTo>
                    <a:pt x="382" y="222"/>
                  </a:lnTo>
                  <a:lnTo>
                    <a:pt x="384" y="222"/>
                  </a:lnTo>
                  <a:lnTo>
                    <a:pt x="385" y="222"/>
                  </a:lnTo>
                  <a:lnTo>
                    <a:pt x="391" y="220"/>
                  </a:lnTo>
                  <a:lnTo>
                    <a:pt x="393" y="220"/>
                  </a:lnTo>
                  <a:lnTo>
                    <a:pt x="395" y="219"/>
                  </a:lnTo>
                  <a:lnTo>
                    <a:pt x="397" y="217"/>
                  </a:lnTo>
                  <a:lnTo>
                    <a:pt x="399" y="213"/>
                  </a:lnTo>
                  <a:lnTo>
                    <a:pt x="399" y="213"/>
                  </a:lnTo>
                  <a:lnTo>
                    <a:pt x="401" y="211"/>
                  </a:lnTo>
                  <a:lnTo>
                    <a:pt x="401" y="211"/>
                  </a:lnTo>
                  <a:lnTo>
                    <a:pt x="399" y="209"/>
                  </a:lnTo>
                  <a:lnTo>
                    <a:pt x="399" y="207"/>
                  </a:lnTo>
                  <a:lnTo>
                    <a:pt x="399" y="207"/>
                  </a:lnTo>
                  <a:lnTo>
                    <a:pt x="399" y="207"/>
                  </a:lnTo>
                  <a:lnTo>
                    <a:pt x="399" y="205"/>
                  </a:lnTo>
                  <a:lnTo>
                    <a:pt x="399" y="203"/>
                  </a:lnTo>
                  <a:lnTo>
                    <a:pt x="399" y="201"/>
                  </a:lnTo>
                  <a:lnTo>
                    <a:pt x="401" y="199"/>
                  </a:lnTo>
                  <a:lnTo>
                    <a:pt x="401" y="199"/>
                  </a:lnTo>
                  <a:lnTo>
                    <a:pt x="401" y="199"/>
                  </a:lnTo>
                  <a:lnTo>
                    <a:pt x="401" y="198"/>
                  </a:lnTo>
                  <a:lnTo>
                    <a:pt x="403" y="192"/>
                  </a:lnTo>
                  <a:lnTo>
                    <a:pt x="403" y="190"/>
                  </a:lnTo>
                  <a:lnTo>
                    <a:pt x="401" y="188"/>
                  </a:lnTo>
                  <a:lnTo>
                    <a:pt x="401" y="188"/>
                  </a:lnTo>
                  <a:lnTo>
                    <a:pt x="403" y="186"/>
                  </a:lnTo>
                  <a:lnTo>
                    <a:pt x="410" y="175"/>
                  </a:lnTo>
                  <a:lnTo>
                    <a:pt x="414" y="171"/>
                  </a:lnTo>
                  <a:lnTo>
                    <a:pt x="416" y="169"/>
                  </a:lnTo>
                  <a:lnTo>
                    <a:pt x="418" y="169"/>
                  </a:lnTo>
                  <a:lnTo>
                    <a:pt x="418" y="167"/>
                  </a:lnTo>
                  <a:lnTo>
                    <a:pt x="418" y="165"/>
                  </a:lnTo>
                  <a:lnTo>
                    <a:pt x="420" y="160"/>
                  </a:lnTo>
                  <a:lnTo>
                    <a:pt x="420" y="158"/>
                  </a:lnTo>
                  <a:lnTo>
                    <a:pt x="420" y="156"/>
                  </a:lnTo>
                  <a:lnTo>
                    <a:pt x="424" y="152"/>
                  </a:lnTo>
                  <a:lnTo>
                    <a:pt x="425" y="148"/>
                  </a:lnTo>
                  <a:lnTo>
                    <a:pt x="427" y="150"/>
                  </a:lnTo>
                  <a:lnTo>
                    <a:pt x="429" y="152"/>
                  </a:lnTo>
                  <a:lnTo>
                    <a:pt x="429" y="154"/>
                  </a:lnTo>
                  <a:lnTo>
                    <a:pt x="429" y="154"/>
                  </a:lnTo>
                  <a:lnTo>
                    <a:pt x="429" y="154"/>
                  </a:lnTo>
                  <a:lnTo>
                    <a:pt x="429" y="156"/>
                  </a:lnTo>
                  <a:lnTo>
                    <a:pt x="429" y="156"/>
                  </a:lnTo>
                  <a:lnTo>
                    <a:pt x="431" y="156"/>
                  </a:lnTo>
                  <a:lnTo>
                    <a:pt x="431" y="156"/>
                  </a:lnTo>
                  <a:lnTo>
                    <a:pt x="433" y="156"/>
                  </a:lnTo>
                  <a:lnTo>
                    <a:pt x="435" y="154"/>
                  </a:lnTo>
                  <a:lnTo>
                    <a:pt x="435" y="154"/>
                  </a:lnTo>
                  <a:lnTo>
                    <a:pt x="437" y="152"/>
                  </a:lnTo>
                  <a:lnTo>
                    <a:pt x="439" y="150"/>
                  </a:lnTo>
                  <a:lnTo>
                    <a:pt x="441" y="148"/>
                  </a:lnTo>
                  <a:lnTo>
                    <a:pt x="441" y="146"/>
                  </a:lnTo>
                  <a:lnTo>
                    <a:pt x="441" y="144"/>
                  </a:lnTo>
                  <a:lnTo>
                    <a:pt x="441" y="144"/>
                  </a:lnTo>
                  <a:lnTo>
                    <a:pt x="441" y="142"/>
                  </a:lnTo>
                  <a:lnTo>
                    <a:pt x="444" y="139"/>
                  </a:lnTo>
                  <a:lnTo>
                    <a:pt x="444" y="137"/>
                  </a:lnTo>
                  <a:lnTo>
                    <a:pt x="446" y="137"/>
                  </a:lnTo>
                  <a:lnTo>
                    <a:pt x="446" y="137"/>
                  </a:lnTo>
                  <a:lnTo>
                    <a:pt x="446" y="137"/>
                  </a:lnTo>
                  <a:lnTo>
                    <a:pt x="448" y="137"/>
                  </a:lnTo>
                  <a:lnTo>
                    <a:pt x="450" y="135"/>
                  </a:lnTo>
                  <a:lnTo>
                    <a:pt x="450" y="135"/>
                  </a:lnTo>
                  <a:lnTo>
                    <a:pt x="452" y="133"/>
                  </a:lnTo>
                  <a:lnTo>
                    <a:pt x="452" y="133"/>
                  </a:lnTo>
                  <a:lnTo>
                    <a:pt x="452" y="133"/>
                  </a:lnTo>
                  <a:lnTo>
                    <a:pt x="456" y="133"/>
                  </a:lnTo>
                  <a:lnTo>
                    <a:pt x="464" y="131"/>
                  </a:lnTo>
                  <a:lnTo>
                    <a:pt x="465" y="129"/>
                  </a:lnTo>
                  <a:lnTo>
                    <a:pt x="471" y="125"/>
                  </a:lnTo>
                  <a:lnTo>
                    <a:pt x="475" y="122"/>
                  </a:lnTo>
                  <a:lnTo>
                    <a:pt x="479" y="118"/>
                  </a:lnTo>
                  <a:lnTo>
                    <a:pt x="481" y="112"/>
                  </a:lnTo>
                  <a:lnTo>
                    <a:pt x="483" y="112"/>
                  </a:lnTo>
                  <a:lnTo>
                    <a:pt x="485" y="108"/>
                  </a:lnTo>
                  <a:lnTo>
                    <a:pt x="485" y="108"/>
                  </a:lnTo>
                  <a:lnTo>
                    <a:pt x="486" y="108"/>
                  </a:lnTo>
                  <a:lnTo>
                    <a:pt x="486" y="108"/>
                  </a:lnTo>
                  <a:lnTo>
                    <a:pt x="486" y="108"/>
                  </a:lnTo>
                  <a:lnTo>
                    <a:pt x="490" y="110"/>
                  </a:lnTo>
                  <a:lnTo>
                    <a:pt x="490" y="110"/>
                  </a:lnTo>
                  <a:lnTo>
                    <a:pt x="492" y="110"/>
                  </a:lnTo>
                  <a:lnTo>
                    <a:pt x="494" y="110"/>
                  </a:lnTo>
                  <a:lnTo>
                    <a:pt x="496" y="110"/>
                  </a:lnTo>
                  <a:lnTo>
                    <a:pt x="496" y="110"/>
                  </a:lnTo>
                  <a:lnTo>
                    <a:pt x="507" y="103"/>
                  </a:lnTo>
                  <a:lnTo>
                    <a:pt x="507" y="103"/>
                  </a:lnTo>
                  <a:lnTo>
                    <a:pt x="507" y="103"/>
                  </a:lnTo>
                  <a:lnTo>
                    <a:pt x="507" y="103"/>
                  </a:lnTo>
                  <a:lnTo>
                    <a:pt x="507" y="101"/>
                  </a:lnTo>
                  <a:lnTo>
                    <a:pt x="509" y="101"/>
                  </a:lnTo>
                  <a:lnTo>
                    <a:pt x="509" y="99"/>
                  </a:lnTo>
                  <a:lnTo>
                    <a:pt x="511" y="99"/>
                  </a:lnTo>
                  <a:lnTo>
                    <a:pt x="511" y="99"/>
                  </a:lnTo>
                  <a:lnTo>
                    <a:pt x="511" y="97"/>
                  </a:lnTo>
                  <a:lnTo>
                    <a:pt x="513" y="99"/>
                  </a:lnTo>
                  <a:lnTo>
                    <a:pt x="515" y="99"/>
                  </a:lnTo>
                  <a:lnTo>
                    <a:pt x="517" y="99"/>
                  </a:lnTo>
                  <a:lnTo>
                    <a:pt x="517" y="97"/>
                  </a:lnTo>
                  <a:lnTo>
                    <a:pt x="523" y="95"/>
                  </a:lnTo>
                  <a:lnTo>
                    <a:pt x="526" y="91"/>
                  </a:lnTo>
                  <a:lnTo>
                    <a:pt x="528" y="89"/>
                  </a:lnTo>
                  <a:lnTo>
                    <a:pt x="530" y="89"/>
                  </a:lnTo>
                  <a:lnTo>
                    <a:pt x="530" y="89"/>
                  </a:lnTo>
                  <a:lnTo>
                    <a:pt x="532" y="87"/>
                  </a:lnTo>
                  <a:lnTo>
                    <a:pt x="536" y="85"/>
                  </a:lnTo>
                  <a:lnTo>
                    <a:pt x="536" y="83"/>
                  </a:lnTo>
                  <a:lnTo>
                    <a:pt x="538" y="82"/>
                  </a:lnTo>
                  <a:lnTo>
                    <a:pt x="538" y="82"/>
                  </a:lnTo>
                  <a:lnTo>
                    <a:pt x="538" y="78"/>
                  </a:lnTo>
                  <a:lnTo>
                    <a:pt x="538" y="78"/>
                  </a:lnTo>
                  <a:lnTo>
                    <a:pt x="540" y="76"/>
                  </a:lnTo>
                  <a:lnTo>
                    <a:pt x="540" y="76"/>
                  </a:lnTo>
                  <a:lnTo>
                    <a:pt x="542" y="76"/>
                  </a:lnTo>
                  <a:lnTo>
                    <a:pt x="544" y="74"/>
                  </a:lnTo>
                  <a:lnTo>
                    <a:pt x="544" y="74"/>
                  </a:lnTo>
                  <a:lnTo>
                    <a:pt x="545" y="74"/>
                  </a:lnTo>
                  <a:lnTo>
                    <a:pt x="547" y="76"/>
                  </a:lnTo>
                  <a:lnTo>
                    <a:pt x="549" y="78"/>
                  </a:lnTo>
                  <a:lnTo>
                    <a:pt x="551" y="78"/>
                  </a:lnTo>
                  <a:lnTo>
                    <a:pt x="553" y="80"/>
                  </a:lnTo>
                  <a:lnTo>
                    <a:pt x="568" y="72"/>
                  </a:lnTo>
                  <a:lnTo>
                    <a:pt x="568" y="72"/>
                  </a:lnTo>
                  <a:lnTo>
                    <a:pt x="572" y="74"/>
                  </a:lnTo>
                  <a:lnTo>
                    <a:pt x="572" y="74"/>
                  </a:lnTo>
                  <a:lnTo>
                    <a:pt x="574" y="72"/>
                  </a:lnTo>
                  <a:lnTo>
                    <a:pt x="574" y="72"/>
                  </a:lnTo>
                  <a:lnTo>
                    <a:pt x="574" y="72"/>
                  </a:lnTo>
                  <a:lnTo>
                    <a:pt x="578" y="74"/>
                  </a:lnTo>
                  <a:lnTo>
                    <a:pt x="578" y="74"/>
                  </a:lnTo>
                  <a:lnTo>
                    <a:pt x="578" y="74"/>
                  </a:lnTo>
                  <a:lnTo>
                    <a:pt x="578" y="72"/>
                  </a:lnTo>
                  <a:lnTo>
                    <a:pt x="578" y="72"/>
                  </a:lnTo>
                  <a:lnTo>
                    <a:pt x="580" y="70"/>
                  </a:lnTo>
                  <a:lnTo>
                    <a:pt x="580" y="70"/>
                  </a:lnTo>
                  <a:lnTo>
                    <a:pt x="582" y="70"/>
                  </a:lnTo>
                  <a:lnTo>
                    <a:pt x="582" y="70"/>
                  </a:lnTo>
                  <a:lnTo>
                    <a:pt x="582" y="70"/>
                  </a:lnTo>
                  <a:lnTo>
                    <a:pt x="582" y="70"/>
                  </a:lnTo>
                  <a:lnTo>
                    <a:pt x="584" y="68"/>
                  </a:lnTo>
                  <a:lnTo>
                    <a:pt x="584" y="68"/>
                  </a:lnTo>
                  <a:lnTo>
                    <a:pt x="584" y="66"/>
                  </a:lnTo>
                  <a:lnTo>
                    <a:pt x="584" y="66"/>
                  </a:lnTo>
                  <a:lnTo>
                    <a:pt x="584" y="66"/>
                  </a:lnTo>
                  <a:lnTo>
                    <a:pt x="586" y="64"/>
                  </a:lnTo>
                  <a:lnTo>
                    <a:pt x="586" y="64"/>
                  </a:lnTo>
                  <a:lnTo>
                    <a:pt x="587" y="64"/>
                  </a:lnTo>
                  <a:lnTo>
                    <a:pt x="587" y="64"/>
                  </a:lnTo>
                  <a:lnTo>
                    <a:pt x="587" y="64"/>
                  </a:lnTo>
                  <a:lnTo>
                    <a:pt x="587" y="61"/>
                  </a:lnTo>
                  <a:lnTo>
                    <a:pt x="587" y="61"/>
                  </a:lnTo>
                  <a:close/>
                </a:path>
              </a:pathLst>
            </a:custGeom>
            <a:solidFill>
              <a:schemeClr val="tx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22" name="Freeform 72">
              <a:extLst>
                <a:ext uri="{FF2B5EF4-FFF2-40B4-BE49-F238E27FC236}">
                  <a16:creationId xmlns:a16="http://schemas.microsoft.com/office/drawing/2014/main" id="{2DB28530-CE69-8AE0-E8AB-0D4B3B1D9320}"/>
                </a:ext>
              </a:extLst>
            </p:cNvPr>
            <p:cNvSpPr>
              <a:spLocks/>
            </p:cNvSpPr>
            <p:nvPr/>
          </p:nvSpPr>
          <p:spPr bwMode="auto">
            <a:xfrm>
              <a:off x="5090477" y="2592749"/>
              <a:ext cx="1005523" cy="480396"/>
            </a:xfrm>
            <a:custGeom>
              <a:avLst/>
              <a:gdLst>
                <a:gd name="T0" fmla="*/ 520 w 533"/>
                <a:gd name="T1" fmla="*/ 111 h 284"/>
                <a:gd name="T2" fmla="*/ 486 w 533"/>
                <a:gd name="T3" fmla="*/ 93 h 284"/>
                <a:gd name="T4" fmla="*/ 451 w 533"/>
                <a:gd name="T5" fmla="*/ 84 h 284"/>
                <a:gd name="T6" fmla="*/ 451 w 533"/>
                <a:gd name="T7" fmla="*/ 42 h 284"/>
                <a:gd name="T8" fmla="*/ 427 w 533"/>
                <a:gd name="T9" fmla="*/ 23 h 284"/>
                <a:gd name="T10" fmla="*/ 430 w 533"/>
                <a:gd name="T11" fmla="*/ 14 h 284"/>
                <a:gd name="T12" fmla="*/ 387 w 533"/>
                <a:gd name="T13" fmla="*/ 2 h 284"/>
                <a:gd name="T14" fmla="*/ 367 w 533"/>
                <a:gd name="T15" fmla="*/ 15 h 284"/>
                <a:gd name="T16" fmla="*/ 354 w 533"/>
                <a:gd name="T17" fmla="*/ 19 h 284"/>
                <a:gd name="T18" fmla="*/ 333 w 533"/>
                <a:gd name="T19" fmla="*/ 29 h 284"/>
                <a:gd name="T20" fmla="*/ 312 w 533"/>
                <a:gd name="T21" fmla="*/ 25 h 284"/>
                <a:gd name="T22" fmla="*/ 282 w 533"/>
                <a:gd name="T23" fmla="*/ 6 h 284"/>
                <a:gd name="T24" fmla="*/ 255 w 533"/>
                <a:gd name="T25" fmla="*/ 21 h 284"/>
                <a:gd name="T26" fmla="*/ 230 w 533"/>
                <a:gd name="T27" fmla="*/ 52 h 284"/>
                <a:gd name="T28" fmla="*/ 215 w 533"/>
                <a:gd name="T29" fmla="*/ 59 h 284"/>
                <a:gd name="T30" fmla="*/ 194 w 533"/>
                <a:gd name="T31" fmla="*/ 71 h 284"/>
                <a:gd name="T32" fmla="*/ 152 w 533"/>
                <a:gd name="T33" fmla="*/ 88 h 284"/>
                <a:gd name="T34" fmla="*/ 122 w 533"/>
                <a:gd name="T35" fmla="*/ 118 h 284"/>
                <a:gd name="T36" fmla="*/ 110 w 533"/>
                <a:gd name="T37" fmla="*/ 124 h 284"/>
                <a:gd name="T38" fmla="*/ 103 w 533"/>
                <a:gd name="T39" fmla="*/ 145 h 284"/>
                <a:gd name="T40" fmla="*/ 80 w 533"/>
                <a:gd name="T41" fmla="*/ 162 h 284"/>
                <a:gd name="T42" fmla="*/ 68 w 533"/>
                <a:gd name="T43" fmla="*/ 162 h 284"/>
                <a:gd name="T44" fmla="*/ 61 w 533"/>
                <a:gd name="T45" fmla="*/ 162 h 284"/>
                <a:gd name="T46" fmla="*/ 26 w 533"/>
                <a:gd name="T47" fmla="*/ 171 h 284"/>
                <a:gd name="T48" fmla="*/ 5 w 533"/>
                <a:gd name="T49" fmla="*/ 196 h 284"/>
                <a:gd name="T50" fmla="*/ 28 w 533"/>
                <a:gd name="T51" fmla="*/ 202 h 284"/>
                <a:gd name="T52" fmla="*/ 42 w 533"/>
                <a:gd name="T53" fmla="*/ 225 h 284"/>
                <a:gd name="T54" fmla="*/ 38 w 533"/>
                <a:gd name="T55" fmla="*/ 240 h 284"/>
                <a:gd name="T56" fmla="*/ 68 w 533"/>
                <a:gd name="T57" fmla="*/ 255 h 284"/>
                <a:gd name="T58" fmla="*/ 114 w 533"/>
                <a:gd name="T59" fmla="*/ 242 h 284"/>
                <a:gd name="T60" fmla="*/ 167 w 533"/>
                <a:gd name="T61" fmla="*/ 249 h 284"/>
                <a:gd name="T62" fmla="*/ 200 w 533"/>
                <a:gd name="T63" fmla="*/ 244 h 284"/>
                <a:gd name="T64" fmla="*/ 209 w 533"/>
                <a:gd name="T65" fmla="*/ 227 h 284"/>
                <a:gd name="T66" fmla="*/ 246 w 533"/>
                <a:gd name="T67" fmla="*/ 189 h 284"/>
                <a:gd name="T68" fmla="*/ 249 w 533"/>
                <a:gd name="T69" fmla="*/ 183 h 284"/>
                <a:gd name="T70" fmla="*/ 276 w 533"/>
                <a:gd name="T71" fmla="*/ 183 h 284"/>
                <a:gd name="T72" fmla="*/ 345 w 533"/>
                <a:gd name="T73" fmla="*/ 154 h 284"/>
                <a:gd name="T74" fmla="*/ 377 w 533"/>
                <a:gd name="T75" fmla="*/ 147 h 284"/>
                <a:gd name="T76" fmla="*/ 387 w 533"/>
                <a:gd name="T77" fmla="*/ 173 h 284"/>
                <a:gd name="T78" fmla="*/ 396 w 533"/>
                <a:gd name="T79" fmla="*/ 189 h 284"/>
                <a:gd name="T80" fmla="*/ 398 w 533"/>
                <a:gd name="T81" fmla="*/ 206 h 284"/>
                <a:gd name="T82" fmla="*/ 406 w 533"/>
                <a:gd name="T83" fmla="*/ 202 h 284"/>
                <a:gd name="T84" fmla="*/ 406 w 533"/>
                <a:gd name="T85" fmla="*/ 211 h 284"/>
                <a:gd name="T86" fmla="*/ 400 w 533"/>
                <a:gd name="T87" fmla="*/ 217 h 284"/>
                <a:gd name="T88" fmla="*/ 375 w 533"/>
                <a:gd name="T89" fmla="*/ 225 h 284"/>
                <a:gd name="T90" fmla="*/ 360 w 533"/>
                <a:gd name="T91" fmla="*/ 223 h 284"/>
                <a:gd name="T92" fmla="*/ 339 w 533"/>
                <a:gd name="T93" fmla="*/ 242 h 284"/>
                <a:gd name="T94" fmla="*/ 335 w 533"/>
                <a:gd name="T95" fmla="*/ 249 h 284"/>
                <a:gd name="T96" fmla="*/ 333 w 533"/>
                <a:gd name="T97" fmla="*/ 263 h 284"/>
                <a:gd name="T98" fmla="*/ 339 w 533"/>
                <a:gd name="T99" fmla="*/ 280 h 284"/>
                <a:gd name="T100" fmla="*/ 366 w 533"/>
                <a:gd name="T101" fmla="*/ 267 h 284"/>
                <a:gd name="T102" fmla="*/ 383 w 533"/>
                <a:gd name="T103" fmla="*/ 253 h 284"/>
                <a:gd name="T104" fmla="*/ 446 w 533"/>
                <a:gd name="T105" fmla="*/ 217 h 284"/>
                <a:gd name="T106" fmla="*/ 467 w 533"/>
                <a:gd name="T107" fmla="*/ 213 h 284"/>
                <a:gd name="T108" fmla="*/ 484 w 533"/>
                <a:gd name="T109" fmla="*/ 217 h 284"/>
                <a:gd name="T110" fmla="*/ 503 w 533"/>
                <a:gd name="T111" fmla="*/ 238 h 284"/>
                <a:gd name="T112" fmla="*/ 512 w 533"/>
                <a:gd name="T113" fmla="*/ 236 h 284"/>
                <a:gd name="T114" fmla="*/ 489 w 533"/>
                <a:gd name="T115" fmla="*/ 202 h 284"/>
                <a:gd name="T116" fmla="*/ 488 w 533"/>
                <a:gd name="T117" fmla="*/ 183 h 284"/>
                <a:gd name="T118" fmla="*/ 507 w 533"/>
                <a:gd name="T119" fmla="*/ 168 h 284"/>
                <a:gd name="T120" fmla="*/ 520 w 533"/>
                <a:gd name="T121" fmla="*/ 154 h 284"/>
                <a:gd name="T122" fmla="*/ 531 w 533"/>
                <a:gd name="T123" fmla="*/ 15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3" h="284">
                  <a:moveTo>
                    <a:pt x="533" y="141"/>
                  </a:moveTo>
                  <a:lnTo>
                    <a:pt x="529" y="137"/>
                  </a:lnTo>
                  <a:lnTo>
                    <a:pt x="528" y="133"/>
                  </a:lnTo>
                  <a:lnTo>
                    <a:pt x="528" y="130"/>
                  </a:lnTo>
                  <a:lnTo>
                    <a:pt x="531" y="124"/>
                  </a:lnTo>
                  <a:lnTo>
                    <a:pt x="529" y="120"/>
                  </a:lnTo>
                  <a:lnTo>
                    <a:pt x="528" y="118"/>
                  </a:lnTo>
                  <a:lnTo>
                    <a:pt x="522" y="114"/>
                  </a:lnTo>
                  <a:lnTo>
                    <a:pt x="520" y="114"/>
                  </a:lnTo>
                  <a:lnTo>
                    <a:pt x="520" y="111"/>
                  </a:lnTo>
                  <a:lnTo>
                    <a:pt x="520" y="111"/>
                  </a:lnTo>
                  <a:lnTo>
                    <a:pt x="518" y="111"/>
                  </a:lnTo>
                  <a:lnTo>
                    <a:pt x="518" y="111"/>
                  </a:lnTo>
                  <a:lnTo>
                    <a:pt x="510" y="105"/>
                  </a:lnTo>
                  <a:lnTo>
                    <a:pt x="508" y="105"/>
                  </a:lnTo>
                  <a:lnTo>
                    <a:pt x="503" y="107"/>
                  </a:lnTo>
                  <a:lnTo>
                    <a:pt x="501" y="109"/>
                  </a:lnTo>
                  <a:lnTo>
                    <a:pt x="497" y="109"/>
                  </a:lnTo>
                  <a:lnTo>
                    <a:pt x="495" y="109"/>
                  </a:lnTo>
                  <a:lnTo>
                    <a:pt x="491" y="107"/>
                  </a:lnTo>
                  <a:lnTo>
                    <a:pt x="489" y="99"/>
                  </a:lnTo>
                  <a:lnTo>
                    <a:pt x="486" y="93"/>
                  </a:lnTo>
                  <a:lnTo>
                    <a:pt x="480" y="90"/>
                  </a:lnTo>
                  <a:lnTo>
                    <a:pt x="472" y="82"/>
                  </a:lnTo>
                  <a:lnTo>
                    <a:pt x="465" y="80"/>
                  </a:lnTo>
                  <a:lnTo>
                    <a:pt x="459" y="82"/>
                  </a:lnTo>
                  <a:lnTo>
                    <a:pt x="457" y="88"/>
                  </a:lnTo>
                  <a:lnTo>
                    <a:pt x="455" y="93"/>
                  </a:lnTo>
                  <a:lnTo>
                    <a:pt x="455" y="99"/>
                  </a:lnTo>
                  <a:lnTo>
                    <a:pt x="453" y="99"/>
                  </a:lnTo>
                  <a:lnTo>
                    <a:pt x="451" y="93"/>
                  </a:lnTo>
                  <a:lnTo>
                    <a:pt x="448" y="90"/>
                  </a:lnTo>
                  <a:lnTo>
                    <a:pt x="451" y="84"/>
                  </a:lnTo>
                  <a:lnTo>
                    <a:pt x="448" y="80"/>
                  </a:lnTo>
                  <a:lnTo>
                    <a:pt x="455" y="76"/>
                  </a:lnTo>
                  <a:lnTo>
                    <a:pt x="463" y="69"/>
                  </a:lnTo>
                  <a:lnTo>
                    <a:pt x="463" y="65"/>
                  </a:lnTo>
                  <a:lnTo>
                    <a:pt x="461" y="59"/>
                  </a:lnTo>
                  <a:lnTo>
                    <a:pt x="457" y="54"/>
                  </a:lnTo>
                  <a:lnTo>
                    <a:pt x="455" y="52"/>
                  </a:lnTo>
                  <a:lnTo>
                    <a:pt x="455" y="46"/>
                  </a:lnTo>
                  <a:lnTo>
                    <a:pt x="453" y="44"/>
                  </a:lnTo>
                  <a:lnTo>
                    <a:pt x="451" y="42"/>
                  </a:lnTo>
                  <a:lnTo>
                    <a:pt x="451" y="42"/>
                  </a:lnTo>
                  <a:lnTo>
                    <a:pt x="449" y="42"/>
                  </a:lnTo>
                  <a:lnTo>
                    <a:pt x="449" y="40"/>
                  </a:lnTo>
                  <a:lnTo>
                    <a:pt x="449" y="40"/>
                  </a:lnTo>
                  <a:lnTo>
                    <a:pt x="442" y="34"/>
                  </a:lnTo>
                  <a:lnTo>
                    <a:pt x="440" y="29"/>
                  </a:lnTo>
                  <a:lnTo>
                    <a:pt x="434" y="31"/>
                  </a:lnTo>
                  <a:lnTo>
                    <a:pt x="427" y="36"/>
                  </a:lnTo>
                  <a:lnTo>
                    <a:pt x="425" y="27"/>
                  </a:lnTo>
                  <a:lnTo>
                    <a:pt x="425" y="25"/>
                  </a:lnTo>
                  <a:lnTo>
                    <a:pt x="427" y="25"/>
                  </a:lnTo>
                  <a:lnTo>
                    <a:pt x="427" y="23"/>
                  </a:lnTo>
                  <a:lnTo>
                    <a:pt x="438" y="21"/>
                  </a:lnTo>
                  <a:lnTo>
                    <a:pt x="438" y="19"/>
                  </a:lnTo>
                  <a:lnTo>
                    <a:pt x="440" y="17"/>
                  </a:lnTo>
                  <a:lnTo>
                    <a:pt x="442" y="14"/>
                  </a:lnTo>
                  <a:lnTo>
                    <a:pt x="442" y="12"/>
                  </a:lnTo>
                  <a:lnTo>
                    <a:pt x="440" y="10"/>
                  </a:lnTo>
                  <a:lnTo>
                    <a:pt x="440" y="10"/>
                  </a:lnTo>
                  <a:lnTo>
                    <a:pt x="438" y="10"/>
                  </a:lnTo>
                  <a:lnTo>
                    <a:pt x="436" y="12"/>
                  </a:lnTo>
                  <a:lnTo>
                    <a:pt x="432" y="14"/>
                  </a:lnTo>
                  <a:lnTo>
                    <a:pt x="430" y="14"/>
                  </a:lnTo>
                  <a:lnTo>
                    <a:pt x="427" y="12"/>
                  </a:lnTo>
                  <a:lnTo>
                    <a:pt x="425" y="8"/>
                  </a:lnTo>
                  <a:lnTo>
                    <a:pt x="423" y="6"/>
                  </a:lnTo>
                  <a:lnTo>
                    <a:pt x="423" y="2"/>
                  </a:lnTo>
                  <a:lnTo>
                    <a:pt x="421" y="0"/>
                  </a:lnTo>
                  <a:lnTo>
                    <a:pt x="415" y="0"/>
                  </a:lnTo>
                  <a:lnTo>
                    <a:pt x="409" y="0"/>
                  </a:lnTo>
                  <a:lnTo>
                    <a:pt x="404" y="0"/>
                  </a:lnTo>
                  <a:lnTo>
                    <a:pt x="396" y="4"/>
                  </a:lnTo>
                  <a:lnTo>
                    <a:pt x="388" y="2"/>
                  </a:lnTo>
                  <a:lnTo>
                    <a:pt x="387" y="2"/>
                  </a:lnTo>
                  <a:lnTo>
                    <a:pt x="385" y="2"/>
                  </a:lnTo>
                  <a:lnTo>
                    <a:pt x="385" y="10"/>
                  </a:lnTo>
                  <a:lnTo>
                    <a:pt x="383" y="15"/>
                  </a:lnTo>
                  <a:lnTo>
                    <a:pt x="375" y="15"/>
                  </a:lnTo>
                  <a:lnTo>
                    <a:pt x="371" y="12"/>
                  </a:lnTo>
                  <a:lnTo>
                    <a:pt x="369" y="14"/>
                  </a:lnTo>
                  <a:lnTo>
                    <a:pt x="369" y="14"/>
                  </a:lnTo>
                  <a:lnTo>
                    <a:pt x="367" y="14"/>
                  </a:lnTo>
                  <a:lnTo>
                    <a:pt x="367" y="14"/>
                  </a:lnTo>
                  <a:lnTo>
                    <a:pt x="366" y="15"/>
                  </a:lnTo>
                  <a:lnTo>
                    <a:pt x="367" y="15"/>
                  </a:lnTo>
                  <a:lnTo>
                    <a:pt x="366" y="17"/>
                  </a:lnTo>
                  <a:lnTo>
                    <a:pt x="364" y="17"/>
                  </a:lnTo>
                  <a:lnTo>
                    <a:pt x="364" y="17"/>
                  </a:lnTo>
                  <a:lnTo>
                    <a:pt x="364" y="21"/>
                  </a:lnTo>
                  <a:lnTo>
                    <a:pt x="364" y="25"/>
                  </a:lnTo>
                  <a:lnTo>
                    <a:pt x="364" y="25"/>
                  </a:lnTo>
                  <a:lnTo>
                    <a:pt x="360" y="25"/>
                  </a:lnTo>
                  <a:lnTo>
                    <a:pt x="358" y="25"/>
                  </a:lnTo>
                  <a:lnTo>
                    <a:pt x="358" y="23"/>
                  </a:lnTo>
                  <a:lnTo>
                    <a:pt x="356" y="19"/>
                  </a:lnTo>
                  <a:lnTo>
                    <a:pt x="354" y="19"/>
                  </a:lnTo>
                  <a:lnTo>
                    <a:pt x="354" y="25"/>
                  </a:lnTo>
                  <a:lnTo>
                    <a:pt x="350" y="25"/>
                  </a:lnTo>
                  <a:lnTo>
                    <a:pt x="345" y="25"/>
                  </a:lnTo>
                  <a:lnTo>
                    <a:pt x="341" y="27"/>
                  </a:lnTo>
                  <a:lnTo>
                    <a:pt x="341" y="33"/>
                  </a:lnTo>
                  <a:lnTo>
                    <a:pt x="337" y="33"/>
                  </a:lnTo>
                  <a:lnTo>
                    <a:pt x="335" y="33"/>
                  </a:lnTo>
                  <a:lnTo>
                    <a:pt x="335" y="31"/>
                  </a:lnTo>
                  <a:lnTo>
                    <a:pt x="335" y="31"/>
                  </a:lnTo>
                  <a:lnTo>
                    <a:pt x="335" y="29"/>
                  </a:lnTo>
                  <a:lnTo>
                    <a:pt x="333" y="29"/>
                  </a:lnTo>
                  <a:lnTo>
                    <a:pt x="333" y="29"/>
                  </a:lnTo>
                  <a:lnTo>
                    <a:pt x="326" y="27"/>
                  </a:lnTo>
                  <a:lnTo>
                    <a:pt x="326" y="27"/>
                  </a:lnTo>
                  <a:lnTo>
                    <a:pt x="320" y="23"/>
                  </a:lnTo>
                  <a:lnTo>
                    <a:pt x="314" y="23"/>
                  </a:lnTo>
                  <a:lnTo>
                    <a:pt x="312" y="21"/>
                  </a:lnTo>
                  <a:lnTo>
                    <a:pt x="312" y="21"/>
                  </a:lnTo>
                  <a:lnTo>
                    <a:pt x="312" y="23"/>
                  </a:lnTo>
                  <a:lnTo>
                    <a:pt x="314" y="25"/>
                  </a:lnTo>
                  <a:lnTo>
                    <a:pt x="314" y="25"/>
                  </a:lnTo>
                  <a:lnTo>
                    <a:pt x="312" y="25"/>
                  </a:lnTo>
                  <a:lnTo>
                    <a:pt x="307" y="21"/>
                  </a:lnTo>
                  <a:lnTo>
                    <a:pt x="303" y="21"/>
                  </a:lnTo>
                  <a:lnTo>
                    <a:pt x="299" y="21"/>
                  </a:lnTo>
                  <a:lnTo>
                    <a:pt x="297" y="21"/>
                  </a:lnTo>
                  <a:lnTo>
                    <a:pt x="295" y="21"/>
                  </a:lnTo>
                  <a:lnTo>
                    <a:pt x="293" y="21"/>
                  </a:lnTo>
                  <a:lnTo>
                    <a:pt x="295" y="15"/>
                  </a:lnTo>
                  <a:lnTo>
                    <a:pt x="293" y="15"/>
                  </a:lnTo>
                  <a:lnTo>
                    <a:pt x="287" y="8"/>
                  </a:lnTo>
                  <a:lnTo>
                    <a:pt x="286" y="6"/>
                  </a:lnTo>
                  <a:lnTo>
                    <a:pt x="282" y="6"/>
                  </a:lnTo>
                  <a:lnTo>
                    <a:pt x="278" y="6"/>
                  </a:lnTo>
                  <a:lnTo>
                    <a:pt x="278" y="6"/>
                  </a:lnTo>
                  <a:lnTo>
                    <a:pt x="272" y="14"/>
                  </a:lnTo>
                  <a:lnTo>
                    <a:pt x="270" y="15"/>
                  </a:lnTo>
                  <a:lnTo>
                    <a:pt x="270" y="15"/>
                  </a:lnTo>
                  <a:lnTo>
                    <a:pt x="266" y="17"/>
                  </a:lnTo>
                  <a:lnTo>
                    <a:pt x="263" y="17"/>
                  </a:lnTo>
                  <a:lnTo>
                    <a:pt x="261" y="17"/>
                  </a:lnTo>
                  <a:lnTo>
                    <a:pt x="257" y="17"/>
                  </a:lnTo>
                  <a:lnTo>
                    <a:pt x="257" y="19"/>
                  </a:lnTo>
                  <a:lnTo>
                    <a:pt x="255" y="21"/>
                  </a:lnTo>
                  <a:lnTo>
                    <a:pt x="255" y="23"/>
                  </a:lnTo>
                  <a:lnTo>
                    <a:pt x="253" y="23"/>
                  </a:lnTo>
                  <a:lnTo>
                    <a:pt x="249" y="23"/>
                  </a:lnTo>
                  <a:lnTo>
                    <a:pt x="247" y="29"/>
                  </a:lnTo>
                  <a:lnTo>
                    <a:pt x="251" y="33"/>
                  </a:lnTo>
                  <a:lnTo>
                    <a:pt x="255" y="36"/>
                  </a:lnTo>
                  <a:lnTo>
                    <a:pt x="249" y="42"/>
                  </a:lnTo>
                  <a:lnTo>
                    <a:pt x="246" y="46"/>
                  </a:lnTo>
                  <a:lnTo>
                    <a:pt x="240" y="46"/>
                  </a:lnTo>
                  <a:lnTo>
                    <a:pt x="236" y="50"/>
                  </a:lnTo>
                  <a:lnTo>
                    <a:pt x="230" y="52"/>
                  </a:lnTo>
                  <a:lnTo>
                    <a:pt x="226" y="54"/>
                  </a:lnTo>
                  <a:lnTo>
                    <a:pt x="225" y="54"/>
                  </a:lnTo>
                  <a:lnTo>
                    <a:pt x="223" y="55"/>
                  </a:lnTo>
                  <a:lnTo>
                    <a:pt x="221" y="55"/>
                  </a:lnTo>
                  <a:lnTo>
                    <a:pt x="219" y="55"/>
                  </a:lnTo>
                  <a:lnTo>
                    <a:pt x="217" y="55"/>
                  </a:lnTo>
                  <a:lnTo>
                    <a:pt x="215" y="57"/>
                  </a:lnTo>
                  <a:lnTo>
                    <a:pt x="215" y="57"/>
                  </a:lnTo>
                  <a:lnTo>
                    <a:pt x="215" y="57"/>
                  </a:lnTo>
                  <a:lnTo>
                    <a:pt x="215" y="59"/>
                  </a:lnTo>
                  <a:lnTo>
                    <a:pt x="215" y="59"/>
                  </a:lnTo>
                  <a:lnTo>
                    <a:pt x="215" y="59"/>
                  </a:lnTo>
                  <a:lnTo>
                    <a:pt x="215" y="61"/>
                  </a:lnTo>
                  <a:lnTo>
                    <a:pt x="213" y="61"/>
                  </a:lnTo>
                  <a:lnTo>
                    <a:pt x="211" y="61"/>
                  </a:lnTo>
                  <a:lnTo>
                    <a:pt x="211" y="61"/>
                  </a:lnTo>
                  <a:lnTo>
                    <a:pt x="211" y="63"/>
                  </a:lnTo>
                  <a:lnTo>
                    <a:pt x="206" y="65"/>
                  </a:lnTo>
                  <a:lnTo>
                    <a:pt x="204" y="65"/>
                  </a:lnTo>
                  <a:lnTo>
                    <a:pt x="198" y="71"/>
                  </a:lnTo>
                  <a:lnTo>
                    <a:pt x="196" y="71"/>
                  </a:lnTo>
                  <a:lnTo>
                    <a:pt x="194" y="71"/>
                  </a:lnTo>
                  <a:lnTo>
                    <a:pt x="194" y="71"/>
                  </a:lnTo>
                  <a:lnTo>
                    <a:pt x="192" y="71"/>
                  </a:lnTo>
                  <a:lnTo>
                    <a:pt x="190" y="73"/>
                  </a:lnTo>
                  <a:lnTo>
                    <a:pt x="188" y="73"/>
                  </a:lnTo>
                  <a:lnTo>
                    <a:pt x="186" y="73"/>
                  </a:lnTo>
                  <a:lnTo>
                    <a:pt x="183" y="73"/>
                  </a:lnTo>
                  <a:lnTo>
                    <a:pt x="173" y="73"/>
                  </a:lnTo>
                  <a:lnTo>
                    <a:pt x="164" y="78"/>
                  </a:lnTo>
                  <a:lnTo>
                    <a:pt x="160" y="80"/>
                  </a:lnTo>
                  <a:lnTo>
                    <a:pt x="156" y="84"/>
                  </a:lnTo>
                  <a:lnTo>
                    <a:pt x="152" y="88"/>
                  </a:lnTo>
                  <a:lnTo>
                    <a:pt x="148" y="90"/>
                  </a:lnTo>
                  <a:lnTo>
                    <a:pt x="145" y="92"/>
                  </a:lnTo>
                  <a:lnTo>
                    <a:pt x="145" y="95"/>
                  </a:lnTo>
                  <a:lnTo>
                    <a:pt x="145" y="99"/>
                  </a:lnTo>
                  <a:lnTo>
                    <a:pt x="143" y="103"/>
                  </a:lnTo>
                  <a:lnTo>
                    <a:pt x="139" y="105"/>
                  </a:lnTo>
                  <a:lnTo>
                    <a:pt x="131" y="111"/>
                  </a:lnTo>
                  <a:lnTo>
                    <a:pt x="129" y="114"/>
                  </a:lnTo>
                  <a:lnTo>
                    <a:pt x="127" y="116"/>
                  </a:lnTo>
                  <a:lnTo>
                    <a:pt x="124" y="116"/>
                  </a:lnTo>
                  <a:lnTo>
                    <a:pt x="122" y="118"/>
                  </a:lnTo>
                  <a:lnTo>
                    <a:pt x="122" y="118"/>
                  </a:lnTo>
                  <a:lnTo>
                    <a:pt x="118" y="122"/>
                  </a:lnTo>
                  <a:lnTo>
                    <a:pt x="118" y="124"/>
                  </a:lnTo>
                  <a:lnTo>
                    <a:pt x="116" y="124"/>
                  </a:lnTo>
                  <a:lnTo>
                    <a:pt x="114" y="126"/>
                  </a:lnTo>
                  <a:lnTo>
                    <a:pt x="112" y="126"/>
                  </a:lnTo>
                  <a:lnTo>
                    <a:pt x="112" y="126"/>
                  </a:lnTo>
                  <a:lnTo>
                    <a:pt x="112" y="124"/>
                  </a:lnTo>
                  <a:lnTo>
                    <a:pt x="110" y="124"/>
                  </a:lnTo>
                  <a:lnTo>
                    <a:pt x="110" y="124"/>
                  </a:lnTo>
                  <a:lnTo>
                    <a:pt x="110" y="124"/>
                  </a:lnTo>
                  <a:lnTo>
                    <a:pt x="105" y="128"/>
                  </a:lnTo>
                  <a:lnTo>
                    <a:pt x="101" y="130"/>
                  </a:lnTo>
                  <a:lnTo>
                    <a:pt x="99" y="133"/>
                  </a:lnTo>
                  <a:lnTo>
                    <a:pt x="97" y="135"/>
                  </a:lnTo>
                  <a:lnTo>
                    <a:pt x="97" y="137"/>
                  </a:lnTo>
                  <a:lnTo>
                    <a:pt x="99" y="139"/>
                  </a:lnTo>
                  <a:lnTo>
                    <a:pt x="103" y="139"/>
                  </a:lnTo>
                  <a:lnTo>
                    <a:pt x="103" y="139"/>
                  </a:lnTo>
                  <a:lnTo>
                    <a:pt x="103" y="141"/>
                  </a:lnTo>
                  <a:lnTo>
                    <a:pt x="103" y="145"/>
                  </a:lnTo>
                  <a:lnTo>
                    <a:pt x="103" y="145"/>
                  </a:lnTo>
                  <a:lnTo>
                    <a:pt x="103" y="145"/>
                  </a:lnTo>
                  <a:lnTo>
                    <a:pt x="103" y="147"/>
                  </a:lnTo>
                  <a:lnTo>
                    <a:pt x="101" y="151"/>
                  </a:lnTo>
                  <a:lnTo>
                    <a:pt x="97" y="152"/>
                  </a:lnTo>
                  <a:lnTo>
                    <a:pt x="95" y="154"/>
                  </a:lnTo>
                  <a:lnTo>
                    <a:pt x="91" y="154"/>
                  </a:lnTo>
                  <a:lnTo>
                    <a:pt x="91" y="154"/>
                  </a:lnTo>
                  <a:lnTo>
                    <a:pt x="89" y="158"/>
                  </a:lnTo>
                  <a:lnTo>
                    <a:pt x="87" y="158"/>
                  </a:lnTo>
                  <a:lnTo>
                    <a:pt x="82" y="160"/>
                  </a:lnTo>
                  <a:lnTo>
                    <a:pt x="80" y="162"/>
                  </a:lnTo>
                  <a:lnTo>
                    <a:pt x="78" y="162"/>
                  </a:lnTo>
                  <a:lnTo>
                    <a:pt x="78" y="162"/>
                  </a:lnTo>
                  <a:lnTo>
                    <a:pt x="76" y="158"/>
                  </a:lnTo>
                  <a:lnTo>
                    <a:pt x="76" y="158"/>
                  </a:lnTo>
                  <a:lnTo>
                    <a:pt x="74" y="160"/>
                  </a:lnTo>
                  <a:lnTo>
                    <a:pt x="74" y="162"/>
                  </a:lnTo>
                  <a:lnTo>
                    <a:pt x="72" y="164"/>
                  </a:lnTo>
                  <a:lnTo>
                    <a:pt x="70" y="164"/>
                  </a:lnTo>
                  <a:lnTo>
                    <a:pt x="70" y="164"/>
                  </a:lnTo>
                  <a:lnTo>
                    <a:pt x="70" y="162"/>
                  </a:lnTo>
                  <a:lnTo>
                    <a:pt x="68" y="162"/>
                  </a:lnTo>
                  <a:lnTo>
                    <a:pt x="68" y="164"/>
                  </a:lnTo>
                  <a:lnTo>
                    <a:pt x="66" y="166"/>
                  </a:lnTo>
                  <a:lnTo>
                    <a:pt x="65" y="166"/>
                  </a:lnTo>
                  <a:lnTo>
                    <a:pt x="65" y="164"/>
                  </a:lnTo>
                  <a:lnTo>
                    <a:pt x="63" y="160"/>
                  </a:lnTo>
                  <a:lnTo>
                    <a:pt x="63" y="158"/>
                  </a:lnTo>
                  <a:lnTo>
                    <a:pt x="61" y="158"/>
                  </a:lnTo>
                  <a:lnTo>
                    <a:pt x="61" y="160"/>
                  </a:lnTo>
                  <a:lnTo>
                    <a:pt x="61" y="160"/>
                  </a:lnTo>
                  <a:lnTo>
                    <a:pt x="61" y="162"/>
                  </a:lnTo>
                  <a:lnTo>
                    <a:pt x="61" y="162"/>
                  </a:lnTo>
                  <a:lnTo>
                    <a:pt x="61" y="164"/>
                  </a:lnTo>
                  <a:lnTo>
                    <a:pt x="59" y="164"/>
                  </a:lnTo>
                  <a:lnTo>
                    <a:pt x="59" y="164"/>
                  </a:lnTo>
                  <a:lnTo>
                    <a:pt x="51" y="164"/>
                  </a:lnTo>
                  <a:lnTo>
                    <a:pt x="49" y="164"/>
                  </a:lnTo>
                  <a:lnTo>
                    <a:pt x="45" y="166"/>
                  </a:lnTo>
                  <a:lnTo>
                    <a:pt x="40" y="171"/>
                  </a:lnTo>
                  <a:lnTo>
                    <a:pt x="36" y="171"/>
                  </a:lnTo>
                  <a:lnTo>
                    <a:pt x="34" y="171"/>
                  </a:lnTo>
                  <a:lnTo>
                    <a:pt x="30" y="171"/>
                  </a:lnTo>
                  <a:lnTo>
                    <a:pt x="26" y="171"/>
                  </a:lnTo>
                  <a:lnTo>
                    <a:pt x="24" y="171"/>
                  </a:lnTo>
                  <a:lnTo>
                    <a:pt x="21" y="170"/>
                  </a:lnTo>
                  <a:lnTo>
                    <a:pt x="19" y="168"/>
                  </a:lnTo>
                  <a:lnTo>
                    <a:pt x="5" y="170"/>
                  </a:lnTo>
                  <a:lnTo>
                    <a:pt x="4" y="173"/>
                  </a:lnTo>
                  <a:lnTo>
                    <a:pt x="0" y="179"/>
                  </a:lnTo>
                  <a:lnTo>
                    <a:pt x="0" y="183"/>
                  </a:lnTo>
                  <a:lnTo>
                    <a:pt x="2" y="190"/>
                  </a:lnTo>
                  <a:lnTo>
                    <a:pt x="2" y="192"/>
                  </a:lnTo>
                  <a:lnTo>
                    <a:pt x="5" y="194"/>
                  </a:lnTo>
                  <a:lnTo>
                    <a:pt x="5" y="196"/>
                  </a:lnTo>
                  <a:lnTo>
                    <a:pt x="7" y="198"/>
                  </a:lnTo>
                  <a:lnTo>
                    <a:pt x="9" y="198"/>
                  </a:lnTo>
                  <a:lnTo>
                    <a:pt x="11" y="198"/>
                  </a:lnTo>
                  <a:lnTo>
                    <a:pt x="13" y="200"/>
                  </a:lnTo>
                  <a:lnTo>
                    <a:pt x="13" y="200"/>
                  </a:lnTo>
                  <a:lnTo>
                    <a:pt x="15" y="202"/>
                  </a:lnTo>
                  <a:lnTo>
                    <a:pt x="15" y="204"/>
                  </a:lnTo>
                  <a:lnTo>
                    <a:pt x="15" y="204"/>
                  </a:lnTo>
                  <a:lnTo>
                    <a:pt x="19" y="204"/>
                  </a:lnTo>
                  <a:lnTo>
                    <a:pt x="26" y="202"/>
                  </a:lnTo>
                  <a:lnTo>
                    <a:pt x="28" y="202"/>
                  </a:lnTo>
                  <a:lnTo>
                    <a:pt x="32" y="202"/>
                  </a:lnTo>
                  <a:lnTo>
                    <a:pt x="32" y="202"/>
                  </a:lnTo>
                  <a:lnTo>
                    <a:pt x="36" y="198"/>
                  </a:lnTo>
                  <a:lnTo>
                    <a:pt x="36" y="198"/>
                  </a:lnTo>
                  <a:lnTo>
                    <a:pt x="38" y="202"/>
                  </a:lnTo>
                  <a:lnTo>
                    <a:pt x="47" y="215"/>
                  </a:lnTo>
                  <a:lnTo>
                    <a:pt x="47" y="217"/>
                  </a:lnTo>
                  <a:lnTo>
                    <a:pt x="45" y="219"/>
                  </a:lnTo>
                  <a:lnTo>
                    <a:pt x="44" y="221"/>
                  </a:lnTo>
                  <a:lnTo>
                    <a:pt x="42" y="223"/>
                  </a:lnTo>
                  <a:lnTo>
                    <a:pt x="42" y="225"/>
                  </a:lnTo>
                  <a:lnTo>
                    <a:pt x="42" y="227"/>
                  </a:lnTo>
                  <a:lnTo>
                    <a:pt x="42" y="227"/>
                  </a:lnTo>
                  <a:lnTo>
                    <a:pt x="42" y="228"/>
                  </a:lnTo>
                  <a:lnTo>
                    <a:pt x="40" y="228"/>
                  </a:lnTo>
                  <a:lnTo>
                    <a:pt x="40" y="228"/>
                  </a:lnTo>
                  <a:lnTo>
                    <a:pt x="40" y="230"/>
                  </a:lnTo>
                  <a:lnTo>
                    <a:pt x="38" y="230"/>
                  </a:lnTo>
                  <a:lnTo>
                    <a:pt x="38" y="232"/>
                  </a:lnTo>
                  <a:lnTo>
                    <a:pt x="38" y="234"/>
                  </a:lnTo>
                  <a:lnTo>
                    <a:pt x="38" y="236"/>
                  </a:lnTo>
                  <a:lnTo>
                    <a:pt x="38" y="240"/>
                  </a:lnTo>
                  <a:lnTo>
                    <a:pt x="44" y="246"/>
                  </a:lnTo>
                  <a:lnTo>
                    <a:pt x="45" y="248"/>
                  </a:lnTo>
                  <a:lnTo>
                    <a:pt x="45" y="248"/>
                  </a:lnTo>
                  <a:lnTo>
                    <a:pt x="47" y="253"/>
                  </a:lnTo>
                  <a:lnTo>
                    <a:pt x="45" y="255"/>
                  </a:lnTo>
                  <a:lnTo>
                    <a:pt x="49" y="255"/>
                  </a:lnTo>
                  <a:lnTo>
                    <a:pt x="59" y="257"/>
                  </a:lnTo>
                  <a:lnTo>
                    <a:pt x="63" y="255"/>
                  </a:lnTo>
                  <a:lnTo>
                    <a:pt x="65" y="255"/>
                  </a:lnTo>
                  <a:lnTo>
                    <a:pt x="68" y="255"/>
                  </a:lnTo>
                  <a:lnTo>
                    <a:pt x="68" y="255"/>
                  </a:lnTo>
                  <a:lnTo>
                    <a:pt x="72" y="253"/>
                  </a:lnTo>
                  <a:lnTo>
                    <a:pt x="84" y="249"/>
                  </a:lnTo>
                  <a:lnTo>
                    <a:pt x="89" y="248"/>
                  </a:lnTo>
                  <a:lnTo>
                    <a:pt x="95" y="248"/>
                  </a:lnTo>
                  <a:lnTo>
                    <a:pt x="97" y="246"/>
                  </a:lnTo>
                  <a:lnTo>
                    <a:pt x="99" y="244"/>
                  </a:lnTo>
                  <a:lnTo>
                    <a:pt x="99" y="244"/>
                  </a:lnTo>
                  <a:lnTo>
                    <a:pt x="101" y="242"/>
                  </a:lnTo>
                  <a:lnTo>
                    <a:pt x="103" y="240"/>
                  </a:lnTo>
                  <a:lnTo>
                    <a:pt x="106" y="242"/>
                  </a:lnTo>
                  <a:lnTo>
                    <a:pt x="114" y="242"/>
                  </a:lnTo>
                  <a:lnTo>
                    <a:pt x="122" y="246"/>
                  </a:lnTo>
                  <a:lnTo>
                    <a:pt x="125" y="248"/>
                  </a:lnTo>
                  <a:lnTo>
                    <a:pt x="125" y="248"/>
                  </a:lnTo>
                  <a:lnTo>
                    <a:pt x="125" y="248"/>
                  </a:lnTo>
                  <a:lnTo>
                    <a:pt x="125" y="249"/>
                  </a:lnTo>
                  <a:lnTo>
                    <a:pt x="125" y="249"/>
                  </a:lnTo>
                  <a:lnTo>
                    <a:pt x="127" y="251"/>
                  </a:lnTo>
                  <a:lnTo>
                    <a:pt x="129" y="251"/>
                  </a:lnTo>
                  <a:lnTo>
                    <a:pt x="133" y="253"/>
                  </a:lnTo>
                  <a:lnTo>
                    <a:pt x="165" y="249"/>
                  </a:lnTo>
                  <a:lnTo>
                    <a:pt x="167" y="249"/>
                  </a:lnTo>
                  <a:lnTo>
                    <a:pt x="169" y="249"/>
                  </a:lnTo>
                  <a:lnTo>
                    <a:pt x="171" y="251"/>
                  </a:lnTo>
                  <a:lnTo>
                    <a:pt x="173" y="253"/>
                  </a:lnTo>
                  <a:lnTo>
                    <a:pt x="175" y="253"/>
                  </a:lnTo>
                  <a:lnTo>
                    <a:pt x="179" y="251"/>
                  </a:lnTo>
                  <a:lnTo>
                    <a:pt x="181" y="251"/>
                  </a:lnTo>
                  <a:lnTo>
                    <a:pt x="186" y="249"/>
                  </a:lnTo>
                  <a:lnTo>
                    <a:pt x="190" y="249"/>
                  </a:lnTo>
                  <a:lnTo>
                    <a:pt x="196" y="248"/>
                  </a:lnTo>
                  <a:lnTo>
                    <a:pt x="198" y="246"/>
                  </a:lnTo>
                  <a:lnTo>
                    <a:pt x="200" y="244"/>
                  </a:lnTo>
                  <a:lnTo>
                    <a:pt x="202" y="242"/>
                  </a:lnTo>
                  <a:lnTo>
                    <a:pt x="202" y="242"/>
                  </a:lnTo>
                  <a:lnTo>
                    <a:pt x="206" y="240"/>
                  </a:lnTo>
                  <a:lnTo>
                    <a:pt x="207" y="238"/>
                  </a:lnTo>
                  <a:lnTo>
                    <a:pt x="207" y="236"/>
                  </a:lnTo>
                  <a:lnTo>
                    <a:pt x="207" y="236"/>
                  </a:lnTo>
                  <a:lnTo>
                    <a:pt x="207" y="232"/>
                  </a:lnTo>
                  <a:lnTo>
                    <a:pt x="207" y="230"/>
                  </a:lnTo>
                  <a:lnTo>
                    <a:pt x="207" y="228"/>
                  </a:lnTo>
                  <a:lnTo>
                    <a:pt x="209" y="227"/>
                  </a:lnTo>
                  <a:lnTo>
                    <a:pt x="209" y="227"/>
                  </a:lnTo>
                  <a:lnTo>
                    <a:pt x="219" y="215"/>
                  </a:lnTo>
                  <a:lnTo>
                    <a:pt x="223" y="213"/>
                  </a:lnTo>
                  <a:lnTo>
                    <a:pt x="223" y="213"/>
                  </a:lnTo>
                  <a:lnTo>
                    <a:pt x="226" y="209"/>
                  </a:lnTo>
                  <a:lnTo>
                    <a:pt x="230" y="208"/>
                  </a:lnTo>
                  <a:lnTo>
                    <a:pt x="234" y="204"/>
                  </a:lnTo>
                  <a:lnTo>
                    <a:pt x="246" y="192"/>
                  </a:lnTo>
                  <a:lnTo>
                    <a:pt x="246" y="192"/>
                  </a:lnTo>
                  <a:lnTo>
                    <a:pt x="247" y="190"/>
                  </a:lnTo>
                  <a:lnTo>
                    <a:pt x="247" y="190"/>
                  </a:lnTo>
                  <a:lnTo>
                    <a:pt x="246" y="189"/>
                  </a:lnTo>
                  <a:lnTo>
                    <a:pt x="246" y="189"/>
                  </a:lnTo>
                  <a:lnTo>
                    <a:pt x="244" y="187"/>
                  </a:lnTo>
                  <a:lnTo>
                    <a:pt x="244" y="185"/>
                  </a:lnTo>
                  <a:lnTo>
                    <a:pt x="244" y="185"/>
                  </a:lnTo>
                  <a:lnTo>
                    <a:pt x="244" y="183"/>
                  </a:lnTo>
                  <a:lnTo>
                    <a:pt x="246" y="181"/>
                  </a:lnTo>
                  <a:lnTo>
                    <a:pt x="247" y="181"/>
                  </a:lnTo>
                  <a:lnTo>
                    <a:pt x="247" y="181"/>
                  </a:lnTo>
                  <a:lnTo>
                    <a:pt x="247" y="181"/>
                  </a:lnTo>
                  <a:lnTo>
                    <a:pt x="249" y="181"/>
                  </a:lnTo>
                  <a:lnTo>
                    <a:pt x="249" y="183"/>
                  </a:lnTo>
                  <a:lnTo>
                    <a:pt x="249" y="183"/>
                  </a:lnTo>
                  <a:lnTo>
                    <a:pt x="251" y="185"/>
                  </a:lnTo>
                  <a:lnTo>
                    <a:pt x="253" y="185"/>
                  </a:lnTo>
                  <a:lnTo>
                    <a:pt x="255" y="187"/>
                  </a:lnTo>
                  <a:lnTo>
                    <a:pt x="265" y="183"/>
                  </a:lnTo>
                  <a:lnTo>
                    <a:pt x="266" y="187"/>
                  </a:lnTo>
                  <a:lnTo>
                    <a:pt x="270" y="185"/>
                  </a:lnTo>
                  <a:lnTo>
                    <a:pt x="270" y="185"/>
                  </a:lnTo>
                  <a:lnTo>
                    <a:pt x="272" y="185"/>
                  </a:lnTo>
                  <a:lnTo>
                    <a:pt x="274" y="185"/>
                  </a:lnTo>
                  <a:lnTo>
                    <a:pt x="276" y="183"/>
                  </a:lnTo>
                  <a:lnTo>
                    <a:pt x="280" y="181"/>
                  </a:lnTo>
                  <a:lnTo>
                    <a:pt x="284" y="179"/>
                  </a:lnTo>
                  <a:lnTo>
                    <a:pt x="289" y="177"/>
                  </a:lnTo>
                  <a:lnTo>
                    <a:pt x="297" y="175"/>
                  </a:lnTo>
                  <a:lnTo>
                    <a:pt x="297" y="175"/>
                  </a:lnTo>
                  <a:lnTo>
                    <a:pt x="299" y="173"/>
                  </a:lnTo>
                  <a:lnTo>
                    <a:pt x="307" y="170"/>
                  </a:lnTo>
                  <a:lnTo>
                    <a:pt x="310" y="168"/>
                  </a:lnTo>
                  <a:lnTo>
                    <a:pt x="339" y="158"/>
                  </a:lnTo>
                  <a:lnTo>
                    <a:pt x="343" y="154"/>
                  </a:lnTo>
                  <a:lnTo>
                    <a:pt x="345" y="154"/>
                  </a:lnTo>
                  <a:lnTo>
                    <a:pt x="345" y="154"/>
                  </a:lnTo>
                  <a:lnTo>
                    <a:pt x="347" y="156"/>
                  </a:lnTo>
                  <a:lnTo>
                    <a:pt x="348" y="156"/>
                  </a:lnTo>
                  <a:lnTo>
                    <a:pt x="350" y="156"/>
                  </a:lnTo>
                  <a:lnTo>
                    <a:pt x="350" y="158"/>
                  </a:lnTo>
                  <a:lnTo>
                    <a:pt x="354" y="158"/>
                  </a:lnTo>
                  <a:lnTo>
                    <a:pt x="362" y="156"/>
                  </a:lnTo>
                  <a:lnTo>
                    <a:pt x="366" y="154"/>
                  </a:lnTo>
                  <a:lnTo>
                    <a:pt x="367" y="152"/>
                  </a:lnTo>
                  <a:lnTo>
                    <a:pt x="369" y="151"/>
                  </a:lnTo>
                  <a:lnTo>
                    <a:pt x="377" y="147"/>
                  </a:lnTo>
                  <a:lnTo>
                    <a:pt x="383" y="145"/>
                  </a:lnTo>
                  <a:lnTo>
                    <a:pt x="406" y="145"/>
                  </a:lnTo>
                  <a:lnTo>
                    <a:pt x="406" y="145"/>
                  </a:lnTo>
                  <a:lnTo>
                    <a:pt x="406" y="145"/>
                  </a:lnTo>
                  <a:lnTo>
                    <a:pt x="406" y="147"/>
                  </a:lnTo>
                  <a:lnTo>
                    <a:pt x="404" y="149"/>
                  </a:lnTo>
                  <a:lnTo>
                    <a:pt x="402" y="152"/>
                  </a:lnTo>
                  <a:lnTo>
                    <a:pt x="398" y="158"/>
                  </a:lnTo>
                  <a:lnTo>
                    <a:pt x="390" y="168"/>
                  </a:lnTo>
                  <a:lnTo>
                    <a:pt x="388" y="171"/>
                  </a:lnTo>
                  <a:lnTo>
                    <a:pt x="387" y="173"/>
                  </a:lnTo>
                  <a:lnTo>
                    <a:pt x="388" y="175"/>
                  </a:lnTo>
                  <a:lnTo>
                    <a:pt x="388" y="175"/>
                  </a:lnTo>
                  <a:lnTo>
                    <a:pt x="388" y="181"/>
                  </a:lnTo>
                  <a:lnTo>
                    <a:pt x="390" y="183"/>
                  </a:lnTo>
                  <a:lnTo>
                    <a:pt x="390" y="183"/>
                  </a:lnTo>
                  <a:lnTo>
                    <a:pt x="390" y="185"/>
                  </a:lnTo>
                  <a:lnTo>
                    <a:pt x="392" y="185"/>
                  </a:lnTo>
                  <a:lnTo>
                    <a:pt x="392" y="185"/>
                  </a:lnTo>
                  <a:lnTo>
                    <a:pt x="392" y="187"/>
                  </a:lnTo>
                  <a:lnTo>
                    <a:pt x="394" y="187"/>
                  </a:lnTo>
                  <a:lnTo>
                    <a:pt x="396" y="189"/>
                  </a:lnTo>
                  <a:lnTo>
                    <a:pt x="396" y="189"/>
                  </a:lnTo>
                  <a:lnTo>
                    <a:pt x="398" y="190"/>
                  </a:lnTo>
                  <a:lnTo>
                    <a:pt x="398" y="194"/>
                  </a:lnTo>
                  <a:lnTo>
                    <a:pt x="398" y="196"/>
                  </a:lnTo>
                  <a:lnTo>
                    <a:pt x="396" y="200"/>
                  </a:lnTo>
                  <a:lnTo>
                    <a:pt x="396" y="200"/>
                  </a:lnTo>
                  <a:lnTo>
                    <a:pt x="396" y="200"/>
                  </a:lnTo>
                  <a:lnTo>
                    <a:pt x="398" y="202"/>
                  </a:lnTo>
                  <a:lnTo>
                    <a:pt x="398" y="202"/>
                  </a:lnTo>
                  <a:lnTo>
                    <a:pt x="398" y="204"/>
                  </a:lnTo>
                  <a:lnTo>
                    <a:pt x="398" y="206"/>
                  </a:lnTo>
                  <a:lnTo>
                    <a:pt x="398" y="206"/>
                  </a:lnTo>
                  <a:lnTo>
                    <a:pt x="398" y="206"/>
                  </a:lnTo>
                  <a:lnTo>
                    <a:pt x="398" y="206"/>
                  </a:lnTo>
                  <a:lnTo>
                    <a:pt x="402" y="202"/>
                  </a:lnTo>
                  <a:lnTo>
                    <a:pt x="402" y="202"/>
                  </a:lnTo>
                  <a:lnTo>
                    <a:pt x="402" y="202"/>
                  </a:lnTo>
                  <a:lnTo>
                    <a:pt x="404" y="202"/>
                  </a:lnTo>
                  <a:lnTo>
                    <a:pt x="404" y="202"/>
                  </a:lnTo>
                  <a:lnTo>
                    <a:pt x="404" y="200"/>
                  </a:lnTo>
                  <a:lnTo>
                    <a:pt x="406" y="200"/>
                  </a:lnTo>
                  <a:lnTo>
                    <a:pt x="406" y="202"/>
                  </a:lnTo>
                  <a:lnTo>
                    <a:pt x="408" y="202"/>
                  </a:lnTo>
                  <a:lnTo>
                    <a:pt x="408" y="204"/>
                  </a:lnTo>
                  <a:lnTo>
                    <a:pt x="409" y="206"/>
                  </a:lnTo>
                  <a:lnTo>
                    <a:pt x="409" y="206"/>
                  </a:lnTo>
                  <a:lnTo>
                    <a:pt x="409" y="209"/>
                  </a:lnTo>
                  <a:lnTo>
                    <a:pt x="409" y="209"/>
                  </a:lnTo>
                  <a:lnTo>
                    <a:pt x="409" y="209"/>
                  </a:lnTo>
                  <a:lnTo>
                    <a:pt x="408" y="209"/>
                  </a:lnTo>
                  <a:lnTo>
                    <a:pt x="408" y="209"/>
                  </a:lnTo>
                  <a:lnTo>
                    <a:pt x="406" y="211"/>
                  </a:lnTo>
                  <a:lnTo>
                    <a:pt x="406" y="211"/>
                  </a:lnTo>
                  <a:lnTo>
                    <a:pt x="406" y="211"/>
                  </a:lnTo>
                  <a:lnTo>
                    <a:pt x="406" y="213"/>
                  </a:lnTo>
                  <a:lnTo>
                    <a:pt x="406" y="213"/>
                  </a:lnTo>
                  <a:lnTo>
                    <a:pt x="404" y="215"/>
                  </a:lnTo>
                  <a:lnTo>
                    <a:pt x="404" y="215"/>
                  </a:lnTo>
                  <a:lnTo>
                    <a:pt x="404" y="215"/>
                  </a:lnTo>
                  <a:lnTo>
                    <a:pt x="404" y="215"/>
                  </a:lnTo>
                  <a:lnTo>
                    <a:pt x="402" y="215"/>
                  </a:lnTo>
                  <a:lnTo>
                    <a:pt x="402" y="215"/>
                  </a:lnTo>
                  <a:lnTo>
                    <a:pt x="400" y="217"/>
                  </a:lnTo>
                  <a:lnTo>
                    <a:pt x="400" y="217"/>
                  </a:lnTo>
                  <a:lnTo>
                    <a:pt x="400" y="219"/>
                  </a:lnTo>
                  <a:lnTo>
                    <a:pt x="400" y="219"/>
                  </a:lnTo>
                  <a:lnTo>
                    <a:pt x="400" y="219"/>
                  </a:lnTo>
                  <a:lnTo>
                    <a:pt x="396" y="217"/>
                  </a:lnTo>
                  <a:lnTo>
                    <a:pt x="396" y="217"/>
                  </a:lnTo>
                  <a:lnTo>
                    <a:pt x="396" y="217"/>
                  </a:lnTo>
                  <a:lnTo>
                    <a:pt x="394" y="219"/>
                  </a:lnTo>
                  <a:lnTo>
                    <a:pt x="394" y="219"/>
                  </a:lnTo>
                  <a:lnTo>
                    <a:pt x="390" y="217"/>
                  </a:lnTo>
                  <a:lnTo>
                    <a:pt x="390" y="217"/>
                  </a:lnTo>
                  <a:lnTo>
                    <a:pt x="375" y="225"/>
                  </a:lnTo>
                  <a:lnTo>
                    <a:pt x="373" y="223"/>
                  </a:lnTo>
                  <a:lnTo>
                    <a:pt x="371" y="223"/>
                  </a:lnTo>
                  <a:lnTo>
                    <a:pt x="369" y="221"/>
                  </a:lnTo>
                  <a:lnTo>
                    <a:pt x="367" y="219"/>
                  </a:lnTo>
                  <a:lnTo>
                    <a:pt x="366" y="219"/>
                  </a:lnTo>
                  <a:lnTo>
                    <a:pt x="366" y="219"/>
                  </a:lnTo>
                  <a:lnTo>
                    <a:pt x="364" y="221"/>
                  </a:lnTo>
                  <a:lnTo>
                    <a:pt x="362" y="221"/>
                  </a:lnTo>
                  <a:lnTo>
                    <a:pt x="362" y="221"/>
                  </a:lnTo>
                  <a:lnTo>
                    <a:pt x="360" y="223"/>
                  </a:lnTo>
                  <a:lnTo>
                    <a:pt x="360" y="223"/>
                  </a:lnTo>
                  <a:lnTo>
                    <a:pt x="360" y="227"/>
                  </a:lnTo>
                  <a:lnTo>
                    <a:pt x="360" y="227"/>
                  </a:lnTo>
                  <a:lnTo>
                    <a:pt x="358" y="228"/>
                  </a:lnTo>
                  <a:lnTo>
                    <a:pt x="358" y="230"/>
                  </a:lnTo>
                  <a:lnTo>
                    <a:pt x="354" y="232"/>
                  </a:lnTo>
                  <a:lnTo>
                    <a:pt x="352" y="234"/>
                  </a:lnTo>
                  <a:lnTo>
                    <a:pt x="352" y="234"/>
                  </a:lnTo>
                  <a:lnTo>
                    <a:pt x="350" y="234"/>
                  </a:lnTo>
                  <a:lnTo>
                    <a:pt x="348" y="236"/>
                  </a:lnTo>
                  <a:lnTo>
                    <a:pt x="345" y="240"/>
                  </a:lnTo>
                  <a:lnTo>
                    <a:pt x="339" y="242"/>
                  </a:lnTo>
                  <a:lnTo>
                    <a:pt x="339" y="244"/>
                  </a:lnTo>
                  <a:lnTo>
                    <a:pt x="337" y="244"/>
                  </a:lnTo>
                  <a:lnTo>
                    <a:pt x="335" y="244"/>
                  </a:lnTo>
                  <a:lnTo>
                    <a:pt x="333" y="242"/>
                  </a:lnTo>
                  <a:lnTo>
                    <a:pt x="333" y="244"/>
                  </a:lnTo>
                  <a:lnTo>
                    <a:pt x="333" y="244"/>
                  </a:lnTo>
                  <a:lnTo>
                    <a:pt x="331" y="244"/>
                  </a:lnTo>
                  <a:lnTo>
                    <a:pt x="333" y="248"/>
                  </a:lnTo>
                  <a:lnTo>
                    <a:pt x="333" y="248"/>
                  </a:lnTo>
                  <a:lnTo>
                    <a:pt x="333" y="248"/>
                  </a:lnTo>
                  <a:lnTo>
                    <a:pt x="335" y="249"/>
                  </a:lnTo>
                  <a:lnTo>
                    <a:pt x="337" y="249"/>
                  </a:lnTo>
                  <a:lnTo>
                    <a:pt x="337" y="251"/>
                  </a:lnTo>
                  <a:lnTo>
                    <a:pt x="337" y="253"/>
                  </a:lnTo>
                  <a:lnTo>
                    <a:pt x="337" y="257"/>
                  </a:lnTo>
                  <a:lnTo>
                    <a:pt x="337" y="259"/>
                  </a:lnTo>
                  <a:lnTo>
                    <a:pt x="337" y="259"/>
                  </a:lnTo>
                  <a:lnTo>
                    <a:pt x="335" y="259"/>
                  </a:lnTo>
                  <a:lnTo>
                    <a:pt x="335" y="261"/>
                  </a:lnTo>
                  <a:lnTo>
                    <a:pt x="335" y="261"/>
                  </a:lnTo>
                  <a:lnTo>
                    <a:pt x="335" y="261"/>
                  </a:lnTo>
                  <a:lnTo>
                    <a:pt x="333" y="263"/>
                  </a:lnTo>
                  <a:lnTo>
                    <a:pt x="333" y="265"/>
                  </a:lnTo>
                  <a:lnTo>
                    <a:pt x="335" y="265"/>
                  </a:lnTo>
                  <a:lnTo>
                    <a:pt x="335" y="267"/>
                  </a:lnTo>
                  <a:lnTo>
                    <a:pt x="337" y="268"/>
                  </a:lnTo>
                  <a:lnTo>
                    <a:pt x="337" y="268"/>
                  </a:lnTo>
                  <a:lnTo>
                    <a:pt x="337" y="268"/>
                  </a:lnTo>
                  <a:lnTo>
                    <a:pt x="337" y="272"/>
                  </a:lnTo>
                  <a:lnTo>
                    <a:pt x="337" y="274"/>
                  </a:lnTo>
                  <a:lnTo>
                    <a:pt x="337" y="276"/>
                  </a:lnTo>
                  <a:lnTo>
                    <a:pt x="337" y="276"/>
                  </a:lnTo>
                  <a:lnTo>
                    <a:pt x="339" y="280"/>
                  </a:lnTo>
                  <a:lnTo>
                    <a:pt x="339" y="284"/>
                  </a:lnTo>
                  <a:lnTo>
                    <a:pt x="339" y="284"/>
                  </a:lnTo>
                  <a:lnTo>
                    <a:pt x="339" y="284"/>
                  </a:lnTo>
                  <a:lnTo>
                    <a:pt x="341" y="284"/>
                  </a:lnTo>
                  <a:lnTo>
                    <a:pt x="345" y="282"/>
                  </a:lnTo>
                  <a:lnTo>
                    <a:pt x="352" y="280"/>
                  </a:lnTo>
                  <a:lnTo>
                    <a:pt x="354" y="278"/>
                  </a:lnTo>
                  <a:lnTo>
                    <a:pt x="356" y="274"/>
                  </a:lnTo>
                  <a:lnTo>
                    <a:pt x="358" y="270"/>
                  </a:lnTo>
                  <a:lnTo>
                    <a:pt x="362" y="267"/>
                  </a:lnTo>
                  <a:lnTo>
                    <a:pt x="366" y="267"/>
                  </a:lnTo>
                  <a:lnTo>
                    <a:pt x="367" y="267"/>
                  </a:lnTo>
                  <a:lnTo>
                    <a:pt x="369" y="267"/>
                  </a:lnTo>
                  <a:lnTo>
                    <a:pt x="369" y="267"/>
                  </a:lnTo>
                  <a:lnTo>
                    <a:pt x="371" y="265"/>
                  </a:lnTo>
                  <a:lnTo>
                    <a:pt x="373" y="261"/>
                  </a:lnTo>
                  <a:lnTo>
                    <a:pt x="373" y="261"/>
                  </a:lnTo>
                  <a:lnTo>
                    <a:pt x="375" y="259"/>
                  </a:lnTo>
                  <a:lnTo>
                    <a:pt x="379" y="259"/>
                  </a:lnTo>
                  <a:lnTo>
                    <a:pt x="381" y="259"/>
                  </a:lnTo>
                  <a:lnTo>
                    <a:pt x="381" y="257"/>
                  </a:lnTo>
                  <a:lnTo>
                    <a:pt x="383" y="253"/>
                  </a:lnTo>
                  <a:lnTo>
                    <a:pt x="388" y="248"/>
                  </a:lnTo>
                  <a:lnTo>
                    <a:pt x="390" y="248"/>
                  </a:lnTo>
                  <a:lnTo>
                    <a:pt x="396" y="246"/>
                  </a:lnTo>
                  <a:lnTo>
                    <a:pt x="398" y="246"/>
                  </a:lnTo>
                  <a:lnTo>
                    <a:pt x="400" y="242"/>
                  </a:lnTo>
                  <a:lnTo>
                    <a:pt x="402" y="240"/>
                  </a:lnTo>
                  <a:lnTo>
                    <a:pt x="406" y="232"/>
                  </a:lnTo>
                  <a:lnTo>
                    <a:pt x="409" y="228"/>
                  </a:lnTo>
                  <a:lnTo>
                    <a:pt x="415" y="225"/>
                  </a:lnTo>
                  <a:lnTo>
                    <a:pt x="421" y="221"/>
                  </a:lnTo>
                  <a:lnTo>
                    <a:pt x="446" y="217"/>
                  </a:lnTo>
                  <a:lnTo>
                    <a:pt x="451" y="217"/>
                  </a:lnTo>
                  <a:lnTo>
                    <a:pt x="453" y="217"/>
                  </a:lnTo>
                  <a:lnTo>
                    <a:pt x="455" y="217"/>
                  </a:lnTo>
                  <a:lnTo>
                    <a:pt x="457" y="217"/>
                  </a:lnTo>
                  <a:lnTo>
                    <a:pt x="459" y="215"/>
                  </a:lnTo>
                  <a:lnTo>
                    <a:pt x="461" y="213"/>
                  </a:lnTo>
                  <a:lnTo>
                    <a:pt x="461" y="211"/>
                  </a:lnTo>
                  <a:lnTo>
                    <a:pt x="463" y="211"/>
                  </a:lnTo>
                  <a:lnTo>
                    <a:pt x="465" y="211"/>
                  </a:lnTo>
                  <a:lnTo>
                    <a:pt x="465" y="211"/>
                  </a:lnTo>
                  <a:lnTo>
                    <a:pt x="467" y="213"/>
                  </a:lnTo>
                  <a:lnTo>
                    <a:pt x="467" y="213"/>
                  </a:lnTo>
                  <a:lnTo>
                    <a:pt x="468" y="213"/>
                  </a:lnTo>
                  <a:lnTo>
                    <a:pt x="468" y="211"/>
                  </a:lnTo>
                  <a:lnTo>
                    <a:pt x="470" y="211"/>
                  </a:lnTo>
                  <a:lnTo>
                    <a:pt x="472" y="209"/>
                  </a:lnTo>
                  <a:lnTo>
                    <a:pt x="472" y="209"/>
                  </a:lnTo>
                  <a:lnTo>
                    <a:pt x="474" y="211"/>
                  </a:lnTo>
                  <a:lnTo>
                    <a:pt x="478" y="211"/>
                  </a:lnTo>
                  <a:lnTo>
                    <a:pt x="480" y="213"/>
                  </a:lnTo>
                  <a:lnTo>
                    <a:pt x="480" y="215"/>
                  </a:lnTo>
                  <a:lnTo>
                    <a:pt x="484" y="217"/>
                  </a:lnTo>
                  <a:lnTo>
                    <a:pt x="484" y="219"/>
                  </a:lnTo>
                  <a:lnTo>
                    <a:pt x="488" y="221"/>
                  </a:lnTo>
                  <a:lnTo>
                    <a:pt x="488" y="223"/>
                  </a:lnTo>
                  <a:lnTo>
                    <a:pt x="488" y="225"/>
                  </a:lnTo>
                  <a:lnTo>
                    <a:pt x="486" y="227"/>
                  </a:lnTo>
                  <a:lnTo>
                    <a:pt x="486" y="228"/>
                  </a:lnTo>
                  <a:lnTo>
                    <a:pt x="488" y="230"/>
                  </a:lnTo>
                  <a:lnTo>
                    <a:pt x="501" y="236"/>
                  </a:lnTo>
                  <a:lnTo>
                    <a:pt x="501" y="236"/>
                  </a:lnTo>
                  <a:lnTo>
                    <a:pt x="503" y="238"/>
                  </a:lnTo>
                  <a:lnTo>
                    <a:pt x="503" y="238"/>
                  </a:lnTo>
                  <a:lnTo>
                    <a:pt x="505" y="238"/>
                  </a:lnTo>
                  <a:lnTo>
                    <a:pt x="505" y="238"/>
                  </a:lnTo>
                  <a:lnTo>
                    <a:pt x="507" y="238"/>
                  </a:lnTo>
                  <a:lnTo>
                    <a:pt x="507" y="238"/>
                  </a:lnTo>
                  <a:lnTo>
                    <a:pt x="507" y="238"/>
                  </a:lnTo>
                  <a:lnTo>
                    <a:pt x="508" y="238"/>
                  </a:lnTo>
                  <a:lnTo>
                    <a:pt x="508" y="238"/>
                  </a:lnTo>
                  <a:lnTo>
                    <a:pt x="510" y="240"/>
                  </a:lnTo>
                  <a:lnTo>
                    <a:pt x="510" y="238"/>
                  </a:lnTo>
                  <a:lnTo>
                    <a:pt x="512" y="238"/>
                  </a:lnTo>
                  <a:lnTo>
                    <a:pt x="512" y="236"/>
                  </a:lnTo>
                  <a:lnTo>
                    <a:pt x="512" y="234"/>
                  </a:lnTo>
                  <a:lnTo>
                    <a:pt x="512" y="234"/>
                  </a:lnTo>
                  <a:lnTo>
                    <a:pt x="512" y="232"/>
                  </a:lnTo>
                  <a:lnTo>
                    <a:pt x="510" y="232"/>
                  </a:lnTo>
                  <a:lnTo>
                    <a:pt x="510" y="232"/>
                  </a:lnTo>
                  <a:lnTo>
                    <a:pt x="510" y="230"/>
                  </a:lnTo>
                  <a:lnTo>
                    <a:pt x="510" y="228"/>
                  </a:lnTo>
                  <a:lnTo>
                    <a:pt x="508" y="228"/>
                  </a:lnTo>
                  <a:lnTo>
                    <a:pt x="507" y="225"/>
                  </a:lnTo>
                  <a:lnTo>
                    <a:pt x="491" y="206"/>
                  </a:lnTo>
                  <a:lnTo>
                    <a:pt x="489" y="202"/>
                  </a:lnTo>
                  <a:lnTo>
                    <a:pt x="489" y="200"/>
                  </a:lnTo>
                  <a:lnTo>
                    <a:pt x="489" y="196"/>
                  </a:lnTo>
                  <a:lnTo>
                    <a:pt x="489" y="194"/>
                  </a:lnTo>
                  <a:lnTo>
                    <a:pt x="489" y="194"/>
                  </a:lnTo>
                  <a:lnTo>
                    <a:pt x="489" y="192"/>
                  </a:lnTo>
                  <a:lnTo>
                    <a:pt x="489" y="190"/>
                  </a:lnTo>
                  <a:lnTo>
                    <a:pt x="489" y="190"/>
                  </a:lnTo>
                  <a:lnTo>
                    <a:pt x="488" y="189"/>
                  </a:lnTo>
                  <a:lnTo>
                    <a:pt x="488" y="189"/>
                  </a:lnTo>
                  <a:lnTo>
                    <a:pt x="488" y="185"/>
                  </a:lnTo>
                  <a:lnTo>
                    <a:pt x="488" y="183"/>
                  </a:lnTo>
                  <a:lnTo>
                    <a:pt x="489" y="181"/>
                  </a:lnTo>
                  <a:lnTo>
                    <a:pt x="491" y="181"/>
                  </a:lnTo>
                  <a:lnTo>
                    <a:pt x="495" y="177"/>
                  </a:lnTo>
                  <a:lnTo>
                    <a:pt x="497" y="177"/>
                  </a:lnTo>
                  <a:lnTo>
                    <a:pt x="499" y="171"/>
                  </a:lnTo>
                  <a:lnTo>
                    <a:pt x="501" y="171"/>
                  </a:lnTo>
                  <a:lnTo>
                    <a:pt x="503" y="171"/>
                  </a:lnTo>
                  <a:lnTo>
                    <a:pt x="505" y="170"/>
                  </a:lnTo>
                  <a:lnTo>
                    <a:pt x="505" y="170"/>
                  </a:lnTo>
                  <a:lnTo>
                    <a:pt x="507" y="170"/>
                  </a:lnTo>
                  <a:lnTo>
                    <a:pt x="507" y="168"/>
                  </a:lnTo>
                  <a:lnTo>
                    <a:pt x="507" y="168"/>
                  </a:lnTo>
                  <a:lnTo>
                    <a:pt x="507" y="168"/>
                  </a:lnTo>
                  <a:lnTo>
                    <a:pt x="508" y="166"/>
                  </a:lnTo>
                  <a:lnTo>
                    <a:pt x="508" y="166"/>
                  </a:lnTo>
                  <a:lnTo>
                    <a:pt x="510" y="164"/>
                  </a:lnTo>
                  <a:lnTo>
                    <a:pt x="510" y="164"/>
                  </a:lnTo>
                  <a:lnTo>
                    <a:pt x="512" y="164"/>
                  </a:lnTo>
                  <a:lnTo>
                    <a:pt x="512" y="162"/>
                  </a:lnTo>
                  <a:lnTo>
                    <a:pt x="518" y="158"/>
                  </a:lnTo>
                  <a:lnTo>
                    <a:pt x="518" y="156"/>
                  </a:lnTo>
                  <a:lnTo>
                    <a:pt x="520" y="154"/>
                  </a:lnTo>
                  <a:lnTo>
                    <a:pt x="522" y="154"/>
                  </a:lnTo>
                  <a:lnTo>
                    <a:pt x="522" y="152"/>
                  </a:lnTo>
                  <a:lnTo>
                    <a:pt x="524" y="152"/>
                  </a:lnTo>
                  <a:lnTo>
                    <a:pt x="526" y="152"/>
                  </a:lnTo>
                  <a:lnTo>
                    <a:pt x="528" y="154"/>
                  </a:lnTo>
                  <a:lnTo>
                    <a:pt x="528" y="156"/>
                  </a:lnTo>
                  <a:lnTo>
                    <a:pt x="528" y="156"/>
                  </a:lnTo>
                  <a:lnTo>
                    <a:pt x="529" y="156"/>
                  </a:lnTo>
                  <a:lnTo>
                    <a:pt x="531" y="154"/>
                  </a:lnTo>
                  <a:lnTo>
                    <a:pt x="531" y="154"/>
                  </a:lnTo>
                  <a:lnTo>
                    <a:pt x="531" y="152"/>
                  </a:lnTo>
                  <a:lnTo>
                    <a:pt x="531" y="151"/>
                  </a:lnTo>
                  <a:lnTo>
                    <a:pt x="531" y="149"/>
                  </a:lnTo>
                  <a:lnTo>
                    <a:pt x="533" y="145"/>
                  </a:lnTo>
                  <a:lnTo>
                    <a:pt x="533" y="145"/>
                  </a:lnTo>
                  <a:lnTo>
                    <a:pt x="533" y="141"/>
                  </a:lnTo>
                  <a:close/>
                </a:path>
              </a:pathLst>
            </a:custGeom>
            <a:solidFill>
              <a:srgbClr val="F2F2F2"/>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23" name="Freeform 73">
              <a:extLst>
                <a:ext uri="{FF2B5EF4-FFF2-40B4-BE49-F238E27FC236}">
                  <a16:creationId xmlns:a16="http://schemas.microsoft.com/office/drawing/2014/main" id="{C282FCC7-CF2B-C1AF-FF28-8E9B662762A3}"/>
                </a:ext>
              </a:extLst>
            </p:cNvPr>
            <p:cNvSpPr>
              <a:spLocks/>
            </p:cNvSpPr>
            <p:nvPr/>
          </p:nvSpPr>
          <p:spPr bwMode="auto">
            <a:xfrm>
              <a:off x="5090477" y="2592749"/>
              <a:ext cx="1005523" cy="480396"/>
            </a:xfrm>
            <a:custGeom>
              <a:avLst/>
              <a:gdLst>
                <a:gd name="T0" fmla="*/ 520 w 533"/>
                <a:gd name="T1" fmla="*/ 111 h 284"/>
                <a:gd name="T2" fmla="*/ 486 w 533"/>
                <a:gd name="T3" fmla="*/ 93 h 284"/>
                <a:gd name="T4" fmla="*/ 451 w 533"/>
                <a:gd name="T5" fmla="*/ 84 h 284"/>
                <a:gd name="T6" fmla="*/ 451 w 533"/>
                <a:gd name="T7" fmla="*/ 42 h 284"/>
                <a:gd name="T8" fmla="*/ 427 w 533"/>
                <a:gd name="T9" fmla="*/ 23 h 284"/>
                <a:gd name="T10" fmla="*/ 430 w 533"/>
                <a:gd name="T11" fmla="*/ 14 h 284"/>
                <a:gd name="T12" fmla="*/ 387 w 533"/>
                <a:gd name="T13" fmla="*/ 2 h 284"/>
                <a:gd name="T14" fmla="*/ 367 w 533"/>
                <a:gd name="T15" fmla="*/ 15 h 284"/>
                <a:gd name="T16" fmla="*/ 354 w 533"/>
                <a:gd name="T17" fmla="*/ 19 h 284"/>
                <a:gd name="T18" fmla="*/ 333 w 533"/>
                <a:gd name="T19" fmla="*/ 29 h 284"/>
                <a:gd name="T20" fmla="*/ 312 w 533"/>
                <a:gd name="T21" fmla="*/ 25 h 284"/>
                <a:gd name="T22" fmla="*/ 282 w 533"/>
                <a:gd name="T23" fmla="*/ 6 h 284"/>
                <a:gd name="T24" fmla="*/ 255 w 533"/>
                <a:gd name="T25" fmla="*/ 21 h 284"/>
                <a:gd name="T26" fmla="*/ 230 w 533"/>
                <a:gd name="T27" fmla="*/ 52 h 284"/>
                <a:gd name="T28" fmla="*/ 215 w 533"/>
                <a:gd name="T29" fmla="*/ 59 h 284"/>
                <a:gd name="T30" fmla="*/ 194 w 533"/>
                <a:gd name="T31" fmla="*/ 71 h 284"/>
                <a:gd name="T32" fmla="*/ 152 w 533"/>
                <a:gd name="T33" fmla="*/ 88 h 284"/>
                <a:gd name="T34" fmla="*/ 122 w 533"/>
                <a:gd name="T35" fmla="*/ 118 h 284"/>
                <a:gd name="T36" fmla="*/ 110 w 533"/>
                <a:gd name="T37" fmla="*/ 124 h 284"/>
                <a:gd name="T38" fmla="*/ 103 w 533"/>
                <a:gd name="T39" fmla="*/ 145 h 284"/>
                <a:gd name="T40" fmla="*/ 80 w 533"/>
                <a:gd name="T41" fmla="*/ 162 h 284"/>
                <a:gd name="T42" fmla="*/ 68 w 533"/>
                <a:gd name="T43" fmla="*/ 162 h 284"/>
                <a:gd name="T44" fmla="*/ 61 w 533"/>
                <a:gd name="T45" fmla="*/ 162 h 284"/>
                <a:gd name="T46" fmla="*/ 26 w 533"/>
                <a:gd name="T47" fmla="*/ 171 h 284"/>
                <a:gd name="T48" fmla="*/ 5 w 533"/>
                <a:gd name="T49" fmla="*/ 196 h 284"/>
                <a:gd name="T50" fmla="*/ 28 w 533"/>
                <a:gd name="T51" fmla="*/ 202 h 284"/>
                <a:gd name="T52" fmla="*/ 42 w 533"/>
                <a:gd name="T53" fmla="*/ 225 h 284"/>
                <a:gd name="T54" fmla="*/ 38 w 533"/>
                <a:gd name="T55" fmla="*/ 240 h 284"/>
                <a:gd name="T56" fmla="*/ 68 w 533"/>
                <a:gd name="T57" fmla="*/ 255 h 284"/>
                <a:gd name="T58" fmla="*/ 114 w 533"/>
                <a:gd name="T59" fmla="*/ 242 h 284"/>
                <a:gd name="T60" fmla="*/ 167 w 533"/>
                <a:gd name="T61" fmla="*/ 249 h 284"/>
                <a:gd name="T62" fmla="*/ 200 w 533"/>
                <a:gd name="T63" fmla="*/ 244 h 284"/>
                <a:gd name="T64" fmla="*/ 209 w 533"/>
                <a:gd name="T65" fmla="*/ 227 h 284"/>
                <a:gd name="T66" fmla="*/ 246 w 533"/>
                <a:gd name="T67" fmla="*/ 189 h 284"/>
                <a:gd name="T68" fmla="*/ 249 w 533"/>
                <a:gd name="T69" fmla="*/ 183 h 284"/>
                <a:gd name="T70" fmla="*/ 276 w 533"/>
                <a:gd name="T71" fmla="*/ 183 h 284"/>
                <a:gd name="T72" fmla="*/ 345 w 533"/>
                <a:gd name="T73" fmla="*/ 154 h 284"/>
                <a:gd name="T74" fmla="*/ 377 w 533"/>
                <a:gd name="T75" fmla="*/ 147 h 284"/>
                <a:gd name="T76" fmla="*/ 387 w 533"/>
                <a:gd name="T77" fmla="*/ 173 h 284"/>
                <a:gd name="T78" fmla="*/ 396 w 533"/>
                <a:gd name="T79" fmla="*/ 189 h 284"/>
                <a:gd name="T80" fmla="*/ 398 w 533"/>
                <a:gd name="T81" fmla="*/ 206 h 284"/>
                <a:gd name="T82" fmla="*/ 406 w 533"/>
                <a:gd name="T83" fmla="*/ 202 h 284"/>
                <a:gd name="T84" fmla="*/ 406 w 533"/>
                <a:gd name="T85" fmla="*/ 211 h 284"/>
                <a:gd name="T86" fmla="*/ 400 w 533"/>
                <a:gd name="T87" fmla="*/ 217 h 284"/>
                <a:gd name="T88" fmla="*/ 375 w 533"/>
                <a:gd name="T89" fmla="*/ 225 h 284"/>
                <a:gd name="T90" fmla="*/ 360 w 533"/>
                <a:gd name="T91" fmla="*/ 223 h 284"/>
                <a:gd name="T92" fmla="*/ 339 w 533"/>
                <a:gd name="T93" fmla="*/ 242 h 284"/>
                <a:gd name="T94" fmla="*/ 335 w 533"/>
                <a:gd name="T95" fmla="*/ 249 h 284"/>
                <a:gd name="T96" fmla="*/ 333 w 533"/>
                <a:gd name="T97" fmla="*/ 263 h 284"/>
                <a:gd name="T98" fmla="*/ 339 w 533"/>
                <a:gd name="T99" fmla="*/ 280 h 284"/>
                <a:gd name="T100" fmla="*/ 366 w 533"/>
                <a:gd name="T101" fmla="*/ 267 h 284"/>
                <a:gd name="T102" fmla="*/ 383 w 533"/>
                <a:gd name="T103" fmla="*/ 253 h 284"/>
                <a:gd name="T104" fmla="*/ 446 w 533"/>
                <a:gd name="T105" fmla="*/ 217 h 284"/>
                <a:gd name="T106" fmla="*/ 467 w 533"/>
                <a:gd name="T107" fmla="*/ 213 h 284"/>
                <a:gd name="T108" fmla="*/ 484 w 533"/>
                <a:gd name="T109" fmla="*/ 217 h 284"/>
                <a:gd name="T110" fmla="*/ 503 w 533"/>
                <a:gd name="T111" fmla="*/ 238 h 284"/>
                <a:gd name="T112" fmla="*/ 512 w 533"/>
                <a:gd name="T113" fmla="*/ 236 h 284"/>
                <a:gd name="T114" fmla="*/ 489 w 533"/>
                <a:gd name="T115" fmla="*/ 202 h 284"/>
                <a:gd name="T116" fmla="*/ 488 w 533"/>
                <a:gd name="T117" fmla="*/ 183 h 284"/>
                <a:gd name="T118" fmla="*/ 507 w 533"/>
                <a:gd name="T119" fmla="*/ 168 h 284"/>
                <a:gd name="T120" fmla="*/ 520 w 533"/>
                <a:gd name="T121" fmla="*/ 154 h 284"/>
                <a:gd name="T122" fmla="*/ 531 w 533"/>
                <a:gd name="T123" fmla="*/ 15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3" h="284">
                  <a:moveTo>
                    <a:pt x="533" y="141"/>
                  </a:moveTo>
                  <a:lnTo>
                    <a:pt x="529" y="137"/>
                  </a:lnTo>
                  <a:lnTo>
                    <a:pt x="528" y="133"/>
                  </a:lnTo>
                  <a:lnTo>
                    <a:pt x="528" y="130"/>
                  </a:lnTo>
                  <a:lnTo>
                    <a:pt x="531" y="124"/>
                  </a:lnTo>
                  <a:lnTo>
                    <a:pt x="529" y="120"/>
                  </a:lnTo>
                  <a:lnTo>
                    <a:pt x="528" y="118"/>
                  </a:lnTo>
                  <a:lnTo>
                    <a:pt x="522" y="114"/>
                  </a:lnTo>
                  <a:lnTo>
                    <a:pt x="520" y="114"/>
                  </a:lnTo>
                  <a:lnTo>
                    <a:pt x="520" y="111"/>
                  </a:lnTo>
                  <a:lnTo>
                    <a:pt x="520" y="111"/>
                  </a:lnTo>
                  <a:lnTo>
                    <a:pt x="518" y="111"/>
                  </a:lnTo>
                  <a:lnTo>
                    <a:pt x="518" y="111"/>
                  </a:lnTo>
                  <a:lnTo>
                    <a:pt x="510" y="105"/>
                  </a:lnTo>
                  <a:lnTo>
                    <a:pt x="508" y="105"/>
                  </a:lnTo>
                  <a:lnTo>
                    <a:pt x="503" y="107"/>
                  </a:lnTo>
                  <a:lnTo>
                    <a:pt x="501" y="109"/>
                  </a:lnTo>
                  <a:lnTo>
                    <a:pt x="497" y="109"/>
                  </a:lnTo>
                  <a:lnTo>
                    <a:pt x="495" y="109"/>
                  </a:lnTo>
                  <a:lnTo>
                    <a:pt x="491" y="107"/>
                  </a:lnTo>
                  <a:lnTo>
                    <a:pt x="489" y="99"/>
                  </a:lnTo>
                  <a:lnTo>
                    <a:pt x="486" y="93"/>
                  </a:lnTo>
                  <a:lnTo>
                    <a:pt x="480" y="90"/>
                  </a:lnTo>
                  <a:lnTo>
                    <a:pt x="472" y="82"/>
                  </a:lnTo>
                  <a:lnTo>
                    <a:pt x="465" y="80"/>
                  </a:lnTo>
                  <a:lnTo>
                    <a:pt x="459" y="82"/>
                  </a:lnTo>
                  <a:lnTo>
                    <a:pt x="457" y="88"/>
                  </a:lnTo>
                  <a:lnTo>
                    <a:pt x="455" y="93"/>
                  </a:lnTo>
                  <a:lnTo>
                    <a:pt x="455" y="99"/>
                  </a:lnTo>
                  <a:lnTo>
                    <a:pt x="453" y="99"/>
                  </a:lnTo>
                  <a:lnTo>
                    <a:pt x="451" y="93"/>
                  </a:lnTo>
                  <a:lnTo>
                    <a:pt x="448" y="90"/>
                  </a:lnTo>
                  <a:lnTo>
                    <a:pt x="451" y="84"/>
                  </a:lnTo>
                  <a:lnTo>
                    <a:pt x="448" y="80"/>
                  </a:lnTo>
                  <a:lnTo>
                    <a:pt x="455" y="76"/>
                  </a:lnTo>
                  <a:lnTo>
                    <a:pt x="463" y="69"/>
                  </a:lnTo>
                  <a:lnTo>
                    <a:pt x="463" y="65"/>
                  </a:lnTo>
                  <a:lnTo>
                    <a:pt x="461" y="59"/>
                  </a:lnTo>
                  <a:lnTo>
                    <a:pt x="457" y="54"/>
                  </a:lnTo>
                  <a:lnTo>
                    <a:pt x="455" y="52"/>
                  </a:lnTo>
                  <a:lnTo>
                    <a:pt x="455" y="46"/>
                  </a:lnTo>
                  <a:lnTo>
                    <a:pt x="453" y="44"/>
                  </a:lnTo>
                  <a:lnTo>
                    <a:pt x="451" y="42"/>
                  </a:lnTo>
                  <a:lnTo>
                    <a:pt x="451" y="42"/>
                  </a:lnTo>
                  <a:lnTo>
                    <a:pt x="449" y="42"/>
                  </a:lnTo>
                  <a:lnTo>
                    <a:pt x="449" y="40"/>
                  </a:lnTo>
                  <a:lnTo>
                    <a:pt x="449" y="40"/>
                  </a:lnTo>
                  <a:lnTo>
                    <a:pt x="442" y="34"/>
                  </a:lnTo>
                  <a:lnTo>
                    <a:pt x="440" y="29"/>
                  </a:lnTo>
                  <a:lnTo>
                    <a:pt x="434" y="31"/>
                  </a:lnTo>
                  <a:lnTo>
                    <a:pt x="427" y="36"/>
                  </a:lnTo>
                  <a:lnTo>
                    <a:pt x="425" y="27"/>
                  </a:lnTo>
                  <a:lnTo>
                    <a:pt x="425" y="25"/>
                  </a:lnTo>
                  <a:lnTo>
                    <a:pt x="427" y="25"/>
                  </a:lnTo>
                  <a:lnTo>
                    <a:pt x="427" y="23"/>
                  </a:lnTo>
                  <a:lnTo>
                    <a:pt x="438" y="21"/>
                  </a:lnTo>
                  <a:lnTo>
                    <a:pt x="438" y="19"/>
                  </a:lnTo>
                  <a:lnTo>
                    <a:pt x="440" y="17"/>
                  </a:lnTo>
                  <a:lnTo>
                    <a:pt x="442" y="14"/>
                  </a:lnTo>
                  <a:lnTo>
                    <a:pt x="442" y="12"/>
                  </a:lnTo>
                  <a:lnTo>
                    <a:pt x="440" y="10"/>
                  </a:lnTo>
                  <a:lnTo>
                    <a:pt x="440" y="10"/>
                  </a:lnTo>
                  <a:lnTo>
                    <a:pt x="438" y="10"/>
                  </a:lnTo>
                  <a:lnTo>
                    <a:pt x="436" y="12"/>
                  </a:lnTo>
                  <a:lnTo>
                    <a:pt x="432" y="14"/>
                  </a:lnTo>
                  <a:lnTo>
                    <a:pt x="430" y="14"/>
                  </a:lnTo>
                  <a:lnTo>
                    <a:pt x="427" y="12"/>
                  </a:lnTo>
                  <a:lnTo>
                    <a:pt x="425" y="8"/>
                  </a:lnTo>
                  <a:lnTo>
                    <a:pt x="423" y="6"/>
                  </a:lnTo>
                  <a:lnTo>
                    <a:pt x="423" y="2"/>
                  </a:lnTo>
                  <a:lnTo>
                    <a:pt x="421" y="0"/>
                  </a:lnTo>
                  <a:lnTo>
                    <a:pt x="415" y="0"/>
                  </a:lnTo>
                  <a:lnTo>
                    <a:pt x="409" y="0"/>
                  </a:lnTo>
                  <a:lnTo>
                    <a:pt x="404" y="0"/>
                  </a:lnTo>
                  <a:lnTo>
                    <a:pt x="396" y="4"/>
                  </a:lnTo>
                  <a:lnTo>
                    <a:pt x="388" y="2"/>
                  </a:lnTo>
                  <a:lnTo>
                    <a:pt x="387" y="2"/>
                  </a:lnTo>
                  <a:lnTo>
                    <a:pt x="385" y="2"/>
                  </a:lnTo>
                  <a:lnTo>
                    <a:pt x="385" y="10"/>
                  </a:lnTo>
                  <a:lnTo>
                    <a:pt x="383" y="15"/>
                  </a:lnTo>
                  <a:lnTo>
                    <a:pt x="375" y="15"/>
                  </a:lnTo>
                  <a:lnTo>
                    <a:pt x="371" y="12"/>
                  </a:lnTo>
                  <a:lnTo>
                    <a:pt x="369" y="14"/>
                  </a:lnTo>
                  <a:lnTo>
                    <a:pt x="369" y="14"/>
                  </a:lnTo>
                  <a:lnTo>
                    <a:pt x="367" y="14"/>
                  </a:lnTo>
                  <a:lnTo>
                    <a:pt x="367" y="14"/>
                  </a:lnTo>
                  <a:lnTo>
                    <a:pt x="366" y="15"/>
                  </a:lnTo>
                  <a:lnTo>
                    <a:pt x="367" y="15"/>
                  </a:lnTo>
                  <a:lnTo>
                    <a:pt x="366" y="17"/>
                  </a:lnTo>
                  <a:lnTo>
                    <a:pt x="364" y="17"/>
                  </a:lnTo>
                  <a:lnTo>
                    <a:pt x="364" y="17"/>
                  </a:lnTo>
                  <a:lnTo>
                    <a:pt x="364" y="21"/>
                  </a:lnTo>
                  <a:lnTo>
                    <a:pt x="364" y="25"/>
                  </a:lnTo>
                  <a:lnTo>
                    <a:pt x="364" y="25"/>
                  </a:lnTo>
                  <a:lnTo>
                    <a:pt x="360" y="25"/>
                  </a:lnTo>
                  <a:lnTo>
                    <a:pt x="358" y="25"/>
                  </a:lnTo>
                  <a:lnTo>
                    <a:pt x="358" y="23"/>
                  </a:lnTo>
                  <a:lnTo>
                    <a:pt x="356" y="19"/>
                  </a:lnTo>
                  <a:lnTo>
                    <a:pt x="354" y="19"/>
                  </a:lnTo>
                  <a:lnTo>
                    <a:pt x="354" y="25"/>
                  </a:lnTo>
                  <a:lnTo>
                    <a:pt x="350" y="25"/>
                  </a:lnTo>
                  <a:lnTo>
                    <a:pt x="345" y="25"/>
                  </a:lnTo>
                  <a:lnTo>
                    <a:pt x="341" y="27"/>
                  </a:lnTo>
                  <a:lnTo>
                    <a:pt x="341" y="33"/>
                  </a:lnTo>
                  <a:lnTo>
                    <a:pt x="337" y="33"/>
                  </a:lnTo>
                  <a:lnTo>
                    <a:pt x="335" y="33"/>
                  </a:lnTo>
                  <a:lnTo>
                    <a:pt x="335" y="31"/>
                  </a:lnTo>
                  <a:lnTo>
                    <a:pt x="335" y="31"/>
                  </a:lnTo>
                  <a:lnTo>
                    <a:pt x="335" y="29"/>
                  </a:lnTo>
                  <a:lnTo>
                    <a:pt x="333" y="29"/>
                  </a:lnTo>
                  <a:lnTo>
                    <a:pt x="333" y="29"/>
                  </a:lnTo>
                  <a:lnTo>
                    <a:pt x="326" y="27"/>
                  </a:lnTo>
                  <a:lnTo>
                    <a:pt x="326" y="27"/>
                  </a:lnTo>
                  <a:lnTo>
                    <a:pt x="320" y="23"/>
                  </a:lnTo>
                  <a:lnTo>
                    <a:pt x="314" y="23"/>
                  </a:lnTo>
                  <a:lnTo>
                    <a:pt x="312" y="21"/>
                  </a:lnTo>
                  <a:lnTo>
                    <a:pt x="312" y="21"/>
                  </a:lnTo>
                  <a:lnTo>
                    <a:pt x="312" y="23"/>
                  </a:lnTo>
                  <a:lnTo>
                    <a:pt x="314" y="25"/>
                  </a:lnTo>
                  <a:lnTo>
                    <a:pt x="314" y="25"/>
                  </a:lnTo>
                  <a:lnTo>
                    <a:pt x="312" y="25"/>
                  </a:lnTo>
                  <a:lnTo>
                    <a:pt x="307" y="21"/>
                  </a:lnTo>
                  <a:lnTo>
                    <a:pt x="303" y="21"/>
                  </a:lnTo>
                  <a:lnTo>
                    <a:pt x="299" y="21"/>
                  </a:lnTo>
                  <a:lnTo>
                    <a:pt x="297" y="21"/>
                  </a:lnTo>
                  <a:lnTo>
                    <a:pt x="295" y="21"/>
                  </a:lnTo>
                  <a:lnTo>
                    <a:pt x="293" y="21"/>
                  </a:lnTo>
                  <a:lnTo>
                    <a:pt x="295" y="15"/>
                  </a:lnTo>
                  <a:lnTo>
                    <a:pt x="293" y="15"/>
                  </a:lnTo>
                  <a:lnTo>
                    <a:pt x="287" y="8"/>
                  </a:lnTo>
                  <a:lnTo>
                    <a:pt x="286" y="6"/>
                  </a:lnTo>
                  <a:lnTo>
                    <a:pt x="282" y="6"/>
                  </a:lnTo>
                  <a:lnTo>
                    <a:pt x="278" y="6"/>
                  </a:lnTo>
                  <a:lnTo>
                    <a:pt x="278" y="6"/>
                  </a:lnTo>
                  <a:lnTo>
                    <a:pt x="272" y="14"/>
                  </a:lnTo>
                  <a:lnTo>
                    <a:pt x="270" y="15"/>
                  </a:lnTo>
                  <a:lnTo>
                    <a:pt x="270" y="15"/>
                  </a:lnTo>
                  <a:lnTo>
                    <a:pt x="266" y="17"/>
                  </a:lnTo>
                  <a:lnTo>
                    <a:pt x="263" y="17"/>
                  </a:lnTo>
                  <a:lnTo>
                    <a:pt x="261" y="17"/>
                  </a:lnTo>
                  <a:lnTo>
                    <a:pt x="257" y="17"/>
                  </a:lnTo>
                  <a:lnTo>
                    <a:pt x="257" y="19"/>
                  </a:lnTo>
                  <a:lnTo>
                    <a:pt x="255" y="21"/>
                  </a:lnTo>
                  <a:lnTo>
                    <a:pt x="255" y="23"/>
                  </a:lnTo>
                  <a:lnTo>
                    <a:pt x="253" y="23"/>
                  </a:lnTo>
                  <a:lnTo>
                    <a:pt x="249" y="23"/>
                  </a:lnTo>
                  <a:lnTo>
                    <a:pt x="247" y="29"/>
                  </a:lnTo>
                  <a:lnTo>
                    <a:pt x="251" y="33"/>
                  </a:lnTo>
                  <a:lnTo>
                    <a:pt x="255" y="36"/>
                  </a:lnTo>
                  <a:lnTo>
                    <a:pt x="249" y="42"/>
                  </a:lnTo>
                  <a:lnTo>
                    <a:pt x="246" y="46"/>
                  </a:lnTo>
                  <a:lnTo>
                    <a:pt x="240" y="46"/>
                  </a:lnTo>
                  <a:lnTo>
                    <a:pt x="236" y="50"/>
                  </a:lnTo>
                  <a:lnTo>
                    <a:pt x="230" y="52"/>
                  </a:lnTo>
                  <a:lnTo>
                    <a:pt x="226" y="54"/>
                  </a:lnTo>
                  <a:lnTo>
                    <a:pt x="225" y="54"/>
                  </a:lnTo>
                  <a:lnTo>
                    <a:pt x="223" y="55"/>
                  </a:lnTo>
                  <a:lnTo>
                    <a:pt x="221" y="55"/>
                  </a:lnTo>
                  <a:lnTo>
                    <a:pt x="219" y="55"/>
                  </a:lnTo>
                  <a:lnTo>
                    <a:pt x="217" y="55"/>
                  </a:lnTo>
                  <a:lnTo>
                    <a:pt x="215" y="57"/>
                  </a:lnTo>
                  <a:lnTo>
                    <a:pt x="215" y="57"/>
                  </a:lnTo>
                  <a:lnTo>
                    <a:pt x="215" y="57"/>
                  </a:lnTo>
                  <a:lnTo>
                    <a:pt x="215" y="59"/>
                  </a:lnTo>
                  <a:lnTo>
                    <a:pt x="215" y="59"/>
                  </a:lnTo>
                  <a:lnTo>
                    <a:pt x="215" y="59"/>
                  </a:lnTo>
                  <a:lnTo>
                    <a:pt x="215" y="61"/>
                  </a:lnTo>
                  <a:lnTo>
                    <a:pt x="213" y="61"/>
                  </a:lnTo>
                  <a:lnTo>
                    <a:pt x="211" y="61"/>
                  </a:lnTo>
                  <a:lnTo>
                    <a:pt x="211" y="61"/>
                  </a:lnTo>
                  <a:lnTo>
                    <a:pt x="211" y="63"/>
                  </a:lnTo>
                  <a:lnTo>
                    <a:pt x="206" y="65"/>
                  </a:lnTo>
                  <a:lnTo>
                    <a:pt x="204" y="65"/>
                  </a:lnTo>
                  <a:lnTo>
                    <a:pt x="198" y="71"/>
                  </a:lnTo>
                  <a:lnTo>
                    <a:pt x="196" y="71"/>
                  </a:lnTo>
                  <a:lnTo>
                    <a:pt x="194" y="71"/>
                  </a:lnTo>
                  <a:lnTo>
                    <a:pt x="194" y="71"/>
                  </a:lnTo>
                  <a:lnTo>
                    <a:pt x="192" y="71"/>
                  </a:lnTo>
                  <a:lnTo>
                    <a:pt x="190" y="73"/>
                  </a:lnTo>
                  <a:lnTo>
                    <a:pt x="188" y="73"/>
                  </a:lnTo>
                  <a:lnTo>
                    <a:pt x="186" y="73"/>
                  </a:lnTo>
                  <a:lnTo>
                    <a:pt x="183" y="73"/>
                  </a:lnTo>
                  <a:lnTo>
                    <a:pt x="173" y="73"/>
                  </a:lnTo>
                  <a:lnTo>
                    <a:pt x="164" y="78"/>
                  </a:lnTo>
                  <a:lnTo>
                    <a:pt x="160" y="80"/>
                  </a:lnTo>
                  <a:lnTo>
                    <a:pt x="156" y="84"/>
                  </a:lnTo>
                  <a:lnTo>
                    <a:pt x="152" y="88"/>
                  </a:lnTo>
                  <a:lnTo>
                    <a:pt x="148" y="90"/>
                  </a:lnTo>
                  <a:lnTo>
                    <a:pt x="145" y="92"/>
                  </a:lnTo>
                  <a:lnTo>
                    <a:pt x="145" y="95"/>
                  </a:lnTo>
                  <a:lnTo>
                    <a:pt x="145" y="99"/>
                  </a:lnTo>
                  <a:lnTo>
                    <a:pt x="143" y="103"/>
                  </a:lnTo>
                  <a:lnTo>
                    <a:pt x="139" y="105"/>
                  </a:lnTo>
                  <a:lnTo>
                    <a:pt x="131" y="111"/>
                  </a:lnTo>
                  <a:lnTo>
                    <a:pt x="129" y="114"/>
                  </a:lnTo>
                  <a:lnTo>
                    <a:pt x="127" y="116"/>
                  </a:lnTo>
                  <a:lnTo>
                    <a:pt x="124" y="116"/>
                  </a:lnTo>
                  <a:lnTo>
                    <a:pt x="122" y="118"/>
                  </a:lnTo>
                  <a:lnTo>
                    <a:pt x="122" y="118"/>
                  </a:lnTo>
                  <a:lnTo>
                    <a:pt x="118" y="122"/>
                  </a:lnTo>
                  <a:lnTo>
                    <a:pt x="118" y="124"/>
                  </a:lnTo>
                  <a:lnTo>
                    <a:pt x="116" y="124"/>
                  </a:lnTo>
                  <a:lnTo>
                    <a:pt x="114" y="126"/>
                  </a:lnTo>
                  <a:lnTo>
                    <a:pt x="112" y="126"/>
                  </a:lnTo>
                  <a:lnTo>
                    <a:pt x="112" y="126"/>
                  </a:lnTo>
                  <a:lnTo>
                    <a:pt x="112" y="124"/>
                  </a:lnTo>
                  <a:lnTo>
                    <a:pt x="110" y="124"/>
                  </a:lnTo>
                  <a:lnTo>
                    <a:pt x="110" y="124"/>
                  </a:lnTo>
                  <a:lnTo>
                    <a:pt x="110" y="124"/>
                  </a:lnTo>
                  <a:lnTo>
                    <a:pt x="105" y="128"/>
                  </a:lnTo>
                  <a:lnTo>
                    <a:pt x="101" y="130"/>
                  </a:lnTo>
                  <a:lnTo>
                    <a:pt x="99" y="133"/>
                  </a:lnTo>
                  <a:lnTo>
                    <a:pt x="97" y="135"/>
                  </a:lnTo>
                  <a:lnTo>
                    <a:pt x="97" y="137"/>
                  </a:lnTo>
                  <a:lnTo>
                    <a:pt x="99" y="139"/>
                  </a:lnTo>
                  <a:lnTo>
                    <a:pt x="103" y="139"/>
                  </a:lnTo>
                  <a:lnTo>
                    <a:pt x="103" y="139"/>
                  </a:lnTo>
                  <a:lnTo>
                    <a:pt x="103" y="141"/>
                  </a:lnTo>
                  <a:lnTo>
                    <a:pt x="103" y="145"/>
                  </a:lnTo>
                  <a:lnTo>
                    <a:pt x="103" y="145"/>
                  </a:lnTo>
                  <a:lnTo>
                    <a:pt x="103" y="145"/>
                  </a:lnTo>
                  <a:lnTo>
                    <a:pt x="103" y="147"/>
                  </a:lnTo>
                  <a:lnTo>
                    <a:pt x="101" y="151"/>
                  </a:lnTo>
                  <a:lnTo>
                    <a:pt x="97" y="152"/>
                  </a:lnTo>
                  <a:lnTo>
                    <a:pt x="95" y="154"/>
                  </a:lnTo>
                  <a:lnTo>
                    <a:pt x="91" y="154"/>
                  </a:lnTo>
                  <a:lnTo>
                    <a:pt x="91" y="154"/>
                  </a:lnTo>
                  <a:lnTo>
                    <a:pt x="89" y="158"/>
                  </a:lnTo>
                  <a:lnTo>
                    <a:pt x="87" y="158"/>
                  </a:lnTo>
                  <a:lnTo>
                    <a:pt x="82" y="160"/>
                  </a:lnTo>
                  <a:lnTo>
                    <a:pt x="80" y="162"/>
                  </a:lnTo>
                  <a:lnTo>
                    <a:pt x="78" y="162"/>
                  </a:lnTo>
                  <a:lnTo>
                    <a:pt x="78" y="162"/>
                  </a:lnTo>
                  <a:lnTo>
                    <a:pt x="76" y="158"/>
                  </a:lnTo>
                  <a:lnTo>
                    <a:pt x="76" y="158"/>
                  </a:lnTo>
                  <a:lnTo>
                    <a:pt x="74" y="160"/>
                  </a:lnTo>
                  <a:lnTo>
                    <a:pt x="74" y="162"/>
                  </a:lnTo>
                  <a:lnTo>
                    <a:pt x="72" y="164"/>
                  </a:lnTo>
                  <a:lnTo>
                    <a:pt x="70" y="164"/>
                  </a:lnTo>
                  <a:lnTo>
                    <a:pt x="70" y="164"/>
                  </a:lnTo>
                  <a:lnTo>
                    <a:pt x="70" y="162"/>
                  </a:lnTo>
                  <a:lnTo>
                    <a:pt x="68" y="162"/>
                  </a:lnTo>
                  <a:lnTo>
                    <a:pt x="68" y="164"/>
                  </a:lnTo>
                  <a:lnTo>
                    <a:pt x="66" y="166"/>
                  </a:lnTo>
                  <a:lnTo>
                    <a:pt x="65" y="166"/>
                  </a:lnTo>
                  <a:lnTo>
                    <a:pt x="65" y="164"/>
                  </a:lnTo>
                  <a:lnTo>
                    <a:pt x="63" y="160"/>
                  </a:lnTo>
                  <a:lnTo>
                    <a:pt x="63" y="158"/>
                  </a:lnTo>
                  <a:lnTo>
                    <a:pt x="61" y="158"/>
                  </a:lnTo>
                  <a:lnTo>
                    <a:pt x="61" y="160"/>
                  </a:lnTo>
                  <a:lnTo>
                    <a:pt x="61" y="160"/>
                  </a:lnTo>
                  <a:lnTo>
                    <a:pt x="61" y="162"/>
                  </a:lnTo>
                  <a:lnTo>
                    <a:pt x="61" y="162"/>
                  </a:lnTo>
                  <a:lnTo>
                    <a:pt x="61" y="164"/>
                  </a:lnTo>
                  <a:lnTo>
                    <a:pt x="59" y="164"/>
                  </a:lnTo>
                  <a:lnTo>
                    <a:pt x="59" y="164"/>
                  </a:lnTo>
                  <a:lnTo>
                    <a:pt x="51" y="164"/>
                  </a:lnTo>
                  <a:lnTo>
                    <a:pt x="49" y="164"/>
                  </a:lnTo>
                  <a:lnTo>
                    <a:pt x="45" y="166"/>
                  </a:lnTo>
                  <a:lnTo>
                    <a:pt x="40" y="171"/>
                  </a:lnTo>
                  <a:lnTo>
                    <a:pt x="36" y="171"/>
                  </a:lnTo>
                  <a:lnTo>
                    <a:pt x="34" y="171"/>
                  </a:lnTo>
                  <a:lnTo>
                    <a:pt x="30" y="171"/>
                  </a:lnTo>
                  <a:lnTo>
                    <a:pt x="26" y="171"/>
                  </a:lnTo>
                  <a:lnTo>
                    <a:pt x="24" y="171"/>
                  </a:lnTo>
                  <a:lnTo>
                    <a:pt x="21" y="170"/>
                  </a:lnTo>
                  <a:lnTo>
                    <a:pt x="19" y="168"/>
                  </a:lnTo>
                  <a:lnTo>
                    <a:pt x="5" y="170"/>
                  </a:lnTo>
                  <a:lnTo>
                    <a:pt x="4" y="173"/>
                  </a:lnTo>
                  <a:lnTo>
                    <a:pt x="0" y="179"/>
                  </a:lnTo>
                  <a:lnTo>
                    <a:pt x="0" y="183"/>
                  </a:lnTo>
                  <a:lnTo>
                    <a:pt x="2" y="190"/>
                  </a:lnTo>
                  <a:lnTo>
                    <a:pt x="2" y="192"/>
                  </a:lnTo>
                  <a:lnTo>
                    <a:pt x="5" y="194"/>
                  </a:lnTo>
                  <a:lnTo>
                    <a:pt x="5" y="196"/>
                  </a:lnTo>
                  <a:lnTo>
                    <a:pt x="7" y="198"/>
                  </a:lnTo>
                  <a:lnTo>
                    <a:pt x="9" y="198"/>
                  </a:lnTo>
                  <a:lnTo>
                    <a:pt x="11" y="198"/>
                  </a:lnTo>
                  <a:lnTo>
                    <a:pt x="13" y="200"/>
                  </a:lnTo>
                  <a:lnTo>
                    <a:pt x="13" y="200"/>
                  </a:lnTo>
                  <a:lnTo>
                    <a:pt x="15" y="202"/>
                  </a:lnTo>
                  <a:lnTo>
                    <a:pt x="15" y="204"/>
                  </a:lnTo>
                  <a:lnTo>
                    <a:pt x="15" y="204"/>
                  </a:lnTo>
                  <a:lnTo>
                    <a:pt x="19" y="204"/>
                  </a:lnTo>
                  <a:lnTo>
                    <a:pt x="26" y="202"/>
                  </a:lnTo>
                  <a:lnTo>
                    <a:pt x="28" y="202"/>
                  </a:lnTo>
                  <a:lnTo>
                    <a:pt x="32" y="202"/>
                  </a:lnTo>
                  <a:lnTo>
                    <a:pt x="32" y="202"/>
                  </a:lnTo>
                  <a:lnTo>
                    <a:pt x="36" y="198"/>
                  </a:lnTo>
                  <a:lnTo>
                    <a:pt x="36" y="198"/>
                  </a:lnTo>
                  <a:lnTo>
                    <a:pt x="38" y="202"/>
                  </a:lnTo>
                  <a:lnTo>
                    <a:pt x="47" y="215"/>
                  </a:lnTo>
                  <a:lnTo>
                    <a:pt x="47" y="217"/>
                  </a:lnTo>
                  <a:lnTo>
                    <a:pt x="45" y="219"/>
                  </a:lnTo>
                  <a:lnTo>
                    <a:pt x="44" y="221"/>
                  </a:lnTo>
                  <a:lnTo>
                    <a:pt x="42" y="223"/>
                  </a:lnTo>
                  <a:lnTo>
                    <a:pt x="42" y="225"/>
                  </a:lnTo>
                  <a:lnTo>
                    <a:pt x="42" y="227"/>
                  </a:lnTo>
                  <a:lnTo>
                    <a:pt x="42" y="227"/>
                  </a:lnTo>
                  <a:lnTo>
                    <a:pt x="42" y="228"/>
                  </a:lnTo>
                  <a:lnTo>
                    <a:pt x="40" y="228"/>
                  </a:lnTo>
                  <a:lnTo>
                    <a:pt x="40" y="228"/>
                  </a:lnTo>
                  <a:lnTo>
                    <a:pt x="40" y="230"/>
                  </a:lnTo>
                  <a:lnTo>
                    <a:pt x="38" y="230"/>
                  </a:lnTo>
                  <a:lnTo>
                    <a:pt x="38" y="232"/>
                  </a:lnTo>
                  <a:lnTo>
                    <a:pt x="38" y="234"/>
                  </a:lnTo>
                  <a:lnTo>
                    <a:pt x="38" y="236"/>
                  </a:lnTo>
                  <a:lnTo>
                    <a:pt x="38" y="240"/>
                  </a:lnTo>
                  <a:lnTo>
                    <a:pt x="44" y="246"/>
                  </a:lnTo>
                  <a:lnTo>
                    <a:pt x="45" y="248"/>
                  </a:lnTo>
                  <a:lnTo>
                    <a:pt x="45" y="248"/>
                  </a:lnTo>
                  <a:lnTo>
                    <a:pt x="47" y="253"/>
                  </a:lnTo>
                  <a:lnTo>
                    <a:pt x="45" y="255"/>
                  </a:lnTo>
                  <a:lnTo>
                    <a:pt x="49" y="255"/>
                  </a:lnTo>
                  <a:lnTo>
                    <a:pt x="59" y="257"/>
                  </a:lnTo>
                  <a:lnTo>
                    <a:pt x="63" y="255"/>
                  </a:lnTo>
                  <a:lnTo>
                    <a:pt x="65" y="255"/>
                  </a:lnTo>
                  <a:lnTo>
                    <a:pt x="68" y="255"/>
                  </a:lnTo>
                  <a:lnTo>
                    <a:pt x="68" y="255"/>
                  </a:lnTo>
                  <a:lnTo>
                    <a:pt x="72" y="253"/>
                  </a:lnTo>
                  <a:lnTo>
                    <a:pt x="84" y="249"/>
                  </a:lnTo>
                  <a:lnTo>
                    <a:pt x="89" y="248"/>
                  </a:lnTo>
                  <a:lnTo>
                    <a:pt x="95" y="248"/>
                  </a:lnTo>
                  <a:lnTo>
                    <a:pt x="97" y="246"/>
                  </a:lnTo>
                  <a:lnTo>
                    <a:pt x="99" y="244"/>
                  </a:lnTo>
                  <a:lnTo>
                    <a:pt x="99" y="244"/>
                  </a:lnTo>
                  <a:lnTo>
                    <a:pt x="101" y="242"/>
                  </a:lnTo>
                  <a:lnTo>
                    <a:pt x="103" y="240"/>
                  </a:lnTo>
                  <a:lnTo>
                    <a:pt x="106" y="242"/>
                  </a:lnTo>
                  <a:lnTo>
                    <a:pt x="114" y="242"/>
                  </a:lnTo>
                  <a:lnTo>
                    <a:pt x="122" y="246"/>
                  </a:lnTo>
                  <a:lnTo>
                    <a:pt x="125" y="248"/>
                  </a:lnTo>
                  <a:lnTo>
                    <a:pt x="125" y="248"/>
                  </a:lnTo>
                  <a:lnTo>
                    <a:pt x="125" y="248"/>
                  </a:lnTo>
                  <a:lnTo>
                    <a:pt x="125" y="249"/>
                  </a:lnTo>
                  <a:lnTo>
                    <a:pt x="125" y="249"/>
                  </a:lnTo>
                  <a:lnTo>
                    <a:pt x="127" y="251"/>
                  </a:lnTo>
                  <a:lnTo>
                    <a:pt x="129" y="251"/>
                  </a:lnTo>
                  <a:lnTo>
                    <a:pt x="133" y="253"/>
                  </a:lnTo>
                  <a:lnTo>
                    <a:pt x="165" y="249"/>
                  </a:lnTo>
                  <a:lnTo>
                    <a:pt x="167" y="249"/>
                  </a:lnTo>
                  <a:lnTo>
                    <a:pt x="169" y="249"/>
                  </a:lnTo>
                  <a:lnTo>
                    <a:pt x="171" y="251"/>
                  </a:lnTo>
                  <a:lnTo>
                    <a:pt x="173" y="253"/>
                  </a:lnTo>
                  <a:lnTo>
                    <a:pt x="175" y="253"/>
                  </a:lnTo>
                  <a:lnTo>
                    <a:pt x="179" y="251"/>
                  </a:lnTo>
                  <a:lnTo>
                    <a:pt x="181" y="251"/>
                  </a:lnTo>
                  <a:lnTo>
                    <a:pt x="186" y="249"/>
                  </a:lnTo>
                  <a:lnTo>
                    <a:pt x="190" y="249"/>
                  </a:lnTo>
                  <a:lnTo>
                    <a:pt x="196" y="248"/>
                  </a:lnTo>
                  <a:lnTo>
                    <a:pt x="198" y="246"/>
                  </a:lnTo>
                  <a:lnTo>
                    <a:pt x="200" y="244"/>
                  </a:lnTo>
                  <a:lnTo>
                    <a:pt x="202" y="242"/>
                  </a:lnTo>
                  <a:lnTo>
                    <a:pt x="202" y="242"/>
                  </a:lnTo>
                  <a:lnTo>
                    <a:pt x="206" y="240"/>
                  </a:lnTo>
                  <a:lnTo>
                    <a:pt x="207" y="238"/>
                  </a:lnTo>
                  <a:lnTo>
                    <a:pt x="207" y="236"/>
                  </a:lnTo>
                  <a:lnTo>
                    <a:pt x="207" y="236"/>
                  </a:lnTo>
                  <a:lnTo>
                    <a:pt x="207" y="232"/>
                  </a:lnTo>
                  <a:lnTo>
                    <a:pt x="207" y="230"/>
                  </a:lnTo>
                  <a:lnTo>
                    <a:pt x="207" y="228"/>
                  </a:lnTo>
                  <a:lnTo>
                    <a:pt x="209" y="227"/>
                  </a:lnTo>
                  <a:lnTo>
                    <a:pt x="209" y="227"/>
                  </a:lnTo>
                  <a:lnTo>
                    <a:pt x="219" y="215"/>
                  </a:lnTo>
                  <a:lnTo>
                    <a:pt x="223" y="213"/>
                  </a:lnTo>
                  <a:lnTo>
                    <a:pt x="223" y="213"/>
                  </a:lnTo>
                  <a:lnTo>
                    <a:pt x="226" y="209"/>
                  </a:lnTo>
                  <a:lnTo>
                    <a:pt x="230" y="208"/>
                  </a:lnTo>
                  <a:lnTo>
                    <a:pt x="234" y="204"/>
                  </a:lnTo>
                  <a:lnTo>
                    <a:pt x="246" y="192"/>
                  </a:lnTo>
                  <a:lnTo>
                    <a:pt x="246" y="192"/>
                  </a:lnTo>
                  <a:lnTo>
                    <a:pt x="247" y="190"/>
                  </a:lnTo>
                  <a:lnTo>
                    <a:pt x="247" y="190"/>
                  </a:lnTo>
                  <a:lnTo>
                    <a:pt x="246" y="189"/>
                  </a:lnTo>
                  <a:lnTo>
                    <a:pt x="246" y="189"/>
                  </a:lnTo>
                  <a:lnTo>
                    <a:pt x="244" y="187"/>
                  </a:lnTo>
                  <a:lnTo>
                    <a:pt x="244" y="185"/>
                  </a:lnTo>
                  <a:lnTo>
                    <a:pt x="244" y="185"/>
                  </a:lnTo>
                  <a:lnTo>
                    <a:pt x="244" y="183"/>
                  </a:lnTo>
                  <a:lnTo>
                    <a:pt x="246" y="181"/>
                  </a:lnTo>
                  <a:lnTo>
                    <a:pt x="247" y="181"/>
                  </a:lnTo>
                  <a:lnTo>
                    <a:pt x="247" y="181"/>
                  </a:lnTo>
                  <a:lnTo>
                    <a:pt x="247" y="181"/>
                  </a:lnTo>
                  <a:lnTo>
                    <a:pt x="249" y="181"/>
                  </a:lnTo>
                  <a:lnTo>
                    <a:pt x="249" y="183"/>
                  </a:lnTo>
                  <a:lnTo>
                    <a:pt x="249" y="183"/>
                  </a:lnTo>
                  <a:lnTo>
                    <a:pt x="251" y="185"/>
                  </a:lnTo>
                  <a:lnTo>
                    <a:pt x="253" y="185"/>
                  </a:lnTo>
                  <a:lnTo>
                    <a:pt x="255" y="187"/>
                  </a:lnTo>
                  <a:lnTo>
                    <a:pt x="265" y="183"/>
                  </a:lnTo>
                  <a:lnTo>
                    <a:pt x="266" y="187"/>
                  </a:lnTo>
                  <a:lnTo>
                    <a:pt x="270" y="185"/>
                  </a:lnTo>
                  <a:lnTo>
                    <a:pt x="270" y="185"/>
                  </a:lnTo>
                  <a:lnTo>
                    <a:pt x="272" y="185"/>
                  </a:lnTo>
                  <a:lnTo>
                    <a:pt x="274" y="185"/>
                  </a:lnTo>
                  <a:lnTo>
                    <a:pt x="276" y="183"/>
                  </a:lnTo>
                  <a:lnTo>
                    <a:pt x="280" y="181"/>
                  </a:lnTo>
                  <a:lnTo>
                    <a:pt x="284" y="179"/>
                  </a:lnTo>
                  <a:lnTo>
                    <a:pt x="289" y="177"/>
                  </a:lnTo>
                  <a:lnTo>
                    <a:pt x="297" y="175"/>
                  </a:lnTo>
                  <a:lnTo>
                    <a:pt x="297" y="175"/>
                  </a:lnTo>
                  <a:lnTo>
                    <a:pt x="299" y="173"/>
                  </a:lnTo>
                  <a:lnTo>
                    <a:pt x="307" y="170"/>
                  </a:lnTo>
                  <a:lnTo>
                    <a:pt x="310" y="168"/>
                  </a:lnTo>
                  <a:lnTo>
                    <a:pt x="339" y="158"/>
                  </a:lnTo>
                  <a:lnTo>
                    <a:pt x="343" y="154"/>
                  </a:lnTo>
                  <a:lnTo>
                    <a:pt x="345" y="154"/>
                  </a:lnTo>
                  <a:lnTo>
                    <a:pt x="345" y="154"/>
                  </a:lnTo>
                  <a:lnTo>
                    <a:pt x="347" y="156"/>
                  </a:lnTo>
                  <a:lnTo>
                    <a:pt x="348" y="156"/>
                  </a:lnTo>
                  <a:lnTo>
                    <a:pt x="350" y="156"/>
                  </a:lnTo>
                  <a:lnTo>
                    <a:pt x="350" y="158"/>
                  </a:lnTo>
                  <a:lnTo>
                    <a:pt x="354" y="158"/>
                  </a:lnTo>
                  <a:lnTo>
                    <a:pt x="362" y="156"/>
                  </a:lnTo>
                  <a:lnTo>
                    <a:pt x="366" y="154"/>
                  </a:lnTo>
                  <a:lnTo>
                    <a:pt x="367" y="152"/>
                  </a:lnTo>
                  <a:lnTo>
                    <a:pt x="369" y="151"/>
                  </a:lnTo>
                  <a:lnTo>
                    <a:pt x="377" y="147"/>
                  </a:lnTo>
                  <a:lnTo>
                    <a:pt x="383" y="145"/>
                  </a:lnTo>
                  <a:lnTo>
                    <a:pt x="406" y="145"/>
                  </a:lnTo>
                  <a:lnTo>
                    <a:pt x="406" y="145"/>
                  </a:lnTo>
                  <a:lnTo>
                    <a:pt x="406" y="145"/>
                  </a:lnTo>
                  <a:lnTo>
                    <a:pt x="406" y="147"/>
                  </a:lnTo>
                  <a:lnTo>
                    <a:pt x="404" y="149"/>
                  </a:lnTo>
                  <a:lnTo>
                    <a:pt x="402" y="152"/>
                  </a:lnTo>
                  <a:lnTo>
                    <a:pt x="398" y="158"/>
                  </a:lnTo>
                  <a:lnTo>
                    <a:pt x="390" y="168"/>
                  </a:lnTo>
                  <a:lnTo>
                    <a:pt x="388" y="171"/>
                  </a:lnTo>
                  <a:lnTo>
                    <a:pt x="387" y="173"/>
                  </a:lnTo>
                  <a:lnTo>
                    <a:pt x="388" y="175"/>
                  </a:lnTo>
                  <a:lnTo>
                    <a:pt x="388" y="175"/>
                  </a:lnTo>
                  <a:lnTo>
                    <a:pt x="388" y="181"/>
                  </a:lnTo>
                  <a:lnTo>
                    <a:pt x="390" y="183"/>
                  </a:lnTo>
                  <a:lnTo>
                    <a:pt x="390" y="183"/>
                  </a:lnTo>
                  <a:lnTo>
                    <a:pt x="390" y="185"/>
                  </a:lnTo>
                  <a:lnTo>
                    <a:pt x="392" y="185"/>
                  </a:lnTo>
                  <a:lnTo>
                    <a:pt x="392" y="185"/>
                  </a:lnTo>
                  <a:lnTo>
                    <a:pt x="392" y="187"/>
                  </a:lnTo>
                  <a:lnTo>
                    <a:pt x="394" y="187"/>
                  </a:lnTo>
                  <a:lnTo>
                    <a:pt x="396" y="189"/>
                  </a:lnTo>
                  <a:lnTo>
                    <a:pt x="396" y="189"/>
                  </a:lnTo>
                  <a:lnTo>
                    <a:pt x="398" y="190"/>
                  </a:lnTo>
                  <a:lnTo>
                    <a:pt x="398" y="194"/>
                  </a:lnTo>
                  <a:lnTo>
                    <a:pt x="398" y="196"/>
                  </a:lnTo>
                  <a:lnTo>
                    <a:pt x="396" y="200"/>
                  </a:lnTo>
                  <a:lnTo>
                    <a:pt x="396" y="200"/>
                  </a:lnTo>
                  <a:lnTo>
                    <a:pt x="396" y="200"/>
                  </a:lnTo>
                  <a:lnTo>
                    <a:pt x="398" y="202"/>
                  </a:lnTo>
                  <a:lnTo>
                    <a:pt x="398" y="202"/>
                  </a:lnTo>
                  <a:lnTo>
                    <a:pt x="398" y="204"/>
                  </a:lnTo>
                  <a:lnTo>
                    <a:pt x="398" y="206"/>
                  </a:lnTo>
                  <a:lnTo>
                    <a:pt x="398" y="206"/>
                  </a:lnTo>
                  <a:lnTo>
                    <a:pt x="398" y="206"/>
                  </a:lnTo>
                  <a:lnTo>
                    <a:pt x="398" y="206"/>
                  </a:lnTo>
                  <a:lnTo>
                    <a:pt x="402" y="202"/>
                  </a:lnTo>
                  <a:lnTo>
                    <a:pt x="402" y="202"/>
                  </a:lnTo>
                  <a:lnTo>
                    <a:pt x="402" y="202"/>
                  </a:lnTo>
                  <a:lnTo>
                    <a:pt x="404" y="202"/>
                  </a:lnTo>
                  <a:lnTo>
                    <a:pt x="404" y="202"/>
                  </a:lnTo>
                  <a:lnTo>
                    <a:pt x="404" y="200"/>
                  </a:lnTo>
                  <a:lnTo>
                    <a:pt x="406" y="200"/>
                  </a:lnTo>
                  <a:lnTo>
                    <a:pt x="406" y="202"/>
                  </a:lnTo>
                  <a:lnTo>
                    <a:pt x="408" y="202"/>
                  </a:lnTo>
                  <a:lnTo>
                    <a:pt x="408" y="204"/>
                  </a:lnTo>
                  <a:lnTo>
                    <a:pt x="409" y="206"/>
                  </a:lnTo>
                  <a:lnTo>
                    <a:pt x="409" y="206"/>
                  </a:lnTo>
                  <a:lnTo>
                    <a:pt x="409" y="209"/>
                  </a:lnTo>
                  <a:lnTo>
                    <a:pt x="409" y="209"/>
                  </a:lnTo>
                  <a:lnTo>
                    <a:pt x="409" y="209"/>
                  </a:lnTo>
                  <a:lnTo>
                    <a:pt x="408" y="209"/>
                  </a:lnTo>
                  <a:lnTo>
                    <a:pt x="408" y="209"/>
                  </a:lnTo>
                  <a:lnTo>
                    <a:pt x="406" y="211"/>
                  </a:lnTo>
                  <a:lnTo>
                    <a:pt x="406" y="211"/>
                  </a:lnTo>
                  <a:lnTo>
                    <a:pt x="406" y="211"/>
                  </a:lnTo>
                  <a:lnTo>
                    <a:pt x="406" y="213"/>
                  </a:lnTo>
                  <a:lnTo>
                    <a:pt x="406" y="213"/>
                  </a:lnTo>
                  <a:lnTo>
                    <a:pt x="404" y="215"/>
                  </a:lnTo>
                  <a:lnTo>
                    <a:pt x="404" y="215"/>
                  </a:lnTo>
                  <a:lnTo>
                    <a:pt x="404" y="215"/>
                  </a:lnTo>
                  <a:lnTo>
                    <a:pt x="404" y="215"/>
                  </a:lnTo>
                  <a:lnTo>
                    <a:pt x="402" y="215"/>
                  </a:lnTo>
                  <a:lnTo>
                    <a:pt x="402" y="215"/>
                  </a:lnTo>
                  <a:lnTo>
                    <a:pt x="400" y="217"/>
                  </a:lnTo>
                  <a:lnTo>
                    <a:pt x="400" y="217"/>
                  </a:lnTo>
                  <a:lnTo>
                    <a:pt x="400" y="219"/>
                  </a:lnTo>
                  <a:lnTo>
                    <a:pt x="400" y="219"/>
                  </a:lnTo>
                  <a:lnTo>
                    <a:pt x="400" y="219"/>
                  </a:lnTo>
                  <a:lnTo>
                    <a:pt x="396" y="217"/>
                  </a:lnTo>
                  <a:lnTo>
                    <a:pt x="396" y="217"/>
                  </a:lnTo>
                  <a:lnTo>
                    <a:pt x="396" y="217"/>
                  </a:lnTo>
                  <a:lnTo>
                    <a:pt x="394" y="219"/>
                  </a:lnTo>
                  <a:lnTo>
                    <a:pt x="394" y="219"/>
                  </a:lnTo>
                  <a:lnTo>
                    <a:pt x="390" y="217"/>
                  </a:lnTo>
                  <a:lnTo>
                    <a:pt x="390" y="217"/>
                  </a:lnTo>
                  <a:lnTo>
                    <a:pt x="375" y="225"/>
                  </a:lnTo>
                  <a:lnTo>
                    <a:pt x="373" y="223"/>
                  </a:lnTo>
                  <a:lnTo>
                    <a:pt x="371" y="223"/>
                  </a:lnTo>
                  <a:lnTo>
                    <a:pt x="369" y="221"/>
                  </a:lnTo>
                  <a:lnTo>
                    <a:pt x="367" y="219"/>
                  </a:lnTo>
                  <a:lnTo>
                    <a:pt x="366" y="219"/>
                  </a:lnTo>
                  <a:lnTo>
                    <a:pt x="366" y="219"/>
                  </a:lnTo>
                  <a:lnTo>
                    <a:pt x="364" y="221"/>
                  </a:lnTo>
                  <a:lnTo>
                    <a:pt x="362" y="221"/>
                  </a:lnTo>
                  <a:lnTo>
                    <a:pt x="362" y="221"/>
                  </a:lnTo>
                  <a:lnTo>
                    <a:pt x="360" y="223"/>
                  </a:lnTo>
                  <a:lnTo>
                    <a:pt x="360" y="223"/>
                  </a:lnTo>
                  <a:lnTo>
                    <a:pt x="360" y="227"/>
                  </a:lnTo>
                  <a:lnTo>
                    <a:pt x="360" y="227"/>
                  </a:lnTo>
                  <a:lnTo>
                    <a:pt x="358" y="228"/>
                  </a:lnTo>
                  <a:lnTo>
                    <a:pt x="358" y="230"/>
                  </a:lnTo>
                  <a:lnTo>
                    <a:pt x="354" y="232"/>
                  </a:lnTo>
                  <a:lnTo>
                    <a:pt x="352" y="234"/>
                  </a:lnTo>
                  <a:lnTo>
                    <a:pt x="352" y="234"/>
                  </a:lnTo>
                  <a:lnTo>
                    <a:pt x="350" y="234"/>
                  </a:lnTo>
                  <a:lnTo>
                    <a:pt x="348" y="236"/>
                  </a:lnTo>
                  <a:lnTo>
                    <a:pt x="345" y="240"/>
                  </a:lnTo>
                  <a:lnTo>
                    <a:pt x="339" y="242"/>
                  </a:lnTo>
                  <a:lnTo>
                    <a:pt x="339" y="244"/>
                  </a:lnTo>
                  <a:lnTo>
                    <a:pt x="337" y="244"/>
                  </a:lnTo>
                  <a:lnTo>
                    <a:pt x="335" y="244"/>
                  </a:lnTo>
                  <a:lnTo>
                    <a:pt x="333" y="242"/>
                  </a:lnTo>
                  <a:lnTo>
                    <a:pt x="333" y="244"/>
                  </a:lnTo>
                  <a:lnTo>
                    <a:pt x="333" y="244"/>
                  </a:lnTo>
                  <a:lnTo>
                    <a:pt x="331" y="244"/>
                  </a:lnTo>
                  <a:lnTo>
                    <a:pt x="333" y="248"/>
                  </a:lnTo>
                  <a:lnTo>
                    <a:pt x="333" y="248"/>
                  </a:lnTo>
                  <a:lnTo>
                    <a:pt x="333" y="248"/>
                  </a:lnTo>
                  <a:lnTo>
                    <a:pt x="335" y="249"/>
                  </a:lnTo>
                  <a:lnTo>
                    <a:pt x="337" y="249"/>
                  </a:lnTo>
                  <a:lnTo>
                    <a:pt x="337" y="251"/>
                  </a:lnTo>
                  <a:lnTo>
                    <a:pt x="337" y="253"/>
                  </a:lnTo>
                  <a:lnTo>
                    <a:pt x="337" y="257"/>
                  </a:lnTo>
                  <a:lnTo>
                    <a:pt x="337" y="259"/>
                  </a:lnTo>
                  <a:lnTo>
                    <a:pt x="337" y="259"/>
                  </a:lnTo>
                  <a:lnTo>
                    <a:pt x="335" y="259"/>
                  </a:lnTo>
                  <a:lnTo>
                    <a:pt x="335" y="261"/>
                  </a:lnTo>
                  <a:lnTo>
                    <a:pt x="335" y="261"/>
                  </a:lnTo>
                  <a:lnTo>
                    <a:pt x="335" y="261"/>
                  </a:lnTo>
                  <a:lnTo>
                    <a:pt x="333" y="263"/>
                  </a:lnTo>
                  <a:lnTo>
                    <a:pt x="333" y="265"/>
                  </a:lnTo>
                  <a:lnTo>
                    <a:pt x="335" y="265"/>
                  </a:lnTo>
                  <a:lnTo>
                    <a:pt x="335" y="267"/>
                  </a:lnTo>
                  <a:lnTo>
                    <a:pt x="337" y="268"/>
                  </a:lnTo>
                  <a:lnTo>
                    <a:pt x="337" y="268"/>
                  </a:lnTo>
                  <a:lnTo>
                    <a:pt x="337" y="268"/>
                  </a:lnTo>
                  <a:lnTo>
                    <a:pt x="337" y="272"/>
                  </a:lnTo>
                  <a:lnTo>
                    <a:pt x="337" y="274"/>
                  </a:lnTo>
                  <a:lnTo>
                    <a:pt x="337" y="276"/>
                  </a:lnTo>
                  <a:lnTo>
                    <a:pt x="337" y="276"/>
                  </a:lnTo>
                  <a:lnTo>
                    <a:pt x="339" y="280"/>
                  </a:lnTo>
                  <a:lnTo>
                    <a:pt x="339" y="284"/>
                  </a:lnTo>
                  <a:lnTo>
                    <a:pt x="339" y="284"/>
                  </a:lnTo>
                  <a:lnTo>
                    <a:pt x="339" y="284"/>
                  </a:lnTo>
                  <a:lnTo>
                    <a:pt x="341" y="284"/>
                  </a:lnTo>
                  <a:lnTo>
                    <a:pt x="345" y="282"/>
                  </a:lnTo>
                  <a:lnTo>
                    <a:pt x="352" y="280"/>
                  </a:lnTo>
                  <a:lnTo>
                    <a:pt x="354" y="278"/>
                  </a:lnTo>
                  <a:lnTo>
                    <a:pt x="356" y="274"/>
                  </a:lnTo>
                  <a:lnTo>
                    <a:pt x="358" y="270"/>
                  </a:lnTo>
                  <a:lnTo>
                    <a:pt x="362" y="267"/>
                  </a:lnTo>
                  <a:lnTo>
                    <a:pt x="366" y="267"/>
                  </a:lnTo>
                  <a:lnTo>
                    <a:pt x="367" y="267"/>
                  </a:lnTo>
                  <a:lnTo>
                    <a:pt x="369" y="267"/>
                  </a:lnTo>
                  <a:lnTo>
                    <a:pt x="369" y="267"/>
                  </a:lnTo>
                  <a:lnTo>
                    <a:pt x="371" y="265"/>
                  </a:lnTo>
                  <a:lnTo>
                    <a:pt x="373" y="261"/>
                  </a:lnTo>
                  <a:lnTo>
                    <a:pt x="373" y="261"/>
                  </a:lnTo>
                  <a:lnTo>
                    <a:pt x="375" y="259"/>
                  </a:lnTo>
                  <a:lnTo>
                    <a:pt x="379" y="259"/>
                  </a:lnTo>
                  <a:lnTo>
                    <a:pt x="381" y="259"/>
                  </a:lnTo>
                  <a:lnTo>
                    <a:pt x="381" y="257"/>
                  </a:lnTo>
                  <a:lnTo>
                    <a:pt x="383" y="253"/>
                  </a:lnTo>
                  <a:lnTo>
                    <a:pt x="388" y="248"/>
                  </a:lnTo>
                  <a:lnTo>
                    <a:pt x="390" y="248"/>
                  </a:lnTo>
                  <a:lnTo>
                    <a:pt x="396" y="246"/>
                  </a:lnTo>
                  <a:lnTo>
                    <a:pt x="398" y="246"/>
                  </a:lnTo>
                  <a:lnTo>
                    <a:pt x="400" y="242"/>
                  </a:lnTo>
                  <a:lnTo>
                    <a:pt x="402" y="240"/>
                  </a:lnTo>
                  <a:lnTo>
                    <a:pt x="406" y="232"/>
                  </a:lnTo>
                  <a:lnTo>
                    <a:pt x="409" y="228"/>
                  </a:lnTo>
                  <a:lnTo>
                    <a:pt x="415" y="225"/>
                  </a:lnTo>
                  <a:lnTo>
                    <a:pt x="421" y="221"/>
                  </a:lnTo>
                  <a:lnTo>
                    <a:pt x="446" y="217"/>
                  </a:lnTo>
                  <a:lnTo>
                    <a:pt x="451" y="217"/>
                  </a:lnTo>
                  <a:lnTo>
                    <a:pt x="453" y="217"/>
                  </a:lnTo>
                  <a:lnTo>
                    <a:pt x="455" y="217"/>
                  </a:lnTo>
                  <a:lnTo>
                    <a:pt x="457" y="217"/>
                  </a:lnTo>
                  <a:lnTo>
                    <a:pt x="459" y="215"/>
                  </a:lnTo>
                  <a:lnTo>
                    <a:pt x="461" y="213"/>
                  </a:lnTo>
                  <a:lnTo>
                    <a:pt x="461" y="211"/>
                  </a:lnTo>
                  <a:lnTo>
                    <a:pt x="463" y="211"/>
                  </a:lnTo>
                  <a:lnTo>
                    <a:pt x="465" y="211"/>
                  </a:lnTo>
                  <a:lnTo>
                    <a:pt x="465" y="211"/>
                  </a:lnTo>
                  <a:lnTo>
                    <a:pt x="467" y="213"/>
                  </a:lnTo>
                  <a:lnTo>
                    <a:pt x="467" y="213"/>
                  </a:lnTo>
                  <a:lnTo>
                    <a:pt x="468" y="213"/>
                  </a:lnTo>
                  <a:lnTo>
                    <a:pt x="468" y="211"/>
                  </a:lnTo>
                  <a:lnTo>
                    <a:pt x="470" y="211"/>
                  </a:lnTo>
                  <a:lnTo>
                    <a:pt x="472" y="209"/>
                  </a:lnTo>
                  <a:lnTo>
                    <a:pt x="472" y="209"/>
                  </a:lnTo>
                  <a:lnTo>
                    <a:pt x="474" y="211"/>
                  </a:lnTo>
                  <a:lnTo>
                    <a:pt x="478" y="211"/>
                  </a:lnTo>
                  <a:lnTo>
                    <a:pt x="480" y="213"/>
                  </a:lnTo>
                  <a:lnTo>
                    <a:pt x="480" y="215"/>
                  </a:lnTo>
                  <a:lnTo>
                    <a:pt x="484" y="217"/>
                  </a:lnTo>
                  <a:lnTo>
                    <a:pt x="484" y="219"/>
                  </a:lnTo>
                  <a:lnTo>
                    <a:pt x="488" y="221"/>
                  </a:lnTo>
                  <a:lnTo>
                    <a:pt x="488" y="223"/>
                  </a:lnTo>
                  <a:lnTo>
                    <a:pt x="488" y="225"/>
                  </a:lnTo>
                  <a:lnTo>
                    <a:pt x="486" y="227"/>
                  </a:lnTo>
                  <a:lnTo>
                    <a:pt x="486" y="228"/>
                  </a:lnTo>
                  <a:lnTo>
                    <a:pt x="488" y="230"/>
                  </a:lnTo>
                  <a:lnTo>
                    <a:pt x="501" y="236"/>
                  </a:lnTo>
                  <a:lnTo>
                    <a:pt x="501" y="236"/>
                  </a:lnTo>
                  <a:lnTo>
                    <a:pt x="503" y="238"/>
                  </a:lnTo>
                  <a:lnTo>
                    <a:pt x="503" y="238"/>
                  </a:lnTo>
                  <a:lnTo>
                    <a:pt x="505" y="238"/>
                  </a:lnTo>
                  <a:lnTo>
                    <a:pt x="505" y="238"/>
                  </a:lnTo>
                  <a:lnTo>
                    <a:pt x="507" y="238"/>
                  </a:lnTo>
                  <a:lnTo>
                    <a:pt x="507" y="238"/>
                  </a:lnTo>
                  <a:lnTo>
                    <a:pt x="507" y="238"/>
                  </a:lnTo>
                  <a:lnTo>
                    <a:pt x="508" y="238"/>
                  </a:lnTo>
                  <a:lnTo>
                    <a:pt x="508" y="238"/>
                  </a:lnTo>
                  <a:lnTo>
                    <a:pt x="510" y="240"/>
                  </a:lnTo>
                  <a:lnTo>
                    <a:pt x="510" y="238"/>
                  </a:lnTo>
                  <a:lnTo>
                    <a:pt x="512" y="238"/>
                  </a:lnTo>
                  <a:lnTo>
                    <a:pt x="512" y="236"/>
                  </a:lnTo>
                  <a:lnTo>
                    <a:pt x="512" y="234"/>
                  </a:lnTo>
                  <a:lnTo>
                    <a:pt x="512" y="234"/>
                  </a:lnTo>
                  <a:lnTo>
                    <a:pt x="512" y="232"/>
                  </a:lnTo>
                  <a:lnTo>
                    <a:pt x="510" y="232"/>
                  </a:lnTo>
                  <a:lnTo>
                    <a:pt x="510" y="232"/>
                  </a:lnTo>
                  <a:lnTo>
                    <a:pt x="510" y="230"/>
                  </a:lnTo>
                  <a:lnTo>
                    <a:pt x="510" y="228"/>
                  </a:lnTo>
                  <a:lnTo>
                    <a:pt x="508" y="228"/>
                  </a:lnTo>
                  <a:lnTo>
                    <a:pt x="507" y="225"/>
                  </a:lnTo>
                  <a:lnTo>
                    <a:pt x="491" y="206"/>
                  </a:lnTo>
                  <a:lnTo>
                    <a:pt x="489" y="202"/>
                  </a:lnTo>
                  <a:lnTo>
                    <a:pt x="489" y="200"/>
                  </a:lnTo>
                  <a:lnTo>
                    <a:pt x="489" y="196"/>
                  </a:lnTo>
                  <a:lnTo>
                    <a:pt x="489" y="194"/>
                  </a:lnTo>
                  <a:lnTo>
                    <a:pt x="489" y="194"/>
                  </a:lnTo>
                  <a:lnTo>
                    <a:pt x="489" y="192"/>
                  </a:lnTo>
                  <a:lnTo>
                    <a:pt x="489" y="190"/>
                  </a:lnTo>
                  <a:lnTo>
                    <a:pt x="489" y="190"/>
                  </a:lnTo>
                  <a:lnTo>
                    <a:pt x="488" y="189"/>
                  </a:lnTo>
                  <a:lnTo>
                    <a:pt x="488" y="189"/>
                  </a:lnTo>
                  <a:lnTo>
                    <a:pt x="488" y="185"/>
                  </a:lnTo>
                  <a:lnTo>
                    <a:pt x="488" y="183"/>
                  </a:lnTo>
                  <a:lnTo>
                    <a:pt x="489" y="181"/>
                  </a:lnTo>
                  <a:lnTo>
                    <a:pt x="491" y="181"/>
                  </a:lnTo>
                  <a:lnTo>
                    <a:pt x="495" y="177"/>
                  </a:lnTo>
                  <a:lnTo>
                    <a:pt x="497" y="177"/>
                  </a:lnTo>
                  <a:lnTo>
                    <a:pt x="499" y="171"/>
                  </a:lnTo>
                  <a:lnTo>
                    <a:pt x="501" y="171"/>
                  </a:lnTo>
                  <a:lnTo>
                    <a:pt x="503" y="171"/>
                  </a:lnTo>
                  <a:lnTo>
                    <a:pt x="505" y="170"/>
                  </a:lnTo>
                  <a:lnTo>
                    <a:pt x="505" y="170"/>
                  </a:lnTo>
                  <a:lnTo>
                    <a:pt x="507" y="170"/>
                  </a:lnTo>
                  <a:lnTo>
                    <a:pt x="507" y="168"/>
                  </a:lnTo>
                  <a:lnTo>
                    <a:pt x="507" y="168"/>
                  </a:lnTo>
                  <a:lnTo>
                    <a:pt x="507" y="168"/>
                  </a:lnTo>
                  <a:lnTo>
                    <a:pt x="508" y="166"/>
                  </a:lnTo>
                  <a:lnTo>
                    <a:pt x="508" y="166"/>
                  </a:lnTo>
                  <a:lnTo>
                    <a:pt x="510" y="164"/>
                  </a:lnTo>
                  <a:lnTo>
                    <a:pt x="510" y="164"/>
                  </a:lnTo>
                  <a:lnTo>
                    <a:pt x="512" y="164"/>
                  </a:lnTo>
                  <a:lnTo>
                    <a:pt x="512" y="162"/>
                  </a:lnTo>
                  <a:lnTo>
                    <a:pt x="518" y="158"/>
                  </a:lnTo>
                  <a:lnTo>
                    <a:pt x="518" y="156"/>
                  </a:lnTo>
                  <a:lnTo>
                    <a:pt x="520" y="154"/>
                  </a:lnTo>
                  <a:lnTo>
                    <a:pt x="522" y="154"/>
                  </a:lnTo>
                  <a:lnTo>
                    <a:pt x="522" y="152"/>
                  </a:lnTo>
                  <a:lnTo>
                    <a:pt x="524" y="152"/>
                  </a:lnTo>
                  <a:lnTo>
                    <a:pt x="526" y="152"/>
                  </a:lnTo>
                  <a:lnTo>
                    <a:pt x="528" y="154"/>
                  </a:lnTo>
                  <a:lnTo>
                    <a:pt x="528" y="156"/>
                  </a:lnTo>
                  <a:lnTo>
                    <a:pt x="528" y="156"/>
                  </a:lnTo>
                  <a:lnTo>
                    <a:pt x="529" y="156"/>
                  </a:lnTo>
                  <a:lnTo>
                    <a:pt x="531" y="154"/>
                  </a:lnTo>
                  <a:lnTo>
                    <a:pt x="531" y="154"/>
                  </a:lnTo>
                  <a:lnTo>
                    <a:pt x="531" y="152"/>
                  </a:lnTo>
                  <a:lnTo>
                    <a:pt x="531" y="151"/>
                  </a:lnTo>
                  <a:lnTo>
                    <a:pt x="531" y="149"/>
                  </a:lnTo>
                  <a:lnTo>
                    <a:pt x="533" y="145"/>
                  </a:lnTo>
                  <a:lnTo>
                    <a:pt x="533" y="145"/>
                  </a:lnTo>
                  <a:lnTo>
                    <a:pt x="533" y="141"/>
                  </a:lnTo>
                  <a:close/>
                </a:path>
              </a:pathLst>
            </a:custGeom>
            <a:solidFill>
              <a:schemeClr val="tx2"/>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24" name="Freeform 74">
              <a:extLst>
                <a:ext uri="{FF2B5EF4-FFF2-40B4-BE49-F238E27FC236}">
                  <a16:creationId xmlns:a16="http://schemas.microsoft.com/office/drawing/2014/main" id="{0EAC3167-B9B1-C7F6-E911-4FC95CCBE196}"/>
                </a:ext>
              </a:extLst>
            </p:cNvPr>
            <p:cNvSpPr>
              <a:spLocks noEditPoints="1"/>
            </p:cNvSpPr>
            <p:nvPr/>
          </p:nvSpPr>
          <p:spPr bwMode="auto">
            <a:xfrm>
              <a:off x="2502152" y="4340098"/>
              <a:ext cx="1405469" cy="1058898"/>
            </a:xfrm>
            <a:custGeom>
              <a:avLst/>
              <a:gdLst>
                <a:gd name="T0" fmla="*/ 724 w 745"/>
                <a:gd name="T1" fmla="*/ 9 h 626"/>
                <a:gd name="T2" fmla="*/ 684 w 745"/>
                <a:gd name="T3" fmla="*/ 36 h 626"/>
                <a:gd name="T4" fmla="*/ 650 w 745"/>
                <a:gd name="T5" fmla="*/ 21 h 626"/>
                <a:gd name="T6" fmla="*/ 623 w 745"/>
                <a:gd name="T7" fmla="*/ 15 h 626"/>
                <a:gd name="T8" fmla="*/ 615 w 745"/>
                <a:gd name="T9" fmla="*/ 28 h 626"/>
                <a:gd name="T10" fmla="*/ 585 w 745"/>
                <a:gd name="T11" fmla="*/ 61 h 626"/>
                <a:gd name="T12" fmla="*/ 560 w 745"/>
                <a:gd name="T13" fmla="*/ 72 h 626"/>
                <a:gd name="T14" fmla="*/ 535 w 745"/>
                <a:gd name="T15" fmla="*/ 70 h 626"/>
                <a:gd name="T16" fmla="*/ 520 w 745"/>
                <a:gd name="T17" fmla="*/ 99 h 626"/>
                <a:gd name="T18" fmla="*/ 467 w 745"/>
                <a:gd name="T19" fmla="*/ 124 h 626"/>
                <a:gd name="T20" fmla="*/ 444 w 745"/>
                <a:gd name="T21" fmla="*/ 150 h 626"/>
                <a:gd name="T22" fmla="*/ 428 w 745"/>
                <a:gd name="T23" fmla="*/ 175 h 626"/>
                <a:gd name="T24" fmla="*/ 398 w 745"/>
                <a:gd name="T25" fmla="*/ 192 h 626"/>
                <a:gd name="T26" fmla="*/ 381 w 745"/>
                <a:gd name="T27" fmla="*/ 205 h 626"/>
                <a:gd name="T28" fmla="*/ 356 w 745"/>
                <a:gd name="T29" fmla="*/ 198 h 626"/>
                <a:gd name="T30" fmla="*/ 337 w 745"/>
                <a:gd name="T31" fmla="*/ 207 h 626"/>
                <a:gd name="T32" fmla="*/ 356 w 745"/>
                <a:gd name="T33" fmla="*/ 221 h 626"/>
                <a:gd name="T34" fmla="*/ 341 w 745"/>
                <a:gd name="T35" fmla="*/ 224 h 626"/>
                <a:gd name="T36" fmla="*/ 322 w 745"/>
                <a:gd name="T37" fmla="*/ 207 h 626"/>
                <a:gd name="T38" fmla="*/ 307 w 745"/>
                <a:gd name="T39" fmla="*/ 234 h 626"/>
                <a:gd name="T40" fmla="*/ 261 w 745"/>
                <a:gd name="T41" fmla="*/ 245 h 626"/>
                <a:gd name="T42" fmla="*/ 226 w 745"/>
                <a:gd name="T43" fmla="*/ 285 h 626"/>
                <a:gd name="T44" fmla="*/ 196 w 745"/>
                <a:gd name="T45" fmla="*/ 295 h 626"/>
                <a:gd name="T46" fmla="*/ 148 w 745"/>
                <a:gd name="T47" fmla="*/ 302 h 626"/>
                <a:gd name="T48" fmla="*/ 124 w 745"/>
                <a:gd name="T49" fmla="*/ 321 h 626"/>
                <a:gd name="T50" fmla="*/ 91 w 745"/>
                <a:gd name="T51" fmla="*/ 318 h 626"/>
                <a:gd name="T52" fmla="*/ 30 w 745"/>
                <a:gd name="T53" fmla="*/ 331 h 626"/>
                <a:gd name="T54" fmla="*/ 26 w 745"/>
                <a:gd name="T55" fmla="*/ 361 h 626"/>
                <a:gd name="T56" fmla="*/ 21 w 745"/>
                <a:gd name="T57" fmla="*/ 399 h 626"/>
                <a:gd name="T58" fmla="*/ 4 w 745"/>
                <a:gd name="T59" fmla="*/ 424 h 626"/>
                <a:gd name="T60" fmla="*/ 17 w 745"/>
                <a:gd name="T61" fmla="*/ 458 h 626"/>
                <a:gd name="T62" fmla="*/ 34 w 745"/>
                <a:gd name="T63" fmla="*/ 470 h 626"/>
                <a:gd name="T64" fmla="*/ 63 w 745"/>
                <a:gd name="T65" fmla="*/ 466 h 626"/>
                <a:gd name="T66" fmla="*/ 59 w 745"/>
                <a:gd name="T67" fmla="*/ 487 h 626"/>
                <a:gd name="T68" fmla="*/ 53 w 745"/>
                <a:gd name="T69" fmla="*/ 496 h 626"/>
                <a:gd name="T70" fmla="*/ 19 w 745"/>
                <a:gd name="T71" fmla="*/ 479 h 626"/>
                <a:gd name="T72" fmla="*/ 23 w 745"/>
                <a:gd name="T73" fmla="*/ 512 h 626"/>
                <a:gd name="T74" fmla="*/ 38 w 745"/>
                <a:gd name="T75" fmla="*/ 513 h 626"/>
                <a:gd name="T76" fmla="*/ 53 w 745"/>
                <a:gd name="T77" fmla="*/ 512 h 626"/>
                <a:gd name="T78" fmla="*/ 82 w 745"/>
                <a:gd name="T79" fmla="*/ 517 h 626"/>
                <a:gd name="T80" fmla="*/ 105 w 745"/>
                <a:gd name="T81" fmla="*/ 504 h 626"/>
                <a:gd name="T82" fmla="*/ 118 w 745"/>
                <a:gd name="T83" fmla="*/ 510 h 626"/>
                <a:gd name="T84" fmla="*/ 141 w 745"/>
                <a:gd name="T85" fmla="*/ 536 h 626"/>
                <a:gd name="T86" fmla="*/ 152 w 745"/>
                <a:gd name="T87" fmla="*/ 559 h 626"/>
                <a:gd name="T88" fmla="*/ 169 w 745"/>
                <a:gd name="T89" fmla="*/ 576 h 626"/>
                <a:gd name="T90" fmla="*/ 150 w 745"/>
                <a:gd name="T91" fmla="*/ 601 h 626"/>
                <a:gd name="T92" fmla="*/ 164 w 745"/>
                <a:gd name="T93" fmla="*/ 622 h 626"/>
                <a:gd name="T94" fmla="*/ 200 w 745"/>
                <a:gd name="T95" fmla="*/ 588 h 626"/>
                <a:gd name="T96" fmla="*/ 238 w 745"/>
                <a:gd name="T97" fmla="*/ 580 h 626"/>
                <a:gd name="T98" fmla="*/ 274 w 745"/>
                <a:gd name="T99" fmla="*/ 569 h 626"/>
                <a:gd name="T100" fmla="*/ 308 w 745"/>
                <a:gd name="T101" fmla="*/ 546 h 626"/>
                <a:gd name="T102" fmla="*/ 320 w 745"/>
                <a:gd name="T103" fmla="*/ 546 h 626"/>
                <a:gd name="T104" fmla="*/ 326 w 745"/>
                <a:gd name="T105" fmla="*/ 512 h 626"/>
                <a:gd name="T106" fmla="*/ 318 w 745"/>
                <a:gd name="T107" fmla="*/ 437 h 626"/>
                <a:gd name="T108" fmla="*/ 347 w 745"/>
                <a:gd name="T109" fmla="*/ 321 h 626"/>
                <a:gd name="T110" fmla="*/ 387 w 745"/>
                <a:gd name="T111" fmla="*/ 308 h 626"/>
                <a:gd name="T112" fmla="*/ 419 w 745"/>
                <a:gd name="T113" fmla="*/ 274 h 626"/>
                <a:gd name="T114" fmla="*/ 482 w 745"/>
                <a:gd name="T115" fmla="*/ 268 h 626"/>
                <a:gd name="T116" fmla="*/ 522 w 745"/>
                <a:gd name="T117" fmla="*/ 224 h 626"/>
                <a:gd name="T118" fmla="*/ 579 w 745"/>
                <a:gd name="T119" fmla="*/ 164 h 626"/>
                <a:gd name="T120" fmla="*/ 619 w 745"/>
                <a:gd name="T121" fmla="*/ 129 h 626"/>
                <a:gd name="T122" fmla="*/ 697 w 745"/>
                <a:gd name="T123" fmla="*/ 65 h 626"/>
                <a:gd name="T124" fmla="*/ 514 w 745"/>
                <a:gd name="T125" fmla="*/ 238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45" h="626">
                  <a:moveTo>
                    <a:pt x="743" y="6"/>
                  </a:moveTo>
                  <a:lnTo>
                    <a:pt x="743" y="6"/>
                  </a:lnTo>
                  <a:lnTo>
                    <a:pt x="743" y="6"/>
                  </a:lnTo>
                  <a:lnTo>
                    <a:pt x="743" y="8"/>
                  </a:lnTo>
                  <a:lnTo>
                    <a:pt x="741" y="9"/>
                  </a:lnTo>
                  <a:lnTo>
                    <a:pt x="739" y="8"/>
                  </a:lnTo>
                  <a:lnTo>
                    <a:pt x="739" y="8"/>
                  </a:lnTo>
                  <a:lnTo>
                    <a:pt x="739" y="6"/>
                  </a:lnTo>
                  <a:lnTo>
                    <a:pt x="739" y="6"/>
                  </a:lnTo>
                  <a:lnTo>
                    <a:pt x="739" y="4"/>
                  </a:lnTo>
                  <a:lnTo>
                    <a:pt x="739" y="2"/>
                  </a:lnTo>
                  <a:lnTo>
                    <a:pt x="741" y="2"/>
                  </a:lnTo>
                  <a:lnTo>
                    <a:pt x="741" y="2"/>
                  </a:lnTo>
                  <a:lnTo>
                    <a:pt x="743" y="4"/>
                  </a:lnTo>
                  <a:lnTo>
                    <a:pt x="743" y="6"/>
                  </a:lnTo>
                  <a:lnTo>
                    <a:pt x="745" y="6"/>
                  </a:lnTo>
                  <a:lnTo>
                    <a:pt x="743" y="2"/>
                  </a:lnTo>
                  <a:lnTo>
                    <a:pt x="743" y="2"/>
                  </a:lnTo>
                  <a:lnTo>
                    <a:pt x="743" y="2"/>
                  </a:lnTo>
                  <a:lnTo>
                    <a:pt x="741" y="0"/>
                  </a:lnTo>
                  <a:lnTo>
                    <a:pt x="741" y="0"/>
                  </a:lnTo>
                  <a:lnTo>
                    <a:pt x="737" y="0"/>
                  </a:lnTo>
                  <a:lnTo>
                    <a:pt x="737" y="0"/>
                  </a:lnTo>
                  <a:lnTo>
                    <a:pt x="735" y="0"/>
                  </a:lnTo>
                  <a:lnTo>
                    <a:pt x="735" y="2"/>
                  </a:lnTo>
                  <a:lnTo>
                    <a:pt x="735" y="2"/>
                  </a:lnTo>
                  <a:lnTo>
                    <a:pt x="735" y="2"/>
                  </a:lnTo>
                  <a:lnTo>
                    <a:pt x="735" y="4"/>
                  </a:lnTo>
                  <a:lnTo>
                    <a:pt x="735" y="4"/>
                  </a:lnTo>
                  <a:lnTo>
                    <a:pt x="735" y="6"/>
                  </a:lnTo>
                  <a:lnTo>
                    <a:pt x="735" y="6"/>
                  </a:lnTo>
                  <a:lnTo>
                    <a:pt x="733" y="8"/>
                  </a:lnTo>
                  <a:lnTo>
                    <a:pt x="733" y="8"/>
                  </a:lnTo>
                  <a:lnTo>
                    <a:pt x="733" y="8"/>
                  </a:lnTo>
                  <a:lnTo>
                    <a:pt x="731" y="8"/>
                  </a:lnTo>
                  <a:lnTo>
                    <a:pt x="731" y="6"/>
                  </a:lnTo>
                  <a:lnTo>
                    <a:pt x="724" y="9"/>
                  </a:lnTo>
                  <a:lnTo>
                    <a:pt x="724" y="11"/>
                  </a:lnTo>
                  <a:lnTo>
                    <a:pt x="720" y="13"/>
                  </a:lnTo>
                  <a:lnTo>
                    <a:pt x="720" y="13"/>
                  </a:lnTo>
                  <a:lnTo>
                    <a:pt x="718" y="13"/>
                  </a:lnTo>
                  <a:lnTo>
                    <a:pt x="718" y="13"/>
                  </a:lnTo>
                  <a:lnTo>
                    <a:pt x="716" y="13"/>
                  </a:lnTo>
                  <a:lnTo>
                    <a:pt x="716" y="13"/>
                  </a:lnTo>
                  <a:lnTo>
                    <a:pt x="716" y="13"/>
                  </a:lnTo>
                  <a:lnTo>
                    <a:pt x="716" y="15"/>
                  </a:lnTo>
                  <a:lnTo>
                    <a:pt x="716" y="15"/>
                  </a:lnTo>
                  <a:lnTo>
                    <a:pt x="716" y="17"/>
                  </a:lnTo>
                  <a:lnTo>
                    <a:pt x="716" y="17"/>
                  </a:lnTo>
                  <a:lnTo>
                    <a:pt x="714" y="17"/>
                  </a:lnTo>
                  <a:lnTo>
                    <a:pt x="714" y="19"/>
                  </a:lnTo>
                  <a:lnTo>
                    <a:pt x="714" y="19"/>
                  </a:lnTo>
                  <a:lnTo>
                    <a:pt x="714" y="19"/>
                  </a:lnTo>
                  <a:lnTo>
                    <a:pt x="714" y="19"/>
                  </a:lnTo>
                  <a:lnTo>
                    <a:pt x="716" y="21"/>
                  </a:lnTo>
                  <a:lnTo>
                    <a:pt x="716" y="21"/>
                  </a:lnTo>
                  <a:lnTo>
                    <a:pt x="714" y="21"/>
                  </a:lnTo>
                  <a:lnTo>
                    <a:pt x="712" y="25"/>
                  </a:lnTo>
                  <a:lnTo>
                    <a:pt x="710" y="27"/>
                  </a:lnTo>
                  <a:lnTo>
                    <a:pt x="710" y="27"/>
                  </a:lnTo>
                  <a:lnTo>
                    <a:pt x="709" y="27"/>
                  </a:lnTo>
                  <a:lnTo>
                    <a:pt x="709" y="27"/>
                  </a:lnTo>
                  <a:lnTo>
                    <a:pt x="709" y="27"/>
                  </a:lnTo>
                  <a:lnTo>
                    <a:pt x="707" y="28"/>
                  </a:lnTo>
                  <a:lnTo>
                    <a:pt x="707" y="30"/>
                  </a:lnTo>
                  <a:lnTo>
                    <a:pt x="705" y="32"/>
                  </a:lnTo>
                  <a:lnTo>
                    <a:pt x="703" y="34"/>
                  </a:lnTo>
                  <a:lnTo>
                    <a:pt x="701" y="34"/>
                  </a:lnTo>
                  <a:lnTo>
                    <a:pt x="695" y="36"/>
                  </a:lnTo>
                  <a:lnTo>
                    <a:pt x="690" y="36"/>
                  </a:lnTo>
                  <a:lnTo>
                    <a:pt x="688" y="38"/>
                  </a:lnTo>
                  <a:lnTo>
                    <a:pt x="686" y="36"/>
                  </a:lnTo>
                  <a:lnTo>
                    <a:pt x="686" y="36"/>
                  </a:lnTo>
                  <a:lnTo>
                    <a:pt x="684" y="36"/>
                  </a:lnTo>
                  <a:lnTo>
                    <a:pt x="682" y="36"/>
                  </a:lnTo>
                  <a:lnTo>
                    <a:pt x="680" y="36"/>
                  </a:lnTo>
                  <a:lnTo>
                    <a:pt x="680" y="34"/>
                  </a:lnTo>
                  <a:lnTo>
                    <a:pt x="678" y="34"/>
                  </a:lnTo>
                  <a:lnTo>
                    <a:pt x="678" y="34"/>
                  </a:lnTo>
                  <a:lnTo>
                    <a:pt x="672" y="34"/>
                  </a:lnTo>
                  <a:lnTo>
                    <a:pt x="667" y="34"/>
                  </a:lnTo>
                  <a:lnTo>
                    <a:pt x="663" y="36"/>
                  </a:lnTo>
                  <a:lnTo>
                    <a:pt x="663" y="34"/>
                  </a:lnTo>
                  <a:lnTo>
                    <a:pt x="663" y="34"/>
                  </a:lnTo>
                  <a:lnTo>
                    <a:pt x="661" y="34"/>
                  </a:lnTo>
                  <a:lnTo>
                    <a:pt x="661" y="34"/>
                  </a:lnTo>
                  <a:lnTo>
                    <a:pt x="661" y="34"/>
                  </a:lnTo>
                  <a:lnTo>
                    <a:pt x="661" y="32"/>
                  </a:lnTo>
                  <a:lnTo>
                    <a:pt x="659" y="32"/>
                  </a:lnTo>
                  <a:lnTo>
                    <a:pt x="659" y="30"/>
                  </a:lnTo>
                  <a:lnTo>
                    <a:pt x="659" y="30"/>
                  </a:lnTo>
                  <a:lnTo>
                    <a:pt x="659" y="30"/>
                  </a:lnTo>
                  <a:lnTo>
                    <a:pt x="659" y="28"/>
                  </a:lnTo>
                  <a:lnTo>
                    <a:pt x="657" y="27"/>
                  </a:lnTo>
                  <a:lnTo>
                    <a:pt x="657" y="25"/>
                  </a:lnTo>
                  <a:lnTo>
                    <a:pt x="655" y="25"/>
                  </a:lnTo>
                  <a:lnTo>
                    <a:pt x="655" y="21"/>
                  </a:lnTo>
                  <a:lnTo>
                    <a:pt x="653" y="17"/>
                  </a:lnTo>
                  <a:lnTo>
                    <a:pt x="651" y="15"/>
                  </a:lnTo>
                  <a:lnTo>
                    <a:pt x="651" y="15"/>
                  </a:lnTo>
                  <a:lnTo>
                    <a:pt x="650" y="15"/>
                  </a:lnTo>
                  <a:lnTo>
                    <a:pt x="650" y="15"/>
                  </a:lnTo>
                  <a:lnTo>
                    <a:pt x="650" y="17"/>
                  </a:lnTo>
                  <a:lnTo>
                    <a:pt x="650" y="17"/>
                  </a:lnTo>
                  <a:lnTo>
                    <a:pt x="650" y="17"/>
                  </a:lnTo>
                  <a:lnTo>
                    <a:pt x="650" y="17"/>
                  </a:lnTo>
                  <a:lnTo>
                    <a:pt x="650" y="19"/>
                  </a:lnTo>
                  <a:lnTo>
                    <a:pt x="650" y="19"/>
                  </a:lnTo>
                  <a:lnTo>
                    <a:pt x="650" y="19"/>
                  </a:lnTo>
                  <a:lnTo>
                    <a:pt x="650" y="21"/>
                  </a:lnTo>
                  <a:lnTo>
                    <a:pt x="650" y="21"/>
                  </a:lnTo>
                  <a:lnTo>
                    <a:pt x="650" y="23"/>
                  </a:lnTo>
                  <a:lnTo>
                    <a:pt x="648" y="23"/>
                  </a:lnTo>
                  <a:lnTo>
                    <a:pt x="648" y="23"/>
                  </a:lnTo>
                  <a:lnTo>
                    <a:pt x="648" y="23"/>
                  </a:lnTo>
                  <a:lnTo>
                    <a:pt x="648" y="21"/>
                  </a:lnTo>
                  <a:lnTo>
                    <a:pt x="646" y="15"/>
                  </a:lnTo>
                  <a:lnTo>
                    <a:pt x="644" y="15"/>
                  </a:lnTo>
                  <a:lnTo>
                    <a:pt x="644" y="13"/>
                  </a:lnTo>
                  <a:lnTo>
                    <a:pt x="640" y="9"/>
                  </a:lnTo>
                  <a:lnTo>
                    <a:pt x="638" y="8"/>
                  </a:lnTo>
                  <a:lnTo>
                    <a:pt x="638" y="6"/>
                  </a:lnTo>
                  <a:lnTo>
                    <a:pt x="636" y="4"/>
                  </a:lnTo>
                  <a:lnTo>
                    <a:pt x="636" y="4"/>
                  </a:lnTo>
                  <a:lnTo>
                    <a:pt x="634" y="4"/>
                  </a:lnTo>
                  <a:lnTo>
                    <a:pt x="634" y="6"/>
                  </a:lnTo>
                  <a:lnTo>
                    <a:pt x="634" y="6"/>
                  </a:lnTo>
                  <a:lnTo>
                    <a:pt x="634" y="8"/>
                  </a:lnTo>
                  <a:lnTo>
                    <a:pt x="634" y="8"/>
                  </a:lnTo>
                  <a:lnTo>
                    <a:pt x="632" y="9"/>
                  </a:lnTo>
                  <a:lnTo>
                    <a:pt x="630" y="9"/>
                  </a:lnTo>
                  <a:lnTo>
                    <a:pt x="630" y="11"/>
                  </a:lnTo>
                  <a:lnTo>
                    <a:pt x="630" y="11"/>
                  </a:lnTo>
                  <a:lnTo>
                    <a:pt x="629" y="13"/>
                  </a:lnTo>
                  <a:lnTo>
                    <a:pt x="629" y="15"/>
                  </a:lnTo>
                  <a:lnTo>
                    <a:pt x="629" y="15"/>
                  </a:lnTo>
                  <a:lnTo>
                    <a:pt x="627" y="15"/>
                  </a:lnTo>
                  <a:lnTo>
                    <a:pt x="627" y="15"/>
                  </a:lnTo>
                  <a:lnTo>
                    <a:pt x="627" y="15"/>
                  </a:lnTo>
                  <a:lnTo>
                    <a:pt x="625" y="13"/>
                  </a:lnTo>
                  <a:lnTo>
                    <a:pt x="625" y="11"/>
                  </a:lnTo>
                  <a:lnTo>
                    <a:pt x="625" y="9"/>
                  </a:lnTo>
                  <a:lnTo>
                    <a:pt x="623" y="9"/>
                  </a:lnTo>
                  <a:lnTo>
                    <a:pt x="623" y="9"/>
                  </a:lnTo>
                  <a:lnTo>
                    <a:pt x="623" y="9"/>
                  </a:lnTo>
                  <a:lnTo>
                    <a:pt x="623" y="9"/>
                  </a:lnTo>
                  <a:lnTo>
                    <a:pt x="623" y="13"/>
                  </a:lnTo>
                  <a:lnTo>
                    <a:pt x="623" y="15"/>
                  </a:lnTo>
                  <a:lnTo>
                    <a:pt x="623" y="15"/>
                  </a:lnTo>
                  <a:lnTo>
                    <a:pt x="621" y="15"/>
                  </a:lnTo>
                  <a:lnTo>
                    <a:pt x="621" y="15"/>
                  </a:lnTo>
                  <a:lnTo>
                    <a:pt x="621" y="17"/>
                  </a:lnTo>
                  <a:lnTo>
                    <a:pt x="621" y="17"/>
                  </a:lnTo>
                  <a:lnTo>
                    <a:pt x="621" y="17"/>
                  </a:lnTo>
                  <a:lnTo>
                    <a:pt x="621" y="17"/>
                  </a:lnTo>
                  <a:lnTo>
                    <a:pt x="621" y="19"/>
                  </a:lnTo>
                  <a:lnTo>
                    <a:pt x="621" y="19"/>
                  </a:lnTo>
                  <a:lnTo>
                    <a:pt x="621" y="21"/>
                  </a:lnTo>
                  <a:lnTo>
                    <a:pt x="619" y="19"/>
                  </a:lnTo>
                  <a:lnTo>
                    <a:pt x="617" y="19"/>
                  </a:lnTo>
                  <a:lnTo>
                    <a:pt x="615" y="17"/>
                  </a:lnTo>
                  <a:lnTo>
                    <a:pt x="613" y="17"/>
                  </a:lnTo>
                  <a:lnTo>
                    <a:pt x="613" y="17"/>
                  </a:lnTo>
                  <a:lnTo>
                    <a:pt x="613" y="17"/>
                  </a:lnTo>
                  <a:lnTo>
                    <a:pt x="611" y="15"/>
                  </a:lnTo>
                  <a:lnTo>
                    <a:pt x="609" y="15"/>
                  </a:lnTo>
                  <a:lnTo>
                    <a:pt x="609" y="15"/>
                  </a:lnTo>
                  <a:lnTo>
                    <a:pt x="609" y="17"/>
                  </a:lnTo>
                  <a:lnTo>
                    <a:pt x="608" y="17"/>
                  </a:lnTo>
                  <a:lnTo>
                    <a:pt x="608" y="17"/>
                  </a:lnTo>
                  <a:lnTo>
                    <a:pt x="608" y="19"/>
                  </a:lnTo>
                  <a:lnTo>
                    <a:pt x="608" y="19"/>
                  </a:lnTo>
                  <a:lnTo>
                    <a:pt x="608" y="19"/>
                  </a:lnTo>
                  <a:lnTo>
                    <a:pt x="609" y="21"/>
                  </a:lnTo>
                  <a:lnTo>
                    <a:pt x="609" y="21"/>
                  </a:lnTo>
                  <a:lnTo>
                    <a:pt x="609" y="23"/>
                  </a:lnTo>
                  <a:lnTo>
                    <a:pt x="609" y="23"/>
                  </a:lnTo>
                  <a:lnTo>
                    <a:pt x="611" y="25"/>
                  </a:lnTo>
                  <a:lnTo>
                    <a:pt x="611" y="27"/>
                  </a:lnTo>
                  <a:lnTo>
                    <a:pt x="613" y="27"/>
                  </a:lnTo>
                  <a:lnTo>
                    <a:pt x="613" y="27"/>
                  </a:lnTo>
                  <a:lnTo>
                    <a:pt x="613" y="27"/>
                  </a:lnTo>
                  <a:lnTo>
                    <a:pt x="613" y="27"/>
                  </a:lnTo>
                  <a:lnTo>
                    <a:pt x="615" y="27"/>
                  </a:lnTo>
                  <a:lnTo>
                    <a:pt x="615" y="28"/>
                  </a:lnTo>
                  <a:lnTo>
                    <a:pt x="615" y="28"/>
                  </a:lnTo>
                  <a:lnTo>
                    <a:pt x="615" y="28"/>
                  </a:lnTo>
                  <a:lnTo>
                    <a:pt x="615" y="28"/>
                  </a:lnTo>
                  <a:lnTo>
                    <a:pt x="617" y="28"/>
                  </a:lnTo>
                  <a:lnTo>
                    <a:pt x="617" y="30"/>
                  </a:lnTo>
                  <a:lnTo>
                    <a:pt x="615" y="30"/>
                  </a:lnTo>
                  <a:lnTo>
                    <a:pt x="615" y="32"/>
                  </a:lnTo>
                  <a:lnTo>
                    <a:pt x="613" y="32"/>
                  </a:lnTo>
                  <a:lnTo>
                    <a:pt x="611" y="32"/>
                  </a:lnTo>
                  <a:lnTo>
                    <a:pt x="609" y="34"/>
                  </a:lnTo>
                  <a:lnTo>
                    <a:pt x="608" y="36"/>
                  </a:lnTo>
                  <a:lnTo>
                    <a:pt x="606" y="38"/>
                  </a:lnTo>
                  <a:lnTo>
                    <a:pt x="604" y="40"/>
                  </a:lnTo>
                  <a:lnTo>
                    <a:pt x="598" y="42"/>
                  </a:lnTo>
                  <a:lnTo>
                    <a:pt x="598" y="42"/>
                  </a:lnTo>
                  <a:lnTo>
                    <a:pt x="596" y="40"/>
                  </a:lnTo>
                  <a:lnTo>
                    <a:pt x="596" y="40"/>
                  </a:lnTo>
                  <a:lnTo>
                    <a:pt x="594" y="40"/>
                  </a:lnTo>
                  <a:lnTo>
                    <a:pt x="594" y="40"/>
                  </a:lnTo>
                  <a:lnTo>
                    <a:pt x="592" y="40"/>
                  </a:lnTo>
                  <a:lnTo>
                    <a:pt x="592" y="40"/>
                  </a:lnTo>
                  <a:lnTo>
                    <a:pt x="590" y="42"/>
                  </a:lnTo>
                  <a:lnTo>
                    <a:pt x="589" y="44"/>
                  </a:lnTo>
                  <a:lnTo>
                    <a:pt x="587" y="46"/>
                  </a:lnTo>
                  <a:lnTo>
                    <a:pt x="587" y="48"/>
                  </a:lnTo>
                  <a:lnTo>
                    <a:pt x="585" y="49"/>
                  </a:lnTo>
                  <a:lnTo>
                    <a:pt x="583" y="51"/>
                  </a:lnTo>
                  <a:lnTo>
                    <a:pt x="583" y="51"/>
                  </a:lnTo>
                  <a:lnTo>
                    <a:pt x="583" y="53"/>
                  </a:lnTo>
                  <a:lnTo>
                    <a:pt x="583" y="53"/>
                  </a:lnTo>
                  <a:lnTo>
                    <a:pt x="583" y="53"/>
                  </a:lnTo>
                  <a:lnTo>
                    <a:pt x="581" y="55"/>
                  </a:lnTo>
                  <a:lnTo>
                    <a:pt x="581" y="55"/>
                  </a:lnTo>
                  <a:lnTo>
                    <a:pt x="581" y="57"/>
                  </a:lnTo>
                  <a:lnTo>
                    <a:pt x="583" y="59"/>
                  </a:lnTo>
                  <a:lnTo>
                    <a:pt x="585" y="61"/>
                  </a:lnTo>
                  <a:lnTo>
                    <a:pt x="585" y="61"/>
                  </a:lnTo>
                  <a:lnTo>
                    <a:pt x="585" y="61"/>
                  </a:lnTo>
                  <a:lnTo>
                    <a:pt x="587" y="61"/>
                  </a:lnTo>
                  <a:lnTo>
                    <a:pt x="587" y="61"/>
                  </a:lnTo>
                  <a:lnTo>
                    <a:pt x="587" y="61"/>
                  </a:lnTo>
                  <a:lnTo>
                    <a:pt x="587" y="61"/>
                  </a:lnTo>
                  <a:lnTo>
                    <a:pt x="587" y="63"/>
                  </a:lnTo>
                  <a:lnTo>
                    <a:pt x="583" y="68"/>
                  </a:lnTo>
                  <a:lnTo>
                    <a:pt x="583" y="68"/>
                  </a:lnTo>
                  <a:lnTo>
                    <a:pt x="583" y="70"/>
                  </a:lnTo>
                  <a:lnTo>
                    <a:pt x="583" y="70"/>
                  </a:lnTo>
                  <a:lnTo>
                    <a:pt x="583" y="70"/>
                  </a:lnTo>
                  <a:lnTo>
                    <a:pt x="583" y="72"/>
                  </a:lnTo>
                  <a:lnTo>
                    <a:pt x="585" y="72"/>
                  </a:lnTo>
                  <a:lnTo>
                    <a:pt x="583" y="76"/>
                  </a:lnTo>
                  <a:lnTo>
                    <a:pt x="583" y="76"/>
                  </a:lnTo>
                  <a:lnTo>
                    <a:pt x="581" y="76"/>
                  </a:lnTo>
                  <a:lnTo>
                    <a:pt x="581" y="76"/>
                  </a:lnTo>
                  <a:lnTo>
                    <a:pt x="579" y="76"/>
                  </a:lnTo>
                  <a:lnTo>
                    <a:pt x="579" y="78"/>
                  </a:lnTo>
                  <a:lnTo>
                    <a:pt x="575" y="78"/>
                  </a:lnTo>
                  <a:lnTo>
                    <a:pt x="575" y="78"/>
                  </a:lnTo>
                  <a:lnTo>
                    <a:pt x="571" y="80"/>
                  </a:lnTo>
                  <a:lnTo>
                    <a:pt x="569" y="78"/>
                  </a:lnTo>
                  <a:lnTo>
                    <a:pt x="569" y="78"/>
                  </a:lnTo>
                  <a:lnTo>
                    <a:pt x="569" y="78"/>
                  </a:lnTo>
                  <a:lnTo>
                    <a:pt x="569" y="76"/>
                  </a:lnTo>
                  <a:lnTo>
                    <a:pt x="569" y="74"/>
                  </a:lnTo>
                  <a:lnTo>
                    <a:pt x="569" y="74"/>
                  </a:lnTo>
                  <a:lnTo>
                    <a:pt x="569" y="74"/>
                  </a:lnTo>
                  <a:lnTo>
                    <a:pt x="568" y="74"/>
                  </a:lnTo>
                  <a:lnTo>
                    <a:pt x="566" y="74"/>
                  </a:lnTo>
                  <a:lnTo>
                    <a:pt x="566" y="72"/>
                  </a:lnTo>
                  <a:lnTo>
                    <a:pt x="564" y="72"/>
                  </a:lnTo>
                  <a:lnTo>
                    <a:pt x="564" y="72"/>
                  </a:lnTo>
                  <a:lnTo>
                    <a:pt x="562" y="72"/>
                  </a:lnTo>
                  <a:lnTo>
                    <a:pt x="560" y="72"/>
                  </a:lnTo>
                  <a:lnTo>
                    <a:pt x="560" y="72"/>
                  </a:lnTo>
                  <a:lnTo>
                    <a:pt x="560" y="74"/>
                  </a:lnTo>
                  <a:lnTo>
                    <a:pt x="560" y="76"/>
                  </a:lnTo>
                  <a:lnTo>
                    <a:pt x="560" y="78"/>
                  </a:lnTo>
                  <a:lnTo>
                    <a:pt x="560" y="78"/>
                  </a:lnTo>
                  <a:lnTo>
                    <a:pt x="558" y="80"/>
                  </a:lnTo>
                  <a:lnTo>
                    <a:pt x="558" y="80"/>
                  </a:lnTo>
                  <a:lnTo>
                    <a:pt x="554" y="82"/>
                  </a:lnTo>
                  <a:lnTo>
                    <a:pt x="552" y="84"/>
                  </a:lnTo>
                  <a:lnTo>
                    <a:pt x="550" y="86"/>
                  </a:lnTo>
                  <a:lnTo>
                    <a:pt x="549" y="86"/>
                  </a:lnTo>
                  <a:lnTo>
                    <a:pt x="549" y="86"/>
                  </a:lnTo>
                  <a:lnTo>
                    <a:pt x="549" y="87"/>
                  </a:lnTo>
                  <a:lnTo>
                    <a:pt x="549" y="89"/>
                  </a:lnTo>
                  <a:lnTo>
                    <a:pt x="549" y="89"/>
                  </a:lnTo>
                  <a:lnTo>
                    <a:pt x="547" y="91"/>
                  </a:lnTo>
                  <a:lnTo>
                    <a:pt x="547" y="91"/>
                  </a:lnTo>
                  <a:lnTo>
                    <a:pt x="545" y="91"/>
                  </a:lnTo>
                  <a:lnTo>
                    <a:pt x="545" y="91"/>
                  </a:lnTo>
                  <a:lnTo>
                    <a:pt x="543" y="91"/>
                  </a:lnTo>
                  <a:lnTo>
                    <a:pt x="543" y="89"/>
                  </a:lnTo>
                  <a:lnTo>
                    <a:pt x="541" y="89"/>
                  </a:lnTo>
                  <a:lnTo>
                    <a:pt x="541" y="89"/>
                  </a:lnTo>
                  <a:lnTo>
                    <a:pt x="541" y="87"/>
                  </a:lnTo>
                  <a:lnTo>
                    <a:pt x="541" y="87"/>
                  </a:lnTo>
                  <a:lnTo>
                    <a:pt x="541" y="86"/>
                  </a:lnTo>
                  <a:lnTo>
                    <a:pt x="543" y="84"/>
                  </a:lnTo>
                  <a:lnTo>
                    <a:pt x="543" y="82"/>
                  </a:lnTo>
                  <a:lnTo>
                    <a:pt x="543" y="82"/>
                  </a:lnTo>
                  <a:lnTo>
                    <a:pt x="543" y="82"/>
                  </a:lnTo>
                  <a:lnTo>
                    <a:pt x="543" y="80"/>
                  </a:lnTo>
                  <a:lnTo>
                    <a:pt x="541" y="80"/>
                  </a:lnTo>
                  <a:lnTo>
                    <a:pt x="541" y="80"/>
                  </a:lnTo>
                  <a:lnTo>
                    <a:pt x="537" y="74"/>
                  </a:lnTo>
                  <a:lnTo>
                    <a:pt x="535" y="74"/>
                  </a:lnTo>
                  <a:lnTo>
                    <a:pt x="535" y="72"/>
                  </a:lnTo>
                  <a:lnTo>
                    <a:pt x="535" y="72"/>
                  </a:lnTo>
                  <a:lnTo>
                    <a:pt x="535" y="70"/>
                  </a:lnTo>
                  <a:lnTo>
                    <a:pt x="535" y="68"/>
                  </a:lnTo>
                  <a:lnTo>
                    <a:pt x="535" y="68"/>
                  </a:lnTo>
                  <a:lnTo>
                    <a:pt x="535" y="67"/>
                  </a:lnTo>
                  <a:lnTo>
                    <a:pt x="535" y="67"/>
                  </a:lnTo>
                  <a:lnTo>
                    <a:pt x="535" y="67"/>
                  </a:lnTo>
                  <a:lnTo>
                    <a:pt x="535" y="65"/>
                  </a:lnTo>
                  <a:lnTo>
                    <a:pt x="535" y="65"/>
                  </a:lnTo>
                  <a:lnTo>
                    <a:pt x="533" y="65"/>
                  </a:lnTo>
                  <a:lnTo>
                    <a:pt x="533" y="65"/>
                  </a:lnTo>
                  <a:lnTo>
                    <a:pt x="533" y="65"/>
                  </a:lnTo>
                  <a:lnTo>
                    <a:pt x="531" y="65"/>
                  </a:lnTo>
                  <a:lnTo>
                    <a:pt x="531" y="63"/>
                  </a:lnTo>
                  <a:lnTo>
                    <a:pt x="529" y="63"/>
                  </a:lnTo>
                  <a:lnTo>
                    <a:pt x="528" y="63"/>
                  </a:lnTo>
                  <a:lnTo>
                    <a:pt x="528" y="65"/>
                  </a:lnTo>
                  <a:lnTo>
                    <a:pt x="526" y="67"/>
                  </a:lnTo>
                  <a:lnTo>
                    <a:pt x="526" y="68"/>
                  </a:lnTo>
                  <a:lnTo>
                    <a:pt x="522" y="72"/>
                  </a:lnTo>
                  <a:lnTo>
                    <a:pt x="522" y="72"/>
                  </a:lnTo>
                  <a:lnTo>
                    <a:pt x="522" y="74"/>
                  </a:lnTo>
                  <a:lnTo>
                    <a:pt x="522" y="74"/>
                  </a:lnTo>
                  <a:lnTo>
                    <a:pt x="522" y="76"/>
                  </a:lnTo>
                  <a:lnTo>
                    <a:pt x="522" y="78"/>
                  </a:lnTo>
                  <a:lnTo>
                    <a:pt x="520" y="82"/>
                  </a:lnTo>
                  <a:lnTo>
                    <a:pt x="520" y="82"/>
                  </a:lnTo>
                  <a:lnTo>
                    <a:pt x="520" y="82"/>
                  </a:lnTo>
                  <a:lnTo>
                    <a:pt x="520" y="84"/>
                  </a:lnTo>
                  <a:lnTo>
                    <a:pt x="520" y="86"/>
                  </a:lnTo>
                  <a:lnTo>
                    <a:pt x="520" y="86"/>
                  </a:lnTo>
                  <a:lnTo>
                    <a:pt x="520" y="87"/>
                  </a:lnTo>
                  <a:lnTo>
                    <a:pt x="516" y="93"/>
                  </a:lnTo>
                  <a:lnTo>
                    <a:pt x="516" y="93"/>
                  </a:lnTo>
                  <a:lnTo>
                    <a:pt x="516" y="95"/>
                  </a:lnTo>
                  <a:lnTo>
                    <a:pt x="516" y="95"/>
                  </a:lnTo>
                  <a:lnTo>
                    <a:pt x="518" y="97"/>
                  </a:lnTo>
                  <a:lnTo>
                    <a:pt x="520" y="99"/>
                  </a:lnTo>
                  <a:lnTo>
                    <a:pt x="520" y="99"/>
                  </a:lnTo>
                  <a:lnTo>
                    <a:pt x="520" y="101"/>
                  </a:lnTo>
                  <a:lnTo>
                    <a:pt x="520" y="101"/>
                  </a:lnTo>
                  <a:lnTo>
                    <a:pt x="520" y="101"/>
                  </a:lnTo>
                  <a:lnTo>
                    <a:pt x="518" y="103"/>
                  </a:lnTo>
                  <a:lnTo>
                    <a:pt x="518" y="103"/>
                  </a:lnTo>
                  <a:lnTo>
                    <a:pt x="518" y="105"/>
                  </a:lnTo>
                  <a:lnTo>
                    <a:pt x="518" y="106"/>
                  </a:lnTo>
                  <a:lnTo>
                    <a:pt x="518" y="106"/>
                  </a:lnTo>
                  <a:lnTo>
                    <a:pt x="518" y="108"/>
                  </a:lnTo>
                  <a:lnTo>
                    <a:pt x="518" y="108"/>
                  </a:lnTo>
                  <a:lnTo>
                    <a:pt x="516" y="110"/>
                  </a:lnTo>
                  <a:lnTo>
                    <a:pt x="514" y="108"/>
                  </a:lnTo>
                  <a:lnTo>
                    <a:pt x="512" y="110"/>
                  </a:lnTo>
                  <a:lnTo>
                    <a:pt x="512" y="110"/>
                  </a:lnTo>
                  <a:lnTo>
                    <a:pt x="512" y="112"/>
                  </a:lnTo>
                  <a:lnTo>
                    <a:pt x="510" y="112"/>
                  </a:lnTo>
                  <a:lnTo>
                    <a:pt x="510" y="114"/>
                  </a:lnTo>
                  <a:lnTo>
                    <a:pt x="510" y="114"/>
                  </a:lnTo>
                  <a:lnTo>
                    <a:pt x="508" y="114"/>
                  </a:lnTo>
                  <a:lnTo>
                    <a:pt x="508" y="114"/>
                  </a:lnTo>
                  <a:lnTo>
                    <a:pt x="507" y="114"/>
                  </a:lnTo>
                  <a:lnTo>
                    <a:pt x="507" y="114"/>
                  </a:lnTo>
                  <a:lnTo>
                    <a:pt x="505" y="114"/>
                  </a:lnTo>
                  <a:lnTo>
                    <a:pt x="505" y="114"/>
                  </a:lnTo>
                  <a:lnTo>
                    <a:pt x="505" y="114"/>
                  </a:lnTo>
                  <a:lnTo>
                    <a:pt x="503" y="112"/>
                  </a:lnTo>
                  <a:lnTo>
                    <a:pt x="501" y="110"/>
                  </a:lnTo>
                  <a:lnTo>
                    <a:pt x="499" y="110"/>
                  </a:lnTo>
                  <a:lnTo>
                    <a:pt x="495" y="108"/>
                  </a:lnTo>
                  <a:lnTo>
                    <a:pt x="491" y="108"/>
                  </a:lnTo>
                  <a:lnTo>
                    <a:pt x="488" y="112"/>
                  </a:lnTo>
                  <a:lnTo>
                    <a:pt x="484" y="114"/>
                  </a:lnTo>
                  <a:lnTo>
                    <a:pt x="480" y="114"/>
                  </a:lnTo>
                  <a:lnTo>
                    <a:pt x="472" y="120"/>
                  </a:lnTo>
                  <a:lnTo>
                    <a:pt x="465" y="122"/>
                  </a:lnTo>
                  <a:lnTo>
                    <a:pt x="465" y="122"/>
                  </a:lnTo>
                  <a:lnTo>
                    <a:pt x="467" y="124"/>
                  </a:lnTo>
                  <a:lnTo>
                    <a:pt x="467" y="125"/>
                  </a:lnTo>
                  <a:lnTo>
                    <a:pt x="467" y="125"/>
                  </a:lnTo>
                  <a:lnTo>
                    <a:pt x="468" y="127"/>
                  </a:lnTo>
                  <a:lnTo>
                    <a:pt x="468" y="127"/>
                  </a:lnTo>
                  <a:lnTo>
                    <a:pt x="468" y="129"/>
                  </a:lnTo>
                  <a:lnTo>
                    <a:pt x="468" y="129"/>
                  </a:lnTo>
                  <a:lnTo>
                    <a:pt x="467" y="129"/>
                  </a:lnTo>
                  <a:lnTo>
                    <a:pt x="467" y="129"/>
                  </a:lnTo>
                  <a:lnTo>
                    <a:pt x="465" y="131"/>
                  </a:lnTo>
                  <a:lnTo>
                    <a:pt x="463" y="131"/>
                  </a:lnTo>
                  <a:lnTo>
                    <a:pt x="463" y="131"/>
                  </a:lnTo>
                  <a:lnTo>
                    <a:pt x="463" y="131"/>
                  </a:lnTo>
                  <a:lnTo>
                    <a:pt x="461" y="133"/>
                  </a:lnTo>
                  <a:lnTo>
                    <a:pt x="461" y="133"/>
                  </a:lnTo>
                  <a:lnTo>
                    <a:pt x="459" y="135"/>
                  </a:lnTo>
                  <a:lnTo>
                    <a:pt x="459" y="135"/>
                  </a:lnTo>
                  <a:lnTo>
                    <a:pt x="459" y="135"/>
                  </a:lnTo>
                  <a:lnTo>
                    <a:pt x="457" y="137"/>
                  </a:lnTo>
                  <a:lnTo>
                    <a:pt x="455" y="137"/>
                  </a:lnTo>
                  <a:lnTo>
                    <a:pt x="455" y="137"/>
                  </a:lnTo>
                  <a:lnTo>
                    <a:pt x="453" y="137"/>
                  </a:lnTo>
                  <a:lnTo>
                    <a:pt x="451" y="137"/>
                  </a:lnTo>
                  <a:lnTo>
                    <a:pt x="451" y="139"/>
                  </a:lnTo>
                  <a:lnTo>
                    <a:pt x="451" y="139"/>
                  </a:lnTo>
                  <a:lnTo>
                    <a:pt x="449" y="139"/>
                  </a:lnTo>
                  <a:lnTo>
                    <a:pt x="448" y="141"/>
                  </a:lnTo>
                  <a:lnTo>
                    <a:pt x="448" y="141"/>
                  </a:lnTo>
                  <a:lnTo>
                    <a:pt x="448" y="141"/>
                  </a:lnTo>
                  <a:lnTo>
                    <a:pt x="448" y="143"/>
                  </a:lnTo>
                  <a:lnTo>
                    <a:pt x="448" y="145"/>
                  </a:lnTo>
                  <a:lnTo>
                    <a:pt x="448" y="145"/>
                  </a:lnTo>
                  <a:lnTo>
                    <a:pt x="448" y="145"/>
                  </a:lnTo>
                  <a:lnTo>
                    <a:pt x="446" y="146"/>
                  </a:lnTo>
                  <a:lnTo>
                    <a:pt x="446" y="146"/>
                  </a:lnTo>
                  <a:lnTo>
                    <a:pt x="446" y="148"/>
                  </a:lnTo>
                  <a:lnTo>
                    <a:pt x="444" y="148"/>
                  </a:lnTo>
                  <a:lnTo>
                    <a:pt x="444" y="150"/>
                  </a:lnTo>
                  <a:lnTo>
                    <a:pt x="442" y="152"/>
                  </a:lnTo>
                  <a:lnTo>
                    <a:pt x="442" y="152"/>
                  </a:lnTo>
                  <a:lnTo>
                    <a:pt x="442" y="152"/>
                  </a:lnTo>
                  <a:lnTo>
                    <a:pt x="442" y="152"/>
                  </a:lnTo>
                  <a:lnTo>
                    <a:pt x="442" y="154"/>
                  </a:lnTo>
                  <a:lnTo>
                    <a:pt x="442" y="154"/>
                  </a:lnTo>
                  <a:lnTo>
                    <a:pt x="444" y="154"/>
                  </a:lnTo>
                  <a:lnTo>
                    <a:pt x="444" y="154"/>
                  </a:lnTo>
                  <a:lnTo>
                    <a:pt x="444" y="156"/>
                  </a:lnTo>
                  <a:lnTo>
                    <a:pt x="444" y="156"/>
                  </a:lnTo>
                  <a:lnTo>
                    <a:pt x="442" y="156"/>
                  </a:lnTo>
                  <a:lnTo>
                    <a:pt x="442" y="158"/>
                  </a:lnTo>
                  <a:lnTo>
                    <a:pt x="442" y="158"/>
                  </a:lnTo>
                  <a:lnTo>
                    <a:pt x="442" y="158"/>
                  </a:lnTo>
                  <a:lnTo>
                    <a:pt x="442" y="162"/>
                  </a:lnTo>
                  <a:lnTo>
                    <a:pt x="442" y="162"/>
                  </a:lnTo>
                  <a:lnTo>
                    <a:pt x="442" y="164"/>
                  </a:lnTo>
                  <a:lnTo>
                    <a:pt x="440" y="164"/>
                  </a:lnTo>
                  <a:lnTo>
                    <a:pt x="440" y="165"/>
                  </a:lnTo>
                  <a:lnTo>
                    <a:pt x="442" y="165"/>
                  </a:lnTo>
                  <a:lnTo>
                    <a:pt x="442" y="165"/>
                  </a:lnTo>
                  <a:lnTo>
                    <a:pt x="440" y="167"/>
                  </a:lnTo>
                  <a:lnTo>
                    <a:pt x="440" y="169"/>
                  </a:lnTo>
                  <a:lnTo>
                    <a:pt x="438" y="169"/>
                  </a:lnTo>
                  <a:lnTo>
                    <a:pt x="438" y="171"/>
                  </a:lnTo>
                  <a:lnTo>
                    <a:pt x="436" y="171"/>
                  </a:lnTo>
                  <a:lnTo>
                    <a:pt x="436" y="173"/>
                  </a:lnTo>
                  <a:lnTo>
                    <a:pt x="436" y="173"/>
                  </a:lnTo>
                  <a:lnTo>
                    <a:pt x="436" y="173"/>
                  </a:lnTo>
                  <a:lnTo>
                    <a:pt x="434" y="175"/>
                  </a:lnTo>
                  <a:lnTo>
                    <a:pt x="434" y="175"/>
                  </a:lnTo>
                  <a:lnTo>
                    <a:pt x="434" y="175"/>
                  </a:lnTo>
                  <a:lnTo>
                    <a:pt x="432" y="175"/>
                  </a:lnTo>
                  <a:lnTo>
                    <a:pt x="430" y="175"/>
                  </a:lnTo>
                  <a:lnTo>
                    <a:pt x="430" y="175"/>
                  </a:lnTo>
                  <a:lnTo>
                    <a:pt x="430" y="175"/>
                  </a:lnTo>
                  <a:lnTo>
                    <a:pt x="428" y="175"/>
                  </a:lnTo>
                  <a:lnTo>
                    <a:pt x="427" y="175"/>
                  </a:lnTo>
                  <a:lnTo>
                    <a:pt x="427" y="173"/>
                  </a:lnTo>
                  <a:lnTo>
                    <a:pt x="427" y="173"/>
                  </a:lnTo>
                  <a:lnTo>
                    <a:pt x="427" y="173"/>
                  </a:lnTo>
                  <a:lnTo>
                    <a:pt x="427" y="173"/>
                  </a:lnTo>
                  <a:lnTo>
                    <a:pt x="425" y="173"/>
                  </a:lnTo>
                  <a:lnTo>
                    <a:pt x="425" y="173"/>
                  </a:lnTo>
                  <a:lnTo>
                    <a:pt x="425" y="173"/>
                  </a:lnTo>
                  <a:lnTo>
                    <a:pt x="423" y="175"/>
                  </a:lnTo>
                  <a:lnTo>
                    <a:pt x="423" y="177"/>
                  </a:lnTo>
                  <a:lnTo>
                    <a:pt x="423" y="177"/>
                  </a:lnTo>
                  <a:lnTo>
                    <a:pt x="421" y="179"/>
                  </a:lnTo>
                  <a:lnTo>
                    <a:pt x="419" y="179"/>
                  </a:lnTo>
                  <a:lnTo>
                    <a:pt x="419" y="179"/>
                  </a:lnTo>
                  <a:lnTo>
                    <a:pt x="419" y="179"/>
                  </a:lnTo>
                  <a:lnTo>
                    <a:pt x="417" y="179"/>
                  </a:lnTo>
                  <a:lnTo>
                    <a:pt x="415" y="179"/>
                  </a:lnTo>
                  <a:lnTo>
                    <a:pt x="413" y="179"/>
                  </a:lnTo>
                  <a:lnTo>
                    <a:pt x="411" y="179"/>
                  </a:lnTo>
                  <a:lnTo>
                    <a:pt x="411" y="181"/>
                  </a:lnTo>
                  <a:lnTo>
                    <a:pt x="411" y="181"/>
                  </a:lnTo>
                  <a:lnTo>
                    <a:pt x="411" y="181"/>
                  </a:lnTo>
                  <a:lnTo>
                    <a:pt x="411" y="184"/>
                  </a:lnTo>
                  <a:lnTo>
                    <a:pt x="411" y="184"/>
                  </a:lnTo>
                  <a:lnTo>
                    <a:pt x="411" y="186"/>
                  </a:lnTo>
                  <a:lnTo>
                    <a:pt x="411" y="186"/>
                  </a:lnTo>
                  <a:lnTo>
                    <a:pt x="409" y="188"/>
                  </a:lnTo>
                  <a:lnTo>
                    <a:pt x="409" y="188"/>
                  </a:lnTo>
                  <a:lnTo>
                    <a:pt x="406" y="188"/>
                  </a:lnTo>
                  <a:lnTo>
                    <a:pt x="404" y="190"/>
                  </a:lnTo>
                  <a:lnTo>
                    <a:pt x="402" y="190"/>
                  </a:lnTo>
                  <a:lnTo>
                    <a:pt x="400" y="190"/>
                  </a:lnTo>
                  <a:lnTo>
                    <a:pt x="400" y="190"/>
                  </a:lnTo>
                  <a:lnTo>
                    <a:pt x="400" y="190"/>
                  </a:lnTo>
                  <a:lnTo>
                    <a:pt x="398" y="190"/>
                  </a:lnTo>
                  <a:lnTo>
                    <a:pt x="398" y="190"/>
                  </a:lnTo>
                  <a:lnTo>
                    <a:pt x="398" y="192"/>
                  </a:lnTo>
                  <a:lnTo>
                    <a:pt x="398" y="192"/>
                  </a:lnTo>
                  <a:lnTo>
                    <a:pt x="396" y="192"/>
                  </a:lnTo>
                  <a:lnTo>
                    <a:pt x="394" y="192"/>
                  </a:lnTo>
                  <a:lnTo>
                    <a:pt x="394" y="192"/>
                  </a:lnTo>
                  <a:lnTo>
                    <a:pt x="394" y="192"/>
                  </a:lnTo>
                  <a:lnTo>
                    <a:pt x="392" y="192"/>
                  </a:lnTo>
                  <a:lnTo>
                    <a:pt x="390" y="192"/>
                  </a:lnTo>
                  <a:lnTo>
                    <a:pt x="390" y="192"/>
                  </a:lnTo>
                  <a:lnTo>
                    <a:pt x="390" y="190"/>
                  </a:lnTo>
                  <a:lnTo>
                    <a:pt x="388" y="190"/>
                  </a:lnTo>
                  <a:lnTo>
                    <a:pt x="388" y="190"/>
                  </a:lnTo>
                  <a:lnTo>
                    <a:pt x="387" y="190"/>
                  </a:lnTo>
                  <a:lnTo>
                    <a:pt x="387" y="190"/>
                  </a:lnTo>
                  <a:lnTo>
                    <a:pt x="387" y="192"/>
                  </a:lnTo>
                  <a:lnTo>
                    <a:pt x="387" y="192"/>
                  </a:lnTo>
                  <a:lnTo>
                    <a:pt x="387" y="192"/>
                  </a:lnTo>
                  <a:lnTo>
                    <a:pt x="387" y="194"/>
                  </a:lnTo>
                  <a:lnTo>
                    <a:pt x="387" y="194"/>
                  </a:lnTo>
                  <a:lnTo>
                    <a:pt x="387" y="194"/>
                  </a:lnTo>
                  <a:lnTo>
                    <a:pt x="387" y="196"/>
                  </a:lnTo>
                  <a:lnTo>
                    <a:pt x="387" y="196"/>
                  </a:lnTo>
                  <a:lnTo>
                    <a:pt x="387" y="196"/>
                  </a:lnTo>
                  <a:lnTo>
                    <a:pt x="387" y="196"/>
                  </a:lnTo>
                  <a:lnTo>
                    <a:pt x="385" y="196"/>
                  </a:lnTo>
                  <a:lnTo>
                    <a:pt x="385" y="196"/>
                  </a:lnTo>
                  <a:lnTo>
                    <a:pt x="385" y="196"/>
                  </a:lnTo>
                  <a:lnTo>
                    <a:pt x="383" y="196"/>
                  </a:lnTo>
                  <a:lnTo>
                    <a:pt x="383" y="198"/>
                  </a:lnTo>
                  <a:lnTo>
                    <a:pt x="383" y="198"/>
                  </a:lnTo>
                  <a:lnTo>
                    <a:pt x="381" y="200"/>
                  </a:lnTo>
                  <a:lnTo>
                    <a:pt x="383" y="202"/>
                  </a:lnTo>
                  <a:lnTo>
                    <a:pt x="383" y="202"/>
                  </a:lnTo>
                  <a:lnTo>
                    <a:pt x="383" y="202"/>
                  </a:lnTo>
                  <a:lnTo>
                    <a:pt x="383" y="203"/>
                  </a:lnTo>
                  <a:lnTo>
                    <a:pt x="383" y="205"/>
                  </a:lnTo>
                  <a:lnTo>
                    <a:pt x="381" y="205"/>
                  </a:lnTo>
                  <a:lnTo>
                    <a:pt x="381" y="205"/>
                  </a:lnTo>
                  <a:lnTo>
                    <a:pt x="381" y="207"/>
                  </a:lnTo>
                  <a:lnTo>
                    <a:pt x="379" y="207"/>
                  </a:lnTo>
                  <a:lnTo>
                    <a:pt x="379" y="207"/>
                  </a:lnTo>
                  <a:lnTo>
                    <a:pt x="379" y="207"/>
                  </a:lnTo>
                  <a:lnTo>
                    <a:pt x="377" y="205"/>
                  </a:lnTo>
                  <a:lnTo>
                    <a:pt x="375" y="205"/>
                  </a:lnTo>
                  <a:lnTo>
                    <a:pt x="375" y="205"/>
                  </a:lnTo>
                  <a:lnTo>
                    <a:pt x="375" y="205"/>
                  </a:lnTo>
                  <a:lnTo>
                    <a:pt x="373" y="205"/>
                  </a:lnTo>
                  <a:lnTo>
                    <a:pt x="371" y="205"/>
                  </a:lnTo>
                  <a:lnTo>
                    <a:pt x="369" y="203"/>
                  </a:lnTo>
                  <a:lnTo>
                    <a:pt x="369" y="203"/>
                  </a:lnTo>
                  <a:lnTo>
                    <a:pt x="367" y="203"/>
                  </a:lnTo>
                  <a:lnTo>
                    <a:pt x="366" y="203"/>
                  </a:lnTo>
                  <a:lnTo>
                    <a:pt x="366" y="203"/>
                  </a:lnTo>
                  <a:lnTo>
                    <a:pt x="366" y="203"/>
                  </a:lnTo>
                  <a:lnTo>
                    <a:pt x="364" y="203"/>
                  </a:lnTo>
                  <a:lnTo>
                    <a:pt x="364" y="205"/>
                  </a:lnTo>
                  <a:lnTo>
                    <a:pt x="364" y="205"/>
                  </a:lnTo>
                  <a:lnTo>
                    <a:pt x="362" y="205"/>
                  </a:lnTo>
                  <a:lnTo>
                    <a:pt x="362" y="203"/>
                  </a:lnTo>
                  <a:lnTo>
                    <a:pt x="362" y="203"/>
                  </a:lnTo>
                  <a:lnTo>
                    <a:pt x="362" y="203"/>
                  </a:lnTo>
                  <a:lnTo>
                    <a:pt x="362" y="203"/>
                  </a:lnTo>
                  <a:lnTo>
                    <a:pt x="364" y="202"/>
                  </a:lnTo>
                  <a:lnTo>
                    <a:pt x="364" y="202"/>
                  </a:lnTo>
                  <a:lnTo>
                    <a:pt x="362" y="202"/>
                  </a:lnTo>
                  <a:lnTo>
                    <a:pt x="362" y="202"/>
                  </a:lnTo>
                  <a:lnTo>
                    <a:pt x="360" y="200"/>
                  </a:lnTo>
                  <a:lnTo>
                    <a:pt x="362" y="200"/>
                  </a:lnTo>
                  <a:lnTo>
                    <a:pt x="360" y="200"/>
                  </a:lnTo>
                  <a:lnTo>
                    <a:pt x="360" y="200"/>
                  </a:lnTo>
                  <a:lnTo>
                    <a:pt x="360" y="200"/>
                  </a:lnTo>
                  <a:lnTo>
                    <a:pt x="358" y="200"/>
                  </a:lnTo>
                  <a:lnTo>
                    <a:pt x="358" y="198"/>
                  </a:lnTo>
                  <a:lnTo>
                    <a:pt x="356" y="198"/>
                  </a:lnTo>
                  <a:lnTo>
                    <a:pt x="356" y="198"/>
                  </a:lnTo>
                  <a:lnTo>
                    <a:pt x="354" y="196"/>
                  </a:lnTo>
                  <a:lnTo>
                    <a:pt x="354" y="198"/>
                  </a:lnTo>
                  <a:lnTo>
                    <a:pt x="352" y="198"/>
                  </a:lnTo>
                  <a:lnTo>
                    <a:pt x="352" y="198"/>
                  </a:lnTo>
                  <a:lnTo>
                    <a:pt x="352" y="200"/>
                  </a:lnTo>
                  <a:lnTo>
                    <a:pt x="350" y="200"/>
                  </a:lnTo>
                  <a:lnTo>
                    <a:pt x="350" y="200"/>
                  </a:lnTo>
                  <a:lnTo>
                    <a:pt x="348" y="200"/>
                  </a:lnTo>
                  <a:lnTo>
                    <a:pt x="348" y="200"/>
                  </a:lnTo>
                  <a:lnTo>
                    <a:pt x="348" y="202"/>
                  </a:lnTo>
                  <a:lnTo>
                    <a:pt x="348" y="202"/>
                  </a:lnTo>
                  <a:lnTo>
                    <a:pt x="348" y="202"/>
                  </a:lnTo>
                  <a:lnTo>
                    <a:pt x="348" y="203"/>
                  </a:lnTo>
                  <a:lnTo>
                    <a:pt x="348" y="205"/>
                  </a:lnTo>
                  <a:lnTo>
                    <a:pt x="347" y="205"/>
                  </a:lnTo>
                  <a:lnTo>
                    <a:pt x="347" y="205"/>
                  </a:lnTo>
                  <a:lnTo>
                    <a:pt x="347" y="207"/>
                  </a:lnTo>
                  <a:lnTo>
                    <a:pt x="347" y="207"/>
                  </a:lnTo>
                  <a:lnTo>
                    <a:pt x="345" y="207"/>
                  </a:lnTo>
                  <a:lnTo>
                    <a:pt x="345" y="209"/>
                  </a:lnTo>
                  <a:lnTo>
                    <a:pt x="343" y="207"/>
                  </a:lnTo>
                  <a:lnTo>
                    <a:pt x="341" y="207"/>
                  </a:lnTo>
                  <a:lnTo>
                    <a:pt x="341" y="207"/>
                  </a:lnTo>
                  <a:lnTo>
                    <a:pt x="341" y="205"/>
                  </a:lnTo>
                  <a:lnTo>
                    <a:pt x="339" y="205"/>
                  </a:lnTo>
                  <a:lnTo>
                    <a:pt x="339" y="203"/>
                  </a:lnTo>
                  <a:lnTo>
                    <a:pt x="339" y="203"/>
                  </a:lnTo>
                  <a:lnTo>
                    <a:pt x="339" y="203"/>
                  </a:lnTo>
                  <a:lnTo>
                    <a:pt x="339" y="203"/>
                  </a:lnTo>
                  <a:lnTo>
                    <a:pt x="339" y="203"/>
                  </a:lnTo>
                  <a:lnTo>
                    <a:pt x="339" y="203"/>
                  </a:lnTo>
                  <a:lnTo>
                    <a:pt x="337" y="203"/>
                  </a:lnTo>
                  <a:lnTo>
                    <a:pt x="337" y="203"/>
                  </a:lnTo>
                  <a:lnTo>
                    <a:pt x="337" y="205"/>
                  </a:lnTo>
                  <a:lnTo>
                    <a:pt x="337" y="205"/>
                  </a:lnTo>
                  <a:lnTo>
                    <a:pt x="337" y="205"/>
                  </a:lnTo>
                  <a:lnTo>
                    <a:pt x="337" y="207"/>
                  </a:lnTo>
                  <a:lnTo>
                    <a:pt x="337" y="207"/>
                  </a:lnTo>
                  <a:lnTo>
                    <a:pt x="337" y="207"/>
                  </a:lnTo>
                  <a:lnTo>
                    <a:pt x="339" y="207"/>
                  </a:lnTo>
                  <a:lnTo>
                    <a:pt x="339" y="209"/>
                  </a:lnTo>
                  <a:lnTo>
                    <a:pt x="339" y="209"/>
                  </a:lnTo>
                  <a:lnTo>
                    <a:pt x="339" y="209"/>
                  </a:lnTo>
                  <a:lnTo>
                    <a:pt x="339" y="209"/>
                  </a:lnTo>
                  <a:lnTo>
                    <a:pt x="337" y="211"/>
                  </a:lnTo>
                  <a:lnTo>
                    <a:pt x="337" y="211"/>
                  </a:lnTo>
                  <a:lnTo>
                    <a:pt x="337" y="211"/>
                  </a:lnTo>
                  <a:lnTo>
                    <a:pt x="337" y="211"/>
                  </a:lnTo>
                  <a:lnTo>
                    <a:pt x="337" y="213"/>
                  </a:lnTo>
                  <a:lnTo>
                    <a:pt x="335" y="213"/>
                  </a:lnTo>
                  <a:lnTo>
                    <a:pt x="337" y="213"/>
                  </a:lnTo>
                  <a:lnTo>
                    <a:pt x="339" y="213"/>
                  </a:lnTo>
                  <a:lnTo>
                    <a:pt x="339" y="215"/>
                  </a:lnTo>
                  <a:lnTo>
                    <a:pt x="341" y="215"/>
                  </a:lnTo>
                  <a:lnTo>
                    <a:pt x="345" y="215"/>
                  </a:lnTo>
                  <a:lnTo>
                    <a:pt x="345" y="217"/>
                  </a:lnTo>
                  <a:lnTo>
                    <a:pt x="347" y="217"/>
                  </a:lnTo>
                  <a:lnTo>
                    <a:pt x="347" y="217"/>
                  </a:lnTo>
                  <a:lnTo>
                    <a:pt x="347" y="217"/>
                  </a:lnTo>
                  <a:lnTo>
                    <a:pt x="348" y="219"/>
                  </a:lnTo>
                  <a:lnTo>
                    <a:pt x="348" y="217"/>
                  </a:lnTo>
                  <a:lnTo>
                    <a:pt x="348" y="217"/>
                  </a:lnTo>
                  <a:lnTo>
                    <a:pt x="348" y="215"/>
                  </a:lnTo>
                  <a:lnTo>
                    <a:pt x="350" y="215"/>
                  </a:lnTo>
                  <a:lnTo>
                    <a:pt x="350" y="217"/>
                  </a:lnTo>
                  <a:lnTo>
                    <a:pt x="352" y="215"/>
                  </a:lnTo>
                  <a:lnTo>
                    <a:pt x="356" y="217"/>
                  </a:lnTo>
                  <a:lnTo>
                    <a:pt x="356" y="217"/>
                  </a:lnTo>
                  <a:lnTo>
                    <a:pt x="358" y="219"/>
                  </a:lnTo>
                  <a:lnTo>
                    <a:pt x="358" y="219"/>
                  </a:lnTo>
                  <a:lnTo>
                    <a:pt x="358" y="219"/>
                  </a:lnTo>
                  <a:lnTo>
                    <a:pt x="356" y="219"/>
                  </a:lnTo>
                  <a:lnTo>
                    <a:pt x="356" y="219"/>
                  </a:lnTo>
                  <a:lnTo>
                    <a:pt x="356" y="221"/>
                  </a:lnTo>
                  <a:lnTo>
                    <a:pt x="356" y="221"/>
                  </a:lnTo>
                  <a:lnTo>
                    <a:pt x="356" y="221"/>
                  </a:lnTo>
                  <a:lnTo>
                    <a:pt x="358" y="222"/>
                  </a:lnTo>
                  <a:lnTo>
                    <a:pt x="356" y="222"/>
                  </a:lnTo>
                  <a:lnTo>
                    <a:pt x="354" y="222"/>
                  </a:lnTo>
                  <a:lnTo>
                    <a:pt x="354" y="224"/>
                  </a:lnTo>
                  <a:lnTo>
                    <a:pt x="354" y="224"/>
                  </a:lnTo>
                  <a:lnTo>
                    <a:pt x="354" y="226"/>
                  </a:lnTo>
                  <a:lnTo>
                    <a:pt x="354" y="226"/>
                  </a:lnTo>
                  <a:lnTo>
                    <a:pt x="354" y="228"/>
                  </a:lnTo>
                  <a:lnTo>
                    <a:pt x="354" y="228"/>
                  </a:lnTo>
                  <a:lnTo>
                    <a:pt x="356" y="228"/>
                  </a:lnTo>
                  <a:lnTo>
                    <a:pt x="356" y="228"/>
                  </a:lnTo>
                  <a:lnTo>
                    <a:pt x="356" y="228"/>
                  </a:lnTo>
                  <a:lnTo>
                    <a:pt x="358" y="230"/>
                  </a:lnTo>
                  <a:lnTo>
                    <a:pt x="358" y="230"/>
                  </a:lnTo>
                  <a:lnTo>
                    <a:pt x="358" y="230"/>
                  </a:lnTo>
                  <a:lnTo>
                    <a:pt x="358" y="230"/>
                  </a:lnTo>
                  <a:lnTo>
                    <a:pt x="356" y="232"/>
                  </a:lnTo>
                  <a:lnTo>
                    <a:pt x="354" y="232"/>
                  </a:lnTo>
                  <a:lnTo>
                    <a:pt x="354" y="232"/>
                  </a:lnTo>
                  <a:lnTo>
                    <a:pt x="352" y="232"/>
                  </a:lnTo>
                  <a:lnTo>
                    <a:pt x="350" y="232"/>
                  </a:lnTo>
                  <a:lnTo>
                    <a:pt x="350" y="232"/>
                  </a:lnTo>
                  <a:lnTo>
                    <a:pt x="348" y="232"/>
                  </a:lnTo>
                  <a:lnTo>
                    <a:pt x="348" y="232"/>
                  </a:lnTo>
                  <a:lnTo>
                    <a:pt x="347" y="230"/>
                  </a:lnTo>
                  <a:lnTo>
                    <a:pt x="347" y="230"/>
                  </a:lnTo>
                  <a:lnTo>
                    <a:pt x="345" y="230"/>
                  </a:lnTo>
                  <a:lnTo>
                    <a:pt x="345" y="228"/>
                  </a:lnTo>
                  <a:lnTo>
                    <a:pt x="345" y="228"/>
                  </a:lnTo>
                  <a:lnTo>
                    <a:pt x="345" y="228"/>
                  </a:lnTo>
                  <a:lnTo>
                    <a:pt x="343" y="226"/>
                  </a:lnTo>
                  <a:lnTo>
                    <a:pt x="343" y="226"/>
                  </a:lnTo>
                  <a:lnTo>
                    <a:pt x="343" y="226"/>
                  </a:lnTo>
                  <a:lnTo>
                    <a:pt x="341" y="226"/>
                  </a:lnTo>
                  <a:lnTo>
                    <a:pt x="341" y="224"/>
                  </a:lnTo>
                  <a:lnTo>
                    <a:pt x="339" y="224"/>
                  </a:lnTo>
                  <a:lnTo>
                    <a:pt x="339" y="226"/>
                  </a:lnTo>
                  <a:lnTo>
                    <a:pt x="339" y="226"/>
                  </a:lnTo>
                  <a:lnTo>
                    <a:pt x="339" y="226"/>
                  </a:lnTo>
                  <a:lnTo>
                    <a:pt x="337" y="228"/>
                  </a:lnTo>
                  <a:lnTo>
                    <a:pt x="337" y="228"/>
                  </a:lnTo>
                  <a:lnTo>
                    <a:pt x="337" y="228"/>
                  </a:lnTo>
                  <a:lnTo>
                    <a:pt x="337" y="228"/>
                  </a:lnTo>
                  <a:lnTo>
                    <a:pt x="337" y="226"/>
                  </a:lnTo>
                  <a:lnTo>
                    <a:pt x="337" y="226"/>
                  </a:lnTo>
                  <a:lnTo>
                    <a:pt x="337" y="224"/>
                  </a:lnTo>
                  <a:lnTo>
                    <a:pt x="335" y="224"/>
                  </a:lnTo>
                  <a:lnTo>
                    <a:pt x="335" y="224"/>
                  </a:lnTo>
                  <a:lnTo>
                    <a:pt x="333" y="224"/>
                  </a:lnTo>
                  <a:lnTo>
                    <a:pt x="333" y="222"/>
                  </a:lnTo>
                  <a:lnTo>
                    <a:pt x="333" y="222"/>
                  </a:lnTo>
                  <a:lnTo>
                    <a:pt x="333" y="222"/>
                  </a:lnTo>
                  <a:lnTo>
                    <a:pt x="333" y="222"/>
                  </a:lnTo>
                  <a:lnTo>
                    <a:pt x="331" y="221"/>
                  </a:lnTo>
                  <a:lnTo>
                    <a:pt x="331" y="221"/>
                  </a:lnTo>
                  <a:lnTo>
                    <a:pt x="331" y="219"/>
                  </a:lnTo>
                  <a:lnTo>
                    <a:pt x="331" y="219"/>
                  </a:lnTo>
                  <a:lnTo>
                    <a:pt x="331" y="217"/>
                  </a:lnTo>
                  <a:lnTo>
                    <a:pt x="331" y="217"/>
                  </a:lnTo>
                  <a:lnTo>
                    <a:pt x="331" y="215"/>
                  </a:lnTo>
                  <a:lnTo>
                    <a:pt x="329" y="213"/>
                  </a:lnTo>
                  <a:lnTo>
                    <a:pt x="327" y="211"/>
                  </a:lnTo>
                  <a:lnTo>
                    <a:pt x="327" y="209"/>
                  </a:lnTo>
                  <a:lnTo>
                    <a:pt x="326" y="209"/>
                  </a:lnTo>
                  <a:lnTo>
                    <a:pt x="326" y="209"/>
                  </a:lnTo>
                  <a:lnTo>
                    <a:pt x="324" y="209"/>
                  </a:lnTo>
                  <a:lnTo>
                    <a:pt x="324" y="209"/>
                  </a:lnTo>
                  <a:lnTo>
                    <a:pt x="324" y="207"/>
                  </a:lnTo>
                  <a:lnTo>
                    <a:pt x="322" y="207"/>
                  </a:lnTo>
                  <a:lnTo>
                    <a:pt x="322" y="209"/>
                  </a:lnTo>
                  <a:lnTo>
                    <a:pt x="322" y="209"/>
                  </a:lnTo>
                  <a:lnTo>
                    <a:pt x="322" y="207"/>
                  </a:lnTo>
                  <a:lnTo>
                    <a:pt x="320" y="205"/>
                  </a:lnTo>
                  <a:lnTo>
                    <a:pt x="320" y="205"/>
                  </a:lnTo>
                  <a:lnTo>
                    <a:pt x="318" y="207"/>
                  </a:lnTo>
                  <a:lnTo>
                    <a:pt x="318" y="207"/>
                  </a:lnTo>
                  <a:lnTo>
                    <a:pt x="316" y="209"/>
                  </a:lnTo>
                  <a:lnTo>
                    <a:pt x="316" y="209"/>
                  </a:lnTo>
                  <a:lnTo>
                    <a:pt x="316" y="211"/>
                  </a:lnTo>
                  <a:lnTo>
                    <a:pt x="316" y="211"/>
                  </a:lnTo>
                  <a:lnTo>
                    <a:pt x="314" y="211"/>
                  </a:lnTo>
                  <a:lnTo>
                    <a:pt x="314" y="211"/>
                  </a:lnTo>
                  <a:lnTo>
                    <a:pt x="314" y="211"/>
                  </a:lnTo>
                  <a:lnTo>
                    <a:pt x="314" y="211"/>
                  </a:lnTo>
                  <a:lnTo>
                    <a:pt x="312" y="211"/>
                  </a:lnTo>
                  <a:lnTo>
                    <a:pt x="312" y="211"/>
                  </a:lnTo>
                  <a:lnTo>
                    <a:pt x="310" y="211"/>
                  </a:lnTo>
                  <a:lnTo>
                    <a:pt x="310" y="213"/>
                  </a:lnTo>
                  <a:lnTo>
                    <a:pt x="310" y="213"/>
                  </a:lnTo>
                  <a:lnTo>
                    <a:pt x="307" y="213"/>
                  </a:lnTo>
                  <a:lnTo>
                    <a:pt x="307" y="217"/>
                  </a:lnTo>
                  <a:lnTo>
                    <a:pt x="305" y="217"/>
                  </a:lnTo>
                  <a:lnTo>
                    <a:pt x="305" y="219"/>
                  </a:lnTo>
                  <a:lnTo>
                    <a:pt x="305" y="219"/>
                  </a:lnTo>
                  <a:lnTo>
                    <a:pt x="303" y="221"/>
                  </a:lnTo>
                  <a:lnTo>
                    <a:pt x="303" y="222"/>
                  </a:lnTo>
                  <a:lnTo>
                    <a:pt x="303" y="222"/>
                  </a:lnTo>
                  <a:lnTo>
                    <a:pt x="303" y="222"/>
                  </a:lnTo>
                  <a:lnTo>
                    <a:pt x="305" y="224"/>
                  </a:lnTo>
                  <a:lnTo>
                    <a:pt x="307" y="224"/>
                  </a:lnTo>
                  <a:lnTo>
                    <a:pt x="307" y="224"/>
                  </a:lnTo>
                  <a:lnTo>
                    <a:pt x="307" y="226"/>
                  </a:lnTo>
                  <a:lnTo>
                    <a:pt x="307" y="226"/>
                  </a:lnTo>
                  <a:lnTo>
                    <a:pt x="307" y="226"/>
                  </a:lnTo>
                  <a:lnTo>
                    <a:pt x="308" y="228"/>
                  </a:lnTo>
                  <a:lnTo>
                    <a:pt x="308" y="228"/>
                  </a:lnTo>
                  <a:lnTo>
                    <a:pt x="308" y="232"/>
                  </a:lnTo>
                  <a:lnTo>
                    <a:pt x="308" y="232"/>
                  </a:lnTo>
                  <a:lnTo>
                    <a:pt x="307" y="234"/>
                  </a:lnTo>
                  <a:lnTo>
                    <a:pt x="307" y="236"/>
                  </a:lnTo>
                  <a:lnTo>
                    <a:pt x="307" y="236"/>
                  </a:lnTo>
                  <a:lnTo>
                    <a:pt x="305" y="238"/>
                  </a:lnTo>
                  <a:lnTo>
                    <a:pt x="305" y="238"/>
                  </a:lnTo>
                  <a:lnTo>
                    <a:pt x="303" y="238"/>
                  </a:lnTo>
                  <a:lnTo>
                    <a:pt x="303" y="240"/>
                  </a:lnTo>
                  <a:lnTo>
                    <a:pt x="303" y="240"/>
                  </a:lnTo>
                  <a:lnTo>
                    <a:pt x="301" y="243"/>
                  </a:lnTo>
                  <a:lnTo>
                    <a:pt x="299" y="245"/>
                  </a:lnTo>
                  <a:lnTo>
                    <a:pt x="297" y="245"/>
                  </a:lnTo>
                  <a:lnTo>
                    <a:pt x="295" y="245"/>
                  </a:lnTo>
                  <a:lnTo>
                    <a:pt x="295" y="245"/>
                  </a:lnTo>
                  <a:lnTo>
                    <a:pt x="293" y="245"/>
                  </a:lnTo>
                  <a:lnTo>
                    <a:pt x="293" y="243"/>
                  </a:lnTo>
                  <a:lnTo>
                    <a:pt x="291" y="242"/>
                  </a:lnTo>
                  <a:lnTo>
                    <a:pt x="291" y="240"/>
                  </a:lnTo>
                  <a:lnTo>
                    <a:pt x="289" y="240"/>
                  </a:lnTo>
                  <a:lnTo>
                    <a:pt x="289" y="240"/>
                  </a:lnTo>
                  <a:lnTo>
                    <a:pt x="287" y="240"/>
                  </a:lnTo>
                  <a:lnTo>
                    <a:pt x="286" y="240"/>
                  </a:lnTo>
                  <a:lnTo>
                    <a:pt x="284" y="236"/>
                  </a:lnTo>
                  <a:lnTo>
                    <a:pt x="282" y="236"/>
                  </a:lnTo>
                  <a:lnTo>
                    <a:pt x="282" y="236"/>
                  </a:lnTo>
                  <a:lnTo>
                    <a:pt x="280" y="238"/>
                  </a:lnTo>
                  <a:lnTo>
                    <a:pt x="278" y="240"/>
                  </a:lnTo>
                  <a:lnTo>
                    <a:pt x="278" y="240"/>
                  </a:lnTo>
                  <a:lnTo>
                    <a:pt x="274" y="240"/>
                  </a:lnTo>
                  <a:lnTo>
                    <a:pt x="272" y="240"/>
                  </a:lnTo>
                  <a:lnTo>
                    <a:pt x="270" y="242"/>
                  </a:lnTo>
                  <a:lnTo>
                    <a:pt x="270" y="243"/>
                  </a:lnTo>
                  <a:lnTo>
                    <a:pt x="268" y="243"/>
                  </a:lnTo>
                  <a:lnTo>
                    <a:pt x="268" y="242"/>
                  </a:lnTo>
                  <a:lnTo>
                    <a:pt x="266" y="243"/>
                  </a:lnTo>
                  <a:lnTo>
                    <a:pt x="265" y="243"/>
                  </a:lnTo>
                  <a:lnTo>
                    <a:pt x="263" y="245"/>
                  </a:lnTo>
                  <a:lnTo>
                    <a:pt x="263" y="245"/>
                  </a:lnTo>
                  <a:lnTo>
                    <a:pt x="261" y="245"/>
                  </a:lnTo>
                  <a:lnTo>
                    <a:pt x="261" y="245"/>
                  </a:lnTo>
                  <a:lnTo>
                    <a:pt x="257" y="245"/>
                  </a:lnTo>
                  <a:lnTo>
                    <a:pt x="257" y="245"/>
                  </a:lnTo>
                  <a:lnTo>
                    <a:pt x="253" y="247"/>
                  </a:lnTo>
                  <a:lnTo>
                    <a:pt x="251" y="247"/>
                  </a:lnTo>
                  <a:lnTo>
                    <a:pt x="251" y="249"/>
                  </a:lnTo>
                  <a:lnTo>
                    <a:pt x="251" y="249"/>
                  </a:lnTo>
                  <a:lnTo>
                    <a:pt x="249" y="251"/>
                  </a:lnTo>
                  <a:lnTo>
                    <a:pt x="247" y="251"/>
                  </a:lnTo>
                  <a:lnTo>
                    <a:pt x="242" y="251"/>
                  </a:lnTo>
                  <a:lnTo>
                    <a:pt x="242" y="251"/>
                  </a:lnTo>
                  <a:lnTo>
                    <a:pt x="240" y="251"/>
                  </a:lnTo>
                  <a:lnTo>
                    <a:pt x="238" y="251"/>
                  </a:lnTo>
                  <a:lnTo>
                    <a:pt x="236" y="251"/>
                  </a:lnTo>
                  <a:lnTo>
                    <a:pt x="236" y="253"/>
                  </a:lnTo>
                  <a:lnTo>
                    <a:pt x="234" y="253"/>
                  </a:lnTo>
                  <a:lnTo>
                    <a:pt x="232" y="257"/>
                  </a:lnTo>
                  <a:lnTo>
                    <a:pt x="232" y="257"/>
                  </a:lnTo>
                  <a:lnTo>
                    <a:pt x="230" y="259"/>
                  </a:lnTo>
                  <a:lnTo>
                    <a:pt x="232" y="261"/>
                  </a:lnTo>
                  <a:lnTo>
                    <a:pt x="232" y="261"/>
                  </a:lnTo>
                  <a:lnTo>
                    <a:pt x="232" y="262"/>
                  </a:lnTo>
                  <a:lnTo>
                    <a:pt x="232" y="262"/>
                  </a:lnTo>
                  <a:lnTo>
                    <a:pt x="230" y="264"/>
                  </a:lnTo>
                  <a:lnTo>
                    <a:pt x="230" y="266"/>
                  </a:lnTo>
                  <a:lnTo>
                    <a:pt x="230" y="268"/>
                  </a:lnTo>
                  <a:lnTo>
                    <a:pt x="230" y="270"/>
                  </a:lnTo>
                  <a:lnTo>
                    <a:pt x="230" y="272"/>
                  </a:lnTo>
                  <a:lnTo>
                    <a:pt x="230" y="272"/>
                  </a:lnTo>
                  <a:lnTo>
                    <a:pt x="232" y="274"/>
                  </a:lnTo>
                  <a:lnTo>
                    <a:pt x="232" y="278"/>
                  </a:lnTo>
                  <a:lnTo>
                    <a:pt x="232" y="281"/>
                  </a:lnTo>
                  <a:lnTo>
                    <a:pt x="230" y="283"/>
                  </a:lnTo>
                  <a:lnTo>
                    <a:pt x="230" y="283"/>
                  </a:lnTo>
                  <a:lnTo>
                    <a:pt x="228" y="285"/>
                  </a:lnTo>
                  <a:lnTo>
                    <a:pt x="226" y="285"/>
                  </a:lnTo>
                  <a:lnTo>
                    <a:pt x="226" y="285"/>
                  </a:lnTo>
                  <a:lnTo>
                    <a:pt x="225" y="285"/>
                  </a:lnTo>
                  <a:lnTo>
                    <a:pt x="225" y="283"/>
                  </a:lnTo>
                  <a:lnTo>
                    <a:pt x="223" y="283"/>
                  </a:lnTo>
                  <a:lnTo>
                    <a:pt x="223" y="283"/>
                  </a:lnTo>
                  <a:lnTo>
                    <a:pt x="217" y="283"/>
                  </a:lnTo>
                  <a:lnTo>
                    <a:pt x="215" y="283"/>
                  </a:lnTo>
                  <a:lnTo>
                    <a:pt x="215" y="283"/>
                  </a:lnTo>
                  <a:lnTo>
                    <a:pt x="213" y="283"/>
                  </a:lnTo>
                  <a:lnTo>
                    <a:pt x="213" y="283"/>
                  </a:lnTo>
                  <a:lnTo>
                    <a:pt x="211" y="283"/>
                  </a:lnTo>
                  <a:lnTo>
                    <a:pt x="209" y="283"/>
                  </a:lnTo>
                  <a:lnTo>
                    <a:pt x="209" y="285"/>
                  </a:lnTo>
                  <a:lnTo>
                    <a:pt x="207" y="285"/>
                  </a:lnTo>
                  <a:lnTo>
                    <a:pt x="206" y="285"/>
                  </a:lnTo>
                  <a:lnTo>
                    <a:pt x="204" y="287"/>
                  </a:lnTo>
                  <a:lnTo>
                    <a:pt x="202" y="287"/>
                  </a:lnTo>
                  <a:lnTo>
                    <a:pt x="202" y="289"/>
                  </a:lnTo>
                  <a:lnTo>
                    <a:pt x="202" y="291"/>
                  </a:lnTo>
                  <a:lnTo>
                    <a:pt x="204" y="293"/>
                  </a:lnTo>
                  <a:lnTo>
                    <a:pt x="204" y="295"/>
                  </a:lnTo>
                  <a:lnTo>
                    <a:pt x="204" y="295"/>
                  </a:lnTo>
                  <a:lnTo>
                    <a:pt x="202" y="297"/>
                  </a:lnTo>
                  <a:lnTo>
                    <a:pt x="202" y="297"/>
                  </a:lnTo>
                  <a:lnTo>
                    <a:pt x="202" y="297"/>
                  </a:lnTo>
                  <a:lnTo>
                    <a:pt x="200" y="297"/>
                  </a:lnTo>
                  <a:lnTo>
                    <a:pt x="198" y="295"/>
                  </a:lnTo>
                  <a:lnTo>
                    <a:pt x="198" y="295"/>
                  </a:lnTo>
                  <a:lnTo>
                    <a:pt x="198" y="293"/>
                  </a:lnTo>
                  <a:lnTo>
                    <a:pt x="198" y="293"/>
                  </a:lnTo>
                  <a:lnTo>
                    <a:pt x="198" y="291"/>
                  </a:lnTo>
                  <a:lnTo>
                    <a:pt x="198" y="291"/>
                  </a:lnTo>
                  <a:lnTo>
                    <a:pt x="196" y="291"/>
                  </a:lnTo>
                  <a:lnTo>
                    <a:pt x="196" y="291"/>
                  </a:lnTo>
                  <a:lnTo>
                    <a:pt x="194" y="291"/>
                  </a:lnTo>
                  <a:lnTo>
                    <a:pt x="194" y="293"/>
                  </a:lnTo>
                  <a:lnTo>
                    <a:pt x="194" y="293"/>
                  </a:lnTo>
                  <a:lnTo>
                    <a:pt x="196" y="295"/>
                  </a:lnTo>
                  <a:lnTo>
                    <a:pt x="196" y="295"/>
                  </a:lnTo>
                  <a:lnTo>
                    <a:pt x="196" y="297"/>
                  </a:lnTo>
                  <a:lnTo>
                    <a:pt x="196" y="297"/>
                  </a:lnTo>
                  <a:lnTo>
                    <a:pt x="196" y="299"/>
                  </a:lnTo>
                  <a:lnTo>
                    <a:pt x="194" y="300"/>
                  </a:lnTo>
                  <a:lnTo>
                    <a:pt x="194" y="300"/>
                  </a:lnTo>
                  <a:lnTo>
                    <a:pt x="192" y="302"/>
                  </a:lnTo>
                  <a:lnTo>
                    <a:pt x="190" y="302"/>
                  </a:lnTo>
                  <a:lnTo>
                    <a:pt x="190" y="304"/>
                  </a:lnTo>
                  <a:lnTo>
                    <a:pt x="188" y="304"/>
                  </a:lnTo>
                  <a:lnTo>
                    <a:pt x="186" y="304"/>
                  </a:lnTo>
                  <a:lnTo>
                    <a:pt x="185" y="304"/>
                  </a:lnTo>
                  <a:lnTo>
                    <a:pt x="185" y="304"/>
                  </a:lnTo>
                  <a:lnTo>
                    <a:pt x="181" y="302"/>
                  </a:lnTo>
                  <a:lnTo>
                    <a:pt x="181" y="302"/>
                  </a:lnTo>
                  <a:lnTo>
                    <a:pt x="181" y="300"/>
                  </a:lnTo>
                  <a:lnTo>
                    <a:pt x="179" y="299"/>
                  </a:lnTo>
                  <a:lnTo>
                    <a:pt x="179" y="299"/>
                  </a:lnTo>
                  <a:lnTo>
                    <a:pt x="177" y="297"/>
                  </a:lnTo>
                  <a:lnTo>
                    <a:pt x="175" y="297"/>
                  </a:lnTo>
                  <a:lnTo>
                    <a:pt x="173" y="297"/>
                  </a:lnTo>
                  <a:lnTo>
                    <a:pt x="173" y="299"/>
                  </a:lnTo>
                  <a:lnTo>
                    <a:pt x="171" y="299"/>
                  </a:lnTo>
                  <a:lnTo>
                    <a:pt x="171" y="300"/>
                  </a:lnTo>
                  <a:lnTo>
                    <a:pt x="169" y="300"/>
                  </a:lnTo>
                  <a:lnTo>
                    <a:pt x="169" y="300"/>
                  </a:lnTo>
                  <a:lnTo>
                    <a:pt x="167" y="300"/>
                  </a:lnTo>
                  <a:lnTo>
                    <a:pt x="165" y="300"/>
                  </a:lnTo>
                  <a:lnTo>
                    <a:pt x="164" y="299"/>
                  </a:lnTo>
                  <a:lnTo>
                    <a:pt x="160" y="299"/>
                  </a:lnTo>
                  <a:lnTo>
                    <a:pt x="158" y="299"/>
                  </a:lnTo>
                  <a:lnTo>
                    <a:pt x="156" y="299"/>
                  </a:lnTo>
                  <a:lnTo>
                    <a:pt x="154" y="299"/>
                  </a:lnTo>
                  <a:lnTo>
                    <a:pt x="152" y="300"/>
                  </a:lnTo>
                  <a:lnTo>
                    <a:pt x="150" y="300"/>
                  </a:lnTo>
                  <a:lnTo>
                    <a:pt x="150" y="300"/>
                  </a:lnTo>
                  <a:lnTo>
                    <a:pt x="148" y="302"/>
                  </a:lnTo>
                  <a:lnTo>
                    <a:pt x="148" y="302"/>
                  </a:lnTo>
                  <a:lnTo>
                    <a:pt x="146" y="304"/>
                  </a:lnTo>
                  <a:lnTo>
                    <a:pt x="145" y="304"/>
                  </a:lnTo>
                  <a:lnTo>
                    <a:pt x="145" y="302"/>
                  </a:lnTo>
                  <a:lnTo>
                    <a:pt x="143" y="302"/>
                  </a:lnTo>
                  <a:lnTo>
                    <a:pt x="143" y="302"/>
                  </a:lnTo>
                  <a:lnTo>
                    <a:pt x="141" y="304"/>
                  </a:lnTo>
                  <a:lnTo>
                    <a:pt x="143" y="306"/>
                  </a:lnTo>
                  <a:lnTo>
                    <a:pt x="143" y="306"/>
                  </a:lnTo>
                  <a:lnTo>
                    <a:pt x="141" y="308"/>
                  </a:lnTo>
                  <a:lnTo>
                    <a:pt x="141" y="308"/>
                  </a:lnTo>
                  <a:lnTo>
                    <a:pt x="141" y="310"/>
                  </a:lnTo>
                  <a:lnTo>
                    <a:pt x="141" y="310"/>
                  </a:lnTo>
                  <a:lnTo>
                    <a:pt x="141" y="312"/>
                  </a:lnTo>
                  <a:lnTo>
                    <a:pt x="141" y="312"/>
                  </a:lnTo>
                  <a:lnTo>
                    <a:pt x="141" y="314"/>
                  </a:lnTo>
                  <a:lnTo>
                    <a:pt x="139" y="314"/>
                  </a:lnTo>
                  <a:lnTo>
                    <a:pt x="137" y="314"/>
                  </a:lnTo>
                  <a:lnTo>
                    <a:pt x="137" y="314"/>
                  </a:lnTo>
                  <a:lnTo>
                    <a:pt x="135" y="316"/>
                  </a:lnTo>
                  <a:lnTo>
                    <a:pt x="135" y="316"/>
                  </a:lnTo>
                  <a:lnTo>
                    <a:pt x="135" y="318"/>
                  </a:lnTo>
                  <a:lnTo>
                    <a:pt x="135" y="318"/>
                  </a:lnTo>
                  <a:lnTo>
                    <a:pt x="135" y="318"/>
                  </a:lnTo>
                  <a:lnTo>
                    <a:pt x="133" y="319"/>
                  </a:lnTo>
                  <a:lnTo>
                    <a:pt x="133" y="319"/>
                  </a:lnTo>
                  <a:lnTo>
                    <a:pt x="133" y="321"/>
                  </a:lnTo>
                  <a:lnTo>
                    <a:pt x="131" y="321"/>
                  </a:lnTo>
                  <a:lnTo>
                    <a:pt x="131" y="321"/>
                  </a:lnTo>
                  <a:lnTo>
                    <a:pt x="131" y="321"/>
                  </a:lnTo>
                  <a:lnTo>
                    <a:pt x="129" y="321"/>
                  </a:lnTo>
                  <a:lnTo>
                    <a:pt x="129" y="321"/>
                  </a:lnTo>
                  <a:lnTo>
                    <a:pt x="129" y="323"/>
                  </a:lnTo>
                  <a:lnTo>
                    <a:pt x="127" y="323"/>
                  </a:lnTo>
                  <a:lnTo>
                    <a:pt x="127" y="323"/>
                  </a:lnTo>
                  <a:lnTo>
                    <a:pt x="124" y="321"/>
                  </a:lnTo>
                  <a:lnTo>
                    <a:pt x="124" y="321"/>
                  </a:lnTo>
                  <a:lnTo>
                    <a:pt x="124" y="319"/>
                  </a:lnTo>
                  <a:lnTo>
                    <a:pt x="122" y="318"/>
                  </a:lnTo>
                  <a:lnTo>
                    <a:pt x="122" y="316"/>
                  </a:lnTo>
                  <a:lnTo>
                    <a:pt x="122" y="316"/>
                  </a:lnTo>
                  <a:lnTo>
                    <a:pt x="122" y="316"/>
                  </a:lnTo>
                  <a:lnTo>
                    <a:pt x="120" y="316"/>
                  </a:lnTo>
                  <a:lnTo>
                    <a:pt x="120" y="316"/>
                  </a:lnTo>
                  <a:lnTo>
                    <a:pt x="120" y="318"/>
                  </a:lnTo>
                  <a:lnTo>
                    <a:pt x="118" y="318"/>
                  </a:lnTo>
                  <a:lnTo>
                    <a:pt x="118" y="319"/>
                  </a:lnTo>
                  <a:lnTo>
                    <a:pt x="118" y="319"/>
                  </a:lnTo>
                  <a:lnTo>
                    <a:pt x="116" y="318"/>
                  </a:lnTo>
                  <a:lnTo>
                    <a:pt x="114" y="318"/>
                  </a:lnTo>
                  <a:lnTo>
                    <a:pt x="112" y="318"/>
                  </a:lnTo>
                  <a:lnTo>
                    <a:pt x="112" y="318"/>
                  </a:lnTo>
                  <a:lnTo>
                    <a:pt x="110" y="318"/>
                  </a:lnTo>
                  <a:lnTo>
                    <a:pt x="108" y="316"/>
                  </a:lnTo>
                  <a:lnTo>
                    <a:pt x="106" y="316"/>
                  </a:lnTo>
                  <a:lnTo>
                    <a:pt x="106" y="316"/>
                  </a:lnTo>
                  <a:lnTo>
                    <a:pt x="105" y="318"/>
                  </a:lnTo>
                  <a:lnTo>
                    <a:pt x="105" y="318"/>
                  </a:lnTo>
                  <a:lnTo>
                    <a:pt x="103" y="318"/>
                  </a:lnTo>
                  <a:lnTo>
                    <a:pt x="103" y="318"/>
                  </a:lnTo>
                  <a:lnTo>
                    <a:pt x="103" y="318"/>
                  </a:lnTo>
                  <a:lnTo>
                    <a:pt x="101" y="319"/>
                  </a:lnTo>
                  <a:lnTo>
                    <a:pt x="101" y="319"/>
                  </a:lnTo>
                  <a:lnTo>
                    <a:pt x="99" y="319"/>
                  </a:lnTo>
                  <a:lnTo>
                    <a:pt x="99" y="319"/>
                  </a:lnTo>
                  <a:lnTo>
                    <a:pt x="97" y="319"/>
                  </a:lnTo>
                  <a:lnTo>
                    <a:pt x="97" y="318"/>
                  </a:lnTo>
                  <a:lnTo>
                    <a:pt x="97" y="318"/>
                  </a:lnTo>
                  <a:lnTo>
                    <a:pt x="95" y="318"/>
                  </a:lnTo>
                  <a:lnTo>
                    <a:pt x="95" y="318"/>
                  </a:lnTo>
                  <a:lnTo>
                    <a:pt x="93" y="318"/>
                  </a:lnTo>
                  <a:lnTo>
                    <a:pt x="93" y="318"/>
                  </a:lnTo>
                  <a:lnTo>
                    <a:pt x="91" y="318"/>
                  </a:lnTo>
                  <a:lnTo>
                    <a:pt x="91" y="318"/>
                  </a:lnTo>
                  <a:lnTo>
                    <a:pt x="91" y="318"/>
                  </a:lnTo>
                  <a:lnTo>
                    <a:pt x="89" y="318"/>
                  </a:lnTo>
                  <a:lnTo>
                    <a:pt x="89" y="318"/>
                  </a:lnTo>
                  <a:lnTo>
                    <a:pt x="87" y="318"/>
                  </a:lnTo>
                  <a:lnTo>
                    <a:pt x="85" y="318"/>
                  </a:lnTo>
                  <a:lnTo>
                    <a:pt x="85" y="318"/>
                  </a:lnTo>
                  <a:lnTo>
                    <a:pt x="84" y="316"/>
                  </a:lnTo>
                  <a:lnTo>
                    <a:pt x="84" y="316"/>
                  </a:lnTo>
                  <a:lnTo>
                    <a:pt x="84" y="316"/>
                  </a:lnTo>
                  <a:lnTo>
                    <a:pt x="82" y="316"/>
                  </a:lnTo>
                  <a:lnTo>
                    <a:pt x="82" y="314"/>
                  </a:lnTo>
                  <a:lnTo>
                    <a:pt x="82" y="316"/>
                  </a:lnTo>
                  <a:lnTo>
                    <a:pt x="80" y="316"/>
                  </a:lnTo>
                  <a:lnTo>
                    <a:pt x="80" y="316"/>
                  </a:lnTo>
                  <a:lnTo>
                    <a:pt x="78" y="316"/>
                  </a:lnTo>
                  <a:lnTo>
                    <a:pt x="76" y="314"/>
                  </a:lnTo>
                  <a:lnTo>
                    <a:pt x="70" y="314"/>
                  </a:lnTo>
                  <a:lnTo>
                    <a:pt x="66" y="310"/>
                  </a:lnTo>
                  <a:lnTo>
                    <a:pt x="66" y="310"/>
                  </a:lnTo>
                  <a:lnTo>
                    <a:pt x="66" y="310"/>
                  </a:lnTo>
                  <a:lnTo>
                    <a:pt x="55" y="310"/>
                  </a:lnTo>
                  <a:lnTo>
                    <a:pt x="51" y="310"/>
                  </a:lnTo>
                  <a:lnTo>
                    <a:pt x="49" y="310"/>
                  </a:lnTo>
                  <a:lnTo>
                    <a:pt x="47" y="308"/>
                  </a:lnTo>
                  <a:lnTo>
                    <a:pt x="47" y="308"/>
                  </a:lnTo>
                  <a:lnTo>
                    <a:pt x="42" y="310"/>
                  </a:lnTo>
                  <a:lnTo>
                    <a:pt x="40" y="310"/>
                  </a:lnTo>
                  <a:lnTo>
                    <a:pt x="32" y="314"/>
                  </a:lnTo>
                  <a:lnTo>
                    <a:pt x="28" y="318"/>
                  </a:lnTo>
                  <a:lnTo>
                    <a:pt x="28" y="319"/>
                  </a:lnTo>
                  <a:lnTo>
                    <a:pt x="28" y="321"/>
                  </a:lnTo>
                  <a:lnTo>
                    <a:pt x="28" y="323"/>
                  </a:lnTo>
                  <a:lnTo>
                    <a:pt x="28" y="327"/>
                  </a:lnTo>
                  <a:lnTo>
                    <a:pt x="28" y="329"/>
                  </a:lnTo>
                  <a:lnTo>
                    <a:pt x="28" y="331"/>
                  </a:lnTo>
                  <a:lnTo>
                    <a:pt x="30" y="331"/>
                  </a:lnTo>
                  <a:lnTo>
                    <a:pt x="30" y="331"/>
                  </a:lnTo>
                  <a:lnTo>
                    <a:pt x="30" y="331"/>
                  </a:lnTo>
                  <a:lnTo>
                    <a:pt x="30" y="331"/>
                  </a:lnTo>
                  <a:lnTo>
                    <a:pt x="32" y="333"/>
                  </a:lnTo>
                  <a:lnTo>
                    <a:pt x="32" y="337"/>
                  </a:lnTo>
                  <a:lnTo>
                    <a:pt x="34" y="338"/>
                  </a:lnTo>
                  <a:lnTo>
                    <a:pt x="34" y="338"/>
                  </a:lnTo>
                  <a:lnTo>
                    <a:pt x="32" y="338"/>
                  </a:lnTo>
                  <a:lnTo>
                    <a:pt x="32" y="338"/>
                  </a:lnTo>
                  <a:lnTo>
                    <a:pt x="30" y="338"/>
                  </a:lnTo>
                  <a:lnTo>
                    <a:pt x="30" y="338"/>
                  </a:lnTo>
                  <a:lnTo>
                    <a:pt x="30" y="338"/>
                  </a:lnTo>
                  <a:lnTo>
                    <a:pt x="28" y="338"/>
                  </a:lnTo>
                  <a:lnTo>
                    <a:pt x="28" y="338"/>
                  </a:lnTo>
                  <a:lnTo>
                    <a:pt x="26" y="340"/>
                  </a:lnTo>
                  <a:lnTo>
                    <a:pt x="26" y="342"/>
                  </a:lnTo>
                  <a:lnTo>
                    <a:pt x="26" y="342"/>
                  </a:lnTo>
                  <a:lnTo>
                    <a:pt x="26" y="342"/>
                  </a:lnTo>
                  <a:lnTo>
                    <a:pt x="26" y="342"/>
                  </a:lnTo>
                  <a:lnTo>
                    <a:pt x="26" y="348"/>
                  </a:lnTo>
                  <a:lnTo>
                    <a:pt x="26" y="352"/>
                  </a:lnTo>
                  <a:lnTo>
                    <a:pt x="26" y="354"/>
                  </a:lnTo>
                  <a:lnTo>
                    <a:pt x="26" y="354"/>
                  </a:lnTo>
                  <a:lnTo>
                    <a:pt x="26" y="354"/>
                  </a:lnTo>
                  <a:lnTo>
                    <a:pt x="26" y="354"/>
                  </a:lnTo>
                  <a:lnTo>
                    <a:pt x="24" y="352"/>
                  </a:lnTo>
                  <a:lnTo>
                    <a:pt x="23" y="352"/>
                  </a:lnTo>
                  <a:lnTo>
                    <a:pt x="23" y="352"/>
                  </a:lnTo>
                  <a:lnTo>
                    <a:pt x="23" y="354"/>
                  </a:lnTo>
                  <a:lnTo>
                    <a:pt x="23" y="354"/>
                  </a:lnTo>
                  <a:lnTo>
                    <a:pt x="23" y="354"/>
                  </a:lnTo>
                  <a:lnTo>
                    <a:pt x="24" y="356"/>
                  </a:lnTo>
                  <a:lnTo>
                    <a:pt x="24" y="358"/>
                  </a:lnTo>
                  <a:lnTo>
                    <a:pt x="24" y="359"/>
                  </a:lnTo>
                  <a:lnTo>
                    <a:pt x="26" y="359"/>
                  </a:lnTo>
                  <a:lnTo>
                    <a:pt x="26" y="359"/>
                  </a:lnTo>
                  <a:lnTo>
                    <a:pt x="26" y="361"/>
                  </a:lnTo>
                  <a:lnTo>
                    <a:pt x="26" y="361"/>
                  </a:lnTo>
                  <a:lnTo>
                    <a:pt x="28" y="367"/>
                  </a:lnTo>
                  <a:lnTo>
                    <a:pt x="28" y="369"/>
                  </a:lnTo>
                  <a:lnTo>
                    <a:pt x="28" y="369"/>
                  </a:lnTo>
                  <a:lnTo>
                    <a:pt x="30" y="369"/>
                  </a:lnTo>
                  <a:lnTo>
                    <a:pt x="32" y="371"/>
                  </a:lnTo>
                  <a:lnTo>
                    <a:pt x="34" y="371"/>
                  </a:lnTo>
                  <a:lnTo>
                    <a:pt x="34" y="371"/>
                  </a:lnTo>
                  <a:lnTo>
                    <a:pt x="36" y="373"/>
                  </a:lnTo>
                  <a:lnTo>
                    <a:pt x="36" y="378"/>
                  </a:lnTo>
                  <a:lnTo>
                    <a:pt x="38" y="384"/>
                  </a:lnTo>
                  <a:lnTo>
                    <a:pt x="38" y="384"/>
                  </a:lnTo>
                  <a:lnTo>
                    <a:pt x="38" y="388"/>
                  </a:lnTo>
                  <a:lnTo>
                    <a:pt x="38" y="388"/>
                  </a:lnTo>
                  <a:lnTo>
                    <a:pt x="38" y="390"/>
                  </a:lnTo>
                  <a:lnTo>
                    <a:pt x="38" y="390"/>
                  </a:lnTo>
                  <a:lnTo>
                    <a:pt x="38" y="392"/>
                  </a:lnTo>
                  <a:lnTo>
                    <a:pt x="36" y="392"/>
                  </a:lnTo>
                  <a:lnTo>
                    <a:pt x="36" y="392"/>
                  </a:lnTo>
                  <a:lnTo>
                    <a:pt x="36" y="394"/>
                  </a:lnTo>
                  <a:lnTo>
                    <a:pt x="34" y="396"/>
                  </a:lnTo>
                  <a:lnTo>
                    <a:pt x="34" y="397"/>
                  </a:lnTo>
                  <a:lnTo>
                    <a:pt x="34" y="397"/>
                  </a:lnTo>
                  <a:lnTo>
                    <a:pt x="30" y="401"/>
                  </a:lnTo>
                  <a:lnTo>
                    <a:pt x="30" y="401"/>
                  </a:lnTo>
                  <a:lnTo>
                    <a:pt x="30" y="401"/>
                  </a:lnTo>
                  <a:lnTo>
                    <a:pt x="28" y="401"/>
                  </a:lnTo>
                  <a:lnTo>
                    <a:pt x="28" y="401"/>
                  </a:lnTo>
                  <a:lnTo>
                    <a:pt x="28" y="401"/>
                  </a:lnTo>
                  <a:lnTo>
                    <a:pt x="28" y="399"/>
                  </a:lnTo>
                  <a:lnTo>
                    <a:pt x="26" y="399"/>
                  </a:lnTo>
                  <a:lnTo>
                    <a:pt x="26" y="399"/>
                  </a:lnTo>
                  <a:lnTo>
                    <a:pt x="26" y="399"/>
                  </a:lnTo>
                  <a:lnTo>
                    <a:pt x="24" y="399"/>
                  </a:lnTo>
                  <a:lnTo>
                    <a:pt x="24" y="399"/>
                  </a:lnTo>
                  <a:lnTo>
                    <a:pt x="23" y="399"/>
                  </a:lnTo>
                  <a:lnTo>
                    <a:pt x="23" y="399"/>
                  </a:lnTo>
                  <a:lnTo>
                    <a:pt x="21" y="399"/>
                  </a:lnTo>
                  <a:lnTo>
                    <a:pt x="21" y="399"/>
                  </a:lnTo>
                  <a:lnTo>
                    <a:pt x="19" y="399"/>
                  </a:lnTo>
                  <a:lnTo>
                    <a:pt x="17" y="397"/>
                  </a:lnTo>
                  <a:lnTo>
                    <a:pt x="15" y="397"/>
                  </a:lnTo>
                  <a:lnTo>
                    <a:pt x="13" y="397"/>
                  </a:lnTo>
                  <a:lnTo>
                    <a:pt x="5" y="394"/>
                  </a:lnTo>
                  <a:lnTo>
                    <a:pt x="4" y="394"/>
                  </a:lnTo>
                  <a:lnTo>
                    <a:pt x="2" y="396"/>
                  </a:lnTo>
                  <a:lnTo>
                    <a:pt x="2" y="397"/>
                  </a:lnTo>
                  <a:lnTo>
                    <a:pt x="2" y="399"/>
                  </a:lnTo>
                  <a:lnTo>
                    <a:pt x="2" y="399"/>
                  </a:lnTo>
                  <a:lnTo>
                    <a:pt x="2" y="401"/>
                  </a:lnTo>
                  <a:lnTo>
                    <a:pt x="2" y="401"/>
                  </a:lnTo>
                  <a:lnTo>
                    <a:pt x="0" y="401"/>
                  </a:lnTo>
                  <a:lnTo>
                    <a:pt x="0" y="403"/>
                  </a:lnTo>
                  <a:lnTo>
                    <a:pt x="0" y="403"/>
                  </a:lnTo>
                  <a:lnTo>
                    <a:pt x="0" y="403"/>
                  </a:lnTo>
                  <a:lnTo>
                    <a:pt x="2" y="403"/>
                  </a:lnTo>
                  <a:lnTo>
                    <a:pt x="4" y="405"/>
                  </a:lnTo>
                  <a:lnTo>
                    <a:pt x="4" y="405"/>
                  </a:lnTo>
                  <a:lnTo>
                    <a:pt x="5" y="405"/>
                  </a:lnTo>
                  <a:lnTo>
                    <a:pt x="7" y="405"/>
                  </a:lnTo>
                  <a:lnTo>
                    <a:pt x="7" y="407"/>
                  </a:lnTo>
                  <a:lnTo>
                    <a:pt x="7" y="407"/>
                  </a:lnTo>
                  <a:lnTo>
                    <a:pt x="9" y="407"/>
                  </a:lnTo>
                  <a:lnTo>
                    <a:pt x="9" y="407"/>
                  </a:lnTo>
                  <a:lnTo>
                    <a:pt x="9" y="409"/>
                  </a:lnTo>
                  <a:lnTo>
                    <a:pt x="9" y="409"/>
                  </a:lnTo>
                  <a:lnTo>
                    <a:pt x="9" y="411"/>
                  </a:lnTo>
                  <a:lnTo>
                    <a:pt x="9" y="413"/>
                  </a:lnTo>
                  <a:lnTo>
                    <a:pt x="9" y="415"/>
                  </a:lnTo>
                  <a:lnTo>
                    <a:pt x="7" y="422"/>
                  </a:lnTo>
                  <a:lnTo>
                    <a:pt x="7" y="422"/>
                  </a:lnTo>
                  <a:lnTo>
                    <a:pt x="7" y="422"/>
                  </a:lnTo>
                  <a:lnTo>
                    <a:pt x="7" y="422"/>
                  </a:lnTo>
                  <a:lnTo>
                    <a:pt x="5" y="424"/>
                  </a:lnTo>
                  <a:lnTo>
                    <a:pt x="4" y="424"/>
                  </a:lnTo>
                  <a:lnTo>
                    <a:pt x="4" y="424"/>
                  </a:lnTo>
                  <a:lnTo>
                    <a:pt x="4" y="428"/>
                  </a:lnTo>
                  <a:lnTo>
                    <a:pt x="4" y="428"/>
                  </a:lnTo>
                  <a:lnTo>
                    <a:pt x="4" y="430"/>
                  </a:lnTo>
                  <a:lnTo>
                    <a:pt x="4" y="432"/>
                  </a:lnTo>
                  <a:lnTo>
                    <a:pt x="2" y="434"/>
                  </a:lnTo>
                  <a:lnTo>
                    <a:pt x="2" y="435"/>
                  </a:lnTo>
                  <a:lnTo>
                    <a:pt x="2" y="437"/>
                  </a:lnTo>
                  <a:lnTo>
                    <a:pt x="2" y="439"/>
                  </a:lnTo>
                  <a:lnTo>
                    <a:pt x="4" y="443"/>
                  </a:lnTo>
                  <a:lnTo>
                    <a:pt x="4" y="443"/>
                  </a:lnTo>
                  <a:lnTo>
                    <a:pt x="4" y="445"/>
                  </a:lnTo>
                  <a:lnTo>
                    <a:pt x="5" y="445"/>
                  </a:lnTo>
                  <a:lnTo>
                    <a:pt x="5" y="445"/>
                  </a:lnTo>
                  <a:lnTo>
                    <a:pt x="7" y="445"/>
                  </a:lnTo>
                  <a:lnTo>
                    <a:pt x="7" y="447"/>
                  </a:lnTo>
                  <a:lnTo>
                    <a:pt x="7" y="447"/>
                  </a:lnTo>
                  <a:lnTo>
                    <a:pt x="9" y="449"/>
                  </a:lnTo>
                  <a:lnTo>
                    <a:pt x="9" y="451"/>
                  </a:lnTo>
                  <a:lnTo>
                    <a:pt x="9" y="451"/>
                  </a:lnTo>
                  <a:lnTo>
                    <a:pt x="9" y="451"/>
                  </a:lnTo>
                  <a:lnTo>
                    <a:pt x="11" y="451"/>
                  </a:lnTo>
                  <a:lnTo>
                    <a:pt x="11" y="451"/>
                  </a:lnTo>
                  <a:lnTo>
                    <a:pt x="13" y="451"/>
                  </a:lnTo>
                  <a:lnTo>
                    <a:pt x="13" y="451"/>
                  </a:lnTo>
                  <a:lnTo>
                    <a:pt x="13" y="451"/>
                  </a:lnTo>
                  <a:lnTo>
                    <a:pt x="15" y="451"/>
                  </a:lnTo>
                  <a:lnTo>
                    <a:pt x="17" y="451"/>
                  </a:lnTo>
                  <a:lnTo>
                    <a:pt x="19" y="451"/>
                  </a:lnTo>
                  <a:lnTo>
                    <a:pt x="19" y="451"/>
                  </a:lnTo>
                  <a:lnTo>
                    <a:pt x="19" y="453"/>
                  </a:lnTo>
                  <a:lnTo>
                    <a:pt x="19" y="453"/>
                  </a:lnTo>
                  <a:lnTo>
                    <a:pt x="19" y="455"/>
                  </a:lnTo>
                  <a:lnTo>
                    <a:pt x="19" y="455"/>
                  </a:lnTo>
                  <a:lnTo>
                    <a:pt x="19" y="456"/>
                  </a:lnTo>
                  <a:lnTo>
                    <a:pt x="19" y="456"/>
                  </a:lnTo>
                  <a:lnTo>
                    <a:pt x="17" y="458"/>
                  </a:lnTo>
                  <a:lnTo>
                    <a:pt x="17" y="458"/>
                  </a:lnTo>
                  <a:lnTo>
                    <a:pt x="17" y="458"/>
                  </a:lnTo>
                  <a:lnTo>
                    <a:pt x="17" y="458"/>
                  </a:lnTo>
                  <a:lnTo>
                    <a:pt x="15" y="458"/>
                  </a:lnTo>
                  <a:lnTo>
                    <a:pt x="15" y="458"/>
                  </a:lnTo>
                  <a:lnTo>
                    <a:pt x="15" y="458"/>
                  </a:lnTo>
                  <a:lnTo>
                    <a:pt x="15" y="458"/>
                  </a:lnTo>
                  <a:lnTo>
                    <a:pt x="13" y="458"/>
                  </a:lnTo>
                  <a:lnTo>
                    <a:pt x="13" y="458"/>
                  </a:lnTo>
                  <a:lnTo>
                    <a:pt x="13" y="460"/>
                  </a:lnTo>
                  <a:lnTo>
                    <a:pt x="13" y="460"/>
                  </a:lnTo>
                  <a:lnTo>
                    <a:pt x="13" y="462"/>
                  </a:lnTo>
                  <a:lnTo>
                    <a:pt x="13" y="462"/>
                  </a:lnTo>
                  <a:lnTo>
                    <a:pt x="13" y="464"/>
                  </a:lnTo>
                  <a:lnTo>
                    <a:pt x="13" y="464"/>
                  </a:lnTo>
                  <a:lnTo>
                    <a:pt x="15" y="466"/>
                  </a:lnTo>
                  <a:lnTo>
                    <a:pt x="15" y="466"/>
                  </a:lnTo>
                  <a:lnTo>
                    <a:pt x="19" y="468"/>
                  </a:lnTo>
                  <a:lnTo>
                    <a:pt x="19" y="468"/>
                  </a:lnTo>
                  <a:lnTo>
                    <a:pt x="19" y="468"/>
                  </a:lnTo>
                  <a:lnTo>
                    <a:pt x="19" y="470"/>
                  </a:lnTo>
                  <a:lnTo>
                    <a:pt x="19" y="470"/>
                  </a:lnTo>
                  <a:lnTo>
                    <a:pt x="17" y="470"/>
                  </a:lnTo>
                  <a:lnTo>
                    <a:pt x="17" y="472"/>
                  </a:lnTo>
                  <a:lnTo>
                    <a:pt x="17" y="472"/>
                  </a:lnTo>
                  <a:lnTo>
                    <a:pt x="23" y="474"/>
                  </a:lnTo>
                  <a:lnTo>
                    <a:pt x="26" y="474"/>
                  </a:lnTo>
                  <a:lnTo>
                    <a:pt x="28" y="474"/>
                  </a:lnTo>
                  <a:lnTo>
                    <a:pt x="30" y="475"/>
                  </a:lnTo>
                  <a:lnTo>
                    <a:pt x="32" y="475"/>
                  </a:lnTo>
                  <a:lnTo>
                    <a:pt x="32" y="475"/>
                  </a:lnTo>
                  <a:lnTo>
                    <a:pt x="34" y="474"/>
                  </a:lnTo>
                  <a:lnTo>
                    <a:pt x="34" y="474"/>
                  </a:lnTo>
                  <a:lnTo>
                    <a:pt x="34" y="474"/>
                  </a:lnTo>
                  <a:lnTo>
                    <a:pt x="34" y="470"/>
                  </a:lnTo>
                  <a:lnTo>
                    <a:pt x="34" y="470"/>
                  </a:lnTo>
                  <a:lnTo>
                    <a:pt x="34" y="470"/>
                  </a:lnTo>
                  <a:lnTo>
                    <a:pt x="36" y="468"/>
                  </a:lnTo>
                  <a:lnTo>
                    <a:pt x="36" y="466"/>
                  </a:lnTo>
                  <a:lnTo>
                    <a:pt x="38" y="464"/>
                  </a:lnTo>
                  <a:lnTo>
                    <a:pt x="38" y="464"/>
                  </a:lnTo>
                  <a:lnTo>
                    <a:pt x="40" y="464"/>
                  </a:lnTo>
                  <a:lnTo>
                    <a:pt x="40" y="466"/>
                  </a:lnTo>
                  <a:lnTo>
                    <a:pt x="42" y="466"/>
                  </a:lnTo>
                  <a:lnTo>
                    <a:pt x="44" y="466"/>
                  </a:lnTo>
                  <a:lnTo>
                    <a:pt x="45" y="466"/>
                  </a:lnTo>
                  <a:lnTo>
                    <a:pt x="47" y="466"/>
                  </a:lnTo>
                  <a:lnTo>
                    <a:pt x="49" y="466"/>
                  </a:lnTo>
                  <a:lnTo>
                    <a:pt x="49" y="466"/>
                  </a:lnTo>
                  <a:lnTo>
                    <a:pt x="49" y="466"/>
                  </a:lnTo>
                  <a:lnTo>
                    <a:pt x="49" y="466"/>
                  </a:lnTo>
                  <a:lnTo>
                    <a:pt x="49" y="466"/>
                  </a:lnTo>
                  <a:lnTo>
                    <a:pt x="49" y="468"/>
                  </a:lnTo>
                  <a:lnTo>
                    <a:pt x="51" y="468"/>
                  </a:lnTo>
                  <a:lnTo>
                    <a:pt x="51" y="470"/>
                  </a:lnTo>
                  <a:lnTo>
                    <a:pt x="55" y="470"/>
                  </a:lnTo>
                  <a:lnTo>
                    <a:pt x="55" y="470"/>
                  </a:lnTo>
                  <a:lnTo>
                    <a:pt x="57" y="470"/>
                  </a:lnTo>
                  <a:lnTo>
                    <a:pt x="57" y="472"/>
                  </a:lnTo>
                  <a:lnTo>
                    <a:pt x="59" y="474"/>
                  </a:lnTo>
                  <a:lnTo>
                    <a:pt x="61" y="474"/>
                  </a:lnTo>
                  <a:lnTo>
                    <a:pt x="61" y="474"/>
                  </a:lnTo>
                  <a:lnTo>
                    <a:pt x="61" y="474"/>
                  </a:lnTo>
                  <a:lnTo>
                    <a:pt x="63" y="474"/>
                  </a:lnTo>
                  <a:lnTo>
                    <a:pt x="61" y="472"/>
                  </a:lnTo>
                  <a:lnTo>
                    <a:pt x="59" y="470"/>
                  </a:lnTo>
                  <a:lnTo>
                    <a:pt x="59" y="470"/>
                  </a:lnTo>
                  <a:lnTo>
                    <a:pt x="59" y="468"/>
                  </a:lnTo>
                  <a:lnTo>
                    <a:pt x="59" y="468"/>
                  </a:lnTo>
                  <a:lnTo>
                    <a:pt x="59" y="466"/>
                  </a:lnTo>
                  <a:lnTo>
                    <a:pt x="59" y="466"/>
                  </a:lnTo>
                  <a:lnTo>
                    <a:pt x="61" y="466"/>
                  </a:lnTo>
                  <a:lnTo>
                    <a:pt x="61" y="466"/>
                  </a:lnTo>
                  <a:lnTo>
                    <a:pt x="63" y="466"/>
                  </a:lnTo>
                  <a:lnTo>
                    <a:pt x="63" y="466"/>
                  </a:lnTo>
                  <a:lnTo>
                    <a:pt x="63" y="466"/>
                  </a:lnTo>
                  <a:lnTo>
                    <a:pt x="65" y="466"/>
                  </a:lnTo>
                  <a:lnTo>
                    <a:pt x="65" y="468"/>
                  </a:lnTo>
                  <a:lnTo>
                    <a:pt x="65" y="468"/>
                  </a:lnTo>
                  <a:lnTo>
                    <a:pt x="65" y="468"/>
                  </a:lnTo>
                  <a:lnTo>
                    <a:pt x="65" y="468"/>
                  </a:lnTo>
                  <a:lnTo>
                    <a:pt x="65" y="468"/>
                  </a:lnTo>
                  <a:lnTo>
                    <a:pt x="68" y="470"/>
                  </a:lnTo>
                  <a:lnTo>
                    <a:pt x="68" y="470"/>
                  </a:lnTo>
                  <a:lnTo>
                    <a:pt x="68" y="470"/>
                  </a:lnTo>
                  <a:lnTo>
                    <a:pt x="68" y="470"/>
                  </a:lnTo>
                  <a:lnTo>
                    <a:pt x="68" y="472"/>
                  </a:lnTo>
                  <a:lnTo>
                    <a:pt x="68" y="474"/>
                  </a:lnTo>
                  <a:lnTo>
                    <a:pt x="68" y="474"/>
                  </a:lnTo>
                  <a:lnTo>
                    <a:pt x="68" y="475"/>
                  </a:lnTo>
                  <a:lnTo>
                    <a:pt x="68" y="477"/>
                  </a:lnTo>
                  <a:lnTo>
                    <a:pt x="68" y="477"/>
                  </a:lnTo>
                  <a:lnTo>
                    <a:pt x="68" y="479"/>
                  </a:lnTo>
                  <a:lnTo>
                    <a:pt x="68" y="479"/>
                  </a:lnTo>
                  <a:lnTo>
                    <a:pt x="68" y="479"/>
                  </a:lnTo>
                  <a:lnTo>
                    <a:pt x="68" y="479"/>
                  </a:lnTo>
                  <a:lnTo>
                    <a:pt x="66" y="481"/>
                  </a:lnTo>
                  <a:lnTo>
                    <a:pt x="63" y="481"/>
                  </a:lnTo>
                  <a:lnTo>
                    <a:pt x="61" y="481"/>
                  </a:lnTo>
                  <a:lnTo>
                    <a:pt x="61" y="481"/>
                  </a:lnTo>
                  <a:lnTo>
                    <a:pt x="61" y="481"/>
                  </a:lnTo>
                  <a:lnTo>
                    <a:pt x="59" y="483"/>
                  </a:lnTo>
                  <a:lnTo>
                    <a:pt x="57" y="485"/>
                  </a:lnTo>
                  <a:lnTo>
                    <a:pt x="57" y="485"/>
                  </a:lnTo>
                  <a:lnTo>
                    <a:pt x="57" y="485"/>
                  </a:lnTo>
                  <a:lnTo>
                    <a:pt x="57" y="485"/>
                  </a:lnTo>
                  <a:lnTo>
                    <a:pt x="57" y="485"/>
                  </a:lnTo>
                  <a:lnTo>
                    <a:pt x="59" y="487"/>
                  </a:lnTo>
                  <a:lnTo>
                    <a:pt x="59" y="487"/>
                  </a:lnTo>
                  <a:lnTo>
                    <a:pt x="59" y="487"/>
                  </a:lnTo>
                  <a:lnTo>
                    <a:pt x="59" y="487"/>
                  </a:lnTo>
                  <a:lnTo>
                    <a:pt x="59" y="489"/>
                  </a:lnTo>
                  <a:lnTo>
                    <a:pt x="57" y="491"/>
                  </a:lnTo>
                  <a:lnTo>
                    <a:pt x="57" y="491"/>
                  </a:lnTo>
                  <a:lnTo>
                    <a:pt x="57" y="493"/>
                  </a:lnTo>
                  <a:lnTo>
                    <a:pt x="57" y="493"/>
                  </a:lnTo>
                  <a:lnTo>
                    <a:pt x="57" y="493"/>
                  </a:lnTo>
                  <a:lnTo>
                    <a:pt x="59" y="494"/>
                  </a:lnTo>
                  <a:lnTo>
                    <a:pt x="59" y="494"/>
                  </a:lnTo>
                  <a:lnTo>
                    <a:pt x="59" y="496"/>
                  </a:lnTo>
                  <a:lnTo>
                    <a:pt x="59" y="496"/>
                  </a:lnTo>
                  <a:lnTo>
                    <a:pt x="59" y="498"/>
                  </a:lnTo>
                  <a:lnTo>
                    <a:pt x="59" y="498"/>
                  </a:lnTo>
                  <a:lnTo>
                    <a:pt x="61" y="498"/>
                  </a:lnTo>
                  <a:lnTo>
                    <a:pt x="61" y="500"/>
                  </a:lnTo>
                  <a:lnTo>
                    <a:pt x="61" y="500"/>
                  </a:lnTo>
                  <a:lnTo>
                    <a:pt x="63" y="500"/>
                  </a:lnTo>
                  <a:lnTo>
                    <a:pt x="61" y="502"/>
                  </a:lnTo>
                  <a:lnTo>
                    <a:pt x="61" y="502"/>
                  </a:lnTo>
                  <a:lnTo>
                    <a:pt x="61" y="504"/>
                  </a:lnTo>
                  <a:lnTo>
                    <a:pt x="63" y="506"/>
                  </a:lnTo>
                  <a:lnTo>
                    <a:pt x="63" y="506"/>
                  </a:lnTo>
                  <a:lnTo>
                    <a:pt x="63" y="506"/>
                  </a:lnTo>
                  <a:lnTo>
                    <a:pt x="63" y="508"/>
                  </a:lnTo>
                  <a:lnTo>
                    <a:pt x="61" y="508"/>
                  </a:lnTo>
                  <a:lnTo>
                    <a:pt x="61" y="508"/>
                  </a:lnTo>
                  <a:lnTo>
                    <a:pt x="59" y="506"/>
                  </a:lnTo>
                  <a:lnTo>
                    <a:pt x="57" y="506"/>
                  </a:lnTo>
                  <a:lnTo>
                    <a:pt x="57" y="506"/>
                  </a:lnTo>
                  <a:lnTo>
                    <a:pt x="57" y="506"/>
                  </a:lnTo>
                  <a:lnTo>
                    <a:pt x="57" y="504"/>
                  </a:lnTo>
                  <a:lnTo>
                    <a:pt x="57" y="504"/>
                  </a:lnTo>
                  <a:lnTo>
                    <a:pt x="57" y="502"/>
                  </a:lnTo>
                  <a:lnTo>
                    <a:pt x="57" y="502"/>
                  </a:lnTo>
                  <a:lnTo>
                    <a:pt x="55" y="500"/>
                  </a:lnTo>
                  <a:lnTo>
                    <a:pt x="53" y="496"/>
                  </a:lnTo>
                  <a:lnTo>
                    <a:pt x="53" y="496"/>
                  </a:lnTo>
                  <a:lnTo>
                    <a:pt x="53" y="496"/>
                  </a:lnTo>
                  <a:lnTo>
                    <a:pt x="53" y="496"/>
                  </a:lnTo>
                  <a:lnTo>
                    <a:pt x="51" y="496"/>
                  </a:lnTo>
                  <a:lnTo>
                    <a:pt x="51" y="494"/>
                  </a:lnTo>
                  <a:lnTo>
                    <a:pt x="49" y="494"/>
                  </a:lnTo>
                  <a:lnTo>
                    <a:pt x="49" y="494"/>
                  </a:lnTo>
                  <a:lnTo>
                    <a:pt x="49" y="494"/>
                  </a:lnTo>
                  <a:lnTo>
                    <a:pt x="42" y="496"/>
                  </a:lnTo>
                  <a:lnTo>
                    <a:pt x="42" y="496"/>
                  </a:lnTo>
                  <a:lnTo>
                    <a:pt x="40" y="496"/>
                  </a:lnTo>
                  <a:lnTo>
                    <a:pt x="38" y="496"/>
                  </a:lnTo>
                  <a:lnTo>
                    <a:pt x="36" y="496"/>
                  </a:lnTo>
                  <a:lnTo>
                    <a:pt x="36" y="496"/>
                  </a:lnTo>
                  <a:lnTo>
                    <a:pt x="34" y="496"/>
                  </a:lnTo>
                  <a:lnTo>
                    <a:pt x="34" y="494"/>
                  </a:lnTo>
                  <a:lnTo>
                    <a:pt x="34" y="494"/>
                  </a:lnTo>
                  <a:lnTo>
                    <a:pt x="32" y="493"/>
                  </a:lnTo>
                  <a:lnTo>
                    <a:pt x="32" y="493"/>
                  </a:lnTo>
                  <a:lnTo>
                    <a:pt x="28" y="493"/>
                  </a:lnTo>
                  <a:lnTo>
                    <a:pt x="28" y="493"/>
                  </a:lnTo>
                  <a:lnTo>
                    <a:pt x="26" y="491"/>
                  </a:lnTo>
                  <a:lnTo>
                    <a:pt x="26" y="491"/>
                  </a:lnTo>
                  <a:lnTo>
                    <a:pt x="26" y="491"/>
                  </a:lnTo>
                  <a:lnTo>
                    <a:pt x="24" y="491"/>
                  </a:lnTo>
                  <a:lnTo>
                    <a:pt x="24" y="489"/>
                  </a:lnTo>
                  <a:lnTo>
                    <a:pt x="24" y="487"/>
                  </a:lnTo>
                  <a:lnTo>
                    <a:pt x="23" y="483"/>
                  </a:lnTo>
                  <a:lnTo>
                    <a:pt x="23" y="481"/>
                  </a:lnTo>
                  <a:lnTo>
                    <a:pt x="23" y="481"/>
                  </a:lnTo>
                  <a:lnTo>
                    <a:pt x="23" y="481"/>
                  </a:lnTo>
                  <a:lnTo>
                    <a:pt x="23" y="481"/>
                  </a:lnTo>
                  <a:lnTo>
                    <a:pt x="23" y="481"/>
                  </a:lnTo>
                  <a:lnTo>
                    <a:pt x="21" y="481"/>
                  </a:lnTo>
                  <a:lnTo>
                    <a:pt x="21" y="481"/>
                  </a:lnTo>
                  <a:lnTo>
                    <a:pt x="19" y="479"/>
                  </a:lnTo>
                  <a:lnTo>
                    <a:pt x="19" y="479"/>
                  </a:lnTo>
                  <a:lnTo>
                    <a:pt x="19" y="479"/>
                  </a:lnTo>
                  <a:lnTo>
                    <a:pt x="19" y="479"/>
                  </a:lnTo>
                  <a:lnTo>
                    <a:pt x="17" y="479"/>
                  </a:lnTo>
                  <a:lnTo>
                    <a:pt x="17" y="479"/>
                  </a:lnTo>
                  <a:lnTo>
                    <a:pt x="17" y="481"/>
                  </a:lnTo>
                  <a:lnTo>
                    <a:pt x="17" y="481"/>
                  </a:lnTo>
                  <a:lnTo>
                    <a:pt x="15" y="481"/>
                  </a:lnTo>
                  <a:lnTo>
                    <a:pt x="15" y="481"/>
                  </a:lnTo>
                  <a:lnTo>
                    <a:pt x="13" y="483"/>
                  </a:lnTo>
                  <a:lnTo>
                    <a:pt x="13" y="483"/>
                  </a:lnTo>
                  <a:lnTo>
                    <a:pt x="15" y="483"/>
                  </a:lnTo>
                  <a:lnTo>
                    <a:pt x="19" y="489"/>
                  </a:lnTo>
                  <a:lnTo>
                    <a:pt x="21" y="491"/>
                  </a:lnTo>
                  <a:lnTo>
                    <a:pt x="21" y="491"/>
                  </a:lnTo>
                  <a:lnTo>
                    <a:pt x="21" y="491"/>
                  </a:lnTo>
                  <a:lnTo>
                    <a:pt x="21" y="493"/>
                  </a:lnTo>
                  <a:lnTo>
                    <a:pt x="21" y="493"/>
                  </a:lnTo>
                  <a:lnTo>
                    <a:pt x="19" y="494"/>
                  </a:lnTo>
                  <a:lnTo>
                    <a:pt x="21" y="496"/>
                  </a:lnTo>
                  <a:lnTo>
                    <a:pt x="21" y="496"/>
                  </a:lnTo>
                  <a:lnTo>
                    <a:pt x="21" y="496"/>
                  </a:lnTo>
                  <a:lnTo>
                    <a:pt x="21" y="498"/>
                  </a:lnTo>
                  <a:lnTo>
                    <a:pt x="23" y="498"/>
                  </a:lnTo>
                  <a:lnTo>
                    <a:pt x="24" y="500"/>
                  </a:lnTo>
                  <a:lnTo>
                    <a:pt x="24" y="502"/>
                  </a:lnTo>
                  <a:lnTo>
                    <a:pt x="26" y="504"/>
                  </a:lnTo>
                  <a:lnTo>
                    <a:pt x="26" y="504"/>
                  </a:lnTo>
                  <a:lnTo>
                    <a:pt x="26" y="506"/>
                  </a:lnTo>
                  <a:lnTo>
                    <a:pt x="26" y="506"/>
                  </a:lnTo>
                  <a:lnTo>
                    <a:pt x="26" y="506"/>
                  </a:lnTo>
                  <a:lnTo>
                    <a:pt x="26" y="508"/>
                  </a:lnTo>
                  <a:lnTo>
                    <a:pt x="26" y="508"/>
                  </a:lnTo>
                  <a:lnTo>
                    <a:pt x="26" y="508"/>
                  </a:lnTo>
                  <a:lnTo>
                    <a:pt x="24" y="508"/>
                  </a:lnTo>
                  <a:lnTo>
                    <a:pt x="24" y="510"/>
                  </a:lnTo>
                  <a:lnTo>
                    <a:pt x="24" y="510"/>
                  </a:lnTo>
                  <a:lnTo>
                    <a:pt x="24" y="510"/>
                  </a:lnTo>
                  <a:lnTo>
                    <a:pt x="24" y="512"/>
                  </a:lnTo>
                  <a:lnTo>
                    <a:pt x="23" y="512"/>
                  </a:lnTo>
                  <a:lnTo>
                    <a:pt x="23" y="513"/>
                  </a:lnTo>
                  <a:lnTo>
                    <a:pt x="23" y="513"/>
                  </a:lnTo>
                  <a:lnTo>
                    <a:pt x="23" y="515"/>
                  </a:lnTo>
                  <a:lnTo>
                    <a:pt x="23" y="517"/>
                  </a:lnTo>
                  <a:lnTo>
                    <a:pt x="23" y="519"/>
                  </a:lnTo>
                  <a:lnTo>
                    <a:pt x="23" y="521"/>
                  </a:lnTo>
                  <a:lnTo>
                    <a:pt x="23" y="521"/>
                  </a:lnTo>
                  <a:lnTo>
                    <a:pt x="24" y="521"/>
                  </a:lnTo>
                  <a:lnTo>
                    <a:pt x="24" y="519"/>
                  </a:lnTo>
                  <a:lnTo>
                    <a:pt x="24" y="519"/>
                  </a:lnTo>
                  <a:lnTo>
                    <a:pt x="24" y="517"/>
                  </a:lnTo>
                  <a:lnTo>
                    <a:pt x="24" y="517"/>
                  </a:lnTo>
                  <a:lnTo>
                    <a:pt x="24" y="517"/>
                  </a:lnTo>
                  <a:lnTo>
                    <a:pt x="26" y="517"/>
                  </a:lnTo>
                  <a:lnTo>
                    <a:pt x="26" y="517"/>
                  </a:lnTo>
                  <a:lnTo>
                    <a:pt x="26" y="519"/>
                  </a:lnTo>
                  <a:lnTo>
                    <a:pt x="26" y="519"/>
                  </a:lnTo>
                  <a:lnTo>
                    <a:pt x="28" y="521"/>
                  </a:lnTo>
                  <a:lnTo>
                    <a:pt x="28" y="521"/>
                  </a:lnTo>
                  <a:lnTo>
                    <a:pt x="30" y="521"/>
                  </a:lnTo>
                  <a:lnTo>
                    <a:pt x="30" y="521"/>
                  </a:lnTo>
                  <a:lnTo>
                    <a:pt x="30" y="521"/>
                  </a:lnTo>
                  <a:lnTo>
                    <a:pt x="30" y="519"/>
                  </a:lnTo>
                  <a:lnTo>
                    <a:pt x="32" y="519"/>
                  </a:lnTo>
                  <a:lnTo>
                    <a:pt x="32" y="519"/>
                  </a:lnTo>
                  <a:lnTo>
                    <a:pt x="32" y="519"/>
                  </a:lnTo>
                  <a:lnTo>
                    <a:pt x="34" y="519"/>
                  </a:lnTo>
                  <a:lnTo>
                    <a:pt x="36" y="519"/>
                  </a:lnTo>
                  <a:lnTo>
                    <a:pt x="36" y="519"/>
                  </a:lnTo>
                  <a:lnTo>
                    <a:pt x="38" y="519"/>
                  </a:lnTo>
                  <a:lnTo>
                    <a:pt x="38" y="519"/>
                  </a:lnTo>
                  <a:lnTo>
                    <a:pt x="38" y="517"/>
                  </a:lnTo>
                  <a:lnTo>
                    <a:pt x="38" y="517"/>
                  </a:lnTo>
                  <a:lnTo>
                    <a:pt x="38" y="515"/>
                  </a:lnTo>
                  <a:lnTo>
                    <a:pt x="38" y="515"/>
                  </a:lnTo>
                  <a:lnTo>
                    <a:pt x="38" y="513"/>
                  </a:lnTo>
                  <a:lnTo>
                    <a:pt x="38" y="513"/>
                  </a:lnTo>
                  <a:lnTo>
                    <a:pt x="38" y="512"/>
                  </a:lnTo>
                  <a:lnTo>
                    <a:pt x="36" y="512"/>
                  </a:lnTo>
                  <a:lnTo>
                    <a:pt x="36" y="512"/>
                  </a:lnTo>
                  <a:lnTo>
                    <a:pt x="36" y="512"/>
                  </a:lnTo>
                  <a:lnTo>
                    <a:pt x="36" y="512"/>
                  </a:lnTo>
                  <a:lnTo>
                    <a:pt x="36" y="510"/>
                  </a:lnTo>
                  <a:lnTo>
                    <a:pt x="36" y="510"/>
                  </a:lnTo>
                  <a:lnTo>
                    <a:pt x="38" y="510"/>
                  </a:lnTo>
                  <a:lnTo>
                    <a:pt x="38" y="510"/>
                  </a:lnTo>
                  <a:lnTo>
                    <a:pt x="38" y="510"/>
                  </a:lnTo>
                  <a:lnTo>
                    <a:pt x="38" y="508"/>
                  </a:lnTo>
                  <a:lnTo>
                    <a:pt x="38" y="508"/>
                  </a:lnTo>
                  <a:lnTo>
                    <a:pt x="38" y="508"/>
                  </a:lnTo>
                  <a:lnTo>
                    <a:pt x="38" y="508"/>
                  </a:lnTo>
                  <a:lnTo>
                    <a:pt x="38" y="508"/>
                  </a:lnTo>
                  <a:lnTo>
                    <a:pt x="38" y="506"/>
                  </a:lnTo>
                  <a:lnTo>
                    <a:pt x="38" y="506"/>
                  </a:lnTo>
                  <a:lnTo>
                    <a:pt x="38" y="506"/>
                  </a:lnTo>
                  <a:lnTo>
                    <a:pt x="40" y="506"/>
                  </a:lnTo>
                  <a:lnTo>
                    <a:pt x="40" y="506"/>
                  </a:lnTo>
                  <a:lnTo>
                    <a:pt x="40" y="506"/>
                  </a:lnTo>
                  <a:lnTo>
                    <a:pt x="40" y="506"/>
                  </a:lnTo>
                  <a:lnTo>
                    <a:pt x="40" y="508"/>
                  </a:lnTo>
                  <a:lnTo>
                    <a:pt x="40" y="508"/>
                  </a:lnTo>
                  <a:lnTo>
                    <a:pt x="40" y="510"/>
                  </a:lnTo>
                  <a:lnTo>
                    <a:pt x="42" y="510"/>
                  </a:lnTo>
                  <a:lnTo>
                    <a:pt x="44" y="508"/>
                  </a:lnTo>
                  <a:lnTo>
                    <a:pt x="44" y="508"/>
                  </a:lnTo>
                  <a:lnTo>
                    <a:pt x="44" y="508"/>
                  </a:lnTo>
                  <a:lnTo>
                    <a:pt x="45" y="508"/>
                  </a:lnTo>
                  <a:lnTo>
                    <a:pt x="45" y="510"/>
                  </a:lnTo>
                  <a:lnTo>
                    <a:pt x="47" y="510"/>
                  </a:lnTo>
                  <a:lnTo>
                    <a:pt x="49" y="510"/>
                  </a:lnTo>
                  <a:lnTo>
                    <a:pt x="49" y="510"/>
                  </a:lnTo>
                  <a:lnTo>
                    <a:pt x="51" y="510"/>
                  </a:lnTo>
                  <a:lnTo>
                    <a:pt x="51" y="512"/>
                  </a:lnTo>
                  <a:lnTo>
                    <a:pt x="53" y="512"/>
                  </a:lnTo>
                  <a:lnTo>
                    <a:pt x="53" y="512"/>
                  </a:lnTo>
                  <a:lnTo>
                    <a:pt x="55" y="512"/>
                  </a:lnTo>
                  <a:lnTo>
                    <a:pt x="55" y="512"/>
                  </a:lnTo>
                  <a:lnTo>
                    <a:pt x="57" y="512"/>
                  </a:lnTo>
                  <a:lnTo>
                    <a:pt x="59" y="512"/>
                  </a:lnTo>
                  <a:lnTo>
                    <a:pt x="61" y="512"/>
                  </a:lnTo>
                  <a:lnTo>
                    <a:pt x="63" y="512"/>
                  </a:lnTo>
                  <a:lnTo>
                    <a:pt x="63" y="512"/>
                  </a:lnTo>
                  <a:lnTo>
                    <a:pt x="63" y="513"/>
                  </a:lnTo>
                  <a:lnTo>
                    <a:pt x="63" y="513"/>
                  </a:lnTo>
                  <a:lnTo>
                    <a:pt x="63" y="515"/>
                  </a:lnTo>
                  <a:lnTo>
                    <a:pt x="65" y="515"/>
                  </a:lnTo>
                  <a:lnTo>
                    <a:pt x="65" y="515"/>
                  </a:lnTo>
                  <a:lnTo>
                    <a:pt x="65" y="517"/>
                  </a:lnTo>
                  <a:lnTo>
                    <a:pt x="66" y="517"/>
                  </a:lnTo>
                  <a:lnTo>
                    <a:pt x="66" y="521"/>
                  </a:lnTo>
                  <a:lnTo>
                    <a:pt x="66" y="521"/>
                  </a:lnTo>
                  <a:lnTo>
                    <a:pt x="66" y="523"/>
                  </a:lnTo>
                  <a:lnTo>
                    <a:pt x="66" y="525"/>
                  </a:lnTo>
                  <a:lnTo>
                    <a:pt x="66" y="525"/>
                  </a:lnTo>
                  <a:lnTo>
                    <a:pt x="68" y="525"/>
                  </a:lnTo>
                  <a:lnTo>
                    <a:pt x="68" y="525"/>
                  </a:lnTo>
                  <a:lnTo>
                    <a:pt x="68" y="525"/>
                  </a:lnTo>
                  <a:lnTo>
                    <a:pt x="70" y="525"/>
                  </a:lnTo>
                  <a:lnTo>
                    <a:pt x="72" y="525"/>
                  </a:lnTo>
                  <a:lnTo>
                    <a:pt x="72" y="525"/>
                  </a:lnTo>
                  <a:lnTo>
                    <a:pt x="74" y="523"/>
                  </a:lnTo>
                  <a:lnTo>
                    <a:pt x="76" y="521"/>
                  </a:lnTo>
                  <a:lnTo>
                    <a:pt x="78" y="521"/>
                  </a:lnTo>
                  <a:lnTo>
                    <a:pt x="80" y="521"/>
                  </a:lnTo>
                  <a:lnTo>
                    <a:pt x="80" y="521"/>
                  </a:lnTo>
                  <a:lnTo>
                    <a:pt x="82" y="521"/>
                  </a:lnTo>
                  <a:lnTo>
                    <a:pt x="80" y="521"/>
                  </a:lnTo>
                  <a:lnTo>
                    <a:pt x="80" y="519"/>
                  </a:lnTo>
                  <a:lnTo>
                    <a:pt x="80" y="519"/>
                  </a:lnTo>
                  <a:lnTo>
                    <a:pt x="82" y="519"/>
                  </a:lnTo>
                  <a:lnTo>
                    <a:pt x="82" y="517"/>
                  </a:lnTo>
                  <a:lnTo>
                    <a:pt x="82" y="517"/>
                  </a:lnTo>
                  <a:lnTo>
                    <a:pt x="84" y="517"/>
                  </a:lnTo>
                  <a:lnTo>
                    <a:pt x="85" y="517"/>
                  </a:lnTo>
                  <a:lnTo>
                    <a:pt x="85" y="517"/>
                  </a:lnTo>
                  <a:lnTo>
                    <a:pt x="85" y="519"/>
                  </a:lnTo>
                  <a:lnTo>
                    <a:pt x="87" y="519"/>
                  </a:lnTo>
                  <a:lnTo>
                    <a:pt x="87" y="519"/>
                  </a:lnTo>
                  <a:lnTo>
                    <a:pt x="87" y="519"/>
                  </a:lnTo>
                  <a:lnTo>
                    <a:pt x="87" y="519"/>
                  </a:lnTo>
                  <a:lnTo>
                    <a:pt x="89" y="517"/>
                  </a:lnTo>
                  <a:lnTo>
                    <a:pt x="89" y="517"/>
                  </a:lnTo>
                  <a:lnTo>
                    <a:pt x="89" y="515"/>
                  </a:lnTo>
                  <a:lnTo>
                    <a:pt x="89" y="515"/>
                  </a:lnTo>
                  <a:lnTo>
                    <a:pt x="91" y="515"/>
                  </a:lnTo>
                  <a:lnTo>
                    <a:pt x="93" y="513"/>
                  </a:lnTo>
                  <a:lnTo>
                    <a:pt x="93" y="513"/>
                  </a:lnTo>
                  <a:lnTo>
                    <a:pt x="93" y="513"/>
                  </a:lnTo>
                  <a:lnTo>
                    <a:pt x="95" y="512"/>
                  </a:lnTo>
                  <a:lnTo>
                    <a:pt x="95" y="512"/>
                  </a:lnTo>
                  <a:lnTo>
                    <a:pt x="97" y="510"/>
                  </a:lnTo>
                  <a:lnTo>
                    <a:pt x="99" y="510"/>
                  </a:lnTo>
                  <a:lnTo>
                    <a:pt x="99" y="510"/>
                  </a:lnTo>
                  <a:lnTo>
                    <a:pt x="99" y="508"/>
                  </a:lnTo>
                  <a:lnTo>
                    <a:pt x="99" y="508"/>
                  </a:lnTo>
                  <a:lnTo>
                    <a:pt x="99" y="508"/>
                  </a:lnTo>
                  <a:lnTo>
                    <a:pt x="99" y="506"/>
                  </a:lnTo>
                  <a:lnTo>
                    <a:pt x="97" y="506"/>
                  </a:lnTo>
                  <a:lnTo>
                    <a:pt x="97" y="506"/>
                  </a:lnTo>
                  <a:lnTo>
                    <a:pt x="97" y="504"/>
                  </a:lnTo>
                  <a:lnTo>
                    <a:pt x="97" y="504"/>
                  </a:lnTo>
                  <a:lnTo>
                    <a:pt x="97" y="504"/>
                  </a:lnTo>
                  <a:lnTo>
                    <a:pt x="99" y="502"/>
                  </a:lnTo>
                  <a:lnTo>
                    <a:pt x="99" y="502"/>
                  </a:lnTo>
                  <a:lnTo>
                    <a:pt x="99" y="502"/>
                  </a:lnTo>
                  <a:lnTo>
                    <a:pt x="101" y="504"/>
                  </a:lnTo>
                  <a:lnTo>
                    <a:pt x="103" y="504"/>
                  </a:lnTo>
                  <a:lnTo>
                    <a:pt x="105" y="504"/>
                  </a:lnTo>
                  <a:lnTo>
                    <a:pt x="105" y="504"/>
                  </a:lnTo>
                  <a:lnTo>
                    <a:pt x="105" y="504"/>
                  </a:lnTo>
                  <a:lnTo>
                    <a:pt x="106" y="504"/>
                  </a:lnTo>
                  <a:lnTo>
                    <a:pt x="106" y="504"/>
                  </a:lnTo>
                  <a:lnTo>
                    <a:pt x="108" y="504"/>
                  </a:lnTo>
                  <a:lnTo>
                    <a:pt x="108" y="504"/>
                  </a:lnTo>
                  <a:lnTo>
                    <a:pt x="108" y="504"/>
                  </a:lnTo>
                  <a:lnTo>
                    <a:pt x="110" y="502"/>
                  </a:lnTo>
                  <a:lnTo>
                    <a:pt x="110" y="502"/>
                  </a:lnTo>
                  <a:lnTo>
                    <a:pt x="110" y="502"/>
                  </a:lnTo>
                  <a:lnTo>
                    <a:pt x="112" y="500"/>
                  </a:lnTo>
                  <a:lnTo>
                    <a:pt x="112" y="500"/>
                  </a:lnTo>
                  <a:lnTo>
                    <a:pt x="112" y="500"/>
                  </a:lnTo>
                  <a:lnTo>
                    <a:pt x="112" y="500"/>
                  </a:lnTo>
                  <a:lnTo>
                    <a:pt x="112" y="502"/>
                  </a:lnTo>
                  <a:lnTo>
                    <a:pt x="112" y="502"/>
                  </a:lnTo>
                  <a:lnTo>
                    <a:pt x="112" y="504"/>
                  </a:lnTo>
                  <a:lnTo>
                    <a:pt x="112" y="504"/>
                  </a:lnTo>
                  <a:lnTo>
                    <a:pt x="112" y="506"/>
                  </a:lnTo>
                  <a:lnTo>
                    <a:pt x="112" y="506"/>
                  </a:lnTo>
                  <a:lnTo>
                    <a:pt x="110" y="508"/>
                  </a:lnTo>
                  <a:lnTo>
                    <a:pt x="110" y="508"/>
                  </a:lnTo>
                  <a:lnTo>
                    <a:pt x="110" y="508"/>
                  </a:lnTo>
                  <a:lnTo>
                    <a:pt x="110" y="510"/>
                  </a:lnTo>
                  <a:lnTo>
                    <a:pt x="110" y="512"/>
                  </a:lnTo>
                  <a:lnTo>
                    <a:pt x="110" y="512"/>
                  </a:lnTo>
                  <a:lnTo>
                    <a:pt x="110" y="513"/>
                  </a:lnTo>
                  <a:lnTo>
                    <a:pt x="110" y="513"/>
                  </a:lnTo>
                  <a:lnTo>
                    <a:pt x="112" y="513"/>
                  </a:lnTo>
                  <a:lnTo>
                    <a:pt x="112" y="512"/>
                  </a:lnTo>
                  <a:lnTo>
                    <a:pt x="114" y="510"/>
                  </a:lnTo>
                  <a:lnTo>
                    <a:pt x="114" y="510"/>
                  </a:lnTo>
                  <a:lnTo>
                    <a:pt x="116" y="510"/>
                  </a:lnTo>
                  <a:lnTo>
                    <a:pt x="116" y="510"/>
                  </a:lnTo>
                  <a:lnTo>
                    <a:pt x="118" y="510"/>
                  </a:lnTo>
                  <a:lnTo>
                    <a:pt x="118" y="510"/>
                  </a:lnTo>
                  <a:lnTo>
                    <a:pt x="118" y="510"/>
                  </a:lnTo>
                  <a:lnTo>
                    <a:pt x="122" y="508"/>
                  </a:lnTo>
                  <a:lnTo>
                    <a:pt x="125" y="510"/>
                  </a:lnTo>
                  <a:lnTo>
                    <a:pt x="127" y="513"/>
                  </a:lnTo>
                  <a:lnTo>
                    <a:pt x="127" y="515"/>
                  </a:lnTo>
                  <a:lnTo>
                    <a:pt x="127" y="515"/>
                  </a:lnTo>
                  <a:lnTo>
                    <a:pt x="127" y="517"/>
                  </a:lnTo>
                  <a:lnTo>
                    <a:pt x="125" y="519"/>
                  </a:lnTo>
                  <a:lnTo>
                    <a:pt x="125" y="521"/>
                  </a:lnTo>
                  <a:lnTo>
                    <a:pt x="125" y="521"/>
                  </a:lnTo>
                  <a:lnTo>
                    <a:pt x="127" y="523"/>
                  </a:lnTo>
                  <a:lnTo>
                    <a:pt x="127" y="523"/>
                  </a:lnTo>
                  <a:lnTo>
                    <a:pt x="127" y="525"/>
                  </a:lnTo>
                  <a:lnTo>
                    <a:pt x="127" y="525"/>
                  </a:lnTo>
                  <a:lnTo>
                    <a:pt x="127" y="525"/>
                  </a:lnTo>
                  <a:lnTo>
                    <a:pt x="127" y="527"/>
                  </a:lnTo>
                  <a:lnTo>
                    <a:pt x="125" y="527"/>
                  </a:lnTo>
                  <a:lnTo>
                    <a:pt x="124" y="525"/>
                  </a:lnTo>
                  <a:lnTo>
                    <a:pt x="124" y="525"/>
                  </a:lnTo>
                  <a:lnTo>
                    <a:pt x="124" y="527"/>
                  </a:lnTo>
                  <a:lnTo>
                    <a:pt x="124" y="527"/>
                  </a:lnTo>
                  <a:lnTo>
                    <a:pt x="124" y="529"/>
                  </a:lnTo>
                  <a:lnTo>
                    <a:pt x="124" y="529"/>
                  </a:lnTo>
                  <a:lnTo>
                    <a:pt x="125" y="531"/>
                  </a:lnTo>
                  <a:lnTo>
                    <a:pt x="125" y="531"/>
                  </a:lnTo>
                  <a:lnTo>
                    <a:pt x="127" y="529"/>
                  </a:lnTo>
                  <a:lnTo>
                    <a:pt x="127" y="529"/>
                  </a:lnTo>
                  <a:lnTo>
                    <a:pt x="129" y="529"/>
                  </a:lnTo>
                  <a:lnTo>
                    <a:pt x="129" y="529"/>
                  </a:lnTo>
                  <a:lnTo>
                    <a:pt x="131" y="531"/>
                  </a:lnTo>
                  <a:lnTo>
                    <a:pt x="133" y="534"/>
                  </a:lnTo>
                  <a:lnTo>
                    <a:pt x="135" y="534"/>
                  </a:lnTo>
                  <a:lnTo>
                    <a:pt x="135" y="534"/>
                  </a:lnTo>
                  <a:lnTo>
                    <a:pt x="135" y="534"/>
                  </a:lnTo>
                  <a:lnTo>
                    <a:pt x="137" y="534"/>
                  </a:lnTo>
                  <a:lnTo>
                    <a:pt x="137" y="534"/>
                  </a:lnTo>
                  <a:lnTo>
                    <a:pt x="139" y="536"/>
                  </a:lnTo>
                  <a:lnTo>
                    <a:pt x="141" y="536"/>
                  </a:lnTo>
                  <a:lnTo>
                    <a:pt x="143" y="536"/>
                  </a:lnTo>
                  <a:lnTo>
                    <a:pt x="143" y="536"/>
                  </a:lnTo>
                  <a:lnTo>
                    <a:pt x="145" y="536"/>
                  </a:lnTo>
                  <a:lnTo>
                    <a:pt x="145" y="534"/>
                  </a:lnTo>
                  <a:lnTo>
                    <a:pt x="146" y="534"/>
                  </a:lnTo>
                  <a:lnTo>
                    <a:pt x="146" y="534"/>
                  </a:lnTo>
                  <a:lnTo>
                    <a:pt x="146" y="534"/>
                  </a:lnTo>
                  <a:lnTo>
                    <a:pt x="148" y="536"/>
                  </a:lnTo>
                  <a:lnTo>
                    <a:pt x="148" y="536"/>
                  </a:lnTo>
                  <a:lnTo>
                    <a:pt x="148" y="536"/>
                  </a:lnTo>
                  <a:lnTo>
                    <a:pt x="150" y="536"/>
                  </a:lnTo>
                  <a:lnTo>
                    <a:pt x="150" y="536"/>
                  </a:lnTo>
                  <a:lnTo>
                    <a:pt x="152" y="536"/>
                  </a:lnTo>
                  <a:lnTo>
                    <a:pt x="152" y="536"/>
                  </a:lnTo>
                  <a:lnTo>
                    <a:pt x="152" y="536"/>
                  </a:lnTo>
                  <a:lnTo>
                    <a:pt x="152" y="536"/>
                  </a:lnTo>
                  <a:lnTo>
                    <a:pt x="152" y="538"/>
                  </a:lnTo>
                  <a:lnTo>
                    <a:pt x="152" y="540"/>
                  </a:lnTo>
                  <a:lnTo>
                    <a:pt x="152" y="540"/>
                  </a:lnTo>
                  <a:lnTo>
                    <a:pt x="152" y="542"/>
                  </a:lnTo>
                  <a:lnTo>
                    <a:pt x="152" y="544"/>
                  </a:lnTo>
                  <a:lnTo>
                    <a:pt x="152" y="544"/>
                  </a:lnTo>
                  <a:lnTo>
                    <a:pt x="152" y="546"/>
                  </a:lnTo>
                  <a:lnTo>
                    <a:pt x="152" y="546"/>
                  </a:lnTo>
                  <a:lnTo>
                    <a:pt x="152" y="548"/>
                  </a:lnTo>
                  <a:lnTo>
                    <a:pt x="152" y="548"/>
                  </a:lnTo>
                  <a:lnTo>
                    <a:pt x="152" y="553"/>
                  </a:lnTo>
                  <a:lnTo>
                    <a:pt x="152" y="553"/>
                  </a:lnTo>
                  <a:lnTo>
                    <a:pt x="152" y="553"/>
                  </a:lnTo>
                  <a:lnTo>
                    <a:pt x="150" y="553"/>
                  </a:lnTo>
                  <a:lnTo>
                    <a:pt x="150" y="555"/>
                  </a:lnTo>
                  <a:lnTo>
                    <a:pt x="150" y="555"/>
                  </a:lnTo>
                  <a:lnTo>
                    <a:pt x="150" y="555"/>
                  </a:lnTo>
                  <a:lnTo>
                    <a:pt x="150" y="557"/>
                  </a:lnTo>
                  <a:lnTo>
                    <a:pt x="152" y="557"/>
                  </a:lnTo>
                  <a:lnTo>
                    <a:pt x="152" y="557"/>
                  </a:lnTo>
                  <a:lnTo>
                    <a:pt x="152" y="559"/>
                  </a:lnTo>
                  <a:lnTo>
                    <a:pt x="152" y="559"/>
                  </a:lnTo>
                  <a:lnTo>
                    <a:pt x="154" y="561"/>
                  </a:lnTo>
                  <a:lnTo>
                    <a:pt x="154" y="561"/>
                  </a:lnTo>
                  <a:lnTo>
                    <a:pt x="154" y="561"/>
                  </a:lnTo>
                  <a:lnTo>
                    <a:pt x="156" y="561"/>
                  </a:lnTo>
                  <a:lnTo>
                    <a:pt x="156" y="561"/>
                  </a:lnTo>
                  <a:lnTo>
                    <a:pt x="158" y="561"/>
                  </a:lnTo>
                  <a:lnTo>
                    <a:pt x="158" y="561"/>
                  </a:lnTo>
                  <a:lnTo>
                    <a:pt x="158" y="561"/>
                  </a:lnTo>
                  <a:lnTo>
                    <a:pt x="160" y="561"/>
                  </a:lnTo>
                  <a:lnTo>
                    <a:pt x="160" y="561"/>
                  </a:lnTo>
                  <a:lnTo>
                    <a:pt x="160" y="561"/>
                  </a:lnTo>
                  <a:lnTo>
                    <a:pt x="160" y="561"/>
                  </a:lnTo>
                  <a:lnTo>
                    <a:pt x="162" y="563"/>
                  </a:lnTo>
                  <a:lnTo>
                    <a:pt x="165" y="565"/>
                  </a:lnTo>
                  <a:lnTo>
                    <a:pt x="165" y="565"/>
                  </a:lnTo>
                  <a:lnTo>
                    <a:pt x="165" y="565"/>
                  </a:lnTo>
                  <a:lnTo>
                    <a:pt x="165" y="565"/>
                  </a:lnTo>
                  <a:lnTo>
                    <a:pt x="167" y="565"/>
                  </a:lnTo>
                  <a:lnTo>
                    <a:pt x="167" y="565"/>
                  </a:lnTo>
                  <a:lnTo>
                    <a:pt x="167" y="565"/>
                  </a:lnTo>
                  <a:lnTo>
                    <a:pt x="169" y="563"/>
                  </a:lnTo>
                  <a:lnTo>
                    <a:pt x="169" y="563"/>
                  </a:lnTo>
                  <a:lnTo>
                    <a:pt x="169" y="565"/>
                  </a:lnTo>
                  <a:lnTo>
                    <a:pt x="171" y="565"/>
                  </a:lnTo>
                  <a:lnTo>
                    <a:pt x="171" y="565"/>
                  </a:lnTo>
                  <a:lnTo>
                    <a:pt x="171" y="567"/>
                  </a:lnTo>
                  <a:lnTo>
                    <a:pt x="171" y="567"/>
                  </a:lnTo>
                  <a:lnTo>
                    <a:pt x="171" y="569"/>
                  </a:lnTo>
                  <a:lnTo>
                    <a:pt x="171" y="571"/>
                  </a:lnTo>
                  <a:lnTo>
                    <a:pt x="171" y="571"/>
                  </a:lnTo>
                  <a:lnTo>
                    <a:pt x="171" y="571"/>
                  </a:lnTo>
                  <a:lnTo>
                    <a:pt x="169" y="572"/>
                  </a:lnTo>
                  <a:lnTo>
                    <a:pt x="169" y="572"/>
                  </a:lnTo>
                  <a:lnTo>
                    <a:pt x="169" y="574"/>
                  </a:lnTo>
                  <a:lnTo>
                    <a:pt x="169" y="574"/>
                  </a:lnTo>
                  <a:lnTo>
                    <a:pt x="169" y="576"/>
                  </a:lnTo>
                  <a:lnTo>
                    <a:pt x="167" y="578"/>
                  </a:lnTo>
                  <a:lnTo>
                    <a:pt x="167" y="578"/>
                  </a:lnTo>
                  <a:lnTo>
                    <a:pt x="165" y="580"/>
                  </a:lnTo>
                  <a:lnTo>
                    <a:pt x="165" y="582"/>
                  </a:lnTo>
                  <a:lnTo>
                    <a:pt x="165" y="584"/>
                  </a:lnTo>
                  <a:lnTo>
                    <a:pt x="165" y="584"/>
                  </a:lnTo>
                  <a:lnTo>
                    <a:pt x="165" y="586"/>
                  </a:lnTo>
                  <a:lnTo>
                    <a:pt x="164" y="586"/>
                  </a:lnTo>
                  <a:lnTo>
                    <a:pt x="162" y="588"/>
                  </a:lnTo>
                  <a:lnTo>
                    <a:pt x="162" y="588"/>
                  </a:lnTo>
                  <a:lnTo>
                    <a:pt x="162" y="588"/>
                  </a:lnTo>
                  <a:lnTo>
                    <a:pt x="162" y="590"/>
                  </a:lnTo>
                  <a:lnTo>
                    <a:pt x="160" y="591"/>
                  </a:lnTo>
                  <a:lnTo>
                    <a:pt x="160" y="591"/>
                  </a:lnTo>
                  <a:lnTo>
                    <a:pt x="160" y="591"/>
                  </a:lnTo>
                  <a:lnTo>
                    <a:pt x="160" y="593"/>
                  </a:lnTo>
                  <a:lnTo>
                    <a:pt x="156" y="597"/>
                  </a:lnTo>
                  <a:lnTo>
                    <a:pt x="156" y="597"/>
                  </a:lnTo>
                  <a:lnTo>
                    <a:pt x="156" y="599"/>
                  </a:lnTo>
                  <a:lnTo>
                    <a:pt x="156" y="599"/>
                  </a:lnTo>
                  <a:lnTo>
                    <a:pt x="158" y="599"/>
                  </a:lnTo>
                  <a:lnTo>
                    <a:pt x="158" y="599"/>
                  </a:lnTo>
                  <a:lnTo>
                    <a:pt x="160" y="601"/>
                  </a:lnTo>
                  <a:lnTo>
                    <a:pt x="162" y="603"/>
                  </a:lnTo>
                  <a:lnTo>
                    <a:pt x="162" y="603"/>
                  </a:lnTo>
                  <a:lnTo>
                    <a:pt x="162" y="605"/>
                  </a:lnTo>
                  <a:lnTo>
                    <a:pt x="162" y="605"/>
                  </a:lnTo>
                  <a:lnTo>
                    <a:pt x="160" y="605"/>
                  </a:lnTo>
                  <a:lnTo>
                    <a:pt x="158" y="605"/>
                  </a:lnTo>
                  <a:lnTo>
                    <a:pt x="152" y="601"/>
                  </a:lnTo>
                  <a:lnTo>
                    <a:pt x="152" y="599"/>
                  </a:lnTo>
                  <a:lnTo>
                    <a:pt x="152" y="599"/>
                  </a:lnTo>
                  <a:lnTo>
                    <a:pt x="152" y="599"/>
                  </a:lnTo>
                  <a:lnTo>
                    <a:pt x="150" y="599"/>
                  </a:lnTo>
                  <a:lnTo>
                    <a:pt x="150" y="599"/>
                  </a:lnTo>
                  <a:lnTo>
                    <a:pt x="150" y="601"/>
                  </a:lnTo>
                  <a:lnTo>
                    <a:pt x="150" y="601"/>
                  </a:lnTo>
                  <a:lnTo>
                    <a:pt x="150" y="603"/>
                  </a:lnTo>
                  <a:lnTo>
                    <a:pt x="150" y="605"/>
                  </a:lnTo>
                  <a:lnTo>
                    <a:pt x="148" y="605"/>
                  </a:lnTo>
                  <a:lnTo>
                    <a:pt x="148" y="605"/>
                  </a:lnTo>
                  <a:lnTo>
                    <a:pt x="148" y="605"/>
                  </a:lnTo>
                  <a:lnTo>
                    <a:pt x="146" y="605"/>
                  </a:lnTo>
                  <a:lnTo>
                    <a:pt x="146" y="605"/>
                  </a:lnTo>
                  <a:lnTo>
                    <a:pt x="146" y="605"/>
                  </a:lnTo>
                  <a:lnTo>
                    <a:pt x="145" y="607"/>
                  </a:lnTo>
                  <a:lnTo>
                    <a:pt x="145" y="607"/>
                  </a:lnTo>
                  <a:lnTo>
                    <a:pt x="145" y="607"/>
                  </a:lnTo>
                  <a:lnTo>
                    <a:pt x="145" y="607"/>
                  </a:lnTo>
                  <a:lnTo>
                    <a:pt x="143" y="607"/>
                  </a:lnTo>
                  <a:lnTo>
                    <a:pt x="143" y="605"/>
                  </a:lnTo>
                  <a:lnTo>
                    <a:pt x="143" y="605"/>
                  </a:lnTo>
                  <a:lnTo>
                    <a:pt x="141" y="605"/>
                  </a:lnTo>
                  <a:lnTo>
                    <a:pt x="141" y="605"/>
                  </a:lnTo>
                  <a:lnTo>
                    <a:pt x="141" y="605"/>
                  </a:lnTo>
                  <a:lnTo>
                    <a:pt x="141" y="607"/>
                  </a:lnTo>
                  <a:lnTo>
                    <a:pt x="141" y="607"/>
                  </a:lnTo>
                  <a:lnTo>
                    <a:pt x="141" y="609"/>
                  </a:lnTo>
                  <a:lnTo>
                    <a:pt x="141" y="610"/>
                  </a:lnTo>
                  <a:lnTo>
                    <a:pt x="141" y="610"/>
                  </a:lnTo>
                  <a:lnTo>
                    <a:pt x="141" y="612"/>
                  </a:lnTo>
                  <a:lnTo>
                    <a:pt x="141" y="614"/>
                  </a:lnTo>
                  <a:lnTo>
                    <a:pt x="139" y="614"/>
                  </a:lnTo>
                  <a:lnTo>
                    <a:pt x="143" y="620"/>
                  </a:lnTo>
                  <a:lnTo>
                    <a:pt x="146" y="622"/>
                  </a:lnTo>
                  <a:lnTo>
                    <a:pt x="150" y="626"/>
                  </a:lnTo>
                  <a:lnTo>
                    <a:pt x="154" y="626"/>
                  </a:lnTo>
                  <a:lnTo>
                    <a:pt x="154" y="626"/>
                  </a:lnTo>
                  <a:lnTo>
                    <a:pt x="154" y="626"/>
                  </a:lnTo>
                  <a:lnTo>
                    <a:pt x="156" y="626"/>
                  </a:lnTo>
                  <a:lnTo>
                    <a:pt x="158" y="626"/>
                  </a:lnTo>
                  <a:lnTo>
                    <a:pt x="158" y="626"/>
                  </a:lnTo>
                  <a:lnTo>
                    <a:pt x="160" y="626"/>
                  </a:lnTo>
                  <a:lnTo>
                    <a:pt x="164" y="622"/>
                  </a:lnTo>
                  <a:lnTo>
                    <a:pt x="164" y="620"/>
                  </a:lnTo>
                  <a:lnTo>
                    <a:pt x="164" y="618"/>
                  </a:lnTo>
                  <a:lnTo>
                    <a:pt x="164" y="618"/>
                  </a:lnTo>
                  <a:lnTo>
                    <a:pt x="164" y="616"/>
                  </a:lnTo>
                  <a:lnTo>
                    <a:pt x="164" y="616"/>
                  </a:lnTo>
                  <a:lnTo>
                    <a:pt x="165" y="616"/>
                  </a:lnTo>
                  <a:lnTo>
                    <a:pt x="165" y="616"/>
                  </a:lnTo>
                  <a:lnTo>
                    <a:pt x="165" y="616"/>
                  </a:lnTo>
                  <a:lnTo>
                    <a:pt x="167" y="616"/>
                  </a:lnTo>
                  <a:lnTo>
                    <a:pt x="167" y="616"/>
                  </a:lnTo>
                  <a:lnTo>
                    <a:pt x="171" y="614"/>
                  </a:lnTo>
                  <a:lnTo>
                    <a:pt x="171" y="614"/>
                  </a:lnTo>
                  <a:lnTo>
                    <a:pt x="171" y="612"/>
                  </a:lnTo>
                  <a:lnTo>
                    <a:pt x="175" y="607"/>
                  </a:lnTo>
                  <a:lnTo>
                    <a:pt x="177" y="599"/>
                  </a:lnTo>
                  <a:lnTo>
                    <a:pt x="177" y="597"/>
                  </a:lnTo>
                  <a:lnTo>
                    <a:pt x="177" y="597"/>
                  </a:lnTo>
                  <a:lnTo>
                    <a:pt x="177" y="595"/>
                  </a:lnTo>
                  <a:lnTo>
                    <a:pt x="177" y="593"/>
                  </a:lnTo>
                  <a:lnTo>
                    <a:pt x="177" y="593"/>
                  </a:lnTo>
                  <a:lnTo>
                    <a:pt x="179" y="591"/>
                  </a:lnTo>
                  <a:lnTo>
                    <a:pt x="179" y="590"/>
                  </a:lnTo>
                  <a:lnTo>
                    <a:pt x="181" y="590"/>
                  </a:lnTo>
                  <a:lnTo>
                    <a:pt x="181" y="590"/>
                  </a:lnTo>
                  <a:lnTo>
                    <a:pt x="183" y="590"/>
                  </a:lnTo>
                  <a:lnTo>
                    <a:pt x="183" y="590"/>
                  </a:lnTo>
                  <a:lnTo>
                    <a:pt x="185" y="588"/>
                  </a:lnTo>
                  <a:lnTo>
                    <a:pt x="185" y="588"/>
                  </a:lnTo>
                  <a:lnTo>
                    <a:pt x="185" y="586"/>
                  </a:lnTo>
                  <a:lnTo>
                    <a:pt x="186" y="586"/>
                  </a:lnTo>
                  <a:lnTo>
                    <a:pt x="190" y="586"/>
                  </a:lnTo>
                  <a:lnTo>
                    <a:pt x="192" y="586"/>
                  </a:lnTo>
                  <a:lnTo>
                    <a:pt x="194" y="584"/>
                  </a:lnTo>
                  <a:lnTo>
                    <a:pt x="198" y="584"/>
                  </a:lnTo>
                  <a:lnTo>
                    <a:pt x="198" y="584"/>
                  </a:lnTo>
                  <a:lnTo>
                    <a:pt x="200" y="586"/>
                  </a:lnTo>
                  <a:lnTo>
                    <a:pt x="200" y="588"/>
                  </a:lnTo>
                  <a:lnTo>
                    <a:pt x="200" y="588"/>
                  </a:lnTo>
                  <a:lnTo>
                    <a:pt x="200" y="588"/>
                  </a:lnTo>
                  <a:lnTo>
                    <a:pt x="202" y="588"/>
                  </a:lnTo>
                  <a:lnTo>
                    <a:pt x="204" y="588"/>
                  </a:lnTo>
                  <a:lnTo>
                    <a:pt x="204" y="586"/>
                  </a:lnTo>
                  <a:lnTo>
                    <a:pt x="204" y="586"/>
                  </a:lnTo>
                  <a:lnTo>
                    <a:pt x="204" y="586"/>
                  </a:lnTo>
                  <a:lnTo>
                    <a:pt x="204" y="584"/>
                  </a:lnTo>
                  <a:lnTo>
                    <a:pt x="206" y="584"/>
                  </a:lnTo>
                  <a:lnTo>
                    <a:pt x="206" y="582"/>
                  </a:lnTo>
                  <a:lnTo>
                    <a:pt x="207" y="584"/>
                  </a:lnTo>
                  <a:lnTo>
                    <a:pt x="209" y="584"/>
                  </a:lnTo>
                  <a:lnTo>
                    <a:pt x="209" y="584"/>
                  </a:lnTo>
                  <a:lnTo>
                    <a:pt x="211" y="584"/>
                  </a:lnTo>
                  <a:lnTo>
                    <a:pt x="211" y="584"/>
                  </a:lnTo>
                  <a:lnTo>
                    <a:pt x="211" y="584"/>
                  </a:lnTo>
                  <a:lnTo>
                    <a:pt x="211" y="586"/>
                  </a:lnTo>
                  <a:lnTo>
                    <a:pt x="211" y="586"/>
                  </a:lnTo>
                  <a:lnTo>
                    <a:pt x="213" y="588"/>
                  </a:lnTo>
                  <a:lnTo>
                    <a:pt x="215" y="588"/>
                  </a:lnTo>
                  <a:lnTo>
                    <a:pt x="215" y="588"/>
                  </a:lnTo>
                  <a:lnTo>
                    <a:pt x="217" y="588"/>
                  </a:lnTo>
                  <a:lnTo>
                    <a:pt x="217" y="588"/>
                  </a:lnTo>
                  <a:lnTo>
                    <a:pt x="219" y="588"/>
                  </a:lnTo>
                  <a:lnTo>
                    <a:pt x="221" y="588"/>
                  </a:lnTo>
                  <a:lnTo>
                    <a:pt x="225" y="588"/>
                  </a:lnTo>
                  <a:lnTo>
                    <a:pt x="225" y="588"/>
                  </a:lnTo>
                  <a:lnTo>
                    <a:pt x="226" y="588"/>
                  </a:lnTo>
                  <a:lnTo>
                    <a:pt x="226" y="586"/>
                  </a:lnTo>
                  <a:lnTo>
                    <a:pt x="230" y="584"/>
                  </a:lnTo>
                  <a:lnTo>
                    <a:pt x="232" y="578"/>
                  </a:lnTo>
                  <a:lnTo>
                    <a:pt x="234" y="578"/>
                  </a:lnTo>
                  <a:lnTo>
                    <a:pt x="234" y="578"/>
                  </a:lnTo>
                  <a:lnTo>
                    <a:pt x="236" y="578"/>
                  </a:lnTo>
                  <a:lnTo>
                    <a:pt x="238" y="578"/>
                  </a:lnTo>
                  <a:lnTo>
                    <a:pt x="238" y="580"/>
                  </a:lnTo>
                  <a:lnTo>
                    <a:pt x="238" y="580"/>
                  </a:lnTo>
                  <a:lnTo>
                    <a:pt x="240" y="580"/>
                  </a:lnTo>
                  <a:lnTo>
                    <a:pt x="242" y="578"/>
                  </a:lnTo>
                  <a:lnTo>
                    <a:pt x="244" y="576"/>
                  </a:lnTo>
                  <a:lnTo>
                    <a:pt x="246" y="574"/>
                  </a:lnTo>
                  <a:lnTo>
                    <a:pt x="246" y="572"/>
                  </a:lnTo>
                  <a:lnTo>
                    <a:pt x="246" y="572"/>
                  </a:lnTo>
                  <a:lnTo>
                    <a:pt x="249" y="571"/>
                  </a:lnTo>
                  <a:lnTo>
                    <a:pt x="249" y="571"/>
                  </a:lnTo>
                  <a:lnTo>
                    <a:pt x="249" y="569"/>
                  </a:lnTo>
                  <a:lnTo>
                    <a:pt x="249" y="569"/>
                  </a:lnTo>
                  <a:lnTo>
                    <a:pt x="249" y="567"/>
                  </a:lnTo>
                  <a:lnTo>
                    <a:pt x="249" y="567"/>
                  </a:lnTo>
                  <a:lnTo>
                    <a:pt x="251" y="565"/>
                  </a:lnTo>
                  <a:lnTo>
                    <a:pt x="251" y="563"/>
                  </a:lnTo>
                  <a:lnTo>
                    <a:pt x="251" y="563"/>
                  </a:lnTo>
                  <a:lnTo>
                    <a:pt x="251" y="561"/>
                  </a:lnTo>
                  <a:lnTo>
                    <a:pt x="251" y="561"/>
                  </a:lnTo>
                  <a:lnTo>
                    <a:pt x="251" y="561"/>
                  </a:lnTo>
                  <a:lnTo>
                    <a:pt x="253" y="559"/>
                  </a:lnTo>
                  <a:lnTo>
                    <a:pt x="255" y="559"/>
                  </a:lnTo>
                  <a:lnTo>
                    <a:pt x="257" y="559"/>
                  </a:lnTo>
                  <a:lnTo>
                    <a:pt x="259" y="559"/>
                  </a:lnTo>
                  <a:lnTo>
                    <a:pt x="259" y="561"/>
                  </a:lnTo>
                  <a:lnTo>
                    <a:pt x="261" y="561"/>
                  </a:lnTo>
                  <a:lnTo>
                    <a:pt x="263" y="563"/>
                  </a:lnTo>
                  <a:lnTo>
                    <a:pt x="263" y="565"/>
                  </a:lnTo>
                  <a:lnTo>
                    <a:pt x="263" y="565"/>
                  </a:lnTo>
                  <a:lnTo>
                    <a:pt x="265" y="565"/>
                  </a:lnTo>
                  <a:lnTo>
                    <a:pt x="266" y="565"/>
                  </a:lnTo>
                  <a:lnTo>
                    <a:pt x="272" y="565"/>
                  </a:lnTo>
                  <a:lnTo>
                    <a:pt x="274" y="565"/>
                  </a:lnTo>
                  <a:lnTo>
                    <a:pt x="274" y="565"/>
                  </a:lnTo>
                  <a:lnTo>
                    <a:pt x="274" y="567"/>
                  </a:lnTo>
                  <a:lnTo>
                    <a:pt x="274" y="567"/>
                  </a:lnTo>
                  <a:lnTo>
                    <a:pt x="274" y="569"/>
                  </a:lnTo>
                  <a:lnTo>
                    <a:pt x="274" y="569"/>
                  </a:lnTo>
                  <a:lnTo>
                    <a:pt x="274" y="569"/>
                  </a:lnTo>
                  <a:lnTo>
                    <a:pt x="278" y="571"/>
                  </a:lnTo>
                  <a:lnTo>
                    <a:pt x="278" y="571"/>
                  </a:lnTo>
                  <a:lnTo>
                    <a:pt x="280" y="571"/>
                  </a:lnTo>
                  <a:lnTo>
                    <a:pt x="282" y="571"/>
                  </a:lnTo>
                  <a:lnTo>
                    <a:pt x="282" y="571"/>
                  </a:lnTo>
                  <a:lnTo>
                    <a:pt x="284" y="571"/>
                  </a:lnTo>
                  <a:lnTo>
                    <a:pt x="284" y="569"/>
                  </a:lnTo>
                  <a:lnTo>
                    <a:pt x="284" y="569"/>
                  </a:lnTo>
                  <a:lnTo>
                    <a:pt x="284" y="569"/>
                  </a:lnTo>
                  <a:lnTo>
                    <a:pt x="282" y="569"/>
                  </a:lnTo>
                  <a:lnTo>
                    <a:pt x="282" y="567"/>
                  </a:lnTo>
                  <a:lnTo>
                    <a:pt x="282" y="567"/>
                  </a:lnTo>
                  <a:lnTo>
                    <a:pt x="280" y="567"/>
                  </a:lnTo>
                  <a:lnTo>
                    <a:pt x="280" y="567"/>
                  </a:lnTo>
                  <a:lnTo>
                    <a:pt x="280" y="565"/>
                  </a:lnTo>
                  <a:lnTo>
                    <a:pt x="280" y="565"/>
                  </a:lnTo>
                  <a:lnTo>
                    <a:pt x="280" y="565"/>
                  </a:lnTo>
                  <a:lnTo>
                    <a:pt x="282" y="563"/>
                  </a:lnTo>
                  <a:lnTo>
                    <a:pt x="282" y="563"/>
                  </a:lnTo>
                  <a:lnTo>
                    <a:pt x="284" y="565"/>
                  </a:lnTo>
                  <a:lnTo>
                    <a:pt x="284" y="565"/>
                  </a:lnTo>
                  <a:lnTo>
                    <a:pt x="286" y="563"/>
                  </a:lnTo>
                  <a:lnTo>
                    <a:pt x="291" y="561"/>
                  </a:lnTo>
                  <a:lnTo>
                    <a:pt x="299" y="557"/>
                  </a:lnTo>
                  <a:lnTo>
                    <a:pt x="299" y="555"/>
                  </a:lnTo>
                  <a:lnTo>
                    <a:pt x="299" y="555"/>
                  </a:lnTo>
                  <a:lnTo>
                    <a:pt x="299" y="553"/>
                  </a:lnTo>
                  <a:lnTo>
                    <a:pt x="299" y="553"/>
                  </a:lnTo>
                  <a:lnTo>
                    <a:pt x="299" y="553"/>
                  </a:lnTo>
                  <a:lnTo>
                    <a:pt x="299" y="552"/>
                  </a:lnTo>
                  <a:lnTo>
                    <a:pt x="301" y="552"/>
                  </a:lnTo>
                  <a:lnTo>
                    <a:pt x="301" y="550"/>
                  </a:lnTo>
                  <a:lnTo>
                    <a:pt x="303" y="548"/>
                  </a:lnTo>
                  <a:lnTo>
                    <a:pt x="305" y="548"/>
                  </a:lnTo>
                  <a:lnTo>
                    <a:pt x="307" y="548"/>
                  </a:lnTo>
                  <a:lnTo>
                    <a:pt x="307" y="546"/>
                  </a:lnTo>
                  <a:lnTo>
                    <a:pt x="308" y="546"/>
                  </a:lnTo>
                  <a:lnTo>
                    <a:pt x="308" y="546"/>
                  </a:lnTo>
                  <a:lnTo>
                    <a:pt x="308" y="544"/>
                  </a:lnTo>
                  <a:lnTo>
                    <a:pt x="307" y="544"/>
                  </a:lnTo>
                  <a:lnTo>
                    <a:pt x="307" y="544"/>
                  </a:lnTo>
                  <a:lnTo>
                    <a:pt x="307" y="544"/>
                  </a:lnTo>
                  <a:lnTo>
                    <a:pt x="307" y="542"/>
                  </a:lnTo>
                  <a:lnTo>
                    <a:pt x="305" y="542"/>
                  </a:lnTo>
                  <a:lnTo>
                    <a:pt x="307" y="542"/>
                  </a:lnTo>
                  <a:lnTo>
                    <a:pt x="307" y="542"/>
                  </a:lnTo>
                  <a:lnTo>
                    <a:pt x="307" y="540"/>
                  </a:lnTo>
                  <a:lnTo>
                    <a:pt x="307" y="542"/>
                  </a:lnTo>
                  <a:lnTo>
                    <a:pt x="308" y="542"/>
                  </a:lnTo>
                  <a:lnTo>
                    <a:pt x="310" y="544"/>
                  </a:lnTo>
                  <a:lnTo>
                    <a:pt x="312" y="544"/>
                  </a:lnTo>
                  <a:lnTo>
                    <a:pt x="312" y="544"/>
                  </a:lnTo>
                  <a:lnTo>
                    <a:pt x="312" y="544"/>
                  </a:lnTo>
                  <a:lnTo>
                    <a:pt x="312" y="546"/>
                  </a:lnTo>
                  <a:lnTo>
                    <a:pt x="312" y="546"/>
                  </a:lnTo>
                  <a:lnTo>
                    <a:pt x="312" y="546"/>
                  </a:lnTo>
                  <a:lnTo>
                    <a:pt x="312" y="546"/>
                  </a:lnTo>
                  <a:lnTo>
                    <a:pt x="312" y="548"/>
                  </a:lnTo>
                  <a:lnTo>
                    <a:pt x="312" y="548"/>
                  </a:lnTo>
                  <a:lnTo>
                    <a:pt x="312" y="548"/>
                  </a:lnTo>
                  <a:lnTo>
                    <a:pt x="314" y="548"/>
                  </a:lnTo>
                  <a:lnTo>
                    <a:pt x="316" y="548"/>
                  </a:lnTo>
                  <a:lnTo>
                    <a:pt x="316" y="548"/>
                  </a:lnTo>
                  <a:lnTo>
                    <a:pt x="322" y="550"/>
                  </a:lnTo>
                  <a:lnTo>
                    <a:pt x="324" y="550"/>
                  </a:lnTo>
                  <a:lnTo>
                    <a:pt x="327" y="548"/>
                  </a:lnTo>
                  <a:lnTo>
                    <a:pt x="327" y="548"/>
                  </a:lnTo>
                  <a:lnTo>
                    <a:pt x="327" y="548"/>
                  </a:lnTo>
                  <a:lnTo>
                    <a:pt x="326" y="548"/>
                  </a:lnTo>
                  <a:lnTo>
                    <a:pt x="326" y="548"/>
                  </a:lnTo>
                  <a:lnTo>
                    <a:pt x="324" y="546"/>
                  </a:lnTo>
                  <a:lnTo>
                    <a:pt x="324" y="546"/>
                  </a:lnTo>
                  <a:lnTo>
                    <a:pt x="324" y="546"/>
                  </a:lnTo>
                  <a:lnTo>
                    <a:pt x="320" y="546"/>
                  </a:lnTo>
                  <a:lnTo>
                    <a:pt x="316" y="546"/>
                  </a:lnTo>
                  <a:lnTo>
                    <a:pt x="314" y="544"/>
                  </a:lnTo>
                  <a:lnTo>
                    <a:pt x="314" y="544"/>
                  </a:lnTo>
                  <a:lnTo>
                    <a:pt x="314" y="544"/>
                  </a:lnTo>
                  <a:lnTo>
                    <a:pt x="312" y="540"/>
                  </a:lnTo>
                  <a:lnTo>
                    <a:pt x="308" y="538"/>
                  </a:lnTo>
                  <a:lnTo>
                    <a:pt x="308" y="536"/>
                  </a:lnTo>
                  <a:lnTo>
                    <a:pt x="308" y="532"/>
                  </a:lnTo>
                  <a:lnTo>
                    <a:pt x="310" y="531"/>
                  </a:lnTo>
                  <a:lnTo>
                    <a:pt x="310" y="529"/>
                  </a:lnTo>
                  <a:lnTo>
                    <a:pt x="312" y="529"/>
                  </a:lnTo>
                  <a:lnTo>
                    <a:pt x="312" y="527"/>
                  </a:lnTo>
                  <a:lnTo>
                    <a:pt x="312" y="527"/>
                  </a:lnTo>
                  <a:lnTo>
                    <a:pt x="312" y="527"/>
                  </a:lnTo>
                  <a:lnTo>
                    <a:pt x="314" y="529"/>
                  </a:lnTo>
                  <a:lnTo>
                    <a:pt x="314" y="529"/>
                  </a:lnTo>
                  <a:lnTo>
                    <a:pt x="314" y="531"/>
                  </a:lnTo>
                  <a:lnTo>
                    <a:pt x="314" y="532"/>
                  </a:lnTo>
                  <a:lnTo>
                    <a:pt x="316" y="532"/>
                  </a:lnTo>
                  <a:lnTo>
                    <a:pt x="316" y="531"/>
                  </a:lnTo>
                  <a:lnTo>
                    <a:pt x="316" y="523"/>
                  </a:lnTo>
                  <a:lnTo>
                    <a:pt x="316" y="523"/>
                  </a:lnTo>
                  <a:lnTo>
                    <a:pt x="320" y="527"/>
                  </a:lnTo>
                  <a:lnTo>
                    <a:pt x="322" y="531"/>
                  </a:lnTo>
                  <a:lnTo>
                    <a:pt x="326" y="536"/>
                  </a:lnTo>
                  <a:lnTo>
                    <a:pt x="329" y="544"/>
                  </a:lnTo>
                  <a:lnTo>
                    <a:pt x="329" y="544"/>
                  </a:lnTo>
                  <a:lnTo>
                    <a:pt x="329" y="542"/>
                  </a:lnTo>
                  <a:lnTo>
                    <a:pt x="329" y="542"/>
                  </a:lnTo>
                  <a:lnTo>
                    <a:pt x="327" y="536"/>
                  </a:lnTo>
                  <a:lnTo>
                    <a:pt x="326" y="529"/>
                  </a:lnTo>
                  <a:lnTo>
                    <a:pt x="324" y="527"/>
                  </a:lnTo>
                  <a:lnTo>
                    <a:pt x="324" y="525"/>
                  </a:lnTo>
                  <a:lnTo>
                    <a:pt x="324" y="523"/>
                  </a:lnTo>
                  <a:lnTo>
                    <a:pt x="326" y="521"/>
                  </a:lnTo>
                  <a:lnTo>
                    <a:pt x="326" y="515"/>
                  </a:lnTo>
                  <a:lnTo>
                    <a:pt x="326" y="512"/>
                  </a:lnTo>
                  <a:lnTo>
                    <a:pt x="318" y="498"/>
                  </a:lnTo>
                  <a:lnTo>
                    <a:pt x="316" y="494"/>
                  </a:lnTo>
                  <a:lnTo>
                    <a:pt x="314" y="483"/>
                  </a:lnTo>
                  <a:lnTo>
                    <a:pt x="314" y="479"/>
                  </a:lnTo>
                  <a:lnTo>
                    <a:pt x="316" y="475"/>
                  </a:lnTo>
                  <a:lnTo>
                    <a:pt x="314" y="474"/>
                  </a:lnTo>
                  <a:lnTo>
                    <a:pt x="312" y="475"/>
                  </a:lnTo>
                  <a:lnTo>
                    <a:pt x="310" y="475"/>
                  </a:lnTo>
                  <a:lnTo>
                    <a:pt x="310" y="477"/>
                  </a:lnTo>
                  <a:lnTo>
                    <a:pt x="308" y="479"/>
                  </a:lnTo>
                  <a:lnTo>
                    <a:pt x="307" y="477"/>
                  </a:lnTo>
                  <a:lnTo>
                    <a:pt x="308" y="475"/>
                  </a:lnTo>
                  <a:lnTo>
                    <a:pt x="308" y="475"/>
                  </a:lnTo>
                  <a:lnTo>
                    <a:pt x="310" y="475"/>
                  </a:lnTo>
                  <a:lnTo>
                    <a:pt x="310" y="474"/>
                  </a:lnTo>
                  <a:lnTo>
                    <a:pt x="312" y="474"/>
                  </a:lnTo>
                  <a:lnTo>
                    <a:pt x="314" y="472"/>
                  </a:lnTo>
                  <a:lnTo>
                    <a:pt x="316" y="472"/>
                  </a:lnTo>
                  <a:lnTo>
                    <a:pt x="318" y="466"/>
                  </a:lnTo>
                  <a:lnTo>
                    <a:pt x="320" y="464"/>
                  </a:lnTo>
                  <a:lnTo>
                    <a:pt x="320" y="460"/>
                  </a:lnTo>
                  <a:lnTo>
                    <a:pt x="320" y="453"/>
                  </a:lnTo>
                  <a:lnTo>
                    <a:pt x="320" y="447"/>
                  </a:lnTo>
                  <a:lnTo>
                    <a:pt x="320" y="445"/>
                  </a:lnTo>
                  <a:lnTo>
                    <a:pt x="320" y="445"/>
                  </a:lnTo>
                  <a:lnTo>
                    <a:pt x="322" y="443"/>
                  </a:lnTo>
                  <a:lnTo>
                    <a:pt x="322" y="443"/>
                  </a:lnTo>
                  <a:lnTo>
                    <a:pt x="320" y="443"/>
                  </a:lnTo>
                  <a:lnTo>
                    <a:pt x="320" y="443"/>
                  </a:lnTo>
                  <a:lnTo>
                    <a:pt x="318" y="443"/>
                  </a:lnTo>
                  <a:lnTo>
                    <a:pt x="316" y="443"/>
                  </a:lnTo>
                  <a:lnTo>
                    <a:pt x="316" y="443"/>
                  </a:lnTo>
                  <a:lnTo>
                    <a:pt x="318" y="441"/>
                  </a:lnTo>
                  <a:lnTo>
                    <a:pt x="318" y="441"/>
                  </a:lnTo>
                  <a:lnTo>
                    <a:pt x="320" y="441"/>
                  </a:lnTo>
                  <a:lnTo>
                    <a:pt x="320" y="439"/>
                  </a:lnTo>
                  <a:lnTo>
                    <a:pt x="318" y="437"/>
                  </a:lnTo>
                  <a:lnTo>
                    <a:pt x="318" y="437"/>
                  </a:lnTo>
                  <a:lnTo>
                    <a:pt x="318" y="434"/>
                  </a:lnTo>
                  <a:lnTo>
                    <a:pt x="316" y="434"/>
                  </a:lnTo>
                  <a:lnTo>
                    <a:pt x="314" y="432"/>
                  </a:lnTo>
                  <a:lnTo>
                    <a:pt x="314" y="430"/>
                  </a:lnTo>
                  <a:lnTo>
                    <a:pt x="312" y="430"/>
                  </a:lnTo>
                  <a:lnTo>
                    <a:pt x="312" y="430"/>
                  </a:lnTo>
                  <a:lnTo>
                    <a:pt x="312" y="424"/>
                  </a:lnTo>
                  <a:lnTo>
                    <a:pt x="310" y="409"/>
                  </a:lnTo>
                  <a:lnTo>
                    <a:pt x="310" y="407"/>
                  </a:lnTo>
                  <a:lnTo>
                    <a:pt x="308" y="405"/>
                  </a:lnTo>
                  <a:lnTo>
                    <a:pt x="308" y="401"/>
                  </a:lnTo>
                  <a:lnTo>
                    <a:pt x="308" y="394"/>
                  </a:lnTo>
                  <a:lnTo>
                    <a:pt x="310" y="382"/>
                  </a:lnTo>
                  <a:lnTo>
                    <a:pt x="312" y="373"/>
                  </a:lnTo>
                  <a:lnTo>
                    <a:pt x="310" y="373"/>
                  </a:lnTo>
                  <a:lnTo>
                    <a:pt x="314" y="367"/>
                  </a:lnTo>
                  <a:lnTo>
                    <a:pt x="314" y="365"/>
                  </a:lnTo>
                  <a:lnTo>
                    <a:pt x="316" y="363"/>
                  </a:lnTo>
                  <a:lnTo>
                    <a:pt x="318" y="359"/>
                  </a:lnTo>
                  <a:lnTo>
                    <a:pt x="320" y="359"/>
                  </a:lnTo>
                  <a:lnTo>
                    <a:pt x="322" y="356"/>
                  </a:lnTo>
                  <a:lnTo>
                    <a:pt x="322" y="354"/>
                  </a:lnTo>
                  <a:lnTo>
                    <a:pt x="322" y="354"/>
                  </a:lnTo>
                  <a:lnTo>
                    <a:pt x="322" y="352"/>
                  </a:lnTo>
                  <a:lnTo>
                    <a:pt x="324" y="350"/>
                  </a:lnTo>
                  <a:lnTo>
                    <a:pt x="324" y="348"/>
                  </a:lnTo>
                  <a:lnTo>
                    <a:pt x="327" y="337"/>
                  </a:lnTo>
                  <a:lnTo>
                    <a:pt x="329" y="335"/>
                  </a:lnTo>
                  <a:lnTo>
                    <a:pt x="335" y="327"/>
                  </a:lnTo>
                  <a:lnTo>
                    <a:pt x="339" y="325"/>
                  </a:lnTo>
                  <a:lnTo>
                    <a:pt x="343" y="325"/>
                  </a:lnTo>
                  <a:lnTo>
                    <a:pt x="345" y="323"/>
                  </a:lnTo>
                  <a:lnTo>
                    <a:pt x="345" y="323"/>
                  </a:lnTo>
                  <a:lnTo>
                    <a:pt x="347" y="321"/>
                  </a:lnTo>
                  <a:lnTo>
                    <a:pt x="347" y="321"/>
                  </a:lnTo>
                  <a:lnTo>
                    <a:pt x="347" y="321"/>
                  </a:lnTo>
                  <a:lnTo>
                    <a:pt x="348" y="321"/>
                  </a:lnTo>
                  <a:lnTo>
                    <a:pt x="352" y="319"/>
                  </a:lnTo>
                  <a:lnTo>
                    <a:pt x="352" y="319"/>
                  </a:lnTo>
                  <a:lnTo>
                    <a:pt x="354" y="318"/>
                  </a:lnTo>
                  <a:lnTo>
                    <a:pt x="354" y="318"/>
                  </a:lnTo>
                  <a:lnTo>
                    <a:pt x="356" y="319"/>
                  </a:lnTo>
                  <a:lnTo>
                    <a:pt x="356" y="318"/>
                  </a:lnTo>
                  <a:lnTo>
                    <a:pt x="358" y="318"/>
                  </a:lnTo>
                  <a:lnTo>
                    <a:pt x="360" y="318"/>
                  </a:lnTo>
                  <a:lnTo>
                    <a:pt x="364" y="318"/>
                  </a:lnTo>
                  <a:lnTo>
                    <a:pt x="364" y="316"/>
                  </a:lnTo>
                  <a:lnTo>
                    <a:pt x="364" y="316"/>
                  </a:lnTo>
                  <a:lnTo>
                    <a:pt x="366" y="316"/>
                  </a:lnTo>
                  <a:lnTo>
                    <a:pt x="366" y="316"/>
                  </a:lnTo>
                  <a:lnTo>
                    <a:pt x="366" y="316"/>
                  </a:lnTo>
                  <a:lnTo>
                    <a:pt x="367" y="316"/>
                  </a:lnTo>
                  <a:lnTo>
                    <a:pt x="371" y="316"/>
                  </a:lnTo>
                  <a:lnTo>
                    <a:pt x="373" y="316"/>
                  </a:lnTo>
                  <a:lnTo>
                    <a:pt x="375" y="318"/>
                  </a:lnTo>
                  <a:lnTo>
                    <a:pt x="377" y="321"/>
                  </a:lnTo>
                  <a:lnTo>
                    <a:pt x="377" y="325"/>
                  </a:lnTo>
                  <a:lnTo>
                    <a:pt x="377" y="333"/>
                  </a:lnTo>
                  <a:lnTo>
                    <a:pt x="379" y="333"/>
                  </a:lnTo>
                  <a:lnTo>
                    <a:pt x="379" y="331"/>
                  </a:lnTo>
                  <a:lnTo>
                    <a:pt x="383" y="323"/>
                  </a:lnTo>
                  <a:lnTo>
                    <a:pt x="385" y="316"/>
                  </a:lnTo>
                  <a:lnTo>
                    <a:pt x="385" y="312"/>
                  </a:lnTo>
                  <a:lnTo>
                    <a:pt x="385" y="308"/>
                  </a:lnTo>
                  <a:lnTo>
                    <a:pt x="383" y="304"/>
                  </a:lnTo>
                  <a:lnTo>
                    <a:pt x="385" y="304"/>
                  </a:lnTo>
                  <a:lnTo>
                    <a:pt x="385" y="306"/>
                  </a:lnTo>
                  <a:lnTo>
                    <a:pt x="385" y="306"/>
                  </a:lnTo>
                  <a:lnTo>
                    <a:pt x="387" y="304"/>
                  </a:lnTo>
                  <a:lnTo>
                    <a:pt x="385" y="304"/>
                  </a:lnTo>
                  <a:lnTo>
                    <a:pt x="387" y="302"/>
                  </a:lnTo>
                  <a:lnTo>
                    <a:pt x="387" y="306"/>
                  </a:lnTo>
                  <a:lnTo>
                    <a:pt x="387" y="308"/>
                  </a:lnTo>
                  <a:lnTo>
                    <a:pt x="387" y="310"/>
                  </a:lnTo>
                  <a:lnTo>
                    <a:pt x="387" y="316"/>
                  </a:lnTo>
                  <a:lnTo>
                    <a:pt x="387" y="318"/>
                  </a:lnTo>
                  <a:lnTo>
                    <a:pt x="387" y="319"/>
                  </a:lnTo>
                  <a:lnTo>
                    <a:pt x="388" y="321"/>
                  </a:lnTo>
                  <a:lnTo>
                    <a:pt x="390" y="321"/>
                  </a:lnTo>
                  <a:lnTo>
                    <a:pt x="390" y="323"/>
                  </a:lnTo>
                  <a:lnTo>
                    <a:pt x="394" y="325"/>
                  </a:lnTo>
                  <a:lnTo>
                    <a:pt x="394" y="327"/>
                  </a:lnTo>
                  <a:lnTo>
                    <a:pt x="394" y="327"/>
                  </a:lnTo>
                  <a:lnTo>
                    <a:pt x="396" y="327"/>
                  </a:lnTo>
                  <a:lnTo>
                    <a:pt x="396" y="327"/>
                  </a:lnTo>
                  <a:lnTo>
                    <a:pt x="396" y="327"/>
                  </a:lnTo>
                  <a:lnTo>
                    <a:pt x="396" y="325"/>
                  </a:lnTo>
                  <a:lnTo>
                    <a:pt x="396" y="323"/>
                  </a:lnTo>
                  <a:lnTo>
                    <a:pt x="396" y="323"/>
                  </a:lnTo>
                  <a:lnTo>
                    <a:pt x="396" y="323"/>
                  </a:lnTo>
                  <a:lnTo>
                    <a:pt x="394" y="321"/>
                  </a:lnTo>
                  <a:lnTo>
                    <a:pt x="394" y="321"/>
                  </a:lnTo>
                  <a:lnTo>
                    <a:pt x="398" y="318"/>
                  </a:lnTo>
                  <a:lnTo>
                    <a:pt x="400" y="316"/>
                  </a:lnTo>
                  <a:lnTo>
                    <a:pt x="404" y="314"/>
                  </a:lnTo>
                  <a:lnTo>
                    <a:pt x="408" y="310"/>
                  </a:lnTo>
                  <a:lnTo>
                    <a:pt x="409" y="310"/>
                  </a:lnTo>
                  <a:lnTo>
                    <a:pt x="409" y="308"/>
                  </a:lnTo>
                  <a:lnTo>
                    <a:pt x="409" y="302"/>
                  </a:lnTo>
                  <a:lnTo>
                    <a:pt x="409" y="300"/>
                  </a:lnTo>
                  <a:lnTo>
                    <a:pt x="411" y="299"/>
                  </a:lnTo>
                  <a:lnTo>
                    <a:pt x="413" y="293"/>
                  </a:lnTo>
                  <a:lnTo>
                    <a:pt x="415" y="287"/>
                  </a:lnTo>
                  <a:lnTo>
                    <a:pt x="417" y="283"/>
                  </a:lnTo>
                  <a:lnTo>
                    <a:pt x="419" y="280"/>
                  </a:lnTo>
                  <a:lnTo>
                    <a:pt x="419" y="278"/>
                  </a:lnTo>
                  <a:lnTo>
                    <a:pt x="419" y="278"/>
                  </a:lnTo>
                  <a:lnTo>
                    <a:pt x="419" y="276"/>
                  </a:lnTo>
                  <a:lnTo>
                    <a:pt x="419" y="276"/>
                  </a:lnTo>
                  <a:lnTo>
                    <a:pt x="419" y="274"/>
                  </a:lnTo>
                  <a:lnTo>
                    <a:pt x="425" y="270"/>
                  </a:lnTo>
                  <a:lnTo>
                    <a:pt x="427" y="270"/>
                  </a:lnTo>
                  <a:lnTo>
                    <a:pt x="427" y="270"/>
                  </a:lnTo>
                  <a:lnTo>
                    <a:pt x="428" y="270"/>
                  </a:lnTo>
                  <a:lnTo>
                    <a:pt x="430" y="270"/>
                  </a:lnTo>
                  <a:lnTo>
                    <a:pt x="430" y="270"/>
                  </a:lnTo>
                  <a:lnTo>
                    <a:pt x="432" y="270"/>
                  </a:lnTo>
                  <a:lnTo>
                    <a:pt x="432" y="270"/>
                  </a:lnTo>
                  <a:lnTo>
                    <a:pt x="434" y="270"/>
                  </a:lnTo>
                  <a:lnTo>
                    <a:pt x="434" y="272"/>
                  </a:lnTo>
                  <a:lnTo>
                    <a:pt x="434" y="272"/>
                  </a:lnTo>
                  <a:lnTo>
                    <a:pt x="434" y="272"/>
                  </a:lnTo>
                  <a:lnTo>
                    <a:pt x="434" y="274"/>
                  </a:lnTo>
                  <a:lnTo>
                    <a:pt x="440" y="272"/>
                  </a:lnTo>
                  <a:lnTo>
                    <a:pt x="442" y="272"/>
                  </a:lnTo>
                  <a:lnTo>
                    <a:pt x="444" y="272"/>
                  </a:lnTo>
                  <a:lnTo>
                    <a:pt x="446" y="272"/>
                  </a:lnTo>
                  <a:lnTo>
                    <a:pt x="446" y="270"/>
                  </a:lnTo>
                  <a:lnTo>
                    <a:pt x="448" y="270"/>
                  </a:lnTo>
                  <a:lnTo>
                    <a:pt x="448" y="270"/>
                  </a:lnTo>
                  <a:lnTo>
                    <a:pt x="448" y="272"/>
                  </a:lnTo>
                  <a:lnTo>
                    <a:pt x="448" y="274"/>
                  </a:lnTo>
                  <a:lnTo>
                    <a:pt x="449" y="274"/>
                  </a:lnTo>
                  <a:lnTo>
                    <a:pt x="453" y="274"/>
                  </a:lnTo>
                  <a:lnTo>
                    <a:pt x="453" y="274"/>
                  </a:lnTo>
                  <a:lnTo>
                    <a:pt x="455" y="274"/>
                  </a:lnTo>
                  <a:lnTo>
                    <a:pt x="457" y="274"/>
                  </a:lnTo>
                  <a:lnTo>
                    <a:pt x="459" y="276"/>
                  </a:lnTo>
                  <a:lnTo>
                    <a:pt x="461" y="276"/>
                  </a:lnTo>
                  <a:lnTo>
                    <a:pt x="461" y="276"/>
                  </a:lnTo>
                  <a:lnTo>
                    <a:pt x="465" y="276"/>
                  </a:lnTo>
                  <a:lnTo>
                    <a:pt x="467" y="274"/>
                  </a:lnTo>
                  <a:lnTo>
                    <a:pt x="474" y="270"/>
                  </a:lnTo>
                  <a:lnTo>
                    <a:pt x="476" y="270"/>
                  </a:lnTo>
                  <a:lnTo>
                    <a:pt x="478" y="270"/>
                  </a:lnTo>
                  <a:lnTo>
                    <a:pt x="482" y="268"/>
                  </a:lnTo>
                  <a:lnTo>
                    <a:pt x="482" y="268"/>
                  </a:lnTo>
                  <a:lnTo>
                    <a:pt x="484" y="266"/>
                  </a:lnTo>
                  <a:lnTo>
                    <a:pt x="484" y="266"/>
                  </a:lnTo>
                  <a:lnTo>
                    <a:pt x="486" y="266"/>
                  </a:lnTo>
                  <a:lnTo>
                    <a:pt x="488" y="266"/>
                  </a:lnTo>
                  <a:lnTo>
                    <a:pt x="488" y="266"/>
                  </a:lnTo>
                  <a:lnTo>
                    <a:pt x="489" y="264"/>
                  </a:lnTo>
                  <a:lnTo>
                    <a:pt x="491" y="262"/>
                  </a:lnTo>
                  <a:lnTo>
                    <a:pt x="493" y="264"/>
                  </a:lnTo>
                  <a:lnTo>
                    <a:pt x="495" y="262"/>
                  </a:lnTo>
                  <a:lnTo>
                    <a:pt x="499" y="261"/>
                  </a:lnTo>
                  <a:lnTo>
                    <a:pt x="503" y="259"/>
                  </a:lnTo>
                  <a:lnTo>
                    <a:pt x="505" y="259"/>
                  </a:lnTo>
                  <a:lnTo>
                    <a:pt x="507" y="257"/>
                  </a:lnTo>
                  <a:lnTo>
                    <a:pt x="512" y="251"/>
                  </a:lnTo>
                  <a:lnTo>
                    <a:pt x="516" y="251"/>
                  </a:lnTo>
                  <a:lnTo>
                    <a:pt x="514" y="249"/>
                  </a:lnTo>
                  <a:lnTo>
                    <a:pt x="514" y="247"/>
                  </a:lnTo>
                  <a:lnTo>
                    <a:pt x="514" y="247"/>
                  </a:lnTo>
                  <a:lnTo>
                    <a:pt x="514" y="245"/>
                  </a:lnTo>
                  <a:lnTo>
                    <a:pt x="514" y="245"/>
                  </a:lnTo>
                  <a:lnTo>
                    <a:pt x="514" y="247"/>
                  </a:lnTo>
                  <a:lnTo>
                    <a:pt x="516" y="247"/>
                  </a:lnTo>
                  <a:lnTo>
                    <a:pt x="516" y="247"/>
                  </a:lnTo>
                  <a:lnTo>
                    <a:pt x="516" y="247"/>
                  </a:lnTo>
                  <a:lnTo>
                    <a:pt x="516" y="247"/>
                  </a:lnTo>
                  <a:lnTo>
                    <a:pt x="516" y="245"/>
                  </a:lnTo>
                  <a:lnTo>
                    <a:pt x="518" y="242"/>
                  </a:lnTo>
                  <a:lnTo>
                    <a:pt x="520" y="238"/>
                  </a:lnTo>
                  <a:lnTo>
                    <a:pt x="520" y="234"/>
                  </a:lnTo>
                  <a:lnTo>
                    <a:pt x="522" y="228"/>
                  </a:lnTo>
                  <a:lnTo>
                    <a:pt x="522" y="224"/>
                  </a:lnTo>
                  <a:lnTo>
                    <a:pt x="522" y="219"/>
                  </a:lnTo>
                  <a:lnTo>
                    <a:pt x="520" y="217"/>
                  </a:lnTo>
                  <a:lnTo>
                    <a:pt x="520" y="215"/>
                  </a:lnTo>
                  <a:lnTo>
                    <a:pt x="520" y="217"/>
                  </a:lnTo>
                  <a:lnTo>
                    <a:pt x="520" y="221"/>
                  </a:lnTo>
                  <a:lnTo>
                    <a:pt x="522" y="224"/>
                  </a:lnTo>
                  <a:lnTo>
                    <a:pt x="520" y="224"/>
                  </a:lnTo>
                  <a:lnTo>
                    <a:pt x="518" y="224"/>
                  </a:lnTo>
                  <a:lnTo>
                    <a:pt x="518" y="224"/>
                  </a:lnTo>
                  <a:lnTo>
                    <a:pt x="518" y="224"/>
                  </a:lnTo>
                  <a:lnTo>
                    <a:pt x="516" y="224"/>
                  </a:lnTo>
                  <a:lnTo>
                    <a:pt x="516" y="224"/>
                  </a:lnTo>
                  <a:lnTo>
                    <a:pt x="516" y="224"/>
                  </a:lnTo>
                  <a:lnTo>
                    <a:pt x="516" y="224"/>
                  </a:lnTo>
                  <a:lnTo>
                    <a:pt x="514" y="224"/>
                  </a:lnTo>
                  <a:lnTo>
                    <a:pt x="512" y="222"/>
                  </a:lnTo>
                  <a:lnTo>
                    <a:pt x="510" y="221"/>
                  </a:lnTo>
                  <a:lnTo>
                    <a:pt x="510" y="219"/>
                  </a:lnTo>
                  <a:lnTo>
                    <a:pt x="510" y="217"/>
                  </a:lnTo>
                  <a:lnTo>
                    <a:pt x="514" y="211"/>
                  </a:lnTo>
                  <a:lnTo>
                    <a:pt x="514" y="207"/>
                  </a:lnTo>
                  <a:lnTo>
                    <a:pt x="516" y="205"/>
                  </a:lnTo>
                  <a:lnTo>
                    <a:pt x="520" y="203"/>
                  </a:lnTo>
                  <a:lnTo>
                    <a:pt x="522" y="200"/>
                  </a:lnTo>
                  <a:lnTo>
                    <a:pt x="524" y="198"/>
                  </a:lnTo>
                  <a:lnTo>
                    <a:pt x="526" y="196"/>
                  </a:lnTo>
                  <a:lnTo>
                    <a:pt x="528" y="196"/>
                  </a:lnTo>
                  <a:lnTo>
                    <a:pt x="529" y="192"/>
                  </a:lnTo>
                  <a:lnTo>
                    <a:pt x="531" y="190"/>
                  </a:lnTo>
                  <a:lnTo>
                    <a:pt x="554" y="177"/>
                  </a:lnTo>
                  <a:lnTo>
                    <a:pt x="558" y="175"/>
                  </a:lnTo>
                  <a:lnTo>
                    <a:pt x="562" y="173"/>
                  </a:lnTo>
                  <a:lnTo>
                    <a:pt x="566" y="173"/>
                  </a:lnTo>
                  <a:lnTo>
                    <a:pt x="566" y="171"/>
                  </a:lnTo>
                  <a:lnTo>
                    <a:pt x="568" y="169"/>
                  </a:lnTo>
                  <a:lnTo>
                    <a:pt x="569" y="169"/>
                  </a:lnTo>
                  <a:lnTo>
                    <a:pt x="569" y="171"/>
                  </a:lnTo>
                  <a:lnTo>
                    <a:pt x="569" y="171"/>
                  </a:lnTo>
                  <a:lnTo>
                    <a:pt x="575" y="167"/>
                  </a:lnTo>
                  <a:lnTo>
                    <a:pt x="575" y="167"/>
                  </a:lnTo>
                  <a:lnTo>
                    <a:pt x="577" y="167"/>
                  </a:lnTo>
                  <a:lnTo>
                    <a:pt x="577" y="165"/>
                  </a:lnTo>
                  <a:lnTo>
                    <a:pt x="579" y="164"/>
                  </a:lnTo>
                  <a:lnTo>
                    <a:pt x="581" y="164"/>
                  </a:lnTo>
                  <a:lnTo>
                    <a:pt x="585" y="162"/>
                  </a:lnTo>
                  <a:lnTo>
                    <a:pt x="589" y="160"/>
                  </a:lnTo>
                  <a:lnTo>
                    <a:pt x="596" y="156"/>
                  </a:lnTo>
                  <a:lnTo>
                    <a:pt x="598" y="154"/>
                  </a:lnTo>
                  <a:lnTo>
                    <a:pt x="600" y="154"/>
                  </a:lnTo>
                  <a:lnTo>
                    <a:pt x="600" y="154"/>
                  </a:lnTo>
                  <a:lnTo>
                    <a:pt x="602" y="152"/>
                  </a:lnTo>
                  <a:lnTo>
                    <a:pt x="602" y="152"/>
                  </a:lnTo>
                  <a:lnTo>
                    <a:pt x="600" y="148"/>
                  </a:lnTo>
                  <a:lnTo>
                    <a:pt x="602" y="148"/>
                  </a:lnTo>
                  <a:lnTo>
                    <a:pt x="604" y="148"/>
                  </a:lnTo>
                  <a:lnTo>
                    <a:pt x="604" y="148"/>
                  </a:lnTo>
                  <a:lnTo>
                    <a:pt x="606" y="146"/>
                  </a:lnTo>
                  <a:lnTo>
                    <a:pt x="608" y="146"/>
                  </a:lnTo>
                  <a:lnTo>
                    <a:pt x="608" y="145"/>
                  </a:lnTo>
                  <a:lnTo>
                    <a:pt x="608" y="145"/>
                  </a:lnTo>
                  <a:lnTo>
                    <a:pt x="606" y="145"/>
                  </a:lnTo>
                  <a:lnTo>
                    <a:pt x="604" y="143"/>
                  </a:lnTo>
                  <a:lnTo>
                    <a:pt x="602" y="143"/>
                  </a:lnTo>
                  <a:lnTo>
                    <a:pt x="602" y="141"/>
                  </a:lnTo>
                  <a:lnTo>
                    <a:pt x="604" y="141"/>
                  </a:lnTo>
                  <a:lnTo>
                    <a:pt x="606" y="141"/>
                  </a:lnTo>
                  <a:lnTo>
                    <a:pt x="606" y="143"/>
                  </a:lnTo>
                  <a:lnTo>
                    <a:pt x="606" y="143"/>
                  </a:lnTo>
                  <a:lnTo>
                    <a:pt x="606" y="143"/>
                  </a:lnTo>
                  <a:lnTo>
                    <a:pt x="606" y="143"/>
                  </a:lnTo>
                  <a:lnTo>
                    <a:pt x="606" y="143"/>
                  </a:lnTo>
                  <a:lnTo>
                    <a:pt x="608" y="143"/>
                  </a:lnTo>
                  <a:lnTo>
                    <a:pt x="608" y="143"/>
                  </a:lnTo>
                  <a:lnTo>
                    <a:pt x="608" y="143"/>
                  </a:lnTo>
                  <a:lnTo>
                    <a:pt x="609" y="143"/>
                  </a:lnTo>
                  <a:lnTo>
                    <a:pt x="609" y="143"/>
                  </a:lnTo>
                  <a:lnTo>
                    <a:pt x="611" y="141"/>
                  </a:lnTo>
                  <a:lnTo>
                    <a:pt x="617" y="135"/>
                  </a:lnTo>
                  <a:lnTo>
                    <a:pt x="619" y="133"/>
                  </a:lnTo>
                  <a:lnTo>
                    <a:pt x="619" y="129"/>
                  </a:lnTo>
                  <a:lnTo>
                    <a:pt x="619" y="127"/>
                  </a:lnTo>
                  <a:lnTo>
                    <a:pt x="621" y="125"/>
                  </a:lnTo>
                  <a:lnTo>
                    <a:pt x="621" y="124"/>
                  </a:lnTo>
                  <a:lnTo>
                    <a:pt x="621" y="122"/>
                  </a:lnTo>
                  <a:lnTo>
                    <a:pt x="621" y="122"/>
                  </a:lnTo>
                  <a:lnTo>
                    <a:pt x="623" y="122"/>
                  </a:lnTo>
                  <a:lnTo>
                    <a:pt x="623" y="124"/>
                  </a:lnTo>
                  <a:lnTo>
                    <a:pt x="623" y="124"/>
                  </a:lnTo>
                  <a:lnTo>
                    <a:pt x="625" y="122"/>
                  </a:lnTo>
                  <a:lnTo>
                    <a:pt x="629" y="120"/>
                  </a:lnTo>
                  <a:lnTo>
                    <a:pt x="629" y="118"/>
                  </a:lnTo>
                  <a:lnTo>
                    <a:pt x="630" y="118"/>
                  </a:lnTo>
                  <a:lnTo>
                    <a:pt x="630" y="116"/>
                  </a:lnTo>
                  <a:lnTo>
                    <a:pt x="630" y="116"/>
                  </a:lnTo>
                  <a:lnTo>
                    <a:pt x="632" y="116"/>
                  </a:lnTo>
                  <a:lnTo>
                    <a:pt x="632" y="112"/>
                  </a:lnTo>
                  <a:lnTo>
                    <a:pt x="634" y="112"/>
                  </a:lnTo>
                  <a:lnTo>
                    <a:pt x="636" y="108"/>
                  </a:lnTo>
                  <a:lnTo>
                    <a:pt x="651" y="101"/>
                  </a:lnTo>
                  <a:lnTo>
                    <a:pt x="680" y="87"/>
                  </a:lnTo>
                  <a:lnTo>
                    <a:pt x="682" y="84"/>
                  </a:lnTo>
                  <a:lnTo>
                    <a:pt x="684" y="82"/>
                  </a:lnTo>
                  <a:lnTo>
                    <a:pt x="684" y="80"/>
                  </a:lnTo>
                  <a:lnTo>
                    <a:pt x="684" y="80"/>
                  </a:lnTo>
                  <a:lnTo>
                    <a:pt x="686" y="78"/>
                  </a:lnTo>
                  <a:lnTo>
                    <a:pt x="686" y="78"/>
                  </a:lnTo>
                  <a:lnTo>
                    <a:pt x="686" y="76"/>
                  </a:lnTo>
                  <a:lnTo>
                    <a:pt x="688" y="74"/>
                  </a:lnTo>
                  <a:lnTo>
                    <a:pt x="690" y="72"/>
                  </a:lnTo>
                  <a:lnTo>
                    <a:pt x="693" y="70"/>
                  </a:lnTo>
                  <a:lnTo>
                    <a:pt x="695" y="68"/>
                  </a:lnTo>
                  <a:lnTo>
                    <a:pt x="699" y="65"/>
                  </a:lnTo>
                  <a:lnTo>
                    <a:pt x="703" y="61"/>
                  </a:lnTo>
                  <a:lnTo>
                    <a:pt x="705" y="59"/>
                  </a:lnTo>
                  <a:lnTo>
                    <a:pt x="703" y="61"/>
                  </a:lnTo>
                  <a:lnTo>
                    <a:pt x="699" y="63"/>
                  </a:lnTo>
                  <a:lnTo>
                    <a:pt x="697" y="65"/>
                  </a:lnTo>
                  <a:lnTo>
                    <a:pt x="695" y="65"/>
                  </a:lnTo>
                  <a:lnTo>
                    <a:pt x="693" y="65"/>
                  </a:lnTo>
                  <a:lnTo>
                    <a:pt x="695" y="63"/>
                  </a:lnTo>
                  <a:lnTo>
                    <a:pt x="695" y="63"/>
                  </a:lnTo>
                  <a:lnTo>
                    <a:pt x="697" y="63"/>
                  </a:lnTo>
                  <a:lnTo>
                    <a:pt x="699" y="63"/>
                  </a:lnTo>
                  <a:lnTo>
                    <a:pt x="699" y="63"/>
                  </a:lnTo>
                  <a:lnTo>
                    <a:pt x="701" y="61"/>
                  </a:lnTo>
                  <a:lnTo>
                    <a:pt x="701" y="61"/>
                  </a:lnTo>
                  <a:lnTo>
                    <a:pt x="703" y="59"/>
                  </a:lnTo>
                  <a:lnTo>
                    <a:pt x="705" y="59"/>
                  </a:lnTo>
                  <a:lnTo>
                    <a:pt x="707" y="55"/>
                  </a:lnTo>
                  <a:lnTo>
                    <a:pt x="710" y="51"/>
                  </a:lnTo>
                  <a:lnTo>
                    <a:pt x="712" y="51"/>
                  </a:lnTo>
                  <a:lnTo>
                    <a:pt x="712" y="49"/>
                  </a:lnTo>
                  <a:lnTo>
                    <a:pt x="714" y="48"/>
                  </a:lnTo>
                  <a:lnTo>
                    <a:pt x="722" y="38"/>
                  </a:lnTo>
                  <a:lnTo>
                    <a:pt x="722" y="36"/>
                  </a:lnTo>
                  <a:lnTo>
                    <a:pt x="730" y="25"/>
                  </a:lnTo>
                  <a:lnTo>
                    <a:pt x="733" y="23"/>
                  </a:lnTo>
                  <a:lnTo>
                    <a:pt x="735" y="21"/>
                  </a:lnTo>
                  <a:lnTo>
                    <a:pt x="737" y="19"/>
                  </a:lnTo>
                  <a:lnTo>
                    <a:pt x="741" y="13"/>
                  </a:lnTo>
                  <a:lnTo>
                    <a:pt x="741" y="11"/>
                  </a:lnTo>
                  <a:lnTo>
                    <a:pt x="745" y="8"/>
                  </a:lnTo>
                  <a:lnTo>
                    <a:pt x="745" y="8"/>
                  </a:lnTo>
                  <a:lnTo>
                    <a:pt x="743" y="6"/>
                  </a:lnTo>
                  <a:close/>
                  <a:moveTo>
                    <a:pt x="512" y="238"/>
                  </a:moveTo>
                  <a:lnTo>
                    <a:pt x="512" y="238"/>
                  </a:lnTo>
                  <a:lnTo>
                    <a:pt x="514" y="236"/>
                  </a:lnTo>
                  <a:lnTo>
                    <a:pt x="514" y="236"/>
                  </a:lnTo>
                  <a:lnTo>
                    <a:pt x="514" y="236"/>
                  </a:lnTo>
                  <a:lnTo>
                    <a:pt x="514" y="236"/>
                  </a:lnTo>
                  <a:lnTo>
                    <a:pt x="514" y="236"/>
                  </a:lnTo>
                  <a:lnTo>
                    <a:pt x="516" y="236"/>
                  </a:lnTo>
                  <a:lnTo>
                    <a:pt x="516" y="238"/>
                  </a:lnTo>
                  <a:lnTo>
                    <a:pt x="514" y="238"/>
                  </a:lnTo>
                  <a:lnTo>
                    <a:pt x="514" y="238"/>
                  </a:lnTo>
                  <a:lnTo>
                    <a:pt x="512" y="238"/>
                  </a:lnTo>
                  <a:lnTo>
                    <a:pt x="512" y="238"/>
                  </a:lnTo>
                  <a:lnTo>
                    <a:pt x="512" y="238"/>
                  </a:lnTo>
                  <a:lnTo>
                    <a:pt x="514" y="240"/>
                  </a:lnTo>
                  <a:lnTo>
                    <a:pt x="512" y="240"/>
                  </a:lnTo>
                  <a:lnTo>
                    <a:pt x="512" y="240"/>
                  </a:lnTo>
                  <a:lnTo>
                    <a:pt x="510" y="240"/>
                  </a:lnTo>
                  <a:lnTo>
                    <a:pt x="508" y="238"/>
                  </a:lnTo>
                  <a:lnTo>
                    <a:pt x="507" y="238"/>
                  </a:lnTo>
                  <a:lnTo>
                    <a:pt x="505" y="238"/>
                  </a:lnTo>
                  <a:lnTo>
                    <a:pt x="505" y="238"/>
                  </a:lnTo>
                  <a:lnTo>
                    <a:pt x="505" y="236"/>
                  </a:lnTo>
                  <a:lnTo>
                    <a:pt x="505" y="236"/>
                  </a:lnTo>
                  <a:lnTo>
                    <a:pt x="505" y="236"/>
                  </a:lnTo>
                  <a:lnTo>
                    <a:pt x="507" y="236"/>
                  </a:lnTo>
                  <a:lnTo>
                    <a:pt x="507" y="234"/>
                  </a:lnTo>
                  <a:lnTo>
                    <a:pt x="507" y="234"/>
                  </a:lnTo>
                  <a:lnTo>
                    <a:pt x="508" y="234"/>
                  </a:lnTo>
                  <a:lnTo>
                    <a:pt x="507" y="236"/>
                  </a:lnTo>
                  <a:lnTo>
                    <a:pt x="508" y="236"/>
                  </a:lnTo>
                  <a:lnTo>
                    <a:pt x="508" y="238"/>
                  </a:lnTo>
                  <a:lnTo>
                    <a:pt x="512" y="238"/>
                  </a:lnTo>
                  <a:close/>
                  <a:moveTo>
                    <a:pt x="392" y="325"/>
                  </a:moveTo>
                  <a:lnTo>
                    <a:pt x="388" y="323"/>
                  </a:lnTo>
                  <a:lnTo>
                    <a:pt x="385" y="321"/>
                  </a:lnTo>
                  <a:lnTo>
                    <a:pt x="385" y="321"/>
                  </a:lnTo>
                  <a:lnTo>
                    <a:pt x="383" y="323"/>
                  </a:lnTo>
                  <a:lnTo>
                    <a:pt x="388" y="329"/>
                  </a:lnTo>
                  <a:lnTo>
                    <a:pt x="390" y="331"/>
                  </a:lnTo>
                  <a:lnTo>
                    <a:pt x="390" y="331"/>
                  </a:lnTo>
                  <a:lnTo>
                    <a:pt x="392" y="331"/>
                  </a:lnTo>
                  <a:lnTo>
                    <a:pt x="394" y="329"/>
                  </a:lnTo>
                  <a:lnTo>
                    <a:pt x="394" y="329"/>
                  </a:lnTo>
                  <a:lnTo>
                    <a:pt x="394" y="327"/>
                  </a:lnTo>
                  <a:lnTo>
                    <a:pt x="392" y="325"/>
                  </a:lnTo>
                  <a:close/>
                </a:path>
              </a:pathLst>
            </a:custGeom>
            <a:solidFill>
              <a:schemeClr val="tx2">
                <a:lumMod val="20000"/>
                <a:lumOff val="80000"/>
              </a:schemeClr>
            </a:solidFill>
            <a:ln w="9525">
              <a:solidFill>
                <a:schemeClr val="bg1"/>
              </a:solidFill>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25" name="Freeform 75">
              <a:extLst>
                <a:ext uri="{FF2B5EF4-FFF2-40B4-BE49-F238E27FC236}">
                  <a16:creationId xmlns:a16="http://schemas.microsoft.com/office/drawing/2014/main" id="{395B4BBA-B211-5348-EA08-64F4445FEB07}"/>
                </a:ext>
              </a:extLst>
            </p:cNvPr>
            <p:cNvSpPr>
              <a:spLocks noEditPoints="1"/>
            </p:cNvSpPr>
            <p:nvPr/>
          </p:nvSpPr>
          <p:spPr bwMode="auto">
            <a:xfrm>
              <a:off x="2502152" y="4340098"/>
              <a:ext cx="1405469" cy="1058898"/>
            </a:xfrm>
            <a:custGeom>
              <a:avLst/>
              <a:gdLst>
                <a:gd name="T0" fmla="*/ 724 w 745"/>
                <a:gd name="T1" fmla="*/ 9 h 626"/>
                <a:gd name="T2" fmla="*/ 684 w 745"/>
                <a:gd name="T3" fmla="*/ 36 h 626"/>
                <a:gd name="T4" fmla="*/ 650 w 745"/>
                <a:gd name="T5" fmla="*/ 21 h 626"/>
                <a:gd name="T6" fmla="*/ 623 w 745"/>
                <a:gd name="T7" fmla="*/ 15 h 626"/>
                <a:gd name="T8" fmla="*/ 615 w 745"/>
                <a:gd name="T9" fmla="*/ 28 h 626"/>
                <a:gd name="T10" fmla="*/ 585 w 745"/>
                <a:gd name="T11" fmla="*/ 61 h 626"/>
                <a:gd name="T12" fmla="*/ 560 w 745"/>
                <a:gd name="T13" fmla="*/ 72 h 626"/>
                <a:gd name="T14" fmla="*/ 535 w 745"/>
                <a:gd name="T15" fmla="*/ 70 h 626"/>
                <a:gd name="T16" fmla="*/ 520 w 745"/>
                <a:gd name="T17" fmla="*/ 99 h 626"/>
                <a:gd name="T18" fmla="*/ 467 w 745"/>
                <a:gd name="T19" fmla="*/ 124 h 626"/>
                <a:gd name="T20" fmla="*/ 444 w 745"/>
                <a:gd name="T21" fmla="*/ 150 h 626"/>
                <a:gd name="T22" fmla="*/ 428 w 745"/>
                <a:gd name="T23" fmla="*/ 175 h 626"/>
                <a:gd name="T24" fmla="*/ 398 w 745"/>
                <a:gd name="T25" fmla="*/ 192 h 626"/>
                <a:gd name="T26" fmla="*/ 381 w 745"/>
                <a:gd name="T27" fmla="*/ 205 h 626"/>
                <a:gd name="T28" fmla="*/ 356 w 745"/>
                <a:gd name="T29" fmla="*/ 198 h 626"/>
                <a:gd name="T30" fmla="*/ 337 w 745"/>
                <a:gd name="T31" fmla="*/ 207 h 626"/>
                <a:gd name="T32" fmla="*/ 356 w 745"/>
                <a:gd name="T33" fmla="*/ 221 h 626"/>
                <a:gd name="T34" fmla="*/ 341 w 745"/>
                <a:gd name="T35" fmla="*/ 224 h 626"/>
                <a:gd name="T36" fmla="*/ 322 w 745"/>
                <a:gd name="T37" fmla="*/ 207 h 626"/>
                <a:gd name="T38" fmla="*/ 307 w 745"/>
                <a:gd name="T39" fmla="*/ 234 h 626"/>
                <a:gd name="T40" fmla="*/ 261 w 745"/>
                <a:gd name="T41" fmla="*/ 245 h 626"/>
                <a:gd name="T42" fmla="*/ 226 w 745"/>
                <a:gd name="T43" fmla="*/ 285 h 626"/>
                <a:gd name="T44" fmla="*/ 196 w 745"/>
                <a:gd name="T45" fmla="*/ 295 h 626"/>
                <a:gd name="T46" fmla="*/ 148 w 745"/>
                <a:gd name="T47" fmla="*/ 302 h 626"/>
                <a:gd name="T48" fmla="*/ 124 w 745"/>
                <a:gd name="T49" fmla="*/ 321 h 626"/>
                <a:gd name="T50" fmla="*/ 91 w 745"/>
                <a:gd name="T51" fmla="*/ 318 h 626"/>
                <a:gd name="T52" fmla="*/ 30 w 745"/>
                <a:gd name="T53" fmla="*/ 331 h 626"/>
                <a:gd name="T54" fmla="*/ 26 w 745"/>
                <a:gd name="T55" fmla="*/ 361 h 626"/>
                <a:gd name="T56" fmla="*/ 21 w 745"/>
                <a:gd name="T57" fmla="*/ 399 h 626"/>
                <a:gd name="T58" fmla="*/ 4 w 745"/>
                <a:gd name="T59" fmla="*/ 424 h 626"/>
                <a:gd name="T60" fmla="*/ 17 w 745"/>
                <a:gd name="T61" fmla="*/ 458 h 626"/>
                <a:gd name="T62" fmla="*/ 34 w 745"/>
                <a:gd name="T63" fmla="*/ 470 h 626"/>
                <a:gd name="T64" fmla="*/ 63 w 745"/>
                <a:gd name="T65" fmla="*/ 466 h 626"/>
                <a:gd name="T66" fmla="*/ 59 w 745"/>
                <a:gd name="T67" fmla="*/ 487 h 626"/>
                <a:gd name="T68" fmla="*/ 53 w 745"/>
                <a:gd name="T69" fmla="*/ 496 h 626"/>
                <a:gd name="T70" fmla="*/ 19 w 745"/>
                <a:gd name="T71" fmla="*/ 479 h 626"/>
                <a:gd name="T72" fmla="*/ 23 w 745"/>
                <a:gd name="T73" fmla="*/ 512 h 626"/>
                <a:gd name="T74" fmla="*/ 38 w 745"/>
                <a:gd name="T75" fmla="*/ 513 h 626"/>
                <a:gd name="T76" fmla="*/ 53 w 745"/>
                <a:gd name="T77" fmla="*/ 512 h 626"/>
                <a:gd name="T78" fmla="*/ 82 w 745"/>
                <a:gd name="T79" fmla="*/ 517 h 626"/>
                <a:gd name="T80" fmla="*/ 105 w 745"/>
                <a:gd name="T81" fmla="*/ 504 h 626"/>
                <a:gd name="T82" fmla="*/ 118 w 745"/>
                <a:gd name="T83" fmla="*/ 510 h 626"/>
                <a:gd name="T84" fmla="*/ 141 w 745"/>
                <a:gd name="T85" fmla="*/ 536 h 626"/>
                <a:gd name="T86" fmla="*/ 152 w 745"/>
                <a:gd name="T87" fmla="*/ 559 h 626"/>
                <a:gd name="T88" fmla="*/ 169 w 745"/>
                <a:gd name="T89" fmla="*/ 576 h 626"/>
                <a:gd name="T90" fmla="*/ 150 w 745"/>
                <a:gd name="T91" fmla="*/ 601 h 626"/>
                <a:gd name="T92" fmla="*/ 164 w 745"/>
                <a:gd name="T93" fmla="*/ 622 h 626"/>
                <a:gd name="T94" fmla="*/ 200 w 745"/>
                <a:gd name="T95" fmla="*/ 588 h 626"/>
                <a:gd name="T96" fmla="*/ 238 w 745"/>
                <a:gd name="T97" fmla="*/ 580 h 626"/>
                <a:gd name="T98" fmla="*/ 274 w 745"/>
                <a:gd name="T99" fmla="*/ 569 h 626"/>
                <a:gd name="T100" fmla="*/ 308 w 745"/>
                <a:gd name="T101" fmla="*/ 546 h 626"/>
                <a:gd name="T102" fmla="*/ 320 w 745"/>
                <a:gd name="T103" fmla="*/ 546 h 626"/>
                <a:gd name="T104" fmla="*/ 326 w 745"/>
                <a:gd name="T105" fmla="*/ 512 h 626"/>
                <a:gd name="T106" fmla="*/ 318 w 745"/>
                <a:gd name="T107" fmla="*/ 437 h 626"/>
                <a:gd name="T108" fmla="*/ 347 w 745"/>
                <a:gd name="T109" fmla="*/ 321 h 626"/>
                <a:gd name="T110" fmla="*/ 387 w 745"/>
                <a:gd name="T111" fmla="*/ 308 h 626"/>
                <a:gd name="T112" fmla="*/ 419 w 745"/>
                <a:gd name="T113" fmla="*/ 274 h 626"/>
                <a:gd name="T114" fmla="*/ 482 w 745"/>
                <a:gd name="T115" fmla="*/ 268 h 626"/>
                <a:gd name="T116" fmla="*/ 522 w 745"/>
                <a:gd name="T117" fmla="*/ 224 h 626"/>
                <a:gd name="T118" fmla="*/ 579 w 745"/>
                <a:gd name="T119" fmla="*/ 164 h 626"/>
                <a:gd name="T120" fmla="*/ 619 w 745"/>
                <a:gd name="T121" fmla="*/ 129 h 626"/>
                <a:gd name="T122" fmla="*/ 697 w 745"/>
                <a:gd name="T123" fmla="*/ 65 h 626"/>
                <a:gd name="T124" fmla="*/ 514 w 745"/>
                <a:gd name="T125" fmla="*/ 238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45" h="626">
                  <a:moveTo>
                    <a:pt x="743" y="6"/>
                  </a:moveTo>
                  <a:lnTo>
                    <a:pt x="743" y="6"/>
                  </a:lnTo>
                  <a:lnTo>
                    <a:pt x="743" y="6"/>
                  </a:lnTo>
                  <a:lnTo>
                    <a:pt x="743" y="8"/>
                  </a:lnTo>
                  <a:lnTo>
                    <a:pt x="741" y="9"/>
                  </a:lnTo>
                  <a:lnTo>
                    <a:pt x="739" y="8"/>
                  </a:lnTo>
                  <a:lnTo>
                    <a:pt x="739" y="8"/>
                  </a:lnTo>
                  <a:lnTo>
                    <a:pt x="739" y="6"/>
                  </a:lnTo>
                  <a:lnTo>
                    <a:pt x="739" y="6"/>
                  </a:lnTo>
                  <a:lnTo>
                    <a:pt x="739" y="4"/>
                  </a:lnTo>
                  <a:lnTo>
                    <a:pt x="739" y="2"/>
                  </a:lnTo>
                  <a:lnTo>
                    <a:pt x="741" y="2"/>
                  </a:lnTo>
                  <a:lnTo>
                    <a:pt x="741" y="2"/>
                  </a:lnTo>
                  <a:lnTo>
                    <a:pt x="743" y="4"/>
                  </a:lnTo>
                  <a:lnTo>
                    <a:pt x="743" y="6"/>
                  </a:lnTo>
                  <a:lnTo>
                    <a:pt x="745" y="6"/>
                  </a:lnTo>
                  <a:lnTo>
                    <a:pt x="743" y="2"/>
                  </a:lnTo>
                  <a:lnTo>
                    <a:pt x="743" y="2"/>
                  </a:lnTo>
                  <a:lnTo>
                    <a:pt x="743" y="2"/>
                  </a:lnTo>
                  <a:lnTo>
                    <a:pt x="741" y="0"/>
                  </a:lnTo>
                  <a:lnTo>
                    <a:pt x="741" y="0"/>
                  </a:lnTo>
                  <a:lnTo>
                    <a:pt x="737" y="0"/>
                  </a:lnTo>
                  <a:lnTo>
                    <a:pt x="737" y="0"/>
                  </a:lnTo>
                  <a:lnTo>
                    <a:pt x="735" y="0"/>
                  </a:lnTo>
                  <a:lnTo>
                    <a:pt x="735" y="2"/>
                  </a:lnTo>
                  <a:lnTo>
                    <a:pt x="735" y="2"/>
                  </a:lnTo>
                  <a:lnTo>
                    <a:pt x="735" y="2"/>
                  </a:lnTo>
                  <a:lnTo>
                    <a:pt x="735" y="4"/>
                  </a:lnTo>
                  <a:lnTo>
                    <a:pt x="735" y="4"/>
                  </a:lnTo>
                  <a:lnTo>
                    <a:pt x="735" y="6"/>
                  </a:lnTo>
                  <a:lnTo>
                    <a:pt x="735" y="6"/>
                  </a:lnTo>
                  <a:lnTo>
                    <a:pt x="733" y="8"/>
                  </a:lnTo>
                  <a:lnTo>
                    <a:pt x="733" y="8"/>
                  </a:lnTo>
                  <a:lnTo>
                    <a:pt x="733" y="8"/>
                  </a:lnTo>
                  <a:lnTo>
                    <a:pt x="731" y="8"/>
                  </a:lnTo>
                  <a:lnTo>
                    <a:pt x="731" y="6"/>
                  </a:lnTo>
                  <a:lnTo>
                    <a:pt x="724" y="9"/>
                  </a:lnTo>
                  <a:lnTo>
                    <a:pt x="724" y="11"/>
                  </a:lnTo>
                  <a:lnTo>
                    <a:pt x="720" y="13"/>
                  </a:lnTo>
                  <a:lnTo>
                    <a:pt x="720" y="13"/>
                  </a:lnTo>
                  <a:lnTo>
                    <a:pt x="718" y="13"/>
                  </a:lnTo>
                  <a:lnTo>
                    <a:pt x="718" y="13"/>
                  </a:lnTo>
                  <a:lnTo>
                    <a:pt x="716" y="13"/>
                  </a:lnTo>
                  <a:lnTo>
                    <a:pt x="716" y="13"/>
                  </a:lnTo>
                  <a:lnTo>
                    <a:pt x="716" y="13"/>
                  </a:lnTo>
                  <a:lnTo>
                    <a:pt x="716" y="15"/>
                  </a:lnTo>
                  <a:lnTo>
                    <a:pt x="716" y="15"/>
                  </a:lnTo>
                  <a:lnTo>
                    <a:pt x="716" y="17"/>
                  </a:lnTo>
                  <a:lnTo>
                    <a:pt x="716" y="17"/>
                  </a:lnTo>
                  <a:lnTo>
                    <a:pt x="714" y="17"/>
                  </a:lnTo>
                  <a:lnTo>
                    <a:pt x="714" y="19"/>
                  </a:lnTo>
                  <a:lnTo>
                    <a:pt x="714" y="19"/>
                  </a:lnTo>
                  <a:lnTo>
                    <a:pt x="714" y="19"/>
                  </a:lnTo>
                  <a:lnTo>
                    <a:pt x="714" y="19"/>
                  </a:lnTo>
                  <a:lnTo>
                    <a:pt x="716" y="21"/>
                  </a:lnTo>
                  <a:lnTo>
                    <a:pt x="716" y="21"/>
                  </a:lnTo>
                  <a:lnTo>
                    <a:pt x="714" y="21"/>
                  </a:lnTo>
                  <a:lnTo>
                    <a:pt x="712" y="25"/>
                  </a:lnTo>
                  <a:lnTo>
                    <a:pt x="710" y="27"/>
                  </a:lnTo>
                  <a:lnTo>
                    <a:pt x="710" y="27"/>
                  </a:lnTo>
                  <a:lnTo>
                    <a:pt x="709" y="27"/>
                  </a:lnTo>
                  <a:lnTo>
                    <a:pt x="709" y="27"/>
                  </a:lnTo>
                  <a:lnTo>
                    <a:pt x="709" y="27"/>
                  </a:lnTo>
                  <a:lnTo>
                    <a:pt x="707" y="28"/>
                  </a:lnTo>
                  <a:lnTo>
                    <a:pt x="707" y="30"/>
                  </a:lnTo>
                  <a:lnTo>
                    <a:pt x="705" y="32"/>
                  </a:lnTo>
                  <a:lnTo>
                    <a:pt x="703" y="34"/>
                  </a:lnTo>
                  <a:lnTo>
                    <a:pt x="701" y="34"/>
                  </a:lnTo>
                  <a:lnTo>
                    <a:pt x="695" y="36"/>
                  </a:lnTo>
                  <a:lnTo>
                    <a:pt x="690" y="36"/>
                  </a:lnTo>
                  <a:lnTo>
                    <a:pt x="688" y="38"/>
                  </a:lnTo>
                  <a:lnTo>
                    <a:pt x="686" y="36"/>
                  </a:lnTo>
                  <a:lnTo>
                    <a:pt x="686" y="36"/>
                  </a:lnTo>
                  <a:lnTo>
                    <a:pt x="684" y="36"/>
                  </a:lnTo>
                  <a:lnTo>
                    <a:pt x="682" y="36"/>
                  </a:lnTo>
                  <a:lnTo>
                    <a:pt x="680" y="36"/>
                  </a:lnTo>
                  <a:lnTo>
                    <a:pt x="680" y="34"/>
                  </a:lnTo>
                  <a:lnTo>
                    <a:pt x="678" y="34"/>
                  </a:lnTo>
                  <a:lnTo>
                    <a:pt x="678" y="34"/>
                  </a:lnTo>
                  <a:lnTo>
                    <a:pt x="672" y="34"/>
                  </a:lnTo>
                  <a:lnTo>
                    <a:pt x="667" y="34"/>
                  </a:lnTo>
                  <a:lnTo>
                    <a:pt x="663" y="36"/>
                  </a:lnTo>
                  <a:lnTo>
                    <a:pt x="663" y="34"/>
                  </a:lnTo>
                  <a:lnTo>
                    <a:pt x="663" y="34"/>
                  </a:lnTo>
                  <a:lnTo>
                    <a:pt x="661" y="34"/>
                  </a:lnTo>
                  <a:lnTo>
                    <a:pt x="661" y="34"/>
                  </a:lnTo>
                  <a:lnTo>
                    <a:pt x="661" y="34"/>
                  </a:lnTo>
                  <a:lnTo>
                    <a:pt x="661" y="32"/>
                  </a:lnTo>
                  <a:lnTo>
                    <a:pt x="659" y="32"/>
                  </a:lnTo>
                  <a:lnTo>
                    <a:pt x="659" y="30"/>
                  </a:lnTo>
                  <a:lnTo>
                    <a:pt x="659" y="30"/>
                  </a:lnTo>
                  <a:lnTo>
                    <a:pt x="659" y="30"/>
                  </a:lnTo>
                  <a:lnTo>
                    <a:pt x="659" y="28"/>
                  </a:lnTo>
                  <a:lnTo>
                    <a:pt x="657" y="27"/>
                  </a:lnTo>
                  <a:lnTo>
                    <a:pt x="657" y="25"/>
                  </a:lnTo>
                  <a:lnTo>
                    <a:pt x="655" y="25"/>
                  </a:lnTo>
                  <a:lnTo>
                    <a:pt x="655" y="21"/>
                  </a:lnTo>
                  <a:lnTo>
                    <a:pt x="653" y="17"/>
                  </a:lnTo>
                  <a:lnTo>
                    <a:pt x="651" y="15"/>
                  </a:lnTo>
                  <a:lnTo>
                    <a:pt x="651" y="15"/>
                  </a:lnTo>
                  <a:lnTo>
                    <a:pt x="650" y="15"/>
                  </a:lnTo>
                  <a:lnTo>
                    <a:pt x="650" y="15"/>
                  </a:lnTo>
                  <a:lnTo>
                    <a:pt x="650" y="17"/>
                  </a:lnTo>
                  <a:lnTo>
                    <a:pt x="650" y="17"/>
                  </a:lnTo>
                  <a:lnTo>
                    <a:pt x="650" y="17"/>
                  </a:lnTo>
                  <a:lnTo>
                    <a:pt x="650" y="17"/>
                  </a:lnTo>
                  <a:lnTo>
                    <a:pt x="650" y="19"/>
                  </a:lnTo>
                  <a:lnTo>
                    <a:pt x="650" y="19"/>
                  </a:lnTo>
                  <a:lnTo>
                    <a:pt x="650" y="19"/>
                  </a:lnTo>
                  <a:lnTo>
                    <a:pt x="650" y="21"/>
                  </a:lnTo>
                  <a:lnTo>
                    <a:pt x="650" y="21"/>
                  </a:lnTo>
                  <a:lnTo>
                    <a:pt x="650" y="23"/>
                  </a:lnTo>
                  <a:lnTo>
                    <a:pt x="648" y="23"/>
                  </a:lnTo>
                  <a:lnTo>
                    <a:pt x="648" y="23"/>
                  </a:lnTo>
                  <a:lnTo>
                    <a:pt x="648" y="23"/>
                  </a:lnTo>
                  <a:lnTo>
                    <a:pt x="648" y="21"/>
                  </a:lnTo>
                  <a:lnTo>
                    <a:pt x="646" y="15"/>
                  </a:lnTo>
                  <a:lnTo>
                    <a:pt x="644" y="15"/>
                  </a:lnTo>
                  <a:lnTo>
                    <a:pt x="644" y="13"/>
                  </a:lnTo>
                  <a:lnTo>
                    <a:pt x="640" y="9"/>
                  </a:lnTo>
                  <a:lnTo>
                    <a:pt x="638" y="8"/>
                  </a:lnTo>
                  <a:lnTo>
                    <a:pt x="638" y="6"/>
                  </a:lnTo>
                  <a:lnTo>
                    <a:pt x="636" y="4"/>
                  </a:lnTo>
                  <a:lnTo>
                    <a:pt x="636" y="4"/>
                  </a:lnTo>
                  <a:lnTo>
                    <a:pt x="634" y="4"/>
                  </a:lnTo>
                  <a:lnTo>
                    <a:pt x="634" y="6"/>
                  </a:lnTo>
                  <a:lnTo>
                    <a:pt x="634" y="6"/>
                  </a:lnTo>
                  <a:lnTo>
                    <a:pt x="634" y="8"/>
                  </a:lnTo>
                  <a:lnTo>
                    <a:pt x="634" y="8"/>
                  </a:lnTo>
                  <a:lnTo>
                    <a:pt x="632" y="9"/>
                  </a:lnTo>
                  <a:lnTo>
                    <a:pt x="630" y="9"/>
                  </a:lnTo>
                  <a:lnTo>
                    <a:pt x="630" y="11"/>
                  </a:lnTo>
                  <a:lnTo>
                    <a:pt x="630" y="11"/>
                  </a:lnTo>
                  <a:lnTo>
                    <a:pt x="629" y="13"/>
                  </a:lnTo>
                  <a:lnTo>
                    <a:pt x="629" y="15"/>
                  </a:lnTo>
                  <a:lnTo>
                    <a:pt x="629" y="15"/>
                  </a:lnTo>
                  <a:lnTo>
                    <a:pt x="627" y="15"/>
                  </a:lnTo>
                  <a:lnTo>
                    <a:pt x="627" y="15"/>
                  </a:lnTo>
                  <a:lnTo>
                    <a:pt x="627" y="15"/>
                  </a:lnTo>
                  <a:lnTo>
                    <a:pt x="625" y="13"/>
                  </a:lnTo>
                  <a:lnTo>
                    <a:pt x="625" y="11"/>
                  </a:lnTo>
                  <a:lnTo>
                    <a:pt x="625" y="9"/>
                  </a:lnTo>
                  <a:lnTo>
                    <a:pt x="623" y="9"/>
                  </a:lnTo>
                  <a:lnTo>
                    <a:pt x="623" y="9"/>
                  </a:lnTo>
                  <a:lnTo>
                    <a:pt x="623" y="9"/>
                  </a:lnTo>
                  <a:lnTo>
                    <a:pt x="623" y="9"/>
                  </a:lnTo>
                  <a:lnTo>
                    <a:pt x="623" y="13"/>
                  </a:lnTo>
                  <a:lnTo>
                    <a:pt x="623" y="15"/>
                  </a:lnTo>
                  <a:lnTo>
                    <a:pt x="623" y="15"/>
                  </a:lnTo>
                  <a:lnTo>
                    <a:pt x="621" y="15"/>
                  </a:lnTo>
                  <a:lnTo>
                    <a:pt x="621" y="15"/>
                  </a:lnTo>
                  <a:lnTo>
                    <a:pt x="621" y="17"/>
                  </a:lnTo>
                  <a:lnTo>
                    <a:pt x="621" y="17"/>
                  </a:lnTo>
                  <a:lnTo>
                    <a:pt x="621" y="17"/>
                  </a:lnTo>
                  <a:lnTo>
                    <a:pt x="621" y="17"/>
                  </a:lnTo>
                  <a:lnTo>
                    <a:pt x="621" y="19"/>
                  </a:lnTo>
                  <a:lnTo>
                    <a:pt x="621" y="19"/>
                  </a:lnTo>
                  <a:lnTo>
                    <a:pt x="621" y="21"/>
                  </a:lnTo>
                  <a:lnTo>
                    <a:pt x="619" y="19"/>
                  </a:lnTo>
                  <a:lnTo>
                    <a:pt x="617" y="19"/>
                  </a:lnTo>
                  <a:lnTo>
                    <a:pt x="615" y="17"/>
                  </a:lnTo>
                  <a:lnTo>
                    <a:pt x="613" y="17"/>
                  </a:lnTo>
                  <a:lnTo>
                    <a:pt x="613" y="17"/>
                  </a:lnTo>
                  <a:lnTo>
                    <a:pt x="613" y="17"/>
                  </a:lnTo>
                  <a:lnTo>
                    <a:pt x="611" y="15"/>
                  </a:lnTo>
                  <a:lnTo>
                    <a:pt x="609" y="15"/>
                  </a:lnTo>
                  <a:lnTo>
                    <a:pt x="609" y="15"/>
                  </a:lnTo>
                  <a:lnTo>
                    <a:pt x="609" y="17"/>
                  </a:lnTo>
                  <a:lnTo>
                    <a:pt x="608" y="17"/>
                  </a:lnTo>
                  <a:lnTo>
                    <a:pt x="608" y="17"/>
                  </a:lnTo>
                  <a:lnTo>
                    <a:pt x="608" y="19"/>
                  </a:lnTo>
                  <a:lnTo>
                    <a:pt x="608" y="19"/>
                  </a:lnTo>
                  <a:lnTo>
                    <a:pt x="608" y="19"/>
                  </a:lnTo>
                  <a:lnTo>
                    <a:pt x="609" y="21"/>
                  </a:lnTo>
                  <a:lnTo>
                    <a:pt x="609" y="21"/>
                  </a:lnTo>
                  <a:lnTo>
                    <a:pt x="609" y="23"/>
                  </a:lnTo>
                  <a:lnTo>
                    <a:pt x="609" y="23"/>
                  </a:lnTo>
                  <a:lnTo>
                    <a:pt x="611" y="25"/>
                  </a:lnTo>
                  <a:lnTo>
                    <a:pt x="611" y="27"/>
                  </a:lnTo>
                  <a:lnTo>
                    <a:pt x="613" y="27"/>
                  </a:lnTo>
                  <a:lnTo>
                    <a:pt x="613" y="27"/>
                  </a:lnTo>
                  <a:lnTo>
                    <a:pt x="613" y="27"/>
                  </a:lnTo>
                  <a:lnTo>
                    <a:pt x="613" y="27"/>
                  </a:lnTo>
                  <a:lnTo>
                    <a:pt x="615" y="27"/>
                  </a:lnTo>
                  <a:lnTo>
                    <a:pt x="615" y="28"/>
                  </a:lnTo>
                  <a:lnTo>
                    <a:pt x="615" y="28"/>
                  </a:lnTo>
                  <a:lnTo>
                    <a:pt x="615" y="28"/>
                  </a:lnTo>
                  <a:lnTo>
                    <a:pt x="615" y="28"/>
                  </a:lnTo>
                  <a:lnTo>
                    <a:pt x="617" y="28"/>
                  </a:lnTo>
                  <a:lnTo>
                    <a:pt x="617" y="30"/>
                  </a:lnTo>
                  <a:lnTo>
                    <a:pt x="615" y="30"/>
                  </a:lnTo>
                  <a:lnTo>
                    <a:pt x="615" y="32"/>
                  </a:lnTo>
                  <a:lnTo>
                    <a:pt x="613" y="32"/>
                  </a:lnTo>
                  <a:lnTo>
                    <a:pt x="611" y="32"/>
                  </a:lnTo>
                  <a:lnTo>
                    <a:pt x="609" y="34"/>
                  </a:lnTo>
                  <a:lnTo>
                    <a:pt x="608" y="36"/>
                  </a:lnTo>
                  <a:lnTo>
                    <a:pt x="606" y="38"/>
                  </a:lnTo>
                  <a:lnTo>
                    <a:pt x="604" y="40"/>
                  </a:lnTo>
                  <a:lnTo>
                    <a:pt x="598" y="42"/>
                  </a:lnTo>
                  <a:lnTo>
                    <a:pt x="598" y="42"/>
                  </a:lnTo>
                  <a:lnTo>
                    <a:pt x="596" y="40"/>
                  </a:lnTo>
                  <a:lnTo>
                    <a:pt x="596" y="40"/>
                  </a:lnTo>
                  <a:lnTo>
                    <a:pt x="594" y="40"/>
                  </a:lnTo>
                  <a:lnTo>
                    <a:pt x="594" y="40"/>
                  </a:lnTo>
                  <a:lnTo>
                    <a:pt x="592" y="40"/>
                  </a:lnTo>
                  <a:lnTo>
                    <a:pt x="592" y="40"/>
                  </a:lnTo>
                  <a:lnTo>
                    <a:pt x="590" y="42"/>
                  </a:lnTo>
                  <a:lnTo>
                    <a:pt x="589" y="44"/>
                  </a:lnTo>
                  <a:lnTo>
                    <a:pt x="587" y="46"/>
                  </a:lnTo>
                  <a:lnTo>
                    <a:pt x="587" y="48"/>
                  </a:lnTo>
                  <a:lnTo>
                    <a:pt x="585" y="49"/>
                  </a:lnTo>
                  <a:lnTo>
                    <a:pt x="583" y="51"/>
                  </a:lnTo>
                  <a:lnTo>
                    <a:pt x="583" y="51"/>
                  </a:lnTo>
                  <a:lnTo>
                    <a:pt x="583" y="53"/>
                  </a:lnTo>
                  <a:lnTo>
                    <a:pt x="583" y="53"/>
                  </a:lnTo>
                  <a:lnTo>
                    <a:pt x="583" y="53"/>
                  </a:lnTo>
                  <a:lnTo>
                    <a:pt x="581" y="55"/>
                  </a:lnTo>
                  <a:lnTo>
                    <a:pt x="581" y="55"/>
                  </a:lnTo>
                  <a:lnTo>
                    <a:pt x="581" y="57"/>
                  </a:lnTo>
                  <a:lnTo>
                    <a:pt x="583" y="59"/>
                  </a:lnTo>
                  <a:lnTo>
                    <a:pt x="585" y="61"/>
                  </a:lnTo>
                  <a:lnTo>
                    <a:pt x="585" y="61"/>
                  </a:lnTo>
                  <a:lnTo>
                    <a:pt x="585" y="61"/>
                  </a:lnTo>
                  <a:lnTo>
                    <a:pt x="587" y="61"/>
                  </a:lnTo>
                  <a:lnTo>
                    <a:pt x="587" y="61"/>
                  </a:lnTo>
                  <a:lnTo>
                    <a:pt x="587" y="61"/>
                  </a:lnTo>
                  <a:lnTo>
                    <a:pt x="587" y="61"/>
                  </a:lnTo>
                  <a:lnTo>
                    <a:pt x="587" y="63"/>
                  </a:lnTo>
                  <a:lnTo>
                    <a:pt x="583" y="68"/>
                  </a:lnTo>
                  <a:lnTo>
                    <a:pt x="583" y="68"/>
                  </a:lnTo>
                  <a:lnTo>
                    <a:pt x="583" y="70"/>
                  </a:lnTo>
                  <a:lnTo>
                    <a:pt x="583" y="70"/>
                  </a:lnTo>
                  <a:lnTo>
                    <a:pt x="583" y="70"/>
                  </a:lnTo>
                  <a:lnTo>
                    <a:pt x="583" y="72"/>
                  </a:lnTo>
                  <a:lnTo>
                    <a:pt x="585" y="72"/>
                  </a:lnTo>
                  <a:lnTo>
                    <a:pt x="583" y="76"/>
                  </a:lnTo>
                  <a:lnTo>
                    <a:pt x="583" y="76"/>
                  </a:lnTo>
                  <a:lnTo>
                    <a:pt x="581" y="76"/>
                  </a:lnTo>
                  <a:lnTo>
                    <a:pt x="581" y="76"/>
                  </a:lnTo>
                  <a:lnTo>
                    <a:pt x="579" y="76"/>
                  </a:lnTo>
                  <a:lnTo>
                    <a:pt x="579" y="78"/>
                  </a:lnTo>
                  <a:lnTo>
                    <a:pt x="575" y="78"/>
                  </a:lnTo>
                  <a:lnTo>
                    <a:pt x="575" y="78"/>
                  </a:lnTo>
                  <a:lnTo>
                    <a:pt x="571" y="80"/>
                  </a:lnTo>
                  <a:lnTo>
                    <a:pt x="569" y="78"/>
                  </a:lnTo>
                  <a:lnTo>
                    <a:pt x="569" y="78"/>
                  </a:lnTo>
                  <a:lnTo>
                    <a:pt x="569" y="78"/>
                  </a:lnTo>
                  <a:lnTo>
                    <a:pt x="569" y="76"/>
                  </a:lnTo>
                  <a:lnTo>
                    <a:pt x="569" y="74"/>
                  </a:lnTo>
                  <a:lnTo>
                    <a:pt x="569" y="74"/>
                  </a:lnTo>
                  <a:lnTo>
                    <a:pt x="569" y="74"/>
                  </a:lnTo>
                  <a:lnTo>
                    <a:pt x="568" y="74"/>
                  </a:lnTo>
                  <a:lnTo>
                    <a:pt x="566" y="74"/>
                  </a:lnTo>
                  <a:lnTo>
                    <a:pt x="566" y="72"/>
                  </a:lnTo>
                  <a:lnTo>
                    <a:pt x="564" y="72"/>
                  </a:lnTo>
                  <a:lnTo>
                    <a:pt x="564" y="72"/>
                  </a:lnTo>
                  <a:lnTo>
                    <a:pt x="562" y="72"/>
                  </a:lnTo>
                  <a:lnTo>
                    <a:pt x="560" y="72"/>
                  </a:lnTo>
                  <a:lnTo>
                    <a:pt x="560" y="72"/>
                  </a:lnTo>
                  <a:lnTo>
                    <a:pt x="560" y="74"/>
                  </a:lnTo>
                  <a:lnTo>
                    <a:pt x="560" y="76"/>
                  </a:lnTo>
                  <a:lnTo>
                    <a:pt x="560" y="78"/>
                  </a:lnTo>
                  <a:lnTo>
                    <a:pt x="560" y="78"/>
                  </a:lnTo>
                  <a:lnTo>
                    <a:pt x="558" y="80"/>
                  </a:lnTo>
                  <a:lnTo>
                    <a:pt x="558" y="80"/>
                  </a:lnTo>
                  <a:lnTo>
                    <a:pt x="554" y="82"/>
                  </a:lnTo>
                  <a:lnTo>
                    <a:pt x="552" y="84"/>
                  </a:lnTo>
                  <a:lnTo>
                    <a:pt x="550" y="86"/>
                  </a:lnTo>
                  <a:lnTo>
                    <a:pt x="549" y="86"/>
                  </a:lnTo>
                  <a:lnTo>
                    <a:pt x="549" y="86"/>
                  </a:lnTo>
                  <a:lnTo>
                    <a:pt x="549" y="87"/>
                  </a:lnTo>
                  <a:lnTo>
                    <a:pt x="549" y="89"/>
                  </a:lnTo>
                  <a:lnTo>
                    <a:pt x="549" y="89"/>
                  </a:lnTo>
                  <a:lnTo>
                    <a:pt x="547" y="91"/>
                  </a:lnTo>
                  <a:lnTo>
                    <a:pt x="547" y="91"/>
                  </a:lnTo>
                  <a:lnTo>
                    <a:pt x="545" y="91"/>
                  </a:lnTo>
                  <a:lnTo>
                    <a:pt x="545" y="91"/>
                  </a:lnTo>
                  <a:lnTo>
                    <a:pt x="543" y="91"/>
                  </a:lnTo>
                  <a:lnTo>
                    <a:pt x="543" y="89"/>
                  </a:lnTo>
                  <a:lnTo>
                    <a:pt x="541" y="89"/>
                  </a:lnTo>
                  <a:lnTo>
                    <a:pt x="541" y="89"/>
                  </a:lnTo>
                  <a:lnTo>
                    <a:pt x="541" y="87"/>
                  </a:lnTo>
                  <a:lnTo>
                    <a:pt x="541" y="87"/>
                  </a:lnTo>
                  <a:lnTo>
                    <a:pt x="541" y="86"/>
                  </a:lnTo>
                  <a:lnTo>
                    <a:pt x="543" y="84"/>
                  </a:lnTo>
                  <a:lnTo>
                    <a:pt x="543" y="82"/>
                  </a:lnTo>
                  <a:lnTo>
                    <a:pt x="543" y="82"/>
                  </a:lnTo>
                  <a:lnTo>
                    <a:pt x="543" y="82"/>
                  </a:lnTo>
                  <a:lnTo>
                    <a:pt x="543" y="80"/>
                  </a:lnTo>
                  <a:lnTo>
                    <a:pt x="541" y="80"/>
                  </a:lnTo>
                  <a:lnTo>
                    <a:pt x="541" y="80"/>
                  </a:lnTo>
                  <a:lnTo>
                    <a:pt x="537" y="74"/>
                  </a:lnTo>
                  <a:lnTo>
                    <a:pt x="535" y="74"/>
                  </a:lnTo>
                  <a:lnTo>
                    <a:pt x="535" y="72"/>
                  </a:lnTo>
                  <a:lnTo>
                    <a:pt x="535" y="72"/>
                  </a:lnTo>
                  <a:lnTo>
                    <a:pt x="535" y="70"/>
                  </a:lnTo>
                  <a:lnTo>
                    <a:pt x="535" y="68"/>
                  </a:lnTo>
                  <a:lnTo>
                    <a:pt x="535" y="68"/>
                  </a:lnTo>
                  <a:lnTo>
                    <a:pt x="535" y="67"/>
                  </a:lnTo>
                  <a:lnTo>
                    <a:pt x="535" y="67"/>
                  </a:lnTo>
                  <a:lnTo>
                    <a:pt x="535" y="67"/>
                  </a:lnTo>
                  <a:lnTo>
                    <a:pt x="535" y="65"/>
                  </a:lnTo>
                  <a:lnTo>
                    <a:pt x="535" y="65"/>
                  </a:lnTo>
                  <a:lnTo>
                    <a:pt x="533" y="65"/>
                  </a:lnTo>
                  <a:lnTo>
                    <a:pt x="533" y="65"/>
                  </a:lnTo>
                  <a:lnTo>
                    <a:pt x="533" y="65"/>
                  </a:lnTo>
                  <a:lnTo>
                    <a:pt x="531" y="65"/>
                  </a:lnTo>
                  <a:lnTo>
                    <a:pt x="531" y="63"/>
                  </a:lnTo>
                  <a:lnTo>
                    <a:pt x="529" y="63"/>
                  </a:lnTo>
                  <a:lnTo>
                    <a:pt x="528" y="63"/>
                  </a:lnTo>
                  <a:lnTo>
                    <a:pt x="528" y="65"/>
                  </a:lnTo>
                  <a:lnTo>
                    <a:pt x="526" y="67"/>
                  </a:lnTo>
                  <a:lnTo>
                    <a:pt x="526" y="68"/>
                  </a:lnTo>
                  <a:lnTo>
                    <a:pt x="522" y="72"/>
                  </a:lnTo>
                  <a:lnTo>
                    <a:pt x="522" y="72"/>
                  </a:lnTo>
                  <a:lnTo>
                    <a:pt x="522" y="74"/>
                  </a:lnTo>
                  <a:lnTo>
                    <a:pt x="522" y="74"/>
                  </a:lnTo>
                  <a:lnTo>
                    <a:pt x="522" y="76"/>
                  </a:lnTo>
                  <a:lnTo>
                    <a:pt x="522" y="78"/>
                  </a:lnTo>
                  <a:lnTo>
                    <a:pt x="520" y="82"/>
                  </a:lnTo>
                  <a:lnTo>
                    <a:pt x="520" y="82"/>
                  </a:lnTo>
                  <a:lnTo>
                    <a:pt x="520" y="82"/>
                  </a:lnTo>
                  <a:lnTo>
                    <a:pt x="520" y="84"/>
                  </a:lnTo>
                  <a:lnTo>
                    <a:pt x="520" y="86"/>
                  </a:lnTo>
                  <a:lnTo>
                    <a:pt x="520" y="86"/>
                  </a:lnTo>
                  <a:lnTo>
                    <a:pt x="520" y="87"/>
                  </a:lnTo>
                  <a:lnTo>
                    <a:pt x="516" y="93"/>
                  </a:lnTo>
                  <a:lnTo>
                    <a:pt x="516" y="93"/>
                  </a:lnTo>
                  <a:lnTo>
                    <a:pt x="516" y="95"/>
                  </a:lnTo>
                  <a:lnTo>
                    <a:pt x="516" y="95"/>
                  </a:lnTo>
                  <a:lnTo>
                    <a:pt x="518" y="97"/>
                  </a:lnTo>
                  <a:lnTo>
                    <a:pt x="520" y="99"/>
                  </a:lnTo>
                  <a:lnTo>
                    <a:pt x="520" y="99"/>
                  </a:lnTo>
                  <a:lnTo>
                    <a:pt x="520" y="101"/>
                  </a:lnTo>
                  <a:lnTo>
                    <a:pt x="520" y="101"/>
                  </a:lnTo>
                  <a:lnTo>
                    <a:pt x="520" y="101"/>
                  </a:lnTo>
                  <a:lnTo>
                    <a:pt x="518" y="103"/>
                  </a:lnTo>
                  <a:lnTo>
                    <a:pt x="518" y="103"/>
                  </a:lnTo>
                  <a:lnTo>
                    <a:pt x="518" y="105"/>
                  </a:lnTo>
                  <a:lnTo>
                    <a:pt x="518" y="106"/>
                  </a:lnTo>
                  <a:lnTo>
                    <a:pt x="518" y="106"/>
                  </a:lnTo>
                  <a:lnTo>
                    <a:pt x="518" y="108"/>
                  </a:lnTo>
                  <a:lnTo>
                    <a:pt x="518" y="108"/>
                  </a:lnTo>
                  <a:lnTo>
                    <a:pt x="516" y="110"/>
                  </a:lnTo>
                  <a:lnTo>
                    <a:pt x="514" y="108"/>
                  </a:lnTo>
                  <a:lnTo>
                    <a:pt x="512" y="110"/>
                  </a:lnTo>
                  <a:lnTo>
                    <a:pt x="512" y="110"/>
                  </a:lnTo>
                  <a:lnTo>
                    <a:pt x="512" y="112"/>
                  </a:lnTo>
                  <a:lnTo>
                    <a:pt x="510" y="112"/>
                  </a:lnTo>
                  <a:lnTo>
                    <a:pt x="510" y="114"/>
                  </a:lnTo>
                  <a:lnTo>
                    <a:pt x="510" y="114"/>
                  </a:lnTo>
                  <a:lnTo>
                    <a:pt x="508" y="114"/>
                  </a:lnTo>
                  <a:lnTo>
                    <a:pt x="508" y="114"/>
                  </a:lnTo>
                  <a:lnTo>
                    <a:pt x="507" y="114"/>
                  </a:lnTo>
                  <a:lnTo>
                    <a:pt x="507" y="114"/>
                  </a:lnTo>
                  <a:lnTo>
                    <a:pt x="505" y="114"/>
                  </a:lnTo>
                  <a:lnTo>
                    <a:pt x="505" y="114"/>
                  </a:lnTo>
                  <a:lnTo>
                    <a:pt x="505" y="114"/>
                  </a:lnTo>
                  <a:lnTo>
                    <a:pt x="503" y="112"/>
                  </a:lnTo>
                  <a:lnTo>
                    <a:pt x="501" y="110"/>
                  </a:lnTo>
                  <a:lnTo>
                    <a:pt x="499" y="110"/>
                  </a:lnTo>
                  <a:lnTo>
                    <a:pt x="495" y="108"/>
                  </a:lnTo>
                  <a:lnTo>
                    <a:pt x="491" y="108"/>
                  </a:lnTo>
                  <a:lnTo>
                    <a:pt x="488" y="112"/>
                  </a:lnTo>
                  <a:lnTo>
                    <a:pt x="484" y="114"/>
                  </a:lnTo>
                  <a:lnTo>
                    <a:pt x="480" y="114"/>
                  </a:lnTo>
                  <a:lnTo>
                    <a:pt x="472" y="120"/>
                  </a:lnTo>
                  <a:lnTo>
                    <a:pt x="465" y="122"/>
                  </a:lnTo>
                  <a:lnTo>
                    <a:pt x="465" y="122"/>
                  </a:lnTo>
                  <a:lnTo>
                    <a:pt x="467" y="124"/>
                  </a:lnTo>
                  <a:lnTo>
                    <a:pt x="467" y="125"/>
                  </a:lnTo>
                  <a:lnTo>
                    <a:pt x="467" y="125"/>
                  </a:lnTo>
                  <a:lnTo>
                    <a:pt x="468" y="127"/>
                  </a:lnTo>
                  <a:lnTo>
                    <a:pt x="468" y="127"/>
                  </a:lnTo>
                  <a:lnTo>
                    <a:pt x="468" y="129"/>
                  </a:lnTo>
                  <a:lnTo>
                    <a:pt x="468" y="129"/>
                  </a:lnTo>
                  <a:lnTo>
                    <a:pt x="467" y="129"/>
                  </a:lnTo>
                  <a:lnTo>
                    <a:pt x="467" y="129"/>
                  </a:lnTo>
                  <a:lnTo>
                    <a:pt x="465" y="131"/>
                  </a:lnTo>
                  <a:lnTo>
                    <a:pt x="463" y="131"/>
                  </a:lnTo>
                  <a:lnTo>
                    <a:pt x="463" y="131"/>
                  </a:lnTo>
                  <a:lnTo>
                    <a:pt x="463" y="131"/>
                  </a:lnTo>
                  <a:lnTo>
                    <a:pt x="461" y="133"/>
                  </a:lnTo>
                  <a:lnTo>
                    <a:pt x="461" y="133"/>
                  </a:lnTo>
                  <a:lnTo>
                    <a:pt x="459" y="135"/>
                  </a:lnTo>
                  <a:lnTo>
                    <a:pt x="459" y="135"/>
                  </a:lnTo>
                  <a:lnTo>
                    <a:pt x="459" y="135"/>
                  </a:lnTo>
                  <a:lnTo>
                    <a:pt x="457" y="137"/>
                  </a:lnTo>
                  <a:lnTo>
                    <a:pt x="455" y="137"/>
                  </a:lnTo>
                  <a:lnTo>
                    <a:pt x="455" y="137"/>
                  </a:lnTo>
                  <a:lnTo>
                    <a:pt x="453" y="137"/>
                  </a:lnTo>
                  <a:lnTo>
                    <a:pt x="451" y="137"/>
                  </a:lnTo>
                  <a:lnTo>
                    <a:pt x="451" y="139"/>
                  </a:lnTo>
                  <a:lnTo>
                    <a:pt x="451" y="139"/>
                  </a:lnTo>
                  <a:lnTo>
                    <a:pt x="449" y="139"/>
                  </a:lnTo>
                  <a:lnTo>
                    <a:pt x="448" y="141"/>
                  </a:lnTo>
                  <a:lnTo>
                    <a:pt x="448" y="141"/>
                  </a:lnTo>
                  <a:lnTo>
                    <a:pt x="448" y="141"/>
                  </a:lnTo>
                  <a:lnTo>
                    <a:pt x="448" y="143"/>
                  </a:lnTo>
                  <a:lnTo>
                    <a:pt x="448" y="145"/>
                  </a:lnTo>
                  <a:lnTo>
                    <a:pt x="448" y="145"/>
                  </a:lnTo>
                  <a:lnTo>
                    <a:pt x="448" y="145"/>
                  </a:lnTo>
                  <a:lnTo>
                    <a:pt x="446" y="146"/>
                  </a:lnTo>
                  <a:lnTo>
                    <a:pt x="446" y="146"/>
                  </a:lnTo>
                  <a:lnTo>
                    <a:pt x="446" y="148"/>
                  </a:lnTo>
                  <a:lnTo>
                    <a:pt x="444" y="148"/>
                  </a:lnTo>
                  <a:lnTo>
                    <a:pt x="444" y="150"/>
                  </a:lnTo>
                  <a:lnTo>
                    <a:pt x="442" y="152"/>
                  </a:lnTo>
                  <a:lnTo>
                    <a:pt x="442" y="152"/>
                  </a:lnTo>
                  <a:lnTo>
                    <a:pt x="442" y="152"/>
                  </a:lnTo>
                  <a:lnTo>
                    <a:pt x="442" y="152"/>
                  </a:lnTo>
                  <a:lnTo>
                    <a:pt x="442" y="154"/>
                  </a:lnTo>
                  <a:lnTo>
                    <a:pt x="442" y="154"/>
                  </a:lnTo>
                  <a:lnTo>
                    <a:pt x="444" y="154"/>
                  </a:lnTo>
                  <a:lnTo>
                    <a:pt x="444" y="154"/>
                  </a:lnTo>
                  <a:lnTo>
                    <a:pt x="444" y="156"/>
                  </a:lnTo>
                  <a:lnTo>
                    <a:pt x="444" y="156"/>
                  </a:lnTo>
                  <a:lnTo>
                    <a:pt x="442" y="156"/>
                  </a:lnTo>
                  <a:lnTo>
                    <a:pt x="442" y="158"/>
                  </a:lnTo>
                  <a:lnTo>
                    <a:pt x="442" y="158"/>
                  </a:lnTo>
                  <a:lnTo>
                    <a:pt x="442" y="158"/>
                  </a:lnTo>
                  <a:lnTo>
                    <a:pt x="442" y="162"/>
                  </a:lnTo>
                  <a:lnTo>
                    <a:pt x="442" y="162"/>
                  </a:lnTo>
                  <a:lnTo>
                    <a:pt x="442" y="164"/>
                  </a:lnTo>
                  <a:lnTo>
                    <a:pt x="440" y="164"/>
                  </a:lnTo>
                  <a:lnTo>
                    <a:pt x="440" y="165"/>
                  </a:lnTo>
                  <a:lnTo>
                    <a:pt x="442" y="165"/>
                  </a:lnTo>
                  <a:lnTo>
                    <a:pt x="442" y="165"/>
                  </a:lnTo>
                  <a:lnTo>
                    <a:pt x="440" y="167"/>
                  </a:lnTo>
                  <a:lnTo>
                    <a:pt x="440" y="169"/>
                  </a:lnTo>
                  <a:lnTo>
                    <a:pt x="438" y="169"/>
                  </a:lnTo>
                  <a:lnTo>
                    <a:pt x="438" y="171"/>
                  </a:lnTo>
                  <a:lnTo>
                    <a:pt x="436" y="171"/>
                  </a:lnTo>
                  <a:lnTo>
                    <a:pt x="436" y="173"/>
                  </a:lnTo>
                  <a:lnTo>
                    <a:pt x="436" y="173"/>
                  </a:lnTo>
                  <a:lnTo>
                    <a:pt x="436" y="173"/>
                  </a:lnTo>
                  <a:lnTo>
                    <a:pt x="434" y="175"/>
                  </a:lnTo>
                  <a:lnTo>
                    <a:pt x="434" y="175"/>
                  </a:lnTo>
                  <a:lnTo>
                    <a:pt x="434" y="175"/>
                  </a:lnTo>
                  <a:lnTo>
                    <a:pt x="432" y="175"/>
                  </a:lnTo>
                  <a:lnTo>
                    <a:pt x="430" y="175"/>
                  </a:lnTo>
                  <a:lnTo>
                    <a:pt x="430" y="175"/>
                  </a:lnTo>
                  <a:lnTo>
                    <a:pt x="430" y="175"/>
                  </a:lnTo>
                  <a:lnTo>
                    <a:pt x="428" y="175"/>
                  </a:lnTo>
                  <a:lnTo>
                    <a:pt x="427" y="175"/>
                  </a:lnTo>
                  <a:lnTo>
                    <a:pt x="427" y="173"/>
                  </a:lnTo>
                  <a:lnTo>
                    <a:pt x="427" y="173"/>
                  </a:lnTo>
                  <a:lnTo>
                    <a:pt x="427" y="173"/>
                  </a:lnTo>
                  <a:lnTo>
                    <a:pt x="427" y="173"/>
                  </a:lnTo>
                  <a:lnTo>
                    <a:pt x="425" y="173"/>
                  </a:lnTo>
                  <a:lnTo>
                    <a:pt x="425" y="173"/>
                  </a:lnTo>
                  <a:lnTo>
                    <a:pt x="425" y="173"/>
                  </a:lnTo>
                  <a:lnTo>
                    <a:pt x="423" y="175"/>
                  </a:lnTo>
                  <a:lnTo>
                    <a:pt x="423" y="177"/>
                  </a:lnTo>
                  <a:lnTo>
                    <a:pt x="423" y="177"/>
                  </a:lnTo>
                  <a:lnTo>
                    <a:pt x="421" y="179"/>
                  </a:lnTo>
                  <a:lnTo>
                    <a:pt x="419" y="179"/>
                  </a:lnTo>
                  <a:lnTo>
                    <a:pt x="419" y="179"/>
                  </a:lnTo>
                  <a:lnTo>
                    <a:pt x="419" y="179"/>
                  </a:lnTo>
                  <a:lnTo>
                    <a:pt x="417" y="179"/>
                  </a:lnTo>
                  <a:lnTo>
                    <a:pt x="415" y="179"/>
                  </a:lnTo>
                  <a:lnTo>
                    <a:pt x="413" y="179"/>
                  </a:lnTo>
                  <a:lnTo>
                    <a:pt x="411" y="179"/>
                  </a:lnTo>
                  <a:lnTo>
                    <a:pt x="411" y="181"/>
                  </a:lnTo>
                  <a:lnTo>
                    <a:pt x="411" y="181"/>
                  </a:lnTo>
                  <a:lnTo>
                    <a:pt x="411" y="181"/>
                  </a:lnTo>
                  <a:lnTo>
                    <a:pt x="411" y="184"/>
                  </a:lnTo>
                  <a:lnTo>
                    <a:pt x="411" y="184"/>
                  </a:lnTo>
                  <a:lnTo>
                    <a:pt x="411" y="186"/>
                  </a:lnTo>
                  <a:lnTo>
                    <a:pt x="411" y="186"/>
                  </a:lnTo>
                  <a:lnTo>
                    <a:pt x="409" y="188"/>
                  </a:lnTo>
                  <a:lnTo>
                    <a:pt x="409" y="188"/>
                  </a:lnTo>
                  <a:lnTo>
                    <a:pt x="406" y="188"/>
                  </a:lnTo>
                  <a:lnTo>
                    <a:pt x="404" y="190"/>
                  </a:lnTo>
                  <a:lnTo>
                    <a:pt x="402" y="190"/>
                  </a:lnTo>
                  <a:lnTo>
                    <a:pt x="400" y="190"/>
                  </a:lnTo>
                  <a:lnTo>
                    <a:pt x="400" y="190"/>
                  </a:lnTo>
                  <a:lnTo>
                    <a:pt x="400" y="190"/>
                  </a:lnTo>
                  <a:lnTo>
                    <a:pt x="398" y="190"/>
                  </a:lnTo>
                  <a:lnTo>
                    <a:pt x="398" y="190"/>
                  </a:lnTo>
                  <a:lnTo>
                    <a:pt x="398" y="192"/>
                  </a:lnTo>
                  <a:lnTo>
                    <a:pt x="398" y="192"/>
                  </a:lnTo>
                  <a:lnTo>
                    <a:pt x="396" y="192"/>
                  </a:lnTo>
                  <a:lnTo>
                    <a:pt x="394" y="192"/>
                  </a:lnTo>
                  <a:lnTo>
                    <a:pt x="394" y="192"/>
                  </a:lnTo>
                  <a:lnTo>
                    <a:pt x="394" y="192"/>
                  </a:lnTo>
                  <a:lnTo>
                    <a:pt x="392" y="192"/>
                  </a:lnTo>
                  <a:lnTo>
                    <a:pt x="390" y="192"/>
                  </a:lnTo>
                  <a:lnTo>
                    <a:pt x="390" y="192"/>
                  </a:lnTo>
                  <a:lnTo>
                    <a:pt x="390" y="190"/>
                  </a:lnTo>
                  <a:lnTo>
                    <a:pt x="388" y="190"/>
                  </a:lnTo>
                  <a:lnTo>
                    <a:pt x="388" y="190"/>
                  </a:lnTo>
                  <a:lnTo>
                    <a:pt x="387" y="190"/>
                  </a:lnTo>
                  <a:lnTo>
                    <a:pt x="387" y="190"/>
                  </a:lnTo>
                  <a:lnTo>
                    <a:pt x="387" y="192"/>
                  </a:lnTo>
                  <a:lnTo>
                    <a:pt x="387" y="192"/>
                  </a:lnTo>
                  <a:lnTo>
                    <a:pt x="387" y="192"/>
                  </a:lnTo>
                  <a:lnTo>
                    <a:pt x="387" y="194"/>
                  </a:lnTo>
                  <a:lnTo>
                    <a:pt x="387" y="194"/>
                  </a:lnTo>
                  <a:lnTo>
                    <a:pt x="387" y="194"/>
                  </a:lnTo>
                  <a:lnTo>
                    <a:pt x="387" y="196"/>
                  </a:lnTo>
                  <a:lnTo>
                    <a:pt x="387" y="196"/>
                  </a:lnTo>
                  <a:lnTo>
                    <a:pt x="387" y="196"/>
                  </a:lnTo>
                  <a:lnTo>
                    <a:pt x="387" y="196"/>
                  </a:lnTo>
                  <a:lnTo>
                    <a:pt x="385" y="196"/>
                  </a:lnTo>
                  <a:lnTo>
                    <a:pt x="385" y="196"/>
                  </a:lnTo>
                  <a:lnTo>
                    <a:pt x="385" y="196"/>
                  </a:lnTo>
                  <a:lnTo>
                    <a:pt x="383" y="196"/>
                  </a:lnTo>
                  <a:lnTo>
                    <a:pt x="383" y="198"/>
                  </a:lnTo>
                  <a:lnTo>
                    <a:pt x="383" y="198"/>
                  </a:lnTo>
                  <a:lnTo>
                    <a:pt x="381" y="200"/>
                  </a:lnTo>
                  <a:lnTo>
                    <a:pt x="383" y="202"/>
                  </a:lnTo>
                  <a:lnTo>
                    <a:pt x="383" y="202"/>
                  </a:lnTo>
                  <a:lnTo>
                    <a:pt x="383" y="202"/>
                  </a:lnTo>
                  <a:lnTo>
                    <a:pt x="383" y="203"/>
                  </a:lnTo>
                  <a:lnTo>
                    <a:pt x="383" y="205"/>
                  </a:lnTo>
                  <a:lnTo>
                    <a:pt x="381" y="205"/>
                  </a:lnTo>
                  <a:lnTo>
                    <a:pt x="381" y="205"/>
                  </a:lnTo>
                  <a:lnTo>
                    <a:pt x="381" y="207"/>
                  </a:lnTo>
                  <a:lnTo>
                    <a:pt x="379" y="207"/>
                  </a:lnTo>
                  <a:lnTo>
                    <a:pt x="379" y="207"/>
                  </a:lnTo>
                  <a:lnTo>
                    <a:pt x="379" y="207"/>
                  </a:lnTo>
                  <a:lnTo>
                    <a:pt x="377" y="205"/>
                  </a:lnTo>
                  <a:lnTo>
                    <a:pt x="375" y="205"/>
                  </a:lnTo>
                  <a:lnTo>
                    <a:pt x="375" y="205"/>
                  </a:lnTo>
                  <a:lnTo>
                    <a:pt x="375" y="205"/>
                  </a:lnTo>
                  <a:lnTo>
                    <a:pt x="373" y="205"/>
                  </a:lnTo>
                  <a:lnTo>
                    <a:pt x="371" y="205"/>
                  </a:lnTo>
                  <a:lnTo>
                    <a:pt x="369" y="203"/>
                  </a:lnTo>
                  <a:lnTo>
                    <a:pt x="369" y="203"/>
                  </a:lnTo>
                  <a:lnTo>
                    <a:pt x="367" y="203"/>
                  </a:lnTo>
                  <a:lnTo>
                    <a:pt x="366" y="203"/>
                  </a:lnTo>
                  <a:lnTo>
                    <a:pt x="366" y="203"/>
                  </a:lnTo>
                  <a:lnTo>
                    <a:pt x="366" y="203"/>
                  </a:lnTo>
                  <a:lnTo>
                    <a:pt x="364" y="203"/>
                  </a:lnTo>
                  <a:lnTo>
                    <a:pt x="364" y="205"/>
                  </a:lnTo>
                  <a:lnTo>
                    <a:pt x="364" y="205"/>
                  </a:lnTo>
                  <a:lnTo>
                    <a:pt x="362" y="205"/>
                  </a:lnTo>
                  <a:lnTo>
                    <a:pt x="362" y="203"/>
                  </a:lnTo>
                  <a:lnTo>
                    <a:pt x="362" y="203"/>
                  </a:lnTo>
                  <a:lnTo>
                    <a:pt x="362" y="203"/>
                  </a:lnTo>
                  <a:lnTo>
                    <a:pt x="362" y="203"/>
                  </a:lnTo>
                  <a:lnTo>
                    <a:pt x="364" y="202"/>
                  </a:lnTo>
                  <a:lnTo>
                    <a:pt x="364" y="202"/>
                  </a:lnTo>
                  <a:lnTo>
                    <a:pt x="362" y="202"/>
                  </a:lnTo>
                  <a:lnTo>
                    <a:pt x="362" y="202"/>
                  </a:lnTo>
                  <a:lnTo>
                    <a:pt x="360" y="200"/>
                  </a:lnTo>
                  <a:lnTo>
                    <a:pt x="362" y="200"/>
                  </a:lnTo>
                  <a:lnTo>
                    <a:pt x="360" y="200"/>
                  </a:lnTo>
                  <a:lnTo>
                    <a:pt x="360" y="200"/>
                  </a:lnTo>
                  <a:lnTo>
                    <a:pt x="360" y="200"/>
                  </a:lnTo>
                  <a:lnTo>
                    <a:pt x="358" y="200"/>
                  </a:lnTo>
                  <a:lnTo>
                    <a:pt x="358" y="198"/>
                  </a:lnTo>
                  <a:lnTo>
                    <a:pt x="356" y="198"/>
                  </a:lnTo>
                  <a:lnTo>
                    <a:pt x="356" y="198"/>
                  </a:lnTo>
                  <a:lnTo>
                    <a:pt x="354" y="196"/>
                  </a:lnTo>
                  <a:lnTo>
                    <a:pt x="354" y="198"/>
                  </a:lnTo>
                  <a:lnTo>
                    <a:pt x="352" y="198"/>
                  </a:lnTo>
                  <a:lnTo>
                    <a:pt x="352" y="198"/>
                  </a:lnTo>
                  <a:lnTo>
                    <a:pt x="352" y="200"/>
                  </a:lnTo>
                  <a:lnTo>
                    <a:pt x="350" y="200"/>
                  </a:lnTo>
                  <a:lnTo>
                    <a:pt x="350" y="200"/>
                  </a:lnTo>
                  <a:lnTo>
                    <a:pt x="348" y="200"/>
                  </a:lnTo>
                  <a:lnTo>
                    <a:pt x="348" y="200"/>
                  </a:lnTo>
                  <a:lnTo>
                    <a:pt x="348" y="202"/>
                  </a:lnTo>
                  <a:lnTo>
                    <a:pt x="348" y="202"/>
                  </a:lnTo>
                  <a:lnTo>
                    <a:pt x="348" y="202"/>
                  </a:lnTo>
                  <a:lnTo>
                    <a:pt x="348" y="203"/>
                  </a:lnTo>
                  <a:lnTo>
                    <a:pt x="348" y="205"/>
                  </a:lnTo>
                  <a:lnTo>
                    <a:pt x="347" y="205"/>
                  </a:lnTo>
                  <a:lnTo>
                    <a:pt x="347" y="205"/>
                  </a:lnTo>
                  <a:lnTo>
                    <a:pt x="347" y="207"/>
                  </a:lnTo>
                  <a:lnTo>
                    <a:pt x="347" y="207"/>
                  </a:lnTo>
                  <a:lnTo>
                    <a:pt x="345" y="207"/>
                  </a:lnTo>
                  <a:lnTo>
                    <a:pt x="345" y="209"/>
                  </a:lnTo>
                  <a:lnTo>
                    <a:pt x="343" y="207"/>
                  </a:lnTo>
                  <a:lnTo>
                    <a:pt x="341" y="207"/>
                  </a:lnTo>
                  <a:lnTo>
                    <a:pt x="341" y="207"/>
                  </a:lnTo>
                  <a:lnTo>
                    <a:pt x="341" y="205"/>
                  </a:lnTo>
                  <a:lnTo>
                    <a:pt x="339" y="205"/>
                  </a:lnTo>
                  <a:lnTo>
                    <a:pt x="339" y="203"/>
                  </a:lnTo>
                  <a:lnTo>
                    <a:pt x="339" y="203"/>
                  </a:lnTo>
                  <a:lnTo>
                    <a:pt x="339" y="203"/>
                  </a:lnTo>
                  <a:lnTo>
                    <a:pt x="339" y="203"/>
                  </a:lnTo>
                  <a:lnTo>
                    <a:pt x="339" y="203"/>
                  </a:lnTo>
                  <a:lnTo>
                    <a:pt x="339" y="203"/>
                  </a:lnTo>
                  <a:lnTo>
                    <a:pt x="337" y="203"/>
                  </a:lnTo>
                  <a:lnTo>
                    <a:pt x="337" y="203"/>
                  </a:lnTo>
                  <a:lnTo>
                    <a:pt x="337" y="205"/>
                  </a:lnTo>
                  <a:lnTo>
                    <a:pt x="337" y="205"/>
                  </a:lnTo>
                  <a:lnTo>
                    <a:pt x="337" y="205"/>
                  </a:lnTo>
                  <a:lnTo>
                    <a:pt x="337" y="207"/>
                  </a:lnTo>
                  <a:lnTo>
                    <a:pt x="337" y="207"/>
                  </a:lnTo>
                  <a:lnTo>
                    <a:pt x="337" y="207"/>
                  </a:lnTo>
                  <a:lnTo>
                    <a:pt x="339" y="207"/>
                  </a:lnTo>
                  <a:lnTo>
                    <a:pt x="339" y="209"/>
                  </a:lnTo>
                  <a:lnTo>
                    <a:pt x="339" y="209"/>
                  </a:lnTo>
                  <a:lnTo>
                    <a:pt x="339" y="209"/>
                  </a:lnTo>
                  <a:lnTo>
                    <a:pt x="339" y="209"/>
                  </a:lnTo>
                  <a:lnTo>
                    <a:pt x="337" y="211"/>
                  </a:lnTo>
                  <a:lnTo>
                    <a:pt x="337" y="211"/>
                  </a:lnTo>
                  <a:lnTo>
                    <a:pt x="337" y="211"/>
                  </a:lnTo>
                  <a:lnTo>
                    <a:pt x="337" y="211"/>
                  </a:lnTo>
                  <a:lnTo>
                    <a:pt x="337" y="213"/>
                  </a:lnTo>
                  <a:lnTo>
                    <a:pt x="335" y="213"/>
                  </a:lnTo>
                  <a:lnTo>
                    <a:pt x="337" y="213"/>
                  </a:lnTo>
                  <a:lnTo>
                    <a:pt x="339" y="213"/>
                  </a:lnTo>
                  <a:lnTo>
                    <a:pt x="339" y="215"/>
                  </a:lnTo>
                  <a:lnTo>
                    <a:pt x="341" y="215"/>
                  </a:lnTo>
                  <a:lnTo>
                    <a:pt x="345" y="215"/>
                  </a:lnTo>
                  <a:lnTo>
                    <a:pt x="345" y="217"/>
                  </a:lnTo>
                  <a:lnTo>
                    <a:pt x="347" y="217"/>
                  </a:lnTo>
                  <a:lnTo>
                    <a:pt x="347" y="217"/>
                  </a:lnTo>
                  <a:lnTo>
                    <a:pt x="347" y="217"/>
                  </a:lnTo>
                  <a:lnTo>
                    <a:pt x="348" y="219"/>
                  </a:lnTo>
                  <a:lnTo>
                    <a:pt x="348" y="217"/>
                  </a:lnTo>
                  <a:lnTo>
                    <a:pt x="348" y="217"/>
                  </a:lnTo>
                  <a:lnTo>
                    <a:pt x="348" y="215"/>
                  </a:lnTo>
                  <a:lnTo>
                    <a:pt x="350" y="215"/>
                  </a:lnTo>
                  <a:lnTo>
                    <a:pt x="350" y="217"/>
                  </a:lnTo>
                  <a:lnTo>
                    <a:pt x="352" y="215"/>
                  </a:lnTo>
                  <a:lnTo>
                    <a:pt x="356" y="217"/>
                  </a:lnTo>
                  <a:lnTo>
                    <a:pt x="356" y="217"/>
                  </a:lnTo>
                  <a:lnTo>
                    <a:pt x="358" y="219"/>
                  </a:lnTo>
                  <a:lnTo>
                    <a:pt x="358" y="219"/>
                  </a:lnTo>
                  <a:lnTo>
                    <a:pt x="358" y="219"/>
                  </a:lnTo>
                  <a:lnTo>
                    <a:pt x="356" y="219"/>
                  </a:lnTo>
                  <a:lnTo>
                    <a:pt x="356" y="219"/>
                  </a:lnTo>
                  <a:lnTo>
                    <a:pt x="356" y="221"/>
                  </a:lnTo>
                  <a:lnTo>
                    <a:pt x="356" y="221"/>
                  </a:lnTo>
                  <a:lnTo>
                    <a:pt x="356" y="221"/>
                  </a:lnTo>
                  <a:lnTo>
                    <a:pt x="358" y="222"/>
                  </a:lnTo>
                  <a:lnTo>
                    <a:pt x="356" y="222"/>
                  </a:lnTo>
                  <a:lnTo>
                    <a:pt x="354" y="222"/>
                  </a:lnTo>
                  <a:lnTo>
                    <a:pt x="354" y="224"/>
                  </a:lnTo>
                  <a:lnTo>
                    <a:pt x="354" y="224"/>
                  </a:lnTo>
                  <a:lnTo>
                    <a:pt x="354" y="226"/>
                  </a:lnTo>
                  <a:lnTo>
                    <a:pt x="354" y="226"/>
                  </a:lnTo>
                  <a:lnTo>
                    <a:pt x="354" y="228"/>
                  </a:lnTo>
                  <a:lnTo>
                    <a:pt x="354" y="228"/>
                  </a:lnTo>
                  <a:lnTo>
                    <a:pt x="356" y="228"/>
                  </a:lnTo>
                  <a:lnTo>
                    <a:pt x="356" y="228"/>
                  </a:lnTo>
                  <a:lnTo>
                    <a:pt x="356" y="228"/>
                  </a:lnTo>
                  <a:lnTo>
                    <a:pt x="358" y="230"/>
                  </a:lnTo>
                  <a:lnTo>
                    <a:pt x="358" y="230"/>
                  </a:lnTo>
                  <a:lnTo>
                    <a:pt x="358" y="230"/>
                  </a:lnTo>
                  <a:lnTo>
                    <a:pt x="358" y="230"/>
                  </a:lnTo>
                  <a:lnTo>
                    <a:pt x="356" y="232"/>
                  </a:lnTo>
                  <a:lnTo>
                    <a:pt x="354" y="232"/>
                  </a:lnTo>
                  <a:lnTo>
                    <a:pt x="354" y="232"/>
                  </a:lnTo>
                  <a:lnTo>
                    <a:pt x="352" y="232"/>
                  </a:lnTo>
                  <a:lnTo>
                    <a:pt x="350" y="232"/>
                  </a:lnTo>
                  <a:lnTo>
                    <a:pt x="350" y="232"/>
                  </a:lnTo>
                  <a:lnTo>
                    <a:pt x="348" y="232"/>
                  </a:lnTo>
                  <a:lnTo>
                    <a:pt x="348" y="232"/>
                  </a:lnTo>
                  <a:lnTo>
                    <a:pt x="347" y="230"/>
                  </a:lnTo>
                  <a:lnTo>
                    <a:pt x="347" y="230"/>
                  </a:lnTo>
                  <a:lnTo>
                    <a:pt x="345" y="230"/>
                  </a:lnTo>
                  <a:lnTo>
                    <a:pt x="345" y="228"/>
                  </a:lnTo>
                  <a:lnTo>
                    <a:pt x="345" y="228"/>
                  </a:lnTo>
                  <a:lnTo>
                    <a:pt x="345" y="228"/>
                  </a:lnTo>
                  <a:lnTo>
                    <a:pt x="343" y="226"/>
                  </a:lnTo>
                  <a:lnTo>
                    <a:pt x="343" y="226"/>
                  </a:lnTo>
                  <a:lnTo>
                    <a:pt x="343" y="226"/>
                  </a:lnTo>
                  <a:lnTo>
                    <a:pt x="341" y="226"/>
                  </a:lnTo>
                  <a:lnTo>
                    <a:pt x="341" y="224"/>
                  </a:lnTo>
                  <a:lnTo>
                    <a:pt x="339" y="224"/>
                  </a:lnTo>
                  <a:lnTo>
                    <a:pt x="339" y="226"/>
                  </a:lnTo>
                  <a:lnTo>
                    <a:pt x="339" y="226"/>
                  </a:lnTo>
                  <a:lnTo>
                    <a:pt x="339" y="226"/>
                  </a:lnTo>
                  <a:lnTo>
                    <a:pt x="337" y="228"/>
                  </a:lnTo>
                  <a:lnTo>
                    <a:pt x="337" y="228"/>
                  </a:lnTo>
                  <a:lnTo>
                    <a:pt x="337" y="228"/>
                  </a:lnTo>
                  <a:lnTo>
                    <a:pt x="337" y="228"/>
                  </a:lnTo>
                  <a:lnTo>
                    <a:pt x="337" y="226"/>
                  </a:lnTo>
                  <a:lnTo>
                    <a:pt x="337" y="226"/>
                  </a:lnTo>
                  <a:lnTo>
                    <a:pt x="337" y="224"/>
                  </a:lnTo>
                  <a:lnTo>
                    <a:pt x="335" y="224"/>
                  </a:lnTo>
                  <a:lnTo>
                    <a:pt x="335" y="224"/>
                  </a:lnTo>
                  <a:lnTo>
                    <a:pt x="333" y="224"/>
                  </a:lnTo>
                  <a:lnTo>
                    <a:pt x="333" y="222"/>
                  </a:lnTo>
                  <a:lnTo>
                    <a:pt x="333" y="222"/>
                  </a:lnTo>
                  <a:lnTo>
                    <a:pt x="333" y="222"/>
                  </a:lnTo>
                  <a:lnTo>
                    <a:pt x="333" y="222"/>
                  </a:lnTo>
                  <a:lnTo>
                    <a:pt x="331" y="221"/>
                  </a:lnTo>
                  <a:lnTo>
                    <a:pt x="331" y="221"/>
                  </a:lnTo>
                  <a:lnTo>
                    <a:pt x="331" y="219"/>
                  </a:lnTo>
                  <a:lnTo>
                    <a:pt x="331" y="219"/>
                  </a:lnTo>
                  <a:lnTo>
                    <a:pt x="331" y="217"/>
                  </a:lnTo>
                  <a:lnTo>
                    <a:pt x="331" y="217"/>
                  </a:lnTo>
                  <a:lnTo>
                    <a:pt x="331" y="215"/>
                  </a:lnTo>
                  <a:lnTo>
                    <a:pt x="329" y="213"/>
                  </a:lnTo>
                  <a:lnTo>
                    <a:pt x="327" y="211"/>
                  </a:lnTo>
                  <a:lnTo>
                    <a:pt x="327" y="209"/>
                  </a:lnTo>
                  <a:lnTo>
                    <a:pt x="326" y="209"/>
                  </a:lnTo>
                  <a:lnTo>
                    <a:pt x="326" y="209"/>
                  </a:lnTo>
                  <a:lnTo>
                    <a:pt x="324" y="209"/>
                  </a:lnTo>
                  <a:lnTo>
                    <a:pt x="324" y="209"/>
                  </a:lnTo>
                  <a:lnTo>
                    <a:pt x="324" y="207"/>
                  </a:lnTo>
                  <a:lnTo>
                    <a:pt x="322" y="207"/>
                  </a:lnTo>
                  <a:lnTo>
                    <a:pt x="322" y="209"/>
                  </a:lnTo>
                  <a:lnTo>
                    <a:pt x="322" y="209"/>
                  </a:lnTo>
                  <a:lnTo>
                    <a:pt x="322" y="207"/>
                  </a:lnTo>
                  <a:lnTo>
                    <a:pt x="320" y="205"/>
                  </a:lnTo>
                  <a:lnTo>
                    <a:pt x="320" y="205"/>
                  </a:lnTo>
                  <a:lnTo>
                    <a:pt x="318" y="207"/>
                  </a:lnTo>
                  <a:lnTo>
                    <a:pt x="318" y="207"/>
                  </a:lnTo>
                  <a:lnTo>
                    <a:pt x="316" y="209"/>
                  </a:lnTo>
                  <a:lnTo>
                    <a:pt x="316" y="209"/>
                  </a:lnTo>
                  <a:lnTo>
                    <a:pt x="316" y="211"/>
                  </a:lnTo>
                  <a:lnTo>
                    <a:pt x="316" y="211"/>
                  </a:lnTo>
                  <a:lnTo>
                    <a:pt x="314" y="211"/>
                  </a:lnTo>
                  <a:lnTo>
                    <a:pt x="314" y="211"/>
                  </a:lnTo>
                  <a:lnTo>
                    <a:pt x="314" y="211"/>
                  </a:lnTo>
                  <a:lnTo>
                    <a:pt x="314" y="211"/>
                  </a:lnTo>
                  <a:lnTo>
                    <a:pt x="312" y="211"/>
                  </a:lnTo>
                  <a:lnTo>
                    <a:pt x="312" y="211"/>
                  </a:lnTo>
                  <a:lnTo>
                    <a:pt x="310" y="211"/>
                  </a:lnTo>
                  <a:lnTo>
                    <a:pt x="310" y="213"/>
                  </a:lnTo>
                  <a:lnTo>
                    <a:pt x="310" y="213"/>
                  </a:lnTo>
                  <a:lnTo>
                    <a:pt x="307" y="213"/>
                  </a:lnTo>
                  <a:lnTo>
                    <a:pt x="307" y="217"/>
                  </a:lnTo>
                  <a:lnTo>
                    <a:pt x="305" y="217"/>
                  </a:lnTo>
                  <a:lnTo>
                    <a:pt x="305" y="219"/>
                  </a:lnTo>
                  <a:lnTo>
                    <a:pt x="305" y="219"/>
                  </a:lnTo>
                  <a:lnTo>
                    <a:pt x="303" y="221"/>
                  </a:lnTo>
                  <a:lnTo>
                    <a:pt x="303" y="222"/>
                  </a:lnTo>
                  <a:lnTo>
                    <a:pt x="303" y="222"/>
                  </a:lnTo>
                  <a:lnTo>
                    <a:pt x="303" y="222"/>
                  </a:lnTo>
                  <a:lnTo>
                    <a:pt x="305" y="224"/>
                  </a:lnTo>
                  <a:lnTo>
                    <a:pt x="307" y="224"/>
                  </a:lnTo>
                  <a:lnTo>
                    <a:pt x="307" y="224"/>
                  </a:lnTo>
                  <a:lnTo>
                    <a:pt x="307" y="226"/>
                  </a:lnTo>
                  <a:lnTo>
                    <a:pt x="307" y="226"/>
                  </a:lnTo>
                  <a:lnTo>
                    <a:pt x="307" y="226"/>
                  </a:lnTo>
                  <a:lnTo>
                    <a:pt x="308" y="228"/>
                  </a:lnTo>
                  <a:lnTo>
                    <a:pt x="308" y="228"/>
                  </a:lnTo>
                  <a:lnTo>
                    <a:pt x="308" y="232"/>
                  </a:lnTo>
                  <a:lnTo>
                    <a:pt x="308" y="232"/>
                  </a:lnTo>
                  <a:lnTo>
                    <a:pt x="307" y="234"/>
                  </a:lnTo>
                  <a:lnTo>
                    <a:pt x="307" y="236"/>
                  </a:lnTo>
                  <a:lnTo>
                    <a:pt x="307" y="236"/>
                  </a:lnTo>
                  <a:lnTo>
                    <a:pt x="305" y="238"/>
                  </a:lnTo>
                  <a:lnTo>
                    <a:pt x="305" y="238"/>
                  </a:lnTo>
                  <a:lnTo>
                    <a:pt x="303" y="238"/>
                  </a:lnTo>
                  <a:lnTo>
                    <a:pt x="303" y="240"/>
                  </a:lnTo>
                  <a:lnTo>
                    <a:pt x="303" y="240"/>
                  </a:lnTo>
                  <a:lnTo>
                    <a:pt x="301" y="243"/>
                  </a:lnTo>
                  <a:lnTo>
                    <a:pt x="299" y="245"/>
                  </a:lnTo>
                  <a:lnTo>
                    <a:pt x="297" y="245"/>
                  </a:lnTo>
                  <a:lnTo>
                    <a:pt x="295" y="245"/>
                  </a:lnTo>
                  <a:lnTo>
                    <a:pt x="295" y="245"/>
                  </a:lnTo>
                  <a:lnTo>
                    <a:pt x="293" y="245"/>
                  </a:lnTo>
                  <a:lnTo>
                    <a:pt x="293" y="243"/>
                  </a:lnTo>
                  <a:lnTo>
                    <a:pt x="291" y="242"/>
                  </a:lnTo>
                  <a:lnTo>
                    <a:pt x="291" y="240"/>
                  </a:lnTo>
                  <a:lnTo>
                    <a:pt x="289" y="240"/>
                  </a:lnTo>
                  <a:lnTo>
                    <a:pt x="289" y="240"/>
                  </a:lnTo>
                  <a:lnTo>
                    <a:pt x="287" y="240"/>
                  </a:lnTo>
                  <a:lnTo>
                    <a:pt x="286" y="240"/>
                  </a:lnTo>
                  <a:lnTo>
                    <a:pt x="284" y="236"/>
                  </a:lnTo>
                  <a:lnTo>
                    <a:pt x="282" y="236"/>
                  </a:lnTo>
                  <a:lnTo>
                    <a:pt x="282" y="236"/>
                  </a:lnTo>
                  <a:lnTo>
                    <a:pt x="280" y="238"/>
                  </a:lnTo>
                  <a:lnTo>
                    <a:pt x="278" y="240"/>
                  </a:lnTo>
                  <a:lnTo>
                    <a:pt x="278" y="240"/>
                  </a:lnTo>
                  <a:lnTo>
                    <a:pt x="274" y="240"/>
                  </a:lnTo>
                  <a:lnTo>
                    <a:pt x="272" y="240"/>
                  </a:lnTo>
                  <a:lnTo>
                    <a:pt x="270" y="242"/>
                  </a:lnTo>
                  <a:lnTo>
                    <a:pt x="270" y="243"/>
                  </a:lnTo>
                  <a:lnTo>
                    <a:pt x="268" y="243"/>
                  </a:lnTo>
                  <a:lnTo>
                    <a:pt x="268" y="242"/>
                  </a:lnTo>
                  <a:lnTo>
                    <a:pt x="266" y="243"/>
                  </a:lnTo>
                  <a:lnTo>
                    <a:pt x="265" y="243"/>
                  </a:lnTo>
                  <a:lnTo>
                    <a:pt x="263" y="245"/>
                  </a:lnTo>
                  <a:lnTo>
                    <a:pt x="263" y="245"/>
                  </a:lnTo>
                  <a:lnTo>
                    <a:pt x="261" y="245"/>
                  </a:lnTo>
                  <a:lnTo>
                    <a:pt x="261" y="245"/>
                  </a:lnTo>
                  <a:lnTo>
                    <a:pt x="257" y="245"/>
                  </a:lnTo>
                  <a:lnTo>
                    <a:pt x="257" y="245"/>
                  </a:lnTo>
                  <a:lnTo>
                    <a:pt x="253" y="247"/>
                  </a:lnTo>
                  <a:lnTo>
                    <a:pt x="251" y="247"/>
                  </a:lnTo>
                  <a:lnTo>
                    <a:pt x="251" y="249"/>
                  </a:lnTo>
                  <a:lnTo>
                    <a:pt x="251" y="249"/>
                  </a:lnTo>
                  <a:lnTo>
                    <a:pt x="249" y="251"/>
                  </a:lnTo>
                  <a:lnTo>
                    <a:pt x="247" y="251"/>
                  </a:lnTo>
                  <a:lnTo>
                    <a:pt x="242" y="251"/>
                  </a:lnTo>
                  <a:lnTo>
                    <a:pt x="242" y="251"/>
                  </a:lnTo>
                  <a:lnTo>
                    <a:pt x="240" y="251"/>
                  </a:lnTo>
                  <a:lnTo>
                    <a:pt x="238" y="251"/>
                  </a:lnTo>
                  <a:lnTo>
                    <a:pt x="236" y="251"/>
                  </a:lnTo>
                  <a:lnTo>
                    <a:pt x="236" y="253"/>
                  </a:lnTo>
                  <a:lnTo>
                    <a:pt x="234" y="253"/>
                  </a:lnTo>
                  <a:lnTo>
                    <a:pt x="232" y="257"/>
                  </a:lnTo>
                  <a:lnTo>
                    <a:pt x="232" y="257"/>
                  </a:lnTo>
                  <a:lnTo>
                    <a:pt x="230" y="259"/>
                  </a:lnTo>
                  <a:lnTo>
                    <a:pt x="232" y="261"/>
                  </a:lnTo>
                  <a:lnTo>
                    <a:pt x="232" y="261"/>
                  </a:lnTo>
                  <a:lnTo>
                    <a:pt x="232" y="262"/>
                  </a:lnTo>
                  <a:lnTo>
                    <a:pt x="232" y="262"/>
                  </a:lnTo>
                  <a:lnTo>
                    <a:pt x="230" y="264"/>
                  </a:lnTo>
                  <a:lnTo>
                    <a:pt x="230" y="266"/>
                  </a:lnTo>
                  <a:lnTo>
                    <a:pt x="230" y="268"/>
                  </a:lnTo>
                  <a:lnTo>
                    <a:pt x="230" y="270"/>
                  </a:lnTo>
                  <a:lnTo>
                    <a:pt x="230" y="272"/>
                  </a:lnTo>
                  <a:lnTo>
                    <a:pt x="230" y="272"/>
                  </a:lnTo>
                  <a:lnTo>
                    <a:pt x="232" y="274"/>
                  </a:lnTo>
                  <a:lnTo>
                    <a:pt x="232" y="278"/>
                  </a:lnTo>
                  <a:lnTo>
                    <a:pt x="232" y="281"/>
                  </a:lnTo>
                  <a:lnTo>
                    <a:pt x="230" y="283"/>
                  </a:lnTo>
                  <a:lnTo>
                    <a:pt x="230" y="283"/>
                  </a:lnTo>
                  <a:lnTo>
                    <a:pt x="228" y="285"/>
                  </a:lnTo>
                  <a:lnTo>
                    <a:pt x="226" y="285"/>
                  </a:lnTo>
                  <a:lnTo>
                    <a:pt x="226" y="285"/>
                  </a:lnTo>
                  <a:lnTo>
                    <a:pt x="225" y="285"/>
                  </a:lnTo>
                  <a:lnTo>
                    <a:pt x="225" y="283"/>
                  </a:lnTo>
                  <a:lnTo>
                    <a:pt x="223" y="283"/>
                  </a:lnTo>
                  <a:lnTo>
                    <a:pt x="223" y="283"/>
                  </a:lnTo>
                  <a:lnTo>
                    <a:pt x="217" y="283"/>
                  </a:lnTo>
                  <a:lnTo>
                    <a:pt x="215" y="283"/>
                  </a:lnTo>
                  <a:lnTo>
                    <a:pt x="215" y="283"/>
                  </a:lnTo>
                  <a:lnTo>
                    <a:pt x="213" y="283"/>
                  </a:lnTo>
                  <a:lnTo>
                    <a:pt x="213" y="283"/>
                  </a:lnTo>
                  <a:lnTo>
                    <a:pt x="211" y="283"/>
                  </a:lnTo>
                  <a:lnTo>
                    <a:pt x="209" y="283"/>
                  </a:lnTo>
                  <a:lnTo>
                    <a:pt x="209" y="285"/>
                  </a:lnTo>
                  <a:lnTo>
                    <a:pt x="207" y="285"/>
                  </a:lnTo>
                  <a:lnTo>
                    <a:pt x="206" y="285"/>
                  </a:lnTo>
                  <a:lnTo>
                    <a:pt x="204" y="287"/>
                  </a:lnTo>
                  <a:lnTo>
                    <a:pt x="202" y="287"/>
                  </a:lnTo>
                  <a:lnTo>
                    <a:pt x="202" y="289"/>
                  </a:lnTo>
                  <a:lnTo>
                    <a:pt x="202" y="291"/>
                  </a:lnTo>
                  <a:lnTo>
                    <a:pt x="204" y="293"/>
                  </a:lnTo>
                  <a:lnTo>
                    <a:pt x="204" y="295"/>
                  </a:lnTo>
                  <a:lnTo>
                    <a:pt x="204" y="295"/>
                  </a:lnTo>
                  <a:lnTo>
                    <a:pt x="202" y="297"/>
                  </a:lnTo>
                  <a:lnTo>
                    <a:pt x="202" y="297"/>
                  </a:lnTo>
                  <a:lnTo>
                    <a:pt x="202" y="297"/>
                  </a:lnTo>
                  <a:lnTo>
                    <a:pt x="200" y="297"/>
                  </a:lnTo>
                  <a:lnTo>
                    <a:pt x="198" y="295"/>
                  </a:lnTo>
                  <a:lnTo>
                    <a:pt x="198" y="295"/>
                  </a:lnTo>
                  <a:lnTo>
                    <a:pt x="198" y="293"/>
                  </a:lnTo>
                  <a:lnTo>
                    <a:pt x="198" y="293"/>
                  </a:lnTo>
                  <a:lnTo>
                    <a:pt x="198" y="291"/>
                  </a:lnTo>
                  <a:lnTo>
                    <a:pt x="198" y="291"/>
                  </a:lnTo>
                  <a:lnTo>
                    <a:pt x="196" y="291"/>
                  </a:lnTo>
                  <a:lnTo>
                    <a:pt x="196" y="291"/>
                  </a:lnTo>
                  <a:lnTo>
                    <a:pt x="194" y="291"/>
                  </a:lnTo>
                  <a:lnTo>
                    <a:pt x="194" y="293"/>
                  </a:lnTo>
                  <a:lnTo>
                    <a:pt x="194" y="293"/>
                  </a:lnTo>
                  <a:lnTo>
                    <a:pt x="196" y="295"/>
                  </a:lnTo>
                  <a:lnTo>
                    <a:pt x="196" y="295"/>
                  </a:lnTo>
                  <a:lnTo>
                    <a:pt x="196" y="297"/>
                  </a:lnTo>
                  <a:lnTo>
                    <a:pt x="196" y="297"/>
                  </a:lnTo>
                  <a:lnTo>
                    <a:pt x="196" y="299"/>
                  </a:lnTo>
                  <a:lnTo>
                    <a:pt x="194" y="300"/>
                  </a:lnTo>
                  <a:lnTo>
                    <a:pt x="194" y="300"/>
                  </a:lnTo>
                  <a:lnTo>
                    <a:pt x="192" y="302"/>
                  </a:lnTo>
                  <a:lnTo>
                    <a:pt x="190" y="302"/>
                  </a:lnTo>
                  <a:lnTo>
                    <a:pt x="190" y="304"/>
                  </a:lnTo>
                  <a:lnTo>
                    <a:pt x="188" y="304"/>
                  </a:lnTo>
                  <a:lnTo>
                    <a:pt x="186" y="304"/>
                  </a:lnTo>
                  <a:lnTo>
                    <a:pt x="185" y="304"/>
                  </a:lnTo>
                  <a:lnTo>
                    <a:pt x="185" y="304"/>
                  </a:lnTo>
                  <a:lnTo>
                    <a:pt x="181" y="302"/>
                  </a:lnTo>
                  <a:lnTo>
                    <a:pt x="181" y="302"/>
                  </a:lnTo>
                  <a:lnTo>
                    <a:pt x="181" y="300"/>
                  </a:lnTo>
                  <a:lnTo>
                    <a:pt x="179" y="299"/>
                  </a:lnTo>
                  <a:lnTo>
                    <a:pt x="179" y="299"/>
                  </a:lnTo>
                  <a:lnTo>
                    <a:pt x="177" y="297"/>
                  </a:lnTo>
                  <a:lnTo>
                    <a:pt x="175" y="297"/>
                  </a:lnTo>
                  <a:lnTo>
                    <a:pt x="173" y="297"/>
                  </a:lnTo>
                  <a:lnTo>
                    <a:pt x="173" y="299"/>
                  </a:lnTo>
                  <a:lnTo>
                    <a:pt x="171" y="299"/>
                  </a:lnTo>
                  <a:lnTo>
                    <a:pt x="171" y="300"/>
                  </a:lnTo>
                  <a:lnTo>
                    <a:pt x="169" y="300"/>
                  </a:lnTo>
                  <a:lnTo>
                    <a:pt x="169" y="300"/>
                  </a:lnTo>
                  <a:lnTo>
                    <a:pt x="167" y="300"/>
                  </a:lnTo>
                  <a:lnTo>
                    <a:pt x="165" y="300"/>
                  </a:lnTo>
                  <a:lnTo>
                    <a:pt x="164" y="299"/>
                  </a:lnTo>
                  <a:lnTo>
                    <a:pt x="160" y="299"/>
                  </a:lnTo>
                  <a:lnTo>
                    <a:pt x="158" y="299"/>
                  </a:lnTo>
                  <a:lnTo>
                    <a:pt x="156" y="299"/>
                  </a:lnTo>
                  <a:lnTo>
                    <a:pt x="154" y="299"/>
                  </a:lnTo>
                  <a:lnTo>
                    <a:pt x="152" y="300"/>
                  </a:lnTo>
                  <a:lnTo>
                    <a:pt x="150" y="300"/>
                  </a:lnTo>
                  <a:lnTo>
                    <a:pt x="150" y="300"/>
                  </a:lnTo>
                  <a:lnTo>
                    <a:pt x="148" y="302"/>
                  </a:lnTo>
                  <a:lnTo>
                    <a:pt x="148" y="302"/>
                  </a:lnTo>
                  <a:lnTo>
                    <a:pt x="146" y="304"/>
                  </a:lnTo>
                  <a:lnTo>
                    <a:pt x="145" y="304"/>
                  </a:lnTo>
                  <a:lnTo>
                    <a:pt x="145" y="302"/>
                  </a:lnTo>
                  <a:lnTo>
                    <a:pt x="143" y="302"/>
                  </a:lnTo>
                  <a:lnTo>
                    <a:pt x="143" y="302"/>
                  </a:lnTo>
                  <a:lnTo>
                    <a:pt x="141" y="304"/>
                  </a:lnTo>
                  <a:lnTo>
                    <a:pt x="143" y="306"/>
                  </a:lnTo>
                  <a:lnTo>
                    <a:pt x="143" y="306"/>
                  </a:lnTo>
                  <a:lnTo>
                    <a:pt x="141" y="308"/>
                  </a:lnTo>
                  <a:lnTo>
                    <a:pt x="141" y="308"/>
                  </a:lnTo>
                  <a:lnTo>
                    <a:pt x="141" y="310"/>
                  </a:lnTo>
                  <a:lnTo>
                    <a:pt x="141" y="310"/>
                  </a:lnTo>
                  <a:lnTo>
                    <a:pt x="141" y="312"/>
                  </a:lnTo>
                  <a:lnTo>
                    <a:pt x="141" y="312"/>
                  </a:lnTo>
                  <a:lnTo>
                    <a:pt x="141" y="314"/>
                  </a:lnTo>
                  <a:lnTo>
                    <a:pt x="139" y="314"/>
                  </a:lnTo>
                  <a:lnTo>
                    <a:pt x="137" y="314"/>
                  </a:lnTo>
                  <a:lnTo>
                    <a:pt x="137" y="314"/>
                  </a:lnTo>
                  <a:lnTo>
                    <a:pt x="135" y="316"/>
                  </a:lnTo>
                  <a:lnTo>
                    <a:pt x="135" y="316"/>
                  </a:lnTo>
                  <a:lnTo>
                    <a:pt x="135" y="318"/>
                  </a:lnTo>
                  <a:lnTo>
                    <a:pt x="135" y="318"/>
                  </a:lnTo>
                  <a:lnTo>
                    <a:pt x="135" y="318"/>
                  </a:lnTo>
                  <a:lnTo>
                    <a:pt x="133" y="319"/>
                  </a:lnTo>
                  <a:lnTo>
                    <a:pt x="133" y="319"/>
                  </a:lnTo>
                  <a:lnTo>
                    <a:pt x="133" y="321"/>
                  </a:lnTo>
                  <a:lnTo>
                    <a:pt x="131" y="321"/>
                  </a:lnTo>
                  <a:lnTo>
                    <a:pt x="131" y="321"/>
                  </a:lnTo>
                  <a:lnTo>
                    <a:pt x="131" y="321"/>
                  </a:lnTo>
                  <a:lnTo>
                    <a:pt x="129" y="321"/>
                  </a:lnTo>
                  <a:lnTo>
                    <a:pt x="129" y="321"/>
                  </a:lnTo>
                  <a:lnTo>
                    <a:pt x="129" y="323"/>
                  </a:lnTo>
                  <a:lnTo>
                    <a:pt x="127" y="323"/>
                  </a:lnTo>
                  <a:lnTo>
                    <a:pt x="127" y="323"/>
                  </a:lnTo>
                  <a:lnTo>
                    <a:pt x="124" y="321"/>
                  </a:lnTo>
                  <a:lnTo>
                    <a:pt x="124" y="321"/>
                  </a:lnTo>
                  <a:lnTo>
                    <a:pt x="124" y="319"/>
                  </a:lnTo>
                  <a:lnTo>
                    <a:pt x="122" y="318"/>
                  </a:lnTo>
                  <a:lnTo>
                    <a:pt x="122" y="316"/>
                  </a:lnTo>
                  <a:lnTo>
                    <a:pt x="122" y="316"/>
                  </a:lnTo>
                  <a:lnTo>
                    <a:pt x="122" y="316"/>
                  </a:lnTo>
                  <a:lnTo>
                    <a:pt x="120" y="316"/>
                  </a:lnTo>
                  <a:lnTo>
                    <a:pt x="120" y="316"/>
                  </a:lnTo>
                  <a:lnTo>
                    <a:pt x="120" y="318"/>
                  </a:lnTo>
                  <a:lnTo>
                    <a:pt x="118" y="318"/>
                  </a:lnTo>
                  <a:lnTo>
                    <a:pt x="118" y="319"/>
                  </a:lnTo>
                  <a:lnTo>
                    <a:pt x="118" y="319"/>
                  </a:lnTo>
                  <a:lnTo>
                    <a:pt x="116" y="318"/>
                  </a:lnTo>
                  <a:lnTo>
                    <a:pt x="114" y="318"/>
                  </a:lnTo>
                  <a:lnTo>
                    <a:pt x="112" y="318"/>
                  </a:lnTo>
                  <a:lnTo>
                    <a:pt x="112" y="318"/>
                  </a:lnTo>
                  <a:lnTo>
                    <a:pt x="110" y="318"/>
                  </a:lnTo>
                  <a:lnTo>
                    <a:pt x="108" y="316"/>
                  </a:lnTo>
                  <a:lnTo>
                    <a:pt x="106" y="316"/>
                  </a:lnTo>
                  <a:lnTo>
                    <a:pt x="106" y="316"/>
                  </a:lnTo>
                  <a:lnTo>
                    <a:pt x="105" y="318"/>
                  </a:lnTo>
                  <a:lnTo>
                    <a:pt x="105" y="318"/>
                  </a:lnTo>
                  <a:lnTo>
                    <a:pt x="103" y="318"/>
                  </a:lnTo>
                  <a:lnTo>
                    <a:pt x="103" y="318"/>
                  </a:lnTo>
                  <a:lnTo>
                    <a:pt x="103" y="318"/>
                  </a:lnTo>
                  <a:lnTo>
                    <a:pt x="101" y="319"/>
                  </a:lnTo>
                  <a:lnTo>
                    <a:pt x="101" y="319"/>
                  </a:lnTo>
                  <a:lnTo>
                    <a:pt x="99" y="319"/>
                  </a:lnTo>
                  <a:lnTo>
                    <a:pt x="99" y="319"/>
                  </a:lnTo>
                  <a:lnTo>
                    <a:pt x="97" y="319"/>
                  </a:lnTo>
                  <a:lnTo>
                    <a:pt x="97" y="318"/>
                  </a:lnTo>
                  <a:lnTo>
                    <a:pt x="97" y="318"/>
                  </a:lnTo>
                  <a:lnTo>
                    <a:pt x="95" y="318"/>
                  </a:lnTo>
                  <a:lnTo>
                    <a:pt x="95" y="318"/>
                  </a:lnTo>
                  <a:lnTo>
                    <a:pt x="93" y="318"/>
                  </a:lnTo>
                  <a:lnTo>
                    <a:pt x="93" y="318"/>
                  </a:lnTo>
                  <a:lnTo>
                    <a:pt x="91" y="318"/>
                  </a:lnTo>
                  <a:lnTo>
                    <a:pt x="91" y="318"/>
                  </a:lnTo>
                  <a:lnTo>
                    <a:pt x="91" y="318"/>
                  </a:lnTo>
                  <a:lnTo>
                    <a:pt x="89" y="318"/>
                  </a:lnTo>
                  <a:lnTo>
                    <a:pt x="89" y="318"/>
                  </a:lnTo>
                  <a:lnTo>
                    <a:pt x="87" y="318"/>
                  </a:lnTo>
                  <a:lnTo>
                    <a:pt x="85" y="318"/>
                  </a:lnTo>
                  <a:lnTo>
                    <a:pt x="85" y="318"/>
                  </a:lnTo>
                  <a:lnTo>
                    <a:pt x="84" y="316"/>
                  </a:lnTo>
                  <a:lnTo>
                    <a:pt x="84" y="316"/>
                  </a:lnTo>
                  <a:lnTo>
                    <a:pt x="84" y="316"/>
                  </a:lnTo>
                  <a:lnTo>
                    <a:pt x="82" y="316"/>
                  </a:lnTo>
                  <a:lnTo>
                    <a:pt x="82" y="314"/>
                  </a:lnTo>
                  <a:lnTo>
                    <a:pt x="82" y="316"/>
                  </a:lnTo>
                  <a:lnTo>
                    <a:pt x="80" y="316"/>
                  </a:lnTo>
                  <a:lnTo>
                    <a:pt x="80" y="316"/>
                  </a:lnTo>
                  <a:lnTo>
                    <a:pt x="78" y="316"/>
                  </a:lnTo>
                  <a:lnTo>
                    <a:pt x="76" y="314"/>
                  </a:lnTo>
                  <a:lnTo>
                    <a:pt x="70" y="314"/>
                  </a:lnTo>
                  <a:lnTo>
                    <a:pt x="66" y="310"/>
                  </a:lnTo>
                  <a:lnTo>
                    <a:pt x="66" y="310"/>
                  </a:lnTo>
                  <a:lnTo>
                    <a:pt x="66" y="310"/>
                  </a:lnTo>
                  <a:lnTo>
                    <a:pt x="55" y="310"/>
                  </a:lnTo>
                  <a:lnTo>
                    <a:pt x="51" y="310"/>
                  </a:lnTo>
                  <a:lnTo>
                    <a:pt x="49" y="310"/>
                  </a:lnTo>
                  <a:lnTo>
                    <a:pt x="47" y="308"/>
                  </a:lnTo>
                  <a:lnTo>
                    <a:pt x="47" y="308"/>
                  </a:lnTo>
                  <a:lnTo>
                    <a:pt x="42" y="310"/>
                  </a:lnTo>
                  <a:lnTo>
                    <a:pt x="40" y="310"/>
                  </a:lnTo>
                  <a:lnTo>
                    <a:pt x="32" y="314"/>
                  </a:lnTo>
                  <a:lnTo>
                    <a:pt x="28" y="318"/>
                  </a:lnTo>
                  <a:lnTo>
                    <a:pt x="28" y="319"/>
                  </a:lnTo>
                  <a:lnTo>
                    <a:pt x="28" y="321"/>
                  </a:lnTo>
                  <a:lnTo>
                    <a:pt x="28" y="323"/>
                  </a:lnTo>
                  <a:lnTo>
                    <a:pt x="28" y="327"/>
                  </a:lnTo>
                  <a:lnTo>
                    <a:pt x="28" y="329"/>
                  </a:lnTo>
                  <a:lnTo>
                    <a:pt x="28" y="331"/>
                  </a:lnTo>
                  <a:lnTo>
                    <a:pt x="30" y="331"/>
                  </a:lnTo>
                  <a:lnTo>
                    <a:pt x="30" y="331"/>
                  </a:lnTo>
                  <a:lnTo>
                    <a:pt x="30" y="331"/>
                  </a:lnTo>
                  <a:lnTo>
                    <a:pt x="30" y="331"/>
                  </a:lnTo>
                  <a:lnTo>
                    <a:pt x="32" y="333"/>
                  </a:lnTo>
                  <a:lnTo>
                    <a:pt x="32" y="337"/>
                  </a:lnTo>
                  <a:lnTo>
                    <a:pt x="34" y="338"/>
                  </a:lnTo>
                  <a:lnTo>
                    <a:pt x="34" y="338"/>
                  </a:lnTo>
                  <a:lnTo>
                    <a:pt x="32" y="338"/>
                  </a:lnTo>
                  <a:lnTo>
                    <a:pt x="32" y="338"/>
                  </a:lnTo>
                  <a:lnTo>
                    <a:pt x="30" y="338"/>
                  </a:lnTo>
                  <a:lnTo>
                    <a:pt x="30" y="338"/>
                  </a:lnTo>
                  <a:lnTo>
                    <a:pt x="30" y="338"/>
                  </a:lnTo>
                  <a:lnTo>
                    <a:pt x="28" y="338"/>
                  </a:lnTo>
                  <a:lnTo>
                    <a:pt x="28" y="338"/>
                  </a:lnTo>
                  <a:lnTo>
                    <a:pt x="26" y="340"/>
                  </a:lnTo>
                  <a:lnTo>
                    <a:pt x="26" y="342"/>
                  </a:lnTo>
                  <a:lnTo>
                    <a:pt x="26" y="342"/>
                  </a:lnTo>
                  <a:lnTo>
                    <a:pt x="26" y="342"/>
                  </a:lnTo>
                  <a:lnTo>
                    <a:pt x="26" y="342"/>
                  </a:lnTo>
                  <a:lnTo>
                    <a:pt x="26" y="348"/>
                  </a:lnTo>
                  <a:lnTo>
                    <a:pt x="26" y="352"/>
                  </a:lnTo>
                  <a:lnTo>
                    <a:pt x="26" y="354"/>
                  </a:lnTo>
                  <a:lnTo>
                    <a:pt x="26" y="354"/>
                  </a:lnTo>
                  <a:lnTo>
                    <a:pt x="26" y="354"/>
                  </a:lnTo>
                  <a:lnTo>
                    <a:pt x="26" y="354"/>
                  </a:lnTo>
                  <a:lnTo>
                    <a:pt x="24" y="352"/>
                  </a:lnTo>
                  <a:lnTo>
                    <a:pt x="23" y="352"/>
                  </a:lnTo>
                  <a:lnTo>
                    <a:pt x="23" y="352"/>
                  </a:lnTo>
                  <a:lnTo>
                    <a:pt x="23" y="354"/>
                  </a:lnTo>
                  <a:lnTo>
                    <a:pt x="23" y="354"/>
                  </a:lnTo>
                  <a:lnTo>
                    <a:pt x="23" y="354"/>
                  </a:lnTo>
                  <a:lnTo>
                    <a:pt x="24" y="356"/>
                  </a:lnTo>
                  <a:lnTo>
                    <a:pt x="24" y="358"/>
                  </a:lnTo>
                  <a:lnTo>
                    <a:pt x="24" y="359"/>
                  </a:lnTo>
                  <a:lnTo>
                    <a:pt x="26" y="359"/>
                  </a:lnTo>
                  <a:lnTo>
                    <a:pt x="26" y="359"/>
                  </a:lnTo>
                  <a:lnTo>
                    <a:pt x="26" y="361"/>
                  </a:lnTo>
                  <a:lnTo>
                    <a:pt x="26" y="361"/>
                  </a:lnTo>
                  <a:lnTo>
                    <a:pt x="28" y="367"/>
                  </a:lnTo>
                  <a:lnTo>
                    <a:pt x="28" y="369"/>
                  </a:lnTo>
                  <a:lnTo>
                    <a:pt x="28" y="369"/>
                  </a:lnTo>
                  <a:lnTo>
                    <a:pt x="30" y="369"/>
                  </a:lnTo>
                  <a:lnTo>
                    <a:pt x="32" y="371"/>
                  </a:lnTo>
                  <a:lnTo>
                    <a:pt x="34" y="371"/>
                  </a:lnTo>
                  <a:lnTo>
                    <a:pt x="34" y="371"/>
                  </a:lnTo>
                  <a:lnTo>
                    <a:pt x="36" y="373"/>
                  </a:lnTo>
                  <a:lnTo>
                    <a:pt x="36" y="378"/>
                  </a:lnTo>
                  <a:lnTo>
                    <a:pt x="38" y="384"/>
                  </a:lnTo>
                  <a:lnTo>
                    <a:pt x="38" y="384"/>
                  </a:lnTo>
                  <a:lnTo>
                    <a:pt x="38" y="388"/>
                  </a:lnTo>
                  <a:lnTo>
                    <a:pt x="38" y="388"/>
                  </a:lnTo>
                  <a:lnTo>
                    <a:pt x="38" y="390"/>
                  </a:lnTo>
                  <a:lnTo>
                    <a:pt x="38" y="390"/>
                  </a:lnTo>
                  <a:lnTo>
                    <a:pt x="38" y="392"/>
                  </a:lnTo>
                  <a:lnTo>
                    <a:pt x="36" y="392"/>
                  </a:lnTo>
                  <a:lnTo>
                    <a:pt x="36" y="392"/>
                  </a:lnTo>
                  <a:lnTo>
                    <a:pt x="36" y="394"/>
                  </a:lnTo>
                  <a:lnTo>
                    <a:pt x="34" y="396"/>
                  </a:lnTo>
                  <a:lnTo>
                    <a:pt x="34" y="397"/>
                  </a:lnTo>
                  <a:lnTo>
                    <a:pt x="34" y="397"/>
                  </a:lnTo>
                  <a:lnTo>
                    <a:pt x="30" y="401"/>
                  </a:lnTo>
                  <a:lnTo>
                    <a:pt x="30" y="401"/>
                  </a:lnTo>
                  <a:lnTo>
                    <a:pt x="30" y="401"/>
                  </a:lnTo>
                  <a:lnTo>
                    <a:pt x="28" y="401"/>
                  </a:lnTo>
                  <a:lnTo>
                    <a:pt x="28" y="401"/>
                  </a:lnTo>
                  <a:lnTo>
                    <a:pt x="28" y="401"/>
                  </a:lnTo>
                  <a:lnTo>
                    <a:pt x="28" y="399"/>
                  </a:lnTo>
                  <a:lnTo>
                    <a:pt x="26" y="399"/>
                  </a:lnTo>
                  <a:lnTo>
                    <a:pt x="26" y="399"/>
                  </a:lnTo>
                  <a:lnTo>
                    <a:pt x="26" y="399"/>
                  </a:lnTo>
                  <a:lnTo>
                    <a:pt x="24" y="399"/>
                  </a:lnTo>
                  <a:lnTo>
                    <a:pt x="24" y="399"/>
                  </a:lnTo>
                  <a:lnTo>
                    <a:pt x="23" y="399"/>
                  </a:lnTo>
                  <a:lnTo>
                    <a:pt x="23" y="399"/>
                  </a:lnTo>
                  <a:lnTo>
                    <a:pt x="21" y="399"/>
                  </a:lnTo>
                  <a:lnTo>
                    <a:pt x="21" y="399"/>
                  </a:lnTo>
                  <a:lnTo>
                    <a:pt x="19" y="399"/>
                  </a:lnTo>
                  <a:lnTo>
                    <a:pt x="17" y="397"/>
                  </a:lnTo>
                  <a:lnTo>
                    <a:pt x="15" y="397"/>
                  </a:lnTo>
                  <a:lnTo>
                    <a:pt x="13" y="397"/>
                  </a:lnTo>
                  <a:lnTo>
                    <a:pt x="5" y="394"/>
                  </a:lnTo>
                  <a:lnTo>
                    <a:pt x="4" y="394"/>
                  </a:lnTo>
                  <a:lnTo>
                    <a:pt x="2" y="396"/>
                  </a:lnTo>
                  <a:lnTo>
                    <a:pt x="2" y="397"/>
                  </a:lnTo>
                  <a:lnTo>
                    <a:pt x="2" y="399"/>
                  </a:lnTo>
                  <a:lnTo>
                    <a:pt x="2" y="399"/>
                  </a:lnTo>
                  <a:lnTo>
                    <a:pt x="2" y="401"/>
                  </a:lnTo>
                  <a:lnTo>
                    <a:pt x="2" y="401"/>
                  </a:lnTo>
                  <a:lnTo>
                    <a:pt x="0" y="401"/>
                  </a:lnTo>
                  <a:lnTo>
                    <a:pt x="0" y="403"/>
                  </a:lnTo>
                  <a:lnTo>
                    <a:pt x="0" y="403"/>
                  </a:lnTo>
                  <a:lnTo>
                    <a:pt x="0" y="403"/>
                  </a:lnTo>
                  <a:lnTo>
                    <a:pt x="2" y="403"/>
                  </a:lnTo>
                  <a:lnTo>
                    <a:pt x="4" y="405"/>
                  </a:lnTo>
                  <a:lnTo>
                    <a:pt x="4" y="405"/>
                  </a:lnTo>
                  <a:lnTo>
                    <a:pt x="5" y="405"/>
                  </a:lnTo>
                  <a:lnTo>
                    <a:pt x="7" y="405"/>
                  </a:lnTo>
                  <a:lnTo>
                    <a:pt x="7" y="407"/>
                  </a:lnTo>
                  <a:lnTo>
                    <a:pt x="7" y="407"/>
                  </a:lnTo>
                  <a:lnTo>
                    <a:pt x="9" y="407"/>
                  </a:lnTo>
                  <a:lnTo>
                    <a:pt x="9" y="407"/>
                  </a:lnTo>
                  <a:lnTo>
                    <a:pt x="9" y="409"/>
                  </a:lnTo>
                  <a:lnTo>
                    <a:pt x="9" y="409"/>
                  </a:lnTo>
                  <a:lnTo>
                    <a:pt x="9" y="411"/>
                  </a:lnTo>
                  <a:lnTo>
                    <a:pt x="9" y="413"/>
                  </a:lnTo>
                  <a:lnTo>
                    <a:pt x="9" y="415"/>
                  </a:lnTo>
                  <a:lnTo>
                    <a:pt x="7" y="422"/>
                  </a:lnTo>
                  <a:lnTo>
                    <a:pt x="7" y="422"/>
                  </a:lnTo>
                  <a:lnTo>
                    <a:pt x="7" y="422"/>
                  </a:lnTo>
                  <a:lnTo>
                    <a:pt x="7" y="422"/>
                  </a:lnTo>
                  <a:lnTo>
                    <a:pt x="5" y="424"/>
                  </a:lnTo>
                  <a:lnTo>
                    <a:pt x="4" y="424"/>
                  </a:lnTo>
                  <a:lnTo>
                    <a:pt x="4" y="424"/>
                  </a:lnTo>
                  <a:lnTo>
                    <a:pt x="4" y="428"/>
                  </a:lnTo>
                  <a:lnTo>
                    <a:pt x="4" y="428"/>
                  </a:lnTo>
                  <a:lnTo>
                    <a:pt x="4" y="430"/>
                  </a:lnTo>
                  <a:lnTo>
                    <a:pt x="4" y="432"/>
                  </a:lnTo>
                  <a:lnTo>
                    <a:pt x="2" y="434"/>
                  </a:lnTo>
                  <a:lnTo>
                    <a:pt x="2" y="435"/>
                  </a:lnTo>
                  <a:lnTo>
                    <a:pt x="2" y="437"/>
                  </a:lnTo>
                  <a:lnTo>
                    <a:pt x="2" y="439"/>
                  </a:lnTo>
                  <a:lnTo>
                    <a:pt x="4" y="443"/>
                  </a:lnTo>
                  <a:lnTo>
                    <a:pt x="4" y="443"/>
                  </a:lnTo>
                  <a:lnTo>
                    <a:pt x="4" y="445"/>
                  </a:lnTo>
                  <a:lnTo>
                    <a:pt x="5" y="445"/>
                  </a:lnTo>
                  <a:lnTo>
                    <a:pt x="5" y="445"/>
                  </a:lnTo>
                  <a:lnTo>
                    <a:pt x="7" y="445"/>
                  </a:lnTo>
                  <a:lnTo>
                    <a:pt x="7" y="447"/>
                  </a:lnTo>
                  <a:lnTo>
                    <a:pt x="7" y="447"/>
                  </a:lnTo>
                  <a:lnTo>
                    <a:pt x="9" y="449"/>
                  </a:lnTo>
                  <a:lnTo>
                    <a:pt x="9" y="451"/>
                  </a:lnTo>
                  <a:lnTo>
                    <a:pt x="9" y="451"/>
                  </a:lnTo>
                  <a:lnTo>
                    <a:pt x="9" y="451"/>
                  </a:lnTo>
                  <a:lnTo>
                    <a:pt x="11" y="451"/>
                  </a:lnTo>
                  <a:lnTo>
                    <a:pt x="11" y="451"/>
                  </a:lnTo>
                  <a:lnTo>
                    <a:pt x="13" y="451"/>
                  </a:lnTo>
                  <a:lnTo>
                    <a:pt x="13" y="451"/>
                  </a:lnTo>
                  <a:lnTo>
                    <a:pt x="13" y="451"/>
                  </a:lnTo>
                  <a:lnTo>
                    <a:pt x="15" y="451"/>
                  </a:lnTo>
                  <a:lnTo>
                    <a:pt x="17" y="451"/>
                  </a:lnTo>
                  <a:lnTo>
                    <a:pt x="19" y="451"/>
                  </a:lnTo>
                  <a:lnTo>
                    <a:pt x="19" y="451"/>
                  </a:lnTo>
                  <a:lnTo>
                    <a:pt x="19" y="453"/>
                  </a:lnTo>
                  <a:lnTo>
                    <a:pt x="19" y="453"/>
                  </a:lnTo>
                  <a:lnTo>
                    <a:pt x="19" y="455"/>
                  </a:lnTo>
                  <a:lnTo>
                    <a:pt x="19" y="455"/>
                  </a:lnTo>
                  <a:lnTo>
                    <a:pt x="19" y="456"/>
                  </a:lnTo>
                  <a:lnTo>
                    <a:pt x="19" y="456"/>
                  </a:lnTo>
                  <a:lnTo>
                    <a:pt x="17" y="458"/>
                  </a:lnTo>
                  <a:lnTo>
                    <a:pt x="17" y="458"/>
                  </a:lnTo>
                  <a:lnTo>
                    <a:pt x="17" y="458"/>
                  </a:lnTo>
                  <a:lnTo>
                    <a:pt x="17" y="458"/>
                  </a:lnTo>
                  <a:lnTo>
                    <a:pt x="15" y="458"/>
                  </a:lnTo>
                  <a:lnTo>
                    <a:pt x="15" y="458"/>
                  </a:lnTo>
                  <a:lnTo>
                    <a:pt x="15" y="458"/>
                  </a:lnTo>
                  <a:lnTo>
                    <a:pt x="15" y="458"/>
                  </a:lnTo>
                  <a:lnTo>
                    <a:pt x="13" y="458"/>
                  </a:lnTo>
                  <a:lnTo>
                    <a:pt x="13" y="458"/>
                  </a:lnTo>
                  <a:lnTo>
                    <a:pt x="13" y="460"/>
                  </a:lnTo>
                  <a:lnTo>
                    <a:pt x="13" y="460"/>
                  </a:lnTo>
                  <a:lnTo>
                    <a:pt x="13" y="462"/>
                  </a:lnTo>
                  <a:lnTo>
                    <a:pt x="13" y="462"/>
                  </a:lnTo>
                  <a:lnTo>
                    <a:pt x="13" y="464"/>
                  </a:lnTo>
                  <a:lnTo>
                    <a:pt x="13" y="464"/>
                  </a:lnTo>
                  <a:lnTo>
                    <a:pt x="15" y="466"/>
                  </a:lnTo>
                  <a:lnTo>
                    <a:pt x="15" y="466"/>
                  </a:lnTo>
                  <a:lnTo>
                    <a:pt x="19" y="468"/>
                  </a:lnTo>
                  <a:lnTo>
                    <a:pt x="19" y="468"/>
                  </a:lnTo>
                  <a:lnTo>
                    <a:pt x="19" y="468"/>
                  </a:lnTo>
                  <a:lnTo>
                    <a:pt x="19" y="470"/>
                  </a:lnTo>
                  <a:lnTo>
                    <a:pt x="19" y="470"/>
                  </a:lnTo>
                  <a:lnTo>
                    <a:pt x="17" y="470"/>
                  </a:lnTo>
                  <a:lnTo>
                    <a:pt x="17" y="472"/>
                  </a:lnTo>
                  <a:lnTo>
                    <a:pt x="17" y="472"/>
                  </a:lnTo>
                  <a:lnTo>
                    <a:pt x="23" y="474"/>
                  </a:lnTo>
                  <a:lnTo>
                    <a:pt x="26" y="474"/>
                  </a:lnTo>
                  <a:lnTo>
                    <a:pt x="28" y="474"/>
                  </a:lnTo>
                  <a:lnTo>
                    <a:pt x="30" y="475"/>
                  </a:lnTo>
                  <a:lnTo>
                    <a:pt x="32" y="475"/>
                  </a:lnTo>
                  <a:lnTo>
                    <a:pt x="32" y="475"/>
                  </a:lnTo>
                  <a:lnTo>
                    <a:pt x="34" y="474"/>
                  </a:lnTo>
                  <a:lnTo>
                    <a:pt x="34" y="474"/>
                  </a:lnTo>
                  <a:lnTo>
                    <a:pt x="34" y="474"/>
                  </a:lnTo>
                  <a:lnTo>
                    <a:pt x="34" y="470"/>
                  </a:lnTo>
                  <a:lnTo>
                    <a:pt x="34" y="470"/>
                  </a:lnTo>
                  <a:lnTo>
                    <a:pt x="34" y="470"/>
                  </a:lnTo>
                  <a:lnTo>
                    <a:pt x="36" y="468"/>
                  </a:lnTo>
                  <a:lnTo>
                    <a:pt x="36" y="466"/>
                  </a:lnTo>
                  <a:lnTo>
                    <a:pt x="38" y="464"/>
                  </a:lnTo>
                  <a:lnTo>
                    <a:pt x="38" y="464"/>
                  </a:lnTo>
                  <a:lnTo>
                    <a:pt x="40" y="464"/>
                  </a:lnTo>
                  <a:lnTo>
                    <a:pt x="40" y="466"/>
                  </a:lnTo>
                  <a:lnTo>
                    <a:pt x="42" y="466"/>
                  </a:lnTo>
                  <a:lnTo>
                    <a:pt x="44" y="466"/>
                  </a:lnTo>
                  <a:lnTo>
                    <a:pt x="45" y="466"/>
                  </a:lnTo>
                  <a:lnTo>
                    <a:pt x="47" y="466"/>
                  </a:lnTo>
                  <a:lnTo>
                    <a:pt x="49" y="466"/>
                  </a:lnTo>
                  <a:lnTo>
                    <a:pt x="49" y="466"/>
                  </a:lnTo>
                  <a:lnTo>
                    <a:pt x="49" y="466"/>
                  </a:lnTo>
                  <a:lnTo>
                    <a:pt x="49" y="466"/>
                  </a:lnTo>
                  <a:lnTo>
                    <a:pt x="49" y="466"/>
                  </a:lnTo>
                  <a:lnTo>
                    <a:pt x="49" y="468"/>
                  </a:lnTo>
                  <a:lnTo>
                    <a:pt x="51" y="468"/>
                  </a:lnTo>
                  <a:lnTo>
                    <a:pt x="51" y="470"/>
                  </a:lnTo>
                  <a:lnTo>
                    <a:pt x="55" y="470"/>
                  </a:lnTo>
                  <a:lnTo>
                    <a:pt x="55" y="470"/>
                  </a:lnTo>
                  <a:lnTo>
                    <a:pt x="57" y="470"/>
                  </a:lnTo>
                  <a:lnTo>
                    <a:pt x="57" y="472"/>
                  </a:lnTo>
                  <a:lnTo>
                    <a:pt x="59" y="474"/>
                  </a:lnTo>
                  <a:lnTo>
                    <a:pt x="61" y="474"/>
                  </a:lnTo>
                  <a:lnTo>
                    <a:pt x="61" y="474"/>
                  </a:lnTo>
                  <a:lnTo>
                    <a:pt x="61" y="474"/>
                  </a:lnTo>
                  <a:lnTo>
                    <a:pt x="63" y="474"/>
                  </a:lnTo>
                  <a:lnTo>
                    <a:pt x="61" y="472"/>
                  </a:lnTo>
                  <a:lnTo>
                    <a:pt x="59" y="470"/>
                  </a:lnTo>
                  <a:lnTo>
                    <a:pt x="59" y="470"/>
                  </a:lnTo>
                  <a:lnTo>
                    <a:pt x="59" y="468"/>
                  </a:lnTo>
                  <a:lnTo>
                    <a:pt x="59" y="468"/>
                  </a:lnTo>
                  <a:lnTo>
                    <a:pt x="59" y="466"/>
                  </a:lnTo>
                  <a:lnTo>
                    <a:pt x="59" y="466"/>
                  </a:lnTo>
                  <a:lnTo>
                    <a:pt x="61" y="466"/>
                  </a:lnTo>
                  <a:lnTo>
                    <a:pt x="61" y="466"/>
                  </a:lnTo>
                  <a:lnTo>
                    <a:pt x="63" y="466"/>
                  </a:lnTo>
                  <a:lnTo>
                    <a:pt x="63" y="466"/>
                  </a:lnTo>
                  <a:lnTo>
                    <a:pt x="63" y="466"/>
                  </a:lnTo>
                  <a:lnTo>
                    <a:pt x="65" y="466"/>
                  </a:lnTo>
                  <a:lnTo>
                    <a:pt x="65" y="468"/>
                  </a:lnTo>
                  <a:lnTo>
                    <a:pt x="65" y="468"/>
                  </a:lnTo>
                  <a:lnTo>
                    <a:pt x="65" y="468"/>
                  </a:lnTo>
                  <a:lnTo>
                    <a:pt x="65" y="468"/>
                  </a:lnTo>
                  <a:lnTo>
                    <a:pt x="65" y="468"/>
                  </a:lnTo>
                  <a:lnTo>
                    <a:pt x="68" y="470"/>
                  </a:lnTo>
                  <a:lnTo>
                    <a:pt x="68" y="470"/>
                  </a:lnTo>
                  <a:lnTo>
                    <a:pt x="68" y="470"/>
                  </a:lnTo>
                  <a:lnTo>
                    <a:pt x="68" y="470"/>
                  </a:lnTo>
                  <a:lnTo>
                    <a:pt x="68" y="472"/>
                  </a:lnTo>
                  <a:lnTo>
                    <a:pt x="68" y="474"/>
                  </a:lnTo>
                  <a:lnTo>
                    <a:pt x="68" y="474"/>
                  </a:lnTo>
                  <a:lnTo>
                    <a:pt x="68" y="475"/>
                  </a:lnTo>
                  <a:lnTo>
                    <a:pt x="68" y="477"/>
                  </a:lnTo>
                  <a:lnTo>
                    <a:pt x="68" y="477"/>
                  </a:lnTo>
                  <a:lnTo>
                    <a:pt x="68" y="479"/>
                  </a:lnTo>
                  <a:lnTo>
                    <a:pt x="68" y="479"/>
                  </a:lnTo>
                  <a:lnTo>
                    <a:pt x="68" y="479"/>
                  </a:lnTo>
                  <a:lnTo>
                    <a:pt x="68" y="479"/>
                  </a:lnTo>
                  <a:lnTo>
                    <a:pt x="66" y="481"/>
                  </a:lnTo>
                  <a:lnTo>
                    <a:pt x="63" y="481"/>
                  </a:lnTo>
                  <a:lnTo>
                    <a:pt x="61" y="481"/>
                  </a:lnTo>
                  <a:lnTo>
                    <a:pt x="61" y="481"/>
                  </a:lnTo>
                  <a:lnTo>
                    <a:pt x="61" y="481"/>
                  </a:lnTo>
                  <a:lnTo>
                    <a:pt x="59" y="483"/>
                  </a:lnTo>
                  <a:lnTo>
                    <a:pt x="57" y="485"/>
                  </a:lnTo>
                  <a:lnTo>
                    <a:pt x="57" y="485"/>
                  </a:lnTo>
                  <a:lnTo>
                    <a:pt x="57" y="485"/>
                  </a:lnTo>
                  <a:lnTo>
                    <a:pt x="57" y="485"/>
                  </a:lnTo>
                  <a:lnTo>
                    <a:pt x="57" y="485"/>
                  </a:lnTo>
                  <a:lnTo>
                    <a:pt x="59" y="487"/>
                  </a:lnTo>
                  <a:lnTo>
                    <a:pt x="59" y="487"/>
                  </a:lnTo>
                  <a:lnTo>
                    <a:pt x="59" y="487"/>
                  </a:lnTo>
                  <a:lnTo>
                    <a:pt x="59" y="487"/>
                  </a:lnTo>
                  <a:lnTo>
                    <a:pt x="59" y="489"/>
                  </a:lnTo>
                  <a:lnTo>
                    <a:pt x="57" y="491"/>
                  </a:lnTo>
                  <a:lnTo>
                    <a:pt x="57" y="491"/>
                  </a:lnTo>
                  <a:lnTo>
                    <a:pt x="57" y="493"/>
                  </a:lnTo>
                  <a:lnTo>
                    <a:pt x="57" y="493"/>
                  </a:lnTo>
                  <a:lnTo>
                    <a:pt x="57" y="493"/>
                  </a:lnTo>
                  <a:lnTo>
                    <a:pt x="59" y="494"/>
                  </a:lnTo>
                  <a:lnTo>
                    <a:pt x="59" y="494"/>
                  </a:lnTo>
                  <a:lnTo>
                    <a:pt x="59" y="496"/>
                  </a:lnTo>
                  <a:lnTo>
                    <a:pt x="59" y="496"/>
                  </a:lnTo>
                  <a:lnTo>
                    <a:pt x="59" y="498"/>
                  </a:lnTo>
                  <a:lnTo>
                    <a:pt x="59" y="498"/>
                  </a:lnTo>
                  <a:lnTo>
                    <a:pt x="61" y="498"/>
                  </a:lnTo>
                  <a:lnTo>
                    <a:pt x="61" y="500"/>
                  </a:lnTo>
                  <a:lnTo>
                    <a:pt x="61" y="500"/>
                  </a:lnTo>
                  <a:lnTo>
                    <a:pt x="63" y="500"/>
                  </a:lnTo>
                  <a:lnTo>
                    <a:pt x="61" y="502"/>
                  </a:lnTo>
                  <a:lnTo>
                    <a:pt x="61" y="502"/>
                  </a:lnTo>
                  <a:lnTo>
                    <a:pt x="61" y="504"/>
                  </a:lnTo>
                  <a:lnTo>
                    <a:pt x="63" y="506"/>
                  </a:lnTo>
                  <a:lnTo>
                    <a:pt x="63" y="506"/>
                  </a:lnTo>
                  <a:lnTo>
                    <a:pt x="63" y="506"/>
                  </a:lnTo>
                  <a:lnTo>
                    <a:pt x="63" y="508"/>
                  </a:lnTo>
                  <a:lnTo>
                    <a:pt x="61" y="508"/>
                  </a:lnTo>
                  <a:lnTo>
                    <a:pt x="61" y="508"/>
                  </a:lnTo>
                  <a:lnTo>
                    <a:pt x="59" y="506"/>
                  </a:lnTo>
                  <a:lnTo>
                    <a:pt x="57" y="506"/>
                  </a:lnTo>
                  <a:lnTo>
                    <a:pt x="57" y="506"/>
                  </a:lnTo>
                  <a:lnTo>
                    <a:pt x="57" y="506"/>
                  </a:lnTo>
                  <a:lnTo>
                    <a:pt x="57" y="504"/>
                  </a:lnTo>
                  <a:lnTo>
                    <a:pt x="57" y="504"/>
                  </a:lnTo>
                  <a:lnTo>
                    <a:pt x="57" y="502"/>
                  </a:lnTo>
                  <a:lnTo>
                    <a:pt x="57" y="502"/>
                  </a:lnTo>
                  <a:lnTo>
                    <a:pt x="55" y="500"/>
                  </a:lnTo>
                  <a:lnTo>
                    <a:pt x="53" y="496"/>
                  </a:lnTo>
                  <a:lnTo>
                    <a:pt x="53" y="496"/>
                  </a:lnTo>
                  <a:lnTo>
                    <a:pt x="53" y="496"/>
                  </a:lnTo>
                  <a:lnTo>
                    <a:pt x="53" y="496"/>
                  </a:lnTo>
                  <a:lnTo>
                    <a:pt x="51" y="496"/>
                  </a:lnTo>
                  <a:lnTo>
                    <a:pt x="51" y="494"/>
                  </a:lnTo>
                  <a:lnTo>
                    <a:pt x="49" y="494"/>
                  </a:lnTo>
                  <a:lnTo>
                    <a:pt x="49" y="494"/>
                  </a:lnTo>
                  <a:lnTo>
                    <a:pt x="49" y="494"/>
                  </a:lnTo>
                  <a:lnTo>
                    <a:pt x="42" y="496"/>
                  </a:lnTo>
                  <a:lnTo>
                    <a:pt x="42" y="496"/>
                  </a:lnTo>
                  <a:lnTo>
                    <a:pt x="40" y="496"/>
                  </a:lnTo>
                  <a:lnTo>
                    <a:pt x="38" y="496"/>
                  </a:lnTo>
                  <a:lnTo>
                    <a:pt x="36" y="496"/>
                  </a:lnTo>
                  <a:lnTo>
                    <a:pt x="36" y="496"/>
                  </a:lnTo>
                  <a:lnTo>
                    <a:pt x="34" y="496"/>
                  </a:lnTo>
                  <a:lnTo>
                    <a:pt x="34" y="494"/>
                  </a:lnTo>
                  <a:lnTo>
                    <a:pt x="34" y="494"/>
                  </a:lnTo>
                  <a:lnTo>
                    <a:pt x="32" y="493"/>
                  </a:lnTo>
                  <a:lnTo>
                    <a:pt x="32" y="493"/>
                  </a:lnTo>
                  <a:lnTo>
                    <a:pt x="28" y="493"/>
                  </a:lnTo>
                  <a:lnTo>
                    <a:pt x="28" y="493"/>
                  </a:lnTo>
                  <a:lnTo>
                    <a:pt x="26" y="491"/>
                  </a:lnTo>
                  <a:lnTo>
                    <a:pt x="26" y="491"/>
                  </a:lnTo>
                  <a:lnTo>
                    <a:pt x="26" y="491"/>
                  </a:lnTo>
                  <a:lnTo>
                    <a:pt x="24" y="491"/>
                  </a:lnTo>
                  <a:lnTo>
                    <a:pt x="24" y="489"/>
                  </a:lnTo>
                  <a:lnTo>
                    <a:pt x="24" y="487"/>
                  </a:lnTo>
                  <a:lnTo>
                    <a:pt x="23" y="483"/>
                  </a:lnTo>
                  <a:lnTo>
                    <a:pt x="23" y="481"/>
                  </a:lnTo>
                  <a:lnTo>
                    <a:pt x="23" y="481"/>
                  </a:lnTo>
                  <a:lnTo>
                    <a:pt x="23" y="481"/>
                  </a:lnTo>
                  <a:lnTo>
                    <a:pt x="23" y="481"/>
                  </a:lnTo>
                  <a:lnTo>
                    <a:pt x="23" y="481"/>
                  </a:lnTo>
                  <a:lnTo>
                    <a:pt x="21" y="481"/>
                  </a:lnTo>
                  <a:lnTo>
                    <a:pt x="21" y="481"/>
                  </a:lnTo>
                  <a:lnTo>
                    <a:pt x="19" y="479"/>
                  </a:lnTo>
                  <a:lnTo>
                    <a:pt x="19" y="479"/>
                  </a:lnTo>
                  <a:lnTo>
                    <a:pt x="19" y="479"/>
                  </a:lnTo>
                  <a:lnTo>
                    <a:pt x="19" y="479"/>
                  </a:lnTo>
                  <a:lnTo>
                    <a:pt x="17" y="479"/>
                  </a:lnTo>
                  <a:lnTo>
                    <a:pt x="17" y="479"/>
                  </a:lnTo>
                  <a:lnTo>
                    <a:pt x="17" y="481"/>
                  </a:lnTo>
                  <a:lnTo>
                    <a:pt x="17" y="481"/>
                  </a:lnTo>
                  <a:lnTo>
                    <a:pt x="15" y="481"/>
                  </a:lnTo>
                  <a:lnTo>
                    <a:pt x="15" y="481"/>
                  </a:lnTo>
                  <a:lnTo>
                    <a:pt x="13" y="483"/>
                  </a:lnTo>
                  <a:lnTo>
                    <a:pt x="13" y="483"/>
                  </a:lnTo>
                  <a:lnTo>
                    <a:pt x="15" y="483"/>
                  </a:lnTo>
                  <a:lnTo>
                    <a:pt x="19" y="489"/>
                  </a:lnTo>
                  <a:lnTo>
                    <a:pt x="21" y="491"/>
                  </a:lnTo>
                  <a:lnTo>
                    <a:pt x="21" y="491"/>
                  </a:lnTo>
                  <a:lnTo>
                    <a:pt x="21" y="491"/>
                  </a:lnTo>
                  <a:lnTo>
                    <a:pt x="21" y="493"/>
                  </a:lnTo>
                  <a:lnTo>
                    <a:pt x="21" y="493"/>
                  </a:lnTo>
                  <a:lnTo>
                    <a:pt x="19" y="494"/>
                  </a:lnTo>
                  <a:lnTo>
                    <a:pt x="21" y="496"/>
                  </a:lnTo>
                  <a:lnTo>
                    <a:pt x="21" y="496"/>
                  </a:lnTo>
                  <a:lnTo>
                    <a:pt x="21" y="496"/>
                  </a:lnTo>
                  <a:lnTo>
                    <a:pt x="21" y="498"/>
                  </a:lnTo>
                  <a:lnTo>
                    <a:pt x="23" y="498"/>
                  </a:lnTo>
                  <a:lnTo>
                    <a:pt x="24" y="500"/>
                  </a:lnTo>
                  <a:lnTo>
                    <a:pt x="24" y="502"/>
                  </a:lnTo>
                  <a:lnTo>
                    <a:pt x="26" y="504"/>
                  </a:lnTo>
                  <a:lnTo>
                    <a:pt x="26" y="504"/>
                  </a:lnTo>
                  <a:lnTo>
                    <a:pt x="26" y="506"/>
                  </a:lnTo>
                  <a:lnTo>
                    <a:pt x="26" y="506"/>
                  </a:lnTo>
                  <a:lnTo>
                    <a:pt x="26" y="506"/>
                  </a:lnTo>
                  <a:lnTo>
                    <a:pt x="26" y="508"/>
                  </a:lnTo>
                  <a:lnTo>
                    <a:pt x="26" y="508"/>
                  </a:lnTo>
                  <a:lnTo>
                    <a:pt x="26" y="508"/>
                  </a:lnTo>
                  <a:lnTo>
                    <a:pt x="24" y="508"/>
                  </a:lnTo>
                  <a:lnTo>
                    <a:pt x="24" y="510"/>
                  </a:lnTo>
                  <a:lnTo>
                    <a:pt x="24" y="510"/>
                  </a:lnTo>
                  <a:lnTo>
                    <a:pt x="24" y="510"/>
                  </a:lnTo>
                  <a:lnTo>
                    <a:pt x="24" y="512"/>
                  </a:lnTo>
                  <a:lnTo>
                    <a:pt x="23" y="512"/>
                  </a:lnTo>
                  <a:lnTo>
                    <a:pt x="23" y="513"/>
                  </a:lnTo>
                  <a:lnTo>
                    <a:pt x="23" y="513"/>
                  </a:lnTo>
                  <a:lnTo>
                    <a:pt x="23" y="515"/>
                  </a:lnTo>
                  <a:lnTo>
                    <a:pt x="23" y="517"/>
                  </a:lnTo>
                  <a:lnTo>
                    <a:pt x="23" y="519"/>
                  </a:lnTo>
                  <a:lnTo>
                    <a:pt x="23" y="521"/>
                  </a:lnTo>
                  <a:lnTo>
                    <a:pt x="23" y="521"/>
                  </a:lnTo>
                  <a:lnTo>
                    <a:pt x="24" y="521"/>
                  </a:lnTo>
                  <a:lnTo>
                    <a:pt x="24" y="519"/>
                  </a:lnTo>
                  <a:lnTo>
                    <a:pt x="24" y="519"/>
                  </a:lnTo>
                  <a:lnTo>
                    <a:pt x="24" y="517"/>
                  </a:lnTo>
                  <a:lnTo>
                    <a:pt x="24" y="517"/>
                  </a:lnTo>
                  <a:lnTo>
                    <a:pt x="24" y="517"/>
                  </a:lnTo>
                  <a:lnTo>
                    <a:pt x="26" y="517"/>
                  </a:lnTo>
                  <a:lnTo>
                    <a:pt x="26" y="517"/>
                  </a:lnTo>
                  <a:lnTo>
                    <a:pt x="26" y="519"/>
                  </a:lnTo>
                  <a:lnTo>
                    <a:pt x="26" y="519"/>
                  </a:lnTo>
                  <a:lnTo>
                    <a:pt x="28" y="521"/>
                  </a:lnTo>
                  <a:lnTo>
                    <a:pt x="28" y="521"/>
                  </a:lnTo>
                  <a:lnTo>
                    <a:pt x="30" y="521"/>
                  </a:lnTo>
                  <a:lnTo>
                    <a:pt x="30" y="521"/>
                  </a:lnTo>
                  <a:lnTo>
                    <a:pt x="30" y="521"/>
                  </a:lnTo>
                  <a:lnTo>
                    <a:pt x="30" y="519"/>
                  </a:lnTo>
                  <a:lnTo>
                    <a:pt x="32" y="519"/>
                  </a:lnTo>
                  <a:lnTo>
                    <a:pt x="32" y="519"/>
                  </a:lnTo>
                  <a:lnTo>
                    <a:pt x="32" y="519"/>
                  </a:lnTo>
                  <a:lnTo>
                    <a:pt x="34" y="519"/>
                  </a:lnTo>
                  <a:lnTo>
                    <a:pt x="36" y="519"/>
                  </a:lnTo>
                  <a:lnTo>
                    <a:pt x="36" y="519"/>
                  </a:lnTo>
                  <a:lnTo>
                    <a:pt x="38" y="519"/>
                  </a:lnTo>
                  <a:lnTo>
                    <a:pt x="38" y="519"/>
                  </a:lnTo>
                  <a:lnTo>
                    <a:pt x="38" y="517"/>
                  </a:lnTo>
                  <a:lnTo>
                    <a:pt x="38" y="517"/>
                  </a:lnTo>
                  <a:lnTo>
                    <a:pt x="38" y="515"/>
                  </a:lnTo>
                  <a:lnTo>
                    <a:pt x="38" y="515"/>
                  </a:lnTo>
                  <a:lnTo>
                    <a:pt x="38" y="513"/>
                  </a:lnTo>
                  <a:lnTo>
                    <a:pt x="38" y="513"/>
                  </a:lnTo>
                  <a:lnTo>
                    <a:pt x="38" y="512"/>
                  </a:lnTo>
                  <a:lnTo>
                    <a:pt x="36" y="512"/>
                  </a:lnTo>
                  <a:lnTo>
                    <a:pt x="36" y="512"/>
                  </a:lnTo>
                  <a:lnTo>
                    <a:pt x="36" y="512"/>
                  </a:lnTo>
                  <a:lnTo>
                    <a:pt x="36" y="512"/>
                  </a:lnTo>
                  <a:lnTo>
                    <a:pt x="36" y="510"/>
                  </a:lnTo>
                  <a:lnTo>
                    <a:pt x="36" y="510"/>
                  </a:lnTo>
                  <a:lnTo>
                    <a:pt x="38" y="510"/>
                  </a:lnTo>
                  <a:lnTo>
                    <a:pt x="38" y="510"/>
                  </a:lnTo>
                  <a:lnTo>
                    <a:pt x="38" y="510"/>
                  </a:lnTo>
                  <a:lnTo>
                    <a:pt x="38" y="508"/>
                  </a:lnTo>
                  <a:lnTo>
                    <a:pt x="38" y="508"/>
                  </a:lnTo>
                  <a:lnTo>
                    <a:pt x="38" y="508"/>
                  </a:lnTo>
                  <a:lnTo>
                    <a:pt x="38" y="508"/>
                  </a:lnTo>
                  <a:lnTo>
                    <a:pt x="38" y="508"/>
                  </a:lnTo>
                  <a:lnTo>
                    <a:pt x="38" y="506"/>
                  </a:lnTo>
                  <a:lnTo>
                    <a:pt x="38" y="506"/>
                  </a:lnTo>
                  <a:lnTo>
                    <a:pt x="38" y="506"/>
                  </a:lnTo>
                  <a:lnTo>
                    <a:pt x="40" y="506"/>
                  </a:lnTo>
                  <a:lnTo>
                    <a:pt x="40" y="506"/>
                  </a:lnTo>
                  <a:lnTo>
                    <a:pt x="40" y="506"/>
                  </a:lnTo>
                  <a:lnTo>
                    <a:pt x="40" y="506"/>
                  </a:lnTo>
                  <a:lnTo>
                    <a:pt x="40" y="508"/>
                  </a:lnTo>
                  <a:lnTo>
                    <a:pt x="40" y="508"/>
                  </a:lnTo>
                  <a:lnTo>
                    <a:pt x="40" y="510"/>
                  </a:lnTo>
                  <a:lnTo>
                    <a:pt x="42" y="510"/>
                  </a:lnTo>
                  <a:lnTo>
                    <a:pt x="44" y="508"/>
                  </a:lnTo>
                  <a:lnTo>
                    <a:pt x="44" y="508"/>
                  </a:lnTo>
                  <a:lnTo>
                    <a:pt x="44" y="508"/>
                  </a:lnTo>
                  <a:lnTo>
                    <a:pt x="45" y="508"/>
                  </a:lnTo>
                  <a:lnTo>
                    <a:pt x="45" y="510"/>
                  </a:lnTo>
                  <a:lnTo>
                    <a:pt x="47" y="510"/>
                  </a:lnTo>
                  <a:lnTo>
                    <a:pt x="49" y="510"/>
                  </a:lnTo>
                  <a:lnTo>
                    <a:pt x="49" y="510"/>
                  </a:lnTo>
                  <a:lnTo>
                    <a:pt x="51" y="510"/>
                  </a:lnTo>
                  <a:lnTo>
                    <a:pt x="51" y="512"/>
                  </a:lnTo>
                  <a:lnTo>
                    <a:pt x="53" y="512"/>
                  </a:lnTo>
                  <a:lnTo>
                    <a:pt x="53" y="512"/>
                  </a:lnTo>
                  <a:lnTo>
                    <a:pt x="55" y="512"/>
                  </a:lnTo>
                  <a:lnTo>
                    <a:pt x="55" y="512"/>
                  </a:lnTo>
                  <a:lnTo>
                    <a:pt x="57" y="512"/>
                  </a:lnTo>
                  <a:lnTo>
                    <a:pt x="59" y="512"/>
                  </a:lnTo>
                  <a:lnTo>
                    <a:pt x="61" y="512"/>
                  </a:lnTo>
                  <a:lnTo>
                    <a:pt x="63" y="512"/>
                  </a:lnTo>
                  <a:lnTo>
                    <a:pt x="63" y="512"/>
                  </a:lnTo>
                  <a:lnTo>
                    <a:pt x="63" y="513"/>
                  </a:lnTo>
                  <a:lnTo>
                    <a:pt x="63" y="513"/>
                  </a:lnTo>
                  <a:lnTo>
                    <a:pt x="63" y="515"/>
                  </a:lnTo>
                  <a:lnTo>
                    <a:pt x="65" y="515"/>
                  </a:lnTo>
                  <a:lnTo>
                    <a:pt x="65" y="515"/>
                  </a:lnTo>
                  <a:lnTo>
                    <a:pt x="65" y="517"/>
                  </a:lnTo>
                  <a:lnTo>
                    <a:pt x="66" y="517"/>
                  </a:lnTo>
                  <a:lnTo>
                    <a:pt x="66" y="521"/>
                  </a:lnTo>
                  <a:lnTo>
                    <a:pt x="66" y="521"/>
                  </a:lnTo>
                  <a:lnTo>
                    <a:pt x="66" y="523"/>
                  </a:lnTo>
                  <a:lnTo>
                    <a:pt x="66" y="525"/>
                  </a:lnTo>
                  <a:lnTo>
                    <a:pt x="66" y="525"/>
                  </a:lnTo>
                  <a:lnTo>
                    <a:pt x="68" y="525"/>
                  </a:lnTo>
                  <a:lnTo>
                    <a:pt x="68" y="525"/>
                  </a:lnTo>
                  <a:lnTo>
                    <a:pt x="68" y="525"/>
                  </a:lnTo>
                  <a:lnTo>
                    <a:pt x="70" y="525"/>
                  </a:lnTo>
                  <a:lnTo>
                    <a:pt x="72" y="525"/>
                  </a:lnTo>
                  <a:lnTo>
                    <a:pt x="72" y="525"/>
                  </a:lnTo>
                  <a:lnTo>
                    <a:pt x="74" y="523"/>
                  </a:lnTo>
                  <a:lnTo>
                    <a:pt x="76" y="521"/>
                  </a:lnTo>
                  <a:lnTo>
                    <a:pt x="78" y="521"/>
                  </a:lnTo>
                  <a:lnTo>
                    <a:pt x="80" y="521"/>
                  </a:lnTo>
                  <a:lnTo>
                    <a:pt x="80" y="521"/>
                  </a:lnTo>
                  <a:lnTo>
                    <a:pt x="82" y="521"/>
                  </a:lnTo>
                  <a:lnTo>
                    <a:pt x="80" y="521"/>
                  </a:lnTo>
                  <a:lnTo>
                    <a:pt x="80" y="519"/>
                  </a:lnTo>
                  <a:lnTo>
                    <a:pt x="80" y="519"/>
                  </a:lnTo>
                  <a:lnTo>
                    <a:pt x="82" y="519"/>
                  </a:lnTo>
                  <a:lnTo>
                    <a:pt x="82" y="517"/>
                  </a:lnTo>
                  <a:lnTo>
                    <a:pt x="82" y="517"/>
                  </a:lnTo>
                  <a:lnTo>
                    <a:pt x="84" y="517"/>
                  </a:lnTo>
                  <a:lnTo>
                    <a:pt x="85" y="517"/>
                  </a:lnTo>
                  <a:lnTo>
                    <a:pt x="85" y="517"/>
                  </a:lnTo>
                  <a:lnTo>
                    <a:pt x="85" y="519"/>
                  </a:lnTo>
                  <a:lnTo>
                    <a:pt x="87" y="519"/>
                  </a:lnTo>
                  <a:lnTo>
                    <a:pt x="87" y="519"/>
                  </a:lnTo>
                  <a:lnTo>
                    <a:pt x="87" y="519"/>
                  </a:lnTo>
                  <a:lnTo>
                    <a:pt x="87" y="519"/>
                  </a:lnTo>
                  <a:lnTo>
                    <a:pt x="89" y="517"/>
                  </a:lnTo>
                  <a:lnTo>
                    <a:pt x="89" y="517"/>
                  </a:lnTo>
                  <a:lnTo>
                    <a:pt x="89" y="515"/>
                  </a:lnTo>
                  <a:lnTo>
                    <a:pt x="89" y="515"/>
                  </a:lnTo>
                  <a:lnTo>
                    <a:pt x="91" y="515"/>
                  </a:lnTo>
                  <a:lnTo>
                    <a:pt x="93" y="513"/>
                  </a:lnTo>
                  <a:lnTo>
                    <a:pt x="93" y="513"/>
                  </a:lnTo>
                  <a:lnTo>
                    <a:pt x="93" y="513"/>
                  </a:lnTo>
                  <a:lnTo>
                    <a:pt x="95" y="512"/>
                  </a:lnTo>
                  <a:lnTo>
                    <a:pt x="95" y="512"/>
                  </a:lnTo>
                  <a:lnTo>
                    <a:pt x="97" y="510"/>
                  </a:lnTo>
                  <a:lnTo>
                    <a:pt x="99" y="510"/>
                  </a:lnTo>
                  <a:lnTo>
                    <a:pt x="99" y="510"/>
                  </a:lnTo>
                  <a:lnTo>
                    <a:pt x="99" y="508"/>
                  </a:lnTo>
                  <a:lnTo>
                    <a:pt x="99" y="508"/>
                  </a:lnTo>
                  <a:lnTo>
                    <a:pt x="99" y="508"/>
                  </a:lnTo>
                  <a:lnTo>
                    <a:pt x="99" y="506"/>
                  </a:lnTo>
                  <a:lnTo>
                    <a:pt x="97" y="506"/>
                  </a:lnTo>
                  <a:lnTo>
                    <a:pt x="97" y="506"/>
                  </a:lnTo>
                  <a:lnTo>
                    <a:pt x="97" y="504"/>
                  </a:lnTo>
                  <a:lnTo>
                    <a:pt x="97" y="504"/>
                  </a:lnTo>
                  <a:lnTo>
                    <a:pt x="97" y="504"/>
                  </a:lnTo>
                  <a:lnTo>
                    <a:pt x="99" y="502"/>
                  </a:lnTo>
                  <a:lnTo>
                    <a:pt x="99" y="502"/>
                  </a:lnTo>
                  <a:lnTo>
                    <a:pt x="99" y="502"/>
                  </a:lnTo>
                  <a:lnTo>
                    <a:pt x="101" y="504"/>
                  </a:lnTo>
                  <a:lnTo>
                    <a:pt x="103" y="504"/>
                  </a:lnTo>
                  <a:lnTo>
                    <a:pt x="105" y="504"/>
                  </a:lnTo>
                  <a:lnTo>
                    <a:pt x="105" y="504"/>
                  </a:lnTo>
                  <a:lnTo>
                    <a:pt x="105" y="504"/>
                  </a:lnTo>
                  <a:lnTo>
                    <a:pt x="106" y="504"/>
                  </a:lnTo>
                  <a:lnTo>
                    <a:pt x="106" y="504"/>
                  </a:lnTo>
                  <a:lnTo>
                    <a:pt x="108" y="504"/>
                  </a:lnTo>
                  <a:lnTo>
                    <a:pt x="108" y="504"/>
                  </a:lnTo>
                  <a:lnTo>
                    <a:pt x="108" y="504"/>
                  </a:lnTo>
                  <a:lnTo>
                    <a:pt x="110" y="502"/>
                  </a:lnTo>
                  <a:lnTo>
                    <a:pt x="110" y="502"/>
                  </a:lnTo>
                  <a:lnTo>
                    <a:pt x="110" y="502"/>
                  </a:lnTo>
                  <a:lnTo>
                    <a:pt x="112" y="500"/>
                  </a:lnTo>
                  <a:lnTo>
                    <a:pt x="112" y="500"/>
                  </a:lnTo>
                  <a:lnTo>
                    <a:pt x="112" y="500"/>
                  </a:lnTo>
                  <a:lnTo>
                    <a:pt x="112" y="500"/>
                  </a:lnTo>
                  <a:lnTo>
                    <a:pt x="112" y="502"/>
                  </a:lnTo>
                  <a:lnTo>
                    <a:pt x="112" y="502"/>
                  </a:lnTo>
                  <a:lnTo>
                    <a:pt x="112" y="504"/>
                  </a:lnTo>
                  <a:lnTo>
                    <a:pt x="112" y="504"/>
                  </a:lnTo>
                  <a:lnTo>
                    <a:pt x="112" y="506"/>
                  </a:lnTo>
                  <a:lnTo>
                    <a:pt x="112" y="506"/>
                  </a:lnTo>
                  <a:lnTo>
                    <a:pt x="110" y="508"/>
                  </a:lnTo>
                  <a:lnTo>
                    <a:pt x="110" y="508"/>
                  </a:lnTo>
                  <a:lnTo>
                    <a:pt x="110" y="508"/>
                  </a:lnTo>
                  <a:lnTo>
                    <a:pt x="110" y="510"/>
                  </a:lnTo>
                  <a:lnTo>
                    <a:pt x="110" y="512"/>
                  </a:lnTo>
                  <a:lnTo>
                    <a:pt x="110" y="512"/>
                  </a:lnTo>
                  <a:lnTo>
                    <a:pt x="110" y="513"/>
                  </a:lnTo>
                  <a:lnTo>
                    <a:pt x="110" y="513"/>
                  </a:lnTo>
                  <a:lnTo>
                    <a:pt x="112" y="513"/>
                  </a:lnTo>
                  <a:lnTo>
                    <a:pt x="112" y="512"/>
                  </a:lnTo>
                  <a:lnTo>
                    <a:pt x="114" y="510"/>
                  </a:lnTo>
                  <a:lnTo>
                    <a:pt x="114" y="510"/>
                  </a:lnTo>
                  <a:lnTo>
                    <a:pt x="116" y="510"/>
                  </a:lnTo>
                  <a:lnTo>
                    <a:pt x="116" y="510"/>
                  </a:lnTo>
                  <a:lnTo>
                    <a:pt x="118" y="510"/>
                  </a:lnTo>
                  <a:lnTo>
                    <a:pt x="118" y="510"/>
                  </a:lnTo>
                  <a:lnTo>
                    <a:pt x="118" y="510"/>
                  </a:lnTo>
                  <a:lnTo>
                    <a:pt x="122" y="508"/>
                  </a:lnTo>
                  <a:lnTo>
                    <a:pt x="125" y="510"/>
                  </a:lnTo>
                  <a:lnTo>
                    <a:pt x="127" y="513"/>
                  </a:lnTo>
                  <a:lnTo>
                    <a:pt x="127" y="515"/>
                  </a:lnTo>
                  <a:lnTo>
                    <a:pt x="127" y="515"/>
                  </a:lnTo>
                  <a:lnTo>
                    <a:pt x="127" y="517"/>
                  </a:lnTo>
                  <a:lnTo>
                    <a:pt x="125" y="519"/>
                  </a:lnTo>
                  <a:lnTo>
                    <a:pt x="125" y="521"/>
                  </a:lnTo>
                  <a:lnTo>
                    <a:pt x="125" y="521"/>
                  </a:lnTo>
                  <a:lnTo>
                    <a:pt x="127" y="523"/>
                  </a:lnTo>
                  <a:lnTo>
                    <a:pt x="127" y="523"/>
                  </a:lnTo>
                  <a:lnTo>
                    <a:pt x="127" y="525"/>
                  </a:lnTo>
                  <a:lnTo>
                    <a:pt x="127" y="525"/>
                  </a:lnTo>
                  <a:lnTo>
                    <a:pt x="127" y="525"/>
                  </a:lnTo>
                  <a:lnTo>
                    <a:pt x="127" y="527"/>
                  </a:lnTo>
                  <a:lnTo>
                    <a:pt x="125" y="527"/>
                  </a:lnTo>
                  <a:lnTo>
                    <a:pt x="124" y="525"/>
                  </a:lnTo>
                  <a:lnTo>
                    <a:pt x="124" y="525"/>
                  </a:lnTo>
                  <a:lnTo>
                    <a:pt x="124" y="527"/>
                  </a:lnTo>
                  <a:lnTo>
                    <a:pt x="124" y="527"/>
                  </a:lnTo>
                  <a:lnTo>
                    <a:pt x="124" y="529"/>
                  </a:lnTo>
                  <a:lnTo>
                    <a:pt x="124" y="529"/>
                  </a:lnTo>
                  <a:lnTo>
                    <a:pt x="125" y="531"/>
                  </a:lnTo>
                  <a:lnTo>
                    <a:pt x="125" y="531"/>
                  </a:lnTo>
                  <a:lnTo>
                    <a:pt x="127" y="529"/>
                  </a:lnTo>
                  <a:lnTo>
                    <a:pt x="127" y="529"/>
                  </a:lnTo>
                  <a:lnTo>
                    <a:pt x="129" y="529"/>
                  </a:lnTo>
                  <a:lnTo>
                    <a:pt x="129" y="529"/>
                  </a:lnTo>
                  <a:lnTo>
                    <a:pt x="131" y="531"/>
                  </a:lnTo>
                  <a:lnTo>
                    <a:pt x="133" y="534"/>
                  </a:lnTo>
                  <a:lnTo>
                    <a:pt x="135" y="534"/>
                  </a:lnTo>
                  <a:lnTo>
                    <a:pt x="135" y="534"/>
                  </a:lnTo>
                  <a:lnTo>
                    <a:pt x="135" y="534"/>
                  </a:lnTo>
                  <a:lnTo>
                    <a:pt x="137" y="534"/>
                  </a:lnTo>
                  <a:lnTo>
                    <a:pt x="137" y="534"/>
                  </a:lnTo>
                  <a:lnTo>
                    <a:pt x="139" y="536"/>
                  </a:lnTo>
                  <a:lnTo>
                    <a:pt x="141" y="536"/>
                  </a:lnTo>
                  <a:lnTo>
                    <a:pt x="143" y="536"/>
                  </a:lnTo>
                  <a:lnTo>
                    <a:pt x="143" y="536"/>
                  </a:lnTo>
                  <a:lnTo>
                    <a:pt x="145" y="536"/>
                  </a:lnTo>
                  <a:lnTo>
                    <a:pt x="145" y="534"/>
                  </a:lnTo>
                  <a:lnTo>
                    <a:pt x="146" y="534"/>
                  </a:lnTo>
                  <a:lnTo>
                    <a:pt x="146" y="534"/>
                  </a:lnTo>
                  <a:lnTo>
                    <a:pt x="146" y="534"/>
                  </a:lnTo>
                  <a:lnTo>
                    <a:pt x="148" y="536"/>
                  </a:lnTo>
                  <a:lnTo>
                    <a:pt x="148" y="536"/>
                  </a:lnTo>
                  <a:lnTo>
                    <a:pt x="148" y="536"/>
                  </a:lnTo>
                  <a:lnTo>
                    <a:pt x="150" y="536"/>
                  </a:lnTo>
                  <a:lnTo>
                    <a:pt x="150" y="536"/>
                  </a:lnTo>
                  <a:lnTo>
                    <a:pt x="152" y="536"/>
                  </a:lnTo>
                  <a:lnTo>
                    <a:pt x="152" y="536"/>
                  </a:lnTo>
                  <a:lnTo>
                    <a:pt x="152" y="536"/>
                  </a:lnTo>
                  <a:lnTo>
                    <a:pt x="152" y="536"/>
                  </a:lnTo>
                  <a:lnTo>
                    <a:pt x="152" y="538"/>
                  </a:lnTo>
                  <a:lnTo>
                    <a:pt x="152" y="540"/>
                  </a:lnTo>
                  <a:lnTo>
                    <a:pt x="152" y="540"/>
                  </a:lnTo>
                  <a:lnTo>
                    <a:pt x="152" y="542"/>
                  </a:lnTo>
                  <a:lnTo>
                    <a:pt x="152" y="544"/>
                  </a:lnTo>
                  <a:lnTo>
                    <a:pt x="152" y="544"/>
                  </a:lnTo>
                  <a:lnTo>
                    <a:pt x="152" y="546"/>
                  </a:lnTo>
                  <a:lnTo>
                    <a:pt x="152" y="546"/>
                  </a:lnTo>
                  <a:lnTo>
                    <a:pt x="152" y="548"/>
                  </a:lnTo>
                  <a:lnTo>
                    <a:pt x="152" y="548"/>
                  </a:lnTo>
                  <a:lnTo>
                    <a:pt x="152" y="553"/>
                  </a:lnTo>
                  <a:lnTo>
                    <a:pt x="152" y="553"/>
                  </a:lnTo>
                  <a:lnTo>
                    <a:pt x="152" y="553"/>
                  </a:lnTo>
                  <a:lnTo>
                    <a:pt x="150" y="553"/>
                  </a:lnTo>
                  <a:lnTo>
                    <a:pt x="150" y="555"/>
                  </a:lnTo>
                  <a:lnTo>
                    <a:pt x="150" y="555"/>
                  </a:lnTo>
                  <a:lnTo>
                    <a:pt x="150" y="555"/>
                  </a:lnTo>
                  <a:lnTo>
                    <a:pt x="150" y="557"/>
                  </a:lnTo>
                  <a:lnTo>
                    <a:pt x="152" y="557"/>
                  </a:lnTo>
                  <a:lnTo>
                    <a:pt x="152" y="557"/>
                  </a:lnTo>
                  <a:lnTo>
                    <a:pt x="152" y="559"/>
                  </a:lnTo>
                  <a:lnTo>
                    <a:pt x="152" y="559"/>
                  </a:lnTo>
                  <a:lnTo>
                    <a:pt x="154" y="561"/>
                  </a:lnTo>
                  <a:lnTo>
                    <a:pt x="154" y="561"/>
                  </a:lnTo>
                  <a:lnTo>
                    <a:pt x="154" y="561"/>
                  </a:lnTo>
                  <a:lnTo>
                    <a:pt x="156" y="561"/>
                  </a:lnTo>
                  <a:lnTo>
                    <a:pt x="156" y="561"/>
                  </a:lnTo>
                  <a:lnTo>
                    <a:pt x="158" y="561"/>
                  </a:lnTo>
                  <a:lnTo>
                    <a:pt x="158" y="561"/>
                  </a:lnTo>
                  <a:lnTo>
                    <a:pt x="158" y="561"/>
                  </a:lnTo>
                  <a:lnTo>
                    <a:pt x="160" y="561"/>
                  </a:lnTo>
                  <a:lnTo>
                    <a:pt x="160" y="561"/>
                  </a:lnTo>
                  <a:lnTo>
                    <a:pt x="160" y="561"/>
                  </a:lnTo>
                  <a:lnTo>
                    <a:pt x="160" y="561"/>
                  </a:lnTo>
                  <a:lnTo>
                    <a:pt x="162" y="563"/>
                  </a:lnTo>
                  <a:lnTo>
                    <a:pt x="165" y="565"/>
                  </a:lnTo>
                  <a:lnTo>
                    <a:pt x="165" y="565"/>
                  </a:lnTo>
                  <a:lnTo>
                    <a:pt x="165" y="565"/>
                  </a:lnTo>
                  <a:lnTo>
                    <a:pt x="165" y="565"/>
                  </a:lnTo>
                  <a:lnTo>
                    <a:pt x="167" y="565"/>
                  </a:lnTo>
                  <a:lnTo>
                    <a:pt x="167" y="565"/>
                  </a:lnTo>
                  <a:lnTo>
                    <a:pt x="167" y="565"/>
                  </a:lnTo>
                  <a:lnTo>
                    <a:pt x="169" y="563"/>
                  </a:lnTo>
                  <a:lnTo>
                    <a:pt x="169" y="563"/>
                  </a:lnTo>
                  <a:lnTo>
                    <a:pt x="169" y="565"/>
                  </a:lnTo>
                  <a:lnTo>
                    <a:pt x="171" y="565"/>
                  </a:lnTo>
                  <a:lnTo>
                    <a:pt x="171" y="565"/>
                  </a:lnTo>
                  <a:lnTo>
                    <a:pt x="171" y="567"/>
                  </a:lnTo>
                  <a:lnTo>
                    <a:pt x="171" y="567"/>
                  </a:lnTo>
                  <a:lnTo>
                    <a:pt x="171" y="569"/>
                  </a:lnTo>
                  <a:lnTo>
                    <a:pt x="171" y="571"/>
                  </a:lnTo>
                  <a:lnTo>
                    <a:pt x="171" y="571"/>
                  </a:lnTo>
                  <a:lnTo>
                    <a:pt x="171" y="571"/>
                  </a:lnTo>
                  <a:lnTo>
                    <a:pt x="169" y="572"/>
                  </a:lnTo>
                  <a:lnTo>
                    <a:pt x="169" y="572"/>
                  </a:lnTo>
                  <a:lnTo>
                    <a:pt x="169" y="574"/>
                  </a:lnTo>
                  <a:lnTo>
                    <a:pt x="169" y="574"/>
                  </a:lnTo>
                  <a:lnTo>
                    <a:pt x="169" y="576"/>
                  </a:lnTo>
                  <a:lnTo>
                    <a:pt x="167" y="578"/>
                  </a:lnTo>
                  <a:lnTo>
                    <a:pt x="167" y="578"/>
                  </a:lnTo>
                  <a:lnTo>
                    <a:pt x="165" y="580"/>
                  </a:lnTo>
                  <a:lnTo>
                    <a:pt x="165" y="582"/>
                  </a:lnTo>
                  <a:lnTo>
                    <a:pt x="165" y="584"/>
                  </a:lnTo>
                  <a:lnTo>
                    <a:pt x="165" y="584"/>
                  </a:lnTo>
                  <a:lnTo>
                    <a:pt x="165" y="586"/>
                  </a:lnTo>
                  <a:lnTo>
                    <a:pt x="164" y="586"/>
                  </a:lnTo>
                  <a:lnTo>
                    <a:pt x="162" y="588"/>
                  </a:lnTo>
                  <a:lnTo>
                    <a:pt x="162" y="588"/>
                  </a:lnTo>
                  <a:lnTo>
                    <a:pt x="162" y="588"/>
                  </a:lnTo>
                  <a:lnTo>
                    <a:pt x="162" y="590"/>
                  </a:lnTo>
                  <a:lnTo>
                    <a:pt x="160" y="591"/>
                  </a:lnTo>
                  <a:lnTo>
                    <a:pt x="160" y="591"/>
                  </a:lnTo>
                  <a:lnTo>
                    <a:pt x="160" y="591"/>
                  </a:lnTo>
                  <a:lnTo>
                    <a:pt x="160" y="593"/>
                  </a:lnTo>
                  <a:lnTo>
                    <a:pt x="156" y="597"/>
                  </a:lnTo>
                  <a:lnTo>
                    <a:pt x="156" y="597"/>
                  </a:lnTo>
                  <a:lnTo>
                    <a:pt x="156" y="599"/>
                  </a:lnTo>
                  <a:lnTo>
                    <a:pt x="156" y="599"/>
                  </a:lnTo>
                  <a:lnTo>
                    <a:pt x="158" y="599"/>
                  </a:lnTo>
                  <a:lnTo>
                    <a:pt x="158" y="599"/>
                  </a:lnTo>
                  <a:lnTo>
                    <a:pt x="160" y="601"/>
                  </a:lnTo>
                  <a:lnTo>
                    <a:pt x="162" y="603"/>
                  </a:lnTo>
                  <a:lnTo>
                    <a:pt x="162" y="603"/>
                  </a:lnTo>
                  <a:lnTo>
                    <a:pt x="162" y="605"/>
                  </a:lnTo>
                  <a:lnTo>
                    <a:pt x="162" y="605"/>
                  </a:lnTo>
                  <a:lnTo>
                    <a:pt x="160" y="605"/>
                  </a:lnTo>
                  <a:lnTo>
                    <a:pt x="158" y="605"/>
                  </a:lnTo>
                  <a:lnTo>
                    <a:pt x="152" y="601"/>
                  </a:lnTo>
                  <a:lnTo>
                    <a:pt x="152" y="599"/>
                  </a:lnTo>
                  <a:lnTo>
                    <a:pt x="152" y="599"/>
                  </a:lnTo>
                  <a:lnTo>
                    <a:pt x="152" y="599"/>
                  </a:lnTo>
                  <a:lnTo>
                    <a:pt x="150" y="599"/>
                  </a:lnTo>
                  <a:lnTo>
                    <a:pt x="150" y="599"/>
                  </a:lnTo>
                  <a:lnTo>
                    <a:pt x="150" y="601"/>
                  </a:lnTo>
                  <a:lnTo>
                    <a:pt x="150" y="601"/>
                  </a:lnTo>
                  <a:lnTo>
                    <a:pt x="150" y="603"/>
                  </a:lnTo>
                  <a:lnTo>
                    <a:pt x="150" y="605"/>
                  </a:lnTo>
                  <a:lnTo>
                    <a:pt x="148" y="605"/>
                  </a:lnTo>
                  <a:lnTo>
                    <a:pt x="148" y="605"/>
                  </a:lnTo>
                  <a:lnTo>
                    <a:pt x="148" y="605"/>
                  </a:lnTo>
                  <a:lnTo>
                    <a:pt x="146" y="605"/>
                  </a:lnTo>
                  <a:lnTo>
                    <a:pt x="146" y="605"/>
                  </a:lnTo>
                  <a:lnTo>
                    <a:pt x="146" y="605"/>
                  </a:lnTo>
                  <a:lnTo>
                    <a:pt x="145" y="607"/>
                  </a:lnTo>
                  <a:lnTo>
                    <a:pt x="145" y="607"/>
                  </a:lnTo>
                  <a:lnTo>
                    <a:pt x="145" y="607"/>
                  </a:lnTo>
                  <a:lnTo>
                    <a:pt x="145" y="607"/>
                  </a:lnTo>
                  <a:lnTo>
                    <a:pt x="143" y="607"/>
                  </a:lnTo>
                  <a:lnTo>
                    <a:pt x="143" y="605"/>
                  </a:lnTo>
                  <a:lnTo>
                    <a:pt x="143" y="605"/>
                  </a:lnTo>
                  <a:lnTo>
                    <a:pt x="141" y="605"/>
                  </a:lnTo>
                  <a:lnTo>
                    <a:pt x="141" y="605"/>
                  </a:lnTo>
                  <a:lnTo>
                    <a:pt x="141" y="605"/>
                  </a:lnTo>
                  <a:lnTo>
                    <a:pt x="141" y="607"/>
                  </a:lnTo>
                  <a:lnTo>
                    <a:pt x="141" y="607"/>
                  </a:lnTo>
                  <a:lnTo>
                    <a:pt x="141" y="609"/>
                  </a:lnTo>
                  <a:lnTo>
                    <a:pt x="141" y="610"/>
                  </a:lnTo>
                  <a:lnTo>
                    <a:pt x="141" y="610"/>
                  </a:lnTo>
                  <a:lnTo>
                    <a:pt x="141" y="612"/>
                  </a:lnTo>
                  <a:lnTo>
                    <a:pt x="141" y="614"/>
                  </a:lnTo>
                  <a:lnTo>
                    <a:pt x="139" y="614"/>
                  </a:lnTo>
                  <a:lnTo>
                    <a:pt x="143" y="620"/>
                  </a:lnTo>
                  <a:lnTo>
                    <a:pt x="146" y="622"/>
                  </a:lnTo>
                  <a:lnTo>
                    <a:pt x="150" y="626"/>
                  </a:lnTo>
                  <a:lnTo>
                    <a:pt x="154" y="626"/>
                  </a:lnTo>
                  <a:lnTo>
                    <a:pt x="154" y="626"/>
                  </a:lnTo>
                  <a:lnTo>
                    <a:pt x="154" y="626"/>
                  </a:lnTo>
                  <a:lnTo>
                    <a:pt x="156" y="626"/>
                  </a:lnTo>
                  <a:lnTo>
                    <a:pt x="158" y="626"/>
                  </a:lnTo>
                  <a:lnTo>
                    <a:pt x="158" y="626"/>
                  </a:lnTo>
                  <a:lnTo>
                    <a:pt x="160" y="626"/>
                  </a:lnTo>
                  <a:lnTo>
                    <a:pt x="164" y="622"/>
                  </a:lnTo>
                  <a:lnTo>
                    <a:pt x="164" y="620"/>
                  </a:lnTo>
                  <a:lnTo>
                    <a:pt x="164" y="618"/>
                  </a:lnTo>
                  <a:lnTo>
                    <a:pt x="164" y="618"/>
                  </a:lnTo>
                  <a:lnTo>
                    <a:pt x="164" y="616"/>
                  </a:lnTo>
                  <a:lnTo>
                    <a:pt x="164" y="616"/>
                  </a:lnTo>
                  <a:lnTo>
                    <a:pt x="165" y="616"/>
                  </a:lnTo>
                  <a:lnTo>
                    <a:pt x="165" y="616"/>
                  </a:lnTo>
                  <a:lnTo>
                    <a:pt x="165" y="616"/>
                  </a:lnTo>
                  <a:lnTo>
                    <a:pt x="167" y="616"/>
                  </a:lnTo>
                  <a:lnTo>
                    <a:pt x="167" y="616"/>
                  </a:lnTo>
                  <a:lnTo>
                    <a:pt x="171" y="614"/>
                  </a:lnTo>
                  <a:lnTo>
                    <a:pt x="171" y="614"/>
                  </a:lnTo>
                  <a:lnTo>
                    <a:pt x="171" y="612"/>
                  </a:lnTo>
                  <a:lnTo>
                    <a:pt x="175" y="607"/>
                  </a:lnTo>
                  <a:lnTo>
                    <a:pt x="177" y="599"/>
                  </a:lnTo>
                  <a:lnTo>
                    <a:pt x="177" y="597"/>
                  </a:lnTo>
                  <a:lnTo>
                    <a:pt x="177" y="597"/>
                  </a:lnTo>
                  <a:lnTo>
                    <a:pt x="177" y="595"/>
                  </a:lnTo>
                  <a:lnTo>
                    <a:pt x="177" y="593"/>
                  </a:lnTo>
                  <a:lnTo>
                    <a:pt x="177" y="593"/>
                  </a:lnTo>
                  <a:lnTo>
                    <a:pt x="179" y="591"/>
                  </a:lnTo>
                  <a:lnTo>
                    <a:pt x="179" y="590"/>
                  </a:lnTo>
                  <a:lnTo>
                    <a:pt x="181" y="590"/>
                  </a:lnTo>
                  <a:lnTo>
                    <a:pt x="181" y="590"/>
                  </a:lnTo>
                  <a:lnTo>
                    <a:pt x="183" y="590"/>
                  </a:lnTo>
                  <a:lnTo>
                    <a:pt x="183" y="590"/>
                  </a:lnTo>
                  <a:lnTo>
                    <a:pt x="185" y="588"/>
                  </a:lnTo>
                  <a:lnTo>
                    <a:pt x="185" y="588"/>
                  </a:lnTo>
                  <a:lnTo>
                    <a:pt x="185" y="586"/>
                  </a:lnTo>
                  <a:lnTo>
                    <a:pt x="186" y="586"/>
                  </a:lnTo>
                  <a:lnTo>
                    <a:pt x="190" y="586"/>
                  </a:lnTo>
                  <a:lnTo>
                    <a:pt x="192" y="586"/>
                  </a:lnTo>
                  <a:lnTo>
                    <a:pt x="194" y="584"/>
                  </a:lnTo>
                  <a:lnTo>
                    <a:pt x="198" y="584"/>
                  </a:lnTo>
                  <a:lnTo>
                    <a:pt x="198" y="584"/>
                  </a:lnTo>
                  <a:lnTo>
                    <a:pt x="200" y="586"/>
                  </a:lnTo>
                  <a:lnTo>
                    <a:pt x="200" y="588"/>
                  </a:lnTo>
                  <a:lnTo>
                    <a:pt x="200" y="588"/>
                  </a:lnTo>
                  <a:lnTo>
                    <a:pt x="200" y="588"/>
                  </a:lnTo>
                  <a:lnTo>
                    <a:pt x="202" y="588"/>
                  </a:lnTo>
                  <a:lnTo>
                    <a:pt x="204" y="588"/>
                  </a:lnTo>
                  <a:lnTo>
                    <a:pt x="204" y="586"/>
                  </a:lnTo>
                  <a:lnTo>
                    <a:pt x="204" y="586"/>
                  </a:lnTo>
                  <a:lnTo>
                    <a:pt x="204" y="586"/>
                  </a:lnTo>
                  <a:lnTo>
                    <a:pt x="204" y="584"/>
                  </a:lnTo>
                  <a:lnTo>
                    <a:pt x="206" y="584"/>
                  </a:lnTo>
                  <a:lnTo>
                    <a:pt x="206" y="582"/>
                  </a:lnTo>
                  <a:lnTo>
                    <a:pt x="207" y="584"/>
                  </a:lnTo>
                  <a:lnTo>
                    <a:pt x="209" y="584"/>
                  </a:lnTo>
                  <a:lnTo>
                    <a:pt x="209" y="584"/>
                  </a:lnTo>
                  <a:lnTo>
                    <a:pt x="211" y="584"/>
                  </a:lnTo>
                  <a:lnTo>
                    <a:pt x="211" y="584"/>
                  </a:lnTo>
                  <a:lnTo>
                    <a:pt x="211" y="584"/>
                  </a:lnTo>
                  <a:lnTo>
                    <a:pt x="211" y="586"/>
                  </a:lnTo>
                  <a:lnTo>
                    <a:pt x="211" y="586"/>
                  </a:lnTo>
                  <a:lnTo>
                    <a:pt x="213" y="588"/>
                  </a:lnTo>
                  <a:lnTo>
                    <a:pt x="215" y="588"/>
                  </a:lnTo>
                  <a:lnTo>
                    <a:pt x="215" y="588"/>
                  </a:lnTo>
                  <a:lnTo>
                    <a:pt x="217" y="588"/>
                  </a:lnTo>
                  <a:lnTo>
                    <a:pt x="217" y="588"/>
                  </a:lnTo>
                  <a:lnTo>
                    <a:pt x="219" y="588"/>
                  </a:lnTo>
                  <a:lnTo>
                    <a:pt x="221" y="588"/>
                  </a:lnTo>
                  <a:lnTo>
                    <a:pt x="225" y="588"/>
                  </a:lnTo>
                  <a:lnTo>
                    <a:pt x="225" y="588"/>
                  </a:lnTo>
                  <a:lnTo>
                    <a:pt x="226" y="588"/>
                  </a:lnTo>
                  <a:lnTo>
                    <a:pt x="226" y="586"/>
                  </a:lnTo>
                  <a:lnTo>
                    <a:pt x="230" y="584"/>
                  </a:lnTo>
                  <a:lnTo>
                    <a:pt x="232" y="578"/>
                  </a:lnTo>
                  <a:lnTo>
                    <a:pt x="234" y="578"/>
                  </a:lnTo>
                  <a:lnTo>
                    <a:pt x="234" y="578"/>
                  </a:lnTo>
                  <a:lnTo>
                    <a:pt x="236" y="578"/>
                  </a:lnTo>
                  <a:lnTo>
                    <a:pt x="238" y="578"/>
                  </a:lnTo>
                  <a:lnTo>
                    <a:pt x="238" y="580"/>
                  </a:lnTo>
                  <a:lnTo>
                    <a:pt x="238" y="580"/>
                  </a:lnTo>
                  <a:lnTo>
                    <a:pt x="240" y="580"/>
                  </a:lnTo>
                  <a:lnTo>
                    <a:pt x="242" y="578"/>
                  </a:lnTo>
                  <a:lnTo>
                    <a:pt x="244" y="576"/>
                  </a:lnTo>
                  <a:lnTo>
                    <a:pt x="246" y="574"/>
                  </a:lnTo>
                  <a:lnTo>
                    <a:pt x="246" y="572"/>
                  </a:lnTo>
                  <a:lnTo>
                    <a:pt x="246" y="572"/>
                  </a:lnTo>
                  <a:lnTo>
                    <a:pt x="249" y="571"/>
                  </a:lnTo>
                  <a:lnTo>
                    <a:pt x="249" y="571"/>
                  </a:lnTo>
                  <a:lnTo>
                    <a:pt x="249" y="569"/>
                  </a:lnTo>
                  <a:lnTo>
                    <a:pt x="249" y="569"/>
                  </a:lnTo>
                  <a:lnTo>
                    <a:pt x="249" y="567"/>
                  </a:lnTo>
                  <a:lnTo>
                    <a:pt x="249" y="567"/>
                  </a:lnTo>
                  <a:lnTo>
                    <a:pt x="251" y="565"/>
                  </a:lnTo>
                  <a:lnTo>
                    <a:pt x="251" y="563"/>
                  </a:lnTo>
                  <a:lnTo>
                    <a:pt x="251" y="563"/>
                  </a:lnTo>
                  <a:lnTo>
                    <a:pt x="251" y="561"/>
                  </a:lnTo>
                  <a:lnTo>
                    <a:pt x="251" y="561"/>
                  </a:lnTo>
                  <a:lnTo>
                    <a:pt x="251" y="561"/>
                  </a:lnTo>
                  <a:lnTo>
                    <a:pt x="253" y="559"/>
                  </a:lnTo>
                  <a:lnTo>
                    <a:pt x="255" y="559"/>
                  </a:lnTo>
                  <a:lnTo>
                    <a:pt x="257" y="559"/>
                  </a:lnTo>
                  <a:lnTo>
                    <a:pt x="259" y="559"/>
                  </a:lnTo>
                  <a:lnTo>
                    <a:pt x="259" y="561"/>
                  </a:lnTo>
                  <a:lnTo>
                    <a:pt x="261" y="561"/>
                  </a:lnTo>
                  <a:lnTo>
                    <a:pt x="263" y="563"/>
                  </a:lnTo>
                  <a:lnTo>
                    <a:pt x="263" y="565"/>
                  </a:lnTo>
                  <a:lnTo>
                    <a:pt x="263" y="565"/>
                  </a:lnTo>
                  <a:lnTo>
                    <a:pt x="265" y="565"/>
                  </a:lnTo>
                  <a:lnTo>
                    <a:pt x="266" y="565"/>
                  </a:lnTo>
                  <a:lnTo>
                    <a:pt x="272" y="565"/>
                  </a:lnTo>
                  <a:lnTo>
                    <a:pt x="274" y="565"/>
                  </a:lnTo>
                  <a:lnTo>
                    <a:pt x="274" y="565"/>
                  </a:lnTo>
                  <a:lnTo>
                    <a:pt x="274" y="567"/>
                  </a:lnTo>
                  <a:lnTo>
                    <a:pt x="274" y="567"/>
                  </a:lnTo>
                  <a:lnTo>
                    <a:pt x="274" y="569"/>
                  </a:lnTo>
                  <a:lnTo>
                    <a:pt x="274" y="569"/>
                  </a:lnTo>
                  <a:lnTo>
                    <a:pt x="274" y="569"/>
                  </a:lnTo>
                  <a:lnTo>
                    <a:pt x="278" y="571"/>
                  </a:lnTo>
                  <a:lnTo>
                    <a:pt x="278" y="571"/>
                  </a:lnTo>
                  <a:lnTo>
                    <a:pt x="280" y="571"/>
                  </a:lnTo>
                  <a:lnTo>
                    <a:pt x="282" y="571"/>
                  </a:lnTo>
                  <a:lnTo>
                    <a:pt x="282" y="571"/>
                  </a:lnTo>
                  <a:lnTo>
                    <a:pt x="284" y="571"/>
                  </a:lnTo>
                  <a:lnTo>
                    <a:pt x="284" y="569"/>
                  </a:lnTo>
                  <a:lnTo>
                    <a:pt x="284" y="569"/>
                  </a:lnTo>
                  <a:lnTo>
                    <a:pt x="284" y="569"/>
                  </a:lnTo>
                  <a:lnTo>
                    <a:pt x="282" y="569"/>
                  </a:lnTo>
                  <a:lnTo>
                    <a:pt x="282" y="567"/>
                  </a:lnTo>
                  <a:lnTo>
                    <a:pt x="282" y="567"/>
                  </a:lnTo>
                  <a:lnTo>
                    <a:pt x="280" y="567"/>
                  </a:lnTo>
                  <a:lnTo>
                    <a:pt x="280" y="567"/>
                  </a:lnTo>
                  <a:lnTo>
                    <a:pt x="280" y="565"/>
                  </a:lnTo>
                  <a:lnTo>
                    <a:pt x="280" y="565"/>
                  </a:lnTo>
                  <a:lnTo>
                    <a:pt x="280" y="565"/>
                  </a:lnTo>
                  <a:lnTo>
                    <a:pt x="282" y="563"/>
                  </a:lnTo>
                  <a:lnTo>
                    <a:pt x="282" y="563"/>
                  </a:lnTo>
                  <a:lnTo>
                    <a:pt x="284" y="565"/>
                  </a:lnTo>
                  <a:lnTo>
                    <a:pt x="284" y="565"/>
                  </a:lnTo>
                  <a:lnTo>
                    <a:pt x="286" y="563"/>
                  </a:lnTo>
                  <a:lnTo>
                    <a:pt x="291" y="561"/>
                  </a:lnTo>
                  <a:lnTo>
                    <a:pt x="299" y="557"/>
                  </a:lnTo>
                  <a:lnTo>
                    <a:pt x="299" y="555"/>
                  </a:lnTo>
                  <a:lnTo>
                    <a:pt x="299" y="555"/>
                  </a:lnTo>
                  <a:lnTo>
                    <a:pt x="299" y="553"/>
                  </a:lnTo>
                  <a:lnTo>
                    <a:pt x="299" y="553"/>
                  </a:lnTo>
                  <a:lnTo>
                    <a:pt x="299" y="553"/>
                  </a:lnTo>
                  <a:lnTo>
                    <a:pt x="299" y="552"/>
                  </a:lnTo>
                  <a:lnTo>
                    <a:pt x="301" y="552"/>
                  </a:lnTo>
                  <a:lnTo>
                    <a:pt x="301" y="550"/>
                  </a:lnTo>
                  <a:lnTo>
                    <a:pt x="303" y="548"/>
                  </a:lnTo>
                  <a:lnTo>
                    <a:pt x="305" y="548"/>
                  </a:lnTo>
                  <a:lnTo>
                    <a:pt x="307" y="548"/>
                  </a:lnTo>
                  <a:lnTo>
                    <a:pt x="307" y="546"/>
                  </a:lnTo>
                  <a:lnTo>
                    <a:pt x="308" y="546"/>
                  </a:lnTo>
                  <a:lnTo>
                    <a:pt x="308" y="546"/>
                  </a:lnTo>
                  <a:lnTo>
                    <a:pt x="308" y="544"/>
                  </a:lnTo>
                  <a:lnTo>
                    <a:pt x="307" y="544"/>
                  </a:lnTo>
                  <a:lnTo>
                    <a:pt x="307" y="544"/>
                  </a:lnTo>
                  <a:lnTo>
                    <a:pt x="307" y="544"/>
                  </a:lnTo>
                  <a:lnTo>
                    <a:pt x="307" y="542"/>
                  </a:lnTo>
                  <a:lnTo>
                    <a:pt x="305" y="542"/>
                  </a:lnTo>
                  <a:lnTo>
                    <a:pt x="307" y="542"/>
                  </a:lnTo>
                  <a:lnTo>
                    <a:pt x="307" y="542"/>
                  </a:lnTo>
                  <a:lnTo>
                    <a:pt x="307" y="540"/>
                  </a:lnTo>
                  <a:lnTo>
                    <a:pt x="307" y="542"/>
                  </a:lnTo>
                  <a:lnTo>
                    <a:pt x="308" y="542"/>
                  </a:lnTo>
                  <a:lnTo>
                    <a:pt x="310" y="544"/>
                  </a:lnTo>
                  <a:lnTo>
                    <a:pt x="312" y="544"/>
                  </a:lnTo>
                  <a:lnTo>
                    <a:pt x="312" y="544"/>
                  </a:lnTo>
                  <a:lnTo>
                    <a:pt x="312" y="544"/>
                  </a:lnTo>
                  <a:lnTo>
                    <a:pt x="312" y="546"/>
                  </a:lnTo>
                  <a:lnTo>
                    <a:pt x="312" y="546"/>
                  </a:lnTo>
                  <a:lnTo>
                    <a:pt x="312" y="546"/>
                  </a:lnTo>
                  <a:lnTo>
                    <a:pt x="312" y="546"/>
                  </a:lnTo>
                  <a:lnTo>
                    <a:pt x="312" y="548"/>
                  </a:lnTo>
                  <a:lnTo>
                    <a:pt x="312" y="548"/>
                  </a:lnTo>
                  <a:lnTo>
                    <a:pt x="312" y="548"/>
                  </a:lnTo>
                  <a:lnTo>
                    <a:pt x="314" y="548"/>
                  </a:lnTo>
                  <a:lnTo>
                    <a:pt x="316" y="548"/>
                  </a:lnTo>
                  <a:lnTo>
                    <a:pt x="316" y="548"/>
                  </a:lnTo>
                  <a:lnTo>
                    <a:pt x="322" y="550"/>
                  </a:lnTo>
                  <a:lnTo>
                    <a:pt x="324" y="550"/>
                  </a:lnTo>
                  <a:lnTo>
                    <a:pt x="327" y="548"/>
                  </a:lnTo>
                  <a:lnTo>
                    <a:pt x="327" y="548"/>
                  </a:lnTo>
                  <a:lnTo>
                    <a:pt x="327" y="548"/>
                  </a:lnTo>
                  <a:lnTo>
                    <a:pt x="326" y="548"/>
                  </a:lnTo>
                  <a:lnTo>
                    <a:pt x="326" y="548"/>
                  </a:lnTo>
                  <a:lnTo>
                    <a:pt x="324" y="546"/>
                  </a:lnTo>
                  <a:lnTo>
                    <a:pt x="324" y="546"/>
                  </a:lnTo>
                  <a:lnTo>
                    <a:pt x="324" y="546"/>
                  </a:lnTo>
                  <a:lnTo>
                    <a:pt x="320" y="546"/>
                  </a:lnTo>
                  <a:lnTo>
                    <a:pt x="316" y="546"/>
                  </a:lnTo>
                  <a:lnTo>
                    <a:pt x="314" y="544"/>
                  </a:lnTo>
                  <a:lnTo>
                    <a:pt x="314" y="544"/>
                  </a:lnTo>
                  <a:lnTo>
                    <a:pt x="314" y="544"/>
                  </a:lnTo>
                  <a:lnTo>
                    <a:pt x="312" y="540"/>
                  </a:lnTo>
                  <a:lnTo>
                    <a:pt x="308" y="538"/>
                  </a:lnTo>
                  <a:lnTo>
                    <a:pt x="308" y="536"/>
                  </a:lnTo>
                  <a:lnTo>
                    <a:pt x="308" y="532"/>
                  </a:lnTo>
                  <a:lnTo>
                    <a:pt x="310" y="531"/>
                  </a:lnTo>
                  <a:lnTo>
                    <a:pt x="310" y="529"/>
                  </a:lnTo>
                  <a:lnTo>
                    <a:pt x="312" y="529"/>
                  </a:lnTo>
                  <a:lnTo>
                    <a:pt x="312" y="527"/>
                  </a:lnTo>
                  <a:lnTo>
                    <a:pt x="312" y="527"/>
                  </a:lnTo>
                  <a:lnTo>
                    <a:pt x="312" y="527"/>
                  </a:lnTo>
                  <a:lnTo>
                    <a:pt x="314" y="529"/>
                  </a:lnTo>
                  <a:lnTo>
                    <a:pt x="314" y="529"/>
                  </a:lnTo>
                  <a:lnTo>
                    <a:pt x="314" y="531"/>
                  </a:lnTo>
                  <a:lnTo>
                    <a:pt x="314" y="532"/>
                  </a:lnTo>
                  <a:lnTo>
                    <a:pt x="316" y="532"/>
                  </a:lnTo>
                  <a:lnTo>
                    <a:pt x="316" y="531"/>
                  </a:lnTo>
                  <a:lnTo>
                    <a:pt x="316" y="523"/>
                  </a:lnTo>
                  <a:lnTo>
                    <a:pt x="316" y="523"/>
                  </a:lnTo>
                  <a:lnTo>
                    <a:pt x="320" y="527"/>
                  </a:lnTo>
                  <a:lnTo>
                    <a:pt x="322" y="531"/>
                  </a:lnTo>
                  <a:lnTo>
                    <a:pt x="326" y="536"/>
                  </a:lnTo>
                  <a:lnTo>
                    <a:pt x="329" y="544"/>
                  </a:lnTo>
                  <a:lnTo>
                    <a:pt x="329" y="544"/>
                  </a:lnTo>
                  <a:lnTo>
                    <a:pt x="329" y="542"/>
                  </a:lnTo>
                  <a:lnTo>
                    <a:pt x="329" y="542"/>
                  </a:lnTo>
                  <a:lnTo>
                    <a:pt x="327" y="536"/>
                  </a:lnTo>
                  <a:lnTo>
                    <a:pt x="326" y="529"/>
                  </a:lnTo>
                  <a:lnTo>
                    <a:pt x="324" y="527"/>
                  </a:lnTo>
                  <a:lnTo>
                    <a:pt x="324" y="525"/>
                  </a:lnTo>
                  <a:lnTo>
                    <a:pt x="324" y="523"/>
                  </a:lnTo>
                  <a:lnTo>
                    <a:pt x="326" y="521"/>
                  </a:lnTo>
                  <a:lnTo>
                    <a:pt x="326" y="515"/>
                  </a:lnTo>
                  <a:lnTo>
                    <a:pt x="326" y="512"/>
                  </a:lnTo>
                  <a:lnTo>
                    <a:pt x="318" y="498"/>
                  </a:lnTo>
                  <a:lnTo>
                    <a:pt x="316" y="494"/>
                  </a:lnTo>
                  <a:lnTo>
                    <a:pt x="314" y="483"/>
                  </a:lnTo>
                  <a:lnTo>
                    <a:pt x="314" y="479"/>
                  </a:lnTo>
                  <a:lnTo>
                    <a:pt x="316" y="475"/>
                  </a:lnTo>
                  <a:lnTo>
                    <a:pt x="314" y="474"/>
                  </a:lnTo>
                  <a:lnTo>
                    <a:pt x="312" y="475"/>
                  </a:lnTo>
                  <a:lnTo>
                    <a:pt x="310" y="475"/>
                  </a:lnTo>
                  <a:lnTo>
                    <a:pt x="310" y="477"/>
                  </a:lnTo>
                  <a:lnTo>
                    <a:pt x="308" y="479"/>
                  </a:lnTo>
                  <a:lnTo>
                    <a:pt x="307" y="477"/>
                  </a:lnTo>
                  <a:lnTo>
                    <a:pt x="308" y="475"/>
                  </a:lnTo>
                  <a:lnTo>
                    <a:pt x="308" y="475"/>
                  </a:lnTo>
                  <a:lnTo>
                    <a:pt x="310" y="475"/>
                  </a:lnTo>
                  <a:lnTo>
                    <a:pt x="310" y="474"/>
                  </a:lnTo>
                  <a:lnTo>
                    <a:pt x="312" y="474"/>
                  </a:lnTo>
                  <a:lnTo>
                    <a:pt x="314" y="472"/>
                  </a:lnTo>
                  <a:lnTo>
                    <a:pt x="316" y="472"/>
                  </a:lnTo>
                  <a:lnTo>
                    <a:pt x="318" y="466"/>
                  </a:lnTo>
                  <a:lnTo>
                    <a:pt x="320" y="464"/>
                  </a:lnTo>
                  <a:lnTo>
                    <a:pt x="320" y="460"/>
                  </a:lnTo>
                  <a:lnTo>
                    <a:pt x="320" y="453"/>
                  </a:lnTo>
                  <a:lnTo>
                    <a:pt x="320" y="447"/>
                  </a:lnTo>
                  <a:lnTo>
                    <a:pt x="320" y="445"/>
                  </a:lnTo>
                  <a:lnTo>
                    <a:pt x="320" y="445"/>
                  </a:lnTo>
                  <a:lnTo>
                    <a:pt x="322" y="443"/>
                  </a:lnTo>
                  <a:lnTo>
                    <a:pt x="322" y="443"/>
                  </a:lnTo>
                  <a:lnTo>
                    <a:pt x="320" y="443"/>
                  </a:lnTo>
                  <a:lnTo>
                    <a:pt x="320" y="443"/>
                  </a:lnTo>
                  <a:lnTo>
                    <a:pt x="318" y="443"/>
                  </a:lnTo>
                  <a:lnTo>
                    <a:pt x="316" y="443"/>
                  </a:lnTo>
                  <a:lnTo>
                    <a:pt x="316" y="443"/>
                  </a:lnTo>
                  <a:lnTo>
                    <a:pt x="318" y="441"/>
                  </a:lnTo>
                  <a:lnTo>
                    <a:pt x="318" y="441"/>
                  </a:lnTo>
                  <a:lnTo>
                    <a:pt x="320" y="441"/>
                  </a:lnTo>
                  <a:lnTo>
                    <a:pt x="320" y="439"/>
                  </a:lnTo>
                  <a:lnTo>
                    <a:pt x="318" y="437"/>
                  </a:lnTo>
                  <a:lnTo>
                    <a:pt x="318" y="437"/>
                  </a:lnTo>
                  <a:lnTo>
                    <a:pt x="318" y="434"/>
                  </a:lnTo>
                  <a:lnTo>
                    <a:pt x="316" y="434"/>
                  </a:lnTo>
                  <a:lnTo>
                    <a:pt x="314" y="432"/>
                  </a:lnTo>
                  <a:lnTo>
                    <a:pt x="314" y="430"/>
                  </a:lnTo>
                  <a:lnTo>
                    <a:pt x="312" y="430"/>
                  </a:lnTo>
                  <a:lnTo>
                    <a:pt x="312" y="430"/>
                  </a:lnTo>
                  <a:lnTo>
                    <a:pt x="312" y="424"/>
                  </a:lnTo>
                  <a:lnTo>
                    <a:pt x="310" y="409"/>
                  </a:lnTo>
                  <a:lnTo>
                    <a:pt x="310" y="407"/>
                  </a:lnTo>
                  <a:lnTo>
                    <a:pt x="308" y="405"/>
                  </a:lnTo>
                  <a:lnTo>
                    <a:pt x="308" y="401"/>
                  </a:lnTo>
                  <a:lnTo>
                    <a:pt x="308" y="394"/>
                  </a:lnTo>
                  <a:lnTo>
                    <a:pt x="310" y="382"/>
                  </a:lnTo>
                  <a:lnTo>
                    <a:pt x="312" y="373"/>
                  </a:lnTo>
                  <a:lnTo>
                    <a:pt x="310" y="373"/>
                  </a:lnTo>
                  <a:lnTo>
                    <a:pt x="314" y="367"/>
                  </a:lnTo>
                  <a:lnTo>
                    <a:pt x="314" y="365"/>
                  </a:lnTo>
                  <a:lnTo>
                    <a:pt x="316" y="363"/>
                  </a:lnTo>
                  <a:lnTo>
                    <a:pt x="318" y="359"/>
                  </a:lnTo>
                  <a:lnTo>
                    <a:pt x="320" y="359"/>
                  </a:lnTo>
                  <a:lnTo>
                    <a:pt x="322" y="356"/>
                  </a:lnTo>
                  <a:lnTo>
                    <a:pt x="322" y="354"/>
                  </a:lnTo>
                  <a:lnTo>
                    <a:pt x="322" y="354"/>
                  </a:lnTo>
                  <a:lnTo>
                    <a:pt x="322" y="352"/>
                  </a:lnTo>
                  <a:lnTo>
                    <a:pt x="324" y="350"/>
                  </a:lnTo>
                  <a:lnTo>
                    <a:pt x="324" y="348"/>
                  </a:lnTo>
                  <a:lnTo>
                    <a:pt x="327" y="337"/>
                  </a:lnTo>
                  <a:lnTo>
                    <a:pt x="329" y="335"/>
                  </a:lnTo>
                  <a:lnTo>
                    <a:pt x="335" y="327"/>
                  </a:lnTo>
                  <a:lnTo>
                    <a:pt x="339" y="325"/>
                  </a:lnTo>
                  <a:lnTo>
                    <a:pt x="343" y="325"/>
                  </a:lnTo>
                  <a:lnTo>
                    <a:pt x="345" y="323"/>
                  </a:lnTo>
                  <a:lnTo>
                    <a:pt x="345" y="323"/>
                  </a:lnTo>
                  <a:lnTo>
                    <a:pt x="347" y="321"/>
                  </a:lnTo>
                  <a:lnTo>
                    <a:pt x="347" y="321"/>
                  </a:lnTo>
                  <a:lnTo>
                    <a:pt x="347" y="321"/>
                  </a:lnTo>
                  <a:lnTo>
                    <a:pt x="348" y="321"/>
                  </a:lnTo>
                  <a:lnTo>
                    <a:pt x="352" y="319"/>
                  </a:lnTo>
                  <a:lnTo>
                    <a:pt x="352" y="319"/>
                  </a:lnTo>
                  <a:lnTo>
                    <a:pt x="354" y="318"/>
                  </a:lnTo>
                  <a:lnTo>
                    <a:pt x="354" y="318"/>
                  </a:lnTo>
                  <a:lnTo>
                    <a:pt x="356" y="319"/>
                  </a:lnTo>
                  <a:lnTo>
                    <a:pt x="356" y="318"/>
                  </a:lnTo>
                  <a:lnTo>
                    <a:pt x="358" y="318"/>
                  </a:lnTo>
                  <a:lnTo>
                    <a:pt x="360" y="318"/>
                  </a:lnTo>
                  <a:lnTo>
                    <a:pt x="364" y="318"/>
                  </a:lnTo>
                  <a:lnTo>
                    <a:pt x="364" y="316"/>
                  </a:lnTo>
                  <a:lnTo>
                    <a:pt x="364" y="316"/>
                  </a:lnTo>
                  <a:lnTo>
                    <a:pt x="366" y="316"/>
                  </a:lnTo>
                  <a:lnTo>
                    <a:pt x="366" y="316"/>
                  </a:lnTo>
                  <a:lnTo>
                    <a:pt x="366" y="316"/>
                  </a:lnTo>
                  <a:lnTo>
                    <a:pt x="367" y="316"/>
                  </a:lnTo>
                  <a:lnTo>
                    <a:pt x="371" y="316"/>
                  </a:lnTo>
                  <a:lnTo>
                    <a:pt x="373" y="316"/>
                  </a:lnTo>
                  <a:lnTo>
                    <a:pt x="375" y="318"/>
                  </a:lnTo>
                  <a:lnTo>
                    <a:pt x="377" y="321"/>
                  </a:lnTo>
                  <a:lnTo>
                    <a:pt x="377" y="325"/>
                  </a:lnTo>
                  <a:lnTo>
                    <a:pt x="377" y="333"/>
                  </a:lnTo>
                  <a:lnTo>
                    <a:pt x="379" y="333"/>
                  </a:lnTo>
                  <a:lnTo>
                    <a:pt x="379" y="331"/>
                  </a:lnTo>
                  <a:lnTo>
                    <a:pt x="383" y="323"/>
                  </a:lnTo>
                  <a:lnTo>
                    <a:pt x="385" y="316"/>
                  </a:lnTo>
                  <a:lnTo>
                    <a:pt x="385" y="312"/>
                  </a:lnTo>
                  <a:lnTo>
                    <a:pt x="385" y="308"/>
                  </a:lnTo>
                  <a:lnTo>
                    <a:pt x="383" y="304"/>
                  </a:lnTo>
                  <a:lnTo>
                    <a:pt x="385" y="304"/>
                  </a:lnTo>
                  <a:lnTo>
                    <a:pt x="385" y="306"/>
                  </a:lnTo>
                  <a:lnTo>
                    <a:pt x="385" y="306"/>
                  </a:lnTo>
                  <a:lnTo>
                    <a:pt x="387" y="304"/>
                  </a:lnTo>
                  <a:lnTo>
                    <a:pt x="385" y="304"/>
                  </a:lnTo>
                  <a:lnTo>
                    <a:pt x="387" y="302"/>
                  </a:lnTo>
                  <a:lnTo>
                    <a:pt x="387" y="306"/>
                  </a:lnTo>
                  <a:lnTo>
                    <a:pt x="387" y="308"/>
                  </a:lnTo>
                  <a:lnTo>
                    <a:pt x="387" y="310"/>
                  </a:lnTo>
                  <a:lnTo>
                    <a:pt x="387" y="316"/>
                  </a:lnTo>
                  <a:lnTo>
                    <a:pt x="387" y="318"/>
                  </a:lnTo>
                  <a:lnTo>
                    <a:pt x="387" y="319"/>
                  </a:lnTo>
                  <a:lnTo>
                    <a:pt x="388" y="321"/>
                  </a:lnTo>
                  <a:lnTo>
                    <a:pt x="390" y="321"/>
                  </a:lnTo>
                  <a:lnTo>
                    <a:pt x="390" y="323"/>
                  </a:lnTo>
                  <a:lnTo>
                    <a:pt x="394" y="325"/>
                  </a:lnTo>
                  <a:lnTo>
                    <a:pt x="394" y="327"/>
                  </a:lnTo>
                  <a:lnTo>
                    <a:pt x="394" y="327"/>
                  </a:lnTo>
                  <a:lnTo>
                    <a:pt x="396" y="327"/>
                  </a:lnTo>
                  <a:lnTo>
                    <a:pt x="396" y="327"/>
                  </a:lnTo>
                  <a:lnTo>
                    <a:pt x="396" y="327"/>
                  </a:lnTo>
                  <a:lnTo>
                    <a:pt x="396" y="325"/>
                  </a:lnTo>
                  <a:lnTo>
                    <a:pt x="396" y="323"/>
                  </a:lnTo>
                  <a:lnTo>
                    <a:pt x="396" y="323"/>
                  </a:lnTo>
                  <a:lnTo>
                    <a:pt x="396" y="323"/>
                  </a:lnTo>
                  <a:lnTo>
                    <a:pt x="394" y="321"/>
                  </a:lnTo>
                  <a:lnTo>
                    <a:pt x="394" y="321"/>
                  </a:lnTo>
                  <a:lnTo>
                    <a:pt x="398" y="318"/>
                  </a:lnTo>
                  <a:lnTo>
                    <a:pt x="400" y="316"/>
                  </a:lnTo>
                  <a:lnTo>
                    <a:pt x="404" y="314"/>
                  </a:lnTo>
                  <a:lnTo>
                    <a:pt x="408" y="310"/>
                  </a:lnTo>
                  <a:lnTo>
                    <a:pt x="409" y="310"/>
                  </a:lnTo>
                  <a:lnTo>
                    <a:pt x="409" y="308"/>
                  </a:lnTo>
                  <a:lnTo>
                    <a:pt x="409" y="302"/>
                  </a:lnTo>
                  <a:lnTo>
                    <a:pt x="409" y="300"/>
                  </a:lnTo>
                  <a:lnTo>
                    <a:pt x="411" y="299"/>
                  </a:lnTo>
                  <a:lnTo>
                    <a:pt x="413" y="293"/>
                  </a:lnTo>
                  <a:lnTo>
                    <a:pt x="415" y="287"/>
                  </a:lnTo>
                  <a:lnTo>
                    <a:pt x="417" y="283"/>
                  </a:lnTo>
                  <a:lnTo>
                    <a:pt x="419" y="280"/>
                  </a:lnTo>
                  <a:lnTo>
                    <a:pt x="419" y="278"/>
                  </a:lnTo>
                  <a:lnTo>
                    <a:pt x="419" y="278"/>
                  </a:lnTo>
                  <a:lnTo>
                    <a:pt x="419" y="276"/>
                  </a:lnTo>
                  <a:lnTo>
                    <a:pt x="419" y="276"/>
                  </a:lnTo>
                  <a:lnTo>
                    <a:pt x="419" y="274"/>
                  </a:lnTo>
                  <a:lnTo>
                    <a:pt x="425" y="270"/>
                  </a:lnTo>
                  <a:lnTo>
                    <a:pt x="427" y="270"/>
                  </a:lnTo>
                  <a:lnTo>
                    <a:pt x="427" y="270"/>
                  </a:lnTo>
                  <a:lnTo>
                    <a:pt x="428" y="270"/>
                  </a:lnTo>
                  <a:lnTo>
                    <a:pt x="430" y="270"/>
                  </a:lnTo>
                  <a:lnTo>
                    <a:pt x="430" y="270"/>
                  </a:lnTo>
                  <a:lnTo>
                    <a:pt x="432" y="270"/>
                  </a:lnTo>
                  <a:lnTo>
                    <a:pt x="432" y="270"/>
                  </a:lnTo>
                  <a:lnTo>
                    <a:pt x="434" y="270"/>
                  </a:lnTo>
                  <a:lnTo>
                    <a:pt x="434" y="272"/>
                  </a:lnTo>
                  <a:lnTo>
                    <a:pt x="434" y="272"/>
                  </a:lnTo>
                  <a:lnTo>
                    <a:pt x="434" y="272"/>
                  </a:lnTo>
                  <a:lnTo>
                    <a:pt x="434" y="274"/>
                  </a:lnTo>
                  <a:lnTo>
                    <a:pt x="440" y="272"/>
                  </a:lnTo>
                  <a:lnTo>
                    <a:pt x="442" y="272"/>
                  </a:lnTo>
                  <a:lnTo>
                    <a:pt x="444" y="272"/>
                  </a:lnTo>
                  <a:lnTo>
                    <a:pt x="446" y="272"/>
                  </a:lnTo>
                  <a:lnTo>
                    <a:pt x="446" y="270"/>
                  </a:lnTo>
                  <a:lnTo>
                    <a:pt x="448" y="270"/>
                  </a:lnTo>
                  <a:lnTo>
                    <a:pt x="448" y="270"/>
                  </a:lnTo>
                  <a:lnTo>
                    <a:pt x="448" y="272"/>
                  </a:lnTo>
                  <a:lnTo>
                    <a:pt x="448" y="274"/>
                  </a:lnTo>
                  <a:lnTo>
                    <a:pt x="449" y="274"/>
                  </a:lnTo>
                  <a:lnTo>
                    <a:pt x="453" y="274"/>
                  </a:lnTo>
                  <a:lnTo>
                    <a:pt x="453" y="274"/>
                  </a:lnTo>
                  <a:lnTo>
                    <a:pt x="455" y="274"/>
                  </a:lnTo>
                  <a:lnTo>
                    <a:pt x="457" y="274"/>
                  </a:lnTo>
                  <a:lnTo>
                    <a:pt x="459" y="276"/>
                  </a:lnTo>
                  <a:lnTo>
                    <a:pt x="461" y="276"/>
                  </a:lnTo>
                  <a:lnTo>
                    <a:pt x="461" y="276"/>
                  </a:lnTo>
                  <a:lnTo>
                    <a:pt x="465" y="276"/>
                  </a:lnTo>
                  <a:lnTo>
                    <a:pt x="467" y="274"/>
                  </a:lnTo>
                  <a:lnTo>
                    <a:pt x="474" y="270"/>
                  </a:lnTo>
                  <a:lnTo>
                    <a:pt x="476" y="270"/>
                  </a:lnTo>
                  <a:lnTo>
                    <a:pt x="478" y="270"/>
                  </a:lnTo>
                  <a:lnTo>
                    <a:pt x="482" y="268"/>
                  </a:lnTo>
                  <a:lnTo>
                    <a:pt x="482" y="268"/>
                  </a:lnTo>
                  <a:lnTo>
                    <a:pt x="484" y="266"/>
                  </a:lnTo>
                  <a:lnTo>
                    <a:pt x="484" y="266"/>
                  </a:lnTo>
                  <a:lnTo>
                    <a:pt x="486" y="266"/>
                  </a:lnTo>
                  <a:lnTo>
                    <a:pt x="488" y="266"/>
                  </a:lnTo>
                  <a:lnTo>
                    <a:pt x="488" y="266"/>
                  </a:lnTo>
                  <a:lnTo>
                    <a:pt x="489" y="264"/>
                  </a:lnTo>
                  <a:lnTo>
                    <a:pt x="491" y="262"/>
                  </a:lnTo>
                  <a:lnTo>
                    <a:pt x="493" y="264"/>
                  </a:lnTo>
                  <a:lnTo>
                    <a:pt x="495" y="262"/>
                  </a:lnTo>
                  <a:lnTo>
                    <a:pt x="499" y="261"/>
                  </a:lnTo>
                  <a:lnTo>
                    <a:pt x="503" y="259"/>
                  </a:lnTo>
                  <a:lnTo>
                    <a:pt x="505" y="259"/>
                  </a:lnTo>
                  <a:lnTo>
                    <a:pt x="507" y="257"/>
                  </a:lnTo>
                  <a:lnTo>
                    <a:pt x="512" y="251"/>
                  </a:lnTo>
                  <a:lnTo>
                    <a:pt x="516" y="251"/>
                  </a:lnTo>
                  <a:lnTo>
                    <a:pt x="514" y="249"/>
                  </a:lnTo>
                  <a:lnTo>
                    <a:pt x="514" y="247"/>
                  </a:lnTo>
                  <a:lnTo>
                    <a:pt x="514" y="247"/>
                  </a:lnTo>
                  <a:lnTo>
                    <a:pt x="514" y="245"/>
                  </a:lnTo>
                  <a:lnTo>
                    <a:pt x="514" y="245"/>
                  </a:lnTo>
                  <a:lnTo>
                    <a:pt x="514" y="247"/>
                  </a:lnTo>
                  <a:lnTo>
                    <a:pt x="516" y="247"/>
                  </a:lnTo>
                  <a:lnTo>
                    <a:pt x="516" y="247"/>
                  </a:lnTo>
                  <a:lnTo>
                    <a:pt x="516" y="247"/>
                  </a:lnTo>
                  <a:lnTo>
                    <a:pt x="516" y="247"/>
                  </a:lnTo>
                  <a:lnTo>
                    <a:pt x="516" y="245"/>
                  </a:lnTo>
                  <a:lnTo>
                    <a:pt x="518" y="242"/>
                  </a:lnTo>
                  <a:lnTo>
                    <a:pt x="520" y="238"/>
                  </a:lnTo>
                  <a:lnTo>
                    <a:pt x="520" y="234"/>
                  </a:lnTo>
                  <a:lnTo>
                    <a:pt x="522" y="228"/>
                  </a:lnTo>
                  <a:lnTo>
                    <a:pt x="522" y="224"/>
                  </a:lnTo>
                  <a:lnTo>
                    <a:pt x="522" y="219"/>
                  </a:lnTo>
                  <a:lnTo>
                    <a:pt x="520" y="217"/>
                  </a:lnTo>
                  <a:lnTo>
                    <a:pt x="520" y="215"/>
                  </a:lnTo>
                  <a:lnTo>
                    <a:pt x="520" y="217"/>
                  </a:lnTo>
                  <a:lnTo>
                    <a:pt x="520" y="221"/>
                  </a:lnTo>
                  <a:lnTo>
                    <a:pt x="522" y="224"/>
                  </a:lnTo>
                  <a:lnTo>
                    <a:pt x="520" y="224"/>
                  </a:lnTo>
                  <a:lnTo>
                    <a:pt x="518" y="224"/>
                  </a:lnTo>
                  <a:lnTo>
                    <a:pt x="518" y="224"/>
                  </a:lnTo>
                  <a:lnTo>
                    <a:pt x="518" y="224"/>
                  </a:lnTo>
                  <a:lnTo>
                    <a:pt x="516" y="224"/>
                  </a:lnTo>
                  <a:lnTo>
                    <a:pt x="516" y="224"/>
                  </a:lnTo>
                  <a:lnTo>
                    <a:pt x="516" y="224"/>
                  </a:lnTo>
                  <a:lnTo>
                    <a:pt x="516" y="224"/>
                  </a:lnTo>
                  <a:lnTo>
                    <a:pt x="514" y="224"/>
                  </a:lnTo>
                  <a:lnTo>
                    <a:pt x="512" y="222"/>
                  </a:lnTo>
                  <a:lnTo>
                    <a:pt x="510" y="221"/>
                  </a:lnTo>
                  <a:lnTo>
                    <a:pt x="510" y="219"/>
                  </a:lnTo>
                  <a:lnTo>
                    <a:pt x="510" y="217"/>
                  </a:lnTo>
                  <a:lnTo>
                    <a:pt x="514" y="211"/>
                  </a:lnTo>
                  <a:lnTo>
                    <a:pt x="514" y="207"/>
                  </a:lnTo>
                  <a:lnTo>
                    <a:pt x="516" y="205"/>
                  </a:lnTo>
                  <a:lnTo>
                    <a:pt x="520" y="203"/>
                  </a:lnTo>
                  <a:lnTo>
                    <a:pt x="522" y="200"/>
                  </a:lnTo>
                  <a:lnTo>
                    <a:pt x="524" y="198"/>
                  </a:lnTo>
                  <a:lnTo>
                    <a:pt x="526" y="196"/>
                  </a:lnTo>
                  <a:lnTo>
                    <a:pt x="528" y="196"/>
                  </a:lnTo>
                  <a:lnTo>
                    <a:pt x="529" y="192"/>
                  </a:lnTo>
                  <a:lnTo>
                    <a:pt x="531" y="190"/>
                  </a:lnTo>
                  <a:lnTo>
                    <a:pt x="554" y="177"/>
                  </a:lnTo>
                  <a:lnTo>
                    <a:pt x="558" y="175"/>
                  </a:lnTo>
                  <a:lnTo>
                    <a:pt x="562" y="173"/>
                  </a:lnTo>
                  <a:lnTo>
                    <a:pt x="566" y="173"/>
                  </a:lnTo>
                  <a:lnTo>
                    <a:pt x="566" y="171"/>
                  </a:lnTo>
                  <a:lnTo>
                    <a:pt x="568" y="169"/>
                  </a:lnTo>
                  <a:lnTo>
                    <a:pt x="569" y="169"/>
                  </a:lnTo>
                  <a:lnTo>
                    <a:pt x="569" y="171"/>
                  </a:lnTo>
                  <a:lnTo>
                    <a:pt x="569" y="171"/>
                  </a:lnTo>
                  <a:lnTo>
                    <a:pt x="575" y="167"/>
                  </a:lnTo>
                  <a:lnTo>
                    <a:pt x="575" y="167"/>
                  </a:lnTo>
                  <a:lnTo>
                    <a:pt x="577" y="167"/>
                  </a:lnTo>
                  <a:lnTo>
                    <a:pt x="577" y="165"/>
                  </a:lnTo>
                  <a:lnTo>
                    <a:pt x="579" y="164"/>
                  </a:lnTo>
                  <a:lnTo>
                    <a:pt x="581" y="164"/>
                  </a:lnTo>
                  <a:lnTo>
                    <a:pt x="585" y="162"/>
                  </a:lnTo>
                  <a:lnTo>
                    <a:pt x="589" y="160"/>
                  </a:lnTo>
                  <a:lnTo>
                    <a:pt x="596" y="156"/>
                  </a:lnTo>
                  <a:lnTo>
                    <a:pt x="598" y="154"/>
                  </a:lnTo>
                  <a:lnTo>
                    <a:pt x="600" y="154"/>
                  </a:lnTo>
                  <a:lnTo>
                    <a:pt x="600" y="154"/>
                  </a:lnTo>
                  <a:lnTo>
                    <a:pt x="602" y="152"/>
                  </a:lnTo>
                  <a:lnTo>
                    <a:pt x="602" y="152"/>
                  </a:lnTo>
                  <a:lnTo>
                    <a:pt x="600" y="148"/>
                  </a:lnTo>
                  <a:lnTo>
                    <a:pt x="602" y="148"/>
                  </a:lnTo>
                  <a:lnTo>
                    <a:pt x="604" y="148"/>
                  </a:lnTo>
                  <a:lnTo>
                    <a:pt x="604" y="148"/>
                  </a:lnTo>
                  <a:lnTo>
                    <a:pt x="606" y="146"/>
                  </a:lnTo>
                  <a:lnTo>
                    <a:pt x="608" y="146"/>
                  </a:lnTo>
                  <a:lnTo>
                    <a:pt x="608" y="145"/>
                  </a:lnTo>
                  <a:lnTo>
                    <a:pt x="608" y="145"/>
                  </a:lnTo>
                  <a:lnTo>
                    <a:pt x="606" y="145"/>
                  </a:lnTo>
                  <a:lnTo>
                    <a:pt x="604" y="143"/>
                  </a:lnTo>
                  <a:lnTo>
                    <a:pt x="602" y="143"/>
                  </a:lnTo>
                  <a:lnTo>
                    <a:pt x="602" y="141"/>
                  </a:lnTo>
                  <a:lnTo>
                    <a:pt x="604" y="141"/>
                  </a:lnTo>
                  <a:lnTo>
                    <a:pt x="606" y="141"/>
                  </a:lnTo>
                  <a:lnTo>
                    <a:pt x="606" y="143"/>
                  </a:lnTo>
                  <a:lnTo>
                    <a:pt x="606" y="143"/>
                  </a:lnTo>
                  <a:lnTo>
                    <a:pt x="606" y="143"/>
                  </a:lnTo>
                  <a:lnTo>
                    <a:pt x="606" y="143"/>
                  </a:lnTo>
                  <a:lnTo>
                    <a:pt x="606" y="143"/>
                  </a:lnTo>
                  <a:lnTo>
                    <a:pt x="608" y="143"/>
                  </a:lnTo>
                  <a:lnTo>
                    <a:pt x="608" y="143"/>
                  </a:lnTo>
                  <a:lnTo>
                    <a:pt x="608" y="143"/>
                  </a:lnTo>
                  <a:lnTo>
                    <a:pt x="609" y="143"/>
                  </a:lnTo>
                  <a:lnTo>
                    <a:pt x="609" y="143"/>
                  </a:lnTo>
                  <a:lnTo>
                    <a:pt x="611" y="141"/>
                  </a:lnTo>
                  <a:lnTo>
                    <a:pt x="617" y="135"/>
                  </a:lnTo>
                  <a:lnTo>
                    <a:pt x="619" y="133"/>
                  </a:lnTo>
                  <a:lnTo>
                    <a:pt x="619" y="129"/>
                  </a:lnTo>
                  <a:lnTo>
                    <a:pt x="619" y="127"/>
                  </a:lnTo>
                  <a:lnTo>
                    <a:pt x="621" y="125"/>
                  </a:lnTo>
                  <a:lnTo>
                    <a:pt x="621" y="124"/>
                  </a:lnTo>
                  <a:lnTo>
                    <a:pt x="621" y="122"/>
                  </a:lnTo>
                  <a:lnTo>
                    <a:pt x="621" y="122"/>
                  </a:lnTo>
                  <a:lnTo>
                    <a:pt x="623" y="122"/>
                  </a:lnTo>
                  <a:lnTo>
                    <a:pt x="623" y="124"/>
                  </a:lnTo>
                  <a:lnTo>
                    <a:pt x="623" y="124"/>
                  </a:lnTo>
                  <a:lnTo>
                    <a:pt x="625" y="122"/>
                  </a:lnTo>
                  <a:lnTo>
                    <a:pt x="629" y="120"/>
                  </a:lnTo>
                  <a:lnTo>
                    <a:pt x="629" y="118"/>
                  </a:lnTo>
                  <a:lnTo>
                    <a:pt x="630" y="118"/>
                  </a:lnTo>
                  <a:lnTo>
                    <a:pt x="630" y="116"/>
                  </a:lnTo>
                  <a:lnTo>
                    <a:pt x="630" y="116"/>
                  </a:lnTo>
                  <a:lnTo>
                    <a:pt x="632" y="116"/>
                  </a:lnTo>
                  <a:lnTo>
                    <a:pt x="632" y="112"/>
                  </a:lnTo>
                  <a:lnTo>
                    <a:pt x="634" y="112"/>
                  </a:lnTo>
                  <a:lnTo>
                    <a:pt x="636" y="108"/>
                  </a:lnTo>
                  <a:lnTo>
                    <a:pt x="651" y="101"/>
                  </a:lnTo>
                  <a:lnTo>
                    <a:pt x="680" y="87"/>
                  </a:lnTo>
                  <a:lnTo>
                    <a:pt x="682" y="84"/>
                  </a:lnTo>
                  <a:lnTo>
                    <a:pt x="684" y="82"/>
                  </a:lnTo>
                  <a:lnTo>
                    <a:pt x="684" y="80"/>
                  </a:lnTo>
                  <a:lnTo>
                    <a:pt x="684" y="80"/>
                  </a:lnTo>
                  <a:lnTo>
                    <a:pt x="686" y="78"/>
                  </a:lnTo>
                  <a:lnTo>
                    <a:pt x="686" y="78"/>
                  </a:lnTo>
                  <a:lnTo>
                    <a:pt x="686" y="76"/>
                  </a:lnTo>
                  <a:lnTo>
                    <a:pt x="688" y="74"/>
                  </a:lnTo>
                  <a:lnTo>
                    <a:pt x="690" y="72"/>
                  </a:lnTo>
                  <a:lnTo>
                    <a:pt x="693" y="70"/>
                  </a:lnTo>
                  <a:lnTo>
                    <a:pt x="695" y="68"/>
                  </a:lnTo>
                  <a:lnTo>
                    <a:pt x="699" y="65"/>
                  </a:lnTo>
                  <a:lnTo>
                    <a:pt x="703" y="61"/>
                  </a:lnTo>
                  <a:lnTo>
                    <a:pt x="705" y="59"/>
                  </a:lnTo>
                  <a:lnTo>
                    <a:pt x="703" y="61"/>
                  </a:lnTo>
                  <a:lnTo>
                    <a:pt x="699" y="63"/>
                  </a:lnTo>
                  <a:lnTo>
                    <a:pt x="697" y="65"/>
                  </a:lnTo>
                  <a:lnTo>
                    <a:pt x="695" y="65"/>
                  </a:lnTo>
                  <a:lnTo>
                    <a:pt x="693" y="65"/>
                  </a:lnTo>
                  <a:lnTo>
                    <a:pt x="695" y="63"/>
                  </a:lnTo>
                  <a:lnTo>
                    <a:pt x="695" y="63"/>
                  </a:lnTo>
                  <a:lnTo>
                    <a:pt x="697" y="63"/>
                  </a:lnTo>
                  <a:lnTo>
                    <a:pt x="699" y="63"/>
                  </a:lnTo>
                  <a:lnTo>
                    <a:pt x="699" y="63"/>
                  </a:lnTo>
                  <a:lnTo>
                    <a:pt x="701" y="61"/>
                  </a:lnTo>
                  <a:lnTo>
                    <a:pt x="701" y="61"/>
                  </a:lnTo>
                  <a:lnTo>
                    <a:pt x="703" y="59"/>
                  </a:lnTo>
                  <a:lnTo>
                    <a:pt x="705" y="59"/>
                  </a:lnTo>
                  <a:lnTo>
                    <a:pt x="707" y="55"/>
                  </a:lnTo>
                  <a:lnTo>
                    <a:pt x="710" y="51"/>
                  </a:lnTo>
                  <a:lnTo>
                    <a:pt x="712" y="51"/>
                  </a:lnTo>
                  <a:lnTo>
                    <a:pt x="712" y="49"/>
                  </a:lnTo>
                  <a:lnTo>
                    <a:pt x="714" y="48"/>
                  </a:lnTo>
                  <a:lnTo>
                    <a:pt x="722" y="38"/>
                  </a:lnTo>
                  <a:lnTo>
                    <a:pt x="722" y="36"/>
                  </a:lnTo>
                  <a:lnTo>
                    <a:pt x="730" y="25"/>
                  </a:lnTo>
                  <a:lnTo>
                    <a:pt x="733" y="23"/>
                  </a:lnTo>
                  <a:lnTo>
                    <a:pt x="735" y="21"/>
                  </a:lnTo>
                  <a:lnTo>
                    <a:pt x="737" y="19"/>
                  </a:lnTo>
                  <a:lnTo>
                    <a:pt x="741" y="13"/>
                  </a:lnTo>
                  <a:lnTo>
                    <a:pt x="741" y="11"/>
                  </a:lnTo>
                  <a:lnTo>
                    <a:pt x="745" y="8"/>
                  </a:lnTo>
                  <a:lnTo>
                    <a:pt x="745" y="8"/>
                  </a:lnTo>
                  <a:lnTo>
                    <a:pt x="743" y="6"/>
                  </a:lnTo>
                  <a:close/>
                  <a:moveTo>
                    <a:pt x="512" y="238"/>
                  </a:moveTo>
                  <a:lnTo>
                    <a:pt x="512" y="238"/>
                  </a:lnTo>
                  <a:lnTo>
                    <a:pt x="514" y="236"/>
                  </a:lnTo>
                  <a:lnTo>
                    <a:pt x="514" y="236"/>
                  </a:lnTo>
                  <a:lnTo>
                    <a:pt x="514" y="236"/>
                  </a:lnTo>
                  <a:lnTo>
                    <a:pt x="514" y="236"/>
                  </a:lnTo>
                  <a:lnTo>
                    <a:pt x="514" y="236"/>
                  </a:lnTo>
                  <a:lnTo>
                    <a:pt x="516" y="236"/>
                  </a:lnTo>
                  <a:lnTo>
                    <a:pt x="516" y="238"/>
                  </a:lnTo>
                  <a:lnTo>
                    <a:pt x="514" y="238"/>
                  </a:lnTo>
                  <a:lnTo>
                    <a:pt x="514" y="238"/>
                  </a:lnTo>
                  <a:lnTo>
                    <a:pt x="512" y="238"/>
                  </a:lnTo>
                  <a:lnTo>
                    <a:pt x="512" y="238"/>
                  </a:lnTo>
                  <a:lnTo>
                    <a:pt x="512" y="238"/>
                  </a:lnTo>
                  <a:lnTo>
                    <a:pt x="514" y="240"/>
                  </a:lnTo>
                  <a:lnTo>
                    <a:pt x="512" y="240"/>
                  </a:lnTo>
                  <a:lnTo>
                    <a:pt x="512" y="240"/>
                  </a:lnTo>
                  <a:lnTo>
                    <a:pt x="510" y="240"/>
                  </a:lnTo>
                  <a:lnTo>
                    <a:pt x="508" y="238"/>
                  </a:lnTo>
                  <a:lnTo>
                    <a:pt x="507" y="238"/>
                  </a:lnTo>
                  <a:lnTo>
                    <a:pt x="505" y="238"/>
                  </a:lnTo>
                  <a:lnTo>
                    <a:pt x="505" y="238"/>
                  </a:lnTo>
                  <a:lnTo>
                    <a:pt x="505" y="236"/>
                  </a:lnTo>
                  <a:lnTo>
                    <a:pt x="505" y="236"/>
                  </a:lnTo>
                  <a:lnTo>
                    <a:pt x="505" y="236"/>
                  </a:lnTo>
                  <a:lnTo>
                    <a:pt x="507" y="236"/>
                  </a:lnTo>
                  <a:lnTo>
                    <a:pt x="507" y="234"/>
                  </a:lnTo>
                  <a:lnTo>
                    <a:pt x="507" y="234"/>
                  </a:lnTo>
                  <a:lnTo>
                    <a:pt x="508" y="234"/>
                  </a:lnTo>
                  <a:lnTo>
                    <a:pt x="507" y="236"/>
                  </a:lnTo>
                  <a:lnTo>
                    <a:pt x="508" y="236"/>
                  </a:lnTo>
                  <a:lnTo>
                    <a:pt x="508" y="238"/>
                  </a:lnTo>
                  <a:lnTo>
                    <a:pt x="512" y="238"/>
                  </a:lnTo>
                  <a:close/>
                  <a:moveTo>
                    <a:pt x="392" y="325"/>
                  </a:moveTo>
                  <a:lnTo>
                    <a:pt x="388" y="323"/>
                  </a:lnTo>
                  <a:lnTo>
                    <a:pt x="385" y="321"/>
                  </a:lnTo>
                  <a:lnTo>
                    <a:pt x="385" y="321"/>
                  </a:lnTo>
                  <a:lnTo>
                    <a:pt x="383" y="323"/>
                  </a:lnTo>
                  <a:lnTo>
                    <a:pt x="388" y="329"/>
                  </a:lnTo>
                  <a:lnTo>
                    <a:pt x="390" y="331"/>
                  </a:lnTo>
                  <a:lnTo>
                    <a:pt x="390" y="331"/>
                  </a:lnTo>
                  <a:lnTo>
                    <a:pt x="392" y="331"/>
                  </a:lnTo>
                  <a:lnTo>
                    <a:pt x="394" y="329"/>
                  </a:lnTo>
                  <a:lnTo>
                    <a:pt x="394" y="329"/>
                  </a:lnTo>
                  <a:lnTo>
                    <a:pt x="394" y="327"/>
                  </a:lnTo>
                  <a:lnTo>
                    <a:pt x="392" y="325"/>
                  </a:lnTo>
                  <a:close/>
                </a:path>
              </a:pathLst>
            </a:custGeom>
            <a:solidFill>
              <a:schemeClr val="accent1"/>
            </a:solid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26" name="Freeform 51">
              <a:extLst>
                <a:ext uri="{FF2B5EF4-FFF2-40B4-BE49-F238E27FC236}">
                  <a16:creationId xmlns:a16="http://schemas.microsoft.com/office/drawing/2014/main" id="{E09EB7FD-3A25-FB84-4325-D9D503E4316A}"/>
                </a:ext>
              </a:extLst>
            </p:cNvPr>
            <p:cNvSpPr>
              <a:spLocks/>
            </p:cNvSpPr>
            <p:nvPr/>
          </p:nvSpPr>
          <p:spPr bwMode="auto">
            <a:xfrm>
              <a:off x="1768289" y="1156821"/>
              <a:ext cx="1369624" cy="901585"/>
            </a:xfrm>
            <a:custGeom>
              <a:avLst/>
              <a:gdLst>
                <a:gd name="T0" fmla="*/ 692 w 726"/>
                <a:gd name="T1" fmla="*/ 185 h 533"/>
                <a:gd name="T2" fmla="*/ 657 w 726"/>
                <a:gd name="T3" fmla="*/ 145 h 533"/>
                <a:gd name="T4" fmla="*/ 604 w 726"/>
                <a:gd name="T5" fmla="*/ 129 h 533"/>
                <a:gd name="T6" fmla="*/ 528 w 726"/>
                <a:gd name="T7" fmla="*/ 162 h 533"/>
                <a:gd name="T8" fmla="*/ 478 w 726"/>
                <a:gd name="T9" fmla="*/ 183 h 533"/>
                <a:gd name="T10" fmla="*/ 375 w 726"/>
                <a:gd name="T11" fmla="*/ 99 h 533"/>
                <a:gd name="T12" fmla="*/ 269 w 726"/>
                <a:gd name="T13" fmla="*/ 36 h 533"/>
                <a:gd name="T14" fmla="*/ 217 w 726"/>
                <a:gd name="T15" fmla="*/ 17 h 533"/>
                <a:gd name="T16" fmla="*/ 183 w 726"/>
                <a:gd name="T17" fmla="*/ 8 h 533"/>
                <a:gd name="T18" fmla="*/ 116 w 726"/>
                <a:gd name="T19" fmla="*/ 19 h 533"/>
                <a:gd name="T20" fmla="*/ 128 w 726"/>
                <a:gd name="T21" fmla="*/ 32 h 533"/>
                <a:gd name="T22" fmla="*/ 118 w 726"/>
                <a:gd name="T23" fmla="*/ 38 h 533"/>
                <a:gd name="T24" fmla="*/ 101 w 726"/>
                <a:gd name="T25" fmla="*/ 36 h 533"/>
                <a:gd name="T26" fmla="*/ 65 w 726"/>
                <a:gd name="T27" fmla="*/ 40 h 533"/>
                <a:gd name="T28" fmla="*/ 51 w 726"/>
                <a:gd name="T29" fmla="*/ 55 h 533"/>
                <a:gd name="T30" fmla="*/ 36 w 726"/>
                <a:gd name="T31" fmla="*/ 69 h 533"/>
                <a:gd name="T32" fmla="*/ 17 w 726"/>
                <a:gd name="T33" fmla="*/ 91 h 533"/>
                <a:gd name="T34" fmla="*/ 2 w 726"/>
                <a:gd name="T35" fmla="*/ 108 h 533"/>
                <a:gd name="T36" fmla="*/ 27 w 726"/>
                <a:gd name="T37" fmla="*/ 139 h 533"/>
                <a:gd name="T38" fmla="*/ 51 w 726"/>
                <a:gd name="T39" fmla="*/ 137 h 533"/>
                <a:gd name="T40" fmla="*/ 59 w 726"/>
                <a:gd name="T41" fmla="*/ 141 h 533"/>
                <a:gd name="T42" fmla="*/ 74 w 726"/>
                <a:gd name="T43" fmla="*/ 165 h 533"/>
                <a:gd name="T44" fmla="*/ 84 w 726"/>
                <a:gd name="T45" fmla="*/ 173 h 533"/>
                <a:gd name="T46" fmla="*/ 118 w 726"/>
                <a:gd name="T47" fmla="*/ 183 h 533"/>
                <a:gd name="T48" fmla="*/ 109 w 726"/>
                <a:gd name="T49" fmla="*/ 200 h 533"/>
                <a:gd name="T50" fmla="*/ 116 w 726"/>
                <a:gd name="T51" fmla="*/ 207 h 533"/>
                <a:gd name="T52" fmla="*/ 131 w 726"/>
                <a:gd name="T53" fmla="*/ 211 h 533"/>
                <a:gd name="T54" fmla="*/ 141 w 726"/>
                <a:gd name="T55" fmla="*/ 219 h 533"/>
                <a:gd name="T56" fmla="*/ 149 w 726"/>
                <a:gd name="T57" fmla="*/ 223 h 533"/>
                <a:gd name="T58" fmla="*/ 147 w 726"/>
                <a:gd name="T59" fmla="*/ 232 h 533"/>
                <a:gd name="T60" fmla="*/ 141 w 726"/>
                <a:gd name="T61" fmla="*/ 243 h 533"/>
                <a:gd name="T62" fmla="*/ 131 w 726"/>
                <a:gd name="T63" fmla="*/ 251 h 533"/>
                <a:gd name="T64" fmla="*/ 118 w 726"/>
                <a:gd name="T65" fmla="*/ 257 h 533"/>
                <a:gd name="T66" fmla="*/ 107 w 726"/>
                <a:gd name="T67" fmla="*/ 276 h 533"/>
                <a:gd name="T68" fmla="*/ 97 w 726"/>
                <a:gd name="T69" fmla="*/ 282 h 533"/>
                <a:gd name="T70" fmla="*/ 86 w 726"/>
                <a:gd name="T71" fmla="*/ 287 h 533"/>
                <a:gd name="T72" fmla="*/ 88 w 726"/>
                <a:gd name="T73" fmla="*/ 314 h 533"/>
                <a:gd name="T74" fmla="*/ 101 w 726"/>
                <a:gd name="T75" fmla="*/ 375 h 533"/>
                <a:gd name="T76" fmla="*/ 103 w 726"/>
                <a:gd name="T77" fmla="*/ 405 h 533"/>
                <a:gd name="T78" fmla="*/ 101 w 726"/>
                <a:gd name="T79" fmla="*/ 430 h 533"/>
                <a:gd name="T80" fmla="*/ 107 w 726"/>
                <a:gd name="T81" fmla="*/ 437 h 533"/>
                <a:gd name="T82" fmla="*/ 133 w 726"/>
                <a:gd name="T83" fmla="*/ 455 h 533"/>
                <a:gd name="T84" fmla="*/ 191 w 726"/>
                <a:gd name="T85" fmla="*/ 483 h 533"/>
                <a:gd name="T86" fmla="*/ 202 w 726"/>
                <a:gd name="T87" fmla="*/ 515 h 533"/>
                <a:gd name="T88" fmla="*/ 271 w 726"/>
                <a:gd name="T89" fmla="*/ 527 h 533"/>
                <a:gd name="T90" fmla="*/ 307 w 726"/>
                <a:gd name="T91" fmla="*/ 512 h 533"/>
                <a:gd name="T92" fmla="*/ 312 w 726"/>
                <a:gd name="T93" fmla="*/ 477 h 533"/>
                <a:gd name="T94" fmla="*/ 320 w 726"/>
                <a:gd name="T95" fmla="*/ 466 h 533"/>
                <a:gd name="T96" fmla="*/ 381 w 726"/>
                <a:gd name="T97" fmla="*/ 436 h 533"/>
                <a:gd name="T98" fmla="*/ 459 w 726"/>
                <a:gd name="T99" fmla="*/ 468 h 533"/>
                <a:gd name="T100" fmla="*/ 492 w 726"/>
                <a:gd name="T101" fmla="*/ 466 h 533"/>
                <a:gd name="T102" fmla="*/ 516 w 726"/>
                <a:gd name="T103" fmla="*/ 495 h 533"/>
                <a:gd name="T104" fmla="*/ 541 w 726"/>
                <a:gd name="T105" fmla="*/ 483 h 533"/>
                <a:gd name="T106" fmla="*/ 534 w 726"/>
                <a:gd name="T107" fmla="*/ 514 h 533"/>
                <a:gd name="T108" fmla="*/ 577 w 726"/>
                <a:gd name="T109" fmla="*/ 512 h 533"/>
                <a:gd name="T110" fmla="*/ 623 w 726"/>
                <a:gd name="T111" fmla="*/ 512 h 533"/>
                <a:gd name="T112" fmla="*/ 635 w 726"/>
                <a:gd name="T113" fmla="*/ 443 h 533"/>
                <a:gd name="T114" fmla="*/ 591 w 726"/>
                <a:gd name="T115" fmla="*/ 401 h 533"/>
                <a:gd name="T116" fmla="*/ 593 w 726"/>
                <a:gd name="T117" fmla="*/ 346 h 533"/>
                <a:gd name="T118" fmla="*/ 648 w 726"/>
                <a:gd name="T119" fmla="*/ 306 h 533"/>
                <a:gd name="T120" fmla="*/ 676 w 726"/>
                <a:gd name="T121" fmla="*/ 280 h 533"/>
                <a:gd name="T122" fmla="*/ 716 w 726"/>
                <a:gd name="T123" fmla="*/ 204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6" h="533">
                  <a:moveTo>
                    <a:pt x="726" y="181"/>
                  </a:moveTo>
                  <a:lnTo>
                    <a:pt x="724" y="177"/>
                  </a:lnTo>
                  <a:lnTo>
                    <a:pt x="722" y="177"/>
                  </a:lnTo>
                  <a:lnTo>
                    <a:pt x="720" y="177"/>
                  </a:lnTo>
                  <a:lnTo>
                    <a:pt x="720" y="177"/>
                  </a:lnTo>
                  <a:lnTo>
                    <a:pt x="720" y="177"/>
                  </a:lnTo>
                  <a:lnTo>
                    <a:pt x="718" y="179"/>
                  </a:lnTo>
                  <a:lnTo>
                    <a:pt x="716" y="179"/>
                  </a:lnTo>
                  <a:lnTo>
                    <a:pt x="716" y="177"/>
                  </a:lnTo>
                  <a:lnTo>
                    <a:pt x="715" y="177"/>
                  </a:lnTo>
                  <a:lnTo>
                    <a:pt x="713" y="173"/>
                  </a:lnTo>
                  <a:lnTo>
                    <a:pt x="713" y="173"/>
                  </a:lnTo>
                  <a:lnTo>
                    <a:pt x="709" y="171"/>
                  </a:lnTo>
                  <a:lnTo>
                    <a:pt x="707" y="173"/>
                  </a:lnTo>
                  <a:lnTo>
                    <a:pt x="705" y="181"/>
                  </a:lnTo>
                  <a:lnTo>
                    <a:pt x="703" y="183"/>
                  </a:lnTo>
                  <a:lnTo>
                    <a:pt x="701" y="186"/>
                  </a:lnTo>
                  <a:lnTo>
                    <a:pt x="697" y="188"/>
                  </a:lnTo>
                  <a:lnTo>
                    <a:pt x="696" y="188"/>
                  </a:lnTo>
                  <a:lnTo>
                    <a:pt x="694" y="188"/>
                  </a:lnTo>
                  <a:lnTo>
                    <a:pt x="692" y="185"/>
                  </a:lnTo>
                  <a:lnTo>
                    <a:pt x="690" y="181"/>
                  </a:lnTo>
                  <a:lnTo>
                    <a:pt x="690" y="177"/>
                  </a:lnTo>
                  <a:lnTo>
                    <a:pt x="688" y="173"/>
                  </a:lnTo>
                  <a:lnTo>
                    <a:pt x="686" y="169"/>
                  </a:lnTo>
                  <a:lnTo>
                    <a:pt x="684" y="165"/>
                  </a:lnTo>
                  <a:lnTo>
                    <a:pt x="680" y="167"/>
                  </a:lnTo>
                  <a:lnTo>
                    <a:pt x="680" y="169"/>
                  </a:lnTo>
                  <a:lnTo>
                    <a:pt x="678" y="171"/>
                  </a:lnTo>
                  <a:lnTo>
                    <a:pt x="676" y="171"/>
                  </a:lnTo>
                  <a:lnTo>
                    <a:pt x="675" y="169"/>
                  </a:lnTo>
                  <a:lnTo>
                    <a:pt x="675" y="169"/>
                  </a:lnTo>
                  <a:lnTo>
                    <a:pt x="673" y="165"/>
                  </a:lnTo>
                  <a:lnTo>
                    <a:pt x="673" y="164"/>
                  </a:lnTo>
                  <a:lnTo>
                    <a:pt x="671" y="164"/>
                  </a:lnTo>
                  <a:lnTo>
                    <a:pt x="663" y="162"/>
                  </a:lnTo>
                  <a:lnTo>
                    <a:pt x="661" y="160"/>
                  </a:lnTo>
                  <a:lnTo>
                    <a:pt x="659" y="154"/>
                  </a:lnTo>
                  <a:lnTo>
                    <a:pt x="655" y="150"/>
                  </a:lnTo>
                  <a:lnTo>
                    <a:pt x="655" y="148"/>
                  </a:lnTo>
                  <a:lnTo>
                    <a:pt x="657" y="146"/>
                  </a:lnTo>
                  <a:lnTo>
                    <a:pt x="657" y="145"/>
                  </a:lnTo>
                  <a:lnTo>
                    <a:pt x="659" y="145"/>
                  </a:lnTo>
                  <a:lnTo>
                    <a:pt x="657" y="141"/>
                  </a:lnTo>
                  <a:lnTo>
                    <a:pt x="657" y="141"/>
                  </a:lnTo>
                  <a:lnTo>
                    <a:pt x="654" y="141"/>
                  </a:lnTo>
                  <a:lnTo>
                    <a:pt x="654" y="141"/>
                  </a:lnTo>
                  <a:lnTo>
                    <a:pt x="652" y="139"/>
                  </a:lnTo>
                  <a:lnTo>
                    <a:pt x="652" y="139"/>
                  </a:lnTo>
                  <a:lnTo>
                    <a:pt x="652" y="137"/>
                  </a:lnTo>
                  <a:lnTo>
                    <a:pt x="650" y="137"/>
                  </a:lnTo>
                  <a:lnTo>
                    <a:pt x="648" y="137"/>
                  </a:lnTo>
                  <a:lnTo>
                    <a:pt x="644" y="139"/>
                  </a:lnTo>
                  <a:lnTo>
                    <a:pt x="640" y="137"/>
                  </a:lnTo>
                  <a:lnTo>
                    <a:pt x="638" y="135"/>
                  </a:lnTo>
                  <a:lnTo>
                    <a:pt x="638" y="131"/>
                  </a:lnTo>
                  <a:lnTo>
                    <a:pt x="638" y="127"/>
                  </a:lnTo>
                  <a:lnTo>
                    <a:pt x="636" y="126"/>
                  </a:lnTo>
                  <a:lnTo>
                    <a:pt x="633" y="124"/>
                  </a:lnTo>
                  <a:lnTo>
                    <a:pt x="629" y="124"/>
                  </a:lnTo>
                  <a:lnTo>
                    <a:pt x="627" y="124"/>
                  </a:lnTo>
                  <a:lnTo>
                    <a:pt x="617" y="127"/>
                  </a:lnTo>
                  <a:lnTo>
                    <a:pt x="604" y="129"/>
                  </a:lnTo>
                  <a:lnTo>
                    <a:pt x="595" y="133"/>
                  </a:lnTo>
                  <a:lnTo>
                    <a:pt x="591" y="133"/>
                  </a:lnTo>
                  <a:lnTo>
                    <a:pt x="589" y="133"/>
                  </a:lnTo>
                  <a:lnTo>
                    <a:pt x="581" y="131"/>
                  </a:lnTo>
                  <a:lnTo>
                    <a:pt x="579" y="129"/>
                  </a:lnTo>
                  <a:lnTo>
                    <a:pt x="575" y="131"/>
                  </a:lnTo>
                  <a:lnTo>
                    <a:pt x="572" y="131"/>
                  </a:lnTo>
                  <a:lnTo>
                    <a:pt x="572" y="133"/>
                  </a:lnTo>
                  <a:lnTo>
                    <a:pt x="568" y="139"/>
                  </a:lnTo>
                  <a:lnTo>
                    <a:pt x="568" y="139"/>
                  </a:lnTo>
                  <a:lnTo>
                    <a:pt x="558" y="146"/>
                  </a:lnTo>
                  <a:lnTo>
                    <a:pt x="554" y="148"/>
                  </a:lnTo>
                  <a:lnTo>
                    <a:pt x="547" y="148"/>
                  </a:lnTo>
                  <a:lnTo>
                    <a:pt x="545" y="150"/>
                  </a:lnTo>
                  <a:lnTo>
                    <a:pt x="541" y="152"/>
                  </a:lnTo>
                  <a:lnTo>
                    <a:pt x="537" y="154"/>
                  </a:lnTo>
                  <a:lnTo>
                    <a:pt x="534" y="156"/>
                  </a:lnTo>
                  <a:lnTo>
                    <a:pt x="534" y="156"/>
                  </a:lnTo>
                  <a:lnTo>
                    <a:pt x="532" y="158"/>
                  </a:lnTo>
                  <a:lnTo>
                    <a:pt x="530" y="160"/>
                  </a:lnTo>
                  <a:lnTo>
                    <a:pt x="528" y="162"/>
                  </a:lnTo>
                  <a:lnTo>
                    <a:pt x="524" y="162"/>
                  </a:lnTo>
                  <a:lnTo>
                    <a:pt x="522" y="164"/>
                  </a:lnTo>
                  <a:lnTo>
                    <a:pt x="520" y="165"/>
                  </a:lnTo>
                  <a:lnTo>
                    <a:pt x="518" y="169"/>
                  </a:lnTo>
                  <a:lnTo>
                    <a:pt x="518" y="173"/>
                  </a:lnTo>
                  <a:lnTo>
                    <a:pt x="516" y="173"/>
                  </a:lnTo>
                  <a:lnTo>
                    <a:pt x="514" y="173"/>
                  </a:lnTo>
                  <a:lnTo>
                    <a:pt x="505" y="171"/>
                  </a:lnTo>
                  <a:lnTo>
                    <a:pt x="503" y="171"/>
                  </a:lnTo>
                  <a:lnTo>
                    <a:pt x="501" y="173"/>
                  </a:lnTo>
                  <a:lnTo>
                    <a:pt x="501" y="175"/>
                  </a:lnTo>
                  <a:lnTo>
                    <a:pt x="499" y="179"/>
                  </a:lnTo>
                  <a:lnTo>
                    <a:pt x="497" y="181"/>
                  </a:lnTo>
                  <a:lnTo>
                    <a:pt x="494" y="181"/>
                  </a:lnTo>
                  <a:lnTo>
                    <a:pt x="492" y="179"/>
                  </a:lnTo>
                  <a:lnTo>
                    <a:pt x="490" y="179"/>
                  </a:lnTo>
                  <a:lnTo>
                    <a:pt x="486" y="179"/>
                  </a:lnTo>
                  <a:lnTo>
                    <a:pt x="486" y="179"/>
                  </a:lnTo>
                  <a:lnTo>
                    <a:pt x="484" y="179"/>
                  </a:lnTo>
                  <a:lnTo>
                    <a:pt x="480" y="181"/>
                  </a:lnTo>
                  <a:lnTo>
                    <a:pt x="478" y="183"/>
                  </a:lnTo>
                  <a:lnTo>
                    <a:pt x="476" y="183"/>
                  </a:lnTo>
                  <a:lnTo>
                    <a:pt x="463" y="181"/>
                  </a:lnTo>
                  <a:lnTo>
                    <a:pt x="463" y="179"/>
                  </a:lnTo>
                  <a:lnTo>
                    <a:pt x="461" y="169"/>
                  </a:lnTo>
                  <a:lnTo>
                    <a:pt x="457" y="162"/>
                  </a:lnTo>
                  <a:lnTo>
                    <a:pt x="454" y="162"/>
                  </a:lnTo>
                  <a:lnTo>
                    <a:pt x="448" y="152"/>
                  </a:lnTo>
                  <a:lnTo>
                    <a:pt x="444" y="152"/>
                  </a:lnTo>
                  <a:lnTo>
                    <a:pt x="434" y="154"/>
                  </a:lnTo>
                  <a:lnTo>
                    <a:pt x="427" y="152"/>
                  </a:lnTo>
                  <a:lnTo>
                    <a:pt x="423" y="150"/>
                  </a:lnTo>
                  <a:lnTo>
                    <a:pt x="421" y="146"/>
                  </a:lnTo>
                  <a:lnTo>
                    <a:pt x="415" y="141"/>
                  </a:lnTo>
                  <a:lnTo>
                    <a:pt x="410" y="139"/>
                  </a:lnTo>
                  <a:lnTo>
                    <a:pt x="400" y="137"/>
                  </a:lnTo>
                  <a:lnTo>
                    <a:pt x="394" y="131"/>
                  </a:lnTo>
                  <a:lnTo>
                    <a:pt x="394" y="116"/>
                  </a:lnTo>
                  <a:lnTo>
                    <a:pt x="393" y="108"/>
                  </a:lnTo>
                  <a:lnTo>
                    <a:pt x="389" y="103"/>
                  </a:lnTo>
                  <a:lnTo>
                    <a:pt x="385" y="99"/>
                  </a:lnTo>
                  <a:lnTo>
                    <a:pt x="375" y="99"/>
                  </a:lnTo>
                  <a:lnTo>
                    <a:pt x="366" y="97"/>
                  </a:lnTo>
                  <a:lnTo>
                    <a:pt x="362" y="93"/>
                  </a:lnTo>
                  <a:lnTo>
                    <a:pt x="358" y="86"/>
                  </a:lnTo>
                  <a:lnTo>
                    <a:pt x="353" y="84"/>
                  </a:lnTo>
                  <a:lnTo>
                    <a:pt x="345" y="86"/>
                  </a:lnTo>
                  <a:lnTo>
                    <a:pt x="337" y="72"/>
                  </a:lnTo>
                  <a:lnTo>
                    <a:pt x="320" y="70"/>
                  </a:lnTo>
                  <a:lnTo>
                    <a:pt x="320" y="69"/>
                  </a:lnTo>
                  <a:lnTo>
                    <a:pt x="320" y="69"/>
                  </a:lnTo>
                  <a:lnTo>
                    <a:pt x="311" y="49"/>
                  </a:lnTo>
                  <a:lnTo>
                    <a:pt x="309" y="48"/>
                  </a:lnTo>
                  <a:lnTo>
                    <a:pt x="303" y="42"/>
                  </a:lnTo>
                  <a:lnTo>
                    <a:pt x="297" y="38"/>
                  </a:lnTo>
                  <a:lnTo>
                    <a:pt x="290" y="34"/>
                  </a:lnTo>
                  <a:lnTo>
                    <a:pt x="282" y="34"/>
                  </a:lnTo>
                  <a:lnTo>
                    <a:pt x="276" y="36"/>
                  </a:lnTo>
                  <a:lnTo>
                    <a:pt x="276" y="36"/>
                  </a:lnTo>
                  <a:lnTo>
                    <a:pt x="276" y="38"/>
                  </a:lnTo>
                  <a:lnTo>
                    <a:pt x="276" y="38"/>
                  </a:lnTo>
                  <a:lnTo>
                    <a:pt x="271" y="38"/>
                  </a:lnTo>
                  <a:lnTo>
                    <a:pt x="269" y="36"/>
                  </a:lnTo>
                  <a:lnTo>
                    <a:pt x="267" y="30"/>
                  </a:lnTo>
                  <a:lnTo>
                    <a:pt x="267" y="27"/>
                  </a:lnTo>
                  <a:lnTo>
                    <a:pt x="267" y="23"/>
                  </a:lnTo>
                  <a:lnTo>
                    <a:pt x="265" y="19"/>
                  </a:lnTo>
                  <a:lnTo>
                    <a:pt x="263" y="17"/>
                  </a:lnTo>
                  <a:lnTo>
                    <a:pt x="259" y="15"/>
                  </a:lnTo>
                  <a:lnTo>
                    <a:pt x="248" y="13"/>
                  </a:lnTo>
                  <a:lnTo>
                    <a:pt x="246" y="11"/>
                  </a:lnTo>
                  <a:lnTo>
                    <a:pt x="242" y="8"/>
                  </a:lnTo>
                  <a:lnTo>
                    <a:pt x="242" y="8"/>
                  </a:lnTo>
                  <a:lnTo>
                    <a:pt x="240" y="8"/>
                  </a:lnTo>
                  <a:lnTo>
                    <a:pt x="232" y="8"/>
                  </a:lnTo>
                  <a:lnTo>
                    <a:pt x="229" y="8"/>
                  </a:lnTo>
                  <a:lnTo>
                    <a:pt x="225" y="10"/>
                  </a:lnTo>
                  <a:lnTo>
                    <a:pt x="223" y="10"/>
                  </a:lnTo>
                  <a:lnTo>
                    <a:pt x="221" y="11"/>
                  </a:lnTo>
                  <a:lnTo>
                    <a:pt x="221" y="11"/>
                  </a:lnTo>
                  <a:lnTo>
                    <a:pt x="221" y="15"/>
                  </a:lnTo>
                  <a:lnTo>
                    <a:pt x="219" y="17"/>
                  </a:lnTo>
                  <a:lnTo>
                    <a:pt x="219" y="17"/>
                  </a:lnTo>
                  <a:lnTo>
                    <a:pt x="217" y="17"/>
                  </a:lnTo>
                  <a:lnTo>
                    <a:pt x="217" y="13"/>
                  </a:lnTo>
                  <a:lnTo>
                    <a:pt x="217" y="11"/>
                  </a:lnTo>
                  <a:lnTo>
                    <a:pt x="213" y="8"/>
                  </a:lnTo>
                  <a:lnTo>
                    <a:pt x="213" y="8"/>
                  </a:lnTo>
                  <a:lnTo>
                    <a:pt x="211" y="6"/>
                  </a:lnTo>
                  <a:lnTo>
                    <a:pt x="204" y="4"/>
                  </a:lnTo>
                  <a:lnTo>
                    <a:pt x="202" y="2"/>
                  </a:lnTo>
                  <a:lnTo>
                    <a:pt x="200" y="0"/>
                  </a:lnTo>
                  <a:lnTo>
                    <a:pt x="198" y="0"/>
                  </a:lnTo>
                  <a:lnTo>
                    <a:pt x="196" y="2"/>
                  </a:lnTo>
                  <a:lnTo>
                    <a:pt x="191" y="4"/>
                  </a:lnTo>
                  <a:lnTo>
                    <a:pt x="189" y="4"/>
                  </a:lnTo>
                  <a:lnTo>
                    <a:pt x="189" y="4"/>
                  </a:lnTo>
                  <a:lnTo>
                    <a:pt x="189" y="6"/>
                  </a:lnTo>
                  <a:lnTo>
                    <a:pt x="189" y="6"/>
                  </a:lnTo>
                  <a:lnTo>
                    <a:pt x="189" y="8"/>
                  </a:lnTo>
                  <a:lnTo>
                    <a:pt x="187" y="11"/>
                  </a:lnTo>
                  <a:lnTo>
                    <a:pt x="187" y="11"/>
                  </a:lnTo>
                  <a:lnTo>
                    <a:pt x="185" y="10"/>
                  </a:lnTo>
                  <a:lnTo>
                    <a:pt x="183" y="8"/>
                  </a:lnTo>
                  <a:lnTo>
                    <a:pt x="183" y="8"/>
                  </a:lnTo>
                  <a:lnTo>
                    <a:pt x="181" y="6"/>
                  </a:lnTo>
                  <a:lnTo>
                    <a:pt x="181" y="6"/>
                  </a:lnTo>
                  <a:lnTo>
                    <a:pt x="177" y="6"/>
                  </a:lnTo>
                  <a:lnTo>
                    <a:pt x="173" y="8"/>
                  </a:lnTo>
                  <a:lnTo>
                    <a:pt x="171" y="10"/>
                  </a:lnTo>
                  <a:lnTo>
                    <a:pt x="164" y="13"/>
                  </a:lnTo>
                  <a:lnTo>
                    <a:pt x="160" y="17"/>
                  </a:lnTo>
                  <a:lnTo>
                    <a:pt x="158" y="19"/>
                  </a:lnTo>
                  <a:lnTo>
                    <a:pt x="151" y="17"/>
                  </a:lnTo>
                  <a:lnTo>
                    <a:pt x="151" y="19"/>
                  </a:lnTo>
                  <a:lnTo>
                    <a:pt x="149" y="19"/>
                  </a:lnTo>
                  <a:lnTo>
                    <a:pt x="149" y="21"/>
                  </a:lnTo>
                  <a:lnTo>
                    <a:pt x="147" y="25"/>
                  </a:lnTo>
                  <a:lnTo>
                    <a:pt x="147" y="27"/>
                  </a:lnTo>
                  <a:lnTo>
                    <a:pt x="141" y="29"/>
                  </a:lnTo>
                  <a:lnTo>
                    <a:pt x="139" y="29"/>
                  </a:lnTo>
                  <a:lnTo>
                    <a:pt x="135" y="27"/>
                  </a:lnTo>
                  <a:lnTo>
                    <a:pt x="133" y="27"/>
                  </a:lnTo>
                  <a:lnTo>
                    <a:pt x="126" y="21"/>
                  </a:lnTo>
                  <a:lnTo>
                    <a:pt x="122" y="21"/>
                  </a:lnTo>
                  <a:lnTo>
                    <a:pt x="116" y="19"/>
                  </a:lnTo>
                  <a:lnTo>
                    <a:pt x="111" y="19"/>
                  </a:lnTo>
                  <a:lnTo>
                    <a:pt x="111" y="19"/>
                  </a:lnTo>
                  <a:lnTo>
                    <a:pt x="111" y="21"/>
                  </a:lnTo>
                  <a:lnTo>
                    <a:pt x="111" y="23"/>
                  </a:lnTo>
                  <a:lnTo>
                    <a:pt x="111" y="23"/>
                  </a:lnTo>
                  <a:lnTo>
                    <a:pt x="111" y="23"/>
                  </a:lnTo>
                  <a:lnTo>
                    <a:pt x="112" y="23"/>
                  </a:lnTo>
                  <a:lnTo>
                    <a:pt x="112" y="23"/>
                  </a:lnTo>
                  <a:lnTo>
                    <a:pt x="112" y="25"/>
                  </a:lnTo>
                  <a:lnTo>
                    <a:pt x="112" y="25"/>
                  </a:lnTo>
                  <a:lnTo>
                    <a:pt x="112" y="25"/>
                  </a:lnTo>
                  <a:lnTo>
                    <a:pt x="114" y="25"/>
                  </a:lnTo>
                  <a:lnTo>
                    <a:pt x="116" y="25"/>
                  </a:lnTo>
                  <a:lnTo>
                    <a:pt x="118" y="25"/>
                  </a:lnTo>
                  <a:lnTo>
                    <a:pt x="120" y="27"/>
                  </a:lnTo>
                  <a:lnTo>
                    <a:pt x="120" y="27"/>
                  </a:lnTo>
                  <a:lnTo>
                    <a:pt x="120" y="29"/>
                  </a:lnTo>
                  <a:lnTo>
                    <a:pt x="120" y="29"/>
                  </a:lnTo>
                  <a:lnTo>
                    <a:pt x="126" y="30"/>
                  </a:lnTo>
                  <a:lnTo>
                    <a:pt x="126" y="30"/>
                  </a:lnTo>
                  <a:lnTo>
                    <a:pt x="128" y="32"/>
                  </a:lnTo>
                  <a:lnTo>
                    <a:pt x="128" y="32"/>
                  </a:lnTo>
                  <a:lnTo>
                    <a:pt x="128" y="32"/>
                  </a:lnTo>
                  <a:lnTo>
                    <a:pt x="128" y="32"/>
                  </a:lnTo>
                  <a:lnTo>
                    <a:pt x="128" y="34"/>
                  </a:lnTo>
                  <a:lnTo>
                    <a:pt x="128" y="34"/>
                  </a:lnTo>
                  <a:lnTo>
                    <a:pt x="128" y="34"/>
                  </a:lnTo>
                  <a:lnTo>
                    <a:pt x="128" y="34"/>
                  </a:lnTo>
                  <a:lnTo>
                    <a:pt x="128" y="36"/>
                  </a:lnTo>
                  <a:lnTo>
                    <a:pt x="128" y="36"/>
                  </a:lnTo>
                  <a:lnTo>
                    <a:pt x="128" y="38"/>
                  </a:lnTo>
                  <a:lnTo>
                    <a:pt x="128" y="38"/>
                  </a:lnTo>
                  <a:lnTo>
                    <a:pt x="128" y="38"/>
                  </a:lnTo>
                  <a:lnTo>
                    <a:pt x="128" y="38"/>
                  </a:lnTo>
                  <a:lnTo>
                    <a:pt x="128" y="40"/>
                  </a:lnTo>
                  <a:lnTo>
                    <a:pt x="128" y="40"/>
                  </a:lnTo>
                  <a:lnTo>
                    <a:pt x="126" y="40"/>
                  </a:lnTo>
                  <a:lnTo>
                    <a:pt x="124" y="40"/>
                  </a:lnTo>
                  <a:lnTo>
                    <a:pt x="122" y="38"/>
                  </a:lnTo>
                  <a:lnTo>
                    <a:pt x="120" y="38"/>
                  </a:lnTo>
                  <a:lnTo>
                    <a:pt x="118" y="38"/>
                  </a:lnTo>
                  <a:lnTo>
                    <a:pt x="118" y="38"/>
                  </a:lnTo>
                  <a:lnTo>
                    <a:pt x="116" y="40"/>
                  </a:lnTo>
                  <a:lnTo>
                    <a:pt x="116" y="40"/>
                  </a:lnTo>
                  <a:lnTo>
                    <a:pt x="116" y="40"/>
                  </a:lnTo>
                  <a:lnTo>
                    <a:pt x="114" y="38"/>
                  </a:lnTo>
                  <a:lnTo>
                    <a:pt x="112" y="38"/>
                  </a:lnTo>
                  <a:lnTo>
                    <a:pt x="112" y="38"/>
                  </a:lnTo>
                  <a:lnTo>
                    <a:pt x="112" y="38"/>
                  </a:lnTo>
                  <a:lnTo>
                    <a:pt x="111" y="40"/>
                  </a:lnTo>
                  <a:lnTo>
                    <a:pt x="109" y="40"/>
                  </a:lnTo>
                  <a:lnTo>
                    <a:pt x="109" y="40"/>
                  </a:lnTo>
                  <a:lnTo>
                    <a:pt x="109" y="40"/>
                  </a:lnTo>
                  <a:lnTo>
                    <a:pt x="107" y="40"/>
                  </a:lnTo>
                  <a:lnTo>
                    <a:pt x="107" y="40"/>
                  </a:lnTo>
                  <a:lnTo>
                    <a:pt x="103" y="40"/>
                  </a:lnTo>
                  <a:lnTo>
                    <a:pt x="103" y="40"/>
                  </a:lnTo>
                  <a:lnTo>
                    <a:pt x="103" y="40"/>
                  </a:lnTo>
                  <a:lnTo>
                    <a:pt x="103" y="40"/>
                  </a:lnTo>
                  <a:lnTo>
                    <a:pt x="103" y="40"/>
                  </a:lnTo>
                  <a:lnTo>
                    <a:pt x="101" y="38"/>
                  </a:lnTo>
                  <a:lnTo>
                    <a:pt x="101" y="38"/>
                  </a:lnTo>
                  <a:lnTo>
                    <a:pt x="101" y="36"/>
                  </a:lnTo>
                  <a:lnTo>
                    <a:pt x="101" y="36"/>
                  </a:lnTo>
                  <a:lnTo>
                    <a:pt x="101" y="36"/>
                  </a:lnTo>
                  <a:lnTo>
                    <a:pt x="99" y="38"/>
                  </a:lnTo>
                  <a:lnTo>
                    <a:pt x="99" y="38"/>
                  </a:lnTo>
                  <a:lnTo>
                    <a:pt x="97" y="38"/>
                  </a:lnTo>
                  <a:lnTo>
                    <a:pt x="97" y="38"/>
                  </a:lnTo>
                  <a:lnTo>
                    <a:pt x="97" y="38"/>
                  </a:lnTo>
                  <a:lnTo>
                    <a:pt x="95" y="38"/>
                  </a:lnTo>
                  <a:lnTo>
                    <a:pt x="93" y="38"/>
                  </a:lnTo>
                  <a:lnTo>
                    <a:pt x="93" y="38"/>
                  </a:lnTo>
                  <a:lnTo>
                    <a:pt x="88" y="36"/>
                  </a:lnTo>
                  <a:lnTo>
                    <a:pt x="86" y="36"/>
                  </a:lnTo>
                  <a:lnTo>
                    <a:pt x="84" y="34"/>
                  </a:lnTo>
                  <a:lnTo>
                    <a:pt x="74" y="38"/>
                  </a:lnTo>
                  <a:lnTo>
                    <a:pt x="72" y="40"/>
                  </a:lnTo>
                  <a:lnTo>
                    <a:pt x="72" y="40"/>
                  </a:lnTo>
                  <a:lnTo>
                    <a:pt x="70" y="38"/>
                  </a:lnTo>
                  <a:lnTo>
                    <a:pt x="69" y="40"/>
                  </a:lnTo>
                  <a:lnTo>
                    <a:pt x="65" y="40"/>
                  </a:lnTo>
                  <a:lnTo>
                    <a:pt x="65" y="40"/>
                  </a:lnTo>
                  <a:lnTo>
                    <a:pt x="65" y="40"/>
                  </a:lnTo>
                  <a:lnTo>
                    <a:pt x="65" y="40"/>
                  </a:lnTo>
                  <a:lnTo>
                    <a:pt x="63" y="38"/>
                  </a:lnTo>
                  <a:lnTo>
                    <a:pt x="63" y="38"/>
                  </a:lnTo>
                  <a:lnTo>
                    <a:pt x="61" y="36"/>
                  </a:lnTo>
                  <a:lnTo>
                    <a:pt x="61" y="38"/>
                  </a:lnTo>
                  <a:lnTo>
                    <a:pt x="59" y="40"/>
                  </a:lnTo>
                  <a:lnTo>
                    <a:pt x="57" y="40"/>
                  </a:lnTo>
                  <a:lnTo>
                    <a:pt x="55" y="40"/>
                  </a:lnTo>
                  <a:lnTo>
                    <a:pt x="53" y="42"/>
                  </a:lnTo>
                  <a:lnTo>
                    <a:pt x="51" y="42"/>
                  </a:lnTo>
                  <a:lnTo>
                    <a:pt x="51" y="42"/>
                  </a:lnTo>
                  <a:lnTo>
                    <a:pt x="51" y="42"/>
                  </a:lnTo>
                  <a:lnTo>
                    <a:pt x="51" y="42"/>
                  </a:lnTo>
                  <a:lnTo>
                    <a:pt x="51" y="46"/>
                  </a:lnTo>
                  <a:lnTo>
                    <a:pt x="53" y="48"/>
                  </a:lnTo>
                  <a:lnTo>
                    <a:pt x="53" y="51"/>
                  </a:lnTo>
                  <a:lnTo>
                    <a:pt x="55" y="51"/>
                  </a:lnTo>
                  <a:lnTo>
                    <a:pt x="55" y="51"/>
                  </a:lnTo>
                  <a:lnTo>
                    <a:pt x="55" y="51"/>
                  </a:lnTo>
                  <a:lnTo>
                    <a:pt x="53" y="53"/>
                  </a:lnTo>
                  <a:lnTo>
                    <a:pt x="51" y="55"/>
                  </a:lnTo>
                  <a:lnTo>
                    <a:pt x="51" y="57"/>
                  </a:lnTo>
                  <a:lnTo>
                    <a:pt x="51" y="57"/>
                  </a:lnTo>
                  <a:lnTo>
                    <a:pt x="51" y="59"/>
                  </a:lnTo>
                  <a:lnTo>
                    <a:pt x="51" y="59"/>
                  </a:lnTo>
                  <a:lnTo>
                    <a:pt x="50" y="61"/>
                  </a:lnTo>
                  <a:lnTo>
                    <a:pt x="50" y="61"/>
                  </a:lnTo>
                  <a:lnTo>
                    <a:pt x="44" y="63"/>
                  </a:lnTo>
                  <a:lnTo>
                    <a:pt x="44" y="63"/>
                  </a:lnTo>
                  <a:lnTo>
                    <a:pt x="44" y="63"/>
                  </a:lnTo>
                  <a:lnTo>
                    <a:pt x="44" y="63"/>
                  </a:lnTo>
                  <a:lnTo>
                    <a:pt x="44" y="65"/>
                  </a:lnTo>
                  <a:lnTo>
                    <a:pt x="44" y="65"/>
                  </a:lnTo>
                  <a:lnTo>
                    <a:pt x="44" y="65"/>
                  </a:lnTo>
                  <a:lnTo>
                    <a:pt x="44" y="67"/>
                  </a:lnTo>
                  <a:lnTo>
                    <a:pt x="44" y="67"/>
                  </a:lnTo>
                  <a:lnTo>
                    <a:pt x="44" y="67"/>
                  </a:lnTo>
                  <a:lnTo>
                    <a:pt x="44" y="67"/>
                  </a:lnTo>
                  <a:lnTo>
                    <a:pt x="42" y="69"/>
                  </a:lnTo>
                  <a:lnTo>
                    <a:pt x="38" y="69"/>
                  </a:lnTo>
                  <a:lnTo>
                    <a:pt x="36" y="69"/>
                  </a:lnTo>
                  <a:lnTo>
                    <a:pt x="36" y="69"/>
                  </a:lnTo>
                  <a:lnTo>
                    <a:pt x="36" y="69"/>
                  </a:lnTo>
                  <a:lnTo>
                    <a:pt x="36" y="70"/>
                  </a:lnTo>
                  <a:lnTo>
                    <a:pt x="34" y="70"/>
                  </a:lnTo>
                  <a:lnTo>
                    <a:pt x="34" y="74"/>
                  </a:lnTo>
                  <a:lnTo>
                    <a:pt x="34" y="76"/>
                  </a:lnTo>
                  <a:lnTo>
                    <a:pt x="34" y="76"/>
                  </a:lnTo>
                  <a:lnTo>
                    <a:pt x="34" y="76"/>
                  </a:lnTo>
                  <a:lnTo>
                    <a:pt x="34" y="78"/>
                  </a:lnTo>
                  <a:lnTo>
                    <a:pt x="34" y="78"/>
                  </a:lnTo>
                  <a:lnTo>
                    <a:pt x="30" y="78"/>
                  </a:lnTo>
                  <a:lnTo>
                    <a:pt x="30" y="78"/>
                  </a:lnTo>
                  <a:lnTo>
                    <a:pt x="29" y="80"/>
                  </a:lnTo>
                  <a:lnTo>
                    <a:pt x="25" y="84"/>
                  </a:lnTo>
                  <a:lnTo>
                    <a:pt x="25" y="84"/>
                  </a:lnTo>
                  <a:lnTo>
                    <a:pt x="25" y="86"/>
                  </a:lnTo>
                  <a:lnTo>
                    <a:pt x="23" y="86"/>
                  </a:lnTo>
                  <a:lnTo>
                    <a:pt x="21" y="86"/>
                  </a:lnTo>
                  <a:lnTo>
                    <a:pt x="19" y="88"/>
                  </a:lnTo>
                  <a:lnTo>
                    <a:pt x="19" y="88"/>
                  </a:lnTo>
                  <a:lnTo>
                    <a:pt x="17" y="89"/>
                  </a:lnTo>
                  <a:lnTo>
                    <a:pt x="17" y="91"/>
                  </a:lnTo>
                  <a:lnTo>
                    <a:pt x="15" y="91"/>
                  </a:lnTo>
                  <a:lnTo>
                    <a:pt x="13" y="89"/>
                  </a:lnTo>
                  <a:lnTo>
                    <a:pt x="13" y="89"/>
                  </a:lnTo>
                  <a:lnTo>
                    <a:pt x="11" y="89"/>
                  </a:lnTo>
                  <a:lnTo>
                    <a:pt x="11" y="89"/>
                  </a:lnTo>
                  <a:lnTo>
                    <a:pt x="10" y="89"/>
                  </a:lnTo>
                  <a:lnTo>
                    <a:pt x="8" y="91"/>
                  </a:lnTo>
                  <a:lnTo>
                    <a:pt x="8" y="91"/>
                  </a:lnTo>
                  <a:lnTo>
                    <a:pt x="6" y="93"/>
                  </a:lnTo>
                  <a:lnTo>
                    <a:pt x="6" y="93"/>
                  </a:lnTo>
                  <a:lnTo>
                    <a:pt x="6" y="95"/>
                  </a:lnTo>
                  <a:lnTo>
                    <a:pt x="6" y="95"/>
                  </a:lnTo>
                  <a:lnTo>
                    <a:pt x="4" y="99"/>
                  </a:lnTo>
                  <a:lnTo>
                    <a:pt x="4" y="101"/>
                  </a:lnTo>
                  <a:lnTo>
                    <a:pt x="4" y="103"/>
                  </a:lnTo>
                  <a:lnTo>
                    <a:pt x="4" y="103"/>
                  </a:lnTo>
                  <a:lnTo>
                    <a:pt x="6" y="103"/>
                  </a:lnTo>
                  <a:lnTo>
                    <a:pt x="6" y="105"/>
                  </a:lnTo>
                  <a:lnTo>
                    <a:pt x="6" y="105"/>
                  </a:lnTo>
                  <a:lnTo>
                    <a:pt x="2" y="108"/>
                  </a:lnTo>
                  <a:lnTo>
                    <a:pt x="2" y="108"/>
                  </a:lnTo>
                  <a:lnTo>
                    <a:pt x="2" y="108"/>
                  </a:lnTo>
                  <a:lnTo>
                    <a:pt x="2" y="110"/>
                  </a:lnTo>
                  <a:lnTo>
                    <a:pt x="2" y="110"/>
                  </a:lnTo>
                  <a:lnTo>
                    <a:pt x="2" y="110"/>
                  </a:lnTo>
                  <a:lnTo>
                    <a:pt x="2" y="112"/>
                  </a:lnTo>
                  <a:lnTo>
                    <a:pt x="2" y="112"/>
                  </a:lnTo>
                  <a:lnTo>
                    <a:pt x="4" y="112"/>
                  </a:lnTo>
                  <a:lnTo>
                    <a:pt x="4" y="112"/>
                  </a:lnTo>
                  <a:lnTo>
                    <a:pt x="6" y="116"/>
                  </a:lnTo>
                  <a:lnTo>
                    <a:pt x="8" y="116"/>
                  </a:lnTo>
                  <a:lnTo>
                    <a:pt x="8" y="118"/>
                  </a:lnTo>
                  <a:lnTo>
                    <a:pt x="8" y="120"/>
                  </a:lnTo>
                  <a:lnTo>
                    <a:pt x="8" y="120"/>
                  </a:lnTo>
                  <a:lnTo>
                    <a:pt x="8" y="120"/>
                  </a:lnTo>
                  <a:lnTo>
                    <a:pt x="0" y="131"/>
                  </a:lnTo>
                  <a:lnTo>
                    <a:pt x="4" y="133"/>
                  </a:lnTo>
                  <a:lnTo>
                    <a:pt x="13" y="137"/>
                  </a:lnTo>
                  <a:lnTo>
                    <a:pt x="13" y="137"/>
                  </a:lnTo>
                  <a:lnTo>
                    <a:pt x="23" y="139"/>
                  </a:lnTo>
                  <a:lnTo>
                    <a:pt x="27" y="139"/>
                  </a:lnTo>
                  <a:lnTo>
                    <a:pt x="27" y="139"/>
                  </a:lnTo>
                  <a:lnTo>
                    <a:pt x="29" y="139"/>
                  </a:lnTo>
                  <a:lnTo>
                    <a:pt x="29" y="139"/>
                  </a:lnTo>
                  <a:lnTo>
                    <a:pt x="29" y="139"/>
                  </a:lnTo>
                  <a:lnTo>
                    <a:pt x="29" y="139"/>
                  </a:lnTo>
                  <a:lnTo>
                    <a:pt x="32" y="135"/>
                  </a:lnTo>
                  <a:lnTo>
                    <a:pt x="32" y="135"/>
                  </a:lnTo>
                  <a:lnTo>
                    <a:pt x="34" y="135"/>
                  </a:lnTo>
                  <a:lnTo>
                    <a:pt x="44" y="135"/>
                  </a:lnTo>
                  <a:lnTo>
                    <a:pt x="44" y="135"/>
                  </a:lnTo>
                  <a:lnTo>
                    <a:pt x="44" y="135"/>
                  </a:lnTo>
                  <a:lnTo>
                    <a:pt x="44" y="135"/>
                  </a:lnTo>
                  <a:lnTo>
                    <a:pt x="46" y="137"/>
                  </a:lnTo>
                  <a:lnTo>
                    <a:pt x="46" y="137"/>
                  </a:lnTo>
                  <a:lnTo>
                    <a:pt x="46" y="137"/>
                  </a:lnTo>
                  <a:lnTo>
                    <a:pt x="46" y="137"/>
                  </a:lnTo>
                  <a:lnTo>
                    <a:pt x="48" y="137"/>
                  </a:lnTo>
                  <a:lnTo>
                    <a:pt x="48" y="137"/>
                  </a:lnTo>
                  <a:lnTo>
                    <a:pt x="48" y="137"/>
                  </a:lnTo>
                  <a:lnTo>
                    <a:pt x="50" y="137"/>
                  </a:lnTo>
                  <a:lnTo>
                    <a:pt x="50" y="137"/>
                  </a:lnTo>
                  <a:lnTo>
                    <a:pt x="51" y="137"/>
                  </a:lnTo>
                  <a:lnTo>
                    <a:pt x="51" y="137"/>
                  </a:lnTo>
                  <a:lnTo>
                    <a:pt x="51" y="137"/>
                  </a:lnTo>
                  <a:lnTo>
                    <a:pt x="51" y="137"/>
                  </a:lnTo>
                  <a:lnTo>
                    <a:pt x="53" y="135"/>
                  </a:lnTo>
                  <a:lnTo>
                    <a:pt x="53" y="135"/>
                  </a:lnTo>
                  <a:lnTo>
                    <a:pt x="53" y="135"/>
                  </a:lnTo>
                  <a:lnTo>
                    <a:pt x="53" y="135"/>
                  </a:lnTo>
                  <a:lnTo>
                    <a:pt x="53" y="135"/>
                  </a:lnTo>
                  <a:lnTo>
                    <a:pt x="53" y="135"/>
                  </a:lnTo>
                  <a:lnTo>
                    <a:pt x="53" y="135"/>
                  </a:lnTo>
                  <a:lnTo>
                    <a:pt x="53" y="135"/>
                  </a:lnTo>
                  <a:lnTo>
                    <a:pt x="53" y="137"/>
                  </a:lnTo>
                  <a:lnTo>
                    <a:pt x="55" y="137"/>
                  </a:lnTo>
                  <a:lnTo>
                    <a:pt x="57" y="139"/>
                  </a:lnTo>
                  <a:lnTo>
                    <a:pt x="57" y="139"/>
                  </a:lnTo>
                  <a:lnTo>
                    <a:pt x="57" y="139"/>
                  </a:lnTo>
                  <a:lnTo>
                    <a:pt x="57" y="139"/>
                  </a:lnTo>
                  <a:lnTo>
                    <a:pt x="59" y="141"/>
                  </a:lnTo>
                  <a:lnTo>
                    <a:pt x="59" y="141"/>
                  </a:lnTo>
                  <a:lnTo>
                    <a:pt x="59" y="141"/>
                  </a:lnTo>
                  <a:lnTo>
                    <a:pt x="59" y="141"/>
                  </a:lnTo>
                  <a:lnTo>
                    <a:pt x="59" y="141"/>
                  </a:lnTo>
                  <a:lnTo>
                    <a:pt x="59" y="143"/>
                  </a:lnTo>
                  <a:lnTo>
                    <a:pt x="57" y="145"/>
                  </a:lnTo>
                  <a:lnTo>
                    <a:pt x="57" y="145"/>
                  </a:lnTo>
                  <a:lnTo>
                    <a:pt x="57" y="145"/>
                  </a:lnTo>
                  <a:lnTo>
                    <a:pt x="57" y="150"/>
                  </a:lnTo>
                  <a:lnTo>
                    <a:pt x="57" y="150"/>
                  </a:lnTo>
                  <a:lnTo>
                    <a:pt x="57" y="152"/>
                  </a:lnTo>
                  <a:lnTo>
                    <a:pt x="57" y="152"/>
                  </a:lnTo>
                  <a:lnTo>
                    <a:pt x="57" y="152"/>
                  </a:lnTo>
                  <a:lnTo>
                    <a:pt x="57" y="154"/>
                  </a:lnTo>
                  <a:lnTo>
                    <a:pt x="67" y="160"/>
                  </a:lnTo>
                  <a:lnTo>
                    <a:pt x="69" y="160"/>
                  </a:lnTo>
                  <a:lnTo>
                    <a:pt x="69" y="162"/>
                  </a:lnTo>
                  <a:lnTo>
                    <a:pt x="69" y="162"/>
                  </a:lnTo>
                  <a:lnTo>
                    <a:pt x="72" y="164"/>
                  </a:lnTo>
                  <a:lnTo>
                    <a:pt x="72" y="164"/>
                  </a:lnTo>
                  <a:lnTo>
                    <a:pt x="72" y="164"/>
                  </a:lnTo>
                  <a:lnTo>
                    <a:pt x="72" y="165"/>
                  </a:lnTo>
                  <a:lnTo>
                    <a:pt x="72" y="165"/>
                  </a:lnTo>
                  <a:lnTo>
                    <a:pt x="74" y="165"/>
                  </a:lnTo>
                  <a:lnTo>
                    <a:pt x="74" y="167"/>
                  </a:lnTo>
                  <a:lnTo>
                    <a:pt x="74" y="167"/>
                  </a:lnTo>
                  <a:lnTo>
                    <a:pt x="74" y="167"/>
                  </a:lnTo>
                  <a:lnTo>
                    <a:pt x="74" y="167"/>
                  </a:lnTo>
                  <a:lnTo>
                    <a:pt x="74" y="167"/>
                  </a:lnTo>
                  <a:lnTo>
                    <a:pt x="76" y="167"/>
                  </a:lnTo>
                  <a:lnTo>
                    <a:pt x="76" y="167"/>
                  </a:lnTo>
                  <a:lnTo>
                    <a:pt x="78" y="167"/>
                  </a:lnTo>
                  <a:lnTo>
                    <a:pt x="78" y="167"/>
                  </a:lnTo>
                  <a:lnTo>
                    <a:pt x="80" y="167"/>
                  </a:lnTo>
                  <a:lnTo>
                    <a:pt x="80" y="167"/>
                  </a:lnTo>
                  <a:lnTo>
                    <a:pt x="80" y="167"/>
                  </a:lnTo>
                  <a:lnTo>
                    <a:pt x="80" y="167"/>
                  </a:lnTo>
                  <a:lnTo>
                    <a:pt x="80" y="167"/>
                  </a:lnTo>
                  <a:lnTo>
                    <a:pt x="80" y="167"/>
                  </a:lnTo>
                  <a:lnTo>
                    <a:pt x="82" y="169"/>
                  </a:lnTo>
                  <a:lnTo>
                    <a:pt x="82" y="169"/>
                  </a:lnTo>
                  <a:lnTo>
                    <a:pt x="82" y="169"/>
                  </a:lnTo>
                  <a:lnTo>
                    <a:pt x="82" y="169"/>
                  </a:lnTo>
                  <a:lnTo>
                    <a:pt x="84" y="173"/>
                  </a:lnTo>
                  <a:lnTo>
                    <a:pt x="84" y="173"/>
                  </a:lnTo>
                  <a:lnTo>
                    <a:pt x="84" y="173"/>
                  </a:lnTo>
                  <a:lnTo>
                    <a:pt x="84" y="173"/>
                  </a:lnTo>
                  <a:lnTo>
                    <a:pt x="86" y="171"/>
                  </a:lnTo>
                  <a:lnTo>
                    <a:pt x="88" y="171"/>
                  </a:lnTo>
                  <a:lnTo>
                    <a:pt x="88" y="171"/>
                  </a:lnTo>
                  <a:lnTo>
                    <a:pt x="88" y="171"/>
                  </a:lnTo>
                  <a:lnTo>
                    <a:pt x="88" y="171"/>
                  </a:lnTo>
                  <a:lnTo>
                    <a:pt x="91" y="175"/>
                  </a:lnTo>
                  <a:lnTo>
                    <a:pt x="91" y="175"/>
                  </a:lnTo>
                  <a:lnTo>
                    <a:pt x="91" y="175"/>
                  </a:lnTo>
                  <a:lnTo>
                    <a:pt x="91" y="175"/>
                  </a:lnTo>
                  <a:lnTo>
                    <a:pt x="97" y="173"/>
                  </a:lnTo>
                  <a:lnTo>
                    <a:pt x="103" y="173"/>
                  </a:lnTo>
                  <a:lnTo>
                    <a:pt x="116" y="175"/>
                  </a:lnTo>
                  <a:lnTo>
                    <a:pt x="116" y="175"/>
                  </a:lnTo>
                  <a:lnTo>
                    <a:pt x="116" y="175"/>
                  </a:lnTo>
                  <a:lnTo>
                    <a:pt x="116" y="175"/>
                  </a:lnTo>
                  <a:lnTo>
                    <a:pt x="116" y="175"/>
                  </a:lnTo>
                  <a:lnTo>
                    <a:pt x="118" y="177"/>
                  </a:lnTo>
                  <a:lnTo>
                    <a:pt x="118" y="177"/>
                  </a:lnTo>
                  <a:lnTo>
                    <a:pt x="118" y="183"/>
                  </a:lnTo>
                  <a:lnTo>
                    <a:pt x="118" y="183"/>
                  </a:lnTo>
                  <a:lnTo>
                    <a:pt x="118" y="183"/>
                  </a:lnTo>
                  <a:lnTo>
                    <a:pt x="118" y="185"/>
                  </a:lnTo>
                  <a:lnTo>
                    <a:pt x="118" y="185"/>
                  </a:lnTo>
                  <a:lnTo>
                    <a:pt x="118" y="185"/>
                  </a:lnTo>
                  <a:lnTo>
                    <a:pt x="118" y="185"/>
                  </a:lnTo>
                  <a:lnTo>
                    <a:pt x="116" y="185"/>
                  </a:lnTo>
                  <a:lnTo>
                    <a:pt x="114" y="186"/>
                  </a:lnTo>
                  <a:lnTo>
                    <a:pt x="112" y="186"/>
                  </a:lnTo>
                  <a:lnTo>
                    <a:pt x="112" y="188"/>
                  </a:lnTo>
                  <a:lnTo>
                    <a:pt x="112" y="188"/>
                  </a:lnTo>
                  <a:lnTo>
                    <a:pt x="112" y="188"/>
                  </a:lnTo>
                  <a:lnTo>
                    <a:pt x="112" y="190"/>
                  </a:lnTo>
                  <a:lnTo>
                    <a:pt x="111" y="194"/>
                  </a:lnTo>
                  <a:lnTo>
                    <a:pt x="109" y="194"/>
                  </a:lnTo>
                  <a:lnTo>
                    <a:pt x="109" y="194"/>
                  </a:lnTo>
                  <a:lnTo>
                    <a:pt x="109" y="194"/>
                  </a:lnTo>
                  <a:lnTo>
                    <a:pt x="109" y="196"/>
                  </a:lnTo>
                  <a:lnTo>
                    <a:pt x="109" y="196"/>
                  </a:lnTo>
                  <a:lnTo>
                    <a:pt x="109" y="198"/>
                  </a:lnTo>
                  <a:lnTo>
                    <a:pt x="109" y="200"/>
                  </a:lnTo>
                  <a:lnTo>
                    <a:pt x="109" y="200"/>
                  </a:lnTo>
                  <a:lnTo>
                    <a:pt x="109" y="200"/>
                  </a:lnTo>
                  <a:lnTo>
                    <a:pt x="112" y="205"/>
                  </a:lnTo>
                  <a:lnTo>
                    <a:pt x="112" y="205"/>
                  </a:lnTo>
                  <a:lnTo>
                    <a:pt x="112" y="205"/>
                  </a:lnTo>
                  <a:lnTo>
                    <a:pt x="112" y="207"/>
                  </a:lnTo>
                  <a:lnTo>
                    <a:pt x="112" y="207"/>
                  </a:lnTo>
                  <a:lnTo>
                    <a:pt x="112" y="209"/>
                  </a:lnTo>
                  <a:lnTo>
                    <a:pt x="112" y="209"/>
                  </a:lnTo>
                  <a:lnTo>
                    <a:pt x="112" y="209"/>
                  </a:lnTo>
                  <a:lnTo>
                    <a:pt x="112" y="211"/>
                  </a:lnTo>
                  <a:lnTo>
                    <a:pt x="112" y="211"/>
                  </a:lnTo>
                  <a:lnTo>
                    <a:pt x="112" y="211"/>
                  </a:lnTo>
                  <a:lnTo>
                    <a:pt x="112" y="211"/>
                  </a:lnTo>
                  <a:lnTo>
                    <a:pt x="112" y="211"/>
                  </a:lnTo>
                  <a:lnTo>
                    <a:pt x="114" y="211"/>
                  </a:lnTo>
                  <a:lnTo>
                    <a:pt x="114" y="211"/>
                  </a:lnTo>
                  <a:lnTo>
                    <a:pt x="114" y="211"/>
                  </a:lnTo>
                  <a:lnTo>
                    <a:pt x="114" y="211"/>
                  </a:lnTo>
                  <a:lnTo>
                    <a:pt x="116" y="209"/>
                  </a:lnTo>
                  <a:lnTo>
                    <a:pt x="116" y="207"/>
                  </a:lnTo>
                  <a:lnTo>
                    <a:pt x="116" y="207"/>
                  </a:lnTo>
                  <a:lnTo>
                    <a:pt x="118" y="207"/>
                  </a:lnTo>
                  <a:lnTo>
                    <a:pt x="120" y="207"/>
                  </a:lnTo>
                  <a:lnTo>
                    <a:pt x="120" y="207"/>
                  </a:lnTo>
                  <a:lnTo>
                    <a:pt x="120" y="207"/>
                  </a:lnTo>
                  <a:lnTo>
                    <a:pt x="120" y="207"/>
                  </a:lnTo>
                  <a:lnTo>
                    <a:pt x="120" y="207"/>
                  </a:lnTo>
                  <a:lnTo>
                    <a:pt x="122" y="209"/>
                  </a:lnTo>
                  <a:lnTo>
                    <a:pt x="124" y="209"/>
                  </a:lnTo>
                  <a:lnTo>
                    <a:pt x="126" y="211"/>
                  </a:lnTo>
                  <a:lnTo>
                    <a:pt x="126" y="211"/>
                  </a:lnTo>
                  <a:lnTo>
                    <a:pt x="126" y="211"/>
                  </a:lnTo>
                  <a:lnTo>
                    <a:pt x="126" y="211"/>
                  </a:lnTo>
                  <a:lnTo>
                    <a:pt x="126" y="211"/>
                  </a:lnTo>
                  <a:lnTo>
                    <a:pt x="126" y="211"/>
                  </a:lnTo>
                  <a:lnTo>
                    <a:pt x="128" y="211"/>
                  </a:lnTo>
                  <a:lnTo>
                    <a:pt x="128" y="211"/>
                  </a:lnTo>
                  <a:lnTo>
                    <a:pt x="128" y="211"/>
                  </a:lnTo>
                  <a:lnTo>
                    <a:pt x="130" y="211"/>
                  </a:lnTo>
                  <a:lnTo>
                    <a:pt x="130" y="211"/>
                  </a:lnTo>
                  <a:lnTo>
                    <a:pt x="131" y="211"/>
                  </a:lnTo>
                  <a:lnTo>
                    <a:pt x="133" y="215"/>
                  </a:lnTo>
                  <a:lnTo>
                    <a:pt x="133" y="215"/>
                  </a:lnTo>
                  <a:lnTo>
                    <a:pt x="133" y="215"/>
                  </a:lnTo>
                  <a:lnTo>
                    <a:pt x="133" y="215"/>
                  </a:lnTo>
                  <a:lnTo>
                    <a:pt x="133" y="215"/>
                  </a:lnTo>
                  <a:lnTo>
                    <a:pt x="133" y="215"/>
                  </a:lnTo>
                  <a:lnTo>
                    <a:pt x="135" y="215"/>
                  </a:lnTo>
                  <a:lnTo>
                    <a:pt x="135" y="215"/>
                  </a:lnTo>
                  <a:lnTo>
                    <a:pt x="137" y="215"/>
                  </a:lnTo>
                  <a:lnTo>
                    <a:pt x="137" y="215"/>
                  </a:lnTo>
                  <a:lnTo>
                    <a:pt x="137" y="215"/>
                  </a:lnTo>
                  <a:lnTo>
                    <a:pt x="137" y="215"/>
                  </a:lnTo>
                  <a:lnTo>
                    <a:pt x="137" y="215"/>
                  </a:lnTo>
                  <a:lnTo>
                    <a:pt x="139" y="215"/>
                  </a:lnTo>
                  <a:lnTo>
                    <a:pt x="139" y="215"/>
                  </a:lnTo>
                  <a:lnTo>
                    <a:pt x="139" y="215"/>
                  </a:lnTo>
                  <a:lnTo>
                    <a:pt x="139" y="217"/>
                  </a:lnTo>
                  <a:lnTo>
                    <a:pt x="141" y="217"/>
                  </a:lnTo>
                  <a:lnTo>
                    <a:pt x="141" y="219"/>
                  </a:lnTo>
                  <a:lnTo>
                    <a:pt x="141" y="219"/>
                  </a:lnTo>
                  <a:lnTo>
                    <a:pt x="141" y="219"/>
                  </a:lnTo>
                  <a:lnTo>
                    <a:pt x="141" y="219"/>
                  </a:lnTo>
                  <a:lnTo>
                    <a:pt x="143" y="219"/>
                  </a:lnTo>
                  <a:lnTo>
                    <a:pt x="145" y="219"/>
                  </a:lnTo>
                  <a:lnTo>
                    <a:pt x="145" y="219"/>
                  </a:lnTo>
                  <a:lnTo>
                    <a:pt x="147" y="219"/>
                  </a:lnTo>
                  <a:lnTo>
                    <a:pt x="147" y="219"/>
                  </a:lnTo>
                  <a:lnTo>
                    <a:pt x="147" y="219"/>
                  </a:lnTo>
                  <a:lnTo>
                    <a:pt x="147" y="219"/>
                  </a:lnTo>
                  <a:lnTo>
                    <a:pt x="147" y="219"/>
                  </a:lnTo>
                  <a:lnTo>
                    <a:pt x="147" y="219"/>
                  </a:lnTo>
                  <a:lnTo>
                    <a:pt x="147" y="219"/>
                  </a:lnTo>
                  <a:lnTo>
                    <a:pt x="147" y="219"/>
                  </a:lnTo>
                  <a:lnTo>
                    <a:pt x="147" y="219"/>
                  </a:lnTo>
                  <a:lnTo>
                    <a:pt x="147" y="221"/>
                  </a:lnTo>
                  <a:lnTo>
                    <a:pt x="147" y="221"/>
                  </a:lnTo>
                  <a:lnTo>
                    <a:pt x="149" y="223"/>
                  </a:lnTo>
                  <a:lnTo>
                    <a:pt x="149" y="223"/>
                  </a:lnTo>
                  <a:lnTo>
                    <a:pt x="149" y="223"/>
                  </a:lnTo>
                  <a:lnTo>
                    <a:pt x="149" y="223"/>
                  </a:lnTo>
                  <a:lnTo>
                    <a:pt x="149" y="223"/>
                  </a:lnTo>
                  <a:lnTo>
                    <a:pt x="149" y="223"/>
                  </a:lnTo>
                  <a:lnTo>
                    <a:pt x="149" y="223"/>
                  </a:lnTo>
                  <a:lnTo>
                    <a:pt x="149" y="223"/>
                  </a:lnTo>
                  <a:lnTo>
                    <a:pt x="147" y="224"/>
                  </a:lnTo>
                  <a:lnTo>
                    <a:pt x="147" y="224"/>
                  </a:lnTo>
                  <a:lnTo>
                    <a:pt x="145" y="226"/>
                  </a:lnTo>
                  <a:lnTo>
                    <a:pt x="145" y="226"/>
                  </a:lnTo>
                  <a:lnTo>
                    <a:pt x="145" y="226"/>
                  </a:lnTo>
                  <a:lnTo>
                    <a:pt x="145" y="228"/>
                  </a:lnTo>
                  <a:lnTo>
                    <a:pt x="145" y="228"/>
                  </a:lnTo>
                  <a:lnTo>
                    <a:pt x="145" y="230"/>
                  </a:lnTo>
                  <a:lnTo>
                    <a:pt x="145" y="230"/>
                  </a:lnTo>
                  <a:lnTo>
                    <a:pt x="145" y="230"/>
                  </a:lnTo>
                  <a:lnTo>
                    <a:pt x="145" y="230"/>
                  </a:lnTo>
                  <a:lnTo>
                    <a:pt x="145" y="230"/>
                  </a:lnTo>
                  <a:lnTo>
                    <a:pt x="145" y="230"/>
                  </a:lnTo>
                  <a:lnTo>
                    <a:pt x="145" y="230"/>
                  </a:lnTo>
                  <a:lnTo>
                    <a:pt x="145" y="230"/>
                  </a:lnTo>
                  <a:lnTo>
                    <a:pt x="147" y="230"/>
                  </a:lnTo>
                  <a:lnTo>
                    <a:pt x="147" y="230"/>
                  </a:lnTo>
                  <a:lnTo>
                    <a:pt x="147" y="232"/>
                  </a:lnTo>
                  <a:lnTo>
                    <a:pt x="147" y="232"/>
                  </a:lnTo>
                  <a:lnTo>
                    <a:pt x="147" y="232"/>
                  </a:lnTo>
                  <a:lnTo>
                    <a:pt x="147" y="234"/>
                  </a:lnTo>
                  <a:lnTo>
                    <a:pt x="147" y="234"/>
                  </a:lnTo>
                  <a:lnTo>
                    <a:pt x="147" y="234"/>
                  </a:lnTo>
                  <a:lnTo>
                    <a:pt x="147" y="234"/>
                  </a:lnTo>
                  <a:lnTo>
                    <a:pt x="147" y="234"/>
                  </a:lnTo>
                  <a:lnTo>
                    <a:pt x="147" y="234"/>
                  </a:lnTo>
                  <a:lnTo>
                    <a:pt x="145" y="236"/>
                  </a:lnTo>
                  <a:lnTo>
                    <a:pt x="145" y="236"/>
                  </a:lnTo>
                  <a:lnTo>
                    <a:pt x="145" y="238"/>
                  </a:lnTo>
                  <a:lnTo>
                    <a:pt x="143" y="238"/>
                  </a:lnTo>
                  <a:lnTo>
                    <a:pt x="143" y="240"/>
                  </a:lnTo>
                  <a:lnTo>
                    <a:pt x="143" y="242"/>
                  </a:lnTo>
                  <a:lnTo>
                    <a:pt x="143" y="242"/>
                  </a:lnTo>
                  <a:lnTo>
                    <a:pt x="143" y="242"/>
                  </a:lnTo>
                  <a:lnTo>
                    <a:pt x="143" y="242"/>
                  </a:lnTo>
                  <a:lnTo>
                    <a:pt x="141" y="243"/>
                  </a:lnTo>
                  <a:lnTo>
                    <a:pt x="141" y="243"/>
                  </a:lnTo>
                  <a:lnTo>
                    <a:pt x="141" y="243"/>
                  </a:lnTo>
                  <a:lnTo>
                    <a:pt x="141" y="243"/>
                  </a:lnTo>
                  <a:lnTo>
                    <a:pt x="141" y="243"/>
                  </a:lnTo>
                  <a:lnTo>
                    <a:pt x="141" y="245"/>
                  </a:lnTo>
                  <a:lnTo>
                    <a:pt x="141" y="247"/>
                  </a:lnTo>
                  <a:lnTo>
                    <a:pt x="141" y="247"/>
                  </a:lnTo>
                  <a:lnTo>
                    <a:pt x="139" y="247"/>
                  </a:lnTo>
                  <a:lnTo>
                    <a:pt x="139" y="247"/>
                  </a:lnTo>
                  <a:lnTo>
                    <a:pt x="139" y="247"/>
                  </a:lnTo>
                  <a:lnTo>
                    <a:pt x="139" y="247"/>
                  </a:lnTo>
                  <a:lnTo>
                    <a:pt x="139" y="249"/>
                  </a:lnTo>
                  <a:lnTo>
                    <a:pt x="139" y="249"/>
                  </a:lnTo>
                  <a:lnTo>
                    <a:pt x="137" y="249"/>
                  </a:lnTo>
                  <a:lnTo>
                    <a:pt x="137" y="249"/>
                  </a:lnTo>
                  <a:lnTo>
                    <a:pt x="137" y="249"/>
                  </a:lnTo>
                  <a:lnTo>
                    <a:pt x="135" y="249"/>
                  </a:lnTo>
                  <a:lnTo>
                    <a:pt x="135" y="249"/>
                  </a:lnTo>
                  <a:lnTo>
                    <a:pt x="133" y="249"/>
                  </a:lnTo>
                  <a:lnTo>
                    <a:pt x="133" y="249"/>
                  </a:lnTo>
                  <a:lnTo>
                    <a:pt x="133" y="251"/>
                  </a:lnTo>
                  <a:lnTo>
                    <a:pt x="133" y="251"/>
                  </a:lnTo>
                  <a:lnTo>
                    <a:pt x="133" y="251"/>
                  </a:lnTo>
                  <a:lnTo>
                    <a:pt x="131" y="251"/>
                  </a:lnTo>
                  <a:lnTo>
                    <a:pt x="131" y="251"/>
                  </a:lnTo>
                  <a:lnTo>
                    <a:pt x="131" y="253"/>
                  </a:lnTo>
                  <a:lnTo>
                    <a:pt x="131" y="253"/>
                  </a:lnTo>
                  <a:lnTo>
                    <a:pt x="131" y="253"/>
                  </a:lnTo>
                  <a:lnTo>
                    <a:pt x="131" y="253"/>
                  </a:lnTo>
                  <a:lnTo>
                    <a:pt x="131" y="253"/>
                  </a:lnTo>
                  <a:lnTo>
                    <a:pt x="130" y="253"/>
                  </a:lnTo>
                  <a:lnTo>
                    <a:pt x="130" y="255"/>
                  </a:lnTo>
                  <a:lnTo>
                    <a:pt x="130" y="255"/>
                  </a:lnTo>
                  <a:lnTo>
                    <a:pt x="130" y="255"/>
                  </a:lnTo>
                  <a:lnTo>
                    <a:pt x="128" y="255"/>
                  </a:lnTo>
                  <a:lnTo>
                    <a:pt x="128" y="255"/>
                  </a:lnTo>
                  <a:lnTo>
                    <a:pt x="128" y="255"/>
                  </a:lnTo>
                  <a:lnTo>
                    <a:pt x="128" y="255"/>
                  </a:lnTo>
                  <a:lnTo>
                    <a:pt x="128" y="255"/>
                  </a:lnTo>
                  <a:lnTo>
                    <a:pt x="124" y="255"/>
                  </a:lnTo>
                  <a:lnTo>
                    <a:pt x="122" y="255"/>
                  </a:lnTo>
                  <a:lnTo>
                    <a:pt x="120" y="257"/>
                  </a:lnTo>
                  <a:lnTo>
                    <a:pt x="120" y="257"/>
                  </a:lnTo>
                  <a:lnTo>
                    <a:pt x="120" y="257"/>
                  </a:lnTo>
                  <a:lnTo>
                    <a:pt x="120" y="257"/>
                  </a:lnTo>
                  <a:lnTo>
                    <a:pt x="118" y="257"/>
                  </a:lnTo>
                  <a:lnTo>
                    <a:pt x="118" y="257"/>
                  </a:lnTo>
                  <a:lnTo>
                    <a:pt x="118" y="259"/>
                  </a:lnTo>
                  <a:lnTo>
                    <a:pt x="116" y="257"/>
                  </a:lnTo>
                  <a:lnTo>
                    <a:pt x="114" y="259"/>
                  </a:lnTo>
                  <a:lnTo>
                    <a:pt x="114" y="259"/>
                  </a:lnTo>
                  <a:lnTo>
                    <a:pt x="114" y="259"/>
                  </a:lnTo>
                  <a:lnTo>
                    <a:pt x="112" y="261"/>
                  </a:lnTo>
                  <a:lnTo>
                    <a:pt x="111" y="261"/>
                  </a:lnTo>
                  <a:lnTo>
                    <a:pt x="111" y="262"/>
                  </a:lnTo>
                  <a:lnTo>
                    <a:pt x="111" y="262"/>
                  </a:lnTo>
                  <a:lnTo>
                    <a:pt x="111" y="262"/>
                  </a:lnTo>
                  <a:lnTo>
                    <a:pt x="109" y="266"/>
                  </a:lnTo>
                  <a:lnTo>
                    <a:pt x="109" y="266"/>
                  </a:lnTo>
                  <a:lnTo>
                    <a:pt x="105" y="270"/>
                  </a:lnTo>
                  <a:lnTo>
                    <a:pt x="105" y="272"/>
                  </a:lnTo>
                  <a:lnTo>
                    <a:pt x="105" y="272"/>
                  </a:lnTo>
                  <a:lnTo>
                    <a:pt x="105" y="272"/>
                  </a:lnTo>
                  <a:lnTo>
                    <a:pt x="105" y="272"/>
                  </a:lnTo>
                  <a:lnTo>
                    <a:pt x="107" y="274"/>
                  </a:lnTo>
                  <a:lnTo>
                    <a:pt x="107" y="274"/>
                  </a:lnTo>
                  <a:lnTo>
                    <a:pt x="107" y="276"/>
                  </a:lnTo>
                  <a:lnTo>
                    <a:pt x="107" y="276"/>
                  </a:lnTo>
                  <a:lnTo>
                    <a:pt x="105" y="282"/>
                  </a:lnTo>
                  <a:lnTo>
                    <a:pt x="103" y="283"/>
                  </a:lnTo>
                  <a:lnTo>
                    <a:pt x="103" y="283"/>
                  </a:lnTo>
                  <a:lnTo>
                    <a:pt x="103" y="283"/>
                  </a:lnTo>
                  <a:lnTo>
                    <a:pt x="103" y="283"/>
                  </a:lnTo>
                  <a:lnTo>
                    <a:pt x="103" y="283"/>
                  </a:lnTo>
                  <a:lnTo>
                    <a:pt x="103" y="283"/>
                  </a:lnTo>
                  <a:lnTo>
                    <a:pt x="103" y="283"/>
                  </a:lnTo>
                  <a:lnTo>
                    <a:pt x="101" y="282"/>
                  </a:lnTo>
                  <a:lnTo>
                    <a:pt x="101" y="282"/>
                  </a:lnTo>
                  <a:lnTo>
                    <a:pt x="101" y="282"/>
                  </a:lnTo>
                  <a:lnTo>
                    <a:pt x="101" y="282"/>
                  </a:lnTo>
                  <a:lnTo>
                    <a:pt x="101" y="282"/>
                  </a:lnTo>
                  <a:lnTo>
                    <a:pt x="101" y="282"/>
                  </a:lnTo>
                  <a:lnTo>
                    <a:pt x="101" y="282"/>
                  </a:lnTo>
                  <a:lnTo>
                    <a:pt x="101" y="282"/>
                  </a:lnTo>
                  <a:lnTo>
                    <a:pt x="99" y="282"/>
                  </a:lnTo>
                  <a:lnTo>
                    <a:pt x="99" y="282"/>
                  </a:lnTo>
                  <a:lnTo>
                    <a:pt x="97" y="282"/>
                  </a:lnTo>
                  <a:lnTo>
                    <a:pt x="97" y="282"/>
                  </a:lnTo>
                  <a:lnTo>
                    <a:pt x="95" y="282"/>
                  </a:lnTo>
                  <a:lnTo>
                    <a:pt x="95" y="283"/>
                  </a:lnTo>
                  <a:lnTo>
                    <a:pt x="95" y="283"/>
                  </a:lnTo>
                  <a:lnTo>
                    <a:pt x="93" y="283"/>
                  </a:lnTo>
                  <a:lnTo>
                    <a:pt x="93" y="283"/>
                  </a:lnTo>
                  <a:lnTo>
                    <a:pt x="91" y="282"/>
                  </a:lnTo>
                  <a:lnTo>
                    <a:pt x="91" y="282"/>
                  </a:lnTo>
                  <a:lnTo>
                    <a:pt x="91" y="282"/>
                  </a:lnTo>
                  <a:lnTo>
                    <a:pt x="91" y="282"/>
                  </a:lnTo>
                  <a:lnTo>
                    <a:pt x="88" y="283"/>
                  </a:lnTo>
                  <a:lnTo>
                    <a:pt x="88" y="283"/>
                  </a:lnTo>
                  <a:lnTo>
                    <a:pt x="88" y="283"/>
                  </a:lnTo>
                  <a:lnTo>
                    <a:pt x="88" y="283"/>
                  </a:lnTo>
                  <a:lnTo>
                    <a:pt x="88" y="283"/>
                  </a:lnTo>
                  <a:lnTo>
                    <a:pt x="88" y="285"/>
                  </a:lnTo>
                  <a:lnTo>
                    <a:pt x="88" y="285"/>
                  </a:lnTo>
                  <a:lnTo>
                    <a:pt x="88" y="285"/>
                  </a:lnTo>
                  <a:lnTo>
                    <a:pt x="86" y="287"/>
                  </a:lnTo>
                  <a:lnTo>
                    <a:pt x="86" y="287"/>
                  </a:lnTo>
                  <a:lnTo>
                    <a:pt x="86" y="287"/>
                  </a:lnTo>
                  <a:lnTo>
                    <a:pt x="86" y="287"/>
                  </a:lnTo>
                  <a:lnTo>
                    <a:pt x="86" y="289"/>
                  </a:lnTo>
                  <a:lnTo>
                    <a:pt x="86" y="291"/>
                  </a:lnTo>
                  <a:lnTo>
                    <a:pt x="86" y="291"/>
                  </a:lnTo>
                  <a:lnTo>
                    <a:pt x="86" y="293"/>
                  </a:lnTo>
                  <a:lnTo>
                    <a:pt x="86" y="293"/>
                  </a:lnTo>
                  <a:lnTo>
                    <a:pt x="86" y="293"/>
                  </a:lnTo>
                  <a:lnTo>
                    <a:pt x="86" y="293"/>
                  </a:lnTo>
                  <a:lnTo>
                    <a:pt x="86" y="293"/>
                  </a:lnTo>
                  <a:lnTo>
                    <a:pt x="86" y="295"/>
                  </a:lnTo>
                  <a:lnTo>
                    <a:pt x="86" y="297"/>
                  </a:lnTo>
                  <a:lnTo>
                    <a:pt x="86" y="299"/>
                  </a:lnTo>
                  <a:lnTo>
                    <a:pt x="86" y="299"/>
                  </a:lnTo>
                  <a:lnTo>
                    <a:pt x="86" y="299"/>
                  </a:lnTo>
                  <a:lnTo>
                    <a:pt x="84" y="301"/>
                  </a:lnTo>
                  <a:lnTo>
                    <a:pt x="84" y="302"/>
                  </a:lnTo>
                  <a:lnTo>
                    <a:pt x="82" y="304"/>
                  </a:lnTo>
                  <a:lnTo>
                    <a:pt x="82" y="304"/>
                  </a:lnTo>
                  <a:lnTo>
                    <a:pt x="82" y="304"/>
                  </a:lnTo>
                  <a:lnTo>
                    <a:pt x="84" y="306"/>
                  </a:lnTo>
                  <a:lnTo>
                    <a:pt x="88" y="312"/>
                  </a:lnTo>
                  <a:lnTo>
                    <a:pt x="88" y="314"/>
                  </a:lnTo>
                  <a:lnTo>
                    <a:pt x="88" y="314"/>
                  </a:lnTo>
                  <a:lnTo>
                    <a:pt x="90" y="316"/>
                  </a:lnTo>
                  <a:lnTo>
                    <a:pt x="90" y="316"/>
                  </a:lnTo>
                  <a:lnTo>
                    <a:pt x="91" y="323"/>
                  </a:lnTo>
                  <a:lnTo>
                    <a:pt x="91" y="325"/>
                  </a:lnTo>
                  <a:lnTo>
                    <a:pt x="91" y="329"/>
                  </a:lnTo>
                  <a:lnTo>
                    <a:pt x="91" y="329"/>
                  </a:lnTo>
                  <a:lnTo>
                    <a:pt x="91" y="331"/>
                  </a:lnTo>
                  <a:lnTo>
                    <a:pt x="91" y="331"/>
                  </a:lnTo>
                  <a:lnTo>
                    <a:pt x="91" y="333"/>
                  </a:lnTo>
                  <a:lnTo>
                    <a:pt x="93" y="339"/>
                  </a:lnTo>
                  <a:lnTo>
                    <a:pt x="93" y="344"/>
                  </a:lnTo>
                  <a:lnTo>
                    <a:pt x="93" y="346"/>
                  </a:lnTo>
                  <a:lnTo>
                    <a:pt x="93" y="346"/>
                  </a:lnTo>
                  <a:lnTo>
                    <a:pt x="93" y="346"/>
                  </a:lnTo>
                  <a:lnTo>
                    <a:pt x="99" y="356"/>
                  </a:lnTo>
                  <a:lnTo>
                    <a:pt x="99" y="359"/>
                  </a:lnTo>
                  <a:lnTo>
                    <a:pt x="97" y="367"/>
                  </a:lnTo>
                  <a:lnTo>
                    <a:pt x="99" y="371"/>
                  </a:lnTo>
                  <a:lnTo>
                    <a:pt x="99" y="373"/>
                  </a:lnTo>
                  <a:lnTo>
                    <a:pt x="101" y="375"/>
                  </a:lnTo>
                  <a:lnTo>
                    <a:pt x="101" y="377"/>
                  </a:lnTo>
                  <a:lnTo>
                    <a:pt x="101" y="379"/>
                  </a:lnTo>
                  <a:lnTo>
                    <a:pt x="101" y="380"/>
                  </a:lnTo>
                  <a:lnTo>
                    <a:pt x="99" y="384"/>
                  </a:lnTo>
                  <a:lnTo>
                    <a:pt x="99" y="384"/>
                  </a:lnTo>
                  <a:lnTo>
                    <a:pt x="99" y="386"/>
                  </a:lnTo>
                  <a:lnTo>
                    <a:pt x="99" y="386"/>
                  </a:lnTo>
                  <a:lnTo>
                    <a:pt x="99" y="388"/>
                  </a:lnTo>
                  <a:lnTo>
                    <a:pt x="101" y="390"/>
                  </a:lnTo>
                  <a:lnTo>
                    <a:pt x="103" y="392"/>
                  </a:lnTo>
                  <a:lnTo>
                    <a:pt x="103" y="394"/>
                  </a:lnTo>
                  <a:lnTo>
                    <a:pt x="105" y="396"/>
                  </a:lnTo>
                  <a:lnTo>
                    <a:pt x="105" y="398"/>
                  </a:lnTo>
                  <a:lnTo>
                    <a:pt x="105" y="398"/>
                  </a:lnTo>
                  <a:lnTo>
                    <a:pt x="103" y="399"/>
                  </a:lnTo>
                  <a:lnTo>
                    <a:pt x="103" y="399"/>
                  </a:lnTo>
                  <a:lnTo>
                    <a:pt x="103" y="399"/>
                  </a:lnTo>
                  <a:lnTo>
                    <a:pt x="103" y="401"/>
                  </a:lnTo>
                  <a:lnTo>
                    <a:pt x="103" y="403"/>
                  </a:lnTo>
                  <a:lnTo>
                    <a:pt x="103" y="405"/>
                  </a:lnTo>
                  <a:lnTo>
                    <a:pt x="103" y="405"/>
                  </a:lnTo>
                  <a:lnTo>
                    <a:pt x="103" y="407"/>
                  </a:lnTo>
                  <a:lnTo>
                    <a:pt x="103" y="407"/>
                  </a:lnTo>
                  <a:lnTo>
                    <a:pt x="103" y="407"/>
                  </a:lnTo>
                  <a:lnTo>
                    <a:pt x="103" y="407"/>
                  </a:lnTo>
                  <a:lnTo>
                    <a:pt x="103" y="407"/>
                  </a:lnTo>
                  <a:lnTo>
                    <a:pt x="101" y="409"/>
                  </a:lnTo>
                  <a:lnTo>
                    <a:pt x="101" y="411"/>
                  </a:lnTo>
                  <a:lnTo>
                    <a:pt x="99" y="413"/>
                  </a:lnTo>
                  <a:lnTo>
                    <a:pt x="99" y="415"/>
                  </a:lnTo>
                  <a:lnTo>
                    <a:pt x="99" y="417"/>
                  </a:lnTo>
                  <a:lnTo>
                    <a:pt x="99" y="418"/>
                  </a:lnTo>
                  <a:lnTo>
                    <a:pt x="101" y="418"/>
                  </a:lnTo>
                  <a:lnTo>
                    <a:pt x="101" y="420"/>
                  </a:lnTo>
                  <a:lnTo>
                    <a:pt x="101" y="420"/>
                  </a:lnTo>
                  <a:lnTo>
                    <a:pt x="101" y="422"/>
                  </a:lnTo>
                  <a:lnTo>
                    <a:pt x="101" y="424"/>
                  </a:lnTo>
                  <a:lnTo>
                    <a:pt x="101" y="426"/>
                  </a:lnTo>
                  <a:lnTo>
                    <a:pt x="101" y="428"/>
                  </a:lnTo>
                  <a:lnTo>
                    <a:pt x="101" y="430"/>
                  </a:lnTo>
                  <a:lnTo>
                    <a:pt x="101" y="430"/>
                  </a:lnTo>
                  <a:lnTo>
                    <a:pt x="101" y="430"/>
                  </a:lnTo>
                  <a:lnTo>
                    <a:pt x="99" y="430"/>
                  </a:lnTo>
                  <a:lnTo>
                    <a:pt x="99" y="430"/>
                  </a:lnTo>
                  <a:lnTo>
                    <a:pt x="99" y="430"/>
                  </a:lnTo>
                  <a:lnTo>
                    <a:pt x="99" y="430"/>
                  </a:lnTo>
                  <a:lnTo>
                    <a:pt x="99" y="432"/>
                  </a:lnTo>
                  <a:lnTo>
                    <a:pt x="99" y="432"/>
                  </a:lnTo>
                  <a:lnTo>
                    <a:pt x="99" y="432"/>
                  </a:lnTo>
                  <a:lnTo>
                    <a:pt x="101" y="432"/>
                  </a:lnTo>
                  <a:lnTo>
                    <a:pt x="101" y="432"/>
                  </a:lnTo>
                  <a:lnTo>
                    <a:pt x="101" y="432"/>
                  </a:lnTo>
                  <a:lnTo>
                    <a:pt x="101" y="432"/>
                  </a:lnTo>
                  <a:lnTo>
                    <a:pt x="101" y="432"/>
                  </a:lnTo>
                  <a:lnTo>
                    <a:pt x="103" y="432"/>
                  </a:lnTo>
                  <a:lnTo>
                    <a:pt x="103" y="432"/>
                  </a:lnTo>
                  <a:lnTo>
                    <a:pt x="103" y="432"/>
                  </a:lnTo>
                  <a:lnTo>
                    <a:pt x="103" y="434"/>
                  </a:lnTo>
                  <a:lnTo>
                    <a:pt x="103" y="434"/>
                  </a:lnTo>
                  <a:lnTo>
                    <a:pt x="105" y="434"/>
                  </a:lnTo>
                  <a:lnTo>
                    <a:pt x="105" y="436"/>
                  </a:lnTo>
                  <a:lnTo>
                    <a:pt x="107" y="436"/>
                  </a:lnTo>
                  <a:lnTo>
                    <a:pt x="107" y="437"/>
                  </a:lnTo>
                  <a:lnTo>
                    <a:pt x="105" y="439"/>
                  </a:lnTo>
                  <a:lnTo>
                    <a:pt x="105" y="439"/>
                  </a:lnTo>
                  <a:lnTo>
                    <a:pt x="105" y="441"/>
                  </a:lnTo>
                  <a:lnTo>
                    <a:pt x="103" y="443"/>
                  </a:lnTo>
                  <a:lnTo>
                    <a:pt x="105" y="445"/>
                  </a:lnTo>
                  <a:lnTo>
                    <a:pt x="109" y="447"/>
                  </a:lnTo>
                  <a:lnTo>
                    <a:pt x="112" y="449"/>
                  </a:lnTo>
                  <a:lnTo>
                    <a:pt x="116" y="451"/>
                  </a:lnTo>
                  <a:lnTo>
                    <a:pt x="116" y="453"/>
                  </a:lnTo>
                  <a:lnTo>
                    <a:pt x="118" y="455"/>
                  </a:lnTo>
                  <a:lnTo>
                    <a:pt x="120" y="455"/>
                  </a:lnTo>
                  <a:lnTo>
                    <a:pt x="122" y="455"/>
                  </a:lnTo>
                  <a:lnTo>
                    <a:pt x="122" y="455"/>
                  </a:lnTo>
                  <a:lnTo>
                    <a:pt x="122" y="455"/>
                  </a:lnTo>
                  <a:lnTo>
                    <a:pt x="124" y="455"/>
                  </a:lnTo>
                  <a:lnTo>
                    <a:pt x="124" y="455"/>
                  </a:lnTo>
                  <a:lnTo>
                    <a:pt x="126" y="455"/>
                  </a:lnTo>
                  <a:lnTo>
                    <a:pt x="126" y="453"/>
                  </a:lnTo>
                  <a:lnTo>
                    <a:pt x="130" y="453"/>
                  </a:lnTo>
                  <a:lnTo>
                    <a:pt x="131" y="455"/>
                  </a:lnTo>
                  <a:lnTo>
                    <a:pt x="133" y="455"/>
                  </a:lnTo>
                  <a:lnTo>
                    <a:pt x="133" y="455"/>
                  </a:lnTo>
                  <a:lnTo>
                    <a:pt x="133" y="456"/>
                  </a:lnTo>
                  <a:lnTo>
                    <a:pt x="133" y="456"/>
                  </a:lnTo>
                  <a:lnTo>
                    <a:pt x="133" y="456"/>
                  </a:lnTo>
                  <a:lnTo>
                    <a:pt x="135" y="460"/>
                  </a:lnTo>
                  <a:lnTo>
                    <a:pt x="137" y="460"/>
                  </a:lnTo>
                  <a:lnTo>
                    <a:pt x="168" y="475"/>
                  </a:lnTo>
                  <a:lnTo>
                    <a:pt x="168" y="475"/>
                  </a:lnTo>
                  <a:lnTo>
                    <a:pt x="166" y="477"/>
                  </a:lnTo>
                  <a:lnTo>
                    <a:pt x="168" y="479"/>
                  </a:lnTo>
                  <a:lnTo>
                    <a:pt x="168" y="481"/>
                  </a:lnTo>
                  <a:lnTo>
                    <a:pt x="170" y="483"/>
                  </a:lnTo>
                  <a:lnTo>
                    <a:pt x="171" y="483"/>
                  </a:lnTo>
                  <a:lnTo>
                    <a:pt x="173" y="483"/>
                  </a:lnTo>
                  <a:lnTo>
                    <a:pt x="177" y="481"/>
                  </a:lnTo>
                  <a:lnTo>
                    <a:pt x="179" y="479"/>
                  </a:lnTo>
                  <a:lnTo>
                    <a:pt x="179" y="481"/>
                  </a:lnTo>
                  <a:lnTo>
                    <a:pt x="183" y="483"/>
                  </a:lnTo>
                  <a:lnTo>
                    <a:pt x="185" y="485"/>
                  </a:lnTo>
                  <a:lnTo>
                    <a:pt x="187" y="485"/>
                  </a:lnTo>
                  <a:lnTo>
                    <a:pt x="191" y="483"/>
                  </a:lnTo>
                  <a:lnTo>
                    <a:pt x="192" y="483"/>
                  </a:lnTo>
                  <a:lnTo>
                    <a:pt x="194" y="481"/>
                  </a:lnTo>
                  <a:lnTo>
                    <a:pt x="196" y="481"/>
                  </a:lnTo>
                  <a:lnTo>
                    <a:pt x="196" y="479"/>
                  </a:lnTo>
                  <a:lnTo>
                    <a:pt x="196" y="475"/>
                  </a:lnTo>
                  <a:lnTo>
                    <a:pt x="198" y="475"/>
                  </a:lnTo>
                  <a:lnTo>
                    <a:pt x="200" y="474"/>
                  </a:lnTo>
                  <a:lnTo>
                    <a:pt x="202" y="475"/>
                  </a:lnTo>
                  <a:lnTo>
                    <a:pt x="202" y="477"/>
                  </a:lnTo>
                  <a:lnTo>
                    <a:pt x="200" y="479"/>
                  </a:lnTo>
                  <a:lnTo>
                    <a:pt x="198" y="485"/>
                  </a:lnTo>
                  <a:lnTo>
                    <a:pt x="198" y="487"/>
                  </a:lnTo>
                  <a:lnTo>
                    <a:pt x="198" y="489"/>
                  </a:lnTo>
                  <a:lnTo>
                    <a:pt x="198" y="495"/>
                  </a:lnTo>
                  <a:lnTo>
                    <a:pt x="198" y="496"/>
                  </a:lnTo>
                  <a:lnTo>
                    <a:pt x="198" y="498"/>
                  </a:lnTo>
                  <a:lnTo>
                    <a:pt x="196" y="500"/>
                  </a:lnTo>
                  <a:lnTo>
                    <a:pt x="196" y="502"/>
                  </a:lnTo>
                  <a:lnTo>
                    <a:pt x="196" y="504"/>
                  </a:lnTo>
                  <a:lnTo>
                    <a:pt x="198" y="512"/>
                  </a:lnTo>
                  <a:lnTo>
                    <a:pt x="202" y="515"/>
                  </a:lnTo>
                  <a:lnTo>
                    <a:pt x="206" y="515"/>
                  </a:lnTo>
                  <a:lnTo>
                    <a:pt x="208" y="515"/>
                  </a:lnTo>
                  <a:lnTo>
                    <a:pt x="211" y="514"/>
                  </a:lnTo>
                  <a:lnTo>
                    <a:pt x="215" y="514"/>
                  </a:lnTo>
                  <a:lnTo>
                    <a:pt x="221" y="517"/>
                  </a:lnTo>
                  <a:lnTo>
                    <a:pt x="225" y="517"/>
                  </a:lnTo>
                  <a:lnTo>
                    <a:pt x="229" y="515"/>
                  </a:lnTo>
                  <a:lnTo>
                    <a:pt x="232" y="515"/>
                  </a:lnTo>
                  <a:lnTo>
                    <a:pt x="234" y="515"/>
                  </a:lnTo>
                  <a:lnTo>
                    <a:pt x="238" y="519"/>
                  </a:lnTo>
                  <a:lnTo>
                    <a:pt x="242" y="521"/>
                  </a:lnTo>
                  <a:lnTo>
                    <a:pt x="248" y="523"/>
                  </a:lnTo>
                  <a:lnTo>
                    <a:pt x="252" y="525"/>
                  </a:lnTo>
                  <a:lnTo>
                    <a:pt x="257" y="531"/>
                  </a:lnTo>
                  <a:lnTo>
                    <a:pt x="261" y="529"/>
                  </a:lnTo>
                  <a:lnTo>
                    <a:pt x="267" y="529"/>
                  </a:lnTo>
                  <a:lnTo>
                    <a:pt x="269" y="529"/>
                  </a:lnTo>
                  <a:lnTo>
                    <a:pt x="269" y="527"/>
                  </a:lnTo>
                  <a:lnTo>
                    <a:pt x="271" y="527"/>
                  </a:lnTo>
                  <a:lnTo>
                    <a:pt x="271" y="527"/>
                  </a:lnTo>
                  <a:lnTo>
                    <a:pt x="271" y="527"/>
                  </a:lnTo>
                  <a:lnTo>
                    <a:pt x="271" y="529"/>
                  </a:lnTo>
                  <a:lnTo>
                    <a:pt x="271" y="531"/>
                  </a:lnTo>
                  <a:lnTo>
                    <a:pt x="272" y="531"/>
                  </a:lnTo>
                  <a:lnTo>
                    <a:pt x="272" y="531"/>
                  </a:lnTo>
                  <a:lnTo>
                    <a:pt x="274" y="533"/>
                  </a:lnTo>
                  <a:lnTo>
                    <a:pt x="274" y="533"/>
                  </a:lnTo>
                  <a:lnTo>
                    <a:pt x="276" y="533"/>
                  </a:lnTo>
                  <a:lnTo>
                    <a:pt x="280" y="529"/>
                  </a:lnTo>
                  <a:lnTo>
                    <a:pt x="284" y="525"/>
                  </a:lnTo>
                  <a:lnTo>
                    <a:pt x="286" y="523"/>
                  </a:lnTo>
                  <a:lnTo>
                    <a:pt x="293" y="523"/>
                  </a:lnTo>
                  <a:lnTo>
                    <a:pt x="295" y="521"/>
                  </a:lnTo>
                  <a:lnTo>
                    <a:pt x="295" y="521"/>
                  </a:lnTo>
                  <a:lnTo>
                    <a:pt x="297" y="519"/>
                  </a:lnTo>
                  <a:lnTo>
                    <a:pt x="297" y="519"/>
                  </a:lnTo>
                  <a:lnTo>
                    <a:pt x="297" y="519"/>
                  </a:lnTo>
                  <a:lnTo>
                    <a:pt x="299" y="515"/>
                  </a:lnTo>
                  <a:lnTo>
                    <a:pt x="299" y="515"/>
                  </a:lnTo>
                  <a:lnTo>
                    <a:pt x="303" y="514"/>
                  </a:lnTo>
                  <a:lnTo>
                    <a:pt x="305" y="512"/>
                  </a:lnTo>
                  <a:lnTo>
                    <a:pt x="307" y="512"/>
                  </a:lnTo>
                  <a:lnTo>
                    <a:pt x="307" y="512"/>
                  </a:lnTo>
                  <a:lnTo>
                    <a:pt x="309" y="510"/>
                  </a:lnTo>
                  <a:lnTo>
                    <a:pt x="309" y="508"/>
                  </a:lnTo>
                  <a:lnTo>
                    <a:pt x="311" y="506"/>
                  </a:lnTo>
                  <a:lnTo>
                    <a:pt x="311" y="504"/>
                  </a:lnTo>
                  <a:lnTo>
                    <a:pt x="312" y="500"/>
                  </a:lnTo>
                  <a:lnTo>
                    <a:pt x="314" y="500"/>
                  </a:lnTo>
                  <a:lnTo>
                    <a:pt x="314" y="498"/>
                  </a:lnTo>
                  <a:lnTo>
                    <a:pt x="316" y="498"/>
                  </a:lnTo>
                  <a:lnTo>
                    <a:pt x="316" y="496"/>
                  </a:lnTo>
                  <a:lnTo>
                    <a:pt x="316" y="496"/>
                  </a:lnTo>
                  <a:lnTo>
                    <a:pt x="316" y="495"/>
                  </a:lnTo>
                  <a:lnTo>
                    <a:pt x="314" y="491"/>
                  </a:lnTo>
                  <a:lnTo>
                    <a:pt x="314" y="489"/>
                  </a:lnTo>
                  <a:lnTo>
                    <a:pt x="314" y="485"/>
                  </a:lnTo>
                  <a:lnTo>
                    <a:pt x="314" y="483"/>
                  </a:lnTo>
                  <a:lnTo>
                    <a:pt x="314" y="483"/>
                  </a:lnTo>
                  <a:lnTo>
                    <a:pt x="314" y="481"/>
                  </a:lnTo>
                  <a:lnTo>
                    <a:pt x="314" y="481"/>
                  </a:lnTo>
                  <a:lnTo>
                    <a:pt x="312" y="479"/>
                  </a:lnTo>
                  <a:lnTo>
                    <a:pt x="312" y="477"/>
                  </a:lnTo>
                  <a:lnTo>
                    <a:pt x="311" y="477"/>
                  </a:lnTo>
                  <a:lnTo>
                    <a:pt x="311" y="475"/>
                  </a:lnTo>
                  <a:lnTo>
                    <a:pt x="309" y="474"/>
                  </a:lnTo>
                  <a:lnTo>
                    <a:pt x="307" y="472"/>
                  </a:lnTo>
                  <a:lnTo>
                    <a:pt x="305" y="470"/>
                  </a:lnTo>
                  <a:lnTo>
                    <a:pt x="305" y="468"/>
                  </a:lnTo>
                  <a:lnTo>
                    <a:pt x="305" y="466"/>
                  </a:lnTo>
                  <a:lnTo>
                    <a:pt x="305" y="466"/>
                  </a:lnTo>
                  <a:lnTo>
                    <a:pt x="305" y="464"/>
                  </a:lnTo>
                  <a:lnTo>
                    <a:pt x="307" y="464"/>
                  </a:lnTo>
                  <a:lnTo>
                    <a:pt x="309" y="462"/>
                  </a:lnTo>
                  <a:lnTo>
                    <a:pt x="309" y="462"/>
                  </a:lnTo>
                  <a:lnTo>
                    <a:pt x="311" y="464"/>
                  </a:lnTo>
                  <a:lnTo>
                    <a:pt x="312" y="464"/>
                  </a:lnTo>
                  <a:lnTo>
                    <a:pt x="314" y="464"/>
                  </a:lnTo>
                  <a:lnTo>
                    <a:pt x="314" y="464"/>
                  </a:lnTo>
                  <a:lnTo>
                    <a:pt x="314" y="466"/>
                  </a:lnTo>
                  <a:lnTo>
                    <a:pt x="316" y="468"/>
                  </a:lnTo>
                  <a:lnTo>
                    <a:pt x="318" y="468"/>
                  </a:lnTo>
                  <a:lnTo>
                    <a:pt x="318" y="468"/>
                  </a:lnTo>
                  <a:lnTo>
                    <a:pt x="320" y="466"/>
                  </a:lnTo>
                  <a:lnTo>
                    <a:pt x="328" y="460"/>
                  </a:lnTo>
                  <a:lnTo>
                    <a:pt x="330" y="458"/>
                  </a:lnTo>
                  <a:lnTo>
                    <a:pt x="330" y="456"/>
                  </a:lnTo>
                  <a:lnTo>
                    <a:pt x="332" y="455"/>
                  </a:lnTo>
                  <a:lnTo>
                    <a:pt x="337" y="453"/>
                  </a:lnTo>
                  <a:lnTo>
                    <a:pt x="341" y="453"/>
                  </a:lnTo>
                  <a:lnTo>
                    <a:pt x="343" y="451"/>
                  </a:lnTo>
                  <a:lnTo>
                    <a:pt x="345" y="449"/>
                  </a:lnTo>
                  <a:lnTo>
                    <a:pt x="347" y="447"/>
                  </a:lnTo>
                  <a:lnTo>
                    <a:pt x="347" y="445"/>
                  </a:lnTo>
                  <a:lnTo>
                    <a:pt x="349" y="443"/>
                  </a:lnTo>
                  <a:lnTo>
                    <a:pt x="349" y="443"/>
                  </a:lnTo>
                  <a:lnTo>
                    <a:pt x="349" y="441"/>
                  </a:lnTo>
                  <a:lnTo>
                    <a:pt x="351" y="441"/>
                  </a:lnTo>
                  <a:lnTo>
                    <a:pt x="354" y="437"/>
                  </a:lnTo>
                  <a:lnTo>
                    <a:pt x="358" y="436"/>
                  </a:lnTo>
                  <a:lnTo>
                    <a:pt x="370" y="434"/>
                  </a:lnTo>
                  <a:lnTo>
                    <a:pt x="373" y="432"/>
                  </a:lnTo>
                  <a:lnTo>
                    <a:pt x="373" y="432"/>
                  </a:lnTo>
                  <a:lnTo>
                    <a:pt x="379" y="436"/>
                  </a:lnTo>
                  <a:lnTo>
                    <a:pt x="381" y="436"/>
                  </a:lnTo>
                  <a:lnTo>
                    <a:pt x="391" y="436"/>
                  </a:lnTo>
                  <a:lnTo>
                    <a:pt x="393" y="436"/>
                  </a:lnTo>
                  <a:lnTo>
                    <a:pt x="394" y="436"/>
                  </a:lnTo>
                  <a:lnTo>
                    <a:pt x="398" y="443"/>
                  </a:lnTo>
                  <a:lnTo>
                    <a:pt x="400" y="443"/>
                  </a:lnTo>
                  <a:lnTo>
                    <a:pt x="406" y="449"/>
                  </a:lnTo>
                  <a:lnTo>
                    <a:pt x="408" y="451"/>
                  </a:lnTo>
                  <a:lnTo>
                    <a:pt x="410" y="453"/>
                  </a:lnTo>
                  <a:lnTo>
                    <a:pt x="412" y="455"/>
                  </a:lnTo>
                  <a:lnTo>
                    <a:pt x="415" y="456"/>
                  </a:lnTo>
                  <a:lnTo>
                    <a:pt x="423" y="462"/>
                  </a:lnTo>
                  <a:lnTo>
                    <a:pt x="427" y="464"/>
                  </a:lnTo>
                  <a:lnTo>
                    <a:pt x="434" y="468"/>
                  </a:lnTo>
                  <a:lnTo>
                    <a:pt x="448" y="472"/>
                  </a:lnTo>
                  <a:lnTo>
                    <a:pt x="450" y="472"/>
                  </a:lnTo>
                  <a:lnTo>
                    <a:pt x="450" y="470"/>
                  </a:lnTo>
                  <a:lnTo>
                    <a:pt x="450" y="470"/>
                  </a:lnTo>
                  <a:lnTo>
                    <a:pt x="452" y="470"/>
                  </a:lnTo>
                  <a:lnTo>
                    <a:pt x="452" y="468"/>
                  </a:lnTo>
                  <a:lnTo>
                    <a:pt x="455" y="468"/>
                  </a:lnTo>
                  <a:lnTo>
                    <a:pt x="459" y="468"/>
                  </a:lnTo>
                  <a:lnTo>
                    <a:pt x="461" y="466"/>
                  </a:lnTo>
                  <a:lnTo>
                    <a:pt x="465" y="466"/>
                  </a:lnTo>
                  <a:lnTo>
                    <a:pt x="467" y="466"/>
                  </a:lnTo>
                  <a:lnTo>
                    <a:pt x="467" y="464"/>
                  </a:lnTo>
                  <a:lnTo>
                    <a:pt x="469" y="464"/>
                  </a:lnTo>
                  <a:lnTo>
                    <a:pt x="471" y="460"/>
                  </a:lnTo>
                  <a:lnTo>
                    <a:pt x="473" y="460"/>
                  </a:lnTo>
                  <a:lnTo>
                    <a:pt x="473" y="460"/>
                  </a:lnTo>
                  <a:lnTo>
                    <a:pt x="474" y="460"/>
                  </a:lnTo>
                  <a:lnTo>
                    <a:pt x="474" y="458"/>
                  </a:lnTo>
                  <a:lnTo>
                    <a:pt x="476" y="458"/>
                  </a:lnTo>
                  <a:lnTo>
                    <a:pt x="476" y="456"/>
                  </a:lnTo>
                  <a:lnTo>
                    <a:pt x="476" y="456"/>
                  </a:lnTo>
                  <a:lnTo>
                    <a:pt x="478" y="456"/>
                  </a:lnTo>
                  <a:lnTo>
                    <a:pt x="480" y="455"/>
                  </a:lnTo>
                  <a:lnTo>
                    <a:pt x="480" y="455"/>
                  </a:lnTo>
                  <a:lnTo>
                    <a:pt x="482" y="455"/>
                  </a:lnTo>
                  <a:lnTo>
                    <a:pt x="482" y="456"/>
                  </a:lnTo>
                  <a:lnTo>
                    <a:pt x="484" y="458"/>
                  </a:lnTo>
                  <a:lnTo>
                    <a:pt x="486" y="460"/>
                  </a:lnTo>
                  <a:lnTo>
                    <a:pt x="492" y="466"/>
                  </a:lnTo>
                  <a:lnTo>
                    <a:pt x="494" y="470"/>
                  </a:lnTo>
                  <a:lnTo>
                    <a:pt x="497" y="477"/>
                  </a:lnTo>
                  <a:lnTo>
                    <a:pt x="499" y="479"/>
                  </a:lnTo>
                  <a:lnTo>
                    <a:pt x="499" y="481"/>
                  </a:lnTo>
                  <a:lnTo>
                    <a:pt x="501" y="483"/>
                  </a:lnTo>
                  <a:lnTo>
                    <a:pt x="501" y="489"/>
                  </a:lnTo>
                  <a:lnTo>
                    <a:pt x="501" y="491"/>
                  </a:lnTo>
                  <a:lnTo>
                    <a:pt x="503" y="491"/>
                  </a:lnTo>
                  <a:lnTo>
                    <a:pt x="505" y="495"/>
                  </a:lnTo>
                  <a:lnTo>
                    <a:pt x="505" y="495"/>
                  </a:lnTo>
                  <a:lnTo>
                    <a:pt x="507" y="496"/>
                  </a:lnTo>
                  <a:lnTo>
                    <a:pt x="507" y="498"/>
                  </a:lnTo>
                  <a:lnTo>
                    <a:pt x="509" y="500"/>
                  </a:lnTo>
                  <a:lnTo>
                    <a:pt x="511" y="500"/>
                  </a:lnTo>
                  <a:lnTo>
                    <a:pt x="513" y="498"/>
                  </a:lnTo>
                  <a:lnTo>
                    <a:pt x="514" y="496"/>
                  </a:lnTo>
                  <a:lnTo>
                    <a:pt x="514" y="496"/>
                  </a:lnTo>
                  <a:lnTo>
                    <a:pt x="514" y="496"/>
                  </a:lnTo>
                  <a:lnTo>
                    <a:pt x="516" y="495"/>
                  </a:lnTo>
                  <a:lnTo>
                    <a:pt x="516" y="495"/>
                  </a:lnTo>
                  <a:lnTo>
                    <a:pt x="516" y="495"/>
                  </a:lnTo>
                  <a:lnTo>
                    <a:pt x="518" y="493"/>
                  </a:lnTo>
                  <a:lnTo>
                    <a:pt x="520" y="493"/>
                  </a:lnTo>
                  <a:lnTo>
                    <a:pt x="522" y="493"/>
                  </a:lnTo>
                  <a:lnTo>
                    <a:pt x="524" y="491"/>
                  </a:lnTo>
                  <a:lnTo>
                    <a:pt x="524" y="491"/>
                  </a:lnTo>
                  <a:lnTo>
                    <a:pt x="526" y="491"/>
                  </a:lnTo>
                  <a:lnTo>
                    <a:pt x="528" y="491"/>
                  </a:lnTo>
                  <a:lnTo>
                    <a:pt x="530" y="491"/>
                  </a:lnTo>
                  <a:lnTo>
                    <a:pt x="530" y="491"/>
                  </a:lnTo>
                  <a:lnTo>
                    <a:pt x="532" y="489"/>
                  </a:lnTo>
                  <a:lnTo>
                    <a:pt x="534" y="487"/>
                  </a:lnTo>
                  <a:lnTo>
                    <a:pt x="535" y="487"/>
                  </a:lnTo>
                  <a:lnTo>
                    <a:pt x="535" y="485"/>
                  </a:lnTo>
                  <a:lnTo>
                    <a:pt x="537" y="485"/>
                  </a:lnTo>
                  <a:lnTo>
                    <a:pt x="535" y="483"/>
                  </a:lnTo>
                  <a:lnTo>
                    <a:pt x="537" y="483"/>
                  </a:lnTo>
                  <a:lnTo>
                    <a:pt x="537" y="483"/>
                  </a:lnTo>
                  <a:lnTo>
                    <a:pt x="537" y="483"/>
                  </a:lnTo>
                  <a:lnTo>
                    <a:pt x="539" y="481"/>
                  </a:lnTo>
                  <a:lnTo>
                    <a:pt x="541" y="483"/>
                  </a:lnTo>
                  <a:lnTo>
                    <a:pt x="541" y="483"/>
                  </a:lnTo>
                  <a:lnTo>
                    <a:pt x="541" y="483"/>
                  </a:lnTo>
                  <a:lnTo>
                    <a:pt x="541" y="483"/>
                  </a:lnTo>
                  <a:lnTo>
                    <a:pt x="543" y="487"/>
                  </a:lnTo>
                  <a:lnTo>
                    <a:pt x="543" y="489"/>
                  </a:lnTo>
                  <a:lnTo>
                    <a:pt x="543" y="489"/>
                  </a:lnTo>
                  <a:lnTo>
                    <a:pt x="543" y="493"/>
                  </a:lnTo>
                  <a:lnTo>
                    <a:pt x="541" y="495"/>
                  </a:lnTo>
                  <a:lnTo>
                    <a:pt x="541" y="495"/>
                  </a:lnTo>
                  <a:lnTo>
                    <a:pt x="541" y="496"/>
                  </a:lnTo>
                  <a:lnTo>
                    <a:pt x="541" y="496"/>
                  </a:lnTo>
                  <a:lnTo>
                    <a:pt x="537" y="498"/>
                  </a:lnTo>
                  <a:lnTo>
                    <a:pt x="535" y="500"/>
                  </a:lnTo>
                  <a:lnTo>
                    <a:pt x="535" y="500"/>
                  </a:lnTo>
                  <a:lnTo>
                    <a:pt x="535" y="502"/>
                  </a:lnTo>
                  <a:lnTo>
                    <a:pt x="534" y="504"/>
                  </a:lnTo>
                  <a:lnTo>
                    <a:pt x="534" y="506"/>
                  </a:lnTo>
                  <a:lnTo>
                    <a:pt x="534" y="508"/>
                  </a:lnTo>
                  <a:lnTo>
                    <a:pt x="532" y="510"/>
                  </a:lnTo>
                  <a:lnTo>
                    <a:pt x="532" y="512"/>
                  </a:lnTo>
                  <a:lnTo>
                    <a:pt x="532" y="512"/>
                  </a:lnTo>
                  <a:lnTo>
                    <a:pt x="534" y="514"/>
                  </a:lnTo>
                  <a:lnTo>
                    <a:pt x="534" y="514"/>
                  </a:lnTo>
                  <a:lnTo>
                    <a:pt x="535" y="515"/>
                  </a:lnTo>
                  <a:lnTo>
                    <a:pt x="535" y="515"/>
                  </a:lnTo>
                  <a:lnTo>
                    <a:pt x="541" y="510"/>
                  </a:lnTo>
                  <a:lnTo>
                    <a:pt x="543" y="508"/>
                  </a:lnTo>
                  <a:lnTo>
                    <a:pt x="543" y="506"/>
                  </a:lnTo>
                  <a:lnTo>
                    <a:pt x="545" y="506"/>
                  </a:lnTo>
                  <a:lnTo>
                    <a:pt x="549" y="504"/>
                  </a:lnTo>
                  <a:lnTo>
                    <a:pt x="562" y="504"/>
                  </a:lnTo>
                  <a:lnTo>
                    <a:pt x="566" y="502"/>
                  </a:lnTo>
                  <a:lnTo>
                    <a:pt x="568" y="502"/>
                  </a:lnTo>
                  <a:lnTo>
                    <a:pt x="568" y="500"/>
                  </a:lnTo>
                  <a:lnTo>
                    <a:pt x="572" y="496"/>
                  </a:lnTo>
                  <a:lnTo>
                    <a:pt x="574" y="496"/>
                  </a:lnTo>
                  <a:lnTo>
                    <a:pt x="575" y="496"/>
                  </a:lnTo>
                  <a:lnTo>
                    <a:pt x="577" y="498"/>
                  </a:lnTo>
                  <a:lnTo>
                    <a:pt x="575" y="500"/>
                  </a:lnTo>
                  <a:lnTo>
                    <a:pt x="575" y="502"/>
                  </a:lnTo>
                  <a:lnTo>
                    <a:pt x="575" y="504"/>
                  </a:lnTo>
                  <a:lnTo>
                    <a:pt x="575" y="506"/>
                  </a:lnTo>
                  <a:lnTo>
                    <a:pt x="577" y="512"/>
                  </a:lnTo>
                  <a:lnTo>
                    <a:pt x="579" y="515"/>
                  </a:lnTo>
                  <a:lnTo>
                    <a:pt x="587" y="523"/>
                  </a:lnTo>
                  <a:lnTo>
                    <a:pt x="589" y="525"/>
                  </a:lnTo>
                  <a:lnTo>
                    <a:pt x="591" y="527"/>
                  </a:lnTo>
                  <a:lnTo>
                    <a:pt x="595" y="529"/>
                  </a:lnTo>
                  <a:lnTo>
                    <a:pt x="596" y="527"/>
                  </a:lnTo>
                  <a:lnTo>
                    <a:pt x="598" y="527"/>
                  </a:lnTo>
                  <a:lnTo>
                    <a:pt x="600" y="525"/>
                  </a:lnTo>
                  <a:lnTo>
                    <a:pt x="602" y="525"/>
                  </a:lnTo>
                  <a:lnTo>
                    <a:pt x="604" y="525"/>
                  </a:lnTo>
                  <a:lnTo>
                    <a:pt x="606" y="525"/>
                  </a:lnTo>
                  <a:lnTo>
                    <a:pt x="606" y="525"/>
                  </a:lnTo>
                  <a:lnTo>
                    <a:pt x="608" y="523"/>
                  </a:lnTo>
                  <a:lnTo>
                    <a:pt x="610" y="517"/>
                  </a:lnTo>
                  <a:lnTo>
                    <a:pt x="610" y="515"/>
                  </a:lnTo>
                  <a:lnTo>
                    <a:pt x="612" y="514"/>
                  </a:lnTo>
                  <a:lnTo>
                    <a:pt x="614" y="512"/>
                  </a:lnTo>
                  <a:lnTo>
                    <a:pt x="617" y="512"/>
                  </a:lnTo>
                  <a:lnTo>
                    <a:pt x="619" y="510"/>
                  </a:lnTo>
                  <a:lnTo>
                    <a:pt x="621" y="512"/>
                  </a:lnTo>
                  <a:lnTo>
                    <a:pt x="623" y="512"/>
                  </a:lnTo>
                  <a:lnTo>
                    <a:pt x="625" y="512"/>
                  </a:lnTo>
                  <a:lnTo>
                    <a:pt x="627" y="512"/>
                  </a:lnTo>
                  <a:lnTo>
                    <a:pt x="631" y="508"/>
                  </a:lnTo>
                  <a:lnTo>
                    <a:pt x="640" y="500"/>
                  </a:lnTo>
                  <a:lnTo>
                    <a:pt x="644" y="496"/>
                  </a:lnTo>
                  <a:lnTo>
                    <a:pt x="646" y="493"/>
                  </a:lnTo>
                  <a:lnTo>
                    <a:pt x="646" y="489"/>
                  </a:lnTo>
                  <a:lnTo>
                    <a:pt x="646" y="485"/>
                  </a:lnTo>
                  <a:lnTo>
                    <a:pt x="644" y="481"/>
                  </a:lnTo>
                  <a:lnTo>
                    <a:pt x="640" y="479"/>
                  </a:lnTo>
                  <a:lnTo>
                    <a:pt x="640" y="475"/>
                  </a:lnTo>
                  <a:lnTo>
                    <a:pt x="640" y="472"/>
                  </a:lnTo>
                  <a:lnTo>
                    <a:pt x="638" y="470"/>
                  </a:lnTo>
                  <a:lnTo>
                    <a:pt x="633" y="464"/>
                  </a:lnTo>
                  <a:lnTo>
                    <a:pt x="631" y="462"/>
                  </a:lnTo>
                  <a:lnTo>
                    <a:pt x="631" y="456"/>
                  </a:lnTo>
                  <a:lnTo>
                    <a:pt x="631" y="455"/>
                  </a:lnTo>
                  <a:lnTo>
                    <a:pt x="631" y="449"/>
                  </a:lnTo>
                  <a:lnTo>
                    <a:pt x="633" y="447"/>
                  </a:lnTo>
                  <a:lnTo>
                    <a:pt x="635" y="445"/>
                  </a:lnTo>
                  <a:lnTo>
                    <a:pt x="635" y="443"/>
                  </a:lnTo>
                  <a:lnTo>
                    <a:pt x="635" y="439"/>
                  </a:lnTo>
                  <a:lnTo>
                    <a:pt x="631" y="437"/>
                  </a:lnTo>
                  <a:lnTo>
                    <a:pt x="623" y="437"/>
                  </a:lnTo>
                  <a:lnTo>
                    <a:pt x="621" y="436"/>
                  </a:lnTo>
                  <a:lnTo>
                    <a:pt x="614" y="432"/>
                  </a:lnTo>
                  <a:lnTo>
                    <a:pt x="612" y="432"/>
                  </a:lnTo>
                  <a:lnTo>
                    <a:pt x="608" y="434"/>
                  </a:lnTo>
                  <a:lnTo>
                    <a:pt x="606" y="432"/>
                  </a:lnTo>
                  <a:lnTo>
                    <a:pt x="606" y="430"/>
                  </a:lnTo>
                  <a:lnTo>
                    <a:pt x="606" y="428"/>
                  </a:lnTo>
                  <a:lnTo>
                    <a:pt x="606" y="426"/>
                  </a:lnTo>
                  <a:lnTo>
                    <a:pt x="604" y="426"/>
                  </a:lnTo>
                  <a:lnTo>
                    <a:pt x="602" y="424"/>
                  </a:lnTo>
                  <a:lnTo>
                    <a:pt x="598" y="424"/>
                  </a:lnTo>
                  <a:lnTo>
                    <a:pt x="596" y="422"/>
                  </a:lnTo>
                  <a:lnTo>
                    <a:pt x="593" y="415"/>
                  </a:lnTo>
                  <a:lnTo>
                    <a:pt x="593" y="415"/>
                  </a:lnTo>
                  <a:lnTo>
                    <a:pt x="591" y="413"/>
                  </a:lnTo>
                  <a:lnTo>
                    <a:pt x="591" y="411"/>
                  </a:lnTo>
                  <a:lnTo>
                    <a:pt x="591" y="407"/>
                  </a:lnTo>
                  <a:lnTo>
                    <a:pt x="591" y="401"/>
                  </a:lnTo>
                  <a:lnTo>
                    <a:pt x="591" y="399"/>
                  </a:lnTo>
                  <a:lnTo>
                    <a:pt x="589" y="394"/>
                  </a:lnTo>
                  <a:lnTo>
                    <a:pt x="589" y="392"/>
                  </a:lnTo>
                  <a:lnTo>
                    <a:pt x="591" y="388"/>
                  </a:lnTo>
                  <a:lnTo>
                    <a:pt x="593" y="386"/>
                  </a:lnTo>
                  <a:lnTo>
                    <a:pt x="595" y="386"/>
                  </a:lnTo>
                  <a:lnTo>
                    <a:pt x="596" y="388"/>
                  </a:lnTo>
                  <a:lnTo>
                    <a:pt x="600" y="388"/>
                  </a:lnTo>
                  <a:lnTo>
                    <a:pt x="600" y="386"/>
                  </a:lnTo>
                  <a:lnTo>
                    <a:pt x="600" y="384"/>
                  </a:lnTo>
                  <a:lnTo>
                    <a:pt x="598" y="379"/>
                  </a:lnTo>
                  <a:lnTo>
                    <a:pt x="598" y="377"/>
                  </a:lnTo>
                  <a:lnTo>
                    <a:pt x="598" y="373"/>
                  </a:lnTo>
                  <a:lnTo>
                    <a:pt x="596" y="371"/>
                  </a:lnTo>
                  <a:lnTo>
                    <a:pt x="595" y="369"/>
                  </a:lnTo>
                  <a:lnTo>
                    <a:pt x="593" y="365"/>
                  </a:lnTo>
                  <a:lnTo>
                    <a:pt x="593" y="361"/>
                  </a:lnTo>
                  <a:lnTo>
                    <a:pt x="591" y="356"/>
                  </a:lnTo>
                  <a:lnTo>
                    <a:pt x="589" y="352"/>
                  </a:lnTo>
                  <a:lnTo>
                    <a:pt x="591" y="348"/>
                  </a:lnTo>
                  <a:lnTo>
                    <a:pt x="593" y="346"/>
                  </a:lnTo>
                  <a:lnTo>
                    <a:pt x="604" y="346"/>
                  </a:lnTo>
                  <a:lnTo>
                    <a:pt x="606" y="346"/>
                  </a:lnTo>
                  <a:lnTo>
                    <a:pt x="606" y="346"/>
                  </a:lnTo>
                  <a:lnTo>
                    <a:pt x="608" y="346"/>
                  </a:lnTo>
                  <a:lnTo>
                    <a:pt x="608" y="344"/>
                  </a:lnTo>
                  <a:lnTo>
                    <a:pt x="610" y="344"/>
                  </a:lnTo>
                  <a:lnTo>
                    <a:pt x="612" y="342"/>
                  </a:lnTo>
                  <a:lnTo>
                    <a:pt x="635" y="344"/>
                  </a:lnTo>
                  <a:lnTo>
                    <a:pt x="636" y="344"/>
                  </a:lnTo>
                  <a:lnTo>
                    <a:pt x="640" y="339"/>
                  </a:lnTo>
                  <a:lnTo>
                    <a:pt x="644" y="337"/>
                  </a:lnTo>
                  <a:lnTo>
                    <a:pt x="646" y="335"/>
                  </a:lnTo>
                  <a:lnTo>
                    <a:pt x="646" y="333"/>
                  </a:lnTo>
                  <a:lnTo>
                    <a:pt x="644" y="329"/>
                  </a:lnTo>
                  <a:lnTo>
                    <a:pt x="644" y="325"/>
                  </a:lnTo>
                  <a:lnTo>
                    <a:pt x="646" y="325"/>
                  </a:lnTo>
                  <a:lnTo>
                    <a:pt x="648" y="325"/>
                  </a:lnTo>
                  <a:lnTo>
                    <a:pt x="648" y="325"/>
                  </a:lnTo>
                  <a:lnTo>
                    <a:pt x="650" y="323"/>
                  </a:lnTo>
                  <a:lnTo>
                    <a:pt x="650" y="318"/>
                  </a:lnTo>
                  <a:lnTo>
                    <a:pt x="648" y="306"/>
                  </a:lnTo>
                  <a:lnTo>
                    <a:pt x="646" y="302"/>
                  </a:lnTo>
                  <a:lnTo>
                    <a:pt x="646" y="301"/>
                  </a:lnTo>
                  <a:lnTo>
                    <a:pt x="648" y="299"/>
                  </a:lnTo>
                  <a:lnTo>
                    <a:pt x="650" y="299"/>
                  </a:lnTo>
                  <a:lnTo>
                    <a:pt x="657" y="301"/>
                  </a:lnTo>
                  <a:lnTo>
                    <a:pt x="661" y="301"/>
                  </a:lnTo>
                  <a:lnTo>
                    <a:pt x="665" y="301"/>
                  </a:lnTo>
                  <a:lnTo>
                    <a:pt x="665" y="301"/>
                  </a:lnTo>
                  <a:lnTo>
                    <a:pt x="667" y="297"/>
                  </a:lnTo>
                  <a:lnTo>
                    <a:pt x="667" y="295"/>
                  </a:lnTo>
                  <a:lnTo>
                    <a:pt x="667" y="293"/>
                  </a:lnTo>
                  <a:lnTo>
                    <a:pt x="665" y="293"/>
                  </a:lnTo>
                  <a:lnTo>
                    <a:pt x="665" y="291"/>
                  </a:lnTo>
                  <a:lnTo>
                    <a:pt x="665" y="289"/>
                  </a:lnTo>
                  <a:lnTo>
                    <a:pt x="665" y="287"/>
                  </a:lnTo>
                  <a:lnTo>
                    <a:pt x="667" y="285"/>
                  </a:lnTo>
                  <a:lnTo>
                    <a:pt x="669" y="285"/>
                  </a:lnTo>
                  <a:lnTo>
                    <a:pt x="673" y="283"/>
                  </a:lnTo>
                  <a:lnTo>
                    <a:pt x="675" y="283"/>
                  </a:lnTo>
                  <a:lnTo>
                    <a:pt x="676" y="282"/>
                  </a:lnTo>
                  <a:lnTo>
                    <a:pt x="676" y="280"/>
                  </a:lnTo>
                  <a:lnTo>
                    <a:pt x="678" y="276"/>
                  </a:lnTo>
                  <a:lnTo>
                    <a:pt x="678" y="274"/>
                  </a:lnTo>
                  <a:lnTo>
                    <a:pt x="680" y="272"/>
                  </a:lnTo>
                  <a:lnTo>
                    <a:pt x="684" y="272"/>
                  </a:lnTo>
                  <a:lnTo>
                    <a:pt x="686" y="272"/>
                  </a:lnTo>
                  <a:lnTo>
                    <a:pt x="692" y="274"/>
                  </a:lnTo>
                  <a:lnTo>
                    <a:pt x="696" y="272"/>
                  </a:lnTo>
                  <a:lnTo>
                    <a:pt x="696" y="272"/>
                  </a:lnTo>
                  <a:lnTo>
                    <a:pt x="697" y="264"/>
                  </a:lnTo>
                  <a:lnTo>
                    <a:pt x="699" y="259"/>
                  </a:lnTo>
                  <a:lnTo>
                    <a:pt x="701" y="257"/>
                  </a:lnTo>
                  <a:lnTo>
                    <a:pt x="707" y="251"/>
                  </a:lnTo>
                  <a:lnTo>
                    <a:pt x="707" y="249"/>
                  </a:lnTo>
                  <a:lnTo>
                    <a:pt x="709" y="245"/>
                  </a:lnTo>
                  <a:lnTo>
                    <a:pt x="707" y="226"/>
                  </a:lnTo>
                  <a:lnTo>
                    <a:pt x="709" y="223"/>
                  </a:lnTo>
                  <a:lnTo>
                    <a:pt x="711" y="219"/>
                  </a:lnTo>
                  <a:lnTo>
                    <a:pt x="715" y="215"/>
                  </a:lnTo>
                  <a:lnTo>
                    <a:pt x="716" y="213"/>
                  </a:lnTo>
                  <a:lnTo>
                    <a:pt x="716" y="209"/>
                  </a:lnTo>
                  <a:lnTo>
                    <a:pt x="716" y="204"/>
                  </a:lnTo>
                  <a:lnTo>
                    <a:pt x="715" y="200"/>
                  </a:lnTo>
                  <a:lnTo>
                    <a:pt x="718" y="196"/>
                  </a:lnTo>
                  <a:lnTo>
                    <a:pt x="724" y="190"/>
                  </a:lnTo>
                  <a:lnTo>
                    <a:pt x="726" y="186"/>
                  </a:lnTo>
                  <a:lnTo>
                    <a:pt x="726" y="183"/>
                  </a:lnTo>
                  <a:lnTo>
                    <a:pt x="726" y="181"/>
                  </a:lnTo>
                  <a:close/>
                </a:path>
              </a:pathLst>
            </a:custGeom>
            <a:noFill/>
            <a:ln w="3175" cap="rnd">
              <a:solidFill>
                <a:schemeClr val="bg1"/>
              </a:solidFill>
              <a:prstDash val="solid"/>
              <a:round/>
              <a:headEnd/>
              <a:tailEnd/>
            </a:ln>
          </p:spPr>
          <p:txBody>
            <a:bodyPr vert="horz" wrap="square" lIns="67371" tIns="33685" rIns="67371" bIns="33685" numCol="1" anchor="t" anchorCtr="0" compatLnSpc="1">
              <a:prstTxWarp prst="textNoShape">
                <a:avLst/>
              </a:prstTxWarp>
            </a:bodyPr>
            <a:lstStyle/>
            <a:p>
              <a:pPr defTabSz="673707">
                <a:defRPr/>
              </a:pPr>
              <a:endParaRPr lang="en-US" sz="1326">
                <a:solidFill>
                  <a:prstClr val="black"/>
                </a:solidFill>
                <a:latin typeface="Calibri"/>
              </a:endParaRPr>
            </a:p>
          </p:txBody>
        </p:sp>
        <p:sp>
          <p:nvSpPr>
            <p:cNvPr id="127" name="Freeform: Shape 126">
              <a:extLst>
                <a:ext uri="{FF2B5EF4-FFF2-40B4-BE49-F238E27FC236}">
                  <a16:creationId xmlns:a16="http://schemas.microsoft.com/office/drawing/2014/main" id="{EEBA6C76-9A8A-092B-827D-40AC58861FD3}"/>
                </a:ext>
              </a:extLst>
            </p:cNvPr>
            <p:cNvSpPr/>
            <p:nvPr/>
          </p:nvSpPr>
          <p:spPr>
            <a:xfrm>
              <a:off x="2048410" y="1559060"/>
              <a:ext cx="407586" cy="316486"/>
            </a:xfrm>
            <a:custGeom>
              <a:avLst/>
              <a:gdLst>
                <a:gd name="connsiteX0" fmla="*/ 0 w 286761"/>
                <a:gd name="connsiteY0" fmla="*/ 0 h 268406"/>
                <a:gd name="connsiteX1" fmla="*/ 22746 w 286761"/>
                <a:gd name="connsiteY1" fmla="*/ 9099 h 268406"/>
                <a:gd name="connsiteX2" fmla="*/ 36394 w 286761"/>
                <a:gd name="connsiteY2" fmla="*/ 18197 h 268406"/>
                <a:gd name="connsiteX3" fmla="*/ 50041 w 286761"/>
                <a:gd name="connsiteY3" fmla="*/ 22747 h 268406"/>
                <a:gd name="connsiteX4" fmla="*/ 77337 w 286761"/>
                <a:gd name="connsiteY4" fmla="*/ 36395 h 268406"/>
                <a:gd name="connsiteX5" fmla="*/ 86435 w 286761"/>
                <a:gd name="connsiteY5" fmla="*/ 63690 h 268406"/>
                <a:gd name="connsiteX6" fmla="*/ 113731 w 286761"/>
                <a:gd name="connsiteY6" fmla="*/ 72789 h 268406"/>
                <a:gd name="connsiteX7" fmla="*/ 127379 w 286761"/>
                <a:gd name="connsiteY7" fmla="*/ 77338 h 268406"/>
                <a:gd name="connsiteX8" fmla="*/ 136477 w 286761"/>
                <a:gd name="connsiteY8" fmla="*/ 90986 h 268406"/>
                <a:gd name="connsiteX9" fmla="*/ 150125 w 286761"/>
                <a:gd name="connsiteY9" fmla="*/ 95535 h 268406"/>
                <a:gd name="connsiteX10" fmla="*/ 154674 w 286761"/>
                <a:gd name="connsiteY10" fmla="*/ 109183 h 268406"/>
                <a:gd name="connsiteX11" fmla="*/ 186519 w 286761"/>
                <a:gd name="connsiteY11" fmla="*/ 127380 h 268406"/>
                <a:gd name="connsiteX12" fmla="*/ 213814 w 286761"/>
                <a:gd name="connsiteY12" fmla="*/ 145577 h 268406"/>
                <a:gd name="connsiteX13" fmla="*/ 227462 w 286761"/>
                <a:gd name="connsiteY13" fmla="*/ 154675 h 268406"/>
                <a:gd name="connsiteX14" fmla="*/ 236561 w 286761"/>
                <a:gd name="connsiteY14" fmla="*/ 181971 h 268406"/>
                <a:gd name="connsiteX15" fmla="*/ 263856 w 286761"/>
                <a:gd name="connsiteY15" fmla="*/ 191069 h 268406"/>
                <a:gd name="connsiteX16" fmla="*/ 282053 w 286761"/>
                <a:gd name="connsiteY16" fmla="*/ 232012 h 268406"/>
                <a:gd name="connsiteX17" fmla="*/ 286603 w 286761"/>
                <a:gd name="connsiteY17" fmla="*/ 268406 h 268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6761" h="268406">
                  <a:moveTo>
                    <a:pt x="0" y="0"/>
                  </a:moveTo>
                  <a:cubicBezTo>
                    <a:pt x="7582" y="3033"/>
                    <a:pt x="15442" y="5447"/>
                    <a:pt x="22746" y="9099"/>
                  </a:cubicBezTo>
                  <a:cubicBezTo>
                    <a:pt x="27636" y="11544"/>
                    <a:pt x="31504" y="15752"/>
                    <a:pt x="36394" y="18197"/>
                  </a:cubicBezTo>
                  <a:cubicBezTo>
                    <a:pt x="40683" y="20342"/>
                    <a:pt x="45752" y="20602"/>
                    <a:pt x="50041" y="22747"/>
                  </a:cubicBezTo>
                  <a:cubicBezTo>
                    <a:pt x="85313" y="40384"/>
                    <a:pt x="43035" y="24959"/>
                    <a:pt x="77337" y="36395"/>
                  </a:cubicBezTo>
                  <a:cubicBezTo>
                    <a:pt x="80370" y="45493"/>
                    <a:pt x="77337" y="60657"/>
                    <a:pt x="86435" y="63690"/>
                  </a:cubicBezTo>
                  <a:lnTo>
                    <a:pt x="113731" y="72789"/>
                  </a:lnTo>
                  <a:lnTo>
                    <a:pt x="127379" y="77338"/>
                  </a:lnTo>
                  <a:cubicBezTo>
                    <a:pt x="130412" y="81887"/>
                    <a:pt x="132208" y="87570"/>
                    <a:pt x="136477" y="90986"/>
                  </a:cubicBezTo>
                  <a:cubicBezTo>
                    <a:pt x="140222" y="93982"/>
                    <a:pt x="146734" y="92144"/>
                    <a:pt x="150125" y="95535"/>
                  </a:cubicBezTo>
                  <a:cubicBezTo>
                    <a:pt x="153516" y="98926"/>
                    <a:pt x="152014" y="105193"/>
                    <a:pt x="154674" y="109183"/>
                  </a:cubicBezTo>
                  <a:cubicBezTo>
                    <a:pt x="165515" y="125443"/>
                    <a:pt x="169106" y="123026"/>
                    <a:pt x="186519" y="127380"/>
                  </a:cubicBezTo>
                  <a:lnTo>
                    <a:pt x="213814" y="145577"/>
                  </a:lnTo>
                  <a:lnTo>
                    <a:pt x="227462" y="154675"/>
                  </a:lnTo>
                  <a:cubicBezTo>
                    <a:pt x="230495" y="163774"/>
                    <a:pt x="227462" y="178938"/>
                    <a:pt x="236561" y="181971"/>
                  </a:cubicBezTo>
                  <a:lnTo>
                    <a:pt x="263856" y="191069"/>
                  </a:lnTo>
                  <a:cubicBezTo>
                    <a:pt x="274684" y="223552"/>
                    <a:pt x="267635" y="210385"/>
                    <a:pt x="282053" y="232012"/>
                  </a:cubicBezTo>
                  <a:cubicBezTo>
                    <a:pt x="288074" y="256094"/>
                    <a:pt x="286603" y="243957"/>
                    <a:pt x="286603" y="268406"/>
                  </a:cubicBezTo>
                </a:path>
              </a:pathLst>
            </a:custGeom>
            <a:solidFill>
              <a:schemeClr val="tx2">
                <a:lumMod val="20000"/>
                <a:lumOff val="80000"/>
              </a:schemeClr>
            </a:solidFill>
            <a:ln w="9525">
              <a:solidFill>
                <a:schemeClr val="bg1"/>
              </a:solidFill>
            </a:ln>
          </p:spPr>
          <p:txBody>
            <a:bodyPr rtlCol="0" anchor="ctr"/>
            <a:lstStyle/>
            <a:p>
              <a:pPr algn="ctr" defTabSz="580023">
                <a:defRPr/>
              </a:pPr>
              <a:endParaRPr lang="en-GB" sz="1142">
                <a:solidFill>
                  <a:prstClr val="black"/>
                </a:solidFill>
                <a:latin typeface="Verdana"/>
              </a:endParaRPr>
            </a:p>
          </p:txBody>
        </p:sp>
      </p:grpSp>
      <p:sp>
        <p:nvSpPr>
          <p:cNvPr id="128" name="TextBox 127">
            <a:extLst>
              <a:ext uri="{FF2B5EF4-FFF2-40B4-BE49-F238E27FC236}">
                <a16:creationId xmlns:a16="http://schemas.microsoft.com/office/drawing/2014/main" id="{FF39BA96-D623-1571-868F-E604D37EA1CB}"/>
              </a:ext>
            </a:extLst>
          </p:cNvPr>
          <p:cNvSpPr txBox="1"/>
          <p:nvPr/>
        </p:nvSpPr>
        <p:spPr>
          <a:xfrm>
            <a:off x="10254779" y="2048559"/>
            <a:ext cx="497626" cy="153888"/>
          </a:xfrm>
          <a:prstGeom prst="rect">
            <a:avLst/>
          </a:prstGeom>
          <a:noFill/>
        </p:spPr>
        <p:txBody>
          <a:bodyPr wrap="square" lIns="0" tIns="0" rIns="0" bIns="0" rtlCol="0">
            <a:spAutoFit/>
          </a:bodyPr>
          <a:lstStyle/>
          <a:p>
            <a:pPr defTabSz="742950">
              <a:spcBef>
                <a:spcPts val="488"/>
              </a:spcBef>
              <a:buSzPct val="100000"/>
              <a:defRPr/>
            </a:pPr>
            <a:r>
              <a:rPr lang="en-US" sz="1000" b="1">
                <a:solidFill>
                  <a:prstClr val="black"/>
                </a:solidFill>
                <a:latin typeface="Arial" panose="020B0604020202020204" pitchFamily="34" charset="0"/>
                <a:cs typeface="Arial" panose="020B0604020202020204" pitchFamily="34" charset="0"/>
              </a:rPr>
              <a:t>Legend:</a:t>
            </a:r>
          </a:p>
        </p:txBody>
      </p:sp>
      <p:sp>
        <p:nvSpPr>
          <p:cNvPr id="129" name="Rectangle 128">
            <a:extLst>
              <a:ext uri="{FF2B5EF4-FFF2-40B4-BE49-F238E27FC236}">
                <a16:creationId xmlns:a16="http://schemas.microsoft.com/office/drawing/2014/main" id="{3F10E370-728F-F0AF-0755-0223FE287184}"/>
              </a:ext>
            </a:extLst>
          </p:cNvPr>
          <p:cNvSpPr/>
          <p:nvPr/>
        </p:nvSpPr>
        <p:spPr bwMode="gray">
          <a:xfrm>
            <a:off x="10097867" y="2025552"/>
            <a:ext cx="1599165" cy="1886692"/>
          </a:xfrm>
          <a:prstGeom prst="rect">
            <a:avLst/>
          </a:prstGeom>
          <a:noFill/>
          <a:ln w="3175" algn="ctr">
            <a:solidFill>
              <a:schemeClr val="tx2"/>
            </a:solidFill>
            <a:miter lim="800000"/>
            <a:headEnd/>
            <a:tailEnd/>
          </a:ln>
        </p:spPr>
        <p:txBody>
          <a:bodyPr wrap="square" lIns="72231" tIns="72231" rIns="72231" bIns="72231" rtlCol="0" anchor="ctr"/>
          <a:lstStyle/>
          <a:p>
            <a:pPr algn="ctr" defTabSz="742950">
              <a:lnSpc>
                <a:spcPct val="106000"/>
              </a:lnSpc>
              <a:defRPr/>
            </a:pPr>
            <a:endParaRPr lang="en-US" sz="1300" b="1">
              <a:solidFill>
                <a:prstClr val="white"/>
              </a:solidFill>
              <a:latin typeface="Calibri"/>
            </a:endParaRPr>
          </a:p>
        </p:txBody>
      </p:sp>
      <p:graphicFrame>
        <p:nvGraphicFramePr>
          <p:cNvPr id="130" name="Table 129">
            <a:extLst>
              <a:ext uri="{FF2B5EF4-FFF2-40B4-BE49-F238E27FC236}">
                <a16:creationId xmlns:a16="http://schemas.microsoft.com/office/drawing/2014/main" id="{C47F18E7-5089-3286-0937-A3C5BC430DA6}"/>
              </a:ext>
            </a:extLst>
          </p:cNvPr>
          <p:cNvGraphicFramePr>
            <a:graphicFrameLocks noGrp="1"/>
          </p:cNvGraphicFramePr>
          <p:nvPr>
            <p:extLst>
              <p:ext uri="{D42A27DB-BD31-4B8C-83A1-F6EECF244321}">
                <p14:modId xmlns:p14="http://schemas.microsoft.com/office/powerpoint/2010/main" val="3862224025"/>
              </p:ext>
            </p:extLst>
          </p:nvPr>
        </p:nvGraphicFramePr>
        <p:xfrm>
          <a:off x="920110" y="4355444"/>
          <a:ext cx="8774412" cy="370840"/>
        </p:xfrm>
        <a:graphic>
          <a:graphicData uri="http://schemas.openxmlformats.org/drawingml/2006/table">
            <a:tbl>
              <a:tblPr>
                <a:tableStyleId>{5C22544A-7EE6-4342-B048-85BDC9FD1C3A}</a:tableStyleId>
              </a:tblPr>
              <a:tblGrid>
                <a:gridCol w="731201">
                  <a:extLst>
                    <a:ext uri="{9D8B030D-6E8A-4147-A177-3AD203B41FA5}">
                      <a16:colId xmlns:a16="http://schemas.microsoft.com/office/drawing/2014/main" val="833339101"/>
                    </a:ext>
                  </a:extLst>
                </a:gridCol>
                <a:gridCol w="731201">
                  <a:extLst>
                    <a:ext uri="{9D8B030D-6E8A-4147-A177-3AD203B41FA5}">
                      <a16:colId xmlns:a16="http://schemas.microsoft.com/office/drawing/2014/main" val="1988757443"/>
                    </a:ext>
                  </a:extLst>
                </a:gridCol>
                <a:gridCol w="731201">
                  <a:extLst>
                    <a:ext uri="{9D8B030D-6E8A-4147-A177-3AD203B41FA5}">
                      <a16:colId xmlns:a16="http://schemas.microsoft.com/office/drawing/2014/main" val="2837165437"/>
                    </a:ext>
                  </a:extLst>
                </a:gridCol>
                <a:gridCol w="731201">
                  <a:extLst>
                    <a:ext uri="{9D8B030D-6E8A-4147-A177-3AD203B41FA5}">
                      <a16:colId xmlns:a16="http://schemas.microsoft.com/office/drawing/2014/main" val="4199211259"/>
                    </a:ext>
                  </a:extLst>
                </a:gridCol>
                <a:gridCol w="731201">
                  <a:extLst>
                    <a:ext uri="{9D8B030D-6E8A-4147-A177-3AD203B41FA5}">
                      <a16:colId xmlns:a16="http://schemas.microsoft.com/office/drawing/2014/main" val="1272851956"/>
                    </a:ext>
                  </a:extLst>
                </a:gridCol>
                <a:gridCol w="731201">
                  <a:extLst>
                    <a:ext uri="{9D8B030D-6E8A-4147-A177-3AD203B41FA5}">
                      <a16:colId xmlns:a16="http://schemas.microsoft.com/office/drawing/2014/main" val="1472723269"/>
                    </a:ext>
                  </a:extLst>
                </a:gridCol>
                <a:gridCol w="731201">
                  <a:extLst>
                    <a:ext uri="{9D8B030D-6E8A-4147-A177-3AD203B41FA5}">
                      <a16:colId xmlns:a16="http://schemas.microsoft.com/office/drawing/2014/main" val="1660415634"/>
                    </a:ext>
                  </a:extLst>
                </a:gridCol>
                <a:gridCol w="731201">
                  <a:extLst>
                    <a:ext uri="{9D8B030D-6E8A-4147-A177-3AD203B41FA5}">
                      <a16:colId xmlns:a16="http://schemas.microsoft.com/office/drawing/2014/main" val="1527080055"/>
                    </a:ext>
                  </a:extLst>
                </a:gridCol>
                <a:gridCol w="731201">
                  <a:extLst>
                    <a:ext uri="{9D8B030D-6E8A-4147-A177-3AD203B41FA5}">
                      <a16:colId xmlns:a16="http://schemas.microsoft.com/office/drawing/2014/main" val="2143599927"/>
                    </a:ext>
                  </a:extLst>
                </a:gridCol>
                <a:gridCol w="731201">
                  <a:extLst>
                    <a:ext uri="{9D8B030D-6E8A-4147-A177-3AD203B41FA5}">
                      <a16:colId xmlns:a16="http://schemas.microsoft.com/office/drawing/2014/main" val="837865617"/>
                    </a:ext>
                  </a:extLst>
                </a:gridCol>
                <a:gridCol w="731201">
                  <a:extLst>
                    <a:ext uri="{9D8B030D-6E8A-4147-A177-3AD203B41FA5}">
                      <a16:colId xmlns:a16="http://schemas.microsoft.com/office/drawing/2014/main" val="1884166433"/>
                    </a:ext>
                  </a:extLst>
                </a:gridCol>
                <a:gridCol w="731201">
                  <a:extLst>
                    <a:ext uri="{9D8B030D-6E8A-4147-A177-3AD203B41FA5}">
                      <a16:colId xmlns:a16="http://schemas.microsoft.com/office/drawing/2014/main" val="2102980444"/>
                    </a:ext>
                  </a:extLst>
                </a:gridCol>
              </a:tblGrid>
              <a:tr h="370840">
                <a:tc>
                  <a:txBody>
                    <a:bodyPr/>
                    <a:lstStyle/>
                    <a:p>
                      <a:pPr algn="ctr"/>
                      <a:r>
                        <a:rPr lang="en-US" sz="1000"/>
                        <a:t>April</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000"/>
                        <a:t>May</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000"/>
                        <a:t>June</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000"/>
                        <a:t>July</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000"/>
                        <a:t>August</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000"/>
                        <a:t>September</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000"/>
                        <a:t>October</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000"/>
                        <a:t>November</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000"/>
                        <a:t>December</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000"/>
                        <a:t>January</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000"/>
                        <a:t>February</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000"/>
                        <a:t>March</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768635"/>
                  </a:ext>
                </a:extLst>
              </a:tr>
            </a:tbl>
          </a:graphicData>
        </a:graphic>
      </p:graphicFrame>
      <p:pic>
        <p:nvPicPr>
          <p:cNvPr id="132" name="Graphic 131" descr="Solar Panels with solid fill">
            <a:extLst>
              <a:ext uri="{FF2B5EF4-FFF2-40B4-BE49-F238E27FC236}">
                <a16:creationId xmlns:a16="http://schemas.microsoft.com/office/drawing/2014/main" id="{B64C465D-DBB9-CC91-A4C0-F37A9CF924F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68689" y="5429795"/>
            <a:ext cx="463855" cy="473375"/>
          </a:xfrm>
          <a:prstGeom prst="rect">
            <a:avLst/>
          </a:prstGeom>
        </p:spPr>
      </p:pic>
      <p:sp>
        <p:nvSpPr>
          <p:cNvPr id="133" name="Flowchart: Stored Data 63">
            <a:extLst>
              <a:ext uri="{FF2B5EF4-FFF2-40B4-BE49-F238E27FC236}">
                <a16:creationId xmlns:a16="http://schemas.microsoft.com/office/drawing/2014/main" id="{E7DB7F21-E837-F208-D018-F8022DF2CD38}"/>
              </a:ext>
            </a:extLst>
          </p:cNvPr>
          <p:cNvSpPr/>
          <p:nvPr/>
        </p:nvSpPr>
        <p:spPr>
          <a:xfrm>
            <a:off x="648522" y="5233419"/>
            <a:ext cx="11002361" cy="98518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080000" rtlCol="0" anchor="ctr"/>
          <a:lstStyle/>
          <a:p>
            <a:pPr marL="171450" indent="-171450" defTabSz="742950">
              <a:spcBef>
                <a:spcPts val="600"/>
              </a:spcBef>
              <a:buFont typeface="Arial" panose="020B0604020202020204" pitchFamily="34" charset="0"/>
              <a:buChar char="•"/>
              <a:defRPr/>
            </a:pPr>
            <a:r>
              <a:rPr lang="en-US" sz="1000">
                <a:solidFill>
                  <a:schemeClr val="bg1"/>
                </a:solidFill>
                <a:latin typeface="Arial" panose="020B0604020202020204" pitchFamily="34" charset="0"/>
                <a:cs typeface="Arial" panose="020B0604020202020204" pitchFamily="34" charset="0"/>
              </a:rPr>
              <a:t>Over the last five years</a:t>
            </a:r>
            <a:r>
              <a:rPr lang="en-US" sz="1000" b="1">
                <a:solidFill>
                  <a:schemeClr val="bg1"/>
                </a:solidFill>
                <a:latin typeface="Arial" panose="020B0604020202020204" pitchFamily="34" charset="0"/>
                <a:cs typeface="Arial" panose="020B0604020202020204" pitchFamily="34" charset="0"/>
              </a:rPr>
              <a:t>, in the planning India was anticipated to have demand deficit in the norther region  </a:t>
            </a:r>
          </a:p>
          <a:p>
            <a:pPr marL="171450" indent="-171450" defTabSz="742950">
              <a:spcBef>
                <a:spcPts val="600"/>
              </a:spcBef>
              <a:buFont typeface="Arial" panose="020B0604020202020204" pitchFamily="34" charset="0"/>
              <a:buChar char="•"/>
              <a:defRPr/>
            </a:pPr>
            <a:r>
              <a:rPr lang="en-US" sz="1000">
                <a:solidFill>
                  <a:schemeClr val="bg1"/>
                </a:solidFill>
                <a:latin typeface="Arial" panose="020B0604020202020204" pitchFamily="34" charset="0"/>
                <a:cs typeface="Arial" panose="020B0604020202020204" pitchFamily="34" charset="0"/>
              </a:rPr>
              <a:t>This deficit varies significantly across seasons, with the deficit in summers (Apr - Jul) reaching 3-4 BU and ~2-4 BU in winters (Dec - Mar)</a:t>
            </a:r>
          </a:p>
          <a:p>
            <a:pPr marL="171450" indent="-171450" defTabSz="742950">
              <a:spcBef>
                <a:spcPts val="600"/>
              </a:spcBef>
              <a:buFont typeface="Arial" panose="020B0604020202020204" pitchFamily="34" charset="0"/>
              <a:buChar char="•"/>
              <a:defRPr/>
            </a:pPr>
            <a:r>
              <a:rPr lang="en-US" sz="1000" b="1">
                <a:solidFill>
                  <a:schemeClr val="bg1"/>
                </a:solidFill>
                <a:latin typeface="Arial" panose="020B0604020202020204" pitchFamily="34" charset="0"/>
                <a:cs typeface="Arial" panose="020B0604020202020204" pitchFamily="34" charset="0"/>
              </a:rPr>
              <a:t>Seasonality of RE further intensifies supply-demand imbalance; solar power peaks in April-June while wind has peak output in August-September</a:t>
            </a:r>
          </a:p>
        </p:txBody>
      </p:sp>
      <p:grpSp>
        <p:nvGrpSpPr>
          <p:cNvPr id="134" name="Group 133">
            <a:extLst>
              <a:ext uri="{FF2B5EF4-FFF2-40B4-BE49-F238E27FC236}">
                <a16:creationId xmlns:a16="http://schemas.microsoft.com/office/drawing/2014/main" id="{7AE6B2E0-18AC-2B68-F2FE-5C16A0F402CE}"/>
              </a:ext>
            </a:extLst>
          </p:cNvPr>
          <p:cNvGrpSpPr/>
          <p:nvPr/>
        </p:nvGrpSpPr>
        <p:grpSpPr>
          <a:xfrm>
            <a:off x="577338" y="5129398"/>
            <a:ext cx="1127241" cy="1126191"/>
            <a:chOff x="438298" y="2059260"/>
            <a:chExt cx="1170634" cy="1170634"/>
          </a:xfrm>
        </p:grpSpPr>
        <p:sp>
          <p:nvSpPr>
            <p:cNvPr id="135" name="Flowchart: Connector 64">
              <a:extLst>
                <a:ext uri="{FF2B5EF4-FFF2-40B4-BE49-F238E27FC236}">
                  <a16:creationId xmlns:a16="http://schemas.microsoft.com/office/drawing/2014/main" id="{60B30615-1C32-9381-AD2B-41A025750166}"/>
                </a:ext>
              </a:extLst>
            </p:cNvPr>
            <p:cNvSpPr/>
            <p:nvPr/>
          </p:nvSpPr>
          <p:spPr>
            <a:xfrm>
              <a:off x="438298" y="2059260"/>
              <a:ext cx="1170634" cy="1170634"/>
            </a:xfrm>
            <a:prstGeom prst="flowChartConnector">
              <a:avLst/>
            </a:prstGeom>
            <a:solidFill>
              <a:srgbClr val="FFFFFF"/>
            </a:solidFill>
            <a:ln w="127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42950">
                <a:defRPr/>
              </a:pPr>
              <a:endParaRPr lang="en-US" sz="1463">
                <a:solidFill>
                  <a:prstClr val="white"/>
                </a:solidFill>
                <a:latin typeface="Calibri"/>
              </a:endParaRPr>
            </a:p>
          </p:txBody>
        </p:sp>
        <p:sp>
          <p:nvSpPr>
            <p:cNvPr id="136" name="Flowchart: Connector 64">
              <a:extLst>
                <a:ext uri="{FF2B5EF4-FFF2-40B4-BE49-F238E27FC236}">
                  <a16:creationId xmlns:a16="http://schemas.microsoft.com/office/drawing/2014/main" id="{77AA9F0F-AA96-BC92-1A91-6D116D95A61F}"/>
                </a:ext>
              </a:extLst>
            </p:cNvPr>
            <p:cNvSpPr/>
            <p:nvPr/>
          </p:nvSpPr>
          <p:spPr>
            <a:xfrm>
              <a:off x="525908" y="2146870"/>
              <a:ext cx="995414" cy="995414"/>
            </a:xfrm>
            <a:prstGeom prst="flowChartConnector">
              <a:avLst/>
            </a:prstGeom>
            <a:noFill/>
            <a:ln w="12700">
              <a:solidFill>
                <a:schemeClr val="tx2"/>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42950">
                <a:defRPr/>
              </a:pPr>
              <a:endParaRPr lang="en-US" sz="1463">
                <a:solidFill>
                  <a:prstClr val="white"/>
                </a:solidFill>
                <a:latin typeface="Calibri"/>
              </a:endParaRPr>
            </a:p>
          </p:txBody>
        </p:sp>
      </p:grpSp>
      <p:pic>
        <p:nvPicPr>
          <p:cNvPr id="137" name="Graphic 136" descr="Fog with solid fill">
            <a:extLst>
              <a:ext uri="{FF2B5EF4-FFF2-40B4-BE49-F238E27FC236}">
                <a16:creationId xmlns:a16="http://schemas.microsoft.com/office/drawing/2014/main" id="{F092188F-859C-59CF-7271-F4852E95DE63}"/>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815616" y="5356500"/>
            <a:ext cx="678284" cy="692205"/>
          </a:xfrm>
          <a:prstGeom prst="rect">
            <a:avLst/>
          </a:prstGeom>
        </p:spPr>
      </p:pic>
      <p:sp>
        <p:nvSpPr>
          <p:cNvPr id="138" name="TextBox 137">
            <a:extLst>
              <a:ext uri="{FF2B5EF4-FFF2-40B4-BE49-F238E27FC236}">
                <a16:creationId xmlns:a16="http://schemas.microsoft.com/office/drawing/2014/main" id="{177D9EB6-AC7E-6F7A-D8E3-5DD6B34626E9}"/>
              </a:ext>
            </a:extLst>
          </p:cNvPr>
          <p:cNvSpPr txBox="1"/>
          <p:nvPr/>
        </p:nvSpPr>
        <p:spPr>
          <a:xfrm>
            <a:off x="497182" y="6403206"/>
            <a:ext cx="6207200" cy="112467"/>
          </a:xfrm>
          <a:prstGeom prst="rect">
            <a:avLst/>
          </a:prstGeom>
          <a:noFill/>
        </p:spPr>
        <p:txBody>
          <a:bodyPr wrap="square" lIns="0" tIns="0" rIns="0" bIns="0" rtlCol="0">
            <a:spAutoFit/>
          </a:bodyPr>
          <a:lstStyle/>
          <a:p>
            <a:pPr>
              <a:spcBef>
                <a:spcPts val="488"/>
              </a:spcBef>
              <a:buSzPct val="100000"/>
            </a:pPr>
            <a:r>
              <a:rPr lang="en-US" sz="731" i="1">
                <a:solidFill>
                  <a:schemeClr val="tx2"/>
                </a:solidFill>
                <a:latin typeface="Calibri" panose="020F0502020204030204" pitchFamily="34" charset="0"/>
                <a:cs typeface="Calibri" panose="020F0502020204030204" pitchFamily="34" charset="0"/>
              </a:rPr>
              <a:t>Sources: </a:t>
            </a:r>
            <a:r>
              <a:rPr lang="en-US" sz="731" i="1">
                <a:solidFill>
                  <a:schemeClr val="tx2"/>
                </a:solidFill>
              </a:rPr>
              <a:t>CEA, MoP, Deloitte Analysis</a:t>
            </a:r>
            <a:endParaRPr lang="en-US" sz="731" i="1">
              <a:solidFill>
                <a:schemeClr val="tx2"/>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115157802"/>
      </p:ext>
    </p:extLst>
  </p:cSld>
  <p:clrMapOvr>
    <a:masterClrMapping/>
  </p:clrMapOvr>
  <p:transition>
    <p:fade/>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117588183"/>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3" name="Table 12">
            <a:extLst>
              <a:ext uri="{FF2B5EF4-FFF2-40B4-BE49-F238E27FC236}">
                <a16:creationId xmlns:a16="http://schemas.microsoft.com/office/drawing/2014/main" id="{FE433C9D-0D4E-99E6-DA02-D33832D5E4CC}"/>
              </a:ext>
            </a:extLst>
          </p:cNvPr>
          <p:cNvGraphicFramePr>
            <a:graphicFrameLocks/>
          </p:cNvGraphicFramePr>
          <p:nvPr>
            <p:extLst>
              <p:ext uri="{D42A27DB-BD31-4B8C-83A1-F6EECF244321}">
                <p14:modId xmlns:p14="http://schemas.microsoft.com/office/powerpoint/2010/main" val="2698115085"/>
              </p:ext>
            </p:extLst>
          </p:nvPr>
        </p:nvGraphicFramePr>
        <p:xfrm>
          <a:off x="501651" y="2013931"/>
          <a:ext cx="8289643" cy="4265693"/>
        </p:xfrm>
        <a:graphic>
          <a:graphicData uri="http://schemas.openxmlformats.org/drawingml/2006/table">
            <a:tbl>
              <a:tblPr firstRow="1" bandRow="1">
                <a:tableStyleId>{5C22544A-7EE6-4342-B048-85BDC9FD1C3A}</a:tableStyleId>
              </a:tblPr>
              <a:tblGrid>
                <a:gridCol w="1438279">
                  <a:extLst>
                    <a:ext uri="{9D8B030D-6E8A-4147-A177-3AD203B41FA5}">
                      <a16:colId xmlns:a16="http://schemas.microsoft.com/office/drawing/2014/main" val="2081640488"/>
                    </a:ext>
                  </a:extLst>
                </a:gridCol>
                <a:gridCol w="527028">
                  <a:extLst>
                    <a:ext uri="{9D8B030D-6E8A-4147-A177-3AD203B41FA5}">
                      <a16:colId xmlns:a16="http://schemas.microsoft.com/office/drawing/2014/main" val="891899485"/>
                    </a:ext>
                  </a:extLst>
                </a:gridCol>
                <a:gridCol w="527028">
                  <a:extLst>
                    <a:ext uri="{9D8B030D-6E8A-4147-A177-3AD203B41FA5}">
                      <a16:colId xmlns:a16="http://schemas.microsoft.com/office/drawing/2014/main" val="3739594193"/>
                    </a:ext>
                  </a:extLst>
                </a:gridCol>
                <a:gridCol w="527028">
                  <a:extLst>
                    <a:ext uri="{9D8B030D-6E8A-4147-A177-3AD203B41FA5}">
                      <a16:colId xmlns:a16="http://schemas.microsoft.com/office/drawing/2014/main" val="3527680297"/>
                    </a:ext>
                  </a:extLst>
                </a:gridCol>
                <a:gridCol w="527028">
                  <a:extLst>
                    <a:ext uri="{9D8B030D-6E8A-4147-A177-3AD203B41FA5}">
                      <a16:colId xmlns:a16="http://schemas.microsoft.com/office/drawing/2014/main" val="214600249"/>
                    </a:ext>
                  </a:extLst>
                </a:gridCol>
                <a:gridCol w="527028">
                  <a:extLst>
                    <a:ext uri="{9D8B030D-6E8A-4147-A177-3AD203B41FA5}">
                      <a16:colId xmlns:a16="http://schemas.microsoft.com/office/drawing/2014/main" val="3585268710"/>
                    </a:ext>
                  </a:extLst>
                </a:gridCol>
                <a:gridCol w="527028">
                  <a:extLst>
                    <a:ext uri="{9D8B030D-6E8A-4147-A177-3AD203B41FA5}">
                      <a16:colId xmlns:a16="http://schemas.microsoft.com/office/drawing/2014/main" val="503319278"/>
                    </a:ext>
                  </a:extLst>
                </a:gridCol>
                <a:gridCol w="527028">
                  <a:extLst>
                    <a:ext uri="{9D8B030D-6E8A-4147-A177-3AD203B41FA5}">
                      <a16:colId xmlns:a16="http://schemas.microsoft.com/office/drawing/2014/main" val="1920269194"/>
                    </a:ext>
                  </a:extLst>
                </a:gridCol>
                <a:gridCol w="527028">
                  <a:extLst>
                    <a:ext uri="{9D8B030D-6E8A-4147-A177-3AD203B41FA5}">
                      <a16:colId xmlns:a16="http://schemas.microsoft.com/office/drawing/2014/main" val="301472061"/>
                    </a:ext>
                  </a:extLst>
                </a:gridCol>
                <a:gridCol w="527028">
                  <a:extLst>
                    <a:ext uri="{9D8B030D-6E8A-4147-A177-3AD203B41FA5}">
                      <a16:colId xmlns:a16="http://schemas.microsoft.com/office/drawing/2014/main" val="1993535500"/>
                    </a:ext>
                  </a:extLst>
                </a:gridCol>
                <a:gridCol w="527028">
                  <a:extLst>
                    <a:ext uri="{9D8B030D-6E8A-4147-A177-3AD203B41FA5}">
                      <a16:colId xmlns:a16="http://schemas.microsoft.com/office/drawing/2014/main" val="3804204766"/>
                    </a:ext>
                  </a:extLst>
                </a:gridCol>
                <a:gridCol w="527028">
                  <a:extLst>
                    <a:ext uri="{9D8B030D-6E8A-4147-A177-3AD203B41FA5}">
                      <a16:colId xmlns:a16="http://schemas.microsoft.com/office/drawing/2014/main" val="3550412384"/>
                    </a:ext>
                  </a:extLst>
                </a:gridCol>
                <a:gridCol w="527028">
                  <a:extLst>
                    <a:ext uri="{9D8B030D-6E8A-4147-A177-3AD203B41FA5}">
                      <a16:colId xmlns:a16="http://schemas.microsoft.com/office/drawing/2014/main" val="750514071"/>
                    </a:ext>
                  </a:extLst>
                </a:gridCol>
                <a:gridCol w="527028">
                  <a:extLst>
                    <a:ext uri="{9D8B030D-6E8A-4147-A177-3AD203B41FA5}">
                      <a16:colId xmlns:a16="http://schemas.microsoft.com/office/drawing/2014/main" val="2593102546"/>
                    </a:ext>
                  </a:extLst>
                </a:gridCol>
              </a:tblGrid>
              <a:tr h="137603">
                <a:tc>
                  <a:txBody>
                    <a:bodyPr/>
                    <a:lstStyle/>
                    <a:p>
                      <a:pPr algn="l" fontAlgn="ctr"/>
                      <a:endParaRPr lang="en-US" sz="900" b="1" i="0" u="none" strike="noStrike">
                        <a:solidFill>
                          <a:srgbClr val="FFFFFF"/>
                        </a:solidFill>
                        <a:effectLst/>
                        <a:latin typeface="Arial" panose="020B0604020202020204" pitchFamily="34" charset="0"/>
                        <a:cs typeface="Arial" panose="020B0604020202020204" pitchFamily="34" charset="0"/>
                      </a:endParaRPr>
                    </a:p>
                  </a:txBody>
                  <a:tcPr marL="18540" marR="4635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900" b="1" i="0" u="none" strike="noStrike">
                          <a:solidFill>
                            <a:srgbClr val="FFFFFF"/>
                          </a:solidFill>
                          <a:effectLst/>
                          <a:latin typeface="Arial" panose="020B0604020202020204" pitchFamily="34" charset="0"/>
                          <a:cs typeface="Arial" panose="020B0604020202020204" pitchFamily="34" charset="0"/>
                        </a:rPr>
                        <a:t>Apr-23</a:t>
                      </a:r>
                      <a:endParaRPr lang="en-US" sz="900">
                        <a:latin typeface="Arial" panose="020B0604020202020204" pitchFamily="34" charset="0"/>
                        <a:cs typeface="Arial" panose="020B0604020202020204" pitchFamily="34" charset="0"/>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May-23</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Jun-23</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Jul-23</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Aug-23</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Sep-23</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Oct-23</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Nov-23</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Dec-23</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Jan-24</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Feb-24</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Mar-24</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FY24</a:t>
                      </a:r>
                    </a:p>
                  </a:txBody>
                  <a:tcPr marL="1854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487829331"/>
                  </a:ext>
                </a:extLst>
              </a:tr>
              <a:tr h="137603">
                <a:tc gridSpan="14">
                  <a:txBody>
                    <a:bodyPr/>
                    <a:lstStyle/>
                    <a:p>
                      <a:pPr algn="l" fontAlgn="ctr"/>
                      <a:r>
                        <a:rPr lang="en-US" sz="900" b="1" i="0" u="none" strike="noStrike">
                          <a:solidFill>
                            <a:schemeClr val="tx1"/>
                          </a:solidFill>
                          <a:effectLst/>
                          <a:latin typeface="Arial" panose="020B0604020202020204" pitchFamily="34" charset="0"/>
                          <a:cs typeface="Arial" panose="020B0604020202020204" pitchFamily="34" charset="0"/>
                        </a:rPr>
                        <a:t>Northern region</a:t>
                      </a:r>
                    </a:p>
                  </a:txBody>
                  <a:tcPr marL="45720" marR="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endParaRPr lang="en-US"/>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045338508"/>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Antic. surplus/(deficit)</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1,536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(352)</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(2,498)</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(2,060)</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(3,130)</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(2,970)</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720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(109)</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(71)</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(1,081)</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1,779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(400)</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(8,637)</a:t>
                      </a:r>
                    </a:p>
                  </a:txBody>
                  <a:tcPr marL="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1195052069"/>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anticipated req.</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4%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5%</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4%</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7%</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2%</a:t>
                      </a:r>
                    </a:p>
                  </a:txBody>
                  <a:tcPr marL="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599641866"/>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Actual surplus/(deficit)</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(135)</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(135)</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(65)</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(87)</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(440)</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(243)</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(146)</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(61)</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(24)</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(400)</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(130)</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(186)</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(2,049)</a:t>
                      </a:r>
                    </a:p>
                  </a:txBody>
                  <a:tcPr marL="1854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1457660155"/>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actual req.</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0.40%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0.34%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0.15%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0.19%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0.85%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0.52%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0.37%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0.19%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0.07%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1.01%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0.39%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0.48%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0.43% </a:t>
                      </a:r>
                    </a:p>
                  </a:txBody>
                  <a:tcPr marL="1854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752145539"/>
                  </a:ext>
                </a:extLst>
              </a:tr>
              <a:tr h="137603">
                <a:tc gridSpan="14">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900" b="1" i="0" u="none" strike="noStrike">
                          <a:solidFill>
                            <a:schemeClr val="tx1"/>
                          </a:solidFill>
                          <a:effectLst/>
                          <a:latin typeface="Arial" panose="020B0604020202020204" pitchFamily="34" charset="0"/>
                          <a:cs typeface="Arial" panose="020B0604020202020204" pitchFamily="34" charset="0"/>
                        </a:rPr>
                        <a:t>Western region</a:t>
                      </a:r>
                    </a:p>
                  </a:txBody>
                  <a:tcPr marL="45720" marR="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endParaRPr lang="en-US"/>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007613646"/>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Antic. surplus/(deficit)</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1,248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1,351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2,976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4,296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3,725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3,492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7,731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3,894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(1,442)</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(58)</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1,790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5,110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34,113 </a:t>
                      </a:r>
                    </a:p>
                  </a:txBody>
                  <a:tcPr marL="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355598200"/>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anticipated req.</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7%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10%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9%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21%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10%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3%</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4%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7% </a:t>
                      </a:r>
                    </a:p>
                  </a:txBody>
                  <a:tcPr marL="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463220591"/>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Actual surplus/(deficit)</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(31)</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(14)</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(25)</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(10)</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(128)</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(92)</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(15)</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(48)</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(48)</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(42)</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(453)</a:t>
                      </a:r>
                    </a:p>
                  </a:txBody>
                  <a:tcPr marL="1854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868586169"/>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actual req.</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0.07%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0.03%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0.06%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0.02%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0.30%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0.22%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0.03%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0.00%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0.11%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0.11%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0.10%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0.09% </a:t>
                      </a:r>
                    </a:p>
                  </a:txBody>
                  <a:tcPr marL="1854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411177361"/>
                  </a:ext>
                </a:extLst>
              </a:tr>
              <a:tr h="137603">
                <a:tc gridSpan="14">
                  <a:txBody>
                    <a:bodyPr/>
                    <a:lstStyle/>
                    <a:p>
                      <a:pPr algn="l" fontAlgn="ctr"/>
                      <a:r>
                        <a:rPr lang="en-US" sz="900" b="1" i="0" u="none" strike="noStrike">
                          <a:solidFill>
                            <a:schemeClr val="tx1"/>
                          </a:solidFill>
                          <a:effectLst/>
                          <a:latin typeface="Arial" panose="020B0604020202020204" pitchFamily="34" charset="0"/>
                          <a:cs typeface="Arial" panose="020B0604020202020204" pitchFamily="34" charset="0"/>
                        </a:rPr>
                        <a:t>Southern region</a:t>
                      </a:r>
                    </a:p>
                  </a:txBody>
                  <a:tcPr marL="45720" marR="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endParaRPr lang="en-US"/>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981088107"/>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Antic. surplus/(deficit)</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(1,414)</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3,901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1,027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3,300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4,386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5,391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5,607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2,682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3,518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1,515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189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(3,116)</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26,986 </a:t>
                      </a:r>
                    </a:p>
                  </a:txBody>
                  <a:tcPr marL="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714990808"/>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anticipated req.</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4%</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14%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18%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19%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9%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4%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7%</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7% </a:t>
                      </a:r>
                    </a:p>
                  </a:txBody>
                  <a:tcPr marL="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186026943"/>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Actual surplus/(deficit)</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(9)</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(17)</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(113)</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(80)</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(6)</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(24)</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(259)</a:t>
                      </a:r>
                    </a:p>
                  </a:txBody>
                  <a:tcPr marL="1854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405656251"/>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actual req.</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0.02%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0.05%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0.31%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0.02%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0.22%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0.00%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0.02%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0.01%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0.06%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0.06% </a:t>
                      </a:r>
                    </a:p>
                  </a:txBody>
                  <a:tcPr marL="1854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4280683721"/>
                  </a:ext>
                </a:extLst>
              </a:tr>
              <a:tr h="137603">
                <a:tc gridSpan="14">
                  <a:txBody>
                    <a:bodyPr/>
                    <a:lstStyle/>
                    <a:p>
                      <a:pPr algn="l" fontAlgn="ctr"/>
                      <a:r>
                        <a:rPr lang="en-US" sz="900" b="1" i="0" u="none" strike="noStrike">
                          <a:solidFill>
                            <a:schemeClr val="tx1"/>
                          </a:solidFill>
                          <a:effectLst/>
                          <a:latin typeface="Arial" panose="020B0604020202020204" pitchFamily="34" charset="0"/>
                          <a:cs typeface="Arial" panose="020B0604020202020204" pitchFamily="34" charset="0"/>
                        </a:rPr>
                        <a:t>Eastern region</a:t>
                      </a:r>
                    </a:p>
                  </a:txBody>
                  <a:tcPr marL="45720" marR="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endParaRPr lang="en-US"/>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56462384"/>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Antic. surplus/(deficit)</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296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222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8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(1,008)</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(1,209)</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(1,015)</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374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838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1,472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1,570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1,672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401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3,620 </a:t>
                      </a:r>
                    </a:p>
                  </a:txBody>
                  <a:tcPr marL="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284016900"/>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anticipated req.</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6%</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7%</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6%</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13%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642708973"/>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Actual surplus/(deficit)</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(115)</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(136)</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(118)</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(79)</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(124)</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(144)</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(142)</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(51)</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(97)</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(158)</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(52)</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(121)</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(1,338)</a:t>
                      </a:r>
                    </a:p>
                  </a:txBody>
                  <a:tcPr marL="1854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742673820"/>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actual req.</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0.71%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0.79%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0.66%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0.42%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0.68%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0.80%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0.86%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0.38%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0.74%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1.13%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0.40%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0.75%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0.70% </a:t>
                      </a:r>
                    </a:p>
                  </a:txBody>
                  <a:tcPr marL="1854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092553043"/>
                  </a:ext>
                </a:extLst>
              </a:tr>
              <a:tr h="137603">
                <a:tc gridSpan="14">
                  <a:txBody>
                    <a:bodyPr/>
                    <a:lstStyle/>
                    <a:p>
                      <a:pPr algn="l" fontAlgn="ctr"/>
                      <a:r>
                        <a:rPr lang="en-US" sz="900" b="1" i="0" u="none" strike="noStrike">
                          <a:solidFill>
                            <a:schemeClr val="tx1"/>
                          </a:solidFill>
                          <a:effectLst/>
                          <a:latin typeface="Arial" panose="020B0604020202020204" pitchFamily="34" charset="0"/>
                          <a:cs typeface="Arial" panose="020B0604020202020204" pitchFamily="34" charset="0"/>
                        </a:rPr>
                        <a:t>Northeastern region</a:t>
                      </a:r>
                    </a:p>
                  </a:txBody>
                  <a:tcPr marL="45720" marR="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endParaRPr lang="en-US"/>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153809941"/>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Antic. surplus/(deficit)</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170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90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279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38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(24)</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158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92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19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(152)</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53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715 </a:t>
                      </a:r>
                    </a:p>
                  </a:txBody>
                  <a:tcPr marL="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537998303"/>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anticipated req.</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5%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16%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9%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9%</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4% </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a:t>
                      </a:r>
                    </a:p>
                  </a:txBody>
                  <a:tcPr marL="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939000546"/>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Actual surplus/(deficit)</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(42)</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(42)</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(37)</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(24)</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(47)</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(42)</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(9)</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(26)</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(17)</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(29)</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(318)</a:t>
                      </a:r>
                    </a:p>
                  </a:txBody>
                  <a:tcPr marL="1854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90372706"/>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actual req.</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2.77%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2.52%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2.13%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1.22%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2.35%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2.09%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0.51%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0.07%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0.27%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1.71%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1.19%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1.83% </a:t>
                      </a: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1.58% </a:t>
                      </a:r>
                    </a:p>
                  </a:txBody>
                  <a:tcPr marL="1854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349487622"/>
                  </a:ext>
                </a:extLst>
              </a:tr>
              <a:tr h="137603">
                <a:tc gridSpan="14">
                  <a:txBody>
                    <a:bodyPr/>
                    <a:lstStyle/>
                    <a:p>
                      <a:pPr algn="l" fontAlgn="ctr"/>
                      <a:r>
                        <a:rPr lang="en-US" sz="900" b="1" i="0" u="none" strike="noStrike">
                          <a:solidFill>
                            <a:srgbClr val="000000"/>
                          </a:solidFill>
                          <a:effectLst/>
                          <a:latin typeface="Arial" panose="020B0604020202020204" pitchFamily="34" charset="0"/>
                          <a:cs typeface="Arial" panose="020B0604020202020204" pitchFamily="34" charset="0"/>
                        </a:rPr>
                        <a:t>India</a:t>
                      </a:r>
                    </a:p>
                  </a:txBody>
                  <a:tcPr marL="46350" marR="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18540" marR="4635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477400154"/>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Antic. surplus/(deficit)</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1,835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5,211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1,793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4,565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3,765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4,873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14,590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7,395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3,494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1,794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5,484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1,996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56,797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07705962"/>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anticipated req.</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3%</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4%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60415415"/>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Actual surplus/(deficit)</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(332)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(344)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(245)</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(200)</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(852)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(528)</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(392)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(114)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(132)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(635)</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(247)</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(402)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(4,417)</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4151535418"/>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actual req.</a:t>
                      </a:r>
                    </a:p>
                  </a:txBody>
                  <a:tcPr marL="4635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0.25%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0.25%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0.17%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0.14%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0.56%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0.37%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0.28%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0.10%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0.11%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0.47%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0.19%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0.28%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0.27%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4250262974"/>
                  </a:ext>
                </a:extLst>
              </a:tr>
            </a:tbl>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Electricity sector in India | Electricity supply position and seasonal variations</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r>
              <a:rPr lang="en-US" sz="1400">
                <a:latin typeface="Arial" panose="020B0604020202020204" pitchFamily="34" charset="0"/>
                <a:cs typeface="Arial" panose="020B0604020202020204" pitchFamily="34" charset="0"/>
              </a:rPr>
              <a:t>CEA anticipated average deficit of 5-6% in high-demand months of June-Sep and Mar-Apr in FY24</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660173"/>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15" name="TextBox 14">
            <a:extLst>
              <a:ext uri="{FF2B5EF4-FFF2-40B4-BE49-F238E27FC236}">
                <a16:creationId xmlns:a16="http://schemas.microsoft.com/office/drawing/2014/main" id="{8C39A8A6-E9D5-6FBE-6CEA-74A67DAAF4A3}"/>
              </a:ext>
            </a:extLst>
          </p:cNvPr>
          <p:cNvSpPr txBox="1"/>
          <p:nvPr/>
        </p:nvSpPr>
        <p:spPr>
          <a:xfrm>
            <a:off x="496577" y="1596507"/>
            <a:ext cx="8289642" cy="369332"/>
          </a:xfrm>
          <a:prstGeom prst="rect">
            <a:avLst/>
          </a:prstGeom>
          <a:noFill/>
        </p:spPr>
        <p:txBody>
          <a:bodyPr wrap="square" lIns="0" tIns="0" rIns="0" bIns="0" rtlCol="0">
            <a:spAutoFit/>
          </a:bodyPr>
          <a:lstStyle/>
          <a:p>
            <a:pPr defTabSz="742950">
              <a:spcBef>
                <a:spcPts val="0"/>
              </a:spcBef>
              <a:buSzPct val="100000"/>
              <a:defRPr/>
            </a:pPr>
            <a:r>
              <a:rPr lang="en-US" sz="1200" b="1">
                <a:solidFill>
                  <a:prstClr val="black"/>
                </a:solidFill>
                <a:latin typeface="Arial" panose="020B0604020202020204" pitchFamily="34" charset="0"/>
                <a:cs typeface="Arial" panose="020B0604020202020204" pitchFamily="34" charset="0"/>
              </a:rPr>
              <a:t>Anticipated vs actual seasonal electricity supply surplus/ (deficit) as % of energy requirement in Indian regions</a:t>
            </a:r>
          </a:p>
          <a:p>
            <a:pPr defTabSz="742950">
              <a:spcBef>
                <a:spcPts val="0"/>
              </a:spcBef>
              <a:buSzPct val="100000"/>
              <a:defRPr/>
            </a:pPr>
            <a:r>
              <a:rPr lang="en-US" sz="1200">
                <a:solidFill>
                  <a:prstClr val="black"/>
                </a:solidFill>
                <a:latin typeface="Arial" panose="020B0604020202020204" pitchFamily="34" charset="0"/>
                <a:cs typeface="Arial" panose="020B0604020202020204" pitchFamily="34" charset="0"/>
              </a:rPr>
              <a:t>FY24, MU</a:t>
            </a:r>
          </a:p>
        </p:txBody>
      </p:sp>
      <p:sp>
        <p:nvSpPr>
          <p:cNvPr id="16" name="TextBox 15">
            <a:extLst>
              <a:ext uri="{FF2B5EF4-FFF2-40B4-BE49-F238E27FC236}">
                <a16:creationId xmlns:a16="http://schemas.microsoft.com/office/drawing/2014/main" id="{17436DA7-8E9D-E115-9075-887AA945CD42}"/>
              </a:ext>
            </a:extLst>
          </p:cNvPr>
          <p:cNvSpPr txBox="1"/>
          <p:nvPr/>
        </p:nvSpPr>
        <p:spPr>
          <a:xfrm>
            <a:off x="9253346" y="1596507"/>
            <a:ext cx="1846527" cy="184666"/>
          </a:xfrm>
          <a:prstGeom prst="rect">
            <a:avLst/>
          </a:prstGeom>
          <a:noFill/>
        </p:spPr>
        <p:txBody>
          <a:bodyPr wrap="square" lIns="0" tIns="0" rIns="0" bIns="0" rtlCol="0">
            <a:spAutoFit/>
          </a:bodyPr>
          <a:lstStyle/>
          <a:p>
            <a:pPr defTabSz="742950">
              <a:spcBef>
                <a:spcPts val="488"/>
              </a:spcBef>
              <a:buSzPct val="100000"/>
              <a:defRPr/>
            </a:pPr>
            <a:r>
              <a:rPr lang="en-US" sz="1200" b="1">
                <a:solidFill>
                  <a:prstClr val="black"/>
                </a:solidFill>
                <a:latin typeface="Arial" panose="020B0604020202020204" pitchFamily="34" charset="0"/>
                <a:cs typeface="Arial" panose="020B0604020202020204" pitchFamily="34" charset="0"/>
              </a:rPr>
              <a:t>Key observations</a:t>
            </a:r>
          </a:p>
        </p:txBody>
      </p:sp>
      <p:sp>
        <p:nvSpPr>
          <p:cNvPr id="17" name="Rectangle 16">
            <a:extLst>
              <a:ext uri="{FF2B5EF4-FFF2-40B4-BE49-F238E27FC236}">
                <a16:creationId xmlns:a16="http://schemas.microsoft.com/office/drawing/2014/main" id="{93DABED9-0C35-0C93-B933-3CB6FBCF66EA}"/>
              </a:ext>
            </a:extLst>
          </p:cNvPr>
          <p:cNvSpPr/>
          <p:nvPr/>
        </p:nvSpPr>
        <p:spPr bwMode="gray">
          <a:xfrm>
            <a:off x="9175289" y="2013268"/>
            <a:ext cx="2527300" cy="4266344"/>
          </a:xfrm>
          <a:prstGeom prst="rect">
            <a:avLst/>
          </a:prstGeom>
          <a:solidFill>
            <a:schemeClr val="bg1">
              <a:lumMod val="95000"/>
            </a:schemeClr>
          </a:solidFill>
          <a:ln w="12700" algn="ctr">
            <a:solidFill>
              <a:srgbClr val="BBBCBC"/>
            </a:solidFill>
            <a:miter lim="800000"/>
            <a:headEnd/>
            <a:tailEnd/>
          </a:ln>
        </p:spPr>
        <p:txBody>
          <a:bodyPr rot="0" spcFirstLastPara="0" vertOverflow="overflow" horzOverflow="overflow" vert="horz" wrap="square" lIns="91440" tIns="91440" rIns="91440" bIns="91440" numCol="1" spcCol="0" rtlCol="0" fromWordArt="0" anchor="t" anchorCtr="0" forceAA="0" compatLnSpc="1">
            <a:prstTxWarp prst="textNoShape">
              <a:avLst/>
            </a:prstTxWarp>
            <a:noAutofit/>
          </a:bodyPr>
          <a:lstStyle/>
          <a:p>
            <a:pPr marL="0" marR="0" indent="0"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As per CEA, the </a:t>
            </a:r>
            <a:r>
              <a:rPr kumimoji="1" lang="en-US" sz="1000">
                <a:solidFill>
                  <a:prstClr val="black"/>
                </a:solidFill>
                <a:latin typeface="Arial" panose="020B0604020202020204" pitchFamily="34" charset="0"/>
                <a:cs typeface="Arial" panose="020B0604020202020204" pitchFamily="34" charset="0"/>
              </a:rPr>
              <a:t>a</a:t>
            </a:r>
            <a:r>
              <a:rPr kumimoji="1" lang="en-US" sz="1000" b="0" i="0" u="none" strike="noStrike" kern="1200" cap="none" spc="0" normalizeH="0" baseline="0" noProof="0" err="1">
                <a:ln>
                  <a:noFill/>
                </a:ln>
                <a:solidFill>
                  <a:prstClr val="black"/>
                </a:solidFill>
                <a:effectLst/>
                <a:uLnTx/>
                <a:uFillTx/>
                <a:latin typeface="Arial" panose="020B0604020202020204" pitchFamily="34" charset="0"/>
                <a:cs typeface="Arial" panose="020B0604020202020204" pitchFamily="34" charset="0"/>
              </a:rPr>
              <a:t>verage</a:t>
            </a:r>
            <a:r>
              <a:rPr kumimoji="1" lang="en-US" sz="10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 deficit was anticipated to be between 5-6% of the requirement specifically</a:t>
            </a:r>
            <a:r>
              <a:rPr kumimoji="1" lang="en-US" sz="1000">
                <a:solidFill>
                  <a:prstClr val="black"/>
                </a:solidFill>
                <a:latin typeface="Arial" panose="020B0604020202020204" pitchFamily="34" charset="0"/>
                <a:cs typeface="Arial" panose="020B0604020202020204" pitchFamily="34" charset="0"/>
              </a:rPr>
              <a:t> in the high-demand months in Northern, Southern and Eastern regions. To meet the demand, the Government of India laid some directives such as:</a:t>
            </a:r>
          </a:p>
          <a:p>
            <a:pPr marL="0" marR="0" indent="0"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000">
              <a:solidFill>
                <a:prstClr val="black"/>
              </a:solidFill>
              <a:latin typeface="Arial" panose="020B0604020202020204" pitchFamily="34" charset="0"/>
              <a:cs typeface="Arial" panose="020B0604020202020204" pitchFamily="34" charset="0"/>
            </a:endParaRPr>
          </a:p>
          <a:p>
            <a:pPr marL="171450" marR="0" indent="-171450" defTabSz="990564" rtl="0" eaLnBrk="1" fontAlgn="auto" latinLnBrk="0" hangingPunct="1">
              <a:lnSpc>
                <a:spcPct val="100000"/>
              </a:lnSpc>
              <a:spcBef>
                <a:spcPts val="0"/>
              </a:spcBef>
              <a:spcAft>
                <a:spcPts val="0"/>
              </a:spcAft>
              <a:buClrTx/>
              <a:buSzPct val="100000"/>
              <a:buFont typeface="Arial" panose="020B0604020202020204" pitchFamily="34" charset="0"/>
              <a:buChar char="•"/>
              <a:tabLst/>
            </a:pPr>
            <a:r>
              <a:rPr kumimoji="1" lang="en-US" sz="1000" b="1">
                <a:solidFill>
                  <a:prstClr val="black"/>
                </a:solidFill>
                <a:latin typeface="Arial" panose="020B0604020202020204" pitchFamily="34" charset="0"/>
                <a:cs typeface="Arial" panose="020B0604020202020204" pitchFamily="34" charset="0"/>
              </a:rPr>
              <a:t>Planned maintenance </a:t>
            </a:r>
            <a:r>
              <a:rPr kumimoji="1" lang="en-US" sz="1000">
                <a:solidFill>
                  <a:prstClr val="black"/>
                </a:solidFill>
                <a:latin typeface="Arial" panose="020B0604020202020204" pitchFamily="34" charset="0"/>
                <a:cs typeface="Arial" panose="020B0604020202020204" pitchFamily="34" charset="0"/>
              </a:rPr>
              <a:t>to be conducted before high demand period</a:t>
            </a:r>
          </a:p>
          <a:p>
            <a:pPr marL="171450" marR="0" indent="-171450" defTabSz="990564" rtl="0" eaLnBrk="1" fontAlgn="auto" latinLnBrk="0" hangingPunct="1">
              <a:lnSpc>
                <a:spcPct val="100000"/>
              </a:lnSpc>
              <a:spcBef>
                <a:spcPts val="0"/>
              </a:spcBef>
              <a:spcAft>
                <a:spcPts val="0"/>
              </a:spcAft>
              <a:buClrTx/>
              <a:buSzPct val="100000"/>
              <a:buFont typeface="Arial" panose="020B0604020202020204" pitchFamily="34" charset="0"/>
              <a:buChar char="•"/>
              <a:tabLst/>
            </a:pPr>
            <a:r>
              <a:rPr kumimoji="1" lang="en-US" sz="1000" b="1">
                <a:solidFill>
                  <a:prstClr val="black"/>
                </a:solidFill>
                <a:latin typeface="Arial" panose="020B0604020202020204" pitchFamily="34" charset="0"/>
                <a:cs typeface="Arial" panose="020B0604020202020204" pitchFamily="34" charset="0"/>
              </a:rPr>
              <a:t>Maximization of coal production </a:t>
            </a:r>
            <a:r>
              <a:rPr kumimoji="1" lang="en-US" sz="1000">
                <a:solidFill>
                  <a:prstClr val="black"/>
                </a:solidFill>
                <a:latin typeface="Arial" panose="020B0604020202020204" pitchFamily="34" charset="0"/>
                <a:cs typeface="Arial" panose="020B0604020202020204" pitchFamily="34" charset="0"/>
              </a:rPr>
              <a:t>for domestic coal-based plants</a:t>
            </a:r>
          </a:p>
          <a:p>
            <a:pPr marL="171450" marR="0" indent="-171450" defTabSz="990564" rtl="0" eaLnBrk="1" fontAlgn="auto" latinLnBrk="0" hangingPunct="1">
              <a:lnSpc>
                <a:spcPct val="100000"/>
              </a:lnSpc>
              <a:spcBef>
                <a:spcPts val="0"/>
              </a:spcBef>
              <a:spcAft>
                <a:spcPts val="0"/>
              </a:spcAft>
              <a:buClrTx/>
              <a:buSzPct val="100000"/>
              <a:buFont typeface="Arial" panose="020B0604020202020204" pitchFamily="34" charset="0"/>
              <a:buChar char="•"/>
              <a:tabLst/>
            </a:pPr>
            <a:r>
              <a:rPr kumimoji="1" lang="en-US" sz="1000">
                <a:solidFill>
                  <a:prstClr val="black"/>
                </a:solidFill>
                <a:latin typeface="Arial" panose="020B0604020202020204" pitchFamily="34" charset="0"/>
                <a:cs typeface="Arial" panose="020B0604020202020204" pitchFamily="34" charset="0"/>
              </a:rPr>
              <a:t>Imported </a:t>
            </a:r>
            <a:r>
              <a:rPr kumimoji="1" lang="en-US" sz="1000" b="1">
                <a:solidFill>
                  <a:prstClr val="black"/>
                </a:solidFill>
                <a:latin typeface="Arial" panose="020B0604020202020204" pitchFamily="34" charset="0"/>
                <a:cs typeface="Arial" panose="020B0604020202020204" pitchFamily="34" charset="0"/>
              </a:rPr>
              <a:t>coal-based plants to keep ready stock</a:t>
            </a:r>
          </a:p>
          <a:p>
            <a:pPr marL="171450" marR="0" indent="-171450" defTabSz="990564" rtl="0" eaLnBrk="1" fontAlgn="auto" latinLnBrk="0" hangingPunct="1">
              <a:lnSpc>
                <a:spcPct val="100000"/>
              </a:lnSpc>
              <a:spcBef>
                <a:spcPts val="0"/>
              </a:spcBef>
              <a:spcAft>
                <a:spcPts val="0"/>
              </a:spcAft>
              <a:buClrTx/>
              <a:buSzPct val="100000"/>
              <a:buFont typeface="Arial" panose="020B0604020202020204" pitchFamily="34" charset="0"/>
              <a:buChar char="•"/>
              <a:tabLst/>
            </a:pPr>
            <a:r>
              <a:rPr kumimoji="1" lang="en-US" sz="1000" b="1">
                <a:solidFill>
                  <a:prstClr val="black"/>
                </a:solidFill>
                <a:latin typeface="Arial" panose="020B0604020202020204" pitchFamily="34" charset="0"/>
                <a:cs typeface="Arial" panose="020B0604020202020204" pitchFamily="34" charset="0"/>
              </a:rPr>
              <a:t>Additional arrangements for gas </a:t>
            </a:r>
            <a:r>
              <a:rPr kumimoji="1" lang="en-US" sz="1000">
                <a:solidFill>
                  <a:prstClr val="black"/>
                </a:solidFill>
                <a:latin typeface="Arial" panose="020B0604020202020204" pitchFamily="34" charset="0"/>
                <a:cs typeface="Arial" panose="020B0604020202020204" pitchFamily="34" charset="0"/>
              </a:rPr>
              <a:t>required by gas-based plants</a:t>
            </a:r>
          </a:p>
          <a:p>
            <a:pPr marR="0" defTabSz="990564" rtl="0" eaLnBrk="1" fontAlgn="auto" latinLnBrk="0" hangingPunct="1">
              <a:lnSpc>
                <a:spcPct val="100000"/>
              </a:lnSpc>
              <a:spcBef>
                <a:spcPts val="0"/>
              </a:spcBef>
              <a:spcAft>
                <a:spcPts val="0"/>
              </a:spcAft>
              <a:buClrTx/>
              <a:buSzPct val="100000"/>
              <a:tabLst/>
            </a:pPr>
            <a:r>
              <a:rPr kumimoji="1" lang="en-US" sz="1000">
                <a:solidFill>
                  <a:prstClr val="black"/>
                </a:solidFill>
                <a:latin typeface="Arial" panose="020B0604020202020204" pitchFamily="34" charset="0"/>
                <a:cs typeface="Arial" panose="020B0604020202020204" pitchFamily="34" charset="0"/>
              </a:rPr>
              <a:t> </a:t>
            </a:r>
          </a:p>
          <a:p>
            <a:pPr marR="0" defTabSz="990564" rtl="0" eaLnBrk="1" fontAlgn="auto" latinLnBrk="0" hangingPunct="1">
              <a:lnSpc>
                <a:spcPct val="100000"/>
              </a:lnSpc>
              <a:spcBef>
                <a:spcPts val="0"/>
              </a:spcBef>
              <a:spcAft>
                <a:spcPts val="0"/>
              </a:spcAft>
              <a:buClrTx/>
              <a:buSzPct val="100000"/>
              <a:tabLst/>
            </a:pPr>
            <a:r>
              <a:rPr kumimoji="1" lang="en-US" sz="1000">
                <a:solidFill>
                  <a:prstClr val="black"/>
                </a:solidFill>
                <a:latin typeface="Arial" panose="020B0604020202020204" pitchFamily="34" charset="0"/>
                <a:cs typeface="Arial" panose="020B0604020202020204" pitchFamily="34" charset="0"/>
              </a:rPr>
              <a:t>These steps resulted in an </a:t>
            </a:r>
            <a:r>
              <a:rPr kumimoji="1" lang="en-US" sz="1000" b="1">
                <a:solidFill>
                  <a:prstClr val="black"/>
                </a:solidFill>
                <a:latin typeface="Arial" panose="020B0604020202020204" pitchFamily="34" charset="0"/>
                <a:cs typeface="Arial" panose="020B0604020202020204" pitchFamily="34" charset="0"/>
              </a:rPr>
              <a:t>average deficit of less than 0.5% in the high-demand months.</a:t>
            </a:r>
          </a:p>
          <a:p>
            <a:pPr marR="0" defTabSz="990564" rtl="0" eaLnBrk="1" fontAlgn="auto" latinLnBrk="0" hangingPunct="1">
              <a:lnSpc>
                <a:spcPct val="100000"/>
              </a:lnSpc>
              <a:spcBef>
                <a:spcPts val="0"/>
              </a:spcBef>
              <a:spcAft>
                <a:spcPts val="0"/>
              </a:spcAft>
              <a:buClrTx/>
              <a:buSzPct val="100000"/>
              <a:tabLst/>
            </a:pPr>
            <a:endParaRPr kumimoji="1" lang="en-US" sz="1000">
              <a:solidFill>
                <a:prstClr val="black"/>
              </a:solidFill>
              <a:latin typeface="Arial" panose="020B0604020202020204" pitchFamily="34" charset="0"/>
              <a:cs typeface="Arial" panose="020B0604020202020204" pitchFamily="34" charset="0"/>
            </a:endParaRPr>
          </a:p>
          <a:p>
            <a:pPr marL="0" marR="0" indent="0"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Relative to FY23, the energy requirement grew by 7.5% in FY24 and the energy availability grew by 7.8%, resulting in a </a:t>
            </a:r>
            <a:r>
              <a:rPr kumimoji="1" lang="en-US" sz="1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reduction in total energy shortfall from 0.5% in FY23 to 0.2% in FY24.</a:t>
            </a:r>
          </a:p>
        </p:txBody>
      </p:sp>
      <p:sp>
        <p:nvSpPr>
          <p:cNvPr id="18" name="Rectangle 17">
            <a:extLst>
              <a:ext uri="{FF2B5EF4-FFF2-40B4-BE49-F238E27FC236}">
                <a16:creationId xmlns:a16="http://schemas.microsoft.com/office/drawing/2014/main" id="{FD844988-80A1-2872-AA4B-EC10EB2311F8}"/>
              </a:ext>
            </a:extLst>
          </p:cNvPr>
          <p:cNvSpPr/>
          <p:nvPr/>
        </p:nvSpPr>
        <p:spPr bwMode="gray">
          <a:xfrm>
            <a:off x="3064235" y="2190795"/>
            <a:ext cx="2101130" cy="645716"/>
          </a:xfrm>
          <a:prstGeom prst="rect">
            <a:avLst/>
          </a:prstGeom>
          <a:noFill/>
          <a:ln w="12700" algn="ctr">
            <a:solidFill>
              <a:srgbClr val="DA291C"/>
            </a:solidFill>
            <a:prstDash val="lgDash"/>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19" name="Rectangle 18">
            <a:extLst>
              <a:ext uri="{FF2B5EF4-FFF2-40B4-BE49-F238E27FC236}">
                <a16:creationId xmlns:a16="http://schemas.microsoft.com/office/drawing/2014/main" id="{DC1247BC-E2C2-63D4-1145-90C21D4C6229}"/>
              </a:ext>
            </a:extLst>
          </p:cNvPr>
          <p:cNvSpPr/>
          <p:nvPr/>
        </p:nvSpPr>
        <p:spPr bwMode="gray">
          <a:xfrm>
            <a:off x="3515878" y="4285498"/>
            <a:ext cx="1587335" cy="645717"/>
          </a:xfrm>
          <a:prstGeom prst="rect">
            <a:avLst/>
          </a:prstGeom>
          <a:noFill/>
          <a:ln w="12700" algn="ctr">
            <a:solidFill>
              <a:srgbClr val="DA291C"/>
            </a:solidFill>
            <a:prstDash val="lgDash"/>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20" name="Rectangle 19">
            <a:extLst>
              <a:ext uri="{FF2B5EF4-FFF2-40B4-BE49-F238E27FC236}">
                <a16:creationId xmlns:a16="http://schemas.microsoft.com/office/drawing/2014/main" id="{0F5A47F4-1B8F-6417-5923-6DA4A38D4375}"/>
              </a:ext>
            </a:extLst>
          </p:cNvPr>
          <p:cNvSpPr/>
          <p:nvPr/>
        </p:nvSpPr>
        <p:spPr bwMode="gray">
          <a:xfrm>
            <a:off x="1922063" y="3564219"/>
            <a:ext cx="530504" cy="661362"/>
          </a:xfrm>
          <a:prstGeom prst="rect">
            <a:avLst/>
          </a:prstGeom>
          <a:noFill/>
          <a:ln w="12700" algn="ctr">
            <a:solidFill>
              <a:srgbClr val="DA291C"/>
            </a:solidFill>
            <a:prstDash val="lgDash"/>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21" name="Rectangle 20">
            <a:extLst>
              <a:ext uri="{FF2B5EF4-FFF2-40B4-BE49-F238E27FC236}">
                <a16:creationId xmlns:a16="http://schemas.microsoft.com/office/drawing/2014/main" id="{DB30EC79-0C55-509F-85A8-5103A55BA469}"/>
              </a:ext>
            </a:extLst>
          </p:cNvPr>
          <p:cNvSpPr/>
          <p:nvPr/>
        </p:nvSpPr>
        <p:spPr bwMode="gray">
          <a:xfrm>
            <a:off x="7740858" y="3564219"/>
            <a:ext cx="530504" cy="661362"/>
          </a:xfrm>
          <a:prstGeom prst="rect">
            <a:avLst/>
          </a:prstGeom>
          <a:noFill/>
          <a:ln w="12700" algn="ctr">
            <a:solidFill>
              <a:srgbClr val="DA291C"/>
            </a:solidFill>
            <a:prstDash val="lgDash"/>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22" name="Text Placeholder 1">
            <a:extLst>
              <a:ext uri="{FF2B5EF4-FFF2-40B4-BE49-F238E27FC236}">
                <a16:creationId xmlns:a16="http://schemas.microsoft.com/office/drawing/2014/main" id="{D0C3AE61-70DF-AEEC-0FE3-EC82E7AF0497}"/>
              </a:ext>
            </a:extLst>
          </p:cNvPr>
          <p:cNvSpPr txBox="1">
            <a:spLocks/>
          </p:cNvSpPr>
          <p:nvPr/>
        </p:nvSpPr>
        <p:spPr>
          <a:xfrm>
            <a:off x="475422" y="1072024"/>
            <a:ext cx="11121870" cy="292388"/>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300" b="0"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r>
              <a:rPr lang="en-US"/>
              <a:t>Government of India took necessary steps resulting in an </a:t>
            </a:r>
            <a:r>
              <a:rPr lang="en-US" b="1"/>
              <a:t>average deficit of less than 0.5% in the high-demand months</a:t>
            </a:r>
          </a:p>
        </p:txBody>
      </p:sp>
    </p:spTree>
    <p:extLst>
      <p:ext uri="{BB962C8B-B14F-4D97-AF65-F5344CB8AC3E}">
        <p14:creationId xmlns:p14="http://schemas.microsoft.com/office/powerpoint/2010/main" val="243855199"/>
      </p:ext>
    </p:extLst>
  </p:cSld>
  <p:clrMapOvr>
    <a:masterClrMapping/>
  </p:clrMapOvr>
  <p:transition>
    <p:fade/>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855991894"/>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Electricity sector in India | Electricity supply position and seasonal variations</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r>
              <a:rPr lang="en-US" sz="1400">
                <a:latin typeface="Arial" panose="020B0604020202020204" pitchFamily="34" charset="0"/>
                <a:cs typeface="Arial" panose="020B0604020202020204" pitchFamily="34" charset="0"/>
              </a:rPr>
              <a:t>CEA anticipated average deficit of 2-3% in high-demand months of June-Sep and Mar-Apr in FY25</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15" name="TextBox 14">
            <a:extLst>
              <a:ext uri="{FF2B5EF4-FFF2-40B4-BE49-F238E27FC236}">
                <a16:creationId xmlns:a16="http://schemas.microsoft.com/office/drawing/2014/main" id="{8C39A8A6-E9D5-6FBE-6CEA-74A67DAAF4A3}"/>
              </a:ext>
            </a:extLst>
          </p:cNvPr>
          <p:cNvSpPr txBox="1"/>
          <p:nvPr/>
        </p:nvSpPr>
        <p:spPr>
          <a:xfrm>
            <a:off x="496577" y="1717694"/>
            <a:ext cx="8289642" cy="369332"/>
          </a:xfrm>
          <a:prstGeom prst="rect">
            <a:avLst/>
          </a:prstGeom>
          <a:noFill/>
        </p:spPr>
        <p:txBody>
          <a:bodyPr wrap="square" lIns="0" tIns="0" rIns="0" bIns="0" rtlCol="0">
            <a:spAutoFit/>
          </a:bodyPr>
          <a:lstStyle/>
          <a:p>
            <a:pPr defTabSz="742950">
              <a:spcBef>
                <a:spcPts val="0"/>
              </a:spcBef>
              <a:buSzPct val="100000"/>
              <a:defRPr/>
            </a:pPr>
            <a:r>
              <a:rPr lang="en-US" sz="1200" b="1">
                <a:solidFill>
                  <a:prstClr val="black"/>
                </a:solidFill>
                <a:latin typeface="Arial" panose="020B0604020202020204" pitchFamily="34" charset="0"/>
                <a:cs typeface="Arial" panose="020B0604020202020204" pitchFamily="34" charset="0"/>
              </a:rPr>
              <a:t>Anticipated vs actual seasonal electricity supply surplus/ (deficit) as % of energy requirement in Indian regions</a:t>
            </a:r>
          </a:p>
          <a:p>
            <a:pPr defTabSz="742950">
              <a:spcBef>
                <a:spcPts val="0"/>
              </a:spcBef>
              <a:buSzPct val="100000"/>
              <a:defRPr/>
            </a:pPr>
            <a:r>
              <a:rPr lang="en-US" sz="1200">
                <a:solidFill>
                  <a:prstClr val="black"/>
                </a:solidFill>
                <a:latin typeface="Arial" panose="020B0604020202020204" pitchFamily="34" charset="0"/>
                <a:cs typeface="Arial" panose="020B0604020202020204" pitchFamily="34" charset="0"/>
              </a:rPr>
              <a:t>FY25, MU</a:t>
            </a:r>
          </a:p>
        </p:txBody>
      </p:sp>
      <p:sp>
        <p:nvSpPr>
          <p:cNvPr id="16" name="TextBox 15">
            <a:extLst>
              <a:ext uri="{FF2B5EF4-FFF2-40B4-BE49-F238E27FC236}">
                <a16:creationId xmlns:a16="http://schemas.microsoft.com/office/drawing/2014/main" id="{17436DA7-8E9D-E115-9075-887AA945CD42}"/>
              </a:ext>
            </a:extLst>
          </p:cNvPr>
          <p:cNvSpPr txBox="1"/>
          <p:nvPr/>
        </p:nvSpPr>
        <p:spPr>
          <a:xfrm>
            <a:off x="9253346" y="1717694"/>
            <a:ext cx="1846527" cy="184666"/>
          </a:xfrm>
          <a:prstGeom prst="rect">
            <a:avLst/>
          </a:prstGeom>
          <a:noFill/>
        </p:spPr>
        <p:txBody>
          <a:bodyPr wrap="square" lIns="0" tIns="0" rIns="0" bIns="0" rtlCol="0">
            <a:spAutoFit/>
          </a:bodyPr>
          <a:lstStyle/>
          <a:p>
            <a:pPr defTabSz="742950">
              <a:spcBef>
                <a:spcPts val="488"/>
              </a:spcBef>
              <a:buSzPct val="100000"/>
              <a:defRPr/>
            </a:pPr>
            <a:r>
              <a:rPr lang="en-US" sz="1200" b="1">
                <a:solidFill>
                  <a:prstClr val="black"/>
                </a:solidFill>
                <a:latin typeface="Arial" panose="020B0604020202020204" pitchFamily="34" charset="0"/>
                <a:cs typeface="Arial" panose="020B0604020202020204" pitchFamily="34" charset="0"/>
              </a:rPr>
              <a:t>Key observations</a:t>
            </a:r>
          </a:p>
        </p:txBody>
      </p:sp>
      <p:sp>
        <p:nvSpPr>
          <p:cNvPr id="17" name="Rectangle 16">
            <a:extLst>
              <a:ext uri="{FF2B5EF4-FFF2-40B4-BE49-F238E27FC236}">
                <a16:creationId xmlns:a16="http://schemas.microsoft.com/office/drawing/2014/main" id="{93DABED9-0C35-0C93-B933-3CB6FBCF66EA}"/>
              </a:ext>
            </a:extLst>
          </p:cNvPr>
          <p:cNvSpPr/>
          <p:nvPr/>
        </p:nvSpPr>
        <p:spPr bwMode="gray">
          <a:xfrm>
            <a:off x="9175289" y="2135105"/>
            <a:ext cx="2527300" cy="4265693"/>
          </a:xfrm>
          <a:prstGeom prst="rect">
            <a:avLst/>
          </a:prstGeom>
          <a:solidFill>
            <a:schemeClr val="bg1">
              <a:lumMod val="95000"/>
            </a:schemeClr>
          </a:solidFill>
          <a:ln w="12700" algn="ctr">
            <a:solidFill>
              <a:srgbClr val="BBBCBC"/>
            </a:solidFill>
            <a:miter lim="800000"/>
            <a:headEnd/>
            <a:tailEnd/>
          </a:ln>
        </p:spPr>
        <p:txBody>
          <a:bodyPr rot="0" spcFirstLastPara="0" vertOverflow="overflow" horzOverflow="overflow" vert="horz" wrap="square" lIns="91440" tIns="91440" rIns="91440" bIns="91440" numCol="1" spcCol="0" rtlCol="0" fromWordArt="0" anchor="t" anchorCtr="0" forceAA="0" compatLnSpc="1">
            <a:prstTxWarp prst="textNoShape">
              <a:avLst/>
            </a:prstTxWarp>
            <a:noAutofit/>
          </a:bodyPr>
          <a:lstStyle/>
          <a:p>
            <a:pPr marL="0" marR="0" indent="0"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There was an anticipation of shift in the high-demand months and regions. Which is observed in the western region in the second half of the FY and the eastern region in the first half of the FY</a:t>
            </a:r>
          </a:p>
          <a:p>
            <a:pPr marL="0" marR="0" indent="0"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0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a:p>
            <a:pPr marL="0" marR="0" indent="0"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a:solidFill>
                  <a:prstClr val="black"/>
                </a:solidFill>
                <a:latin typeface="Arial" panose="020B0604020202020204" pitchFamily="34" charset="0"/>
                <a:cs typeface="Arial" panose="020B0604020202020204" pitchFamily="34" charset="0"/>
              </a:rPr>
              <a:t>Government of India laid some directives such as:</a:t>
            </a:r>
          </a:p>
          <a:p>
            <a:pPr marL="171450" marR="0" indent="-171450" defTabSz="990564" rtl="0" eaLnBrk="1" fontAlgn="auto" latinLnBrk="0" hangingPunct="1">
              <a:lnSpc>
                <a:spcPct val="100000"/>
              </a:lnSpc>
              <a:spcBef>
                <a:spcPts val="0"/>
              </a:spcBef>
              <a:spcAft>
                <a:spcPts val="0"/>
              </a:spcAft>
              <a:buClrTx/>
              <a:buSzPct val="100000"/>
              <a:buFont typeface="Arial" panose="020B0604020202020204" pitchFamily="34" charset="0"/>
              <a:buChar char="•"/>
              <a:tabLst/>
            </a:pPr>
            <a:r>
              <a:rPr kumimoji="1" lang="en-US" sz="1000" b="1">
                <a:solidFill>
                  <a:prstClr val="black"/>
                </a:solidFill>
                <a:latin typeface="Arial" panose="020B0604020202020204" pitchFamily="34" charset="0"/>
                <a:cs typeface="Arial" panose="020B0604020202020204" pitchFamily="34" charset="0"/>
              </a:rPr>
              <a:t>Gas-based plants </a:t>
            </a:r>
            <a:r>
              <a:rPr kumimoji="1" lang="en-US" sz="1000">
                <a:solidFill>
                  <a:prstClr val="black"/>
                </a:solidFill>
                <a:latin typeface="Arial" panose="020B0604020202020204" pitchFamily="34" charset="0"/>
                <a:cs typeface="Arial" panose="020B0604020202020204" pitchFamily="34" charset="0"/>
              </a:rPr>
              <a:t>to be operationalized </a:t>
            </a:r>
          </a:p>
          <a:p>
            <a:pPr marL="171450" marR="0" indent="-171450" defTabSz="990564" rtl="0" eaLnBrk="1" fontAlgn="auto" latinLnBrk="0" hangingPunct="1">
              <a:lnSpc>
                <a:spcPct val="100000"/>
              </a:lnSpc>
              <a:spcBef>
                <a:spcPts val="0"/>
              </a:spcBef>
              <a:spcAft>
                <a:spcPts val="0"/>
              </a:spcAft>
              <a:buClrTx/>
              <a:buSzPct val="100000"/>
              <a:buFont typeface="Arial" panose="020B0604020202020204" pitchFamily="34" charset="0"/>
              <a:buChar char="•"/>
              <a:tabLst/>
            </a:pPr>
            <a:r>
              <a:rPr kumimoji="1" lang="en-US" sz="1000" b="1">
                <a:solidFill>
                  <a:prstClr val="black"/>
                </a:solidFill>
                <a:latin typeface="Arial" panose="020B0604020202020204" pitchFamily="34" charset="0"/>
                <a:cs typeface="Arial" panose="020B0604020202020204" pitchFamily="34" charset="0"/>
              </a:rPr>
              <a:t>Planned maintenance </a:t>
            </a:r>
            <a:r>
              <a:rPr kumimoji="1" lang="en-US" sz="1000">
                <a:solidFill>
                  <a:prstClr val="black"/>
                </a:solidFill>
                <a:latin typeface="Arial" panose="020B0604020202020204" pitchFamily="34" charset="0"/>
                <a:cs typeface="Arial" panose="020B0604020202020204" pitchFamily="34" charset="0"/>
              </a:rPr>
              <a:t>to be shifted to monsoon season</a:t>
            </a:r>
          </a:p>
          <a:p>
            <a:pPr marL="171450" marR="0" indent="-171450" defTabSz="990564" rtl="0" eaLnBrk="1" fontAlgn="auto" latinLnBrk="0" hangingPunct="1">
              <a:lnSpc>
                <a:spcPct val="100000"/>
              </a:lnSpc>
              <a:spcBef>
                <a:spcPts val="0"/>
              </a:spcBef>
              <a:spcAft>
                <a:spcPts val="0"/>
              </a:spcAft>
              <a:buClrTx/>
              <a:buSzPct val="100000"/>
              <a:buFont typeface="Arial" panose="020B0604020202020204" pitchFamily="34" charset="0"/>
              <a:buChar char="•"/>
              <a:tabLst/>
            </a:pPr>
            <a:r>
              <a:rPr kumimoji="1" lang="en-US" sz="1000">
                <a:solidFill>
                  <a:prstClr val="black"/>
                </a:solidFill>
                <a:latin typeface="Arial" panose="020B0604020202020204" pitchFamily="34" charset="0"/>
                <a:cs typeface="Arial" panose="020B0604020202020204" pitchFamily="34" charset="0"/>
              </a:rPr>
              <a:t>Plant outages to be brought down</a:t>
            </a:r>
          </a:p>
          <a:p>
            <a:pPr marL="171450" marR="0" indent="-171450" defTabSz="990564" rtl="0" eaLnBrk="1" fontAlgn="auto" latinLnBrk="0" hangingPunct="1">
              <a:lnSpc>
                <a:spcPct val="100000"/>
              </a:lnSpc>
              <a:spcBef>
                <a:spcPts val="0"/>
              </a:spcBef>
              <a:spcAft>
                <a:spcPts val="0"/>
              </a:spcAft>
              <a:buClrTx/>
              <a:buSzPct val="100000"/>
              <a:buFont typeface="Arial" panose="020B0604020202020204" pitchFamily="34" charset="0"/>
              <a:buChar char="•"/>
              <a:tabLst/>
            </a:pPr>
            <a:r>
              <a:rPr kumimoji="1" lang="en-US" sz="1000" b="1">
                <a:solidFill>
                  <a:prstClr val="black"/>
                </a:solidFill>
                <a:latin typeface="Arial" panose="020B0604020202020204" pitchFamily="34" charset="0"/>
                <a:cs typeface="Arial" panose="020B0604020202020204" pitchFamily="34" charset="0"/>
              </a:rPr>
              <a:t>Minimum technical load (55%) for coal-based plants </a:t>
            </a:r>
            <a:r>
              <a:rPr kumimoji="1" lang="en-US" sz="1000">
                <a:solidFill>
                  <a:prstClr val="black"/>
                </a:solidFill>
                <a:latin typeface="Arial" panose="020B0604020202020204" pitchFamily="34" charset="0"/>
                <a:cs typeface="Arial" panose="020B0604020202020204" pitchFamily="34" charset="0"/>
              </a:rPr>
              <a:t>(to be used at discretion)</a:t>
            </a:r>
          </a:p>
          <a:p>
            <a:pPr marL="171450" marR="0" indent="-171450" defTabSz="990564" rtl="0" eaLnBrk="1" fontAlgn="auto" latinLnBrk="0" hangingPunct="1">
              <a:lnSpc>
                <a:spcPct val="100000"/>
              </a:lnSpc>
              <a:spcBef>
                <a:spcPts val="0"/>
              </a:spcBef>
              <a:spcAft>
                <a:spcPts val="0"/>
              </a:spcAft>
              <a:buClrTx/>
              <a:buSzPct val="100000"/>
              <a:buFont typeface="Arial" panose="020B0604020202020204" pitchFamily="34" charset="0"/>
              <a:buChar char="•"/>
              <a:tabLst/>
            </a:pPr>
            <a:r>
              <a:rPr kumimoji="1" lang="en-US" sz="1000">
                <a:solidFill>
                  <a:prstClr val="black"/>
                </a:solidFill>
                <a:latin typeface="Arial" panose="020B0604020202020204" pitchFamily="34" charset="0"/>
                <a:cs typeface="Arial" panose="020B0604020202020204" pitchFamily="34" charset="0"/>
              </a:rPr>
              <a:t>Shifting of </a:t>
            </a:r>
            <a:r>
              <a:rPr kumimoji="1" lang="en-US" sz="1000" b="1">
                <a:solidFill>
                  <a:prstClr val="black"/>
                </a:solidFill>
                <a:latin typeface="Arial" panose="020B0604020202020204" pitchFamily="34" charset="0"/>
                <a:cs typeface="Arial" panose="020B0604020202020204" pitchFamily="34" charset="0"/>
              </a:rPr>
              <a:t>hydro generation to peak hours</a:t>
            </a:r>
          </a:p>
          <a:p>
            <a:pPr marL="171450" marR="0" indent="-171450" defTabSz="990564" rtl="0" eaLnBrk="1" fontAlgn="auto" latinLnBrk="0" hangingPunct="1">
              <a:lnSpc>
                <a:spcPct val="100000"/>
              </a:lnSpc>
              <a:spcBef>
                <a:spcPts val="0"/>
              </a:spcBef>
              <a:spcAft>
                <a:spcPts val="0"/>
              </a:spcAft>
              <a:buClrTx/>
              <a:buSzPct val="100000"/>
              <a:buFont typeface="Arial" panose="020B0604020202020204" pitchFamily="34" charset="0"/>
              <a:buChar char="•"/>
              <a:tabLst/>
            </a:pPr>
            <a:r>
              <a:rPr kumimoji="1" lang="en-US" sz="1000">
                <a:solidFill>
                  <a:prstClr val="black"/>
                </a:solidFill>
                <a:latin typeface="Arial" panose="020B0604020202020204" pitchFamily="34" charset="0"/>
                <a:cs typeface="Arial" panose="020B0604020202020204" pitchFamily="34" charset="0"/>
              </a:rPr>
              <a:t>Surplus power with captive generators to be harnessed</a:t>
            </a:r>
          </a:p>
          <a:p>
            <a:pPr marL="171450" marR="0" indent="-171450" defTabSz="990564" rtl="0" eaLnBrk="1" fontAlgn="auto" latinLnBrk="0" hangingPunct="1">
              <a:lnSpc>
                <a:spcPct val="100000"/>
              </a:lnSpc>
              <a:spcBef>
                <a:spcPts val="0"/>
              </a:spcBef>
              <a:spcAft>
                <a:spcPts val="0"/>
              </a:spcAft>
              <a:buClrTx/>
              <a:buSzPct val="100000"/>
              <a:buFont typeface="Arial" panose="020B0604020202020204" pitchFamily="34" charset="0"/>
              <a:buChar char="•"/>
              <a:tabLst/>
            </a:pPr>
            <a:r>
              <a:rPr kumimoji="1" lang="en-US" sz="1000" b="1">
                <a:solidFill>
                  <a:prstClr val="black"/>
                </a:solidFill>
                <a:latin typeface="Arial" panose="020B0604020202020204" pitchFamily="34" charset="0"/>
                <a:cs typeface="Arial" panose="020B0604020202020204" pitchFamily="34" charset="0"/>
              </a:rPr>
              <a:t>Imported coal-based plants to keep full capacity</a:t>
            </a:r>
            <a:r>
              <a:rPr kumimoji="1" lang="en-US" sz="1000">
                <a:solidFill>
                  <a:prstClr val="black"/>
                </a:solidFill>
                <a:latin typeface="Arial" panose="020B0604020202020204" pitchFamily="34" charset="0"/>
                <a:cs typeface="Arial" panose="020B0604020202020204" pitchFamily="34" charset="0"/>
              </a:rPr>
              <a:t> available for generation</a:t>
            </a:r>
          </a:p>
          <a:p>
            <a:pPr marR="0" defTabSz="990564" rtl="0" eaLnBrk="1" fontAlgn="auto" latinLnBrk="0" hangingPunct="1">
              <a:lnSpc>
                <a:spcPct val="100000"/>
              </a:lnSpc>
              <a:spcBef>
                <a:spcPts val="0"/>
              </a:spcBef>
              <a:spcAft>
                <a:spcPts val="0"/>
              </a:spcAft>
              <a:buClrTx/>
              <a:buSzPct val="100000"/>
              <a:tabLst/>
            </a:pPr>
            <a:r>
              <a:rPr kumimoji="1" lang="en-US" sz="1000">
                <a:solidFill>
                  <a:prstClr val="black"/>
                </a:solidFill>
                <a:highlight>
                  <a:srgbClr val="FFFF00"/>
                </a:highlight>
                <a:latin typeface="Arial" panose="020B0604020202020204" pitchFamily="34" charset="0"/>
                <a:cs typeface="Arial" panose="020B0604020202020204" pitchFamily="34" charset="0"/>
              </a:rPr>
              <a:t> </a:t>
            </a:r>
          </a:p>
          <a:p>
            <a:pPr marR="0" defTabSz="990564" rtl="0" eaLnBrk="1" fontAlgn="auto" latinLnBrk="0" hangingPunct="1">
              <a:lnSpc>
                <a:spcPct val="100000"/>
              </a:lnSpc>
              <a:spcBef>
                <a:spcPts val="0"/>
              </a:spcBef>
              <a:spcAft>
                <a:spcPts val="0"/>
              </a:spcAft>
              <a:buClrTx/>
              <a:buSzPct val="100000"/>
              <a:tabLst/>
            </a:pPr>
            <a:r>
              <a:rPr kumimoji="1" lang="en-US" sz="1000">
                <a:solidFill>
                  <a:prstClr val="black"/>
                </a:solidFill>
                <a:latin typeface="Arial" panose="020B0604020202020204" pitchFamily="34" charset="0"/>
                <a:cs typeface="Arial" panose="020B0604020202020204" pitchFamily="34" charset="0"/>
              </a:rPr>
              <a:t>These steps have resulted in an </a:t>
            </a:r>
            <a:r>
              <a:rPr kumimoji="1" lang="en-US" sz="1000" b="1">
                <a:solidFill>
                  <a:prstClr val="black"/>
                </a:solidFill>
                <a:latin typeface="Arial" panose="020B0604020202020204" pitchFamily="34" charset="0"/>
                <a:cs typeface="Arial" panose="020B0604020202020204" pitchFamily="34" charset="0"/>
              </a:rPr>
              <a:t>average deficit of less than 0.1% in FY25</a:t>
            </a:r>
          </a:p>
        </p:txBody>
      </p:sp>
      <p:sp>
        <p:nvSpPr>
          <p:cNvPr id="22" name="Text Placeholder 1">
            <a:extLst>
              <a:ext uri="{FF2B5EF4-FFF2-40B4-BE49-F238E27FC236}">
                <a16:creationId xmlns:a16="http://schemas.microsoft.com/office/drawing/2014/main" id="{D0C3AE61-70DF-AEEC-0FE3-EC82E7AF0497}"/>
              </a:ext>
            </a:extLst>
          </p:cNvPr>
          <p:cNvSpPr txBox="1">
            <a:spLocks/>
          </p:cNvSpPr>
          <p:nvPr/>
        </p:nvSpPr>
        <p:spPr>
          <a:xfrm>
            <a:off x="475422" y="1072024"/>
            <a:ext cx="11121870" cy="492443"/>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300" b="0"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r>
              <a:rPr lang="en-US"/>
              <a:t>Shifting demand scenario was neutralized by Government efforts such as operationalization of gas-based plants, shifting of plant maintenance, imported-coal based plants on standby etc. bringing the monthly and overall average deficit near to 0.1%</a:t>
            </a:r>
          </a:p>
        </p:txBody>
      </p:sp>
      <p:graphicFrame>
        <p:nvGraphicFramePr>
          <p:cNvPr id="3" name="Table 2">
            <a:extLst>
              <a:ext uri="{FF2B5EF4-FFF2-40B4-BE49-F238E27FC236}">
                <a16:creationId xmlns:a16="http://schemas.microsoft.com/office/drawing/2014/main" id="{A83F03A8-B367-00EF-6586-CF3A6899E98D}"/>
              </a:ext>
            </a:extLst>
          </p:cNvPr>
          <p:cNvGraphicFramePr>
            <a:graphicFrameLocks noGrp="1"/>
          </p:cNvGraphicFramePr>
          <p:nvPr>
            <p:extLst>
              <p:ext uri="{D42A27DB-BD31-4B8C-83A1-F6EECF244321}">
                <p14:modId xmlns:p14="http://schemas.microsoft.com/office/powerpoint/2010/main" val="1191004129"/>
              </p:ext>
            </p:extLst>
          </p:nvPr>
        </p:nvGraphicFramePr>
        <p:xfrm>
          <a:off x="496577" y="2135118"/>
          <a:ext cx="8289639" cy="4265693"/>
        </p:xfrm>
        <a:graphic>
          <a:graphicData uri="http://schemas.openxmlformats.org/drawingml/2006/table">
            <a:tbl>
              <a:tblPr firstRow="1" bandRow="1">
                <a:tableStyleId>{5C22544A-7EE6-4342-B048-85BDC9FD1C3A}</a:tableStyleId>
              </a:tblPr>
              <a:tblGrid>
                <a:gridCol w="1438275">
                  <a:extLst>
                    <a:ext uri="{9D8B030D-6E8A-4147-A177-3AD203B41FA5}">
                      <a16:colId xmlns:a16="http://schemas.microsoft.com/office/drawing/2014/main" val="2081640488"/>
                    </a:ext>
                  </a:extLst>
                </a:gridCol>
                <a:gridCol w="527028">
                  <a:extLst>
                    <a:ext uri="{9D8B030D-6E8A-4147-A177-3AD203B41FA5}">
                      <a16:colId xmlns:a16="http://schemas.microsoft.com/office/drawing/2014/main" val="891899485"/>
                    </a:ext>
                  </a:extLst>
                </a:gridCol>
                <a:gridCol w="527028">
                  <a:extLst>
                    <a:ext uri="{9D8B030D-6E8A-4147-A177-3AD203B41FA5}">
                      <a16:colId xmlns:a16="http://schemas.microsoft.com/office/drawing/2014/main" val="3739594193"/>
                    </a:ext>
                  </a:extLst>
                </a:gridCol>
                <a:gridCol w="527028">
                  <a:extLst>
                    <a:ext uri="{9D8B030D-6E8A-4147-A177-3AD203B41FA5}">
                      <a16:colId xmlns:a16="http://schemas.microsoft.com/office/drawing/2014/main" val="3527680297"/>
                    </a:ext>
                  </a:extLst>
                </a:gridCol>
                <a:gridCol w="527028">
                  <a:extLst>
                    <a:ext uri="{9D8B030D-6E8A-4147-A177-3AD203B41FA5}">
                      <a16:colId xmlns:a16="http://schemas.microsoft.com/office/drawing/2014/main" val="214600249"/>
                    </a:ext>
                  </a:extLst>
                </a:gridCol>
                <a:gridCol w="527028">
                  <a:extLst>
                    <a:ext uri="{9D8B030D-6E8A-4147-A177-3AD203B41FA5}">
                      <a16:colId xmlns:a16="http://schemas.microsoft.com/office/drawing/2014/main" val="3585268710"/>
                    </a:ext>
                  </a:extLst>
                </a:gridCol>
                <a:gridCol w="527028">
                  <a:extLst>
                    <a:ext uri="{9D8B030D-6E8A-4147-A177-3AD203B41FA5}">
                      <a16:colId xmlns:a16="http://schemas.microsoft.com/office/drawing/2014/main" val="503319278"/>
                    </a:ext>
                  </a:extLst>
                </a:gridCol>
                <a:gridCol w="527028">
                  <a:extLst>
                    <a:ext uri="{9D8B030D-6E8A-4147-A177-3AD203B41FA5}">
                      <a16:colId xmlns:a16="http://schemas.microsoft.com/office/drawing/2014/main" val="1920269194"/>
                    </a:ext>
                  </a:extLst>
                </a:gridCol>
                <a:gridCol w="527028">
                  <a:extLst>
                    <a:ext uri="{9D8B030D-6E8A-4147-A177-3AD203B41FA5}">
                      <a16:colId xmlns:a16="http://schemas.microsoft.com/office/drawing/2014/main" val="301472061"/>
                    </a:ext>
                  </a:extLst>
                </a:gridCol>
                <a:gridCol w="527028">
                  <a:extLst>
                    <a:ext uri="{9D8B030D-6E8A-4147-A177-3AD203B41FA5}">
                      <a16:colId xmlns:a16="http://schemas.microsoft.com/office/drawing/2014/main" val="1993535500"/>
                    </a:ext>
                  </a:extLst>
                </a:gridCol>
                <a:gridCol w="527028">
                  <a:extLst>
                    <a:ext uri="{9D8B030D-6E8A-4147-A177-3AD203B41FA5}">
                      <a16:colId xmlns:a16="http://schemas.microsoft.com/office/drawing/2014/main" val="3804204766"/>
                    </a:ext>
                  </a:extLst>
                </a:gridCol>
                <a:gridCol w="527028">
                  <a:extLst>
                    <a:ext uri="{9D8B030D-6E8A-4147-A177-3AD203B41FA5}">
                      <a16:colId xmlns:a16="http://schemas.microsoft.com/office/drawing/2014/main" val="3550412384"/>
                    </a:ext>
                  </a:extLst>
                </a:gridCol>
                <a:gridCol w="527028">
                  <a:extLst>
                    <a:ext uri="{9D8B030D-6E8A-4147-A177-3AD203B41FA5}">
                      <a16:colId xmlns:a16="http://schemas.microsoft.com/office/drawing/2014/main" val="750514071"/>
                    </a:ext>
                  </a:extLst>
                </a:gridCol>
                <a:gridCol w="527028">
                  <a:extLst>
                    <a:ext uri="{9D8B030D-6E8A-4147-A177-3AD203B41FA5}">
                      <a16:colId xmlns:a16="http://schemas.microsoft.com/office/drawing/2014/main" val="2593102546"/>
                    </a:ext>
                  </a:extLst>
                </a:gridCol>
              </a:tblGrid>
              <a:tr h="137603">
                <a:tc>
                  <a:txBody>
                    <a:bodyPr/>
                    <a:lstStyle/>
                    <a:p>
                      <a:pPr algn="l" fontAlgn="ctr"/>
                      <a:endParaRPr lang="en-US" sz="900" b="1" i="0" u="none" strike="noStrike">
                        <a:solidFill>
                          <a:srgbClr val="FFFFFF"/>
                        </a:solidFill>
                        <a:effectLst/>
                        <a:latin typeface="Arial" panose="020B0604020202020204" pitchFamily="34" charset="0"/>
                        <a:cs typeface="Arial" panose="020B0604020202020204" pitchFamily="34" charset="0"/>
                      </a:endParaRPr>
                    </a:p>
                  </a:txBody>
                  <a:tcPr marL="45720" marR="4635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Apr-24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May-24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Jun-24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Jul-24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Aug-24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Sep-24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Oct-24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Nov-24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Dec-24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Jan-25</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Feb-25</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Mar-25</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fontAlgn="ctr"/>
                      <a:r>
                        <a:rPr lang="en-US" sz="900" b="1" i="0" u="none" strike="noStrike">
                          <a:solidFill>
                            <a:srgbClr val="FFFFFF"/>
                          </a:solidFill>
                          <a:effectLst/>
                          <a:latin typeface="Arial" panose="020B0604020202020204" pitchFamily="34" charset="0"/>
                          <a:cs typeface="Arial" panose="020B0604020202020204" pitchFamily="34" charset="0"/>
                        </a:rPr>
                        <a:t>FY25</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487829331"/>
                  </a:ext>
                </a:extLst>
              </a:tr>
              <a:tr h="137603">
                <a:tc gridSpan="14">
                  <a:txBody>
                    <a:bodyPr/>
                    <a:lstStyle/>
                    <a:p>
                      <a:pPr algn="l" fontAlgn="ctr"/>
                      <a:r>
                        <a:rPr lang="en-US" sz="900" b="1" i="0" u="none" strike="noStrike">
                          <a:solidFill>
                            <a:schemeClr val="tx1"/>
                          </a:solidFill>
                          <a:effectLst/>
                          <a:latin typeface="Arial" panose="020B0604020202020204" pitchFamily="34" charset="0"/>
                          <a:cs typeface="Arial" panose="020B0604020202020204" pitchFamily="34" charset="0"/>
                        </a:rPr>
                        <a:t>Northern region</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endParaRPr lang="en-US"/>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045338508"/>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Antic. surplus/(deficit)</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7,416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3,487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1,031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1,271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3,318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2,011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2,371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5,054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4,529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2,268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3,209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3,840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39,805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195052069"/>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anticipated req.</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8%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8%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599641866"/>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Actual surplus/(deficit)</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(25)</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(117)</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(213)</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(268)</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(82)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(38)</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(10)</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(160)</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(954)</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457660155"/>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actual req.</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0.23%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0.39%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0.49%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0.17%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0.08%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0.44%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0.18%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752145539"/>
                  </a:ext>
                </a:extLst>
              </a:tr>
              <a:tr h="137603">
                <a:tc gridSpan="14">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900" b="1" i="0" u="none" strike="noStrike">
                          <a:solidFill>
                            <a:schemeClr val="tx1"/>
                          </a:solidFill>
                          <a:effectLst/>
                          <a:latin typeface="Arial" panose="020B0604020202020204" pitchFamily="34" charset="0"/>
                          <a:cs typeface="Arial" panose="020B0604020202020204" pitchFamily="34" charset="0"/>
                        </a:rPr>
                        <a:t>Western region</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endParaRPr lang="en-US"/>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007613646"/>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Antic. surplus/(deficit)</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(2,952)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(1,122)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2,330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780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(326)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1,111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130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(465)</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(2,235)</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(3,651)</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(2,889)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(789)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(10,079)</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3355598200"/>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anticipated req.</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5%</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8%</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2%</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2463220591"/>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Actual surplus/(deficit)</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(23)</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(30)</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(47)</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(13)</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(13)</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(222)</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3868586169"/>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actual req.</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0.11%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0.12%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0.04%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3411177361"/>
                  </a:ext>
                </a:extLst>
              </a:tr>
              <a:tr h="137603">
                <a:tc gridSpan="14">
                  <a:txBody>
                    <a:bodyPr/>
                    <a:lstStyle/>
                    <a:p>
                      <a:pPr algn="l" fontAlgn="ctr"/>
                      <a:r>
                        <a:rPr lang="en-US" sz="900" b="1" i="0" u="none" strike="noStrike">
                          <a:solidFill>
                            <a:schemeClr val="tx1"/>
                          </a:solidFill>
                          <a:effectLst/>
                          <a:latin typeface="Arial" panose="020B0604020202020204" pitchFamily="34" charset="0"/>
                          <a:cs typeface="Arial" panose="020B0604020202020204" pitchFamily="34" charset="0"/>
                        </a:rPr>
                        <a:t>Southern region</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endParaRPr lang="en-US"/>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981088107"/>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Antic. surplus/(deficit)</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(901)</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1,839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1,008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1,852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(1,049)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899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262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445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3,734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1,454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569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326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10,436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714990808"/>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anticipated req.</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186026943"/>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Actual surplus/(deficit)</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(27)</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405656251"/>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actual req.</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0.01%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4280683721"/>
                  </a:ext>
                </a:extLst>
              </a:tr>
              <a:tr h="137603">
                <a:tc gridSpan="14">
                  <a:txBody>
                    <a:bodyPr/>
                    <a:lstStyle/>
                    <a:p>
                      <a:pPr algn="l" fontAlgn="ctr"/>
                      <a:r>
                        <a:rPr lang="en-US" sz="900" b="1" i="0" u="none" strike="noStrike">
                          <a:solidFill>
                            <a:schemeClr val="tx1"/>
                          </a:solidFill>
                          <a:effectLst/>
                          <a:latin typeface="Arial" panose="020B0604020202020204" pitchFamily="34" charset="0"/>
                          <a:cs typeface="Arial" panose="020B0604020202020204" pitchFamily="34" charset="0"/>
                        </a:rPr>
                        <a:t>Eastern region</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endParaRPr lang="en-US"/>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56462384"/>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Antic. surplus/(deficit)</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(1,148)</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(789)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(1,971)</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(3,875)</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(3,050)</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(1,406)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1,730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2,826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3,648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2,402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1,729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1,135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1,232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284016900"/>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anticipated req.</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10%</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15%</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7%</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642708973"/>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Actual surplus/(deficit)</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(64)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(61)</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(10)</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(21)</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(375)</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742673820"/>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actual req.</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0.39%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0.34%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0.31%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0.39%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0.14%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0.15%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0.15%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0.19%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092553043"/>
                  </a:ext>
                </a:extLst>
              </a:tr>
              <a:tr h="137603">
                <a:tc gridSpan="14">
                  <a:txBody>
                    <a:bodyPr/>
                    <a:lstStyle/>
                    <a:p>
                      <a:pPr algn="l" fontAlgn="ctr"/>
                      <a:r>
                        <a:rPr lang="en-US" sz="900" b="1" i="0" u="none" strike="noStrike">
                          <a:solidFill>
                            <a:schemeClr val="tx1"/>
                          </a:solidFill>
                          <a:effectLst/>
                          <a:latin typeface="Arial" panose="020B0604020202020204" pitchFamily="34" charset="0"/>
                          <a:cs typeface="Arial" panose="020B0604020202020204" pitchFamily="34" charset="0"/>
                        </a:rPr>
                        <a:t>Northeastern region</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endParaRPr lang="en-US"/>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endParaRPr lang="en-US" sz="800">
                        <a:solidFill>
                          <a:schemeClr val="tx1"/>
                        </a:solidFill>
                        <a:latin typeface="+mn-lt"/>
                      </a:endParaRPr>
                    </a:p>
                  </a:txBody>
                  <a:tcPr marL="0" marR="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153809941"/>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Antic. surplus/(deficit)</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161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50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127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212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80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80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(8)</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107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(56)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765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537998303"/>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anticipated req.</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11%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939000546"/>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Actual surplus/(deficit)</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(14)</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90372706"/>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actual req.</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0.23%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0.29%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0.39%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0.07%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349487622"/>
                  </a:ext>
                </a:extLst>
              </a:tr>
              <a:tr h="137603">
                <a:tc gridSpan="14">
                  <a:txBody>
                    <a:bodyPr/>
                    <a:lstStyle/>
                    <a:p>
                      <a:pPr marL="0" marR="0" lvl="0" indent="0" algn="l" defTabSz="990564" rtl="0" eaLnBrk="1" fontAlgn="ctr" latinLnBrk="0" hangingPunct="1">
                        <a:lnSpc>
                          <a:spcPct val="100000"/>
                        </a:lnSpc>
                        <a:spcBef>
                          <a:spcPts val="0"/>
                        </a:spcBef>
                        <a:spcAft>
                          <a:spcPts val="0"/>
                        </a:spcAft>
                        <a:buClrTx/>
                        <a:buSzTx/>
                        <a:buFontTx/>
                        <a:buNone/>
                        <a:tabLst/>
                        <a:defRPr/>
                      </a:pPr>
                      <a:r>
                        <a:rPr lang="en-US" sz="900" b="1" i="0" u="none" strike="noStrike">
                          <a:solidFill>
                            <a:schemeClr val="tx1"/>
                          </a:solidFill>
                          <a:effectLst/>
                          <a:latin typeface="Arial" panose="020B0604020202020204" pitchFamily="34" charset="0"/>
                          <a:cs typeface="Arial" panose="020B0604020202020204" pitchFamily="34" charset="0"/>
                        </a:rPr>
                        <a:t>India</a:t>
                      </a:r>
                    </a:p>
                  </a:txBody>
                  <a:tcPr marL="45720" marR="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6">
                        <a:lumMod val="20000"/>
                        <a:lumOff val="80000"/>
                      </a:schemeClr>
                    </a:solidFill>
                  </a:tcPr>
                </a:tc>
                <a:tc hMerge="1">
                  <a:txBody>
                    <a:bodyPr/>
                    <a:lstStyle/>
                    <a:p>
                      <a:pPr algn="r" fontAlgn="ctr"/>
                      <a:endParaRPr lang="en-US" sz="900" b="0" i="1" u="none" strike="noStrike">
                        <a:solidFill>
                          <a:srgbClr val="000000"/>
                        </a:solidFill>
                        <a:effectLst/>
                        <a:latin typeface="+mn-lt"/>
                      </a:endParaRPr>
                    </a:p>
                  </a:txBody>
                  <a:tcPr marL="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021935462"/>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Antic. surplus/(deficit)</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2,576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3,424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2,448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(28)</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(1,048)</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2,742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4,705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7,940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9,756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2,465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2,725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4,456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42,159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65841633"/>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anticipated req.</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6%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7%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2%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967627725"/>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Actual surplus/(deficit)</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(122)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(189)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(277)</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(379)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(154)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(114)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(24)</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(186)</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(49)</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(37)</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(32)</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(1,592)</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422674898"/>
                  </a:ext>
                </a:extLst>
              </a:tr>
              <a:tr h="137603">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in % of actual req.</a:t>
                      </a:r>
                    </a:p>
                  </a:txBody>
                  <a:tcPr marL="45720" marR="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0.08%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0.12%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0.18%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0.25%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0.11%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0.08%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0.14%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0.04%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0.03%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 0.02% </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1" u="none" strike="noStrike">
                          <a:solidFill>
                            <a:srgbClr val="000000"/>
                          </a:solidFill>
                          <a:effectLst/>
                          <a:latin typeface="Arial" panose="020B0604020202020204" pitchFamily="34" charset="0"/>
                          <a:cs typeface="Arial" panose="020B0604020202020204" pitchFamily="34" charset="0"/>
                        </a:rPr>
                        <a:t>0.09% </a:t>
                      </a:r>
                    </a:p>
                  </a:txBody>
                  <a:tcPr marL="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095418044"/>
                  </a:ext>
                </a:extLst>
              </a:tr>
            </a:tbl>
          </a:graphicData>
        </a:graphic>
      </p:graphicFrame>
    </p:spTree>
    <p:extLst>
      <p:ext uri="{BB962C8B-B14F-4D97-AF65-F5344CB8AC3E}">
        <p14:creationId xmlns:p14="http://schemas.microsoft.com/office/powerpoint/2010/main" val="3486155406"/>
      </p:ext>
    </p:extLst>
  </p:cSld>
  <p:clrMapOvr>
    <a:masterClrMapping/>
  </p:clrMapOvr>
  <p:transition>
    <p:fade/>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632301740"/>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53" name="Chart 52">
            <a:extLst>
              <a:ext uri="{FF2B5EF4-FFF2-40B4-BE49-F238E27FC236}">
                <a16:creationId xmlns:a16="http://schemas.microsoft.com/office/drawing/2014/main" id="{A6D06877-44DD-2053-67C4-57D1E4AE2C8A}"/>
              </a:ext>
            </a:extLst>
          </p:cNvPr>
          <p:cNvGraphicFramePr/>
          <p:nvPr>
            <p:extLst>
              <p:ext uri="{D42A27DB-BD31-4B8C-83A1-F6EECF244321}">
                <p14:modId xmlns:p14="http://schemas.microsoft.com/office/powerpoint/2010/main" val="857649272"/>
              </p:ext>
            </p:extLst>
          </p:nvPr>
        </p:nvGraphicFramePr>
        <p:xfrm>
          <a:off x="495300" y="4060473"/>
          <a:ext cx="9871572" cy="2127576"/>
        </p:xfrm>
        <a:graphic>
          <a:graphicData uri="http://schemas.openxmlformats.org/drawingml/2006/chart">
            <c:chart xmlns:c="http://schemas.openxmlformats.org/drawingml/2006/chart" xmlns:r="http://schemas.openxmlformats.org/officeDocument/2006/relationships" r:id="rId6"/>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Electricity sector in India | Short term electricity market contract types</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r>
              <a:rPr lang="en-US" sz="1400">
                <a:latin typeface="Arial" panose="020B0604020202020204" pitchFamily="34" charset="0"/>
                <a:cs typeface="Arial" panose="020B0604020202020204" pitchFamily="34" charset="0"/>
              </a:rPr>
              <a:t>Majority of demand is fulfilled through long/medium-term contracts, however short-term transactions have grown at CAGR of 15% since FY21</a:t>
            </a:r>
          </a:p>
          <a:p>
            <a:endParaRPr lang="en-US" sz="1400">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F65FAD68-FDE8-C220-81D1-921B0FB784AF}"/>
              </a:ext>
            </a:extLst>
          </p:cNvPr>
          <p:cNvGrpSpPr/>
          <p:nvPr/>
        </p:nvGrpSpPr>
        <p:grpSpPr>
          <a:xfrm>
            <a:off x="505774" y="2009162"/>
            <a:ext cx="2608413" cy="428611"/>
            <a:chOff x="413229" y="1371600"/>
            <a:chExt cx="1863155" cy="476173"/>
          </a:xfrm>
          <a:solidFill>
            <a:schemeClr val="accent6"/>
          </a:solidFill>
        </p:grpSpPr>
        <p:sp>
          <p:nvSpPr>
            <p:cNvPr id="13" name="Right Triangle 49">
              <a:extLst>
                <a:ext uri="{FF2B5EF4-FFF2-40B4-BE49-F238E27FC236}">
                  <a16:creationId xmlns:a16="http://schemas.microsoft.com/office/drawing/2014/main" id="{66C07393-CB87-63D6-4D61-B864442941A7}"/>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grpFill/>
            <a:ln w="19050" algn="ctr">
              <a:noFill/>
              <a:miter lim="800000"/>
              <a:headEnd/>
              <a:tailEnd/>
            </a:ln>
          </p:spPr>
          <p:txBody>
            <a:bodyPr wrap="square" lIns="54173" tIns="54173" rIns="54173" bIns="54173" rtlCol="0" anchor="ctr"/>
            <a:lstStyle/>
            <a:p>
              <a:pPr algn="ctr" defTabSz="742950">
                <a:lnSpc>
                  <a:spcPct val="106000"/>
                </a:lnSpc>
                <a:defRPr/>
              </a:pPr>
              <a:endParaRPr lang="en-US" sz="1000">
                <a:solidFill>
                  <a:prstClr val="white"/>
                </a:solidFill>
                <a:latin typeface="Arial" panose="020B0604020202020204" pitchFamily="34" charset="0"/>
                <a:cs typeface="Arial" panose="020B0604020202020204" pitchFamily="34" charset="0"/>
              </a:endParaRPr>
            </a:p>
          </p:txBody>
        </p:sp>
        <p:sp>
          <p:nvSpPr>
            <p:cNvPr id="18" name="Right Triangle 49">
              <a:extLst>
                <a:ext uri="{FF2B5EF4-FFF2-40B4-BE49-F238E27FC236}">
                  <a16:creationId xmlns:a16="http://schemas.microsoft.com/office/drawing/2014/main" id="{352DF2ED-4C4C-7E6D-3D74-0287C8836589}"/>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grpFill/>
            <a:ln w="19050" algn="ctr">
              <a:noFill/>
              <a:miter lim="800000"/>
              <a:headEnd/>
              <a:tailEnd/>
            </a:ln>
          </p:spPr>
          <p:txBody>
            <a:bodyPr wrap="square" lIns="54173" tIns="54173" rIns="54173" bIns="54173" rtlCol="0" anchor="ctr"/>
            <a:lstStyle/>
            <a:p>
              <a:pPr algn="ctr" defTabSz="742950">
                <a:lnSpc>
                  <a:spcPct val="106000"/>
                </a:lnSpc>
                <a:defRPr/>
              </a:pPr>
              <a:endParaRPr lang="en-US" sz="1000">
                <a:solidFill>
                  <a:prstClr val="white"/>
                </a:solidFill>
                <a:latin typeface="Arial" panose="020B0604020202020204" pitchFamily="34" charset="0"/>
                <a:cs typeface="Arial" panose="020B0604020202020204" pitchFamily="34" charset="0"/>
              </a:endParaRPr>
            </a:p>
          </p:txBody>
        </p:sp>
        <p:sp>
          <p:nvSpPr>
            <p:cNvPr id="19" name="Round Same Side Corner Rectangle 43">
              <a:extLst>
                <a:ext uri="{FF2B5EF4-FFF2-40B4-BE49-F238E27FC236}">
                  <a16:creationId xmlns:a16="http://schemas.microsoft.com/office/drawing/2014/main" id="{3A00C9A3-6907-E219-7EA8-96BE5D5815D4}"/>
                </a:ext>
              </a:extLst>
            </p:cNvPr>
            <p:cNvSpPr/>
            <p:nvPr/>
          </p:nvSpPr>
          <p:spPr bwMode="gray">
            <a:xfrm>
              <a:off x="413229" y="1371600"/>
              <a:ext cx="1863155"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grpFill/>
            <a:ln w="19050" algn="ctr">
              <a:noFill/>
              <a:miter lim="800000"/>
              <a:headEnd/>
              <a:tailEnd/>
            </a:ln>
          </p:spPr>
          <p:txBody>
            <a:bodyPr wrap="square" lIns="54173" tIns="54173" rIns="54173" bIns="65813" rtlCol="0" anchor="ctr"/>
            <a:lstStyle/>
            <a:p>
              <a:pPr lvl="0" algn="ctr"/>
              <a:r>
                <a:rPr lang="en-US" sz="1000" b="1">
                  <a:solidFill>
                    <a:prstClr val="white"/>
                  </a:solidFill>
                  <a:latin typeface="Arial" panose="020B0604020202020204" pitchFamily="34" charset="0"/>
                  <a:cs typeface="Arial" panose="020B0604020202020204" pitchFamily="34" charset="0"/>
                </a:rPr>
                <a:t>Long/medium term contracts: up to 25 years</a:t>
              </a:r>
            </a:p>
          </p:txBody>
        </p:sp>
      </p:grpSp>
      <p:grpSp>
        <p:nvGrpSpPr>
          <p:cNvPr id="20" name="Group 19">
            <a:extLst>
              <a:ext uri="{FF2B5EF4-FFF2-40B4-BE49-F238E27FC236}">
                <a16:creationId xmlns:a16="http://schemas.microsoft.com/office/drawing/2014/main" id="{7B02A7CB-C8B2-1083-CA41-39404D6238D8}"/>
              </a:ext>
            </a:extLst>
          </p:cNvPr>
          <p:cNvGrpSpPr/>
          <p:nvPr/>
        </p:nvGrpSpPr>
        <p:grpSpPr>
          <a:xfrm>
            <a:off x="3231452" y="2009162"/>
            <a:ext cx="2675982" cy="428611"/>
            <a:chOff x="413228" y="1371600"/>
            <a:chExt cx="1947702" cy="476173"/>
          </a:xfrm>
          <a:solidFill>
            <a:schemeClr val="accent5">
              <a:lumMod val="75000"/>
            </a:schemeClr>
          </a:solidFill>
        </p:grpSpPr>
        <p:sp>
          <p:nvSpPr>
            <p:cNvPr id="21" name="Right Triangle 49">
              <a:extLst>
                <a:ext uri="{FF2B5EF4-FFF2-40B4-BE49-F238E27FC236}">
                  <a16:creationId xmlns:a16="http://schemas.microsoft.com/office/drawing/2014/main" id="{D1C4A55C-9A8F-B607-D8B8-A60BE35D785E}"/>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grpFill/>
            <a:ln w="19050" algn="ctr">
              <a:noFill/>
              <a:miter lim="800000"/>
              <a:headEnd/>
              <a:tailEnd/>
            </a:ln>
          </p:spPr>
          <p:txBody>
            <a:bodyPr wrap="square" lIns="54173" tIns="54173" rIns="54173" bIns="54173" rtlCol="0" anchor="ctr"/>
            <a:lstStyle/>
            <a:p>
              <a:pPr algn="ctr" defTabSz="742950">
                <a:lnSpc>
                  <a:spcPct val="106000"/>
                </a:lnSpc>
                <a:defRPr/>
              </a:pPr>
              <a:endParaRPr lang="en-US" sz="1000">
                <a:solidFill>
                  <a:prstClr val="white"/>
                </a:solidFill>
                <a:latin typeface="Arial" panose="020B0604020202020204" pitchFamily="34" charset="0"/>
                <a:cs typeface="Arial" panose="020B0604020202020204" pitchFamily="34" charset="0"/>
              </a:endParaRPr>
            </a:p>
          </p:txBody>
        </p:sp>
        <p:sp>
          <p:nvSpPr>
            <p:cNvPr id="23" name="Right Triangle 49">
              <a:extLst>
                <a:ext uri="{FF2B5EF4-FFF2-40B4-BE49-F238E27FC236}">
                  <a16:creationId xmlns:a16="http://schemas.microsoft.com/office/drawing/2014/main" id="{6738078A-9563-26F3-F524-D0F960B17D11}"/>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grpFill/>
            <a:ln w="19050" algn="ctr">
              <a:noFill/>
              <a:miter lim="800000"/>
              <a:headEnd/>
              <a:tailEnd/>
            </a:ln>
          </p:spPr>
          <p:txBody>
            <a:bodyPr wrap="square" lIns="54173" tIns="54173" rIns="54173" bIns="54173" rtlCol="0" anchor="ctr"/>
            <a:lstStyle/>
            <a:p>
              <a:pPr algn="ctr" defTabSz="742950">
                <a:lnSpc>
                  <a:spcPct val="106000"/>
                </a:lnSpc>
                <a:defRPr/>
              </a:pPr>
              <a:endParaRPr lang="en-US" sz="1000">
                <a:solidFill>
                  <a:prstClr val="white"/>
                </a:solidFill>
                <a:latin typeface="Arial" panose="020B0604020202020204" pitchFamily="34" charset="0"/>
                <a:cs typeface="Arial" panose="020B0604020202020204" pitchFamily="34" charset="0"/>
              </a:endParaRPr>
            </a:p>
          </p:txBody>
        </p:sp>
        <p:sp>
          <p:nvSpPr>
            <p:cNvPr id="24" name="Round Same Side Corner Rectangle 43">
              <a:extLst>
                <a:ext uri="{FF2B5EF4-FFF2-40B4-BE49-F238E27FC236}">
                  <a16:creationId xmlns:a16="http://schemas.microsoft.com/office/drawing/2014/main" id="{3BEB0A09-326B-BFA0-AEC1-E5303180082F}"/>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grpFill/>
            <a:ln w="19050" algn="ctr">
              <a:noFill/>
              <a:miter lim="800000"/>
              <a:headEnd/>
              <a:tailEnd/>
            </a:ln>
          </p:spPr>
          <p:txBody>
            <a:bodyPr wrap="square" lIns="54173" tIns="54173" rIns="54173" bIns="65813" rtlCol="0" anchor="ctr"/>
            <a:lstStyle/>
            <a:p>
              <a:pPr lvl="0" algn="ctr"/>
              <a:r>
                <a:rPr lang="en-US" sz="1000" b="1">
                  <a:solidFill>
                    <a:prstClr val="white"/>
                  </a:solidFill>
                  <a:latin typeface="Arial" panose="020B0604020202020204" pitchFamily="34" charset="0"/>
                  <a:cs typeface="Arial" panose="020B0604020202020204" pitchFamily="34" charset="0"/>
                </a:rPr>
                <a:t>Bilateral: less than 1 year</a:t>
              </a:r>
            </a:p>
          </p:txBody>
        </p:sp>
      </p:grpSp>
      <p:grpSp>
        <p:nvGrpSpPr>
          <p:cNvPr id="25" name="Group 24">
            <a:extLst>
              <a:ext uri="{FF2B5EF4-FFF2-40B4-BE49-F238E27FC236}">
                <a16:creationId xmlns:a16="http://schemas.microsoft.com/office/drawing/2014/main" id="{E62EC51D-D95D-0CAB-931B-0B13155220DB}"/>
              </a:ext>
            </a:extLst>
          </p:cNvPr>
          <p:cNvGrpSpPr/>
          <p:nvPr/>
        </p:nvGrpSpPr>
        <p:grpSpPr>
          <a:xfrm>
            <a:off x="6099774" y="2009162"/>
            <a:ext cx="2726779" cy="428611"/>
            <a:chOff x="413228" y="1371600"/>
            <a:chExt cx="1947702" cy="476173"/>
          </a:xfrm>
          <a:solidFill>
            <a:schemeClr val="accent5">
              <a:lumMod val="75000"/>
            </a:schemeClr>
          </a:solidFill>
        </p:grpSpPr>
        <p:sp>
          <p:nvSpPr>
            <p:cNvPr id="26" name="Right Triangle 49">
              <a:extLst>
                <a:ext uri="{FF2B5EF4-FFF2-40B4-BE49-F238E27FC236}">
                  <a16:creationId xmlns:a16="http://schemas.microsoft.com/office/drawing/2014/main" id="{2B8A9F92-AEBE-6A6A-493D-2A65EFE94779}"/>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grpFill/>
            <a:ln w="19050" algn="ctr">
              <a:noFill/>
              <a:miter lim="800000"/>
              <a:headEnd/>
              <a:tailEnd/>
            </a:ln>
          </p:spPr>
          <p:txBody>
            <a:bodyPr wrap="square" lIns="54173" tIns="54173" rIns="54173" bIns="54173" rtlCol="0" anchor="ctr"/>
            <a:lstStyle/>
            <a:p>
              <a:pPr algn="ctr" defTabSz="742950">
                <a:lnSpc>
                  <a:spcPct val="106000"/>
                </a:lnSpc>
                <a:defRPr/>
              </a:pPr>
              <a:endParaRPr lang="en-US" sz="1000">
                <a:solidFill>
                  <a:prstClr val="white"/>
                </a:solidFill>
                <a:latin typeface="Arial" panose="020B0604020202020204" pitchFamily="34" charset="0"/>
                <a:cs typeface="Arial" panose="020B0604020202020204" pitchFamily="34" charset="0"/>
              </a:endParaRPr>
            </a:p>
          </p:txBody>
        </p:sp>
        <p:sp>
          <p:nvSpPr>
            <p:cNvPr id="27" name="Right Triangle 49">
              <a:extLst>
                <a:ext uri="{FF2B5EF4-FFF2-40B4-BE49-F238E27FC236}">
                  <a16:creationId xmlns:a16="http://schemas.microsoft.com/office/drawing/2014/main" id="{02F4F208-61EC-16E5-83B3-D633CCE85556}"/>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grpFill/>
            <a:ln w="19050" algn="ctr">
              <a:noFill/>
              <a:miter lim="800000"/>
              <a:headEnd/>
              <a:tailEnd/>
            </a:ln>
          </p:spPr>
          <p:txBody>
            <a:bodyPr wrap="square" lIns="54173" tIns="54173" rIns="54173" bIns="54173" rtlCol="0" anchor="ctr"/>
            <a:lstStyle/>
            <a:p>
              <a:pPr algn="ctr" defTabSz="742950">
                <a:lnSpc>
                  <a:spcPct val="106000"/>
                </a:lnSpc>
                <a:defRPr/>
              </a:pPr>
              <a:endParaRPr lang="en-US" sz="1000">
                <a:solidFill>
                  <a:prstClr val="white"/>
                </a:solidFill>
                <a:latin typeface="Arial" panose="020B0604020202020204" pitchFamily="34" charset="0"/>
                <a:cs typeface="Arial" panose="020B0604020202020204" pitchFamily="34" charset="0"/>
              </a:endParaRPr>
            </a:p>
          </p:txBody>
        </p:sp>
        <p:sp>
          <p:nvSpPr>
            <p:cNvPr id="28" name="Round Same Side Corner Rectangle 43">
              <a:extLst>
                <a:ext uri="{FF2B5EF4-FFF2-40B4-BE49-F238E27FC236}">
                  <a16:creationId xmlns:a16="http://schemas.microsoft.com/office/drawing/2014/main" id="{AB818309-5A66-E782-549A-DA4CCF6C63C2}"/>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grpFill/>
            <a:ln w="19050" algn="ctr">
              <a:noFill/>
              <a:miter lim="800000"/>
              <a:headEnd/>
              <a:tailEnd/>
            </a:ln>
          </p:spPr>
          <p:txBody>
            <a:bodyPr wrap="square" lIns="54173" tIns="54173" rIns="54173" bIns="65813" rtlCol="0" anchor="ctr"/>
            <a:lstStyle/>
            <a:p>
              <a:pPr lvl="0" algn="ctr"/>
              <a:r>
                <a:rPr lang="en-US" sz="1000" b="1">
                  <a:solidFill>
                    <a:prstClr val="white"/>
                  </a:solidFill>
                  <a:latin typeface="Arial" panose="020B0604020202020204" pitchFamily="34" charset="0"/>
                  <a:cs typeface="Arial" panose="020B0604020202020204" pitchFamily="34" charset="0"/>
                </a:rPr>
                <a:t>Exchanges:</a:t>
              </a:r>
            </a:p>
            <a:p>
              <a:pPr lvl="0" algn="ctr"/>
              <a:r>
                <a:rPr lang="en-US" sz="1000" b="1">
                  <a:solidFill>
                    <a:prstClr val="white"/>
                  </a:solidFill>
                  <a:latin typeface="Arial" panose="020B0604020202020204" pitchFamily="34" charset="0"/>
                  <a:cs typeface="Arial" panose="020B0604020202020204" pitchFamily="34" charset="0"/>
                </a:rPr>
                <a:t>Real time (1 hour) to 90 days</a:t>
              </a:r>
            </a:p>
          </p:txBody>
        </p:sp>
      </p:grpSp>
      <p:grpSp>
        <p:nvGrpSpPr>
          <p:cNvPr id="29" name="Group 28">
            <a:extLst>
              <a:ext uri="{FF2B5EF4-FFF2-40B4-BE49-F238E27FC236}">
                <a16:creationId xmlns:a16="http://schemas.microsoft.com/office/drawing/2014/main" id="{FADE232D-1377-4F9E-BBE0-E1537565D610}"/>
              </a:ext>
            </a:extLst>
          </p:cNvPr>
          <p:cNvGrpSpPr/>
          <p:nvPr/>
        </p:nvGrpSpPr>
        <p:grpSpPr>
          <a:xfrm>
            <a:off x="8976360" y="2009162"/>
            <a:ext cx="2726779" cy="350447"/>
            <a:chOff x="413228" y="1489728"/>
            <a:chExt cx="1947702" cy="389334"/>
          </a:xfrm>
          <a:solidFill>
            <a:schemeClr val="accent5">
              <a:lumMod val="75000"/>
            </a:schemeClr>
          </a:solidFill>
        </p:grpSpPr>
        <p:sp>
          <p:nvSpPr>
            <p:cNvPr id="30" name="Right Triangle 49">
              <a:extLst>
                <a:ext uri="{FF2B5EF4-FFF2-40B4-BE49-F238E27FC236}">
                  <a16:creationId xmlns:a16="http://schemas.microsoft.com/office/drawing/2014/main" id="{C3CA9DBF-4039-ABBC-40F4-198333706BCA}"/>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grpFill/>
            <a:ln w="19050" algn="ctr">
              <a:noFill/>
              <a:miter lim="800000"/>
              <a:headEnd/>
              <a:tailEnd/>
            </a:ln>
          </p:spPr>
          <p:txBody>
            <a:bodyPr wrap="square" lIns="54173" tIns="54173" rIns="54173" bIns="54173" rtlCol="0" anchor="ctr"/>
            <a:lstStyle/>
            <a:p>
              <a:pPr algn="ctr" defTabSz="742950">
                <a:lnSpc>
                  <a:spcPct val="106000"/>
                </a:lnSpc>
                <a:defRPr/>
              </a:pPr>
              <a:endParaRPr lang="en-US" sz="1000">
                <a:solidFill>
                  <a:prstClr val="white"/>
                </a:solidFill>
                <a:latin typeface="Arial" panose="020B0604020202020204" pitchFamily="34" charset="0"/>
                <a:cs typeface="Arial" panose="020B0604020202020204" pitchFamily="34" charset="0"/>
              </a:endParaRPr>
            </a:p>
          </p:txBody>
        </p:sp>
        <p:sp>
          <p:nvSpPr>
            <p:cNvPr id="31" name="Right Triangle 49">
              <a:extLst>
                <a:ext uri="{FF2B5EF4-FFF2-40B4-BE49-F238E27FC236}">
                  <a16:creationId xmlns:a16="http://schemas.microsoft.com/office/drawing/2014/main" id="{E0F0CEAE-6791-EC48-D1F7-7D14EB687675}"/>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grpFill/>
            <a:ln w="19050" algn="ctr">
              <a:noFill/>
              <a:miter lim="800000"/>
              <a:headEnd/>
              <a:tailEnd/>
            </a:ln>
          </p:spPr>
          <p:txBody>
            <a:bodyPr wrap="square" lIns="54173" tIns="54173" rIns="54173" bIns="54173" rtlCol="0" anchor="ctr"/>
            <a:lstStyle/>
            <a:p>
              <a:pPr algn="ctr" defTabSz="742950">
                <a:lnSpc>
                  <a:spcPct val="106000"/>
                </a:lnSpc>
                <a:defRPr/>
              </a:pPr>
              <a:endParaRPr lang="en-US" sz="1000">
                <a:solidFill>
                  <a:prstClr val="white"/>
                </a:solidFill>
                <a:latin typeface="Arial" panose="020B0604020202020204" pitchFamily="34" charset="0"/>
                <a:cs typeface="Arial" panose="020B0604020202020204" pitchFamily="34" charset="0"/>
              </a:endParaRPr>
            </a:p>
          </p:txBody>
        </p:sp>
        <p:sp>
          <p:nvSpPr>
            <p:cNvPr id="32" name="Round Same Side Corner Rectangle 43">
              <a:extLst>
                <a:ext uri="{FF2B5EF4-FFF2-40B4-BE49-F238E27FC236}">
                  <a16:creationId xmlns:a16="http://schemas.microsoft.com/office/drawing/2014/main" id="{77205870-5287-948B-96DA-BBA348927528}"/>
                </a:ext>
              </a:extLst>
            </p:cNvPr>
            <p:cNvSpPr/>
            <p:nvPr/>
          </p:nvSpPr>
          <p:spPr bwMode="gray">
            <a:xfrm>
              <a:off x="413228" y="1489728"/>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grpFill/>
            <a:ln w="19050" algn="ctr">
              <a:noFill/>
              <a:miter lim="800000"/>
              <a:headEnd/>
              <a:tailEnd/>
            </a:ln>
          </p:spPr>
          <p:txBody>
            <a:bodyPr wrap="square" lIns="54173" tIns="54173" rIns="54173" bIns="65813" rtlCol="0" anchor="ctr"/>
            <a:lstStyle/>
            <a:p>
              <a:pPr lvl="0" algn="ctr"/>
              <a:r>
                <a:rPr lang="en-US" sz="1000" b="1">
                  <a:solidFill>
                    <a:prstClr val="white"/>
                  </a:solidFill>
                  <a:latin typeface="Arial" panose="020B0604020202020204" pitchFamily="34" charset="0"/>
                  <a:cs typeface="Arial" panose="020B0604020202020204" pitchFamily="34" charset="0"/>
                </a:rPr>
                <a:t>Deviation Settlement Mechanism (DSM)</a:t>
              </a:r>
            </a:p>
          </p:txBody>
        </p:sp>
      </p:grpSp>
      <p:sp>
        <p:nvSpPr>
          <p:cNvPr id="33" name="Rectangle 32">
            <a:extLst>
              <a:ext uri="{FF2B5EF4-FFF2-40B4-BE49-F238E27FC236}">
                <a16:creationId xmlns:a16="http://schemas.microsoft.com/office/drawing/2014/main" id="{865DC485-595A-D548-0FA6-12F128972185}"/>
              </a:ext>
            </a:extLst>
          </p:cNvPr>
          <p:cNvSpPr/>
          <p:nvPr/>
        </p:nvSpPr>
        <p:spPr bwMode="gray">
          <a:xfrm>
            <a:off x="504594" y="1126468"/>
            <a:ext cx="11195559" cy="200201"/>
          </a:xfrm>
          <a:prstGeom prst="rect">
            <a:avLst/>
          </a:prstGeom>
          <a:solidFill>
            <a:schemeClr val="bg2"/>
          </a:solidFill>
          <a:ln>
            <a:noFill/>
            <a:headEnd/>
            <a:tailEnd/>
          </a:ln>
        </p:spPr>
        <p:style>
          <a:lnRef idx="2">
            <a:schemeClr val="accent5">
              <a:shade val="50000"/>
            </a:schemeClr>
          </a:lnRef>
          <a:fillRef idx="1">
            <a:schemeClr val="accent5"/>
          </a:fillRef>
          <a:effectRef idx="0">
            <a:schemeClr val="accent5"/>
          </a:effectRef>
          <a:fontRef idx="minor">
            <a:schemeClr val="lt1"/>
          </a:fontRef>
        </p:style>
        <p:txBody>
          <a:bodyPr wrap="square" lIns="72231" tIns="72231" rIns="72231" bIns="72231" rtlCol="0" anchor="ctr"/>
          <a:lstStyle/>
          <a:p>
            <a:pPr algn="ctr">
              <a:lnSpc>
                <a:spcPct val="106000"/>
              </a:lnSpc>
              <a:buFont typeface="Wingdings 2" pitchFamily="18" charset="2"/>
              <a:buNone/>
            </a:pPr>
            <a:r>
              <a:rPr lang="en-US" sz="1000" b="1">
                <a:solidFill>
                  <a:schemeClr val="tx1"/>
                </a:solidFill>
                <a:latin typeface="Arial" panose="020B0604020202020204" pitchFamily="34" charset="0"/>
                <a:cs typeface="Arial" panose="020B0604020202020204" pitchFamily="34" charset="0"/>
              </a:rPr>
              <a:t>Total power generation in India (FY25): ~1,824 billion kWh</a:t>
            </a:r>
          </a:p>
        </p:txBody>
      </p:sp>
      <p:sp>
        <p:nvSpPr>
          <p:cNvPr id="34" name="Rectangle 33">
            <a:extLst>
              <a:ext uri="{FF2B5EF4-FFF2-40B4-BE49-F238E27FC236}">
                <a16:creationId xmlns:a16="http://schemas.microsoft.com/office/drawing/2014/main" id="{A57648C1-6837-D613-4BA6-5D774E5ADB12}"/>
              </a:ext>
            </a:extLst>
          </p:cNvPr>
          <p:cNvSpPr/>
          <p:nvPr/>
        </p:nvSpPr>
        <p:spPr bwMode="gray">
          <a:xfrm>
            <a:off x="504594" y="1422454"/>
            <a:ext cx="2609593" cy="185645"/>
          </a:xfrm>
          <a:prstGeom prst="rect">
            <a:avLst/>
          </a:prstGeom>
          <a:solidFill>
            <a:schemeClr val="accent6"/>
          </a:solidFill>
          <a:ln>
            <a:noFill/>
            <a:headEnd/>
            <a:tailEnd/>
          </a:ln>
        </p:spPr>
        <p:style>
          <a:lnRef idx="2">
            <a:schemeClr val="accent4">
              <a:shade val="50000"/>
            </a:schemeClr>
          </a:lnRef>
          <a:fillRef idx="1">
            <a:schemeClr val="accent4"/>
          </a:fillRef>
          <a:effectRef idx="0">
            <a:schemeClr val="accent4"/>
          </a:effectRef>
          <a:fontRef idx="minor">
            <a:schemeClr val="lt1"/>
          </a:fontRef>
        </p:style>
        <p:txBody>
          <a:bodyPr wrap="square" lIns="72231" tIns="72231" rIns="72231" bIns="72231" rtlCol="0" anchor="ctr"/>
          <a:lstStyle/>
          <a:p>
            <a:pPr algn="ctr">
              <a:lnSpc>
                <a:spcPct val="106000"/>
              </a:lnSpc>
              <a:buFont typeface="Wingdings 2" pitchFamily="18" charset="2"/>
              <a:buNone/>
            </a:pPr>
            <a:r>
              <a:rPr lang="en-US" sz="1000" b="1">
                <a:solidFill>
                  <a:schemeClr val="bg1"/>
                </a:solidFill>
                <a:latin typeface="Arial" panose="020B0604020202020204" pitchFamily="34" charset="0"/>
                <a:cs typeface="Arial" panose="020B0604020202020204" pitchFamily="34" charset="0"/>
              </a:rPr>
              <a:t>Long/medium term supply: ~86%</a:t>
            </a:r>
          </a:p>
        </p:txBody>
      </p:sp>
      <p:sp>
        <p:nvSpPr>
          <p:cNvPr id="35" name="Rectangle 34">
            <a:extLst>
              <a:ext uri="{FF2B5EF4-FFF2-40B4-BE49-F238E27FC236}">
                <a16:creationId xmlns:a16="http://schemas.microsoft.com/office/drawing/2014/main" id="{1EFA6E4D-AA11-7EC5-E754-C4EEBD4368EB}"/>
              </a:ext>
            </a:extLst>
          </p:cNvPr>
          <p:cNvSpPr/>
          <p:nvPr/>
        </p:nvSpPr>
        <p:spPr bwMode="gray">
          <a:xfrm>
            <a:off x="3232551" y="1422454"/>
            <a:ext cx="8467601" cy="185645"/>
          </a:xfrm>
          <a:prstGeom prst="rect">
            <a:avLst/>
          </a:prstGeom>
          <a:solidFill>
            <a:schemeClr val="accent5">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1000" b="1">
                <a:solidFill>
                  <a:schemeClr val="bg1"/>
                </a:solidFill>
                <a:latin typeface="Arial" panose="020B0604020202020204" pitchFamily="34" charset="0"/>
                <a:cs typeface="Arial" panose="020B0604020202020204" pitchFamily="34" charset="0"/>
              </a:rPr>
              <a:t>Short-term supply: ~14%</a:t>
            </a:r>
          </a:p>
        </p:txBody>
      </p:sp>
      <p:sp>
        <p:nvSpPr>
          <p:cNvPr id="36" name="Rectangle 35">
            <a:extLst>
              <a:ext uri="{FF2B5EF4-FFF2-40B4-BE49-F238E27FC236}">
                <a16:creationId xmlns:a16="http://schemas.microsoft.com/office/drawing/2014/main" id="{B93EAE1D-A87C-8593-7545-AF3E5E24A9D6}"/>
              </a:ext>
            </a:extLst>
          </p:cNvPr>
          <p:cNvSpPr/>
          <p:nvPr/>
        </p:nvSpPr>
        <p:spPr bwMode="gray">
          <a:xfrm>
            <a:off x="679984" y="2456313"/>
            <a:ext cx="2243253" cy="1249368"/>
          </a:xfrm>
          <a:prstGeom prst="rect">
            <a:avLst/>
          </a:prstGeom>
          <a:solidFill>
            <a:schemeClr val="bg1">
              <a:lumMod val="95000"/>
            </a:schemeClr>
          </a:solidFill>
          <a:ln w="19050" algn="ctr">
            <a:noFill/>
            <a:miter lim="800000"/>
            <a:headEnd/>
            <a:tailEnd/>
          </a:ln>
        </p:spPr>
        <p:txBody>
          <a:bodyPr wrap="square" lIns="32906" tIns="32906" rIns="21938" bIns="21938" rtlCol="0" anchor="ctr"/>
          <a:lstStyle/>
          <a:p>
            <a:pPr marL="160199" indent="-139303" defTabSz="742950">
              <a:spcBef>
                <a:spcPts val="366"/>
              </a:spcBef>
              <a:buFont typeface="Arial" panose="020B0604020202020204" pitchFamily="34" charset="0"/>
              <a:buChar char="•"/>
              <a:defRPr/>
            </a:pPr>
            <a:r>
              <a:rPr lang="en-US" sz="1000">
                <a:solidFill>
                  <a:prstClr val="black"/>
                </a:solidFill>
                <a:latin typeface="Arial" panose="020B0604020202020204" pitchFamily="34" charset="0"/>
                <a:cs typeface="Arial" panose="020B0604020202020204" pitchFamily="34" charset="0"/>
              </a:rPr>
              <a:t>Long term contracts i.e. long-term Power Purchase Agreements (PPAs) are 25 years contracts (thermal - 25 years, hydro - 35 years)</a:t>
            </a:r>
          </a:p>
          <a:p>
            <a:pPr marL="160199" indent="-139303" defTabSz="742950">
              <a:spcBef>
                <a:spcPts val="366"/>
              </a:spcBef>
              <a:buFont typeface="Arial" panose="020B0604020202020204" pitchFamily="34" charset="0"/>
              <a:buChar char="•"/>
              <a:defRPr/>
            </a:pPr>
            <a:r>
              <a:rPr lang="en-US" sz="1000">
                <a:solidFill>
                  <a:srgbClr val="000000"/>
                </a:solidFill>
                <a:latin typeface="Arial" panose="020B0604020202020204" pitchFamily="34" charset="0"/>
                <a:cs typeface="Arial" panose="020B0604020202020204" pitchFamily="34" charset="0"/>
              </a:rPr>
              <a:t>Medium-term contract duration usually ranges from 1 to 5 years</a:t>
            </a:r>
            <a:endParaRPr lang="en-US" sz="1000">
              <a:solidFill>
                <a:prstClr val="black"/>
              </a:solidFill>
              <a:latin typeface="Arial" panose="020B0604020202020204" pitchFamily="34" charset="0"/>
              <a:cs typeface="Arial" panose="020B0604020202020204" pitchFamily="34" charset="0"/>
            </a:endParaRPr>
          </a:p>
        </p:txBody>
      </p:sp>
      <p:sp>
        <p:nvSpPr>
          <p:cNvPr id="37" name="Rectangle 36">
            <a:extLst>
              <a:ext uri="{FF2B5EF4-FFF2-40B4-BE49-F238E27FC236}">
                <a16:creationId xmlns:a16="http://schemas.microsoft.com/office/drawing/2014/main" id="{48D7DD2E-B9B3-F460-1F09-99157E13BB72}"/>
              </a:ext>
            </a:extLst>
          </p:cNvPr>
          <p:cNvSpPr/>
          <p:nvPr/>
        </p:nvSpPr>
        <p:spPr bwMode="gray">
          <a:xfrm>
            <a:off x="679984" y="3696296"/>
            <a:ext cx="2237563" cy="36000"/>
          </a:xfrm>
          <a:prstGeom prst="rect">
            <a:avLst/>
          </a:prstGeom>
          <a:solidFill>
            <a:schemeClr val="accent6"/>
          </a:solidFill>
          <a:ln w="19050" algn="ctr">
            <a:noFill/>
            <a:miter lim="800000"/>
            <a:headEnd/>
            <a:tailEnd/>
          </a:ln>
        </p:spPr>
        <p:txBody>
          <a:bodyPr wrap="square" lIns="54173" tIns="54173" rIns="54173" bIns="54173" rtlCol="0" anchor="ctr"/>
          <a:lstStyle/>
          <a:p>
            <a:pPr algn="ctr" defTabSz="742950">
              <a:lnSpc>
                <a:spcPct val="106000"/>
              </a:lnSpc>
              <a:defRPr/>
            </a:pPr>
            <a:endParaRPr lang="en-US" sz="1000">
              <a:solidFill>
                <a:prstClr val="white"/>
              </a:solidFill>
              <a:latin typeface="Arial" panose="020B0604020202020204" pitchFamily="34" charset="0"/>
              <a:cs typeface="Arial" panose="020B0604020202020204" pitchFamily="34" charset="0"/>
            </a:endParaRPr>
          </a:p>
        </p:txBody>
      </p:sp>
      <p:sp>
        <p:nvSpPr>
          <p:cNvPr id="38" name="Rectangle 37">
            <a:extLst>
              <a:ext uri="{FF2B5EF4-FFF2-40B4-BE49-F238E27FC236}">
                <a16:creationId xmlns:a16="http://schemas.microsoft.com/office/drawing/2014/main" id="{926F7B51-8FF4-02AB-31A3-9B35E4F9F813}"/>
              </a:ext>
            </a:extLst>
          </p:cNvPr>
          <p:cNvSpPr/>
          <p:nvPr/>
        </p:nvSpPr>
        <p:spPr bwMode="gray">
          <a:xfrm>
            <a:off x="6341537" y="2456313"/>
            <a:ext cx="2243253" cy="1249368"/>
          </a:xfrm>
          <a:prstGeom prst="rect">
            <a:avLst/>
          </a:prstGeom>
          <a:solidFill>
            <a:schemeClr val="bg1">
              <a:lumMod val="95000"/>
            </a:schemeClr>
          </a:solidFill>
          <a:ln w="19050" algn="ctr">
            <a:noFill/>
            <a:miter lim="800000"/>
            <a:headEnd/>
            <a:tailEnd/>
          </a:ln>
        </p:spPr>
        <p:txBody>
          <a:bodyPr wrap="square" lIns="32906" tIns="32906" rIns="21938" bIns="21938" rtlCol="0" anchor="ctr"/>
          <a:lstStyle/>
          <a:p>
            <a:pPr marL="20896">
              <a:defRPr/>
            </a:pPr>
            <a:r>
              <a:rPr lang="en-US" sz="1000">
                <a:solidFill>
                  <a:prstClr val="black"/>
                </a:solidFill>
                <a:latin typeface="Arial" panose="020B0604020202020204" pitchFamily="34" charset="0"/>
                <a:cs typeface="Arial" panose="020B0604020202020204" pitchFamily="34" charset="0"/>
              </a:rPr>
              <a:t>There are 3 power exchanges in India offering following trades:</a:t>
            </a:r>
          </a:p>
          <a:p>
            <a:pPr marL="104478" indent="-83582">
              <a:buFont typeface="Arial" panose="020B0604020202020204" pitchFamily="34" charset="0"/>
              <a:buChar char="•"/>
              <a:defRPr/>
            </a:pPr>
            <a:r>
              <a:rPr lang="en-US" sz="1000">
                <a:solidFill>
                  <a:prstClr val="black"/>
                </a:solidFill>
                <a:latin typeface="Arial" panose="020B0604020202020204" pitchFamily="34" charset="0"/>
                <a:cs typeface="Arial" panose="020B0604020202020204" pitchFamily="34" charset="0"/>
              </a:rPr>
              <a:t>Day Ahead Market (DAM)</a:t>
            </a:r>
          </a:p>
          <a:p>
            <a:pPr marL="104478" indent="-83582">
              <a:buFont typeface="Arial" panose="020B0604020202020204" pitchFamily="34" charset="0"/>
              <a:buChar char="•"/>
              <a:defRPr/>
            </a:pPr>
            <a:r>
              <a:rPr lang="en-US" sz="1000">
                <a:latin typeface="Arial" panose="020B0604020202020204" pitchFamily="34" charset="0"/>
                <a:cs typeface="Arial" panose="020B0604020202020204" pitchFamily="34" charset="0"/>
              </a:rPr>
              <a:t>Real Time Market (RTM)</a:t>
            </a:r>
          </a:p>
          <a:p>
            <a:pPr marL="104478" indent="-83582">
              <a:buFont typeface="Arial" panose="020B0604020202020204" pitchFamily="34" charset="0"/>
              <a:buChar char="•"/>
              <a:defRPr/>
            </a:pPr>
            <a:r>
              <a:rPr lang="en-US" sz="1000">
                <a:solidFill>
                  <a:prstClr val="black"/>
                </a:solidFill>
                <a:latin typeface="Arial" panose="020B0604020202020204" pitchFamily="34" charset="0"/>
                <a:cs typeface="Arial" panose="020B0604020202020204" pitchFamily="34" charset="0"/>
              </a:rPr>
              <a:t>Intraday, Contingency, Term Ahead up to 90 days</a:t>
            </a:r>
          </a:p>
          <a:p>
            <a:pPr marL="104478" indent="-83582">
              <a:buFont typeface="Arial" panose="020B0604020202020204" pitchFamily="34" charset="0"/>
              <a:buChar char="•"/>
              <a:defRPr/>
            </a:pPr>
            <a:r>
              <a:rPr lang="en-US" sz="1000">
                <a:solidFill>
                  <a:prstClr val="black"/>
                </a:solidFill>
                <a:latin typeface="Arial" panose="020B0604020202020204" pitchFamily="34" charset="0"/>
                <a:cs typeface="Arial" panose="020B0604020202020204" pitchFamily="34" charset="0"/>
              </a:rPr>
              <a:t>Green Term Ahead, Green DAM</a:t>
            </a:r>
          </a:p>
          <a:p>
            <a:pPr marL="104478" indent="-83582">
              <a:buFont typeface="Arial" panose="020B0604020202020204" pitchFamily="34" charset="0"/>
              <a:buChar char="•"/>
              <a:defRPr/>
            </a:pPr>
            <a:r>
              <a:rPr lang="en-US" sz="1000">
                <a:solidFill>
                  <a:prstClr val="black"/>
                </a:solidFill>
                <a:latin typeface="Arial" panose="020B0604020202020204" pitchFamily="34" charset="0"/>
                <a:cs typeface="Arial" panose="020B0604020202020204" pitchFamily="34" charset="0"/>
              </a:rPr>
              <a:t>High-Price DAM</a:t>
            </a:r>
          </a:p>
        </p:txBody>
      </p:sp>
      <p:sp>
        <p:nvSpPr>
          <p:cNvPr id="39" name="Rectangle 38">
            <a:extLst>
              <a:ext uri="{FF2B5EF4-FFF2-40B4-BE49-F238E27FC236}">
                <a16:creationId xmlns:a16="http://schemas.microsoft.com/office/drawing/2014/main" id="{689BE574-360C-87DE-CC40-D15C0BB07156}"/>
              </a:ext>
            </a:extLst>
          </p:cNvPr>
          <p:cNvSpPr/>
          <p:nvPr/>
        </p:nvSpPr>
        <p:spPr bwMode="gray">
          <a:xfrm flipV="1">
            <a:off x="6341538" y="3706146"/>
            <a:ext cx="2258846" cy="36000"/>
          </a:xfrm>
          <a:prstGeom prst="rect">
            <a:avLst/>
          </a:prstGeom>
          <a:solidFill>
            <a:schemeClr val="accent5">
              <a:lumMod val="75000"/>
            </a:schemeClr>
          </a:solidFill>
          <a:ln w="19050" algn="ctr">
            <a:noFill/>
            <a:miter lim="800000"/>
            <a:headEnd/>
            <a:tailEnd/>
          </a:ln>
        </p:spPr>
        <p:txBody>
          <a:bodyPr wrap="square" lIns="54173" tIns="54173" rIns="54173" bIns="54173" rtlCol="0" anchor="ctr"/>
          <a:lstStyle/>
          <a:p>
            <a:pPr algn="ctr" defTabSz="742950">
              <a:lnSpc>
                <a:spcPct val="106000"/>
              </a:lnSpc>
              <a:defRPr/>
            </a:pPr>
            <a:endParaRPr lang="en-US" sz="1000">
              <a:solidFill>
                <a:prstClr val="white"/>
              </a:solidFill>
              <a:latin typeface="Arial" panose="020B0604020202020204" pitchFamily="34" charset="0"/>
              <a:cs typeface="Arial" panose="020B0604020202020204" pitchFamily="34" charset="0"/>
            </a:endParaRPr>
          </a:p>
        </p:txBody>
      </p:sp>
      <p:sp>
        <p:nvSpPr>
          <p:cNvPr id="40" name="Rectangle 39">
            <a:extLst>
              <a:ext uri="{FF2B5EF4-FFF2-40B4-BE49-F238E27FC236}">
                <a16:creationId xmlns:a16="http://schemas.microsoft.com/office/drawing/2014/main" id="{56F7A872-4773-8EBD-F6C6-8C2E25860A55}"/>
              </a:ext>
            </a:extLst>
          </p:cNvPr>
          <p:cNvSpPr/>
          <p:nvPr/>
        </p:nvSpPr>
        <p:spPr bwMode="gray">
          <a:xfrm>
            <a:off x="3422418" y="2456313"/>
            <a:ext cx="2243253" cy="1249368"/>
          </a:xfrm>
          <a:prstGeom prst="rect">
            <a:avLst/>
          </a:prstGeom>
          <a:solidFill>
            <a:schemeClr val="bg1">
              <a:lumMod val="95000"/>
            </a:schemeClr>
          </a:solidFill>
          <a:ln w="19050" algn="ctr">
            <a:noFill/>
            <a:miter lim="800000"/>
            <a:headEnd/>
            <a:tailEnd/>
          </a:ln>
        </p:spPr>
        <p:txBody>
          <a:bodyPr wrap="square" lIns="32906" tIns="32906" rIns="21938" bIns="21938" rtlCol="0" anchor="ctr"/>
          <a:lstStyle/>
          <a:p>
            <a:pPr marL="104478" indent="-83582">
              <a:buFont typeface="Arial" panose="020B0604020202020204" pitchFamily="34" charset="0"/>
              <a:buChar char="•"/>
              <a:defRPr/>
            </a:pPr>
            <a:r>
              <a:rPr lang="en-US" sz="1000">
                <a:latin typeface="Arial" panose="020B0604020202020204" pitchFamily="34" charset="0"/>
                <a:cs typeface="Arial" panose="020B0604020202020204" pitchFamily="34" charset="0"/>
              </a:rPr>
              <a:t>Direct bilateral transactions</a:t>
            </a:r>
          </a:p>
          <a:p>
            <a:pPr marL="104478" indent="-83582">
              <a:buFont typeface="Arial" panose="020B0604020202020204" pitchFamily="34" charset="0"/>
              <a:buChar char="•"/>
              <a:defRPr/>
            </a:pPr>
            <a:r>
              <a:rPr lang="en-US" sz="1000">
                <a:latin typeface="Arial" panose="020B0604020202020204" pitchFamily="34" charset="0"/>
                <a:cs typeface="Arial" panose="020B0604020202020204" pitchFamily="34" charset="0"/>
              </a:rPr>
              <a:t>Bilateral trading through intermediaries</a:t>
            </a:r>
          </a:p>
          <a:p>
            <a:pPr marL="104478" indent="-83582">
              <a:buFont typeface="Arial" panose="020B0604020202020204" pitchFamily="34" charset="0"/>
              <a:buChar char="•"/>
              <a:defRPr/>
            </a:pPr>
            <a:r>
              <a:rPr lang="en-US" sz="1000">
                <a:latin typeface="Arial" panose="020B0604020202020204" pitchFamily="34" charset="0"/>
                <a:cs typeface="Arial" panose="020B0604020202020204" pitchFamily="34" charset="0"/>
              </a:rPr>
              <a:t>Banking transactions between electricity distribution utilities</a:t>
            </a:r>
          </a:p>
          <a:p>
            <a:pPr marL="20896">
              <a:defRPr/>
            </a:pPr>
            <a:r>
              <a:rPr lang="en-US" sz="1000">
                <a:latin typeface="Arial" panose="020B0604020202020204" pitchFamily="34" charset="0"/>
                <a:cs typeface="Arial" panose="020B0604020202020204" pitchFamily="34" charset="0"/>
              </a:rPr>
              <a:t>Such transactions take place via traders/bilaterally/via DEEP^ portal</a:t>
            </a:r>
          </a:p>
        </p:txBody>
      </p:sp>
      <p:sp>
        <p:nvSpPr>
          <p:cNvPr id="41" name="Rectangle 40">
            <a:extLst>
              <a:ext uri="{FF2B5EF4-FFF2-40B4-BE49-F238E27FC236}">
                <a16:creationId xmlns:a16="http://schemas.microsoft.com/office/drawing/2014/main" id="{E5F5E5BE-43EE-DA84-4338-A4F75A4C1F38}"/>
              </a:ext>
            </a:extLst>
          </p:cNvPr>
          <p:cNvSpPr/>
          <p:nvPr/>
        </p:nvSpPr>
        <p:spPr bwMode="gray">
          <a:xfrm>
            <a:off x="3425262" y="3706146"/>
            <a:ext cx="2237564" cy="36000"/>
          </a:xfrm>
          <a:prstGeom prst="rect">
            <a:avLst/>
          </a:prstGeom>
          <a:solidFill>
            <a:schemeClr val="accent5">
              <a:lumMod val="75000"/>
            </a:schemeClr>
          </a:solidFill>
          <a:ln w="19050" algn="ctr">
            <a:noFill/>
            <a:miter lim="800000"/>
            <a:headEnd/>
            <a:tailEnd/>
          </a:ln>
        </p:spPr>
        <p:txBody>
          <a:bodyPr wrap="square" lIns="54173" tIns="54173" rIns="54173" bIns="54173" rtlCol="0" anchor="ctr"/>
          <a:lstStyle/>
          <a:p>
            <a:pPr algn="ctr" defTabSz="742950">
              <a:lnSpc>
                <a:spcPct val="106000"/>
              </a:lnSpc>
              <a:defRPr/>
            </a:pPr>
            <a:endParaRPr lang="en-US" sz="1000">
              <a:solidFill>
                <a:prstClr val="white"/>
              </a:solidFill>
              <a:latin typeface="Arial" panose="020B0604020202020204" pitchFamily="34" charset="0"/>
              <a:cs typeface="Arial" panose="020B0604020202020204" pitchFamily="34" charset="0"/>
            </a:endParaRPr>
          </a:p>
        </p:txBody>
      </p:sp>
      <p:sp>
        <p:nvSpPr>
          <p:cNvPr id="42" name="Rectangle 41">
            <a:extLst>
              <a:ext uri="{FF2B5EF4-FFF2-40B4-BE49-F238E27FC236}">
                <a16:creationId xmlns:a16="http://schemas.microsoft.com/office/drawing/2014/main" id="{98E85C0D-381A-FD0F-1BD1-BF2DB48FA72B}"/>
              </a:ext>
            </a:extLst>
          </p:cNvPr>
          <p:cNvSpPr/>
          <p:nvPr/>
        </p:nvSpPr>
        <p:spPr bwMode="gray">
          <a:xfrm>
            <a:off x="9218123" y="2456313"/>
            <a:ext cx="2243253" cy="1249368"/>
          </a:xfrm>
          <a:prstGeom prst="rect">
            <a:avLst/>
          </a:prstGeom>
          <a:solidFill>
            <a:schemeClr val="bg1">
              <a:lumMod val="95000"/>
            </a:schemeClr>
          </a:solidFill>
          <a:ln w="19050" algn="ctr">
            <a:noFill/>
            <a:miter lim="800000"/>
            <a:headEnd/>
            <a:tailEnd/>
          </a:ln>
        </p:spPr>
        <p:txBody>
          <a:bodyPr wrap="square" lIns="32906" tIns="32906" rIns="21938" bIns="21938" rtlCol="0" anchor="ctr"/>
          <a:lstStyle/>
          <a:p>
            <a:pPr marL="160199" indent="-139303">
              <a:spcBef>
                <a:spcPts val="366"/>
              </a:spcBef>
              <a:buFont typeface="Arial" panose="020B0604020202020204" pitchFamily="34" charset="0"/>
              <a:buChar char="•"/>
              <a:defRPr/>
            </a:pPr>
            <a:r>
              <a:rPr lang="en-US" sz="1000">
                <a:solidFill>
                  <a:srgbClr val="000000"/>
                </a:solidFill>
                <a:latin typeface="Arial" panose="020B0604020202020204" pitchFamily="34" charset="0"/>
                <a:cs typeface="Arial" panose="020B0604020202020204" pitchFamily="34" charset="0"/>
              </a:rPr>
              <a:t>DSM mechanism maintains grid stability by penalizing electricity generators and consumers for deviations from scheduled power generation or consumption, thereby incentivizing adherence to schedules and grid frequency norms</a:t>
            </a:r>
            <a:endParaRPr lang="en-US" sz="1000">
              <a:solidFill>
                <a:srgbClr val="DA291C"/>
              </a:solidFill>
              <a:latin typeface="Arial" panose="020B0604020202020204" pitchFamily="34" charset="0"/>
              <a:cs typeface="Arial" panose="020B0604020202020204" pitchFamily="34" charset="0"/>
            </a:endParaRPr>
          </a:p>
        </p:txBody>
      </p:sp>
      <p:sp>
        <p:nvSpPr>
          <p:cNvPr id="43" name="Rectangle 42">
            <a:extLst>
              <a:ext uri="{FF2B5EF4-FFF2-40B4-BE49-F238E27FC236}">
                <a16:creationId xmlns:a16="http://schemas.microsoft.com/office/drawing/2014/main" id="{C996AE81-93C9-2243-51FC-3842E63FAA47}"/>
              </a:ext>
            </a:extLst>
          </p:cNvPr>
          <p:cNvSpPr/>
          <p:nvPr/>
        </p:nvSpPr>
        <p:spPr bwMode="gray">
          <a:xfrm>
            <a:off x="9233716" y="3706146"/>
            <a:ext cx="2227660" cy="36000"/>
          </a:xfrm>
          <a:prstGeom prst="rect">
            <a:avLst/>
          </a:prstGeom>
          <a:solidFill>
            <a:schemeClr val="accent5">
              <a:lumMod val="75000"/>
            </a:schemeClr>
          </a:solidFill>
          <a:ln w="19050" algn="ctr">
            <a:noFill/>
            <a:miter lim="800000"/>
            <a:headEnd/>
            <a:tailEnd/>
          </a:ln>
        </p:spPr>
        <p:txBody>
          <a:bodyPr wrap="square" lIns="54173" tIns="54173" rIns="54173" bIns="54173" rtlCol="0" anchor="ctr"/>
          <a:lstStyle/>
          <a:p>
            <a:pPr algn="ctr" defTabSz="742950">
              <a:lnSpc>
                <a:spcPct val="106000"/>
              </a:lnSpc>
              <a:defRPr/>
            </a:pPr>
            <a:endParaRPr lang="en-US" sz="1000">
              <a:solidFill>
                <a:prstClr val="white"/>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id="{15155988-B672-0CE6-39E3-E4BF22F568D3}"/>
              </a:ext>
            </a:extLst>
          </p:cNvPr>
          <p:cNvSpPr txBox="1"/>
          <p:nvPr/>
        </p:nvSpPr>
        <p:spPr>
          <a:xfrm>
            <a:off x="497803" y="6277193"/>
            <a:ext cx="9050136" cy="138499"/>
          </a:xfrm>
          <a:prstGeom prst="rect">
            <a:avLst/>
          </a:prstGeom>
          <a:noFill/>
        </p:spPr>
        <p:txBody>
          <a:bodyPr wrap="square" lIns="0" tIns="0" rIns="0" bIns="0" rtlCol="0">
            <a:spAutoFit/>
          </a:bodyPr>
          <a:lstStyle/>
          <a:p>
            <a:pPr>
              <a:spcBef>
                <a:spcPts val="488"/>
              </a:spcBef>
              <a:buSzPct val="100000"/>
            </a:pPr>
            <a:r>
              <a:rPr lang="en-US" sz="900">
                <a:solidFill>
                  <a:srgbClr val="000000"/>
                </a:solidFill>
                <a:latin typeface="Arial" panose="020B0604020202020204" pitchFamily="34" charset="0"/>
                <a:cs typeface="Arial" panose="020B0604020202020204" pitchFamily="34" charset="0"/>
              </a:rPr>
              <a:t>^DEEP refers to Discovery of Efficient Electricity Price portal which is an e-bidding portal for procurement of short-term power by electricity distribution utilities. </a:t>
            </a:r>
          </a:p>
        </p:txBody>
      </p:sp>
      <p:grpSp>
        <p:nvGrpSpPr>
          <p:cNvPr id="69" name="Group 68">
            <a:extLst>
              <a:ext uri="{FF2B5EF4-FFF2-40B4-BE49-F238E27FC236}">
                <a16:creationId xmlns:a16="http://schemas.microsoft.com/office/drawing/2014/main" id="{C3E48C91-CEFD-F9B3-3EDD-6A2EF0E08638}"/>
              </a:ext>
            </a:extLst>
          </p:cNvPr>
          <p:cNvGrpSpPr/>
          <p:nvPr/>
        </p:nvGrpSpPr>
        <p:grpSpPr>
          <a:xfrm>
            <a:off x="4197830" y="1654588"/>
            <a:ext cx="646030" cy="293158"/>
            <a:chOff x="3599404" y="1574974"/>
            <a:chExt cx="646030" cy="293158"/>
          </a:xfrm>
        </p:grpSpPr>
        <p:sp>
          <p:nvSpPr>
            <p:cNvPr id="47" name="Arrow: Up 46">
              <a:extLst>
                <a:ext uri="{FF2B5EF4-FFF2-40B4-BE49-F238E27FC236}">
                  <a16:creationId xmlns:a16="http://schemas.microsoft.com/office/drawing/2014/main" id="{84692C74-59D1-1D2D-B0B7-D7E6CD753513}"/>
                </a:ext>
              </a:extLst>
            </p:cNvPr>
            <p:cNvSpPr/>
            <p:nvPr/>
          </p:nvSpPr>
          <p:spPr bwMode="gray">
            <a:xfrm rot="10800000">
              <a:off x="3599404" y="1574974"/>
              <a:ext cx="646030" cy="293158"/>
            </a:xfrm>
            <a:prstGeom prst="upArrow">
              <a:avLst/>
            </a:prstGeom>
            <a:solidFill>
              <a:schemeClr val="bg2"/>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000" b="1">
                <a:solidFill>
                  <a:schemeClr val="bg1"/>
                </a:solidFill>
                <a:highlight>
                  <a:srgbClr val="FFFF00"/>
                </a:highlight>
                <a:latin typeface="Arial" panose="020B0604020202020204" pitchFamily="34" charset="0"/>
                <a:cs typeface="Arial" panose="020B0604020202020204" pitchFamily="34" charset="0"/>
              </a:endParaRPr>
            </a:p>
          </p:txBody>
        </p:sp>
        <p:sp>
          <p:nvSpPr>
            <p:cNvPr id="49" name="TextBox 48">
              <a:extLst>
                <a:ext uri="{FF2B5EF4-FFF2-40B4-BE49-F238E27FC236}">
                  <a16:creationId xmlns:a16="http://schemas.microsoft.com/office/drawing/2014/main" id="{C1D4C671-FBE8-4869-76D1-6DD166F79761}"/>
                </a:ext>
              </a:extLst>
            </p:cNvPr>
            <p:cNvSpPr txBox="1"/>
            <p:nvPr/>
          </p:nvSpPr>
          <p:spPr>
            <a:xfrm>
              <a:off x="3654719" y="1647649"/>
              <a:ext cx="535399" cy="153888"/>
            </a:xfrm>
            <a:prstGeom prst="rect">
              <a:avLst/>
            </a:prstGeom>
            <a:noFill/>
          </p:spPr>
          <p:txBody>
            <a:bodyPr wrap="square" lIns="0" tIns="0" rIns="0" bIns="0" rtlCol="0">
              <a:spAutoFit/>
            </a:bodyPr>
            <a:lstStyle/>
            <a:p>
              <a:pPr algn="ctr">
                <a:spcBef>
                  <a:spcPts val="488"/>
                </a:spcBef>
                <a:buSzPct val="100000"/>
              </a:pPr>
              <a:r>
                <a:rPr lang="en-US" sz="1000" b="1" i="1">
                  <a:latin typeface="Arial" panose="020B0604020202020204" pitchFamily="34" charset="0"/>
                  <a:cs typeface="Arial" panose="020B0604020202020204" pitchFamily="34" charset="0"/>
                </a:rPr>
                <a:t>4%</a:t>
              </a:r>
            </a:p>
          </p:txBody>
        </p:sp>
      </p:grpSp>
      <p:grpSp>
        <p:nvGrpSpPr>
          <p:cNvPr id="68" name="Group 67">
            <a:extLst>
              <a:ext uri="{FF2B5EF4-FFF2-40B4-BE49-F238E27FC236}">
                <a16:creationId xmlns:a16="http://schemas.microsoft.com/office/drawing/2014/main" id="{9737789C-284A-1870-B56E-86832094F246}"/>
              </a:ext>
            </a:extLst>
          </p:cNvPr>
          <p:cNvGrpSpPr/>
          <p:nvPr/>
        </p:nvGrpSpPr>
        <p:grpSpPr>
          <a:xfrm>
            <a:off x="6863652" y="1654588"/>
            <a:ext cx="833876" cy="293158"/>
            <a:chOff x="5995002" y="1574974"/>
            <a:chExt cx="833876" cy="293158"/>
          </a:xfrm>
        </p:grpSpPr>
        <p:sp>
          <p:nvSpPr>
            <p:cNvPr id="46" name="Arrow: Up 45">
              <a:extLst>
                <a:ext uri="{FF2B5EF4-FFF2-40B4-BE49-F238E27FC236}">
                  <a16:creationId xmlns:a16="http://schemas.microsoft.com/office/drawing/2014/main" id="{45F456A8-4749-503A-DD12-5A1D833A0E53}"/>
                </a:ext>
              </a:extLst>
            </p:cNvPr>
            <p:cNvSpPr/>
            <p:nvPr/>
          </p:nvSpPr>
          <p:spPr bwMode="gray">
            <a:xfrm rot="10800000">
              <a:off x="5995002" y="1574974"/>
              <a:ext cx="833876" cy="293158"/>
            </a:xfrm>
            <a:prstGeom prst="upArrow">
              <a:avLst/>
            </a:prstGeom>
            <a:solidFill>
              <a:schemeClr val="bg2"/>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000" b="1">
                <a:solidFill>
                  <a:schemeClr val="bg1"/>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0FBB93E3-445B-A427-9023-A4D5D6E36D8F}"/>
                </a:ext>
              </a:extLst>
            </p:cNvPr>
            <p:cNvSpPr txBox="1"/>
            <p:nvPr/>
          </p:nvSpPr>
          <p:spPr>
            <a:xfrm>
              <a:off x="6134749" y="1644608"/>
              <a:ext cx="599372" cy="153888"/>
            </a:xfrm>
            <a:prstGeom prst="rect">
              <a:avLst/>
            </a:prstGeom>
            <a:noFill/>
          </p:spPr>
          <p:txBody>
            <a:bodyPr wrap="square" lIns="0" tIns="0" rIns="0" bIns="0" rtlCol="0">
              <a:spAutoFit/>
            </a:bodyPr>
            <a:lstStyle/>
            <a:p>
              <a:pPr algn="ctr">
                <a:spcBef>
                  <a:spcPts val="488"/>
                </a:spcBef>
                <a:buSzPct val="100000"/>
              </a:pPr>
              <a:r>
                <a:rPr lang="en-US" sz="1000" b="1" i="1">
                  <a:latin typeface="Arial" panose="020B0604020202020204" pitchFamily="34" charset="0"/>
                  <a:cs typeface="Arial" panose="020B0604020202020204" pitchFamily="34" charset="0"/>
                </a:rPr>
                <a:t>8%</a:t>
              </a:r>
            </a:p>
          </p:txBody>
        </p:sp>
      </p:grpSp>
      <p:grpSp>
        <p:nvGrpSpPr>
          <p:cNvPr id="67" name="Group 66">
            <a:extLst>
              <a:ext uri="{FF2B5EF4-FFF2-40B4-BE49-F238E27FC236}">
                <a16:creationId xmlns:a16="http://schemas.microsoft.com/office/drawing/2014/main" id="{1BC689A0-EAFF-3238-A09D-A421A43AC9A6}"/>
              </a:ext>
            </a:extLst>
          </p:cNvPr>
          <p:cNvGrpSpPr/>
          <p:nvPr/>
        </p:nvGrpSpPr>
        <p:grpSpPr>
          <a:xfrm>
            <a:off x="9983140" y="1654588"/>
            <a:ext cx="646030" cy="293158"/>
            <a:chOff x="8272552" y="1574974"/>
            <a:chExt cx="646030" cy="293158"/>
          </a:xfrm>
        </p:grpSpPr>
        <p:sp>
          <p:nvSpPr>
            <p:cNvPr id="48" name="Arrow: Up 47">
              <a:extLst>
                <a:ext uri="{FF2B5EF4-FFF2-40B4-BE49-F238E27FC236}">
                  <a16:creationId xmlns:a16="http://schemas.microsoft.com/office/drawing/2014/main" id="{186AE453-586A-20D7-6357-3B77A6D0D1B4}"/>
                </a:ext>
              </a:extLst>
            </p:cNvPr>
            <p:cNvSpPr/>
            <p:nvPr/>
          </p:nvSpPr>
          <p:spPr bwMode="gray">
            <a:xfrm rot="10800000">
              <a:off x="8272552" y="1574974"/>
              <a:ext cx="646030" cy="293158"/>
            </a:xfrm>
            <a:prstGeom prst="upArrow">
              <a:avLst/>
            </a:prstGeom>
            <a:solidFill>
              <a:schemeClr val="bg2"/>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000" b="1">
                <a:solidFill>
                  <a:schemeClr val="bg1"/>
                </a:solidFill>
                <a:latin typeface="Arial" panose="020B0604020202020204" pitchFamily="34" charset="0"/>
                <a:cs typeface="Arial" panose="020B0604020202020204" pitchFamily="34" charset="0"/>
              </a:endParaRPr>
            </a:p>
          </p:txBody>
        </p:sp>
        <p:sp>
          <p:nvSpPr>
            <p:cNvPr id="51" name="TextBox 50">
              <a:extLst>
                <a:ext uri="{FF2B5EF4-FFF2-40B4-BE49-F238E27FC236}">
                  <a16:creationId xmlns:a16="http://schemas.microsoft.com/office/drawing/2014/main" id="{EB4E9938-D8E6-CB57-652F-1132BAD50819}"/>
                </a:ext>
              </a:extLst>
            </p:cNvPr>
            <p:cNvSpPr txBox="1"/>
            <p:nvPr/>
          </p:nvSpPr>
          <p:spPr>
            <a:xfrm>
              <a:off x="8373865" y="1636402"/>
              <a:ext cx="459543" cy="153888"/>
            </a:xfrm>
            <a:prstGeom prst="rect">
              <a:avLst/>
            </a:prstGeom>
            <a:noFill/>
          </p:spPr>
          <p:txBody>
            <a:bodyPr wrap="square" lIns="0" tIns="0" rIns="0" bIns="0" rtlCol="0">
              <a:spAutoFit/>
            </a:bodyPr>
            <a:lstStyle/>
            <a:p>
              <a:pPr algn="ctr">
                <a:spcBef>
                  <a:spcPts val="488"/>
                </a:spcBef>
                <a:buSzPct val="100000"/>
              </a:pPr>
              <a:r>
                <a:rPr lang="en-US" sz="1000" b="1" i="1">
                  <a:latin typeface="Arial" panose="020B0604020202020204" pitchFamily="34" charset="0"/>
                  <a:cs typeface="Arial" panose="020B0604020202020204" pitchFamily="34" charset="0"/>
                </a:rPr>
                <a:t>2%</a:t>
              </a:r>
            </a:p>
          </p:txBody>
        </p:sp>
      </p:grpSp>
      <p:sp>
        <p:nvSpPr>
          <p:cNvPr id="54" name="TextBox 53">
            <a:extLst>
              <a:ext uri="{FF2B5EF4-FFF2-40B4-BE49-F238E27FC236}">
                <a16:creationId xmlns:a16="http://schemas.microsoft.com/office/drawing/2014/main" id="{48CDB9EA-50D7-1D54-0AC5-09484F273412}"/>
              </a:ext>
            </a:extLst>
          </p:cNvPr>
          <p:cNvSpPr txBox="1"/>
          <p:nvPr/>
        </p:nvSpPr>
        <p:spPr>
          <a:xfrm>
            <a:off x="503074" y="3837424"/>
            <a:ext cx="5372830" cy="184666"/>
          </a:xfrm>
          <a:prstGeom prst="rect">
            <a:avLst/>
          </a:prstGeom>
          <a:noFill/>
        </p:spPr>
        <p:txBody>
          <a:bodyPr wrap="square" lIns="0" tIns="0" rIns="0" bIns="0" rtlCol="0">
            <a:spAutoFit/>
          </a:bodyPr>
          <a:lstStyle/>
          <a:p>
            <a:pPr algn="ctr">
              <a:spcBef>
                <a:spcPts val="600"/>
              </a:spcBef>
              <a:buSzPct val="100000"/>
            </a:pPr>
            <a:r>
              <a:rPr lang="en-US" sz="1200" b="1">
                <a:latin typeface="Arial" panose="020B0604020202020204" pitchFamily="34" charset="0"/>
                <a:cs typeface="Arial" panose="020B0604020202020204" pitchFamily="34" charset="0"/>
              </a:rPr>
              <a:t>Volume of short-term electricity transactions as a % of total generation</a:t>
            </a:r>
          </a:p>
        </p:txBody>
      </p:sp>
      <p:grpSp>
        <p:nvGrpSpPr>
          <p:cNvPr id="55" name="Group 54">
            <a:extLst>
              <a:ext uri="{FF2B5EF4-FFF2-40B4-BE49-F238E27FC236}">
                <a16:creationId xmlns:a16="http://schemas.microsoft.com/office/drawing/2014/main" id="{0756C1D8-0B45-9029-04CA-EDC06EEFDF89}"/>
              </a:ext>
            </a:extLst>
          </p:cNvPr>
          <p:cNvGrpSpPr/>
          <p:nvPr/>
        </p:nvGrpSpPr>
        <p:grpSpPr>
          <a:xfrm>
            <a:off x="1401343" y="5911033"/>
            <a:ext cx="193040" cy="142240"/>
            <a:chOff x="182880" y="5659120"/>
            <a:chExt cx="193040" cy="142240"/>
          </a:xfrm>
        </p:grpSpPr>
        <p:cxnSp>
          <p:nvCxnSpPr>
            <p:cNvPr id="56" name="Straight Connector 55">
              <a:extLst>
                <a:ext uri="{FF2B5EF4-FFF2-40B4-BE49-F238E27FC236}">
                  <a16:creationId xmlns:a16="http://schemas.microsoft.com/office/drawing/2014/main" id="{ADFE7FEB-47C8-7213-87A4-2C1B6540CCEC}"/>
                </a:ext>
              </a:extLst>
            </p:cNvPr>
            <p:cNvCxnSpPr/>
            <p:nvPr/>
          </p:nvCxnSpPr>
          <p:spPr>
            <a:xfrm>
              <a:off x="182880" y="5679440"/>
              <a:ext cx="91440" cy="12192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0158909C-C76C-4C5A-C6F7-1BA94BDD6ED9}"/>
                </a:ext>
              </a:extLst>
            </p:cNvPr>
            <p:cNvCxnSpPr/>
            <p:nvPr/>
          </p:nvCxnSpPr>
          <p:spPr>
            <a:xfrm>
              <a:off x="284480" y="5659120"/>
              <a:ext cx="91440" cy="12192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grpSp>
        <p:nvGrpSpPr>
          <p:cNvPr id="58" name="Group 57">
            <a:extLst>
              <a:ext uri="{FF2B5EF4-FFF2-40B4-BE49-F238E27FC236}">
                <a16:creationId xmlns:a16="http://schemas.microsoft.com/office/drawing/2014/main" id="{732D7564-5269-3411-F3B3-A52CE060B700}"/>
              </a:ext>
            </a:extLst>
          </p:cNvPr>
          <p:cNvGrpSpPr/>
          <p:nvPr/>
        </p:nvGrpSpPr>
        <p:grpSpPr>
          <a:xfrm>
            <a:off x="2432511" y="5900873"/>
            <a:ext cx="193040" cy="142240"/>
            <a:chOff x="182880" y="5659120"/>
            <a:chExt cx="193040" cy="142240"/>
          </a:xfrm>
        </p:grpSpPr>
        <p:cxnSp>
          <p:nvCxnSpPr>
            <p:cNvPr id="59" name="Straight Connector 58">
              <a:extLst>
                <a:ext uri="{FF2B5EF4-FFF2-40B4-BE49-F238E27FC236}">
                  <a16:creationId xmlns:a16="http://schemas.microsoft.com/office/drawing/2014/main" id="{5E153411-7A93-D569-7655-07ACD69D2F99}"/>
                </a:ext>
              </a:extLst>
            </p:cNvPr>
            <p:cNvCxnSpPr/>
            <p:nvPr/>
          </p:nvCxnSpPr>
          <p:spPr>
            <a:xfrm>
              <a:off x="182880" y="5679440"/>
              <a:ext cx="91440" cy="12192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E4C55D13-1E56-DACB-15D4-534BC511317F}"/>
                </a:ext>
              </a:extLst>
            </p:cNvPr>
            <p:cNvCxnSpPr/>
            <p:nvPr/>
          </p:nvCxnSpPr>
          <p:spPr>
            <a:xfrm>
              <a:off x="284480" y="5659120"/>
              <a:ext cx="91440" cy="12192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61" name="Right Brace 60">
            <a:extLst>
              <a:ext uri="{FF2B5EF4-FFF2-40B4-BE49-F238E27FC236}">
                <a16:creationId xmlns:a16="http://schemas.microsoft.com/office/drawing/2014/main" id="{E6A481C0-5F0A-DBD8-8886-34788AAB40CE}"/>
              </a:ext>
            </a:extLst>
          </p:cNvPr>
          <p:cNvSpPr/>
          <p:nvPr/>
        </p:nvSpPr>
        <p:spPr>
          <a:xfrm rot="16200000">
            <a:off x="2417230" y="3102288"/>
            <a:ext cx="182879" cy="2958761"/>
          </a:xfrm>
          <a:prstGeom prst="rightBrace">
            <a:avLst/>
          </a:prstGeom>
          <a:ln>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2" name="Right Brace 61">
            <a:extLst>
              <a:ext uri="{FF2B5EF4-FFF2-40B4-BE49-F238E27FC236}">
                <a16:creationId xmlns:a16="http://schemas.microsoft.com/office/drawing/2014/main" id="{65D54235-BEE1-0CDD-DA7E-300F51D3630E}"/>
              </a:ext>
            </a:extLst>
          </p:cNvPr>
          <p:cNvSpPr/>
          <p:nvPr/>
        </p:nvSpPr>
        <p:spPr>
          <a:xfrm rot="16200000">
            <a:off x="7096250" y="1625308"/>
            <a:ext cx="143244" cy="5247656"/>
          </a:xfrm>
          <a:prstGeom prst="rightBrace">
            <a:avLst>
              <a:gd name="adj1" fmla="val 8333"/>
              <a:gd name="adj2" fmla="val 52140"/>
            </a:avLst>
          </a:prstGeom>
          <a:ln>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3" name="Rectangle: Rounded Corners 62">
            <a:extLst>
              <a:ext uri="{FF2B5EF4-FFF2-40B4-BE49-F238E27FC236}">
                <a16:creationId xmlns:a16="http://schemas.microsoft.com/office/drawing/2014/main" id="{294F4C41-6E55-9C2A-127A-B03DA545D54B}"/>
              </a:ext>
            </a:extLst>
          </p:cNvPr>
          <p:cNvSpPr/>
          <p:nvPr/>
        </p:nvSpPr>
        <p:spPr bwMode="gray">
          <a:xfrm>
            <a:off x="6761065" y="3957772"/>
            <a:ext cx="1019083" cy="182880"/>
          </a:xfrm>
          <a:prstGeom prst="roundRect">
            <a:avLst/>
          </a:prstGeom>
          <a:solidFill>
            <a:schemeClr val="accent1"/>
          </a:solidFill>
        </p:spPr>
        <p:txBody>
          <a:bodyPr wrap="square" lIns="88900" tIns="88900" rIns="88900" bIns="88900" rtlCol="0" anchor="ctr"/>
          <a:lstStyle/>
          <a:p>
            <a:pPr algn="ctr">
              <a:lnSpc>
                <a:spcPct val="106000"/>
              </a:lnSpc>
              <a:buFont typeface="Wingdings 2" pitchFamily="18" charset="2"/>
              <a:buNone/>
            </a:pPr>
            <a:r>
              <a:rPr lang="en-US" sz="1000">
                <a:solidFill>
                  <a:schemeClr val="bg1"/>
                </a:solidFill>
                <a:latin typeface="Arial" panose="020B0604020202020204" pitchFamily="34" charset="0"/>
                <a:cs typeface="Arial" panose="020B0604020202020204" pitchFamily="34" charset="0"/>
              </a:rPr>
              <a:t>CAGR: 15%</a:t>
            </a:r>
          </a:p>
        </p:txBody>
      </p:sp>
      <p:sp>
        <p:nvSpPr>
          <p:cNvPr id="64" name="Rectangle: Rounded Corners 63">
            <a:extLst>
              <a:ext uri="{FF2B5EF4-FFF2-40B4-BE49-F238E27FC236}">
                <a16:creationId xmlns:a16="http://schemas.microsoft.com/office/drawing/2014/main" id="{C7B16E1A-0530-4184-5C5C-1755FDCB4391}"/>
              </a:ext>
            </a:extLst>
          </p:cNvPr>
          <p:cNvSpPr/>
          <p:nvPr/>
        </p:nvSpPr>
        <p:spPr bwMode="gray">
          <a:xfrm>
            <a:off x="2076146" y="4237908"/>
            <a:ext cx="868795" cy="182880"/>
          </a:xfrm>
          <a:prstGeom prst="roundRect">
            <a:avLst/>
          </a:prstGeom>
          <a:solidFill>
            <a:schemeClr val="accent1"/>
          </a:solidFill>
        </p:spPr>
        <p:txBody>
          <a:bodyPr wrap="square" lIns="88900" tIns="88900" rIns="88900" bIns="88900" rtlCol="0" anchor="ctr"/>
          <a:lstStyle/>
          <a:p>
            <a:pPr algn="ctr">
              <a:lnSpc>
                <a:spcPct val="106000"/>
              </a:lnSpc>
              <a:buFont typeface="Wingdings 2" pitchFamily="18" charset="2"/>
              <a:buNone/>
            </a:pPr>
            <a:r>
              <a:rPr lang="en-US" sz="1000">
                <a:solidFill>
                  <a:schemeClr val="bg1"/>
                </a:solidFill>
                <a:latin typeface="Arial" panose="020B0604020202020204" pitchFamily="34" charset="0"/>
                <a:cs typeface="Arial" panose="020B0604020202020204" pitchFamily="34" charset="0"/>
              </a:rPr>
              <a:t>CAGR: 8%</a:t>
            </a:r>
          </a:p>
        </p:txBody>
      </p:sp>
      <p:sp>
        <p:nvSpPr>
          <p:cNvPr id="65" name="TextBox 64">
            <a:extLst>
              <a:ext uri="{FF2B5EF4-FFF2-40B4-BE49-F238E27FC236}">
                <a16:creationId xmlns:a16="http://schemas.microsoft.com/office/drawing/2014/main" id="{520B66F9-8C16-0125-3DBA-382E92809EA0}"/>
              </a:ext>
            </a:extLst>
          </p:cNvPr>
          <p:cNvSpPr txBox="1"/>
          <p:nvPr/>
        </p:nvSpPr>
        <p:spPr>
          <a:xfrm>
            <a:off x="10543996" y="4540627"/>
            <a:ext cx="1033883" cy="1200329"/>
          </a:xfrm>
          <a:prstGeom prst="rect">
            <a:avLst/>
          </a:prstGeom>
          <a:ln>
            <a:noFill/>
          </a:ln>
        </p:spPr>
        <p:style>
          <a:lnRef idx="2">
            <a:schemeClr val="accent5"/>
          </a:lnRef>
          <a:fillRef idx="1">
            <a:schemeClr val="lt1"/>
          </a:fillRef>
          <a:effectRef idx="0">
            <a:schemeClr val="accent5"/>
          </a:effectRef>
          <a:fontRef idx="minor">
            <a:schemeClr val="dk1"/>
          </a:fontRef>
        </p:style>
        <p:txBody>
          <a:bodyPr wrap="square">
            <a:spAutoFit/>
          </a:bodyPr>
          <a:lstStyle/>
          <a:p>
            <a:pPr algn="ctr"/>
            <a:r>
              <a:rPr lang="en-US" sz="1200">
                <a:solidFill>
                  <a:srgbClr val="000000"/>
                </a:solidFill>
                <a:latin typeface="Arial" panose="020B0604020202020204" pitchFamily="34" charset="0"/>
                <a:cs typeface="Arial" panose="020B0604020202020204" pitchFamily="34" charset="0"/>
              </a:rPr>
              <a:t>Electricity sold in exchange in FY25:</a:t>
            </a:r>
          </a:p>
          <a:p>
            <a:pPr algn="ctr"/>
            <a:r>
              <a:rPr lang="en-US" sz="1200">
                <a:solidFill>
                  <a:srgbClr val="000000"/>
                </a:solidFill>
                <a:latin typeface="Arial" panose="020B0604020202020204" pitchFamily="34" charset="0"/>
                <a:cs typeface="Arial" panose="020B0604020202020204" pitchFamily="34" charset="0"/>
              </a:rPr>
              <a:t>~144 Bn units</a:t>
            </a:r>
            <a:endParaRPr lang="en-US" sz="1200">
              <a:latin typeface="Arial" panose="020B0604020202020204" pitchFamily="34" charset="0"/>
              <a:cs typeface="Arial" panose="020B0604020202020204" pitchFamily="34" charset="0"/>
            </a:endParaRPr>
          </a:p>
        </p:txBody>
      </p:sp>
      <p:sp>
        <p:nvSpPr>
          <p:cNvPr id="66" name="Arrow: Right 65">
            <a:extLst>
              <a:ext uri="{FF2B5EF4-FFF2-40B4-BE49-F238E27FC236}">
                <a16:creationId xmlns:a16="http://schemas.microsoft.com/office/drawing/2014/main" id="{269E983E-1CB0-F6F2-E30C-2239EA802B56}"/>
              </a:ext>
            </a:extLst>
          </p:cNvPr>
          <p:cNvSpPr/>
          <p:nvPr/>
        </p:nvSpPr>
        <p:spPr bwMode="gray">
          <a:xfrm>
            <a:off x="10231640" y="4896364"/>
            <a:ext cx="216217" cy="244427"/>
          </a:xfrm>
          <a:prstGeom prst="rightArrow">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6" name="TextBox 15">
            <a:extLst>
              <a:ext uri="{FF2B5EF4-FFF2-40B4-BE49-F238E27FC236}">
                <a16:creationId xmlns:a16="http://schemas.microsoft.com/office/drawing/2014/main" id="{8FE6D038-1618-F05B-993C-5C58AE065742}"/>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Central Electricity Regulatory Commission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27974217"/>
      </p:ext>
    </p:extLst>
  </p:cSld>
  <p:clrMapOvr>
    <a:masterClrMapping/>
  </p:clrMapOvr>
  <p:transition>
    <p:fade/>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407832280"/>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Electricity trading in India | Overview of segments in power exchanges</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r>
              <a:rPr lang="en-US" sz="1400">
                <a:latin typeface="Arial" panose="020B0604020202020204" pitchFamily="34" charset="0"/>
                <a:cs typeface="Arial" panose="020B0604020202020204" pitchFamily="34" charset="0"/>
              </a:rPr>
              <a:t>Entities with membership in power exchanges can transact on real time, day ahead and term ahead (up to 90 days) basis</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F94C46F3-9DA3-702C-8025-CBF4BBCA0F89}"/>
              </a:ext>
            </a:extLst>
          </p:cNvPr>
          <p:cNvSpPr/>
          <p:nvPr/>
        </p:nvSpPr>
        <p:spPr bwMode="gray">
          <a:xfrm>
            <a:off x="752483" y="1233249"/>
            <a:ext cx="10871196" cy="1240681"/>
          </a:xfrm>
          <a:prstGeom prst="rect">
            <a:avLst/>
          </a:prstGeom>
          <a:noFill/>
          <a:ln w="12700">
            <a:prstDash val="lgDash"/>
            <a:headEnd/>
            <a:tailEnd/>
          </a:ln>
        </p:spPr>
        <p:style>
          <a:lnRef idx="2">
            <a:schemeClr val="accent6"/>
          </a:lnRef>
          <a:fillRef idx="1">
            <a:schemeClr val="lt1"/>
          </a:fillRef>
          <a:effectRef idx="0">
            <a:schemeClr val="accent6"/>
          </a:effectRef>
          <a:fontRef idx="minor">
            <a:schemeClr val="dk1"/>
          </a:fontRef>
        </p:style>
        <p:txBody>
          <a:bodyPr wrap="square" lIns="72231" tIns="72231" rIns="72231" bIns="72231" rtlCol="0" anchor="ctr"/>
          <a:lstStyle/>
          <a:p>
            <a:pPr algn="ctr">
              <a:lnSpc>
                <a:spcPct val="106000"/>
              </a:lnSpc>
              <a:buFont typeface="Wingdings 2" pitchFamily="18" charset="2"/>
              <a:buNone/>
            </a:pPr>
            <a:endParaRPr lang="en-US" sz="1000" b="1">
              <a:solidFill>
                <a:schemeClr val="bg1"/>
              </a:solidFill>
              <a:latin typeface="Arial" panose="020B0604020202020204" pitchFamily="34" charset="0"/>
              <a:cs typeface="Arial" panose="020B0604020202020204" pitchFamily="34" charset="0"/>
            </a:endParaRPr>
          </a:p>
        </p:txBody>
      </p:sp>
      <p:sp>
        <p:nvSpPr>
          <p:cNvPr id="14" name="Rectangle 42">
            <a:extLst>
              <a:ext uri="{FF2B5EF4-FFF2-40B4-BE49-F238E27FC236}">
                <a16:creationId xmlns:a16="http://schemas.microsoft.com/office/drawing/2014/main" id="{EAE3971C-36E6-2686-6D34-BF78D9164BB9}"/>
              </a:ext>
            </a:extLst>
          </p:cNvPr>
          <p:cNvSpPr/>
          <p:nvPr/>
        </p:nvSpPr>
        <p:spPr>
          <a:xfrm>
            <a:off x="7766670" y="2843863"/>
            <a:ext cx="3932377" cy="969496"/>
          </a:xfrm>
          <a:prstGeom prst="rect">
            <a:avLst/>
          </a:prstGeom>
        </p:spPr>
        <p:txBody>
          <a:bodyPr wrap="square" lIns="91440" tIns="0" rIns="0" bIns="0">
            <a:spAutoFit/>
          </a:bodyPr>
          <a:lstStyle/>
          <a:p>
            <a:r>
              <a:rPr lang="en-US" sz="900" b="1">
                <a:latin typeface="Arial" panose="020B0604020202020204" pitchFamily="34" charset="0"/>
                <a:cs typeface="Arial" panose="020B0604020202020204" pitchFamily="34" charset="0"/>
              </a:rPr>
              <a:t>Intraday Market &amp; Contingency Market Segment</a:t>
            </a:r>
            <a:endParaRPr lang="en-US" altLang="zh-CN" sz="900" b="1">
              <a:latin typeface="Arial" panose="020B0604020202020204" pitchFamily="34" charset="0"/>
              <a:cs typeface="Arial" panose="020B0604020202020204" pitchFamily="34" charset="0"/>
            </a:endParaRPr>
          </a:p>
          <a:p>
            <a:pPr marL="139303" indent="-139303">
              <a:buFont typeface="Arial" panose="020B0604020202020204" pitchFamily="34" charset="0"/>
              <a:buChar char="•"/>
            </a:pPr>
            <a:r>
              <a:rPr lang="en-US" altLang="zh-CN" sz="900" b="1">
                <a:latin typeface="Arial" panose="020B0604020202020204" pitchFamily="34" charset="0"/>
                <a:cs typeface="Arial" panose="020B0604020202020204" pitchFamily="34" charset="0"/>
              </a:rPr>
              <a:t>Intraday Market</a:t>
            </a:r>
            <a:r>
              <a:rPr lang="en-US" altLang="zh-CN" sz="900">
                <a:latin typeface="Arial" panose="020B0604020202020204" pitchFamily="34" charset="0"/>
                <a:cs typeface="Arial" panose="020B0604020202020204" pitchFamily="34" charset="0"/>
              </a:rPr>
              <a:t>: hourly and or 15-minute contracts on same day on rolling basis</a:t>
            </a:r>
          </a:p>
          <a:p>
            <a:pPr marL="139303" indent="-139303">
              <a:buFont typeface="Arial" panose="020B0604020202020204" pitchFamily="34" charset="0"/>
              <a:buChar char="•"/>
            </a:pPr>
            <a:r>
              <a:rPr lang="en-US" altLang="zh-CN" sz="900" b="1">
                <a:latin typeface="Arial" panose="020B0604020202020204" pitchFamily="34" charset="0"/>
                <a:cs typeface="Arial" panose="020B0604020202020204" pitchFamily="34" charset="0"/>
              </a:rPr>
              <a:t>Day-Ahead Contingency</a:t>
            </a:r>
            <a:r>
              <a:rPr lang="en-US" altLang="zh-CN" sz="900">
                <a:latin typeface="Arial" panose="020B0604020202020204" pitchFamily="34" charset="0"/>
                <a:cs typeface="Arial" panose="020B0604020202020204" pitchFamily="34" charset="0"/>
              </a:rPr>
              <a:t>: 24-hourly and/or 15-minute contracts on day-ahead basis for 00:00 hours to 24:00 hours of next day</a:t>
            </a:r>
          </a:p>
          <a:p>
            <a:pPr marL="139303" indent="-139303">
              <a:buFont typeface="Arial" panose="020B0604020202020204" pitchFamily="34" charset="0"/>
              <a:buChar char="•"/>
            </a:pPr>
            <a:r>
              <a:rPr lang="en-US" sz="900">
                <a:latin typeface="Arial" panose="020B0604020202020204" pitchFamily="34" charset="0"/>
                <a:cs typeface="Arial" panose="020B0604020202020204" pitchFamily="34" charset="0"/>
              </a:rPr>
              <a:t>Continuous trading (</a:t>
            </a:r>
            <a:r>
              <a:rPr lang="en-US" sz="900">
                <a:solidFill>
                  <a:srgbClr val="202124"/>
                </a:solidFill>
                <a:latin typeface="Arial" panose="020B0604020202020204" pitchFamily="34" charset="0"/>
                <a:cs typeface="Arial" panose="020B0604020202020204" pitchFamily="34" charset="0"/>
              </a:rPr>
              <a:t>Buyers &amp; sellers are matched on continuous basis with price-time priority)</a:t>
            </a:r>
            <a:endParaRPr lang="pt-BR" altLang="zh-CN" sz="900">
              <a:latin typeface="Arial" panose="020B0604020202020204" pitchFamily="34" charset="0"/>
              <a:cs typeface="Arial" panose="020B0604020202020204" pitchFamily="34" charset="0"/>
            </a:endParaRPr>
          </a:p>
        </p:txBody>
      </p:sp>
      <p:grpSp>
        <p:nvGrpSpPr>
          <p:cNvPr id="129" name="Group 128">
            <a:extLst>
              <a:ext uri="{FF2B5EF4-FFF2-40B4-BE49-F238E27FC236}">
                <a16:creationId xmlns:a16="http://schemas.microsoft.com/office/drawing/2014/main" id="{C7B7A591-EC6E-7CEB-E8AA-696F5FD50FD3}"/>
              </a:ext>
            </a:extLst>
          </p:cNvPr>
          <p:cNvGrpSpPr/>
          <p:nvPr/>
        </p:nvGrpSpPr>
        <p:grpSpPr>
          <a:xfrm>
            <a:off x="7868339" y="2613128"/>
            <a:ext cx="2862831" cy="205265"/>
            <a:chOff x="7868339" y="2588242"/>
            <a:chExt cx="2862831" cy="205265"/>
          </a:xfrm>
        </p:grpSpPr>
        <p:sp>
          <p:nvSpPr>
            <p:cNvPr id="15" name="Rectangle 44">
              <a:extLst>
                <a:ext uri="{FF2B5EF4-FFF2-40B4-BE49-F238E27FC236}">
                  <a16:creationId xmlns:a16="http://schemas.microsoft.com/office/drawing/2014/main" id="{92EE4C1D-00A0-1C96-6F6B-F0CF7902F11B}"/>
                </a:ext>
              </a:extLst>
            </p:cNvPr>
            <p:cNvSpPr/>
            <p:nvPr/>
          </p:nvSpPr>
          <p:spPr>
            <a:xfrm>
              <a:off x="8163159" y="2588242"/>
              <a:ext cx="2568011" cy="153888"/>
            </a:xfrm>
            <a:prstGeom prst="rect">
              <a:avLst/>
            </a:prstGeom>
          </p:spPr>
          <p:txBody>
            <a:bodyPr wrap="none" lIns="0" tIns="0" rIns="0" bIns="0">
              <a:spAutoFit/>
            </a:bodyPr>
            <a:lstStyle/>
            <a:p>
              <a:r>
                <a:rPr lang="en-US" sz="1000" b="1">
                  <a:solidFill>
                    <a:srgbClr val="43B02A"/>
                  </a:solidFill>
                  <a:latin typeface="Arial" panose="020B0604020202020204" pitchFamily="34" charset="0"/>
                  <a:cs typeface="Arial" panose="020B0604020202020204" pitchFamily="34" charset="0"/>
                </a:rPr>
                <a:t>Term Ahead Market (TAM) and Green TAM</a:t>
              </a:r>
            </a:p>
          </p:txBody>
        </p:sp>
        <p:sp>
          <p:nvSpPr>
            <p:cNvPr id="16" name="Rectangle 45">
              <a:extLst>
                <a:ext uri="{FF2B5EF4-FFF2-40B4-BE49-F238E27FC236}">
                  <a16:creationId xmlns:a16="http://schemas.microsoft.com/office/drawing/2014/main" id="{420C2917-ACE9-1EE2-1572-5AB4D93135DE}"/>
                </a:ext>
              </a:extLst>
            </p:cNvPr>
            <p:cNvSpPr/>
            <p:nvPr/>
          </p:nvSpPr>
          <p:spPr bwMode="gray">
            <a:xfrm>
              <a:off x="7868339" y="2728347"/>
              <a:ext cx="270807" cy="43637"/>
            </a:xfrm>
            <a:prstGeom prst="rect">
              <a:avLst/>
            </a:prstGeom>
            <a:solidFill>
              <a:srgbClr val="43B02A"/>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a:solidFill>
                  <a:schemeClr val="bg1"/>
                </a:solidFill>
                <a:latin typeface="Arial" panose="020B0604020202020204" pitchFamily="34" charset="0"/>
                <a:cs typeface="Arial" panose="020B0604020202020204" pitchFamily="34" charset="0"/>
              </a:endParaRPr>
            </a:p>
          </p:txBody>
        </p:sp>
        <p:sp>
          <p:nvSpPr>
            <p:cNvPr id="17" name="Freeform 48">
              <a:extLst>
                <a:ext uri="{FF2B5EF4-FFF2-40B4-BE49-F238E27FC236}">
                  <a16:creationId xmlns:a16="http://schemas.microsoft.com/office/drawing/2014/main" id="{A5610810-1A9A-EAC4-C4F1-6A833EF54503}"/>
                </a:ext>
              </a:extLst>
            </p:cNvPr>
            <p:cNvSpPr/>
            <p:nvPr/>
          </p:nvSpPr>
          <p:spPr bwMode="gray">
            <a:xfrm>
              <a:off x="7882100" y="2756360"/>
              <a:ext cx="2807927" cy="37147"/>
            </a:xfrm>
            <a:custGeom>
              <a:avLst/>
              <a:gdLst>
                <a:gd name="connsiteX0" fmla="*/ 2491740 w 2491740"/>
                <a:gd name="connsiteY0" fmla="*/ 0 h 510540"/>
                <a:gd name="connsiteX1" fmla="*/ 0 w 2491740"/>
                <a:gd name="connsiteY1" fmla="*/ 0 h 510540"/>
                <a:gd name="connsiteX2" fmla="*/ 0 w 2491740"/>
                <a:gd name="connsiteY2" fmla="*/ 510540 h 510540"/>
                <a:gd name="connsiteX0" fmla="*/ 2491740 w 2491740"/>
                <a:gd name="connsiteY0" fmla="*/ 0 h 0"/>
                <a:gd name="connsiteX1" fmla="*/ 0 w 2491740"/>
                <a:gd name="connsiteY1" fmla="*/ 0 h 0"/>
              </a:gdLst>
              <a:ahLst/>
              <a:cxnLst>
                <a:cxn ang="0">
                  <a:pos x="connsiteX0" y="connsiteY0"/>
                </a:cxn>
                <a:cxn ang="0">
                  <a:pos x="connsiteX1" y="connsiteY1"/>
                </a:cxn>
              </a:cxnLst>
              <a:rect l="l" t="t" r="r" b="b"/>
              <a:pathLst>
                <a:path w="2491740">
                  <a:moveTo>
                    <a:pt x="2491740" y="0"/>
                  </a:moveTo>
                  <a:lnTo>
                    <a:pt x="0" y="0"/>
                  </a:lnTo>
                </a:path>
              </a:pathLst>
            </a:custGeom>
            <a:noFill/>
            <a:ln w="19050" algn="ctr">
              <a:solidFill>
                <a:srgbClr val="43B02A"/>
              </a:solidFill>
              <a:prstDash val="sysDash"/>
              <a:miter lim="800000"/>
              <a:headEnd type="none"/>
              <a:tailEnd/>
            </a:ln>
          </p:spPr>
          <p:txBody>
            <a:bodyPr rtlCol="0" anchor="ctr"/>
            <a:lstStyle/>
            <a:p>
              <a:pPr algn="ctr"/>
              <a:endParaRPr lang="en-US" sz="1000">
                <a:latin typeface="Arial" panose="020B0604020202020204" pitchFamily="34" charset="0"/>
                <a:cs typeface="Arial" panose="020B0604020202020204" pitchFamily="34" charset="0"/>
              </a:endParaRPr>
            </a:p>
          </p:txBody>
        </p:sp>
      </p:grpSp>
      <p:sp>
        <p:nvSpPr>
          <p:cNvPr id="22" name="Rectangle 42">
            <a:extLst>
              <a:ext uri="{FF2B5EF4-FFF2-40B4-BE49-F238E27FC236}">
                <a16:creationId xmlns:a16="http://schemas.microsoft.com/office/drawing/2014/main" id="{A754E5BA-986E-F49D-92BE-D51B0C289FB6}"/>
              </a:ext>
            </a:extLst>
          </p:cNvPr>
          <p:cNvSpPr/>
          <p:nvPr/>
        </p:nvSpPr>
        <p:spPr>
          <a:xfrm>
            <a:off x="7783296" y="5489599"/>
            <a:ext cx="3245692" cy="415498"/>
          </a:xfrm>
          <a:prstGeom prst="rect">
            <a:avLst/>
          </a:prstGeom>
        </p:spPr>
        <p:txBody>
          <a:bodyPr wrap="square" lIns="91440" tIns="0" rIns="0" bIns="0">
            <a:spAutoFit/>
          </a:bodyPr>
          <a:lstStyle/>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Green Attributes as Certificates</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Sellers: RE generators not covered under feed in tariffs</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Buyers: Obligated entities; 1 MWh is equivalent to 1 REC</a:t>
            </a:r>
          </a:p>
        </p:txBody>
      </p:sp>
      <p:grpSp>
        <p:nvGrpSpPr>
          <p:cNvPr id="70" name="Group 69">
            <a:extLst>
              <a:ext uri="{FF2B5EF4-FFF2-40B4-BE49-F238E27FC236}">
                <a16:creationId xmlns:a16="http://schemas.microsoft.com/office/drawing/2014/main" id="{2701EC59-673A-0392-C851-E3D22B589BDD}"/>
              </a:ext>
            </a:extLst>
          </p:cNvPr>
          <p:cNvGrpSpPr/>
          <p:nvPr/>
        </p:nvGrpSpPr>
        <p:grpSpPr>
          <a:xfrm>
            <a:off x="7868339" y="5167797"/>
            <a:ext cx="3245692" cy="227462"/>
            <a:chOff x="6213904" y="5005739"/>
            <a:chExt cx="2571681" cy="204894"/>
          </a:xfrm>
        </p:grpSpPr>
        <p:sp>
          <p:nvSpPr>
            <p:cNvPr id="71" name="Rectangle 44">
              <a:extLst>
                <a:ext uri="{FF2B5EF4-FFF2-40B4-BE49-F238E27FC236}">
                  <a16:creationId xmlns:a16="http://schemas.microsoft.com/office/drawing/2014/main" id="{779748A9-B29C-300E-E5D0-790BF378FD6A}"/>
                </a:ext>
              </a:extLst>
            </p:cNvPr>
            <p:cNvSpPr/>
            <p:nvPr/>
          </p:nvSpPr>
          <p:spPr>
            <a:xfrm>
              <a:off x="6926317" y="5005739"/>
              <a:ext cx="1478417" cy="138620"/>
            </a:xfrm>
            <a:prstGeom prst="rect">
              <a:avLst/>
            </a:prstGeom>
          </p:spPr>
          <p:txBody>
            <a:bodyPr wrap="none" lIns="0" tIns="0" rIns="0" bIns="0">
              <a:spAutoFit/>
            </a:bodyPr>
            <a:lstStyle/>
            <a:p>
              <a:r>
                <a:rPr lang="en-GB" sz="1000" b="1">
                  <a:solidFill>
                    <a:schemeClr val="tx1">
                      <a:lumMod val="65000"/>
                      <a:lumOff val="35000"/>
                    </a:schemeClr>
                  </a:solidFill>
                  <a:latin typeface="Arial" panose="020B0604020202020204" pitchFamily="34" charset="0"/>
                  <a:cs typeface="Arial" panose="020B0604020202020204" pitchFamily="34" charset="0"/>
                </a:rPr>
                <a:t>Renewable Energy Certificates</a:t>
              </a:r>
            </a:p>
          </p:txBody>
        </p:sp>
        <p:sp>
          <p:nvSpPr>
            <p:cNvPr id="72" name="Rectangle 45">
              <a:extLst>
                <a:ext uri="{FF2B5EF4-FFF2-40B4-BE49-F238E27FC236}">
                  <a16:creationId xmlns:a16="http://schemas.microsoft.com/office/drawing/2014/main" id="{C0AC1999-FAA1-2FF5-34F2-A08176B16205}"/>
                </a:ext>
              </a:extLst>
            </p:cNvPr>
            <p:cNvSpPr/>
            <p:nvPr/>
          </p:nvSpPr>
          <p:spPr bwMode="gray">
            <a:xfrm>
              <a:off x="6213904" y="5151539"/>
              <a:ext cx="204750" cy="43637"/>
            </a:xfrm>
            <a:prstGeom prst="rect">
              <a:avLst/>
            </a:prstGeom>
            <a:solidFill>
              <a:srgbClr val="97999B"/>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a:solidFill>
                  <a:schemeClr val="bg1"/>
                </a:solidFill>
                <a:latin typeface="Arial" panose="020B0604020202020204" pitchFamily="34" charset="0"/>
                <a:cs typeface="Arial" panose="020B0604020202020204" pitchFamily="34" charset="0"/>
              </a:endParaRPr>
            </a:p>
          </p:txBody>
        </p:sp>
        <p:sp>
          <p:nvSpPr>
            <p:cNvPr id="73" name="Freeform 48">
              <a:extLst>
                <a:ext uri="{FF2B5EF4-FFF2-40B4-BE49-F238E27FC236}">
                  <a16:creationId xmlns:a16="http://schemas.microsoft.com/office/drawing/2014/main" id="{A00BC43B-3F24-4F34-C773-05765ECB2598}"/>
                </a:ext>
              </a:extLst>
            </p:cNvPr>
            <p:cNvSpPr/>
            <p:nvPr/>
          </p:nvSpPr>
          <p:spPr bwMode="gray">
            <a:xfrm>
              <a:off x="6239321" y="5173486"/>
              <a:ext cx="2546264" cy="37147"/>
            </a:xfrm>
            <a:custGeom>
              <a:avLst/>
              <a:gdLst>
                <a:gd name="connsiteX0" fmla="*/ 2491740 w 2491740"/>
                <a:gd name="connsiteY0" fmla="*/ 0 h 510540"/>
                <a:gd name="connsiteX1" fmla="*/ 0 w 2491740"/>
                <a:gd name="connsiteY1" fmla="*/ 0 h 510540"/>
                <a:gd name="connsiteX2" fmla="*/ 0 w 2491740"/>
                <a:gd name="connsiteY2" fmla="*/ 510540 h 510540"/>
                <a:gd name="connsiteX0" fmla="*/ 2491740 w 2491740"/>
                <a:gd name="connsiteY0" fmla="*/ 0 h 0"/>
                <a:gd name="connsiteX1" fmla="*/ 0 w 2491740"/>
                <a:gd name="connsiteY1" fmla="*/ 0 h 0"/>
              </a:gdLst>
              <a:ahLst/>
              <a:cxnLst>
                <a:cxn ang="0">
                  <a:pos x="connsiteX0" y="connsiteY0"/>
                </a:cxn>
                <a:cxn ang="0">
                  <a:pos x="connsiteX1" y="connsiteY1"/>
                </a:cxn>
              </a:cxnLst>
              <a:rect l="l" t="t" r="r" b="b"/>
              <a:pathLst>
                <a:path w="2491740">
                  <a:moveTo>
                    <a:pt x="2491740" y="0"/>
                  </a:moveTo>
                  <a:lnTo>
                    <a:pt x="0" y="0"/>
                  </a:lnTo>
                </a:path>
              </a:pathLst>
            </a:custGeom>
            <a:noFill/>
            <a:ln w="19050" algn="ctr">
              <a:solidFill>
                <a:srgbClr val="97999B"/>
              </a:solidFill>
              <a:prstDash val="sysDash"/>
              <a:miter lim="800000"/>
              <a:headEnd type="none"/>
              <a:tailEnd/>
            </a:ln>
          </p:spPr>
          <p:txBody>
            <a:bodyPr rtlCol="0" anchor="ctr"/>
            <a:lstStyle/>
            <a:p>
              <a:pPr algn="ctr"/>
              <a:endParaRPr lang="en-US" sz="1000">
                <a:latin typeface="Arial" panose="020B0604020202020204" pitchFamily="34" charset="0"/>
                <a:cs typeface="Arial" panose="020B0604020202020204" pitchFamily="34" charset="0"/>
              </a:endParaRPr>
            </a:p>
          </p:txBody>
        </p:sp>
      </p:grpSp>
      <p:sp>
        <p:nvSpPr>
          <p:cNvPr id="74" name="Rectangle 42">
            <a:extLst>
              <a:ext uri="{FF2B5EF4-FFF2-40B4-BE49-F238E27FC236}">
                <a16:creationId xmlns:a16="http://schemas.microsoft.com/office/drawing/2014/main" id="{EFC40B3F-D629-0D34-20C9-889093FE0809}"/>
              </a:ext>
            </a:extLst>
          </p:cNvPr>
          <p:cNvSpPr/>
          <p:nvPr/>
        </p:nvSpPr>
        <p:spPr>
          <a:xfrm>
            <a:off x="586229" y="5489599"/>
            <a:ext cx="2808412" cy="692497"/>
          </a:xfrm>
          <a:prstGeom prst="rect">
            <a:avLst/>
          </a:prstGeom>
        </p:spPr>
        <p:txBody>
          <a:bodyPr wrap="square" lIns="91440" tIns="0" rIns="0" bIns="0">
            <a:spAutoFit/>
          </a:bodyPr>
          <a:lstStyle/>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Half-hourly market (48 times per day)</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Delivery for 30 mins in two-time blocks of 15 min each</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Double sided closed auction with uniform price</a:t>
            </a:r>
          </a:p>
          <a:p>
            <a:pPr marL="139303" indent="-139303">
              <a:buFont typeface="Arial" panose="020B0604020202020204" pitchFamily="34" charset="0"/>
              <a:buChar char="•"/>
            </a:pPr>
            <a:r>
              <a:rPr lang="pt-BR" altLang="zh-CN" sz="900" b="1">
                <a:latin typeface="Arial" panose="020B0604020202020204" pitchFamily="34" charset="0"/>
                <a:cs typeface="Arial" panose="020B0604020202020204" pitchFamily="34" charset="0"/>
              </a:rPr>
              <a:t>Ancillary services</a:t>
            </a:r>
            <a:r>
              <a:rPr lang="pt-BR" altLang="zh-CN" sz="900" b="1" baseline="30000">
                <a:latin typeface="Arial" panose="020B0604020202020204" pitchFamily="34" charset="0"/>
                <a:cs typeface="Arial" panose="020B0604020202020204" pitchFamily="34" charset="0"/>
              </a:rPr>
              <a:t>#</a:t>
            </a:r>
            <a:r>
              <a:rPr lang="pt-BR" altLang="zh-CN" sz="900" b="1">
                <a:latin typeface="Arial" panose="020B0604020202020204" pitchFamily="34" charset="0"/>
                <a:cs typeface="Arial" panose="020B0604020202020204" pitchFamily="34" charset="0"/>
              </a:rPr>
              <a:t> (RTM-AS)</a:t>
            </a:r>
          </a:p>
        </p:txBody>
      </p:sp>
      <p:grpSp>
        <p:nvGrpSpPr>
          <p:cNvPr id="132" name="Group 131">
            <a:extLst>
              <a:ext uri="{FF2B5EF4-FFF2-40B4-BE49-F238E27FC236}">
                <a16:creationId xmlns:a16="http://schemas.microsoft.com/office/drawing/2014/main" id="{63B040DB-A6CF-D569-08A1-34F05AAE81C2}"/>
              </a:ext>
            </a:extLst>
          </p:cNvPr>
          <p:cNvGrpSpPr/>
          <p:nvPr/>
        </p:nvGrpSpPr>
        <p:grpSpPr>
          <a:xfrm>
            <a:off x="583902" y="5256810"/>
            <a:ext cx="2808412" cy="205212"/>
            <a:chOff x="417644" y="5256810"/>
            <a:chExt cx="2808412" cy="205212"/>
          </a:xfrm>
        </p:grpSpPr>
        <p:sp>
          <p:nvSpPr>
            <p:cNvPr id="75" name="Rectangle 44">
              <a:extLst>
                <a:ext uri="{FF2B5EF4-FFF2-40B4-BE49-F238E27FC236}">
                  <a16:creationId xmlns:a16="http://schemas.microsoft.com/office/drawing/2014/main" id="{C8F23DB9-3717-2FE3-17D4-3948B327E3F8}"/>
                </a:ext>
              </a:extLst>
            </p:cNvPr>
            <p:cNvSpPr/>
            <p:nvPr/>
          </p:nvSpPr>
          <p:spPr>
            <a:xfrm>
              <a:off x="770729" y="5256810"/>
              <a:ext cx="1895758" cy="169277"/>
            </a:xfrm>
            <a:prstGeom prst="rect">
              <a:avLst/>
            </a:prstGeom>
          </p:spPr>
          <p:txBody>
            <a:bodyPr wrap="square" lIns="0" tIns="0" rIns="0" bIns="0">
              <a:spAutoFit/>
            </a:bodyPr>
            <a:lstStyle/>
            <a:p>
              <a:r>
                <a:rPr lang="en-GB" sz="1100" b="1">
                  <a:solidFill>
                    <a:srgbClr val="00A3E0"/>
                  </a:solidFill>
                  <a:latin typeface="Arial" panose="020B0604020202020204" pitchFamily="34" charset="0"/>
                  <a:cs typeface="Arial" panose="020B0604020202020204" pitchFamily="34" charset="0"/>
                </a:rPr>
                <a:t>Real Time Market (RTM)</a:t>
              </a:r>
            </a:p>
          </p:txBody>
        </p:sp>
        <p:sp>
          <p:nvSpPr>
            <p:cNvPr id="76" name="Rectangle 45">
              <a:extLst>
                <a:ext uri="{FF2B5EF4-FFF2-40B4-BE49-F238E27FC236}">
                  <a16:creationId xmlns:a16="http://schemas.microsoft.com/office/drawing/2014/main" id="{302C409A-6A58-25FE-239B-E5BFE1A5CD02}"/>
                </a:ext>
              </a:extLst>
            </p:cNvPr>
            <p:cNvSpPr/>
            <p:nvPr/>
          </p:nvSpPr>
          <p:spPr bwMode="gray">
            <a:xfrm>
              <a:off x="417644" y="5386101"/>
              <a:ext cx="270854" cy="51261"/>
            </a:xfrm>
            <a:prstGeom prst="rect">
              <a:avLst/>
            </a:prstGeom>
            <a:solidFill>
              <a:srgbClr val="00A3E0"/>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100" b="1">
                <a:solidFill>
                  <a:schemeClr val="bg1"/>
                </a:solidFill>
                <a:latin typeface="Calibri" panose="020F0502020204030204" pitchFamily="34" charset="0"/>
                <a:cs typeface="Calibri" panose="020F0502020204030204" pitchFamily="34" charset="0"/>
              </a:endParaRPr>
            </a:p>
          </p:txBody>
        </p:sp>
        <p:sp>
          <p:nvSpPr>
            <p:cNvPr id="77" name="Freeform 48">
              <a:extLst>
                <a:ext uri="{FF2B5EF4-FFF2-40B4-BE49-F238E27FC236}">
                  <a16:creationId xmlns:a16="http://schemas.microsoft.com/office/drawing/2014/main" id="{A26EE718-FB61-E228-57CB-4A92E0B3DE72}"/>
                </a:ext>
              </a:extLst>
            </p:cNvPr>
            <p:cNvSpPr/>
            <p:nvPr/>
          </p:nvSpPr>
          <p:spPr bwMode="gray">
            <a:xfrm>
              <a:off x="417644" y="5416303"/>
              <a:ext cx="2808412" cy="45719"/>
            </a:xfrm>
            <a:custGeom>
              <a:avLst/>
              <a:gdLst>
                <a:gd name="connsiteX0" fmla="*/ 2491740 w 2491740"/>
                <a:gd name="connsiteY0" fmla="*/ 0 h 510540"/>
                <a:gd name="connsiteX1" fmla="*/ 0 w 2491740"/>
                <a:gd name="connsiteY1" fmla="*/ 0 h 510540"/>
                <a:gd name="connsiteX2" fmla="*/ 0 w 2491740"/>
                <a:gd name="connsiteY2" fmla="*/ 510540 h 510540"/>
                <a:gd name="connsiteX0" fmla="*/ 2491740 w 2491740"/>
                <a:gd name="connsiteY0" fmla="*/ 0 h 0"/>
                <a:gd name="connsiteX1" fmla="*/ 0 w 2491740"/>
                <a:gd name="connsiteY1" fmla="*/ 0 h 0"/>
              </a:gdLst>
              <a:ahLst/>
              <a:cxnLst>
                <a:cxn ang="0">
                  <a:pos x="connsiteX0" y="connsiteY0"/>
                </a:cxn>
                <a:cxn ang="0">
                  <a:pos x="connsiteX1" y="connsiteY1"/>
                </a:cxn>
              </a:cxnLst>
              <a:rect l="l" t="t" r="r" b="b"/>
              <a:pathLst>
                <a:path w="2491740">
                  <a:moveTo>
                    <a:pt x="2491740" y="0"/>
                  </a:moveTo>
                  <a:lnTo>
                    <a:pt x="0" y="0"/>
                  </a:lnTo>
                </a:path>
              </a:pathLst>
            </a:custGeom>
            <a:noFill/>
            <a:ln w="19050" algn="ctr">
              <a:solidFill>
                <a:srgbClr val="00A3E0"/>
              </a:solidFill>
              <a:prstDash val="sysDash"/>
              <a:miter lim="800000"/>
              <a:headEnd type="none"/>
              <a:tailEnd/>
            </a:ln>
          </p:spPr>
          <p:txBody>
            <a:bodyPr rtlCol="0" anchor="ctr"/>
            <a:lstStyle/>
            <a:p>
              <a:pPr algn="ctr"/>
              <a:endParaRPr lang="en-US" sz="1100">
                <a:latin typeface="Calibri" panose="020F0502020204030204" pitchFamily="34" charset="0"/>
                <a:cs typeface="Calibri" panose="020F0502020204030204" pitchFamily="34" charset="0"/>
              </a:endParaRPr>
            </a:p>
          </p:txBody>
        </p:sp>
      </p:grpSp>
      <p:sp>
        <p:nvSpPr>
          <p:cNvPr id="78" name="Rectangle 42">
            <a:extLst>
              <a:ext uri="{FF2B5EF4-FFF2-40B4-BE49-F238E27FC236}">
                <a16:creationId xmlns:a16="http://schemas.microsoft.com/office/drawing/2014/main" id="{D3ADFB9F-7827-89BE-F513-0C89CC46757D}"/>
              </a:ext>
            </a:extLst>
          </p:cNvPr>
          <p:cNvSpPr/>
          <p:nvPr/>
        </p:nvSpPr>
        <p:spPr>
          <a:xfrm>
            <a:off x="4727479" y="5524801"/>
            <a:ext cx="1975342" cy="276999"/>
          </a:xfrm>
          <a:prstGeom prst="rect">
            <a:avLst/>
          </a:prstGeom>
        </p:spPr>
        <p:txBody>
          <a:bodyPr wrap="square" lIns="91440" tIns="0" rIns="0" bIns="0">
            <a:spAutoFit/>
          </a:bodyPr>
          <a:lstStyle/>
          <a:p>
            <a:pPr marL="171450" indent="-171450">
              <a:buFont typeface="Arial" panose="020B0604020202020204" pitchFamily="34" charset="0"/>
              <a:buChar char="•"/>
            </a:pPr>
            <a:r>
              <a:rPr lang="en-US" altLang="zh-CN" sz="900">
                <a:latin typeface="Arial" panose="020B0604020202020204" pitchFamily="34" charset="0"/>
                <a:cs typeface="Arial" panose="020B0604020202020204" pitchFamily="34" charset="0"/>
              </a:rPr>
              <a:t>1 ESCert = 1 Mtoe (Metric tonne Oil Equivalent)</a:t>
            </a:r>
          </a:p>
        </p:txBody>
      </p:sp>
      <p:grpSp>
        <p:nvGrpSpPr>
          <p:cNvPr id="130" name="Group 129">
            <a:extLst>
              <a:ext uri="{FF2B5EF4-FFF2-40B4-BE49-F238E27FC236}">
                <a16:creationId xmlns:a16="http://schemas.microsoft.com/office/drawing/2014/main" id="{5D7829B4-38A0-F57C-5753-E196B81289E6}"/>
              </a:ext>
            </a:extLst>
          </p:cNvPr>
          <p:cNvGrpSpPr/>
          <p:nvPr/>
        </p:nvGrpSpPr>
        <p:grpSpPr>
          <a:xfrm>
            <a:off x="4727479" y="5268088"/>
            <a:ext cx="2737042" cy="196639"/>
            <a:chOff x="3524743" y="5268088"/>
            <a:chExt cx="2737042" cy="196639"/>
          </a:xfrm>
        </p:grpSpPr>
        <p:sp>
          <p:nvSpPr>
            <p:cNvPr id="79" name="Rectangle 44">
              <a:extLst>
                <a:ext uri="{FF2B5EF4-FFF2-40B4-BE49-F238E27FC236}">
                  <a16:creationId xmlns:a16="http://schemas.microsoft.com/office/drawing/2014/main" id="{BDEB42B7-45C7-3C33-C2ED-6C8E5A267328}"/>
                </a:ext>
              </a:extLst>
            </p:cNvPr>
            <p:cNvSpPr/>
            <p:nvPr/>
          </p:nvSpPr>
          <p:spPr>
            <a:xfrm>
              <a:off x="3794763" y="5268088"/>
              <a:ext cx="2467022" cy="169277"/>
            </a:xfrm>
            <a:prstGeom prst="rect">
              <a:avLst/>
            </a:prstGeom>
          </p:spPr>
          <p:txBody>
            <a:bodyPr wrap="none" lIns="0" tIns="0" rIns="0" bIns="0">
              <a:spAutoFit/>
            </a:bodyPr>
            <a:lstStyle/>
            <a:p>
              <a:r>
                <a:rPr lang="en-GB" sz="1100" b="1">
                  <a:solidFill>
                    <a:srgbClr val="005587"/>
                  </a:solidFill>
                  <a:latin typeface="Arial" panose="020B0604020202020204" pitchFamily="34" charset="0"/>
                  <a:cs typeface="Arial" panose="020B0604020202020204" pitchFamily="34" charset="0"/>
                </a:rPr>
                <a:t>Energy Saving Certificates (ESCerts)</a:t>
              </a:r>
            </a:p>
          </p:txBody>
        </p:sp>
        <p:sp>
          <p:nvSpPr>
            <p:cNvPr id="80" name="Rectangle 45">
              <a:extLst>
                <a:ext uri="{FF2B5EF4-FFF2-40B4-BE49-F238E27FC236}">
                  <a16:creationId xmlns:a16="http://schemas.microsoft.com/office/drawing/2014/main" id="{5B797443-3FD0-BD8C-689F-99A79B03A32E}"/>
                </a:ext>
              </a:extLst>
            </p:cNvPr>
            <p:cNvSpPr/>
            <p:nvPr/>
          </p:nvSpPr>
          <p:spPr bwMode="gray">
            <a:xfrm>
              <a:off x="3524743" y="5389475"/>
              <a:ext cx="204750" cy="43637"/>
            </a:xfrm>
            <a:prstGeom prst="rect">
              <a:avLst/>
            </a:prstGeom>
            <a:solidFill>
              <a:srgbClr val="005587"/>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100" b="1">
                <a:solidFill>
                  <a:schemeClr val="bg1"/>
                </a:solidFill>
                <a:latin typeface="Calibri" panose="020F0502020204030204" pitchFamily="34" charset="0"/>
                <a:cs typeface="Calibri" panose="020F0502020204030204" pitchFamily="34" charset="0"/>
              </a:endParaRPr>
            </a:p>
          </p:txBody>
        </p:sp>
        <p:sp>
          <p:nvSpPr>
            <p:cNvPr id="81" name="Freeform 48">
              <a:extLst>
                <a:ext uri="{FF2B5EF4-FFF2-40B4-BE49-F238E27FC236}">
                  <a16:creationId xmlns:a16="http://schemas.microsoft.com/office/drawing/2014/main" id="{6105FA93-D53C-BA8C-8FB7-09492533AD8C}"/>
                </a:ext>
              </a:extLst>
            </p:cNvPr>
            <p:cNvSpPr/>
            <p:nvPr/>
          </p:nvSpPr>
          <p:spPr bwMode="gray">
            <a:xfrm>
              <a:off x="3524744" y="5427580"/>
              <a:ext cx="1560195" cy="37147"/>
            </a:xfrm>
            <a:custGeom>
              <a:avLst/>
              <a:gdLst>
                <a:gd name="connsiteX0" fmla="*/ 2491740 w 2491740"/>
                <a:gd name="connsiteY0" fmla="*/ 0 h 510540"/>
                <a:gd name="connsiteX1" fmla="*/ 0 w 2491740"/>
                <a:gd name="connsiteY1" fmla="*/ 0 h 510540"/>
                <a:gd name="connsiteX2" fmla="*/ 0 w 2491740"/>
                <a:gd name="connsiteY2" fmla="*/ 510540 h 510540"/>
                <a:gd name="connsiteX0" fmla="*/ 2491740 w 2491740"/>
                <a:gd name="connsiteY0" fmla="*/ 0 h 0"/>
                <a:gd name="connsiteX1" fmla="*/ 0 w 2491740"/>
                <a:gd name="connsiteY1" fmla="*/ 0 h 0"/>
              </a:gdLst>
              <a:ahLst/>
              <a:cxnLst>
                <a:cxn ang="0">
                  <a:pos x="connsiteX0" y="connsiteY0"/>
                </a:cxn>
                <a:cxn ang="0">
                  <a:pos x="connsiteX1" y="connsiteY1"/>
                </a:cxn>
              </a:cxnLst>
              <a:rect l="l" t="t" r="r" b="b"/>
              <a:pathLst>
                <a:path w="2491740">
                  <a:moveTo>
                    <a:pt x="2491740" y="0"/>
                  </a:moveTo>
                  <a:lnTo>
                    <a:pt x="0" y="0"/>
                  </a:lnTo>
                </a:path>
              </a:pathLst>
            </a:custGeom>
            <a:noFill/>
            <a:ln w="19050" algn="ctr">
              <a:solidFill>
                <a:srgbClr val="005587"/>
              </a:solidFill>
              <a:prstDash val="sysDash"/>
              <a:miter lim="800000"/>
              <a:headEnd type="none"/>
              <a:tailEnd/>
            </a:ln>
          </p:spPr>
          <p:txBody>
            <a:bodyPr rtlCol="0" anchor="ctr"/>
            <a:lstStyle/>
            <a:p>
              <a:pPr algn="ctr"/>
              <a:endParaRPr lang="en-US" sz="1100">
                <a:latin typeface="Calibri" panose="020F0502020204030204" pitchFamily="34" charset="0"/>
                <a:cs typeface="Calibri" panose="020F0502020204030204" pitchFamily="34" charset="0"/>
              </a:endParaRPr>
            </a:p>
          </p:txBody>
        </p:sp>
      </p:grpSp>
      <p:sp>
        <p:nvSpPr>
          <p:cNvPr id="82" name="Rectangle 42">
            <a:extLst>
              <a:ext uri="{FF2B5EF4-FFF2-40B4-BE49-F238E27FC236}">
                <a16:creationId xmlns:a16="http://schemas.microsoft.com/office/drawing/2014/main" id="{78BB5BA1-99BB-B8BA-9DC6-F3479B1F7953}"/>
              </a:ext>
            </a:extLst>
          </p:cNvPr>
          <p:cNvSpPr/>
          <p:nvPr/>
        </p:nvSpPr>
        <p:spPr>
          <a:xfrm>
            <a:off x="580024" y="2843863"/>
            <a:ext cx="3130697" cy="415498"/>
          </a:xfrm>
          <a:prstGeom prst="rect">
            <a:avLst/>
          </a:prstGeom>
        </p:spPr>
        <p:txBody>
          <a:bodyPr wrap="square" lIns="91440" tIns="0" rIns="0" bIns="0">
            <a:spAutoFit/>
          </a:bodyPr>
          <a:lstStyle/>
          <a:p>
            <a:r>
              <a:rPr lang="pt-BR" altLang="zh-CN" sz="900" b="1">
                <a:latin typeface="Arial" panose="020B0604020202020204" pitchFamily="34" charset="0"/>
                <a:cs typeface="Arial" panose="020B0604020202020204" pitchFamily="34" charset="0"/>
              </a:rPr>
              <a:t>DAM</a:t>
            </a:r>
          </a:p>
          <a:p>
            <a:pPr marL="139303" indent="-139303">
              <a:buFont typeface="Arial" panose="020B0604020202020204" pitchFamily="34" charset="0"/>
              <a:buChar char="•"/>
            </a:pPr>
            <a:r>
              <a:rPr lang="pt-BR" altLang="zh-CN" sz="900">
                <a:latin typeface="Arial" panose="020B0604020202020204" pitchFamily="34" charset="0"/>
                <a:cs typeface="Arial" panose="020B0604020202020204" pitchFamily="34" charset="0"/>
              </a:rPr>
              <a:t>Delivery for next day; 15-min contracts; daily trade</a:t>
            </a:r>
          </a:p>
          <a:p>
            <a:pPr marL="139303" indent="-139303">
              <a:buFont typeface="Arial" panose="020B0604020202020204" pitchFamily="34" charset="0"/>
              <a:buChar char="•"/>
            </a:pPr>
            <a:r>
              <a:rPr lang="pt-BR" altLang="zh-CN" sz="900">
                <a:latin typeface="Arial" panose="020B0604020202020204" pitchFamily="34" charset="0"/>
                <a:cs typeface="Arial" panose="020B0604020202020204" pitchFamily="34" charset="0"/>
              </a:rPr>
              <a:t>Price discovery through closed double-sided auction </a:t>
            </a:r>
          </a:p>
        </p:txBody>
      </p:sp>
      <p:grpSp>
        <p:nvGrpSpPr>
          <p:cNvPr id="131" name="Group 130">
            <a:extLst>
              <a:ext uri="{FF2B5EF4-FFF2-40B4-BE49-F238E27FC236}">
                <a16:creationId xmlns:a16="http://schemas.microsoft.com/office/drawing/2014/main" id="{77E1A996-766F-3C74-A38D-BAA233B77C40}"/>
              </a:ext>
            </a:extLst>
          </p:cNvPr>
          <p:cNvGrpSpPr/>
          <p:nvPr/>
        </p:nvGrpSpPr>
        <p:grpSpPr>
          <a:xfrm>
            <a:off x="585706" y="2613128"/>
            <a:ext cx="3130697" cy="157651"/>
            <a:chOff x="419446" y="2585420"/>
            <a:chExt cx="3130697" cy="157651"/>
          </a:xfrm>
        </p:grpSpPr>
        <p:sp>
          <p:nvSpPr>
            <p:cNvPr id="83" name="Rectangle 44">
              <a:extLst>
                <a:ext uri="{FF2B5EF4-FFF2-40B4-BE49-F238E27FC236}">
                  <a16:creationId xmlns:a16="http://schemas.microsoft.com/office/drawing/2014/main" id="{EB5B78E1-9870-EFFE-CDA3-E8C9D44D2EF8}"/>
                </a:ext>
              </a:extLst>
            </p:cNvPr>
            <p:cNvSpPr/>
            <p:nvPr/>
          </p:nvSpPr>
          <p:spPr>
            <a:xfrm>
              <a:off x="772532" y="2585420"/>
              <a:ext cx="2304477" cy="153888"/>
            </a:xfrm>
            <a:prstGeom prst="rect">
              <a:avLst/>
            </a:prstGeom>
          </p:spPr>
          <p:txBody>
            <a:bodyPr wrap="none" lIns="91440" tIns="0" rIns="0" bIns="0">
              <a:spAutoFit/>
            </a:bodyPr>
            <a:lstStyle/>
            <a:p>
              <a:r>
                <a:rPr lang="en-GB" sz="1000" b="1">
                  <a:solidFill>
                    <a:schemeClr val="accent4"/>
                  </a:solidFill>
                  <a:latin typeface="Arial" panose="020B0604020202020204" pitchFamily="34" charset="0"/>
                  <a:cs typeface="Arial" panose="020B0604020202020204" pitchFamily="34" charset="0"/>
                </a:rPr>
                <a:t>Integrated Day Ahead Market (IDAM)</a:t>
              </a:r>
            </a:p>
          </p:txBody>
        </p:sp>
        <p:sp>
          <p:nvSpPr>
            <p:cNvPr id="84" name="Rectangle 45">
              <a:extLst>
                <a:ext uri="{FF2B5EF4-FFF2-40B4-BE49-F238E27FC236}">
                  <a16:creationId xmlns:a16="http://schemas.microsoft.com/office/drawing/2014/main" id="{56041533-2AA0-25AA-18D4-BE9B4BA722A0}"/>
                </a:ext>
              </a:extLst>
            </p:cNvPr>
            <p:cNvSpPr/>
            <p:nvPr/>
          </p:nvSpPr>
          <p:spPr bwMode="gray">
            <a:xfrm>
              <a:off x="419446" y="2699434"/>
              <a:ext cx="204750" cy="43637"/>
            </a:xfrm>
            <a:prstGeom prst="rect">
              <a:avLst/>
            </a:prstGeom>
            <a:solidFill>
              <a:schemeClr val="accent4"/>
            </a:solidFill>
            <a:ln w="19050" algn="ctr">
              <a:noFill/>
              <a:miter lim="800000"/>
              <a:headEnd/>
              <a:tailEnd/>
            </a:ln>
          </p:spPr>
          <p:txBody>
            <a:bodyPr wrap="square" lIns="91440" tIns="72231" rIns="72231" bIns="72231" rtlCol="0" anchor="ctr"/>
            <a:lstStyle/>
            <a:p>
              <a:pPr algn="ctr">
                <a:lnSpc>
                  <a:spcPct val="106000"/>
                </a:lnSpc>
                <a:buFont typeface="Wingdings 2" pitchFamily="18" charset="2"/>
                <a:buNone/>
              </a:pPr>
              <a:endParaRPr lang="en-GB" sz="813" b="1">
                <a:solidFill>
                  <a:schemeClr val="bg1"/>
                </a:solidFill>
                <a:latin typeface="Calibri" panose="020F0502020204030204" pitchFamily="34" charset="0"/>
                <a:cs typeface="Calibri" panose="020F0502020204030204" pitchFamily="34" charset="0"/>
              </a:endParaRPr>
            </a:p>
          </p:txBody>
        </p:sp>
        <p:sp>
          <p:nvSpPr>
            <p:cNvPr id="85" name="Freeform 48">
              <a:extLst>
                <a:ext uri="{FF2B5EF4-FFF2-40B4-BE49-F238E27FC236}">
                  <a16:creationId xmlns:a16="http://schemas.microsoft.com/office/drawing/2014/main" id="{D39FE971-52C4-8C81-8319-5593BD1A06E8}"/>
                </a:ext>
              </a:extLst>
            </p:cNvPr>
            <p:cNvSpPr/>
            <p:nvPr/>
          </p:nvSpPr>
          <p:spPr bwMode="gray">
            <a:xfrm flipV="1">
              <a:off x="419446" y="2674856"/>
              <a:ext cx="3130697" cy="54779"/>
            </a:xfrm>
            <a:custGeom>
              <a:avLst/>
              <a:gdLst>
                <a:gd name="connsiteX0" fmla="*/ 2491740 w 2491740"/>
                <a:gd name="connsiteY0" fmla="*/ 0 h 510540"/>
                <a:gd name="connsiteX1" fmla="*/ 0 w 2491740"/>
                <a:gd name="connsiteY1" fmla="*/ 0 h 510540"/>
                <a:gd name="connsiteX2" fmla="*/ 0 w 2491740"/>
                <a:gd name="connsiteY2" fmla="*/ 510540 h 510540"/>
                <a:gd name="connsiteX0" fmla="*/ 2491740 w 2491740"/>
                <a:gd name="connsiteY0" fmla="*/ 0 h 0"/>
                <a:gd name="connsiteX1" fmla="*/ 0 w 2491740"/>
                <a:gd name="connsiteY1" fmla="*/ 0 h 0"/>
              </a:gdLst>
              <a:ahLst/>
              <a:cxnLst>
                <a:cxn ang="0">
                  <a:pos x="connsiteX0" y="connsiteY0"/>
                </a:cxn>
                <a:cxn ang="0">
                  <a:pos x="connsiteX1" y="connsiteY1"/>
                </a:cxn>
              </a:cxnLst>
              <a:rect l="l" t="t" r="r" b="b"/>
              <a:pathLst>
                <a:path w="2491740">
                  <a:moveTo>
                    <a:pt x="2491740" y="0"/>
                  </a:moveTo>
                  <a:lnTo>
                    <a:pt x="0" y="0"/>
                  </a:lnTo>
                </a:path>
              </a:pathLst>
            </a:custGeom>
            <a:noFill/>
            <a:ln w="19050" algn="ctr">
              <a:solidFill>
                <a:schemeClr val="accent4"/>
              </a:solidFill>
              <a:prstDash val="sysDash"/>
              <a:miter lim="800000"/>
              <a:headEnd type="none"/>
              <a:tailEnd/>
            </a:ln>
          </p:spPr>
          <p:txBody>
            <a:bodyPr lIns="91440" rtlCol="0" anchor="ctr"/>
            <a:lstStyle/>
            <a:p>
              <a:pPr algn="ctr"/>
              <a:endParaRPr lang="en-US" sz="813">
                <a:latin typeface="Calibri" panose="020F0502020204030204" pitchFamily="34" charset="0"/>
                <a:cs typeface="Calibri" panose="020F0502020204030204" pitchFamily="34" charset="0"/>
              </a:endParaRPr>
            </a:p>
          </p:txBody>
        </p:sp>
      </p:grpSp>
      <p:grpSp>
        <p:nvGrpSpPr>
          <p:cNvPr id="86" name="Group 85">
            <a:extLst>
              <a:ext uri="{FF2B5EF4-FFF2-40B4-BE49-F238E27FC236}">
                <a16:creationId xmlns:a16="http://schemas.microsoft.com/office/drawing/2014/main" id="{9F15B402-1F85-AF71-FF97-4096CF2EA73D}"/>
              </a:ext>
            </a:extLst>
          </p:cNvPr>
          <p:cNvGrpSpPr/>
          <p:nvPr/>
        </p:nvGrpSpPr>
        <p:grpSpPr>
          <a:xfrm>
            <a:off x="4836000" y="2826296"/>
            <a:ext cx="2340000" cy="2160000"/>
            <a:chOff x="4261160" y="1805715"/>
            <a:chExt cx="3855728" cy="3635401"/>
          </a:xfrm>
        </p:grpSpPr>
        <p:grpSp>
          <p:nvGrpSpPr>
            <p:cNvPr id="87" name="Group 86">
              <a:extLst>
                <a:ext uri="{FF2B5EF4-FFF2-40B4-BE49-F238E27FC236}">
                  <a16:creationId xmlns:a16="http://schemas.microsoft.com/office/drawing/2014/main" id="{A7C6C81F-F928-1058-F175-FE50AE62D76B}"/>
                </a:ext>
              </a:extLst>
            </p:cNvPr>
            <p:cNvGrpSpPr>
              <a:grpSpLocks noChangeAspect="1"/>
            </p:cNvGrpSpPr>
            <p:nvPr/>
          </p:nvGrpSpPr>
          <p:grpSpPr bwMode="auto">
            <a:xfrm>
              <a:off x="4261160" y="1805715"/>
              <a:ext cx="3855728" cy="3635401"/>
              <a:chOff x="2127" y="1450"/>
              <a:chExt cx="1505" cy="1419"/>
            </a:xfrm>
          </p:grpSpPr>
          <p:sp>
            <p:nvSpPr>
              <p:cNvPr id="107" name="AutoShape 3">
                <a:extLst>
                  <a:ext uri="{FF2B5EF4-FFF2-40B4-BE49-F238E27FC236}">
                    <a16:creationId xmlns:a16="http://schemas.microsoft.com/office/drawing/2014/main" id="{5F114134-5FA2-E100-141E-0A0311B5F9C2}"/>
                  </a:ext>
                </a:extLst>
              </p:cNvPr>
              <p:cNvSpPr>
                <a:spLocks noChangeAspect="1" noChangeArrowheads="1" noTextEdit="1"/>
              </p:cNvSpPr>
              <p:nvPr/>
            </p:nvSpPr>
            <p:spPr bwMode="auto">
              <a:xfrm>
                <a:off x="2128" y="1451"/>
                <a:ext cx="1504" cy="1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endParaRPr lang="zh-CN" altLang="en-US" sz="1463"/>
              </a:p>
            </p:txBody>
          </p:sp>
          <p:sp>
            <p:nvSpPr>
              <p:cNvPr id="108" name="Freeform 5">
                <a:extLst>
                  <a:ext uri="{FF2B5EF4-FFF2-40B4-BE49-F238E27FC236}">
                    <a16:creationId xmlns:a16="http://schemas.microsoft.com/office/drawing/2014/main" id="{DB281EEF-BC26-D6FE-96EC-34FBF1970CD7}"/>
                  </a:ext>
                </a:extLst>
              </p:cNvPr>
              <p:cNvSpPr>
                <a:spLocks/>
              </p:cNvSpPr>
              <p:nvPr/>
            </p:nvSpPr>
            <p:spPr bwMode="auto">
              <a:xfrm>
                <a:off x="2646" y="1450"/>
                <a:ext cx="465" cy="774"/>
              </a:xfrm>
              <a:custGeom>
                <a:avLst/>
                <a:gdLst>
                  <a:gd name="T0" fmla="*/ 191 w 381"/>
                  <a:gd name="T1" fmla="*/ 0 h 634"/>
                  <a:gd name="T2" fmla="*/ 0 w 381"/>
                  <a:gd name="T3" fmla="*/ 317 h 634"/>
                  <a:gd name="T4" fmla="*/ 9 w 381"/>
                  <a:gd name="T5" fmla="*/ 385 h 634"/>
                  <a:gd name="T6" fmla="*/ 190 w 381"/>
                  <a:gd name="T7" fmla="*/ 634 h 634"/>
                  <a:gd name="T8" fmla="*/ 191 w 381"/>
                  <a:gd name="T9" fmla="*/ 634 h 634"/>
                  <a:gd name="T10" fmla="*/ 381 w 381"/>
                  <a:gd name="T11" fmla="*/ 317 h 634"/>
                  <a:gd name="T12" fmla="*/ 191 w 381"/>
                  <a:gd name="T13" fmla="*/ 0 h 634"/>
                </a:gdLst>
                <a:ahLst/>
                <a:cxnLst>
                  <a:cxn ang="0">
                    <a:pos x="T0" y="T1"/>
                  </a:cxn>
                  <a:cxn ang="0">
                    <a:pos x="T2" y="T3"/>
                  </a:cxn>
                  <a:cxn ang="0">
                    <a:pos x="T4" y="T5"/>
                  </a:cxn>
                  <a:cxn ang="0">
                    <a:pos x="T6" y="T7"/>
                  </a:cxn>
                  <a:cxn ang="0">
                    <a:pos x="T8" y="T9"/>
                  </a:cxn>
                  <a:cxn ang="0">
                    <a:pos x="T10" y="T11"/>
                  </a:cxn>
                  <a:cxn ang="0">
                    <a:pos x="T12" y="T13"/>
                  </a:cxn>
                </a:cxnLst>
                <a:rect l="0" t="0" r="r" b="b"/>
                <a:pathLst>
                  <a:path w="381" h="634">
                    <a:moveTo>
                      <a:pt x="191" y="0"/>
                    </a:moveTo>
                    <a:cubicBezTo>
                      <a:pt x="191" y="0"/>
                      <a:pt x="0" y="142"/>
                      <a:pt x="0" y="317"/>
                    </a:cubicBezTo>
                    <a:cubicBezTo>
                      <a:pt x="0" y="340"/>
                      <a:pt x="3" y="363"/>
                      <a:pt x="9" y="385"/>
                    </a:cubicBezTo>
                    <a:cubicBezTo>
                      <a:pt x="129" y="462"/>
                      <a:pt x="186" y="622"/>
                      <a:pt x="190" y="634"/>
                    </a:cubicBezTo>
                    <a:cubicBezTo>
                      <a:pt x="191" y="634"/>
                      <a:pt x="191" y="634"/>
                      <a:pt x="191" y="634"/>
                    </a:cubicBezTo>
                    <a:cubicBezTo>
                      <a:pt x="191" y="634"/>
                      <a:pt x="381" y="492"/>
                      <a:pt x="381" y="317"/>
                    </a:cubicBezTo>
                    <a:cubicBezTo>
                      <a:pt x="381" y="142"/>
                      <a:pt x="191" y="0"/>
                      <a:pt x="191"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zh-CN" altLang="en-US" sz="1463">
                  <a:latin typeface="Calibri" panose="020F0502020204030204" pitchFamily="34" charset="0"/>
                  <a:cs typeface="Calibri" panose="020F0502020204030204" pitchFamily="34" charset="0"/>
                </a:endParaRPr>
              </a:p>
            </p:txBody>
          </p:sp>
          <p:sp>
            <p:nvSpPr>
              <p:cNvPr id="109" name="Freeform 6">
                <a:extLst>
                  <a:ext uri="{FF2B5EF4-FFF2-40B4-BE49-F238E27FC236}">
                    <a16:creationId xmlns:a16="http://schemas.microsoft.com/office/drawing/2014/main" id="{2DE8D331-95BA-D603-912C-D8B035C9C53B}"/>
                  </a:ext>
                </a:extLst>
              </p:cNvPr>
              <p:cNvSpPr>
                <a:spLocks/>
              </p:cNvSpPr>
              <p:nvPr/>
            </p:nvSpPr>
            <p:spPr bwMode="auto">
              <a:xfrm>
                <a:off x="2127" y="1822"/>
                <a:ext cx="737" cy="524"/>
              </a:xfrm>
              <a:custGeom>
                <a:avLst/>
                <a:gdLst>
                  <a:gd name="T0" fmla="*/ 0 w 604"/>
                  <a:gd name="T1" fmla="*/ 138 h 429"/>
                  <a:gd name="T2" fmla="*/ 243 w 604"/>
                  <a:gd name="T3" fmla="*/ 417 h 429"/>
                  <a:gd name="T4" fmla="*/ 311 w 604"/>
                  <a:gd name="T5" fmla="*/ 429 h 429"/>
                  <a:gd name="T6" fmla="*/ 604 w 604"/>
                  <a:gd name="T7" fmla="*/ 334 h 429"/>
                  <a:gd name="T8" fmla="*/ 604 w 604"/>
                  <a:gd name="T9" fmla="*/ 334 h 429"/>
                  <a:gd name="T10" fmla="*/ 361 w 604"/>
                  <a:gd name="T11" fmla="*/ 54 h 429"/>
                  <a:gd name="T12" fmla="*/ 0 w 604"/>
                  <a:gd name="T13" fmla="*/ 138 h 429"/>
                </a:gdLst>
                <a:ahLst/>
                <a:cxnLst>
                  <a:cxn ang="0">
                    <a:pos x="T0" y="T1"/>
                  </a:cxn>
                  <a:cxn ang="0">
                    <a:pos x="T2" y="T3"/>
                  </a:cxn>
                  <a:cxn ang="0">
                    <a:pos x="T4" y="T5"/>
                  </a:cxn>
                  <a:cxn ang="0">
                    <a:pos x="T6" y="T7"/>
                  </a:cxn>
                  <a:cxn ang="0">
                    <a:pos x="T8" y="T9"/>
                  </a:cxn>
                  <a:cxn ang="0">
                    <a:pos x="T10" y="T11"/>
                  </a:cxn>
                  <a:cxn ang="0">
                    <a:pos x="T12" y="T13"/>
                  </a:cxn>
                </a:cxnLst>
                <a:rect l="0" t="0" r="r" b="b"/>
                <a:pathLst>
                  <a:path w="604" h="429">
                    <a:moveTo>
                      <a:pt x="0" y="138"/>
                    </a:moveTo>
                    <a:cubicBezTo>
                      <a:pt x="0" y="138"/>
                      <a:pt x="76" y="363"/>
                      <a:pt x="243" y="417"/>
                    </a:cubicBezTo>
                    <a:cubicBezTo>
                      <a:pt x="265" y="424"/>
                      <a:pt x="288" y="428"/>
                      <a:pt x="311" y="429"/>
                    </a:cubicBezTo>
                    <a:cubicBezTo>
                      <a:pt x="421" y="340"/>
                      <a:pt x="591" y="334"/>
                      <a:pt x="604" y="334"/>
                    </a:cubicBezTo>
                    <a:cubicBezTo>
                      <a:pt x="604" y="334"/>
                      <a:pt x="604" y="334"/>
                      <a:pt x="604" y="334"/>
                    </a:cubicBezTo>
                    <a:cubicBezTo>
                      <a:pt x="604" y="334"/>
                      <a:pt x="528" y="108"/>
                      <a:pt x="361" y="54"/>
                    </a:cubicBezTo>
                    <a:cubicBezTo>
                      <a:pt x="194" y="0"/>
                      <a:pt x="0" y="138"/>
                      <a:pt x="0" y="138"/>
                    </a:cubicBezTo>
                    <a:close/>
                  </a:path>
                </a:pathLst>
              </a:custGeom>
              <a:solidFill>
                <a:srgbClr val="00A3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zh-CN" altLang="en-US" sz="1463">
                  <a:latin typeface="Calibri" panose="020F0502020204030204" pitchFamily="34" charset="0"/>
                  <a:cs typeface="Calibri" panose="020F0502020204030204" pitchFamily="34" charset="0"/>
                </a:endParaRPr>
              </a:p>
            </p:txBody>
          </p:sp>
          <p:sp>
            <p:nvSpPr>
              <p:cNvPr id="110" name="Freeform 7">
                <a:extLst>
                  <a:ext uri="{FF2B5EF4-FFF2-40B4-BE49-F238E27FC236}">
                    <a16:creationId xmlns:a16="http://schemas.microsoft.com/office/drawing/2014/main" id="{FE3C8FF5-FCE3-613B-B181-2707D0BD9292}"/>
                  </a:ext>
                </a:extLst>
              </p:cNvPr>
              <p:cNvSpPr>
                <a:spLocks/>
              </p:cNvSpPr>
              <p:nvPr/>
            </p:nvSpPr>
            <p:spPr bwMode="auto">
              <a:xfrm>
                <a:off x="2332" y="2240"/>
                <a:ext cx="541" cy="628"/>
              </a:xfrm>
              <a:custGeom>
                <a:avLst/>
                <a:gdLst>
                  <a:gd name="T0" fmla="*/ 71 w 444"/>
                  <a:gd name="T1" fmla="*/ 514 h 514"/>
                  <a:gd name="T2" fmla="*/ 412 w 444"/>
                  <a:gd name="T3" fmla="*/ 369 h 514"/>
                  <a:gd name="T4" fmla="*/ 444 w 444"/>
                  <a:gd name="T5" fmla="*/ 309 h 514"/>
                  <a:gd name="T6" fmla="*/ 444 w 444"/>
                  <a:gd name="T7" fmla="*/ 0 h 514"/>
                  <a:gd name="T8" fmla="*/ 444 w 444"/>
                  <a:gd name="T9" fmla="*/ 0 h 514"/>
                  <a:gd name="T10" fmla="*/ 103 w 444"/>
                  <a:gd name="T11" fmla="*/ 145 h 514"/>
                  <a:gd name="T12" fmla="*/ 71 w 444"/>
                  <a:gd name="T13" fmla="*/ 514 h 514"/>
                </a:gdLst>
                <a:ahLst/>
                <a:cxnLst>
                  <a:cxn ang="0">
                    <a:pos x="T0" y="T1"/>
                  </a:cxn>
                  <a:cxn ang="0">
                    <a:pos x="T2" y="T3"/>
                  </a:cxn>
                  <a:cxn ang="0">
                    <a:pos x="T4" y="T5"/>
                  </a:cxn>
                  <a:cxn ang="0">
                    <a:pos x="T6" y="T7"/>
                  </a:cxn>
                  <a:cxn ang="0">
                    <a:pos x="T8" y="T9"/>
                  </a:cxn>
                  <a:cxn ang="0">
                    <a:pos x="T10" y="T11"/>
                  </a:cxn>
                  <a:cxn ang="0">
                    <a:pos x="T12" y="T13"/>
                  </a:cxn>
                </a:cxnLst>
                <a:rect l="0" t="0" r="r" b="b"/>
                <a:pathLst>
                  <a:path w="444" h="514">
                    <a:moveTo>
                      <a:pt x="71" y="514"/>
                    </a:moveTo>
                    <a:cubicBezTo>
                      <a:pt x="71" y="514"/>
                      <a:pt x="309" y="511"/>
                      <a:pt x="412" y="369"/>
                    </a:cubicBezTo>
                    <a:cubicBezTo>
                      <a:pt x="425" y="350"/>
                      <a:pt x="436" y="330"/>
                      <a:pt x="444" y="309"/>
                    </a:cubicBezTo>
                    <a:cubicBezTo>
                      <a:pt x="393" y="176"/>
                      <a:pt x="440" y="13"/>
                      <a:pt x="444" y="0"/>
                    </a:cubicBezTo>
                    <a:cubicBezTo>
                      <a:pt x="444" y="0"/>
                      <a:pt x="444" y="0"/>
                      <a:pt x="444" y="0"/>
                    </a:cubicBezTo>
                    <a:cubicBezTo>
                      <a:pt x="444" y="0"/>
                      <a:pt x="206" y="3"/>
                      <a:pt x="103" y="145"/>
                    </a:cubicBezTo>
                    <a:cubicBezTo>
                      <a:pt x="0" y="287"/>
                      <a:pt x="71" y="514"/>
                      <a:pt x="71" y="514"/>
                    </a:cubicBezTo>
                    <a:close/>
                  </a:path>
                </a:pathLst>
              </a:custGeom>
              <a:solidFill>
                <a:srgbClr val="0055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zh-CN" altLang="en-US" sz="1463">
                  <a:latin typeface="Calibri" panose="020F0502020204030204" pitchFamily="34" charset="0"/>
                  <a:cs typeface="Calibri" panose="020F0502020204030204" pitchFamily="34" charset="0"/>
                </a:endParaRPr>
              </a:p>
            </p:txBody>
          </p:sp>
          <p:sp>
            <p:nvSpPr>
              <p:cNvPr id="111" name="Freeform 8">
                <a:extLst>
                  <a:ext uri="{FF2B5EF4-FFF2-40B4-BE49-F238E27FC236}">
                    <a16:creationId xmlns:a16="http://schemas.microsoft.com/office/drawing/2014/main" id="{655FCA01-343D-32BF-EBEC-CA0BDC8C3678}"/>
                  </a:ext>
                </a:extLst>
              </p:cNvPr>
              <p:cNvSpPr>
                <a:spLocks/>
              </p:cNvSpPr>
              <p:nvPr/>
            </p:nvSpPr>
            <p:spPr bwMode="auto">
              <a:xfrm>
                <a:off x="2801" y="2240"/>
                <a:ext cx="629" cy="628"/>
              </a:xfrm>
              <a:custGeom>
                <a:avLst/>
                <a:gdLst>
                  <a:gd name="T0" fmla="*/ 444 w 515"/>
                  <a:gd name="T1" fmla="*/ 514 h 514"/>
                  <a:gd name="T2" fmla="*/ 412 w 515"/>
                  <a:gd name="T3" fmla="*/ 145 h 514"/>
                  <a:gd name="T4" fmla="*/ 364 w 515"/>
                  <a:gd name="T5" fmla="*/ 95 h 514"/>
                  <a:gd name="T6" fmla="*/ 71 w 515"/>
                  <a:gd name="T7" fmla="*/ 0 h 514"/>
                  <a:gd name="T8" fmla="*/ 71 w 515"/>
                  <a:gd name="T9" fmla="*/ 0 h 514"/>
                  <a:gd name="T10" fmla="*/ 103 w 515"/>
                  <a:gd name="T11" fmla="*/ 369 h 514"/>
                  <a:gd name="T12" fmla="*/ 444 w 515"/>
                  <a:gd name="T13" fmla="*/ 514 h 514"/>
                </a:gdLst>
                <a:ahLst/>
                <a:cxnLst>
                  <a:cxn ang="0">
                    <a:pos x="T0" y="T1"/>
                  </a:cxn>
                  <a:cxn ang="0">
                    <a:pos x="T2" y="T3"/>
                  </a:cxn>
                  <a:cxn ang="0">
                    <a:pos x="T4" y="T5"/>
                  </a:cxn>
                  <a:cxn ang="0">
                    <a:pos x="T6" y="T7"/>
                  </a:cxn>
                  <a:cxn ang="0">
                    <a:pos x="T8" y="T9"/>
                  </a:cxn>
                  <a:cxn ang="0">
                    <a:pos x="T10" y="T11"/>
                  </a:cxn>
                  <a:cxn ang="0">
                    <a:pos x="T12" y="T13"/>
                  </a:cxn>
                </a:cxnLst>
                <a:rect l="0" t="0" r="r" b="b"/>
                <a:pathLst>
                  <a:path w="515" h="514">
                    <a:moveTo>
                      <a:pt x="444" y="514"/>
                    </a:moveTo>
                    <a:cubicBezTo>
                      <a:pt x="444" y="514"/>
                      <a:pt x="515" y="287"/>
                      <a:pt x="412" y="145"/>
                    </a:cubicBezTo>
                    <a:cubicBezTo>
                      <a:pt x="398" y="126"/>
                      <a:pt x="382" y="109"/>
                      <a:pt x="364" y="95"/>
                    </a:cubicBezTo>
                    <a:cubicBezTo>
                      <a:pt x="222" y="103"/>
                      <a:pt x="82" y="7"/>
                      <a:pt x="71" y="0"/>
                    </a:cubicBezTo>
                    <a:cubicBezTo>
                      <a:pt x="71" y="0"/>
                      <a:pt x="71" y="0"/>
                      <a:pt x="71" y="0"/>
                    </a:cubicBezTo>
                    <a:cubicBezTo>
                      <a:pt x="71" y="0"/>
                      <a:pt x="0" y="227"/>
                      <a:pt x="103" y="369"/>
                    </a:cubicBezTo>
                    <a:cubicBezTo>
                      <a:pt x="206" y="511"/>
                      <a:pt x="444" y="514"/>
                      <a:pt x="444" y="514"/>
                    </a:cubicBezTo>
                    <a:close/>
                  </a:path>
                </a:pathLst>
              </a:custGeom>
              <a:solidFill>
                <a:srgbClr val="9799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zh-CN" altLang="en-US" sz="1463">
                  <a:latin typeface="Calibri" panose="020F0502020204030204" pitchFamily="34" charset="0"/>
                  <a:cs typeface="Calibri" panose="020F0502020204030204" pitchFamily="34" charset="0"/>
                </a:endParaRPr>
              </a:p>
            </p:txBody>
          </p:sp>
          <p:sp>
            <p:nvSpPr>
              <p:cNvPr id="112" name="Freeform 9">
                <a:extLst>
                  <a:ext uri="{FF2B5EF4-FFF2-40B4-BE49-F238E27FC236}">
                    <a16:creationId xmlns:a16="http://schemas.microsoft.com/office/drawing/2014/main" id="{830E1472-EC81-3460-06F8-3F187CCB8B88}"/>
                  </a:ext>
                </a:extLst>
              </p:cNvPr>
              <p:cNvSpPr>
                <a:spLocks/>
              </p:cNvSpPr>
              <p:nvPr/>
            </p:nvSpPr>
            <p:spPr bwMode="auto">
              <a:xfrm>
                <a:off x="2894" y="1822"/>
                <a:ext cx="737" cy="575"/>
              </a:xfrm>
              <a:custGeom>
                <a:avLst/>
                <a:gdLst>
                  <a:gd name="T0" fmla="*/ 604 w 604"/>
                  <a:gd name="T1" fmla="*/ 137 h 471"/>
                  <a:gd name="T2" fmla="*/ 243 w 604"/>
                  <a:gd name="T3" fmla="*/ 54 h 471"/>
                  <a:gd name="T4" fmla="*/ 182 w 604"/>
                  <a:gd name="T5" fmla="*/ 84 h 471"/>
                  <a:gd name="T6" fmla="*/ 1 w 604"/>
                  <a:gd name="T7" fmla="*/ 333 h 471"/>
                  <a:gd name="T8" fmla="*/ 0 w 604"/>
                  <a:gd name="T9" fmla="*/ 333 h 471"/>
                  <a:gd name="T10" fmla="*/ 361 w 604"/>
                  <a:gd name="T11" fmla="*/ 417 h 471"/>
                  <a:gd name="T12" fmla="*/ 604 w 604"/>
                  <a:gd name="T13" fmla="*/ 137 h 471"/>
                </a:gdLst>
                <a:ahLst/>
                <a:cxnLst>
                  <a:cxn ang="0">
                    <a:pos x="T0" y="T1"/>
                  </a:cxn>
                  <a:cxn ang="0">
                    <a:pos x="T2" y="T3"/>
                  </a:cxn>
                  <a:cxn ang="0">
                    <a:pos x="T4" y="T5"/>
                  </a:cxn>
                  <a:cxn ang="0">
                    <a:pos x="T6" y="T7"/>
                  </a:cxn>
                  <a:cxn ang="0">
                    <a:pos x="T8" y="T9"/>
                  </a:cxn>
                  <a:cxn ang="0">
                    <a:pos x="T10" y="T11"/>
                  </a:cxn>
                  <a:cxn ang="0">
                    <a:pos x="T12" y="T13"/>
                  </a:cxn>
                </a:cxnLst>
                <a:rect l="0" t="0" r="r" b="b"/>
                <a:pathLst>
                  <a:path w="604" h="471">
                    <a:moveTo>
                      <a:pt x="604" y="137"/>
                    </a:moveTo>
                    <a:cubicBezTo>
                      <a:pt x="604" y="137"/>
                      <a:pt x="410" y="0"/>
                      <a:pt x="243" y="54"/>
                    </a:cubicBezTo>
                    <a:cubicBezTo>
                      <a:pt x="221" y="61"/>
                      <a:pt x="201" y="71"/>
                      <a:pt x="182" y="84"/>
                    </a:cubicBezTo>
                    <a:cubicBezTo>
                      <a:pt x="145" y="221"/>
                      <a:pt x="11" y="325"/>
                      <a:pt x="1" y="333"/>
                    </a:cubicBezTo>
                    <a:cubicBezTo>
                      <a:pt x="1" y="333"/>
                      <a:pt x="0" y="333"/>
                      <a:pt x="0" y="333"/>
                    </a:cubicBezTo>
                    <a:cubicBezTo>
                      <a:pt x="0" y="333"/>
                      <a:pt x="195" y="471"/>
                      <a:pt x="361" y="417"/>
                    </a:cubicBezTo>
                    <a:cubicBezTo>
                      <a:pt x="528" y="362"/>
                      <a:pt x="604" y="137"/>
                      <a:pt x="604" y="137"/>
                    </a:cubicBezTo>
                    <a:close/>
                  </a:path>
                </a:pathLst>
              </a:custGeom>
              <a:solidFill>
                <a:srgbClr val="43B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zh-CN" altLang="en-US" sz="1463">
                  <a:latin typeface="Calibri" panose="020F0502020204030204" pitchFamily="34" charset="0"/>
                  <a:cs typeface="Calibri" panose="020F0502020204030204" pitchFamily="34" charset="0"/>
                </a:endParaRPr>
              </a:p>
            </p:txBody>
          </p:sp>
        </p:grpSp>
        <p:grpSp>
          <p:nvGrpSpPr>
            <p:cNvPr id="88" name="Group 87">
              <a:extLst>
                <a:ext uri="{FF2B5EF4-FFF2-40B4-BE49-F238E27FC236}">
                  <a16:creationId xmlns:a16="http://schemas.microsoft.com/office/drawing/2014/main" id="{BAD27FB0-C463-2B82-0A90-B2E8AE75D569}"/>
                </a:ext>
              </a:extLst>
            </p:cNvPr>
            <p:cNvGrpSpPr/>
            <p:nvPr/>
          </p:nvGrpSpPr>
          <p:grpSpPr>
            <a:xfrm>
              <a:off x="4860822" y="2282715"/>
              <a:ext cx="2730719" cy="2730713"/>
              <a:chOff x="4860822" y="2282715"/>
              <a:chExt cx="2730719" cy="2730713"/>
            </a:xfrm>
          </p:grpSpPr>
          <p:sp>
            <p:nvSpPr>
              <p:cNvPr id="89" name="Freeform 106">
                <a:extLst>
                  <a:ext uri="{FF2B5EF4-FFF2-40B4-BE49-F238E27FC236}">
                    <a16:creationId xmlns:a16="http://schemas.microsoft.com/office/drawing/2014/main" id="{569271E5-C8C0-3B1A-2B08-BDE5E16F053D}"/>
                  </a:ext>
                </a:extLst>
              </p:cNvPr>
              <p:cNvSpPr>
                <a:spLocks noChangeAspect="1" noEditPoints="1"/>
              </p:cNvSpPr>
              <p:nvPr/>
            </p:nvSpPr>
            <p:spPr bwMode="auto">
              <a:xfrm>
                <a:off x="7079959" y="3189971"/>
                <a:ext cx="511582" cy="513087"/>
              </a:xfrm>
              <a:custGeom>
                <a:avLst/>
                <a:gdLst>
                  <a:gd name="T0" fmla="*/ 373 w 512"/>
                  <a:gd name="T1" fmla="*/ 362 h 512"/>
                  <a:gd name="T2" fmla="*/ 352 w 512"/>
                  <a:gd name="T3" fmla="*/ 298 h 512"/>
                  <a:gd name="T4" fmla="*/ 330 w 512"/>
                  <a:gd name="T5" fmla="*/ 298 h 512"/>
                  <a:gd name="T6" fmla="*/ 298 w 512"/>
                  <a:gd name="T7" fmla="*/ 323 h 512"/>
                  <a:gd name="T8" fmla="*/ 288 w 512"/>
                  <a:gd name="T9" fmla="*/ 288 h 512"/>
                  <a:gd name="T10" fmla="*/ 277 w 512"/>
                  <a:gd name="T11" fmla="*/ 330 h 512"/>
                  <a:gd name="T12" fmla="*/ 277 w 512"/>
                  <a:gd name="T13" fmla="*/ 333 h 512"/>
                  <a:gd name="T14" fmla="*/ 216 w 512"/>
                  <a:gd name="T15" fmla="*/ 394 h 512"/>
                  <a:gd name="T16" fmla="*/ 234 w 512"/>
                  <a:gd name="T17" fmla="*/ 331 h 512"/>
                  <a:gd name="T18" fmla="*/ 234 w 512"/>
                  <a:gd name="T19" fmla="*/ 298 h 512"/>
                  <a:gd name="T20" fmla="*/ 213 w 512"/>
                  <a:gd name="T21" fmla="*/ 298 h 512"/>
                  <a:gd name="T22" fmla="*/ 181 w 512"/>
                  <a:gd name="T23" fmla="*/ 336 h 512"/>
                  <a:gd name="T24" fmla="*/ 170 w 512"/>
                  <a:gd name="T25" fmla="*/ 288 h 512"/>
                  <a:gd name="T26" fmla="*/ 160 w 512"/>
                  <a:gd name="T27" fmla="*/ 346 h 512"/>
                  <a:gd name="T28" fmla="*/ 138 w 512"/>
                  <a:gd name="T29" fmla="*/ 197 h 512"/>
                  <a:gd name="T30" fmla="*/ 167 w 512"/>
                  <a:gd name="T31" fmla="*/ 187 h 512"/>
                  <a:gd name="T32" fmla="*/ 208 w 512"/>
                  <a:gd name="T33" fmla="*/ 213 h 512"/>
                  <a:gd name="T34" fmla="*/ 218 w 512"/>
                  <a:gd name="T35" fmla="*/ 143 h 512"/>
                  <a:gd name="T36" fmla="*/ 226 w 512"/>
                  <a:gd name="T37" fmla="*/ 135 h 512"/>
                  <a:gd name="T38" fmla="*/ 251 w 512"/>
                  <a:gd name="T39" fmla="*/ 117 h 512"/>
                  <a:gd name="T40" fmla="*/ 283 w 512"/>
                  <a:gd name="T41" fmla="*/ 146 h 512"/>
                  <a:gd name="T42" fmla="*/ 269 w 512"/>
                  <a:gd name="T43" fmla="*/ 163 h 512"/>
                  <a:gd name="T44" fmla="*/ 304 w 512"/>
                  <a:gd name="T45" fmla="*/ 213 h 512"/>
                  <a:gd name="T46" fmla="*/ 344 w 512"/>
                  <a:gd name="T47" fmla="*/ 187 h 512"/>
                  <a:gd name="T48" fmla="*/ 373 w 512"/>
                  <a:gd name="T49" fmla="*/ 197 h 512"/>
                  <a:gd name="T50" fmla="*/ 256 w 512"/>
                  <a:gd name="T51" fmla="*/ 512 h 512"/>
                  <a:gd name="T52" fmla="*/ 256 w 512"/>
                  <a:gd name="T53" fmla="*/ 0 h 512"/>
                  <a:gd name="T54" fmla="*/ 394 w 512"/>
                  <a:gd name="T55" fmla="*/ 197 h 512"/>
                  <a:gd name="T56" fmla="*/ 327 w 512"/>
                  <a:gd name="T57" fmla="*/ 174 h 512"/>
                  <a:gd name="T58" fmla="*/ 304 w 512"/>
                  <a:gd name="T59" fmla="*/ 192 h 512"/>
                  <a:gd name="T60" fmla="*/ 303 w 512"/>
                  <a:gd name="T61" fmla="*/ 152 h 512"/>
                  <a:gd name="T62" fmla="*/ 250 w 512"/>
                  <a:gd name="T63" fmla="*/ 96 h 512"/>
                  <a:gd name="T64" fmla="*/ 211 w 512"/>
                  <a:gd name="T65" fmla="*/ 120 h 512"/>
                  <a:gd name="T66" fmla="*/ 189 w 512"/>
                  <a:gd name="T67" fmla="*/ 141 h 512"/>
                  <a:gd name="T68" fmla="*/ 195 w 512"/>
                  <a:gd name="T69" fmla="*/ 160 h 512"/>
                  <a:gd name="T70" fmla="*/ 208 w 512"/>
                  <a:gd name="T71" fmla="*/ 192 h 512"/>
                  <a:gd name="T72" fmla="*/ 184 w 512"/>
                  <a:gd name="T73" fmla="*/ 175 h 512"/>
                  <a:gd name="T74" fmla="*/ 117 w 512"/>
                  <a:gd name="T75" fmla="*/ 197 h 512"/>
                  <a:gd name="T76" fmla="*/ 123 w 512"/>
                  <a:gd name="T77" fmla="*/ 393 h 512"/>
                  <a:gd name="T78" fmla="*/ 176 w 512"/>
                  <a:gd name="T79" fmla="*/ 361 h 512"/>
                  <a:gd name="T80" fmla="*/ 192 w 512"/>
                  <a:gd name="T81" fmla="*/ 402 h 512"/>
                  <a:gd name="T82" fmla="*/ 202 w 512"/>
                  <a:gd name="T83" fmla="*/ 416 h 512"/>
                  <a:gd name="T84" fmla="*/ 309 w 512"/>
                  <a:gd name="T85" fmla="*/ 416 h 512"/>
                  <a:gd name="T86" fmla="*/ 312 w 512"/>
                  <a:gd name="T87" fmla="*/ 415 h 512"/>
                  <a:gd name="T88" fmla="*/ 304 w 512"/>
                  <a:gd name="T89" fmla="*/ 348 h 512"/>
                  <a:gd name="T90" fmla="*/ 377 w 512"/>
                  <a:gd name="T91" fmla="*/ 392 h 512"/>
                  <a:gd name="T92" fmla="*/ 388 w 512"/>
                  <a:gd name="T93" fmla="*/ 393 h 512"/>
                  <a:gd name="T94" fmla="*/ 394 w 512"/>
                  <a:gd name="T95" fmla="*/ 19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373" y="197"/>
                    </a:moveTo>
                    <a:cubicBezTo>
                      <a:pt x="373" y="362"/>
                      <a:pt x="373" y="362"/>
                      <a:pt x="373" y="362"/>
                    </a:cubicBezTo>
                    <a:cubicBezTo>
                      <a:pt x="352" y="346"/>
                      <a:pt x="352" y="346"/>
                      <a:pt x="352" y="346"/>
                    </a:cubicBezTo>
                    <a:cubicBezTo>
                      <a:pt x="352" y="298"/>
                      <a:pt x="352" y="298"/>
                      <a:pt x="352" y="298"/>
                    </a:cubicBezTo>
                    <a:cubicBezTo>
                      <a:pt x="352" y="292"/>
                      <a:pt x="347" y="288"/>
                      <a:pt x="341" y="288"/>
                    </a:cubicBezTo>
                    <a:cubicBezTo>
                      <a:pt x="335" y="288"/>
                      <a:pt x="330" y="292"/>
                      <a:pt x="330" y="298"/>
                    </a:cubicBezTo>
                    <a:cubicBezTo>
                      <a:pt x="330" y="336"/>
                      <a:pt x="330" y="336"/>
                      <a:pt x="330" y="336"/>
                    </a:cubicBezTo>
                    <a:cubicBezTo>
                      <a:pt x="298" y="323"/>
                      <a:pt x="298" y="323"/>
                      <a:pt x="298" y="323"/>
                    </a:cubicBezTo>
                    <a:cubicBezTo>
                      <a:pt x="298" y="298"/>
                      <a:pt x="298" y="298"/>
                      <a:pt x="298" y="298"/>
                    </a:cubicBezTo>
                    <a:cubicBezTo>
                      <a:pt x="298" y="292"/>
                      <a:pt x="294" y="288"/>
                      <a:pt x="288" y="288"/>
                    </a:cubicBezTo>
                    <a:cubicBezTo>
                      <a:pt x="282" y="288"/>
                      <a:pt x="277" y="292"/>
                      <a:pt x="277" y="298"/>
                    </a:cubicBezTo>
                    <a:cubicBezTo>
                      <a:pt x="277" y="330"/>
                      <a:pt x="277" y="330"/>
                      <a:pt x="277" y="330"/>
                    </a:cubicBezTo>
                    <a:cubicBezTo>
                      <a:pt x="277" y="331"/>
                      <a:pt x="277" y="331"/>
                      <a:pt x="277" y="331"/>
                    </a:cubicBezTo>
                    <a:cubicBezTo>
                      <a:pt x="277" y="332"/>
                      <a:pt x="277" y="332"/>
                      <a:pt x="277" y="333"/>
                    </a:cubicBezTo>
                    <a:cubicBezTo>
                      <a:pt x="295" y="394"/>
                      <a:pt x="295" y="394"/>
                      <a:pt x="295" y="394"/>
                    </a:cubicBezTo>
                    <a:cubicBezTo>
                      <a:pt x="216" y="394"/>
                      <a:pt x="216" y="394"/>
                      <a:pt x="216" y="394"/>
                    </a:cubicBezTo>
                    <a:cubicBezTo>
                      <a:pt x="234" y="333"/>
                      <a:pt x="234" y="333"/>
                      <a:pt x="234" y="333"/>
                    </a:cubicBezTo>
                    <a:cubicBezTo>
                      <a:pt x="234" y="332"/>
                      <a:pt x="234" y="332"/>
                      <a:pt x="234" y="331"/>
                    </a:cubicBezTo>
                    <a:cubicBezTo>
                      <a:pt x="234" y="331"/>
                      <a:pt x="234" y="331"/>
                      <a:pt x="234" y="330"/>
                    </a:cubicBezTo>
                    <a:cubicBezTo>
                      <a:pt x="234" y="298"/>
                      <a:pt x="234" y="298"/>
                      <a:pt x="234" y="298"/>
                    </a:cubicBezTo>
                    <a:cubicBezTo>
                      <a:pt x="234" y="292"/>
                      <a:pt x="230" y="288"/>
                      <a:pt x="224" y="288"/>
                    </a:cubicBezTo>
                    <a:cubicBezTo>
                      <a:pt x="218" y="288"/>
                      <a:pt x="213" y="292"/>
                      <a:pt x="213" y="298"/>
                    </a:cubicBezTo>
                    <a:cubicBezTo>
                      <a:pt x="213" y="323"/>
                      <a:pt x="213" y="323"/>
                      <a:pt x="213" y="323"/>
                    </a:cubicBezTo>
                    <a:cubicBezTo>
                      <a:pt x="181" y="336"/>
                      <a:pt x="181" y="336"/>
                      <a:pt x="181" y="336"/>
                    </a:cubicBezTo>
                    <a:cubicBezTo>
                      <a:pt x="181" y="298"/>
                      <a:pt x="181" y="298"/>
                      <a:pt x="181" y="298"/>
                    </a:cubicBezTo>
                    <a:cubicBezTo>
                      <a:pt x="181" y="292"/>
                      <a:pt x="176" y="288"/>
                      <a:pt x="170" y="288"/>
                    </a:cubicBezTo>
                    <a:cubicBezTo>
                      <a:pt x="164" y="288"/>
                      <a:pt x="160" y="292"/>
                      <a:pt x="160" y="298"/>
                    </a:cubicBezTo>
                    <a:cubicBezTo>
                      <a:pt x="160" y="346"/>
                      <a:pt x="160" y="346"/>
                      <a:pt x="160" y="346"/>
                    </a:cubicBezTo>
                    <a:cubicBezTo>
                      <a:pt x="138" y="362"/>
                      <a:pt x="138" y="362"/>
                      <a:pt x="138" y="362"/>
                    </a:cubicBezTo>
                    <a:cubicBezTo>
                      <a:pt x="138" y="197"/>
                      <a:pt x="138" y="197"/>
                      <a:pt x="138" y="197"/>
                    </a:cubicBezTo>
                    <a:cubicBezTo>
                      <a:pt x="138" y="188"/>
                      <a:pt x="146" y="181"/>
                      <a:pt x="154" y="181"/>
                    </a:cubicBezTo>
                    <a:cubicBezTo>
                      <a:pt x="159" y="181"/>
                      <a:pt x="164" y="183"/>
                      <a:pt x="167" y="187"/>
                    </a:cubicBezTo>
                    <a:cubicBezTo>
                      <a:pt x="167" y="187"/>
                      <a:pt x="172" y="194"/>
                      <a:pt x="176" y="199"/>
                    </a:cubicBezTo>
                    <a:cubicBezTo>
                      <a:pt x="187" y="211"/>
                      <a:pt x="198" y="213"/>
                      <a:pt x="208" y="213"/>
                    </a:cubicBezTo>
                    <a:cubicBezTo>
                      <a:pt x="232" y="213"/>
                      <a:pt x="245" y="198"/>
                      <a:pt x="245" y="170"/>
                    </a:cubicBezTo>
                    <a:cubicBezTo>
                      <a:pt x="245" y="156"/>
                      <a:pt x="231" y="148"/>
                      <a:pt x="218" y="143"/>
                    </a:cubicBezTo>
                    <a:cubicBezTo>
                      <a:pt x="221" y="140"/>
                      <a:pt x="221" y="140"/>
                      <a:pt x="221" y="140"/>
                    </a:cubicBezTo>
                    <a:cubicBezTo>
                      <a:pt x="222" y="139"/>
                      <a:pt x="223" y="138"/>
                      <a:pt x="226" y="135"/>
                    </a:cubicBezTo>
                    <a:cubicBezTo>
                      <a:pt x="228" y="133"/>
                      <a:pt x="230" y="131"/>
                      <a:pt x="232" y="128"/>
                    </a:cubicBezTo>
                    <a:cubicBezTo>
                      <a:pt x="239" y="121"/>
                      <a:pt x="242" y="117"/>
                      <a:pt x="251" y="117"/>
                    </a:cubicBezTo>
                    <a:cubicBezTo>
                      <a:pt x="264" y="117"/>
                      <a:pt x="273" y="120"/>
                      <a:pt x="279" y="127"/>
                    </a:cubicBezTo>
                    <a:cubicBezTo>
                      <a:pt x="284" y="133"/>
                      <a:pt x="284" y="141"/>
                      <a:pt x="283" y="146"/>
                    </a:cubicBezTo>
                    <a:cubicBezTo>
                      <a:pt x="281" y="152"/>
                      <a:pt x="274" y="158"/>
                      <a:pt x="271" y="161"/>
                    </a:cubicBezTo>
                    <a:cubicBezTo>
                      <a:pt x="271" y="162"/>
                      <a:pt x="270" y="162"/>
                      <a:pt x="269" y="163"/>
                    </a:cubicBezTo>
                    <a:cubicBezTo>
                      <a:pt x="267" y="165"/>
                      <a:pt x="266" y="167"/>
                      <a:pt x="266" y="170"/>
                    </a:cubicBezTo>
                    <a:cubicBezTo>
                      <a:pt x="266" y="197"/>
                      <a:pt x="286" y="213"/>
                      <a:pt x="304" y="213"/>
                    </a:cubicBezTo>
                    <a:cubicBezTo>
                      <a:pt x="322" y="213"/>
                      <a:pt x="332" y="204"/>
                      <a:pt x="336" y="198"/>
                    </a:cubicBezTo>
                    <a:cubicBezTo>
                      <a:pt x="339" y="193"/>
                      <a:pt x="344" y="188"/>
                      <a:pt x="344" y="187"/>
                    </a:cubicBezTo>
                    <a:cubicBezTo>
                      <a:pt x="347" y="183"/>
                      <a:pt x="352" y="181"/>
                      <a:pt x="357" y="181"/>
                    </a:cubicBezTo>
                    <a:cubicBezTo>
                      <a:pt x="366" y="181"/>
                      <a:pt x="373" y="188"/>
                      <a:pt x="373" y="19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197"/>
                    </a:moveTo>
                    <a:cubicBezTo>
                      <a:pt x="394" y="176"/>
                      <a:pt x="378" y="160"/>
                      <a:pt x="357" y="160"/>
                    </a:cubicBezTo>
                    <a:cubicBezTo>
                      <a:pt x="345" y="160"/>
                      <a:pt x="334" y="165"/>
                      <a:pt x="327" y="174"/>
                    </a:cubicBezTo>
                    <a:cubicBezTo>
                      <a:pt x="327" y="174"/>
                      <a:pt x="322" y="180"/>
                      <a:pt x="319" y="185"/>
                    </a:cubicBezTo>
                    <a:cubicBezTo>
                      <a:pt x="316" y="189"/>
                      <a:pt x="311" y="192"/>
                      <a:pt x="304" y="192"/>
                    </a:cubicBezTo>
                    <a:cubicBezTo>
                      <a:pt x="298" y="192"/>
                      <a:pt x="290" y="186"/>
                      <a:pt x="288" y="175"/>
                    </a:cubicBezTo>
                    <a:cubicBezTo>
                      <a:pt x="293" y="170"/>
                      <a:pt x="301" y="162"/>
                      <a:pt x="303" y="152"/>
                    </a:cubicBezTo>
                    <a:cubicBezTo>
                      <a:pt x="306" y="141"/>
                      <a:pt x="305" y="126"/>
                      <a:pt x="295" y="114"/>
                    </a:cubicBezTo>
                    <a:cubicBezTo>
                      <a:pt x="289" y="105"/>
                      <a:pt x="275" y="95"/>
                      <a:pt x="250" y="96"/>
                    </a:cubicBezTo>
                    <a:cubicBezTo>
                      <a:pt x="232" y="96"/>
                      <a:pt x="223" y="107"/>
                      <a:pt x="216" y="114"/>
                    </a:cubicBezTo>
                    <a:cubicBezTo>
                      <a:pt x="214" y="116"/>
                      <a:pt x="213" y="118"/>
                      <a:pt x="211" y="120"/>
                    </a:cubicBezTo>
                    <a:cubicBezTo>
                      <a:pt x="208" y="123"/>
                      <a:pt x="207" y="124"/>
                      <a:pt x="205" y="125"/>
                    </a:cubicBezTo>
                    <a:cubicBezTo>
                      <a:pt x="189" y="141"/>
                      <a:pt x="189" y="141"/>
                      <a:pt x="189" y="141"/>
                    </a:cubicBezTo>
                    <a:cubicBezTo>
                      <a:pt x="187" y="144"/>
                      <a:pt x="186" y="148"/>
                      <a:pt x="187" y="152"/>
                    </a:cubicBezTo>
                    <a:cubicBezTo>
                      <a:pt x="188" y="156"/>
                      <a:pt x="191" y="159"/>
                      <a:pt x="195" y="160"/>
                    </a:cubicBezTo>
                    <a:cubicBezTo>
                      <a:pt x="208" y="162"/>
                      <a:pt x="222" y="167"/>
                      <a:pt x="224" y="170"/>
                    </a:cubicBezTo>
                    <a:cubicBezTo>
                      <a:pt x="224" y="192"/>
                      <a:pt x="214" y="192"/>
                      <a:pt x="208" y="192"/>
                    </a:cubicBezTo>
                    <a:cubicBezTo>
                      <a:pt x="202" y="192"/>
                      <a:pt x="198" y="191"/>
                      <a:pt x="192" y="185"/>
                    </a:cubicBezTo>
                    <a:cubicBezTo>
                      <a:pt x="188" y="181"/>
                      <a:pt x="184" y="175"/>
                      <a:pt x="184" y="175"/>
                    </a:cubicBezTo>
                    <a:cubicBezTo>
                      <a:pt x="177" y="165"/>
                      <a:pt x="166" y="160"/>
                      <a:pt x="154" y="160"/>
                    </a:cubicBezTo>
                    <a:cubicBezTo>
                      <a:pt x="134" y="160"/>
                      <a:pt x="117" y="176"/>
                      <a:pt x="117" y="197"/>
                    </a:cubicBezTo>
                    <a:cubicBezTo>
                      <a:pt x="117" y="384"/>
                      <a:pt x="117" y="384"/>
                      <a:pt x="117" y="384"/>
                    </a:cubicBezTo>
                    <a:cubicBezTo>
                      <a:pt x="117" y="388"/>
                      <a:pt x="119" y="391"/>
                      <a:pt x="123" y="393"/>
                    </a:cubicBezTo>
                    <a:cubicBezTo>
                      <a:pt x="127" y="395"/>
                      <a:pt x="131" y="395"/>
                      <a:pt x="134" y="392"/>
                    </a:cubicBezTo>
                    <a:cubicBezTo>
                      <a:pt x="176" y="361"/>
                      <a:pt x="176" y="361"/>
                      <a:pt x="176" y="361"/>
                    </a:cubicBezTo>
                    <a:cubicBezTo>
                      <a:pt x="207" y="348"/>
                      <a:pt x="207" y="348"/>
                      <a:pt x="207" y="348"/>
                    </a:cubicBezTo>
                    <a:cubicBezTo>
                      <a:pt x="192" y="402"/>
                      <a:pt x="192" y="402"/>
                      <a:pt x="192" y="402"/>
                    </a:cubicBezTo>
                    <a:cubicBezTo>
                      <a:pt x="190" y="408"/>
                      <a:pt x="194" y="414"/>
                      <a:pt x="199" y="415"/>
                    </a:cubicBezTo>
                    <a:cubicBezTo>
                      <a:pt x="200" y="416"/>
                      <a:pt x="201" y="416"/>
                      <a:pt x="202" y="416"/>
                    </a:cubicBezTo>
                    <a:cubicBezTo>
                      <a:pt x="202" y="416"/>
                      <a:pt x="202" y="416"/>
                      <a:pt x="202" y="416"/>
                    </a:cubicBezTo>
                    <a:cubicBezTo>
                      <a:pt x="309" y="416"/>
                      <a:pt x="309" y="416"/>
                      <a:pt x="309" y="416"/>
                    </a:cubicBezTo>
                    <a:cubicBezTo>
                      <a:pt x="309" y="416"/>
                      <a:pt x="309" y="416"/>
                      <a:pt x="309" y="416"/>
                    </a:cubicBezTo>
                    <a:cubicBezTo>
                      <a:pt x="310" y="416"/>
                      <a:pt x="311" y="416"/>
                      <a:pt x="312" y="415"/>
                    </a:cubicBezTo>
                    <a:cubicBezTo>
                      <a:pt x="318" y="414"/>
                      <a:pt x="321" y="408"/>
                      <a:pt x="319" y="402"/>
                    </a:cubicBezTo>
                    <a:cubicBezTo>
                      <a:pt x="304" y="348"/>
                      <a:pt x="304" y="348"/>
                      <a:pt x="304" y="348"/>
                    </a:cubicBezTo>
                    <a:cubicBezTo>
                      <a:pt x="336" y="361"/>
                      <a:pt x="336" y="361"/>
                      <a:pt x="336" y="361"/>
                    </a:cubicBezTo>
                    <a:cubicBezTo>
                      <a:pt x="377" y="392"/>
                      <a:pt x="377" y="392"/>
                      <a:pt x="377" y="392"/>
                    </a:cubicBezTo>
                    <a:cubicBezTo>
                      <a:pt x="379" y="394"/>
                      <a:pt x="381" y="394"/>
                      <a:pt x="384" y="394"/>
                    </a:cubicBezTo>
                    <a:cubicBezTo>
                      <a:pt x="385" y="394"/>
                      <a:pt x="387" y="394"/>
                      <a:pt x="388" y="393"/>
                    </a:cubicBezTo>
                    <a:cubicBezTo>
                      <a:pt x="392" y="391"/>
                      <a:pt x="394" y="388"/>
                      <a:pt x="394" y="384"/>
                    </a:cubicBezTo>
                    <a:lnTo>
                      <a:pt x="394" y="197"/>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sp>
            <p:nvSpPr>
              <p:cNvPr id="90" name="Freeform 189">
                <a:extLst>
                  <a:ext uri="{FF2B5EF4-FFF2-40B4-BE49-F238E27FC236}">
                    <a16:creationId xmlns:a16="http://schemas.microsoft.com/office/drawing/2014/main" id="{65FA94BD-D891-582D-9936-832D4C8A9091}"/>
                  </a:ext>
                </a:extLst>
              </p:cNvPr>
              <p:cNvSpPr>
                <a:spLocks noChangeAspect="1" noEditPoints="1"/>
              </p:cNvSpPr>
              <p:nvPr/>
            </p:nvSpPr>
            <p:spPr bwMode="auto">
              <a:xfrm>
                <a:off x="6595680" y="4500341"/>
                <a:ext cx="513088" cy="513087"/>
              </a:xfrm>
              <a:custGeom>
                <a:avLst/>
                <a:gdLst>
                  <a:gd name="T0" fmla="*/ 0 w 512"/>
                  <a:gd name="T1" fmla="*/ 256 h 512"/>
                  <a:gd name="T2" fmla="*/ 512 w 512"/>
                  <a:gd name="T3" fmla="*/ 256 h 512"/>
                  <a:gd name="T4" fmla="*/ 416 w 512"/>
                  <a:gd name="T5" fmla="*/ 330 h 512"/>
                  <a:gd name="T6" fmla="*/ 394 w 512"/>
                  <a:gd name="T7" fmla="*/ 341 h 512"/>
                  <a:gd name="T8" fmla="*/ 384 w 512"/>
                  <a:gd name="T9" fmla="*/ 320 h 512"/>
                  <a:gd name="T10" fmla="*/ 371 w 512"/>
                  <a:gd name="T11" fmla="*/ 334 h 512"/>
                  <a:gd name="T12" fmla="*/ 338 w 512"/>
                  <a:gd name="T13" fmla="*/ 359 h 512"/>
                  <a:gd name="T14" fmla="*/ 318 w 512"/>
                  <a:gd name="T15" fmla="*/ 376 h 512"/>
                  <a:gd name="T16" fmla="*/ 277 w 512"/>
                  <a:gd name="T17" fmla="*/ 370 h 512"/>
                  <a:gd name="T18" fmla="*/ 250 w 512"/>
                  <a:gd name="T19" fmla="*/ 384 h 512"/>
                  <a:gd name="T20" fmla="*/ 217 w 512"/>
                  <a:gd name="T21" fmla="*/ 381 h 512"/>
                  <a:gd name="T22" fmla="*/ 172 w 512"/>
                  <a:gd name="T23" fmla="*/ 368 h 512"/>
                  <a:gd name="T24" fmla="*/ 128 w 512"/>
                  <a:gd name="T25" fmla="*/ 320 h 512"/>
                  <a:gd name="T26" fmla="*/ 117 w 512"/>
                  <a:gd name="T27" fmla="*/ 341 h 512"/>
                  <a:gd name="T28" fmla="*/ 96 w 512"/>
                  <a:gd name="T29" fmla="*/ 330 h 512"/>
                  <a:gd name="T30" fmla="*/ 106 w 512"/>
                  <a:gd name="T31" fmla="*/ 170 h 512"/>
                  <a:gd name="T32" fmla="*/ 106 w 512"/>
                  <a:gd name="T33" fmla="*/ 149 h 512"/>
                  <a:gd name="T34" fmla="*/ 128 w 512"/>
                  <a:gd name="T35" fmla="*/ 160 h 512"/>
                  <a:gd name="T36" fmla="*/ 224 w 512"/>
                  <a:gd name="T37" fmla="*/ 181 h 512"/>
                  <a:gd name="T38" fmla="*/ 261 w 512"/>
                  <a:gd name="T39" fmla="*/ 161 h 512"/>
                  <a:gd name="T40" fmla="*/ 343 w 512"/>
                  <a:gd name="T41" fmla="*/ 181 h 512"/>
                  <a:gd name="T42" fmla="*/ 384 w 512"/>
                  <a:gd name="T43" fmla="*/ 160 h 512"/>
                  <a:gd name="T44" fmla="*/ 405 w 512"/>
                  <a:gd name="T45" fmla="*/ 149 h 512"/>
                  <a:gd name="T46" fmla="*/ 405 w 512"/>
                  <a:gd name="T47" fmla="*/ 170 h 512"/>
                  <a:gd name="T48" fmla="*/ 416 w 512"/>
                  <a:gd name="T49" fmla="*/ 330 h 512"/>
                  <a:gd name="T50" fmla="*/ 350 w 512"/>
                  <a:gd name="T51" fmla="*/ 328 h 512"/>
                  <a:gd name="T52" fmla="*/ 335 w 512"/>
                  <a:gd name="T53" fmla="*/ 337 h 512"/>
                  <a:gd name="T54" fmla="*/ 328 w 512"/>
                  <a:gd name="T55" fmla="*/ 332 h 512"/>
                  <a:gd name="T56" fmla="*/ 294 w 512"/>
                  <a:gd name="T57" fmla="*/ 274 h 512"/>
                  <a:gd name="T58" fmla="*/ 275 w 512"/>
                  <a:gd name="T59" fmla="*/ 284 h 512"/>
                  <a:gd name="T60" fmla="*/ 310 w 512"/>
                  <a:gd name="T61" fmla="*/ 343 h 512"/>
                  <a:gd name="T62" fmla="*/ 290 w 512"/>
                  <a:gd name="T63" fmla="*/ 353 h 512"/>
                  <a:gd name="T64" fmla="*/ 243 w 512"/>
                  <a:gd name="T65" fmla="*/ 296 h 512"/>
                  <a:gd name="T66" fmla="*/ 260 w 512"/>
                  <a:gd name="T67" fmla="*/ 345 h 512"/>
                  <a:gd name="T68" fmla="*/ 256 w 512"/>
                  <a:gd name="T69" fmla="*/ 361 h 512"/>
                  <a:gd name="T70" fmla="*/ 239 w 512"/>
                  <a:gd name="T71" fmla="*/ 357 h 512"/>
                  <a:gd name="T72" fmla="*/ 228 w 512"/>
                  <a:gd name="T73" fmla="*/ 337 h 512"/>
                  <a:gd name="T74" fmla="*/ 220 w 512"/>
                  <a:gd name="T75" fmla="*/ 325 h 512"/>
                  <a:gd name="T76" fmla="*/ 202 w 512"/>
                  <a:gd name="T77" fmla="*/ 337 h 512"/>
                  <a:gd name="T78" fmla="*/ 207 w 512"/>
                  <a:gd name="T79" fmla="*/ 363 h 512"/>
                  <a:gd name="T80" fmla="*/ 158 w 512"/>
                  <a:gd name="T81" fmla="*/ 304 h 512"/>
                  <a:gd name="T82" fmla="*/ 128 w 512"/>
                  <a:gd name="T83" fmla="*/ 298 h 512"/>
                  <a:gd name="T84" fmla="*/ 184 w 512"/>
                  <a:gd name="T85" fmla="*/ 202 h 512"/>
                  <a:gd name="T86" fmla="*/ 160 w 512"/>
                  <a:gd name="T87" fmla="*/ 234 h 512"/>
                  <a:gd name="T88" fmla="*/ 193 w 512"/>
                  <a:gd name="T89" fmla="*/ 266 h 512"/>
                  <a:gd name="T90" fmla="*/ 349 w 512"/>
                  <a:gd name="T91" fmla="*/ 319 h 512"/>
                  <a:gd name="T92" fmla="*/ 384 w 512"/>
                  <a:gd name="T93" fmla="*/ 202 h 512"/>
                  <a:gd name="T94" fmla="*/ 362 w 512"/>
                  <a:gd name="T95" fmla="*/ 298 h 512"/>
                  <a:gd name="T96" fmla="*/ 322 w 512"/>
                  <a:gd name="T97" fmla="*/ 230 h 512"/>
                  <a:gd name="T98" fmla="*/ 190 w 512"/>
                  <a:gd name="T99" fmla="*/ 245 h 512"/>
                  <a:gd name="T100" fmla="*/ 181 w 512"/>
                  <a:gd name="T101" fmla="*/ 234 h 512"/>
                  <a:gd name="T102" fmla="*/ 268 w 512"/>
                  <a:gd name="T103" fmla="*/ 182 h 512"/>
                  <a:gd name="T104" fmla="*/ 341 w 512"/>
                  <a:gd name="T105"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30"/>
                    </a:moveTo>
                    <a:cubicBezTo>
                      <a:pt x="416" y="336"/>
                      <a:pt x="411" y="341"/>
                      <a:pt x="405" y="341"/>
                    </a:cubicBezTo>
                    <a:cubicBezTo>
                      <a:pt x="394" y="341"/>
                      <a:pt x="394" y="341"/>
                      <a:pt x="394" y="341"/>
                    </a:cubicBezTo>
                    <a:cubicBezTo>
                      <a:pt x="388" y="341"/>
                      <a:pt x="384" y="336"/>
                      <a:pt x="384" y="330"/>
                    </a:cubicBezTo>
                    <a:cubicBezTo>
                      <a:pt x="384" y="320"/>
                      <a:pt x="384" y="320"/>
                      <a:pt x="384" y="320"/>
                    </a:cubicBezTo>
                    <a:cubicBezTo>
                      <a:pt x="371" y="320"/>
                      <a:pt x="371" y="320"/>
                      <a:pt x="371" y="320"/>
                    </a:cubicBezTo>
                    <a:cubicBezTo>
                      <a:pt x="372" y="324"/>
                      <a:pt x="372" y="329"/>
                      <a:pt x="371" y="334"/>
                    </a:cubicBezTo>
                    <a:cubicBezTo>
                      <a:pt x="368" y="342"/>
                      <a:pt x="363" y="350"/>
                      <a:pt x="355" y="354"/>
                    </a:cubicBezTo>
                    <a:cubicBezTo>
                      <a:pt x="350" y="357"/>
                      <a:pt x="344" y="359"/>
                      <a:pt x="338" y="359"/>
                    </a:cubicBezTo>
                    <a:cubicBezTo>
                      <a:pt x="336" y="359"/>
                      <a:pt x="334" y="358"/>
                      <a:pt x="332" y="358"/>
                    </a:cubicBezTo>
                    <a:cubicBezTo>
                      <a:pt x="330" y="365"/>
                      <a:pt x="325" y="372"/>
                      <a:pt x="318" y="376"/>
                    </a:cubicBezTo>
                    <a:cubicBezTo>
                      <a:pt x="313" y="380"/>
                      <a:pt x="307" y="381"/>
                      <a:pt x="301" y="381"/>
                    </a:cubicBezTo>
                    <a:cubicBezTo>
                      <a:pt x="292" y="381"/>
                      <a:pt x="283" y="377"/>
                      <a:pt x="277" y="370"/>
                    </a:cubicBezTo>
                    <a:cubicBezTo>
                      <a:pt x="274" y="374"/>
                      <a:pt x="271" y="377"/>
                      <a:pt x="267" y="379"/>
                    </a:cubicBezTo>
                    <a:cubicBezTo>
                      <a:pt x="261" y="382"/>
                      <a:pt x="256" y="384"/>
                      <a:pt x="250" y="384"/>
                    </a:cubicBezTo>
                    <a:cubicBezTo>
                      <a:pt x="241" y="384"/>
                      <a:pt x="232" y="380"/>
                      <a:pt x="226" y="374"/>
                    </a:cubicBezTo>
                    <a:cubicBezTo>
                      <a:pt x="224" y="376"/>
                      <a:pt x="221" y="379"/>
                      <a:pt x="217" y="381"/>
                    </a:cubicBezTo>
                    <a:cubicBezTo>
                      <a:pt x="212" y="384"/>
                      <a:pt x="207" y="385"/>
                      <a:pt x="202" y="385"/>
                    </a:cubicBezTo>
                    <a:cubicBezTo>
                      <a:pt x="190" y="385"/>
                      <a:pt x="178" y="379"/>
                      <a:pt x="172" y="368"/>
                    </a:cubicBezTo>
                    <a:cubicBezTo>
                      <a:pt x="143" y="320"/>
                      <a:pt x="143" y="320"/>
                      <a:pt x="143" y="320"/>
                    </a:cubicBezTo>
                    <a:cubicBezTo>
                      <a:pt x="128" y="320"/>
                      <a:pt x="128" y="320"/>
                      <a:pt x="128" y="320"/>
                    </a:cubicBezTo>
                    <a:cubicBezTo>
                      <a:pt x="128" y="330"/>
                      <a:pt x="128" y="330"/>
                      <a:pt x="128" y="330"/>
                    </a:cubicBezTo>
                    <a:cubicBezTo>
                      <a:pt x="128" y="336"/>
                      <a:pt x="123" y="341"/>
                      <a:pt x="117" y="341"/>
                    </a:cubicBezTo>
                    <a:cubicBezTo>
                      <a:pt x="106" y="341"/>
                      <a:pt x="106" y="341"/>
                      <a:pt x="106" y="341"/>
                    </a:cubicBezTo>
                    <a:cubicBezTo>
                      <a:pt x="100" y="341"/>
                      <a:pt x="96" y="336"/>
                      <a:pt x="96" y="330"/>
                    </a:cubicBezTo>
                    <a:cubicBezTo>
                      <a:pt x="96" y="324"/>
                      <a:pt x="100" y="320"/>
                      <a:pt x="106" y="320"/>
                    </a:cubicBezTo>
                    <a:cubicBezTo>
                      <a:pt x="106" y="170"/>
                      <a:pt x="106" y="170"/>
                      <a:pt x="106" y="170"/>
                    </a:cubicBezTo>
                    <a:cubicBezTo>
                      <a:pt x="100" y="170"/>
                      <a:pt x="96" y="166"/>
                      <a:pt x="96" y="160"/>
                    </a:cubicBezTo>
                    <a:cubicBezTo>
                      <a:pt x="96" y="154"/>
                      <a:pt x="100" y="149"/>
                      <a:pt x="106" y="149"/>
                    </a:cubicBezTo>
                    <a:cubicBezTo>
                      <a:pt x="117" y="149"/>
                      <a:pt x="117" y="149"/>
                      <a:pt x="117" y="149"/>
                    </a:cubicBezTo>
                    <a:cubicBezTo>
                      <a:pt x="123" y="149"/>
                      <a:pt x="128" y="154"/>
                      <a:pt x="128" y="160"/>
                    </a:cubicBezTo>
                    <a:cubicBezTo>
                      <a:pt x="128" y="181"/>
                      <a:pt x="128" y="181"/>
                      <a:pt x="128" y="181"/>
                    </a:cubicBezTo>
                    <a:cubicBezTo>
                      <a:pt x="224" y="181"/>
                      <a:pt x="224" y="181"/>
                      <a:pt x="224" y="181"/>
                    </a:cubicBezTo>
                    <a:cubicBezTo>
                      <a:pt x="224" y="181"/>
                      <a:pt x="224" y="181"/>
                      <a:pt x="224" y="181"/>
                    </a:cubicBezTo>
                    <a:cubicBezTo>
                      <a:pt x="261" y="161"/>
                      <a:pt x="261" y="161"/>
                      <a:pt x="261" y="161"/>
                    </a:cubicBezTo>
                    <a:cubicBezTo>
                      <a:pt x="264" y="160"/>
                      <a:pt x="267" y="159"/>
                      <a:pt x="269" y="160"/>
                    </a:cubicBezTo>
                    <a:cubicBezTo>
                      <a:pt x="343" y="181"/>
                      <a:pt x="343" y="181"/>
                      <a:pt x="343" y="181"/>
                    </a:cubicBezTo>
                    <a:cubicBezTo>
                      <a:pt x="384" y="181"/>
                      <a:pt x="384" y="181"/>
                      <a:pt x="384" y="181"/>
                    </a:cubicBezTo>
                    <a:cubicBezTo>
                      <a:pt x="384" y="160"/>
                      <a:pt x="384" y="160"/>
                      <a:pt x="384" y="160"/>
                    </a:cubicBezTo>
                    <a:cubicBezTo>
                      <a:pt x="384" y="154"/>
                      <a:pt x="388" y="149"/>
                      <a:pt x="394" y="149"/>
                    </a:cubicBezTo>
                    <a:cubicBezTo>
                      <a:pt x="405" y="149"/>
                      <a:pt x="405" y="149"/>
                      <a:pt x="405" y="149"/>
                    </a:cubicBezTo>
                    <a:cubicBezTo>
                      <a:pt x="411" y="149"/>
                      <a:pt x="416" y="154"/>
                      <a:pt x="416" y="160"/>
                    </a:cubicBezTo>
                    <a:cubicBezTo>
                      <a:pt x="416" y="166"/>
                      <a:pt x="411" y="170"/>
                      <a:pt x="405" y="170"/>
                    </a:cubicBezTo>
                    <a:cubicBezTo>
                      <a:pt x="405" y="320"/>
                      <a:pt x="405" y="320"/>
                      <a:pt x="405" y="320"/>
                    </a:cubicBezTo>
                    <a:cubicBezTo>
                      <a:pt x="411" y="320"/>
                      <a:pt x="416" y="324"/>
                      <a:pt x="416" y="330"/>
                    </a:cubicBezTo>
                    <a:close/>
                    <a:moveTo>
                      <a:pt x="349" y="319"/>
                    </a:moveTo>
                    <a:cubicBezTo>
                      <a:pt x="350" y="322"/>
                      <a:pt x="351" y="325"/>
                      <a:pt x="350" y="328"/>
                    </a:cubicBezTo>
                    <a:cubicBezTo>
                      <a:pt x="349" y="332"/>
                      <a:pt x="347" y="334"/>
                      <a:pt x="344" y="336"/>
                    </a:cubicBezTo>
                    <a:cubicBezTo>
                      <a:pt x="342" y="337"/>
                      <a:pt x="338" y="338"/>
                      <a:pt x="335" y="337"/>
                    </a:cubicBezTo>
                    <a:cubicBezTo>
                      <a:pt x="332" y="336"/>
                      <a:pt x="330" y="334"/>
                      <a:pt x="328" y="332"/>
                    </a:cubicBezTo>
                    <a:cubicBezTo>
                      <a:pt x="328" y="332"/>
                      <a:pt x="328" y="332"/>
                      <a:pt x="328" y="332"/>
                    </a:cubicBezTo>
                    <a:cubicBezTo>
                      <a:pt x="328" y="332"/>
                      <a:pt x="328" y="332"/>
                      <a:pt x="328" y="331"/>
                    </a:cubicBezTo>
                    <a:cubicBezTo>
                      <a:pt x="294" y="274"/>
                      <a:pt x="294" y="274"/>
                      <a:pt x="294" y="274"/>
                    </a:cubicBezTo>
                    <a:cubicBezTo>
                      <a:pt x="291" y="268"/>
                      <a:pt x="284" y="267"/>
                      <a:pt x="279" y="270"/>
                    </a:cubicBezTo>
                    <a:cubicBezTo>
                      <a:pt x="274" y="273"/>
                      <a:pt x="272" y="279"/>
                      <a:pt x="275" y="284"/>
                    </a:cubicBezTo>
                    <a:cubicBezTo>
                      <a:pt x="310" y="343"/>
                      <a:pt x="310" y="343"/>
                      <a:pt x="310" y="343"/>
                    </a:cubicBezTo>
                    <a:cubicBezTo>
                      <a:pt x="310" y="343"/>
                      <a:pt x="310" y="343"/>
                      <a:pt x="310" y="343"/>
                    </a:cubicBezTo>
                    <a:cubicBezTo>
                      <a:pt x="313" y="348"/>
                      <a:pt x="313" y="355"/>
                      <a:pt x="307" y="358"/>
                    </a:cubicBezTo>
                    <a:cubicBezTo>
                      <a:pt x="301" y="361"/>
                      <a:pt x="294" y="359"/>
                      <a:pt x="290" y="353"/>
                    </a:cubicBezTo>
                    <a:cubicBezTo>
                      <a:pt x="258" y="300"/>
                      <a:pt x="258" y="300"/>
                      <a:pt x="258" y="300"/>
                    </a:cubicBezTo>
                    <a:cubicBezTo>
                      <a:pt x="255" y="295"/>
                      <a:pt x="249" y="293"/>
                      <a:pt x="243" y="296"/>
                    </a:cubicBezTo>
                    <a:cubicBezTo>
                      <a:pt x="238" y="299"/>
                      <a:pt x="237" y="306"/>
                      <a:pt x="240" y="311"/>
                    </a:cubicBezTo>
                    <a:cubicBezTo>
                      <a:pt x="260" y="345"/>
                      <a:pt x="260" y="345"/>
                      <a:pt x="260" y="345"/>
                    </a:cubicBezTo>
                    <a:cubicBezTo>
                      <a:pt x="262" y="347"/>
                      <a:pt x="262" y="350"/>
                      <a:pt x="261" y="353"/>
                    </a:cubicBezTo>
                    <a:cubicBezTo>
                      <a:pt x="261" y="356"/>
                      <a:pt x="259" y="359"/>
                      <a:pt x="256" y="361"/>
                    </a:cubicBezTo>
                    <a:cubicBezTo>
                      <a:pt x="250" y="364"/>
                      <a:pt x="243" y="362"/>
                      <a:pt x="239" y="357"/>
                    </a:cubicBezTo>
                    <a:cubicBezTo>
                      <a:pt x="239" y="357"/>
                      <a:pt x="239" y="357"/>
                      <a:pt x="239" y="357"/>
                    </a:cubicBezTo>
                    <a:cubicBezTo>
                      <a:pt x="228" y="337"/>
                      <a:pt x="228" y="337"/>
                      <a:pt x="228" y="337"/>
                    </a:cubicBezTo>
                    <a:cubicBezTo>
                      <a:pt x="228" y="337"/>
                      <a:pt x="228" y="337"/>
                      <a:pt x="228" y="337"/>
                    </a:cubicBezTo>
                    <a:cubicBezTo>
                      <a:pt x="228" y="337"/>
                      <a:pt x="228" y="337"/>
                      <a:pt x="228" y="337"/>
                    </a:cubicBezTo>
                    <a:cubicBezTo>
                      <a:pt x="220" y="325"/>
                      <a:pt x="220" y="325"/>
                      <a:pt x="220" y="325"/>
                    </a:cubicBezTo>
                    <a:cubicBezTo>
                      <a:pt x="217" y="320"/>
                      <a:pt x="210" y="319"/>
                      <a:pt x="206" y="322"/>
                    </a:cubicBezTo>
                    <a:cubicBezTo>
                      <a:pt x="201" y="325"/>
                      <a:pt x="199" y="332"/>
                      <a:pt x="202" y="337"/>
                    </a:cubicBezTo>
                    <a:cubicBezTo>
                      <a:pt x="210" y="348"/>
                      <a:pt x="210" y="348"/>
                      <a:pt x="210" y="348"/>
                    </a:cubicBezTo>
                    <a:cubicBezTo>
                      <a:pt x="211" y="350"/>
                      <a:pt x="214" y="358"/>
                      <a:pt x="207" y="363"/>
                    </a:cubicBezTo>
                    <a:cubicBezTo>
                      <a:pt x="201" y="366"/>
                      <a:pt x="193" y="362"/>
                      <a:pt x="190" y="357"/>
                    </a:cubicBezTo>
                    <a:cubicBezTo>
                      <a:pt x="158" y="304"/>
                      <a:pt x="158" y="304"/>
                      <a:pt x="158" y="304"/>
                    </a:cubicBezTo>
                    <a:cubicBezTo>
                      <a:pt x="156" y="300"/>
                      <a:pt x="153" y="298"/>
                      <a:pt x="149" y="298"/>
                    </a:cubicBezTo>
                    <a:cubicBezTo>
                      <a:pt x="128" y="298"/>
                      <a:pt x="128" y="298"/>
                      <a:pt x="128" y="298"/>
                    </a:cubicBezTo>
                    <a:cubicBezTo>
                      <a:pt x="128" y="202"/>
                      <a:pt x="128" y="202"/>
                      <a:pt x="128" y="202"/>
                    </a:cubicBezTo>
                    <a:cubicBezTo>
                      <a:pt x="184" y="202"/>
                      <a:pt x="184" y="202"/>
                      <a:pt x="184" y="202"/>
                    </a:cubicBezTo>
                    <a:cubicBezTo>
                      <a:pt x="176" y="207"/>
                      <a:pt x="176" y="207"/>
                      <a:pt x="176" y="207"/>
                    </a:cubicBezTo>
                    <a:cubicBezTo>
                      <a:pt x="166" y="213"/>
                      <a:pt x="160" y="223"/>
                      <a:pt x="160" y="234"/>
                    </a:cubicBezTo>
                    <a:cubicBezTo>
                      <a:pt x="160" y="244"/>
                      <a:pt x="164" y="254"/>
                      <a:pt x="170" y="260"/>
                    </a:cubicBezTo>
                    <a:cubicBezTo>
                      <a:pt x="177" y="265"/>
                      <a:pt x="185" y="267"/>
                      <a:pt x="193" y="266"/>
                    </a:cubicBezTo>
                    <a:cubicBezTo>
                      <a:pt x="307" y="247"/>
                      <a:pt x="307" y="247"/>
                      <a:pt x="307" y="247"/>
                    </a:cubicBezTo>
                    <a:lnTo>
                      <a:pt x="349" y="319"/>
                    </a:lnTo>
                    <a:close/>
                    <a:moveTo>
                      <a:pt x="341" y="202"/>
                    </a:moveTo>
                    <a:cubicBezTo>
                      <a:pt x="384" y="202"/>
                      <a:pt x="384" y="202"/>
                      <a:pt x="384" y="202"/>
                    </a:cubicBezTo>
                    <a:cubicBezTo>
                      <a:pt x="384" y="298"/>
                      <a:pt x="384" y="298"/>
                      <a:pt x="384" y="298"/>
                    </a:cubicBezTo>
                    <a:cubicBezTo>
                      <a:pt x="362" y="298"/>
                      <a:pt x="362" y="298"/>
                      <a:pt x="362" y="298"/>
                    </a:cubicBezTo>
                    <a:cubicBezTo>
                      <a:pt x="362" y="298"/>
                      <a:pt x="362" y="299"/>
                      <a:pt x="361" y="299"/>
                    </a:cubicBezTo>
                    <a:cubicBezTo>
                      <a:pt x="322" y="230"/>
                      <a:pt x="322" y="230"/>
                      <a:pt x="322" y="230"/>
                    </a:cubicBezTo>
                    <a:cubicBezTo>
                      <a:pt x="320" y="226"/>
                      <a:pt x="316" y="224"/>
                      <a:pt x="311" y="225"/>
                    </a:cubicBezTo>
                    <a:cubicBezTo>
                      <a:pt x="190" y="245"/>
                      <a:pt x="190" y="245"/>
                      <a:pt x="190" y="245"/>
                    </a:cubicBezTo>
                    <a:cubicBezTo>
                      <a:pt x="187" y="246"/>
                      <a:pt x="185" y="245"/>
                      <a:pt x="184" y="244"/>
                    </a:cubicBezTo>
                    <a:cubicBezTo>
                      <a:pt x="182" y="242"/>
                      <a:pt x="181" y="238"/>
                      <a:pt x="181" y="234"/>
                    </a:cubicBezTo>
                    <a:cubicBezTo>
                      <a:pt x="181" y="229"/>
                      <a:pt x="184" y="227"/>
                      <a:pt x="186" y="226"/>
                    </a:cubicBezTo>
                    <a:cubicBezTo>
                      <a:pt x="268" y="182"/>
                      <a:pt x="268" y="182"/>
                      <a:pt x="268" y="182"/>
                    </a:cubicBezTo>
                    <a:cubicBezTo>
                      <a:pt x="338" y="202"/>
                      <a:pt x="338" y="202"/>
                      <a:pt x="338" y="202"/>
                    </a:cubicBezTo>
                    <a:cubicBezTo>
                      <a:pt x="339" y="202"/>
                      <a:pt x="340" y="202"/>
                      <a:pt x="341" y="202"/>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grpSp>
            <p:nvGrpSpPr>
              <p:cNvPr id="91" name="Group 1025">
                <a:extLst>
                  <a:ext uri="{FF2B5EF4-FFF2-40B4-BE49-F238E27FC236}">
                    <a16:creationId xmlns:a16="http://schemas.microsoft.com/office/drawing/2014/main" id="{95A07FE2-6FA4-785D-0B74-61F56F1BD3A5}"/>
                  </a:ext>
                </a:extLst>
              </p:cNvPr>
              <p:cNvGrpSpPr>
                <a:grpSpLocks noChangeAspect="1"/>
              </p:cNvGrpSpPr>
              <p:nvPr/>
            </p:nvGrpSpPr>
            <p:grpSpPr bwMode="auto">
              <a:xfrm>
                <a:off x="5275751" y="4436978"/>
                <a:ext cx="513089" cy="513089"/>
                <a:chOff x="787" y="3994"/>
                <a:chExt cx="340" cy="340"/>
              </a:xfrm>
              <a:solidFill>
                <a:schemeClr val="bg1"/>
              </a:solidFill>
            </p:grpSpPr>
            <p:sp>
              <p:nvSpPr>
                <p:cNvPr id="97" name="Freeform 1026">
                  <a:extLst>
                    <a:ext uri="{FF2B5EF4-FFF2-40B4-BE49-F238E27FC236}">
                      <a16:creationId xmlns:a16="http://schemas.microsoft.com/office/drawing/2014/main" id="{E7A742BD-4359-D432-73BC-653982631D9D}"/>
                    </a:ext>
                  </a:extLst>
                </p:cNvPr>
                <p:cNvSpPr>
                  <a:spLocks/>
                </p:cNvSpPr>
                <p:nvPr/>
              </p:nvSpPr>
              <p:spPr bwMode="auto">
                <a:xfrm>
                  <a:off x="893" y="4171"/>
                  <a:ext cx="45" cy="33"/>
                </a:xfrm>
                <a:custGeom>
                  <a:avLst/>
                  <a:gdLst>
                    <a:gd name="T0" fmla="*/ 67 w 67"/>
                    <a:gd name="T1" fmla="*/ 4 h 50"/>
                    <a:gd name="T2" fmla="*/ 66 w 67"/>
                    <a:gd name="T3" fmla="*/ 0 h 50"/>
                    <a:gd name="T4" fmla="*/ 64 w 67"/>
                    <a:gd name="T5" fmla="*/ 0 h 50"/>
                    <a:gd name="T6" fmla="*/ 0 w 67"/>
                    <a:gd name="T7" fmla="*/ 0 h 50"/>
                    <a:gd name="T8" fmla="*/ 21 w 67"/>
                    <a:gd name="T9" fmla="*/ 50 h 50"/>
                    <a:gd name="T10" fmla="*/ 66 w 67"/>
                    <a:gd name="T11" fmla="*/ 5 h 50"/>
                    <a:gd name="T12" fmla="*/ 67 w 67"/>
                    <a:gd name="T13" fmla="*/ 4 h 50"/>
                  </a:gdLst>
                  <a:ahLst/>
                  <a:cxnLst>
                    <a:cxn ang="0">
                      <a:pos x="T0" y="T1"/>
                    </a:cxn>
                    <a:cxn ang="0">
                      <a:pos x="T2" y="T3"/>
                    </a:cxn>
                    <a:cxn ang="0">
                      <a:pos x="T4" y="T5"/>
                    </a:cxn>
                    <a:cxn ang="0">
                      <a:pos x="T6" y="T7"/>
                    </a:cxn>
                    <a:cxn ang="0">
                      <a:pos x="T8" y="T9"/>
                    </a:cxn>
                    <a:cxn ang="0">
                      <a:pos x="T10" y="T11"/>
                    </a:cxn>
                    <a:cxn ang="0">
                      <a:pos x="T12" y="T13"/>
                    </a:cxn>
                  </a:cxnLst>
                  <a:rect l="0" t="0" r="r" b="b"/>
                  <a:pathLst>
                    <a:path w="67" h="50">
                      <a:moveTo>
                        <a:pt x="67" y="4"/>
                      </a:moveTo>
                      <a:cubicBezTo>
                        <a:pt x="66" y="3"/>
                        <a:pt x="66" y="1"/>
                        <a:pt x="66" y="0"/>
                      </a:cubicBezTo>
                      <a:cubicBezTo>
                        <a:pt x="65" y="0"/>
                        <a:pt x="64" y="0"/>
                        <a:pt x="64" y="0"/>
                      </a:cubicBezTo>
                      <a:cubicBezTo>
                        <a:pt x="0" y="0"/>
                        <a:pt x="0" y="0"/>
                        <a:pt x="0" y="0"/>
                      </a:cubicBezTo>
                      <a:cubicBezTo>
                        <a:pt x="2" y="19"/>
                        <a:pt x="10" y="36"/>
                        <a:pt x="21" y="50"/>
                      </a:cubicBezTo>
                      <a:cubicBezTo>
                        <a:pt x="66" y="5"/>
                        <a:pt x="66" y="5"/>
                        <a:pt x="66" y="5"/>
                      </a:cubicBezTo>
                      <a:cubicBezTo>
                        <a:pt x="66" y="4"/>
                        <a:pt x="67" y="4"/>
                        <a:pt x="67" y="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sp>
              <p:nvSpPr>
                <p:cNvPr id="98" name="Freeform 1027">
                  <a:extLst>
                    <a:ext uri="{FF2B5EF4-FFF2-40B4-BE49-F238E27FC236}">
                      <a16:creationId xmlns:a16="http://schemas.microsoft.com/office/drawing/2014/main" id="{4AD003F0-86F0-DB78-B292-1A1B50EDF365}"/>
                    </a:ext>
                  </a:extLst>
                </p:cNvPr>
                <p:cNvSpPr>
                  <a:spLocks/>
                </p:cNvSpPr>
                <p:nvPr/>
              </p:nvSpPr>
              <p:spPr bwMode="auto">
                <a:xfrm>
                  <a:off x="893" y="4124"/>
                  <a:ext cx="45" cy="33"/>
                </a:xfrm>
                <a:custGeom>
                  <a:avLst/>
                  <a:gdLst>
                    <a:gd name="T0" fmla="*/ 66 w 67"/>
                    <a:gd name="T1" fmla="*/ 49 h 49"/>
                    <a:gd name="T2" fmla="*/ 67 w 67"/>
                    <a:gd name="T3" fmla="*/ 46 h 49"/>
                    <a:gd name="T4" fmla="*/ 66 w 67"/>
                    <a:gd name="T5" fmla="*/ 45 h 49"/>
                    <a:gd name="T6" fmla="*/ 21 w 67"/>
                    <a:gd name="T7" fmla="*/ 0 h 49"/>
                    <a:gd name="T8" fmla="*/ 0 w 67"/>
                    <a:gd name="T9" fmla="*/ 49 h 49"/>
                    <a:gd name="T10" fmla="*/ 64 w 67"/>
                    <a:gd name="T11" fmla="*/ 49 h 49"/>
                    <a:gd name="T12" fmla="*/ 66 w 67"/>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67" h="49">
                      <a:moveTo>
                        <a:pt x="66" y="49"/>
                      </a:moveTo>
                      <a:cubicBezTo>
                        <a:pt x="66" y="48"/>
                        <a:pt x="66" y="47"/>
                        <a:pt x="67" y="46"/>
                      </a:cubicBezTo>
                      <a:cubicBezTo>
                        <a:pt x="67" y="45"/>
                        <a:pt x="66" y="45"/>
                        <a:pt x="66" y="45"/>
                      </a:cubicBezTo>
                      <a:cubicBezTo>
                        <a:pt x="21" y="0"/>
                        <a:pt x="21" y="0"/>
                        <a:pt x="21" y="0"/>
                      </a:cubicBezTo>
                      <a:cubicBezTo>
                        <a:pt x="10" y="14"/>
                        <a:pt x="2" y="31"/>
                        <a:pt x="0" y="49"/>
                      </a:cubicBezTo>
                      <a:cubicBezTo>
                        <a:pt x="64" y="49"/>
                        <a:pt x="64" y="49"/>
                        <a:pt x="64" y="49"/>
                      </a:cubicBezTo>
                      <a:cubicBezTo>
                        <a:pt x="64" y="49"/>
                        <a:pt x="65" y="49"/>
                        <a:pt x="66" y="4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sp>
              <p:nvSpPr>
                <p:cNvPr id="99" name="Freeform 1028">
                  <a:extLst>
                    <a:ext uri="{FF2B5EF4-FFF2-40B4-BE49-F238E27FC236}">
                      <a16:creationId xmlns:a16="http://schemas.microsoft.com/office/drawing/2014/main" id="{CF6654EC-200B-E020-E1D7-58092D739319}"/>
                    </a:ext>
                  </a:extLst>
                </p:cNvPr>
                <p:cNvSpPr>
                  <a:spLocks/>
                </p:cNvSpPr>
                <p:nvPr/>
              </p:nvSpPr>
              <p:spPr bwMode="auto">
                <a:xfrm>
                  <a:off x="917" y="4100"/>
                  <a:ext cx="33" cy="45"/>
                </a:xfrm>
                <a:custGeom>
                  <a:avLst/>
                  <a:gdLst>
                    <a:gd name="T0" fmla="*/ 46 w 49"/>
                    <a:gd name="T1" fmla="*/ 67 h 67"/>
                    <a:gd name="T2" fmla="*/ 49 w 49"/>
                    <a:gd name="T3" fmla="*/ 66 h 67"/>
                    <a:gd name="T4" fmla="*/ 49 w 49"/>
                    <a:gd name="T5" fmla="*/ 64 h 67"/>
                    <a:gd name="T6" fmla="*/ 49 w 49"/>
                    <a:gd name="T7" fmla="*/ 0 h 67"/>
                    <a:gd name="T8" fmla="*/ 0 w 49"/>
                    <a:gd name="T9" fmla="*/ 21 h 67"/>
                    <a:gd name="T10" fmla="*/ 45 w 49"/>
                    <a:gd name="T11" fmla="*/ 66 h 67"/>
                    <a:gd name="T12" fmla="*/ 46 w 49"/>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49" h="67">
                      <a:moveTo>
                        <a:pt x="46" y="67"/>
                      </a:moveTo>
                      <a:cubicBezTo>
                        <a:pt x="47" y="66"/>
                        <a:pt x="48" y="66"/>
                        <a:pt x="49" y="66"/>
                      </a:cubicBezTo>
                      <a:cubicBezTo>
                        <a:pt x="49" y="65"/>
                        <a:pt x="49" y="64"/>
                        <a:pt x="49" y="64"/>
                      </a:cubicBezTo>
                      <a:cubicBezTo>
                        <a:pt x="49" y="0"/>
                        <a:pt x="49" y="0"/>
                        <a:pt x="49" y="0"/>
                      </a:cubicBezTo>
                      <a:cubicBezTo>
                        <a:pt x="31" y="2"/>
                        <a:pt x="14" y="10"/>
                        <a:pt x="0" y="21"/>
                      </a:cubicBezTo>
                      <a:cubicBezTo>
                        <a:pt x="45" y="66"/>
                        <a:pt x="45" y="66"/>
                        <a:pt x="45" y="66"/>
                      </a:cubicBezTo>
                      <a:cubicBezTo>
                        <a:pt x="45" y="66"/>
                        <a:pt x="45" y="67"/>
                        <a:pt x="46" y="6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sp>
              <p:nvSpPr>
                <p:cNvPr id="100" name="Freeform 1029">
                  <a:extLst>
                    <a:ext uri="{FF2B5EF4-FFF2-40B4-BE49-F238E27FC236}">
                      <a16:creationId xmlns:a16="http://schemas.microsoft.com/office/drawing/2014/main" id="{6B035EBF-CDA5-ADB2-3163-E759B0BBCBE8}"/>
                    </a:ext>
                  </a:extLst>
                </p:cNvPr>
                <p:cNvSpPr>
                  <a:spLocks/>
                </p:cNvSpPr>
                <p:nvPr/>
              </p:nvSpPr>
              <p:spPr bwMode="auto">
                <a:xfrm>
                  <a:off x="964" y="4100"/>
                  <a:ext cx="33" cy="45"/>
                </a:xfrm>
                <a:custGeom>
                  <a:avLst/>
                  <a:gdLst>
                    <a:gd name="T0" fmla="*/ 5 w 50"/>
                    <a:gd name="T1" fmla="*/ 66 h 67"/>
                    <a:gd name="T2" fmla="*/ 50 w 50"/>
                    <a:gd name="T3" fmla="*/ 21 h 67"/>
                    <a:gd name="T4" fmla="*/ 0 w 50"/>
                    <a:gd name="T5" fmla="*/ 0 h 67"/>
                    <a:gd name="T6" fmla="*/ 0 w 50"/>
                    <a:gd name="T7" fmla="*/ 64 h 67"/>
                    <a:gd name="T8" fmla="*/ 0 w 50"/>
                    <a:gd name="T9" fmla="*/ 66 h 67"/>
                    <a:gd name="T10" fmla="*/ 4 w 50"/>
                    <a:gd name="T11" fmla="*/ 67 h 67"/>
                    <a:gd name="T12" fmla="*/ 5 w 50"/>
                    <a:gd name="T13" fmla="*/ 66 h 67"/>
                  </a:gdLst>
                  <a:ahLst/>
                  <a:cxnLst>
                    <a:cxn ang="0">
                      <a:pos x="T0" y="T1"/>
                    </a:cxn>
                    <a:cxn ang="0">
                      <a:pos x="T2" y="T3"/>
                    </a:cxn>
                    <a:cxn ang="0">
                      <a:pos x="T4" y="T5"/>
                    </a:cxn>
                    <a:cxn ang="0">
                      <a:pos x="T6" y="T7"/>
                    </a:cxn>
                    <a:cxn ang="0">
                      <a:pos x="T8" y="T9"/>
                    </a:cxn>
                    <a:cxn ang="0">
                      <a:pos x="T10" y="T11"/>
                    </a:cxn>
                    <a:cxn ang="0">
                      <a:pos x="T12" y="T13"/>
                    </a:cxn>
                  </a:cxnLst>
                  <a:rect l="0" t="0" r="r" b="b"/>
                  <a:pathLst>
                    <a:path w="50" h="67">
                      <a:moveTo>
                        <a:pt x="5" y="66"/>
                      </a:moveTo>
                      <a:cubicBezTo>
                        <a:pt x="50" y="21"/>
                        <a:pt x="50" y="21"/>
                        <a:pt x="50" y="21"/>
                      </a:cubicBezTo>
                      <a:cubicBezTo>
                        <a:pt x="36" y="10"/>
                        <a:pt x="19" y="2"/>
                        <a:pt x="0" y="0"/>
                      </a:cubicBezTo>
                      <a:cubicBezTo>
                        <a:pt x="0" y="64"/>
                        <a:pt x="0" y="64"/>
                        <a:pt x="0" y="64"/>
                      </a:cubicBezTo>
                      <a:cubicBezTo>
                        <a:pt x="0" y="64"/>
                        <a:pt x="0" y="65"/>
                        <a:pt x="0" y="66"/>
                      </a:cubicBezTo>
                      <a:cubicBezTo>
                        <a:pt x="1" y="66"/>
                        <a:pt x="3" y="66"/>
                        <a:pt x="4" y="67"/>
                      </a:cubicBezTo>
                      <a:cubicBezTo>
                        <a:pt x="4" y="67"/>
                        <a:pt x="4" y="66"/>
                        <a:pt x="5" y="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sp>
              <p:nvSpPr>
                <p:cNvPr id="101" name="Freeform 1030">
                  <a:extLst>
                    <a:ext uri="{FF2B5EF4-FFF2-40B4-BE49-F238E27FC236}">
                      <a16:creationId xmlns:a16="http://schemas.microsoft.com/office/drawing/2014/main" id="{9A556741-7F7F-E29C-3251-E9C97253AC50}"/>
                    </a:ext>
                  </a:extLst>
                </p:cNvPr>
                <p:cNvSpPr>
                  <a:spLocks/>
                </p:cNvSpPr>
                <p:nvPr/>
              </p:nvSpPr>
              <p:spPr bwMode="auto">
                <a:xfrm>
                  <a:off x="917" y="4183"/>
                  <a:ext cx="33" cy="44"/>
                </a:xfrm>
                <a:custGeom>
                  <a:avLst/>
                  <a:gdLst>
                    <a:gd name="T0" fmla="*/ 45 w 49"/>
                    <a:gd name="T1" fmla="*/ 2 h 67"/>
                    <a:gd name="T2" fmla="*/ 0 w 49"/>
                    <a:gd name="T3" fmla="*/ 47 h 67"/>
                    <a:gd name="T4" fmla="*/ 49 w 49"/>
                    <a:gd name="T5" fmla="*/ 67 h 67"/>
                    <a:gd name="T6" fmla="*/ 49 w 49"/>
                    <a:gd name="T7" fmla="*/ 4 h 67"/>
                    <a:gd name="T8" fmla="*/ 49 w 49"/>
                    <a:gd name="T9" fmla="*/ 2 h 67"/>
                    <a:gd name="T10" fmla="*/ 46 w 49"/>
                    <a:gd name="T11" fmla="*/ 0 h 67"/>
                    <a:gd name="T12" fmla="*/ 45 w 49"/>
                    <a:gd name="T13" fmla="*/ 2 h 67"/>
                  </a:gdLst>
                  <a:ahLst/>
                  <a:cxnLst>
                    <a:cxn ang="0">
                      <a:pos x="T0" y="T1"/>
                    </a:cxn>
                    <a:cxn ang="0">
                      <a:pos x="T2" y="T3"/>
                    </a:cxn>
                    <a:cxn ang="0">
                      <a:pos x="T4" y="T5"/>
                    </a:cxn>
                    <a:cxn ang="0">
                      <a:pos x="T6" y="T7"/>
                    </a:cxn>
                    <a:cxn ang="0">
                      <a:pos x="T8" y="T9"/>
                    </a:cxn>
                    <a:cxn ang="0">
                      <a:pos x="T10" y="T11"/>
                    </a:cxn>
                    <a:cxn ang="0">
                      <a:pos x="T12" y="T13"/>
                    </a:cxn>
                  </a:cxnLst>
                  <a:rect l="0" t="0" r="r" b="b"/>
                  <a:pathLst>
                    <a:path w="49" h="67">
                      <a:moveTo>
                        <a:pt x="45" y="2"/>
                      </a:moveTo>
                      <a:cubicBezTo>
                        <a:pt x="0" y="47"/>
                        <a:pt x="0" y="47"/>
                        <a:pt x="0" y="47"/>
                      </a:cubicBezTo>
                      <a:cubicBezTo>
                        <a:pt x="14" y="58"/>
                        <a:pt x="31" y="65"/>
                        <a:pt x="49" y="67"/>
                      </a:cubicBezTo>
                      <a:cubicBezTo>
                        <a:pt x="49" y="4"/>
                        <a:pt x="49" y="4"/>
                        <a:pt x="49" y="4"/>
                      </a:cubicBezTo>
                      <a:cubicBezTo>
                        <a:pt x="49" y="3"/>
                        <a:pt x="49" y="2"/>
                        <a:pt x="49" y="2"/>
                      </a:cubicBezTo>
                      <a:cubicBezTo>
                        <a:pt x="48" y="1"/>
                        <a:pt x="47" y="1"/>
                        <a:pt x="46" y="0"/>
                      </a:cubicBezTo>
                      <a:cubicBezTo>
                        <a:pt x="45" y="1"/>
                        <a:pt x="45" y="1"/>
                        <a:pt x="45" y="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sp>
              <p:nvSpPr>
                <p:cNvPr id="102" name="Freeform 1031">
                  <a:extLst>
                    <a:ext uri="{FF2B5EF4-FFF2-40B4-BE49-F238E27FC236}">
                      <a16:creationId xmlns:a16="http://schemas.microsoft.com/office/drawing/2014/main" id="{B93ECB4C-F442-67DA-E48C-C977F11E6642}"/>
                    </a:ext>
                  </a:extLst>
                </p:cNvPr>
                <p:cNvSpPr>
                  <a:spLocks/>
                </p:cNvSpPr>
                <p:nvPr/>
              </p:nvSpPr>
              <p:spPr bwMode="auto">
                <a:xfrm>
                  <a:off x="976" y="4171"/>
                  <a:ext cx="44" cy="33"/>
                </a:xfrm>
                <a:custGeom>
                  <a:avLst/>
                  <a:gdLst>
                    <a:gd name="T0" fmla="*/ 2 w 67"/>
                    <a:gd name="T1" fmla="*/ 0 h 50"/>
                    <a:gd name="T2" fmla="*/ 0 w 67"/>
                    <a:gd name="T3" fmla="*/ 4 h 50"/>
                    <a:gd name="T4" fmla="*/ 2 w 67"/>
                    <a:gd name="T5" fmla="*/ 5 h 50"/>
                    <a:gd name="T6" fmla="*/ 47 w 67"/>
                    <a:gd name="T7" fmla="*/ 50 h 50"/>
                    <a:gd name="T8" fmla="*/ 67 w 67"/>
                    <a:gd name="T9" fmla="*/ 0 h 50"/>
                    <a:gd name="T10" fmla="*/ 4 w 67"/>
                    <a:gd name="T11" fmla="*/ 0 h 50"/>
                    <a:gd name="T12" fmla="*/ 2 w 67"/>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67" h="50">
                      <a:moveTo>
                        <a:pt x="2" y="0"/>
                      </a:moveTo>
                      <a:cubicBezTo>
                        <a:pt x="1" y="1"/>
                        <a:pt x="1" y="2"/>
                        <a:pt x="0" y="4"/>
                      </a:cubicBezTo>
                      <a:cubicBezTo>
                        <a:pt x="1" y="4"/>
                        <a:pt x="1" y="4"/>
                        <a:pt x="2" y="5"/>
                      </a:cubicBezTo>
                      <a:cubicBezTo>
                        <a:pt x="47" y="50"/>
                        <a:pt x="47" y="50"/>
                        <a:pt x="47" y="50"/>
                      </a:cubicBezTo>
                      <a:cubicBezTo>
                        <a:pt x="58" y="36"/>
                        <a:pt x="65" y="19"/>
                        <a:pt x="67" y="0"/>
                      </a:cubicBezTo>
                      <a:cubicBezTo>
                        <a:pt x="4" y="0"/>
                        <a:pt x="4" y="0"/>
                        <a:pt x="4" y="0"/>
                      </a:cubicBezTo>
                      <a:cubicBezTo>
                        <a:pt x="3" y="0"/>
                        <a:pt x="2" y="0"/>
                        <a:pt x="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sp>
              <p:nvSpPr>
                <p:cNvPr id="103" name="Oval 1032">
                  <a:extLst>
                    <a:ext uri="{FF2B5EF4-FFF2-40B4-BE49-F238E27FC236}">
                      <a16:creationId xmlns:a16="http://schemas.microsoft.com/office/drawing/2014/main" id="{67F49CA5-63D7-0799-7E11-F1FD49BB28B6}"/>
                    </a:ext>
                  </a:extLst>
                </p:cNvPr>
                <p:cNvSpPr>
                  <a:spLocks noChangeArrowheads="1"/>
                </p:cNvSpPr>
                <p:nvPr/>
              </p:nvSpPr>
              <p:spPr bwMode="auto">
                <a:xfrm>
                  <a:off x="950" y="4157"/>
                  <a:ext cx="14" cy="14"/>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sp>
              <p:nvSpPr>
                <p:cNvPr id="104" name="Freeform 1033">
                  <a:extLst>
                    <a:ext uri="{FF2B5EF4-FFF2-40B4-BE49-F238E27FC236}">
                      <a16:creationId xmlns:a16="http://schemas.microsoft.com/office/drawing/2014/main" id="{DE54A00F-73F6-4F78-2E7A-D555F2B55290}"/>
                    </a:ext>
                  </a:extLst>
                </p:cNvPr>
                <p:cNvSpPr>
                  <a:spLocks noEditPoints="1"/>
                </p:cNvSpPr>
                <p:nvPr/>
              </p:nvSpPr>
              <p:spPr bwMode="auto">
                <a:xfrm>
                  <a:off x="787" y="3994"/>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266 h 512"/>
                    <a:gd name="T12" fmla="*/ 372 w 512"/>
                    <a:gd name="T13" fmla="*/ 266 h 512"/>
                    <a:gd name="T14" fmla="*/ 346 w 512"/>
                    <a:gd name="T15" fmla="*/ 331 h 512"/>
                    <a:gd name="T16" fmla="*/ 370 w 512"/>
                    <a:gd name="T17" fmla="*/ 355 h 512"/>
                    <a:gd name="T18" fmla="*/ 370 w 512"/>
                    <a:gd name="T19" fmla="*/ 370 h 512"/>
                    <a:gd name="T20" fmla="*/ 362 w 512"/>
                    <a:gd name="T21" fmla="*/ 373 h 512"/>
                    <a:gd name="T22" fmla="*/ 355 w 512"/>
                    <a:gd name="T23" fmla="*/ 370 h 512"/>
                    <a:gd name="T24" fmla="*/ 331 w 512"/>
                    <a:gd name="T25" fmla="*/ 346 h 512"/>
                    <a:gd name="T26" fmla="*/ 266 w 512"/>
                    <a:gd name="T27" fmla="*/ 372 h 512"/>
                    <a:gd name="T28" fmla="*/ 266 w 512"/>
                    <a:gd name="T29" fmla="*/ 405 h 512"/>
                    <a:gd name="T30" fmla="*/ 256 w 512"/>
                    <a:gd name="T31" fmla="*/ 416 h 512"/>
                    <a:gd name="T32" fmla="*/ 245 w 512"/>
                    <a:gd name="T33" fmla="*/ 405 h 512"/>
                    <a:gd name="T34" fmla="*/ 245 w 512"/>
                    <a:gd name="T35" fmla="*/ 372 h 512"/>
                    <a:gd name="T36" fmla="*/ 181 w 512"/>
                    <a:gd name="T37" fmla="*/ 346 h 512"/>
                    <a:gd name="T38" fmla="*/ 157 w 512"/>
                    <a:gd name="T39" fmla="*/ 370 h 512"/>
                    <a:gd name="T40" fmla="*/ 149 w 512"/>
                    <a:gd name="T41" fmla="*/ 373 h 512"/>
                    <a:gd name="T42" fmla="*/ 141 w 512"/>
                    <a:gd name="T43" fmla="*/ 370 h 512"/>
                    <a:gd name="T44" fmla="*/ 141 w 512"/>
                    <a:gd name="T45" fmla="*/ 355 h 512"/>
                    <a:gd name="T46" fmla="*/ 166 w 512"/>
                    <a:gd name="T47" fmla="*/ 331 h 512"/>
                    <a:gd name="T48" fmla="*/ 139 w 512"/>
                    <a:gd name="T49" fmla="*/ 266 h 512"/>
                    <a:gd name="T50" fmla="*/ 106 w 512"/>
                    <a:gd name="T51" fmla="*/ 266 h 512"/>
                    <a:gd name="T52" fmla="*/ 96 w 512"/>
                    <a:gd name="T53" fmla="*/ 256 h 512"/>
                    <a:gd name="T54" fmla="*/ 106 w 512"/>
                    <a:gd name="T55" fmla="*/ 245 h 512"/>
                    <a:gd name="T56" fmla="*/ 139 w 512"/>
                    <a:gd name="T57" fmla="*/ 245 h 512"/>
                    <a:gd name="T58" fmla="*/ 166 w 512"/>
                    <a:gd name="T59" fmla="*/ 181 h 512"/>
                    <a:gd name="T60" fmla="*/ 141 w 512"/>
                    <a:gd name="T61" fmla="*/ 157 h 512"/>
                    <a:gd name="T62" fmla="*/ 141 w 512"/>
                    <a:gd name="T63" fmla="*/ 141 h 512"/>
                    <a:gd name="T64" fmla="*/ 157 w 512"/>
                    <a:gd name="T65" fmla="*/ 141 h 512"/>
                    <a:gd name="T66" fmla="*/ 181 w 512"/>
                    <a:gd name="T67" fmla="*/ 166 h 512"/>
                    <a:gd name="T68" fmla="*/ 245 w 512"/>
                    <a:gd name="T69" fmla="*/ 139 h 512"/>
                    <a:gd name="T70" fmla="*/ 245 w 512"/>
                    <a:gd name="T71" fmla="*/ 106 h 512"/>
                    <a:gd name="T72" fmla="*/ 256 w 512"/>
                    <a:gd name="T73" fmla="*/ 96 h 512"/>
                    <a:gd name="T74" fmla="*/ 266 w 512"/>
                    <a:gd name="T75" fmla="*/ 106 h 512"/>
                    <a:gd name="T76" fmla="*/ 266 w 512"/>
                    <a:gd name="T77" fmla="*/ 139 h 512"/>
                    <a:gd name="T78" fmla="*/ 331 w 512"/>
                    <a:gd name="T79" fmla="*/ 166 h 512"/>
                    <a:gd name="T80" fmla="*/ 355 w 512"/>
                    <a:gd name="T81" fmla="*/ 141 h 512"/>
                    <a:gd name="T82" fmla="*/ 370 w 512"/>
                    <a:gd name="T83" fmla="*/ 141 h 512"/>
                    <a:gd name="T84" fmla="*/ 370 w 512"/>
                    <a:gd name="T85" fmla="*/ 157 h 512"/>
                    <a:gd name="T86" fmla="*/ 346 w 512"/>
                    <a:gd name="T87" fmla="*/ 181 h 512"/>
                    <a:gd name="T88" fmla="*/ 372 w 512"/>
                    <a:gd name="T89" fmla="*/ 245 h 512"/>
                    <a:gd name="T90" fmla="*/ 405 w 512"/>
                    <a:gd name="T91" fmla="*/ 245 h 512"/>
                    <a:gd name="T92" fmla="*/ 416 w 512"/>
                    <a:gd name="T93" fmla="*/ 256 h 512"/>
                    <a:gd name="T94" fmla="*/ 405 w 512"/>
                    <a:gd name="T95"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66"/>
                      </a:moveTo>
                      <a:cubicBezTo>
                        <a:pt x="372" y="266"/>
                        <a:pt x="372" y="266"/>
                        <a:pt x="372" y="266"/>
                      </a:cubicBezTo>
                      <a:cubicBezTo>
                        <a:pt x="370" y="291"/>
                        <a:pt x="361" y="313"/>
                        <a:pt x="346" y="331"/>
                      </a:cubicBezTo>
                      <a:cubicBezTo>
                        <a:pt x="370" y="355"/>
                        <a:pt x="370" y="355"/>
                        <a:pt x="370" y="355"/>
                      </a:cubicBezTo>
                      <a:cubicBezTo>
                        <a:pt x="374" y="359"/>
                        <a:pt x="374" y="366"/>
                        <a:pt x="370" y="370"/>
                      </a:cubicBezTo>
                      <a:cubicBezTo>
                        <a:pt x="368" y="372"/>
                        <a:pt x="365" y="373"/>
                        <a:pt x="362" y="373"/>
                      </a:cubicBezTo>
                      <a:cubicBezTo>
                        <a:pt x="360" y="373"/>
                        <a:pt x="357" y="372"/>
                        <a:pt x="355" y="370"/>
                      </a:cubicBezTo>
                      <a:cubicBezTo>
                        <a:pt x="331" y="346"/>
                        <a:pt x="331" y="346"/>
                        <a:pt x="331" y="346"/>
                      </a:cubicBezTo>
                      <a:cubicBezTo>
                        <a:pt x="313" y="361"/>
                        <a:pt x="291" y="370"/>
                        <a:pt x="266" y="372"/>
                      </a:cubicBezTo>
                      <a:cubicBezTo>
                        <a:pt x="266" y="405"/>
                        <a:pt x="266" y="405"/>
                        <a:pt x="266" y="405"/>
                      </a:cubicBezTo>
                      <a:cubicBezTo>
                        <a:pt x="266" y="411"/>
                        <a:pt x="262" y="416"/>
                        <a:pt x="256" y="416"/>
                      </a:cubicBezTo>
                      <a:cubicBezTo>
                        <a:pt x="250" y="416"/>
                        <a:pt x="245" y="411"/>
                        <a:pt x="245" y="405"/>
                      </a:cubicBezTo>
                      <a:cubicBezTo>
                        <a:pt x="245" y="372"/>
                        <a:pt x="245" y="372"/>
                        <a:pt x="245" y="372"/>
                      </a:cubicBezTo>
                      <a:cubicBezTo>
                        <a:pt x="221" y="370"/>
                        <a:pt x="198" y="361"/>
                        <a:pt x="181" y="346"/>
                      </a:cubicBezTo>
                      <a:cubicBezTo>
                        <a:pt x="157" y="370"/>
                        <a:pt x="157" y="370"/>
                        <a:pt x="157" y="370"/>
                      </a:cubicBezTo>
                      <a:cubicBezTo>
                        <a:pt x="154" y="372"/>
                        <a:pt x="152" y="373"/>
                        <a:pt x="149" y="373"/>
                      </a:cubicBezTo>
                      <a:cubicBezTo>
                        <a:pt x="146" y="373"/>
                        <a:pt x="144" y="372"/>
                        <a:pt x="141" y="370"/>
                      </a:cubicBezTo>
                      <a:cubicBezTo>
                        <a:pt x="137" y="366"/>
                        <a:pt x="137" y="359"/>
                        <a:pt x="141" y="355"/>
                      </a:cubicBezTo>
                      <a:cubicBezTo>
                        <a:pt x="166" y="331"/>
                        <a:pt x="166" y="331"/>
                        <a:pt x="166" y="331"/>
                      </a:cubicBezTo>
                      <a:cubicBezTo>
                        <a:pt x="151" y="313"/>
                        <a:pt x="141" y="291"/>
                        <a:pt x="139" y="266"/>
                      </a:cubicBezTo>
                      <a:cubicBezTo>
                        <a:pt x="106" y="266"/>
                        <a:pt x="106" y="266"/>
                        <a:pt x="106" y="266"/>
                      </a:cubicBezTo>
                      <a:cubicBezTo>
                        <a:pt x="100" y="266"/>
                        <a:pt x="96" y="262"/>
                        <a:pt x="96" y="256"/>
                      </a:cubicBezTo>
                      <a:cubicBezTo>
                        <a:pt x="96" y="250"/>
                        <a:pt x="100" y="245"/>
                        <a:pt x="106" y="245"/>
                      </a:cubicBezTo>
                      <a:cubicBezTo>
                        <a:pt x="139" y="245"/>
                        <a:pt x="139" y="245"/>
                        <a:pt x="139" y="245"/>
                      </a:cubicBezTo>
                      <a:cubicBezTo>
                        <a:pt x="141" y="221"/>
                        <a:pt x="151" y="198"/>
                        <a:pt x="166" y="181"/>
                      </a:cubicBezTo>
                      <a:cubicBezTo>
                        <a:pt x="141" y="157"/>
                        <a:pt x="141" y="157"/>
                        <a:pt x="141" y="157"/>
                      </a:cubicBezTo>
                      <a:cubicBezTo>
                        <a:pt x="137" y="152"/>
                        <a:pt x="137" y="146"/>
                        <a:pt x="141" y="141"/>
                      </a:cubicBezTo>
                      <a:cubicBezTo>
                        <a:pt x="146" y="137"/>
                        <a:pt x="152" y="137"/>
                        <a:pt x="157" y="141"/>
                      </a:cubicBezTo>
                      <a:cubicBezTo>
                        <a:pt x="181" y="166"/>
                        <a:pt x="181" y="166"/>
                        <a:pt x="181" y="166"/>
                      </a:cubicBezTo>
                      <a:cubicBezTo>
                        <a:pt x="198" y="151"/>
                        <a:pt x="221" y="141"/>
                        <a:pt x="245" y="139"/>
                      </a:cubicBezTo>
                      <a:cubicBezTo>
                        <a:pt x="245" y="106"/>
                        <a:pt x="245" y="106"/>
                        <a:pt x="245" y="106"/>
                      </a:cubicBezTo>
                      <a:cubicBezTo>
                        <a:pt x="245" y="100"/>
                        <a:pt x="250" y="96"/>
                        <a:pt x="256" y="96"/>
                      </a:cubicBezTo>
                      <a:cubicBezTo>
                        <a:pt x="262" y="96"/>
                        <a:pt x="266" y="100"/>
                        <a:pt x="266" y="106"/>
                      </a:cubicBezTo>
                      <a:cubicBezTo>
                        <a:pt x="266" y="139"/>
                        <a:pt x="266" y="139"/>
                        <a:pt x="266" y="139"/>
                      </a:cubicBezTo>
                      <a:cubicBezTo>
                        <a:pt x="291" y="141"/>
                        <a:pt x="313" y="151"/>
                        <a:pt x="331" y="166"/>
                      </a:cubicBezTo>
                      <a:cubicBezTo>
                        <a:pt x="355" y="141"/>
                        <a:pt x="355" y="141"/>
                        <a:pt x="355" y="141"/>
                      </a:cubicBezTo>
                      <a:cubicBezTo>
                        <a:pt x="359" y="137"/>
                        <a:pt x="366" y="137"/>
                        <a:pt x="370" y="141"/>
                      </a:cubicBezTo>
                      <a:cubicBezTo>
                        <a:pt x="374" y="146"/>
                        <a:pt x="374" y="152"/>
                        <a:pt x="370" y="157"/>
                      </a:cubicBezTo>
                      <a:cubicBezTo>
                        <a:pt x="346" y="181"/>
                        <a:pt x="346" y="181"/>
                        <a:pt x="346" y="181"/>
                      </a:cubicBezTo>
                      <a:cubicBezTo>
                        <a:pt x="361" y="198"/>
                        <a:pt x="370" y="221"/>
                        <a:pt x="372"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sp>
              <p:nvSpPr>
                <p:cNvPr id="105" name="Freeform 1034">
                  <a:extLst>
                    <a:ext uri="{FF2B5EF4-FFF2-40B4-BE49-F238E27FC236}">
                      <a16:creationId xmlns:a16="http://schemas.microsoft.com/office/drawing/2014/main" id="{0EF63B56-8EF6-5559-4B39-4978C7520E41}"/>
                    </a:ext>
                  </a:extLst>
                </p:cNvPr>
                <p:cNvSpPr>
                  <a:spLocks/>
                </p:cNvSpPr>
                <p:nvPr/>
              </p:nvSpPr>
              <p:spPr bwMode="auto">
                <a:xfrm>
                  <a:off x="976" y="4124"/>
                  <a:ext cx="44" cy="33"/>
                </a:xfrm>
                <a:custGeom>
                  <a:avLst/>
                  <a:gdLst>
                    <a:gd name="T0" fmla="*/ 2 w 67"/>
                    <a:gd name="T1" fmla="*/ 45 h 49"/>
                    <a:gd name="T2" fmla="*/ 0 w 67"/>
                    <a:gd name="T3" fmla="*/ 46 h 49"/>
                    <a:gd name="T4" fmla="*/ 2 w 67"/>
                    <a:gd name="T5" fmla="*/ 49 h 49"/>
                    <a:gd name="T6" fmla="*/ 4 w 67"/>
                    <a:gd name="T7" fmla="*/ 49 h 49"/>
                    <a:gd name="T8" fmla="*/ 67 w 67"/>
                    <a:gd name="T9" fmla="*/ 49 h 49"/>
                    <a:gd name="T10" fmla="*/ 47 w 67"/>
                    <a:gd name="T11" fmla="*/ 0 h 49"/>
                    <a:gd name="T12" fmla="*/ 2 w 67"/>
                    <a:gd name="T13" fmla="*/ 45 h 49"/>
                  </a:gdLst>
                  <a:ahLst/>
                  <a:cxnLst>
                    <a:cxn ang="0">
                      <a:pos x="T0" y="T1"/>
                    </a:cxn>
                    <a:cxn ang="0">
                      <a:pos x="T2" y="T3"/>
                    </a:cxn>
                    <a:cxn ang="0">
                      <a:pos x="T4" y="T5"/>
                    </a:cxn>
                    <a:cxn ang="0">
                      <a:pos x="T6" y="T7"/>
                    </a:cxn>
                    <a:cxn ang="0">
                      <a:pos x="T8" y="T9"/>
                    </a:cxn>
                    <a:cxn ang="0">
                      <a:pos x="T10" y="T11"/>
                    </a:cxn>
                    <a:cxn ang="0">
                      <a:pos x="T12" y="T13"/>
                    </a:cxn>
                  </a:cxnLst>
                  <a:rect l="0" t="0" r="r" b="b"/>
                  <a:pathLst>
                    <a:path w="67" h="49">
                      <a:moveTo>
                        <a:pt x="2" y="45"/>
                      </a:moveTo>
                      <a:cubicBezTo>
                        <a:pt x="1" y="45"/>
                        <a:pt x="1" y="45"/>
                        <a:pt x="0" y="46"/>
                      </a:cubicBezTo>
                      <a:cubicBezTo>
                        <a:pt x="1" y="47"/>
                        <a:pt x="1" y="48"/>
                        <a:pt x="2" y="49"/>
                      </a:cubicBezTo>
                      <a:cubicBezTo>
                        <a:pt x="2" y="49"/>
                        <a:pt x="3" y="49"/>
                        <a:pt x="4" y="49"/>
                      </a:cubicBezTo>
                      <a:cubicBezTo>
                        <a:pt x="67" y="49"/>
                        <a:pt x="67" y="49"/>
                        <a:pt x="67" y="49"/>
                      </a:cubicBezTo>
                      <a:cubicBezTo>
                        <a:pt x="65" y="31"/>
                        <a:pt x="58" y="14"/>
                        <a:pt x="47" y="0"/>
                      </a:cubicBezTo>
                      <a:lnTo>
                        <a:pt x="2" y="4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sp>
              <p:nvSpPr>
                <p:cNvPr id="106" name="Freeform 1035">
                  <a:extLst>
                    <a:ext uri="{FF2B5EF4-FFF2-40B4-BE49-F238E27FC236}">
                      <a16:creationId xmlns:a16="http://schemas.microsoft.com/office/drawing/2014/main" id="{5361C4AB-AB5B-7393-0E51-C2912BA0385A}"/>
                    </a:ext>
                  </a:extLst>
                </p:cNvPr>
                <p:cNvSpPr>
                  <a:spLocks/>
                </p:cNvSpPr>
                <p:nvPr/>
              </p:nvSpPr>
              <p:spPr bwMode="auto">
                <a:xfrm>
                  <a:off x="964" y="4183"/>
                  <a:ext cx="33" cy="44"/>
                </a:xfrm>
                <a:custGeom>
                  <a:avLst/>
                  <a:gdLst>
                    <a:gd name="T0" fmla="*/ 4 w 50"/>
                    <a:gd name="T1" fmla="*/ 0 h 67"/>
                    <a:gd name="T2" fmla="*/ 0 w 50"/>
                    <a:gd name="T3" fmla="*/ 2 h 67"/>
                    <a:gd name="T4" fmla="*/ 0 w 50"/>
                    <a:gd name="T5" fmla="*/ 4 h 67"/>
                    <a:gd name="T6" fmla="*/ 0 w 50"/>
                    <a:gd name="T7" fmla="*/ 67 h 67"/>
                    <a:gd name="T8" fmla="*/ 50 w 50"/>
                    <a:gd name="T9" fmla="*/ 47 h 67"/>
                    <a:gd name="T10" fmla="*/ 5 w 50"/>
                    <a:gd name="T11" fmla="*/ 2 h 67"/>
                    <a:gd name="T12" fmla="*/ 4 w 50"/>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50" h="67">
                      <a:moveTo>
                        <a:pt x="4" y="0"/>
                      </a:moveTo>
                      <a:cubicBezTo>
                        <a:pt x="3" y="1"/>
                        <a:pt x="1" y="1"/>
                        <a:pt x="0" y="2"/>
                      </a:cubicBezTo>
                      <a:cubicBezTo>
                        <a:pt x="0" y="2"/>
                        <a:pt x="0" y="3"/>
                        <a:pt x="0" y="4"/>
                      </a:cubicBezTo>
                      <a:cubicBezTo>
                        <a:pt x="0" y="67"/>
                        <a:pt x="0" y="67"/>
                        <a:pt x="0" y="67"/>
                      </a:cubicBezTo>
                      <a:cubicBezTo>
                        <a:pt x="19" y="65"/>
                        <a:pt x="36" y="58"/>
                        <a:pt x="50" y="47"/>
                      </a:cubicBezTo>
                      <a:cubicBezTo>
                        <a:pt x="5" y="2"/>
                        <a:pt x="5" y="2"/>
                        <a:pt x="5" y="2"/>
                      </a:cubicBezTo>
                      <a:cubicBezTo>
                        <a:pt x="4" y="1"/>
                        <a:pt x="4" y="1"/>
                        <a:pt x="4"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grpSp>
          <p:grpSp>
            <p:nvGrpSpPr>
              <p:cNvPr id="92" name="Group 374">
                <a:extLst>
                  <a:ext uri="{FF2B5EF4-FFF2-40B4-BE49-F238E27FC236}">
                    <a16:creationId xmlns:a16="http://schemas.microsoft.com/office/drawing/2014/main" id="{58355BB2-2332-C00E-D741-A9825591F0CA}"/>
                  </a:ext>
                </a:extLst>
              </p:cNvPr>
              <p:cNvGrpSpPr>
                <a:grpSpLocks noChangeAspect="1"/>
              </p:cNvGrpSpPr>
              <p:nvPr/>
            </p:nvGrpSpPr>
            <p:grpSpPr bwMode="auto">
              <a:xfrm>
                <a:off x="4860822" y="3176124"/>
                <a:ext cx="513084" cy="513089"/>
                <a:chOff x="6996" y="1195"/>
                <a:chExt cx="340" cy="340"/>
              </a:xfrm>
              <a:solidFill>
                <a:schemeClr val="bg1"/>
              </a:solidFill>
            </p:grpSpPr>
            <p:sp>
              <p:nvSpPr>
                <p:cNvPr id="94" name="Freeform 375">
                  <a:extLst>
                    <a:ext uri="{FF2B5EF4-FFF2-40B4-BE49-F238E27FC236}">
                      <a16:creationId xmlns:a16="http://schemas.microsoft.com/office/drawing/2014/main" id="{556DD5ED-B8D2-11F4-2C95-BBB3790F7EE4}"/>
                    </a:ext>
                  </a:extLst>
                </p:cNvPr>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sp>
              <p:nvSpPr>
                <p:cNvPr id="95" name="Freeform 376">
                  <a:extLst>
                    <a:ext uri="{FF2B5EF4-FFF2-40B4-BE49-F238E27FC236}">
                      <a16:creationId xmlns:a16="http://schemas.microsoft.com/office/drawing/2014/main" id="{23E3B27D-6EF6-3426-F702-4AD7E1DB128F}"/>
                    </a:ext>
                  </a:extLst>
                </p:cNvPr>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sp>
              <p:nvSpPr>
                <p:cNvPr id="96" name="Freeform 377">
                  <a:extLst>
                    <a:ext uri="{FF2B5EF4-FFF2-40B4-BE49-F238E27FC236}">
                      <a16:creationId xmlns:a16="http://schemas.microsoft.com/office/drawing/2014/main" id="{A8C50CDD-4CF1-E620-3BA9-F0D4BE27D59D}"/>
                    </a:ext>
                  </a:extLst>
                </p:cNvPr>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grpSp>
          <p:sp>
            <p:nvSpPr>
              <p:cNvPr id="93" name="Freeform 113">
                <a:extLst>
                  <a:ext uri="{FF2B5EF4-FFF2-40B4-BE49-F238E27FC236}">
                    <a16:creationId xmlns:a16="http://schemas.microsoft.com/office/drawing/2014/main" id="{F6328D17-E501-E4F9-27D7-1F54A434F12A}"/>
                  </a:ext>
                </a:extLst>
              </p:cNvPr>
              <p:cNvSpPr>
                <a:spLocks noChangeAspect="1" noEditPoints="1"/>
              </p:cNvSpPr>
              <p:nvPr/>
            </p:nvSpPr>
            <p:spPr bwMode="auto">
              <a:xfrm>
                <a:off x="5957186" y="2282715"/>
                <a:ext cx="513206" cy="513087"/>
              </a:xfrm>
              <a:custGeom>
                <a:avLst/>
                <a:gdLst>
                  <a:gd name="T0" fmla="*/ 0 w 512"/>
                  <a:gd name="T1" fmla="*/ 256 h 512"/>
                  <a:gd name="T2" fmla="*/ 512 w 512"/>
                  <a:gd name="T3" fmla="*/ 256 h 512"/>
                  <a:gd name="T4" fmla="*/ 192 w 512"/>
                  <a:gd name="T5" fmla="*/ 160 h 512"/>
                  <a:gd name="T6" fmla="*/ 216 w 512"/>
                  <a:gd name="T7" fmla="*/ 170 h 512"/>
                  <a:gd name="T8" fmla="*/ 253 w 512"/>
                  <a:gd name="T9" fmla="*/ 170 h 512"/>
                  <a:gd name="T10" fmla="*/ 320 w 512"/>
                  <a:gd name="T11" fmla="*/ 160 h 512"/>
                  <a:gd name="T12" fmla="*/ 320 w 512"/>
                  <a:gd name="T13" fmla="*/ 202 h 512"/>
                  <a:gd name="T14" fmla="*/ 253 w 512"/>
                  <a:gd name="T15" fmla="*/ 192 h 512"/>
                  <a:gd name="T16" fmla="*/ 216 w 512"/>
                  <a:gd name="T17" fmla="*/ 192 h 512"/>
                  <a:gd name="T18" fmla="*/ 192 w 512"/>
                  <a:gd name="T19" fmla="*/ 202 h 512"/>
                  <a:gd name="T20" fmla="*/ 192 w 512"/>
                  <a:gd name="T21" fmla="*/ 160 h 512"/>
                  <a:gd name="T22" fmla="*/ 210 w 512"/>
                  <a:gd name="T23" fmla="*/ 245 h 512"/>
                  <a:gd name="T24" fmla="*/ 277 w 512"/>
                  <a:gd name="T25" fmla="*/ 234 h 512"/>
                  <a:gd name="T26" fmla="*/ 301 w 512"/>
                  <a:gd name="T27" fmla="*/ 245 h 512"/>
                  <a:gd name="T28" fmla="*/ 341 w 512"/>
                  <a:gd name="T29" fmla="*/ 256 h 512"/>
                  <a:gd name="T30" fmla="*/ 301 w 512"/>
                  <a:gd name="T31" fmla="*/ 266 h 512"/>
                  <a:gd name="T32" fmla="*/ 277 w 512"/>
                  <a:gd name="T33" fmla="*/ 277 h 512"/>
                  <a:gd name="T34" fmla="*/ 210 w 512"/>
                  <a:gd name="T35" fmla="*/ 266 h 512"/>
                  <a:gd name="T36" fmla="*/ 170 w 512"/>
                  <a:gd name="T37" fmla="*/ 256 h 512"/>
                  <a:gd name="T38" fmla="*/ 192 w 512"/>
                  <a:gd name="T39" fmla="*/ 309 h 512"/>
                  <a:gd name="T40" fmla="*/ 237 w 512"/>
                  <a:gd name="T41" fmla="*/ 320 h 512"/>
                  <a:gd name="T42" fmla="*/ 274 w 512"/>
                  <a:gd name="T43" fmla="*/ 320 h 512"/>
                  <a:gd name="T44" fmla="*/ 320 w 512"/>
                  <a:gd name="T45" fmla="*/ 309 h 512"/>
                  <a:gd name="T46" fmla="*/ 320 w 512"/>
                  <a:gd name="T47" fmla="*/ 352 h 512"/>
                  <a:gd name="T48" fmla="*/ 274 w 512"/>
                  <a:gd name="T49" fmla="*/ 341 h 512"/>
                  <a:gd name="T50" fmla="*/ 237 w 512"/>
                  <a:gd name="T51" fmla="*/ 341 h 512"/>
                  <a:gd name="T52" fmla="*/ 192 w 512"/>
                  <a:gd name="T53" fmla="*/ 352 h 512"/>
                  <a:gd name="T54" fmla="*/ 192 w 512"/>
                  <a:gd name="T55" fmla="*/ 309 h 512"/>
                  <a:gd name="T56" fmla="*/ 128 w 512"/>
                  <a:gd name="T57" fmla="*/ 394 h 512"/>
                  <a:gd name="T58" fmla="*/ 128 w 512"/>
                  <a:gd name="T59" fmla="*/ 373 h 512"/>
                  <a:gd name="T60" fmla="*/ 138 w 512"/>
                  <a:gd name="T61" fmla="*/ 117 h 512"/>
                  <a:gd name="T62" fmla="*/ 149 w 512"/>
                  <a:gd name="T63" fmla="*/ 373 h 512"/>
                  <a:gd name="T64" fmla="*/ 362 w 512"/>
                  <a:gd name="T65" fmla="*/ 128 h 512"/>
                  <a:gd name="T66" fmla="*/ 384 w 512"/>
                  <a:gd name="T67" fmla="*/ 128 h 512"/>
                  <a:gd name="T68" fmla="*/ 394 w 512"/>
                  <a:gd name="T69" fmla="*/ 38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92" y="160"/>
                    </a:moveTo>
                    <a:cubicBezTo>
                      <a:pt x="200" y="160"/>
                      <a:pt x="206" y="164"/>
                      <a:pt x="210" y="170"/>
                    </a:cubicBezTo>
                    <a:cubicBezTo>
                      <a:pt x="216" y="170"/>
                      <a:pt x="216" y="170"/>
                      <a:pt x="216" y="170"/>
                    </a:cubicBezTo>
                    <a:cubicBezTo>
                      <a:pt x="220" y="164"/>
                      <a:pt x="226" y="160"/>
                      <a:pt x="234" y="160"/>
                    </a:cubicBezTo>
                    <a:cubicBezTo>
                      <a:pt x="242" y="160"/>
                      <a:pt x="249" y="164"/>
                      <a:pt x="253" y="170"/>
                    </a:cubicBezTo>
                    <a:cubicBezTo>
                      <a:pt x="301" y="170"/>
                      <a:pt x="301" y="170"/>
                      <a:pt x="301" y="170"/>
                    </a:cubicBezTo>
                    <a:cubicBezTo>
                      <a:pt x="305" y="164"/>
                      <a:pt x="312" y="160"/>
                      <a:pt x="320" y="160"/>
                    </a:cubicBezTo>
                    <a:cubicBezTo>
                      <a:pt x="331" y="160"/>
                      <a:pt x="341" y="169"/>
                      <a:pt x="341" y="181"/>
                    </a:cubicBezTo>
                    <a:cubicBezTo>
                      <a:pt x="341" y="193"/>
                      <a:pt x="331" y="202"/>
                      <a:pt x="320" y="202"/>
                    </a:cubicBezTo>
                    <a:cubicBezTo>
                      <a:pt x="312" y="202"/>
                      <a:pt x="305" y="198"/>
                      <a:pt x="301" y="192"/>
                    </a:cubicBezTo>
                    <a:cubicBezTo>
                      <a:pt x="253" y="192"/>
                      <a:pt x="253" y="192"/>
                      <a:pt x="253" y="192"/>
                    </a:cubicBezTo>
                    <a:cubicBezTo>
                      <a:pt x="249" y="198"/>
                      <a:pt x="242" y="202"/>
                      <a:pt x="234" y="202"/>
                    </a:cubicBezTo>
                    <a:cubicBezTo>
                      <a:pt x="226" y="202"/>
                      <a:pt x="220" y="198"/>
                      <a:pt x="216" y="192"/>
                    </a:cubicBezTo>
                    <a:cubicBezTo>
                      <a:pt x="210" y="192"/>
                      <a:pt x="210" y="192"/>
                      <a:pt x="210" y="192"/>
                    </a:cubicBezTo>
                    <a:cubicBezTo>
                      <a:pt x="206" y="198"/>
                      <a:pt x="200" y="202"/>
                      <a:pt x="192" y="202"/>
                    </a:cubicBezTo>
                    <a:cubicBezTo>
                      <a:pt x="180" y="202"/>
                      <a:pt x="170" y="193"/>
                      <a:pt x="170" y="181"/>
                    </a:cubicBezTo>
                    <a:cubicBezTo>
                      <a:pt x="170" y="169"/>
                      <a:pt x="180" y="160"/>
                      <a:pt x="192" y="160"/>
                    </a:cubicBezTo>
                    <a:close/>
                    <a:moveTo>
                      <a:pt x="192" y="234"/>
                    </a:moveTo>
                    <a:cubicBezTo>
                      <a:pt x="200" y="234"/>
                      <a:pt x="206" y="239"/>
                      <a:pt x="210" y="245"/>
                    </a:cubicBezTo>
                    <a:cubicBezTo>
                      <a:pt x="259" y="245"/>
                      <a:pt x="259" y="245"/>
                      <a:pt x="259" y="245"/>
                    </a:cubicBezTo>
                    <a:cubicBezTo>
                      <a:pt x="262" y="239"/>
                      <a:pt x="269" y="234"/>
                      <a:pt x="277" y="234"/>
                    </a:cubicBezTo>
                    <a:cubicBezTo>
                      <a:pt x="285" y="234"/>
                      <a:pt x="292" y="239"/>
                      <a:pt x="295" y="245"/>
                    </a:cubicBezTo>
                    <a:cubicBezTo>
                      <a:pt x="301" y="245"/>
                      <a:pt x="301" y="245"/>
                      <a:pt x="301" y="245"/>
                    </a:cubicBezTo>
                    <a:cubicBezTo>
                      <a:pt x="305" y="239"/>
                      <a:pt x="312" y="234"/>
                      <a:pt x="320" y="234"/>
                    </a:cubicBezTo>
                    <a:cubicBezTo>
                      <a:pt x="331" y="234"/>
                      <a:pt x="341" y="244"/>
                      <a:pt x="341" y="256"/>
                    </a:cubicBezTo>
                    <a:cubicBezTo>
                      <a:pt x="341" y="267"/>
                      <a:pt x="331" y="277"/>
                      <a:pt x="320" y="277"/>
                    </a:cubicBezTo>
                    <a:cubicBezTo>
                      <a:pt x="312" y="277"/>
                      <a:pt x="305" y="273"/>
                      <a:pt x="301" y="266"/>
                    </a:cubicBezTo>
                    <a:cubicBezTo>
                      <a:pt x="295" y="266"/>
                      <a:pt x="295" y="266"/>
                      <a:pt x="295" y="266"/>
                    </a:cubicBezTo>
                    <a:cubicBezTo>
                      <a:pt x="292" y="273"/>
                      <a:pt x="285" y="277"/>
                      <a:pt x="277" y="277"/>
                    </a:cubicBezTo>
                    <a:cubicBezTo>
                      <a:pt x="269" y="277"/>
                      <a:pt x="262" y="273"/>
                      <a:pt x="259" y="266"/>
                    </a:cubicBezTo>
                    <a:cubicBezTo>
                      <a:pt x="210" y="266"/>
                      <a:pt x="210" y="266"/>
                      <a:pt x="210" y="266"/>
                    </a:cubicBezTo>
                    <a:cubicBezTo>
                      <a:pt x="206" y="273"/>
                      <a:pt x="200" y="277"/>
                      <a:pt x="192" y="277"/>
                    </a:cubicBezTo>
                    <a:cubicBezTo>
                      <a:pt x="180" y="277"/>
                      <a:pt x="170" y="267"/>
                      <a:pt x="170" y="256"/>
                    </a:cubicBezTo>
                    <a:cubicBezTo>
                      <a:pt x="170" y="244"/>
                      <a:pt x="180" y="234"/>
                      <a:pt x="192" y="234"/>
                    </a:cubicBezTo>
                    <a:close/>
                    <a:moveTo>
                      <a:pt x="192" y="309"/>
                    </a:moveTo>
                    <a:cubicBezTo>
                      <a:pt x="200" y="309"/>
                      <a:pt x="206" y="313"/>
                      <a:pt x="210" y="320"/>
                    </a:cubicBezTo>
                    <a:cubicBezTo>
                      <a:pt x="237" y="320"/>
                      <a:pt x="237" y="320"/>
                      <a:pt x="237" y="320"/>
                    </a:cubicBezTo>
                    <a:cubicBezTo>
                      <a:pt x="241" y="313"/>
                      <a:pt x="248" y="309"/>
                      <a:pt x="256" y="309"/>
                    </a:cubicBezTo>
                    <a:cubicBezTo>
                      <a:pt x="264" y="309"/>
                      <a:pt x="270" y="313"/>
                      <a:pt x="274" y="320"/>
                    </a:cubicBezTo>
                    <a:cubicBezTo>
                      <a:pt x="301" y="320"/>
                      <a:pt x="301" y="320"/>
                      <a:pt x="301" y="320"/>
                    </a:cubicBezTo>
                    <a:cubicBezTo>
                      <a:pt x="305" y="313"/>
                      <a:pt x="312" y="309"/>
                      <a:pt x="320" y="309"/>
                    </a:cubicBezTo>
                    <a:cubicBezTo>
                      <a:pt x="331" y="309"/>
                      <a:pt x="341" y="319"/>
                      <a:pt x="341" y="330"/>
                    </a:cubicBezTo>
                    <a:cubicBezTo>
                      <a:pt x="341" y="342"/>
                      <a:pt x="331" y="352"/>
                      <a:pt x="320" y="352"/>
                    </a:cubicBezTo>
                    <a:cubicBezTo>
                      <a:pt x="312" y="352"/>
                      <a:pt x="305" y="347"/>
                      <a:pt x="301" y="341"/>
                    </a:cubicBezTo>
                    <a:cubicBezTo>
                      <a:pt x="274" y="341"/>
                      <a:pt x="274" y="341"/>
                      <a:pt x="274" y="341"/>
                    </a:cubicBezTo>
                    <a:cubicBezTo>
                      <a:pt x="270" y="347"/>
                      <a:pt x="264" y="352"/>
                      <a:pt x="256" y="352"/>
                    </a:cubicBezTo>
                    <a:cubicBezTo>
                      <a:pt x="248" y="352"/>
                      <a:pt x="241" y="347"/>
                      <a:pt x="237" y="341"/>
                    </a:cubicBezTo>
                    <a:cubicBezTo>
                      <a:pt x="210" y="341"/>
                      <a:pt x="210" y="341"/>
                      <a:pt x="210" y="341"/>
                    </a:cubicBezTo>
                    <a:cubicBezTo>
                      <a:pt x="206" y="347"/>
                      <a:pt x="200" y="352"/>
                      <a:pt x="192" y="352"/>
                    </a:cubicBezTo>
                    <a:cubicBezTo>
                      <a:pt x="180" y="352"/>
                      <a:pt x="170" y="342"/>
                      <a:pt x="170" y="330"/>
                    </a:cubicBezTo>
                    <a:cubicBezTo>
                      <a:pt x="170" y="319"/>
                      <a:pt x="180" y="309"/>
                      <a:pt x="192" y="309"/>
                    </a:cubicBezTo>
                    <a:close/>
                    <a:moveTo>
                      <a:pt x="384" y="394"/>
                    </a:moveTo>
                    <a:cubicBezTo>
                      <a:pt x="128" y="394"/>
                      <a:pt x="128" y="394"/>
                      <a:pt x="128" y="394"/>
                    </a:cubicBezTo>
                    <a:cubicBezTo>
                      <a:pt x="122" y="394"/>
                      <a:pt x="117" y="390"/>
                      <a:pt x="117" y="384"/>
                    </a:cubicBezTo>
                    <a:cubicBezTo>
                      <a:pt x="117" y="378"/>
                      <a:pt x="122" y="373"/>
                      <a:pt x="128" y="373"/>
                    </a:cubicBezTo>
                    <a:cubicBezTo>
                      <a:pt x="128" y="128"/>
                      <a:pt x="128" y="128"/>
                      <a:pt x="128" y="128"/>
                    </a:cubicBezTo>
                    <a:cubicBezTo>
                      <a:pt x="128" y="122"/>
                      <a:pt x="132" y="117"/>
                      <a:pt x="138" y="117"/>
                    </a:cubicBezTo>
                    <a:cubicBezTo>
                      <a:pt x="144" y="117"/>
                      <a:pt x="149" y="122"/>
                      <a:pt x="149" y="128"/>
                    </a:cubicBezTo>
                    <a:cubicBezTo>
                      <a:pt x="149" y="373"/>
                      <a:pt x="149" y="373"/>
                      <a:pt x="149" y="373"/>
                    </a:cubicBezTo>
                    <a:cubicBezTo>
                      <a:pt x="362" y="373"/>
                      <a:pt x="362" y="373"/>
                      <a:pt x="362" y="373"/>
                    </a:cubicBezTo>
                    <a:cubicBezTo>
                      <a:pt x="362" y="128"/>
                      <a:pt x="362" y="128"/>
                      <a:pt x="362" y="128"/>
                    </a:cubicBezTo>
                    <a:cubicBezTo>
                      <a:pt x="362" y="122"/>
                      <a:pt x="367" y="117"/>
                      <a:pt x="373" y="117"/>
                    </a:cubicBezTo>
                    <a:cubicBezTo>
                      <a:pt x="379" y="117"/>
                      <a:pt x="384" y="122"/>
                      <a:pt x="384" y="128"/>
                    </a:cubicBezTo>
                    <a:cubicBezTo>
                      <a:pt x="384" y="373"/>
                      <a:pt x="384" y="373"/>
                      <a:pt x="384" y="373"/>
                    </a:cubicBezTo>
                    <a:cubicBezTo>
                      <a:pt x="390" y="373"/>
                      <a:pt x="394" y="378"/>
                      <a:pt x="394" y="384"/>
                    </a:cubicBezTo>
                    <a:cubicBezTo>
                      <a:pt x="394" y="390"/>
                      <a:pt x="390" y="394"/>
                      <a:pt x="384" y="394"/>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463">
                  <a:latin typeface="Calibri" panose="020F0502020204030204" pitchFamily="34" charset="0"/>
                  <a:cs typeface="Calibri" panose="020F0502020204030204" pitchFamily="34" charset="0"/>
                </a:endParaRPr>
              </a:p>
            </p:txBody>
          </p:sp>
        </p:grpSp>
      </p:grpSp>
      <p:sp>
        <p:nvSpPr>
          <p:cNvPr id="113" name="Rectangle 42">
            <a:extLst>
              <a:ext uri="{FF2B5EF4-FFF2-40B4-BE49-F238E27FC236}">
                <a16:creationId xmlns:a16="http://schemas.microsoft.com/office/drawing/2014/main" id="{DB1730B5-DCFB-AC56-081E-A48EE82E7A13}"/>
              </a:ext>
            </a:extLst>
          </p:cNvPr>
          <p:cNvSpPr/>
          <p:nvPr/>
        </p:nvSpPr>
        <p:spPr>
          <a:xfrm>
            <a:off x="580024" y="3300217"/>
            <a:ext cx="3105269" cy="692497"/>
          </a:xfrm>
          <a:prstGeom prst="rect">
            <a:avLst/>
          </a:prstGeom>
        </p:spPr>
        <p:txBody>
          <a:bodyPr wrap="square" lIns="91440" tIns="0" rIns="0" bIns="0">
            <a:spAutoFit/>
          </a:bodyPr>
          <a:lstStyle/>
          <a:p>
            <a:r>
              <a:rPr lang="pt-BR" altLang="zh-CN" sz="900" b="1">
                <a:latin typeface="Arial" panose="020B0604020202020204" pitchFamily="34" charset="0"/>
                <a:cs typeface="Arial" panose="020B0604020202020204" pitchFamily="34" charset="0"/>
              </a:rPr>
              <a:t>Green DAM (GDAM)</a:t>
            </a:r>
          </a:p>
          <a:p>
            <a:r>
              <a:rPr lang="pt-BR" altLang="zh-CN" sz="900">
                <a:latin typeface="Arial" panose="020B0604020202020204" pitchFamily="34" charset="0"/>
                <a:cs typeface="Arial" panose="020B0604020202020204" pitchFamily="34" charset="0"/>
              </a:rPr>
              <a:t>In addition to DAM characteristics:</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Priority for GDAM in price &amp; volume</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Option to carry forward uncleared bids in GDAM to conventional DAM</a:t>
            </a:r>
            <a:endParaRPr lang="pt-BR" altLang="zh-CN" sz="900">
              <a:latin typeface="Arial" panose="020B0604020202020204" pitchFamily="34" charset="0"/>
              <a:cs typeface="Arial" panose="020B0604020202020204" pitchFamily="34" charset="0"/>
            </a:endParaRPr>
          </a:p>
        </p:txBody>
      </p:sp>
      <p:sp>
        <p:nvSpPr>
          <p:cNvPr id="114" name="Rectangle 42">
            <a:extLst>
              <a:ext uri="{FF2B5EF4-FFF2-40B4-BE49-F238E27FC236}">
                <a16:creationId xmlns:a16="http://schemas.microsoft.com/office/drawing/2014/main" id="{77C8E161-6D5A-53DB-E7FC-F54C7C71BF93}"/>
              </a:ext>
            </a:extLst>
          </p:cNvPr>
          <p:cNvSpPr/>
          <p:nvPr/>
        </p:nvSpPr>
        <p:spPr>
          <a:xfrm>
            <a:off x="586229" y="4033570"/>
            <a:ext cx="2731493" cy="830997"/>
          </a:xfrm>
          <a:prstGeom prst="rect">
            <a:avLst/>
          </a:prstGeom>
        </p:spPr>
        <p:txBody>
          <a:bodyPr wrap="square" lIns="91440" tIns="0" rIns="0" bIns="0">
            <a:spAutoFit/>
          </a:bodyPr>
          <a:lstStyle/>
          <a:p>
            <a:r>
              <a:rPr lang="pt-BR" altLang="zh-CN" sz="900" b="1">
                <a:latin typeface="Arial" panose="020B0604020202020204" pitchFamily="34" charset="0"/>
                <a:cs typeface="Arial" panose="020B0604020202020204" pitchFamily="34" charset="0"/>
              </a:rPr>
              <a:t>High price DAM (HPDAM)</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Segment within I-DAM on day ahead basis; Double-Sided Closed Auction</a:t>
            </a:r>
          </a:p>
          <a:p>
            <a:pPr marL="139303" indent="-139303">
              <a:buFont typeface="Arial" panose="020B0604020202020204" pitchFamily="34" charset="0"/>
              <a:buChar char="•"/>
            </a:pPr>
            <a:r>
              <a:rPr lang="en-US" sz="900">
                <a:latin typeface="Arial" panose="020B0604020202020204" pitchFamily="34" charset="0"/>
                <a:cs typeface="Arial" panose="020B0604020202020204" pitchFamily="34" charset="0"/>
              </a:rPr>
              <a:t>Bidding during DAM, GDAM hours</a:t>
            </a:r>
            <a:endParaRPr lang="pt-BR" altLang="zh-CN" sz="900">
              <a:latin typeface="Arial" panose="020B0604020202020204" pitchFamily="34" charset="0"/>
              <a:cs typeface="Arial" panose="020B0604020202020204" pitchFamily="34" charset="0"/>
            </a:endParaRP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Separate price discovery with price cap of </a:t>
            </a:r>
            <a:r>
              <a:rPr lang="en-US" altLang="zh-CN" sz="900" b="1">
                <a:latin typeface="Arial" panose="020B0604020202020204" pitchFamily="34" charset="0"/>
                <a:cs typeface="Arial" panose="020B0604020202020204" pitchFamily="34" charset="0"/>
              </a:rPr>
              <a:t>INR 20/unit </a:t>
            </a:r>
            <a:r>
              <a:rPr lang="en-US" altLang="zh-CN" sz="900">
                <a:latin typeface="Arial" panose="020B0604020202020204" pitchFamily="34" charset="0"/>
                <a:cs typeface="Arial" panose="020B0604020202020204" pitchFamily="34" charset="0"/>
              </a:rPr>
              <a:t>and floor price of zero</a:t>
            </a:r>
          </a:p>
        </p:txBody>
      </p:sp>
      <p:sp>
        <p:nvSpPr>
          <p:cNvPr id="115" name="Rectangle 42">
            <a:extLst>
              <a:ext uri="{FF2B5EF4-FFF2-40B4-BE49-F238E27FC236}">
                <a16:creationId xmlns:a16="http://schemas.microsoft.com/office/drawing/2014/main" id="{B3CC8692-444C-3A80-63F4-967C170A01E0}"/>
              </a:ext>
            </a:extLst>
          </p:cNvPr>
          <p:cNvSpPr/>
          <p:nvPr/>
        </p:nvSpPr>
        <p:spPr>
          <a:xfrm>
            <a:off x="7766670" y="3808049"/>
            <a:ext cx="3932377" cy="415498"/>
          </a:xfrm>
          <a:prstGeom prst="rect">
            <a:avLst/>
          </a:prstGeom>
        </p:spPr>
        <p:txBody>
          <a:bodyPr wrap="square" lIns="91440" tIns="0" rIns="0" bIns="0">
            <a:spAutoFit/>
          </a:bodyPr>
          <a:lstStyle/>
          <a:p>
            <a:r>
              <a:rPr lang="pt-BR" altLang="zh-CN" sz="900" b="1">
                <a:latin typeface="Arial" panose="020B0604020202020204" pitchFamily="34" charset="0"/>
                <a:cs typeface="Arial" panose="020B0604020202020204" pitchFamily="34" charset="0"/>
              </a:rPr>
              <a:t>Term-Ahead Contracts</a:t>
            </a:r>
            <a:r>
              <a:rPr lang="pt-BR" altLang="zh-CN" sz="900" b="1" baseline="30000">
                <a:latin typeface="Arial" panose="020B0604020202020204" pitchFamily="34" charset="0"/>
                <a:cs typeface="Arial" panose="020B0604020202020204" pitchFamily="34" charset="0"/>
              </a:rPr>
              <a:t>1</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Any day(s) single side Reverse Auction</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Daily (up to 14 days), Weekly (up to 12 weeks), Monthly (up to 3 months)</a:t>
            </a:r>
            <a:endParaRPr lang="pt-BR" altLang="zh-CN" sz="900">
              <a:latin typeface="Arial" panose="020B0604020202020204" pitchFamily="34" charset="0"/>
              <a:cs typeface="Arial" panose="020B0604020202020204" pitchFamily="34" charset="0"/>
            </a:endParaRPr>
          </a:p>
        </p:txBody>
      </p:sp>
      <p:sp>
        <p:nvSpPr>
          <p:cNvPr id="116" name="Rectangle 42">
            <a:extLst>
              <a:ext uri="{FF2B5EF4-FFF2-40B4-BE49-F238E27FC236}">
                <a16:creationId xmlns:a16="http://schemas.microsoft.com/office/drawing/2014/main" id="{0060CEB7-A525-D458-F0A8-547E59391B2D}"/>
              </a:ext>
            </a:extLst>
          </p:cNvPr>
          <p:cNvSpPr/>
          <p:nvPr/>
        </p:nvSpPr>
        <p:spPr>
          <a:xfrm>
            <a:off x="7766670" y="4218237"/>
            <a:ext cx="3932377" cy="553998"/>
          </a:xfrm>
          <a:prstGeom prst="rect">
            <a:avLst/>
          </a:prstGeom>
        </p:spPr>
        <p:txBody>
          <a:bodyPr wrap="square" lIns="91440" tIns="0" rIns="0" bIns="0">
            <a:spAutoFit/>
          </a:bodyPr>
          <a:lstStyle/>
          <a:p>
            <a:r>
              <a:rPr lang="pt-BR" altLang="zh-CN" sz="900" b="1">
                <a:latin typeface="Arial" panose="020B0604020202020204" pitchFamily="34" charset="0"/>
                <a:cs typeface="Arial" panose="020B0604020202020204" pitchFamily="34" charset="0"/>
              </a:rPr>
              <a:t>Green Term-Ahead Contracts</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15-minute quotation of quantity (MW) and price (INR/MWh)</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Price discovery and matching on ‘Continuous Trade’ basis</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Revision in schedule not allowed</a:t>
            </a:r>
          </a:p>
        </p:txBody>
      </p:sp>
      <p:sp>
        <p:nvSpPr>
          <p:cNvPr id="117" name="Rectangle 42">
            <a:extLst>
              <a:ext uri="{FF2B5EF4-FFF2-40B4-BE49-F238E27FC236}">
                <a16:creationId xmlns:a16="http://schemas.microsoft.com/office/drawing/2014/main" id="{3E63D302-1AE2-A74F-FE82-27AB7D2B669F}"/>
              </a:ext>
            </a:extLst>
          </p:cNvPr>
          <p:cNvSpPr/>
          <p:nvPr/>
        </p:nvSpPr>
        <p:spPr>
          <a:xfrm>
            <a:off x="7766670" y="4766925"/>
            <a:ext cx="3932376" cy="415498"/>
          </a:xfrm>
          <a:prstGeom prst="rect">
            <a:avLst/>
          </a:prstGeom>
        </p:spPr>
        <p:txBody>
          <a:bodyPr wrap="square" lIns="91440" tIns="0" rIns="0" bIns="0">
            <a:spAutoFit/>
          </a:bodyPr>
          <a:lstStyle/>
          <a:p>
            <a:r>
              <a:rPr lang="pt-BR" altLang="zh-CN" sz="900" b="1">
                <a:latin typeface="Arial" panose="020B0604020202020204" pitchFamily="34" charset="0"/>
                <a:cs typeface="Arial" panose="020B0604020202020204" pitchFamily="34" charset="0"/>
              </a:rPr>
              <a:t>High Price Term-Ahead Contracts</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Contracts include HP-Intraday, HP-DAC, HP Daily, HP Monthly, HP Any Day Single Side</a:t>
            </a:r>
          </a:p>
        </p:txBody>
      </p:sp>
      <p:sp>
        <p:nvSpPr>
          <p:cNvPr id="118" name="TextBox 117">
            <a:extLst>
              <a:ext uri="{FF2B5EF4-FFF2-40B4-BE49-F238E27FC236}">
                <a16:creationId xmlns:a16="http://schemas.microsoft.com/office/drawing/2014/main" id="{F8B55AD9-E168-F16B-FD5C-4C68F9477536}"/>
              </a:ext>
            </a:extLst>
          </p:cNvPr>
          <p:cNvSpPr txBox="1"/>
          <p:nvPr/>
        </p:nvSpPr>
        <p:spPr>
          <a:xfrm>
            <a:off x="407591" y="1798390"/>
            <a:ext cx="1014630" cy="153888"/>
          </a:xfrm>
          <a:prstGeom prst="rect">
            <a:avLst/>
          </a:prstGeom>
        </p:spPr>
        <p:style>
          <a:lnRef idx="2">
            <a:schemeClr val="accent6"/>
          </a:lnRef>
          <a:fillRef idx="1">
            <a:schemeClr val="lt1"/>
          </a:fillRef>
          <a:effectRef idx="0">
            <a:schemeClr val="accent6"/>
          </a:effectRef>
          <a:fontRef idx="minor">
            <a:schemeClr val="dk1"/>
          </a:fontRef>
        </p:style>
        <p:txBody>
          <a:bodyPr wrap="square" lIns="0" tIns="0" rIns="0" bIns="0" rtlCol="0">
            <a:spAutoFit/>
          </a:bodyPr>
          <a:lstStyle/>
          <a:p>
            <a:pPr algn="ctr">
              <a:spcBef>
                <a:spcPts val="488"/>
              </a:spcBef>
              <a:buSzPct val="100000"/>
            </a:pPr>
            <a:r>
              <a:rPr lang="en-US" sz="1000" b="1">
                <a:solidFill>
                  <a:schemeClr val="accent6"/>
                </a:solidFill>
                <a:latin typeface="Arial" panose="020B0604020202020204" pitchFamily="34" charset="0"/>
                <a:cs typeface="Arial" panose="020B0604020202020204" pitchFamily="34" charset="0"/>
              </a:rPr>
              <a:t>Key milestones</a:t>
            </a:r>
          </a:p>
        </p:txBody>
      </p:sp>
      <p:sp>
        <p:nvSpPr>
          <p:cNvPr id="119" name="TextBox 118">
            <a:extLst>
              <a:ext uri="{FF2B5EF4-FFF2-40B4-BE49-F238E27FC236}">
                <a16:creationId xmlns:a16="http://schemas.microsoft.com/office/drawing/2014/main" id="{AD1A27CE-D1AF-B151-CC7B-27C9AC379979}"/>
              </a:ext>
            </a:extLst>
          </p:cNvPr>
          <p:cNvSpPr txBox="1"/>
          <p:nvPr/>
        </p:nvSpPr>
        <p:spPr>
          <a:xfrm>
            <a:off x="496617" y="6183874"/>
            <a:ext cx="11478717" cy="276999"/>
          </a:xfrm>
          <a:prstGeom prst="rect">
            <a:avLst/>
          </a:prstGeom>
          <a:noFill/>
        </p:spPr>
        <p:txBody>
          <a:bodyPr wrap="square" lIns="0" tIns="0" rIns="0" bIns="0" rtlCol="0">
            <a:spAutoFit/>
          </a:bodyPr>
          <a:lstStyle>
            <a:defPPr>
              <a:defRPr lang="en-US"/>
            </a:defPPr>
            <a:lvl1pPr>
              <a:spcBef>
                <a:spcPts val="488"/>
              </a:spcBef>
              <a:buSzPct val="100000"/>
              <a:defRPr sz="731">
                <a:solidFill>
                  <a:srgbClr val="53565A"/>
                </a:solidFill>
                <a:latin typeface="Calibri" panose="020F0502020204030204" pitchFamily="34" charset="0"/>
                <a:cs typeface="Calibri" panose="020F0502020204030204" pitchFamily="34" charset="0"/>
              </a:defRPr>
            </a:lvl1pPr>
          </a:lstStyle>
          <a:p>
            <a:r>
              <a:rPr lang="en-US" sz="900">
                <a:latin typeface="Arial" panose="020B0604020202020204" pitchFamily="34" charset="0"/>
                <a:cs typeface="Arial" panose="020B0604020202020204" pitchFamily="34" charset="0"/>
              </a:rPr>
              <a:t>[1] Power exchanges have filed a petition with CERC for extension of TAM and GTAM contracts for up to 11 months. Final order awaited; pending additional submissions by parties, [2]Ancillary Services (AS) are deployed to control the grid frequency. AS are of 3 types: Primary Reserve, Secondary Reserve and Tertiary Reserve Ancillary Services (TRAS); based on their response times. </a:t>
            </a:r>
          </a:p>
        </p:txBody>
      </p:sp>
      <p:pic>
        <p:nvPicPr>
          <p:cNvPr id="120" name="Picture 121">
            <a:extLst>
              <a:ext uri="{FF2B5EF4-FFF2-40B4-BE49-F238E27FC236}">
                <a16:creationId xmlns:a16="http://schemas.microsoft.com/office/drawing/2014/main" id="{ACD36206-AFAC-B3B1-DDFB-A77BF31E45A2}"/>
              </a:ext>
            </a:extLst>
          </p:cNvPr>
          <p:cNvPicPr>
            <a:picLocks noChangeAspect="1"/>
          </p:cNvPicPr>
          <p:nvPr/>
        </p:nvPicPr>
        <p:blipFill>
          <a:blip r:embed="rId6">
            <a:extLst>
              <a:ext uri="{96DAC541-7B7A-43D3-8B79-37D633B846F1}">
                <asvg:svgBlip xmlns:asvg="http://schemas.microsoft.com/office/drawing/2016/SVG/main" r:embed="rId7"/>
              </a:ext>
            </a:extLst>
          </a:blip>
          <a:srcRect/>
          <a:stretch/>
        </p:blipFill>
        <p:spPr>
          <a:xfrm>
            <a:off x="1293685" y="1169606"/>
            <a:ext cx="10214625" cy="1366901"/>
          </a:xfrm>
          <a:prstGeom prst="rect">
            <a:avLst/>
          </a:prstGeom>
        </p:spPr>
      </p:pic>
      <p:sp>
        <p:nvSpPr>
          <p:cNvPr id="121" name="Rectangle 42">
            <a:extLst>
              <a:ext uri="{FF2B5EF4-FFF2-40B4-BE49-F238E27FC236}">
                <a16:creationId xmlns:a16="http://schemas.microsoft.com/office/drawing/2014/main" id="{192E93F8-F192-69D0-4D03-716523AE0804}"/>
              </a:ext>
            </a:extLst>
          </p:cNvPr>
          <p:cNvSpPr/>
          <p:nvPr/>
        </p:nvSpPr>
        <p:spPr>
          <a:xfrm>
            <a:off x="580024" y="4905424"/>
            <a:ext cx="2604666" cy="276999"/>
          </a:xfrm>
          <a:prstGeom prst="rect">
            <a:avLst/>
          </a:prstGeom>
        </p:spPr>
        <p:txBody>
          <a:bodyPr wrap="square" lIns="91440" tIns="0" rIns="0" bIns="0">
            <a:spAutoFit/>
          </a:bodyPr>
          <a:lstStyle/>
          <a:p>
            <a:r>
              <a:rPr lang="pt-BR" altLang="zh-CN" sz="900" b="1">
                <a:latin typeface="Arial" panose="020B0604020202020204" pitchFamily="34" charset="0"/>
                <a:cs typeface="Arial" panose="020B0604020202020204" pitchFamily="34" charset="0"/>
              </a:rPr>
              <a:t>Ancillary services</a:t>
            </a:r>
            <a:r>
              <a:rPr lang="pt-BR" altLang="zh-CN" sz="900" b="1" baseline="30000">
                <a:latin typeface="Arial" panose="020B0604020202020204" pitchFamily="34" charset="0"/>
                <a:cs typeface="Arial" panose="020B0604020202020204" pitchFamily="34" charset="0"/>
              </a:rPr>
              <a:t>2</a:t>
            </a:r>
            <a:r>
              <a:rPr lang="pt-BR" altLang="zh-CN" sz="900" b="1">
                <a:latin typeface="Arial" panose="020B0604020202020204" pitchFamily="34" charset="0"/>
                <a:cs typeface="Arial" panose="020B0604020202020204" pitchFamily="34" charset="0"/>
              </a:rPr>
              <a:t> (DAM-AS)</a:t>
            </a:r>
          </a:p>
          <a:p>
            <a:pPr marL="139303" indent="-139303">
              <a:buFont typeface="Arial" panose="020B0604020202020204" pitchFamily="34" charset="0"/>
              <a:buChar char="•"/>
            </a:pPr>
            <a:r>
              <a:rPr lang="en-US" altLang="zh-CN" sz="900">
                <a:latin typeface="Arial" panose="020B0604020202020204" pitchFamily="34" charset="0"/>
                <a:cs typeface="Arial" panose="020B0604020202020204" pitchFamily="34" charset="0"/>
              </a:rPr>
              <a:t>Procurement of capacity for TRAS by NLDC</a:t>
            </a:r>
          </a:p>
        </p:txBody>
      </p:sp>
      <p:sp>
        <p:nvSpPr>
          <p:cNvPr id="123" name="TextBox 122">
            <a:extLst>
              <a:ext uri="{FF2B5EF4-FFF2-40B4-BE49-F238E27FC236}">
                <a16:creationId xmlns:a16="http://schemas.microsoft.com/office/drawing/2014/main" id="{00C39892-0374-BD3E-6534-CE9F6D6C172B}"/>
              </a:ext>
            </a:extLst>
          </p:cNvPr>
          <p:cNvSpPr txBox="1"/>
          <p:nvPr/>
        </p:nvSpPr>
        <p:spPr>
          <a:xfrm>
            <a:off x="5137750" y="6514507"/>
            <a:ext cx="2001141" cy="138499"/>
          </a:xfrm>
          <a:prstGeom prst="rect">
            <a:avLst/>
          </a:prstGeom>
          <a:noFill/>
        </p:spPr>
        <p:txBody>
          <a:bodyPr wrap="square" lIns="0" tIns="0" rIns="0" bIns="0" rtlCol="0">
            <a:spAutoFit/>
          </a:bodyPr>
          <a:lstStyle/>
          <a:p>
            <a:pPr>
              <a:buFont typeface="Wingdings 2" pitchFamily="18" charset="2"/>
              <a:buNone/>
            </a:pPr>
            <a:r>
              <a:rPr lang="en-US" sz="900">
                <a:solidFill>
                  <a:srgbClr val="313131"/>
                </a:solidFill>
                <a:latin typeface="Arial" panose="020B0604020202020204" pitchFamily="34" charset="0"/>
                <a:cs typeface="Arial" panose="020B0604020202020204" pitchFamily="34" charset="0"/>
              </a:rPr>
              <a:t>Membership fee details: IEX        PXIL </a:t>
            </a:r>
            <a:endParaRPr lang="en-US" sz="900">
              <a:latin typeface="Arial" panose="020B0604020202020204" pitchFamily="34" charset="0"/>
              <a:cs typeface="Arial" panose="020B0604020202020204" pitchFamily="34" charset="0"/>
            </a:endParaRPr>
          </a:p>
        </p:txBody>
      </p:sp>
      <p:sp>
        <p:nvSpPr>
          <p:cNvPr id="124" name="Arrow: Right 123">
            <a:hlinkClick r:id="rId8" action="ppaction://hlinksldjump"/>
            <a:extLst>
              <a:ext uri="{FF2B5EF4-FFF2-40B4-BE49-F238E27FC236}">
                <a16:creationId xmlns:a16="http://schemas.microsoft.com/office/drawing/2014/main" id="{517674C2-4574-2884-FA75-D67FB6E9304A}"/>
              </a:ext>
            </a:extLst>
          </p:cNvPr>
          <p:cNvSpPr/>
          <p:nvPr/>
        </p:nvSpPr>
        <p:spPr bwMode="gray">
          <a:xfrm>
            <a:off x="6624474" y="6532606"/>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
        <p:nvSpPr>
          <p:cNvPr id="127" name="TextBox 126">
            <a:extLst>
              <a:ext uri="{FF2B5EF4-FFF2-40B4-BE49-F238E27FC236}">
                <a16:creationId xmlns:a16="http://schemas.microsoft.com/office/drawing/2014/main" id="{9B3E82FB-10C1-0D9D-415F-23954EA9E2CC}"/>
              </a:ext>
            </a:extLst>
          </p:cNvPr>
          <p:cNvSpPr txBox="1"/>
          <p:nvPr/>
        </p:nvSpPr>
        <p:spPr>
          <a:xfrm>
            <a:off x="2467741" y="6514507"/>
            <a:ext cx="2577980" cy="138499"/>
          </a:xfrm>
          <a:prstGeom prst="rect">
            <a:avLst/>
          </a:prstGeom>
          <a:noFill/>
        </p:spPr>
        <p:txBody>
          <a:bodyPr wrap="square" lIns="0" tIns="0" rIns="0" bIns="0" rtlCol="0">
            <a:spAutoFit/>
          </a:bodyPr>
          <a:lstStyle/>
          <a:p>
            <a:pPr>
              <a:buFont typeface="Wingdings 2" pitchFamily="18" charset="2"/>
              <a:buNone/>
            </a:pPr>
            <a:r>
              <a:rPr lang="en-US" sz="900">
                <a:solidFill>
                  <a:srgbClr val="313131"/>
                </a:solidFill>
                <a:latin typeface="Arial" panose="020B0604020202020204" pitchFamily="34" charset="0"/>
                <a:cs typeface="Arial" panose="020B0604020202020204" pitchFamily="34" charset="0"/>
              </a:rPr>
              <a:t>Trading durations on IEX for different segments</a:t>
            </a:r>
            <a:endParaRPr lang="en-US" sz="900">
              <a:latin typeface="Arial" panose="020B0604020202020204" pitchFamily="34" charset="0"/>
              <a:cs typeface="Arial" panose="020B0604020202020204" pitchFamily="34" charset="0"/>
            </a:endParaRPr>
          </a:p>
        </p:txBody>
      </p:sp>
      <p:sp>
        <p:nvSpPr>
          <p:cNvPr id="128" name="Arrow: Right 127">
            <a:hlinkClick r:id="rId9" action="ppaction://hlinksldjump"/>
            <a:extLst>
              <a:ext uri="{FF2B5EF4-FFF2-40B4-BE49-F238E27FC236}">
                <a16:creationId xmlns:a16="http://schemas.microsoft.com/office/drawing/2014/main" id="{2F21E4D5-2927-76AC-7CCA-EB26DC704302}"/>
              </a:ext>
            </a:extLst>
          </p:cNvPr>
          <p:cNvSpPr/>
          <p:nvPr/>
        </p:nvSpPr>
        <p:spPr bwMode="gray">
          <a:xfrm>
            <a:off x="4904848" y="6532606"/>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
        <p:nvSpPr>
          <p:cNvPr id="133" name="TextBox 132">
            <a:extLst>
              <a:ext uri="{FF2B5EF4-FFF2-40B4-BE49-F238E27FC236}">
                <a16:creationId xmlns:a16="http://schemas.microsoft.com/office/drawing/2014/main" id="{9B38F87B-26B0-C317-5A6F-4B3F4F4CFA67}"/>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Central Electricity Regulatory Commission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134" name="Arrow: Right 133">
            <a:hlinkClick r:id="rId10" action="ppaction://hlinksldjump"/>
            <a:extLst>
              <a:ext uri="{FF2B5EF4-FFF2-40B4-BE49-F238E27FC236}">
                <a16:creationId xmlns:a16="http://schemas.microsoft.com/office/drawing/2014/main" id="{4D9971DC-52A0-C2BF-6B2A-C2602E2CFBE5}"/>
              </a:ext>
            </a:extLst>
          </p:cNvPr>
          <p:cNvSpPr/>
          <p:nvPr/>
        </p:nvSpPr>
        <p:spPr bwMode="gray">
          <a:xfrm>
            <a:off x="7129416" y="6532606"/>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
        <p:nvSpPr>
          <p:cNvPr id="135" name="TextBox 134">
            <a:extLst>
              <a:ext uri="{FF2B5EF4-FFF2-40B4-BE49-F238E27FC236}">
                <a16:creationId xmlns:a16="http://schemas.microsoft.com/office/drawing/2014/main" id="{1210FEAC-DB26-1287-BCA7-9B20A669E78C}"/>
              </a:ext>
            </a:extLst>
          </p:cNvPr>
          <p:cNvSpPr txBox="1"/>
          <p:nvPr/>
        </p:nvSpPr>
        <p:spPr>
          <a:xfrm>
            <a:off x="496617" y="6514507"/>
            <a:ext cx="1554480" cy="138499"/>
          </a:xfrm>
          <a:prstGeom prst="rect">
            <a:avLst/>
          </a:prstGeom>
          <a:noFill/>
        </p:spPr>
        <p:txBody>
          <a:bodyPr wrap="square" lIns="0" tIns="0" rIns="0" bIns="0" rtlCol="0">
            <a:spAutoFit/>
          </a:bodyPr>
          <a:lstStyle/>
          <a:p>
            <a:pPr>
              <a:buFont typeface="Wingdings 2" pitchFamily="18" charset="2"/>
              <a:buNone/>
            </a:pPr>
            <a:r>
              <a:rPr lang="en-US" sz="900">
                <a:solidFill>
                  <a:srgbClr val="313131"/>
                </a:solidFill>
                <a:latin typeface="Arial" panose="020B0604020202020204" pitchFamily="34" charset="0"/>
                <a:cs typeface="Arial" panose="020B0604020202020204" pitchFamily="34" charset="0"/>
              </a:rPr>
              <a:t>IEX membership requirements</a:t>
            </a:r>
            <a:endParaRPr lang="en-US" sz="900">
              <a:latin typeface="Arial" panose="020B0604020202020204" pitchFamily="34" charset="0"/>
              <a:cs typeface="Arial" panose="020B0604020202020204" pitchFamily="34" charset="0"/>
            </a:endParaRPr>
          </a:p>
        </p:txBody>
      </p:sp>
      <p:sp>
        <p:nvSpPr>
          <p:cNvPr id="136" name="Arrow: Right 135">
            <a:hlinkClick r:id="rId11" action="ppaction://hlinksldjump"/>
            <a:extLst>
              <a:ext uri="{FF2B5EF4-FFF2-40B4-BE49-F238E27FC236}">
                <a16:creationId xmlns:a16="http://schemas.microsoft.com/office/drawing/2014/main" id="{3AF436C2-928B-3DA0-2437-F5F88C2158F3}"/>
              </a:ext>
            </a:extLst>
          </p:cNvPr>
          <p:cNvSpPr/>
          <p:nvPr/>
        </p:nvSpPr>
        <p:spPr bwMode="gray">
          <a:xfrm>
            <a:off x="2093708" y="6532606"/>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1605484"/>
      </p:ext>
    </p:extLst>
  </p:cSld>
  <p:clrMapOvr>
    <a:masterClrMapping/>
  </p:clrMapOvr>
  <p:transition>
    <p:fade/>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298325102"/>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7" imgW="415" imgH="416" progId="TCLayout.ActiveDocument.1">
                  <p:embed/>
                </p:oleObj>
              </mc:Choice>
              <mc:Fallback>
                <p:oleObj name="think-cell Slide" r:id="rId7"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8"/>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Electricity trading in India | Overview of transactions in the power exchanges</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r>
              <a:rPr lang="en-US" sz="1400">
                <a:latin typeface="Arial" panose="020B0604020202020204" pitchFamily="34" charset="0"/>
                <a:cs typeface="Arial" panose="020B0604020202020204" pitchFamily="34" charset="0"/>
              </a:rPr>
              <a:t>Short term transactions on exchanges has increased significantly from ~40% in FY20 to ~56% in FY25 vs the regulated short-term market</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71B49770-3439-43CB-89B4-B93E83F83F56}"/>
              </a:ext>
            </a:extLst>
          </p:cNvPr>
          <p:cNvSpPr txBox="1"/>
          <p:nvPr/>
        </p:nvSpPr>
        <p:spPr>
          <a:xfrm>
            <a:off x="498697" y="1072024"/>
            <a:ext cx="4322893" cy="461665"/>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Exchange based transactions accounted for ~56% of short-term market in India in FY25</a:t>
            </a:r>
          </a:p>
        </p:txBody>
      </p:sp>
      <p:graphicFrame>
        <p:nvGraphicFramePr>
          <p:cNvPr id="13" name="Chart 12">
            <a:extLst>
              <a:ext uri="{FF2B5EF4-FFF2-40B4-BE49-F238E27FC236}">
                <a16:creationId xmlns:a16="http://schemas.microsoft.com/office/drawing/2014/main" id="{01DE0AC9-37FF-1AE0-A727-CD3657FE9A1A}"/>
              </a:ext>
            </a:extLst>
          </p:cNvPr>
          <p:cNvGraphicFramePr/>
          <p:nvPr>
            <p:extLst>
              <p:ext uri="{D42A27DB-BD31-4B8C-83A1-F6EECF244321}">
                <p14:modId xmlns:p14="http://schemas.microsoft.com/office/powerpoint/2010/main" val="3220891802"/>
              </p:ext>
            </p:extLst>
          </p:nvPr>
        </p:nvGraphicFramePr>
        <p:xfrm>
          <a:off x="6215712" y="3873459"/>
          <a:ext cx="5480988" cy="1352348"/>
        </p:xfrm>
        <a:graphic>
          <a:graphicData uri="http://schemas.openxmlformats.org/drawingml/2006/chart">
            <c:chart xmlns:c="http://schemas.openxmlformats.org/drawingml/2006/chart" xmlns:r="http://schemas.openxmlformats.org/officeDocument/2006/relationships" r:id="rId9"/>
          </a:graphicData>
        </a:graphic>
      </p:graphicFrame>
      <p:sp>
        <p:nvSpPr>
          <p:cNvPr id="18" name="TextBox 17">
            <a:extLst>
              <a:ext uri="{FF2B5EF4-FFF2-40B4-BE49-F238E27FC236}">
                <a16:creationId xmlns:a16="http://schemas.microsoft.com/office/drawing/2014/main" id="{8D0C3C6C-E9B1-67D4-B6D3-A2FD8E85CB53}"/>
              </a:ext>
            </a:extLst>
          </p:cNvPr>
          <p:cNvSpPr txBox="1"/>
          <p:nvPr/>
        </p:nvSpPr>
        <p:spPr>
          <a:xfrm>
            <a:off x="6215711" y="3452800"/>
            <a:ext cx="5114783" cy="276999"/>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Share of electricity transacted on exchanges segment-wise in FY25</a:t>
            </a:r>
          </a:p>
        </p:txBody>
      </p:sp>
      <p:graphicFrame>
        <p:nvGraphicFramePr>
          <p:cNvPr id="19" name="Chart 18">
            <a:extLst>
              <a:ext uri="{FF2B5EF4-FFF2-40B4-BE49-F238E27FC236}">
                <a16:creationId xmlns:a16="http://schemas.microsoft.com/office/drawing/2014/main" id="{88261243-D86F-D9F7-B23F-9CA961167BDF}"/>
              </a:ext>
            </a:extLst>
          </p:cNvPr>
          <p:cNvGraphicFramePr/>
          <p:nvPr>
            <p:custDataLst>
              <p:tags r:id="rId2"/>
            </p:custDataLst>
            <p:extLst>
              <p:ext uri="{D42A27DB-BD31-4B8C-83A1-F6EECF244321}">
                <p14:modId xmlns:p14="http://schemas.microsoft.com/office/powerpoint/2010/main" val="4159331852"/>
              </p:ext>
            </p:extLst>
          </p:nvPr>
        </p:nvGraphicFramePr>
        <p:xfrm>
          <a:off x="7323440" y="1478750"/>
          <a:ext cx="4007054" cy="1987983"/>
        </p:xfrm>
        <a:graphic>
          <a:graphicData uri="http://schemas.openxmlformats.org/drawingml/2006/chart">
            <c:chart xmlns:c="http://schemas.openxmlformats.org/drawingml/2006/chart" xmlns:r="http://schemas.openxmlformats.org/officeDocument/2006/relationships" r:id="rId10"/>
          </a:graphicData>
        </a:graphic>
      </p:graphicFrame>
      <p:sp>
        <p:nvSpPr>
          <p:cNvPr id="20" name="Text Placeholder 18">
            <a:extLst>
              <a:ext uri="{FF2B5EF4-FFF2-40B4-BE49-F238E27FC236}">
                <a16:creationId xmlns:a16="http://schemas.microsoft.com/office/drawing/2014/main" id="{2F2C9C26-7F4A-468A-1A42-CC794E4FF7E4}"/>
              </a:ext>
            </a:extLst>
          </p:cNvPr>
          <p:cNvSpPr>
            <a:spLocks noGrp="1"/>
          </p:cNvSpPr>
          <p:nvPr>
            <p:custDataLst>
              <p:tags r:id="rId3"/>
            </p:custDataLst>
          </p:nvPr>
        </p:nvSpPr>
        <p:spPr bwMode="auto">
          <a:xfrm>
            <a:off x="8013413" y="2147398"/>
            <a:ext cx="208955"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r">
              <a:spcBef>
                <a:spcPct val="0"/>
              </a:spcBef>
              <a:spcAft>
                <a:spcPct val="0"/>
              </a:spcAft>
            </a:pPr>
            <a:endParaRPr lang="en-US" sz="975"/>
          </a:p>
        </p:txBody>
      </p:sp>
      <p:sp>
        <p:nvSpPr>
          <p:cNvPr id="21" name="Text Placeholder 18">
            <a:extLst>
              <a:ext uri="{FF2B5EF4-FFF2-40B4-BE49-F238E27FC236}">
                <a16:creationId xmlns:a16="http://schemas.microsoft.com/office/drawing/2014/main" id="{AB766992-22F8-23B2-86D2-74D50E30E859}"/>
              </a:ext>
            </a:extLst>
          </p:cNvPr>
          <p:cNvSpPr>
            <a:spLocks noGrp="1"/>
          </p:cNvSpPr>
          <p:nvPr>
            <p:custDataLst>
              <p:tags r:id="rId4"/>
            </p:custDataLst>
          </p:nvPr>
        </p:nvSpPr>
        <p:spPr bwMode="auto">
          <a:xfrm>
            <a:off x="8322976" y="2004225"/>
            <a:ext cx="203795"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endParaRPr lang="en-US" sz="975"/>
          </a:p>
        </p:txBody>
      </p:sp>
      <p:pic>
        <p:nvPicPr>
          <p:cNvPr id="23" name="Picture 2" descr="Overseas participants in Indian power exchanges soon - The Sunday Guardian  Live">
            <a:extLst>
              <a:ext uri="{FF2B5EF4-FFF2-40B4-BE49-F238E27FC236}">
                <a16:creationId xmlns:a16="http://schemas.microsoft.com/office/drawing/2014/main" id="{4CC3AE59-2207-EC26-DF58-B7E50A6AD12A}"/>
              </a:ext>
            </a:extLst>
          </p:cNvPr>
          <p:cNvPicPr>
            <a:picLocks noChangeAspect="1" noChangeArrowheads="1"/>
          </p:cNvPicPr>
          <p:nvPr/>
        </p:nvPicPr>
        <p:blipFill rotWithShape="1">
          <a:blip r:embed="rId11">
            <a:extLst>
              <a:ext uri="{28A0092B-C50C-407E-A947-70E740481C1C}">
                <a14:useLocalDpi xmlns:a14="http://schemas.microsoft.com/office/drawing/2010/main" val="0"/>
              </a:ext>
            </a:extLst>
          </a:blip>
          <a:srcRect t="32025" b="14535"/>
          <a:stretch/>
        </p:blipFill>
        <p:spPr bwMode="auto">
          <a:xfrm>
            <a:off x="7261755" y="2924991"/>
            <a:ext cx="1106539" cy="442930"/>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4" descr="Hindustan Power Exchange Ltd. (HPX) (@HPX_India) / X">
            <a:extLst>
              <a:ext uri="{FF2B5EF4-FFF2-40B4-BE49-F238E27FC236}">
                <a16:creationId xmlns:a16="http://schemas.microsoft.com/office/drawing/2014/main" id="{7739EC03-90EF-2973-0307-D9A10AD009DA}"/>
              </a:ext>
            </a:extLst>
          </p:cNvPr>
          <p:cNvPicPr>
            <a:picLocks noChangeAspect="1" noChangeArrowheads="1"/>
          </p:cNvPicPr>
          <p:nvPr/>
        </p:nvPicPr>
        <p:blipFill rotWithShape="1">
          <a:blip r:embed="rId12">
            <a:extLst>
              <a:ext uri="{28A0092B-C50C-407E-A947-70E740481C1C}">
                <a14:useLocalDpi xmlns:a14="http://schemas.microsoft.com/office/drawing/2010/main" val="0"/>
              </a:ext>
            </a:extLst>
          </a:blip>
          <a:srcRect t="26933" b="32800"/>
          <a:stretch/>
        </p:blipFill>
        <p:spPr bwMode="auto">
          <a:xfrm>
            <a:off x="7395467" y="1837379"/>
            <a:ext cx="868117" cy="349563"/>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6" descr="Power Exchange India Limited | LinkedIn">
            <a:extLst>
              <a:ext uri="{FF2B5EF4-FFF2-40B4-BE49-F238E27FC236}">
                <a16:creationId xmlns:a16="http://schemas.microsoft.com/office/drawing/2014/main" id="{47119CF4-44DF-D447-3F83-DF90FCC5E5B0}"/>
              </a:ext>
            </a:extLst>
          </p:cNvPr>
          <p:cNvPicPr>
            <a:picLocks noChangeAspect="1" noChangeArrowheads="1"/>
          </p:cNvPicPr>
          <p:nvPr/>
        </p:nvPicPr>
        <p:blipFill rotWithShape="1">
          <a:blip r:embed="rId13">
            <a:extLst>
              <a:ext uri="{28A0092B-C50C-407E-A947-70E740481C1C}">
                <a14:useLocalDpi xmlns:a14="http://schemas.microsoft.com/office/drawing/2010/main" val="0"/>
              </a:ext>
            </a:extLst>
          </a:blip>
          <a:srcRect t="30248" b="30001"/>
          <a:stretch/>
        </p:blipFill>
        <p:spPr bwMode="auto">
          <a:xfrm>
            <a:off x="7285015" y="2325806"/>
            <a:ext cx="1089021" cy="432896"/>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A0B5BBB5-9843-4754-E0F2-51933CCF9C0D}"/>
              </a:ext>
            </a:extLst>
          </p:cNvPr>
          <p:cNvSpPr txBox="1"/>
          <p:nvPr/>
        </p:nvSpPr>
        <p:spPr>
          <a:xfrm>
            <a:off x="6215711" y="1072024"/>
            <a:ext cx="4332702" cy="461665"/>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IEX accounted for ~84% of total electricity traded on exchanges in FY25</a:t>
            </a:r>
          </a:p>
        </p:txBody>
      </p:sp>
      <p:sp>
        <p:nvSpPr>
          <p:cNvPr id="27" name="Rectangle 26">
            <a:extLst>
              <a:ext uri="{FF2B5EF4-FFF2-40B4-BE49-F238E27FC236}">
                <a16:creationId xmlns:a16="http://schemas.microsoft.com/office/drawing/2014/main" id="{99215411-CCB8-BD6B-76D0-908EA85A743D}"/>
              </a:ext>
            </a:extLst>
          </p:cNvPr>
          <p:cNvSpPr/>
          <p:nvPr/>
        </p:nvSpPr>
        <p:spPr bwMode="gray">
          <a:xfrm>
            <a:off x="7175071" y="1803406"/>
            <a:ext cx="1251633" cy="428768"/>
          </a:xfrm>
          <a:prstGeom prst="rect">
            <a:avLst/>
          </a:prstGeom>
          <a:noFill/>
          <a:ln w="19050" algn="ctr">
            <a:solidFill>
              <a:schemeClr val="accent6">
                <a:lumMod val="7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endParaRPr>
          </a:p>
        </p:txBody>
      </p:sp>
      <p:sp>
        <p:nvSpPr>
          <p:cNvPr id="28" name="Rectangle 27">
            <a:extLst>
              <a:ext uri="{FF2B5EF4-FFF2-40B4-BE49-F238E27FC236}">
                <a16:creationId xmlns:a16="http://schemas.microsoft.com/office/drawing/2014/main" id="{43957137-DFC2-4A68-011E-EB541A8C36E0}"/>
              </a:ext>
            </a:extLst>
          </p:cNvPr>
          <p:cNvSpPr/>
          <p:nvPr/>
        </p:nvSpPr>
        <p:spPr bwMode="gray">
          <a:xfrm>
            <a:off x="7175071" y="2329909"/>
            <a:ext cx="1251633" cy="428768"/>
          </a:xfrm>
          <a:prstGeom prst="rect">
            <a:avLst/>
          </a:prstGeom>
          <a:noFill/>
          <a:ln w="19050" algn="ctr">
            <a:solidFill>
              <a:srgbClr val="00A3E0"/>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endParaRPr>
          </a:p>
        </p:txBody>
      </p:sp>
      <p:sp>
        <p:nvSpPr>
          <p:cNvPr id="29" name="Rectangle 28">
            <a:extLst>
              <a:ext uri="{FF2B5EF4-FFF2-40B4-BE49-F238E27FC236}">
                <a16:creationId xmlns:a16="http://schemas.microsoft.com/office/drawing/2014/main" id="{CA3BFFF8-5431-80BE-AC4E-F26213E70E5F}"/>
              </a:ext>
            </a:extLst>
          </p:cNvPr>
          <p:cNvSpPr/>
          <p:nvPr/>
        </p:nvSpPr>
        <p:spPr bwMode="gray">
          <a:xfrm>
            <a:off x="7165090" y="2906910"/>
            <a:ext cx="1251633" cy="428768"/>
          </a:xfrm>
          <a:prstGeom prst="rect">
            <a:avLst/>
          </a:prstGeom>
          <a:noFill/>
          <a:ln w="19050" algn="ctr">
            <a:solidFill>
              <a:schemeClr val="bg1">
                <a:lumMod val="50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endParaRPr>
          </a:p>
        </p:txBody>
      </p:sp>
      <p:cxnSp>
        <p:nvCxnSpPr>
          <p:cNvPr id="30" name="Connector: Elbow 29">
            <a:extLst>
              <a:ext uri="{FF2B5EF4-FFF2-40B4-BE49-F238E27FC236}">
                <a16:creationId xmlns:a16="http://schemas.microsoft.com/office/drawing/2014/main" id="{B40E8BCC-9721-B57B-1B09-76FF240E42E1}"/>
              </a:ext>
            </a:extLst>
          </p:cNvPr>
          <p:cNvCxnSpPr>
            <a:cxnSpLocks/>
          </p:cNvCxnSpPr>
          <p:nvPr/>
        </p:nvCxnSpPr>
        <p:spPr>
          <a:xfrm flipV="1">
            <a:off x="8424873" y="1837380"/>
            <a:ext cx="769145" cy="148974"/>
          </a:xfrm>
          <a:prstGeom prst="bentConnector3">
            <a:avLst/>
          </a:prstGeom>
          <a:ln>
            <a:solidFill>
              <a:schemeClr val="accent6">
                <a:lumMod val="75000"/>
              </a:schemeClr>
            </a:solidFill>
            <a:prstDash val="dash"/>
          </a:ln>
          <a:effectLst>
            <a:softEdge rad="0"/>
          </a:effectLst>
        </p:spPr>
        <p:style>
          <a:lnRef idx="1">
            <a:schemeClr val="accent1"/>
          </a:lnRef>
          <a:fillRef idx="0">
            <a:schemeClr val="accent1"/>
          </a:fillRef>
          <a:effectRef idx="0">
            <a:schemeClr val="accent1"/>
          </a:effectRef>
          <a:fontRef idx="minor">
            <a:schemeClr val="tx1"/>
          </a:fontRef>
        </p:style>
      </p:cxnSp>
      <p:cxnSp>
        <p:nvCxnSpPr>
          <p:cNvPr id="31" name="Connector: Elbow 30">
            <a:extLst>
              <a:ext uri="{FF2B5EF4-FFF2-40B4-BE49-F238E27FC236}">
                <a16:creationId xmlns:a16="http://schemas.microsoft.com/office/drawing/2014/main" id="{3F3DF311-7638-1C6A-16B3-B77807F40588}"/>
              </a:ext>
            </a:extLst>
          </p:cNvPr>
          <p:cNvCxnSpPr>
            <a:cxnSpLocks/>
            <a:stCxn id="28" idx="3"/>
          </p:cNvCxnSpPr>
          <p:nvPr/>
        </p:nvCxnSpPr>
        <p:spPr>
          <a:xfrm flipV="1">
            <a:off x="8426704" y="2169795"/>
            <a:ext cx="426883" cy="374498"/>
          </a:xfrm>
          <a:prstGeom prst="bentConnector3">
            <a:avLst/>
          </a:prstGeom>
          <a:ln>
            <a:solidFill>
              <a:srgbClr val="00A3E0"/>
            </a:solidFill>
            <a:prstDash val="dash"/>
          </a:ln>
          <a:effectLst>
            <a:softEdge rad="0"/>
          </a:effectLst>
        </p:spPr>
        <p:style>
          <a:lnRef idx="1">
            <a:schemeClr val="accent1"/>
          </a:lnRef>
          <a:fillRef idx="0">
            <a:schemeClr val="accent1"/>
          </a:fillRef>
          <a:effectRef idx="0">
            <a:schemeClr val="accent1"/>
          </a:effectRef>
          <a:fontRef idx="minor">
            <a:schemeClr val="tx1"/>
          </a:fontRef>
        </p:style>
      </p:cxnSp>
      <p:cxnSp>
        <p:nvCxnSpPr>
          <p:cNvPr id="32" name="Connector: Elbow 31">
            <a:extLst>
              <a:ext uri="{FF2B5EF4-FFF2-40B4-BE49-F238E27FC236}">
                <a16:creationId xmlns:a16="http://schemas.microsoft.com/office/drawing/2014/main" id="{5A206F15-E74B-619B-E6C9-EDE0B175CA2D}"/>
              </a:ext>
            </a:extLst>
          </p:cNvPr>
          <p:cNvCxnSpPr>
            <a:cxnSpLocks/>
            <a:stCxn id="29" idx="3"/>
          </p:cNvCxnSpPr>
          <p:nvPr/>
        </p:nvCxnSpPr>
        <p:spPr>
          <a:xfrm flipV="1">
            <a:off x="8416722" y="2763584"/>
            <a:ext cx="426418" cy="357710"/>
          </a:xfrm>
          <a:prstGeom prst="bentConnector3">
            <a:avLst>
              <a:gd name="adj1" fmla="val 50000"/>
            </a:avLst>
          </a:prstGeom>
          <a:ln>
            <a:solidFill>
              <a:schemeClr val="bg1">
                <a:lumMod val="50000"/>
              </a:schemeClr>
            </a:solidFill>
            <a:prstDash val="dash"/>
          </a:ln>
          <a:effectLst>
            <a:softEdge rad="0"/>
          </a:effectLst>
        </p:spPr>
        <p:style>
          <a:lnRef idx="1">
            <a:schemeClr val="accent1"/>
          </a:lnRef>
          <a:fillRef idx="0">
            <a:schemeClr val="accent1"/>
          </a:fillRef>
          <a:effectRef idx="0">
            <a:schemeClr val="accent1"/>
          </a:effectRef>
          <a:fontRef idx="minor">
            <a:schemeClr val="tx1"/>
          </a:fontRef>
        </p:style>
      </p:cxnSp>
      <p:pic>
        <p:nvPicPr>
          <p:cNvPr id="33" name="Graphic 32" descr="Arrow: Straight with solid fill">
            <a:extLst>
              <a:ext uri="{FF2B5EF4-FFF2-40B4-BE49-F238E27FC236}">
                <a16:creationId xmlns:a16="http://schemas.microsoft.com/office/drawing/2014/main" id="{A1F1B204-B709-228C-CEF3-6CC308DB0CF1}"/>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rot="10800000">
            <a:off x="5733063" y="2101266"/>
            <a:ext cx="701102" cy="742950"/>
          </a:xfrm>
          <a:prstGeom prst="rect">
            <a:avLst/>
          </a:prstGeom>
        </p:spPr>
      </p:pic>
      <p:graphicFrame>
        <p:nvGraphicFramePr>
          <p:cNvPr id="34" name="Chart 33">
            <a:extLst>
              <a:ext uri="{FF2B5EF4-FFF2-40B4-BE49-F238E27FC236}">
                <a16:creationId xmlns:a16="http://schemas.microsoft.com/office/drawing/2014/main" id="{5696219A-22F5-26ED-1FC0-21145280822D}"/>
              </a:ext>
            </a:extLst>
          </p:cNvPr>
          <p:cNvGraphicFramePr/>
          <p:nvPr>
            <p:extLst>
              <p:ext uri="{D42A27DB-BD31-4B8C-83A1-F6EECF244321}">
                <p14:modId xmlns:p14="http://schemas.microsoft.com/office/powerpoint/2010/main" val="3800495875"/>
              </p:ext>
            </p:extLst>
          </p:nvPr>
        </p:nvGraphicFramePr>
        <p:xfrm>
          <a:off x="514884" y="3773690"/>
          <a:ext cx="5218178" cy="1352348"/>
        </p:xfrm>
        <a:graphic>
          <a:graphicData uri="http://schemas.openxmlformats.org/drawingml/2006/chart">
            <c:chart xmlns:c="http://schemas.openxmlformats.org/drawingml/2006/chart" xmlns:r="http://schemas.openxmlformats.org/officeDocument/2006/relationships" r:id="rId16"/>
          </a:graphicData>
        </a:graphic>
      </p:graphicFrame>
      <p:sp>
        <p:nvSpPr>
          <p:cNvPr id="35" name="TextBox 34">
            <a:extLst>
              <a:ext uri="{FF2B5EF4-FFF2-40B4-BE49-F238E27FC236}">
                <a16:creationId xmlns:a16="http://schemas.microsoft.com/office/drawing/2014/main" id="{64F76680-0308-068A-F07A-04F30D9AC1BE}"/>
              </a:ext>
            </a:extLst>
          </p:cNvPr>
          <p:cNvSpPr txBox="1"/>
          <p:nvPr/>
        </p:nvSpPr>
        <p:spPr>
          <a:xfrm>
            <a:off x="498697" y="3452800"/>
            <a:ext cx="5688408" cy="276999"/>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Spot trades (DAM + RTM) accounted for ~70% of the exch. volume in FY25</a:t>
            </a:r>
          </a:p>
        </p:txBody>
      </p:sp>
      <p:graphicFrame>
        <p:nvGraphicFramePr>
          <p:cNvPr id="36" name="Chart 35">
            <a:extLst>
              <a:ext uri="{FF2B5EF4-FFF2-40B4-BE49-F238E27FC236}">
                <a16:creationId xmlns:a16="http://schemas.microsoft.com/office/drawing/2014/main" id="{CAF826AA-C954-CA91-1BF0-CD3CC8F509BE}"/>
              </a:ext>
            </a:extLst>
          </p:cNvPr>
          <p:cNvGraphicFramePr/>
          <p:nvPr>
            <p:extLst>
              <p:ext uri="{D42A27DB-BD31-4B8C-83A1-F6EECF244321}">
                <p14:modId xmlns:p14="http://schemas.microsoft.com/office/powerpoint/2010/main" val="2345896331"/>
              </p:ext>
            </p:extLst>
          </p:nvPr>
        </p:nvGraphicFramePr>
        <p:xfrm>
          <a:off x="514884" y="1406231"/>
          <a:ext cx="5160548" cy="1929447"/>
        </p:xfrm>
        <a:graphic>
          <a:graphicData uri="http://schemas.openxmlformats.org/drawingml/2006/chart">
            <c:chart xmlns:c="http://schemas.openxmlformats.org/drawingml/2006/chart" xmlns:r="http://schemas.openxmlformats.org/officeDocument/2006/relationships" r:id="rId17"/>
          </a:graphicData>
        </a:graphic>
      </p:graphicFrame>
      <p:sp>
        <p:nvSpPr>
          <p:cNvPr id="37" name="Rectangle 36">
            <a:extLst>
              <a:ext uri="{FF2B5EF4-FFF2-40B4-BE49-F238E27FC236}">
                <a16:creationId xmlns:a16="http://schemas.microsoft.com/office/drawing/2014/main" id="{9629080C-E070-F6E2-FA1C-3FFD154D6D54}"/>
              </a:ext>
            </a:extLst>
          </p:cNvPr>
          <p:cNvSpPr/>
          <p:nvPr/>
        </p:nvSpPr>
        <p:spPr bwMode="gray">
          <a:xfrm>
            <a:off x="498624" y="5434848"/>
            <a:ext cx="11286249" cy="963725"/>
          </a:xfrm>
          <a:prstGeom prst="rect">
            <a:avLst/>
          </a:prstGeom>
          <a:noFill/>
          <a:ln w="3175" algn="ctr">
            <a:noFill/>
            <a:miter lim="800000"/>
            <a:headEnd/>
            <a:tailEnd/>
          </a:ln>
          <a:effectLst/>
        </p:spPr>
        <p:txBody>
          <a:bodyPr wrap="square" lIns="72231" tIns="74295" rIns="72231" bIns="74295" rtlCol="0" anchor="ctr"/>
          <a:lstStyle/>
          <a:p>
            <a:pPr marL="165100" indent="-165100">
              <a:spcAft>
                <a:spcPts val="600"/>
              </a:spcAft>
              <a:buSzPct val="100000"/>
              <a:buFont typeface="Arial"/>
              <a:buChar char="•"/>
            </a:pPr>
            <a:r>
              <a:rPr lang="en-US" sz="1000">
                <a:latin typeface="Arial" panose="020B0604020202020204" pitchFamily="34" charset="0"/>
                <a:cs typeface="Arial" panose="020B0604020202020204" pitchFamily="34" charset="0"/>
              </a:rPr>
              <a:t>Spot market (day ahead and intra-day (also called as real-time market in India) accounted for ~</a:t>
            </a:r>
            <a:r>
              <a:rPr lang="en-US" sz="1000" b="1">
                <a:latin typeface="Arial" panose="020B0604020202020204" pitchFamily="34" charset="0"/>
                <a:cs typeface="Arial" panose="020B0604020202020204" pitchFamily="34" charset="0"/>
              </a:rPr>
              <a:t>70%</a:t>
            </a:r>
            <a:r>
              <a:rPr lang="en-US" sz="1000">
                <a:latin typeface="Arial" panose="020B0604020202020204" pitchFamily="34" charset="0"/>
                <a:cs typeface="Arial" panose="020B0604020202020204" pitchFamily="34" charset="0"/>
              </a:rPr>
              <a:t> of the total traded volumes in India. Day ahead market is further broken down into different segments like GDAM (exclusively for trading green power – solar and non-solar), HPDAM or high price DAM (for the benefit of plants having high variable cost of generation), DAM where all types of (fossil, non-fossil) power can be traded on day ahead basis</a:t>
            </a:r>
          </a:p>
          <a:p>
            <a:pPr marL="165100" indent="-165100">
              <a:spcAft>
                <a:spcPts val="600"/>
              </a:spcAft>
              <a:buSzPct val="100000"/>
              <a:buFont typeface="Arial"/>
              <a:buChar char="•"/>
            </a:pPr>
            <a:r>
              <a:rPr lang="en-US" sz="1000">
                <a:latin typeface="Arial" panose="020B0604020202020204" pitchFamily="34" charset="0"/>
                <a:cs typeface="Arial" panose="020B0604020202020204" pitchFamily="34" charset="0"/>
              </a:rPr>
              <a:t>Term Ahead Market (TAM) on exchanges is for daily, weekly or monthly term ahead contracts traded bilaterally</a:t>
            </a:r>
          </a:p>
          <a:p>
            <a:pPr marL="165100" indent="-165100">
              <a:spcAft>
                <a:spcPts val="600"/>
              </a:spcAft>
              <a:buSzPct val="100000"/>
              <a:buFont typeface="Arial"/>
              <a:buChar char="•"/>
            </a:pPr>
            <a:r>
              <a:rPr lang="en-US" sz="1000">
                <a:latin typeface="Arial" panose="020B0604020202020204" pitchFamily="34" charset="0"/>
                <a:cs typeface="Arial" panose="020B0604020202020204" pitchFamily="34" charset="0"/>
              </a:rPr>
              <a:t>Electricity distribution utilities are the main participants in Real Time Market (RTM) to address the real time variations in demand</a:t>
            </a:r>
          </a:p>
        </p:txBody>
      </p:sp>
      <p:sp>
        <p:nvSpPr>
          <p:cNvPr id="39" name="TextBox 38">
            <a:extLst>
              <a:ext uri="{FF2B5EF4-FFF2-40B4-BE49-F238E27FC236}">
                <a16:creationId xmlns:a16="http://schemas.microsoft.com/office/drawing/2014/main" id="{0B668D62-3AA0-6C2A-112B-FF62EC5DB49C}"/>
              </a:ext>
            </a:extLst>
          </p:cNvPr>
          <p:cNvSpPr txBox="1"/>
          <p:nvPr/>
        </p:nvSpPr>
        <p:spPr>
          <a:xfrm>
            <a:off x="498978" y="5143515"/>
            <a:ext cx="3357851" cy="276999"/>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Key observations</a:t>
            </a:r>
          </a:p>
        </p:txBody>
      </p:sp>
      <p:sp>
        <p:nvSpPr>
          <p:cNvPr id="40" name="TextBox 39">
            <a:extLst>
              <a:ext uri="{FF2B5EF4-FFF2-40B4-BE49-F238E27FC236}">
                <a16:creationId xmlns:a16="http://schemas.microsoft.com/office/drawing/2014/main" id="{8287A4E7-8E23-E565-CDF1-0197CAAAF24B}"/>
              </a:ext>
            </a:extLst>
          </p:cNvPr>
          <p:cNvSpPr txBox="1"/>
          <p:nvPr/>
        </p:nvSpPr>
        <p:spPr bwMode="gray">
          <a:xfrm>
            <a:off x="5214114" y="1642290"/>
            <a:ext cx="280086" cy="153888"/>
          </a:xfrm>
          <a:prstGeom prst="rect">
            <a:avLst/>
          </a:prstGeom>
          <a:noFill/>
        </p:spPr>
        <p:txBody>
          <a:bodyPr wrap="square" lIns="0" tIns="0" rIns="0" bIns="0" rtlCol="0">
            <a:sp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u="none" strike="noStrike" kern="1200" cap="none" spc="0" normalizeH="0" baseline="0" noProof="0">
                <a:ln>
                  <a:noFill/>
                </a:ln>
                <a:solidFill>
                  <a:srgbClr val="404040"/>
                </a:solidFill>
                <a:effectLst/>
                <a:uLnTx/>
                <a:uFillTx/>
                <a:latin typeface="Arial" panose="020B0604020202020204" pitchFamily="34" charset="0"/>
                <a:cs typeface="Arial" panose="020B0604020202020204" pitchFamily="34" charset="0"/>
              </a:rPr>
              <a:t>259</a:t>
            </a:r>
          </a:p>
        </p:txBody>
      </p:sp>
      <p:pic>
        <p:nvPicPr>
          <p:cNvPr id="43" name="Graphic 42" descr="Arrow: Straight with solid fill">
            <a:extLst>
              <a:ext uri="{FF2B5EF4-FFF2-40B4-BE49-F238E27FC236}">
                <a16:creationId xmlns:a16="http://schemas.microsoft.com/office/drawing/2014/main" id="{E097D61D-CBB2-3CA3-17CF-8D80BF49344D}"/>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rot="10800000">
            <a:off x="5733064" y="4048463"/>
            <a:ext cx="701102" cy="742950"/>
          </a:xfrm>
          <a:prstGeom prst="rect">
            <a:avLst/>
          </a:prstGeom>
        </p:spPr>
      </p:pic>
      <p:sp>
        <p:nvSpPr>
          <p:cNvPr id="3" name="TextBox 2">
            <a:extLst>
              <a:ext uri="{FF2B5EF4-FFF2-40B4-BE49-F238E27FC236}">
                <a16:creationId xmlns:a16="http://schemas.microsoft.com/office/drawing/2014/main" id="{2F0E0336-790E-242D-B2F7-9DBD52665896}"/>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Central Electricity Regulatory Commission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F1BAB57A-9A0D-6285-E574-8246F7C9ED04}"/>
              </a:ext>
            </a:extLst>
          </p:cNvPr>
          <p:cNvSpPr txBox="1"/>
          <p:nvPr/>
        </p:nvSpPr>
        <p:spPr>
          <a:xfrm>
            <a:off x="10558194" y="2372946"/>
            <a:ext cx="961804" cy="307777"/>
          </a:xfrm>
          <a:prstGeom prst="rect">
            <a:avLst/>
          </a:prstGeom>
          <a:noFill/>
        </p:spPr>
        <p:txBody>
          <a:bodyPr wrap="square" lIns="0" tIns="0" rIns="0" bIns="0" rtlCol="0">
            <a:spAutoFit/>
          </a:bodyPr>
          <a:lstStyle/>
          <a:p>
            <a:pPr algn="ctr">
              <a:buFont typeface="Wingdings 2" pitchFamily="18" charset="2"/>
              <a:buNone/>
            </a:pPr>
            <a:r>
              <a:rPr lang="en-US" sz="1000">
                <a:solidFill>
                  <a:srgbClr val="313131"/>
                </a:solidFill>
                <a:latin typeface="Arial" panose="020B0604020202020204" pitchFamily="34" charset="0"/>
                <a:cs typeface="Arial" panose="020B0604020202020204" pitchFamily="34" charset="0"/>
              </a:rPr>
              <a:t>Details of power exchanges</a:t>
            </a:r>
            <a:endParaRPr lang="en-US" sz="1000">
              <a:latin typeface="Arial" panose="020B0604020202020204" pitchFamily="34" charset="0"/>
              <a:cs typeface="Arial" panose="020B0604020202020204" pitchFamily="34" charset="0"/>
            </a:endParaRPr>
          </a:p>
        </p:txBody>
      </p:sp>
      <p:sp>
        <p:nvSpPr>
          <p:cNvPr id="5" name="Arrow: Right 4">
            <a:hlinkClick r:id="rId18" action="ppaction://hlinksldjump"/>
            <a:extLst>
              <a:ext uri="{FF2B5EF4-FFF2-40B4-BE49-F238E27FC236}">
                <a16:creationId xmlns:a16="http://schemas.microsoft.com/office/drawing/2014/main" id="{CF7CB9BC-FE9C-FC83-9010-A5AC10488868}"/>
              </a:ext>
            </a:extLst>
          </p:cNvPr>
          <p:cNvSpPr/>
          <p:nvPr/>
        </p:nvSpPr>
        <p:spPr bwMode="gray">
          <a:xfrm>
            <a:off x="11009408" y="2688156"/>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90304469"/>
      </p:ext>
    </p:extLst>
  </p:cSld>
  <p:clrMapOvr>
    <a:masterClrMapping/>
  </p:clrMapOvr>
  <p:transition>
    <p:fade/>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6510411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Electricity trading in India | Prices on power exchanges</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r>
              <a:rPr lang="en-US" sz="1400">
                <a:latin typeface="Arial" panose="020B0604020202020204" pitchFamily="34" charset="0"/>
                <a:cs typeface="Arial" panose="020B0604020202020204" pitchFamily="34" charset="0"/>
              </a:rPr>
              <a:t>Due to significant shortages in peak hours, price in the exchanges shot up to INR 20/ kWh in FY22; CERC has now capped it at INR 10/ kWh</a:t>
            </a:r>
          </a:p>
          <a:p>
            <a:endParaRPr lang="en-US" sz="1400">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Central Electricity Regulatory Commission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graphicFrame>
        <p:nvGraphicFramePr>
          <p:cNvPr id="14" name="Chart 13">
            <a:extLst>
              <a:ext uri="{FF2B5EF4-FFF2-40B4-BE49-F238E27FC236}">
                <a16:creationId xmlns:a16="http://schemas.microsoft.com/office/drawing/2014/main" id="{34EADE34-F5CE-DB81-ACD0-7C13A2A8939B}"/>
              </a:ext>
            </a:extLst>
          </p:cNvPr>
          <p:cNvGraphicFramePr/>
          <p:nvPr>
            <p:extLst>
              <p:ext uri="{D42A27DB-BD31-4B8C-83A1-F6EECF244321}">
                <p14:modId xmlns:p14="http://schemas.microsoft.com/office/powerpoint/2010/main" val="2391389889"/>
              </p:ext>
            </p:extLst>
          </p:nvPr>
        </p:nvGraphicFramePr>
        <p:xfrm>
          <a:off x="1797269" y="4562714"/>
          <a:ext cx="9913173" cy="1737298"/>
        </p:xfrm>
        <a:graphic>
          <a:graphicData uri="http://schemas.openxmlformats.org/drawingml/2006/chart">
            <c:chart xmlns:c="http://schemas.openxmlformats.org/drawingml/2006/chart" xmlns:r="http://schemas.openxmlformats.org/officeDocument/2006/relationships" r:id="rId6"/>
          </a:graphicData>
        </a:graphic>
      </p:graphicFrame>
      <p:sp>
        <p:nvSpPr>
          <p:cNvPr id="15" name="Oval 14">
            <a:extLst>
              <a:ext uri="{FF2B5EF4-FFF2-40B4-BE49-F238E27FC236}">
                <a16:creationId xmlns:a16="http://schemas.microsoft.com/office/drawing/2014/main" id="{1DB9C95E-1A6F-A44A-E195-67D902BF9428}"/>
              </a:ext>
            </a:extLst>
          </p:cNvPr>
          <p:cNvSpPr/>
          <p:nvPr/>
        </p:nvSpPr>
        <p:spPr bwMode="gray">
          <a:xfrm>
            <a:off x="479177" y="4400937"/>
            <a:ext cx="226423" cy="228600"/>
          </a:xfrm>
          <a:prstGeom prst="ellipse">
            <a:avLst/>
          </a:prstGeom>
          <a:solidFill>
            <a:schemeClr val="bg1"/>
          </a:solidFill>
          <a:ln w="19050" algn="ctr">
            <a:solidFill>
              <a:srgbClr val="FF0000"/>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975" b="1"/>
              <a:t>A</a:t>
            </a:r>
          </a:p>
        </p:txBody>
      </p:sp>
      <p:graphicFrame>
        <p:nvGraphicFramePr>
          <p:cNvPr id="16" name="Chart 15">
            <a:extLst>
              <a:ext uri="{FF2B5EF4-FFF2-40B4-BE49-F238E27FC236}">
                <a16:creationId xmlns:a16="http://schemas.microsoft.com/office/drawing/2014/main" id="{C0974C28-E849-0229-7B4B-FD081CFAFAC5}"/>
              </a:ext>
            </a:extLst>
          </p:cNvPr>
          <p:cNvGraphicFramePr/>
          <p:nvPr>
            <p:extLst>
              <p:ext uri="{D42A27DB-BD31-4B8C-83A1-F6EECF244321}">
                <p14:modId xmlns:p14="http://schemas.microsoft.com/office/powerpoint/2010/main" val="71822638"/>
              </p:ext>
            </p:extLst>
          </p:nvPr>
        </p:nvGraphicFramePr>
        <p:xfrm>
          <a:off x="495300" y="4157931"/>
          <a:ext cx="1117284" cy="2092533"/>
        </p:xfrm>
        <a:graphic>
          <a:graphicData uri="http://schemas.openxmlformats.org/drawingml/2006/chart">
            <c:chart xmlns:c="http://schemas.openxmlformats.org/drawingml/2006/chart" xmlns:r="http://schemas.openxmlformats.org/officeDocument/2006/relationships" r:id="rId7"/>
          </a:graphicData>
        </a:graphic>
      </p:graphicFrame>
      <p:sp>
        <p:nvSpPr>
          <p:cNvPr id="17" name="TextBox 16">
            <a:extLst>
              <a:ext uri="{FF2B5EF4-FFF2-40B4-BE49-F238E27FC236}">
                <a16:creationId xmlns:a16="http://schemas.microsoft.com/office/drawing/2014/main" id="{34573573-A028-E4F6-2C53-F846EAD021AA}"/>
              </a:ext>
            </a:extLst>
          </p:cNvPr>
          <p:cNvSpPr txBox="1"/>
          <p:nvPr/>
        </p:nvSpPr>
        <p:spPr>
          <a:xfrm>
            <a:off x="417856" y="1072024"/>
            <a:ext cx="5428592" cy="461665"/>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Average electricity price traded on exchange (DAM, bilateral contracts)</a:t>
            </a:r>
          </a:p>
          <a:p>
            <a:r>
              <a:rPr lang="en-US" b="0"/>
              <a:t>FY10-25, INR/kWh</a:t>
            </a:r>
          </a:p>
        </p:txBody>
      </p:sp>
      <p:sp>
        <p:nvSpPr>
          <p:cNvPr id="22" name="TextBox 21">
            <a:extLst>
              <a:ext uri="{FF2B5EF4-FFF2-40B4-BE49-F238E27FC236}">
                <a16:creationId xmlns:a16="http://schemas.microsoft.com/office/drawing/2014/main" id="{22577D5A-C3FA-5D1A-9C93-6F625B3A2121}"/>
              </a:ext>
            </a:extLst>
          </p:cNvPr>
          <p:cNvSpPr txBox="1"/>
          <p:nvPr/>
        </p:nvSpPr>
        <p:spPr>
          <a:xfrm>
            <a:off x="500152" y="3885920"/>
            <a:ext cx="4297811" cy="461665"/>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Monthly price of electricity traded on exchanges (DAM) </a:t>
            </a:r>
          </a:p>
          <a:p>
            <a:r>
              <a:rPr lang="en-US" b="0"/>
              <a:t>FY23-25, INR/kWh</a:t>
            </a:r>
          </a:p>
        </p:txBody>
      </p:sp>
      <p:sp>
        <p:nvSpPr>
          <p:cNvPr id="41" name="Rectangle 40">
            <a:extLst>
              <a:ext uri="{FF2B5EF4-FFF2-40B4-BE49-F238E27FC236}">
                <a16:creationId xmlns:a16="http://schemas.microsoft.com/office/drawing/2014/main" id="{423C3451-4841-753C-934A-696F5A4304F9}"/>
              </a:ext>
            </a:extLst>
          </p:cNvPr>
          <p:cNvSpPr/>
          <p:nvPr/>
        </p:nvSpPr>
        <p:spPr bwMode="gray">
          <a:xfrm>
            <a:off x="6210301" y="1182194"/>
            <a:ext cx="5490000" cy="599991"/>
          </a:xfrm>
          <a:prstGeom prst="rect">
            <a:avLst/>
          </a:prstGeom>
          <a:noFill/>
          <a:ln w="12700" algn="ctr">
            <a:solidFill>
              <a:schemeClr val="accent6"/>
            </a:solidFill>
            <a:miter lim="800000"/>
            <a:headEnd/>
            <a:tailEnd/>
          </a:ln>
        </p:spPr>
        <p:txBody>
          <a:bodyPr wrap="square" lIns="72231" tIns="72231" rIns="72231" bIns="72231" rtlCol="0" anchor="ctr"/>
          <a:lstStyle/>
          <a:p>
            <a:pPr marL="139303" indent="-139303">
              <a:spcBef>
                <a:spcPts val="488"/>
              </a:spcBef>
              <a:buSzPct val="100000"/>
              <a:buFont typeface="Arial" panose="020B0604020202020204" pitchFamily="34" charset="0"/>
              <a:buChar char="•"/>
            </a:pPr>
            <a:r>
              <a:rPr lang="en-US" sz="1000">
                <a:latin typeface="Arial" panose="020B0604020202020204" pitchFamily="34" charset="0"/>
                <a:cs typeface="Arial" panose="020B0604020202020204" pitchFamily="34" charset="0"/>
              </a:rPr>
              <a:t>In early 2022 (Q4 FY22), </a:t>
            </a:r>
            <a:r>
              <a:rPr lang="en-US" sz="1000" b="1">
                <a:latin typeface="Arial" panose="020B0604020202020204" pitchFamily="34" charset="0"/>
                <a:cs typeface="Arial" panose="020B0604020202020204" pitchFamily="34" charset="0"/>
              </a:rPr>
              <a:t>prices on exchanges (DAM) reached INR 20/kWh due to an increase in the economic activities following the easing of COVID-19 restrictions, pushing average exchange prices </a:t>
            </a:r>
            <a:r>
              <a:rPr lang="en-US" sz="1000">
                <a:latin typeface="Arial" panose="020B0604020202020204" pitchFamily="34" charset="0"/>
                <a:cs typeface="Arial" panose="020B0604020202020204" pitchFamily="34" charset="0"/>
              </a:rPr>
              <a:t>(all segments)</a:t>
            </a:r>
            <a:r>
              <a:rPr lang="en-US" sz="1000" b="1">
                <a:latin typeface="Arial" panose="020B0604020202020204" pitchFamily="34" charset="0"/>
                <a:cs typeface="Arial" panose="020B0604020202020204" pitchFamily="34" charset="0"/>
              </a:rPr>
              <a:t> higher than prices of bilateral contracts </a:t>
            </a:r>
            <a:r>
              <a:rPr lang="en-US" sz="1000">
                <a:latin typeface="Arial" panose="020B0604020202020204" pitchFamily="34" charset="0"/>
                <a:cs typeface="Arial" panose="020B0604020202020204" pitchFamily="34" charset="0"/>
              </a:rPr>
              <a:t>executed through traders</a:t>
            </a:r>
          </a:p>
        </p:txBody>
      </p:sp>
      <p:sp>
        <p:nvSpPr>
          <p:cNvPr id="42" name="Rectangle 41">
            <a:extLst>
              <a:ext uri="{FF2B5EF4-FFF2-40B4-BE49-F238E27FC236}">
                <a16:creationId xmlns:a16="http://schemas.microsoft.com/office/drawing/2014/main" id="{A32233FD-E99D-F4CD-FCF7-BD182D2ADAE5}"/>
              </a:ext>
            </a:extLst>
          </p:cNvPr>
          <p:cNvSpPr/>
          <p:nvPr/>
        </p:nvSpPr>
        <p:spPr bwMode="gray">
          <a:xfrm>
            <a:off x="6210301" y="1900848"/>
            <a:ext cx="5490000" cy="1208816"/>
          </a:xfrm>
          <a:prstGeom prst="rect">
            <a:avLst/>
          </a:prstGeom>
          <a:solidFill>
            <a:schemeClr val="bg1"/>
          </a:solidFill>
          <a:ln w="12700" algn="ctr">
            <a:solidFill>
              <a:schemeClr val="accent6"/>
            </a:solidFill>
            <a:miter lim="800000"/>
            <a:headEnd/>
            <a:tailEnd/>
          </a:ln>
        </p:spPr>
        <p:txBody>
          <a:bodyPr wrap="square" lIns="72231" tIns="72231" rIns="72231" bIns="72231" rtlCol="0" anchor="ctr"/>
          <a:lstStyle/>
          <a:p>
            <a:pPr marL="139303" indent="-139303">
              <a:spcBef>
                <a:spcPts val="488"/>
              </a:spcBef>
              <a:buSzPct val="100000"/>
              <a:buFont typeface="Arial" panose="020B0604020202020204" pitchFamily="34" charset="0"/>
              <a:buChar char="•"/>
            </a:pPr>
            <a:r>
              <a:rPr lang="en-US" sz="1000" b="1">
                <a:latin typeface="Arial" panose="020B0604020202020204" pitchFamily="34" charset="0"/>
                <a:cs typeface="Arial" panose="020B0604020202020204" pitchFamily="34" charset="0"/>
              </a:rPr>
              <a:t>The Ministry of Power directed CERC to put a price cap of INR 12/kWh on the exchanges</a:t>
            </a:r>
          </a:p>
          <a:p>
            <a:pPr marL="139303" indent="-139303">
              <a:spcBef>
                <a:spcPts val="488"/>
              </a:spcBef>
              <a:buSzPct val="100000"/>
              <a:buFont typeface="Arial" panose="020B0604020202020204" pitchFamily="34" charset="0"/>
              <a:buChar char="•"/>
            </a:pPr>
            <a:r>
              <a:rPr lang="en-US" sz="1000">
                <a:latin typeface="Arial" panose="020B0604020202020204" pitchFamily="34" charset="0"/>
                <a:cs typeface="Arial" panose="020B0604020202020204" pitchFamily="34" charset="0"/>
              </a:rPr>
              <a:t>This move stabilized prices for buyers, however, due to high international gas prices, gas-generated electricity became costly, exceeding INR 12/kWh </a:t>
            </a:r>
          </a:p>
          <a:p>
            <a:pPr marL="139303" indent="-139303">
              <a:spcBef>
                <a:spcPts val="488"/>
              </a:spcBef>
              <a:buSzPct val="100000"/>
              <a:buFont typeface="Arial" panose="020B0604020202020204" pitchFamily="34" charset="0"/>
              <a:buChar char="•"/>
            </a:pPr>
            <a:r>
              <a:rPr lang="en-US" sz="1000">
                <a:latin typeface="Arial" panose="020B0604020202020204" pitchFamily="34" charset="0"/>
                <a:cs typeface="Arial" panose="020B0604020202020204" pitchFamily="34" charset="0"/>
              </a:rPr>
              <a:t>Consequently, </a:t>
            </a:r>
            <a:r>
              <a:rPr lang="en-US" sz="1000" b="1">
                <a:latin typeface="Arial" panose="020B0604020202020204" pitchFamily="34" charset="0"/>
                <a:cs typeface="Arial" panose="020B0604020202020204" pitchFamily="34" charset="0"/>
              </a:rPr>
              <a:t>capacity from natural gas and imported coal-based plants, as well as RE plants with battery storage systems could not participate in exchange transactions due to their high generation costs</a:t>
            </a:r>
          </a:p>
        </p:txBody>
      </p:sp>
      <p:sp>
        <p:nvSpPr>
          <p:cNvPr id="44" name="Rectangle 43">
            <a:extLst>
              <a:ext uri="{FF2B5EF4-FFF2-40B4-BE49-F238E27FC236}">
                <a16:creationId xmlns:a16="http://schemas.microsoft.com/office/drawing/2014/main" id="{2C9D2309-8086-1F67-D520-EB65D2502C10}"/>
              </a:ext>
            </a:extLst>
          </p:cNvPr>
          <p:cNvSpPr/>
          <p:nvPr/>
        </p:nvSpPr>
        <p:spPr bwMode="gray">
          <a:xfrm>
            <a:off x="6210301" y="3228327"/>
            <a:ext cx="5490000" cy="830441"/>
          </a:xfrm>
          <a:prstGeom prst="rect">
            <a:avLst/>
          </a:prstGeom>
          <a:noFill/>
          <a:ln w="12700" algn="ctr">
            <a:solidFill>
              <a:schemeClr val="accent6"/>
            </a:solidFill>
            <a:miter lim="800000"/>
            <a:headEnd/>
            <a:tailEnd/>
          </a:ln>
        </p:spPr>
        <p:txBody>
          <a:bodyPr wrap="square" lIns="72231" tIns="72231" rIns="72231" bIns="72231" rtlCol="0" anchor="ctr"/>
          <a:lstStyle/>
          <a:p>
            <a:pPr marL="139303" indent="-139303">
              <a:spcBef>
                <a:spcPts val="488"/>
              </a:spcBef>
              <a:buSzPct val="100000"/>
              <a:buFont typeface="Arial" panose="020B0604020202020204" pitchFamily="34" charset="0"/>
              <a:buChar char="•"/>
            </a:pPr>
            <a:r>
              <a:rPr lang="en-US" sz="1000" b="1">
                <a:latin typeface="Arial" panose="020B0604020202020204" pitchFamily="34" charset="0"/>
                <a:cs typeface="Arial" panose="020B0604020202020204" pitchFamily="34" charset="0"/>
              </a:rPr>
              <a:t>Anticipating growing electricity demand in the coming years, the Ministry of Power, introduced HP-DAM (High Price-DAM), a separate segment within the DAM segment, exclusively for generating capacities with high production costs</a:t>
            </a:r>
          </a:p>
          <a:p>
            <a:pPr marL="139303" indent="-139303">
              <a:spcBef>
                <a:spcPts val="488"/>
              </a:spcBef>
              <a:buSzPct val="100000"/>
              <a:buFont typeface="Arial" panose="020B0604020202020204" pitchFamily="34" charset="0"/>
              <a:buChar char="•"/>
            </a:pPr>
            <a:r>
              <a:rPr lang="en-US" sz="1000" b="1">
                <a:latin typeface="Arial" panose="020B0604020202020204" pitchFamily="34" charset="0"/>
                <a:cs typeface="Arial" panose="020B0604020202020204" pitchFamily="34" charset="0"/>
              </a:rPr>
              <a:t>DAM was subjected to a price cap of INR 10 per kWh</a:t>
            </a:r>
            <a:r>
              <a:rPr lang="en-US" sz="1000">
                <a:latin typeface="Arial" panose="020B0604020202020204" pitchFamily="34" charset="0"/>
                <a:cs typeface="Arial" panose="020B0604020202020204" pitchFamily="34" charset="0"/>
              </a:rPr>
              <a:t>, making average exchange price competitive with prices of bilateral contracts executed through traders</a:t>
            </a:r>
          </a:p>
        </p:txBody>
      </p:sp>
      <p:graphicFrame>
        <p:nvGraphicFramePr>
          <p:cNvPr id="45" name="Chart 44">
            <a:extLst>
              <a:ext uri="{FF2B5EF4-FFF2-40B4-BE49-F238E27FC236}">
                <a16:creationId xmlns:a16="http://schemas.microsoft.com/office/drawing/2014/main" id="{97CED7BE-F1A2-4B94-20FA-862D8245A36D}"/>
              </a:ext>
            </a:extLst>
          </p:cNvPr>
          <p:cNvGraphicFramePr/>
          <p:nvPr>
            <p:extLst>
              <p:ext uri="{D42A27DB-BD31-4B8C-83A1-F6EECF244321}">
                <p14:modId xmlns:p14="http://schemas.microsoft.com/office/powerpoint/2010/main" val="3421756318"/>
              </p:ext>
            </p:extLst>
          </p:nvPr>
        </p:nvGraphicFramePr>
        <p:xfrm>
          <a:off x="406294" y="1764705"/>
          <a:ext cx="5428592" cy="2031924"/>
        </p:xfrm>
        <a:graphic>
          <a:graphicData uri="http://schemas.openxmlformats.org/drawingml/2006/chart">
            <c:chart xmlns:c="http://schemas.openxmlformats.org/drawingml/2006/chart" xmlns:r="http://schemas.openxmlformats.org/officeDocument/2006/relationships" r:id="rId8"/>
          </a:graphicData>
        </a:graphic>
      </p:graphicFrame>
      <p:sp>
        <p:nvSpPr>
          <p:cNvPr id="46" name="TextBox 45">
            <a:extLst>
              <a:ext uri="{FF2B5EF4-FFF2-40B4-BE49-F238E27FC236}">
                <a16:creationId xmlns:a16="http://schemas.microsoft.com/office/drawing/2014/main" id="{51A05699-6AE9-C8CF-B250-271040F8C298}"/>
              </a:ext>
            </a:extLst>
          </p:cNvPr>
          <p:cNvSpPr txBox="1"/>
          <p:nvPr/>
        </p:nvSpPr>
        <p:spPr>
          <a:xfrm>
            <a:off x="8668200" y="6279931"/>
            <a:ext cx="3022151" cy="123111"/>
          </a:xfrm>
          <a:prstGeom prst="rect">
            <a:avLst/>
          </a:prstGeom>
          <a:noFill/>
        </p:spPr>
        <p:txBody>
          <a:bodyPr wrap="square" lIns="0" tIns="0" rIns="0" bIns="0" rtlCol="0">
            <a:spAutoFit/>
          </a:bodyPr>
          <a:lstStyle/>
          <a:p>
            <a:pPr algn="r">
              <a:spcBef>
                <a:spcPts val="488"/>
              </a:spcBef>
              <a:buSzPct val="100000"/>
            </a:pPr>
            <a:r>
              <a:rPr lang="en-US" sz="800" b="1">
                <a:solidFill>
                  <a:schemeClr val="tx1">
                    <a:lumMod val="50000"/>
                    <a:lumOff val="50000"/>
                  </a:schemeClr>
                </a:solidFill>
                <a:latin typeface="Arial" panose="020B0604020202020204" pitchFamily="34" charset="0"/>
                <a:cs typeface="Arial" panose="020B0604020202020204" pitchFamily="34" charset="0"/>
              </a:rPr>
              <a:t>Legend</a:t>
            </a:r>
            <a:r>
              <a:rPr lang="en-US" sz="800">
                <a:solidFill>
                  <a:schemeClr val="tx1">
                    <a:lumMod val="50000"/>
                    <a:lumOff val="50000"/>
                  </a:schemeClr>
                </a:solidFill>
                <a:latin typeface="Arial" panose="020B0604020202020204" pitchFamily="34" charset="0"/>
                <a:cs typeface="Arial" panose="020B0604020202020204" pitchFamily="34" charset="0"/>
              </a:rPr>
              <a:t>:</a:t>
            </a:r>
            <a:r>
              <a:rPr lang="en-US" sz="800">
                <a:solidFill>
                  <a:schemeClr val="accent6">
                    <a:lumMod val="60000"/>
                    <a:lumOff val="40000"/>
                  </a:schemeClr>
                </a:solidFill>
                <a:latin typeface="Arial" panose="020B0604020202020204" pitchFamily="34" charset="0"/>
                <a:cs typeface="Arial" panose="020B0604020202020204" pitchFamily="34" charset="0"/>
              </a:rPr>
              <a:t> Maximum</a:t>
            </a:r>
            <a:r>
              <a:rPr lang="en-US" sz="800">
                <a:latin typeface="Arial" panose="020B0604020202020204" pitchFamily="34" charset="0"/>
                <a:cs typeface="Arial" panose="020B0604020202020204" pitchFamily="34" charset="0"/>
              </a:rPr>
              <a:t>, </a:t>
            </a:r>
            <a:r>
              <a:rPr lang="en-US" sz="800">
                <a:solidFill>
                  <a:schemeClr val="accent4"/>
                </a:solidFill>
                <a:latin typeface="Arial" panose="020B0604020202020204" pitchFamily="34" charset="0"/>
                <a:cs typeface="Arial" panose="020B0604020202020204" pitchFamily="34" charset="0"/>
              </a:rPr>
              <a:t>Minimum</a:t>
            </a:r>
            <a:r>
              <a:rPr lang="en-US" sz="800">
                <a:latin typeface="Arial" panose="020B0604020202020204" pitchFamily="34" charset="0"/>
                <a:cs typeface="Arial" panose="020B0604020202020204" pitchFamily="34" charset="0"/>
              </a:rPr>
              <a:t>, </a:t>
            </a:r>
            <a:r>
              <a:rPr lang="en-US" sz="800" b="1">
                <a:latin typeface="Arial" panose="020B0604020202020204" pitchFamily="34" charset="0"/>
                <a:cs typeface="Arial" panose="020B0604020202020204" pitchFamily="34" charset="0"/>
              </a:rPr>
              <a:t>Weighted Average</a:t>
            </a:r>
          </a:p>
        </p:txBody>
      </p:sp>
      <p:sp>
        <p:nvSpPr>
          <p:cNvPr id="48" name="Left Brace 47">
            <a:extLst>
              <a:ext uri="{FF2B5EF4-FFF2-40B4-BE49-F238E27FC236}">
                <a16:creationId xmlns:a16="http://schemas.microsoft.com/office/drawing/2014/main" id="{135EB5C8-4C26-503E-C15F-BDB74A749315}"/>
              </a:ext>
            </a:extLst>
          </p:cNvPr>
          <p:cNvSpPr/>
          <p:nvPr/>
        </p:nvSpPr>
        <p:spPr>
          <a:xfrm rot="5400000">
            <a:off x="1762813" y="4294097"/>
            <a:ext cx="300653" cy="1003306"/>
          </a:xfrm>
          <a:prstGeom prst="leftBrace">
            <a:avLst/>
          </a:prstGeom>
          <a:ln>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63"/>
          </a:p>
        </p:txBody>
      </p:sp>
      <p:sp>
        <p:nvSpPr>
          <p:cNvPr id="49" name="Oval 48">
            <a:extLst>
              <a:ext uri="{FF2B5EF4-FFF2-40B4-BE49-F238E27FC236}">
                <a16:creationId xmlns:a16="http://schemas.microsoft.com/office/drawing/2014/main" id="{8C1A5C85-CD93-5DD8-D4CB-855ABC679873}"/>
              </a:ext>
            </a:extLst>
          </p:cNvPr>
          <p:cNvSpPr/>
          <p:nvPr/>
        </p:nvSpPr>
        <p:spPr bwMode="gray">
          <a:xfrm>
            <a:off x="1799928" y="4404204"/>
            <a:ext cx="226423" cy="228600"/>
          </a:xfrm>
          <a:prstGeom prst="ellipse">
            <a:avLst/>
          </a:prstGeom>
          <a:solidFill>
            <a:schemeClr val="bg1"/>
          </a:solidFill>
          <a:ln w="19050" algn="ctr">
            <a:solidFill>
              <a:srgbClr val="FF0000"/>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975" b="1"/>
              <a:t>B</a:t>
            </a:r>
          </a:p>
        </p:txBody>
      </p:sp>
      <p:sp>
        <p:nvSpPr>
          <p:cNvPr id="50" name="Oval 49">
            <a:extLst>
              <a:ext uri="{FF2B5EF4-FFF2-40B4-BE49-F238E27FC236}">
                <a16:creationId xmlns:a16="http://schemas.microsoft.com/office/drawing/2014/main" id="{F446F88D-1CF0-D18D-6D12-4445EC1E6206}"/>
              </a:ext>
            </a:extLst>
          </p:cNvPr>
          <p:cNvSpPr/>
          <p:nvPr/>
        </p:nvSpPr>
        <p:spPr bwMode="gray">
          <a:xfrm>
            <a:off x="6910316" y="4414232"/>
            <a:ext cx="226423" cy="228600"/>
          </a:xfrm>
          <a:prstGeom prst="ellipse">
            <a:avLst/>
          </a:prstGeom>
          <a:solidFill>
            <a:schemeClr val="bg1"/>
          </a:solidFill>
          <a:ln w="19050" algn="ctr">
            <a:solidFill>
              <a:srgbClr val="FF0000"/>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975" b="1"/>
              <a:t>C</a:t>
            </a:r>
          </a:p>
        </p:txBody>
      </p:sp>
      <p:sp>
        <p:nvSpPr>
          <p:cNvPr id="51" name="Left Brace 50">
            <a:extLst>
              <a:ext uri="{FF2B5EF4-FFF2-40B4-BE49-F238E27FC236}">
                <a16:creationId xmlns:a16="http://schemas.microsoft.com/office/drawing/2014/main" id="{5966BFFF-7E76-B2B9-B645-FA2D83D103BF}"/>
              </a:ext>
            </a:extLst>
          </p:cNvPr>
          <p:cNvSpPr/>
          <p:nvPr/>
        </p:nvSpPr>
        <p:spPr>
          <a:xfrm rot="5400000">
            <a:off x="6884620" y="268133"/>
            <a:ext cx="277816" cy="9032398"/>
          </a:xfrm>
          <a:prstGeom prst="leftBrace">
            <a:avLst>
              <a:gd name="adj1" fmla="val 0"/>
              <a:gd name="adj2" fmla="val 50000"/>
            </a:avLst>
          </a:prstGeom>
          <a:ln>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63"/>
          </a:p>
        </p:txBody>
      </p:sp>
      <p:sp>
        <p:nvSpPr>
          <p:cNvPr id="52" name="Oval 51">
            <a:extLst>
              <a:ext uri="{FF2B5EF4-FFF2-40B4-BE49-F238E27FC236}">
                <a16:creationId xmlns:a16="http://schemas.microsoft.com/office/drawing/2014/main" id="{E9993E60-19E7-1411-F2CB-AA906A007271}"/>
              </a:ext>
            </a:extLst>
          </p:cNvPr>
          <p:cNvSpPr/>
          <p:nvPr/>
        </p:nvSpPr>
        <p:spPr bwMode="gray">
          <a:xfrm>
            <a:off x="5934584" y="1082350"/>
            <a:ext cx="226423" cy="228600"/>
          </a:xfrm>
          <a:prstGeom prst="ellipse">
            <a:avLst/>
          </a:prstGeom>
          <a:solidFill>
            <a:schemeClr val="bg1"/>
          </a:solidFill>
          <a:ln w="19050" algn="ctr">
            <a:solidFill>
              <a:srgbClr val="DA291C"/>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975" b="1"/>
              <a:t>A</a:t>
            </a:r>
          </a:p>
        </p:txBody>
      </p:sp>
      <p:sp>
        <p:nvSpPr>
          <p:cNvPr id="53" name="Oval 52">
            <a:extLst>
              <a:ext uri="{FF2B5EF4-FFF2-40B4-BE49-F238E27FC236}">
                <a16:creationId xmlns:a16="http://schemas.microsoft.com/office/drawing/2014/main" id="{BC751D28-C5C0-11AB-00E9-6D7BB96D9FA8}"/>
              </a:ext>
            </a:extLst>
          </p:cNvPr>
          <p:cNvSpPr/>
          <p:nvPr/>
        </p:nvSpPr>
        <p:spPr bwMode="gray">
          <a:xfrm>
            <a:off x="5934583" y="1801545"/>
            <a:ext cx="226423" cy="228600"/>
          </a:xfrm>
          <a:prstGeom prst="ellipse">
            <a:avLst/>
          </a:prstGeom>
          <a:solidFill>
            <a:schemeClr val="bg1"/>
          </a:solidFill>
          <a:ln w="19050" algn="ctr">
            <a:solidFill>
              <a:srgbClr val="DA291C"/>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975" b="1"/>
              <a:t>B</a:t>
            </a:r>
          </a:p>
        </p:txBody>
      </p:sp>
      <p:sp>
        <p:nvSpPr>
          <p:cNvPr id="54" name="Oval 53">
            <a:extLst>
              <a:ext uri="{FF2B5EF4-FFF2-40B4-BE49-F238E27FC236}">
                <a16:creationId xmlns:a16="http://schemas.microsoft.com/office/drawing/2014/main" id="{58D34D5A-293A-7669-61B2-C7E95BCFD78B}"/>
              </a:ext>
            </a:extLst>
          </p:cNvPr>
          <p:cNvSpPr/>
          <p:nvPr/>
        </p:nvSpPr>
        <p:spPr bwMode="gray">
          <a:xfrm>
            <a:off x="5934583" y="3114027"/>
            <a:ext cx="226423" cy="228600"/>
          </a:xfrm>
          <a:prstGeom prst="ellipse">
            <a:avLst/>
          </a:prstGeom>
          <a:solidFill>
            <a:schemeClr val="bg1"/>
          </a:solidFill>
          <a:ln w="19050" algn="ctr">
            <a:solidFill>
              <a:srgbClr val="DA291C"/>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975" b="1"/>
              <a:t>C</a:t>
            </a:r>
          </a:p>
        </p:txBody>
      </p:sp>
      <p:cxnSp>
        <p:nvCxnSpPr>
          <p:cNvPr id="55" name="Straight Connector 54">
            <a:extLst>
              <a:ext uri="{FF2B5EF4-FFF2-40B4-BE49-F238E27FC236}">
                <a16:creationId xmlns:a16="http://schemas.microsoft.com/office/drawing/2014/main" id="{10612C40-BB64-69E1-1DFE-7B2BF2BD906B}"/>
              </a:ext>
            </a:extLst>
          </p:cNvPr>
          <p:cNvCxnSpPr/>
          <p:nvPr/>
        </p:nvCxnSpPr>
        <p:spPr bwMode="gray">
          <a:xfrm>
            <a:off x="1434517" y="5801565"/>
            <a:ext cx="677411" cy="0"/>
          </a:xfrm>
          <a:prstGeom prst="line">
            <a:avLst/>
          </a:prstGeom>
          <a:ln w="952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2E6255A6-D3FE-85FF-3D9C-FA3B3F70610E}"/>
              </a:ext>
            </a:extLst>
          </p:cNvPr>
          <p:cNvCxnSpPr>
            <a:cxnSpLocks/>
          </p:cNvCxnSpPr>
          <p:nvPr/>
        </p:nvCxnSpPr>
        <p:spPr bwMode="gray">
          <a:xfrm flipV="1">
            <a:off x="1704732" y="5723508"/>
            <a:ext cx="112932" cy="148839"/>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E5C3342A-E8A5-720D-9BB8-F1C69B3C79F8}"/>
              </a:ext>
            </a:extLst>
          </p:cNvPr>
          <p:cNvCxnSpPr>
            <a:cxnSpLocks/>
          </p:cNvCxnSpPr>
          <p:nvPr/>
        </p:nvCxnSpPr>
        <p:spPr bwMode="gray">
          <a:xfrm flipV="1">
            <a:off x="1773222" y="5723508"/>
            <a:ext cx="112932" cy="148839"/>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414E4BF9-470F-9CBD-4C76-CAB53DA18CC9}"/>
              </a:ext>
            </a:extLst>
          </p:cNvPr>
          <p:cNvCxnSpPr>
            <a:cxnSpLocks/>
          </p:cNvCxnSpPr>
          <p:nvPr/>
        </p:nvCxnSpPr>
        <p:spPr bwMode="gray">
          <a:xfrm>
            <a:off x="1434517" y="5356041"/>
            <a:ext cx="677411" cy="85909"/>
          </a:xfrm>
          <a:prstGeom prst="line">
            <a:avLst/>
          </a:prstGeom>
          <a:ln w="28575">
            <a:solidFill>
              <a:srgbClr val="007CB0"/>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01419409"/>
      </p:ext>
    </p:extLst>
  </p:cSld>
  <p:clrMapOvr>
    <a:masterClrMapping/>
  </p:clrMapOvr>
  <p:transition>
    <p:fade/>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525913127"/>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Bilateral transactions for sale of electricity</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r>
              <a:rPr lang="en-US" sz="1400">
                <a:latin typeface="Arial" panose="020B0604020202020204" pitchFamily="34" charset="0"/>
                <a:cs typeface="Arial" panose="020B0604020202020204" pitchFamily="34" charset="0"/>
              </a:rPr>
              <a:t>Sale of electricity to Discoms or Commercial &amp; Industrial consumers directly or through traders is another avenue for sale of power in India</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492850"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Central Electricity Regulatory Commission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pic>
        <p:nvPicPr>
          <p:cNvPr id="5" name="Picture 2" descr="Industry Icons PNGs for Free Download">
            <a:extLst>
              <a:ext uri="{FF2B5EF4-FFF2-40B4-BE49-F238E27FC236}">
                <a16:creationId xmlns:a16="http://schemas.microsoft.com/office/drawing/2014/main" id="{0085B83F-1A6F-ABA9-39AE-9F7C2B73206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9476" y="2922344"/>
            <a:ext cx="943486" cy="90000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8" descr="Power industry - Free buildings icons">
            <a:extLst>
              <a:ext uri="{FF2B5EF4-FFF2-40B4-BE49-F238E27FC236}">
                <a16:creationId xmlns:a16="http://schemas.microsoft.com/office/drawing/2014/main" id="{2257E6B8-CB42-4B49-27EE-3FEEA554835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61476" y="2922344"/>
            <a:ext cx="900345" cy="9000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8" descr="8,726 Energy 3D Illustrations - Free in PNG, BLEND, FBX, glTF | IconScout">
            <a:extLst>
              <a:ext uri="{FF2B5EF4-FFF2-40B4-BE49-F238E27FC236}">
                <a16:creationId xmlns:a16="http://schemas.microsoft.com/office/drawing/2014/main" id="{DECA7973-B78A-8238-C202-EE80D390850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486" y="2915454"/>
            <a:ext cx="900345" cy="90000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Connector: Elbow 10">
            <a:extLst>
              <a:ext uri="{FF2B5EF4-FFF2-40B4-BE49-F238E27FC236}">
                <a16:creationId xmlns:a16="http://schemas.microsoft.com/office/drawing/2014/main" id="{277F8B58-C410-24F1-FE48-2AC5F50AF537}"/>
              </a:ext>
            </a:extLst>
          </p:cNvPr>
          <p:cNvCxnSpPr>
            <a:cxnSpLocks/>
            <a:stCxn id="7" idx="0"/>
            <a:endCxn id="5" idx="0"/>
          </p:cNvCxnSpPr>
          <p:nvPr/>
        </p:nvCxnSpPr>
        <p:spPr>
          <a:xfrm rot="16200000" flipV="1">
            <a:off x="3316434" y="627129"/>
            <a:ext cx="12700" cy="4590430"/>
          </a:xfrm>
          <a:prstGeom prst="bentConnector3">
            <a:avLst>
              <a:gd name="adj1" fmla="val 3640000"/>
            </a:avLst>
          </a:prstGeom>
          <a:ln w="38100">
            <a:solidFill>
              <a:srgbClr val="C0000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306B331C-8687-9146-26E7-D9D5A70F3912}"/>
              </a:ext>
            </a:extLst>
          </p:cNvPr>
          <p:cNvCxnSpPr>
            <a:stCxn id="5" idx="3"/>
            <a:endCxn id="9" idx="1"/>
          </p:cNvCxnSpPr>
          <p:nvPr/>
        </p:nvCxnSpPr>
        <p:spPr>
          <a:xfrm flipV="1">
            <a:off x="1492962" y="3365454"/>
            <a:ext cx="1348524" cy="6890"/>
          </a:xfrm>
          <a:prstGeom prst="straightConnector1">
            <a:avLst/>
          </a:prstGeom>
          <a:ln w="38100">
            <a:solidFill>
              <a:srgbClr val="046A38"/>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BBEDF3F5-C271-4A85-FA22-97CCBBA60267}"/>
              </a:ext>
            </a:extLst>
          </p:cNvPr>
          <p:cNvCxnSpPr>
            <a:cxnSpLocks/>
            <a:endCxn id="7" idx="1"/>
          </p:cNvCxnSpPr>
          <p:nvPr/>
        </p:nvCxnSpPr>
        <p:spPr>
          <a:xfrm>
            <a:off x="3721511" y="3365454"/>
            <a:ext cx="1439965" cy="6890"/>
          </a:xfrm>
          <a:prstGeom prst="straightConnector1">
            <a:avLst/>
          </a:prstGeom>
          <a:ln w="38100">
            <a:solidFill>
              <a:srgbClr val="046A38"/>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19" name="Text Placeholder 3">
            <a:extLst>
              <a:ext uri="{FF2B5EF4-FFF2-40B4-BE49-F238E27FC236}">
                <a16:creationId xmlns:a16="http://schemas.microsoft.com/office/drawing/2014/main" id="{7D26526A-DC8B-E499-BC57-BCB5673DB791}"/>
              </a:ext>
            </a:extLst>
          </p:cNvPr>
          <p:cNvSpPr txBox="1">
            <a:spLocks/>
          </p:cNvSpPr>
          <p:nvPr/>
        </p:nvSpPr>
        <p:spPr>
          <a:xfrm>
            <a:off x="2452409" y="2171599"/>
            <a:ext cx="1662592" cy="243166"/>
          </a:xfrm>
          <a:prstGeom prst="rect">
            <a:avLst/>
          </a:prstGeom>
        </p:spPr>
        <p:txBody>
          <a:bodyPr wrap="square" lIns="0" tIns="0" rIns="0" bIns="0" anchor="ctr" anchorCtr="0">
            <a:no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705561">
              <a:defRPr/>
            </a:pPr>
            <a:r>
              <a:rPr lang="en-US" sz="1050">
                <a:solidFill>
                  <a:schemeClr val="accent3"/>
                </a:solidFill>
                <a:latin typeface="Arial" panose="020B0604020202020204" pitchFamily="34" charset="0"/>
                <a:cs typeface="Arial" panose="020B0604020202020204" pitchFamily="34" charset="0"/>
                <a:sym typeface="Arial" panose="020B0604020202020204" pitchFamily="34" charset="0"/>
              </a:rPr>
              <a:t>Electricity supply through grid</a:t>
            </a:r>
          </a:p>
        </p:txBody>
      </p:sp>
      <p:sp>
        <p:nvSpPr>
          <p:cNvPr id="20" name="Text Placeholder 3">
            <a:extLst>
              <a:ext uri="{FF2B5EF4-FFF2-40B4-BE49-F238E27FC236}">
                <a16:creationId xmlns:a16="http://schemas.microsoft.com/office/drawing/2014/main" id="{0E340B8C-8BC4-D01A-F411-F0FEF4078253}"/>
              </a:ext>
            </a:extLst>
          </p:cNvPr>
          <p:cNvSpPr txBox="1">
            <a:spLocks/>
          </p:cNvSpPr>
          <p:nvPr/>
        </p:nvSpPr>
        <p:spPr>
          <a:xfrm>
            <a:off x="1548421" y="3441820"/>
            <a:ext cx="1285655" cy="306558"/>
          </a:xfrm>
          <a:prstGeom prst="rect">
            <a:avLst/>
          </a:prstGeom>
        </p:spPr>
        <p:txBody>
          <a:bodyPr wrap="square" lIns="0" tIns="0" rIns="0" bIns="0" anchor="ctr" anchorCtr="0">
            <a:no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705561">
              <a:defRPr/>
            </a:pPr>
            <a:r>
              <a:rPr lang="en-US" sz="1000" i="1">
                <a:solidFill>
                  <a:schemeClr val="accent3"/>
                </a:solidFill>
                <a:latin typeface="Arial" panose="020B0604020202020204" pitchFamily="34" charset="0"/>
                <a:cs typeface="Arial" panose="020B0604020202020204" pitchFamily="34" charset="0"/>
                <a:sym typeface="Arial" panose="020B0604020202020204" pitchFamily="34" charset="0"/>
              </a:rPr>
              <a:t>Tariff + trading margin (INR/kWh)</a:t>
            </a:r>
          </a:p>
        </p:txBody>
      </p:sp>
      <p:sp>
        <p:nvSpPr>
          <p:cNvPr id="21" name="Text Placeholder 3">
            <a:extLst>
              <a:ext uri="{FF2B5EF4-FFF2-40B4-BE49-F238E27FC236}">
                <a16:creationId xmlns:a16="http://schemas.microsoft.com/office/drawing/2014/main" id="{0551C894-3BD7-F0A2-4C83-13FA621A55D9}"/>
              </a:ext>
            </a:extLst>
          </p:cNvPr>
          <p:cNvSpPr txBox="1">
            <a:spLocks/>
          </p:cNvSpPr>
          <p:nvPr/>
        </p:nvSpPr>
        <p:spPr>
          <a:xfrm>
            <a:off x="3820361" y="3469283"/>
            <a:ext cx="1168199" cy="279095"/>
          </a:xfrm>
          <a:prstGeom prst="rect">
            <a:avLst/>
          </a:prstGeom>
        </p:spPr>
        <p:txBody>
          <a:bodyPr wrap="square" lIns="0" tIns="0" rIns="0" bIns="0" anchor="ctr" anchorCtr="0">
            <a:no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705561">
              <a:defRPr/>
            </a:pPr>
            <a:r>
              <a:rPr lang="en-US" sz="1000" i="1">
                <a:solidFill>
                  <a:schemeClr val="accent3"/>
                </a:solidFill>
                <a:latin typeface="Arial" panose="020B0604020202020204" pitchFamily="34" charset="0"/>
                <a:cs typeface="Arial" panose="020B0604020202020204" pitchFamily="34" charset="0"/>
                <a:sym typeface="Arial" panose="020B0604020202020204" pitchFamily="34" charset="0"/>
              </a:rPr>
              <a:t>Tariff - trading margin (INR/kWh)</a:t>
            </a:r>
          </a:p>
        </p:txBody>
      </p:sp>
      <p:sp>
        <p:nvSpPr>
          <p:cNvPr id="23" name="Text Placeholder 3">
            <a:extLst>
              <a:ext uri="{FF2B5EF4-FFF2-40B4-BE49-F238E27FC236}">
                <a16:creationId xmlns:a16="http://schemas.microsoft.com/office/drawing/2014/main" id="{D592B144-D7E7-F539-95F0-5EF30ACD028E}"/>
              </a:ext>
            </a:extLst>
          </p:cNvPr>
          <p:cNvSpPr txBox="1">
            <a:spLocks/>
          </p:cNvSpPr>
          <p:nvPr/>
        </p:nvSpPr>
        <p:spPr>
          <a:xfrm>
            <a:off x="1487450" y="4235885"/>
            <a:ext cx="3644084" cy="516919"/>
          </a:xfrm>
          <a:prstGeom prst="rect">
            <a:avLst/>
          </a:prstGeom>
        </p:spPr>
        <p:txBody>
          <a:bodyPr wrap="square" lIns="0" tIns="0" rIns="0" bIns="0" anchor="ctr" anchorCtr="0">
            <a:no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705561">
              <a:defRPr/>
            </a:pPr>
            <a:r>
              <a:rPr lang="en-US" sz="1050" i="1">
                <a:solidFill>
                  <a:srgbClr val="2C5234"/>
                </a:solidFill>
                <a:latin typeface="Arial" panose="020B0604020202020204" pitchFamily="34" charset="0"/>
                <a:cs typeface="Arial" panose="020B0604020202020204" pitchFamily="34" charset="0"/>
                <a:sym typeface="Arial" panose="020B0604020202020204" pitchFamily="34" charset="0"/>
              </a:rPr>
              <a:t>Trader can charge margin to both buyer and seller. However, total margin should not exceed INR 0.07//kWh</a:t>
            </a:r>
          </a:p>
        </p:txBody>
      </p:sp>
      <p:sp>
        <p:nvSpPr>
          <p:cNvPr id="24" name="Rectangle: Rounded Corners 23">
            <a:extLst>
              <a:ext uri="{FF2B5EF4-FFF2-40B4-BE49-F238E27FC236}">
                <a16:creationId xmlns:a16="http://schemas.microsoft.com/office/drawing/2014/main" id="{AC8A1C2C-97D8-FCDB-5D0C-EDC9E7B4BC11}"/>
              </a:ext>
            </a:extLst>
          </p:cNvPr>
          <p:cNvSpPr/>
          <p:nvPr/>
        </p:nvSpPr>
        <p:spPr bwMode="gray">
          <a:xfrm>
            <a:off x="549476" y="1551295"/>
            <a:ext cx="3384000" cy="432000"/>
          </a:xfrm>
          <a:prstGeom prst="roundRect">
            <a:avLst>
              <a:gd name="adj" fmla="val 50000"/>
            </a:avLst>
          </a:prstGeom>
          <a:solidFill>
            <a:schemeClr val="accent4"/>
          </a:solid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1200" b="1">
                <a:solidFill>
                  <a:schemeClr val="bg1"/>
                </a:solidFill>
                <a:latin typeface="Arial" panose="020B0604020202020204" pitchFamily="34" charset="0"/>
                <a:cs typeface="Arial" panose="020B0604020202020204" pitchFamily="34" charset="0"/>
              </a:rPr>
              <a:t>Bilateral transactions</a:t>
            </a:r>
          </a:p>
        </p:txBody>
      </p:sp>
      <p:sp>
        <p:nvSpPr>
          <p:cNvPr id="25" name="Text Placeholder 3">
            <a:extLst>
              <a:ext uri="{FF2B5EF4-FFF2-40B4-BE49-F238E27FC236}">
                <a16:creationId xmlns:a16="http://schemas.microsoft.com/office/drawing/2014/main" id="{BDE5E45D-65AF-6189-C85C-317D0BE64576}"/>
              </a:ext>
            </a:extLst>
          </p:cNvPr>
          <p:cNvSpPr txBox="1">
            <a:spLocks/>
          </p:cNvSpPr>
          <p:nvPr/>
        </p:nvSpPr>
        <p:spPr>
          <a:xfrm>
            <a:off x="663025" y="3917639"/>
            <a:ext cx="716387" cy="487026"/>
          </a:xfrm>
          <a:prstGeom prst="rect">
            <a:avLst/>
          </a:prstGeom>
        </p:spPr>
        <p:txBody>
          <a:bodyPr wrap="square" lIns="0" tIns="0" rIns="0" bIns="0" anchor="ctr" anchorCtr="0">
            <a:no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705561">
              <a:defRPr/>
            </a:pPr>
            <a:r>
              <a:rPr lang="en-US" sz="1200" i="1">
                <a:solidFill>
                  <a:schemeClr val="accent3"/>
                </a:solidFill>
                <a:latin typeface="Arial" panose="020B0604020202020204" pitchFamily="34" charset="0"/>
                <a:cs typeface="Arial" panose="020B0604020202020204" pitchFamily="34" charset="0"/>
                <a:sym typeface="Arial" panose="020B0604020202020204" pitchFamily="34" charset="0"/>
              </a:rPr>
              <a:t>Customer/ Discom</a:t>
            </a:r>
          </a:p>
        </p:txBody>
      </p:sp>
      <p:sp>
        <p:nvSpPr>
          <p:cNvPr id="26" name="Text Placeholder 3">
            <a:extLst>
              <a:ext uri="{FF2B5EF4-FFF2-40B4-BE49-F238E27FC236}">
                <a16:creationId xmlns:a16="http://schemas.microsoft.com/office/drawing/2014/main" id="{9E0109C6-4495-6B1B-C72B-DB8D48C76E6E}"/>
              </a:ext>
            </a:extLst>
          </p:cNvPr>
          <p:cNvSpPr txBox="1">
            <a:spLocks/>
          </p:cNvSpPr>
          <p:nvPr/>
        </p:nvSpPr>
        <p:spPr>
          <a:xfrm>
            <a:off x="5253454" y="3809293"/>
            <a:ext cx="716387" cy="395631"/>
          </a:xfrm>
          <a:prstGeom prst="rect">
            <a:avLst/>
          </a:prstGeom>
        </p:spPr>
        <p:txBody>
          <a:bodyPr wrap="square" lIns="0" tIns="0" rIns="0" bIns="0" anchor="ctr" anchorCtr="0">
            <a:no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705561">
              <a:defRPr/>
            </a:pPr>
            <a:r>
              <a:rPr lang="en-US" sz="1200" i="1">
                <a:solidFill>
                  <a:schemeClr val="accent3"/>
                </a:solidFill>
                <a:latin typeface="Arial" panose="020B0604020202020204" pitchFamily="34" charset="0"/>
                <a:cs typeface="Arial" panose="020B0604020202020204" pitchFamily="34" charset="0"/>
                <a:sym typeface="Arial" panose="020B0604020202020204" pitchFamily="34" charset="0"/>
              </a:rPr>
              <a:t>Generator</a:t>
            </a:r>
          </a:p>
        </p:txBody>
      </p:sp>
      <p:sp>
        <p:nvSpPr>
          <p:cNvPr id="27" name="Text Placeholder 3">
            <a:extLst>
              <a:ext uri="{FF2B5EF4-FFF2-40B4-BE49-F238E27FC236}">
                <a16:creationId xmlns:a16="http://schemas.microsoft.com/office/drawing/2014/main" id="{7BB745B3-3223-B781-73E2-9199F7F6E1CE}"/>
              </a:ext>
            </a:extLst>
          </p:cNvPr>
          <p:cNvSpPr txBox="1">
            <a:spLocks/>
          </p:cNvSpPr>
          <p:nvPr/>
        </p:nvSpPr>
        <p:spPr>
          <a:xfrm>
            <a:off x="2802807" y="3809104"/>
            <a:ext cx="1168199" cy="278062"/>
          </a:xfrm>
          <a:prstGeom prst="rect">
            <a:avLst/>
          </a:prstGeom>
        </p:spPr>
        <p:txBody>
          <a:bodyPr wrap="square" lIns="0" tIns="0" rIns="0" bIns="0" anchor="ctr" anchorCtr="0">
            <a:no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705561">
              <a:defRPr/>
            </a:pPr>
            <a:r>
              <a:rPr lang="en-US" sz="1200" i="1">
                <a:solidFill>
                  <a:schemeClr val="accent3"/>
                </a:solidFill>
                <a:latin typeface="Arial" panose="020B0604020202020204" pitchFamily="34" charset="0"/>
                <a:cs typeface="Arial" panose="020B0604020202020204" pitchFamily="34" charset="0"/>
                <a:sym typeface="Arial" panose="020B0604020202020204" pitchFamily="34" charset="0"/>
              </a:rPr>
              <a:t>Trading licensee</a:t>
            </a:r>
          </a:p>
        </p:txBody>
      </p:sp>
      <p:sp>
        <p:nvSpPr>
          <p:cNvPr id="28" name="Rectangle 27">
            <a:extLst>
              <a:ext uri="{FF2B5EF4-FFF2-40B4-BE49-F238E27FC236}">
                <a16:creationId xmlns:a16="http://schemas.microsoft.com/office/drawing/2014/main" id="{148D6779-3FDC-6FF9-40BB-3B6FA2EFF38D}"/>
              </a:ext>
            </a:extLst>
          </p:cNvPr>
          <p:cNvSpPr/>
          <p:nvPr/>
        </p:nvSpPr>
        <p:spPr bwMode="gray">
          <a:xfrm>
            <a:off x="6487851" y="1404056"/>
            <a:ext cx="5176149" cy="4870094"/>
          </a:xfrm>
          <a:prstGeom prst="rect">
            <a:avLst/>
          </a:prstGeom>
          <a:noFill/>
          <a:ln w="3175" algn="ctr">
            <a:solidFill>
              <a:schemeClr val="bg2"/>
            </a:solidFill>
            <a:miter lim="800000"/>
            <a:headEnd/>
            <a:tailEnd/>
          </a:ln>
        </p:spPr>
        <p:txBody>
          <a:bodyPr wrap="square" lIns="88900" tIns="88900" rIns="88900" bIns="88900" rtlCol="0" anchor="ctr"/>
          <a:lstStyle/>
          <a:p>
            <a:pPr marL="171450" indent="-171450" algn="ctr">
              <a:lnSpc>
                <a:spcPct val="106000"/>
              </a:lnSpc>
              <a:buFont typeface="Arial" panose="020B0604020202020204" pitchFamily="34" charset="0"/>
              <a:buChar char="•"/>
            </a:pPr>
            <a:endParaRPr lang="en-US" sz="1200" b="1">
              <a:solidFill>
                <a:schemeClr val="bg1"/>
              </a:solidFill>
              <a:latin typeface="Arial" panose="020B0604020202020204" pitchFamily="34" charset="0"/>
              <a:cs typeface="Arial" panose="020B0604020202020204" pitchFamily="34" charset="0"/>
            </a:endParaRPr>
          </a:p>
        </p:txBody>
      </p:sp>
      <p:sp>
        <p:nvSpPr>
          <p:cNvPr id="29" name="Rectangle 28">
            <a:extLst>
              <a:ext uri="{FF2B5EF4-FFF2-40B4-BE49-F238E27FC236}">
                <a16:creationId xmlns:a16="http://schemas.microsoft.com/office/drawing/2014/main" id="{47B3B0D7-43F1-5369-780A-046D74B94791}"/>
              </a:ext>
            </a:extLst>
          </p:cNvPr>
          <p:cNvSpPr/>
          <p:nvPr/>
        </p:nvSpPr>
        <p:spPr bwMode="gray">
          <a:xfrm>
            <a:off x="500464" y="1404056"/>
            <a:ext cx="5595535" cy="4870094"/>
          </a:xfrm>
          <a:prstGeom prst="rect">
            <a:avLst/>
          </a:prstGeom>
          <a:noFill/>
          <a:ln w="317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latin typeface="Arial" panose="020B0604020202020204" pitchFamily="34" charset="0"/>
              <a:cs typeface="Arial" panose="020B0604020202020204" pitchFamily="34" charset="0"/>
            </a:endParaRPr>
          </a:p>
        </p:txBody>
      </p:sp>
      <p:sp>
        <p:nvSpPr>
          <p:cNvPr id="30" name="Rectangle: Rounded Corners 29">
            <a:extLst>
              <a:ext uri="{FF2B5EF4-FFF2-40B4-BE49-F238E27FC236}">
                <a16:creationId xmlns:a16="http://schemas.microsoft.com/office/drawing/2014/main" id="{E6698D81-439F-95BF-845A-687463C8732F}"/>
              </a:ext>
            </a:extLst>
          </p:cNvPr>
          <p:cNvSpPr/>
          <p:nvPr/>
        </p:nvSpPr>
        <p:spPr bwMode="gray">
          <a:xfrm>
            <a:off x="549476" y="4934584"/>
            <a:ext cx="5512345" cy="452687"/>
          </a:xfrm>
          <a:prstGeom prst="roundRect">
            <a:avLst>
              <a:gd name="adj" fmla="val 50000"/>
            </a:avLst>
          </a:prstGeom>
          <a:noFill/>
          <a:ln w="19050" algn="ctr">
            <a:solidFill>
              <a:schemeClr val="bg2"/>
            </a:solidFill>
            <a:miter lim="800000"/>
            <a:headEnd/>
            <a:tailEnd/>
          </a:ln>
        </p:spPr>
        <p:txBody>
          <a:bodyPr wrap="square" lIns="88900" tIns="88900" rIns="88900" bIns="88900" rtlCol="0" anchor="ctr"/>
          <a:lstStyle/>
          <a:p>
            <a:pPr marL="171450" indent="-171450">
              <a:lnSpc>
                <a:spcPct val="106000"/>
              </a:lnSpc>
              <a:buFont typeface="Arial" panose="020B0604020202020204" pitchFamily="34" charset="0"/>
              <a:buChar char="•"/>
            </a:pPr>
            <a:r>
              <a:rPr lang="en-US" sz="1100">
                <a:latin typeface="Arial" panose="020B0604020202020204" pitchFamily="34" charset="0"/>
                <a:cs typeface="Arial" panose="020B0604020202020204" pitchFamily="34" charset="0"/>
              </a:rPr>
              <a:t>Trader typically enters in bilateral contract with generator at one side and discom or bulk consumer on other side</a:t>
            </a:r>
          </a:p>
        </p:txBody>
      </p:sp>
      <p:sp>
        <p:nvSpPr>
          <p:cNvPr id="31" name="Rectangle: Rounded Corners 30">
            <a:extLst>
              <a:ext uri="{FF2B5EF4-FFF2-40B4-BE49-F238E27FC236}">
                <a16:creationId xmlns:a16="http://schemas.microsoft.com/office/drawing/2014/main" id="{C16269D1-E22D-7E8E-5D9B-64079501ABBF}"/>
              </a:ext>
            </a:extLst>
          </p:cNvPr>
          <p:cNvSpPr/>
          <p:nvPr/>
        </p:nvSpPr>
        <p:spPr bwMode="gray">
          <a:xfrm>
            <a:off x="549476" y="5598072"/>
            <a:ext cx="5512345" cy="452687"/>
          </a:xfrm>
          <a:prstGeom prst="roundRect">
            <a:avLst>
              <a:gd name="adj" fmla="val 50000"/>
            </a:avLst>
          </a:prstGeom>
          <a:noFill/>
          <a:ln w="19050" algn="ctr">
            <a:solidFill>
              <a:schemeClr val="bg2"/>
            </a:solidFill>
            <a:miter lim="800000"/>
            <a:headEnd/>
            <a:tailEnd/>
          </a:ln>
        </p:spPr>
        <p:txBody>
          <a:bodyPr wrap="square" lIns="88900" tIns="88900" rIns="88900" bIns="88900" rtlCol="0" anchor="ctr"/>
          <a:lstStyle/>
          <a:p>
            <a:pPr marL="171450" indent="-171450">
              <a:lnSpc>
                <a:spcPct val="106000"/>
              </a:lnSpc>
              <a:buFont typeface="Arial" panose="020B0604020202020204" pitchFamily="34" charset="0"/>
              <a:buChar char="•"/>
            </a:pPr>
            <a:r>
              <a:rPr lang="en-US" sz="1100">
                <a:latin typeface="Arial" panose="020B0604020202020204" pitchFamily="34" charset="0"/>
                <a:cs typeface="Arial" panose="020B0604020202020204" pitchFamily="34" charset="0"/>
              </a:rPr>
              <a:t>These are short-term contracts (&lt;1 year) for supply of power at fixed rate to consumer/ Discom looking to meet short term requirements</a:t>
            </a:r>
          </a:p>
        </p:txBody>
      </p:sp>
      <p:sp>
        <p:nvSpPr>
          <p:cNvPr id="32" name="Rectangle: Rounded Corners 31">
            <a:extLst>
              <a:ext uri="{FF2B5EF4-FFF2-40B4-BE49-F238E27FC236}">
                <a16:creationId xmlns:a16="http://schemas.microsoft.com/office/drawing/2014/main" id="{24A23336-F929-7302-6FB1-1A0D03BA544F}"/>
              </a:ext>
            </a:extLst>
          </p:cNvPr>
          <p:cNvSpPr/>
          <p:nvPr/>
        </p:nvSpPr>
        <p:spPr bwMode="gray">
          <a:xfrm>
            <a:off x="6645925" y="1541133"/>
            <a:ext cx="4860000" cy="720000"/>
          </a:xfrm>
          <a:prstGeom prst="roundRect">
            <a:avLst>
              <a:gd name="adj" fmla="val 16334"/>
            </a:avLst>
          </a:prstGeom>
          <a:noFill/>
          <a:ln w="19050" algn="ctr">
            <a:solidFill>
              <a:schemeClr val="bg2"/>
            </a:solidFill>
            <a:miter lim="800000"/>
            <a:headEnd/>
            <a:tailEnd/>
          </a:ln>
        </p:spPr>
        <p:txBody>
          <a:bodyPr wrap="square" lIns="88900" tIns="88900" rIns="88900" bIns="88900" rtlCol="0" anchor="ctr"/>
          <a:lstStyle/>
          <a:p>
            <a:pPr marL="171450" indent="-171450">
              <a:lnSpc>
                <a:spcPct val="106000"/>
              </a:lnSpc>
              <a:buFont typeface="Arial" panose="020B0604020202020204" pitchFamily="34" charset="0"/>
              <a:buChar char="•"/>
            </a:pPr>
            <a:r>
              <a:rPr lang="en-US" sz="1100">
                <a:latin typeface="Arial" panose="020B0604020202020204" pitchFamily="34" charset="0"/>
                <a:cs typeface="Arial" panose="020B0604020202020204" pitchFamily="34" charset="0"/>
              </a:rPr>
              <a:t>Total traded volume under bilateral contracts through traders grew from </a:t>
            </a:r>
            <a:r>
              <a:rPr lang="en-US" sz="1100" b="1">
                <a:solidFill>
                  <a:schemeClr val="accent5">
                    <a:lumMod val="75000"/>
                  </a:schemeClr>
                </a:solidFill>
                <a:latin typeface="Arial" panose="020B0604020202020204" pitchFamily="34" charset="0"/>
                <a:cs typeface="Arial" panose="020B0604020202020204" pitchFamily="34" charset="0"/>
              </a:rPr>
              <a:t>34 BU in FY23 to 70 Bn kWh in FY25</a:t>
            </a:r>
          </a:p>
        </p:txBody>
      </p:sp>
      <p:sp>
        <p:nvSpPr>
          <p:cNvPr id="33" name="Rectangle: Rounded Corners 32">
            <a:extLst>
              <a:ext uri="{FF2B5EF4-FFF2-40B4-BE49-F238E27FC236}">
                <a16:creationId xmlns:a16="http://schemas.microsoft.com/office/drawing/2014/main" id="{7323B820-58EE-5D33-4189-32CAB5CB5511}"/>
              </a:ext>
            </a:extLst>
          </p:cNvPr>
          <p:cNvSpPr/>
          <p:nvPr/>
        </p:nvSpPr>
        <p:spPr bwMode="gray">
          <a:xfrm>
            <a:off x="6645925" y="2500127"/>
            <a:ext cx="4860000" cy="720000"/>
          </a:xfrm>
          <a:prstGeom prst="roundRect">
            <a:avLst>
              <a:gd name="adj" fmla="val 16334"/>
            </a:avLst>
          </a:prstGeom>
          <a:noFill/>
          <a:ln w="19050" algn="ctr">
            <a:solidFill>
              <a:schemeClr val="bg2"/>
            </a:solidFill>
            <a:miter lim="800000"/>
            <a:headEnd/>
            <a:tailEnd/>
          </a:ln>
        </p:spPr>
        <p:txBody>
          <a:bodyPr wrap="square" lIns="88900" tIns="88900" rIns="88900" bIns="88900" rtlCol="0" anchor="ctr"/>
          <a:lstStyle/>
          <a:p>
            <a:pPr marL="171450" indent="-171450">
              <a:lnSpc>
                <a:spcPct val="106000"/>
              </a:lnSpc>
              <a:buFont typeface="Arial" panose="020B0604020202020204" pitchFamily="34" charset="0"/>
              <a:buChar char="•"/>
            </a:pPr>
            <a:r>
              <a:rPr lang="en-US" sz="1100">
                <a:latin typeface="Arial" panose="020B0604020202020204" pitchFamily="34" charset="0"/>
                <a:cs typeface="Arial" panose="020B0604020202020204" pitchFamily="34" charset="0"/>
              </a:rPr>
              <a:t>Market presence and coverage in the key industrial clusters and access to generators are key success factors in this segment</a:t>
            </a:r>
          </a:p>
        </p:txBody>
      </p:sp>
      <p:sp>
        <p:nvSpPr>
          <p:cNvPr id="34" name="Rectangle: Rounded Corners 33">
            <a:extLst>
              <a:ext uri="{FF2B5EF4-FFF2-40B4-BE49-F238E27FC236}">
                <a16:creationId xmlns:a16="http://schemas.microsoft.com/office/drawing/2014/main" id="{D0C266C4-C15B-4859-2120-6DDDF8B04ACB}"/>
              </a:ext>
            </a:extLst>
          </p:cNvPr>
          <p:cNvSpPr/>
          <p:nvPr/>
        </p:nvSpPr>
        <p:spPr bwMode="gray">
          <a:xfrm>
            <a:off x="6645925" y="3459121"/>
            <a:ext cx="4860000" cy="720000"/>
          </a:xfrm>
          <a:prstGeom prst="roundRect">
            <a:avLst>
              <a:gd name="adj" fmla="val 16334"/>
            </a:avLst>
          </a:prstGeom>
          <a:noFill/>
          <a:ln w="19050" algn="ctr">
            <a:solidFill>
              <a:schemeClr val="bg2"/>
            </a:solidFill>
            <a:miter lim="800000"/>
            <a:headEnd/>
            <a:tailEnd/>
          </a:ln>
        </p:spPr>
        <p:txBody>
          <a:bodyPr wrap="square" lIns="88900" tIns="88900" rIns="88900" bIns="88900" rtlCol="0" anchor="ctr"/>
          <a:lstStyle/>
          <a:p>
            <a:pPr marL="171450" indent="-171450">
              <a:lnSpc>
                <a:spcPct val="106000"/>
              </a:lnSpc>
              <a:buFont typeface="Arial" panose="020B0604020202020204" pitchFamily="34" charset="0"/>
              <a:buChar char="•"/>
            </a:pPr>
            <a:r>
              <a:rPr lang="en-US" sz="1100">
                <a:latin typeface="Arial" panose="020B0604020202020204" pitchFamily="34" charset="0"/>
                <a:cs typeface="Arial" panose="020B0604020202020204" pitchFamily="34" charset="0"/>
              </a:rPr>
              <a:t>The top </a:t>
            </a:r>
            <a:r>
              <a:rPr lang="en-US" sz="1100" b="1">
                <a:solidFill>
                  <a:schemeClr val="accent5">
                    <a:lumMod val="75000"/>
                  </a:schemeClr>
                </a:solidFill>
                <a:latin typeface="Arial" panose="020B0604020202020204" pitchFamily="34" charset="0"/>
                <a:cs typeface="Arial" panose="020B0604020202020204" pitchFamily="34" charset="0"/>
              </a:rPr>
              <a:t>3 (PTC, NVVN, Tata Power Trading Company Ltd.)</a:t>
            </a:r>
            <a:r>
              <a:rPr lang="en-US" sz="1100">
                <a:latin typeface="Arial" panose="020B0604020202020204" pitchFamily="34" charset="0"/>
                <a:cs typeface="Arial" panose="020B0604020202020204" pitchFamily="34" charset="0"/>
              </a:rPr>
              <a:t> account for </a:t>
            </a:r>
            <a:r>
              <a:rPr lang="en-US" sz="1100" b="1">
                <a:solidFill>
                  <a:schemeClr val="accent5">
                    <a:lumMod val="75000"/>
                  </a:schemeClr>
                </a:solidFill>
                <a:latin typeface="Arial" panose="020B0604020202020204" pitchFamily="34" charset="0"/>
                <a:cs typeface="Arial" panose="020B0604020202020204" pitchFamily="34" charset="0"/>
              </a:rPr>
              <a:t>50% of total bilateral volumes</a:t>
            </a:r>
            <a:endParaRPr lang="en-US" sz="1100">
              <a:latin typeface="Arial" panose="020B0604020202020204" pitchFamily="34" charset="0"/>
              <a:cs typeface="Arial" panose="020B0604020202020204" pitchFamily="34" charset="0"/>
            </a:endParaRPr>
          </a:p>
          <a:p>
            <a:pPr marL="171450" indent="-171450">
              <a:lnSpc>
                <a:spcPct val="106000"/>
              </a:lnSpc>
              <a:buFont typeface="Arial" panose="020B0604020202020204" pitchFamily="34" charset="0"/>
              <a:buChar char="•"/>
            </a:pPr>
            <a:r>
              <a:rPr lang="en-US" sz="1100">
                <a:latin typeface="Arial" panose="020B0604020202020204" pitchFamily="34" charset="0"/>
                <a:cs typeface="Arial" panose="020B0604020202020204" pitchFamily="34" charset="0"/>
              </a:rPr>
              <a:t>Other major players include Adani Enterprises, </a:t>
            </a:r>
            <a:r>
              <a:rPr lang="en-US" sz="1100" err="1">
                <a:latin typeface="Arial" panose="020B0604020202020204" pitchFamily="34" charset="0"/>
                <a:cs typeface="Arial" panose="020B0604020202020204" pitchFamily="34" charset="0"/>
              </a:rPr>
              <a:t>Manikaran</a:t>
            </a:r>
            <a:r>
              <a:rPr lang="en-US" sz="1100">
                <a:latin typeface="Arial" panose="020B0604020202020204" pitchFamily="34" charset="0"/>
                <a:cs typeface="Arial" panose="020B0604020202020204" pitchFamily="34" charset="0"/>
              </a:rPr>
              <a:t> Power, GMR Energy Trading and </a:t>
            </a:r>
            <a:r>
              <a:rPr lang="en-US" sz="1100" err="1">
                <a:latin typeface="Arial" panose="020B0604020202020204" pitchFamily="34" charset="0"/>
                <a:cs typeface="Arial" panose="020B0604020202020204" pitchFamily="34" charset="0"/>
              </a:rPr>
              <a:t>Kreate</a:t>
            </a:r>
            <a:r>
              <a:rPr lang="en-US" sz="1100">
                <a:latin typeface="Arial" panose="020B0604020202020204" pitchFamily="34" charset="0"/>
                <a:cs typeface="Arial" panose="020B0604020202020204" pitchFamily="34" charset="0"/>
              </a:rPr>
              <a:t> </a:t>
            </a:r>
          </a:p>
        </p:txBody>
      </p:sp>
      <p:sp>
        <p:nvSpPr>
          <p:cNvPr id="35" name="Rectangle: Rounded Corners 34">
            <a:extLst>
              <a:ext uri="{FF2B5EF4-FFF2-40B4-BE49-F238E27FC236}">
                <a16:creationId xmlns:a16="http://schemas.microsoft.com/office/drawing/2014/main" id="{B6A352B9-FFD4-F5EC-9600-0B848DB636BC}"/>
              </a:ext>
            </a:extLst>
          </p:cNvPr>
          <p:cNvSpPr/>
          <p:nvPr/>
        </p:nvSpPr>
        <p:spPr bwMode="gray">
          <a:xfrm>
            <a:off x="6645925" y="4418115"/>
            <a:ext cx="4860000" cy="720000"/>
          </a:xfrm>
          <a:prstGeom prst="roundRect">
            <a:avLst>
              <a:gd name="adj" fmla="val 16334"/>
            </a:avLst>
          </a:prstGeom>
          <a:noFill/>
          <a:ln w="19050" algn="ctr">
            <a:solidFill>
              <a:schemeClr val="bg2"/>
            </a:solidFill>
            <a:miter lim="800000"/>
            <a:headEnd/>
            <a:tailEnd/>
          </a:ln>
        </p:spPr>
        <p:txBody>
          <a:bodyPr wrap="square" lIns="88900" tIns="88900" rIns="88900" bIns="88900" rtlCol="0" anchor="ctr"/>
          <a:lstStyle/>
          <a:p>
            <a:pPr marL="171450" indent="-171450">
              <a:lnSpc>
                <a:spcPct val="106000"/>
              </a:lnSpc>
              <a:buFont typeface="Arial" panose="020B0604020202020204" pitchFamily="34" charset="0"/>
              <a:buChar char="•"/>
            </a:pPr>
            <a:r>
              <a:rPr lang="en-US" sz="1100">
                <a:latin typeface="Arial" panose="020B0604020202020204" pitchFamily="34" charset="0"/>
                <a:cs typeface="Arial" panose="020B0604020202020204" pitchFamily="34" charset="0"/>
              </a:rPr>
              <a:t>As per discussions with industry experts, </a:t>
            </a:r>
            <a:r>
              <a:rPr lang="en-US" sz="1100" b="1">
                <a:solidFill>
                  <a:schemeClr val="accent5">
                    <a:lumMod val="75000"/>
                  </a:schemeClr>
                </a:solidFill>
                <a:latin typeface="Arial" panose="020B0604020202020204" pitchFamily="34" charset="0"/>
                <a:cs typeface="Arial" panose="020B0604020202020204" pitchFamily="34" charset="0"/>
              </a:rPr>
              <a:t>80-90% i.e. ~50 Bn kWh </a:t>
            </a:r>
            <a:r>
              <a:rPr lang="en-US" sz="1100">
                <a:latin typeface="Arial" panose="020B0604020202020204" pitchFamily="34" charset="0"/>
                <a:cs typeface="Arial" panose="020B0604020202020204" pitchFamily="34" charset="0"/>
              </a:rPr>
              <a:t>of the transactions on the DEEP portal are also facilitated by electricity traders</a:t>
            </a:r>
          </a:p>
        </p:txBody>
      </p:sp>
      <p:sp>
        <p:nvSpPr>
          <p:cNvPr id="36" name="Rectangle: Rounded Corners 35">
            <a:extLst>
              <a:ext uri="{FF2B5EF4-FFF2-40B4-BE49-F238E27FC236}">
                <a16:creationId xmlns:a16="http://schemas.microsoft.com/office/drawing/2014/main" id="{8D9C5159-5E6D-3C40-1987-B417432CE8E0}"/>
              </a:ext>
            </a:extLst>
          </p:cNvPr>
          <p:cNvSpPr/>
          <p:nvPr/>
        </p:nvSpPr>
        <p:spPr bwMode="gray">
          <a:xfrm>
            <a:off x="6645925" y="5377111"/>
            <a:ext cx="4860000" cy="720000"/>
          </a:xfrm>
          <a:prstGeom prst="roundRect">
            <a:avLst>
              <a:gd name="adj" fmla="val 16334"/>
            </a:avLst>
          </a:prstGeom>
          <a:noFill/>
          <a:ln w="19050" algn="ctr">
            <a:solidFill>
              <a:schemeClr val="bg2"/>
            </a:solidFill>
            <a:miter lim="800000"/>
            <a:headEnd/>
            <a:tailEnd/>
          </a:ln>
        </p:spPr>
        <p:txBody>
          <a:bodyPr wrap="square" lIns="88900" tIns="88900" rIns="88900" bIns="88900" rtlCol="0" anchor="ctr"/>
          <a:lstStyle/>
          <a:p>
            <a:pPr marL="171450" indent="-171450">
              <a:lnSpc>
                <a:spcPct val="106000"/>
              </a:lnSpc>
              <a:buFont typeface="Arial" panose="020B0604020202020204" pitchFamily="34" charset="0"/>
              <a:buChar char="•"/>
            </a:pPr>
            <a:r>
              <a:rPr lang="en-US" sz="1100">
                <a:latin typeface="Arial" panose="020B0604020202020204" pitchFamily="34" charset="0"/>
                <a:cs typeface="Arial" panose="020B0604020202020204" pitchFamily="34" charset="0"/>
              </a:rPr>
              <a:t>Traders also offer other </a:t>
            </a:r>
            <a:r>
              <a:rPr lang="en-US" sz="1100" b="1">
                <a:solidFill>
                  <a:schemeClr val="accent5">
                    <a:lumMod val="75000"/>
                  </a:schemeClr>
                </a:solidFill>
                <a:latin typeface="Arial" panose="020B0604020202020204" pitchFamily="34" charset="0"/>
                <a:cs typeface="Arial" panose="020B0604020202020204" pitchFamily="34" charset="0"/>
              </a:rPr>
              <a:t>value-added services</a:t>
            </a:r>
            <a:r>
              <a:rPr lang="en-US" sz="1100">
                <a:latin typeface="Arial" panose="020B0604020202020204" pitchFamily="34" charset="0"/>
                <a:cs typeface="Arial" panose="020B0604020202020204" pitchFamily="34" charset="0"/>
              </a:rPr>
              <a:t> such as </a:t>
            </a:r>
            <a:r>
              <a:rPr lang="en-US" sz="1100" b="1">
                <a:solidFill>
                  <a:schemeClr val="accent5">
                    <a:lumMod val="75000"/>
                  </a:schemeClr>
                </a:solidFill>
                <a:latin typeface="Arial" panose="020B0604020202020204" pitchFamily="34" charset="0"/>
                <a:cs typeface="Arial" panose="020B0604020202020204" pitchFamily="34" charset="0"/>
              </a:rPr>
              <a:t>energy management</a:t>
            </a:r>
            <a:r>
              <a:rPr lang="en-US" sz="1100">
                <a:latin typeface="Arial" panose="020B0604020202020204" pitchFamily="34" charset="0"/>
                <a:cs typeface="Arial" panose="020B0604020202020204" pitchFamily="34" charset="0"/>
              </a:rPr>
              <a:t>, power procurement cost optimization, and </a:t>
            </a:r>
            <a:r>
              <a:rPr lang="en-US" sz="1100" b="1">
                <a:solidFill>
                  <a:schemeClr val="accent5">
                    <a:lumMod val="75000"/>
                  </a:schemeClr>
                </a:solidFill>
                <a:latin typeface="Arial" panose="020B0604020202020204" pitchFamily="34" charset="0"/>
                <a:cs typeface="Arial" panose="020B0604020202020204" pitchFamily="34" charset="0"/>
              </a:rPr>
              <a:t>decarbonization solutions</a:t>
            </a:r>
            <a:r>
              <a:rPr lang="en-US" sz="1100">
                <a:latin typeface="Arial" panose="020B0604020202020204" pitchFamily="34" charset="0"/>
                <a:cs typeface="Arial" panose="020B0604020202020204" pitchFamily="34" charset="0"/>
              </a:rPr>
              <a:t> to acquire consumers</a:t>
            </a:r>
            <a:endParaRPr lang="en-US" sz="1100" b="1">
              <a:solidFill>
                <a:schemeClr val="accent5">
                  <a:lumMod val="7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1086640"/>
      </p:ext>
    </p:extLst>
  </p:cSld>
  <p:clrMapOvr>
    <a:masterClrMapping/>
  </p:clrMapOvr>
  <p:transition>
    <p:fade/>
  </p:transition>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766587021"/>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3147576218"/>
              </p:ext>
            </p:extLst>
          </p:nvPr>
        </p:nvGraphicFramePr>
        <p:xfrm>
          <a:off x="1673719" y="2761586"/>
          <a:ext cx="9206802" cy="1334828"/>
        </p:xfrm>
        <a:graphic>
          <a:graphicData uri="http://schemas.openxmlformats.org/drawingml/2006/table">
            <a:tbl>
              <a:tblPr firstRow="1" bandRow="1">
                <a:tableStyleId>{5C22544A-7EE6-4342-B048-85BDC9FD1C3A}</a:tableStyleId>
              </a:tblPr>
              <a:tblGrid>
                <a:gridCol w="2923681">
                  <a:extLst>
                    <a:ext uri="{9D8B030D-6E8A-4147-A177-3AD203B41FA5}">
                      <a16:colId xmlns:a16="http://schemas.microsoft.com/office/drawing/2014/main" val="2744717436"/>
                    </a:ext>
                  </a:extLst>
                </a:gridCol>
                <a:gridCol w="6283121">
                  <a:extLst>
                    <a:ext uri="{9D8B030D-6E8A-4147-A177-3AD203B41FA5}">
                      <a16:colId xmlns:a16="http://schemas.microsoft.com/office/drawing/2014/main" val="570884867"/>
                    </a:ext>
                  </a:extLst>
                </a:gridCol>
              </a:tblGrid>
              <a:tr h="1334828">
                <a:tc>
                  <a:txBody>
                    <a:bodyPr/>
                    <a:lstStyle/>
                    <a:p>
                      <a:r>
                        <a:rPr lang="en-US" sz="3600">
                          <a:latin typeface="Arial" panose="020B0604020202020204" pitchFamily="34" charset="0"/>
                          <a:cs typeface="Arial" panose="020B0604020202020204" pitchFamily="34" charset="0"/>
                        </a:rPr>
                        <a:t>4.2</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r>
                        <a:rPr lang="en-US" sz="2400" b="1" kern="0">
                          <a:solidFill>
                            <a:schemeClr val="lt1"/>
                          </a:solidFill>
                          <a:latin typeface="Arial" panose="020B0604020202020204" pitchFamily="34" charset="0"/>
                          <a:ea typeface="+mn-ea"/>
                          <a:cs typeface="Arial" panose="020B0604020202020204" pitchFamily="34" charset="0"/>
                        </a:rPr>
                        <a:t>FRAMEWORK FOR DISCOVERY OF THE MARKET CLEARING PRICE IN THE POWER EXCHANGES </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2403883349"/>
      </p:ext>
    </p:extLst>
  </p:cSld>
  <p:clrMapOvr>
    <a:masterClrMapping/>
  </p:clrMapOvr>
  <p:transition>
    <p:fade/>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291831738"/>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5" imgW="415" imgH="416" progId="TCLayout.ActiveDocument.1">
                  <p:embed/>
                </p:oleObj>
              </mc:Choice>
              <mc:Fallback>
                <p:oleObj name="think-cell Slide" r:id="rId5"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6"/>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Market clearing price discovery | Double sided closed bid uniform price auction</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r>
              <a:rPr lang="en-US" sz="1400"/>
              <a:t>Day ahead market and real time market use double sided closed bid uniform price auction method for market price discovery</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68" name="TextBox 67">
            <a:extLst>
              <a:ext uri="{FF2B5EF4-FFF2-40B4-BE49-F238E27FC236}">
                <a16:creationId xmlns:a16="http://schemas.microsoft.com/office/drawing/2014/main" id="{A72A3D2E-9F13-A663-9685-5D0C8E4AE8B6}"/>
              </a:ext>
            </a:extLst>
          </p:cNvPr>
          <p:cNvSpPr txBox="1"/>
          <p:nvPr/>
        </p:nvSpPr>
        <p:spPr>
          <a:xfrm>
            <a:off x="514884" y="1072024"/>
            <a:ext cx="9070975" cy="276999"/>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Double-sided closed bid uniform price auction methodology</a:t>
            </a:r>
          </a:p>
        </p:txBody>
      </p:sp>
      <p:cxnSp>
        <p:nvCxnSpPr>
          <p:cNvPr id="69" name="Straight Arrow Connector 68">
            <a:extLst>
              <a:ext uri="{FF2B5EF4-FFF2-40B4-BE49-F238E27FC236}">
                <a16:creationId xmlns:a16="http://schemas.microsoft.com/office/drawing/2014/main" id="{51C255B0-8E44-BE44-92B6-B2C60D2705D6}"/>
              </a:ext>
            </a:extLst>
          </p:cNvPr>
          <p:cNvCxnSpPr>
            <a:cxnSpLocks/>
          </p:cNvCxnSpPr>
          <p:nvPr/>
        </p:nvCxnSpPr>
        <p:spPr bwMode="gray">
          <a:xfrm>
            <a:off x="3364322" y="1863725"/>
            <a:ext cx="1256984"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70" name="Rectangle 69">
            <a:extLst>
              <a:ext uri="{FF2B5EF4-FFF2-40B4-BE49-F238E27FC236}">
                <a16:creationId xmlns:a16="http://schemas.microsoft.com/office/drawing/2014/main" id="{0897359B-D471-36D3-0FF2-6994A56F4B99}"/>
              </a:ext>
            </a:extLst>
          </p:cNvPr>
          <p:cNvSpPr/>
          <p:nvPr/>
        </p:nvSpPr>
        <p:spPr bwMode="gray">
          <a:xfrm>
            <a:off x="495299" y="6003352"/>
            <a:ext cx="11209087" cy="461963"/>
          </a:xfrm>
          <a:prstGeom prst="rect">
            <a:avLst/>
          </a:prstGeom>
          <a:solidFill>
            <a:schemeClr val="bg1">
              <a:lumMod val="95000"/>
            </a:schemeClr>
          </a:solidFill>
          <a:ln w="12700" algn="ctr">
            <a:noFill/>
            <a:miter lim="800000"/>
            <a:headEnd/>
            <a:tailEnd/>
          </a:ln>
        </p:spPr>
        <p:txBody>
          <a:bodyPr rot="0" spcFirstLastPara="0" vertOverflow="overflow" horzOverflow="overflow" vert="horz" wrap="square" lIns="91440" tIns="0" rIns="0" bIns="0" numCol="1" spcCol="0" rtlCol="0" fromWordArt="0" anchor="ctr" anchorCtr="0" forceAA="0" compatLnSpc="1">
            <a:prstTxWarp prst="textNoShape">
              <a:avLst/>
            </a:prstTxWarp>
            <a:noAutofit/>
          </a:bodyPr>
          <a:lstStyle/>
          <a:p>
            <a:pPr marL="171450" marR="0" indent="-171450" defTabSz="990564" rtl="0" eaLnBrk="1" fontAlgn="auto" latinLnBrk="0" hangingPunct="1">
              <a:lnSpc>
                <a:spcPct val="100000"/>
              </a:lnSpc>
              <a:spcBef>
                <a:spcPts val="0"/>
              </a:spcBef>
              <a:spcAft>
                <a:spcPts val="0"/>
              </a:spcAft>
              <a:buClrTx/>
              <a:buSzPct val="100000"/>
              <a:buFont typeface="Arial" panose="020B0604020202020204" pitchFamily="34" charset="0"/>
              <a:buChar char="•"/>
              <a:tabLst/>
            </a:pPr>
            <a:r>
              <a:rPr kumimoji="1" lang="en-US" sz="1000">
                <a:solidFill>
                  <a:prstClr val="black"/>
                </a:solidFill>
                <a:latin typeface="Arial" panose="020B0604020202020204" pitchFamily="34" charset="0"/>
                <a:cs typeface="Arial" panose="020B0604020202020204" pitchFamily="34" charset="0"/>
              </a:rPr>
              <a:t>In case of non intersecting aggregate buy and sell curves, </a:t>
            </a:r>
            <a:r>
              <a:rPr kumimoji="1" lang="en-US" sz="1000" b="1">
                <a:solidFill>
                  <a:prstClr val="black"/>
                </a:solidFill>
                <a:latin typeface="Arial" panose="020B0604020202020204" pitchFamily="34" charset="0"/>
                <a:cs typeface="Arial" panose="020B0604020202020204" pitchFamily="34" charset="0"/>
              </a:rPr>
              <a:t>curves are shifted suitably so that curves can intersect i.e., In case of over supply, sell offers are reduced whereas in case of over demand, purchase bids are reduced to intersect at the minimum and maximum price respectively</a:t>
            </a:r>
          </a:p>
        </p:txBody>
      </p:sp>
      <p:grpSp>
        <p:nvGrpSpPr>
          <p:cNvPr id="121" name="Group 120">
            <a:extLst>
              <a:ext uri="{FF2B5EF4-FFF2-40B4-BE49-F238E27FC236}">
                <a16:creationId xmlns:a16="http://schemas.microsoft.com/office/drawing/2014/main" id="{A248AECA-19F3-9C1C-BBAF-EE1CBA128676}"/>
              </a:ext>
            </a:extLst>
          </p:cNvPr>
          <p:cNvGrpSpPr/>
          <p:nvPr/>
        </p:nvGrpSpPr>
        <p:grpSpPr>
          <a:xfrm>
            <a:off x="498894" y="1589088"/>
            <a:ext cx="2770188" cy="2116138"/>
            <a:chOff x="507772" y="1703389"/>
            <a:chExt cx="2770188" cy="2116137"/>
          </a:xfrm>
        </p:grpSpPr>
        <p:sp>
          <p:nvSpPr>
            <p:cNvPr id="71" name="Round Single Corner Rectangle 100">
              <a:extLst>
                <a:ext uri="{FF2B5EF4-FFF2-40B4-BE49-F238E27FC236}">
                  <a16:creationId xmlns:a16="http://schemas.microsoft.com/office/drawing/2014/main" id="{0E525BE4-9721-CB0A-5003-D82798120F9B}"/>
                </a:ext>
              </a:extLst>
            </p:cNvPr>
            <p:cNvSpPr/>
            <p:nvPr/>
          </p:nvSpPr>
          <p:spPr>
            <a:xfrm>
              <a:off x="507772" y="2349501"/>
              <a:ext cx="2770188" cy="1470025"/>
            </a:xfrm>
            <a:prstGeom prst="round1Rect">
              <a:avLst>
                <a:gd name="adj" fmla="val 11091"/>
              </a:avLst>
            </a:prstGeom>
            <a:noFill/>
            <a:ln w="6350" cap="flat" cmpd="sng" algn="ctr">
              <a:solidFill>
                <a:srgbClr val="0D8390"/>
              </a:solidFill>
              <a:prstDash val="solid"/>
            </a:ln>
            <a:effectLst/>
          </p:spPr>
          <p:txBody>
            <a:bodyPr lIns="72000" tIns="36000" rIns="36000" bIns="36000" rtlCol="0" anchor="ctr"/>
            <a:lstStyle/>
            <a:p>
              <a:pPr marL="139303" indent="-139303" defTabSz="784184">
                <a:spcBef>
                  <a:spcPts val="600"/>
                </a:spcBef>
                <a:buFont typeface="Arial" panose="020B0604020202020204" pitchFamily="34" charset="0"/>
                <a:buChar char="•"/>
              </a:pPr>
              <a:r>
                <a:rPr lang="en-US" sz="1000" kern="0">
                  <a:solidFill>
                    <a:prstClr val="black"/>
                  </a:solidFill>
                  <a:latin typeface="Arial" panose="020B0604020202020204" pitchFamily="34" charset="0"/>
                  <a:cs typeface="Arial" panose="020B0604020202020204" pitchFamily="34" charset="0"/>
                </a:rPr>
                <a:t>Multiple buy and sell bids received for specific time block and bid area</a:t>
              </a:r>
            </a:p>
            <a:p>
              <a:pPr marL="139303" indent="-139303" defTabSz="784184">
                <a:spcBef>
                  <a:spcPts val="600"/>
                </a:spcBef>
                <a:buFont typeface="Arial" panose="020B0604020202020204" pitchFamily="34" charset="0"/>
                <a:buChar char="•"/>
              </a:pPr>
              <a:r>
                <a:rPr lang="en-US" sz="1000" kern="0">
                  <a:solidFill>
                    <a:prstClr val="black"/>
                  </a:solidFill>
                  <a:latin typeface="Arial" panose="020B0604020202020204" pitchFamily="34" charset="0"/>
                  <a:cs typeface="Arial" panose="020B0604020202020204" pitchFamily="34" charset="0"/>
                </a:rPr>
                <a:t>Each buy bid needs to have non increasing quantity while each sell bid needs to have nondecreasing quantity</a:t>
              </a:r>
            </a:p>
            <a:p>
              <a:pPr marL="139303" indent="-139303" defTabSz="784184">
                <a:spcBef>
                  <a:spcPts val="600"/>
                </a:spcBef>
                <a:buFont typeface="Arial" panose="020B0604020202020204" pitchFamily="34" charset="0"/>
                <a:buChar char="•"/>
              </a:pPr>
              <a:r>
                <a:rPr lang="en-US" sz="1000" kern="0">
                  <a:solidFill>
                    <a:prstClr val="black"/>
                  </a:solidFill>
                  <a:latin typeface="Arial" panose="020B0604020202020204" pitchFamily="34" charset="0"/>
                  <a:cs typeface="Arial" panose="020B0604020202020204" pitchFamily="34" charset="0"/>
                </a:rPr>
                <a:t>Every bid is assumed to vary linearly between consecutive prices</a:t>
              </a:r>
            </a:p>
          </p:txBody>
        </p:sp>
        <p:grpSp>
          <p:nvGrpSpPr>
            <p:cNvPr id="115" name="Group 114">
              <a:extLst>
                <a:ext uri="{FF2B5EF4-FFF2-40B4-BE49-F238E27FC236}">
                  <a16:creationId xmlns:a16="http://schemas.microsoft.com/office/drawing/2014/main" id="{0E2FF6B9-53E1-11E8-4E7F-B94F975A6695}"/>
                </a:ext>
              </a:extLst>
            </p:cNvPr>
            <p:cNvGrpSpPr/>
            <p:nvPr/>
          </p:nvGrpSpPr>
          <p:grpSpPr>
            <a:xfrm>
              <a:off x="735414" y="1703389"/>
              <a:ext cx="2422905" cy="549275"/>
              <a:chOff x="768121" y="1703389"/>
              <a:chExt cx="2422905" cy="549275"/>
            </a:xfrm>
          </p:grpSpPr>
          <p:sp>
            <p:nvSpPr>
              <p:cNvPr id="73" name="Rectangle 72">
                <a:extLst>
                  <a:ext uri="{FF2B5EF4-FFF2-40B4-BE49-F238E27FC236}">
                    <a16:creationId xmlns:a16="http://schemas.microsoft.com/office/drawing/2014/main" id="{33F8058A-9EC3-E8CE-5D83-24CA18A14E27}"/>
                  </a:ext>
                </a:extLst>
              </p:cNvPr>
              <p:cNvSpPr/>
              <p:nvPr/>
            </p:nvSpPr>
            <p:spPr bwMode="gray">
              <a:xfrm>
                <a:off x="1463026" y="1794934"/>
                <a:ext cx="1728000" cy="457200"/>
              </a:xfrm>
              <a:prstGeom prst="rect">
                <a:avLst/>
              </a:prstGeom>
              <a:solidFill>
                <a:schemeClr val="accent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2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Buy/ sell bids placed</a:t>
                </a:r>
              </a:p>
            </p:txBody>
          </p:sp>
          <p:pic>
            <p:nvPicPr>
              <p:cNvPr id="74" name="Picture 73" descr="A hand holding a sign with a dollar sign&#10;&#10;AI-generated content may be incorrect.">
                <a:extLst>
                  <a:ext uri="{FF2B5EF4-FFF2-40B4-BE49-F238E27FC236}">
                    <a16:creationId xmlns:a16="http://schemas.microsoft.com/office/drawing/2014/main" id="{28400F5E-077A-539F-2F59-3CDA55C2BF5F}"/>
                  </a:ext>
                </a:extLst>
              </p:cNvPr>
              <p:cNvPicPr>
                <a:picLocks noChangeAspect="1"/>
              </p:cNvPicPr>
              <p:nvPr/>
            </p:nvPicPr>
            <p:blipFill>
              <a:blip r:embed="rId7"/>
              <a:stretch>
                <a:fillRect/>
              </a:stretch>
            </p:blipFill>
            <p:spPr>
              <a:xfrm>
                <a:off x="768121" y="1703389"/>
                <a:ext cx="548676" cy="549275"/>
              </a:xfrm>
              <a:prstGeom prst="rect">
                <a:avLst/>
              </a:prstGeom>
            </p:spPr>
          </p:pic>
        </p:grpSp>
      </p:grpSp>
      <p:grpSp>
        <p:nvGrpSpPr>
          <p:cNvPr id="120" name="Group 119">
            <a:extLst>
              <a:ext uri="{FF2B5EF4-FFF2-40B4-BE49-F238E27FC236}">
                <a16:creationId xmlns:a16="http://schemas.microsoft.com/office/drawing/2014/main" id="{918522FA-06DF-5C5D-5E36-AB3687FEAB83}"/>
              </a:ext>
            </a:extLst>
          </p:cNvPr>
          <p:cNvGrpSpPr/>
          <p:nvPr/>
        </p:nvGrpSpPr>
        <p:grpSpPr>
          <a:xfrm>
            <a:off x="4716546" y="1589088"/>
            <a:ext cx="2770188" cy="2117725"/>
            <a:chOff x="4712108" y="1703389"/>
            <a:chExt cx="2770188" cy="2117725"/>
          </a:xfrm>
        </p:grpSpPr>
        <p:sp>
          <p:nvSpPr>
            <p:cNvPr id="75" name="Round Single Corner Rectangle 103">
              <a:extLst>
                <a:ext uri="{FF2B5EF4-FFF2-40B4-BE49-F238E27FC236}">
                  <a16:creationId xmlns:a16="http://schemas.microsoft.com/office/drawing/2014/main" id="{BDC74730-D45C-EF4C-80BB-99E361AAB300}"/>
                </a:ext>
              </a:extLst>
            </p:cNvPr>
            <p:cNvSpPr/>
            <p:nvPr/>
          </p:nvSpPr>
          <p:spPr>
            <a:xfrm>
              <a:off x="4712108" y="2347914"/>
              <a:ext cx="2770188" cy="1473200"/>
            </a:xfrm>
            <a:prstGeom prst="round1Rect">
              <a:avLst>
                <a:gd name="adj" fmla="val 11091"/>
              </a:avLst>
            </a:prstGeom>
            <a:noFill/>
            <a:ln w="6350" cap="flat" cmpd="sng" algn="ctr">
              <a:solidFill>
                <a:srgbClr val="0D8390"/>
              </a:solidFill>
              <a:prstDash val="solid"/>
            </a:ln>
            <a:effectLst/>
          </p:spPr>
          <p:txBody>
            <a:bodyPr lIns="72000" tIns="36000" rIns="36000" bIns="36000" rtlCol="0" anchor="ctr"/>
            <a:lstStyle/>
            <a:p>
              <a:pPr marL="139303" indent="-139303" defTabSz="784184">
                <a:spcBef>
                  <a:spcPts val="600"/>
                </a:spcBef>
                <a:buFont typeface="Arial" panose="020B0604020202020204" pitchFamily="34" charset="0"/>
                <a:buChar char="•"/>
              </a:pPr>
              <a:r>
                <a:rPr lang="en-US" sz="1000" kern="0">
                  <a:solidFill>
                    <a:prstClr val="black"/>
                  </a:solidFill>
                  <a:latin typeface="Arial" panose="020B0604020202020204" pitchFamily="34" charset="0"/>
                  <a:cs typeface="Arial" panose="020B0604020202020204" pitchFamily="34" charset="0"/>
                </a:rPr>
                <a:t>All buy and sell bids for a specific time block and bid area are aggregated together</a:t>
              </a:r>
            </a:p>
            <a:p>
              <a:pPr marL="139303" indent="-139303" defTabSz="784184">
                <a:spcBef>
                  <a:spcPts val="600"/>
                </a:spcBef>
                <a:buFont typeface="Arial" panose="020B0604020202020204" pitchFamily="34" charset="0"/>
                <a:buChar char="•"/>
              </a:pPr>
              <a:r>
                <a:rPr lang="en-US" sz="1000" kern="0">
                  <a:solidFill>
                    <a:prstClr val="black"/>
                  </a:solidFill>
                  <a:latin typeface="Arial" panose="020B0604020202020204" pitchFamily="34" charset="0"/>
                  <a:cs typeface="Arial" panose="020B0604020202020204" pitchFamily="34" charset="0"/>
                </a:rPr>
                <a:t>In a bid where quantity at a specific price is not quoted, it is calculated through straight line equation </a:t>
              </a:r>
            </a:p>
          </p:txBody>
        </p:sp>
        <p:grpSp>
          <p:nvGrpSpPr>
            <p:cNvPr id="118" name="Group 117">
              <a:extLst>
                <a:ext uri="{FF2B5EF4-FFF2-40B4-BE49-F238E27FC236}">
                  <a16:creationId xmlns:a16="http://schemas.microsoft.com/office/drawing/2014/main" id="{47F1F14D-67B7-B326-7126-FD9EABF251C7}"/>
                </a:ext>
              </a:extLst>
            </p:cNvPr>
            <p:cNvGrpSpPr/>
            <p:nvPr/>
          </p:nvGrpSpPr>
          <p:grpSpPr>
            <a:xfrm>
              <a:off x="4936194" y="1703389"/>
              <a:ext cx="2430017" cy="549275"/>
              <a:chOff x="4966107" y="1703389"/>
              <a:chExt cx="2430017" cy="549275"/>
            </a:xfrm>
          </p:grpSpPr>
          <p:sp>
            <p:nvSpPr>
              <p:cNvPr id="77" name="Rectangle 76">
                <a:extLst>
                  <a:ext uri="{FF2B5EF4-FFF2-40B4-BE49-F238E27FC236}">
                    <a16:creationId xmlns:a16="http://schemas.microsoft.com/office/drawing/2014/main" id="{1D94DD9E-C084-0473-0F40-E9A01E3281CE}"/>
                  </a:ext>
                </a:extLst>
              </p:cNvPr>
              <p:cNvSpPr/>
              <p:nvPr/>
            </p:nvSpPr>
            <p:spPr bwMode="gray">
              <a:xfrm>
                <a:off x="5668124" y="1794934"/>
                <a:ext cx="1728000" cy="457200"/>
              </a:xfrm>
              <a:prstGeom prst="rect">
                <a:avLst/>
              </a:prstGeom>
              <a:solidFill>
                <a:schemeClr val="accent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90564">
                  <a:buSzPct val="100000"/>
                </a:pPr>
                <a:r>
                  <a:rPr kumimoji="1" lang="en-US" sz="1200" b="1">
                    <a:solidFill>
                      <a:schemeClr val="bg1"/>
                    </a:solidFill>
                    <a:latin typeface="Arial" panose="020B0604020202020204" pitchFamily="34" charset="0"/>
                    <a:cs typeface="Arial" panose="020B0604020202020204" pitchFamily="34" charset="0"/>
                  </a:rPr>
                  <a:t>Bids aggregated</a:t>
                </a:r>
              </a:p>
            </p:txBody>
          </p:sp>
          <p:pic>
            <p:nvPicPr>
              <p:cNvPr id="78" name="Picture 77" descr="A computer screen shot of a computer&#10;&#10;AI-generated content may be incorrect.">
                <a:extLst>
                  <a:ext uri="{FF2B5EF4-FFF2-40B4-BE49-F238E27FC236}">
                    <a16:creationId xmlns:a16="http://schemas.microsoft.com/office/drawing/2014/main" id="{13FCCE5B-5235-309F-DE8F-281FC69D61EE}"/>
                  </a:ext>
                </a:extLst>
              </p:cNvPr>
              <p:cNvPicPr>
                <a:picLocks noChangeAspect="1"/>
              </p:cNvPicPr>
              <p:nvPr/>
            </p:nvPicPr>
            <p:blipFill>
              <a:blip r:embed="rId8"/>
              <a:stretch>
                <a:fillRect/>
              </a:stretch>
            </p:blipFill>
            <p:spPr>
              <a:xfrm>
                <a:off x="4966107" y="1703389"/>
                <a:ext cx="548967" cy="549275"/>
              </a:xfrm>
              <a:prstGeom prst="rect">
                <a:avLst/>
              </a:prstGeom>
            </p:spPr>
          </p:pic>
        </p:grpSp>
      </p:grpSp>
      <p:grpSp>
        <p:nvGrpSpPr>
          <p:cNvPr id="119" name="Group 118">
            <a:extLst>
              <a:ext uri="{FF2B5EF4-FFF2-40B4-BE49-F238E27FC236}">
                <a16:creationId xmlns:a16="http://schemas.microsoft.com/office/drawing/2014/main" id="{311F9FB0-6EBD-E559-BD39-0425A47CAB26}"/>
              </a:ext>
            </a:extLst>
          </p:cNvPr>
          <p:cNvGrpSpPr/>
          <p:nvPr/>
        </p:nvGrpSpPr>
        <p:grpSpPr>
          <a:xfrm>
            <a:off x="8934199" y="1589088"/>
            <a:ext cx="2770188" cy="2117725"/>
            <a:chOff x="8934199" y="1703389"/>
            <a:chExt cx="2770188" cy="2117725"/>
          </a:xfrm>
        </p:grpSpPr>
        <p:sp>
          <p:nvSpPr>
            <p:cNvPr id="79" name="Round Single Corner Rectangle 106">
              <a:extLst>
                <a:ext uri="{FF2B5EF4-FFF2-40B4-BE49-F238E27FC236}">
                  <a16:creationId xmlns:a16="http://schemas.microsoft.com/office/drawing/2014/main" id="{F29F65AF-D773-E65E-17CE-A58B91C39FC0}"/>
                </a:ext>
              </a:extLst>
            </p:cNvPr>
            <p:cNvSpPr/>
            <p:nvPr/>
          </p:nvSpPr>
          <p:spPr>
            <a:xfrm>
              <a:off x="8934199" y="2347914"/>
              <a:ext cx="2770188" cy="1473200"/>
            </a:xfrm>
            <a:prstGeom prst="round1Rect">
              <a:avLst>
                <a:gd name="adj" fmla="val 11091"/>
              </a:avLst>
            </a:prstGeom>
            <a:noFill/>
            <a:ln w="6350" cap="flat" cmpd="sng" algn="ctr">
              <a:solidFill>
                <a:srgbClr val="0D8390"/>
              </a:solidFill>
              <a:prstDash val="solid"/>
            </a:ln>
            <a:effectLst/>
          </p:spPr>
          <p:txBody>
            <a:bodyPr lIns="72000" tIns="36000" rIns="36000" bIns="36000" rtlCol="0" anchor="ctr"/>
            <a:lstStyle/>
            <a:p>
              <a:pPr marL="139303" indent="-139303" defTabSz="784184">
                <a:spcBef>
                  <a:spcPts val="600"/>
                </a:spcBef>
                <a:buFont typeface="Arial" panose="020B0604020202020204" pitchFamily="34" charset="0"/>
                <a:buChar char="•"/>
              </a:pPr>
              <a:r>
                <a:rPr lang="en-US" altLang="zh-CN" sz="1000" kern="0">
                  <a:solidFill>
                    <a:prstClr val="black"/>
                  </a:solidFill>
                  <a:latin typeface="Arial" panose="020B0604020202020204" pitchFamily="34" charset="0"/>
                  <a:cs typeface="Arial" panose="020B0604020202020204" pitchFamily="34" charset="0"/>
                </a:rPr>
                <a:t>The aggregated buy and sell bids are traced to create aggregate buy and sell curves</a:t>
              </a:r>
            </a:p>
            <a:p>
              <a:pPr marL="139303" indent="-139303" defTabSz="784184">
                <a:spcBef>
                  <a:spcPts val="600"/>
                </a:spcBef>
                <a:buFont typeface="Arial" panose="020B0604020202020204" pitchFamily="34" charset="0"/>
                <a:buChar char="•"/>
              </a:pPr>
              <a:r>
                <a:rPr lang="en-US" altLang="zh-CN" sz="1000" kern="0">
                  <a:solidFill>
                    <a:prstClr val="black"/>
                  </a:solidFill>
                  <a:latin typeface="Arial" panose="020B0604020202020204" pitchFamily="34" charset="0"/>
                  <a:cs typeface="Arial" panose="020B0604020202020204" pitchFamily="34" charset="0"/>
                </a:rPr>
                <a:t>The intersection of buy/sell curves give the market clearing price and volume</a:t>
              </a:r>
            </a:p>
            <a:p>
              <a:pPr marL="139303" indent="-139303" defTabSz="784184">
                <a:spcBef>
                  <a:spcPts val="600"/>
                </a:spcBef>
                <a:buFont typeface="Arial" panose="020B0604020202020204" pitchFamily="34" charset="0"/>
                <a:buChar char="•"/>
              </a:pPr>
              <a:r>
                <a:rPr lang="en-US" altLang="zh-CN" sz="1000" kern="0">
                  <a:solidFill>
                    <a:prstClr val="black"/>
                  </a:solidFill>
                  <a:latin typeface="Arial" panose="020B0604020202020204" pitchFamily="34" charset="0"/>
                  <a:cs typeface="Arial" panose="020B0604020202020204" pitchFamily="34" charset="0"/>
                </a:rPr>
                <a:t>Straight line method is thereafter used to allocate bid volume to respective buyers and sellers</a:t>
              </a:r>
            </a:p>
          </p:txBody>
        </p:sp>
        <p:grpSp>
          <p:nvGrpSpPr>
            <p:cNvPr id="117" name="Group 116">
              <a:extLst>
                <a:ext uri="{FF2B5EF4-FFF2-40B4-BE49-F238E27FC236}">
                  <a16:creationId xmlns:a16="http://schemas.microsoft.com/office/drawing/2014/main" id="{63D97E53-3465-A6AB-4BB7-B704F73172A0}"/>
                </a:ext>
              </a:extLst>
            </p:cNvPr>
            <p:cNvGrpSpPr/>
            <p:nvPr/>
          </p:nvGrpSpPr>
          <p:grpSpPr>
            <a:xfrm>
              <a:off x="9157612" y="1703389"/>
              <a:ext cx="2431362" cy="549275"/>
              <a:chOff x="9172030" y="1703389"/>
              <a:chExt cx="2431362" cy="549275"/>
            </a:xfrm>
          </p:grpSpPr>
          <p:sp>
            <p:nvSpPr>
              <p:cNvPr id="81" name="Rectangle 80">
                <a:extLst>
                  <a:ext uri="{FF2B5EF4-FFF2-40B4-BE49-F238E27FC236}">
                    <a16:creationId xmlns:a16="http://schemas.microsoft.com/office/drawing/2014/main" id="{A3D68943-7BBD-46AD-6093-CE7F2962545E}"/>
                  </a:ext>
                </a:extLst>
              </p:cNvPr>
              <p:cNvSpPr/>
              <p:nvPr/>
            </p:nvSpPr>
            <p:spPr bwMode="gray">
              <a:xfrm>
                <a:off x="9875392" y="1794934"/>
                <a:ext cx="1728000" cy="457200"/>
              </a:xfrm>
              <a:prstGeom prst="rect">
                <a:avLst/>
              </a:prstGeom>
              <a:solidFill>
                <a:schemeClr val="accent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90564">
                  <a:buSzPct val="100000"/>
                </a:pPr>
                <a:r>
                  <a:rPr kumimoji="1" lang="en-US" sz="1200" b="1">
                    <a:solidFill>
                      <a:schemeClr val="bg1"/>
                    </a:solidFill>
                    <a:latin typeface="Arial" panose="020B0604020202020204" pitchFamily="34" charset="0"/>
                    <a:cs typeface="Arial" panose="020B0604020202020204" pitchFamily="34" charset="0"/>
                  </a:rPr>
                  <a:t>Bid volume allocation</a:t>
                </a:r>
              </a:p>
            </p:txBody>
          </p:sp>
          <p:pic>
            <p:nvPicPr>
              <p:cNvPr id="82" name="Picture 81" descr="A graph with lines and arrows&#10;&#10;AI-generated content may be incorrect.">
                <a:extLst>
                  <a:ext uri="{FF2B5EF4-FFF2-40B4-BE49-F238E27FC236}">
                    <a16:creationId xmlns:a16="http://schemas.microsoft.com/office/drawing/2014/main" id="{242B7902-2037-13B3-2467-055785E30195}"/>
                  </a:ext>
                </a:extLst>
              </p:cNvPr>
              <p:cNvPicPr>
                <a:picLocks noChangeAspect="1"/>
              </p:cNvPicPr>
              <p:nvPr/>
            </p:nvPicPr>
            <p:blipFill>
              <a:blip r:embed="rId9"/>
              <a:stretch>
                <a:fillRect/>
              </a:stretch>
            </p:blipFill>
            <p:spPr>
              <a:xfrm>
                <a:off x="9172030" y="1703389"/>
                <a:ext cx="549566" cy="549275"/>
              </a:xfrm>
              <a:prstGeom prst="rect">
                <a:avLst/>
              </a:prstGeom>
            </p:spPr>
          </p:pic>
        </p:grpSp>
      </p:grpSp>
      <p:graphicFrame>
        <p:nvGraphicFramePr>
          <p:cNvPr id="83" name="Table 82">
            <a:extLst>
              <a:ext uri="{FF2B5EF4-FFF2-40B4-BE49-F238E27FC236}">
                <a16:creationId xmlns:a16="http://schemas.microsoft.com/office/drawing/2014/main" id="{A4FB736D-E83B-C973-F59D-481A0583E2D8}"/>
              </a:ext>
            </a:extLst>
          </p:cNvPr>
          <p:cNvGraphicFramePr>
            <a:graphicFrameLocks noGrp="1"/>
          </p:cNvGraphicFramePr>
          <p:nvPr>
            <p:extLst>
              <p:ext uri="{D42A27DB-BD31-4B8C-83A1-F6EECF244321}">
                <p14:modId xmlns:p14="http://schemas.microsoft.com/office/powerpoint/2010/main" val="1313723587"/>
              </p:ext>
            </p:extLst>
          </p:nvPr>
        </p:nvGraphicFramePr>
        <p:xfrm>
          <a:off x="495300" y="4043363"/>
          <a:ext cx="3044830" cy="1836736"/>
        </p:xfrm>
        <a:graphic>
          <a:graphicData uri="http://schemas.openxmlformats.org/drawingml/2006/table">
            <a:tbl>
              <a:tblPr firstRow="1" bandRow="1">
                <a:tableStyleId>{5C22544A-7EE6-4342-B048-85BDC9FD1C3A}</a:tableStyleId>
              </a:tblPr>
              <a:tblGrid>
                <a:gridCol w="608966">
                  <a:extLst>
                    <a:ext uri="{9D8B030D-6E8A-4147-A177-3AD203B41FA5}">
                      <a16:colId xmlns:a16="http://schemas.microsoft.com/office/drawing/2014/main" val="3167250164"/>
                    </a:ext>
                  </a:extLst>
                </a:gridCol>
                <a:gridCol w="608966">
                  <a:extLst>
                    <a:ext uri="{9D8B030D-6E8A-4147-A177-3AD203B41FA5}">
                      <a16:colId xmlns:a16="http://schemas.microsoft.com/office/drawing/2014/main" val="658759192"/>
                    </a:ext>
                  </a:extLst>
                </a:gridCol>
                <a:gridCol w="608966">
                  <a:extLst>
                    <a:ext uri="{9D8B030D-6E8A-4147-A177-3AD203B41FA5}">
                      <a16:colId xmlns:a16="http://schemas.microsoft.com/office/drawing/2014/main" val="1194812385"/>
                    </a:ext>
                  </a:extLst>
                </a:gridCol>
                <a:gridCol w="608966">
                  <a:extLst>
                    <a:ext uri="{9D8B030D-6E8A-4147-A177-3AD203B41FA5}">
                      <a16:colId xmlns:a16="http://schemas.microsoft.com/office/drawing/2014/main" val="2369373901"/>
                    </a:ext>
                  </a:extLst>
                </a:gridCol>
                <a:gridCol w="608966">
                  <a:extLst>
                    <a:ext uri="{9D8B030D-6E8A-4147-A177-3AD203B41FA5}">
                      <a16:colId xmlns:a16="http://schemas.microsoft.com/office/drawing/2014/main" val="1043817906"/>
                    </a:ext>
                  </a:extLst>
                </a:gridCol>
              </a:tblGrid>
              <a:tr h="166976">
                <a:tc gridSpan="5">
                  <a:txBody>
                    <a:bodyPr/>
                    <a:lstStyle/>
                    <a:p>
                      <a:pPr algn="ctr"/>
                      <a:r>
                        <a:rPr lang="en-US" sz="900">
                          <a:solidFill>
                            <a:schemeClr val="tx1"/>
                          </a:solidFill>
                          <a:latin typeface="Arial" panose="020B0604020202020204" pitchFamily="34" charset="0"/>
                          <a:cs typeface="Arial" panose="020B0604020202020204" pitchFamily="34" charset="0"/>
                        </a:rPr>
                        <a:t>Sample buy and sell bids</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endParaRPr lang="en-US" sz="800">
                        <a:latin typeface="+mn-lt"/>
                      </a:endParaRP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pPr algn="r"/>
                      <a:endParaRPr lang="en-US" sz="800">
                        <a:latin typeface="+mn-lt"/>
                      </a:endParaRP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endParaRPr lang="en-US" sz="800">
                        <a:latin typeface="+mn-lt"/>
                      </a:endParaRP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hMerge="1">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endParaRPr lang="en-US" sz="800">
                        <a:latin typeface="+mn-lt"/>
                      </a:endParaRP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68898616"/>
                  </a:ext>
                </a:extLst>
              </a:tr>
              <a:tr h="333952">
                <a:tc>
                  <a:txBody>
                    <a:bodyPr/>
                    <a:lstStyle/>
                    <a:p>
                      <a:r>
                        <a:rPr lang="en-US" sz="900">
                          <a:solidFill>
                            <a:schemeClr val="bg1"/>
                          </a:solidFill>
                          <a:latin typeface="Arial" panose="020B0604020202020204" pitchFamily="34" charset="0"/>
                          <a:cs typeface="Arial" panose="020B0604020202020204" pitchFamily="34" charset="0"/>
                        </a:rPr>
                        <a:t>Bids</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r>
                        <a:rPr lang="en-US" sz="900">
                          <a:solidFill>
                            <a:schemeClr val="bg1"/>
                          </a:solidFill>
                          <a:latin typeface="Arial" panose="020B0604020202020204" pitchFamily="34" charset="0"/>
                          <a:cs typeface="Arial" panose="020B0604020202020204" pitchFamily="34" charset="0"/>
                        </a:rPr>
                        <a:t>Price/ Quantity</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900">
                          <a:solidFill>
                            <a:schemeClr val="bg1"/>
                          </a:solidFill>
                          <a:latin typeface="Arial" panose="020B0604020202020204" pitchFamily="34" charset="0"/>
                          <a:cs typeface="Arial" panose="020B0604020202020204" pitchFamily="34" charset="0"/>
                        </a:rPr>
                        <a:t>P/ Q 1</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900">
                          <a:solidFill>
                            <a:schemeClr val="bg1"/>
                          </a:solidFill>
                          <a:latin typeface="Arial" panose="020B0604020202020204" pitchFamily="34" charset="0"/>
                          <a:cs typeface="Arial" panose="020B0604020202020204" pitchFamily="34" charset="0"/>
                        </a:rPr>
                        <a:t>P/ Q 2</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900">
                          <a:solidFill>
                            <a:schemeClr val="bg1"/>
                          </a:solidFill>
                          <a:latin typeface="Arial" panose="020B0604020202020204" pitchFamily="34" charset="0"/>
                          <a:cs typeface="Arial" panose="020B0604020202020204" pitchFamily="34" charset="0"/>
                        </a:rPr>
                        <a:t>P/ Q 3</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2059805621"/>
                  </a:ext>
                </a:extLst>
              </a:tr>
              <a:tr h="166976">
                <a:tc rowSpan="2">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Buy bid 1</a:t>
                      </a:r>
                    </a:p>
                  </a:txBody>
                  <a:tcPr marL="45720" marR="4572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3,000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8,000 </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195278452"/>
                  </a:ext>
                </a:extLst>
              </a:tr>
              <a:tr h="166976">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100 </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4140129842"/>
                  </a:ext>
                </a:extLst>
              </a:tr>
              <a:tr h="166976">
                <a:tc rowSpan="2">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Buy bid 2</a:t>
                      </a:r>
                    </a:p>
                  </a:txBody>
                  <a:tcPr marL="45720" marR="4572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2,000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6,000 </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73317103"/>
                  </a:ext>
                </a:extLst>
              </a:tr>
              <a:tr h="166976">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200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120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80 </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902091683"/>
                  </a:ext>
                </a:extLst>
              </a:tr>
              <a:tr h="166976">
                <a:tc rowSpan="2">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Sell bid 1</a:t>
                      </a:r>
                    </a:p>
                  </a:txBody>
                  <a:tcPr marL="45720" marR="4572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2,000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4,000 </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567434956"/>
                  </a:ext>
                </a:extLst>
              </a:tr>
              <a:tr h="166976">
                <a:tc vMerge="1">
                  <a:txBody>
                    <a:bodyPr/>
                    <a:lstStyle/>
                    <a:p>
                      <a:endParaRPr lang="en-US"/>
                    </a:p>
                  </a:txBody>
                  <a:tcP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(50)</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(100)</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67345741"/>
                  </a:ext>
                </a:extLst>
              </a:tr>
              <a:tr h="166976">
                <a:tc rowSpan="2">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Sell bid 2</a:t>
                      </a:r>
                    </a:p>
                  </a:txBody>
                  <a:tcPr marL="45720" marR="4572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3,000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6,000 </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409872939"/>
                  </a:ext>
                </a:extLst>
              </a:tr>
              <a:tr h="166976">
                <a:tc vMerge="1">
                  <a:txBody>
                    <a:bodyPr/>
                    <a:lstStyle/>
                    <a:p>
                      <a:endParaRPr lang="en-US"/>
                    </a:p>
                  </a:txBody>
                  <a:tcP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(90)</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900" b="0" i="0" u="none" strike="noStrike">
                          <a:solidFill>
                            <a:srgbClr val="000000"/>
                          </a:solidFill>
                          <a:effectLst/>
                          <a:latin typeface="Arial" panose="020B0604020202020204" pitchFamily="34" charset="0"/>
                          <a:cs typeface="Arial" panose="020B0604020202020204" pitchFamily="34" charset="0"/>
                        </a:rPr>
                        <a:t> (150)</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698249398"/>
                  </a:ext>
                </a:extLst>
              </a:tr>
            </a:tbl>
          </a:graphicData>
        </a:graphic>
      </p:graphicFrame>
      <p:graphicFrame>
        <p:nvGraphicFramePr>
          <p:cNvPr id="84" name="Table 83">
            <a:extLst>
              <a:ext uri="{FF2B5EF4-FFF2-40B4-BE49-F238E27FC236}">
                <a16:creationId xmlns:a16="http://schemas.microsoft.com/office/drawing/2014/main" id="{B9F70204-32C0-1D2A-0336-EE6985F8A4B0}"/>
              </a:ext>
            </a:extLst>
          </p:cNvPr>
          <p:cNvGraphicFramePr>
            <a:graphicFrameLocks noGrp="1"/>
          </p:cNvGraphicFramePr>
          <p:nvPr>
            <p:extLst>
              <p:ext uri="{D42A27DB-BD31-4B8C-83A1-F6EECF244321}">
                <p14:modId xmlns:p14="http://schemas.microsoft.com/office/powerpoint/2010/main" val="28550629"/>
              </p:ext>
            </p:extLst>
          </p:nvPr>
        </p:nvGraphicFramePr>
        <p:xfrm>
          <a:off x="4119613" y="5057776"/>
          <a:ext cx="3954460" cy="822960"/>
        </p:xfrm>
        <a:graphic>
          <a:graphicData uri="http://schemas.openxmlformats.org/drawingml/2006/table">
            <a:tbl>
              <a:tblPr firstRow="1" bandRow="1">
                <a:tableStyleId>{5C22544A-7EE6-4342-B048-85BDC9FD1C3A}</a:tableStyleId>
              </a:tblPr>
              <a:tblGrid>
                <a:gridCol w="594411">
                  <a:extLst>
                    <a:ext uri="{9D8B030D-6E8A-4147-A177-3AD203B41FA5}">
                      <a16:colId xmlns:a16="http://schemas.microsoft.com/office/drawing/2014/main" val="888899002"/>
                    </a:ext>
                  </a:extLst>
                </a:gridCol>
                <a:gridCol w="663324">
                  <a:extLst>
                    <a:ext uri="{9D8B030D-6E8A-4147-A177-3AD203B41FA5}">
                      <a16:colId xmlns:a16="http://schemas.microsoft.com/office/drawing/2014/main" val="2378996378"/>
                    </a:ext>
                  </a:extLst>
                </a:gridCol>
                <a:gridCol w="539345">
                  <a:extLst>
                    <a:ext uri="{9D8B030D-6E8A-4147-A177-3AD203B41FA5}">
                      <a16:colId xmlns:a16="http://schemas.microsoft.com/office/drawing/2014/main" val="3681832466"/>
                    </a:ext>
                  </a:extLst>
                </a:gridCol>
                <a:gridCol w="539345">
                  <a:extLst>
                    <a:ext uri="{9D8B030D-6E8A-4147-A177-3AD203B41FA5}">
                      <a16:colId xmlns:a16="http://schemas.microsoft.com/office/drawing/2014/main" val="1426615582"/>
                    </a:ext>
                  </a:extLst>
                </a:gridCol>
                <a:gridCol w="539345">
                  <a:extLst>
                    <a:ext uri="{9D8B030D-6E8A-4147-A177-3AD203B41FA5}">
                      <a16:colId xmlns:a16="http://schemas.microsoft.com/office/drawing/2014/main" val="3924740517"/>
                    </a:ext>
                  </a:extLst>
                </a:gridCol>
                <a:gridCol w="539345">
                  <a:extLst>
                    <a:ext uri="{9D8B030D-6E8A-4147-A177-3AD203B41FA5}">
                      <a16:colId xmlns:a16="http://schemas.microsoft.com/office/drawing/2014/main" val="2231389128"/>
                    </a:ext>
                  </a:extLst>
                </a:gridCol>
                <a:gridCol w="539345">
                  <a:extLst>
                    <a:ext uri="{9D8B030D-6E8A-4147-A177-3AD203B41FA5}">
                      <a16:colId xmlns:a16="http://schemas.microsoft.com/office/drawing/2014/main" val="2917063461"/>
                    </a:ext>
                  </a:extLst>
                </a:gridCol>
              </a:tblGrid>
              <a:tr h="274108">
                <a:tc>
                  <a:txBody>
                    <a:bodyPr/>
                    <a:lstStyle/>
                    <a:p>
                      <a:r>
                        <a:rPr lang="en-US" sz="900">
                          <a:latin typeface="Arial" panose="020B0604020202020204" pitchFamily="34" charset="0"/>
                          <a:cs typeface="Arial" panose="020B0604020202020204" pitchFamily="34" charset="0"/>
                        </a:rPr>
                        <a:t>Bids</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r>
                        <a:rPr lang="en-US" sz="900">
                          <a:latin typeface="Arial" panose="020B0604020202020204" pitchFamily="34" charset="0"/>
                          <a:cs typeface="Arial" panose="020B0604020202020204" pitchFamily="34" charset="0"/>
                        </a:rPr>
                        <a:t>Price/ Quantity</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900">
                          <a:latin typeface="Arial" panose="020B0604020202020204" pitchFamily="34" charset="0"/>
                          <a:cs typeface="Arial" panose="020B0604020202020204" pitchFamily="34" charset="0"/>
                        </a:rPr>
                        <a:t>P/ Q 1</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900">
                          <a:latin typeface="Arial" panose="020B0604020202020204" pitchFamily="34" charset="0"/>
                          <a:cs typeface="Arial" panose="020B0604020202020204" pitchFamily="34" charset="0"/>
                        </a:rPr>
                        <a:t>P/ Q 2</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900">
                          <a:latin typeface="Arial" panose="020B0604020202020204" pitchFamily="34" charset="0"/>
                          <a:cs typeface="Arial" panose="020B0604020202020204" pitchFamily="34" charset="0"/>
                        </a:rPr>
                        <a:t>P/ Q 3</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900">
                          <a:latin typeface="Arial" panose="020B0604020202020204" pitchFamily="34" charset="0"/>
                          <a:cs typeface="Arial" panose="020B0604020202020204" pitchFamily="34" charset="0"/>
                        </a:rPr>
                        <a:t>P/ Q 4</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900">
                          <a:latin typeface="Arial" panose="020B0604020202020204" pitchFamily="34" charset="0"/>
                          <a:cs typeface="Arial" panose="020B0604020202020204" pitchFamily="34" charset="0"/>
                        </a:rPr>
                        <a:t>P/ Q 5</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493083573"/>
                  </a:ext>
                </a:extLst>
              </a:tr>
              <a:tr h="137054">
                <a:tc rowSpan="2">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Buy bid</a:t>
                      </a:r>
                    </a:p>
                  </a:txBody>
                  <a:tcPr marL="45720" marR="45720" marT="0" marB="0" anchor="ctr">
                    <a:lnL w="6350" cap="flat" cmpd="sng" algn="ctr">
                      <a:solidFill>
                        <a:schemeClr val="accent5"/>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2,000 </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3,000 </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6,000 </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 8,000 </a:t>
                      </a:r>
                    </a:p>
                  </a:txBody>
                  <a:tcPr marL="45720" marR="45720" marT="0" marB="0" anchor="ctr">
                    <a:lnL w="1270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311190477"/>
                  </a:ext>
                </a:extLst>
              </a:tr>
              <a:tr h="137054">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400 </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320 </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310 </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220 </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170 </a:t>
                      </a:r>
                    </a:p>
                  </a:txBody>
                  <a:tcPr marL="45720" marR="45720" marT="0" marB="0" anchor="ctr">
                    <a:lnL w="1270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644576225"/>
                  </a:ext>
                </a:extLst>
              </a:tr>
              <a:tr h="137054">
                <a:tc rowSpan="2">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Sell bid</a:t>
                      </a:r>
                    </a:p>
                  </a:txBody>
                  <a:tcPr marL="45720" marR="45720" marT="0" marB="0" anchor="ctr">
                    <a:lnL w="6350" cap="flat" cmpd="sng" algn="ctr">
                      <a:solidFill>
                        <a:schemeClr val="accent5"/>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2,000 </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3,000 </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4,000 </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 6,000 </a:t>
                      </a:r>
                    </a:p>
                  </a:txBody>
                  <a:tcPr marL="45720" marR="45720" marT="0" marB="0" anchor="ctr">
                    <a:lnL w="1270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720585154"/>
                  </a:ext>
                </a:extLst>
              </a:tr>
              <a:tr h="137054">
                <a:tc vMerge="1">
                  <a:txBody>
                    <a:bodyPr/>
                    <a:lstStyle/>
                    <a:p>
                      <a:endParaRPr lang="en-US"/>
                    </a:p>
                  </a:txBody>
                  <a:tcPr>
                    <a:lnL w="6350" cap="flat" cmpd="sng" algn="ctr">
                      <a:solidFill>
                        <a:schemeClr val="accent5"/>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(110)</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(165)</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(210)</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900" b="0" i="0" u="none" strike="noStrike">
                          <a:solidFill>
                            <a:srgbClr val="000000"/>
                          </a:solidFill>
                          <a:effectLst/>
                          <a:latin typeface="Arial" panose="020B0604020202020204" pitchFamily="34" charset="0"/>
                          <a:cs typeface="Arial" panose="020B0604020202020204" pitchFamily="34" charset="0"/>
                        </a:rPr>
                        <a:t> (255)</a:t>
                      </a:r>
                    </a:p>
                  </a:txBody>
                  <a:tcPr marL="45720" marR="45720" marT="0" marB="0" anchor="ctr">
                    <a:lnL w="1270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105425624"/>
                  </a:ext>
                </a:extLst>
              </a:tr>
            </a:tbl>
          </a:graphicData>
        </a:graphic>
      </p:graphicFrame>
      <p:sp>
        <p:nvSpPr>
          <p:cNvPr id="86" name="TextBox 85">
            <a:extLst>
              <a:ext uri="{FF2B5EF4-FFF2-40B4-BE49-F238E27FC236}">
                <a16:creationId xmlns:a16="http://schemas.microsoft.com/office/drawing/2014/main" id="{20C8D41D-58B9-540A-4F28-DE039BA27940}"/>
              </a:ext>
            </a:extLst>
          </p:cNvPr>
          <p:cNvSpPr txBox="1"/>
          <p:nvPr/>
        </p:nvSpPr>
        <p:spPr>
          <a:xfrm>
            <a:off x="514884" y="3767138"/>
            <a:ext cx="2238375" cy="276225"/>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Example</a:t>
            </a:r>
          </a:p>
        </p:txBody>
      </p:sp>
      <p:cxnSp>
        <p:nvCxnSpPr>
          <p:cNvPr id="87" name="Connector: Elbow 86">
            <a:extLst>
              <a:ext uri="{FF2B5EF4-FFF2-40B4-BE49-F238E27FC236}">
                <a16:creationId xmlns:a16="http://schemas.microsoft.com/office/drawing/2014/main" id="{D0E78281-8A76-CC8D-C267-EAA6357392B8}"/>
              </a:ext>
            </a:extLst>
          </p:cNvPr>
          <p:cNvCxnSpPr>
            <a:cxnSpLocks/>
            <a:stCxn id="90" idx="3"/>
            <a:endCxn id="88" idx="1"/>
          </p:cNvCxnSpPr>
          <p:nvPr/>
        </p:nvCxnSpPr>
        <p:spPr bwMode="gray">
          <a:xfrm flipV="1">
            <a:off x="3583254" y="4182270"/>
            <a:ext cx="536359" cy="527350"/>
          </a:xfrm>
          <a:prstGeom prst="bentConnector3">
            <a:avLst>
              <a:gd name="adj1" fmla="val 50000"/>
            </a:avLst>
          </a:prstGeom>
          <a:ln w="127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8" name="TextBox 87">
            <a:extLst>
              <a:ext uri="{FF2B5EF4-FFF2-40B4-BE49-F238E27FC236}">
                <a16:creationId xmlns:a16="http://schemas.microsoft.com/office/drawing/2014/main" id="{D51A382B-DF63-2518-82EC-C90B2B9865F3}"/>
              </a:ext>
            </a:extLst>
          </p:cNvPr>
          <p:cNvSpPr txBox="1"/>
          <p:nvPr/>
        </p:nvSpPr>
        <p:spPr bwMode="gray">
          <a:xfrm>
            <a:off x="4119613" y="4043363"/>
            <a:ext cx="3933121" cy="277813"/>
          </a:xfrm>
          <a:prstGeom prst="rect">
            <a:avLst/>
          </a:prstGeom>
          <a:solidFill>
            <a:schemeClr val="accent1">
              <a:lumMod val="20000"/>
              <a:lumOff val="80000"/>
            </a:schemeClr>
          </a:solidFill>
        </p:spPr>
        <p:txBody>
          <a:bodyPr wrap="square" lIns="0" tIns="0" rIns="0" bIns="0" rtlCol="0">
            <a:spAutoFit/>
          </a:bodyPr>
          <a:lstStyle/>
          <a:p>
            <a:pPr marL="0" marR="0" indent="0" algn="l"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9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Quantities for each price point across buy and sell bids respectively is calculated before aggregation</a:t>
            </a:r>
          </a:p>
        </p:txBody>
      </p:sp>
      <p:graphicFrame>
        <p:nvGraphicFramePr>
          <p:cNvPr id="89" name="Table 88">
            <a:extLst>
              <a:ext uri="{FF2B5EF4-FFF2-40B4-BE49-F238E27FC236}">
                <a16:creationId xmlns:a16="http://schemas.microsoft.com/office/drawing/2014/main" id="{CFDF734E-872E-1EDF-44E5-1A3D335A579D}"/>
              </a:ext>
            </a:extLst>
          </p:cNvPr>
          <p:cNvGraphicFramePr>
            <a:graphicFrameLocks noGrp="1"/>
          </p:cNvGraphicFramePr>
          <p:nvPr>
            <p:extLst>
              <p:ext uri="{D42A27DB-BD31-4B8C-83A1-F6EECF244321}">
                <p14:modId xmlns:p14="http://schemas.microsoft.com/office/powerpoint/2010/main" val="148720750"/>
              </p:ext>
            </p:extLst>
          </p:nvPr>
        </p:nvGraphicFramePr>
        <p:xfrm>
          <a:off x="4119613" y="4427538"/>
          <a:ext cx="3951202" cy="365128"/>
        </p:xfrm>
        <a:graphic>
          <a:graphicData uri="http://schemas.openxmlformats.org/drawingml/2006/table">
            <a:tbl>
              <a:tblPr firstRow="1" bandRow="1">
                <a:tableStyleId>{5C22544A-7EE6-4342-B048-85BDC9FD1C3A}</a:tableStyleId>
              </a:tblPr>
              <a:tblGrid>
                <a:gridCol w="1110742">
                  <a:extLst>
                    <a:ext uri="{9D8B030D-6E8A-4147-A177-3AD203B41FA5}">
                      <a16:colId xmlns:a16="http://schemas.microsoft.com/office/drawing/2014/main" val="2378996378"/>
                    </a:ext>
                  </a:extLst>
                </a:gridCol>
                <a:gridCol w="1534765">
                  <a:extLst>
                    <a:ext uri="{9D8B030D-6E8A-4147-A177-3AD203B41FA5}">
                      <a16:colId xmlns:a16="http://schemas.microsoft.com/office/drawing/2014/main" val="3681832466"/>
                    </a:ext>
                  </a:extLst>
                </a:gridCol>
                <a:gridCol w="764301">
                  <a:extLst>
                    <a:ext uri="{9D8B030D-6E8A-4147-A177-3AD203B41FA5}">
                      <a16:colId xmlns:a16="http://schemas.microsoft.com/office/drawing/2014/main" val="1426615582"/>
                    </a:ext>
                  </a:extLst>
                </a:gridCol>
                <a:gridCol w="541394">
                  <a:extLst>
                    <a:ext uri="{9D8B030D-6E8A-4147-A177-3AD203B41FA5}">
                      <a16:colId xmlns:a16="http://schemas.microsoft.com/office/drawing/2014/main" val="2606509675"/>
                    </a:ext>
                  </a:extLst>
                </a:gridCol>
              </a:tblGrid>
              <a:tr h="121917">
                <a:tc>
                  <a:txBody>
                    <a:bodyPr/>
                    <a:lstStyle/>
                    <a:p>
                      <a:pPr algn="ctr"/>
                      <a:r>
                        <a:rPr lang="en-US" sz="800">
                          <a:latin typeface="Arial" panose="020B0604020202020204" pitchFamily="34" charset="0"/>
                          <a:cs typeface="Arial" panose="020B0604020202020204" pitchFamily="34" charset="0"/>
                        </a:rPr>
                        <a:t>Price: 6,000</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800">
                          <a:latin typeface="Arial" panose="020B0604020202020204" pitchFamily="34" charset="0"/>
                          <a:cs typeface="Arial" panose="020B0604020202020204" pitchFamily="34" charset="0"/>
                        </a:rPr>
                        <a:t>Buy bid 1</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800">
                          <a:latin typeface="Arial" panose="020B0604020202020204" pitchFamily="34" charset="0"/>
                          <a:cs typeface="Arial" panose="020B0604020202020204" pitchFamily="34" charset="0"/>
                        </a:rPr>
                        <a:t>Buy bid 2</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800">
                          <a:latin typeface="Arial" panose="020B0604020202020204" pitchFamily="34" charset="0"/>
                          <a:cs typeface="Arial" panose="020B0604020202020204" pitchFamily="34" charset="0"/>
                        </a:rPr>
                        <a:t>Total</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493083573"/>
                  </a:ext>
                </a:extLst>
              </a:tr>
              <a:tr h="243208">
                <a:tc>
                  <a:txBody>
                    <a:bodyPr/>
                    <a:lstStyle/>
                    <a:p>
                      <a:pPr algn="l" fontAlgn="ctr"/>
                      <a:r>
                        <a:rPr lang="en-US" sz="8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solidFill>
                        <a:schemeClr val="accent5"/>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200-(100/5,000)*3,000 = 140</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80</a:t>
                      </a:r>
                    </a:p>
                  </a:txBody>
                  <a:tcPr marL="45720" marR="4572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220</a:t>
                      </a:r>
                    </a:p>
                  </a:txBody>
                  <a:tcPr marL="45720" marR="45720" marT="0" marB="0" anchor="ctr">
                    <a:lnL w="1270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311190477"/>
                  </a:ext>
                </a:extLst>
              </a:tr>
            </a:tbl>
          </a:graphicData>
        </a:graphic>
      </p:graphicFrame>
      <p:sp>
        <p:nvSpPr>
          <p:cNvPr id="90" name="Rectangle 89">
            <a:extLst>
              <a:ext uri="{FF2B5EF4-FFF2-40B4-BE49-F238E27FC236}">
                <a16:creationId xmlns:a16="http://schemas.microsoft.com/office/drawing/2014/main" id="{6A5D06B1-62F9-AFEA-D262-F408F92D5BFA}"/>
              </a:ext>
            </a:extLst>
          </p:cNvPr>
          <p:cNvSpPr/>
          <p:nvPr/>
        </p:nvSpPr>
        <p:spPr bwMode="gray">
          <a:xfrm>
            <a:off x="2519879" y="4503328"/>
            <a:ext cx="1063375" cy="412584"/>
          </a:xfrm>
          <a:prstGeom prst="rect">
            <a:avLst/>
          </a:prstGeom>
          <a:noFill/>
          <a:ln w="12700" algn="ctr">
            <a:solidFill>
              <a:srgbClr val="FF0000"/>
            </a:solidFill>
            <a:prstDash val="dash"/>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91" name="Rectangle 90">
            <a:extLst>
              <a:ext uri="{FF2B5EF4-FFF2-40B4-BE49-F238E27FC236}">
                <a16:creationId xmlns:a16="http://schemas.microsoft.com/office/drawing/2014/main" id="{8F8F7EC3-B55C-99D9-02D0-42AAE5F627A3}"/>
              </a:ext>
            </a:extLst>
          </p:cNvPr>
          <p:cNvSpPr/>
          <p:nvPr/>
        </p:nvSpPr>
        <p:spPr bwMode="gray">
          <a:xfrm>
            <a:off x="6957463" y="5317100"/>
            <a:ext cx="413186" cy="285750"/>
          </a:xfrm>
          <a:prstGeom prst="rect">
            <a:avLst/>
          </a:prstGeom>
          <a:noFill/>
          <a:ln w="12700" algn="ctr">
            <a:solidFill>
              <a:srgbClr val="FF0000"/>
            </a:solidFill>
            <a:prstDash val="dash"/>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cxnSp>
        <p:nvCxnSpPr>
          <p:cNvPr id="92" name="Straight Arrow Connector 91">
            <a:extLst>
              <a:ext uri="{FF2B5EF4-FFF2-40B4-BE49-F238E27FC236}">
                <a16:creationId xmlns:a16="http://schemas.microsoft.com/office/drawing/2014/main" id="{9A363379-59B2-BFCE-260F-398C22F78654}"/>
              </a:ext>
            </a:extLst>
          </p:cNvPr>
          <p:cNvCxnSpPr>
            <a:cxnSpLocks/>
          </p:cNvCxnSpPr>
          <p:nvPr/>
        </p:nvCxnSpPr>
        <p:spPr bwMode="gray">
          <a:xfrm>
            <a:off x="6095214" y="4827588"/>
            <a:ext cx="0" cy="187325"/>
          </a:xfrm>
          <a:prstGeom prst="straightConnector1">
            <a:avLst/>
          </a:prstGeom>
          <a:ln w="127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6" name="Connector: Elbow 95">
            <a:extLst>
              <a:ext uri="{FF2B5EF4-FFF2-40B4-BE49-F238E27FC236}">
                <a16:creationId xmlns:a16="http://schemas.microsoft.com/office/drawing/2014/main" id="{4EC4C126-EACA-7742-9948-FDB3D672172E}"/>
              </a:ext>
            </a:extLst>
          </p:cNvPr>
          <p:cNvCxnSpPr>
            <a:cxnSpLocks/>
          </p:cNvCxnSpPr>
          <p:nvPr/>
        </p:nvCxnSpPr>
        <p:spPr bwMode="gray">
          <a:xfrm flipV="1">
            <a:off x="8070815" y="4618038"/>
            <a:ext cx="327026" cy="949325"/>
          </a:xfrm>
          <a:prstGeom prst="bentConnector2">
            <a:avLst/>
          </a:prstGeom>
          <a:ln w="127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7" name="Speech Bubble: Rectangle 96">
            <a:extLst>
              <a:ext uri="{FF2B5EF4-FFF2-40B4-BE49-F238E27FC236}">
                <a16:creationId xmlns:a16="http://schemas.microsoft.com/office/drawing/2014/main" id="{3EAE6D09-6FC9-7FDC-5AB4-A4E1E7F93F7D}"/>
              </a:ext>
            </a:extLst>
          </p:cNvPr>
          <p:cNvSpPr/>
          <p:nvPr/>
        </p:nvSpPr>
        <p:spPr bwMode="gray">
          <a:xfrm>
            <a:off x="9383846" y="3613009"/>
            <a:ext cx="2358016" cy="417513"/>
          </a:xfrm>
          <a:prstGeom prst="wedgeRectCallout">
            <a:avLst>
              <a:gd name="adj1" fmla="val -14177"/>
              <a:gd name="adj2" fmla="val 84462"/>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900" i="0" u="none" strike="noStrike" kern="1200" cap="none" spc="0" normalizeH="0" baseline="0" noProof="0">
                <a:ln>
                  <a:noFill/>
                </a:ln>
                <a:solidFill>
                  <a:prstClr val="black"/>
                </a:solidFill>
                <a:effectLst/>
                <a:uLnTx/>
                <a:uFillTx/>
                <a:latin typeface="+mn-lt"/>
                <a:ea typeface="+mn-ea"/>
                <a:cs typeface="+mn-cs"/>
              </a:rPr>
              <a:t>Aggregated buy and sell curves </a:t>
            </a:r>
            <a:r>
              <a:rPr kumimoji="1" lang="en-US" sz="900" b="1" i="0" u="none" strike="noStrike" kern="1200" cap="none" spc="0" normalizeH="0" baseline="0" noProof="0">
                <a:ln>
                  <a:noFill/>
                </a:ln>
                <a:solidFill>
                  <a:prstClr val="black"/>
                </a:solidFill>
                <a:effectLst/>
                <a:uLnTx/>
                <a:uFillTx/>
                <a:latin typeface="+mn-lt"/>
                <a:ea typeface="+mn-ea"/>
                <a:cs typeface="+mn-cs"/>
              </a:rPr>
              <a:t>cut each other to give area clearing price and volume</a:t>
            </a:r>
          </a:p>
        </p:txBody>
      </p:sp>
      <p:sp>
        <p:nvSpPr>
          <p:cNvPr id="98" name="Oval 97">
            <a:extLst>
              <a:ext uri="{FF2B5EF4-FFF2-40B4-BE49-F238E27FC236}">
                <a16:creationId xmlns:a16="http://schemas.microsoft.com/office/drawing/2014/main" id="{45F57AB9-A4E4-F003-544F-DF2C138D60E6}"/>
              </a:ext>
            </a:extLst>
          </p:cNvPr>
          <p:cNvSpPr/>
          <p:nvPr/>
        </p:nvSpPr>
        <p:spPr bwMode="gray">
          <a:xfrm>
            <a:off x="4742421" y="2943225"/>
            <a:ext cx="139700" cy="130175"/>
          </a:xfrm>
          <a:prstGeom prst="ellipse">
            <a:avLst/>
          </a:prstGeom>
          <a:solidFill>
            <a:schemeClr val="bg1"/>
          </a:solidFill>
          <a:ln w="19050" algn="ctr">
            <a:solidFill>
              <a:srgbClr val="DA291C"/>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00" b="1"/>
              <a:t>A</a:t>
            </a:r>
          </a:p>
        </p:txBody>
      </p:sp>
      <p:sp>
        <p:nvSpPr>
          <p:cNvPr id="99" name="Oval 98">
            <a:extLst>
              <a:ext uri="{FF2B5EF4-FFF2-40B4-BE49-F238E27FC236}">
                <a16:creationId xmlns:a16="http://schemas.microsoft.com/office/drawing/2014/main" id="{BDF5EBB9-0F7E-77E6-75C1-48A8A59FD78C}"/>
              </a:ext>
            </a:extLst>
          </p:cNvPr>
          <p:cNvSpPr/>
          <p:nvPr/>
        </p:nvSpPr>
        <p:spPr bwMode="gray">
          <a:xfrm>
            <a:off x="4052938" y="4362450"/>
            <a:ext cx="139700" cy="130175"/>
          </a:xfrm>
          <a:prstGeom prst="ellipse">
            <a:avLst/>
          </a:prstGeom>
          <a:solidFill>
            <a:schemeClr val="bg1"/>
          </a:solidFill>
          <a:ln w="19050" algn="ctr">
            <a:solidFill>
              <a:srgbClr val="DA291C"/>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00" b="1"/>
              <a:t>A</a:t>
            </a:r>
          </a:p>
        </p:txBody>
      </p:sp>
      <p:cxnSp>
        <p:nvCxnSpPr>
          <p:cNvPr id="114" name="Straight Arrow Connector 113">
            <a:extLst>
              <a:ext uri="{FF2B5EF4-FFF2-40B4-BE49-F238E27FC236}">
                <a16:creationId xmlns:a16="http://schemas.microsoft.com/office/drawing/2014/main" id="{7F8AF81D-A782-B835-54E8-2D4ED81EC51E}"/>
              </a:ext>
            </a:extLst>
          </p:cNvPr>
          <p:cNvCxnSpPr>
            <a:cxnSpLocks/>
          </p:cNvCxnSpPr>
          <p:nvPr/>
        </p:nvCxnSpPr>
        <p:spPr bwMode="gray">
          <a:xfrm>
            <a:off x="7581974" y="1863725"/>
            <a:ext cx="1256984"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203" name="Chart 202">
            <a:extLst>
              <a:ext uri="{FF2B5EF4-FFF2-40B4-BE49-F238E27FC236}">
                <a16:creationId xmlns:a16="http://schemas.microsoft.com/office/drawing/2014/main" id="{1B26F482-5240-5071-E643-DFF8ECDA5F43}"/>
              </a:ext>
            </a:extLst>
          </p:cNvPr>
          <p:cNvGraphicFramePr/>
          <p:nvPr>
            <p:custDataLst>
              <p:tags r:id="rId2"/>
            </p:custDataLst>
            <p:extLst>
              <p:ext uri="{D42A27DB-BD31-4B8C-83A1-F6EECF244321}">
                <p14:modId xmlns:p14="http://schemas.microsoft.com/office/powerpoint/2010/main" val="3518289487"/>
              </p:ext>
            </p:extLst>
          </p:nvPr>
        </p:nvGraphicFramePr>
        <p:xfrm>
          <a:off x="8318500" y="4027488"/>
          <a:ext cx="3582988" cy="2033587"/>
        </p:xfrm>
        <a:graphic>
          <a:graphicData uri="http://schemas.openxmlformats.org/drawingml/2006/chart">
            <c:chart xmlns:c="http://schemas.openxmlformats.org/drawingml/2006/chart" xmlns:r="http://schemas.openxmlformats.org/officeDocument/2006/relationships" r:id="rId10"/>
          </a:graphicData>
        </a:graphic>
      </p:graphicFrame>
      <p:cxnSp>
        <p:nvCxnSpPr>
          <p:cNvPr id="136" name="Straight Connector 135">
            <a:extLst>
              <a:ext uri="{FF2B5EF4-FFF2-40B4-BE49-F238E27FC236}">
                <a16:creationId xmlns:a16="http://schemas.microsoft.com/office/drawing/2014/main" id="{937D45A8-F3F9-4D93-3DCE-26FFA63F45B2}"/>
              </a:ext>
            </a:extLst>
          </p:cNvPr>
          <p:cNvCxnSpPr>
            <a:cxnSpLocks/>
          </p:cNvCxnSpPr>
          <p:nvPr/>
        </p:nvCxnSpPr>
        <p:spPr bwMode="gray">
          <a:xfrm>
            <a:off x="8934199" y="5271911"/>
            <a:ext cx="1590132" cy="0"/>
          </a:xfrm>
          <a:prstGeom prst="line">
            <a:avLst/>
          </a:prstGeom>
          <a:ln w="12700">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5F697878-DACD-90A0-F3BD-0DECF0CE4F4F}"/>
              </a:ext>
            </a:extLst>
          </p:cNvPr>
          <p:cNvCxnSpPr>
            <a:cxnSpLocks/>
          </p:cNvCxnSpPr>
          <p:nvPr/>
        </p:nvCxnSpPr>
        <p:spPr bwMode="gray">
          <a:xfrm>
            <a:off x="10540450" y="5271911"/>
            <a:ext cx="0" cy="403124"/>
          </a:xfrm>
          <a:prstGeom prst="line">
            <a:avLst/>
          </a:prstGeom>
          <a:ln w="12700">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Arrow: Right 3">
            <a:hlinkClick r:id="rId11" action="ppaction://hlinksldjump"/>
            <a:extLst>
              <a:ext uri="{FF2B5EF4-FFF2-40B4-BE49-F238E27FC236}">
                <a16:creationId xmlns:a16="http://schemas.microsoft.com/office/drawing/2014/main" id="{F31F99CE-3B7B-E6E1-F4C3-E2536E7BE28B}"/>
              </a:ext>
            </a:extLst>
          </p:cNvPr>
          <p:cNvSpPr/>
          <p:nvPr/>
        </p:nvSpPr>
        <p:spPr bwMode="gray">
          <a:xfrm>
            <a:off x="11009408" y="2688156"/>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A20BD374-80E4-6B10-4C9D-011F4EDB300F}"/>
              </a:ext>
            </a:extLst>
          </p:cNvPr>
          <p:cNvSpPr txBox="1"/>
          <p:nvPr/>
        </p:nvSpPr>
        <p:spPr>
          <a:xfrm>
            <a:off x="473065" y="6544150"/>
            <a:ext cx="457200" cy="138499"/>
          </a:xfrm>
          <a:prstGeom prst="rect">
            <a:avLst/>
          </a:prstGeom>
          <a:noFill/>
        </p:spPr>
        <p:txBody>
          <a:bodyPr wrap="square" lIns="0" tIns="0" rIns="0" bIns="0" rtlCol="0">
            <a:spAutoFit/>
          </a:bodyPr>
          <a:lstStyle/>
          <a:p>
            <a:pPr>
              <a:buFont typeface="Wingdings 2" pitchFamily="18" charset="2"/>
              <a:buNone/>
            </a:pPr>
            <a:r>
              <a:rPr lang="en-US" sz="900">
                <a:solidFill>
                  <a:srgbClr val="313131"/>
                </a:solidFill>
                <a:latin typeface="Arial" panose="020B0604020202020204" pitchFamily="34" charset="0"/>
                <a:cs typeface="Arial" panose="020B0604020202020204" pitchFamily="34" charset="0"/>
              </a:rPr>
              <a:t>Example</a:t>
            </a:r>
            <a:endParaRPr lang="en-US" sz="900">
              <a:latin typeface="Arial" panose="020B0604020202020204" pitchFamily="34" charset="0"/>
              <a:cs typeface="Arial" panose="020B0604020202020204" pitchFamily="34" charset="0"/>
            </a:endParaRPr>
          </a:p>
        </p:txBody>
      </p:sp>
      <p:sp>
        <p:nvSpPr>
          <p:cNvPr id="7" name="Arrow: Right 6">
            <a:hlinkClick r:id="rId12" action="ppaction://hlinksldjump"/>
            <a:extLst>
              <a:ext uri="{FF2B5EF4-FFF2-40B4-BE49-F238E27FC236}">
                <a16:creationId xmlns:a16="http://schemas.microsoft.com/office/drawing/2014/main" id="{C3673DD2-4DBE-4B67-5726-547336F45331}"/>
              </a:ext>
            </a:extLst>
          </p:cNvPr>
          <p:cNvSpPr/>
          <p:nvPr/>
        </p:nvSpPr>
        <p:spPr bwMode="gray">
          <a:xfrm>
            <a:off x="966582" y="6562248"/>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56068616"/>
      </p:ext>
    </p:extLst>
  </p:cSld>
  <p:clrMapOvr>
    <a:masterClrMapping/>
  </p:clrMapOvr>
  <p:transition>
    <p:fade/>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766275310"/>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Market clearing price discovery | Continuous matching algorithm</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t>Intraday &amp; contingency market use the continuous matching algorithm for price discovery where best buy/ sell bids are calculated and matched continuously</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68" name="TextBox 67">
            <a:extLst>
              <a:ext uri="{FF2B5EF4-FFF2-40B4-BE49-F238E27FC236}">
                <a16:creationId xmlns:a16="http://schemas.microsoft.com/office/drawing/2014/main" id="{A72A3D2E-9F13-A663-9685-5D0C8E4AE8B6}"/>
              </a:ext>
            </a:extLst>
          </p:cNvPr>
          <p:cNvSpPr txBox="1"/>
          <p:nvPr/>
        </p:nvSpPr>
        <p:spPr>
          <a:xfrm>
            <a:off x="514884" y="1072024"/>
            <a:ext cx="9070975" cy="276999"/>
          </a:xfrm>
          <a:prstGeom prst="rect">
            <a:avLst/>
          </a:prstGeom>
          <a:noFill/>
        </p:spPr>
        <p:txBody>
          <a:bodyPr wrap="square">
            <a:spAutoFit/>
          </a:bodyPr>
          <a:lstStyle>
            <a:defPPr>
              <a:defRPr lang="en-US"/>
            </a:defPPr>
            <a:lvl1pPr marR="0" lvl="0" indent="0" algn="just" fontAlgn="auto">
              <a:lnSpc>
                <a:spcPct val="100000"/>
              </a:lnSpc>
              <a:spcBef>
                <a:spcPts val="0"/>
              </a:spcBef>
              <a:spcAft>
                <a:spcPts val="0"/>
              </a:spcAft>
              <a:buClrTx/>
              <a:buSzTx/>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spcBef>
                <a:spcPts val="488"/>
              </a:spcBef>
              <a:buSzPct val="100000"/>
            </a:pPr>
            <a:r>
              <a:rPr lang="en-US" sz="1200" b="1"/>
              <a:t>Continuous matching algorithm</a:t>
            </a:r>
          </a:p>
        </p:txBody>
      </p:sp>
      <p:cxnSp>
        <p:nvCxnSpPr>
          <p:cNvPr id="13" name="Connector: Elbow 12">
            <a:extLst>
              <a:ext uri="{FF2B5EF4-FFF2-40B4-BE49-F238E27FC236}">
                <a16:creationId xmlns:a16="http://schemas.microsoft.com/office/drawing/2014/main" id="{E869CBE6-F966-6A33-4F95-39B85A5F43D0}"/>
              </a:ext>
            </a:extLst>
          </p:cNvPr>
          <p:cNvCxnSpPr>
            <a:cxnSpLocks/>
          </p:cNvCxnSpPr>
          <p:nvPr/>
        </p:nvCxnSpPr>
        <p:spPr bwMode="gray">
          <a:xfrm rot="16200000" flipH="1">
            <a:off x="8412828" y="216970"/>
            <a:ext cx="12700" cy="4620670"/>
          </a:xfrm>
          <a:prstGeom prst="bentConnector3">
            <a:avLst>
              <a:gd name="adj1" fmla="val 1800000"/>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A4016501-1A7A-F322-D733-C44CC5452449}"/>
              </a:ext>
            </a:extLst>
          </p:cNvPr>
          <p:cNvSpPr txBox="1"/>
          <p:nvPr/>
        </p:nvSpPr>
        <p:spPr bwMode="gray">
          <a:xfrm>
            <a:off x="7152901" y="2546980"/>
            <a:ext cx="2432958" cy="153888"/>
          </a:xfrm>
          <a:prstGeom prst="rect">
            <a:avLst/>
          </a:prstGeom>
          <a:noFill/>
        </p:spPr>
        <p:txBody>
          <a:bodyPr wrap="square" lIns="0" tIns="0" rIns="0" bIns="0" rtlCol="0">
            <a:sp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i="1">
                <a:solidFill>
                  <a:prstClr val="black"/>
                </a:solidFill>
                <a:latin typeface="Arial" panose="020B0604020202020204" pitchFamily="34" charset="0"/>
                <a:cs typeface="Arial" panose="020B0604020202020204" pitchFamily="34" charset="0"/>
              </a:rPr>
              <a:t>Best</a:t>
            </a:r>
            <a:r>
              <a:rPr kumimoji="1" lang="en-US" sz="1000" i="1"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 buy bid &gt; = best sell bid</a:t>
            </a:r>
          </a:p>
        </p:txBody>
      </p:sp>
      <p:cxnSp>
        <p:nvCxnSpPr>
          <p:cNvPr id="15" name="Straight Arrow Connector 14">
            <a:extLst>
              <a:ext uri="{FF2B5EF4-FFF2-40B4-BE49-F238E27FC236}">
                <a16:creationId xmlns:a16="http://schemas.microsoft.com/office/drawing/2014/main" id="{B9DB95FC-1F6A-4A81-115E-5B04B86B017F}"/>
              </a:ext>
            </a:extLst>
          </p:cNvPr>
          <p:cNvCxnSpPr>
            <a:cxnSpLocks/>
          </p:cNvCxnSpPr>
          <p:nvPr/>
        </p:nvCxnSpPr>
        <p:spPr bwMode="gray">
          <a:xfrm>
            <a:off x="5607315" y="2520955"/>
            <a:ext cx="10874" cy="671404"/>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ED417580-D5B5-BEE8-EE63-C412EFBF6A5C}"/>
              </a:ext>
            </a:extLst>
          </p:cNvPr>
          <p:cNvSpPr txBox="1"/>
          <p:nvPr/>
        </p:nvSpPr>
        <p:spPr bwMode="gray">
          <a:xfrm>
            <a:off x="4026904" y="3004310"/>
            <a:ext cx="783587" cy="153888"/>
          </a:xfrm>
          <a:prstGeom prst="rect">
            <a:avLst/>
          </a:prstGeom>
          <a:noFill/>
        </p:spPr>
        <p:txBody>
          <a:bodyPr wrap="square" lIns="0" tIns="0" rIns="0" bIns="0" rtlCol="0">
            <a:sp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i="1">
                <a:solidFill>
                  <a:prstClr val="black"/>
                </a:solidFill>
                <a:latin typeface="Arial" panose="020B0604020202020204" pitchFamily="34" charset="0"/>
                <a:cs typeface="Arial" panose="020B0604020202020204" pitchFamily="34" charset="0"/>
              </a:rPr>
              <a:t>Else </a:t>
            </a:r>
            <a:endParaRPr kumimoji="1" lang="en-US" sz="1000" b="0" i="1"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7" name="Rectangle 16">
            <a:extLst>
              <a:ext uri="{FF2B5EF4-FFF2-40B4-BE49-F238E27FC236}">
                <a16:creationId xmlns:a16="http://schemas.microsoft.com/office/drawing/2014/main" id="{304374DD-0DE0-9452-FEB6-1CE3FDDF9F0C}"/>
              </a:ext>
            </a:extLst>
          </p:cNvPr>
          <p:cNvSpPr/>
          <p:nvPr/>
        </p:nvSpPr>
        <p:spPr bwMode="gray">
          <a:xfrm>
            <a:off x="3879315" y="3366401"/>
            <a:ext cx="1728000" cy="457200"/>
          </a:xfrm>
          <a:prstGeom prst="rect">
            <a:avLst/>
          </a:prstGeom>
          <a:solidFill>
            <a:schemeClr val="accent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2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No action, orders in pending</a:t>
            </a:r>
          </a:p>
        </p:txBody>
      </p:sp>
      <p:cxnSp>
        <p:nvCxnSpPr>
          <p:cNvPr id="18" name="Straight Arrow Connector 17">
            <a:extLst>
              <a:ext uri="{FF2B5EF4-FFF2-40B4-BE49-F238E27FC236}">
                <a16:creationId xmlns:a16="http://schemas.microsoft.com/office/drawing/2014/main" id="{E8F1E1A7-7619-A336-8F46-A44767941515}"/>
              </a:ext>
            </a:extLst>
          </p:cNvPr>
          <p:cNvCxnSpPr>
            <a:cxnSpLocks/>
          </p:cNvCxnSpPr>
          <p:nvPr/>
        </p:nvCxnSpPr>
        <p:spPr bwMode="gray">
          <a:xfrm>
            <a:off x="2810927" y="2286361"/>
            <a:ext cx="1999564"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nector: Elbow 18">
            <a:extLst>
              <a:ext uri="{FF2B5EF4-FFF2-40B4-BE49-F238E27FC236}">
                <a16:creationId xmlns:a16="http://schemas.microsoft.com/office/drawing/2014/main" id="{3DB6EF2D-8F32-FEF3-05CF-1F203C91D9B4}"/>
              </a:ext>
            </a:extLst>
          </p:cNvPr>
          <p:cNvCxnSpPr>
            <a:cxnSpLocks/>
            <a:stCxn id="17" idx="1"/>
          </p:cNvCxnSpPr>
          <p:nvPr/>
        </p:nvCxnSpPr>
        <p:spPr bwMode="gray">
          <a:xfrm rot="10800000">
            <a:off x="3747151" y="2286361"/>
            <a:ext cx="132165" cy="1308640"/>
          </a:xfrm>
          <a:prstGeom prst="bentConnector2">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7ED7CC44-C159-D217-B653-996A4B758C53}"/>
              </a:ext>
            </a:extLst>
          </p:cNvPr>
          <p:cNvSpPr txBox="1"/>
          <p:nvPr/>
        </p:nvSpPr>
        <p:spPr bwMode="gray">
          <a:xfrm>
            <a:off x="2595571" y="2927366"/>
            <a:ext cx="793091" cy="307777"/>
          </a:xfrm>
          <a:prstGeom prst="rect">
            <a:avLst/>
          </a:prstGeom>
          <a:noFill/>
        </p:spPr>
        <p:txBody>
          <a:bodyPr wrap="square" lIns="0" tIns="0" rIns="0" bIns="0" rtlCol="0">
            <a:sp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i="1">
                <a:solidFill>
                  <a:prstClr val="black"/>
                </a:solidFill>
                <a:latin typeface="Arial" panose="020B0604020202020204" pitchFamily="34" charset="0"/>
                <a:cs typeface="Arial" panose="020B0604020202020204" pitchFamily="34" charset="0"/>
              </a:rPr>
              <a:t>New</a:t>
            </a:r>
          </a:p>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i="1">
                <a:solidFill>
                  <a:prstClr val="black"/>
                </a:solidFill>
                <a:latin typeface="Arial" panose="020B0604020202020204" pitchFamily="34" charset="0"/>
                <a:cs typeface="Arial" panose="020B0604020202020204" pitchFamily="34" charset="0"/>
              </a:rPr>
              <a:t> buy/ sell bid</a:t>
            </a:r>
            <a:endParaRPr kumimoji="1" lang="en-US" sz="1000" b="0" i="1"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22E87B9A-0398-8D55-93AA-CB476257BC6F}"/>
              </a:ext>
            </a:extLst>
          </p:cNvPr>
          <p:cNvSpPr txBox="1"/>
          <p:nvPr/>
        </p:nvSpPr>
        <p:spPr>
          <a:xfrm>
            <a:off x="503731" y="4159949"/>
            <a:ext cx="4368776" cy="276999"/>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Order matching rules</a:t>
            </a:r>
          </a:p>
        </p:txBody>
      </p:sp>
      <p:sp>
        <p:nvSpPr>
          <p:cNvPr id="22" name="Rectangle 21">
            <a:extLst>
              <a:ext uri="{FF2B5EF4-FFF2-40B4-BE49-F238E27FC236}">
                <a16:creationId xmlns:a16="http://schemas.microsoft.com/office/drawing/2014/main" id="{04F65CF5-93A2-4BFA-8529-BA4A1F598DC1}"/>
              </a:ext>
            </a:extLst>
          </p:cNvPr>
          <p:cNvSpPr/>
          <p:nvPr/>
        </p:nvSpPr>
        <p:spPr bwMode="gray">
          <a:xfrm>
            <a:off x="495300" y="4468889"/>
            <a:ext cx="5486400" cy="1954606"/>
          </a:xfrm>
          <a:prstGeom prst="rect">
            <a:avLst/>
          </a:prstGeom>
          <a:solidFill>
            <a:schemeClr val="bg1">
              <a:lumMod val="95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171450" marR="0" indent="-171450" defTabSz="990564" rtl="0" eaLnBrk="1" fontAlgn="auto" latinLnBrk="0" hangingPunct="1">
              <a:lnSpc>
                <a:spcPct val="100000"/>
              </a:lnSpc>
              <a:spcBef>
                <a:spcPts val="600"/>
              </a:spcBef>
              <a:spcAft>
                <a:spcPts val="0"/>
              </a:spcAft>
              <a:buClrTx/>
              <a:buSzPct val="100000"/>
              <a:buFont typeface="Arial" panose="020B0604020202020204" pitchFamily="34" charset="0"/>
              <a:buChar char="•"/>
              <a:tabLst/>
            </a:pPr>
            <a:r>
              <a:rPr kumimoji="1" lang="en-US" sz="1200">
                <a:solidFill>
                  <a:prstClr val="black"/>
                </a:solidFill>
                <a:latin typeface="Arial" panose="020B0604020202020204" pitchFamily="34" charset="0"/>
                <a:cs typeface="Arial" panose="020B0604020202020204" pitchFamily="34" charset="0"/>
              </a:rPr>
              <a:t>Order matching is done continuously, i.e., </a:t>
            </a:r>
            <a:r>
              <a:rPr kumimoji="1" lang="en-US" sz="1200" b="1">
                <a:solidFill>
                  <a:prstClr val="black"/>
                </a:solidFill>
                <a:latin typeface="Arial" panose="020B0604020202020204" pitchFamily="34" charset="0"/>
                <a:cs typeface="Arial" panose="020B0604020202020204" pitchFamily="34" charset="0"/>
              </a:rPr>
              <a:t>Any new buy/ sell order changes the best buy and sell bid</a:t>
            </a:r>
          </a:p>
          <a:p>
            <a:pPr marL="171450" marR="0" indent="-171450" defTabSz="990564" rtl="0" eaLnBrk="1" fontAlgn="auto" latinLnBrk="0" hangingPunct="1">
              <a:lnSpc>
                <a:spcPct val="100000"/>
              </a:lnSpc>
              <a:spcBef>
                <a:spcPts val="600"/>
              </a:spcBef>
              <a:spcAft>
                <a:spcPts val="0"/>
              </a:spcAft>
              <a:buClrTx/>
              <a:buSzPct val="100000"/>
              <a:buFont typeface="Arial" panose="020B0604020202020204" pitchFamily="34" charset="0"/>
              <a:buChar char="•"/>
              <a:tabLst/>
            </a:pPr>
            <a:r>
              <a:rPr kumimoji="1" lang="en-US" sz="1200">
                <a:solidFill>
                  <a:prstClr val="black"/>
                </a:solidFill>
                <a:latin typeface="Arial" panose="020B0604020202020204" pitchFamily="34" charset="0"/>
                <a:cs typeface="Arial" panose="020B0604020202020204" pitchFamily="34" charset="0"/>
              </a:rPr>
              <a:t>Orders are matched based on price and time priority. </a:t>
            </a:r>
            <a:r>
              <a:rPr kumimoji="1" lang="en-US" sz="1200" b="1">
                <a:solidFill>
                  <a:prstClr val="black"/>
                </a:solidFill>
                <a:latin typeface="Arial" panose="020B0604020202020204" pitchFamily="34" charset="0"/>
                <a:cs typeface="Arial" panose="020B0604020202020204" pitchFamily="34" charset="0"/>
              </a:rPr>
              <a:t>In case of multiple orders at same price, orders are prioritized based on bid time</a:t>
            </a:r>
          </a:p>
          <a:p>
            <a:pPr marL="171450" marR="0" indent="-171450" defTabSz="990564" rtl="0" eaLnBrk="1" fontAlgn="auto" latinLnBrk="0" hangingPunct="1">
              <a:lnSpc>
                <a:spcPct val="100000"/>
              </a:lnSpc>
              <a:spcBef>
                <a:spcPts val="600"/>
              </a:spcBef>
              <a:spcAft>
                <a:spcPts val="0"/>
              </a:spcAft>
              <a:buClrTx/>
              <a:buSzPct val="100000"/>
              <a:buFont typeface="Arial" panose="020B0604020202020204" pitchFamily="34" charset="0"/>
              <a:buChar char="•"/>
              <a:tabLst/>
            </a:pPr>
            <a:r>
              <a:rPr kumimoji="1" lang="en-US" sz="1200">
                <a:solidFill>
                  <a:prstClr val="black"/>
                </a:solidFill>
                <a:latin typeface="Arial" panose="020B0604020202020204" pitchFamily="34" charset="0"/>
                <a:cs typeface="Arial" panose="020B0604020202020204" pitchFamily="34" charset="0"/>
              </a:rPr>
              <a:t>Best buy bid is the </a:t>
            </a:r>
            <a:r>
              <a:rPr kumimoji="1" lang="en-US" sz="1200" b="1">
                <a:solidFill>
                  <a:prstClr val="black"/>
                </a:solidFill>
                <a:latin typeface="Arial" panose="020B0604020202020204" pitchFamily="34" charset="0"/>
                <a:cs typeface="Arial" panose="020B0604020202020204" pitchFamily="34" charset="0"/>
              </a:rPr>
              <a:t>highest priced buy bid </a:t>
            </a:r>
            <a:r>
              <a:rPr kumimoji="1" lang="en-US" sz="1200">
                <a:solidFill>
                  <a:prstClr val="black"/>
                </a:solidFill>
                <a:latin typeface="Arial" panose="020B0604020202020204" pitchFamily="34" charset="0"/>
                <a:cs typeface="Arial" panose="020B0604020202020204" pitchFamily="34" charset="0"/>
              </a:rPr>
              <a:t>while the best sell bid is the </a:t>
            </a:r>
            <a:r>
              <a:rPr kumimoji="1" lang="en-US" sz="1200" b="1">
                <a:solidFill>
                  <a:prstClr val="black"/>
                </a:solidFill>
                <a:latin typeface="Arial" panose="020B0604020202020204" pitchFamily="34" charset="0"/>
                <a:cs typeface="Arial" panose="020B0604020202020204" pitchFamily="34" charset="0"/>
              </a:rPr>
              <a:t>lowest priced sell bid</a:t>
            </a:r>
          </a:p>
          <a:p>
            <a:pPr marL="171450" marR="0" indent="-171450" defTabSz="990564" rtl="0" eaLnBrk="1" fontAlgn="auto" latinLnBrk="0" hangingPunct="1">
              <a:lnSpc>
                <a:spcPct val="100000"/>
              </a:lnSpc>
              <a:spcBef>
                <a:spcPts val="600"/>
              </a:spcBef>
              <a:spcAft>
                <a:spcPts val="0"/>
              </a:spcAft>
              <a:buClrTx/>
              <a:buSzPct val="100000"/>
              <a:buFont typeface="Arial" panose="020B0604020202020204" pitchFamily="34" charset="0"/>
              <a:buChar char="•"/>
              <a:tabLst/>
            </a:pPr>
            <a:r>
              <a:rPr kumimoji="1" lang="en-US" sz="1200">
                <a:solidFill>
                  <a:prstClr val="black"/>
                </a:solidFill>
                <a:latin typeface="Arial" panose="020B0604020202020204" pitchFamily="34" charset="0"/>
                <a:cs typeface="Arial" panose="020B0604020202020204" pitchFamily="34" charset="0"/>
              </a:rPr>
              <a:t>Orders can be matched partially </a:t>
            </a:r>
          </a:p>
        </p:txBody>
      </p:sp>
      <p:sp>
        <p:nvSpPr>
          <p:cNvPr id="23" name="TextBox 22">
            <a:extLst>
              <a:ext uri="{FF2B5EF4-FFF2-40B4-BE49-F238E27FC236}">
                <a16:creationId xmlns:a16="http://schemas.microsoft.com/office/drawing/2014/main" id="{D94ABE34-8BB9-3A9D-2852-99EE7FDCC1F7}"/>
              </a:ext>
            </a:extLst>
          </p:cNvPr>
          <p:cNvSpPr txBox="1"/>
          <p:nvPr/>
        </p:nvSpPr>
        <p:spPr>
          <a:xfrm>
            <a:off x="6215221" y="4159949"/>
            <a:ext cx="4368776" cy="276999"/>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Type of orders</a:t>
            </a:r>
          </a:p>
        </p:txBody>
      </p:sp>
      <p:sp>
        <p:nvSpPr>
          <p:cNvPr id="24" name="Rectangle 23">
            <a:extLst>
              <a:ext uri="{FF2B5EF4-FFF2-40B4-BE49-F238E27FC236}">
                <a16:creationId xmlns:a16="http://schemas.microsoft.com/office/drawing/2014/main" id="{EC47F536-5631-6F9E-47DF-FDA5CDA40A17}"/>
              </a:ext>
            </a:extLst>
          </p:cNvPr>
          <p:cNvSpPr/>
          <p:nvPr/>
        </p:nvSpPr>
        <p:spPr bwMode="gray">
          <a:xfrm>
            <a:off x="6215221" y="4481854"/>
            <a:ext cx="5475129" cy="1918946"/>
          </a:xfrm>
          <a:prstGeom prst="rect">
            <a:avLst/>
          </a:prstGeom>
          <a:solidFill>
            <a:schemeClr val="bg1">
              <a:lumMod val="95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R="0" defTabSz="990564" rtl="0" eaLnBrk="1" fontAlgn="auto" latinLnBrk="0" hangingPunct="1">
              <a:lnSpc>
                <a:spcPct val="100000"/>
              </a:lnSpc>
              <a:spcBef>
                <a:spcPts val="600"/>
              </a:spcBef>
              <a:spcAft>
                <a:spcPts val="0"/>
              </a:spcAft>
              <a:buClrTx/>
              <a:buSzPct val="100000"/>
              <a:tabLst/>
            </a:pPr>
            <a:r>
              <a:rPr kumimoji="1" lang="en-US" sz="1200" b="1" i="1">
                <a:solidFill>
                  <a:prstClr val="black"/>
                </a:solidFill>
                <a:latin typeface="Arial" panose="020B0604020202020204" pitchFamily="34" charset="0"/>
                <a:cs typeface="Arial" panose="020B0604020202020204" pitchFamily="34" charset="0"/>
              </a:rPr>
              <a:t>Timing constraints</a:t>
            </a:r>
          </a:p>
          <a:p>
            <a:pPr marL="171450" marR="0" indent="-171450" defTabSz="990564" rtl="0" eaLnBrk="1" fontAlgn="auto" latinLnBrk="0" hangingPunct="1">
              <a:lnSpc>
                <a:spcPct val="100000"/>
              </a:lnSpc>
              <a:spcBef>
                <a:spcPts val="600"/>
              </a:spcBef>
              <a:spcAft>
                <a:spcPts val="0"/>
              </a:spcAft>
              <a:buClrTx/>
              <a:buSzPct val="100000"/>
              <a:buFont typeface="Arial" panose="020B0604020202020204" pitchFamily="34" charset="0"/>
              <a:buChar char="•"/>
              <a:tabLst/>
            </a:pPr>
            <a:r>
              <a:rPr kumimoji="1" lang="en-US" sz="1200" b="1">
                <a:solidFill>
                  <a:prstClr val="black"/>
                </a:solidFill>
                <a:latin typeface="Arial" panose="020B0604020202020204" pitchFamily="34" charset="0"/>
                <a:cs typeface="Arial" panose="020B0604020202020204" pitchFamily="34" charset="0"/>
              </a:rPr>
              <a:t>Rest of day (Day): </a:t>
            </a:r>
            <a:r>
              <a:rPr kumimoji="1" lang="en-US" sz="1200">
                <a:solidFill>
                  <a:prstClr val="black"/>
                </a:solidFill>
                <a:latin typeface="Arial" panose="020B0604020202020204" pitchFamily="34" charset="0"/>
                <a:cs typeface="Arial" panose="020B0604020202020204" pitchFamily="34" charset="0"/>
              </a:rPr>
              <a:t>Order is valid till end of trading hours of the trading day</a:t>
            </a:r>
          </a:p>
          <a:p>
            <a:pPr marL="171450" marR="0" indent="-171450" defTabSz="990564" rtl="0" eaLnBrk="1" fontAlgn="auto" latinLnBrk="0" hangingPunct="1">
              <a:lnSpc>
                <a:spcPct val="100000"/>
              </a:lnSpc>
              <a:spcBef>
                <a:spcPts val="600"/>
              </a:spcBef>
              <a:spcAft>
                <a:spcPts val="0"/>
              </a:spcAft>
              <a:buClrTx/>
              <a:buSzPct val="100000"/>
              <a:buFont typeface="Arial" panose="020B0604020202020204" pitchFamily="34" charset="0"/>
              <a:buChar char="•"/>
              <a:tabLst/>
            </a:pPr>
            <a:r>
              <a:rPr kumimoji="1" lang="en-US" sz="1200" b="1">
                <a:solidFill>
                  <a:prstClr val="black"/>
                </a:solidFill>
                <a:latin typeface="Arial" panose="020B0604020202020204" pitchFamily="34" charset="0"/>
                <a:cs typeface="Arial" panose="020B0604020202020204" pitchFamily="34" charset="0"/>
              </a:rPr>
              <a:t>Immediate or cancel (IOC): </a:t>
            </a:r>
            <a:r>
              <a:rPr kumimoji="1" lang="en-US" sz="1200">
                <a:solidFill>
                  <a:prstClr val="black"/>
                </a:solidFill>
                <a:latin typeface="Arial" panose="020B0604020202020204" pitchFamily="34" charset="0"/>
                <a:cs typeface="Arial" panose="020B0604020202020204" pitchFamily="34" charset="0"/>
              </a:rPr>
              <a:t>Order will not go in pending state and will be cancelled immediately if not matched</a:t>
            </a:r>
          </a:p>
          <a:p>
            <a:pPr marL="171450" marR="0" indent="-171450" defTabSz="990564" rtl="0" eaLnBrk="1" fontAlgn="auto" latinLnBrk="0" hangingPunct="1">
              <a:lnSpc>
                <a:spcPct val="100000"/>
              </a:lnSpc>
              <a:spcBef>
                <a:spcPts val="600"/>
              </a:spcBef>
              <a:spcAft>
                <a:spcPts val="0"/>
              </a:spcAft>
              <a:buClrTx/>
              <a:buSzPct val="100000"/>
              <a:buFont typeface="Arial" panose="020B0604020202020204" pitchFamily="34" charset="0"/>
              <a:buChar char="•"/>
              <a:tabLst/>
            </a:pPr>
            <a:r>
              <a:rPr kumimoji="1" lang="en-US" sz="1200" b="1">
                <a:solidFill>
                  <a:prstClr val="black"/>
                </a:solidFill>
                <a:latin typeface="Arial" panose="020B0604020202020204" pitchFamily="34" charset="0"/>
                <a:cs typeface="Arial" panose="020B0604020202020204" pitchFamily="34" charset="0"/>
              </a:rPr>
              <a:t>End of Session (EOS): </a:t>
            </a:r>
            <a:r>
              <a:rPr kumimoji="1" lang="en-US" sz="1200">
                <a:solidFill>
                  <a:prstClr val="black"/>
                </a:solidFill>
                <a:latin typeface="Arial" panose="020B0604020202020204" pitchFamily="34" charset="0"/>
                <a:cs typeface="Arial" panose="020B0604020202020204" pitchFamily="34" charset="0"/>
              </a:rPr>
              <a:t>Order will get cancelled post the specific trading session is closed</a:t>
            </a:r>
          </a:p>
          <a:p>
            <a:pPr marR="0" defTabSz="990564" rtl="0" eaLnBrk="1" fontAlgn="auto" latinLnBrk="0" hangingPunct="1">
              <a:lnSpc>
                <a:spcPct val="100000"/>
              </a:lnSpc>
              <a:spcBef>
                <a:spcPts val="600"/>
              </a:spcBef>
              <a:spcAft>
                <a:spcPts val="0"/>
              </a:spcAft>
              <a:buClrTx/>
              <a:buSzPct val="100000"/>
              <a:tabLst/>
            </a:pPr>
            <a:r>
              <a:rPr kumimoji="1" lang="en-US" sz="1200" b="1" i="1">
                <a:solidFill>
                  <a:prstClr val="black"/>
                </a:solidFill>
                <a:latin typeface="Arial" panose="020B0604020202020204" pitchFamily="34" charset="0"/>
                <a:cs typeface="Arial" panose="020B0604020202020204" pitchFamily="34" charset="0"/>
              </a:rPr>
              <a:t>Execution constraints</a:t>
            </a:r>
          </a:p>
          <a:p>
            <a:pPr marL="171450" marR="0" indent="-171450" defTabSz="990564" rtl="0" eaLnBrk="1" fontAlgn="auto" latinLnBrk="0" hangingPunct="1">
              <a:lnSpc>
                <a:spcPct val="100000"/>
              </a:lnSpc>
              <a:spcBef>
                <a:spcPts val="600"/>
              </a:spcBef>
              <a:spcAft>
                <a:spcPts val="0"/>
              </a:spcAft>
              <a:buClrTx/>
              <a:buSzPct val="100000"/>
              <a:buFont typeface="Arial" panose="020B0604020202020204" pitchFamily="34" charset="0"/>
              <a:buChar char="•"/>
              <a:tabLst/>
            </a:pPr>
            <a:r>
              <a:rPr kumimoji="1" lang="en-US" sz="1200" b="1">
                <a:solidFill>
                  <a:prstClr val="black"/>
                </a:solidFill>
                <a:latin typeface="Arial" panose="020B0604020202020204" pitchFamily="34" charset="0"/>
                <a:cs typeface="Arial" panose="020B0604020202020204" pitchFamily="34" charset="0"/>
              </a:rPr>
              <a:t>Fill or kill (FoK): </a:t>
            </a:r>
            <a:r>
              <a:rPr kumimoji="1" lang="en-US" sz="1200">
                <a:solidFill>
                  <a:prstClr val="black"/>
                </a:solidFill>
                <a:latin typeface="Arial" panose="020B0604020202020204" pitchFamily="34" charset="0"/>
                <a:cs typeface="Arial" panose="020B0604020202020204" pitchFamily="34" charset="0"/>
              </a:rPr>
              <a:t>Partial order matching is not allowed</a:t>
            </a:r>
          </a:p>
        </p:txBody>
      </p:sp>
      <p:grpSp>
        <p:nvGrpSpPr>
          <p:cNvPr id="41" name="Group 40">
            <a:extLst>
              <a:ext uri="{FF2B5EF4-FFF2-40B4-BE49-F238E27FC236}">
                <a16:creationId xmlns:a16="http://schemas.microsoft.com/office/drawing/2014/main" id="{E1D2DCF2-88C9-5AA5-9AE0-C70B9BC4121C}"/>
              </a:ext>
            </a:extLst>
          </p:cNvPr>
          <p:cNvGrpSpPr/>
          <p:nvPr/>
        </p:nvGrpSpPr>
        <p:grpSpPr>
          <a:xfrm>
            <a:off x="616431" y="1454231"/>
            <a:ext cx="1729393" cy="1073074"/>
            <a:chOff x="616431" y="1816094"/>
            <a:chExt cx="1729393" cy="1073074"/>
          </a:xfrm>
        </p:grpSpPr>
        <p:sp>
          <p:nvSpPr>
            <p:cNvPr id="25" name="Rectangle 24">
              <a:extLst>
                <a:ext uri="{FF2B5EF4-FFF2-40B4-BE49-F238E27FC236}">
                  <a16:creationId xmlns:a16="http://schemas.microsoft.com/office/drawing/2014/main" id="{88253ED3-695D-5E7A-E6F1-283240398B96}"/>
                </a:ext>
              </a:extLst>
            </p:cNvPr>
            <p:cNvSpPr/>
            <p:nvPr/>
          </p:nvSpPr>
          <p:spPr bwMode="gray">
            <a:xfrm>
              <a:off x="616431" y="2431968"/>
              <a:ext cx="1729393" cy="457200"/>
            </a:xfrm>
            <a:prstGeom prst="rect">
              <a:avLst/>
            </a:prstGeom>
            <a:solidFill>
              <a:schemeClr val="accent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2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Buy/ Sell bids placed</a:t>
              </a:r>
            </a:p>
          </p:txBody>
        </p:sp>
        <p:pic>
          <p:nvPicPr>
            <p:cNvPr id="26" name="Picture 25" descr="A hand holding a sign with a dollar sign&#10;&#10;AI-generated content may be incorrect.">
              <a:extLst>
                <a:ext uri="{FF2B5EF4-FFF2-40B4-BE49-F238E27FC236}">
                  <a16:creationId xmlns:a16="http://schemas.microsoft.com/office/drawing/2014/main" id="{C410400C-BF23-863A-A5D1-B51E4AB9F53B}"/>
                </a:ext>
              </a:extLst>
            </p:cNvPr>
            <p:cNvPicPr>
              <a:picLocks noChangeAspect="1"/>
            </p:cNvPicPr>
            <p:nvPr/>
          </p:nvPicPr>
          <p:blipFill>
            <a:blip r:embed="rId6"/>
            <a:stretch>
              <a:fillRect/>
            </a:stretch>
          </p:blipFill>
          <p:spPr>
            <a:xfrm>
              <a:off x="1206807" y="1816094"/>
              <a:ext cx="548640" cy="548640"/>
            </a:xfrm>
            <a:prstGeom prst="rect">
              <a:avLst/>
            </a:prstGeom>
          </p:spPr>
        </p:pic>
      </p:grpSp>
      <p:grpSp>
        <p:nvGrpSpPr>
          <p:cNvPr id="40" name="Group 39">
            <a:extLst>
              <a:ext uri="{FF2B5EF4-FFF2-40B4-BE49-F238E27FC236}">
                <a16:creationId xmlns:a16="http://schemas.microsoft.com/office/drawing/2014/main" id="{DFB32545-5B12-AFA6-C608-1001E3E4A042}"/>
              </a:ext>
            </a:extLst>
          </p:cNvPr>
          <p:cNvGrpSpPr/>
          <p:nvPr/>
        </p:nvGrpSpPr>
        <p:grpSpPr>
          <a:xfrm>
            <a:off x="5238493" y="1454231"/>
            <a:ext cx="1728000" cy="1073074"/>
            <a:chOff x="5442208" y="1605885"/>
            <a:chExt cx="1728000" cy="1073074"/>
          </a:xfrm>
        </p:grpSpPr>
        <p:sp>
          <p:nvSpPr>
            <p:cNvPr id="28" name="Rectangle 27">
              <a:extLst>
                <a:ext uri="{FF2B5EF4-FFF2-40B4-BE49-F238E27FC236}">
                  <a16:creationId xmlns:a16="http://schemas.microsoft.com/office/drawing/2014/main" id="{C2167B86-0C4C-AEDC-A48D-BFDBF6E5421B}"/>
                </a:ext>
              </a:extLst>
            </p:cNvPr>
            <p:cNvSpPr/>
            <p:nvPr/>
          </p:nvSpPr>
          <p:spPr bwMode="gray">
            <a:xfrm>
              <a:off x="5442208" y="2221759"/>
              <a:ext cx="1728000" cy="457200"/>
            </a:xfrm>
            <a:prstGeom prst="rect">
              <a:avLst/>
            </a:prstGeom>
            <a:solidFill>
              <a:schemeClr val="accent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2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Best buy &amp; sell bid</a:t>
              </a:r>
            </a:p>
          </p:txBody>
        </p:sp>
        <p:pic>
          <p:nvPicPr>
            <p:cNvPr id="29" name="Picture 28" descr="A yellow star with blue ribbons&#10;&#10;AI-generated content may be incorrect.">
              <a:extLst>
                <a:ext uri="{FF2B5EF4-FFF2-40B4-BE49-F238E27FC236}">
                  <a16:creationId xmlns:a16="http://schemas.microsoft.com/office/drawing/2014/main" id="{D6BDB6D3-4808-C0A3-8317-B889680130DC}"/>
                </a:ext>
              </a:extLst>
            </p:cNvPr>
            <p:cNvPicPr>
              <a:picLocks noChangeAspect="1"/>
            </p:cNvPicPr>
            <p:nvPr/>
          </p:nvPicPr>
          <p:blipFill>
            <a:blip r:embed="rId7"/>
            <a:stretch>
              <a:fillRect/>
            </a:stretch>
          </p:blipFill>
          <p:spPr>
            <a:xfrm>
              <a:off x="6031888" y="1605885"/>
              <a:ext cx="548640" cy="548640"/>
            </a:xfrm>
            <a:prstGeom prst="rect">
              <a:avLst/>
            </a:prstGeom>
          </p:spPr>
        </p:pic>
      </p:grpSp>
      <p:grpSp>
        <p:nvGrpSpPr>
          <p:cNvPr id="42" name="Group 41">
            <a:extLst>
              <a:ext uri="{FF2B5EF4-FFF2-40B4-BE49-F238E27FC236}">
                <a16:creationId xmlns:a16="http://schemas.microsoft.com/office/drawing/2014/main" id="{73A2C334-2FF4-18F5-0A41-8FF469F5ADA6}"/>
              </a:ext>
            </a:extLst>
          </p:cNvPr>
          <p:cNvGrpSpPr/>
          <p:nvPr/>
        </p:nvGrpSpPr>
        <p:grpSpPr>
          <a:xfrm>
            <a:off x="9859163" y="1454231"/>
            <a:ext cx="1728000" cy="1073074"/>
            <a:chOff x="9859163" y="1612544"/>
            <a:chExt cx="1728000" cy="1073074"/>
          </a:xfrm>
        </p:grpSpPr>
        <p:sp>
          <p:nvSpPr>
            <p:cNvPr id="31" name="Rectangle 30">
              <a:extLst>
                <a:ext uri="{FF2B5EF4-FFF2-40B4-BE49-F238E27FC236}">
                  <a16:creationId xmlns:a16="http://schemas.microsoft.com/office/drawing/2014/main" id="{0308E26E-DE79-03A8-9FCE-3FCE1C74D5D9}"/>
                </a:ext>
              </a:extLst>
            </p:cNvPr>
            <p:cNvSpPr/>
            <p:nvPr/>
          </p:nvSpPr>
          <p:spPr bwMode="gray">
            <a:xfrm>
              <a:off x="9859163" y="2228418"/>
              <a:ext cx="1728000" cy="457200"/>
            </a:xfrm>
            <a:prstGeom prst="rect">
              <a:avLst/>
            </a:prstGeom>
            <a:solidFill>
              <a:schemeClr val="accent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2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Trade execution</a:t>
              </a:r>
            </a:p>
          </p:txBody>
        </p:sp>
        <p:pic>
          <p:nvPicPr>
            <p:cNvPr id="32" name="Picture 31" descr="A handshake with arrows pointing to the left&#10;&#10;AI-generated content may be incorrect.">
              <a:extLst>
                <a:ext uri="{FF2B5EF4-FFF2-40B4-BE49-F238E27FC236}">
                  <a16:creationId xmlns:a16="http://schemas.microsoft.com/office/drawing/2014/main" id="{9244BEE8-6AE5-D3E8-ABBF-96DE18532379}"/>
                </a:ext>
              </a:extLst>
            </p:cNvPr>
            <p:cNvPicPr>
              <a:picLocks noChangeAspect="1"/>
            </p:cNvPicPr>
            <p:nvPr/>
          </p:nvPicPr>
          <p:blipFill>
            <a:blip r:embed="rId8"/>
            <a:stretch>
              <a:fillRect/>
            </a:stretch>
          </p:blipFill>
          <p:spPr>
            <a:xfrm>
              <a:off x="10448843" y="1612544"/>
              <a:ext cx="548640" cy="548640"/>
            </a:xfrm>
            <a:prstGeom prst="rect">
              <a:avLst/>
            </a:prstGeom>
          </p:spPr>
        </p:pic>
      </p:grpSp>
      <p:sp>
        <p:nvSpPr>
          <p:cNvPr id="33" name="Speech Bubble: Rectangle 32">
            <a:extLst>
              <a:ext uri="{FF2B5EF4-FFF2-40B4-BE49-F238E27FC236}">
                <a16:creationId xmlns:a16="http://schemas.microsoft.com/office/drawing/2014/main" id="{688F0B86-57A8-DCF0-69F2-928CAF2358B9}"/>
              </a:ext>
            </a:extLst>
          </p:cNvPr>
          <p:cNvSpPr/>
          <p:nvPr/>
        </p:nvSpPr>
        <p:spPr bwMode="gray">
          <a:xfrm>
            <a:off x="6888951" y="1065431"/>
            <a:ext cx="3010688" cy="606999"/>
          </a:xfrm>
          <a:prstGeom prst="wedgeRectCallout">
            <a:avLst>
              <a:gd name="adj1" fmla="val -60413"/>
              <a:gd name="adj2" fmla="val -2098"/>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90564" fontAlgn="auto">
              <a:spcBef>
                <a:spcPts val="0"/>
              </a:spcBef>
              <a:spcAft>
                <a:spcPts val="0"/>
              </a:spcAft>
              <a:buSzPct val="100000"/>
            </a:pPr>
            <a:r>
              <a:rPr kumimoji="1" lang="en-US" sz="900" b="1">
                <a:solidFill>
                  <a:prstClr val="black"/>
                </a:solidFill>
                <a:latin typeface="Arial" panose="020B0604020202020204" pitchFamily="34" charset="0"/>
                <a:cs typeface="Arial" panose="020B0604020202020204" pitchFamily="34" charset="0"/>
              </a:rPr>
              <a:t>Buy and sell bids are arranged based on best buy and sell bids</a:t>
            </a:r>
          </a:p>
          <a:p>
            <a:pPr marL="171450" indent="-171450" defTabSz="990564" fontAlgn="auto">
              <a:spcBef>
                <a:spcPts val="0"/>
              </a:spcBef>
              <a:spcAft>
                <a:spcPts val="0"/>
              </a:spcAft>
              <a:buSzPct val="100000"/>
              <a:buFont typeface="Arial" panose="020B0604020202020204" pitchFamily="34" charset="0"/>
              <a:buChar char="•"/>
            </a:pPr>
            <a:r>
              <a:rPr kumimoji="1" lang="en-US" sz="900">
                <a:solidFill>
                  <a:prstClr val="black"/>
                </a:solidFill>
                <a:latin typeface="Arial" panose="020B0604020202020204" pitchFamily="34" charset="0"/>
                <a:cs typeface="Arial" panose="020B0604020202020204" pitchFamily="34" charset="0"/>
              </a:rPr>
              <a:t>Best buy bid is the </a:t>
            </a:r>
            <a:r>
              <a:rPr kumimoji="1" lang="en-US" sz="900" b="1">
                <a:solidFill>
                  <a:prstClr val="black"/>
                </a:solidFill>
                <a:latin typeface="Arial" panose="020B0604020202020204" pitchFamily="34" charset="0"/>
                <a:cs typeface="Arial" panose="020B0604020202020204" pitchFamily="34" charset="0"/>
              </a:rPr>
              <a:t>highest priced buy bid</a:t>
            </a:r>
          </a:p>
          <a:p>
            <a:pPr marL="171450" indent="-171450" defTabSz="990564" fontAlgn="auto">
              <a:spcBef>
                <a:spcPts val="0"/>
              </a:spcBef>
              <a:spcAft>
                <a:spcPts val="0"/>
              </a:spcAft>
              <a:buSzPct val="100000"/>
              <a:buFont typeface="Arial" panose="020B0604020202020204" pitchFamily="34" charset="0"/>
              <a:buChar char="•"/>
            </a:pPr>
            <a:r>
              <a:rPr kumimoji="1" lang="en-US" sz="900">
                <a:solidFill>
                  <a:prstClr val="black"/>
                </a:solidFill>
                <a:latin typeface="Arial" panose="020B0604020202020204" pitchFamily="34" charset="0"/>
                <a:cs typeface="Arial" panose="020B0604020202020204" pitchFamily="34" charset="0"/>
              </a:rPr>
              <a:t>Best sell bid is the </a:t>
            </a:r>
            <a:r>
              <a:rPr kumimoji="1" lang="en-US" sz="900" b="1">
                <a:solidFill>
                  <a:prstClr val="black"/>
                </a:solidFill>
                <a:latin typeface="Arial" panose="020B0604020202020204" pitchFamily="34" charset="0"/>
                <a:cs typeface="Arial" panose="020B0604020202020204" pitchFamily="34" charset="0"/>
              </a:rPr>
              <a:t>lowest priced sell bid</a:t>
            </a:r>
          </a:p>
        </p:txBody>
      </p:sp>
      <p:sp>
        <p:nvSpPr>
          <p:cNvPr id="34" name="Speech Bubble: Rectangle 33">
            <a:extLst>
              <a:ext uri="{FF2B5EF4-FFF2-40B4-BE49-F238E27FC236}">
                <a16:creationId xmlns:a16="http://schemas.microsoft.com/office/drawing/2014/main" id="{B811C770-91EA-F400-F2EF-33891992A9CF}"/>
              </a:ext>
            </a:extLst>
          </p:cNvPr>
          <p:cNvSpPr/>
          <p:nvPr/>
        </p:nvSpPr>
        <p:spPr bwMode="gray">
          <a:xfrm>
            <a:off x="418006" y="3298278"/>
            <a:ext cx="1956433" cy="514629"/>
          </a:xfrm>
          <a:prstGeom prst="wedgeRectCallout">
            <a:avLst>
              <a:gd name="adj1" fmla="val 61518"/>
              <a:gd name="adj2" fmla="val -71264"/>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90564" fontAlgn="auto">
              <a:spcBef>
                <a:spcPts val="0"/>
              </a:spcBef>
              <a:spcAft>
                <a:spcPts val="0"/>
              </a:spcAft>
              <a:buSzPct val="100000"/>
            </a:pPr>
            <a:r>
              <a:rPr kumimoji="1" lang="en-US" sz="900">
                <a:solidFill>
                  <a:prstClr val="black"/>
                </a:solidFill>
                <a:latin typeface="+mn-lt"/>
                <a:cs typeface="+mn-cs"/>
              </a:rPr>
              <a:t>Whenever a new buy or sell bid is placed, </a:t>
            </a:r>
            <a:r>
              <a:rPr kumimoji="1" lang="en-US" sz="900" b="1">
                <a:solidFill>
                  <a:prstClr val="black"/>
                </a:solidFill>
                <a:latin typeface="+mn-lt"/>
                <a:cs typeface="+mn-cs"/>
              </a:rPr>
              <a:t>best buy and sell bids are recalculated</a:t>
            </a:r>
          </a:p>
        </p:txBody>
      </p:sp>
      <p:sp>
        <p:nvSpPr>
          <p:cNvPr id="35" name="Speech Bubble: Rectangle 34">
            <a:extLst>
              <a:ext uri="{FF2B5EF4-FFF2-40B4-BE49-F238E27FC236}">
                <a16:creationId xmlns:a16="http://schemas.microsoft.com/office/drawing/2014/main" id="{2855C878-D50D-6F8D-1722-CC8A3664A09F}"/>
              </a:ext>
            </a:extLst>
          </p:cNvPr>
          <p:cNvSpPr/>
          <p:nvPr/>
        </p:nvSpPr>
        <p:spPr bwMode="gray">
          <a:xfrm>
            <a:off x="2723701" y="1295023"/>
            <a:ext cx="1956433" cy="362939"/>
          </a:xfrm>
          <a:prstGeom prst="wedgeRectCallout">
            <a:avLst>
              <a:gd name="adj1" fmla="val -45312"/>
              <a:gd name="adj2" fmla="val 111795"/>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90564" fontAlgn="auto">
              <a:spcBef>
                <a:spcPts val="0"/>
              </a:spcBef>
              <a:spcAft>
                <a:spcPts val="0"/>
              </a:spcAft>
              <a:buSzPct val="100000"/>
            </a:pPr>
            <a:r>
              <a:rPr kumimoji="1" lang="en-US" sz="900" b="1">
                <a:solidFill>
                  <a:prstClr val="black"/>
                </a:solidFill>
                <a:latin typeface="Arial" panose="020B0604020202020204" pitchFamily="34" charset="0"/>
                <a:cs typeface="Arial" panose="020B0604020202020204" pitchFamily="34" charset="0"/>
              </a:rPr>
              <a:t>Top 5 buy and sell bids are displayed to all the participants</a:t>
            </a:r>
          </a:p>
        </p:txBody>
      </p:sp>
      <p:graphicFrame>
        <p:nvGraphicFramePr>
          <p:cNvPr id="36" name="Table 35">
            <a:extLst>
              <a:ext uri="{FF2B5EF4-FFF2-40B4-BE49-F238E27FC236}">
                <a16:creationId xmlns:a16="http://schemas.microsoft.com/office/drawing/2014/main" id="{29C82626-CB42-01E5-7EE0-8A7E5CA4EEDB}"/>
              </a:ext>
            </a:extLst>
          </p:cNvPr>
          <p:cNvGraphicFramePr>
            <a:graphicFrameLocks noGrp="1"/>
          </p:cNvGraphicFramePr>
          <p:nvPr>
            <p:extLst>
              <p:ext uri="{D42A27DB-BD31-4B8C-83A1-F6EECF244321}">
                <p14:modId xmlns:p14="http://schemas.microsoft.com/office/powerpoint/2010/main" val="524668794"/>
              </p:ext>
            </p:extLst>
          </p:nvPr>
        </p:nvGraphicFramePr>
        <p:xfrm>
          <a:off x="7274734" y="3069573"/>
          <a:ext cx="1998000" cy="878400"/>
        </p:xfrm>
        <a:graphic>
          <a:graphicData uri="http://schemas.openxmlformats.org/drawingml/2006/table">
            <a:tbl>
              <a:tblPr firstRow="1" bandRow="1">
                <a:tableStyleId>{5C22544A-7EE6-4342-B048-85BDC9FD1C3A}</a:tableStyleId>
              </a:tblPr>
              <a:tblGrid>
                <a:gridCol w="666000">
                  <a:extLst>
                    <a:ext uri="{9D8B030D-6E8A-4147-A177-3AD203B41FA5}">
                      <a16:colId xmlns:a16="http://schemas.microsoft.com/office/drawing/2014/main" val="641988673"/>
                    </a:ext>
                  </a:extLst>
                </a:gridCol>
                <a:gridCol w="666000">
                  <a:extLst>
                    <a:ext uri="{9D8B030D-6E8A-4147-A177-3AD203B41FA5}">
                      <a16:colId xmlns:a16="http://schemas.microsoft.com/office/drawing/2014/main" val="1236537845"/>
                    </a:ext>
                  </a:extLst>
                </a:gridCol>
                <a:gridCol w="666000">
                  <a:extLst>
                    <a:ext uri="{9D8B030D-6E8A-4147-A177-3AD203B41FA5}">
                      <a16:colId xmlns:a16="http://schemas.microsoft.com/office/drawing/2014/main" val="794775676"/>
                    </a:ext>
                  </a:extLst>
                </a:gridCol>
              </a:tblGrid>
              <a:tr h="175680">
                <a:tc gridSpan="3">
                  <a:txBody>
                    <a:bodyPr/>
                    <a:lstStyle/>
                    <a:p>
                      <a:pPr algn="ctr"/>
                      <a:r>
                        <a:rPr lang="en-US" sz="900"/>
                        <a:t>Buy bids</a:t>
                      </a:r>
                    </a:p>
                  </a:txBody>
                  <a:tcPr marL="45720" marR="4572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2543231757"/>
                  </a:ext>
                </a:extLst>
              </a:tr>
              <a:tr h="175680">
                <a:tc>
                  <a:txBody>
                    <a:bodyPr/>
                    <a:lstStyle/>
                    <a:p>
                      <a:r>
                        <a:rPr lang="en-US" sz="900" b="1">
                          <a:solidFill>
                            <a:schemeClr val="bg1"/>
                          </a:solidFill>
                        </a:rPr>
                        <a:t>Buyer</a:t>
                      </a:r>
                    </a:p>
                  </a:txBody>
                  <a:tcPr marL="45720" marR="45720" marT="0" marB="0">
                    <a:lnL w="6350" cap="flat" cmpd="sng" algn="ctr">
                      <a:solidFill>
                        <a:schemeClr val="accent5"/>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900" b="1">
                          <a:solidFill>
                            <a:schemeClr val="bg1"/>
                          </a:solidFill>
                        </a:rPr>
                        <a:t>Buy price</a:t>
                      </a:r>
                    </a:p>
                  </a:txBody>
                  <a:tcPr marL="45720" marR="45720" marT="0" marB="0">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900" b="1">
                          <a:solidFill>
                            <a:schemeClr val="bg1"/>
                          </a:solidFill>
                        </a:rPr>
                        <a:t>Buy qty.</a:t>
                      </a:r>
                    </a:p>
                  </a:txBody>
                  <a:tcPr marL="45720" marR="45720" marT="0" marB="0">
                    <a:lnR w="6350" cap="flat" cmpd="sng" algn="ctr">
                      <a:solidFill>
                        <a:schemeClr val="accent5"/>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3770173526"/>
                  </a:ext>
                </a:extLst>
              </a:tr>
              <a:tr h="17568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900" b="1"/>
                        <a:t>Buyer 3</a:t>
                      </a:r>
                    </a:p>
                  </a:txBody>
                  <a:tcPr marL="45720" marR="45720" marT="0" marB="0">
                    <a:lnL w="6350" cap="flat" cmpd="sng" algn="ctr">
                      <a:solidFill>
                        <a:schemeClr val="accent5"/>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900" b="1"/>
                        <a:t>3,300</a:t>
                      </a:r>
                    </a:p>
                  </a:txBody>
                  <a:tcPr marL="45720" marR="4572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900" b="1"/>
                        <a:t>300</a:t>
                      </a:r>
                    </a:p>
                  </a:txBody>
                  <a:tcPr marL="45720" marR="45720" marT="0" marB="0">
                    <a:lnL w="1270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658269380"/>
                  </a:ext>
                </a:extLst>
              </a:tr>
              <a:tr h="17568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900"/>
                        <a:t>Buyer 2</a:t>
                      </a:r>
                    </a:p>
                  </a:txBody>
                  <a:tcPr marL="45720" marR="45720" marT="0" marB="0">
                    <a:lnL w="6350" cap="flat" cmpd="sng" algn="ctr">
                      <a:solidFill>
                        <a:schemeClr val="accent5"/>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900"/>
                        <a:t>3,200</a:t>
                      </a:r>
                    </a:p>
                  </a:txBody>
                  <a:tcPr marL="45720" marR="4572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900"/>
                        <a:t>400</a:t>
                      </a:r>
                    </a:p>
                  </a:txBody>
                  <a:tcPr marL="45720" marR="45720" marT="0" marB="0">
                    <a:lnL w="1270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183522342"/>
                  </a:ext>
                </a:extLst>
              </a:tr>
              <a:tr h="175680">
                <a:tc>
                  <a:txBody>
                    <a:bodyPr/>
                    <a:lstStyle/>
                    <a:p>
                      <a:r>
                        <a:rPr lang="en-US" sz="900"/>
                        <a:t>Buyer 1</a:t>
                      </a:r>
                    </a:p>
                  </a:txBody>
                  <a:tcPr marL="45720" marR="45720" marT="0" marB="0">
                    <a:lnL w="6350" cap="flat" cmpd="sng" algn="ctr">
                      <a:solidFill>
                        <a:schemeClr val="accent5"/>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900"/>
                        <a:t>3,000</a:t>
                      </a:r>
                    </a:p>
                  </a:txBody>
                  <a:tcPr marL="45720" marR="4572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900"/>
                        <a:t>500</a:t>
                      </a:r>
                    </a:p>
                  </a:txBody>
                  <a:tcPr marL="45720" marR="45720" marT="0" marB="0">
                    <a:lnL w="1270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183654534"/>
                  </a:ext>
                </a:extLst>
              </a:tr>
            </a:tbl>
          </a:graphicData>
        </a:graphic>
      </p:graphicFrame>
      <p:graphicFrame>
        <p:nvGraphicFramePr>
          <p:cNvPr id="37" name="Table 36">
            <a:extLst>
              <a:ext uri="{FF2B5EF4-FFF2-40B4-BE49-F238E27FC236}">
                <a16:creationId xmlns:a16="http://schemas.microsoft.com/office/drawing/2014/main" id="{407B5065-1446-AFE5-4549-0AB879712828}"/>
              </a:ext>
            </a:extLst>
          </p:cNvPr>
          <p:cNvGraphicFramePr>
            <a:graphicFrameLocks noGrp="1"/>
          </p:cNvGraphicFramePr>
          <p:nvPr>
            <p:extLst>
              <p:ext uri="{D42A27DB-BD31-4B8C-83A1-F6EECF244321}">
                <p14:modId xmlns:p14="http://schemas.microsoft.com/office/powerpoint/2010/main" val="491733307"/>
              </p:ext>
            </p:extLst>
          </p:nvPr>
        </p:nvGraphicFramePr>
        <p:xfrm>
          <a:off x="9677400" y="3069573"/>
          <a:ext cx="1999614" cy="878710"/>
        </p:xfrm>
        <a:graphic>
          <a:graphicData uri="http://schemas.openxmlformats.org/drawingml/2006/table">
            <a:tbl>
              <a:tblPr firstRow="1" bandRow="1">
                <a:tableStyleId>{5C22544A-7EE6-4342-B048-85BDC9FD1C3A}</a:tableStyleId>
              </a:tblPr>
              <a:tblGrid>
                <a:gridCol w="666538">
                  <a:extLst>
                    <a:ext uri="{9D8B030D-6E8A-4147-A177-3AD203B41FA5}">
                      <a16:colId xmlns:a16="http://schemas.microsoft.com/office/drawing/2014/main" val="3596238668"/>
                    </a:ext>
                  </a:extLst>
                </a:gridCol>
                <a:gridCol w="666538">
                  <a:extLst>
                    <a:ext uri="{9D8B030D-6E8A-4147-A177-3AD203B41FA5}">
                      <a16:colId xmlns:a16="http://schemas.microsoft.com/office/drawing/2014/main" val="4277781074"/>
                    </a:ext>
                  </a:extLst>
                </a:gridCol>
                <a:gridCol w="666538">
                  <a:extLst>
                    <a:ext uri="{9D8B030D-6E8A-4147-A177-3AD203B41FA5}">
                      <a16:colId xmlns:a16="http://schemas.microsoft.com/office/drawing/2014/main" val="3082741491"/>
                    </a:ext>
                  </a:extLst>
                </a:gridCol>
              </a:tblGrid>
              <a:tr h="175742">
                <a:tc gridSpan="3">
                  <a:txBody>
                    <a:bodyPr/>
                    <a:lstStyle/>
                    <a:p>
                      <a:pPr algn="ctr"/>
                      <a:r>
                        <a:rPr lang="en-US" sz="900"/>
                        <a:t>Sell bids</a:t>
                      </a:r>
                    </a:p>
                  </a:txBody>
                  <a:tcPr marL="45720" marR="45720" marT="0" marB="0">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096199211"/>
                  </a:ext>
                </a:extLst>
              </a:tr>
              <a:tr h="175742">
                <a:tc>
                  <a:txBody>
                    <a:bodyPr/>
                    <a:lstStyle/>
                    <a:p>
                      <a:r>
                        <a:rPr lang="en-US" sz="900" b="1">
                          <a:solidFill>
                            <a:schemeClr val="bg1"/>
                          </a:solidFill>
                        </a:rPr>
                        <a:t>Seller</a:t>
                      </a:r>
                    </a:p>
                  </a:txBody>
                  <a:tcPr marL="45720" marR="45720" marT="0" marB="0">
                    <a:lnL w="6350" cap="flat" cmpd="sng" algn="ctr">
                      <a:solidFill>
                        <a:schemeClr val="accent5"/>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900" b="1">
                          <a:solidFill>
                            <a:schemeClr val="bg1"/>
                          </a:solidFill>
                        </a:rPr>
                        <a:t>Sell price</a:t>
                      </a:r>
                    </a:p>
                  </a:txBody>
                  <a:tcPr marL="45720" marR="45720" marT="0" marB="0">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900" b="1">
                          <a:solidFill>
                            <a:schemeClr val="bg1"/>
                          </a:solidFill>
                        </a:rPr>
                        <a:t>Sell qty.</a:t>
                      </a:r>
                    </a:p>
                  </a:txBody>
                  <a:tcPr marL="45720" marR="45720" marT="0" marB="0">
                    <a:lnR w="6350" cap="flat" cmpd="sng" algn="ctr">
                      <a:solidFill>
                        <a:schemeClr val="accent5"/>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233969858"/>
                  </a:ext>
                </a:extLst>
              </a:tr>
              <a:tr h="175742">
                <a:tc>
                  <a:txBody>
                    <a:bodyPr/>
                    <a:lstStyle/>
                    <a:p>
                      <a:r>
                        <a:rPr lang="en-US" sz="900" b="1"/>
                        <a:t>Seller 1</a:t>
                      </a:r>
                    </a:p>
                  </a:txBody>
                  <a:tcPr marL="45720" marR="45720" marT="0" marB="0">
                    <a:lnL w="6350" cap="flat" cmpd="sng" algn="ctr">
                      <a:solidFill>
                        <a:schemeClr val="accent5"/>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900" b="1"/>
                        <a:t>3,200</a:t>
                      </a:r>
                    </a:p>
                  </a:txBody>
                  <a:tcPr marL="45720" marR="4572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900" b="1"/>
                        <a:t>200</a:t>
                      </a:r>
                    </a:p>
                  </a:txBody>
                  <a:tcPr marL="45720" marR="45720" marT="0" marB="0">
                    <a:lnL w="1270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671483565"/>
                  </a:ext>
                </a:extLst>
              </a:tr>
              <a:tr h="175742">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900"/>
                        <a:t>Seller 2</a:t>
                      </a:r>
                    </a:p>
                  </a:txBody>
                  <a:tcPr marL="45720" marR="45720" marT="0" marB="0">
                    <a:lnL w="6350" cap="flat" cmpd="sng" algn="ctr">
                      <a:solidFill>
                        <a:schemeClr val="accent5"/>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900"/>
                        <a:t>4,000</a:t>
                      </a:r>
                    </a:p>
                  </a:txBody>
                  <a:tcPr marL="45720" marR="4572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900"/>
                        <a:t>300</a:t>
                      </a:r>
                    </a:p>
                  </a:txBody>
                  <a:tcPr marL="45720" marR="45720" marT="0" marB="0">
                    <a:lnL w="1270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617041734"/>
                  </a:ext>
                </a:extLst>
              </a:tr>
              <a:tr h="175742">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900"/>
                        <a:t>Seller 3</a:t>
                      </a:r>
                    </a:p>
                  </a:txBody>
                  <a:tcPr marL="45720" marR="45720" marT="0" marB="0">
                    <a:lnL w="6350" cap="flat" cmpd="sng" algn="ctr">
                      <a:solidFill>
                        <a:schemeClr val="accent5"/>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900"/>
                        <a:t>4,200</a:t>
                      </a:r>
                    </a:p>
                  </a:txBody>
                  <a:tcPr marL="45720" marR="4572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900"/>
                        <a:t>500</a:t>
                      </a:r>
                    </a:p>
                  </a:txBody>
                  <a:tcPr marL="45720" marR="45720" marT="0" marB="0">
                    <a:lnL w="1270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824848212"/>
                  </a:ext>
                </a:extLst>
              </a:tr>
            </a:tbl>
          </a:graphicData>
        </a:graphic>
      </p:graphicFrame>
      <p:sp>
        <p:nvSpPr>
          <p:cNvPr id="38" name="Speech Bubble: Rectangle 37">
            <a:extLst>
              <a:ext uri="{FF2B5EF4-FFF2-40B4-BE49-F238E27FC236}">
                <a16:creationId xmlns:a16="http://schemas.microsoft.com/office/drawing/2014/main" id="{6C8D6858-5FFF-5E13-EF4B-19A219EA34A6}"/>
              </a:ext>
            </a:extLst>
          </p:cNvPr>
          <p:cNvSpPr/>
          <p:nvPr/>
        </p:nvSpPr>
        <p:spPr bwMode="gray">
          <a:xfrm>
            <a:off x="8229600" y="4082525"/>
            <a:ext cx="3447414" cy="472624"/>
          </a:xfrm>
          <a:prstGeom prst="wedgeRectCallout">
            <a:avLst>
              <a:gd name="adj1" fmla="val -30128"/>
              <a:gd name="adj2" fmla="val -95479"/>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90564" fontAlgn="auto">
              <a:spcBef>
                <a:spcPts val="0"/>
              </a:spcBef>
              <a:spcAft>
                <a:spcPts val="0"/>
              </a:spcAft>
              <a:buSzPct val="100000"/>
            </a:pPr>
            <a:r>
              <a:rPr kumimoji="1" lang="en-US" sz="1000" b="1">
                <a:solidFill>
                  <a:prstClr val="black"/>
                </a:solidFill>
                <a:latin typeface="Arial" panose="020B0604020202020204" pitchFamily="34" charset="0"/>
                <a:cs typeface="Arial" panose="020B0604020202020204" pitchFamily="34" charset="0"/>
              </a:rPr>
              <a:t>Order of 200 units shall be executed at price of 3,300 between Buyer 3 and Seller 1</a:t>
            </a:r>
          </a:p>
        </p:txBody>
      </p:sp>
      <p:sp>
        <p:nvSpPr>
          <p:cNvPr id="39" name="TextBox 38">
            <a:extLst>
              <a:ext uri="{FF2B5EF4-FFF2-40B4-BE49-F238E27FC236}">
                <a16:creationId xmlns:a16="http://schemas.microsoft.com/office/drawing/2014/main" id="{5753E870-E94C-4930-409C-C51E835D9117}"/>
              </a:ext>
            </a:extLst>
          </p:cNvPr>
          <p:cNvSpPr txBox="1"/>
          <p:nvPr/>
        </p:nvSpPr>
        <p:spPr>
          <a:xfrm>
            <a:off x="7267791" y="2812333"/>
            <a:ext cx="2238263" cy="153888"/>
          </a:xfrm>
          <a:prstGeom prst="rect">
            <a:avLst/>
          </a:prstGeom>
          <a:noFill/>
        </p:spPr>
        <p:txBody>
          <a:bodyPr wrap="square" lIns="0" tIns="0" rIns="0" bIns="0" rtlCol="0">
            <a:spAutoFit/>
          </a:bodyPr>
          <a:lstStyle/>
          <a:p>
            <a:pPr>
              <a:spcBef>
                <a:spcPts val="488"/>
              </a:spcBef>
              <a:buSzPct val="100000"/>
            </a:pPr>
            <a:r>
              <a:rPr lang="en-US" sz="1000" b="1">
                <a:latin typeface="Arial" panose="020B0604020202020204" pitchFamily="34" charset="0"/>
                <a:cs typeface="Arial" panose="020B0604020202020204" pitchFamily="34" charset="0"/>
              </a:rPr>
              <a:t>Example</a:t>
            </a:r>
          </a:p>
        </p:txBody>
      </p:sp>
      <p:sp>
        <p:nvSpPr>
          <p:cNvPr id="3" name="TextBox 2">
            <a:extLst>
              <a:ext uri="{FF2B5EF4-FFF2-40B4-BE49-F238E27FC236}">
                <a16:creationId xmlns:a16="http://schemas.microsoft.com/office/drawing/2014/main" id="{6878A406-E775-4F60-156B-418468140DF0}"/>
              </a:ext>
            </a:extLst>
          </p:cNvPr>
          <p:cNvSpPr txBox="1"/>
          <p:nvPr/>
        </p:nvSpPr>
        <p:spPr>
          <a:xfrm>
            <a:off x="473065" y="6544150"/>
            <a:ext cx="457200" cy="138499"/>
          </a:xfrm>
          <a:prstGeom prst="rect">
            <a:avLst/>
          </a:prstGeom>
          <a:noFill/>
        </p:spPr>
        <p:txBody>
          <a:bodyPr wrap="square" lIns="0" tIns="0" rIns="0" bIns="0" rtlCol="0">
            <a:spAutoFit/>
          </a:bodyPr>
          <a:lstStyle/>
          <a:p>
            <a:pPr>
              <a:buFont typeface="Wingdings 2" pitchFamily="18" charset="2"/>
              <a:buNone/>
            </a:pPr>
            <a:r>
              <a:rPr lang="en-US" sz="900">
                <a:solidFill>
                  <a:srgbClr val="313131"/>
                </a:solidFill>
                <a:latin typeface="Arial" panose="020B0604020202020204" pitchFamily="34" charset="0"/>
                <a:cs typeface="Arial" panose="020B0604020202020204" pitchFamily="34" charset="0"/>
              </a:rPr>
              <a:t>Example</a:t>
            </a:r>
            <a:endParaRPr lang="en-US" sz="900">
              <a:latin typeface="Arial" panose="020B0604020202020204" pitchFamily="34" charset="0"/>
              <a:cs typeface="Arial" panose="020B0604020202020204" pitchFamily="34" charset="0"/>
            </a:endParaRPr>
          </a:p>
        </p:txBody>
      </p:sp>
      <p:sp>
        <p:nvSpPr>
          <p:cNvPr id="4" name="Arrow: Right 3">
            <a:hlinkClick r:id="rId9" action="ppaction://hlinksldjump"/>
            <a:extLst>
              <a:ext uri="{FF2B5EF4-FFF2-40B4-BE49-F238E27FC236}">
                <a16:creationId xmlns:a16="http://schemas.microsoft.com/office/drawing/2014/main" id="{3DC687B0-5551-3516-9393-D95FA6CE5A40}"/>
              </a:ext>
            </a:extLst>
          </p:cNvPr>
          <p:cNvSpPr/>
          <p:nvPr/>
        </p:nvSpPr>
        <p:spPr bwMode="gray">
          <a:xfrm>
            <a:off x="977599" y="6562248"/>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97037001"/>
      </p:ext>
    </p:extLst>
  </p:cSld>
  <p:clrMapOvr>
    <a:masterClrMapping/>
  </p:clrMapOvr>
  <p:transition>
    <p:fade/>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37996396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Market clearing price discovery | Double sided open bid uniform price step auction</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Term Ahead Market uses step auction to arrive at price, executing multiple step principles to get maximum tradable volume &amp; minimum unbalance</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cxnSp>
        <p:nvCxnSpPr>
          <p:cNvPr id="11" name="Connector: Elbow 10">
            <a:extLst>
              <a:ext uri="{FF2B5EF4-FFF2-40B4-BE49-F238E27FC236}">
                <a16:creationId xmlns:a16="http://schemas.microsoft.com/office/drawing/2014/main" id="{1B3AA97C-4A31-EE95-B5FD-C79935A9B27C}"/>
              </a:ext>
            </a:extLst>
          </p:cNvPr>
          <p:cNvCxnSpPr>
            <a:cxnSpLocks/>
            <a:stCxn id="44" idx="3"/>
            <a:endCxn id="53" idx="2"/>
          </p:cNvCxnSpPr>
          <p:nvPr/>
        </p:nvCxnSpPr>
        <p:spPr bwMode="gray">
          <a:xfrm flipV="1">
            <a:off x="10813676" y="2889901"/>
            <a:ext cx="119315" cy="2954046"/>
          </a:xfrm>
          <a:prstGeom prst="bentConnector2">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553BF9A0-C8CB-E589-577D-376A81EB0CED}"/>
              </a:ext>
            </a:extLst>
          </p:cNvPr>
          <p:cNvSpPr txBox="1"/>
          <p:nvPr/>
        </p:nvSpPr>
        <p:spPr>
          <a:xfrm>
            <a:off x="508677" y="1072024"/>
            <a:ext cx="9070848" cy="169277"/>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Term ahead market (TAM) follow the double-sided open bid uniform price step auction for price discovery</a:t>
            </a:r>
          </a:p>
        </p:txBody>
      </p:sp>
      <p:sp>
        <p:nvSpPr>
          <p:cNvPr id="30" name="Rectangle 29">
            <a:extLst>
              <a:ext uri="{FF2B5EF4-FFF2-40B4-BE49-F238E27FC236}">
                <a16:creationId xmlns:a16="http://schemas.microsoft.com/office/drawing/2014/main" id="{8A7AEF1F-6224-C369-A2C3-B326291B4A2E}"/>
              </a:ext>
            </a:extLst>
          </p:cNvPr>
          <p:cNvSpPr/>
          <p:nvPr/>
        </p:nvSpPr>
        <p:spPr bwMode="gray">
          <a:xfrm>
            <a:off x="1147524" y="1600265"/>
            <a:ext cx="1620000" cy="457200"/>
          </a:xfrm>
          <a:prstGeom prst="rect">
            <a:avLst/>
          </a:prstGeom>
          <a:solidFill>
            <a:schemeClr val="accent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90564">
              <a:buSzPct val="100000"/>
            </a:pPr>
            <a:r>
              <a:rPr kumimoji="1" lang="en-US" sz="1200" b="1">
                <a:solidFill>
                  <a:schemeClr val="bg1"/>
                </a:solidFill>
                <a:latin typeface="Arial" panose="020B0604020202020204" pitchFamily="34" charset="0"/>
                <a:cs typeface="Arial" panose="020B0604020202020204" pitchFamily="34" charset="0"/>
              </a:rPr>
              <a:t>Buy/ Sell bids placed</a:t>
            </a:r>
          </a:p>
        </p:txBody>
      </p:sp>
      <p:sp>
        <p:nvSpPr>
          <p:cNvPr id="44" name="Round Single Corner Rectangle 106">
            <a:extLst>
              <a:ext uri="{FF2B5EF4-FFF2-40B4-BE49-F238E27FC236}">
                <a16:creationId xmlns:a16="http://schemas.microsoft.com/office/drawing/2014/main" id="{067A0304-E239-9E17-A439-53C5FEC3E8C3}"/>
              </a:ext>
            </a:extLst>
          </p:cNvPr>
          <p:cNvSpPr/>
          <p:nvPr/>
        </p:nvSpPr>
        <p:spPr>
          <a:xfrm>
            <a:off x="8473676" y="5288770"/>
            <a:ext cx="2340000" cy="1110353"/>
          </a:xfrm>
          <a:prstGeom prst="round1Rect">
            <a:avLst>
              <a:gd name="adj" fmla="val 11091"/>
            </a:avLst>
          </a:prstGeom>
          <a:noFill/>
          <a:ln w="6350" cap="flat" cmpd="sng" algn="ctr">
            <a:solidFill>
              <a:srgbClr val="0D8390"/>
            </a:solidFill>
            <a:prstDash val="solid"/>
          </a:ln>
          <a:effectLst/>
        </p:spPr>
        <p:txBody>
          <a:bodyPr lIns="91440" tIns="91440" rIns="45720" bIns="91440" rtlCol="0" anchor="t"/>
          <a:lstStyle/>
          <a:p>
            <a:pPr marL="139303" indent="-139303" defTabSz="784184">
              <a:spcAft>
                <a:spcPts val="600"/>
              </a:spcAft>
              <a:buFont typeface="Arial" panose="020B0604020202020204" pitchFamily="34" charset="0"/>
              <a:buChar char="•"/>
            </a:pPr>
            <a:r>
              <a:rPr lang="en-US" altLang="zh-CN" sz="1000" b="1" kern="0">
                <a:solidFill>
                  <a:prstClr val="black"/>
                </a:solidFill>
                <a:latin typeface="Arial" panose="020B0604020202020204" pitchFamily="34" charset="0"/>
                <a:cs typeface="Arial" panose="020B0604020202020204" pitchFamily="34" charset="0"/>
              </a:rPr>
              <a:t>Multiple surplus unbalances:</a:t>
            </a:r>
            <a:r>
              <a:rPr lang="en-US" altLang="zh-CN" sz="1000" kern="0">
                <a:solidFill>
                  <a:prstClr val="black"/>
                </a:solidFill>
                <a:latin typeface="Arial" panose="020B0604020202020204" pitchFamily="34" charset="0"/>
                <a:cs typeface="Arial" panose="020B0604020202020204" pitchFamily="34" charset="0"/>
              </a:rPr>
              <a:t> Buy side market pressure, hence highest price </a:t>
            </a:r>
          </a:p>
          <a:p>
            <a:pPr marL="139303" indent="-139303" defTabSz="784184">
              <a:spcAft>
                <a:spcPts val="600"/>
              </a:spcAft>
              <a:buFont typeface="Arial" panose="020B0604020202020204" pitchFamily="34" charset="0"/>
              <a:buChar char="•"/>
            </a:pPr>
            <a:r>
              <a:rPr lang="en-US" altLang="zh-CN" sz="1000" b="1" kern="0">
                <a:solidFill>
                  <a:prstClr val="black"/>
                </a:solidFill>
                <a:latin typeface="Arial" panose="020B0604020202020204" pitchFamily="34" charset="0"/>
                <a:cs typeface="Arial" panose="020B0604020202020204" pitchFamily="34" charset="0"/>
              </a:rPr>
              <a:t>Multiple deficit unbalances: </a:t>
            </a:r>
            <a:r>
              <a:rPr lang="en-US" altLang="zh-CN" sz="1000" kern="0">
                <a:solidFill>
                  <a:prstClr val="black"/>
                </a:solidFill>
                <a:latin typeface="Arial" panose="020B0604020202020204" pitchFamily="34" charset="0"/>
                <a:cs typeface="Arial" panose="020B0604020202020204" pitchFamily="34" charset="0"/>
              </a:rPr>
              <a:t>Sell side market pressure, hence lowest price</a:t>
            </a:r>
          </a:p>
          <a:p>
            <a:pPr marL="139303" indent="-139303" defTabSz="784184">
              <a:spcAft>
                <a:spcPts val="600"/>
              </a:spcAft>
              <a:buFont typeface="Arial" panose="020B0604020202020204" pitchFamily="34" charset="0"/>
              <a:buChar char="•"/>
            </a:pPr>
            <a:endParaRPr lang="en-US" altLang="zh-CN" sz="1000" kern="0">
              <a:solidFill>
                <a:prstClr val="black"/>
              </a:solidFill>
              <a:latin typeface="Arial" panose="020B0604020202020204" pitchFamily="34" charset="0"/>
              <a:cs typeface="Arial" panose="020B0604020202020204" pitchFamily="34" charset="0"/>
            </a:endParaRPr>
          </a:p>
        </p:txBody>
      </p:sp>
      <p:sp>
        <p:nvSpPr>
          <p:cNvPr id="45" name="Round Single Corner Rectangle 103">
            <a:extLst>
              <a:ext uri="{FF2B5EF4-FFF2-40B4-BE49-F238E27FC236}">
                <a16:creationId xmlns:a16="http://schemas.microsoft.com/office/drawing/2014/main" id="{F9E57AA6-1EFD-902E-2257-56C4B59A9C3D}"/>
              </a:ext>
            </a:extLst>
          </p:cNvPr>
          <p:cNvSpPr/>
          <p:nvPr/>
        </p:nvSpPr>
        <p:spPr>
          <a:xfrm>
            <a:off x="4930208" y="4249032"/>
            <a:ext cx="2340000" cy="1219779"/>
          </a:xfrm>
          <a:prstGeom prst="round1Rect">
            <a:avLst>
              <a:gd name="adj" fmla="val 11091"/>
            </a:avLst>
          </a:prstGeom>
          <a:noFill/>
          <a:ln w="6350" cap="flat" cmpd="sng" algn="ctr">
            <a:solidFill>
              <a:srgbClr val="0D8390"/>
            </a:solidFill>
            <a:prstDash val="solid"/>
          </a:ln>
          <a:effectLst/>
        </p:spPr>
        <p:txBody>
          <a:bodyPr lIns="91440" tIns="91440" rIns="45720" bIns="91440" rtlCol="0" anchor="t"/>
          <a:lstStyle/>
          <a:p>
            <a:pPr marL="139303" indent="-139303" defTabSz="784184">
              <a:spcAft>
                <a:spcPts val="600"/>
              </a:spcAft>
              <a:buFont typeface="Arial" panose="020B0604020202020204" pitchFamily="34" charset="0"/>
              <a:buChar char="•"/>
            </a:pPr>
            <a:r>
              <a:rPr lang="en-US" sz="1000" kern="0">
                <a:solidFill>
                  <a:prstClr val="black"/>
                </a:solidFill>
                <a:latin typeface="Arial" panose="020B0604020202020204" pitchFamily="34" charset="0"/>
                <a:cs typeface="Arial" panose="020B0604020202020204" pitchFamily="34" charset="0"/>
              </a:rPr>
              <a:t>Unbalance is calculated for the respective prices</a:t>
            </a:r>
          </a:p>
          <a:p>
            <a:pPr marL="139303" indent="-139303" defTabSz="784184">
              <a:spcAft>
                <a:spcPts val="600"/>
              </a:spcAft>
              <a:buFont typeface="Arial" panose="020B0604020202020204" pitchFamily="34" charset="0"/>
              <a:buChar char="•"/>
            </a:pPr>
            <a:r>
              <a:rPr lang="en-US" sz="1000" kern="0">
                <a:solidFill>
                  <a:prstClr val="black"/>
                </a:solidFill>
                <a:latin typeface="Arial" panose="020B0604020202020204" pitchFamily="34" charset="0"/>
                <a:cs typeface="Arial" panose="020B0604020202020204" pitchFamily="34" charset="0"/>
              </a:rPr>
              <a:t>Unbalance = Cuml. Buy quantity – Cuml. Sell quantity</a:t>
            </a:r>
          </a:p>
          <a:p>
            <a:pPr marL="139303" indent="-139303" defTabSz="784184">
              <a:spcAft>
                <a:spcPts val="600"/>
              </a:spcAft>
              <a:buFont typeface="Arial" panose="020B0604020202020204" pitchFamily="34" charset="0"/>
              <a:buChar char="•"/>
            </a:pPr>
            <a:r>
              <a:rPr lang="en-US" sz="1000" kern="0">
                <a:solidFill>
                  <a:prstClr val="black"/>
                </a:solidFill>
                <a:latin typeface="Arial" panose="020B0604020202020204" pitchFamily="34" charset="0"/>
                <a:cs typeface="Arial" panose="020B0604020202020204" pitchFamily="34" charset="0"/>
              </a:rPr>
              <a:t>Regardless of surplus/ deficit, price of lowest unbalance is selected</a:t>
            </a:r>
          </a:p>
        </p:txBody>
      </p:sp>
      <p:grpSp>
        <p:nvGrpSpPr>
          <p:cNvPr id="73" name="Group 72">
            <a:extLst>
              <a:ext uri="{FF2B5EF4-FFF2-40B4-BE49-F238E27FC236}">
                <a16:creationId xmlns:a16="http://schemas.microsoft.com/office/drawing/2014/main" id="{62758950-2CD2-D07F-A227-6DE1D319BA55}"/>
              </a:ext>
            </a:extLst>
          </p:cNvPr>
          <p:cNvGrpSpPr/>
          <p:nvPr/>
        </p:nvGrpSpPr>
        <p:grpSpPr>
          <a:xfrm>
            <a:off x="510907" y="2386981"/>
            <a:ext cx="2191094" cy="548640"/>
            <a:chOff x="510907" y="2585463"/>
            <a:chExt cx="2191094" cy="548640"/>
          </a:xfrm>
        </p:grpSpPr>
        <p:sp>
          <p:nvSpPr>
            <p:cNvPr id="46" name="Rectangle 45">
              <a:extLst>
                <a:ext uri="{FF2B5EF4-FFF2-40B4-BE49-F238E27FC236}">
                  <a16:creationId xmlns:a16="http://schemas.microsoft.com/office/drawing/2014/main" id="{AAF7C66A-9B85-BBFB-30B4-C8C71E34B242}"/>
                </a:ext>
              </a:extLst>
            </p:cNvPr>
            <p:cNvSpPr/>
            <p:nvPr/>
          </p:nvSpPr>
          <p:spPr bwMode="gray">
            <a:xfrm>
              <a:off x="1147524" y="2631183"/>
              <a:ext cx="1554477" cy="457200"/>
            </a:xfrm>
            <a:prstGeom prst="rect">
              <a:avLst/>
            </a:prstGeom>
            <a:solidFill>
              <a:schemeClr val="accent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90564">
                <a:buSzPct val="100000"/>
              </a:pPr>
              <a:r>
                <a:rPr kumimoji="1" lang="en-US" sz="1200" b="1">
                  <a:solidFill>
                    <a:schemeClr val="bg1"/>
                  </a:solidFill>
                  <a:latin typeface="Arial" panose="020B0604020202020204" pitchFamily="34" charset="0"/>
                  <a:cs typeface="Arial" panose="020B0604020202020204" pitchFamily="34" charset="0"/>
                </a:rPr>
                <a:t>Maximum tradable volume</a:t>
              </a:r>
            </a:p>
          </p:txBody>
        </p:sp>
        <p:pic>
          <p:nvPicPr>
            <p:cNvPr id="47" name="Picture 46" descr="A colorful podium with a star and arrows&#10;&#10;AI-generated content may be incorrect.">
              <a:extLst>
                <a:ext uri="{FF2B5EF4-FFF2-40B4-BE49-F238E27FC236}">
                  <a16:creationId xmlns:a16="http://schemas.microsoft.com/office/drawing/2014/main" id="{8C74A8C7-C4B5-2E0F-85C5-C0AF715BF1DA}"/>
                </a:ext>
              </a:extLst>
            </p:cNvPr>
            <p:cNvPicPr>
              <a:picLocks noChangeAspect="1"/>
            </p:cNvPicPr>
            <p:nvPr/>
          </p:nvPicPr>
          <p:blipFill>
            <a:blip r:embed="rId6"/>
            <a:stretch>
              <a:fillRect/>
            </a:stretch>
          </p:blipFill>
          <p:spPr>
            <a:xfrm>
              <a:off x="510907" y="2585463"/>
              <a:ext cx="548640" cy="548640"/>
            </a:xfrm>
            <a:prstGeom prst="rect">
              <a:avLst/>
            </a:prstGeom>
          </p:spPr>
        </p:pic>
      </p:grpSp>
      <p:grpSp>
        <p:nvGrpSpPr>
          <p:cNvPr id="74" name="Group 73">
            <a:extLst>
              <a:ext uri="{FF2B5EF4-FFF2-40B4-BE49-F238E27FC236}">
                <a16:creationId xmlns:a16="http://schemas.microsoft.com/office/drawing/2014/main" id="{AA5407D4-3415-5CE0-9FA8-CD3C0B636EC2}"/>
              </a:ext>
            </a:extLst>
          </p:cNvPr>
          <p:cNvGrpSpPr/>
          <p:nvPr/>
        </p:nvGrpSpPr>
        <p:grpSpPr>
          <a:xfrm>
            <a:off x="5012285" y="3617110"/>
            <a:ext cx="2175847" cy="554126"/>
            <a:chOff x="3802750" y="3617110"/>
            <a:chExt cx="2175847" cy="554126"/>
          </a:xfrm>
        </p:grpSpPr>
        <p:sp>
          <p:nvSpPr>
            <p:cNvPr id="43" name="Rectangle 42">
              <a:extLst>
                <a:ext uri="{FF2B5EF4-FFF2-40B4-BE49-F238E27FC236}">
                  <a16:creationId xmlns:a16="http://schemas.microsoft.com/office/drawing/2014/main" id="{CF942457-01B6-0770-D59E-791A7F42C20B}"/>
                </a:ext>
              </a:extLst>
            </p:cNvPr>
            <p:cNvSpPr/>
            <p:nvPr/>
          </p:nvSpPr>
          <p:spPr bwMode="gray">
            <a:xfrm>
              <a:off x="4408572" y="3698736"/>
              <a:ext cx="1570025" cy="457200"/>
            </a:xfrm>
            <a:prstGeom prst="rect">
              <a:avLst/>
            </a:prstGeom>
            <a:solidFill>
              <a:schemeClr val="accent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90564">
                <a:buSzPct val="100000"/>
              </a:pPr>
              <a:r>
                <a:rPr kumimoji="1" lang="en-US" sz="1200" b="1">
                  <a:solidFill>
                    <a:schemeClr val="bg1"/>
                  </a:solidFill>
                  <a:latin typeface="Arial" panose="020B0604020202020204" pitchFamily="34" charset="0"/>
                  <a:cs typeface="Arial" panose="020B0604020202020204" pitchFamily="34" charset="0"/>
                </a:rPr>
                <a:t>Minimum unbalance</a:t>
              </a:r>
            </a:p>
          </p:txBody>
        </p:sp>
        <p:pic>
          <p:nvPicPr>
            <p:cNvPr id="48" name="Picture 47" descr="A red and white bar graph&#10;&#10;AI-generated content may be incorrect.">
              <a:extLst>
                <a:ext uri="{FF2B5EF4-FFF2-40B4-BE49-F238E27FC236}">
                  <a16:creationId xmlns:a16="http://schemas.microsoft.com/office/drawing/2014/main" id="{A5880418-1EF3-9BE6-C88B-ED47E9BAF57C}"/>
                </a:ext>
              </a:extLst>
            </p:cNvPr>
            <p:cNvPicPr>
              <a:picLocks noChangeAspect="1"/>
            </p:cNvPicPr>
            <p:nvPr/>
          </p:nvPicPr>
          <p:blipFill>
            <a:blip r:embed="rId7"/>
            <a:stretch>
              <a:fillRect/>
            </a:stretch>
          </p:blipFill>
          <p:spPr>
            <a:xfrm>
              <a:off x="3802750" y="3617110"/>
              <a:ext cx="554126" cy="554126"/>
            </a:xfrm>
            <a:prstGeom prst="rect">
              <a:avLst/>
            </a:prstGeom>
          </p:spPr>
        </p:pic>
      </p:grpSp>
      <p:sp>
        <p:nvSpPr>
          <p:cNvPr id="49" name="Rectangle 48">
            <a:extLst>
              <a:ext uri="{FF2B5EF4-FFF2-40B4-BE49-F238E27FC236}">
                <a16:creationId xmlns:a16="http://schemas.microsoft.com/office/drawing/2014/main" id="{F2E75EA3-6821-C9C8-B6B2-C4D747ED76CB}"/>
              </a:ext>
            </a:extLst>
          </p:cNvPr>
          <p:cNvSpPr/>
          <p:nvPr/>
        </p:nvSpPr>
        <p:spPr bwMode="gray">
          <a:xfrm>
            <a:off x="9160509" y="4698116"/>
            <a:ext cx="1554480" cy="457200"/>
          </a:xfrm>
          <a:prstGeom prst="rect">
            <a:avLst/>
          </a:prstGeom>
          <a:solidFill>
            <a:schemeClr val="accent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90564">
              <a:buSzPct val="100000"/>
            </a:pPr>
            <a:r>
              <a:rPr kumimoji="1" lang="en-US" sz="1200" b="1">
                <a:solidFill>
                  <a:schemeClr val="bg1"/>
                </a:solidFill>
                <a:latin typeface="Arial" panose="020B0604020202020204" pitchFamily="34" charset="0"/>
                <a:cs typeface="Arial" panose="020B0604020202020204" pitchFamily="34" charset="0"/>
              </a:rPr>
              <a:t>Market pressure tests</a:t>
            </a:r>
          </a:p>
        </p:txBody>
      </p:sp>
      <p:pic>
        <p:nvPicPr>
          <p:cNvPr id="50" name="Picture 49" descr="A cartoon of a balance scale&#10;&#10;AI-generated content may be incorrect.">
            <a:extLst>
              <a:ext uri="{FF2B5EF4-FFF2-40B4-BE49-F238E27FC236}">
                <a16:creationId xmlns:a16="http://schemas.microsoft.com/office/drawing/2014/main" id="{A166C7D1-9238-2A55-F01C-4F4668DD9F5E}"/>
              </a:ext>
            </a:extLst>
          </p:cNvPr>
          <p:cNvPicPr>
            <a:picLocks noChangeAspect="1"/>
          </p:cNvPicPr>
          <p:nvPr/>
        </p:nvPicPr>
        <p:blipFill>
          <a:blip r:embed="rId8"/>
          <a:stretch>
            <a:fillRect/>
          </a:stretch>
        </p:blipFill>
        <p:spPr>
          <a:xfrm>
            <a:off x="8499490" y="4652396"/>
            <a:ext cx="548640" cy="548640"/>
          </a:xfrm>
          <a:prstGeom prst="rect">
            <a:avLst/>
          </a:prstGeom>
        </p:spPr>
      </p:pic>
      <p:grpSp>
        <p:nvGrpSpPr>
          <p:cNvPr id="51" name="Group 50">
            <a:extLst>
              <a:ext uri="{FF2B5EF4-FFF2-40B4-BE49-F238E27FC236}">
                <a16:creationId xmlns:a16="http://schemas.microsoft.com/office/drawing/2014/main" id="{A04C7129-F49E-C35B-0FA0-89BA60C2C11F}"/>
              </a:ext>
            </a:extLst>
          </p:cNvPr>
          <p:cNvGrpSpPr/>
          <p:nvPr/>
        </p:nvGrpSpPr>
        <p:grpSpPr>
          <a:xfrm>
            <a:off x="9519816" y="2386981"/>
            <a:ext cx="2190415" cy="548640"/>
            <a:chOff x="7309728" y="2845878"/>
            <a:chExt cx="2190415" cy="548640"/>
          </a:xfrm>
        </p:grpSpPr>
        <p:pic>
          <p:nvPicPr>
            <p:cNvPr id="52" name="Picture 51" descr="A green tag with a dollar sign on a scale&#10;&#10;AI-generated content may be incorrect.">
              <a:extLst>
                <a:ext uri="{FF2B5EF4-FFF2-40B4-BE49-F238E27FC236}">
                  <a16:creationId xmlns:a16="http://schemas.microsoft.com/office/drawing/2014/main" id="{2F4CCD50-50F7-B0B1-B233-1E63161DA8B3}"/>
                </a:ext>
              </a:extLst>
            </p:cNvPr>
            <p:cNvPicPr>
              <a:picLocks noChangeAspect="1"/>
            </p:cNvPicPr>
            <p:nvPr/>
          </p:nvPicPr>
          <p:blipFill>
            <a:blip r:embed="rId9"/>
            <a:stretch>
              <a:fillRect/>
            </a:stretch>
          </p:blipFill>
          <p:spPr>
            <a:xfrm>
              <a:off x="7309728" y="2845878"/>
              <a:ext cx="548640" cy="548640"/>
            </a:xfrm>
            <a:prstGeom prst="rect">
              <a:avLst/>
            </a:prstGeom>
          </p:spPr>
        </p:pic>
        <p:sp>
          <p:nvSpPr>
            <p:cNvPr id="53" name="Rectangle 52">
              <a:extLst>
                <a:ext uri="{FF2B5EF4-FFF2-40B4-BE49-F238E27FC236}">
                  <a16:creationId xmlns:a16="http://schemas.microsoft.com/office/drawing/2014/main" id="{B6A98194-A534-665D-CF67-5944D1D41E86}"/>
                </a:ext>
              </a:extLst>
            </p:cNvPr>
            <p:cNvSpPr/>
            <p:nvPr/>
          </p:nvSpPr>
          <p:spPr bwMode="gray">
            <a:xfrm>
              <a:off x="7945663" y="2891598"/>
              <a:ext cx="1554480" cy="457200"/>
            </a:xfrm>
            <a:prstGeom prst="rect">
              <a:avLst/>
            </a:prstGeom>
            <a:solidFill>
              <a:schemeClr val="accent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90564">
                <a:buSzPct val="100000"/>
              </a:pPr>
              <a:r>
                <a:rPr kumimoji="1" lang="en-US" sz="1200" b="1">
                  <a:solidFill>
                    <a:schemeClr val="bg1"/>
                  </a:solidFill>
                  <a:latin typeface="Arial" panose="020B0604020202020204" pitchFamily="34" charset="0"/>
                  <a:cs typeface="Arial" panose="020B0604020202020204" pitchFamily="34" charset="0"/>
                </a:rPr>
                <a:t>Equilibrium price</a:t>
              </a:r>
            </a:p>
          </p:txBody>
        </p:sp>
      </p:grpSp>
      <p:sp>
        <p:nvSpPr>
          <p:cNvPr id="54" name="TextBox 53">
            <a:extLst>
              <a:ext uri="{FF2B5EF4-FFF2-40B4-BE49-F238E27FC236}">
                <a16:creationId xmlns:a16="http://schemas.microsoft.com/office/drawing/2014/main" id="{9C91EA16-9E52-D4B6-53AF-AF6C287DC228}"/>
              </a:ext>
            </a:extLst>
          </p:cNvPr>
          <p:cNvSpPr txBox="1"/>
          <p:nvPr/>
        </p:nvSpPr>
        <p:spPr bwMode="gray">
          <a:xfrm>
            <a:off x="4631352" y="2441258"/>
            <a:ext cx="2432958" cy="153888"/>
          </a:xfrm>
          <a:prstGeom prst="rect">
            <a:avLst/>
          </a:prstGeom>
          <a:noFill/>
        </p:spPr>
        <p:txBody>
          <a:bodyPr wrap="square" lIns="0" tIns="0" rIns="0" bIns="0" rtlCol="0">
            <a:sp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i="1"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Else</a:t>
            </a:r>
          </a:p>
        </p:txBody>
      </p:sp>
      <p:cxnSp>
        <p:nvCxnSpPr>
          <p:cNvPr id="55" name="Straight Arrow Connector 54">
            <a:extLst>
              <a:ext uri="{FF2B5EF4-FFF2-40B4-BE49-F238E27FC236}">
                <a16:creationId xmlns:a16="http://schemas.microsoft.com/office/drawing/2014/main" id="{623FE001-A99B-DED7-2D46-FBC14FC7EE57}"/>
              </a:ext>
            </a:extLst>
          </p:cNvPr>
          <p:cNvCxnSpPr>
            <a:cxnSpLocks/>
            <a:stCxn id="46" idx="3"/>
            <a:endCxn id="52" idx="1"/>
          </p:cNvCxnSpPr>
          <p:nvPr/>
        </p:nvCxnSpPr>
        <p:spPr bwMode="gray">
          <a:xfrm>
            <a:off x="2702001" y="2661301"/>
            <a:ext cx="6817815"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56" name="Round Single Corner Rectangle 103">
            <a:extLst>
              <a:ext uri="{FF2B5EF4-FFF2-40B4-BE49-F238E27FC236}">
                <a16:creationId xmlns:a16="http://schemas.microsoft.com/office/drawing/2014/main" id="{F5522383-BE72-B05E-B548-B3DA3BA6A2F2}"/>
              </a:ext>
            </a:extLst>
          </p:cNvPr>
          <p:cNvSpPr/>
          <p:nvPr/>
        </p:nvSpPr>
        <p:spPr>
          <a:xfrm>
            <a:off x="508058" y="3256093"/>
            <a:ext cx="2340000" cy="1662509"/>
          </a:xfrm>
          <a:prstGeom prst="round1Rect">
            <a:avLst>
              <a:gd name="adj" fmla="val 11091"/>
            </a:avLst>
          </a:prstGeom>
          <a:noFill/>
          <a:ln w="6350" cap="flat" cmpd="sng" algn="ctr">
            <a:solidFill>
              <a:srgbClr val="0D8390"/>
            </a:solidFill>
            <a:prstDash val="solid"/>
          </a:ln>
          <a:effectLst/>
        </p:spPr>
        <p:txBody>
          <a:bodyPr lIns="91440" tIns="91440" rIns="45720" bIns="91440" rtlCol="0" anchor="t"/>
          <a:lstStyle/>
          <a:p>
            <a:pPr marL="139303" indent="-139303" defTabSz="784184">
              <a:spcAft>
                <a:spcPts val="600"/>
              </a:spcAft>
              <a:buFont typeface="Arial" panose="020B0604020202020204" pitchFamily="34" charset="0"/>
              <a:buChar char="•"/>
            </a:pPr>
            <a:r>
              <a:rPr lang="en-US" sz="1000" kern="0">
                <a:solidFill>
                  <a:prstClr val="black"/>
                </a:solidFill>
                <a:latin typeface="Arial" panose="020B0604020202020204" pitchFamily="34" charset="0"/>
                <a:cs typeface="Arial" panose="020B0604020202020204" pitchFamily="34" charset="0"/>
              </a:rPr>
              <a:t>Cumulative buy and sell quantities are calculated for each buy and sell price to find tradable volume at a price</a:t>
            </a:r>
          </a:p>
          <a:p>
            <a:pPr marL="139303" indent="-139303" defTabSz="784184">
              <a:spcAft>
                <a:spcPts val="600"/>
              </a:spcAft>
              <a:buFont typeface="Arial" panose="020B0604020202020204" pitchFamily="34" charset="0"/>
              <a:buChar char="•"/>
            </a:pPr>
            <a:r>
              <a:rPr lang="en-US" sz="1000" kern="0">
                <a:solidFill>
                  <a:prstClr val="black"/>
                </a:solidFill>
                <a:latin typeface="Arial" panose="020B0604020202020204" pitchFamily="34" charset="0"/>
                <a:cs typeface="Arial" panose="020B0604020202020204" pitchFamily="34" charset="0"/>
              </a:rPr>
              <a:t>Tradable volume = Minimum of cuml. buy and sell quantity</a:t>
            </a:r>
          </a:p>
          <a:p>
            <a:pPr marL="139303" indent="-139303" defTabSz="784184">
              <a:spcAft>
                <a:spcPts val="600"/>
              </a:spcAft>
              <a:buFont typeface="Arial" panose="020B0604020202020204" pitchFamily="34" charset="0"/>
              <a:buChar char="•"/>
            </a:pPr>
            <a:r>
              <a:rPr lang="en-US" sz="1000" kern="0">
                <a:solidFill>
                  <a:prstClr val="black"/>
                </a:solidFill>
                <a:latin typeface="Arial" panose="020B0604020202020204" pitchFamily="34" charset="0"/>
                <a:cs typeface="Arial" panose="020B0604020202020204" pitchFamily="34" charset="0"/>
              </a:rPr>
              <a:t>Price at which there is highest tradable volume, is the auction price</a:t>
            </a:r>
          </a:p>
        </p:txBody>
      </p:sp>
      <p:cxnSp>
        <p:nvCxnSpPr>
          <p:cNvPr id="57" name="Connector: Elbow 56">
            <a:extLst>
              <a:ext uri="{FF2B5EF4-FFF2-40B4-BE49-F238E27FC236}">
                <a16:creationId xmlns:a16="http://schemas.microsoft.com/office/drawing/2014/main" id="{F665E8E4-6531-7A6B-B290-8A90676F0885}"/>
              </a:ext>
            </a:extLst>
          </p:cNvPr>
          <p:cNvCxnSpPr>
            <a:cxnSpLocks/>
            <a:stCxn id="46" idx="3"/>
            <a:endCxn id="48" idx="1"/>
          </p:cNvCxnSpPr>
          <p:nvPr/>
        </p:nvCxnSpPr>
        <p:spPr bwMode="gray">
          <a:xfrm>
            <a:off x="2702001" y="2661301"/>
            <a:ext cx="2310284" cy="1232872"/>
          </a:xfrm>
          <a:prstGeom prst="bentConnector3">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1ADE6DBC-67D5-2BC9-745F-B7C9A0181BDE}"/>
              </a:ext>
            </a:extLst>
          </p:cNvPr>
          <p:cNvSpPr txBox="1"/>
          <p:nvPr/>
        </p:nvSpPr>
        <p:spPr bwMode="gray">
          <a:xfrm>
            <a:off x="3153726" y="3073569"/>
            <a:ext cx="582687" cy="461665"/>
          </a:xfrm>
          <a:prstGeom prst="rect">
            <a:avLst/>
          </a:prstGeom>
          <a:noFill/>
        </p:spPr>
        <p:txBody>
          <a:bodyPr wrap="square" lIns="0" tIns="0" rIns="0" bIns="0" rtlCol="0">
            <a:spAutoFit/>
          </a:bodyPr>
          <a:lstStyle>
            <a:defPPr>
              <a:defRPr lang="en-US"/>
            </a:defPPr>
            <a:lvl1pPr marR="0" indent="0" algn="ctr" defTabSz="990564" fontAlgn="auto">
              <a:lnSpc>
                <a:spcPct val="100000"/>
              </a:lnSpc>
              <a:spcBef>
                <a:spcPts val="0"/>
              </a:spcBef>
              <a:spcAft>
                <a:spcPts val="0"/>
              </a:spcAft>
              <a:buClrTx/>
              <a:buSzPct val="100000"/>
              <a:buFont typeface="Wingdings" panose="05000000000000000000" pitchFamily="2" charset="2"/>
              <a:buNone/>
              <a:tabLst/>
              <a:defRPr kumimoji="1" sz="1000" i="1"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stStyle>
          <a:p>
            <a:r>
              <a:rPr lang="en-US"/>
              <a:t>In case of multiple prices</a:t>
            </a:r>
          </a:p>
        </p:txBody>
      </p:sp>
      <p:cxnSp>
        <p:nvCxnSpPr>
          <p:cNvPr id="59" name="Connector: Elbow 58">
            <a:extLst>
              <a:ext uri="{FF2B5EF4-FFF2-40B4-BE49-F238E27FC236}">
                <a16:creationId xmlns:a16="http://schemas.microsoft.com/office/drawing/2014/main" id="{954F7FB3-C5FF-FC4B-BF81-2E8E603D1E62}"/>
              </a:ext>
            </a:extLst>
          </p:cNvPr>
          <p:cNvCxnSpPr>
            <a:cxnSpLocks/>
            <a:stCxn id="43" idx="3"/>
            <a:endCxn id="50" idx="1"/>
          </p:cNvCxnSpPr>
          <p:nvPr/>
        </p:nvCxnSpPr>
        <p:spPr bwMode="gray">
          <a:xfrm>
            <a:off x="7188132" y="3927336"/>
            <a:ext cx="1311358" cy="999380"/>
          </a:xfrm>
          <a:prstGeom prst="bentConnector3">
            <a:avLst>
              <a:gd name="adj1" fmla="val 50000"/>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D88400E1-A06C-88C5-00B5-055B0EDE0256}"/>
              </a:ext>
            </a:extLst>
          </p:cNvPr>
          <p:cNvSpPr txBox="1"/>
          <p:nvPr/>
        </p:nvSpPr>
        <p:spPr bwMode="gray">
          <a:xfrm>
            <a:off x="7868033" y="4076431"/>
            <a:ext cx="627534" cy="461665"/>
          </a:xfrm>
          <a:prstGeom prst="rect">
            <a:avLst/>
          </a:prstGeom>
          <a:noFill/>
        </p:spPr>
        <p:txBody>
          <a:bodyPr wrap="square" lIns="0" tIns="0" rIns="0" bIns="0" rtlCol="0">
            <a:spAutoFit/>
          </a:bodyPr>
          <a:lstStyle>
            <a:defPPr>
              <a:defRPr lang="en-US"/>
            </a:defPPr>
            <a:lvl1pPr marR="0" indent="0" algn="ctr" defTabSz="990564" fontAlgn="auto">
              <a:lnSpc>
                <a:spcPct val="100000"/>
              </a:lnSpc>
              <a:spcBef>
                <a:spcPts val="0"/>
              </a:spcBef>
              <a:spcAft>
                <a:spcPts val="0"/>
              </a:spcAft>
              <a:buClrTx/>
              <a:buSzPct val="100000"/>
              <a:buFont typeface="Wingdings" panose="05000000000000000000" pitchFamily="2" charset="2"/>
              <a:buNone/>
              <a:tabLst/>
              <a:defRPr kumimoji="1" sz="1000" i="1"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stStyle>
          <a:p>
            <a:r>
              <a:rPr lang="en-US"/>
              <a:t>In case of multiple prices</a:t>
            </a:r>
          </a:p>
        </p:txBody>
      </p:sp>
      <p:cxnSp>
        <p:nvCxnSpPr>
          <p:cNvPr id="61" name="Connector: Elbow 60">
            <a:extLst>
              <a:ext uri="{FF2B5EF4-FFF2-40B4-BE49-F238E27FC236}">
                <a16:creationId xmlns:a16="http://schemas.microsoft.com/office/drawing/2014/main" id="{EA5BEF20-B043-1A47-1613-2D8CCF4BB15C}"/>
              </a:ext>
            </a:extLst>
          </p:cNvPr>
          <p:cNvCxnSpPr>
            <a:cxnSpLocks/>
            <a:stCxn id="43" idx="3"/>
            <a:endCxn id="52" idx="1"/>
          </p:cNvCxnSpPr>
          <p:nvPr/>
        </p:nvCxnSpPr>
        <p:spPr bwMode="gray">
          <a:xfrm flipV="1">
            <a:off x="7188132" y="2661301"/>
            <a:ext cx="2331684" cy="1266035"/>
          </a:xfrm>
          <a:prstGeom prst="bentConnector3">
            <a:avLst>
              <a:gd name="adj1" fmla="val 50000"/>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98C2168C-43D1-9CFB-90A2-12014164A070}"/>
              </a:ext>
            </a:extLst>
          </p:cNvPr>
          <p:cNvSpPr txBox="1"/>
          <p:nvPr/>
        </p:nvSpPr>
        <p:spPr bwMode="gray">
          <a:xfrm>
            <a:off x="7322263" y="3227457"/>
            <a:ext cx="2432958" cy="153888"/>
          </a:xfrm>
          <a:prstGeom prst="rect">
            <a:avLst/>
          </a:prstGeom>
          <a:noFill/>
        </p:spPr>
        <p:txBody>
          <a:bodyPr wrap="square" lIns="0" tIns="0" rIns="0" bIns="0" rtlCol="0">
            <a:spAutoFit/>
          </a:bodyPr>
          <a:lstStyle>
            <a:defPPr>
              <a:defRPr lang="en-US"/>
            </a:defPPr>
            <a:lvl1pPr marR="0" indent="0" algn="ctr" defTabSz="990564" fontAlgn="auto">
              <a:lnSpc>
                <a:spcPct val="100000"/>
              </a:lnSpc>
              <a:spcBef>
                <a:spcPts val="0"/>
              </a:spcBef>
              <a:spcAft>
                <a:spcPts val="0"/>
              </a:spcAft>
              <a:buClrTx/>
              <a:buSzPct val="100000"/>
              <a:buFont typeface="Wingdings" panose="05000000000000000000" pitchFamily="2" charset="2"/>
              <a:buNone/>
              <a:tabLst/>
              <a:defRPr kumimoji="1" sz="1000" i="1"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stStyle>
          <a:p>
            <a:r>
              <a:rPr lang="en-US"/>
              <a:t>Else</a:t>
            </a:r>
          </a:p>
        </p:txBody>
      </p:sp>
      <p:pic>
        <p:nvPicPr>
          <p:cNvPr id="63" name="Picture 62" descr="A hand holding a sign with a dollar sign&#10;&#10;AI-generated content may be incorrect.">
            <a:extLst>
              <a:ext uri="{FF2B5EF4-FFF2-40B4-BE49-F238E27FC236}">
                <a16:creationId xmlns:a16="http://schemas.microsoft.com/office/drawing/2014/main" id="{2A71FA08-2CCC-FB6A-550E-C36D80A73EE6}"/>
              </a:ext>
            </a:extLst>
          </p:cNvPr>
          <p:cNvPicPr>
            <a:picLocks noChangeAspect="1"/>
          </p:cNvPicPr>
          <p:nvPr/>
        </p:nvPicPr>
        <p:blipFill>
          <a:blip r:embed="rId10"/>
          <a:stretch>
            <a:fillRect/>
          </a:stretch>
        </p:blipFill>
        <p:spPr>
          <a:xfrm>
            <a:off x="507480" y="1541233"/>
            <a:ext cx="548640" cy="548640"/>
          </a:xfrm>
          <a:prstGeom prst="rect">
            <a:avLst/>
          </a:prstGeom>
        </p:spPr>
      </p:pic>
      <p:cxnSp>
        <p:nvCxnSpPr>
          <p:cNvPr id="64" name="Straight Arrow Connector 63">
            <a:extLst>
              <a:ext uri="{FF2B5EF4-FFF2-40B4-BE49-F238E27FC236}">
                <a16:creationId xmlns:a16="http://schemas.microsoft.com/office/drawing/2014/main" id="{F80C4F25-3A8E-907A-F30D-79DC0B82201B}"/>
              </a:ext>
            </a:extLst>
          </p:cNvPr>
          <p:cNvCxnSpPr>
            <a:cxnSpLocks/>
            <a:stCxn id="30" idx="2"/>
            <a:endCxn id="46" idx="0"/>
          </p:cNvCxnSpPr>
          <p:nvPr/>
        </p:nvCxnSpPr>
        <p:spPr bwMode="gray">
          <a:xfrm flipH="1">
            <a:off x="1924763" y="2057465"/>
            <a:ext cx="32761" cy="375236"/>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65" name="Speech Bubble: Rectangle 64">
            <a:extLst>
              <a:ext uri="{FF2B5EF4-FFF2-40B4-BE49-F238E27FC236}">
                <a16:creationId xmlns:a16="http://schemas.microsoft.com/office/drawing/2014/main" id="{C8782BCE-71A1-8989-358D-C049A9039CE1}"/>
              </a:ext>
            </a:extLst>
          </p:cNvPr>
          <p:cNvSpPr/>
          <p:nvPr/>
        </p:nvSpPr>
        <p:spPr bwMode="gray">
          <a:xfrm>
            <a:off x="3056501" y="1691567"/>
            <a:ext cx="2600749" cy="496602"/>
          </a:xfrm>
          <a:prstGeom prst="wedgeRectCallout">
            <a:avLst>
              <a:gd name="adj1" fmla="val -56218"/>
              <a:gd name="adj2" fmla="val 2887"/>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784184">
              <a:spcBef>
                <a:spcPts val="600"/>
              </a:spcBef>
            </a:pPr>
            <a:r>
              <a:rPr lang="en-US" altLang="zh-CN" sz="900" kern="0">
                <a:solidFill>
                  <a:prstClr val="black"/>
                </a:solidFill>
                <a:latin typeface="Arial" panose="020B0604020202020204" pitchFamily="34" charset="0"/>
                <a:cs typeface="Arial" panose="020B0604020202020204" pitchFamily="34" charset="0"/>
              </a:rPr>
              <a:t>Multiple buy and sell bids received are </a:t>
            </a:r>
            <a:r>
              <a:rPr lang="en-US" altLang="zh-CN" sz="900" b="1" kern="0">
                <a:solidFill>
                  <a:prstClr val="black"/>
                </a:solidFill>
                <a:latin typeface="Arial" panose="020B0604020202020204" pitchFamily="34" charset="0"/>
                <a:cs typeface="Arial" panose="020B0604020202020204" pitchFamily="34" charset="0"/>
              </a:rPr>
              <a:t>sorted based on best buy and sell bids post session</a:t>
            </a:r>
          </a:p>
        </p:txBody>
      </p:sp>
      <p:sp>
        <p:nvSpPr>
          <p:cNvPr id="66" name="Oval 65">
            <a:extLst>
              <a:ext uri="{FF2B5EF4-FFF2-40B4-BE49-F238E27FC236}">
                <a16:creationId xmlns:a16="http://schemas.microsoft.com/office/drawing/2014/main" id="{6E3D94A8-BC3D-041D-B534-5627137346DB}"/>
              </a:ext>
            </a:extLst>
          </p:cNvPr>
          <p:cNvSpPr/>
          <p:nvPr/>
        </p:nvSpPr>
        <p:spPr bwMode="gray">
          <a:xfrm>
            <a:off x="405602" y="3183379"/>
            <a:ext cx="182880" cy="182880"/>
          </a:xfrm>
          <a:prstGeom prst="ellipse">
            <a:avLst/>
          </a:prstGeom>
          <a:solidFill>
            <a:schemeClr val="bg1"/>
          </a:solidFill>
          <a:ln w="19050" algn="ctr">
            <a:solidFill>
              <a:srgbClr val="DA291C"/>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00" b="1"/>
              <a:t>1</a:t>
            </a:r>
          </a:p>
        </p:txBody>
      </p:sp>
      <p:sp>
        <p:nvSpPr>
          <p:cNvPr id="67" name="Oval 66">
            <a:extLst>
              <a:ext uri="{FF2B5EF4-FFF2-40B4-BE49-F238E27FC236}">
                <a16:creationId xmlns:a16="http://schemas.microsoft.com/office/drawing/2014/main" id="{0C3B36C5-7878-8A14-E821-4DECA5DA839E}"/>
              </a:ext>
            </a:extLst>
          </p:cNvPr>
          <p:cNvSpPr/>
          <p:nvPr/>
        </p:nvSpPr>
        <p:spPr bwMode="gray">
          <a:xfrm>
            <a:off x="4834845" y="4158289"/>
            <a:ext cx="182880" cy="182880"/>
          </a:xfrm>
          <a:prstGeom prst="ellipse">
            <a:avLst/>
          </a:prstGeom>
          <a:solidFill>
            <a:schemeClr val="bg1"/>
          </a:solidFill>
          <a:ln w="19050" algn="ctr">
            <a:solidFill>
              <a:srgbClr val="DA291C"/>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00" b="1"/>
              <a:t>2</a:t>
            </a:r>
          </a:p>
        </p:txBody>
      </p:sp>
      <p:sp>
        <p:nvSpPr>
          <p:cNvPr id="69" name="Oval 68">
            <a:extLst>
              <a:ext uri="{FF2B5EF4-FFF2-40B4-BE49-F238E27FC236}">
                <a16:creationId xmlns:a16="http://schemas.microsoft.com/office/drawing/2014/main" id="{FFD6599C-44DC-C757-332C-1BF530FEC32E}"/>
              </a:ext>
            </a:extLst>
          </p:cNvPr>
          <p:cNvSpPr/>
          <p:nvPr/>
        </p:nvSpPr>
        <p:spPr bwMode="gray">
          <a:xfrm>
            <a:off x="8382236" y="5229012"/>
            <a:ext cx="182880" cy="182880"/>
          </a:xfrm>
          <a:prstGeom prst="ellipse">
            <a:avLst/>
          </a:prstGeom>
          <a:solidFill>
            <a:schemeClr val="bg1"/>
          </a:solidFill>
          <a:ln w="19050" algn="ctr">
            <a:solidFill>
              <a:srgbClr val="DA291C"/>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00" b="1"/>
              <a:t>3</a:t>
            </a:r>
          </a:p>
        </p:txBody>
      </p:sp>
      <p:sp>
        <p:nvSpPr>
          <p:cNvPr id="70" name="Speech Bubble: Rectangle 69">
            <a:extLst>
              <a:ext uri="{FF2B5EF4-FFF2-40B4-BE49-F238E27FC236}">
                <a16:creationId xmlns:a16="http://schemas.microsoft.com/office/drawing/2014/main" id="{C393A481-7965-B4BA-E646-4B83FE85FE02}"/>
              </a:ext>
            </a:extLst>
          </p:cNvPr>
          <p:cNvSpPr/>
          <p:nvPr/>
        </p:nvSpPr>
        <p:spPr bwMode="gray">
          <a:xfrm>
            <a:off x="4525556" y="5872334"/>
            <a:ext cx="2796707" cy="529611"/>
          </a:xfrm>
          <a:prstGeom prst="wedgeRectCallout">
            <a:avLst>
              <a:gd name="adj1" fmla="val 20021"/>
              <a:gd name="adj2" fmla="val -114407"/>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784184">
              <a:spcBef>
                <a:spcPts val="600"/>
              </a:spcBef>
            </a:pPr>
            <a:r>
              <a:rPr lang="en-US" altLang="zh-CN" sz="900" kern="0">
                <a:solidFill>
                  <a:prstClr val="black"/>
                </a:solidFill>
                <a:latin typeface="Arial" panose="020B0604020202020204" pitchFamily="34" charset="0"/>
                <a:cs typeface="Arial" panose="020B0604020202020204" pitchFamily="34" charset="0"/>
              </a:rPr>
              <a:t>Formula In case of multiple equal surplus and deficit or multiple 0 unbalances is explained in annexure </a:t>
            </a:r>
          </a:p>
        </p:txBody>
      </p:sp>
      <p:sp>
        <p:nvSpPr>
          <p:cNvPr id="71" name="Speech Bubble: Rectangle 70">
            <a:extLst>
              <a:ext uri="{FF2B5EF4-FFF2-40B4-BE49-F238E27FC236}">
                <a16:creationId xmlns:a16="http://schemas.microsoft.com/office/drawing/2014/main" id="{6965C0FE-1BFD-039F-9641-B54496889987}"/>
              </a:ext>
            </a:extLst>
          </p:cNvPr>
          <p:cNvSpPr/>
          <p:nvPr/>
        </p:nvSpPr>
        <p:spPr bwMode="gray">
          <a:xfrm>
            <a:off x="7479404" y="1691769"/>
            <a:ext cx="4033587" cy="517233"/>
          </a:xfrm>
          <a:prstGeom prst="wedgeRectCallout">
            <a:avLst>
              <a:gd name="adj1" fmla="val 24034"/>
              <a:gd name="adj2" fmla="val 75418"/>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784184">
              <a:spcBef>
                <a:spcPts val="600"/>
              </a:spcBef>
            </a:pPr>
            <a:r>
              <a:rPr lang="en-US" altLang="zh-CN" sz="900" kern="0">
                <a:solidFill>
                  <a:prstClr val="black"/>
                </a:solidFill>
                <a:latin typeface="Arial" panose="020B0604020202020204" pitchFamily="34" charset="0"/>
                <a:cs typeface="Arial" panose="020B0604020202020204" pitchFamily="34" charset="0"/>
              </a:rPr>
              <a:t>All matching orders are </a:t>
            </a:r>
            <a:r>
              <a:rPr lang="en-US" altLang="zh-CN" sz="900" b="1" kern="0">
                <a:solidFill>
                  <a:prstClr val="black"/>
                </a:solidFill>
                <a:latin typeface="Arial" panose="020B0604020202020204" pitchFamily="34" charset="0"/>
                <a:cs typeface="Arial" panose="020B0604020202020204" pitchFamily="34" charset="0"/>
              </a:rPr>
              <a:t>traded at the determined auction price</a:t>
            </a:r>
            <a:r>
              <a:rPr lang="en-US" altLang="zh-CN" sz="900" kern="0">
                <a:solidFill>
                  <a:prstClr val="black"/>
                </a:solidFill>
                <a:latin typeface="Arial" panose="020B0604020202020204" pitchFamily="34" charset="0"/>
                <a:cs typeface="Arial" panose="020B0604020202020204" pitchFamily="34" charset="0"/>
              </a:rPr>
              <a:t>, where </a:t>
            </a:r>
            <a:r>
              <a:rPr lang="en-US" altLang="zh-CN" sz="900" b="1" kern="0">
                <a:solidFill>
                  <a:prstClr val="black"/>
                </a:solidFill>
                <a:latin typeface="Arial" panose="020B0604020202020204" pitchFamily="34" charset="0"/>
                <a:cs typeface="Arial" panose="020B0604020202020204" pitchFamily="34" charset="0"/>
              </a:rPr>
              <a:t>order matching is governed by “price-time” priority</a:t>
            </a:r>
            <a:r>
              <a:rPr lang="en-US" altLang="zh-CN" sz="900" kern="0">
                <a:solidFill>
                  <a:prstClr val="black"/>
                </a:solidFill>
                <a:latin typeface="Arial" panose="020B0604020202020204" pitchFamily="34" charset="0"/>
                <a:cs typeface="Arial" panose="020B0604020202020204" pitchFamily="34" charset="0"/>
              </a:rPr>
              <a:t>, i.e., in case of equal price, earliest bid gets executed</a:t>
            </a:r>
            <a:endParaRPr lang="en-US" altLang="zh-CN" sz="900" b="1" kern="0">
              <a:solidFill>
                <a:prstClr val="black"/>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CBFCDA1F-461E-D623-5B10-D36D86D59A8F}"/>
              </a:ext>
            </a:extLst>
          </p:cNvPr>
          <p:cNvSpPr txBox="1"/>
          <p:nvPr/>
        </p:nvSpPr>
        <p:spPr>
          <a:xfrm>
            <a:off x="473065" y="6544150"/>
            <a:ext cx="457200" cy="138499"/>
          </a:xfrm>
          <a:prstGeom prst="rect">
            <a:avLst/>
          </a:prstGeom>
          <a:noFill/>
        </p:spPr>
        <p:txBody>
          <a:bodyPr wrap="square" lIns="0" tIns="0" rIns="0" bIns="0" rtlCol="0">
            <a:spAutoFit/>
          </a:bodyPr>
          <a:lstStyle/>
          <a:p>
            <a:pPr>
              <a:buFont typeface="Wingdings 2" pitchFamily="18" charset="2"/>
              <a:buNone/>
            </a:pPr>
            <a:r>
              <a:rPr lang="en-US" sz="900">
                <a:solidFill>
                  <a:srgbClr val="313131"/>
                </a:solidFill>
                <a:latin typeface="Arial" panose="020B0604020202020204" pitchFamily="34" charset="0"/>
                <a:cs typeface="Arial" panose="020B0604020202020204" pitchFamily="34" charset="0"/>
              </a:rPr>
              <a:t>Example</a:t>
            </a:r>
            <a:endParaRPr lang="en-US" sz="900">
              <a:latin typeface="Arial" panose="020B0604020202020204" pitchFamily="34" charset="0"/>
              <a:cs typeface="Arial" panose="020B0604020202020204" pitchFamily="34" charset="0"/>
            </a:endParaRPr>
          </a:p>
        </p:txBody>
      </p:sp>
      <p:sp>
        <p:nvSpPr>
          <p:cNvPr id="7" name="Arrow: Right 6">
            <a:hlinkClick r:id="rId11" action="ppaction://hlinksldjump"/>
            <a:extLst>
              <a:ext uri="{FF2B5EF4-FFF2-40B4-BE49-F238E27FC236}">
                <a16:creationId xmlns:a16="http://schemas.microsoft.com/office/drawing/2014/main" id="{D4F5F60A-3387-51B9-2AB8-DF79898E6498}"/>
              </a:ext>
            </a:extLst>
          </p:cNvPr>
          <p:cNvSpPr/>
          <p:nvPr/>
        </p:nvSpPr>
        <p:spPr bwMode="gray">
          <a:xfrm>
            <a:off x="977599" y="6562248"/>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57193489"/>
      </p:ext>
    </p:extLst>
  </p:cSld>
  <p:clrMapOvr>
    <a:masterClrMapping/>
  </p:clrMapOvr>
  <p:transition>
    <p:fade/>
  </p:transition>
</p:sld>
</file>

<file path=ppt/slides/slide79.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2984853554"/>
              </p:ext>
            </p:extLst>
          </p:nvPr>
        </p:nvGraphicFramePr>
        <p:xfrm>
          <a:off x="1673719" y="2761586"/>
          <a:ext cx="9206802" cy="1334828"/>
        </p:xfrm>
        <a:graphic>
          <a:graphicData uri="http://schemas.openxmlformats.org/drawingml/2006/table">
            <a:tbl>
              <a:tblPr firstRow="1" bandRow="1">
                <a:tableStyleId>{5C22544A-7EE6-4342-B048-85BDC9FD1C3A}</a:tableStyleId>
              </a:tblPr>
              <a:tblGrid>
                <a:gridCol w="2923681">
                  <a:extLst>
                    <a:ext uri="{9D8B030D-6E8A-4147-A177-3AD203B41FA5}">
                      <a16:colId xmlns:a16="http://schemas.microsoft.com/office/drawing/2014/main" val="2744717436"/>
                    </a:ext>
                  </a:extLst>
                </a:gridCol>
                <a:gridCol w="6283121">
                  <a:extLst>
                    <a:ext uri="{9D8B030D-6E8A-4147-A177-3AD203B41FA5}">
                      <a16:colId xmlns:a16="http://schemas.microsoft.com/office/drawing/2014/main" val="570884867"/>
                    </a:ext>
                  </a:extLst>
                </a:gridCol>
              </a:tblGrid>
              <a:tr h="1334828">
                <a:tc>
                  <a:txBody>
                    <a:bodyPr/>
                    <a:lstStyle/>
                    <a:p>
                      <a:r>
                        <a:rPr lang="en-US" sz="3600">
                          <a:latin typeface="Arial" panose="020B0604020202020204" pitchFamily="34" charset="0"/>
                          <a:cs typeface="Arial" panose="020B0604020202020204" pitchFamily="34" charset="0"/>
                        </a:rPr>
                        <a:t>4.3</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r>
                        <a:rPr lang="en-US" sz="2400" b="1" kern="0">
                          <a:solidFill>
                            <a:schemeClr val="lt1"/>
                          </a:solidFill>
                          <a:latin typeface="Arial" panose="020B0604020202020204" pitchFamily="34" charset="0"/>
                          <a:ea typeface="+mn-ea"/>
                          <a:cs typeface="Arial" panose="020B0604020202020204" pitchFamily="34" charset="0"/>
                        </a:rPr>
                        <a:t>PROFILE OF KEY BUYERS/OFF-TAKERS IN THE POWER EXCHANGES</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3270238587"/>
      </p:ext>
    </p:extLst>
  </p:cSld>
  <p:clrMapOvr>
    <a:masterClrMapping/>
  </p:clrMapOvr>
  <p:transition>
    <p:fade/>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069119611"/>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Buyers/</a:t>
            </a:r>
            <a:r>
              <a:rPr lang="en-US" sz="2000" b="1" err="1">
                <a:latin typeface="Arial" panose="020B0604020202020204" pitchFamily="34" charset="0"/>
                <a:cs typeface="Arial" panose="020B0604020202020204" pitchFamily="34" charset="0"/>
              </a:rPr>
              <a:t>offtakers</a:t>
            </a:r>
            <a:r>
              <a:rPr lang="en-US" sz="2000" b="1">
                <a:latin typeface="Arial" panose="020B0604020202020204" pitchFamily="34" charset="0"/>
                <a:cs typeface="Arial" panose="020B0604020202020204" pitchFamily="34" charset="0"/>
              </a:rPr>
              <a:t> in the power exchange | Day ahead market</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Top 5 buyers/off-takers have ~60% market share in DAM. Almost all power in the exchange is procured by state DISCOMs.</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graphicFrame>
        <p:nvGraphicFramePr>
          <p:cNvPr id="9" name="Chart 8">
            <a:extLst>
              <a:ext uri="{FF2B5EF4-FFF2-40B4-BE49-F238E27FC236}">
                <a16:creationId xmlns:a16="http://schemas.microsoft.com/office/drawing/2014/main" id="{458D9483-4DC9-D017-7397-E7D36CE3A878}"/>
              </a:ext>
            </a:extLst>
          </p:cNvPr>
          <p:cNvGraphicFramePr/>
          <p:nvPr>
            <p:extLst>
              <p:ext uri="{D42A27DB-BD31-4B8C-83A1-F6EECF244321}">
                <p14:modId xmlns:p14="http://schemas.microsoft.com/office/powerpoint/2010/main" val="1986093789"/>
              </p:ext>
            </p:extLst>
          </p:nvPr>
        </p:nvGraphicFramePr>
        <p:xfrm>
          <a:off x="495005" y="4240846"/>
          <a:ext cx="11215438" cy="215995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3" name="Chart 12">
            <a:extLst>
              <a:ext uri="{FF2B5EF4-FFF2-40B4-BE49-F238E27FC236}">
                <a16:creationId xmlns:a16="http://schemas.microsoft.com/office/drawing/2014/main" id="{C72BED3D-3647-3C2A-3A03-01E22EC95C0B}"/>
              </a:ext>
            </a:extLst>
          </p:cNvPr>
          <p:cNvGraphicFramePr/>
          <p:nvPr>
            <p:extLst>
              <p:ext uri="{D42A27DB-BD31-4B8C-83A1-F6EECF244321}">
                <p14:modId xmlns:p14="http://schemas.microsoft.com/office/powerpoint/2010/main" val="791009726"/>
              </p:ext>
            </p:extLst>
          </p:nvPr>
        </p:nvGraphicFramePr>
        <p:xfrm>
          <a:off x="407590" y="1658089"/>
          <a:ext cx="5574109" cy="1868264"/>
        </p:xfrm>
        <a:graphic>
          <a:graphicData uri="http://schemas.openxmlformats.org/drawingml/2006/chart">
            <c:chart xmlns:c="http://schemas.openxmlformats.org/drawingml/2006/chart" xmlns:r="http://schemas.openxmlformats.org/officeDocument/2006/relationships" r:id="rId7"/>
          </a:graphicData>
        </a:graphic>
      </p:graphicFrame>
      <p:sp>
        <p:nvSpPr>
          <p:cNvPr id="14" name="TextBox 13">
            <a:extLst>
              <a:ext uri="{FF2B5EF4-FFF2-40B4-BE49-F238E27FC236}">
                <a16:creationId xmlns:a16="http://schemas.microsoft.com/office/drawing/2014/main" id="{2FBE8BF6-0118-05F2-C4D3-60A9C9783D56}"/>
              </a:ext>
            </a:extLst>
          </p:cNvPr>
          <p:cNvSpPr txBox="1"/>
          <p:nvPr/>
        </p:nvSpPr>
        <p:spPr>
          <a:xfrm>
            <a:off x="421103" y="1072024"/>
            <a:ext cx="4368776" cy="461665"/>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spcBef>
                <a:spcPts val="0"/>
              </a:spcBef>
            </a:pPr>
            <a:r>
              <a:rPr lang="en-US"/>
              <a:t>Key buyers/offtakers</a:t>
            </a:r>
          </a:p>
          <a:p>
            <a:pPr>
              <a:spcBef>
                <a:spcPts val="0"/>
              </a:spcBef>
            </a:pPr>
            <a:r>
              <a:rPr lang="en-US" b="0"/>
              <a:t>%, FY25</a:t>
            </a:r>
          </a:p>
        </p:txBody>
      </p:sp>
      <p:sp>
        <p:nvSpPr>
          <p:cNvPr id="15" name="TextBox 14">
            <a:extLst>
              <a:ext uri="{FF2B5EF4-FFF2-40B4-BE49-F238E27FC236}">
                <a16:creationId xmlns:a16="http://schemas.microsoft.com/office/drawing/2014/main" id="{505679BC-4F2D-503D-AAF4-64AB102B7B8F}"/>
              </a:ext>
            </a:extLst>
          </p:cNvPr>
          <p:cNvSpPr txBox="1"/>
          <p:nvPr/>
        </p:nvSpPr>
        <p:spPr bwMode="gray">
          <a:xfrm>
            <a:off x="1853093" y="2515277"/>
            <a:ext cx="804398" cy="153888"/>
          </a:xfrm>
          <a:prstGeom prst="rect">
            <a:avLst/>
          </a:prstGeom>
          <a:noFill/>
        </p:spPr>
        <p:txBody>
          <a:bodyPr wrap="square" lIns="0" tIns="0" rIns="0" bIns="0" rtlCol="0">
            <a:sp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b="1" i="0" u="none" strike="noStrike" kern="1200" cap="none" spc="0" normalizeH="0" baseline="0" noProof="0">
                <a:ln>
                  <a:noFill/>
                </a:ln>
                <a:solidFill>
                  <a:prstClr val="black"/>
                </a:solidFill>
                <a:effectLst/>
                <a:uLnTx/>
                <a:uFillTx/>
                <a:latin typeface="+mn-lt"/>
                <a:ea typeface="+mn-ea"/>
                <a:cs typeface="+mn-cs"/>
              </a:rPr>
              <a:t>61,295 MU</a:t>
            </a:r>
          </a:p>
        </p:txBody>
      </p:sp>
      <p:sp>
        <p:nvSpPr>
          <p:cNvPr id="16" name="TextBox 15">
            <a:extLst>
              <a:ext uri="{FF2B5EF4-FFF2-40B4-BE49-F238E27FC236}">
                <a16:creationId xmlns:a16="http://schemas.microsoft.com/office/drawing/2014/main" id="{A5A1EB16-2ABC-2840-B808-B6972DA9E8F5}"/>
              </a:ext>
            </a:extLst>
          </p:cNvPr>
          <p:cNvSpPr txBox="1"/>
          <p:nvPr/>
        </p:nvSpPr>
        <p:spPr>
          <a:xfrm>
            <a:off x="415925" y="3672437"/>
            <a:ext cx="4368776" cy="461665"/>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spcBef>
                <a:spcPts val="0"/>
              </a:spcBef>
            </a:pPr>
            <a:r>
              <a:rPr lang="en-US"/>
              <a:t>MoM trend – Top 5 buyers/ offtakers</a:t>
            </a:r>
          </a:p>
          <a:p>
            <a:pPr>
              <a:spcBef>
                <a:spcPts val="0"/>
              </a:spcBef>
            </a:pPr>
            <a:r>
              <a:rPr lang="en-US" b="0"/>
              <a:t>MU, FY25</a:t>
            </a:r>
          </a:p>
        </p:txBody>
      </p:sp>
      <p:sp>
        <p:nvSpPr>
          <p:cNvPr id="17" name="Speech Bubble: Rectangle 16">
            <a:extLst>
              <a:ext uri="{FF2B5EF4-FFF2-40B4-BE49-F238E27FC236}">
                <a16:creationId xmlns:a16="http://schemas.microsoft.com/office/drawing/2014/main" id="{11047803-98B9-7EEF-A199-87AB157EDED0}"/>
              </a:ext>
            </a:extLst>
          </p:cNvPr>
          <p:cNvSpPr/>
          <p:nvPr/>
        </p:nvSpPr>
        <p:spPr bwMode="gray">
          <a:xfrm>
            <a:off x="3312676" y="1213366"/>
            <a:ext cx="2303510" cy="521461"/>
          </a:xfrm>
          <a:prstGeom prst="wedgeRectCallout">
            <a:avLst>
              <a:gd name="adj1" fmla="val -64725"/>
              <a:gd name="adj2" fmla="val 90398"/>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Top 10 buyers/ offtakers catered to ~79% of the total day ahead market</a:t>
            </a:r>
          </a:p>
        </p:txBody>
      </p:sp>
      <p:sp>
        <p:nvSpPr>
          <p:cNvPr id="18" name="TextBox 17">
            <a:extLst>
              <a:ext uri="{FF2B5EF4-FFF2-40B4-BE49-F238E27FC236}">
                <a16:creationId xmlns:a16="http://schemas.microsoft.com/office/drawing/2014/main" id="{4BCBB2DB-9382-8F4B-9173-575473FFF3D7}"/>
              </a:ext>
            </a:extLst>
          </p:cNvPr>
          <p:cNvSpPr txBox="1"/>
          <p:nvPr/>
        </p:nvSpPr>
        <p:spPr>
          <a:xfrm>
            <a:off x="6219321" y="1072024"/>
            <a:ext cx="3357851" cy="276999"/>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Key observations</a:t>
            </a:r>
          </a:p>
        </p:txBody>
      </p:sp>
      <p:sp>
        <p:nvSpPr>
          <p:cNvPr id="19" name="Rectangle 18">
            <a:extLst>
              <a:ext uri="{FF2B5EF4-FFF2-40B4-BE49-F238E27FC236}">
                <a16:creationId xmlns:a16="http://schemas.microsoft.com/office/drawing/2014/main" id="{2C1FFDC7-A9F2-CAAE-E714-41E41DE23D4F}"/>
              </a:ext>
            </a:extLst>
          </p:cNvPr>
          <p:cNvSpPr/>
          <p:nvPr/>
        </p:nvSpPr>
        <p:spPr bwMode="gray">
          <a:xfrm>
            <a:off x="6221597" y="1687906"/>
            <a:ext cx="5468754" cy="1868264"/>
          </a:xfrm>
          <a:prstGeom prst="rect">
            <a:avLst/>
          </a:prstGeom>
          <a:noFill/>
          <a:ln w="3175" algn="ctr">
            <a:noFill/>
            <a:miter lim="800000"/>
            <a:headEnd/>
            <a:tailEnd/>
          </a:ln>
          <a:effectLst/>
        </p:spPr>
        <p:txBody>
          <a:bodyPr wrap="square" lIns="72231" tIns="74295" rIns="72231" bIns="74295" rtlCol="0" anchor="ctr"/>
          <a:lstStyle/>
          <a:p>
            <a:pPr marL="171450" indent="-171450">
              <a:spcBef>
                <a:spcPts val="600"/>
              </a:spcBef>
              <a:buSzPct val="100000"/>
              <a:buFont typeface="Arial" panose="020B0604020202020204" pitchFamily="34" charset="0"/>
              <a:buChar char="•"/>
            </a:pPr>
            <a:r>
              <a:rPr lang="en-US" sz="1000" b="1">
                <a:latin typeface="Arial" panose="020B0604020202020204" pitchFamily="34" charset="0"/>
                <a:cs typeface="Arial" panose="020B0604020202020204" pitchFamily="34" charset="0"/>
              </a:rPr>
              <a:t>Telangana purchased 15,185 MU of electricity in FY25 purchasing ~52% of the total power from Dec’24 to Mar’25 </a:t>
            </a:r>
            <a:r>
              <a:rPr lang="en-US" sz="1000">
                <a:latin typeface="Arial" panose="020B0604020202020204" pitchFamily="34" charset="0"/>
                <a:cs typeface="Arial" panose="020B0604020202020204" pitchFamily="34" charset="0"/>
              </a:rPr>
              <a:t>with surge in demand driven by increase in agricultural requirements</a:t>
            </a:r>
          </a:p>
          <a:p>
            <a:pPr marL="165100" indent="-165100">
              <a:spcBef>
                <a:spcPts val="600"/>
              </a:spcBef>
              <a:buSzPct val="100000"/>
              <a:buFont typeface="Arial"/>
              <a:buChar char="•"/>
            </a:pPr>
            <a:r>
              <a:rPr lang="en-US" sz="1000">
                <a:latin typeface="Arial" panose="020B0604020202020204" pitchFamily="34" charset="0"/>
                <a:cs typeface="Arial" panose="020B0604020202020204" pitchFamily="34" charset="0"/>
              </a:rPr>
              <a:t>Gujarat purchased 9,152 MU of electricity in FY25 with offtake spread evenly across the months</a:t>
            </a:r>
          </a:p>
          <a:p>
            <a:pPr marL="165100" indent="-165100">
              <a:spcBef>
                <a:spcPts val="600"/>
              </a:spcBef>
              <a:buSzPct val="100000"/>
              <a:buFont typeface="Arial"/>
              <a:buChar char="•"/>
            </a:pPr>
            <a:r>
              <a:rPr lang="en-US" sz="1000">
                <a:latin typeface="Arial" panose="020B0604020202020204" pitchFamily="34" charset="0"/>
                <a:cs typeface="Arial" panose="020B0604020202020204" pitchFamily="34" charset="0"/>
              </a:rPr>
              <a:t>Maharashtra purchase ~78% of total 5,358 MU of FY25 in Oct’24 to Mar’25 with a </a:t>
            </a:r>
            <a:r>
              <a:rPr lang="en-US" sz="1000" b="1">
                <a:latin typeface="Arial" panose="020B0604020202020204" pitchFamily="34" charset="0"/>
                <a:cs typeface="Arial" panose="020B0604020202020204" pitchFamily="34" charset="0"/>
              </a:rPr>
              <a:t>peak of 903 MU in Nov’24 </a:t>
            </a:r>
          </a:p>
        </p:txBody>
      </p:sp>
    </p:spTree>
    <p:extLst>
      <p:ext uri="{BB962C8B-B14F-4D97-AF65-F5344CB8AC3E}">
        <p14:creationId xmlns:p14="http://schemas.microsoft.com/office/powerpoint/2010/main" val="1916124198"/>
      </p:ext>
    </p:extLst>
  </p:cSld>
  <p:clrMapOvr>
    <a:masterClrMapping/>
  </p:clrMapOvr>
  <p:transition>
    <p:fade/>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804199320"/>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Buyers/</a:t>
            </a:r>
            <a:r>
              <a:rPr lang="en-US" sz="2000" b="1" err="1">
                <a:latin typeface="Arial" panose="020B0604020202020204" pitchFamily="34" charset="0"/>
                <a:cs typeface="Arial" panose="020B0604020202020204" pitchFamily="34" charset="0"/>
              </a:rPr>
              <a:t>offtakers</a:t>
            </a:r>
            <a:r>
              <a:rPr lang="en-US" sz="2000" b="1">
                <a:latin typeface="Arial" panose="020B0604020202020204" pitchFamily="34" charset="0"/>
                <a:cs typeface="Arial" panose="020B0604020202020204" pitchFamily="34" charset="0"/>
              </a:rPr>
              <a:t> in the power exchange | Real time market</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Top 5 buyers/off-takers have ~55% market share in RTM. Almost all power in the exchange is procured by state DISCOMs.</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graphicFrame>
        <p:nvGraphicFramePr>
          <p:cNvPr id="9" name="Chart 8">
            <a:extLst>
              <a:ext uri="{FF2B5EF4-FFF2-40B4-BE49-F238E27FC236}">
                <a16:creationId xmlns:a16="http://schemas.microsoft.com/office/drawing/2014/main" id="{458D9483-4DC9-D017-7397-E7D36CE3A878}"/>
              </a:ext>
            </a:extLst>
          </p:cNvPr>
          <p:cNvGraphicFramePr/>
          <p:nvPr>
            <p:extLst>
              <p:ext uri="{D42A27DB-BD31-4B8C-83A1-F6EECF244321}">
                <p14:modId xmlns:p14="http://schemas.microsoft.com/office/powerpoint/2010/main" val="4229357310"/>
              </p:ext>
            </p:extLst>
          </p:nvPr>
        </p:nvGraphicFramePr>
        <p:xfrm>
          <a:off x="495005" y="4240846"/>
          <a:ext cx="11215438" cy="215995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3" name="Chart 12">
            <a:extLst>
              <a:ext uri="{FF2B5EF4-FFF2-40B4-BE49-F238E27FC236}">
                <a16:creationId xmlns:a16="http://schemas.microsoft.com/office/drawing/2014/main" id="{C72BED3D-3647-3C2A-3A03-01E22EC95C0B}"/>
              </a:ext>
            </a:extLst>
          </p:cNvPr>
          <p:cNvGraphicFramePr/>
          <p:nvPr>
            <p:extLst>
              <p:ext uri="{D42A27DB-BD31-4B8C-83A1-F6EECF244321}">
                <p14:modId xmlns:p14="http://schemas.microsoft.com/office/powerpoint/2010/main" val="1970639340"/>
              </p:ext>
            </p:extLst>
          </p:nvPr>
        </p:nvGraphicFramePr>
        <p:xfrm>
          <a:off x="407590" y="1658089"/>
          <a:ext cx="5574109" cy="1868264"/>
        </p:xfrm>
        <a:graphic>
          <a:graphicData uri="http://schemas.openxmlformats.org/drawingml/2006/chart">
            <c:chart xmlns:c="http://schemas.openxmlformats.org/drawingml/2006/chart" xmlns:r="http://schemas.openxmlformats.org/officeDocument/2006/relationships" r:id="rId7"/>
          </a:graphicData>
        </a:graphic>
      </p:graphicFrame>
      <p:sp>
        <p:nvSpPr>
          <p:cNvPr id="14" name="TextBox 13">
            <a:extLst>
              <a:ext uri="{FF2B5EF4-FFF2-40B4-BE49-F238E27FC236}">
                <a16:creationId xmlns:a16="http://schemas.microsoft.com/office/drawing/2014/main" id="{2FBE8BF6-0118-05F2-C4D3-60A9C9783D56}"/>
              </a:ext>
            </a:extLst>
          </p:cNvPr>
          <p:cNvSpPr txBox="1"/>
          <p:nvPr/>
        </p:nvSpPr>
        <p:spPr>
          <a:xfrm>
            <a:off x="421103" y="1072024"/>
            <a:ext cx="4368776" cy="461665"/>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spcBef>
                <a:spcPts val="0"/>
              </a:spcBef>
            </a:pPr>
            <a:r>
              <a:rPr lang="en-US"/>
              <a:t>Key buyers/offtakers</a:t>
            </a:r>
          </a:p>
          <a:p>
            <a:pPr>
              <a:spcBef>
                <a:spcPts val="0"/>
              </a:spcBef>
            </a:pPr>
            <a:r>
              <a:rPr lang="en-US" b="0"/>
              <a:t>%, FY25</a:t>
            </a:r>
          </a:p>
        </p:txBody>
      </p:sp>
      <p:sp>
        <p:nvSpPr>
          <p:cNvPr id="15" name="TextBox 14">
            <a:extLst>
              <a:ext uri="{FF2B5EF4-FFF2-40B4-BE49-F238E27FC236}">
                <a16:creationId xmlns:a16="http://schemas.microsoft.com/office/drawing/2014/main" id="{505679BC-4F2D-503D-AAF4-64AB102B7B8F}"/>
              </a:ext>
            </a:extLst>
          </p:cNvPr>
          <p:cNvSpPr txBox="1"/>
          <p:nvPr/>
        </p:nvSpPr>
        <p:spPr bwMode="gray">
          <a:xfrm>
            <a:off x="1853093" y="2515277"/>
            <a:ext cx="804398" cy="153888"/>
          </a:xfrm>
          <a:prstGeom prst="rect">
            <a:avLst/>
          </a:prstGeom>
          <a:noFill/>
        </p:spPr>
        <p:txBody>
          <a:bodyPr wrap="square" lIns="0" tIns="0" rIns="0" bIns="0" rtlCol="0">
            <a:sp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1000" b="1" i="0" u="none" strike="noStrike" kern="1200" cap="none" spc="0" normalizeH="0" baseline="0" noProof="0">
                <a:ln>
                  <a:noFill/>
                </a:ln>
                <a:solidFill>
                  <a:prstClr val="black"/>
                </a:solidFill>
                <a:effectLst/>
                <a:uLnTx/>
                <a:uFillTx/>
                <a:latin typeface="+mn-lt"/>
                <a:ea typeface="+mn-ea"/>
                <a:cs typeface="+mn-cs"/>
              </a:rPr>
              <a:t>38,812 MU</a:t>
            </a:r>
          </a:p>
        </p:txBody>
      </p:sp>
      <p:sp>
        <p:nvSpPr>
          <p:cNvPr id="16" name="TextBox 15">
            <a:extLst>
              <a:ext uri="{FF2B5EF4-FFF2-40B4-BE49-F238E27FC236}">
                <a16:creationId xmlns:a16="http://schemas.microsoft.com/office/drawing/2014/main" id="{A5A1EB16-2ABC-2840-B808-B6972DA9E8F5}"/>
              </a:ext>
            </a:extLst>
          </p:cNvPr>
          <p:cNvSpPr txBox="1"/>
          <p:nvPr/>
        </p:nvSpPr>
        <p:spPr>
          <a:xfrm>
            <a:off x="415925" y="3672437"/>
            <a:ext cx="4368776" cy="461665"/>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spcBef>
                <a:spcPts val="0"/>
              </a:spcBef>
            </a:pPr>
            <a:r>
              <a:rPr lang="en-US"/>
              <a:t>MoM trend – Top 5 buyers/ offtakers</a:t>
            </a:r>
          </a:p>
          <a:p>
            <a:pPr>
              <a:spcBef>
                <a:spcPts val="0"/>
              </a:spcBef>
            </a:pPr>
            <a:r>
              <a:rPr lang="en-US" b="0"/>
              <a:t>MU, FY25</a:t>
            </a:r>
          </a:p>
        </p:txBody>
      </p:sp>
      <p:sp>
        <p:nvSpPr>
          <p:cNvPr id="17" name="Speech Bubble: Rectangle 16">
            <a:extLst>
              <a:ext uri="{FF2B5EF4-FFF2-40B4-BE49-F238E27FC236}">
                <a16:creationId xmlns:a16="http://schemas.microsoft.com/office/drawing/2014/main" id="{11047803-98B9-7EEF-A199-87AB157EDED0}"/>
              </a:ext>
            </a:extLst>
          </p:cNvPr>
          <p:cNvSpPr/>
          <p:nvPr/>
        </p:nvSpPr>
        <p:spPr bwMode="gray">
          <a:xfrm>
            <a:off x="3312676" y="1213366"/>
            <a:ext cx="2303510" cy="521461"/>
          </a:xfrm>
          <a:prstGeom prst="wedgeRectCallout">
            <a:avLst>
              <a:gd name="adj1" fmla="val -64725"/>
              <a:gd name="adj2" fmla="val 90398"/>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9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Top 10 buyers/ offtakers catered to ~79% of the total day ahead market</a:t>
            </a:r>
          </a:p>
        </p:txBody>
      </p:sp>
      <p:sp>
        <p:nvSpPr>
          <p:cNvPr id="18" name="TextBox 17">
            <a:extLst>
              <a:ext uri="{FF2B5EF4-FFF2-40B4-BE49-F238E27FC236}">
                <a16:creationId xmlns:a16="http://schemas.microsoft.com/office/drawing/2014/main" id="{4BCBB2DB-9382-8F4B-9173-575473FFF3D7}"/>
              </a:ext>
            </a:extLst>
          </p:cNvPr>
          <p:cNvSpPr txBox="1"/>
          <p:nvPr/>
        </p:nvSpPr>
        <p:spPr>
          <a:xfrm>
            <a:off x="6219321" y="1072024"/>
            <a:ext cx="3357851" cy="276999"/>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Key observations</a:t>
            </a:r>
          </a:p>
        </p:txBody>
      </p:sp>
      <p:sp>
        <p:nvSpPr>
          <p:cNvPr id="19" name="Rectangle 18">
            <a:extLst>
              <a:ext uri="{FF2B5EF4-FFF2-40B4-BE49-F238E27FC236}">
                <a16:creationId xmlns:a16="http://schemas.microsoft.com/office/drawing/2014/main" id="{2C1FFDC7-A9F2-CAAE-E714-41E41DE23D4F}"/>
              </a:ext>
            </a:extLst>
          </p:cNvPr>
          <p:cNvSpPr/>
          <p:nvPr/>
        </p:nvSpPr>
        <p:spPr bwMode="gray">
          <a:xfrm>
            <a:off x="6221597" y="1687906"/>
            <a:ext cx="5468754" cy="1868264"/>
          </a:xfrm>
          <a:prstGeom prst="rect">
            <a:avLst/>
          </a:prstGeom>
          <a:noFill/>
          <a:ln w="3175" algn="ctr">
            <a:noFill/>
            <a:miter lim="800000"/>
            <a:headEnd/>
            <a:tailEnd/>
          </a:ln>
          <a:effectLst/>
        </p:spPr>
        <p:txBody>
          <a:bodyPr wrap="square" lIns="72231" tIns="74295" rIns="72231" bIns="74295" rtlCol="0" anchor="ctr"/>
          <a:lstStyle/>
          <a:p>
            <a:pPr marL="171450" indent="-171450">
              <a:spcBef>
                <a:spcPts val="600"/>
              </a:spcBef>
              <a:buSzPct val="100000"/>
              <a:buFont typeface="Arial" panose="020B0604020202020204" pitchFamily="34" charset="0"/>
              <a:buChar char="•"/>
            </a:pPr>
            <a:r>
              <a:rPr lang="en-US" sz="1000">
                <a:latin typeface="Arial" panose="020B0604020202020204" pitchFamily="34" charset="0"/>
                <a:cs typeface="Arial" panose="020B0604020202020204" pitchFamily="34" charset="0"/>
              </a:rPr>
              <a:t>Punjab purchased 6,741 MU of electricity from RTM in FY25 with demand surges in Jun-Oct’24 due to paddy season and hot summer while in Jan-Mar’25 due to harsh winter, </a:t>
            </a:r>
            <a:r>
              <a:rPr lang="en-US" sz="1000" b="1">
                <a:latin typeface="Arial" panose="020B0604020202020204" pitchFamily="34" charset="0"/>
                <a:cs typeface="Arial" panose="020B0604020202020204" pitchFamily="34" charset="0"/>
              </a:rPr>
              <a:t>increasing morning and evening peak demand</a:t>
            </a:r>
          </a:p>
          <a:p>
            <a:pPr marL="171450" indent="-171450">
              <a:spcBef>
                <a:spcPts val="600"/>
              </a:spcBef>
              <a:buSzPct val="100000"/>
              <a:buFont typeface="Arial" panose="020B0604020202020204" pitchFamily="34" charset="0"/>
              <a:buChar char="•"/>
            </a:pPr>
            <a:r>
              <a:rPr lang="en-US" sz="1000">
                <a:latin typeface="Arial" panose="020B0604020202020204" pitchFamily="34" charset="0"/>
                <a:cs typeface="Arial" panose="020B0604020202020204" pitchFamily="34" charset="0"/>
              </a:rPr>
              <a:t>Telangana purchased 4,947 MU of electricity in FY25 with </a:t>
            </a:r>
            <a:r>
              <a:rPr lang="en-US" sz="1000" b="1">
                <a:latin typeface="Arial" panose="020B0604020202020204" pitchFamily="34" charset="0"/>
                <a:cs typeface="Arial" panose="020B0604020202020204" pitchFamily="34" charset="0"/>
              </a:rPr>
              <a:t>a peak of 666 units in Aug’24</a:t>
            </a:r>
          </a:p>
          <a:p>
            <a:pPr marL="171450" indent="-171450">
              <a:spcBef>
                <a:spcPts val="600"/>
              </a:spcBef>
              <a:buSzPct val="100000"/>
              <a:buFont typeface="Arial" panose="020B0604020202020204" pitchFamily="34" charset="0"/>
              <a:buChar char="•"/>
            </a:pPr>
            <a:r>
              <a:rPr lang="en-US" sz="1000">
                <a:latin typeface="Arial" panose="020B0604020202020204" pitchFamily="34" charset="0"/>
                <a:cs typeface="Arial" panose="020B0604020202020204" pitchFamily="34" charset="0"/>
              </a:rPr>
              <a:t>Rajasthan purchased 3,504 MU of electricity in FY25 with </a:t>
            </a:r>
            <a:r>
              <a:rPr lang="en-US" sz="1000" b="1">
                <a:latin typeface="Arial" panose="020B0604020202020204" pitchFamily="34" charset="0"/>
                <a:cs typeface="Arial" panose="020B0604020202020204" pitchFamily="34" charset="0"/>
              </a:rPr>
              <a:t>~51% power purchased in peak summer during May’24 to jul’24</a:t>
            </a:r>
          </a:p>
        </p:txBody>
      </p:sp>
    </p:spTree>
    <p:extLst>
      <p:ext uri="{BB962C8B-B14F-4D97-AF65-F5344CB8AC3E}">
        <p14:creationId xmlns:p14="http://schemas.microsoft.com/office/powerpoint/2010/main" val="3890035944"/>
      </p:ext>
    </p:extLst>
  </p:cSld>
  <p:clrMapOvr>
    <a:masterClrMapping/>
  </p:clrMapOvr>
  <p:transition>
    <p:fade/>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996105638"/>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US" sz="2000" b="1">
                <a:latin typeface="Arial" panose="020B0604020202020204" pitchFamily="34" charset="0"/>
                <a:cs typeface="Arial" panose="020B0604020202020204" pitchFamily="34" charset="0"/>
              </a:rPr>
              <a:t>Buyers/off-takers in the power exchange | Integrated ratings of distribution utilities across states</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State DISCOMs witnessed improvement in their operational performance, reflected in the improved integrated ratings (by the Ministry of Power)</a:t>
            </a:r>
          </a:p>
          <a:p>
            <a:endParaRPr lang="en-US" sz="1400">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ces: </a:t>
            </a:r>
            <a:r>
              <a:rPr lang="en-US" sz="1050">
                <a:solidFill>
                  <a:schemeClr val="tx2"/>
                </a:solidFill>
                <a:latin typeface="Arial" panose="020B0604020202020204" pitchFamily="34" charset="0"/>
                <a:cs typeface="Arial" panose="020B0604020202020204" pitchFamily="34" charset="0"/>
              </a:rPr>
              <a:t>Central Electricity Authority (India), Ministry of Power (India),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graphicFrame>
        <p:nvGraphicFramePr>
          <p:cNvPr id="11" name="Table 5">
            <a:extLst>
              <a:ext uri="{FF2B5EF4-FFF2-40B4-BE49-F238E27FC236}">
                <a16:creationId xmlns:a16="http://schemas.microsoft.com/office/drawing/2014/main" id="{F0EA816B-4263-E1EA-5FC1-9C95D1E6DDFA}"/>
              </a:ext>
            </a:extLst>
          </p:cNvPr>
          <p:cNvGraphicFramePr>
            <a:graphicFrameLocks/>
          </p:cNvGraphicFramePr>
          <p:nvPr>
            <p:extLst>
              <p:ext uri="{D42A27DB-BD31-4B8C-83A1-F6EECF244321}">
                <p14:modId xmlns:p14="http://schemas.microsoft.com/office/powerpoint/2010/main" val="1007516213"/>
              </p:ext>
            </p:extLst>
          </p:nvPr>
        </p:nvGraphicFramePr>
        <p:xfrm>
          <a:off x="494803" y="1072024"/>
          <a:ext cx="11195550" cy="2108617"/>
        </p:xfrm>
        <a:graphic>
          <a:graphicData uri="http://schemas.openxmlformats.org/drawingml/2006/table">
            <a:tbl>
              <a:tblPr firstRow="1" bandRow="1">
                <a:tableStyleId>{5A111915-BE36-4E01-A7E5-04B1672EAD32}</a:tableStyleId>
              </a:tblPr>
              <a:tblGrid>
                <a:gridCol w="540593">
                  <a:extLst>
                    <a:ext uri="{9D8B030D-6E8A-4147-A177-3AD203B41FA5}">
                      <a16:colId xmlns:a16="http://schemas.microsoft.com/office/drawing/2014/main" val="1779003219"/>
                    </a:ext>
                  </a:extLst>
                </a:gridCol>
                <a:gridCol w="463259">
                  <a:extLst>
                    <a:ext uri="{9D8B030D-6E8A-4147-A177-3AD203B41FA5}">
                      <a16:colId xmlns:a16="http://schemas.microsoft.com/office/drawing/2014/main" val="2946695822"/>
                    </a:ext>
                  </a:extLst>
                </a:gridCol>
                <a:gridCol w="463259">
                  <a:extLst>
                    <a:ext uri="{9D8B030D-6E8A-4147-A177-3AD203B41FA5}">
                      <a16:colId xmlns:a16="http://schemas.microsoft.com/office/drawing/2014/main" val="3906328323"/>
                    </a:ext>
                  </a:extLst>
                </a:gridCol>
                <a:gridCol w="463259">
                  <a:extLst>
                    <a:ext uri="{9D8B030D-6E8A-4147-A177-3AD203B41FA5}">
                      <a16:colId xmlns:a16="http://schemas.microsoft.com/office/drawing/2014/main" val="2543616867"/>
                    </a:ext>
                  </a:extLst>
                </a:gridCol>
                <a:gridCol w="463259">
                  <a:extLst>
                    <a:ext uri="{9D8B030D-6E8A-4147-A177-3AD203B41FA5}">
                      <a16:colId xmlns:a16="http://schemas.microsoft.com/office/drawing/2014/main" val="2852057660"/>
                    </a:ext>
                  </a:extLst>
                </a:gridCol>
                <a:gridCol w="463259">
                  <a:extLst>
                    <a:ext uri="{9D8B030D-6E8A-4147-A177-3AD203B41FA5}">
                      <a16:colId xmlns:a16="http://schemas.microsoft.com/office/drawing/2014/main" val="3103629700"/>
                    </a:ext>
                  </a:extLst>
                </a:gridCol>
                <a:gridCol w="463259">
                  <a:extLst>
                    <a:ext uri="{9D8B030D-6E8A-4147-A177-3AD203B41FA5}">
                      <a16:colId xmlns:a16="http://schemas.microsoft.com/office/drawing/2014/main" val="3091753941"/>
                    </a:ext>
                  </a:extLst>
                </a:gridCol>
                <a:gridCol w="463259">
                  <a:extLst>
                    <a:ext uri="{9D8B030D-6E8A-4147-A177-3AD203B41FA5}">
                      <a16:colId xmlns:a16="http://schemas.microsoft.com/office/drawing/2014/main" val="4194143334"/>
                    </a:ext>
                  </a:extLst>
                </a:gridCol>
                <a:gridCol w="463259">
                  <a:extLst>
                    <a:ext uri="{9D8B030D-6E8A-4147-A177-3AD203B41FA5}">
                      <a16:colId xmlns:a16="http://schemas.microsoft.com/office/drawing/2014/main" val="630898689"/>
                    </a:ext>
                  </a:extLst>
                </a:gridCol>
                <a:gridCol w="463259">
                  <a:extLst>
                    <a:ext uri="{9D8B030D-6E8A-4147-A177-3AD203B41FA5}">
                      <a16:colId xmlns:a16="http://schemas.microsoft.com/office/drawing/2014/main" val="3866546742"/>
                    </a:ext>
                  </a:extLst>
                </a:gridCol>
                <a:gridCol w="463259">
                  <a:extLst>
                    <a:ext uri="{9D8B030D-6E8A-4147-A177-3AD203B41FA5}">
                      <a16:colId xmlns:a16="http://schemas.microsoft.com/office/drawing/2014/main" val="1721418276"/>
                    </a:ext>
                  </a:extLst>
                </a:gridCol>
                <a:gridCol w="463259">
                  <a:extLst>
                    <a:ext uri="{9D8B030D-6E8A-4147-A177-3AD203B41FA5}">
                      <a16:colId xmlns:a16="http://schemas.microsoft.com/office/drawing/2014/main" val="323665153"/>
                    </a:ext>
                  </a:extLst>
                </a:gridCol>
                <a:gridCol w="463259">
                  <a:extLst>
                    <a:ext uri="{9D8B030D-6E8A-4147-A177-3AD203B41FA5}">
                      <a16:colId xmlns:a16="http://schemas.microsoft.com/office/drawing/2014/main" val="452058342"/>
                    </a:ext>
                  </a:extLst>
                </a:gridCol>
                <a:gridCol w="463259">
                  <a:extLst>
                    <a:ext uri="{9D8B030D-6E8A-4147-A177-3AD203B41FA5}">
                      <a16:colId xmlns:a16="http://schemas.microsoft.com/office/drawing/2014/main" val="4055235825"/>
                    </a:ext>
                  </a:extLst>
                </a:gridCol>
                <a:gridCol w="463259">
                  <a:extLst>
                    <a:ext uri="{9D8B030D-6E8A-4147-A177-3AD203B41FA5}">
                      <a16:colId xmlns:a16="http://schemas.microsoft.com/office/drawing/2014/main" val="2970258369"/>
                    </a:ext>
                  </a:extLst>
                </a:gridCol>
                <a:gridCol w="463259">
                  <a:extLst>
                    <a:ext uri="{9D8B030D-6E8A-4147-A177-3AD203B41FA5}">
                      <a16:colId xmlns:a16="http://schemas.microsoft.com/office/drawing/2014/main" val="3900595803"/>
                    </a:ext>
                  </a:extLst>
                </a:gridCol>
                <a:gridCol w="463259">
                  <a:extLst>
                    <a:ext uri="{9D8B030D-6E8A-4147-A177-3AD203B41FA5}">
                      <a16:colId xmlns:a16="http://schemas.microsoft.com/office/drawing/2014/main" val="3188319306"/>
                    </a:ext>
                  </a:extLst>
                </a:gridCol>
                <a:gridCol w="463259">
                  <a:extLst>
                    <a:ext uri="{9D8B030D-6E8A-4147-A177-3AD203B41FA5}">
                      <a16:colId xmlns:a16="http://schemas.microsoft.com/office/drawing/2014/main" val="3668239447"/>
                    </a:ext>
                  </a:extLst>
                </a:gridCol>
                <a:gridCol w="463259">
                  <a:extLst>
                    <a:ext uri="{9D8B030D-6E8A-4147-A177-3AD203B41FA5}">
                      <a16:colId xmlns:a16="http://schemas.microsoft.com/office/drawing/2014/main" val="3600442504"/>
                    </a:ext>
                  </a:extLst>
                </a:gridCol>
                <a:gridCol w="463259">
                  <a:extLst>
                    <a:ext uri="{9D8B030D-6E8A-4147-A177-3AD203B41FA5}">
                      <a16:colId xmlns:a16="http://schemas.microsoft.com/office/drawing/2014/main" val="1413757949"/>
                    </a:ext>
                  </a:extLst>
                </a:gridCol>
                <a:gridCol w="463259">
                  <a:extLst>
                    <a:ext uri="{9D8B030D-6E8A-4147-A177-3AD203B41FA5}">
                      <a16:colId xmlns:a16="http://schemas.microsoft.com/office/drawing/2014/main" val="3866103138"/>
                    </a:ext>
                  </a:extLst>
                </a:gridCol>
                <a:gridCol w="463259">
                  <a:extLst>
                    <a:ext uri="{9D8B030D-6E8A-4147-A177-3AD203B41FA5}">
                      <a16:colId xmlns:a16="http://schemas.microsoft.com/office/drawing/2014/main" val="2198513799"/>
                    </a:ext>
                  </a:extLst>
                </a:gridCol>
                <a:gridCol w="463259">
                  <a:extLst>
                    <a:ext uri="{9D8B030D-6E8A-4147-A177-3AD203B41FA5}">
                      <a16:colId xmlns:a16="http://schemas.microsoft.com/office/drawing/2014/main" val="2065571344"/>
                    </a:ext>
                  </a:extLst>
                </a:gridCol>
                <a:gridCol w="463259">
                  <a:extLst>
                    <a:ext uri="{9D8B030D-6E8A-4147-A177-3AD203B41FA5}">
                      <a16:colId xmlns:a16="http://schemas.microsoft.com/office/drawing/2014/main" val="3161122528"/>
                    </a:ext>
                  </a:extLst>
                </a:gridCol>
              </a:tblGrid>
              <a:tr h="728439">
                <a:tc>
                  <a:txBody>
                    <a:bodyPr/>
                    <a:lstStyle/>
                    <a:p>
                      <a:pPr algn="ctr"/>
                      <a:endParaRPr lang="en-US" sz="1000">
                        <a:latin typeface="Arial" panose="020B0604020202020204" pitchFamily="34" charset="0"/>
                        <a:cs typeface="Arial" panose="020B0604020202020204" pitchFamily="34" charset="0"/>
                      </a:endParaRPr>
                    </a:p>
                  </a:txBody>
                  <a:tcPr marL="0" marR="0" marT="0" marB="0" anchor="ctr">
                    <a:lnR w="6350" cap="flat" cmpd="sng" algn="ctr">
                      <a:solidFill>
                        <a:schemeClr val="bg1"/>
                      </a:solidFill>
                      <a:prstDash val="solid"/>
                      <a:round/>
                      <a:headEnd type="none" w="med" len="med"/>
                      <a:tailEnd type="none" w="med" len="med"/>
                    </a:lnR>
                  </a:tcPr>
                </a:tc>
                <a:tc gridSpan="2">
                  <a:txBody>
                    <a:bodyPr/>
                    <a:lstStyle/>
                    <a:p>
                      <a:pPr algn="ctr"/>
                      <a:r>
                        <a:rPr lang="en-US" sz="1000">
                          <a:latin typeface="Arial" panose="020B0604020202020204" pitchFamily="34" charset="0"/>
                          <a:cs typeface="Arial" panose="020B0604020202020204" pitchFamily="34" charset="0"/>
                        </a:rPr>
                        <a:t>Telangana (2 Discoms)</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tcPr>
                </a:tc>
                <a:tc hMerge="1">
                  <a:txBody>
                    <a:bodyPr/>
                    <a:lstStyle/>
                    <a:p>
                      <a:pPr algn="ctr"/>
                      <a:endParaRPr lang="en-US" sz="1100"/>
                    </a:p>
                  </a:txBody>
                  <a:tcPr anchor="ctr"/>
                </a:tc>
                <a:tc gridSpan="4">
                  <a:txBody>
                    <a:bodyPr/>
                    <a:lstStyle/>
                    <a:p>
                      <a:pPr algn="ctr"/>
                      <a:r>
                        <a:rPr lang="en-US" sz="1000">
                          <a:latin typeface="Arial" panose="020B0604020202020204" pitchFamily="34" charset="0"/>
                          <a:cs typeface="Arial" panose="020B0604020202020204" pitchFamily="34" charset="0"/>
                        </a:rPr>
                        <a:t>Gujarat (4 Discoms)</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tcPr>
                </a:tc>
                <a:tc hMerge="1">
                  <a:txBody>
                    <a:bodyPr/>
                    <a:lstStyle/>
                    <a:p>
                      <a:pPr algn="ctr"/>
                      <a:endParaRPr lang="en-US" sz="1100"/>
                    </a:p>
                  </a:txBody>
                  <a:tcPr anchor="ctr"/>
                </a:tc>
                <a:tc hMerge="1">
                  <a:txBody>
                    <a:bodyPr/>
                    <a:lstStyle/>
                    <a:p>
                      <a:pPr algn="ctr"/>
                      <a:endParaRPr lang="en-US" sz="1100"/>
                    </a:p>
                  </a:txBody>
                  <a:tcPr anchor="ctr"/>
                </a:tc>
                <a:tc hMerge="1">
                  <a:txBody>
                    <a:bodyPr/>
                    <a:lstStyle/>
                    <a:p>
                      <a:pPr algn="ctr"/>
                      <a:endParaRPr lang="en-US" sz="1100"/>
                    </a:p>
                  </a:txBody>
                  <a:tcPr anchor="ctr"/>
                </a:tc>
                <a:tc>
                  <a:txBody>
                    <a:bodyPr/>
                    <a:lstStyle/>
                    <a:p>
                      <a:pPr algn="ctr"/>
                      <a:r>
                        <a:rPr lang="en-US" sz="1000">
                          <a:latin typeface="Arial" panose="020B0604020202020204" pitchFamily="34" charset="0"/>
                          <a:cs typeface="Arial" panose="020B0604020202020204" pitchFamily="34" charset="0"/>
                        </a:rPr>
                        <a:t>Mahara-shtra</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tcPr>
                </a:tc>
                <a:tc gridSpan="5">
                  <a:txBody>
                    <a:bodyPr/>
                    <a:lstStyle/>
                    <a:p>
                      <a:pPr algn="ctr"/>
                      <a:r>
                        <a:rPr lang="en-US" sz="1000">
                          <a:latin typeface="Arial" panose="020B0604020202020204" pitchFamily="34" charset="0"/>
                          <a:cs typeface="Arial" panose="020B0604020202020204" pitchFamily="34" charset="0"/>
                        </a:rPr>
                        <a:t>Uttar Pradesh(5 Discoms)</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tcPr>
                </a:tc>
                <a:tc hMerge="1">
                  <a:txBody>
                    <a:bodyPr/>
                    <a:lstStyle/>
                    <a:p>
                      <a:pPr algn="ctr"/>
                      <a:endParaRPr lang="en-US" sz="1100"/>
                    </a:p>
                  </a:txBody>
                  <a:tcPr anchor="ctr"/>
                </a:tc>
                <a:tc hMerge="1">
                  <a:txBody>
                    <a:bodyPr/>
                    <a:lstStyle/>
                    <a:p>
                      <a:pPr algn="ctr"/>
                      <a:endParaRPr lang="en-US" sz="1100"/>
                    </a:p>
                  </a:txBody>
                  <a:tcPr anchor="ctr"/>
                </a:tc>
                <a:tc hMerge="1">
                  <a:txBody>
                    <a:bodyPr/>
                    <a:lstStyle/>
                    <a:p>
                      <a:pPr algn="ctr"/>
                      <a:endParaRPr lang="en-US" sz="900"/>
                    </a:p>
                  </a:txBody>
                  <a:tcPr marL="74295" marR="74295" marT="37148" marB="37148"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hMerge="1">
                  <a:txBody>
                    <a:bodyPr/>
                    <a:lstStyle/>
                    <a:p>
                      <a:pPr algn="ctr"/>
                      <a:endParaRPr lang="en-US" sz="900"/>
                    </a:p>
                  </a:txBody>
                  <a:tcPr marL="74295" marR="74295" marT="37148" marB="37148"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gridSpan="3">
                  <a:txBody>
                    <a:bodyPr/>
                    <a:lstStyle/>
                    <a:p>
                      <a:pPr algn="ctr"/>
                      <a:r>
                        <a:rPr lang="en-US" sz="1000">
                          <a:latin typeface="Arial" panose="020B0604020202020204" pitchFamily="34" charset="0"/>
                          <a:cs typeface="Arial" panose="020B0604020202020204" pitchFamily="34" charset="0"/>
                        </a:rPr>
                        <a:t>Rajasthan (3 Discoms)</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tcPr>
                </a:tc>
                <a:tc hMerge="1">
                  <a:txBody>
                    <a:bodyPr/>
                    <a:lstStyle/>
                    <a:p>
                      <a:pPr algn="ctr"/>
                      <a:endParaRPr lang="en-US" sz="1100"/>
                    </a:p>
                  </a:txBody>
                  <a:tcPr anchor="ctr"/>
                </a:tc>
                <a:tc hMerge="1">
                  <a:txBody>
                    <a:bodyPr/>
                    <a:lstStyle/>
                    <a:p>
                      <a:pPr algn="ctr"/>
                      <a:endParaRPr lang="en-US" sz="1100"/>
                    </a:p>
                  </a:txBody>
                  <a:tcPr anchor="ctr"/>
                </a:tc>
                <a:tc gridSpan="3">
                  <a:txBody>
                    <a:bodyPr/>
                    <a:lstStyle/>
                    <a:p>
                      <a:pPr algn="ctr"/>
                      <a:r>
                        <a:rPr lang="en-US" sz="1000">
                          <a:latin typeface="Arial" panose="020B0604020202020204" pitchFamily="34" charset="0"/>
                          <a:cs typeface="Arial" panose="020B0604020202020204" pitchFamily="34" charset="0"/>
                        </a:rPr>
                        <a:t>Andhra Pradesh (3 Discoms)</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tcPr>
                </a:tc>
                <a:tc hMerge="1">
                  <a:txBody>
                    <a:bodyPr/>
                    <a:lstStyle/>
                    <a:p>
                      <a:pPr algn="ctr"/>
                      <a:endParaRPr lang="en-US" sz="1100"/>
                    </a:p>
                  </a:txBody>
                  <a:tcPr anchor="ctr"/>
                </a:tc>
                <a:tc hMerge="1">
                  <a:txBody>
                    <a:bodyPr/>
                    <a:lstStyle/>
                    <a:p>
                      <a:pPr algn="ctr"/>
                      <a:endParaRPr lang="en-US" sz="1100"/>
                    </a:p>
                  </a:txBody>
                  <a:tcPr anchor="ctr"/>
                </a:tc>
                <a:tc>
                  <a:txBody>
                    <a:bodyPr/>
                    <a:lstStyle/>
                    <a:p>
                      <a:pPr algn="ctr"/>
                      <a:r>
                        <a:rPr lang="en-US" sz="1000">
                          <a:latin typeface="Arial" panose="020B0604020202020204" pitchFamily="34" charset="0"/>
                          <a:cs typeface="Arial" panose="020B0604020202020204" pitchFamily="34" charset="0"/>
                        </a:rPr>
                        <a:t>Punjab</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tcPr>
                </a:tc>
                <a:tc>
                  <a:txBody>
                    <a:bodyPr/>
                    <a:lstStyle/>
                    <a:p>
                      <a:pPr algn="ctr"/>
                      <a:r>
                        <a:rPr lang="en-US" sz="1000">
                          <a:latin typeface="Arial" panose="020B0604020202020204" pitchFamily="34" charset="0"/>
                          <a:cs typeface="Arial" panose="020B0604020202020204" pitchFamily="34" charset="0"/>
                        </a:rPr>
                        <a:t>West Bengal</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tcPr>
                </a:tc>
                <a:tc>
                  <a:txBody>
                    <a:bodyPr/>
                    <a:lstStyle/>
                    <a:p>
                      <a:pPr algn="ctr"/>
                      <a:r>
                        <a:rPr lang="en-US" sz="1000">
                          <a:latin typeface="Arial" panose="020B0604020202020204" pitchFamily="34" charset="0"/>
                          <a:cs typeface="Arial" panose="020B0604020202020204" pitchFamily="34" charset="0"/>
                        </a:rPr>
                        <a:t>Tamil Nadu</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tcPr>
                </a:tc>
                <a:tc>
                  <a:txBody>
                    <a:bodyPr/>
                    <a:lstStyle/>
                    <a:p>
                      <a:pPr algn="ctr"/>
                      <a:r>
                        <a:rPr lang="en-US" sz="1000">
                          <a:latin typeface="Arial" panose="020B0604020202020204" pitchFamily="34" charset="0"/>
                          <a:cs typeface="Arial" panose="020B0604020202020204" pitchFamily="34" charset="0"/>
                        </a:rPr>
                        <a:t>Uttarak-hand</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tcPr>
                </a:tc>
                <a:tc>
                  <a:txBody>
                    <a:bodyPr/>
                    <a:lstStyle/>
                    <a:p>
                      <a:pPr algn="ctr"/>
                      <a:r>
                        <a:rPr lang="en-US" sz="1000">
                          <a:latin typeface="Arial" panose="020B0604020202020204" pitchFamily="34" charset="0"/>
                          <a:cs typeface="Arial" panose="020B0604020202020204" pitchFamily="34" charset="0"/>
                        </a:rPr>
                        <a:t>Kerala</a:t>
                      </a:r>
                    </a:p>
                  </a:txBody>
                  <a:tcPr marL="0" marR="0" marT="0" marB="0" anchor="ctr">
                    <a:lnL w="6350" cap="flat" cmpd="sng" algn="ctr">
                      <a:solidFill>
                        <a:schemeClr val="bg1"/>
                      </a:solidFill>
                      <a:prstDash val="solid"/>
                      <a:round/>
                      <a:headEnd type="none" w="med" len="med"/>
                      <a:tailEnd type="none" w="med" len="med"/>
                    </a:lnL>
                  </a:tcPr>
                </a:tc>
                <a:extLst>
                  <a:ext uri="{0D108BD9-81ED-4DB2-BD59-A6C34878D82A}">
                    <a16:rowId xmlns:a16="http://schemas.microsoft.com/office/drawing/2014/main" val="2888974400"/>
                  </a:ext>
                </a:extLst>
              </a:tr>
              <a:tr h="383929">
                <a:tc>
                  <a:txBody>
                    <a:bodyPr/>
                    <a:lstStyle/>
                    <a:p>
                      <a:pPr algn="ctr"/>
                      <a:r>
                        <a:rPr lang="en-US" sz="1000">
                          <a:solidFill>
                            <a:schemeClr val="accent5"/>
                          </a:solidFill>
                          <a:latin typeface="Arial" panose="020B0604020202020204" pitchFamily="34" charset="0"/>
                          <a:cs typeface="Arial" panose="020B0604020202020204" pitchFamily="34" charset="0"/>
                        </a:rPr>
                        <a:t>Discom </a:t>
                      </a:r>
                    </a:p>
                    <a:p>
                      <a:pPr algn="ctr"/>
                      <a:r>
                        <a:rPr lang="en-US" sz="1000">
                          <a:solidFill>
                            <a:schemeClr val="accent5"/>
                          </a:solidFill>
                          <a:latin typeface="Arial" panose="020B0604020202020204" pitchFamily="34" charset="0"/>
                          <a:cs typeface="Arial" panose="020B0604020202020204" pitchFamily="34" charset="0"/>
                        </a:rPr>
                        <a:t># </a:t>
                      </a:r>
                      <a:r>
                        <a:rPr lang="en-US" sz="1000">
                          <a:solidFill>
                            <a:schemeClr val="accent5"/>
                          </a:solidFill>
                          <a:latin typeface="Arial" panose="020B0604020202020204" pitchFamily="34" charset="0"/>
                          <a:cs typeface="Arial" panose="020B0604020202020204" pitchFamily="34" charset="0"/>
                          <a:sym typeface="Wingdings" panose="05000000000000000000" pitchFamily="2" charset="2"/>
                        </a:rPr>
                        <a:t></a:t>
                      </a:r>
                      <a:endParaRPr lang="en-US" sz="1000">
                        <a:solidFill>
                          <a:schemeClr val="accent5"/>
                        </a:solidFill>
                        <a:latin typeface="Arial" panose="020B0604020202020204" pitchFamily="34" charset="0"/>
                        <a:cs typeface="Arial" panose="020B0604020202020204" pitchFamily="34" charset="0"/>
                      </a:endParaRPr>
                    </a:p>
                  </a:txBody>
                  <a:tcPr marL="0" marR="0" marT="0" marB="0" anchor="ctr">
                    <a:lnR w="6350" cap="flat" cmpd="sng" algn="ctr">
                      <a:solidFill>
                        <a:schemeClr val="accent5"/>
                      </a:solidFill>
                      <a:prstDash val="solid"/>
                      <a:round/>
                      <a:headEnd type="none" w="med" len="med"/>
                      <a:tailEnd type="none" w="med" len="med"/>
                    </a:lnR>
                  </a:tcPr>
                </a:tc>
                <a:tc>
                  <a:txBody>
                    <a:bodyPr/>
                    <a:lstStyle/>
                    <a:p>
                      <a:pPr algn="l"/>
                      <a:r>
                        <a:rPr lang="en-US" sz="1000">
                          <a:solidFill>
                            <a:schemeClr val="accent5"/>
                          </a:solidFill>
                          <a:latin typeface="Arial" panose="020B0604020202020204" pitchFamily="34" charset="0"/>
                          <a:cs typeface="Arial" panose="020B0604020202020204" pitchFamily="34" charset="0"/>
                        </a:rPr>
                        <a:t>1</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solidFill>
                            <a:schemeClr val="accent5"/>
                          </a:solidFill>
                          <a:latin typeface="Arial" panose="020B0604020202020204" pitchFamily="34" charset="0"/>
                          <a:cs typeface="Arial" panose="020B0604020202020204" pitchFamily="34" charset="0"/>
                        </a:rPr>
                        <a:t>2</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solidFill>
                            <a:schemeClr val="accent5"/>
                          </a:solidFill>
                          <a:latin typeface="Arial" panose="020B0604020202020204" pitchFamily="34" charset="0"/>
                          <a:cs typeface="Arial" panose="020B0604020202020204" pitchFamily="34" charset="0"/>
                        </a:rPr>
                        <a:t>1</a:t>
                      </a:r>
                    </a:p>
                  </a:txBody>
                  <a:tcPr marL="137160" marR="45720" anchor="ctr">
                    <a:lnL w="6350" cap="flat" cmpd="sng" algn="ctr">
                      <a:solidFill>
                        <a:schemeClr val="accent5"/>
                      </a:solidFill>
                      <a:prstDash val="solid"/>
                      <a:round/>
                      <a:headEnd type="none" w="med" len="med"/>
                      <a:tailEnd type="none" w="med" len="med"/>
                    </a:lnL>
                  </a:tcPr>
                </a:tc>
                <a:tc>
                  <a:txBody>
                    <a:bodyPr/>
                    <a:lstStyle/>
                    <a:p>
                      <a:pPr algn="l"/>
                      <a:r>
                        <a:rPr lang="en-US" sz="1000">
                          <a:solidFill>
                            <a:schemeClr val="accent5"/>
                          </a:solidFill>
                          <a:latin typeface="Arial" panose="020B0604020202020204" pitchFamily="34" charset="0"/>
                          <a:cs typeface="Arial" panose="020B0604020202020204" pitchFamily="34" charset="0"/>
                        </a:rPr>
                        <a:t>2</a:t>
                      </a:r>
                    </a:p>
                  </a:txBody>
                  <a:tcPr marL="137160" marR="45720" anchor="ctr"/>
                </a:tc>
                <a:tc>
                  <a:txBody>
                    <a:bodyPr/>
                    <a:lstStyle/>
                    <a:p>
                      <a:pPr algn="l"/>
                      <a:r>
                        <a:rPr lang="en-US" sz="1000">
                          <a:solidFill>
                            <a:schemeClr val="accent5"/>
                          </a:solidFill>
                          <a:latin typeface="Arial" panose="020B0604020202020204" pitchFamily="34" charset="0"/>
                          <a:cs typeface="Arial" panose="020B0604020202020204" pitchFamily="34" charset="0"/>
                        </a:rPr>
                        <a:t>3</a:t>
                      </a:r>
                    </a:p>
                  </a:txBody>
                  <a:tcPr marL="137160" marR="45720" anchor="ctr"/>
                </a:tc>
                <a:tc>
                  <a:txBody>
                    <a:bodyPr/>
                    <a:lstStyle/>
                    <a:p>
                      <a:pPr algn="l"/>
                      <a:r>
                        <a:rPr lang="en-US" sz="1000">
                          <a:solidFill>
                            <a:schemeClr val="accent5"/>
                          </a:solidFill>
                          <a:latin typeface="Arial" panose="020B0604020202020204" pitchFamily="34" charset="0"/>
                          <a:cs typeface="Arial" panose="020B0604020202020204" pitchFamily="34" charset="0"/>
                        </a:rPr>
                        <a:t>4</a:t>
                      </a:r>
                    </a:p>
                  </a:txBody>
                  <a:tcPr marL="137160" marR="45720" anchor="ctr">
                    <a:lnR w="6350" cap="flat" cmpd="sng" algn="ctr">
                      <a:solidFill>
                        <a:schemeClr val="accent5"/>
                      </a:solidFill>
                      <a:prstDash val="solid"/>
                      <a:round/>
                      <a:headEnd type="none" w="med" len="med"/>
                      <a:tailEnd type="none" w="med" len="med"/>
                    </a:lnR>
                  </a:tcPr>
                </a:tc>
                <a:tc>
                  <a:txBody>
                    <a:bodyPr/>
                    <a:lstStyle/>
                    <a:p>
                      <a:pPr algn="l"/>
                      <a:r>
                        <a:rPr lang="en-US" sz="1000">
                          <a:solidFill>
                            <a:schemeClr val="accent5"/>
                          </a:solidFill>
                          <a:latin typeface="Arial" panose="020B0604020202020204" pitchFamily="34" charset="0"/>
                          <a:cs typeface="Arial" panose="020B0604020202020204" pitchFamily="34" charset="0"/>
                        </a:rPr>
                        <a:t>1</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solidFill>
                            <a:schemeClr val="accent5"/>
                          </a:solidFill>
                          <a:latin typeface="Arial" panose="020B0604020202020204" pitchFamily="34" charset="0"/>
                          <a:cs typeface="Arial" panose="020B0604020202020204" pitchFamily="34" charset="0"/>
                        </a:rPr>
                        <a:t>1</a:t>
                      </a:r>
                    </a:p>
                  </a:txBody>
                  <a:tcPr marL="137160" marR="4572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solidFill>
                            <a:schemeClr val="accent5"/>
                          </a:solidFill>
                          <a:latin typeface="Arial" panose="020B0604020202020204" pitchFamily="34" charset="0"/>
                          <a:cs typeface="Arial" panose="020B0604020202020204" pitchFamily="34" charset="0"/>
                        </a:rPr>
                        <a:t>2</a:t>
                      </a:r>
                    </a:p>
                  </a:txBody>
                  <a:tcPr marL="13716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solidFill>
                            <a:schemeClr val="accent5"/>
                          </a:solidFill>
                          <a:latin typeface="Arial" panose="020B0604020202020204" pitchFamily="34" charset="0"/>
                          <a:cs typeface="Arial" panose="020B0604020202020204" pitchFamily="34" charset="0"/>
                        </a:rPr>
                        <a:t>3</a:t>
                      </a:r>
                    </a:p>
                  </a:txBody>
                  <a:tcPr marL="13716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solidFill>
                            <a:schemeClr val="accent5"/>
                          </a:solidFill>
                          <a:latin typeface="Arial" panose="020B0604020202020204" pitchFamily="34" charset="0"/>
                          <a:cs typeface="Arial" panose="020B0604020202020204" pitchFamily="34" charset="0"/>
                        </a:rPr>
                        <a:t>4</a:t>
                      </a:r>
                    </a:p>
                  </a:txBody>
                  <a:tcPr marL="13716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solidFill>
                            <a:schemeClr val="accent5"/>
                          </a:solidFill>
                          <a:latin typeface="Arial" panose="020B0604020202020204" pitchFamily="34" charset="0"/>
                          <a:cs typeface="Arial" panose="020B0604020202020204" pitchFamily="34" charset="0"/>
                        </a:rPr>
                        <a:t>5</a:t>
                      </a:r>
                    </a:p>
                  </a:txBody>
                  <a:tcPr marL="137160" marR="4572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solidFill>
                            <a:schemeClr val="accent5"/>
                          </a:solidFill>
                          <a:latin typeface="Arial" panose="020B0604020202020204" pitchFamily="34" charset="0"/>
                          <a:cs typeface="Arial" panose="020B0604020202020204" pitchFamily="34" charset="0"/>
                        </a:rPr>
                        <a:t>1</a:t>
                      </a:r>
                    </a:p>
                  </a:txBody>
                  <a:tcPr marL="137160" marR="45720" anchor="ctr">
                    <a:lnL w="6350" cap="flat" cmpd="sng" algn="ctr">
                      <a:solidFill>
                        <a:schemeClr val="accent5"/>
                      </a:solidFill>
                      <a:prstDash val="solid"/>
                      <a:round/>
                      <a:headEnd type="none" w="med" len="med"/>
                      <a:tailEnd type="none" w="med" len="med"/>
                    </a:lnL>
                  </a:tcPr>
                </a:tc>
                <a:tc>
                  <a:txBody>
                    <a:bodyPr/>
                    <a:lstStyle/>
                    <a:p>
                      <a:pPr algn="l"/>
                      <a:r>
                        <a:rPr lang="en-US" sz="1000">
                          <a:solidFill>
                            <a:schemeClr val="accent5"/>
                          </a:solidFill>
                          <a:latin typeface="Arial" panose="020B0604020202020204" pitchFamily="34" charset="0"/>
                          <a:cs typeface="Arial" panose="020B0604020202020204" pitchFamily="34" charset="0"/>
                        </a:rPr>
                        <a:t>2</a:t>
                      </a:r>
                    </a:p>
                  </a:txBody>
                  <a:tcPr marL="137160" marR="45720" anchor="ctr"/>
                </a:tc>
                <a:tc>
                  <a:txBody>
                    <a:bodyPr/>
                    <a:lstStyle/>
                    <a:p>
                      <a:pPr algn="l"/>
                      <a:r>
                        <a:rPr lang="en-US" sz="1000">
                          <a:solidFill>
                            <a:schemeClr val="accent5"/>
                          </a:solidFill>
                          <a:latin typeface="Arial" panose="020B0604020202020204" pitchFamily="34" charset="0"/>
                          <a:cs typeface="Arial" panose="020B0604020202020204" pitchFamily="34" charset="0"/>
                        </a:rPr>
                        <a:t>3</a:t>
                      </a:r>
                    </a:p>
                  </a:txBody>
                  <a:tcPr marL="137160" marR="45720" anchor="ctr">
                    <a:lnR w="6350" cap="flat" cmpd="sng" algn="ctr">
                      <a:solidFill>
                        <a:schemeClr val="accent5"/>
                      </a:solidFill>
                      <a:prstDash val="solid"/>
                      <a:round/>
                      <a:headEnd type="none" w="med" len="med"/>
                      <a:tailEnd type="none" w="med" len="med"/>
                    </a:lnR>
                  </a:tcPr>
                </a:tc>
                <a:tc>
                  <a:txBody>
                    <a:bodyPr/>
                    <a:lstStyle/>
                    <a:p>
                      <a:pPr algn="l"/>
                      <a:r>
                        <a:rPr lang="en-US" sz="1000">
                          <a:solidFill>
                            <a:schemeClr val="accent5"/>
                          </a:solidFill>
                          <a:latin typeface="Arial" panose="020B0604020202020204" pitchFamily="34" charset="0"/>
                          <a:cs typeface="Arial" panose="020B0604020202020204" pitchFamily="34" charset="0"/>
                        </a:rPr>
                        <a:t>1</a:t>
                      </a:r>
                    </a:p>
                  </a:txBody>
                  <a:tcPr marL="137160" marR="45720" anchor="ctr">
                    <a:lnL w="6350" cap="flat" cmpd="sng" algn="ctr">
                      <a:solidFill>
                        <a:schemeClr val="accent5"/>
                      </a:solidFill>
                      <a:prstDash val="solid"/>
                      <a:round/>
                      <a:headEnd type="none" w="med" len="med"/>
                      <a:tailEnd type="none" w="med" len="med"/>
                    </a:lnL>
                  </a:tcPr>
                </a:tc>
                <a:tc>
                  <a:txBody>
                    <a:bodyPr/>
                    <a:lstStyle/>
                    <a:p>
                      <a:pPr algn="l"/>
                      <a:r>
                        <a:rPr lang="en-US" sz="1000">
                          <a:solidFill>
                            <a:schemeClr val="accent5"/>
                          </a:solidFill>
                          <a:latin typeface="Arial" panose="020B0604020202020204" pitchFamily="34" charset="0"/>
                          <a:cs typeface="Arial" panose="020B0604020202020204" pitchFamily="34" charset="0"/>
                        </a:rPr>
                        <a:t>2</a:t>
                      </a:r>
                    </a:p>
                  </a:txBody>
                  <a:tcPr marL="137160" marR="45720" anchor="ctr"/>
                </a:tc>
                <a:tc>
                  <a:txBody>
                    <a:bodyPr/>
                    <a:lstStyle/>
                    <a:p>
                      <a:pPr algn="l"/>
                      <a:r>
                        <a:rPr lang="en-US" sz="1000">
                          <a:solidFill>
                            <a:schemeClr val="accent5"/>
                          </a:solidFill>
                          <a:latin typeface="Arial" panose="020B0604020202020204" pitchFamily="34" charset="0"/>
                          <a:cs typeface="Arial" panose="020B0604020202020204" pitchFamily="34" charset="0"/>
                        </a:rPr>
                        <a:t>3</a:t>
                      </a:r>
                    </a:p>
                  </a:txBody>
                  <a:tcPr marL="137160" marR="45720" anchor="ctr">
                    <a:lnR w="6350" cap="flat" cmpd="sng" algn="ctr">
                      <a:solidFill>
                        <a:schemeClr val="accent5"/>
                      </a:solidFill>
                      <a:prstDash val="solid"/>
                      <a:round/>
                      <a:headEnd type="none" w="med" len="med"/>
                      <a:tailEnd type="none" w="med" len="med"/>
                    </a:lnR>
                  </a:tcPr>
                </a:tc>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solidFill>
                            <a:schemeClr val="accent5"/>
                          </a:solidFill>
                          <a:latin typeface="Arial" panose="020B0604020202020204" pitchFamily="34" charset="0"/>
                          <a:cs typeface="Arial" panose="020B0604020202020204" pitchFamily="34" charset="0"/>
                        </a:rPr>
                        <a:t>1</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solidFill>
                            <a:schemeClr val="accent5"/>
                          </a:solidFill>
                          <a:latin typeface="Arial" panose="020B0604020202020204" pitchFamily="34" charset="0"/>
                          <a:cs typeface="Arial" panose="020B0604020202020204" pitchFamily="34" charset="0"/>
                        </a:rPr>
                        <a:t>1</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solidFill>
                            <a:schemeClr val="accent5"/>
                          </a:solidFill>
                          <a:latin typeface="Arial" panose="020B0604020202020204" pitchFamily="34" charset="0"/>
                          <a:cs typeface="Arial" panose="020B0604020202020204" pitchFamily="34" charset="0"/>
                        </a:rPr>
                        <a:t>1</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solidFill>
                            <a:schemeClr val="accent5"/>
                          </a:solidFill>
                          <a:latin typeface="Arial" panose="020B0604020202020204" pitchFamily="34" charset="0"/>
                          <a:cs typeface="Arial" panose="020B0604020202020204" pitchFamily="34" charset="0"/>
                        </a:rPr>
                        <a:t>1</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solidFill>
                            <a:schemeClr val="accent5"/>
                          </a:solidFill>
                          <a:latin typeface="Arial" panose="020B0604020202020204" pitchFamily="34" charset="0"/>
                          <a:cs typeface="Arial" panose="020B0604020202020204" pitchFamily="34" charset="0"/>
                        </a:rPr>
                        <a:t>1</a:t>
                      </a:r>
                    </a:p>
                  </a:txBody>
                  <a:tcPr marL="137160" marR="45720" anchor="ctr">
                    <a:lnL w="6350" cap="flat" cmpd="sng" algn="ctr">
                      <a:solidFill>
                        <a:schemeClr val="accent5"/>
                      </a:solidFill>
                      <a:prstDash val="solid"/>
                      <a:round/>
                      <a:headEnd type="none" w="med" len="med"/>
                      <a:tailEnd type="none" w="med" len="med"/>
                    </a:lnL>
                  </a:tcPr>
                </a:tc>
                <a:extLst>
                  <a:ext uri="{0D108BD9-81ED-4DB2-BD59-A6C34878D82A}">
                    <a16:rowId xmlns:a16="http://schemas.microsoft.com/office/drawing/2014/main" val="1624874212"/>
                  </a:ext>
                </a:extLst>
              </a:tr>
              <a:tr h="332083">
                <a:tc>
                  <a:txBody>
                    <a:bodyPr/>
                    <a:lstStyle/>
                    <a:p>
                      <a:pPr algn="ctr"/>
                      <a:r>
                        <a:rPr lang="en-US" sz="1000">
                          <a:latin typeface="Arial" panose="020B0604020202020204" pitchFamily="34" charset="0"/>
                          <a:cs typeface="Arial" panose="020B0604020202020204" pitchFamily="34" charset="0"/>
                        </a:rPr>
                        <a:t>FY22</a:t>
                      </a:r>
                    </a:p>
                  </a:txBody>
                  <a:tcPr marL="0" marR="0" marT="0" marB="0" anchor="ctr">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A+</a:t>
                      </a:r>
                    </a:p>
                  </a:txBody>
                  <a:tcPr marL="137160" marR="45720" anchor="ctr">
                    <a:lnL w="6350" cap="flat" cmpd="sng" algn="ctr">
                      <a:solidFill>
                        <a:schemeClr val="accent5"/>
                      </a:solidFill>
                      <a:prstDash val="solid"/>
                      <a:round/>
                      <a:headEnd type="none" w="med" len="med"/>
                      <a:tailEnd type="none" w="med" len="med"/>
                    </a:lnL>
                  </a:tcPr>
                </a:tc>
                <a:tc>
                  <a:txBody>
                    <a:bodyPr/>
                    <a:lstStyle/>
                    <a:p>
                      <a:pPr algn="l"/>
                      <a:r>
                        <a:rPr lang="en-US" sz="1000">
                          <a:latin typeface="Arial" panose="020B0604020202020204" pitchFamily="34" charset="0"/>
                          <a:cs typeface="Arial" panose="020B0604020202020204" pitchFamily="34" charset="0"/>
                        </a:rPr>
                        <a:t>A+</a:t>
                      </a:r>
                    </a:p>
                  </a:txBody>
                  <a:tcPr marL="137160" marR="45720" anchor="ctr"/>
                </a:tc>
                <a:tc>
                  <a:txBody>
                    <a:bodyPr/>
                    <a:lstStyle/>
                    <a:p>
                      <a:pPr algn="l"/>
                      <a:r>
                        <a:rPr lang="en-US" sz="1000">
                          <a:latin typeface="Arial" panose="020B0604020202020204" pitchFamily="34" charset="0"/>
                          <a:cs typeface="Arial" panose="020B0604020202020204" pitchFamily="34" charset="0"/>
                        </a:rPr>
                        <a:t>A+</a:t>
                      </a:r>
                    </a:p>
                  </a:txBody>
                  <a:tcPr marL="137160" marR="45720" anchor="ctr"/>
                </a:tc>
                <a:tc>
                  <a:txBody>
                    <a:bodyPr/>
                    <a:lstStyle/>
                    <a:p>
                      <a:pPr algn="l"/>
                      <a:r>
                        <a:rPr lang="en-US" sz="1000">
                          <a:latin typeface="Arial" panose="020B0604020202020204" pitchFamily="34" charset="0"/>
                          <a:cs typeface="Arial" panose="020B0604020202020204" pitchFamily="34" charset="0"/>
                        </a:rPr>
                        <a:t>A+</a:t>
                      </a:r>
                    </a:p>
                  </a:txBody>
                  <a:tcPr marL="137160" marR="45720" anchor="ctr">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tc>
                <a:tc>
                  <a:txBody>
                    <a:bodyPr/>
                    <a:lstStyle/>
                    <a:p>
                      <a:pPr algn="l"/>
                      <a:r>
                        <a:rPr lang="en-US" sz="1000">
                          <a:latin typeface="Arial" panose="020B0604020202020204" pitchFamily="34" charset="0"/>
                          <a:cs typeface="Arial" panose="020B0604020202020204" pitchFamily="34" charset="0"/>
                        </a:rPr>
                        <a:t>B-</a:t>
                      </a:r>
                    </a:p>
                  </a:txBody>
                  <a:tcPr marL="137160" marR="45720" anchor="ctr">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tc>
                <a:tc>
                  <a:txBody>
                    <a:bodyPr/>
                    <a:lstStyle/>
                    <a:p>
                      <a:pPr algn="l"/>
                      <a:r>
                        <a:rPr lang="en-US" sz="1000">
                          <a:latin typeface="Arial" panose="020B0604020202020204" pitchFamily="34" charset="0"/>
                          <a:cs typeface="Arial" panose="020B0604020202020204" pitchFamily="34" charset="0"/>
                        </a:rPr>
                        <a:t>C</a:t>
                      </a:r>
                    </a:p>
                  </a:txBody>
                  <a:tcPr marL="137160" marR="45720" anchor="ctr">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A</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A</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tcPr>
                </a:tc>
                <a:extLst>
                  <a:ext uri="{0D108BD9-81ED-4DB2-BD59-A6C34878D82A}">
                    <a16:rowId xmlns:a16="http://schemas.microsoft.com/office/drawing/2014/main" val="211050782"/>
                  </a:ext>
                </a:extLst>
              </a:tr>
              <a:tr h="332083">
                <a:tc>
                  <a:txBody>
                    <a:bodyPr/>
                    <a:lstStyle/>
                    <a:p>
                      <a:pPr algn="ctr"/>
                      <a:r>
                        <a:rPr lang="en-US" sz="1000">
                          <a:latin typeface="Arial" panose="020B0604020202020204" pitchFamily="34" charset="0"/>
                          <a:cs typeface="Arial" panose="020B0604020202020204" pitchFamily="34" charset="0"/>
                        </a:rPr>
                        <a:t>FY23</a:t>
                      </a:r>
                    </a:p>
                  </a:txBody>
                  <a:tcPr marL="0" marR="0" marT="0" marB="0" anchor="ctr">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A+</a:t>
                      </a:r>
                    </a:p>
                  </a:txBody>
                  <a:tcPr marL="137160" marR="45720" anchor="ctr">
                    <a:lnL w="6350" cap="flat" cmpd="sng" algn="ctr">
                      <a:solidFill>
                        <a:schemeClr val="accent5"/>
                      </a:solidFill>
                      <a:prstDash val="solid"/>
                      <a:round/>
                      <a:headEnd type="none" w="med" len="med"/>
                      <a:tailEnd type="none" w="med" len="med"/>
                    </a:lnL>
                  </a:tcPr>
                </a:tc>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A+</a:t>
                      </a:r>
                    </a:p>
                  </a:txBody>
                  <a:tcPr marL="137160" marR="45720" anchor="ctr"/>
                </a:tc>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A+</a:t>
                      </a:r>
                    </a:p>
                  </a:txBody>
                  <a:tcPr marL="137160" marR="45720" anchor="ctr"/>
                </a:tc>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A+</a:t>
                      </a:r>
                    </a:p>
                  </a:txBody>
                  <a:tcPr marL="137160" marR="45720" anchor="ctr">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tc>
                <a:tc>
                  <a:txBody>
                    <a:bodyPr/>
                    <a:lstStyle/>
                    <a:p>
                      <a:pPr algn="l"/>
                      <a:r>
                        <a:rPr lang="en-US" sz="1000">
                          <a:latin typeface="Arial" panose="020B0604020202020204" pitchFamily="34" charset="0"/>
                          <a:cs typeface="Arial" panose="020B0604020202020204" pitchFamily="34" charset="0"/>
                        </a:rPr>
                        <a:t>B</a:t>
                      </a:r>
                    </a:p>
                  </a:txBody>
                  <a:tcPr marL="137160" marR="45720" anchor="ctr">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tcPr>
                </a:tc>
                <a:tc>
                  <a:txBody>
                    <a:bodyPr/>
                    <a:lstStyle/>
                    <a:p>
                      <a:pPr algn="l"/>
                      <a:r>
                        <a:rPr lang="en-US" sz="1000">
                          <a:latin typeface="Arial" panose="020B0604020202020204" pitchFamily="34" charset="0"/>
                          <a:cs typeface="Arial" panose="020B0604020202020204" pitchFamily="34" charset="0"/>
                        </a:rPr>
                        <a:t>A</a:t>
                      </a:r>
                    </a:p>
                  </a:txBody>
                  <a:tcPr marL="137160" marR="45720" anchor="ctr"/>
                </a:tc>
                <a:tc>
                  <a:txBody>
                    <a:bodyPr/>
                    <a:lstStyle/>
                    <a:p>
                      <a:pPr algn="l"/>
                      <a:r>
                        <a:rPr lang="en-US" sz="1000">
                          <a:latin typeface="Arial" panose="020B0604020202020204" pitchFamily="34" charset="0"/>
                          <a:cs typeface="Arial" panose="020B0604020202020204" pitchFamily="34" charset="0"/>
                        </a:rPr>
                        <a:t>B-</a:t>
                      </a:r>
                    </a:p>
                  </a:txBody>
                  <a:tcPr marL="137160" marR="45720" anchor="ctr">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tcPr>
                </a:tc>
                <a:extLst>
                  <a:ext uri="{0D108BD9-81ED-4DB2-BD59-A6C34878D82A}">
                    <a16:rowId xmlns:a16="http://schemas.microsoft.com/office/drawing/2014/main" val="3577363357"/>
                  </a:ext>
                </a:extLst>
              </a:tr>
              <a:tr h="332083">
                <a:tc>
                  <a:txBody>
                    <a:bodyPr/>
                    <a:lstStyle/>
                    <a:p>
                      <a:pPr algn="ctr"/>
                      <a:r>
                        <a:rPr lang="en-US" sz="1000">
                          <a:latin typeface="Arial" panose="020B0604020202020204" pitchFamily="34" charset="0"/>
                          <a:cs typeface="Arial" panose="020B0604020202020204" pitchFamily="34" charset="0"/>
                        </a:rPr>
                        <a:t>FY24</a:t>
                      </a:r>
                    </a:p>
                  </a:txBody>
                  <a:tcPr marL="0" marR="0" marT="0" marB="0" anchor="ctr">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A+</a:t>
                      </a:r>
                    </a:p>
                  </a:txBody>
                  <a:tcPr marL="137160" marR="45720" anchor="ctr">
                    <a:lnL w="6350" cap="flat" cmpd="sng" algn="ctr">
                      <a:solidFill>
                        <a:schemeClr val="accent5"/>
                      </a:solidFill>
                      <a:prstDash val="solid"/>
                      <a:round/>
                      <a:headEnd type="none" w="med" len="med"/>
                      <a:tailEnd type="none" w="med" len="med"/>
                    </a:lnL>
                  </a:tcPr>
                </a:tc>
                <a:tc>
                  <a:txBody>
                    <a:bodyPr/>
                    <a:lstStyle/>
                    <a:p>
                      <a:pPr algn="l"/>
                      <a:r>
                        <a:rPr lang="en-US" sz="1000">
                          <a:latin typeface="Arial" panose="020B0604020202020204" pitchFamily="34" charset="0"/>
                          <a:cs typeface="Arial" panose="020B0604020202020204" pitchFamily="34" charset="0"/>
                        </a:rPr>
                        <a:t>A+</a:t>
                      </a:r>
                    </a:p>
                  </a:txBody>
                  <a:tcPr marL="137160" marR="45720" anchor="ctr"/>
                </a:tc>
                <a:tc>
                  <a:txBody>
                    <a:bodyPr/>
                    <a:lstStyle/>
                    <a:p>
                      <a:pPr algn="l"/>
                      <a:r>
                        <a:rPr lang="en-US" sz="1000">
                          <a:latin typeface="Arial" panose="020B0604020202020204" pitchFamily="34" charset="0"/>
                          <a:cs typeface="Arial" panose="020B0604020202020204" pitchFamily="34" charset="0"/>
                        </a:rPr>
                        <a:t>A+</a:t>
                      </a:r>
                    </a:p>
                  </a:txBody>
                  <a:tcPr marL="137160" marR="45720" anchor="ctr"/>
                </a:tc>
                <a:tc>
                  <a:txBody>
                    <a:bodyPr/>
                    <a:lstStyle/>
                    <a:p>
                      <a:pPr algn="l"/>
                      <a:r>
                        <a:rPr lang="en-US" sz="1000">
                          <a:latin typeface="Arial" panose="020B0604020202020204" pitchFamily="34" charset="0"/>
                          <a:cs typeface="Arial" panose="020B0604020202020204" pitchFamily="34" charset="0"/>
                        </a:rPr>
                        <a:t>A+</a:t>
                      </a:r>
                    </a:p>
                  </a:txBody>
                  <a:tcPr marL="137160" marR="45720" anchor="ctr">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tc>
                <a:tc>
                  <a:txBody>
                    <a:bodyPr/>
                    <a:lstStyle/>
                    <a:p>
                      <a:pPr algn="l"/>
                      <a:r>
                        <a:rPr lang="en-US" sz="1000">
                          <a:latin typeface="Arial" panose="020B0604020202020204" pitchFamily="34" charset="0"/>
                          <a:cs typeface="Arial" panose="020B0604020202020204" pitchFamily="34" charset="0"/>
                        </a:rPr>
                        <a:t>B-</a:t>
                      </a:r>
                    </a:p>
                  </a:txBody>
                  <a:tcPr marL="137160" marR="45720" anchor="ctr">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tc>
                <a:tc>
                  <a:txBody>
                    <a:bodyPr/>
                    <a:lstStyle/>
                    <a:p>
                      <a:pPr algn="l"/>
                      <a:r>
                        <a:rPr lang="en-US" sz="1000">
                          <a:latin typeface="Arial" panose="020B0604020202020204" pitchFamily="34" charset="0"/>
                          <a:cs typeface="Arial" panose="020B0604020202020204" pitchFamily="34" charset="0"/>
                        </a:rPr>
                        <a:t>C</a:t>
                      </a:r>
                    </a:p>
                  </a:txBody>
                  <a:tcPr marL="137160" marR="45720" anchor="ctr">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A</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C-</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tcPr>
                </a:tc>
                <a:tc>
                  <a:txBody>
                    <a:bodyPr/>
                    <a:lstStyle/>
                    <a:p>
                      <a:pPr algn="l"/>
                      <a:r>
                        <a:rPr lang="en-US" sz="1000">
                          <a:latin typeface="Arial" panose="020B0604020202020204" pitchFamily="34" charset="0"/>
                          <a:cs typeface="Arial" panose="020B0604020202020204" pitchFamily="34" charset="0"/>
                        </a:rPr>
                        <a:t>B</a:t>
                      </a:r>
                    </a:p>
                  </a:txBody>
                  <a:tcPr marL="137160" marR="45720" anchor="ctr">
                    <a:lnL w="6350" cap="flat" cmpd="sng" algn="ctr">
                      <a:solidFill>
                        <a:schemeClr val="accent5"/>
                      </a:solidFill>
                      <a:prstDash val="solid"/>
                      <a:round/>
                      <a:headEnd type="none" w="med" len="med"/>
                      <a:tailEnd type="none" w="med" len="med"/>
                    </a:lnL>
                  </a:tcPr>
                </a:tc>
                <a:extLst>
                  <a:ext uri="{0D108BD9-81ED-4DB2-BD59-A6C34878D82A}">
                    <a16:rowId xmlns:a16="http://schemas.microsoft.com/office/drawing/2014/main" val="1815144906"/>
                  </a:ext>
                </a:extLst>
              </a:tr>
            </a:tbl>
          </a:graphicData>
        </a:graphic>
      </p:graphicFrame>
      <p:grpSp>
        <p:nvGrpSpPr>
          <p:cNvPr id="42" name="Group 41">
            <a:extLst>
              <a:ext uri="{FF2B5EF4-FFF2-40B4-BE49-F238E27FC236}">
                <a16:creationId xmlns:a16="http://schemas.microsoft.com/office/drawing/2014/main" id="{8C8658A8-A06D-88C1-CE23-2D58896B31DC}"/>
              </a:ext>
            </a:extLst>
          </p:cNvPr>
          <p:cNvGrpSpPr/>
          <p:nvPr/>
        </p:nvGrpSpPr>
        <p:grpSpPr>
          <a:xfrm>
            <a:off x="494679" y="3756784"/>
            <a:ext cx="11203351" cy="360000"/>
            <a:chOff x="494679" y="3756784"/>
            <a:chExt cx="11203351" cy="360000"/>
          </a:xfrm>
        </p:grpSpPr>
        <p:sp>
          <p:nvSpPr>
            <p:cNvPr id="25" name="Rounded Rectangle 47">
              <a:extLst>
                <a:ext uri="{FF2B5EF4-FFF2-40B4-BE49-F238E27FC236}">
                  <a16:creationId xmlns:a16="http://schemas.microsoft.com/office/drawing/2014/main" id="{0C5892AF-63A4-B1A2-7223-AA1B21E5E4A1}"/>
                </a:ext>
              </a:extLst>
            </p:cNvPr>
            <p:cNvSpPr/>
            <p:nvPr/>
          </p:nvSpPr>
          <p:spPr>
            <a:xfrm>
              <a:off x="494679" y="3756784"/>
              <a:ext cx="1260000" cy="360000"/>
            </a:xfrm>
            <a:prstGeom prst="round2DiagRect">
              <a:avLst/>
            </a:prstGeom>
            <a:noFill/>
            <a:ln w="6350">
              <a:solidFill>
                <a:srgbClr val="0D83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tx1"/>
                  </a:solidFill>
                  <a:latin typeface="Arial" panose="020B0604020202020204" pitchFamily="34" charset="0"/>
                  <a:cs typeface="Arial" panose="020B0604020202020204" pitchFamily="34" charset="0"/>
                </a:rPr>
                <a:t>ACS - ARR gap</a:t>
              </a:r>
            </a:p>
          </p:txBody>
        </p:sp>
        <p:sp>
          <p:nvSpPr>
            <p:cNvPr id="26" name="TextBox 25">
              <a:extLst>
                <a:ext uri="{FF2B5EF4-FFF2-40B4-BE49-F238E27FC236}">
                  <a16:creationId xmlns:a16="http://schemas.microsoft.com/office/drawing/2014/main" id="{71CAC8BB-8A27-2C7F-3606-AB0696AE991E}"/>
                </a:ext>
              </a:extLst>
            </p:cNvPr>
            <p:cNvSpPr txBox="1"/>
            <p:nvPr/>
          </p:nvSpPr>
          <p:spPr>
            <a:xfrm>
              <a:off x="1978030" y="3781984"/>
              <a:ext cx="9720000" cy="309600"/>
            </a:xfrm>
            <a:prstGeom prst="rect">
              <a:avLst/>
            </a:prstGeom>
            <a:noFill/>
          </p:spPr>
          <p:txBody>
            <a:bodyPr wrap="square" lIns="0" tIns="0" rIns="0" bIns="0" rtlCol="0">
              <a:spAutoFit/>
            </a:bodyPr>
            <a:lstStyle/>
            <a:p>
              <a:pPr marL="139303" indent="-139303">
                <a:buSzPct val="100000"/>
                <a:buFont typeface="Arial" panose="020B0604020202020204" pitchFamily="34" charset="0"/>
                <a:buChar char="•"/>
              </a:pPr>
              <a:r>
                <a:rPr lang="en-US" sz="1000">
                  <a:solidFill>
                    <a:srgbClr val="313131"/>
                  </a:solidFill>
                  <a:latin typeface="Arial" panose="020B0604020202020204" pitchFamily="34" charset="0"/>
                  <a:cs typeface="Arial" panose="020B0604020202020204" pitchFamily="34" charset="0"/>
                </a:rPr>
                <a:t>Average Cost of supply (ACS) considers total expenditure and Average Revenue Realized (ARR) considers the total revenue (net of subsidy/grants).</a:t>
              </a:r>
            </a:p>
            <a:p>
              <a:pPr marL="139303" indent="-139303">
                <a:buSzPct val="100000"/>
                <a:buFont typeface="Arial" panose="020B0604020202020204" pitchFamily="34" charset="0"/>
                <a:buChar char="•"/>
              </a:pPr>
              <a:r>
                <a:rPr lang="en-US" sz="1000">
                  <a:solidFill>
                    <a:srgbClr val="313131"/>
                  </a:solidFill>
                  <a:latin typeface="Arial" panose="020B0604020202020204" pitchFamily="34" charset="0"/>
                  <a:cs typeface="Arial" panose="020B0604020202020204" pitchFamily="34" charset="0"/>
                </a:rPr>
                <a:t>ACS-ARR shows the recovery on per unit of energy sold. Positive value means the DISCOM is making money per unit sold and vice-versa.</a:t>
              </a:r>
            </a:p>
          </p:txBody>
        </p:sp>
      </p:grpSp>
      <p:grpSp>
        <p:nvGrpSpPr>
          <p:cNvPr id="41" name="Group 40">
            <a:extLst>
              <a:ext uri="{FF2B5EF4-FFF2-40B4-BE49-F238E27FC236}">
                <a16:creationId xmlns:a16="http://schemas.microsoft.com/office/drawing/2014/main" id="{3FE5C1D6-64B2-192A-08F0-46F7FD00607F}"/>
              </a:ext>
            </a:extLst>
          </p:cNvPr>
          <p:cNvGrpSpPr/>
          <p:nvPr/>
        </p:nvGrpSpPr>
        <p:grpSpPr>
          <a:xfrm>
            <a:off x="500122" y="4213724"/>
            <a:ext cx="11197908" cy="360000"/>
            <a:chOff x="500122" y="4252893"/>
            <a:chExt cx="11197908" cy="360000"/>
          </a:xfrm>
        </p:grpSpPr>
        <p:sp>
          <p:nvSpPr>
            <p:cNvPr id="22" name="Rounded Rectangle 47">
              <a:extLst>
                <a:ext uri="{FF2B5EF4-FFF2-40B4-BE49-F238E27FC236}">
                  <a16:creationId xmlns:a16="http://schemas.microsoft.com/office/drawing/2014/main" id="{A7360DA6-CD7F-B8AF-C4A9-479A2DDB661E}"/>
                </a:ext>
              </a:extLst>
            </p:cNvPr>
            <p:cNvSpPr/>
            <p:nvPr/>
          </p:nvSpPr>
          <p:spPr>
            <a:xfrm>
              <a:off x="500122" y="4252893"/>
              <a:ext cx="1260000" cy="360000"/>
            </a:xfrm>
            <a:prstGeom prst="round2DiagRect">
              <a:avLst/>
            </a:prstGeom>
            <a:noFill/>
            <a:ln w="6350">
              <a:solidFill>
                <a:srgbClr val="0D83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tx1"/>
                  </a:solidFill>
                  <a:latin typeface="Arial" panose="020B0604020202020204" pitchFamily="34" charset="0"/>
                  <a:cs typeface="Arial" panose="020B0604020202020204" pitchFamily="34" charset="0"/>
                </a:rPr>
                <a:t>Payable days</a:t>
              </a:r>
            </a:p>
          </p:txBody>
        </p:sp>
        <p:sp>
          <p:nvSpPr>
            <p:cNvPr id="27" name="TextBox 26">
              <a:extLst>
                <a:ext uri="{FF2B5EF4-FFF2-40B4-BE49-F238E27FC236}">
                  <a16:creationId xmlns:a16="http://schemas.microsoft.com/office/drawing/2014/main" id="{3E1A93BD-A501-D5AE-0D7B-05CE59CBD13A}"/>
                </a:ext>
              </a:extLst>
            </p:cNvPr>
            <p:cNvSpPr txBox="1"/>
            <p:nvPr/>
          </p:nvSpPr>
          <p:spPr>
            <a:xfrm>
              <a:off x="1978030" y="4278093"/>
              <a:ext cx="9720000" cy="309600"/>
            </a:xfrm>
            <a:prstGeom prst="rect">
              <a:avLst/>
            </a:prstGeom>
            <a:noFill/>
          </p:spPr>
          <p:txBody>
            <a:bodyPr wrap="square" lIns="0" tIns="0" rIns="0" bIns="0" rtlCol="0">
              <a:spAutoFit/>
            </a:bodyPr>
            <a:lstStyle/>
            <a:p>
              <a:pPr marL="139303" indent="-139303">
                <a:buSzPct val="100000"/>
                <a:buFont typeface="Arial" panose="020B0604020202020204" pitchFamily="34" charset="0"/>
                <a:buChar char="•"/>
              </a:pPr>
              <a:r>
                <a:rPr lang="en-US" sz="1000">
                  <a:solidFill>
                    <a:srgbClr val="313131"/>
                  </a:solidFill>
                  <a:latin typeface="Arial" panose="020B0604020202020204" pitchFamily="34" charset="0"/>
                  <a:cs typeface="Arial" panose="020B0604020202020204" pitchFamily="34" charset="0"/>
                </a:rPr>
                <a:t>Liability for power purchase costs is divided by the total generation costs including transmission and SLDC charges.</a:t>
              </a:r>
            </a:p>
            <a:p>
              <a:pPr marL="139303" indent="-139303">
                <a:buSzPct val="100000"/>
                <a:buFont typeface="Arial" panose="020B0604020202020204" pitchFamily="34" charset="0"/>
                <a:buChar char="•"/>
              </a:pPr>
              <a:r>
                <a:rPr lang="en-US" sz="1000">
                  <a:solidFill>
                    <a:srgbClr val="313131"/>
                  </a:solidFill>
                  <a:latin typeface="Arial" panose="020B0604020202020204" pitchFamily="34" charset="0"/>
                  <a:cs typeface="Arial" panose="020B0604020202020204" pitchFamily="34" charset="0"/>
                </a:rPr>
                <a:t>Higher payable days means that the DISCOM is not able to tender its dues on time and there are liquidity issues.</a:t>
              </a:r>
            </a:p>
          </p:txBody>
        </p:sp>
      </p:grpSp>
      <p:grpSp>
        <p:nvGrpSpPr>
          <p:cNvPr id="40" name="Group 39">
            <a:extLst>
              <a:ext uri="{FF2B5EF4-FFF2-40B4-BE49-F238E27FC236}">
                <a16:creationId xmlns:a16="http://schemas.microsoft.com/office/drawing/2014/main" id="{F9FDBC77-F5CC-506B-E282-EA601DF1F8C9}"/>
              </a:ext>
            </a:extLst>
          </p:cNvPr>
          <p:cNvGrpSpPr/>
          <p:nvPr/>
        </p:nvGrpSpPr>
        <p:grpSpPr>
          <a:xfrm>
            <a:off x="501626" y="4670664"/>
            <a:ext cx="11196404" cy="360000"/>
            <a:chOff x="501626" y="4704263"/>
            <a:chExt cx="11196404" cy="360000"/>
          </a:xfrm>
        </p:grpSpPr>
        <p:sp>
          <p:nvSpPr>
            <p:cNvPr id="23" name="Rounded Rectangle 47">
              <a:extLst>
                <a:ext uri="{FF2B5EF4-FFF2-40B4-BE49-F238E27FC236}">
                  <a16:creationId xmlns:a16="http://schemas.microsoft.com/office/drawing/2014/main" id="{E2C77B1D-8125-60AF-99AF-B20676093D8F}"/>
                </a:ext>
              </a:extLst>
            </p:cNvPr>
            <p:cNvSpPr/>
            <p:nvPr/>
          </p:nvSpPr>
          <p:spPr>
            <a:xfrm>
              <a:off x="501626" y="4704263"/>
              <a:ext cx="1260000" cy="360000"/>
            </a:xfrm>
            <a:prstGeom prst="round2DiagRect">
              <a:avLst/>
            </a:prstGeom>
            <a:noFill/>
            <a:ln w="6350">
              <a:solidFill>
                <a:srgbClr val="0D83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tx1"/>
                  </a:solidFill>
                  <a:latin typeface="Arial" panose="020B0604020202020204" pitchFamily="34" charset="0"/>
                  <a:cs typeface="Arial" panose="020B0604020202020204" pitchFamily="34" charset="0"/>
                </a:rPr>
                <a:t>Tariff order timeliness</a:t>
              </a:r>
            </a:p>
          </p:txBody>
        </p:sp>
        <p:sp>
          <p:nvSpPr>
            <p:cNvPr id="28" name="TextBox 27">
              <a:extLst>
                <a:ext uri="{FF2B5EF4-FFF2-40B4-BE49-F238E27FC236}">
                  <a16:creationId xmlns:a16="http://schemas.microsoft.com/office/drawing/2014/main" id="{3B7E7BE5-FE66-64B9-D837-BCEA75935346}"/>
                </a:ext>
              </a:extLst>
            </p:cNvPr>
            <p:cNvSpPr txBox="1"/>
            <p:nvPr/>
          </p:nvSpPr>
          <p:spPr>
            <a:xfrm>
              <a:off x="1978030" y="4729463"/>
              <a:ext cx="9720000" cy="309600"/>
            </a:xfrm>
            <a:prstGeom prst="rect">
              <a:avLst/>
            </a:prstGeom>
            <a:noFill/>
          </p:spPr>
          <p:txBody>
            <a:bodyPr wrap="square" lIns="0" tIns="0" rIns="0" bIns="0" rtlCol="0">
              <a:spAutoFit/>
            </a:bodyPr>
            <a:lstStyle/>
            <a:p>
              <a:pPr marL="139303" indent="-139303">
                <a:buSzPct val="100000"/>
                <a:buFont typeface="Arial" panose="020B0604020202020204" pitchFamily="34" charset="0"/>
                <a:buChar char="•"/>
              </a:pPr>
              <a:r>
                <a:rPr lang="en-US" sz="1000">
                  <a:solidFill>
                    <a:srgbClr val="313131"/>
                  </a:solidFill>
                  <a:latin typeface="Arial" panose="020B0604020202020204" pitchFamily="34" charset="0"/>
                  <a:cs typeface="Arial" panose="020B0604020202020204" pitchFamily="34" charset="0"/>
                </a:rPr>
                <a:t>Timeliness of tariff orders means that the DISCOM is able to charge appropriate tariff timely and there is no mismatch in cost recovery.</a:t>
              </a:r>
            </a:p>
            <a:p>
              <a:pPr marL="139303" indent="-139303">
                <a:buSzPct val="100000"/>
                <a:buFont typeface="Arial" panose="020B0604020202020204" pitchFamily="34" charset="0"/>
                <a:buChar char="•"/>
              </a:pPr>
              <a:r>
                <a:rPr lang="en-US" sz="1000">
                  <a:solidFill>
                    <a:srgbClr val="313131"/>
                  </a:solidFill>
                  <a:latin typeface="Arial" panose="020B0604020202020204" pitchFamily="34" charset="0"/>
                  <a:cs typeface="Arial" panose="020B0604020202020204" pitchFamily="34" charset="0"/>
                </a:rPr>
                <a:t>This also indicates that the DISCOM has filed the tariff petition in time.</a:t>
              </a:r>
            </a:p>
          </p:txBody>
        </p:sp>
      </p:grpSp>
      <p:grpSp>
        <p:nvGrpSpPr>
          <p:cNvPr id="39" name="Group 38">
            <a:extLst>
              <a:ext uri="{FF2B5EF4-FFF2-40B4-BE49-F238E27FC236}">
                <a16:creationId xmlns:a16="http://schemas.microsoft.com/office/drawing/2014/main" id="{3F9849B7-90F3-8AAF-B2C4-14EBCA91E67F}"/>
              </a:ext>
            </a:extLst>
          </p:cNvPr>
          <p:cNvGrpSpPr/>
          <p:nvPr/>
        </p:nvGrpSpPr>
        <p:grpSpPr>
          <a:xfrm>
            <a:off x="500120" y="5127604"/>
            <a:ext cx="11197910" cy="360000"/>
            <a:chOff x="500120" y="5155633"/>
            <a:chExt cx="11197910" cy="360000"/>
          </a:xfrm>
        </p:grpSpPr>
        <p:sp>
          <p:nvSpPr>
            <p:cNvPr id="24" name="Rounded Rectangle 47">
              <a:extLst>
                <a:ext uri="{FF2B5EF4-FFF2-40B4-BE49-F238E27FC236}">
                  <a16:creationId xmlns:a16="http://schemas.microsoft.com/office/drawing/2014/main" id="{CA0F95BC-2E6A-B078-9AE9-0BC2A1823FAD}"/>
                </a:ext>
              </a:extLst>
            </p:cNvPr>
            <p:cNvSpPr/>
            <p:nvPr/>
          </p:nvSpPr>
          <p:spPr>
            <a:xfrm>
              <a:off x="500120" y="5155633"/>
              <a:ext cx="1260000" cy="360000"/>
            </a:xfrm>
            <a:prstGeom prst="round2DiagRect">
              <a:avLst/>
            </a:prstGeom>
            <a:noFill/>
            <a:ln w="6350">
              <a:solidFill>
                <a:srgbClr val="0D83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tx1"/>
                  </a:solidFill>
                  <a:latin typeface="Arial" panose="020B0604020202020204" pitchFamily="34" charset="0"/>
                  <a:cs typeface="Arial" panose="020B0604020202020204" pitchFamily="34" charset="0"/>
                </a:rPr>
                <a:t>Fuel Adjustment Charge (FAC) </a:t>
              </a:r>
            </a:p>
          </p:txBody>
        </p:sp>
        <p:sp>
          <p:nvSpPr>
            <p:cNvPr id="29" name="TextBox 28">
              <a:extLst>
                <a:ext uri="{FF2B5EF4-FFF2-40B4-BE49-F238E27FC236}">
                  <a16:creationId xmlns:a16="http://schemas.microsoft.com/office/drawing/2014/main" id="{AE1AA1F6-17D2-174F-988A-41E72963A634}"/>
                </a:ext>
              </a:extLst>
            </p:cNvPr>
            <p:cNvSpPr txBox="1"/>
            <p:nvPr/>
          </p:nvSpPr>
          <p:spPr>
            <a:xfrm>
              <a:off x="1978030" y="5180833"/>
              <a:ext cx="9720000" cy="309600"/>
            </a:xfrm>
            <a:prstGeom prst="rect">
              <a:avLst/>
            </a:prstGeom>
            <a:noFill/>
          </p:spPr>
          <p:txBody>
            <a:bodyPr wrap="square" lIns="0" tIns="0" rIns="0" bIns="0" rtlCol="0">
              <a:spAutoFit/>
            </a:bodyPr>
            <a:lstStyle/>
            <a:p>
              <a:pPr marL="139303" indent="-139303">
                <a:buSzPct val="100000"/>
                <a:buFont typeface="Arial" panose="020B0604020202020204" pitchFamily="34" charset="0"/>
                <a:buChar char="•"/>
              </a:pPr>
              <a:r>
                <a:rPr lang="en-US" sz="1000">
                  <a:solidFill>
                    <a:srgbClr val="313131"/>
                  </a:solidFill>
                  <a:latin typeface="Arial" panose="020B0604020202020204" pitchFamily="34" charset="0"/>
                  <a:cs typeface="Arial" panose="020B0604020202020204" pitchFamily="34" charset="0"/>
                </a:rPr>
                <a:t>Fuel Adjustment Charge is towards recovery of unprecedented power purchase costs incurred during the tariff period.</a:t>
              </a:r>
            </a:p>
            <a:p>
              <a:pPr marL="139303" indent="-139303">
                <a:buSzPct val="100000"/>
                <a:buFont typeface="Arial" panose="020B0604020202020204" pitchFamily="34" charset="0"/>
                <a:buChar char="•"/>
              </a:pPr>
              <a:r>
                <a:rPr lang="en-US" sz="1000">
                  <a:solidFill>
                    <a:srgbClr val="313131"/>
                  </a:solidFill>
                  <a:latin typeface="Arial" panose="020B0604020202020204" pitchFamily="34" charset="0"/>
                  <a:cs typeface="Arial" panose="020B0604020202020204" pitchFamily="34" charset="0"/>
                </a:rPr>
                <a:t>Automatic pass-through of FAC indicates that the DISCOM recovers the costs instantly during the billing cycle rather than waiting for approval after filing of tariff petition.</a:t>
              </a:r>
            </a:p>
          </p:txBody>
        </p:sp>
      </p:grpSp>
      <p:grpSp>
        <p:nvGrpSpPr>
          <p:cNvPr id="38" name="Group 37">
            <a:extLst>
              <a:ext uri="{FF2B5EF4-FFF2-40B4-BE49-F238E27FC236}">
                <a16:creationId xmlns:a16="http://schemas.microsoft.com/office/drawing/2014/main" id="{69CD0827-B509-FC8C-AFC9-5729DC6A6356}"/>
              </a:ext>
            </a:extLst>
          </p:cNvPr>
          <p:cNvGrpSpPr/>
          <p:nvPr/>
        </p:nvGrpSpPr>
        <p:grpSpPr>
          <a:xfrm>
            <a:off x="501639" y="5584544"/>
            <a:ext cx="11196391" cy="360000"/>
            <a:chOff x="501639" y="5592641"/>
            <a:chExt cx="11196391" cy="360000"/>
          </a:xfrm>
        </p:grpSpPr>
        <p:sp>
          <p:nvSpPr>
            <p:cNvPr id="20" name="Rounded Rectangle 47">
              <a:extLst>
                <a:ext uri="{FF2B5EF4-FFF2-40B4-BE49-F238E27FC236}">
                  <a16:creationId xmlns:a16="http://schemas.microsoft.com/office/drawing/2014/main" id="{161EDC77-9E82-6025-7DDA-40C6DF751634}"/>
                </a:ext>
              </a:extLst>
            </p:cNvPr>
            <p:cNvSpPr/>
            <p:nvPr/>
          </p:nvSpPr>
          <p:spPr>
            <a:xfrm>
              <a:off x="501639" y="5592641"/>
              <a:ext cx="1260000" cy="360000"/>
            </a:xfrm>
            <a:prstGeom prst="round2DiagRect">
              <a:avLst/>
            </a:prstGeom>
            <a:noFill/>
            <a:ln w="6350">
              <a:solidFill>
                <a:srgbClr val="0D83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tx1"/>
                  </a:solidFill>
                  <a:latin typeface="Arial" panose="020B0604020202020204" pitchFamily="34" charset="0"/>
                  <a:cs typeface="Arial" panose="020B0604020202020204" pitchFamily="34" charset="0"/>
                </a:rPr>
                <a:t>Billing efficiency</a:t>
              </a:r>
            </a:p>
          </p:txBody>
        </p:sp>
        <p:sp>
          <p:nvSpPr>
            <p:cNvPr id="30" name="TextBox 29">
              <a:extLst>
                <a:ext uri="{FF2B5EF4-FFF2-40B4-BE49-F238E27FC236}">
                  <a16:creationId xmlns:a16="http://schemas.microsoft.com/office/drawing/2014/main" id="{B2FAB408-81DA-CD49-1083-56668E8751BD}"/>
                </a:ext>
              </a:extLst>
            </p:cNvPr>
            <p:cNvSpPr txBox="1"/>
            <p:nvPr/>
          </p:nvSpPr>
          <p:spPr>
            <a:xfrm>
              <a:off x="1978030" y="5617841"/>
              <a:ext cx="9720000" cy="309600"/>
            </a:xfrm>
            <a:prstGeom prst="rect">
              <a:avLst/>
            </a:prstGeom>
            <a:noFill/>
          </p:spPr>
          <p:txBody>
            <a:bodyPr wrap="square" lIns="0" tIns="0" rIns="0" bIns="0" rtlCol="0">
              <a:spAutoFit/>
            </a:bodyPr>
            <a:lstStyle/>
            <a:p>
              <a:pPr marL="139303" indent="-139303">
                <a:buSzPct val="100000"/>
                <a:buFont typeface="Arial" panose="020B0604020202020204" pitchFamily="34" charset="0"/>
                <a:buChar char="•"/>
              </a:pPr>
              <a:r>
                <a:rPr lang="en-US" sz="1000">
                  <a:solidFill>
                    <a:srgbClr val="313131"/>
                  </a:solidFill>
                  <a:latin typeface="Arial" panose="020B0604020202020204" pitchFamily="34" charset="0"/>
                  <a:cs typeface="Arial" panose="020B0604020202020204" pitchFamily="34" charset="0"/>
                </a:rPr>
                <a:t>Total energy units billed divided by total energy input. It is and indicator of the billings done in relation to energy supplied.</a:t>
              </a:r>
            </a:p>
            <a:p>
              <a:pPr marL="139303" indent="-139303">
                <a:buSzPct val="100000"/>
                <a:buFont typeface="Arial" panose="020B0604020202020204" pitchFamily="34" charset="0"/>
                <a:buChar char="•"/>
              </a:pPr>
              <a:r>
                <a:rPr lang="en-US" sz="1000">
                  <a:solidFill>
                    <a:srgbClr val="313131"/>
                  </a:solidFill>
                  <a:latin typeface="Arial" panose="020B0604020202020204" pitchFamily="34" charset="0"/>
                  <a:cs typeface="Arial" panose="020B0604020202020204" pitchFamily="34" charset="0"/>
                </a:rPr>
                <a:t>High billing efficiency means that there are less cases of defective meters, energy theft etc.</a:t>
              </a:r>
            </a:p>
          </p:txBody>
        </p:sp>
      </p:grpSp>
      <p:grpSp>
        <p:nvGrpSpPr>
          <p:cNvPr id="37" name="Group 36">
            <a:extLst>
              <a:ext uri="{FF2B5EF4-FFF2-40B4-BE49-F238E27FC236}">
                <a16:creationId xmlns:a16="http://schemas.microsoft.com/office/drawing/2014/main" id="{AE0B700A-037B-72A1-BC6F-D8275EA9913A}"/>
              </a:ext>
            </a:extLst>
          </p:cNvPr>
          <p:cNvGrpSpPr/>
          <p:nvPr/>
        </p:nvGrpSpPr>
        <p:grpSpPr>
          <a:xfrm>
            <a:off x="501639" y="6041486"/>
            <a:ext cx="11196391" cy="360000"/>
            <a:chOff x="501639" y="6041486"/>
            <a:chExt cx="11196391" cy="360000"/>
          </a:xfrm>
        </p:grpSpPr>
        <p:sp>
          <p:nvSpPr>
            <p:cNvPr id="21" name="Rounded Rectangle 47">
              <a:extLst>
                <a:ext uri="{FF2B5EF4-FFF2-40B4-BE49-F238E27FC236}">
                  <a16:creationId xmlns:a16="http://schemas.microsoft.com/office/drawing/2014/main" id="{D1D08E6C-2098-0D9E-80CB-E90D1D93C5C8}"/>
                </a:ext>
              </a:extLst>
            </p:cNvPr>
            <p:cNvSpPr/>
            <p:nvPr/>
          </p:nvSpPr>
          <p:spPr>
            <a:xfrm>
              <a:off x="501639" y="6041486"/>
              <a:ext cx="1260000" cy="360000"/>
            </a:xfrm>
            <a:prstGeom prst="round2DiagRect">
              <a:avLst/>
            </a:prstGeom>
            <a:solidFill>
              <a:schemeClr val="bg1"/>
            </a:solidFill>
            <a:ln w="6350">
              <a:solidFill>
                <a:srgbClr val="0D83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tx1"/>
                  </a:solidFill>
                  <a:latin typeface="Arial" panose="020B0604020202020204" pitchFamily="34" charset="0"/>
                  <a:cs typeface="Arial" panose="020B0604020202020204" pitchFamily="34" charset="0"/>
                </a:rPr>
                <a:t>Collection efficiency</a:t>
              </a:r>
            </a:p>
          </p:txBody>
        </p:sp>
        <p:sp>
          <p:nvSpPr>
            <p:cNvPr id="31" name="TextBox 30">
              <a:extLst>
                <a:ext uri="{FF2B5EF4-FFF2-40B4-BE49-F238E27FC236}">
                  <a16:creationId xmlns:a16="http://schemas.microsoft.com/office/drawing/2014/main" id="{50C2B4DC-A334-9324-0E78-779D420DD7D5}"/>
                </a:ext>
              </a:extLst>
            </p:cNvPr>
            <p:cNvSpPr txBox="1"/>
            <p:nvPr/>
          </p:nvSpPr>
          <p:spPr>
            <a:xfrm>
              <a:off x="1978030" y="6066686"/>
              <a:ext cx="9720000" cy="309600"/>
            </a:xfrm>
            <a:prstGeom prst="rect">
              <a:avLst/>
            </a:prstGeom>
            <a:solidFill>
              <a:schemeClr val="bg1"/>
            </a:solidFill>
          </p:spPr>
          <p:txBody>
            <a:bodyPr wrap="square" lIns="0" tIns="0" rIns="0" bIns="0" rtlCol="0">
              <a:spAutoFit/>
            </a:bodyPr>
            <a:lstStyle/>
            <a:p>
              <a:pPr marL="139303" indent="-139303">
                <a:buSzPct val="100000"/>
                <a:buFont typeface="Arial" panose="020B0604020202020204" pitchFamily="34" charset="0"/>
                <a:buChar char="•"/>
              </a:pPr>
              <a:r>
                <a:rPr lang="en-US" sz="1000">
                  <a:solidFill>
                    <a:srgbClr val="313131"/>
                  </a:solidFill>
                  <a:latin typeface="Arial" panose="020B0604020202020204" pitchFamily="34" charset="0"/>
                  <a:cs typeface="Arial" panose="020B0604020202020204" pitchFamily="34" charset="0"/>
                </a:rPr>
                <a:t>Revenue collected divided by amount billed. It is and indicator of the collections in relation to bills raised..</a:t>
              </a:r>
            </a:p>
            <a:p>
              <a:pPr marL="139303" indent="-139303">
                <a:buSzPct val="100000"/>
                <a:buFont typeface="Arial" panose="020B0604020202020204" pitchFamily="34" charset="0"/>
                <a:buChar char="•"/>
              </a:pPr>
              <a:r>
                <a:rPr lang="en-US" sz="1000">
                  <a:solidFill>
                    <a:srgbClr val="313131"/>
                  </a:solidFill>
                  <a:latin typeface="Arial" panose="020B0604020202020204" pitchFamily="34" charset="0"/>
                  <a:cs typeface="Arial" panose="020B0604020202020204" pitchFamily="34" charset="0"/>
                </a:rPr>
                <a:t>High collection efficiency means that there are less cases of non-payment of dues by consumers.</a:t>
              </a:r>
            </a:p>
          </p:txBody>
        </p:sp>
      </p:grpSp>
      <p:sp>
        <p:nvSpPr>
          <p:cNvPr id="33" name="TextBox 32">
            <a:extLst>
              <a:ext uri="{FF2B5EF4-FFF2-40B4-BE49-F238E27FC236}">
                <a16:creationId xmlns:a16="http://schemas.microsoft.com/office/drawing/2014/main" id="{2BFA840B-3D15-2FB8-F279-E49A4370AD4A}"/>
              </a:ext>
            </a:extLst>
          </p:cNvPr>
          <p:cNvSpPr txBox="1"/>
          <p:nvPr/>
        </p:nvSpPr>
        <p:spPr>
          <a:xfrm>
            <a:off x="507364" y="3347317"/>
            <a:ext cx="12019915" cy="276999"/>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spcBef>
                <a:spcPts val="488"/>
              </a:spcBef>
              <a:buSzPct val="100000"/>
            </a:pPr>
            <a:r>
              <a:rPr lang="en-US" sz="1200" b="1">
                <a:solidFill>
                  <a:srgbClr val="313131"/>
                </a:solidFill>
                <a:latin typeface="Arial" panose="020B0604020202020204" pitchFamily="34" charset="0"/>
                <a:cs typeface="Arial" panose="020B0604020202020204" pitchFamily="34" charset="0"/>
              </a:rPr>
              <a:t>Some of the key aspects considered for the integrated ratings include:</a:t>
            </a:r>
            <a:endParaRPr lang="en-US" sz="1200">
              <a:solidFill>
                <a:srgbClr val="313131"/>
              </a:solidFill>
              <a:latin typeface="Arial" panose="020B0604020202020204" pitchFamily="34" charset="0"/>
              <a:cs typeface="Arial" panose="020B0604020202020204" pitchFamily="34" charset="0"/>
            </a:endParaRPr>
          </a:p>
        </p:txBody>
      </p:sp>
      <p:sp>
        <p:nvSpPr>
          <p:cNvPr id="34" name="TextBox 33">
            <a:extLst>
              <a:ext uri="{FF2B5EF4-FFF2-40B4-BE49-F238E27FC236}">
                <a16:creationId xmlns:a16="http://schemas.microsoft.com/office/drawing/2014/main" id="{BA744C8B-E15D-3326-D22E-1E093546E97B}"/>
              </a:ext>
            </a:extLst>
          </p:cNvPr>
          <p:cNvSpPr txBox="1"/>
          <p:nvPr/>
        </p:nvSpPr>
        <p:spPr>
          <a:xfrm>
            <a:off x="483662" y="6515777"/>
            <a:ext cx="9683749"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00" b="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ACS: Average Cost of Supply; ARR: Aggregate Revenue Requirement</a:t>
            </a:r>
            <a:endParaRPr kumimoji="0" lang="en-IN" sz="100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93921026"/>
      </p:ext>
    </p:extLst>
  </p:cSld>
  <p:clrMapOvr>
    <a:masterClrMapping/>
  </p:clrMapOvr>
  <p:transition>
    <p:fade/>
  </p:transition>
</p:sld>
</file>

<file path=ppt/slides/slide83.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4215268522"/>
              </p:ext>
            </p:extLst>
          </p:nvPr>
        </p:nvGraphicFramePr>
        <p:xfrm>
          <a:off x="1673719" y="2761586"/>
          <a:ext cx="9206802" cy="1334828"/>
        </p:xfrm>
        <a:graphic>
          <a:graphicData uri="http://schemas.openxmlformats.org/drawingml/2006/table">
            <a:tbl>
              <a:tblPr firstRow="1" bandRow="1">
                <a:tableStyleId>{5C22544A-7EE6-4342-B048-85BDC9FD1C3A}</a:tableStyleId>
              </a:tblPr>
              <a:tblGrid>
                <a:gridCol w="2923681">
                  <a:extLst>
                    <a:ext uri="{9D8B030D-6E8A-4147-A177-3AD203B41FA5}">
                      <a16:colId xmlns:a16="http://schemas.microsoft.com/office/drawing/2014/main" val="2744717436"/>
                    </a:ext>
                  </a:extLst>
                </a:gridCol>
                <a:gridCol w="6283121">
                  <a:extLst>
                    <a:ext uri="{9D8B030D-6E8A-4147-A177-3AD203B41FA5}">
                      <a16:colId xmlns:a16="http://schemas.microsoft.com/office/drawing/2014/main" val="570884867"/>
                    </a:ext>
                  </a:extLst>
                </a:gridCol>
              </a:tblGrid>
              <a:tr h="1334828">
                <a:tc>
                  <a:txBody>
                    <a:bodyPr/>
                    <a:lstStyle/>
                    <a:p>
                      <a:r>
                        <a:rPr lang="en-US" sz="3600">
                          <a:latin typeface="Arial" panose="020B0604020202020204" pitchFamily="34" charset="0"/>
                          <a:cs typeface="Arial" panose="020B0604020202020204" pitchFamily="34" charset="0"/>
                        </a:rPr>
                        <a:t>4.4</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r>
                        <a:rPr lang="en-US" sz="2400" b="1" kern="0">
                          <a:solidFill>
                            <a:schemeClr val="lt1"/>
                          </a:solidFill>
                          <a:latin typeface="Arial" panose="020B0604020202020204" pitchFamily="34" charset="0"/>
                          <a:ea typeface="+mn-ea"/>
                          <a:cs typeface="Arial" panose="020B0604020202020204" pitchFamily="34" charset="0"/>
                        </a:rPr>
                        <a:t>TRENDS OF VOLUMES AND AVERAGE MARKET CLEARING PRICES IN POWER EXCHANGE FOR THE PAST 3-5 YEARS</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2414420163"/>
      </p:ext>
    </p:extLst>
  </p:cSld>
  <p:clrMapOvr>
    <a:masterClrMapping/>
  </p:clrMapOvr>
  <p:transition>
    <p:fade/>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380866001"/>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35" imgW="415" imgH="416" progId="TCLayout.ActiveDocument.1">
                  <p:embed/>
                </p:oleObj>
              </mc:Choice>
              <mc:Fallback>
                <p:oleObj name="think-cell Slide" r:id="rId35"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36"/>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IN" sz="2000" b="1">
                <a:latin typeface="Arial" panose="020B0604020202020204" pitchFamily="34" charset="0"/>
                <a:cs typeface="Arial" panose="020B0604020202020204" pitchFamily="34" charset="0"/>
              </a:rPr>
              <a:t>India short-term market | </a:t>
            </a:r>
            <a:r>
              <a:rPr lang="en-US" sz="2000" b="1">
                <a:latin typeface="Arial" panose="020B0604020202020204" pitchFamily="34" charset="0"/>
                <a:cs typeface="Arial" panose="020B0604020202020204" pitchFamily="34" charset="0"/>
              </a:rPr>
              <a:t>Trends in spot prices and solar hour discounts</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Rising solar penetration has driven FY25 solar-hour prices ~25% below average, reinforcing its role in moderating intraday market volatility.</a:t>
            </a:r>
            <a:endParaRPr lang="en-IN" sz="1400">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Sources: </a:t>
            </a:r>
            <a:r>
              <a:rPr kumimoji="0" lang="en-US" sz="1050" u="none" strike="noStrike" kern="0" cap="none" spc="0" normalizeH="0" baseline="0" noProof="0">
                <a:ln>
                  <a:noFill/>
                </a:ln>
                <a:effectLst/>
                <a:uLnTx/>
                <a:uFillTx/>
                <a:latin typeface="Arial" panose="020B0604020202020204" pitchFamily="34" charset="0"/>
                <a:cs typeface="Arial" panose="020B0604020202020204" pitchFamily="34" charset="0"/>
              </a:rPr>
              <a:t>IEX DAM prices data,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2FBE8BF6-0118-05F2-C4D3-60A9C9783D56}"/>
              </a:ext>
            </a:extLst>
          </p:cNvPr>
          <p:cNvSpPr txBox="1"/>
          <p:nvPr/>
        </p:nvSpPr>
        <p:spPr>
          <a:xfrm>
            <a:off x="508188" y="1072024"/>
            <a:ext cx="11269248" cy="461665"/>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marL="0" marR="0" lvl="0" indent="0" algn="l" defTabSz="914400" rtl="0" eaLnBrk="1" fontAlgn="auto" latinLnBrk="0" hangingPunct="1">
              <a:lnSpc>
                <a:spcPct val="100000"/>
              </a:lnSpc>
              <a:spcBef>
                <a:spcPts val="0"/>
              </a:spcBef>
              <a:buClrTx/>
              <a:buSzTx/>
              <a:buFont typeface="Wingdings 2" pitchFamily="18" charset="2"/>
              <a:buNone/>
              <a:tabLst/>
              <a:defRPr/>
            </a:pPr>
            <a:r>
              <a:rPr kumimoji="0" lang="en-US" sz="1200" b="1" i="0" u="none" strike="noStrike" kern="0" cap="none" spc="0" normalizeH="0" baseline="0" noProof="0">
                <a:ln>
                  <a:noFill/>
                </a:ln>
                <a:solidFill>
                  <a:schemeClr val="tx1"/>
                </a:solidFill>
                <a:effectLst/>
                <a:uLnTx/>
                <a:uFillTx/>
                <a:ea typeface="Yu Gothic UI"/>
              </a:rPr>
              <a:t>Average annual day ahead short-term power prices on exchanges across different time blocks during day</a:t>
            </a:r>
          </a:p>
          <a:p>
            <a:pPr marL="0" marR="0" lvl="0" indent="0" algn="l" defTabSz="914400" rtl="0" eaLnBrk="1" fontAlgn="auto" latinLnBrk="0" hangingPunct="1">
              <a:lnSpc>
                <a:spcPct val="100000"/>
              </a:lnSpc>
              <a:spcBef>
                <a:spcPts val="0"/>
              </a:spcBef>
              <a:buClrTx/>
              <a:buSzTx/>
              <a:buFont typeface="Wingdings 2" pitchFamily="18" charset="2"/>
              <a:buNone/>
              <a:tabLst/>
              <a:defRPr/>
            </a:pPr>
            <a:r>
              <a:rPr kumimoji="0" lang="en-US" sz="1200" b="0" i="0" u="none" strike="noStrike" kern="0" cap="none" spc="0" normalizeH="0" baseline="0" noProof="0">
                <a:ln>
                  <a:noFill/>
                </a:ln>
                <a:solidFill>
                  <a:schemeClr val="tx1"/>
                </a:solidFill>
                <a:effectLst/>
                <a:uLnTx/>
                <a:uFillTx/>
                <a:ea typeface="Yu Gothic UI"/>
              </a:rPr>
              <a:t>FY23 – FY25, INR/ kWh</a:t>
            </a:r>
          </a:p>
        </p:txBody>
      </p:sp>
      <p:graphicFrame>
        <p:nvGraphicFramePr>
          <p:cNvPr id="68" name="Chart 67">
            <a:extLst>
              <a:ext uri="{FF2B5EF4-FFF2-40B4-BE49-F238E27FC236}">
                <a16:creationId xmlns:a16="http://schemas.microsoft.com/office/drawing/2014/main" id="{54E8FA0A-2A85-E5EE-FBFB-FAFF0FE55C82}"/>
              </a:ext>
            </a:extLst>
          </p:cNvPr>
          <p:cNvGraphicFramePr/>
          <p:nvPr>
            <p:custDataLst>
              <p:tags r:id="rId2"/>
            </p:custDataLst>
            <p:extLst>
              <p:ext uri="{D42A27DB-BD31-4B8C-83A1-F6EECF244321}">
                <p14:modId xmlns:p14="http://schemas.microsoft.com/office/powerpoint/2010/main" val="1792546978"/>
              </p:ext>
            </p:extLst>
          </p:nvPr>
        </p:nvGraphicFramePr>
        <p:xfrm>
          <a:off x="419100" y="2195513"/>
          <a:ext cx="11353800" cy="3022600"/>
        </p:xfrm>
        <a:graphic>
          <a:graphicData uri="http://schemas.openxmlformats.org/drawingml/2006/chart">
            <c:chart xmlns:c="http://schemas.openxmlformats.org/drawingml/2006/chart" xmlns:r="http://schemas.openxmlformats.org/officeDocument/2006/relationships" r:id="rId37"/>
          </a:graphicData>
        </a:graphic>
      </p:graphicFrame>
      <p:cxnSp>
        <p:nvCxnSpPr>
          <p:cNvPr id="24" name="Straight Connector 23">
            <a:extLst>
              <a:ext uri="{FF2B5EF4-FFF2-40B4-BE49-F238E27FC236}">
                <a16:creationId xmlns:a16="http://schemas.microsoft.com/office/drawing/2014/main" id="{81602EB1-51A6-CD96-5346-613CBA7DBA54}"/>
              </a:ext>
            </a:extLst>
          </p:cNvPr>
          <p:cNvCxnSpPr/>
          <p:nvPr>
            <p:custDataLst>
              <p:tags r:id="rId3"/>
            </p:custDataLst>
          </p:nvPr>
        </p:nvCxnSpPr>
        <p:spPr bwMode="auto">
          <a:xfrm>
            <a:off x="8966200" y="3705225"/>
            <a:ext cx="323850" cy="0"/>
          </a:xfrm>
          <a:prstGeom prst="line">
            <a:avLst/>
          </a:prstGeom>
          <a:ln w="6350" cap="flat" cmpd="sng" algn="ctr">
            <a:solidFill>
              <a:schemeClr val="tx1"/>
            </a:solidFill>
            <a:prstDash val="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872D6CF6-4BD3-56DA-A446-D2DCD6763CDD}"/>
              </a:ext>
            </a:extLst>
          </p:cNvPr>
          <p:cNvCxnSpPr>
            <a:cxnSpLocks/>
          </p:cNvCxnSpPr>
          <p:nvPr>
            <p:custDataLst>
              <p:tags r:id="rId4"/>
            </p:custDataLst>
          </p:nvPr>
        </p:nvCxnSpPr>
        <p:spPr bwMode="auto">
          <a:xfrm>
            <a:off x="9251950" y="3702050"/>
            <a:ext cx="0" cy="134938"/>
          </a:xfrm>
          <a:prstGeom prst="line">
            <a:avLst/>
          </a:prstGeom>
          <a:ln w="63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402DF587-ED54-C9CF-3EE2-F7AC77B79E7C}"/>
              </a:ext>
            </a:extLst>
          </p:cNvPr>
          <p:cNvCxnSpPr/>
          <p:nvPr>
            <p:custDataLst>
              <p:tags r:id="rId5"/>
            </p:custDataLst>
          </p:nvPr>
        </p:nvCxnSpPr>
        <p:spPr bwMode="auto">
          <a:xfrm>
            <a:off x="1506538" y="3179763"/>
            <a:ext cx="323850" cy="0"/>
          </a:xfrm>
          <a:prstGeom prst="line">
            <a:avLst/>
          </a:prstGeom>
          <a:ln w="6350" cap="flat" cmpd="sng" algn="ctr">
            <a:solidFill>
              <a:schemeClr val="tx1"/>
            </a:solidFill>
            <a:prstDash val="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5" name="Straight Connector 24">
            <a:extLst>
              <a:ext uri="{FF2B5EF4-FFF2-40B4-BE49-F238E27FC236}">
                <a16:creationId xmlns:a16="http://schemas.microsoft.com/office/drawing/2014/main" id="{271073DD-712B-4817-3EB6-6C366C40F41C}"/>
              </a:ext>
            </a:extLst>
          </p:cNvPr>
          <p:cNvCxnSpPr>
            <a:cxnSpLocks/>
          </p:cNvCxnSpPr>
          <p:nvPr>
            <p:custDataLst>
              <p:tags r:id="rId6"/>
            </p:custDataLst>
          </p:nvPr>
        </p:nvCxnSpPr>
        <p:spPr bwMode="auto">
          <a:xfrm>
            <a:off x="1792288" y="3176588"/>
            <a:ext cx="0" cy="79375"/>
          </a:xfrm>
          <a:prstGeom prst="line">
            <a:avLst/>
          </a:prstGeom>
          <a:ln w="63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27" name="Straight Connector 26">
            <a:extLst>
              <a:ext uri="{FF2B5EF4-FFF2-40B4-BE49-F238E27FC236}">
                <a16:creationId xmlns:a16="http://schemas.microsoft.com/office/drawing/2014/main" id="{50B0E62D-A388-1858-BCCD-F36731570CF2}"/>
              </a:ext>
            </a:extLst>
          </p:cNvPr>
          <p:cNvCxnSpPr/>
          <p:nvPr>
            <p:custDataLst>
              <p:tags r:id="rId7"/>
            </p:custDataLst>
          </p:nvPr>
        </p:nvCxnSpPr>
        <p:spPr bwMode="auto">
          <a:xfrm>
            <a:off x="5237164" y="3441700"/>
            <a:ext cx="322263" cy="0"/>
          </a:xfrm>
          <a:prstGeom prst="line">
            <a:avLst/>
          </a:prstGeom>
          <a:ln w="6350" cap="flat" cmpd="sng" algn="ctr">
            <a:solidFill>
              <a:schemeClr val="tx1"/>
            </a:solidFill>
            <a:prstDash val="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8" name="Straight Connector 27">
            <a:extLst>
              <a:ext uri="{FF2B5EF4-FFF2-40B4-BE49-F238E27FC236}">
                <a16:creationId xmlns:a16="http://schemas.microsoft.com/office/drawing/2014/main" id="{A773F51F-7D18-7024-85E6-A5442F4F1D33}"/>
              </a:ext>
            </a:extLst>
          </p:cNvPr>
          <p:cNvCxnSpPr/>
          <p:nvPr>
            <p:custDataLst>
              <p:tags r:id="rId8"/>
            </p:custDataLst>
          </p:nvPr>
        </p:nvCxnSpPr>
        <p:spPr bwMode="auto">
          <a:xfrm>
            <a:off x="5521325" y="3438525"/>
            <a:ext cx="0" cy="49213"/>
          </a:xfrm>
          <a:prstGeom prst="line">
            <a:avLst/>
          </a:prstGeom>
          <a:ln w="63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29" name="Straight Connector 28">
            <a:extLst>
              <a:ext uri="{FF2B5EF4-FFF2-40B4-BE49-F238E27FC236}">
                <a16:creationId xmlns:a16="http://schemas.microsoft.com/office/drawing/2014/main" id="{1D53F0EF-73FD-FF80-816F-68CC92444980}"/>
              </a:ext>
            </a:extLst>
          </p:cNvPr>
          <p:cNvCxnSpPr/>
          <p:nvPr>
            <p:custDataLst>
              <p:tags r:id="rId9"/>
            </p:custDataLst>
          </p:nvPr>
        </p:nvCxnSpPr>
        <p:spPr bwMode="auto">
          <a:xfrm flipV="1">
            <a:off x="3513138" y="2219325"/>
            <a:ext cx="0" cy="762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B99C5AEB-E914-73B2-F601-FE30C6535F12}"/>
              </a:ext>
            </a:extLst>
          </p:cNvPr>
          <p:cNvCxnSpPr/>
          <p:nvPr>
            <p:custDataLst>
              <p:tags r:id="rId10"/>
            </p:custDataLst>
          </p:nvPr>
        </p:nvCxnSpPr>
        <p:spPr bwMode="auto">
          <a:xfrm>
            <a:off x="3513139" y="2219325"/>
            <a:ext cx="3692525" cy="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1" name="Straight Connector 30">
            <a:extLst>
              <a:ext uri="{FF2B5EF4-FFF2-40B4-BE49-F238E27FC236}">
                <a16:creationId xmlns:a16="http://schemas.microsoft.com/office/drawing/2014/main" id="{76A6918A-D1BB-1A29-4B91-A492F86E352B}"/>
              </a:ext>
            </a:extLst>
          </p:cNvPr>
          <p:cNvCxnSpPr/>
          <p:nvPr>
            <p:custDataLst>
              <p:tags r:id="rId11"/>
            </p:custDataLst>
          </p:nvPr>
        </p:nvCxnSpPr>
        <p:spPr bwMode="auto">
          <a:xfrm>
            <a:off x="7205663" y="2219325"/>
            <a:ext cx="0" cy="482600"/>
          </a:xfrm>
          <a:prstGeom prst="line">
            <a:avLst/>
          </a:prstGeom>
          <a:ln w="63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8C964147-6C18-C961-474D-2F22052925F0}"/>
              </a:ext>
            </a:extLst>
          </p:cNvPr>
          <p:cNvCxnSpPr/>
          <p:nvPr>
            <p:custDataLst>
              <p:tags r:id="rId12"/>
            </p:custDataLst>
          </p:nvPr>
        </p:nvCxnSpPr>
        <p:spPr bwMode="auto">
          <a:xfrm flipV="1">
            <a:off x="7281863" y="2625725"/>
            <a:ext cx="0" cy="762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26959325-BDFD-F1D7-8211-010B2C96B727}"/>
              </a:ext>
            </a:extLst>
          </p:cNvPr>
          <p:cNvCxnSpPr/>
          <p:nvPr>
            <p:custDataLst>
              <p:tags r:id="rId13"/>
            </p:custDataLst>
          </p:nvPr>
        </p:nvCxnSpPr>
        <p:spPr bwMode="auto">
          <a:xfrm>
            <a:off x="7281863" y="2625725"/>
            <a:ext cx="3690938" cy="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4" name="Straight Connector 33">
            <a:extLst>
              <a:ext uri="{FF2B5EF4-FFF2-40B4-BE49-F238E27FC236}">
                <a16:creationId xmlns:a16="http://schemas.microsoft.com/office/drawing/2014/main" id="{98CBA152-3DE9-847F-CB40-7E6618DA4D14}"/>
              </a:ext>
            </a:extLst>
          </p:cNvPr>
          <p:cNvCxnSpPr/>
          <p:nvPr>
            <p:custDataLst>
              <p:tags r:id="rId14"/>
            </p:custDataLst>
          </p:nvPr>
        </p:nvCxnSpPr>
        <p:spPr bwMode="auto">
          <a:xfrm>
            <a:off x="10972800" y="2625725"/>
            <a:ext cx="0" cy="163513"/>
          </a:xfrm>
          <a:prstGeom prst="line">
            <a:avLst/>
          </a:prstGeom>
          <a:ln w="63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5" name="テキスト プレースホルダー 2">
            <a:extLst>
              <a:ext uri="{FF2B5EF4-FFF2-40B4-BE49-F238E27FC236}">
                <a16:creationId xmlns:a16="http://schemas.microsoft.com/office/drawing/2014/main" id="{0E187024-F010-4629-F10A-4EC070757C5E}"/>
              </a:ext>
            </a:extLst>
          </p:cNvPr>
          <p:cNvSpPr>
            <a:spLocks/>
          </p:cNvSpPr>
          <p:nvPr>
            <p:custDataLst>
              <p:tags r:id="rId15"/>
            </p:custDataLst>
          </p:nvPr>
        </p:nvSpPr>
        <p:spPr bwMode="auto">
          <a:xfrm>
            <a:off x="2233613" y="5078413"/>
            <a:ext cx="2635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lgn="ctr">
              <a:spcBef>
                <a:spcPct val="0"/>
              </a:spcBef>
              <a:spcAft>
                <a:spcPct val="0"/>
              </a:spcAft>
            </a:pPr>
            <a:fld id="{B7BAF805-10A7-4CD6-A53E-529EAE041B19}" type="datetime'''F''Y''''''''''''''''2''3'''''''''''''''''''''''''''''''''''">
              <a:rPr kumimoji="0" lang="en-IN" altLang="en-US" sz="1000" smtClean="0"/>
              <a:pPr lvl="0" algn="ctr">
                <a:spcBef>
                  <a:spcPct val="0"/>
                </a:spcBef>
                <a:spcAft>
                  <a:spcPct val="0"/>
                </a:spcAft>
              </a:pPr>
              <a:t>FY23</a:t>
            </a:fld>
            <a:endParaRPr kumimoji="0" lang="en-IN" altLang="ja-JP" sz="1000"/>
          </a:p>
        </p:txBody>
      </p:sp>
      <p:sp>
        <p:nvSpPr>
          <p:cNvPr id="36" name="テキスト プレースホルダー 2">
            <a:extLst>
              <a:ext uri="{FF2B5EF4-FFF2-40B4-BE49-F238E27FC236}">
                <a16:creationId xmlns:a16="http://schemas.microsoft.com/office/drawing/2014/main" id="{B7240771-8562-0E0D-63E2-5A16B6BB48EE}"/>
              </a:ext>
            </a:extLst>
          </p:cNvPr>
          <p:cNvSpPr>
            <a:spLocks/>
          </p:cNvSpPr>
          <p:nvPr>
            <p:custDataLst>
              <p:tags r:id="rId16"/>
            </p:custDataLst>
          </p:nvPr>
        </p:nvSpPr>
        <p:spPr bwMode="auto">
          <a:xfrm>
            <a:off x="5964238" y="5078413"/>
            <a:ext cx="2635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lgn="ctr">
              <a:spcBef>
                <a:spcPct val="0"/>
              </a:spcBef>
              <a:spcAft>
                <a:spcPct val="0"/>
              </a:spcAft>
            </a:pPr>
            <a:fld id="{AE0A3768-F880-468B-AF08-9781BE30E0EE}" type="datetime'''''''F''''''''''''''''''''''''''Y''''''''2''4'''">
              <a:rPr kumimoji="0" lang="en-IN" altLang="en-US" sz="1000" smtClean="0"/>
              <a:pPr lvl="0" algn="ctr">
                <a:spcBef>
                  <a:spcPct val="0"/>
                </a:spcBef>
                <a:spcAft>
                  <a:spcPct val="0"/>
                </a:spcAft>
              </a:pPr>
              <a:t>FY24</a:t>
            </a:fld>
            <a:endParaRPr kumimoji="0" lang="en-IN" altLang="ja-JP" sz="1000"/>
          </a:p>
        </p:txBody>
      </p:sp>
      <p:sp>
        <p:nvSpPr>
          <p:cNvPr id="37" name="テキスト プレースホルダー 2">
            <a:extLst>
              <a:ext uri="{FF2B5EF4-FFF2-40B4-BE49-F238E27FC236}">
                <a16:creationId xmlns:a16="http://schemas.microsoft.com/office/drawing/2014/main" id="{DB7242FD-9CDF-7B47-51A9-09A174CA3B93}"/>
              </a:ext>
            </a:extLst>
          </p:cNvPr>
          <p:cNvSpPr>
            <a:spLocks/>
          </p:cNvSpPr>
          <p:nvPr>
            <p:custDataLst>
              <p:tags r:id="rId17"/>
            </p:custDataLst>
          </p:nvPr>
        </p:nvSpPr>
        <p:spPr bwMode="auto">
          <a:xfrm>
            <a:off x="9693275" y="5078413"/>
            <a:ext cx="2635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lgn="ctr">
              <a:spcBef>
                <a:spcPct val="0"/>
              </a:spcBef>
              <a:spcAft>
                <a:spcPct val="0"/>
              </a:spcAft>
            </a:pPr>
            <a:fld id="{A8429756-7B08-4513-9B7C-FC49CE5452E0}" type="datetime'''''''''''''F''''''Y2''''''''''''''''''''''5'''''''">
              <a:rPr kumimoji="0" lang="en-IN" altLang="en-US" sz="1000" smtClean="0"/>
              <a:pPr lvl="0" algn="ctr">
                <a:spcBef>
                  <a:spcPct val="0"/>
                </a:spcBef>
                <a:spcAft>
                  <a:spcPct val="0"/>
                </a:spcAft>
              </a:pPr>
              <a:t>FY25</a:t>
            </a:fld>
            <a:endParaRPr kumimoji="0" lang="en-IN" altLang="ja-JP" sz="1000"/>
          </a:p>
        </p:txBody>
      </p:sp>
      <p:sp>
        <p:nvSpPr>
          <p:cNvPr id="38" name="テキスト プレースホルダー 2">
            <a:extLst>
              <a:ext uri="{FF2B5EF4-FFF2-40B4-BE49-F238E27FC236}">
                <a16:creationId xmlns:a16="http://schemas.microsoft.com/office/drawing/2014/main" id="{72373AB3-FDDD-F9AB-9C41-FFFE4644646F}"/>
              </a:ext>
            </a:extLst>
          </p:cNvPr>
          <p:cNvSpPr>
            <a:spLocks/>
          </p:cNvSpPr>
          <p:nvPr>
            <p:custDataLst>
              <p:tags r:id="rId18"/>
            </p:custDataLst>
          </p:nvPr>
        </p:nvSpPr>
        <p:spPr bwMode="auto">
          <a:xfrm>
            <a:off x="9067800" y="3419475"/>
            <a:ext cx="368300" cy="238125"/>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lgn="ctr">
              <a:spcBef>
                <a:spcPct val="0"/>
              </a:spcBef>
              <a:spcAft>
                <a:spcPct val="0"/>
              </a:spcAft>
            </a:pPr>
            <a:fld id="{4730F3AA-9376-49AB-966D-4DC77C1B7086}" type="datetime'''''-''''''''''''''''''2''''''''''''''''''5''%'''''''''''">
              <a:rPr kumimoji="0" lang="en-IN" altLang="en-US" sz="1000" b="1" smtClean="0">
                <a:effectLst/>
              </a:rPr>
              <a:pPr lvl="0" algn="ctr">
                <a:spcBef>
                  <a:spcPct val="0"/>
                </a:spcBef>
                <a:spcAft>
                  <a:spcPct val="0"/>
                </a:spcAft>
              </a:pPr>
              <a:t>-25%</a:t>
            </a:fld>
            <a:endParaRPr kumimoji="0" lang="en-IN" altLang="ja-JP" sz="1000" b="1"/>
          </a:p>
        </p:txBody>
      </p:sp>
      <p:sp>
        <p:nvSpPr>
          <p:cNvPr id="39" name="テキスト プレースホルダー 2">
            <a:extLst>
              <a:ext uri="{FF2B5EF4-FFF2-40B4-BE49-F238E27FC236}">
                <a16:creationId xmlns:a16="http://schemas.microsoft.com/office/drawing/2014/main" id="{991E05EA-2D38-C6A3-2548-B79706CADC3C}"/>
              </a:ext>
            </a:extLst>
          </p:cNvPr>
          <p:cNvSpPr>
            <a:spLocks/>
          </p:cNvSpPr>
          <p:nvPr>
            <p:custDataLst>
              <p:tags r:id="rId19"/>
            </p:custDataLst>
          </p:nvPr>
        </p:nvSpPr>
        <p:spPr bwMode="auto">
          <a:xfrm>
            <a:off x="1608138" y="2894013"/>
            <a:ext cx="368300" cy="238125"/>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lgn="ctr">
              <a:spcBef>
                <a:spcPct val="0"/>
              </a:spcBef>
              <a:spcAft>
                <a:spcPct val="0"/>
              </a:spcAft>
            </a:pPr>
            <a:fld id="{DF086EA4-956B-4F22-89CC-C5EF34C1935B}" type="datetime'''-''''''''''''''''''1''''''5''''''''''''''%'''''">
              <a:rPr kumimoji="0" lang="en-IN" altLang="en-US" sz="1000" b="1" smtClean="0">
                <a:effectLst/>
              </a:rPr>
              <a:pPr lvl="0" algn="ctr">
                <a:spcBef>
                  <a:spcPct val="0"/>
                </a:spcBef>
                <a:spcAft>
                  <a:spcPct val="0"/>
                </a:spcAft>
              </a:pPr>
              <a:t>-15%</a:t>
            </a:fld>
            <a:endParaRPr kumimoji="0" lang="en-IN" altLang="ja-JP" sz="1000" b="1"/>
          </a:p>
        </p:txBody>
      </p:sp>
      <p:sp>
        <p:nvSpPr>
          <p:cNvPr id="40" name="テキスト プレースホルダー 2">
            <a:extLst>
              <a:ext uri="{FF2B5EF4-FFF2-40B4-BE49-F238E27FC236}">
                <a16:creationId xmlns:a16="http://schemas.microsoft.com/office/drawing/2014/main" id="{D87C5A26-6DEC-3DD1-65BF-535848E28604}"/>
              </a:ext>
            </a:extLst>
          </p:cNvPr>
          <p:cNvSpPr>
            <a:spLocks/>
          </p:cNvSpPr>
          <p:nvPr>
            <p:custDataLst>
              <p:tags r:id="rId20"/>
            </p:custDataLst>
          </p:nvPr>
        </p:nvSpPr>
        <p:spPr bwMode="auto">
          <a:xfrm>
            <a:off x="5337175" y="3155950"/>
            <a:ext cx="368300" cy="238125"/>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lgn="ctr">
              <a:spcBef>
                <a:spcPct val="0"/>
              </a:spcBef>
              <a:spcAft>
                <a:spcPct val="0"/>
              </a:spcAft>
            </a:pPr>
            <a:fld id="{0D9B5E74-0C7F-4868-8E34-A0731D2ACA63}" type="datetime'''''-''''''''1''''''''''''''''''''''''''6''''%'''''''''">
              <a:rPr kumimoji="0" lang="en-IN" altLang="en-US" sz="1000" b="1" smtClean="0">
                <a:effectLst/>
              </a:rPr>
              <a:pPr lvl="0" algn="ctr">
                <a:spcBef>
                  <a:spcPct val="0"/>
                </a:spcBef>
                <a:spcAft>
                  <a:spcPct val="0"/>
                </a:spcAft>
              </a:pPr>
              <a:t>-16%</a:t>
            </a:fld>
            <a:endParaRPr kumimoji="0" lang="en-IN" altLang="ja-JP" sz="1000" b="1"/>
          </a:p>
        </p:txBody>
      </p:sp>
      <p:sp>
        <p:nvSpPr>
          <p:cNvPr id="41" name="テキスト プレースホルダー 2">
            <a:extLst>
              <a:ext uri="{FF2B5EF4-FFF2-40B4-BE49-F238E27FC236}">
                <a16:creationId xmlns:a16="http://schemas.microsoft.com/office/drawing/2014/main" id="{5411689E-B1CE-412E-4F19-450298ED7C9D}"/>
              </a:ext>
            </a:extLst>
          </p:cNvPr>
          <p:cNvSpPr>
            <a:spLocks/>
          </p:cNvSpPr>
          <p:nvPr>
            <p:custDataLst>
              <p:tags r:id="rId21"/>
            </p:custDataLst>
          </p:nvPr>
        </p:nvSpPr>
        <p:spPr bwMode="auto">
          <a:xfrm>
            <a:off x="5175250" y="2100263"/>
            <a:ext cx="368300" cy="238125"/>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lgn="ctr">
              <a:spcBef>
                <a:spcPct val="0"/>
              </a:spcBef>
              <a:spcAft>
                <a:spcPct val="0"/>
              </a:spcAft>
            </a:pPr>
            <a:fld id="{E47ECAED-3F73-4568-90EA-CC92D41820E0}" type="datetime'''''''''''''''''''-''1''''''''''''''''''''''''6%'''''''''">
              <a:rPr kumimoji="0" lang="en-IN" altLang="en-US" sz="1000" b="1" smtClean="0">
                <a:effectLst/>
              </a:rPr>
              <a:pPr lvl="0" algn="ctr">
                <a:spcBef>
                  <a:spcPct val="0"/>
                </a:spcBef>
                <a:spcAft>
                  <a:spcPct val="0"/>
                </a:spcAft>
              </a:pPr>
              <a:t>-16%</a:t>
            </a:fld>
            <a:endParaRPr kumimoji="0" lang="en-IN" altLang="ja-JP" sz="1000" b="1"/>
          </a:p>
        </p:txBody>
      </p:sp>
      <p:sp>
        <p:nvSpPr>
          <p:cNvPr id="42" name="テキスト プレースホルダー 2">
            <a:extLst>
              <a:ext uri="{FF2B5EF4-FFF2-40B4-BE49-F238E27FC236}">
                <a16:creationId xmlns:a16="http://schemas.microsoft.com/office/drawing/2014/main" id="{59D188DD-701C-B85E-59F6-CAA0177BB719}"/>
              </a:ext>
            </a:extLst>
          </p:cNvPr>
          <p:cNvSpPr>
            <a:spLocks/>
          </p:cNvSpPr>
          <p:nvPr>
            <p:custDataLst>
              <p:tags r:id="rId22"/>
            </p:custDataLst>
          </p:nvPr>
        </p:nvSpPr>
        <p:spPr bwMode="auto">
          <a:xfrm>
            <a:off x="8988425" y="2506663"/>
            <a:ext cx="276225" cy="238125"/>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lgn="ctr">
              <a:spcBef>
                <a:spcPct val="0"/>
              </a:spcBef>
              <a:spcAft>
                <a:spcPct val="0"/>
              </a:spcAft>
            </a:pPr>
            <a:fld id="{F4D12D0D-BE1F-4835-A934-DBD53E94CBA5}" type="datetime'-4''''''''''''''''''''''''''''%'''''''''''''''''''''''''''">
              <a:rPr kumimoji="0" lang="en-IN" altLang="en-US" sz="1000" b="1" smtClean="0">
                <a:effectLst/>
              </a:rPr>
              <a:pPr lvl="0" algn="ctr">
                <a:spcBef>
                  <a:spcPct val="0"/>
                </a:spcBef>
                <a:spcAft>
                  <a:spcPct val="0"/>
                </a:spcAft>
              </a:pPr>
              <a:t>-4%</a:t>
            </a:fld>
            <a:endParaRPr kumimoji="0" lang="en-IN" altLang="ja-JP" sz="1000" b="1"/>
          </a:p>
        </p:txBody>
      </p:sp>
      <p:sp>
        <p:nvSpPr>
          <p:cNvPr id="43" name="Rectangle 42">
            <a:extLst>
              <a:ext uri="{FF2B5EF4-FFF2-40B4-BE49-F238E27FC236}">
                <a16:creationId xmlns:a16="http://schemas.microsoft.com/office/drawing/2014/main" id="{48D82ACF-45F0-7624-D3CC-67CCAD265A9F}"/>
              </a:ext>
            </a:extLst>
          </p:cNvPr>
          <p:cNvSpPr/>
          <p:nvPr>
            <p:custDataLst>
              <p:tags r:id="rId23"/>
            </p:custDataLst>
          </p:nvPr>
        </p:nvSpPr>
        <p:spPr bwMode="auto">
          <a:xfrm>
            <a:off x="2655888" y="1536700"/>
            <a:ext cx="214313" cy="160338"/>
          </a:xfrm>
          <a:prstGeom prst="rect">
            <a:avLst/>
          </a:prstGeom>
          <a:solidFill>
            <a:srgbClr val="86BC25"/>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rgbClr val="BBBCBC"/>
                </a:solidFill>
                <a:prstDash val="solid"/>
                <a:miter lim="800000"/>
                <a:headEnd type="none" w="med" len="med"/>
                <a:tailEnd type="none" w="med" len="med"/>
              </a14:hiddenLine>
            </a:ext>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IN" sz="1200" b="0" i="0" u="none" strike="noStrike" kern="1200" cap="none" spc="0" normalizeH="0" baseline="0" noProof="0">
              <a:ln>
                <a:noFill/>
              </a:ln>
              <a:solidFill>
                <a:prstClr val="black"/>
              </a:solidFill>
              <a:effectLst/>
              <a:uLnTx/>
              <a:uFillTx/>
              <a:latin typeface="+mn-lt"/>
              <a:ea typeface="+mn-ea"/>
              <a:cs typeface="+mn-cs"/>
            </a:endParaRPr>
          </a:p>
        </p:txBody>
      </p:sp>
      <p:sp>
        <p:nvSpPr>
          <p:cNvPr id="44" name="Rectangle 43">
            <a:extLst>
              <a:ext uri="{FF2B5EF4-FFF2-40B4-BE49-F238E27FC236}">
                <a16:creationId xmlns:a16="http://schemas.microsoft.com/office/drawing/2014/main" id="{031BA03B-ECA8-20C7-C7A6-EF3FC2D422F3}"/>
              </a:ext>
            </a:extLst>
          </p:cNvPr>
          <p:cNvSpPr/>
          <p:nvPr>
            <p:custDataLst>
              <p:tags r:id="rId24"/>
            </p:custDataLst>
          </p:nvPr>
        </p:nvSpPr>
        <p:spPr bwMode="auto">
          <a:xfrm>
            <a:off x="2655888" y="1789113"/>
            <a:ext cx="214313" cy="160338"/>
          </a:xfrm>
          <a:prstGeom prst="rect">
            <a:avLst/>
          </a:prstGeom>
          <a:solidFill>
            <a:srgbClr val="FFCD00"/>
          </a:solidFill>
          <a:ln w="12700" cap="flat" cmpd="sng" algn="ctr">
            <a:noFill/>
            <a:prstDash val="solid"/>
            <a:miter lim="800000"/>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IN" sz="1200" b="0" i="0" u="none" strike="noStrike" kern="1200" cap="none" spc="0" normalizeH="0" baseline="0" noProof="0">
              <a:ln>
                <a:noFill/>
              </a:ln>
              <a:solidFill>
                <a:prstClr val="black"/>
              </a:solidFill>
              <a:effectLst/>
              <a:uLnTx/>
              <a:uFillTx/>
              <a:latin typeface="+mn-lt"/>
              <a:ea typeface="+mn-ea"/>
              <a:cs typeface="+mn-cs"/>
            </a:endParaRPr>
          </a:p>
        </p:txBody>
      </p:sp>
      <p:sp>
        <p:nvSpPr>
          <p:cNvPr id="45" name="Rectangle 44">
            <a:extLst>
              <a:ext uri="{FF2B5EF4-FFF2-40B4-BE49-F238E27FC236}">
                <a16:creationId xmlns:a16="http://schemas.microsoft.com/office/drawing/2014/main" id="{A23D9CC5-0445-28FA-7E49-93CEAAD28A15}"/>
              </a:ext>
            </a:extLst>
          </p:cNvPr>
          <p:cNvSpPr/>
          <p:nvPr>
            <p:custDataLst>
              <p:tags r:id="rId25"/>
            </p:custDataLst>
          </p:nvPr>
        </p:nvSpPr>
        <p:spPr bwMode="auto">
          <a:xfrm>
            <a:off x="4776788" y="1536700"/>
            <a:ext cx="214313" cy="160338"/>
          </a:xfrm>
          <a:prstGeom prst="rect">
            <a:avLst/>
          </a:prstGeom>
          <a:solidFill>
            <a:srgbClr val="62B5E5"/>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rgbClr val="BBBCBC"/>
                </a:solidFill>
                <a:prstDash val="solid"/>
                <a:miter lim="800000"/>
                <a:headEnd type="none" w="med" len="med"/>
                <a:tailEnd type="none" w="med" len="med"/>
              </a14:hiddenLine>
            </a:ext>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IN" sz="1200" b="0" i="0" u="none" strike="noStrike" kern="1200" cap="none" spc="0" normalizeH="0" baseline="0" noProof="0">
              <a:ln>
                <a:noFill/>
              </a:ln>
              <a:solidFill>
                <a:prstClr val="black"/>
              </a:solidFill>
              <a:effectLst/>
              <a:uLnTx/>
              <a:uFillTx/>
              <a:latin typeface="+mn-lt"/>
              <a:ea typeface="+mn-ea"/>
              <a:cs typeface="+mn-cs"/>
            </a:endParaRPr>
          </a:p>
        </p:txBody>
      </p:sp>
      <p:sp>
        <p:nvSpPr>
          <p:cNvPr id="46" name="Rectangle 45">
            <a:extLst>
              <a:ext uri="{FF2B5EF4-FFF2-40B4-BE49-F238E27FC236}">
                <a16:creationId xmlns:a16="http://schemas.microsoft.com/office/drawing/2014/main" id="{97D0CF28-E2D8-0416-03EB-1F220A798CCB}"/>
              </a:ext>
            </a:extLst>
          </p:cNvPr>
          <p:cNvSpPr/>
          <p:nvPr>
            <p:custDataLst>
              <p:tags r:id="rId26"/>
            </p:custDataLst>
          </p:nvPr>
        </p:nvSpPr>
        <p:spPr bwMode="auto">
          <a:xfrm>
            <a:off x="4776788" y="1789113"/>
            <a:ext cx="214313" cy="160338"/>
          </a:xfrm>
          <a:prstGeom prst="rect">
            <a:avLst/>
          </a:prstGeom>
          <a:solidFill>
            <a:srgbClr val="012169"/>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rgbClr val="BBBCBC"/>
                </a:solidFill>
                <a:prstDash val="solid"/>
                <a:miter lim="800000"/>
                <a:headEnd type="none" w="med" len="med"/>
                <a:tailEnd type="none" w="med" len="med"/>
              </a14:hiddenLine>
            </a:ext>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IN" sz="1200" b="0" i="0" u="none" strike="noStrike" kern="1200" cap="none" spc="0" normalizeH="0" baseline="0" noProof="0">
              <a:ln>
                <a:noFill/>
              </a:ln>
              <a:solidFill>
                <a:prstClr val="black"/>
              </a:solidFill>
              <a:effectLst/>
              <a:uLnTx/>
              <a:uFillTx/>
              <a:latin typeface="+mn-lt"/>
              <a:ea typeface="+mn-ea"/>
              <a:cs typeface="+mn-cs"/>
            </a:endParaRPr>
          </a:p>
        </p:txBody>
      </p:sp>
      <p:sp>
        <p:nvSpPr>
          <p:cNvPr id="47" name="Rectangle 46">
            <a:extLst>
              <a:ext uri="{FF2B5EF4-FFF2-40B4-BE49-F238E27FC236}">
                <a16:creationId xmlns:a16="http://schemas.microsoft.com/office/drawing/2014/main" id="{A38929E6-55B4-11F3-7413-9E2FCB12E5D3}"/>
              </a:ext>
            </a:extLst>
          </p:cNvPr>
          <p:cNvSpPr/>
          <p:nvPr>
            <p:custDataLst>
              <p:tags r:id="rId27"/>
            </p:custDataLst>
          </p:nvPr>
        </p:nvSpPr>
        <p:spPr bwMode="auto">
          <a:xfrm>
            <a:off x="7073900" y="1536700"/>
            <a:ext cx="214313" cy="160338"/>
          </a:xfrm>
          <a:prstGeom prst="rect">
            <a:avLst/>
          </a:prstGeom>
          <a:solidFill>
            <a:srgbClr val="0097A9"/>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rgbClr val="BBBCBC"/>
                </a:solidFill>
                <a:prstDash val="solid"/>
                <a:miter lim="800000"/>
                <a:headEnd type="none" w="med" len="med"/>
                <a:tailEnd type="none" w="med" len="med"/>
              </a14:hiddenLine>
            </a:ext>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IN" sz="1200" b="0" i="0" u="none" strike="noStrike" kern="1200" cap="none" spc="0" normalizeH="0" baseline="0" noProof="0">
              <a:ln>
                <a:noFill/>
              </a:ln>
              <a:solidFill>
                <a:prstClr val="black"/>
              </a:solidFill>
              <a:effectLst/>
              <a:uLnTx/>
              <a:uFillTx/>
              <a:latin typeface="+mn-lt"/>
              <a:ea typeface="+mn-ea"/>
              <a:cs typeface="+mn-cs"/>
            </a:endParaRPr>
          </a:p>
        </p:txBody>
      </p:sp>
      <p:sp>
        <p:nvSpPr>
          <p:cNvPr id="48" name="テキスト プレースホルダー 2">
            <a:extLst>
              <a:ext uri="{FF2B5EF4-FFF2-40B4-BE49-F238E27FC236}">
                <a16:creationId xmlns:a16="http://schemas.microsoft.com/office/drawing/2014/main" id="{840D46C9-E4B7-89F1-3110-8051111F74E3}"/>
              </a:ext>
            </a:extLst>
          </p:cNvPr>
          <p:cNvSpPr>
            <a:spLocks/>
          </p:cNvSpPr>
          <p:nvPr>
            <p:custDataLst>
              <p:tags r:id="rId28"/>
            </p:custDataLst>
          </p:nvPr>
        </p:nvSpPr>
        <p:spPr bwMode="auto">
          <a:xfrm>
            <a:off x="2921000" y="1517650"/>
            <a:ext cx="1277938" cy="2016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spcBef>
                <a:spcPct val="0"/>
              </a:spcBef>
              <a:spcAft>
                <a:spcPct val="0"/>
              </a:spcAft>
            </a:pPr>
            <a:fld id="{440497DE-E19E-494C-AAEF-7D83D65A2494}" type="datetime'''A''nnu''al'' ''''av''''''''era''''''g''''e'' ''''MC''P'">
              <a:rPr lang="en-IN" altLang="en-US" smtClean="0"/>
              <a:pPr lvl="0">
                <a:spcBef>
                  <a:spcPct val="0"/>
                </a:spcBef>
                <a:spcAft>
                  <a:spcPct val="0"/>
                </a:spcAft>
              </a:pPr>
              <a:t>Annual average MCP</a:t>
            </a:fld>
            <a:endParaRPr kumimoji="1" lang="en-IN" altLang="ja-JP"/>
          </a:p>
        </p:txBody>
      </p:sp>
      <p:sp>
        <p:nvSpPr>
          <p:cNvPr id="49" name="テキスト プレースホルダー 2">
            <a:extLst>
              <a:ext uri="{FF2B5EF4-FFF2-40B4-BE49-F238E27FC236}">
                <a16:creationId xmlns:a16="http://schemas.microsoft.com/office/drawing/2014/main" id="{BDDB835D-A374-0106-A423-E9556D8D6F2C}"/>
              </a:ext>
            </a:extLst>
          </p:cNvPr>
          <p:cNvSpPr>
            <a:spLocks/>
          </p:cNvSpPr>
          <p:nvPr>
            <p:custDataLst>
              <p:tags r:id="rId29"/>
            </p:custDataLst>
          </p:nvPr>
        </p:nvSpPr>
        <p:spPr bwMode="auto">
          <a:xfrm>
            <a:off x="2921000" y="1770063"/>
            <a:ext cx="1754188" cy="2016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spcBef>
                <a:spcPct val="0"/>
              </a:spcBef>
              <a:spcAft>
                <a:spcPct val="0"/>
              </a:spcAft>
            </a:pPr>
            <a:fld id="{0FAC1802-190E-432B-B3A3-1925903E0C49}" type="datetime'''Sol''''ar h''ours ''(1''0'' ''AM'' to 6'' P''''''M'''''')'''">
              <a:rPr lang="en-US" altLang="en-US" smtClean="0"/>
              <a:pPr lvl="0">
                <a:spcBef>
                  <a:spcPct val="0"/>
                </a:spcBef>
                <a:spcAft>
                  <a:spcPct val="0"/>
                </a:spcAft>
              </a:pPr>
              <a:t>Solar hours (10 AM to 6 PM)</a:t>
            </a:fld>
            <a:endParaRPr kumimoji="1" lang="en-IN" altLang="ja-JP"/>
          </a:p>
        </p:txBody>
      </p:sp>
      <p:sp>
        <p:nvSpPr>
          <p:cNvPr id="50" name="テキスト プレースホルダー 2">
            <a:extLst>
              <a:ext uri="{FF2B5EF4-FFF2-40B4-BE49-F238E27FC236}">
                <a16:creationId xmlns:a16="http://schemas.microsoft.com/office/drawing/2014/main" id="{A8E4B5B6-6E1E-BA4B-5A03-DB4E8011CCFD}"/>
              </a:ext>
            </a:extLst>
          </p:cNvPr>
          <p:cNvSpPr>
            <a:spLocks/>
          </p:cNvSpPr>
          <p:nvPr>
            <p:custDataLst>
              <p:tags r:id="rId30"/>
            </p:custDataLst>
          </p:nvPr>
        </p:nvSpPr>
        <p:spPr bwMode="auto">
          <a:xfrm>
            <a:off x="5041900" y="1517650"/>
            <a:ext cx="1778000" cy="2016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spcBef>
                <a:spcPct val="0"/>
              </a:spcBef>
              <a:spcAft>
                <a:spcPct val="0"/>
              </a:spcAft>
            </a:pPr>
            <a:fld id="{5A7891A4-8FC1-42AB-A54B-994F5AFC8D29}" type="datetime'Nigh''t ho''u''''r''s'' (''''''1''0 ''P''''''M to 6 A''''M'')'">
              <a:rPr lang="en-US" altLang="en-US" smtClean="0"/>
              <a:pPr lvl="0">
                <a:spcBef>
                  <a:spcPct val="0"/>
                </a:spcBef>
                <a:spcAft>
                  <a:spcPct val="0"/>
                </a:spcAft>
              </a:pPr>
              <a:t>Night hours (10 PM to 6 AM)</a:t>
            </a:fld>
            <a:endParaRPr kumimoji="1" lang="en-IN" altLang="ja-JP"/>
          </a:p>
        </p:txBody>
      </p:sp>
      <p:sp>
        <p:nvSpPr>
          <p:cNvPr id="51" name="テキスト プレースホルダー 2">
            <a:extLst>
              <a:ext uri="{FF2B5EF4-FFF2-40B4-BE49-F238E27FC236}">
                <a16:creationId xmlns:a16="http://schemas.microsoft.com/office/drawing/2014/main" id="{61074E07-8A5A-F25F-4245-9BACE354DCF9}"/>
              </a:ext>
            </a:extLst>
          </p:cNvPr>
          <p:cNvSpPr>
            <a:spLocks/>
          </p:cNvSpPr>
          <p:nvPr>
            <p:custDataLst>
              <p:tags r:id="rId31"/>
            </p:custDataLst>
          </p:nvPr>
        </p:nvSpPr>
        <p:spPr bwMode="auto">
          <a:xfrm>
            <a:off x="5041900" y="1770063"/>
            <a:ext cx="1930400" cy="2016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spcBef>
                <a:spcPct val="0"/>
              </a:spcBef>
              <a:spcAft>
                <a:spcPct val="0"/>
              </a:spcAft>
            </a:pPr>
            <a:fld id="{87A16AAB-8F67-4DA3-ACF1-9890A872A2B5}" type="datetime'M''''o''''r''''ning peak'' (6 ''AM ''''t''o'' ''1''0'' AM)'''">
              <a:rPr lang="en-US" altLang="en-US" smtClean="0"/>
              <a:pPr lvl="0">
                <a:spcBef>
                  <a:spcPct val="0"/>
                </a:spcBef>
                <a:spcAft>
                  <a:spcPct val="0"/>
                </a:spcAft>
              </a:pPr>
              <a:t>Morning peak (6 AM to 10 AM)</a:t>
            </a:fld>
            <a:endParaRPr kumimoji="1" lang="en-IN" altLang="ja-JP"/>
          </a:p>
        </p:txBody>
      </p:sp>
      <p:sp>
        <p:nvSpPr>
          <p:cNvPr id="52" name="テキスト プレースホルダー 2">
            <a:extLst>
              <a:ext uri="{FF2B5EF4-FFF2-40B4-BE49-F238E27FC236}">
                <a16:creationId xmlns:a16="http://schemas.microsoft.com/office/drawing/2014/main" id="{3D918DB1-2911-9578-707D-915899631026}"/>
              </a:ext>
            </a:extLst>
          </p:cNvPr>
          <p:cNvSpPr>
            <a:spLocks/>
          </p:cNvSpPr>
          <p:nvPr>
            <p:custDataLst>
              <p:tags r:id="rId32"/>
            </p:custDataLst>
          </p:nvPr>
        </p:nvSpPr>
        <p:spPr bwMode="auto">
          <a:xfrm>
            <a:off x="7339013" y="1517650"/>
            <a:ext cx="1862138" cy="2016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spcBef>
                <a:spcPct val="0"/>
              </a:spcBef>
              <a:spcAft>
                <a:spcPct val="0"/>
              </a:spcAft>
            </a:pPr>
            <a:fld id="{C3E65271-C878-4966-9EEF-20090AD3C20C}" type="datetime'''''E''''''ve''n''ing ''p''e''''''ak'' (6 PM to 1''0 PM)'">
              <a:rPr lang="en-US" altLang="en-US" smtClean="0"/>
              <a:pPr lvl="0">
                <a:spcBef>
                  <a:spcPct val="0"/>
                </a:spcBef>
                <a:spcAft>
                  <a:spcPct val="0"/>
                </a:spcAft>
              </a:pPr>
              <a:t>Evening peak (6 PM to 10 PM)</a:t>
            </a:fld>
            <a:endParaRPr kumimoji="1" lang="en-IN" altLang="ja-JP"/>
          </a:p>
        </p:txBody>
      </p:sp>
      <p:sp>
        <p:nvSpPr>
          <p:cNvPr id="55" name="TextBox 54">
            <a:extLst>
              <a:ext uri="{FF2B5EF4-FFF2-40B4-BE49-F238E27FC236}">
                <a16:creationId xmlns:a16="http://schemas.microsoft.com/office/drawing/2014/main" id="{1948423B-5A52-3642-C895-8F7C84380BEB}"/>
              </a:ext>
            </a:extLst>
          </p:cNvPr>
          <p:cNvSpPr txBox="1"/>
          <p:nvPr/>
        </p:nvSpPr>
        <p:spPr bwMode="gray">
          <a:xfrm>
            <a:off x="507099" y="5492395"/>
            <a:ext cx="11189601" cy="907941"/>
          </a:xfrm>
          <a:prstGeom prst="rect">
            <a:avLst/>
          </a:prstGeom>
          <a:noFill/>
        </p:spPr>
        <p:txBody>
          <a:bodyPr wrap="square">
            <a:spAutoFit/>
          </a:bodyPr>
          <a:lstStyle/>
          <a:p>
            <a:pPr marL="171450" indent="-171450">
              <a:spcBef>
                <a:spcPts val="600"/>
              </a:spcBef>
              <a:buFont typeface="Arial" panose="020B0604020202020204" pitchFamily="34" charset="0"/>
              <a:buChar char="•"/>
            </a:pPr>
            <a:r>
              <a:rPr lang="en-US" sz="1200">
                <a:latin typeface="Arial" panose="020B0604020202020204" pitchFamily="34" charset="0"/>
                <a:cs typeface="Arial" panose="020B0604020202020204" pitchFamily="34" charset="0"/>
              </a:rPr>
              <a:t>Over the past three fiscal years, the average spot electricity prices in India have ranged between INR 4.00 and INR 6.00 per kilowatt-hour (kWh), reflecting prevailing supply-demand dynamics.</a:t>
            </a:r>
          </a:p>
          <a:p>
            <a:pPr marL="171450" indent="-171450">
              <a:spcBef>
                <a:spcPts val="600"/>
              </a:spcBef>
              <a:buFont typeface="Arial" panose="020B0604020202020204" pitchFamily="34" charset="0"/>
              <a:buChar char="•"/>
            </a:pPr>
            <a:r>
              <a:rPr lang="en-US" sz="1200">
                <a:latin typeface="Arial" panose="020B0604020202020204" pitchFamily="34" charset="0"/>
                <a:cs typeface="Arial" panose="020B0604020202020204" pitchFamily="34" charset="0"/>
              </a:rPr>
              <a:t>In FY25, the market-clearing prices observed during solar generation hours have been ~25% lower than the overall average spot prices, indicating the impact of increased solar penetration on intraday price volatility.</a:t>
            </a:r>
            <a:endParaRPr lang="en-IN" sz="120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16684883"/>
      </p:ext>
    </p:extLst>
  </p:cSld>
  <p:clrMapOvr>
    <a:masterClrMapping/>
  </p:clrMapOvr>
  <p:transition>
    <p:fade/>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93117337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IN" sz="2000" b="1">
                <a:latin typeface="Arial" panose="020B0604020202020204" pitchFamily="34" charset="0"/>
                <a:cs typeface="Arial" panose="020B0604020202020204" pitchFamily="34" charset="0"/>
              </a:rPr>
              <a:t>India short-term market | FY 23 hourly DAM prices on IEX</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Electricity prices stayed low during solar hours, with a notable spike in Apr’22 driven by post-COVID economic recovery and reduced RE output</a:t>
            </a:r>
            <a:endParaRPr lang="en-IN" sz="1400">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Sources: </a:t>
            </a:r>
            <a:r>
              <a:rPr kumimoji="0" lang="en-US" sz="1050" u="none" strike="noStrike" kern="0" cap="none" spc="0" normalizeH="0" baseline="0" noProof="0">
                <a:ln>
                  <a:noFill/>
                </a:ln>
                <a:effectLst/>
                <a:uLnTx/>
                <a:uFillTx/>
                <a:latin typeface="Arial" panose="020B0604020202020204" pitchFamily="34" charset="0"/>
                <a:cs typeface="Arial" panose="020B0604020202020204" pitchFamily="34" charset="0"/>
              </a:rPr>
              <a:t>IEX DAM prices data,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2FBE8BF6-0118-05F2-C4D3-60A9C9783D56}"/>
              </a:ext>
            </a:extLst>
          </p:cNvPr>
          <p:cNvSpPr txBox="1"/>
          <p:nvPr/>
        </p:nvSpPr>
        <p:spPr>
          <a:xfrm>
            <a:off x="508188" y="1072024"/>
            <a:ext cx="11269248" cy="461665"/>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marL="0" marR="0" lvl="0" indent="0" defTabSz="914400" eaLnBrk="1" fontAlgn="auto" latinLnBrk="0" hangingPunct="1">
              <a:lnSpc>
                <a:spcPct val="100000"/>
              </a:lnSpc>
              <a:spcBef>
                <a:spcPts val="0"/>
              </a:spcBef>
              <a:buClrTx/>
              <a:buSzTx/>
              <a:buFont typeface="Wingdings 2" pitchFamily="18" charset="2"/>
              <a:buNone/>
              <a:tabLst/>
              <a:defRPr/>
            </a:pPr>
            <a:r>
              <a:rPr kumimoji="0" lang="en-US" sz="1200" b="1" i="0" u="none" strike="noStrike" kern="0" cap="none" spc="0" normalizeH="0" baseline="0" noProof="0">
                <a:ln>
                  <a:noFill/>
                </a:ln>
                <a:solidFill>
                  <a:schemeClr val="tx1"/>
                </a:solidFill>
                <a:effectLst/>
                <a:uLnTx/>
                <a:uFillTx/>
              </a:rPr>
              <a:t>Average monthly day ahead short-term power prices on exchanges across 24 hours</a:t>
            </a:r>
          </a:p>
          <a:p>
            <a:pPr marL="0" marR="0" lvl="0" indent="0" defTabSz="914400" eaLnBrk="1" fontAlgn="auto" latinLnBrk="0" hangingPunct="1">
              <a:lnSpc>
                <a:spcPct val="100000"/>
              </a:lnSpc>
              <a:spcBef>
                <a:spcPts val="0"/>
              </a:spcBef>
              <a:buClrTx/>
              <a:buSzTx/>
              <a:buFont typeface="Wingdings 2" pitchFamily="18" charset="2"/>
              <a:buNone/>
              <a:tabLst/>
              <a:defRPr/>
            </a:pPr>
            <a:r>
              <a:rPr kumimoji="0" lang="en-US" sz="1200" b="0" i="0" u="none" strike="noStrike" kern="0" cap="none" spc="0" normalizeH="0" baseline="0" noProof="0">
                <a:ln>
                  <a:noFill/>
                </a:ln>
                <a:solidFill>
                  <a:schemeClr val="tx1"/>
                </a:solidFill>
                <a:effectLst/>
                <a:uLnTx/>
                <a:uFillTx/>
              </a:rPr>
              <a:t>FY23, INR/kWh</a:t>
            </a:r>
          </a:p>
        </p:txBody>
      </p:sp>
      <p:graphicFrame>
        <p:nvGraphicFramePr>
          <p:cNvPr id="4" name="Table 3">
            <a:extLst>
              <a:ext uri="{FF2B5EF4-FFF2-40B4-BE49-F238E27FC236}">
                <a16:creationId xmlns:a16="http://schemas.microsoft.com/office/drawing/2014/main" id="{94084011-9E5E-5914-CF0E-8014A69A1A3F}"/>
              </a:ext>
            </a:extLst>
          </p:cNvPr>
          <p:cNvGraphicFramePr>
            <a:graphicFrameLocks noGrp="1"/>
          </p:cNvGraphicFramePr>
          <p:nvPr>
            <p:extLst>
              <p:ext uri="{D42A27DB-BD31-4B8C-83A1-F6EECF244321}">
                <p14:modId xmlns:p14="http://schemas.microsoft.com/office/powerpoint/2010/main" val="1425551456"/>
              </p:ext>
            </p:extLst>
          </p:nvPr>
        </p:nvGraphicFramePr>
        <p:xfrm>
          <a:off x="508188" y="1531596"/>
          <a:ext cx="11181820" cy="4572000"/>
        </p:xfrm>
        <a:graphic>
          <a:graphicData uri="http://schemas.openxmlformats.org/drawingml/2006/table">
            <a:tbl>
              <a:tblPr/>
              <a:tblGrid>
                <a:gridCol w="860140">
                  <a:extLst>
                    <a:ext uri="{9D8B030D-6E8A-4147-A177-3AD203B41FA5}">
                      <a16:colId xmlns:a16="http://schemas.microsoft.com/office/drawing/2014/main" val="3458280895"/>
                    </a:ext>
                  </a:extLst>
                </a:gridCol>
                <a:gridCol w="860140">
                  <a:extLst>
                    <a:ext uri="{9D8B030D-6E8A-4147-A177-3AD203B41FA5}">
                      <a16:colId xmlns:a16="http://schemas.microsoft.com/office/drawing/2014/main" val="858359346"/>
                    </a:ext>
                  </a:extLst>
                </a:gridCol>
                <a:gridCol w="860140">
                  <a:extLst>
                    <a:ext uri="{9D8B030D-6E8A-4147-A177-3AD203B41FA5}">
                      <a16:colId xmlns:a16="http://schemas.microsoft.com/office/drawing/2014/main" val="1026192187"/>
                    </a:ext>
                  </a:extLst>
                </a:gridCol>
                <a:gridCol w="860140">
                  <a:extLst>
                    <a:ext uri="{9D8B030D-6E8A-4147-A177-3AD203B41FA5}">
                      <a16:colId xmlns:a16="http://schemas.microsoft.com/office/drawing/2014/main" val="78036984"/>
                    </a:ext>
                  </a:extLst>
                </a:gridCol>
                <a:gridCol w="860140">
                  <a:extLst>
                    <a:ext uri="{9D8B030D-6E8A-4147-A177-3AD203B41FA5}">
                      <a16:colId xmlns:a16="http://schemas.microsoft.com/office/drawing/2014/main" val="171759810"/>
                    </a:ext>
                  </a:extLst>
                </a:gridCol>
                <a:gridCol w="860140">
                  <a:extLst>
                    <a:ext uri="{9D8B030D-6E8A-4147-A177-3AD203B41FA5}">
                      <a16:colId xmlns:a16="http://schemas.microsoft.com/office/drawing/2014/main" val="1519467808"/>
                    </a:ext>
                  </a:extLst>
                </a:gridCol>
                <a:gridCol w="860140">
                  <a:extLst>
                    <a:ext uri="{9D8B030D-6E8A-4147-A177-3AD203B41FA5}">
                      <a16:colId xmlns:a16="http://schemas.microsoft.com/office/drawing/2014/main" val="1172566074"/>
                    </a:ext>
                  </a:extLst>
                </a:gridCol>
                <a:gridCol w="860140">
                  <a:extLst>
                    <a:ext uri="{9D8B030D-6E8A-4147-A177-3AD203B41FA5}">
                      <a16:colId xmlns:a16="http://schemas.microsoft.com/office/drawing/2014/main" val="1722642706"/>
                    </a:ext>
                  </a:extLst>
                </a:gridCol>
                <a:gridCol w="860140">
                  <a:extLst>
                    <a:ext uri="{9D8B030D-6E8A-4147-A177-3AD203B41FA5}">
                      <a16:colId xmlns:a16="http://schemas.microsoft.com/office/drawing/2014/main" val="3238886536"/>
                    </a:ext>
                  </a:extLst>
                </a:gridCol>
                <a:gridCol w="860140">
                  <a:extLst>
                    <a:ext uri="{9D8B030D-6E8A-4147-A177-3AD203B41FA5}">
                      <a16:colId xmlns:a16="http://schemas.microsoft.com/office/drawing/2014/main" val="1569630937"/>
                    </a:ext>
                  </a:extLst>
                </a:gridCol>
                <a:gridCol w="860140">
                  <a:extLst>
                    <a:ext uri="{9D8B030D-6E8A-4147-A177-3AD203B41FA5}">
                      <a16:colId xmlns:a16="http://schemas.microsoft.com/office/drawing/2014/main" val="3900075682"/>
                    </a:ext>
                  </a:extLst>
                </a:gridCol>
                <a:gridCol w="860140">
                  <a:extLst>
                    <a:ext uri="{9D8B030D-6E8A-4147-A177-3AD203B41FA5}">
                      <a16:colId xmlns:a16="http://schemas.microsoft.com/office/drawing/2014/main" val="2312819195"/>
                    </a:ext>
                  </a:extLst>
                </a:gridCol>
                <a:gridCol w="860140">
                  <a:extLst>
                    <a:ext uri="{9D8B030D-6E8A-4147-A177-3AD203B41FA5}">
                      <a16:colId xmlns:a16="http://schemas.microsoft.com/office/drawing/2014/main" val="865506607"/>
                    </a:ext>
                  </a:extLst>
                </a:gridCol>
              </a:tblGrid>
              <a:tr h="136158">
                <a:tc>
                  <a:txBody>
                    <a:bodyPr/>
                    <a:lstStyle/>
                    <a:p>
                      <a:pPr algn="ctr" fontAlgn="ctr"/>
                      <a:r>
                        <a:rPr lang="en-IN" sz="1200" b="1" i="0" u="none" strike="noStrike">
                          <a:solidFill>
                            <a:srgbClr val="FFFFFF"/>
                          </a:solidFill>
                          <a:effectLst/>
                          <a:latin typeface="Arial" panose="020B0604020202020204" pitchFamily="34" charset="0"/>
                          <a:cs typeface="Arial" panose="020B0604020202020204" pitchFamily="34" charset="0"/>
                        </a:rPr>
                        <a:t>Hour</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Apr-22</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May-22</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Jun-22</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Jul-22</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Aug-22</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Sep-22</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Oct-22</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Nov-22</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Dec-22</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Jan-23</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Feb-23</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Mar-23</a:t>
                      </a:r>
                    </a:p>
                  </a:txBody>
                  <a:tcPr marL="36000" marR="36000" marT="0" marB="0" anchor="ctr">
                    <a:lnL>
                      <a:noFill/>
                    </a:lnL>
                    <a:lnR>
                      <a:noFill/>
                    </a:lnR>
                    <a:lnT>
                      <a:noFill/>
                    </a:lnT>
                    <a:lnB>
                      <a:noFill/>
                    </a:lnB>
                    <a:solidFill>
                      <a:srgbClr val="000000"/>
                    </a:solidFill>
                  </a:tcPr>
                </a:tc>
                <a:extLst>
                  <a:ext uri="{0D108BD9-81ED-4DB2-BD59-A6C34878D82A}">
                    <a16:rowId xmlns:a16="http://schemas.microsoft.com/office/drawing/2014/main" val="904810797"/>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11.84 </a:t>
                      </a:r>
                    </a:p>
                  </a:txBody>
                  <a:tcPr marL="36000" marR="36000" marT="0" marB="0" anchor="ctr">
                    <a:lnL>
                      <a:noFill/>
                    </a:lnL>
                    <a:lnR>
                      <a:noFill/>
                    </a:lnR>
                    <a:lnT>
                      <a:noFill/>
                    </a:lnT>
                    <a:lnB>
                      <a:noFill/>
                    </a:lnB>
                    <a:solidFill>
                      <a:srgbClr val="F8696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9.00 </a:t>
                      </a:r>
                    </a:p>
                  </a:txBody>
                  <a:tcPr marL="36000" marR="36000" marT="0" marB="0" anchor="ctr">
                    <a:lnL>
                      <a:noFill/>
                    </a:lnL>
                    <a:lnR>
                      <a:noFill/>
                    </a:lnR>
                    <a:lnT>
                      <a:noFill/>
                    </a:lnT>
                    <a:lnB>
                      <a:noFill/>
                    </a:lnB>
                    <a:solidFill>
                      <a:srgbClr val="FCA3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10.68 </a:t>
                      </a:r>
                    </a:p>
                  </a:txBody>
                  <a:tcPr marL="36000" marR="36000" marT="0" marB="0" anchor="ctr">
                    <a:lnL>
                      <a:noFill/>
                    </a:lnL>
                    <a:lnR>
                      <a:noFill/>
                    </a:lnR>
                    <a:lnT>
                      <a:noFill/>
                    </a:lnT>
                    <a:lnB>
                      <a:noFill/>
                    </a:lnB>
                    <a:solidFill>
                      <a:srgbClr val="FA817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7.33 </a:t>
                      </a:r>
                    </a:p>
                  </a:txBody>
                  <a:tcPr marL="36000" marR="36000" marT="0" marB="0" anchor="ctr">
                    <a:lnL>
                      <a:noFill/>
                    </a:lnL>
                    <a:lnR>
                      <a:noFill/>
                    </a:lnR>
                    <a:lnT>
                      <a:noFill/>
                    </a:lnT>
                    <a:lnB>
                      <a:noFill/>
                    </a:lnB>
                    <a:solidFill>
                      <a:srgbClr val="FDC5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5.57 </a:t>
                      </a:r>
                    </a:p>
                  </a:txBody>
                  <a:tcPr marL="36000" marR="36000" marT="0" marB="0" anchor="ctr">
                    <a:lnL>
                      <a:noFill/>
                    </a:lnL>
                    <a:lnR>
                      <a:noFill/>
                    </a:lnR>
                    <a:lnT>
                      <a:noFill/>
                    </a:lnT>
                    <a:lnB>
                      <a:noFill/>
                    </a:lnB>
                    <a:solidFill>
                      <a:srgbClr val="FFE8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6.88 </a:t>
                      </a:r>
                    </a:p>
                  </a:txBody>
                  <a:tcPr marL="36000" marR="36000" marT="0" marB="0" anchor="ctr">
                    <a:lnL>
                      <a:noFill/>
                    </a:lnL>
                    <a:lnR>
                      <a:noFill/>
                    </a:lnR>
                    <a:lnT>
                      <a:noFill/>
                    </a:lnT>
                    <a:lnB>
                      <a:noFill/>
                    </a:lnB>
                    <a:solidFill>
                      <a:srgbClr val="FECE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3.44 </a:t>
                      </a:r>
                    </a:p>
                  </a:txBody>
                  <a:tcPr marL="36000" marR="36000" marT="0" marB="0" anchor="ctr">
                    <a:lnL>
                      <a:noFill/>
                    </a:lnL>
                    <a:lnR>
                      <a:noFill/>
                    </a:lnR>
                    <a:lnT>
                      <a:noFill/>
                    </a:lnT>
                    <a:lnB>
                      <a:noFill/>
                    </a:lnB>
                    <a:solidFill>
                      <a:srgbClr val="93CB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3.57 </a:t>
                      </a:r>
                    </a:p>
                  </a:txBody>
                  <a:tcPr marL="36000" marR="36000" marT="0" marB="0" anchor="ctr">
                    <a:lnL>
                      <a:noFill/>
                    </a:lnL>
                    <a:lnR>
                      <a:noFill/>
                    </a:lnR>
                    <a:lnT>
                      <a:noFill/>
                    </a:lnT>
                    <a:lnB>
                      <a:noFill/>
                    </a:lnB>
                    <a:solidFill>
                      <a:srgbClr val="9ACE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2.88 </a:t>
                      </a:r>
                    </a:p>
                  </a:txBody>
                  <a:tcPr marL="36000" marR="36000" marT="0" marB="0" anchor="ctr">
                    <a:lnL>
                      <a:noFill/>
                    </a:lnL>
                    <a:lnR>
                      <a:noFill/>
                    </a:lnR>
                    <a:lnT>
                      <a:noFill/>
                    </a:lnT>
                    <a:lnB>
                      <a:noFill/>
                    </a:lnB>
                    <a:solidFill>
                      <a:srgbClr val="75C3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2.97 </a:t>
                      </a:r>
                    </a:p>
                  </a:txBody>
                  <a:tcPr marL="36000" marR="36000" marT="0" marB="0" anchor="ctr">
                    <a:lnL>
                      <a:noFill/>
                    </a:lnL>
                    <a:lnR>
                      <a:noFill/>
                    </a:lnR>
                    <a:lnT>
                      <a:noFill/>
                    </a:lnT>
                    <a:lnB>
                      <a:noFill/>
                    </a:lnB>
                    <a:solidFill>
                      <a:srgbClr val="79C4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5.29 </a:t>
                      </a:r>
                    </a:p>
                  </a:txBody>
                  <a:tcPr marL="36000" marR="36000" marT="0" marB="0" anchor="ctr">
                    <a:lnL>
                      <a:noFill/>
                    </a:lnL>
                    <a:lnR>
                      <a:noFill/>
                    </a:lnR>
                    <a:lnT>
                      <a:noFill/>
                    </a:lnT>
                    <a:lnB>
                      <a:noFill/>
                    </a:lnB>
                    <a:solidFill>
                      <a:srgbClr val="F8E9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5.90 </a:t>
                      </a:r>
                    </a:p>
                  </a:txBody>
                  <a:tcPr marL="36000" marR="36000" marT="0" marB="0" anchor="ctr">
                    <a:lnL>
                      <a:noFill/>
                    </a:lnL>
                    <a:lnR>
                      <a:noFill/>
                    </a:lnR>
                    <a:lnT>
                      <a:noFill/>
                    </a:lnT>
                    <a:lnB>
                      <a:noFill/>
                    </a:lnB>
                    <a:solidFill>
                      <a:srgbClr val="FFE283"/>
                    </a:solidFill>
                  </a:tcPr>
                </a:tc>
                <a:extLst>
                  <a:ext uri="{0D108BD9-81ED-4DB2-BD59-A6C34878D82A}">
                    <a16:rowId xmlns:a16="http://schemas.microsoft.com/office/drawing/2014/main" val="2719554135"/>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11.42 </a:t>
                      </a:r>
                    </a:p>
                  </a:txBody>
                  <a:tcPr marL="36000" marR="36000" marT="0" marB="0" anchor="ctr">
                    <a:lnL>
                      <a:noFill/>
                    </a:lnL>
                    <a:lnR>
                      <a:noFill/>
                    </a:lnR>
                    <a:lnT>
                      <a:noFill/>
                    </a:lnT>
                    <a:lnB>
                      <a:noFill/>
                    </a:lnB>
                    <a:solidFill>
                      <a:srgbClr val="F9726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7.93 </a:t>
                      </a:r>
                    </a:p>
                  </a:txBody>
                  <a:tcPr marL="36000" marR="36000" marT="0" marB="0" anchor="ctr">
                    <a:lnL>
                      <a:noFill/>
                    </a:lnL>
                    <a:lnR>
                      <a:noFill/>
                    </a:lnR>
                    <a:lnT>
                      <a:noFill/>
                    </a:lnT>
                    <a:lnB>
                      <a:noFill/>
                    </a:lnB>
                    <a:solidFill>
                      <a:srgbClr val="FDB8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9.06 </a:t>
                      </a:r>
                    </a:p>
                  </a:txBody>
                  <a:tcPr marL="36000" marR="36000" marT="0" marB="0" anchor="ctr">
                    <a:lnL>
                      <a:noFill/>
                    </a:lnL>
                    <a:lnR>
                      <a:noFill/>
                    </a:lnR>
                    <a:lnT>
                      <a:noFill/>
                    </a:lnT>
                    <a:lnB>
                      <a:noFill/>
                    </a:lnB>
                    <a:solidFill>
                      <a:srgbClr val="FCA2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5.83 </a:t>
                      </a:r>
                    </a:p>
                  </a:txBody>
                  <a:tcPr marL="36000" marR="36000" marT="0" marB="0" anchor="ctr">
                    <a:lnL>
                      <a:noFill/>
                    </a:lnL>
                    <a:lnR>
                      <a:noFill/>
                    </a:lnR>
                    <a:lnT>
                      <a:noFill/>
                    </a:lnT>
                    <a:lnB>
                      <a:noFill/>
                    </a:lnB>
                    <a:solidFill>
                      <a:srgbClr val="FFE3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4.62 </a:t>
                      </a:r>
                    </a:p>
                  </a:txBody>
                  <a:tcPr marL="36000" marR="36000" marT="0" marB="0" anchor="ctr">
                    <a:lnL>
                      <a:noFill/>
                    </a:lnL>
                    <a:lnR>
                      <a:noFill/>
                    </a:lnR>
                    <a:lnT>
                      <a:noFill/>
                    </a:lnT>
                    <a:lnB>
                      <a:noFill/>
                    </a:lnB>
                    <a:solidFill>
                      <a:srgbClr val="D4DE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5.69 </a:t>
                      </a:r>
                    </a:p>
                  </a:txBody>
                  <a:tcPr marL="36000" marR="36000" marT="0" marB="0" anchor="ctr">
                    <a:lnL>
                      <a:noFill/>
                    </a:lnL>
                    <a:lnR>
                      <a:noFill/>
                    </a:lnR>
                    <a:lnT>
                      <a:noFill/>
                    </a:lnT>
                    <a:lnB>
                      <a:noFill/>
                    </a:lnB>
                    <a:solidFill>
                      <a:srgbClr val="FFE6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3.22 </a:t>
                      </a:r>
                    </a:p>
                  </a:txBody>
                  <a:tcPr marL="36000" marR="36000" marT="0" marB="0" anchor="ctr">
                    <a:lnL>
                      <a:noFill/>
                    </a:lnL>
                    <a:lnR>
                      <a:noFill/>
                    </a:lnR>
                    <a:lnT>
                      <a:noFill/>
                    </a:lnT>
                    <a:lnB>
                      <a:noFill/>
                    </a:lnB>
                    <a:solidFill>
                      <a:srgbClr val="87C8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3.36 </a:t>
                      </a:r>
                    </a:p>
                  </a:txBody>
                  <a:tcPr marL="36000" marR="36000" marT="0" marB="0" anchor="ctr">
                    <a:lnL>
                      <a:noFill/>
                    </a:lnL>
                    <a:lnR>
                      <a:noFill/>
                    </a:lnR>
                    <a:lnT>
                      <a:noFill/>
                    </a:lnT>
                    <a:lnB>
                      <a:noFill/>
                    </a:lnB>
                    <a:solidFill>
                      <a:srgbClr val="8FCA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2.70 </a:t>
                      </a:r>
                    </a:p>
                  </a:txBody>
                  <a:tcPr marL="36000" marR="36000" marT="0" marB="0" anchor="ctr">
                    <a:lnL>
                      <a:noFill/>
                    </a:lnL>
                    <a:lnR>
                      <a:noFill/>
                    </a:lnR>
                    <a:lnT>
                      <a:noFill/>
                    </a:lnT>
                    <a:lnB>
                      <a:noFill/>
                    </a:lnB>
                    <a:solidFill>
                      <a:srgbClr val="6BC0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2.77 </a:t>
                      </a:r>
                    </a:p>
                  </a:txBody>
                  <a:tcPr marL="36000" marR="36000" marT="0" marB="0" anchor="ctr">
                    <a:lnL>
                      <a:noFill/>
                    </a:lnL>
                    <a:lnR>
                      <a:noFill/>
                    </a:lnR>
                    <a:lnT>
                      <a:noFill/>
                    </a:lnT>
                    <a:lnB>
                      <a:noFill/>
                    </a:lnB>
                    <a:solidFill>
                      <a:srgbClr val="6FC1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4.54 </a:t>
                      </a:r>
                    </a:p>
                  </a:txBody>
                  <a:tcPr marL="36000" marR="36000" marT="0" marB="0" anchor="ctr">
                    <a:lnL>
                      <a:noFill/>
                    </a:lnL>
                    <a:lnR>
                      <a:noFill/>
                    </a:lnR>
                    <a:lnT>
                      <a:noFill/>
                    </a:lnT>
                    <a:lnB>
                      <a:noFill/>
                    </a:lnB>
                    <a:solidFill>
                      <a:srgbClr val="D0DD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5.09 </a:t>
                      </a:r>
                    </a:p>
                  </a:txBody>
                  <a:tcPr marL="36000" marR="36000" marT="0" marB="0" anchor="ctr">
                    <a:lnL>
                      <a:noFill/>
                    </a:lnL>
                    <a:lnR>
                      <a:noFill/>
                    </a:lnR>
                    <a:lnT>
                      <a:noFill/>
                    </a:lnT>
                    <a:lnB>
                      <a:noFill/>
                    </a:lnB>
                    <a:solidFill>
                      <a:srgbClr val="EDE683"/>
                    </a:solidFill>
                  </a:tcPr>
                </a:tc>
                <a:extLst>
                  <a:ext uri="{0D108BD9-81ED-4DB2-BD59-A6C34878D82A}">
                    <a16:rowId xmlns:a16="http://schemas.microsoft.com/office/drawing/2014/main" val="1206623703"/>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3</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11.05 </a:t>
                      </a:r>
                    </a:p>
                  </a:txBody>
                  <a:tcPr marL="36000" marR="36000" marT="0" marB="0" anchor="ctr">
                    <a:lnL>
                      <a:noFill/>
                    </a:lnL>
                    <a:lnR>
                      <a:noFill/>
                    </a:lnR>
                    <a:lnT>
                      <a:noFill/>
                    </a:lnT>
                    <a:lnB>
                      <a:noFill/>
                    </a:lnB>
                    <a:solidFill>
                      <a:srgbClr val="F9796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7.12 </a:t>
                      </a:r>
                    </a:p>
                  </a:txBody>
                  <a:tcPr marL="36000" marR="36000" marT="0" marB="0" anchor="ctr">
                    <a:lnL>
                      <a:noFill/>
                    </a:lnL>
                    <a:lnR>
                      <a:noFill/>
                    </a:lnR>
                    <a:lnT>
                      <a:noFill/>
                    </a:lnT>
                    <a:lnB>
                      <a:noFill/>
                    </a:lnB>
                    <a:solidFill>
                      <a:srgbClr val="FEC9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7.88 </a:t>
                      </a:r>
                    </a:p>
                  </a:txBody>
                  <a:tcPr marL="36000" marR="36000" marT="0" marB="0" anchor="ctr">
                    <a:lnL>
                      <a:noFill/>
                    </a:lnL>
                    <a:lnR>
                      <a:noFill/>
                    </a:lnR>
                    <a:lnT>
                      <a:noFill/>
                    </a:lnT>
                    <a:lnB>
                      <a:noFill/>
                    </a:lnB>
                    <a:solidFill>
                      <a:srgbClr val="FDBA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4.76 </a:t>
                      </a:r>
                    </a:p>
                  </a:txBody>
                  <a:tcPr marL="36000" marR="36000" marT="0" marB="0" anchor="ctr">
                    <a:lnL>
                      <a:noFill/>
                    </a:lnL>
                    <a:lnR>
                      <a:noFill/>
                    </a:lnR>
                    <a:lnT>
                      <a:noFill/>
                    </a:lnT>
                    <a:lnB>
                      <a:noFill/>
                    </a:lnB>
                    <a:solidFill>
                      <a:srgbClr val="DBE0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4.02 </a:t>
                      </a:r>
                    </a:p>
                  </a:txBody>
                  <a:tcPr marL="36000" marR="36000" marT="0" marB="0" anchor="ctr">
                    <a:lnL>
                      <a:noFill/>
                    </a:lnL>
                    <a:lnR>
                      <a:noFill/>
                    </a:lnR>
                    <a:lnT>
                      <a:noFill/>
                    </a:lnT>
                    <a:lnB>
                      <a:noFill/>
                    </a:lnB>
                    <a:solidFill>
                      <a:srgbClr val="B3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5.00 </a:t>
                      </a:r>
                    </a:p>
                  </a:txBody>
                  <a:tcPr marL="36000" marR="36000" marT="0" marB="0" anchor="ctr">
                    <a:lnL>
                      <a:noFill/>
                    </a:lnL>
                    <a:lnR>
                      <a:noFill/>
                    </a:lnR>
                    <a:lnT>
                      <a:noFill/>
                    </a:lnT>
                    <a:lnB>
                      <a:noFill/>
                    </a:lnB>
                    <a:solidFill>
                      <a:srgbClr val="E8E4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3.02 </a:t>
                      </a:r>
                    </a:p>
                  </a:txBody>
                  <a:tcPr marL="36000" marR="36000" marT="0" marB="0" anchor="ctr">
                    <a:lnL>
                      <a:noFill/>
                    </a:lnL>
                    <a:lnR>
                      <a:noFill/>
                    </a:lnR>
                    <a:lnT>
                      <a:noFill/>
                    </a:lnT>
                    <a:lnB>
                      <a:noFill/>
                    </a:lnB>
                    <a:solidFill>
                      <a:srgbClr val="7CC5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3.22 </a:t>
                      </a:r>
                    </a:p>
                  </a:txBody>
                  <a:tcPr marL="36000" marR="36000" marT="0" marB="0" anchor="ctr">
                    <a:lnL>
                      <a:noFill/>
                    </a:lnL>
                    <a:lnR>
                      <a:noFill/>
                    </a:lnR>
                    <a:lnT>
                      <a:noFill/>
                    </a:lnT>
                    <a:lnB>
                      <a:noFill/>
                    </a:lnB>
                    <a:solidFill>
                      <a:srgbClr val="87C8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2.57 </a:t>
                      </a:r>
                    </a:p>
                  </a:txBody>
                  <a:tcPr marL="36000" marR="36000" marT="0" marB="0" anchor="ctr">
                    <a:lnL>
                      <a:noFill/>
                    </a:lnL>
                    <a:lnR>
                      <a:noFill/>
                    </a:lnR>
                    <a:lnT>
                      <a:noFill/>
                    </a:lnT>
                    <a:lnB>
                      <a:noFill/>
                    </a:lnB>
                    <a:solidFill>
                      <a:srgbClr val="64BE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2.66 </a:t>
                      </a:r>
                    </a:p>
                  </a:txBody>
                  <a:tcPr marL="36000" marR="36000" marT="0" marB="0" anchor="ctr">
                    <a:lnL>
                      <a:noFill/>
                    </a:lnL>
                    <a:lnR>
                      <a:noFill/>
                    </a:lnR>
                    <a:lnT>
                      <a:noFill/>
                    </a:lnT>
                    <a:lnB>
                      <a:noFill/>
                    </a:lnB>
                    <a:solidFill>
                      <a:srgbClr val="69BF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4.19 </a:t>
                      </a:r>
                    </a:p>
                  </a:txBody>
                  <a:tcPr marL="36000" marR="36000" marT="0" marB="0" anchor="ctr">
                    <a:lnL>
                      <a:noFill/>
                    </a:lnL>
                    <a:lnR>
                      <a:noFill/>
                    </a:lnR>
                    <a:lnT>
                      <a:noFill/>
                    </a:lnT>
                    <a:lnB>
                      <a:noFill/>
                    </a:lnB>
                    <a:solidFill>
                      <a:srgbClr val="BCD7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4.48 </a:t>
                      </a:r>
                    </a:p>
                  </a:txBody>
                  <a:tcPr marL="36000" marR="36000" marT="0" marB="0" anchor="ctr">
                    <a:lnL>
                      <a:noFill/>
                    </a:lnL>
                    <a:lnR>
                      <a:noFill/>
                    </a:lnR>
                    <a:lnT>
                      <a:noFill/>
                    </a:lnT>
                    <a:lnB>
                      <a:noFill/>
                    </a:lnB>
                    <a:solidFill>
                      <a:srgbClr val="CCDC81"/>
                    </a:solidFill>
                  </a:tcPr>
                </a:tc>
                <a:extLst>
                  <a:ext uri="{0D108BD9-81ED-4DB2-BD59-A6C34878D82A}">
                    <a16:rowId xmlns:a16="http://schemas.microsoft.com/office/drawing/2014/main" val="2305599400"/>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4</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10.70 </a:t>
                      </a:r>
                    </a:p>
                  </a:txBody>
                  <a:tcPr marL="36000" marR="36000" marT="0" marB="0" anchor="ctr">
                    <a:lnL>
                      <a:noFill/>
                    </a:lnL>
                    <a:lnR>
                      <a:noFill/>
                    </a:lnR>
                    <a:lnT>
                      <a:noFill/>
                    </a:lnT>
                    <a:lnB>
                      <a:noFill/>
                    </a:lnB>
                    <a:solidFill>
                      <a:srgbClr val="FA817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6.57 </a:t>
                      </a:r>
                    </a:p>
                  </a:txBody>
                  <a:tcPr marL="36000" marR="36000" marT="0" marB="0" anchor="ctr">
                    <a:lnL>
                      <a:noFill/>
                    </a:lnL>
                    <a:lnR>
                      <a:noFill/>
                    </a:lnR>
                    <a:lnT>
                      <a:noFill/>
                    </a:lnT>
                    <a:lnB>
                      <a:noFill/>
                    </a:lnB>
                    <a:solidFill>
                      <a:srgbClr val="FED4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6.94 </a:t>
                      </a:r>
                    </a:p>
                  </a:txBody>
                  <a:tcPr marL="36000" marR="36000" marT="0" marB="0" anchor="ctr">
                    <a:lnL>
                      <a:noFill/>
                    </a:lnL>
                    <a:lnR>
                      <a:noFill/>
                    </a:lnR>
                    <a:lnT>
                      <a:noFill/>
                    </a:lnT>
                    <a:lnB>
                      <a:noFill/>
                    </a:lnB>
                    <a:solidFill>
                      <a:srgbClr val="FECD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4.27 </a:t>
                      </a:r>
                    </a:p>
                  </a:txBody>
                  <a:tcPr marL="36000" marR="36000" marT="0" marB="0" anchor="ctr">
                    <a:lnL>
                      <a:noFill/>
                    </a:lnL>
                    <a:lnR>
                      <a:noFill/>
                    </a:lnR>
                    <a:lnT>
                      <a:noFill/>
                    </a:lnT>
                    <a:lnB>
                      <a:noFill/>
                    </a:lnB>
                    <a:solidFill>
                      <a:srgbClr val="C0D9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3.77 </a:t>
                      </a:r>
                    </a:p>
                  </a:txBody>
                  <a:tcPr marL="36000" marR="36000" marT="0" marB="0" anchor="ctr">
                    <a:lnL>
                      <a:noFill/>
                    </a:lnL>
                    <a:lnR>
                      <a:noFill/>
                    </a:lnR>
                    <a:lnT>
                      <a:noFill/>
                    </a:lnT>
                    <a:lnB>
                      <a:noFill/>
                    </a:lnB>
                    <a:solidFill>
                      <a:srgbClr val="A5D1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4.54 </a:t>
                      </a:r>
                    </a:p>
                  </a:txBody>
                  <a:tcPr marL="36000" marR="36000" marT="0" marB="0" anchor="ctr">
                    <a:lnL>
                      <a:noFill/>
                    </a:lnL>
                    <a:lnR>
                      <a:noFill/>
                    </a:lnR>
                    <a:lnT>
                      <a:noFill/>
                    </a:lnT>
                    <a:lnB>
                      <a:noFill/>
                    </a:lnB>
                    <a:solidFill>
                      <a:srgbClr val="CFDD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2.87 </a:t>
                      </a:r>
                    </a:p>
                  </a:txBody>
                  <a:tcPr marL="36000" marR="36000" marT="0" marB="0" anchor="ctr">
                    <a:lnL>
                      <a:noFill/>
                    </a:lnL>
                    <a:lnR>
                      <a:noFill/>
                    </a:lnR>
                    <a:lnT>
                      <a:noFill/>
                    </a:lnT>
                    <a:lnB>
                      <a:noFill/>
                    </a:lnB>
                    <a:solidFill>
                      <a:srgbClr val="74C3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3.14 </a:t>
                      </a:r>
                    </a:p>
                  </a:txBody>
                  <a:tcPr marL="36000" marR="36000" marT="0" marB="0" anchor="ctr">
                    <a:lnL>
                      <a:noFill/>
                    </a:lnL>
                    <a:lnR>
                      <a:noFill/>
                    </a:lnR>
                    <a:lnT>
                      <a:noFill/>
                    </a:lnT>
                    <a:lnB>
                      <a:noFill/>
                    </a:lnB>
                    <a:solidFill>
                      <a:srgbClr val="83C7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2.55 </a:t>
                      </a:r>
                    </a:p>
                  </a:txBody>
                  <a:tcPr marL="36000" marR="36000" marT="0" marB="0" anchor="ctr">
                    <a:lnL>
                      <a:noFill/>
                    </a:lnL>
                    <a:lnR>
                      <a:noFill/>
                    </a:lnR>
                    <a:lnT>
                      <a:noFill/>
                    </a:lnT>
                    <a:lnB>
                      <a:noFill/>
                    </a:lnB>
                    <a:solidFill>
                      <a:srgbClr val="63BE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2.63 </a:t>
                      </a:r>
                    </a:p>
                  </a:txBody>
                  <a:tcPr marL="36000" marR="36000" marT="0" marB="0" anchor="ctr">
                    <a:lnL>
                      <a:noFill/>
                    </a:lnL>
                    <a:lnR>
                      <a:noFill/>
                    </a:lnR>
                    <a:lnT>
                      <a:noFill/>
                    </a:lnT>
                    <a:lnB>
                      <a:noFill/>
                    </a:lnB>
                    <a:solidFill>
                      <a:srgbClr val="67BF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3.99 </a:t>
                      </a:r>
                    </a:p>
                  </a:txBody>
                  <a:tcPr marL="36000" marR="36000" marT="0" marB="0" anchor="ctr">
                    <a:lnL>
                      <a:noFill/>
                    </a:lnL>
                    <a:lnR>
                      <a:noFill/>
                    </a:lnR>
                    <a:lnT>
                      <a:noFill/>
                    </a:lnT>
                    <a:lnB>
                      <a:noFill/>
                    </a:lnB>
                    <a:solidFill>
                      <a:srgbClr val="B1D4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4.30 </a:t>
                      </a:r>
                    </a:p>
                  </a:txBody>
                  <a:tcPr marL="36000" marR="36000" marT="0" marB="0" anchor="ctr">
                    <a:lnL>
                      <a:noFill/>
                    </a:lnL>
                    <a:lnR>
                      <a:noFill/>
                    </a:lnR>
                    <a:lnT>
                      <a:noFill/>
                    </a:lnT>
                    <a:lnB>
                      <a:noFill/>
                    </a:lnB>
                    <a:solidFill>
                      <a:srgbClr val="C2D980"/>
                    </a:solidFill>
                  </a:tcPr>
                </a:tc>
                <a:extLst>
                  <a:ext uri="{0D108BD9-81ED-4DB2-BD59-A6C34878D82A}">
                    <a16:rowId xmlns:a16="http://schemas.microsoft.com/office/drawing/2014/main" val="360020552"/>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5</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10.43 </a:t>
                      </a:r>
                    </a:p>
                  </a:txBody>
                  <a:tcPr marL="36000" marR="36000" marT="0" marB="0" anchor="ctr">
                    <a:lnL>
                      <a:noFill/>
                    </a:lnL>
                    <a:lnR>
                      <a:noFill/>
                    </a:lnR>
                    <a:lnT>
                      <a:noFill/>
                    </a:lnT>
                    <a:lnB>
                      <a:noFill/>
                    </a:lnB>
                    <a:solidFill>
                      <a:srgbClr val="FA867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6.59 </a:t>
                      </a:r>
                    </a:p>
                  </a:txBody>
                  <a:tcPr marL="36000" marR="36000" marT="0" marB="0" anchor="ctr">
                    <a:lnL>
                      <a:noFill/>
                    </a:lnL>
                    <a:lnR>
                      <a:noFill/>
                    </a:lnR>
                    <a:lnT>
                      <a:noFill/>
                    </a:lnT>
                    <a:lnB>
                      <a:noFill/>
                    </a:lnB>
                    <a:solidFill>
                      <a:srgbClr val="FED3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7.41 </a:t>
                      </a:r>
                    </a:p>
                  </a:txBody>
                  <a:tcPr marL="36000" marR="36000" marT="0" marB="0" anchor="ctr">
                    <a:lnL>
                      <a:noFill/>
                    </a:lnL>
                    <a:lnR>
                      <a:noFill/>
                    </a:lnR>
                    <a:lnT>
                      <a:noFill/>
                    </a:lnT>
                    <a:lnB>
                      <a:noFill/>
                    </a:lnB>
                    <a:solidFill>
                      <a:srgbClr val="FDC3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4.11 </a:t>
                      </a:r>
                    </a:p>
                  </a:txBody>
                  <a:tcPr marL="36000" marR="36000" marT="0" marB="0" anchor="ctr">
                    <a:lnL>
                      <a:noFill/>
                    </a:lnL>
                    <a:lnR>
                      <a:noFill/>
                    </a:lnR>
                    <a:lnT>
                      <a:noFill/>
                    </a:lnT>
                    <a:lnB>
                      <a:noFill/>
                    </a:lnB>
                    <a:solidFill>
                      <a:srgbClr val="B8D6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4.00 </a:t>
                      </a:r>
                    </a:p>
                  </a:txBody>
                  <a:tcPr marL="36000" marR="36000" marT="0" marB="0" anchor="ctr">
                    <a:lnL>
                      <a:noFill/>
                    </a:lnL>
                    <a:lnR>
                      <a:noFill/>
                    </a:lnR>
                    <a:lnT>
                      <a:noFill/>
                    </a:lnT>
                    <a:lnB>
                      <a:noFill/>
                    </a:lnB>
                    <a:solidFill>
                      <a:srgbClr val="B2D4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4.63 </a:t>
                      </a:r>
                    </a:p>
                  </a:txBody>
                  <a:tcPr marL="36000" marR="36000" marT="0" marB="0" anchor="ctr">
                    <a:lnL>
                      <a:noFill/>
                    </a:lnL>
                    <a:lnR>
                      <a:noFill/>
                    </a:lnR>
                    <a:lnT>
                      <a:noFill/>
                    </a:lnT>
                    <a:lnB>
                      <a:noFill/>
                    </a:lnB>
                    <a:solidFill>
                      <a:srgbClr val="D4DE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3.01 </a:t>
                      </a:r>
                    </a:p>
                  </a:txBody>
                  <a:tcPr marL="36000" marR="36000" marT="0" marB="0" anchor="ctr">
                    <a:lnL>
                      <a:noFill/>
                    </a:lnL>
                    <a:lnR>
                      <a:noFill/>
                    </a:lnR>
                    <a:lnT>
                      <a:noFill/>
                    </a:lnT>
                    <a:lnB>
                      <a:noFill/>
                    </a:lnB>
                    <a:solidFill>
                      <a:srgbClr val="7CC5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3.31 </a:t>
                      </a:r>
                    </a:p>
                  </a:txBody>
                  <a:tcPr marL="36000" marR="36000" marT="0" marB="0" anchor="ctr">
                    <a:lnL>
                      <a:noFill/>
                    </a:lnL>
                    <a:lnR>
                      <a:noFill/>
                    </a:lnR>
                    <a:lnT>
                      <a:noFill/>
                    </a:lnT>
                    <a:lnB>
                      <a:noFill/>
                    </a:lnB>
                    <a:solidFill>
                      <a:srgbClr val="8CCA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2.79 </a:t>
                      </a:r>
                    </a:p>
                  </a:txBody>
                  <a:tcPr marL="36000" marR="36000" marT="0" marB="0" anchor="ctr">
                    <a:lnL>
                      <a:noFill/>
                    </a:lnL>
                    <a:lnR>
                      <a:noFill/>
                    </a:lnR>
                    <a:lnT>
                      <a:noFill/>
                    </a:lnT>
                    <a:lnB>
                      <a:noFill/>
                    </a:lnB>
                    <a:solidFill>
                      <a:srgbClr val="70C1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2.78 </a:t>
                      </a:r>
                    </a:p>
                  </a:txBody>
                  <a:tcPr marL="36000" marR="36000" marT="0" marB="0" anchor="ctr">
                    <a:lnL>
                      <a:noFill/>
                    </a:lnL>
                    <a:lnR>
                      <a:noFill/>
                    </a:lnR>
                    <a:lnT>
                      <a:noFill/>
                    </a:lnT>
                    <a:lnB>
                      <a:noFill/>
                    </a:lnB>
                    <a:solidFill>
                      <a:srgbClr val="6FC1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4.66 </a:t>
                      </a:r>
                    </a:p>
                  </a:txBody>
                  <a:tcPr marL="36000" marR="36000" marT="0" marB="0" anchor="ctr">
                    <a:lnL>
                      <a:noFill/>
                    </a:lnL>
                    <a:lnR>
                      <a:noFill/>
                    </a:lnR>
                    <a:lnT>
                      <a:noFill/>
                    </a:lnT>
                    <a:lnB>
                      <a:noFill/>
                    </a:lnB>
                    <a:solidFill>
                      <a:srgbClr val="D6DF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4.90 </a:t>
                      </a:r>
                    </a:p>
                  </a:txBody>
                  <a:tcPr marL="36000" marR="36000" marT="0" marB="0" anchor="ctr">
                    <a:lnL>
                      <a:noFill/>
                    </a:lnL>
                    <a:lnR>
                      <a:noFill/>
                    </a:lnR>
                    <a:lnT>
                      <a:noFill/>
                    </a:lnT>
                    <a:lnB>
                      <a:noFill/>
                    </a:lnB>
                    <a:solidFill>
                      <a:srgbClr val="E3E382"/>
                    </a:solidFill>
                  </a:tcPr>
                </a:tc>
                <a:extLst>
                  <a:ext uri="{0D108BD9-81ED-4DB2-BD59-A6C34878D82A}">
                    <a16:rowId xmlns:a16="http://schemas.microsoft.com/office/drawing/2014/main" val="730741352"/>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6</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10.92 </a:t>
                      </a:r>
                    </a:p>
                  </a:txBody>
                  <a:tcPr marL="36000" marR="36000" marT="0" marB="0" anchor="ctr">
                    <a:lnL>
                      <a:noFill/>
                    </a:lnL>
                    <a:lnR>
                      <a:noFill/>
                    </a:lnR>
                    <a:lnT>
                      <a:noFill/>
                    </a:lnT>
                    <a:lnB>
                      <a:noFill/>
                    </a:lnB>
                    <a:solidFill>
                      <a:srgbClr val="FA7C6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6.72 </a:t>
                      </a:r>
                    </a:p>
                  </a:txBody>
                  <a:tcPr marL="36000" marR="36000" marT="0" marB="0" anchor="ctr">
                    <a:lnL>
                      <a:noFill/>
                    </a:lnL>
                    <a:lnR>
                      <a:noFill/>
                    </a:lnR>
                    <a:lnT>
                      <a:noFill/>
                    </a:lnT>
                    <a:lnB>
                      <a:noFill/>
                    </a:lnB>
                    <a:solidFill>
                      <a:srgbClr val="FED1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6.80 </a:t>
                      </a:r>
                    </a:p>
                  </a:txBody>
                  <a:tcPr marL="36000" marR="36000" marT="0" marB="0" anchor="ctr">
                    <a:lnL>
                      <a:noFill/>
                    </a:lnL>
                    <a:lnR>
                      <a:noFill/>
                    </a:lnR>
                    <a:lnT>
                      <a:noFill/>
                    </a:lnT>
                    <a:lnB>
                      <a:noFill/>
                    </a:lnB>
                    <a:solidFill>
                      <a:srgbClr val="FECF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4.94 </a:t>
                      </a:r>
                    </a:p>
                  </a:txBody>
                  <a:tcPr marL="36000" marR="36000" marT="0" marB="0" anchor="ctr">
                    <a:lnL>
                      <a:noFill/>
                    </a:lnL>
                    <a:lnR>
                      <a:noFill/>
                    </a:lnR>
                    <a:lnT>
                      <a:noFill/>
                    </a:lnT>
                    <a:lnB>
                      <a:noFill/>
                    </a:lnB>
                    <a:solidFill>
                      <a:srgbClr val="E5E3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5.80 </a:t>
                      </a:r>
                    </a:p>
                  </a:txBody>
                  <a:tcPr marL="36000" marR="36000" marT="0" marB="0" anchor="ctr">
                    <a:lnL>
                      <a:noFill/>
                    </a:lnL>
                    <a:lnR>
                      <a:noFill/>
                    </a:lnR>
                    <a:lnT>
                      <a:noFill/>
                    </a:lnT>
                    <a:lnB>
                      <a:noFill/>
                    </a:lnB>
                    <a:solidFill>
                      <a:srgbClr val="FFE4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5.76 </a:t>
                      </a:r>
                    </a:p>
                  </a:txBody>
                  <a:tcPr marL="36000" marR="36000" marT="0" marB="0" anchor="ctr">
                    <a:lnL>
                      <a:noFill/>
                    </a:lnL>
                    <a:lnR>
                      <a:noFill/>
                    </a:lnR>
                    <a:lnT>
                      <a:noFill/>
                    </a:lnT>
                    <a:lnB>
                      <a:noFill/>
                    </a:lnB>
                    <a:solidFill>
                      <a:srgbClr val="FFE4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3.53 </a:t>
                      </a:r>
                    </a:p>
                  </a:txBody>
                  <a:tcPr marL="36000" marR="36000" marT="0" marB="0" anchor="ctr">
                    <a:lnL>
                      <a:noFill/>
                    </a:lnL>
                    <a:lnR>
                      <a:noFill/>
                    </a:lnR>
                    <a:lnT>
                      <a:noFill/>
                    </a:lnT>
                    <a:lnB>
                      <a:noFill/>
                    </a:lnB>
                    <a:solidFill>
                      <a:srgbClr val="98CD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4.05 </a:t>
                      </a:r>
                    </a:p>
                  </a:txBody>
                  <a:tcPr marL="36000" marR="36000" marT="0" marB="0" anchor="ctr">
                    <a:lnL>
                      <a:noFill/>
                    </a:lnL>
                    <a:lnR>
                      <a:noFill/>
                    </a:lnR>
                    <a:lnT>
                      <a:noFill/>
                    </a:lnT>
                    <a:lnB>
                      <a:noFill/>
                    </a:lnB>
                    <a:solidFill>
                      <a:srgbClr val="B5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3.64 </a:t>
                      </a:r>
                    </a:p>
                  </a:txBody>
                  <a:tcPr marL="36000" marR="36000" marT="0" marB="0" anchor="ctr">
                    <a:lnL>
                      <a:noFill/>
                    </a:lnL>
                    <a:lnR>
                      <a:noFill/>
                    </a:lnR>
                    <a:lnT>
                      <a:noFill/>
                    </a:lnT>
                    <a:lnB>
                      <a:noFill/>
                    </a:lnB>
                    <a:solidFill>
                      <a:srgbClr val="9ECF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3.72 </a:t>
                      </a:r>
                    </a:p>
                  </a:txBody>
                  <a:tcPr marL="36000" marR="36000" marT="0" marB="0" anchor="ctr">
                    <a:lnL>
                      <a:noFill/>
                    </a:lnL>
                    <a:lnR>
                      <a:noFill/>
                    </a:lnR>
                    <a:lnT>
                      <a:noFill/>
                    </a:lnT>
                    <a:lnB>
                      <a:noFill/>
                    </a:lnB>
                    <a:solidFill>
                      <a:srgbClr val="A3D0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6.65 </a:t>
                      </a:r>
                    </a:p>
                  </a:txBody>
                  <a:tcPr marL="36000" marR="36000" marT="0" marB="0" anchor="ctr">
                    <a:lnL>
                      <a:noFill/>
                    </a:lnL>
                    <a:lnR>
                      <a:noFill/>
                    </a:lnR>
                    <a:lnT>
                      <a:noFill/>
                    </a:lnT>
                    <a:lnB>
                      <a:noFill/>
                    </a:lnB>
                    <a:solidFill>
                      <a:srgbClr val="FED2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5.88 </a:t>
                      </a:r>
                    </a:p>
                  </a:txBody>
                  <a:tcPr marL="36000" marR="36000" marT="0" marB="0" anchor="ctr">
                    <a:lnL>
                      <a:noFill/>
                    </a:lnL>
                    <a:lnR>
                      <a:noFill/>
                    </a:lnR>
                    <a:lnT>
                      <a:noFill/>
                    </a:lnT>
                    <a:lnB>
                      <a:noFill/>
                    </a:lnB>
                    <a:solidFill>
                      <a:srgbClr val="FFE283"/>
                    </a:solidFill>
                  </a:tcPr>
                </a:tc>
                <a:extLst>
                  <a:ext uri="{0D108BD9-81ED-4DB2-BD59-A6C34878D82A}">
                    <a16:rowId xmlns:a16="http://schemas.microsoft.com/office/drawing/2014/main" val="3082061033"/>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7</a:t>
                      </a:r>
                    </a:p>
                  </a:txBody>
                  <a:tcPr marL="36000" marR="36000" marT="0" marB="0" anchor="ctr">
                    <a:lnL>
                      <a:noFill/>
                    </a:lnL>
                    <a:lnR>
                      <a:noFill/>
                    </a:lnR>
                    <a:lnT>
                      <a:noFill/>
                    </a:lnT>
                    <a:lnB>
                      <a:noFill/>
                    </a:lnB>
                    <a:solidFill>
                      <a:srgbClr val="01216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11.07 </a:t>
                      </a:r>
                    </a:p>
                  </a:txBody>
                  <a:tcPr marL="36000" marR="36000" marT="0" marB="0" anchor="ctr">
                    <a:lnL>
                      <a:noFill/>
                    </a:lnL>
                    <a:lnR>
                      <a:noFill/>
                    </a:lnR>
                    <a:lnT>
                      <a:noFill/>
                    </a:lnT>
                    <a:lnB>
                      <a:noFill/>
                    </a:lnB>
                    <a:solidFill>
                      <a:srgbClr val="F9796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6.46 </a:t>
                      </a:r>
                    </a:p>
                  </a:txBody>
                  <a:tcPr marL="36000" marR="36000" marT="0" marB="0" anchor="ctr">
                    <a:lnL>
                      <a:noFill/>
                    </a:lnL>
                    <a:lnR>
                      <a:noFill/>
                    </a:lnR>
                    <a:lnT>
                      <a:noFill/>
                    </a:lnT>
                    <a:lnB>
                      <a:noFill/>
                    </a:lnB>
                    <a:solidFill>
                      <a:srgbClr val="FED6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6.05 </a:t>
                      </a:r>
                    </a:p>
                  </a:txBody>
                  <a:tcPr marL="36000" marR="36000" marT="0" marB="0" anchor="ctr">
                    <a:lnL>
                      <a:noFill/>
                    </a:lnL>
                    <a:lnR>
                      <a:noFill/>
                    </a:lnR>
                    <a:lnT>
                      <a:noFill/>
                    </a:lnT>
                    <a:lnB>
                      <a:noFill/>
                    </a:lnB>
                    <a:solidFill>
                      <a:srgbClr val="FFDE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5.69 </a:t>
                      </a:r>
                    </a:p>
                  </a:txBody>
                  <a:tcPr marL="36000" marR="36000" marT="0" marB="0" anchor="ctr">
                    <a:lnL>
                      <a:noFill/>
                    </a:lnL>
                    <a:lnR>
                      <a:noFill/>
                    </a:lnR>
                    <a:lnT>
                      <a:noFill/>
                    </a:lnT>
                    <a:lnB>
                      <a:noFill/>
                    </a:lnB>
                    <a:solidFill>
                      <a:srgbClr val="FFE6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6.44 </a:t>
                      </a:r>
                    </a:p>
                  </a:txBody>
                  <a:tcPr marL="36000" marR="36000" marT="0" marB="0" anchor="ctr">
                    <a:lnL>
                      <a:noFill/>
                    </a:lnL>
                    <a:lnR>
                      <a:noFill/>
                    </a:lnR>
                    <a:lnT>
                      <a:noFill/>
                    </a:lnT>
                    <a:lnB>
                      <a:noFill/>
                    </a:lnB>
                    <a:solidFill>
                      <a:srgbClr val="FED7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7.04 </a:t>
                      </a:r>
                    </a:p>
                  </a:txBody>
                  <a:tcPr marL="36000" marR="36000" marT="0" marB="0" anchor="ctr">
                    <a:lnL>
                      <a:noFill/>
                    </a:lnL>
                    <a:lnR>
                      <a:noFill/>
                    </a:lnR>
                    <a:lnT>
                      <a:noFill/>
                    </a:lnT>
                    <a:lnB>
                      <a:noFill/>
                    </a:lnB>
                    <a:solidFill>
                      <a:srgbClr val="FECA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4.14 </a:t>
                      </a:r>
                    </a:p>
                  </a:txBody>
                  <a:tcPr marL="36000" marR="36000" marT="0" marB="0" anchor="ctr">
                    <a:lnL>
                      <a:noFill/>
                    </a:lnL>
                    <a:lnR>
                      <a:noFill/>
                    </a:lnR>
                    <a:lnT>
                      <a:noFill/>
                    </a:lnT>
                    <a:lnB>
                      <a:noFill/>
                    </a:lnB>
                    <a:solidFill>
                      <a:srgbClr val="BAD7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4.83 </a:t>
                      </a:r>
                    </a:p>
                  </a:txBody>
                  <a:tcPr marL="36000" marR="36000" marT="0" marB="0" anchor="ctr">
                    <a:lnL>
                      <a:noFill/>
                    </a:lnL>
                    <a:lnR>
                      <a:noFill/>
                    </a:lnR>
                    <a:lnT>
                      <a:noFill/>
                    </a:lnT>
                    <a:lnB>
                      <a:noFill/>
                    </a:lnB>
                    <a:solidFill>
                      <a:srgbClr val="DFE1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5.62 </a:t>
                      </a:r>
                    </a:p>
                  </a:txBody>
                  <a:tcPr marL="36000" marR="36000" marT="0" marB="0" anchor="ctr">
                    <a:lnL>
                      <a:noFill/>
                    </a:lnL>
                    <a:lnR>
                      <a:noFill/>
                    </a:lnR>
                    <a:lnT>
                      <a:noFill/>
                    </a:lnT>
                    <a:lnB>
                      <a:noFill/>
                    </a:lnB>
                    <a:solidFill>
                      <a:srgbClr val="FFE7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6.38 </a:t>
                      </a:r>
                    </a:p>
                  </a:txBody>
                  <a:tcPr marL="36000" marR="36000" marT="0" marB="0" anchor="ctr">
                    <a:lnL>
                      <a:noFill/>
                    </a:lnL>
                    <a:lnR>
                      <a:noFill/>
                    </a:lnR>
                    <a:lnT>
                      <a:noFill/>
                    </a:lnT>
                    <a:lnB>
                      <a:noFill/>
                    </a:lnB>
                    <a:solidFill>
                      <a:srgbClr val="FED8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9.33 </a:t>
                      </a:r>
                    </a:p>
                  </a:txBody>
                  <a:tcPr marL="36000" marR="36000" marT="0" marB="0" anchor="ctr">
                    <a:lnL>
                      <a:noFill/>
                    </a:lnL>
                    <a:lnR>
                      <a:noFill/>
                    </a:lnR>
                    <a:lnT>
                      <a:noFill/>
                    </a:lnT>
                    <a:lnB>
                      <a:noFill/>
                    </a:lnB>
                    <a:solidFill>
                      <a:srgbClr val="FB9C7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6.85 </a:t>
                      </a:r>
                    </a:p>
                  </a:txBody>
                  <a:tcPr marL="36000" marR="36000" marT="0" marB="0" anchor="ctr">
                    <a:lnL>
                      <a:noFill/>
                    </a:lnL>
                    <a:lnR>
                      <a:noFill/>
                    </a:lnR>
                    <a:lnT>
                      <a:noFill/>
                    </a:lnT>
                    <a:lnB>
                      <a:noFill/>
                    </a:lnB>
                    <a:solidFill>
                      <a:srgbClr val="FECE7F"/>
                    </a:solidFill>
                  </a:tcPr>
                </a:tc>
                <a:extLst>
                  <a:ext uri="{0D108BD9-81ED-4DB2-BD59-A6C34878D82A}">
                    <a16:rowId xmlns:a16="http://schemas.microsoft.com/office/drawing/2014/main" val="835859205"/>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8</a:t>
                      </a:r>
                    </a:p>
                  </a:txBody>
                  <a:tcPr marL="36000" marR="36000" marT="0" marB="0" anchor="ctr">
                    <a:lnL>
                      <a:noFill/>
                    </a:lnL>
                    <a:lnR>
                      <a:noFill/>
                    </a:lnR>
                    <a:lnT>
                      <a:noFill/>
                    </a:lnT>
                    <a:lnB>
                      <a:noFill/>
                    </a:lnB>
                    <a:solidFill>
                      <a:srgbClr val="01216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9.62 </a:t>
                      </a:r>
                    </a:p>
                  </a:txBody>
                  <a:tcPr marL="36000" marR="36000" marT="0" marB="0" anchor="ctr">
                    <a:lnL>
                      <a:noFill/>
                    </a:lnL>
                    <a:lnR>
                      <a:noFill/>
                    </a:lnR>
                    <a:lnT>
                      <a:noFill/>
                    </a:lnT>
                    <a:lnB>
                      <a:noFill/>
                    </a:lnB>
                    <a:solidFill>
                      <a:srgbClr val="FB967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5.41 </a:t>
                      </a:r>
                    </a:p>
                  </a:txBody>
                  <a:tcPr marL="36000" marR="36000" marT="0" marB="0" anchor="ctr">
                    <a:lnL>
                      <a:noFill/>
                    </a:lnL>
                    <a:lnR>
                      <a:noFill/>
                    </a:lnR>
                    <a:lnT>
                      <a:noFill/>
                    </a:lnT>
                    <a:lnB>
                      <a:noFill/>
                    </a:lnB>
                    <a:solidFill>
                      <a:srgbClr val="FFEB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4.32 </a:t>
                      </a:r>
                    </a:p>
                  </a:txBody>
                  <a:tcPr marL="36000" marR="36000" marT="0" marB="0" anchor="ctr">
                    <a:lnL>
                      <a:noFill/>
                    </a:lnL>
                    <a:lnR>
                      <a:noFill/>
                    </a:lnR>
                    <a:lnT>
                      <a:noFill/>
                    </a:lnT>
                    <a:lnB>
                      <a:noFill/>
                    </a:lnB>
                    <a:solidFill>
                      <a:srgbClr val="C3D9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5.40 </a:t>
                      </a:r>
                    </a:p>
                  </a:txBody>
                  <a:tcPr marL="36000" marR="36000" marT="0" marB="0" anchor="ctr">
                    <a:lnL>
                      <a:noFill/>
                    </a:lnL>
                    <a:lnR>
                      <a:noFill/>
                    </a:lnR>
                    <a:lnT>
                      <a:noFill/>
                    </a:lnT>
                    <a:lnB>
                      <a:noFill/>
                    </a:lnB>
                    <a:solidFill>
                      <a:srgbClr val="FEEA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5.51 </a:t>
                      </a:r>
                    </a:p>
                  </a:txBody>
                  <a:tcPr marL="36000" marR="36000" marT="0" marB="0" anchor="ctr">
                    <a:lnL>
                      <a:noFill/>
                    </a:lnL>
                    <a:lnR>
                      <a:noFill/>
                    </a:lnR>
                    <a:lnT>
                      <a:noFill/>
                    </a:lnT>
                    <a:lnB>
                      <a:noFill/>
                    </a:lnB>
                    <a:solidFill>
                      <a:srgbClr val="FFE9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5.42 </a:t>
                      </a:r>
                    </a:p>
                  </a:txBody>
                  <a:tcPr marL="36000" marR="36000" marT="0" marB="0" anchor="ctr">
                    <a:lnL>
                      <a:noFill/>
                    </a:lnL>
                    <a:lnR>
                      <a:noFill/>
                    </a:lnR>
                    <a:lnT>
                      <a:noFill/>
                    </a:lnT>
                    <a:lnB>
                      <a:noFill/>
                    </a:lnB>
                    <a:solidFill>
                      <a:srgbClr val="FFEB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4.02 </a:t>
                      </a:r>
                    </a:p>
                  </a:txBody>
                  <a:tcPr marL="36000" marR="36000" marT="0" marB="0" anchor="ctr">
                    <a:lnL>
                      <a:noFill/>
                    </a:lnL>
                    <a:lnR>
                      <a:noFill/>
                    </a:lnR>
                    <a:lnT>
                      <a:noFill/>
                    </a:lnT>
                    <a:lnB>
                      <a:noFill/>
                    </a:lnB>
                    <a:solidFill>
                      <a:srgbClr val="B3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5.61 </a:t>
                      </a:r>
                    </a:p>
                  </a:txBody>
                  <a:tcPr marL="36000" marR="36000" marT="0" marB="0" anchor="ctr">
                    <a:lnL>
                      <a:noFill/>
                    </a:lnL>
                    <a:lnR>
                      <a:noFill/>
                    </a:lnR>
                    <a:lnT>
                      <a:noFill/>
                    </a:lnT>
                    <a:lnB>
                      <a:noFill/>
                    </a:lnB>
                    <a:solidFill>
                      <a:srgbClr val="FFE7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8.63 </a:t>
                      </a:r>
                    </a:p>
                  </a:txBody>
                  <a:tcPr marL="36000" marR="36000" marT="0" marB="0" anchor="ctr">
                    <a:lnL>
                      <a:noFill/>
                    </a:lnL>
                    <a:lnR>
                      <a:noFill/>
                    </a:lnR>
                    <a:lnT>
                      <a:noFill/>
                    </a:lnT>
                    <a:lnB>
                      <a:noFill/>
                    </a:lnB>
                    <a:solidFill>
                      <a:srgbClr val="FCAA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9.19 </a:t>
                      </a:r>
                    </a:p>
                  </a:txBody>
                  <a:tcPr marL="36000" marR="36000" marT="0" marB="0" anchor="ctr">
                    <a:lnL>
                      <a:noFill/>
                    </a:lnL>
                    <a:lnR>
                      <a:noFill/>
                    </a:lnR>
                    <a:lnT>
                      <a:noFill/>
                    </a:lnT>
                    <a:lnB>
                      <a:noFill/>
                    </a:lnB>
                    <a:solidFill>
                      <a:srgbClr val="FB9F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10.02 </a:t>
                      </a:r>
                    </a:p>
                  </a:txBody>
                  <a:tcPr marL="36000" marR="36000" marT="0" marB="0" anchor="ctr">
                    <a:lnL>
                      <a:noFill/>
                    </a:lnL>
                    <a:lnR>
                      <a:noFill/>
                    </a:lnR>
                    <a:lnT>
                      <a:noFill/>
                    </a:lnT>
                    <a:lnB>
                      <a:noFill/>
                    </a:lnB>
                    <a:solidFill>
                      <a:srgbClr val="FA8E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6.94 </a:t>
                      </a:r>
                    </a:p>
                  </a:txBody>
                  <a:tcPr marL="36000" marR="36000" marT="0" marB="0" anchor="ctr">
                    <a:lnL>
                      <a:noFill/>
                    </a:lnL>
                    <a:lnR>
                      <a:noFill/>
                    </a:lnR>
                    <a:lnT>
                      <a:noFill/>
                    </a:lnT>
                    <a:lnB>
                      <a:noFill/>
                    </a:lnB>
                    <a:solidFill>
                      <a:srgbClr val="FECC7F"/>
                    </a:solidFill>
                  </a:tcPr>
                </a:tc>
                <a:extLst>
                  <a:ext uri="{0D108BD9-81ED-4DB2-BD59-A6C34878D82A}">
                    <a16:rowId xmlns:a16="http://schemas.microsoft.com/office/drawing/2014/main" val="4181780943"/>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9</a:t>
                      </a:r>
                    </a:p>
                  </a:txBody>
                  <a:tcPr marL="36000" marR="36000" marT="0" marB="0" anchor="ctr">
                    <a:lnL>
                      <a:noFill/>
                    </a:lnL>
                    <a:lnR>
                      <a:noFill/>
                    </a:lnR>
                    <a:lnT>
                      <a:noFill/>
                    </a:lnT>
                    <a:lnB>
                      <a:noFill/>
                    </a:lnB>
                    <a:solidFill>
                      <a:srgbClr val="01216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7.99 </a:t>
                      </a:r>
                    </a:p>
                  </a:txBody>
                  <a:tcPr marL="36000" marR="36000" marT="0" marB="0" anchor="ctr">
                    <a:lnL>
                      <a:noFill/>
                    </a:lnL>
                    <a:lnR>
                      <a:noFill/>
                    </a:lnR>
                    <a:lnT>
                      <a:noFill/>
                    </a:lnT>
                    <a:lnB>
                      <a:noFill/>
                    </a:lnB>
                    <a:solidFill>
                      <a:srgbClr val="FDB77A"/>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4.58 </a:t>
                      </a:r>
                    </a:p>
                  </a:txBody>
                  <a:tcPr marL="36000" marR="36000" marT="0" marB="0" anchor="ctr">
                    <a:lnL>
                      <a:noFill/>
                    </a:lnL>
                    <a:lnR>
                      <a:noFill/>
                    </a:lnR>
                    <a:lnT>
                      <a:noFill/>
                    </a:lnT>
                    <a:lnB>
                      <a:noFill/>
                    </a:lnB>
                    <a:solidFill>
                      <a:srgbClr val="D1DE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3.27 </a:t>
                      </a:r>
                    </a:p>
                  </a:txBody>
                  <a:tcPr marL="36000" marR="36000" marT="0" marB="0" anchor="ctr">
                    <a:lnL>
                      <a:noFill/>
                    </a:lnL>
                    <a:lnR>
                      <a:noFill/>
                    </a:lnR>
                    <a:lnT>
                      <a:noFill/>
                    </a:lnT>
                    <a:lnB>
                      <a:noFill/>
                    </a:lnB>
                    <a:solidFill>
                      <a:srgbClr val="8AC9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3.89 </a:t>
                      </a:r>
                    </a:p>
                  </a:txBody>
                  <a:tcPr marL="36000" marR="36000" marT="0" marB="0" anchor="ctr">
                    <a:lnL>
                      <a:noFill/>
                    </a:lnL>
                    <a:lnR>
                      <a:noFill/>
                    </a:lnR>
                    <a:lnT>
                      <a:noFill/>
                    </a:lnT>
                    <a:lnB>
                      <a:noFill/>
                    </a:lnB>
                    <a:solidFill>
                      <a:srgbClr val="ACD3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4.11 </a:t>
                      </a:r>
                    </a:p>
                  </a:txBody>
                  <a:tcPr marL="36000" marR="36000" marT="0" marB="0" anchor="ctr">
                    <a:lnL>
                      <a:noFill/>
                    </a:lnL>
                    <a:lnR>
                      <a:noFill/>
                    </a:lnR>
                    <a:lnT>
                      <a:noFill/>
                    </a:lnT>
                    <a:lnB>
                      <a:noFill/>
                    </a:lnB>
                    <a:solidFill>
                      <a:srgbClr val="B8D6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3.97 </a:t>
                      </a:r>
                    </a:p>
                  </a:txBody>
                  <a:tcPr marL="36000" marR="36000" marT="0" marB="0" anchor="ctr">
                    <a:lnL>
                      <a:noFill/>
                    </a:lnL>
                    <a:lnR>
                      <a:noFill/>
                    </a:lnR>
                    <a:lnT>
                      <a:noFill/>
                    </a:lnT>
                    <a:lnB>
                      <a:noFill/>
                    </a:lnB>
                    <a:solidFill>
                      <a:srgbClr val="B0D4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3.39 </a:t>
                      </a:r>
                    </a:p>
                  </a:txBody>
                  <a:tcPr marL="36000" marR="36000" marT="0" marB="0" anchor="ctr">
                    <a:lnL>
                      <a:noFill/>
                    </a:lnL>
                    <a:lnR>
                      <a:noFill/>
                    </a:lnR>
                    <a:lnT>
                      <a:noFill/>
                    </a:lnT>
                    <a:lnB>
                      <a:noFill/>
                    </a:lnB>
                    <a:solidFill>
                      <a:srgbClr val="91CB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5.21 </a:t>
                      </a:r>
                    </a:p>
                  </a:txBody>
                  <a:tcPr marL="36000" marR="36000" marT="0" marB="0" anchor="ctr">
                    <a:lnL>
                      <a:noFill/>
                    </a:lnL>
                    <a:lnR>
                      <a:noFill/>
                    </a:lnR>
                    <a:lnT>
                      <a:noFill/>
                    </a:lnT>
                    <a:lnB>
                      <a:noFill/>
                    </a:lnB>
                    <a:solidFill>
                      <a:srgbClr val="F4E7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8.13 </a:t>
                      </a:r>
                    </a:p>
                  </a:txBody>
                  <a:tcPr marL="36000" marR="36000" marT="0" marB="0" anchor="ctr">
                    <a:lnL>
                      <a:noFill/>
                    </a:lnL>
                    <a:lnR>
                      <a:noFill/>
                    </a:lnR>
                    <a:lnT>
                      <a:noFill/>
                    </a:lnT>
                    <a:lnB>
                      <a:noFill/>
                    </a:lnB>
                    <a:solidFill>
                      <a:srgbClr val="FDB47A"/>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9.60 </a:t>
                      </a:r>
                    </a:p>
                  </a:txBody>
                  <a:tcPr marL="36000" marR="36000" marT="0" marB="0" anchor="ctr">
                    <a:lnL>
                      <a:noFill/>
                    </a:lnL>
                    <a:lnR>
                      <a:noFill/>
                    </a:lnR>
                    <a:lnT>
                      <a:noFill/>
                    </a:lnT>
                    <a:lnB>
                      <a:noFill/>
                    </a:lnB>
                    <a:solidFill>
                      <a:srgbClr val="FB977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9.39 </a:t>
                      </a:r>
                    </a:p>
                  </a:txBody>
                  <a:tcPr marL="36000" marR="36000" marT="0" marB="0" anchor="ctr">
                    <a:lnL>
                      <a:noFill/>
                    </a:lnL>
                    <a:lnR>
                      <a:noFill/>
                    </a:lnR>
                    <a:lnT>
                      <a:noFill/>
                    </a:lnT>
                    <a:lnB>
                      <a:noFill/>
                    </a:lnB>
                    <a:solidFill>
                      <a:srgbClr val="FB9B7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5.41 </a:t>
                      </a:r>
                    </a:p>
                  </a:txBody>
                  <a:tcPr marL="36000" marR="36000" marT="0" marB="0" anchor="ctr">
                    <a:lnL>
                      <a:noFill/>
                    </a:lnL>
                    <a:lnR>
                      <a:noFill/>
                    </a:lnR>
                    <a:lnT>
                      <a:noFill/>
                    </a:lnT>
                    <a:lnB>
                      <a:noFill/>
                    </a:lnB>
                    <a:solidFill>
                      <a:srgbClr val="FFEB84"/>
                    </a:solidFill>
                  </a:tcPr>
                </a:tc>
                <a:extLst>
                  <a:ext uri="{0D108BD9-81ED-4DB2-BD59-A6C34878D82A}">
                    <a16:rowId xmlns:a16="http://schemas.microsoft.com/office/drawing/2014/main" val="3879466639"/>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10</a:t>
                      </a:r>
                    </a:p>
                  </a:txBody>
                  <a:tcPr marL="36000" marR="36000" marT="0" marB="0" anchor="ctr">
                    <a:lnL>
                      <a:noFill/>
                    </a:lnL>
                    <a:lnR>
                      <a:noFill/>
                    </a:lnR>
                    <a:lnT>
                      <a:noFill/>
                    </a:lnT>
                    <a:lnB>
                      <a:noFill/>
                    </a:lnB>
                    <a:solidFill>
                      <a:srgbClr val="01216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7.73 </a:t>
                      </a:r>
                    </a:p>
                  </a:txBody>
                  <a:tcPr marL="36000" marR="36000" marT="0" marB="0" anchor="ctr">
                    <a:lnL>
                      <a:noFill/>
                    </a:lnL>
                    <a:lnR>
                      <a:noFill/>
                    </a:lnR>
                    <a:lnT>
                      <a:noFill/>
                    </a:lnT>
                    <a:lnB>
                      <a:noFill/>
                    </a:lnB>
                    <a:solidFill>
                      <a:srgbClr val="FDBD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4.69 </a:t>
                      </a:r>
                    </a:p>
                  </a:txBody>
                  <a:tcPr marL="36000" marR="36000" marT="0" marB="0" anchor="ctr">
                    <a:lnL>
                      <a:noFill/>
                    </a:lnL>
                    <a:lnR>
                      <a:noFill/>
                    </a:lnR>
                    <a:lnT>
                      <a:noFill/>
                    </a:lnT>
                    <a:lnB>
                      <a:noFill/>
                    </a:lnB>
                    <a:solidFill>
                      <a:srgbClr val="D7DF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2.98 </a:t>
                      </a:r>
                    </a:p>
                  </a:txBody>
                  <a:tcPr marL="36000" marR="36000" marT="0" marB="0" anchor="ctr">
                    <a:lnL>
                      <a:noFill/>
                    </a:lnL>
                    <a:lnR>
                      <a:noFill/>
                    </a:lnR>
                    <a:lnT>
                      <a:noFill/>
                    </a:lnT>
                    <a:lnB>
                      <a:noFill/>
                    </a:lnB>
                    <a:solidFill>
                      <a:srgbClr val="7AC4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3.42 </a:t>
                      </a:r>
                    </a:p>
                  </a:txBody>
                  <a:tcPr marL="36000" marR="36000" marT="0" marB="0" anchor="ctr">
                    <a:lnL>
                      <a:noFill/>
                    </a:lnL>
                    <a:lnR>
                      <a:noFill/>
                    </a:lnR>
                    <a:lnT>
                      <a:noFill/>
                    </a:lnT>
                    <a:lnB>
                      <a:noFill/>
                    </a:lnB>
                    <a:solidFill>
                      <a:srgbClr val="92CB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3.69 </a:t>
                      </a:r>
                    </a:p>
                  </a:txBody>
                  <a:tcPr marL="36000" marR="36000" marT="0" marB="0" anchor="ctr">
                    <a:lnL>
                      <a:noFill/>
                    </a:lnL>
                    <a:lnR>
                      <a:noFill/>
                    </a:lnR>
                    <a:lnT>
                      <a:noFill/>
                    </a:lnT>
                    <a:lnB>
                      <a:noFill/>
                    </a:lnB>
                    <a:solidFill>
                      <a:srgbClr val="A1D0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3.51 </a:t>
                      </a:r>
                    </a:p>
                  </a:txBody>
                  <a:tcPr marL="36000" marR="36000" marT="0" marB="0" anchor="ctr">
                    <a:lnL>
                      <a:noFill/>
                    </a:lnL>
                    <a:lnR>
                      <a:noFill/>
                    </a:lnR>
                    <a:lnT>
                      <a:noFill/>
                    </a:lnT>
                    <a:lnB>
                      <a:noFill/>
                    </a:lnB>
                    <a:solidFill>
                      <a:srgbClr val="97CD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3.10 </a:t>
                      </a:r>
                    </a:p>
                  </a:txBody>
                  <a:tcPr marL="36000" marR="36000" marT="0" marB="0" anchor="ctr">
                    <a:lnL>
                      <a:noFill/>
                    </a:lnL>
                    <a:lnR>
                      <a:noFill/>
                    </a:lnR>
                    <a:lnT>
                      <a:noFill/>
                    </a:lnT>
                    <a:lnB>
                      <a:noFill/>
                    </a:lnB>
                    <a:solidFill>
                      <a:srgbClr val="81C6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5.00 </a:t>
                      </a:r>
                    </a:p>
                  </a:txBody>
                  <a:tcPr marL="36000" marR="36000" marT="0" marB="0" anchor="ctr">
                    <a:lnL>
                      <a:noFill/>
                    </a:lnL>
                    <a:lnR>
                      <a:noFill/>
                    </a:lnR>
                    <a:lnT>
                      <a:noFill/>
                    </a:lnT>
                    <a:lnB>
                      <a:noFill/>
                    </a:lnB>
                    <a:solidFill>
                      <a:srgbClr val="E9E4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7.67 </a:t>
                      </a:r>
                    </a:p>
                  </a:txBody>
                  <a:tcPr marL="36000" marR="36000" marT="0" marB="0" anchor="ctr">
                    <a:lnL>
                      <a:noFill/>
                    </a:lnL>
                    <a:lnR>
                      <a:noFill/>
                    </a:lnR>
                    <a:lnT>
                      <a:noFill/>
                    </a:lnT>
                    <a:lnB>
                      <a:noFill/>
                    </a:lnB>
                    <a:solidFill>
                      <a:srgbClr val="FDBE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10.01 </a:t>
                      </a:r>
                    </a:p>
                  </a:txBody>
                  <a:tcPr marL="36000" marR="36000" marT="0" marB="0" anchor="ctr">
                    <a:lnL>
                      <a:noFill/>
                    </a:lnL>
                    <a:lnR>
                      <a:noFill/>
                    </a:lnR>
                    <a:lnT>
                      <a:noFill/>
                    </a:lnT>
                    <a:lnB>
                      <a:noFill/>
                    </a:lnB>
                    <a:solidFill>
                      <a:srgbClr val="FA8F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8.97 </a:t>
                      </a:r>
                    </a:p>
                  </a:txBody>
                  <a:tcPr marL="36000" marR="36000" marT="0" marB="0" anchor="ctr">
                    <a:lnL>
                      <a:noFill/>
                    </a:lnL>
                    <a:lnR>
                      <a:noFill/>
                    </a:lnR>
                    <a:lnT>
                      <a:noFill/>
                    </a:lnT>
                    <a:lnB>
                      <a:noFill/>
                    </a:lnB>
                    <a:solidFill>
                      <a:srgbClr val="FCA4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5.48 </a:t>
                      </a:r>
                    </a:p>
                  </a:txBody>
                  <a:tcPr marL="36000" marR="36000" marT="0" marB="0" anchor="ctr">
                    <a:lnL>
                      <a:noFill/>
                    </a:lnL>
                    <a:lnR>
                      <a:noFill/>
                    </a:lnR>
                    <a:lnT>
                      <a:noFill/>
                    </a:lnT>
                    <a:lnB>
                      <a:noFill/>
                    </a:lnB>
                    <a:solidFill>
                      <a:srgbClr val="FFEA84"/>
                    </a:solidFill>
                  </a:tcPr>
                </a:tc>
                <a:extLst>
                  <a:ext uri="{0D108BD9-81ED-4DB2-BD59-A6C34878D82A}">
                    <a16:rowId xmlns:a16="http://schemas.microsoft.com/office/drawing/2014/main" val="1724749429"/>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11</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7.98 </a:t>
                      </a:r>
                    </a:p>
                  </a:txBody>
                  <a:tcPr marL="36000" marR="36000" marT="0" marB="0" anchor="ctr">
                    <a:lnL>
                      <a:noFill/>
                    </a:lnL>
                    <a:lnR>
                      <a:noFill/>
                    </a:lnR>
                    <a:lnT>
                      <a:noFill/>
                    </a:lnT>
                    <a:lnB>
                      <a:noFill/>
                    </a:lnB>
                    <a:solidFill>
                      <a:srgbClr val="FDB8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4.98 </a:t>
                      </a:r>
                    </a:p>
                  </a:txBody>
                  <a:tcPr marL="36000" marR="36000" marT="0" marB="0" anchor="ctr">
                    <a:lnL>
                      <a:noFill/>
                    </a:lnL>
                    <a:lnR>
                      <a:noFill/>
                    </a:lnR>
                    <a:lnT>
                      <a:noFill/>
                    </a:lnT>
                    <a:lnB>
                      <a:noFill/>
                    </a:lnB>
                    <a:solidFill>
                      <a:srgbClr val="E7E4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3.35 </a:t>
                      </a:r>
                    </a:p>
                  </a:txBody>
                  <a:tcPr marL="36000" marR="36000" marT="0" marB="0" anchor="ctr">
                    <a:lnL>
                      <a:noFill/>
                    </a:lnL>
                    <a:lnR>
                      <a:noFill/>
                    </a:lnR>
                    <a:lnT>
                      <a:noFill/>
                    </a:lnT>
                    <a:lnB>
                      <a:noFill/>
                    </a:lnB>
                    <a:solidFill>
                      <a:srgbClr val="8FCA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3.22 </a:t>
                      </a:r>
                    </a:p>
                  </a:txBody>
                  <a:tcPr marL="36000" marR="36000" marT="0" marB="0" anchor="ctr">
                    <a:lnL>
                      <a:noFill/>
                    </a:lnL>
                    <a:lnR>
                      <a:noFill/>
                    </a:lnR>
                    <a:lnT>
                      <a:noFill/>
                    </a:lnT>
                    <a:lnB>
                      <a:noFill/>
                    </a:lnB>
                    <a:solidFill>
                      <a:srgbClr val="87C8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3.43 </a:t>
                      </a:r>
                    </a:p>
                  </a:txBody>
                  <a:tcPr marL="36000" marR="36000" marT="0" marB="0" anchor="ctr">
                    <a:lnL>
                      <a:noFill/>
                    </a:lnL>
                    <a:lnR>
                      <a:noFill/>
                    </a:lnR>
                    <a:lnT>
                      <a:noFill/>
                    </a:lnT>
                    <a:lnB>
                      <a:noFill/>
                    </a:lnB>
                    <a:solidFill>
                      <a:srgbClr val="93CB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3.38 </a:t>
                      </a:r>
                    </a:p>
                  </a:txBody>
                  <a:tcPr marL="36000" marR="36000" marT="0" marB="0" anchor="ctr">
                    <a:lnL>
                      <a:noFill/>
                    </a:lnL>
                    <a:lnR>
                      <a:noFill/>
                    </a:lnR>
                    <a:lnT>
                      <a:noFill/>
                    </a:lnT>
                    <a:lnB>
                      <a:noFill/>
                    </a:lnB>
                    <a:solidFill>
                      <a:srgbClr val="90CB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2.97 </a:t>
                      </a:r>
                    </a:p>
                  </a:txBody>
                  <a:tcPr marL="36000" marR="36000" marT="0" marB="0" anchor="ctr">
                    <a:lnL>
                      <a:noFill/>
                    </a:lnL>
                    <a:lnR>
                      <a:noFill/>
                    </a:lnR>
                    <a:lnT>
                      <a:noFill/>
                    </a:lnT>
                    <a:lnB>
                      <a:noFill/>
                    </a:lnB>
                    <a:solidFill>
                      <a:srgbClr val="7AC4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4.67 </a:t>
                      </a:r>
                    </a:p>
                  </a:txBody>
                  <a:tcPr marL="36000" marR="36000" marT="0" marB="0" anchor="ctr">
                    <a:lnL>
                      <a:noFill/>
                    </a:lnL>
                    <a:lnR>
                      <a:noFill/>
                    </a:lnR>
                    <a:lnT>
                      <a:noFill/>
                    </a:lnT>
                    <a:lnB>
                      <a:noFill/>
                    </a:lnB>
                    <a:solidFill>
                      <a:srgbClr val="D6DF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6.99 </a:t>
                      </a:r>
                    </a:p>
                  </a:txBody>
                  <a:tcPr marL="36000" marR="36000" marT="0" marB="0" anchor="ctr">
                    <a:lnL>
                      <a:noFill/>
                    </a:lnL>
                    <a:lnR>
                      <a:noFill/>
                    </a:lnR>
                    <a:lnT>
                      <a:noFill/>
                    </a:lnT>
                    <a:lnB>
                      <a:noFill/>
                    </a:lnB>
                    <a:solidFill>
                      <a:srgbClr val="FECC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9.21 </a:t>
                      </a:r>
                    </a:p>
                  </a:txBody>
                  <a:tcPr marL="36000" marR="36000" marT="0" marB="0" anchor="ctr">
                    <a:lnL>
                      <a:noFill/>
                    </a:lnL>
                    <a:lnR>
                      <a:noFill/>
                    </a:lnR>
                    <a:lnT>
                      <a:noFill/>
                    </a:lnT>
                    <a:lnB>
                      <a:noFill/>
                    </a:lnB>
                    <a:solidFill>
                      <a:srgbClr val="FB9F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7.82 </a:t>
                      </a:r>
                    </a:p>
                  </a:txBody>
                  <a:tcPr marL="36000" marR="36000" marT="0" marB="0" anchor="ctr">
                    <a:lnL>
                      <a:noFill/>
                    </a:lnL>
                    <a:lnR>
                      <a:noFill/>
                    </a:lnR>
                    <a:lnT>
                      <a:noFill/>
                    </a:lnT>
                    <a:lnB>
                      <a:noFill/>
                    </a:lnB>
                    <a:solidFill>
                      <a:srgbClr val="FDBB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4.84 </a:t>
                      </a:r>
                    </a:p>
                  </a:txBody>
                  <a:tcPr marL="36000" marR="36000" marT="0" marB="0" anchor="ctr">
                    <a:lnL>
                      <a:noFill/>
                    </a:lnL>
                    <a:lnR>
                      <a:noFill/>
                    </a:lnR>
                    <a:lnT>
                      <a:noFill/>
                    </a:lnT>
                    <a:lnB>
                      <a:noFill/>
                    </a:lnB>
                    <a:solidFill>
                      <a:srgbClr val="E0E282"/>
                    </a:solidFill>
                  </a:tcPr>
                </a:tc>
                <a:extLst>
                  <a:ext uri="{0D108BD9-81ED-4DB2-BD59-A6C34878D82A}">
                    <a16:rowId xmlns:a16="http://schemas.microsoft.com/office/drawing/2014/main" val="3239712768"/>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12</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7.60 </a:t>
                      </a:r>
                    </a:p>
                  </a:txBody>
                  <a:tcPr marL="36000" marR="36000" marT="0" marB="0" anchor="ctr">
                    <a:lnL>
                      <a:noFill/>
                    </a:lnL>
                    <a:lnR>
                      <a:noFill/>
                    </a:lnR>
                    <a:lnT>
                      <a:noFill/>
                    </a:lnT>
                    <a:lnB>
                      <a:noFill/>
                    </a:lnB>
                    <a:solidFill>
                      <a:srgbClr val="FDBF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5.31 </a:t>
                      </a:r>
                    </a:p>
                  </a:txBody>
                  <a:tcPr marL="36000" marR="36000" marT="0" marB="0" anchor="ctr">
                    <a:lnL>
                      <a:noFill/>
                    </a:lnL>
                    <a:lnR>
                      <a:noFill/>
                    </a:lnR>
                    <a:lnT>
                      <a:noFill/>
                    </a:lnT>
                    <a:lnB>
                      <a:noFill/>
                    </a:lnB>
                    <a:solidFill>
                      <a:srgbClr val="FAE9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3.67 </a:t>
                      </a:r>
                    </a:p>
                  </a:txBody>
                  <a:tcPr marL="36000" marR="36000" marT="0" marB="0" anchor="ctr">
                    <a:lnL>
                      <a:noFill/>
                    </a:lnL>
                    <a:lnR>
                      <a:noFill/>
                    </a:lnR>
                    <a:lnT>
                      <a:noFill/>
                    </a:lnT>
                    <a:lnB>
                      <a:noFill/>
                    </a:lnB>
                    <a:solidFill>
                      <a:srgbClr val="A0CF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3.07 </a:t>
                      </a:r>
                    </a:p>
                  </a:txBody>
                  <a:tcPr marL="36000" marR="36000" marT="0" marB="0" anchor="ctr">
                    <a:lnL>
                      <a:noFill/>
                    </a:lnL>
                    <a:lnR>
                      <a:noFill/>
                    </a:lnR>
                    <a:lnT>
                      <a:noFill/>
                    </a:lnT>
                    <a:lnB>
                      <a:noFill/>
                    </a:lnB>
                    <a:solidFill>
                      <a:srgbClr val="7FC6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3.41 </a:t>
                      </a:r>
                    </a:p>
                  </a:txBody>
                  <a:tcPr marL="36000" marR="36000" marT="0" marB="0" anchor="ctr">
                    <a:lnL>
                      <a:noFill/>
                    </a:lnL>
                    <a:lnR>
                      <a:noFill/>
                    </a:lnR>
                    <a:lnT>
                      <a:noFill/>
                    </a:lnT>
                    <a:lnB>
                      <a:noFill/>
                    </a:lnB>
                    <a:solidFill>
                      <a:srgbClr val="92CB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3.44 </a:t>
                      </a:r>
                    </a:p>
                  </a:txBody>
                  <a:tcPr marL="36000" marR="36000" marT="0" marB="0" anchor="ctr">
                    <a:lnL>
                      <a:noFill/>
                    </a:lnL>
                    <a:lnR>
                      <a:noFill/>
                    </a:lnR>
                    <a:lnT>
                      <a:noFill/>
                    </a:lnT>
                    <a:lnB>
                      <a:noFill/>
                    </a:lnB>
                    <a:solidFill>
                      <a:srgbClr val="94CC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2.82 </a:t>
                      </a:r>
                    </a:p>
                  </a:txBody>
                  <a:tcPr marL="36000" marR="36000" marT="0" marB="0" anchor="ctr">
                    <a:lnL>
                      <a:noFill/>
                    </a:lnL>
                    <a:lnR>
                      <a:noFill/>
                    </a:lnR>
                    <a:lnT>
                      <a:noFill/>
                    </a:lnT>
                    <a:lnB>
                      <a:noFill/>
                    </a:lnB>
                    <a:solidFill>
                      <a:srgbClr val="72C2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4.45 </a:t>
                      </a:r>
                    </a:p>
                  </a:txBody>
                  <a:tcPr marL="36000" marR="36000" marT="0" marB="0" anchor="ctr">
                    <a:lnL>
                      <a:noFill/>
                    </a:lnL>
                    <a:lnR>
                      <a:noFill/>
                    </a:lnR>
                    <a:lnT>
                      <a:noFill/>
                    </a:lnT>
                    <a:lnB>
                      <a:noFill/>
                    </a:lnB>
                    <a:solidFill>
                      <a:srgbClr val="CADB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5.82 </a:t>
                      </a:r>
                    </a:p>
                  </a:txBody>
                  <a:tcPr marL="36000" marR="36000" marT="0" marB="0" anchor="ctr">
                    <a:lnL>
                      <a:noFill/>
                    </a:lnL>
                    <a:lnR>
                      <a:noFill/>
                    </a:lnR>
                    <a:lnT>
                      <a:noFill/>
                    </a:lnT>
                    <a:lnB>
                      <a:noFill/>
                    </a:lnB>
                    <a:solidFill>
                      <a:srgbClr val="FFE3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7.38 </a:t>
                      </a:r>
                    </a:p>
                  </a:txBody>
                  <a:tcPr marL="36000" marR="36000" marT="0" marB="0" anchor="ctr">
                    <a:lnL>
                      <a:noFill/>
                    </a:lnL>
                    <a:lnR>
                      <a:noFill/>
                    </a:lnR>
                    <a:lnT>
                      <a:noFill/>
                    </a:lnT>
                    <a:lnB>
                      <a:noFill/>
                    </a:lnB>
                    <a:solidFill>
                      <a:srgbClr val="FDC4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6.46 </a:t>
                      </a:r>
                    </a:p>
                  </a:txBody>
                  <a:tcPr marL="36000" marR="36000" marT="0" marB="0" anchor="ctr">
                    <a:lnL>
                      <a:noFill/>
                    </a:lnL>
                    <a:lnR>
                      <a:noFill/>
                    </a:lnR>
                    <a:lnT>
                      <a:noFill/>
                    </a:lnT>
                    <a:lnB>
                      <a:noFill/>
                    </a:lnB>
                    <a:solidFill>
                      <a:srgbClr val="FED6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4.32 </a:t>
                      </a:r>
                    </a:p>
                  </a:txBody>
                  <a:tcPr marL="36000" marR="36000" marT="0" marB="0" anchor="ctr">
                    <a:lnL>
                      <a:noFill/>
                    </a:lnL>
                    <a:lnR>
                      <a:noFill/>
                    </a:lnR>
                    <a:lnT>
                      <a:noFill/>
                    </a:lnT>
                    <a:lnB>
                      <a:noFill/>
                    </a:lnB>
                    <a:solidFill>
                      <a:srgbClr val="C3D980"/>
                    </a:solidFill>
                  </a:tcPr>
                </a:tc>
                <a:extLst>
                  <a:ext uri="{0D108BD9-81ED-4DB2-BD59-A6C34878D82A}">
                    <a16:rowId xmlns:a16="http://schemas.microsoft.com/office/drawing/2014/main" val="1622521615"/>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13</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6.52 </a:t>
                      </a:r>
                    </a:p>
                  </a:txBody>
                  <a:tcPr marL="36000" marR="36000" marT="0" marB="0" anchor="ctr">
                    <a:lnL>
                      <a:noFill/>
                    </a:lnL>
                    <a:lnR>
                      <a:noFill/>
                    </a:lnR>
                    <a:lnT>
                      <a:noFill/>
                    </a:lnT>
                    <a:lnB>
                      <a:noFill/>
                    </a:lnB>
                    <a:solidFill>
                      <a:srgbClr val="FED5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5.06 </a:t>
                      </a:r>
                    </a:p>
                  </a:txBody>
                  <a:tcPr marL="36000" marR="36000" marT="0" marB="0" anchor="ctr">
                    <a:lnL>
                      <a:noFill/>
                    </a:lnL>
                    <a:lnR>
                      <a:noFill/>
                    </a:lnR>
                    <a:lnT>
                      <a:noFill/>
                    </a:lnT>
                    <a:lnB>
                      <a:noFill/>
                    </a:lnB>
                    <a:solidFill>
                      <a:srgbClr val="ECE5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3.94 </a:t>
                      </a:r>
                    </a:p>
                  </a:txBody>
                  <a:tcPr marL="36000" marR="36000" marT="0" marB="0" anchor="ctr">
                    <a:lnL>
                      <a:noFill/>
                    </a:lnL>
                    <a:lnR>
                      <a:noFill/>
                    </a:lnR>
                    <a:lnT>
                      <a:noFill/>
                    </a:lnT>
                    <a:lnB>
                      <a:noFill/>
                    </a:lnB>
                    <a:solidFill>
                      <a:srgbClr val="AFD3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2.99 </a:t>
                      </a:r>
                    </a:p>
                  </a:txBody>
                  <a:tcPr marL="36000" marR="36000" marT="0" marB="0" anchor="ctr">
                    <a:lnL>
                      <a:noFill/>
                    </a:lnL>
                    <a:lnR>
                      <a:noFill/>
                    </a:lnR>
                    <a:lnT>
                      <a:noFill/>
                    </a:lnT>
                    <a:lnB>
                      <a:noFill/>
                    </a:lnB>
                    <a:solidFill>
                      <a:srgbClr val="7BC5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3.18 </a:t>
                      </a:r>
                    </a:p>
                  </a:txBody>
                  <a:tcPr marL="36000" marR="36000" marT="0" marB="0" anchor="ctr">
                    <a:lnL>
                      <a:noFill/>
                    </a:lnL>
                    <a:lnR>
                      <a:noFill/>
                    </a:lnR>
                    <a:lnT>
                      <a:noFill/>
                    </a:lnT>
                    <a:lnB>
                      <a:noFill/>
                    </a:lnB>
                    <a:solidFill>
                      <a:srgbClr val="85C7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3.47 </a:t>
                      </a:r>
                    </a:p>
                  </a:txBody>
                  <a:tcPr marL="36000" marR="36000" marT="0" marB="0" anchor="ctr">
                    <a:lnL>
                      <a:noFill/>
                    </a:lnL>
                    <a:lnR>
                      <a:noFill/>
                    </a:lnR>
                    <a:lnT>
                      <a:noFill/>
                    </a:lnT>
                    <a:lnB>
                      <a:noFill/>
                    </a:lnB>
                    <a:solidFill>
                      <a:srgbClr val="95CC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2.67 </a:t>
                      </a:r>
                    </a:p>
                  </a:txBody>
                  <a:tcPr marL="36000" marR="36000" marT="0" marB="0" anchor="ctr">
                    <a:lnL>
                      <a:noFill/>
                    </a:lnL>
                    <a:lnR>
                      <a:noFill/>
                    </a:lnR>
                    <a:lnT>
                      <a:noFill/>
                    </a:lnT>
                    <a:lnB>
                      <a:noFill/>
                    </a:lnB>
                    <a:solidFill>
                      <a:srgbClr val="69BF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4.04 </a:t>
                      </a:r>
                    </a:p>
                  </a:txBody>
                  <a:tcPr marL="36000" marR="36000" marT="0" marB="0" anchor="ctr">
                    <a:lnL>
                      <a:noFill/>
                    </a:lnL>
                    <a:lnR>
                      <a:noFill/>
                    </a:lnR>
                    <a:lnT>
                      <a:noFill/>
                    </a:lnT>
                    <a:lnB>
                      <a:noFill/>
                    </a:lnB>
                    <a:solidFill>
                      <a:srgbClr val="B4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4.86 </a:t>
                      </a:r>
                    </a:p>
                  </a:txBody>
                  <a:tcPr marL="36000" marR="36000" marT="0" marB="0" anchor="ctr">
                    <a:lnL>
                      <a:noFill/>
                    </a:lnL>
                    <a:lnR>
                      <a:noFill/>
                    </a:lnR>
                    <a:lnT>
                      <a:noFill/>
                    </a:lnT>
                    <a:lnB>
                      <a:noFill/>
                    </a:lnB>
                    <a:solidFill>
                      <a:srgbClr val="E1E2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6.16 </a:t>
                      </a:r>
                    </a:p>
                  </a:txBody>
                  <a:tcPr marL="36000" marR="36000" marT="0" marB="0" anchor="ctr">
                    <a:lnL>
                      <a:noFill/>
                    </a:lnL>
                    <a:lnR>
                      <a:noFill/>
                    </a:lnR>
                    <a:lnT>
                      <a:noFill/>
                    </a:lnT>
                    <a:lnB>
                      <a:noFill/>
                    </a:lnB>
                    <a:solidFill>
                      <a:srgbClr val="FFDC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5.24 </a:t>
                      </a:r>
                    </a:p>
                  </a:txBody>
                  <a:tcPr marL="36000" marR="36000" marT="0" marB="0" anchor="ctr">
                    <a:lnL>
                      <a:noFill/>
                    </a:lnL>
                    <a:lnR>
                      <a:noFill/>
                    </a:lnR>
                    <a:lnT>
                      <a:noFill/>
                    </a:lnT>
                    <a:lnB>
                      <a:noFill/>
                    </a:lnB>
                    <a:solidFill>
                      <a:srgbClr val="F6E8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3.65 </a:t>
                      </a:r>
                    </a:p>
                  </a:txBody>
                  <a:tcPr marL="36000" marR="36000" marT="0" marB="0" anchor="ctr">
                    <a:lnL>
                      <a:noFill/>
                    </a:lnL>
                    <a:lnR>
                      <a:noFill/>
                    </a:lnR>
                    <a:lnT>
                      <a:noFill/>
                    </a:lnT>
                    <a:lnB>
                      <a:noFill/>
                    </a:lnB>
                    <a:solidFill>
                      <a:srgbClr val="9FCF7E"/>
                    </a:solidFill>
                  </a:tcPr>
                </a:tc>
                <a:extLst>
                  <a:ext uri="{0D108BD9-81ED-4DB2-BD59-A6C34878D82A}">
                    <a16:rowId xmlns:a16="http://schemas.microsoft.com/office/drawing/2014/main" val="2539743651"/>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14</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5.89 </a:t>
                      </a:r>
                    </a:p>
                  </a:txBody>
                  <a:tcPr marL="36000" marR="36000" marT="0" marB="0" anchor="ctr">
                    <a:lnL>
                      <a:noFill/>
                    </a:lnL>
                    <a:lnR>
                      <a:noFill/>
                    </a:lnR>
                    <a:lnT>
                      <a:noFill/>
                    </a:lnT>
                    <a:lnB>
                      <a:noFill/>
                    </a:lnB>
                    <a:solidFill>
                      <a:srgbClr val="FFE2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5.30 </a:t>
                      </a:r>
                    </a:p>
                  </a:txBody>
                  <a:tcPr marL="36000" marR="36000" marT="0" marB="0" anchor="ctr">
                    <a:lnL>
                      <a:noFill/>
                    </a:lnL>
                    <a:lnR>
                      <a:noFill/>
                    </a:lnR>
                    <a:lnT>
                      <a:noFill/>
                    </a:lnT>
                    <a:lnB>
                      <a:noFill/>
                    </a:lnB>
                    <a:solidFill>
                      <a:srgbClr val="F9E9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4.16 </a:t>
                      </a:r>
                    </a:p>
                  </a:txBody>
                  <a:tcPr marL="36000" marR="36000" marT="0" marB="0" anchor="ctr">
                    <a:lnL>
                      <a:noFill/>
                    </a:lnL>
                    <a:lnR>
                      <a:noFill/>
                    </a:lnR>
                    <a:lnT>
                      <a:noFill/>
                    </a:lnT>
                    <a:lnB>
                      <a:noFill/>
                    </a:lnB>
                    <a:solidFill>
                      <a:srgbClr val="BAD7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2.84 </a:t>
                      </a:r>
                    </a:p>
                  </a:txBody>
                  <a:tcPr marL="36000" marR="36000" marT="0" marB="0" anchor="ctr">
                    <a:lnL>
                      <a:noFill/>
                    </a:lnL>
                    <a:lnR>
                      <a:noFill/>
                    </a:lnR>
                    <a:lnT>
                      <a:noFill/>
                    </a:lnT>
                    <a:lnB>
                      <a:noFill/>
                    </a:lnB>
                    <a:solidFill>
                      <a:srgbClr val="73C2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2.90 </a:t>
                      </a:r>
                    </a:p>
                  </a:txBody>
                  <a:tcPr marL="36000" marR="36000" marT="0" marB="0" anchor="ctr">
                    <a:lnL>
                      <a:noFill/>
                    </a:lnL>
                    <a:lnR>
                      <a:noFill/>
                    </a:lnR>
                    <a:lnT>
                      <a:noFill/>
                    </a:lnT>
                    <a:lnB>
                      <a:noFill/>
                    </a:lnB>
                    <a:solidFill>
                      <a:srgbClr val="76C3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3.20 </a:t>
                      </a:r>
                    </a:p>
                  </a:txBody>
                  <a:tcPr marL="36000" marR="36000" marT="0" marB="0" anchor="ctr">
                    <a:lnL>
                      <a:noFill/>
                    </a:lnL>
                    <a:lnR>
                      <a:noFill/>
                    </a:lnR>
                    <a:lnT>
                      <a:noFill/>
                    </a:lnT>
                    <a:lnB>
                      <a:noFill/>
                    </a:lnB>
                    <a:solidFill>
                      <a:srgbClr val="86C8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2.56 </a:t>
                      </a:r>
                    </a:p>
                  </a:txBody>
                  <a:tcPr marL="36000" marR="36000" marT="0" marB="0" anchor="ctr">
                    <a:lnL>
                      <a:noFill/>
                    </a:lnL>
                    <a:lnR>
                      <a:noFill/>
                    </a:lnR>
                    <a:lnT>
                      <a:noFill/>
                    </a:lnT>
                    <a:lnB>
                      <a:noFill/>
                    </a:lnB>
                    <a:solidFill>
                      <a:srgbClr val="63BE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3.83 </a:t>
                      </a:r>
                    </a:p>
                  </a:txBody>
                  <a:tcPr marL="36000" marR="36000" marT="0" marB="0" anchor="ctr">
                    <a:lnL>
                      <a:noFill/>
                    </a:lnL>
                    <a:lnR>
                      <a:noFill/>
                    </a:lnR>
                    <a:lnT>
                      <a:noFill/>
                    </a:lnT>
                    <a:lnB>
                      <a:noFill/>
                    </a:lnB>
                    <a:solidFill>
                      <a:srgbClr val="A8D2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4.05 </a:t>
                      </a:r>
                    </a:p>
                  </a:txBody>
                  <a:tcPr marL="36000" marR="36000" marT="0" marB="0" anchor="ctr">
                    <a:lnL>
                      <a:noFill/>
                    </a:lnL>
                    <a:lnR>
                      <a:noFill/>
                    </a:lnR>
                    <a:lnT>
                      <a:noFill/>
                    </a:lnT>
                    <a:lnB>
                      <a:noFill/>
                    </a:lnB>
                    <a:solidFill>
                      <a:srgbClr val="B4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4.64 </a:t>
                      </a:r>
                    </a:p>
                  </a:txBody>
                  <a:tcPr marL="36000" marR="36000" marT="0" marB="0" anchor="ctr">
                    <a:lnL>
                      <a:noFill/>
                    </a:lnL>
                    <a:lnR>
                      <a:noFill/>
                    </a:lnR>
                    <a:lnT>
                      <a:noFill/>
                    </a:lnT>
                    <a:lnB>
                      <a:noFill/>
                    </a:lnB>
                    <a:solidFill>
                      <a:srgbClr val="D5DF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4.08 </a:t>
                      </a:r>
                    </a:p>
                  </a:txBody>
                  <a:tcPr marL="36000" marR="36000" marT="0" marB="0" anchor="ctr">
                    <a:lnL>
                      <a:noFill/>
                    </a:lnL>
                    <a:lnR>
                      <a:noFill/>
                    </a:lnR>
                    <a:lnT>
                      <a:noFill/>
                    </a:lnT>
                    <a:lnB>
                      <a:noFill/>
                    </a:lnB>
                    <a:solidFill>
                      <a:srgbClr val="B6D6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3.22 </a:t>
                      </a:r>
                    </a:p>
                  </a:txBody>
                  <a:tcPr marL="36000" marR="36000" marT="0" marB="0" anchor="ctr">
                    <a:lnL>
                      <a:noFill/>
                    </a:lnL>
                    <a:lnR>
                      <a:noFill/>
                    </a:lnR>
                    <a:lnT>
                      <a:noFill/>
                    </a:lnT>
                    <a:lnB>
                      <a:noFill/>
                    </a:lnB>
                    <a:solidFill>
                      <a:srgbClr val="87C87D"/>
                    </a:solidFill>
                  </a:tcPr>
                </a:tc>
                <a:extLst>
                  <a:ext uri="{0D108BD9-81ED-4DB2-BD59-A6C34878D82A}">
                    <a16:rowId xmlns:a16="http://schemas.microsoft.com/office/drawing/2014/main" val="2446669105"/>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15</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7.33 </a:t>
                      </a:r>
                    </a:p>
                  </a:txBody>
                  <a:tcPr marL="36000" marR="36000" marT="0" marB="0" anchor="ctr">
                    <a:lnL>
                      <a:noFill/>
                    </a:lnL>
                    <a:lnR>
                      <a:noFill/>
                    </a:lnR>
                    <a:lnT>
                      <a:noFill/>
                    </a:lnT>
                    <a:lnB>
                      <a:noFill/>
                    </a:lnB>
                    <a:solidFill>
                      <a:srgbClr val="FDC5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6.28 </a:t>
                      </a:r>
                    </a:p>
                  </a:txBody>
                  <a:tcPr marL="36000" marR="36000" marT="0" marB="0" anchor="ctr">
                    <a:lnL>
                      <a:noFill/>
                    </a:lnL>
                    <a:lnR>
                      <a:noFill/>
                    </a:lnR>
                    <a:lnT>
                      <a:noFill/>
                    </a:lnT>
                    <a:lnB>
                      <a:noFill/>
                    </a:lnB>
                    <a:solidFill>
                      <a:srgbClr val="FFDA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5.35 </a:t>
                      </a:r>
                    </a:p>
                  </a:txBody>
                  <a:tcPr marL="36000" marR="36000" marT="0" marB="0" anchor="ctr">
                    <a:lnL>
                      <a:noFill/>
                    </a:lnL>
                    <a:lnR>
                      <a:noFill/>
                    </a:lnR>
                    <a:lnT>
                      <a:noFill/>
                    </a:lnT>
                    <a:lnB>
                      <a:noFill/>
                    </a:lnB>
                    <a:solidFill>
                      <a:srgbClr val="FCEA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3.12 </a:t>
                      </a:r>
                    </a:p>
                  </a:txBody>
                  <a:tcPr marL="36000" marR="36000" marT="0" marB="0" anchor="ctr">
                    <a:lnL>
                      <a:noFill/>
                    </a:lnL>
                    <a:lnR>
                      <a:noFill/>
                    </a:lnR>
                    <a:lnT>
                      <a:noFill/>
                    </a:lnT>
                    <a:lnB>
                      <a:noFill/>
                    </a:lnB>
                    <a:solidFill>
                      <a:srgbClr val="82C7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3.36 </a:t>
                      </a:r>
                    </a:p>
                  </a:txBody>
                  <a:tcPr marL="36000" marR="36000" marT="0" marB="0" anchor="ctr">
                    <a:lnL>
                      <a:noFill/>
                    </a:lnL>
                    <a:lnR>
                      <a:noFill/>
                    </a:lnR>
                    <a:lnT>
                      <a:noFill/>
                    </a:lnT>
                    <a:lnB>
                      <a:noFill/>
                    </a:lnB>
                    <a:solidFill>
                      <a:srgbClr val="8FCA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3.88 </a:t>
                      </a:r>
                    </a:p>
                  </a:txBody>
                  <a:tcPr marL="36000" marR="36000" marT="0" marB="0" anchor="ctr">
                    <a:lnL>
                      <a:noFill/>
                    </a:lnL>
                    <a:lnR>
                      <a:noFill/>
                    </a:lnR>
                    <a:lnT>
                      <a:noFill/>
                    </a:lnT>
                    <a:lnB>
                      <a:noFill/>
                    </a:lnB>
                    <a:solidFill>
                      <a:srgbClr val="ABD2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2.77 </a:t>
                      </a:r>
                    </a:p>
                  </a:txBody>
                  <a:tcPr marL="36000" marR="36000" marT="0" marB="0" anchor="ctr">
                    <a:lnL>
                      <a:noFill/>
                    </a:lnL>
                    <a:lnR>
                      <a:noFill/>
                    </a:lnR>
                    <a:lnT>
                      <a:noFill/>
                    </a:lnT>
                    <a:lnB>
                      <a:noFill/>
                    </a:lnB>
                    <a:solidFill>
                      <a:srgbClr val="6FC1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4.06 </a:t>
                      </a:r>
                    </a:p>
                  </a:txBody>
                  <a:tcPr marL="36000" marR="36000" marT="0" marB="0" anchor="ctr">
                    <a:lnL>
                      <a:noFill/>
                    </a:lnL>
                    <a:lnR>
                      <a:noFill/>
                    </a:lnR>
                    <a:lnT>
                      <a:noFill/>
                    </a:lnT>
                    <a:lnB>
                      <a:noFill/>
                    </a:lnB>
                    <a:solidFill>
                      <a:srgbClr val="B5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4.35 </a:t>
                      </a:r>
                    </a:p>
                  </a:txBody>
                  <a:tcPr marL="36000" marR="36000" marT="0" marB="0" anchor="ctr">
                    <a:lnL>
                      <a:noFill/>
                    </a:lnL>
                    <a:lnR>
                      <a:noFill/>
                    </a:lnR>
                    <a:lnT>
                      <a:noFill/>
                    </a:lnT>
                    <a:lnB>
                      <a:noFill/>
                    </a:lnB>
                    <a:solidFill>
                      <a:srgbClr val="C5DA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4.60 </a:t>
                      </a:r>
                    </a:p>
                  </a:txBody>
                  <a:tcPr marL="36000" marR="36000" marT="0" marB="0" anchor="ctr">
                    <a:lnL>
                      <a:noFill/>
                    </a:lnL>
                    <a:lnR>
                      <a:noFill/>
                    </a:lnR>
                    <a:lnT>
                      <a:noFill/>
                    </a:lnT>
                    <a:lnB>
                      <a:noFill/>
                    </a:lnB>
                    <a:solidFill>
                      <a:srgbClr val="D3DE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4.12 </a:t>
                      </a:r>
                    </a:p>
                  </a:txBody>
                  <a:tcPr marL="36000" marR="36000" marT="0" marB="0" anchor="ctr">
                    <a:lnL>
                      <a:noFill/>
                    </a:lnL>
                    <a:lnR>
                      <a:noFill/>
                    </a:lnR>
                    <a:lnT>
                      <a:noFill/>
                    </a:lnT>
                    <a:lnB>
                      <a:noFill/>
                    </a:lnB>
                    <a:solidFill>
                      <a:srgbClr val="B9D6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3.54 </a:t>
                      </a:r>
                    </a:p>
                  </a:txBody>
                  <a:tcPr marL="36000" marR="36000" marT="0" marB="0" anchor="ctr">
                    <a:lnL>
                      <a:noFill/>
                    </a:lnL>
                    <a:lnR>
                      <a:noFill/>
                    </a:lnR>
                    <a:lnT>
                      <a:noFill/>
                    </a:lnT>
                    <a:lnB>
                      <a:noFill/>
                    </a:lnB>
                    <a:solidFill>
                      <a:srgbClr val="99CD7E"/>
                    </a:solidFill>
                  </a:tcPr>
                </a:tc>
                <a:extLst>
                  <a:ext uri="{0D108BD9-81ED-4DB2-BD59-A6C34878D82A}">
                    <a16:rowId xmlns:a16="http://schemas.microsoft.com/office/drawing/2014/main" val="804369062"/>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16</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8.78 </a:t>
                      </a:r>
                    </a:p>
                  </a:txBody>
                  <a:tcPr marL="36000" marR="36000" marT="0" marB="0" anchor="ctr">
                    <a:lnL>
                      <a:noFill/>
                    </a:lnL>
                    <a:lnR>
                      <a:noFill/>
                    </a:lnR>
                    <a:lnT>
                      <a:noFill/>
                    </a:lnT>
                    <a:lnB>
                      <a:noFill/>
                    </a:lnB>
                    <a:solidFill>
                      <a:srgbClr val="FCA7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7.10 </a:t>
                      </a:r>
                    </a:p>
                  </a:txBody>
                  <a:tcPr marL="36000" marR="36000" marT="0" marB="0" anchor="ctr">
                    <a:lnL>
                      <a:noFill/>
                    </a:lnL>
                    <a:lnR>
                      <a:noFill/>
                    </a:lnR>
                    <a:lnT>
                      <a:noFill/>
                    </a:lnT>
                    <a:lnB>
                      <a:noFill/>
                    </a:lnB>
                    <a:solidFill>
                      <a:srgbClr val="FEC9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6.48 </a:t>
                      </a:r>
                    </a:p>
                  </a:txBody>
                  <a:tcPr marL="36000" marR="36000" marT="0" marB="0" anchor="ctr">
                    <a:lnL>
                      <a:noFill/>
                    </a:lnL>
                    <a:lnR>
                      <a:noFill/>
                    </a:lnR>
                    <a:lnT>
                      <a:noFill/>
                    </a:lnT>
                    <a:lnB>
                      <a:noFill/>
                    </a:lnB>
                    <a:solidFill>
                      <a:srgbClr val="FED6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3.82 </a:t>
                      </a:r>
                    </a:p>
                  </a:txBody>
                  <a:tcPr marL="36000" marR="36000" marT="0" marB="0" anchor="ctr">
                    <a:lnL>
                      <a:noFill/>
                    </a:lnL>
                    <a:lnR>
                      <a:noFill/>
                    </a:lnR>
                    <a:lnT>
                      <a:noFill/>
                    </a:lnT>
                    <a:lnB>
                      <a:noFill/>
                    </a:lnB>
                    <a:solidFill>
                      <a:srgbClr val="A8D2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4.04 </a:t>
                      </a:r>
                    </a:p>
                  </a:txBody>
                  <a:tcPr marL="36000" marR="36000" marT="0" marB="0" anchor="ctr">
                    <a:lnL>
                      <a:noFill/>
                    </a:lnL>
                    <a:lnR>
                      <a:noFill/>
                    </a:lnR>
                    <a:lnT>
                      <a:noFill/>
                    </a:lnT>
                    <a:lnB>
                      <a:noFill/>
                    </a:lnB>
                    <a:solidFill>
                      <a:srgbClr val="B4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4.70 </a:t>
                      </a:r>
                    </a:p>
                  </a:txBody>
                  <a:tcPr marL="36000" marR="36000" marT="0" marB="0" anchor="ctr">
                    <a:lnL>
                      <a:noFill/>
                    </a:lnL>
                    <a:lnR>
                      <a:noFill/>
                    </a:lnR>
                    <a:lnT>
                      <a:noFill/>
                    </a:lnT>
                    <a:lnB>
                      <a:noFill/>
                    </a:lnB>
                    <a:solidFill>
                      <a:srgbClr val="D8DF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3.06 </a:t>
                      </a:r>
                    </a:p>
                  </a:txBody>
                  <a:tcPr marL="36000" marR="36000" marT="0" marB="0" anchor="ctr">
                    <a:lnL>
                      <a:noFill/>
                    </a:lnL>
                    <a:lnR>
                      <a:noFill/>
                    </a:lnR>
                    <a:lnT>
                      <a:noFill/>
                    </a:lnT>
                    <a:lnB>
                      <a:noFill/>
                    </a:lnB>
                    <a:solidFill>
                      <a:srgbClr val="7EC6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4.40 </a:t>
                      </a:r>
                    </a:p>
                  </a:txBody>
                  <a:tcPr marL="36000" marR="36000" marT="0" marB="0" anchor="ctr">
                    <a:lnL>
                      <a:noFill/>
                    </a:lnL>
                    <a:lnR>
                      <a:noFill/>
                    </a:lnR>
                    <a:lnT>
                      <a:noFill/>
                    </a:lnT>
                    <a:lnB>
                      <a:noFill/>
                    </a:lnB>
                    <a:solidFill>
                      <a:srgbClr val="C8DB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5.01 </a:t>
                      </a:r>
                    </a:p>
                  </a:txBody>
                  <a:tcPr marL="36000" marR="36000" marT="0" marB="0" anchor="ctr">
                    <a:lnL>
                      <a:noFill/>
                    </a:lnL>
                    <a:lnR>
                      <a:noFill/>
                    </a:lnR>
                    <a:lnT>
                      <a:noFill/>
                    </a:lnT>
                    <a:lnB>
                      <a:noFill/>
                    </a:lnB>
                    <a:solidFill>
                      <a:srgbClr val="E9E4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5.70 </a:t>
                      </a:r>
                    </a:p>
                  </a:txBody>
                  <a:tcPr marL="36000" marR="36000" marT="0" marB="0" anchor="ctr">
                    <a:lnL>
                      <a:noFill/>
                    </a:lnL>
                    <a:lnR>
                      <a:noFill/>
                    </a:lnR>
                    <a:lnT>
                      <a:noFill/>
                    </a:lnT>
                    <a:lnB>
                      <a:noFill/>
                    </a:lnB>
                    <a:solidFill>
                      <a:srgbClr val="FFE6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4.99 </a:t>
                      </a:r>
                    </a:p>
                  </a:txBody>
                  <a:tcPr marL="36000" marR="36000" marT="0" marB="0" anchor="ctr">
                    <a:lnL>
                      <a:noFill/>
                    </a:lnL>
                    <a:lnR>
                      <a:noFill/>
                    </a:lnR>
                    <a:lnT>
                      <a:noFill/>
                    </a:lnT>
                    <a:lnB>
                      <a:noFill/>
                    </a:lnB>
                    <a:solidFill>
                      <a:srgbClr val="E8E4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4.23 </a:t>
                      </a:r>
                    </a:p>
                  </a:txBody>
                  <a:tcPr marL="36000" marR="36000" marT="0" marB="0" anchor="ctr">
                    <a:lnL>
                      <a:noFill/>
                    </a:lnL>
                    <a:lnR>
                      <a:noFill/>
                    </a:lnR>
                    <a:lnT>
                      <a:noFill/>
                    </a:lnT>
                    <a:lnB>
                      <a:noFill/>
                    </a:lnB>
                    <a:solidFill>
                      <a:srgbClr val="BED880"/>
                    </a:solidFill>
                  </a:tcPr>
                </a:tc>
                <a:extLst>
                  <a:ext uri="{0D108BD9-81ED-4DB2-BD59-A6C34878D82A}">
                    <a16:rowId xmlns:a16="http://schemas.microsoft.com/office/drawing/2014/main" val="988739865"/>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17</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9.60 </a:t>
                      </a:r>
                    </a:p>
                  </a:txBody>
                  <a:tcPr marL="36000" marR="36000" marT="0" marB="0" anchor="ctr">
                    <a:lnL>
                      <a:noFill/>
                    </a:lnL>
                    <a:lnR>
                      <a:noFill/>
                    </a:lnR>
                    <a:lnT>
                      <a:noFill/>
                    </a:lnT>
                    <a:lnB>
                      <a:noFill/>
                    </a:lnB>
                    <a:solidFill>
                      <a:srgbClr val="FB977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6.79 </a:t>
                      </a:r>
                    </a:p>
                  </a:txBody>
                  <a:tcPr marL="36000" marR="36000" marT="0" marB="0" anchor="ctr">
                    <a:lnL>
                      <a:noFill/>
                    </a:lnL>
                    <a:lnR>
                      <a:noFill/>
                    </a:lnR>
                    <a:lnT>
                      <a:noFill/>
                    </a:lnT>
                    <a:lnB>
                      <a:noFill/>
                    </a:lnB>
                    <a:solidFill>
                      <a:srgbClr val="FED0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5.64 </a:t>
                      </a:r>
                    </a:p>
                  </a:txBody>
                  <a:tcPr marL="36000" marR="36000" marT="0" marB="0" anchor="ctr">
                    <a:lnL>
                      <a:noFill/>
                    </a:lnL>
                    <a:lnR>
                      <a:noFill/>
                    </a:lnR>
                    <a:lnT>
                      <a:noFill/>
                    </a:lnT>
                    <a:lnB>
                      <a:noFill/>
                    </a:lnB>
                    <a:solidFill>
                      <a:srgbClr val="FFE7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4.06 </a:t>
                      </a:r>
                    </a:p>
                  </a:txBody>
                  <a:tcPr marL="36000" marR="36000" marT="0" marB="0" anchor="ctr">
                    <a:lnL>
                      <a:noFill/>
                    </a:lnL>
                    <a:lnR>
                      <a:noFill/>
                    </a:lnR>
                    <a:lnT>
                      <a:noFill/>
                    </a:lnT>
                    <a:lnB>
                      <a:noFill/>
                    </a:lnB>
                    <a:solidFill>
                      <a:srgbClr val="B5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4.57 </a:t>
                      </a:r>
                    </a:p>
                  </a:txBody>
                  <a:tcPr marL="36000" marR="36000" marT="0" marB="0" anchor="ctr">
                    <a:lnL>
                      <a:noFill/>
                    </a:lnL>
                    <a:lnR>
                      <a:noFill/>
                    </a:lnR>
                    <a:lnT>
                      <a:noFill/>
                    </a:lnT>
                    <a:lnB>
                      <a:noFill/>
                    </a:lnB>
                    <a:solidFill>
                      <a:srgbClr val="D1DD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5.11 </a:t>
                      </a:r>
                    </a:p>
                  </a:txBody>
                  <a:tcPr marL="36000" marR="36000" marT="0" marB="0" anchor="ctr">
                    <a:lnL>
                      <a:noFill/>
                    </a:lnL>
                    <a:lnR>
                      <a:noFill/>
                    </a:lnR>
                    <a:lnT>
                      <a:noFill/>
                    </a:lnT>
                    <a:lnB>
                      <a:noFill/>
                    </a:lnB>
                    <a:solidFill>
                      <a:srgbClr val="EFE6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3.46 </a:t>
                      </a:r>
                    </a:p>
                  </a:txBody>
                  <a:tcPr marL="36000" marR="36000" marT="0" marB="0" anchor="ctr">
                    <a:lnL>
                      <a:noFill/>
                    </a:lnL>
                    <a:lnR>
                      <a:noFill/>
                    </a:lnR>
                    <a:lnT>
                      <a:noFill/>
                    </a:lnT>
                    <a:lnB>
                      <a:noFill/>
                    </a:lnB>
                    <a:solidFill>
                      <a:srgbClr val="94CC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4.82 </a:t>
                      </a:r>
                    </a:p>
                  </a:txBody>
                  <a:tcPr marL="36000" marR="36000" marT="0" marB="0" anchor="ctr">
                    <a:lnL>
                      <a:noFill/>
                    </a:lnL>
                    <a:lnR>
                      <a:noFill/>
                    </a:lnR>
                    <a:lnT>
                      <a:noFill/>
                    </a:lnT>
                    <a:lnB>
                      <a:noFill/>
                    </a:lnB>
                    <a:solidFill>
                      <a:srgbClr val="DFE1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6.78 </a:t>
                      </a:r>
                    </a:p>
                  </a:txBody>
                  <a:tcPr marL="36000" marR="36000" marT="0" marB="0" anchor="ctr">
                    <a:lnL>
                      <a:noFill/>
                    </a:lnL>
                    <a:lnR>
                      <a:noFill/>
                    </a:lnR>
                    <a:lnT>
                      <a:noFill/>
                    </a:lnT>
                    <a:lnB>
                      <a:noFill/>
                    </a:lnB>
                    <a:solidFill>
                      <a:srgbClr val="FED0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7.16 </a:t>
                      </a:r>
                    </a:p>
                  </a:txBody>
                  <a:tcPr marL="36000" marR="36000" marT="0" marB="0" anchor="ctr">
                    <a:lnL>
                      <a:noFill/>
                    </a:lnL>
                    <a:lnR>
                      <a:noFill/>
                    </a:lnR>
                    <a:lnT>
                      <a:noFill/>
                    </a:lnT>
                    <a:lnB>
                      <a:noFill/>
                    </a:lnB>
                    <a:solidFill>
                      <a:srgbClr val="FEC8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6.99 </a:t>
                      </a:r>
                    </a:p>
                  </a:txBody>
                  <a:tcPr marL="36000" marR="36000" marT="0" marB="0" anchor="ctr">
                    <a:lnL>
                      <a:noFill/>
                    </a:lnL>
                    <a:lnR>
                      <a:noFill/>
                    </a:lnR>
                    <a:lnT>
                      <a:noFill/>
                    </a:lnT>
                    <a:lnB>
                      <a:noFill/>
                    </a:lnB>
                    <a:solidFill>
                      <a:srgbClr val="FECB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5.22 </a:t>
                      </a:r>
                    </a:p>
                  </a:txBody>
                  <a:tcPr marL="36000" marR="36000" marT="0" marB="0" anchor="ctr">
                    <a:lnL>
                      <a:noFill/>
                    </a:lnL>
                    <a:lnR>
                      <a:noFill/>
                    </a:lnR>
                    <a:lnT>
                      <a:noFill/>
                    </a:lnT>
                    <a:lnB>
                      <a:noFill/>
                    </a:lnB>
                    <a:solidFill>
                      <a:srgbClr val="F4E883"/>
                    </a:solidFill>
                  </a:tcPr>
                </a:tc>
                <a:extLst>
                  <a:ext uri="{0D108BD9-81ED-4DB2-BD59-A6C34878D82A}">
                    <a16:rowId xmlns:a16="http://schemas.microsoft.com/office/drawing/2014/main" val="575473427"/>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18</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9.94 </a:t>
                      </a:r>
                    </a:p>
                  </a:txBody>
                  <a:tcPr marL="36000" marR="36000" marT="0" marB="0" anchor="ctr">
                    <a:lnL>
                      <a:noFill/>
                    </a:lnL>
                    <a:lnR>
                      <a:noFill/>
                    </a:lnR>
                    <a:lnT>
                      <a:noFill/>
                    </a:lnT>
                    <a:lnB>
                      <a:noFill/>
                    </a:lnB>
                    <a:solidFill>
                      <a:srgbClr val="FB90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6.63 </a:t>
                      </a:r>
                    </a:p>
                  </a:txBody>
                  <a:tcPr marL="36000" marR="36000" marT="0" marB="0" anchor="ctr">
                    <a:lnL>
                      <a:noFill/>
                    </a:lnL>
                    <a:lnR>
                      <a:noFill/>
                    </a:lnR>
                    <a:lnT>
                      <a:noFill/>
                    </a:lnT>
                    <a:lnB>
                      <a:noFill/>
                    </a:lnB>
                    <a:solidFill>
                      <a:srgbClr val="FED3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4.90 </a:t>
                      </a:r>
                    </a:p>
                  </a:txBody>
                  <a:tcPr marL="36000" marR="36000" marT="0" marB="0" anchor="ctr">
                    <a:lnL>
                      <a:noFill/>
                    </a:lnL>
                    <a:lnR>
                      <a:noFill/>
                    </a:lnR>
                    <a:lnT>
                      <a:noFill/>
                    </a:lnT>
                    <a:lnB>
                      <a:noFill/>
                    </a:lnB>
                    <a:solidFill>
                      <a:srgbClr val="E3E3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4.25 </a:t>
                      </a:r>
                    </a:p>
                  </a:txBody>
                  <a:tcPr marL="36000" marR="36000" marT="0" marB="0" anchor="ctr">
                    <a:lnL>
                      <a:noFill/>
                    </a:lnL>
                    <a:lnR>
                      <a:noFill/>
                    </a:lnR>
                    <a:lnT>
                      <a:noFill/>
                    </a:lnT>
                    <a:lnB>
                      <a:noFill/>
                    </a:lnB>
                    <a:solidFill>
                      <a:srgbClr val="C0D8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4.62 </a:t>
                      </a:r>
                    </a:p>
                  </a:txBody>
                  <a:tcPr marL="36000" marR="36000" marT="0" marB="0" anchor="ctr">
                    <a:lnL>
                      <a:noFill/>
                    </a:lnL>
                    <a:lnR>
                      <a:noFill/>
                    </a:lnR>
                    <a:lnT>
                      <a:noFill/>
                    </a:lnT>
                    <a:lnB>
                      <a:noFill/>
                    </a:lnB>
                    <a:solidFill>
                      <a:srgbClr val="D4DE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5.99 </a:t>
                      </a:r>
                    </a:p>
                  </a:txBody>
                  <a:tcPr marL="36000" marR="36000" marT="0" marB="0" anchor="ctr">
                    <a:lnL>
                      <a:noFill/>
                    </a:lnL>
                    <a:lnR>
                      <a:noFill/>
                    </a:lnR>
                    <a:lnT>
                      <a:noFill/>
                    </a:lnT>
                    <a:lnB>
                      <a:noFill/>
                    </a:lnB>
                    <a:solidFill>
                      <a:srgbClr val="FFE0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4.60 </a:t>
                      </a:r>
                    </a:p>
                  </a:txBody>
                  <a:tcPr marL="36000" marR="36000" marT="0" marB="0" anchor="ctr">
                    <a:lnL>
                      <a:noFill/>
                    </a:lnL>
                    <a:lnR>
                      <a:noFill/>
                    </a:lnR>
                    <a:lnT>
                      <a:noFill/>
                    </a:lnT>
                    <a:lnB>
                      <a:noFill/>
                    </a:lnB>
                    <a:solidFill>
                      <a:srgbClr val="D3DE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6.60 </a:t>
                      </a:r>
                    </a:p>
                  </a:txBody>
                  <a:tcPr marL="36000" marR="36000" marT="0" marB="0" anchor="ctr">
                    <a:lnL>
                      <a:noFill/>
                    </a:lnL>
                    <a:lnR>
                      <a:noFill/>
                    </a:lnR>
                    <a:lnT>
                      <a:noFill/>
                    </a:lnT>
                    <a:lnB>
                      <a:noFill/>
                    </a:lnB>
                    <a:solidFill>
                      <a:srgbClr val="FED3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7.90 </a:t>
                      </a:r>
                    </a:p>
                  </a:txBody>
                  <a:tcPr marL="36000" marR="36000" marT="0" marB="0" anchor="ctr">
                    <a:lnL>
                      <a:noFill/>
                    </a:lnL>
                    <a:lnR>
                      <a:noFill/>
                    </a:lnR>
                    <a:lnT>
                      <a:noFill/>
                    </a:lnT>
                    <a:lnB>
                      <a:noFill/>
                    </a:lnB>
                    <a:solidFill>
                      <a:srgbClr val="FDB9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8.12 </a:t>
                      </a:r>
                    </a:p>
                  </a:txBody>
                  <a:tcPr marL="36000" marR="36000" marT="0" marB="0" anchor="ctr">
                    <a:lnL>
                      <a:noFill/>
                    </a:lnL>
                    <a:lnR>
                      <a:noFill/>
                    </a:lnR>
                    <a:lnT>
                      <a:noFill/>
                    </a:lnT>
                    <a:lnB>
                      <a:noFill/>
                    </a:lnB>
                    <a:solidFill>
                      <a:srgbClr val="FDB57A"/>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7.79 </a:t>
                      </a:r>
                    </a:p>
                  </a:txBody>
                  <a:tcPr marL="36000" marR="36000" marT="0" marB="0" anchor="ctr">
                    <a:lnL>
                      <a:noFill/>
                    </a:lnL>
                    <a:lnR>
                      <a:noFill/>
                    </a:lnR>
                    <a:lnT>
                      <a:noFill/>
                    </a:lnT>
                    <a:lnB>
                      <a:noFill/>
                    </a:lnB>
                    <a:solidFill>
                      <a:srgbClr val="FDBB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5.04 </a:t>
                      </a:r>
                    </a:p>
                  </a:txBody>
                  <a:tcPr marL="36000" marR="36000" marT="0" marB="0" anchor="ctr">
                    <a:lnL>
                      <a:noFill/>
                    </a:lnL>
                    <a:lnR>
                      <a:noFill/>
                    </a:lnR>
                    <a:lnT>
                      <a:noFill/>
                    </a:lnT>
                    <a:lnB>
                      <a:noFill/>
                    </a:lnB>
                    <a:solidFill>
                      <a:srgbClr val="EBE582"/>
                    </a:solidFill>
                  </a:tcPr>
                </a:tc>
                <a:extLst>
                  <a:ext uri="{0D108BD9-81ED-4DB2-BD59-A6C34878D82A}">
                    <a16:rowId xmlns:a16="http://schemas.microsoft.com/office/drawing/2014/main" val="1213604531"/>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19</a:t>
                      </a:r>
                    </a:p>
                  </a:txBody>
                  <a:tcPr marL="36000" marR="36000" marT="0" marB="0" anchor="ctr">
                    <a:lnL>
                      <a:noFill/>
                    </a:lnL>
                    <a:lnR>
                      <a:noFill/>
                    </a:lnR>
                    <a:lnT>
                      <a:noFill/>
                    </a:lnT>
                    <a:lnB>
                      <a:noFill/>
                    </a:lnB>
                    <a:solidFill>
                      <a:srgbClr val="0097A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10.67 </a:t>
                      </a:r>
                    </a:p>
                  </a:txBody>
                  <a:tcPr marL="36000" marR="36000" marT="0" marB="0" anchor="ctr">
                    <a:lnL>
                      <a:noFill/>
                    </a:lnL>
                    <a:lnR>
                      <a:noFill/>
                    </a:lnR>
                    <a:lnT>
                      <a:noFill/>
                    </a:lnT>
                    <a:lnB>
                      <a:noFill/>
                    </a:lnB>
                    <a:solidFill>
                      <a:srgbClr val="FA817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6.86 </a:t>
                      </a:r>
                    </a:p>
                  </a:txBody>
                  <a:tcPr marL="36000" marR="36000" marT="0" marB="0" anchor="ctr">
                    <a:lnL>
                      <a:noFill/>
                    </a:lnL>
                    <a:lnR>
                      <a:noFill/>
                    </a:lnR>
                    <a:lnT>
                      <a:noFill/>
                    </a:lnT>
                    <a:lnB>
                      <a:noFill/>
                    </a:lnB>
                    <a:solidFill>
                      <a:srgbClr val="FECE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5.42 </a:t>
                      </a:r>
                    </a:p>
                  </a:txBody>
                  <a:tcPr marL="36000" marR="36000" marT="0" marB="0" anchor="ctr">
                    <a:lnL>
                      <a:noFill/>
                    </a:lnL>
                    <a:lnR>
                      <a:noFill/>
                    </a:lnR>
                    <a:lnT>
                      <a:noFill/>
                    </a:lnT>
                    <a:lnB>
                      <a:noFill/>
                    </a:lnB>
                    <a:solidFill>
                      <a:srgbClr val="FFEB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6.96 </a:t>
                      </a:r>
                    </a:p>
                  </a:txBody>
                  <a:tcPr marL="36000" marR="36000" marT="0" marB="0" anchor="ctr">
                    <a:lnL>
                      <a:noFill/>
                    </a:lnL>
                    <a:lnR>
                      <a:noFill/>
                    </a:lnR>
                    <a:lnT>
                      <a:noFill/>
                    </a:lnT>
                    <a:lnB>
                      <a:noFill/>
                    </a:lnB>
                    <a:solidFill>
                      <a:srgbClr val="FECC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7.05 </a:t>
                      </a:r>
                    </a:p>
                  </a:txBody>
                  <a:tcPr marL="36000" marR="36000" marT="0" marB="0" anchor="ctr">
                    <a:lnL>
                      <a:noFill/>
                    </a:lnL>
                    <a:lnR>
                      <a:noFill/>
                    </a:lnR>
                    <a:lnT>
                      <a:noFill/>
                    </a:lnT>
                    <a:lnB>
                      <a:noFill/>
                    </a:lnB>
                    <a:solidFill>
                      <a:srgbClr val="FECA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9.09 </a:t>
                      </a:r>
                    </a:p>
                  </a:txBody>
                  <a:tcPr marL="36000" marR="36000" marT="0" marB="0" anchor="ctr">
                    <a:lnL>
                      <a:noFill/>
                    </a:lnL>
                    <a:lnR>
                      <a:noFill/>
                    </a:lnR>
                    <a:lnT>
                      <a:noFill/>
                    </a:lnT>
                    <a:lnB>
                      <a:noFill/>
                    </a:lnB>
                    <a:solidFill>
                      <a:srgbClr val="FBA1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8.73 </a:t>
                      </a:r>
                    </a:p>
                  </a:txBody>
                  <a:tcPr marL="36000" marR="36000" marT="0" marB="0" anchor="ctr">
                    <a:lnL>
                      <a:noFill/>
                    </a:lnL>
                    <a:lnR>
                      <a:noFill/>
                    </a:lnR>
                    <a:lnT>
                      <a:noFill/>
                    </a:lnT>
                    <a:lnB>
                      <a:noFill/>
                    </a:lnB>
                    <a:solidFill>
                      <a:srgbClr val="FCA8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8.72 </a:t>
                      </a:r>
                    </a:p>
                  </a:txBody>
                  <a:tcPr marL="36000" marR="36000" marT="0" marB="0" anchor="ctr">
                    <a:lnL>
                      <a:noFill/>
                    </a:lnL>
                    <a:lnR>
                      <a:noFill/>
                    </a:lnR>
                    <a:lnT>
                      <a:noFill/>
                    </a:lnT>
                    <a:lnB>
                      <a:noFill/>
                    </a:lnB>
                    <a:solidFill>
                      <a:srgbClr val="FCA8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9.24 </a:t>
                      </a:r>
                    </a:p>
                  </a:txBody>
                  <a:tcPr marL="36000" marR="36000" marT="0" marB="0" anchor="ctr">
                    <a:lnL>
                      <a:noFill/>
                    </a:lnL>
                    <a:lnR>
                      <a:noFill/>
                    </a:lnR>
                    <a:lnT>
                      <a:noFill/>
                    </a:lnT>
                    <a:lnB>
                      <a:noFill/>
                    </a:lnB>
                    <a:solidFill>
                      <a:srgbClr val="FB9E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10.21 </a:t>
                      </a:r>
                    </a:p>
                  </a:txBody>
                  <a:tcPr marL="36000" marR="36000" marT="0" marB="0" anchor="ctr">
                    <a:lnL>
                      <a:noFill/>
                    </a:lnL>
                    <a:lnR>
                      <a:noFill/>
                    </a:lnR>
                    <a:lnT>
                      <a:noFill/>
                    </a:lnT>
                    <a:lnB>
                      <a:noFill/>
                    </a:lnB>
                    <a:solidFill>
                      <a:srgbClr val="FA8A7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10.25 </a:t>
                      </a:r>
                    </a:p>
                  </a:txBody>
                  <a:tcPr marL="36000" marR="36000" marT="0" marB="0" anchor="ctr">
                    <a:lnL>
                      <a:noFill/>
                    </a:lnL>
                    <a:lnR>
                      <a:noFill/>
                    </a:lnR>
                    <a:lnT>
                      <a:noFill/>
                    </a:lnT>
                    <a:lnB>
                      <a:noFill/>
                    </a:lnB>
                    <a:solidFill>
                      <a:srgbClr val="FA8A7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6.82 </a:t>
                      </a:r>
                    </a:p>
                  </a:txBody>
                  <a:tcPr marL="36000" marR="36000" marT="0" marB="0" anchor="ctr">
                    <a:lnL>
                      <a:noFill/>
                    </a:lnL>
                    <a:lnR>
                      <a:noFill/>
                    </a:lnR>
                    <a:lnT>
                      <a:noFill/>
                    </a:lnT>
                    <a:lnB>
                      <a:noFill/>
                    </a:lnB>
                    <a:solidFill>
                      <a:srgbClr val="FECF7F"/>
                    </a:solidFill>
                  </a:tcPr>
                </a:tc>
                <a:extLst>
                  <a:ext uri="{0D108BD9-81ED-4DB2-BD59-A6C34878D82A}">
                    <a16:rowId xmlns:a16="http://schemas.microsoft.com/office/drawing/2014/main" val="948474587"/>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20</a:t>
                      </a:r>
                    </a:p>
                  </a:txBody>
                  <a:tcPr marL="36000" marR="36000" marT="0" marB="0" anchor="ctr">
                    <a:lnL>
                      <a:noFill/>
                    </a:lnL>
                    <a:lnR>
                      <a:noFill/>
                    </a:lnR>
                    <a:lnT>
                      <a:noFill/>
                    </a:lnT>
                    <a:lnB>
                      <a:noFill/>
                    </a:lnB>
                    <a:solidFill>
                      <a:srgbClr val="0097A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11.11 </a:t>
                      </a:r>
                    </a:p>
                  </a:txBody>
                  <a:tcPr marL="36000" marR="36000" marT="0" marB="0" anchor="ctr">
                    <a:lnL>
                      <a:noFill/>
                    </a:lnL>
                    <a:lnR>
                      <a:noFill/>
                    </a:lnR>
                    <a:lnT>
                      <a:noFill/>
                    </a:lnT>
                    <a:lnB>
                      <a:noFill/>
                    </a:lnB>
                    <a:solidFill>
                      <a:srgbClr val="F9786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8.10 </a:t>
                      </a:r>
                    </a:p>
                  </a:txBody>
                  <a:tcPr marL="36000" marR="36000" marT="0" marB="0" anchor="ctr">
                    <a:lnL>
                      <a:noFill/>
                    </a:lnL>
                    <a:lnR>
                      <a:noFill/>
                    </a:lnR>
                    <a:lnT>
                      <a:noFill/>
                    </a:lnT>
                    <a:lnB>
                      <a:noFill/>
                    </a:lnB>
                    <a:solidFill>
                      <a:srgbClr val="FDB57A"/>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9.43 </a:t>
                      </a:r>
                    </a:p>
                  </a:txBody>
                  <a:tcPr marL="36000" marR="36000" marT="0" marB="0" anchor="ctr">
                    <a:lnL>
                      <a:noFill/>
                    </a:lnL>
                    <a:lnR>
                      <a:noFill/>
                    </a:lnR>
                    <a:lnT>
                      <a:noFill/>
                    </a:lnT>
                    <a:lnB>
                      <a:noFill/>
                    </a:lnB>
                    <a:solidFill>
                      <a:srgbClr val="FB9A7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9.81 </a:t>
                      </a:r>
                    </a:p>
                  </a:txBody>
                  <a:tcPr marL="36000" marR="36000" marT="0" marB="0" anchor="ctr">
                    <a:lnL>
                      <a:noFill/>
                    </a:lnL>
                    <a:lnR>
                      <a:noFill/>
                    </a:lnR>
                    <a:lnT>
                      <a:noFill/>
                    </a:lnT>
                    <a:lnB>
                      <a:noFill/>
                    </a:lnB>
                    <a:solidFill>
                      <a:srgbClr val="FB93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9.76 </a:t>
                      </a:r>
                    </a:p>
                  </a:txBody>
                  <a:tcPr marL="36000" marR="36000" marT="0" marB="0" anchor="ctr">
                    <a:lnL>
                      <a:noFill/>
                    </a:lnL>
                    <a:lnR>
                      <a:noFill/>
                    </a:lnR>
                    <a:lnT>
                      <a:noFill/>
                    </a:lnT>
                    <a:lnB>
                      <a:noFill/>
                    </a:lnB>
                    <a:solidFill>
                      <a:srgbClr val="FB947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11.18 </a:t>
                      </a:r>
                    </a:p>
                  </a:txBody>
                  <a:tcPr marL="36000" marR="36000" marT="0" marB="0" anchor="ctr">
                    <a:lnL>
                      <a:noFill/>
                    </a:lnL>
                    <a:lnR>
                      <a:noFill/>
                    </a:lnR>
                    <a:lnT>
                      <a:noFill/>
                    </a:lnT>
                    <a:lnB>
                      <a:noFill/>
                    </a:lnB>
                    <a:solidFill>
                      <a:srgbClr val="F9776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8.49 </a:t>
                      </a:r>
                    </a:p>
                  </a:txBody>
                  <a:tcPr marL="36000" marR="36000" marT="0" marB="0" anchor="ctr">
                    <a:lnL>
                      <a:noFill/>
                    </a:lnL>
                    <a:lnR>
                      <a:noFill/>
                    </a:lnR>
                    <a:lnT>
                      <a:noFill/>
                    </a:lnT>
                    <a:lnB>
                      <a:noFill/>
                    </a:lnB>
                    <a:solidFill>
                      <a:srgbClr val="FCAD7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6.12 </a:t>
                      </a:r>
                    </a:p>
                  </a:txBody>
                  <a:tcPr marL="36000" marR="36000" marT="0" marB="0" anchor="ctr">
                    <a:lnL>
                      <a:noFill/>
                    </a:lnL>
                    <a:lnR>
                      <a:noFill/>
                    </a:lnR>
                    <a:lnT>
                      <a:noFill/>
                    </a:lnT>
                    <a:lnB>
                      <a:noFill/>
                    </a:lnB>
                    <a:solidFill>
                      <a:srgbClr val="FFDD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7.99 </a:t>
                      </a:r>
                    </a:p>
                  </a:txBody>
                  <a:tcPr marL="36000" marR="36000" marT="0" marB="0" anchor="ctr">
                    <a:lnL>
                      <a:noFill/>
                    </a:lnL>
                    <a:lnR>
                      <a:noFill/>
                    </a:lnR>
                    <a:lnT>
                      <a:noFill/>
                    </a:lnT>
                    <a:lnB>
                      <a:noFill/>
                    </a:lnB>
                    <a:solidFill>
                      <a:srgbClr val="FDB77A"/>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10.29 </a:t>
                      </a:r>
                    </a:p>
                  </a:txBody>
                  <a:tcPr marL="36000" marR="36000" marT="0" marB="0" anchor="ctr">
                    <a:lnL>
                      <a:noFill/>
                    </a:lnL>
                    <a:lnR>
                      <a:noFill/>
                    </a:lnR>
                    <a:lnT>
                      <a:noFill/>
                    </a:lnT>
                    <a:lnB>
                      <a:noFill/>
                    </a:lnB>
                    <a:solidFill>
                      <a:srgbClr val="FA897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10.70 </a:t>
                      </a:r>
                    </a:p>
                  </a:txBody>
                  <a:tcPr marL="36000" marR="36000" marT="0" marB="0" anchor="ctr">
                    <a:lnL>
                      <a:noFill/>
                    </a:lnL>
                    <a:lnR>
                      <a:noFill/>
                    </a:lnR>
                    <a:lnT>
                      <a:noFill/>
                    </a:lnT>
                    <a:lnB>
                      <a:noFill/>
                    </a:lnB>
                    <a:solidFill>
                      <a:srgbClr val="FA817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8.80 </a:t>
                      </a:r>
                    </a:p>
                  </a:txBody>
                  <a:tcPr marL="36000" marR="36000" marT="0" marB="0" anchor="ctr">
                    <a:lnL>
                      <a:noFill/>
                    </a:lnL>
                    <a:lnR>
                      <a:noFill/>
                    </a:lnR>
                    <a:lnT>
                      <a:noFill/>
                    </a:lnT>
                    <a:lnB>
                      <a:noFill/>
                    </a:lnB>
                    <a:solidFill>
                      <a:srgbClr val="FCA777"/>
                    </a:solidFill>
                  </a:tcPr>
                </a:tc>
                <a:extLst>
                  <a:ext uri="{0D108BD9-81ED-4DB2-BD59-A6C34878D82A}">
                    <a16:rowId xmlns:a16="http://schemas.microsoft.com/office/drawing/2014/main" val="2517346567"/>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21</a:t>
                      </a:r>
                    </a:p>
                  </a:txBody>
                  <a:tcPr marL="36000" marR="36000" marT="0" marB="0" anchor="ctr">
                    <a:lnL>
                      <a:noFill/>
                    </a:lnL>
                    <a:lnR>
                      <a:noFill/>
                    </a:lnR>
                    <a:lnT>
                      <a:noFill/>
                    </a:lnT>
                    <a:lnB>
                      <a:noFill/>
                    </a:lnB>
                    <a:solidFill>
                      <a:srgbClr val="0097A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10.61 </a:t>
                      </a:r>
                    </a:p>
                  </a:txBody>
                  <a:tcPr marL="36000" marR="36000" marT="0" marB="0" anchor="ctr">
                    <a:lnL>
                      <a:noFill/>
                    </a:lnL>
                    <a:lnR>
                      <a:noFill/>
                    </a:lnR>
                    <a:lnT>
                      <a:noFill/>
                    </a:lnT>
                    <a:lnB>
                      <a:noFill/>
                    </a:lnB>
                    <a:solidFill>
                      <a:srgbClr val="FA827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7.95 </a:t>
                      </a:r>
                    </a:p>
                  </a:txBody>
                  <a:tcPr marL="36000" marR="36000" marT="0" marB="0" anchor="ctr">
                    <a:lnL>
                      <a:noFill/>
                    </a:lnL>
                    <a:lnR>
                      <a:noFill/>
                    </a:lnR>
                    <a:lnT>
                      <a:noFill/>
                    </a:lnT>
                    <a:lnB>
                      <a:noFill/>
                    </a:lnB>
                    <a:solidFill>
                      <a:srgbClr val="FDB8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9.53 </a:t>
                      </a:r>
                    </a:p>
                  </a:txBody>
                  <a:tcPr marL="36000" marR="36000" marT="0" marB="0" anchor="ctr">
                    <a:lnL>
                      <a:noFill/>
                    </a:lnL>
                    <a:lnR>
                      <a:noFill/>
                    </a:lnR>
                    <a:lnT>
                      <a:noFill/>
                    </a:lnT>
                    <a:lnB>
                      <a:noFill/>
                    </a:lnB>
                    <a:solidFill>
                      <a:srgbClr val="FB987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10.07 </a:t>
                      </a:r>
                    </a:p>
                  </a:txBody>
                  <a:tcPr marL="36000" marR="36000" marT="0" marB="0" anchor="ctr">
                    <a:lnL>
                      <a:noFill/>
                    </a:lnL>
                    <a:lnR>
                      <a:noFill/>
                    </a:lnR>
                    <a:lnT>
                      <a:noFill/>
                    </a:lnT>
                    <a:lnB>
                      <a:noFill/>
                    </a:lnB>
                    <a:solidFill>
                      <a:srgbClr val="FA8D7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9.57 </a:t>
                      </a:r>
                    </a:p>
                  </a:txBody>
                  <a:tcPr marL="36000" marR="36000" marT="0" marB="0" anchor="ctr">
                    <a:lnL>
                      <a:noFill/>
                    </a:lnL>
                    <a:lnR>
                      <a:noFill/>
                    </a:lnR>
                    <a:lnT>
                      <a:noFill/>
                    </a:lnT>
                    <a:lnB>
                      <a:noFill/>
                    </a:lnB>
                    <a:solidFill>
                      <a:srgbClr val="FB977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9.47 </a:t>
                      </a:r>
                    </a:p>
                  </a:txBody>
                  <a:tcPr marL="36000" marR="36000" marT="0" marB="0" anchor="ctr">
                    <a:lnL>
                      <a:noFill/>
                    </a:lnL>
                    <a:lnR>
                      <a:noFill/>
                    </a:lnR>
                    <a:lnT>
                      <a:noFill/>
                    </a:lnT>
                    <a:lnB>
                      <a:noFill/>
                    </a:lnB>
                    <a:solidFill>
                      <a:srgbClr val="FB997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5.00 </a:t>
                      </a:r>
                    </a:p>
                  </a:txBody>
                  <a:tcPr marL="36000" marR="36000" marT="0" marB="0" anchor="ctr">
                    <a:lnL>
                      <a:noFill/>
                    </a:lnL>
                    <a:lnR>
                      <a:noFill/>
                    </a:lnR>
                    <a:lnT>
                      <a:noFill/>
                    </a:lnT>
                    <a:lnB>
                      <a:noFill/>
                    </a:lnB>
                    <a:solidFill>
                      <a:srgbClr val="E8E4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4.86 </a:t>
                      </a:r>
                    </a:p>
                  </a:txBody>
                  <a:tcPr marL="36000" marR="36000" marT="0" marB="0" anchor="ctr">
                    <a:lnL>
                      <a:noFill/>
                    </a:lnL>
                    <a:lnR>
                      <a:noFill/>
                    </a:lnR>
                    <a:lnT>
                      <a:noFill/>
                    </a:lnT>
                    <a:lnB>
                      <a:noFill/>
                    </a:lnB>
                    <a:solidFill>
                      <a:srgbClr val="E1E2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5.15 </a:t>
                      </a:r>
                    </a:p>
                  </a:txBody>
                  <a:tcPr marL="36000" marR="36000" marT="0" marB="0" anchor="ctr">
                    <a:lnL>
                      <a:noFill/>
                    </a:lnL>
                    <a:lnR>
                      <a:noFill/>
                    </a:lnR>
                    <a:lnT>
                      <a:noFill/>
                    </a:lnT>
                    <a:lnB>
                      <a:noFill/>
                    </a:lnB>
                    <a:solidFill>
                      <a:srgbClr val="F1E6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7.57 </a:t>
                      </a:r>
                    </a:p>
                  </a:txBody>
                  <a:tcPr marL="36000" marR="36000" marT="0" marB="0" anchor="ctr">
                    <a:lnL>
                      <a:noFill/>
                    </a:lnL>
                    <a:lnR>
                      <a:noFill/>
                    </a:lnR>
                    <a:lnT>
                      <a:noFill/>
                    </a:lnT>
                    <a:lnB>
                      <a:noFill/>
                    </a:lnB>
                    <a:solidFill>
                      <a:srgbClr val="FDC0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7.26 </a:t>
                      </a:r>
                    </a:p>
                  </a:txBody>
                  <a:tcPr marL="36000" marR="36000" marT="0" marB="0" anchor="ctr">
                    <a:lnL>
                      <a:noFill/>
                    </a:lnL>
                    <a:lnR>
                      <a:noFill/>
                    </a:lnR>
                    <a:lnT>
                      <a:noFill/>
                    </a:lnT>
                    <a:lnB>
                      <a:noFill/>
                    </a:lnB>
                    <a:solidFill>
                      <a:srgbClr val="FDC6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7.11 </a:t>
                      </a:r>
                    </a:p>
                  </a:txBody>
                  <a:tcPr marL="36000" marR="36000" marT="0" marB="0" anchor="ctr">
                    <a:lnL>
                      <a:noFill/>
                    </a:lnL>
                    <a:lnR>
                      <a:noFill/>
                    </a:lnR>
                    <a:lnT>
                      <a:noFill/>
                    </a:lnT>
                    <a:lnB>
                      <a:noFill/>
                    </a:lnB>
                    <a:solidFill>
                      <a:srgbClr val="FEC97E"/>
                    </a:solidFill>
                  </a:tcPr>
                </a:tc>
                <a:extLst>
                  <a:ext uri="{0D108BD9-81ED-4DB2-BD59-A6C34878D82A}">
                    <a16:rowId xmlns:a16="http://schemas.microsoft.com/office/drawing/2014/main" val="520436726"/>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22</a:t>
                      </a:r>
                    </a:p>
                  </a:txBody>
                  <a:tcPr marL="36000" marR="36000" marT="0" marB="0" anchor="ctr">
                    <a:lnL>
                      <a:noFill/>
                    </a:lnL>
                    <a:lnR>
                      <a:noFill/>
                    </a:lnR>
                    <a:lnT>
                      <a:noFill/>
                    </a:lnT>
                    <a:lnB>
                      <a:noFill/>
                    </a:lnB>
                    <a:solidFill>
                      <a:srgbClr val="0097A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11.02 </a:t>
                      </a:r>
                    </a:p>
                  </a:txBody>
                  <a:tcPr marL="36000" marR="36000" marT="0" marB="0" anchor="ctr">
                    <a:lnL>
                      <a:noFill/>
                    </a:lnL>
                    <a:lnR>
                      <a:noFill/>
                    </a:lnR>
                    <a:lnT>
                      <a:noFill/>
                    </a:lnT>
                    <a:lnB>
                      <a:noFill/>
                    </a:lnB>
                    <a:solidFill>
                      <a:srgbClr val="F97A6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8.93 </a:t>
                      </a:r>
                    </a:p>
                  </a:txBody>
                  <a:tcPr marL="36000" marR="36000" marT="0" marB="0" anchor="ctr">
                    <a:lnL>
                      <a:noFill/>
                    </a:lnL>
                    <a:lnR>
                      <a:noFill/>
                    </a:lnR>
                    <a:lnT>
                      <a:noFill/>
                    </a:lnT>
                    <a:lnB>
                      <a:noFill/>
                    </a:lnB>
                    <a:solidFill>
                      <a:srgbClr val="FCA4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10.66 </a:t>
                      </a:r>
                    </a:p>
                  </a:txBody>
                  <a:tcPr marL="36000" marR="36000" marT="0" marB="0" anchor="ctr">
                    <a:lnL>
                      <a:noFill/>
                    </a:lnL>
                    <a:lnR>
                      <a:noFill/>
                    </a:lnR>
                    <a:lnT>
                      <a:noFill/>
                    </a:lnT>
                    <a:lnB>
                      <a:noFill/>
                    </a:lnB>
                    <a:solidFill>
                      <a:srgbClr val="FA817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10.07 </a:t>
                      </a:r>
                    </a:p>
                  </a:txBody>
                  <a:tcPr marL="36000" marR="36000" marT="0" marB="0" anchor="ctr">
                    <a:lnL>
                      <a:noFill/>
                    </a:lnL>
                    <a:lnR>
                      <a:noFill/>
                    </a:lnR>
                    <a:lnT>
                      <a:noFill/>
                    </a:lnT>
                    <a:lnB>
                      <a:noFill/>
                    </a:lnB>
                    <a:solidFill>
                      <a:srgbClr val="FA8D7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9.32 </a:t>
                      </a:r>
                    </a:p>
                  </a:txBody>
                  <a:tcPr marL="36000" marR="36000" marT="0" marB="0" anchor="ctr">
                    <a:lnL>
                      <a:noFill/>
                    </a:lnL>
                    <a:lnR>
                      <a:noFill/>
                    </a:lnR>
                    <a:lnT>
                      <a:noFill/>
                    </a:lnT>
                    <a:lnB>
                      <a:noFill/>
                    </a:lnB>
                    <a:solidFill>
                      <a:srgbClr val="FB9C7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8.75 </a:t>
                      </a:r>
                    </a:p>
                  </a:txBody>
                  <a:tcPr marL="36000" marR="36000" marT="0" marB="0" anchor="ctr">
                    <a:lnL>
                      <a:noFill/>
                    </a:lnL>
                    <a:lnR>
                      <a:noFill/>
                    </a:lnR>
                    <a:lnT>
                      <a:noFill/>
                    </a:lnT>
                    <a:lnB>
                      <a:noFill/>
                    </a:lnB>
                    <a:solidFill>
                      <a:srgbClr val="FCA8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4.20 </a:t>
                      </a:r>
                    </a:p>
                  </a:txBody>
                  <a:tcPr marL="36000" marR="36000" marT="0" marB="0" anchor="ctr">
                    <a:lnL>
                      <a:noFill/>
                    </a:lnL>
                    <a:lnR>
                      <a:noFill/>
                    </a:lnR>
                    <a:lnT>
                      <a:noFill/>
                    </a:lnT>
                    <a:lnB>
                      <a:noFill/>
                    </a:lnB>
                    <a:solidFill>
                      <a:srgbClr val="BDD8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4.49 </a:t>
                      </a:r>
                    </a:p>
                  </a:txBody>
                  <a:tcPr marL="36000" marR="36000" marT="0" marB="0" anchor="ctr">
                    <a:lnL>
                      <a:noFill/>
                    </a:lnL>
                    <a:lnR>
                      <a:noFill/>
                    </a:lnR>
                    <a:lnT>
                      <a:noFill/>
                    </a:lnT>
                    <a:lnB>
                      <a:noFill/>
                    </a:lnB>
                    <a:solidFill>
                      <a:srgbClr val="CDDC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4.33 </a:t>
                      </a:r>
                    </a:p>
                  </a:txBody>
                  <a:tcPr marL="36000" marR="36000" marT="0" marB="0" anchor="ctr">
                    <a:lnL>
                      <a:noFill/>
                    </a:lnL>
                    <a:lnR>
                      <a:noFill/>
                    </a:lnR>
                    <a:lnT>
                      <a:noFill/>
                    </a:lnT>
                    <a:lnB>
                      <a:noFill/>
                    </a:lnB>
                    <a:solidFill>
                      <a:srgbClr val="C4DA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5.83 </a:t>
                      </a:r>
                    </a:p>
                  </a:txBody>
                  <a:tcPr marL="36000" marR="36000" marT="0" marB="0" anchor="ctr">
                    <a:lnL>
                      <a:noFill/>
                    </a:lnL>
                    <a:lnR>
                      <a:noFill/>
                    </a:lnR>
                    <a:lnT>
                      <a:noFill/>
                    </a:lnT>
                    <a:lnB>
                      <a:noFill/>
                    </a:lnB>
                    <a:solidFill>
                      <a:srgbClr val="FFE3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6.05 </a:t>
                      </a:r>
                    </a:p>
                  </a:txBody>
                  <a:tcPr marL="36000" marR="36000" marT="0" marB="0" anchor="ctr">
                    <a:lnL>
                      <a:noFill/>
                    </a:lnL>
                    <a:lnR>
                      <a:noFill/>
                    </a:lnR>
                    <a:lnT>
                      <a:noFill/>
                    </a:lnT>
                    <a:lnB>
                      <a:noFill/>
                    </a:lnB>
                    <a:solidFill>
                      <a:srgbClr val="FFDF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6.34 </a:t>
                      </a:r>
                    </a:p>
                  </a:txBody>
                  <a:tcPr marL="36000" marR="36000" marT="0" marB="0" anchor="ctr">
                    <a:lnL>
                      <a:noFill/>
                    </a:lnL>
                    <a:lnR>
                      <a:noFill/>
                    </a:lnR>
                    <a:lnT>
                      <a:noFill/>
                    </a:lnT>
                    <a:lnB>
                      <a:noFill/>
                    </a:lnB>
                    <a:solidFill>
                      <a:srgbClr val="FED981"/>
                    </a:solidFill>
                  </a:tcPr>
                </a:tc>
                <a:extLst>
                  <a:ext uri="{0D108BD9-81ED-4DB2-BD59-A6C34878D82A}">
                    <a16:rowId xmlns:a16="http://schemas.microsoft.com/office/drawing/2014/main" val="3334580036"/>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23</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11.06 </a:t>
                      </a:r>
                    </a:p>
                  </a:txBody>
                  <a:tcPr marL="36000" marR="36000" marT="0" marB="0" anchor="ctr">
                    <a:lnL>
                      <a:noFill/>
                    </a:lnL>
                    <a:lnR>
                      <a:noFill/>
                    </a:lnR>
                    <a:lnT>
                      <a:noFill/>
                    </a:lnT>
                    <a:lnB>
                      <a:noFill/>
                    </a:lnB>
                    <a:solidFill>
                      <a:srgbClr val="F9796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9.37 </a:t>
                      </a:r>
                    </a:p>
                  </a:txBody>
                  <a:tcPr marL="36000" marR="36000" marT="0" marB="0" anchor="ctr">
                    <a:lnL>
                      <a:noFill/>
                    </a:lnL>
                    <a:lnR>
                      <a:noFill/>
                    </a:lnR>
                    <a:lnT>
                      <a:noFill/>
                    </a:lnT>
                    <a:lnB>
                      <a:noFill/>
                    </a:lnB>
                    <a:solidFill>
                      <a:srgbClr val="FB9B7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10.87 </a:t>
                      </a:r>
                    </a:p>
                  </a:txBody>
                  <a:tcPr marL="36000" marR="36000" marT="0" marB="0" anchor="ctr">
                    <a:lnL>
                      <a:noFill/>
                    </a:lnL>
                    <a:lnR>
                      <a:noFill/>
                    </a:lnR>
                    <a:lnT>
                      <a:noFill/>
                    </a:lnT>
                    <a:lnB>
                      <a:noFill/>
                    </a:lnB>
                    <a:solidFill>
                      <a:srgbClr val="FA7D6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9.95 </a:t>
                      </a:r>
                    </a:p>
                  </a:txBody>
                  <a:tcPr marL="36000" marR="36000" marT="0" marB="0" anchor="ctr">
                    <a:lnL>
                      <a:noFill/>
                    </a:lnL>
                    <a:lnR>
                      <a:noFill/>
                    </a:lnR>
                    <a:lnT>
                      <a:noFill/>
                    </a:lnT>
                    <a:lnB>
                      <a:noFill/>
                    </a:lnB>
                    <a:solidFill>
                      <a:srgbClr val="FB90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8.67 </a:t>
                      </a:r>
                    </a:p>
                  </a:txBody>
                  <a:tcPr marL="36000" marR="36000" marT="0" marB="0" anchor="ctr">
                    <a:lnL>
                      <a:noFill/>
                    </a:lnL>
                    <a:lnR>
                      <a:noFill/>
                    </a:lnR>
                    <a:lnT>
                      <a:noFill/>
                    </a:lnT>
                    <a:lnB>
                      <a:noFill/>
                    </a:lnB>
                    <a:solidFill>
                      <a:srgbClr val="FCA9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8.44 </a:t>
                      </a:r>
                    </a:p>
                  </a:txBody>
                  <a:tcPr marL="36000" marR="36000" marT="0" marB="0" anchor="ctr">
                    <a:lnL>
                      <a:noFill/>
                    </a:lnL>
                    <a:lnR>
                      <a:noFill/>
                    </a:lnR>
                    <a:lnT>
                      <a:noFill/>
                    </a:lnT>
                    <a:lnB>
                      <a:noFill/>
                    </a:lnB>
                    <a:solidFill>
                      <a:srgbClr val="FCAE7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3.87 </a:t>
                      </a:r>
                    </a:p>
                  </a:txBody>
                  <a:tcPr marL="36000" marR="36000" marT="0" marB="0" anchor="ctr">
                    <a:lnL>
                      <a:noFill/>
                    </a:lnL>
                    <a:lnR>
                      <a:noFill/>
                    </a:lnR>
                    <a:lnT>
                      <a:noFill/>
                    </a:lnT>
                    <a:lnB>
                      <a:noFill/>
                    </a:lnB>
                    <a:solidFill>
                      <a:srgbClr val="ABD2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4.48 </a:t>
                      </a:r>
                    </a:p>
                  </a:txBody>
                  <a:tcPr marL="36000" marR="36000" marT="0" marB="0" anchor="ctr">
                    <a:lnL>
                      <a:noFill/>
                    </a:lnL>
                    <a:lnR>
                      <a:noFill/>
                    </a:lnR>
                    <a:lnT>
                      <a:noFill/>
                    </a:lnT>
                    <a:lnB>
                      <a:noFill/>
                    </a:lnB>
                    <a:solidFill>
                      <a:srgbClr val="CCDC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3.60 </a:t>
                      </a:r>
                    </a:p>
                  </a:txBody>
                  <a:tcPr marL="36000" marR="36000" marT="0" marB="0" anchor="ctr">
                    <a:lnL>
                      <a:noFill/>
                    </a:lnL>
                    <a:lnR>
                      <a:noFill/>
                    </a:lnR>
                    <a:lnT>
                      <a:noFill/>
                    </a:lnT>
                    <a:lnB>
                      <a:noFill/>
                    </a:lnB>
                    <a:solidFill>
                      <a:srgbClr val="9CCE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4.16 </a:t>
                      </a:r>
                    </a:p>
                  </a:txBody>
                  <a:tcPr marL="36000" marR="36000" marT="0" marB="0" anchor="ctr">
                    <a:lnL>
                      <a:noFill/>
                    </a:lnL>
                    <a:lnR>
                      <a:noFill/>
                    </a:lnR>
                    <a:lnT>
                      <a:noFill/>
                    </a:lnT>
                    <a:lnB>
                      <a:noFill/>
                    </a:lnB>
                    <a:solidFill>
                      <a:srgbClr val="BBD7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5.64 </a:t>
                      </a:r>
                    </a:p>
                  </a:txBody>
                  <a:tcPr marL="36000" marR="36000" marT="0" marB="0" anchor="ctr">
                    <a:lnL>
                      <a:noFill/>
                    </a:lnL>
                    <a:lnR>
                      <a:noFill/>
                    </a:lnR>
                    <a:lnT>
                      <a:noFill/>
                    </a:lnT>
                    <a:lnB>
                      <a:noFill/>
                    </a:lnB>
                    <a:solidFill>
                      <a:srgbClr val="FFE7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6.30 </a:t>
                      </a:r>
                    </a:p>
                  </a:txBody>
                  <a:tcPr marL="36000" marR="36000" marT="0" marB="0" anchor="ctr">
                    <a:lnL>
                      <a:noFill/>
                    </a:lnL>
                    <a:lnR>
                      <a:noFill/>
                    </a:lnR>
                    <a:lnT>
                      <a:noFill/>
                    </a:lnT>
                    <a:lnB>
                      <a:noFill/>
                    </a:lnB>
                    <a:solidFill>
                      <a:srgbClr val="FFD981"/>
                    </a:solidFill>
                  </a:tcPr>
                </a:tc>
                <a:extLst>
                  <a:ext uri="{0D108BD9-81ED-4DB2-BD59-A6C34878D82A}">
                    <a16:rowId xmlns:a16="http://schemas.microsoft.com/office/drawing/2014/main" val="1769189704"/>
                  </a:ext>
                </a:extLst>
              </a:tr>
              <a:tr h="136158">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24</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11.82 </a:t>
                      </a:r>
                    </a:p>
                  </a:txBody>
                  <a:tcPr marL="36000" marR="36000" marT="0" marB="0" anchor="ctr">
                    <a:lnL>
                      <a:noFill/>
                    </a:lnL>
                    <a:lnR>
                      <a:noFill/>
                    </a:lnR>
                    <a:lnT>
                      <a:noFill/>
                    </a:lnT>
                    <a:lnB>
                      <a:noFill/>
                    </a:lnB>
                    <a:solidFill>
                      <a:srgbClr val="F96A6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9.26 </a:t>
                      </a:r>
                    </a:p>
                  </a:txBody>
                  <a:tcPr marL="36000" marR="36000" marT="0" marB="0" anchor="ctr">
                    <a:lnL>
                      <a:noFill/>
                    </a:lnL>
                    <a:lnR>
                      <a:noFill/>
                    </a:lnR>
                    <a:lnT>
                      <a:noFill/>
                    </a:lnT>
                    <a:lnB>
                      <a:noFill/>
                    </a:lnB>
                    <a:solidFill>
                      <a:srgbClr val="FB9E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 10.72 </a:t>
                      </a:r>
                    </a:p>
                  </a:txBody>
                  <a:tcPr marL="36000" marR="36000" marT="0" marB="0" anchor="ctr">
                    <a:lnL>
                      <a:noFill/>
                    </a:lnL>
                    <a:lnR>
                      <a:noFill/>
                    </a:lnR>
                    <a:lnT>
                      <a:noFill/>
                    </a:lnT>
                    <a:lnB>
                      <a:noFill/>
                    </a:lnB>
                    <a:solidFill>
                      <a:srgbClr val="FA807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9.20 </a:t>
                      </a:r>
                    </a:p>
                  </a:txBody>
                  <a:tcPr marL="36000" marR="36000" marT="0" marB="0" anchor="ctr">
                    <a:lnL>
                      <a:noFill/>
                    </a:lnL>
                    <a:lnR>
                      <a:noFill/>
                    </a:lnR>
                    <a:lnT>
                      <a:noFill/>
                    </a:lnT>
                    <a:lnB>
                      <a:noFill/>
                    </a:lnB>
                    <a:solidFill>
                      <a:srgbClr val="FB9F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7.38 </a:t>
                      </a:r>
                    </a:p>
                  </a:txBody>
                  <a:tcPr marL="36000" marR="36000" marT="0" marB="0" anchor="ctr">
                    <a:lnL>
                      <a:noFill/>
                    </a:lnL>
                    <a:lnR>
                      <a:noFill/>
                    </a:lnR>
                    <a:lnT>
                      <a:noFill/>
                    </a:lnT>
                    <a:lnB>
                      <a:noFill/>
                    </a:lnB>
                    <a:solidFill>
                      <a:srgbClr val="FDC4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8.17 </a:t>
                      </a:r>
                    </a:p>
                  </a:txBody>
                  <a:tcPr marL="36000" marR="36000" marT="0" marB="0" anchor="ctr">
                    <a:lnL>
                      <a:noFill/>
                    </a:lnL>
                    <a:lnR>
                      <a:noFill/>
                    </a:lnR>
                    <a:lnT>
                      <a:noFill/>
                    </a:lnT>
                    <a:lnB>
                      <a:noFill/>
                    </a:lnB>
                    <a:solidFill>
                      <a:srgbClr val="FCB47A"/>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3.51 </a:t>
                      </a:r>
                    </a:p>
                  </a:txBody>
                  <a:tcPr marL="36000" marR="36000" marT="0" marB="0" anchor="ctr">
                    <a:lnL>
                      <a:noFill/>
                    </a:lnL>
                    <a:lnR>
                      <a:noFill/>
                    </a:lnR>
                    <a:lnT>
                      <a:noFill/>
                    </a:lnT>
                    <a:lnB>
                      <a:noFill/>
                    </a:lnB>
                    <a:solidFill>
                      <a:srgbClr val="97CD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3.83 </a:t>
                      </a:r>
                    </a:p>
                  </a:txBody>
                  <a:tcPr marL="36000" marR="36000" marT="0" marB="0" anchor="ctr">
                    <a:lnL>
                      <a:noFill/>
                    </a:lnL>
                    <a:lnR>
                      <a:noFill/>
                    </a:lnR>
                    <a:lnT>
                      <a:noFill/>
                    </a:lnT>
                    <a:lnB>
                      <a:noFill/>
                    </a:lnB>
                    <a:solidFill>
                      <a:srgbClr val="A9D2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3.14 </a:t>
                      </a:r>
                    </a:p>
                  </a:txBody>
                  <a:tcPr marL="36000" marR="36000" marT="0" marB="0" anchor="ctr">
                    <a:lnL>
                      <a:noFill/>
                    </a:lnL>
                    <a:lnR>
                      <a:noFill/>
                    </a:lnR>
                    <a:lnT>
                      <a:noFill/>
                    </a:lnT>
                    <a:lnB>
                      <a:noFill/>
                    </a:lnB>
                    <a:solidFill>
                      <a:srgbClr val="83C7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3.33 </a:t>
                      </a:r>
                    </a:p>
                  </a:txBody>
                  <a:tcPr marL="36000" marR="36000" marT="0" marB="0" anchor="ctr">
                    <a:lnL>
                      <a:noFill/>
                    </a:lnL>
                    <a:lnR>
                      <a:noFill/>
                    </a:lnR>
                    <a:lnT>
                      <a:noFill/>
                    </a:lnT>
                    <a:lnB>
                      <a:noFill/>
                    </a:lnB>
                    <a:solidFill>
                      <a:srgbClr val="8DCA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5.28 </a:t>
                      </a:r>
                    </a:p>
                  </a:txBody>
                  <a:tcPr marL="36000" marR="36000" marT="0" marB="0" anchor="ctr">
                    <a:lnL>
                      <a:noFill/>
                    </a:lnL>
                    <a:lnR>
                      <a:noFill/>
                    </a:lnR>
                    <a:lnT>
                      <a:noFill/>
                    </a:lnT>
                    <a:lnB>
                      <a:noFill/>
                    </a:lnB>
                    <a:solidFill>
                      <a:srgbClr val="F8E9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6.20 </a:t>
                      </a:r>
                    </a:p>
                  </a:txBody>
                  <a:tcPr marL="36000" marR="36000" marT="0" marB="0" anchor="ctr">
                    <a:lnL>
                      <a:noFill/>
                    </a:lnL>
                    <a:lnR>
                      <a:noFill/>
                    </a:lnR>
                    <a:lnT>
                      <a:noFill/>
                    </a:lnT>
                    <a:lnB>
                      <a:noFill/>
                    </a:lnB>
                    <a:solidFill>
                      <a:srgbClr val="FFDB81"/>
                    </a:solidFill>
                  </a:tcPr>
                </a:tc>
                <a:extLst>
                  <a:ext uri="{0D108BD9-81ED-4DB2-BD59-A6C34878D82A}">
                    <a16:rowId xmlns:a16="http://schemas.microsoft.com/office/drawing/2014/main" val="779894707"/>
                  </a:ext>
                </a:extLst>
              </a:tr>
            </a:tbl>
          </a:graphicData>
        </a:graphic>
      </p:graphicFrame>
      <p:grpSp>
        <p:nvGrpSpPr>
          <p:cNvPr id="17" name="Group 16">
            <a:extLst>
              <a:ext uri="{FF2B5EF4-FFF2-40B4-BE49-F238E27FC236}">
                <a16:creationId xmlns:a16="http://schemas.microsoft.com/office/drawing/2014/main" id="{B28D332E-91AE-6838-1CDD-DDFAB2CC114D}"/>
              </a:ext>
            </a:extLst>
          </p:cNvPr>
          <p:cNvGrpSpPr/>
          <p:nvPr/>
        </p:nvGrpSpPr>
        <p:grpSpPr>
          <a:xfrm>
            <a:off x="1348593" y="6231120"/>
            <a:ext cx="10348107" cy="180012"/>
            <a:chOff x="1105786" y="6275700"/>
            <a:chExt cx="8376208" cy="185319"/>
          </a:xfrm>
        </p:grpSpPr>
        <p:sp>
          <p:nvSpPr>
            <p:cNvPr id="18" name="Rectangle 17">
              <a:extLst>
                <a:ext uri="{FF2B5EF4-FFF2-40B4-BE49-F238E27FC236}">
                  <a16:creationId xmlns:a16="http://schemas.microsoft.com/office/drawing/2014/main" id="{99DFBC89-BAFE-5336-DA19-687CDC005DC8}"/>
                </a:ext>
              </a:extLst>
            </p:cNvPr>
            <p:cNvSpPr/>
            <p:nvPr/>
          </p:nvSpPr>
          <p:spPr bwMode="gray">
            <a:xfrm>
              <a:off x="1813995" y="6281019"/>
              <a:ext cx="5580000" cy="180000"/>
            </a:xfrm>
            <a:prstGeom prst="rect">
              <a:avLst/>
            </a:prstGeom>
            <a:solidFill>
              <a:schemeClr val="accent6">
                <a:lumMod val="60000"/>
                <a:lumOff val="40000"/>
              </a:schemeClr>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1050" b="1">
                  <a:solidFill>
                    <a:schemeClr val="bg1"/>
                  </a:solidFill>
                  <a:latin typeface="+mn-lt"/>
                  <a:cs typeface="+mn-cs"/>
                </a:rPr>
                <a:t>Wet season (May – December)</a:t>
              </a:r>
              <a:endParaRPr kumimoji="1" lang="en-IN" sz="1050" b="1" i="0" u="none" strike="noStrike" kern="1200" cap="none" spc="0" normalizeH="0" baseline="0" noProof="0">
                <a:ln>
                  <a:noFill/>
                </a:ln>
                <a:solidFill>
                  <a:schemeClr val="bg1"/>
                </a:solidFill>
                <a:effectLst/>
                <a:uLnTx/>
                <a:uFillTx/>
                <a:latin typeface="+mn-lt"/>
                <a:ea typeface="+mn-ea"/>
                <a:cs typeface="+mn-cs"/>
              </a:endParaRPr>
            </a:p>
          </p:txBody>
        </p:sp>
        <p:sp>
          <p:nvSpPr>
            <p:cNvPr id="19" name="Rectangle 18">
              <a:extLst>
                <a:ext uri="{FF2B5EF4-FFF2-40B4-BE49-F238E27FC236}">
                  <a16:creationId xmlns:a16="http://schemas.microsoft.com/office/drawing/2014/main" id="{63574305-5881-3593-B811-F35CDBBCB766}"/>
                </a:ext>
              </a:extLst>
            </p:cNvPr>
            <p:cNvSpPr/>
            <p:nvPr/>
          </p:nvSpPr>
          <p:spPr bwMode="gray">
            <a:xfrm>
              <a:off x="1105786" y="6281019"/>
              <a:ext cx="720000" cy="180000"/>
            </a:xfrm>
            <a:prstGeom prst="rect">
              <a:avLst/>
            </a:prstGeom>
            <a:solidFill>
              <a:schemeClr val="tx2"/>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900" b="0" i="0" u="none" strike="noStrike" kern="1200" cap="none" spc="0" normalizeH="0" baseline="0" noProof="0">
                  <a:ln>
                    <a:noFill/>
                  </a:ln>
                  <a:solidFill>
                    <a:schemeClr val="bg1"/>
                  </a:solidFill>
                  <a:effectLst/>
                  <a:uLnTx/>
                  <a:uFillTx/>
                  <a:latin typeface="+mn-lt"/>
                  <a:ea typeface="+mn-ea"/>
                  <a:cs typeface="+mn-cs"/>
                </a:rPr>
                <a:t>Dry season</a:t>
              </a:r>
            </a:p>
          </p:txBody>
        </p:sp>
        <p:sp>
          <p:nvSpPr>
            <p:cNvPr id="20" name="Rectangle 19">
              <a:extLst>
                <a:ext uri="{FF2B5EF4-FFF2-40B4-BE49-F238E27FC236}">
                  <a16:creationId xmlns:a16="http://schemas.microsoft.com/office/drawing/2014/main" id="{A3DD8662-8BE0-C157-5257-BA9FFED6B1C8}"/>
                </a:ext>
              </a:extLst>
            </p:cNvPr>
            <p:cNvSpPr/>
            <p:nvPr/>
          </p:nvSpPr>
          <p:spPr bwMode="gray">
            <a:xfrm>
              <a:off x="7393994" y="6275700"/>
              <a:ext cx="2088000" cy="180000"/>
            </a:xfrm>
            <a:prstGeom prst="rect">
              <a:avLst/>
            </a:prstGeom>
            <a:solidFill>
              <a:schemeClr val="tx2"/>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900" b="1" i="0" u="none" strike="noStrike" kern="1200" cap="none" spc="0" normalizeH="0" baseline="0" noProof="0">
                  <a:ln>
                    <a:noFill/>
                  </a:ln>
                  <a:solidFill>
                    <a:schemeClr val="bg1"/>
                  </a:solidFill>
                  <a:effectLst/>
                  <a:uLnTx/>
                  <a:uFillTx/>
                  <a:latin typeface="+mn-lt"/>
                  <a:ea typeface="+mn-ea"/>
                  <a:cs typeface="+mn-cs"/>
                </a:rPr>
                <a:t>Dry season (January – April)</a:t>
              </a:r>
            </a:p>
          </p:txBody>
        </p:sp>
      </p:grpSp>
    </p:spTree>
    <p:extLst>
      <p:ext uri="{BB962C8B-B14F-4D97-AF65-F5344CB8AC3E}">
        <p14:creationId xmlns:p14="http://schemas.microsoft.com/office/powerpoint/2010/main" val="4057143997"/>
      </p:ext>
    </p:extLst>
  </p:cSld>
  <p:clrMapOvr>
    <a:masterClrMapping/>
  </p:clrMapOvr>
  <p:transition>
    <p:fade/>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423157277"/>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IN" sz="2000" b="1">
                <a:latin typeface="Arial" panose="020B0604020202020204" pitchFamily="34" charset="0"/>
                <a:cs typeface="Arial" panose="020B0604020202020204" pitchFamily="34" charset="0"/>
              </a:rPr>
              <a:t>India short-term market | FY 24 hourly DAM prices on IEX</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Spot prices stayed consistently low during solar hours, driven by record renewable additions boosting supply and lowering market prices</a:t>
            </a:r>
            <a:endParaRPr lang="en-IN" sz="1400">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Sources: </a:t>
            </a:r>
            <a:r>
              <a:rPr kumimoji="0" lang="en-US" sz="1050" u="none" strike="noStrike" kern="0" cap="none" spc="0" normalizeH="0" baseline="0" noProof="0">
                <a:ln>
                  <a:noFill/>
                </a:ln>
                <a:effectLst/>
                <a:uLnTx/>
                <a:uFillTx/>
                <a:latin typeface="Arial" panose="020B0604020202020204" pitchFamily="34" charset="0"/>
                <a:cs typeface="Arial" panose="020B0604020202020204" pitchFamily="34" charset="0"/>
              </a:rPr>
              <a:t>IEX DAM prices data,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2FBE8BF6-0118-05F2-C4D3-60A9C9783D56}"/>
              </a:ext>
            </a:extLst>
          </p:cNvPr>
          <p:cNvSpPr txBox="1"/>
          <p:nvPr/>
        </p:nvSpPr>
        <p:spPr>
          <a:xfrm>
            <a:off x="508188" y="1072024"/>
            <a:ext cx="11269248" cy="461665"/>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marL="0" marR="0" lvl="0" indent="0" defTabSz="914400" eaLnBrk="1" fontAlgn="auto" latinLnBrk="0" hangingPunct="1">
              <a:lnSpc>
                <a:spcPct val="100000"/>
              </a:lnSpc>
              <a:spcBef>
                <a:spcPts val="0"/>
              </a:spcBef>
              <a:buClrTx/>
              <a:buSzTx/>
              <a:buFont typeface="Wingdings 2" pitchFamily="18" charset="2"/>
              <a:buNone/>
              <a:tabLst/>
              <a:defRPr/>
            </a:pPr>
            <a:r>
              <a:rPr kumimoji="0" lang="en-US" sz="1200" b="1" i="0" u="none" strike="noStrike" kern="0" cap="none" spc="0" normalizeH="0" baseline="0" noProof="0">
                <a:ln>
                  <a:noFill/>
                </a:ln>
                <a:solidFill>
                  <a:schemeClr val="tx1"/>
                </a:solidFill>
                <a:effectLst/>
                <a:uLnTx/>
                <a:uFillTx/>
              </a:rPr>
              <a:t>Average monthly day ahead short-term power prices on exchanges across 24 hours</a:t>
            </a:r>
          </a:p>
          <a:p>
            <a:pPr marL="0" marR="0" lvl="0" indent="0" defTabSz="914400" eaLnBrk="1" fontAlgn="auto" latinLnBrk="0" hangingPunct="1">
              <a:lnSpc>
                <a:spcPct val="100000"/>
              </a:lnSpc>
              <a:spcBef>
                <a:spcPts val="0"/>
              </a:spcBef>
              <a:buClrTx/>
              <a:buSzTx/>
              <a:buFont typeface="Wingdings 2" pitchFamily="18" charset="2"/>
              <a:buNone/>
              <a:tabLst/>
              <a:defRPr/>
            </a:pPr>
            <a:r>
              <a:rPr kumimoji="0" lang="en-US" sz="1200" b="0" i="0" u="none" strike="noStrike" kern="0" cap="none" spc="0" normalizeH="0" baseline="0" noProof="0">
                <a:ln>
                  <a:noFill/>
                </a:ln>
                <a:solidFill>
                  <a:schemeClr val="tx1"/>
                </a:solidFill>
                <a:effectLst/>
                <a:uLnTx/>
                <a:uFillTx/>
              </a:rPr>
              <a:t>FY24, INR/kWh</a:t>
            </a:r>
          </a:p>
        </p:txBody>
      </p:sp>
      <p:grpSp>
        <p:nvGrpSpPr>
          <p:cNvPr id="17" name="Group 16">
            <a:extLst>
              <a:ext uri="{FF2B5EF4-FFF2-40B4-BE49-F238E27FC236}">
                <a16:creationId xmlns:a16="http://schemas.microsoft.com/office/drawing/2014/main" id="{B28D332E-91AE-6838-1CDD-DDFAB2CC114D}"/>
              </a:ext>
            </a:extLst>
          </p:cNvPr>
          <p:cNvGrpSpPr/>
          <p:nvPr/>
        </p:nvGrpSpPr>
        <p:grpSpPr>
          <a:xfrm>
            <a:off x="1348593" y="6231120"/>
            <a:ext cx="10348107" cy="180012"/>
            <a:chOff x="1105786" y="6275700"/>
            <a:chExt cx="8376208" cy="185319"/>
          </a:xfrm>
        </p:grpSpPr>
        <p:sp>
          <p:nvSpPr>
            <p:cNvPr id="18" name="Rectangle 17">
              <a:extLst>
                <a:ext uri="{FF2B5EF4-FFF2-40B4-BE49-F238E27FC236}">
                  <a16:creationId xmlns:a16="http://schemas.microsoft.com/office/drawing/2014/main" id="{99DFBC89-BAFE-5336-DA19-687CDC005DC8}"/>
                </a:ext>
              </a:extLst>
            </p:cNvPr>
            <p:cNvSpPr/>
            <p:nvPr/>
          </p:nvSpPr>
          <p:spPr bwMode="gray">
            <a:xfrm>
              <a:off x="1813995" y="6281019"/>
              <a:ext cx="5580000" cy="180000"/>
            </a:xfrm>
            <a:prstGeom prst="rect">
              <a:avLst/>
            </a:prstGeom>
            <a:solidFill>
              <a:schemeClr val="accent6">
                <a:lumMod val="60000"/>
                <a:lumOff val="40000"/>
              </a:schemeClr>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1050" b="1">
                  <a:solidFill>
                    <a:schemeClr val="bg1"/>
                  </a:solidFill>
                  <a:latin typeface="+mn-lt"/>
                  <a:cs typeface="+mn-cs"/>
                </a:rPr>
                <a:t>Wet season (May – December)</a:t>
              </a:r>
              <a:endParaRPr kumimoji="1" lang="en-IN" sz="1050" b="1" i="0" u="none" strike="noStrike" kern="1200" cap="none" spc="0" normalizeH="0" baseline="0" noProof="0">
                <a:ln>
                  <a:noFill/>
                </a:ln>
                <a:solidFill>
                  <a:schemeClr val="bg1"/>
                </a:solidFill>
                <a:effectLst/>
                <a:uLnTx/>
                <a:uFillTx/>
                <a:latin typeface="+mn-lt"/>
                <a:ea typeface="+mn-ea"/>
                <a:cs typeface="+mn-cs"/>
              </a:endParaRPr>
            </a:p>
          </p:txBody>
        </p:sp>
        <p:sp>
          <p:nvSpPr>
            <p:cNvPr id="19" name="Rectangle 18">
              <a:extLst>
                <a:ext uri="{FF2B5EF4-FFF2-40B4-BE49-F238E27FC236}">
                  <a16:creationId xmlns:a16="http://schemas.microsoft.com/office/drawing/2014/main" id="{63574305-5881-3593-B811-F35CDBBCB766}"/>
                </a:ext>
              </a:extLst>
            </p:cNvPr>
            <p:cNvSpPr/>
            <p:nvPr/>
          </p:nvSpPr>
          <p:spPr bwMode="gray">
            <a:xfrm>
              <a:off x="1105786" y="6281019"/>
              <a:ext cx="720000" cy="180000"/>
            </a:xfrm>
            <a:prstGeom prst="rect">
              <a:avLst/>
            </a:prstGeom>
            <a:solidFill>
              <a:schemeClr val="tx2"/>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900" b="0" i="0" u="none" strike="noStrike" kern="1200" cap="none" spc="0" normalizeH="0" baseline="0" noProof="0">
                  <a:ln>
                    <a:noFill/>
                  </a:ln>
                  <a:solidFill>
                    <a:schemeClr val="bg1"/>
                  </a:solidFill>
                  <a:effectLst/>
                  <a:uLnTx/>
                  <a:uFillTx/>
                  <a:latin typeface="+mn-lt"/>
                  <a:ea typeface="+mn-ea"/>
                  <a:cs typeface="+mn-cs"/>
                </a:rPr>
                <a:t>Dry season</a:t>
              </a:r>
            </a:p>
          </p:txBody>
        </p:sp>
        <p:sp>
          <p:nvSpPr>
            <p:cNvPr id="20" name="Rectangle 19">
              <a:extLst>
                <a:ext uri="{FF2B5EF4-FFF2-40B4-BE49-F238E27FC236}">
                  <a16:creationId xmlns:a16="http://schemas.microsoft.com/office/drawing/2014/main" id="{A3DD8662-8BE0-C157-5257-BA9FFED6B1C8}"/>
                </a:ext>
              </a:extLst>
            </p:cNvPr>
            <p:cNvSpPr/>
            <p:nvPr/>
          </p:nvSpPr>
          <p:spPr bwMode="gray">
            <a:xfrm>
              <a:off x="7393994" y="6275700"/>
              <a:ext cx="2088000" cy="180000"/>
            </a:xfrm>
            <a:prstGeom prst="rect">
              <a:avLst/>
            </a:prstGeom>
            <a:solidFill>
              <a:schemeClr val="tx2"/>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900" b="1" i="0" u="none" strike="noStrike" kern="1200" cap="none" spc="0" normalizeH="0" baseline="0" noProof="0">
                  <a:ln>
                    <a:noFill/>
                  </a:ln>
                  <a:solidFill>
                    <a:schemeClr val="bg1"/>
                  </a:solidFill>
                  <a:effectLst/>
                  <a:uLnTx/>
                  <a:uFillTx/>
                  <a:latin typeface="+mn-lt"/>
                  <a:ea typeface="+mn-ea"/>
                  <a:cs typeface="+mn-cs"/>
                </a:rPr>
                <a:t>Dry season (January – April)</a:t>
              </a:r>
            </a:p>
          </p:txBody>
        </p:sp>
      </p:grpSp>
      <p:graphicFrame>
        <p:nvGraphicFramePr>
          <p:cNvPr id="5" name="Table 4">
            <a:extLst>
              <a:ext uri="{FF2B5EF4-FFF2-40B4-BE49-F238E27FC236}">
                <a16:creationId xmlns:a16="http://schemas.microsoft.com/office/drawing/2014/main" id="{6AA321BE-741A-C8C5-3E50-E6CD431CB3CE}"/>
              </a:ext>
            </a:extLst>
          </p:cNvPr>
          <p:cNvGraphicFramePr>
            <a:graphicFrameLocks noGrp="1"/>
          </p:cNvGraphicFramePr>
          <p:nvPr>
            <p:extLst>
              <p:ext uri="{D42A27DB-BD31-4B8C-83A1-F6EECF244321}">
                <p14:modId xmlns:p14="http://schemas.microsoft.com/office/powerpoint/2010/main" val="3004028505"/>
              </p:ext>
            </p:extLst>
          </p:nvPr>
        </p:nvGraphicFramePr>
        <p:xfrm>
          <a:off x="508188" y="1531596"/>
          <a:ext cx="11181820" cy="4572000"/>
        </p:xfrm>
        <a:graphic>
          <a:graphicData uri="http://schemas.openxmlformats.org/drawingml/2006/table">
            <a:tbl>
              <a:tblPr/>
              <a:tblGrid>
                <a:gridCol w="860140">
                  <a:extLst>
                    <a:ext uri="{9D8B030D-6E8A-4147-A177-3AD203B41FA5}">
                      <a16:colId xmlns:a16="http://schemas.microsoft.com/office/drawing/2014/main" val="3811877448"/>
                    </a:ext>
                  </a:extLst>
                </a:gridCol>
                <a:gridCol w="860140">
                  <a:extLst>
                    <a:ext uri="{9D8B030D-6E8A-4147-A177-3AD203B41FA5}">
                      <a16:colId xmlns:a16="http://schemas.microsoft.com/office/drawing/2014/main" val="1206138602"/>
                    </a:ext>
                  </a:extLst>
                </a:gridCol>
                <a:gridCol w="860140">
                  <a:extLst>
                    <a:ext uri="{9D8B030D-6E8A-4147-A177-3AD203B41FA5}">
                      <a16:colId xmlns:a16="http://schemas.microsoft.com/office/drawing/2014/main" val="2081900668"/>
                    </a:ext>
                  </a:extLst>
                </a:gridCol>
                <a:gridCol w="860140">
                  <a:extLst>
                    <a:ext uri="{9D8B030D-6E8A-4147-A177-3AD203B41FA5}">
                      <a16:colId xmlns:a16="http://schemas.microsoft.com/office/drawing/2014/main" val="1530928709"/>
                    </a:ext>
                  </a:extLst>
                </a:gridCol>
                <a:gridCol w="860140">
                  <a:extLst>
                    <a:ext uri="{9D8B030D-6E8A-4147-A177-3AD203B41FA5}">
                      <a16:colId xmlns:a16="http://schemas.microsoft.com/office/drawing/2014/main" val="94793996"/>
                    </a:ext>
                  </a:extLst>
                </a:gridCol>
                <a:gridCol w="860140">
                  <a:extLst>
                    <a:ext uri="{9D8B030D-6E8A-4147-A177-3AD203B41FA5}">
                      <a16:colId xmlns:a16="http://schemas.microsoft.com/office/drawing/2014/main" val="1298799393"/>
                    </a:ext>
                  </a:extLst>
                </a:gridCol>
                <a:gridCol w="860140">
                  <a:extLst>
                    <a:ext uri="{9D8B030D-6E8A-4147-A177-3AD203B41FA5}">
                      <a16:colId xmlns:a16="http://schemas.microsoft.com/office/drawing/2014/main" val="3455747750"/>
                    </a:ext>
                  </a:extLst>
                </a:gridCol>
                <a:gridCol w="860140">
                  <a:extLst>
                    <a:ext uri="{9D8B030D-6E8A-4147-A177-3AD203B41FA5}">
                      <a16:colId xmlns:a16="http://schemas.microsoft.com/office/drawing/2014/main" val="1182498519"/>
                    </a:ext>
                  </a:extLst>
                </a:gridCol>
                <a:gridCol w="860140">
                  <a:extLst>
                    <a:ext uri="{9D8B030D-6E8A-4147-A177-3AD203B41FA5}">
                      <a16:colId xmlns:a16="http://schemas.microsoft.com/office/drawing/2014/main" val="2877885560"/>
                    </a:ext>
                  </a:extLst>
                </a:gridCol>
                <a:gridCol w="860140">
                  <a:extLst>
                    <a:ext uri="{9D8B030D-6E8A-4147-A177-3AD203B41FA5}">
                      <a16:colId xmlns:a16="http://schemas.microsoft.com/office/drawing/2014/main" val="91301604"/>
                    </a:ext>
                  </a:extLst>
                </a:gridCol>
                <a:gridCol w="860140">
                  <a:extLst>
                    <a:ext uri="{9D8B030D-6E8A-4147-A177-3AD203B41FA5}">
                      <a16:colId xmlns:a16="http://schemas.microsoft.com/office/drawing/2014/main" val="2962636968"/>
                    </a:ext>
                  </a:extLst>
                </a:gridCol>
                <a:gridCol w="860140">
                  <a:extLst>
                    <a:ext uri="{9D8B030D-6E8A-4147-A177-3AD203B41FA5}">
                      <a16:colId xmlns:a16="http://schemas.microsoft.com/office/drawing/2014/main" val="999486621"/>
                    </a:ext>
                  </a:extLst>
                </a:gridCol>
                <a:gridCol w="860140">
                  <a:extLst>
                    <a:ext uri="{9D8B030D-6E8A-4147-A177-3AD203B41FA5}">
                      <a16:colId xmlns:a16="http://schemas.microsoft.com/office/drawing/2014/main" val="2757177300"/>
                    </a:ext>
                  </a:extLst>
                </a:gridCol>
              </a:tblGrid>
              <a:tr h="182880">
                <a:tc>
                  <a:txBody>
                    <a:bodyPr/>
                    <a:lstStyle/>
                    <a:p>
                      <a:pPr algn="ctr" fontAlgn="ctr"/>
                      <a:r>
                        <a:rPr lang="en-IN" sz="1200" b="1" i="0" u="none" strike="noStrike">
                          <a:solidFill>
                            <a:srgbClr val="FFFFFF"/>
                          </a:solidFill>
                          <a:effectLst/>
                          <a:latin typeface="Arial" panose="020B0604020202020204" pitchFamily="34" charset="0"/>
                          <a:cs typeface="Arial" panose="020B0604020202020204" pitchFamily="34" charset="0"/>
                        </a:rPr>
                        <a:t>Hour</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Apr-23</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May-23</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Jun-23</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Jul-23</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Aug-23</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Sep-23</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Oct-23</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Nov-23</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Dec-23</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Jan-24</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Feb-24</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Mar-24</a:t>
                      </a:r>
                    </a:p>
                  </a:txBody>
                  <a:tcPr marL="36000" marR="36000" marT="0" marB="0" anchor="ctr">
                    <a:lnL>
                      <a:noFill/>
                    </a:lnL>
                    <a:lnR>
                      <a:noFill/>
                    </a:lnR>
                    <a:lnT>
                      <a:noFill/>
                    </a:lnT>
                    <a:lnB>
                      <a:noFill/>
                    </a:lnB>
                    <a:solidFill>
                      <a:srgbClr val="000000"/>
                    </a:solidFill>
                  </a:tcPr>
                </a:tc>
                <a:extLst>
                  <a:ext uri="{0D108BD9-81ED-4DB2-BD59-A6C34878D82A}">
                    <a16:rowId xmlns:a16="http://schemas.microsoft.com/office/drawing/2014/main" val="308826864"/>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7.48 </a:t>
                      </a:r>
                    </a:p>
                  </a:txBody>
                  <a:tcPr marL="36000" marR="36000" marT="0" marB="0" anchor="ctr">
                    <a:lnL>
                      <a:noFill/>
                    </a:lnL>
                    <a:lnR>
                      <a:noFill/>
                    </a:lnR>
                    <a:lnT>
                      <a:noFill/>
                    </a:lnT>
                    <a:lnB>
                      <a:noFill/>
                    </a:lnB>
                    <a:solidFill>
                      <a:srgbClr val="FCA5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7.85 </a:t>
                      </a:r>
                    </a:p>
                  </a:txBody>
                  <a:tcPr marL="36000" marR="36000" marT="0" marB="0" anchor="ctr">
                    <a:lnL>
                      <a:noFill/>
                    </a:lnL>
                    <a:lnR>
                      <a:noFill/>
                    </a:lnR>
                    <a:lnT>
                      <a:noFill/>
                    </a:lnT>
                    <a:lnB>
                      <a:noFill/>
                    </a:lnB>
                    <a:solidFill>
                      <a:srgbClr val="FB9C7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8.97 </a:t>
                      </a:r>
                    </a:p>
                  </a:txBody>
                  <a:tcPr marL="36000" marR="36000" marT="0" marB="0" anchor="ctr">
                    <a:lnL>
                      <a:noFill/>
                    </a:lnL>
                    <a:lnR>
                      <a:noFill/>
                    </a:lnR>
                    <a:lnT>
                      <a:noFill/>
                    </a:lnT>
                    <a:lnB>
                      <a:noFill/>
                    </a:lnB>
                    <a:solidFill>
                      <a:srgbClr val="FA817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6.73 </a:t>
                      </a:r>
                    </a:p>
                  </a:txBody>
                  <a:tcPr marL="36000" marR="36000" marT="0" marB="0" anchor="ctr">
                    <a:lnL>
                      <a:noFill/>
                    </a:lnL>
                    <a:lnR>
                      <a:noFill/>
                    </a:lnR>
                    <a:lnT>
                      <a:noFill/>
                    </a:lnT>
                    <a:lnB>
                      <a:noFill/>
                    </a:lnB>
                    <a:solidFill>
                      <a:srgbClr val="FDB67A"/>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8.40 </a:t>
                      </a:r>
                    </a:p>
                  </a:txBody>
                  <a:tcPr marL="36000" marR="36000" marT="0" marB="0" anchor="ctr">
                    <a:lnL>
                      <a:noFill/>
                    </a:lnL>
                    <a:lnR>
                      <a:noFill/>
                    </a:lnR>
                    <a:lnT>
                      <a:noFill/>
                    </a:lnT>
                    <a:lnB>
                      <a:noFill/>
                    </a:lnB>
                    <a:solidFill>
                      <a:srgbClr val="FB8F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7.17 </a:t>
                      </a:r>
                    </a:p>
                  </a:txBody>
                  <a:tcPr marL="36000" marR="36000" marT="0" marB="0" anchor="ctr">
                    <a:lnL>
                      <a:noFill/>
                    </a:lnL>
                    <a:lnR>
                      <a:noFill/>
                    </a:lnR>
                    <a:lnT>
                      <a:noFill/>
                    </a:lnT>
                    <a:lnB>
                      <a:noFill/>
                    </a:lnB>
                    <a:solidFill>
                      <a:srgbClr val="FCAC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7.04 </a:t>
                      </a:r>
                    </a:p>
                  </a:txBody>
                  <a:tcPr marL="36000" marR="36000" marT="0" marB="0" anchor="ctr">
                    <a:lnL>
                      <a:noFill/>
                    </a:lnL>
                    <a:lnR>
                      <a:noFill/>
                    </a:lnR>
                    <a:lnT>
                      <a:noFill/>
                    </a:lnT>
                    <a:lnB>
                      <a:noFill/>
                    </a:lnB>
                    <a:solidFill>
                      <a:srgbClr val="FCAF7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3.39 </a:t>
                      </a:r>
                    </a:p>
                  </a:txBody>
                  <a:tcPr marL="36000" marR="36000" marT="0" marB="0" anchor="ctr">
                    <a:lnL>
                      <a:noFill/>
                    </a:lnL>
                    <a:lnR>
                      <a:noFill/>
                    </a:lnR>
                    <a:lnT>
                      <a:noFill/>
                    </a:lnT>
                    <a:lnB>
                      <a:noFill/>
                    </a:lnB>
                    <a:solidFill>
                      <a:srgbClr val="A5D1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2.94 </a:t>
                      </a:r>
                    </a:p>
                  </a:txBody>
                  <a:tcPr marL="36000" marR="36000" marT="0" marB="0" anchor="ctr">
                    <a:lnL>
                      <a:noFill/>
                    </a:lnL>
                    <a:lnR>
                      <a:noFill/>
                    </a:lnR>
                    <a:lnT>
                      <a:noFill/>
                    </a:lnT>
                    <a:lnB>
                      <a:noFill/>
                    </a:lnB>
                    <a:solidFill>
                      <a:srgbClr val="80C6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3.04 </a:t>
                      </a:r>
                    </a:p>
                  </a:txBody>
                  <a:tcPr marL="36000" marR="36000" marT="0" marB="0" anchor="ctr">
                    <a:lnL>
                      <a:noFill/>
                    </a:lnL>
                    <a:lnR>
                      <a:noFill/>
                    </a:lnR>
                    <a:lnT>
                      <a:noFill/>
                    </a:lnT>
                    <a:lnB>
                      <a:noFill/>
                    </a:lnB>
                    <a:solidFill>
                      <a:srgbClr val="88C8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3.25 </a:t>
                      </a:r>
                    </a:p>
                  </a:txBody>
                  <a:tcPr marL="36000" marR="36000" marT="0" marB="0" anchor="ctr">
                    <a:lnL>
                      <a:noFill/>
                    </a:lnL>
                    <a:lnR>
                      <a:noFill/>
                    </a:lnR>
                    <a:lnT>
                      <a:noFill/>
                    </a:lnT>
                    <a:lnB>
                      <a:noFill/>
                    </a:lnB>
                    <a:solidFill>
                      <a:srgbClr val="99CD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4.33 </a:t>
                      </a:r>
                    </a:p>
                  </a:txBody>
                  <a:tcPr marL="36000" marR="36000" marT="0" marB="0" anchor="ctr">
                    <a:lnL>
                      <a:noFill/>
                    </a:lnL>
                    <a:lnR>
                      <a:noFill/>
                    </a:lnR>
                    <a:lnT>
                      <a:noFill/>
                    </a:lnT>
                    <a:lnB>
                      <a:noFill/>
                    </a:lnB>
                    <a:solidFill>
                      <a:srgbClr val="F1E683"/>
                    </a:solidFill>
                  </a:tcPr>
                </a:tc>
                <a:extLst>
                  <a:ext uri="{0D108BD9-81ED-4DB2-BD59-A6C34878D82A}">
                    <a16:rowId xmlns:a16="http://schemas.microsoft.com/office/drawing/2014/main" val="2522989499"/>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7.13 </a:t>
                      </a:r>
                    </a:p>
                  </a:txBody>
                  <a:tcPr marL="36000" marR="36000" marT="0" marB="0" anchor="ctr">
                    <a:lnL>
                      <a:noFill/>
                    </a:lnL>
                    <a:lnR>
                      <a:noFill/>
                    </a:lnR>
                    <a:lnT>
                      <a:noFill/>
                    </a:lnT>
                    <a:lnB>
                      <a:noFill/>
                    </a:lnB>
                    <a:solidFill>
                      <a:srgbClr val="FCAD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6.62 </a:t>
                      </a:r>
                    </a:p>
                  </a:txBody>
                  <a:tcPr marL="36000" marR="36000" marT="0" marB="0" anchor="ctr">
                    <a:lnL>
                      <a:noFill/>
                    </a:lnL>
                    <a:lnR>
                      <a:noFill/>
                    </a:lnR>
                    <a:lnT>
                      <a:noFill/>
                    </a:lnT>
                    <a:lnB>
                      <a:noFill/>
                    </a:lnB>
                    <a:solidFill>
                      <a:srgbClr val="FDB9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8.14 </a:t>
                      </a:r>
                    </a:p>
                  </a:txBody>
                  <a:tcPr marL="36000" marR="36000" marT="0" marB="0" anchor="ctr">
                    <a:lnL>
                      <a:noFill/>
                    </a:lnL>
                    <a:lnR>
                      <a:noFill/>
                    </a:lnR>
                    <a:lnT>
                      <a:noFill/>
                    </a:lnT>
                    <a:lnB>
                      <a:noFill/>
                    </a:lnB>
                    <a:solidFill>
                      <a:srgbClr val="FB957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5.07 </a:t>
                      </a:r>
                    </a:p>
                  </a:txBody>
                  <a:tcPr marL="36000" marR="36000" marT="0" marB="0" anchor="ctr">
                    <a:lnL>
                      <a:noFill/>
                    </a:lnL>
                    <a:lnR>
                      <a:noFill/>
                    </a:lnR>
                    <a:lnT>
                      <a:noFill/>
                    </a:lnT>
                    <a:lnB>
                      <a:noFill/>
                    </a:lnB>
                    <a:solidFill>
                      <a:srgbClr val="FFDE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7.84 </a:t>
                      </a:r>
                    </a:p>
                  </a:txBody>
                  <a:tcPr marL="36000" marR="36000" marT="0" marB="0" anchor="ctr">
                    <a:lnL>
                      <a:noFill/>
                    </a:lnL>
                    <a:lnR>
                      <a:noFill/>
                    </a:lnR>
                    <a:lnT>
                      <a:noFill/>
                    </a:lnT>
                    <a:lnB>
                      <a:noFill/>
                    </a:lnB>
                    <a:solidFill>
                      <a:srgbClr val="FB9C7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6.45 </a:t>
                      </a:r>
                    </a:p>
                  </a:txBody>
                  <a:tcPr marL="36000" marR="36000" marT="0" marB="0" anchor="ctr">
                    <a:lnL>
                      <a:noFill/>
                    </a:lnL>
                    <a:lnR>
                      <a:noFill/>
                    </a:lnR>
                    <a:lnT>
                      <a:noFill/>
                    </a:lnT>
                    <a:lnB>
                      <a:noFill/>
                    </a:lnB>
                    <a:solidFill>
                      <a:srgbClr val="FDBD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6.79 </a:t>
                      </a:r>
                    </a:p>
                  </a:txBody>
                  <a:tcPr marL="36000" marR="36000" marT="0" marB="0" anchor="ctr">
                    <a:lnL>
                      <a:noFill/>
                    </a:lnL>
                    <a:lnR>
                      <a:noFill/>
                    </a:lnR>
                    <a:lnT>
                      <a:noFill/>
                    </a:lnT>
                    <a:lnB>
                      <a:noFill/>
                    </a:lnB>
                    <a:solidFill>
                      <a:srgbClr val="FDB57A"/>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3.19 </a:t>
                      </a:r>
                    </a:p>
                  </a:txBody>
                  <a:tcPr marL="36000" marR="36000" marT="0" marB="0" anchor="ctr">
                    <a:lnL>
                      <a:noFill/>
                    </a:lnL>
                    <a:lnR>
                      <a:noFill/>
                    </a:lnR>
                    <a:lnT>
                      <a:noFill/>
                    </a:lnT>
                    <a:lnB>
                      <a:noFill/>
                    </a:lnB>
                    <a:solidFill>
                      <a:srgbClr val="95CC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2.81 </a:t>
                      </a:r>
                    </a:p>
                  </a:txBody>
                  <a:tcPr marL="36000" marR="36000" marT="0" marB="0" anchor="ctr">
                    <a:lnL>
                      <a:noFill/>
                    </a:lnL>
                    <a:lnR>
                      <a:noFill/>
                    </a:lnR>
                    <a:lnT>
                      <a:noFill/>
                    </a:lnT>
                    <a:lnB>
                      <a:noFill/>
                    </a:lnB>
                    <a:solidFill>
                      <a:srgbClr val="76C3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2.80 </a:t>
                      </a:r>
                    </a:p>
                  </a:txBody>
                  <a:tcPr marL="36000" marR="36000" marT="0" marB="0" anchor="ctr">
                    <a:lnL>
                      <a:noFill/>
                    </a:lnL>
                    <a:lnR>
                      <a:noFill/>
                    </a:lnR>
                    <a:lnT>
                      <a:noFill/>
                    </a:lnT>
                    <a:lnB>
                      <a:noFill/>
                    </a:lnB>
                    <a:solidFill>
                      <a:srgbClr val="75C3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3.09 </a:t>
                      </a:r>
                    </a:p>
                  </a:txBody>
                  <a:tcPr marL="36000" marR="36000" marT="0" marB="0" anchor="ctr">
                    <a:lnL>
                      <a:noFill/>
                    </a:lnL>
                    <a:lnR>
                      <a:noFill/>
                    </a:lnR>
                    <a:lnT>
                      <a:noFill/>
                    </a:lnT>
                    <a:lnB>
                      <a:noFill/>
                    </a:lnB>
                    <a:solidFill>
                      <a:srgbClr val="8CCA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3.71 </a:t>
                      </a:r>
                    </a:p>
                  </a:txBody>
                  <a:tcPr marL="36000" marR="36000" marT="0" marB="0" anchor="ctr">
                    <a:lnL>
                      <a:noFill/>
                    </a:lnL>
                    <a:lnR>
                      <a:noFill/>
                    </a:lnR>
                    <a:lnT>
                      <a:noFill/>
                    </a:lnT>
                    <a:lnB>
                      <a:noFill/>
                    </a:lnB>
                    <a:solidFill>
                      <a:srgbClr val="BFD880"/>
                    </a:solidFill>
                  </a:tcPr>
                </a:tc>
                <a:extLst>
                  <a:ext uri="{0D108BD9-81ED-4DB2-BD59-A6C34878D82A}">
                    <a16:rowId xmlns:a16="http://schemas.microsoft.com/office/drawing/2014/main" val="1350882183"/>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3</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6.73 </a:t>
                      </a:r>
                    </a:p>
                  </a:txBody>
                  <a:tcPr marL="36000" marR="36000" marT="0" marB="0" anchor="ctr">
                    <a:lnL>
                      <a:noFill/>
                    </a:lnL>
                    <a:lnR>
                      <a:noFill/>
                    </a:lnR>
                    <a:lnT>
                      <a:noFill/>
                    </a:lnT>
                    <a:lnB>
                      <a:noFill/>
                    </a:lnB>
                    <a:solidFill>
                      <a:srgbClr val="FDB77A"/>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5.23 </a:t>
                      </a:r>
                    </a:p>
                  </a:txBody>
                  <a:tcPr marL="36000" marR="36000" marT="0" marB="0" anchor="ctr">
                    <a:lnL>
                      <a:noFill/>
                    </a:lnL>
                    <a:lnR>
                      <a:noFill/>
                    </a:lnR>
                    <a:lnT>
                      <a:noFill/>
                    </a:lnT>
                    <a:lnB>
                      <a:noFill/>
                    </a:lnB>
                    <a:solidFill>
                      <a:srgbClr val="FFDA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6.77 </a:t>
                      </a:r>
                    </a:p>
                  </a:txBody>
                  <a:tcPr marL="36000" marR="36000" marT="0" marB="0" anchor="ctr">
                    <a:lnL>
                      <a:noFill/>
                    </a:lnL>
                    <a:lnR>
                      <a:noFill/>
                    </a:lnR>
                    <a:lnT>
                      <a:noFill/>
                    </a:lnT>
                    <a:lnB>
                      <a:noFill/>
                    </a:lnB>
                    <a:solidFill>
                      <a:srgbClr val="FDB57A"/>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4.04 </a:t>
                      </a:r>
                    </a:p>
                  </a:txBody>
                  <a:tcPr marL="36000" marR="36000" marT="0" marB="0" anchor="ctr">
                    <a:lnL>
                      <a:noFill/>
                    </a:lnL>
                    <a:lnR>
                      <a:noFill/>
                    </a:lnR>
                    <a:lnT>
                      <a:noFill/>
                    </a:lnT>
                    <a:lnB>
                      <a:noFill/>
                    </a:lnB>
                    <a:solidFill>
                      <a:srgbClr val="D9E0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7.32 </a:t>
                      </a:r>
                    </a:p>
                  </a:txBody>
                  <a:tcPr marL="36000" marR="36000" marT="0" marB="0" anchor="ctr">
                    <a:lnL>
                      <a:noFill/>
                    </a:lnL>
                    <a:lnR>
                      <a:noFill/>
                    </a:lnR>
                    <a:lnT>
                      <a:noFill/>
                    </a:lnT>
                    <a:lnB>
                      <a:noFill/>
                    </a:lnB>
                    <a:solidFill>
                      <a:srgbClr val="FCA8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5.64 </a:t>
                      </a:r>
                    </a:p>
                  </a:txBody>
                  <a:tcPr marL="36000" marR="36000" marT="0" marB="0" anchor="ctr">
                    <a:lnL>
                      <a:noFill/>
                    </a:lnL>
                    <a:lnR>
                      <a:noFill/>
                    </a:lnR>
                    <a:lnT>
                      <a:noFill/>
                    </a:lnT>
                    <a:lnB>
                      <a:noFill/>
                    </a:lnB>
                    <a:solidFill>
                      <a:srgbClr val="FED0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6.54 </a:t>
                      </a:r>
                    </a:p>
                  </a:txBody>
                  <a:tcPr marL="36000" marR="36000" marT="0" marB="0" anchor="ctr">
                    <a:lnL>
                      <a:noFill/>
                    </a:lnL>
                    <a:lnR>
                      <a:noFill/>
                    </a:lnR>
                    <a:lnT>
                      <a:noFill/>
                    </a:lnT>
                    <a:lnB>
                      <a:noFill/>
                    </a:lnB>
                    <a:solidFill>
                      <a:srgbClr val="FDBB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3.05 </a:t>
                      </a:r>
                    </a:p>
                  </a:txBody>
                  <a:tcPr marL="36000" marR="36000" marT="0" marB="0" anchor="ctr">
                    <a:lnL>
                      <a:noFill/>
                    </a:lnL>
                    <a:lnR>
                      <a:noFill/>
                    </a:lnR>
                    <a:lnT>
                      <a:noFill/>
                    </a:lnT>
                    <a:lnB>
                      <a:noFill/>
                    </a:lnB>
                    <a:solidFill>
                      <a:srgbClr val="89C9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2.71 </a:t>
                      </a:r>
                    </a:p>
                  </a:txBody>
                  <a:tcPr marL="36000" marR="36000" marT="0" marB="0" anchor="ctr">
                    <a:lnL>
                      <a:noFill/>
                    </a:lnL>
                    <a:lnR>
                      <a:noFill/>
                    </a:lnR>
                    <a:lnT>
                      <a:noFill/>
                    </a:lnT>
                    <a:lnB>
                      <a:noFill/>
                    </a:lnB>
                    <a:solidFill>
                      <a:srgbClr val="6EC1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2.62 </a:t>
                      </a:r>
                    </a:p>
                  </a:txBody>
                  <a:tcPr marL="36000" marR="36000" marT="0" marB="0" anchor="ctr">
                    <a:lnL>
                      <a:noFill/>
                    </a:lnL>
                    <a:lnR>
                      <a:noFill/>
                    </a:lnR>
                    <a:lnT>
                      <a:noFill/>
                    </a:lnT>
                    <a:lnB>
                      <a:noFill/>
                    </a:lnB>
                    <a:solidFill>
                      <a:srgbClr val="67BF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2.96 </a:t>
                      </a:r>
                    </a:p>
                  </a:txBody>
                  <a:tcPr marL="36000" marR="36000" marT="0" marB="0" anchor="ctr">
                    <a:lnL>
                      <a:noFill/>
                    </a:lnL>
                    <a:lnR>
                      <a:noFill/>
                    </a:lnR>
                    <a:lnT>
                      <a:noFill/>
                    </a:lnT>
                    <a:lnB>
                      <a:noFill/>
                    </a:lnB>
                    <a:solidFill>
                      <a:srgbClr val="82C7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3.47 </a:t>
                      </a:r>
                    </a:p>
                  </a:txBody>
                  <a:tcPr marL="36000" marR="36000" marT="0" marB="0" anchor="ctr">
                    <a:lnL>
                      <a:noFill/>
                    </a:lnL>
                    <a:lnR>
                      <a:noFill/>
                    </a:lnR>
                    <a:lnT>
                      <a:noFill/>
                    </a:lnT>
                    <a:lnB>
                      <a:noFill/>
                    </a:lnB>
                    <a:solidFill>
                      <a:srgbClr val="ABD27F"/>
                    </a:solidFill>
                  </a:tcPr>
                </a:tc>
                <a:extLst>
                  <a:ext uri="{0D108BD9-81ED-4DB2-BD59-A6C34878D82A}">
                    <a16:rowId xmlns:a16="http://schemas.microsoft.com/office/drawing/2014/main" val="1167660974"/>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4</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6.39 </a:t>
                      </a:r>
                    </a:p>
                  </a:txBody>
                  <a:tcPr marL="36000" marR="36000" marT="0" marB="0" anchor="ctr">
                    <a:lnL>
                      <a:noFill/>
                    </a:lnL>
                    <a:lnR>
                      <a:noFill/>
                    </a:lnR>
                    <a:lnT>
                      <a:noFill/>
                    </a:lnT>
                    <a:lnB>
                      <a:noFill/>
                    </a:lnB>
                    <a:solidFill>
                      <a:srgbClr val="FDBF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4.47 </a:t>
                      </a:r>
                    </a:p>
                  </a:txBody>
                  <a:tcPr marL="36000" marR="36000" marT="0" marB="0" anchor="ctr">
                    <a:lnL>
                      <a:noFill/>
                    </a:lnL>
                    <a:lnR>
                      <a:noFill/>
                    </a:lnR>
                    <a:lnT>
                      <a:noFill/>
                    </a:lnT>
                    <a:lnB>
                      <a:noFill/>
                    </a:lnB>
                    <a:solidFill>
                      <a:srgbClr val="FBEA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5.32 </a:t>
                      </a:r>
                    </a:p>
                  </a:txBody>
                  <a:tcPr marL="36000" marR="36000" marT="0" marB="0" anchor="ctr">
                    <a:lnL>
                      <a:noFill/>
                    </a:lnL>
                    <a:lnR>
                      <a:noFill/>
                    </a:lnR>
                    <a:lnT>
                      <a:noFill/>
                    </a:lnT>
                    <a:lnB>
                      <a:noFill/>
                    </a:lnB>
                    <a:solidFill>
                      <a:srgbClr val="FED8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3.64 </a:t>
                      </a:r>
                    </a:p>
                  </a:txBody>
                  <a:tcPr marL="36000" marR="36000" marT="0" marB="0" anchor="ctr">
                    <a:lnL>
                      <a:noFill/>
                    </a:lnL>
                    <a:lnR>
                      <a:noFill/>
                    </a:lnR>
                    <a:lnT>
                      <a:noFill/>
                    </a:lnT>
                    <a:lnB>
                      <a:noFill/>
                    </a:lnB>
                    <a:solidFill>
                      <a:srgbClr val="B8D6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6.57 </a:t>
                      </a:r>
                    </a:p>
                  </a:txBody>
                  <a:tcPr marL="36000" marR="36000" marT="0" marB="0" anchor="ctr">
                    <a:lnL>
                      <a:noFill/>
                    </a:lnL>
                    <a:lnR>
                      <a:noFill/>
                    </a:lnR>
                    <a:lnT>
                      <a:noFill/>
                    </a:lnT>
                    <a:lnB>
                      <a:noFill/>
                    </a:lnB>
                    <a:solidFill>
                      <a:srgbClr val="FDBA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5.18 </a:t>
                      </a:r>
                    </a:p>
                  </a:txBody>
                  <a:tcPr marL="36000" marR="36000" marT="0" marB="0" anchor="ctr">
                    <a:lnL>
                      <a:noFill/>
                    </a:lnL>
                    <a:lnR>
                      <a:noFill/>
                    </a:lnR>
                    <a:lnT>
                      <a:noFill/>
                    </a:lnT>
                    <a:lnB>
                      <a:noFill/>
                    </a:lnB>
                    <a:solidFill>
                      <a:srgbClr val="FFDB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6.13 </a:t>
                      </a:r>
                    </a:p>
                  </a:txBody>
                  <a:tcPr marL="36000" marR="36000" marT="0" marB="0" anchor="ctr">
                    <a:lnL>
                      <a:noFill/>
                    </a:lnL>
                    <a:lnR>
                      <a:noFill/>
                    </a:lnR>
                    <a:lnT>
                      <a:noFill/>
                    </a:lnT>
                    <a:lnB>
                      <a:noFill/>
                    </a:lnB>
                    <a:solidFill>
                      <a:srgbClr val="FDC5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2.95 </a:t>
                      </a:r>
                    </a:p>
                  </a:txBody>
                  <a:tcPr marL="36000" marR="36000" marT="0" marB="0" anchor="ctr">
                    <a:lnL>
                      <a:noFill/>
                    </a:lnL>
                    <a:lnR>
                      <a:noFill/>
                    </a:lnR>
                    <a:lnT>
                      <a:noFill/>
                    </a:lnT>
                    <a:lnB>
                      <a:noFill/>
                    </a:lnB>
                    <a:solidFill>
                      <a:srgbClr val="81C6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2.65 </a:t>
                      </a:r>
                    </a:p>
                  </a:txBody>
                  <a:tcPr marL="36000" marR="36000" marT="0" marB="0" anchor="ctr">
                    <a:lnL>
                      <a:noFill/>
                    </a:lnL>
                    <a:lnR>
                      <a:noFill/>
                    </a:lnR>
                    <a:lnT>
                      <a:noFill/>
                    </a:lnT>
                    <a:lnB>
                      <a:noFill/>
                    </a:lnB>
                    <a:solidFill>
                      <a:srgbClr val="69BF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2.57 </a:t>
                      </a:r>
                    </a:p>
                  </a:txBody>
                  <a:tcPr marL="36000" marR="36000" marT="0" marB="0" anchor="ctr">
                    <a:lnL>
                      <a:noFill/>
                    </a:lnL>
                    <a:lnR>
                      <a:noFill/>
                    </a:lnR>
                    <a:lnT>
                      <a:noFill/>
                    </a:lnT>
                    <a:lnB>
                      <a:noFill/>
                    </a:lnB>
                    <a:solidFill>
                      <a:srgbClr val="63BE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2.88 </a:t>
                      </a:r>
                    </a:p>
                  </a:txBody>
                  <a:tcPr marL="36000" marR="36000" marT="0" marB="0" anchor="ctr">
                    <a:lnL>
                      <a:noFill/>
                    </a:lnL>
                    <a:lnR>
                      <a:noFill/>
                    </a:lnR>
                    <a:lnT>
                      <a:noFill/>
                    </a:lnT>
                    <a:lnB>
                      <a:noFill/>
                    </a:lnB>
                    <a:solidFill>
                      <a:srgbClr val="7CC5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3.35 </a:t>
                      </a:r>
                    </a:p>
                  </a:txBody>
                  <a:tcPr marL="36000" marR="36000" marT="0" marB="0" anchor="ctr">
                    <a:lnL>
                      <a:noFill/>
                    </a:lnL>
                    <a:lnR>
                      <a:noFill/>
                    </a:lnR>
                    <a:lnT>
                      <a:noFill/>
                    </a:lnT>
                    <a:lnB>
                      <a:noFill/>
                    </a:lnB>
                    <a:solidFill>
                      <a:srgbClr val="A1D07E"/>
                    </a:solidFill>
                  </a:tcPr>
                </a:tc>
                <a:extLst>
                  <a:ext uri="{0D108BD9-81ED-4DB2-BD59-A6C34878D82A}">
                    <a16:rowId xmlns:a16="http://schemas.microsoft.com/office/drawing/2014/main" val="609232544"/>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5</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6.75 </a:t>
                      </a:r>
                    </a:p>
                  </a:txBody>
                  <a:tcPr marL="36000" marR="36000" marT="0" marB="0" anchor="ctr">
                    <a:lnL>
                      <a:noFill/>
                    </a:lnL>
                    <a:lnR>
                      <a:noFill/>
                    </a:lnR>
                    <a:lnT>
                      <a:noFill/>
                    </a:lnT>
                    <a:lnB>
                      <a:noFill/>
                    </a:lnB>
                    <a:solidFill>
                      <a:srgbClr val="FDB67A"/>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4.22 </a:t>
                      </a:r>
                    </a:p>
                  </a:txBody>
                  <a:tcPr marL="36000" marR="36000" marT="0" marB="0" anchor="ctr">
                    <a:lnL>
                      <a:noFill/>
                    </a:lnL>
                    <a:lnR>
                      <a:noFill/>
                    </a:lnR>
                    <a:lnT>
                      <a:noFill/>
                    </a:lnT>
                    <a:lnB>
                      <a:noFill/>
                    </a:lnB>
                    <a:solidFill>
                      <a:srgbClr val="E8E4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4.88 </a:t>
                      </a:r>
                    </a:p>
                  </a:txBody>
                  <a:tcPr marL="36000" marR="36000" marT="0" marB="0" anchor="ctr">
                    <a:lnL>
                      <a:noFill/>
                    </a:lnL>
                    <a:lnR>
                      <a:noFill/>
                    </a:lnR>
                    <a:lnT>
                      <a:noFill/>
                    </a:lnT>
                    <a:lnB>
                      <a:noFill/>
                    </a:lnB>
                    <a:solidFill>
                      <a:srgbClr val="FFE3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3.47 </a:t>
                      </a:r>
                    </a:p>
                  </a:txBody>
                  <a:tcPr marL="36000" marR="36000" marT="0" marB="0" anchor="ctr">
                    <a:lnL>
                      <a:noFill/>
                    </a:lnL>
                    <a:lnR>
                      <a:noFill/>
                    </a:lnR>
                    <a:lnT>
                      <a:noFill/>
                    </a:lnT>
                    <a:lnB>
                      <a:noFill/>
                    </a:lnB>
                    <a:solidFill>
                      <a:srgbClr val="ABD2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6.75 </a:t>
                      </a:r>
                    </a:p>
                  </a:txBody>
                  <a:tcPr marL="36000" marR="36000" marT="0" marB="0" anchor="ctr">
                    <a:lnL>
                      <a:noFill/>
                    </a:lnL>
                    <a:lnR>
                      <a:noFill/>
                    </a:lnR>
                    <a:lnT>
                      <a:noFill/>
                    </a:lnT>
                    <a:lnB>
                      <a:noFill/>
                    </a:lnB>
                    <a:solidFill>
                      <a:srgbClr val="FDB67A"/>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5.05 </a:t>
                      </a:r>
                    </a:p>
                  </a:txBody>
                  <a:tcPr marL="36000" marR="36000" marT="0" marB="0" anchor="ctr">
                    <a:lnL>
                      <a:noFill/>
                    </a:lnL>
                    <a:lnR>
                      <a:noFill/>
                    </a:lnR>
                    <a:lnT>
                      <a:noFill/>
                    </a:lnT>
                    <a:lnB>
                      <a:noFill/>
                    </a:lnB>
                    <a:solidFill>
                      <a:srgbClr val="FFDF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6.08 </a:t>
                      </a:r>
                    </a:p>
                  </a:txBody>
                  <a:tcPr marL="36000" marR="36000" marT="0" marB="0" anchor="ctr">
                    <a:lnL>
                      <a:noFill/>
                    </a:lnL>
                    <a:lnR>
                      <a:noFill/>
                    </a:lnR>
                    <a:lnT>
                      <a:noFill/>
                    </a:lnT>
                    <a:lnB>
                      <a:noFill/>
                    </a:lnB>
                    <a:solidFill>
                      <a:srgbClr val="FDC6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3.15 </a:t>
                      </a:r>
                    </a:p>
                  </a:txBody>
                  <a:tcPr marL="36000" marR="36000" marT="0" marB="0" anchor="ctr">
                    <a:lnL>
                      <a:noFill/>
                    </a:lnL>
                    <a:lnR>
                      <a:noFill/>
                    </a:lnR>
                    <a:lnT>
                      <a:noFill/>
                    </a:lnT>
                    <a:lnB>
                      <a:noFill/>
                    </a:lnB>
                    <a:solidFill>
                      <a:srgbClr val="92CB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2.79 </a:t>
                      </a:r>
                    </a:p>
                  </a:txBody>
                  <a:tcPr marL="36000" marR="36000" marT="0" marB="0" anchor="ctr">
                    <a:lnL>
                      <a:noFill/>
                    </a:lnL>
                    <a:lnR>
                      <a:noFill/>
                    </a:lnR>
                    <a:lnT>
                      <a:noFill/>
                    </a:lnT>
                    <a:lnB>
                      <a:noFill/>
                    </a:lnB>
                    <a:solidFill>
                      <a:srgbClr val="74C3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2.72 </a:t>
                      </a:r>
                    </a:p>
                  </a:txBody>
                  <a:tcPr marL="36000" marR="36000" marT="0" marB="0" anchor="ctr">
                    <a:lnL>
                      <a:noFill/>
                    </a:lnL>
                    <a:lnR>
                      <a:noFill/>
                    </a:lnR>
                    <a:lnT>
                      <a:noFill/>
                    </a:lnT>
                    <a:lnB>
                      <a:noFill/>
                    </a:lnB>
                    <a:solidFill>
                      <a:srgbClr val="6FC1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3.05 </a:t>
                      </a:r>
                    </a:p>
                  </a:txBody>
                  <a:tcPr marL="36000" marR="36000" marT="0" marB="0" anchor="ctr">
                    <a:lnL>
                      <a:noFill/>
                    </a:lnL>
                    <a:lnR>
                      <a:noFill/>
                    </a:lnR>
                    <a:lnT>
                      <a:noFill/>
                    </a:lnT>
                    <a:lnB>
                      <a:noFill/>
                    </a:lnB>
                    <a:solidFill>
                      <a:srgbClr val="89C9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3.43 </a:t>
                      </a:r>
                    </a:p>
                  </a:txBody>
                  <a:tcPr marL="36000" marR="36000" marT="0" marB="0" anchor="ctr">
                    <a:lnL>
                      <a:noFill/>
                    </a:lnL>
                    <a:lnR>
                      <a:noFill/>
                    </a:lnR>
                    <a:lnT>
                      <a:noFill/>
                    </a:lnT>
                    <a:lnB>
                      <a:noFill/>
                    </a:lnB>
                    <a:solidFill>
                      <a:srgbClr val="A8D27F"/>
                    </a:solidFill>
                  </a:tcPr>
                </a:tc>
                <a:extLst>
                  <a:ext uri="{0D108BD9-81ED-4DB2-BD59-A6C34878D82A}">
                    <a16:rowId xmlns:a16="http://schemas.microsoft.com/office/drawing/2014/main" val="2922703882"/>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6</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7.40 </a:t>
                      </a:r>
                    </a:p>
                  </a:txBody>
                  <a:tcPr marL="36000" marR="36000" marT="0" marB="0" anchor="ctr">
                    <a:lnL>
                      <a:noFill/>
                    </a:lnL>
                    <a:lnR>
                      <a:noFill/>
                    </a:lnR>
                    <a:lnT>
                      <a:noFill/>
                    </a:lnT>
                    <a:lnB>
                      <a:noFill/>
                    </a:lnB>
                    <a:solidFill>
                      <a:srgbClr val="FCA7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4.49 </a:t>
                      </a:r>
                    </a:p>
                  </a:txBody>
                  <a:tcPr marL="36000" marR="36000" marT="0" marB="0" anchor="ctr">
                    <a:lnL>
                      <a:noFill/>
                    </a:lnL>
                    <a:lnR>
                      <a:noFill/>
                    </a:lnR>
                    <a:lnT>
                      <a:noFill/>
                    </a:lnT>
                    <a:lnB>
                      <a:noFill/>
                    </a:lnB>
                    <a:solidFill>
                      <a:srgbClr val="FDEA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4.90 </a:t>
                      </a:r>
                    </a:p>
                  </a:txBody>
                  <a:tcPr marL="36000" marR="36000" marT="0" marB="0" anchor="ctr">
                    <a:lnL>
                      <a:noFill/>
                    </a:lnL>
                    <a:lnR>
                      <a:noFill/>
                    </a:lnR>
                    <a:lnT>
                      <a:noFill/>
                    </a:lnT>
                    <a:lnB>
                      <a:noFill/>
                    </a:lnB>
                    <a:solidFill>
                      <a:srgbClr val="FFE2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3.58 </a:t>
                      </a:r>
                    </a:p>
                  </a:txBody>
                  <a:tcPr marL="36000" marR="36000" marT="0" marB="0" anchor="ctr">
                    <a:lnL>
                      <a:noFill/>
                    </a:lnL>
                    <a:lnR>
                      <a:noFill/>
                    </a:lnR>
                    <a:lnT>
                      <a:noFill/>
                    </a:lnT>
                    <a:lnB>
                      <a:noFill/>
                    </a:lnB>
                    <a:solidFill>
                      <a:srgbClr val="B4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7.50 </a:t>
                      </a:r>
                    </a:p>
                  </a:txBody>
                  <a:tcPr marL="36000" marR="36000" marT="0" marB="0" anchor="ctr">
                    <a:lnL>
                      <a:noFill/>
                    </a:lnL>
                    <a:lnR>
                      <a:noFill/>
                    </a:lnR>
                    <a:lnT>
                      <a:noFill/>
                    </a:lnT>
                    <a:lnB>
                      <a:noFill/>
                    </a:lnB>
                    <a:solidFill>
                      <a:srgbClr val="FCA4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5.72 </a:t>
                      </a:r>
                    </a:p>
                  </a:txBody>
                  <a:tcPr marL="36000" marR="36000" marT="0" marB="0" anchor="ctr">
                    <a:lnL>
                      <a:noFill/>
                    </a:lnL>
                    <a:lnR>
                      <a:noFill/>
                    </a:lnR>
                    <a:lnT>
                      <a:noFill/>
                    </a:lnT>
                    <a:lnB>
                      <a:noFill/>
                    </a:lnB>
                    <a:solidFill>
                      <a:srgbClr val="FECF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6.93 </a:t>
                      </a:r>
                    </a:p>
                  </a:txBody>
                  <a:tcPr marL="36000" marR="36000" marT="0" marB="0" anchor="ctr">
                    <a:lnL>
                      <a:noFill/>
                    </a:lnL>
                    <a:lnR>
                      <a:noFill/>
                    </a:lnR>
                    <a:lnT>
                      <a:noFill/>
                    </a:lnT>
                    <a:lnB>
                      <a:noFill/>
                    </a:lnB>
                    <a:solidFill>
                      <a:srgbClr val="FCB27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3.83 </a:t>
                      </a:r>
                    </a:p>
                  </a:txBody>
                  <a:tcPr marL="36000" marR="36000" marT="0" marB="0" anchor="ctr">
                    <a:lnL>
                      <a:noFill/>
                    </a:lnL>
                    <a:lnR>
                      <a:noFill/>
                    </a:lnR>
                    <a:lnT>
                      <a:noFill/>
                    </a:lnT>
                    <a:lnB>
                      <a:noFill/>
                    </a:lnB>
                    <a:solidFill>
                      <a:srgbClr val="C8DB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3.18 </a:t>
                      </a:r>
                    </a:p>
                  </a:txBody>
                  <a:tcPr marL="36000" marR="36000" marT="0" marB="0" anchor="ctr">
                    <a:lnL>
                      <a:noFill/>
                    </a:lnL>
                    <a:lnR>
                      <a:noFill/>
                    </a:lnR>
                    <a:lnT>
                      <a:noFill/>
                    </a:lnT>
                    <a:lnB>
                      <a:noFill/>
                    </a:lnB>
                    <a:solidFill>
                      <a:srgbClr val="94CC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3.38 </a:t>
                      </a:r>
                    </a:p>
                  </a:txBody>
                  <a:tcPr marL="36000" marR="36000" marT="0" marB="0" anchor="ctr">
                    <a:lnL>
                      <a:noFill/>
                    </a:lnL>
                    <a:lnR>
                      <a:noFill/>
                    </a:lnR>
                    <a:lnT>
                      <a:noFill/>
                    </a:lnT>
                    <a:lnB>
                      <a:noFill/>
                    </a:lnB>
                    <a:solidFill>
                      <a:srgbClr val="A4D0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3.48 </a:t>
                      </a:r>
                    </a:p>
                  </a:txBody>
                  <a:tcPr marL="36000" marR="36000" marT="0" marB="0" anchor="ctr">
                    <a:lnL>
                      <a:noFill/>
                    </a:lnL>
                    <a:lnR>
                      <a:noFill/>
                    </a:lnR>
                    <a:lnT>
                      <a:noFill/>
                    </a:lnT>
                    <a:lnB>
                      <a:noFill/>
                    </a:lnB>
                    <a:solidFill>
                      <a:srgbClr val="ACD3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3.78 </a:t>
                      </a:r>
                    </a:p>
                  </a:txBody>
                  <a:tcPr marL="36000" marR="36000" marT="0" marB="0" anchor="ctr">
                    <a:lnL>
                      <a:noFill/>
                    </a:lnL>
                    <a:lnR>
                      <a:noFill/>
                    </a:lnR>
                    <a:lnT>
                      <a:noFill/>
                    </a:lnT>
                    <a:lnB>
                      <a:noFill/>
                    </a:lnB>
                    <a:solidFill>
                      <a:srgbClr val="C4DA80"/>
                    </a:solidFill>
                  </a:tcPr>
                </a:tc>
                <a:extLst>
                  <a:ext uri="{0D108BD9-81ED-4DB2-BD59-A6C34878D82A}">
                    <a16:rowId xmlns:a16="http://schemas.microsoft.com/office/drawing/2014/main" val="43497109"/>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7</a:t>
                      </a:r>
                    </a:p>
                  </a:txBody>
                  <a:tcPr marL="36000" marR="36000" marT="0" marB="0" anchor="ctr">
                    <a:lnL>
                      <a:noFill/>
                    </a:lnL>
                    <a:lnR>
                      <a:noFill/>
                    </a:lnR>
                    <a:lnT>
                      <a:noFill/>
                    </a:lnT>
                    <a:lnB>
                      <a:noFill/>
                    </a:lnB>
                    <a:solidFill>
                      <a:srgbClr val="01216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6.08 </a:t>
                      </a:r>
                    </a:p>
                  </a:txBody>
                  <a:tcPr marL="36000" marR="36000" marT="0" marB="0" anchor="ctr">
                    <a:lnL>
                      <a:noFill/>
                    </a:lnL>
                    <a:lnR>
                      <a:noFill/>
                    </a:lnR>
                    <a:lnT>
                      <a:noFill/>
                    </a:lnT>
                    <a:lnB>
                      <a:noFill/>
                    </a:lnB>
                    <a:solidFill>
                      <a:srgbClr val="FDC6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3.95 </a:t>
                      </a:r>
                    </a:p>
                  </a:txBody>
                  <a:tcPr marL="36000" marR="36000" marT="0" marB="0" anchor="ctr">
                    <a:lnL>
                      <a:noFill/>
                    </a:lnL>
                    <a:lnR>
                      <a:noFill/>
                    </a:lnR>
                    <a:lnT>
                      <a:noFill/>
                    </a:lnT>
                    <a:lnB>
                      <a:noFill/>
                    </a:lnB>
                    <a:solidFill>
                      <a:srgbClr val="D1DE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3.95 </a:t>
                      </a:r>
                    </a:p>
                  </a:txBody>
                  <a:tcPr marL="36000" marR="36000" marT="0" marB="0" anchor="ctr">
                    <a:lnL>
                      <a:noFill/>
                    </a:lnL>
                    <a:lnR>
                      <a:noFill/>
                    </a:lnR>
                    <a:lnT>
                      <a:noFill/>
                    </a:lnT>
                    <a:lnB>
                      <a:noFill/>
                    </a:lnB>
                    <a:solidFill>
                      <a:srgbClr val="D1DE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4.20 </a:t>
                      </a:r>
                    </a:p>
                  </a:txBody>
                  <a:tcPr marL="36000" marR="36000" marT="0" marB="0" anchor="ctr">
                    <a:lnL>
                      <a:noFill/>
                    </a:lnL>
                    <a:lnR>
                      <a:noFill/>
                    </a:lnR>
                    <a:lnT>
                      <a:noFill/>
                    </a:lnT>
                    <a:lnB>
                      <a:noFill/>
                    </a:lnB>
                    <a:solidFill>
                      <a:srgbClr val="E6E3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8.13 </a:t>
                      </a:r>
                    </a:p>
                  </a:txBody>
                  <a:tcPr marL="36000" marR="36000" marT="0" marB="0" anchor="ctr">
                    <a:lnL>
                      <a:noFill/>
                    </a:lnL>
                    <a:lnR>
                      <a:noFill/>
                    </a:lnR>
                    <a:lnT>
                      <a:noFill/>
                    </a:lnT>
                    <a:lnB>
                      <a:noFill/>
                    </a:lnB>
                    <a:solidFill>
                      <a:srgbClr val="FB957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6.64 </a:t>
                      </a:r>
                    </a:p>
                  </a:txBody>
                  <a:tcPr marL="36000" marR="36000" marT="0" marB="0" anchor="ctr">
                    <a:lnL>
                      <a:noFill/>
                    </a:lnL>
                    <a:lnR>
                      <a:noFill/>
                    </a:lnR>
                    <a:lnT>
                      <a:noFill/>
                    </a:lnT>
                    <a:lnB>
                      <a:noFill/>
                    </a:lnB>
                    <a:solidFill>
                      <a:srgbClr val="FDB9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7.02 </a:t>
                      </a:r>
                    </a:p>
                  </a:txBody>
                  <a:tcPr marL="36000" marR="36000" marT="0" marB="0" anchor="ctr">
                    <a:lnL>
                      <a:noFill/>
                    </a:lnL>
                    <a:lnR>
                      <a:noFill/>
                    </a:lnR>
                    <a:lnT>
                      <a:noFill/>
                    </a:lnT>
                    <a:lnB>
                      <a:noFill/>
                    </a:lnB>
                    <a:solidFill>
                      <a:srgbClr val="FCB07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3.96 </a:t>
                      </a:r>
                    </a:p>
                  </a:txBody>
                  <a:tcPr marL="36000" marR="36000" marT="0" marB="0" anchor="ctr">
                    <a:lnL>
                      <a:noFill/>
                    </a:lnL>
                    <a:lnR>
                      <a:noFill/>
                    </a:lnR>
                    <a:lnT>
                      <a:noFill/>
                    </a:lnT>
                    <a:lnB>
                      <a:noFill/>
                    </a:lnB>
                    <a:solidFill>
                      <a:srgbClr val="D2DE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4.37 </a:t>
                      </a:r>
                    </a:p>
                  </a:txBody>
                  <a:tcPr marL="36000" marR="36000" marT="0" marB="0" anchor="ctr">
                    <a:lnL>
                      <a:noFill/>
                    </a:lnL>
                    <a:lnR>
                      <a:noFill/>
                    </a:lnR>
                    <a:lnT>
                      <a:noFill/>
                    </a:lnT>
                    <a:lnB>
                      <a:noFill/>
                    </a:lnB>
                    <a:solidFill>
                      <a:srgbClr val="F3E7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6.09 </a:t>
                      </a:r>
                    </a:p>
                  </a:txBody>
                  <a:tcPr marL="36000" marR="36000" marT="0" marB="0" anchor="ctr">
                    <a:lnL>
                      <a:noFill/>
                    </a:lnL>
                    <a:lnR>
                      <a:noFill/>
                    </a:lnR>
                    <a:lnT>
                      <a:noFill/>
                    </a:lnT>
                    <a:lnB>
                      <a:noFill/>
                    </a:lnB>
                    <a:solidFill>
                      <a:srgbClr val="FDC6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6.04 </a:t>
                      </a:r>
                    </a:p>
                  </a:txBody>
                  <a:tcPr marL="36000" marR="36000" marT="0" marB="0" anchor="ctr">
                    <a:lnL>
                      <a:noFill/>
                    </a:lnL>
                    <a:lnR>
                      <a:noFill/>
                    </a:lnR>
                    <a:lnT>
                      <a:noFill/>
                    </a:lnT>
                    <a:lnB>
                      <a:noFill/>
                    </a:lnB>
                    <a:solidFill>
                      <a:srgbClr val="FEC7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4.36 </a:t>
                      </a:r>
                    </a:p>
                  </a:txBody>
                  <a:tcPr marL="36000" marR="36000" marT="0" marB="0" anchor="ctr">
                    <a:lnL>
                      <a:noFill/>
                    </a:lnL>
                    <a:lnR>
                      <a:noFill/>
                    </a:lnR>
                    <a:lnT>
                      <a:noFill/>
                    </a:lnT>
                    <a:lnB>
                      <a:noFill/>
                    </a:lnB>
                    <a:solidFill>
                      <a:srgbClr val="F3E783"/>
                    </a:solidFill>
                  </a:tcPr>
                </a:tc>
                <a:extLst>
                  <a:ext uri="{0D108BD9-81ED-4DB2-BD59-A6C34878D82A}">
                    <a16:rowId xmlns:a16="http://schemas.microsoft.com/office/drawing/2014/main" val="354296277"/>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8</a:t>
                      </a:r>
                    </a:p>
                  </a:txBody>
                  <a:tcPr marL="36000" marR="36000" marT="0" marB="0" anchor="ctr">
                    <a:lnL>
                      <a:noFill/>
                    </a:lnL>
                    <a:lnR>
                      <a:noFill/>
                    </a:lnR>
                    <a:lnT>
                      <a:noFill/>
                    </a:lnT>
                    <a:lnB>
                      <a:noFill/>
                    </a:lnB>
                    <a:solidFill>
                      <a:srgbClr val="01216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4.18 </a:t>
                      </a:r>
                    </a:p>
                  </a:txBody>
                  <a:tcPr marL="36000" marR="36000" marT="0" marB="0" anchor="ctr">
                    <a:lnL>
                      <a:noFill/>
                    </a:lnL>
                    <a:lnR>
                      <a:noFill/>
                    </a:lnR>
                    <a:lnT>
                      <a:noFill/>
                    </a:lnT>
                    <a:lnB>
                      <a:noFill/>
                    </a:lnB>
                    <a:solidFill>
                      <a:srgbClr val="E4E3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3.28 </a:t>
                      </a:r>
                    </a:p>
                  </a:txBody>
                  <a:tcPr marL="36000" marR="36000" marT="0" marB="0" anchor="ctr">
                    <a:lnL>
                      <a:noFill/>
                    </a:lnL>
                    <a:lnR>
                      <a:noFill/>
                    </a:lnR>
                    <a:lnT>
                      <a:noFill/>
                    </a:lnT>
                    <a:lnB>
                      <a:noFill/>
                    </a:lnB>
                    <a:solidFill>
                      <a:srgbClr val="9CCE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3.16 </a:t>
                      </a:r>
                    </a:p>
                  </a:txBody>
                  <a:tcPr marL="36000" marR="36000" marT="0" marB="0" anchor="ctr">
                    <a:lnL>
                      <a:noFill/>
                    </a:lnL>
                    <a:lnR>
                      <a:noFill/>
                    </a:lnR>
                    <a:lnT>
                      <a:noFill/>
                    </a:lnT>
                    <a:lnB>
                      <a:noFill/>
                    </a:lnB>
                    <a:solidFill>
                      <a:srgbClr val="92CB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3.30 </a:t>
                      </a:r>
                    </a:p>
                  </a:txBody>
                  <a:tcPr marL="36000" marR="36000" marT="0" marB="0" anchor="ctr">
                    <a:lnL>
                      <a:noFill/>
                    </a:lnL>
                    <a:lnR>
                      <a:noFill/>
                    </a:lnR>
                    <a:lnT>
                      <a:noFill/>
                    </a:lnT>
                    <a:lnB>
                      <a:noFill/>
                    </a:lnB>
                    <a:solidFill>
                      <a:srgbClr val="9DCF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7.10 </a:t>
                      </a:r>
                    </a:p>
                  </a:txBody>
                  <a:tcPr marL="36000" marR="36000" marT="0" marB="0" anchor="ctr">
                    <a:lnL>
                      <a:noFill/>
                    </a:lnL>
                    <a:lnR>
                      <a:noFill/>
                    </a:lnR>
                    <a:lnT>
                      <a:noFill/>
                    </a:lnT>
                    <a:lnB>
                      <a:noFill/>
                    </a:lnB>
                    <a:solidFill>
                      <a:srgbClr val="FCAE7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5.93 </a:t>
                      </a:r>
                    </a:p>
                  </a:txBody>
                  <a:tcPr marL="36000" marR="36000" marT="0" marB="0" anchor="ctr">
                    <a:lnL>
                      <a:noFill/>
                    </a:lnL>
                    <a:lnR>
                      <a:noFill/>
                    </a:lnR>
                    <a:lnT>
                      <a:noFill/>
                    </a:lnT>
                    <a:lnB>
                      <a:noFill/>
                    </a:lnB>
                    <a:solidFill>
                      <a:srgbClr val="FECA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6.23 </a:t>
                      </a:r>
                    </a:p>
                  </a:txBody>
                  <a:tcPr marL="36000" marR="36000" marT="0" marB="0" anchor="ctr">
                    <a:lnL>
                      <a:noFill/>
                    </a:lnL>
                    <a:lnR>
                      <a:noFill/>
                    </a:lnR>
                    <a:lnT>
                      <a:noFill/>
                    </a:lnT>
                    <a:lnB>
                      <a:noFill/>
                    </a:lnB>
                    <a:solidFill>
                      <a:srgbClr val="FDC2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4.14 </a:t>
                      </a:r>
                    </a:p>
                  </a:txBody>
                  <a:tcPr marL="36000" marR="36000" marT="0" marB="0" anchor="ctr">
                    <a:lnL>
                      <a:noFill/>
                    </a:lnL>
                    <a:lnR>
                      <a:noFill/>
                    </a:lnR>
                    <a:lnT>
                      <a:noFill/>
                    </a:lnT>
                    <a:lnB>
                      <a:noFill/>
                    </a:lnB>
                    <a:solidFill>
                      <a:srgbClr val="E1E2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6.96 </a:t>
                      </a:r>
                    </a:p>
                  </a:txBody>
                  <a:tcPr marL="36000" marR="36000" marT="0" marB="0" anchor="ctr">
                    <a:lnL>
                      <a:noFill/>
                    </a:lnL>
                    <a:lnR>
                      <a:noFill/>
                    </a:lnR>
                    <a:lnT>
                      <a:noFill/>
                    </a:lnT>
                    <a:lnB>
                      <a:noFill/>
                    </a:lnB>
                    <a:solidFill>
                      <a:srgbClr val="FCB17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9.23 </a:t>
                      </a:r>
                    </a:p>
                  </a:txBody>
                  <a:tcPr marL="36000" marR="36000" marT="0" marB="0" anchor="ctr">
                    <a:lnL>
                      <a:noFill/>
                    </a:lnL>
                    <a:lnR>
                      <a:noFill/>
                    </a:lnR>
                    <a:lnT>
                      <a:noFill/>
                    </a:lnT>
                    <a:lnB>
                      <a:noFill/>
                    </a:lnB>
                    <a:solidFill>
                      <a:srgbClr val="F97B6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8.70 </a:t>
                      </a:r>
                    </a:p>
                  </a:txBody>
                  <a:tcPr marL="36000" marR="36000" marT="0" marB="0" anchor="ctr">
                    <a:lnL>
                      <a:noFill/>
                    </a:lnL>
                    <a:lnR>
                      <a:noFill/>
                    </a:lnR>
                    <a:lnT>
                      <a:noFill/>
                    </a:lnT>
                    <a:lnB>
                      <a:noFill/>
                    </a:lnB>
                    <a:solidFill>
                      <a:srgbClr val="FA887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5.20 </a:t>
                      </a:r>
                    </a:p>
                  </a:txBody>
                  <a:tcPr marL="36000" marR="36000" marT="0" marB="0" anchor="ctr">
                    <a:lnL>
                      <a:noFill/>
                    </a:lnL>
                    <a:lnR>
                      <a:noFill/>
                    </a:lnR>
                    <a:lnT>
                      <a:noFill/>
                    </a:lnT>
                    <a:lnB>
                      <a:noFill/>
                    </a:lnB>
                    <a:solidFill>
                      <a:srgbClr val="FFDB81"/>
                    </a:solidFill>
                  </a:tcPr>
                </a:tc>
                <a:extLst>
                  <a:ext uri="{0D108BD9-81ED-4DB2-BD59-A6C34878D82A}">
                    <a16:rowId xmlns:a16="http://schemas.microsoft.com/office/drawing/2014/main" val="3547773277"/>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9</a:t>
                      </a:r>
                    </a:p>
                  </a:txBody>
                  <a:tcPr marL="36000" marR="36000" marT="0" marB="0" anchor="ctr">
                    <a:lnL>
                      <a:noFill/>
                    </a:lnL>
                    <a:lnR>
                      <a:noFill/>
                    </a:lnR>
                    <a:lnT>
                      <a:noFill/>
                    </a:lnT>
                    <a:lnB>
                      <a:noFill/>
                    </a:lnB>
                    <a:solidFill>
                      <a:srgbClr val="01216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3.74 </a:t>
                      </a:r>
                    </a:p>
                  </a:txBody>
                  <a:tcPr marL="36000" marR="36000" marT="0" marB="0" anchor="ctr">
                    <a:lnL>
                      <a:noFill/>
                    </a:lnL>
                    <a:lnR>
                      <a:noFill/>
                    </a:lnR>
                    <a:lnT>
                      <a:noFill/>
                    </a:lnT>
                    <a:lnB>
                      <a:noFill/>
                    </a:lnB>
                    <a:solidFill>
                      <a:srgbClr val="C1D9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2.96 </a:t>
                      </a:r>
                    </a:p>
                  </a:txBody>
                  <a:tcPr marL="36000" marR="36000" marT="0" marB="0" anchor="ctr">
                    <a:lnL>
                      <a:noFill/>
                    </a:lnL>
                    <a:lnR>
                      <a:noFill/>
                    </a:lnR>
                    <a:lnT>
                      <a:noFill/>
                    </a:lnT>
                    <a:lnB>
                      <a:noFill/>
                    </a:lnB>
                    <a:solidFill>
                      <a:srgbClr val="82C7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2.71 </a:t>
                      </a:r>
                    </a:p>
                  </a:txBody>
                  <a:tcPr marL="36000" marR="36000" marT="0" marB="0" anchor="ctr">
                    <a:lnL>
                      <a:noFill/>
                    </a:lnL>
                    <a:lnR>
                      <a:noFill/>
                    </a:lnR>
                    <a:lnT>
                      <a:noFill/>
                    </a:lnT>
                    <a:lnB>
                      <a:noFill/>
                    </a:lnB>
                    <a:solidFill>
                      <a:srgbClr val="6EC1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2.83 </a:t>
                      </a:r>
                    </a:p>
                  </a:txBody>
                  <a:tcPr marL="36000" marR="36000" marT="0" marB="0" anchor="ctr">
                    <a:lnL>
                      <a:noFill/>
                    </a:lnL>
                    <a:lnR>
                      <a:noFill/>
                    </a:lnR>
                    <a:lnT>
                      <a:noFill/>
                    </a:lnT>
                    <a:lnB>
                      <a:noFill/>
                    </a:lnB>
                    <a:solidFill>
                      <a:srgbClr val="78C4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5.18 </a:t>
                      </a:r>
                    </a:p>
                  </a:txBody>
                  <a:tcPr marL="36000" marR="36000" marT="0" marB="0" anchor="ctr">
                    <a:lnL>
                      <a:noFill/>
                    </a:lnL>
                    <a:lnR>
                      <a:noFill/>
                    </a:lnR>
                    <a:lnT>
                      <a:noFill/>
                    </a:lnT>
                    <a:lnB>
                      <a:noFill/>
                    </a:lnB>
                    <a:solidFill>
                      <a:srgbClr val="FFDB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4.63 </a:t>
                      </a:r>
                    </a:p>
                  </a:txBody>
                  <a:tcPr marL="36000" marR="36000" marT="0" marB="0" anchor="ctr">
                    <a:lnL>
                      <a:noFill/>
                    </a:lnL>
                    <a:lnR>
                      <a:noFill/>
                    </a:lnR>
                    <a:lnT>
                      <a:noFill/>
                    </a:lnT>
                    <a:lnB>
                      <a:noFill/>
                    </a:lnB>
                    <a:solidFill>
                      <a:srgbClr val="FFE9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5.32 </a:t>
                      </a:r>
                    </a:p>
                  </a:txBody>
                  <a:tcPr marL="36000" marR="36000" marT="0" marB="0" anchor="ctr">
                    <a:lnL>
                      <a:noFill/>
                    </a:lnL>
                    <a:lnR>
                      <a:noFill/>
                    </a:lnR>
                    <a:lnT>
                      <a:noFill/>
                    </a:lnT>
                    <a:lnB>
                      <a:noFill/>
                    </a:lnB>
                    <a:solidFill>
                      <a:srgbClr val="FED8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4.01 </a:t>
                      </a:r>
                    </a:p>
                  </a:txBody>
                  <a:tcPr marL="36000" marR="36000" marT="0" marB="0" anchor="ctr">
                    <a:lnL>
                      <a:noFill/>
                    </a:lnL>
                    <a:lnR>
                      <a:noFill/>
                    </a:lnR>
                    <a:lnT>
                      <a:noFill/>
                    </a:lnT>
                    <a:lnB>
                      <a:noFill/>
                    </a:lnB>
                    <a:solidFill>
                      <a:srgbClr val="D6DF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7.41 </a:t>
                      </a:r>
                    </a:p>
                  </a:txBody>
                  <a:tcPr marL="36000" marR="36000" marT="0" marB="0" anchor="ctr">
                    <a:lnL>
                      <a:noFill/>
                    </a:lnL>
                    <a:lnR>
                      <a:noFill/>
                    </a:lnR>
                    <a:lnT>
                      <a:noFill/>
                    </a:lnT>
                    <a:lnB>
                      <a:noFill/>
                    </a:lnB>
                    <a:solidFill>
                      <a:srgbClr val="FCA6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9.96 </a:t>
                      </a:r>
                    </a:p>
                  </a:txBody>
                  <a:tcPr marL="36000" marR="36000" marT="0" marB="0" anchor="ctr">
                    <a:lnL>
                      <a:noFill/>
                    </a:lnL>
                    <a:lnR>
                      <a:noFill/>
                    </a:lnR>
                    <a:lnT>
                      <a:noFill/>
                    </a:lnT>
                    <a:lnB>
                      <a:noFill/>
                    </a:lnB>
                    <a:solidFill>
                      <a:srgbClr val="F8696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8.53 </a:t>
                      </a:r>
                    </a:p>
                  </a:txBody>
                  <a:tcPr marL="36000" marR="36000" marT="0" marB="0" anchor="ctr">
                    <a:lnL>
                      <a:noFill/>
                    </a:lnL>
                    <a:lnR>
                      <a:noFill/>
                    </a:lnR>
                    <a:lnT>
                      <a:noFill/>
                    </a:lnT>
                    <a:lnB>
                      <a:noFill/>
                    </a:lnB>
                    <a:solidFill>
                      <a:srgbClr val="FA8C7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4.54 </a:t>
                      </a:r>
                    </a:p>
                  </a:txBody>
                  <a:tcPr marL="36000" marR="36000" marT="0" marB="0" anchor="ctr">
                    <a:lnL>
                      <a:noFill/>
                    </a:lnL>
                    <a:lnR>
                      <a:noFill/>
                    </a:lnR>
                    <a:lnT>
                      <a:noFill/>
                    </a:lnT>
                    <a:lnB>
                      <a:noFill/>
                    </a:lnB>
                    <a:solidFill>
                      <a:srgbClr val="FFEB84"/>
                    </a:solidFill>
                  </a:tcPr>
                </a:tc>
                <a:extLst>
                  <a:ext uri="{0D108BD9-81ED-4DB2-BD59-A6C34878D82A}">
                    <a16:rowId xmlns:a16="http://schemas.microsoft.com/office/drawing/2014/main" val="3727951334"/>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10</a:t>
                      </a:r>
                    </a:p>
                  </a:txBody>
                  <a:tcPr marL="36000" marR="36000" marT="0" marB="0" anchor="ctr">
                    <a:lnL>
                      <a:noFill/>
                    </a:lnL>
                    <a:lnR>
                      <a:noFill/>
                    </a:lnR>
                    <a:lnT>
                      <a:noFill/>
                    </a:lnT>
                    <a:lnB>
                      <a:noFill/>
                    </a:lnB>
                    <a:solidFill>
                      <a:srgbClr val="01216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3.56 </a:t>
                      </a:r>
                    </a:p>
                  </a:txBody>
                  <a:tcPr marL="36000" marR="36000" marT="0" marB="0" anchor="ctr">
                    <a:lnL>
                      <a:noFill/>
                    </a:lnL>
                    <a:lnR>
                      <a:noFill/>
                    </a:lnR>
                    <a:lnT>
                      <a:noFill/>
                    </a:lnT>
                    <a:lnB>
                      <a:noFill/>
                    </a:lnB>
                    <a:solidFill>
                      <a:srgbClr val="B2D4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2.96 </a:t>
                      </a:r>
                    </a:p>
                  </a:txBody>
                  <a:tcPr marL="36000" marR="36000" marT="0" marB="0" anchor="ctr">
                    <a:lnL>
                      <a:noFill/>
                    </a:lnL>
                    <a:lnR>
                      <a:noFill/>
                    </a:lnR>
                    <a:lnT>
                      <a:noFill/>
                    </a:lnT>
                    <a:lnB>
                      <a:noFill/>
                    </a:lnB>
                    <a:solidFill>
                      <a:srgbClr val="82C7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2.81 </a:t>
                      </a:r>
                    </a:p>
                  </a:txBody>
                  <a:tcPr marL="36000" marR="36000" marT="0" marB="0" anchor="ctr">
                    <a:lnL>
                      <a:noFill/>
                    </a:lnL>
                    <a:lnR>
                      <a:noFill/>
                    </a:lnR>
                    <a:lnT>
                      <a:noFill/>
                    </a:lnT>
                    <a:lnB>
                      <a:noFill/>
                    </a:lnB>
                    <a:solidFill>
                      <a:srgbClr val="76C3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2.90 </a:t>
                      </a:r>
                    </a:p>
                  </a:txBody>
                  <a:tcPr marL="36000" marR="36000" marT="0" marB="0" anchor="ctr">
                    <a:lnL>
                      <a:noFill/>
                    </a:lnL>
                    <a:lnR>
                      <a:noFill/>
                    </a:lnR>
                    <a:lnT>
                      <a:noFill/>
                    </a:lnT>
                    <a:lnB>
                      <a:noFill/>
                    </a:lnB>
                    <a:solidFill>
                      <a:srgbClr val="7DC5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4.88 </a:t>
                      </a:r>
                    </a:p>
                  </a:txBody>
                  <a:tcPr marL="36000" marR="36000" marT="0" marB="0" anchor="ctr">
                    <a:lnL>
                      <a:noFill/>
                    </a:lnL>
                    <a:lnR>
                      <a:noFill/>
                    </a:lnR>
                    <a:lnT>
                      <a:noFill/>
                    </a:lnT>
                    <a:lnB>
                      <a:noFill/>
                    </a:lnB>
                    <a:solidFill>
                      <a:srgbClr val="FFE2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4.58 </a:t>
                      </a:r>
                    </a:p>
                  </a:txBody>
                  <a:tcPr marL="36000" marR="36000" marT="0" marB="0" anchor="ctr">
                    <a:lnL>
                      <a:noFill/>
                    </a:lnL>
                    <a:lnR>
                      <a:noFill/>
                    </a:lnR>
                    <a:lnT>
                      <a:noFill/>
                    </a:lnT>
                    <a:lnB>
                      <a:noFill/>
                    </a:lnB>
                    <a:solidFill>
                      <a:srgbClr val="FFEA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5.07 </a:t>
                      </a:r>
                    </a:p>
                  </a:txBody>
                  <a:tcPr marL="36000" marR="36000" marT="0" marB="0" anchor="ctr">
                    <a:lnL>
                      <a:noFill/>
                    </a:lnL>
                    <a:lnR>
                      <a:noFill/>
                    </a:lnR>
                    <a:lnT>
                      <a:noFill/>
                    </a:lnT>
                    <a:lnB>
                      <a:noFill/>
                    </a:lnB>
                    <a:solidFill>
                      <a:srgbClr val="FFDE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3.96 </a:t>
                      </a:r>
                    </a:p>
                  </a:txBody>
                  <a:tcPr marL="36000" marR="36000" marT="0" marB="0" anchor="ctr">
                    <a:lnL>
                      <a:noFill/>
                    </a:lnL>
                    <a:lnR>
                      <a:noFill/>
                    </a:lnR>
                    <a:lnT>
                      <a:noFill/>
                    </a:lnT>
                    <a:lnB>
                      <a:noFill/>
                    </a:lnB>
                    <a:solidFill>
                      <a:srgbClr val="D3DE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6.63 </a:t>
                      </a:r>
                    </a:p>
                  </a:txBody>
                  <a:tcPr marL="36000" marR="36000" marT="0" marB="0" anchor="ctr">
                    <a:lnL>
                      <a:noFill/>
                    </a:lnL>
                    <a:lnR>
                      <a:noFill/>
                    </a:lnR>
                    <a:lnT>
                      <a:noFill/>
                    </a:lnT>
                    <a:lnB>
                      <a:noFill/>
                    </a:lnB>
                    <a:solidFill>
                      <a:srgbClr val="FDB9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9.88 </a:t>
                      </a:r>
                    </a:p>
                  </a:txBody>
                  <a:tcPr marL="36000" marR="36000" marT="0" marB="0" anchor="ctr">
                    <a:lnL>
                      <a:noFill/>
                    </a:lnL>
                    <a:lnR>
                      <a:noFill/>
                    </a:lnR>
                    <a:lnT>
                      <a:noFill/>
                    </a:lnT>
                    <a:lnB>
                      <a:noFill/>
                    </a:lnB>
                    <a:solidFill>
                      <a:srgbClr val="F96B6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7.18 </a:t>
                      </a:r>
                    </a:p>
                  </a:txBody>
                  <a:tcPr marL="36000" marR="36000" marT="0" marB="0" anchor="ctr">
                    <a:lnL>
                      <a:noFill/>
                    </a:lnL>
                    <a:lnR>
                      <a:noFill/>
                    </a:lnR>
                    <a:lnT>
                      <a:noFill/>
                    </a:lnT>
                    <a:lnB>
                      <a:noFill/>
                    </a:lnB>
                    <a:solidFill>
                      <a:srgbClr val="FCAC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4.02 </a:t>
                      </a:r>
                    </a:p>
                  </a:txBody>
                  <a:tcPr marL="36000" marR="36000" marT="0" marB="0" anchor="ctr">
                    <a:lnL>
                      <a:noFill/>
                    </a:lnL>
                    <a:lnR>
                      <a:noFill/>
                    </a:lnR>
                    <a:lnT>
                      <a:noFill/>
                    </a:lnT>
                    <a:lnB>
                      <a:noFill/>
                    </a:lnB>
                    <a:solidFill>
                      <a:srgbClr val="D7DF81"/>
                    </a:solidFill>
                  </a:tcPr>
                </a:tc>
                <a:extLst>
                  <a:ext uri="{0D108BD9-81ED-4DB2-BD59-A6C34878D82A}">
                    <a16:rowId xmlns:a16="http://schemas.microsoft.com/office/drawing/2014/main" val="1904931088"/>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11</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3.26 </a:t>
                      </a:r>
                    </a:p>
                  </a:txBody>
                  <a:tcPr marL="36000" marR="36000" marT="0" marB="0" anchor="ctr">
                    <a:lnL>
                      <a:noFill/>
                    </a:lnL>
                    <a:lnR>
                      <a:noFill/>
                    </a:lnR>
                    <a:lnT>
                      <a:noFill/>
                    </a:lnT>
                    <a:lnB>
                      <a:noFill/>
                    </a:lnB>
                    <a:solidFill>
                      <a:srgbClr val="9ACD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2.97 </a:t>
                      </a:r>
                    </a:p>
                  </a:txBody>
                  <a:tcPr marL="36000" marR="36000" marT="0" marB="0" anchor="ctr">
                    <a:lnL>
                      <a:noFill/>
                    </a:lnL>
                    <a:lnR>
                      <a:noFill/>
                    </a:lnR>
                    <a:lnT>
                      <a:noFill/>
                    </a:lnT>
                    <a:lnB>
                      <a:noFill/>
                    </a:lnB>
                    <a:solidFill>
                      <a:srgbClr val="83C7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2.92 </a:t>
                      </a:r>
                    </a:p>
                  </a:txBody>
                  <a:tcPr marL="36000" marR="36000" marT="0" marB="0" anchor="ctr">
                    <a:lnL>
                      <a:noFill/>
                    </a:lnL>
                    <a:lnR>
                      <a:noFill/>
                    </a:lnR>
                    <a:lnT>
                      <a:noFill/>
                    </a:lnT>
                    <a:lnB>
                      <a:noFill/>
                    </a:lnB>
                    <a:solidFill>
                      <a:srgbClr val="7FC6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2.80 </a:t>
                      </a:r>
                    </a:p>
                  </a:txBody>
                  <a:tcPr marL="36000" marR="36000" marT="0" marB="0" anchor="ctr">
                    <a:lnL>
                      <a:noFill/>
                    </a:lnL>
                    <a:lnR>
                      <a:noFill/>
                    </a:lnR>
                    <a:lnT>
                      <a:noFill/>
                    </a:lnT>
                    <a:lnB>
                      <a:noFill/>
                    </a:lnB>
                    <a:solidFill>
                      <a:srgbClr val="75C3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4.45 </a:t>
                      </a:r>
                    </a:p>
                  </a:txBody>
                  <a:tcPr marL="36000" marR="36000" marT="0" marB="0" anchor="ctr">
                    <a:lnL>
                      <a:noFill/>
                    </a:lnL>
                    <a:lnR>
                      <a:noFill/>
                    </a:lnR>
                    <a:lnT>
                      <a:noFill/>
                    </a:lnT>
                    <a:lnB>
                      <a:noFill/>
                    </a:lnB>
                    <a:solidFill>
                      <a:srgbClr val="FAE9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4.28 </a:t>
                      </a:r>
                    </a:p>
                  </a:txBody>
                  <a:tcPr marL="36000" marR="36000" marT="0" marB="0" anchor="ctr">
                    <a:lnL>
                      <a:noFill/>
                    </a:lnL>
                    <a:lnR>
                      <a:noFill/>
                    </a:lnR>
                    <a:lnT>
                      <a:noFill/>
                    </a:lnT>
                    <a:lnB>
                      <a:noFill/>
                    </a:lnB>
                    <a:solidFill>
                      <a:srgbClr val="ECE5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4.76 </a:t>
                      </a:r>
                    </a:p>
                  </a:txBody>
                  <a:tcPr marL="36000" marR="36000" marT="0" marB="0" anchor="ctr">
                    <a:lnL>
                      <a:noFill/>
                    </a:lnL>
                    <a:lnR>
                      <a:noFill/>
                    </a:lnR>
                    <a:lnT>
                      <a:noFill/>
                    </a:lnT>
                    <a:lnB>
                      <a:noFill/>
                    </a:lnB>
                    <a:solidFill>
                      <a:srgbClr val="FFE5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3.59 </a:t>
                      </a:r>
                    </a:p>
                  </a:txBody>
                  <a:tcPr marL="36000" marR="36000" marT="0" marB="0" anchor="ctr">
                    <a:lnL>
                      <a:noFill/>
                    </a:lnL>
                    <a:lnR>
                      <a:noFill/>
                    </a:lnR>
                    <a:lnT>
                      <a:noFill/>
                    </a:lnT>
                    <a:lnB>
                      <a:noFill/>
                    </a:lnB>
                    <a:solidFill>
                      <a:srgbClr val="B5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5.43 </a:t>
                      </a:r>
                    </a:p>
                  </a:txBody>
                  <a:tcPr marL="36000" marR="36000" marT="0" marB="0" anchor="ctr">
                    <a:lnL>
                      <a:noFill/>
                    </a:lnL>
                    <a:lnR>
                      <a:noFill/>
                    </a:lnR>
                    <a:lnT>
                      <a:noFill/>
                    </a:lnT>
                    <a:lnB>
                      <a:noFill/>
                    </a:lnB>
                    <a:solidFill>
                      <a:srgbClr val="FED5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9.69 </a:t>
                      </a:r>
                    </a:p>
                  </a:txBody>
                  <a:tcPr marL="36000" marR="36000" marT="0" marB="0" anchor="ctr">
                    <a:lnL>
                      <a:noFill/>
                    </a:lnL>
                    <a:lnR>
                      <a:noFill/>
                    </a:lnR>
                    <a:lnT>
                      <a:noFill/>
                    </a:lnT>
                    <a:lnB>
                      <a:noFill/>
                    </a:lnB>
                    <a:solidFill>
                      <a:srgbClr val="F9706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5.85 </a:t>
                      </a:r>
                    </a:p>
                  </a:txBody>
                  <a:tcPr marL="36000" marR="36000" marT="0" marB="0" anchor="ctr">
                    <a:lnL>
                      <a:noFill/>
                    </a:lnL>
                    <a:lnR>
                      <a:noFill/>
                    </a:lnR>
                    <a:lnT>
                      <a:noFill/>
                    </a:lnT>
                    <a:lnB>
                      <a:noFill/>
                    </a:lnB>
                    <a:solidFill>
                      <a:srgbClr val="FECB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3.52 </a:t>
                      </a:r>
                    </a:p>
                  </a:txBody>
                  <a:tcPr marL="36000" marR="36000" marT="0" marB="0" anchor="ctr">
                    <a:lnL>
                      <a:noFill/>
                    </a:lnL>
                    <a:lnR>
                      <a:noFill/>
                    </a:lnR>
                    <a:lnT>
                      <a:noFill/>
                    </a:lnT>
                    <a:lnB>
                      <a:noFill/>
                    </a:lnB>
                    <a:solidFill>
                      <a:srgbClr val="AFD47F"/>
                    </a:solidFill>
                  </a:tcPr>
                </a:tc>
                <a:extLst>
                  <a:ext uri="{0D108BD9-81ED-4DB2-BD59-A6C34878D82A}">
                    <a16:rowId xmlns:a16="http://schemas.microsoft.com/office/drawing/2014/main" val="3015163798"/>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12</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3.11 </a:t>
                      </a:r>
                    </a:p>
                  </a:txBody>
                  <a:tcPr marL="36000" marR="36000" marT="0" marB="0" anchor="ctr">
                    <a:lnL>
                      <a:noFill/>
                    </a:lnL>
                    <a:lnR>
                      <a:noFill/>
                    </a:lnR>
                    <a:lnT>
                      <a:noFill/>
                    </a:lnT>
                    <a:lnB>
                      <a:noFill/>
                    </a:lnB>
                    <a:solidFill>
                      <a:srgbClr val="8ECA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3.06 </a:t>
                      </a:r>
                    </a:p>
                  </a:txBody>
                  <a:tcPr marL="36000" marR="36000" marT="0" marB="0" anchor="ctr">
                    <a:lnL>
                      <a:noFill/>
                    </a:lnL>
                    <a:lnR>
                      <a:noFill/>
                    </a:lnR>
                    <a:lnT>
                      <a:noFill/>
                    </a:lnT>
                    <a:lnB>
                      <a:noFill/>
                    </a:lnB>
                    <a:solidFill>
                      <a:srgbClr val="8AC9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3.11 </a:t>
                      </a:r>
                    </a:p>
                  </a:txBody>
                  <a:tcPr marL="36000" marR="36000" marT="0" marB="0" anchor="ctr">
                    <a:lnL>
                      <a:noFill/>
                    </a:lnL>
                    <a:lnR>
                      <a:noFill/>
                    </a:lnR>
                    <a:lnT>
                      <a:noFill/>
                    </a:lnT>
                    <a:lnB>
                      <a:noFill/>
                    </a:lnB>
                    <a:solidFill>
                      <a:srgbClr val="8ECA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2.81 </a:t>
                      </a:r>
                    </a:p>
                  </a:txBody>
                  <a:tcPr marL="36000" marR="36000" marT="0" marB="0" anchor="ctr">
                    <a:lnL>
                      <a:noFill/>
                    </a:lnL>
                    <a:lnR>
                      <a:noFill/>
                    </a:lnR>
                    <a:lnT>
                      <a:noFill/>
                    </a:lnT>
                    <a:lnB>
                      <a:noFill/>
                    </a:lnB>
                    <a:solidFill>
                      <a:srgbClr val="76C3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4.18 </a:t>
                      </a:r>
                    </a:p>
                  </a:txBody>
                  <a:tcPr marL="36000" marR="36000" marT="0" marB="0" anchor="ctr">
                    <a:lnL>
                      <a:noFill/>
                    </a:lnL>
                    <a:lnR>
                      <a:noFill/>
                    </a:lnR>
                    <a:lnT>
                      <a:noFill/>
                    </a:lnT>
                    <a:lnB>
                      <a:noFill/>
                    </a:lnB>
                    <a:solidFill>
                      <a:srgbClr val="E4E3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4.15 </a:t>
                      </a:r>
                    </a:p>
                  </a:txBody>
                  <a:tcPr marL="36000" marR="36000" marT="0" marB="0" anchor="ctr">
                    <a:lnL>
                      <a:noFill/>
                    </a:lnL>
                    <a:lnR>
                      <a:noFill/>
                    </a:lnR>
                    <a:lnT>
                      <a:noFill/>
                    </a:lnT>
                    <a:lnB>
                      <a:noFill/>
                    </a:lnB>
                    <a:solidFill>
                      <a:srgbClr val="E2E2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4.66 </a:t>
                      </a:r>
                    </a:p>
                  </a:txBody>
                  <a:tcPr marL="36000" marR="36000" marT="0" marB="0" anchor="ctr">
                    <a:lnL>
                      <a:noFill/>
                    </a:lnL>
                    <a:lnR>
                      <a:noFill/>
                    </a:lnR>
                    <a:lnT>
                      <a:noFill/>
                    </a:lnT>
                    <a:lnB>
                      <a:noFill/>
                    </a:lnB>
                    <a:solidFill>
                      <a:srgbClr val="FFE8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3.40 </a:t>
                      </a:r>
                    </a:p>
                  </a:txBody>
                  <a:tcPr marL="36000" marR="36000" marT="0" marB="0" anchor="ctr">
                    <a:lnL>
                      <a:noFill/>
                    </a:lnL>
                    <a:lnR>
                      <a:noFill/>
                    </a:lnR>
                    <a:lnT>
                      <a:noFill/>
                    </a:lnT>
                    <a:lnB>
                      <a:noFill/>
                    </a:lnB>
                    <a:solidFill>
                      <a:srgbClr val="A6D1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4.31 </a:t>
                      </a:r>
                    </a:p>
                  </a:txBody>
                  <a:tcPr marL="36000" marR="36000" marT="0" marB="0" anchor="ctr">
                    <a:lnL>
                      <a:noFill/>
                    </a:lnL>
                    <a:lnR>
                      <a:noFill/>
                    </a:lnR>
                    <a:lnT>
                      <a:noFill/>
                    </a:lnT>
                    <a:lnB>
                      <a:noFill/>
                    </a:lnB>
                    <a:solidFill>
                      <a:srgbClr val="EFE6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7.30 </a:t>
                      </a:r>
                    </a:p>
                  </a:txBody>
                  <a:tcPr marL="36000" marR="36000" marT="0" marB="0" anchor="ctr">
                    <a:lnL>
                      <a:noFill/>
                    </a:lnL>
                    <a:lnR>
                      <a:noFill/>
                    </a:lnR>
                    <a:lnT>
                      <a:noFill/>
                    </a:lnT>
                    <a:lnB>
                      <a:noFill/>
                    </a:lnB>
                    <a:solidFill>
                      <a:srgbClr val="FCA9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4.23 </a:t>
                      </a:r>
                    </a:p>
                  </a:txBody>
                  <a:tcPr marL="36000" marR="36000" marT="0" marB="0" anchor="ctr">
                    <a:lnL>
                      <a:noFill/>
                    </a:lnL>
                    <a:lnR>
                      <a:noFill/>
                    </a:lnR>
                    <a:lnT>
                      <a:noFill/>
                    </a:lnT>
                    <a:lnB>
                      <a:noFill/>
                    </a:lnB>
                    <a:solidFill>
                      <a:srgbClr val="E8E4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3.30 </a:t>
                      </a:r>
                    </a:p>
                  </a:txBody>
                  <a:tcPr marL="36000" marR="36000" marT="0" marB="0" anchor="ctr">
                    <a:lnL>
                      <a:noFill/>
                    </a:lnL>
                    <a:lnR>
                      <a:noFill/>
                    </a:lnR>
                    <a:lnT>
                      <a:noFill/>
                    </a:lnT>
                    <a:lnB>
                      <a:noFill/>
                    </a:lnB>
                    <a:solidFill>
                      <a:srgbClr val="9DCE7E"/>
                    </a:solidFill>
                  </a:tcPr>
                </a:tc>
                <a:extLst>
                  <a:ext uri="{0D108BD9-81ED-4DB2-BD59-A6C34878D82A}">
                    <a16:rowId xmlns:a16="http://schemas.microsoft.com/office/drawing/2014/main" val="28043227"/>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13</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2.98 </a:t>
                      </a:r>
                    </a:p>
                  </a:txBody>
                  <a:tcPr marL="36000" marR="36000" marT="0" marB="0" anchor="ctr">
                    <a:lnL>
                      <a:noFill/>
                    </a:lnL>
                    <a:lnR>
                      <a:noFill/>
                    </a:lnR>
                    <a:lnT>
                      <a:noFill/>
                    </a:lnT>
                    <a:lnB>
                      <a:noFill/>
                    </a:lnB>
                    <a:solidFill>
                      <a:srgbClr val="83C7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3.04 </a:t>
                      </a:r>
                    </a:p>
                  </a:txBody>
                  <a:tcPr marL="36000" marR="36000" marT="0" marB="0" anchor="ctr">
                    <a:lnL>
                      <a:noFill/>
                    </a:lnL>
                    <a:lnR>
                      <a:noFill/>
                    </a:lnR>
                    <a:lnT>
                      <a:noFill/>
                    </a:lnT>
                    <a:lnB>
                      <a:noFill/>
                    </a:lnB>
                    <a:solidFill>
                      <a:srgbClr val="89C8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3.21 </a:t>
                      </a:r>
                    </a:p>
                  </a:txBody>
                  <a:tcPr marL="36000" marR="36000" marT="0" marB="0" anchor="ctr">
                    <a:lnL>
                      <a:noFill/>
                    </a:lnL>
                    <a:lnR>
                      <a:noFill/>
                    </a:lnR>
                    <a:lnT>
                      <a:noFill/>
                    </a:lnT>
                    <a:lnB>
                      <a:noFill/>
                    </a:lnB>
                    <a:solidFill>
                      <a:srgbClr val="96CC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2.78 </a:t>
                      </a:r>
                    </a:p>
                  </a:txBody>
                  <a:tcPr marL="36000" marR="36000" marT="0" marB="0" anchor="ctr">
                    <a:lnL>
                      <a:noFill/>
                    </a:lnL>
                    <a:lnR>
                      <a:noFill/>
                    </a:lnR>
                    <a:lnT>
                      <a:noFill/>
                    </a:lnT>
                    <a:lnB>
                      <a:noFill/>
                    </a:lnB>
                    <a:solidFill>
                      <a:srgbClr val="73C2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4.15 </a:t>
                      </a:r>
                    </a:p>
                  </a:txBody>
                  <a:tcPr marL="36000" marR="36000" marT="0" marB="0" anchor="ctr">
                    <a:lnL>
                      <a:noFill/>
                    </a:lnL>
                    <a:lnR>
                      <a:noFill/>
                    </a:lnR>
                    <a:lnT>
                      <a:noFill/>
                    </a:lnT>
                    <a:lnB>
                      <a:noFill/>
                    </a:lnB>
                    <a:solidFill>
                      <a:srgbClr val="E1E2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4.02 </a:t>
                      </a:r>
                    </a:p>
                  </a:txBody>
                  <a:tcPr marL="36000" marR="36000" marT="0" marB="0" anchor="ctr">
                    <a:lnL>
                      <a:noFill/>
                    </a:lnL>
                    <a:lnR>
                      <a:noFill/>
                    </a:lnR>
                    <a:lnT>
                      <a:noFill/>
                    </a:lnT>
                    <a:lnB>
                      <a:noFill/>
                    </a:lnB>
                    <a:solidFill>
                      <a:srgbClr val="D8DF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4.62 </a:t>
                      </a:r>
                    </a:p>
                  </a:txBody>
                  <a:tcPr marL="36000" marR="36000" marT="0" marB="0" anchor="ctr">
                    <a:lnL>
                      <a:noFill/>
                    </a:lnL>
                    <a:lnR>
                      <a:noFill/>
                    </a:lnR>
                    <a:lnT>
                      <a:noFill/>
                    </a:lnT>
                    <a:lnB>
                      <a:noFill/>
                    </a:lnB>
                    <a:solidFill>
                      <a:srgbClr val="FFE9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3.19 </a:t>
                      </a:r>
                    </a:p>
                  </a:txBody>
                  <a:tcPr marL="36000" marR="36000" marT="0" marB="0" anchor="ctr">
                    <a:lnL>
                      <a:noFill/>
                    </a:lnL>
                    <a:lnR>
                      <a:noFill/>
                    </a:lnR>
                    <a:lnT>
                      <a:noFill/>
                    </a:lnT>
                    <a:lnB>
                      <a:noFill/>
                    </a:lnB>
                    <a:solidFill>
                      <a:srgbClr val="95CC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3.48 </a:t>
                      </a:r>
                    </a:p>
                  </a:txBody>
                  <a:tcPr marL="36000" marR="36000" marT="0" marB="0" anchor="ctr">
                    <a:lnL>
                      <a:noFill/>
                    </a:lnL>
                    <a:lnR>
                      <a:noFill/>
                    </a:lnR>
                    <a:lnT>
                      <a:noFill/>
                    </a:lnT>
                    <a:lnB>
                      <a:noFill/>
                    </a:lnB>
                    <a:solidFill>
                      <a:srgbClr val="ACD3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4.75 </a:t>
                      </a:r>
                    </a:p>
                  </a:txBody>
                  <a:tcPr marL="36000" marR="36000" marT="0" marB="0" anchor="ctr">
                    <a:lnL>
                      <a:noFill/>
                    </a:lnL>
                    <a:lnR>
                      <a:noFill/>
                    </a:lnR>
                    <a:lnT>
                      <a:noFill/>
                    </a:lnT>
                    <a:lnB>
                      <a:noFill/>
                    </a:lnB>
                    <a:solidFill>
                      <a:srgbClr val="FFE6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3.75 </a:t>
                      </a:r>
                    </a:p>
                  </a:txBody>
                  <a:tcPr marL="36000" marR="36000" marT="0" marB="0" anchor="ctr">
                    <a:lnL>
                      <a:noFill/>
                    </a:lnL>
                    <a:lnR>
                      <a:noFill/>
                    </a:lnR>
                    <a:lnT>
                      <a:noFill/>
                    </a:lnT>
                    <a:lnB>
                      <a:noFill/>
                    </a:lnB>
                    <a:solidFill>
                      <a:srgbClr val="C2D9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3.04 </a:t>
                      </a:r>
                    </a:p>
                  </a:txBody>
                  <a:tcPr marL="36000" marR="36000" marT="0" marB="0" anchor="ctr">
                    <a:lnL>
                      <a:noFill/>
                    </a:lnL>
                    <a:lnR>
                      <a:noFill/>
                    </a:lnR>
                    <a:lnT>
                      <a:noFill/>
                    </a:lnT>
                    <a:lnB>
                      <a:noFill/>
                    </a:lnB>
                    <a:solidFill>
                      <a:srgbClr val="88C87D"/>
                    </a:solidFill>
                  </a:tcPr>
                </a:tc>
                <a:extLst>
                  <a:ext uri="{0D108BD9-81ED-4DB2-BD59-A6C34878D82A}">
                    <a16:rowId xmlns:a16="http://schemas.microsoft.com/office/drawing/2014/main" val="1765495294"/>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14</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2.80 </a:t>
                      </a:r>
                    </a:p>
                  </a:txBody>
                  <a:tcPr marL="36000" marR="36000" marT="0" marB="0" anchor="ctr">
                    <a:lnL>
                      <a:noFill/>
                    </a:lnL>
                    <a:lnR>
                      <a:noFill/>
                    </a:lnR>
                    <a:lnT>
                      <a:noFill/>
                    </a:lnT>
                    <a:lnB>
                      <a:noFill/>
                    </a:lnB>
                    <a:solidFill>
                      <a:srgbClr val="75C3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2.94 </a:t>
                      </a:r>
                    </a:p>
                  </a:txBody>
                  <a:tcPr marL="36000" marR="36000" marT="0" marB="0" anchor="ctr">
                    <a:lnL>
                      <a:noFill/>
                    </a:lnL>
                    <a:lnR>
                      <a:noFill/>
                    </a:lnR>
                    <a:lnT>
                      <a:noFill/>
                    </a:lnT>
                    <a:lnB>
                      <a:noFill/>
                    </a:lnB>
                    <a:solidFill>
                      <a:srgbClr val="80C6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3.22 </a:t>
                      </a:r>
                    </a:p>
                  </a:txBody>
                  <a:tcPr marL="36000" marR="36000" marT="0" marB="0" anchor="ctr">
                    <a:lnL>
                      <a:noFill/>
                    </a:lnL>
                    <a:lnR>
                      <a:noFill/>
                    </a:lnR>
                    <a:lnT>
                      <a:noFill/>
                    </a:lnT>
                    <a:lnB>
                      <a:noFill/>
                    </a:lnB>
                    <a:solidFill>
                      <a:srgbClr val="97CD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2.75 </a:t>
                      </a:r>
                    </a:p>
                  </a:txBody>
                  <a:tcPr marL="36000" marR="36000" marT="0" marB="0" anchor="ctr">
                    <a:lnL>
                      <a:noFill/>
                    </a:lnL>
                    <a:lnR>
                      <a:noFill/>
                    </a:lnR>
                    <a:lnT>
                      <a:noFill/>
                    </a:lnT>
                    <a:lnB>
                      <a:noFill/>
                    </a:lnB>
                    <a:solidFill>
                      <a:srgbClr val="71C27B"/>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4.02 </a:t>
                      </a:r>
                    </a:p>
                  </a:txBody>
                  <a:tcPr marL="36000" marR="36000" marT="0" marB="0" anchor="ctr">
                    <a:lnL>
                      <a:noFill/>
                    </a:lnL>
                    <a:lnR>
                      <a:noFill/>
                    </a:lnR>
                    <a:lnT>
                      <a:noFill/>
                    </a:lnT>
                    <a:lnB>
                      <a:noFill/>
                    </a:lnB>
                    <a:solidFill>
                      <a:srgbClr val="D7DF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4.06 </a:t>
                      </a:r>
                    </a:p>
                  </a:txBody>
                  <a:tcPr marL="36000" marR="36000" marT="0" marB="0" anchor="ctr">
                    <a:lnL>
                      <a:noFill/>
                    </a:lnL>
                    <a:lnR>
                      <a:noFill/>
                    </a:lnR>
                    <a:lnT>
                      <a:noFill/>
                    </a:lnT>
                    <a:lnB>
                      <a:noFill/>
                    </a:lnB>
                    <a:solidFill>
                      <a:srgbClr val="DAE0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4.44 </a:t>
                      </a:r>
                    </a:p>
                  </a:txBody>
                  <a:tcPr marL="36000" marR="36000" marT="0" marB="0" anchor="ctr">
                    <a:lnL>
                      <a:noFill/>
                    </a:lnL>
                    <a:lnR>
                      <a:noFill/>
                    </a:lnR>
                    <a:lnT>
                      <a:noFill/>
                    </a:lnT>
                    <a:lnB>
                      <a:noFill/>
                    </a:lnB>
                    <a:solidFill>
                      <a:srgbClr val="F9E9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3.05 </a:t>
                      </a:r>
                    </a:p>
                  </a:txBody>
                  <a:tcPr marL="36000" marR="36000" marT="0" marB="0" anchor="ctr">
                    <a:lnL>
                      <a:noFill/>
                    </a:lnL>
                    <a:lnR>
                      <a:noFill/>
                    </a:lnR>
                    <a:lnT>
                      <a:noFill/>
                    </a:lnT>
                    <a:lnB>
                      <a:noFill/>
                    </a:lnB>
                    <a:solidFill>
                      <a:srgbClr val="89C9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3.17 </a:t>
                      </a:r>
                    </a:p>
                  </a:txBody>
                  <a:tcPr marL="36000" marR="36000" marT="0" marB="0" anchor="ctr">
                    <a:lnL>
                      <a:noFill/>
                    </a:lnL>
                    <a:lnR>
                      <a:noFill/>
                    </a:lnR>
                    <a:lnT>
                      <a:noFill/>
                    </a:lnT>
                    <a:lnB>
                      <a:noFill/>
                    </a:lnB>
                    <a:solidFill>
                      <a:srgbClr val="93CB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3.57 </a:t>
                      </a:r>
                    </a:p>
                  </a:txBody>
                  <a:tcPr marL="36000" marR="36000" marT="0" marB="0" anchor="ctr">
                    <a:lnL>
                      <a:noFill/>
                    </a:lnL>
                    <a:lnR>
                      <a:noFill/>
                    </a:lnR>
                    <a:lnT>
                      <a:noFill/>
                    </a:lnT>
                    <a:lnB>
                      <a:noFill/>
                    </a:lnB>
                    <a:solidFill>
                      <a:srgbClr val="B3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3.37 </a:t>
                      </a:r>
                    </a:p>
                  </a:txBody>
                  <a:tcPr marL="36000" marR="36000" marT="0" marB="0" anchor="ctr">
                    <a:lnL>
                      <a:noFill/>
                    </a:lnL>
                    <a:lnR>
                      <a:noFill/>
                    </a:lnR>
                    <a:lnT>
                      <a:noFill/>
                    </a:lnT>
                    <a:lnB>
                      <a:noFill/>
                    </a:lnB>
                    <a:solidFill>
                      <a:srgbClr val="A3D0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2.74 </a:t>
                      </a:r>
                    </a:p>
                  </a:txBody>
                  <a:tcPr marL="36000" marR="36000" marT="0" marB="0" anchor="ctr">
                    <a:lnL>
                      <a:noFill/>
                    </a:lnL>
                    <a:lnR>
                      <a:noFill/>
                    </a:lnR>
                    <a:lnT>
                      <a:noFill/>
                    </a:lnT>
                    <a:lnB>
                      <a:noFill/>
                    </a:lnB>
                    <a:solidFill>
                      <a:srgbClr val="70C17B"/>
                    </a:solidFill>
                  </a:tcPr>
                </a:tc>
                <a:extLst>
                  <a:ext uri="{0D108BD9-81ED-4DB2-BD59-A6C34878D82A}">
                    <a16:rowId xmlns:a16="http://schemas.microsoft.com/office/drawing/2014/main" val="1603103431"/>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15</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3.15 </a:t>
                      </a:r>
                    </a:p>
                  </a:txBody>
                  <a:tcPr marL="36000" marR="36000" marT="0" marB="0" anchor="ctr">
                    <a:lnL>
                      <a:noFill/>
                    </a:lnL>
                    <a:lnR>
                      <a:noFill/>
                    </a:lnR>
                    <a:lnT>
                      <a:noFill/>
                    </a:lnT>
                    <a:lnB>
                      <a:noFill/>
                    </a:lnB>
                    <a:solidFill>
                      <a:srgbClr val="91CB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3.37 </a:t>
                      </a:r>
                    </a:p>
                  </a:txBody>
                  <a:tcPr marL="36000" marR="36000" marT="0" marB="0" anchor="ctr">
                    <a:lnL>
                      <a:noFill/>
                    </a:lnL>
                    <a:lnR>
                      <a:noFill/>
                    </a:lnR>
                    <a:lnT>
                      <a:noFill/>
                    </a:lnT>
                    <a:lnB>
                      <a:noFill/>
                    </a:lnB>
                    <a:solidFill>
                      <a:srgbClr val="A3D0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3.87 </a:t>
                      </a:r>
                    </a:p>
                  </a:txBody>
                  <a:tcPr marL="36000" marR="36000" marT="0" marB="0" anchor="ctr">
                    <a:lnL>
                      <a:noFill/>
                    </a:lnL>
                    <a:lnR>
                      <a:noFill/>
                    </a:lnR>
                    <a:lnT>
                      <a:noFill/>
                    </a:lnT>
                    <a:lnB>
                      <a:noFill/>
                    </a:lnB>
                    <a:solidFill>
                      <a:srgbClr val="CBDC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2.94 </a:t>
                      </a:r>
                    </a:p>
                  </a:txBody>
                  <a:tcPr marL="36000" marR="36000" marT="0" marB="0" anchor="ctr">
                    <a:lnL>
                      <a:noFill/>
                    </a:lnL>
                    <a:lnR>
                      <a:noFill/>
                    </a:lnR>
                    <a:lnT>
                      <a:noFill/>
                    </a:lnT>
                    <a:lnB>
                      <a:noFill/>
                    </a:lnB>
                    <a:solidFill>
                      <a:srgbClr val="80C6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4.98 </a:t>
                      </a:r>
                    </a:p>
                  </a:txBody>
                  <a:tcPr marL="36000" marR="36000" marT="0" marB="0" anchor="ctr">
                    <a:lnL>
                      <a:noFill/>
                    </a:lnL>
                    <a:lnR>
                      <a:noFill/>
                    </a:lnR>
                    <a:lnT>
                      <a:noFill/>
                    </a:lnT>
                    <a:lnB>
                      <a:noFill/>
                    </a:lnB>
                    <a:solidFill>
                      <a:srgbClr val="FFE0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4.68 </a:t>
                      </a:r>
                    </a:p>
                  </a:txBody>
                  <a:tcPr marL="36000" marR="36000" marT="0" marB="0" anchor="ctr">
                    <a:lnL>
                      <a:noFill/>
                    </a:lnL>
                    <a:lnR>
                      <a:noFill/>
                    </a:lnR>
                    <a:lnT>
                      <a:noFill/>
                    </a:lnT>
                    <a:lnB>
                      <a:noFill/>
                    </a:lnB>
                    <a:solidFill>
                      <a:srgbClr val="FFE7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5.19 </a:t>
                      </a:r>
                    </a:p>
                  </a:txBody>
                  <a:tcPr marL="36000" marR="36000" marT="0" marB="0" anchor="ctr">
                    <a:lnL>
                      <a:noFill/>
                    </a:lnL>
                    <a:lnR>
                      <a:noFill/>
                    </a:lnR>
                    <a:lnT>
                      <a:noFill/>
                    </a:lnT>
                    <a:lnB>
                      <a:noFill/>
                    </a:lnB>
                    <a:solidFill>
                      <a:srgbClr val="FFDB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3.30 </a:t>
                      </a:r>
                    </a:p>
                  </a:txBody>
                  <a:tcPr marL="36000" marR="36000" marT="0" marB="0" anchor="ctr">
                    <a:lnL>
                      <a:noFill/>
                    </a:lnL>
                    <a:lnR>
                      <a:noFill/>
                    </a:lnR>
                    <a:lnT>
                      <a:noFill/>
                    </a:lnT>
                    <a:lnB>
                      <a:noFill/>
                    </a:lnB>
                    <a:solidFill>
                      <a:srgbClr val="9ECF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3.32 </a:t>
                      </a:r>
                    </a:p>
                  </a:txBody>
                  <a:tcPr marL="36000" marR="36000" marT="0" marB="0" anchor="ctr">
                    <a:lnL>
                      <a:noFill/>
                    </a:lnL>
                    <a:lnR>
                      <a:noFill/>
                    </a:lnR>
                    <a:lnT>
                      <a:noFill/>
                    </a:lnT>
                    <a:lnB>
                      <a:noFill/>
                    </a:lnB>
                    <a:solidFill>
                      <a:srgbClr val="9FCF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3.75 </a:t>
                      </a:r>
                    </a:p>
                  </a:txBody>
                  <a:tcPr marL="36000" marR="36000" marT="0" marB="0" anchor="ctr">
                    <a:lnL>
                      <a:noFill/>
                    </a:lnL>
                    <a:lnR>
                      <a:noFill/>
                    </a:lnR>
                    <a:lnT>
                      <a:noFill/>
                    </a:lnT>
                    <a:lnB>
                      <a:noFill/>
                    </a:lnB>
                    <a:solidFill>
                      <a:srgbClr val="C1D9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3.43 </a:t>
                      </a:r>
                    </a:p>
                  </a:txBody>
                  <a:tcPr marL="36000" marR="36000" marT="0" marB="0" anchor="ctr">
                    <a:lnL>
                      <a:noFill/>
                    </a:lnL>
                    <a:lnR>
                      <a:noFill/>
                    </a:lnR>
                    <a:lnT>
                      <a:noFill/>
                    </a:lnT>
                    <a:lnB>
                      <a:noFill/>
                    </a:lnB>
                    <a:solidFill>
                      <a:srgbClr val="A7D1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3.05 </a:t>
                      </a:r>
                    </a:p>
                  </a:txBody>
                  <a:tcPr marL="36000" marR="36000" marT="0" marB="0" anchor="ctr">
                    <a:lnL>
                      <a:noFill/>
                    </a:lnL>
                    <a:lnR>
                      <a:noFill/>
                    </a:lnR>
                    <a:lnT>
                      <a:noFill/>
                    </a:lnT>
                    <a:lnB>
                      <a:noFill/>
                    </a:lnB>
                    <a:solidFill>
                      <a:srgbClr val="89C97D"/>
                    </a:solidFill>
                  </a:tcPr>
                </a:tc>
                <a:extLst>
                  <a:ext uri="{0D108BD9-81ED-4DB2-BD59-A6C34878D82A}">
                    <a16:rowId xmlns:a16="http://schemas.microsoft.com/office/drawing/2014/main" val="1549203669"/>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16</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3.46 </a:t>
                      </a:r>
                    </a:p>
                  </a:txBody>
                  <a:tcPr marL="36000" marR="36000" marT="0" marB="0" anchor="ctr">
                    <a:lnL>
                      <a:noFill/>
                    </a:lnL>
                    <a:lnR>
                      <a:noFill/>
                    </a:lnR>
                    <a:lnT>
                      <a:noFill/>
                    </a:lnT>
                    <a:lnB>
                      <a:noFill/>
                    </a:lnB>
                    <a:solidFill>
                      <a:srgbClr val="ABD2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3.86 </a:t>
                      </a:r>
                    </a:p>
                  </a:txBody>
                  <a:tcPr marL="36000" marR="36000" marT="0" marB="0" anchor="ctr">
                    <a:lnL>
                      <a:noFill/>
                    </a:lnL>
                    <a:lnR>
                      <a:noFill/>
                    </a:lnR>
                    <a:lnT>
                      <a:noFill/>
                    </a:lnT>
                    <a:lnB>
                      <a:noFill/>
                    </a:lnB>
                    <a:solidFill>
                      <a:srgbClr val="CADB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4.43 </a:t>
                      </a:r>
                    </a:p>
                  </a:txBody>
                  <a:tcPr marL="36000" marR="36000" marT="0" marB="0" anchor="ctr">
                    <a:lnL>
                      <a:noFill/>
                    </a:lnL>
                    <a:lnR>
                      <a:noFill/>
                    </a:lnR>
                    <a:lnT>
                      <a:noFill/>
                    </a:lnT>
                    <a:lnB>
                      <a:noFill/>
                    </a:lnB>
                    <a:solidFill>
                      <a:srgbClr val="F8E9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3.13 </a:t>
                      </a:r>
                    </a:p>
                  </a:txBody>
                  <a:tcPr marL="36000" marR="36000" marT="0" marB="0" anchor="ctr">
                    <a:lnL>
                      <a:noFill/>
                    </a:lnL>
                    <a:lnR>
                      <a:noFill/>
                    </a:lnR>
                    <a:lnT>
                      <a:noFill/>
                    </a:lnT>
                    <a:lnB>
                      <a:noFill/>
                    </a:lnB>
                    <a:solidFill>
                      <a:srgbClr val="90CB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5.59 </a:t>
                      </a:r>
                    </a:p>
                  </a:txBody>
                  <a:tcPr marL="36000" marR="36000" marT="0" marB="0" anchor="ctr">
                    <a:lnL>
                      <a:noFill/>
                    </a:lnL>
                    <a:lnR>
                      <a:noFill/>
                    </a:lnR>
                    <a:lnT>
                      <a:noFill/>
                    </a:lnT>
                    <a:lnB>
                      <a:noFill/>
                    </a:lnB>
                    <a:solidFill>
                      <a:srgbClr val="FED2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5.35 </a:t>
                      </a:r>
                    </a:p>
                  </a:txBody>
                  <a:tcPr marL="36000" marR="36000" marT="0" marB="0" anchor="ctr">
                    <a:lnL>
                      <a:noFill/>
                    </a:lnL>
                    <a:lnR>
                      <a:noFill/>
                    </a:lnR>
                    <a:lnT>
                      <a:noFill/>
                    </a:lnT>
                    <a:lnB>
                      <a:noFill/>
                    </a:lnB>
                    <a:solidFill>
                      <a:srgbClr val="FED7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5.96 </a:t>
                      </a:r>
                    </a:p>
                  </a:txBody>
                  <a:tcPr marL="36000" marR="36000" marT="0" marB="0" anchor="ctr">
                    <a:lnL>
                      <a:noFill/>
                    </a:lnL>
                    <a:lnR>
                      <a:noFill/>
                    </a:lnR>
                    <a:lnT>
                      <a:noFill/>
                    </a:lnT>
                    <a:lnB>
                      <a:noFill/>
                    </a:lnB>
                    <a:solidFill>
                      <a:srgbClr val="FEC9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3.69 </a:t>
                      </a:r>
                    </a:p>
                  </a:txBody>
                  <a:tcPr marL="36000" marR="36000" marT="0" marB="0" anchor="ctr">
                    <a:lnL>
                      <a:noFill/>
                    </a:lnL>
                    <a:lnR>
                      <a:noFill/>
                    </a:lnR>
                    <a:lnT>
                      <a:noFill/>
                    </a:lnT>
                    <a:lnB>
                      <a:noFill/>
                    </a:lnB>
                    <a:solidFill>
                      <a:srgbClr val="BDD8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3.58 </a:t>
                      </a:r>
                    </a:p>
                  </a:txBody>
                  <a:tcPr marL="36000" marR="36000" marT="0" marB="0" anchor="ctr">
                    <a:lnL>
                      <a:noFill/>
                    </a:lnL>
                    <a:lnR>
                      <a:noFill/>
                    </a:lnR>
                    <a:lnT>
                      <a:noFill/>
                    </a:lnT>
                    <a:lnB>
                      <a:noFill/>
                    </a:lnB>
                    <a:solidFill>
                      <a:srgbClr val="B4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4.40 </a:t>
                      </a:r>
                    </a:p>
                  </a:txBody>
                  <a:tcPr marL="36000" marR="36000" marT="0" marB="0" anchor="ctr">
                    <a:lnL>
                      <a:noFill/>
                    </a:lnL>
                    <a:lnR>
                      <a:noFill/>
                    </a:lnR>
                    <a:lnT>
                      <a:noFill/>
                    </a:lnT>
                    <a:lnB>
                      <a:noFill/>
                    </a:lnB>
                    <a:solidFill>
                      <a:srgbClr val="F6E8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3.71 </a:t>
                      </a:r>
                    </a:p>
                  </a:txBody>
                  <a:tcPr marL="36000" marR="36000" marT="0" marB="0" anchor="ctr">
                    <a:lnL>
                      <a:noFill/>
                    </a:lnL>
                    <a:lnR>
                      <a:noFill/>
                    </a:lnR>
                    <a:lnT>
                      <a:noFill/>
                    </a:lnT>
                    <a:lnB>
                      <a:noFill/>
                    </a:lnB>
                    <a:solidFill>
                      <a:srgbClr val="BED8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3.30 </a:t>
                      </a:r>
                    </a:p>
                  </a:txBody>
                  <a:tcPr marL="36000" marR="36000" marT="0" marB="0" anchor="ctr">
                    <a:lnL>
                      <a:noFill/>
                    </a:lnL>
                    <a:lnR>
                      <a:noFill/>
                    </a:lnR>
                    <a:lnT>
                      <a:noFill/>
                    </a:lnT>
                    <a:lnB>
                      <a:noFill/>
                    </a:lnB>
                    <a:solidFill>
                      <a:srgbClr val="9DCE7E"/>
                    </a:solidFill>
                  </a:tcPr>
                </a:tc>
                <a:extLst>
                  <a:ext uri="{0D108BD9-81ED-4DB2-BD59-A6C34878D82A}">
                    <a16:rowId xmlns:a16="http://schemas.microsoft.com/office/drawing/2014/main" val="3903454247"/>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17</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3.85 </a:t>
                      </a:r>
                    </a:p>
                  </a:txBody>
                  <a:tcPr marL="36000" marR="36000" marT="0" marB="0" anchor="ctr">
                    <a:lnL>
                      <a:noFill/>
                    </a:lnL>
                    <a:lnR>
                      <a:noFill/>
                    </a:lnR>
                    <a:lnT>
                      <a:noFill/>
                    </a:lnT>
                    <a:lnB>
                      <a:noFill/>
                    </a:lnB>
                    <a:solidFill>
                      <a:srgbClr val="CADB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3.96 </a:t>
                      </a:r>
                    </a:p>
                  </a:txBody>
                  <a:tcPr marL="36000" marR="36000" marT="0" marB="0" anchor="ctr">
                    <a:lnL>
                      <a:noFill/>
                    </a:lnL>
                    <a:lnR>
                      <a:noFill/>
                    </a:lnR>
                    <a:lnT>
                      <a:noFill/>
                    </a:lnT>
                    <a:lnB>
                      <a:noFill/>
                    </a:lnB>
                    <a:solidFill>
                      <a:srgbClr val="D2DE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4.39 </a:t>
                      </a:r>
                    </a:p>
                  </a:txBody>
                  <a:tcPr marL="36000" marR="36000" marT="0" marB="0" anchor="ctr">
                    <a:lnL>
                      <a:noFill/>
                    </a:lnL>
                    <a:lnR>
                      <a:noFill/>
                    </a:lnR>
                    <a:lnT>
                      <a:noFill/>
                    </a:lnT>
                    <a:lnB>
                      <a:noFill/>
                    </a:lnB>
                    <a:solidFill>
                      <a:srgbClr val="F5E8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3.15 </a:t>
                      </a:r>
                    </a:p>
                  </a:txBody>
                  <a:tcPr marL="36000" marR="36000" marT="0" marB="0" anchor="ctr">
                    <a:lnL>
                      <a:noFill/>
                    </a:lnL>
                    <a:lnR>
                      <a:noFill/>
                    </a:lnR>
                    <a:lnT>
                      <a:noFill/>
                    </a:lnT>
                    <a:lnB>
                      <a:noFill/>
                    </a:lnB>
                    <a:solidFill>
                      <a:srgbClr val="91CB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6.06 </a:t>
                      </a:r>
                    </a:p>
                  </a:txBody>
                  <a:tcPr marL="36000" marR="36000" marT="0" marB="0" anchor="ctr">
                    <a:lnL>
                      <a:noFill/>
                    </a:lnL>
                    <a:lnR>
                      <a:noFill/>
                    </a:lnR>
                    <a:lnT>
                      <a:noFill/>
                    </a:lnT>
                    <a:lnB>
                      <a:noFill/>
                    </a:lnB>
                    <a:solidFill>
                      <a:srgbClr val="FEC6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5.54 </a:t>
                      </a:r>
                    </a:p>
                  </a:txBody>
                  <a:tcPr marL="36000" marR="36000" marT="0" marB="0" anchor="ctr">
                    <a:lnL>
                      <a:noFill/>
                    </a:lnL>
                    <a:lnR>
                      <a:noFill/>
                    </a:lnR>
                    <a:lnT>
                      <a:noFill/>
                    </a:lnT>
                    <a:lnB>
                      <a:noFill/>
                    </a:lnB>
                    <a:solidFill>
                      <a:srgbClr val="FED3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7.04 </a:t>
                      </a:r>
                    </a:p>
                  </a:txBody>
                  <a:tcPr marL="36000" marR="36000" marT="0" marB="0" anchor="ctr">
                    <a:lnL>
                      <a:noFill/>
                    </a:lnL>
                    <a:lnR>
                      <a:noFill/>
                    </a:lnR>
                    <a:lnT>
                      <a:noFill/>
                    </a:lnT>
                    <a:lnB>
                      <a:noFill/>
                    </a:lnB>
                    <a:solidFill>
                      <a:srgbClr val="FCAF7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4.87 </a:t>
                      </a:r>
                    </a:p>
                  </a:txBody>
                  <a:tcPr marL="36000" marR="36000" marT="0" marB="0" anchor="ctr">
                    <a:lnL>
                      <a:noFill/>
                    </a:lnL>
                    <a:lnR>
                      <a:noFill/>
                    </a:lnR>
                    <a:lnT>
                      <a:noFill/>
                    </a:lnT>
                    <a:lnB>
                      <a:noFill/>
                    </a:lnB>
                    <a:solidFill>
                      <a:srgbClr val="FFE3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5.57 </a:t>
                      </a:r>
                    </a:p>
                  </a:txBody>
                  <a:tcPr marL="36000" marR="36000" marT="0" marB="0" anchor="ctr">
                    <a:lnL>
                      <a:noFill/>
                    </a:lnL>
                    <a:lnR>
                      <a:noFill/>
                    </a:lnR>
                    <a:lnT>
                      <a:noFill/>
                    </a:lnT>
                    <a:lnB>
                      <a:noFill/>
                    </a:lnB>
                    <a:solidFill>
                      <a:srgbClr val="FED2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7.33 </a:t>
                      </a:r>
                    </a:p>
                  </a:txBody>
                  <a:tcPr marL="36000" marR="36000" marT="0" marB="0" anchor="ctr">
                    <a:lnL>
                      <a:noFill/>
                    </a:lnL>
                    <a:lnR>
                      <a:noFill/>
                    </a:lnR>
                    <a:lnT>
                      <a:noFill/>
                    </a:lnT>
                    <a:lnB>
                      <a:noFill/>
                    </a:lnB>
                    <a:solidFill>
                      <a:srgbClr val="FCA8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4.74 </a:t>
                      </a:r>
                    </a:p>
                  </a:txBody>
                  <a:tcPr marL="36000" marR="36000" marT="0" marB="0" anchor="ctr">
                    <a:lnL>
                      <a:noFill/>
                    </a:lnL>
                    <a:lnR>
                      <a:noFill/>
                    </a:lnR>
                    <a:lnT>
                      <a:noFill/>
                    </a:lnT>
                    <a:lnB>
                      <a:noFill/>
                    </a:lnB>
                    <a:solidFill>
                      <a:srgbClr val="FFE6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3.71 </a:t>
                      </a:r>
                    </a:p>
                  </a:txBody>
                  <a:tcPr marL="36000" marR="36000" marT="0" marB="0" anchor="ctr">
                    <a:lnL>
                      <a:noFill/>
                    </a:lnL>
                    <a:lnR>
                      <a:noFill/>
                    </a:lnR>
                    <a:lnT>
                      <a:noFill/>
                    </a:lnT>
                    <a:lnB>
                      <a:noFill/>
                    </a:lnB>
                    <a:solidFill>
                      <a:srgbClr val="BFD880"/>
                    </a:solidFill>
                  </a:tcPr>
                </a:tc>
                <a:extLst>
                  <a:ext uri="{0D108BD9-81ED-4DB2-BD59-A6C34878D82A}">
                    <a16:rowId xmlns:a16="http://schemas.microsoft.com/office/drawing/2014/main" val="2483042730"/>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18</a:t>
                      </a:r>
                    </a:p>
                  </a:txBody>
                  <a:tcPr marL="36000" marR="36000" marT="0" marB="0" anchor="ctr">
                    <a:lnL>
                      <a:noFill/>
                    </a:lnL>
                    <a:lnR>
                      <a:noFill/>
                    </a:lnR>
                    <a:lnT>
                      <a:noFill/>
                    </a:lnT>
                    <a:lnB>
                      <a:noFill/>
                    </a:lnB>
                    <a:solidFill>
                      <a:srgbClr val="FFCD0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4.19 </a:t>
                      </a:r>
                    </a:p>
                  </a:txBody>
                  <a:tcPr marL="36000" marR="36000" marT="0" marB="0" anchor="ctr">
                    <a:lnL>
                      <a:noFill/>
                    </a:lnL>
                    <a:lnR>
                      <a:noFill/>
                    </a:lnR>
                    <a:lnT>
                      <a:noFill/>
                    </a:lnT>
                    <a:lnB>
                      <a:noFill/>
                    </a:lnB>
                    <a:solidFill>
                      <a:srgbClr val="E5E3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3.97 </a:t>
                      </a:r>
                    </a:p>
                  </a:txBody>
                  <a:tcPr marL="36000" marR="36000" marT="0" marB="0" anchor="ctr">
                    <a:lnL>
                      <a:noFill/>
                    </a:lnL>
                    <a:lnR>
                      <a:noFill/>
                    </a:lnR>
                    <a:lnT>
                      <a:noFill/>
                    </a:lnT>
                    <a:lnB>
                      <a:noFill/>
                    </a:lnB>
                    <a:solidFill>
                      <a:srgbClr val="D3DE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4.07 </a:t>
                      </a:r>
                    </a:p>
                  </a:txBody>
                  <a:tcPr marL="36000" marR="36000" marT="0" marB="0" anchor="ctr">
                    <a:lnL>
                      <a:noFill/>
                    </a:lnL>
                    <a:lnR>
                      <a:noFill/>
                    </a:lnR>
                    <a:lnT>
                      <a:noFill/>
                    </a:lnT>
                    <a:lnB>
                      <a:noFill/>
                    </a:lnB>
                    <a:solidFill>
                      <a:srgbClr val="DBE0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3.20 </a:t>
                      </a:r>
                    </a:p>
                  </a:txBody>
                  <a:tcPr marL="36000" marR="36000" marT="0" marB="0" anchor="ctr">
                    <a:lnL>
                      <a:noFill/>
                    </a:lnL>
                    <a:lnR>
                      <a:noFill/>
                    </a:lnR>
                    <a:lnT>
                      <a:noFill/>
                    </a:lnT>
                    <a:lnB>
                      <a:noFill/>
                    </a:lnB>
                    <a:solidFill>
                      <a:srgbClr val="95CC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6.26 </a:t>
                      </a:r>
                    </a:p>
                  </a:txBody>
                  <a:tcPr marL="36000" marR="36000" marT="0" marB="0" anchor="ctr">
                    <a:lnL>
                      <a:noFill/>
                    </a:lnL>
                    <a:lnR>
                      <a:noFill/>
                    </a:lnR>
                    <a:lnT>
                      <a:noFill/>
                    </a:lnT>
                    <a:lnB>
                      <a:noFill/>
                    </a:lnB>
                    <a:solidFill>
                      <a:srgbClr val="FDC2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5.81 </a:t>
                      </a:r>
                    </a:p>
                  </a:txBody>
                  <a:tcPr marL="36000" marR="36000" marT="0" marB="0" anchor="ctr">
                    <a:lnL>
                      <a:noFill/>
                    </a:lnL>
                    <a:lnR>
                      <a:noFill/>
                    </a:lnR>
                    <a:lnT>
                      <a:noFill/>
                    </a:lnT>
                    <a:lnB>
                      <a:noFill/>
                    </a:lnB>
                    <a:solidFill>
                      <a:srgbClr val="FECD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8.28 </a:t>
                      </a:r>
                    </a:p>
                  </a:txBody>
                  <a:tcPr marL="36000" marR="36000" marT="0" marB="0" anchor="ctr">
                    <a:lnL>
                      <a:noFill/>
                    </a:lnL>
                    <a:lnR>
                      <a:noFill/>
                    </a:lnR>
                    <a:lnT>
                      <a:noFill/>
                    </a:lnT>
                    <a:lnB>
                      <a:noFill/>
                    </a:lnB>
                    <a:solidFill>
                      <a:srgbClr val="FB92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8.15 </a:t>
                      </a:r>
                    </a:p>
                  </a:txBody>
                  <a:tcPr marL="36000" marR="36000" marT="0" marB="0" anchor="ctr">
                    <a:lnL>
                      <a:noFill/>
                    </a:lnL>
                    <a:lnR>
                      <a:noFill/>
                    </a:lnR>
                    <a:lnT>
                      <a:noFill/>
                    </a:lnT>
                    <a:lnB>
                      <a:noFill/>
                    </a:lnB>
                    <a:solidFill>
                      <a:srgbClr val="FB957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8.70 </a:t>
                      </a:r>
                    </a:p>
                  </a:txBody>
                  <a:tcPr marL="36000" marR="36000" marT="0" marB="0" anchor="ctr">
                    <a:lnL>
                      <a:noFill/>
                    </a:lnL>
                    <a:lnR>
                      <a:noFill/>
                    </a:lnR>
                    <a:lnT>
                      <a:noFill/>
                    </a:lnT>
                    <a:lnB>
                      <a:noFill/>
                    </a:lnB>
                    <a:solidFill>
                      <a:srgbClr val="FA877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9.63 </a:t>
                      </a:r>
                    </a:p>
                  </a:txBody>
                  <a:tcPr marL="36000" marR="36000" marT="0" marB="0" anchor="ctr">
                    <a:lnL>
                      <a:noFill/>
                    </a:lnL>
                    <a:lnR>
                      <a:noFill/>
                    </a:lnR>
                    <a:lnT>
                      <a:noFill/>
                    </a:lnT>
                    <a:lnB>
                      <a:noFill/>
                    </a:lnB>
                    <a:solidFill>
                      <a:srgbClr val="F9716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6.35 </a:t>
                      </a:r>
                    </a:p>
                  </a:txBody>
                  <a:tcPr marL="36000" marR="36000" marT="0" marB="0" anchor="ctr">
                    <a:lnL>
                      <a:noFill/>
                    </a:lnL>
                    <a:lnR>
                      <a:noFill/>
                    </a:lnR>
                    <a:lnT>
                      <a:noFill/>
                    </a:lnT>
                    <a:lnB>
                      <a:noFill/>
                    </a:lnB>
                    <a:solidFill>
                      <a:srgbClr val="FDBF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3.77 </a:t>
                      </a:r>
                    </a:p>
                  </a:txBody>
                  <a:tcPr marL="36000" marR="36000" marT="0" marB="0" anchor="ctr">
                    <a:lnL>
                      <a:noFill/>
                    </a:lnL>
                    <a:lnR>
                      <a:noFill/>
                    </a:lnR>
                    <a:lnT>
                      <a:noFill/>
                    </a:lnT>
                    <a:lnB>
                      <a:noFill/>
                    </a:lnB>
                    <a:solidFill>
                      <a:srgbClr val="C3D980"/>
                    </a:solidFill>
                  </a:tcPr>
                </a:tc>
                <a:extLst>
                  <a:ext uri="{0D108BD9-81ED-4DB2-BD59-A6C34878D82A}">
                    <a16:rowId xmlns:a16="http://schemas.microsoft.com/office/drawing/2014/main" val="609000752"/>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19</a:t>
                      </a:r>
                    </a:p>
                  </a:txBody>
                  <a:tcPr marL="36000" marR="36000" marT="0" marB="0" anchor="ctr">
                    <a:lnL>
                      <a:noFill/>
                    </a:lnL>
                    <a:lnR>
                      <a:noFill/>
                    </a:lnR>
                    <a:lnT>
                      <a:noFill/>
                    </a:lnT>
                    <a:lnB>
                      <a:noFill/>
                    </a:lnB>
                    <a:solidFill>
                      <a:srgbClr val="0097A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6.34 </a:t>
                      </a:r>
                    </a:p>
                  </a:txBody>
                  <a:tcPr marL="36000" marR="36000" marT="0" marB="0" anchor="ctr">
                    <a:lnL>
                      <a:noFill/>
                    </a:lnL>
                    <a:lnR>
                      <a:noFill/>
                    </a:lnR>
                    <a:lnT>
                      <a:noFill/>
                    </a:lnT>
                    <a:lnB>
                      <a:noFill/>
                    </a:lnB>
                    <a:solidFill>
                      <a:srgbClr val="FDC0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4.55 </a:t>
                      </a:r>
                    </a:p>
                  </a:txBody>
                  <a:tcPr marL="36000" marR="36000" marT="0" marB="0" anchor="ctr">
                    <a:lnL>
                      <a:noFill/>
                    </a:lnL>
                    <a:lnR>
                      <a:noFill/>
                    </a:lnR>
                    <a:lnT>
                      <a:noFill/>
                    </a:lnT>
                    <a:lnB>
                      <a:noFill/>
                    </a:lnB>
                    <a:solidFill>
                      <a:srgbClr val="FFEA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4.59 </a:t>
                      </a:r>
                    </a:p>
                  </a:txBody>
                  <a:tcPr marL="36000" marR="36000" marT="0" marB="0" anchor="ctr">
                    <a:lnL>
                      <a:noFill/>
                    </a:lnL>
                    <a:lnR>
                      <a:noFill/>
                    </a:lnR>
                    <a:lnT>
                      <a:noFill/>
                    </a:lnT>
                    <a:lnB>
                      <a:noFill/>
                    </a:lnB>
                    <a:solidFill>
                      <a:srgbClr val="FFEA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4.13 </a:t>
                      </a:r>
                    </a:p>
                  </a:txBody>
                  <a:tcPr marL="36000" marR="36000" marT="0" marB="0" anchor="ctr">
                    <a:lnL>
                      <a:noFill/>
                    </a:lnL>
                    <a:lnR>
                      <a:noFill/>
                    </a:lnR>
                    <a:lnT>
                      <a:noFill/>
                    </a:lnT>
                    <a:lnB>
                      <a:noFill/>
                    </a:lnB>
                    <a:solidFill>
                      <a:srgbClr val="E0E2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7.42 </a:t>
                      </a:r>
                    </a:p>
                  </a:txBody>
                  <a:tcPr marL="36000" marR="36000" marT="0" marB="0" anchor="ctr">
                    <a:lnL>
                      <a:noFill/>
                    </a:lnL>
                    <a:lnR>
                      <a:noFill/>
                    </a:lnR>
                    <a:lnT>
                      <a:noFill/>
                    </a:lnT>
                    <a:lnB>
                      <a:noFill/>
                    </a:lnB>
                    <a:solidFill>
                      <a:srgbClr val="FCA6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7.58 </a:t>
                      </a:r>
                    </a:p>
                  </a:txBody>
                  <a:tcPr marL="36000" marR="36000" marT="0" marB="0" anchor="ctr">
                    <a:lnL>
                      <a:noFill/>
                    </a:lnL>
                    <a:lnR>
                      <a:noFill/>
                    </a:lnR>
                    <a:lnT>
                      <a:noFill/>
                    </a:lnT>
                    <a:lnB>
                      <a:noFill/>
                    </a:lnB>
                    <a:solidFill>
                      <a:srgbClr val="FCA2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8.83 </a:t>
                      </a:r>
                    </a:p>
                  </a:txBody>
                  <a:tcPr marL="36000" marR="36000" marT="0" marB="0" anchor="ctr">
                    <a:lnL>
                      <a:noFill/>
                    </a:lnL>
                    <a:lnR>
                      <a:noFill/>
                    </a:lnR>
                    <a:lnT>
                      <a:noFill/>
                    </a:lnT>
                    <a:lnB>
                      <a:noFill/>
                    </a:lnB>
                    <a:solidFill>
                      <a:srgbClr val="FA847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8.30 </a:t>
                      </a:r>
                    </a:p>
                  </a:txBody>
                  <a:tcPr marL="36000" marR="36000" marT="0" marB="0" anchor="ctr">
                    <a:lnL>
                      <a:noFill/>
                    </a:lnL>
                    <a:lnR>
                      <a:noFill/>
                    </a:lnR>
                    <a:lnT>
                      <a:noFill/>
                    </a:lnT>
                    <a:lnB>
                      <a:noFill/>
                    </a:lnB>
                    <a:solidFill>
                      <a:srgbClr val="FB91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8.71 </a:t>
                      </a:r>
                    </a:p>
                  </a:txBody>
                  <a:tcPr marL="36000" marR="36000" marT="0" marB="0" anchor="ctr">
                    <a:lnL>
                      <a:noFill/>
                    </a:lnL>
                    <a:lnR>
                      <a:noFill/>
                    </a:lnR>
                    <a:lnT>
                      <a:noFill/>
                    </a:lnT>
                    <a:lnB>
                      <a:noFill/>
                    </a:lnB>
                    <a:solidFill>
                      <a:srgbClr val="FA877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9.78 </a:t>
                      </a:r>
                    </a:p>
                  </a:txBody>
                  <a:tcPr marL="36000" marR="36000" marT="0" marB="0" anchor="ctr">
                    <a:lnL>
                      <a:noFill/>
                    </a:lnL>
                    <a:lnR>
                      <a:noFill/>
                    </a:lnR>
                    <a:lnT>
                      <a:noFill/>
                    </a:lnT>
                    <a:lnB>
                      <a:noFill/>
                    </a:lnB>
                    <a:solidFill>
                      <a:srgbClr val="F96E6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7.64 </a:t>
                      </a:r>
                    </a:p>
                  </a:txBody>
                  <a:tcPr marL="36000" marR="36000" marT="0" marB="0" anchor="ctr">
                    <a:lnL>
                      <a:noFill/>
                    </a:lnL>
                    <a:lnR>
                      <a:noFill/>
                    </a:lnR>
                    <a:lnT>
                      <a:noFill/>
                    </a:lnT>
                    <a:lnB>
                      <a:noFill/>
                    </a:lnB>
                    <a:solidFill>
                      <a:srgbClr val="FBA1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4.72 </a:t>
                      </a:r>
                    </a:p>
                  </a:txBody>
                  <a:tcPr marL="36000" marR="36000" marT="0" marB="0" anchor="ctr">
                    <a:lnL>
                      <a:noFill/>
                    </a:lnL>
                    <a:lnR>
                      <a:noFill/>
                    </a:lnR>
                    <a:lnT>
                      <a:noFill/>
                    </a:lnT>
                    <a:lnB>
                      <a:noFill/>
                    </a:lnB>
                    <a:solidFill>
                      <a:srgbClr val="FFE684"/>
                    </a:solidFill>
                  </a:tcPr>
                </a:tc>
                <a:extLst>
                  <a:ext uri="{0D108BD9-81ED-4DB2-BD59-A6C34878D82A}">
                    <a16:rowId xmlns:a16="http://schemas.microsoft.com/office/drawing/2014/main" val="305952550"/>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20</a:t>
                      </a:r>
                    </a:p>
                  </a:txBody>
                  <a:tcPr marL="36000" marR="36000" marT="0" marB="0" anchor="ctr">
                    <a:lnL>
                      <a:noFill/>
                    </a:lnL>
                    <a:lnR>
                      <a:noFill/>
                    </a:lnR>
                    <a:lnT>
                      <a:noFill/>
                    </a:lnT>
                    <a:lnB>
                      <a:noFill/>
                    </a:lnB>
                    <a:solidFill>
                      <a:srgbClr val="0097A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7.58 </a:t>
                      </a:r>
                    </a:p>
                  </a:txBody>
                  <a:tcPr marL="36000" marR="36000" marT="0" marB="0" anchor="ctr">
                    <a:lnL>
                      <a:noFill/>
                    </a:lnL>
                    <a:lnR>
                      <a:noFill/>
                    </a:lnR>
                    <a:lnT>
                      <a:noFill/>
                    </a:lnT>
                    <a:lnB>
                      <a:noFill/>
                    </a:lnB>
                    <a:solidFill>
                      <a:srgbClr val="FCA2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7.21 </a:t>
                      </a:r>
                    </a:p>
                  </a:txBody>
                  <a:tcPr marL="36000" marR="36000" marT="0" marB="0" anchor="ctr">
                    <a:lnL>
                      <a:noFill/>
                    </a:lnL>
                    <a:lnR>
                      <a:noFill/>
                    </a:lnR>
                    <a:lnT>
                      <a:noFill/>
                    </a:lnT>
                    <a:lnB>
                      <a:noFill/>
                    </a:lnB>
                    <a:solidFill>
                      <a:srgbClr val="FCAB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7.73 </a:t>
                      </a:r>
                    </a:p>
                  </a:txBody>
                  <a:tcPr marL="36000" marR="36000" marT="0" marB="0" anchor="ctr">
                    <a:lnL>
                      <a:noFill/>
                    </a:lnL>
                    <a:lnR>
                      <a:noFill/>
                    </a:lnR>
                    <a:lnT>
                      <a:noFill/>
                    </a:lnT>
                    <a:lnB>
                      <a:noFill/>
                    </a:lnB>
                    <a:solidFill>
                      <a:srgbClr val="FB9F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7.56 </a:t>
                      </a:r>
                    </a:p>
                  </a:txBody>
                  <a:tcPr marL="36000" marR="36000" marT="0" marB="0" anchor="ctr">
                    <a:lnL>
                      <a:noFill/>
                    </a:lnL>
                    <a:lnR>
                      <a:noFill/>
                    </a:lnR>
                    <a:lnT>
                      <a:noFill/>
                    </a:lnT>
                    <a:lnB>
                      <a:noFill/>
                    </a:lnB>
                    <a:solidFill>
                      <a:srgbClr val="FCA3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8.82 </a:t>
                      </a:r>
                    </a:p>
                  </a:txBody>
                  <a:tcPr marL="36000" marR="36000" marT="0" marB="0" anchor="ctr">
                    <a:lnL>
                      <a:noFill/>
                    </a:lnL>
                    <a:lnR>
                      <a:noFill/>
                    </a:lnR>
                    <a:lnT>
                      <a:noFill/>
                    </a:lnT>
                    <a:lnB>
                      <a:noFill/>
                    </a:lnB>
                    <a:solidFill>
                      <a:srgbClr val="FA857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9.20 </a:t>
                      </a:r>
                    </a:p>
                  </a:txBody>
                  <a:tcPr marL="36000" marR="36000" marT="0" marB="0" anchor="ctr">
                    <a:lnL>
                      <a:noFill/>
                    </a:lnL>
                    <a:lnR>
                      <a:noFill/>
                    </a:lnR>
                    <a:lnT>
                      <a:noFill/>
                    </a:lnT>
                    <a:lnB>
                      <a:noFill/>
                    </a:lnB>
                    <a:solidFill>
                      <a:srgbClr val="F97C6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8.11 </a:t>
                      </a:r>
                    </a:p>
                  </a:txBody>
                  <a:tcPr marL="36000" marR="36000" marT="0" marB="0" anchor="ctr">
                    <a:lnL>
                      <a:noFill/>
                    </a:lnL>
                    <a:lnR>
                      <a:noFill/>
                    </a:lnR>
                    <a:lnT>
                      <a:noFill/>
                    </a:lnT>
                    <a:lnB>
                      <a:noFill/>
                    </a:lnB>
                    <a:solidFill>
                      <a:srgbClr val="FB967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5.24 </a:t>
                      </a:r>
                    </a:p>
                  </a:txBody>
                  <a:tcPr marL="36000" marR="36000" marT="0" marB="0" anchor="ctr">
                    <a:lnL>
                      <a:noFill/>
                    </a:lnL>
                    <a:lnR>
                      <a:noFill/>
                    </a:lnR>
                    <a:lnT>
                      <a:noFill/>
                    </a:lnT>
                    <a:lnB>
                      <a:noFill/>
                    </a:lnB>
                    <a:solidFill>
                      <a:srgbClr val="FFDA8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6.26 </a:t>
                      </a:r>
                    </a:p>
                  </a:txBody>
                  <a:tcPr marL="36000" marR="36000" marT="0" marB="0" anchor="ctr">
                    <a:lnL>
                      <a:noFill/>
                    </a:lnL>
                    <a:lnR>
                      <a:noFill/>
                    </a:lnR>
                    <a:lnT>
                      <a:noFill/>
                    </a:lnT>
                    <a:lnB>
                      <a:noFill/>
                    </a:lnB>
                    <a:solidFill>
                      <a:srgbClr val="FDC27C"/>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9.38 </a:t>
                      </a:r>
                    </a:p>
                  </a:txBody>
                  <a:tcPr marL="36000" marR="36000" marT="0" marB="0" anchor="ctr">
                    <a:lnL>
                      <a:noFill/>
                    </a:lnL>
                    <a:lnR>
                      <a:noFill/>
                    </a:lnR>
                    <a:lnT>
                      <a:noFill/>
                    </a:lnT>
                    <a:lnB>
                      <a:noFill/>
                    </a:lnB>
                    <a:solidFill>
                      <a:srgbClr val="F9776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8.27 </a:t>
                      </a:r>
                    </a:p>
                  </a:txBody>
                  <a:tcPr marL="36000" marR="36000" marT="0" marB="0" anchor="ctr">
                    <a:lnL>
                      <a:noFill/>
                    </a:lnL>
                    <a:lnR>
                      <a:noFill/>
                    </a:lnR>
                    <a:lnT>
                      <a:noFill/>
                    </a:lnT>
                    <a:lnB>
                      <a:noFill/>
                    </a:lnB>
                    <a:solidFill>
                      <a:srgbClr val="FB92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5.76 </a:t>
                      </a:r>
                    </a:p>
                  </a:txBody>
                  <a:tcPr marL="36000" marR="36000" marT="0" marB="0" anchor="ctr">
                    <a:lnL>
                      <a:noFill/>
                    </a:lnL>
                    <a:lnR>
                      <a:noFill/>
                    </a:lnR>
                    <a:lnT>
                      <a:noFill/>
                    </a:lnT>
                    <a:lnB>
                      <a:noFill/>
                    </a:lnB>
                    <a:solidFill>
                      <a:srgbClr val="FECE7F"/>
                    </a:solidFill>
                  </a:tcPr>
                </a:tc>
                <a:extLst>
                  <a:ext uri="{0D108BD9-81ED-4DB2-BD59-A6C34878D82A}">
                    <a16:rowId xmlns:a16="http://schemas.microsoft.com/office/drawing/2014/main" val="1557887"/>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21</a:t>
                      </a:r>
                    </a:p>
                  </a:txBody>
                  <a:tcPr marL="36000" marR="36000" marT="0" marB="0" anchor="ctr">
                    <a:lnL>
                      <a:noFill/>
                    </a:lnL>
                    <a:lnR>
                      <a:noFill/>
                    </a:lnR>
                    <a:lnT>
                      <a:noFill/>
                    </a:lnT>
                    <a:lnB>
                      <a:noFill/>
                    </a:lnB>
                    <a:solidFill>
                      <a:srgbClr val="0097A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7.24 </a:t>
                      </a:r>
                    </a:p>
                  </a:txBody>
                  <a:tcPr marL="36000" marR="36000" marT="0" marB="0" anchor="ctr">
                    <a:lnL>
                      <a:noFill/>
                    </a:lnL>
                    <a:lnR>
                      <a:noFill/>
                    </a:lnR>
                    <a:lnT>
                      <a:noFill/>
                    </a:lnT>
                    <a:lnB>
                      <a:noFill/>
                    </a:lnB>
                    <a:solidFill>
                      <a:srgbClr val="FCAA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6.93 </a:t>
                      </a:r>
                    </a:p>
                  </a:txBody>
                  <a:tcPr marL="36000" marR="36000" marT="0" marB="0" anchor="ctr">
                    <a:lnL>
                      <a:noFill/>
                    </a:lnL>
                    <a:lnR>
                      <a:noFill/>
                    </a:lnR>
                    <a:lnT>
                      <a:noFill/>
                    </a:lnT>
                    <a:lnB>
                      <a:noFill/>
                    </a:lnB>
                    <a:solidFill>
                      <a:srgbClr val="FCB27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8.32 </a:t>
                      </a:r>
                    </a:p>
                  </a:txBody>
                  <a:tcPr marL="36000" marR="36000" marT="0" marB="0" anchor="ctr">
                    <a:lnL>
                      <a:noFill/>
                    </a:lnL>
                    <a:lnR>
                      <a:noFill/>
                    </a:lnR>
                    <a:lnT>
                      <a:noFill/>
                    </a:lnT>
                    <a:lnB>
                      <a:noFill/>
                    </a:lnB>
                    <a:solidFill>
                      <a:srgbClr val="FB91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8.38 </a:t>
                      </a:r>
                    </a:p>
                  </a:txBody>
                  <a:tcPr marL="36000" marR="36000" marT="0" marB="0" anchor="ctr">
                    <a:lnL>
                      <a:noFill/>
                    </a:lnL>
                    <a:lnR>
                      <a:noFill/>
                    </a:lnR>
                    <a:lnT>
                      <a:noFill/>
                    </a:lnT>
                    <a:lnB>
                      <a:noFill/>
                    </a:lnB>
                    <a:solidFill>
                      <a:srgbClr val="FB8F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8.94 </a:t>
                      </a:r>
                    </a:p>
                  </a:txBody>
                  <a:tcPr marL="36000" marR="36000" marT="0" marB="0" anchor="ctr">
                    <a:lnL>
                      <a:noFill/>
                    </a:lnL>
                    <a:lnR>
                      <a:noFill/>
                    </a:lnR>
                    <a:lnT>
                      <a:noFill/>
                    </a:lnT>
                    <a:lnB>
                      <a:noFill/>
                    </a:lnB>
                    <a:solidFill>
                      <a:srgbClr val="FA827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8.76 </a:t>
                      </a:r>
                    </a:p>
                  </a:txBody>
                  <a:tcPr marL="36000" marR="36000" marT="0" marB="0" anchor="ctr">
                    <a:lnL>
                      <a:noFill/>
                    </a:lnL>
                    <a:lnR>
                      <a:noFill/>
                    </a:lnR>
                    <a:lnT>
                      <a:noFill/>
                    </a:lnT>
                    <a:lnB>
                      <a:noFill/>
                    </a:lnB>
                    <a:solidFill>
                      <a:srgbClr val="FA867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7.27 </a:t>
                      </a:r>
                    </a:p>
                  </a:txBody>
                  <a:tcPr marL="36000" marR="36000" marT="0" marB="0" anchor="ctr">
                    <a:lnL>
                      <a:noFill/>
                    </a:lnL>
                    <a:lnR>
                      <a:noFill/>
                    </a:lnR>
                    <a:lnT>
                      <a:noFill/>
                    </a:lnT>
                    <a:lnB>
                      <a:noFill/>
                    </a:lnB>
                    <a:solidFill>
                      <a:srgbClr val="FCAA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4.23 </a:t>
                      </a:r>
                    </a:p>
                  </a:txBody>
                  <a:tcPr marL="36000" marR="36000" marT="0" marB="0" anchor="ctr">
                    <a:lnL>
                      <a:noFill/>
                    </a:lnL>
                    <a:lnR>
                      <a:noFill/>
                    </a:lnR>
                    <a:lnT>
                      <a:noFill/>
                    </a:lnT>
                    <a:lnB>
                      <a:noFill/>
                    </a:lnB>
                    <a:solidFill>
                      <a:srgbClr val="E8E482"/>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4.37 </a:t>
                      </a:r>
                    </a:p>
                  </a:txBody>
                  <a:tcPr marL="36000" marR="36000" marT="0" marB="0" anchor="ctr">
                    <a:lnL>
                      <a:noFill/>
                    </a:lnL>
                    <a:lnR>
                      <a:noFill/>
                    </a:lnR>
                    <a:lnT>
                      <a:noFill/>
                    </a:lnT>
                    <a:lnB>
                      <a:noFill/>
                    </a:lnB>
                    <a:solidFill>
                      <a:srgbClr val="F3E7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7.04 </a:t>
                      </a:r>
                    </a:p>
                  </a:txBody>
                  <a:tcPr marL="36000" marR="36000" marT="0" marB="0" anchor="ctr">
                    <a:lnL>
                      <a:noFill/>
                    </a:lnL>
                    <a:lnR>
                      <a:noFill/>
                    </a:lnR>
                    <a:lnT>
                      <a:noFill/>
                    </a:lnT>
                    <a:lnB>
                      <a:noFill/>
                    </a:lnB>
                    <a:solidFill>
                      <a:srgbClr val="FCAF7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6.23 </a:t>
                      </a:r>
                    </a:p>
                  </a:txBody>
                  <a:tcPr marL="36000" marR="36000" marT="0" marB="0" anchor="ctr">
                    <a:lnL>
                      <a:noFill/>
                    </a:lnL>
                    <a:lnR>
                      <a:noFill/>
                    </a:lnR>
                    <a:lnT>
                      <a:noFill/>
                    </a:lnT>
                    <a:lnB>
                      <a:noFill/>
                    </a:lnB>
                    <a:solidFill>
                      <a:srgbClr val="FDC2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4.52 </a:t>
                      </a:r>
                    </a:p>
                  </a:txBody>
                  <a:tcPr marL="36000" marR="36000" marT="0" marB="0" anchor="ctr">
                    <a:lnL>
                      <a:noFill/>
                    </a:lnL>
                    <a:lnR>
                      <a:noFill/>
                    </a:lnR>
                    <a:lnT>
                      <a:noFill/>
                    </a:lnT>
                    <a:lnB>
                      <a:noFill/>
                    </a:lnB>
                    <a:solidFill>
                      <a:srgbClr val="FFEB84"/>
                    </a:solidFill>
                  </a:tcPr>
                </a:tc>
                <a:extLst>
                  <a:ext uri="{0D108BD9-81ED-4DB2-BD59-A6C34878D82A}">
                    <a16:rowId xmlns:a16="http://schemas.microsoft.com/office/drawing/2014/main" val="3287534426"/>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22</a:t>
                      </a:r>
                    </a:p>
                  </a:txBody>
                  <a:tcPr marL="36000" marR="36000" marT="0" marB="0" anchor="ctr">
                    <a:lnL>
                      <a:noFill/>
                    </a:lnL>
                    <a:lnR>
                      <a:noFill/>
                    </a:lnR>
                    <a:lnT>
                      <a:noFill/>
                    </a:lnT>
                    <a:lnB>
                      <a:noFill/>
                    </a:lnB>
                    <a:solidFill>
                      <a:srgbClr val="0097A9"/>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7.35 </a:t>
                      </a:r>
                    </a:p>
                  </a:txBody>
                  <a:tcPr marL="36000" marR="36000" marT="0" marB="0" anchor="ctr">
                    <a:lnL>
                      <a:noFill/>
                    </a:lnL>
                    <a:lnR>
                      <a:noFill/>
                    </a:lnR>
                    <a:lnT>
                      <a:noFill/>
                    </a:lnT>
                    <a:lnB>
                      <a:noFill/>
                    </a:lnB>
                    <a:solidFill>
                      <a:srgbClr val="FCA8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7.59 </a:t>
                      </a:r>
                    </a:p>
                  </a:txBody>
                  <a:tcPr marL="36000" marR="36000" marT="0" marB="0" anchor="ctr">
                    <a:lnL>
                      <a:noFill/>
                    </a:lnL>
                    <a:lnR>
                      <a:noFill/>
                    </a:lnR>
                    <a:lnT>
                      <a:noFill/>
                    </a:lnT>
                    <a:lnB>
                      <a:noFill/>
                    </a:lnB>
                    <a:solidFill>
                      <a:srgbClr val="FCA2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9.07 </a:t>
                      </a:r>
                    </a:p>
                  </a:txBody>
                  <a:tcPr marL="36000" marR="36000" marT="0" marB="0" anchor="ctr">
                    <a:lnL>
                      <a:noFill/>
                    </a:lnL>
                    <a:lnR>
                      <a:noFill/>
                    </a:lnR>
                    <a:lnT>
                      <a:noFill/>
                    </a:lnT>
                    <a:lnB>
                      <a:noFill/>
                    </a:lnB>
                    <a:solidFill>
                      <a:srgbClr val="FA7F7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8.93 </a:t>
                      </a:r>
                    </a:p>
                  </a:txBody>
                  <a:tcPr marL="36000" marR="36000" marT="0" marB="0" anchor="ctr">
                    <a:lnL>
                      <a:noFill/>
                    </a:lnL>
                    <a:lnR>
                      <a:noFill/>
                    </a:lnR>
                    <a:lnT>
                      <a:noFill/>
                    </a:lnT>
                    <a:lnB>
                      <a:noFill/>
                    </a:lnB>
                    <a:solidFill>
                      <a:srgbClr val="FA827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9.40 </a:t>
                      </a:r>
                    </a:p>
                  </a:txBody>
                  <a:tcPr marL="36000" marR="36000" marT="0" marB="0" anchor="ctr">
                    <a:lnL>
                      <a:noFill/>
                    </a:lnL>
                    <a:lnR>
                      <a:noFill/>
                    </a:lnR>
                    <a:lnT>
                      <a:noFill/>
                    </a:lnT>
                    <a:lnB>
                      <a:noFill/>
                    </a:lnB>
                    <a:solidFill>
                      <a:srgbClr val="F9776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8.66 </a:t>
                      </a:r>
                    </a:p>
                  </a:txBody>
                  <a:tcPr marL="36000" marR="36000" marT="0" marB="0" anchor="ctr">
                    <a:lnL>
                      <a:noFill/>
                    </a:lnL>
                    <a:lnR>
                      <a:noFill/>
                    </a:lnR>
                    <a:lnT>
                      <a:noFill/>
                    </a:lnT>
                    <a:lnB>
                      <a:noFill/>
                    </a:lnB>
                    <a:solidFill>
                      <a:srgbClr val="FA897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7.29 </a:t>
                      </a:r>
                    </a:p>
                  </a:txBody>
                  <a:tcPr marL="36000" marR="36000" marT="0" marB="0" anchor="ctr">
                    <a:lnL>
                      <a:noFill/>
                    </a:lnL>
                    <a:lnR>
                      <a:noFill/>
                    </a:lnR>
                    <a:lnT>
                      <a:noFill/>
                    </a:lnT>
                    <a:lnB>
                      <a:noFill/>
                    </a:lnB>
                    <a:solidFill>
                      <a:srgbClr val="FCA9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3.81 </a:t>
                      </a:r>
                    </a:p>
                  </a:txBody>
                  <a:tcPr marL="36000" marR="36000" marT="0" marB="0" anchor="ctr">
                    <a:lnL>
                      <a:noFill/>
                    </a:lnL>
                    <a:lnR>
                      <a:noFill/>
                    </a:lnR>
                    <a:lnT>
                      <a:noFill/>
                    </a:lnT>
                    <a:lnB>
                      <a:noFill/>
                    </a:lnB>
                    <a:solidFill>
                      <a:srgbClr val="C7DA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3.51 </a:t>
                      </a:r>
                    </a:p>
                  </a:txBody>
                  <a:tcPr marL="36000" marR="36000" marT="0" marB="0" anchor="ctr">
                    <a:lnL>
                      <a:noFill/>
                    </a:lnL>
                    <a:lnR>
                      <a:noFill/>
                    </a:lnR>
                    <a:lnT>
                      <a:noFill/>
                    </a:lnT>
                    <a:lnB>
                      <a:noFill/>
                    </a:lnB>
                    <a:solidFill>
                      <a:srgbClr val="AED3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4.46 </a:t>
                      </a:r>
                    </a:p>
                  </a:txBody>
                  <a:tcPr marL="36000" marR="36000" marT="0" marB="0" anchor="ctr">
                    <a:lnL>
                      <a:noFill/>
                    </a:lnL>
                    <a:lnR>
                      <a:noFill/>
                    </a:lnR>
                    <a:lnT>
                      <a:noFill/>
                    </a:lnT>
                    <a:lnB>
                      <a:noFill/>
                    </a:lnB>
                    <a:solidFill>
                      <a:srgbClr val="FBE98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4.59 </a:t>
                      </a:r>
                    </a:p>
                  </a:txBody>
                  <a:tcPr marL="36000" marR="36000" marT="0" marB="0" anchor="ctr">
                    <a:lnL>
                      <a:noFill/>
                    </a:lnL>
                    <a:lnR>
                      <a:noFill/>
                    </a:lnR>
                    <a:lnT>
                      <a:noFill/>
                    </a:lnT>
                    <a:lnB>
                      <a:noFill/>
                    </a:lnB>
                    <a:solidFill>
                      <a:srgbClr val="FFEA8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4.46 </a:t>
                      </a:r>
                    </a:p>
                  </a:txBody>
                  <a:tcPr marL="36000" marR="36000" marT="0" marB="0" anchor="ctr">
                    <a:lnL>
                      <a:noFill/>
                    </a:lnL>
                    <a:lnR>
                      <a:noFill/>
                    </a:lnR>
                    <a:lnT>
                      <a:noFill/>
                    </a:lnT>
                    <a:lnB>
                      <a:noFill/>
                    </a:lnB>
                    <a:solidFill>
                      <a:srgbClr val="FBEA83"/>
                    </a:solidFill>
                  </a:tcPr>
                </a:tc>
                <a:extLst>
                  <a:ext uri="{0D108BD9-81ED-4DB2-BD59-A6C34878D82A}">
                    <a16:rowId xmlns:a16="http://schemas.microsoft.com/office/drawing/2014/main" val="2853230528"/>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23</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7.73 </a:t>
                      </a:r>
                    </a:p>
                  </a:txBody>
                  <a:tcPr marL="36000" marR="36000" marT="0" marB="0" anchor="ctr">
                    <a:lnL>
                      <a:noFill/>
                    </a:lnL>
                    <a:lnR>
                      <a:noFill/>
                    </a:lnR>
                    <a:lnT>
                      <a:noFill/>
                    </a:lnT>
                    <a:lnB>
                      <a:noFill/>
                    </a:lnB>
                    <a:solidFill>
                      <a:srgbClr val="FB9F76"/>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7.98 </a:t>
                      </a:r>
                    </a:p>
                  </a:txBody>
                  <a:tcPr marL="36000" marR="36000" marT="0" marB="0" anchor="ctr">
                    <a:lnL>
                      <a:noFill/>
                    </a:lnL>
                    <a:lnR>
                      <a:noFill/>
                    </a:lnR>
                    <a:lnT>
                      <a:noFill/>
                    </a:lnT>
                    <a:lnB>
                      <a:noFill/>
                    </a:lnB>
                    <a:solidFill>
                      <a:srgbClr val="FB997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9.50 </a:t>
                      </a:r>
                    </a:p>
                  </a:txBody>
                  <a:tcPr marL="36000" marR="36000" marT="0" marB="0" anchor="ctr">
                    <a:lnL>
                      <a:noFill/>
                    </a:lnL>
                    <a:lnR>
                      <a:noFill/>
                    </a:lnR>
                    <a:lnT>
                      <a:noFill/>
                    </a:lnT>
                    <a:lnB>
                      <a:noFill/>
                    </a:lnB>
                    <a:solidFill>
                      <a:srgbClr val="F9746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9.10 </a:t>
                      </a:r>
                    </a:p>
                  </a:txBody>
                  <a:tcPr marL="36000" marR="36000" marT="0" marB="0" anchor="ctr">
                    <a:lnL>
                      <a:noFill/>
                    </a:lnL>
                    <a:lnR>
                      <a:noFill/>
                    </a:lnR>
                    <a:lnT>
                      <a:noFill/>
                    </a:lnT>
                    <a:lnB>
                      <a:noFill/>
                    </a:lnB>
                    <a:solidFill>
                      <a:srgbClr val="FA7E6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9.31 </a:t>
                      </a:r>
                    </a:p>
                  </a:txBody>
                  <a:tcPr marL="36000" marR="36000" marT="0" marB="0" anchor="ctr">
                    <a:lnL>
                      <a:noFill/>
                    </a:lnL>
                    <a:lnR>
                      <a:noFill/>
                    </a:lnR>
                    <a:lnT>
                      <a:noFill/>
                    </a:lnT>
                    <a:lnB>
                      <a:noFill/>
                    </a:lnB>
                    <a:solidFill>
                      <a:srgbClr val="F9796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8.40 </a:t>
                      </a:r>
                    </a:p>
                  </a:txBody>
                  <a:tcPr marL="36000" marR="36000" marT="0" marB="0" anchor="ctr">
                    <a:lnL>
                      <a:noFill/>
                    </a:lnL>
                    <a:lnR>
                      <a:noFill/>
                    </a:lnR>
                    <a:lnT>
                      <a:noFill/>
                    </a:lnT>
                    <a:lnB>
                      <a:noFill/>
                    </a:lnB>
                    <a:solidFill>
                      <a:srgbClr val="FB8F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7.12 </a:t>
                      </a:r>
                    </a:p>
                  </a:txBody>
                  <a:tcPr marL="36000" marR="36000" marT="0" marB="0" anchor="ctr">
                    <a:lnL>
                      <a:noFill/>
                    </a:lnL>
                    <a:lnR>
                      <a:noFill/>
                    </a:lnR>
                    <a:lnT>
                      <a:noFill/>
                    </a:lnT>
                    <a:lnB>
                      <a:noFill/>
                    </a:lnB>
                    <a:solidFill>
                      <a:srgbClr val="FCAD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3.58 </a:t>
                      </a:r>
                    </a:p>
                  </a:txBody>
                  <a:tcPr marL="36000" marR="36000" marT="0" marB="0" anchor="ctr">
                    <a:lnL>
                      <a:noFill/>
                    </a:lnL>
                    <a:lnR>
                      <a:noFill/>
                    </a:lnR>
                    <a:lnT>
                      <a:noFill/>
                    </a:lnT>
                    <a:lnB>
                      <a:noFill/>
                    </a:lnB>
                    <a:solidFill>
                      <a:srgbClr val="B4D5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3.10 </a:t>
                      </a:r>
                    </a:p>
                  </a:txBody>
                  <a:tcPr marL="36000" marR="36000" marT="0" marB="0" anchor="ctr">
                    <a:lnL>
                      <a:noFill/>
                    </a:lnL>
                    <a:lnR>
                      <a:noFill/>
                    </a:lnR>
                    <a:lnT>
                      <a:noFill/>
                    </a:lnT>
                    <a:lnB>
                      <a:noFill/>
                    </a:lnB>
                    <a:solidFill>
                      <a:srgbClr val="8DCA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3.47 </a:t>
                      </a:r>
                    </a:p>
                  </a:txBody>
                  <a:tcPr marL="36000" marR="36000" marT="0" marB="0" anchor="ctr">
                    <a:lnL>
                      <a:noFill/>
                    </a:lnL>
                    <a:lnR>
                      <a:noFill/>
                    </a:lnR>
                    <a:lnT>
                      <a:noFill/>
                    </a:lnT>
                    <a:lnB>
                      <a:noFill/>
                    </a:lnB>
                    <a:solidFill>
                      <a:srgbClr val="ABD3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3.75 </a:t>
                      </a:r>
                    </a:p>
                  </a:txBody>
                  <a:tcPr marL="36000" marR="36000" marT="0" marB="0" anchor="ctr">
                    <a:lnL>
                      <a:noFill/>
                    </a:lnL>
                    <a:lnR>
                      <a:noFill/>
                    </a:lnR>
                    <a:lnT>
                      <a:noFill/>
                    </a:lnT>
                    <a:lnB>
                      <a:noFill/>
                    </a:lnB>
                    <a:solidFill>
                      <a:srgbClr val="C2D98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4.30 </a:t>
                      </a:r>
                    </a:p>
                  </a:txBody>
                  <a:tcPr marL="36000" marR="36000" marT="0" marB="0" anchor="ctr">
                    <a:lnL>
                      <a:noFill/>
                    </a:lnL>
                    <a:lnR>
                      <a:noFill/>
                    </a:lnR>
                    <a:lnT>
                      <a:noFill/>
                    </a:lnT>
                    <a:lnB>
                      <a:noFill/>
                    </a:lnB>
                    <a:solidFill>
                      <a:srgbClr val="EEE683"/>
                    </a:solidFill>
                  </a:tcPr>
                </a:tc>
                <a:extLst>
                  <a:ext uri="{0D108BD9-81ED-4DB2-BD59-A6C34878D82A}">
                    <a16:rowId xmlns:a16="http://schemas.microsoft.com/office/drawing/2014/main" val="4200499437"/>
                  </a:ext>
                </a:extLst>
              </a:tr>
              <a:tr h="182880">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24</a:t>
                      </a:r>
                    </a:p>
                  </a:txBody>
                  <a:tcPr marL="36000" marR="36000" marT="0" marB="0" anchor="ctr">
                    <a:lnL>
                      <a:noFill/>
                    </a:lnL>
                    <a:lnR>
                      <a:noFill/>
                    </a:lnR>
                    <a:lnT>
                      <a:noFill/>
                    </a:lnT>
                    <a:lnB>
                      <a:noFill/>
                    </a:lnB>
                    <a:solidFill>
                      <a:srgbClr val="62B5E5"/>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7.43 </a:t>
                      </a:r>
                    </a:p>
                  </a:txBody>
                  <a:tcPr marL="36000" marR="36000" marT="0" marB="0" anchor="ctr">
                    <a:lnL>
                      <a:noFill/>
                    </a:lnL>
                    <a:lnR>
                      <a:noFill/>
                    </a:lnR>
                    <a:lnT>
                      <a:noFill/>
                    </a:lnT>
                    <a:lnB>
                      <a:noFill/>
                    </a:lnB>
                    <a:solidFill>
                      <a:srgbClr val="FCA677"/>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8.00 </a:t>
                      </a:r>
                    </a:p>
                  </a:txBody>
                  <a:tcPr marL="36000" marR="36000" marT="0" marB="0" anchor="ctr">
                    <a:lnL>
                      <a:noFill/>
                    </a:lnL>
                    <a:lnR>
                      <a:noFill/>
                    </a:lnR>
                    <a:lnT>
                      <a:noFill/>
                    </a:lnT>
                    <a:lnB>
                      <a:noFill/>
                    </a:lnB>
                    <a:solidFill>
                      <a:srgbClr val="FB9874"/>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9.32 </a:t>
                      </a:r>
                    </a:p>
                  </a:txBody>
                  <a:tcPr marL="36000" marR="36000" marT="0" marB="0" anchor="ctr">
                    <a:lnL>
                      <a:noFill/>
                    </a:lnL>
                    <a:lnR>
                      <a:noFill/>
                    </a:lnR>
                    <a:lnT>
                      <a:noFill/>
                    </a:lnT>
                    <a:lnB>
                      <a:noFill/>
                    </a:lnB>
                    <a:solidFill>
                      <a:srgbClr val="F9796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8.76 </a:t>
                      </a:r>
                    </a:p>
                  </a:txBody>
                  <a:tcPr marL="36000" marR="36000" marT="0" marB="0" anchor="ctr">
                    <a:lnL>
                      <a:noFill/>
                    </a:lnL>
                    <a:lnR>
                      <a:noFill/>
                    </a:lnR>
                    <a:lnT>
                      <a:noFill/>
                    </a:lnT>
                    <a:lnB>
                      <a:noFill/>
                    </a:lnB>
                    <a:solidFill>
                      <a:srgbClr val="FA8671"/>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8.91 </a:t>
                      </a:r>
                    </a:p>
                  </a:txBody>
                  <a:tcPr marL="36000" marR="36000" marT="0" marB="0" anchor="ctr">
                    <a:lnL>
                      <a:noFill/>
                    </a:lnL>
                    <a:lnR>
                      <a:noFill/>
                    </a:lnR>
                    <a:lnT>
                      <a:noFill/>
                    </a:lnT>
                    <a:lnB>
                      <a:noFill/>
                    </a:lnB>
                    <a:solidFill>
                      <a:srgbClr val="FA8270"/>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8.21 </a:t>
                      </a:r>
                    </a:p>
                  </a:txBody>
                  <a:tcPr marL="36000" marR="36000" marT="0" marB="0" anchor="ctr">
                    <a:lnL>
                      <a:noFill/>
                    </a:lnL>
                    <a:lnR>
                      <a:noFill/>
                    </a:lnR>
                    <a:lnT>
                      <a:noFill/>
                    </a:lnT>
                    <a:lnB>
                      <a:noFill/>
                    </a:lnB>
                    <a:solidFill>
                      <a:srgbClr val="FB9373"/>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7.28 </a:t>
                      </a:r>
                    </a:p>
                  </a:txBody>
                  <a:tcPr marL="36000" marR="36000" marT="0" marB="0" anchor="ctr">
                    <a:lnL>
                      <a:noFill/>
                    </a:lnL>
                    <a:lnR>
                      <a:noFill/>
                    </a:lnR>
                    <a:lnT>
                      <a:noFill/>
                    </a:lnT>
                    <a:lnB>
                      <a:noFill/>
                    </a:lnB>
                    <a:solidFill>
                      <a:srgbClr val="FCA978"/>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3.36 </a:t>
                      </a:r>
                    </a:p>
                  </a:txBody>
                  <a:tcPr marL="36000" marR="36000" marT="0" marB="0" anchor="ctr">
                    <a:lnL>
                      <a:noFill/>
                    </a:lnL>
                    <a:lnR>
                      <a:noFill/>
                    </a:lnR>
                    <a:lnT>
                      <a:noFill/>
                    </a:lnT>
                    <a:lnB>
                      <a:noFill/>
                    </a:lnB>
                    <a:solidFill>
                      <a:srgbClr val="A2D0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3.02 </a:t>
                      </a:r>
                    </a:p>
                  </a:txBody>
                  <a:tcPr marL="36000" marR="36000" marT="0" marB="0" anchor="ctr">
                    <a:lnL>
                      <a:noFill/>
                    </a:lnL>
                    <a:lnR>
                      <a:noFill/>
                    </a:lnR>
                    <a:lnT>
                      <a:noFill/>
                    </a:lnT>
                    <a:lnB>
                      <a:noFill/>
                    </a:lnB>
                    <a:solidFill>
                      <a:srgbClr val="86C87D"/>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3.26 </a:t>
                      </a:r>
                    </a:p>
                  </a:txBody>
                  <a:tcPr marL="36000" marR="36000" marT="0" marB="0" anchor="ctr">
                    <a:lnL>
                      <a:noFill/>
                    </a:lnL>
                    <a:lnR>
                      <a:noFill/>
                    </a:lnR>
                    <a:lnT>
                      <a:noFill/>
                    </a:lnT>
                    <a:lnB>
                      <a:noFill/>
                    </a:lnB>
                    <a:solidFill>
                      <a:srgbClr val="9ACD7E"/>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3.50 </a:t>
                      </a:r>
                    </a:p>
                  </a:txBody>
                  <a:tcPr marL="36000" marR="36000" marT="0" marB="0" anchor="ctr">
                    <a:lnL>
                      <a:noFill/>
                    </a:lnL>
                    <a:lnR>
                      <a:noFill/>
                    </a:lnR>
                    <a:lnT>
                      <a:noFill/>
                    </a:lnT>
                    <a:lnB>
                      <a:noFill/>
                    </a:lnB>
                    <a:solidFill>
                      <a:srgbClr val="ADD37F"/>
                    </a:solidFill>
                  </a:tcPr>
                </a:tc>
                <a:tc>
                  <a:txBody>
                    <a:bodyPr/>
                    <a:lstStyle/>
                    <a:p>
                      <a:pPr algn="r" fontAlgn="ctr"/>
                      <a:r>
                        <a:rPr lang="en-IN" sz="1200" b="0" i="0" u="none" strike="noStrike">
                          <a:solidFill>
                            <a:srgbClr val="000000"/>
                          </a:solidFill>
                          <a:effectLst/>
                          <a:latin typeface="Arial" panose="020B0604020202020204" pitchFamily="34" charset="0"/>
                          <a:cs typeface="Arial" panose="020B0604020202020204" pitchFamily="34" charset="0"/>
                        </a:rPr>
                        <a:t>4.26 </a:t>
                      </a:r>
                    </a:p>
                  </a:txBody>
                  <a:tcPr marL="36000" marR="36000" marT="0" marB="0" anchor="ctr">
                    <a:lnL>
                      <a:noFill/>
                    </a:lnL>
                    <a:lnR>
                      <a:noFill/>
                    </a:lnR>
                    <a:lnT>
                      <a:noFill/>
                    </a:lnT>
                    <a:lnB>
                      <a:noFill/>
                    </a:lnB>
                    <a:solidFill>
                      <a:srgbClr val="EAE582"/>
                    </a:solidFill>
                  </a:tcPr>
                </a:tc>
                <a:extLst>
                  <a:ext uri="{0D108BD9-81ED-4DB2-BD59-A6C34878D82A}">
                    <a16:rowId xmlns:a16="http://schemas.microsoft.com/office/drawing/2014/main" val="3696709205"/>
                  </a:ext>
                </a:extLst>
              </a:tr>
            </a:tbl>
          </a:graphicData>
        </a:graphic>
      </p:graphicFrame>
    </p:spTree>
    <p:extLst>
      <p:ext uri="{BB962C8B-B14F-4D97-AF65-F5344CB8AC3E}">
        <p14:creationId xmlns:p14="http://schemas.microsoft.com/office/powerpoint/2010/main" val="237505171"/>
      </p:ext>
    </p:extLst>
  </p:cSld>
  <p:clrMapOvr>
    <a:masterClrMapping/>
  </p:clrMapOvr>
  <p:transition>
    <p:fade/>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22039344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algn="just" defTabSz="914400">
              <a:spcBef>
                <a:spcPts val="0"/>
              </a:spcBef>
            </a:pPr>
            <a:r>
              <a:rPr lang="en-IN" sz="2000" b="1">
                <a:latin typeface="Arial" panose="020B0604020202020204" pitchFamily="34" charset="0"/>
                <a:cs typeface="Arial" panose="020B0604020202020204" pitchFamily="34" charset="0"/>
              </a:rPr>
              <a:t>India short-term market | FY 25 hourly DAM prices on IEX</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The trend persisted in the subsequent year as rising renewables and moderate demand kept prices broadly lower</a:t>
            </a:r>
            <a:endParaRPr lang="en-IN" sz="1400">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Sources: </a:t>
            </a:r>
            <a:r>
              <a:rPr kumimoji="0" lang="en-US" sz="1050" u="none" strike="noStrike" kern="0" cap="none" spc="0" normalizeH="0" baseline="0" noProof="0">
                <a:ln>
                  <a:noFill/>
                </a:ln>
                <a:effectLst/>
                <a:uLnTx/>
                <a:uFillTx/>
                <a:latin typeface="Arial" panose="020B0604020202020204" pitchFamily="34" charset="0"/>
                <a:cs typeface="Arial" panose="020B0604020202020204" pitchFamily="34" charset="0"/>
              </a:rPr>
              <a:t>IEX DAM prices data,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2FBE8BF6-0118-05F2-C4D3-60A9C9783D56}"/>
              </a:ext>
            </a:extLst>
          </p:cNvPr>
          <p:cNvSpPr txBox="1"/>
          <p:nvPr/>
        </p:nvSpPr>
        <p:spPr>
          <a:xfrm>
            <a:off x="508188" y="1072024"/>
            <a:ext cx="11269248" cy="461665"/>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marL="0" marR="0" lvl="0" indent="0" defTabSz="914400" eaLnBrk="1" fontAlgn="auto" latinLnBrk="0" hangingPunct="1">
              <a:lnSpc>
                <a:spcPct val="100000"/>
              </a:lnSpc>
              <a:spcBef>
                <a:spcPts val="0"/>
              </a:spcBef>
              <a:buClrTx/>
              <a:buSzTx/>
              <a:buFont typeface="Wingdings 2" pitchFamily="18" charset="2"/>
              <a:buNone/>
              <a:tabLst/>
              <a:defRPr/>
            </a:pPr>
            <a:r>
              <a:rPr kumimoji="0" lang="en-US" sz="1200" b="1" i="0" u="none" strike="noStrike" kern="0" cap="none" spc="0" normalizeH="0" baseline="0" noProof="0">
                <a:ln>
                  <a:noFill/>
                </a:ln>
                <a:solidFill>
                  <a:schemeClr val="tx1"/>
                </a:solidFill>
                <a:effectLst/>
                <a:uLnTx/>
                <a:uFillTx/>
              </a:rPr>
              <a:t>Average monthly day ahead short-term power prices on exchanges across 24 hours</a:t>
            </a:r>
          </a:p>
          <a:p>
            <a:pPr marL="0" marR="0" lvl="0" indent="0" defTabSz="914400" eaLnBrk="1" fontAlgn="auto" latinLnBrk="0" hangingPunct="1">
              <a:lnSpc>
                <a:spcPct val="100000"/>
              </a:lnSpc>
              <a:spcBef>
                <a:spcPts val="0"/>
              </a:spcBef>
              <a:buClrTx/>
              <a:buSzTx/>
              <a:buFont typeface="Wingdings 2" pitchFamily="18" charset="2"/>
              <a:buNone/>
              <a:tabLst/>
              <a:defRPr/>
            </a:pPr>
            <a:r>
              <a:rPr kumimoji="0" lang="en-US" sz="1200" b="0" i="0" u="none" strike="noStrike" kern="0" cap="none" spc="0" normalizeH="0" baseline="0" noProof="0">
                <a:ln>
                  <a:noFill/>
                </a:ln>
                <a:solidFill>
                  <a:schemeClr val="tx1"/>
                </a:solidFill>
                <a:effectLst/>
                <a:uLnTx/>
                <a:uFillTx/>
              </a:rPr>
              <a:t>FY25, INR/kWh</a:t>
            </a:r>
          </a:p>
        </p:txBody>
      </p:sp>
      <p:grpSp>
        <p:nvGrpSpPr>
          <p:cNvPr id="17" name="Group 16">
            <a:extLst>
              <a:ext uri="{FF2B5EF4-FFF2-40B4-BE49-F238E27FC236}">
                <a16:creationId xmlns:a16="http://schemas.microsoft.com/office/drawing/2014/main" id="{B28D332E-91AE-6838-1CDD-DDFAB2CC114D}"/>
              </a:ext>
            </a:extLst>
          </p:cNvPr>
          <p:cNvGrpSpPr/>
          <p:nvPr/>
        </p:nvGrpSpPr>
        <p:grpSpPr>
          <a:xfrm>
            <a:off x="1348593" y="6231120"/>
            <a:ext cx="10348107" cy="180012"/>
            <a:chOff x="1105786" y="6275700"/>
            <a:chExt cx="8376208" cy="185319"/>
          </a:xfrm>
        </p:grpSpPr>
        <p:sp>
          <p:nvSpPr>
            <p:cNvPr id="18" name="Rectangle 17">
              <a:extLst>
                <a:ext uri="{FF2B5EF4-FFF2-40B4-BE49-F238E27FC236}">
                  <a16:creationId xmlns:a16="http://schemas.microsoft.com/office/drawing/2014/main" id="{99DFBC89-BAFE-5336-DA19-687CDC005DC8}"/>
                </a:ext>
              </a:extLst>
            </p:cNvPr>
            <p:cNvSpPr/>
            <p:nvPr/>
          </p:nvSpPr>
          <p:spPr bwMode="gray">
            <a:xfrm>
              <a:off x="1813995" y="6281019"/>
              <a:ext cx="5580000" cy="180000"/>
            </a:xfrm>
            <a:prstGeom prst="rect">
              <a:avLst/>
            </a:prstGeom>
            <a:solidFill>
              <a:schemeClr val="accent6">
                <a:lumMod val="60000"/>
                <a:lumOff val="40000"/>
              </a:schemeClr>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1050" b="1">
                  <a:solidFill>
                    <a:schemeClr val="bg1"/>
                  </a:solidFill>
                  <a:latin typeface="+mn-lt"/>
                  <a:cs typeface="+mn-cs"/>
                </a:rPr>
                <a:t>Wet season (May – December)</a:t>
              </a:r>
              <a:endParaRPr kumimoji="1" lang="en-IN" sz="1050" b="1" i="0" u="none" strike="noStrike" kern="1200" cap="none" spc="0" normalizeH="0" baseline="0" noProof="0">
                <a:ln>
                  <a:noFill/>
                </a:ln>
                <a:solidFill>
                  <a:schemeClr val="bg1"/>
                </a:solidFill>
                <a:effectLst/>
                <a:uLnTx/>
                <a:uFillTx/>
                <a:latin typeface="+mn-lt"/>
                <a:ea typeface="+mn-ea"/>
                <a:cs typeface="+mn-cs"/>
              </a:endParaRPr>
            </a:p>
          </p:txBody>
        </p:sp>
        <p:sp>
          <p:nvSpPr>
            <p:cNvPr id="19" name="Rectangle 18">
              <a:extLst>
                <a:ext uri="{FF2B5EF4-FFF2-40B4-BE49-F238E27FC236}">
                  <a16:creationId xmlns:a16="http://schemas.microsoft.com/office/drawing/2014/main" id="{63574305-5881-3593-B811-F35CDBBCB766}"/>
                </a:ext>
              </a:extLst>
            </p:cNvPr>
            <p:cNvSpPr/>
            <p:nvPr/>
          </p:nvSpPr>
          <p:spPr bwMode="gray">
            <a:xfrm>
              <a:off x="1105786" y="6281019"/>
              <a:ext cx="720000" cy="180000"/>
            </a:xfrm>
            <a:prstGeom prst="rect">
              <a:avLst/>
            </a:prstGeom>
            <a:solidFill>
              <a:schemeClr val="tx2"/>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900" b="0" i="0" u="none" strike="noStrike" kern="1200" cap="none" spc="0" normalizeH="0" baseline="0" noProof="0">
                  <a:ln>
                    <a:noFill/>
                  </a:ln>
                  <a:solidFill>
                    <a:schemeClr val="bg1"/>
                  </a:solidFill>
                  <a:effectLst/>
                  <a:uLnTx/>
                  <a:uFillTx/>
                  <a:latin typeface="+mn-lt"/>
                  <a:ea typeface="+mn-ea"/>
                  <a:cs typeface="+mn-cs"/>
                </a:rPr>
                <a:t>Dry season</a:t>
              </a:r>
            </a:p>
          </p:txBody>
        </p:sp>
        <p:sp>
          <p:nvSpPr>
            <p:cNvPr id="20" name="Rectangle 19">
              <a:extLst>
                <a:ext uri="{FF2B5EF4-FFF2-40B4-BE49-F238E27FC236}">
                  <a16:creationId xmlns:a16="http://schemas.microsoft.com/office/drawing/2014/main" id="{A3DD8662-8BE0-C157-5257-BA9FFED6B1C8}"/>
                </a:ext>
              </a:extLst>
            </p:cNvPr>
            <p:cNvSpPr/>
            <p:nvPr/>
          </p:nvSpPr>
          <p:spPr bwMode="gray">
            <a:xfrm>
              <a:off x="7393994" y="6275700"/>
              <a:ext cx="2088000" cy="180000"/>
            </a:xfrm>
            <a:prstGeom prst="rect">
              <a:avLst/>
            </a:prstGeom>
            <a:solidFill>
              <a:schemeClr val="tx2"/>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900" b="1" i="0" u="none" strike="noStrike" kern="1200" cap="none" spc="0" normalizeH="0" baseline="0" noProof="0">
                  <a:ln>
                    <a:noFill/>
                  </a:ln>
                  <a:solidFill>
                    <a:schemeClr val="bg1"/>
                  </a:solidFill>
                  <a:effectLst/>
                  <a:uLnTx/>
                  <a:uFillTx/>
                  <a:latin typeface="+mn-lt"/>
                  <a:ea typeface="+mn-ea"/>
                  <a:cs typeface="+mn-cs"/>
                </a:rPr>
                <a:t>Dry season (January – April)</a:t>
              </a:r>
            </a:p>
          </p:txBody>
        </p:sp>
      </p:grpSp>
      <p:graphicFrame>
        <p:nvGraphicFramePr>
          <p:cNvPr id="4" name="Table 3">
            <a:extLst>
              <a:ext uri="{FF2B5EF4-FFF2-40B4-BE49-F238E27FC236}">
                <a16:creationId xmlns:a16="http://schemas.microsoft.com/office/drawing/2014/main" id="{27DEA506-F7F9-FB2A-7389-9B55426553B0}"/>
              </a:ext>
            </a:extLst>
          </p:cNvPr>
          <p:cNvGraphicFramePr>
            <a:graphicFrameLocks noGrp="1"/>
          </p:cNvGraphicFramePr>
          <p:nvPr>
            <p:extLst>
              <p:ext uri="{D42A27DB-BD31-4B8C-83A1-F6EECF244321}">
                <p14:modId xmlns:p14="http://schemas.microsoft.com/office/powerpoint/2010/main" val="4051206564"/>
              </p:ext>
            </p:extLst>
          </p:nvPr>
        </p:nvGraphicFramePr>
        <p:xfrm>
          <a:off x="508188" y="1531596"/>
          <a:ext cx="11196549" cy="4572000"/>
        </p:xfrm>
        <a:graphic>
          <a:graphicData uri="http://schemas.openxmlformats.org/drawingml/2006/table">
            <a:tbl>
              <a:tblPr/>
              <a:tblGrid>
                <a:gridCol w="861273">
                  <a:extLst>
                    <a:ext uri="{9D8B030D-6E8A-4147-A177-3AD203B41FA5}">
                      <a16:colId xmlns:a16="http://schemas.microsoft.com/office/drawing/2014/main" val="2931839426"/>
                    </a:ext>
                  </a:extLst>
                </a:gridCol>
                <a:gridCol w="861273">
                  <a:extLst>
                    <a:ext uri="{9D8B030D-6E8A-4147-A177-3AD203B41FA5}">
                      <a16:colId xmlns:a16="http://schemas.microsoft.com/office/drawing/2014/main" val="1411626423"/>
                    </a:ext>
                  </a:extLst>
                </a:gridCol>
                <a:gridCol w="861273">
                  <a:extLst>
                    <a:ext uri="{9D8B030D-6E8A-4147-A177-3AD203B41FA5}">
                      <a16:colId xmlns:a16="http://schemas.microsoft.com/office/drawing/2014/main" val="4290137010"/>
                    </a:ext>
                  </a:extLst>
                </a:gridCol>
                <a:gridCol w="861273">
                  <a:extLst>
                    <a:ext uri="{9D8B030D-6E8A-4147-A177-3AD203B41FA5}">
                      <a16:colId xmlns:a16="http://schemas.microsoft.com/office/drawing/2014/main" val="3042511666"/>
                    </a:ext>
                  </a:extLst>
                </a:gridCol>
                <a:gridCol w="861273">
                  <a:extLst>
                    <a:ext uri="{9D8B030D-6E8A-4147-A177-3AD203B41FA5}">
                      <a16:colId xmlns:a16="http://schemas.microsoft.com/office/drawing/2014/main" val="485993516"/>
                    </a:ext>
                  </a:extLst>
                </a:gridCol>
                <a:gridCol w="861273">
                  <a:extLst>
                    <a:ext uri="{9D8B030D-6E8A-4147-A177-3AD203B41FA5}">
                      <a16:colId xmlns:a16="http://schemas.microsoft.com/office/drawing/2014/main" val="2762708850"/>
                    </a:ext>
                  </a:extLst>
                </a:gridCol>
                <a:gridCol w="861273">
                  <a:extLst>
                    <a:ext uri="{9D8B030D-6E8A-4147-A177-3AD203B41FA5}">
                      <a16:colId xmlns:a16="http://schemas.microsoft.com/office/drawing/2014/main" val="1262790203"/>
                    </a:ext>
                  </a:extLst>
                </a:gridCol>
                <a:gridCol w="861273">
                  <a:extLst>
                    <a:ext uri="{9D8B030D-6E8A-4147-A177-3AD203B41FA5}">
                      <a16:colId xmlns:a16="http://schemas.microsoft.com/office/drawing/2014/main" val="4094682877"/>
                    </a:ext>
                  </a:extLst>
                </a:gridCol>
                <a:gridCol w="861273">
                  <a:extLst>
                    <a:ext uri="{9D8B030D-6E8A-4147-A177-3AD203B41FA5}">
                      <a16:colId xmlns:a16="http://schemas.microsoft.com/office/drawing/2014/main" val="3553993841"/>
                    </a:ext>
                  </a:extLst>
                </a:gridCol>
                <a:gridCol w="861273">
                  <a:extLst>
                    <a:ext uri="{9D8B030D-6E8A-4147-A177-3AD203B41FA5}">
                      <a16:colId xmlns:a16="http://schemas.microsoft.com/office/drawing/2014/main" val="303683022"/>
                    </a:ext>
                  </a:extLst>
                </a:gridCol>
                <a:gridCol w="861273">
                  <a:extLst>
                    <a:ext uri="{9D8B030D-6E8A-4147-A177-3AD203B41FA5}">
                      <a16:colId xmlns:a16="http://schemas.microsoft.com/office/drawing/2014/main" val="3911280593"/>
                    </a:ext>
                  </a:extLst>
                </a:gridCol>
                <a:gridCol w="861273">
                  <a:extLst>
                    <a:ext uri="{9D8B030D-6E8A-4147-A177-3AD203B41FA5}">
                      <a16:colId xmlns:a16="http://schemas.microsoft.com/office/drawing/2014/main" val="40579621"/>
                    </a:ext>
                  </a:extLst>
                </a:gridCol>
                <a:gridCol w="861273">
                  <a:extLst>
                    <a:ext uri="{9D8B030D-6E8A-4147-A177-3AD203B41FA5}">
                      <a16:colId xmlns:a16="http://schemas.microsoft.com/office/drawing/2014/main" val="15352251"/>
                    </a:ext>
                  </a:extLst>
                </a:gridCol>
              </a:tblGrid>
              <a:tr h="51733">
                <a:tc>
                  <a:txBody>
                    <a:bodyPr/>
                    <a:lstStyle/>
                    <a:p>
                      <a:pPr algn="ctr" fontAlgn="ctr"/>
                      <a:r>
                        <a:rPr lang="en-IN" sz="1200" b="1" i="0" u="none" strike="noStrike">
                          <a:solidFill>
                            <a:srgbClr val="FFFFFF"/>
                          </a:solidFill>
                          <a:effectLst/>
                          <a:latin typeface="Arial" panose="020B0604020202020204" pitchFamily="34" charset="0"/>
                          <a:cs typeface="Arial" panose="020B0604020202020204" pitchFamily="34" charset="0"/>
                        </a:rPr>
                        <a:t>Hour</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Apr-24</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May-24</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Jun-24</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Jul-24</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Aug-24</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Sep-24</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Oct-24</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Nov-24</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Dec-24</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Jan-25</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Feb-25</a:t>
                      </a:r>
                    </a:p>
                  </a:txBody>
                  <a:tcPr marL="36000" marR="36000" marT="0" marB="0" anchor="ctr">
                    <a:lnL>
                      <a:noFill/>
                    </a:lnL>
                    <a:lnR>
                      <a:noFill/>
                    </a:lnR>
                    <a:lnT>
                      <a:noFill/>
                    </a:lnT>
                    <a:lnB>
                      <a:noFill/>
                    </a:lnB>
                    <a:solidFill>
                      <a:srgbClr val="000000"/>
                    </a:solidFill>
                  </a:tcPr>
                </a:tc>
                <a:tc>
                  <a:txBody>
                    <a:bodyPr/>
                    <a:lstStyle/>
                    <a:p>
                      <a:pPr algn="r" fontAlgn="ctr"/>
                      <a:r>
                        <a:rPr lang="en-IN" sz="1200" b="1" i="0" u="none" strike="noStrike">
                          <a:solidFill>
                            <a:srgbClr val="FFFFFF"/>
                          </a:solidFill>
                          <a:effectLst/>
                          <a:latin typeface="Arial" panose="020B0604020202020204" pitchFamily="34" charset="0"/>
                          <a:cs typeface="Arial" panose="020B0604020202020204" pitchFamily="34" charset="0"/>
                        </a:rPr>
                        <a:t>Mar-25</a:t>
                      </a:r>
                    </a:p>
                  </a:txBody>
                  <a:tcPr marL="36000" marR="36000" marT="0" marB="0" anchor="ctr">
                    <a:lnL>
                      <a:noFill/>
                    </a:lnL>
                    <a:lnR>
                      <a:noFill/>
                    </a:lnR>
                    <a:lnT>
                      <a:noFill/>
                    </a:lnT>
                    <a:lnB>
                      <a:noFill/>
                    </a:lnB>
                    <a:solidFill>
                      <a:srgbClr val="000000"/>
                    </a:solidFill>
                  </a:tcPr>
                </a:tc>
                <a:extLst>
                  <a:ext uri="{0D108BD9-81ED-4DB2-BD59-A6C34878D82A}">
                    <a16:rowId xmlns:a16="http://schemas.microsoft.com/office/drawing/2014/main" val="529859965"/>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a:t>
                      </a:r>
                    </a:p>
                  </a:txBody>
                  <a:tcPr marL="36000" marR="36000" marT="0" marB="0" anchor="ctr">
                    <a:lnL>
                      <a:noFill/>
                    </a:lnL>
                    <a:lnR>
                      <a:noFill/>
                    </a:lnR>
                    <a:lnT>
                      <a:noFill/>
                    </a:lnT>
                    <a:lnB>
                      <a:noFill/>
                    </a:lnB>
                    <a:solidFill>
                      <a:srgbClr val="62B5E5"/>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8.27 </a:t>
                      </a:r>
                    </a:p>
                  </a:txBody>
                  <a:tcPr marL="36000" marR="36000" marT="0" marB="0" anchor="ctr">
                    <a:lnL>
                      <a:noFill/>
                    </a:lnL>
                    <a:lnR>
                      <a:noFill/>
                    </a:lnR>
                    <a:lnT>
                      <a:noFill/>
                    </a:lnT>
                    <a:lnB>
                      <a:noFill/>
                    </a:lnB>
                    <a:solidFill>
                      <a:srgbClr val="FA8D7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9.62 </a:t>
                      </a:r>
                    </a:p>
                  </a:txBody>
                  <a:tcPr marL="36000" marR="36000" marT="0" marB="0" anchor="ctr">
                    <a:lnL>
                      <a:noFill/>
                    </a:lnL>
                    <a:lnR>
                      <a:noFill/>
                    </a:lnR>
                    <a:lnT>
                      <a:noFill/>
                    </a:lnT>
                    <a:lnB>
                      <a:noFill/>
                    </a:lnB>
                    <a:solidFill>
                      <a:srgbClr val="F9716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9.69 </a:t>
                      </a:r>
                    </a:p>
                  </a:txBody>
                  <a:tcPr marL="36000" marR="36000" marT="0" marB="0" anchor="ctr">
                    <a:lnL>
                      <a:noFill/>
                    </a:lnL>
                    <a:lnR>
                      <a:noFill/>
                    </a:lnR>
                    <a:lnT>
                      <a:noFill/>
                    </a:lnT>
                    <a:lnB>
                      <a:noFill/>
                    </a:lnB>
                    <a:solidFill>
                      <a:srgbClr val="F9706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8.20 </a:t>
                      </a:r>
                    </a:p>
                  </a:txBody>
                  <a:tcPr marL="36000" marR="36000" marT="0" marB="0" anchor="ctr">
                    <a:lnL>
                      <a:noFill/>
                    </a:lnL>
                    <a:lnR>
                      <a:noFill/>
                    </a:lnR>
                    <a:lnT>
                      <a:noFill/>
                    </a:lnT>
                    <a:lnB>
                      <a:noFill/>
                    </a:lnB>
                    <a:solidFill>
                      <a:srgbClr val="FA8E7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5.78 </a:t>
                      </a:r>
                    </a:p>
                  </a:txBody>
                  <a:tcPr marL="36000" marR="36000" marT="0" marB="0" anchor="ctr">
                    <a:lnL>
                      <a:noFill/>
                    </a:lnL>
                    <a:lnR>
                      <a:noFill/>
                    </a:lnR>
                    <a:lnT>
                      <a:noFill/>
                    </a:lnT>
                    <a:lnB>
                      <a:noFill/>
                    </a:lnB>
                    <a:solidFill>
                      <a:srgbClr val="FDC07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5.17 </a:t>
                      </a:r>
                    </a:p>
                  </a:txBody>
                  <a:tcPr marL="36000" marR="36000" marT="0" marB="0" anchor="ctr">
                    <a:lnL>
                      <a:noFill/>
                    </a:lnL>
                    <a:lnR>
                      <a:noFill/>
                    </a:lnR>
                    <a:lnT>
                      <a:noFill/>
                    </a:lnT>
                    <a:lnB>
                      <a:noFill/>
                    </a:lnB>
                    <a:solidFill>
                      <a:srgbClr val="FECD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5.06 </a:t>
                      </a:r>
                    </a:p>
                  </a:txBody>
                  <a:tcPr marL="36000" marR="36000" marT="0" marB="0" anchor="ctr">
                    <a:lnL>
                      <a:noFill/>
                    </a:lnL>
                    <a:lnR>
                      <a:noFill/>
                    </a:lnR>
                    <a:lnT>
                      <a:noFill/>
                    </a:lnT>
                    <a:lnB>
                      <a:noFill/>
                    </a:lnB>
                    <a:solidFill>
                      <a:srgbClr val="FECF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2.80 </a:t>
                      </a:r>
                    </a:p>
                  </a:txBody>
                  <a:tcPr marL="36000" marR="36000" marT="0" marB="0" anchor="ctr">
                    <a:lnL>
                      <a:noFill/>
                    </a:lnL>
                    <a:lnR>
                      <a:noFill/>
                    </a:lnR>
                    <a:lnT>
                      <a:noFill/>
                    </a:lnT>
                    <a:lnB>
                      <a:noFill/>
                    </a:lnB>
                    <a:solidFill>
                      <a:srgbClr val="B4D5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2.37 </a:t>
                      </a:r>
                    </a:p>
                  </a:txBody>
                  <a:tcPr marL="36000" marR="36000" marT="0" marB="0" anchor="ctr">
                    <a:lnL>
                      <a:noFill/>
                    </a:lnL>
                    <a:lnR>
                      <a:noFill/>
                    </a:lnR>
                    <a:lnT>
                      <a:noFill/>
                    </a:lnT>
                    <a:lnB>
                      <a:noFill/>
                    </a:lnB>
                    <a:solidFill>
                      <a:srgbClr val="8FCA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2.53 </a:t>
                      </a:r>
                    </a:p>
                  </a:txBody>
                  <a:tcPr marL="36000" marR="36000" marT="0" marB="0" anchor="ctr">
                    <a:lnL>
                      <a:noFill/>
                    </a:lnL>
                    <a:lnR>
                      <a:noFill/>
                    </a:lnR>
                    <a:lnT>
                      <a:noFill/>
                    </a:lnT>
                    <a:lnB>
                      <a:noFill/>
                    </a:lnB>
                    <a:solidFill>
                      <a:srgbClr val="9DCE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3.11 </a:t>
                      </a:r>
                    </a:p>
                  </a:txBody>
                  <a:tcPr marL="36000" marR="36000" marT="0" marB="0" anchor="ctr">
                    <a:lnL>
                      <a:noFill/>
                    </a:lnL>
                    <a:lnR>
                      <a:noFill/>
                    </a:lnR>
                    <a:lnT>
                      <a:noFill/>
                    </a:lnT>
                    <a:lnB>
                      <a:noFill/>
                    </a:lnB>
                    <a:solidFill>
                      <a:srgbClr val="CEDD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4.49 </a:t>
                      </a:r>
                    </a:p>
                  </a:txBody>
                  <a:tcPr marL="36000" marR="36000" marT="0" marB="0" anchor="ctr">
                    <a:lnL>
                      <a:noFill/>
                    </a:lnL>
                    <a:lnR>
                      <a:noFill/>
                    </a:lnR>
                    <a:lnT>
                      <a:noFill/>
                    </a:lnT>
                    <a:lnB>
                      <a:noFill/>
                    </a:lnB>
                    <a:solidFill>
                      <a:srgbClr val="FFDB81"/>
                    </a:solidFill>
                  </a:tcPr>
                </a:tc>
                <a:extLst>
                  <a:ext uri="{0D108BD9-81ED-4DB2-BD59-A6C34878D82A}">
                    <a16:rowId xmlns:a16="http://schemas.microsoft.com/office/drawing/2014/main" val="1379713379"/>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a:t>
                      </a:r>
                    </a:p>
                  </a:txBody>
                  <a:tcPr marL="36000" marR="36000" marT="0" marB="0" anchor="ctr">
                    <a:lnL>
                      <a:noFill/>
                    </a:lnL>
                    <a:lnR>
                      <a:noFill/>
                    </a:lnR>
                    <a:lnT>
                      <a:noFill/>
                    </a:lnT>
                    <a:lnB>
                      <a:noFill/>
                    </a:lnB>
                    <a:solidFill>
                      <a:srgbClr val="62B5E5"/>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6.75 </a:t>
                      </a:r>
                    </a:p>
                  </a:txBody>
                  <a:tcPr marL="36000" marR="36000" marT="0" marB="0" anchor="ctr">
                    <a:lnL>
                      <a:noFill/>
                    </a:lnL>
                    <a:lnR>
                      <a:noFill/>
                    </a:lnR>
                    <a:lnT>
                      <a:noFill/>
                    </a:lnT>
                    <a:lnB>
                      <a:noFill/>
                    </a:lnB>
                    <a:solidFill>
                      <a:srgbClr val="FCAC78"/>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8.11 </a:t>
                      </a:r>
                    </a:p>
                  </a:txBody>
                  <a:tcPr marL="36000" marR="36000" marT="0" marB="0" anchor="ctr">
                    <a:lnL>
                      <a:noFill/>
                    </a:lnL>
                    <a:lnR>
                      <a:noFill/>
                    </a:lnR>
                    <a:lnT>
                      <a:noFill/>
                    </a:lnT>
                    <a:lnB>
                      <a:noFill/>
                    </a:lnB>
                    <a:solidFill>
                      <a:srgbClr val="FB907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8.13 </a:t>
                      </a:r>
                    </a:p>
                  </a:txBody>
                  <a:tcPr marL="36000" marR="36000" marT="0" marB="0" anchor="ctr">
                    <a:lnL>
                      <a:noFill/>
                    </a:lnL>
                    <a:lnR>
                      <a:noFill/>
                    </a:lnR>
                    <a:lnT>
                      <a:noFill/>
                    </a:lnT>
                    <a:lnB>
                      <a:noFill/>
                    </a:lnB>
                    <a:solidFill>
                      <a:srgbClr val="FB907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6.53 </a:t>
                      </a:r>
                    </a:p>
                  </a:txBody>
                  <a:tcPr marL="36000" marR="36000" marT="0" marB="0" anchor="ctr">
                    <a:lnL>
                      <a:noFill/>
                    </a:lnL>
                    <a:lnR>
                      <a:noFill/>
                    </a:lnR>
                    <a:lnT>
                      <a:noFill/>
                    </a:lnT>
                    <a:lnB>
                      <a:noFill/>
                    </a:lnB>
                    <a:solidFill>
                      <a:srgbClr val="FCB179"/>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4.55 </a:t>
                      </a:r>
                    </a:p>
                  </a:txBody>
                  <a:tcPr marL="36000" marR="36000" marT="0" marB="0" anchor="ctr">
                    <a:lnL>
                      <a:noFill/>
                    </a:lnL>
                    <a:lnR>
                      <a:noFill/>
                    </a:lnR>
                    <a:lnT>
                      <a:noFill/>
                    </a:lnT>
                    <a:lnB>
                      <a:noFill/>
                    </a:lnB>
                    <a:solidFill>
                      <a:srgbClr val="FFD9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4.10 </a:t>
                      </a:r>
                    </a:p>
                  </a:txBody>
                  <a:tcPr marL="36000" marR="36000" marT="0" marB="0" anchor="ctr">
                    <a:lnL>
                      <a:noFill/>
                    </a:lnL>
                    <a:lnR>
                      <a:noFill/>
                    </a:lnR>
                    <a:lnT>
                      <a:noFill/>
                    </a:lnT>
                    <a:lnB>
                      <a:noFill/>
                    </a:lnB>
                    <a:solidFill>
                      <a:srgbClr val="FFE3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3.91 </a:t>
                      </a:r>
                    </a:p>
                  </a:txBody>
                  <a:tcPr marL="36000" marR="36000" marT="0" marB="0" anchor="ctr">
                    <a:lnL>
                      <a:noFill/>
                    </a:lnL>
                    <a:lnR>
                      <a:noFill/>
                    </a:lnR>
                    <a:lnT>
                      <a:noFill/>
                    </a:lnT>
                    <a:lnB>
                      <a:noFill/>
                    </a:lnB>
                    <a:solidFill>
                      <a:srgbClr val="FFE7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2.65 </a:t>
                      </a:r>
                    </a:p>
                  </a:txBody>
                  <a:tcPr marL="36000" marR="36000" marT="0" marB="0" anchor="ctr">
                    <a:lnL>
                      <a:noFill/>
                    </a:lnL>
                    <a:lnR>
                      <a:noFill/>
                    </a:lnR>
                    <a:lnT>
                      <a:noFill/>
                    </a:lnT>
                    <a:lnB>
                      <a:noFill/>
                    </a:lnB>
                    <a:solidFill>
                      <a:srgbClr val="A7D1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2.28 </a:t>
                      </a:r>
                    </a:p>
                  </a:txBody>
                  <a:tcPr marL="36000" marR="36000" marT="0" marB="0" anchor="ctr">
                    <a:lnL>
                      <a:noFill/>
                    </a:lnL>
                    <a:lnR>
                      <a:noFill/>
                    </a:lnR>
                    <a:lnT>
                      <a:noFill/>
                    </a:lnT>
                    <a:lnB>
                      <a:noFill/>
                    </a:lnB>
                    <a:solidFill>
                      <a:srgbClr val="88C8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2.38 </a:t>
                      </a:r>
                    </a:p>
                  </a:txBody>
                  <a:tcPr marL="36000" marR="36000" marT="0" marB="0" anchor="ctr">
                    <a:lnL>
                      <a:noFill/>
                    </a:lnL>
                    <a:lnR>
                      <a:noFill/>
                    </a:lnR>
                    <a:lnT>
                      <a:noFill/>
                    </a:lnT>
                    <a:lnB>
                      <a:noFill/>
                    </a:lnB>
                    <a:solidFill>
                      <a:srgbClr val="90CB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3.09 </a:t>
                      </a:r>
                    </a:p>
                  </a:txBody>
                  <a:tcPr marL="36000" marR="36000" marT="0" marB="0" anchor="ctr">
                    <a:lnL>
                      <a:noFill/>
                    </a:lnL>
                    <a:lnR>
                      <a:noFill/>
                    </a:lnR>
                    <a:lnT>
                      <a:noFill/>
                    </a:lnT>
                    <a:lnB>
                      <a:noFill/>
                    </a:lnB>
                    <a:solidFill>
                      <a:srgbClr val="CDDC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4.29 </a:t>
                      </a:r>
                    </a:p>
                  </a:txBody>
                  <a:tcPr marL="36000" marR="36000" marT="0" marB="0" anchor="ctr">
                    <a:lnL>
                      <a:noFill/>
                    </a:lnL>
                    <a:lnR>
                      <a:noFill/>
                    </a:lnR>
                    <a:lnT>
                      <a:noFill/>
                    </a:lnT>
                    <a:lnB>
                      <a:noFill/>
                    </a:lnB>
                    <a:solidFill>
                      <a:srgbClr val="FFDF82"/>
                    </a:solidFill>
                  </a:tcPr>
                </a:tc>
                <a:extLst>
                  <a:ext uri="{0D108BD9-81ED-4DB2-BD59-A6C34878D82A}">
                    <a16:rowId xmlns:a16="http://schemas.microsoft.com/office/drawing/2014/main" val="2218813802"/>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3</a:t>
                      </a:r>
                    </a:p>
                  </a:txBody>
                  <a:tcPr marL="36000" marR="36000" marT="0" marB="0" anchor="ctr">
                    <a:lnL>
                      <a:noFill/>
                    </a:lnL>
                    <a:lnR>
                      <a:noFill/>
                    </a:lnR>
                    <a:lnT>
                      <a:noFill/>
                    </a:lnT>
                    <a:lnB>
                      <a:noFill/>
                    </a:lnB>
                    <a:solidFill>
                      <a:srgbClr val="62B5E5"/>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5.68 </a:t>
                      </a:r>
                    </a:p>
                  </a:txBody>
                  <a:tcPr marL="36000" marR="36000" marT="0" marB="0" anchor="ctr">
                    <a:lnL>
                      <a:noFill/>
                    </a:lnL>
                    <a:lnR>
                      <a:noFill/>
                    </a:lnR>
                    <a:lnT>
                      <a:noFill/>
                    </a:lnT>
                    <a:lnB>
                      <a:noFill/>
                    </a:lnB>
                    <a:solidFill>
                      <a:srgbClr val="FDC2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5.43 </a:t>
                      </a:r>
                    </a:p>
                  </a:txBody>
                  <a:tcPr marL="36000" marR="36000" marT="0" marB="0" anchor="ctr">
                    <a:lnL>
                      <a:noFill/>
                    </a:lnL>
                    <a:lnR>
                      <a:noFill/>
                    </a:lnR>
                    <a:lnT>
                      <a:noFill/>
                    </a:lnT>
                    <a:lnB>
                      <a:noFill/>
                    </a:lnB>
                    <a:solidFill>
                      <a:srgbClr val="FEC7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6.46 </a:t>
                      </a:r>
                    </a:p>
                  </a:txBody>
                  <a:tcPr marL="36000" marR="36000" marT="0" marB="0" anchor="ctr">
                    <a:lnL>
                      <a:noFill/>
                    </a:lnL>
                    <a:lnR>
                      <a:noFill/>
                    </a:lnR>
                    <a:lnT>
                      <a:noFill/>
                    </a:lnT>
                    <a:lnB>
                      <a:noFill/>
                    </a:lnB>
                    <a:solidFill>
                      <a:srgbClr val="FCB279"/>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4.94 </a:t>
                      </a:r>
                    </a:p>
                  </a:txBody>
                  <a:tcPr marL="36000" marR="36000" marT="0" marB="0" anchor="ctr">
                    <a:lnL>
                      <a:noFill/>
                    </a:lnL>
                    <a:lnR>
                      <a:noFill/>
                    </a:lnR>
                    <a:lnT>
                      <a:noFill/>
                    </a:lnT>
                    <a:lnB>
                      <a:noFill/>
                    </a:lnB>
                    <a:solidFill>
                      <a:srgbClr val="FED1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3.73 </a:t>
                      </a:r>
                    </a:p>
                  </a:txBody>
                  <a:tcPr marL="36000" marR="36000" marT="0" marB="0" anchor="ctr">
                    <a:lnL>
                      <a:noFill/>
                    </a:lnL>
                    <a:lnR>
                      <a:noFill/>
                    </a:lnR>
                    <a:lnT>
                      <a:noFill/>
                    </a:lnT>
                    <a:lnB>
                      <a:noFill/>
                    </a:lnB>
                    <a:solidFill>
                      <a:srgbClr val="FFEA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3.67 </a:t>
                      </a:r>
                    </a:p>
                  </a:txBody>
                  <a:tcPr marL="36000" marR="36000" marT="0" marB="0" anchor="ctr">
                    <a:lnL>
                      <a:noFill/>
                    </a:lnL>
                    <a:lnR>
                      <a:noFill/>
                    </a:lnR>
                    <a:lnT>
                      <a:noFill/>
                    </a:lnT>
                    <a:lnB>
                      <a:noFill/>
                    </a:lnB>
                    <a:solidFill>
                      <a:srgbClr val="FFEB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3.56 </a:t>
                      </a:r>
                    </a:p>
                  </a:txBody>
                  <a:tcPr marL="36000" marR="36000" marT="0" marB="0" anchor="ctr">
                    <a:lnL>
                      <a:noFill/>
                    </a:lnL>
                    <a:lnR>
                      <a:noFill/>
                    </a:lnR>
                    <a:lnT>
                      <a:noFill/>
                    </a:lnT>
                    <a:lnB>
                      <a:noFill/>
                    </a:lnB>
                    <a:solidFill>
                      <a:srgbClr val="F6E8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2.62 </a:t>
                      </a:r>
                    </a:p>
                  </a:txBody>
                  <a:tcPr marL="36000" marR="36000" marT="0" marB="0" anchor="ctr">
                    <a:lnL>
                      <a:noFill/>
                    </a:lnL>
                    <a:lnR>
                      <a:noFill/>
                    </a:lnR>
                    <a:lnT>
                      <a:noFill/>
                    </a:lnT>
                    <a:lnB>
                      <a:noFill/>
                    </a:lnB>
                    <a:solidFill>
                      <a:srgbClr val="A5D1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2.20 </a:t>
                      </a:r>
                    </a:p>
                  </a:txBody>
                  <a:tcPr marL="36000" marR="36000" marT="0" marB="0" anchor="ctr">
                    <a:lnL>
                      <a:noFill/>
                    </a:lnL>
                    <a:lnR>
                      <a:noFill/>
                    </a:lnR>
                    <a:lnT>
                      <a:noFill/>
                    </a:lnT>
                    <a:lnB>
                      <a:noFill/>
                    </a:lnB>
                    <a:solidFill>
                      <a:srgbClr val="81C67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2.29 </a:t>
                      </a:r>
                    </a:p>
                  </a:txBody>
                  <a:tcPr marL="36000" marR="36000" marT="0" marB="0" anchor="ctr">
                    <a:lnL>
                      <a:noFill/>
                    </a:lnL>
                    <a:lnR>
                      <a:noFill/>
                    </a:lnR>
                    <a:lnT>
                      <a:noFill/>
                    </a:lnT>
                    <a:lnB>
                      <a:noFill/>
                    </a:lnB>
                    <a:solidFill>
                      <a:srgbClr val="89C8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3.01 </a:t>
                      </a:r>
                    </a:p>
                  </a:txBody>
                  <a:tcPr marL="36000" marR="36000" marT="0" marB="0" anchor="ctr">
                    <a:lnL>
                      <a:noFill/>
                    </a:lnL>
                    <a:lnR>
                      <a:noFill/>
                    </a:lnR>
                    <a:lnT>
                      <a:noFill/>
                    </a:lnT>
                    <a:lnB>
                      <a:noFill/>
                    </a:lnB>
                    <a:solidFill>
                      <a:srgbClr val="C6DA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3.88 </a:t>
                      </a:r>
                    </a:p>
                  </a:txBody>
                  <a:tcPr marL="36000" marR="36000" marT="0" marB="0" anchor="ctr">
                    <a:lnL>
                      <a:noFill/>
                    </a:lnL>
                    <a:lnR>
                      <a:noFill/>
                    </a:lnR>
                    <a:lnT>
                      <a:noFill/>
                    </a:lnT>
                    <a:lnB>
                      <a:noFill/>
                    </a:lnB>
                    <a:solidFill>
                      <a:srgbClr val="FFE784"/>
                    </a:solidFill>
                  </a:tcPr>
                </a:tc>
                <a:extLst>
                  <a:ext uri="{0D108BD9-81ED-4DB2-BD59-A6C34878D82A}">
                    <a16:rowId xmlns:a16="http://schemas.microsoft.com/office/drawing/2014/main" val="326725592"/>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4</a:t>
                      </a:r>
                    </a:p>
                  </a:txBody>
                  <a:tcPr marL="36000" marR="36000" marT="0" marB="0" anchor="ctr">
                    <a:lnL>
                      <a:noFill/>
                    </a:lnL>
                    <a:lnR>
                      <a:noFill/>
                    </a:lnR>
                    <a:lnT>
                      <a:noFill/>
                    </a:lnT>
                    <a:lnB>
                      <a:noFill/>
                    </a:lnB>
                    <a:solidFill>
                      <a:srgbClr val="62B5E5"/>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5.12 </a:t>
                      </a:r>
                    </a:p>
                  </a:txBody>
                  <a:tcPr marL="36000" marR="36000" marT="0" marB="0" anchor="ctr">
                    <a:lnL>
                      <a:noFill/>
                    </a:lnL>
                    <a:lnR>
                      <a:noFill/>
                    </a:lnR>
                    <a:lnT>
                      <a:noFill/>
                    </a:lnT>
                    <a:lnB>
                      <a:noFill/>
                    </a:lnB>
                    <a:solidFill>
                      <a:srgbClr val="FECE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4.38 </a:t>
                      </a:r>
                    </a:p>
                  </a:txBody>
                  <a:tcPr marL="36000" marR="36000" marT="0" marB="0" anchor="ctr">
                    <a:lnL>
                      <a:noFill/>
                    </a:lnL>
                    <a:lnR>
                      <a:noFill/>
                    </a:lnR>
                    <a:lnT>
                      <a:noFill/>
                    </a:lnT>
                    <a:lnB>
                      <a:noFill/>
                    </a:lnB>
                    <a:solidFill>
                      <a:srgbClr val="FFDD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5.29 </a:t>
                      </a:r>
                    </a:p>
                  </a:txBody>
                  <a:tcPr marL="36000" marR="36000" marT="0" marB="0" anchor="ctr">
                    <a:lnL>
                      <a:noFill/>
                    </a:lnL>
                    <a:lnR>
                      <a:noFill/>
                    </a:lnR>
                    <a:lnT>
                      <a:noFill/>
                    </a:lnT>
                    <a:lnB>
                      <a:noFill/>
                    </a:lnB>
                    <a:solidFill>
                      <a:srgbClr val="FECA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4.69 </a:t>
                      </a:r>
                    </a:p>
                  </a:txBody>
                  <a:tcPr marL="36000" marR="36000" marT="0" marB="0" anchor="ctr">
                    <a:lnL>
                      <a:noFill/>
                    </a:lnL>
                    <a:lnR>
                      <a:noFill/>
                    </a:lnR>
                    <a:lnT>
                      <a:noFill/>
                    </a:lnT>
                    <a:lnB>
                      <a:noFill/>
                    </a:lnB>
                    <a:solidFill>
                      <a:srgbClr val="FED6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3.69 </a:t>
                      </a:r>
                    </a:p>
                  </a:txBody>
                  <a:tcPr marL="36000" marR="36000" marT="0" marB="0" anchor="ctr">
                    <a:lnL>
                      <a:noFill/>
                    </a:lnL>
                    <a:lnR>
                      <a:noFill/>
                    </a:lnR>
                    <a:lnT>
                      <a:noFill/>
                    </a:lnT>
                    <a:lnB>
                      <a:noFill/>
                    </a:lnB>
                    <a:solidFill>
                      <a:srgbClr val="FFEB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3.46 </a:t>
                      </a:r>
                    </a:p>
                  </a:txBody>
                  <a:tcPr marL="36000" marR="36000" marT="0" marB="0" anchor="ctr">
                    <a:lnL>
                      <a:noFill/>
                    </a:lnL>
                    <a:lnR>
                      <a:noFill/>
                    </a:lnR>
                    <a:lnT>
                      <a:noFill/>
                    </a:lnT>
                    <a:lnB>
                      <a:noFill/>
                    </a:lnB>
                    <a:solidFill>
                      <a:srgbClr val="ECE5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3.32 </a:t>
                      </a:r>
                    </a:p>
                  </a:txBody>
                  <a:tcPr marL="36000" marR="36000" marT="0" marB="0" anchor="ctr">
                    <a:lnL>
                      <a:noFill/>
                    </a:lnL>
                    <a:lnR>
                      <a:noFill/>
                    </a:lnR>
                    <a:lnT>
                      <a:noFill/>
                    </a:lnT>
                    <a:lnB>
                      <a:noFill/>
                    </a:lnB>
                    <a:solidFill>
                      <a:srgbClr val="E1E2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2.59 </a:t>
                      </a:r>
                    </a:p>
                  </a:txBody>
                  <a:tcPr marL="36000" marR="36000" marT="0" marB="0" anchor="ctr">
                    <a:lnL>
                      <a:noFill/>
                    </a:lnL>
                    <a:lnR>
                      <a:noFill/>
                    </a:lnR>
                    <a:lnT>
                      <a:noFill/>
                    </a:lnT>
                    <a:lnB>
                      <a:noFill/>
                    </a:lnB>
                    <a:solidFill>
                      <a:srgbClr val="A2D0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2.20 </a:t>
                      </a:r>
                    </a:p>
                  </a:txBody>
                  <a:tcPr marL="36000" marR="36000" marT="0" marB="0" anchor="ctr">
                    <a:lnL>
                      <a:noFill/>
                    </a:lnL>
                    <a:lnR>
                      <a:noFill/>
                    </a:lnR>
                    <a:lnT>
                      <a:noFill/>
                    </a:lnT>
                    <a:lnB>
                      <a:noFill/>
                    </a:lnB>
                    <a:solidFill>
                      <a:srgbClr val="80C67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2.27 </a:t>
                      </a:r>
                    </a:p>
                  </a:txBody>
                  <a:tcPr marL="36000" marR="36000" marT="0" marB="0" anchor="ctr">
                    <a:lnL>
                      <a:noFill/>
                    </a:lnL>
                    <a:lnR>
                      <a:noFill/>
                    </a:lnR>
                    <a:lnT>
                      <a:noFill/>
                    </a:lnT>
                    <a:lnB>
                      <a:noFill/>
                    </a:lnB>
                    <a:solidFill>
                      <a:srgbClr val="87C8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2.97 </a:t>
                      </a:r>
                    </a:p>
                  </a:txBody>
                  <a:tcPr marL="36000" marR="36000" marT="0" marB="0" anchor="ctr">
                    <a:lnL>
                      <a:noFill/>
                    </a:lnL>
                    <a:lnR>
                      <a:noFill/>
                    </a:lnR>
                    <a:lnT>
                      <a:noFill/>
                    </a:lnT>
                    <a:lnB>
                      <a:noFill/>
                    </a:lnB>
                    <a:solidFill>
                      <a:srgbClr val="C3D9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3.71 </a:t>
                      </a:r>
                    </a:p>
                  </a:txBody>
                  <a:tcPr marL="36000" marR="36000" marT="0" marB="0" anchor="ctr">
                    <a:lnL>
                      <a:noFill/>
                    </a:lnL>
                    <a:lnR>
                      <a:noFill/>
                    </a:lnR>
                    <a:lnT>
                      <a:noFill/>
                    </a:lnT>
                    <a:lnB>
                      <a:noFill/>
                    </a:lnB>
                    <a:solidFill>
                      <a:srgbClr val="FFEB84"/>
                    </a:solidFill>
                  </a:tcPr>
                </a:tc>
                <a:extLst>
                  <a:ext uri="{0D108BD9-81ED-4DB2-BD59-A6C34878D82A}">
                    <a16:rowId xmlns:a16="http://schemas.microsoft.com/office/drawing/2014/main" val="4277539358"/>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5</a:t>
                      </a:r>
                    </a:p>
                  </a:txBody>
                  <a:tcPr marL="36000" marR="36000" marT="0" marB="0" anchor="ctr">
                    <a:lnL>
                      <a:noFill/>
                    </a:lnL>
                    <a:lnR>
                      <a:noFill/>
                    </a:lnR>
                    <a:lnT>
                      <a:noFill/>
                    </a:lnT>
                    <a:lnB>
                      <a:noFill/>
                    </a:lnB>
                    <a:solidFill>
                      <a:srgbClr val="62B5E5"/>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4.77 </a:t>
                      </a:r>
                    </a:p>
                  </a:txBody>
                  <a:tcPr marL="36000" marR="36000" marT="0" marB="0" anchor="ctr">
                    <a:lnL>
                      <a:noFill/>
                    </a:lnL>
                    <a:lnR>
                      <a:noFill/>
                    </a:lnR>
                    <a:lnT>
                      <a:noFill/>
                    </a:lnT>
                    <a:lnB>
                      <a:noFill/>
                    </a:lnB>
                    <a:solidFill>
                      <a:srgbClr val="FED5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4.37 </a:t>
                      </a:r>
                    </a:p>
                  </a:txBody>
                  <a:tcPr marL="36000" marR="36000" marT="0" marB="0" anchor="ctr">
                    <a:lnL>
                      <a:noFill/>
                    </a:lnL>
                    <a:lnR>
                      <a:noFill/>
                    </a:lnR>
                    <a:lnT>
                      <a:noFill/>
                    </a:lnT>
                    <a:lnB>
                      <a:noFill/>
                    </a:lnB>
                    <a:solidFill>
                      <a:srgbClr val="FFDD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5.33 </a:t>
                      </a:r>
                    </a:p>
                  </a:txBody>
                  <a:tcPr marL="36000" marR="36000" marT="0" marB="0" anchor="ctr">
                    <a:lnL>
                      <a:noFill/>
                    </a:lnL>
                    <a:lnR>
                      <a:noFill/>
                    </a:lnR>
                    <a:lnT>
                      <a:noFill/>
                    </a:lnT>
                    <a:lnB>
                      <a:noFill/>
                    </a:lnB>
                    <a:solidFill>
                      <a:srgbClr val="FEC9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4.56 </a:t>
                      </a:r>
                    </a:p>
                  </a:txBody>
                  <a:tcPr marL="36000" marR="36000" marT="0" marB="0" anchor="ctr">
                    <a:lnL>
                      <a:noFill/>
                    </a:lnL>
                    <a:lnR>
                      <a:noFill/>
                    </a:lnR>
                    <a:lnT>
                      <a:noFill/>
                    </a:lnT>
                    <a:lnB>
                      <a:noFill/>
                    </a:lnB>
                    <a:solidFill>
                      <a:srgbClr val="FFD9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3.80 </a:t>
                      </a:r>
                    </a:p>
                  </a:txBody>
                  <a:tcPr marL="36000" marR="36000" marT="0" marB="0" anchor="ctr">
                    <a:lnL>
                      <a:noFill/>
                    </a:lnL>
                    <a:lnR>
                      <a:noFill/>
                    </a:lnR>
                    <a:lnT>
                      <a:noFill/>
                    </a:lnT>
                    <a:lnB>
                      <a:noFill/>
                    </a:lnB>
                    <a:solidFill>
                      <a:srgbClr val="FFE9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3.46 </a:t>
                      </a:r>
                    </a:p>
                  </a:txBody>
                  <a:tcPr marL="36000" marR="36000" marT="0" marB="0" anchor="ctr">
                    <a:lnL>
                      <a:noFill/>
                    </a:lnL>
                    <a:lnR>
                      <a:noFill/>
                    </a:lnR>
                    <a:lnT>
                      <a:noFill/>
                    </a:lnT>
                    <a:lnB>
                      <a:noFill/>
                    </a:lnB>
                    <a:solidFill>
                      <a:srgbClr val="EDE5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3.20 </a:t>
                      </a:r>
                    </a:p>
                  </a:txBody>
                  <a:tcPr marL="36000" marR="36000" marT="0" marB="0" anchor="ctr">
                    <a:lnL>
                      <a:noFill/>
                    </a:lnL>
                    <a:lnR>
                      <a:noFill/>
                    </a:lnR>
                    <a:lnT>
                      <a:noFill/>
                    </a:lnT>
                    <a:lnB>
                      <a:noFill/>
                    </a:lnB>
                    <a:solidFill>
                      <a:srgbClr val="D7DF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2.62 </a:t>
                      </a:r>
                    </a:p>
                  </a:txBody>
                  <a:tcPr marL="36000" marR="36000" marT="0" marB="0" anchor="ctr">
                    <a:lnL>
                      <a:noFill/>
                    </a:lnL>
                    <a:lnR>
                      <a:noFill/>
                    </a:lnR>
                    <a:lnT>
                      <a:noFill/>
                    </a:lnT>
                    <a:lnB>
                      <a:noFill/>
                    </a:lnB>
                    <a:solidFill>
                      <a:srgbClr val="A4D0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2.28 </a:t>
                      </a:r>
                    </a:p>
                  </a:txBody>
                  <a:tcPr marL="36000" marR="36000" marT="0" marB="0" anchor="ctr">
                    <a:lnL>
                      <a:noFill/>
                    </a:lnL>
                    <a:lnR>
                      <a:noFill/>
                    </a:lnR>
                    <a:lnT>
                      <a:noFill/>
                    </a:lnT>
                    <a:lnB>
                      <a:noFill/>
                    </a:lnB>
                    <a:solidFill>
                      <a:srgbClr val="87C8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2.38 </a:t>
                      </a:r>
                    </a:p>
                  </a:txBody>
                  <a:tcPr marL="36000" marR="36000" marT="0" marB="0" anchor="ctr">
                    <a:lnL>
                      <a:noFill/>
                    </a:lnL>
                    <a:lnR>
                      <a:noFill/>
                    </a:lnR>
                    <a:lnT>
                      <a:noFill/>
                    </a:lnT>
                    <a:lnB>
                      <a:noFill/>
                    </a:lnB>
                    <a:solidFill>
                      <a:srgbClr val="90CB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3.05 </a:t>
                      </a:r>
                    </a:p>
                  </a:txBody>
                  <a:tcPr marL="36000" marR="36000" marT="0" marB="0" anchor="ctr">
                    <a:lnL>
                      <a:noFill/>
                    </a:lnL>
                    <a:lnR>
                      <a:noFill/>
                    </a:lnR>
                    <a:lnT>
                      <a:noFill/>
                    </a:lnT>
                    <a:lnB>
                      <a:noFill/>
                    </a:lnB>
                    <a:solidFill>
                      <a:srgbClr val="C9DB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3.90 </a:t>
                      </a:r>
                    </a:p>
                  </a:txBody>
                  <a:tcPr marL="36000" marR="36000" marT="0" marB="0" anchor="ctr">
                    <a:lnL>
                      <a:noFill/>
                    </a:lnL>
                    <a:lnR>
                      <a:noFill/>
                    </a:lnR>
                    <a:lnT>
                      <a:noFill/>
                    </a:lnT>
                    <a:lnB>
                      <a:noFill/>
                    </a:lnB>
                    <a:solidFill>
                      <a:srgbClr val="FFE784"/>
                    </a:solidFill>
                  </a:tcPr>
                </a:tc>
                <a:extLst>
                  <a:ext uri="{0D108BD9-81ED-4DB2-BD59-A6C34878D82A}">
                    <a16:rowId xmlns:a16="http://schemas.microsoft.com/office/drawing/2014/main" val="2809417572"/>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6</a:t>
                      </a:r>
                    </a:p>
                  </a:txBody>
                  <a:tcPr marL="36000" marR="36000" marT="0" marB="0" anchor="ctr">
                    <a:lnL>
                      <a:noFill/>
                    </a:lnL>
                    <a:lnR>
                      <a:noFill/>
                    </a:lnR>
                    <a:lnT>
                      <a:noFill/>
                    </a:lnT>
                    <a:lnB>
                      <a:noFill/>
                    </a:lnB>
                    <a:solidFill>
                      <a:srgbClr val="62B5E5"/>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4.92 </a:t>
                      </a:r>
                    </a:p>
                  </a:txBody>
                  <a:tcPr marL="36000" marR="36000" marT="0" marB="0" anchor="ctr">
                    <a:lnL>
                      <a:noFill/>
                    </a:lnL>
                    <a:lnR>
                      <a:noFill/>
                    </a:lnR>
                    <a:lnT>
                      <a:noFill/>
                    </a:lnT>
                    <a:lnB>
                      <a:noFill/>
                    </a:lnB>
                    <a:solidFill>
                      <a:srgbClr val="FED2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4.37 </a:t>
                      </a:r>
                    </a:p>
                  </a:txBody>
                  <a:tcPr marL="36000" marR="36000" marT="0" marB="0" anchor="ctr">
                    <a:lnL>
                      <a:noFill/>
                    </a:lnL>
                    <a:lnR>
                      <a:noFill/>
                    </a:lnR>
                    <a:lnT>
                      <a:noFill/>
                    </a:lnT>
                    <a:lnB>
                      <a:noFill/>
                    </a:lnB>
                    <a:solidFill>
                      <a:srgbClr val="FFDD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4.99 </a:t>
                      </a:r>
                    </a:p>
                  </a:txBody>
                  <a:tcPr marL="36000" marR="36000" marT="0" marB="0" anchor="ctr">
                    <a:lnL>
                      <a:noFill/>
                    </a:lnL>
                    <a:lnR>
                      <a:noFill/>
                    </a:lnR>
                    <a:lnT>
                      <a:noFill/>
                    </a:lnT>
                    <a:lnB>
                      <a:noFill/>
                    </a:lnB>
                    <a:solidFill>
                      <a:srgbClr val="FED0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3.83 </a:t>
                      </a:r>
                    </a:p>
                  </a:txBody>
                  <a:tcPr marL="36000" marR="36000" marT="0" marB="0" anchor="ctr">
                    <a:lnL>
                      <a:noFill/>
                    </a:lnL>
                    <a:lnR>
                      <a:noFill/>
                    </a:lnR>
                    <a:lnT>
                      <a:noFill/>
                    </a:lnT>
                    <a:lnB>
                      <a:noFill/>
                    </a:lnB>
                    <a:solidFill>
                      <a:srgbClr val="FFE8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3.55 </a:t>
                      </a:r>
                    </a:p>
                  </a:txBody>
                  <a:tcPr marL="36000" marR="36000" marT="0" marB="0" anchor="ctr">
                    <a:lnL>
                      <a:noFill/>
                    </a:lnL>
                    <a:lnR>
                      <a:noFill/>
                    </a:lnR>
                    <a:lnT>
                      <a:noFill/>
                    </a:lnT>
                    <a:lnB>
                      <a:noFill/>
                    </a:lnB>
                    <a:solidFill>
                      <a:srgbClr val="F5E8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3.49 </a:t>
                      </a:r>
                    </a:p>
                  </a:txBody>
                  <a:tcPr marL="36000" marR="36000" marT="0" marB="0" anchor="ctr">
                    <a:lnL>
                      <a:noFill/>
                    </a:lnL>
                    <a:lnR>
                      <a:noFill/>
                    </a:lnR>
                    <a:lnT>
                      <a:noFill/>
                    </a:lnT>
                    <a:lnB>
                      <a:noFill/>
                    </a:lnB>
                    <a:solidFill>
                      <a:srgbClr val="EFE6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3.38 </a:t>
                      </a:r>
                    </a:p>
                  </a:txBody>
                  <a:tcPr marL="36000" marR="36000" marT="0" marB="0" anchor="ctr">
                    <a:lnL>
                      <a:noFill/>
                    </a:lnL>
                    <a:lnR>
                      <a:noFill/>
                    </a:lnR>
                    <a:lnT>
                      <a:noFill/>
                    </a:lnT>
                    <a:lnB>
                      <a:noFill/>
                    </a:lnB>
                    <a:solidFill>
                      <a:srgbClr val="E6E3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2.86 </a:t>
                      </a:r>
                    </a:p>
                  </a:txBody>
                  <a:tcPr marL="36000" marR="36000" marT="0" marB="0" anchor="ctr">
                    <a:lnL>
                      <a:noFill/>
                    </a:lnL>
                    <a:lnR>
                      <a:noFill/>
                    </a:lnR>
                    <a:lnT>
                      <a:noFill/>
                    </a:lnT>
                    <a:lnB>
                      <a:noFill/>
                    </a:lnB>
                    <a:solidFill>
                      <a:srgbClr val="BAD7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2.82 </a:t>
                      </a:r>
                    </a:p>
                  </a:txBody>
                  <a:tcPr marL="36000" marR="36000" marT="0" marB="0" anchor="ctr">
                    <a:lnL>
                      <a:noFill/>
                    </a:lnL>
                    <a:lnR>
                      <a:noFill/>
                    </a:lnR>
                    <a:lnT>
                      <a:noFill/>
                    </a:lnT>
                    <a:lnB>
                      <a:noFill/>
                    </a:lnB>
                    <a:solidFill>
                      <a:srgbClr val="B5D5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2.92 </a:t>
                      </a:r>
                    </a:p>
                  </a:txBody>
                  <a:tcPr marL="36000" marR="36000" marT="0" marB="0" anchor="ctr">
                    <a:lnL>
                      <a:noFill/>
                    </a:lnL>
                    <a:lnR>
                      <a:noFill/>
                    </a:lnR>
                    <a:lnT>
                      <a:noFill/>
                    </a:lnT>
                    <a:lnB>
                      <a:noFill/>
                    </a:lnB>
                    <a:solidFill>
                      <a:srgbClr val="BFD8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3.49 </a:t>
                      </a:r>
                    </a:p>
                  </a:txBody>
                  <a:tcPr marL="36000" marR="36000" marT="0" marB="0" anchor="ctr">
                    <a:lnL>
                      <a:noFill/>
                    </a:lnL>
                    <a:lnR>
                      <a:noFill/>
                    </a:lnR>
                    <a:lnT>
                      <a:noFill/>
                    </a:lnT>
                    <a:lnB>
                      <a:noFill/>
                    </a:lnB>
                    <a:solidFill>
                      <a:srgbClr val="F0E6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4.54 </a:t>
                      </a:r>
                    </a:p>
                  </a:txBody>
                  <a:tcPr marL="36000" marR="36000" marT="0" marB="0" anchor="ctr">
                    <a:lnL>
                      <a:noFill/>
                    </a:lnL>
                    <a:lnR>
                      <a:noFill/>
                    </a:lnR>
                    <a:lnT>
                      <a:noFill/>
                    </a:lnT>
                    <a:lnB>
                      <a:noFill/>
                    </a:lnB>
                    <a:solidFill>
                      <a:srgbClr val="FFDA81"/>
                    </a:solidFill>
                  </a:tcPr>
                </a:tc>
                <a:extLst>
                  <a:ext uri="{0D108BD9-81ED-4DB2-BD59-A6C34878D82A}">
                    <a16:rowId xmlns:a16="http://schemas.microsoft.com/office/drawing/2014/main" val="38792432"/>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7</a:t>
                      </a:r>
                    </a:p>
                  </a:txBody>
                  <a:tcPr marL="36000" marR="36000" marT="0" marB="0" anchor="ctr">
                    <a:lnL>
                      <a:noFill/>
                    </a:lnL>
                    <a:lnR>
                      <a:noFill/>
                    </a:lnR>
                    <a:lnT>
                      <a:noFill/>
                    </a:lnT>
                    <a:lnB>
                      <a:noFill/>
                    </a:lnB>
                    <a:solidFill>
                      <a:srgbClr val="012169"/>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5.30 </a:t>
                      </a:r>
                    </a:p>
                  </a:txBody>
                  <a:tcPr marL="36000" marR="36000" marT="0" marB="0" anchor="ctr">
                    <a:lnL>
                      <a:noFill/>
                    </a:lnL>
                    <a:lnR>
                      <a:noFill/>
                    </a:lnR>
                    <a:lnT>
                      <a:noFill/>
                    </a:lnT>
                    <a:lnB>
                      <a:noFill/>
                    </a:lnB>
                    <a:solidFill>
                      <a:srgbClr val="FECA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4.24 </a:t>
                      </a:r>
                    </a:p>
                  </a:txBody>
                  <a:tcPr marL="36000" marR="36000" marT="0" marB="0" anchor="ctr">
                    <a:lnL>
                      <a:noFill/>
                    </a:lnL>
                    <a:lnR>
                      <a:noFill/>
                    </a:lnR>
                    <a:lnT>
                      <a:noFill/>
                    </a:lnT>
                    <a:lnB>
                      <a:noFill/>
                    </a:lnB>
                    <a:solidFill>
                      <a:srgbClr val="FFE0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5.08 </a:t>
                      </a:r>
                    </a:p>
                  </a:txBody>
                  <a:tcPr marL="36000" marR="36000" marT="0" marB="0" anchor="ctr">
                    <a:lnL>
                      <a:noFill/>
                    </a:lnL>
                    <a:lnR>
                      <a:noFill/>
                    </a:lnR>
                    <a:lnT>
                      <a:noFill/>
                    </a:lnT>
                    <a:lnB>
                      <a:noFill/>
                    </a:lnB>
                    <a:solidFill>
                      <a:srgbClr val="FECE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4.67 </a:t>
                      </a:r>
                    </a:p>
                  </a:txBody>
                  <a:tcPr marL="36000" marR="36000" marT="0" marB="0" anchor="ctr">
                    <a:lnL>
                      <a:noFill/>
                    </a:lnL>
                    <a:lnR>
                      <a:noFill/>
                    </a:lnR>
                    <a:lnT>
                      <a:noFill/>
                    </a:lnT>
                    <a:lnB>
                      <a:noFill/>
                    </a:lnB>
                    <a:solidFill>
                      <a:srgbClr val="FED7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4.27 </a:t>
                      </a:r>
                    </a:p>
                  </a:txBody>
                  <a:tcPr marL="36000" marR="36000" marT="0" marB="0" anchor="ctr">
                    <a:lnL>
                      <a:noFill/>
                    </a:lnL>
                    <a:lnR>
                      <a:noFill/>
                    </a:lnR>
                    <a:lnT>
                      <a:noFill/>
                    </a:lnT>
                    <a:lnB>
                      <a:noFill/>
                    </a:lnB>
                    <a:solidFill>
                      <a:srgbClr val="FFDF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3.98 </a:t>
                      </a:r>
                    </a:p>
                  </a:txBody>
                  <a:tcPr marL="36000" marR="36000" marT="0" marB="0" anchor="ctr">
                    <a:lnL>
                      <a:noFill/>
                    </a:lnL>
                    <a:lnR>
                      <a:noFill/>
                    </a:lnR>
                    <a:lnT>
                      <a:noFill/>
                    </a:lnT>
                    <a:lnB>
                      <a:noFill/>
                    </a:lnB>
                    <a:solidFill>
                      <a:srgbClr val="FFE5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3.53 </a:t>
                      </a:r>
                    </a:p>
                  </a:txBody>
                  <a:tcPr marL="36000" marR="36000" marT="0" marB="0" anchor="ctr">
                    <a:lnL>
                      <a:noFill/>
                    </a:lnL>
                    <a:lnR>
                      <a:noFill/>
                    </a:lnR>
                    <a:lnT>
                      <a:noFill/>
                    </a:lnT>
                    <a:lnB>
                      <a:noFill/>
                    </a:lnB>
                    <a:solidFill>
                      <a:srgbClr val="F3E7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3.39 </a:t>
                      </a:r>
                    </a:p>
                  </a:txBody>
                  <a:tcPr marL="36000" marR="36000" marT="0" marB="0" anchor="ctr">
                    <a:lnL>
                      <a:noFill/>
                    </a:lnL>
                    <a:lnR>
                      <a:noFill/>
                    </a:lnR>
                    <a:lnT>
                      <a:noFill/>
                    </a:lnT>
                    <a:lnB>
                      <a:noFill/>
                    </a:lnB>
                    <a:solidFill>
                      <a:srgbClr val="E7E4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3.75 </a:t>
                      </a:r>
                    </a:p>
                  </a:txBody>
                  <a:tcPr marL="36000" marR="36000" marT="0" marB="0" anchor="ctr">
                    <a:lnL>
                      <a:noFill/>
                    </a:lnL>
                    <a:lnR>
                      <a:noFill/>
                    </a:lnR>
                    <a:lnT>
                      <a:noFill/>
                    </a:lnT>
                    <a:lnB>
                      <a:noFill/>
                    </a:lnB>
                    <a:solidFill>
                      <a:srgbClr val="FFEA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4.12 </a:t>
                      </a:r>
                    </a:p>
                  </a:txBody>
                  <a:tcPr marL="36000" marR="36000" marT="0" marB="0" anchor="ctr">
                    <a:lnL>
                      <a:noFill/>
                    </a:lnL>
                    <a:lnR>
                      <a:noFill/>
                    </a:lnR>
                    <a:lnT>
                      <a:noFill/>
                    </a:lnT>
                    <a:lnB>
                      <a:noFill/>
                    </a:lnB>
                    <a:solidFill>
                      <a:srgbClr val="FFE2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5.95 </a:t>
                      </a:r>
                    </a:p>
                  </a:txBody>
                  <a:tcPr marL="36000" marR="36000" marT="0" marB="0" anchor="ctr">
                    <a:lnL>
                      <a:noFill/>
                    </a:lnL>
                    <a:lnR>
                      <a:noFill/>
                    </a:lnR>
                    <a:lnT>
                      <a:noFill/>
                    </a:lnT>
                    <a:lnB>
                      <a:noFill/>
                    </a:lnB>
                    <a:solidFill>
                      <a:srgbClr val="FDBD7B"/>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6.17 </a:t>
                      </a:r>
                    </a:p>
                  </a:txBody>
                  <a:tcPr marL="36000" marR="36000" marT="0" marB="0" anchor="ctr">
                    <a:lnL>
                      <a:noFill/>
                    </a:lnL>
                    <a:lnR>
                      <a:noFill/>
                    </a:lnR>
                    <a:lnT>
                      <a:noFill/>
                    </a:lnT>
                    <a:lnB>
                      <a:noFill/>
                    </a:lnB>
                    <a:solidFill>
                      <a:srgbClr val="FDB87B"/>
                    </a:solidFill>
                  </a:tcPr>
                </a:tc>
                <a:extLst>
                  <a:ext uri="{0D108BD9-81ED-4DB2-BD59-A6C34878D82A}">
                    <a16:rowId xmlns:a16="http://schemas.microsoft.com/office/drawing/2014/main" val="2133878888"/>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8</a:t>
                      </a:r>
                    </a:p>
                  </a:txBody>
                  <a:tcPr marL="36000" marR="36000" marT="0" marB="0" anchor="ctr">
                    <a:lnL>
                      <a:noFill/>
                    </a:lnL>
                    <a:lnR>
                      <a:noFill/>
                    </a:lnR>
                    <a:lnT>
                      <a:noFill/>
                    </a:lnT>
                    <a:lnB>
                      <a:noFill/>
                    </a:lnB>
                    <a:solidFill>
                      <a:srgbClr val="012169"/>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4.34 </a:t>
                      </a:r>
                    </a:p>
                  </a:txBody>
                  <a:tcPr marL="36000" marR="36000" marT="0" marB="0" anchor="ctr">
                    <a:lnL>
                      <a:noFill/>
                    </a:lnL>
                    <a:lnR>
                      <a:noFill/>
                    </a:lnR>
                    <a:lnT>
                      <a:noFill/>
                    </a:lnT>
                    <a:lnB>
                      <a:noFill/>
                    </a:lnB>
                    <a:solidFill>
                      <a:srgbClr val="FFDE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3.45 </a:t>
                      </a:r>
                    </a:p>
                  </a:txBody>
                  <a:tcPr marL="36000" marR="36000" marT="0" marB="0" anchor="ctr">
                    <a:lnL>
                      <a:noFill/>
                    </a:lnL>
                    <a:lnR>
                      <a:noFill/>
                    </a:lnR>
                    <a:lnT>
                      <a:noFill/>
                    </a:lnT>
                    <a:lnB>
                      <a:noFill/>
                    </a:lnB>
                    <a:solidFill>
                      <a:srgbClr val="ECE5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3.70 </a:t>
                      </a:r>
                    </a:p>
                  </a:txBody>
                  <a:tcPr marL="36000" marR="36000" marT="0" marB="0" anchor="ctr">
                    <a:lnL>
                      <a:noFill/>
                    </a:lnL>
                    <a:lnR>
                      <a:noFill/>
                    </a:lnR>
                    <a:lnT>
                      <a:noFill/>
                    </a:lnT>
                    <a:lnB>
                      <a:noFill/>
                    </a:lnB>
                    <a:solidFill>
                      <a:srgbClr val="FFEB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3.67 </a:t>
                      </a:r>
                    </a:p>
                  </a:txBody>
                  <a:tcPr marL="36000" marR="36000" marT="0" marB="0" anchor="ctr">
                    <a:lnL>
                      <a:noFill/>
                    </a:lnL>
                    <a:lnR>
                      <a:noFill/>
                    </a:lnR>
                    <a:lnT>
                      <a:noFill/>
                    </a:lnT>
                    <a:lnB>
                      <a:noFill/>
                    </a:lnB>
                    <a:solidFill>
                      <a:srgbClr val="FFEB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3.74 </a:t>
                      </a:r>
                    </a:p>
                  </a:txBody>
                  <a:tcPr marL="36000" marR="36000" marT="0" marB="0" anchor="ctr">
                    <a:lnL>
                      <a:noFill/>
                    </a:lnL>
                    <a:lnR>
                      <a:noFill/>
                    </a:lnR>
                    <a:lnT>
                      <a:noFill/>
                    </a:lnT>
                    <a:lnB>
                      <a:noFill/>
                    </a:lnB>
                    <a:solidFill>
                      <a:srgbClr val="FFEA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3.42 </a:t>
                      </a:r>
                    </a:p>
                  </a:txBody>
                  <a:tcPr marL="36000" marR="36000" marT="0" marB="0" anchor="ctr">
                    <a:lnL>
                      <a:noFill/>
                    </a:lnL>
                    <a:lnR>
                      <a:noFill/>
                    </a:lnR>
                    <a:lnT>
                      <a:noFill/>
                    </a:lnT>
                    <a:lnB>
                      <a:noFill/>
                    </a:lnB>
                    <a:solidFill>
                      <a:srgbClr val="E9E4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3.42 </a:t>
                      </a:r>
                    </a:p>
                  </a:txBody>
                  <a:tcPr marL="36000" marR="36000" marT="0" marB="0" anchor="ctr">
                    <a:lnL>
                      <a:noFill/>
                    </a:lnL>
                    <a:lnR>
                      <a:noFill/>
                    </a:lnR>
                    <a:lnT>
                      <a:noFill/>
                    </a:lnT>
                    <a:lnB>
                      <a:noFill/>
                    </a:lnB>
                    <a:solidFill>
                      <a:srgbClr val="EAE5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3.93 </a:t>
                      </a:r>
                    </a:p>
                  </a:txBody>
                  <a:tcPr marL="36000" marR="36000" marT="0" marB="0" anchor="ctr">
                    <a:lnL>
                      <a:noFill/>
                    </a:lnL>
                    <a:lnR>
                      <a:noFill/>
                    </a:lnR>
                    <a:lnT>
                      <a:noFill/>
                    </a:lnT>
                    <a:lnB>
                      <a:noFill/>
                    </a:lnB>
                    <a:solidFill>
                      <a:srgbClr val="FFE6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6.20 </a:t>
                      </a:r>
                    </a:p>
                  </a:txBody>
                  <a:tcPr marL="36000" marR="36000" marT="0" marB="0" anchor="ctr">
                    <a:lnL>
                      <a:noFill/>
                    </a:lnL>
                    <a:lnR>
                      <a:noFill/>
                    </a:lnR>
                    <a:lnT>
                      <a:noFill/>
                    </a:lnT>
                    <a:lnB>
                      <a:noFill/>
                    </a:lnB>
                    <a:solidFill>
                      <a:srgbClr val="FDB77A"/>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8.40 </a:t>
                      </a:r>
                    </a:p>
                  </a:txBody>
                  <a:tcPr marL="36000" marR="36000" marT="0" marB="0" anchor="ctr">
                    <a:lnL>
                      <a:noFill/>
                    </a:lnL>
                    <a:lnR>
                      <a:noFill/>
                    </a:lnR>
                    <a:lnT>
                      <a:noFill/>
                    </a:lnT>
                    <a:lnB>
                      <a:noFill/>
                    </a:lnB>
                    <a:solidFill>
                      <a:srgbClr val="FA8A7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9.25 </a:t>
                      </a:r>
                    </a:p>
                  </a:txBody>
                  <a:tcPr marL="36000" marR="36000" marT="0" marB="0" anchor="ctr">
                    <a:lnL>
                      <a:noFill/>
                    </a:lnL>
                    <a:lnR>
                      <a:noFill/>
                    </a:lnR>
                    <a:lnT>
                      <a:noFill/>
                    </a:lnT>
                    <a:lnB>
                      <a:noFill/>
                    </a:lnB>
                    <a:solidFill>
                      <a:srgbClr val="F9796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6.01 </a:t>
                      </a:r>
                    </a:p>
                  </a:txBody>
                  <a:tcPr marL="36000" marR="36000" marT="0" marB="0" anchor="ctr">
                    <a:lnL>
                      <a:noFill/>
                    </a:lnL>
                    <a:lnR>
                      <a:noFill/>
                    </a:lnR>
                    <a:lnT>
                      <a:noFill/>
                    </a:lnT>
                    <a:lnB>
                      <a:noFill/>
                    </a:lnB>
                    <a:solidFill>
                      <a:srgbClr val="FDBB7B"/>
                    </a:solidFill>
                  </a:tcPr>
                </a:tc>
                <a:extLst>
                  <a:ext uri="{0D108BD9-81ED-4DB2-BD59-A6C34878D82A}">
                    <a16:rowId xmlns:a16="http://schemas.microsoft.com/office/drawing/2014/main" val="674281986"/>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9</a:t>
                      </a:r>
                    </a:p>
                  </a:txBody>
                  <a:tcPr marL="36000" marR="36000" marT="0" marB="0" anchor="ctr">
                    <a:lnL>
                      <a:noFill/>
                    </a:lnL>
                    <a:lnR>
                      <a:noFill/>
                    </a:lnR>
                    <a:lnT>
                      <a:noFill/>
                    </a:lnT>
                    <a:lnB>
                      <a:noFill/>
                    </a:lnB>
                    <a:solidFill>
                      <a:srgbClr val="012169"/>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3.54 </a:t>
                      </a:r>
                    </a:p>
                  </a:txBody>
                  <a:tcPr marL="36000" marR="36000" marT="0" marB="0" anchor="ctr">
                    <a:lnL>
                      <a:noFill/>
                    </a:lnL>
                    <a:lnR>
                      <a:noFill/>
                    </a:lnR>
                    <a:lnT>
                      <a:noFill/>
                    </a:lnT>
                    <a:lnB>
                      <a:noFill/>
                    </a:lnB>
                    <a:solidFill>
                      <a:srgbClr val="F4E7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2.97 </a:t>
                      </a:r>
                    </a:p>
                  </a:txBody>
                  <a:tcPr marL="36000" marR="36000" marT="0" marB="0" anchor="ctr">
                    <a:lnL>
                      <a:noFill/>
                    </a:lnL>
                    <a:lnR>
                      <a:noFill/>
                    </a:lnR>
                    <a:lnT>
                      <a:noFill/>
                    </a:lnT>
                    <a:lnB>
                      <a:noFill/>
                    </a:lnB>
                    <a:solidFill>
                      <a:srgbClr val="C2D9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2.87 </a:t>
                      </a:r>
                    </a:p>
                  </a:txBody>
                  <a:tcPr marL="36000" marR="36000" marT="0" marB="0" anchor="ctr">
                    <a:lnL>
                      <a:noFill/>
                    </a:lnL>
                    <a:lnR>
                      <a:noFill/>
                    </a:lnR>
                    <a:lnT>
                      <a:noFill/>
                    </a:lnT>
                    <a:lnB>
                      <a:noFill/>
                    </a:lnB>
                    <a:solidFill>
                      <a:srgbClr val="BAD7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3.04 </a:t>
                      </a:r>
                    </a:p>
                  </a:txBody>
                  <a:tcPr marL="36000" marR="36000" marT="0" marB="0" anchor="ctr">
                    <a:lnL>
                      <a:noFill/>
                    </a:lnL>
                    <a:lnR>
                      <a:noFill/>
                    </a:lnR>
                    <a:lnT>
                      <a:noFill/>
                    </a:lnT>
                    <a:lnB>
                      <a:noFill/>
                    </a:lnB>
                    <a:solidFill>
                      <a:srgbClr val="C9DB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2.93 </a:t>
                      </a:r>
                    </a:p>
                  </a:txBody>
                  <a:tcPr marL="36000" marR="36000" marT="0" marB="0" anchor="ctr">
                    <a:lnL>
                      <a:noFill/>
                    </a:lnL>
                    <a:lnR>
                      <a:noFill/>
                    </a:lnR>
                    <a:lnT>
                      <a:noFill/>
                    </a:lnT>
                    <a:lnB>
                      <a:noFill/>
                    </a:lnB>
                    <a:solidFill>
                      <a:srgbClr val="BFD8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2.75 </a:t>
                      </a:r>
                    </a:p>
                  </a:txBody>
                  <a:tcPr marL="36000" marR="36000" marT="0" marB="0" anchor="ctr">
                    <a:lnL>
                      <a:noFill/>
                    </a:lnL>
                    <a:lnR>
                      <a:noFill/>
                    </a:lnR>
                    <a:lnT>
                      <a:noFill/>
                    </a:lnT>
                    <a:lnB>
                      <a:noFill/>
                    </a:lnB>
                    <a:solidFill>
                      <a:srgbClr val="B0D4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2.98 </a:t>
                      </a:r>
                    </a:p>
                  </a:txBody>
                  <a:tcPr marL="36000" marR="36000" marT="0" marB="0" anchor="ctr">
                    <a:lnL>
                      <a:noFill/>
                    </a:lnL>
                    <a:lnR>
                      <a:noFill/>
                    </a:lnR>
                    <a:lnT>
                      <a:noFill/>
                    </a:lnT>
                    <a:lnB>
                      <a:noFill/>
                    </a:lnB>
                    <a:solidFill>
                      <a:srgbClr val="C3D9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3.60 </a:t>
                      </a:r>
                    </a:p>
                  </a:txBody>
                  <a:tcPr marL="36000" marR="36000" marT="0" marB="0" anchor="ctr">
                    <a:lnL>
                      <a:noFill/>
                    </a:lnL>
                    <a:lnR>
                      <a:noFill/>
                    </a:lnR>
                    <a:lnT>
                      <a:noFill/>
                    </a:lnT>
                    <a:lnB>
                      <a:noFill/>
                    </a:lnB>
                    <a:solidFill>
                      <a:srgbClr val="F9E9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7.03 </a:t>
                      </a:r>
                    </a:p>
                  </a:txBody>
                  <a:tcPr marL="36000" marR="36000" marT="0" marB="0" anchor="ctr">
                    <a:lnL>
                      <a:noFill/>
                    </a:lnL>
                    <a:lnR>
                      <a:noFill/>
                    </a:lnR>
                    <a:lnT>
                      <a:noFill/>
                    </a:lnT>
                    <a:lnB>
                      <a:noFill/>
                    </a:lnB>
                    <a:solidFill>
                      <a:srgbClr val="FCA677"/>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9.15 </a:t>
                      </a:r>
                    </a:p>
                  </a:txBody>
                  <a:tcPr marL="36000" marR="36000" marT="0" marB="0" anchor="ctr">
                    <a:lnL>
                      <a:noFill/>
                    </a:lnL>
                    <a:lnR>
                      <a:noFill/>
                    </a:lnR>
                    <a:lnT>
                      <a:noFill/>
                    </a:lnT>
                    <a:lnB>
                      <a:noFill/>
                    </a:lnB>
                    <a:solidFill>
                      <a:srgbClr val="F97B6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7.35 </a:t>
                      </a:r>
                    </a:p>
                  </a:txBody>
                  <a:tcPr marL="36000" marR="36000" marT="0" marB="0" anchor="ctr">
                    <a:lnL>
                      <a:noFill/>
                    </a:lnL>
                    <a:lnR>
                      <a:noFill/>
                    </a:lnR>
                    <a:lnT>
                      <a:noFill/>
                    </a:lnT>
                    <a:lnB>
                      <a:noFill/>
                    </a:lnB>
                    <a:solidFill>
                      <a:srgbClr val="FBA076"/>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3.63 </a:t>
                      </a:r>
                    </a:p>
                  </a:txBody>
                  <a:tcPr marL="36000" marR="36000" marT="0" marB="0" anchor="ctr">
                    <a:lnL>
                      <a:noFill/>
                    </a:lnL>
                    <a:lnR>
                      <a:noFill/>
                    </a:lnR>
                    <a:lnT>
                      <a:noFill/>
                    </a:lnT>
                    <a:lnB>
                      <a:noFill/>
                    </a:lnB>
                    <a:solidFill>
                      <a:srgbClr val="FBEA83"/>
                    </a:solidFill>
                  </a:tcPr>
                </a:tc>
                <a:extLst>
                  <a:ext uri="{0D108BD9-81ED-4DB2-BD59-A6C34878D82A}">
                    <a16:rowId xmlns:a16="http://schemas.microsoft.com/office/drawing/2014/main" val="3373967360"/>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10</a:t>
                      </a:r>
                    </a:p>
                  </a:txBody>
                  <a:tcPr marL="36000" marR="36000" marT="0" marB="0" anchor="ctr">
                    <a:lnL>
                      <a:noFill/>
                    </a:lnL>
                    <a:lnR>
                      <a:noFill/>
                    </a:lnR>
                    <a:lnT>
                      <a:noFill/>
                    </a:lnT>
                    <a:lnB>
                      <a:noFill/>
                    </a:lnB>
                    <a:solidFill>
                      <a:srgbClr val="012169"/>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3.36 </a:t>
                      </a:r>
                    </a:p>
                  </a:txBody>
                  <a:tcPr marL="36000" marR="36000" marT="0" marB="0" anchor="ctr">
                    <a:lnL>
                      <a:noFill/>
                    </a:lnL>
                    <a:lnR>
                      <a:noFill/>
                    </a:lnR>
                    <a:lnT>
                      <a:noFill/>
                    </a:lnT>
                    <a:lnB>
                      <a:noFill/>
                    </a:lnB>
                    <a:solidFill>
                      <a:srgbClr val="E4E3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2.87 </a:t>
                      </a:r>
                    </a:p>
                  </a:txBody>
                  <a:tcPr marL="36000" marR="36000" marT="0" marB="0" anchor="ctr">
                    <a:lnL>
                      <a:noFill/>
                    </a:lnL>
                    <a:lnR>
                      <a:noFill/>
                    </a:lnR>
                    <a:lnT>
                      <a:noFill/>
                    </a:lnT>
                    <a:lnB>
                      <a:noFill/>
                    </a:lnB>
                    <a:solidFill>
                      <a:srgbClr val="BAD7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2.64 </a:t>
                      </a:r>
                    </a:p>
                  </a:txBody>
                  <a:tcPr marL="36000" marR="36000" marT="0" marB="0" anchor="ctr">
                    <a:lnL>
                      <a:noFill/>
                    </a:lnL>
                    <a:lnR>
                      <a:noFill/>
                    </a:lnR>
                    <a:lnT>
                      <a:noFill/>
                    </a:lnT>
                    <a:lnB>
                      <a:noFill/>
                    </a:lnB>
                    <a:solidFill>
                      <a:srgbClr val="A6D1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2.71 </a:t>
                      </a:r>
                    </a:p>
                  </a:txBody>
                  <a:tcPr marL="36000" marR="36000" marT="0" marB="0" anchor="ctr">
                    <a:lnL>
                      <a:noFill/>
                    </a:lnL>
                    <a:lnR>
                      <a:noFill/>
                    </a:lnR>
                    <a:lnT>
                      <a:noFill/>
                    </a:lnT>
                    <a:lnB>
                      <a:noFill/>
                    </a:lnB>
                    <a:solidFill>
                      <a:srgbClr val="ACD3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2.61 </a:t>
                      </a:r>
                    </a:p>
                  </a:txBody>
                  <a:tcPr marL="36000" marR="36000" marT="0" marB="0" anchor="ctr">
                    <a:lnL>
                      <a:noFill/>
                    </a:lnL>
                    <a:lnR>
                      <a:noFill/>
                    </a:lnR>
                    <a:lnT>
                      <a:noFill/>
                    </a:lnT>
                    <a:lnB>
                      <a:noFill/>
                    </a:lnB>
                    <a:solidFill>
                      <a:srgbClr val="A4D0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2.50 </a:t>
                      </a:r>
                    </a:p>
                  </a:txBody>
                  <a:tcPr marL="36000" marR="36000" marT="0" marB="0" anchor="ctr">
                    <a:lnL>
                      <a:noFill/>
                    </a:lnL>
                    <a:lnR>
                      <a:noFill/>
                    </a:lnR>
                    <a:lnT>
                      <a:noFill/>
                    </a:lnT>
                    <a:lnB>
                      <a:noFill/>
                    </a:lnB>
                    <a:solidFill>
                      <a:srgbClr val="9ACE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2.62 </a:t>
                      </a:r>
                    </a:p>
                  </a:txBody>
                  <a:tcPr marL="36000" marR="36000" marT="0" marB="0" anchor="ctr">
                    <a:lnL>
                      <a:noFill/>
                    </a:lnL>
                    <a:lnR>
                      <a:noFill/>
                    </a:lnR>
                    <a:lnT>
                      <a:noFill/>
                    </a:lnT>
                    <a:lnB>
                      <a:noFill/>
                    </a:lnB>
                    <a:solidFill>
                      <a:srgbClr val="A5D1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3.22 </a:t>
                      </a:r>
                    </a:p>
                  </a:txBody>
                  <a:tcPr marL="36000" marR="36000" marT="0" marB="0" anchor="ctr">
                    <a:lnL>
                      <a:noFill/>
                    </a:lnL>
                    <a:lnR>
                      <a:noFill/>
                    </a:lnR>
                    <a:lnT>
                      <a:noFill/>
                    </a:lnT>
                    <a:lnB>
                      <a:noFill/>
                    </a:lnB>
                    <a:solidFill>
                      <a:srgbClr val="D8DF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6.05 </a:t>
                      </a:r>
                    </a:p>
                  </a:txBody>
                  <a:tcPr marL="36000" marR="36000" marT="0" marB="0" anchor="ctr">
                    <a:lnL>
                      <a:noFill/>
                    </a:lnL>
                    <a:lnR>
                      <a:noFill/>
                    </a:lnR>
                    <a:lnT>
                      <a:noFill/>
                    </a:lnT>
                    <a:lnB>
                      <a:noFill/>
                    </a:lnB>
                    <a:solidFill>
                      <a:srgbClr val="FDBA7B"/>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7.78 </a:t>
                      </a:r>
                    </a:p>
                  </a:txBody>
                  <a:tcPr marL="36000" marR="36000" marT="0" marB="0" anchor="ctr">
                    <a:lnL>
                      <a:noFill/>
                    </a:lnL>
                    <a:lnR>
                      <a:noFill/>
                    </a:lnR>
                    <a:lnT>
                      <a:noFill/>
                    </a:lnT>
                    <a:lnB>
                      <a:noFill/>
                    </a:lnB>
                    <a:solidFill>
                      <a:srgbClr val="FB977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5.79 </a:t>
                      </a:r>
                    </a:p>
                  </a:txBody>
                  <a:tcPr marL="36000" marR="36000" marT="0" marB="0" anchor="ctr">
                    <a:lnL>
                      <a:noFill/>
                    </a:lnL>
                    <a:lnR>
                      <a:noFill/>
                    </a:lnR>
                    <a:lnT>
                      <a:noFill/>
                    </a:lnT>
                    <a:lnB>
                      <a:noFill/>
                    </a:lnB>
                    <a:solidFill>
                      <a:srgbClr val="FDC07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3.39 </a:t>
                      </a:r>
                    </a:p>
                  </a:txBody>
                  <a:tcPr marL="36000" marR="36000" marT="0" marB="0" anchor="ctr">
                    <a:lnL>
                      <a:noFill/>
                    </a:lnL>
                    <a:lnR>
                      <a:noFill/>
                    </a:lnR>
                    <a:lnT>
                      <a:noFill/>
                    </a:lnT>
                    <a:lnB>
                      <a:noFill/>
                    </a:lnB>
                    <a:solidFill>
                      <a:srgbClr val="E7E482"/>
                    </a:solidFill>
                  </a:tcPr>
                </a:tc>
                <a:extLst>
                  <a:ext uri="{0D108BD9-81ED-4DB2-BD59-A6C34878D82A}">
                    <a16:rowId xmlns:a16="http://schemas.microsoft.com/office/drawing/2014/main" val="2697705400"/>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11</a:t>
                      </a:r>
                    </a:p>
                  </a:txBody>
                  <a:tcPr marL="36000" marR="36000" marT="0" marB="0" anchor="ctr">
                    <a:lnL>
                      <a:noFill/>
                    </a:lnL>
                    <a:lnR>
                      <a:noFill/>
                    </a:lnR>
                    <a:lnT>
                      <a:noFill/>
                    </a:lnT>
                    <a:lnB>
                      <a:noFill/>
                    </a:lnB>
                    <a:solidFill>
                      <a:srgbClr val="FFCD0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3.04 </a:t>
                      </a:r>
                    </a:p>
                  </a:txBody>
                  <a:tcPr marL="36000" marR="36000" marT="0" marB="0" anchor="ctr">
                    <a:lnL>
                      <a:noFill/>
                    </a:lnL>
                    <a:lnR>
                      <a:noFill/>
                    </a:lnR>
                    <a:lnT>
                      <a:noFill/>
                    </a:lnT>
                    <a:lnB>
                      <a:noFill/>
                    </a:lnB>
                    <a:solidFill>
                      <a:srgbClr val="C9DB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2.81 </a:t>
                      </a:r>
                    </a:p>
                  </a:txBody>
                  <a:tcPr marL="36000" marR="36000" marT="0" marB="0" anchor="ctr">
                    <a:lnL>
                      <a:noFill/>
                    </a:lnL>
                    <a:lnR>
                      <a:noFill/>
                    </a:lnR>
                    <a:lnT>
                      <a:noFill/>
                    </a:lnT>
                    <a:lnB>
                      <a:noFill/>
                    </a:lnB>
                    <a:solidFill>
                      <a:srgbClr val="B5D5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2.62 </a:t>
                      </a:r>
                    </a:p>
                  </a:txBody>
                  <a:tcPr marL="36000" marR="36000" marT="0" marB="0" anchor="ctr">
                    <a:lnL>
                      <a:noFill/>
                    </a:lnL>
                    <a:lnR>
                      <a:noFill/>
                    </a:lnR>
                    <a:lnT>
                      <a:noFill/>
                    </a:lnT>
                    <a:lnB>
                      <a:noFill/>
                    </a:lnB>
                    <a:solidFill>
                      <a:srgbClr val="A4D0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2.41 </a:t>
                      </a:r>
                    </a:p>
                  </a:txBody>
                  <a:tcPr marL="36000" marR="36000" marT="0" marB="0" anchor="ctr">
                    <a:lnL>
                      <a:noFill/>
                    </a:lnL>
                    <a:lnR>
                      <a:noFill/>
                    </a:lnR>
                    <a:lnT>
                      <a:noFill/>
                    </a:lnT>
                    <a:lnB>
                      <a:noFill/>
                    </a:lnB>
                    <a:solidFill>
                      <a:srgbClr val="93CB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2.37 </a:t>
                      </a:r>
                    </a:p>
                  </a:txBody>
                  <a:tcPr marL="36000" marR="36000" marT="0" marB="0" anchor="ctr">
                    <a:lnL>
                      <a:noFill/>
                    </a:lnL>
                    <a:lnR>
                      <a:noFill/>
                    </a:lnR>
                    <a:lnT>
                      <a:noFill/>
                    </a:lnT>
                    <a:lnB>
                      <a:noFill/>
                    </a:lnB>
                    <a:solidFill>
                      <a:srgbClr val="8FCA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2.28 </a:t>
                      </a:r>
                    </a:p>
                  </a:txBody>
                  <a:tcPr marL="36000" marR="36000" marT="0" marB="0" anchor="ctr">
                    <a:lnL>
                      <a:noFill/>
                    </a:lnL>
                    <a:lnR>
                      <a:noFill/>
                    </a:lnR>
                    <a:lnT>
                      <a:noFill/>
                    </a:lnT>
                    <a:lnB>
                      <a:noFill/>
                    </a:lnB>
                    <a:solidFill>
                      <a:srgbClr val="88C8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2.25 </a:t>
                      </a:r>
                    </a:p>
                  </a:txBody>
                  <a:tcPr marL="36000" marR="36000" marT="0" marB="0" anchor="ctr">
                    <a:lnL>
                      <a:noFill/>
                    </a:lnL>
                    <a:lnR>
                      <a:noFill/>
                    </a:lnR>
                    <a:lnT>
                      <a:noFill/>
                    </a:lnT>
                    <a:lnB>
                      <a:noFill/>
                    </a:lnB>
                    <a:solidFill>
                      <a:srgbClr val="85C77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2.55 </a:t>
                      </a:r>
                    </a:p>
                  </a:txBody>
                  <a:tcPr marL="36000" marR="36000" marT="0" marB="0" anchor="ctr">
                    <a:lnL>
                      <a:noFill/>
                    </a:lnL>
                    <a:lnR>
                      <a:noFill/>
                    </a:lnR>
                    <a:lnT>
                      <a:noFill/>
                    </a:lnT>
                    <a:lnB>
                      <a:noFill/>
                    </a:lnB>
                    <a:solidFill>
                      <a:srgbClr val="9ECF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4.01 </a:t>
                      </a:r>
                    </a:p>
                  </a:txBody>
                  <a:tcPr marL="36000" marR="36000" marT="0" marB="0" anchor="ctr">
                    <a:lnL>
                      <a:noFill/>
                    </a:lnL>
                    <a:lnR>
                      <a:noFill/>
                    </a:lnR>
                    <a:lnT>
                      <a:noFill/>
                    </a:lnT>
                    <a:lnB>
                      <a:noFill/>
                    </a:lnB>
                    <a:solidFill>
                      <a:srgbClr val="FFE5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4.44 </a:t>
                      </a:r>
                    </a:p>
                  </a:txBody>
                  <a:tcPr marL="36000" marR="36000" marT="0" marB="0" anchor="ctr">
                    <a:lnL>
                      <a:noFill/>
                    </a:lnL>
                    <a:lnR>
                      <a:noFill/>
                    </a:lnR>
                    <a:lnT>
                      <a:noFill/>
                    </a:lnT>
                    <a:lnB>
                      <a:noFill/>
                    </a:lnB>
                    <a:solidFill>
                      <a:srgbClr val="FFDC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3.66 </a:t>
                      </a:r>
                    </a:p>
                  </a:txBody>
                  <a:tcPr marL="36000" marR="36000" marT="0" marB="0" anchor="ctr">
                    <a:lnL>
                      <a:noFill/>
                    </a:lnL>
                    <a:lnR>
                      <a:noFill/>
                    </a:lnR>
                    <a:lnT>
                      <a:noFill/>
                    </a:lnT>
                    <a:lnB>
                      <a:noFill/>
                    </a:lnB>
                    <a:solidFill>
                      <a:srgbClr val="FEEA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2.91 </a:t>
                      </a:r>
                    </a:p>
                  </a:txBody>
                  <a:tcPr marL="36000" marR="36000" marT="0" marB="0" anchor="ctr">
                    <a:lnL>
                      <a:noFill/>
                    </a:lnL>
                    <a:lnR>
                      <a:noFill/>
                    </a:lnR>
                    <a:lnT>
                      <a:noFill/>
                    </a:lnT>
                    <a:lnB>
                      <a:noFill/>
                    </a:lnB>
                    <a:solidFill>
                      <a:srgbClr val="BED880"/>
                    </a:solidFill>
                  </a:tcPr>
                </a:tc>
                <a:extLst>
                  <a:ext uri="{0D108BD9-81ED-4DB2-BD59-A6C34878D82A}">
                    <a16:rowId xmlns:a16="http://schemas.microsoft.com/office/drawing/2014/main" val="4209635575"/>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12</a:t>
                      </a:r>
                    </a:p>
                  </a:txBody>
                  <a:tcPr marL="36000" marR="36000" marT="0" marB="0" anchor="ctr">
                    <a:lnL>
                      <a:noFill/>
                    </a:lnL>
                    <a:lnR>
                      <a:noFill/>
                    </a:lnR>
                    <a:lnT>
                      <a:noFill/>
                    </a:lnT>
                    <a:lnB>
                      <a:noFill/>
                    </a:lnB>
                    <a:solidFill>
                      <a:srgbClr val="FFCD0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2.85 </a:t>
                      </a:r>
                    </a:p>
                  </a:txBody>
                  <a:tcPr marL="36000" marR="36000" marT="0" marB="0" anchor="ctr">
                    <a:lnL>
                      <a:noFill/>
                    </a:lnL>
                    <a:lnR>
                      <a:noFill/>
                    </a:lnR>
                    <a:lnT>
                      <a:noFill/>
                    </a:lnT>
                    <a:lnB>
                      <a:noFill/>
                    </a:lnB>
                    <a:solidFill>
                      <a:srgbClr val="B8D6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2.70 </a:t>
                      </a:r>
                    </a:p>
                  </a:txBody>
                  <a:tcPr marL="36000" marR="36000" marT="0" marB="0" anchor="ctr">
                    <a:lnL>
                      <a:noFill/>
                    </a:lnL>
                    <a:lnR>
                      <a:noFill/>
                    </a:lnR>
                    <a:lnT>
                      <a:noFill/>
                    </a:lnT>
                    <a:lnB>
                      <a:noFill/>
                    </a:lnB>
                    <a:solidFill>
                      <a:srgbClr val="ACD3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2.51 </a:t>
                      </a:r>
                    </a:p>
                  </a:txBody>
                  <a:tcPr marL="36000" marR="36000" marT="0" marB="0" anchor="ctr">
                    <a:lnL>
                      <a:noFill/>
                    </a:lnL>
                    <a:lnR>
                      <a:noFill/>
                    </a:lnR>
                    <a:lnT>
                      <a:noFill/>
                    </a:lnT>
                    <a:lnB>
                      <a:noFill/>
                    </a:lnB>
                    <a:solidFill>
                      <a:srgbClr val="9BCE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2.30 </a:t>
                      </a:r>
                    </a:p>
                  </a:txBody>
                  <a:tcPr marL="36000" marR="36000" marT="0" marB="0" anchor="ctr">
                    <a:lnL>
                      <a:noFill/>
                    </a:lnL>
                    <a:lnR>
                      <a:noFill/>
                    </a:lnR>
                    <a:lnT>
                      <a:noFill/>
                    </a:lnT>
                    <a:lnB>
                      <a:noFill/>
                    </a:lnB>
                    <a:solidFill>
                      <a:srgbClr val="89C9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2.13 </a:t>
                      </a:r>
                    </a:p>
                  </a:txBody>
                  <a:tcPr marL="36000" marR="36000" marT="0" marB="0" anchor="ctr">
                    <a:lnL>
                      <a:noFill/>
                    </a:lnL>
                    <a:lnR>
                      <a:noFill/>
                    </a:lnR>
                    <a:lnT>
                      <a:noFill/>
                    </a:lnT>
                    <a:lnB>
                      <a:noFill/>
                    </a:lnB>
                    <a:solidFill>
                      <a:srgbClr val="7AC47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2.22 </a:t>
                      </a:r>
                    </a:p>
                  </a:txBody>
                  <a:tcPr marL="36000" marR="36000" marT="0" marB="0" anchor="ctr">
                    <a:lnL>
                      <a:noFill/>
                    </a:lnL>
                    <a:lnR>
                      <a:noFill/>
                    </a:lnR>
                    <a:lnT>
                      <a:noFill/>
                    </a:lnT>
                    <a:lnB>
                      <a:noFill/>
                    </a:lnB>
                    <a:solidFill>
                      <a:srgbClr val="82C77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2.12 </a:t>
                      </a:r>
                    </a:p>
                  </a:txBody>
                  <a:tcPr marL="36000" marR="36000" marT="0" marB="0" anchor="ctr">
                    <a:lnL>
                      <a:noFill/>
                    </a:lnL>
                    <a:lnR>
                      <a:noFill/>
                    </a:lnR>
                    <a:lnT>
                      <a:noFill/>
                    </a:lnT>
                    <a:lnB>
                      <a:noFill/>
                    </a:lnB>
                    <a:solidFill>
                      <a:srgbClr val="79C47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2.22 </a:t>
                      </a:r>
                    </a:p>
                  </a:txBody>
                  <a:tcPr marL="36000" marR="36000" marT="0" marB="0" anchor="ctr">
                    <a:lnL>
                      <a:noFill/>
                    </a:lnL>
                    <a:lnR>
                      <a:noFill/>
                    </a:lnR>
                    <a:lnT>
                      <a:noFill/>
                    </a:lnT>
                    <a:lnB>
                      <a:noFill/>
                    </a:lnB>
                    <a:solidFill>
                      <a:srgbClr val="82C77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3.19 </a:t>
                      </a:r>
                    </a:p>
                  </a:txBody>
                  <a:tcPr marL="36000" marR="36000" marT="0" marB="0" anchor="ctr">
                    <a:lnL>
                      <a:noFill/>
                    </a:lnL>
                    <a:lnR>
                      <a:noFill/>
                    </a:lnR>
                    <a:lnT>
                      <a:noFill/>
                    </a:lnT>
                    <a:lnB>
                      <a:noFill/>
                    </a:lnB>
                    <a:solidFill>
                      <a:srgbClr val="D5DF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3.42 </a:t>
                      </a:r>
                    </a:p>
                  </a:txBody>
                  <a:tcPr marL="36000" marR="36000" marT="0" marB="0" anchor="ctr">
                    <a:lnL>
                      <a:noFill/>
                    </a:lnL>
                    <a:lnR>
                      <a:noFill/>
                    </a:lnR>
                    <a:lnT>
                      <a:noFill/>
                    </a:lnT>
                    <a:lnB>
                      <a:noFill/>
                    </a:lnB>
                    <a:solidFill>
                      <a:srgbClr val="E9E4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3.35 </a:t>
                      </a:r>
                    </a:p>
                  </a:txBody>
                  <a:tcPr marL="36000" marR="36000" marT="0" marB="0" anchor="ctr">
                    <a:lnL>
                      <a:noFill/>
                    </a:lnL>
                    <a:lnR>
                      <a:noFill/>
                    </a:lnR>
                    <a:lnT>
                      <a:noFill/>
                    </a:lnT>
                    <a:lnB>
                      <a:noFill/>
                    </a:lnB>
                    <a:solidFill>
                      <a:srgbClr val="E3E3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2.74 </a:t>
                      </a:r>
                    </a:p>
                  </a:txBody>
                  <a:tcPr marL="36000" marR="36000" marT="0" marB="0" anchor="ctr">
                    <a:lnL>
                      <a:noFill/>
                    </a:lnL>
                    <a:lnR>
                      <a:noFill/>
                    </a:lnR>
                    <a:lnT>
                      <a:noFill/>
                    </a:lnT>
                    <a:lnB>
                      <a:noFill/>
                    </a:lnB>
                    <a:solidFill>
                      <a:srgbClr val="AFD37F"/>
                    </a:solidFill>
                  </a:tcPr>
                </a:tc>
                <a:extLst>
                  <a:ext uri="{0D108BD9-81ED-4DB2-BD59-A6C34878D82A}">
                    <a16:rowId xmlns:a16="http://schemas.microsoft.com/office/drawing/2014/main" val="2713307033"/>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13</a:t>
                      </a:r>
                    </a:p>
                  </a:txBody>
                  <a:tcPr marL="36000" marR="36000" marT="0" marB="0" anchor="ctr">
                    <a:lnL>
                      <a:noFill/>
                    </a:lnL>
                    <a:lnR>
                      <a:noFill/>
                    </a:lnR>
                    <a:lnT>
                      <a:noFill/>
                    </a:lnT>
                    <a:lnB>
                      <a:noFill/>
                    </a:lnB>
                    <a:solidFill>
                      <a:srgbClr val="FFCD0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2.65 </a:t>
                      </a:r>
                    </a:p>
                  </a:txBody>
                  <a:tcPr marL="36000" marR="36000" marT="0" marB="0" anchor="ctr">
                    <a:lnL>
                      <a:noFill/>
                    </a:lnL>
                    <a:lnR>
                      <a:noFill/>
                    </a:lnR>
                    <a:lnT>
                      <a:noFill/>
                    </a:lnT>
                    <a:lnB>
                      <a:noFill/>
                    </a:lnB>
                    <a:solidFill>
                      <a:srgbClr val="A7D1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2.78 </a:t>
                      </a:r>
                    </a:p>
                  </a:txBody>
                  <a:tcPr marL="36000" marR="36000" marT="0" marB="0" anchor="ctr">
                    <a:lnL>
                      <a:noFill/>
                    </a:lnL>
                    <a:lnR>
                      <a:noFill/>
                    </a:lnR>
                    <a:lnT>
                      <a:noFill/>
                    </a:lnT>
                    <a:lnB>
                      <a:noFill/>
                    </a:lnB>
                    <a:solidFill>
                      <a:srgbClr val="B2D4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2.59 </a:t>
                      </a:r>
                    </a:p>
                  </a:txBody>
                  <a:tcPr marL="36000" marR="36000" marT="0" marB="0" anchor="ctr">
                    <a:lnL>
                      <a:noFill/>
                    </a:lnL>
                    <a:lnR>
                      <a:noFill/>
                    </a:lnR>
                    <a:lnT>
                      <a:noFill/>
                    </a:lnT>
                    <a:lnB>
                      <a:noFill/>
                    </a:lnB>
                    <a:solidFill>
                      <a:srgbClr val="A2D0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2.12 </a:t>
                      </a:r>
                    </a:p>
                  </a:txBody>
                  <a:tcPr marL="36000" marR="36000" marT="0" marB="0" anchor="ctr">
                    <a:lnL>
                      <a:noFill/>
                    </a:lnL>
                    <a:lnR>
                      <a:noFill/>
                    </a:lnR>
                    <a:lnT>
                      <a:noFill/>
                    </a:lnT>
                    <a:lnB>
                      <a:noFill/>
                    </a:lnB>
                    <a:solidFill>
                      <a:srgbClr val="7AC47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1.95 </a:t>
                      </a:r>
                    </a:p>
                  </a:txBody>
                  <a:tcPr marL="36000" marR="36000" marT="0" marB="0" anchor="ctr">
                    <a:lnL>
                      <a:noFill/>
                    </a:lnL>
                    <a:lnR>
                      <a:noFill/>
                    </a:lnR>
                    <a:lnT>
                      <a:noFill/>
                    </a:lnT>
                    <a:lnB>
                      <a:noFill/>
                    </a:lnB>
                    <a:solidFill>
                      <a:srgbClr val="6BC07B"/>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2.01 </a:t>
                      </a:r>
                    </a:p>
                  </a:txBody>
                  <a:tcPr marL="36000" marR="36000" marT="0" marB="0" anchor="ctr">
                    <a:lnL>
                      <a:noFill/>
                    </a:lnL>
                    <a:lnR>
                      <a:noFill/>
                    </a:lnR>
                    <a:lnT>
                      <a:noFill/>
                    </a:lnT>
                    <a:lnB>
                      <a:noFill/>
                    </a:lnB>
                    <a:solidFill>
                      <a:srgbClr val="70C17B"/>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2.05 </a:t>
                      </a:r>
                    </a:p>
                  </a:txBody>
                  <a:tcPr marL="36000" marR="36000" marT="0" marB="0" anchor="ctr">
                    <a:lnL>
                      <a:noFill/>
                    </a:lnL>
                    <a:lnR>
                      <a:noFill/>
                    </a:lnR>
                    <a:lnT>
                      <a:noFill/>
                    </a:lnT>
                    <a:lnB>
                      <a:noFill/>
                    </a:lnB>
                    <a:solidFill>
                      <a:srgbClr val="74C27B"/>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1.96 </a:t>
                      </a:r>
                    </a:p>
                  </a:txBody>
                  <a:tcPr marL="36000" marR="36000" marT="0" marB="0" anchor="ctr">
                    <a:lnL>
                      <a:noFill/>
                    </a:lnL>
                    <a:lnR>
                      <a:noFill/>
                    </a:lnR>
                    <a:lnT>
                      <a:noFill/>
                    </a:lnT>
                    <a:lnB>
                      <a:noFill/>
                    </a:lnB>
                    <a:solidFill>
                      <a:srgbClr val="6CC07B"/>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2.78 </a:t>
                      </a:r>
                    </a:p>
                  </a:txBody>
                  <a:tcPr marL="36000" marR="36000" marT="0" marB="0" anchor="ctr">
                    <a:lnL>
                      <a:noFill/>
                    </a:lnL>
                    <a:lnR>
                      <a:noFill/>
                    </a:lnR>
                    <a:lnT>
                      <a:noFill/>
                    </a:lnT>
                    <a:lnB>
                      <a:noFill/>
                    </a:lnB>
                    <a:solidFill>
                      <a:srgbClr val="B2D5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3.07 </a:t>
                      </a:r>
                    </a:p>
                  </a:txBody>
                  <a:tcPr marL="36000" marR="36000" marT="0" marB="0" anchor="ctr">
                    <a:lnL>
                      <a:noFill/>
                    </a:lnL>
                    <a:lnR>
                      <a:noFill/>
                    </a:lnR>
                    <a:lnT>
                      <a:noFill/>
                    </a:lnT>
                    <a:lnB>
                      <a:noFill/>
                    </a:lnB>
                    <a:solidFill>
                      <a:srgbClr val="CBDC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3.12 </a:t>
                      </a:r>
                    </a:p>
                  </a:txBody>
                  <a:tcPr marL="36000" marR="36000" marT="0" marB="0" anchor="ctr">
                    <a:lnL>
                      <a:noFill/>
                    </a:lnL>
                    <a:lnR>
                      <a:noFill/>
                    </a:lnR>
                    <a:lnT>
                      <a:noFill/>
                    </a:lnT>
                    <a:lnB>
                      <a:noFill/>
                    </a:lnB>
                    <a:solidFill>
                      <a:srgbClr val="D0DD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2.56 </a:t>
                      </a:r>
                    </a:p>
                  </a:txBody>
                  <a:tcPr marL="36000" marR="36000" marT="0" marB="0" anchor="ctr">
                    <a:lnL>
                      <a:noFill/>
                    </a:lnL>
                    <a:lnR>
                      <a:noFill/>
                    </a:lnR>
                    <a:lnT>
                      <a:noFill/>
                    </a:lnT>
                    <a:lnB>
                      <a:noFill/>
                    </a:lnB>
                    <a:solidFill>
                      <a:srgbClr val="A0CF7E"/>
                    </a:solidFill>
                  </a:tcPr>
                </a:tc>
                <a:extLst>
                  <a:ext uri="{0D108BD9-81ED-4DB2-BD59-A6C34878D82A}">
                    <a16:rowId xmlns:a16="http://schemas.microsoft.com/office/drawing/2014/main" val="2798902468"/>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14</a:t>
                      </a:r>
                    </a:p>
                  </a:txBody>
                  <a:tcPr marL="36000" marR="36000" marT="0" marB="0" anchor="ctr">
                    <a:lnL>
                      <a:noFill/>
                    </a:lnL>
                    <a:lnR>
                      <a:noFill/>
                    </a:lnR>
                    <a:lnT>
                      <a:noFill/>
                    </a:lnT>
                    <a:lnB>
                      <a:noFill/>
                    </a:lnB>
                    <a:solidFill>
                      <a:srgbClr val="FFCD0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2.55 </a:t>
                      </a:r>
                    </a:p>
                  </a:txBody>
                  <a:tcPr marL="36000" marR="36000" marT="0" marB="0" anchor="ctr">
                    <a:lnL>
                      <a:noFill/>
                    </a:lnL>
                    <a:lnR>
                      <a:noFill/>
                    </a:lnR>
                    <a:lnT>
                      <a:noFill/>
                    </a:lnT>
                    <a:lnB>
                      <a:noFill/>
                    </a:lnB>
                    <a:solidFill>
                      <a:srgbClr val="9FCF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2.76 </a:t>
                      </a:r>
                    </a:p>
                  </a:txBody>
                  <a:tcPr marL="36000" marR="36000" marT="0" marB="0" anchor="ctr">
                    <a:lnL>
                      <a:noFill/>
                    </a:lnL>
                    <a:lnR>
                      <a:noFill/>
                    </a:lnR>
                    <a:lnT>
                      <a:noFill/>
                    </a:lnT>
                    <a:lnB>
                      <a:noFill/>
                    </a:lnB>
                    <a:solidFill>
                      <a:srgbClr val="B1D4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2.62 </a:t>
                      </a:r>
                    </a:p>
                  </a:txBody>
                  <a:tcPr marL="36000" marR="36000" marT="0" marB="0" anchor="ctr">
                    <a:lnL>
                      <a:noFill/>
                    </a:lnL>
                    <a:lnR>
                      <a:noFill/>
                    </a:lnR>
                    <a:lnT>
                      <a:noFill/>
                    </a:lnT>
                    <a:lnB>
                      <a:noFill/>
                    </a:lnB>
                    <a:solidFill>
                      <a:srgbClr val="A5D1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2.04 </a:t>
                      </a:r>
                    </a:p>
                  </a:txBody>
                  <a:tcPr marL="36000" marR="36000" marT="0" marB="0" anchor="ctr">
                    <a:lnL>
                      <a:noFill/>
                    </a:lnL>
                    <a:lnR>
                      <a:noFill/>
                    </a:lnR>
                    <a:lnT>
                      <a:noFill/>
                    </a:lnT>
                    <a:lnB>
                      <a:noFill/>
                    </a:lnB>
                    <a:solidFill>
                      <a:srgbClr val="73C27B"/>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1.86 </a:t>
                      </a:r>
                    </a:p>
                  </a:txBody>
                  <a:tcPr marL="36000" marR="36000" marT="0" marB="0" anchor="ctr">
                    <a:lnL>
                      <a:noFill/>
                    </a:lnL>
                    <a:lnR>
                      <a:noFill/>
                    </a:lnR>
                    <a:lnT>
                      <a:noFill/>
                    </a:lnT>
                    <a:lnB>
                      <a:noFill/>
                    </a:lnB>
                    <a:solidFill>
                      <a:srgbClr val="63BE7B"/>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1.99 </a:t>
                      </a:r>
                    </a:p>
                  </a:txBody>
                  <a:tcPr marL="36000" marR="36000" marT="0" marB="0" anchor="ctr">
                    <a:lnL>
                      <a:noFill/>
                    </a:lnL>
                    <a:lnR>
                      <a:noFill/>
                    </a:lnR>
                    <a:lnT>
                      <a:noFill/>
                    </a:lnT>
                    <a:lnB>
                      <a:noFill/>
                    </a:lnB>
                    <a:solidFill>
                      <a:srgbClr val="6EC17B"/>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2.05 </a:t>
                      </a:r>
                    </a:p>
                  </a:txBody>
                  <a:tcPr marL="36000" marR="36000" marT="0" marB="0" anchor="ctr">
                    <a:lnL>
                      <a:noFill/>
                    </a:lnL>
                    <a:lnR>
                      <a:noFill/>
                    </a:lnR>
                    <a:lnT>
                      <a:noFill/>
                    </a:lnT>
                    <a:lnB>
                      <a:noFill/>
                    </a:lnB>
                    <a:solidFill>
                      <a:srgbClr val="74C37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1.85 </a:t>
                      </a:r>
                    </a:p>
                  </a:txBody>
                  <a:tcPr marL="36000" marR="36000" marT="0" marB="0" anchor="ctr">
                    <a:lnL>
                      <a:noFill/>
                    </a:lnL>
                    <a:lnR>
                      <a:noFill/>
                    </a:lnR>
                    <a:lnT>
                      <a:noFill/>
                    </a:lnT>
                    <a:lnB>
                      <a:noFill/>
                    </a:lnB>
                    <a:solidFill>
                      <a:srgbClr val="63BE7B"/>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2.51 </a:t>
                      </a:r>
                    </a:p>
                  </a:txBody>
                  <a:tcPr marL="36000" marR="36000" marT="0" marB="0" anchor="ctr">
                    <a:lnL>
                      <a:noFill/>
                    </a:lnL>
                    <a:lnR>
                      <a:noFill/>
                    </a:lnR>
                    <a:lnT>
                      <a:noFill/>
                    </a:lnT>
                    <a:lnB>
                      <a:noFill/>
                    </a:lnB>
                    <a:solidFill>
                      <a:srgbClr val="9BCE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2.69 </a:t>
                      </a:r>
                    </a:p>
                  </a:txBody>
                  <a:tcPr marL="36000" marR="36000" marT="0" marB="0" anchor="ctr">
                    <a:lnL>
                      <a:noFill/>
                    </a:lnL>
                    <a:lnR>
                      <a:noFill/>
                    </a:lnR>
                    <a:lnT>
                      <a:noFill/>
                    </a:lnT>
                    <a:lnB>
                      <a:noFill/>
                    </a:lnB>
                    <a:solidFill>
                      <a:srgbClr val="ABD2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2.78 </a:t>
                      </a:r>
                    </a:p>
                  </a:txBody>
                  <a:tcPr marL="36000" marR="36000" marT="0" marB="0" anchor="ctr">
                    <a:lnL>
                      <a:noFill/>
                    </a:lnL>
                    <a:lnR>
                      <a:noFill/>
                    </a:lnR>
                    <a:lnT>
                      <a:noFill/>
                    </a:lnT>
                    <a:lnB>
                      <a:noFill/>
                    </a:lnB>
                    <a:solidFill>
                      <a:srgbClr val="B2D4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2.38 </a:t>
                      </a:r>
                    </a:p>
                  </a:txBody>
                  <a:tcPr marL="36000" marR="36000" marT="0" marB="0" anchor="ctr">
                    <a:lnL>
                      <a:noFill/>
                    </a:lnL>
                    <a:lnR>
                      <a:noFill/>
                    </a:lnR>
                    <a:lnT>
                      <a:noFill/>
                    </a:lnT>
                    <a:lnB>
                      <a:noFill/>
                    </a:lnB>
                    <a:solidFill>
                      <a:srgbClr val="90CB7D"/>
                    </a:solidFill>
                  </a:tcPr>
                </a:tc>
                <a:extLst>
                  <a:ext uri="{0D108BD9-81ED-4DB2-BD59-A6C34878D82A}">
                    <a16:rowId xmlns:a16="http://schemas.microsoft.com/office/drawing/2014/main" val="4267233111"/>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15</a:t>
                      </a:r>
                    </a:p>
                  </a:txBody>
                  <a:tcPr marL="36000" marR="36000" marT="0" marB="0" anchor="ctr">
                    <a:lnL>
                      <a:noFill/>
                    </a:lnL>
                    <a:lnR>
                      <a:noFill/>
                    </a:lnR>
                    <a:lnT>
                      <a:noFill/>
                    </a:lnT>
                    <a:lnB>
                      <a:noFill/>
                    </a:lnB>
                    <a:solidFill>
                      <a:srgbClr val="FFCD0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2.95 </a:t>
                      </a:r>
                    </a:p>
                  </a:txBody>
                  <a:tcPr marL="36000" marR="36000" marT="0" marB="0" anchor="ctr">
                    <a:lnL>
                      <a:noFill/>
                    </a:lnL>
                    <a:lnR>
                      <a:noFill/>
                    </a:lnR>
                    <a:lnT>
                      <a:noFill/>
                    </a:lnT>
                    <a:lnB>
                      <a:noFill/>
                    </a:lnB>
                    <a:solidFill>
                      <a:srgbClr val="C1D9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3.55 </a:t>
                      </a:r>
                    </a:p>
                  </a:txBody>
                  <a:tcPr marL="36000" marR="36000" marT="0" marB="0" anchor="ctr">
                    <a:lnL>
                      <a:noFill/>
                    </a:lnL>
                    <a:lnR>
                      <a:noFill/>
                    </a:lnR>
                    <a:lnT>
                      <a:noFill/>
                    </a:lnT>
                    <a:lnB>
                      <a:noFill/>
                    </a:lnB>
                    <a:solidFill>
                      <a:srgbClr val="F5E8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3.49 </a:t>
                      </a:r>
                    </a:p>
                  </a:txBody>
                  <a:tcPr marL="36000" marR="36000" marT="0" marB="0" anchor="ctr">
                    <a:lnL>
                      <a:noFill/>
                    </a:lnL>
                    <a:lnR>
                      <a:noFill/>
                    </a:lnR>
                    <a:lnT>
                      <a:noFill/>
                    </a:lnT>
                    <a:lnB>
                      <a:noFill/>
                    </a:lnB>
                    <a:solidFill>
                      <a:srgbClr val="EFE6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2.61 </a:t>
                      </a:r>
                    </a:p>
                  </a:txBody>
                  <a:tcPr marL="36000" marR="36000" marT="0" marB="0" anchor="ctr">
                    <a:lnL>
                      <a:noFill/>
                    </a:lnL>
                    <a:lnR>
                      <a:noFill/>
                    </a:lnR>
                    <a:lnT>
                      <a:noFill/>
                    </a:lnT>
                    <a:lnB>
                      <a:noFill/>
                    </a:lnB>
                    <a:solidFill>
                      <a:srgbClr val="A3D0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2.27 </a:t>
                      </a:r>
                    </a:p>
                  </a:txBody>
                  <a:tcPr marL="36000" marR="36000" marT="0" marB="0" anchor="ctr">
                    <a:lnL>
                      <a:noFill/>
                    </a:lnL>
                    <a:lnR>
                      <a:noFill/>
                    </a:lnR>
                    <a:lnT>
                      <a:noFill/>
                    </a:lnT>
                    <a:lnB>
                      <a:noFill/>
                    </a:lnB>
                    <a:solidFill>
                      <a:srgbClr val="86C8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2.56 </a:t>
                      </a:r>
                    </a:p>
                  </a:txBody>
                  <a:tcPr marL="36000" marR="36000" marT="0" marB="0" anchor="ctr">
                    <a:lnL>
                      <a:noFill/>
                    </a:lnL>
                    <a:lnR>
                      <a:noFill/>
                    </a:lnR>
                    <a:lnT>
                      <a:noFill/>
                    </a:lnT>
                    <a:lnB>
                      <a:noFill/>
                    </a:lnB>
                    <a:solidFill>
                      <a:srgbClr val="9FCF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2.60 </a:t>
                      </a:r>
                    </a:p>
                  </a:txBody>
                  <a:tcPr marL="36000" marR="36000" marT="0" marB="0" anchor="ctr">
                    <a:lnL>
                      <a:noFill/>
                    </a:lnL>
                    <a:lnR>
                      <a:noFill/>
                    </a:lnR>
                    <a:lnT>
                      <a:noFill/>
                    </a:lnT>
                    <a:lnB>
                      <a:noFill/>
                    </a:lnB>
                    <a:solidFill>
                      <a:srgbClr val="A3D0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2.38 </a:t>
                      </a:r>
                    </a:p>
                  </a:txBody>
                  <a:tcPr marL="36000" marR="36000" marT="0" marB="0" anchor="ctr">
                    <a:lnL>
                      <a:noFill/>
                    </a:lnL>
                    <a:lnR>
                      <a:noFill/>
                    </a:lnR>
                    <a:lnT>
                      <a:noFill/>
                    </a:lnT>
                    <a:lnB>
                      <a:noFill/>
                    </a:lnB>
                    <a:solidFill>
                      <a:srgbClr val="90CB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2.84 </a:t>
                      </a:r>
                    </a:p>
                  </a:txBody>
                  <a:tcPr marL="36000" marR="36000" marT="0" marB="0" anchor="ctr">
                    <a:lnL>
                      <a:noFill/>
                    </a:lnL>
                    <a:lnR>
                      <a:noFill/>
                    </a:lnR>
                    <a:lnT>
                      <a:noFill/>
                    </a:lnT>
                    <a:lnB>
                      <a:noFill/>
                    </a:lnB>
                    <a:solidFill>
                      <a:srgbClr val="B7D6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2.98 </a:t>
                      </a:r>
                    </a:p>
                  </a:txBody>
                  <a:tcPr marL="36000" marR="36000" marT="0" marB="0" anchor="ctr">
                    <a:lnL>
                      <a:noFill/>
                    </a:lnL>
                    <a:lnR>
                      <a:noFill/>
                    </a:lnR>
                    <a:lnT>
                      <a:noFill/>
                    </a:lnT>
                    <a:lnB>
                      <a:noFill/>
                    </a:lnB>
                    <a:solidFill>
                      <a:srgbClr val="C4DA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2.85 </a:t>
                      </a:r>
                    </a:p>
                  </a:txBody>
                  <a:tcPr marL="36000" marR="36000" marT="0" marB="0" anchor="ctr">
                    <a:lnL>
                      <a:noFill/>
                    </a:lnL>
                    <a:lnR>
                      <a:noFill/>
                    </a:lnR>
                    <a:lnT>
                      <a:noFill/>
                    </a:lnT>
                    <a:lnB>
                      <a:noFill/>
                    </a:lnB>
                    <a:solidFill>
                      <a:srgbClr val="B8D6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2.58 </a:t>
                      </a:r>
                    </a:p>
                  </a:txBody>
                  <a:tcPr marL="36000" marR="36000" marT="0" marB="0" anchor="ctr">
                    <a:lnL>
                      <a:noFill/>
                    </a:lnL>
                    <a:lnR>
                      <a:noFill/>
                    </a:lnR>
                    <a:lnT>
                      <a:noFill/>
                    </a:lnT>
                    <a:lnB>
                      <a:noFill/>
                    </a:lnB>
                    <a:solidFill>
                      <a:srgbClr val="A1D07E"/>
                    </a:solidFill>
                  </a:tcPr>
                </a:tc>
                <a:extLst>
                  <a:ext uri="{0D108BD9-81ED-4DB2-BD59-A6C34878D82A}">
                    <a16:rowId xmlns:a16="http://schemas.microsoft.com/office/drawing/2014/main" val="3174226531"/>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16</a:t>
                      </a:r>
                    </a:p>
                  </a:txBody>
                  <a:tcPr marL="36000" marR="36000" marT="0" marB="0" anchor="ctr">
                    <a:lnL>
                      <a:noFill/>
                    </a:lnL>
                    <a:lnR>
                      <a:noFill/>
                    </a:lnR>
                    <a:lnT>
                      <a:noFill/>
                    </a:lnT>
                    <a:lnB>
                      <a:noFill/>
                    </a:lnB>
                    <a:solidFill>
                      <a:srgbClr val="FFCD0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3.40 </a:t>
                      </a:r>
                    </a:p>
                  </a:txBody>
                  <a:tcPr marL="36000" marR="36000" marT="0" marB="0" anchor="ctr">
                    <a:lnL>
                      <a:noFill/>
                    </a:lnL>
                    <a:lnR>
                      <a:noFill/>
                    </a:lnR>
                    <a:lnT>
                      <a:noFill/>
                    </a:lnT>
                    <a:lnB>
                      <a:noFill/>
                    </a:lnB>
                    <a:solidFill>
                      <a:srgbClr val="E7E4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3.92 </a:t>
                      </a:r>
                    </a:p>
                  </a:txBody>
                  <a:tcPr marL="36000" marR="36000" marT="0" marB="0" anchor="ctr">
                    <a:lnL>
                      <a:noFill/>
                    </a:lnL>
                    <a:lnR>
                      <a:noFill/>
                    </a:lnR>
                    <a:lnT>
                      <a:noFill/>
                    </a:lnT>
                    <a:lnB>
                      <a:noFill/>
                    </a:lnB>
                    <a:solidFill>
                      <a:srgbClr val="FFE6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3.81 </a:t>
                      </a:r>
                    </a:p>
                  </a:txBody>
                  <a:tcPr marL="36000" marR="36000" marT="0" marB="0" anchor="ctr">
                    <a:lnL>
                      <a:noFill/>
                    </a:lnL>
                    <a:lnR>
                      <a:noFill/>
                    </a:lnR>
                    <a:lnT>
                      <a:noFill/>
                    </a:lnT>
                    <a:lnB>
                      <a:noFill/>
                    </a:lnB>
                    <a:solidFill>
                      <a:srgbClr val="FFE9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3.08 </a:t>
                      </a:r>
                    </a:p>
                  </a:txBody>
                  <a:tcPr marL="36000" marR="36000" marT="0" marB="0" anchor="ctr">
                    <a:lnL>
                      <a:noFill/>
                    </a:lnL>
                    <a:lnR>
                      <a:noFill/>
                    </a:lnR>
                    <a:lnT>
                      <a:noFill/>
                    </a:lnT>
                    <a:lnB>
                      <a:noFill/>
                    </a:lnB>
                    <a:solidFill>
                      <a:srgbClr val="CCDC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2.76 </a:t>
                      </a:r>
                    </a:p>
                  </a:txBody>
                  <a:tcPr marL="36000" marR="36000" marT="0" marB="0" anchor="ctr">
                    <a:lnL>
                      <a:noFill/>
                    </a:lnL>
                    <a:lnR>
                      <a:noFill/>
                    </a:lnR>
                    <a:lnT>
                      <a:noFill/>
                    </a:lnT>
                    <a:lnB>
                      <a:noFill/>
                    </a:lnB>
                    <a:solidFill>
                      <a:srgbClr val="B1D4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3.08 </a:t>
                      </a:r>
                    </a:p>
                  </a:txBody>
                  <a:tcPr marL="36000" marR="36000" marT="0" marB="0" anchor="ctr">
                    <a:lnL>
                      <a:noFill/>
                    </a:lnL>
                    <a:lnR>
                      <a:noFill/>
                    </a:lnR>
                    <a:lnT>
                      <a:noFill/>
                    </a:lnT>
                    <a:lnB>
                      <a:noFill/>
                    </a:lnB>
                    <a:solidFill>
                      <a:srgbClr val="CDDC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3.04 </a:t>
                      </a:r>
                    </a:p>
                  </a:txBody>
                  <a:tcPr marL="36000" marR="36000" marT="0" marB="0" anchor="ctr">
                    <a:lnL>
                      <a:noFill/>
                    </a:lnL>
                    <a:lnR>
                      <a:noFill/>
                    </a:lnR>
                    <a:lnT>
                      <a:noFill/>
                    </a:lnT>
                    <a:lnB>
                      <a:noFill/>
                    </a:lnB>
                    <a:solidFill>
                      <a:srgbClr val="C9DB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2.92 </a:t>
                      </a:r>
                    </a:p>
                  </a:txBody>
                  <a:tcPr marL="36000" marR="36000" marT="0" marB="0" anchor="ctr">
                    <a:lnL>
                      <a:noFill/>
                    </a:lnL>
                    <a:lnR>
                      <a:noFill/>
                    </a:lnR>
                    <a:lnT>
                      <a:noFill/>
                    </a:lnT>
                    <a:lnB>
                      <a:noFill/>
                    </a:lnB>
                    <a:solidFill>
                      <a:srgbClr val="BED8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3.22 </a:t>
                      </a:r>
                    </a:p>
                  </a:txBody>
                  <a:tcPr marL="36000" marR="36000" marT="0" marB="0" anchor="ctr">
                    <a:lnL>
                      <a:noFill/>
                    </a:lnL>
                    <a:lnR>
                      <a:noFill/>
                    </a:lnR>
                    <a:lnT>
                      <a:noFill/>
                    </a:lnT>
                    <a:lnB>
                      <a:noFill/>
                    </a:lnB>
                    <a:solidFill>
                      <a:srgbClr val="D8DF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3.22 </a:t>
                      </a:r>
                    </a:p>
                  </a:txBody>
                  <a:tcPr marL="36000" marR="36000" marT="0" marB="0" anchor="ctr">
                    <a:lnL>
                      <a:noFill/>
                    </a:lnL>
                    <a:lnR>
                      <a:noFill/>
                    </a:lnR>
                    <a:lnT>
                      <a:noFill/>
                    </a:lnT>
                    <a:lnB>
                      <a:noFill/>
                    </a:lnB>
                    <a:solidFill>
                      <a:srgbClr val="D8DF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3.15 </a:t>
                      </a:r>
                    </a:p>
                  </a:txBody>
                  <a:tcPr marL="36000" marR="36000" marT="0" marB="0" anchor="ctr">
                    <a:lnL>
                      <a:noFill/>
                    </a:lnL>
                    <a:lnR>
                      <a:noFill/>
                    </a:lnR>
                    <a:lnT>
                      <a:noFill/>
                    </a:lnT>
                    <a:lnB>
                      <a:noFill/>
                    </a:lnB>
                    <a:solidFill>
                      <a:srgbClr val="D2DE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2.94 </a:t>
                      </a:r>
                    </a:p>
                  </a:txBody>
                  <a:tcPr marL="36000" marR="36000" marT="0" marB="0" anchor="ctr">
                    <a:lnL>
                      <a:noFill/>
                    </a:lnL>
                    <a:lnR>
                      <a:noFill/>
                    </a:lnR>
                    <a:lnT>
                      <a:noFill/>
                    </a:lnT>
                    <a:lnB>
                      <a:noFill/>
                    </a:lnB>
                    <a:solidFill>
                      <a:srgbClr val="C0D880"/>
                    </a:solidFill>
                  </a:tcPr>
                </a:tc>
                <a:extLst>
                  <a:ext uri="{0D108BD9-81ED-4DB2-BD59-A6C34878D82A}">
                    <a16:rowId xmlns:a16="http://schemas.microsoft.com/office/drawing/2014/main" val="1312339904"/>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17</a:t>
                      </a:r>
                    </a:p>
                  </a:txBody>
                  <a:tcPr marL="36000" marR="36000" marT="0" marB="0" anchor="ctr">
                    <a:lnL>
                      <a:noFill/>
                    </a:lnL>
                    <a:lnR>
                      <a:noFill/>
                    </a:lnR>
                    <a:lnT>
                      <a:noFill/>
                    </a:lnT>
                    <a:lnB>
                      <a:noFill/>
                    </a:lnB>
                    <a:solidFill>
                      <a:srgbClr val="FFCD0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3.91 </a:t>
                      </a:r>
                    </a:p>
                  </a:txBody>
                  <a:tcPr marL="36000" marR="36000" marT="0" marB="0" anchor="ctr">
                    <a:lnL>
                      <a:noFill/>
                    </a:lnL>
                    <a:lnR>
                      <a:noFill/>
                    </a:lnR>
                    <a:lnT>
                      <a:noFill/>
                    </a:lnT>
                    <a:lnB>
                      <a:noFill/>
                    </a:lnB>
                    <a:solidFill>
                      <a:srgbClr val="FFE6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4.31 </a:t>
                      </a:r>
                    </a:p>
                  </a:txBody>
                  <a:tcPr marL="36000" marR="36000" marT="0" marB="0" anchor="ctr">
                    <a:lnL>
                      <a:noFill/>
                    </a:lnL>
                    <a:lnR>
                      <a:noFill/>
                    </a:lnR>
                    <a:lnT>
                      <a:noFill/>
                    </a:lnT>
                    <a:lnB>
                      <a:noFill/>
                    </a:lnB>
                    <a:solidFill>
                      <a:srgbClr val="FFDE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3.91 </a:t>
                      </a:r>
                    </a:p>
                  </a:txBody>
                  <a:tcPr marL="36000" marR="36000" marT="0" marB="0" anchor="ctr">
                    <a:lnL>
                      <a:noFill/>
                    </a:lnL>
                    <a:lnR>
                      <a:noFill/>
                    </a:lnR>
                    <a:lnT>
                      <a:noFill/>
                    </a:lnT>
                    <a:lnB>
                      <a:noFill/>
                    </a:lnB>
                    <a:solidFill>
                      <a:srgbClr val="FFE6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3.25 </a:t>
                      </a:r>
                    </a:p>
                  </a:txBody>
                  <a:tcPr marL="36000" marR="36000" marT="0" marB="0" anchor="ctr">
                    <a:lnL>
                      <a:noFill/>
                    </a:lnL>
                    <a:lnR>
                      <a:noFill/>
                    </a:lnR>
                    <a:lnT>
                      <a:noFill/>
                    </a:lnT>
                    <a:lnB>
                      <a:noFill/>
                    </a:lnB>
                    <a:solidFill>
                      <a:srgbClr val="DAE0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3.19 </a:t>
                      </a:r>
                    </a:p>
                  </a:txBody>
                  <a:tcPr marL="36000" marR="36000" marT="0" marB="0" anchor="ctr">
                    <a:lnL>
                      <a:noFill/>
                    </a:lnL>
                    <a:lnR>
                      <a:noFill/>
                    </a:lnR>
                    <a:lnT>
                      <a:noFill/>
                    </a:lnT>
                    <a:lnB>
                      <a:noFill/>
                    </a:lnB>
                    <a:solidFill>
                      <a:srgbClr val="D6DF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3.48 </a:t>
                      </a:r>
                    </a:p>
                  </a:txBody>
                  <a:tcPr marL="36000" marR="36000" marT="0" marB="0" anchor="ctr">
                    <a:lnL>
                      <a:noFill/>
                    </a:lnL>
                    <a:lnR>
                      <a:noFill/>
                    </a:lnR>
                    <a:lnT>
                      <a:noFill/>
                    </a:lnT>
                    <a:lnB>
                      <a:noFill/>
                    </a:lnB>
                    <a:solidFill>
                      <a:srgbClr val="EEE6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3.49 </a:t>
                      </a:r>
                    </a:p>
                  </a:txBody>
                  <a:tcPr marL="36000" marR="36000" marT="0" marB="0" anchor="ctr">
                    <a:lnL>
                      <a:noFill/>
                    </a:lnL>
                    <a:lnR>
                      <a:noFill/>
                    </a:lnR>
                    <a:lnT>
                      <a:noFill/>
                    </a:lnT>
                    <a:lnB>
                      <a:noFill/>
                    </a:lnB>
                    <a:solidFill>
                      <a:srgbClr val="EFE6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3.68 </a:t>
                      </a:r>
                    </a:p>
                  </a:txBody>
                  <a:tcPr marL="36000" marR="36000" marT="0" marB="0" anchor="ctr">
                    <a:lnL>
                      <a:noFill/>
                    </a:lnL>
                    <a:lnR>
                      <a:noFill/>
                    </a:lnR>
                    <a:lnT>
                      <a:noFill/>
                    </a:lnT>
                    <a:lnB>
                      <a:noFill/>
                    </a:lnB>
                    <a:solidFill>
                      <a:srgbClr val="FFEB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4.20 </a:t>
                      </a:r>
                    </a:p>
                  </a:txBody>
                  <a:tcPr marL="36000" marR="36000" marT="0" marB="0" anchor="ctr">
                    <a:lnL>
                      <a:noFill/>
                    </a:lnL>
                    <a:lnR>
                      <a:noFill/>
                    </a:lnR>
                    <a:lnT>
                      <a:noFill/>
                    </a:lnT>
                    <a:lnB>
                      <a:noFill/>
                    </a:lnB>
                    <a:solidFill>
                      <a:srgbClr val="FFE1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4.04 </a:t>
                      </a:r>
                    </a:p>
                  </a:txBody>
                  <a:tcPr marL="36000" marR="36000" marT="0" marB="0" anchor="ctr">
                    <a:lnL>
                      <a:noFill/>
                    </a:lnL>
                    <a:lnR>
                      <a:noFill/>
                    </a:lnR>
                    <a:lnT>
                      <a:noFill/>
                    </a:lnT>
                    <a:lnB>
                      <a:noFill/>
                    </a:lnB>
                    <a:solidFill>
                      <a:srgbClr val="FFE4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3.65 </a:t>
                      </a:r>
                    </a:p>
                  </a:txBody>
                  <a:tcPr marL="36000" marR="36000" marT="0" marB="0" anchor="ctr">
                    <a:lnL>
                      <a:noFill/>
                    </a:lnL>
                    <a:lnR>
                      <a:noFill/>
                    </a:lnR>
                    <a:lnT>
                      <a:noFill/>
                    </a:lnT>
                    <a:lnB>
                      <a:noFill/>
                    </a:lnB>
                    <a:solidFill>
                      <a:srgbClr val="FDEA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3.49 </a:t>
                      </a:r>
                    </a:p>
                  </a:txBody>
                  <a:tcPr marL="36000" marR="36000" marT="0" marB="0" anchor="ctr">
                    <a:lnL>
                      <a:noFill/>
                    </a:lnL>
                    <a:lnR>
                      <a:noFill/>
                    </a:lnR>
                    <a:lnT>
                      <a:noFill/>
                    </a:lnT>
                    <a:lnB>
                      <a:noFill/>
                    </a:lnB>
                    <a:solidFill>
                      <a:srgbClr val="EFE683"/>
                    </a:solidFill>
                  </a:tcPr>
                </a:tc>
                <a:extLst>
                  <a:ext uri="{0D108BD9-81ED-4DB2-BD59-A6C34878D82A}">
                    <a16:rowId xmlns:a16="http://schemas.microsoft.com/office/drawing/2014/main" val="129361624"/>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18</a:t>
                      </a:r>
                    </a:p>
                  </a:txBody>
                  <a:tcPr marL="36000" marR="36000" marT="0" marB="0" anchor="ctr">
                    <a:lnL>
                      <a:noFill/>
                    </a:lnL>
                    <a:lnR>
                      <a:noFill/>
                    </a:lnR>
                    <a:lnT>
                      <a:noFill/>
                    </a:lnT>
                    <a:lnB>
                      <a:noFill/>
                    </a:lnB>
                    <a:solidFill>
                      <a:srgbClr val="FFCD0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4.19 </a:t>
                      </a:r>
                    </a:p>
                  </a:txBody>
                  <a:tcPr marL="36000" marR="36000" marT="0" marB="0" anchor="ctr">
                    <a:lnL>
                      <a:noFill/>
                    </a:lnL>
                    <a:lnR>
                      <a:noFill/>
                    </a:lnR>
                    <a:lnT>
                      <a:noFill/>
                    </a:lnT>
                    <a:lnB>
                      <a:noFill/>
                    </a:lnB>
                    <a:solidFill>
                      <a:srgbClr val="FFE1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4.09 </a:t>
                      </a:r>
                    </a:p>
                  </a:txBody>
                  <a:tcPr marL="36000" marR="36000" marT="0" marB="0" anchor="ctr">
                    <a:lnL>
                      <a:noFill/>
                    </a:lnL>
                    <a:lnR>
                      <a:noFill/>
                    </a:lnR>
                    <a:lnT>
                      <a:noFill/>
                    </a:lnT>
                    <a:lnB>
                      <a:noFill/>
                    </a:lnB>
                    <a:solidFill>
                      <a:srgbClr val="FFE3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3.90 </a:t>
                      </a:r>
                    </a:p>
                  </a:txBody>
                  <a:tcPr marL="36000" marR="36000" marT="0" marB="0" anchor="ctr">
                    <a:lnL>
                      <a:noFill/>
                    </a:lnL>
                    <a:lnR>
                      <a:noFill/>
                    </a:lnR>
                    <a:lnT>
                      <a:noFill/>
                    </a:lnT>
                    <a:lnB>
                      <a:noFill/>
                    </a:lnB>
                    <a:solidFill>
                      <a:srgbClr val="FFE7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3.32 </a:t>
                      </a:r>
                    </a:p>
                  </a:txBody>
                  <a:tcPr marL="36000" marR="36000" marT="0" marB="0" anchor="ctr">
                    <a:lnL>
                      <a:noFill/>
                    </a:lnL>
                    <a:lnR>
                      <a:noFill/>
                    </a:lnR>
                    <a:lnT>
                      <a:noFill/>
                    </a:lnT>
                    <a:lnB>
                      <a:noFill/>
                    </a:lnB>
                    <a:solidFill>
                      <a:srgbClr val="E1E2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3.27 </a:t>
                      </a:r>
                    </a:p>
                  </a:txBody>
                  <a:tcPr marL="36000" marR="36000" marT="0" marB="0" anchor="ctr">
                    <a:lnL>
                      <a:noFill/>
                    </a:lnL>
                    <a:lnR>
                      <a:noFill/>
                    </a:lnR>
                    <a:lnT>
                      <a:noFill/>
                    </a:lnT>
                    <a:lnB>
                      <a:noFill/>
                    </a:lnB>
                    <a:solidFill>
                      <a:srgbClr val="DCE1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4.16 </a:t>
                      </a:r>
                    </a:p>
                  </a:txBody>
                  <a:tcPr marL="36000" marR="36000" marT="0" marB="0" anchor="ctr">
                    <a:lnL>
                      <a:noFill/>
                    </a:lnL>
                    <a:lnR>
                      <a:noFill/>
                    </a:lnR>
                    <a:lnT>
                      <a:noFill/>
                    </a:lnT>
                    <a:lnB>
                      <a:noFill/>
                    </a:lnB>
                    <a:solidFill>
                      <a:srgbClr val="FFE1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4.89 </a:t>
                      </a:r>
                    </a:p>
                  </a:txBody>
                  <a:tcPr marL="36000" marR="36000" marT="0" marB="0" anchor="ctr">
                    <a:lnL>
                      <a:noFill/>
                    </a:lnL>
                    <a:lnR>
                      <a:noFill/>
                    </a:lnR>
                    <a:lnT>
                      <a:noFill/>
                    </a:lnT>
                    <a:lnB>
                      <a:noFill/>
                    </a:lnB>
                    <a:solidFill>
                      <a:srgbClr val="FED2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7.40 </a:t>
                      </a:r>
                    </a:p>
                  </a:txBody>
                  <a:tcPr marL="36000" marR="36000" marT="0" marB="0" anchor="ctr">
                    <a:lnL>
                      <a:noFill/>
                    </a:lnL>
                    <a:lnR>
                      <a:noFill/>
                    </a:lnR>
                    <a:lnT>
                      <a:noFill/>
                    </a:lnT>
                    <a:lnB>
                      <a:noFill/>
                    </a:lnB>
                    <a:solidFill>
                      <a:srgbClr val="FB9F76"/>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8.28 </a:t>
                      </a:r>
                    </a:p>
                  </a:txBody>
                  <a:tcPr marL="36000" marR="36000" marT="0" marB="0" anchor="ctr">
                    <a:lnL>
                      <a:noFill/>
                    </a:lnL>
                    <a:lnR>
                      <a:noFill/>
                    </a:lnR>
                    <a:lnT>
                      <a:noFill/>
                    </a:lnT>
                    <a:lnB>
                      <a:noFill/>
                    </a:lnB>
                    <a:solidFill>
                      <a:srgbClr val="FA8D7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6.80 </a:t>
                      </a:r>
                    </a:p>
                  </a:txBody>
                  <a:tcPr marL="36000" marR="36000" marT="0" marB="0" anchor="ctr">
                    <a:lnL>
                      <a:noFill/>
                    </a:lnL>
                    <a:lnR>
                      <a:noFill/>
                    </a:lnR>
                    <a:lnT>
                      <a:noFill/>
                    </a:lnT>
                    <a:lnB>
                      <a:noFill/>
                    </a:lnB>
                    <a:solidFill>
                      <a:srgbClr val="FCAB78"/>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4.76 </a:t>
                      </a:r>
                    </a:p>
                  </a:txBody>
                  <a:tcPr marL="36000" marR="36000" marT="0" marB="0" anchor="ctr">
                    <a:lnL>
                      <a:noFill/>
                    </a:lnL>
                    <a:lnR>
                      <a:noFill/>
                    </a:lnR>
                    <a:lnT>
                      <a:noFill/>
                    </a:lnT>
                    <a:lnB>
                      <a:noFill/>
                    </a:lnB>
                    <a:solidFill>
                      <a:srgbClr val="FED5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3.73 </a:t>
                      </a:r>
                    </a:p>
                  </a:txBody>
                  <a:tcPr marL="36000" marR="36000" marT="0" marB="0" anchor="ctr">
                    <a:lnL>
                      <a:noFill/>
                    </a:lnL>
                    <a:lnR>
                      <a:noFill/>
                    </a:lnR>
                    <a:lnT>
                      <a:noFill/>
                    </a:lnT>
                    <a:lnB>
                      <a:noFill/>
                    </a:lnB>
                    <a:solidFill>
                      <a:srgbClr val="FFEA84"/>
                    </a:solidFill>
                  </a:tcPr>
                </a:tc>
                <a:extLst>
                  <a:ext uri="{0D108BD9-81ED-4DB2-BD59-A6C34878D82A}">
                    <a16:rowId xmlns:a16="http://schemas.microsoft.com/office/drawing/2014/main" val="691417160"/>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19</a:t>
                      </a:r>
                    </a:p>
                  </a:txBody>
                  <a:tcPr marL="36000" marR="36000" marT="0" marB="0" anchor="ctr">
                    <a:lnL>
                      <a:noFill/>
                    </a:lnL>
                    <a:lnR>
                      <a:noFill/>
                    </a:lnR>
                    <a:lnT>
                      <a:noFill/>
                    </a:lnT>
                    <a:lnB>
                      <a:noFill/>
                    </a:lnB>
                    <a:solidFill>
                      <a:srgbClr val="0097A9"/>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4.97 </a:t>
                      </a:r>
                    </a:p>
                  </a:txBody>
                  <a:tcPr marL="36000" marR="36000" marT="0" marB="0" anchor="ctr">
                    <a:lnL>
                      <a:noFill/>
                    </a:lnL>
                    <a:lnR>
                      <a:noFill/>
                    </a:lnR>
                    <a:lnT>
                      <a:noFill/>
                    </a:lnT>
                    <a:lnB>
                      <a:noFill/>
                    </a:lnB>
                    <a:solidFill>
                      <a:srgbClr val="FED1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4.72 </a:t>
                      </a:r>
                    </a:p>
                  </a:txBody>
                  <a:tcPr marL="36000" marR="36000" marT="0" marB="0" anchor="ctr">
                    <a:lnL>
                      <a:noFill/>
                    </a:lnL>
                    <a:lnR>
                      <a:noFill/>
                    </a:lnR>
                    <a:lnT>
                      <a:noFill/>
                    </a:lnT>
                    <a:lnB>
                      <a:noFill/>
                    </a:lnB>
                    <a:solidFill>
                      <a:srgbClr val="FED6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4.23 </a:t>
                      </a:r>
                    </a:p>
                  </a:txBody>
                  <a:tcPr marL="36000" marR="36000" marT="0" marB="0" anchor="ctr">
                    <a:lnL>
                      <a:noFill/>
                    </a:lnL>
                    <a:lnR>
                      <a:noFill/>
                    </a:lnR>
                    <a:lnT>
                      <a:noFill/>
                    </a:lnT>
                    <a:lnB>
                      <a:noFill/>
                    </a:lnB>
                    <a:solidFill>
                      <a:srgbClr val="FFE0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4.10 </a:t>
                      </a:r>
                    </a:p>
                  </a:txBody>
                  <a:tcPr marL="36000" marR="36000" marT="0" marB="0" anchor="ctr">
                    <a:lnL>
                      <a:noFill/>
                    </a:lnL>
                    <a:lnR>
                      <a:noFill/>
                    </a:lnR>
                    <a:lnT>
                      <a:noFill/>
                    </a:lnT>
                    <a:lnB>
                      <a:noFill/>
                    </a:lnB>
                    <a:solidFill>
                      <a:srgbClr val="FFE3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4.19 </a:t>
                      </a:r>
                    </a:p>
                  </a:txBody>
                  <a:tcPr marL="36000" marR="36000" marT="0" marB="0" anchor="ctr">
                    <a:lnL>
                      <a:noFill/>
                    </a:lnL>
                    <a:lnR>
                      <a:noFill/>
                    </a:lnR>
                    <a:lnT>
                      <a:noFill/>
                    </a:lnT>
                    <a:lnB>
                      <a:noFill/>
                    </a:lnB>
                    <a:solidFill>
                      <a:srgbClr val="FFE1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5.87 </a:t>
                      </a:r>
                    </a:p>
                  </a:txBody>
                  <a:tcPr marL="36000" marR="36000" marT="0" marB="0" anchor="ctr">
                    <a:lnL>
                      <a:noFill/>
                    </a:lnL>
                    <a:lnR>
                      <a:noFill/>
                    </a:lnR>
                    <a:lnT>
                      <a:noFill/>
                    </a:lnT>
                    <a:lnB>
                      <a:noFill/>
                    </a:lnB>
                    <a:solidFill>
                      <a:srgbClr val="FDBE7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8.03 </a:t>
                      </a:r>
                    </a:p>
                  </a:txBody>
                  <a:tcPr marL="36000" marR="36000" marT="0" marB="0" anchor="ctr">
                    <a:lnL>
                      <a:noFill/>
                    </a:lnL>
                    <a:lnR>
                      <a:noFill/>
                    </a:lnR>
                    <a:lnT>
                      <a:noFill/>
                    </a:lnT>
                    <a:lnB>
                      <a:noFill/>
                    </a:lnB>
                    <a:solidFill>
                      <a:srgbClr val="FB927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8.30 </a:t>
                      </a:r>
                    </a:p>
                  </a:txBody>
                  <a:tcPr marL="36000" marR="36000" marT="0" marB="0" anchor="ctr">
                    <a:lnL>
                      <a:noFill/>
                    </a:lnL>
                    <a:lnR>
                      <a:noFill/>
                    </a:lnR>
                    <a:lnT>
                      <a:noFill/>
                    </a:lnT>
                    <a:lnB>
                      <a:noFill/>
                    </a:lnB>
                    <a:solidFill>
                      <a:srgbClr val="FA8C7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8.96 </a:t>
                      </a:r>
                    </a:p>
                  </a:txBody>
                  <a:tcPr marL="36000" marR="36000" marT="0" marB="0" anchor="ctr">
                    <a:lnL>
                      <a:noFill/>
                    </a:lnL>
                    <a:lnR>
                      <a:noFill/>
                    </a:lnR>
                    <a:lnT>
                      <a:noFill/>
                    </a:lnT>
                    <a:lnB>
                      <a:noFill/>
                    </a:lnB>
                    <a:solidFill>
                      <a:srgbClr val="FA7F7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9.57 </a:t>
                      </a:r>
                    </a:p>
                  </a:txBody>
                  <a:tcPr marL="36000" marR="36000" marT="0" marB="0" anchor="ctr">
                    <a:lnL>
                      <a:noFill/>
                    </a:lnL>
                    <a:lnR>
                      <a:noFill/>
                    </a:lnR>
                    <a:lnT>
                      <a:noFill/>
                    </a:lnT>
                    <a:lnB>
                      <a:noFill/>
                    </a:lnB>
                    <a:solidFill>
                      <a:srgbClr val="F9726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8.40 </a:t>
                      </a:r>
                    </a:p>
                  </a:txBody>
                  <a:tcPr marL="36000" marR="36000" marT="0" marB="0" anchor="ctr">
                    <a:lnL>
                      <a:noFill/>
                    </a:lnL>
                    <a:lnR>
                      <a:noFill/>
                    </a:lnR>
                    <a:lnT>
                      <a:noFill/>
                    </a:lnT>
                    <a:lnB>
                      <a:noFill/>
                    </a:lnB>
                    <a:solidFill>
                      <a:srgbClr val="FA8A7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6.59 </a:t>
                      </a:r>
                    </a:p>
                  </a:txBody>
                  <a:tcPr marL="36000" marR="36000" marT="0" marB="0" anchor="ctr">
                    <a:lnL>
                      <a:noFill/>
                    </a:lnL>
                    <a:lnR>
                      <a:noFill/>
                    </a:lnR>
                    <a:lnT>
                      <a:noFill/>
                    </a:lnT>
                    <a:lnB>
                      <a:noFill/>
                    </a:lnB>
                    <a:solidFill>
                      <a:srgbClr val="FCB079"/>
                    </a:solidFill>
                  </a:tcPr>
                </a:tc>
                <a:extLst>
                  <a:ext uri="{0D108BD9-81ED-4DB2-BD59-A6C34878D82A}">
                    <a16:rowId xmlns:a16="http://schemas.microsoft.com/office/drawing/2014/main" val="1894006554"/>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20</a:t>
                      </a:r>
                    </a:p>
                  </a:txBody>
                  <a:tcPr marL="36000" marR="36000" marT="0" marB="0" anchor="ctr">
                    <a:lnL>
                      <a:noFill/>
                    </a:lnL>
                    <a:lnR>
                      <a:noFill/>
                    </a:lnR>
                    <a:lnT>
                      <a:noFill/>
                    </a:lnT>
                    <a:lnB>
                      <a:noFill/>
                    </a:lnB>
                    <a:solidFill>
                      <a:srgbClr val="0097A9"/>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6.73 </a:t>
                      </a:r>
                    </a:p>
                  </a:txBody>
                  <a:tcPr marL="36000" marR="36000" marT="0" marB="0" anchor="ctr">
                    <a:lnL>
                      <a:noFill/>
                    </a:lnL>
                    <a:lnR>
                      <a:noFill/>
                    </a:lnR>
                    <a:lnT>
                      <a:noFill/>
                    </a:lnT>
                    <a:lnB>
                      <a:noFill/>
                    </a:lnB>
                    <a:solidFill>
                      <a:srgbClr val="FCAD78"/>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7.85 </a:t>
                      </a:r>
                    </a:p>
                  </a:txBody>
                  <a:tcPr marL="36000" marR="36000" marT="0" marB="0" anchor="ctr">
                    <a:lnL>
                      <a:noFill/>
                    </a:lnL>
                    <a:lnR>
                      <a:noFill/>
                    </a:lnR>
                    <a:lnT>
                      <a:noFill/>
                    </a:lnT>
                    <a:lnB>
                      <a:noFill/>
                    </a:lnB>
                    <a:solidFill>
                      <a:srgbClr val="FB967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7.16 </a:t>
                      </a:r>
                    </a:p>
                  </a:txBody>
                  <a:tcPr marL="36000" marR="36000" marT="0" marB="0" anchor="ctr">
                    <a:lnL>
                      <a:noFill/>
                    </a:lnL>
                    <a:lnR>
                      <a:noFill/>
                    </a:lnR>
                    <a:lnT>
                      <a:noFill/>
                    </a:lnT>
                    <a:lnB>
                      <a:noFill/>
                    </a:lnB>
                    <a:solidFill>
                      <a:srgbClr val="FCA477"/>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8.00 </a:t>
                      </a:r>
                    </a:p>
                  </a:txBody>
                  <a:tcPr marL="36000" marR="36000" marT="0" marB="0" anchor="ctr">
                    <a:lnL>
                      <a:noFill/>
                    </a:lnL>
                    <a:lnR>
                      <a:noFill/>
                    </a:lnR>
                    <a:lnT>
                      <a:noFill/>
                    </a:lnT>
                    <a:lnB>
                      <a:noFill/>
                    </a:lnB>
                    <a:solidFill>
                      <a:srgbClr val="FB927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8.09 </a:t>
                      </a:r>
                    </a:p>
                  </a:txBody>
                  <a:tcPr marL="36000" marR="36000" marT="0" marB="0" anchor="ctr">
                    <a:lnL>
                      <a:noFill/>
                    </a:lnL>
                    <a:lnR>
                      <a:noFill/>
                    </a:lnR>
                    <a:lnT>
                      <a:noFill/>
                    </a:lnT>
                    <a:lnB>
                      <a:noFill/>
                    </a:lnB>
                    <a:solidFill>
                      <a:srgbClr val="FB917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9.02 </a:t>
                      </a:r>
                    </a:p>
                  </a:txBody>
                  <a:tcPr marL="36000" marR="36000" marT="0" marB="0" anchor="ctr">
                    <a:lnL>
                      <a:noFill/>
                    </a:lnL>
                    <a:lnR>
                      <a:noFill/>
                    </a:lnR>
                    <a:lnT>
                      <a:noFill/>
                    </a:lnT>
                    <a:lnB>
                      <a:noFill/>
                    </a:lnB>
                    <a:solidFill>
                      <a:srgbClr val="FA7E6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6.80 </a:t>
                      </a:r>
                    </a:p>
                  </a:txBody>
                  <a:tcPr marL="36000" marR="36000" marT="0" marB="0" anchor="ctr">
                    <a:lnL>
                      <a:noFill/>
                    </a:lnL>
                    <a:lnR>
                      <a:noFill/>
                    </a:lnR>
                    <a:lnT>
                      <a:noFill/>
                    </a:lnT>
                    <a:lnB>
                      <a:noFill/>
                    </a:lnB>
                    <a:solidFill>
                      <a:srgbClr val="FCAB78"/>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4.25 </a:t>
                      </a:r>
                    </a:p>
                  </a:txBody>
                  <a:tcPr marL="36000" marR="36000" marT="0" marB="0" anchor="ctr">
                    <a:lnL>
                      <a:noFill/>
                    </a:lnL>
                    <a:lnR>
                      <a:noFill/>
                    </a:lnR>
                    <a:lnT>
                      <a:noFill/>
                    </a:lnT>
                    <a:lnB>
                      <a:noFill/>
                    </a:lnB>
                    <a:solidFill>
                      <a:srgbClr val="FFDF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4.92 </a:t>
                      </a:r>
                    </a:p>
                  </a:txBody>
                  <a:tcPr marL="36000" marR="36000" marT="0" marB="0" anchor="ctr">
                    <a:lnL>
                      <a:noFill/>
                    </a:lnL>
                    <a:lnR>
                      <a:noFill/>
                    </a:lnR>
                    <a:lnT>
                      <a:noFill/>
                    </a:lnT>
                    <a:lnB>
                      <a:noFill/>
                    </a:lnB>
                    <a:solidFill>
                      <a:srgbClr val="FED2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7.91 </a:t>
                      </a:r>
                    </a:p>
                  </a:txBody>
                  <a:tcPr marL="36000" marR="36000" marT="0" marB="0" anchor="ctr">
                    <a:lnL>
                      <a:noFill/>
                    </a:lnL>
                    <a:lnR>
                      <a:noFill/>
                    </a:lnR>
                    <a:lnT>
                      <a:noFill/>
                    </a:lnT>
                    <a:lnB>
                      <a:noFill/>
                    </a:lnB>
                    <a:solidFill>
                      <a:srgbClr val="FB947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7.72 </a:t>
                      </a:r>
                    </a:p>
                  </a:txBody>
                  <a:tcPr marL="36000" marR="36000" marT="0" marB="0" anchor="ctr">
                    <a:lnL>
                      <a:noFill/>
                    </a:lnL>
                    <a:lnR>
                      <a:noFill/>
                    </a:lnR>
                    <a:lnT>
                      <a:noFill/>
                    </a:lnT>
                    <a:lnB>
                      <a:noFill/>
                    </a:lnB>
                    <a:solidFill>
                      <a:srgbClr val="FB9875"/>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8.63 </a:t>
                      </a:r>
                    </a:p>
                  </a:txBody>
                  <a:tcPr marL="36000" marR="36000" marT="0" marB="0" anchor="ctr">
                    <a:lnL>
                      <a:noFill/>
                    </a:lnL>
                    <a:lnR>
                      <a:noFill/>
                    </a:lnR>
                    <a:lnT>
                      <a:noFill/>
                    </a:lnT>
                    <a:lnB>
                      <a:noFill/>
                    </a:lnB>
                    <a:solidFill>
                      <a:srgbClr val="FA8671"/>
                    </a:solidFill>
                  </a:tcPr>
                </a:tc>
                <a:extLst>
                  <a:ext uri="{0D108BD9-81ED-4DB2-BD59-A6C34878D82A}">
                    <a16:rowId xmlns:a16="http://schemas.microsoft.com/office/drawing/2014/main" val="1420596152"/>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21</a:t>
                      </a:r>
                    </a:p>
                  </a:txBody>
                  <a:tcPr marL="36000" marR="36000" marT="0" marB="0" anchor="ctr">
                    <a:lnL>
                      <a:noFill/>
                    </a:lnL>
                    <a:lnR>
                      <a:noFill/>
                    </a:lnR>
                    <a:lnT>
                      <a:noFill/>
                    </a:lnT>
                    <a:lnB>
                      <a:noFill/>
                    </a:lnB>
                    <a:solidFill>
                      <a:srgbClr val="0097A9"/>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6.16 </a:t>
                      </a:r>
                    </a:p>
                  </a:txBody>
                  <a:tcPr marL="36000" marR="36000" marT="0" marB="0" anchor="ctr">
                    <a:lnL>
                      <a:noFill/>
                    </a:lnL>
                    <a:lnR>
                      <a:noFill/>
                    </a:lnR>
                    <a:lnT>
                      <a:noFill/>
                    </a:lnT>
                    <a:lnB>
                      <a:noFill/>
                    </a:lnB>
                    <a:solidFill>
                      <a:srgbClr val="FDB87B"/>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9.00 </a:t>
                      </a:r>
                    </a:p>
                  </a:txBody>
                  <a:tcPr marL="36000" marR="36000" marT="0" marB="0" anchor="ctr">
                    <a:lnL>
                      <a:noFill/>
                    </a:lnL>
                    <a:lnR>
                      <a:noFill/>
                    </a:lnR>
                    <a:lnT>
                      <a:noFill/>
                    </a:lnT>
                    <a:lnB>
                      <a:noFill/>
                    </a:lnB>
                    <a:solidFill>
                      <a:srgbClr val="FA7E6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8.95 </a:t>
                      </a:r>
                    </a:p>
                  </a:txBody>
                  <a:tcPr marL="36000" marR="36000" marT="0" marB="0" anchor="ctr">
                    <a:lnL>
                      <a:noFill/>
                    </a:lnL>
                    <a:lnR>
                      <a:noFill/>
                    </a:lnR>
                    <a:lnT>
                      <a:noFill/>
                    </a:lnT>
                    <a:lnB>
                      <a:noFill/>
                    </a:lnB>
                    <a:solidFill>
                      <a:srgbClr val="FA7F7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9.23 </a:t>
                      </a:r>
                    </a:p>
                  </a:txBody>
                  <a:tcPr marL="36000" marR="36000" marT="0" marB="0" anchor="ctr">
                    <a:lnL>
                      <a:noFill/>
                    </a:lnL>
                    <a:lnR>
                      <a:noFill/>
                    </a:lnR>
                    <a:lnT>
                      <a:noFill/>
                    </a:lnT>
                    <a:lnB>
                      <a:noFill/>
                    </a:lnB>
                    <a:solidFill>
                      <a:srgbClr val="F9796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8.58 </a:t>
                      </a:r>
                    </a:p>
                  </a:txBody>
                  <a:tcPr marL="36000" marR="36000" marT="0" marB="0" anchor="ctr">
                    <a:lnL>
                      <a:noFill/>
                    </a:lnL>
                    <a:lnR>
                      <a:noFill/>
                    </a:lnR>
                    <a:lnT>
                      <a:noFill/>
                    </a:lnT>
                    <a:lnB>
                      <a:noFill/>
                    </a:lnB>
                    <a:solidFill>
                      <a:srgbClr val="FA877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8.34 </a:t>
                      </a:r>
                    </a:p>
                  </a:txBody>
                  <a:tcPr marL="36000" marR="36000" marT="0" marB="0" anchor="ctr">
                    <a:lnL>
                      <a:noFill/>
                    </a:lnL>
                    <a:lnR>
                      <a:noFill/>
                    </a:lnR>
                    <a:lnT>
                      <a:noFill/>
                    </a:lnT>
                    <a:lnB>
                      <a:noFill/>
                    </a:lnB>
                    <a:solidFill>
                      <a:srgbClr val="FA8C7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5.55 </a:t>
                      </a:r>
                    </a:p>
                  </a:txBody>
                  <a:tcPr marL="36000" marR="36000" marT="0" marB="0" anchor="ctr">
                    <a:lnL>
                      <a:noFill/>
                    </a:lnL>
                    <a:lnR>
                      <a:noFill/>
                    </a:lnR>
                    <a:lnT>
                      <a:noFill/>
                    </a:lnT>
                    <a:lnB>
                      <a:noFill/>
                    </a:lnB>
                    <a:solidFill>
                      <a:srgbClr val="FDC5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3.58 </a:t>
                      </a:r>
                    </a:p>
                  </a:txBody>
                  <a:tcPr marL="36000" marR="36000" marT="0" marB="0" anchor="ctr">
                    <a:lnL>
                      <a:noFill/>
                    </a:lnL>
                    <a:lnR>
                      <a:noFill/>
                    </a:lnR>
                    <a:lnT>
                      <a:noFill/>
                    </a:lnT>
                    <a:lnB>
                      <a:noFill/>
                    </a:lnB>
                    <a:solidFill>
                      <a:srgbClr val="F7E8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3.51 </a:t>
                      </a:r>
                    </a:p>
                  </a:txBody>
                  <a:tcPr marL="36000" marR="36000" marT="0" marB="0" anchor="ctr">
                    <a:lnL>
                      <a:noFill/>
                    </a:lnL>
                    <a:lnR>
                      <a:noFill/>
                    </a:lnR>
                    <a:lnT>
                      <a:noFill/>
                    </a:lnT>
                    <a:lnB>
                      <a:noFill/>
                    </a:lnB>
                    <a:solidFill>
                      <a:srgbClr val="F1E7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4.45 </a:t>
                      </a:r>
                    </a:p>
                  </a:txBody>
                  <a:tcPr marL="36000" marR="36000" marT="0" marB="0" anchor="ctr">
                    <a:lnL>
                      <a:noFill/>
                    </a:lnL>
                    <a:lnR>
                      <a:noFill/>
                    </a:lnR>
                    <a:lnT>
                      <a:noFill/>
                    </a:lnT>
                    <a:lnB>
                      <a:noFill/>
                    </a:lnB>
                    <a:solidFill>
                      <a:srgbClr val="FFDB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4.18 </a:t>
                      </a:r>
                    </a:p>
                  </a:txBody>
                  <a:tcPr marL="36000" marR="36000" marT="0" marB="0" anchor="ctr">
                    <a:lnL>
                      <a:noFill/>
                    </a:lnL>
                    <a:lnR>
                      <a:noFill/>
                    </a:lnR>
                    <a:lnT>
                      <a:noFill/>
                    </a:lnT>
                    <a:lnB>
                      <a:noFill/>
                    </a:lnB>
                    <a:solidFill>
                      <a:srgbClr val="FFE1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7.52 </a:t>
                      </a:r>
                    </a:p>
                  </a:txBody>
                  <a:tcPr marL="36000" marR="36000" marT="0" marB="0" anchor="ctr">
                    <a:lnL>
                      <a:noFill/>
                    </a:lnL>
                    <a:lnR>
                      <a:noFill/>
                    </a:lnR>
                    <a:lnT>
                      <a:noFill/>
                    </a:lnT>
                    <a:lnB>
                      <a:noFill/>
                    </a:lnB>
                    <a:solidFill>
                      <a:srgbClr val="FB9C75"/>
                    </a:solidFill>
                  </a:tcPr>
                </a:tc>
                <a:extLst>
                  <a:ext uri="{0D108BD9-81ED-4DB2-BD59-A6C34878D82A}">
                    <a16:rowId xmlns:a16="http://schemas.microsoft.com/office/drawing/2014/main" val="2539030130"/>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22</a:t>
                      </a:r>
                    </a:p>
                  </a:txBody>
                  <a:tcPr marL="36000" marR="36000" marT="0" marB="0" anchor="ctr">
                    <a:lnL>
                      <a:noFill/>
                    </a:lnL>
                    <a:lnR>
                      <a:noFill/>
                    </a:lnR>
                    <a:lnT>
                      <a:noFill/>
                    </a:lnT>
                    <a:lnB>
                      <a:noFill/>
                    </a:lnB>
                    <a:solidFill>
                      <a:srgbClr val="0097A9"/>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7.45 </a:t>
                      </a:r>
                    </a:p>
                  </a:txBody>
                  <a:tcPr marL="36000" marR="36000" marT="0" marB="0" anchor="ctr">
                    <a:lnL>
                      <a:noFill/>
                    </a:lnL>
                    <a:lnR>
                      <a:noFill/>
                    </a:lnR>
                    <a:lnT>
                      <a:noFill/>
                    </a:lnT>
                    <a:lnB>
                      <a:noFill/>
                    </a:lnB>
                    <a:solidFill>
                      <a:srgbClr val="FB9E76"/>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9.66 </a:t>
                      </a:r>
                    </a:p>
                  </a:txBody>
                  <a:tcPr marL="36000" marR="36000" marT="0" marB="0" anchor="ctr">
                    <a:lnL>
                      <a:noFill/>
                    </a:lnL>
                    <a:lnR>
                      <a:noFill/>
                    </a:lnR>
                    <a:lnT>
                      <a:noFill/>
                    </a:lnT>
                    <a:lnB>
                      <a:noFill/>
                    </a:lnB>
                    <a:solidFill>
                      <a:srgbClr val="F9716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9.78 </a:t>
                      </a:r>
                    </a:p>
                  </a:txBody>
                  <a:tcPr marL="36000" marR="36000" marT="0" marB="0" anchor="ctr">
                    <a:lnL>
                      <a:noFill/>
                    </a:lnL>
                    <a:lnR>
                      <a:noFill/>
                    </a:lnR>
                    <a:lnT>
                      <a:noFill/>
                    </a:lnT>
                    <a:lnB>
                      <a:noFill/>
                    </a:lnB>
                    <a:solidFill>
                      <a:srgbClr val="F96E6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9.75 </a:t>
                      </a:r>
                    </a:p>
                  </a:txBody>
                  <a:tcPr marL="36000" marR="36000" marT="0" marB="0" anchor="ctr">
                    <a:lnL>
                      <a:noFill/>
                    </a:lnL>
                    <a:lnR>
                      <a:noFill/>
                    </a:lnR>
                    <a:lnT>
                      <a:noFill/>
                    </a:lnT>
                    <a:lnB>
                      <a:noFill/>
                    </a:lnB>
                    <a:solidFill>
                      <a:srgbClr val="F96F6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8.76 </a:t>
                      </a:r>
                    </a:p>
                  </a:txBody>
                  <a:tcPr marL="36000" marR="36000" marT="0" marB="0" anchor="ctr">
                    <a:lnL>
                      <a:noFill/>
                    </a:lnL>
                    <a:lnR>
                      <a:noFill/>
                    </a:lnR>
                    <a:lnT>
                      <a:noFill/>
                    </a:lnT>
                    <a:lnB>
                      <a:noFill/>
                    </a:lnB>
                    <a:solidFill>
                      <a:srgbClr val="FA837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8.19 </a:t>
                      </a:r>
                    </a:p>
                  </a:txBody>
                  <a:tcPr marL="36000" marR="36000" marT="0" marB="0" anchor="ctr">
                    <a:lnL>
                      <a:noFill/>
                    </a:lnL>
                    <a:lnR>
                      <a:noFill/>
                    </a:lnR>
                    <a:lnT>
                      <a:noFill/>
                    </a:lnT>
                    <a:lnB>
                      <a:noFill/>
                    </a:lnB>
                    <a:solidFill>
                      <a:srgbClr val="FB8F7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5.50 </a:t>
                      </a:r>
                    </a:p>
                  </a:txBody>
                  <a:tcPr marL="36000" marR="36000" marT="0" marB="0" anchor="ctr">
                    <a:lnL>
                      <a:noFill/>
                    </a:lnL>
                    <a:lnR>
                      <a:noFill/>
                    </a:lnR>
                    <a:lnT>
                      <a:noFill/>
                    </a:lnT>
                    <a:lnB>
                      <a:noFill/>
                    </a:lnB>
                    <a:solidFill>
                      <a:srgbClr val="FDC67D"/>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3.31 </a:t>
                      </a:r>
                    </a:p>
                  </a:txBody>
                  <a:tcPr marL="36000" marR="36000" marT="0" marB="0" anchor="ctr">
                    <a:lnL>
                      <a:noFill/>
                    </a:lnL>
                    <a:lnR>
                      <a:noFill/>
                    </a:lnR>
                    <a:lnT>
                      <a:noFill/>
                    </a:lnT>
                    <a:lnB>
                      <a:noFill/>
                    </a:lnB>
                    <a:solidFill>
                      <a:srgbClr val="E0E2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3.14 </a:t>
                      </a:r>
                    </a:p>
                  </a:txBody>
                  <a:tcPr marL="36000" marR="36000" marT="0" marB="0" anchor="ctr">
                    <a:lnL>
                      <a:noFill/>
                    </a:lnL>
                    <a:lnR>
                      <a:noFill/>
                    </a:lnR>
                    <a:lnT>
                      <a:noFill/>
                    </a:lnT>
                    <a:lnB>
                      <a:noFill/>
                    </a:lnB>
                    <a:solidFill>
                      <a:srgbClr val="D1DD81"/>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3.51 </a:t>
                      </a:r>
                    </a:p>
                  </a:txBody>
                  <a:tcPr marL="36000" marR="36000" marT="0" marB="0" anchor="ctr">
                    <a:lnL>
                      <a:noFill/>
                    </a:lnL>
                    <a:lnR>
                      <a:noFill/>
                    </a:lnR>
                    <a:lnT>
                      <a:noFill/>
                    </a:lnT>
                    <a:lnB>
                      <a:noFill/>
                    </a:lnB>
                    <a:solidFill>
                      <a:srgbClr val="F1E78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3.77 </a:t>
                      </a:r>
                    </a:p>
                  </a:txBody>
                  <a:tcPr marL="36000" marR="36000" marT="0" marB="0" anchor="ctr">
                    <a:lnL>
                      <a:noFill/>
                    </a:lnL>
                    <a:lnR>
                      <a:noFill/>
                    </a:lnR>
                    <a:lnT>
                      <a:noFill/>
                    </a:lnT>
                    <a:lnB>
                      <a:noFill/>
                    </a:lnB>
                    <a:solidFill>
                      <a:srgbClr val="FFE984"/>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5.56 </a:t>
                      </a:r>
                    </a:p>
                  </a:txBody>
                  <a:tcPr marL="36000" marR="36000" marT="0" marB="0" anchor="ctr">
                    <a:lnL>
                      <a:noFill/>
                    </a:lnL>
                    <a:lnR>
                      <a:noFill/>
                    </a:lnR>
                    <a:lnT>
                      <a:noFill/>
                    </a:lnT>
                    <a:lnB>
                      <a:noFill/>
                    </a:lnB>
                    <a:solidFill>
                      <a:srgbClr val="FDC57D"/>
                    </a:solidFill>
                  </a:tcPr>
                </a:tc>
                <a:extLst>
                  <a:ext uri="{0D108BD9-81ED-4DB2-BD59-A6C34878D82A}">
                    <a16:rowId xmlns:a16="http://schemas.microsoft.com/office/drawing/2014/main" val="1385843333"/>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23</a:t>
                      </a:r>
                    </a:p>
                  </a:txBody>
                  <a:tcPr marL="36000" marR="36000" marT="0" marB="0" anchor="ctr">
                    <a:lnL>
                      <a:noFill/>
                    </a:lnL>
                    <a:lnR>
                      <a:noFill/>
                    </a:lnR>
                    <a:lnT>
                      <a:noFill/>
                    </a:lnT>
                    <a:lnB>
                      <a:noFill/>
                    </a:lnB>
                    <a:solidFill>
                      <a:srgbClr val="62B5E5"/>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8.10 </a:t>
                      </a:r>
                    </a:p>
                  </a:txBody>
                  <a:tcPr marL="36000" marR="36000" marT="0" marB="0" anchor="ctr">
                    <a:lnL>
                      <a:noFill/>
                    </a:lnL>
                    <a:lnR>
                      <a:noFill/>
                    </a:lnR>
                    <a:lnT>
                      <a:noFill/>
                    </a:lnT>
                    <a:lnB>
                      <a:noFill/>
                    </a:lnB>
                    <a:solidFill>
                      <a:srgbClr val="FB9173"/>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9.83 </a:t>
                      </a:r>
                    </a:p>
                  </a:txBody>
                  <a:tcPr marL="36000" marR="36000" marT="0" marB="0" anchor="ctr">
                    <a:lnL>
                      <a:noFill/>
                    </a:lnL>
                    <a:lnR>
                      <a:noFill/>
                    </a:lnR>
                    <a:lnT>
                      <a:noFill/>
                    </a:lnT>
                    <a:lnB>
                      <a:noFill/>
                    </a:lnB>
                    <a:solidFill>
                      <a:srgbClr val="F96D6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9.96 </a:t>
                      </a:r>
                    </a:p>
                  </a:txBody>
                  <a:tcPr marL="36000" marR="36000" marT="0" marB="0" anchor="ctr">
                    <a:lnL>
                      <a:noFill/>
                    </a:lnL>
                    <a:lnR>
                      <a:noFill/>
                    </a:lnR>
                    <a:lnT>
                      <a:noFill/>
                    </a:lnT>
                    <a:lnB>
                      <a:noFill/>
                    </a:lnB>
                    <a:solidFill>
                      <a:srgbClr val="F96A6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9.85 </a:t>
                      </a:r>
                    </a:p>
                  </a:txBody>
                  <a:tcPr marL="36000" marR="36000" marT="0" marB="0" anchor="ctr">
                    <a:lnL>
                      <a:noFill/>
                    </a:lnL>
                    <a:lnR>
                      <a:noFill/>
                    </a:lnR>
                    <a:lnT>
                      <a:noFill/>
                    </a:lnT>
                    <a:lnB>
                      <a:noFill/>
                    </a:lnB>
                    <a:solidFill>
                      <a:srgbClr val="F96D6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8.39 </a:t>
                      </a:r>
                    </a:p>
                  </a:txBody>
                  <a:tcPr marL="36000" marR="36000" marT="0" marB="0" anchor="ctr">
                    <a:lnL>
                      <a:noFill/>
                    </a:lnL>
                    <a:lnR>
                      <a:noFill/>
                    </a:lnR>
                    <a:lnT>
                      <a:noFill/>
                    </a:lnT>
                    <a:lnB>
                      <a:noFill/>
                    </a:lnB>
                    <a:solidFill>
                      <a:srgbClr val="FA8B7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7.27 </a:t>
                      </a:r>
                    </a:p>
                  </a:txBody>
                  <a:tcPr marL="36000" marR="36000" marT="0" marB="0" anchor="ctr">
                    <a:lnL>
                      <a:noFill/>
                    </a:lnL>
                    <a:lnR>
                      <a:noFill/>
                    </a:lnR>
                    <a:lnT>
                      <a:noFill/>
                    </a:lnT>
                    <a:lnB>
                      <a:noFill/>
                    </a:lnB>
                    <a:solidFill>
                      <a:srgbClr val="FCA276"/>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5.34 </a:t>
                      </a:r>
                    </a:p>
                  </a:txBody>
                  <a:tcPr marL="36000" marR="36000" marT="0" marB="0" anchor="ctr">
                    <a:lnL>
                      <a:noFill/>
                    </a:lnL>
                    <a:lnR>
                      <a:noFill/>
                    </a:lnR>
                    <a:lnT>
                      <a:noFill/>
                    </a:lnT>
                    <a:lnB>
                      <a:noFill/>
                    </a:lnB>
                    <a:solidFill>
                      <a:srgbClr val="FEC9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3.03 </a:t>
                      </a:r>
                    </a:p>
                  </a:txBody>
                  <a:tcPr marL="36000" marR="36000" marT="0" marB="0" anchor="ctr">
                    <a:lnL>
                      <a:noFill/>
                    </a:lnL>
                    <a:lnR>
                      <a:noFill/>
                    </a:lnR>
                    <a:lnT>
                      <a:noFill/>
                    </a:lnT>
                    <a:lnB>
                      <a:noFill/>
                    </a:lnB>
                    <a:solidFill>
                      <a:srgbClr val="C8DB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2.72 </a:t>
                      </a:r>
                    </a:p>
                  </a:txBody>
                  <a:tcPr marL="36000" marR="36000" marT="0" marB="0" anchor="ctr">
                    <a:lnL>
                      <a:noFill/>
                    </a:lnL>
                    <a:lnR>
                      <a:noFill/>
                    </a:lnR>
                    <a:lnT>
                      <a:noFill/>
                    </a:lnT>
                    <a:lnB>
                      <a:noFill/>
                    </a:lnB>
                    <a:solidFill>
                      <a:srgbClr val="ADD3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3.00 </a:t>
                      </a:r>
                    </a:p>
                  </a:txBody>
                  <a:tcPr marL="36000" marR="36000" marT="0" marB="0" anchor="ctr">
                    <a:lnL>
                      <a:noFill/>
                    </a:lnL>
                    <a:lnR>
                      <a:noFill/>
                    </a:lnR>
                    <a:lnT>
                      <a:noFill/>
                    </a:lnT>
                    <a:lnB>
                      <a:noFill/>
                    </a:lnB>
                    <a:solidFill>
                      <a:srgbClr val="C5DA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3.36 </a:t>
                      </a:r>
                    </a:p>
                  </a:txBody>
                  <a:tcPr marL="36000" marR="36000" marT="0" marB="0" anchor="ctr">
                    <a:lnL>
                      <a:noFill/>
                    </a:lnL>
                    <a:lnR>
                      <a:noFill/>
                    </a:lnR>
                    <a:lnT>
                      <a:noFill/>
                    </a:lnT>
                    <a:lnB>
                      <a:noFill/>
                    </a:lnB>
                    <a:solidFill>
                      <a:srgbClr val="E4E382"/>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5.68 </a:t>
                      </a:r>
                    </a:p>
                  </a:txBody>
                  <a:tcPr marL="36000" marR="36000" marT="0" marB="0" anchor="ctr">
                    <a:lnL>
                      <a:noFill/>
                    </a:lnL>
                    <a:lnR>
                      <a:noFill/>
                    </a:lnR>
                    <a:lnT>
                      <a:noFill/>
                    </a:lnT>
                    <a:lnB>
                      <a:noFill/>
                    </a:lnB>
                    <a:solidFill>
                      <a:srgbClr val="FDC27D"/>
                    </a:solidFill>
                  </a:tcPr>
                </a:tc>
                <a:extLst>
                  <a:ext uri="{0D108BD9-81ED-4DB2-BD59-A6C34878D82A}">
                    <a16:rowId xmlns:a16="http://schemas.microsoft.com/office/drawing/2014/main" val="3273233626"/>
                  </a:ext>
                </a:extLst>
              </a:tr>
              <a:tr h="51733">
                <a:tc>
                  <a:txBody>
                    <a:bodyPr/>
                    <a:lstStyle/>
                    <a:p>
                      <a:pPr algn="ctr" fontAlgn="ctr"/>
                      <a:r>
                        <a:rPr lang="en-IN" sz="1200" b="1" i="0" u="none" strike="noStrike">
                          <a:solidFill>
                            <a:schemeClr val="bg1"/>
                          </a:solidFill>
                          <a:effectLst/>
                          <a:latin typeface="Arial" panose="020B0604020202020204" pitchFamily="34" charset="0"/>
                          <a:cs typeface="Arial" panose="020B0604020202020204" pitchFamily="34" charset="0"/>
                        </a:rPr>
                        <a:t>24</a:t>
                      </a:r>
                    </a:p>
                  </a:txBody>
                  <a:tcPr marL="36000" marR="36000" marT="0" marB="0" anchor="ctr">
                    <a:lnL>
                      <a:noFill/>
                    </a:lnL>
                    <a:lnR>
                      <a:noFill/>
                    </a:lnR>
                    <a:lnT>
                      <a:noFill/>
                    </a:lnT>
                    <a:lnB>
                      <a:noFill/>
                    </a:lnB>
                    <a:solidFill>
                      <a:srgbClr val="62B5E5"/>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8.84 </a:t>
                      </a:r>
                    </a:p>
                  </a:txBody>
                  <a:tcPr marL="36000" marR="36000" marT="0" marB="0" anchor="ctr">
                    <a:lnL>
                      <a:noFill/>
                    </a:lnL>
                    <a:lnR>
                      <a:noFill/>
                    </a:lnR>
                    <a:lnT>
                      <a:noFill/>
                    </a:lnT>
                    <a:lnB>
                      <a:noFill/>
                    </a:lnB>
                    <a:solidFill>
                      <a:srgbClr val="FA817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9.83 </a:t>
                      </a:r>
                    </a:p>
                  </a:txBody>
                  <a:tcPr marL="36000" marR="36000" marT="0" marB="0" anchor="ctr">
                    <a:lnL>
                      <a:noFill/>
                    </a:lnL>
                    <a:lnR>
                      <a:noFill/>
                    </a:lnR>
                    <a:lnT>
                      <a:noFill/>
                    </a:lnT>
                    <a:lnB>
                      <a:noFill/>
                    </a:lnB>
                    <a:solidFill>
                      <a:srgbClr val="F96D6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 10.00 </a:t>
                      </a:r>
                    </a:p>
                  </a:txBody>
                  <a:tcPr marL="36000" marR="36000" marT="0" marB="0" anchor="ctr">
                    <a:lnL>
                      <a:noFill/>
                    </a:lnL>
                    <a:lnR>
                      <a:noFill/>
                    </a:lnR>
                    <a:lnT>
                      <a:noFill/>
                    </a:lnT>
                    <a:lnB>
                      <a:noFill/>
                    </a:lnB>
                    <a:solidFill>
                      <a:srgbClr val="F8696B"/>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9.79 </a:t>
                      </a:r>
                    </a:p>
                  </a:txBody>
                  <a:tcPr marL="36000" marR="36000" marT="0" marB="0" anchor="ctr">
                    <a:lnL>
                      <a:noFill/>
                    </a:lnL>
                    <a:lnR>
                      <a:noFill/>
                    </a:lnR>
                    <a:lnT>
                      <a:noFill/>
                    </a:lnT>
                    <a:lnB>
                      <a:noFill/>
                    </a:lnB>
                    <a:solidFill>
                      <a:srgbClr val="F96E6C"/>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7.67 </a:t>
                      </a:r>
                    </a:p>
                  </a:txBody>
                  <a:tcPr marL="36000" marR="36000" marT="0" marB="0" anchor="ctr">
                    <a:lnL>
                      <a:noFill/>
                    </a:lnL>
                    <a:lnR>
                      <a:noFill/>
                    </a:lnR>
                    <a:lnT>
                      <a:noFill/>
                    </a:lnT>
                    <a:lnB>
                      <a:noFill/>
                    </a:lnB>
                    <a:solidFill>
                      <a:srgbClr val="FB9975"/>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6.88 </a:t>
                      </a:r>
                    </a:p>
                  </a:txBody>
                  <a:tcPr marL="36000" marR="36000" marT="0" marB="0" anchor="ctr">
                    <a:lnL>
                      <a:noFill/>
                    </a:lnL>
                    <a:lnR>
                      <a:noFill/>
                    </a:lnR>
                    <a:lnT>
                      <a:noFill/>
                    </a:lnT>
                    <a:lnB>
                      <a:noFill/>
                    </a:lnB>
                    <a:solidFill>
                      <a:srgbClr val="FCAA78"/>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5.28 </a:t>
                      </a:r>
                    </a:p>
                  </a:txBody>
                  <a:tcPr marL="36000" marR="36000" marT="0" marB="0" anchor="ctr">
                    <a:lnL>
                      <a:noFill/>
                    </a:lnL>
                    <a:lnR>
                      <a:noFill/>
                    </a:lnR>
                    <a:lnT>
                      <a:noFill/>
                    </a:lnT>
                    <a:lnB>
                      <a:noFill/>
                    </a:lnB>
                    <a:solidFill>
                      <a:srgbClr val="FECA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2.86 </a:t>
                      </a:r>
                    </a:p>
                  </a:txBody>
                  <a:tcPr marL="36000" marR="36000" marT="0" marB="0" anchor="ctr">
                    <a:lnL>
                      <a:noFill/>
                    </a:lnL>
                    <a:lnR>
                      <a:noFill/>
                    </a:lnR>
                    <a:lnT>
                      <a:noFill/>
                    </a:lnT>
                    <a:lnB>
                      <a:noFill/>
                    </a:lnB>
                    <a:solidFill>
                      <a:srgbClr val="BAD7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2.61 </a:t>
                      </a:r>
                    </a:p>
                  </a:txBody>
                  <a:tcPr marL="36000" marR="36000" marT="0" marB="0" anchor="ctr">
                    <a:lnL>
                      <a:noFill/>
                    </a:lnL>
                    <a:lnR>
                      <a:noFill/>
                    </a:lnR>
                    <a:lnT>
                      <a:noFill/>
                    </a:lnT>
                    <a:lnB>
                      <a:noFill/>
                    </a:lnB>
                    <a:solidFill>
                      <a:srgbClr val="A4D07E"/>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2.78 </a:t>
                      </a:r>
                    </a:p>
                  </a:txBody>
                  <a:tcPr marL="36000" marR="36000" marT="0" marB="0" anchor="ctr">
                    <a:lnL>
                      <a:noFill/>
                    </a:lnL>
                    <a:lnR>
                      <a:noFill/>
                    </a:lnR>
                    <a:lnT>
                      <a:noFill/>
                    </a:lnT>
                    <a:lnB>
                      <a:noFill/>
                    </a:lnB>
                    <a:solidFill>
                      <a:srgbClr val="B2D47F"/>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3.04 </a:t>
                      </a:r>
                    </a:p>
                  </a:txBody>
                  <a:tcPr marL="36000" marR="36000" marT="0" marB="0" anchor="ctr">
                    <a:lnL>
                      <a:noFill/>
                    </a:lnL>
                    <a:lnR>
                      <a:noFill/>
                    </a:lnR>
                    <a:lnT>
                      <a:noFill/>
                    </a:lnT>
                    <a:lnB>
                      <a:noFill/>
                    </a:lnB>
                    <a:solidFill>
                      <a:srgbClr val="C8DB80"/>
                    </a:solidFill>
                  </a:tcPr>
                </a:tc>
                <a:tc>
                  <a:txBody>
                    <a:bodyPr/>
                    <a:lstStyle/>
                    <a:p>
                      <a:pPr algn="l" fontAlgn="ctr"/>
                      <a:r>
                        <a:rPr lang="en-IN" sz="1200" b="0" i="0" u="none" strike="noStrike">
                          <a:solidFill>
                            <a:srgbClr val="000000"/>
                          </a:solidFill>
                          <a:effectLst/>
                          <a:latin typeface="Arial" panose="020B0604020202020204" pitchFamily="34" charset="0"/>
                          <a:cs typeface="Arial" panose="020B0604020202020204" pitchFamily="34" charset="0"/>
                        </a:rPr>
                        <a:t>5.13 </a:t>
                      </a:r>
                    </a:p>
                  </a:txBody>
                  <a:tcPr marL="36000" marR="36000" marT="0" marB="0" anchor="ctr">
                    <a:lnL>
                      <a:noFill/>
                    </a:lnL>
                    <a:lnR>
                      <a:noFill/>
                    </a:lnR>
                    <a:lnT>
                      <a:noFill/>
                    </a:lnT>
                    <a:lnB>
                      <a:noFill/>
                    </a:lnB>
                    <a:solidFill>
                      <a:srgbClr val="FECD7F"/>
                    </a:solidFill>
                  </a:tcPr>
                </a:tc>
                <a:extLst>
                  <a:ext uri="{0D108BD9-81ED-4DB2-BD59-A6C34878D82A}">
                    <a16:rowId xmlns:a16="http://schemas.microsoft.com/office/drawing/2014/main" val="1037655472"/>
                  </a:ext>
                </a:extLst>
              </a:tr>
            </a:tbl>
          </a:graphicData>
        </a:graphic>
      </p:graphicFrame>
    </p:spTree>
    <p:extLst>
      <p:ext uri="{BB962C8B-B14F-4D97-AF65-F5344CB8AC3E}">
        <p14:creationId xmlns:p14="http://schemas.microsoft.com/office/powerpoint/2010/main" val="3149160645"/>
      </p:ext>
    </p:extLst>
  </p:cSld>
  <p:clrMapOvr>
    <a:masterClrMapping/>
  </p:clrMapOvr>
  <p:transition>
    <p:fade/>
  </p:transition>
</p:sld>
</file>

<file path=ppt/slides/slide88.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1750064970"/>
              </p:ext>
            </p:extLst>
          </p:nvPr>
        </p:nvGraphicFramePr>
        <p:xfrm>
          <a:off x="1673719" y="2761586"/>
          <a:ext cx="9206802" cy="1334828"/>
        </p:xfrm>
        <a:graphic>
          <a:graphicData uri="http://schemas.openxmlformats.org/drawingml/2006/table">
            <a:tbl>
              <a:tblPr firstRow="1" bandRow="1">
                <a:tableStyleId>{5C22544A-7EE6-4342-B048-85BDC9FD1C3A}</a:tableStyleId>
              </a:tblPr>
              <a:tblGrid>
                <a:gridCol w="2923681">
                  <a:extLst>
                    <a:ext uri="{9D8B030D-6E8A-4147-A177-3AD203B41FA5}">
                      <a16:colId xmlns:a16="http://schemas.microsoft.com/office/drawing/2014/main" val="2744717436"/>
                    </a:ext>
                  </a:extLst>
                </a:gridCol>
                <a:gridCol w="6283121">
                  <a:extLst>
                    <a:ext uri="{9D8B030D-6E8A-4147-A177-3AD203B41FA5}">
                      <a16:colId xmlns:a16="http://schemas.microsoft.com/office/drawing/2014/main" val="570884867"/>
                    </a:ext>
                  </a:extLst>
                </a:gridCol>
              </a:tblGrid>
              <a:tr h="1334828">
                <a:tc>
                  <a:txBody>
                    <a:bodyPr/>
                    <a:lstStyle/>
                    <a:p>
                      <a:r>
                        <a:rPr lang="en-US" sz="3600">
                          <a:latin typeface="Arial" panose="020B0604020202020204" pitchFamily="34" charset="0"/>
                          <a:cs typeface="Arial" panose="020B0604020202020204" pitchFamily="34" charset="0"/>
                        </a:rPr>
                        <a:t>4.5</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r>
                        <a:rPr lang="en-US" sz="2400" b="1" kern="0">
                          <a:solidFill>
                            <a:schemeClr val="lt1"/>
                          </a:solidFill>
                          <a:latin typeface="Arial" panose="020B0604020202020204" pitchFamily="34" charset="0"/>
                          <a:ea typeface="+mn-ea"/>
                          <a:cs typeface="Arial" panose="020B0604020202020204" pitchFamily="34" charset="0"/>
                        </a:rPr>
                        <a:t>PAYMENT SECURITY MECHANISM AND KEY ASSOCIATED RISKS</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2478806443"/>
      </p:ext>
    </p:extLst>
  </p:cSld>
  <p:clrMapOvr>
    <a:masterClrMapping/>
  </p:clrMapOvr>
  <p:transition>
    <p:fade/>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534522591"/>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defTabSz="914400">
              <a:spcBef>
                <a:spcPts val="488"/>
              </a:spcBef>
              <a:buSzPct val="100000"/>
            </a:pPr>
            <a:r>
              <a:rPr lang="en-US" sz="2000" b="1">
                <a:latin typeface="Arial" panose="020B0604020202020204" pitchFamily="34" charset="0"/>
                <a:cs typeface="Arial" panose="020B0604020202020204" pitchFamily="34" charset="0"/>
              </a:rPr>
              <a:t>Payment risk management in power exchanges</a:t>
            </a:r>
            <a:br>
              <a:rPr lang="en-US" sz="2000" b="1">
                <a:latin typeface="Arial" panose="020B0604020202020204" pitchFamily="34" charset="0"/>
                <a:cs typeface="Arial" panose="020B0604020202020204" pitchFamily="34" charset="0"/>
              </a:rPr>
            </a:b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Key reason for rising short-term transactions is a well-established payment security mechanism, requiring off-takers to maintain a minimum margin</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Sources: </a:t>
            </a:r>
            <a:r>
              <a:rPr kumimoji="0" lang="en-US" sz="1050" u="none" strike="noStrike" kern="0" cap="none" spc="0" normalizeH="0" baseline="0" noProof="0">
                <a:ln>
                  <a:noFill/>
                </a:ln>
                <a:effectLst/>
                <a:uLnTx/>
                <a:uFillTx/>
                <a:latin typeface="Arial" panose="020B0604020202020204" pitchFamily="34" charset="0"/>
                <a:cs typeface="Arial" panose="020B0604020202020204" pitchFamily="34" charset="0"/>
              </a:rPr>
              <a:t>CERC,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graphicFrame>
        <p:nvGraphicFramePr>
          <p:cNvPr id="13" name="Table 5">
            <a:extLst>
              <a:ext uri="{FF2B5EF4-FFF2-40B4-BE49-F238E27FC236}">
                <a16:creationId xmlns:a16="http://schemas.microsoft.com/office/drawing/2014/main" id="{D5B4E762-0509-6D9C-E515-95ED9556BDD8}"/>
              </a:ext>
            </a:extLst>
          </p:cNvPr>
          <p:cNvGraphicFramePr>
            <a:graphicFrameLocks noGrp="1"/>
          </p:cNvGraphicFramePr>
          <p:nvPr>
            <p:extLst>
              <p:ext uri="{D42A27DB-BD31-4B8C-83A1-F6EECF244321}">
                <p14:modId xmlns:p14="http://schemas.microsoft.com/office/powerpoint/2010/main" val="2650599451"/>
              </p:ext>
            </p:extLst>
          </p:nvPr>
        </p:nvGraphicFramePr>
        <p:xfrm>
          <a:off x="6096000" y="1676400"/>
          <a:ext cx="5594214" cy="4314423"/>
        </p:xfrm>
        <a:graphic>
          <a:graphicData uri="http://schemas.openxmlformats.org/drawingml/2006/table">
            <a:tbl>
              <a:tblPr firstRow="1" bandRow="1">
                <a:tableStyleId>{21E4AEA4-8DFA-4A89-87EB-49C32662AFE0}</a:tableStyleId>
              </a:tblPr>
              <a:tblGrid>
                <a:gridCol w="1578222">
                  <a:extLst>
                    <a:ext uri="{9D8B030D-6E8A-4147-A177-3AD203B41FA5}">
                      <a16:colId xmlns:a16="http://schemas.microsoft.com/office/drawing/2014/main" val="868888649"/>
                    </a:ext>
                  </a:extLst>
                </a:gridCol>
                <a:gridCol w="2007996">
                  <a:extLst>
                    <a:ext uri="{9D8B030D-6E8A-4147-A177-3AD203B41FA5}">
                      <a16:colId xmlns:a16="http://schemas.microsoft.com/office/drawing/2014/main" val="2407240098"/>
                    </a:ext>
                  </a:extLst>
                </a:gridCol>
                <a:gridCol w="2007996">
                  <a:extLst>
                    <a:ext uri="{9D8B030D-6E8A-4147-A177-3AD203B41FA5}">
                      <a16:colId xmlns:a16="http://schemas.microsoft.com/office/drawing/2014/main" val="1229724580"/>
                    </a:ext>
                  </a:extLst>
                </a:gridCol>
              </a:tblGrid>
              <a:tr h="365276">
                <a:tc row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Contract type</a:t>
                      </a:r>
                    </a:p>
                    <a:p>
                      <a:pPr algn="ctr"/>
                      <a:endParaRPr lang="en-US" sz="1200">
                        <a:latin typeface="Arial" panose="020B0604020202020204" pitchFamily="34" charset="0"/>
                        <a:cs typeface="Arial" panose="020B0604020202020204" pitchFamily="34" charset="0"/>
                      </a:endParaRPr>
                    </a:p>
                  </a:txBody>
                  <a:tcPr marL="74295" marR="74295" marT="37148" marB="37148" anchor="ctr">
                    <a:lnL w="6350" cap="flat" cmpd="sng" algn="ctr">
                      <a:solidFill>
                        <a:schemeClr val="accent4"/>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solidFill>
                      <a:srgbClr val="046A38"/>
                    </a:solidFill>
                  </a:tcPr>
                </a:tc>
                <a:tc gridSpan="2">
                  <a:txBody>
                    <a:bodyPr/>
                    <a:lstStyle/>
                    <a:p>
                      <a:pPr algn="ctr"/>
                      <a:r>
                        <a:rPr lang="en-US" sz="1200">
                          <a:latin typeface="Arial" panose="020B0604020202020204" pitchFamily="34" charset="0"/>
                          <a:cs typeface="Arial" panose="020B0604020202020204" pitchFamily="34" charset="0"/>
                        </a:rPr>
                        <a:t>Trading licensee members</a:t>
                      </a:r>
                    </a:p>
                  </a:txBody>
                  <a:tcPr marL="74295" marR="74295" marT="37148" marB="37148" anchor="ctr">
                    <a:lnL w="6350" cap="flat" cmpd="sng" algn="ctr">
                      <a:solidFill>
                        <a:schemeClr val="bg1"/>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046A38"/>
                    </a:solidFill>
                  </a:tcPr>
                </a:tc>
                <a:tc hMerge="1">
                  <a:txBody>
                    <a:bodyPr/>
                    <a:lstStyle/>
                    <a:p>
                      <a:endParaRPr lang="en-US"/>
                    </a:p>
                  </a:txBody>
                  <a:tcPr/>
                </a:tc>
                <a:extLst>
                  <a:ext uri="{0D108BD9-81ED-4DB2-BD59-A6C34878D82A}">
                    <a16:rowId xmlns:a16="http://schemas.microsoft.com/office/drawing/2014/main" val="325127101"/>
                  </a:ext>
                </a:extLst>
              </a:tr>
              <a:tr h="365276">
                <a:tc vMerge="1">
                  <a:txBody>
                    <a:bodyPr/>
                    <a:lstStyle/>
                    <a:p>
                      <a:endParaRPr lang="en-US" sz="1100">
                        <a:latin typeface="Calibri" panose="020F0502020204030204" pitchFamily="34" charset="0"/>
                        <a:cs typeface="Calibri" panose="020F0502020204030204" pitchFamily="34" charset="0"/>
                      </a:endParaRPr>
                    </a:p>
                  </a:txBody>
                  <a:tcPr/>
                </a:tc>
                <a:tc>
                  <a:txBody>
                    <a:bodyPr/>
                    <a:lstStyle/>
                    <a:p>
                      <a:pPr algn="ctr"/>
                      <a:r>
                        <a:rPr lang="en-US" sz="1200" b="1">
                          <a:solidFill>
                            <a:schemeClr val="bg1"/>
                          </a:solidFill>
                          <a:latin typeface="Arial" panose="020B0604020202020204" pitchFamily="34" charset="0"/>
                          <a:cs typeface="Arial" panose="020B0604020202020204" pitchFamily="34" charset="0"/>
                        </a:rPr>
                        <a:t>Initial margin</a:t>
                      </a:r>
                    </a:p>
                  </a:txBody>
                  <a:tcPr marL="74295" marR="74295" marT="37148" marB="37148"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4"/>
                      </a:solidFill>
                      <a:prstDash val="solid"/>
                      <a:round/>
                      <a:headEnd type="none" w="med" len="med"/>
                      <a:tailEnd type="none" w="med" len="med"/>
                    </a:lnB>
                    <a:solidFill>
                      <a:srgbClr val="046A38"/>
                    </a:solidFill>
                  </a:tcPr>
                </a:tc>
                <a:tc>
                  <a:txBody>
                    <a:bodyPr/>
                    <a:lstStyle/>
                    <a:p>
                      <a:pPr algn="ctr"/>
                      <a:r>
                        <a:rPr lang="en-US" sz="1200" b="1">
                          <a:solidFill>
                            <a:schemeClr val="bg1"/>
                          </a:solidFill>
                          <a:latin typeface="Arial" panose="020B0604020202020204" pitchFamily="34" charset="0"/>
                          <a:cs typeface="Arial" panose="020B0604020202020204" pitchFamily="34" charset="0"/>
                        </a:rPr>
                        <a:t>Basis/additional margin</a:t>
                      </a:r>
                    </a:p>
                  </a:txBody>
                  <a:tcPr marL="74295" marR="74295" marT="37148" marB="37148" anchor="ctr">
                    <a:lnL w="6350" cap="flat" cmpd="sng" algn="ctr">
                      <a:solidFill>
                        <a:schemeClr val="bg1"/>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4"/>
                      </a:solidFill>
                      <a:prstDash val="solid"/>
                      <a:round/>
                      <a:headEnd type="none" w="med" len="med"/>
                      <a:tailEnd type="none" w="med" len="med"/>
                    </a:lnB>
                    <a:solidFill>
                      <a:srgbClr val="046A38"/>
                    </a:solidFill>
                  </a:tcPr>
                </a:tc>
                <a:extLst>
                  <a:ext uri="{0D108BD9-81ED-4DB2-BD59-A6C34878D82A}">
                    <a16:rowId xmlns:a16="http://schemas.microsoft.com/office/drawing/2014/main" val="3791916925"/>
                  </a:ext>
                </a:extLst>
              </a:tr>
              <a:tr h="397776">
                <a:tc>
                  <a:txBody>
                    <a:bodyPr/>
                    <a:lstStyle/>
                    <a:p>
                      <a:pPr algn="ctr"/>
                      <a:r>
                        <a:rPr lang="en-US" sz="1200">
                          <a:latin typeface="Arial" panose="020B0604020202020204" pitchFamily="34" charset="0"/>
                          <a:cs typeface="Arial" panose="020B0604020202020204" pitchFamily="34" charset="0"/>
                        </a:rPr>
                        <a:t>I-DAM</a:t>
                      </a:r>
                    </a:p>
                  </a:txBody>
                  <a:tcPr marL="0" marR="0" marT="0" marB="0" anchor="ctr">
                    <a:lnL w="6350" cap="flat" cmpd="sng" algn="ctr">
                      <a:solidFill>
                        <a:schemeClr val="accent4"/>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200">
                          <a:latin typeface="Arial" panose="020B0604020202020204" pitchFamily="34" charset="0"/>
                          <a:cs typeface="Arial" panose="020B0604020202020204" pitchFamily="34" charset="0"/>
                        </a:rPr>
                        <a:t>Avg of last 7 days’ transaction value</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N/A</a:t>
                      </a:r>
                    </a:p>
                  </a:txBody>
                  <a:tcPr marL="0" marR="0" marT="0" marB="0" anchor="ctr">
                    <a:lnL w="6350" cap="flat" cmpd="sng" algn="ctr">
                      <a:no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3812216938"/>
                  </a:ext>
                </a:extLst>
              </a:tr>
              <a:tr h="365276">
                <a:tc>
                  <a:txBody>
                    <a:bodyPr/>
                    <a:lstStyle/>
                    <a:p>
                      <a:pPr algn="ctr"/>
                      <a:r>
                        <a:rPr lang="en-US" sz="1200">
                          <a:latin typeface="Arial" panose="020B0604020202020204" pitchFamily="34" charset="0"/>
                          <a:cs typeface="Arial" panose="020B0604020202020204" pitchFamily="34" charset="0"/>
                        </a:rPr>
                        <a:t>TAM Intraday</a:t>
                      </a:r>
                    </a:p>
                  </a:txBody>
                  <a:tcPr marL="0" marR="0" marT="0" marB="0" anchor="ctr">
                    <a:lnL w="6350" cap="flat" cmpd="sng" algn="ctr">
                      <a:solidFill>
                        <a:schemeClr val="accent4"/>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200">
                          <a:latin typeface="Arial" panose="020B0604020202020204" pitchFamily="34" charset="0"/>
                          <a:cs typeface="Arial" panose="020B0604020202020204" pitchFamily="34" charset="0"/>
                        </a:rPr>
                        <a:t>105% of order value</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200">
                          <a:latin typeface="Arial" panose="020B0604020202020204" pitchFamily="34" charset="0"/>
                          <a:cs typeface="Arial" panose="020B0604020202020204" pitchFamily="34" charset="0"/>
                        </a:rPr>
                        <a:t>N/A</a:t>
                      </a:r>
                    </a:p>
                  </a:txBody>
                  <a:tcPr marL="0" marR="0" marT="0" marB="0" anchor="ctr">
                    <a:lnL w="6350" cap="flat" cmpd="sng" algn="ctr">
                      <a:no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327238162"/>
                  </a:ext>
                </a:extLst>
              </a:tr>
              <a:tr h="397776">
                <a:tc>
                  <a:txBody>
                    <a:bodyPr/>
                    <a:lstStyle/>
                    <a:p>
                      <a:pPr algn="ctr"/>
                      <a:r>
                        <a:rPr lang="en-US" sz="1200">
                          <a:latin typeface="Arial" panose="020B0604020202020204" pitchFamily="34" charset="0"/>
                          <a:cs typeface="Arial" panose="020B0604020202020204" pitchFamily="34" charset="0"/>
                        </a:rPr>
                        <a:t>TAM/GTAM Day-ahead contingency</a:t>
                      </a:r>
                    </a:p>
                  </a:txBody>
                  <a:tcPr marL="0" marR="0" marT="0" marB="0" anchor="ctr">
                    <a:lnL w="6350" cap="flat" cmpd="sng" algn="ctr">
                      <a:solidFill>
                        <a:schemeClr val="accent4"/>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105% of order value</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N/A</a:t>
                      </a:r>
                    </a:p>
                  </a:txBody>
                  <a:tcPr marL="0" marR="0" marT="0" marB="0" anchor="ctr">
                    <a:lnL w="6350" cap="flat" cmpd="sng" algn="ctr">
                      <a:no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2904704359"/>
                  </a:ext>
                </a:extLst>
              </a:tr>
              <a:tr h="365276">
                <a:tc>
                  <a:txBody>
                    <a:bodyPr/>
                    <a:lstStyle/>
                    <a:p>
                      <a:pPr algn="ctr"/>
                      <a:r>
                        <a:rPr lang="en-US" sz="1200">
                          <a:latin typeface="Arial" panose="020B0604020202020204" pitchFamily="34" charset="0"/>
                          <a:cs typeface="Arial" panose="020B0604020202020204" pitchFamily="34" charset="0"/>
                        </a:rPr>
                        <a:t>TAM/GTAM Daily </a:t>
                      </a:r>
                    </a:p>
                  </a:txBody>
                  <a:tcPr marL="0" marR="0" marT="0" marB="0" anchor="ctr">
                    <a:lnL w="6350" cap="flat" cmpd="sng" algn="ctr">
                      <a:solidFill>
                        <a:schemeClr val="accent4"/>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5% of order value</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50% of trade value</a:t>
                      </a:r>
                    </a:p>
                  </a:txBody>
                  <a:tcPr marL="0" marR="0" marT="0" marB="0" anchor="ctr">
                    <a:lnL w="6350" cap="flat" cmpd="sng" algn="ctr">
                      <a:no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2347445825"/>
                  </a:ext>
                </a:extLst>
              </a:tr>
              <a:tr h="365276">
                <a:tc>
                  <a:txBody>
                    <a:bodyPr/>
                    <a:lstStyle/>
                    <a:p>
                      <a:pPr algn="ctr"/>
                      <a:r>
                        <a:rPr lang="en-US" sz="1200">
                          <a:latin typeface="Arial" panose="020B0604020202020204" pitchFamily="34" charset="0"/>
                          <a:cs typeface="Arial" panose="020B0604020202020204" pitchFamily="34" charset="0"/>
                        </a:rPr>
                        <a:t>TAM/GTAM weekly</a:t>
                      </a:r>
                    </a:p>
                  </a:txBody>
                  <a:tcPr marL="0" marR="0" marT="0" marB="0" anchor="ctr">
                    <a:lnL w="6350" cap="flat" cmpd="sng" algn="ctr">
                      <a:solidFill>
                        <a:schemeClr val="accent4"/>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5% of order value</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50% of trade value</a:t>
                      </a:r>
                    </a:p>
                  </a:txBody>
                  <a:tcPr marL="0" marR="0" marT="0" marB="0" anchor="ctr">
                    <a:lnL w="6350" cap="flat" cmpd="sng" algn="ctr">
                      <a:no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3672086758"/>
                  </a:ext>
                </a:extLst>
              </a:tr>
              <a:tr h="365276">
                <a:tc>
                  <a:txBody>
                    <a:bodyPr/>
                    <a:lstStyle/>
                    <a:p>
                      <a:pPr algn="ctr"/>
                      <a:r>
                        <a:rPr lang="en-US" sz="1200">
                          <a:latin typeface="Arial" panose="020B0604020202020204" pitchFamily="34" charset="0"/>
                          <a:cs typeface="Arial" panose="020B0604020202020204" pitchFamily="34" charset="0"/>
                        </a:rPr>
                        <a:t>TAM/GTAM monthly</a:t>
                      </a:r>
                    </a:p>
                  </a:txBody>
                  <a:tcPr marL="0" marR="0" marT="0" marB="0" anchor="ctr">
                    <a:lnL w="6350" cap="flat" cmpd="sng" algn="ctr">
                      <a:solidFill>
                        <a:schemeClr val="accent4"/>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1% of order value</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200">
                          <a:latin typeface="Arial" panose="020B0604020202020204" pitchFamily="34" charset="0"/>
                          <a:cs typeface="Arial" panose="020B0604020202020204" pitchFamily="34" charset="0"/>
                        </a:rPr>
                        <a:t>20% of trade value</a:t>
                      </a:r>
                    </a:p>
                  </a:txBody>
                  <a:tcPr marL="0" marR="0" marT="0" marB="0" anchor="ctr">
                    <a:lnL w="6350" cap="flat" cmpd="sng" algn="ctr">
                      <a:no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1607622826"/>
                  </a:ext>
                </a:extLst>
              </a:tr>
              <a:tr h="596663">
                <a:tc>
                  <a:txBody>
                    <a:bodyPr/>
                    <a:lstStyle/>
                    <a:p>
                      <a:pPr algn="ctr"/>
                      <a:r>
                        <a:rPr lang="en-US" sz="1200">
                          <a:latin typeface="Arial" panose="020B0604020202020204" pitchFamily="34" charset="0"/>
                          <a:cs typeface="Arial" panose="020B0604020202020204" pitchFamily="34" charset="0"/>
                        </a:rPr>
                        <a:t>Anyday single sided</a:t>
                      </a:r>
                    </a:p>
                  </a:txBody>
                  <a:tcPr marL="0" marR="0" marT="0" marB="0" anchor="ctr">
                    <a:lnL w="6350" cap="flat" cmpd="sng" algn="ctr">
                      <a:solidFill>
                        <a:schemeClr val="accent4"/>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200">
                          <a:latin typeface="Arial" panose="020B0604020202020204" pitchFamily="34" charset="0"/>
                          <a:cs typeface="Arial" panose="020B0604020202020204" pitchFamily="34" charset="0"/>
                        </a:rPr>
                        <a:t>Buyer: INR 100,000 </a:t>
                      </a:r>
                    </a:p>
                    <a:p>
                      <a:pPr algn="ctr"/>
                      <a:r>
                        <a:rPr lang="en-US" sz="1200">
                          <a:latin typeface="Arial" panose="020B0604020202020204" pitchFamily="34" charset="0"/>
                          <a:cs typeface="Arial" panose="020B0604020202020204" pitchFamily="34" charset="0"/>
                        </a:rPr>
                        <a:t>Seller: INR 30,000/MW/Month</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50% / 25% / 20% for contracts up to 7/ 15/ &gt;15 days</a:t>
                      </a:r>
                    </a:p>
                  </a:txBody>
                  <a:tcPr marL="0" marR="0" marT="0" marB="0" anchor="ctr">
                    <a:lnL w="6350" cap="flat" cmpd="sng" algn="ctr">
                      <a:no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2411942379"/>
                  </a:ext>
                </a:extLst>
              </a:tr>
              <a:tr h="365276">
                <a:tc>
                  <a:txBody>
                    <a:bodyPr/>
                    <a:lstStyle/>
                    <a:p>
                      <a:pPr algn="ctr"/>
                      <a:r>
                        <a:rPr lang="en-US" sz="1200">
                          <a:latin typeface="Arial" panose="020B0604020202020204" pitchFamily="34" charset="0"/>
                          <a:cs typeface="Arial" panose="020B0604020202020204" pitchFamily="34" charset="0"/>
                        </a:rPr>
                        <a:t>REC</a:t>
                      </a:r>
                    </a:p>
                  </a:txBody>
                  <a:tcPr marL="0" marR="0" marT="0" marB="0" anchor="ctr">
                    <a:lnL w="6350" cap="flat" cmpd="sng" algn="ctr">
                      <a:solidFill>
                        <a:schemeClr val="accent4"/>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200">
                          <a:latin typeface="Arial" panose="020B0604020202020204" pitchFamily="34" charset="0"/>
                          <a:cs typeface="Arial" panose="020B0604020202020204" pitchFamily="34" charset="0"/>
                        </a:rPr>
                        <a:t>100% of order value</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N/A</a:t>
                      </a:r>
                    </a:p>
                  </a:txBody>
                  <a:tcPr marL="0" marR="0" marT="0" marB="0" anchor="ctr">
                    <a:lnL w="6350" cap="flat" cmpd="sng" algn="ctr">
                      <a:no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742581839"/>
                  </a:ext>
                </a:extLst>
              </a:tr>
              <a:tr h="365276">
                <a:tc>
                  <a:txBody>
                    <a:bodyPr/>
                    <a:lstStyle/>
                    <a:p>
                      <a:pPr algn="ctr"/>
                      <a:r>
                        <a:rPr lang="en-US" sz="1200">
                          <a:latin typeface="Arial" panose="020B0604020202020204" pitchFamily="34" charset="0"/>
                          <a:cs typeface="Arial" panose="020B0604020202020204" pitchFamily="34" charset="0"/>
                        </a:rPr>
                        <a:t>ESCerts</a:t>
                      </a:r>
                    </a:p>
                  </a:txBody>
                  <a:tcPr marL="0" marR="0" marT="0" marB="0" anchor="ctr">
                    <a:lnL w="6350" cap="flat" cmpd="sng" algn="ctr">
                      <a:solidFill>
                        <a:schemeClr val="accent4"/>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200">
                          <a:latin typeface="Arial" panose="020B0604020202020204" pitchFamily="34" charset="0"/>
                          <a:cs typeface="Arial" panose="020B0604020202020204" pitchFamily="34" charset="0"/>
                        </a:rPr>
                        <a:t>100% of order value</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N/A</a:t>
                      </a:r>
                    </a:p>
                  </a:txBody>
                  <a:tcPr marL="0" marR="0" marT="0" marB="0" anchor="ctr">
                    <a:lnL w="6350" cap="flat" cmpd="sng" algn="ctr">
                      <a:no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3558515487"/>
                  </a:ext>
                </a:extLst>
              </a:tr>
            </a:tbl>
          </a:graphicData>
        </a:graphic>
      </p:graphicFrame>
      <p:sp>
        <p:nvSpPr>
          <p:cNvPr id="15" name="Rectangle 14">
            <a:extLst>
              <a:ext uri="{FF2B5EF4-FFF2-40B4-BE49-F238E27FC236}">
                <a16:creationId xmlns:a16="http://schemas.microsoft.com/office/drawing/2014/main" id="{C1D4E904-831F-A511-1D87-55E3CB8FC315}"/>
              </a:ext>
            </a:extLst>
          </p:cNvPr>
          <p:cNvSpPr/>
          <p:nvPr/>
        </p:nvSpPr>
        <p:spPr bwMode="gray">
          <a:xfrm>
            <a:off x="501786" y="1072024"/>
            <a:ext cx="3803514" cy="1933695"/>
          </a:xfrm>
          <a:prstGeom prst="rect">
            <a:avLst/>
          </a:prstGeom>
          <a:ln>
            <a:solidFill>
              <a:srgbClr val="046A38"/>
            </a:solidFill>
            <a:headEnd/>
            <a:tailEnd/>
          </a:ln>
        </p:spPr>
        <p:style>
          <a:lnRef idx="2">
            <a:schemeClr val="accent2"/>
          </a:lnRef>
          <a:fillRef idx="1">
            <a:schemeClr val="lt1"/>
          </a:fillRef>
          <a:effectRef idx="0">
            <a:schemeClr val="accent2"/>
          </a:effectRef>
          <a:fontRef idx="minor">
            <a:schemeClr val="dk1"/>
          </a:fontRef>
        </p:style>
        <p:txBody>
          <a:bodyPr wrap="square" lIns="72231" tIns="72231" rIns="72231" bIns="72231" rtlCol="0" anchor="ctr"/>
          <a:lstStyle/>
          <a:p>
            <a:pPr marL="171450" indent="-171450">
              <a:lnSpc>
                <a:spcPct val="106000"/>
              </a:lnSpc>
              <a:spcBef>
                <a:spcPts val="600"/>
              </a:spcBef>
              <a:buFont typeface="Arial" panose="020B0604020202020204" pitchFamily="34" charset="0"/>
              <a:buChar char="•"/>
            </a:pPr>
            <a:r>
              <a:rPr lang="en-US" sz="1000">
                <a:latin typeface="Arial" panose="020B0604020202020204" pitchFamily="34" charset="0"/>
                <a:cs typeface="Arial" panose="020B0604020202020204" pitchFamily="34" charset="0"/>
              </a:rPr>
              <a:t>Power exchange rules require participants to maintain a minimum balance for transactions, with funds credited to the exchange's account, not the sellers</a:t>
            </a:r>
          </a:p>
          <a:p>
            <a:pPr marL="171450" indent="-171450">
              <a:lnSpc>
                <a:spcPct val="106000"/>
              </a:lnSpc>
              <a:spcBef>
                <a:spcPts val="600"/>
              </a:spcBef>
              <a:buFont typeface="Arial" panose="020B0604020202020204" pitchFamily="34" charset="0"/>
              <a:buChar char="•"/>
            </a:pPr>
            <a:r>
              <a:rPr lang="en-US" sz="1000">
                <a:latin typeface="Arial" panose="020B0604020202020204" pitchFamily="34" charset="0"/>
                <a:cs typeface="Arial" panose="020B0604020202020204" pitchFamily="34" charset="0"/>
              </a:rPr>
              <a:t>The sellers receive the payment one day after the delivery of contracted electricity (D+1). </a:t>
            </a:r>
          </a:p>
          <a:p>
            <a:pPr marL="171450" indent="-171450">
              <a:lnSpc>
                <a:spcPct val="106000"/>
              </a:lnSpc>
              <a:spcBef>
                <a:spcPts val="600"/>
              </a:spcBef>
              <a:buFont typeface="Arial" panose="020B0604020202020204" pitchFamily="34" charset="0"/>
              <a:buChar char="•"/>
            </a:pPr>
            <a:r>
              <a:rPr lang="en-US" sz="1000">
                <a:latin typeface="Arial" panose="020B0604020202020204" pitchFamily="34" charset="0"/>
                <a:cs typeface="Arial" panose="020B0604020202020204" pitchFamily="34" charset="0"/>
              </a:rPr>
              <a:t>In case of default by the seller on the contracted volume, the exchange will refund the prorated amount to the buyer and take appropriate punitive actions against the seller based on the reasons for default. </a:t>
            </a:r>
          </a:p>
        </p:txBody>
      </p:sp>
      <p:sp>
        <p:nvSpPr>
          <p:cNvPr id="16" name="Rectangle 15">
            <a:extLst>
              <a:ext uri="{FF2B5EF4-FFF2-40B4-BE49-F238E27FC236}">
                <a16:creationId xmlns:a16="http://schemas.microsoft.com/office/drawing/2014/main" id="{36196E62-BAF3-1550-D02B-81ACE296B64C}"/>
              </a:ext>
            </a:extLst>
          </p:cNvPr>
          <p:cNvSpPr/>
          <p:nvPr/>
        </p:nvSpPr>
        <p:spPr bwMode="gray">
          <a:xfrm>
            <a:off x="501785" y="3720425"/>
            <a:ext cx="3803513" cy="1141276"/>
          </a:xfrm>
          <a:prstGeom prst="rect">
            <a:avLst/>
          </a:prstGeom>
          <a:ln>
            <a:solidFill>
              <a:srgbClr val="046A38"/>
            </a:solidFill>
            <a:headEnd/>
            <a:tailEnd/>
          </a:ln>
        </p:spPr>
        <p:style>
          <a:lnRef idx="2">
            <a:schemeClr val="accent2"/>
          </a:lnRef>
          <a:fillRef idx="1">
            <a:schemeClr val="lt1"/>
          </a:fillRef>
          <a:effectRef idx="0">
            <a:schemeClr val="accent2"/>
          </a:effectRef>
          <a:fontRef idx="minor">
            <a:schemeClr val="dk1"/>
          </a:fontRef>
        </p:style>
        <p:txBody>
          <a:bodyPr wrap="square" lIns="72231" tIns="72231" rIns="72231" bIns="72231" rtlCol="0" anchor="ctr"/>
          <a:lstStyle/>
          <a:p>
            <a:pPr marL="171450" indent="-171450">
              <a:lnSpc>
                <a:spcPct val="106000"/>
              </a:lnSpc>
              <a:spcBef>
                <a:spcPts val="600"/>
              </a:spcBef>
              <a:buFont typeface="Arial" panose="020B0604020202020204" pitchFamily="34" charset="0"/>
              <a:buChar char="•"/>
            </a:pPr>
            <a:r>
              <a:rPr lang="en-US" sz="1000">
                <a:latin typeface="Arial" panose="020B0604020202020204" pitchFamily="34" charset="0"/>
                <a:cs typeface="Arial" panose="020B0604020202020204" pitchFamily="34" charset="0"/>
              </a:rPr>
              <a:t>In case of participants have their own settlement account, no margins shall be collected. </a:t>
            </a:r>
          </a:p>
          <a:p>
            <a:pPr marL="171450" indent="-171450">
              <a:lnSpc>
                <a:spcPct val="106000"/>
              </a:lnSpc>
              <a:spcBef>
                <a:spcPts val="600"/>
              </a:spcBef>
              <a:buFont typeface="Arial" panose="020B0604020202020204" pitchFamily="34" charset="0"/>
              <a:buChar char="•"/>
            </a:pPr>
            <a:r>
              <a:rPr lang="en-US" sz="1000">
                <a:latin typeface="Arial" panose="020B0604020202020204" pitchFamily="34" charset="0"/>
                <a:cs typeface="Arial" panose="020B0604020202020204" pitchFamily="34" charset="0"/>
              </a:rPr>
              <a:t>However, to manage risk of default such participants shall be allowed to bid only to the extent of funds available in their settlement bank account.</a:t>
            </a:r>
          </a:p>
        </p:txBody>
      </p:sp>
      <p:sp>
        <p:nvSpPr>
          <p:cNvPr id="17" name="Rectangle 16">
            <a:extLst>
              <a:ext uri="{FF2B5EF4-FFF2-40B4-BE49-F238E27FC236}">
                <a16:creationId xmlns:a16="http://schemas.microsoft.com/office/drawing/2014/main" id="{B388E613-C77C-B5D5-896B-0AC0A8FD6D77}"/>
              </a:ext>
            </a:extLst>
          </p:cNvPr>
          <p:cNvSpPr/>
          <p:nvPr/>
        </p:nvSpPr>
        <p:spPr bwMode="gray">
          <a:xfrm>
            <a:off x="501786" y="5576407"/>
            <a:ext cx="3803512" cy="822088"/>
          </a:xfrm>
          <a:prstGeom prst="rect">
            <a:avLst/>
          </a:prstGeom>
          <a:ln>
            <a:solidFill>
              <a:srgbClr val="046A38"/>
            </a:solidFill>
            <a:headEnd/>
            <a:tailEnd/>
          </a:ln>
        </p:spPr>
        <p:style>
          <a:lnRef idx="2">
            <a:schemeClr val="accent2"/>
          </a:lnRef>
          <a:fillRef idx="1">
            <a:schemeClr val="lt1"/>
          </a:fillRef>
          <a:effectRef idx="0">
            <a:schemeClr val="accent2"/>
          </a:effectRef>
          <a:fontRef idx="minor">
            <a:schemeClr val="dk1"/>
          </a:fontRef>
        </p:style>
        <p:txBody>
          <a:bodyPr wrap="square" lIns="72231" tIns="72231" rIns="72231" bIns="72231" rtlCol="0" anchor="ctr"/>
          <a:lstStyle/>
          <a:p>
            <a:pPr marL="171450" indent="-171450">
              <a:lnSpc>
                <a:spcPct val="106000"/>
              </a:lnSpc>
              <a:spcBef>
                <a:spcPts val="600"/>
              </a:spcBef>
              <a:buFont typeface="Arial" panose="020B0604020202020204" pitchFamily="34" charset="0"/>
              <a:buChar char="•"/>
            </a:pPr>
            <a:r>
              <a:rPr lang="en-US" sz="1000">
                <a:latin typeface="Arial" panose="020B0604020202020204" pitchFamily="34" charset="0"/>
                <a:cs typeface="Arial" panose="020B0604020202020204" pitchFamily="34" charset="0"/>
              </a:rPr>
              <a:t>All the mentioned margins can be deposited in form Cash, Bank-Guarantee (BG), Fixed-deposit (FD) and Letter of Credit (LC)</a:t>
            </a:r>
          </a:p>
        </p:txBody>
      </p:sp>
      <p:sp>
        <p:nvSpPr>
          <p:cNvPr id="18" name="Isosceles Triangle 17">
            <a:extLst>
              <a:ext uri="{FF2B5EF4-FFF2-40B4-BE49-F238E27FC236}">
                <a16:creationId xmlns:a16="http://schemas.microsoft.com/office/drawing/2014/main" id="{68DA026D-1B77-FC5D-6B6B-20183AC4644A}"/>
              </a:ext>
            </a:extLst>
          </p:cNvPr>
          <p:cNvSpPr/>
          <p:nvPr/>
        </p:nvSpPr>
        <p:spPr bwMode="gray">
          <a:xfrm rot="5400000">
            <a:off x="3770973" y="3548145"/>
            <a:ext cx="2992438" cy="374228"/>
          </a:xfrm>
          <a:prstGeom prst="triangle">
            <a:avLst/>
          </a:prstGeom>
          <a:solidFill>
            <a:srgbClr val="046A38"/>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endParaRPr>
          </a:p>
        </p:txBody>
      </p:sp>
    </p:spTree>
    <p:extLst>
      <p:ext uri="{BB962C8B-B14F-4D97-AF65-F5344CB8AC3E}">
        <p14:creationId xmlns:p14="http://schemas.microsoft.com/office/powerpoint/2010/main" val="3378605008"/>
      </p:ext>
    </p:extLst>
  </p:cSld>
  <p:clrMapOvr>
    <a:masterClrMapping/>
  </p:clrMapOvr>
  <p:transition>
    <p:fade/>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defTabSz="914400">
              <a:spcBef>
                <a:spcPts val="488"/>
              </a:spcBef>
              <a:buSzPct val="100000"/>
            </a:pPr>
            <a:r>
              <a:rPr lang="en-US" sz="2000" b="1">
                <a:latin typeface="Arial" panose="020B0604020202020204" pitchFamily="34" charset="0"/>
                <a:cs typeface="Arial" panose="020B0604020202020204" pitchFamily="34" charset="0"/>
              </a:rPr>
              <a:t>Government of India measures and initiatives to improve viability of electricity sector</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Electricity distribution, traditionally the weakest link due to state ownership, has seen improvements from measures introduced in last 10 years</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Sources: </a:t>
            </a:r>
            <a:r>
              <a:rPr kumimoji="0" lang="en-US" sz="1050" u="none" strike="noStrike" kern="0" cap="none" spc="0" normalizeH="0" baseline="0" noProof="0">
                <a:ln>
                  <a:noFill/>
                </a:ln>
                <a:effectLst/>
                <a:uLnTx/>
                <a:uFillTx/>
                <a:latin typeface="Arial" panose="020B0604020202020204" pitchFamily="34" charset="0"/>
                <a:cs typeface="Arial" panose="020B0604020202020204" pitchFamily="34" charset="0"/>
              </a:rPr>
              <a:t>CERC,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A21BF324-CBAA-3D66-4DEB-DA3FAC31E207}"/>
              </a:ext>
            </a:extLst>
          </p:cNvPr>
          <p:cNvSpPr txBox="1"/>
          <p:nvPr/>
        </p:nvSpPr>
        <p:spPr>
          <a:xfrm>
            <a:off x="502184" y="1072024"/>
            <a:ext cx="11195558" cy="2273306"/>
          </a:xfrm>
          <a:prstGeom prst="rect">
            <a:avLst/>
          </a:prstGeom>
          <a:noFill/>
        </p:spPr>
        <p:txBody>
          <a:bodyPr wrap="square" lIns="36000" tIns="36000" rIns="36000" bIns="36000" rtlCol="0">
            <a:spAutoFit/>
          </a:bodyPr>
          <a:lstStyle/>
          <a:p>
            <a:pPr marL="203200" indent="-203200">
              <a:spcBef>
                <a:spcPts val="600"/>
              </a:spcBef>
              <a:buSzPct val="100000"/>
              <a:buFont typeface="Arial"/>
              <a:buChar char="•"/>
            </a:pPr>
            <a:r>
              <a:rPr lang="en-US" sz="1200">
                <a:solidFill>
                  <a:srgbClr val="313131"/>
                </a:solidFill>
                <a:latin typeface="Arial" panose="020B0604020202020204" pitchFamily="34" charset="0"/>
                <a:cs typeface="Arial" panose="020B0604020202020204" pitchFamily="34" charset="0"/>
              </a:rPr>
              <a:t>28 states and 8 Union territories having 70 DISCOMs sold </a:t>
            </a:r>
            <a:r>
              <a:rPr lang="en-US" sz="1200" b="1">
                <a:solidFill>
                  <a:srgbClr val="313131"/>
                </a:solidFill>
                <a:latin typeface="Arial" panose="020B0604020202020204" pitchFamily="34" charset="0"/>
                <a:cs typeface="Arial" panose="020B0604020202020204" pitchFamily="34" charset="0"/>
              </a:rPr>
              <a:t>1,692 Bn kWh</a:t>
            </a:r>
            <a:r>
              <a:rPr lang="en-US" sz="1200">
                <a:solidFill>
                  <a:srgbClr val="313131"/>
                </a:solidFill>
                <a:latin typeface="Arial" panose="020B0604020202020204" pitchFamily="34" charset="0"/>
                <a:cs typeface="Arial" panose="020B0604020202020204" pitchFamily="34" charset="0"/>
              </a:rPr>
              <a:t> of energy in </a:t>
            </a:r>
            <a:r>
              <a:rPr lang="en-US" sz="1200" b="1">
                <a:solidFill>
                  <a:srgbClr val="313131"/>
                </a:solidFill>
                <a:latin typeface="Arial" panose="020B0604020202020204" pitchFamily="34" charset="0"/>
                <a:cs typeface="Arial" panose="020B0604020202020204" pitchFamily="34" charset="0"/>
              </a:rPr>
              <a:t>FY25</a:t>
            </a:r>
            <a:r>
              <a:rPr lang="en-US" sz="1200">
                <a:solidFill>
                  <a:srgbClr val="313131"/>
                </a:solidFill>
                <a:latin typeface="Arial" panose="020B0604020202020204" pitchFamily="34" charset="0"/>
                <a:cs typeface="Arial" panose="020B0604020202020204" pitchFamily="34" charset="0"/>
              </a:rPr>
              <a:t> against </a:t>
            </a:r>
            <a:r>
              <a:rPr lang="en-US" sz="1200" b="1">
                <a:solidFill>
                  <a:srgbClr val="313131"/>
                </a:solidFill>
                <a:latin typeface="Arial" panose="020B0604020202020204" pitchFamily="34" charset="0"/>
                <a:cs typeface="Arial" panose="020B0604020202020204" pitchFamily="34" charset="0"/>
              </a:rPr>
              <a:t>1,622 Bn kWh </a:t>
            </a:r>
            <a:r>
              <a:rPr lang="en-US" sz="1200">
                <a:solidFill>
                  <a:srgbClr val="313131"/>
                </a:solidFill>
                <a:latin typeface="Arial" panose="020B0604020202020204" pitchFamily="34" charset="0"/>
                <a:cs typeface="Arial" panose="020B0604020202020204" pitchFamily="34" charset="0"/>
              </a:rPr>
              <a:t>in </a:t>
            </a:r>
            <a:r>
              <a:rPr lang="en-US" sz="1200" b="1">
                <a:solidFill>
                  <a:srgbClr val="313131"/>
                </a:solidFill>
                <a:latin typeface="Arial" panose="020B0604020202020204" pitchFamily="34" charset="0"/>
                <a:cs typeface="Arial" panose="020B0604020202020204" pitchFamily="34" charset="0"/>
              </a:rPr>
              <a:t>FY24</a:t>
            </a:r>
            <a:r>
              <a:rPr lang="en-US" sz="1200">
                <a:solidFill>
                  <a:srgbClr val="313131"/>
                </a:solidFill>
                <a:latin typeface="Arial" panose="020B0604020202020204" pitchFamily="34" charset="0"/>
                <a:cs typeface="Arial" panose="020B0604020202020204" pitchFamily="34" charset="0"/>
              </a:rPr>
              <a:t> at a </a:t>
            </a:r>
            <a:r>
              <a:rPr lang="en-US" sz="1200" b="1">
                <a:solidFill>
                  <a:srgbClr val="313131"/>
                </a:solidFill>
                <a:latin typeface="Arial" panose="020B0604020202020204" pitchFamily="34" charset="0"/>
                <a:cs typeface="Arial" panose="020B0604020202020204" pitchFamily="34" charset="0"/>
              </a:rPr>
              <a:t>4% growth rate</a:t>
            </a:r>
          </a:p>
          <a:p>
            <a:pPr marL="203200" indent="-203200">
              <a:spcBef>
                <a:spcPts val="600"/>
              </a:spcBef>
              <a:buSzPct val="100000"/>
              <a:buFont typeface="Arial"/>
              <a:buChar char="•"/>
            </a:pPr>
            <a:r>
              <a:rPr lang="en-US" sz="1200">
                <a:solidFill>
                  <a:srgbClr val="313131"/>
                </a:solidFill>
                <a:latin typeface="Arial" panose="020B0604020202020204" pitchFamily="34" charset="0"/>
                <a:cs typeface="Arial" panose="020B0604020202020204" pitchFamily="34" charset="0"/>
              </a:rPr>
              <a:t>Electricity sale to </a:t>
            </a:r>
            <a:r>
              <a:rPr lang="en-US" sz="1200" b="1">
                <a:solidFill>
                  <a:srgbClr val="313131"/>
                </a:solidFill>
                <a:latin typeface="Arial" panose="020B0604020202020204" pitchFamily="34" charset="0"/>
                <a:cs typeface="Arial" panose="020B0604020202020204" pitchFamily="34" charset="0"/>
              </a:rPr>
              <a:t>agricultural</a:t>
            </a:r>
            <a:r>
              <a:rPr lang="en-US" sz="1200">
                <a:solidFill>
                  <a:srgbClr val="313131"/>
                </a:solidFill>
                <a:latin typeface="Arial" panose="020B0604020202020204" pitchFamily="34" charset="0"/>
                <a:cs typeface="Arial" panose="020B0604020202020204" pitchFamily="34" charset="0"/>
              </a:rPr>
              <a:t> and </a:t>
            </a:r>
            <a:r>
              <a:rPr lang="en-US" sz="1200" b="1">
                <a:solidFill>
                  <a:srgbClr val="313131"/>
                </a:solidFill>
                <a:latin typeface="Arial" panose="020B0604020202020204" pitchFamily="34" charset="0"/>
                <a:cs typeface="Arial" panose="020B0604020202020204" pitchFamily="34" charset="0"/>
              </a:rPr>
              <a:t>certain domestic customers </a:t>
            </a:r>
            <a:r>
              <a:rPr lang="en-US" sz="1200">
                <a:solidFill>
                  <a:srgbClr val="313131"/>
                </a:solidFill>
                <a:latin typeface="Arial" panose="020B0604020202020204" pitchFamily="34" charset="0"/>
                <a:cs typeface="Arial" panose="020B0604020202020204" pitchFamily="34" charset="0"/>
              </a:rPr>
              <a:t>are highly </a:t>
            </a:r>
            <a:r>
              <a:rPr lang="en-US" sz="1200" b="1">
                <a:solidFill>
                  <a:srgbClr val="313131"/>
                </a:solidFill>
                <a:latin typeface="Arial" panose="020B0604020202020204" pitchFamily="34" charset="0"/>
                <a:cs typeface="Arial" panose="020B0604020202020204" pitchFamily="34" charset="0"/>
              </a:rPr>
              <a:t>subsidized</a:t>
            </a:r>
            <a:r>
              <a:rPr lang="en-US" sz="1200">
                <a:solidFill>
                  <a:srgbClr val="313131"/>
                </a:solidFill>
                <a:latin typeface="Arial" panose="020B0604020202020204" pitchFamily="34" charset="0"/>
                <a:cs typeface="Arial" panose="020B0604020202020204" pitchFamily="34" charset="0"/>
              </a:rPr>
              <a:t> (more than 60-70%); </a:t>
            </a:r>
            <a:r>
              <a:rPr lang="en-US" sz="1200" b="1">
                <a:solidFill>
                  <a:srgbClr val="313131"/>
                </a:solidFill>
                <a:latin typeface="Arial" panose="020B0604020202020204" pitchFamily="34" charset="0"/>
                <a:cs typeface="Arial" panose="020B0604020202020204" pitchFamily="34" charset="0"/>
              </a:rPr>
              <a:t>C&amp;I customers </a:t>
            </a:r>
            <a:r>
              <a:rPr lang="en-US" sz="1200">
                <a:solidFill>
                  <a:srgbClr val="313131"/>
                </a:solidFill>
                <a:latin typeface="Arial" panose="020B0604020202020204" pitchFamily="34" charset="0"/>
                <a:cs typeface="Arial" panose="020B0604020202020204" pitchFamily="34" charset="0"/>
              </a:rPr>
              <a:t>pay </a:t>
            </a:r>
            <a:r>
              <a:rPr lang="en-US" sz="1200" b="1">
                <a:solidFill>
                  <a:srgbClr val="313131"/>
                </a:solidFill>
                <a:latin typeface="Arial" panose="020B0604020202020204" pitchFamily="34" charset="0"/>
                <a:cs typeface="Arial" panose="020B0604020202020204" pitchFamily="34" charset="0"/>
              </a:rPr>
              <a:t>higher tariff </a:t>
            </a:r>
            <a:r>
              <a:rPr lang="en-US" sz="1200">
                <a:solidFill>
                  <a:srgbClr val="313131"/>
                </a:solidFill>
                <a:latin typeface="Arial" panose="020B0604020202020204" pitchFamily="34" charset="0"/>
                <a:cs typeface="Arial" panose="020B0604020202020204" pitchFamily="34" charset="0"/>
              </a:rPr>
              <a:t>than Average Cost of Supply (ACS) </a:t>
            </a:r>
            <a:r>
              <a:rPr lang="en-US" sz="1200" b="1">
                <a:solidFill>
                  <a:srgbClr val="313131"/>
                </a:solidFill>
                <a:latin typeface="Arial" panose="020B0604020202020204" pitchFamily="34" charset="0"/>
                <a:cs typeface="Arial" panose="020B0604020202020204" pitchFamily="34" charset="0"/>
              </a:rPr>
              <a:t>to cross-subsidize</a:t>
            </a:r>
          </a:p>
          <a:p>
            <a:pPr marL="203200" indent="-203200">
              <a:spcBef>
                <a:spcPts val="600"/>
              </a:spcBef>
              <a:buSzPct val="100000"/>
              <a:buFont typeface="Arial"/>
              <a:buChar char="•"/>
            </a:pPr>
            <a:r>
              <a:rPr lang="en-US" sz="1200">
                <a:solidFill>
                  <a:srgbClr val="313131"/>
                </a:solidFill>
                <a:latin typeface="Arial" panose="020B0604020202020204" pitchFamily="34" charset="0"/>
                <a:cs typeface="Arial" panose="020B0604020202020204" pitchFamily="34" charset="0"/>
              </a:rPr>
              <a:t>Historically, distribution sector has been the weakest link in the power supply value chain primarily due to:</a:t>
            </a:r>
          </a:p>
          <a:p>
            <a:pPr marL="660400" lvl="1" indent="-203200">
              <a:spcBef>
                <a:spcPts val="600"/>
              </a:spcBef>
              <a:buSzPct val="100000"/>
              <a:buFont typeface="Arial"/>
              <a:buChar char="•"/>
            </a:pPr>
            <a:r>
              <a:rPr lang="en-US" sz="1200" b="1">
                <a:solidFill>
                  <a:srgbClr val="313131"/>
                </a:solidFill>
                <a:latin typeface="Arial" panose="020B0604020202020204" pitchFamily="34" charset="0"/>
                <a:cs typeface="Arial" panose="020B0604020202020204" pitchFamily="34" charset="0"/>
              </a:rPr>
              <a:t>Inadequate tariff requisition</a:t>
            </a:r>
            <a:r>
              <a:rPr lang="en-US" sz="1200">
                <a:solidFill>
                  <a:srgbClr val="313131"/>
                </a:solidFill>
                <a:latin typeface="Arial" panose="020B0604020202020204" pitchFamily="34" charset="0"/>
                <a:cs typeface="Arial" panose="020B0604020202020204" pitchFamily="34" charset="0"/>
              </a:rPr>
              <a:t> by DISCOMs </a:t>
            </a:r>
          </a:p>
          <a:p>
            <a:pPr marL="660400" lvl="1" indent="-203200">
              <a:spcBef>
                <a:spcPts val="600"/>
              </a:spcBef>
              <a:buSzPct val="100000"/>
              <a:buFont typeface="Arial"/>
              <a:buChar char="•"/>
            </a:pPr>
            <a:r>
              <a:rPr lang="en-US" sz="1200" b="1">
                <a:solidFill>
                  <a:srgbClr val="313131"/>
                </a:solidFill>
                <a:latin typeface="Arial" panose="020B0604020202020204" pitchFamily="34" charset="0"/>
                <a:cs typeface="Arial" panose="020B0604020202020204" pitchFamily="34" charset="0"/>
              </a:rPr>
              <a:t>Delay</a:t>
            </a:r>
            <a:r>
              <a:rPr lang="en-US" sz="1200">
                <a:solidFill>
                  <a:srgbClr val="313131"/>
                </a:solidFill>
                <a:latin typeface="Arial" panose="020B0604020202020204" pitchFamily="34" charset="0"/>
                <a:cs typeface="Arial" panose="020B0604020202020204" pitchFamily="34" charset="0"/>
              </a:rPr>
              <a:t> in tariff </a:t>
            </a:r>
            <a:r>
              <a:rPr lang="en-US" sz="1200" b="1">
                <a:solidFill>
                  <a:srgbClr val="313131"/>
                </a:solidFill>
                <a:latin typeface="Arial" panose="020B0604020202020204" pitchFamily="34" charset="0"/>
                <a:cs typeface="Arial" panose="020B0604020202020204" pitchFamily="34" charset="0"/>
              </a:rPr>
              <a:t>filing/orders</a:t>
            </a:r>
            <a:r>
              <a:rPr lang="en-US" sz="1200">
                <a:solidFill>
                  <a:srgbClr val="313131"/>
                </a:solidFill>
                <a:latin typeface="Arial" panose="020B0604020202020204" pitchFamily="34" charset="0"/>
                <a:cs typeface="Arial" panose="020B0604020202020204" pitchFamily="34" charset="0"/>
              </a:rPr>
              <a:t> </a:t>
            </a:r>
          </a:p>
          <a:p>
            <a:pPr marL="660400" lvl="1" indent="-203200">
              <a:spcBef>
                <a:spcPts val="600"/>
              </a:spcBef>
              <a:buSzPct val="100000"/>
              <a:buFont typeface="Arial"/>
              <a:buChar char="•"/>
            </a:pPr>
            <a:r>
              <a:rPr lang="en-US" sz="1200" b="1">
                <a:solidFill>
                  <a:srgbClr val="313131"/>
                </a:solidFill>
                <a:latin typeface="Arial" panose="020B0604020202020204" pitchFamily="34" charset="0"/>
                <a:cs typeface="Arial" panose="020B0604020202020204" pitchFamily="34" charset="0"/>
              </a:rPr>
              <a:t>Delay</a:t>
            </a:r>
            <a:r>
              <a:rPr lang="en-US" sz="1200">
                <a:solidFill>
                  <a:srgbClr val="313131"/>
                </a:solidFill>
                <a:latin typeface="Arial" panose="020B0604020202020204" pitchFamily="34" charset="0"/>
                <a:cs typeface="Arial" panose="020B0604020202020204" pitchFamily="34" charset="0"/>
              </a:rPr>
              <a:t> in release of state </a:t>
            </a:r>
            <a:r>
              <a:rPr lang="en-US" sz="1200" b="1">
                <a:solidFill>
                  <a:srgbClr val="313131"/>
                </a:solidFill>
                <a:latin typeface="Arial" panose="020B0604020202020204" pitchFamily="34" charset="0"/>
                <a:cs typeface="Arial" panose="020B0604020202020204" pitchFamily="34" charset="0"/>
              </a:rPr>
              <a:t>subsidy</a:t>
            </a:r>
            <a:r>
              <a:rPr lang="en-US" sz="1200">
                <a:solidFill>
                  <a:srgbClr val="313131"/>
                </a:solidFill>
                <a:latin typeface="Arial" panose="020B0604020202020204" pitchFamily="34" charset="0"/>
                <a:cs typeface="Arial" panose="020B0604020202020204" pitchFamily="34" charset="0"/>
              </a:rPr>
              <a:t> and </a:t>
            </a:r>
          </a:p>
          <a:p>
            <a:pPr marL="660400" lvl="1" indent="-203200">
              <a:spcBef>
                <a:spcPts val="600"/>
              </a:spcBef>
              <a:buSzPct val="100000"/>
              <a:buFont typeface="Arial"/>
              <a:buChar char="•"/>
            </a:pPr>
            <a:r>
              <a:rPr lang="en-US" sz="1200" b="1">
                <a:solidFill>
                  <a:srgbClr val="313131"/>
                </a:solidFill>
                <a:latin typeface="Arial" panose="020B0604020202020204" pitchFamily="34" charset="0"/>
                <a:cs typeface="Arial" panose="020B0604020202020204" pitchFamily="34" charset="0"/>
              </a:rPr>
              <a:t>Inadequate tariff approved </a:t>
            </a:r>
            <a:r>
              <a:rPr lang="en-US" sz="1200">
                <a:solidFill>
                  <a:srgbClr val="313131"/>
                </a:solidFill>
                <a:latin typeface="Arial" panose="020B0604020202020204" pitchFamily="34" charset="0"/>
                <a:cs typeface="Arial" panose="020B0604020202020204" pitchFamily="34" charset="0"/>
              </a:rPr>
              <a:t>by the state regulatory commissions</a:t>
            </a:r>
          </a:p>
          <a:p>
            <a:pPr marL="203200" indent="-203200">
              <a:spcBef>
                <a:spcPts val="600"/>
              </a:spcBef>
              <a:buSzPct val="100000"/>
              <a:buFont typeface="Arial"/>
              <a:buChar char="•"/>
            </a:pPr>
            <a:r>
              <a:rPr lang="en-US" sz="1200" b="1">
                <a:solidFill>
                  <a:srgbClr val="313131"/>
                </a:solidFill>
                <a:latin typeface="Arial" panose="020B0604020202020204" pitchFamily="34" charset="0"/>
                <a:cs typeface="Arial" panose="020B0604020202020204" pitchFamily="34" charset="0"/>
              </a:rPr>
              <a:t>Net-worth</a:t>
            </a:r>
            <a:r>
              <a:rPr lang="en-US" sz="1200">
                <a:solidFill>
                  <a:srgbClr val="313131"/>
                </a:solidFill>
                <a:latin typeface="Arial" panose="020B0604020202020204" pitchFamily="34" charset="0"/>
                <a:cs typeface="Arial" panose="020B0604020202020204" pitchFamily="34" charset="0"/>
              </a:rPr>
              <a:t> of DISCOMs continues to be </a:t>
            </a:r>
            <a:r>
              <a:rPr lang="en-US" sz="1200" b="1">
                <a:solidFill>
                  <a:srgbClr val="313131"/>
                </a:solidFill>
                <a:latin typeface="Arial" panose="020B0604020202020204" pitchFamily="34" charset="0"/>
                <a:cs typeface="Arial" panose="020B0604020202020204" pitchFamily="34" charset="0"/>
              </a:rPr>
              <a:t>negative</a:t>
            </a:r>
            <a:r>
              <a:rPr lang="en-US" sz="1200">
                <a:solidFill>
                  <a:srgbClr val="313131"/>
                </a:solidFill>
                <a:latin typeface="Arial" panose="020B0604020202020204" pitchFamily="34" charset="0"/>
                <a:cs typeface="Arial" panose="020B0604020202020204" pitchFamily="34" charset="0"/>
              </a:rPr>
              <a:t>, however, several initiatives are/were undertaken by the Government of India to improve the financials such as:</a:t>
            </a:r>
          </a:p>
        </p:txBody>
      </p:sp>
      <p:sp>
        <p:nvSpPr>
          <p:cNvPr id="19" name="TextBox 18">
            <a:extLst>
              <a:ext uri="{FF2B5EF4-FFF2-40B4-BE49-F238E27FC236}">
                <a16:creationId xmlns:a16="http://schemas.microsoft.com/office/drawing/2014/main" id="{9C53B65B-97A0-F3B0-B456-F8C2ABDB99CB}"/>
              </a:ext>
            </a:extLst>
          </p:cNvPr>
          <p:cNvSpPr txBox="1"/>
          <p:nvPr/>
        </p:nvSpPr>
        <p:spPr>
          <a:xfrm>
            <a:off x="523488" y="6278357"/>
            <a:ext cx="11221270" cy="276999"/>
          </a:xfrm>
          <a:prstGeom prst="rect">
            <a:avLst/>
          </a:prstGeom>
          <a:noFill/>
        </p:spPr>
        <p:txBody>
          <a:bodyPr wrap="square" lIns="0" tIns="0" rIns="0" bIns="0" rtlCol="0">
            <a:spAutoFit/>
          </a:bodyPr>
          <a:lstStyle/>
          <a:p>
            <a:pPr>
              <a:buSzPct val="100000"/>
            </a:pPr>
            <a:r>
              <a:rPr lang="en-US" sz="900">
                <a:solidFill>
                  <a:srgbClr val="313131"/>
                </a:solidFill>
                <a:latin typeface="Arial" panose="020B0604020202020204" pitchFamily="34" charset="0"/>
                <a:cs typeface="Arial" panose="020B0604020202020204" pitchFamily="34" charset="0"/>
              </a:rPr>
              <a:t>R-APDRP: Re-structured Accelerated Power Development and Reforms </a:t>
            </a:r>
            <a:r>
              <a:rPr lang="en-US" sz="900" err="1">
                <a:solidFill>
                  <a:srgbClr val="313131"/>
                </a:solidFill>
                <a:latin typeface="Arial" panose="020B0604020202020204" pitchFamily="34" charset="0"/>
                <a:cs typeface="Arial" panose="020B0604020202020204" pitchFamily="34" charset="0"/>
              </a:rPr>
              <a:t>Programme</a:t>
            </a:r>
            <a:r>
              <a:rPr lang="en-US" sz="900">
                <a:solidFill>
                  <a:srgbClr val="313131"/>
                </a:solidFill>
                <a:latin typeface="Arial" panose="020B0604020202020204" pitchFamily="34" charset="0"/>
                <a:cs typeface="Arial" panose="020B0604020202020204" pitchFamily="34" charset="0"/>
              </a:rPr>
              <a:t> ; IPDS: Integrated Power Development Scheme ; UDAY : </a:t>
            </a:r>
            <a:r>
              <a:rPr lang="en-US" sz="900" err="1">
                <a:solidFill>
                  <a:srgbClr val="313131"/>
                </a:solidFill>
                <a:latin typeface="Arial" panose="020B0604020202020204" pitchFamily="34" charset="0"/>
                <a:cs typeface="Arial" panose="020B0604020202020204" pitchFamily="34" charset="0"/>
              </a:rPr>
              <a:t>Ujwal</a:t>
            </a:r>
            <a:r>
              <a:rPr lang="en-US" sz="900">
                <a:solidFill>
                  <a:srgbClr val="313131"/>
                </a:solidFill>
                <a:latin typeface="Arial" panose="020B0604020202020204" pitchFamily="34" charset="0"/>
                <a:cs typeface="Arial" panose="020B0604020202020204" pitchFamily="34" charset="0"/>
              </a:rPr>
              <a:t> DISCOM Assurance Yojana ; RDSS: Revamped Distribution Sector Scheme</a:t>
            </a:r>
          </a:p>
        </p:txBody>
      </p:sp>
      <p:sp>
        <p:nvSpPr>
          <p:cNvPr id="21" name="Rectangle: Top Corners Rounded 4">
            <a:extLst>
              <a:ext uri="{FF2B5EF4-FFF2-40B4-BE49-F238E27FC236}">
                <a16:creationId xmlns:a16="http://schemas.microsoft.com/office/drawing/2014/main" id="{235C29F6-B3D0-0322-B8B7-004E58E3F98B}"/>
              </a:ext>
            </a:extLst>
          </p:cNvPr>
          <p:cNvSpPr/>
          <p:nvPr/>
        </p:nvSpPr>
        <p:spPr bwMode="gray">
          <a:xfrm>
            <a:off x="2379389" y="3794534"/>
            <a:ext cx="1800000" cy="360000"/>
          </a:xfrm>
          <a:prstGeom prst="round2SameRect">
            <a:avLst>
              <a:gd name="adj1" fmla="val 20588"/>
              <a:gd name="adj2" fmla="val 0"/>
            </a:avLst>
          </a:prstGeom>
          <a:solidFill>
            <a:srgbClr val="046A38"/>
          </a:solidFill>
          <a:ln w="19050" algn="ctr">
            <a:noFill/>
            <a:miter lim="800000"/>
            <a:headEnd/>
            <a:tailEnd/>
          </a:ln>
        </p:spPr>
        <p:txBody>
          <a:bodyPr wrap="square" lIns="74295" tIns="37148" rIns="72231" bIns="37148" rtlCol="0" anchor="ctr"/>
          <a:lstStyle/>
          <a:p>
            <a:pPr algn="ctr">
              <a:defRPr sz="1400" b="0" i="0" u="none" strike="noStrike" kern="1200" spc="0" baseline="0">
                <a:solidFill>
                  <a:prstClr val="black">
                    <a:lumMod val="65000"/>
                    <a:lumOff val="35000"/>
                  </a:prstClr>
                </a:solidFill>
                <a:latin typeface="+mn-lt"/>
                <a:ea typeface="+mn-ea"/>
                <a:cs typeface="+mn-cs"/>
              </a:defRPr>
            </a:pPr>
            <a:r>
              <a:rPr lang="en-US" altLang="zh-CN" sz="1000" b="1">
                <a:solidFill>
                  <a:srgbClr val="FFFFFF"/>
                </a:solidFill>
                <a:latin typeface="Arial" panose="020B0604020202020204" pitchFamily="34" charset="0"/>
                <a:cs typeface="Arial" panose="020B0604020202020204" pitchFamily="34" charset="0"/>
              </a:rPr>
              <a:t>IPDS</a:t>
            </a:r>
          </a:p>
        </p:txBody>
      </p:sp>
      <p:sp>
        <p:nvSpPr>
          <p:cNvPr id="22" name="Rectangle: Top Corners Rounded 4">
            <a:extLst>
              <a:ext uri="{FF2B5EF4-FFF2-40B4-BE49-F238E27FC236}">
                <a16:creationId xmlns:a16="http://schemas.microsoft.com/office/drawing/2014/main" id="{B1596DD1-9AB9-EAA8-EB46-8A97631F669A}"/>
              </a:ext>
            </a:extLst>
          </p:cNvPr>
          <p:cNvSpPr/>
          <p:nvPr/>
        </p:nvSpPr>
        <p:spPr bwMode="gray">
          <a:xfrm>
            <a:off x="4257129" y="3794534"/>
            <a:ext cx="1800000" cy="360000"/>
          </a:xfrm>
          <a:prstGeom prst="round2SameRect">
            <a:avLst>
              <a:gd name="adj1" fmla="val 20588"/>
              <a:gd name="adj2" fmla="val 0"/>
            </a:avLst>
          </a:prstGeom>
          <a:solidFill>
            <a:srgbClr val="046A38"/>
          </a:solidFill>
          <a:ln w="19050" algn="ctr">
            <a:noFill/>
            <a:miter lim="800000"/>
            <a:headEnd/>
            <a:tailEnd/>
          </a:ln>
        </p:spPr>
        <p:txBody>
          <a:bodyPr wrap="square" lIns="74295" tIns="37148" rIns="72231" bIns="37148" rtlCol="0" anchor="ctr"/>
          <a:lstStyle/>
          <a:p>
            <a:pPr algn="ctr">
              <a:defRPr sz="1400" b="0" i="0" u="none" strike="noStrike" kern="1200" spc="0" baseline="0">
                <a:solidFill>
                  <a:prstClr val="black">
                    <a:lumMod val="65000"/>
                    <a:lumOff val="35000"/>
                  </a:prstClr>
                </a:solidFill>
                <a:latin typeface="+mn-lt"/>
                <a:ea typeface="+mn-ea"/>
                <a:cs typeface="+mn-cs"/>
              </a:defRPr>
            </a:pPr>
            <a:r>
              <a:rPr lang="en-US" altLang="zh-CN" sz="1000" b="1">
                <a:solidFill>
                  <a:srgbClr val="FFFFFF"/>
                </a:solidFill>
                <a:latin typeface="Arial" panose="020B0604020202020204" pitchFamily="34" charset="0"/>
                <a:cs typeface="Arial" panose="020B0604020202020204" pitchFamily="34" charset="0"/>
              </a:rPr>
              <a:t>UDAY</a:t>
            </a:r>
            <a:endParaRPr lang="en-US" altLang="zh-CN" sz="1000">
              <a:solidFill>
                <a:srgbClr val="FFFFFF"/>
              </a:solidFill>
              <a:latin typeface="Arial" panose="020B0604020202020204" pitchFamily="34" charset="0"/>
              <a:cs typeface="Arial" panose="020B0604020202020204" pitchFamily="34" charset="0"/>
            </a:endParaRPr>
          </a:p>
        </p:txBody>
      </p:sp>
      <p:sp>
        <p:nvSpPr>
          <p:cNvPr id="23" name="Rectangle: Top Corners Rounded 4">
            <a:extLst>
              <a:ext uri="{FF2B5EF4-FFF2-40B4-BE49-F238E27FC236}">
                <a16:creationId xmlns:a16="http://schemas.microsoft.com/office/drawing/2014/main" id="{B91BA89C-D9DD-F433-809A-565CE2C63978}"/>
              </a:ext>
            </a:extLst>
          </p:cNvPr>
          <p:cNvSpPr/>
          <p:nvPr/>
        </p:nvSpPr>
        <p:spPr bwMode="gray">
          <a:xfrm>
            <a:off x="6134869" y="3794534"/>
            <a:ext cx="1800000" cy="360000"/>
          </a:xfrm>
          <a:prstGeom prst="round2SameRect">
            <a:avLst>
              <a:gd name="adj1" fmla="val 20588"/>
              <a:gd name="adj2" fmla="val 0"/>
            </a:avLst>
          </a:prstGeom>
          <a:solidFill>
            <a:srgbClr val="046A38"/>
          </a:solidFill>
          <a:ln w="19050" algn="ctr">
            <a:noFill/>
            <a:miter lim="800000"/>
            <a:headEnd/>
            <a:tailEnd/>
          </a:ln>
        </p:spPr>
        <p:txBody>
          <a:bodyPr wrap="square" lIns="74295" tIns="37148" rIns="72231" bIns="37148" rtlCol="0" anchor="ctr"/>
          <a:lstStyle/>
          <a:p>
            <a:pPr algn="ctr">
              <a:defRPr sz="1400" b="0" i="0" u="none" strike="noStrike" kern="1200" spc="0" baseline="0">
                <a:solidFill>
                  <a:prstClr val="black">
                    <a:lumMod val="65000"/>
                    <a:lumOff val="35000"/>
                  </a:prstClr>
                </a:solidFill>
                <a:latin typeface="+mn-lt"/>
                <a:ea typeface="+mn-ea"/>
                <a:cs typeface="+mn-cs"/>
              </a:defRPr>
            </a:pPr>
            <a:r>
              <a:rPr lang="en-US" altLang="zh-CN" sz="1000" b="1">
                <a:solidFill>
                  <a:srgbClr val="FFFFFF"/>
                </a:solidFill>
                <a:latin typeface="Arial" panose="020B0604020202020204" pitchFamily="34" charset="0"/>
                <a:cs typeface="Arial" panose="020B0604020202020204" pitchFamily="34" charset="0"/>
              </a:rPr>
              <a:t>RDSS</a:t>
            </a:r>
            <a:endParaRPr lang="en-US" altLang="zh-CN" sz="1000">
              <a:solidFill>
                <a:srgbClr val="FFFFFF"/>
              </a:solidFill>
              <a:latin typeface="Arial" panose="020B0604020202020204" pitchFamily="34" charset="0"/>
              <a:cs typeface="Arial" panose="020B0604020202020204" pitchFamily="34" charset="0"/>
            </a:endParaRPr>
          </a:p>
        </p:txBody>
      </p:sp>
      <p:sp>
        <p:nvSpPr>
          <p:cNvPr id="24" name="Rectangle: Top Corners Rounded 4">
            <a:extLst>
              <a:ext uri="{FF2B5EF4-FFF2-40B4-BE49-F238E27FC236}">
                <a16:creationId xmlns:a16="http://schemas.microsoft.com/office/drawing/2014/main" id="{700D8906-7243-35A5-113D-43788DE2883E}"/>
              </a:ext>
            </a:extLst>
          </p:cNvPr>
          <p:cNvSpPr/>
          <p:nvPr/>
        </p:nvSpPr>
        <p:spPr bwMode="gray">
          <a:xfrm>
            <a:off x="8012609" y="3794534"/>
            <a:ext cx="1800000" cy="360000"/>
          </a:xfrm>
          <a:prstGeom prst="round2SameRect">
            <a:avLst>
              <a:gd name="adj1" fmla="val 20588"/>
              <a:gd name="adj2" fmla="val 0"/>
            </a:avLst>
          </a:prstGeom>
          <a:solidFill>
            <a:srgbClr val="046A38"/>
          </a:solidFill>
          <a:ln w="19050" algn="ctr">
            <a:noFill/>
            <a:miter lim="800000"/>
            <a:headEnd/>
            <a:tailEnd/>
          </a:ln>
        </p:spPr>
        <p:txBody>
          <a:bodyPr wrap="square" lIns="74295" tIns="37148" rIns="72231" bIns="37148" rtlCol="0" anchor="ctr"/>
          <a:lstStyle/>
          <a:p>
            <a:pPr algn="ctr">
              <a:defRPr sz="1400" b="0" i="0" u="none" strike="noStrike" kern="1200" spc="0" baseline="0">
                <a:solidFill>
                  <a:prstClr val="black">
                    <a:lumMod val="65000"/>
                    <a:lumOff val="35000"/>
                  </a:prstClr>
                </a:solidFill>
                <a:latin typeface="+mn-lt"/>
                <a:ea typeface="+mn-ea"/>
                <a:cs typeface="+mn-cs"/>
              </a:defRPr>
            </a:pPr>
            <a:r>
              <a:rPr lang="en-US" altLang="zh-CN" sz="1000" b="1">
                <a:solidFill>
                  <a:srgbClr val="FFFFFF"/>
                </a:solidFill>
                <a:latin typeface="Arial" panose="020B0604020202020204" pitchFamily="34" charset="0"/>
                <a:cs typeface="Arial" panose="020B0604020202020204" pitchFamily="34" charset="0"/>
              </a:rPr>
              <a:t>Late Payment Surcharge (LPS), Rules</a:t>
            </a:r>
          </a:p>
        </p:txBody>
      </p:sp>
      <p:sp>
        <p:nvSpPr>
          <p:cNvPr id="25" name="Rectangle: Top Corners Rounded 4">
            <a:extLst>
              <a:ext uri="{FF2B5EF4-FFF2-40B4-BE49-F238E27FC236}">
                <a16:creationId xmlns:a16="http://schemas.microsoft.com/office/drawing/2014/main" id="{3485A12D-F9D7-6799-9C7C-4000CEF6A327}"/>
              </a:ext>
            </a:extLst>
          </p:cNvPr>
          <p:cNvSpPr/>
          <p:nvPr/>
        </p:nvSpPr>
        <p:spPr bwMode="gray">
          <a:xfrm>
            <a:off x="9890351" y="3794534"/>
            <a:ext cx="1800000" cy="360000"/>
          </a:xfrm>
          <a:prstGeom prst="round2SameRect">
            <a:avLst>
              <a:gd name="adj1" fmla="val 20588"/>
              <a:gd name="adj2" fmla="val 0"/>
            </a:avLst>
          </a:prstGeom>
          <a:solidFill>
            <a:srgbClr val="046A38"/>
          </a:solidFill>
          <a:ln w="19050" algn="ctr">
            <a:noFill/>
            <a:miter lim="800000"/>
            <a:headEnd/>
            <a:tailEnd/>
          </a:ln>
        </p:spPr>
        <p:txBody>
          <a:bodyPr wrap="square" lIns="74295" tIns="37148" rIns="72231" bIns="37148" rtlCol="0" anchor="ctr"/>
          <a:lstStyle/>
          <a:p>
            <a:pPr algn="ctr">
              <a:defRPr sz="1400" b="0" i="0" u="none" strike="noStrike" kern="1200" spc="0" baseline="0">
                <a:solidFill>
                  <a:prstClr val="black">
                    <a:lumMod val="65000"/>
                    <a:lumOff val="35000"/>
                  </a:prstClr>
                </a:solidFill>
                <a:latin typeface="+mn-lt"/>
                <a:ea typeface="+mn-ea"/>
                <a:cs typeface="+mn-cs"/>
              </a:defRPr>
            </a:pPr>
            <a:r>
              <a:rPr lang="en-US" altLang="zh-CN" sz="1000" b="1">
                <a:solidFill>
                  <a:srgbClr val="FFFFFF"/>
                </a:solidFill>
                <a:latin typeface="Arial" panose="020B0604020202020204" pitchFamily="34" charset="0"/>
                <a:cs typeface="Arial" panose="020B0604020202020204" pitchFamily="34" charset="0"/>
              </a:rPr>
              <a:t>Fuel Adjustment Charge (FAC)</a:t>
            </a:r>
          </a:p>
        </p:txBody>
      </p:sp>
      <p:sp>
        <p:nvSpPr>
          <p:cNvPr id="26" name="Rectangle 25">
            <a:extLst>
              <a:ext uri="{FF2B5EF4-FFF2-40B4-BE49-F238E27FC236}">
                <a16:creationId xmlns:a16="http://schemas.microsoft.com/office/drawing/2014/main" id="{600D3088-8BA9-B138-D4BC-96D26B24BF41}"/>
              </a:ext>
            </a:extLst>
          </p:cNvPr>
          <p:cNvSpPr/>
          <p:nvPr/>
        </p:nvSpPr>
        <p:spPr bwMode="gray">
          <a:xfrm>
            <a:off x="2377893" y="4201029"/>
            <a:ext cx="1800000" cy="1080000"/>
          </a:xfrm>
          <a:prstGeom prst="rect">
            <a:avLst/>
          </a:prstGeom>
          <a:noFill/>
          <a:ln w="9525" algn="ctr">
            <a:solidFill>
              <a:schemeClr val="tx1"/>
            </a:solidFill>
            <a:miter lim="800000"/>
            <a:headEnd/>
            <a:tailEnd/>
          </a:ln>
        </p:spPr>
        <p:txBody>
          <a:bodyPr wrap="square" lIns="58500" tIns="29250" rIns="58500" bIns="29250" rtlCol="0" anchor="ctr" anchorCtr="0"/>
          <a:lstStyle/>
          <a:p>
            <a:pPr>
              <a:spcBef>
                <a:spcPts val="163"/>
              </a:spcBef>
            </a:pPr>
            <a:r>
              <a:rPr lang="en-US" sz="1000">
                <a:solidFill>
                  <a:srgbClr val="313131"/>
                </a:solidFill>
                <a:latin typeface="Arial" panose="020B0604020202020204" pitchFamily="34" charset="0"/>
                <a:cs typeface="Arial" panose="020B0604020202020204" pitchFamily="34" charset="0"/>
              </a:rPr>
              <a:t>Scheme for strengthening of </a:t>
            </a:r>
            <a:r>
              <a:rPr lang="en-US" sz="1000" b="1">
                <a:solidFill>
                  <a:srgbClr val="313131"/>
                </a:solidFill>
                <a:latin typeface="Arial" panose="020B0604020202020204" pitchFamily="34" charset="0"/>
                <a:cs typeface="Arial" panose="020B0604020202020204" pitchFamily="34" charset="0"/>
              </a:rPr>
              <a:t>infrastructure</a:t>
            </a:r>
            <a:r>
              <a:rPr lang="en-US" sz="1000">
                <a:solidFill>
                  <a:srgbClr val="313131"/>
                </a:solidFill>
                <a:latin typeface="Arial" panose="020B0604020202020204" pitchFamily="34" charset="0"/>
                <a:cs typeface="Arial" panose="020B0604020202020204" pitchFamily="34" charset="0"/>
              </a:rPr>
              <a:t>, </a:t>
            </a:r>
            <a:r>
              <a:rPr lang="en-US" sz="1000" b="1">
                <a:solidFill>
                  <a:srgbClr val="313131"/>
                </a:solidFill>
                <a:latin typeface="Arial" panose="020B0604020202020204" pitchFamily="34" charset="0"/>
                <a:cs typeface="Arial" panose="020B0604020202020204" pitchFamily="34" charset="0"/>
              </a:rPr>
              <a:t>metering</a:t>
            </a:r>
            <a:r>
              <a:rPr lang="en-US" sz="1000">
                <a:solidFill>
                  <a:srgbClr val="313131"/>
                </a:solidFill>
                <a:latin typeface="Arial" panose="020B0604020202020204" pitchFamily="34" charset="0"/>
                <a:cs typeface="Arial" panose="020B0604020202020204" pitchFamily="34" charset="0"/>
              </a:rPr>
              <a:t>, </a:t>
            </a:r>
            <a:r>
              <a:rPr lang="en-US" sz="1000" b="1">
                <a:solidFill>
                  <a:srgbClr val="313131"/>
                </a:solidFill>
                <a:latin typeface="Arial" panose="020B0604020202020204" pitchFamily="34" charset="0"/>
                <a:cs typeface="Arial" panose="020B0604020202020204" pitchFamily="34" charset="0"/>
              </a:rPr>
              <a:t>IT</a:t>
            </a:r>
            <a:r>
              <a:rPr lang="en-US" sz="1000">
                <a:solidFill>
                  <a:srgbClr val="313131"/>
                </a:solidFill>
                <a:latin typeface="Arial" panose="020B0604020202020204" pitchFamily="34" charset="0"/>
                <a:cs typeface="Arial" panose="020B0604020202020204" pitchFamily="34" charset="0"/>
              </a:rPr>
              <a:t> enablement</a:t>
            </a:r>
            <a:r>
              <a:rPr lang="en-US" sz="1000">
                <a:solidFill>
                  <a:srgbClr val="000000"/>
                </a:solidFill>
                <a:latin typeface="Arial" panose="020B0604020202020204" pitchFamily="34" charset="0"/>
                <a:cs typeface="Arial" panose="020B0604020202020204" pitchFamily="34" charset="0"/>
              </a:rPr>
              <a:t> </a:t>
            </a:r>
          </a:p>
        </p:txBody>
      </p:sp>
      <p:sp>
        <p:nvSpPr>
          <p:cNvPr id="27" name="Rectangle 11">
            <a:extLst>
              <a:ext uri="{FF2B5EF4-FFF2-40B4-BE49-F238E27FC236}">
                <a16:creationId xmlns:a16="http://schemas.microsoft.com/office/drawing/2014/main" id="{6CD841B4-B798-66FB-AFBE-92A2E75AA418}"/>
              </a:ext>
            </a:extLst>
          </p:cNvPr>
          <p:cNvSpPr/>
          <p:nvPr/>
        </p:nvSpPr>
        <p:spPr bwMode="gray">
          <a:xfrm>
            <a:off x="4256008" y="4201029"/>
            <a:ext cx="1800000" cy="1080000"/>
          </a:xfrm>
          <a:prstGeom prst="rect">
            <a:avLst/>
          </a:prstGeom>
          <a:noFill/>
          <a:ln w="9525" algn="ctr">
            <a:solidFill>
              <a:schemeClr val="tx1"/>
            </a:solidFill>
            <a:miter lim="800000"/>
            <a:headEnd/>
            <a:tailEnd/>
          </a:ln>
        </p:spPr>
        <p:txBody>
          <a:bodyPr wrap="square" lIns="58500" tIns="29250" rIns="58500" bIns="29250" rtlCol="0" anchor="ctr" anchorCtr="0"/>
          <a:lstStyle/>
          <a:p>
            <a:pPr>
              <a:spcBef>
                <a:spcPts val="163"/>
              </a:spcBef>
            </a:pPr>
            <a:r>
              <a:rPr lang="en-US" sz="1000" b="1">
                <a:solidFill>
                  <a:srgbClr val="313131"/>
                </a:solidFill>
                <a:latin typeface="Arial" panose="020B0604020202020204" pitchFamily="34" charset="0"/>
                <a:cs typeface="Arial" panose="020B0604020202020204" pitchFamily="34" charset="0"/>
              </a:rPr>
              <a:t>Debt-restructuring programme </a:t>
            </a:r>
            <a:r>
              <a:rPr lang="en-US" sz="1000">
                <a:solidFill>
                  <a:srgbClr val="313131"/>
                </a:solidFill>
                <a:latin typeface="Arial" panose="020B0604020202020204" pitchFamily="34" charset="0"/>
                <a:cs typeface="Arial" panose="020B0604020202020204" pitchFamily="34" charset="0"/>
              </a:rPr>
              <a:t>for Discoms enabled by intervention of both the central and the state governments</a:t>
            </a:r>
            <a:endParaRPr lang="en-US" altLang="zh-CN" sz="1000">
              <a:solidFill>
                <a:srgbClr val="000000"/>
              </a:solidFill>
              <a:latin typeface="Arial" panose="020B0604020202020204" pitchFamily="34" charset="0"/>
              <a:cs typeface="Arial" panose="020B0604020202020204" pitchFamily="34" charset="0"/>
            </a:endParaRPr>
          </a:p>
        </p:txBody>
      </p:sp>
      <p:sp>
        <p:nvSpPr>
          <p:cNvPr id="28" name="Rectangle 11">
            <a:extLst>
              <a:ext uri="{FF2B5EF4-FFF2-40B4-BE49-F238E27FC236}">
                <a16:creationId xmlns:a16="http://schemas.microsoft.com/office/drawing/2014/main" id="{6D2C434F-0042-6553-68E4-CDB05C3E3F04}"/>
              </a:ext>
            </a:extLst>
          </p:cNvPr>
          <p:cNvSpPr/>
          <p:nvPr/>
        </p:nvSpPr>
        <p:spPr bwMode="gray">
          <a:xfrm>
            <a:off x="6134123" y="4201029"/>
            <a:ext cx="1800000" cy="1080000"/>
          </a:xfrm>
          <a:prstGeom prst="rect">
            <a:avLst/>
          </a:prstGeom>
          <a:noFill/>
          <a:ln w="9525" algn="ctr">
            <a:solidFill>
              <a:schemeClr val="tx1"/>
            </a:solidFill>
            <a:miter lim="800000"/>
            <a:headEnd/>
            <a:tailEnd/>
          </a:ln>
        </p:spPr>
        <p:txBody>
          <a:bodyPr wrap="square" lIns="58500" tIns="29250" rIns="58500" bIns="29250" rtlCol="0" anchor="ctr" anchorCtr="0"/>
          <a:lstStyle/>
          <a:p>
            <a:pPr>
              <a:spcBef>
                <a:spcPts val="163"/>
              </a:spcBef>
            </a:pPr>
            <a:r>
              <a:rPr lang="en-US" sz="1000">
                <a:solidFill>
                  <a:srgbClr val="313131"/>
                </a:solidFill>
                <a:latin typeface="Arial" panose="020B0604020202020204" pitchFamily="34" charset="0"/>
                <a:cs typeface="Arial" panose="020B0604020202020204" pitchFamily="34" charset="0"/>
              </a:rPr>
              <a:t>A </a:t>
            </a:r>
            <a:r>
              <a:rPr lang="en-US" sz="1000" b="1">
                <a:solidFill>
                  <a:srgbClr val="313131"/>
                </a:solidFill>
                <a:latin typeface="Arial" panose="020B0604020202020204" pitchFamily="34" charset="0"/>
                <a:cs typeface="Arial" panose="020B0604020202020204" pitchFamily="34" charset="0"/>
              </a:rPr>
              <a:t>result-linked financial support </a:t>
            </a:r>
            <a:r>
              <a:rPr lang="en-US" sz="1000">
                <a:solidFill>
                  <a:srgbClr val="313131"/>
                </a:solidFill>
                <a:latin typeface="Arial" panose="020B0604020202020204" pitchFamily="34" charset="0"/>
                <a:cs typeface="Arial" panose="020B0604020202020204" pitchFamily="34" charset="0"/>
              </a:rPr>
              <a:t>for prepaid smart </a:t>
            </a:r>
            <a:r>
              <a:rPr lang="en-US" sz="1000" b="1">
                <a:solidFill>
                  <a:srgbClr val="313131"/>
                </a:solidFill>
                <a:latin typeface="Arial" panose="020B0604020202020204" pitchFamily="34" charset="0"/>
                <a:cs typeface="Arial" panose="020B0604020202020204" pitchFamily="34" charset="0"/>
              </a:rPr>
              <a:t>metering</a:t>
            </a:r>
            <a:r>
              <a:rPr lang="en-US" sz="1000">
                <a:solidFill>
                  <a:srgbClr val="313131"/>
                </a:solidFill>
                <a:latin typeface="Arial" panose="020B0604020202020204" pitchFamily="34" charset="0"/>
                <a:cs typeface="Arial" panose="020B0604020202020204" pitchFamily="34" charset="0"/>
              </a:rPr>
              <a:t> and up-gradation of the distribution </a:t>
            </a:r>
            <a:r>
              <a:rPr lang="en-US" sz="1000" b="1">
                <a:solidFill>
                  <a:srgbClr val="313131"/>
                </a:solidFill>
                <a:latin typeface="Arial" panose="020B0604020202020204" pitchFamily="34" charset="0"/>
                <a:cs typeface="Arial" panose="020B0604020202020204" pitchFamily="34" charset="0"/>
              </a:rPr>
              <a:t>infrastructure</a:t>
            </a:r>
            <a:endParaRPr lang="en-US" altLang="zh-CN" sz="1000">
              <a:solidFill>
                <a:srgbClr val="000000"/>
              </a:solidFill>
              <a:latin typeface="Arial" panose="020B0604020202020204" pitchFamily="34" charset="0"/>
              <a:cs typeface="Arial" panose="020B0604020202020204" pitchFamily="34" charset="0"/>
            </a:endParaRPr>
          </a:p>
        </p:txBody>
      </p:sp>
      <p:sp>
        <p:nvSpPr>
          <p:cNvPr id="29" name="Rectangle 11">
            <a:extLst>
              <a:ext uri="{FF2B5EF4-FFF2-40B4-BE49-F238E27FC236}">
                <a16:creationId xmlns:a16="http://schemas.microsoft.com/office/drawing/2014/main" id="{47A0B1FA-AE21-4021-330B-6D73F2484827}"/>
              </a:ext>
            </a:extLst>
          </p:cNvPr>
          <p:cNvSpPr/>
          <p:nvPr/>
        </p:nvSpPr>
        <p:spPr bwMode="gray">
          <a:xfrm>
            <a:off x="8012238" y="4201029"/>
            <a:ext cx="1800000" cy="1080000"/>
          </a:xfrm>
          <a:prstGeom prst="rect">
            <a:avLst/>
          </a:prstGeom>
          <a:noFill/>
          <a:ln w="9525" algn="ctr">
            <a:solidFill>
              <a:schemeClr val="tx1"/>
            </a:solidFill>
            <a:miter lim="800000"/>
            <a:headEnd/>
            <a:tailEnd/>
          </a:ln>
        </p:spPr>
        <p:txBody>
          <a:bodyPr wrap="square" lIns="58500" tIns="29250" rIns="58500" bIns="29250" rtlCol="0" anchor="ctr" anchorCtr="0"/>
          <a:lstStyle/>
          <a:p>
            <a:pPr>
              <a:spcBef>
                <a:spcPts val="163"/>
              </a:spcBef>
            </a:pPr>
            <a:r>
              <a:rPr lang="en-US" sz="1000" b="1">
                <a:solidFill>
                  <a:srgbClr val="313131"/>
                </a:solidFill>
                <a:latin typeface="Arial" panose="020B0604020202020204" pitchFamily="34" charset="0"/>
                <a:cs typeface="Arial" panose="020B0604020202020204" pitchFamily="34" charset="0"/>
              </a:rPr>
              <a:t>One-time liquidation scheme </a:t>
            </a:r>
            <a:r>
              <a:rPr lang="en-US" sz="1000">
                <a:solidFill>
                  <a:srgbClr val="313131"/>
                </a:solidFill>
                <a:latin typeface="Arial" panose="020B0604020202020204" pitchFamily="34" charset="0"/>
                <a:cs typeface="Arial" panose="020B0604020202020204" pitchFamily="34" charset="0"/>
              </a:rPr>
              <a:t>allowing payment of </a:t>
            </a:r>
            <a:r>
              <a:rPr lang="en-US" sz="1000" b="1">
                <a:solidFill>
                  <a:srgbClr val="313131"/>
                </a:solidFill>
                <a:latin typeface="Arial" panose="020B0604020202020204" pitchFamily="34" charset="0"/>
                <a:cs typeface="Arial" panose="020B0604020202020204" pitchFamily="34" charset="0"/>
              </a:rPr>
              <a:t>power purchase overdue payments for power purchase </a:t>
            </a:r>
            <a:r>
              <a:rPr lang="en-US" sz="1000">
                <a:solidFill>
                  <a:srgbClr val="313131"/>
                </a:solidFill>
                <a:latin typeface="Arial" panose="020B0604020202020204" pitchFamily="34" charset="0"/>
                <a:cs typeface="Arial" panose="020B0604020202020204" pitchFamily="34" charset="0"/>
              </a:rPr>
              <a:t>in equated monthly installments</a:t>
            </a:r>
            <a:endParaRPr lang="en-US" altLang="zh-CN" sz="1000">
              <a:solidFill>
                <a:srgbClr val="000000"/>
              </a:solidFill>
              <a:latin typeface="Arial" panose="020B0604020202020204" pitchFamily="34" charset="0"/>
              <a:cs typeface="Arial" panose="020B0604020202020204" pitchFamily="34" charset="0"/>
            </a:endParaRPr>
          </a:p>
        </p:txBody>
      </p:sp>
      <p:sp>
        <p:nvSpPr>
          <p:cNvPr id="30" name="Rectangle 11">
            <a:extLst>
              <a:ext uri="{FF2B5EF4-FFF2-40B4-BE49-F238E27FC236}">
                <a16:creationId xmlns:a16="http://schemas.microsoft.com/office/drawing/2014/main" id="{326301B1-8110-F019-026E-8DF8FB3680F4}"/>
              </a:ext>
            </a:extLst>
          </p:cNvPr>
          <p:cNvSpPr/>
          <p:nvPr/>
        </p:nvSpPr>
        <p:spPr bwMode="gray">
          <a:xfrm>
            <a:off x="9890351" y="4201029"/>
            <a:ext cx="1800000" cy="1080000"/>
          </a:xfrm>
          <a:prstGeom prst="rect">
            <a:avLst/>
          </a:prstGeom>
          <a:noFill/>
          <a:ln w="9525" algn="ctr">
            <a:solidFill>
              <a:schemeClr val="tx1"/>
            </a:solidFill>
            <a:miter lim="800000"/>
            <a:headEnd/>
            <a:tailEnd/>
          </a:ln>
        </p:spPr>
        <p:txBody>
          <a:bodyPr wrap="square" lIns="58500" tIns="29250" rIns="58500" bIns="29250" rtlCol="0" anchor="ctr" anchorCtr="0"/>
          <a:lstStyle/>
          <a:p>
            <a:pPr>
              <a:spcBef>
                <a:spcPts val="163"/>
              </a:spcBef>
            </a:pPr>
            <a:r>
              <a:rPr lang="en-US" sz="1000" b="1">
                <a:solidFill>
                  <a:srgbClr val="313131"/>
                </a:solidFill>
                <a:latin typeface="Arial" panose="020B0604020202020204" pitchFamily="34" charset="0"/>
                <a:cs typeface="Arial" panose="020B0604020202020204" pitchFamily="34" charset="0"/>
              </a:rPr>
              <a:t>Automatic pass-through of FAC </a:t>
            </a:r>
            <a:r>
              <a:rPr lang="en-US" sz="1000">
                <a:solidFill>
                  <a:srgbClr val="313131"/>
                </a:solidFill>
                <a:latin typeface="Arial" panose="020B0604020202020204" pitchFamily="34" charset="0"/>
                <a:cs typeface="Arial" panose="020B0604020202020204" pitchFamily="34" charset="0"/>
              </a:rPr>
              <a:t>in the tariff i.e. the recovery of change in power purchase costs due to instances such as increase in fuel costs</a:t>
            </a:r>
            <a:endParaRPr lang="en-US" altLang="zh-CN" sz="1000">
              <a:solidFill>
                <a:srgbClr val="000000"/>
              </a:solidFill>
              <a:latin typeface="Arial" panose="020B0604020202020204" pitchFamily="34" charset="0"/>
              <a:cs typeface="Arial" panose="020B0604020202020204" pitchFamily="34" charset="0"/>
            </a:endParaRPr>
          </a:p>
        </p:txBody>
      </p:sp>
      <p:sp>
        <p:nvSpPr>
          <p:cNvPr id="31" name="Rectangle: Top Corners Rounded 4">
            <a:extLst>
              <a:ext uri="{FF2B5EF4-FFF2-40B4-BE49-F238E27FC236}">
                <a16:creationId xmlns:a16="http://schemas.microsoft.com/office/drawing/2014/main" id="{E7E37ED2-72FB-6CE1-DDC5-980C6FB7AF3A}"/>
              </a:ext>
            </a:extLst>
          </p:cNvPr>
          <p:cNvSpPr/>
          <p:nvPr/>
        </p:nvSpPr>
        <p:spPr bwMode="gray">
          <a:xfrm>
            <a:off x="501649" y="3794534"/>
            <a:ext cx="1800000" cy="360000"/>
          </a:xfrm>
          <a:prstGeom prst="round2SameRect">
            <a:avLst>
              <a:gd name="adj1" fmla="val 20588"/>
              <a:gd name="adj2" fmla="val 0"/>
            </a:avLst>
          </a:prstGeom>
          <a:solidFill>
            <a:srgbClr val="046A38"/>
          </a:solidFill>
          <a:ln w="19050" algn="ctr">
            <a:noFill/>
            <a:miter lim="800000"/>
            <a:headEnd/>
            <a:tailEnd/>
          </a:ln>
        </p:spPr>
        <p:txBody>
          <a:bodyPr wrap="square" lIns="74295" tIns="37148" rIns="72231" bIns="37148" rtlCol="0" anchor="ctr"/>
          <a:lstStyle/>
          <a:p>
            <a:pPr algn="ctr">
              <a:defRPr sz="1400" b="0" i="0" u="none" strike="noStrike" kern="1200" spc="0" baseline="0">
                <a:solidFill>
                  <a:prstClr val="black">
                    <a:lumMod val="65000"/>
                    <a:lumOff val="35000"/>
                  </a:prstClr>
                </a:solidFill>
                <a:latin typeface="+mn-lt"/>
                <a:ea typeface="+mn-ea"/>
                <a:cs typeface="+mn-cs"/>
              </a:defRPr>
            </a:pPr>
            <a:r>
              <a:rPr lang="en-US" sz="1000" b="1">
                <a:solidFill>
                  <a:schemeClr val="bg1"/>
                </a:solidFill>
                <a:latin typeface="Arial" panose="020B0604020202020204" pitchFamily="34" charset="0"/>
                <a:cs typeface="Arial" panose="020B0604020202020204" pitchFamily="34" charset="0"/>
              </a:rPr>
              <a:t>R-APDRP</a:t>
            </a:r>
            <a:endParaRPr lang="en-US" altLang="zh-CN" sz="1000" b="1">
              <a:solidFill>
                <a:schemeClr val="bg1"/>
              </a:solidFill>
              <a:latin typeface="Arial" panose="020B0604020202020204" pitchFamily="34" charset="0"/>
              <a:cs typeface="Arial" panose="020B0604020202020204" pitchFamily="34" charset="0"/>
            </a:endParaRPr>
          </a:p>
        </p:txBody>
      </p:sp>
      <p:sp>
        <p:nvSpPr>
          <p:cNvPr id="32" name="Rectangle 11">
            <a:extLst>
              <a:ext uri="{FF2B5EF4-FFF2-40B4-BE49-F238E27FC236}">
                <a16:creationId xmlns:a16="http://schemas.microsoft.com/office/drawing/2014/main" id="{3CE5C1BE-3A43-883E-FEB3-FF3874FF5E9E}"/>
              </a:ext>
            </a:extLst>
          </p:cNvPr>
          <p:cNvSpPr/>
          <p:nvPr/>
        </p:nvSpPr>
        <p:spPr bwMode="gray">
          <a:xfrm>
            <a:off x="499778" y="4201029"/>
            <a:ext cx="1800000" cy="1080000"/>
          </a:xfrm>
          <a:prstGeom prst="rect">
            <a:avLst/>
          </a:prstGeom>
          <a:noFill/>
          <a:ln w="9525" algn="ctr">
            <a:solidFill>
              <a:schemeClr val="tx1"/>
            </a:solidFill>
            <a:miter lim="800000"/>
            <a:headEnd/>
            <a:tailEnd/>
          </a:ln>
        </p:spPr>
        <p:txBody>
          <a:bodyPr wrap="square" lIns="58500" tIns="29250" rIns="58500" bIns="29250" rtlCol="0" anchor="ctr" anchorCtr="0"/>
          <a:lstStyle/>
          <a:p>
            <a:pPr>
              <a:spcBef>
                <a:spcPts val="163"/>
              </a:spcBef>
            </a:pPr>
            <a:r>
              <a:rPr lang="en-US" sz="1000">
                <a:solidFill>
                  <a:srgbClr val="313131"/>
                </a:solidFill>
                <a:latin typeface="Arial" panose="020B0604020202020204" pitchFamily="34" charset="0"/>
                <a:cs typeface="Arial" panose="020B0604020202020204" pitchFamily="34" charset="0"/>
              </a:rPr>
              <a:t>Scheme for </a:t>
            </a:r>
            <a:r>
              <a:rPr lang="en-US" sz="1000" b="1">
                <a:solidFill>
                  <a:srgbClr val="313131"/>
                </a:solidFill>
                <a:latin typeface="Arial" panose="020B0604020202020204" pitchFamily="34" charset="0"/>
                <a:cs typeface="Arial" panose="020B0604020202020204" pitchFamily="34" charset="0"/>
              </a:rPr>
              <a:t>IT</a:t>
            </a:r>
            <a:r>
              <a:rPr lang="en-US" sz="1000">
                <a:solidFill>
                  <a:srgbClr val="313131"/>
                </a:solidFill>
                <a:latin typeface="Arial" panose="020B0604020202020204" pitchFamily="34" charset="0"/>
                <a:cs typeface="Arial" panose="020B0604020202020204" pitchFamily="34" charset="0"/>
              </a:rPr>
              <a:t> applications, consumer </a:t>
            </a:r>
            <a:r>
              <a:rPr lang="en-US" sz="1000" b="1">
                <a:solidFill>
                  <a:srgbClr val="313131"/>
                </a:solidFill>
                <a:latin typeface="Arial" panose="020B0604020202020204" pitchFamily="34" charset="0"/>
                <a:cs typeface="Arial" panose="020B0604020202020204" pitchFamily="34" charset="0"/>
              </a:rPr>
              <a:t>data mapping </a:t>
            </a:r>
            <a:r>
              <a:rPr lang="en-US" sz="1000">
                <a:solidFill>
                  <a:srgbClr val="313131"/>
                </a:solidFill>
                <a:latin typeface="Arial" panose="020B0604020202020204" pitchFamily="34" charset="0"/>
                <a:cs typeface="Arial" panose="020B0604020202020204" pitchFamily="34" charset="0"/>
              </a:rPr>
              <a:t>and renovation and modernization of </a:t>
            </a:r>
            <a:r>
              <a:rPr lang="en-US" sz="1000" b="1">
                <a:solidFill>
                  <a:srgbClr val="313131"/>
                </a:solidFill>
                <a:latin typeface="Arial" panose="020B0604020202020204" pitchFamily="34" charset="0"/>
                <a:cs typeface="Arial" panose="020B0604020202020204" pitchFamily="34" charset="0"/>
              </a:rPr>
              <a:t>infrastructure</a:t>
            </a:r>
            <a:r>
              <a:rPr lang="en-US" altLang="zh-CN" sz="1000">
                <a:solidFill>
                  <a:srgbClr val="000000"/>
                </a:solidFill>
                <a:latin typeface="Arial" panose="020B0604020202020204" pitchFamily="34" charset="0"/>
                <a:cs typeface="Arial" panose="020B0604020202020204" pitchFamily="34" charset="0"/>
              </a:rPr>
              <a:t> </a:t>
            </a:r>
          </a:p>
        </p:txBody>
      </p:sp>
      <p:sp>
        <p:nvSpPr>
          <p:cNvPr id="33" name="TextBox 32">
            <a:extLst>
              <a:ext uri="{FF2B5EF4-FFF2-40B4-BE49-F238E27FC236}">
                <a16:creationId xmlns:a16="http://schemas.microsoft.com/office/drawing/2014/main" id="{8F6E461B-6099-DD18-029E-D9E0B7F62EC8}"/>
              </a:ext>
            </a:extLst>
          </p:cNvPr>
          <p:cNvSpPr txBox="1"/>
          <p:nvPr/>
        </p:nvSpPr>
        <p:spPr>
          <a:xfrm>
            <a:off x="563139" y="5576839"/>
            <a:ext cx="11065723" cy="184666"/>
          </a:xfrm>
          <a:prstGeom prst="rect">
            <a:avLst/>
          </a:prstGeom>
          <a:noFill/>
        </p:spPr>
        <p:txBody>
          <a:bodyPr wrap="square" lIns="0" tIns="0" rIns="0" bIns="0" rtlCol="0">
            <a:spAutoFit/>
          </a:bodyPr>
          <a:lstStyle/>
          <a:p>
            <a:pPr algn="ctr">
              <a:spcBef>
                <a:spcPts val="488"/>
              </a:spcBef>
              <a:buSzPct val="100000"/>
            </a:pPr>
            <a:r>
              <a:rPr lang="en-US" sz="1200">
                <a:solidFill>
                  <a:srgbClr val="046A38"/>
                </a:solidFill>
                <a:latin typeface="Arial" panose="020B0604020202020204" pitchFamily="34" charset="0"/>
                <a:cs typeface="Arial" panose="020B0604020202020204" pitchFamily="34" charset="0"/>
              </a:rPr>
              <a:t>Above measures have resulted in improvement of the operational performance of the state-owned utilities, especially in the last 2-3 years</a:t>
            </a:r>
            <a:endParaRPr lang="en-IN" sz="1200" b="1">
              <a:solidFill>
                <a:srgbClr val="046A38"/>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60726750"/>
      </p:ext>
    </p:extLst>
  </p:cSld>
  <p:clrMapOvr>
    <a:masterClrMapping/>
  </p:clrMapOvr>
  <p:transition>
    <p:fade/>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990057991"/>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defTabSz="914400">
              <a:spcBef>
                <a:spcPts val="488"/>
              </a:spcBef>
              <a:buSzPct val="100000"/>
            </a:pPr>
            <a:r>
              <a:rPr lang="en-US" sz="2000" b="1">
                <a:latin typeface="Arial" panose="020B0604020202020204" pitchFamily="34" charset="0"/>
                <a:cs typeface="Arial" panose="020B0604020202020204" pitchFamily="34" charset="0"/>
              </a:rPr>
              <a:t>Introduction of the Late Payment Surcharge (LPS), Rules </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Government, via policy interventions streamlined the payment by DISCOMs resulting in a 79% reduction of outstanding dues in ~2 years</a:t>
            </a:r>
          </a:p>
          <a:p>
            <a:endParaRPr lang="en-US" sz="1400">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Sources: </a:t>
            </a:r>
            <a:r>
              <a:rPr kumimoji="0" lang="en-US" sz="1050" u="none" strike="noStrike" kern="0" cap="none" spc="0" normalizeH="0" baseline="0" noProof="0">
                <a:ln>
                  <a:noFill/>
                </a:ln>
                <a:effectLst/>
                <a:uLnTx/>
                <a:uFillTx/>
                <a:latin typeface="Arial" panose="020B0604020202020204" pitchFamily="34" charset="0"/>
                <a:cs typeface="Arial" panose="020B0604020202020204" pitchFamily="34" charset="0"/>
              </a:rPr>
              <a:t>CERC, Deloitte analysis</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
        <p:nvSpPr>
          <p:cNvPr id="19" name="TextBox 18">
            <a:extLst>
              <a:ext uri="{FF2B5EF4-FFF2-40B4-BE49-F238E27FC236}">
                <a16:creationId xmlns:a16="http://schemas.microsoft.com/office/drawing/2014/main" id="{9C53B65B-97A0-F3B0-B456-F8C2ABDB99CB}"/>
              </a:ext>
            </a:extLst>
          </p:cNvPr>
          <p:cNvSpPr txBox="1"/>
          <p:nvPr/>
        </p:nvSpPr>
        <p:spPr>
          <a:xfrm>
            <a:off x="523488" y="6278357"/>
            <a:ext cx="11221270" cy="123111"/>
          </a:xfrm>
          <a:prstGeom prst="rect">
            <a:avLst/>
          </a:prstGeom>
          <a:noFill/>
        </p:spPr>
        <p:txBody>
          <a:bodyPr wrap="square" lIns="0" tIns="0" rIns="0" bIns="0" rtlCol="0">
            <a:spAutoFit/>
          </a:bodyPr>
          <a:lstStyle/>
          <a:p>
            <a:pPr>
              <a:buSzPct val="100000"/>
            </a:pPr>
            <a:endParaRPr lang="en-US" sz="800">
              <a:solidFill>
                <a:srgbClr val="313131"/>
              </a:solidFill>
              <a:latin typeface="Arial" panose="020B0604020202020204" pitchFamily="34" charset="0"/>
              <a:cs typeface="Arial" panose="020B0604020202020204" pitchFamily="34" charset="0"/>
            </a:endParaRPr>
          </a:p>
        </p:txBody>
      </p:sp>
      <p:sp>
        <p:nvSpPr>
          <p:cNvPr id="45" name="Rectangle: Rounded Corners 44">
            <a:extLst>
              <a:ext uri="{FF2B5EF4-FFF2-40B4-BE49-F238E27FC236}">
                <a16:creationId xmlns:a16="http://schemas.microsoft.com/office/drawing/2014/main" id="{0BA9E853-2847-38D7-5E97-B52198EBA9AF}"/>
              </a:ext>
            </a:extLst>
          </p:cNvPr>
          <p:cNvSpPr/>
          <p:nvPr/>
        </p:nvSpPr>
        <p:spPr>
          <a:xfrm>
            <a:off x="724850" y="1492987"/>
            <a:ext cx="1261091" cy="463296"/>
          </a:xfrm>
          <a:prstGeom prst="roundRect">
            <a:avLst/>
          </a:prstGeom>
          <a:solidFill>
            <a:srgbClr val="FFFFFF"/>
          </a:solidFill>
          <a:ln w="12700" cap="flat">
            <a:gradFill>
              <a:gsLst>
                <a:gs pos="0">
                  <a:srgbClr val="00ABAB"/>
                </a:gs>
                <a:gs pos="100000">
                  <a:srgbClr val="0076A8"/>
                </a:gs>
              </a:gsLst>
              <a:lin ang="5400000" scaled="1"/>
            </a:gradFill>
            <a:prstDash val="solid"/>
            <a:miter/>
          </a:ln>
          <a:effectLst/>
        </p:spPr>
        <p:txBody>
          <a:bodyPr wrap="square" rtlCol="0" anchor="ctr"/>
          <a:lstStyle/>
          <a:p>
            <a:pPr algn="ctr" defTabSz="742950">
              <a:defRPr/>
            </a:pPr>
            <a:r>
              <a:rPr lang="en-US" sz="1200" b="1">
                <a:solidFill>
                  <a:prstClr val="black"/>
                </a:solidFill>
                <a:latin typeface="Arial" panose="020B0604020202020204" pitchFamily="34" charset="0"/>
                <a:cs typeface="Arial" panose="020B0604020202020204" pitchFamily="34" charset="0"/>
              </a:rPr>
              <a:t>Notification of the Rules</a:t>
            </a:r>
          </a:p>
        </p:txBody>
      </p:sp>
      <p:sp>
        <p:nvSpPr>
          <p:cNvPr id="5" name="Rectangle: Rounded Corners 4">
            <a:extLst>
              <a:ext uri="{FF2B5EF4-FFF2-40B4-BE49-F238E27FC236}">
                <a16:creationId xmlns:a16="http://schemas.microsoft.com/office/drawing/2014/main" id="{0BA9E853-2847-38D7-5E97-B52198EBA9AF}"/>
              </a:ext>
            </a:extLst>
          </p:cNvPr>
          <p:cNvSpPr/>
          <p:nvPr/>
        </p:nvSpPr>
        <p:spPr>
          <a:xfrm>
            <a:off x="724849" y="1492987"/>
            <a:ext cx="1440000" cy="478800"/>
          </a:xfrm>
          <a:prstGeom prst="roundRect">
            <a:avLst/>
          </a:prstGeom>
          <a:solidFill>
            <a:srgbClr val="FFFFFF"/>
          </a:solidFill>
          <a:ln w="12700" cap="flat">
            <a:solidFill>
              <a:srgbClr val="046A38"/>
            </a:solidFill>
            <a:prstDash val="solid"/>
            <a:miter/>
          </a:ln>
          <a:effectLst/>
        </p:spPr>
        <p:txBody>
          <a:bodyPr wrap="square" lIns="180000" rtlCol="0" anchor="ctr"/>
          <a:lstStyle/>
          <a:p>
            <a:pPr algn="ctr" defTabSz="742950">
              <a:defRPr/>
            </a:pPr>
            <a:r>
              <a:rPr lang="en-US" sz="1200" b="1">
                <a:solidFill>
                  <a:prstClr val="black"/>
                </a:solidFill>
                <a:latin typeface="Arial" panose="020B0604020202020204" pitchFamily="34" charset="0"/>
                <a:cs typeface="Arial" panose="020B0604020202020204" pitchFamily="34" charset="0"/>
              </a:rPr>
              <a:t>Notification of the Rules</a:t>
            </a:r>
          </a:p>
        </p:txBody>
      </p:sp>
      <p:sp>
        <p:nvSpPr>
          <p:cNvPr id="7" name="Text Box 245">
            <a:extLst>
              <a:ext uri="{FF2B5EF4-FFF2-40B4-BE49-F238E27FC236}">
                <a16:creationId xmlns:a16="http://schemas.microsoft.com/office/drawing/2014/main" id="{87D13358-02E0-BB38-3E01-F6D7042DCE9E}"/>
              </a:ext>
            </a:extLst>
          </p:cNvPr>
          <p:cNvSpPr txBox="1">
            <a:spLocks noChangeArrowheads="1"/>
          </p:cNvSpPr>
          <p:nvPr/>
        </p:nvSpPr>
        <p:spPr bwMode="gray">
          <a:xfrm>
            <a:off x="2414206" y="1588552"/>
            <a:ext cx="3434396" cy="287671"/>
          </a:xfrm>
          <a:prstGeom prst="rect">
            <a:avLst/>
          </a:prstGeom>
          <a:noFill/>
          <a:ln w="3175" algn="ctr">
            <a:noFill/>
            <a:miter lim="800000"/>
            <a:headEnd/>
            <a:tailEnd/>
          </a:ln>
          <a:effectLst/>
          <a:extLst>
            <a:ext uri="{909E8E84-426E-40DD-AFC4-6F175D3DCCD1}">
              <a14:hiddenFill xmlns:a14="http://schemas.microsoft.com/office/drawing/2010/main">
                <a:solidFill>
                  <a:schemeClr val="accent6">
                    <a:lumMod val="75000"/>
                  </a:schemeClr>
                </a:solidFill>
              </a14:hiddenFill>
            </a:ext>
          </a:extLst>
        </p:spPr>
        <p:txBody>
          <a:bodyPr wrap="square" lIns="0" tIns="59472" rIns="0" bIns="29677" numCol="1" anchor="ctr" anchorCtr="0">
            <a:noAutofit/>
          </a:bodyPr>
          <a:lstStyle>
            <a:defPPr>
              <a:defRPr lang="en-US"/>
            </a:defPPr>
            <a:lvl1pPr marL="0" algn="l" defTabSz="1042873" rtl="0" eaLnBrk="1" latinLnBrk="0" hangingPunct="1">
              <a:defRPr sz="2100" kern="1200">
                <a:solidFill>
                  <a:schemeClr val="tx1"/>
                </a:solidFill>
                <a:latin typeface="+mn-lt"/>
                <a:ea typeface="+mn-ea"/>
                <a:cs typeface="+mn-cs"/>
              </a:defRPr>
            </a:lvl1pPr>
            <a:lvl2pPr marL="521437" algn="l" defTabSz="1042873" rtl="0" eaLnBrk="1" latinLnBrk="0" hangingPunct="1">
              <a:defRPr sz="2100" kern="1200">
                <a:solidFill>
                  <a:schemeClr val="tx1"/>
                </a:solidFill>
                <a:latin typeface="+mn-lt"/>
                <a:ea typeface="+mn-ea"/>
                <a:cs typeface="+mn-cs"/>
              </a:defRPr>
            </a:lvl2pPr>
            <a:lvl3pPr marL="1042873" algn="l" defTabSz="1042873" rtl="0" eaLnBrk="1" latinLnBrk="0" hangingPunct="1">
              <a:defRPr sz="2100" kern="1200">
                <a:solidFill>
                  <a:schemeClr val="tx1"/>
                </a:solidFill>
                <a:latin typeface="+mn-lt"/>
                <a:ea typeface="+mn-ea"/>
                <a:cs typeface="+mn-cs"/>
              </a:defRPr>
            </a:lvl3pPr>
            <a:lvl4pPr marL="1564310" algn="l" defTabSz="1042873" rtl="0" eaLnBrk="1" latinLnBrk="0" hangingPunct="1">
              <a:defRPr sz="2100" kern="1200">
                <a:solidFill>
                  <a:schemeClr val="tx1"/>
                </a:solidFill>
                <a:latin typeface="+mn-lt"/>
                <a:ea typeface="+mn-ea"/>
                <a:cs typeface="+mn-cs"/>
              </a:defRPr>
            </a:lvl4pPr>
            <a:lvl5pPr marL="2085746" algn="l" defTabSz="1042873" rtl="0" eaLnBrk="1" latinLnBrk="0" hangingPunct="1">
              <a:defRPr sz="2100" kern="1200">
                <a:solidFill>
                  <a:schemeClr val="tx1"/>
                </a:solidFill>
                <a:latin typeface="+mn-lt"/>
                <a:ea typeface="+mn-ea"/>
                <a:cs typeface="+mn-cs"/>
              </a:defRPr>
            </a:lvl5pPr>
            <a:lvl6pPr marL="2607183" algn="l" defTabSz="1042873" rtl="0" eaLnBrk="1" latinLnBrk="0" hangingPunct="1">
              <a:defRPr sz="2100" kern="1200">
                <a:solidFill>
                  <a:schemeClr val="tx1"/>
                </a:solidFill>
                <a:latin typeface="+mn-lt"/>
                <a:ea typeface="+mn-ea"/>
                <a:cs typeface="+mn-cs"/>
              </a:defRPr>
            </a:lvl6pPr>
            <a:lvl7pPr marL="3128620" algn="l" defTabSz="1042873" rtl="0" eaLnBrk="1" latinLnBrk="0" hangingPunct="1">
              <a:defRPr sz="2100" kern="1200">
                <a:solidFill>
                  <a:schemeClr val="tx1"/>
                </a:solidFill>
                <a:latin typeface="+mn-lt"/>
                <a:ea typeface="+mn-ea"/>
                <a:cs typeface="+mn-cs"/>
              </a:defRPr>
            </a:lvl7pPr>
            <a:lvl8pPr marL="3650056" algn="l" defTabSz="1042873" rtl="0" eaLnBrk="1" latinLnBrk="0" hangingPunct="1">
              <a:defRPr sz="2100" kern="1200">
                <a:solidFill>
                  <a:schemeClr val="tx1"/>
                </a:solidFill>
                <a:latin typeface="+mn-lt"/>
                <a:ea typeface="+mn-ea"/>
                <a:cs typeface="+mn-cs"/>
              </a:defRPr>
            </a:lvl8pPr>
            <a:lvl9pPr marL="4171493" algn="l" defTabSz="1042873" rtl="0" eaLnBrk="1" latinLnBrk="0" hangingPunct="1">
              <a:defRPr sz="2100" kern="1200">
                <a:solidFill>
                  <a:schemeClr val="tx1"/>
                </a:solidFill>
                <a:latin typeface="+mn-lt"/>
                <a:ea typeface="+mn-ea"/>
                <a:cs typeface="+mn-cs"/>
              </a:defRPr>
            </a:lvl9pPr>
          </a:lstStyle>
          <a:p>
            <a:pPr marL="139303" indent="-139303" defTabSz="775819">
              <a:buFont typeface="Arial" panose="020B0604020202020204" pitchFamily="34" charset="0"/>
              <a:buChar char="•"/>
              <a:defRPr/>
            </a:pPr>
            <a:r>
              <a:rPr lang="en-US" sz="1000">
                <a:solidFill>
                  <a:srgbClr val="000000"/>
                </a:solidFill>
                <a:latin typeface="Arial" panose="020B0604020202020204" pitchFamily="34" charset="0"/>
                <a:cs typeface="Arial" panose="020B0604020202020204" pitchFamily="34" charset="0"/>
              </a:rPr>
              <a:t>The Ministry of Power issued the Electricity (Late Payment Surcharge and Related Matters) Rules (LPS Rules) in </a:t>
            </a:r>
            <a:r>
              <a:rPr lang="en-US" sz="1000" b="1">
                <a:solidFill>
                  <a:srgbClr val="000000"/>
                </a:solidFill>
                <a:latin typeface="Arial" panose="020B0604020202020204" pitchFamily="34" charset="0"/>
                <a:cs typeface="Arial" panose="020B0604020202020204" pitchFamily="34" charset="0"/>
              </a:rPr>
              <a:t>June 2022</a:t>
            </a:r>
            <a:endParaRPr lang="en-US" sz="1000">
              <a:solidFill>
                <a:prstClr val="black"/>
              </a:solidFill>
              <a:latin typeface="Arial" panose="020B0604020202020204" pitchFamily="34" charset="0"/>
              <a:cs typeface="Arial" panose="020B0604020202020204" pitchFamily="34" charset="0"/>
            </a:endParaRPr>
          </a:p>
        </p:txBody>
      </p:sp>
      <p:grpSp>
        <p:nvGrpSpPr>
          <p:cNvPr id="83" name="Group 82">
            <a:extLst>
              <a:ext uri="{FF2B5EF4-FFF2-40B4-BE49-F238E27FC236}">
                <a16:creationId xmlns:a16="http://schemas.microsoft.com/office/drawing/2014/main" id="{4C82E7D7-556E-C9B1-F70C-D637970894E8}"/>
              </a:ext>
            </a:extLst>
          </p:cNvPr>
          <p:cNvGrpSpPr/>
          <p:nvPr/>
        </p:nvGrpSpPr>
        <p:grpSpPr>
          <a:xfrm>
            <a:off x="514195" y="1515747"/>
            <a:ext cx="432000" cy="432000"/>
            <a:chOff x="530619" y="1515747"/>
            <a:chExt cx="432000" cy="432000"/>
          </a:xfrm>
        </p:grpSpPr>
        <p:sp>
          <p:nvSpPr>
            <p:cNvPr id="9" name="Freeform: Shape 8">
              <a:extLst>
                <a:ext uri="{FF2B5EF4-FFF2-40B4-BE49-F238E27FC236}">
                  <a16:creationId xmlns:a16="http://schemas.microsoft.com/office/drawing/2014/main" id="{5D5C858D-A2EF-0F01-AE9F-CB814F045189}"/>
                </a:ext>
              </a:extLst>
            </p:cNvPr>
            <p:cNvSpPr/>
            <p:nvPr/>
          </p:nvSpPr>
          <p:spPr>
            <a:xfrm flipH="1">
              <a:off x="530619" y="1515747"/>
              <a:ext cx="432000" cy="432000"/>
            </a:xfrm>
            <a:custGeom>
              <a:avLst/>
              <a:gdLst>
                <a:gd name="connsiteX0" fmla="*/ 767890 w 767890"/>
                <a:gd name="connsiteY0" fmla="*/ 383945 h 767890"/>
                <a:gd name="connsiteX1" fmla="*/ 383945 w 767890"/>
                <a:gd name="connsiteY1" fmla="*/ 767890 h 767890"/>
                <a:gd name="connsiteX2" fmla="*/ 0 w 767890"/>
                <a:gd name="connsiteY2" fmla="*/ 383945 h 767890"/>
                <a:gd name="connsiteX3" fmla="*/ 383945 w 767890"/>
                <a:gd name="connsiteY3" fmla="*/ 0 h 767890"/>
                <a:gd name="connsiteX4" fmla="*/ 767890 w 767890"/>
                <a:gd name="connsiteY4" fmla="*/ 383945 h 767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7890" h="767890">
                  <a:moveTo>
                    <a:pt x="767890" y="383945"/>
                  </a:moveTo>
                  <a:cubicBezTo>
                    <a:pt x="767890" y="595992"/>
                    <a:pt x="595992" y="767890"/>
                    <a:pt x="383945" y="767890"/>
                  </a:cubicBezTo>
                  <a:cubicBezTo>
                    <a:pt x="171898" y="767890"/>
                    <a:pt x="0" y="595992"/>
                    <a:pt x="0" y="383945"/>
                  </a:cubicBezTo>
                  <a:cubicBezTo>
                    <a:pt x="0" y="171898"/>
                    <a:pt x="171898" y="0"/>
                    <a:pt x="383945" y="0"/>
                  </a:cubicBezTo>
                  <a:cubicBezTo>
                    <a:pt x="595992" y="0"/>
                    <a:pt x="767890" y="171898"/>
                    <a:pt x="767890" y="383945"/>
                  </a:cubicBezTo>
                  <a:close/>
                </a:path>
              </a:pathLst>
            </a:custGeom>
            <a:solidFill>
              <a:srgbClr val="046A38"/>
            </a:solidFill>
            <a:ln w="6858" cap="flat">
              <a:noFill/>
              <a:prstDash val="solid"/>
              <a:miter/>
            </a:ln>
            <a:effectLst/>
          </p:spPr>
          <p:txBody>
            <a:bodyPr rtlCol="0" anchor="ctr"/>
            <a:lstStyle/>
            <a:p>
              <a:pPr defTabSz="742950">
                <a:defRPr/>
              </a:pPr>
              <a:endParaRPr lang="en-IN" sz="1463">
                <a:solidFill>
                  <a:prstClr val="black"/>
                </a:solidFill>
                <a:latin typeface="Calibri"/>
              </a:endParaRPr>
            </a:p>
          </p:txBody>
        </p:sp>
        <p:grpSp>
          <p:nvGrpSpPr>
            <p:cNvPr id="11" name="Group 192">
              <a:extLst>
                <a:ext uri="{FF2B5EF4-FFF2-40B4-BE49-F238E27FC236}">
                  <a16:creationId xmlns:a16="http://schemas.microsoft.com/office/drawing/2014/main" id="{D1728F39-A8E6-AB27-BAAC-A3638E4E3313}"/>
                </a:ext>
              </a:extLst>
            </p:cNvPr>
            <p:cNvGrpSpPr>
              <a:grpSpLocks noChangeAspect="1"/>
            </p:cNvGrpSpPr>
            <p:nvPr/>
          </p:nvGrpSpPr>
          <p:grpSpPr bwMode="auto">
            <a:xfrm>
              <a:off x="565938" y="1552387"/>
              <a:ext cx="360000" cy="360000"/>
              <a:chOff x="378" y="713"/>
              <a:chExt cx="340" cy="340"/>
            </a:xfrm>
            <a:solidFill>
              <a:srgbClr val="FFFFFF"/>
            </a:solidFill>
            <a:effectLst/>
          </p:grpSpPr>
          <p:sp>
            <p:nvSpPr>
              <p:cNvPr id="3" name="Freeform 193">
                <a:extLst>
                  <a:ext uri="{FF2B5EF4-FFF2-40B4-BE49-F238E27FC236}">
                    <a16:creationId xmlns:a16="http://schemas.microsoft.com/office/drawing/2014/main" id="{3F6DAECA-CA0E-1190-ABB7-9DE2E0EA0B39}"/>
                  </a:ext>
                </a:extLst>
              </p:cNvPr>
              <p:cNvSpPr>
                <a:spLocks noEditPoints="1"/>
              </p:cNvSpPr>
              <p:nvPr/>
            </p:nvSpPr>
            <p:spPr bwMode="auto">
              <a:xfrm>
                <a:off x="378" y="71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4906" tIns="27454" rIns="54906" bIns="27454" numCol="1" anchor="t" anchorCtr="0" compatLnSpc="1">
                <a:prstTxWarp prst="textNoShape">
                  <a:avLst/>
                </a:prstTxWarp>
              </a:bodyPr>
              <a:lstStyle/>
              <a:p>
                <a:pPr defTabSz="990576">
                  <a:defRPr/>
                </a:pPr>
                <a:endParaRPr lang="en-GB" sz="1300" kern="0">
                  <a:solidFill>
                    <a:prstClr val="black"/>
                  </a:solidFill>
                  <a:latin typeface="Calibri"/>
                </a:endParaRPr>
              </a:p>
            </p:txBody>
          </p:sp>
          <p:sp>
            <p:nvSpPr>
              <p:cNvPr id="4" name="Freeform 194">
                <a:extLst>
                  <a:ext uri="{FF2B5EF4-FFF2-40B4-BE49-F238E27FC236}">
                    <a16:creationId xmlns:a16="http://schemas.microsoft.com/office/drawing/2014/main" id="{F6528E32-EF57-F61C-8610-BEFD31A66398}"/>
                  </a:ext>
                </a:extLst>
              </p:cNvPr>
              <p:cNvSpPr>
                <a:spLocks noEditPoints="1"/>
              </p:cNvSpPr>
              <p:nvPr/>
            </p:nvSpPr>
            <p:spPr bwMode="auto">
              <a:xfrm>
                <a:off x="442" y="812"/>
                <a:ext cx="212" cy="157"/>
              </a:xfrm>
              <a:custGeom>
                <a:avLst/>
                <a:gdLst>
                  <a:gd name="T0" fmla="*/ 309 w 320"/>
                  <a:gd name="T1" fmla="*/ 21 h 236"/>
                  <a:gd name="T2" fmla="*/ 309 w 320"/>
                  <a:gd name="T3" fmla="*/ 0 h 236"/>
                  <a:gd name="T4" fmla="*/ 288 w 320"/>
                  <a:gd name="T5" fmla="*/ 11 h 236"/>
                  <a:gd name="T6" fmla="*/ 247 w 320"/>
                  <a:gd name="T7" fmla="*/ 32 h 236"/>
                  <a:gd name="T8" fmla="*/ 165 w 320"/>
                  <a:gd name="T9" fmla="*/ 12 h 236"/>
                  <a:gd name="T10" fmla="*/ 128 w 320"/>
                  <a:gd name="T11" fmla="*/ 32 h 236"/>
                  <a:gd name="T12" fmla="*/ 32 w 320"/>
                  <a:gd name="T13" fmla="*/ 11 h 236"/>
                  <a:gd name="T14" fmla="*/ 10 w 320"/>
                  <a:gd name="T15" fmla="*/ 0 h 236"/>
                  <a:gd name="T16" fmla="*/ 10 w 320"/>
                  <a:gd name="T17" fmla="*/ 21 h 236"/>
                  <a:gd name="T18" fmla="*/ 0 w 320"/>
                  <a:gd name="T19" fmla="*/ 181 h 236"/>
                  <a:gd name="T20" fmla="*/ 21 w 320"/>
                  <a:gd name="T21" fmla="*/ 192 h 236"/>
                  <a:gd name="T22" fmla="*/ 32 w 320"/>
                  <a:gd name="T23" fmla="*/ 171 h 236"/>
                  <a:gd name="T24" fmla="*/ 76 w 320"/>
                  <a:gd name="T25" fmla="*/ 219 h 236"/>
                  <a:gd name="T26" fmla="*/ 121 w 320"/>
                  <a:gd name="T27" fmla="*/ 232 h 236"/>
                  <a:gd name="T28" fmla="*/ 154 w 320"/>
                  <a:gd name="T29" fmla="*/ 235 h 236"/>
                  <a:gd name="T30" fmla="*/ 181 w 320"/>
                  <a:gd name="T31" fmla="*/ 221 h 236"/>
                  <a:gd name="T32" fmla="*/ 222 w 320"/>
                  <a:gd name="T33" fmla="*/ 227 h 236"/>
                  <a:gd name="T34" fmla="*/ 242 w 320"/>
                  <a:gd name="T35" fmla="*/ 210 h 236"/>
                  <a:gd name="T36" fmla="*/ 275 w 320"/>
                  <a:gd name="T37" fmla="*/ 185 h 236"/>
                  <a:gd name="T38" fmla="*/ 288 w 320"/>
                  <a:gd name="T39" fmla="*/ 171 h 236"/>
                  <a:gd name="T40" fmla="*/ 298 w 320"/>
                  <a:gd name="T41" fmla="*/ 192 h 236"/>
                  <a:gd name="T42" fmla="*/ 320 w 320"/>
                  <a:gd name="T43" fmla="*/ 181 h 236"/>
                  <a:gd name="T44" fmla="*/ 254 w 320"/>
                  <a:gd name="T45" fmla="*/ 179 h 236"/>
                  <a:gd name="T46" fmla="*/ 239 w 320"/>
                  <a:gd name="T47" fmla="*/ 188 h 236"/>
                  <a:gd name="T48" fmla="*/ 232 w 320"/>
                  <a:gd name="T49" fmla="*/ 183 h 236"/>
                  <a:gd name="T50" fmla="*/ 198 w 320"/>
                  <a:gd name="T51" fmla="*/ 125 h 236"/>
                  <a:gd name="T52" fmla="*/ 179 w 320"/>
                  <a:gd name="T53" fmla="*/ 135 h 236"/>
                  <a:gd name="T54" fmla="*/ 214 w 320"/>
                  <a:gd name="T55" fmla="*/ 194 h 236"/>
                  <a:gd name="T56" fmla="*/ 194 w 320"/>
                  <a:gd name="T57" fmla="*/ 204 h 236"/>
                  <a:gd name="T58" fmla="*/ 147 w 320"/>
                  <a:gd name="T59" fmla="*/ 147 h 236"/>
                  <a:gd name="T60" fmla="*/ 164 w 320"/>
                  <a:gd name="T61" fmla="*/ 196 h 236"/>
                  <a:gd name="T62" fmla="*/ 160 w 320"/>
                  <a:gd name="T63" fmla="*/ 212 h 236"/>
                  <a:gd name="T64" fmla="*/ 143 w 320"/>
                  <a:gd name="T65" fmla="*/ 208 h 236"/>
                  <a:gd name="T66" fmla="*/ 132 w 320"/>
                  <a:gd name="T67" fmla="*/ 188 h 236"/>
                  <a:gd name="T68" fmla="*/ 124 w 320"/>
                  <a:gd name="T69" fmla="*/ 176 h 236"/>
                  <a:gd name="T70" fmla="*/ 106 w 320"/>
                  <a:gd name="T71" fmla="*/ 188 h 236"/>
                  <a:gd name="T72" fmla="*/ 111 w 320"/>
                  <a:gd name="T73" fmla="*/ 214 h 236"/>
                  <a:gd name="T74" fmla="*/ 62 w 320"/>
                  <a:gd name="T75" fmla="*/ 155 h 236"/>
                  <a:gd name="T76" fmla="*/ 32 w 320"/>
                  <a:gd name="T77" fmla="*/ 149 h 236"/>
                  <a:gd name="T78" fmla="*/ 88 w 320"/>
                  <a:gd name="T79" fmla="*/ 53 h 236"/>
                  <a:gd name="T80" fmla="*/ 64 w 320"/>
                  <a:gd name="T81" fmla="*/ 85 h 236"/>
                  <a:gd name="T82" fmla="*/ 97 w 320"/>
                  <a:gd name="T83" fmla="*/ 117 h 236"/>
                  <a:gd name="T84" fmla="*/ 253 w 320"/>
                  <a:gd name="T85" fmla="*/ 170 h 236"/>
                  <a:gd name="T86" fmla="*/ 288 w 320"/>
                  <a:gd name="T87" fmla="*/ 149 h 236"/>
                  <a:gd name="T88" fmla="*/ 265 w 320"/>
                  <a:gd name="T89" fmla="*/ 150 h 236"/>
                  <a:gd name="T90" fmla="*/ 215 w 320"/>
                  <a:gd name="T91" fmla="*/ 76 h 236"/>
                  <a:gd name="T92" fmla="*/ 88 w 320"/>
                  <a:gd name="T93" fmla="*/ 95 h 236"/>
                  <a:gd name="T94" fmla="*/ 90 w 320"/>
                  <a:gd name="T95" fmla="*/ 77 h 236"/>
                  <a:gd name="T96" fmla="*/ 242 w 320"/>
                  <a:gd name="T97" fmla="*/ 53 h 236"/>
                  <a:gd name="T98" fmla="*/ 288 w 320"/>
                  <a:gd name="T99" fmla="*/ 5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0" h="236">
                    <a:moveTo>
                      <a:pt x="309" y="171"/>
                    </a:moveTo>
                    <a:cubicBezTo>
                      <a:pt x="309" y="21"/>
                      <a:pt x="309" y="21"/>
                      <a:pt x="309" y="21"/>
                    </a:cubicBezTo>
                    <a:cubicBezTo>
                      <a:pt x="315" y="21"/>
                      <a:pt x="320" y="17"/>
                      <a:pt x="320" y="11"/>
                    </a:cubicBezTo>
                    <a:cubicBezTo>
                      <a:pt x="320" y="5"/>
                      <a:pt x="315" y="0"/>
                      <a:pt x="309" y="0"/>
                    </a:cubicBezTo>
                    <a:cubicBezTo>
                      <a:pt x="298" y="0"/>
                      <a:pt x="298" y="0"/>
                      <a:pt x="298" y="0"/>
                    </a:cubicBezTo>
                    <a:cubicBezTo>
                      <a:pt x="292" y="0"/>
                      <a:pt x="288" y="5"/>
                      <a:pt x="288" y="11"/>
                    </a:cubicBezTo>
                    <a:cubicBezTo>
                      <a:pt x="288" y="32"/>
                      <a:pt x="288" y="32"/>
                      <a:pt x="288" y="32"/>
                    </a:cubicBezTo>
                    <a:cubicBezTo>
                      <a:pt x="247" y="32"/>
                      <a:pt x="247" y="32"/>
                      <a:pt x="247" y="32"/>
                    </a:cubicBezTo>
                    <a:cubicBezTo>
                      <a:pt x="173" y="11"/>
                      <a:pt x="173" y="11"/>
                      <a:pt x="173" y="11"/>
                    </a:cubicBezTo>
                    <a:cubicBezTo>
                      <a:pt x="171" y="10"/>
                      <a:pt x="168" y="11"/>
                      <a:pt x="165" y="12"/>
                    </a:cubicBezTo>
                    <a:cubicBezTo>
                      <a:pt x="128" y="32"/>
                      <a:pt x="128" y="32"/>
                      <a:pt x="128" y="32"/>
                    </a:cubicBezTo>
                    <a:cubicBezTo>
                      <a:pt x="128" y="32"/>
                      <a:pt x="128" y="32"/>
                      <a:pt x="128" y="32"/>
                    </a:cubicBezTo>
                    <a:cubicBezTo>
                      <a:pt x="32" y="32"/>
                      <a:pt x="32" y="32"/>
                      <a:pt x="32" y="32"/>
                    </a:cubicBezTo>
                    <a:cubicBezTo>
                      <a:pt x="32" y="11"/>
                      <a:pt x="32" y="11"/>
                      <a:pt x="32" y="11"/>
                    </a:cubicBezTo>
                    <a:cubicBezTo>
                      <a:pt x="32" y="5"/>
                      <a:pt x="27" y="0"/>
                      <a:pt x="21" y="0"/>
                    </a:cubicBezTo>
                    <a:cubicBezTo>
                      <a:pt x="10" y="0"/>
                      <a:pt x="10" y="0"/>
                      <a:pt x="10" y="0"/>
                    </a:cubicBezTo>
                    <a:cubicBezTo>
                      <a:pt x="4" y="0"/>
                      <a:pt x="0" y="5"/>
                      <a:pt x="0" y="11"/>
                    </a:cubicBezTo>
                    <a:cubicBezTo>
                      <a:pt x="0" y="17"/>
                      <a:pt x="4" y="21"/>
                      <a:pt x="10" y="21"/>
                    </a:cubicBezTo>
                    <a:cubicBezTo>
                      <a:pt x="10" y="171"/>
                      <a:pt x="10" y="171"/>
                      <a:pt x="10" y="171"/>
                    </a:cubicBezTo>
                    <a:cubicBezTo>
                      <a:pt x="4" y="171"/>
                      <a:pt x="0" y="175"/>
                      <a:pt x="0" y="181"/>
                    </a:cubicBezTo>
                    <a:cubicBezTo>
                      <a:pt x="0" y="187"/>
                      <a:pt x="4" y="192"/>
                      <a:pt x="10" y="192"/>
                    </a:cubicBezTo>
                    <a:cubicBezTo>
                      <a:pt x="21" y="192"/>
                      <a:pt x="21" y="192"/>
                      <a:pt x="21" y="192"/>
                    </a:cubicBezTo>
                    <a:cubicBezTo>
                      <a:pt x="27" y="192"/>
                      <a:pt x="32" y="187"/>
                      <a:pt x="32" y="181"/>
                    </a:cubicBezTo>
                    <a:cubicBezTo>
                      <a:pt x="32" y="171"/>
                      <a:pt x="32" y="171"/>
                      <a:pt x="32" y="171"/>
                    </a:cubicBezTo>
                    <a:cubicBezTo>
                      <a:pt x="47" y="171"/>
                      <a:pt x="47" y="171"/>
                      <a:pt x="47" y="171"/>
                    </a:cubicBezTo>
                    <a:cubicBezTo>
                      <a:pt x="76" y="219"/>
                      <a:pt x="76" y="219"/>
                      <a:pt x="76" y="219"/>
                    </a:cubicBezTo>
                    <a:cubicBezTo>
                      <a:pt x="82" y="230"/>
                      <a:pt x="94" y="236"/>
                      <a:pt x="106" y="236"/>
                    </a:cubicBezTo>
                    <a:cubicBezTo>
                      <a:pt x="111" y="236"/>
                      <a:pt x="116" y="235"/>
                      <a:pt x="121" y="232"/>
                    </a:cubicBezTo>
                    <a:cubicBezTo>
                      <a:pt x="125" y="230"/>
                      <a:pt x="128" y="227"/>
                      <a:pt x="130" y="225"/>
                    </a:cubicBezTo>
                    <a:cubicBezTo>
                      <a:pt x="136" y="231"/>
                      <a:pt x="145" y="235"/>
                      <a:pt x="154" y="235"/>
                    </a:cubicBezTo>
                    <a:cubicBezTo>
                      <a:pt x="160" y="235"/>
                      <a:pt x="165" y="233"/>
                      <a:pt x="171" y="230"/>
                    </a:cubicBezTo>
                    <a:cubicBezTo>
                      <a:pt x="175" y="228"/>
                      <a:pt x="178" y="225"/>
                      <a:pt x="181" y="221"/>
                    </a:cubicBezTo>
                    <a:cubicBezTo>
                      <a:pt x="187" y="228"/>
                      <a:pt x="196" y="232"/>
                      <a:pt x="205" y="232"/>
                    </a:cubicBezTo>
                    <a:cubicBezTo>
                      <a:pt x="211" y="232"/>
                      <a:pt x="217" y="231"/>
                      <a:pt x="222" y="227"/>
                    </a:cubicBezTo>
                    <a:cubicBezTo>
                      <a:pt x="229" y="223"/>
                      <a:pt x="234" y="216"/>
                      <a:pt x="236" y="209"/>
                    </a:cubicBezTo>
                    <a:cubicBezTo>
                      <a:pt x="238" y="209"/>
                      <a:pt x="240" y="210"/>
                      <a:pt x="242" y="210"/>
                    </a:cubicBezTo>
                    <a:cubicBezTo>
                      <a:pt x="248" y="210"/>
                      <a:pt x="254" y="208"/>
                      <a:pt x="259" y="205"/>
                    </a:cubicBezTo>
                    <a:cubicBezTo>
                      <a:pt x="267" y="201"/>
                      <a:pt x="272" y="193"/>
                      <a:pt x="275" y="185"/>
                    </a:cubicBezTo>
                    <a:cubicBezTo>
                      <a:pt x="276" y="180"/>
                      <a:pt x="276" y="175"/>
                      <a:pt x="275" y="171"/>
                    </a:cubicBezTo>
                    <a:cubicBezTo>
                      <a:pt x="288" y="171"/>
                      <a:pt x="288" y="171"/>
                      <a:pt x="288" y="171"/>
                    </a:cubicBezTo>
                    <a:cubicBezTo>
                      <a:pt x="288" y="181"/>
                      <a:pt x="288" y="181"/>
                      <a:pt x="288" y="181"/>
                    </a:cubicBezTo>
                    <a:cubicBezTo>
                      <a:pt x="288" y="187"/>
                      <a:pt x="292" y="192"/>
                      <a:pt x="298" y="192"/>
                    </a:cubicBezTo>
                    <a:cubicBezTo>
                      <a:pt x="309" y="192"/>
                      <a:pt x="309" y="192"/>
                      <a:pt x="309" y="192"/>
                    </a:cubicBezTo>
                    <a:cubicBezTo>
                      <a:pt x="315" y="192"/>
                      <a:pt x="320" y="187"/>
                      <a:pt x="320" y="181"/>
                    </a:cubicBezTo>
                    <a:cubicBezTo>
                      <a:pt x="320" y="175"/>
                      <a:pt x="315" y="171"/>
                      <a:pt x="309" y="171"/>
                    </a:cubicBezTo>
                    <a:close/>
                    <a:moveTo>
                      <a:pt x="254" y="179"/>
                    </a:moveTo>
                    <a:cubicBezTo>
                      <a:pt x="253" y="183"/>
                      <a:pt x="251" y="185"/>
                      <a:pt x="248" y="187"/>
                    </a:cubicBezTo>
                    <a:cubicBezTo>
                      <a:pt x="246" y="188"/>
                      <a:pt x="242" y="189"/>
                      <a:pt x="239" y="188"/>
                    </a:cubicBezTo>
                    <a:cubicBezTo>
                      <a:pt x="236" y="187"/>
                      <a:pt x="234" y="185"/>
                      <a:pt x="232" y="183"/>
                    </a:cubicBezTo>
                    <a:cubicBezTo>
                      <a:pt x="232" y="183"/>
                      <a:pt x="232" y="183"/>
                      <a:pt x="232" y="183"/>
                    </a:cubicBezTo>
                    <a:cubicBezTo>
                      <a:pt x="232" y="183"/>
                      <a:pt x="232" y="183"/>
                      <a:pt x="232" y="182"/>
                    </a:cubicBezTo>
                    <a:cubicBezTo>
                      <a:pt x="198" y="125"/>
                      <a:pt x="198" y="125"/>
                      <a:pt x="198" y="125"/>
                    </a:cubicBezTo>
                    <a:cubicBezTo>
                      <a:pt x="195" y="119"/>
                      <a:pt x="188" y="118"/>
                      <a:pt x="183" y="121"/>
                    </a:cubicBezTo>
                    <a:cubicBezTo>
                      <a:pt x="178" y="124"/>
                      <a:pt x="176" y="130"/>
                      <a:pt x="179" y="135"/>
                    </a:cubicBezTo>
                    <a:cubicBezTo>
                      <a:pt x="214" y="194"/>
                      <a:pt x="214" y="194"/>
                      <a:pt x="214" y="194"/>
                    </a:cubicBezTo>
                    <a:cubicBezTo>
                      <a:pt x="214" y="194"/>
                      <a:pt x="214" y="194"/>
                      <a:pt x="214" y="194"/>
                    </a:cubicBezTo>
                    <a:cubicBezTo>
                      <a:pt x="217" y="199"/>
                      <a:pt x="217" y="206"/>
                      <a:pt x="211" y="209"/>
                    </a:cubicBezTo>
                    <a:cubicBezTo>
                      <a:pt x="205" y="212"/>
                      <a:pt x="198" y="210"/>
                      <a:pt x="194" y="204"/>
                    </a:cubicBezTo>
                    <a:cubicBezTo>
                      <a:pt x="162" y="151"/>
                      <a:pt x="162" y="151"/>
                      <a:pt x="162" y="151"/>
                    </a:cubicBezTo>
                    <a:cubicBezTo>
                      <a:pt x="159" y="146"/>
                      <a:pt x="153" y="144"/>
                      <a:pt x="147" y="147"/>
                    </a:cubicBezTo>
                    <a:cubicBezTo>
                      <a:pt x="142" y="150"/>
                      <a:pt x="141" y="157"/>
                      <a:pt x="144" y="162"/>
                    </a:cubicBezTo>
                    <a:cubicBezTo>
                      <a:pt x="164" y="196"/>
                      <a:pt x="164" y="196"/>
                      <a:pt x="164" y="196"/>
                    </a:cubicBezTo>
                    <a:cubicBezTo>
                      <a:pt x="166" y="198"/>
                      <a:pt x="166" y="201"/>
                      <a:pt x="165" y="204"/>
                    </a:cubicBezTo>
                    <a:cubicBezTo>
                      <a:pt x="165" y="207"/>
                      <a:pt x="163" y="210"/>
                      <a:pt x="160" y="212"/>
                    </a:cubicBezTo>
                    <a:cubicBezTo>
                      <a:pt x="154" y="215"/>
                      <a:pt x="147" y="213"/>
                      <a:pt x="143" y="208"/>
                    </a:cubicBezTo>
                    <a:cubicBezTo>
                      <a:pt x="143" y="208"/>
                      <a:pt x="143" y="208"/>
                      <a:pt x="143" y="208"/>
                    </a:cubicBezTo>
                    <a:cubicBezTo>
                      <a:pt x="132" y="188"/>
                      <a:pt x="132" y="188"/>
                      <a:pt x="132" y="188"/>
                    </a:cubicBezTo>
                    <a:cubicBezTo>
                      <a:pt x="132" y="188"/>
                      <a:pt x="132" y="188"/>
                      <a:pt x="132" y="188"/>
                    </a:cubicBezTo>
                    <a:cubicBezTo>
                      <a:pt x="132" y="188"/>
                      <a:pt x="132" y="188"/>
                      <a:pt x="132" y="188"/>
                    </a:cubicBezTo>
                    <a:cubicBezTo>
                      <a:pt x="124" y="176"/>
                      <a:pt x="124" y="176"/>
                      <a:pt x="124" y="176"/>
                    </a:cubicBezTo>
                    <a:cubicBezTo>
                      <a:pt x="121" y="171"/>
                      <a:pt x="114" y="170"/>
                      <a:pt x="110" y="173"/>
                    </a:cubicBezTo>
                    <a:cubicBezTo>
                      <a:pt x="105" y="176"/>
                      <a:pt x="103" y="183"/>
                      <a:pt x="106" y="188"/>
                    </a:cubicBezTo>
                    <a:cubicBezTo>
                      <a:pt x="114" y="199"/>
                      <a:pt x="114" y="199"/>
                      <a:pt x="114" y="199"/>
                    </a:cubicBezTo>
                    <a:cubicBezTo>
                      <a:pt x="115" y="201"/>
                      <a:pt x="118" y="209"/>
                      <a:pt x="111" y="214"/>
                    </a:cubicBezTo>
                    <a:cubicBezTo>
                      <a:pt x="105" y="217"/>
                      <a:pt x="97" y="213"/>
                      <a:pt x="94" y="208"/>
                    </a:cubicBezTo>
                    <a:cubicBezTo>
                      <a:pt x="62" y="155"/>
                      <a:pt x="62" y="155"/>
                      <a:pt x="62" y="155"/>
                    </a:cubicBezTo>
                    <a:cubicBezTo>
                      <a:pt x="60" y="151"/>
                      <a:pt x="57" y="149"/>
                      <a:pt x="53" y="149"/>
                    </a:cubicBezTo>
                    <a:cubicBezTo>
                      <a:pt x="32" y="149"/>
                      <a:pt x="32" y="149"/>
                      <a:pt x="32" y="149"/>
                    </a:cubicBezTo>
                    <a:cubicBezTo>
                      <a:pt x="32" y="53"/>
                      <a:pt x="32" y="53"/>
                      <a:pt x="32" y="53"/>
                    </a:cubicBezTo>
                    <a:cubicBezTo>
                      <a:pt x="88" y="53"/>
                      <a:pt x="88" y="53"/>
                      <a:pt x="88" y="53"/>
                    </a:cubicBezTo>
                    <a:cubicBezTo>
                      <a:pt x="80" y="58"/>
                      <a:pt x="80" y="58"/>
                      <a:pt x="80" y="58"/>
                    </a:cubicBezTo>
                    <a:cubicBezTo>
                      <a:pt x="70" y="64"/>
                      <a:pt x="64" y="74"/>
                      <a:pt x="64" y="85"/>
                    </a:cubicBezTo>
                    <a:cubicBezTo>
                      <a:pt x="64" y="95"/>
                      <a:pt x="68" y="105"/>
                      <a:pt x="74" y="111"/>
                    </a:cubicBezTo>
                    <a:cubicBezTo>
                      <a:pt x="81" y="116"/>
                      <a:pt x="89" y="118"/>
                      <a:pt x="97" y="117"/>
                    </a:cubicBezTo>
                    <a:cubicBezTo>
                      <a:pt x="211" y="98"/>
                      <a:pt x="211" y="98"/>
                      <a:pt x="211" y="98"/>
                    </a:cubicBezTo>
                    <a:cubicBezTo>
                      <a:pt x="253" y="170"/>
                      <a:pt x="253" y="170"/>
                      <a:pt x="253" y="170"/>
                    </a:cubicBezTo>
                    <a:cubicBezTo>
                      <a:pt x="254" y="173"/>
                      <a:pt x="255" y="176"/>
                      <a:pt x="254" y="179"/>
                    </a:cubicBezTo>
                    <a:close/>
                    <a:moveTo>
                      <a:pt x="288" y="149"/>
                    </a:moveTo>
                    <a:cubicBezTo>
                      <a:pt x="266" y="149"/>
                      <a:pt x="266" y="149"/>
                      <a:pt x="266" y="149"/>
                    </a:cubicBezTo>
                    <a:cubicBezTo>
                      <a:pt x="266" y="149"/>
                      <a:pt x="266" y="150"/>
                      <a:pt x="265" y="150"/>
                    </a:cubicBezTo>
                    <a:cubicBezTo>
                      <a:pt x="226" y="81"/>
                      <a:pt x="226" y="81"/>
                      <a:pt x="226" y="81"/>
                    </a:cubicBezTo>
                    <a:cubicBezTo>
                      <a:pt x="224" y="77"/>
                      <a:pt x="220" y="75"/>
                      <a:pt x="215" y="76"/>
                    </a:cubicBezTo>
                    <a:cubicBezTo>
                      <a:pt x="94" y="96"/>
                      <a:pt x="94" y="96"/>
                      <a:pt x="94" y="96"/>
                    </a:cubicBezTo>
                    <a:cubicBezTo>
                      <a:pt x="91" y="97"/>
                      <a:pt x="89" y="96"/>
                      <a:pt x="88" y="95"/>
                    </a:cubicBezTo>
                    <a:cubicBezTo>
                      <a:pt x="86" y="93"/>
                      <a:pt x="85" y="89"/>
                      <a:pt x="85" y="85"/>
                    </a:cubicBezTo>
                    <a:cubicBezTo>
                      <a:pt x="85" y="80"/>
                      <a:pt x="88" y="78"/>
                      <a:pt x="90" y="77"/>
                    </a:cubicBezTo>
                    <a:cubicBezTo>
                      <a:pt x="172" y="33"/>
                      <a:pt x="172" y="33"/>
                      <a:pt x="172" y="33"/>
                    </a:cubicBezTo>
                    <a:cubicBezTo>
                      <a:pt x="242" y="53"/>
                      <a:pt x="242" y="53"/>
                      <a:pt x="242" y="53"/>
                    </a:cubicBezTo>
                    <a:cubicBezTo>
                      <a:pt x="243" y="53"/>
                      <a:pt x="244" y="53"/>
                      <a:pt x="245" y="53"/>
                    </a:cubicBezTo>
                    <a:cubicBezTo>
                      <a:pt x="288" y="53"/>
                      <a:pt x="288" y="53"/>
                      <a:pt x="288" y="53"/>
                    </a:cubicBezTo>
                    <a:lnTo>
                      <a:pt x="288" y="14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4906" tIns="27454" rIns="54906" bIns="27454" numCol="1" anchor="t" anchorCtr="0" compatLnSpc="1">
                <a:prstTxWarp prst="textNoShape">
                  <a:avLst/>
                </a:prstTxWarp>
              </a:bodyPr>
              <a:lstStyle/>
              <a:p>
                <a:pPr defTabSz="990576">
                  <a:defRPr/>
                </a:pPr>
                <a:endParaRPr lang="en-GB" sz="1300" kern="0">
                  <a:solidFill>
                    <a:prstClr val="black"/>
                  </a:solidFill>
                  <a:latin typeface="Calibri"/>
                </a:endParaRPr>
              </a:p>
            </p:txBody>
          </p:sp>
        </p:grpSp>
      </p:grpSp>
      <p:sp>
        <p:nvSpPr>
          <p:cNvPr id="52" name="Rectangle: Rounded Corners 51">
            <a:extLst>
              <a:ext uri="{FF2B5EF4-FFF2-40B4-BE49-F238E27FC236}">
                <a16:creationId xmlns:a16="http://schemas.microsoft.com/office/drawing/2014/main" id="{67A64D69-5D45-D3DE-220D-1F68B3E3BC48}"/>
              </a:ext>
            </a:extLst>
          </p:cNvPr>
          <p:cNvSpPr/>
          <p:nvPr/>
        </p:nvSpPr>
        <p:spPr>
          <a:xfrm>
            <a:off x="729209" y="2357067"/>
            <a:ext cx="1440000" cy="478800"/>
          </a:xfrm>
          <a:prstGeom prst="roundRect">
            <a:avLst/>
          </a:prstGeom>
          <a:solidFill>
            <a:srgbClr val="FFFFFF"/>
          </a:solidFill>
          <a:ln w="12700" cap="flat">
            <a:solidFill>
              <a:srgbClr val="046A38"/>
            </a:solidFill>
            <a:prstDash val="solid"/>
            <a:miter/>
          </a:ln>
          <a:effectLst/>
        </p:spPr>
        <p:txBody>
          <a:bodyPr wrap="square" lIns="180000" rtlCol="0" anchor="ctr"/>
          <a:lstStyle/>
          <a:p>
            <a:pPr algn="ctr" defTabSz="742950"/>
            <a:r>
              <a:rPr lang="en-US" sz="1200" b="1">
                <a:solidFill>
                  <a:prstClr val="black"/>
                </a:solidFill>
                <a:latin typeface="Arial" panose="020B0604020202020204" pitchFamily="34" charset="0"/>
                <a:cs typeface="Arial" panose="020B0604020202020204" pitchFamily="34" charset="0"/>
              </a:rPr>
              <a:t>Mechanism</a:t>
            </a:r>
          </a:p>
        </p:txBody>
      </p:sp>
      <p:sp>
        <p:nvSpPr>
          <p:cNvPr id="53" name="Text Box 245">
            <a:extLst>
              <a:ext uri="{FF2B5EF4-FFF2-40B4-BE49-F238E27FC236}">
                <a16:creationId xmlns:a16="http://schemas.microsoft.com/office/drawing/2014/main" id="{1BA06E95-35AC-5468-7D95-166B792CC190}"/>
              </a:ext>
            </a:extLst>
          </p:cNvPr>
          <p:cNvSpPr txBox="1">
            <a:spLocks noChangeArrowheads="1"/>
          </p:cNvSpPr>
          <p:nvPr/>
        </p:nvSpPr>
        <p:spPr bwMode="gray">
          <a:xfrm>
            <a:off x="2414206" y="2385878"/>
            <a:ext cx="3434396" cy="421179"/>
          </a:xfrm>
          <a:prstGeom prst="rect">
            <a:avLst/>
          </a:prstGeom>
          <a:noFill/>
          <a:ln w="3175" algn="ctr">
            <a:noFill/>
            <a:miter lim="800000"/>
            <a:headEnd/>
            <a:tailEnd/>
          </a:ln>
          <a:effectLst/>
        </p:spPr>
        <p:txBody>
          <a:bodyPr wrap="square" lIns="0" tIns="59472" rIns="0" bIns="29677" numCol="1" anchor="ctr" anchorCtr="0">
            <a:noAutofit/>
          </a:bodyPr>
          <a:lstStyle>
            <a:defPPr>
              <a:defRPr lang="en-US"/>
            </a:defPPr>
            <a:lvl1pPr marL="0" algn="l" defTabSz="1042873" rtl="0" eaLnBrk="1" latinLnBrk="0" hangingPunct="1">
              <a:defRPr sz="2100" kern="1200">
                <a:solidFill>
                  <a:schemeClr val="tx1"/>
                </a:solidFill>
                <a:latin typeface="+mn-lt"/>
                <a:ea typeface="+mn-ea"/>
                <a:cs typeface="+mn-cs"/>
              </a:defRPr>
            </a:lvl1pPr>
            <a:lvl2pPr marL="521437" algn="l" defTabSz="1042873" rtl="0" eaLnBrk="1" latinLnBrk="0" hangingPunct="1">
              <a:defRPr sz="2100" kern="1200">
                <a:solidFill>
                  <a:schemeClr val="tx1"/>
                </a:solidFill>
                <a:latin typeface="+mn-lt"/>
                <a:ea typeface="+mn-ea"/>
                <a:cs typeface="+mn-cs"/>
              </a:defRPr>
            </a:lvl2pPr>
            <a:lvl3pPr marL="1042873" algn="l" defTabSz="1042873" rtl="0" eaLnBrk="1" latinLnBrk="0" hangingPunct="1">
              <a:defRPr sz="2100" kern="1200">
                <a:solidFill>
                  <a:schemeClr val="tx1"/>
                </a:solidFill>
                <a:latin typeface="+mn-lt"/>
                <a:ea typeface="+mn-ea"/>
                <a:cs typeface="+mn-cs"/>
              </a:defRPr>
            </a:lvl3pPr>
            <a:lvl4pPr marL="1564310" algn="l" defTabSz="1042873" rtl="0" eaLnBrk="1" latinLnBrk="0" hangingPunct="1">
              <a:defRPr sz="2100" kern="1200">
                <a:solidFill>
                  <a:schemeClr val="tx1"/>
                </a:solidFill>
                <a:latin typeface="+mn-lt"/>
                <a:ea typeface="+mn-ea"/>
                <a:cs typeface="+mn-cs"/>
              </a:defRPr>
            </a:lvl4pPr>
            <a:lvl5pPr marL="2085746" algn="l" defTabSz="1042873" rtl="0" eaLnBrk="1" latinLnBrk="0" hangingPunct="1">
              <a:defRPr sz="2100" kern="1200">
                <a:solidFill>
                  <a:schemeClr val="tx1"/>
                </a:solidFill>
                <a:latin typeface="+mn-lt"/>
                <a:ea typeface="+mn-ea"/>
                <a:cs typeface="+mn-cs"/>
              </a:defRPr>
            </a:lvl5pPr>
            <a:lvl6pPr marL="2607183" algn="l" defTabSz="1042873" rtl="0" eaLnBrk="1" latinLnBrk="0" hangingPunct="1">
              <a:defRPr sz="2100" kern="1200">
                <a:solidFill>
                  <a:schemeClr val="tx1"/>
                </a:solidFill>
                <a:latin typeface="+mn-lt"/>
                <a:ea typeface="+mn-ea"/>
                <a:cs typeface="+mn-cs"/>
              </a:defRPr>
            </a:lvl6pPr>
            <a:lvl7pPr marL="3128620" algn="l" defTabSz="1042873" rtl="0" eaLnBrk="1" latinLnBrk="0" hangingPunct="1">
              <a:defRPr sz="2100" kern="1200">
                <a:solidFill>
                  <a:schemeClr val="tx1"/>
                </a:solidFill>
                <a:latin typeface="+mn-lt"/>
                <a:ea typeface="+mn-ea"/>
                <a:cs typeface="+mn-cs"/>
              </a:defRPr>
            </a:lvl7pPr>
            <a:lvl8pPr marL="3650056" algn="l" defTabSz="1042873" rtl="0" eaLnBrk="1" latinLnBrk="0" hangingPunct="1">
              <a:defRPr sz="2100" kern="1200">
                <a:solidFill>
                  <a:schemeClr val="tx1"/>
                </a:solidFill>
                <a:latin typeface="+mn-lt"/>
                <a:ea typeface="+mn-ea"/>
                <a:cs typeface="+mn-cs"/>
              </a:defRPr>
            </a:lvl8pPr>
            <a:lvl9pPr marL="4171493" algn="l" defTabSz="1042873" rtl="0" eaLnBrk="1" latinLnBrk="0" hangingPunct="1">
              <a:defRPr sz="2100" kern="1200">
                <a:solidFill>
                  <a:schemeClr val="tx1"/>
                </a:solidFill>
                <a:latin typeface="+mn-lt"/>
                <a:ea typeface="+mn-ea"/>
                <a:cs typeface="+mn-cs"/>
              </a:defRPr>
            </a:lvl9pPr>
          </a:lstStyle>
          <a:p>
            <a:pPr marL="139303" indent="-139303" defTabSz="775819">
              <a:buFont typeface="Arial" panose="020B0604020202020204" pitchFamily="34" charset="0"/>
              <a:buChar char="•"/>
              <a:defRPr/>
            </a:pPr>
            <a:r>
              <a:rPr lang="en-US" sz="1000">
                <a:solidFill>
                  <a:srgbClr val="000000"/>
                </a:solidFill>
                <a:latin typeface="Arial" panose="020B0604020202020204" pitchFamily="34" charset="0"/>
                <a:cs typeface="Arial" panose="020B0604020202020204" pitchFamily="34" charset="0"/>
              </a:rPr>
              <a:t>Distribution companies (Discoms) allowed to pay their outstanding dues in (up to) </a:t>
            </a:r>
            <a:r>
              <a:rPr lang="en-US" sz="1000" b="1">
                <a:solidFill>
                  <a:srgbClr val="000000"/>
                </a:solidFill>
                <a:latin typeface="Arial" panose="020B0604020202020204" pitchFamily="34" charset="0"/>
                <a:cs typeface="Arial" panose="020B0604020202020204" pitchFamily="34" charset="0"/>
              </a:rPr>
              <a:t>48 monthly installments </a:t>
            </a:r>
            <a:r>
              <a:rPr lang="en-US" sz="1000">
                <a:solidFill>
                  <a:srgbClr val="000000"/>
                </a:solidFill>
                <a:latin typeface="Arial" panose="020B0604020202020204" pitchFamily="34" charset="0"/>
                <a:cs typeface="Arial" panose="020B0604020202020204" pitchFamily="34" charset="0"/>
              </a:rPr>
              <a:t>through a one-time liquidation scheme</a:t>
            </a:r>
            <a:endParaRPr lang="en-US" sz="1000">
              <a:solidFill>
                <a:prstClr val="black"/>
              </a:solidFill>
              <a:latin typeface="Arial" panose="020B0604020202020204" pitchFamily="34" charset="0"/>
              <a:cs typeface="Arial" panose="020B0604020202020204" pitchFamily="34" charset="0"/>
            </a:endParaRPr>
          </a:p>
        </p:txBody>
      </p:sp>
      <p:sp>
        <p:nvSpPr>
          <p:cNvPr id="54" name="Freeform: Shape 53">
            <a:extLst>
              <a:ext uri="{FF2B5EF4-FFF2-40B4-BE49-F238E27FC236}">
                <a16:creationId xmlns:a16="http://schemas.microsoft.com/office/drawing/2014/main" id="{89C2A6FC-5402-EE05-DE19-0153A67D6BB8}"/>
              </a:ext>
            </a:extLst>
          </p:cNvPr>
          <p:cNvSpPr/>
          <p:nvPr/>
        </p:nvSpPr>
        <p:spPr>
          <a:xfrm flipH="1">
            <a:off x="513514" y="2394982"/>
            <a:ext cx="432000" cy="432000"/>
          </a:xfrm>
          <a:custGeom>
            <a:avLst/>
            <a:gdLst>
              <a:gd name="connsiteX0" fmla="*/ 767883 w 767882"/>
              <a:gd name="connsiteY0" fmla="*/ 383941 h 767882"/>
              <a:gd name="connsiteX1" fmla="*/ 383941 w 767882"/>
              <a:gd name="connsiteY1" fmla="*/ 767883 h 767882"/>
              <a:gd name="connsiteX2" fmla="*/ 0 w 767882"/>
              <a:gd name="connsiteY2" fmla="*/ 383941 h 767882"/>
              <a:gd name="connsiteX3" fmla="*/ 383941 w 767882"/>
              <a:gd name="connsiteY3" fmla="*/ 0 h 767882"/>
              <a:gd name="connsiteX4" fmla="*/ 767883 w 767882"/>
              <a:gd name="connsiteY4" fmla="*/ 383941 h 767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7882" h="767882">
                <a:moveTo>
                  <a:pt x="767883" y="383941"/>
                </a:moveTo>
                <a:cubicBezTo>
                  <a:pt x="767883" y="595986"/>
                  <a:pt x="595987" y="767883"/>
                  <a:pt x="383941" y="767883"/>
                </a:cubicBezTo>
                <a:cubicBezTo>
                  <a:pt x="171896" y="767883"/>
                  <a:pt x="0" y="595986"/>
                  <a:pt x="0" y="383941"/>
                </a:cubicBezTo>
                <a:cubicBezTo>
                  <a:pt x="0" y="171897"/>
                  <a:pt x="171896" y="0"/>
                  <a:pt x="383941" y="0"/>
                </a:cubicBezTo>
                <a:cubicBezTo>
                  <a:pt x="595987" y="0"/>
                  <a:pt x="767883" y="171897"/>
                  <a:pt x="767883" y="383941"/>
                </a:cubicBezTo>
                <a:close/>
              </a:path>
            </a:pathLst>
          </a:custGeom>
          <a:solidFill>
            <a:srgbClr val="046A38"/>
          </a:solidFill>
          <a:ln w="6858" cap="flat">
            <a:noFill/>
            <a:prstDash val="solid"/>
            <a:miter/>
          </a:ln>
          <a:effectLst/>
        </p:spPr>
        <p:txBody>
          <a:bodyPr rtlCol="0" anchor="ctr"/>
          <a:lstStyle/>
          <a:p>
            <a:pPr defTabSz="742950">
              <a:defRPr/>
            </a:pPr>
            <a:endParaRPr lang="en-IN" sz="1463">
              <a:solidFill>
                <a:prstClr val="black"/>
              </a:solidFill>
              <a:latin typeface="Calibri"/>
            </a:endParaRPr>
          </a:p>
        </p:txBody>
      </p:sp>
      <p:grpSp>
        <p:nvGrpSpPr>
          <p:cNvPr id="55" name="Graphic 1100">
            <a:extLst>
              <a:ext uri="{FF2B5EF4-FFF2-40B4-BE49-F238E27FC236}">
                <a16:creationId xmlns:a16="http://schemas.microsoft.com/office/drawing/2014/main" id="{8137101C-3257-5C54-95EA-713AFFF143E0}"/>
              </a:ext>
            </a:extLst>
          </p:cNvPr>
          <p:cNvGrpSpPr/>
          <p:nvPr/>
        </p:nvGrpSpPr>
        <p:grpSpPr>
          <a:xfrm>
            <a:off x="549514" y="2430982"/>
            <a:ext cx="360000" cy="360000"/>
            <a:chOff x="5708769" y="4312706"/>
            <a:chExt cx="362312" cy="361971"/>
          </a:xfrm>
          <a:solidFill>
            <a:srgbClr val="FFFFFF"/>
          </a:solidFill>
          <a:effectLst/>
        </p:grpSpPr>
        <p:sp>
          <p:nvSpPr>
            <p:cNvPr id="56" name="Graphic 1100">
              <a:extLst>
                <a:ext uri="{FF2B5EF4-FFF2-40B4-BE49-F238E27FC236}">
                  <a16:creationId xmlns:a16="http://schemas.microsoft.com/office/drawing/2014/main" id="{8AB85587-3F4B-CB09-58E6-74B7CD8B64BA}"/>
                </a:ext>
              </a:extLst>
            </p:cNvPr>
            <p:cNvSpPr/>
            <p:nvPr/>
          </p:nvSpPr>
          <p:spPr>
            <a:xfrm>
              <a:off x="5708769" y="4312706"/>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 name="connsiteX13" fmla="*/ 181474 w 362312"/>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grpFill/>
            <a:ln w="6390" cap="flat">
              <a:noFill/>
              <a:prstDash val="solid"/>
              <a:miter/>
            </a:ln>
          </p:spPr>
          <p:txBody>
            <a:bodyPr rtlCol="0" anchor="ctr"/>
            <a:lstStyle/>
            <a:p>
              <a:pPr defTabSz="742950">
                <a:defRPr/>
              </a:pPr>
              <a:endParaRPr lang="en-US" sz="1463">
                <a:solidFill>
                  <a:prstClr val="black"/>
                </a:solidFill>
                <a:latin typeface="Calibri"/>
              </a:endParaRPr>
            </a:p>
          </p:txBody>
        </p:sp>
        <p:sp>
          <p:nvSpPr>
            <p:cNvPr id="57" name="Graphic 1100">
              <a:extLst>
                <a:ext uri="{FF2B5EF4-FFF2-40B4-BE49-F238E27FC236}">
                  <a16:creationId xmlns:a16="http://schemas.microsoft.com/office/drawing/2014/main" id="{13AEB7F0-5178-9B88-6E5F-99BD0A1768C8}"/>
                </a:ext>
              </a:extLst>
            </p:cNvPr>
            <p:cNvSpPr/>
            <p:nvPr/>
          </p:nvSpPr>
          <p:spPr>
            <a:xfrm>
              <a:off x="5818676" y="4383568"/>
              <a:ext cx="160387" cy="219608"/>
            </a:xfrm>
            <a:custGeom>
              <a:avLst/>
              <a:gdLst>
                <a:gd name="connsiteX0" fmla="*/ 158471 w 160387"/>
                <a:gd name="connsiteY0" fmla="*/ 45326 h 219608"/>
                <a:gd name="connsiteX1" fmla="*/ 115019 w 160387"/>
                <a:gd name="connsiteY1" fmla="*/ 1915 h 219608"/>
                <a:gd name="connsiteX2" fmla="*/ 111185 w 160387"/>
                <a:gd name="connsiteY2" fmla="*/ 0 h 219608"/>
                <a:gd name="connsiteX3" fmla="*/ 110546 w 160387"/>
                <a:gd name="connsiteY3" fmla="*/ 0 h 219608"/>
                <a:gd name="connsiteX4" fmla="*/ 6390 w 160387"/>
                <a:gd name="connsiteY4" fmla="*/ 0 h 219608"/>
                <a:gd name="connsiteX5" fmla="*/ 0 w 160387"/>
                <a:gd name="connsiteY5" fmla="*/ 6384 h 219608"/>
                <a:gd name="connsiteX6" fmla="*/ 0 w 160387"/>
                <a:gd name="connsiteY6" fmla="*/ 40857 h 219608"/>
                <a:gd name="connsiteX7" fmla="*/ 6390 w 160387"/>
                <a:gd name="connsiteY7" fmla="*/ 47241 h 219608"/>
                <a:gd name="connsiteX8" fmla="*/ 12780 w 160387"/>
                <a:gd name="connsiteY8" fmla="*/ 40857 h 219608"/>
                <a:gd name="connsiteX9" fmla="*/ 12780 w 160387"/>
                <a:gd name="connsiteY9" fmla="*/ 12768 h 219608"/>
                <a:gd name="connsiteX10" fmla="*/ 104156 w 160387"/>
                <a:gd name="connsiteY10" fmla="*/ 12768 h 219608"/>
                <a:gd name="connsiteX11" fmla="*/ 104156 w 160387"/>
                <a:gd name="connsiteY11" fmla="*/ 49795 h 219608"/>
                <a:gd name="connsiteX12" fmla="*/ 110546 w 160387"/>
                <a:gd name="connsiteY12" fmla="*/ 56179 h 219608"/>
                <a:gd name="connsiteX13" fmla="*/ 147608 w 160387"/>
                <a:gd name="connsiteY13" fmla="*/ 56179 h 219608"/>
                <a:gd name="connsiteX14" fmla="*/ 147608 w 160387"/>
                <a:gd name="connsiteY14" fmla="*/ 206203 h 219608"/>
                <a:gd name="connsiteX15" fmla="*/ 12780 w 160387"/>
                <a:gd name="connsiteY15" fmla="*/ 206203 h 219608"/>
                <a:gd name="connsiteX16" fmla="*/ 12780 w 160387"/>
                <a:gd name="connsiteY16" fmla="*/ 150662 h 219608"/>
                <a:gd name="connsiteX17" fmla="*/ 6390 w 160387"/>
                <a:gd name="connsiteY17" fmla="*/ 144278 h 219608"/>
                <a:gd name="connsiteX18" fmla="*/ 0 w 160387"/>
                <a:gd name="connsiteY18" fmla="*/ 150662 h 219608"/>
                <a:gd name="connsiteX19" fmla="*/ 0 w 160387"/>
                <a:gd name="connsiteY19" fmla="*/ 213225 h 219608"/>
                <a:gd name="connsiteX20" fmla="*/ 6390 w 160387"/>
                <a:gd name="connsiteY20" fmla="*/ 219609 h 219608"/>
                <a:gd name="connsiteX21" fmla="*/ 153998 w 160387"/>
                <a:gd name="connsiteY21" fmla="*/ 219609 h 219608"/>
                <a:gd name="connsiteX22" fmla="*/ 160388 w 160387"/>
                <a:gd name="connsiteY22" fmla="*/ 213225 h 219608"/>
                <a:gd name="connsiteX23" fmla="*/ 160388 w 160387"/>
                <a:gd name="connsiteY23" fmla="*/ 50433 h 219608"/>
                <a:gd name="connsiteX24" fmla="*/ 159748 w 160387"/>
                <a:gd name="connsiteY24" fmla="*/ 47880 h 219608"/>
                <a:gd name="connsiteX25" fmla="*/ 158471 w 160387"/>
                <a:gd name="connsiteY25" fmla="*/ 45326 h 219608"/>
                <a:gd name="connsiteX26" fmla="*/ 116936 w 160387"/>
                <a:gd name="connsiteY26" fmla="*/ 22344 h 219608"/>
                <a:gd name="connsiteX27" fmla="*/ 138662 w 160387"/>
                <a:gd name="connsiteY27" fmla="*/ 44049 h 219608"/>
                <a:gd name="connsiteX28" fmla="*/ 116936 w 160387"/>
                <a:gd name="connsiteY28" fmla="*/ 44049 h 219608"/>
                <a:gd name="connsiteX29" fmla="*/ 116936 w 160387"/>
                <a:gd name="connsiteY29" fmla="*/ 22344 h 21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0387" h="219608">
                  <a:moveTo>
                    <a:pt x="158471" y="45326"/>
                  </a:moveTo>
                  <a:lnTo>
                    <a:pt x="115019" y="1915"/>
                  </a:lnTo>
                  <a:cubicBezTo>
                    <a:pt x="113741" y="638"/>
                    <a:pt x="112463" y="0"/>
                    <a:pt x="111185" y="0"/>
                  </a:cubicBezTo>
                  <a:lnTo>
                    <a:pt x="110546" y="0"/>
                  </a:lnTo>
                  <a:lnTo>
                    <a:pt x="6390" y="0"/>
                  </a:lnTo>
                  <a:cubicBezTo>
                    <a:pt x="2556" y="0"/>
                    <a:pt x="0" y="2553"/>
                    <a:pt x="0" y="6384"/>
                  </a:cubicBezTo>
                  <a:lnTo>
                    <a:pt x="0" y="40857"/>
                  </a:lnTo>
                  <a:cubicBezTo>
                    <a:pt x="0" y="44688"/>
                    <a:pt x="2556" y="47241"/>
                    <a:pt x="6390" y="47241"/>
                  </a:cubicBezTo>
                  <a:cubicBezTo>
                    <a:pt x="10224" y="47241"/>
                    <a:pt x="12780" y="44688"/>
                    <a:pt x="12780" y="40857"/>
                  </a:cubicBezTo>
                  <a:lnTo>
                    <a:pt x="12780" y="12768"/>
                  </a:lnTo>
                  <a:lnTo>
                    <a:pt x="104156" y="12768"/>
                  </a:lnTo>
                  <a:lnTo>
                    <a:pt x="104156" y="49795"/>
                  </a:lnTo>
                  <a:cubicBezTo>
                    <a:pt x="104156" y="53625"/>
                    <a:pt x="106712" y="56179"/>
                    <a:pt x="110546" y="56179"/>
                  </a:cubicBezTo>
                  <a:lnTo>
                    <a:pt x="147608" y="56179"/>
                  </a:lnTo>
                  <a:lnTo>
                    <a:pt x="147608" y="206203"/>
                  </a:lnTo>
                  <a:lnTo>
                    <a:pt x="12780" y="206203"/>
                  </a:lnTo>
                  <a:lnTo>
                    <a:pt x="12780" y="150662"/>
                  </a:lnTo>
                  <a:cubicBezTo>
                    <a:pt x="12780" y="146832"/>
                    <a:pt x="10224" y="144278"/>
                    <a:pt x="6390" y="144278"/>
                  </a:cubicBezTo>
                  <a:cubicBezTo>
                    <a:pt x="2556" y="144278"/>
                    <a:pt x="0" y="146832"/>
                    <a:pt x="0" y="150662"/>
                  </a:cubicBezTo>
                  <a:lnTo>
                    <a:pt x="0" y="213225"/>
                  </a:lnTo>
                  <a:cubicBezTo>
                    <a:pt x="0" y="217055"/>
                    <a:pt x="2556" y="219609"/>
                    <a:pt x="6390" y="219609"/>
                  </a:cubicBezTo>
                  <a:lnTo>
                    <a:pt x="153998" y="219609"/>
                  </a:lnTo>
                  <a:cubicBezTo>
                    <a:pt x="157832" y="219609"/>
                    <a:pt x="160388" y="217055"/>
                    <a:pt x="160388" y="213225"/>
                  </a:cubicBezTo>
                  <a:lnTo>
                    <a:pt x="160388" y="50433"/>
                  </a:lnTo>
                  <a:cubicBezTo>
                    <a:pt x="160388" y="49795"/>
                    <a:pt x="160388" y="48518"/>
                    <a:pt x="159748" y="47880"/>
                  </a:cubicBezTo>
                  <a:cubicBezTo>
                    <a:pt x="159748" y="47241"/>
                    <a:pt x="159110" y="45964"/>
                    <a:pt x="158471" y="45326"/>
                  </a:cubicBezTo>
                  <a:close/>
                  <a:moveTo>
                    <a:pt x="116936" y="22344"/>
                  </a:moveTo>
                  <a:lnTo>
                    <a:pt x="138662" y="44049"/>
                  </a:lnTo>
                  <a:lnTo>
                    <a:pt x="116936" y="44049"/>
                  </a:lnTo>
                  <a:lnTo>
                    <a:pt x="116936" y="22344"/>
                  </a:lnTo>
                  <a:close/>
                </a:path>
              </a:pathLst>
            </a:custGeom>
            <a:grpFill/>
            <a:ln w="6390" cap="flat">
              <a:noFill/>
              <a:prstDash val="solid"/>
              <a:miter/>
            </a:ln>
          </p:spPr>
          <p:txBody>
            <a:bodyPr rtlCol="0" anchor="ctr"/>
            <a:lstStyle/>
            <a:p>
              <a:pPr defTabSz="742950">
                <a:defRPr/>
              </a:pPr>
              <a:endParaRPr lang="en-US" sz="1463">
                <a:solidFill>
                  <a:prstClr val="black"/>
                </a:solidFill>
                <a:latin typeface="Calibri"/>
              </a:endParaRPr>
            </a:p>
          </p:txBody>
        </p:sp>
        <p:sp>
          <p:nvSpPr>
            <p:cNvPr id="58" name="Graphic 1100">
              <a:extLst>
                <a:ext uri="{FF2B5EF4-FFF2-40B4-BE49-F238E27FC236}">
                  <a16:creationId xmlns:a16="http://schemas.microsoft.com/office/drawing/2014/main" id="{7D9EB888-3BFD-15E9-7D08-1C288FF06808}"/>
                </a:ext>
              </a:extLst>
            </p:cNvPr>
            <p:cNvSpPr/>
            <p:nvPr/>
          </p:nvSpPr>
          <p:spPr>
            <a:xfrm>
              <a:off x="5892800" y="4499118"/>
              <a:ext cx="46646" cy="12767"/>
            </a:xfrm>
            <a:custGeom>
              <a:avLst/>
              <a:gdLst>
                <a:gd name="connsiteX0" fmla="*/ 46646 w 46646"/>
                <a:gd name="connsiteY0" fmla="*/ 6384 h 12767"/>
                <a:gd name="connsiteX1" fmla="*/ 40257 w 46646"/>
                <a:gd name="connsiteY1" fmla="*/ 0 h 12767"/>
                <a:gd name="connsiteX2" fmla="*/ 6390 w 46646"/>
                <a:gd name="connsiteY2" fmla="*/ 0 h 12767"/>
                <a:gd name="connsiteX3" fmla="*/ 0 w 46646"/>
                <a:gd name="connsiteY3" fmla="*/ 6384 h 12767"/>
                <a:gd name="connsiteX4" fmla="*/ 6390 w 46646"/>
                <a:gd name="connsiteY4" fmla="*/ 12768 h 12767"/>
                <a:gd name="connsiteX5" fmla="*/ 40257 w 46646"/>
                <a:gd name="connsiteY5" fmla="*/ 12768 h 12767"/>
                <a:gd name="connsiteX6" fmla="*/ 46646 w 46646"/>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46" h="12767">
                  <a:moveTo>
                    <a:pt x="46646" y="6384"/>
                  </a:moveTo>
                  <a:cubicBezTo>
                    <a:pt x="46646" y="2554"/>
                    <a:pt x="44090" y="0"/>
                    <a:pt x="40257" y="0"/>
                  </a:cubicBezTo>
                  <a:lnTo>
                    <a:pt x="6390" y="0"/>
                  </a:lnTo>
                  <a:cubicBezTo>
                    <a:pt x="2556" y="0"/>
                    <a:pt x="0" y="2554"/>
                    <a:pt x="0" y="6384"/>
                  </a:cubicBezTo>
                  <a:cubicBezTo>
                    <a:pt x="0" y="10214"/>
                    <a:pt x="2556" y="12768"/>
                    <a:pt x="6390" y="12768"/>
                  </a:cubicBezTo>
                  <a:lnTo>
                    <a:pt x="40257" y="12768"/>
                  </a:lnTo>
                  <a:cubicBezTo>
                    <a:pt x="43451" y="12768"/>
                    <a:pt x="46646" y="9576"/>
                    <a:pt x="46646" y="6384"/>
                  </a:cubicBezTo>
                  <a:close/>
                </a:path>
              </a:pathLst>
            </a:custGeom>
            <a:grpFill/>
            <a:ln w="6390" cap="flat">
              <a:noFill/>
              <a:prstDash val="solid"/>
              <a:miter/>
            </a:ln>
          </p:spPr>
          <p:txBody>
            <a:bodyPr rtlCol="0" anchor="ctr"/>
            <a:lstStyle/>
            <a:p>
              <a:pPr defTabSz="742950">
                <a:defRPr/>
              </a:pPr>
              <a:endParaRPr lang="en-US" sz="1463">
                <a:solidFill>
                  <a:prstClr val="black"/>
                </a:solidFill>
                <a:latin typeface="Calibri"/>
              </a:endParaRPr>
            </a:p>
          </p:txBody>
        </p:sp>
        <p:sp>
          <p:nvSpPr>
            <p:cNvPr id="59" name="Graphic 1100">
              <a:extLst>
                <a:ext uri="{FF2B5EF4-FFF2-40B4-BE49-F238E27FC236}">
                  <a16:creationId xmlns:a16="http://schemas.microsoft.com/office/drawing/2014/main" id="{0803CD29-AAEF-D28D-64D5-1051E01AE0D1}"/>
                </a:ext>
              </a:extLst>
            </p:cNvPr>
            <p:cNvSpPr/>
            <p:nvPr/>
          </p:nvSpPr>
          <p:spPr>
            <a:xfrm>
              <a:off x="5880020" y="4469113"/>
              <a:ext cx="59426" cy="12767"/>
            </a:xfrm>
            <a:custGeom>
              <a:avLst/>
              <a:gdLst>
                <a:gd name="connsiteX0" fmla="*/ 53036 w 59426"/>
                <a:gd name="connsiteY0" fmla="*/ 0 h 12767"/>
                <a:gd name="connsiteX1" fmla="*/ 6390 w 59426"/>
                <a:gd name="connsiteY1" fmla="*/ 0 h 12767"/>
                <a:gd name="connsiteX2" fmla="*/ 0 w 59426"/>
                <a:gd name="connsiteY2" fmla="*/ 6384 h 12767"/>
                <a:gd name="connsiteX3" fmla="*/ 6390 w 59426"/>
                <a:gd name="connsiteY3" fmla="*/ 12768 h 12767"/>
                <a:gd name="connsiteX4" fmla="*/ 53036 w 59426"/>
                <a:gd name="connsiteY4" fmla="*/ 12768 h 12767"/>
                <a:gd name="connsiteX5" fmla="*/ 59426 w 59426"/>
                <a:gd name="connsiteY5" fmla="*/ 6384 h 12767"/>
                <a:gd name="connsiteX6" fmla="*/ 53036 w 5942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426" h="12767">
                  <a:moveTo>
                    <a:pt x="53036" y="0"/>
                  </a:moveTo>
                  <a:lnTo>
                    <a:pt x="6390" y="0"/>
                  </a:lnTo>
                  <a:cubicBezTo>
                    <a:pt x="2556" y="0"/>
                    <a:pt x="0" y="2554"/>
                    <a:pt x="0" y="6384"/>
                  </a:cubicBezTo>
                  <a:cubicBezTo>
                    <a:pt x="0" y="10215"/>
                    <a:pt x="2556" y="12768"/>
                    <a:pt x="6390" y="12768"/>
                  </a:cubicBezTo>
                  <a:lnTo>
                    <a:pt x="53036" y="12768"/>
                  </a:lnTo>
                  <a:cubicBezTo>
                    <a:pt x="56870" y="12768"/>
                    <a:pt x="59426" y="10215"/>
                    <a:pt x="59426" y="6384"/>
                  </a:cubicBezTo>
                  <a:cubicBezTo>
                    <a:pt x="59426" y="2554"/>
                    <a:pt x="56231" y="0"/>
                    <a:pt x="53036" y="0"/>
                  </a:cubicBezTo>
                  <a:close/>
                </a:path>
              </a:pathLst>
            </a:custGeom>
            <a:grpFill/>
            <a:ln w="6390" cap="flat">
              <a:noFill/>
              <a:prstDash val="solid"/>
              <a:miter/>
            </a:ln>
          </p:spPr>
          <p:txBody>
            <a:bodyPr rtlCol="0" anchor="ctr"/>
            <a:lstStyle/>
            <a:p>
              <a:pPr defTabSz="742950">
                <a:defRPr/>
              </a:pPr>
              <a:endParaRPr lang="en-US" sz="1463">
                <a:solidFill>
                  <a:prstClr val="black"/>
                </a:solidFill>
                <a:latin typeface="Calibri"/>
              </a:endParaRPr>
            </a:p>
          </p:txBody>
        </p:sp>
        <p:sp>
          <p:nvSpPr>
            <p:cNvPr id="60" name="Graphic 1100">
              <a:extLst>
                <a:ext uri="{FF2B5EF4-FFF2-40B4-BE49-F238E27FC236}">
                  <a16:creationId xmlns:a16="http://schemas.microsoft.com/office/drawing/2014/main" id="{208E8F4E-270A-90CF-6618-C0061D6E6DAA}"/>
                </a:ext>
              </a:extLst>
            </p:cNvPr>
            <p:cNvSpPr/>
            <p:nvPr/>
          </p:nvSpPr>
          <p:spPr>
            <a:xfrm>
              <a:off x="5901106" y="4528484"/>
              <a:ext cx="36422" cy="12767"/>
            </a:xfrm>
            <a:custGeom>
              <a:avLst/>
              <a:gdLst>
                <a:gd name="connsiteX0" fmla="*/ 6390 w 36422"/>
                <a:gd name="connsiteY0" fmla="*/ 0 h 12767"/>
                <a:gd name="connsiteX1" fmla="*/ 0 w 36422"/>
                <a:gd name="connsiteY1" fmla="*/ 6384 h 12767"/>
                <a:gd name="connsiteX2" fmla="*/ 6390 w 36422"/>
                <a:gd name="connsiteY2" fmla="*/ 12768 h 12767"/>
                <a:gd name="connsiteX3" fmla="*/ 30033 w 36422"/>
                <a:gd name="connsiteY3" fmla="*/ 12768 h 12767"/>
                <a:gd name="connsiteX4" fmla="*/ 36423 w 36422"/>
                <a:gd name="connsiteY4" fmla="*/ 6384 h 12767"/>
                <a:gd name="connsiteX5" fmla="*/ 30033 w 36422"/>
                <a:gd name="connsiteY5" fmla="*/ 0 h 12767"/>
                <a:gd name="connsiteX6" fmla="*/ 6390 w 3642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22" h="12767">
                  <a:moveTo>
                    <a:pt x="6390" y="0"/>
                  </a:moveTo>
                  <a:cubicBezTo>
                    <a:pt x="2556" y="0"/>
                    <a:pt x="0" y="2554"/>
                    <a:pt x="0" y="6384"/>
                  </a:cubicBezTo>
                  <a:cubicBezTo>
                    <a:pt x="0" y="10215"/>
                    <a:pt x="2556" y="12768"/>
                    <a:pt x="6390" y="12768"/>
                  </a:cubicBezTo>
                  <a:lnTo>
                    <a:pt x="30033" y="12768"/>
                  </a:lnTo>
                  <a:cubicBezTo>
                    <a:pt x="33867" y="12768"/>
                    <a:pt x="36423" y="10215"/>
                    <a:pt x="36423" y="6384"/>
                  </a:cubicBezTo>
                  <a:cubicBezTo>
                    <a:pt x="36423" y="2554"/>
                    <a:pt x="33867" y="0"/>
                    <a:pt x="30033" y="0"/>
                  </a:cubicBezTo>
                  <a:lnTo>
                    <a:pt x="6390" y="0"/>
                  </a:lnTo>
                  <a:close/>
                </a:path>
              </a:pathLst>
            </a:custGeom>
            <a:grpFill/>
            <a:ln w="6390" cap="flat">
              <a:noFill/>
              <a:prstDash val="solid"/>
              <a:miter/>
            </a:ln>
          </p:spPr>
          <p:txBody>
            <a:bodyPr rtlCol="0" anchor="ctr"/>
            <a:lstStyle/>
            <a:p>
              <a:pPr defTabSz="742950">
                <a:defRPr/>
              </a:pPr>
              <a:endParaRPr lang="en-US" sz="1463">
                <a:solidFill>
                  <a:prstClr val="black"/>
                </a:solidFill>
                <a:latin typeface="Calibri"/>
              </a:endParaRPr>
            </a:p>
          </p:txBody>
        </p:sp>
        <p:sp>
          <p:nvSpPr>
            <p:cNvPr id="61" name="Graphic 1100">
              <a:extLst>
                <a:ext uri="{FF2B5EF4-FFF2-40B4-BE49-F238E27FC236}">
                  <a16:creationId xmlns:a16="http://schemas.microsoft.com/office/drawing/2014/main" id="{30B8B0BD-F9F4-91A7-9675-F8E9EBB2F3E3}"/>
                </a:ext>
              </a:extLst>
            </p:cNvPr>
            <p:cNvSpPr/>
            <p:nvPr/>
          </p:nvSpPr>
          <p:spPr>
            <a:xfrm>
              <a:off x="5776503" y="4432086"/>
              <a:ext cx="108628" cy="109165"/>
            </a:xfrm>
            <a:custGeom>
              <a:avLst/>
              <a:gdLst>
                <a:gd name="connsiteX0" fmla="*/ 70928 w 108628"/>
                <a:gd name="connsiteY0" fmla="*/ 101505 h 109165"/>
                <a:gd name="connsiteX1" fmla="*/ 100961 w 108628"/>
                <a:gd name="connsiteY1" fmla="*/ 109166 h 109165"/>
                <a:gd name="connsiteX2" fmla="*/ 102239 w 108628"/>
                <a:gd name="connsiteY2" fmla="*/ 109166 h 109165"/>
                <a:gd name="connsiteX3" fmla="*/ 106712 w 108628"/>
                <a:gd name="connsiteY3" fmla="*/ 107251 h 109165"/>
                <a:gd name="connsiteX4" fmla="*/ 108629 w 108628"/>
                <a:gd name="connsiteY4" fmla="*/ 101505 h 109165"/>
                <a:gd name="connsiteX5" fmla="*/ 101600 w 108628"/>
                <a:gd name="connsiteY5" fmla="*/ 70862 h 109165"/>
                <a:gd name="connsiteX6" fmla="*/ 99683 w 108628"/>
                <a:gd name="connsiteY6" fmla="*/ 67670 h 109165"/>
                <a:gd name="connsiteX7" fmla="*/ 33866 w 108628"/>
                <a:gd name="connsiteY7" fmla="*/ 1915 h 109165"/>
                <a:gd name="connsiteX8" fmla="*/ 24921 w 108628"/>
                <a:gd name="connsiteY8" fmla="*/ 1915 h 109165"/>
                <a:gd name="connsiteX9" fmla="*/ 1917 w 108628"/>
                <a:gd name="connsiteY9" fmla="*/ 24898 h 109165"/>
                <a:gd name="connsiteX10" fmla="*/ 1917 w 108628"/>
                <a:gd name="connsiteY10" fmla="*/ 33835 h 109165"/>
                <a:gd name="connsiteX11" fmla="*/ 1917 w 108628"/>
                <a:gd name="connsiteY11" fmla="*/ 33835 h 109165"/>
                <a:gd name="connsiteX12" fmla="*/ 68372 w 108628"/>
                <a:gd name="connsiteY12" fmla="*/ 100229 h 109165"/>
                <a:gd name="connsiteX13" fmla="*/ 70928 w 108628"/>
                <a:gd name="connsiteY13" fmla="*/ 101505 h 109165"/>
                <a:gd name="connsiteX14" fmla="*/ 79235 w 108628"/>
                <a:gd name="connsiteY14" fmla="*/ 90653 h 109165"/>
                <a:gd name="connsiteX15" fmla="*/ 90098 w 108628"/>
                <a:gd name="connsiteY15" fmla="*/ 79800 h 109165"/>
                <a:gd name="connsiteX16" fmla="*/ 93293 w 108628"/>
                <a:gd name="connsiteY16" fmla="*/ 93845 h 109165"/>
                <a:gd name="connsiteX17" fmla="*/ 79235 w 108628"/>
                <a:gd name="connsiteY17" fmla="*/ 90653 h 109165"/>
                <a:gd name="connsiteX18" fmla="*/ 28755 w 108628"/>
                <a:gd name="connsiteY18" fmla="*/ 15322 h 109165"/>
                <a:gd name="connsiteX19" fmla="*/ 82430 w 108628"/>
                <a:gd name="connsiteY19" fmla="*/ 68947 h 109165"/>
                <a:gd name="connsiteX20" fmla="*/ 68372 w 108628"/>
                <a:gd name="connsiteY20" fmla="*/ 82992 h 109165"/>
                <a:gd name="connsiteX21" fmla="*/ 14697 w 108628"/>
                <a:gd name="connsiteY21" fmla="*/ 29366 h 109165"/>
                <a:gd name="connsiteX22" fmla="*/ 28755 w 108628"/>
                <a:gd name="connsiteY22" fmla="*/ 15322 h 10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8628" h="109165">
                  <a:moveTo>
                    <a:pt x="70928" y="101505"/>
                  </a:moveTo>
                  <a:lnTo>
                    <a:pt x="100961" y="109166"/>
                  </a:lnTo>
                  <a:cubicBezTo>
                    <a:pt x="101600" y="109166"/>
                    <a:pt x="102239" y="109166"/>
                    <a:pt x="102239" y="109166"/>
                  </a:cubicBezTo>
                  <a:cubicBezTo>
                    <a:pt x="104156" y="109166"/>
                    <a:pt x="105434" y="108528"/>
                    <a:pt x="106712" y="107251"/>
                  </a:cubicBezTo>
                  <a:cubicBezTo>
                    <a:pt x="107990" y="105974"/>
                    <a:pt x="108629" y="103420"/>
                    <a:pt x="108629" y="101505"/>
                  </a:cubicBezTo>
                  <a:lnTo>
                    <a:pt x="101600" y="70862"/>
                  </a:lnTo>
                  <a:cubicBezTo>
                    <a:pt x="101600" y="69585"/>
                    <a:pt x="100961" y="68947"/>
                    <a:pt x="99683" y="67670"/>
                  </a:cubicBezTo>
                  <a:lnTo>
                    <a:pt x="33866" y="1915"/>
                  </a:lnTo>
                  <a:cubicBezTo>
                    <a:pt x="31311" y="-638"/>
                    <a:pt x="27477" y="-638"/>
                    <a:pt x="24921" y="1915"/>
                  </a:cubicBezTo>
                  <a:lnTo>
                    <a:pt x="1917" y="24898"/>
                  </a:lnTo>
                  <a:cubicBezTo>
                    <a:pt x="-639" y="27451"/>
                    <a:pt x="-639" y="31282"/>
                    <a:pt x="1917" y="33835"/>
                  </a:cubicBezTo>
                  <a:cubicBezTo>
                    <a:pt x="1917" y="33835"/>
                    <a:pt x="1917" y="33835"/>
                    <a:pt x="1917" y="33835"/>
                  </a:cubicBezTo>
                  <a:lnTo>
                    <a:pt x="68372" y="100229"/>
                  </a:lnTo>
                  <a:cubicBezTo>
                    <a:pt x="69011" y="100229"/>
                    <a:pt x="69650" y="100867"/>
                    <a:pt x="70928" y="101505"/>
                  </a:cubicBezTo>
                  <a:close/>
                  <a:moveTo>
                    <a:pt x="79235" y="90653"/>
                  </a:moveTo>
                  <a:lnTo>
                    <a:pt x="90098" y="79800"/>
                  </a:lnTo>
                  <a:lnTo>
                    <a:pt x="93293" y="93845"/>
                  </a:lnTo>
                  <a:lnTo>
                    <a:pt x="79235" y="90653"/>
                  </a:lnTo>
                  <a:close/>
                  <a:moveTo>
                    <a:pt x="28755" y="15322"/>
                  </a:moveTo>
                  <a:lnTo>
                    <a:pt x="82430" y="68947"/>
                  </a:lnTo>
                  <a:lnTo>
                    <a:pt x="68372" y="82992"/>
                  </a:lnTo>
                  <a:lnTo>
                    <a:pt x="14697" y="29366"/>
                  </a:lnTo>
                  <a:lnTo>
                    <a:pt x="28755" y="15322"/>
                  </a:lnTo>
                  <a:close/>
                </a:path>
              </a:pathLst>
            </a:custGeom>
            <a:grpFill/>
            <a:ln w="6390" cap="flat">
              <a:noFill/>
              <a:prstDash val="solid"/>
              <a:miter/>
            </a:ln>
          </p:spPr>
          <p:txBody>
            <a:bodyPr rtlCol="0" anchor="ctr"/>
            <a:lstStyle/>
            <a:p>
              <a:pPr defTabSz="742950">
                <a:defRPr/>
              </a:pPr>
              <a:endParaRPr lang="en-US" sz="1463">
                <a:solidFill>
                  <a:prstClr val="black"/>
                </a:solidFill>
                <a:latin typeface="Calibri"/>
              </a:endParaRPr>
            </a:p>
          </p:txBody>
        </p:sp>
      </p:grpSp>
      <p:graphicFrame>
        <p:nvGraphicFramePr>
          <p:cNvPr id="64" name="Chart 63">
            <a:extLst>
              <a:ext uri="{FF2B5EF4-FFF2-40B4-BE49-F238E27FC236}">
                <a16:creationId xmlns:a16="http://schemas.microsoft.com/office/drawing/2014/main" id="{FC849709-040C-A52F-DC09-827303F2A34B}"/>
              </a:ext>
            </a:extLst>
          </p:cNvPr>
          <p:cNvGraphicFramePr/>
          <p:nvPr>
            <p:extLst>
              <p:ext uri="{D42A27DB-BD31-4B8C-83A1-F6EECF244321}">
                <p14:modId xmlns:p14="http://schemas.microsoft.com/office/powerpoint/2010/main" val="3106285516"/>
              </p:ext>
            </p:extLst>
          </p:nvPr>
        </p:nvGraphicFramePr>
        <p:xfrm>
          <a:off x="6705600" y="1687290"/>
          <a:ext cx="5011324" cy="1856010"/>
        </p:xfrm>
        <a:graphic>
          <a:graphicData uri="http://schemas.openxmlformats.org/drawingml/2006/chart">
            <c:chart xmlns:c="http://schemas.openxmlformats.org/drawingml/2006/chart" xmlns:r="http://schemas.openxmlformats.org/officeDocument/2006/relationships" r:id="rId6"/>
          </a:graphicData>
        </a:graphic>
      </p:graphicFrame>
      <p:sp>
        <p:nvSpPr>
          <p:cNvPr id="66" name="Rectangle: Rounded Corners 65">
            <a:extLst>
              <a:ext uri="{FF2B5EF4-FFF2-40B4-BE49-F238E27FC236}">
                <a16:creationId xmlns:a16="http://schemas.microsoft.com/office/drawing/2014/main" id="{07B6074C-2752-484A-EDC1-4F8C9D158CA9}"/>
              </a:ext>
            </a:extLst>
          </p:cNvPr>
          <p:cNvSpPr/>
          <p:nvPr/>
        </p:nvSpPr>
        <p:spPr>
          <a:xfrm>
            <a:off x="729519" y="3227587"/>
            <a:ext cx="1440000" cy="478800"/>
          </a:xfrm>
          <a:prstGeom prst="roundRect">
            <a:avLst/>
          </a:prstGeom>
          <a:solidFill>
            <a:srgbClr val="FFFFFF"/>
          </a:solidFill>
          <a:ln w="12700" cap="flat">
            <a:solidFill>
              <a:srgbClr val="046A38"/>
            </a:solidFill>
            <a:prstDash val="solid"/>
            <a:miter/>
          </a:ln>
          <a:effectLst/>
        </p:spPr>
        <p:txBody>
          <a:bodyPr wrap="square" lIns="180000" rtlCol="0" anchor="ctr"/>
          <a:lstStyle/>
          <a:p>
            <a:pPr algn="ctr" defTabSz="742950"/>
            <a:r>
              <a:rPr lang="en-US" sz="1200" b="1">
                <a:solidFill>
                  <a:prstClr val="black"/>
                </a:solidFill>
                <a:latin typeface="Arial" panose="020B0604020202020204" pitchFamily="34" charset="0"/>
                <a:cs typeface="Arial" panose="020B0604020202020204" pitchFamily="34" charset="0"/>
              </a:rPr>
              <a:t>Impact</a:t>
            </a:r>
          </a:p>
        </p:txBody>
      </p:sp>
      <p:sp>
        <p:nvSpPr>
          <p:cNvPr id="69" name="Text Box 245">
            <a:extLst>
              <a:ext uri="{FF2B5EF4-FFF2-40B4-BE49-F238E27FC236}">
                <a16:creationId xmlns:a16="http://schemas.microsoft.com/office/drawing/2014/main" id="{BE8D94BB-3B78-2A28-3D1C-C13AE2E951B3}"/>
              </a:ext>
            </a:extLst>
          </p:cNvPr>
          <p:cNvSpPr txBox="1">
            <a:spLocks noChangeArrowheads="1"/>
          </p:cNvSpPr>
          <p:nvPr/>
        </p:nvSpPr>
        <p:spPr bwMode="gray">
          <a:xfrm>
            <a:off x="2414206" y="3235339"/>
            <a:ext cx="3434396" cy="463296"/>
          </a:xfrm>
          <a:prstGeom prst="rect">
            <a:avLst/>
          </a:prstGeom>
          <a:noFill/>
          <a:ln w="3175" algn="ctr">
            <a:noFill/>
            <a:miter lim="800000"/>
            <a:headEnd/>
            <a:tailEnd/>
          </a:ln>
          <a:effectLst/>
          <a:extLst>
            <a:ext uri="{909E8E84-426E-40DD-AFC4-6F175D3DCCD1}">
              <a14:hiddenFill xmlns:a14="http://schemas.microsoft.com/office/drawing/2010/main">
                <a:solidFill>
                  <a:schemeClr val="accent6">
                    <a:lumMod val="75000"/>
                  </a:schemeClr>
                </a:solidFill>
              </a14:hiddenFill>
            </a:ext>
          </a:extLst>
        </p:spPr>
        <p:txBody>
          <a:bodyPr wrap="square" lIns="0" tIns="59472" rIns="0" bIns="29677" numCol="1" anchor="ctr" anchorCtr="0">
            <a:noAutofit/>
          </a:bodyPr>
          <a:lstStyle>
            <a:defPPr>
              <a:defRPr lang="en-US"/>
            </a:defPPr>
            <a:lvl1pPr marL="0" algn="l" defTabSz="1042873" rtl="0" eaLnBrk="1" latinLnBrk="0" hangingPunct="1">
              <a:defRPr sz="2100" kern="1200">
                <a:solidFill>
                  <a:schemeClr val="tx1"/>
                </a:solidFill>
                <a:latin typeface="+mn-lt"/>
                <a:ea typeface="+mn-ea"/>
                <a:cs typeface="+mn-cs"/>
              </a:defRPr>
            </a:lvl1pPr>
            <a:lvl2pPr marL="521437" algn="l" defTabSz="1042873" rtl="0" eaLnBrk="1" latinLnBrk="0" hangingPunct="1">
              <a:defRPr sz="2100" kern="1200">
                <a:solidFill>
                  <a:schemeClr val="tx1"/>
                </a:solidFill>
                <a:latin typeface="+mn-lt"/>
                <a:ea typeface="+mn-ea"/>
                <a:cs typeface="+mn-cs"/>
              </a:defRPr>
            </a:lvl2pPr>
            <a:lvl3pPr marL="1042873" algn="l" defTabSz="1042873" rtl="0" eaLnBrk="1" latinLnBrk="0" hangingPunct="1">
              <a:defRPr sz="2100" kern="1200">
                <a:solidFill>
                  <a:schemeClr val="tx1"/>
                </a:solidFill>
                <a:latin typeface="+mn-lt"/>
                <a:ea typeface="+mn-ea"/>
                <a:cs typeface="+mn-cs"/>
              </a:defRPr>
            </a:lvl3pPr>
            <a:lvl4pPr marL="1564310" algn="l" defTabSz="1042873" rtl="0" eaLnBrk="1" latinLnBrk="0" hangingPunct="1">
              <a:defRPr sz="2100" kern="1200">
                <a:solidFill>
                  <a:schemeClr val="tx1"/>
                </a:solidFill>
                <a:latin typeface="+mn-lt"/>
                <a:ea typeface="+mn-ea"/>
                <a:cs typeface="+mn-cs"/>
              </a:defRPr>
            </a:lvl4pPr>
            <a:lvl5pPr marL="2085746" algn="l" defTabSz="1042873" rtl="0" eaLnBrk="1" latinLnBrk="0" hangingPunct="1">
              <a:defRPr sz="2100" kern="1200">
                <a:solidFill>
                  <a:schemeClr val="tx1"/>
                </a:solidFill>
                <a:latin typeface="+mn-lt"/>
                <a:ea typeface="+mn-ea"/>
                <a:cs typeface="+mn-cs"/>
              </a:defRPr>
            </a:lvl5pPr>
            <a:lvl6pPr marL="2607183" algn="l" defTabSz="1042873" rtl="0" eaLnBrk="1" latinLnBrk="0" hangingPunct="1">
              <a:defRPr sz="2100" kern="1200">
                <a:solidFill>
                  <a:schemeClr val="tx1"/>
                </a:solidFill>
                <a:latin typeface="+mn-lt"/>
                <a:ea typeface="+mn-ea"/>
                <a:cs typeface="+mn-cs"/>
              </a:defRPr>
            </a:lvl6pPr>
            <a:lvl7pPr marL="3128620" algn="l" defTabSz="1042873" rtl="0" eaLnBrk="1" latinLnBrk="0" hangingPunct="1">
              <a:defRPr sz="2100" kern="1200">
                <a:solidFill>
                  <a:schemeClr val="tx1"/>
                </a:solidFill>
                <a:latin typeface="+mn-lt"/>
                <a:ea typeface="+mn-ea"/>
                <a:cs typeface="+mn-cs"/>
              </a:defRPr>
            </a:lvl7pPr>
            <a:lvl8pPr marL="3650056" algn="l" defTabSz="1042873" rtl="0" eaLnBrk="1" latinLnBrk="0" hangingPunct="1">
              <a:defRPr sz="2100" kern="1200">
                <a:solidFill>
                  <a:schemeClr val="tx1"/>
                </a:solidFill>
                <a:latin typeface="+mn-lt"/>
                <a:ea typeface="+mn-ea"/>
                <a:cs typeface="+mn-cs"/>
              </a:defRPr>
            </a:lvl8pPr>
            <a:lvl9pPr marL="4171493" algn="l" defTabSz="1042873" rtl="0" eaLnBrk="1" latinLnBrk="0" hangingPunct="1">
              <a:defRPr sz="2100" kern="1200">
                <a:solidFill>
                  <a:schemeClr val="tx1"/>
                </a:solidFill>
                <a:latin typeface="+mn-lt"/>
                <a:ea typeface="+mn-ea"/>
                <a:cs typeface="+mn-cs"/>
              </a:defRPr>
            </a:lvl9pPr>
          </a:lstStyle>
          <a:p>
            <a:pPr marL="139303" indent="-139303" defTabSz="775819">
              <a:buFont typeface="Arial" panose="020B0604020202020204" pitchFamily="34" charset="0"/>
              <a:buChar char="•"/>
              <a:defRPr/>
            </a:pPr>
            <a:r>
              <a:rPr lang="en-US" sz="1000" b="1">
                <a:solidFill>
                  <a:srgbClr val="000000"/>
                </a:solidFill>
                <a:latin typeface="Arial" panose="020B0604020202020204" pitchFamily="34" charset="0"/>
                <a:cs typeface="Arial" panose="020B0604020202020204" pitchFamily="34" charset="0"/>
              </a:rPr>
              <a:t>~ USD 13 Billion of overdue payments </a:t>
            </a:r>
            <a:r>
              <a:rPr lang="en-US" sz="1000">
                <a:solidFill>
                  <a:srgbClr val="000000"/>
                </a:solidFill>
                <a:latin typeface="Arial" panose="020B0604020202020204" pitchFamily="34" charset="0"/>
                <a:cs typeface="Arial" panose="020B0604020202020204" pitchFamily="34" charset="0"/>
              </a:rPr>
              <a:t>have been settled between the Discoms, generating companies &amp; transmission companies from </a:t>
            </a:r>
            <a:r>
              <a:rPr lang="en-US" sz="1000" b="1">
                <a:solidFill>
                  <a:srgbClr val="000000"/>
                </a:solidFill>
                <a:latin typeface="Arial" panose="020B0604020202020204" pitchFamily="34" charset="0"/>
                <a:cs typeface="Arial" panose="020B0604020202020204" pitchFamily="34" charset="0"/>
              </a:rPr>
              <a:t>Jun’22-Aug’24</a:t>
            </a:r>
          </a:p>
          <a:p>
            <a:pPr marL="139303" indent="-139303" defTabSz="775819">
              <a:buFont typeface="Arial" panose="020B0604020202020204" pitchFamily="34" charset="0"/>
              <a:buChar char="•"/>
              <a:defRPr/>
            </a:pPr>
            <a:r>
              <a:rPr lang="en-US" sz="1000">
                <a:solidFill>
                  <a:srgbClr val="000000"/>
                </a:solidFill>
                <a:latin typeface="Arial" panose="020B0604020202020204" pitchFamily="34" charset="0"/>
                <a:cs typeface="Arial" panose="020B0604020202020204" pitchFamily="34" charset="0"/>
              </a:rPr>
              <a:t>As per the Government of India, </a:t>
            </a:r>
            <a:r>
              <a:rPr lang="en-US" sz="1000" b="1">
                <a:solidFill>
                  <a:srgbClr val="000000"/>
                </a:solidFill>
                <a:latin typeface="Arial" panose="020B0604020202020204" pitchFamily="34" charset="0"/>
                <a:cs typeface="Arial" panose="020B0604020202020204" pitchFamily="34" charset="0"/>
              </a:rPr>
              <a:t>all current dues </a:t>
            </a:r>
            <a:r>
              <a:rPr lang="en-US" sz="1000">
                <a:solidFill>
                  <a:srgbClr val="000000"/>
                </a:solidFill>
                <a:latin typeface="Arial" panose="020B0604020202020204" pitchFamily="34" charset="0"/>
                <a:cs typeface="Arial" panose="020B0604020202020204" pitchFamily="34" charset="0"/>
              </a:rPr>
              <a:t>are being paid since August 2022 </a:t>
            </a:r>
            <a:r>
              <a:rPr lang="en-US" sz="1000" b="1">
                <a:solidFill>
                  <a:srgbClr val="000000"/>
                </a:solidFill>
                <a:latin typeface="Arial" panose="020B0604020202020204" pitchFamily="34" charset="0"/>
                <a:cs typeface="Arial" panose="020B0604020202020204" pitchFamily="34" charset="0"/>
              </a:rPr>
              <a:t>within</a:t>
            </a:r>
            <a:r>
              <a:rPr lang="en-US" sz="1000">
                <a:solidFill>
                  <a:srgbClr val="000000"/>
                </a:solidFill>
                <a:latin typeface="Arial" panose="020B0604020202020204" pitchFamily="34" charset="0"/>
                <a:cs typeface="Arial" panose="020B0604020202020204" pitchFamily="34" charset="0"/>
              </a:rPr>
              <a:t> a timeframe of maximum </a:t>
            </a:r>
            <a:r>
              <a:rPr lang="en-US" sz="1000" b="1">
                <a:solidFill>
                  <a:srgbClr val="000000"/>
                </a:solidFill>
                <a:latin typeface="Arial" panose="020B0604020202020204" pitchFamily="34" charset="0"/>
                <a:cs typeface="Arial" panose="020B0604020202020204" pitchFamily="34" charset="0"/>
              </a:rPr>
              <a:t>75 days</a:t>
            </a:r>
            <a:endParaRPr lang="en-US" sz="1000">
              <a:solidFill>
                <a:prstClr val="black"/>
              </a:solidFill>
              <a:latin typeface="Arial" panose="020B0604020202020204" pitchFamily="34" charset="0"/>
              <a:cs typeface="Arial" panose="020B0604020202020204" pitchFamily="34" charset="0"/>
            </a:endParaRPr>
          </a:p>
        </p:txBody>
      </p:sp>
      <p:sp>
        <p:nvSpPr>
          <p:cNvPr id="74" name="Isosceles Triangle 73">
            <a:extLst>
              <a:ext uri="{FF2B5EF4-FFF2-40B4-BE49-F238E27FC236}">
                <a16:creationId xmlns:a16="http://schemas.microsoft.com/office/drawing/2014/main" id="{9EDBAA50-FC71-9730-5235-B6216B873098}"/>
              </a:ext>
            </a:extLst>
          </p:cNvPr>
          <p:cNvSpPr/>
          <p:nvPr/>
        </p:nvSpPr>
        <p:spPr bwMode="gray">
          <a:xfrm rot="5400000">
            <a:off x="5389282" y="2483304"/>
            <a:ext cx="1415672" cy="226364"/>
          </a:xfrm>
          <a:prstGeom prst="triangle">
            <a:avLst>
              <a:gd name="adj" fmla="val 50345"/>
            </a:avLst>
          </a:prstGeom>
          <a:solidFill>
            <a:srgbClr val="046A38"/>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endParaRPr>
          </a:p>
        </p:txBody>
      </p:sp>
      <p:graphicFrame>
        <p:nvGraphicFramePr>
          <p:cNvPr id="75" name="Chart 74">
            <a:extLst>
              <a:ext uri="{FF2B5EF4-FFF2-40B4-BE49-F238E27FC236}">
                <a16:creationId xmlns:a16="http://schemas.microsoft.com/office/drawing/2014/main" id="{536C2047-E4D8-0F76-5A74-5190D95F83A5}"/>
              </a:ext>
            </a:extLst>
          </p:cNvPr>
          <p:cNvGraphicFramePr/>
          <p:nvPr>
            <p:extLst>
              <p:ext uri="{D42A27DB-BD31-4B8C-83A1-F6EECF244321}">
                <p14:modId xmlns:p14="http://schemas.microsoft.com/office/powerpoint/2010/main" val="3790840748"/>
              </p:ext>
            </p:extLst>
          </p:nvPr>
        </p:nvGraphicFramePr>
        <p:xfrm>
          <a:off x="417600" y="4343439"/>
          <a:ext cx="11299324" cy="1965286"/>
        </p:xfrm>
        <a:graphic>
          <a:graphicData uri="http://schemas.openxmlformats.org/drawingml/2006/chart">
            <c:chart xmlns:c="http://schemas.openxmlformats.org/drawingml/2006/chart" xmlns:r="http://schemas.openxmlformats.org/officeDocument/2006/relationships" r:id="rId7"/>
          </a:graphicData>
        </a:graphic>
      </p:graphicFrame>
      <p:sp>
        <p:nvSpPr>
          <p:cNvPr id="76" name="TextBox 75">
            <a:extLst>
              <a:ext uri="{FF2B5EF4-FFF2-40B4-BE49-F238E27FC236}">
                <a16:creationId xmlns:a16="http://schemas.microsoft.com/office/drawing/2014/main" id="{729F5070-AB29-4D81-2798-A62E445719B3}"/>
              </a:ext>
            </a:extLst>
          </p:cNvPr>
          <p:cNvSpPr txBox="1"/>
          <p:nvPr/>
        </p:nvSpPr>
        <p:spPr>
          <a:xfrm>
            <a:off x="510794" y="4002853"/>
            <a:ext cx="8543925" cy="276999"/>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Calibri" panose="020F0502020204030204" pitchFamily="34" charset="0"/>
                <a:cs typeface="Calibri" panose="020F050202020403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Payable days (days) have decreased substantially across states after the introduction of LPS Rules</a:t>
            </a:r>
          </a:p>
        </p:txBody>
      </p:sp>
      <p:sp>
        <p:nvSpPr>
          <p:cNvPr id="78" name="TextBox 77">
            <a:extLst>
              <a:ext uri="{FF2B5EF4-FFF2-40B4-BE49-F238E27FC236}">
                <a16:creationId xmlns:a16="http://schemas.microsoft.com/office/drawing/2014/main" id="{61C29460-E42B-AA84-7791-15E69B9E8D4B}"/>
              </a:ext>
            </a:extLst>
          </p:cNvPr>
          <p:cNvSpPr txBox="1"/>
          <p:nvPr/>
        </p:nvSpPr>
        <p:spPr>
          <a:xfrm>
            <a:off x="6221839" y="1072024"/>
            <a:ext cx="11269248" cy="461665"/>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lgn="l">
              <a:spcBef>
                <a:spcPts val="488"/>
              </a:spcBef>
              <a:buSzPct val="100000"/>
            </a:pPr>
            <a:r>
              <a:rPr lang="en-US" sz="1200" b="1">
                <a:latin typeface="Calibri" panose="020F0502020204030204" pitchFamily="34" charset="0"/>
                <a:cs typeface="Calibri" panose="020F0502020204030204" pitchFamily="34" charset="0"/>
              </a:rPr>
              <a:t>Outstanding dues payable by Discoms for power purchase</a:t>
            </a:r>
          </a:p>
          <a:p>
            <a:pPr algn="l">
              <a:spcBef>
                <a:spcPts val="0"/>
              </a:spcBef>
              <a:buSzPct val="100000"/>
            </a:pPr>
            <a:r>
              <a:rPr lang="en-US" b="0">
                <a:latin typeface="Calibri" panose="020F0502020204030204" pitchFamily="34" charset="0"/>
                <a:cs typeface="Calibri" panose="020F0502020204030204" pitchFamily="34" charset="0"/>
              </a:rPr>
              <a:t>Jun’22-Jan’25, USD Bn</a:t>
            </a:r>
            <a:endParaRPr lang="en-US" sz="1200" b="0">
              <a:latin typeface="Calibri" panose="020F0502020204030204" pitchFamily="34" charset="0"/>
              <a:cs typeface="Calibri" panose="020F0502020204030204" pitchFamily="34" charset="0"/>
            </a:endParaRPr>
          </a:p>
        </p:txBody>
      </p:sp>
      <p:sp>
        <p:nvSpPr>
          <p:cNvPr id="67" name="Freeform: Shape 66">
            <a:extLst>
              <a:ext uri="{FF2B5EF4-FFF2-40B4-BE49-F238E27FC236}">
                <a16:creationId xmlns:a16="http://schemas.microsoft.com/office/drawing/2014/main" id="{80623586-7D5B-EEBB-BE9F-FCCB6CF3A609}"/>
              </a:ext>
            </a:extLst>
          </p:cNvPr>
          <p:cNvSpPr/>
          <p:nvPr/>
        </p:nvSpPr>
        <p:spPr>
          <a:xfrm flipH="1">
            <a:off x="513514" y="3253419"/>
            <a:ext cx="432000" cy="432000"/>
          </a:xfrm>
          <a:custGeom>
            <a:avLst/>
            <a:gdLst>
              <a:gd name="connsiteX0" fmla="*/ 767890 w 767890"/>
              <a:gd name="connsiteY0" fmla="*/ 383945 h 767890"/>
              <a:gd name="connsiteX1" fmla="*/ 383945 w 767890"/>
              <a:gd name="connsiteY1" fmla="*/ 767890 h 767890"/>
              <a:gd name="connsiteX2" fmla="*/ 0 w 767890"/>
              <a:gd name="connsiteY2" fmla="*/ 383945 h 767890"/>
              <a:gd name="connsiteX3" fmla="*/ 383945 w 767890"/>
              <a:gd name="connsiteY3" fmla="*/ 0 h 767890"/>
              <a:gd name="connsiteX4" fmla="*/ 767890 w 767890"/>
              <a:gd name="connsiteY4" fmla="*/ 383945 h 767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7890" h="767890">
                <a:moveTo>
                  <a:pt x="767890" y="383945"/>
                </a:moveTo>
                <a:cubicBezTo>
                  <a:pt x="767890" y="595992"/>
                  <a:pt x="595992" y="767890"/>
                  <a:pt x="383945" y="767890"/>
                </a:cubicBezTo>
                <a:cubicBezTo>
                  <a:pt x="171898" y="767890"/>
                  <a:pt x="0" y="595992"/>
                  <a:pt x="0" y="383945"/>
                </a:cubicBezTo>
                <a:cubicBezTo>
                  <a:pt x="0" y="171898"/>
                  <a:pt x="171898" y="0"/>
                  <a:pt x="383945" y="0"/>
                </a:cubicBezTo>
                <a:cubicBezTo>
                  <a:pt x="595992" y="0"/>
                  <a:pt x="767890" y="171898"/>
                  <a:pt x="767890" y="383945"/>
                </a:cubicBezTo>
                <a:close/>
              </a:path>
            </a:pathLst>
          </a:custGeom>
          <a:solidFill>
            <a:srgbClr val="046A38"/>
          </a:solidFill>
          <a:ln w="6858" cap="flat">
            <a:noFill/>
            <a:prstDash val="solid"/>
            <a:miter/>
          </a:ln>
          <a:effectLst/>
        </p:spPr>
        <p:txBody>
          <a:bodyPr rtlCol="0" anchor="ctr"/>
          <a:lstStyle/>
          <a:p>
            <a:pPr defTabSz="742950">
              <a:defRPr/>
            </a:pPr>
            <a:endParaRPr lang="en-IN" sz="1463">
              <a:solidFill>
                <a:prstClr val="black"/>
              </a:solidFill>
              <a:latin typeface="Calibri"/>
            </a:endParaRPr>
          </a:p>
        </p:txBody>
      </p:sp>
      <p:grpSp>
        <p:nvGrpSpPr>
          <p:cNvPr id="68" name="Graphic 4">
            <a:extLst>
              <a:ext uri="{FF2B5EF4-FFF2-40B4-BE49-F238E27FC236}">
                <a16:creationId xmlns:a16="http://schemas.microsoft.com/office/drawing/2014/main" id="{23A50EF0-901F-5F11-0DE1-34936EECAB71}"/>
              </a:ext>
            </a:extLst>
          </p:cNvPr>
          <p:cNvGrpSpPr/>
          <p:nvPr/>
        </p:nvGrpSpPr>
        <p:grpSpPr>
          <a:xfrm>
            <a:off x="549514" y="3289419"/>
            <a:ext cx="360000" cy="360000"/>
            <a:chOff x="3607758" y="3339623"/>
            <a:chExt cx="362313" cy="361971"/>
          </a:xfrm>
          <a:solidFill>
            <a:srgbClr val="FFFFFF"/>
          </a:solidFill>
          <a:effectLst/>
        </p:grpSpPr>
        <p:sp>
          <p:nvSpPr>
            <p:cNvPr id="70" name="Graphic 4">
              <a:extLst>
                <a:ext uri="{FF2B5EF4-FFF2-40B4-BE49-F238E27FC236}">
                  <a16:creationId xmlns:a16="http://schemas.microsoft.com/office/drawing/2014/main" id="{A1629BFC-7348-0E76-96F7-D0E4B55B89CC}"/>
                </a:ext>
              </a:extLst>
            </p:cNvPr>
            <p:cNvSpPr/>
            <p:nvPr/>
          </p:nvSpPr>
          <p:spPr>
            <a:xfrm>
              <a:off x="3607758" y="333962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grpFill/>
            <a:ln w="6390" cap="flat">
              <a:noFill/>
              <a:prstDash val="solid"/>
              <a:miter/>
            </a:ln>
          </p:spPr>
          <p:txBody>
            <a:bodyPr rtlCol="0" anchor="ctr"/>
            <a:lstStyle/>
            <a:p>
              <a:pPr defTabSz="742950">
                <a:defRPr/>
              </a:pPr>
              <a:endParaRPr lang="en-US" sz="1463">
                <a:solidFill>
                  <a:prstClr val="black"/>
                </a:solidFill>
                <a:latin typeface="Calibri"/>
              </a:endParaRPr>
            </a:p>
          </p:txBody>
        </p:sp>
        <p:sp>
          <p:nvSpPr>
            <p:cNvPr id="71" name="Graphic 4">
              <a:extLst>
                <a:ext uri="{FF2B5EF4-FFF2-40B4-BE49-F238E27FC236}">
                  <a16:creationId xmlns:a16="http://schemas.microsoft.com/office/drawing/2014/main" id="{03D4E08B-C40A-AF4B-012F-417FAC0EF168}"/>
                </a:ext>
              </a:extLst>
            </p:cNvPr>
            <p:cNvSpPr/>
            <p:nvPr/>
          </p:nvSpPr>
          <p:spPr>
            <a:xfrm>
              <a:off x="3675052" y="3414316"/>
              <a:ext cx="227921" cy="187688"/>
            </a:xfrm>
            <a:custGeom>
              <a:avLst/>
              <a:gdLst>
                <a:gd name="connsiteX0" fmla="*/ 119931 w 227921"/>
                <a:gd name="connsiteY0" fmla="*/ 3192 h 187688"/>
                <a:gd name="connsiteX1" fmla="*/ 114819 w 227921"/>
                <a:gd name="connsiteY1" fmla="*/ 0 h 187688"/>
                <a:gd name="connsiteX2" fmla="*/ 114819 w 227921"/>
                <a:gd name="connsiteY2" fmla="*/ 0 h 187688"/>
                <a:gd name="connsiteX3" fmla="*/ 109707 w 227921"/>
                <a:gd name="connsiteY3" fmla="*/ 3192 h 187688"/>
                <a:gd name="connsiteX4" fmla="*/ 1078 w 227921"/>
                <a:gd name="connsiteY4" fmla="*/ 177475 h 187688"/>
                <a:gd name="connsiteX5" fmla="*/ 2995 w 227921"/>
                <a:gd name="connsiteY5" fmla="*/ 186412 h 187688"/>
                <a:gd name="connsiteX6" fmla="*/ 6190 w 227921"/>
                <a:gd name="connsiteY6" fmla="*/ 187689 h 187688"/>
                <a:gd name="connsiteX7" fmla="*/ 221531 w 227921"/>
                <a:gd name="connsiteY7" fmla="*/ 187689 h 187688"/>
                <a:gd name="connsiteX8" fmla="*/ 227921 w 227921"/>
                <a:gd name="connsiteY8" fmla="*/ 181305 h 187688"/>
                <a:gd name="connsiteX9" fmla="*/ 226643 w 227921"/>
                <a:gd name="connsiteY9" fmla="*/ 178113 h 187688"/>
                <a:gd name="connsiteX10" fmla="*/ 119931 w 227921"/>
                <a:gd name="connsiteY10" fmla="*/ 3192 h 187688"/>
                <a:gd name="connsiteX11" fmla="*/ 17692 w 227921"/>
                <a:gd name="connsiteY11" fmla="*/ 174283 h 187688"/>
                <a:gd name="connsiteX12" fmla="*/ 114180 w 227921"/>
                <a:gd name="connsiteY12" fmla="*/ 19152 h 187688"/>
                <a:gd name="connsiteX13" fmla="*/ 210029 w 227921"/>
                <a:gd name="connsiteY13" fmla="*/ 174283 h 187688"/>
                <a:gd name="connsiteX14" fmla="*/ 17692 w 227921"/>
                <a:gd name="connsiteY14" fmla="*/ 174283 h 18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7921" h="187688">
                  <a:moveTo>
                    <a:pt x="119931" y="3192"/>
                  </a:moveTo>
                  <a:cubicBezTo>
                    <a:pt x="118653" y="1277"/>
                    <a:pt x="116736" y="0"/>
                    <a:pt x="114819" y="0"/>
                  </a:cubicBezTo>
                  <a:lnTo>
                    <a:pt x="114819" y="0"/>
                  </a:lnTo>
                  <a:cubicBezTo>
                    <a:pt x="112902" y="0"/>
                    <a:pt x="110346" y="1277"/>
                    <a:pt x="109707" y="3192"/>
                  </a:cubicBezTo>
                  <a:lnTo>
                    <a:pt x="1078" y="177475"/>
                  </a:lnTo>
                  <a:cubicBezTo>
                    <a:pt x="-839" y="180667"/>
                    <a:pt x="-200" y="184497"/>
                    <a:pt x="2995" y="186412"/>
                  </a:cubicBezTo>
                  <a:cubicBezTo>
                    <a:pt x="4273" y="187051"/>
                    <a:pt x="4912" y="187689"/>
                    <a:pt x="6190" y="187689"/>
                  </a:cubicBezTo>
                  <a:lnTo>
                    <a:pt x="221531" y="187689"/>
                  </a:lnTo>
                  <a:cubicBezTo>
                    <a:pt x="225365" y="187689"/>
                    <a:pt x="227921" y="185135"/>
                    <a:pt x="227921" y="181305"/>
                  </a:cubicBezTo>
                  <a:cubicBezTo>
                    <a:pt x="227921" y="180028"/>
                    <a:pt x="227282" y="178752"/>
                    <a:pt x="226643" y="178113"/>
                  </a:cubicBezTo>
                  <a:lnTo>
                    <a:pt x="119931" y="3192"/>
                  </a:lnTo>
                  <a:close/>
                  <a:moveTo>
                    <a:pt x="17692" y="174283"/>
                  </a:moveTo>
                  <a:lnTo>
                    <a:pt x="114180" y="19152"/>
                  </a:lnTo>
                  <a:lnTo>
                    <a:pt x="210029" y="174283"/>
                  </a:lnTo>
                  <a:lnTo>
                    <a:pt x="17692" y="174283"/>
                  </a:lnTo>
                  <a:close/>
                </a:path>
              </a:pathLst>
            </a:custGeom>
            <a:grpFill/>
            <a:ln w="6390" cap="flat">
              <a:noFill/>
              <a:prstDash val="solid"/>
              <a:miter/>
            </a:ln>
          </p:spPr>
          <p:txBody>
            <a:bodyPr rtlCol="0" anchor="ctr"/>
            <a:lstStyle/>
            <a:p>
              <a:pPr defTabSz="742950">
                <a:defRPr/>
              </a:pPr>
              <a:endParaRPr lang="en-US" sz="1463">
                <a:solidFill>
                  <a:prstClr val="black"/>
                </a:solidFill>
                <a:latin typeface="Calibri"/>
              </a:endParaRPr>
            </a:p>
          </p:txBody>
        </p:sp>
        <p:sp>
          <p:nvSpPr>
            <p:cNvPr id="72" name="Graphic 4">
              <a:extLst>
                <a:ext uri="{FF2B5EF4-FFF2-40B4-BE49-F238E27FC236}">
                  <a16:creationId xmlns:a16="http://schemas.microsoft.com/office/drawing/2014/main" id="{00D8CFD5-D5BF-7B8E-431E-D69EF45FE538}"/>
                </a:ext>
              </a:extLst>
            </p:cNvPr>
            <p:cNvSpPr/>
            <p:nvPr/>
          </p:nvSpPr>
          <p:spPr>
            <a:xfrm>
              <a:off x="3782842" y="3474325"/>
              <a:ext cx="12779" cy="66393"/>
            </a:xfrm>
            <a:custGeom>
              <a:avLst/>
              <a:gdLst>
                <a:gd name="connsiteX0" fmla="*/ 0 w 12779"/>
                <a:gd name="connsiteY0" fmla="*/ 7023 h 66393"/>
                <a:gd name="connsiteX1" fmla="*/ 0 w 12779"/>
                <a:gd name="connsiteY1" fmla="*/ 60010 h 66393"/>
                <a:gd name="connsiteX2" fmla="*/ 6390 w 12779"/>
                <a:gd name="connsiteY2" fmla="*/ 66394 h 66393"/>
                <a:gd name="connsiteX3" fmla="*/ 12780 w 12779"/>
                <a:gd name="connsiteY3" fmla="*/ 60010 h 66393"/>
                <a:gd name="connsiteX4" fmla="*/ 12780 w 12779"/>
                <a:gd name="connsiteY4" fmla="*/ 6384 h 66393"/>
                <a:gd name="connsiteX5" fmla="*/ 6390 w 12779"/>
                <a:gd name="connsiteY5" fmla="*/ 0 h 66393"/>
                <a:gd name="connsiteX6" fmla="*/ 0 w 12779"/>
                <a:gd name="connsiteY6" fmla="*/ 7023 h 66393"/>
                <a:gd name="connsiteX7" fmla="*/ 0 w 12779"/>
                <a:gd name="connsiteY7" fmla="*/ 7023 h 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66393">
                  <a:moveTo>
                    <a:pt x="0" y="7023"/>
                  </a:moveTo>
                  <a:lnTo>
                    <a:pt x="0" y="60010"/>
                  </a:lnTo>
                  <a:cubicBezTo>
                    <a:pt x="0" y="63840"/>
                    <a:pt x="2556" y="66394"/>
                    <a:pt x="6390" y="66394"/>
                  </a:cubicBezTo>
                  <a:cubicBezTo>
                    <a:pt x="10224" y="66394"/>
                    <a:pt x="12780" y="63840"/>
                    <a:pt x="12780" y="60010"/>
                  </a:cubicBezTo>
                  <a:lnTo>
                    <a:pt x="12780" y="6384"/>
                  </a:lnTo>
                  <a:cubicBezTo>
                    <a:pt x="12780" y="2554"/>
                    <a:pt x="10224" y="0"/>
                    <a:pt x="6390" y="0"/>
                  </a:cubicBezTo>
                  <a:cubicBezTo>
                    <a:pt x="2556" y="0"/>
                    <a:pt x="0" y="3192"/>
                    <a:pt x="0" y="7023"/>
                  </a:cubicBezTo>
                  <a:lnTo>
                    <a:pt x="0" y="7023"/>
                  </a:lnTo>
                  <a:close/>
                </a:path>
              </a:pathLst>
            </a:custGeom>
            <a:grpFill/>
            <a:ln w="6390" cap="flat">
              <a:noFill/>
              <a:prstDash val="solid"/>
              <a:miter/>
            </a:ln>
          </p:spPr>
          <p:txBody>
            <a:bodyPr rtlCol="0" anchor="ctr"/>
            <a:lstStyle/>
            <a:p>
              <a:pPr defTabSz="742950">
                <a:defRPr/>
              </a:pPr>
              <a:endParaRPr lang="en-US" sz="1463">
                <a:solidFill>
                  <a:prstClr val="black"/>
                </a:solidFill>
                <a:latin typeface="Calibri"/>
              </a:endParaRPr>
            </a:p>
          </p:txBody>
        </p:sp>
        <p:sp>
          <p:nvSpPr>
            <p:cNvPr id="73" name="Graphic 4">
              <a:extLst>
                <a:ext uri="{FF2B5EF4-FFF2-40B4-BE49-F238E27FC236}">
                  <a16:creationId xmlns:a16="http://schemas.microsoft.com/office/drawing/2014/main" id="{F9EB32DA-248F-7ED4-3BB1-B77F57939D52}"/>
                </a:ext>
              </a:extLst>
            </p:cNvPr>
            <p:cNvSpPr/>
            <p:nvPr/>
          </p:nvSpPr>
          <p:spPr>
            <a:xfrm>
              <a:off x="3782203" y="3557956"/>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7029 w 14057"/>
                <a:gd name="connsiteY4" fmla="*/ 0 h 14044"/>
                <a:gd name="connsiteX5" fmla="*/ 7029 w 14057"/>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4058" y="3192"/>
                    <a:pt x="10863" y="0"/>
                    <a:pt x="7029" y="0"/>
                  </a:cubicBezTo>
                  <a:cubicBezTo>
                    <a:pt x="7029" y="0"/>
                    <a:pt x="7029" y="0"/>
                    <a:pt x="7029" y="0"/>
                  </a:cubicBezTo>
                  <a:close/>
                </a:path>
              </a:pathLst>
            </a:custGeom>
            <a:grpFill/>
            <a:ln w="6390" cap="flat">
              <a:noFill/>
              <a:prstDash val="solid"/>
              <a:miter/>
            </a:ln>
          </p:spPr>
          <p:txBody>
            <a:bodyPr rtlCol="0" anchor="ctr"/>
            <a:lstStyle/>
            <a:p>
              <a:pPr defTabSz="742950">
                <a:defRPr/>
              </a:pPr>
              <a:endParaRPr lang="en-US" sz="1463">
                <a:solidFill>
                  <a:prstClr val="black"/>
                </a:solidFill>
                <a:latin typeface="Calibri"/>
              </a:endParaRPr>
            </a:p>
          </p:txBody>
        </p:sp>
      </p:grpSp>
    </p:spTree>
    <p:extLst>
      <p:ext uri="{BB962C8B-B14F-4D97-AF65-F5344CB8AC3E}">
        <p14:creationId xmlns:p14="http://schemas.microsoft.com/office/powerpoint/2010/main" val="3377841481"/>
      </p:ext>
    </p:extLst>
  </p:cSld>
  <p:clrMapOvr>
    <a:masterClrMapping/>
  </p:clrMapOvr>
  <p:transition>
    <p:fade/>
  </p:transition>
</p:sld>
</file>

<file path=ppt/slides/slide92.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1659399202"/>
              </p:ext>
            </p:extLst>
          </p:nvPr>
        </p:nvGraphicFramePr>
        <p:xfrm>
          <a:off x="1673719" y="2761586"/>
          <a:ext cx="9206802" cy="1334828"/>
        </p:xfrm>
        <a:graphic>
          <a:graphicData uri="http://schemas.openxmlformats.org/drawingml/2006/table">
            <a:tbl>
              <a:tblPr firstRow="1" bandRow="1">
                <a:tableStyleId>{5C22544A-7EE6-4342-B048-85BDC9FD1C3A}</a:tableStyleId>
              </a:tblPr>
              <a:tblGrid>
                <a:gridCol w="2923681">
                  <a:extLst>
                    <a:ext uri="{9D8B030D-6E8A-4147-A177-3AD203B41FA5}">
                      <a16:colId xmlns:a16="http://schemas.microsoft.com/office/drawing/2014/main" val="2744717436"/>
                    </a:ext>
                  </a:extLst>
                </a:gridCol>
                <a:gridCol w="6283121">
                  <a:extLst>
                    <a:ext uri="{9D8B030D-6E8A-4147-A177-3AD203B41FA5}">
                      <a16:colId xmlns:a16="http://schemas.microsoft.com/office/drawing/2014/main" val="570884867"/>
                    </a:ext>
                  </a:extLst>
                </a:gridCol>
              </a:tblGrid>
              <a:tr h="1334828">
                <a:tc>
                  <a:txBody>
                    <a:bodyPr/>
                    <a:lstStyle/>
                    <a:p>
                      <a:r>
                        <a:rPr lang="en-US" sz="3600">
                          <a:latin typeface="Arial" panose="020B0604020202020204" pitchFamily="34" charset="0"/>
                          <a:cs typeface="Arial" panose="020B0604020202020204" pitchFamily="34" charset="0"/>
                        </a:rPr>
                        <a:t>4.6</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r>
                        <a:rPr lang="en-US" sz="2400">
                          <a:latin typeface="Arial" panose="020B0604020202020204" pitchFamily="34" charset="0"/>
                          <a:cs typeface="Arial" panose="020B0604020202020204" pitchFamily="34" charset="0"/>
                        </a:rPr>
                        <a:t>OUTLOOK FOR SHORT-TERM MARKET IN INDIA</a:t>
                      </a:r>
                      <a:endParaRPr lang="en-US" sz="2400" b="1" kern="0">
                        <a:solidFill>
                          <a:schemeClr val="lt1"/>
                        </a:solidFill>
                        <a:latin typeface="Arial" panose="020B0604020202020204" pitchFamily="34" charset="0"/>
                        <a:ea typeface="+mn-ea"/>
                        <a:cs typeface="Arial" panose="020B0604020202020204" pitchFamily="34" charset="0"/>
                      </a:endParaRP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1589848611"/>
      </p:ext>
    </p:extLst>
  </p:cSld>
  <p:clrMapOvr>
    <a:masterClrMapping/>
  </p:clrMapOvr>
  <p:transition>
    <p:fade/>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4136688512"/>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defTabSz="914400">
              <a:spcBef>
                <a:spcPts val="488"/>
              </a:spcBef>
              <a:buSzPct val="100000"/>
            </a:pPr>
            <a:r>
              <a:rPr lang="en-US" sz="2000" b="1">
                <a:latin typeface="Arial" panose="020B0604020202020204" pitchFamily="34" charset="0"/>
                <a:cs typeface="Arial" panose="020B0604020202020204" pitchFamily="34" charset="0"/>
              </a:rPr>
              <a:t>Indian electricity market | Outlook on short-term power market</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Short-term market volumes are expected to grow at a CAGR of 12-14% CAGR over 6 years</a:t>
            </a:r>
          </a:p>
        </p:txBody>
      </p:sp>
      <p:cxnSp>
        <p:nvCxnSpPr>
          <p:cNvPr id="8" name="Straight Connector 7">
            <a:extLst>
              <a:ext uri="{FF2B5EF4-FFF2-40B4-BE49-F238E27FC236}">
                <a16:creationId xmlns:a16="http://schemas.microsoft.com/office/drawing/2014/main" id="{081EBD2A-579A-0E4C-E34D-64B3F0D7E2CD}"/>
              </a:ext>
            </a:extLst>
          </p:cNvPr>
          <p:cNvCxnSpPr>
            <a:cxnSpLocks/>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effectLst/>
                <a:uLnTx/>
                <a:uFillTx/>
                <a:latin typeface="Arial" panose="020B0604020202020204" pitchFamily="34" charset="0"/>
                <a:cs typeface="Arial" panose="020B0604020202020204" pitchFamily="34" charset="0"/>
              </a:rPr>
              <a:t>Sources: </a:t>
            </a:r>
            <a:r>
              <a:rPr lang="en-US" sz="1050">
                <a:latin typeface="Arial" panose="020B0604020202020204" pitchFamily="34" charset="0"/>
                <a:cs typeface="Arial" panose="020B0604020202020204" pitchFamily="34" charset="0"/>
              </a:rPr>
              <a:t>CERC, </a:t>
            </a:r>
            <a:r>
              <a:rPr lang="en-US" sz="1050" err="1">
                <a:latin typeface="Arial" panose="020B0604020202020204" pitchFamily="34" charset="0"/>
                <a:cs typeface="Arial" panose="020B0604020202020204" pitchFamily="34" charset="0"/>
              </a:rPr>
              <a:t>MoP</a:t>
            </a:r>
            <a:r>
              <a:rPr lang="en-US" sz="1050">
                <a:latin typeface="Arial" panose="020B0604020202020204" pitchFamily="34" charset="0"/>
                <a:cs typeface="Arial" panose="020B0604020202020204" pitchFamily="34" charset="0"/>
              </a:rPr>
              <a:t>, Power Exchanges, Deloitte Analysis</a:t>
            </a:r>
            <a:endParaRPr kumimoji="0" lang="en-IN" sz="1050" b="0" u="none" strike="noStrike" kern="1200" cap="none" spc="0" normalizeH="0" baseline="0" noProof="0">
              <a:ln>
                <a:noFill/>
              </a:ln>
              <a:effectLst/>
              <a:uLnTx/>
              <a:uFillTx/>
              <a:latin typeface="Arial" panose="020B0604020202020204" pitchFamily="34" charset="0"/>
              <a:cs typeface="Arial" panose="020B0604020202020204" pitchFamily="34" charset="0"/>
            </a:endParaRPr>
          </a:p>
        </p:txBody>
      </p:sp>
      <p:sp>
        <p:nvSpPr>
          <p:cNvPr id="19" name="TextBox 18">
            <a:extLst>
              <a:ext uri="{FF2B5EF4-FFF2-40B4-BE49-F238E27FC236}">
                <a16:creationId xmlns:a16="http://schemas.microsoft.com/office/drawing/2014/main" id="{9C53B65B-97A0-F3B0-B456-F8C2ABDB99CB}"/>
              </a:ext>
            </a:extLst>
          </p:cNvPr>
          <p:cNvSpPr txBox="1"/>
          <p:nvPr/>
        </p:nvSpPr>
        <p:spPr>
          <a:xfrm>
            <a:off x="523488" y="6278357"/>
            <a:ext cx="11221270" cy="123111"/>
          </a:xfrm>
          <a:prstGeom prst="rect">
            <a:avLst/>
          </a:prstGeom>
          <a:noFill/>
        </p:spPr>
        <p:txBody>
          <a:bodyPr wrap="square" lIns="0" tIns="0" rIns="0" bIns="0" rtlCol="0">
            <a:spAutoFit/>
          </a:bodyPr>
          <a:lstStyle/>
          <a:p>
            <a:pPr>
              <a:buSzPct val="100000"/>
            </a:pPr>
            <a:endParaRPr lang="en-US" sz="800">
              <a:solidFill>
                <a:srgbClr val="313131"/>
              </a:solidFill>
              <a:latin typeface="Arial" panose="020B0604020202020204" pitchFamily="34" charset="0"/>
              <a:cs typeface="Arial" panose="020B0604020202020204" pitchFamily="34" charset="0"/>
            </a:endParaRPr>
          </a:p>
        </p:txBody>
      </p:sp>
      <p:sp>
        <p:nvSpPr>
          <p:cNvPr id="78" name="TextBox 77">
            <a:extLst>
              <a:ext uri="{FF2B5EF4-FFF2-40B4-BE49-F238E27FC236}">
                <a16:creationId xmlns:a16="http://schemas.microsoft.com/office/drawing/2014/main" id="{61C29460-E42B-AA84-7791-15E69B9E8D4B}"/>
              </a:ext>
            </a:extLst>
          </p:cNvPr>
          <p:cNvSpPr txBox="1"/>
          <p:nvPr/>
        </p:nvSpPr>
        <p:spPr>
          <a:xfrm>
            <a:off x="499894" y="1072024"/>
            <a:ext cx="11269248" cy="492443"/>
          </a:xfrm>
          <a:prstGeom prst="rect">
            <a:avLst/>
          </a:prstGeom>
          <a:noFill/>
        </p:spPr>
        <p:txBody>
          <a:bodyPr wrap="square">
            <a:spAutoFit/>
          </a:bodyPr>
          <a:lstStyle>
            <a:defPPr>
              <a:defRPr lang="en-US"/>
            </a:defPPr>
            <a:lvl1pPr marR="0" lvl="0" indent="0" algn="just"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lgn="l">
              <a:spcBef>
                <a:spcPts val="488"/>
              </a:spcBef>
              <a:buSzPct val="100000"/>
            </a:pPr>
            <a:r>
              <a:rPr lang="en-US" sz="1300" b="0"/>
              <a:t>The growth is driven by </a:t>
            </a:r>
            <a:r>
              <a:rPr lang="en-US" sz="1300"/>
              <a:t>procurement by Discoms, deepening of the exchange market, excess RE generation, increase in FDRE projects and C&amp;I procurement</a:t>
            </a:r>
          </a:p>
        </p:txBody>
      </p:sp>
      <p:sp>
        <p:nvSpPr>
          <p:cNvPr id="17" name="Oval 40">
            <a:extLst>
              <a:ext uri="{FF2B5EF4-FFF2-40B4-BE49-F238E27FC236}">
                <a16:creationId xmlns:a16="http://schemas.microsoft.com/office/drawing/2014/main" id="{0D11BA24-1A7E-7BDC-788B-EB7C05204A50}"/>
              </a:ext>
            </a:extLst>
          </p:cNvPr>
          <p:cNvSpPr>
            <a:spLocks noChangeArrowheads="1"/>
          </p:cNvSpPr>
          <p:nvPr/>
        </p:nvSpPr>
        <p:spPr bwMode="auto">
          <a:xfrm>
            <a:off x="809619" y="4809031"/>
            <a:ext cx="1304550" cy="1302959"/>
          </a:xfrm>
          <a:prstGeom prst="ellipse">
            <a:avLst/>
          </a:prstGeom>
          <a:solidFill>
            <a:srgbClr val="EFEFEF"/>
          </a:solidFill>
          <a:ln w="9525">
            <a:solidFill>
              <a:schemeClr val="bg1"/>
            </a:solidFill>
            <a:round/>
            <a:headEnd/>
            <a:tailEnd/>
          </a:ln>
          <a:effectLst>
            <a:outerShdw blurRad="63500" sx="102000" sy="102000" algn="ctr" rotWithShape="0">
              <a:prstClr val="black">
                <a:alpha val="40000"/>
              </a:prstClr>
            </a:outerShdw>
          </a:effectLst>
        </p:spPr>
        <p:txBody>
          <a:bodyPr vert="horz" wrap="square" lIns="74295" tIns="37148" rIns="74295" bIns="37148" numCol="1" anchor="ctr" anchorCtr="0" compatLnSpc="1">
            <a:prstTxWarp prst="textNoShape">
              <a:avLst/>
            </a:prstTxWarp>
          </a:bodyPr>
          <a:lstStyle/>
          <a:p>
            <a:pPr algn="ctr"/>
            <a:r>
              <a:rPr lang="en-US" sz="1463" b="1">
                <a:latin typeface="Calibri" panose="020F0502020204030204" pitchFamily="34" charset="0"/>
                <a:cs typeface="Calibri" panose="020F0502020204030204" pitchFamily="34" charset="0"/>
              </a:rPr>
              <a:t>Key growth drivers</a:t>
            </a:r>
          </a:p>
        </p:txBody>
      </p:sp>
      <p:graphicFrame>
        <p:nvGraphicFramePr>
          <p:cNvPr id="18" name="Chart 17">
            <a:extLst>
              <a:ext uri="{FF2B5EF4-FFF2-40B4-BE49-F238E27FC236}">
                <a16:creationId xmlns:a16="http://schemas.microsoft.com/office/drawing/2014/main" id="{D90C49ED-FDF3-A6E6-15D8-C79060718861}"/>
              </a:ext>
            </a:extLst>
          </p:cNvPr>
          <p:cNvGraphicFramePr/>
          <p:nvPr>
            <p:extLst>
              <p:ext uri="{D42A27DB-BD31-4B8C-83A1-F6EECF244321}">
                <p14:modId xmlns:p14="http://schemas.microsoft.com/office/powerpoint/2010/main" val="3642393950"/>
              </p:ext>
            </p:extLst>
          </p:nvPr>
        </p:nvGraphicFramePr>
        <p:xfrm>
          <a:off x="407592" y="2170584"/>
          <a:ext cx="4454604" cy="219375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0" name="Chart 19">
            <a:extLst>
              <a:ext uri="{FF2B5EF4-FFF2-40B4-BE49-F238E27FC236}">
                <a16:creationId xmlns:a16="http://schemas.microsoft.com/office/drawing/2014/main" id="{4A8296DA-D0DC-583E-EB48-7475883B9B3A}"/>
              </a:ext>
            </a:extLst>
          </p:cNvPr>
          <p:cNvGraphicFramePr/>
          <p:nvPr>
            <p:extLst>
              <p:ext uri="{D42A27DB-BD31-4B8C-83A1-F6EECF244321}">
                <p14:modId xmlns:p14="http://schemas.microsoft.com/office/powerpoint/2010/main" val="1335021539"/>
              </p:ext>
            </p:extLst>
          </p:nvPr>
        </p:nvGraphicFramePr>
        <p:xfrm>
          <a:off x="6208274" y="2116298"/>
          <a:ext cx="5502169" cy="2193750"/>
        </p:xfrm>
        <a:graphic>
          <a:graphicData uri="http://schemas.openxmlformats.org/drawingml/2006/chart">
            <c:chart xmlns:c="http://schemas.openxmlformats.org/drawingml/2006/chart" xmlns:r="http://schemas.openxmlformats.org/officeDocument/2006/relationships" r:id="rId7"/>
          </a:graphicData>
        </a:graphic>
      </p:graphicFrame>
      <p:sp>
        <p:nvSpPr>
          <p:cNvPr id="21" name="TextBox 20">
            <a:extLst>
              <a:ext uri="{FF2B5EF4-FFF2-40B4-BE49-F238E27FC236}">
                <a16:creationId xmlns:a16="http://schemas.microsoft.com/office/drawing/2014/main" id="{AC820335-B68B-B12D-36C2-B71919050ECD}"/>
              </a:ext>
            </a:extLst>
          </p:cNvPr>
          <p:cNvSpPr txBox="1"/>
          <p:nvPr/>
        </p:nvSpPr>
        <p:spPr>
          <a:xfrm>
            <a:off x="499894" y="1680014"/>
            <a:ext cx="4387499" cy="461665"/>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300" b="0"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sz="1200" b="1"/>
              <a:t>India’s power demand is expected to register 6-7% CAGR growth over FY24 to FY30</a:t>
            </a:r>
          </a:p>
        </p:txBody>
      </p:sp>
      <p:sp>
        <p:nvSpPr>
          <p:cNvPr id="22" name="TextBox 21">
            <a:extLst>
              <a:ext uri="{FF2B5EF4-FFF2-40B4-BE49-F238E27FC236}">
                <a16:creationId xmlns:a16="http://schemas.microsoft.com/office/drawing/2014/main" id="{04607E17-D7AB-434C-7530-4185EF2FDA2E}"/>
              </a:ext>
            </a:extLst>
          </p:cNvPr>
          <p:cNvSpPr txBox="1"/>
          <p:nvPr/>
        </p:nvSpPr>
        <p:spPr>
          <a:xfrm>
            <a:off x="6219343" y="1680014"/>
            <a:ext cx="4387499" cy="461665"/>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300" b="0"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sz="1200" b="1"/>
              <a:t>Share of short-term transactions in overall demand is likely to rise to 15%-20% by FY30</a:t>
            </a:r>
          </a:p>
        </p:txBody>
      </p:sp>
      <p:grpSp>
        <p:nvGrpSpPr>
          <p:cNvPr id="23" name="Group 22">
            <a:extLst>
              <a:ext uri="{FF2B5EF4-FFF2-40B4-BE49-F238E27FC236}">
                <a16:creationId xmlns:a16="http://schemas.microsoft.com/office/drawing/2014/main" id="{D4EC81E0-1AF4-F75A-4FD8-D051C2BBD1FC}"/>
              </a:ext>
            </a:extLst>
          </p:cNvPr>
          <p:cNvGrpSpPr/>
          <p:nvPr/>
        </p:nvGrpSpPr>
        <p:grpSpPr>
          <a:xfrm>
            <a:off x="2400300" y="4514534"/>
            <a:ext cx="9268213" cy="2025970"/>
            <a:chOff x="621966" y="1899827"/>
            <a:chExt cx="10765439" cy="3999779"/>
          </a:xfrm>
        </p:grpSpPr>
        <p:sp>
          <p:nvSpPr>
            <p:cNvPr id="24" name="Rectangle 23">
              <a:extLst>
                <a:ext uri="{FF2B5EF4-FFF2-40B4-BE49-F238E27FC236}">
                  <a16:creationId xmlns:a16="http://schemas.microsoft.com/office/drawing/2014/main" id="{C44711CE-5A58-257A-54B9-38BC726B80BB}"/>
                </a:ext>
              </a:extLst>
            </p:cNvPr>
            <p:cNvSpPr/>
            <p:nvPr/>
          </p:nvSpPr>
          <p:spPr>
            <a:xfrm>
              <a:off x="621966" y="2024921"/>
              <a:ext cx="1317942" cy="693420"/>
            </a:xfrm>
            <a:prstGeom prst="rect">
              <a:avLst/>
            </a:prstGeom>
            <a:solidFill>
              <a:srgbClr val="002060"/>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r>
                <a:rPr lang="en-US" sz="1138" b="1">
                  <a:solidFill>
                    <a:schemeClr val="bg1"/>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1</a:t>
              </a:r>
            </a:p>
          </p:txBody>
        </p:sp>
        <p:sp>
          <p:nvSpPr>
            <p:cNvPr id="25" name="Rectangle 24">
              <a:extLst>
                <a:ext uri="{FF2B5EF4-FFF2-40B4-BE49-F238E27FC236}">
                  <a16:creationId xmlns:a16="http://schemas.microsoft.com/office/drawing/2014/main" id="{A3361285-4D55-3A34-D7B2-4437E4C1C1FE}"/>
                </a:ext>
              </a:extLst>
            </p:cNvPr>
            <p:cNvSpPr/>
            <p:nvPr/>
          </p:nvSpPr>
          <p:spPr>
            <a:xfrm>
              <a:off x="621966" y="2939321"/>
              <a:ext cx="1317942" cy="693420"/>
            </a:xfrm>
            <a:prstGeom prst="rect">
              <a:avLst/>
            </a:prstGeom>
            <a:solidFill>
              <a:srgbClr val="1A84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r>
                <a:rPr lang="en-US" sz="1138" b="1">
                  <a:solidFill>
                    <a:schemeClr val="bg1"/>
                  </a:solidFill>
                  <a:latin typeface="Calibri" panose="020F0502020204030204" pitchFamily="34" charset="0"/>
                  <a:cs typeface="Calibri" panose="020F0502020204030204" pitchFamily="34" charset="0"/>
                </a:rPr>
                <a:t>2</a:t>
              </a:r>
            </a:p>
          </p:txBody>
        </p:sp>
        <p:sp>
          <p:nvSpPr>
            <p:cNvPr id="26" name="Rectangle 25">
              <a:extLst>
                <a:ext uri="{FF2B5EF4-FFF2-40B4-BE49-F238E27FC236}">
                  <a16:creationId xmlns:a16="http://schemas.microsoft.com/office/drawing/2014/main" id="{202AF929-2BBF-8819-1CC4-D6E3C928B1EA}"/>
                </a:ext>
              </a:extLst>
            </p:cNvPr>
            <p:cNvSpPr/>
            <p:nvPr/>
          </p:nvSpPr>
          <p:spPr>
            <a:xfrm>
              <a:off x="621966" y="3838481"/>
              <a:ext cx="1317942" cy="693420"/>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r>
                <a:rPr lang="en-US" sz="1138" b="1">
                  <a:solidFill>
                    <a:schemeClr val="bg1"/>
                  </a:solidFill>
                  <a:latin typeface="Calibri" panose="020F0502020204030204" pitchFamily="34" charset="0"/>
                  <a:cs typeface="Calibri" panose="020F0502020204030204" pitchFamily="34" charset="0"/>
                </a:rPr>
                <a:t>3</a:t>
              </a:r>
            </a:p>
          </p:txBody>
        </p:sp>
        <p:sp>
          <p:nvSpPr>
            <p:cNvPr id="27" name="Rectangle 26">
              <a:extLst>
                <a:ext uri="{FF2B5EF4-FFF2-40B4-BE49-F238E27FC236}">
                  <a16:creationId xmlns:a16="http://schemas.microsoft.com/office/drawing/2014/main" id="{E0C47ACB-24E6-6BDA-1FD1-6D596CBC8CA0}"/>
                </a:ext>
              </a:extLst>
            </p:cNvPr>
            <p:cNvSpPr/>
            <p:nvPr/>
          </p:nvSpPr>
          <p:spPr>
            <a:xfrm>
              <a:off x="621966" y="4752881"/>
              <a:ext cx="1173407" cy="640193"/>
            </a:xfrm>
            <a:prstGeom prst="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r>
                <a:rPr lang="en-US" sz="1138" b="1">
                  <a:solidFill>
                    <a:schemeClr val="bg1"/>
                  </a:solidFill>
                  <a:latin typeface="Calibri" panose="020F0502020204030204" pitchFamily="34" charset="0"/>
                  <a:cs typeface="Calibri" panose="020F0502020204030204" pitchFamily="34" charset="0"/>
                </a:rPr>
                <a:t>4</a:t>
              </a:r>
            </a:p>
          </p:txBody>
        </p:sp>
        <p:sp>
          <p:nvSpPr>
            <p:cNvPr id="28" name="Isosceles Triangle 27">
              <a:extLst>
                <a:ext uri="{FF2B5EF4-FFF2-40B4-BE49-F238E27FC236}">
                  <a16:creationId xmlns:a16="http://schemas.microsoft.com/office/drawing/2014/main" id="{46812F7A-BF3F-2547-A404-8AA7CBF46FB0}"/>
                </a:ext>
              </a:extLst>
            </p:cNvPr>
            <p:cNvSpPr/>
            <p:nvPr/>
          </p:nvSpPr>
          <p:spPr>
            <a:xfrm rot="16200000">
              <a:off x="1561609" y="4153599"/>
              <a:ext cx="246381" cy="510222"/>
            </a:xfrm>
            <a:prstGeom prst="triangle">
              <a:avLst/>
            </a:prstGeom>
            <a:solidFill>
              <a:srgbClr val="7FCBD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a:solidFill>
                  <a:schemeClr val="tx2"/>
                </a:solidFill>
                <a:latin typeface="Calibri" panose="020F0502020204030204" pitchFamily="34" charset="0"/>
                <a:cs typeface="Calibri" panose="020F0502020204030204" pitchFamily="34" charset="0"/>
              </a:endParaRPr>
            </a:p>
          </p:txBody>
        </p:sp>
        <p:sp>
          <p:nvSpPr>
            <p:cNvPr id="29" name="Round Same Side Corner Rectangle 132">
              <a:extLst>
                <a:ext uri="{FF2B5EF4-FFF2-40B4-BE49-F238E27FC236}">
                  <a16:creationId xmlns:a16="http://schemas.microsoft.com/office/drawing/2014/main" id="{AC6405CC-E13F-03F8-C3B8-32BC56A808DB}"/>
                </a:ext>
              </a:extLst>
            </p:cNvPr>
            <p:cNvSpPr/>
            <p:nvPr/>
          </p:nvSpPr>
          <p:spPr>
            <a:xfrm rot="5400000">
              <a:off x="6071996" y="-923203"/>
              <a:ext cx="673100" cy="9957719"/>
            </a:xfrm>
            <a:prstGeom prst="round2SameRect">
              <a:avLst>
                <a:gd name="adj1" fmla="val 50000"/>
                <a:gd name="adj2" fmla="val 0"/>
              </a:avLst>
            </a:prstGeom>
            <a:solidFill>
              <a:srgbClr val="BAE37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625">
                <a:latin typeface="Calibri" panose="020F0502020204030204" pitchFamily="34" charset="0"/>
                <a:cs typeface="Calibri" panose="020F0502020204030204" pitchFamily="34" charset="0"/>
              </a:endParaRPr>
            </a:p>
          </p:txBody>
        </p:sp>
        <p:sp>
          <p:nvSpPr>
            <p:cNvPr id="30" name="Isosceles Triangle 29">
              <a:extLst>
                <a:ext uri="{FF2B5EF4-FFF2-40B4-BE49-F238E27FC236}">
                  <a16:creationId xmlns:a16="http://schemas.microsoft.com/office/drawing/2014/main" id="{888BD6B2-4DB4-EA21-E1E2-B36782C0FB91}"/>
                </a:ext>
              </a:extLst>
            </p:cNvPr>
            <p:cNvSpPr/>
            <p:nvPr/>
          </p:nvSpPr>
          <p:spPr>
            <a:xfrm rot="16200000">
              <a:off x="1547322" y="5053713"/>
              <a:ext cx="274956" cy="510222"/>
            </a:xfrm>
            <a:prstGeom prst="triangle">
              <a:avLst/>
            </a:prstGeom>
            <a:solidFill>
              <a:srgbClr val="99CC3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a:solidFill>
                  <a:schemeClr val="tx2"/>
                </a:solidFill>
                <a:latin typeface="Calibri" panose="020F0502020204030204" pitchFamily="34" charset="0"/>
                <a:cs typeface="Calibri" panose="020F0502020204030204" pitchFamily="34" charset="0"/>
              </a:endParaRPr>
            </a:p>
          </p:txBody>
        </p:sp>
        <p:sp>
          <p:nvSpPr>
            <p:cNvPr id="31" name="Round Same Side Corner Rectangle 134">
              <a:extLst>
                <a:ext uri="{FF2B5EF4-FFF2-40B4-BE49-F238E27FC236}">
                  <a16:creationId xmlns:a16="http://schemas.microsoft.com/office/drawing/2014/main" id="{3C0F55ED-F4C6-75A5-A233-4B34D36F3B8D}"/>
                </a:ext>
              </a:extLst>
            </p:cNvPr>
            <p:cNvSpPr/>
            <p:nvPr/>
          </p:nvSpPr>
          <p:spPr>
            <a:xfrm rot="5400000">
              <a:off x="6071995" y="-20871"/>
              <a:ext cx="673101" cy="9957719"/>
            </a:xfrm>
            <a:prstGeom prst="round2SameRect">
              <a:avLst>
                <a:gd name="adj1" fmla="val 50000"/>
                <a:gd name="adj2" fmla="val 0"/>
              </a:avLst>
            </a:prstGeom>
            <a:solidFill>
              <a:schemeClr val="accent4"/>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625">
                <a:latin typeface="Calibri" panose="020F0502020204030204" pitchFamily="34" charset="0"/>
                <a:cs typeface="Calibri" panose="020F0502020204030204" pitchFamily="34" charset="0"/>
              </a:endParaRPr>
            </a:p>
          </p:txBody>
        </p:sp>
        <p:sp>
          <p:nvSpPr>
            <p:cNvPr id="32" name="Isosceles Triangle 31">
              <a:extLst>
                <a:ext uri="{FF2B5EF4-FFF2-40B4-BE49-F238E27FC236}">
                  <a16:creationId xmlns:a16="http://schemas.microsoft.com/office/drawing/2014/main" id="{1DFA3BD4-EC88-D335-F683-B8B4E326CD9E}"/>
                </a:ext>
              </a:extLst>
            </p:cNvPr>
            <p:cNvSpPr/>
            <p:nvPr/>
          </p:nvSpPr>
          <p:spPr>
            <a:xfrm rot="16200000">
              <a:off x="1561610" y="3254439"/>
              <a:ext cx="246381" cy="510222"/>
            </a:xfrm>
            <a:prstGeom prst="triangle">
              <a:avLst/>
            </a:prstGeom>
            <a:solidFill>
              <a:srgbClr val="1A84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a:solidFill>
                  <a:schemeClr val="tx2"/>
                </a:solidFill>
                <a:latin typeface="Calibri" panose="020F0502020204030204" pitchFamily="34" charset="0"/>
                <a:cs typeface="Calibri" panose="020F0502020204030204" pitchFamily="34" charset="0"/>
              </a:endParaRPr>
            </a:p>
          </p:txBody>
        </p:sp>
        <p:sp>
          <p:nvSpPr>
            <p:cNvPr id="33" name="Round Same Side Corner Rectangle 138">
              <a:extLst>
                <a:ext uri="{FF2B5EF4-FFF2-40B4-BE49-F238E27FC236}">
                  <a16:creationId xmlns:a16="http://schemas.microsoft.com/office/drawing/2014/main" id="{27C66F58-76A3-1650-49C4-EB4626CC7904}"/>
                </a:ext>
              </a:extLst>
            </p:cNvPr>
            <p:cNvSpPr/>
            <p:nvPr/>
          </p:nvSpPr>
          <p:spPr>
            <a:xfrm rot="5400000">
              <a:off x="6071996" y="-1825537"/>
              <a:ext cx="673100" cy="9957719"/>
            </a:xfrm>
            <a:prstGeom prst="round2SameRect">
              <a:avLst>
                <a:gd name="adj1" fmla="val 50000"/>
                <a:gd name="adj2" fmla="val 0"/>
              </a:avLst>
            </a:prstGeom>
            <a:solidFill>
              <a:srgbClr val="1A848D"/>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625">
                <a:latin typeface="Calibri" panose="020F0502020204030204" pitchFamily="34" charset="0"/>
                <a:cs typeface="Calibri" panose="020F0502020204030204" pitchFamily="34" charset="0"/>
              </a:endParaRPr>
            </a:p>
          </p:txBody>
        </p:sp>
        <p:sp>
          <p:nvSpPr>
            <p:cNvPr id="34" name="Isosceles Triangle 33">
              <a:extLst>
                <a:ext uri="{FF2B5EF4-FFF2-40B4-BE49-F238E27FC236}">
                  <a16:creationId xmlns:a16="http://schemas.microsoft.com/office/drawing/2014/main" id="{89478A81-F08B-3AC8-EBAA-9AA821B588A9}"/>
                </a:ext>
              </a:extLst>
            </p:cNvPr>
            <p:cNvSpPr/>
            <p:nvPr/>
          </p:nvSpPr>
          <p:spPr>
            <a:xfrm rot="16200000">
              <a:off x="1561611" y="2340039"/>
              <a:ext cx="246381" cy="510222"/>
            </a:xfrm>
            <a:prstGeom prst="triangle">
              <a:avLst/>
            </a:prstGeom>
            <a:solidFill>
              <a:srgbClr val="002060"/>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a:solidFill>
                  <a:schemeClr val="tx2"/>
                </a:solidFill>
                <a:latin typeface="Calibri" panose="020F0502020204030204" pitchFamily="34" charset="0"/>
                <a:cs typeface="Calibri" panose="020F0502020204030204" pitchFamily="34" charset="0"/>
              </a:endParaRPr>
            </a:p>
          </p:txBody>
        </p:sp>
        <p:sp>
          <p:nvSpPr>
            <p:cNvPr id="35" name="Round Same Side Corner Rectangle 140">
              <a:extLst>
                <a:ext uri="{FF2B5EF4-FFF2-40B4-BE49-F238E27FC236}">
                  <a16:creationId xmlns:a16="http://schemas.microsoft.com/office/drawing/2014/main" id="{20A9475C-950B-E8D9-D439-A436228DDF3F}"/>
                </a:ext>
              </a:extLst>
            </p:cNvPr>
            <p:cNvSpPr/>
            <p:nvPr/>
          </p:nvSpPr>
          <p:spPr>
            <a:xfrm rot="5400000">
              <a:off x="6071995" y="-2742482"/>
              <a:ext cx="673101" cy="9957719"/>
            </a:xfrm>
            <a:prstGeom prst="round2SameRect">
              <a:avLst>
                <a:gd name="adj1" fmla="val 50000"/>
                <a:gd name="adj2" fmla="val 0"/>
              </a:avLst>
            </a:prstGeom>
            <a:solidFill>
              <a:srgbClr val="00206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625">
                <a:latin typeface="Calibri" panose="020F0502020204030204" pitchFamily="34" charset="0"/>
                <a:cs typeface="Calibri" panose="020F0502020204030204" pitchFamily="34" charset="0"/>
              </a:endParaRPr>
            </a:p>
          </p:txBody>
        </p:sp>
        <p:sp>
          <p:nvSpPr>
            <p:cNvPr id="36" name="Rectangle 35">
              <a:extLst>
                <a:ext uri="{FF2B5EF4-FFF2-40B4-BE49-F238E27FC236}">
                  <a16:creationId xmlns:a16="http://schemas.microsoft.com/office/drawing/2014/main" id="{DE2DC6D3-B006-9341-BA97-1B6E22523933}"/>
                </a:ext>
              </a:extLst>
            </p:cNvPr>
            <p:cNvSpPr/>
            <p:nvPr/>
          </p:nvSpPr>
          <p:spPr>
            <a:xfrm>
              <a:off x="1599230" y="2093872"/>
              <a:ext cx="9758040" cy="361138"/>
            </a:xfrm>
            <a:prstGeom prst="rect">
              <a:avLst/>
            </a:prstGeom>
          </p:spPr>
          <p:txBody>
            <a:bodyPr wrap="square" lIns="0" tIns="0" rIns="0" bIns="0" anchor="ctr">
              <a:noAutofit/>
            </a:bodyPr>
            <a:lstStyle/>
            <a:p>
              <a:r>
                <a:rPr lang="en-US" sz="894" b="1">
                  <a:solidFill>
                    <a:schemeClr val="bg1"/>
                  </a:solidFill>
                  <a:latin typeface="Calibri" panose="020F0502020204030204" pitchFamily="34" charset="0"/>
                  <a:cs typeface="Calibri" panose="020F0502020204030204" pitchFamily="34" charset="0"/>
                </a:rPr>
                <a:t>Increase in short-term procurement by Discoms</a:t>
              </a:r>
            </a:p>
          </p:txBody>
        </p:sp>
        <p:sp>
          <p:nvSpPr>
            <p:cNvPr id="37" name="Rectangle 36">
              <a:extLst>
                <a:ext uri="{FF2B5EF4-FFF2-40B4-BE49-F238E27FC236}">
                  <a16:creationId xmlns:a16="http://schemas.microsoft.com/office/drawing/2014/main" id="{B3B1D4FB-5C72-CCDD-DDFA-4F2341AAB5FC}"/>
                </a:ext>
              </a:extLst>
            </p:cNvPr>
            <p:cNvSpPr/>
            <p:nvPr/>
          </p:nvSpPr>
          <p:spPr>
            <a:xfrm>
              <a:off x="1599232" y="2944952"/>
              <a:ext cx="9756292" cy="441745"/>
            </a:xfrm>
            <a:prstGeom prst="rect">
              <a:avLst/>
            </a:prstGeom>
          </p:spPr>
          <p:txBody>
            <a:bodyPr wrap="square" lIns="0" tIns="0" rIns="0" bIns="0" anchor="ctr">
              <a:noAutofit/>
            </a:bodyPr>
            <a:lstStyle/>
            <a:p>
              <a:r>
                <a:rPr lang="en-US" sz="894" b="1">
                  <a:solidFill>
                    <a:schemeClr val="bg1"/>
                  </a:solidFill>
                  <a:latin typeface="Calibri" panose="020F0502020204030204" pitchFamily="34" charset="0"/>
                  <a:cs typeface="Calibri" panose="020F0502020204030204" pitchFamily="34" charset="0"/>
                </a:rPr>
                <a:t>Rise in exchange-based transactions with deepening of the spot markets</a:t>
              </a:r>
            </a:p>
          </p:txBody>
        </p:sp>
        <p:sp>
          <p:nvSpPr>
            <p:cNvPr id="38" name="Rectangle 37">
              <a:extLst>
                <a:ext uri="{FF2B5EF4-FFF2-40B4-BE49-F238E27FC236}">
                  <a16:creationId xmlns:a16="http://schemas.microsoft.com/office/drawing/2014/main" id="{5F1EE1DD-5873-5F54-FDA1-B4AED359934F}"/>
                </a:ext>
              </a:extLst>
            </p:cNvPr>
            <p:cNvSpPr/>
            <p:nvPr/>
          </p:nvSpPr>
          <p:spPr>
            <a:xfrm>
              <a:off x="1599232" y="3892227"/>
              <a:ext cx="9756292" cy="371160"/>
            </a:xfrm>
            <a:prstGeom prst="rect">
              <a:avLst/>
            </a:prstGeom>
          </p:spPr>
          <p:txBody>
            <a:bodyPr wrap="square" lIns="0" tIns="0" rIns="0" bIns="0">
              <a:noAutofit/>
            </a:bodyPr>
            <a:lstStyle/>
            <a:p>
              <a:r>
                <a:rPr lang="en-US" sz="894" b="1">
                  <a:latin typeface="Calibri" panose="020F0502020204030204" pitchFamily="34" charset="0"/>
                  <a:cs typeface="Calibri" panose="020F0502020204030204" pitchFamily="34" charset="0"/>
                </a:rPr>
                <a:t>Excess RE generation with increase in tendering of RTC, hybrid, FDRE tenders</a:t>
              </a:r>
            </a:p>
          </p:txBody>
        </p:sp>
        <p:sp>
          <p:nvSpPr>
            <p:cNvPr id="39" name="Rectangle 38">
              <a:extLst>
                <a:ext uri="{FF2B5EF4-FFF2-40B4-BE49-F238E27FC236}">
                  <a16:creationId xmlns:a16="http://schemas.microsoft.com/office/drawing/2014/main" id="{A725C7A8-DF97-BDC9-5AED-B4BE3ACDD369}"/>
                </a:ext>
              </a:extLst>
            </p:cNvPr>
            <p:cNvSpPr/>
            <p:nvPr/>
          </p:nvSpPr>
          <p:spPr>
            <a:xfrm>
              <a:off x="1599232" y="4817031"/>
              <a:ext cx="9756292" cy="354654"/>
            </a:xfrm>
            <a:prstGeom prst="rect">
              <a:avLst/>
            </a:prstGeom>
          </p:spPr>
          <p:txBody>
            <a:bodyPr wrap="square" lIns="0" tIns="0" rIns="0" bIns="0">
              <a:noAutofit/>
            </a:bodyPr>
            <a:lstStyle/>
            <a:p>
              <a:r>
                <a:rPr lang="en-US" sz="894" b="1">
                  <a:solidFill>
                    <a:schemeClr val="bg1"/>
                  </a:solidFill>
                  <a:latin typeface="Calibri" panose="020F0502020204030204" pitchFamily="34" charset="0"/>
                  <a:cs typeface="Calibri" panose="020F0502020204030204" pitchFamily="34" charset="0"/>
                </a:rPr>
                <a:t>Increase in C&amp;I consumption driven by sustainability targets and innovative products like VPPAs</a:t>
              </a:r>
            </a:p>
          </p:txBody>
        </p:sp>
        <p:sp>
          <p:nvSpPr>
            <p:cNvPr id="40" name="Rectangle 39">
              <a:extLst>
                <a:ext uri="{FF2B5EF4-FFF2-40B4-BE49-F238E27FC236}">
                  <a16:creationId xmlns:a16="http://schemas.microsoft.com/office/drawing/2014/main" id="{A22CB4B7-A1F8-0982-B3B1-3AFAEFF8D8E7}"/>
                </a:ext>
              </a:extLst>
            </p:cNvPr>
            <p:cNvSpPr/>
            <p:nvPr/>
          </p:nvSpPr>
          <p:spPr>
            <a:xfrm>
              <a:off x="1599232" y="5559104"/>
              <a:ext cx="9041939" cy="340502"/>
            </a:xfrm>
            <a:prstGeom prst="rect">
              <a:avLst/>
            </a:prstGeom>
          </p:spPr>
          <p:txBody>
            <a:bodyPr wrap="square" lIns="0" tIns="0" rIns="0" bIns="0">
              <a:spAutoFit/>
            </a:bodyPr>
            <a:lstStyle/>
            <a:p>
              <a:endParaRPr lang="en-US" sz="813" b="1">
                <a:solidFill>
                  <a:schemeClr val="bg1"/>
                </a:solidFill>
                <a:latin typeface="Calibri" panose="020F0502020204030204" pitchFamily="34" charset="0"/>
                <a:cs typeface="Calibri" panose="020F0502020204030204" pitchFamily="34" charset="0"/>
              </a:endParaRPr>
            </a:p>
          </p:txBody>
        </p:sp>
      </p:grpSp>
      <p:sp>
        <p:nvSpPr>
          <p:cNvPr id="41" name="Rectangle 40">
            <a:extLst>
              <a:ext uri="{FF2B5EF4-FFF2-40B4-BE49-F238E27FC236}">
                <a16:creationId xmlns:a16="http://schemas.microsoft.com/office/drawing/2014/main" id="{72DF558E-EA78-92F4-8596-6F2D55F83D0F}"/>
              </a:ext>
            </a:extLst>
          </p:cNvPr>
          <p:cNvSpPr/>
          <p:nvPr/>
        </p:nvSpPr>
        <p:spPr bwMode="gray">
          <a:xfrm>
            <a:off x="523488" y="4514533"/>
            <a:ext cx="11151738" cy="1886935"/>
          </a:xfrm>
          <a:prstGeom prst="rect">
            <a:avLst/>
          </a:prstGeom>
          <a:noFill/>
          <a:ln w="6350" algn="ctr">
            <a:solidFill>
              <a:schemeClr val="bg2"/>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560148709"/>
      </p:ext>
    </p:extLst>
  </p:cSld>
  <p:clrMapOvr>
    <a:masterClrMapping/>
  </p:clrMapOvr>
  <p:transition>
    <p:fade/>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659967502"/>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defTabSz="914400">
              <a:spcBef>
                <a:spcPts val="488"/>
              </a:spcBef>
              <a:buSzPct val="100000"/>
            </a:pPr>
            <a:r>
              <a:rPr lang="en-US" sz="2000" b="1">
                <a:latin typeface="Arial" panose="020B0604020202020204" pitchFamily="34" charset="0"/>
                <a:cs typeface="Arial" panose="020B0604020202020204" pitchFamily="34" charset="0"/>
              </a:rPr>
              <a:t>Indian electricity market | Rise in exchange-based transactions</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t>New exchange segments (RTM, GDAM, GTAM etc.), new exchange (HPX), and electricity derivatives will boost short-term market volumes</a:t>
            </a:r>
          </a:p>
        </p:txBody>
      </p:sp>
      <p:cxnSp>
        <p:nvCxnSpPr>
          <p:cNvPr id="8" name="Straight Connector 7">
            <a:extLst>
              <a:ext uri="{FF2B5EF4-FFF2-40B4-BE49-F238E27FC236}">
                <a16:creationId xmlns:a16="http://schemas.microsoft.com/office/drawing/2014/main" id="{081EBD2A-579A-0E4C-E34D-64B3F0D7E2CD}"/>
              </a:ext>
            </a:extLst>
          </p:cNvPr>
          <p:cNvCxnSpPr>
            <a:cxnSpLocks/>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effectLst/>
                <a:uLnTx/>
                <a:uFillTx/>
                <a:latin typeface="Arial" panose="020B0604020202020204" pitchFamily="34" charset="0"/>
                <a:cs typeface="Arial" panose="020B0604020202020204" pitchFamily="34" charset="0"/>
              </a:rPr>
              <a:t>Sources: </a:t>
            </a:r>
            <a:r>
              <a:rPr lang="en-US" sz="1050">
                <a:latin typeface="Arial" panose="020B0604020202020204" pitchFamily="34" charset="0"/>
                <a:cs typeface="Arial" panose="020B0604020202020204" pitchFamily="34" charset="0"/>
              </a:rPr>
              <a:t>CERC, </a:t>
            </a:r>
            <a:r>
              <a:rPr lang="en-US" sz="1050" err="1">
                <a:latin typeface="Arial" panose="020B0604020202020204" pitchFamily="34" charset="0"/>
                <a:cs typeface="Arial" panose="020B0604020202020204" pitchFamily="34" charset="0"/>
              </a:rPr>
              <a:t>MoP</a:t>
            </a:r>
            <a:r>
              <a:rPr lang="en-US" sz="1050">
                <a:latin typeface="Arial" panose="020B0604020202020204" pitchFamily="34" charset="0"/>
                <a:cs typeface="Arial" panose="020B0604020202020204" pitchFamily="34" charset="0"/>
              </a:rPr>
              <a:t>, Power Exchanges, Deloitte Analysis</a:t>
            </a:r>
            <a:endParaRPr kumimoji="0" lang="en-IN" sz="1050" b="0" u="none" strike="noStrike" kern="1200" cap="none" spc="0" normalizeH="0" baseline="0" noProof="0">
              <a:ln>
                <a:noFill/>
              </a:ln>
              <a:effectLst/>
              <a:uLnTx/>
              <a:uFillTx/>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8E63AF83-23D6-C76E-2C63-8A517D9F1682}"/>
              </a:ext>
            </a:extLst>
          </p:cNvPr>
          <p:cNvSpPr txBox="1"/>
          <p:nvPr/>
        </p:nvSpPr>
        <p:spPr>
          <a:xfrm>
            <a:off x="504179" y="1072024"/>
            <a:ext cx="4387499" cy="461665"/>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Calibri" panose="020F0502020204030204" pitchFamily="34" charset="0"/>
                <a:cs typeface="Calibri" panose="020F050202020403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latin typeface="Arial" panose="020B0604020202020204" pitchFamily="34" charset="0"/>
                <a:cs typeface="Arial" panose="020B0604020202020204" pitchFamily="34" charset="0"/>
              </a:rPr>
              <a:t>Exchange based transactions have clocked ~14% CAGR over FY18 to FY24 driven by launch of new products</a:t>
            </a:r>
          </a:p>
        </p:txBody>
      </p:sp>
      <p:graphicFrame>
        <p:nvGraphicFramePr>
          <p:cNvPr id="5" name="Chart 4">
            <a:extLst>
              <a:ext uri="{FF2B5EF4-FFF2-40B4-BE49-F238E27FC236}">
                <a16:creationId xmlns:a16="http://schemas.microsoft.com/office/drawing/2014/main" id="{C8F2A2EB-12F9-F0FA-48DC-21D6E17D4E51}"/>
              </a:ext>
            </a:extLst>
          </p:cNvPr>
          <p:cNvGraphicFramePr/>
          <p:nvPr>
            <p:extLst>
              <p:ext uri="{D42A27DB-BD31-4B8C-83A1-F6EECF244321}">
                <p14:modId xmlns:p14="http://schemas.microsoft.com/office/powerpoint/2010/main" val="3806325060"/>
              </p:ext>
            </p:extLst>
          </p:nvPr>
        </p:nvGraphicFramePr>
        <p:xfrm>
          <a:off x="508177" y="1683624"/>
          <a:ext cx="5473521" cy="1878980"/>
        </p:xfrm>
        <a:graphic>
          <a:graphicData uri="http://schemas.openxmlformats.org/drawingml/2006/chart">
            <c:chart xmlns:c="http://schemas.openxmlformats.org/drawingml/2006/chart" xmlns:r="http://schemas.openxmlformats.org/officeDocument/2006/relationships" r:id="rId6"/>
          </a:graphicData>
        </a:graphic>
      </p:graphicFrame>
      <p:sp>
        <p:nvSpPr>
          <p:cNvPr id="7" name="Rectangle 6">
            <a:extLst>
              <a:ext uri="{FF2B5EF4-FFF2-40B4-BE49-F238E27FC236}">
                <a16:creationId xmlns:a16="http://schemas.microsoft.com/office/drawing/2014/main" id="{A90C017A-FC26-61BF-9D83-20A08E6B5747}"/>
              </a:ext>
            </a:extLst>
          </p:cNvPr>
          <p:cNvSpPr/>
          <p:nvPr/>
        </p:nvSpPr>
        <p:spPr bwMode="gray">
          <a:xfrm>
            <a:off x="6221255" y="4670914"/>
            <a:ext cx="5476065" cy="1729885"/>
          </a:xfrm>
          <a:prstGeom prst="rect">
            <a:avLst/>
          </a:prstGeom>
          <a:noFill/>
          <a:ln w="6350" algn="ctr">
            <a:solidFill>
              <a:schemeClr val="bg2"/>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latin typeface="Calibri" panose="020F0502020204030204" pitchFamily="34" charset="0"/>
              <a:cs typeface="Calibri" panose="020F0502020204030204" pitchFamily="34" charset="0"/>
            </a:endParaRPr>
          </a:p>
        </p:txBody>
      </p:sp>
      <p:sp>
        <p:nvSpPr>
          <p:cNvPr id="9" name="Rectangle 8">
            <a:extLst>
              <a:ext uri="{FF2B5EF4-FFF2-40B4-BE49-F238E27FC236}">
                <a16:creationId xmlns:a16="http://schemas.microsoft.com/office/drawing/2014/main" id="{29F4E0B5-CF48-B3E1-6B86-8D4566B0736F}"/>
              </a:ext>
            </a:extLst>
          </p:cNvPr>
          <p:cNvSpPr/>
          <p:nvPr/>
        </p:nvSpPr>
        <p:spPr bwMode="gray">
          <a:xfrm>
            <a:off x="6210300" y="1170391"/>
            <a:ext cx="5487021" cy="3299851"/>
          </a:xfrm>
          <a:prstGeom prst="rect">
            <a:avLst/>
          </a:prstGeom>
          <a:noFill/>
          <a:ln w="6350" algn="ctr">
            <a:solidFill>
              <a:schemeClr val="bg2"/>
            </a:solidFill>
            <a:miter lim="800000"/>
            <a:headEnd/>
            <a:tailEnd/>
          </a:ln>
        </p:spPr>
        <p:txBody>
          <a:bodyPr wrap="square" lIns="72231" tIns="72231" rIns="72231" bIns="72231" rtlCol="0" anchor="ctr"/>
          <a:lstStyle/>
          <a:p>
            <a:pPr marL="232172" indent="-232172">
              <a:lnSpc>
                <a:spcPct val="106000"/>
              </a:lnSpc>
              <a:buFont typeface="Arial" panose="020B0604020202020204" pitchFamily="34" charset="0"/>
              <a:buChar char="•"/>
            </a:pPr>
            <a:r>
              <a:rPr lang="en-US" sz="1000">
                <a:latin typeface="Arial" panose="020B0604020202020204" pitchFamily="34" charset="0"/>
                <a:cs typeface="Arial" panose="020B0604020202020204" pitchFamily="34" charset="0"/>
              </a:rPr>
              <a:t>Along with traditional day ahead market (DAM) and term ahead market (TAM) products, exchanges have launched new products</a:t>
            </a:r>
          </a:p>
          <a:p>
            <a:pPr>
              <a:lnSpc>
                <a:spcPct val="106000"/>
              </a:lnSpc>
            </a:pPr>
            <a:endParaRPr lang="en-US" sz="1000">
              <a:latin typeface="Arial" panose="020B0604020202020204" pitchFamily="34" charset="0"/>
              <a:cs typeface="Arial" panose="020B0604020202020204" pitchFamily="34" charset="0"/>
            </a:endParaRPr>
          </a:p>
          <a:p>
            <a:pPr marL="603647" lvl="1" indent="-232172">
              <a:lnSpc>
                <a:spcPct val="150000"/>
              </a:lnSpc>
              <a:buFont typeface="Arial" panose="020B0604020202020204" pitchFamily="34" charset="0"/>
              <a:buChar char="•"/>
            </a:pPr>
            <a:r>
              <a:rPr lang="en-US" sz="1000" b="1">
                <a:latin typeface="Arial" panose="020B0604020202020204" pitchFamily="34" charset="0"/>
                <a:cs typeface="Arial" panose="020B0604020202020204" pitchFamily="34" charset="0"/>
              </a:rPr>
              <a:t>Real time market (RTM): </a:t>
            </a:r>
            <a:r>
              <a:rPr lang="en-US" sz="1000">
                <a:latin typeface="Arial" panose="020B0604020202020204" pitchFamily="34" charset="0"/>
                <a:cs typeface="Arial" panose="020B0604020202020204" pitchFamily="34" charset="0"/>
              </a:rPr>
              <a:t>half-hourly auctions helping discoms and large consumers to manage requirement in real-time, generators to sell excess power in real-time</a:t>
            </a:r>
          </a:p>
          <a:p>
            <a:pPr marL="603647" lvl="1" indent="-232172">
              <a:lnSpc>
                <a:spcPct val="150000"/>
              </a:lnSpc>
              <a:buFont typeface="Arial" panose="020B0604020202020204" pitchFamily="34" charset="0"/>
              <a:buChar char="•"/>
            </a:pPr>
            <a:r>
              <a:rPr lang="en-US" sz="1000" b="1">
                <a:latin typeface="Arial" panose="020B0604020202020204" pitchFamily="34" charset="0"/>
                <a:cs typeface="Arial" panose="020B0604020202020204" pitchFamily="34" charset="0"/>
              </a:rPr>
              <a:t>Green day ahead (GDAM) and Green term ahead (GDAM): </a:t>
            </a:r>
            <a:r>
              <a:rPr lang="en-US" sz="1000">
                <a:latin typeface="Arial" panose="020B0604020202020204" pitchFamily="34" charset="0"/>
                <a:cs typeface="Arial" panose="020B0604020202020204" pitchFamily="34" charset="0"/>
              </a:rPr>
              <a:t>Exclusively for solar and non-solar renewable power enabling discoms and RE generators to sell excess RE power and industries and utilities to buy clean energy to meet RPO</a:t>
            </a:r>
          </a:p>
          <a:p>
            <a:pPr marL="603647" lvl="1" indent="-232172">
              <a:lnSpc>
                <a:spcPct val="150000"/>
              </a:lnSpc>
              <a:buFont typeface="Arial" panose="020B0604020202020204" pitchFamily="34" charset="0"/>
              <a:buChar char="•"/>
            </a:pPr>
            <a:r>
              <a:rPr lang="en-US" sz="1000" b="1">
                <a:latin typeface="Arial" panose="020B0604020202020204" pitchFamily="34" charset="0"/>
                <a:cs typeface="Arial" panose="020B0604020202020204" pitchFamily="34" charset="0"/>
              </a:rPr>
              <a:t>Ancillary services (DAM-AS and RTM-AS):</a:t>
            </a:r>
            <a:r>
              <a:rPr lang="en-US" sz="1000">
                <a:latin typeface="Arial" panose="020B0604020202020204" pitchFamily="34" charset="0"/>
                <a:cs typeface="Arial" panose="020B0604020202020204" pitchFamily="34" charset="0"/>
              </a:rPr>
              <a:t> capacity procurement by National load dispatch center (NLDC)</a:t>
            </a:r>
            <a:r>
              <a:rPr lang="en-US" sz="1000" b="1">
                <a:latin typeface="Arial" panose="020B0604020202020204" pitchFamily="34" charset="0"/>
                <a:cs typeface="Arial" panose="020B0604020202020204" pitchFamily="34" charset="0"/>
              </a:rPr>
              <a:t> </a:t>
            </a:r>
          </a:p>
          <a:p>
            <a:pPr marL="603647" lvl="1" indent="-232172">
              <a:lnSpc>
                <a:spcPct val="150000"/>
              </a:lnSpc>
              <a:buFont typeface="Arial" panose="020B0604020202020204" pitchFamily="34" charset="0"/>
              <a:buChar char="•"/>
            </a:pPr>
            <a:r>
              <a:rPr lang="en-US" sz="1000" b="1">
                <a:latin typeface="Arial" panose="020B0604020202020204" pitchFamily="34" charset="0"/>
                <a:cs typeface="Arial" panose="020B0604020202020204" pitchFamily="34" charset="0"/>
              </a:rPr>
              <a:t>High price DAM and TAM:</a:t>
            </a:r>
            <a:r>
              <a:rPr lang="en-US" sz="1000">
                <a:latin typeface="Arial" panose="020B0604020202020204" pitchFamily="34" charset="0"/>
                <a:cs typeface="Arial" panose="020B0604020202020204" pitchFamily="34" charset="0"/>
              </a:rPr>
              <a:t> Separate market for costly power with cap of INR 20/kWh and floor price of zero</a:t>
            </a:r>
          </a:p>
        </p:txBody>
      </p:sp>
      <p:graphicFrame>
        <p:nvGraphicFramePr>
          <p:cNvPr id="11" name="Chart 10">
            <a:extLst>
              <a:ext uri="{FF2B5EF4-FFF2-40B4-BE49-F238E27FC236}">
                <a16:creationId xmlns:a16="http://schemas.microsoft.com/office/drawing/2014/main" id="{F0AD2226-302B-6310-09CF-C82C152718D5}"/>
              </a:ext>
            </a:extLst>
          </p:cNvPr>
          <p:cNvGraphicFramePr/>
          <p:nvPr>
            <p:extLst>
              <p:ext uri="{D42A27DB-BD31-4B8C-83A1-F6EECF244321}">
                <p14:modId xmlns:p14="http://schemas.microsoft.com/office/powerpoint/2010/main" val="3562179951"/>
              </p:ext>
            </p:extLst>
          </p:nvPr>
        </p:nvGraphicFramePr>
        <p:xfrm>
          <a:off x="494678" y="4310903"/>
          <a:ext cx="5487021" cy="2092127"/>
        </p:xfrm>
        <a:graphic>
          <a:graphicData uri="http://schemas.openxmlformats.org/drawingml/2006/chart">
            <c:chart xmlns:c="http://schemas.openxmlformats.org/drawingml/2006/chart" xmlns:r="http://schemas.openxmlformats.org/officeDocument/2006/relationships" r:id="rId7"/>
          </a:graphicData>
        </a:graphic>
      </p:graphicFrame>
      <p:sp>
        <p:nvSpPr>
          <p:cNvPr id="13" name="TextBox 12">
            <a:extLst>
              <a:ext uri="{FF2B5EF4-FFF2-40B4-BE49-F238E27FC236}">
                <a16:creationId xmlns:a16="http://schemas.microsoft.com/office/drawing/2014/main" id="{DE3170C6-3222-0D99-6CA0-80FB5B1CC1FB}"/>
              </a:ext>
            </a:extLst>
          </p:cNvPr>
          <p:cNvSpPr txBox="1"/>
          <p:nvPr/>
        </p:nvSpPr>
        <p:spPr>
          <a:xfrm>
            <a:off x="515065" y="3705921"/>
            <a:ext cx="4387499" cy="461665"/>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Arial" panose="020B0604020202020204" pitchFamily="34" charset="0"/>
                <a:cs typeface="Arial" panose="020B060402020202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r>
              <a:rPr lang="en-US"/>
              <a:t>Rising number of open access consumers registered on exchanges to drive short term volumes</a:t>
            </a:r>
          </a:p>
        </p:txBody>
      </p:sp>
      <p:pic>
        <p:nvPicPr>
          <p:cNvPr id="14" name="Picture 2" descr="Overseas participants in Indian power exchanges soon - The Sunday Guardian  Live">
            <a:extLst>
              <a:ext uri="{FF2B5EF4-FFF2-40B4-BE49-F238E27FC236}">
                <a16:creationId xmlns:a16="http://schemas.microsoft.com/office/drawing/2014/main" id="{D73E6E86-686D-7221-EBE1-E8E130AF4031}"/>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32025" b="14535"/>
          <a:stretch/>
        </p:blipFill>
        <p:spPr bwMode="auto">
          <a:xfrm>
            <a:off x="6432181" y="4956014"/>
            <a:ext cx="1349038" cy="540000"/>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0A539CAE-8886-CA95-2737-17EFC2C447EF}"/>
              </a:ext>
            </a:extLst>
          </p:cNvPr>
          <p:cNvSpPr txBox="1"/>
          <p:nvPr/>
        </p:nvSpPr>
        <p:spPr>
          <a:xfrm>
            <a:off x="6221255" y="5786730"/>
            <a:ext cx="1665445" cy="507831"/>
          </a:xfrm>
          <a:prstGeom prst="rect">
            <a:avLst/>
          </a:prstGeom>
          <a:noFill/>
        </p:spPr>
        <p:txBody>
          <a:bodyPr wrap="square">
            <a:spAutoFit/>
          </a:bodyPr>
          <a:lstStyle/>
          <a:p>
            <a:pPr algn="ctr"/>
            <a:r>
              <a:rPr lang="en-US" sz="900">
                <a:latin typeface="Arial" panose="020B0604020202020204" pitchFamily="34" charset="0"/>
                <a:cs typeface="Arial" panose="020B0604020202020204" pitchFamily="34" charset="0"/>
              </a:rPr>
              <a:t>Started in 2008, largest exchange in India, ~85% market share (in FY24)</a:t>
            </a:r>
          </a:p>
        </p:txBody>
      </p:sp>
      <p:pic>
        <p:nvPicPr>
          <p:cNvPr id="16" name="Picture 4" descr="Hindustan Power Exchange Ltd. (HPX) (@HPX_India) / X">
            <a:extLst>
              <a:ext uri="{FF2B5EF4-FFF2-40B4-BE49-F238E27FC236}">
                <a16:creationId xmlns:a16="http://schemas.microsoft.com/office/drawing/2014/main" id="{26EC96B6-5019-58B0-0264-138006F11D56}"/>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t="26933" b="32800"/>
          <a:stretch/>
        </p:blipFill>
        <p:spPr bwMode="auto">
          <a:xfrm>
            <a:off x="10165746" y="4947958"/>
            <a:ext cx="1341058" cy="540000"/>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6" descr="Power Exchange India Limited | LinkedIn">
            <a:extLst>
              <a:ext uri="{FF2B5EF4-FFF2-40B4-BE49-F238E27FC236}">
                <a16:creationId xmlns:a16="http://schemas.microsoft.com/office/drawing/2014/main" id="{8E21ACF9-B0E7-44A0-BBD1-433B21611D3E}"/>
              </a:ext>
            </a:extLst>
          </p:cNvPr>
          <p:cNvPicPr>
            <a:picLocks noChangeAspect="1" noChangeArrowheads="1"/>
          </p:cNvPicPr>
          <p:nvPr/>
        </p:nvPicPr>
        <p:blipFill rotWithShape="1">
          <a:blip r:embed="rId10">
            <a:extLst>
              <a:ext uri="{28A0092B-C50C-407E-A947-70E740481C1C}">
                <a14:useLocalDpi xmlns:a14="http://schemas.microsoft.com/office/drawing/2010/main" val="0"/>
              </a:ext>
            </a:extLst>
          </a:blip>
          <a:srcRect t="30248" b="30001"/>
          <a:stretch/>
        </p:blipFill>
        <p:spPr bwMode="auto">
          <a:xfrm>
            <a:off x="8294254" y="4956014"/>
            <a:ext cx="1358457" cy="540000"/>
          </a:xfrm>
          <a:prstGeom prst="rect">
            <a:avLst/>
          </a:prstGeom>
          <a:noFill/>
          <a:extLst>
            <a:ext uri="{909E8E84-426E-40DD-AFC4-6F175D3DCCD1}">
              <a14:hiddenFill xmlns:a14="http://schemas.microsoft.com/office/drawing/2010/main">
                <a:solidFill>
                  <a:srgbClr val="FFFFFF"/>
                </a:solidFill>
              </a14:hiddenFill>
            </a:ext>
          </a:extLst>
        </p:spPr>
      </p:pic>
      <p:sp>
        <p:nvSpPr>
          <p:cNvPr id="43" name="TextBox 42">
            <a:extLst>
              <a:ext uri="{FF2B5EF4-FFF2-40B4-BE49-F238E27FC236}">
                <a16:creationId xmlns:a16="http://schemas.microsoft.com/office/drawing/2014/main" id="{32A72288-8A08-F779-0464-438704294A8B}"/>
              </a:ext>
            </a:extLst>
          </p:cNvPr>
          <p:cNvSpPr txBox="1"/>
          <p:nvPr/>
        </p:nvSpPr>
        <p:spPr>
          <a:xfrm>
            <a:off x="8077200" y="5855979"/>
            <a:ext cx="1714500" cy="369332"/>
          </a:xfrm>
          <a:prstGeom prst="rect">
            <a:avLst/>
          </a:prstGeom>
          <a:noFill/>
        </p:spPr>
        <p:txBody>
          <a:bodyPr wrap="square">
            <a:spAutoFit/>
          </a:bodyPr>
          <a:lstStyle/>
          <a:p>
            <a:pPr algn="ctr"/>
            <a:r>
              <a:rPr lang="en-US" sz="900">
                <a:latin typeface="Arial" panose="020B0604020202020204" pitchFamily="34" charset="0"/>
                <a:cs typeface="Arial" panose="020B0604020202020204" pitchFamily="34" charset="0"/>
              </a:rPr>
              <a:t>Started in 2009, ~3-4% market share</a:t>
            </a:r>
          </a:p>
        </p:txBody>
      </p:sp>
      <p:sp>
        <p:nvSpPr>
          <p:cNvPr id="44" name="TextBox 43">
            <a:extLst>
              <a:ext uri="{FF2B5EF4-FFF2-40B4-BE49-F238E27FC236}">
                <a16:creationId xmlns:a16="http://schemas.microsoft.com/office/drawing/2014/main" id="{F6CA7B0C-01E6-837A-C868-C1EB03E0957F}"/>
              </a:ext>
            </a:extLst>
          </p:cNvPr>
          <p:cNvSpPr txBox="1"/>
          <p:nvPr/>
        </p:nvSpPr>
        <p:spPr>
          <a:xfrm>
            <a:off x="9982200" y="5855979"/>
            <a:ext cx="1708151" cy="369332"/>
          </a:xfrm>
          <a:prstGeom prst="rect">
            <a:avLst/>
          </a:prstGeom>
          <a:noFill/>
        </p:spPr>
        <p:txBody>
          <a:bodyPr wrap="square">
            <a:spAutoFit/>
          </a:bodyPr>
          <a:lstStyle/>
          <a:p>
            <a:pPr algn="ctr"/>
            <a:r>
              <a:rPr lang="en-US" sz="900">
                <a:latin typeface="Arial" panose="020B0604020202020204" pitchFamily="34" charset="0"/>
                <a:cs typeface="Arial" panose="020B0604020202020204" pitchFamily="34" charset="0"/>
              </a:rPr>
              <a:t>Newly launched exchange to drive competitions</a:t>
            </a:r>
          </a:p>
        </p:txBody>
      </p:sp>
    </p:spTree>
    <p:extLst>
      <p:ext uri="{BB962C8B-B14F-4D97-AF65-F5344CB8AC3E}">
        <p14:creationId xmlns:p14="http://schemas.microsoft.com/office/powerpoint/2010/main" val="3487509344"/>
      </p:ext>
    </p:extLst>
  </p:cSld>
  <p:clrMapOvr>
    <a:masterClrMapping/>
  </p:clrMapOvr>
  <p:transition>
    <p:fade/>
  </p:transition>
</p:sld>
</file>

<file path=ppt/slides/slide95.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graphicFrame>
        <p:nvGraphicFramePr>
          <p:cNvPr id="12" name="Table 11">
            <a:extLst>
              <a:ext uri="{FF2B5EF4-FFF2-40B4-BE49-F238E27FC236}">
                <a16:creationId xmlns:a16="http://schemas.microsoft.com/office/drawing/2014/main" id="{1AD88AF3-3819-3032-FF81-F684775D72B5}"/>
              </a:ext>
            </a:extLst>
          </p:cNvPr>
          <p:cNvGraphicFramePr>
            <a:graphicFrameLocks noGrp="1"/>
          </p:cNvGraphicFramePr>
          <p:nvPr>
            <p:extLst>
              <p:ext uri="{D42A27DB-BD31-4B8C-83A1-F6EECF244321}">
                <p14:modId xmlns:p14="http://schemas.microsoft.com/office/powerpoint/2010/main" val="2289077621"/>
              </p:ext>
            </p:extLst>
          </p:nvPr>
        </p:nvGraphicFramePr>
        <p:xfrm>
          <a:off x="1673719" y="2761586"/>
          <a:ext cx="9206802" cy="1334828"/>
        </p:xfrm>
        <a:graphic>
          <a:graphicData uri="http://schemas.openxmlformats.org/drawingml/2006/table">
            <a:tbl>
              <a:tblPr firstRow="1" bandRow="1">
                <a:tableStyleId>{5C22544A-7EE6-4342-B048-85BDC9FD1C3A}</a:tableStyleId>
              </a:tblPr>
              <a:tblGrid>
                <a:gridCol w="2923681">
                  <a:extLst>
                    <a:ext uri="{9D8B030D-6E8A-4147-A177-3AD203B41FA5}">
                      <a16:colId xmlns:a16="http://schemas.microsoft.com/office/drawing/2014/main" val="2744717436"/>
                    </a:ext>
                  </a:extLst>
                </a:gridCol>
                <a:gridCol w="6283121">
                  <a:extLst>
                    <a:ext uri="{9D8B030D-6E8A-4147-A177-3AD203B41FA5}">
                      <a16:colId xmlns:a16="http://schemas.microsoft.com/office/drawing/2014/main" val="570884867"/>
                    </a:ext>
                  </a:extLst>
                </a:gridCol>
              </a:tblGrid>
              <a:tr h="1334828">
                <a:tc>
                  <a:txBody>
                    <a:bodyPr/>
                    <a:lstStyle/>
                    <a:p>
                      <a:r>
                        <a:rPr lang="en-US" sz="3600">
                          <a:latin typeface="Arial" panose="020B0604020202020204" pitchFamily="34" charset="0"/>
                          <a:cs typeface="Arial" panose="020B0604020202020204" pitchFamily="34" charset="0"/>
                        </a:rPr>
                        <a:t>4.7</a:t>
                      </a:r>
                    </a:p>
                  </a:txBody>
                  <a:tcPr anchor="ctr">
                    <a:lnL w="12700" cmpd="sng">
                      <a:noFill/>
                    </a:lnL>
                    <a:lnR w="38100"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r>
                        <a:rPr lang="en-US" sz="2400" b="1" kern="0">
                          <a:solidFill>
                            <a:schemeClr val="lt1"/>
                          </a:solidFill>
                          <a:latin typeface="Arial" panose="020B0604020202020204" pitchFamily="34" charset="0"/>
                          <a:ea typeface="+mn-ea"/>
                          <a:cs typeface="Arial" panose="020B0604020202020204" pitchFamily="34" charset="0"/>
                        </a:rPr>
                        <a:t>VIEW ON THE FUTURE MARKET CLEARING PRICES IN LIGHT OF INCREASE IN RENEWABLES</a:t>
                      </a:r>
                    </a:p>
                  </a:txBody>
                  <a:tcPr anchor="ctr">
                    <a:lnL w="38100"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1519627"/>
                  </a:ext>
                </a:extLst>
              </a:tr>
            </a:tbl>
          </a:graphicData>
        </a:graphic>
      </p:graphicFrame>
    </p:spTree>
    <p:extLst>
      <p:ext uri="{BB962C8B-B14F-4D97-AF65-F5344CB8AC3E}">
        <p14:creationId xmlns:p14="http://schemas.microsoft.com/office/powerpoint/2010/main" val="1086878098"/>
      </p:ext>
    </p:extLst>
  </p:cSld>
  <p:clrMapOvr>
    <a:masterClrMapping/>
  </p:clrMapOvr>
  <p:transition>
    <p:fade/>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284120946"/>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defTabSz="914400">
              <a:spcBef>
                <a:spcPts val="488"/>
              </a:spcBef>
              <a:buSzPct val="100000"/>
            </a:pPr>
            <a:r>
              <a:rPr lang="en-US" sz="2000" b="1">
                <a:latin typeface="Arial" panose="020B0604020202020204" pitchFamily="34" charset="0"/>
                <a:cs typeface="Arial" panose="020B0604020202020204" pitchFamily="34" charset="0"/>
              </a:rPr>
              <a:t>Electricity demand in India (1/2)</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t>India’s fast-growing economy drove strong electricity demand growth FY20–FY25, with renewable energy playing a major role in meeting the demand</a:t>
            </a:r>
          </a:p>
        </p:txBody>
      </p:sp>
      <p:cxnSp>
        <p:nvCxnSpPr>
          <p:cNvPr id="8" name="Straight Connector 7">
            <a:extLst>
              <a:ext uri="{FF2B5EF4-FFF2-40B4-BE49-F238E27FC236}">
                <a16:creationId xmlns:a16="http://schemas.microsoft.com/office/drawing/2014/main" id="{081EBD2A-579A-0E4C-E34D-64B3F0D7E2CD}"/>
              </a:ext>
            </a:extLst>
          </p:cNvPr>
          <p:cNvCxnSpPr>
            <a:cxnSpLocks/>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u="none" strike="noStrike" kern="1200" cap="none" spc="0" normalizeH="0" baseline="0" noProof="0">
                <a:ln>
                  <a:noFill/>
                </a:ln>
                <a:effectLst/>
                <a:uLnTx/>
                <a:uFillTx/>
                <a:latin typeface="Arial" panose="020B0604020202020204" pitchFamily="34" charset="0"/>
                <a:cs typeface="Arial" panose="020B0604020202020204" pitchFamily="34" charset="0"/>
              </a:rPr>
              <a:t>Sources: </a:t>
            </a:r>
            <a:r>
              <a:rPr kumimoji="0" lang="en-US" sz="1050" b="0" u="none" strike="noStrike" kern="1200" cap="none" spc="0" normalizeH="0" baseline="0" noProof="0">
                <a:ln>
                  <a:noFill/>
                </a:ln>
                <a:effectLst/>
                <a:uLnTx/>
                <a:uFillTx/>
                <a:latin typeface="Arial" panose="020B0604020202020204" pitchFamily="34" charset="0"/>
                <a:cs typeface="Arial" panose="020B0604020202020204" pitchFamily="34" charset="0"/>
              </a:rPr>
              <a:t>CEA, </a:t>
            </a:r>
            <a:r>
              <a:rPr kumimoji="0" lang="en-US" sz="1050" b="0" u="none" strike="noStrike" kern="1200" cap="none" spc="0" normalizeH="0" baseline="0" noProof="0" err="1">
                <a:ln>
                  <a:noFill/>
                </a:ln>
                <a:effectLst/>
                <a:uLnTx/>
                <a:uFillTx/>
                <a:latin typeface="Arial" panose="020B0604020202020204" pitchFamily="34" charset="0"/>
                <a:cs typeface="Arial" panose="020B0604020202020204" pitchFamily="34" charset="0"/>
              </a:rPr>
              <a:t>MoP</a:t>
            </a:r>
            <a:r>
              <a:rPr kumimoji="0" lang="en-US" sz="1050" b="0" u="none" strike="noStrike" kern="1200" cap="none" spc="0" normalizeH="0" baseline="0" noProof="0">
                <a:ln>
                  <a:noFill/>
                </a:ln>
                <a:effectLst/>
                <a:uLnTx/>
                <a:uFillTx/>
                <a:latin typeface="Arial" panose="020B0604020202020204" pitchFamily="34" charset="0"/>
                <a:cs typeface="Arial" panose="020B0604020202020204" pitchFamily="34" charset="0"/>
              </a:rPr>
              <a:t>, MNRE, Deloitte Analysis</a:t>
            </a:r>
            <a:endParaRPr kumimoji="0" lang="en-IN" sz="1050" b="0" u="none" strike="noStrike" kern="1200" cap="none" spc="0" normalizeH="0" baseline="0" noProof="0">
              <a:ln>
                <a:noFill/>
              </a:ln>
              <a:effectLst/>
              <a:uLnTx/>
              <a:uFillTx/>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8E63AF83-23D6-C76E-2C63-8A517D9F1682}"/>
              </a:ext>
            </a:extLst>
          </p:cNvPr>
          <p:cNvSpPr txBox="1"/>
          <p:nvPr/>
        </p:nvSpPr>
        <p:spPr>
          <a:xfrm>
            <a:off x="497595" y="1072024"/>
            <a:ext cx="3617206" cy="461665"/>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Calibri" panose="020F0502020204030204" pitchFamily="34" charset="0"/>
                <a:cs typeface="Calibri" panose="020F050202020403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rtl="0">
              <a:defRPr sz="1100" b="0" i="0" u="none" strike="noStrike" kern="1200" spc="0" baseline="0">
                <a:solidFill>
                  <a:prstClr val="black"/>
                </a:solidFill>
                <a:latin typeface="+mn-lt"/>
                <a:ea typeface="+mn-ea"/>
                <a:cs typeface="+mn-cs"/>
              </a:defRPr>
            </a:pPr>
            <a:r>
              <a:rPr lang="en-US" sz="1200" b="1" i="0" u="none" strike="noStrike" kern="1200" spc="0" baseline="0">
                <a:solidFill>
                  <a:schemeClr val="tx1"/>
                </a:solidFill>
                <a:latin typeface="+mn-lt"/>
                <a:ea typeface="+mn-ea"/>
                <a:cs typeface="+mn-cs"/>
              </a:rPr>
              <a:t>Electricity demand</a:t>
            </a:r>
          </a:p>
          <a:p>
            <a:pPr rtl="0">
              <a:spcBef>
                <a:spcPts val="0"/>
              </a:spcBef>
              <a:defRPr sz="1100" b="0" i="0" u="none" strike="noStrike" kern="1200" spc="0" baseline="0">
                <a:solidFill>
                  <a:prstClr val="black"/>
                </a:solidFill>
                <a:latin typeface="+mn-lt"/>
                <a:ea typeface="+mn-ea"/>
                <a:cs typeface="+mn-cs"/>
              </a:defRPr>
            </a:pPr>
            <a:r>
              <a:rPr lang="en-US">
                <a:solidFill>
                  <a:schemeClr val="tx1"/>
                </a:solidFill>
                <a:latin typeface="+mn-lt"/>
                <a:cs typeface="+mn-cs"/>
              </a:rPr>
              <a:t>FY20-25,</a:t>
            </a:r>
            <a:r>
              <a:rPr lang="en-US" sz="1200" i="0" u="none" strike="noStrike" kern="1200" spc="0" baseline="0">
                <a:solidFill>
                  <a:schemeClr val="tx1"/>
                </a:solidFill>
                <a:latin typeface="+mn-lt"/>
                <a:ea typeface="+mn-ea"/>
                <a:cs typeface="+mn-cs"/>
              </a:rPr>
              <a:t> TWh</a:t>
            </a:r>
          </a:p>
        </p:txBody>
      </p:sp>
      <p:sp>
        <p:nvSpPr>
          <p:cNvPr id="36" name="Content Placeholder 3">
            <a:extLst>
              <a:ext uri="{FF2B5EF4-FFF2-40B4-BE49-F238E27FC236}">
                <a16:creationId xmlns:a16="http://schemas.microsoft.com/office/drawing/2014/main" id="{1B240EB8-DAB1-0479-FE0E-8D140B9424F1}"/>
              </a:ext>
            </a:extLst>
          </p:cNvPr>
          <p:cNvSpPr txBox="1">
            <a:spLocks/>
          </p:cNvSpPr>
          <p:nvPr/>
        </p:nvSpPr>
        <p:spPr>
          <a:xfrm>
            <a:off x="501650" y="3393206"/>
            <a:ext cx="11195049" cy="602369"/>
          </a:xfrm>
          <a:prstGeom prst="rect">
            <a:avLst/>
          </a:prstGeom>
        </p:spPr>
        <p:txBody>
          <a:bodyP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171450" indent="-171450">
              <a:spcAft>
                <a:spcPts val="600"/>
              </a:spcAft>
              <a:buFont typeface="Arial" panose="020B0604020202020204" pitchFamily="34" charset="0"/>
              <a:buChar char="•"/>
            </a:pPr>
            <a:r>
              <a:rPr lang="en-US" sz="1000">
                <a:latin typeface="Arial" panose="020B0604020202020204" pitchFamily="34" charset="0"/>
                <a:cs typeface="Arial" panose="020B0604020202020204" pitchFamily="34" charset="0"/>
              </a:rPr>
              <a:t>With a growing economy, the demand for electricity has also increased at a robust rate of growth</a:t>
            </a:r>
          </a:p>
          <a:p>
            <a:pPr marL="171450" indent="-171450">
              <a:spcAft>
                <a:spcPts val="600"/>
              </a:spcAft>
              <a:buFont typeface="Arial" panose="020B0604020202020204" pitchFamily="34" charset="0"/>
              <a:buChar char="•"/>
            </a:pPr>
            <a:r>
              <a:rPr lang="en-US" sz="1000">
                <a:latin typeface="Arial" panose="020B0604020202020204" pitchFamily="34" charset="0"/>
                <a:cs typeface="Arial" panose="020B0604020202020204" pitchFamily="34" charset="0"/>
              </a:rPr>
              <a:t>While thermal power generation has remained the main stay of electricity generation in India, that from renewable energy sources has nearly </a:t>
            </a:r>
            <a:r>
              <a:rPr lang="en-US" sz="1000" b="1">
                <a:latin typeface="Arial" panose="020B0604020202020204" pitchFamily="34" charset="0"/>
                <a:cs typeface="Arial" panose="020B0604020202020204" pitchFamily="34" charset="0"/>
              </a:rPr>
              <a:t>doubled</a:t>
            </a:r>
            <a:r>
              <a:rPr lang="en-US" sz="1000">
                <a:latin typeface="Arial" panose="020B0604020202020204" pitchFamily="34" charset="0"/>
                <a:cs typeface="Arial" panose="020B0604020202020204" pitchFamily="34" charset="0"/>
              </a:rPr>
              <a:t> in the last 5 years </a:t>
            </a:r>
          </a:p>
        </p:txBody>
      </p:sp>
      <p:graphicFrame>
        <p:nvGraphicFramePr>
          <p:cNvPr id="37" name="Chart 36">
            <a:extLst>
              <a:ext uri="{FF2B5EF4-FFF2-40B4-BE49-F238E27FC236}">
                <a16:creationId xmlns:a16="http://schemas.microsoft.com/office/drawing/2014/main" id="{7CB1F7A9-4263-D79C-04DD-5990AA4CFD01}"/>
              </a:ext>
            </a:extLst>
          </p:cNvPr>
          <p:cNvGraphicFramePr/>
          <p:nvPr>
            <p:extLst>
              <p:ext uri="{D42A27DB-BD31-4B8C-83A1-F6EECF244321}">
                <p14:modId xmlns:p14="http://schemas.microsoft.com/office/powerpoint/2010/main" val="1692815242"/>
              </p:ext>
            </p:extLst>
          </p:nvPr>
        </p:nvGraphicFramePr>
        <p:xfrm>
          <a:off x="396072" y="4118827"/>
          <a:ext cx="2731407" cy="2063750"/>
        </p:xfrm>
        <a:graphic>
          <a:graphicData uri="http://schemas.openxmlformats.org/drawingml/2006/chart">
            <c:chart xmlns:c="http://schemas.openxmlformats.org/drawingml/2006/chart" xmlns:r="http://schemas.openxmlformats.org/officeDocument/2006/relationships" r:id="rId6"/>
          </a:graphicData>
        </a:graphic>
      </p:graphicFrame>
      <p:sp>
        <p:nvSpPr>
          <p:cNvPr id="38" name="Rectangle: Rounded Corners 37">
            <a:extLst>
              <a:ext uri="{FF2B5EF4-FFF2-40B4-BE49-F238E27FC236}">
                <a16:creationId xmlns:a16="http://schemas.microsoft.com/office/drawing/2014/main" id="{3BCAEADD-A810-B047-9ED4-DCD5F32EA582}"/>
              </a:ext>
            </a:extLst>
          </p:cNvPr>
          <p:cNvSpPr/>
          <p:nvPr/>
        </p:nvSpPr>
        <p:spPr bwMode="gray">
          <a:xfrm>
            <a:off x="1211621" y="4870438"/>
            <a:ext cx="1093106" cy="674486"/>
          </a:xfrm>
          <a:prstGeom prst="roundRect">
            <a:avLst/>
          </a:prstGeom>
          <a:no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a:ln>
                  <a:noFill/>
                </a:ln>
                <a:solidFill>
                  <a:prstClr val="black"/>
                </a:solidFill>
                <a:effectLst/>
                <a:uLnTx/>
                <a:uFillTx/>
                <a:latin typeface="Calibri"/>
                <a:ea typeface="+mn-ea"/>
                <a:cs typeface="+mn-cs"/>
              </a:rPr>
              <a:t>Total: </a:t>
            </a:r>
          </a:p>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0" i="0" u="none" strike="noStrike" kern="1200" cap="none" spc="0" normalizeH="0" baseline="0" noProof="0">
                <a:ln>
                  <a:noFill/>
                </a:ln>
                <a:solidFill>
                  <a:prstClr val="black"/>
                </a:solidFill>
                <a:effectLst/>
                <a:uLnTx/>
                <a:uFillTx/>
                <a:latin typeface="Calibri"/>
                <a:ea typeface="+mn-ea"/>
                <a:cs typeface="+mn-cs"/>
              </a:rPr>
              <a:t>1,383 TWh</a:t>
            </a:r>
          </a:p>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a:ln>
                  <a:noFill/>
                </a:ln>
                <a:solidFill>
                  <a:srgbClr val="007CB0"/>
                </a:solidFill>
                <a:effectLst/>
                <a:uLnTx/>
                <a:uFillTx/>
                <a:latin typeface="Calibri"/>
                <a:ea typeface="+mn-ea"/>
                <a:cs typeface="+mn-cs"/>
              </a:rPr>
              <a:t>RE:</a:t>
            </a:r>
          </a:p>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0" i="0" u="none" strike="noStrike" kern="1200" cap="none" spc="0" normalizeH="0" baseline="0" noProof="0">
                <a:ln>
                  <a:noFill/>
                </a:ln>
                <a:solidFill>
                  <a:srgbClr val="007CB0"/>
                </a:solidFill>
                <a:effectLst/>
                <a:uLnTx/>
                <a:uFillTx/>
                <a:latin typeface="Calibri"/>
                <a:ea typeface="+mn-ea"/>
                <a:cs typeface="+mn-cs"/>
              </a:rPr>
              <a:t>138 TWh</a:t>
            </a:r>
            <a:endParaRPr kumimoji="0" lang="en-US" sz="1100" b="1" i="0" u="none" strike="noStrike" kern="1200" cap="none" spc="0" normalizeH="0" baseline="0" noProof="0">
              <a:ln>
                <a:noFill/>
              </a:ln>
              <a:solidFill>
                <a:srgbClr val="007CB0"/>
              </a:solidFill>
              <a:effectLst/>
              <a:uLnTx/>
              <a:uFillTx/>
              <a:latin typeface="Calibri"/>
              <a:ea typeface="+mn-ea"/>
              <a:cs typeface="+mn-cs"/>
            </a:endParaRPr>
          </a:p>
        </p:txBody>
      </p:sp>
      <p:graphicFrame>
        <p:nvGraphicFramePr>
          <p:cNvPr id="39" name="Chart 38">
            <a:extLst>
              <a:ext uri="{FF2B5EF4-FFF2-40B4-BE49-F238E27FC236}">
                <a16:creationId xmlns:a16="http://schemas.microsoft.com/office/drawing/2014/main" id="{E4AD7F61-3240-E209-F157-C722F78E4502}"/>
              </a:ext>
            </a:extLst>
          </p:cNvPr>
          <p:cNvGraphicFramePr/>
          <p:nvPr>
            <p:extLst>
              <p:ext uri="{D42A27DB-BD31-4B8C-83A1-F6EECF244321}">
                <p14:modId xmlns:p14="http://schemas.microsoft.com/office/powerpoint/2010/main" val="162663863"/>
              </p:ext>
            </p:extLst>
          </p:nvPr>
        </p:nvGraphicFramePr>
        <p:xfrm>
          <a:off x="3471755" y="4118827"/>
          <a:ext cx="2731407" cy="2063750"/>
        </p:xfrm>
        <a:graphic>
          <a:graphicData uri="http://schemas.openxmlformats.org/drawingml/2006/chart">
            <c:chart xmlns:c="http://schemas.openxmlformats.org/drawingml/2006/chart" xmlns:r="http://schemas.openxmlformats.org/officeDocument/2006/relationships" r:id="rId7"/>
          </a:graphicData>
        </a:graphic>
      </p:graphicFrame>
      <p:sp>
        <p:nvSpPr>
          <p:cNvPr id="40" name="Rectangle: Rounded Corners 39">
            <a:extLst>
              <a:ext uri="{FF2B5EF4-FFF2-40B4-BE49-F238E27FC236}">
                <a16:creationId xmlns:a16="http://schemas.microsoft.com/office/drawing/2014/main" id="{B1FDFB45-F2E9-E98C-9236-7632353C701A}"/>
              </a:ext>
            </a:extLst>
          </p:cNvPr>
          <p:cNvSpPr/>
          <p:nvPr/>
        </p:nvSpPr>
        <p:spPr bwMode="gray">
          <a:xfrm>
            <a:off x="4306778" y="4833696"/>
            <a:ext cx="1093106" cy="747971"/>
          </a:xfrm>
          <a:prstGeom prst="roundRect">
            <a:avLst/>
          </a:prstGeom>
          <a:no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a:ln>
                  <a:noFill/>
                </a:ln>
                <a:solidFill>
                  <a:prstClr val="black"/>
                </a:solidFill>
                <a:effectLst/>
                <a:uLnTx/>
                <a:uFillTx/>
                <a:latin typeface="Calibri"/>
                <a:ea typeface="+mn-ea"/>
                <a:cs typeface="+mn-cs"/>
              </a:rPr>
              <a:t>Total: </a:t>
            </a:r>
          </a:p>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0" i="0" u="none" strike="noStrike" kern="1200" cap="none" spc="0" normalizeH="0" baseline="0" noProof="0">
                <a:ln>
                  <a:noFill/>
                </a:ln>
                <a:solidFill>
                  <a:prstClr val="black"/>
                </a:solidFill>
                <a:effectLst/>
                <a:uLnTx/>
                <a:uFillTx/>
                <a:latin typeface="Calibri"/>
                <a:ea typeface="+mn-ea"/>
                <a:cs typeface="+mn-cs"/>
              </a:rPr>
              <a:t>1,821 TWh</a:t>
            </a:r>
          </a:p>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a:ln>
                  <a:noFill/>
                </a:ln>
                <a:solidFill>
                  <a:schemeClr val="accent1"/>
                </a:solidFill>
                <a:effectLst/>
                <a:uLnTx/>
                <a:uFillTx/>
                <a:latin typeface="Calibri"/>
                <a:ea typeface="+mn-ea"/>
                <a:cs typeface="+mn-cs"/>
              </a:rPr>
              <a:t>RE:</a:t>
            </a:r>
          </a:p>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0" i="0" u="none" strike="noStrike" kern="1200" cap="none" spc="0" normalizeH="0" baseline="0" noProof="0">
                <a:ln>
                  <a:noFill/>
                </a:ln>
                <a:solidFill>
                  <a:schemeClr val="accent1"/>
                </a:solidFill>
                <a:effectLst/>
                <a:uLnTx/>
                <a:uFillTx/>
                <a:latin typeface="Calibri"/>
                <a:ea typeface="+mn-ea"/>
                <a:cs typeface="+mn-cs"/>
              </a:rPr>
              <a:t>252 TWh</a:t>
            </a:r>
            <a:r>
              <a:rPr kumimoji="0" lang="en-US" sz="1100" b="1" i="0" u="none" strike="noStrike" kern="1200" cap="none" spc="0" normalizeH="0" baseline="0" noProof="0">
                <a:ln>
                  <a:noFill/>
                </a:ln>
                <a:solidFill>
                  <a:schemeClr val="accent1"/>
                </a:solidFill>
                <a:effectLst/>
                <a:uLnTx/>
                <a:uFillTx/>
                <a:latin typeface="Calibri"/>
                <a:ea typeface="+mn-ea"/>
                <a:cs typeface="+mn-cs"/>
              </a:rPr>
              <a:t> </a:t>
            </a:r>
          </a:p>
        </p:txBody>
      </p:sp>
      <p:sp>
        <p:nvSpPr>
          <p:cNvPr id="45" name="Content Placeholder 3">
            <a:extLst>
              <a:ext uri="{FF2B5EF4-FFF2-40B4-BE49-F238E27FC236}">
                <a16:creationId xmlns:a16="http://schemas.microsoft.com/office/drawing/2014/main" id="{5599FED7-80E2-2DF9-2B49-4BDE6B7506C1}"/>
              </a:ext>
            </a:extLst>
          </p:cNvPr>
          <p:cNvSpPr txBox="1">
            <a:spLocks/>
          </p:cNvSpPr>
          <p:nvPr/>
        </p:nvSpPr>
        <p:spPr>
          <a:xfrm>
            <a:off x="496739" y="3947836"/>
            <a:ext cx="3679199" cy="276999"/>
          </a:xfrm>
          <a:prstGeom prst="rect">
            <a:avLst/>
          </a:prstGeom>
          <a:noFill/>
        </p:spPr>
        <p:txBody>
          <a:bodyPr wrap="square">
            <a:spAutoFit/>
          </a:bodyPr>
          <a:lstStyle>
            <a:defPPr>
              <a:defRPr lang="en-US"/>
            </a:defPPr>
            <a:lvl1pPr marR="0" lvl="0" indent="0" algn="ctr" fontAlgn="auto">
              <a:lnSpc>
                <a:spcPct val="100000"/>
              </a:lnSpc>
              <a:spcBef>
                <a:spcPts val="488"/>
              </a:spcBef>
              <a:spcAft>
                <a:spcPts val="0"/>
              </a:spcAft>
              <a:buClrTx/>
              <a:buSzPct val="100000"/>
              <a:buFontTx/>
              <a:buNone/>
              <a:tabLst/>
              <a:defRPr kumimoji="0" sz="1200" b="1" i="0" u="none" strike="noStrike" cap="none" spc="0" normalizeH="0" baseline="0">
                <a:ln>
                  <a:noFill/>
                </a:ln>
                <a:effectLst/>
                <a:uLnTx/>
                <a:uFillTx/>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lgn="l"/>
            <a:r>
              <a:rPr lang="en-US"/>
              <a:t>Gross electricity generation in India (TWh)</a:t>
            </a:r>
          </a:p>
        </p:txBody>
      </p:sp>
      <p:graphicFrame>
        <p:nvGraphicFramePr>
          <p:cNvPr id="47" name="Content Placeholder 29">
            <a:extLst>
              <a:ext uri="{FF2B5EF4-FFF2-40B4-BE49-F238E27FC236}">
                <a16:creationId xmlns:a16="http://schemas.microsoft.com/office/drawing/2014/main" id="{CD2152F0-0DF8-E262-26EE-258CBBD7396A}"/>
              </a:ext>
            </a:extLst>
          </p:cNvPr>
          <p:cNvGraphicFramePr>
            <a:graphicFrameLocks/>
          </p:cNvGraphicFramePr>
          <p:nvPr>
            <p:extLst>
              <p:ext uri="{D42A27DB-BD31-4B8C-83A1-F6EECF244321}">
                <p14:modId xmlns:p14="http://schemas.microsoft.com/office/powerpoint/2010/main" val="1505071953"/>
              </p:ext>
            </p:extLst>
          </p:nvPr>
        </p:nvGraphicFramePr>
        <p:xfrm>
          <a:off x="501651" y="1334731"/>
          <a:ext cx="3614400" cy="206375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8" name="Content Placeholder 29">
            <a:extLst>
              <a:ext uri="{FF2B5EF4-FFF2-40B4-BE49-F238E27FC236}">
                <a16:creationId xmlns:a16="http://schemas.microsoft.com/office/drawing/2014/main" id="{5434666D-26B8-92F1-F7F1-D60870A6DBAD}"/>
              </a:ext>
            </a:extLst>
          </p:cNvPr>
          <p:cNvGraphicFramePr>
            <a:graphicFrameLocks/>
          </p:cNvGraphicFramePr>
          <p:nvPr>
            <p:extLst>
              <p:ext uri="{D42A27DB-BD31-4B8C-83A1-F6EECF244321}">
                <p14:modId xmlns:p14="http://schemas.microsoft.com/office/powerpoint/2010/main" val="214194689"/>
              </p:ext>
            </p:extLst>
          </p:nvPr>
        </p:nvGraphicFramePr>
        <p:xfrm>
          <a:off x="4294147" y="1334731"/>
          <a:ext cx="3614400" cy="206375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9" name="Content Placeholder 29">
            <a:extLst>
              <a:ext uri="{FF2B5EF4-FFF2-40B4-BE49-F238E27FC236}">
                <a16:creationId xmlns:a16="http://schemas.microsoft.com/office/drawing/2014/main" id="{F2D94824-591A-54B4-89C0-1B77D674CB42}"/>
              </a:ext>
            </a:extLst>
          </p:cNvPr>
          <p:cNvGraphicFramePr>
            <a:graphicFrameLocks/>
          </p:cNvGraphicFramePr>
          <p:nvPr>
            <p:extLst>
              <p:ext uri="{D42A27DB-BD31-4B8C-83A1-F6EECF244321}">
                <p14:modId xmlns:p14="http://schemas.microsoft.com/office/powerpoint/2010/main" val="3891035683"/>
              </p:ext>
            </p:extLst>
          </p:nvPr>
        </p:nvGraphicFramePr>
        <p:xfrm>
          <a:off x="8090413" y="1334731"/>
          <a:ext cx="3614400" cy="2063750"/>
        </p:xfrm>
        <a:graphic>
          <a:graphicData uri="http://schemas.openxmlformats.org/drawingml/2006/chart">
            <c:chart xmlns:c="http://schemas.openxmlformats.org/drawingml/2006/chart" xmlns:r="http://schemas.openxmlformats.org/officeDocument/2006/relationships" r:id="rId10"/>
          </a:graphicData>
        </a:graphic>
      </p:graphicFrame>
      <p:cxnSp>
        <p:nvCxnSpPr>
          <p:cNvPr id="50" name="Straight Arrow Connector 49">
            <a:extLst>
              <a:ext uri="{FF2B5EF4-FFF2-40B4-BE49-F238E27FC236}">
                <a16:creationId xmlns:a16="http://schemas.microsoft.com/office/drawing/2014/main" id="{F1F060F6-8E7D-1DF8-2CF1-4F3EFC832FAC}"/>
              </a:ext>
            </a:extLst>
          </p:cNvPr>
          <p:cNvCxnSpPr>
            <a:cxnSpLocks/>
          </p:cNvCxnSpPr>
          <p:nvPr/>
        </p:nvCxnSpPr>
        <p:spPr>
          <a:xfrm flipV="1">
            <a:off x="736745" y="1676400"/>
            <a:ext cx="2980490" cy="435396"/>
          </a:xfrm>
          <a:prstGeom prst="straightConnector1">
            <a:avLst/>
          </a:prstGeom>
          <a:ln w="3175">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4C93668B-57B4-5BF0-EFCE-89BDDBFD9BFE}"/>
              </a:ext>
            </a:extLst>
          </p:cNvPr>
          <p:cNvSpPr txBox="1"/>
          <p:nvPr/>
        </p:nvSpPr>
        <p:spPr>
          <a:xfrm>
            <a:off x="1799514" y="1817154"/>
            <a:ext cx="854952" cy="153888"/>
          </a:xfrm>
          <a:prstGeom prst="rect">
            <a:avLst/>
          </a:prstGeom>
          <a:solidFill>
            <a:schemeClr val="bg1"/>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lang="en-US" sz="1000">
                <a:solidFill>
                  <a:srgbClr val="313131"/>
                </a:solidFill>
                <a:latin typeface="Calibri"/>
              </a:rPr>
              <a:t>5.5</a:t>
            </a:r>
            <a:r>
              <a:rPr kumimoji="0" lang="en-US" sz="1000" b="0" i="0" u="none" strike="noStrike" kern="1200" cap="none" spc="0" normalizeH="0" baseline="0" noProof="0">
                <a:ln>
                  <a:noFill/>
                </a:ln>
                <a:solidFill>
                  <a:srgbClr val="313131"/>
                </a:solidFill>
                <a:effectLst/>
                <a:uLnTx/>
                <a:uFillTx/>
                <a:latin typeface="Calibri"/>
                <a:ea typeface="+mn-ea"/>
                <a:cs typeface="+mn-cs"/>
              </a:rPr>
              <a:t>% CAGR</a:t>
            </a:r>
          </a:p>
        </p:txBody>
      </p:sp>
      <p:cxnSp>
        <p:nvCxnSpPr>
          <p:cNvPr id="52" name="Straight Arrow Connector 51">
            <a:extLst>
              <a:ext uri="{FF2B5EF4-FFF2-40B4-BE49-F238E27FC236}">
                <a16:creationId xmlns:a16="http://schemas.microsoft.com/office/drawing/2014/main" id="{6F684958-D137-CD1D-3A1A-69942B99C50E}"/>
              </a:ext>
            </a:extLst>
          </p:cNvPr>
          <p:cNvCxnSpPr>
            <a:cxnSpLocks/>
          </p:cNvCxnSpPr>
          <p:nvPr/>
        </p:nvCxnSpPr>
        <p:spPr>
          <a:xfrm flipV="1">
            <a:off x="4674755" y="1683759"/>
            <a:ext cx="2769992" cy="370712"/>
          </a:xfrm>
          <a:prstGeom prst="straightConnector1">
            <a:avLst/>
          </a:prstGeom>
          <a:ln w="3175">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68A2ABFF-5144-44EF-2ACB-CFDDC84FD99F}"/>
              </a:ext>
            </a:extLst>
          </p:cNvPr>
          <p:cNvSpPr txBox="1"/>
          <p:nvPr/>
        </p:nvSpPr>
        <p:spPr>
          <a:xfrm>
            <a:off x="5632275" y="1792171"/>
            <a:ext cx="854952" cy="153888"/>
          </a:xfrm>
          <a:prstGeom prst="rect">
            <a:avLst/>
          </a:prstGeom>
          <a:solidFill>
            <a:schemeClr val="bg1"/>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lang="en-US" sz="1000">
                <a:solidFill>
                  <a:srgbClr val="313131"/>
                </a:solidFill>
                <a:latin typeface="Calibri"/>
              </a:rPr>
              <a:t>6.3</a:t>
            </a:r>
            <a:r>
              <a:rPr kumimoji="0" lang="en-US" sz="1000" b="0" i="0" u="none" strike="noStrike" kern="1200" cap="none" spc="0" normalizeH="0" baseline="0" noProof="0">
                <a:ln>
                  <a:noFill/>
                </a:ln>
                <a:solidFill>
                  <a:srgbClr val="313131"/>
                </a:solidFill>
                <a:effectLst/>
                <a:uLnTx/>
                <a:uFillTx/>
                <a:latin typeface="Calibri"/>
                <a:ea typeface="+mn-ea"/>
                <a:cs typeface="+mn-cs"/>
              </a:rPr>
              <a:t>% CAGR</a:t>
            </a:r>
          </a:p>
        </p:txBody>
      </p:sp>
      <p:cxnSp>
        <p:nvCxnSpPr>
          <p:cNvPr id="54" name="Straight Arrow Connector 53">
            <a:extLst>
              <a:ext uri="{FF2B5EF4-FFF2-40B4-BE49-F238E27FC236}">
                <a16:creationId xmlns:a16="http://schemas.microsoft.com/office/drawing/2014/main" id="{3720128A-A182-2E1F-DB35-96DAFE1332CA}"/>
              </a:ext>
            </a:extLst>
          </p:cNvPr>
          <p:cNvCxnSpPr>
            <a:cxnSpLocks/>
          </p:cNvCxnSpPr>
          <p:nvPr/>
        </p:nvCxnSpPr>
        <p:spPr>
          <a:xfrm flipV="1">
            <a:off x="8391095" y="1907440"/>
            <a:ext cx="2949695" cy="240266"/>
          </a:xfrm>
          <a:prstGeom prst="straightConnector1">
            <a:avLst/>
          </a:prstGeom>
          <a:ln w="3175">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AB730C42-D63A-E842-D1ED-D01EF210C0B7}"/>
              </a:ext>
            </a:extLst>
          </p:cNvPr>
          <p:cNvSpPr txBox="1"/>
          <p:nvPr/>
        </p:nvSpPr>
        <p:spPr>
          <a:xfrm>
            <a:off x="9438466" y="1950629"/>
            <a:ext cx="854952" cy="153888"/>
          </a:xfrm>
          <a:prstGeom prst="rect">
            <a:avLst/>
          </a:prstGeom>
          <a:solidFill>
            <a:schemeClr val="bg1"/>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lang="en-US" sz="1000">
                <a:solidFill>
                  <a:srgbClr val="313131"/>
                </a:solidFill>
                <a:latin typeface="Calibri"/>
              </a:rPr>
              <a:t>4.9</a:t>
            </a:r>
            <a:r>
              <a:rPr kumimoji="0" lang="en-US" sz="1000" b="0" i="0" u="none" strike="noStrike" kern="1200" cap="none" spc="0" normalizeH="0" baseline="0" noProof="0">
                <a:ln>
                  <a:noFill/>
                </a:ln>
                <a:solidFill>
                  <a:srgbClr val="313131"/>
                </a:solidFill>
                <a:effectLst/>
                <a:uLnTx/>
                <a:uFillTx/>
                <a:latin typeface="Calibri"/>
                <a:ea typeface="+mn-ea"/>
                <a:cs typeface="+mn-cs"/>
              </a:rPr>
              <a:t>% CAGR</a:t>
            </a:r>
          </a:p>
        </p:txBody>
      </p:sp>
      <p:sp>
        <p:nvSpPr>
          <p:cNvPr id="56" name="Content Placeholder 3">
            <a:extLst>
              <a:ext uri="{FF2B5EF4-FFF2-40B4-BE49-F238E27FC236}">
                <a16:creationId xmlns:a16="http://schemas.microsoft.com/office/drawing/2014/main" id="{1C0AC51D-305C-03D2-524C-ACF830BDB314}"/>
              </a:ext>
            </a:extLst>
          </p:cNvPr>
          <p:cNvSpPr txBox="1">
            <a:spLocks/>
          </p:cNvSpPr>
          <p:nvPr/>
        </p:nvSpPr>
        <p:spPr>
          <a:xfrm>
            <a:off x="6216740" y="3947836"/>
            <a:ext cx="3679200" cy="276999"/>
          </a:xfrm>
          <a:prstGeom prst="rect">
            <a:avLst/>
          </a:prstGeom>
          <a:noFill/>
        </p:spPr>
        <p:txBody>
          <a:bodyPr wrap="square">
            <a:spAutoFit/>
          </a:bodyPr>
          <a:lstStyle>
            <a:defPPr>
              <a:defRPr lang="en-US"/>
            </a:defPPr>
            <a:lvl1pPr marR="0" lvl="0" indent="0" algn="ctr" fontAlgn="auto">
              <a:lnSpc>
                <a:spcPct val="100000"/>
              </a:lnSpc>
              <a:spcBef>
                <a:spcPts val="488"/>
              </a:spcBef>
              <a:spcAft>
                <a:spcPts val="0"/>
              </a:spcAft>
              <a:buClrTx/>
              <a:buSzPct val="100000"/>
              <a:buFontTx/>
              <a:buNone/>
              <a:tabLst/>
              <a:defRPr kumimoji="0" sz="1200" b="1" i="0" u="none" strike="noStrike" cap="none" spc="0" normalizeH="0" baseline="0">
                <a:ln>
                  <a:noFill/>
                </a:ln>
                <a:effectLst/>
                <a:uLnTx/>
                <a:uFillTx/>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lgn="l"/>
            <a:r>
              <a:rPr lang="en-US"/>
              <a:t>Electricity generation capacity addition in India (GW)</a:t>
            </a:r>
          </a:p>
        </p:txBody>
      </p:sp>
      <p:graphicFrame>
        <p:nvGraphicFramePr>
          <p:cNvPr id="57" name="Chart 56">
            <a:extLst>
              <a:ext uri="{FF2B5EF4-FFF2-40B4-BE49-F238E27FC236}">
                <a16:creationId xmlns:a16="http://schemas.microsoft.com/office/drawing/2014/main" id="{CC67C9F3-FDC5-87AF-DFC8-F50853975238}"/>
              </a:ext>
            </a:extLst>
          </p:cNvPr>
          <p:cNvGraphicFramePr/>
          <p:nvPr>
            <p:extLst>
              <p:ext uri="{D42A27DB-BD31-4B8C-83A1-F6EECF244321}">
                <p14:modId xmlns:p14="http://schemas.microsoft.com/office/powerpoint/2010/main" val="696363338"/>
              </p:ext>
            </p:extLst>
          </p:nvPr>
        </p:nvGraphicFramePr>
        <p:xfrm>
          <a:off x="6270216" y="4118827"/>
          <a:ext cx="2731407" cy="206375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58" name="Chart 57">
            <a:extLst>
              <a:ext uri="{FF2B5EF4-FFF2-40B4-BE49-F238E27FC236}">
                <a16:creationId xmlns:a16="http://schemas.microsoft.com/office/drawing/2014/main" id="{28269FAB-60C2-2F51-0AF9-CB38B1D83C33}"/>
              </a:ext>
            </a:extLst>
          </p:cNvPr>
          <p:cNvGraphicFramePr/>
          <p:nvPr>
            <p:extLst>
              <p:ext uri="{D42A27DB-BD31-4B8C-83A1-F6EECF244321}">
                <p14:modId xmlns:p14="http://schemas.microsoft.com/office/powerpoint/2010/main" val="1379151022"/>
              </p:ext>
            </p:extLst>
          </p:nvPr>
        </p:nvGraphicFramePr>
        <p:xfrm>
          <a:off x="8880152" y="4118827"/>
          <a:ext cx="2731407" cy="2063750"/>
        </p:xfrm>
        <a:graphic>
          <a:graphicData uri="http://schemas.openxmlformats.org/drawingml/2006/chart">
            <c:chart xmlns:c="http://schemas.openxmlformats.org/drawingml/2006/chart" xmlns:r="http://schemas.openxmlformats.org/officeDocument/2006/relationships" r:id="rId12"/>
          </a:graphicData>
        </a:graphic>
      </p:graphicFrame>
      <p:sp>
        <p:nvSpPr>
          <p:cNvPr id="59" name="Rectangle: Rounded Corners 58">
            <a:extLst>
              <a:ext uri="{FF2B5EF4-FFF2-40B4-BE49-F238E27FC236}">
                <a16:creationId xmlns:a16="http://schemas.microsoft.com/office/drawing/2014/main" id="{315C5099-E49E-B267-F972-85BF89BBDC64}"/>
              </a:ext>
            </a:extLst>
          </p:cNvPr>
          <p:cNvSpPr/>
          <p:nvPr/>
        </p:nvSpPr>
        <p:spPr bwMode="gray">
          <a:xfrm>
            <a:off x="7113642" y="5071718"/>
            <a:ext cx="1093106" cy="336395"/>
          </a:xfrm>
          <a:prstGeom prst="roundRect">
            <a:avLst/>
          </a:prstGeom>
          <a:no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a:ln>
                  <a:noFill/>
                </a:ln>
                <a:solidFill>
                  <a:prstClr val="black"/>
                </a:solidFill>
                <a:effectLst/>
                <a:uLnTx/>
                <a:uFillTx/>
                <a:latin typeface="Calibri"/>
                <a:ea typeface="+mn-ea"/>
                <a:cs typeface="+mn-cs"/>
              </a:rPr>
              <a:t>Total: </a:t>
            </a:r>
          </a:p>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0" i="0" u="none" strike="noStrike" kern="1200" cap="none" spc="0" normalizeH="0" baseline="0" noProof="0">
                <a:ln>
                  <a:noFill/>
                </a:ln>
                <a:solidFill>
                  <a:prstClr val="black"/>
                </a:solidFill>
                <a:effectLst/>
                <a:uLnTx/>
                <a:uFillTx/>
                <a:latin typeface="Calibri"/>
                <a:ea typeface="+mn-ea"/>
                <a:cs typeface="+mn-cs"/>
              </a:rPr>
              <a:t>370 GW</a:t>
            </a:r>
          </a:p>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a:ln>
                  <a:noFill/>
                </a:ln>
                <a:solidFill>
                  <a:srgbClr val="007CB0"/>
                </a:solidFill>
                <a:effectLst/>
                <a:uLnTx/>
                <a:uFillTx/>
                <a:latin typeface="Calibri"/>
                <a:ea typeface="+mn-ea"/>
                <a:cs typeface="+mn-cs"/>
              </a:rPr>
              <a:t>RE:</a:t>
            </a:r>
          </a:p>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a:ln>
                  <a:noFill/>
                </a:ln>
                <a:solidFill>
                  <a:srgbClr val="007CB0"/>
                </a:solidFill>
                <a:effectLst/>
                <a:uLnTx/>
                <a:uFillTx/>
                <a:latin typeface="Calibri"/>
                <a:ea typeface="+mn-ea"/>
                <a:cs typeface="+mn-cs"/>
              </a:rPr>
              <a:t>87 GW</a:t>
            </a:r>
          </a:p>
        </p:txBody>
      </p:sp>
      <p:sp>
        <p:nvSpPr>
          <p:cNvPr id="60" name="Rectangle: Rounded Corners 59">
            <a:extLst>
              <a:ext uri="{FF2B5EF4-FFF2-40B4-BE49-F238E27FC236}">
                <a16:creationId xmlns:a16="http://schemas.microsoft.com/office/drawing/2014/main" id="{F61338A6-58B1-9D3D-5823-B29ADDD5BD55}"/>
              </a:ext>
            </a:extLst>
          </p:cNvPr>
          <p:cNvSpPr/>
          <p:nvPr/>
        </p:nvSpPr>
        <p:spPr bwMode="gray">
          <a:xfrm>
            <a:off x="9696831" y="5071718"/>
            <a:ext cx="1093106" cy="336395"/>
          </a:xfrm>
          <a:prstGeom prst="roundRect">
            <a:avLst/>
          </a:prstGeom>
          <a:no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a:ln>
                  <a:noFill/>
                </a:ln>
                <a:solidFill>
                  <a:prstClr val="black"/>
                </a:solidFill>
                <a:effectLst/>
                <a:uLnTx/>
                <a:uFillTx/>
                <a:latin typeface="Calibri"/>
                <a:ea typeface="+mn-ea"/>
                <a:cs typeface="+mn-cs"/>
              </a:rPr>
              <a:t>Total: </a:t>
            </a:r>
          </a:p>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0" i="0" u="none" strike="noStrike" kern="1200" cap="none" spc="0" normalizeH="0" baseline="0" noProof="0">
                <a:ln>
                  <a:noFill/>
                </a:ln>
                <a:solidFill>
                  <a:prstClr val="black"/>
                </a:solidFill>
                <a:effectLst/>
                <a:uLnTx/>
                <a:uFillTx/>
                <a:latin typeface="Calibri"/>
                <a:ea typeface="+mn-ea"/>
                <a:cs typeface="+mn-cs"/>
              </a:rPr>
              <a:t>475 GW</a:t>
            </a:r>
          </a:p>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a:ln>
                  <a:noFill/>
                </a:ln>
                <a:solidFill>
                  <a:srgbClr val="007CB0"/>
                </a:solidFill>
                <a:effectLst/>
                <a:uLnTx/>
                <a:uFillTx/>
                <a:latin typeface="Calibri"/>
                <a:ea typeface="+mn-ea"/>
                <a:cs typeface="+mn-cs"/>
              </a:rPr>
              <a:t>RE:</a:t>
            </a:r>
          </a:p>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a:ln>
                  <a:noFill/>
                </a:ln>
                <a:solidFill>
                  <a:srgbClr val="007CB0"/>
                </a:solidFill>
                <a:effectLst/>
                <a:uLnTx/>
                <a:uFillTx/>
                <a:latin typeface="Calibri"/>
                <a:ea typeface="+mn-ea"/>
                <a:cs typeface="+mn-cs"/>
              </a:rPr>
              <a:t>179 GW</a:t>
            </a:r>
          </a:p>
        </p:txBody>
      </p:sp>
      <p:sp>
        <p:nvSpPr>
          <p:cNvPr id="61" name="TextBox 60">
            <a:extLst>
              <a:ext uri="{FF2B5EF4-FFF2-40B4-BE49-F238E27FC236}">
                <a16:creationId xmlns:a16="http://schemas.microsoft.com/office/drawing/2014/main" id="{D3A085F4-F4D5-1AD0-20A0-A1BF6357C011}"/>
              </a:ext>
            </a:extLst>
          </p:cNvPr>
          <p:cNvSpPr txBox="1"/>
          <p:nvPr/>
        </p:nvSpPr>
        <p:spPr>
          <a:xfrm>
            <a:off x="2944225" y="4999130"/>
            <a:ext cx="606175" cy="66172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100" b="1" i="0" u="none" strike="noStrike" kern="1200" cap="none" spc="0" normalizeH="0" baseline="0" noProof="0">
                <a:ln>
                  <a:noFill/>
                </a:ln>
                <a:solidFill>
                  <a:srgbClr val="313131"/>
                </a:solidFill>
                <a:effectLst/>
                <a:uLnTx/>
                <a:uFillTx/>
                <a:latin typeface="Calibri"/>
                <a:ea typeface="+mn-ea"/>
                <a:cs typeface="+mn-cs"/>
              </a:rPr>
              <a:t>CAGR</a:t>
            </a:r>
          </a:p>
          <a:p>
            <a:pPr marL="0" marR="0" lvl="0" indent="0" algn="ctr" defTabSz="914400" rtl="0" eaLnBrk="1" fontAlgn="auto" latinLnBrk="0" hangingPunct="1">
              <a:lnSpc>
                <a:spcPct val="100000"/>
              </a:lnSpc>
              <a:spcBef>
                <a:spcPts val="600"/>
              </a:spcBef>
              <a:spcAft>
                <a:spcPts val="0"/>
              </a:spcAft>
              <a:buClrTx/>
              <a:buSzPct val="100000"/>
              <a:buFontTx/>
              <a:buNone/>
              <a:tabLst/>
              <a:defRPr/>
            </a:pPr>
            <a:endParaRPr kumimoji="0" lang="en-US" sz="1100" b="1" i="0" u="none" strike="noStrike" kern="1200" cap="none" spc="0" normalizeH="0" baseline="0" noProof="0">
              <a:ln>
                <a:noFill/>
              </a:ln>
              <a:solidFill>
                <a:srgbClr val="313131"/>
              </a:solidFill>
              <a:effectLst/>
              <a:uLnTx/>
              <a:uFillTx/>
              <a:latin typeface="Calibri"/>
              <a:ea typeface="+mn-ea"/>
              <a:cs typeface="+mn-cs"/>
            </a:endParaRPr>
          </a:p>
          <a:p>
            <a:pPr marL="0" marR="0" lvl="0" indent="0" algn="ctr" defTabSz="914400" rtl="0" eaLnBrk="1" fontAlgn="auto" latinLnBrk="0" hangingPunct="1">
              <a:lnSpc>
                <a:spcPct val="100000"/>
              </a:lnSpc>
              <a:spcBef>
                <a:spcPts val="600"/>
              </a:spcBef>
              <a:spcAft>
                <a:spcPts val="0"/>
              </a:spcAft>
              <a:buClrTx/>
              <a:buSzPct val="100000"/>
              <a:buFontTx/>
              <a:buNone/>
              <a:tabLst/>
              <a:defRPr/>
            </a:pPr>
            <a:r>
              <a:rPr lang="en-US" sz="1100" b="1">
                <a:solidFill>
                  <a:srgbClr val="313131"/>
                </a:solidFill>
                <a:latin typeface="Calibri"/>
              </a:rPr>
              <a:t>5.7</a:t>
            </a:r>
            <a:r>
              <a:rPr kumimoji="0" lang="en-US" sz="1100" b="1" i="0" u="none" strike="noStrike" kern="1200" cap="none" spc="0" normalizeH="0" baseline="0" noProof="0">
                <a:ln>
                  <a:noFill/>
                </a:ln>
                <a:solidFill>
                  <a:srgbClr val="313131"/>
                </a:solidFill>
                <a:effectLst/>
                <a:uLnTx/>
                <a:uFillTx/>
                <a:latin typeface="Calibri"/>
                <a:ea typeface="+mn-ea"/>
                <a:cs typeface="+mn-cs"/>
              </a:rPr>
              <a:t>%</a:t>
            </a:r>
          </a:p>
        </p:txBody>
      </p:sp>
      <p:sp>
        <p:nvSpPr>
          <p:cNvPr id="62" name="TextBox 61">
            <a:extLst>
              <a:ext uri="{FF2B5EF4-FFF2-40B4-BE49-F238E27FC236}">
                <a16:creationId xmlns:a16="http://schemas.microsoft.com/office/drawing/2014/main" id="{289C1718-1915-605A-5A54-9E02B84A2442}"/>
              </a:ext>
            </a:extLst>
          </p:cNvPr>
          <p:cNvSpPr txBox="1"/>
          <p:nvPr/>
        </p:nvSpPr>
        <p:spPr>
          <a:xfrm>
            <a:off x="8604273" y="5126560"/>
            <a:ext cx="606175" cy="66172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100" b="1" i="0" u="none" strike="noStrike" kern="1200" cap="none" spc="0" normalizeH="0" baseline="0" noProof="0">
                <a:ln>
                  <a:noFill/>
                </a:ln>
                <a:solidFill>
                  <a:srgbClr val="313131"/>
                </a:solidFill>
                <a:effectLst/>
                <a:uLnTx/>
                <a:uFillTx/>
                <a:latin typeface="Calibri"/>
                <a:ea typeface="+mn-ea"/>
                <a:cs typeface="+mn-cs"/>
              </a:rPr>
              <a:t>CAGR</a:t>
            </a:r>
          </a:p>
          <a:p>
            <a:pPr marL="0" marR="0" lvl="0" indent="0" algn="ctr" defTabSz="914400" rtl="0" eaLnBrk="1" fontAlgn="auto" latinLnBrk="0" hangingPunct="1">
              <a:lnSpc>
                <a:spcPct val="100000"/>
              </a:lnSpc>
              <a:spcBef>
                <a:spcPts val="600"/>
              </a:spcBef>
              <a:spcAft>
                <a:spcPts val="0"/>
              </a:spcAft>
              <a:buClrTx/>
              <a:buSzPct val="100000"/>
              <a:buFontTx/>
              <a:buNone/>
              <a:tabLst/>
              <a:defRPr/>
            </a:pPr>
            <a:endParaRPr kumimoji="0" lang="en-US" sz="1100" b="1" i="0" u="none" strike="noStrike" kern="1200" cap="none" spc="0" normalizeH="0" baseline="0" noProof="0">
              <a:ln>
                <a:noFill/>
              </a:ln>
              <a:solidFill>
                <a:srgbClr val="313131"/>
              </a:solidFill>
              <a:effectLst/>
              <a:uLnTx/>
              <a:uFillTx/>
              <a:latin typeface="Calibri"/>
              <a:ea typeface="+mn-ea"/>
              <a:cs typeface="+mn-cs"/>
            </a:endParaRPr>
          </a:p>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100" b="1" i="0" u="none" strike="noStrike" kern="1200" cap="none" spc="0" normalizeH="0" baseline="0" noProof="0">
                <a:ln>
                  <a:noFill/>
                </a:ln>
                <a:solidFill>
                  <a:srgbClr val="313131"/>
                </a:solidFill>
                <a:effectLst/>
                <a:uLnTx/>
                <a:uFillTx/>
                <a:latin typeface="Calibri"/>
                <a:ea typeface="+mn-ea"/>
                <a:cs typeface="+mn-cs"/>
              </a:rPr>
              <a:t>5+%</a:t>
            </a:r>
          </a:p>
        </p:txBody>
      </p:sp>
      <p:pic>
        <p:nvPicPr>
          <p:cNvPr id="63" name="Graphic 62" descr="Arrow: Straight with solid fill">
            <a:extLst>
              <a:ext uri="{FF2B5EF4-FFF2-40B4-BE49-F238E27FC236}">
                <a16:creationId xmlns:a16="http://schemas.microsoft.com/office/drawing/2014/main" id="{1786101B-F055-A32E-9333-EB6B8248ADD8}"/>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10800000">
            <a:off x="8613812" y="5282107"/>
            <a:ext cx="532679" cy="320492"/>
          </a:xfrm>
          <a:prstGeom prst="rect">
            <a:avLst/>
          </a:prstGeom>
        </p:spPr>
      </p:pic>
      <p:pic>
        <p:nvPicPr>
          <p:cNvPr id="64" name="Graphic 63" descr="Arrow: Straight with solid fill">
            <a:extLst>
              <a:ext uri="{FF2B5EF4-FFF2-40B4-BE49-F238E27FC236}">
                <a16:creationId xmlns:a16="http://schemas.microsoft.com/office/drawing/2014/main" id="{595CE693-A4CB-D94D-5ABD-6310E1F11FFA}"/>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10800000">
            <a:off x="2959648" y="5169744"/>
            <a:ext cx="532679" cy="320492"/>
          </a:xfrm>
          <a:prstGeom prst="rect">
            <a:avLst/>
          </a:prstGeom>
        </p:spPr>
      </p:pic>
      <p:sp>
        <p:nvSpPr>
          <p:cNvPr id="65" name="TextBox 64">
            <a:extLst>
              <a:ext uri="{FF2B5EF4-FFF2-40B4-BE49-F238E27FC236}">
                <a16:creationId xmlns:a16="http://schemas.microsoft.com/office/drawing/2014/main" id="{C3815921-FB14-04EF-753D-8802E66BEC5F}"/>
              </a:ext>
            </a:extLst>
          </p:cNvPr>
          <p:cNvSpPr txBox="1"/>
          <p:nvPr/>
        </p:nvSpPr>
        <p:spPr>
          <a:xfrm>
            <a:off x="4287834" y="1072024"/>
            <a:ext cx="3617206" cy="461665"/>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Calibri" panose="020F0502020204030204" pitchFamily="34" charset="0"/>
                <a:cs typeface="Calibri" panose="020F050202020403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rtl="0">
              <a:defRPr sz="1100" b="0" i="0" u="none" strike="noStrike" kern="1200" spc="0" baseline="0">
                <a:solidFill>
                  <a:prstClr val="black"/>
                </a:solidFill>
                <a:latin typeface="+mn-lt"/>
                <a:ea typeface="+mn-ea"/>
                <a:cs typeface="+mn-cs"/>
              </a:defRPr>
            </a:pPr>
            <a:r>
              <a:rPr lang="en-US" b="1" i="0" u="none" strike="noStrike" kern="1200" spc="0" baseline="0">
                <a:solidFill>
                  <a:schemeClr val="tx1"/>
                </a:solidFill>
                <a:latin typeface="Arial" panose="020B0604020202020204" pitchFamily="34" charset="0"/>
                <a:cs typeface="Arial" panose="020B0604020202020204" pitchFamily="34" charset="0"/>
              </a:rPr>
              <a:t>Electricity peak demand </a:t>
            </a:r>
          </a:p>
          <a:p>
            <a:pPr rtl="0">
              <a:spcBef>
                <a:spcPts val="0"/>
              </a:spcBef>
              <a:defRPr sz="1100" b="0" i="0" u="none" strike="noStrike" kern="1200" spc="0" baseline="0">
                <a:solidFill>
                  <a:prstClr val="black"/>
                </a:solidFill>
                <a:latin typeface="+mn-lt"/>
                <a:ea typeface="+mn-ea"/>
                <a:cs typeface="+mn-cs"/>
              </a:defRPr>
            </a:pPr>
            <a:r>
              <a:rPr lang="en-US">
                <a:solidFill>
                  <a:schemeClr val="tx1"/>
                </a:solidFill>
                <a:latin typeface="Arial" panose="020B0604020202020204" pitchFamily="34" charset="0"/>
                <a:cs typeface="Arial" panose="020B0604020202020204" pitchFamily="34" charset="0"/>
              </a:rPr>
              <a:t>FY20-25, </a:t>
            </a:r>
            <a:r>
              <a:rPr lang="en-US" i="0" u="none" strike="noStrike" kern="1200" spc="0" baseline="0">
                <a:solidFill>
                  <a:schemeClr val="tx1"/>
                </a:solidFill>
                <a:latin typeface="Arial" panose="020B0604020202020204" pitchFamily="34" charset="0"/>
                <a:cs typeface="Arial" panose="020B0604020202020204" pitchFamily="34" charset="0"/>
              </a:rPr>
              <a:t>GW</a:t>
            </a:r>
          </a:p>
        </p:txBody>
      </p:sp>
      <p:sp>
        <p:nvSpPr>
          <p:cNvPr id="66" name="TextBox 65">
            <a:extLst>
              <a:ext uri="{FF2B5EF4-FFF2-40B4-BE49-F238E27FC236}">
                <a16:creationId xmlns:a16="http://schemas.microsoft.com/office/drawing/2014/main" id="{EE08CEFA-C3C3-FC24-0E4A-F02C78F55B61}"/>
              </a:ext>
            </a:extLst>
          </p:cNvPr>
          <p:cNvSpPr txBox="1"/>
          <p:nvPr/>
        </p:nvSpPr>
        <p:spPr>
          <a:xfrm>
            <a:off x="8078074" y="1072024"/>
            <a:ext cx="3617206" cy="461665"/>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200" b="1" i="0" u="none" strike="noStrike" cap="none" spc="0" normalizeH="0" baseline="0">
                <a:ln>
                  <a:noFill/>
                </a:ln>
                <a:solidFill>
                  <a:prstClr val="black"/>
                </a:solidFill>
                <a:effectLst/>
                <a:uLnTx/>
                <a:uFillTx/>
                <a:latin typeface="Calibri" panose="020F0502020204030204" pitchFamily="34" charset="0"/>
                <a:cs typeface="Calibri" panose="020F0502020204030204" pitchFamily="34" charset="0"/>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rtl="0">
              <a:spcBef>
                <a:spcPts val="0"/>
              </a:spcBef>
              <a:defRPr sz="1100" b="0" i="0" u="none" strike="noStrike" kern="1200" spc="0" baseline="0">
                <a:solidFill>
                  <a:prstClr val="black"/>
                </a:solidFill>
                <a:latin typeface="+mn-lt"/>
                <a:ea typeface="+mn-ea"/>
                <a:cs typeface="+mn-cs"/>
              </a:defRPr>
            </a:pPr>
            <a:r>
              <a:rPr lang="en-US" sz="1200" b="1" i="0" u="none" strike="noStrike" kern="1200" spc="0" baseline="0">
                <a:solidFill>
                  <a:schemeClr val="tx1"/>
                </a:solidFill>
                <a:latin typeface="+mn-lt"/>
                <a:ea typeface="+mn-ea"/>
                <a:cs typeface="+mn-cs"/>
              </a:rPr>
              <a:t>Per capita electricity consumption</a:t>
            </a:r>
          </a:p>
          <a:p>
            <a:pPr rtl="0">
              <a:spcBef>
                <a:spcPts val="0"/>
              </a:spcBef>
              <a:defRPr sz="1100" b="0" i="0" u="none" strike="noStrike" kern="1200" spc="0" baseline="0">
                <a:solidFill>
                  <a:prstClr val="black"/>
                </a:solidFill>
                <a:latin typeface="+mn-lt"/>
                <a:ea typeface="+mn-ea"/>
                <a:cs typeface="+mn-cs"/>
              </a:defRPr>
            </a:pPr>
            <a:r>
              <a:rPr lang="en-US">
                <a:solidFill>
                  <a:schemeClr val="tx1"/>
                </a:solidFill>
                <a:latin typeface="+mn-lt"/>
                <a:cs typeface="+mn-cs"/>
              </a:rPr>
              <a:t>FY20-25, </a:t>
            </a:r>
            <a:r>
              <a:rPr lang="en-US" sz="1200" i="0" u="none" strike="noStrike" kern="1200" spc="0" baseline="0">
                <a:solidFill>
                  <a:schemeClr val="tx1"/>
                </a:solidFill>
                <a:latin typeface="+mn-lt"/>
                <a:ea typeface="+mn-ea"/>
                <a:cs typeface="+mn-cs"/>
              </a:rPr>
              <a:t>kWh</a:t>
            </a:r>
          </a:p>
        </p:txBody>
      </p:sp>
      <p:graphicFrame>
        <p:nvGraphicFramePr>
          <p:cNvPr id="71" name="Chart 70">
            <a:extLst>
              <a:ext uri="{FF2B5EF4-FFF2-40B4-BE49-F238E27FC236}">
                <a16:creationId xmlns:a16="http://schemas.microsoft.com/office/drawing/2014/main" id="{57A77D61-A516-288F-6CD4-777BAE6327A9}"/>
              </a:ext>
            </a:extLst>
          </p:cNvPr>
          <p:cNvGraphicFramePr/>
          <p:nvPr>
            <p:extLst>
              <p:ext uri="{D42A27DB-BD31-4B8C-83A1-F6EECF244321}">
                <p14:modId xmlns:p14="http://schemas.microsoft.com/office/powerpoint/2010/main" val="2962505048"/>
              </p:ext>
            </p:extLst>
          </p:nvPr>
        </p:nvGraphicFramePr>
        <p:xfrm>
          <a:off x="2469103" y="6139448"/>
          <a:ext cx="9782520" cy="218485"/>
        </p:xfrm>
        <a:graphic>
          <a:graphicData uri="http://schemas.openxmlformats.org/drawingml/2006/chart">
            <c:chart xmlns:c="http://schemas.openxmlformats.org/drawingml/2006/chart" xmlns:r="http://schemas.openxmlformats.org/officeDocument/2006/relationships" r:id="rId15"/>
          </a:graphicData>
        </a:graphic>
      </p:graphicFrame>
    </p:spTree>
    <p:extLst>
      <p:ext uri="{BB962C8B-B14F-4D97-AF65-F5344CB8AC3E}">
        <p14:creationId xmlns:p14="http://schemas.microsoft.com/office/powerpoint/2010/main" val="1812031450"/>
      </p:ext>
    </p:extLst>
  </p:cSld>
  <p:clrMapOvr>
    <a:masterClrMapping/>
  </p:clrMapOvr>
  <p:transition>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49292420"/>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24" imgW="415" imgH="416" progId="TCLayout.ActiveDocument.1">
                  <p:embed/>
                </p:oleObj>
              </mc:Choice>
              <mc:Fallback>
                <p:oleObj name="think-cell Slide" r:id="rId2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2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defTabSz="914400">
              <a:spcBef>
                <a:spcPts val="488"/>
              </a:spcBef>
              <a:buSzPct val="100000"/>
            </a:pPr>
            <a:r>
              <a:rPr lang="en-US" sz="2000" b="1">
                <a:latin typeface="Arial" panose="020B0604020202020204" pitchFamily="34" charset="0"/>
                <a:cs typeface="Arial" panose="020B0604020202020204" pitchFamily="34" charset="0"/>
              </a:rPr>
              <a:t>Electricity demand in India (2/2)</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Electricity demand is expected to grow at a CAGR of 5.5%from FY24–FY30, requiring additional ~621 TWh supply to meet FY30 demand</a:t>
            </a:r>
          </a:p>
        </p:txBody>
      </p:sp>
      <p:cxnSp>
        <p:nvCxnSpPr>
          <p:cNvPr id="8" name="Straight Connector 7">
            <a:extLst>
              <a:ext uri="{FF2B5EF4-FFF2-40B4-BE49-F238E27FC236}">
                <a16:creationId xmlns:a16="http://schemas.microsoft.com/office/drawing/2014/main" id="{081EBD2A-579A-0E4C-E34D-64B3F0D7E2CD}"/>
              </a:ext>
            </a:extLst>
          </p:cNvPr>
          <p:cNvCxnSpPr>
            <a:cxnSpLocks/>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a:spcBef>
                <a:spcPts val="488"/>
              </a:spcBef>
              <a:buSzPct val="100000"/>
            </a:pPr>
            <a:r>
              <a:rPr kumimoji="0" lang="en-IN" sz="1050" b="0" u="none" strike="noStrike" kern="1200" cap="none" spc="0" normalizeH="0" baseline="0" noProof="0">
                <a:ln>
                  <a:noFill/>
                </a:ln>
                <a:effectLst/>
                <a:uLnTx/>
                <a:uFillTx/>
                <a:latin typeface="Arial" panose="020B0604020202020204" pitchFamily="34" charset="0"/>
                <a:cs typeface="Arial" panose="020B0604020202020204" pitchFamily="34" charset="0"/>
              </a:rPr>
              <a:t>Sources: </a:t>
            </a:r>
            <a:r>
              <a:rPr lang="en-US" sz="1050">
                <a:latin typeface="Arial" panose="020B0604020202020204" pitchFamily="34" charset="0"/>
                <a:cs typeface="Arial" panose="020B0604020202020204" pitchFamily="34" charset="0"/>
              </a:rPr>
              <a:t>Central Electricity Authority (CEA), Ministry of Power (</a:t>
            </a:r>
            <a:r>
              <a:rPr lang="en-US" sz="1050" err="1">
                <a:latin typeface="Arial" panose="020B0604020202020204" pitchFamily="34" charset="0"/>
                <a:cs typeface="Arial" panose="020B0604020202020204" pitchFamily="34" charset="0"/>
              </a:rPr>
              <a:t>MoP</a:t>
            </a:r>
            <a:r>
              <a:rPr lang="en-US" sz="1050">
                <a:latin typeface="Arial" panose="020B0604020202020204" pitchFamily="34" charset="0"/>
                <a:cs typeface="Arial" panose="020B0604020202020204" pitchFamily="34" charset="0"/>
              </a:rPr>
              <a:t>), Ministry of New and Renewable Energy, (MNRE), Deloitte Analysis</a:t>
            </a:r>
          </a:p>
        </p:txBody>
      </p:sp>
      <p:sp>
        <p:nvSpPr>
          <p:cNvPr id="5" name="Rectangle 4">
            <a:extLst>
              <a:ext uri="{FF2B5EF4-FFF2-40B4-BE49-F238E27FC236}">
                <a16:creationId xmlns:a16="http://schemas.microsoft.com/office/drawing/2014/main" id="{B3FA5F0A-7883-B3CC-BA34-301E84BA4062}"/>
              </a:ext>
            </a:extLst>
          </p:cNvPr>
          <p:cNvSpPr/>
          <p:nvPr/>
        </p:nvSpPr>
        <p:spPr bwMode="gray">
          <a:xfrm>
            <a:off x="515787" y="4861924"/>
            <a:ext cx="11207181" cy="1236192"/>
          </a:xfrm>
          <a:prstGeom prst="rect">
            <a:avLst/>
          </a:prstGeom>
          <a:solidFill>
            <a:schemeClr val="bg1"/>
          </a:solidFill>
          <a:ln w="19050" algn="ctr">
            <a:noFill/>
            <a:miter lim="800000"/>
            <a:headEnd/>
            <a:tailEnd/>
          </a:ln>
        </p:spPr>
        <p:txBody>
          <a:bodyPr wrap="square" lIns="72231" tIns="72231" rIns="72231" bIns="72231" rtlCol="0" anchor="ctr"/>
          <a:lstStyle/>
          <a:p>
            <a:pPr marL="139303" indent="-139303">
              <a:lnSpc>
                <a:spcPct val="106000"/>
              </a:lnSpc>
              <a:spcAft>
                <a:spcPts val="600"/>
              </a:spcAft>
              <a:buFont typeface="Arial" panose="020B0604020202020204" pitchFamily="34" charset="0"/>
              <a:buChar char="•"/>
            </a:pPr>
            <a:r>
              <a:rPr lang="en-US" sz="1200" b="1">
                <a:latin typeface="Arial" panose="020B0604020202020204" pitchFamily="34" charset="0"/>
                <a:cs typeface="Arial" panose="020B0604020202020204" pitchFamily="34" charset="0"/>
              </a:rPr>
              <a:t>India’s GDP grew at a CAGR of ~5.5% between FY16 and FY24</a:t>
            </a:r>
            <a:r>
              <a:rPr lang="en-US" sz="1200">
                <a:latin typeface="Arial" panose="020B0604020202020204" pitchFamily="34" charset="0"/>
                <a:cs typeface="Arial" panose="020B0604020202020204" pitchFamily="34" charset="0"/>
              </a:rPr>
              <a:t>, even with the slowdown during the COVID-19 period. This indicates a resilient and steadily growing economy over the eight-year span, despite the significant economic challenges posed by the pandemic</a:t>
            </a:r>
          </a:p>
          <a:p>
            <a:pPr marL="139303" indent="-139303">
              <a:lnSpc>
                <a:spcPct val="106000"/>
              </a:lnSpc>
              <a:spcAft>
                <a:spcPts val="600"/>
              </a:spcAft>
              <a:buFont typeface="Arial" panose="020B0604020202020204" pitchFamily="34" charset="0"/>
              <a:buChar char="•"/>
            </a:pPr>
            <a:r>
              <a:rPr lang="en-US" sz="1200">
                <a:latin typeface="Arial" panose="020B0604020202020204" pitchFamily="34" charset="0"/>
                <a:cs typeface="Arial" panose="020B0604020202020204" pitchFamily="34" charset="0"/>
              </a:rPr>
              <a:t>Historically, the </a:t>
            </a:r>
            <a:r>
              <a:rPr lang="en-US" sz="1200" b="1">
                <a:latin typeface="Arial" panose="020B0604020202020204" pitchFamily="34" charset="0"/>
                <a:cs typeface="Arial" panose="020B0604020202020204" pitchFamily="34" charset="0"/>
              </a:rPr>
              <a:t>demand for electricity grew at a rate of ~0.9 times the GDP growth rate</a:t>
            </a:r>
          </a:p>
          <a:p>
            <a:pPr marL="139303" indent="-139303">
              <a:lnSpc>
                <a:spcPct val="106000"/>
              </a:lnSpc>
              <a:spcAft>
                <a:spcPts val="600"/>
              </a:spcAft>
              <a:buFont typeface="Arial" panose="020B0604020202020204" pitchFamily="34" charset="0"/>
              <a:buChar char="•"/>
            </a:pPr>
            <a:r>
              <a:rPr lang="en-US" sz="1200">
                <a:latin typeface="Arial" panose="020B0604020202020204" pitchFamily="34" charset="0"/>
                <a:cs typeface="Arial" panose="020B0604020202020204" pitchFamily="34" charset="0"/>
              </a:rPr>
              <a:t>At the same time, India steadily </a:t>
            </a:r>
            <a:r>
              <a:rPr lang="en-US" sz="1200" b="1">
                <a:latin typeface="Arial" panose="020B0604020202020204" pitchFamily="34" charset="0"/>
                <a:cs typeface="Arial" panose="020B0604020202020204" pitchFamily="34" charset="0"/>
              </a:rPr>
              <a:t>reduced the demand-supply deficit from ~2.1% in FY16 to 0.4% in FY24 </a:t>
            </a:r>
            <a:r>
              <a:rPr lang="en-US" sz="1200">
                <a:latin typeface="Arial" panose="020B0604020202020204" pitchFamily="34" charset="0"/>
                <a:cs typeface="Arial" panose="020B0604020202020204" pitchFamily="34" charset="0"/>
              </a:rPr>
              <a:t>by increasing the power generation capacity.</a:t>
            </a:r>
          </a:p>
        </p:txBody>
      </p:sp>
      <p:cxnSp>
        <p:nvCxnSpPr>
          <p:cNvPr id="7" name="Straight Arrow Connector 6">
            <a:extLst>
              <a:ext uri="{FF2B5EF4-FFF2-40B4-BE49-F238E27FC236}">
                <a16:creationId xmlns:a16="http://schemas.microsoft.com/office/drawing/2014/main" id="{599E7AE4-E91E-9C03-4F6E-50D77815135C}"/>
              </a:ext>
            </a:extLst>
          </p:cNvPr>
          <p:cNvCxnSpPr>
            <a:cxnSpLocks/>
            <a:stCxn id="33" idx="3"/>
            <a:endCxn id="42" idx="1"/>
          </p:cNvCxnSpPr>
          <p:nvPr/>
        </p:nvCxnSpPr>
        <p:spPr>
          <a:xfrm>
            <a:off x="906642" y="4590506"/>
            <a:ext cx="4690172" cy="4513"/>
          </a:xfrm>
          <a:prstGeom prst="straightConnector1">
            <a:avLst/>
          </a:prstGeom>
          <a:ln>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graphicFrame>
        <p:nvGraphicFramePr>
          <p:cNvPr id="9" name="Chart 8">
            <a:extLst>
              <a:ext uri="{FF2B5EF4-FFF2-40B4-BE49-F238E27FC236}">
                <a16:creationId xmlns:a16="http://schemas.microsoft.com/office/drawing/2014/main" id="{5843C5AA-CB4D-A4ED-3EA2-3FF7EFDD3BE1}"/>
              </a:ext>
            </a:extLst>
          </p:cNvPr>
          <p:cNvGraphicFramePr/>
          <p:nvPr>
            <p:custDataLst>
              <p:tags r:id="rId2"/>
            </p:custDataLst>
            <p:extLst>
              <p:ext uri="{D42A27DB-BD31-4B8C-83A1-F6EECF244321}">
                <p14:modId xmlns:p14="http://schemas.microsoft.com/office/powerpoint/2010/main" val="2081794710"/>
              </p:ext>
            </p:extLst>
          </p:nvPr>
        </p:nvGraphicFramePr>
        <p:xfrm>
          <a:off x="495300" y="1663223"/>
          <a:ext cx="11215142" cy="2654480"/>
        </p:xfrm>
        <a:graphic>
          <a:graphicData uri="http://schemas.openxmlformats.org/drawingml/2006/chart">
            <c:chart xmlns:c="http://schemas.openxmlformats.org/drawingml/2006/chart" xmlns:r="http://schemas.openxmlformats.org/officeDocument/2006/relationships" r:id="rId26"/>
          </a:graphicData>
        </a:graphic>
      </p:graphicFrame>
      <p:sp>
        <p:nvSpPr>
          <p:cNvPr id="19" name="Text Placeholder 18">
            <a:extLst>
              <a:ext uri="{FF2B5EF4-FFF2-40B4-BE49-F238E27FC236}">
                <a16:creationId xmlns:a16="http://schemas.microsoft.com/office/drawing/2014/main" id="{A567905D-09CF-F946-F495-3981477EB9A5}"/>
              </a:ext>
            </a:extLst>
          </p:cNvPr>
          <p:cNvSpPr>
            <a:spLocks noGrp="1"/>
          </p:cNvSpPr>
          <p:nvPr>
            <p:custDataLst>
              <p:tags r:id="rId3"/>
            </p:custDataLst>
          </p:nvPr>
        </p:nvSpPr>
        <p:spPr bwMode="auto">
          <a:xfrm>
            <a:off x="908352" y="4321010"/>
            <a:ext cx="308354"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90B1270-F6F6-43D9-9353-F602F0C6F392}" type="datetime'''''''''''''''''''''''''''''''''''F''''''''''''''Y''''16'''''">
              <a:rPr lang="en-IN" altLang="en-US" sz="1000">
                <a:latin typeface="Arial" panose="020B0604020202020204" pitchFamily="34" charset="0"/>
                <a:cs typeface="Arial" panose="020B0604020202020204" pitchFamily="34" charset="0"/>
              </a:rPr>
              <a:pPr lvl="0" algn="ctr">
                <a:spcBef>
                  <a:spcPct val="0"/>
                </a:spcBef>
                <a:spcAft>
                  <a:spcPct val="0"/>
                </a:spcAft>
              </a:pPr>
              <a:t>FY16</a:t>
            </a:fld>
            <a:endParaRPr lang="en-IN" sz="1000">
              <a:latin typeface="Arial" panose="020B0604020202020204" pitchFamily="34" charset="0"/>
              <a:cs typeface="Arial" panose="020B0604020202020204" pitchFamily="34" charset="0"/>
            </a:endParaRPr>
          </a:p>
        </p:txBody>
      </p:sp>
      <p:sp>
        <p:nvSpPr>
          <p:cNvPr id="20" name="Text Placeholder 18">
            <a:extLst>
              <a:ext uri="{FF2B5EF4-FFF2-40B4-BE49-F238E27FC236}">
                <a16:creationId xmlns:a16="http://schemas.microsoft.com/office/drawing/2014/main" id="{4252FC1E-E91A-118B-1320-2B4BAE036D46}"/>
              </a:ext>
            </a:extLst>
          </p:cNvPr>
          <p:cNvSpPr>
            <a:spLocks noGrp="1"/>
          </p:cNvSpPr>
          <p:nvPr>
            <p:custDataLst>
              <p:tags r:id="rId4"/>
            </p:custDataLst>
          </p:nvPr>
        </p:nvSpPr>
        <p:spPr bwMode="auto">
          <a:xfrm>
            <a:off x="2366401" y="4321010"/>
            <a:ext cx="308354"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D321ACB-371B-4EA3-A0B8-E6F7EAFFA6F6}" type="datetime'''''''''''''''''''''''''''''''''''F''''''Y''''''1''''''9'''''">
              <a:rPr lang="en-IN" altLang="en-US" sz="1000">
                <a:latin typeface="Arial" panose="020B0604020202020204" pitchFamily="34" charset="0"/>
                <a:cs typeface="Arial" panose="020B0604020202020204" pitchFamily="34" charset="0"/>
              </a:rPr>
              <a:pPr lvl="0" algn="ctr">
                <a:spcBef>
                  <a:spcPct val="0"/>
                </a:spcBef>
                <a:spcAft>
                  <a:spcPct val="0"/>
                </a:spcAft>
              </a:pPr>
              <a:t>FY19</a:t>
            </a:fld>
            <a:endParaRPr lang="en-IN" sz="1000">
              <a:latin typeface="Arial" panose="020B0604020202020204" pitchFamily="34" charset="0"/>
              <a:cs typeface="Arial" panose="020B0604020202020204" pitchFamily="34" charset="0"/>
            </a:endParaRPr>
          </a:p>
        </p:txBody>
      </p:sp>
      <p:sp>
        <p:nvSpPr>
          <p:cNvPr id="21" name="Text Placeholder 18">
            <a:extLst>
              <a:ext uri="{FF2B5EF4-FFF2-40B4-BE49-F238E27FC236}">
                <a16:creationId xmlns:a16="http://schemas.microsoft.com/office/drawing/2014/main" id="{31342A3F-C391-997F-E9DA-3B8D862D5789}"/>
              </a:ext>
            </a:extLst>
          </p:cNvPr>
          <p:cNvSpPr>
            <a:spLocks noGrp="1"/>
          </p:cNvSpPr>
          <p:nvPr>
            <p:custDataLst>
              <p:tags r:id="rId5"/>
            </p:custDataLst>
          </p:nvPr>
        </p:nvSpPr>
        <p:spPr bwMode="auto">
          <a:xfrm>
            <a:off x="3769702" y="4321010"/>
            <a:ext cx="308354"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28B32D4-3BF5-45CB-83AD-C55AD8829964}" type="datetime'''''''''''''''F''''''''Y''''''''2''2'''''''''''''''''''">
              <a:rPr lang="en-IN" altLang="en-US" sz="1000">
                <a:latin typeface="Arial" panose="020B0604020202020204" pitchFamily="34" charset="0"/>
                <a:cs typeface="Arial" panose="020B0604020202020204" pitchFamily="34" charset="0"/>
              </a:rPr>
              <a:pPr lvl="0" algn="ctr">
                <a:spcBef>
                  <a:spcPct val="0"/>
                </a:spcBef>
                <a:spcAft>
                  <a:spcPct val="0"/>
                </a:spcAft>
              </a:pPr>
              <a:t>FY22</a:t>
            </a:fld>
            <a:endParaRPr lang="en-IN" sz="1000">
              <a:latin typeface="Arial" panose="020B0604020202020204" pitchFamily="34" charset="0"/>
              <a:cs typeface="Arial" panose="020B0604020202020204" pitchFamily="34" charset="0"/>
            </a:endParaRPr>
          </a:p>
        </p:txBody>
      </p:sp>
      <p:sp>
        <p:nvSpPr>
          <p:cNvPr id="22" name="Text Placeholder 18">
            <a:extLst>
              <a:ext uri="{FF2B5EF4-FFF2-40B4-BE49-F238E27FC236}">
                <a16:creationId xmlns:a16="http://schemas.microsoft.com/office/drawing/2014/main" id="{12A29946-DA52-63F5-8DF5-EF7A5FD0262F}"/>
              </a:ext>
            </a:extLst>
          </p:cNvPr>
          <p:cNvSpPr>
            <a:spLocks noGrp="1"/>
          </p:cNvSpPr>
          <p:nvPr>
            <p:custDataLst>
              <p:tags r:id="rId6"/>
            </p:custDataLst>
          </p:nvPr>
        </p:nvSpPr>
        <p:spPr bwMode="auto">
          <a:xfrm>
            <a:off x="5189348" y="4321010"/>
            <a:ext cx="308354"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F9F2A8D-025E-4131-B360-DA52259B0B5D}" type="datetime'''FY''2''''''''''''3'''''''''''''">
              <a:rPr lang="en-IN" altLang="en-US" sz="1000">
                <a:latin typeface="Arial" panose="020B0604020202020204" pitchFamily="34" charset="0"/>
                <a:cs typeface="Arial" panose="020B0604020202020204" pitchFamily="34" charset="0"/>
              </a:rPr>
              <a:pPr lvl="0" algn="ctr">
                <a:spcBef>
                  <a:spcPct val="0"/>
                </a:spcBef>
                <a:spcAft>
                  <a:spcPct val="0"/>
                </a:spcAft>
              </a:pPr>
              <a:t>FY23</a:t>
            </a:fld>
            <a:endParaRPr lang="en-IN" sz="1000">
              <a:latin typeface="Arial" panose="020B0604020202020204" pitchFamily="34" charset="0"/>
              <a:cs typeface="Arial" panose="020B0604020202020204" pitchFamily="34" charset="0"/>
            </a:endParaRPr>
          </a:p>
        </p:txBody>
      </p:sp>
      <p:sp>
        <p:nvSpPr>
          <p:cNvPr id="23" name="Text Placeholder 18">
            <a:extLst>
              <a:ext uri="{FF2B5EF4-FFF2-40B4-BE49-F238E27FC236}">
                <a16:creationId xmlns:a16="http://schemas.microsoft.com/office/drawing/2014/main" id="{E9E43694-2446-B38A-D05B-A9B899C4B26C}"/>
              </a:ext>
            </a:extLst>
          </p:cNvPr>
          <p:cNvSpPr>
            <a:spLocks noGrp="1"/>
          </p:cNvSpPr>
          <p:nvPr>
            <p:custDataLst>
              <p:tags r:id="rId7"/>
            </p:custDataLst>
          </p:nvPr>
        </p:nvSpPr>
        <p:spPr bwMode="auto">
          <a:xfrm>
            <a:off x="6631052" y="4321010"/>
            <a:ext cx="308354"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9F99139-9CA3-4C15-A7B4-F1C7F4D11AA5}" type="datetime'''''''''''''''''''''F''''''''''''Y''2''''''''''''''''4'''''">
              <a:rPr lang="en-IN" altLang="en-US" sz="1000">
                <a:latin typeface="Arial" panose="020B0604020202020204" pitchFamily="34" charset="0"/>
                <a:cs typeface="Arial" panose="020B0604020202020204" pitchFamily="34" charset="0"/>
              </a:rPr>
              <a:pPr lvl="0" algn="ctr">
                <a:spcBef>
                  <a:spcPct val="0"/>
                </a:spcBef>
                <a:spcAft>
                  <a:spcPct val="0"/>
                </a:spcAft>
              </a:pPr>
              <a:t>FY24</a:t>
            </a:fld>
            <a:endParaRPr lang="en-IN" sz="1000">
              <a:latin typeface="Arial" panose="020B0604020202020204" pitchFamily="34" charset="0"/>
              <a:cs typeface="Arial" panose="020B0604020202020204" pitchFamily="34" charset="0"/>
            </a:endParaRPr>
          </a:p>
        </p:txBody>
      </p:sp>
      <p:sp>
        <p:nvSpPr>
          <p:cNvPr id="24" name="Text Placeholder 18">
            <a:extLst>
              <a:ext uri="{FF2B5EF4-FFF2-40B4-BE49-F238E27FC236}">
                <a16:creationId xmlns:a16="http://schemas.microsoft.com/office/drawing/2014/main" id="{D4966BF7-2FAB-6BC6-ABFF-5D736D4E1B4C}"/>
              </a:ext>
            </a:extLst>
          </p:cNvPr>
          <p:cNvSpPr>
            <a:spLocks noGrp="1"/>
          </p:cNvSpPr>
          <p:nvPr>
            <p:custDataLst>
              <p:tags r:id="rId8"/>
            </p:custDataLst>
          </p:nvPr>
        </p:nvSpPr>
        <p:spPr bwMode="auto">
          <a:xfrm>
            <a:off x="9298750" y="4321010"/>
            <a:ext cx="386616"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6E95654B-9128-449D-9258-9E99A0A21C3B}" type="datetime'F''''Y''3''''''0''''''''''P'''''''''''''''''''''''''''''''''''">
              <a:rPr lang="en-IN" altLang="en-US" sz="1000">
                <a:latin typeface="Arial" panose="020B0604020202020204" pitchFamily="34" charset="0"/>
                <a:cs typeface="Arial" panose="020B0604020202020204" pitchFamily="34" charset="0"/>
              </a:rPr>
              <a:pPr lvl="0" algn="ctr">
                <a:spcBef>
                  <a:spcPct val="0"/>
                </a:spcBef>
                <a:spcAft>
                  <a:spcPct val="0"/>
                </a:spcAft>
              </a:pPr>
              <a:t>FY30P</a:t>
            </a:fld>
            <a:endParaRPr lang="en-IN" sz="1000">
              <a:latin typeface="Arial" panose="020B0604020202020204" pitchFamily="34" charset="0"/>
              <a:cs typeface="Arial" panose="020B0604020202020204" pitchFamily="34" charset="0"/>
            </a:endParaRPr>
          </a:p>
        </p:txBody>
      </p:sp>
      <p:sp>
        <p:nvSpPr>
          <p:cNvPr id="25" name="Text Placeholder 18">
            <a:extLst>
              <a:ext uri="{FF2B5EF4-FFF2-40B4-BE49-F238E27FC236}">
                <a16:creationId xmlns:a16="http://schemas.microsoft.com/office/drawing/2014/main" id="{1F5D5453-EC0E-73D5-B56F-6CBDC96DF030}"/>
              </a:ext>
            </a:extLst>
          </p:cNvPr>
          <p:cNvSpPr>
            <a:spLocks noGrp="1"/>
          </p:cNvSpPr>
          <p:nvPr>
            <p:custDataLst>
              <p:tags r:id="rId9"/>
            </p:custDataLst>
          </p:nvPr>
        </p:nvSpPr>
        <p:spPr bwMode="auto">
          <a:xfrm>
            <a:off x="10757396" y="4321010"/>
            <a:ext cx="386616"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9C3D721-35B2-42D6-A77F-408AE3958B38}" type="datetime'F''''''Y''''''''''''''''''''3''''''''5''''''P'''">
              <a:rPr lang="en-IN" altLang="en-US" sz="1000">
                <a:latin typeface="Arial" panose="020B0604020202020204" pitchFamily="34" charset="0"/>
                <a:cs typeface="Arial" panose="020B0604020202020204" pitchFamily="34" charset="0"/>
              </a:rPr>
              <a:pPr lvl="0" algn="ctr">
                <a:spcBef>
                  <a:spcPct val="0"/>
                </a:spcBef>
                <a:spcAft>
                  <a:spcPct val="0"/>
                </a:spcAft>
              </a:pPr>
              <a:t>FY35P</a:t>
            </a:fld>
            <a:endParaRPr lang="en-IN" sz="1000">
              <a:latin typeface="Arial" panose="020B0604020202020204" pitchFamily="34" charset="0"/>
              <a:cs typeface="Arial" panose="020B0604020202020204" pitchFamily="34" charset="0"/>
            </a:endParaRPr>
          </a:p>
        </p:txBody>
      </p:sp>
      <p:sp>
        <p:nvSpPr>
          <p:cNvPr id="26" name="Text Placeholder 18">
            <a:extLst>
              <a:ext uri="{FF2B5EF4-FFF2-40B4-BE49-F238E27FC236}">
                <a16:creationId xmlns:a16="http://schemas.microsoft.com/office/drawing/2014/main" id="{29DFABE3-8352-D3B4-A5FD-D27E4A977AF5}"/>
              </a:ext>
            </a:extLst>
          </p:cNvPr>
          <p:cNvSpPr>
            <a:spLocks noGrp="1"/>
          </p:cNvSpPr>
          <p:nvPr>
            <p:custDataLst>
              <p:tags r:id="rId10"/>
            </p:custDataLst>
          </p:nvPr>
        </p:nvSpPr>
        <p:spPr bwMode="auto">
          <a:xfrm>
            <a:off x="2893382" y="2412311"/>
            <a:ext cx="972017" cy="210245"/>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1000" b="1">
                <a:latin typeface="Arial" panose="020B0604020202020204" pitchFamily="34" charset="0"/>
                <a:cs typeface="Arial" panose="020B0604020202020204" pitchFamily="34" charset="0"/>
              </a:rPr>
              <a:t>4.9% CAGR</a:t>
            </a:r>
            <a:endParaRPr lang="en-IN" sz="1000" b="1">
              <a:latin typeface="Arial" panose="020B0604020202020204" pitchFamily="34" charset="0"/>
              <a:cs typeface="Arial" panose="020B0604020202020204" pitchFamily="34" charset="0"/>
            </a:endParaRPr>
          </a:p>
        </p:txBody>
      </p:sp>
      <p:sp>
        <p:nvSpPr>
          <p:cNvPr id="28" name="Text Placeholder 18">
            <a:extLst>
              <a:ext uri="{FF2B5EF4-FFF2-40B4-BE49-F238E27FC236}">
                <a16:creationId xmlns:a16="http://schemas.microsoft.com/office/drawing/2014/main" id="{1FEB33F7-4B18-B0E0-DCB8-C48081700750}"/>
              </a:ext>
            </a:extLst>
          </p:cNvPr>
          <p:cNvSpPr>
            <a:spLocks noGrp="1"/>
          </p:cNvSpPr>
          <p:nvPr>
            <p:custDataLst>
              <p:tags r:id="rId11"/>
            </p:custDataLst>
          </p:nvPr>
        </p:nvSpPr>
        <p:spPr bwMode="auto">
          <a:xfrm>
            <a:off x="9916960" y="1835207"/>
            <a:ext cx="536879" cy="210245"/>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DBD25425-505E-436B-B33D-6D15430A526B}" type="datetime'+''''4.''''''''''''5''''''''%'''''''''''">
              <a:rPr lang="en-IN" altLang="en-US" sz="1000" b="1">
                <a:latin typeface="Arial" panose="020B0604020202020204" pitchFamily="34" charset="0"/>
                <a:cs typeface="Arial" panose="020B0604020202020204" pitchFamily="34" charset="0"/>
              </a:rPr>
              <a:pPr lvl="0" algn="ctr">
                <a:spcBef>
                  <a:spcPct val="0"/>
                </a:spcBef>
                <a:spcAft>
                  <a:spcPct val="0"/>
                </a:spcAft>
              </a:pPr>
              <a:t>+4.5%</a:t>
            </a:fld>
            <a:endParaRPr lang="en-IN" sz="1000" b="1">
              <a:latin typeface="Arial" panose="020B0604020202020204" pitchFamily="34" charset="0"/>
              <a:cs typeface="Arial" panose="020B0604020202020204" pitchFamily="34" charset="0"/>
            </a:endParaRPr>
          </a:p>
        </p:txBody>
      </p:sp>
      <p:sp>
        <p:nvSpPr>
          <p:cNvPr id="33" name="Text Placeholder 18">
            <a:extLst>
              <a:ext uri="{FF2B5EF4-FFF2-40B4-BE49-F238E27FC236}">
                <a16:creationId xmlns:a16="http://schemas.microsoft.com/office/drawing/2014/main" id="{EA75CF0B-2CC1-0ABC-F528-24DB6591AEA6}"/>
              </a:ext>
            </a:extLst>
          </p:cNvPr>
          <p:cNvSpPr>
            <a:spLocks noGrp="1"/>
          </p:cNvSpPr>
          <p:nvPr>
            <p:custDataLst>
              <p:tags r:id="rId12"/>
            </p:custDataLst>
          </p:nvPr>
        </p:nvSpPr>
        <p:spPr bwMode="auto">
          <a:xfrm>
            <a:off x="546775" y="4508600"/>
            <a:ext cx="359867" cy="163811"/>
          </a:xfrm>
          <a:prstGeom prst="rect">
            <a:avLst/>
          </a:prstGeom>
          <a:solidFill>
            <a:srgbClr val="005587"/>
          </a:solidFill>
          <a:ln>
            <a:noFill/>
          </a:ln>
          <a:effectLst/>
        </p:spPr>
        <p:txBody>
          <a:bodyPr vert="horz" wrap="none" lIns="1290" tIns="7739" rIns="0" bIns="7739"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900" b="1">
                <a:solidFill>
                  <a:srgbClr val="FFFFFF"/>
                </a:solidFill>
                <a:latin typeface="Arial" panose="020B0604020202020204" pitchFamily="34" charset="0"/>
                <a:cs typeface="Arial" panose="020B0604020202020204" pitchFamily="34" charset="0"/>
              </a:rPr>
              <a:t>2.1%</a:t>
            </a:r>
            <a:endParaRPr lang="en-IN" sz="900" b="1">
              <a:solidFill>
                <a:srgbClr val="FFFFFF"/>
              </a:solidFill>
              <a:latin typeface="Arial" panose="020B0604020202020204" pitchFamily="34" charset="0"/>
              <a:cs typeface="Arial" panose="020B0604020202020204" pitchFamily="34" charset="0"/>
            </a:endParaRPr>
          </a:p>
        </p:txBody>
      </p:sp>
      <p:sp>
        <p:nvSpPr>
          <p:cNvPr id="34" name="Text Placeholder 18">
            <a:extLst>
              <a:ext uri="{FF2B5EF4-FFF2-40B4-BE49-F238E27FC236}">
                <a16:creationId xmlns:a16="http://schemas.microsoft.com/office/drawing/2014/main" id="{5B586C72-EEA7-52FD-E104-1B0D5226CB9E}"/>
              </a:ext>
            </a:extLst>
          </p:cNvPr>
          <p:cNvSpPr>
            <a:spLocks noGrp="1"/>
          </p:cNvSpPr>
          <p:nvPr>
            <p:custDataLst>
              <p:tags r:id="rId13"/>
            </p:custDataLst>
          </p:nvPr>
        </p:nvSpPr>
        <p:spPr bwMode="auto">
          <a:xfrm>
            <a:off x="1791383" y="4517628"/>
            <a:ext cx="395982" cy="154781"/>
          </a:xfrm>
          <a:prstGeom prst="rect">
            <a:avLst/>
          </a:prstGeom>
          <a:solidFill>
            <a:srgbClr val="005587"/>
          </a:solidFill>
          <a:ln>
            <a:noFill/>
          </a:ln>
          <a:effectLst/>
        </p:spPr>
        <p:txBody>
          <a:bodyPr vert="horz" wrap="none" lIns="0" tIns="3870" rIns="0" bIns="258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900" b="1">
                <a:solidFill>
                  <a:srgbClr val="FFFFFF"/>
                </a:solidFill>
                <a:latin typeface="Arial" panose="020B0604020202020204" pitchFamily="34" charset="0"/>
                <a:cs typeface="Arial" panose="020B0604020202020204" pitchFamily="34" charset="0"/>
              </a:rPr>
              <a:t>0.6%</a:t>
            </a:r>
            <a:endParaRPr lang="en-IN" sz="900" b="1">
              <a:solidFill>
                <a:srgbClr val="FFFFFF"/>
              </a:solidFill>
              <a:latin typeface="Arial" panose="020B0604020202020204" pitchFamily="34" charset="0"/>
              <a:cs typeface="Arial" panose="020B0604020202020204" pitchFamily="34" charset="0"/>
            </a:endParaRPr>
          </a:p>
        </p:txBody>
      </p:sp>
      <p:sp>
        <p:nvSpPr>
          <p:cNvPr id="35" name="Text Placeholder 18">
            <a:extLst>
              <a:ext uri="{FF2B5EF4-FFF2-40B4-BE49-F238E27FC236}">
                <a16:creationId xmlns:a16="http://schemas.microsoft.com/office/drawing/2014/main" id="{7CC5E8DD-21B9-BC70-CA45-29D80E2238DC}"/>
              </a:ext>
            </a:extLst>
          </p:cNvPr>
          <p:cNvSpPr>
            <a:spLocks noGrp="1"/>
          </p:cNvSpPr>
          <p:nvPr>
            <p:custDataLst>
              <p:tags r:id="rId14"/>
            </p:custDataLst>
          </p:nvPr>
        </p:nvSpPr>
        <p:spPr bwMode="auto">
          <a:xfrm>
            <a:off x="3059985" y="4526657"/>
            <a:ext cx="395982" cy="145753"/>
          </a:xfrm>
          <a:prstGeom prst="rect">
            <a:avLst/>
          </a:prstGeom>
          <a:solidFill>
            <a:srgbClr val="005587"/>
          </a:solidFill>
          <a:ln>
            <a:noFill/>
          </a:ln>
          <a:effec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900" b="1">
                <a:solidFill>
                  <a:srgbClr val="FFFFFF"/>
                </a:solidFill>
                <a:latin typeface="Arial" panose="020B0604020202020204" pitchFamily="34" charset="0"/>
                <a:cs typeface="Arial" panose="020B0604020202020204" pitchFamily="34" charset="0"/>
              </a:rPr>
              <a:t>0.4%</a:t>
            </a:r>
            <a:endParaRPr lang="en-IN" sz="900" b="1">
              <a:solidFill>
                <a:srgbClr val="FFFFFF"/>
              </a:solidFill>
              <a:latin typeface="Arial" panose="020B0604020202020204" pitchFamily="34" charset="0"/>
              <a:cs typeface="Arial" panose="020B0604020202020204" pitchFamily="34" charset="0"/>
            </a:endParaRPr>
          </a:p>
        </p:txBody>
      </p:sp>
      <p:sp>
        <p:nvSpPr>
          <p:cNvPr id="41" name="Text Placeholder 18">
            <a:extLst>
              <a:ext uri="{FF2B5EF4-FFF2-40B4-BE49-F238E27FC236}">
                <a16:creationId xmlns:a16="http://schemas.microsoft.com/office/drawing/2014/main" id="{630F79C5-8E85-5F68-B90A-7C6693A2979C}"/>
              </a:ext>
            </a:extLst>
          </p:cNvPr>
          <p:cNvSpPr>
            <a:spLocks noGrp="1"/>
          </p:cNvSpPr>
          <p:nvPr>
            <p:custDataLst>
              <p:tags r:id="rId15"/>
            </p:custDataLst>
          </p:nvPr>
        </p:nvSpPr>
        <p:spPr bwMode="auto">
          <a:xfrm>
            <a:off x="4328203" y="4517628"/>
            <a:ext cx="395982" cy="154781"/>
          </a:xfrm>
          <a:prstGeom prst="rect">
            <a:avLst/>
          </a:prstGeom>
          <a:solidFill>
            <a:srgbClr val="005587"/>
          </a:solidFill>
          <a:ln>
            <a:noFill/>
          </a:ln>
          <a:effectLst/>
        </p:spPr>
        <p:txBody>
          <a:bodyPr vert="horz" wrap="none" lIns="0" tIns="3870" rIns="0" bIns="258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900" b="1">
                <a:solidFill>
                  <a:srgbClr val="FFFFFF"/>
                </a:solidFill>
                <a:latin typeface="Arial" panose="020B0604020202020204" pitchFamily="34" charset="0"/>
                <a:cs typeface="Arial" panose="020B0604020202020204" pitchFamily="34" charset="0"/>
              </a:rPr>
              <a:t>0.6%</a:t>
            </a:r>
            <a:endParaRPr lang="en-IN" sz="900" b="1">
              <a:solidFill>
                <a:srgbClr val="FFFFFF"/>
              </a:solidFill>
              <a:latin typeface="Arial" panose="020B0604020202020204" pitchFamily="34" charset="0"/>
              <a:cs typeface="Arial" panose="020B0604020202020204" pitchFamily="34" charset="0"/>
            </a:endParaRPr>
          </a:p>
        </p:txBody>
      </p:sp>
      <p:sp>
        <p:nvSpPr>
          <p:cNvPr id="42" name="Text Placeholder 18">
            <a:extLst>
              <a:ext uri="{FF2B5EF4-FFF2-40B4-BE49-F238E27FC236}">
                <a16:creationId xmlns:a16="http://schemas.microsoft.com/office/drawing/2014/main" id="{63982352-3D19-9F73-297C-1B42C72C0E19}"/>
              </a:ext>
            </a:extLst>
          </p:cNvPr>
          <p:cNvSpPr>
            <a:spLocks noGrp="1"/>
          </p:cNvSpPr>
          <p:nvPr>
            <p:custDataLst>
              <p:tags r:id="rId16"/>
            </p:custDataLst>
          </p:nvPr>
        </p:nvSpPr>
        <p:spPr bwMode="auto">
          <a:xfrm>
            <a:off x="5596814" y="4517628"/>
            <a:ext cx="395982" cy="154781"/>
          </a:xfrm>
          <a:prstGeom prst="rect">
            <a:avLst/>
          </a:prstGeom>
          <a:solidFill>
            <a:srgbClr val="005587"/>
          </a:solidFill>
          <a:ln>
            <a:noFill/>
          </a:ln>
          <a:effectLst/>
        </p:spPr>
        <p:txBody>
          <a:bodyPr vert="horz" wrap="none" lIns="0" tIns="3870" rIns="0" bIns="258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900" b="1">
                <a:solidFill>
                  <a:srgbClr val="FFFFFF"/>
                </a:solidFill>
                <a:latin typeface="Arial" panose="020B0604020202020204" pitchFamily="34" charset="0"/>
                <a:cs typeface="Arial" panose="020B0604020202020204" pitchFamily="34" charset="0"/>
              </a:rPr>
              <a:t>0.4%</a:t>
            </a:r>
            <a:endParaRPr lang="en-IN" sz="900" b="1">
              <a:solidFill>
                <a:srgbClr val="FFFFFF"/>
              </a:solidFill>
              <a:latin typeface="Arial" panose="020B0604020202020204" pitchFamily="34" charset="0"/>
              <a:cs typeface="Arial" panose="020B0604020202020204" pitchFamily="34" charset="0"/>
            </a:endParaRPr>
          </a:p>
        </p:txBody>
      </p:sp>
      <p:sp>
        <p:nvSpPr>
          <p:cNvPr id="43" name="TextBox 42">
            <a:extLst>
              <a:ext uri="{FF2B5EF4-FFF2-40B4-BE49-F238E27FC236}">
                <a16:creationId xmlns:a16="http://schemas.microsoft.com/office/drawing/2014/main" id="{51D160C6-75B6-0F64-9F4C-821F5298915D}"/>
              </a:ext>
            </a:extLst>
          </p:cNvPr>
          <p:cNvSpPr txBox="1"/>
          <p:nvPr/>
        </p:nvSpPr>
        <p:spPr>
          <a:xfrm>
            <a:off x="501361" y="1072024"/>
            <a:ext cx="9115863" cy="461665"/>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200" b="1" i="0" u="none" strike="noStrike" cap="none" spc="0" normalizeH="0" baseline="0">
                <a:ln>
                  <a:noFill/>
                </a:ln>
                <a:effectLst/>
                <a:uLnTx/>
                <a:uFillTx/>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spcBef>
                <a:spcPts val="0"/>
              </a:spcBef>
            </a:pPr>
            <a:r>
              <a:rPr lang="en-IN">
                <a:latin typeface="Arial" panose="020B0604020202020204" pitchFamily="34" charset="0"/>
                <a:cs typeface="Arial" panose="020B0604020202020204" pitchFamily="34" charset="0"/>
              </a:rPr>
              <a:t>Outlook on electricity base demand growth in India by FY30</a:t>
            </a:r>
          </a:p>
          <a:p>
            <a:pPr>
              <a:spcBef>
                <a:spcPts val="0"/>
              </a:spcBef>
            </a:pPr>
            <a:r>
              <a:rPr lang="en-IN" b="0">
                <a:latin typeface="Arial" panose="020B0604020202020204" pitchFamily="34" charset="0"/>
                <a:cs typeface="Arial" panose="020B0604020202020204" pitchFamily="34" charset="0"/>
              </a:rPr>
              <a:t>FY16-30, TWh</a:t>
            </a:r>
          </a:p>
        </p:txBody>
      </p:sp>
      <p:sp>
        <p:nvSpPr>
          <p:cNvPr id="44" name="TextBox 43">
            <a:extLst>
              <a:ext uri="{FF2B5EF4-FFF2-40B4-BE49-F238E27FC236}">
                <a16:creationId xmlns:a16="http://schemas.microsoft.com/office/drawing/2014/main" id="{00563CE5-74CE-B8CB-802F-644AA350DF3D}"/>
              </a:ext>
            </a:extLst>
          </p:cNvPr>
          <p:cNvSpPr txBox="1"/>
          <p:nvPr/>
        </p:nvSpPr>
        <p:spPr>
          <a:xfrm>
            <a:off x="497805" y="6402720"/>
            <a:ext cx="9090816" cy="125099"/>
          </a:xfrm>
          <a:prstGeom prst="rect">
            <a:avLst/>
          </a:prstGeom>
          <a:noFill/>
        </p:spPr>
        <p:txBody>
          <a:bodyPr wrap="square" lIns="0" tIns="0" rIns="0" bIns="0" rtlCol="0">
            <a:spAutoFit/>
          </a:bodyPr>
          <a:lstStyle/>
          <a:p>
            <a:pPr>
              <a:spcBef>
                <a:spcPts val="488"/>
              </a:spcBef>
              <a:buSzPct val="100000"/>
            </a:pPr>
            <a:r>
              <a:rPr lang="en-US" sz="800">
                <a:solidFill>
                  <a:schemeClr val="tx2"/>
                </a:solidFill>
                <a:latin typeface="Arial" panose="020B0604020202020204" pitchFamily="34" charset="0"/>
                <a:cs typeface="Arial" panose="020B0604020202020204" pitchFamily="34" charset="0"/>
              </a:rPr>
              <a:t>Note: FY: Financial year (April to March), GDP: Gross domestic product, TWh: trillion-watt-hour, CAGR: Compound annual growth rate, P: Projections</a:t>
            </a:r>
          </a:p>
        </p:txBody>
      </p:sp>
      <p:sp>
        <p:nvSpPr>
          <p:cNvPr id="46" name="TextBox 45">
            <a:extLst>
              <a:ext uri="{FF2B5EF4-FFF2-40B4-BE49-F238E27FC236}">
                <a16:creationId xmlns:a16="http://schemas.microsoft.com/office/drawing/2014/main" id="{919CD126-AE7F-478A-BBC7-2182AB71A73B}"/>
              </a:ext>
            </a:extLst>
          </p:cNvPr>
          <p:cNvSpPr txBox="1"/>
          <p:nvPr/>
        </p:nvSpPr>
        <p:spPr>
          <a:xfrm>
            <a:off x="6182234" y="4478533"/>
            <a:ext cx="955446" cy="255389"/>
          </a:xfrm>
          <a:prstGeom prst="wedgeRoundRectCallout">
            <a:avLst>
              <a:gd name="adj1" fmla="val -68721"/>
              <a:gd name="adj2" fmla="val -16981"/>
              <a:gd name="adj3" fmla="val 16667"/>
            </a:avLst>
          </a:prstGeom>
          <a:noFill/>
          <a:ln>
            <a:solidFill>
              <a:schemeClr val="tx2">
                <a:lumMod val="20000"/>
                <a:lumOff val="80000"/>
              </a:schemeClr>
            </a:solidFill>
          </a:ln>
        </p:spPr>
        <p:txBody>
          <a:bodyPr wrap="square" anchor="ctr">
            <a:spAutoFit/>
          </a:bodyPr>
          <a:lstStyle/>
          <a:p>
            <a:r>
              <a:rPr lang="en-IN" sz="900">
                <a:solidFill>
                  <a:srgbClr val="313131"/>
                </a:solidFill>
                <a:latin typeface="Arial" panose="020B0604020202020204" pitchFamily="34" charset="0"/>
                <a:cs typeface="Arial" panose="020B0604020202020204" pitchFamily="34" charset="0"/>
              </a:rPr>
              <a:t>Supply deficit</a:t>
            </a:r>
            <a:endParaRPr lang="en-IN" sz="900">
              <a:latin typeface="Arial" panose="020B0604020202020204" pitchFamily="34" charset="0"/>
              <a:cs typeface="Arial" panose="020B0604020202020204" pitchFamily="34" charset="0"/>
            </a:endParaRPr>
          </a:p>
        </p:txBody>
      </p:sp>
      <p:sp>
        <p:nvSpPr>
          <p:cNvPr id="68" name="Rectangle 67">
            <a:extLst>
              <a:ext uri="{FF2B5EF4-FFF2-40B4-BE49-F238E27FC236}">
                <a16:creationId xmlns:a16="http://schemas.microsoft.com/office/drawing/2014/main" id="{0664EC3A-370E-AFBC-0B54-B369D337B70C}"/>
              </a:ext>
            </a:extLst>
          </p:cNvPr>
          <p:cNvSpPr/>
          <p:nvPr/>
        </p:nvSpPr>
        <p:spPr bwMode="gray">
          <a:xfrm>
            <a:off x="8547797" y="2240299"/>
            <a:ext cx="373273" cy="554271"/>
          </a:xfrm>
          <a:prstGeom prst="rect">
            <a:avLst/>
          </a:prstGeom>
          <a:solidFill>
            <a:schemeClr val="accent5"/>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IN" sz="1138" b="1">
                <a:solidFill>
                  <a:schemeClr val="bg1"/>
                </a:solidFill>
              </a:rPr>
              <a:t>621</a:t>
            </a:r>
          </a:p>
        </p:txBody>
      </p:sp>
      <p:sp>
        <p:nvSpPr>
          <p:cNvPr id="70" name="Speech Bubble: Rectangle with Corners Rounded 69">
            <a:extLst>
              <a:ext uri="{FF2B5EF4-FFF2-40B4-BE49-F238E27FC236}">
                <a16:creationId xmlns:a16="http://schemas.microsoft.com/office/drawing/2014/main" id="{C114C3BF-D92E-0E5C-15B9-ABA8EEE9C49F}"/>
              </a:ext>
            </a:extLst>
          </p:cNvPr>
          <p:cNvSpPr/>
          <p:nvPr/>
        </p:nvSpPr>
        <p:spPr bwMode="gray">
          <a:xfrm>
            <a:off x="7264683" y="3251923"/>
            <a:ext cx="1656388" cy="554631"/>
          </a:xfrm>
          <a:prstGeom prst="wedgeRoundRectCallout">
            <a:avLst>
              <a:gd name="adj1" fmla="val 43091"/>
              <a:gd name="adj2" fmla="val -97933"/>
              <a:gd name="adj3" fmla="val 16667"/>
            </a:avLst>
          </a:prstGeom>
          <a:solidFill>
            <a:schemeClr val="bg1">
              <a:lumMod val="95000"/>
            </a:schemeClr>
          </a:solidFill>
          <a:ln w="12700" algn="ctr">
            <a:solidFill>
              <a:srgbClr val="C00000"/>
            </a:solidFill>
            <a:prstDash val="dash"/>
            <a:miter lim="800000"/>
            <a:headEnd/>
            <a:tailEnd/>
          </a:ln>
        </p:spPr>
        <p:txBody>
          <a:bodyPr wrap="square" lIns="72231" tIns="72231" rIns="72231" bIns="72231" rtlCol="0" anchor="ctr"/>
          <a:lstStyle/>
          <a:p>
            <a:pPr algn="ctr">
              <a:lnSpc>
                <a:spcPct val="106000"/>
              </a:lnSpc>
              <a:buFont typeface="Wingdings 2" pitchFamily="18" charset="2"/>
              <a:buNone/>
            </a:pPr>
            <a:r>
              <a:rPr lang="en-IN" sz="900">
                <a:latin typeface="Arial" panose="020B0604020202020204" pitchFamily="34" charset="0"/>
                <a:cs typeface="Arial" panose="020B0604020202020204" pitchFamily="34" charset="0"/>
              </a:rPr>
              <a:t>Incremental electricity supply (TWh) needed to meet demand in FY30</a:t>
            </a:r>
          </a:p>
        </p:txBody>
      </p:sp>
      <p:sp>
        <p:nvSpPr>
          <p:cNvPr id="92" name="Rectangle 91">
            <a:extLst>
              <a:ext uri="{FF2B5EF4-FFF2-40B4-BE49-F238E27FC236}">
                <a16:creationId xmlns:a16="http://schemas.microsoft.com/office/drawing/2014/main" id="{5CA9E797-1556-43E4-CAAB-99ADBB711020}"/>
              </a:ext>
            </a:extLst>
          </p:cNvPr>
          <p:cNvSpPr/>
          <p:nvPr>
            <p:custDataLst>
              <p:tags r:id="rId17"/>
            </p:custDataLst>
          </p:nvPr>
        </p:nvSpPr>
        <p:spPr bwMode="auto">
          <a:xfrm>
            <a:off x="5078114" y="1837138"/>
            <a:ext cx="174129" cy="130275"/>
          </a:xfrm>
          <a:prstGeom prst="rect">
            <a:avLst/>
          </a:prstGeom>
          <a:solidFill>
            <a:schemeClr val="accent4"/>
          </a:solidFill>
          <a:ln w="19050" algn="ctr">
            <a:noFill/>
            <a:miter lim="800000"/>
            <a:headEnd/>
            <a:tailEnd/>
          </a:ln>
          <a:effectLst/>
        </p:spPr>
        <p:txBody>
          <a:bodyPr wrap="square" lIns="72231" tIns="72231" rIns="72231" bIns="72231" rtlCol="0" anchor="ctr"/>
          <a:lstStyle/>
          <a:p>
            <a:pPr algn="ctr">
              <a:lnSpc>
                <a:spcPct val="106000"/>
              </a:lnSpc>
              <a:buFont typeface="Wingdings 2" pitchFamily="18" charset="2"/>
              <a:buNone/>
            </a:pPr>
            <a:endParaRPr lang="en-IN" sz="1000" b="1">
              <a:solidFill>
                <a:schemeClr val="bg1"/>
              </a:solidFill>
              <a:latin typeface="Arial" panose="020B0604020202020204" pitchFamily="34" charset="0"/>
              <a:cs typeface="Arial" panose="020B0604020202020204" pitchFamily="34" charset="0"/>
            </a:endParaRPr>
          </a:p>
        </p:txBody>
      </p:sp>
      <p:sp>
        <p:nvSpPr>
          <p:cNvPr id="93" name="Rectangle 92">
            <a:extLst>
              <a:ext uri="{FF2B5EF4-FFF2-40B4-BE49-F238E27FC236}">
                <a16:creationId xmlns:a16="http://schemas.microsoft.com/office/drawing/2014/main" id="{93879527-01C3-0287-0C2E-070DF15E2F57}"/>
              </a:ext>
            </a:extLst>
          </p:cNvPr>
          <p:cNvSpPr/>
          <p:nvPr>
            <p:custDataLst>
              <p:tags r:id="rId18"/>
            </p:custDataLst>
          </p:nvPr>
        </p:nvSpPr>
        <p:spPr bwMode="auto">
          <a:xfrm>
            <a:off x="5801717" y="1837138"/>
            <a:ext cx="174129" cy="130275"/>
          </a:xfrm>
          <a:prstGeom prst="rect">
            <a:avLst/>
          </a:prstGeom>
          <a:solidFill>
            <a:schemeClr val="accent1">
              <a:lumMod val="20000"/>
              <a:lumOff val="80000"/>
            </a:schemeClr>
          </a:solidFill>
          <a:ln w="19050" algn="ctr">
            <a:noFill/>
            <a:miter lim="800000"/>
            <a:headEnd/>
            <a:tailEnd/>
          </a:ln>
          <a:effectLst/>
        </p:spPr>
        <p:txBody>
          <a:bodyPr wrap="square" lIns="72231" tIns="72231" rIns="72231" bIns="72231" rtlCol="0" anchor="ctr"/>
          <a:lstStyle/>
          <a:p>
            <a:pPr algn="ctr">
              <a:lnSpc>
                <a:spcPct val="106000"/>
              </a:lnSpc>
              <a:buFont typeface="Wingdings 2" pitchFamily="18" charset="2"/>
              <a:buNone/>
            </a:pPr>
            <a:endParaRPr lang="en-IN" sz="1000" b="1">
              <a:solidFill>
                <a:schemeClr val="bg1"/>
              </a:solidFill>
              <a:latin typeface="Arial" panose="020B0604020202020204" pitchFamily="34" charset="0"/>
              <a:cs typeface="Arial" panose="020B0604020202020204" pitchFamily="34" charset="0"/>
            </a:endParaRPr>
          </a:p>
        </p:txBody>
      </p:sp>
      <p:sp>
        <p:nvSpPr>
          <p:cNvPr id="94" name="Text Placeholder 18">
            <a:extLst>
              <a:ext uri="{FF2B5EF4-FFF2-40B4-BE49-F238E27FC236}">
                <a16:creationId xmlns:a16="http://schemas.microsoft.com/office/drawing/2014/main" id="{740F6F83-F7B6-50F7-51D8-94D135297EFA}"/>
              </a:ext>
            </a:extLst>
          </p:cNvPr>
          <p:cNvSpPr>
            <a:spLocks noGrp="1"/>
          </p:cNvSpPr>
          <p:nvPr>
            <p:custDataLst>
              <p:tags r:id="rId19"/>
            </p:custDataLst>
          </p:nvPr>
        </p:nvSpPr>
        <p:spPr bwMode="auto">
          <a:xfrm>
            <a:off x="5293519" y="1833269"/>
            <a:ext cx="425648"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7147B04C-5C36-47DF-AAF1-6B6320B69005}" type="datetime'''''D''e''''''''''''''''m''''a''''''''''n''''''''''d'''">
              <a:rPr lang="en-IN" altLang="en-US" sz="1000">
                <a:latin typeface="Arial" panose="020B0604020202020204" pitchFamily="34" charset="0"/>
                <a:cs typeface="Arial" panose="020B0604020202020204" pitchFamily="34" charset="0"/>
              </a:rPr>
              <a:pPr lvl="0">
                <a:spcBef>
                  <a:spcPct val="0"/>
                </a:spcBef>
                <a:spcAft>
                  <a:spcPct val="0"/>
                </a:spcAft>
              </a:pPr>
              <a:t>Demand</a:t>
            </a:fld>
            <a:endParaRPr lang="en-IN" sz="1000">
              <a:latin typeface="Arial" panose="020B0604020202020204" pitchFamily="34" charset="0"/>
              <a:cs typeface="Arial" panose="020B0604020202020204" pitchFamily="34" charset="0"/>
            </a:endParaRPr>
          </a:p>
        </p:txBody>
      </p:sp>
      <p:sp>
        <p:nvSpPr>
          <p:cNvPr id="95" name="Text Placeholder 18">
            <a:extLst>
              <a:ext uri="{FF2B5EF4-FFF2-40B4-BE49-F238E27FC236}">
                <a16:creationId xmlns:a16="http://schemas.microsoft.com/office/drawing/2014/main" id="{A970E1DA-9E62-7A47-75A8-D396EB2ACE37}"/>
              </a:ext>
            </a:extLst>
          </p:cNvPr>
          <p:cNvSpPr>
            <a:spLocks noGrp="1"/>
          </p:cNvSpPr>
          <p:nvPr>
            <p:custDataLst>
              <p:tags r:id="rId20"/>
            </p:custDataLst>
          </p:nvPr>
        </p:nvSpPr>
        <p:spPr bwMode="auto">
          <a:xfrm>
            <a:off x="6017121" y="1833269"/>
            <a:ext cx="334070"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32B37D4A-2DE4-48EF-9861-DE8DC339343B}" type="datetime'''''''''S''''''''''''''''u''''''''''p''''''''''pl''''''y'">
              <a:rPr lang="en-IN" altLang="en-US" sz="1000">
                <a:latin typeface="Arial" panose="020B0604020202020204" pitchFamily="34" charset="0"/>
                <a:cs typeface="Arial" panose="020B0604020202020204" pitchFamily="34" charset="0"/>
              </a:rPr>
              <a:pPr lvl="0">
                <a:spcBef>
                  <a:spcPct val="0"/>
                </a:spcBef>
                <a:spcAft>
                  <a:spcPct val="0"/>
                </a:spcAft>
              </a:pPr>
              <a:t>Supply</a:t>
            </a:fld>
            <a:endParaRPr lang="en-IN" sz="1000">
              <a:latin typeface="Arial" panose="020B0604020202020204" pitchFamily="34" charset="0"/>
              <a:cs typeface="Arial" panose="020B0604020202020204" pitchFamily="34" charset="0"/>
            </a:endParaRPr>
          </a:p>
        </p:txBody>
      </p:sp>
      <p:cxnSp>
        <p:nvCxnSpPr>
          <p:cNvPr id="100" name="Straight Connector 99">
            <a:extLst>
              <a:ext uri="{FF2B5EF4-FFF2-40B4-BE49-F238E27FC236}">
                <a16:creationId xmlns:a16="http://schemas.microsoft.com/office/drawing/2014/main" id="{294E289D-D56D-9059-571D-188972F1180E}"/>
              </a:ext>
            </a:extLst>
          </p:cNvPr>
          <p:cNvCxnSpPr/>
          <p:nvPr/>
        </p:nvCxnSpPr>
        <p:spPr>
          <a:xfrm>
            <a:off x="7137679" y="2794573"/>
            <a:ext cx="1413468"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0F6604B6-9FB3-6271-DF97-3B2CC98D11CD}"/>
              </a:ext>
            </a:extLst>
          </p:cNvPr>
          <p:cNvCxnSpPr/>
          <p:nvPr/>
        </p:nvCxnSpPr>
        <p:spPr>
          <a:xfrm>
            <a:off x="8921071" y="2239939"/>
            <a:ext cx="386616"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9D451A7-C6F6-35E5-04B0-4B09E708229A}"/>
              </a:ext>
            </a:extLst>
          </p:cNvPr>
          <p:cNvCxnSpPr/>
          <p:nvPr/>
        </p:nvCxnSpPr>
        <p:spPr>
          <a:xfrm flipV="1">
            <a:off x="6954050" y="1806492"/>
            <a:ext cx="0" cy="988078"/>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7785BB98-0337-C804-C657-8BCB673D6698}"/>
              </a:ext>
            </a:extLst>
          </p:cNvPr>
          <p:cNvCxnSpPr/>
          <p:nvPr/>
        </p:nvCxnSpPr>
        <p:spPr>
          <a:xfrm>
            <a:off x="6961734" y="1833269"/>
            <a:ext cx="253667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7" name="Text Placeholder 18">
            <a:extLst>
              <a:ext uri="{FF2B5EF4-FFF2-40B4-BE49-F238E27FC236}">
                <a16:creationId xmlns:a16="http://schemas.microsoft.com/office/drawing/2014/main" id="{AFBB0F46-98DC-C0C1-DFF5-A1696C569F92}"/>
              </a:ext>
            </a:extLst>
          </p:cNvPr>
          <p:cNvSpPr>
            <a:spLocks noGrp="1"/>
          </p:cNvSpPr>
          <p:nvPr>
            <p:custDataLst>
              <p:tags r:id="rId21"/>
            </p:custDataLst>
          </p:nvPr>
        </p:nvSpPr>
        <p:spPr bwMode="auto">
          <a:xfrm>
            <a:off x="7702925" y="1730085"/>
            <a:ext cx="972017" cy="210245"/>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1000" b="1">
                <a:latin typeface="Arial" panose="020B0604020202020204" pitchFamily="34" charset="0"/>
                <a:cs typeface="Arial" panose="020B0604020202020204" pitchFamily="34" charset="0"/>
              </a:rPr>
              <a:t>5.5% CAGR</a:t>
            </a:r>
            <a:endParaRPr lang="en-IN" sz="1000" b="1">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97716691"/>
      </p:ext>
    </p:extLst>
  </p:cSld>
  <p:clrMapOvr>
    <a:masterClrMapping/>
  </p:clrMapOvr>
  <p:transition>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588809025"/>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24" imgW="415" imgH="416" progId="TCLayout.ActiveDocument.1">
                  <p:embed/>
                </p:oleObj>
              </mc:Choice>
              <mc:Fallback>
                <p:oleObj name="think-cell Slide" r:id="rId2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2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defTabSz="914400">
              <a:spcBef>
                <a:spcPts val="488"/>
              </a:spcBef>
              <a:buSzPct val="100000"/>
            </a:pPr>
            <a:r>
              <a:rPr lang="en-US" sz="2000" b="1">
                <a:latin typeface="Arial" panose="020B0604020202020204" pitchFamily="34" charset="0"/>
                <a:cs typeface="Arial" panose="020B0604020202020204" pitchFamily="34" charset="0"/>
              </a:rPr>
              <a:t>Peak power demand outlook in India</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Peak electricity demand is expected to vary widely due to higher share of intermittent renewables, climate change, and limited thermal flexibility</a:t>
            </a:r>
          </a:p>
        </p:txBody>
      </p:sp>
      <p:cxnSp>
        <p:nvCxnSpPr>
          <p:cNvPr id="8" name="Straight Connector 7">
            <a:extLst>
              <a:ext uri="{FF2B5EF4-FFF2-40B4-BE49-F238E27FC236}">
                <a16:creationId xmlns:a16="http://schemas.microsoft.com/office/drawing/2014/main" id="{081EBD2A-579A-0E4C-E34D-64B3F0D7E2CD}"/>
              </a:ext>
            </a:extLst>
          </p:cNvPr>
          <p:cNvCxnSpPr>
            <a:cxnSpLocks/>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a:spcBef>
                <a:spcPts val="488"/>
              </a:spcBef>
              <a:buSzPct val="100000"/>
            </a:pPr>
            <a:r>
              <a:rPr kumimoji="0" lang="en-IN" sz="1050" b="0" u="none" strike="noStrike" kern="1200" cap="none" spc="0" normalizeH="0" baseline="0" noProof="0">
                <a:ln>
                  <a:noFill/>
                </a:ln>
                <a:effectLst/>
                <a:uLnTx/>
                <a:uFillTx/>
                <a:latin typeface="Arial" panose="020B0604020202020204" pitchFamily="34" charset="0"/>
                <a:cs typeface="Arial" panose="020B0604020202020204" pitchFamily="34" charset="0"/>
              </a:rPr>
              <a:t>Sources: </a:t>
            </a:r>
            <a:r>
              <a:rPr lang="en-US" sz="1050">
                <a:latin typeface="Arial" panose="020B0604020202020204" pitchFamily="34" charset="0"/>
                <a:cs typeface="Arial" panose="020B0604020202020204" pitchFamily="34" charset="0"/>
              </a:rPr>
              <a:t>Central Electricity Authority (CEA), Ministry of Power (</a:t>
            </a:r>
            <a:r>
              <a:rPr lang="en-US" sz="1050" err="1">
                <a:latin typeface="Arial" panose="020B0604020202020204" pitchFamily="34" charset="0"/>
                <a:cs typeface="Arial" panose="020B0604020202020204" pitchFamily="34" charset="0"/>
              </a:rPr>
              <a:t>MoP</a:t>
            </a:r>
            <a:r>
              <a:rPr lang="en-US" sz="1050">
                <a:latin typeface="Arial" panose="020B0604020202020204" pitchFamily="34" charset="0"/>
                <a:cs typeface="Arial" panose="020B0604020202020204" pitchFamily="34" charset="0"/>
              </a:rPr>
              <a:t>), Ministry of New and Renewable Energy, (MNRE), Deloitte Analysis</a:t>
            </a:r>
          </a:p>
        </p:txBody>
      </p:sp>
      <p:sp>
        <p:nvSpPr>
          <p:cNvPr id="43" name="TextBox 42">
            <a:extLst>
              <a:ext uri="{FF2B5EF4-FFF2-40B4-BE49-F238E27FC236}">
                <a16:creationId xmlns:a16="http://schemas.microsoft.com/office/drawing/2014/main" id="{51D160C6-75B6-0F64-9F4C-821F5298915D}"/>
              </a:ext>
            </a:extLst>
          </p:cNvPr>
          <p:cNvSpPr txBox="1"/>
          <p:nvPr/>
        </p:nvSpPr>
        <p:spPr>
          <a:xfrm>
            <a:off x="501361" y="1072024"/>
            <a:ext cx="9115863" cy="461665"/>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200" b="1" i="0" u="none" strike="noStrike" cap="none" spc="0" normalizeH="0" baseline="0">
                <a:ln>
                  <a:noFill/>
                </a:ln>
                <a:effectLst/>
                <a:uLnTx/>
                <a:uFillTx/>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spcBef>
                <a:spcPts val="0"/>
              </a:spcBef>
              <a:buSzPct val="100000"/>
            </a:pPr>
            <a:r>
              <a:rPr lang="en-IN" sz="1200" b="1">
                <a:solidFill>
                  <a:srgbClr val="313131"/>
                </a:solidFill>
                <a:latin typeface="Arial" panose="020B0604020202020204" pitchFamily="34" charset="0"/>
                <a:cs typeface="Arial" panose="020B0604020202020204" pitchFamily="34" charset="0"/>
              </a:rPr>
              <a:t>Outlook on electricity peak demand growth in India</a:t>
            </a:r>
          </a:p>
          <a:p>
            <a:pPr>
              <a:spcBef>
                <a:spcPts val="0"/>
              </a:spcBef>
              <a:buSzPct val="100000"/>
            </a:pPr>
            <a:r>
              <a:rPr lang="en-IN" b="0">
                <a:solidFill>
                  <a:srgbClr val="313131"/>
                </a:solidFill>
                <a:latin typeface="Arial" panose="020B0604020202020204" pitchFamily="34" charset="0"/>
                <a:cs typeface="Arial" panose="020B0604020202020204" pitchFamily="34" charset="0"/>
              </a:rPr>
              <a:t>FY16-30, GW</a:t>
            </a:r>
            <a:endParaRPr lang="en-IN" sz="1200" b="0">
              <a:solidFill>
                <a:srgbClr val="313131"/>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id="{00563CE5-74CE-B8CB-802F-644AA350DF3D}"/>
              </a:ext>
            </a:extLst>
          </p:cNvPr>
          <p:cNvSpPr txBox="1"/>
          <p:nvPr/>
        </p:nvSpPr>
        <p:spPr>
          <a:xfrm>
            <a:off x="497805" y="6402720"/>
            <a:ext cx="9090816" cy="125099"/>
          </a:xfrm>
          <a:prstGeom prst="rect">
            <a:avLst/>
          </a:prstGeom>
          <a:noFill/>
        </p:spPr>
        <p:txBody>
          <a:bodyPr wrap="square" lIns="0" tIns="0" rIns="0" bIns="0" rtlCol="0">
            <a:spAutoFit/>
          </a:bodyPr>
          <a:lstStyle/>
          <a:p>
            <a:pPr>
              <a:spcBef>
                <a:spcPts val="488"/>
              </a:spcBef>
              <a:buSzPct val="100000"/>
            </a:pPr>
            <a:r>
              <a:rPr lang="en-US" sz="800">
                <a:solidFill>
                  <a:schemeClr val="tx2"/>
                </a:solidFill>
                <a:latin typeface="Arial" panose="020B0604020202020204" pitchFamily="34" charset="0"/>
                <a:cs typeface="Arial" panose="020B0604020202020204" pitchFamily="34" charset="0"/>
              </a:rPr>
              <a:t>Note: FY: Financial year (April to March), GW: giga-watt, CAGR: Compound annual growth rate, P: Projections</a:t>
            </a:r>
          </a:p>
        </p:txBody>
      </p:sp>
      <p:sp>
        <p:nvSpPr>
          <p:cNvPr id="13" name="Rectangle 12">
            <a:extLst>
              <a:ext uri="{FF2B5EF4-FFF2-40B4-BE49-F238E27FC236}">
                <a16:creationId xmlns:a16="http://schemas.microsoft.com/office/drawing/2014/main" id="{261824C0-BC8C-2E2A-DD07-06327A7F2441}"/>
              </a:ext>
            </a:extLst>
          </p:cNvPr>
          <p:cNvSpPr/>
          <p:nvPr/>
        </p:nvSpPr>
        <p:spPr bwMode="gray">
          <a:xfrm>
            <a:off x="511571" y="4861924"/>
            <a:ext cx="11198872" cy="1234800"/>
          </a:xfrm>
          <a:prstGeom prst="rect">
            <a:avLst/>
          </a:prstGeom>
          <a:solidFill>
            <a:schemeClr val="bg1"/>
          </a:solidFill>
          <a:ln w="19050" algn="ctr">
            <a:noFill/>
            <a:miter lim="800000"/>
            <a:headEnd/>
            <a:tailEnd/>
          </a:ln>
        </p:spPr>
        <p:txBody>
          <a:bodyPr wrap="square" lIns="72000" tIns="72000" rIns="72000" bIns="72000" rtlCol="0" anchor="ctr"/>
          <a:lstStyle/>
          <a:p>
            <a:pPr marL="139303" indent="-139303">
              <a:spcAft>
                <a:spcPts val="600"/>
              </a:spcAft>
              <a:buFont typeface="Arial" panose="020B0604020202020204" pitchFamily="34" charset="0"/>
              <a:buChar char="•"/>
            </a:pPr>
            <a:r>
              <a:rPr lang="en-US" sz="1200">
                <a:solidFill>
                  <a:srgbClr val="000000"/>
                </a:solidFill>
                <a:latin typeface="Arial" panose="020B0604020202020204" pitchFamily="34" charset="0"/>
                <a:ea typeface="Lato" pitchFamily="34" charset="0"/>
                <a:cs typeface="Arial" panose="020B0604020202020204" pitchFamily="34" charset="0"/>
              </a:rPr>
              <a:t>Seasonal variations lead to demand variations across different months of the year</a:t>
            </a:r>
          </a:p>
          <a:p>
            <a:pPr marL="139303" indent="-139303">
              <a:spcAft>
                <a:spcPts val="600"/>
              </a:spcAft>
              <a:buFont typeface="Arial" panose="020B0604020202020204" pitchFamily="34" charset="0"/>
              <a:buChar char="•"/>
            </a:pPr>
            <a:r>
              <a:rPr lang="en-US" sz="1200">
                <a:solidFill>
                  <a:srgbClr val="000000"/>
                </a:solidFill>
                <a:latin typeface="Arial" panose="020B0604020202020204" pitchFamily="34" charset="0"/>
                <a:ea typeface="Lato" pitchFamily="34" charset="0"/>
                <a:cs typeface="Arial" panose="020B0604020202020204" pitchFamily="34" charset="0"/>
              </a:rPr>
              <a:t>Electricity demand also varies across different months on account of other factors such as increase in agricultural demand in the August to No</a:t>
            </a:r>
            <a:r>
              <a:rPr lang="en-US" sz="1200">
                <a:latin typeface="Arial" panose="020B0604020202020204" pitchFamily="34" charset="0"/>
                <a:ea typeface="Lato" pitchFamily="34" charset="0"/>
                <a:cs typeface="Arial" panose="020B0604020202020204" pitchFamily="34" charset="0"/>
              </a:rPr>
              <a:t>vember period</a:t>
            </a:r>
          </a:p>
          <a:p>
            <a:pPr marL="139303" indent="-139303">
              <a:spcAft>
                <a:spcPts val="600"/>
              </a:spcAft>
              <a:buFont typeface="Arial" panose="020B0604020202020204" pitchFamily="34" charset="0"/>
              <a:buChar char="•"/>
            </a:pPr>
            <a:r>
              <a:rPr lang="en-US" sz="1200">
                <a:latin typeface="Arial" panose="020B0604020202020204" pitchFamily="34" charset="0"/>
                <a:ea typeface="Lato" pitchFamily="34" charset="0"/>
                <a:cs typeface="Arial" panose="020B0604020202020204" pitchFamily="34" charset="0"/>
              </a:rPr>
              <a:t>Peak electricity demand increased by </a:t>
            </a:r>
            <a:r>
              <a:rPr lang="en-US" sz="1200" b="1">
                <a:latin typeface="Arial" panose="020B0604020202020204" pitchFamily="34" charset="0"/>
                <a:ea typeface="Lato" pitchFamily="34" charset="0"/>
                <a:cs typeface="Arial" panose="020B0604020202020204" pitchFamily="34" charset="0"/>
              </a:rPr>
              <a:t>~14%</a:t>
            </a:r>
            <a:r>
              <a:rPr lang="en-US" sz="1200">
                <a:latin typeface="Arial" panose="020B0604020202020204" pitchFamily="34" charset="0"/>
                <a:ea typeface="Lato" pitchFamily="34" charset="0"/>
                <a:cs typeface="Arial" panose="020B0604020202020204" pitchFamily="34" charset="0"/>
              </a:rPr>
              <a:t> in FY24 vis-a-vis FY23, which is one of highest on-year increases in peak demand over past decade</a:t>
            </a:r>
          </a:p>
          <a:p>
            <a:pPr marL="139303" indent="-139303">
              <a:spcAft>
                <a:spcPts val="600"/>
              </a:spcAft>
              <a:buFont typeface="Arial" panose="020B0604020202020204" pitchFamily="34" charset="0"/>
              <a:buChar char="•"/>
            </a:pPr>
            <a:r>
              <a:rPr lang="en-US" sz="1200">
                <a:solidFill>
                  <a:srgbClr val="000000"/>
                </a:solidFill>
                <a:latin typeface="Arial" panose="020B0604020202020204" pitchFamily="34" charset="0"/>
                <a:ea typeface="Lato" pitchFamily="34" charset="0"/>
                <a:cs typeface="Arial" panose="020B0604020202020204" pitchFamily="34" charset="0"/>
              </a:rPr>
              <a:t>Going forward, peak demand is expected to reach ~334 GW by FY30 largely led by increased industrial and household consumption</a:t>
            </a:r>
          </a:p>
        </p:txBody>
      </p:sp>
      <p:cxnSp>
        <p:nvCxnSpPr>
          <p:cNvPr id="14" name="Straight Arrow Connector 13">
            <a:extLst>
              <a:ext uri="{FF2B5EF4-FFF2-40B4-BE49-F238E27FC236}">
                <a16:creationId xmlns:a16="http://schemas.microsoft.com/office/drawing/2014/main" id="{ABA47094-48A3-6E5D-C56F-15DD1C196B6F}"/>
              </a:ext>
            </a:extLst>
          </p:cNvPr>
          <p:cNvCxnSpPr>
            <a:cxnSpLocks/>
            <a:stCxn id="55" idx="3"/>
            <a:endCxn id="59" idx="1"/>
          </p:cNvCxnSpPr>
          <p:nvPr/>
        </p:nvCxnSpPr>
        <p:spPr>
          <a:xfrm>
            <a:off x="880722" y="4599457"/>
            <a:ext cx="4482830" cy="4513"/>
          </a:xfrm>
          <a:prstGeom prst="straightConnector1">
            <a:avLst/>
          </a:prstGeom>
          <a:ln>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graphicFrame>
        <p:nvGraphicFramePr>
          <p:cNvPr id="15" name="Chart 14">
            <a:extLst>
              <a:ext uri="{FF2B5EF4-FFF2-40B4-BE49-F238E27FC236}">
                <a16:creationId xmlns:a16="http://schemas.microsoft.com/office/drawing/2014/main" id="{764C128D-5493-AEEE-D500-69BE84303703}"/>
              </a:ext>
            </a:extLst>
          </p:cNvPr>
          <p:cNvGraphicFramePr/>
          <p:nvPr>
            <p:custDataLst>
              <p:tags r:id="rId2"/>
            </p:custDataLst>
            <p:extLst>
              <p:ext uri="{D42A27DB-BD31-4B8C-83A1-F6EECF244321}">
                <p14:modId xmlns:p14="http://schemas.microsoft.com/office/powerpoint/2010/main" val="3518622345"/>
              </p:ext>
            </p:extLst>
          </p:nvPr>
        </p:nvGraphicFramePr>
        <p:xfrm>
          <a:off x="495300" y="1676400"/>
          <a:ext cx="11201400" cy="2650254"/>
        </p:xfrm>
        <a:graphic>
          <a:graphicData uri="http://schemas.openxmlformats.org/drawingml/2006/chart">
            <c:chart xmlns:c="http://schemas.openxmlformats.org/drawingml/2006/chart" xmlns:r="http://schemas.openxmlformats.org/officeDocument/2006/relationships" r:id="rId26"/>
          </a:graphicData>
        </a:graphic>
      </p:graphicFrame>
      <p:sp>
        <p:nvSpPr>
          <p:cNvPr id="51" name="Rectangle 50">
            <a:extLst>
              <a:ext uri="{FF2B5EF4-FFF2-40B4-BE49-F238E27FC236}">
                <a16:creationId xmlns:a16="http://schemas.microsoft.com/office/drawing/2014/main" id="{6764D388-4EE2-C9F9-B8B2-013D54A7ABF5}"/>
              </a:ext>
            </a:extLst>
          </p:cNvPr>
          <p:cNvSpPr/>
          <p:nvPr>
            <p:custDataLst>
              <p:tags r:id="rId3"/>
            </p:custDataLst>
          </p:nvPr>
        </p:nvSpPr>
        <p:spPr bwMode="auto">
          <a:xfrm>
            <a:off x="5089085" y="1865553"/>
            <a:ext cx="174129" cy="130275"/>
          </a:xfrm>
          <a:prstGeom prst="rect">
            <a:avLst/>
          </a:prstGeom>
          <a:solidFill>
            <a:schemeClr val="accent4"/>
          </a:solidFill>
          <a:ln w="19050" algn="ctr">
            <a:noFill/>
            <a:miter lim="800000"/>
            <a:headEnd/>
            <a:tailEnd/>
          </a:ln>
          <a:effectLst/>
        </p:spPr>
        <p:txBody>
          <a:bodyPr wrap="square" lIns="72231" tIns="72231" rIns="72231" bIns="72231" rtlCol="0" anchor="ctr"/>
          <a:lstStyle/>
          <a:p>
            <a:pPr algn="ctr">
              <a:lnSpc>
                <a:spcPct val="106000"/>
              </a:lnSpc>
              <a:buFont typeface="Wingdings 2" pitchFamily="18" charset="2"/>
              <a:buNone/>
            </a:pPr>
            <a:endParaRPr lang="en-IN" sz="1300" b="1">
              <a:solidFill>
                <a:schemeClr val="bg1"/>
              </a:solidFill>
            </a:endParaRPr>
          </a:p>
        </p:txBody>
      </p:sp>
      <p:sp>
        <p:nvSpPr>
          <p:cNvPr id="52" name="Rectangle 51">
            <a:extLst>
              <a:ext uri="{FF2B5EF4-FFF2-40B4-BE49-F238E27FC236}">
                <a16:creationId xmlns:a16="http://schemas.microsoft.com/office/drawing/2014/main" id="{091887A6-7600-596D-7337-5263DB83180E}"/>
              </a:ext>
            </a:extLst>
          </p:cNvPr>
          <p:cNvSpPr/>
          <p:nvPr>
            <p:custDataLst>
              <p:tags r:id="rId4"/>
            </p:custDataLst>
          </p:nvPr>
        </p:nvSpPr>
        <p:spPr bwMode="auto">
          <a:xfrm>
            <a:off x="6201570" y="1865553"/>
            <a:ext cx="174129" cy="130275"/>
          </a:xfrm>
          <a:prstGeom prst="rect">
            <a:avLst/>
          </a:prstGeom>
          <a:solidFill>
            <a:schemeClr val="accent1">
              <a:lumMod val="20000"/>
              <a:lumOff val="80000"/>
            </a:schemeClr>
          </a:solidFill>
          <a:ln w="19050" algn="ctr">
            <a:noFill/>
            <a:miter lim="800000"/>
            <a:headEnd/>
            <a:tailEnd/>
          </a:ln>
          <a:effectLst/>
        </p:spPr>
        <p:txBody>
          <a:bodyPr wrap="square" lIns="72231" tIns="72231" rIns="72231" bIns="72231" rtlCol="0" anchor="ctr"/>
          <a:lstStyle/>
          <a:p>
            <a:pPr algn="ctr">
              <a:lnSpc>
                <a:spcPct val="106000"/>
              </a:lnSpc>
              <a:buFont typeface="Wingdings 2" pitchFamily="18" charset="2"/>
              <a:buNone/>
            </a:pPr>
            <a:endParaRPr lang="en-IN" sz="1300" b="1">
              <a:solidFill>
                <a:schemeClr val="bg1"/>
              </a:solidFill>
            </a:endParaRPr>
          </a:p>
        </p:txBody>
      </p:sp>
      <p:sp>
        <p:nvSpPr>
          <p:cNvPr id="53" name="Text Placeholder 18">
            <a:extLst>
              <a:ext uri="{FF2B5EF4-FFF2-40B4-BE49-F238E27FC236}">
                <a16:creationId xmlns:a16="http://schemas.microsoft.com/office/drawing/2014/main" id="{EF18C979-2BF0-55B2-63EE-E99F6D9FD599}"/>
              </a:ext>
            </a:extLst>
          </p:cNvPr>
          <p:cNvSpPr>
            <a:spLocks noGrp="1"/>
          </p:cNvSpPr>
          <p:nvPr>
            <p:custDataLst>
              <p:tags r:id="rId5"/>
            </p:custDataLst>
          </p:nvPr>
        </p:nvSpPr>
        <p:spPr bwMode="auto">
          <a:xfrm>
            <a:off x="5304488" y="1861684"/>
            <a:ext cx="682328"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AD1187AA-8ADF-469A-8BE9-0B5CADFBDAF7}" type="datetime'P''''''''e''''ak'' d''''em''an''''''''''''''''''''''''''d'">
              <a:rPr lang="en-IN" altLang="en-US" sz="1000">
                <a:latin typeface="Arial" panose="020B0604020202020204" pitchFamily="34" charset="0"/>
                <a:cs typeface="Arial" panose="020B0604020202020204" pitchFamily="34" charset="0"/>
              </a:rPr>
              <a:pPr lvl="0">
                <a:spcBef>
                  <a:spcPct val="0"/>
                </a:spcBef>
                <a:spcAft>
                  <a:spcPct val="0"/>
                </a:spcAft>
              </a:pPr>
              <a:t>Peak demand</a:t>
            </a:fld>
            <a:endParaRPr lang="en-IN" sz="1000">
              <a:latin typeface="Arial" panose="020B0604020202020204" pitchFamily="34" charset="0"/>
              <a:cs typeface="Arial" panose="020B0604020202020204" pitchFamily="34" charset="0"/>
            </a:endParaRPr>
          </a:p>
        </p:txBody>
      </p:sp>
      <p:sp>
        <p:nvSpPr>
          <p:cNvPr id="54" name="Text Placeholder 18">
            <a:extLst>
              <a:ext uri="{FF2B5EF4-FFF2-40B4-BE49-F238E27FC236}">
                <a16:creationId xmlns:a16="http://schemas.microsoft.com/office/drawing/2014/main" id="{57AD7936-397C-5CCA-8E32-46A3A9FAAE2C}"/>
              </a:ext>
            </a:extLst>
          </p:cNvPr>
          <p:cNvSpPr>
            <a:spLocks noGrp="1"/>
          </p:cNvSpPr>
          <p:nvPr>
            <p:custDataLst>
              <p:tags r:id="rId6"/>
            </p:custDataLst>
          </p:nvPr>
        </p:nvSpPr>
        <p:spPr bwMode="auto">
          <a:xfrm>
            <a:off x="6416973" y="1861684"/>
            <a:ext cx="470793"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CA4A08DD-93E0-459F-A889-D1580D458AF5}" type="datetime'''''''''''''''''''''P''''''''e''''''''''''ak ''''''m''et'''">
              <a:rPr lang="en-IN" altLang="en-US" sz="1000">
                <a:latin typeface="Arial" panose="020B0604020202020204" pitchFamily="34" charset="0"/>
                <a:cs typeface="Arial" panose="020B0604020202020204" pitchFamily="34" charset="0"/>
              </a:rPr>
              <a:pPr lvl="0">
                <a:spcBef>
                  <a:spcPct val="0"/>
                </a:spcBef>
                <a:spcAft>
                  <a:spcPct val="0"/>
                </a:spcAft>
              </a:pPr>
              <a:t>Peak met</a:t>
            </a:fld>
            <a:endParaRPr lang="en-IN" sz="1000">
              <a:latin typeface="Arial" panose="020B0604020202020204" pitchFamily="34" charset="0"/>
              <a:cs typeface="Arial" panose="020B0604020202020204" pitchFamily="34" charset="0"/>
            </a:endParaRPr>
          </a:p>
        </p:txBody>
      </p:sp>
      <p:sp>
        <p:nvSpPr>
          <p:cNvPr id="55" name="Text Placeholder 18">
            <a:extLst>
              <a:ext uri="{FF2B5EF4-FFF2-40B4-BE49-F238E27FC236}">
                <a16:creationId xmlns:a16="http://schemas.microsoft.com/office/drawing/2014/main" id="{7E448183-98C4-B220-168D-457BE31969EF}"/>
              </a:ext>
            </a:extLst>
          </p:cNvPr>
          <p:cNvSpPr>
            <a:spLocks noGrp="1"/>
          </p:cNvSpPr>
          <p:nvPr>
            <p:custDataLst>
              <p:tags r:id="rId7"/>
            </p:custDataLst>
          </p:nvPr>
        </p:nvSpPr>
        <p:spPr bwMode="auto">
          <a:xfrm>
            <a:off x="520855" y="4517551"/>
            <a:ext cx="359867" cy="163811"/>
          </a:xfrm>
          <a:prstGeom prst="rect">
            <a:avLst/>
          </a:prstGeom>
          <a:solidFill>
            <a:srgbClr val="005587"/>
          </a:solidFill>
          <a:ln>
            <a:noFill/>
          </a:ln>
          <a:effectLst/>
        </p:spPr>
        <p:txBody>
          <a:bodyPr vert="horz" wrap="none" lIns="1290" tIns="7739" rIns="0" bIns="7739"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975" b="1">
                <a:solidFill>
                  <a:srgbClr val="FFFFFF"/>
                </a:solidFill>
              </a:rPr>
              <a:t>3.2%</a:t>
            </a:r>
            <a:endParaRPr lang="en-IN" sz="975" b="1">
              <a:solidFill>
                <a:srgbClr val="FFFFFF"/>
              </a:solidFill>
            </a:endParaRPr>
          </a:p>
        </p:txBody>
      </p:sp>
      <p:sp>
        <p:nvSpPr>
          <p:cNvPr id="56" name="Text Placeholder 18">
            <a:extLst>
              <a:ext uri="{FF2B5EF4-FFF2-40B4-BE49-F238E27FC236}">
                <a16:creationId xmlns:a16="http://schemas.microsoft.com/office/drawing/2014/main" id="{9B4E0BFB-BB12-0474-D14E-111D44D1781A}"/>
              </a:ext>
            </a:extLst>
          </p:cNvPr>
          <p:cNvSpPr>
            <a:spLocks noGrp="1"/>
          </p:cNvSpPr>
          <p:nvPr>
            <p:custDataLst>
              <p:tags r:id="rId8"/>
            </p:custDataLst>
          </p:nvPr>
        </p:nvSpPr>
        <p:spPr bwMode="auto">
          <a:xfrm>
            <a:off x="1713632" y="4526580"/>
            <a:ext cx="395982" cy="154781"/>
          </a:xfrm>
          <a:prstGeom prst="rect">
            <a:avLst/>
          </a:prstGeom>
          <a:solidFill>
            <a:srgbClr val="005587"/>
          </a:solidFill>
          <a:ln>
            <a:noFill/>
          </a:ln>
          <a:effectLst/>
        </p:spPr>
        <p:txBody>
          <a:bodyPr vert="horz" wrap="none" lIns="0" tIns="3870" rIns="0" bIns="258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975" b="1">
                <a:solidFill>
                  <a:srgbClr val="FFFFFF"/>
                </a:solidFill>
              </a:rPr>
              <a:t>0.8%</a:t>
            </a:r>
            <a:endParaRPr lang="en-IN" sz="975" b="1">
              <a:solidFill>
                <a:srgbClr val="FFFFFF"/>
              </a:solidFill>
            </a:endParaRPr>
          </a:p>
        </p:txBody>
      </p:sp>
      <p:sp>
        <p:nvSpPr>
          <p:cNvPr id="57" name="Text Placeholder 18">
            <a:extLst>
              <a:ext uri="{FF2B5EF4-FFF2-40B4-BE49-F238E27FC236}">
                <a16:creationId xmlns:a16="http://schemas.microsoft.com/office/drawing/2014/main" id="{E0B5DDB3-2009-520C-D1F5-F90DF99D4BA1}"/>
              </a:ext>
            </a:extLst>
          </p:cNvPr>
          <p:cNvSpPr>
            <a:spLocks noGrp="1"/>
          </p:cNvSpPr>
          <p:nvPr>
            <p:custDataLst>
              <p:tags r:id="rId9"/>
            </p:custDataLst>
          </p:nvPr>
        </p:nvSpPr>
        <p:spPr bwMode="auto">
          <a:xfrm>
            <a:off x="2939045" y="4535609"/>
            <a:ext cx="395982" cy="145753"/>
          </a:xfrm>
          <a:prstGeom prst="rect">
            <a:avLst/>
          </a:prstGeom>
          <a:solidFill>
            <a:srgbClr val="005587"/>
          </a:solidFill>
          <a:ln>
            <a:noFill/>
          </a:ln>
          <a:effec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975" b="1">
                <a:solidFill>
                  <a:srgbClr val="FFFFFF"/>
                </a:solidFill>
              </a:rPr>
              <a:t>1.0%</a:t>
            </a:r>
            <a:endParaRPr lang="en-IN" sz="975" b="1">
              <a:solidFill>
                <a:srgbClr val="FFFFFF"/>
              </a:solidFill>
            </a:endParaRPr>
          </a:p>
        </p:txBody>
      </p:sp>
      <p:sp>
        <p:nvSpPr>
          <p:cNvPr id="58" name="Text Placeholder 18">
            <a:extLst>
              <a:ext uri="{FF2B5EF4-FFF2-40B4-BE49-F238E27FC236}">
                <a16:creationId xmlns:a16="http://schemas.microsoft.com/office/drawing/2014/main" id="{1F03F637-D285-93FB-12F4-A6D16179E196}"/>
              </a:ext>
            </a:extLst>
          </p:cNvPr>
          <p:cNvSpPr>
            <a:spLocks noGrp="1"/>
          </p:cNvSpPr>
          <p:nvPr>
            <p:custDataLst>
              <p:tags r:id="rId10"/>
            </p:custDataLst>
          </p:nvPr>
        </p:nvSpPr>
        <p:spPr bwMode="auto">
          <a:xfrm>
            <a:off x="4155426" y="4526580"/>
            <a:ext cx="395982" cy="154781"/>
          </a:xfrm>
          <a:prstGeom prst="rect">
            <a:avLst/>
          </a:prstGeom>
          <a:solidFill>
            <a:srgbClr val="005587"/>
          </a:solidFill>
          <a:ln>
            <a:noFill/>
          </a:ln>
          <a:effectLst/>
        </p:spPr>
        <p:txBody>
          <a:bodyPr vert="horz" wrap="none" lIns="0" tIns="3870" rIns="0" bIns="258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975" b="1">
                <a:solidFill>
                  <a:srgbClr val="FFFFFF"/>
                </a:solidFill>
              </a:rPr>
              <a:t>0.9%</a:t>
            </a:r>
            <a:endParaRPr lang="en-IN" sz="975" b="1">
              <a:solidFill>
                <a:srgbClr val="FFFFFF"/>
              </a:solidFill>
            </a:endParaRPr>
          </a:p>
        </p:txBody>
      </p:sp>
      <p:sp>
        <p:nvSpPr>
          <p:cNvPr id="59" name="Text Placeholder 18">
            <a:extLst>
              <a:ext uri="{FF2B5EF4-FFF2-40B4-BE49-F238E27FC236}">
                <a16:creationId xmlns:a16="http://schemas.microsoft.com/office/drawing/2014/main" id="{EC7AA939-7B2A-49B1-D70A-9568D2FCBEE5}"/>
              </a:ext>
            </a:extLst>
          </p:cNvPr>
          <p:cNvSpPr>
            <a:spLocks noGrp="1"/>
          </p:cNvSpPr>
          <p:nvPr>
            <p:custDataLst>
              <p:tags r:id="rId11"/>
            </p:custDataLst>
          </p:nvPr>
        </p:nvSpPr>
        <p:spPr bwMode="auto">
          <a:xfrm>
            <a:off x="5363552" y="4526580"/>
            <a:ext cx="395982" cy="154781"/>
          </a:xfrm>
          <a:prstGeom prst="rect">
            <a:avLst/>
          </a:prstGeom>
          <a:solidFill>
            <a:srgbClr val="005587"/>
          </a:solidFill>
          <a:ln>
            <a:noFill/>
          </a:ln>
          <a:effectLst/>
        </p:spPr>
        <p:txBody>
          <a:bodyPr vert="horz" wrap="none" lIns="0" tIns="3870" rIns="0" bIns="258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975" b="1">
                <a:solidFill>
                  <a:srgbClr val="FFFFFF"/>
                </a:solidFill>
              </a:rPr>
              <a:t>1.2%</a:t>
            </a:r>
            <a:endParaRPr lang="en-IN" sz="975" b="1">
              <a:solidFill>
                <a:srgbClr val="FFFFFF"/>
              </a:solidFill>
            </a:endParaRPr>
          </a:p>
        </p:txBody>
      </p:sp>
      <p:sp>
        <p:nvSpPr>
          <p:cNvPr id="61" name="TextBox 60">
            <a:extLst>
              <a:ext uri="{FF2B5EF4-FFF2-40B4-BE49-F238E27FC236}">
                <a16:creationId xmlns:a16="http://schemas.microsoft.com/office/drawing/2014/main" id="{4CEB7E15-0809-97FC-EB4F-674584D26EA9}"/>
              </a:ext>
            </a:extLst>
          </p:cNvPr>
          <p:cNvSpPr txBox="1"/>
          <p:nvPr/>
        </p:nvSpPr>
        <p:spPr>
          <a:xfrm>
            <a:off x="5914427" y="4491492"/>
            <a:ext cx="865920" cy="247373"/>
          </a:xfrm>
          <a:prstGeom prst="wedgeRoundRectCallout">
            <a:avLst>
              <a:gd name="adj1" fmla="val -68721"/>
              <a:gd name="adj2" fmla="val -16981"/>
              <a:gd name="adj3" fmla="val 16667"/>
            </a:avLst>
          </a:prstGeom>
          <a:noFill/>
          <a:ln>
            <a:solidFill>
              <a:schemeClr val="tx2">
                <a:lumMod val="20000"/>
                <a:lumOff val="80000"/>
              </a:schemeClr>
            </a:solidFill>
          </a:ln>
        </p:spPr>
        <p:txBody>
          <a:bodyPr wrap="square" anchor="ctr">
            <a:spAutoFit/>
          </a:bodyPr>
          <a:lstStyle/>
          <a:p>
            <a:r>
              <a:rPr lang="en-IN" sz="853">
                <a:solidFill>
                  <a:srgbClr val="313131"/>
                </a:solidFill>
              </a:rPr>
              <a:t>Peak deficit</a:t>
            </a:r>
            <a:endParaRPr lang="en-IN" sz="853"/>
          </a:p>
        </p:txBody>
      </p:sp>
      <p:sp>
        <p:nvSpPr>
          <p:cNvPr id="63" name="Rectangle 62">
            <a:extLst>
              <a:ext uri="{FF2B5EF4-FFF2-40B4-BE49-F238E27FC236}">
                <a16:creationId xmlns:a16="http://schemas.microsoft.com/office/drawing/2014/main" id="{F059B37D-20CB-3660-0BBA-D32BF23BB137}"/>
              </a:ext>
            </a:extLst>
          </p:cNvPr>
          <p:cNvSpPr/>
          <p:nvPr/>
        </p:nvSpPr>
        <p:spPr bwMode="gray">
          <a:xfrm>
            <a:off x="8496923" y="2261239"/>
            <a:ext cx="365904" cy="562063"/>
          </a:xfrm>
          <a:prstGeom prst="rect">
            <a:avLst/>
          </a:prstGeom>
          <a:solidFill>
            <a:schemeClr val="accent5"/>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IN" sz="1138" b="1">
                <a:solidFill>
                  <a:schemeClr val="bg1"/>
                </a:solidFill>
              </a:rPr>
              <a:t>94</a:t>
            </a:r>
          </a:p>
        </p:txBody>
      </p:sp>
      <p:sp>
        <p:nvSpPr>
          <p:cNvPr id="65" name="Speech Bubble: Rectangle with Corners Rounded 64">
            <a:extLst>
              <a:ext uri="{FF2B5EF4-FFF2-40B4-BE49-F238E27FC236}">
                <a16:creationId xmlns:a16="http://schemas.microsoft.com/office/drawing/2014/main" id="{83A30C7F-EE0F-977E-D434-429BD15AA6BE}"/>
              </a:ext>
            </a:extLst>
          </p:cNvPr>
          <p:cNvSpPr/>
          <p:nvPr/>
        </p:nvSpPr>
        <p:spPr bwMode="gray">
          <a:xfrm>
            <a:off x="5914428" y="3577167"/>
            <a:ext cx="1364952" cy="554631"/>
          </a:xfrm>
          <a:prstGeom prst="wedgeRoundRectCallout">
            <a:avLst>
              <a:gd name="adj1" fmla="val 43091"/>
              <a:gd name="adj2" fmla="val -97933"/>
              <a:gd name="adj3" fmla="val 16667"/>
            </a:avLst>
          </a:prstGeom>
          <a:solidFill>
            <a:schemeClr val="bg1">
              <a:lumMod val="95000"/>
            </a:schemeClr>
          </a:solidFill>
          <a:ln w="12700" algn="ctr">
            <a:solidFill>
              <a:srgbClr val="C00000"/>
            </a:solidFill>
            <a:prstDash val="dash"/>
            <a:miter lim="800000"/>
            <a:headEnd/>
            <a:tailEnd/>
          </a:ln>
        </p:spPr>
        <p:txBody>
          <a:bodyPr wrap="square" lIns="72231" tIns="72231" rIns="72231" bIns="72231" rtlCol="0" anchor="ctr"/>
          <a:lstStyle/>
          <a:p>
            <a:pPr algn="ctr">
              <a:lnSpc>
                <a:spcPct val="106000"/>
              </a:lnSpc>
              <a:buFont typeface="Wingdings 2" pitchFamily="18" charset="2"/>
              <a:buNone/>
            </a:pPr>
            <a:r>
              <a:rPr lang="en-IN" sz="894"/>
              <a:t>Incremental firm supply (GW) needed to meet peak demand in FY30</a:t>
            </a:r>
          </a:p>
        </p:txBody>
      </p:sp>
      <p:cxnSp>
        <p:nvCxnSpPr>
          <p:cNvPr id="69" name="Straight Connector 68">
            <a:extLst>
              <a:ext uri="{FF2B5EF4-FFF2-40B4-BE49-F238E27FC236}">
                <a16:creationId xmlns:a16="http://schemas.microsoft.com/office/drawing/2014/main" id="{1D39555D-F39D-D88B-492E-F722E1902D9E}"/>
              </a:ext>
            </a:extLst>
          </p:cNvPr>
          <p:cNvCxnSpPr>
            <a:cxnSpLocks/>
          </p:cNvCxnSpPr>
          <p:nvPr/>
        </p:nvCxnSpPr>
        <p:spPr>
          <a:xfrm flipV="1">
            <a:off x="880722" y="2615184"/>
            <a:ext cx="0" cy="722376"/>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DF568F07-5BF3-3114-A07B-AF5FDECD1468}"/>
              </a:ext>
            </a:extLst>
          </p:cNvPr>
          <p:cNvCxnSpPr>
            <a:cxnSpLocks/>
          </p:cNvCxnSpPr>
          <p:nvPr/>
        </p:nvCxnSpPr>
        <p:spPr>
          <a:xfrm>
            <a:off x="880722" y="2615184"/>
            <a:ext cx="5899625"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18BC6224-490B-DEF9-E7A2-D32924EE10BC}"/>
              </a:ext>
            </a:extLst>
          </p:cNvPr>
          <p:cNvCxnSpPr>
            <a:cxnSpLocks/>
          </p:cNvCxnSpPr>
          <p:nvPr/>
        </p:nvCxnSpPr>
        <p:spPr>
          <a:xfrm>
            <a:off x="6780347" y="2615184"/>
            <a:ext cx="0" cy="186208"/>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8" name="Text Placeholder 18">
            <a:extLst>
              <a:ext uri="{FF2B5EF4-FFF2-40B4-BE49-F238E27FC236}">
                <a16:creationId xmlns:a16="http://schemas.microsoft.com/office/drawing/2014/main" id="{D3D57695-5806-0C6C-7078-ECF66EF550B5}"/>
              </a:ext>
            </a:extLst>
          </p:cNvPr>
          <p:cNvSpPr>
            <a:spLocks noGrp="1"/>
          </p:cNvSpPr>
          <p:nvPr>
            <p:custDataLst>
              <p:tags r:id="rId12"/>
            </p:custDataLst>
          </p:nvPr>
        </p:nvSpPr>
        <p:spPr bwMode="auto">
          <a:xfrm>
            <a:off x="3268465" y="2505076"/>
            <a:ext cx="664270" cy="210245"/>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975" b="1"/>
              <a:t>6% CAGR</a:t>
            </a:r>
            <a:endParaRPr lang="en-IN" sz="975" b="1"/>
          </a:p>
        </p:txBody>
      </p:sp>
      <p:cxnSp>
        <p:nvCxnSpPr>
          <p:cNvPr id="81" name="Straight Arrow Connector 80">
            <a:extLst>
              <a:ext uri="{FF2B5EF4-FFF2-40B4-BE49-F238E27FC236}">
                <a16:creationId xmlns:a16="http://schemas.microsoft.com/office/drawing/2014/main" id="{0956426A-5929-D370-1A4A-C42C66EEE18E}"/>
              </a:ext>
            </a:extLst>
          </p:cNvPr>
          <p:cNvCxnSpPr>
            <a:cxnSpLocks/>
          </p:cNvCxnSpPr>
          <p:nvPr/>
        </p:nvCxnSpPr>
        <p:spPr>
          <a:xfrm flipV="1">
            <a:off x="9661979" y="1658743"/>
            <a:ext cx="1112027" cy="541222"/>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50" name="Text Placeholder 18">
            <a:extLst>
              <a:ext uri="{FF2B5EF4-FFF2-40B4-BE49-F238E27FC236}">
                <a16:creationId xmlns:a16="http://schemas.microsoft.com/office/drawing/2014/main" id="{F3F6B6ED-E512-71EF-0780-136BC8AF114E}"/>
              </a:ext>
            </a:extLst>
          </p:cNvPr>
          <p:cNvSpPr>
            <a:spLocks noGrp="1"/>
          </p:cNvSpPr>
          <p:nvPr>
            <p:custDataLst>
              <p:tags r:id="rId13"/>
            </p:custDataLst>
          </p:nvPr>
        </p:nvSpPr>
        <p:spPr bwMode="auto">
          <a:xfrm>
            <a:off x="9964191" y="1848384"/>
            <a:ext cx="442417" cy="210245"/>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582C2878-B13A-4645-BAF7-BA18C212CAC2}" type="datetime'''+''''''''''4''''''''''.5''''''''''''''''''''%'''''">
              <a:rPr lang="en-IN" altLang="en-US" sz="975" b="1"/>
              <a:pPr lvl="0" algn="ctr">
                <a:spcBef>
                  <a:spcPct val="0"/>
                </a:spcBef>
                <a:spcAft>
                  <a:spcPct val="0"/>
                </a:spcAft>
              </a:pPr>
              <a:t>+4.5%</a:t>
            </a:fld>
            <a:endParaRPr lang="en-IN" sz="975" b="1"/>
          </a:p>
        </p:txBody>
      </p:sp>
      <p:cxnSp>
        <p:nvCxnSpPr>
          <p:cNvPr id="83" name="Straight Connector 82">
            <a:extLst>
              <a:ext uri="{FF2B5EF4-FFF2-40B4-BE49-F238E27FC236}">
                <a16:creationId xmlns:a16="http://schemas.microsoft.com/office/drawing/2014/main" id="{81F9D7FE-BCE3-A68D-33BC-A45EFD343CBB}"/>
              </a:ext>
            </a:extLst>
          </p:cNvPr>
          <p:cNvCxnSpPr/>
          <p:nvPr/>
        </p:nvCxnSpPr>
        <p:spPr>
          <a:xfrm>
            <a:off x="8861287" y="2269255"/>
            <a:ext cx="4821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AAA78FBF-7607-1DA9-3BE7-A19A75F4F804}"/>
              </a:ext>
            </a:extLst>
          </p:cNvPr>
          <p:cNvCxnSpPr/>
          <p:nvPr/>
        </p:nvCxnSpPr>
        <p:spPr>
          <a:xfrm flipV="1">
            <a:off x="7023843" y="2010016"/>
            <a:ext cx="0" cy="803612"/>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3B70E04C-F1E4-3EB1-1C3E-D8BD9ABD6F7C}"/>
              </a:ext>
            </a:extLst>
          </p:cNvPr>
          <p:cNvCxnSpPr>
            <a:cxnSpLocks/>
          </p:cNvCxnSpPr>
          <p:nvPr/>
        </p:nvCxnSpPr>
        <p:spPr>
          <a:xfrm>
            <a:off x="7023072" y="2010016"/>
            <a:ext cx="2475334"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90" name="Straight Arrow Connector 89">
            <a:extLst>
              <a:ext uri="{FF2B5EF4-FFF2-40B4-BE49-F238E27FC236}">
                <a16:creationId xmlns:a16="http://schemas.microsoft.com/office/drawing/2014/main" id="{B209FF62-0042-9AD1-A194-936235F35D0A}"/>
              </a:ext>
            </a:extLst>
          </p:cNvPr>
          <p:cNvCxnSpPr/>
          <p:nvPr/>
        </p:nvCxnSpPr>
        <p:spPr>
          <a:xfrm>
            <a:off x="9498406" y="2010016"/>
            <a:ext cx="0" cy="259239"/>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9" name="Text Placeholder 18">
            <a:extLst>
              <a:ext uri="{FF2B5EF4-FFF2-40B4-BE49-F238E27FC236}">
                <a16:creationId xmlns:a16="http://schemas.microsoft.com/office/drawing/2014/main" id="{C83FB07B-F3E4-6591-BC79-8A02DE7504CE}"/>
              </a:ext>
            </a:extLst>
          </p:cNvPr>
          <p:cNvSpPr>
            <a:spLocks noGrp="1"/>
          </p:cNvSpPr>
          <p:nvPr>
            <p:custDataLst>
              <p:tags r:id="rId14"/>
            </p:custDataLst>
          </p:nvPr>
        </p:nvSpPr>
        <p:spPr bwMode="auto">
          <a:xfrm>
            <a:off x="7763702" y="1912465"/>
            <a:ext cx="800993" cy="210245"/>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r>
              <a:rPr lang="en-IN" altLang="en-US" sz="975" b="1"/>
              <a:t>5.4% CAGR</a:t>
            </a:r>
            <a:endParaRPr lang="en-IN" sz="975" b="1"/>
          </a:p>
        </p:txBody>
      </p:sp>
      <p:sp>
        <p:nvSpPr>
          <p:cNvPr id="112" name="Text Placeholder 18">
            <a:extLst>
              <a:ext uri="{FF2B5EF4-FFF2-40B4-BE49-F238E27FC236}">
                <a16:creationId xmlns:a16="http://schemas.microsoft.com/office/drawing/2014/main" id="{63A96D07-DCCC-C46D-2689-BC08732C0D17}"/>
              </a:ext>
            </a:extLst>
          </p:cNvPr>
          <p:cNvSpPr>
            <a:spLocks noGrp="1"/>
          </p:cNvSpPr>
          <p:nvPr>
            <p:custDataLst>
              <p:tags r:id="rId15"/>
            </p:custDataLst>
          </p:nvPr>
        </p:nvSpPr>
        <p:spPr bwMode="auto">
          <a:xfrm>
            <a:off x="908352" y="4321010"/>
            <a:ext cx="308354"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90B1270-F6F6-43D9-9353-F602F0C6F392}" type="datetime'''''''''''''''''''''''''''''''''''F''''''''''''''Y''''16'''''">
              <a:rPr lang="en-IN" altLang="en-US" sz="1000">
                <a:latin typeface="Arial" panose="020B0604020202020204" pitchFamily="34" charset="0"/>
                <a:cs typeface="Arial" panose="020B0604020202020204" pitchFamily="34" charset="0"/>
              </a:rPr>
              <a:pPr lvl="0" algn="ctr">
                <a:spcBef>
                  <a:spcPct val="0"/>
                </a:spcBef>
                <a:spcAft>
                  <a:spcPct val="0"/>
                </a:spcAft>
              </a:pPr>
              <a:t>FY16</a:t>
            </a:fld>
            <a:endParaRPr lang="en-IN" sz="1000">
              <a:latin typeface="Arial" panose="020B0604020202020204" pitchFamily="34" charset="0"/>
              <a:cs typeface="Arial" panose="020B0604020202020204" pitchFamily="34" charset="0"/>
            </a:endParaRPr>
          </a:p>
        </p:txBody>
      </p:sp>
      <p:sp>
        <p:nvSpPr>
          <p:cNvPr id="113" name="Text Placeholder 18">
            <a:extLst>
              <a:ext uri="{FF2B5EF4-FFF2-40B4-BE49-F238E27FC236}">
                <a16:creationId xmlns:a16="http://schemas.microsoft.com/office/drawing/2014/main" id="{A19F36B7-A97F-A511-A4F9-77124A2A98B4}"/>
              </a:ext>
            </a:extLst>
          </p:cNvPr>
          <p:cNvSpPr>
            <a:spLocks noGrp="1"/>
          </p:cNvSpPr>
          <p:nvPr>
            <p:custDataLst>
              <p:tags r:id="rId16"/>
            </p:custDataLst>
          </p:nvPr>
        </p:nvSpPr>
        <p:spPr bwMode="auto">
          <a:xfrm>
            <a:off x="2366401" y="4321010"/>
            <a:ext cx="308354"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4D321ACB-371B-4EA3-A0B8-E6F7EAFFA6F6}" type="datetime'''''''''''''''''''''''''''''''''''F''''''Y''''''1''''''9'''''">
              <a:rPr lang="en-IN" altLang="en-US" sz="1000">
                <a:latin typeface="Arial" panose="020B0604020202020204" pitchFamily="34" charset="0"/>
                <a:cs typeface="Arial" panose="020B0604020202020204" pitchFamily="34" charset="0"/>
              </a:rPr>
              <a:pPr lvl="0" algn="ctr">
                <a:spcBef>
                  <a:spcPct val="0"/>
                </a:spcBef>
                <a:spcAft>
                  <a:spcPct val="0"/>
                </a:spcAft>
              </a:pPr>
              <a:t>FY19</a:t>
            </a:fld>
            <a:endParaRPr lang="en-IN" sz="1000">
              <a:latin typeface="Arial" panose="020B0604020202020204" pitchFamily="34" charset="0"/>
              <a:cs typeface="Arial" panose="020B0604020202020204" pitchFamily="34" charset="0"/>
            </a:endParaRPr>
          </a:p>
        </p:txBody>
      </p:sp>
      <p:sp>
        <p:nvSpPr>
          <p:cNvPr id="114" name="Text Placeholder 18">
            <a:extLst>
              <a:ext uri="{FF2B5EF4-FFF2-40B4-BE49-F238E27FC236}">
                <a16:creationId xmlns:a16="http://schemas.microsoft.com/office/drawing/2014/main" id="{ED543146-C105-77E8-D59F-B4CFB7FC06CF}"/>
              </a:ext>
            </a:extLst>
          </p:cNvPr>
          <p:cNvSpPr>
            <a:spLocks noGrp="1"/>
          </p:cNvSpPr>
          <p:nvPr>
            <p:custDataLst>
              <p:tags r:id="rId17"/>
            </p:custDataLst>
          </p:nvPr>
        </p:nvSpPr>
        <p:spPr bwMode="auto">
          <a:xfrm>
            <a:off x="3769702" y="4321010"/>
            <a:ext cx="308354"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28B32D4-3BF5-45CB-83AD-C55AD8829964}" type="datetime'''''''''''''''F''''''''Y''''''''2''2'''''''''''''''''''">
              <a:rPr lang="en-IN" altLang="en-US" sz="1000">
                <a:latin typeface="Arial" panose="020B0604020202020204" pitchFamily="34" charset="0"/>
                <a:cs typeface="Arial" panose="020B0604020202020204" pitchFamily="34" charset="0"/>
              </a:rPr>
              <a:pPr lvl="0" algn="ctr">
                <a:spcBef>
                  <a:spcPct val="0"/>
                </a:spcBef>
                <a:spcAft>
                  <a:spcPct val="0"/>
                </a:spcAft>
              </a:pPr>
              <a:t>FY22</a:t>
            </a:fld>
            <a:endParaRPr lang="en-IN" sz="1000">
              <a:latin typeface="Arial" panose="020B0604020202020204" pitchFamily="34" charset="0"/>
              <a:cs typeface="Arial" panose="020B0604020202020204" pitchFamily="34" charset="0"/>
            </a:endParaRPr>
          </a:p>
        </p:txBody>
      </p:sp>
      <p:sp>
        <p:nvSpPr>
          <p:cNvPr id="115" name="Text Placeholder 18">
            <a:extLst>
              <a:ext uri="{FF2B5EF4-FFF2-40B4-BE49-F238E27FC236}">
                <a16:creationId xmlns:a16="http://schemas.microsoft.com/office/drawing/2014/main" id="{AFFE97E2-4FDC-4206-A932-3FD3B5C71D55}"/>
              </a:ext>
            </a:extLst>
          </p:cNvPr>
          <p:cNvSpPr>
            <a:spLocks noGrp="1"/>
          </p:cNvSpPr>
          <p:nvPr>
            <p:custDataLst>
              <p:tags r:id="rId18"/>
            </p:custDataLst>
          </p:nvPr>
        </p:nvSpPr>
        <p:spPr bwMode="auto">
          <a:xfrm>
            <a:off x="5189348" y="4321010"/>
            <a:ext cx="308354"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F9F2A8D-025E-4131-B360-DA52259B0B5D}" type="datetime'''FY''2''''''''''''3'''''''''''''">
              <a:rPr lang="en-IN" altLang="en-US" sz="1000">
                <a:latin typeface="Arial" panose="020B0604020202020204" pitchFamily="34" charset="0"/>
                <a:cs typeface="Arial" panose="020B0604020202020204" pitchFamily="34" charset="0"/>
              </a:rPr>
              <a:pPr lvl="0" algn="ctr">
                <a:spcBef>
                  <a:spcPct val="0"/>
                </a:spcBef>
                <a:spcAft>
                  <a:spcPct val="0"/>
                </a:spcAft>
              </a:pPr>
              <a:t>FY23</a:t>
            </a:fld>
            <a:endParaRPr lang="en-IN" sz="1000">
              <a:latin typeface="Arial" panose="020B0604020202020204" pitchFamily="34" charset="0"/>
              <a:cs typeface="Arial" panose="020B0604020202020204" pitchFamily="34" charset="0"/>
            </a:endParaRPr>
          </a:p>
        </p:txBody>
      </p:sp>
      <p:sp>
        <p:nvSpPr>
          <p:cNvPr id="116" name="Text Placeholder 18">
            <a:extLst>
              <a:ext uri="{FF2B5EF4-FFF2-40B4-BE49-F238E27FC236}">
                <a16:creationId xmlns:a16="http://schemas.microsoft.com/office/drawing/2014/main" id="{3954FAA7-7706-98CF-B464-4CA189E8ABDC}"/>
              </a:ext>
            </a:extLst>
          </p:cNvPr>
          <p:cNvSpPr>
            <a:spLocks noGrp="1"/>
          </p:cNvSpPr>
          <p:nvPr>
            <p:custDataLst>
              <p:tags r:id="rId19"/>
            </p:custDataLst>
          </p:nvPr>
        </p:nvSpPr>
        <p:spPr bwMode="auto">
          <a:xfrm>
            <a:off x="6631052" y="4321010"/>
            <a:ext cx="308354"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9F99139-9CA3-4C15-A7B4-F1C7F4D11AA5}" type="datetime'''''''''''''''''''''F''''''''''''Y''2''''''''''''''''4'''''">
              <a:rPr lang="en-IN" altLang="en-US" sz="1000">
                <a:latin typeface="Arial" panose="020B0604020202020204" pitchFamily="34" charset="0"/>
                <a:cs typeface="Arial" panose="020B0604020202020204" pitchFamily="34" charset="0"/>
              </a:rPr>
              <a:pPr lvl="0" algn="ctr">
                <a:spcBef>
                  <a:spcPct val="0"/>
                </a:spcBef>
                <a:spcAft>
                  <a:spcPct val="0"/>
                </a:spcAft>
              </a:pPr>
              <a:t>FY24</a:t>
            </a:fld>
            <a:endParaRPr lang="en-IN" sz="1000">
              <a:latin typeface="Arial" panose="020B0604020202020204" pitchFamily="34" charset="0"/>
              <a:cs typeface="Arial" panose="020B0604020202020204" pitchFamily="34" charset="0"/>
            </a:endParaRPr>
          </a:p>
        </p:txBody>
      </p:sp>
      <p:sp>
        <p:nvSpPr>
          <p:cNvPr id="117" name="Text Placeholder 18">
            <a:extLst>
              <a:ext uri="{FF2B5EF4-FFF2-40B4-BE49-F238E27FC236}">
                <a16:creationId xmlns:a16="http://schemas.microsoft.com/office/drawing/2014/main" id="{4B3D1564-4533-17D8-3347-7C61F79693F4}"/>
              </a:ext>
            </a:extLst>
          </p:cNvPr>
          <p:cNvSpPr>
            <a:spLocks noGrp="1"/>
          </p:cNvSpPr>
          <p:nvPr>
            <p:custDataLst>
              <p:tags r:id="rId20"/>
            </p:custDataLst>
          </p:nvPr>
        </p:nvSpPr>
        <p:spPr bwMode="auto">
          <a:xfrm>
            <a:off x="9298750" y="4321010"/>
            <a:ext cx="386616"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6E95654B-9128-449D-9258-9E99A0A21C3B}" type="datetime'F''''Y''3''''''0''''''''''P'''''''''''''''''''''''''''''''''''">
              <a:rPr lang="en-IN" altLang="en-US" sz="1000">
                <a:latin typeface="Arial" panose="020B0604020202020204" pitchFamily="34" charset="0"/>
                <a:cs typeface="Arial" panose="020B0604020202020204" pitchFamily="34" charset="0"/>
              </a:rPr>
              <a:pPr lvl="0" algn="ctr">
                <a:spcBef>
                  <a:spcPct val="0"/>
                </a:spcBef>
                <a:spcAft>
                  <a:spcPct val="0"/>
                </a:spcAft>
              </a:pPr>
              <a:t>FY30P</a:t>
            </a:fld>
            <a:endParaRPr lang="en-IN" sz="1000">
              <a:latin typeface="Arial" panose="020B0604020202020204" pitchFamily="34" charset="0"/>
              <a:cs typeface="Arial" panose="020B0604020202020204" pitchFamily="34" charset="0"/>
            </a:endParaRPr>
          </a:p>
        </p:txBody>
      </p:sp>
      <p:sp>
        <p:nvSpPr>
          <p:cNvPr id="118" name="Text Placeholder 18">
            <a:extLst>
              <a:ext uri="{FF2B5EF4-FFF2-40B4-BE49-F238E27FC236}">
                <a16:creationId xmlns:a16="http://schemas.microsoft.com/office/drawing/2014/main" id="{60FB757C-B9BB-558B-87F2-62AED678DC4C}"/>
              </a:ext>
            </a:extLst>
          </p:cNvPr>
          <p:cNvSpPr>
            <a:spLocks noGrp="1"/>
          </p:cNvSpPr>
          <p:nvPr>
            <p:custDataLst>
              <p:tags r:id="rId21"/>
            </p:custDataLst>
          </p:nvPr>
        </p:nvSpPr>
        <p:spPr bwMode="auto">
          <a:xfrm>
            <a:off x="10757396" y="4321010"/>
            <a:ext cx="386616" cy="148332"/>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9C3D721-35B2-42D6-A77F-408AE3958B38}" type="datetime'F''''''Y''''''''''''''''''''3''''''''5''''''P'''">
              <a:rPr lang="en-IN" altLang="en-US" sz="1000">
                <a:latin typeface="Arial" panose="020B0604020202020204" pitchFamily="34" charset="0"/>
                <a:cs typeface="Arial" panose="020B0604020202020204" pitchFamily="34" charset="0"/>
              </a:rPr>
              <a:pPr lvl="0" algn="ctr">
                <a:spcBef>
                  <a:spcPct val="0"/>
                </a:spcBef>
                <a:spcAft>
                  <a:spcPct val="0"/>
                </a:spcAft>
              </a:pPr>
              <a:t>FY35P</a:t>
            </a:fld>
            <a:endParaRPr lang="en-IN" sz="100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0445574"/>
      </p:ext>
    </p:extLst>
  </p:cSld>
  <p:clrMapOvr>
    <a:masterClrMapping/>
  </p:clrMapOvr>
  <p:transition>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204750058"/>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70" imgW="415" imgH="416" progId="TCLayout.ActiveDocument.1">
                  <p:embed/>
                </p:oleObj>
              </mc:Choice>
              <mc:Fallback>
                <p:oleObj name="think-cell Slide" r:id="rId70"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71"/>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defTabSz="914400">
              <a:spcBef>
                <a:spcPts val="488"/>
              </a:spcBef>
              <a:buSzPct val="100000"/>
            </a:pPr>
            <a:r>
              <a:rPr lang="en-US" sz="2000" b="1">
                <a:latin typeface="Arial" panose="020B0604020202020204" pitchFamily="34" charset="0"/>
                <a:cs typeface="Arial" panose="020B0604020202020204" pitchFamily="34" charset="0"/>
              </a:rPr>
              <a:t>Capacity additions projection till FY40</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Solar and wind are expected to make up 57% of capacity by FY35 and 64% by FY40, increasing the need for long-duration energy storage.</a:t>
            </a:r>
          </a:p>
        </p:txBody>
      </p:sp>
      <p:cxnSp>
        <p:nvCxnSpPr>
          <p:cNvPr id="8" name="Straight Connector 7">
            <a:extLst>
              <a:ext uri="{FF2B5EF4-FFF2-40B4-BE49-F238E27FC236}">
                <a16:creationId xmlns:a16="http://schemas.microsoft.com/office/drawing/2014/main" id="{081EBD2A-579A-0E4C-E34D-64B3F0D7E2CD}"/>
              </a:ext>
            </a:extLst>
          </p:cNvPr>
          <p:cNvCxnSpPr>
            <a:cxnSpLocks/>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a:spcBef>
                <a:spcPts val="488"/>
              </a:spcBef>
              <a:buSzPct val="100000"/>
            </a:pPr>
            <a:r>
              <a:rPr kumimoji="0" lang="en-IN" sz="1050" b="0" u="none" strike="noStrike" kern="1200" cap="none" spc="0" normalizeH="0" baseline="0" noProof="0">
                <a:ln>
                  <a:noFill/>
                </a:ln>
                <a:effectLst/>
                <a:uLnTx/>
                <a:uFillTx/>
                <a:latin typeface="Arial" panose="020B0604020202020204" pitchFamily="34" charset="0"/>
                <a:cs typeface="Arial" panose="020B0604020202020204" pitchFamily="34" charset="0"/>
              </a:rPr>
              <a:t>Sources: </a:t>
            </a:r>
            <a:r>
              <a:rPr lang="en-US" sz="1050">
                <a:latin typeface="Arial" panose="020B0604020202020204" pitchFamily="34" charset="0"/>
                <a:cs typeface="Arial" panose="020B0604020202020204" pitchFamily="34" charset="0"/>
              </a:rPr>
              <a:t>Central Electricity Authority (CEA), Ministry of Power (</a:t>
            </a:r>
            <a:r>
              <a:rPr lang="en-US" sz="1050" err="1">
                <a:latin typeface="Arial" panose="020B0604020202020204" pitchFamily="34" charset="0"/>
                <a:cs typeface="Arial" panose="020B0604020202020204" pitchFamily="34" charset="0"/>
              </a:rPr>
              <a:t>MoP</a:t>
            </a:r>
            <a:r>
              <a:rPr lang="en-US" sz="1050">
                <a:latin typeface="Arial" panose="020B0604020202020204" pitchFamily="34" charset="0"/>
                <a:cs typeface="Arial" panose="020B0604020202020204" pitchFamily="34" charset="0"/>
              </a:rPr>
              <a:t>), Ministry of New and Renewable Energy, (MNRE), Deloitte Analysis</a:t>
            </a:r>
          </a:p>
        </p:txBody>
      </p:sp>
      <p:sp>
        <p:nvSpPr>
          <p:cNvPr id="43" name="TextBox 42">
            <a:extLst>
              <a:ext uri="{FF2B5EF4-FFF2-40B4-BE49-F238E27FC236}">
                <a16:creationId xmlns:a16="http://schemas.microsoft.com/office/drawing/2014/main" id="{51D160C6-75B6-0F64-9F4C-821F5298915D}"/>
              </a:ext>
            </a:extLst>
          </p:cNvPr>
          <p:cNvSpPr txBox="1"/>
          <p:nvPr/>
        </p:nvSpPr>
        <p:spPr>
          <a:xfrm>
            <a:off x="501361" y="1072024"/>
            <a:ext cx="9115863" cy="461665"/>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200" b="1" i="0" u="none" strike="noStrike" cap="none" spc="0" normalizeH="0" baseline="0">
                <a:ln>
                  <a:noFill/>
                </a:ln>
                <a:effectLst/>
                <a:uLnTx/>
                <a:uFillTx/>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spcBef>
                <a:spcPts val="0"/>
              </a:spcBef>
              <a:buSzPct val="100000"/>
            </a:pPr>
            <a:r>
              <a:rPr lang="en-IN" sz="1200" b="1">
                <a:solidFill>
                  <a:srgbClr val="313131"/>
                </a:solidFill>
                <a:latin typeface="Arial" panose="020B0604020202020204" pitchFamily="34" charset="0"/>
                <a:cs typeface="Arial" panose="020B0604020202020204" pitchFamily="34" charset="0"/>
              </a:rPr>
              <a:t>Long-term capacity additions projection</a:t>
            </a:r>
            <a:r>
              <a:rPr lang="en-IN">
                <a:solidFill>
                  <a:srgbClr val="313131"/>
                </a:solidFill>
                <a:latin typeface="Arial" panose="020B0604020202020204" pitchFamily="34" charset="0"/>
                <a:cs typeface="Arial" panose="020B0604020202020204" pitchFamily="34" charset="0"/>
              </a:rPr>
              <a:t>s</a:t>
            </a:r>
            <a:endParaRPr lang="en-IN" b="0">
              <a:solidFill>
                <a:srgbClr val="313131"/>
              </a:solidFill>
              <a:latin typeface="Arial" panose="020B0604020202020204" pitchFamily="34" charset="0"/>
              <a:cs typeface="Arial" panose="020B0604020202020204" pitchFamily="34" charset="0"/>
            </a:endParaRPr>
          </a:p>
          <a:p>
            <a:pPr>
              <a:spcBef>
                <a:spcPts val="0"/>
              </a:spcBef>
              <a:buSzPct val="100000"/>
            </a:pPr>
            <a:r>
              <a:rPr lang="en-IN" sz="1200" b="0">
                <a:solidFill>
                  <a:srgbClr val="313131"/>
                </a:solidFill>
                <a:latin typeface="Arial" panose="020B0604020202020204" pitchFamily="34" charset="0"/>
                <a:cs typeface="Arial" panose="020B0604020202020204" pitchFamily="34" charset="0"/>
              </a:rPr>
              <a:t>FY24-40P, GW</a:t>
            </a:r>
          </a:p>
        </p:txBody>
      </p:sp>
      <p:sp>
        <p:nvSpPr>
          <p:cNvPr id="44" name="TextBox 43">
            <a:extLst>
              <a:ext uri="{FF2B5EF4-FFF2-40B4-BE49-F238E27FC236}">
                <a16:creationId xmlns:a16="http://schemas.microsoft.com/office/drawing/2014/main" id="{00563CE5-74CE-B8CB-802F-644AA350DF3D}"/>
              </a:ext>
            </a:extLst>
          </p:cNvPr>
          <p:cNvSpPr txBox="1"/>
          <p:nvPr/>
        </p:nvSpPr>
        <p:spPr>
          <a:xfrm>
            <a:off x="497805" y="6402720"/>
            <a:ext cx="9090816" cy="123111"/>
          </a:xfrm>
          <a:prstGeom prst="rect">
            <a:avLst/>
          </a:prstGeom>
          <a:noFill/>
        </p:spPr>
        <p:txBody>
          <a:bodyPr wrap="square" lIns="0" tIns="0" rIns="0" bIns="0" rtlCol="0">
            <a:spAutoFit/>
          </a:bodyPr>
          <a:lstStyle/>
          <a:p>
            <a:pPr>
              <a:spcBef>
                <a:spcPts val="488"/>
              </a:spcBef>
              <a:buSzPct val="100000"/>
            </a:pPr>
            <a:r>
              <a:rPr lang="en-US" sz="800">
                <a:solidFill>
                  <a:schemeClr val="tx2"/>
                </a:solidFill>
                <a:latin typeface="Arial" panose="020B0604020202020204" pitchFamily="34" charset="0"/>
                <a:cs typeface="Arial" panose="020B0604020202020204" pitchFamily="34" charset="0"/>
              </a:rPr>
              <a:t>Note: FY: Financial year (April to March), GW: giga-watt, P: Projections</a:t>
            </a:r>
          </a:p>
        </p:txBody>
      </p:sp>
      <p:graphicFrame>
        <p:nvGraphicFramePr>
          <p:cNvPr id="11" name="Chart 10">
            <a:extLst>
              <a:ext uri="{FF2B5EF4-FFF2-40B4-BE49-F238E27FC236}">
                <a16:creationId xmlns:a16="http://schemas.microsoft.com/office/drawing/2014/main" id="{F119BBC7-309A-81A1-A264-3D1D9024249B}"/>
              </a:ext>
            </a:extLst>
          </p:cNvPr>
          <p:cNvGraphicFramePr/>
          <p:nvPr>
            <p:custDataLst>
              <p:tags r:id="rId2"/>
            </p:custDataLst>
            <p:extLst>
              <p:ext uri="{D42A27DB-BD31-4B8C-83A1-F6EECF244321}">
                <p14:modId xmlns:p14="http://schemas.microsoft.com/office/powerpoint/2010/main" val="3823106176"/>
              </p:ext>
            </p:extLst>
          </p:nvPr>
        </p:nvGraphicFramePr>
        <p:xfrm>
          <a:off x="488605" y="2239927"/>
          <a:ext cx="11221838" cy="3540149"/>
        </p:xfrm>
        <a:graphic>
          <a:graphicData uri="http://schemas.openxmlformats.org/drawingml/2006/chart">
            <c:chart xmlns:c="http://schemas.openxmlformats.org/drawingml/2006/chart" xmlns:r="http://schemas.openxmlformats.org/officeDocument/2006/relationships" r:id="rId72"/>
          </a:graphicData>
        </a:graphic>
      </p:graphicFrame>
      <p:cxnSp>
        <p:nvCxnSpPr>
          <p:cNvPr id="16" name="Straight Connector 15">
            <a:extLst>
              <a:ext uri="{FF2B5EF4-FFF2-40B4-BE49-F238E27FC236}">
                <a16:creationId xmlns:a16="http://schemas.microsoft.com/office/drawing/2014/main" id="{BE83E656-65A9-C41F-1ECB-7DF42C40380E}"/>
              </a:ext>
            </a:extLst>
          </p:cNvPr>
          <p:cNvCxnSpPr/>
          <p:nvPr>
            <p:custDataLst>
              <p:tags r:id="rId3"/>
            </p:custDataLst>
          </p:nvPr>
        </p:nvCxnSpPr>
        <p:spPr bwMode="auto">
          <a:xfrm>
            <a:off x="1369667" y="3846000"/>
            <a:ext cx="0" cy="14903"/>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7" name="Straight Connector 16">
            <a:extLst>
              <a:ext uri="{FF2B5EF4-FFF2-40B4-BE49-F238E27FC236}">
                <a16:creationId xmlns:a16="http://schemas.microsoft.com/office/drawing/2014/main" id="{A5F05768-1BE7-BF7D-5F21-1F067AF62352}"/>
              </a:ext>
            </a:extLst>
          </p:cNvPr>
          <p:cNvCxnSpPr/>
          <p:nvPr>
            <p:custDataLst>
              <p:tags r:id="rId4"/>
            </p:custDataLst>
          </p:nvPr>
        </p:nvCxnSpPr>
        <p:spPr bwMode="auto">
          <a:xfrm>
            <a:off x="1369667" y="3137975"/>
            <a:ext cx="3122407" cy="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8" name="Straight Connector 17">
            <a:extLst>
              <a:ext uri="{FF2B5EF4-FFF2-40B4-BE49-F238E27FC236}">
                <a16:creationId xmlns:a16="http://schemas.microsoft.com/office/drawing/2014/main" id="{65CA1858-0CEA-5A8C-958A-51D7510D388B}"/>
              </a:ext>
            </a:extLst>
          </p:cNvPr>
          <p:cNvCxnSpPr/>
          <p:nvPr>
            <p:custDataLst>
              <p:tags r:id="rId5"/>
            </p:custDataLst>
          </p:nvPr>
        </p:nvCxnSpPr>
        <p:spPr bwMode="auto">
          <a:xfrm>
            <a:off x="4494448" y="3137975"/>
            <a:ext cx="0" cy="155608"/>
          </a:xfrm>
          <a:prstGeom prst="line">
            <a:avLst/>
          </a:prstGeom>
          <a:ln w="63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DBEBE132-AA16-9767-C93E-D4F86CB1AEF4}"/>
              </a:ext>
            </a:extLst>
          </p:cNvPr>
          <p:cNvCxnSpPr>
            <a:cxnSpLocks/>
          </p:cNvCxnSpPr>
          <p:nvPr>
            <p:custDataLst>
              <p:tags r:id="rId6"/>
            </p:custDataLst>
          </p:nvPr>
        </p:nvCxnSpPr>
        <p:spPr bwMode="auto">
          <a:xfrm>
            <a:off x="4604992" y="2582570"/>
            <a:ext cx="3119438" cy="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EC6E4A50-3653-93BF-990D-42143D91D4E3}"/>
              </a:ext>
            </a:extLst>
          </p:cNvPr>
          <p:cNvCxnSpPr/>
          <p:nvPr>
            <p:custDataLst>
              <p:tags r:id="rId7"/>
            </p:custDataLst>
          </p:nvPr>
        </p:nvCxnSpPr>
        <p:spPr bwMode="auto">
          <a:xfrm>
            <a:off x="4604992" y="3195374"/>
            <a:ext cx="0" cy="14669"/>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C9510270-4D21-5CF6-2BCF-2CEF18FFE528}"/>
              </a:ext>
            </a:extLst>
          </p:cNvPr>
          <p:cNvCxnSpPr/>
          <p:nvPr>
            <p:custDataLst>
              <p:tags r:id="rId8"/>
            </p:custDataLst>
          </p:nvPr>
        </p:nvCxnSpPr>
        <p:spPr bwMode="auto">
          <a:xfrm>
            <a:off x="7724430" y="2586745"/>
            <a:ext cx="0" cy="155608"/>
          </a:xfrm>
          <a:prstGeom prst="line">
            <a:avLst/>
          </a:prstGeom>
          <a:ln w="63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22" name="Straight Connector 21">
            <a:extLst>
              <a:ext uri="{FF2B5EF4-FFF2-40B4-BE49-F238E27FC236}">
                <a16:creationId xmlns:a16="http://schemas.microsoft.com/office/drawing/2014/main" id="{280E41E9-4119-CAA8-C2F2-1EBAD2158902}"/>
              </a:ext>
            </a:extLst>
          </p:cNvPr>
          <p:cNvCxnSpPr>
            <a:cxnSpLocks/>
          </p:cNvCxnSpPr>
          <p:nvPr>
            <p:custDataLst>
              <p:tags r:id="rId9"/>
            </p:custDataLst>
          </p:nvPr>
        </p:nvCxnSpPr>
        <p:spPr bwMode="auto">
          <a:xfrm flipV="1">
            <a:off x="7800630" y="2004630"/>
            <a:ext cx="0" cy="68701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F22E8671-E261-922F-6B88-B6AA3B851692}"/>
              </a:ext>
            </a:extLst>
          </p:cNvPr>
          <p:cNvCxnSpPr/>
          <p:nvPr>
            <p:custDataLst>
              <p:tags r:id="rId10"/>
            </p:custDataLst>
          </p:nvPr>
        </p:nvCxnSpPr>
        <p:spPr bwMode="auto">
          <a:xfrm>
            <a:off x="7800630" y="2004630"/>
            <a:ext cx="3122407" cy="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C294B658-C585-F616-77EC-AFA6D04AC86C}"/>
              </a:ext>
            </a:extLst>
          </p:cNvPr>
          <p:cNvCxnSpPr/>
          <p:nvPr>
            <p:custDataLst>
              <p:tags r:id="rId11"/>
            </p:custDataLst>
          </p:nvPr>
        </p:nvCxnSpPr>
        <p:spPr bwMode="auto">
          <a:xfrm>
            <a:off x="10917943" y="2004630"/>
            <a:ext cx="0" cy="152400"/>
          </a:xfrm>
          <a:prstGeom prst="line">
            <a:avLst/>
          </a:prstGeom>
          <a:ln w="63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25" name="Straight Connector 24">
            <a:extLst>
              <a:ext uri="{FF2B5EF4-FFF2-40B4-BE49-F238E27FC236}">
                <a16:creationId xmlns:a16="http://schemas.microsoft.com/office/drawing/2014/main" id="{A116DD46-6E5D-EF79-25F2-952DC8B8B423}"/>
              </a:ext>
            </a:extLst>
          </p:cNvPr>
          <p:cNvCxnSpPr>
            <a:cxnSpLocks/>
          </p:cNvCxnSpPr>
          <p:nvPr>
            <p:custDataLst>
              <p:tags r:id="rId12"/>
            </p:custDataLst>
          </p:nvPr>
        </p:nvCxnSpPr>
        <p:spPr bwMode="auto">
          <a:xfrm flipH="1">
            <a:off x="4935192" y="4496875"/>
            <a:ext cx="95250" cy="141288"/>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375B7785-2D75-D822-29EB-EBA277AE7893}"/>
              </a:ext>
            </a:extLst>
          </p:cNvPr>
          <p:cNvCxnSpPr>
            <a:cxnSpLocks/>
          </p:cNvCxnSpPr>
          <p:nvPr>
            <p:custDataLst>
              <p:tags r:id="rId13"/>
            </p:custDataLst>
          </p:nvPr>
        </p:nvCxnSpPr>
        <p:spPr bwMode="auto">
          <a:xfrm flipH="1" flipV="1">
            <a:off x="4935192" y="4719125"/>
            <a:ext cx="95250" cy="1428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7" name="Straight Connector 26">
            <a:extLst>
              <a:ext uri="{FF2B5EF4-FFF2-40B4-BE49-F238E27FC236}">
                <a16:creationId xmlns:a16="http://schemas.microsoft.com/office/drawing/2014/main" id="{2929E576-D59A-506A-556C-9BBF040D5C40}"/>
              </a:ext>
            </a:extLst>
          </p:cNvPr>
          <p:cNvCxnSpPr>
            <a:cxnSpLocks/>
          </p:cNvCxnSpPr>
          <p:nvPr>
            <p:custDataLst>
              <p:tags r:id="rId14"/>
            </p:custDataLst>
          </p:nvPr>
        </p:nvCxnSpPr>
        <p:spPr bwMode="auto">
          <a:xfrm flipH="1" flipV="1">
            <a:off x="8130830" y="4665150"/>
            <a:ext cx="95250" cy="150813"/>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8" name="Straight Connector 27">
            <a:extLst>
              <a:ext uri="{FF2B5EF4-FFF2-40B4-BE49-F238E27FC236}">
                <a16:creationId xmlns:a16="http://schemas.microsoft.com/office/drawing/2014/main" id="{190CEFD7-B99C-6237-F067-CB6B34D62227}"/>
              </a:ext>
            </a:extLst>
          </p:cNvPr>
          <p:cNvCxnSpPr>
            <a:cxnSpLocks/>
          </p:cNvCxnSpPr>
          <p:nvPr>
            <p:custDataLst>
              <p:tags r:id="rId15"/>
            </p:custDataLst>
          </p:nvPr>
        </p:nvCxnSpPr>
        <p:spPr bwMode="auto">
          <a:xfrm flipH="1" flipV="1">
            <a:off x="11328055" y="4608000"/>
            <a:ext cx="95250" cy="635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9" name="Straight Connector 28">
            <a:extLst>
              <a:ext uri="{FF2B5EF4-FFF2-40B4-BE49-F238E27FC236}">
                <a16:creationId xmlns:a16="http://schemas.microsoft.com/office/drawing/2014/main" id="{1206EEC3-D438-E6AE-15D0-F35DD83E2C23}"/>
              </a:ext>
            </a:extLst>
          </p:cNvPr>
          <p:cNvCxnSpPr>
            <a:cxnSpLocks/>
          </p:cNvCxnSpPr>
          <p:nvPr>
            <p:custDataLst>
              <p:tags r:id="rId16"/>
            </p:custDataLst>
          </p:nvPr>
        </p:nvCxnSpPr>
        <p:spPr bwMode="auto">
          <a:xfrm flipH="1">
            <a:off x="11328055" y="4488938"/>
            <a:ext cx="95250" cy="635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9100C532-A901-9BAC-155B-566BF59216BF}"/>
              </a:ext>
            </a:extLst>
          </p:cNvPr>
          <p:cNvCxnSpPr>
            <a:cxnSpLocks/>
          </p:cNvCxnSpPr>
          <p:nvPr>
            <p:custDataLst>
              <p:tags r:id="rId17"/>
            </p:custDataLst>
          </p:nvPr>
        </p:nvCxnSpPr>
        <p:spPr bwMode="auto">
          <a:xfrm flipH="1">
            <a:off x="8130830" y="4450838"/>
            <a:ext cx="95250" cy="14922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1" name="Straight Connector 30">
            <a:extLst>
              <a:ext uri="{FF2B5EF4-FFF2-40B4-BE49-F238E27FC236}">
                <a16:creationId xmlns:a16="http://schemas.microsoft.com/office/drawing/2014/main" id="{CC4FEE62-105C-912F-7C23-689DE5CA6AF2}"/>
              </a:ext>
            </a:extLst>
          </p:cNvPr>
          <p:cNvCxnSpPr>
            <a:cxnSpLocks/>
          </p:cNvCxnSpPr>
          <p:nvPr>
            <p:custDataLst>
              <p:tags r:id="rId18"/>
            </p:custDataLst>
          </p:nvPr>
        </p:nvCxnSpPr>
        <p:spPr bwMode="auto">
          <a:xfrm flipH="1">
            <a:off x="1737967" y="4549263"/>
            <a:ext cx="95250" cy="141288"/>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3143DD50-67C8-1736-CE8D-D83B6AFE43DF}"/>
              </a:ext>
            </a:extLst>
          </p:cNvPr>
          <p:cNvCxnSpPr>
            <a:cxnSpLocks/>
          </p:cNvCxnSpPr>
          <p:nvPr>
            <p:custDataLst>
              <p:tags r:id="rId19"/>
            </p:custDataLst>
          </p:nvPr>
        </p:nvCxnSpPr>
        <p:spPr bwMode="auto">
          <a:xfrm flipH="1" flipV="1">
            <a:off x="1737967" y="4771513"/>
            <a:ext cx="95250" cy="1428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76D3C54B-8268-5A4A-465A-93F9D99EA2E5}"/>
              </a:ext>
            </a:extLst>
          </p:cNvPr>
          <p:cNvCxnSpPr>
            <a:cxnSpLocks/>
          </p:cNvCxnSpPr>
          <p:nvPr>
            <p:custDataLst>
              <p:tags r:id="rId20"/>
            </p:custDataLst>
          </p:nvPr>
        </p:nvCxnSpPr>
        <p:spPr bwMode="auto">
          <a:xfrm flipV="1">
            <a:off x="1831555" y="4724608"/>
            <a:ext cx="555" cy="737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4" name="Straight Connector 33">
            <a:extLst>
              <a:ext uri="{FF2B5EF4-FFF2-40B4-BE49-F238E27FC236}">
                <a16:creationId xmlns:a16="http://schemas.microsoft.com/office/drawing/2014/main" id="{15902A72-AAD3-A084-5355-BAD99D1B1EEA}"/>
              </a:ext>
            </a:extLst>
          </p:cNvPr>
          <p:cNvCxnSpPr/>
          <p:nvPr>
            <p:custDataLst>
              <p:tags r:id="rId21"/>
            </p:custDataLst>
          </p:nvPr>
        </p:nvCxnSpPr>
        <p:spPr bwMode="auto">
          <a:xfrm flipV="1">
            <a:off x="5028780" y="4672220"/>
            <a:ext cx="555" cy="737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DDF7AF3B-F307-6993-730C-371B34DC8392}"/>
              </a:ext>
            </a:extLst>
          </p:cNvPr>
          <p:cNvCxnSpPr/>
          <p:nvPr>
            <p:custDataLst>
              <p:tags r:id="rId22"/>
            </p:custDataLst>
          </p:nvPr>
        </p:nvCxnSpPr>
        <p:spPr bwMode="auto">
          <a:xfrm flipV="1">
            <a:off x="8224418" y="4626183"/>
            <a:ext cx="555" cy="737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6" name="Text Placeholder 18">
            <a:extLst>
              <a:ext uri="{FF2B5EF4-FFF2-40B4-BE49-F238E27FC236}">
                <a16:creationId xmlns:a16="http://schemas.microsoft.com/office/drawing/2014/main" id="{CE81EFD7-F6DB-A4A9-0D04-64F7FEF76936}"/>
              </a:ext>
            </a:extLst>
          </p:cNvPr>
          <p:cNvSpPr>
            <a:spLocks noGrp="1"/>
          </p:cNvSpPr>
          <p:nvPr>
            <p:custDataLst>
              <p:tags r:id="rId23"/>
            </p:custDataLst>
          </p:nvPr>
        </p:nvSpPr>
        <p:spPr bwMode="gray">
          <a:xfrm>
            <a:off x="10856568" y="2290232"/>
            <a:ext cx="203976" cy="182563"/>
          </a:xfrm>
          <a:prstGeom prst="rect">
            <a:avLst/>
          </a:prstGeom>
          <a:solidFill>
            <a:srgbClr val="86BC25"/>
          </a:solidFill>
          <a:ln>
            <a:noFill/>
          </a:ln>
          <a:effec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8E8D528A-02B8-4638-8946-E47BD481076F}" type="datetime'''''''''''''''2''''''''''''''''''''''''''''2'''''''''''">
              <a:rPr lang="en-IN" altLang="en-US" sz="1200" smtClean="0">
                <a:solidFill>
                  <a:schemeClr val="bg1"/>
                </a:solidFill>
                <a:effectLst/>
              </a:rPr>
              <a:pPr lvl="0" algn="ctr">
                <a:spcBef>
                  <a:spcPct val="0"/>
                </a:spcBef>
                <a:spcAft>
                  <a:spcPct val="0"/>
                </a:spcAft>
              </a:pPr>
              <a:t>22</a:t>
            </a:fld>
            <a:endParaRPr lang="en-IN" sz="1200" noProof="0">
              <a:solidFill>
                <a:schemeClr val="bg1"/>
              </a:solidFill>
            </a:endParaRPr>
          </a:p>
        </p:txBody>
      </p:sp>
      <p:sp>
        <p:nvSpPr>
          <p:cNvPr id="37" name="Text Placeholder 18">
            <a:extLst>
              <a:ext uri="{FF2B5EF4-FFF2-40B4-BE49-F238E27FC236}">
                <a16:creationId xmlns:a16="http://schemas.microsoft.com/office/drawing/2014/main" id="{E8A9F1D4-1D35-6F90-C509-DF7BCA9363EB}"/>
              </a:ext>
            </a:extLst>
          </p:cNvPr>
          <p:cNvSpPr>
            <a:spLocks noGrp="1"/>
          </p:cNvSpPr>
          <p:nvPr>
            <p:custDataLst>
              <p:tags r:id="rId24"/>
            </p:custDataLst>
          </p:nvPr>
        </p:nvSpPr>
        <p:spPr bwMode="gray">
          <a:xfrm>
            <a:off x="11078818" y="4436550"/>
            <a:ext cx="203976" cy="186406"/>
          </a:xfrm>
          <a:prstGeom prst="rect">
            <a:avLst/>
          </a:prstGeom>
          <a:solidFill>
            <a:srgbClr val="0097A9"/>
          </a:solidFill>
          <a:ln>
            <a:noFill/>
          </a:ln>
          <a:effec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59E21851-39BA-4D83-BBA2-4A9549749FB3}" type="datetime'''''''1''''''''''''''''''''''''''''''''8'''''''''''''''">
              <a:rPr lang="en-IN" altLang="en-US" sz="1200" smtClean="0">
                <a:solidFill>
                  <a:schemeClr val="bg1"/>
                </a:solidFill>
                <a:effectLst/>
              </a:rPr>
              <a:pPr lvl="0" algn="ctr">
                <a:spcBef>
                  <a:spcPct val="0"/>
                </a:spcBef>
                <a:spcAft>
                  <a:spcPct val="0"/>
                </a:spcAft>
              </a:pPr>
              <a:t>18</a:t>
            </a:fld>
            <a:endParaRPr lang="en-IN" sz="1200" noProof="0">
              <a:solidFill>
                <a:schemeClr val="bg1"/>
              </a:solidFill>
            </a:endParaRPr>
          </a:p>
        </p:txBody>
      </p:sp>
      <p:sp>
        <p:nvSpPr>
          <p:cNvPr id="38" name="Text Placeholder 18">
            <a:extLst>
              <a:ext uri="{FF2B5EF4-FFF2-40B4-BE49-F238E27FC236}">
                <a16:creationId xmlns:a16="http://schemas.microsoft.com/office/drawing/2014/main" id="{D668FA3D-E99F-80FD-A689-F0E032D39B98}"/>
              </a:ext>
            </a:extLst>
          </p:cNvPr>
          <p:cNvSpPr>
            <a:spLocks noGrp="1"/>
          </p:cNvSpPr>
          <p:nvPr>
            <p:custDataLst>
              <p:tags r:id="rId25"/>
            </p:custDataLst>
          </p:nvPr>
        </p:nvSpPr>
        <p:spPr bwMode="gray">
          <a:xfrm>
            <a:off x="11423305" y="4398450"/>
            <a:ext cx="127093" cy="18640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4BF262C4-C692-49E7-8976-5EE284A1EFDC}" type="datetime'''''''''''''''''''''''''''''''''''''''0'''''''">
              <a:rPr lang="en-IN" altLang="en-US" sz="1200" smtClean="0"/>
              <a:pPr lvl="0">
                <a:spcBef>
                  <a:spcPct val="0"/>
                </a:spcBef>
                <a:spcAft>
                  <a:spcPct val="0"/>
                </a:spcAft>
              </a:pPr>
              <a:t>0</a:t>
            </a:fld>
            <a:endParaRPr lang="en-IN" sz="1200" noProof="0"/>
          </a:p>
        </p:txBody>
      </p:sp>
      <p:sp>
        <p:nvSpPr>
          <p:cNvPr id="39" name="Text Placeholder 18">
            <a:extLst>
              <a:ext uri="{FF2B5EF4-FFF2-40B4-BE49-F238E27FC236}">
                <a16:creationId xmlns:a16="http://schemas.microsoft.com/office/drawing/2014/main" id="{BD0BBF11-9BED-9F94-A89B-37D91A5C5F1D}"/>
              </a:ext>
            </a:extLst>
          </p:cNvPr>
          <p:cNvSpPr>
            <a:spLocks noGrp="1"/>
          </p:cNvSpPr>
          <p:nvPr>
            <p:custDataLst>
              <p:tags r:id="rId26"/>
            </p:custDataLst>
          </p:nvPr>
        </p:nvSpPr>
        <p:spPr bwMode="gray">
          <a:xfrm>
            <a:off x="4241456" y="4533388"/>
            <a:ext cx="203976" cy="186406"/>
          </a:xfrm>
          <a:prstGeom prst="rect">
            <a:avLst/>
          </a:prstGeom>
          <a:solidFill>
            <a:srgbClr val="0097A9"/>
          </a:solidFill>
          <a:ln>
            <a:noFill/>
          </a:ln>
          <a:effec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69074D7B-CFC7-483C-A14B-0E5BB8E08464}" type="datetime'1''0'''''''''''''''''''''">
              <a:rPr lang="en-IN" altLang="en-US" sz="1200" smtClean="0">
                <a:solidFill>
                  <a:schemeClr val="bg1"/>
                </a:solidFill>
                <a:effectLst/>
              </a:rPr>
              <a:pPr lvl="0" algn="ctr">
                <a:spcBef>
                  <a:spcPct val="0"/>
                </a:spcBef>
                <a:spcAft>
                  <a:spcPct val="0"/>
                </a:spcAft>
              </a:pPr>
              <a:t>10</a:t>
            </a:fld>
            <a:endParaRPr lang="en-IN" sz="1200" noProof="0">
              <a:solidFill>
                <a:schemeClr val="bg1"/>
              </a:solidFill>
            </a:endParaRPr>
          </a:p>
        </p:txBody>
      </p:sp>
      <p:sp>
        <p:nvSpPr>
          <p:cNvPr id="40" name="Text Placeholder 18">
            <a:extLst>
              <a:ext uri="{FF2B5EF4-FFF2-40B4-BE49-F238E27FC236}">
                <a16:creationId xmlns:a16="http://schemas.microsoft.com/office/drawing/2014/main" id="{E3270B9B-D374-8CE1-66F6-54CC6A1C6FE6}"/>
              </a:ext>
            </a:extLst>
          </p:cNvPr>
          <p:cNvSpPr>
            <a:spLocks noGrp="1"/>
          </p:cNvSpPr>
          <p:nvPr>
            <p:custDataLst>
              <p:tags r:id="rId27"/>
            </p:custDataLst>
          </p:nvPr>
        </p:nvSpPr>
        <p:spPr bwMode="auto">
          <a:xfrm>
            <a:off x="4371631" y="5787258"/>
            <a:ext cx="387556" cy="18640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2B86783D-8CD8-4984-AA66-A49550147C54}" type="datetime'''''''''FY''''30''''''''''''''P'''''''''''''''''''''''''''">
              <a:rPr lang="en-IN" altLang="en-US" sz="1200" smtClean="0">
                <a:effectLst/>
              </a:rPr>
              <a:pPr lvl="0" algn="ctr">
                <a:spcBef>
                  <a:spcPct val="0"/>
                </a:spcBef>
                <a:spcAft>
                  <a:spcPct val="0"/>
                </a:spcAft>
              </a:pPr>
              <a:t>FY30P</a:t>
            </a:fld>
            <a:endParaRPr lang="en-IN" sz="1200" noProof="0"/>
          </a:p>
        </p:txBody>
      </p:sp>
      <p:sp>
        <p:nvSpPr>
          <p:cNvPr id="41" name="Text Placeholder 18">
            <a:extLst>
              <a:ext uri="{FF2B5EF4-FFF2-40B4-BE49-F238E27FC236}">
                <a16:creationId xmlns:a16="http://schemas.microsoft.com/office/drawing/2014/main" id="{717B1751-7151-EEC3-71D7-C916E084132E}"/>
              </a:ext>
            </a:extLst>
          </p:cNvPr>
          <p:cNvSpPr>
            <a:spLocks noGrp="1"/>
          </p:cNvSpPr>
          <p:nvPr>
            <p:custDataLst>
              <p:tags r:id="rId28"/>
            </p:custDataLst>
          </p:nvPr>
        </p:nvSpPr>
        <p:spPr bwMode="auto">
          <a:xfrm>
            <a:off x="7567268" y="5787258"/>
            <a:ext cx="387556" cy="18640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86643C07-6541-4DD1-8B50-2DB1366B8933}" type="datetime'F''''''''''''''Y''''''35''''''''P'''''''''''''''''''''''''''''">
              <a:rPr lang="en-IN" altLang="en-US" sz="1200" smtClean="0">
                <a:effectLst/>
              </a:rPr>
              <a:pPr lvl="0" algn="ctr">
                <a:spcBef>
                  <a:spcPct val="0"/>
                </a:spcBef>
                <a:spcAft>
                  <a:spcPct val="0"/>
                </a:spcAft>
              </a:pPr>
              <a:t>FY35P</a:t>
            </a:fld>
            <a:endParaRPr lang="en-IN" sz="1200" noProof="0"/>
          </a:p>
        </p:txBody>
      </p:sp>
      <p:sp>
        <p:nvSpPr>
          <p:cNvPr id="42" name="Text Placeholder 18">
            <a:extLst>
              <a:ext uri="{FF2B5EF4-FFF2-40B4-BE49-F238E27FC236}">
                <a16:creationId xmlns:a16="http://schemas.microsoft.com/office/drawing/2014/main" id="{392935F8-5DE8-920E-34DD-E774475776E5}"/>
              </a:ext>
            </a:extLst>
          </p:cNvPr>
          <p:cNvSpPr>
            <a:spLocks noGrp="1"/>
          </p:cNvSpPr>
          <p:nvPr>
            <p:custDataLst>
              <p:tags r:id="rId29"/>
            </p:custDataLst>
          </p:nvPr>
        </p:nvSpPr>
        <p:spPr bwMode="auto">
          <a:xfrm>
            <a:off x="10764493" y="5787258"/>
            <a:ext cx="387556" cy="18640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78A691FE-A32E-4A0B-A89D-7E8897C761C3}" type="datetime'F''''''''''''''''''Y''''''4''''''''''''''''''''''''''0''''P'''">
              <a:rPr lang="en-IN" altLang="en-US" sz="1200" smtClean="0">
                <a:effectLst/>
              </a:rPr>
              <a:pPr lvl="0" algn="ctr">
                <a:spcBef>
                  <a:spcPct val="0"/>
                </a:spcBef>
                <a:spcAft>
                  <a:spcPct val="0"/>
                </a:spcAft>
              </a:pPr>
              <a:t>FY40P</a:t>
            </a:fld>
            <a:endParaRPr lang="en-IN" sz="1200" noProof="0"/>
          </a:p>
        </p:txBody>
      </p:sp>
      <p:sp>
        <p:nvSpPr>
          <p:cNvPr id="45" name="Text Placeholder 18">
            <a:extLst>
              <a:ext uri="{FF2B5EF4-FFF2-40B4-BE49-F238E27FC236}">
                <a16:creationId xmlns:a16="http://schemas.microsoft.com/office/drawing/2014/main" id="{F41340BD-F749-A880-A64B-D3FF994085D9}"/>
              </a:ext>
            </a:extLst>
          </p:cNvPr>
          <p:cNvSpPr>
            <a:spLocks noGrp="1"/>
          </p:cNvSpPr>
          <p:nvPr>
            <p:custDataLst>
              <p:tags r:id="rId30"/>
            </p:custDataLst>
          </p:nvPr>
        </p:nvSpPr>
        <p:spPr bwMode="gray">
          <a:xfrm>
            <a:off x="1228381" y="3884100"/>
            <a:ext cx="280860" cy="18640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BF684CE0-058D-4109-9579-B17916869487}" type="datetime'''4''''''''''''''4''''''''''''''''2'''''''''''">
              <a:rPr lang="en-IN" altLang="en-US" sz="1200" smtClean="0"/>
              <a:pPr lvl="0" algn="ctr">
                <a:spcBef>
                  <a:spcPct val="0"/>
                </a:spcBef>
                <a:spcAft>
                  <a:spcPct val="0"/>
                </a:spcAft>
              </a:pPr>
              <a:t>442</a:t>
            </a:fld>
            <a:endParaRPr lang="en-IN" sz="1200" noProof="0"/>
          </a:p>
        </p:txBody>
      </p:sp>
      <p:sp>
        <p:nvSpPr>
          <p:cNvPr id="46" name="Text Placeholder 18">
            <a:extLst>
              <a:ext uri="{FF2B5EF4-FFF2-40B4-BE49-F238E27FC236}">
                <a16:creationId xmlns:a16="http://schemas.microsoft.com/office/drawing/2014/main" id="{43E22BE5-DC9A-D363-DED2-03F4A9739B3A}"/>
              </a:ext>
            </a:extLst>
          </p:cNvPr>
          <p:cNvSpPr>
            <a:spLocks noGrp="1"/>
          </p:cNvSpPr>
          <p:nvPr>
            <p:custDataLst>
              <p:tags r:id="rId31"/>
            </p:custDataLst>
          </p:nvPr>
        </p:nvSpPr>
        <p:spPr bwMode="auto">
          <a:xfrm>
            <a:off x="1214092" y="5787258"/>
            <a:ext cx="309103" cy="18640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F764C2A8-64B6-49BA-BB5D-BAA2642104CE}" type="datetime'F''''''Y''''''''''''''''2''''''''''''''''''''''''''''''''4'">
              <a:rPr lang="en-IN" altLang="en-US" sz="1200" smtClean="0">
                <a:effectLst/>
              </a:rPr>
              <a:pPr lvl="0" algn="ctr">
                <a:spcBef>
                  <a:spcPct val="0"/>
                </a:spcBef>
                <a:spcAft>
                  <a:spcPct val="0"/>
                </a:spcAft>
              </a:pPr>
              <a:t>FY24</a:t>
            </a:fld>
            <a:endParaRPr lang="en-IN" sz="1200" noProof="0"/>
          </a:p>
        </p:txBody>
      </p:sp>
      <p:sp>
        <p:nvSpPr>
          <p:cNvPr id="47" name="Text Placeholder 18">
            <a:extLst>
              <a:ext uri="{FF2B5EF4-FFF2-40B4-BE49-F238E27FC236}">
                <a16:creationId xmlns:a16="http://schemas.microsoft.com/office/drawing/2014/main" id="{2A312247-DDD9-E598-AC55-D570D589A4AA}"/>
              </a:ext>
            </a:extLst>
          </p:cNvPr>
          <p:cNvSpPr>
            <a:spLocks noGrp="1"/>
          </p:cNvSpPr>
          <p:nvPr>
            <p:custDataLst>
              <p:tags r:id="rId32"/>
            </p:custDataLst>
          </p:nvPr>
        </p:nvSpPr>
        <p:spPr bwMode="gray">
          <a:xfrm>
            <a:off x="4425606" y="3328475"/>
            <a:ext cx="280860" cy="18640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3FE2137E-0CA7-4552-B8B8-3FAC06DAF745}" type="datetime'''''''''6''''''''''''''''''''''4''''1'''''''''">
              <a:rPr lang="en-IN" altLang="en-US" sz="1200" smtClean="0"/>
              <a:pPr lvl="0" algn="ctr">
                <a:spcBef>
                  <a:spcPct val="0"/>
                </a:spcBef>
                <a:spcAft>
                  <a:spcPct val="0"/>
                </a:spcAft>
              </a:pPr>
              <a:t>641</a:t>
            </a:fld>
            <a:endParaRPr lang="en-IN" sz="1200" noProof="0"/>
          </a:p>
        </p:txBody>
      </p:sp>
      <p:sp>
        <p:nvSpPr>
          <p:cNvPr id="60" name="Text Placeholder 18">
            <a:extLst>
              <a:ext uri="{FF2B5EF4-FFF2-40B4-BE49-F238E27FC236}">
                <a16:creationId xmlns:a16="http://schemas.microsoft.com/office/drawing/2014/main" id="{A77DE2F0-D90A-E940-DCAE-6C6B75A695CF}"/>
              </a:ext>
            </a:extLst>
          </p:cNvPr>
          <p:cNvSpPr>
            <a:spLocks noGrp="1"/>
          </p:cNvSpPr>
          <p:nvPr>
            <p:custDataLst>
              <p:tags r:id="rId33"/>
            </p:custDataLst>
          </p:nvPr>
        </p:nvSpPr>
        <p:spPr bwMode="gray">
          <a:xfrm>
            <a:off x="1833217" y="4458775"/>
            <a:ext cx="127093" cy="18640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0CB37BCD-C24F-4BC2-AB7D-0E6EFD39CFE8}" type="datetime'1'''''''''''''''''''''''''''''''''''''''''''''''''''''''''''">
              <a:rPr lang="en-IN" altLang="en-US" sz="1200" smtClean="0">
                <a:effectLst/>
              </a:rPr>
              <a:pPr lvl="0">
                <a:spcBef>
                  <a:spcPct val="0"/>
                </a:spcBef>
                <a:spcAft>
                  <a:spcPct val="0"/>
                </a:spcAft>
              </a:pPr>
              <a:t>1</a:t>
            </a:fld>
            <a:endParaRPr lang="en-IN" sz="1200" noProof="0"/>
          </a:p>
        </p:txBody>
      </p:sp>
      <p:sp>
        <p:nvSpPr>
          <p:cNvPr id="62" name="Text Placeholder 18">
            <a:extLst>
              <a:ext uri="{FF2B5EF4-FFF2-40B4-BE49-F238E27FC236}">
                <a16:creationId xmlns:a16="http://schemas.microsoft.com/office/drawing/2014/main" id="{E26F6D1F-4E40-A951-3742-EBEC10D3BE24}"/>
              </a:ext>
            </a:extLst>
          </p:cNvPr>
          <p:cNvSpPr>
            <a:spLocks noGrp="1"/>
          </p:cNvSpPr>
          <p:nvPr>
            <p:custDataLst>
              <p:tags r:id="rId34"/>
            </p:custDataLst>
          </p:nvPr>
        </p:nvSpPr>
        <p:spPr bwMode="gray">
          <a:xfrm>
            <a:off x="1083917" y="4588950"/>
            <a:ext cx="127093" cy="186406"/>
          </a:xfrm>
          <a:prstGeom prst="rect">
            <a:avLst/>
          </a:prstGeom>
          <a:solidFill>
            <a:srgbClr val="0097A9"/>
          </a:solidFill>
          <a:ln>
            <a:noFill/>
          </a:ln>
          <a:effec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4395B83A-54DA-4A5D-84D4-CC747E536AB6}" type="datetime'''''''''''''''''8'''''''''''''''''''''''''''''''''''">
              <a:rPr lang="en-IN" altLang="en-US" sz="1200" smtClean="0">
                <a:solidFill>
                  <a:schemeClr val="bg1"/>
                </a:solidFill>
                <a:effectLst/>
              </a:rPr>
              <a:pPr lvl="0" algn="ctr">
                <a:spcBef>
                  <a:spcPct val="0"/>
                </a:spcBef>
                <a:spcAft>
                  <a:spcPct val="0"/>
                </a:spcAft>
              </a:pPr>
              <a:t>8</a:t>
            </a:fld>
            <a:endParaRPr lang="en-IN" sz="1200" noProof="0">
              <a:solidFill>
                <a:schemeClr val="bg1"/>
              </a:solidFill>
            </a:endParaRPr>
          </a:p>
        </p:txBody>
      </p:sp>
      <p:sp>
        <p:nvSpPr>
          <p:cNvPr id="64" name="Text Placeholder 18">
            <a:extLst>
              <a:ext uri="{FF2B5EF4-FFF2-40B4-BE49-F238E27FC236}">
                <a16:creationId xmlns:a16="http://schemas.microsoft.com/office/drawing/2014/main" id="{3FF7C657-BB4B-8BB7-7563-B9BF1F9C970D}"/>
              </a:ext>
            </a:extLst>
          </p:cNvPr>
          <p:cNvSpPr>
            <a:spLocks noGrp="1"/>
          </p:cNvSpPr>
          <p:nvPr>
            <p:custDataLst>
              <p:tags r:id="rId35"/>
            </p:custDataLst>
          </p:nvPr>
        </p:nvSpPr>
        <p:spPr bwMode="gray">
          <a:xfrm>
            <a:off x="1488731" y="4066663"/>
            <a:ext cx="203976" cy="186406"/>
          </a:xfrm>
          <a:prstGeom prst="rect">
            <a:avLst/>
          </a:prstGeom>
          <a:solidFill>
            <a:srgbClr val="86BC25"/>
          </a:solidFill>
          <a:ln>
            <a:noFill/>
          </a:ln>
          <a:effec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39177D2C-89E0-4CD5-9F11-2DFE04F67193}" type="datetime'1''''''''''''''''''''''6'''''''''">
              <a:rPr lang="en-IN" altLang="en-US" sz="1200" smtClean="0">
                <a:solidFill>
                  <a:schemeClr val="bg1"/>
                </a:solidFill>
                <a:effectLst/>
              </a:rPr>
              <a:pPr lvl="0" algn="ctr">
                <a:spcBef>
                  <a:spcPct val="0"/>
                </a:spcBef>
                <a:spcAft>
                  <a:spcPct val="0"/>
                </a:spcAft>
              </a:pPr>
              <a:t>16</a:t>
            </a:fld>
            <a:endParaRPr lang="en-IN" sz="1200" noProof="0">
              <a:solidFill>
                <a:schemeClr val="bg1"/>
              </a:solidFill>
            </a:endParaRPr>
          </a:p>
        </p:txBody>
      </p:sp>
      <p:sp>
        <p:nvSpPr>
          <p:cNvPr id="66" name="Text Placeholder 18">
            <a:extLst>
              <a:ext uri="{FF2B5EF4-FFF2-40B4-BE49-F238E27FC236}">
                <a16:creationId xmlns:a16="http://schemas.microsoft.com/office/drawing/2014/main" id="{E6DB7C71-369B-A870-E96C-D2D692A0EB2E}"/>
              </a:ext>
            </a:extLst>
          </p:cNvPr>
          <p:cNvSpPr>
            <a:spLocks noGrp="1"/>
          </p:cNvSpPr>
          <p:nvPr>
            <p:custDataLst>
              <p:tags r:id="rId36"/>
            </p:custDataLst>
          </p:nvPr>
        </p:nvSpPr>
        <p:spPr bwMode="gray">
          <a:xfrm>
            <a:off x="5030442" y="4406388"/>
            <a:ext cx="127093" cy="18640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451CC2DD-E15E-4575-958D-DC5D2BA653CF}" type="datetime'''''''''''''''''1'''''''''''''''''''''''''''''">
              <a:rPr lang="en-IN" altLang="en-US" sz="1200" smtClean="0"/>
              <a:pPr lvl="0">
                <a:spcBef>
                  <a:spcPct val="0"/>
                </a:spcBef>
                <a:spcAft>
                  <a:spcPct val="0"/>
                </a:spcAft>
              </a:pPr>
              <a:t>1</a:t>
            </a:fld>
            <a:endParaRPr lang="en-IN" sz="1200" noProof="0"/>
          </a:p>
        </p:txBody>
      </p:sp>
      <p:sp>
        <p:nvSpPr>
          <p:cNvPr id="67" name="Text Placeholder 18">
            <a:extLst>
              <a:ext uri="{FF2B5EF4-FFF2-40B4-BE49-F238E27FC236}">
                <a16:creationId xmlns:a16="http://schemas.microsoft.com/office/drawing/2014/main" id="{7C624D19-5A8D-320E-6B2B-D4AC8963C3A2}"/>
              </a:ext>
            </a:extLst>
          </p:cNvPr>
          <p:cNvSpPr>
            <a:spLocks noGrp="1"/>
          </p:cNvSpPr>
          <p:nvPr>
            <p:custDataLst>
              <p:tags r:id="rId37"/>
            </p:custDataLst>
          </p:nvPr>
        </p:nvSpPr>
        <p:spPr bwMode="gray">
          <a:xfrm>
            <a:off x="1488731" y="4511163"/>
            <a:ext cx="203976" cy="186406"/>
          </a:xfrm>
          <a:prstGeom prst="rect">
            <a:avLst/>
          </a:prstGeom>
          <a:solidFill>
            <a:srgbClr val="012169"/>
          </a:solidFill>
          <a:ln>
            <a:noFill/>
          </a:ln>
          <a:effec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105F056F-C7C8-46CB-A963-33BF54079181}" type="datetime'''''''''''''''''''''''''''''''''''''''''''''''''47'''''''''">
              <a:rPr lang="en-IN" altLang="en-US" sz="1200" smtClean="0">
                <a:solidFill>
                  <a:schemeClr val="bg1"/>
                </a:solidFill>
                <a:effectLst/>
              </a:rPr>
              <a:pPr lvl="0" algn="ctr">
                <a:spcBef>
                  <a:spcPct val="0"/>
                </a:spcBef>
                <a:spcAft>
                  <a:spcPct val="0"/>
                </a:spcAft>
              </a:pPr>
              <a:t>47</a:t>
            </a:fld>
            <a:endParaRPr lang="en-IN" sz="1200" noProof="0">
              <a:solidFill>
                <a:schemeClr val="bg1"/>
              </a:solidFill>
            </a:endParaRPr>
          </a:p>
        </p:txBody>
      </p:sp>
      <p:sp>
        <p:nvSpPr>
          <p:cNvPr id="68" name="Text Placeholder 18">
            <a:extLst>
              <a:ext uri="{FF2B5EF4-FFF2-40B4-BE49-F238E27FC236}">
                <a16:creationId xmlns:a16="http://schemas.microsoft.com/office/drawing/2014/main" id="{1ABD4028-233D-7ECB-0ACC-F853D0E9A174}"/>
              </a:ext>
            </a:extLst>
          </p:cNvPr>
          <p:cNvSpPr>
            <a:spLocks noGrp="1"/>
          </p:cNvSpPr>
          <p:nvPr>
            <p:custDataLst>
              <p:tags r:id="rId38"/>
            </p:custDataLst>
          </p:nvPr>
        </p:nvSpPr>
        <p:spPr bwMode="gray">
          <a:xfrm>
            <a:off x="1044231" y="4152388"/>
            <a:ext cx="203976" cy="186406"/>
          </a:xfrm>
          <a:prstGeom prst="rect">
            <a:avLst/>
          </a:prstGeom>
          <a:solidFill>
            <a:srgbClr val="62B5E5"/>
          </a:solidFill>
          <a:ln>
            <a:noFill/>
          </a:ln>
          <a:effec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DA8605FF-431D-4838-9F44-4A233857F623}" type="datetime'''''''''''''''''''''''4''''''''''''''''''''''''''''''''''6'">
              <a:rPr lang="en-IN" altLang="en-US" sz="1200" smtClean="0">
                <a:solidFill>
                  <a:schemeClr val="bg1"/>
                </a:solidFill>
                <a:effectLst/>
              </a:rPr>
              <a:pPr lvl="0" algn="ctr">
                <a:spcBef>
                  <a:spcPct val="0"/>
                </a:spcBef>
                <a:spcAft>
                  <a:spcPct val="0"/>
                </a:spcAft>
              </a:pPr>
              <a:t>46</a:t>
            </a:fld>
            <a:endParaRPr lang="en-IN" sz="1200" noProof="0">
              <a:solidFill>
                <a:schemeClr val="bg1"/>
              </a:solidFill>
            </a:endParaRPr>
          </a:p>
        </p:txBody>
      </p:sp>
      <p:sp>
        <p:nvSpPr>
          <p:cNvPr id="70" name="Text Placeholder 18">
            <a:extLst>
              <a:ext uri="{FF2B5EF4-FFF2-40B4-BE49-F238E27FC236}">
                <a16:creationId xmlns:a16="http://schemas.microsoft.com/office/drawing/2014/main" id="{C528CCE0-612A-C63C-E38E-A3FBE6D535E4}"/>
              </a:ext>
            </a:extLst>
          </p:cNvPr>
          <p:cNvSpPr>
            <a:spLocks noGrp="1"/>
          </p:cNvSpPr>
          <p:nvPr>
            <p:custDataLst>
              <p:tags r:id="rId39"/>
            </p:custDataLst>
          </p:nvPr>
        </p:nvSpPr>
        <p:spPr bwMode="gray">
          <a:xfrm>
            <a:off x="4685956" y="3511038"/>
            <a:ext cx="203976" cy="186406"/>
          </a:xfrm>
          <a:prstGeom prst="rect">
            <a:avLst/>
          </a:prstGeom>
          <a:solidFill>
            <a:srgbClr val="86BC25"/>
          </a:solidFill>
          <a:ln>
            <a:noFill/>
          </a:ln>
          <a:effec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5D712D4C-C45C-42F4-BB63-A8D303587DEA}" type="datetime'''''''''''''''''''''''''''''''''''''1''''''6'''">
              <a:rPr lang="en-IN" altLang="en-US" sz="1200" smtClean="0">
                <a:solidFill>
                  <a:schemeClr val="bg1"/>
                </a:solidFill>
                <a:effectLst/>
              </a:rPr>
              <a:pPr lvl="0" algn="ctr">
                <a:spcBef>
                  <a:spcPct val="0"/>
                </a:spcBef>
                <a:spcAft>
                  <a:spcPct val="0"/>
                </a:spcAft>
              </a:pPr>
              <a:t>16</a:t>
            </a:fld>
            <a:endParaRPr lang="en-IN" sz="1200" noProof="0">
              <a:solidFill>
                <a:schemeClr val="bg1"/>
              </a:solidFill>
            </a:endParaRPr>
          </a:p>
        </p:txBody>
      </p:sp>
      <p:sp>
        <p:nvSpPr>
          <p:cNvPr id="71" name="Text Placeholder 18">
            <a:extLst>
              <a:ext uri="{FF2B5EF4-FFF2-40B4-BE49-F238E27FC236}">
                <a16:creationId xmlns:a16="http://schemas.microsoft.com/office/drawing/2014/main" id="{A9128D5D-EB31-BA33-5FA6-7A74F74B704D}"/>
              </a:ext>
            </a:extLst>
          </p:cNvPr>
          <p:cNvSpPr>
            <a:spLocks noGrp="1"/>
          </p:cNvSpPr>
          <p:nvPr>
            <p:custDataLst>
              <p:tags r:id="rId40"/>
            </p:custDataLst>
          </p:nvPr>
        </p:nvSpPr>
        <p:spPr bwMode="gray">
          <a:xfrm>
            <a:off x="7621243" y="2777245"/>
            <a:ext cx="280860" cy="18640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1F882DE4-76C2-4CDB-AA97-9E0065D85DEC}" type="datetime'''''''''''''''''''''''''''''''''8''''''''3''''6'''">
              <a:rPr lang="en-IN" altLang="en-US" sz="1200" smtClean="0"/>
              <a:pPr lvl="0" algn="ctr">
                <a:spcBef>
                  <a:spcPct val="0"/>
                </a:spcBef>
                <a:spcAft>
                  <a:spcPct val="0"/>
                </a:spcAft>
              </a:pPr>
              <a:t>836</a:t>
            </a:fld>
            <a:endParaRPr lang="en-IN" sz="1200" noProof="0"/>
          </a:p>
        </p:txBody>
      </p:sp>
      <p:sp>
        <p:nvSpPr>
          <p:cNvPr id="72" name="Text Placeholder 18">
            <a:extLst>
              <a:ext uri="{FF2B5EF4-FFF2-40B4-BE49-F238E27FC236}">
                <a16:creationId xmlns:a16="http://schemas.microsoft.com/office/drawing/2014/main" id="{4A4CDCA7-BCC3-25E3-1696-11B9CA3E2593}"/>
              </a:ext>
            </a:extLst>
          </p:cNvPr>
          <p:cNvSpPr>
            <a:spLocks noGrp="1"/>
          </p:cNvSpPr>
          <p:nvPr>
            <p:custDataLst>
              <p:tags r:id="rId41"/>
            </p:custDataLst>
          </p:nvPr>
        </p:nvSpPr>
        <p:spPr bwMode="gray">
          <a:xfrm>
            <a:off x="10759730" y="2107670"/>
            <a:ext cx="3954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A788D5EE-1325-4F96-BC6C-0AF739D6D144}" type="datetime'''1,''''''''1''''0''''''''6'''''">
              <a:rPr lang="en-IN" altLang="en-US" sz="1200" smtClean="0"/>
              <a:pPr lvl="0" algn="ctr">
                <a:spcBef>
                  <a:spcPct val="0"/>
                </a:spcBef>
                <a:spcAft>
                  <a:spcPct val="0"/>
                </a:spcAft>
              </a:pPr>
              <a:t>1,106</a:t>
            </a:fld>
            <a:endParaRPr lang="en-IN" sz="1200" noProof="0"/>
          </a:p>
        </p:txBody>
      </p:sp>
      <p:sp>
        <p:nvSpPr>
          <p:cNvPr id="73" name="Text Placeholder 18">
            <a:extLst>
              <a:ext uri="{FF2B5EF4-FFF2-40B4-BE49-F238E27FC236}">
                <a16:creationId xmlns:a16="http://schemas.microsoft.com/office/drawing/2014/main" id="{C7811C4B-B902-B447-DAC3-611415E5A4AC}"/>
              </a:ext>
            </a:extLst>
          </p:cNvPr>
          <p:cNvSpPr>
            <a:spLocks noGrp="1"/>
          </p:cNvSpPr>
          <p:nvPr>
            <p:custDataLst>
              <p:tags r:id="rId42"/>
            </p:custDataLst>
          </p:nvPr>
        </p:nvSpPr>
        <p:spPr bwMode="gray">
          <a:xfrm>
            <a:off x="7659343" y="2959807"/>
            <a:ext cx="203976" cy="186406"/>
          </a:xfrm>
          <a:prstGeom prst="rect">
            <a:avLst/>
          </a:prstGeom>
          <a:solidFill>
            <a:srgbClr val="86BC25"/>
          </a:solidFill>
          <a:ln>
            <a:noFill/>
          </a:ln>
          <a:effec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26E09437-5B1A-4658-A6A9-872AD4BB8256}" type="datetime'''''''''1''''''''''''''''''''''''''''''7'''''''">
              <a:rPr lang="en-IN" altLang="en-US" sz="1200" smtClean="0">
                <a:solidFill>
                  <a:schemeClr val="bg1"/>
                </a:solidFill>
                <a:effectLst/>
              </a:rPr>
              <a:pPr lvl="0" algn="ctr">
                <a:spcBef>
                  <a:spcPct val="0"/>
                </a:spcBef>
                <a:spcAft>
                  <a:spcPct val="0"/>
                </a:spcAft>
              </a:pPr>
              <a:t>17</a:t>
            </a:fld>
            <a:endParaRPr lang="en-IN" sz="1200" noProof="0">
              <a:solidFill>
                <a:schemeClr val="bg1"/>
              </a:solidFill>
            </a:endParaRPr>
          </a:p>
        </p:txBody>
      </p:sp>
      <p:sp>
        <p:nvSpPr>
          <p:cNvPr id="75" name="Text Placeholder 18">
            <a:extLst>
              <a:ext uri="{FF2B5EF4-FFF2-40B4-BE49-F238E27FC236}">
                <a16:creationId xmlns:a16="http://schemas.microsoft.com/office/drawing/2014/main" id="{14663E7A-C3D4-813F-3070-DE6402D2D087}"/>
              </a:ext>
            </a:extLst>
          </p:cNvPr>
          <p:cNvSpPr>
            <a:spLocks noGrp="1"/>
          </p:cNvSpPr>
          <p:nvPr>
            <p:custDataLst>
              <p:tags r:id="rId43"/>
            </p:custDataLst>
          </p:nvPr>
        </p:nvSpPr>
        <p:spPr bwMode="gray">
          <a:xfrm>
            <a:off x="7437093" y="4490525"/>
            <a:ext cx="203976" cy="186406"/>
          </a:xfrm>
          <a:prstGeom prst="rect">
            <a:avLst/>
          </a:prstGeom>
          <a:solidFill>
            <a:srgbClr val="0097A9"/>
          </a:solidFill>
          <a:ln>
            <a:noFill/>
          </a:ln>
          <a:effec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EC7EE966-7F07-4D6A-AD5F-6C49EF8ED734}" type="datetime'1''''''''''''''''''3'''''''''''''''''''''''''''''">
              <a:rPr lang="en-IN" altLang="en-US" sz="1200" smtClean="0">
                <a:solidFill>
                  <a:schemeClr val="bg1"/>
                </a:solidFill>
                <a:effectLst/>
              </a:rPr>
              <a:pPr lvl="0" algn="ctr">
                <a:spcBef>
                  <a:spcPct val="0"/>
                </a:spcBef>
                <a:spcAft>
                  <a:spcPct val="0"/>
                </a:spcAft>
              </a:pPr>
              <a:t>13</a:t>
            </a:fld>
            <a:endParaRPr lang="en-IN" sz="1200" noProof="0">
              <a:solidFill>
                <a:schemeClr val="bg1"/>
              </a:solidFill>
            </a:endParaRPr>
          </a:p>
        </p:txBody>
      </p:sp>
      <p:sp>
        <p:nvSpPr>
          <p:cNvPr id="77" name="Text Placeholder 18">
            <a:extLst>
              <a:ext uri="{FF2B5EF4-FFF2-40B4-BE49-F238E27FC236}">
                <a16:creationId xmlns:a16="http://schemas.microsoft.com/office/drawing/2014/main" id="{AA803223-CA31-8EAF-643B-B2BB078E2A00}"/>
              </a:ext>
            </a:extLst>
          </p:cNvPr>
          <p:cNvSpPr>
            <a:spLocks noGrp="1"/>
          </p:cNvSpPr>
          <p:nvPr>
            <p:custDataLst>
              <p:tags r:id="rId44"/>
            </p:custDataLst>
          </p:nvPr>
        </p:nvSpPr>
        <p:spPr bwMode="gray">
          <a:xfrm>
            <a:off x="8226080" y="4360350"/>
            <a:ext cx="127093" cy="18640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824F70FA-E12E-4306-83EE-5F8CC1490939}" type="datetime'''''''''''''''''''''''''''''''''''''''''''0'''''''''''''">
              <a:rPr lang="en-IN" altLang="en-US" sz="1200" smtClean="0"/>
              <a:pPr lvl="0">
                <a:spcBef>
                  <a:spcPct val="0"/>
                </a:spcBef>
                <a:spcAft>
                  <a:spcPct val="0"/>
                </a:spcAft>
              </a:pPr>
              <a:t>0</a:t>
            </a:fld>
            <a:endParaRPr lang="en-IN" sz="1200" noProof="0"/>
          </a:p>
        </p:txBody>
      </p:sp>
      <p:sp>
        <p:nvSpPr>
          <p:cNvPr id="78" name="Text Placeholder 18">
            <a:extLst>
              <a:ext uri="{FF2B5EF4-FFF2-40B4-BE49-F238E27FC236}">
                <a16:creationId xmlns:a16="http://schemas.microsoft.com/office/drawing/2014/main" id="{45DC0FE2-8D62-BDD0-89B2-2C0E74420BB6}"/>
              </a:ext>
            </a:extLst>
          </p:cNvPr>
          <p:cNvSpPr>
            <a:spLocks noGrp="1"/>
          </p:cNvSpPr>
          <p:nvPr>
            <p:custDataLst>
              <p:tags r:id="rId45"/>
            </p:custDataLst>
          </p:nvPr>
        </p:nvSpPr>
        <p:spPr bwMode="gray">
          <a:xfrm>
            <a:off x="4685956" y="4450838"/>
            <a:ext cx="203976" cy="186406"/>
          </a:xfrm>
          <a:prstGeom prst="rect">
            <a:avLst/>
          </a:prstGeom>
          <a:solidFill>
            <a:srgbClr val="012169"/>
          </a:solidFill>
          <a:ln>
            <a:noFill/>
          </a:ln>
          <a:effec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E3573C62-38A2-4848-B762-CDA0A4D110A4}" type="datetime'49'''''''''''''''''''''''''''''''''''''''''''''''''''''">
              <a:rPr lang="en-IN" altLang="en-US" sz="1200" smtClean="0">
                <a:solidFill>
                  <a:schemeClr val="bg1"/>
                </a:solidFill>
                <a:effectLst/>
              </a:rPr>
              <a:pPr lvl="0" algn="ctr">
                <a:spcBef>
                  <a:spcPct val="0"/>
                </a:spcBef>
                <a:spcAft>
                  <a:spcPct val="0"/>
                </a:spcAft>
              </a:pPr>
              <a:t>49</a:t>
            </a:fld>
            <a:endParaRPr lang="en-IN" sz="1200" noProof="0">
              <a:solidFill>
                <a:schemeClr val="bg1"/>
              </a:solidFill>
            </a:endParaRPr>
          </a:p>
        </p:txBody>
      </p:sp>
      <p:sp>
        <p:nvSpPr>
          <p:cNvPr id="79" name="Text Placeholder 18">
            <a:extLst>
              <a:ext uri="{FF2B5EF4-FFF2-40B4-BE49-F238E27FC236}">
                <a16:creationId xmlns:a16="http://schemas.microsoft.com/office/drawing/2014/main" id="{D9AB853A-13B8-4E9D-89AC-3F5EBA2AE4D9}"/>
              </a:ext>
            </a:extLst>
          </p:cNvPr>
          <p:cNvSpPr>
            <a:spLocks noGrp="1"/>
          </p:cNvSpPr>
          <p:nvPr>
            <p:custDataLst>
              <p:tags r:id="rId46"/>
            </p:custDataLst>
          </p:nvPr>
        </p:nvSpPr>
        <p:spPr bwMode="gray">
          <a:xfrm>
            <a:off x="10634318" y="4485763"/>
            <a:ext cx="203976" cy="186406"/>
          </a:xfrm>
          <a:prstGeom prst="rect">
            <a:avLst/>
          </a:prstGeom>
          <a:solidFill>
            <a:srgbClr val="BBBCBC"/>
          </a:solidFill>
          <a:ln>
            <a:noFill/>
          </a:ln>
          <a:effectLst/>
        </p:spPr>
        <p:txBody>
          <a:bodyPr vert="horz" wrap="none" lIns="25400" tIns="0" rIns="2540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BCA1E336-F062-4EFF-BC7E-8079C090A05A}" type="datetime'''''''''''''''''''''''1''''8'''''''''''''''''''''''''">
              <a:rPr lang="en-IN" altLang="en-US" sz="1200" smtClean="0">
                <a:effectLst/>
              </a:rPr>
              <a:pPr lvl="0" algn="ctr">
                <a:spcBef>
                  <a:spcPct val="0"/>
                </a:spcBef>
                <a:spcAft>
                  <a:spcPct val="0"/>
                </a:spcAft>
              </a:pPr>
              <a:t>18</a:t>
            </a:fld>
            <a:endParaRPr lang="en-IN" sz="1200" noProof="0"/>
          </a:p>
        </p:txBody>
      </p:sp>
      <p:sp>
        <p:nvSpPr>
          <p:cNvPr id="80" name="Text Placeholder 18">
            <a:extLst>
              <a:ext uri="{FF2B5EF4-FFF2-40B4-BE49-F238E27FC236}">
                <a16:creationId xmlns:a16="http://schemas.microsoft.com/office/drawing/2014/main" id="{E416B4E2-45C6-8E5D-6003-AA158A98F60F}"/>
              </a:ext>
            </a:extLst>
          </p:cNvPr>
          <p:cNvSpPr>
            <a:spLocks noGrp="1"/>
          </p:cNvSpPr>
          <p:nvPr>
            <p:custDataLst>
              <p:tags r:id="rId47"/>
            </p:custDataLst>
          </p:nvPr>
        </p:nvSpPr>
        <p:spPr bwMode="auto">
          <a:xfrm>
            <a:off x="2622205" y="2994704"/>
            <a:ext cx="646448" cy="264210"/>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99220BCB-8495-43FB-8ADF-143FBAFC1B44}" type="datetime'+''''''''''''''''''''''4''5''''''''''''''''.0''%'''''">
              <a:rPr lang="en-IN" altLang="en-US" sz="1200" b="1" smtClean="0">
                <a:effectLst/>
              </a:rPr>
              <a:pPr lvl="0" algn="ctr">
                <a:spcBef>
                  <a:spcPct val="0"/>
                </a:spcBef>
                <a:spcAft>
                  <a:spcPct val="0"/>
                </a:spcAft>
              </a:pPr>
              <a:t>+45.0%</a:t>
            </a:fld>
            <a:endParaRPr lang="en-IN" sz="1200" b="1" noProof="0"/>
          </a:p>
        </p:txBody>
      </p:sp>
      <p:sp>
        <p:nvSpPr>
          <p:cNvPr id="82" name="Text Placeholder 18">
            <a:extLst>
              <a:ext uri="{FF2B5EF4-FFF2-40B4-BE49-F238E27FC236}">
                <a16:creationId xmlns:a16="http://schemas.microsoft.com/office/drawing/2014/main" id="{691A2BDE-304A-B8E3-0D43-5219F21342CE}"/>
              </a:ext>
            </a:extLst>
          </p:cNvPr>
          <p:cNvSpPr>
            <a:spLocks noGrp="1"/>
          </p:cNvSpPr>
          <p:nvPr>
            <p:custDataLst>
              <p:tags r:id="rId48"/>
            </p:custDataLst>
          </p:nvPr>
        </p:nvSpPr>
        <p:spPr bwMode="auto">
          <a:xfrm>
            <a:off x="5836892" y="2455669"/>
            <a:ext cx="646448" cy="264210"/>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30B0C339-0EC7-4D9E-A2AB-169316C4B0C4}" type="datetime'''''''''+''3''0''''''''''''''''''.''''''''''''''''4''%'">
              <a:rPr lang="en-IN" altLang="en-US" sz="1200" b="1" smtClean="0">
                <a:effectLst/>
              </a:rPr>
              <a:pPr lvl="0" algn="ctr">
                <a:spcBef>
                  <a:spcPct val="0"/>
                </a:spcBef>
                <a:spcAft>
                  <a:spcPct val="0"/>
                </a:spcAft>
              </a:pPr>
              <a:t>+30.4%</a:t>
            </a:fld>
            <a:endParaRPr lang="en-IN" sz="1200" b="1" noProof="0"/>
          </a:p>
        </p:txBody>
      </p:sp>
      <p:sp>
        <p:nvSpPr>
          <p:cNvPr id="84" name="Text Placeholder 18">
            <a:extLst>
              <a:ext uri="{FF2B5EF4-FFF2-40B4-BE49-F238E27FC236}">
                <a16:creationId xmlns:a16="http://schemas.microsoft.com/office/drawing/2014/main" id="{BDB809D9-CEA1-F651-517E-522C66F8CFBC}"/>
              </a:ext>
            </a:extLst>
          </p:cNvPr>
          <p:cNvSpPr>
            <a:spLocks noGrp="1"/>
          </p:cNvSpPr>
          <p:nvPr>
            <p:custDataLst>
              <p:tags r:id="rId49"/>
            </p:custDataLst>
          </p:nvPr>
        </p:nvSpPr>
        <p:spPr bwMode="auto">
          <a:xfrm>
            <a:off x="9227184" y="1873636"/>
            <a:ext cx="646448" cy="258763"/>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lgn="ctr">
              <a:spcBef>
                <a:spcPct val="0"/>
              </a:spcBef>
              <a:spcAft>
                <a:spcPct val="0"/>
              </a:spcAft>
            </a:pPr>
            <a:fld id="{C58F289D-2021-4AC9-A587-1777E2F81069}" type="datetime'''+''3''''''''''''''''''''''''''2''''.''''''3''''''''''''''%'">
              <a:rPr lang="en-IN" altLang="en-US" sz="1200" b="1" smtClean="0">
                <a:effectLst/>
              </a:rPr>
              <a:pPr lvl="0" algn="ctr">
                <a:spcBef>
                  <a:spcPct val="0"/>
                </a:spcBef>
                <a:spcAft>
                  <a:spcPct val="0"/>
                </a:spcAft>
              </a:pPr>
              <a:t>+32.3%</a:t>
            </a:fld>
            <a:endParaRPr lang="en-IN" sz="1200" b="1" noProof="0"/>
          </a:p>
        </p:txBody>
      </p:sp>
      <p:sp>
        <p:nvSpPr>
          <p:cNvPr id="86" name="Rectangle 85">
            <a:extLst>
              <a:ext uri="{FF2B5EF4-FFF2-40B4-BE49-F238E27FC236}">
                <a16:creationId xmlns:a16="http://schemas.microsoft.com/office/drawing/2014/main" id="{78925E44-02C0-C926-2FDA-79FD452E2463}"/>
              </a:ext>
            </a:extLst>
          </p:cNvPr>
          <p:cNvSpPr/>
          <p:nvPr>
            <p:custDataLst>
              <p:tags r:id="rId50"/>
            </p:custDataLst>
          </p:nvPr>
        </p:nvSpPr>
        <p:spPr bwMode="auto">
          <a:xfrm>
            <a:off x="2547593" y="1698833"/>
            <a:ext cx="211822" cy="160338"/>
          </a:xfrm>
          <a:prstGeom prst="rect">
            <a:avLst/>
          </a:prstGeom>
          <a:solidFill>
            <a:srgbClr val="63666A"/>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IN" sz="1600" b="1">
              <a:solidFill>
                <a:schemeClr val="bg1"/>
              </a:solidFill>
            </a:endParaRPr>
          </a:p>
        </p:txBody>
      </p:sp>
      <p:sp>
        <p:nvSpPr>
          <p:cNvPr id="88" name="Rectangle 87">
            <a:extLst>
              <a:ext uri="{FF2B5EF4-FFF2-40B4-BE49-F238E27FC236}">
                <a16:creationId xmlns:a16="http://schemas.microsoft.com/office/drawing/2014/main" id="{2C7000D4-6653-61BB-5ED5-35AD26B9C480}"/>
              </a:ext>
            </a:extLst>
          </p:cNvPr>
          <p:cNvSpPr/>
          <p:nvPr>
            <p:custDataLst>
              <p:tags r:id="rId51"/>
            </p:custDataLst>
          </p:nvPr>
        </p:nvSpPr>
        <p:spPr bwMode="auto">
          <a:xfrm>
            <a:off x="3184181" y="1698834"/>
            <a:ext cx="211822" cy="160338"/>
          </a:xfrm>
          <a:prstGeom prst="rect">
            <a:avLst/>
          </a:prstGeom>
          <a:solidFill>
            <a:srgbClr val="046A38"/>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IN" sz="1600" b="1">
              <a:solidFill>
                <a:schemeClr val="bg1"/>
              </a:solidFill>
            </a:endParaRPr>
          </a:p>
        </p:txBody>
      </p:sp>
      <p:sp>
        <p:nvSpPr>
          <p:cNvPr id="89" name="Rectangle 88">
            <a:extLst>
              <a:ext uri="{FF2B5EF4-FFF2-40B4-BE49-F238E27FC236}">
                <a16:creationId xmlns:a16="http://schemas.microsoft.com/office/drawing/2014/main" id="{55E1F18F-0FC5-0EDE-1C4E-E7A13EE3A2B7}"/>
              </a:ext>
            </a:extLst>
          </p:cNvPr>
          <p:cNvSpPr/>
          <p:nvPr>
            <p:custDataLst>
              <p:tags r:id="rId52"/>
            </p:custDataLst>
          </p:nvPr>
        </p:nvSpPr>
        <p:spPr bwMode="auto">
          <a:xfrm>
            <a:off x="3960468" y="1698834"/>
            <a:ext cx="211822" cy="160338"/>
          </a:xfrm>
          <a:prstGeom prst="rect">
            <a:avLst/>
          </a:prstGeom>
          <a:solidFill>
            <a:srgbClr val="BBBCBC"/>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IN" sz="1600" b="1">
              <a:solidFill>
                <a:schemeClr val="bg1"/>
              </a:solidFill>
            </a:endParaRPr>
          </a:p>
        </p:txBody>
      </p:sp>
      <p:sp>
        <p:nvSpPr>
          <p:cNvPr id="91" name="Rectangle 90">
            <a:extLst>
              <a:ext uri="{FF2B5EF4-FFF2-40B4-BE49-F238E27FC236}">
                <a16:creationId xmlns:a16="http://schemas.microsoft.com/office/drawing/2014/main" id="{13578E66-EAC2-2018-C444-0B3241E72EBF}"/>
              </a:ext>
            </a:extLst>
          </p:cNvPr>
          <p:cNvSpPr/>
          <p:nvPr>
            <p:custDataLst>
              <p:tags r:id="rId53"/>
            </p:custDataLst>
          </p:nvPr>
        </p:nvSpPr>
        <p:spPr bwMode="auto">
          <a:xfrm>
            <a:off x="4557368" y="1698834"/>
            <a:ext cx="211822" cy="160338"/>
          </a:xfrm>
          <a:prstGeom prst="rect">
            <a:avLst/>
          </a:prstGeom>
          <a:solidFill>
            <a:srgbClr val="75787B"/>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IN" sz="1600" b="1">
              <a:solidFill>
                <a:schemeClr val="bg1"/>
              </a:solidFill>
            </a:endParaRPr>
          </a:p>
        </p:txBody>
      </p:sp>
      <p:sp>
        <p:nvSpPr>
          <p:cNvPr id="92" name="Rectangle 91">
            <a:extLst>
              <a:ext uri="{FF2B5EF4-FFF2-40B4-BE49-F238E27FC236}">
                <a16:creationId xmlns:a16="http://schemas.microsoft.com/office/drawing/2014/main" id="{570E4853-1ACD-72E5-21A8-B1BFE424C070}"/>
              </a:ext>
            </a:extLst>
          </p:cNvPr>
          <p:cNvSpPr/>
          <p:nvPr>
            <p:custDataLst>
              <p:tags r:id="rId54"/>
            </p:custDataLst>
          </p:nvPr>
        </p:nvSpPr>
        <p:spPr bwMode="auto">
          <a:xfrm>
            <a:off x="5300318" y="1698834"/>
            <a:ext cx="211822" cy="160338"/>
          </a:xfrm>
          <a:prstGeom prst="rect">
            <a:avLst/>
          </a:prstGeom>
          <a:solidFill>
            <a:srgbClr val="0097A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IN" sz="1600" b="1">
              <a:solidFill>
                <a:schemeClr val="bg1"/>
              </a:solidFill>
            </a:endParaRPr>
          </a:p>
        </p:txBody>
      </p:sp>
      <p:sp>
        <p:nvSpPr>
          <p:cNvPr id="93" name="Rectangle 92">
            <a:extLst>
              <a:ext uri="{FF2B5EF4-FFF2-40B4-BE49-F238E27FC236}">
                <a16:creationId xmlns:a16="http://schemas.microsoft.com/office/drawing/2014/main" id="{60A3B05E-23F7-EBB8-1D0A-196B4A33B508}"/>
              </a:ext>
            </a:extLst>
          </p:cNvPr>
          <p:cNvSpPr/>
          <p:nvPr>
            <p:custDataLst>
              <p:tags r:id="rId55"/>
            </p:custDataLst>
          </p:nvPr>
        </p:nvSpPr>
        <p:spPr bwMode="auto">
          <a:xfrm>
            <a:off x="6146456" y="1698834"/>
            <a:ext cx="211822" cy="160338"/>
          </a:xfrm>
          <a:prstGeom prst="rect">
            <a:avLst/>
          </a:prstGeom>
          <a:solidFill>
            <a:srgbClr val="01216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IN" sz="1600" b="1">
              <a:solidFill>
                <a:schemeClr val="bg1"/>
              </a:solidFill>
            </a:endParaRPr>
          </a:p>
        </p:txBody>
      </p:sp>
      <p:sp>
        <p:nvSpPr>
          <p:cNvPr id="94" name="Rectangle 93">
            <a:extLst>
              <a:ext uri="{FF2B5EF4-FFF2-40B4-BE49-F238E27FC236}">
                <a16:creationId xmlns:a16="http://schemas.microsoft.com/office/drawing/2014/main" id="{B6132AF7-EBA9-7FE2-6545-062862747311}"/>
              </a:ext>
            </a:extLst>
          </p:cNvPr>
          <p:cNvSpPr/>
          <p:nvPr>
            <p:custDataLst>
              <p:tags r:id="rId56"/>
            </p:custDataLst>
          </p:nvPr>
        </p:nvSpPr>
        <p:spPr bwMode="auto">
          <a:xfrm>
            <a:off x="6884643" y="1698834"/>
            <a:ext cx="211822" cy="160338"/>
          </a:xfrm>
          <a:prstGeom prst="rect">
            <a:avLst/>
          </a:prstGeom>
          <a:solidFill>
            <a:srgbClr val="FFCD0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IN" sz="1600" b="1">
              <a:solidFill>
                <a:schemeClr val="bg1"/>
              </a:solidFill>
            </a:endParaRPr>
          </a:p>
        </p:txBody>
      </p:sp>
      <p:sp>
        <p:nvSpPr>
          <p:cNvPr id="95" name="Rectangle 94">
            <a:extLst>
              <a:ext uri="{FF2B5EF4-FFF2-40B4-BE49-F238E27FC236}">
                <a16:creationId xmlns:a16="http://schemas.microsoft.com/office/drawing/2014/main" id="{BB9E988D-4248-0FFB-6009-32876AC508A0}"/>
              </a:ext>
            </a:extLst>
          </p:cNvPr>
          <p:cNvSpPr/>
          <p:nvPr>
            <p:custDataLst>
              <p:tags r:id="rId57"/>
            </p:custDataLst>
          </p:nvPr>
        </p:nvSpPr>
        <p:spPr bwMode="auto">
          <a:xfrm>
            <a:off x="7562506" y="1698834"/>
            <a:ext cx="211822" cy="160338"/>
          </a:xfrm>
          <a:prstGeom prst="rect">
            <a:avLst/>
          </a:prstGeom>
          <a:solidFill>
            <a:srgbClr val="62B5E5"/>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IN" sz="1600" b="1">
              <a:solidFill>
                <a:schemeClr val="bg1"/>
              </a:solidFill>
            </a:endParaRPr>
          </a:p>
        </p:txBody>
      </p:sp>
      <p:sp>
        <p:nvSpPr>
          <p:cNvPr id="96" name="Rectangle 95">
            <a:extLst>
              <a:ext uri="{FF2B5EF4-FFF2-40B4-BE49-F238E27FC236}">
                <a16:creationId xmlns:a16="http://schemas.microsoft.com/office/drawing/2014/main" id="{249E8D42-C94B-0683-9EC4-74FBC3579619}"/>
              </a:ext>
            </a:extLst>
          </p:cNvPr>
          <p:cNvSpPr/>
          <p:nvPr>
            <p:custDataLst>
              <p:tags r:id="rId58"/>
            </p:custDataLst>
          </p:nvPr>
        </p:nvSpPr>
        <p:spPr bwMode="auto">
          <a:xfrm>
            <a:off x="8257831" y="1787118"/>
            <a:ext cx="211822" cy="160338"/>
          </a:xfrm>
          <a:prstGeom prst="rect">
            <a:avLst/>
          </a:prstGeom>
          <a:solidFill>
            <a:srgbClr val="86BC25"/>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IN" sz="1600" b="1">
              <a:solidFill>
                <a:schemeClr val="bg1"/>
              </a:solidFill>
            </a:endParaRPr>
          </a:p>
        </p:txBody>
      </p:sp>
      <p:sp>
        <p:nvSpPr>
          <p:cNvPr id="97" name="Text Placeholder 18">
            <a:extLst>
              <a:ext uri="{FF2B5EF4-FFF2-40B4-BE49-F238E27FC236}">
                <a16:creationId xmlns:a16="http://schemas.microsoft.com/office/drawing/2014/main" id="{D8D6AB02-CADD-5EF1-BB8C-9A9A28443ADD}"/>
              </a:ext>
            </a:extLst>
          </p:cNvPr>
          <p:cNvSpPr>
            <a:spLocks noGrp="1"/>
          </p:cNvSpPr>
          <p:nvPr>
            <p:custDataLst>
              <p:tags r:id="rId59"/>
            </p:custDataLst>
          </p:nvPr>
        </p:nvSpPr>
        <p:spPr bwMode="auto">
          <a:xfrm>
            <a:off x="7149755" y="1694071"/>
            <a:ext cx="307534"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2620E24B-DC37-4C34-BC92-8282BECC9057}" type="datetime'''''''''So''''''''''''''''''''l''''''''a''''''r'''''''''">
              <a:rPr lang="en-IN" altLang="en-US" sz="1200" smtClean="0">
                <a:effectLst/>
              </a:rPr>
              <a:pPr lvl="0">
                <a:spcBef>
                  <a:spcPct val="0"/>
                </a:spcBef>
                <a:spcAft>
                  <a:spcPct val="0"/>
                </a:spcAft>
              </a:pPr>
              <a:t>Solar</a:t>
            </a:fld>
            <a:endParaRPr lang="en-IN" sz="1200" noProof="0"/>
          </a:p>
        </p:txBody>
      </p:sp>
      <p:sp>
        <p:nvSpPr>
          <p:cNvPr id="98" name="Text Placeholder 18">
            <a:extLst>
              <a:ext uri="{FF2B5EF4-FFF2-40B4-BE49-F238E27FC236}">
                <a16:creationId xmlns:a16="http://schemas.microsoft.com/office/drawing/2014/main" id="{56009544-DC84-F649-C155-2FA0A343452C}"/>
              </a:ext>
            </a:extLst>
          </p:cNvPr>
          <p:cNvSpPr>
            <a:spLocks noGrp="1"/>
          </p:cNvSpPr>
          <p:nvPr>
            <p:custDataLst>
              <p:tags r:id="rId60"/>
            </p:custDataLst>
          </p:nvPr>
        </p:nvSpPr>
        <p:spPr bwMode="auto">
          <a:xfrm>
            <a:off x="2812706" y="1694071"/>
            <a:ext cx="266738"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6900E30E-22D8-4623-A39D-D7BE8FEBDFF1}" type="datetime'C''''''''o''a''''''''''''''''''''''''''l'''''">
              <a:rPr lang="en-IN" altLang="en-US" sz="1200" smtClean="0">
                <a:effectLst/>
              </a:rPr>
              <a:pPr lvl="0">
                <a:spcBef>
                  <a:spcPct val="0"/>
                </a:spcBef>
                <a:spcAft>
                  <a:spcPct val="0"/>
                </a:spcAft>
              </a:pPr>
              <a:t>Coal</a:t>
            </a:fld>
            <a:endParaRPr lang="en-IN" sz="1200" noProof="0"/>
          </a:p>
        </p:txBody>
      </p:sp>
      <p:sp>
        <p:nvSpPr>
          <p:cNvPr id="99" name="Text Placeholder 18">
            <a:extLst>
              <a:ext uri="{FF2B5EF4-FFF2-40B4-BE49-F238E27FC236}">
                <a16:creationId xmlns:a16="http://schemas.microsoft.com/office/drawing/2014/main" id="{9201316C-2FA1-84D0-502A-EBCBE74DE945}"/>
              </a:ext>
            </a:extLst>
          </p:cNvPr>
          <p:cNvSpPr>
            <a:spLocks noGrp="1"/>
          </p:cNvSpPr>
          <p:nvPr>
            <p:custDataLst>
              <p:tags r:id="rId61"/>
            </p:custDataLst>
          </p:nvPr>
        </p:nvSpPr>
        <p:spPr bwMode="auto">
          <a:xfrm>
            <a:off x="5565430" y="1694071"/>
            <a:ext cx="47385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E674DBF4-8F5F-4309-A06B-84B1B48716BA}" type="datetime'''N''''''''''''''''''''uc''''l''e''''''''a''''r'''''''''''">
              <a:rPr lang="en-IN" altLang="en-US" sz="1200" smtClean="0">
                <a:effectLst/>
              </a:rPr>
              <a:pPr lvl="0">
                <a:spcBef>
                  <a:spcPct val="0"/>
                </a:spcBef>
                <a:spcAft>
                  <a:spcPct val="0"/>
                </a:spcAft>
              </a:pPr>
              <a:t>Nuclear</a:t>
            </a:fld>
            <a:endParaRPr lang="en-IN" sz="1200" noProof="0"/>
          </a:p>
        </p:txBody>
      </p:sp>
      <p:sp>
        <p:nvSpPr>
          <p:cNvPr id="100" name="Text Placeholder 18">
            <a:extLst>
              <a:ext uri="{FF2B5EF4-FFF2-40B4-BE49-F238E27FC236}">
                <a16:creationId xmlns:a16="http://schemas.microsoft.com/office/drawing/2014/main" id="{F560419B-61F1-27F1-E62F-07DCD869B34F}"/>
              </a:ext>
            </a:extLst>
          </p:cNvPr>
          <p:cNvSpPr>
            <a:spLocks noGrp="1"/>
          </p:cNvSpPr>
          <p:nvPr>
            <p:custDataLst>
              <p:tags r:id="rId62"/>
            </p:custDataLst>
          </p:nvPr>
        </p:nvSpPr>
        <p:spPr bwMode="auto">
          <a:xfrm>
            <a:off x="3449292" y="1694071"/>
            <a:ext cx="40481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A38B9ACF-3C81-4EBA-98B7-879692BD7899}" type="datetime'''''Li''''''g''''n''''''''''''''''it''''''''''''''''e'''''">
              <a:rPr lang="en-IN" altLang="en-US" sz="1200" smtClean="0">
                <a:effectLst/>
              </a:rPr>
              <a:pPr lvl="0">
                <a:spcBef>
                  <a:spcPct val="0"/>
                </a:spcBef>
                <a:spcAft>
                  <a:spcPct val="0"/>
                </a:spcAft>
              </a:pPr>
              <a:t>Lignite</a:t>
            </a:fld>
            <a:endParaRPr lang="en-IN" sz="1200" noProof="0"/>
          </a:p>
        </p:txBody>
      </p:sp>
      <p:sp>
        <p:nvSpPr>
          <p:cNvPr id="101" name="Text Placeholder 18">
            <a:extLst>
              <a:ext uri="{FF2B5EF4-FFF2-40B4-BE49-F238E27FC236}">
                <a16:creationId xmlns:a16="http://schemas.microsoft.com/office/drawing/2014/main" id="{97587389-0DBB-9624-44D2-CD11DF6D9062}"/>
              </a:ext>
            </a:extLst>
          </p:cNvPr>
          <p:cNvSpPr>
            <a:spLocks noGrp="1"/>
          </p:cNvSpPr>
          <p:nvPr>
            <p:custDataLst>
              <p:tags r:id="rId63"/>
            </p:custDataLst>
          </p:nvPr>
        </p:nvSpPr>
        <p:spPr bwMode="auto">
          <a:xfrm>
            <a:off x="4225580" y="1694071"/>
            <a:ext cx="2275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F4E1C480-9F41-4BCF-87B6-E34105CFAA28}" type="datetime'''''''G''a''''s'''''''''''''''''''''''''''">
              <a:rPr lang="en-IN" altLang="en-US" sz="1200" smtClean="0">
                <a:effectLst/>
              </a:rPr>
              <a:pPr lvl="0">
                <a:spcBef>
                  <a:spcPct val="0"/>
                </a:spcBef>
                <a:spcAft>
                  <a:spcPct val="0"/>
                </a:spcAft>
              </a:pPr>
              <a:t>Gas</a:t>
            </a:fld>
            <a:endParaRPr lang="en-IN" sz="1200" noProof="0"/>
          </a:p>
        </p:txBody>
      </p:sp>
      <p:sp>
        <p:nvSpPr>
          <p:cNvPr id="102" name="Text Placeholder 18">
            <a:extLst>
              <a:ext uri="{FF2B5EF4-FFF2-40B4-BE49-F238E27FC236}">
                <a16:creationId xmlns:a16="http://schemas.microsoft.com/office/drawing/2014/main" id="{91A6B251-E48E-A2B9-B218-5AE4CFB8D17A}"/>
              </a:ext>
            </a:extLst>
          </p:cNvPr>
          <p:cNvSpPr>
            <a:spLocks noGrp="1"/>
          </p:cNvSpPr>
          <p:nvPr>
            <p:custDataLst>
              <p:tags r:id="rId64"/>
            </p:custDataLst>
          </p:nvPr>
        </p:nvSpPr>
        <p:spPr bwMode="auto">
          <a:xfrm>
            <a:off x="4822480" y="1694071"/>
            <a:ext cx="37186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898FFE4F-F909-4B7A-A8D6-C5B52F8ACD2C}" type="datetime'''''''''Di''e''''s''''''''''e''''''''''''''l'">
              <a:rPr lang="en-IN" altLang="en-US" sz="1200" smtClean="0">
                <a:effectLst/>
              </a:rPr>
              <a:pPr lvl="0">
                <a:spcBef>
                  <a:spcPct val="0"/>
                </a:spcBef>
                <a:spcAft>
                  <a:spcPct val="0"/>
                </a:spcAft>
              </a:pPr>
              <a:t>Diesel</a:t>
            </a:fld>
            <a:endParaRPr lang="en-IN" sz="1200" noProof="0"/>
          </a:p>
        </p:txBody>
      </p:sp>
      <p:sp>
        <p:nvSpPr>
          <p:cNvPr id="103" name="Text Placeholder 18">
            <a:extLst>
              <a:ext uri="{FF2B5EF4-FFF2-40B4-BE49-F238E27FC236}">
                <a16:creationId xmlns:a16="http://schemas.microsoft.com/office/drawing/2014/main" id="{62EC1DA7-1459-377A-ADCF-AA1669FC0109}"/>
              </a:ext>
            </a:extLst>
          </p:cNvPr>
          <p:cNvSpPr>
            <a:spLocks noGrp="1"/>
          </p:cNvSpPr>
          <p:nvPr>
            <p:custDataLst>
              <p:tags r:id="rId65"/>
            </p:custDataLst>
          </p:nvPr>
        </p:nvSpPr>
        <p:spPr bwMode="auto">
          <a:xfrm>
            <a:off x="6411567" y="1694071"/>
            <a:ext cx="367157"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DED69B6C-942D-4499-997B-9C049BD4BAB6}" type="datetime'''''''''''''''''''''H''''y''d''r''''''''''o'">
              <a:rPr lang="en-IN" altLang="en-US" sz="1200" smtClean="0">
                <a:effectLst/>
              </a:rPr>
              <a:pPr lvl="0">
                <a:spcBef>
                  <a:spcPct val="0"/>
                </a:spcBef>
                <a:spcAft>
                  <a:spcPct val="0"/>
                </a:spcAft>
              </a:pPr>
              <a:t>Hydro</a:t>
            </a:fld>
            <a:endParaRPr lang="en-IN" sz="1200" noProof="0"/>
          </a:p>
        </p:txBody>
      </p:sp>
      <p:sp>
        <p:nvSpPr>
          <p:cNvPr id="104" name="Text Placeholder 18">
            <a:extLst>
              <a:ext uri="{FF2B5EF4-FFF2-40B4-BE49-F238E27FC236}">
                <a16:creationId xmlns:a16="http://schemas.microsoft.com/office/drawing/2014/main" id="{BD5C5492-144F-D9B2-708A-6E4621EE6CD2}"/>
              </a:ext>
            </a:extLst>
          </p:cNvPr>
          <p:cNvSpPr>
            <a:spLocks noGrp="1"/>
          </p:cNvSpPr>
          <p:nvPr>
            <p:custDataLst>
              <p:tags r:id="rId66"/>
            </p:custDataLst>
          </p:nvPr>
        </p:nvSpPr>
        <p:spPr bwMode="auto">
          <a:xfrm>
            <a:off x="7827618" y="1782355"/>
            <a:ext cx="324794"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6A63A825-42F2-4BEE-968D-EEFCBC863A53}" type="datetime'''''''''''''Wi''''''''''''''''''''n''''d'''''''''''''''''">
              <a:rPr lang="en-IN" altLang="en-US" sz="1200" smtClean="0">
                <a:effectLst/>
              </a:rPr>
              <a:pPr lvl="0">
                <a:spcBef>
                  <a:spcPct val="0"/>
                </a:spcBef>
                <a:spcAft>
                  <a:spcPct val="0"/>
                </a:spcAft>
              </a:pPr>
              <a:t>Wind</a:t>
            </a:fld>
            <a:endParaRPr lang="en-IN" sz="1200" noProof="0"/>
          </a:p>
        </p:txBody>
      </p:sp>
      <p:sp>
        <p:nvSpPr>
          <p:cNvPr id="105" name="Text Placeholder 18">
            <a:extLst>
              <a:ext uri="{FF2B5EF4-FFF2-40B4-BE49-F238E27FC236}">
                <a16:creationId xmlns:a16="http://schemas.microsoft.com/office/drawing/2014/main" id="{243342DA-1DB1-1A39-E92D-E4AB1CCD5EFF}"/>
              </a:ext>
            </a:extLst>
          </p:cNvPr>
          <p:cNvSpPr>
            <a:spLocks noGrp="1"/>
          </p:cNvSpPr>
          <p:nvPr>
            <p:custDataLst>
              <p:tags r:id="rId67"/>
            </p:custDataLst>
          </p:nvPr>
        </p:nvSpPr>
        <p:spPr bwMode="auto">
          <a:xfrm>
            <a:off x="8522942" y="1782355"/>
            <a:ext cx="546029"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2572" rtl="0" eaLnBrk="1" latinLnBrk="0" hangingPunct="1">
              <a:spcBef>
                <a:spcPts val="0"/>
              </a:spcBef>
              <a:spcAft>
                <a:spcPts val="998"/>
              </a:spcAft>
              <a:buSzPct val="100000"/>
              <a:buFontTx/>
              <a:buNone/>
              <a:defRPr sz="1298" b="0" kern="1200">
                <a:solidFill>
                  <a:schemeClr val="tx1"/>
                </a:solidFill>
                <a:latin typeface="+mn-lt"/>
                <a:ea typeface="+mn-ea"/>
                <a:cs typeface="Calibri Light" panose="020F0302020204030204" pitchFamily="34" charset="0"/>
              </a:defRPr>
            </a:lvl1pPr>
            <a:lvl2pPr marL="139420" indent="-139420" algn="l" defTabSz="912572" rtl="0" eaLnBrk="1" latinLnBrk="0" hangingPunct="1">
              <a:spcBef>
                <a:spcPts val="0"/>
              </a:spcBef>
              <a:spcAft>
                <a:spcPts val="998"/>
              </a:spcAft>
              <a:buClrTx/>
              <a:buSzPct val="100000"/>
              <a:buFont typeface="Arial" panose="020B0604020202020204" pitchFamily="34" charset="0"/>
              <a:buChar char="•"/>
              <a:defRPr lang="en-US" sz="1298" b="1" kern="1200" dirty="0" smtClean="0">
                <a:solidFill>
                  <a:schemeClr val="tx1"/>
                </a:solidFill>
                <a:latin typeface="+mj-lt"/>
                <a:ea typeface="+mn-ea"/>
                <a:cs typeface="Calibri Light" panose="020F0302020204030204" pitchFamily="34" charset="0"/>
              </a:defRPr>
            </a:lvl2pPr>
            <a:lvl3pPr marL="30419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dirty="0" smtClean="0">
                <a:solidFill>
                  <a:schemeClr val="tx1"/>
                </a:solidFill>
                <a:latin typeface="+mn-lt"/>
                <a:ea typeface="+mn-ea"/>
                <a:cs typeface="Calibri Light" panose="020F0302020204030204" pitchFamily="34" charset="0"/>
              </a:defRPr>
            </a:lvl3pPr>
            <a:lvl4pPr marL="468960" indent="-139420" algn="l" defTabSz="912572" rtl="0" eaLnBrk="1" latinLnBrk="0" hangingPunct="1">
              <a:spcBef>
                <a:spcPts val="0"/>
              </a:spcBef>
              <a:spcAft>
                <a:spcPts val="998"/>
              </a:spcAft>
              <a:buClrTx/>
              <a:buSzPct val="100000"/>
              <a:buFont typeface="Arial" panose="020B0604020202020204" pitchFamily="34" charset="0"/>
              <a:buChar char="◦"/>
              <a:defRPr lang="en-US" sz="1298" kern="1200" baseline="0" dirty="0" smtClean="0">
                <a:solidFill>
                  <a:schemeClr val="tx1"/>
                </a:solidFill>
                <a:latin typeface="+mn-lt"/>
                <a:ea typeface="+mn-ea"/>
                <a:cs typeface="Calibri Light" panose="020F0302020204030204" pitchFamily="34" charset="0"/>
              </a:defRPr>
            </a:lvl4pPr>
            <a:lvl5pPr marL="633730" indent="-139420" algn="l" defTabSz="796915" rtl="0" eaLnBrk="1" latinLnBrk="0" hangingPunct="1">
              <a:spcBef>
                <a:spcPts val="0"/>
              </a:spcBef>
              <a:spcAft>
                <a:spcPts val="998"/>
              </a:spcAft>
              <a:buClrTx/>
              <a:buSzPct val="100000"/>
              <a:buFont typeface="Arial" panose="020B0604020202020204" pitchFamily="34" charset="0"/>
              <a:buChar char="−"/>
              <a:tabLst/>
              <a:defRPr lang="en-US" sz="1298" kern="1200" baseline="0" dirty="0" smtClean="0">
                <a:solidFill>
                  <a:schemeClr val="tx1"/>
                </a:solidFill>
                <a:latin typeface="+mn-lt"/>
                <a:ea typeface="+mn-ea"/>
                <a:cs typeface="Calibri Light" panose="020F0302020204030204" pitchFamily="34" charset="0"/>
              </a:defRPr>
            </a:lvl5pPr>
            <a:lvl6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6pPr>
            <a:lvl7pPr marL="531734" indent="-176048" algn="l" defTabSz="912572" rtl="0" eaLnBrk="1" latinLnBrk="0" hangingPunct="1">
              <a:spcBef>
                <a:spcPts val="0"/>
              </a:spcBef>
              <a:spcAft>
                <a:spcPts val="998"/>
              </a:spcAft>
              <a:buFont typeface="Verdana" panose="020B0604030504040204" pitchFamily="34" charset="0"/>
              <a:buChar char="−"/>
              <a:defRPr sz="1198" kern="1200">
                <a:solidFill>
                  <a:schemeClr val="tx1"/>
                </a:solidFill>
                <a:latin typeface="+mn-lt"/>
                <a:ea typeface="+mn-ea"/>
                <a:cs typeface="+mn-cs"/>
              </a:defRPr>
            </a:lvl7pPr>
            <a:lvl8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8pPr>
            <a:lvl9pPr marL="531734" indent="-176048" algn="l" defTabSz="912572" rtl="0" eaLnBrk="1" latinLnBrk="0" hangingPunct="1">
              <a:spcBef>
                <a:spcPts val="0"/>
              </a:spcBef>
              <a:spcAft>
                <a:spcPts val="998"/>
              </a:spcAft>
              <a:buFont typeface="Verdana" panose="020B0604030504040204" pitchFamily="34" charset="0"/>
              <a:buChar char="−"/>
              <a:defRPr sz="1198" kern="1200" baseline="0">
                <a:solidFill>
                  <a:schemeClr val="tx1"/>
                </a:solidFill>
                <a:latin typeface="+mn-lt"/>
                <a:ea typeface="+mn-ea"/>
                <a:cs typeface="+mn-cs"/>
              </a:defRPr>
            </a:lvl9pPr>
          </a:lstStyle>
          <a:p>
            <a:pPr lvl="0">
              <a:spcBef>
                <a:spcPct val="0"/>
              </a:spcBef>
              <a:spcAft>
                <a:spcPct val="0"/>
              </a:spcAft>
            </a:pPr>
            <a:fld id="{787F449E-C637-4363-A065-B01C5E51D06E}" type="datetime'''''''O''''''t''he''''''r'''''''' ''R''E'''">
              <a:rPr lang="en-IN" altLang="en-US" sz="1200" smtClean="0">
                <a:effectLst/>
              </a:rPr>
              <a:pPr lvl="0">
                <a:spcBef>
                  <a:spcPct val="0"/>
                </a:spcBef>
                <a:spcAft>
                  <a:spcPct val="0"/>
                </a:spcAft>
              </a:pPr>
              <a:t>Other RE</a:t>
            </a:fld>
            <a:endParaRPr lang="en-IN" sz="1200" noProof="0"/>
          </a:p>
        </p:txBody>
      </p:sp>
      <p:grpSp>
        <p:nvGrpSpPr>
          <p:cNvPr id="154" name="Group 153">
            <a:extLst>
              <a:ext uri="{FF2B5EF4-FFF2-40B4-BE49-F238E27FC236}">
                <a16:creationId xmlns:a16="http://schemas.microsoft.com/office/drawing/2014/main" id="{DE683533-A72C-39A9-31B9-D2A9DCC4E645}"/>
              </a:ext>
            </a:extLst>
          </p:cNvPr>
          <p:cNvGrpSpPr/>
          <p:nvPr/>
        </p:nvGrpSpPr>
        <p:grpSpPr>
          <a:xfrm>
            <a:off x="1994003" y="4323706"/>
            <a:ext cx="952072" cy="724642"/>
            <a:chOff x="1994003" y="4079689"/>
            <a:chExt cx="952072" cy="709704"/>
          </a:xfrm>
        </p:grpSpPr>
        <p:sp>
          <p:nvSpPr>
            <p:cNvPr id="109" name="Right Brace 108">
              <a:extLst>
                <a:ext uri="{FF2B5EF4-FFF2-40B4-BE49-F238E27FC236}">
                  <a16:creationId xmlns:a16="http://schemas.microsoft.com/office/drawing/2014/main" id="{8896BC93-4353-FFC0-8671-4A2F24584400}"/>
                </a:ext>
              </a:extLst>
            </p:cNvPr>
            <p:cNvSpPr/>
            <p:nvPr/>
          </p:nvSpPr>
          <p:spPr>
            <a:xfrm>
              <a:off x="1994003" y="4079689"/>
              <a:ext cx="203976" cy="419145"/>
            </a:xfrm>
            <a:prstGeom prst="rightBrace">
              <a:avLst>
                <a:gd name="adj1" fmla="val 76677"/>
                <a:gd name="adj2" fmla="val 50000"/>
              </a:avLst>
            </a:prstGeom>
            <a:ln>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0" name="TextBox 109">
              <a:extLst>
                <a:ext uri="{FF2B5EF4-FFF2-40B4-BE49-F238E27FC236}">
                  <a16:creationId xmlns:a16="http://schemas.microsoft.com/office/drawing/2014/main" id="{9A78128B-A339-17C0-59E7-76DC9F8E0377}"/>
                </a:ext>
              </a:extLst>
            </p:cNvPr>
            <p:cNvSpPr txBox="1"/>
            <p:nvPr/>
          </p:nvSpPr>
          <p:spPr>
            <a:xfrm>
              <a:off x="2096459" y="4137060"/>
              <a:ext cx="694621" cy="338554"/>
            </a:xfrm>
            <a:prstGeom prst="rect">
              <a:avLst/>
            </a:prstGeom>
            <a:noFill/>
          </p:spPr>
          <p:txBody>
            <a:bodyPr wrap="square">
              <a:spAutoFit/>
            </a:bodyPr>
            <a:lstStyle/>
            <a:p>
              <a:pPr algn="ctr"/>
              <a:r>
                <a:rPr lang="en-IN" sz="1600" b="1">
                  <a:solidFill>
                    <a:schemeClr val="accent6"/>
                  </a:solidFill>
                </a:rPr>
                <a:t>29%</a:t>
              </a:r>
              <a:endParaRPr lang="en-US" sz="1600">
                <a:solidFill>
                  <a:schemeClr val="accent6"/>
                </a:solidFill>
              </a:endParaRPr>
            </a:p>
          </p:txBody>
        </p:sp>
        <p:sp>
          <p:nvSpPr>
            <p:cNvPr id="111" name="TextBox 110">
              <a:extLst>
                <a:ext uri="{FF2B5EF4-FFF2-40B4-BE49-F238E27FC236}">
                  <a16:creationId xmlns:a16="http://schemas.microsoft.com/office/drawing/2014/main" id="{C9CC9ED0-D5D1-2FA8-BE91-9419C7D1EDD8}"/>
                </a:ext>
              </a:extLst>
            </p:cNvPr>
            <p:cNvSpPr txBox="1"/>
            <p:nvPr/>
          </p:nvSpPr>
          <p:spPr>
            <a:xfrm>
              <a:off x="2114099" y="4373895"/>
              <a:ext cx="831976" cy="415498"/>
            </a:xfrm>
            <a:prstGeom prst="rect">
              <a:avLst/>
            </a:prstGeom>
            <a:noFill/>
          </p:spPr>
          <p:txBody>
            <a:bodyPr wrap="square">
              <a:spAutoFit/>
            </a:bodyPr>
            <a:lstStyle/>
            <a:p>
              <a:pPr algn="ctr"/>
              <a:r>
                <a:rPr lang="en-IN" sz="1050" i="1">
                  <a:solidFill>
                    <a:schemeClr val="tx1">
                      <a:lumMod val="50000"/>
                      <a:lumOff val="50000"/>
                    </a:schemeClr>
                  </a:solidFill>
                </a:rPr>
                <a:t>(in-firm RE share)</a:t>
              </a:r>
              <a:endParaRPr lang="en-US" sz="1050" i="1">
                <a:solidFill>
                  <a:schemeClr val="tx1">
                    <a:lumMod val="50000"/>
                    <a:lumOff val="50000"/>
                  </a:schemeClr>
                </a:solidFill>
              </a:endParaRPr>
            </a:p>
          </p:txBody>
        </p:sp>
      </p:grpSp>
      <p:grpSp>
        <p:nvGrpSpPr>
          <p:cNvPr id="119" name="Group 118">
            <a:extLst>
              <a:ext uri="{FF2B5EF4-FFF2-40B4-BE49-F238E27FC236}">
                <a16:creationId xmlns:a16="http://schemas.microsoft.com/office/drawing/2014/main" id="{5EBCBE9D-B63C-10B2-AEBA-76EB306D2C71}"/>
              </a:ext>
            </a:extLst>
          </p:cNvPr>
          <p:cNvGrpSpPr/>
          <p:nvPr/>
        </p:nvGrpSpPr>
        <p:grpSpPr>
          <a:xfrm>
            <a:off x="5204699" y="3789195"/>
            <a:ext cx="952070" cy="890484"/>
            <a:chOff x="1851520" y="4624550"/>
            <a:chExt cx="963268" cy="872127"/>
          </a:xfrm>
        </p:grpSpPr>
        <p:sp>
          <p:nvSpPr>
            <p:cNvPr id="120" name="Right Brace 119">
              <a:extLst>
                <a:ext uri="{FF2B5EF4-FFF2-40B4-BE49-F238E27FC236}">
                  <a16:creationId xmlns:a16="http://schemas.microsoft.com/office/drawing/2014/main" id="{1E64BE0F-22A6-E168-DE07-156D2624F929}"/>
                </a:ext>
              </a:extLst>
            </p:cNvPr>
            <p:cNvSpPr/>
            <p:nvPr/>
          </p:nvSpPr>
          <p:spPr>
            <a:xfrm>
              <a:off x="1851520" y="4624550"/>
              <a:ext cx="206375" cy="851945"/>
            </a:xfrm>
            <a:prstGeom prst="rightBrace">
              <a:avLst>
                <a:gd name="adj1" fmla="val 76677"/>
                <a:gd name="adj2" fmla="val 50000"/>
              </a:avLst>
            </a:prstGeom>
            <a:ln>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1" name="TextBox 120">
              <a:extLst>
                <a:ext uri="{FF2B5EF4-FFF2-40B4-BE49-F238E27FC236}">
                  <a16:creationId xmlns:a16="http://schemas.microsoft.com/office/drawing/2014/main" id="{CFC50362-E0D7-3823-4CB3-D0D133F2A394}"/>
                </a:ext>
              </a:extLst>
            </p:cNvPr>
            <p:cNvSpPr txBox="1"/>
            <p:nvPr/>
          </p:nvSpPr>
          <p:spPr>
            <a:xfrm>
              <a:off x="1955181" y="4865611"/>
              <a:ext cx="702789" cy="338554"/>
            </a:xfrm>
            <a:prstGeom prst="rect">
              <a:avLst/>
            </a:prstGeom>
            <a:noFill/>
          </p:spPr>
          <p:txBody>
            <a:bodyPr wrap="square">
              <a:spAutoFit/>
            </a:bodyPr>
            <a:lstStyle/>
            <a:p>
              <a:pPr algn="ctr"/>
              <a:r>
                <a:rPr lang="en-IN" sz="1600" b="1">
                  <a:solidFill>
                    <a:schemeClr val="accent6"/>
                  </a:solidFill>
                </a:rPr>
                <a:t>47%</a:t>
              </a:r>
              <a:endParaRPr lang="en-US" sz="1600">
                <a:solidFill>
                  <a:schemeClr val="accent6"/>
                </a:solidFill>
              </a:endParaRPr>
            </a:p>
          </p:txBody>
        </p:sp>
        <p:sp>
          <p:nvSpPr>
            <p:cNvPr id="122" name="TextBox 121">
              <a:extLst>
                <a:ext uri="{FF2B5EF4-FFF2-40B4-BE49-F238E27FC236}">
                  <a16:creationId xmlns:a16="http://schemas.microsoft.com/office/drawing/2014/main" id="{5B3038C6-5AB7-5235-8735-D56159956EC0}"/>
                </a:ext>
              </a:extLst>
            </p:cNvPr>
            <p:cNvSpPr txBox="1"/>
            <p:nvPr/>
          </p:nvSpPr>
          <p:spPr>
            <a:xfrm>
              <a:off x="1973028" y="5081179"/>
              <a:ext cx="841760" cy="415498"/>
            </a:xfrm>
            <a:prstGeom prst="rect">
              <a:avLst/>
            </a:prstGeom>
            <a:noFill/>
          </p:spPr>
          <p:txBody>
            <a:bodyPr wrap="square">
              <a:spAutoFit/>
            </a:bodyPr>
            <a:lstStyle/>
            <a:p>
              <a:pPr algn="ctr"/>
              <a:r>
                <a:rPr lang="en-IN" sz="1050" i="1">
                  <a:solidFill>
                    <a:schemeClr val="tx1">
                      <a:lumMod val="50000"/>
                      <a:lumOff val="50000"/>
                    </a:schemeClr>
                  </a:solidFill>
                </a:rPr>
                <a:t>(in-firm RE share)</a:t>
              </a:r>
              <a:endParaRPr lang="en-US" sz="1050" i="1">
                <a:solidFill>
                  <a:schemeClr val="tx1">
                    <a:lumMod val="50000"/>
                    <a:lumOff val="50000"/>
                  </a:schemeClr>
                </a:solidFill>
              </a:endParaRPr>
            </a:p>
          </p:txBody>
        </p:sp>
      </p:grpSp>
      <p:grpSp>
        <p:nvGrpSpPr>
          <p:cNvPr id="123" name="Group 122">
            <a:extLst>
              <a:ext uri="{FF2B5EF4-FFF2-40B4-BE49-F238E27FC236}">
                <a16:creationId xmlns:a16="http://schemas.microsoft.com/office/drawing/2014/main" id="{00A717ED-C403-3C56-EAD0-F6A689737583}"/>
              </a:ext>
            </a:extLst>
          </p:cNvPr>
          <p:cNvGrpSpPr/>
          <p:nvPr/>
        </p:nvGrpSpPr>
        <p:grpSpPr>
          <a:xfrm>
            <a:off x="8398430" y="3237030"/>
            <a:ext cx="952070" cy="1360037"/>
            <a:chOff x="1851520" y="4624549"/>
            <a:chExt cx="963268" cy="1332000"/>
          </a:xfrm>
        </p:grpSpPr>
        <p:sp>
          <p:nvSpPr>
            <p:cNvPr id="124" name="Right Brace 123">
              <a:extLst>
                <a:ext uri="{FF2B5EF4-FFF2-40B4-BE49-F238E27FC236}">
                  <a16:creationId xmlns:a16="http://schemas.microsoft.com/office/drawing/2014/main" id="{842598FC-52A6-9515-E10B-3879AA899A8A}"/>
                </a:ext>
              </a:extLst>
            </p:cNvPr>
            <p:cNvSpPr/>
            <p:nvPr/>
          </p:nvSpPr>
          <p:spPr>
            <a:xfrm>
              <a:off x="1851520" y="4624549"/>
              <a:ext cx="206375" cy="1332000"/>
            </a:xfrm>
            <a:prstGeom prst="rightBrace">
              <a:avLst>
                <a:gd name="adj1" fmla="val 76677"/>
                <a:gd name="adj2" fmla="val 50000"/>
              </a:avLst>
            </a:prstGeom>
            <a:ln>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5" name="TextBox 124">
              <a:extLst>
                <a:ext uri="{FF2B5EF4-FFF2-40B4-BE49-F238E27FC236}">
                  <a16:creationId xmlns:a16="http://schemas.microsoft.com/office/drawing/2014/main" id="{7E0642F3-AC1F-C771-195C-BDA45F62D05C}"/>
                </a:ext>
              </a:extLst>
            </p:cNvPr>
            <p:cNvSpPr txBox="1"/>
            <p:nvPr/>
          </p:nvSpPr>
          <p:spPr>
            <a:xfrm>
              <a:off x="1955181" y="4961302"/>
              <a:ext cx="702789" cy="338554"/>
            </a:xfrm>
            <a:prstGeom prst="rect">
              <a:avLst/>
            </a:prstGeom>
            <a:noFill/>
          </p:spPr>
          <p:txBody>
            <a:bodyPr wrap="square">
              <a:spAutoFit/>
            </a:bodyPr>
            <a:lstStyle/>
            <a:p>
              <a:pPr algn="ctr"/>
              <a:r>
                <a:rPr lang="en-IN" sz="1600" b="1">
                  <a:solidFill>
                    <a:schemeClr val="accent6"/>
                  </a:solidFill>
                </a:rPr>
                <a:t>57%</a:t>
              </a:r>
              <a:endParaRPr lang="en-US" sz="1600">
                <a:solidFill>
                  <a:schemeClr val="accent6"/>
                </a:solidFill>
              </a:endParaRPr>
            </a:p>
          </p:txBody>
        </p:sp>
        <p:sp>
          <p:nvSpPr>
            <p:cNvPr id="126" name="TextBox 125">
              <a:extLst>
                <a:ext uri="{FF2B5EF4-FFF2-40B4-BE49-F238E27FC236}">
                  <a16:creationId xmlns:a16="http://schemas.microsoft.com/office/drawing/2014/main" id="{130492C4-4832-5EFD-ED53-896A8984499A}"/>
                </a:ext>
              </a:extLst>
            </p:cNvPr>
            <p:cNvSpPr txBox="1"/>
            <p:nvPr/>
          </p:nvSpPr>
          <p:spPr>
            <a:xfrm>
              <a:off x="1973028" y="5336360"/>
              <a:ext cx="841760" cy="415498"/>
            </a:xfrm>
            <a:prstGeom prst="rect">
              <a:avLst/>
            </a:prstGeom>
            <a:noFill/>
          </p:spPr>
          <p:txBody>
            <a:bodyPr wrap="square">
              <a:spAutoFit/>
            </a:bodyPr>
            <a:lstStyle/>
            <a:p>
              <a:pPr algn="ctr"/>
              <a:r>
                <a:rPr lang="en-IN" sz="1050" i="1">
                  <a:solidFill>
                    <a:schemeClr val="tx1">
                      <a:lumMod val="50000"/>
                      <a:lumOff val="50000"/>
                    </a:schemeClr>
                  </a:solidFill>
                </a:rPr>
                <a:t>(in-firm RE share)</a:t>
              </a:r>
              <a:endParaRPr lang="en-US" sz="1050" i="1">
                <a:solidFill>
                  <a:schemeClr val="tx1">
                    <a:lumMod val="50000"/>
                    <a:lumOff val="50000"/>
                  </a:schemeClr>
                </a:solidFill>
              </a:endParaRPr>
            </a:p>
          </p:txBody>
        </p:sp>
      </p:grpSp>
      <p:grpSp>
        <p:nvGrpSpPr>
          <p:cNvPr id="127" name="Group 126">
            <a:extLst>
              <a:ext uri="{FF2B5EF4-FFF2-40B4-BE49-F238E27FC236}">
                <a16:creationId xmlns:a16="http://schemas.microsoft.com/office/drawing/2014/main" id="{451EF918-C2DA-E12A-937B-58C12E776273}"/>
              </a:ext>
            </a:extLst>
          </p:cNvPr>
          <p:cNvGrpSpPr/>
          <p:nvPr/>
        </p:nvGrpSpPr>
        <p:grpSpPr>
          <a:xfrm flipH="1">
            <a:off x="9356505" y="2462151"/>
            <a:ext cx="938880" cy="1920133"/>
            <a:chOff x="1851520" y="4624549"/>
            <a:chExt cx="963268" cy="2052000"/>
          </a:xfrm>
        </p:grpSpPr>
        <p:sp>
          <p:nvSpPr>
            <p:cNvPr id="128" name="Right Brace 127">
              <a:extLst>
                <a:ext uri="{FF2B5EF4-FFF2-40B4-BE49-F238E27FC236}">
                  <a16:creationId xmlns:a16="http://schemas.microsoft.com/office/drawing/2014/main" id="{84F063CF-1863-73AA-C52E-5486C88313ED}"/>
                </a:ext>
              </a:extLst>
            </p:cNvPr>
            <p:cNvSpPr/>
            <p:nvPr/>
          </p:nvSpPr>
          <p:spPr>
            <a:xfrm>
              <a:off x="1851520" y="4624549"/>
              <a:ext cx="206375" cy="2052000"/>
            </a:xfrm>
            <a:prstGeom prst="rightBrace">
              <a:avLst>
                <a:gd name="adj1" fmla="val 76677"/>
                <a:gd name="adj2" fmla="val 50000"/>
              </a:avLst>
            </a:prstGeom>
            <a:ln>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9" name="TextBox 128">
              <a:extLst>
                <a:ext uri="{FF2B5EF4-FFF2-40B4-BE49-F238E27FC236}">
                  <a16:creationId xmlns:a16="http://schemas.microsoft.com/office/drawing/2014/main" id="{FD57866D-9784-9A12-F638-30201079ADDC}"/>
                </a:ext>
              </a:extLst>
            </p:cNvPr>
            <p:cNvSpPr txBox="1"/>
            <p:nvPr/>
          </p:nvSpPr>
          <p:spPr>
            <a:xfrm>
              <a:off x="1955181" y="5429136"/>
              <a:ext cx="702789" cy="338554"/>
            </a:xfrm>
            <a:prstGeom prst="rect">
              <a:avLst/>
            </a:prstGeom>
            <a:noFill/>
          </p:spPr>
          <p:txBody>
            <a:bodyPr wrap="square">
              <a:spAutoFit/>
            </a:bodyPr>
            <a:lstStyle/>
            <a:p>
              <a:pPr algn="ctr"/>
              <a:r>
                <a:rPr lang="en-IN" sz="1600" b="1">
                  <a:solidFill>
                    <a:schemeClr val="accent6"/>
                  </a:solidFill>
                </a:rPr>
                <a:t>64%</a:t>
              </a:r>
              <a:endParaRPr lang="en-US" sz="1600">
                <a:solidFill>
                  <a:schemeClr val="accent6"/>
                </a:solidFill>
              </a:endParaRPr>
            </a:p>
          </p:txBody>
        </p:sp>
        <p:sp>
          <p:nvSpPr>
            <p:cNvPr id="130" name="TextBox 129">
              <a:extLst>
                <a:ext uri="{FF2B5EF4-FFF2-40B4-BE49-F238E27FC236}">
                  <a16:creationId xmlns:a16="http://schemas.microsoft.com/office/drawing/2014/main" id="{40495375-60B4-027C-FE15-516E292FE3A8}"/>
                </a:ext>
              </a:extLst>
            </p:cNvPr>
            <p:cNvSpPr txBox="1"/>
            <p:nvPr/>
          </p:nvSpPr>
          <p:spPr>
            <a:xfrm>
              <a:off x="1973028" y="5804194"/>
              <a:ext cx="841760" cy="415498"/>
            </a:xfrm>
            <a:prstGeom prst="rect">
              <a:avLst/>
            </a:prstGeom>
            <a:noFill/>
          </p:spPr>
          <p:txBody>
            <a:bodyPr wrap="square">
              <a:spAutoFit/>
            </a:bodyPr>
            <a:lstStyle/>
            <a:p>
              <a:pPr algn="ctr"/>
              <a:r>
                <a:rPr lang="en-IN" sz="1050" i="1">
                  <a:solidFill>
                    <a:schemeClr val="tx1">
                      <a:lumMod val="50000"/>
                      <a:lumOff val="50000"/>
                    </a:schemeClr>
                  </a:solidFill>
                </a:rPr>
                <a:t>(in-firm RE share)</a:t>
              </a:r>
              <a:endParaRPr lang="en-US" sz="1050" i="1">
                <a:solidFill>
                  <a:schemeClr val="tx1">
                    <a:lumMod val="50000"/>
                    <a:lumOff val="50000"/>
                  </a:schemeClr>
                </a:solidFill>
              </a:endParaRPr>
            </a:p>
          </p:txBody>
        </p:sp>
      </p:grpSp>
      <p:cxnSp>
        <p:nvCxnSpPr>
          <p:cNvPr id="173" name="Straight Connector 172">
            <a:extLst>
              <a:ext uri="{FF2B5EF4-FFF2-40B4-BE49-F238E27FC236}">
                <a16:creationId xmlns:a16="http://schemas.microsoft.com/office/drawing/2014/main" id="{79203BAD-0F11-2918-DC87-174B1A1C4993}"/>
              </a:ext>
            </a:extLst>
          </p:cNvPr>
          <p:cNvCxnSpPr/>
          <p:nvPr/>
        </p:nvCxnSpPr>
        <p:spPr>
          <a:xfrm>
            <a:off x="4604992" y="2579755"/>
            <a:ext cx="0" cy="691712"/>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8101530"/>
      </p:ext>
    </p:extLst>
  </p:cSld>
  <p:clrMapOvr>
    <a:masterClrMapping/>
  </p:clrMapOvr>
  <p:transition>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707233866"/>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21" imgW="415" imgH="416" progId="TCLayout.ActiveDocument.1">
                  <p:embed/>
                </p:oleObj>
              </mc:Choice>
              <mc:Fallback>
                <p:oleObj name="think-cell Slide" r:id="rId21"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22"/>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pPr defTabSz="914400">
              <a:spcBef>
                <a:spcPts val="488"/>
              </a:spcBef>
              <a:buSzPct val="100000"/>
            </a:pPr>
            <a:r>
              <a:rPr lang="en-IN" sz="2000" b="1">
                <a:latin typeface="Arial" panose="020B0604020202020204" pitchFamily="34" charset="0"/>
                <a:cs typeface="Arial" panose="020B0604020202020204" pitchFamily="34" charset="0"/>
              </a:rPr>
              <a:t>Spot price dynamics: </a:t>
            </a:r>
            <a:r>
              <a:rPr lang="en-US" sz="2000" b="1">
                <a:latin typeface="Arial" panose="020B0604020202020204" pitchFamily="34" charset="0"/>
                <a:cs typeface="Arial" panose="020B0604020202020204" pitchFamily="34" charset="0"/>
              </a:rPr>
              <a:t>Dry vs wet season pricing</a:t>
            </a:r>
            <a:endParaRPr lang="en-US" sz="2000" b="1">
              <a:solidFill>
                <a:prstClr val="black"/>
              </a:solidFill>
              <a:latin typeface="Arial" panose="020B0604020202020204" pitchFamily="34" charset="0"/>
              <a:ea typeface="+mn-ea"/>
              <a:cs typeface="Arial" panose="020B0604020202020204" pitchFamily="34" charset="0"/>
            </a:endParaRPr>
          </a:p>
        </p:txBody>
      </p:sp>
      <p:sp>
        <p:nvSpPr>
          <p:cNvPr id="2" name="Text Placeholder 1"/>
          <p:cNvSpPr>
            <a:spLocks noGrp="1"/>
          </p:cNvSpPr>
          <p:nvPr>
            <p:ph type="body" sz="quarter" idx="13"/>
          </p:nvPr>
        </p:nvSpPr>
        <p:spPr>
          <a:xfrm>
            <a:off x="514884" y="651708"/>
            <a:ext cx="11467566" cy="276999"/>
          </a:xfrm>
          <a:solidFill>
            <a:schemeClr val="bg1"/>
          </a:solidFill>
        </p:spPr>
        <p:txBody>
          <a:bodyPr/>
          <a:lstStyle/>
          <a:p>
            <a:r>
              <a:rPr lang="en-US" sz="1400">
                <a:latin typeface="Arial" panose="020B0604020202020204" pitchFamily="34" charset="0"/>
                <a:cs typeface="Arial" panose="020B0604020202020204" pitchFamily="34" charset="0"/>
              </a:rPr>
              <a:t>During the wet season in Nepal, spot electricity prices on IEX range from INR 2.1 / kWh in solar hours to INR 7.8/ kWh during the evening peak</a:t>
            </a:r>
          </a:p>
        </p:txBody>
      </p:sp>
      <p:cxnSp>
        <p:nvCxnSpPr>
          <p:cNvPr id="8" name="Straight Connector 7">
            <a:extLst>
              <a:ext uri="{FF2B5EF4-FFF2-40B4-BE49-F238E27FC236}">
                <a16:creationId xmlns:a16="http://schemas.microsoft.com/office/drawing/2014/main" id="{081EBD2A-579A-0E4C-E34D-64B3F0D7E2CD}"/>
              </a:ext>
            </a:extLst>
          </p:cNvPr>
          <p:cNvCxnSpPr>
            <a:cxnSpLocks/>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704241"/>
            <a:ext cx="9683749" cy="161583"/>
          </a:xfrm>
          <a:prstGeom prst="rect">
            <a:avLst/>
          </a:prstGeom>
          <a:noFill/>
        </p:spPr>
        <p:txBody>
          <a:bodyPr wrap="square" lIns="0" tIns="0" rIns="0" bIns="0" rtlCol="0">
            <a:spAutoFit/>
          </a:bodyPr>
          <a:lstStyle/>
          <a:p>
            <a:pPr>
              <a:spcBef>
                <a:spcPts val="488"/>
              </a:spcBef>
              <a:buSzPct val="100000"/>
            </a:pPr>
            <a:r>
              <a:rPr kumimoji="0" lang="en-IN" sz="1050" b="0" u="none" strike="noStrike" kern="1200" cap="none" spc="0" normalizeH="0" baseline="0" noProof="0">
                <a:ln>
                  <a:noFill/>
                </a:ln>
                <a:effectLst/>
                <a:uLnTx/>
                <a:uFillTx/>
                <a:latin typeface="Arial" panose="020B0604020202020204" pitchFamily="34" charset="0"/>
                <a:cs typeface="Arial" panose="020B0604020202020204" pitchFamily="34" charset="0"/>
              </a:rPr>
              <a:t>Sources: </a:t>
            </a:r>
            <a:r>
              <a:rPr lang="en-US" sz="1050">
                <a:latin typeface="Arial" panose="020B0604020202020204" pitchFamily="34" charset="0"/>
                <a:cs typeface="Arial" panose="020B0604020202020204" pitchFamily="34" charset="0"/>
              </a:rPr>
              <a:t>Central Electricity Authority (CEA), Ministry of Power (</a:t>
            </a:r>
            <a:r>
              <a:rPr lang="en-US" sz="1050" err="1">
                <a:latin typeface="Arial" panose="020B0604020202020204" pitchFamily="34" charset="0"/>
                <a:cs typeface="Arial" panose="020B0604020202020204" pitchFamily="34" charset="0"/>
              </a:rPr>
              <a:t>MoP</a:t>
            </a:r>
            <a:r>
              <a:rPr lang="en-US" sz="1050">
                <a:latin typeface="Arial" panose="020B0604020202020204" pitchFamily="34" charset="0"/>
                <a:cs typeface="Arial" panose="020B0604020202020204" pitchFamily="34" charset="0"/>
              </a:rPr>
              <a:t>), Ministry of New and Renewable Energy, (MNRE), Deloitte Analysis</a:t>
            </a:r>
          </a:p>
        </p:txBody>
      </p:sp>
      <p:sp>
        <p:nvSpPr>
          <p:cNvPr id="43" name="TextBox 42">
            <a:extLst>
              <a:ext uri="{FF2B5EF4-FFF2-40B4-BE49-F238E27FC236}">
                <a16:creationId xmlns:a16="http://schemas.microsoft.com/office/drawing/2014/main" id="{51D160C6-75B6-0F64-9F4C-821F5298915D}"/>
              </a:ext>
            </a:extLst>
          </p:cNvPr>
          <p:cNvSpPr txBox="1"/>
          <p:nvPr/>
        </p:nvSpPr>
        <p:spPr>
          <a:xfrm>
            <a:off x="501361" y="1072025"/>
            <a:ext cx="11188700" cy="492443"/>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200" b="1" i="0" u="none" strike="noStrike" cap="none" spc="0" normalizeH="0" baseline="0">
                <a:ln>
                  <a:noFill/>
                </a:ln>
                <a:effectLst/>
                <a:uLnTx/>
                <a:uFillTx/>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a:spcBef>
                <a:spcPts val="0"/>
              </a:spcBef>
              <a:buSzPct val="100000"/>
            </a:pPr>
            <a:r>
              <a:rPr lang="en-US" sz="1300" b="0">
                <a:latin typeface="Arial" panose="020B0604020202020204" pitchFamily="34" charset="0"/>
                <a:cs typeface="Arial" panose="020B0604020202020204" pitchFamily="34" charset="0"/>
              </a:rPr>
              <a:t>The </a:t>
            </a:r>
            <a:r>
              <a:rPr lang="en-US" sz="1300">
                <a:latin typeface="Arial" panose="020B0604020202020204" pitchFamily="34" charset="0"/>
                <a:cs typeface="Arial" panose="020B0604020202020204" pitchFamily="34" charset="0"/>
              </a:rPr>
              <a:t>wet season for Nepal overlaps with Indian wet season (May-Dec), which has lower prices </a:t>
            </a:r>
            <a:r>
              <a:rPr lang="en-US" sz="1300" b="0">
                <a:latin typeface="Arial" panose="020B0604020202020204" pitchFamily="34" charset="0"/>
                <a:cs typeface="Arial" panose="020B0604020202020204" pitchFamily="34" charset="0"/>
              </a:rPr>
              <a:t>driven by higher renewable generation and reduced agricultural and HVAC demand</a:t>
            </a:r>
            <a:endParaRPr lang="en-IN" sz="1300" b="0">
              <a:solidFill>
                <a:srgbClr val="313131"/>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id="{00563CE5-74CE-B8CB-802F-644AA350DF3D}"/>
              </a:ext>
            </a:extLst>
          </p:cNvPr>
          <p:cNvSpPr txBox="1"/>
          <p:nvPr/>
        </p:nvSpPr>
        <p:spPr>
          <a:xfrm>
            <a:off x="497805" y="6468822"/>
            <a:ext cx="9090816" cy="153888"/>
          </a:xfrm>
          <a:prstGeom prst="rect">
            <a:avLst/>
          </a:prstGeom>
          <a:noFill/>
        </p:spPr>
        <p:txBody>
          <a:bodyPr wrap="square" lIns="0" tIns="0" rIns="0" bIns="0" rtlCol="0">
            <a:spAutoFit/>
          </a:bodyPr>
          <a:lstStyle/>
          <a:p>
            <a:pPr>
              <a:spcBef>
                <a:spcPts val="488"/>
              </a:spcBef>
              <a:buSzPct val="100000"/>
            </a:pPr>
            <a:r>
              <a:rPr lang="en-US" sz="1000">
                <a:solidFill>
                  <a:schemeClr val="tx2"/>
                </a:solidFill>
                <a:latin typeface="+mj-lt"/>
                <a:cs typeface="Calibri" panose="020F0502020204030204" pitchFamily="34" charset="0"/>
              </a:rPr>
              <a:t>Note: FY: Financial year (April to March), GW: Giga-Watt, CAGR: Compound Annual Growth Rate, P: Projections</a:t>
            </a:r>
          </a:p>
        </p:txBody>
      </p:sp>
      <p:sp>
        <p:nvSpPr>
          <p:cNvPr id="9" name="TextBox 8">
            <a:extLst>
              <a:ext uri="{FF2B5EF4-FFF2-40B4-BE49-F238E27FC236}">
                <a16:creationId xmlns:a16="http://schemas.microsoft.com/office/drawing/2014/main" id="{850F81FF-4367-76FC-B713-A67C5ED32F3A}"/>
              </a:ext>
            </a:extLst>
          </p:cNvPr>
          <p:cNvSpPr txBox="1"/>
          <p:nvPr/>
        </p:nvSpPr>
        <p:spPr>
          <a:xfrm>
            <a:off x="501361" y="1620288"/>
            <a:ext cx="11209082" cy="461665"/>
          </a:xfrm>
          <a:prstGeom prst="rect">
            <a:avLst/>
          </a:prstGeom>
          <a:noFill/>
        </p:spPr>
        <p:txBody>
          <a:bodyPr wrap="square">
            <a:spAutoFit/>
          </a:bodyPr>
          <a:lstStyle>
            <a:defPPr>
              <a:defRPr lang="en-US"/>
            </a:defPPr>
            <a:lvl1pPr marR="0" lvl="0" indent="0" fontAlgn="auto">
              <a:lnSpc>
                <a:spcPct val="100000"/>
              </a:lnSpc>
              <a:spcBef>
                <a:spcPts val="488"/>
              </a:spcBef>
              <a:spcAft>
                <a:spcPts val="0"/>
              </a:spcAft>
              <a:buClrTx/>
              <a:buSzPct val="100000"/>
              <a:buFontTx/>
              <a:buNone/>
              <a:tabLst/>
              <a:defRPr kumimoji="0" sz="1200" b="1" i="0" u="none" strike="noStrike" cap="none" spc="0" normalizeH="0" baseline="0">
                <a:ln>
                  <a:noFill/>
                </a:ln>
                <a:effectLst/>
                <a:uLnTx/>
                <a:uFillTx/>
              </a:defRPr>
            </a:lvl1pPr>
            <a:lvl2pPr marL="139690" indent="-139690" defTabSz="914335">
              <a:spcBef>
                <a:spcPts val="0"/>
              </a:spcBef>
              <a:spcAft>
                <a:spcPts val="1000"/>
              </a:spcAft>
              <a:buClrTx/>
              <a:buSzPct val="100000"/>
              <a:buFont typeface="Arial" panose="020B0604020202020204" pitchFamily="34" charset="0"/>
              <a:buChar char="•"/>
              <a:defRPr sz="1300" b="1">
                <a:latin typeface="+mj-lt"/>
                <a:cs typeface="Calibri Light" panose="020F0302020204030204" pitchFamily="34" charset="0"/>
              </a:defRPr>
            </a:lvl2pPr>
            <a:lvl3pPr marL="304778" indent="-139690" defTabSz="914335">
              <a:spcBef>
                <a:spcPts val="0"/>
              </a:spcBef>
              <a:spcAft>
                <a:spcPts val="1000"/>
              </a:spcAft>
              <a:buClrTx/>
              <a:buSzPct val="100000"/>
              <a:buFont typeface="Arial" panose="020B0604020202020204" pitchFamily="34" charset="0"/>
              <a:buChar char="−"/>
              <a:defRPr sz="1300">
                <a:cs typeface="Calibri Light" panose="020F0302020204030204" pitchFamily="34" charset="0"/>
              </a:defRPr>
            </a:lvl3pPr>
            <a:lvl4pPr marL="469867" indent="-139690" defTabSz="914335">
              <a:spcBef>
                <a:spcPts val="0"/>
              </a:spcBef>
              <a:spcAft>
                <a:spcPts val="1000"/>
              </a:spcAft>
              <a:buClrTx/>
              <a:buSzPct val="100000"/>
              <a:buFont typeface="Arial" panose="020B0604020202020204" pitchFamily="34" charset="0"/>
              <a:buChar char="◦"/>
              <a:defRPr sz="1300" baseline="0">
                <a:cs typeface="Calibri Light" panose="020F0302020204030204" pitchFamily="34" charset="0"/>
              </a:defRPr>
            </a:lvl4pPr>
            <a:lvl5pPr marL="634955" indent="-139690" defTabSz="798456">
              <a:spcBef>
                <a:spcPts val="0"/>
              </a:spcBef>
              <a:spcAft>
                <a:spcPts val="1000"/>
              </a:spcAft>
              <a:buClrTx/>
              <a:buSzPct val="100000"/>
              <a:buFont typeface="Arial" panose="020B0604020202020204" pitchFamily="34" charset="0"/>
              <a:buChar char="−"/>
              <a:tabLst/>
              <a:defRPr sz="1300" baseline="0">
                <a:cs typeface="Calibri Light" panose="020F0302020204030204" pitchFamily="34" charset="0"/>
              </a:defRPr>
            </a:lvl5pPr>
            <a:lvl6pPr marL="532762" indent="-176387" defTabSz="914335">
              <a:spcBef>
                <a:spcPts val="0"/>
              </a:spcBef>
              <a:spcAft>
                <a:spcPts val="1000"/>
              </a:spcAft>
              <a:buFont typeface="Verdana" panose="020B0604030504040204" pitchFamily="34" charset="0"/>
              <a:buChar char="−"/>
              <a:defRPr sz="1200" baseline="0"/>
            </a:lvl6pPr>
            <a:lvl7pPr marL="532762" indent="-176387" defTabSz="914335">
              <a:spcBef>
                <a:spcPts val="0"/>
              </a:spcBef>
              <a:spcAft>
                <a:spcPts val="1000"/>
              </a:spcAft>
              <a:buFont typeface="Verdana" panose="020B0604030504040204" pitchFamily="34" charset="0"/>
              <a:buChar char="−"/>
              <a:defRPr sz="1200"/>
            </a:lvl7pPr>
            <a:lvl8pPr marL="532762" indent="-176387" defTabSz="914335">
              <a:spcBef>
                <a:spcPts val="0"/>
              </a:spcBef>
              <a:spcAft>
                <a:spcPts val="1000"/>
              </a:spcAft>
              <a:buFont typeface="Verdana" panose="020B0604030504040204" pitchFamily="34" charset="0"/>
              <a:buChar char="−"/>
              <a:defRPr sz="1200" baseline="0"/>
            </a:lvl8pPr>
            <a:lvl9pPr marL="532762" indent="-176387" defTabSz="914335">
              <a:spcBef>
                <a:spcPts val="0"/>
              </a:spcBef>
              <a:spcAft>
                <a:spcPts val="1000"/>
              </a:spcAft>
              <a:buFont typeface="Verdana" panose="020B0604030504040204" pitchFamily="34" charset="0"/>
              <a:buChar char="−"/>
              <a:defRPr sz="1200" baseline="0"/>
            </a:lvl9pPr>
          </a:lstStyle>
          <a:p>
            <a:pPr marL="0" marR="0" lvl="0" indent="0" defTabSz="914400" rtl="0" eaLnBrk="1" fontAlgn="auto" latinLnBrk="0" hangingPunct="1">
              <a:lnSpc>
                <a:spcPct val="100000"/>
              </a:lnSpc>
              <a:spcBef>
                <a:spcPts val="0"/>
              </a:spcBef>
              <a:buClrTx/>
              <a:buSzTx/>
              <a:buFont typeface="Wingdings 2" pitchFamily="18" charset="2"/>
              <a:buNone/>
              <a:tabLst/>
              <a:defRPr/>
            </a:pPr>
            <a:r>
              <a:rPr kumimoji="0" lang="en-US" b="1" i="0" u="none" strike="noStrike" kern="0" cap="none" spc="0" normalizeH="0" baseline="0" noProof="0">
                <a:ln>
                  <a:noFill/>
                </a:ln>
                <a:effectLst/>
                <a:uLnTx/>
                <a:uFillTx/>
                <a:latin typeface="Arial" panose="020B0604020202020204" pitchFamily="34" charset="0"/>
                <a:ea typeface="Yu Gothic UI"/>
                <a:cs typeface="Arial" panose="020B0604020202020204" pitchFamily="34" charset="0"/>
              </a:rPr>
              <a:t>Average day ahead market clearing price during wet season when excess electricity is available (Jun to Sep/ Oct) or 16</a:t>
            </a:r>
            <a:r>
              <a:rPr kumimoji="0" lang="en-US" b="1" i="0" u="none" strike="noStrike" kern="0" cap="none" spc="0" normalizeH="0" baseline="30000" noProof="0">
                <a:ln>
                  <a:noFill/>
                </a:ln>
                <a:effectLst/>
                <a:uLnTx/>
                <a:uFillTx/>
                <a:latin typeface="Arial" panose="020B0604020202020204" pitchFamily="34" charset="0"/>
                <a:ea typeface="Yu Gothic UI"/>
                <a:cs typeface="Arial" panose="020B0604020202020204" pitchFamily="34" charset="0"/>
              </a:rPr>
              <a:t>th</a:t>
            </a:r>
            <a:r>
              <a:rPr kumimoji="0" lang="en-US" b="1" i="0" u="none" strike="noStrike" kern="0" cap="none" spc="0" normalizeH="0" baseline="0" noProof="0">
                <a:ln>
                  <a:noFill/>
                </a:ln>
                <a:effectLst/>
                <a:uLnTx/>
                <a:uFillTx/>
                <a:latin typeface="Arial" panose="020B0604020202020204" pitchFamily="34" charset="0"/>
                <a:ea typeface="Yu Gothic UI"/>
                <a:cs typeface="Arial" panose="020B0604020202020204" pitchFamily="34" charset="0"/>
              </a:rPr>
              <a:t> </a:t>
            </a:r>
            <a:r>
              <a:rPr kumimoji="0" lang="en-US" b="1" i="0" u="none" strike="noStrike" kern="0" cap="none" spc="0" normalizeH="0" baseline="0" noProof="0" err="1">
                <a:ln>
                  <a:noFill/>
                </a:ln>
                <a:effectLst/>
                <a:uLnTx/>
                <a:uFillTx/>
                <a:latin typeface="Arial" panose="020B0604020202020204" pitchFamily="34" charset="0"/>
                <a:ea typeface="Yu Gothic UI"/>
                <a:cs typeface="Arial" panose="020B0604020202020204" pitchFamily="34" charset="0"/>
              </a:rPr>
              <a:t>Jeshta</a:t>
            </a:r>
            <a:r>
              <a:rPr kumimoji="0" lang="en-US" b="1" i="0" u="none" strike="noStrike" kern="0" cap="none" spc="0" normalizeH="0" baseline="0" noProof="0">
                <a:ln>
                  <a:noFill/>
                </a:ln>
                <a:effectLst/>
                <a:uLnTx/>
                <a:uFillTx/>
                <a:latin typeface="Arial" panose="020B0604020202020204" pitchFamily="34" charset="0"/>
                <a:ea typeface="Yu Gothic UI"/>
                <a:cs typeface="Arial" panose="020B0604020202020204" pitchFamily="34" charset="0"/>
              </a:rPr>
              <a:t> to Ashwin– 5 months</a:t>
            </a:r>
          </a:p>
          <a:p>
            <a:pPr>
              <a:spcBef>
                <a:spcPts val="0"/>
              </a:spcBef>
              <a:buSzTx/>
              <a:defRPr/>
            </a:pPr>
            <a:r>
              <a:rPr kumimoji="1" lang="en-IN" sz="1200" b="0" i="0" u="none" strike="noStrike" kern="1200" cap="none" spc="0" normalizeH="0" baseline="0" noProof="0">
                <a:ln>
                  <a:noFill/>
                </a:ln>
                <a:effectLst/>
                <a:uLnTx/>
                <a:uFillTx/>
                <a:latin typeface="+mn-lt"/>
                <a:ea typeface="+mn-ea"/>
                <a:cs typeface="+mn-cs"/>
              </a:rPr>
              <a:t>Jun-Oct’22 – Jun-Oct’24, INR/kWh</a:t>
            </a:r>
          </a:p>
        </p:txBody>
      </p:sp>
      <p:graphicFrame>
        <p:nvGraphicFramePr>
          <p:cNvPr id="4" name="Chart 3">
            <a:extLst>
              <a:ext uri="{FF2B5EF4-FFF2-40B4-BE49-F238E27FC236}">
                <a16:creationId xmlns:a16="http://schemas.microsoft.com/office/drawing/2014/main" id="{3424C034-0D40-B4C8-8DEE-1381DB83D152}"/>
              </a:ext>
            </a:extLst>
          </p:cNvPr>
          <p:cNvGraphicFramePr/>
          <p:nvPr>
            <p:custDataLst>
              <p:tags r:id="rId2"/>
            </p:custDataLst>
            <p:extLst>
              <p:ext uri="{D42A27DB-BD31-4B8C-83A1-F6EECF244321}">
                <p14:modId xmlns:p14="http://schemas.microsoft.com/office/powerpoint/2010/main" val="2775499730"/>
              </p:ext>
            </p:extLst>
          </p:nvPr>
        </p:nvGraphicFramePr>
        <p:xfrm>
          <a:off x="495300" y="1974850"/>
          <a:ext cx="11420475" cy="2724150"/>
        </p:xfrm>
        <a:graphic>
          <a:graphicData uri="http://schemas.openxmlformats.org/drawingml/2006/chart">
            <c:chart xmlns:c="http://schemas.openxmlformats.org/drawingml/2006/chart" xmlns:r="http://schemas.openxmlformats.org/officeDocument/2006/relationships" r:id="rId23"/>
          </a:graphicData>
        </a:graphic>
      </p:graphicFrame>
      <p:cxnSp>
        <p:nvCxnSpPr>
          <p:cNvPr id="150" name="Straight Connector 149">
            <a:extLst>
              <a:ext uri="{FF2B5EF4-FFF2-40B4-BE49-F238E27FC236}">
                <a16:creationId xmlns:a16="http://schemas.microsoft.com/office/drawing/2014/main" id="{C88C4805-0021-F261-9A7F-06F9991B29F0}"/>
              </a:ext>
            </a:extLst>
          </p:cNvPr>
          <p:cNvCxnSpPr>
            <a:cxnSpLocks/>
          </p:cNvCxnSpPr>
          <p:nvPr>
            <p:custDataLst>
              <p:tags r:id="rId3"/>
            </p:custDataLst>
          </p:nvPr>
        </p:nvCxnSpPr>
        <p:spPr bwMode="auto">
          <a:xfrm flipH="1">
            <a:off x="2284413" y="3374011"/>
            <a:ext cx="39688" cy="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84" name="Straight Connector 183">
            <a:extLst>
              <a:ext uri="{FF2B5EF4-FFF2-40B4-BE49-F238E27FC236}">
                <a16:creationId xmlns:a16="http://schemas.microsoft.com/office/drawing/2014/main" id="{0A2FAC23-8B11-D66E-1EBD-BC75B0509C9F}"/>
              </a:ext>
            </a:extLst>
          </p:cNvPr>
          <p:cNvCxnSpPr/>
          <p:nvPr>
            <p:custDataLst>
              <p:tags r:id="rId4"/>
            </p:custDataLst>
          </p:nvPr>
        </p:nvCxnSpPr>
        <p:spPr bwMode="auto">
          <a:xfrm flipH="1">
            <a:off x="4168775" y="3277173"/>
            <a:ext cx="39688" cy="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92" name="Straight Connector 191">
            <a:extLst>
              <a:ext uri="{FF2B5EF4-FFF2-40B4-BE49-F238E27FC236}">
                <a16:creationId xmlns:a16="http://schemas.microsoft.com/office/drawing/2014/main" id="{21D30174-F00F-39EE-9BFC-512BE8F49153}"/>
              </a:ext>
            </a:extLst>
          </p:cNvPr>
          <p:cNvCxnSpPr/>
          <p:nvPr>
            <p:custDataLst>
              <p:tags r:id="rId5"/>
            </p:custDataLst>
          </p:nvPr>
        </p:nvCxnSpPr>
        <p:spPr bwMode="auto">
          <a:xfrm flipH="1">
            <a:off x="6994525" y="3659761"/>
            <a:ext cx="39688" cy="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11" name="Straight Connector 210">
            <a:extLst>
              <a:ext uri="{FF2B5EF4-FFF2-40B4-BE49-F238E27FC236}">
                <a16:creationId xmlns:a16="http://schemas.microsoft.com/office/drawing/2014/main" id="{C3E44DBC-705F-DC64-B715-D0AE003FC99E}"/>
              </a:ext>
            </a:extLst>
          </p:cNvPr>
          <p:cNvCxnSpPr/>
          <p:nvPr>
            <p:custDataLst>
              <p:tags r:id="rId6"/>
            </p:custDataLst>
          </p:nvPr>
        </p:nvCxnSpPr>
        <p:spPr bwMode="auto">
          <a:xfrm flipH="1">
            <a:off x="11233150" y="2548511"/>
            <a:ext cx="39688" cy="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useBgFill="1">
        <p:nvSpPr>
          <p:cNvPr id="149" name="Text Placeholder 18">
            <a:extLst>
              <a:ext uri="{FF2B5EF4-FFF2-40B4-BE49-F238E27FC236}">
                <a16:creationId xmlns:a16="http://schemas.microsoft.com/office/drawing/2014/main" id="{8A890358-7BED-94C7-50A8-56746AE1DCB9}"/>
              </a:ext>
            </a:extLst>
          </p:cNvPr>
          <p:cNvSpPr>
            <a:spLocks noGrp="1"/>
          </p:cNvSpPr>
          <p:nvPr>
            <p:custDataLst>
              <p:tags r:id="rId7"/>
            </p:custDataLst>
          </p:nvPr>
        </p:nvSpPr>
        <p:spPr bwMode="gray">
          <a:xfrm>
            <a:off x="2324100" y="3297811"/>
            <a:ext cx="268288" cy="152400"/>
          </a:xfrm>
          <a:prstGeom prst="rect">
            <a:avLst/>
          </a:prstGeom>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D7CD9F91-0CB6-4179-861D-54E4BA96B01F}" type="datetime'''''''''''''''4''''''.''''''''''''''''''4''''''8'''''''''">
              <a:rPr lang="en-US" altLang="en-US" sz="1000" smtClean="0">
                <a:effectLst/>
                <a:cs typeface="+mn-cs"/>
              </a:rPr>
              <a:pPr lvl="0">
                <a:spcBef>
                  <a:spcPct val="0"/>
                </a:spcBef>
                <a:spcAft>
                  <a:spcPct val="0"/>
                </a:spcAft>
              </a:pPr>
              <a:t>4.48</a:t>
            </a:fld>
            <a:endParaRPr lang="en-US" sz="1000" noProof="0">
              <a:cs typeface="+mn-cs"/>
            </a:endParaRPr>
          </a:p>
        </p:txBody>
      </p:sp>
      <p:sp useBgFill="1">
        <p:nvSpPr>
          <p:cNvPr id="182" name="Text Placeholder 18">
            <a:extLst>
              <a:ext uri="{FF2B5EF4-FFF2-40B4-BE49-F238E27FC236}">
                <a16:creationId xmlns:a16="http://schemas.microsoft.com/office/drawing/2014/main" id="{E5C1C518-829F-04D9-A3AF-514D0DB39D39}"/>
              </a:ext>
            </a:extLst>
          </p:cNvPr>
          <p:cNvSpPr>
            <a:spLocks noGrp="1"/>
          </p:cNvSpPr>
          <p:nvPr>
            <p:custDataLst>
              <p:tags r:id="rId8"/>
            </p:custDataLst>
          </p:nvPr>
        </p:nvSpPr>
        <p:spPr bwMode="gray">
          <a:xfrm>
            <a:off x="4208463" y="3200973"/>
            <a:ext cx="268288" cy="152400"/>
          </a:xfrm>
          <a:prstGeom prst="rect">
            <a:avLst/>
          </a:prstGeom>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5B274638-0C91-4029-A631-9A320A7F7D51}" type="datetime'''''''''''''''''''4''.''9''''''''4'''''''''''''''''''''">
              <a:rPr lang="en-US" altLang="en-US" sz="1000" smtClean="0">
                <a:effectLst/>
                <a:cs typeface="+mn-cs"/>
              </a:rPr>
              <a:pPr lvl="0">
                <a:spcBef>
                  <a:spcPct val="0"/>
                </a:spcBef>
                <a:spcAft>
                  <a:spcPct val="0"/>
                </a:spcAft>
              </a:pPr>
              <a:t>4.94</a:t>
            </a:fld>
            <a:endParaRPr lang="en-US" sz="1000" noProof="0">
              <a:cs typeface="+mn-cs"/>
            </a:endParaRPr>
          </a:p>
        </p:txBody>
      </p:sp>
      <p:sp useBgFill="1">
        <p:nvSpPr>
          <p:cNvPr id="190" name="Text Placeholder 18">
            <a:extLst>
              <a:ext uri="{FF2B5EF4-FFF2-40B4-BE49-F238E27FC236}">
                <a16:creationId xmlns:a16="http://schemas.microsoft.com/office/drawing/2014/main" id="{C1552ED5-CC2A-2493-75FB-C0956868CF72}"/>
              </a:ext>
            </a:extLst>
          </p:cNvPr>
          <p:cNvSpPr>
            <a:spLocks noGrp="1"/>
          </p:cNvSpPr>
          <p:nvPr>
            <p:custDataLst>
              <p:tags r:id="rId9"/>
            </p:custDataLst>
          </p:nvPr>
        </p:nvSpPr>
        <p:spPr bwMode="gray">
          <a:xfrm>
            <a:off x="7034213" y="3583561"/>
            <a:ext cx="268288" cy="152400"/>
          </a:xfrm>
          <a:prstGeom prst="rect">
            <a:avLst/>
          </a:prstGeom>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8D9BDA82-870C-4B6E-A1EE-0AD08D614951}" type="datetime'''''''''''''3''''.''''''''''''1''3'''''">
              <a:rPr lang="en-US" altLang="en-US" sz="1000" smtClean="0">
                <a:effectLst/>
                <a:cs typeface="+mn-cs"/>
              </a:rPr>
              <a:pPr lvl="0">
                <a:spcBef>
                  <a:spcPct val="0"/>
                </a:spcBef>
                <a:spcAft>
                  <a:spcPct val="0"/>
                </a:spcAft>
              </a:pPr>
              <a:t>3.13</a:t>
            </a:fld>
            <a:endParaRPr lang="en-US" sz="1000" noProof="0">
              <a:cs typeface="+mn-cs"/>
            </a:endParaRPr>
          </a:p>
        </p:txBody>
      </p:sp>
      <p:sp useBgFill="1">
        <p:nvSpPr>
          <p:cNvPr id="201" name="Text Placeholder 18">
            <a:extLst>
              <a:ext uri="{FF2B5EF4-FFF2-40B4-BE49-F238E27FC236}">
                <a16:creationId xmlns:a16="http://schemas.microsoft.com/office/drawing/2014/main" id="{6C723299-2BE0-FCAE-1794-A4C4F2BBC6A1}"/>
              </a:ext>
            </a:extLst>
          </p:cNvPr>
          <p:cNvSpPr>
            <a:spLocks noGrp="1"/>
          </p:cNvSpPr>
          <p:nvPr>
            <p:custDataLst>
              <p:tags r:id="rId10"/>
            </p:custDataLst>
          </p:nvPr>
        </p:nvSpPr>
        <p:spPr bwMode="gray">
          <a:xfrm>
            <a:off x="9859963" y="2181798"/>
            <a:ext cx="268288" cy="152400"/>
          </a:xfrm>
          <a:prstGeom prst="rect">
            <a:avLst/>
          </a:prstGeom>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4D29B2D5-E340-4CB4-B8B3-6112A7C6CCC3}" type="datetime'''''9''''''''.''''''''''''''''''''73'''''">
              <a:rPr lang="en-US" altLang="en-US" sz="1000" smtClean="0">
                <a:effectLst/>
                <a:cs typeface="+mn-cs"/>
              </a:rPr>
              <a:pPr lvl="0">
                <a:spcBef>
                  <a:spcPct val="0"/>
                </a:spcBef>
                <a:spcAft>
                  <a:spcPct val="0"/>
                </a:spcAft>
              </a:pPr>
              <a:t>9.73</a:t>
            </a:fld>
            <a:endParaRPr lang="en-US" sz="1000" noProof="0">
              <a:cs typeface="+mn-cs"/>
            </a:endParaRPr>
          </a:p>
        </p:txBody>
      </p:sp>
      <p:sp useBgFill="1">
        <p:nvSpPr>
          <p:cNvPr id="197" name="Text Placeholder 18">
            <a:extLst>
              <a:ext uri="{FF2B5EF4-FFF2-40B4-BE49-F238E27FC236}">
                <a16:creationId xmlns:a16="http://schemas.microsoft.com/office/drawing/2014/main" id="{273C80B6-787A-FA7E-07F5-FD0038ABF506}"/>
              </a:ext>
            </a:extLst>
          </p:cNvPr>
          <p:cNvSpPr>
            <a:spLocks noGrp="1"/>
          </p:cNvSpPr>
          <p:nvPr>
            <p:custDataLst>
              <p:tags r:id="rId11"/>
            </p:custDataLst>
          </p:nvPr>
        </p:nvSpPr>
        <p:spPr bwMode="gray">
          <a:xfrm>
            <a:off x="9672638" y="2718373"/>
            <a:ext cx="268288" cy="152400"/>
          </a:xfrm>
          <a:prstGeom prst="rect">
            <a:avLst/>
          </a:prstGeom>
          <a:ln>
            <a:noFill/>
          </a:ln>
          <a:effectLst/>
        </p:spPr>
        <p:txBody>
          <a:bodyPr vert="horz" wrap="none" lIns="20638" tIns="0" rIns="20638"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9CED44C-9580-4427-95A4-1B8F63C88BD7}" type="datetime'''''''''''''7''''''.8''''''''''''''1'''''''">
              <a:rPr lang="en-US" altLang="en-US" sz="1000" smtClean="0">
                <a:effectLst/>
                <a:cs typeface="+mn-cs"/>
              </a:rPr>
              <a:pPr lvl="0" algn="ctr">
                <a:spcBef>
                  <a:spcPct val="0"/>
                </a:spcBef>
                <a:spcAft>
                  <a:spcPct val="0"/>
                </a:spcAft>
              </a:pPr>
              <a:t>7.81</a:t>
            </a:fld>
            <a:endParaRPr lang="en-US" sz="1000" noProof="0">
              <a:cs typeface="+mn-cs"/>
            </a:endParaRPr>
          </a:p>
        </p:txBody>
      </p:sp>
      <p:sp useBgFill="1">
        <p:nvSpPr>
          <p:cNvPr id="209" name="Text Placeholder 18">
            <a:extLst>
              <a:ext uri="{FF2B5EF4-FFF2-40B4-BE49-F238E27FC236}">
                <a16:creationId xmlns:a16="http://schemas.microsoft.com/office/drawing/2014/main" id="{18416D93-B481-B402-3ADB-CB833E466E14}"/>
              </a:ext>
            </a:extLst>
          </p:cNvPr>
          <p:cNvSpPr>
            <a:spLocks noGrp="1"/>
          </p:cNvSpPr>
          <p:nvPr>
            <p:custDataLst>
              <p:tags r:id="rId12"/>
            </p:custDataLst>
          </p:nvPr>
        </p:nvSpPr>
        <p:spPr bwMode="gray">
          <a:xfrm>
            <a:off x="11272838" y="2472311"/>
            <a:ext cx="268288" cy="152400"/>
          </a:xfrm>
          <a:prstGeom prst="rect">
            <a:avLst/>
          </a:prstGeom>
          <a:ln>
            <a:noFill/>
          </a:ln>
          <a:effectLst/>
        </p:spPr>
        <p:txBody>
          <a:bodyPr vert="horz" wrap="none" lIns="20638" tIns="0" rIns="20638"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D671A407-D41F-4124-8530-C5353C62D5C4}" type="datetime'''''''8''''''''''.''''''''3''''''''6'''''''''''">
              <a:rPr lang="en-US" altLang="en-US" sz="1000" smtClean="0">
                <a:effectLst/>
                <a:cs typeface="+mn-cs"/>
              </a:rPr>
              <a:pPr lvl="0">
                <a:spcBef>
                  <a:spcPct val="0"/>
                </a:spcBef>
                <a:spcAft>
                  <a:spcPct val="0"/>
                </a:spcAft>
              </a:pPr>
              <a:t>8.36</a:t>
            </a:fld>
            <a:endParaRPr lang="en-US" sz="1000" noProof="0">
              <a:cs typeface="+mn-cs"/>
            </a:endParaRPr>
          </a:p>
        </p:txBody>
      </p:sp>
      <p:cxnSp>
        <p:nvCxnSpPr>
          <p:cNvPr id="14" name="Straight Connector 13">
            <a:extLst>
              <a:ext uri="{FF2B5EF4-FFF2-40B4-BE49-F238E27FC236}">
                <a16:creationId xmlns:a16="http://schemas.microsoft.com/office/drawing/2014/main" id="{A2133A5F-B316-4E27-70BD-14B98FFD1FAB}"/>
              </a:ext>
            </a:extLst>
          </p:cNvPr>
          <p:cNvCxnSpPr/>
          <p:nvPr>
            <p:custDataLst>
              <p:tags r:id="rId13"/>
            </p:custDataLst>
          </p:nvPr>
        </p:nvCxnSpPr>
        <p:spPr bwMode="gray">
          <a:xfrm>
            <a:off x="4278313" y="2064323"/>
            <a:ext cx="150813" cy="0"/>
          </a:xfrm>
          <a:prstGeom prst="line">
            <a:avLst/>
          </a:prstGeom>
          <a:ln w="28575" cap="rnd" cmpd="sng" algn="ctr">
            <a:solidFill>
              <a:srgbClr val="86BC25"/>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 name="Straight Connector 14">
            <a:extLst>
              <a:ext uri="{FF2B5EF4-FFF2-40B4-BE49-F238E27FC236}">
                <a16:creationId xmlns:a16="http://schemas.microsoft.com/office/drawing/2014/main" id="{875C1F5D-05FF-BE70-CFE3-FF786AE89703}"/>
              </a:ext>
            </a:extLst>
          </p:cNvPr>
          <p:cNvCxnSpPr/>
          <p:nvPr>
            <p:custDataLst>
              <p:tags r:id="rId14"/>
            </p:custDataLst>
          </p:nvPr>
        </p:nvCxnSpPr>
        <p:spPr bwMode="gray">
          <a:xfrm>
            <a:off x="5456238" y="2064323"/>
            <a:ext cx="150813" cy="0"/>
          </a:xfrm>
          <a:prstGeom prst="line">
            <a:avLst/>
          </a:prstGeom>
          <a:ln w="28575" cap="rnd" cmpd="sng" algn="ctr">
            <a:solidFill>
              <a:srgbClr val="005587"/>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595C4E9D-F209-38A0-0AB1-0271868B5F65}"/>
              </a:ext>
            </a:extLst>
          </p:cNvPr>
          <p:cNvCxnSpPr/>
          <p:nvPr>
            <p:custDataLst>
              <p:tags r:id="rId15"/>
            </p:custDataLst>
          </p:nvPr>
        </p:nvCxnSpPr>
        <p:spPr bwMode="gray">
          <a:xfrm>
            <a:off x="6634163" y="2064323"/>
            <a:ext cx="150813" cy="0"/>
          </a:xfrm>
          <a:prstGeom prst="line">
            <a:avLst/>
          </a:prstGeom>
          <a:ln w="28575" cap="rnd" cmpd="sng" algn="ctr">
            <a:solidFill>
              <a:srgbClr val="01ABE8"/>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9" name="テキスト プレースホルダー 2">
            <a:extLst>
              <a:ext uri="{FF2B5EF4-FFF2-40B4-BE49-F238E27FC236}">
                <a16:creationId xmlns:a16="http://schemas.microsoft.com/office/drawing/2014/main" id="{93913BB3-3D90-B804-BDEE-BCADA2897E3D}"/>
              </a:ext>
            </a:extLst>
          </p:cNvPr>
          <p:cNvSpPr>
            <a:spLocks/>
          </p:cNvSpPr>
          <p:nvPr>
            <p:custDataLst>
              <p:tags r:id="rId16"/>
            </p:custDataLst>
          </p:nvPr>
        </p:nvSpPr>
        <p:spPr bwMode="auto">
          <a:xfrm>
            <a:off x="4494213" y="1981773"/>
            <a:ext cx="84613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spcBef>
                <a:spcPct val="0"/>
              </a:spcBef>
              <a:spcAft>
                <a:spcPct val="0"/>
              </a:spcAft>
            </a:pPr>
            <a:fld id="{7B31B98C-B8FE-4B74-B76C-25EAA6196CA1}" type="datetime'''''Ju''''n''''’2''''2'' ''''''to'''' ''''O''''''''ct’2''2'">
              <a:rPr lang="en-IN" altLang="en-US" sz="1000" smtClean="0"/>
              <a:pPr lvl="0">
                <a:spcBef>
                  <a:spcPct val="0"/>
                </a:spcBef>
                <a:spcAft>
                  <a:spcPct val="0"/>
                </a:spcAft>
              </a:pPr>
              <a:t>Jun’22 to Oct’22</a:t>
            </a:fld>
            <a:endParaRPr kumimoji="1" lang="en-IN" altLang="ja-JP" sz="1000"/>
          </a:p>
        </p:txBody>
      </p:sp>
      <p:sp>
        <p:nvSpPr>
          <p:cNvPr id="50" name="テキスト プレースホルダー 2">
            <a:extLst>
              <a:ext uri="{FF2B5EF4-FFF2-40B4-BE49-F238E27FC236}">
                <a16:creationId xmlns:a16="http://schemas.microsoft.com/office/drawing/2014/main" id="{F53E36F3-AADD-149B-0BB4-4DA70427BA2C}"/>
              </a:ext>
            </a:extLst>
          </p:cNvPr>
          <p:cNvSpPr>
            <a:spLocks/>
          </p:cNvSpPr>
          <p:nvPr>
            <p:custDataLst>
              <p:tags r:id="rId17"/>
            </p:custDataLst>
          </p:nvPr>
        </p:nvSpPr>
        <p:spPr bwMode="auto">
          <a:xfrm>
            <a:off x="5672138" y="1981773"/>
            <a:ext cx="84613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spcBef>
                <a:spcPct val="0"/>
              </a:spcBef>
              <a:spcAft>
                <a:spcPct val="0"/>
              </a:spcAft>
            </a:pPr>
            <a:fld id="{15C40B87-89F6-465C-9020-2F680D9C1C52}" type="datetime'Ju''''n''''’23'''' to'''''' ''O''''c''''t''''''’''2''3'''''''">
              <a:rPr lang="en-IN" altLang="en-US" sz="1000" smtClean="0"/>
              <a:pPr lvl="0">
                <a:spcBef>
                  <a:spcPct val="0"/>
                </a:spcBef>
                <a:spcAft>
                  <a:spcPct val="0"/>
                </a:spcAft>
              </a:pPr>
              <a:t>Jun’23 to Oct’23</a:t>
            </a:fld>
            <a:endParaRPr kumimoji="1" lang="en-IN" altLang="ja-JP" sz="1000"/>
          </a:p>
        </p:txBody>
      </p:sp>
      <p:sp>
        <p:nvSpPr>
          <p:cNvPr id="51" name="テキスト プレースホルダー 2">
            <a:extLst>
              <a:ext uri="{FF2B5EF4-FFF2-40B4-BE49-F238E27FC236}">
                <a16:creationId xmlns:a16="http://schemas.microsoft.com/office/drawing/2014/main" id="{A3B50DCB-58DF-6753-1934-9E812E3B303A}"/>
              </a:ext>
            </a:extLst>
          </p:cNvPr>
          <p:cNvSpPr>
            <a:spLocks/>
          </p:cNvSpPr>
          <p:nvPr>
            <p:custDataLst>
              <p:tags r:id="rId18"/>
            </p:custDataLst>
          </p:nvPr>
        </p:nvSpPr>
        <p:spPr bwMode="auto">
          <a:xfrm>
            <a:off x="6850063" y="1981773"/>
            <a:ext cx="84613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spcBef>
                <a:spcPct val="0"/>
              </a:spcBef>
              <a:spcAft>
                <a:spcPct val="0"/>
              </a:spcAft>
            </a:pPr>
            <a:fld id="{C00A3506-18B6-4562-B27A-1FFA3B3167ED}" type="datetime'J''''''u''n''’''''24'''' t''''''''''o'''' O''''''c''''t''’24'">
              <a:rPr lang="en-IN" altLang="en-US" sz="1000" smtClean="0"/>
              <a:pPr lvl="0">
                <a:spcBef>
                  <a:spcPct val="0"/>
                </a:spcBef>
                <a:spcAft>
                  <a:spcPct val="0"/>
                </a:spcAft>
              </a:pPr>
              <a:t>Jun’24 to Oct’24</a:t>
            </a:fld>
            <a:endParaRPr kumimoji="1" lang="en-IN" altLang="ja-JP" sz="1000"/>
          </a:p>
        </p:txBody>
      </p:sp>
      <p:sp>
        <p:nvSpPr>
          <p:cNvPr id="58" name="TextBox 57">
            <a:extLst>
              <a:ext uri="{FF2B5EF4-FFF2-40B4-BE49-F238E27FC236}">
                <a16:creationId xmlns:a16="http://schemas.microsoft.com/office/drawing/2014/main" id="{45857A43-5405-3D1A-0DFB-FACF3B76C19A}"/>
              </a:ext>
            </a:extLst>
          </p:cNvPr>
          <p:cNvSpPr txBox="1">
            <a:spLocks/>
          </p:cNvSpPr>
          <p:nvPr/>
        </p:nvSpPr>
        <p:spPr>
          <a:xfrm>
            <a:off x="508752" y="4663945"/>
            <a:ext cx="11287334" cy="1169551"/>
          </a:xfrm>
          <a:prstGeom prst="rect">
            <a:avLst/>
          </a:prstGeom>
          <a:noFill/>
        </p:spPr>
        <p:txBody>
          <a:bodyPr wrap="square" lIns="91440" tIns="45720" rIns="91440" bIns="45720" rtlCol="0">
            <a:spAutoFit/>
          </a:bodyPr>
          <a:lstStyle/>
          <a:p>
            <a:pPr marL="171450" marR="0" lvl="0" indent="-171450" defTabSz="914400" eaLnBrk="1" fontAlgn="auto" latinLnBrk="0" hangingPunct="1">
              <a:lnSpc>
                <a:spcPct val="100000"/>
              </a:lnSpc>
              <a:spcBef>
                <a:spcPts val="600"/>
              </a:spcBef>
              <a:spcAft>
                <a:spcPts val="0"/>
              </a:spcAft>
              <a:buClrTx/>
              <a:buSzPct val="100000"/>
              <a:buFont typeface="Arial" panose="020B0604020202020204" pitchFamily="34" charset="0"/>
              <a:buChar char="•"/>
              <a:tabLst/>
              <a:defRPr/>
            </a:pPr>
            <a:r>
              <a:rPr kumimoji="0" lang="en-US" sz="1000" i="0" u="none" strike="noStrike" kern="0" cap="none" spc="0" normalizeH="0" baseline="0" noProof="0">
                <a:ln>
                  <a:noFill/>
                </a:ln>
                <a:effectLst/>
                <a:uLnTx/>
                <a:uFillTx/>
                <a:latin typeface="Arial" panose="020B0604020202020204" pitchFamily="34" charset="0"/>
                <a:cs typeface="Arial" panose="020B0604020202020204" pitchFamily="34" charset="0"/>
              </a:rPr>
              <a:t>Solar hours consistently show lower prices due to higher solar generation during morning 10 AM to evening 4 PM coinciding with moderate demand.</a:t>
            </a:r>
          </a:p>
          <a:p>
            <a:pPr marL="171450" marR="0" lvl="0" indent="-171450" defTabSz="914400" eaLnBrk="1" fontAlgn="auto" latinLnBrk="0" hangingPunct="1">
              <a:lnSpc>
                <a:spcPct val="100000"/>
              </a:lnSpc>
              <a:spcBef>
                <a:spcPts val="600"/>
              </a:spcBef>
              <a:spcAft>
                <a:spcPts val="0"/>
              </a:spcAft>
              <a:buClrTx/>
              <a:buSzPct val="100000"/>
              <a:buFont typeface="Arial" panose="020B0604020202020204" pitchFamily="34" charset="0"/>
              <a:buChar char="•"/>
              <a:tabLst/>
              <a:defRPr/>
            </a:pPr>
            <a:r>
              <a:rPr kumimoji="0" lang="en-US" sz="1000" i="0" u="none" strike="noStrike" kern="0" cap="none" spc="0" normalizeH="0" baseline="0" noProof="0">
                <a:ln>
                  <a:noFill/>
                </a:ln>
                <a:effectLst/>
                <a:uLnTx/>
                <a:uFillTx/>
                <a:latin typeface="Arial" panose="020B0604020202020204" pitchFamily="34" charset="0"/>
                <a:cs typeface="Arial" panose="020B0604020202020204" pitchFamily="34" charset="0"/>
              </a:rPr>
              <a:t>Wet season prices (May-Dec) are even lower during solar hours due to:</a:t>
            </a:r>
          </a:p>
          <a:p>
            <a:pPr marL="601218" lvl="1" indent="-171450" fontAlgn="auto">
              <a:spcBef>
                <a:spcPts val="600"/>
              </a:spcBef>
              <a:spcAft>
                <a:spcPts val="0"/>
              </a:spcAft>
              <a:buSzPct val="100000"/>
              <a:buFont typeface="Arial" panose="020B0604020202020204" pitchFamily="34" charset="0"/>
              <a:buChar char="•"/>
              <a:defRPr/>
            </a:pPr>
            <a:r>
              <a:rPr kumimoji="0" lang="en-US" sz="1000" i="0" u="none" strike="noStrike" kern="0" cap="none" spc="0" normalizeH="0" baseline="0" noProof="0">
                <a:ln>
                  <a:noFill/>
                </a:ln>
                <a:effectLst/>
                <a:uLnTx/>
                <a:uFillTx/>
                <a:latin typeface="Arial" panose="020B0604020202020204" pitchFamily="34" charset="0"/>
                <a:cs typeface="Arial" panose="020B0604020202020204" pitchFamily="34" charset="0"/>
              </a:rPr>
              <a:t>Increased hydropower during monsoon.</a:t>
            </a:r>
          </a:p>
          <a:p>
            <a:pPr marL="601218" lvl="1" indent="-171450" fontAlgn="auto">
              <a:spcBef>
                <a:spcPts val="600"/>
              </a:spcBef>
              <a:spcAft>
                <a:spcPts val="0"/>
              </a:spcAft>
              <a:buSzPct val="100000"/>
              <a:buFont typeface="Arial" panose="020B0604020202020204" pitchFamily="34" charset="0"/>
              <a:buChar char="•"/>
              <a:defRPr/>
            </a:pPr>
            <a:r>
              <a:rPr kumimoji="0" lang="en-US" sz="1000" i="0" u="none" strike="noStrike" kern="0" cap="none" spc="0" normalizeH="0" baseline="0" noProof="0">
                <a:ln>
                  <a:noFill/>
                </a:ln>
                <a:effectLst/>
                <a:uLnTx/>
                <a:uFillTx/>
                <a:latin typeface="Arial" panose="020B0604020202020204" pitchFamily="34" charset="0"/>
                <a:cs typeface="Arial" panose="020B0604020202020204" pitchFamily="34" charset="0"/>
              </a:rPr>
              <a:t>High wind generation (June–Sept).</a:t>
            </a:r>
          </a:p>
          <a:p>
            <a:pPr marL="601218" lvl="1" indent="-171450" fontAlgn="auto">
              <a:spcBef>
                <a:spcPts val="600"/>
              </a:spcBef>
              <a:spcAft>
                <a:spcPts val="0"/>
              </a:spcAft>
              <a:buSzPct val="100000"/>
              <a:buFont typeface="Arial" panose="020B0604020202020204" pitchFamily="34" charset="0"/>
              <a:buChar char="•"/>
              <a:defRPr/>
            </a:pPr>
            <a:r>
              <a:rPr kumimoji="0" lang="en-US" sz="1000" i="0" u="none" strike="noStrike" kern="0" cap="none" spc="0" normalizeH="0" baseline="0" noProof="0">
                <a:ln>
                  <a:noFill/>
                </a:ln>
                <a:effectLst/>
                <a:uLnTx/>
                <a:uFillTx/>
                <a:latin typeface="Arial" panose="020B0604020202020204" pitchFamily="34" charset="0"/>
                <a:cs typeface="Arial" panose="020B0604020202020204" pitchFamily="34" charset="0"/>
              </a:rPr>
              <a:t>Reduced agricultural and HVAC loads </a:t>
            </a:r>
            <a:r>
              <a:rPr lang="en-US" sz="1000" b="0" i="0">
                <a:solidFill>
                  <a:srgbClr val="424242"/>
                </a:solidFill>
                <a:effectLst/>
                <a:latin typeface="Arial" panose="020B0604020202020204" pitchFamily="34" charset="0"/>
                <a:cs typeface="Arial" panose="020B0604020202020204" pitchFamily="34" charset="0"/>
              </a:rPr>
              <a:t>due to cooler weather and rain-fed irrigation.</a:t>
            </a:r>
            <a:endParaRPr lang="en-US" sz="1000" kern="0">
              <a:solidFill>
                <a:prstClr val="black"/>
              </a:solidFill>
              <a:latin typeface="Arial" panose="020B0604020202020204" pitchFamily="34" charset="0"/>
              <a:cs typeface="Arial" panose="020B0604020202020204" pitchFamily="34" charset="0"/>
            </a:endParaRPr>
          </a:p>
        </p:txBody>
      </p:sp>
      <p:sp>
        <p:nvSpPr>
          <p:cNvPr id="113" name="TextBox 112">
            <a:extLst>
              <a:ext uri="{FF2B5EF4-FFF2-40B4-BE49-F238E27FC236}">
                <a16:creationId xmlns:a16="http://schemas.microsoft.com/office/drawing/2014/main" id="{3C1176EE-868B-EE70-A409-DC15C9CB1A10}"/>
              </a:ext>
            </a:extLst>
          </p:cNvPr>
          <p:cNvSpPr txBox="1"/>
          <p:nvPr/>
        </p:nvSpPr>
        <p:spPr>
          <a:xfrm>
            <a:off x="508752" y="5866547"/>
            <a:ext cx="11174495" cy="600164"/>
          </a:xfrm>
          <a:prstGeom prst="rect">
            <a:avLst/>
          </a:prstGeom>
          <a:noFill/>
        </p:spPr>
        <p:txBody>
          <a:bodyPr wrap="square">
            <a:spAutoFit/>
          </a:bodyPr>
          <a:lstStyle/>
          <a:p>
            <a:pPr algn="ctr"/>
            <a:r>
              <a:rPr lang="en-US" sz="1100" b="1">
                <a:solidFill>
                  <a:schemeClr val="accent4"/>
                </a:solidFill>
                <a:latin typeface="Arial" panose="020B0604020202020204" pitchFamily="34" charset="0"/>
                <a:cs typeface="Arial" panose="020B0604020202020204" pitchFamily="34" charset="0"/>
              </a:rPr>
              <a:t>With rising share of renewables, especially solar energy, in India’s electricity generation mix, market clearing prices of electricity in power exchanges, particularly in the solar hours (10 AM to 5 PM) are likely to decrease over the long term to reach about average of INR 1.5 per kWh (nominal tariff) while tariff in evening and night hours are likely to be in the range of INR 5 to 7 per kWh (nominal tariff) by 2040</a:t>
            </a:r>
          </a:p>
        </p:txBody>
      </p:sp>
      <p:sp>
        <p:nvSpPr>
          <p:cNvPr id="116" name="Rectangle 115">
            <a:extLst>
              <a:ext uri="{FF2B5EF4-FFF2-40B4-BE49-F238E27FC236}">
                <a16:creationId xmlns:a16="http://schemas.microsoft.com/office/drawing/2014/main" id="{CC20FBBA-B346-5A59-FBB5-98A1E1BDFAA4}"/>
              </a:ext>
            </a:extLst>
          </p:cNvPr>
          <p:cNvSpPr/>
          <p:nvPr/>
        </p:nvSpPr>
        <p:spPr bwMode="gray">
          <a:xfrm>
            <a:off x="3208808" y="4045110"/>
            <a:ext cx="1891664" cy="287338"/>
          </a:xfrm>
          <a:prstGeom prst="rect">
            <a:avLst/>
          </a:prstGeom>
          <a:solidFill>
            <a:srgbClr val="012169"/>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900" b="0" i="0" u="none" strike="noStrike" kern="1200" cap="none" spc="0" normalizeH="0" baseline="0" noProof="0">
                <a:ln>
                  <a:noFill/>
                </a:ln>
                <a:solidFill>
                  <a:schemeClr val="bg1"/>
                </a:solidFill>
                <a:effectLst/>
                <a:uLnTx/>
                <a:uFillTx/>
                <a:latin typeface="+mn-lt"/>
                <a:ea typeface="+mn-ea"/>
                <a:cs typeface="+mn-cs"/>
              </a:rPr>
              <a:t>MORNING PEAK</a:t>
            </a:r>
          </a:p>
        </p:txBody>
      </p:sp>
      <p:sp>
        <p:nvSpPr>
          <p:cNvPr id="117" name="Rectangle 116">
            <a:extLst>
              <a:ext uri="{FF2B5EF4-FFF2-40B4-BE49-F238E27FC236}">
                <a16:creationId xmlns:a16="http://schemas.microsoft.com/office/drawing/2014/main" id="{716387EB-204B-37C1-4DBC-7A4F56A26BF1}"/>
              </a:ext>
            </a:extLst>
          </p:cNvPr>
          <p:cNvSpPr/>
          <p:nvPr/>
        </p:nvSpPr>
        <p:spPr bwMode="gray">
          <a:xfrm>
            <a:off x="5100473" y="4045110"/>
            <a:ext cx="3765907" cy="287338"/>
          </a:xfrm>
          <a:prstGeom prst="rect">
            <a:avLst/>
          </a:prstGeom>
          <a:solidFill>
            <a:srgbClr val="FFCD00"/>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1050" b="1" i="0" u="none" strike="noStrike" kern="1200" cap="none" spc="0" normalizeH="0" baseline="0" noProof="0">
                <a:ln>
                  <a:noFill/>
                </a:ln>
                <a:solidFill>
                  <a:prstClr val="black"/>
                </a:solidFill>
                <a:effectLst/>
                <a:uLnTx/>
                <a:uFillTx/>
                <a:latin typeface="+mn-lt"/>
                <a:ea typeface="+mn-ea"/>
                <a:cs typeface="+mn-cs"/>
              </a:rPr>
              <a:t>SOLAR HOURS</a:t>
            </a:r>
          </a:p>
        </p:txBody>
      </p:sp>
      <p:sp>
        <p:nvSpPr>
          <p:cNvPr id="118" name="Rectangle 117">
            <a:extLst>
              <a:ext uri="{FF2B5EF4-FFF2-40B4-BE49-F238E27FC236}">
                <a16:creationId xmlns:a16="http://schemas.microsoft.com/office/drawing/2014/main" id="{55A670DC-4DBA-DE27-0F82-06582247D0D5}"/>
              </a:ext>
            </a:extLst>
          </p:cNvPr>
          <p:cNvSpPr/>
          <p:nvPr/>
        </p:nvSpPr>
        <p:spPr bwMode="gray">
          <a:xfrm>
            <a:off x="863883" y="4045110"/>
            <a:ext cx="2344924" cy="287338"/>
          </a:xfrm>
          <a:prstGeom prst="rect">
            <a:avLst/>
          </a:prstGeom>
          <a:solidFill>
            <a:srgbClr val="62B5E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900" b="1" i="0" u="none" strike="noStrike" kern="1200" cap="none" spc="0" normalizeH="0" baseline="0" noProof="0">
                <a:ln>
                  <a:noFill/>
                </a:ln>
                <a:solidFill>
                  <a:schemeClr val="bg1"/>
                </a:solidFill>
                <a:effectLst/>
                <a:uLnTx/>
                <a:uFillTx/>
                <a:latin typeface="+mn-lt"/>
                <a:ea typeface="+mn-ea"/>
                <a:cs typeface="+mn-cs"/>
              </a:rPr>
              <a:t>NIGHT HOURS</a:t>
            </a:r>
          </a:p>
        </p:txBody>
      </p:sp>
      <p:sp>
        <p:nvSpPr>
          <p:cNvPr id="131" name="Rectangle 130">
            <a:extLst>
              <a:ext uri="{FF2B5EF4-FFF2-40B4-BE49-F238E27FC236}">
                <a16:creationId xmlns:a16="http://schemas.microsoft.com/office/drawing/2014/main" id="{E234C0B7-6ADE-F27F-20C0-0E02FB853166}"/>
              </a:ext>
            </a:extLst>
          </p:cNvPr>
          <p:cNvSpPr/>
          <p:nvPr/>
        </p:nvSpPr>
        <p:spPr bwMode="gray">
          <a:xfrm>
            <a:off x="8866381" y="4045110"/>
            <a:ext cx="1879089" cy="287338"/>
          </a:xfrm>
          <a:prstGeom prst="rect">
            <a:avLst/>
          </a:prstGeom>
          <a:solidFill>
            <a:srgbClr val="0097A9"/>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900" b="1" i="0" u="none" strike="noStrike" kern="1200" cap="none" spc="0" normalizeH="0" baseline="0" noProof="0">
                <a:ln>
                  <a:noFill/>
                </a:ln>
                <a:solidFill>
                  <a:schemeClr val="bg1"/>
                </a:solidFill>
                <a:effectLst/>
                <a:uLnTx/>
                <a:uFillTx/>
                <a:latin typeface="+mn-lt"/>
                <a:ea typeface="+mn-ea"/>
                <a:cs typeface="+mn-cs"/>
              </a:rPr>
              <a:t>EVENING PEAK</a:t>
            </a:r>
          </a:p>
        </p:txBody>
      </p:sp>
      <p:sp>
        <p:nvSpPr>
          <p:cNvPr id="132" name="Rectangle 131">
            <a:extLst>
              <a:ext uri="{FF2B5EF4-FFF2-40B4-BE49-F238E27FC236}">
                <a16:creationId xmlns:a16="http://schemas.microsoft.com/office/drawing/2014/main" id="{60356B98-6740-EE08-A607-8E96AD685E81}"/>
              </a:ext>
            </a:extLst>
          </p:cNvPr>
          <p:cNvSpPr/>
          <p:nvPr/>
        </p:nvSpPr>
        <p:spPr bwMode="gray">
          <a:xfrm>
            <a:off x="10745471" y="4045110"/>
            <a:ext cx="937776" cy="287338"/>
          </a:xfrm>
          <a:prstGeom prst="rect">
            <a:avLst/>
          </a:prstGeom>
          <a:solidFill>
            <a:srgbClr val="62B5E5"/>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IN" sz="900" b="1" i="0" u="none" strike="noStrike" kern="1200" cap="none" spc="0" normalizeH="0" baseline="0" noProof="0">
                <a:ln>
                  <a:noFill/>
                </a:ln>
                <a:solidFill>
                  <a:schemeClr val="bg1"/>
                </a:solidFill>
                <a:effectLst/>
                <a:uLnTx/>
                <a:uFillTx/>
                <a:latin typeface="+mn-lt"/>
                <a:ea typeface="+mn-ea"/>
                <a:cs typeface="+mn-cs"/>
              </a:rPr>
              <a:t>NIGHT</a:t>
            </a:r>
          </a:p>
        </p:txBody>
      </p:sp>
      <p:cxnSp>
        <p:nvCxnSpPr>
          <p:cNvPr id="134" name="Straight Connector 133">
            <a:extLst>
              <a:ext uri="{FF2B5EF4-FFF2-40B4-BE49-F238E27FC236}">
                <a16:creationId xmlns:a16="http://schemas.microsoft.com/office/drawing/2014/main" id="{945FEB11-71FD-58EC-B361-9F00CBE507BC}"/>
              </a:ext>
            </a:extLst>
          </p:cNvPr>
          <p:cNvCxnSpPr>
            <a:cxnSpLocks/>
          </p:cNvCxnSpPr>
          <p:nvPr/>
        </p:nvCxnSpPr>
        <p:spPr>
          <a:xfrm>
            <a:off x="3208807" y="2227794"/>
            <a:ext cx="0" cy="180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DDFAA9FA-61B4-F381-DEA1-98B526FE8CD2}"/>
              </a:ext>
            </a:extLst>
          </p:cNvPr>
          <p:cNvCxnSpPr>
            <a:cxnSpLocks/>
          </p:cNvCxnSpPr>
          <p:nvPr/>
        </p:nvCxnSpPr>
        <p:spPr>
          <a:xfrm>
            <a:off x="5100472" y="2227794"/>
            <a:ext cx="0" cy="180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5059422D-2428-B260-E07F-CCDBE95FAFEA}"/>
              </a:ext>
            </a:extLst>
          </p:cNvPr>
          <p:cNvCxnSpPr>
            <a:cxnSpLocks/>
          </p:cNvCxnSpPr>
          <p:nvPr/>
        </p:nvCxnSpPr>
        <p:spPr>
          <a:xfrm>
            <a:off x="8866380" y="2227794"/>
            <a:ext cx="0" cy="180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98E68840-72EA-C146-84C6-2839508E9D87}"/>
              </a:ext>
            </a:extLst>
          </p:cNvPr>
          <p:cNvCxnSpPr>
            <a:cxnSpLocks/>
          </p:cNvCxnSpPr>
          <p:nvPr/>
        </p:nvCxnSpPr>
        <p:spPr>
          <a:xfrm>
            <a:off x="10745470" y="2227794"/>
            <a:ext cx="0" cy="180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51208617"/>
      </p:ext>
    </p:extLst>
  </p:cSld>
  <p:clrMapOvr>
    <a:masterClrMapping/>
  </p:clrMapOvr>
  <p:transition>
    <p:fade/>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4294967295"/>
          </p:nvPr>
        </p:nvSpPr>
        <p:spPr>
          <a:xfrm>
            <a:off x="437744" y="3111500"/>
            <a:ext cx="11177081" cy="3187700"/>
          </a:xfrm>
        </p:spPr>
        <p:txBody>
          <a:bodyPr anchor="b">
            <a:noAutofit/>
          </a:bodyPr>
          <a:lstStyle/>
          <a:p>
            <a:pPr algn="just">
              <a:spcAft>
                <a:spcPts val="600"/>
              </a:spcAft>
            </a:pPr>
            <a:r>
              <a:rPr lang="en-US" sz="2000" b="1">
                <a:solidFill>
                  <a:schemeClr val="bg1"/>
                </a:solidFill>
                <a:latin typeface="Arial" panose="020B0604020202020204" pitchFamily="34" charset="0"/>
                <a:cs typeface="Arial" panose="020B0604020202020204" pitchFamily="34" charset="0"/>
              </a:rPr>
              <a:t>ANNEXURE</a:t>
            </a:r>
          </a:p>
          <a:p>
            <a:pPr algn="just">
              <a:spcAft>
                <a:spcPts val="600"/>
              </a:spcAft>
            </a:pPr>
            <a:endParaRPr lang="en-US" sz="1050" b="1">
              <a:solidFill>
                <a:schemeClr val="bg1"/>
              </a:solidFill>
              <a:latin typeface="Arial" panose="020B0604020202020204" pitchFamily="34" charset="0"/>
              <a:cs typeface="Arial" panose="020B0604020202020204" pitchFamily="34" charset="0"/>
            </a:endParaRPr>
          </a:p>
          <a:p>
            <a:pPr algn="just">
              <a:spcAft>
                <a:spcPts val="600"/>
              </a:spcAft>
            </a:pPr>
            <a:endParaRPr lang="en-US" sz="1050" b="1">
              <a:solidFill>
                <a:schemeClr val="bg1"/>
              </a:solidFill>
              <a:latin typeface="Arial" panose="020B0604020202020204" pitchFamily="34" charset="0"/>
              <a:cs typeface="Arial" panose="020B0604020202020204" pitchFamily="34" charset="0"/>
            </a:endParaRPr>
          </a:p>
          <a:p>
            <a:pPr algn="just">
              <a:spcAft>
                <a:spcPts val="600"/>
              </a:spcAft>
            </a:pPr>
            <a:r>
              <a:rPr lang="en-US" sz="1050" b="1">
                <a:solidFill>
                  <a:schemeClr val="bg1"/>
                </a:solidFill>
                <a:latin typeface="Arial" panose="020B0604020202020204" pitchFamily="34" charset="0"/>
                <a:cs typeface="Arial" panose="020B0604020202020204" pitchFamily="34" charset="0"/>
              </a:rPr>
              <a:t>Deloitte</a:t>
            </a:r>
            <a:r>
              <a:rPr lang="en-US" sz="1050">
                <a:solidFill>
                  <a:schemeClr val="bg1"/>
                </a:solidFill>
                <a:latin typeface="Arial" panose="020B0604020202020204" pitchFamily="34" charset="0"/>
                <a:cs typeface="Arial" panose="020B0604020202020204" pitchFamily="34" charset="0"/>
              </a:rPr>
              <a:t> refers to one or more of Deloitte Touche Tohmatsu Limited, a UK private company limited by guarantee (“DTTL”), its network of member firms, and their related entities. DTTL and each of its member firms are legally separate and independent entities. DTTL (also referred to as “Deloitte Global”) does not provide services to clients. Please see www.deloitte.com/about for a more detailed description of DTTL and its member firms.</a:t>
            </a:r>
          </a:p>
          <a:p>
            <a:pPr algn="just">
              <a:spcAft>
                <a:spcPts val="600"/>
              </a:spcAft>
            </a:pPr>
            <a:r>
              <a:rPr lang="en-US" sz="1050">
                <a:solidFill>
                  <a:schemeClr val="bg1"/>
                </a:solidFill>
                <a:latin typeface="Arial" panose="020B0604020202020204" pitchFamily="34" charset="0"/>
                <a:cs typeface="Arial" panose="020B0604020202020204" pitchFamily="34" charset="0"/>
              </a:rPr>
              <a:t>This material has been prepared by Deloitte Touche Tohmatsu India LLP (“DTTI LLP”), a member of Deloitte Touche Tohmatsu Limited, on a specific request from you and contains proprietary and confidential information. This material may contain information sourced from publicly available information or other third -party sources. DTTI LLP does not independently verify any such sources and is not responsible for any loss whatsoever caused due to reliance placed on information sourced from such sources. The information contained in this material is intended solely for you. Any disclosure, copying or further distribution of this material or its contents is strictly prohibited.</a:t>
            </a:r>
          </a:p>
          <a:p>
            <a:pPr algn="just">
              <a:spcAft>
                <a:spcPts val="600"/>
              </a:spcAft>
            </a:pPr>
            <a:r>
              <a:rPr lang="en-US" sz="1050">
                <a:solidFill>
                  <a:schemeClr val="bg1"/>
                </a:solidFill>
                <a:latin typeface="Arial" panose="020B0604020202020204" pitchFamily="34" charset="0"/>
                <a:cs typeface="Arial" panose="020B0604020202020204" pitchFamily="34" charset="0"/>
              </a:rPr>
              <a:t>Nothing in this material creates any contractual relationship between DTT ILLP and you. Any mutually binding legal obligations or rights may only be created between you and DTTI LLP upon execution of a legally binding contract. By using this material and any information contained in it, the user accepts this entire notice and terms of use.</a:t>
            </a:r>
          </a:p>
          <a:p>
            <a:pPr algn="just">
              <a:spcAft>
                <a:spcPts val="600"/>
              </a:spcAft>
            </a:pPr>
            <a:r>
              <a:rPr lang="en-US" sz="1050" b="1">
                <a:solidFill>
                  <a:schemeClr val="bg1"/>
                </a:solidFill>
                <a:latin typeface="Arial" panose="020B0604020202020204" pitchFamily="34" charset="0"/>
                <a:cs typeface="Arial" panose="020B0604020202020204" pitchFamily="34" charset="0"/>
              </a:rPr>
              <a:t>©2025 Deloitte Touche Tohmatsu India LLP. Member of Deloitte Touche Tohmatsu Limited</a:t>
            </a:r>
          </a:p>
          <a:p>
            <a:pPr algn="just">
              <a:spcAft>
                <a:spcPts val="600"/>
              </a:spcAft>
            </a:pPr>
            <a:r>
              <a:rPr lang="en-US" sz="1050">
                <a:solidFill>
                  <a:schemeClr val="bg1"/>
                </a:solidFill>
                <a:latin typeface="Arial" panose="020B0604020202020204" pitchFamily="34" charset="0"/>
                <a:cs typeface="Arial" panose="020B0604020202020204" pitchFamily="34" charset="0"/>
              </a:rPr>
              <a:t>Deloitte Touche Tohmatsu India Private Limited (U74140MH199 5PTC093339), a private company limited by shares, was converted into Deloitte Touche Tohmatsu India LLP, a limited liability partnership (LLP Identification No. AAE-8458),with effect from October 1, 2015.</a:t>
            </a:r>
          </a:p>
        </p:txBody>
      </p:sp>
    </p:spTree>
    <p:extLst>
      <p:ext uri="{BB962C8B-B14F-4D97-AF65-F5344CB8AC3E}">
        <p14:creationId xmlns:p14="http://schemas.microsoft.com/office/powerpoint/2010/main" val="22938466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813569634"/>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dirty="0">
                <a:latin typeface="Arial" panose="020B0604020202020204" pitchFamily="34" charset="0"/>
                <a:cs typeface="Arial" panose="020B0604020202020204" pitchFamily="34" charset="0"/>
              </a:rPr>
              <a:t>Annexure-1</a:t>
            </a:r>
            <a:endParaRPr lang="en-GB" sz="1800" b="1" dirty="0">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pic>
        <p:nvPicPr>
          <p:cNvPr id="3" name="Picture 2">
            <a:extLst>
              <a:ext uri="{FF2B5EF4-FFF2-40B4-BE49-F238E27FC236}">
                <a16:creationId xmlns:a16="http://schemas.microsoft.com/office/drawing/2014/main" id="{AF18EA9A-FD74-05BB-2D74-F02A405E123B}"/>
              </a:ext>
            </a:extLst>
          </p:cNvPr>
          <p:cNvPicPr>
            <a:picLocks noChangeAspect="1"/>
          </p:cNvPicPr>
          <p:nvPr/>
        </p:nvPicPr>
        <p:blipFill>
          <a:blip r:embed="rId6"/>
          <a:stretch>
            <a:fillRect/>
          </a:stretch>
        </p:blipFill>
        <p:spPr>
          <a:xfrm>
            <a:off x="3714750" y="2014097"/>
            <a:ext cx="3706778" cy="1961311"/>
          </a:xfrm>
          <a:prstGeom prst="rect">
            <a:avLst/>
          </a:prstGeom>
          <a:ln>
            <a:noFill/>
          </a:ln>
        </p:spPr>
      </p:pic>
      <p:pic>
        <p:nvPicPr>
          <p:cNvPr id="4" name="Picture 3">
            <a:extLst>
              <a:ext uri="{FF2B5EF4-FFF2-40B4-BE49-F238E27FC236}">
                <a16:creationId xmlns:a16="http://schemas.microsoft.com/office/drawing/2014/main" id="{43FD9F77-99BA-2894-BEFE-8B9E87FB906A}"/>
              </a:ext>
            </a:extLst>
          </p:cNvPr>
          <p:cNvPicPr>
            <a:picLocks noChangeAspect="1"/>
          </p:cNvPicPr>
          <p:nvPr/>
        </p:nvPicPr>
        <p:blipFill rotWithShape="1">
          <a:blip r:embed="rId7"/>
          <a:srcRect r="3465"/>
          <a:stretch/>
        </p:blipFill>
        <p:spPr>
          <a:xfrm>
            <a:off x="7619648" y="1398294"/>
            <a:ext cx="4003960" cy="2852692"/>
          </a:xfrm>
          <a:prstGeom prst="rect">
            <a:avLst/>
          </a:prstGeom>
          <a:ln>
            <a:noFill/>
          </a:ln>
        </p:spPr>
      </p:pic>
      <p:sp>
        <p:nvSpPr>
          <p:cNvPr id="2" name="Text Placeholder 1">
            <a:extLst>
              <a:ext uri="{FF2B5EF4-FFF2-40B4-BE49-F238E27FC236}">
                <a16:creationId xmlns:a16="http://schemas.microsoft.com/office/drawing/2014/main" id="{38E7944B-C766-A2E0-AD0F-02F7870007D6}"/>
              </a:ext>
            </a:extLst>
          </p:cNvPr>
          <p:cNvSpPr>
            <a:spLocks noGrp="1"/>
          </p:cNvSpPr>
          <p:nvPr>
            <p:ph type="body" sz="quarter" idx="13"/>
          </p:nvPr>
        </p:nvSpPr>
        <p:spPr>
          <a:xfrm>
            <a:off x="518402" y="1044138"/>
            <a:ext cx="11121870" cy="334099"/>
          </a:xfrm>
          <a:solidFill>
            <a:schemeClr val="bg1"/>
          </a:solidFill>
        </p:spPr>
        <p:txBody>
          <a:bodyPr/>
          <a:lstStyle/>
          <a:p>
            <a:pPr algn="ctr"/>
            <a:r>
              <a:rPr lang="en-US" sz="1400" b="1" dirty="0">
                <a:solidFill>
                  <a:schemeClr val="tx1"/>
                </a:solidFill>
                <a:latin typeface="Arial" panose="020B0604020202020204" pitchFamily="34" charset="0"/>
                <a:cs typeface="Arial" panose="020B0604020202020204" pitchFamily="34" charset="0"/>
              </a:rPr>
              <a:t>Analysis of the supply and demand trends in electricity sales to India in past years </a:t>
            </a:r>
          </a:p>
        </p:txBody>
      </p:sp>
      <p:graphicFrame>
        <p:nvGraphicFramePr>
          <p:cNvPr id="5" name="Table 4">
            <a:extLst>
              <a:ext uri="{FF2B5EF4-FFF2-40B4-BE49-F238E27FC236}">
                <a16:creationId xmlns:a16="http://schemas.microsoft.com/office/drawing/2014/main" id="{4D42D517-62EB-254C-B885-BA25938F3782}"/>
              </a:ext>
            </a:extLst>
          </p:cNvPr>
          <p:cNvGraphicFramePr>
            <a:graphicFrameLocks noGrp="1"/>
          </p:cNvGraphicFramePr>
          <p:nvPr>
            <p:extLst>
              <p:ext uri="{D42A27DB-BD31-4B8C-83A1-F6EECF244321}">
                <p14:modId xmlns:p14="http://schemas.microsoft.com/office/powerpoint/2010/main" val="3168990210"/>
              </p:ext>
            </p:extLst>
          </p:nvPr>
        </p:nvGraphicFramePr>
        <p:xfrm>
          <a:off x="514884" y="4718173"/>
          <a:ext cx="11216730" cy="1773390"/>
        </p:xfrm>
        <a:graphic>
          <a:graphicData uri="http://schemas.openxmlformats.org/drawingml/2006/table">
            <a:tbl>
              <a:tblPr firstRow="1" bandRow="1">
                <a:tableStyleId>{5C22544A-7EE6-4342-B048-85BDC9FD1C3A}</a:tableStyleId>
              </a:tblPr>
              <a:tblGrid>
                <a:gridCol w="4074511">
                  <a:extLst>
                    <a:ext uri="{9D8B030D-6E8A-4147-A177-3AD203B41FA5}">
                      <a16:colId xmlns:a16="http://schemas.microsoft.com/office/drawing/2014/main" val="1601999352"/>
                    </a:ext>
                  </a:extLst>
                </a:gridCol>
                <a:gridCol w="7142219">
                  <a:extLst>
                    <a:ext uri="{9D8B030D-6E8A-4147-A177-3AD203B41FA5}">
                      <a16:colId xmlns:a16="http://schemas.microsoft.com/office/drawing/2014/main" val="2515607737"/>
                    </a:ext>
                  </a:extLst>
                </a:gridCol>
              </a:tblGrid>
              <a:tr h="386784">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1386606">
                <a:tc gridSpan="2">
                  <a:txBody>
                    <a:bodyPr/>
                    <a:lstStyle/>
                    <a:p>
                      <a:pPr marL="169863" marR="0" lvl="0" indent="-169863" algn="just" defTabSz="914335" rtl="0" eaLnBrk="1" fontAlgn="auto" latinLnBrk="0" hangingPunct="1">
                        <a:lnSpc>
                          <a:spcPct val="125000"/>
                        </a:lnSpc>
                        <a:spcBef>
                          <a:spcPts val="0"/>
                        </a:spcBef>
                        <a:spcAft>
                          <a:spcPts val="0"/>
                        </a:spcAft>
                        <a:buClrTx/>
                        <a:buSzTx/>
                        <a:buFont typeface="Arial" panose="020B0604020202020204" pitchFamily="34" charset="0"/>
                        <a:buChar char="•"/>
                        <a:tabLst/>
                        <a:defRPr/>
                      </a:pPr>
                      <a:r>
                        <a:rPr lang="en-US" sz="1200" b="1" dirty="0">
                          <a:latin typeface="Arial" panose="020B0604020202020204" pitchFamily="34" charset="0"/>
                          <a:cs typeface="Arial" panose="020B0604020202020204" pitchFamily="34" charset="0"/>
                        </a:rPr>
                        <a:t>Power export has been increased </a:t>
                      </a:r>
                      <a:r>
                        <a:rPr lang="en-US" sz="1200" b="0" dirty="0">
                          <a:latin typeface="Arial" panose="020B0604020202020204" pitchFamily="34" charset="0"/>
                          <a:cs typeface="Arial" panose="020B0604020202020204" pitchFamily="34" charset="0"/>
                        </a:rPr>
                        <a:t>from 494 GWh in FY 2021-22 to 1943 GWh in FY 2023-24 at a CAGR of 58%.</a:t>
                      </a:r>
                    </a:p>
                    <a:p>
                      <a:pPr marL="169863" marR="0" lvl="0" indent="-169863" algn="just" defTabSz="914335" rtl="0" eaLnBrk="1" fontAlgn="auto" latinLnBrk="0" hangingPunct="1">
                        <a:lnSpc>
                          <a:spcPct val="125000"/>
                        </a:lnSpc>
                        <a:spcBef>
                          <a:spcPts val="0"/>
                        </a:spcBef>
                        <a:spcAft>
                          <a:spcPts val="0"/>
                        </a:spcAft>
                        <a:buClrTx/>
                        <a:buSzTx/>
                        <a:buFont typeface="Arial" panose="020B0604020202020204" pitchFamily="34" charset="0"/>
                        <a:buChar char="•"/>
                        <a:tabLst/>
                        <a:defRPr/>
                      </a:pPr>
                      <a:r>
                        <a:rPr lang="en-US" sz="1200" b="0" dirty="0">
                          <a:latin typeface="Arial" panose="020B0604020202020204" pitchFamily="34" charset="0"/>
                          <a:cs typeface="Arial" panose="020B0604020202020204" pitchFamily="34" charset="0"/>
                        </a:rPr>
                        <a:t>Exports to India in recent years has increased from the months of Mid-June to and mid-December and </a:t>
                      </a:r>
                      <a:r>
                        <a:rPr lang="en-US" sz="1200" b="1" dirty="0">
                          <a:latin typeface="Arial" panose="020B0604020202020204" pitchFamily="34" charset="0"/>
                          <a:cs typeface="Arial" panose="020B0604020202020204" pitchFamily="34" charset="0"/>
                        </a:rPr>
                        <a:t>reaching peak around mid-September.</a:t>
                      </a:r>
                    </a:p>
                    <a:p>
                      <a:pPr marL="169863" indent="-169863" algn="just" defTabSz="914335" rtl="0" eaLnBrk="1" latinLnBrk="0" hangingPunct="1">
                        <a:lnSpc>
                          <a:spcPct val="125000"/>
                        </a:lnSpc>
                        <a:buFont typeface="Arial" panose="020B0604020202020204" pitchFamily="34" charset="0"/>
                        <a:buChar char="•"/>
                      </a:pPr>
                      <a:r>
                        <a:rPr lang="en-US" sz="1200" b="0" dirty="0">
                          <a:latin typeface="Arial" panose="020B0604020202020204" pitchFamily="34" charset="0"/>
                          <a:cs typeface="Arial" panose="020B0604020202020204" pitchFamily="34" charset="0"/>
                        </a:rPr>
                        <a:t>Then after the </a:t>
                      </a:r>
                      <a:r>
                        <a:rPr lang="en-US" sz="1200" b="1" dirty="0">
                          <a:latin typeface="Arial" panose="020B0604020202020204" pitchFamily="34" charset="0"/>
                          <a:cs typeface="Arial" panose="020B0604020202020204" pitchFamily="34" charset="0"/>
                        </a:rPr>
                        <a:t>dry season (mid December to mid May) in which there is minimal export</a:t>
                      </a:r>
                      <a:r>
                        <a:rPr lang="en-US" sz="1200" b="0" dirty="0">
                          <a:latin typeface="Arial" panose="020B0604020202020204" pitchFamily="34" charset="0"/>
                          <a:cs typeface="Arial" panose="020B0604020202020204" pitchFamily="34" charset="0"/>
                        </a:rPr>
                        <a:t>; the power export gradually increase and reaches to peak levels</a:t>
                      </a:r>
                    </a:p>
                    <a:p>
                      <a:pPr marL="169863" indent="-169863" algn="just" defTabSz="914335" rtl="0" eaLnBrk="1" latinLnBrk="0" hangingPunct="1">
                        <a:lnSpc>
                          <a:spcPct val="125000"/>
                        </a:lnSpc>
                        <a:buFont typeface="Arial" panose="020B0604020202020204" pitchFamily="34" charset="0"/>
                        <a:buChar char="•"/>
                      </a:pPr>
                      <a:r>
                        <a:rPr lang="en-US" sz="1200" b="0" dirty="0">
                          <a:latin typeface="Arial" panose="020B0604020202020204" pitchFamily="34" charset="0"/>
                          <a:cs typeface="Arial" panose="020B0604020202020204" pitchFamily="34" charset="0"/>
                        </a:rPr>
                        <a:t>In FY 2023-34, Nepal has become Net exporter of power to India.</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pic>
        <p:nvPicPr>
          <p:cNvPr id="1026" name="Picture 2">
            <a:extLst>
              <a:ext uri="{FF2B5EF4-FFF2-40B4-BE49-F238E27FC236}">
                <a16:creationId xmlns:a16="http://schemas.microsoft.com/office/drawing/2014/main" id="{1A5172A8-1E71-2695-0B44-A978890215F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7160" y="2228858"/>
            <a:ext cx="3577590" cy="1961309"/>
          </a:xfrm>
          <a:prstGeom prst="rect">
            <a:avLst/>
          </a:prstGeom>
          <a:noFill/>
          <a:extLst>
            <a:ext uri="{909E8E84-426E-40DD-AFC4-6F175D3DCCD1}">
              <a14:hiddenFill xmlns:a14="http://schemas.microsoft.com/office/drawing/2010/main">
                <a:solidFill>
                  <a:srgbClr val="FFFFFF"/>
                </a:solidFill>
              </a14:hiddenFill>
            </a:ext>
          </a:extLst>
        </p:spPr>
      </p:pic>
      <p:sp>
        <p:nvSpPr>
          <p:cNvPr id="8" name="Arrow: Right 7">
            <a:hlinkClick r:id="rId9" action="ppaction://hlinksldjump"/>
            <a:extLst>
              <a:ext uri="{FF2B5EF4-FFF2-40B4-BE49-F238E27FC236}">
                <a16:creationId xmlns:a16="http://schemas.microsoft.com/office/drawing/2014/main" id="{0C474E54-4805-EBC3-891F-A5834625C570}"/>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00679454"/>
      </p:ext>
    </p:extLst>
  </p:cSld>
  <p:clrMapOvr>
    <a:masterClrMapping/>
  </p:clrMapOvr>
  <p:transition>
    <p:fade/>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dirty="0">
                <a:latin typeface="Arial" panose="020B0604020202020204" pitchFamily="34" charset="0"/>
                <a:cs typeface="Arial" panose="020B0604020202020204" pitchFamily="34" charset="0"/>
              </a:rPr>
              <a:t>Annexure-2</a:t>
            </a:r>
            <a:endParaRPr lang="en-GB" sz="1800" b="1" dirty="0">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a:extLst>
              <a:ext uri="{FF2B5EF4-FFF2-40B4-BE49-F238E27FC236}">
                <a16:creationId xmlns:a16="http://schemas.microsoft.com/office/drawing/2014/main" id="{38E7944B-C766-A2E0-AD0F-02F7870007D6}"/>
              </a:ext>
            </a:extLst>
          </p:cNvPr>
          <p:cNvSpPr>
            <a:spLocks noGrp="1"/>
          </p:cNvSpPr>
          <p:nvPr>
            <p:ph type="body" sz="quarter" idx="13"/>
          </p:nvPr>
        </p:nvSpPr>
        <p:spPr>
          <a:xfrm>
            <a:off x="514884" y="990658"/>
            <a:ext cx="11121870" cy="334099"/>
          </a:xfrm>
          <a:solidFill>
            <a:schemeClr val="bg1"/>
          </a:solidFill>
        </p:spPr>
        <p:txBody>
          <a:bodyPr/>
          <a:lstStyle/>
          <a:p>
            <a:pPr algn="ctr"/>
            <a:r>
              <a:rPr lang="en-US" sz="1400" b="1" dirty="0">
                <a:solidFill>
                  <a:schemeClr val="tx1"/>
                </a:solidFill>
                <a:latin typeface="Arial" panose="020B0604020202020204" pitchFamily="34" charset="0"/>
                <a:cs typeface="Arial" panose="020B0604020202020204" pitchFamily="34" charset="0"/>
              </a:rPr>
              <a:t>Analysis of the transmission utilization of 400kV </a:t>
            </a:r>
            <a:r>
              <a:rPr lang="en-US" sz="1400" b="1" dirty="0" err="1">
                <a:solidFill>
                  <a:schemeClr val="tx1"/>
                </a:solidFill>
                <a:latin typeface="Arial" panose="020B0604020202020204" pitchFamily="34" charset="0"/>
                <a:cs typeface="Arial" panose="020B0604020202020204" pitchFamily="34" charset="0"/>
              </a:rPr>
              <a:t>Dhalkebar-Muzzafarpur</a:t>
            </a:r>
            <a:r>
              <a:rPr lang="en-US" sz="1400" b="1" dirty="0">
                <a:solidFill>
                  <a:schemeClr val="tx1"/>
                </a:solidFill>
                <a:latin typeface="Arial" panose="020B0604020202020204" pitchFamily="34" charset="0"/>
                <a:cs typeface="Arial" panose="020B0604020202020204" pitchFamily="34" charset="0"/>
              </a:rPr>
              <a:t> lines  </a:t>
            </a:r>
          </a:p>
        </p:txBody>
      </p:sp>
      <p:graphicFrame>
        <p:nvGraphicFramePr>
          <p:cNvPr id="5" name="Table 4">
            <a:extLst>
              <a:ext uri="{FF2B5EF4-FFF2-40B4-BE49-F238E27FC236}">
                <a16:creationId xmlns:a16="http://schemas.microsoft.com/office/drawing/2014/main" id="{4D42D517-62EB-254C-B885-BA25938F3782}"/>
              </a:ext>
            </a:extLst>
          </p:cNvPr>
          <p:cNvGraphicFramePr>
            <a:graphicFrameLocks noGrp="1"/>
          </p:cNvGraphicFramePr>
          <p:nvPr>
            <p:extLst>
              <p:ext uri="{D42A27DB-BD31-4B8C-83A1-F6EECF244321}">
                <p14:modId xmlns:p14="http://schemas.microsoft.com/office/powerpoint/2010/main" val="1978539990"/>
              </p:ext>
            </p:extLst>
          </p:nvPr>
        </p:nvGraphicFramePr>
        <p:xfrm>
          <a:off x="535065" y="4173561"/>
          <a:ext cx="11216730" cy="1773390"/>
        </p:xfrm>
        <a:graphic>
          <a:graphicData uri="http://schemas.openxmlformats.org/drawingml/2006/table">
            <a:tbl>
              <a:tblPr firstRow="1" bandRow="1">
                <a:tableStyleId>{5C22544A-7EE6-4342-B048-85BDC9FD1C3A}</a:tableStyleId>
              </a:tblPr>
              <a:tblGrid>
                <a:gridCol w="4074511">
                  <a:extLst>
                    <a:ext uri="{9D8B030D-6E8A-4147-A177-3AD203B41FA5}">
                      <a16:colId xmlns:a16="http://schemas.microsoft.com/office/drawing/2014/main" val="1601999352"/>
                    </a:ext>
                  </a:extLst>
                </a:gridCol>
                <a:gridCol w="7142219">
                  <a:extLst>
                    <a:ext uri="{9D8B030D-6E8A-4147-A177-3AD203B41FA5}">
                      <a16:colId xmlns:a16="http://schemas.microsoft.com/office/drawing/2014/main" val="2515607737"/>
                    </a:ext>
                  </a:extLst>
                </a:gridCol>
              </a:tblGrid>
              <a:tr h="386784">
                <a:tc>
                  <a:txBody>
                    <a:bodyPr/>
                    <a:lstStyle/>
                    <a:p>
                      <a:pPr marL="0" indent="0" algn="just">
                        <a:buFont typeface="Arial" panose="020B0604020202020204" pitchFamily="34" charset="0"/>
                        <a:buNone/>
                      </a:pPr>
                      <a:r>
                        <a:rPr lang="en-US" sz="1200" dirty="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1386606">
                <a:tc gridSpan="2">
                  <a:txBody>
                    <a:bodyPr/>
                    <a:lstStyle/>
                    <a:p>
                      <a:pPr marL="169863" marR="0" lvl="0" indent="-169863" algn="just" defTabSz="914335" rtl="0" eaLnBrk="1" fontAlgn="auto" latinLnBrk="0" hangingPunct="1">
                        <a:lnSpc>
                          <a:spcPct val="125000"/>
                        </a:lnSpc>
                        <a:spcBef>
                          <a:spcPts val="0"/>
                        </a:spcBef>
                        <a:spcAft>
                          <a:spcPts val="0"/>
                        </a:spcAft>
                        <a:buClrTx/>
                        <a:buSzTx/>
                        <a:buFont typeface="Arial" panose="020B0604020202020204" pitchFamily="34" charset="0"/>
                        <a:buChar char="•"/>
                        <a:tabLst/>
                        <a:defRPr/>
                      </a:pPr>
                      <a:r>
                        <a:rPr lang="en-US" sz="1200" b="0" kern="1200">
                          <a:solidFill>
                            <a:schemeClr val="dk1"/>
                          </a:solidFill>
                          <a:latin typeface="Arial" panose="020B0604020202020204" pitchFamily="34" charset="0"/>
                          <a:ea typeface="+mn-ea"/>
                          <a:cs typeface="Arial" panose="020B0604020202020204" pitchFamily="34" charset="0"/>
                        </a:rPr>
                        <a:t>400kV Dhalkebar-Muzzafarpur line is the first 400kV transmission link between India and Nepal and has been playing a pivotal role in India-Nepal cross-border electricity trade.</a:t>
                      </a:r>
                    </a:p>
                    <a:p>
                      <a:pPr marL="169863" marR="0" lvl="0" indent="-169863" algn="just" defTabSz="914335" rtl="0" eaLnBrk="1" fontAlgn="auto" latinLnBrk="0" hangingPunct="1">
                        <a:lnSpc>
                          <a:spcPct val="125000"/>
                        </a:lnSpc>
                        <a:spcBef>
                          <a:spcPts val="0"/>
                        </a:spcBef>
                        <a:spcAft>
                          <a:spcPts val="0"/>
                        </a:spcAft>
                        <a:buClrTx/>
                        <a:buSzTx/>
                        <a:buFont typeface="Arial" panose="020B0604020202020204" pitchFamily="34" charset="0"/>
                        <a:buChar char="•"/>
                        <a:tabLst/>
                        <a:defRPr/>
                      </a:pPr>
                      <a:r>
                        <a:rPr lang="en-US" sz="1200" b="0" kern="1200">
                          <a:solidFill>
                            <a:schemeClr val="dk1"/>
                          </a:solidFill>
                          <a:latin typeface="Arial" panose="020B0604020202020204" pitchFamily="34" charset="0"/>
                          <a:ea typeface="+mn-ea"/>
                          <a:cs typeface="Arial" panose="020B0604020202020204" pitchFamily="34" charset="0"/>
                        </a:rPr>
                        <a:t>Initially designed for capacity of 600 MW, the lines capacity was upgraded </a:t>
                      </a:r>
                      <a:r>
                        <a:rPr lang="en-US" sz="1200" b="0">
                          <a:latin typeface="Arial" panose="020B0604020202020204" pitchFamily="34" charset="0"/>
                          <a:cs typeface="Arial" panose="020B0604020202020204" pitchFamily="34" charset="0"/>
                        </a:rPr>
                        <a:t>to 800 MW and then to1000 MW.</a:t>
                      </a:r>
                    </a:p>
                    <a:p>
                      <a:pPr marL="169863" marR="0" lvl="0" indent="-169863" algn="just" defTabSz="914335" rtl="0" eaLnBrk="1" fontAlgn="auto" latinLnBrk="0" hangingPunct="1">
                        <a:lnSpc>
                          <a:spcPct val="125000"/>
                        </a:lnSpc>
                        <a:spcBef>
                          <a:spcPts val="0"/>
                        </a:spcBef>
                        <a:spcAft>
                          <a:spcPts val="0"/>
                        </a:spcAft>
                        <a:buClrTx/>
                        <a:buSzTx/>
                        <a:buFont typeface="Arial" panose="020B0604020202020204" pitchFamily="34" charset="0"/>
                        <a:buChar char="•"/>
                        <a:tabLst/>
                        <a:defRPr/>
                      </a:pPr>
                      <a:r>
                        <a:rPr lang="en-US" sz="1200" b="0">
                          <a:latin typeface="Arial" panose="020B0604020202020204" pitchFamily="34" charset="0"/>
                          <a:cs typeface="Arial" panose="020B0604020202020204" pitchFamily="34" charset="0"/>
                        </a:rPr>
                        <a:t>Considering 1000 MW as the Annual Transmission Capacity (ATC) and Total Transmission Capacity (TTC) for the </a:t>
                      </a:r>
                      <a:r>
                        <a:rPr lang="en-US" sz="1200" b="0" kern="1200">
                          <a:solidFill>
                            <a:schemeClr val="dk1"/>
                          </a:solidFill>
                          <a:latin typeface="Arial" panose="020B0604020202020204" pitchFamily="34" charset="0"/>
                          <a:ea typeface="+mn-ea"/>
                          <a:cs typeface="Arial" panose="020B0604020202020204" pitchFamily="34" charset="0"/>
                        </a:rPr>
                        <a:t>400kV Dhalkebar-Muzzafarpur line, the utilization during the dry months (June 2024 to November 2024) are in the range of  75%-85%.</a:t>
                      </a:r>
                      <a:endParaRPr lang="en-US" sz="1200" b="0">
                        <a:latin typeface="Arial" panose="020B0604020202020204" pitchFamily="34" charset="0"/>
                        <a:cs typeface="Arial" panose="020B0604020202020204" pitchFamily="34" charset="0"/>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graphicFrame>
        <p:nvGraphicFramePr>
          <p:cNvPr id="7" name="Chart 6">
            <a:extLst>
              <a:ext uri="{FF2B5EF4-FFF2-40B4-BE49-F238E27FC236}">
                <a16:creationId xmlns:a16="http://schemas.microsoft.com/office/drawing/2014/main" id="{8B35D484-18E0-DFD1-BD18-0D7FB8E45C33}"/>
              </a:ext>
            </a:extLst>
          </p:cNvPr>
          <p:cNvGraphicFramePr>
            <a:graphicFrameLocks/>
          </p:cNvGraphicFramePr>
          <p:nvPr>
            <p:extLst>
              <p:ext uri="{D42A27DB-BD31-4B8C-83A1-F6EECF244321}">
                <p14:modId xmlns:p14="http://schemas.microsoft.com/office/powerpoint/2010/main" val="1917595185"/>
              </p:ext>
            </p:extLst>
          </p:nvPr>
        </p:nvGraphicFramePr>
        <p:xfrm>
          <a:off x="1830595" y="1354602"/>
          <a:ext cx="8625670" cy="2559509"/>
        </p:xfrm>
        <a:graphic>
          <a:graphicData uri="http://schemas.openxmlformats.org/drawingml/2006/chart">
            <c:chart xmlns:c="http://schemas.openxmlformats.org/drawingml/2006/chart" xmlns:r="http://schemas.openxmlformats.org/officeDocument/2006/relationships" r:id="rId6"/>
          </a:graphicData>
        </a:graphic>
      </p:graphicFrame>
      <p:sp>
        <p:nvSpPr>
          <p:cNvPr id="3" name="Arrow: Right 2">
            <a:hlinkClick r:id="rId7" action="ppaction://hlinksldjump"/>
            <a:extLst>
              <a:ext uri="{FF2B5EF4-FFF2-40B4-BE49-F238E27FC236}">
                <a16:creationId xmlns:a16="http://schemas.microsoft.com/office/drawing/2014/main" id="{E5D71647-D417-0DF7-B559-E2EB05D9E72E}"/>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4288539"/>
      </p:ext>
    </p:extLst>
  </p:cSld>
  <p:clrMapOvr>
    <a:masterClrMapping/>
  </p:clrMapOvr>
  <p:transition>
    <p:fade/>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280746641"/>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17" imgW="415" imgH="416" progId="TCLayout.ActiveDocument.1">
                  <p:embed/>
                </p:oleObj>
              </mc:Choice>
              <mc:Fallback>
                <p:oleObj name="think-cell Slide" r:id="rId17"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18"/>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Key drivers to promote increased CBET between Nepal and India</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Some of the key drivers for CBET are includes increase in electricity demand in India and Hydro Purchase Obligations</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567C519-2DE6-2FDE-F221-D16F8983C59F}"/>
              </a:ext>
            </a:extLst>
          </p:cNvPr>
          <p:cNvSpPr txBox="1"/>
          <p:nvPr/>
        </p:nvSpPr>
        <p:spPr>
          <a:xfrm>
            <a:off x="501651" y="6615033"/>
            <a:ext cx="9683749"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Source: </a:t>
            </a:r>
            <a:r>
              <a:rPr kumimoji="0" lang="en-US"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rPr>
              <a:t>CEA National Electricity Plan, Renewable Purchase Obligation (RPO) and Energy Storage Obligation Trajectory till 2029-30 - Ministry of Power</a:t>
            </a:r>
            <a:endParaRPr kumimoji="0" lang="en-IN" sz="1050" b="0" i="0" u="none" strike="noStrike" kern="1200" cap="none" spc="0" normalizeH="0" baseline="0" noProof="0">
              <a:ln>
                <a:noFill/>
              </a:ln>
              <a:solidFill>
                <a:srgbClr val="313131"/>
              </a:solidFill>
              <a:effectLst/>
              <a:uLnTx/>
              <a:uFillTx/>
              <a:latin typeface="Arial" panose="020B0604020202020204" pitchFamily="34" charset="0"/>
              <a:ea typeface="+mn-ea"/>
              <a:cs typeface="Arial" panose="020B0604020202020204" pitchFamily="34" charset="0"/>
            </a:endParaRPr>
          </a:p>
        </p:txBody>
      </p:sp>
      <p:sp>
        <p:nvSpPr>
          <p:cNvPr id="22" name="Rectangle 21">
            <a:extLst>
              <a:ext uri="{FF2B5EF4-FFF2-40B4-BE49-F238E27FC236}">
                <a16:creationId xmlns:a16="http://schemas.microsoft.com/office/drawing/2014/main" id="{4DCE12E0-46BD-5D97-FA89-246ABBF1F605}"/>
              </a:ext>
            </a:extLst>
          </p:cNvPr>
          <p:cNvSpPr/>
          <p:nvPr/>
        </p:nvSpPr>
        <p:spPr bwMode="gray">
          <a:xfrm>
            <a:off x="528371" y="989014"/>
            <a:ext cx="6544996" cy="2611382"/>
          </a:xfrm>
          <a:prstGeom prst="rect">
            <a:avLst/>
          </a:prstGeom>
          <a:solidFill>
            <a:schemeClr val="accent1">
              <a:lumMod val="20000"/>
              <a:lumOff val="80000"/>
            </a:schemeClr>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1714CE39-E0C6-E7BA-CBC7-9BEB889FF4D4}"/>
              </a:ext>
            </a:extLst>
          </p:cNvPr>
          <p:cNvSpPr txBox="1"/>
          <p:nvPr/>
        </p:nvSpPr>
        <p:spPr>
          <a:xfrm>
            <a:off x="681765" y="1098526"/>
            <a:ext cx="6245761" cy="2418867"/>
          </a:xfrm>
          <a:prstGeom prst="rect">
            <a:avLst/>
          </a:prstGeom>
          <a:noFill/>
          <a:ln w="12700">
            <a:noFill/>
            <a:prstDash val="dash"/>
          </a:ln>
        </p:spPr>
        <p:style>
          <a:lnRef idx="2">
            <a:schemeClr val="accent1"/>
          </a:lnRef>
          <a:fillRef idx="1">
            <a:schemeClr val="lt1"/>
          </a:fillRef>
          <a:effectRef idx="0">
            <a:schemeClr val="accent1"/>
          </a:effectRef>
          <a:fontRef idx="minor">
            <a:schemeClr val="dk1"/>
          </a:fontRef>
        </p:style>
        <p:txBody>
          <a:bodyPr wrap="square">
            <a:spAutoFit/>
          </a:bodyPr>
          <a:lstStyle/>
          <a:p>
            <a:pPr marL="0" marR="0" lvl="0" indent="0" algn="just" defTabSz="914400" rtl="0" eaLnBrk="1" fontAlgn="auto" latinLnBrk="0" hangingPunct="1">
              <a:lnSpc>
                <a:spcPct val="107000"/>
              </a:lnSpc>
              <a:spcBef>
                <a:spcPts val="0"/>
              </a:spcBef>
              <a:spcAft>
                <a:spcPts val="0"/>
              </a:spcAft>
              <a:buClrTx/>
              <a:buSzTx/>
              <a:buFontTx/>
              <a:buNone/>
              <a:tabLst>
                <a:tab pos="457200" algn="l"/>
              </a:tabLst>
              <a:defRPr/>
            </a:pPr>
            <a:r>
              <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Rising Electricity Demand in India</a:t>
            </a:r>
          </a:p>
          <a:p>
            <a:pPr marL="285750" marR="0" lvl="0" indent="-285750" algn="just" defTabSz="914400" rtl="0" eaLnBrk="1" fontAlgn="auto" latinLnBrk="0" hangingPunct="1">
              <a:lnSpc>
                <a:spcPct val="107000"/>
              </a:lnSpc>
              <a:spcBef>
                <a:spcPts val="0"/>
              </a:spcBef>
              <a:spcAft>
                <a:spcPts val="0"/>
              </a:spcAft>
              <a:buClrTx/>
              <a:buSzTx/>
              <a:buFont typeface="Arial" panose="020B0604020202020204" pitchFamily="34" charset="0"/>
              <a:buChar char="•"/>
              <a:tabLst>
                <a:tab pos="457200" algn="l"/>
              </a:tabLst>
              <a:defRPr/>
            </a:pPr>
            <a:endPar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L="285750" marR="0" lvl="0" indent="-285750" algn="just" defTabSz="914400" rtl="0" eaLnBrk="1" fontAlgn="auto" latinLnBrk="0" hangingPunct="1">
              <a:lnSpc>
                <a:spcPct val="120000"/>
              </a:lnSpc>
              <a:spcBef>
                <a:spcPts val="0"/>
              </a:spcBef>
              <a:spcAft>
                <a:spcPts val="0"/>
              </a:spcAft>
              <a:buClrTx/>
              <a:buSzTx/>
              <a:buFont typeface="Arial" panose="020B0604020202020204" pitchFamily="34" charset="0"/>
              <a:buChar char="•"/>
              <a:tabLst>
                <a:tab pos="457200" algn="l"/>
              </a:tabLst>
              <a:defRPr/>
            </a:pP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As per 20</a:t>
            </a:r>
            <a:r>
              <a:rPr kumimoji="0" lang="en-US" sz="1300" b="0" i="0" u="none" strike="noStrike" kern="1200" cap="none" spc="0" normalizeH="0" baseline="30000" noProof="0">
                <a:ln>
                  <a:noFill/>
                </a:ln>
                <a:solidFill>
                  <a:prstClr val="black"/>
                </a:solidFill>
                <a:effectLst/>
                <a:uLnTx/>
                <a:uFillTx/>
                <a:latin typeface="Arial" panose="020B0604020202020204" pitchFamily="34" charset="0"/>
                <a:ea typeface="+mn-ea"/>
                <a:cs typeface="Arial" panose="020B0604020202020204" pitchFamily="34" charset="0"/>
              </a:rPr>
              <a:t>th</a:t>
            </a: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EPS report and National Electricity Plan by CEA, India’s projected electricity demand growth is </a:t>
            </a:r>
            <a:r>
              <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6.67% for FY22-27 and 5.33 % for FY27-32</a:t>
            </a:r>
          </a:p>
          <a:p>
            <a:pPr marL="285750" marR="0" lvl="0" indent="-285750" algn="just" defTabSz="914400" rtl="0" eaLnBrk="1" fontAlgn="auto" latinLnBrk="0" hangingPunct="1">
              <a:lnSpc>
                <a:spcPct val="120000"/>
              </a:lnSpc>
              <a:spcBef>
                <a:spcPts val="0"/>
              </a:spcBef>
              <a:spcAft>
                <a:spcPts val="0"/>
              </a:spcAft>
              <a:buClrTx/>
              <a:buSzTx/>
              <a:buFont typeface="Arial" panose="020B0604020202020204" pitchFamily="34" charset="0"/>
              <a:buChar char="•"/>
              <a:tabLst>
                <a:tab pos="457200" algn="l"/>
              </a:tabLst>
              <a:defRPr/>
            </a:pP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Peak demand in India projected to increase to </a:t>
            </a:r>
            <a:r>
              <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366 GW by 2031-32 </a:t>
            </a: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and</a:t>
            </a:r>
            <a:r>
              <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energy requirement is expected to reach </a:t>
            </a:r>
            <a:r>
              <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2,538 BU by 2031-32</a:t>
            </a:r>
            <a:endPar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L="285750" marR="0" lvl="0" indent="-285750" algn="just" defTabSz="914400" rtl="0" eaLnBrk="1" fontAlgn="auto" latinLnBrk="0" hangingPunct="1">
              <a:lnSpc>
                <a:spcPct val="120000"/>
              </a:lnSpc>
              <a:spcBef>
                <a:spcPts val="0"/>
              </a:spcBef>
              <a:spcAft>
                <a:spcPts val="0"/>
              </a:spcAft>
              <a:buClrTx/>
              <a:buSzTx/>
              <a:buFont typeface="Arial" panose="020B0604020202020204" pitchFamily="34" charset="0"/>
              <a:buChar char="•"/>
              <a:tabLst>
                <a:tab pos="457200" algn="l"/>
              </a:tabLst>
              <a:defRPr/>
            </a:pP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India’s target of </a:t>
            </a:r>
            <a:r>
              <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500 GW non-fossil fuel capacity by 2030</a:t>
            </a: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creates demand for firm green energy.</a:t>
            </a:r>
          </a:p>
          <a:p>
            <a:pPr marL="285750" marR="0" lvl="0" indent="-285750" algn="just" defTabSz="914400" rtl="0" eaLnBrk="1" fontAlgn="auto" latinLnBrk="0" hangingPunct="1">
              <a:lnSpc>
                <a:spcPct val="120000"/>
              </a:lnSpc>
              <a:spcBef>
                <a:spcPts val="0"/>
              </a:spcBef>
              <a:spcAft>
                <a:spcPts val="0"/>
              </a:spcAft>
              <a:buClrTx/>
              <a:buSzTx/>
              <a:buFont typeface="Arial" panose="020B0604020202020204" pitchFamily="34" charset="0"/>
              <a:buChar char="•"/>
              <a:tabLst>
                <a:tab pos="457200" algn="l"/>
              </a:tabLst>
              <a:defRPr/>
            </a:pP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Cross-border participation allowed in </a:t>
            </a:r>
            <a:r>
              <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DAM, TAM, RTM, GDAM</a:t>
            </a: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via CERC framework</a:t>
            </a:r>
          </a:p>
        </p:txBody>
      </p:sp>
      <p:sp>
        <p:nvSpPr>
          <p:cNvPr id="23" name="Rectangle 22">
            <a:extLst>
              <a:ext uri="{FF2B5EF4-FFF2-40B4-BE49-F238E27FC236}">
                <a16:creationId xmlns:a16="http://schemas.microsoft.com/office/drawing/2014/main" id="{C982EBD8-253C-1B68-7DD3-9C1353F4B123}"/>
              </a:ext>
            </a:extLst>
          </p:cNvPr>
          <p:cNvSpPr/>
          <p:nvPr/>
        </p:nvSpPr>
        <p:spPr bwMode="gray">
          <a:xfrm>
            <a:off x="540613" y="3713115"/>
            <a:ext cx="6544996" cy="2747588"/>
          </a:xfrm>
          <a:prstGeom prst="rect">
            <a:avLst/>
          </a:prstGeom>
          <a:solidFill>
            <a:srgbClr val="DDEFE8"/>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26CDDF5E-12AF-050E-66AA-0DD32D5C157C}"/>
              </a:ext>
            </a:extLst>
          </p:cNvPr>
          <p:cNvSpPr txBox="1"/>
          <p:nvPr/>
        </p:nvSpPr>
        <p:spPr>
          <a:xfrm>
            <a:off x="638414" y="3747842"/>
            <a:ext cx="6324910" cy="2645211"/>
          </a:xfrm>
          <a:prstGeom prst="rect">
            <a:avLst/>
          </a:prstGeom>
          <a:noFill/>
          <a:ln w="12700">
            <a:noFill/>
            <a:prstDash val="dashDot"/>
          </a:ln>
        </p:spPr>
        <p:style>
          <a:lnRef idx="2">
            <a:schemeClr val="accent1"/>
          </a:lnRef>
          <a:fillRef idx="1">
            <a:schemeClr val="lt1"/>
          </a:fillRef>
          <a:effectRef idx="0">
            <a:schemeClr val="accent1"/>
          </a:effectRef>
          <a:fontRef idx="minor">
            <a:schemeClr val="dk1"/>
          </a:fontRef>
        </p:style>
        <p:txBody>
          <a:bodyPr wrap="square">
            <a:spAutoFit/>
          </a:bodyPr>
          <a:lstStyle/>
          <a:p>
            <a:pPr marL="0" marR="0" lvl="0" indent="0" algn="just" defTabSz="914400" rtl="0" eaLnBrk="1" fontAlgn="auto" latinLnBrk="0" hangingPunct="1">
              <a:lnSpc>
                <a:spcPct val="107000"/>
              </a:lnSpc>
              <a:spcBef>
                <a:spcPts val="0"/>
              </a:spcBef>
              <a:spcAft>
                <a:spcPts val="0"/>
              </a:spcAft>
              <a:buClrTx/>
              <a:buSzTx/>
              <a:buFontTx/>
              <a:buNone/>
              <a:tabLst>
                <a:tab pos="457200" algn="l"/>
              </a:tabLst>
              <a:defRPr/>
            </a:pPr>
            <a:r>
              <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Hydro Purchase Obligations (HPO)</a:t>
            </a:r>
          </a:p>
          <a:p>
            <a:pPr marL="0" marR="0" lvl="0" indent="0" algn="just" defTabSz="914400" rtl="0" eaLnBrk="1" fontAlgn="auto" latinLnBrk="0" hangingPunct="1">
              <a:lnSpc>
                <a:spcPct val="107000"/>
              </a:lnSpc>
              <a:spcBef>
                <a:spcPts val="0"/>
              </a:spcBef>
              <a:spcAft>
                <a:spcPts val="0"/>
              </a:spcAft>
              <a:buClrTx/>
              <a:buSzTx/>
              <a:buFontTx/>
              <a:buNone/>
              <a:tabLst>
                <a:tab pos="457200" algn="l"/>
              </a:tabLst>
              <a:defRPr/>
            </a:pPr>
            <a:endPar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L="285750" marR="0" lvl="0" indent="-285750" algn="just" defTabSz="914400" rtl="0" eaLnBrk="1" fontAlgn="auto" latinLnBrk="0" hangingPunct="1">
              <a:lnSpc>
                <a:spcPct val="107000"/>
              </a:lnSpc>
              <a:spcBef>
                <a:spcPts val="0"/>
              </a:spcBef>
              <a:spcAft>
                <a:spcPts val="0"/>
              </a:spcAft>
              <a:buClrTx/>
              <a:buSzTx/>
              <a:buFont typeface="Arial" panose="020B0604020202020204" pitchFamily="34" charset="0"/>
              <a:buChar char="•"/>
              <a:tabLst>
                <a:tab pos="457200" algn="l"/>
              </a:tabLst>
              <a:defRPr/>
            </a:pP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DISCOMs, captive and open access consumers are obligated to procure power from hydro power projects, to reach </a:t>
            </a:r>
            <a:r>
              <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1.33% by 2029-30</a:t>
            </a:r>
          </a:p>
          <a:p>
            <a:pPr marL="285750" marR="0" lvl="0" indent="-285750" algn="just" defTabSz="914400" rtl="0" eaLnBrk="1" fontAlgn="auto" latinLnBrk="0" hangingPunct="1">
              <a:lnSpc>
                <a:spcPct val="107000"/>
              </a:lnSpc>
              <a:spcBef>
                <a:spcPts val="0"/>
              </a:spcBef>
              <a:spcAft>
                <a:spcPts val="0"/>
              </a:spcAft>
              <a:buClrTx/>
              <a:buSzTx/>
              <a:buFont typeface="Arial" panose="020B0604020202020204" pitchFamily="34" charset="0"/>
              <a:buChar char="•"/>
              <a:tabLst>
                <a:tab pos="457200" algn="l"/>
              </a:tabLst>
              <a:defRPr/>
            </a:pPr>
            <a:r>
              <a:rPr kumimoji="0" lang="en-US" alt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Only hydro energy from projects commissioned after 31st March 2024 qualifies towards the hydro renewable energy obligation.</a:t>
            </a:r>
          </a:p>
          <a:p>
            <a:pPr marL="285750" marR="0" lvl="0" indent="-285750" algn="just" defTabSz="914400" rtl="0" eaLnBrk="1" fontAlgn="auto" latinLnBrk="0" hangingPunct="1">
              <a:lnSpc>
                <a:spcPct val="107000"/>
              </a:lnSpc>
              <a:spcBef>
                <a:spcPts val="0"/>
              </a:spcBef>
              <a:spcAft>
                <a:spcPts val="0"/>
              </a:spcAft>
              <a:buClrTx/>
              <a:buSzTx/>
              <a:buFont typeface="Arial" panose="020B0604020202020204" pitchFamily="34" charset="0"/>
              <a:buChar char="•"/>
              <a:tabLst>
                <a:tab pos="457200" algn="l"/>
              </a:tabLst>
              <a:defRPr/>
            </a:pPr>
            <a:endParaRPr kumimoji="0" lang="en-US" alt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R="0" lvl="0" algn="just" defTabSz="914400" rtl="0" eaLnBrk="1" fontAlgn="base" latinLnBrk="0" hangingPunct="1">
              <a:lnSpc>
                <a:spcPct val="107000"/>
              </a:lnSpc>
              <a:spcBef>
                <a:spcPct val="0"/>
              </a:spcBef>
              <a:spcAft>
                <a:spcPct val="0"/>
              </a:spcAft>
              <a:buClrTx/>
              <a:buSzTx/>
              <a:tabLst>
                <a:tab pos="457200" algn="l"/>
              </a:tabLst>
              <a:defRPr/>
            </a:pPr>
            <a:r>
              <a:rPr kumimoji="0" lang="en-US" alt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Cross-Border Sourcing</a:t>
            </a:r>
            <a:r>
              <a:rPr kumimoji="0" lang="en-US" alt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a:p>
            <a:pPr marL="285750" marR="0" lvl="0" indent="-285750" algn="just" defTabSz="914400" rtl="0" eaLnBrk="1" fontAlgn="base" latinLnBrk="0" hangingPunct="1">
              <a:lnSpc>
                <a:spcPct val="107000"/>
              </a:lnSpc>
              <a:spcBef>
                <a:spcPct val="0"/>
              </a:spcBef>
              <a:spcAft>
                <a:spcPct val="0"/>
              </a:spcAft>
              <a:buClrTx/>
              <a:buSzTx/>
              <a:buFont typeface="Arial" panose="020B0604020202020204" pitchFamily="34" charset="0"/>
              <a:buChar char="•"/>
              <a:tabLst>
                <a:tab pos="457200" algn="l"/>
              </a:tabLst>
              <a:defRPr/>
            </a:pPr>
            <a:r>
              <a:rPr kumimoji="0" lang="en-US" alt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Hydro energy from projects outside India can be counted if approved by   the Central Government/CEA.</a:t>
            </a:r>
            <a:endParaRPr lang="en-US" altLang="en-US" sz="1300">
              <a:solidFill>
                <a:prstClr val="black"/>
              </a:solidFill>
              <a:latin typeface="Arial" panose="020B0604020202020204" pitchFamily="34" charset="0"/>
              <a:cs typeface="Arial" panose="020B0604020202020204" pitchFamily="34" charset="0"/>
            </a:endParaRPr>
          </a:p>
          <a:p>
            <a:pPr marL="285750" marR="0" lvl="0" indent="-285750" algn="just" defTabSz="914400" rtl="0" eaLnBrk="1" fontAlgn="base" latinLnBrk="0" hangingPunct="1">
              <a:lnSpc>
                <a:spcPct val="107000"/>
              </a:lnSpc>
              <a:spcBef>
                <a:spcPct val="0"/>
              </a:spcBef>
              <a:spcAft>
                <a:spcPct val="0"/>
              </a:spcAft>
              <a:buClrTx/>
              <a:buSzTx/>
              <a:buFont typeface="Arial" panose="020B0604020202020204" pitchFamily="34" charset="0"/>
              <a:buChar char="•"/>
              <a:tabLst>
                <a:tab pos="457200" algn="l"/>
              </a:tabLst>
              <a:defRPr/>
            </a:pP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Nepal’s hydro aligns with India’s clean energy compliance needs, creating strong demand for hydro imports from Nepal.</a:t>
            </a:r>
          </a:p>
        </p:txBody>
      </p:sp>
      <p:sp>
        <p:nvSpPr>
          <p:cNvPr id="24" name="Rectangle 23">
            <a:extLst>
              <a:ext uri="{FF2B5EF4-FFF2-40B4-BE49-F238E27FC236}">
                <a16:creationId xmlns:a16="http://schemas.microsoft.com/office/drawing/2014/main" id="{F6C1AD2F-F883-AAD8-805B-D8819A46DB55}"/>
              </a:ext>
            </a:extLst>
          </p:cNvPr>
          <p:cNvSpPr/>
          <p:nvPr/>
        </p:nvSpPr>
        <p:spPr bwMode="gray">
          <a:xfrm>
            <a:off x="7484533" y="1036118"/>
            <a:ext cx="4225910" cy="926952"/>
          </a:xfrm>
          <a:custGeom>
            <a:avLst/>
            <a:gdLst>
              <a:gd name="connsiteX0" fmla="*/ 0 w 4225910"/>
              <a:gd name="connsiteY0" fmla="*/ 0 h 926952"/>
              <a:gd name="connsiteX1" fmla="*/ 519183 w 4225910"/>
              <a:gd name="connsiteY1" fmla="*/ 0 h 926952"/>
              <a:gd name="connsiteX2" fmla="*/ 1122885 w 4225910"/>
              <a:gd name="connsiteY2" fmla="*/ 0 h 926952"/>
              <a:gd name="connsiteX3" fmla="*/ 1768845 w 4225910"/>
              <a:gd name="connsiteY3" fmla="*/ 0 h 926952"/>
              <a:gd name="connsiteX4" fmla="*/ 2330288 w 4225910"/>
              <a:gd name="connsiteY4" fmla="*/ 0 h 926952"/>
              <a:gd name="connsiteX5" fmla="*/ 2933989 w 4225910"/>
              <a:gd name="connsiteY5" fmla="*/ 0 h 926952"/>
              <a:gd name="connsiteX6" fmla="*/ 3410913 w 4225910"/>
              <a:gd name="connsiteY6" fmla="*/ 0 h 926952"/>
              <a:gd name="connsiteX7" fmla="*/ 4225910 w 4225910"/>
              <a:gd name="connsiteY7" fmla="*/ 0 h 926952"/>
              <a:gd name="connsiteX8" fmla="*/ 4225910 w 4225910"/>
              <a:gd name="connsiteY8" fmla="*/ 454206 h 926952"/>
              <a:gd name="connsiteX9" fmla="*/ 4225910 w 4225910"/>
              <a:gd name="connsiteY9" fmla="*/ 926952 h 926952"/>
              <a:gd name="connsiteX10" fmla="*/ 3622209 w 4225910"/>
              <a:gd name="connsiteY10" fmla="*/ 926952 h 926952"/>
              <a:gd name="connsiteX11" fmla="*/ 2933989 w 4225910"/>
              <a:gd name="connsiteY11" fmla="*/ 926952 h 926952"/>
              <a:gd name="connsiteX12" fmla="*/ 2245769 w 4225910"/>
              <a:gd name="connsiteY12" fmla="*/ 926952 h 926952"/>
              <a:gd name="connsiteX13" fmla="*/ 1684327 w 4225910"/>
              <a:gd name="connsiteY13" fmla="*/ 926952 h 926952"/>
              <a:gd name="connsiteX14" fmla="*/ 1038366 w 4225910"/>
              <a:gd name="connsiteY14" fmla="*/ 926952 h 926952"/>
              <a:gd name="connsiteX15" fmla="*/ 561442 w 4225910"/>
              <a:gd name="connsiteY15" fmla="*/ 926952 h 926952"/>
              <a:gd name="connsiteX16" fmla="*/ 0 w 4225910"/>
              <a:gd name="connsiteY16" fmla="*/ 926952 h 926952"/>
              <a:gd name="connsiteX17" fmla="*/ 0 w 4225910"/>
              <a:gd name="connsiteY17" fmla="*/ 444937 h 926952"/>
              <a:gd name="connsiteX18" fmla="*/ 0 w 4225910"/>
              <a:gd name="connsiteY18" fmla="*/ 0 h 92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25910" h="926952" fill="none" extrusionOk="0">
                <a:moveTo>
                  <a:pt x="0" y="0"/>
                </a:moveTo>
                <a:cubicBezTo>
                  <a:pt x="213285" y="21896"/>
                  <a:pt x="261848" y="1284"/>
                  <a:pt x="519183" y="0"/>
                </a:cubicBezTo>
                <a:cubicBezTo>
                  <a:pt x="776518" y="-1284"/>
                  <a:pt x="851078" y="1770"/>
                  <a:pt x="1122885" y="0"/>
                </a:cubicBezTo>
                <a:cubicBezTo>
                  <a:pt x="1394692" y="-1770"/>
                  <a:pt x="1623243" y="-27909"/>
                  <a:pt x="1768845" y="0"/>
                </a:cubicBezTo>
                <a:cubicBezTo>
                  <a:pt x="1914447" y="27909"/>
                  <a:pt x="2078988" y="20975"/>
                  <a:pt x="2330288" y="0"/>
                </a:cubicBezTo>
                <a:cubicBezTo>
                  <a:pt x="2581588" y="-20975"/>
                  <a:pt x="2632531" y="-25768"/>
                  <a:pt x="2933989" y="0"/>
                </a:cubicBezTo>
                <a:cubicBezTo>
                  <a:pt x="3235447" y="25768"/>
                  <a:pt x="3285087" y="4797"/>
                  <a:pt x="3410913" y="0"/>
                </a:cubicBezTo>
                <a:cubicBezTo>
                  <a:pt x="3536739" y="-4797"/>
                  <a:pt x="3850695" y="36167"/>
                  <a:pt x="4225910" y="0"/>
                </a:cubicBezTo>
                <a:cubicBezTo>
                  <a:pt x="4239251" y="191608"/>
                  <a:pt x="4243733" y="322692"/>
                  <a:pt x="4225910" y="454206"/>
                </a:cubicBezTo>
                <a:cubicBezTo>
                  <a:pt x="4208087" y="585720"/>
                  <a:pt x="4245828" y="819133"/>
                  <a:pt x="4225910" y="926952"/>
                </a:cubicBezTo>
                <a:cubicBezTo>
                  <a:pt x="4026893" y="897344"/>
                  <a:pt x="3887471" y="946863"/>
                  <a:pt x="3622209" y="926952"/>
                </a:cubicBezTo>
                <a:cubicBezTo>
                  <a:pt x="3356947" y="907041"/>
                  <a:pt x="3095672" y="948299"/>
                  <a:pt x="2933989" y="926952"/>
                </a:cubicBezTo>
                <a:cubicBezTo>
                  <a:pt x="2772306" y="905605"/>
                  <a:pt x="2494398" y="921574"/>
                  <a:pt x="2245769" y="926952"/>
                </a:cubicBezTo>
                <a:cubicBezTo>
                  <a:pt x="1997140" y="932330"/>
                  <a:pt x="1874995" y="947087"/>
                  <a:pt x="1684327" y="926952"/>
                </a:cubicBezTo>
                <a:cubicBezTo>
                  <a:pt x="1493659" y="906817"/>
                  <a:pt x="1175682" y="945237"/>
                  <a:pt x="1038366" y="926952"/>
                </a:cubicBezTo>
                <a:cubicBezTo>
                  <a:pt x="901050" y="908667"/>
                  <a:pt x="790696" y="918416"/>
                  <a:pt x="561442" y="926952"/>
                </a:cubicBezTo>
                <a:cubicBezTo>
                  <a:pt x="332188" y="935488"/>
                  <a:pt x="274986" y="919458"/>
                  <a:pt x="0" y="926952"/>
                </a:cubicBezTo>
                <a:cubicBezTo>
                  <a:pt x="10002" y="785169"/>
                  <a:pt x="-5711" y="612022"/>
                  <a:pt x="0" y="444937"/>
                </a:cubicBezTo>
                <a:cubicBezTo>
                  <a:pt x="5711" y="277852"/>
                  <a:pt x="-6608" y="174961"/>
                  <a:pt x="0" y="0"/>
                </a:cubicBezTo>
                <a:close/>
              </a:path>
              <a:path w="4225910" h="926952" stroke="0" extrusionOk="0">
                <a:moveTo>
                  <a:pt x="0" y="0"/>
                </a:moveTo>
                <a:cubicBezTo>
                  <a:pt x="292018" y="-14957"/>
                  <a:pt x="432944" y="29146"/>
                  <a:pt x="688220" y="0"/>
                </a:cubicBezTo>
                <a:cubicBezTo>
                  <a:pt x="943496" y="-29146"/>
                  <a:pt x="1030939" y="-29111"/>
                  <a:pt x="1291921" y="0"/>
                </a:cubicBezTo>
                <a:cubicBezTo>
                  <a:pt x="1552903" y="29111"/>
                  <a:pt x="1643308" y="-3048"/>
                  <a:pt x="1811104" y="0"/>
                </a:cubicBezTo>
                <a:cubicBezTo>
                  <a:pt x="1978900" y="3048"/>
                  <a:pt x="2186558" y="-6586"/>
                  <a:pt x="2414806" y="0"/>
                </a:cubicBezTo>
                <a:cubicBezTo>
                  <a:pt x="2643054" y="6586"/>
                  <a:pt x="2811126" y="20917"/>
                  <a:pt x="3103025" y="0"/>
                </a:cubicBezTo>
                <a:cubicBezTo>
                  <a:pt x="3394924" y="-20917"/>
                  <a:pt x="3382290" y="21986"/>
                  <a:pt x="3622209" y="0"/>
                </a:cubicBezTo>
                <a:cubicBezTo>
                  <a:pt x="3862128" y="-21986"/>
                  <a:pt x="4060944" y="-25893"/>
                  <a:pt x="4225910" y="0"/>
                </a:cubicBezTo>
                <a:cubicBezTo>
                  <a:pt x="4242946" y="150361"/>
                  <a:pt x="4227420" y="282236"/>
                  <a:pt x="4225910" y="463476"/>
                </a:cubicBezTo>
                <a:cubicBezTo>
                  <a:pt x="4224400" y="644716"/>
                  <a:pt x="4234957" y="798815"/>
                  <a:pt x="4225910" y="926952"/>
                </a:cubicBezTo>
                <a:cubicBezTo>
                  <a:pt x="3955420" y="933084"/>
                  <a:pt x="3776102" y="929381"/>
                  <a:pt x="3579949" y="926952"/>
                </a:cubicBezTo>
                <a:cubicBezTo>
                  <a:pt x="3383796" y="924523"/>
                  <a:pt x="3218040" y="913570"/>
                  <a:pt x="3018507" y="926952"/>
                </a:cubicBezTo>
                <a:cubicBezTo>
                  <a:pt x="2818974" y="940334"/>
                  <a:pt x="2548673" y="932149"/>
                  <a:pt x="2372547" y="926952"/>
                </a:cubicBezTo>
                <a:cubicBezTo>
                  <a:pt x="2196421" y="921755"/>
                  <a:pt x="2079790" y="904813"/>
                  <a:pt x="1853363" y="926952"/>
                </a:cubicBezTo>
                <a:cubicBezTo>
                  <a:pt x="1626936" y="949091"/>
                  <a:pt x="1464595" y="937715"/>
                  <a:pt x="1291921" y="926952"/>
                </a:cubicBezTo>
                <a:cubicBezTo>
                  <a:pt x="1119247" y="916189"/>
                  <a:pt x="860031" y="953081"/>
                  <a:pt x="645961" y="926952"/>
                </a:cubicBezTo>
                <a:cubicBezTo>
                  <a:pt x="431891" y="900823"/>
                  <a:pt x="188823" y="912590"/>
                  <a:pt x="0" y="926952"/>
                </a:cubicBezTo>
                <a:cubicBezTo>
                  <a:pt x="16822" y="705172"/>
                  <a:pt x="10763" y="669804"/>
                  <a:pt x="0" y="454206"/>
                </a:cubicBezTo>
                <a:cubicBezTo>
                  <a:pt x="-10763" y="238608"/>
                  <a:pt x="13565" y="209483"/>
                  <a:pt x="0" y="0"/>
                </a:cubicBezTo>
                <a:close/>
              </a:path>
            </a:pathLst>
          </a:custGeom>
          <a:solidFill>
            <a:schemeClr val="bg1">
              <a:lumMod val="95000"/>
            </a:schemeClr>
          </a:solidFill>
          <a:ln w="6350" algn="ctr">
            <a:solidFill>
              <a:schemeClr val="tx1"/>
            </a:solidFill>
            <a:miter lim="800000"/>
            <a:headEnd/>
            <a:tailEnd/>
            <a:extLst>
              <a:ext uri="{C807C97D-BFC1-408E-A445-0C87EB9F89A2}">
                <ask:lineSketchStyleProps xmlns:ask="http://schemas.microsoft.com/office/drawing/2018/sketchyshapes" sd="981765707">
                  <a:prstGeom prst="rect">
                    <a:avLst/>
                  </a:prstGeom>
                  <ask:type>
                    <ask:lineSketchFreehand/>
                  </ask:type>
                </ask:lineSketchStyleProps>
              </a:ext>
            </a:extLst>
          </a:ln>
          <a:effectLst>
            <a:outerShdw blurRad="50800" dist="38100" dir="5400000" algn="t" rotWithShape="0">
              <a:prstClr val="black">
                <a:alpha val="40000"/>
              </a:prstClr>
            </a:outerShdw>
          </a:effectLst>
        </p:spPr>
        <p:txBody>
          <a:bodyPr wrap="square" lIns="98033" tIns="98033" rIns="98033" bIns="98033" rtlCol="0" anchor="ctr"/>
          <a:lstStyle/>
          <a:p>
            <a:pPr algn="ctr" defTabSz="1008309">
              <a:lnSpc>
                <a:spcPct val="106000"/>
              </a:lnSpc>
              <a:defRPr/>
            </a:pPr>
            <a:r>
              <a:rPr kumimoji="0" lang="en-US" sz="1400" b="0" i="1" u="none" strike="noStrike" kern="1200" cap="none" spc="0" normalizeH="0" baseline="0" noProof="0">
                <a:ln>
                  <a:noFill/>
                </a:ln>
                <a:solidFill>
                  <a:schemeClr val="accent4"/>
                </a:solidFill>
                <a:effectLst/>
                <a:uLnTx/>
                <a:uFillTx/>
                <a:latin typeface="Arial" panose="020B0604020202020204" pitchFamily="34" charset="0"/>
                <a:ea typeface="+mn-ea"/>
                <a:cs typeface="Arial" panose="020B0604020202020204" pitchFamily="34" charset="0"/>
              </a:rPr>
              <a:t> “ Projected growth in Nepal’s hydroelectric generating capacity can </a:t>
            </a:r>
            <a:r>
              <a:rPr kumimoji="0" lang="en-IN" sz="1400" b="0" i="1" u="none" strike="noStrike" kern="1200" cap="none" spc="0" normalizeH="0" baseline="0" noProof="0">
                <a:ln>
                  <a:noFill/>
                </a:ln>
                <a:solidFill>
                  <a:schemeClr val="accent4"/>
                </a:solidFill>
                <a:effectLst/>
                <a:uLnTx/>
                <a:uFillTx/>
                <a:latin typeface="Arial" panose="020B0604020202020204" pitchFamily="34" charset="0"/>
                <a:ea typeface="+mn-ea"/>
                <a:cs typeface="Arial" panose="020B0604020202020204" pitchFamily="34" charset="0"/>
              </a:rPr>
              <a:t>complement India’s growing variable renewables</a:t>
            </a:r>
            <a:r>
              <a:rPr lang="en-US" sz="1400" i="1">
                <a:solidFill>
                  <a:schemeClr val="accent4"/>
                </a:solidFill>
                <a:latin typeface="Arial" panose="020B0604020202020204" pitchFamily="34" charset="0"/>
                <a:cs typeface="Arial" panose="020B0604020202020204" pitchFamily="34" charset="0"/>
              </a:rPr>
              <a:t> “</a:t>
            </a:r>
            <a:endParaRPr kumimoji="0" lang="en-US" sz="1400" b="0" i="1" u="none" strike="noStrike" kern="1200" cap="none" spc="0" normalizeH="0" baseline="0" noProof="0">
              <a:ln>
                <a:noFill/>
              </a:ln>
              <a:solidFill>
                <a:schemeClr val="accent4"/>
              </a:solidFill>
              <a:effectLst/>
              <a:uLnTx/>
              <a:uFillTx/>
              <a:latin typeface="Arial" panose="020B0604020202020204" pitchFamily="34" charset="0"/>
              <a:ea typeface="+mn-ea"/>
              <a:cs typeface="Arial" panose="020B0604020202020204" pitchFamily="34" charset="0"/>
            </a:endParaRPr>
          </a:p>
        </p:txBody>
      </p:sp>
      <p:sp>
        <p:nvSpPr>
          <p:cNvPr id="25" name="Isosceles Triangle 24">
            <a:extLst>
              <a:ext uri="{FF2B5EF4-FFF2-40B4-BE49-F238E27FC236}">
                <a16:creationId xmlns:a16="http://schemas.microsoft.com/office/drawing/2014/main" id="{9940AD39-6E42-E38E-C893-F767E6B14A7D}"/>
              </a:ext>
            </a:extLst>
          </p:cNvPr>
          <p:cNvSpPr/>
          <p:nvPr/>
        </p:nvSpPr>
        <p:spPr bwMode="gray">
          <a:xfrm rot="5400000">
            <a:off x="5788816" y="3543901"/>
            <a:ext cx="2980266" cy="206091"/>
          </a:xfrm>
          <a:prstGeom prst="triangl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26" name="Rectangle 25">
            <a:extLst>
              <a:ext uri="{FF2B5EF4-FFF2-40B4-BE49-F238E27FC236}">
                <a16:creationId xmlns:a16="http://schemas.microsoft.com/office/drawing/2014/main" id="{1DB65B90-5EE4-AC38-FA93-3E7D597DE967}"/>
              </a:ext>
            </a:extLst>
          </p:cNvPr>
          <p:cNvSpPr/>
          <p:nvPr/>
        </p:nvSpPr>
        <p:spPr bwMode="gray">
          <a:xfrm>
            <a:off x="7483471" y="2158184"/>
            <a:ext cx="4225910" cy="4302519"/>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aphicFrame>
        <p:nvGraphicFramePr>
          <p:cNvPr id="118" name="Chart 117">
            <a:extLst>
              <a:ext uri="{FF2B5EF4-FFF2-40B4-BE49-F238E27FC236}">
                <a16:creationId xmlns:a16="http://schemas.microsoft.com/office/drawing/2014/main" id="{A2DEC3E1-A111-5CAB-2BF9-43A559CE6FB3}"/>
              </a:ext>
            </a:extLst>
          </p:cNvPr>
          <p:cNvGraphicFramePr/>
          <p:nvPr>
            <p:custDataLst>
              <p:tags r:id="rId2"/>
            </p:custDataLst>
            <p:extLst>
              <p:ext uri="{D42A27DB-BD31-4B8C-83A1-F6EECF244321}">
                <p14:modId xmlns:p14="http://schemas.microsoft.com/office/powerpoint/2010/main" val="4173299365"/>
              </p:ext>
            </p:extLst>
          </p:nvPr>
        </p:nvGraphicFramePr>
        <p:xfrm>
          <a:off x="7554913" y="2946400"/>
          <a:ext cx="4111625" cy="2990850"/>
        </p:xfrm>
        <a:graphic>
          <a:graphicData uri="http://schemas.openxmlformats.org/drawingml/2006/chart">
            <c:chart xmlns:c="http://schemas.openxmlformats.org/drawingml/2006/chart" xmlns:r="http://schemas.openxmlformats.org/officeDocument/2006/relationships" r:id="rId19"/>
          </a:graphicData>
        </a:graphic>
      </p:graphicFrame>
      <p:cxnSp>
        <p:nvCxnSpPr>
          <p:cNvPr id="97" name="Straight Connector 96">
            <a:extLst>
              <a:ext uri="{FF2B5EF4-FFF2-40B4-BE49-F238E27FC236}">
                <a16:creationId xmlns:a16="http://schemas.microsoft.com/office/drawing/2014/main" id="{F997E3BB-3F4C-B4CD-1C37-99FA4FDD14F6}"/>
              </a:ext>
            </a:extLst>
          </p:cNvPr>
          <p:cNvCxnSpPr/>
          <p:nvPr>
            <p:custDataLst>
              <p:tags r:id="rId3"/>
            </p:custDataLst>
          </p:nvPr>
        </p:nvCxnSpPr>
        <p:spPr bwMode="auto">
          <a:xfrm flipV="1">
            <a:off x="8310563" y="2874963"/>
            <a:ext cx="2598738" cy="1033463"/>
          </a:xfrm>
          <a:prstGeom prst="line">
            <a:avLst/>
          </a:prstGeom>
          <a:ln w="63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useBgFill="1">
        <p:nvSpPr>
          <p:cNvPr id="79" name="Text Placeholder 18">
            <a:extLst>
              <a:ext uri="{FF2B5EF4-FFF2-40B4-BE49-F238E27FC236}">
                <a16:creationId xmlns:a16="http://schemas.microsoft.com/office/drawing/2014/main" id="{7C1EC807-3E9C-A335-4E66-2E0564638E43}"/>
              </a:ext>
            </a:extLst>
          </p:cNvPr>
          <p:cNvSpPr>
            <a:spLocks noGrp="1"/>
          </p:cNvSpPr>
          <p:nvPr>
            <p:custDataLst>
              <p:tags r:id="rId4"/>
            </p:custDataLst>
          </p:nvPr>
        </p:nvSpPr>
        <p:spPr bwMode="gray">
          <a:xfrm>
            <a:off x="8016875" y="5240338"/>
            <a:ext cx="587375" cy="182563"/>
          </a:xfrm>
          <a:prstGeom prst="rect">
            <a:avLst/>
          </a:prstGeom>
          <a:ln>
            <a:noFill/>
          </a:ln>
          <a:effec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7B8E696-013B-43AF-BDB6-0E76BBB05890}" type="datetime'''''''''2''''''''''''''03'',1''1''''''''''''5'''''">
              <a:rPr lang="en-US" altLang="en-US" sz="1200" smtClean="0">
                <a:solidFill>
                  <a:schemeClr val="accent6"/>
                </a:solidFill>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203,115</a:t>
            </a:fld>
            <a:endParaRPr lang="en-US" sz="1200" noProof="0">
              <a:solidFill>
                <a:schemeClr val="accent6"/>
              </a:solidFill>
              <a:latin typeface="Arial" panose="020B0604020202020204" pitchFamily="34" charset="0"/>
              <a:cs typeface="Arial" panose="020B0604020202020204" pitchFamily="34" charset="0"/>
              <a:sym typeface="Arial" panose="020B0604020202020204" pitchFamily="34" charset="0"/>
            </a:endParaRPr>
          </a:p>
        </p:txBody>
      </p:sp>
      <p:sp>
        <p:nvSpPr>
          <p:cNvPr id="48" name="Text Placeholder 18">
            <a:extLst>
              <a:ext uri="{FF2B5EF4-FFF2-40B4-BE49-F238E27FC236}">
                <a16:creationId xmlns:a16="http://schemas.microsoft.com/office/drawing/2014/main" id="{16FF4E3F-B211-7636-B777-DFB043E124F5}"/>
              </a:ext>
            </a:extLst>
          </p:cNvPr>
          <p:cNvSpPr>
            <a:spLocks noGrp="1"/>
          </p:cNvSpPr>
          <p:nvPr>
            <p:custDataLst>
              <p:tags r:id="rId5"/>
            </p:custDataLst>
          </p:nvPr>
        </p:nvSpPr>
        <p:spPr bwMode="auto">
          <a:xfrm>
            <a:off x="8026400" y="5772150"/>
            <a:ext cx="56832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E914AE3-AEF5-4878-827C-4AD5C76B9154}" type="datetime'''2''''''''''''''''0''2''''''''''''''1''''-''''''''2''''''2'''">
              <a:rPr lang="en-US" altLang="en-US" sz="1200"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2021-22</a:t>
            </a:fld>
            <a:endParaRPr lang="en-US" sz="1200" noProof="0">
              <a:latin typeface="Arial" panose="020B0604020202020204" pitchFamily="34" charset="0"/>
              <a:cs typeface="Arial" panose="020B0604020202020204" pitchFamily="34" charset="0"/>
              <a:sym typeface="Arial" panose="020B0604020202020204" pitchFamily="34" charset="0"/>
            </a:endParaRPr>
          </a:p>
        </p:txBody>
      </p:sp>
      <p:sp useBgFill="1">
        <p:nvSpPr>
          <p:cNvPr id="80" name="Text Placeholder 18">
            <a:extLst>
              <a:ext uri="{FF2B5EF4-FFF2-40B4-BE49-F238E27FC236}">
                <a16:creationId xmlns:a16="http://schemas.microsoft.com/office/drawing/2014/main" id="{4FDA0D20-9FF7-FADA-2885-B009AB14919A}"/>
              </a:ext>
            </a:extLst>
          </p:cNvPr>
          <p:cNvSpPr>
            <a:spLocks noGrp="1"/>
          </p:cNvSpPr>
          <p:nvPr>
            <p:custDataLst>
              <p:tags r:id="rId6"/>
            </p:custDataLst>
          </p:nvPr>
        </p:nvSpPr>
        <p:spPr bwMode="gray">
          <a:xfrm>
            <a:off x="9312275" y="5170488"/>
            <a:ext cx="598488" cy="182563"/>
          </a:xfrm>
          <a:prstGeom prst="rect">
            <a:avLst/>
          </a:prstGeom>
          <a:ln>
            <a:noFill/>
          </a:ln>
          <a:effec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B2D3CD2A-3990-43FB-823B-1D95378690AC}" type="datetime'''2''''''''''''7''''''7'''''''''''''''''''''',201'">
              <a:rPr lang="en-US" altLang="en-US" sz="1200" smtClean="0">
                <a:solidFill>
                  <a:schemeClr val="accent6"/>
                </a:solidFill>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277,201</a:t>
            </a:fld>
            <a:endParaRPr lang="en-US" sz="1200" noProof="0">
              <a:solidFill>
                <a:schemeClr val="accent6"/>
              </a:solidFill>
              <a:latin typeface="Arial" panose="020B0604020202020204" pitchFamily="34" charset="0"/>
              <a:cs typeface="Arial" panose="020B0604020202020204" pitchFamily="34" charset="0"/>
              <a:sym typeface="Arial" panose="020B0604020202020204" pitchFamily="34" charset="0"/>
            </a:endParaRPr>
          </a:p>
        </p:txBody>
      </p:sp>
      <p:sp>
        <p:nvSpPr>
          <p:cNvPr id="49" name="Text Placeholder 18">
            <a:extLst>
              <a:ext uri="{FF2B5EF4-FFF2-40B4-BE49-F238E27FC236}">
                <a16:creationId xmlns:a16="http://schemas.microsoft.com/office/drawing/2014/main" id="{DE4669E5-E6CE-5D3A-A79C-2CED237A9AFD}"/>
              </a:ext>
            </a:extLst>
          </p:cNvPr>
          <p:cNvSpPr>
            <a:spLocks noGrp="1"/>
          </p:cNvSpPr>
          <p:nvPr>
            <p:custDataLst>
              <p:tags r:id="rId7"/>
            </p:custDataLst>
          </p:nvPr>
        </p:nvSpPr>
        <p:spPr bwMode="auto">
          <a:xfrm>
            <a:off x="9326563" y="5772150"/>
            <a:ext cx="56832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E12272D-FB65-480C-91EC-AD645B147088}" type="datetime'''''''''''''''''''''''''2''''0''''''2''''6''-''2''7'">
              <a:rPr lang="en-US" altLang="en-US" sz="1200"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2026-27</a:t>
            </a:fld>
            <a:endParaRPr lang="en-US" sz="1200" noProof="0">
              <a:latin typeface="Arial" panose="020B0604020202020204" pitchFamily="34" charset="0"/>
              <a:cs typeface="Arial" panose="020B0604020202020204" pitchFamily="34" charset="0"/>
              <a:sym typeface="Arial" panose="020B0604020202020204" pitchFamily="34" charset="0"/>
            </a:endParaRPr>
          </a:p>
        </p:txBody>
      </p:sp>
      <p:sp useBgFill="1">
        <p:nvSpPr>
          <p:cNvPr id="81" name="Text Placeholder 18">
            <a:extLst>
              <a:ext uri="{FF2B5EF4-FFF2-40B4-BE49-F238E27FC236}">
                <a16:creationId xmlns:a16="http://schemas.microsoft.com/office/drawing/2014/main" id="{3241F8FC-4627-8B5F-AA14-24FC9DC92154}"/>
              </a:ext>
            </a:extLst>
          </p:cNvPr>
          <p:cNvSpPr>
            <a:spLocks noGrp="1"/>
          </p:cNvSpPr>
          <p:nvPr>
            <p:custDataLst>
              <p:tags r:id="rId8"/>
            </p:custDataLst>
          </p:nvPr>
        </p:nvSpPr>
        <p:spPr bwMode="gray">
          <a:xfrm>
            <a:off x="10610850" y="5086350"/>
            <a:ext cx="598488" cy="182563"/>
          </a:xfrm>
          <a:prstGeom prst="rect">
            <a:avLst/>
          </a:prstGeom>
          <a:ln>
            <a:noFill/>
          </a:ln>
          <a:effec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F9B08E8-00FB-4006-A773-400D52483E47}" type="datetime'''''''3''''6''''''6,''''''3''9''''''''''''''''''''''''3'''''''">
              <a:rPr lang="en-US" altLang="en-US" sz="1200" smtClean="0">
                <a:solidFill>
                  <a:schemeClr val="accent6"/>
                </a:solidFill>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366,393</a:t>
            </a:fld>
            <a:endParaRPr lang="en-US" sz="1200" noProof="0">
              <a:solidFill>
                <a:schemeClr val="accent6"/>
              </a:solidFill>
              <a:latin typeface="Arial" panose="020B0604020202020204" pitchFamily="34" charset="0"/>
              <a:cs typeface="Arial" panose="020B0604020202020204" pitchFamily="34" charset="0"/>
              <a:sym typeface="Arial" panose="020B0604020202020204" pitchFamily="34" charset="0"/>
            </a:endParaRPr>
          </a:p>
        </p:txBody>
      </p:sp>
      <p:sp>
        <p:nvSpPr>
          <p:cNvPr id="50" name="Text Placeholder 18">
            <a:extLst>
              <a:ext uri="{FF2B5EF4-FFF2-40B4-BE49-F238E27FC236}">
                <a16:creationId xmlns:a16="http://schemas.microsoft.com/office/drawing/2014/main" id="{433A7DD0-2264-6448-6ACA-4961CAF7E1C8}"/>
              </a:ext>
            </a:extLst>
          </p:cNvPr>
          <p:cNvSpPr>
            <a:spLocks noGrp="1"/>
          </p:cNvSpPr>
          <p:nvPr>
            <p:custDataLst>
              <p:tags r:id="rId9"/>
            </p:custDataLst>
          </p:nvPr>
        </p:nvSpPr>
        <p:spPr bwMode="auto">
          <a:xfrm>
            <a:off x="10625138" y="5772150"/>
            <a:ext cx="56832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D7175325-DF2E-4453-846E-1FFEA47E88A0}" type="datetime'''''''''''''''''''''2''0''''3''''1-''''''''3''''''''2'''''''''">
              <a:rPr lang="en-US" altLang="en-US" sz="1200"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2031-32</a:t>
            </a:fld>
            <a:endParaRPr lang="en-US" sz="1200" noProof="0">
              <a:latin typeface="Arial" panose="020B0604020202020204" pitchFamily="34" charset="0"/>
              <a:cs typeface="Arial" panose="020B0604020202020204" pitchFamily="34" charset="0"/>
              <a:sym typeface="Arial" panose="020B0604020202020204" pitchFamily="34" charset="0"/>
            </a:endParaRPr>
          </a:p>
        </p:txBody>
      </p:sp>
      <p:sp>
        <p:nvSpPr>
          <p:cNvPr id="95" name="Text Placeholder 18">
            <a:extLst>
              <a:ext uri="{FF2B5EF4-FFF2-40B4-BE49-F238E27FC236}">
                <a16:creationId xmlns:a16="http://schemas.microsoft.com/office/drawing/2014/main" id="{091FBEBD-77E8-6635-0EBE-3B636010491A}"/>
              </a:ext>
            </a:extLst>
          </p:cNvPr>
          <p:cNvSpPr>
            <a:spLocks noGrp="1"/>
          </p:cNvSpPr>
          <p:nvPr>
            <p:custDataLst>
              <p:tags r:id="rId10"/>
            </p:custDataLst>
          </p:nvPr>
        </p:nvSpPr>
        <p:spPr bwMode="auto">
          <a:xfrm>
            <a:off x="9391650" y="3262313"/>
            <a:ext cx="436563" cy="258763"/>
          </a:xfrm>
          <a:prstGeom prst="ellipse">
            <a:avLst/>
          </a:prstGeom>
          <a:solidFill>
            <a:srgbClr val="FFFFFF"/>
          </a:solidFill>
          <a:ln w="9525" cmpd="sng" algn="ctr">
            <a:solidFill>
              <a:schemeClr val="tx1"/>
            </a:solidFill>
          </a:ln>
          <a:effec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2EE0DA6-B2CB-4FA7-BFBF-729AB81A1A38}" type="datetime'''''''''''''''''''''+''''6''''%'''''''''">
              <a:rPr lang="en-US" altLang="en-US" sz="1200" b="1"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+6%</a:t>
            </a:fld>
            <a:endParaRPr lang="en-US" sz="1200" b="1" noProof="0">
              <a:latin typeface="Arial" panose="020B0604020202020204" pitchFamily="34" charset="0"/>
              <a:cs typeface="Arial" panose="020B0604020202020204" pitchFamily="34" charset="0"/>
              <a:sym typeface="Arial" panose="020B0604020202020204" pitchFamily="34" charset="0"/>
            </a:endParaRPr>
          </a:p>
        </p:txBody>
      </p:sp>
      <p:sp>
        <p:nvSpPr>
          <p:cNvPr id="70" name="Rectangle 69">
            <a:extLst>
              <a:ext uri="{FF2B5EF4-FFF2-40B4-BE49-F238E27FC236}">
                <a16:creationId xmlns:a16="http://schemas.microsoft.com/office/drawing/2014/main" id="{5C31D5CA-C013-BF08-63F4-EB00DF463D61}"/>
              </a:ext>
            </a:extLst>
          </p:cNvPr>
          <p:cNvSpPr/>
          <p:nvPr>
            <p:custDataLst>
              <p:tags r:id="rId11"/>
            </p:custDataLst>
          </p:nvPr>
        </p:nvSpPr>
        <p:spPr bwMode="auto">
          <a:xfrm>
            <a:off x="7661275" y="6154738"/>
            <a:ext cx="214313" cy="160338"/>
          </a:xfrm>
          <a:prstGeom prst="rect">
            <a:avLst/>
          </a:prstGeom>
          <a:solidFill>
            <a:srgbClr val="86BC25"/>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cxnSp>
        <p:nvCxnSpPr>
          <p:cNvPr id="65" name="Straight Connector 64">
            <a:extLst>
              <a:ext uri="{FF2B5EF4-FFF2-40B4-BE49-F238E27FC236}">
                <a16:creationId xmlns:a16="http://schemas.microsoft.com/office/drawing/2014/main" id="{753A38A7-4540-F6BA-FDE9-BC134A671AC8}"/>
              </a:ext>
            </a:extLst>
          </p:cNvPr>
          <p:cNvCxnSpPr/>
          <p:nvPr>
            <p:custDataLst>
              <p:tags r:id="rId12"/>
            </p:custDataLst>
          </p:nvPr>
        </p:nvCxnSpPr>
        <p:spPr bwMode="gray">
          <a:xfrm>
            <a:off x="9815513" y="6234113"/>
            <a:ext cx="185738" cy="0"/>
          </a:xfrm>
          <a:prstGeom prst="line">
            <a:avLst/>
          </a:prstGeom>
          <a:ln w="28575" cap="rnd" cmpd="sng" algn="ctr">
            <a:solidFill>
              <a:srgbClr val="00A3E0"/>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8" name="Text Placeholder 18">
            <a:extLst>
              <a:ext uri="{FF2B5EF4-FFF2-40B4-BE49-F238E27FC236}">
                <a16:creationId xmlns:a16="http://schemas.microsoft.com/office/drawing/2014/main" id="{78629100-6DC5-6A11-7390-15905879A9E1}"/>
              </a:ext>
            </a:extLst>
          </p:cNvPr>
          <p:cNvSpPr>
            <a:spLocks noGrp="1"/>
          </p:cNvSpPr>
          <p:nvPr>
            <p:custDataLst>
              <p:tags r:id="rId13"/>
            </p:custDataLst>
          </p:nvPr>
        </p:nvSpPr>
        <p:spPr bwMode="auto">
          <a:xfrm>
            <a:off x="7926388" y="6149975"/>
            <a:ext cx="1773238"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CCA9E9ED-1A5B-4E98-9B10-9715091A1F67}" type="datetime'En''''e''''''''r''gy'' ''R''''e''qui''''remen''''t'''' (M''U)'">
              <a:rPr lang="en-US" altLang="en-US" sz="120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Energy Requirement (MU)</a:t>
            </a:fld>
            <a:endParaRPr lang="en-US" sz="1200" noProof="0">
              <a:latin typeface="Arial" panose="020B0604020202020204" pitchFamily="34" charset="0"/>
              <a:cs typeface="Arial" panose="020B0604020202020204" pitchFamily="34" charset="0"/>
              <a:sym typeface="Arial" panose="020B0604020202020204" pitchFamily="34" charset="0"/>
            </a:endParaRPr>
          </a:p>
        </p:txBody>
      </p:sp>
      <p:sp>
        <p:nvSpPr>
          <p:cNvPr id="29" name="Text Placeholder 18">
            <a:extLst>
              <a:ext uri="{FF2B5EF4-FFF2-40B4-BE49-F238E27FC236}">
                <a16:creationId xmlns:a16="http://schemas.microsoft.com/office/drawing/2014/main" id="{68808725-961D-33BA-CFC2-4842F189F600}"/>
              </a:ext>
            </a:extLst>
          </p:cNvPr>
          <p:cNvSpPr>
            <a:spLocks noGrp="1"/>
          </p:cNvSpPr>
          <p:nvPr>
            <p:custDataLst>
              <p:tags r:id="rId14"/>
            </p:custDataLst>
          </p:nvPr>
        </p:nvSpPr>
        <p:spPr bwMode="auto">
          <a:xfrm>
            <a:off x="10066338" y="6149975"/>
            <a:ext cx="13779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33B5F83E-C3AD-44C4-8AC7-2CF75C7D1D4E}" type="datetime'''''''''''''P''e''''ak'''''' D''e''''m''an''d ''''(M''W'''')'">
              <a:rPr lang="en-US" altLang="en-US" sz="1200" smtClean="0">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Peak Demand (MW)</a:t>
            </a:fld>
            <a:endParaRPr lang="en-US" sz="1200" noProof="0">
              <a:latin typeface="Arial" panose="020B0604020202020204" pitchFamily="34" charset="0"/>
              <a:cs typeface="Arial" panose="020B0604020202020204" pitchFamily="34" charset="0"/>
              <a:sym typeface="Arial" panose="020B0604020202020204" pitchFamily="34" charset="0"/>
            </a:endParaRPr>
          </a:p>
        </p:txBody>
      </p:sp>
      <p:sp>
        <p:nvSpPr>
          <p:cNvPr id="89" name="TextBox 88">
            <a:extLst>
              <a:ext uri="{FF2B5EF4-FFF2-40B4-BE49-F238E27FC236}">
                <a16:creationId xmlns:a16="http://schemas.microsoft.com/office/drawing/2014/main" id="{890B9EC8-62D7-FA8C-6E83-81AEE0285901}"/>
              </a:ext>
            </a:extLst>
          </p:cNvPr>
          <p:cNvSpPr txBox="1"/>
          <p:nvPr/>
        </p:nvSpPr>
        <p:spPr>
          <a:xfrm>
            <a:off x="7820867" y="2117304"/>
            <a:ext cx="3640667" cy="276999"/>
          </a:xfrm>
          <a:prstGeom prst="rect">
            <a:avLst/>
          </a:prstGeom>
          <a:noFill/>
        </p:spPr>
        <p:txBody>
          <a:bodyPr wrap="square">
            <a:spAutoFit/>
          </a:bodyPr>
          <a:lstStyle/>
          <a:p>
            <a:pPr algn="ctr" rtl="0">
              <a:defRPr sz="1320" b="0" i="0" u="none" strike="noStrike" kern="1200" cap="none" spc="0" normalizeH="0" baseline="0">
                <a:solidFill>
                  <a:prstClr val="black">
                    <a:lumMod val="65000"/>
                    <a:lumOff val="35000"/>
                  </a:prstClr>
                </a:solidFill>
                <a:latin typeface="Arial" panose="020B0604020202020204" pitchFamily="34" charset="0"/>
                <a:ea typeface="+mj-ea"/>
                <a:cs typeface="Arial" panose="020B0604020202020204" pitchFamily="34" charset="0"/>
              </a:defRPr>
            </a:pPr>
            <a:endParaRPr lang="en-IN" sz="1200" b="1"/>
          </a:p>
        </p:txBody>
      </p:sp>
      <p:sp>
        <p:nvSpPr>
          <p:cNvPr id="91" name="TextBox 90">
            <a:extLst>
              <a:ext uri="{FF2B5EF4-FFF2-40B4-BE49-F238E27FC236}">
                <a16:creationId xmlns:a16="http://schemas.microsoft.com/office/drawing/2014/main" id="{F298542E-142B-15A0-C12C-86F26F516E60}"/>
              </a:ext>
            </a:extLst>
          </p:cNvPr>
          <p:cNvSpPr txBox="1"/>
          <p:nvPr/>
        </p:nvSpPr>
        <p:spPr>
          <a:xfrm>
            <a:off x="7661275" y="2156813"/>
            <a:ext cx="3800259" cy="492443"/>
          </a:xfrm>
          <a:prstGeom prst="rect">
            <a:avLst/>
          </a:prstGeom>
          <a:noFill/>
        </p:spPr>
        <p:txBody>
          <a:bodyPr wrap="square">
            <a:spAutoFit/>
          </a:bodyPr>
          <a:lstStyle/>
          <a:p>
            <a:pPr algn="ctr" rtl="0">
              <a:defRPr sz="1320" b="0" i="0" u="none" strike="noStrike" kern="1200" cap="none" spc="0" normalizeH="0" baseline="0">
                <a:solidFill>
                  <a:prstClr val="black">
                    <a:lumMod val="65000"/>
                    <a:lumOff val="35000"/>
                  </a:prstClr>
                </a:solidFill>
                <a:latin typeface="Arial" panose="020B0604020202020204" pitchFamily="34" charset="0"/>
                <a:ea typeface="+mj-ea"/>
                <a:cs typeface="Arial" panose="020B0604020202020204" pitchFamily="34" charset="0"/>
              </a:defRPr>
            </a:pPr>
            <a:r>
              <a:rPr lang="en-US" sz="1300" b="1">
                <a:solidFill>
                  <a:prstClr val="black"/>
                </a:solidFill>
                <a:latin typeface="Arial" panose="020B0604020202020204" pitchFamily="34" charset="0"/>
                <a:cs typeface="Arial" panose="020B0604020202020204" pitchFamily="34" charset="0"/>
              </a:rPr>
              <a:t>India’s Demand &amp; Energy Requirement as per National Electricity Plan</a:t>
            </a:r>
            <a:endParaRPr lang="en-IN" sz="1300" b="1">
              <a:solidFill>
                <a:prstClr val="black"/>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66040668"/>
      </p:ext>
    </p:extLst>
  </p:cSld>
  <p:clrMapOvr>
    <a:masterClrMapping/>
  </p:clrMapOvr>
  <p:transition>
    <p:fade/>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06187734"/>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How can Nepal Emerge as a CBET Champion? </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To be added.. </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 name="Rectangle: Diagonal Corners Rounded 4">
            <a:extLst>
              <a:ext uri="{FF2B5EF4-FFF2-40B4-BE49-F238E27FC236}">
                <a16:creationId xmlns:a16="http://schemas.microsoft.com/office/drawing/2014/main" id="{FD6E82C4-BB4B-A987-B0F3-ED24D50F6D18}"/>
              </a:ext>
            </a:extLst>
          </p:cNvPr>
          <p:cNvSpPr/>
          <p:nvPr/>
        </p:nvSpPr>
        <p:spPr bwMode="gray">
          <a:xfrm>
            <a:off x="938218" y="1245148"/>
            <a:ext cx="3350682" cy="961301"/>
          </a:xfrm>
          <a:prstGeom prst="round2DiagRect">
            <a:avLst>
              <a:gd name="adj1" fmla="val 813"/>
              <a:gd name="adj2" fmla="val 0"/>
            </a:avLst>
          </a:prstGeom>
          <a:solidFill>
            <a:srgbClr val="00768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latin typeface="Arial" panose="020B0604020202020204" pitchFamily="34" charset="0"/>
                <a:cs typeface="Arial" panose="020B0604020202020204" pitchFamily="34" charset="0"/>
              </a:rPr>
              <a:t>Policy &amp; Regulatory Readiness</a:t>
            </a:r>
          </a:p>
        </p:txBody>
      </p:sp>
      <p:sp>
        <p:nvSpPr>
          <p:cNvPr id="7" name="Rectangle: Diagonal Corners Rounded 6">
            <a:extLst>
              <a:ext uri="{FF2B5EF4-FFF2-40B4-BE49-F238E27FC236}">
                <a16:creationId xmlns:a16="http://schemas.microsoft.com/office/drawing/2014/main" id="{C672984F-FF48-D1C1-653A-A83D207C975C}"/>
              </a:ext>
            </a:extLst>
          </p:cNvPr>
          <p:cNvSpPr/>
          <p:nvPr/>
        </p:nvSpPr>
        <p:spPr bwMode="gray">
          <a:xfrm>
            <a:off x="924985" y="2291284"/>
            <a:ext cx="3350682" cy="2294110"/>
          </a:xfrm>
          <a:prstGeom prst="round2DiagRect">
            <a:avLst>
              <a:gd name="adj1" fmla="val 0"/>
              <a:gd name="adj2" fmla="val 0"/>
            </a:avLst>
          </a:prstGeom>
          <a:solidFill>
            <a:srgbClr val="DDEFE8"/>
          </a:solidFill>
          <a:ln w="19050" algn="ctr">
            <a:noFill/>
            <a:miter lim="800000"/>
            <a:headEnd/>
            <a:tailEnd/>
          </a:ln>
        </p:spPr>
        <p:txBody>
          <a:bodyPr wrap="square" lIns="88900" tIns="88900" rIns="88900" bIns="88900" rtlCol="0" anchor="ctr"/>
          <a:lstStyle/>
          <a:p>
            <a:pPr marL="342900" indent="-342900">
              <a:buFont typeface="+mj-lt"/>
              <a:buAutoNum type="arabicPeriod"/>
            </a:pPr>
            <a:r>
              <a:rPr lang="en-US" sz="1400">
                <a:latin typeface="Arial" panose="020B0604020202020204" pitchFamily="34" charset="0"/>
                <a:cs typeface="Arial" panose="020B0604020202020204" pitchFamily="34" charset="0"/>
              </a:rPr>
              <a:t>Enhance Grid Code Compatibility</a:t>
            </a:r>
          </a:p>
          <a:p>
            <a:pPr marL="342900" indent="-342900">
              <a:buFont typeface="+mj-lt"/>
              <a:buAutoNum type="arabicPeriod"/>
            </a:pPr>
            <a:endParaRPr lang="en-US" sz="1400">
              <a:latin typeface="Arial" panose="020B0604020202020204" pitchFamily="34" charset="0"/>
              <a:cs typeface="Arial" panose="020B0604020202020204" pitchFamily="34" charset="0"/>
            </a:endParaRPr>
          </a:p>
          <a:p>
            <a:pPr marL="342900" indent="-342900">
              <a:buFont typeface="+mj-lt"/>
              <a:buAutoNum type="arabicPeriod"/>
            </a:pPr>
            <a:r>
              <a:rPr lang="en-US" sz="1400">
                <a:latin typeface="Arial" panose="020B0604020202020204" pitchFamily="34" charset="0"/>
                <a:cs typeface="Arial" panose="020B0604020202020204" pitchFamily="34" charset="0"/>
              </a:rPr>
              <a:t>Open Access Licensing</a:t>
            </a:r>
          </a:p>
          <a:p>
            <a:pPr marL="342900" indent="-342900">
              <a:buFont typeface="+mj-lt"/>
              <a:buAutoNum type="arabicPeriod"/>
            </a:pPr>
            <a:endParaRPr lang="en-US" sz="1400">
              <a:latin typeface="Arial" panose="020B0604020202020204" pitchFamily="34" charset="0"/>
              <a:cs typeface="Arial" panose="020B0604020202020204" pitchFamily="34" charset="0"/>
            </a:endParaRPr>
          </a:p>
          <a:p>
            <a:pPr marL="342900" indent="-342900">
              <a:buFont typeface="+mj-lt"/>
              <a:buAutoNum type="arabicPeriod"/>
            </a:pPr>
            <a:r>
              <a:rPr lang="en-US" sz="1400">
                <a:latin typeface="Arial" panose="020B0604020202020204" pitchFamily="34" charset="0"/>
                <a:cs typeface="Arial" panose="020B0604020202020204" pitchFamily="34" charset="0"/>
              </a:rPr>
              <a:t>CBET-specific licensing structure to allow market-based trade, beyond bilateral PPAs</a:t>
            </a:r>
          </a:p>
        </p:txBody>
      </p:sp>
      <p:sp>
        <p:nvSpPr>
          <p:cNvPr id="9" name="Rectangle: Diagonal Corners Rounded 8">
            <a:extLst>
              <a:ext uri="{FF2B5EF4-FFF2-40B4-BE49-F238E27FC236}">
                <a16:creationId xmlns:a16="http://schemas.microsoft.com/office/drawing/2014/main" id="{5F611901-C70F-A41B-D900-46E91830C439}"/>
              </a:ext>
            </a:extLst>
          </p:cNvPr>
          <p:cNvSpPr/>
          <p:nvPr/>
        </p:nvSpPr>
        <p:spPr bwMode="gray">
          <a:xfrm>
            <a:off x="4418018" y="1245148"/>
            <a:ext cx="3350682" cy="961301"/>
          </a:xfrm>
          <a:prstGeom prst="round2DiagRect">
            <a:avLst>
              <a:gd name="adj1" fmla="val 813"/>
              <a:gd name="adj2" fmla="val 0"/>
            </a:avLst>
          </a:prstGeom>
          <a:solidFill>
            <a:srgbClr val="00768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latin typeface="Arial" panose="020B0604020202020204" pitchFamily="34" charset="0"/>
                <a:cs typeface="Arial" panose="020B0604020202020204" pitchFamily="34" charset="0"/>
              </a:rPr>
              <a:t>Infrastructure Strengthening</a:t>
            </a:r>
          </a:p>
        </p:txBody>
      </p:sp>
      <p:sp>
        <p:nvSpPr>
          <p:cNvPr id="11" name="Rectangle: Diagonal Corners Rounded 10">
            <a:extLst>
              <a:ext uri="{FF2B5EF4-FFF2-40B4-BE49-F238E27FC236}">
                <a16:creationId xmlns:a16="http://schemas.microsoft.com/office/drawing/2014/main" id="{2429DB09-C7B8-CD0A-004E-071C58881700}"/>
              </a:ext>
            </a:extLst>
          </p:cNvPr>
          <p:cNvSpPr/>
          <p:nvPr/>
        </p:nvSpPr>
        <p:spPr bwMode="gray">
          <a:xfrm>
            <a:off x="4404785" y="2291284"/>
            <a:ext cx="3350682" cy="2294110"/>
          </a:xfrm>
          <a:prstGeom prst="round2DiagRect">
            <a:avLst>
              <a:gd name="adj1" fmla="val 0"/>
              <a:gd name="adj2" fmla="val 0"/>
            </a:avLst>
          </a:prstGeom>
          <a:solidFill>
            <a:srgbClr val="DDEFE8"/>
          </a:solidFill>
          <a:ln w="19050" algn="ctr">
            <a:noFill/>
            <a:miter lim="800000"/>
            <a:headEnd/>
            <a:tailEnd/>
          </a:ln>
        </p:spPr>
        <p:txBody>
          <a:bodyPr wrap="square" lIns="88900" tIns="88900" rIns="88900" bIns="88900" rtlCol="0" anchor="ctr"/>
          <a:lstStyle/>
          <a:p>
            <a:pPr marL="342900" indent="-342900">
              <a:buFont typeface="+mj-lt"/>
              <a:buAutoNum type="arabicPeriod"/>
            </a:pPr>
            <a:r>
              <a:rPr lang="en-US" sz="1400">
                <a:latin typeface="Arial" panose="020B0604020202020204" pitchFamily="34" charset="0"/>
                <a:cs typeface="Arial" panose="020B0604020202020204" pitchFamily="34" charset="0"/>
              </a:rPr>
              <a:t>High-Capacity Interconnections</a:t>
            </a:r>
          </a:p>
          <a:p>
            <a:pPr marL="342900" indent="-342900">
              <a:buFont typeface="+mj-lt"/>
              <a:buAutoNum type="arabicPeriod"/>
            </a:pPr>
            <a:endParaRPr lang="en-US" sz="1400">
              <a:latin typeface="Arial" panose="020B0604020202020204" pitchFamily="34" charset="0"/>
              <a:cs typeface="Arial" panose="020B0604020202020204" pitchFamily="34" charset="0"/>
            </a:endParaRPr>
          </a:p>
          <a:p>
            <a:pPr marL="342900" indent="-342900">
              <a:buFont typeface="+mj-lt"/>
              <a:buAutoNum type="arabicPeriod"/>
            </a:pPr>
            <a:r>
              <a:rPr lang="en-US" sz="1400">
                <a:latin typeface="Arial" panose="020B0604020202020204" pitchFamily="34" charset="0"/>
                <a:cs typeface="Arial" panose="020B0604020202020204" pitchFamily="34" charset="0"/>
              </a:rPr>
              <a:t>Exploration of more regional power corridors</a:t>
            </a:r>
          </a:p>
          <a:p>
            <a:pPr marL="342900" indent="-342900">
              <a:buFont typeface="+mj-lt"/>
              <a:buAutoNum type="arabicPeriod"/>
            </a:pPr>
            <a:endParaRPr lang="en-US" sz="1400">
              <a:latin typeface="Arial" panose="020B0604020202020204" pitchFamily="34" charset="0"/>
              <a:cs typeface="Arial" panose="020B0604020202020204" pitchFamily="34" charset="0"/>
            </a:endParaRPr>
          </a:p>
          <a:p>
            <a:pPr marL="342900" indent="-342900">
              <a:buFont typeface="+mj-lt"/>
              <a:buAutoNum type="arabicPeriod"/>
            </a:pPr>
            <a:r>
              <a:rPr lang="en-US" sz="1400">
                <a:latin typeface="Arial" panose="020B0604020202020204" pitchFamily="34" charset="0"/>
                <a:cs typeface="Arial" panose="020B0604020202020204" pitchFamily="34" charset="0"/>
              </a:rPr>
              <a:t>Regional Grid Synchronization </a:t>
            </a:r>
          </a:p>
        </p:txBody>
      </p:sp>
      <p:sp>
        <p:nvSpPr>
          <p:cNvPr id="14" name="Rectangle: Diagonal Corners Rounded 13">
            <a:extLst>
              <a:ext uri="{FF2B5EF4-FFF2-40B4-BE49-F238E27FC236}">
                <a16:creationId xmlns:a16="http://schemas.microsoft.com/office/drawing/2014/main" id="{7F51AEDE-F0E1-0D0C-037D-C128BCE12F21}"/>
              </a:ext>
            </a:extLst>
          </p:cNvPr>
          <p:cNvSpPr/>
          <p:nvPr/>
        </p:nvSpPr>
        <p:spPr bwMode="gray">
          <a:xfrm>
            <a:off x="7911051" y="1235865"/>
            <a:ext cx="3350682" cy="961301"/>
          </a:xfrm>
          <a:prstGeom prst="round2DiagRect">
            <a:avLst>
              <a:gd name="adj1" fmla="val 813"/>
              <a:gd name="adj2" fmla="val 0"/>
            </a:avLst>
          </a:prstGeom>
          <a:solidFill>
            <a:srgbClr val="00768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a:solidFill>
                  <a:schemeClr val="bg1"/>
                </a:solidFill>
                <a:latin typeface="Arial" panose="020B0604020202020204" pitchFamily="34" charset="0"/>
                <a:cs typeface="Arial" panose="020B0604020202020204" pitchFamily="34" charset="0"/>
              </a:rPr>
              <a:t>Institutional Strengthening</a:t>
            </a:r>
          </a:p>
        </p:txBody>
      </p:sp>
      <p:sp>
        <p:nvSpPr>
          <p:cNvPr id="15" name="Rectangle: Diagonal Corners Rounded 14">
            <a:extLst>
              <a:ext uri="{FF2B5EF4-FFF2-40B4-BE49-F238E27FC236}">
                <a16:creationId xmlns:a16="http://schemas.microsoft.com/office/drawing/2014/main" id="{56123D3D-A17F-49EC-847C-F7ABB218F4FB}"/>
              </a:ext>
            </a:extLst>
          </p:cNvPr>
          <p:cNvSpPr/>
          <p:nvPr/>
        </p:nvSpPr>
        <p:spPr bwMode="gray">
          <a:xfrm>
            <a:off x="7897818" y="2282001"/>
            <a:ext cx="3350682" cy="2294110"/>
          </a:xfrm>
          <a:prstGeom prst="round2DiagRect">
            <a:avLst>
              <a:gd name="adj1" fmla="val 0"/>
              <a:gd name="adj2" fmla="val 0"/>
            </a:avLst>
          </a:prstGeom>
          <a:solidFill>
            <a:srgbClr val="DDEFE8"/>
          </a:solidFill>
          <a:ln w="19050" algn="ctr">
            <a:noFill/>
            <a:miter lim="800000"/>
            <a:headEnd/>
            <a:tailEnd/>
          </a:ln>
        </p:spPr>
        <p:txBody>
          <a:bodyPr wrap="square" lIns="88900" tIns="88900" rIns="88900" bIns="88900" rtlCol="0" anchor="ctr"/>
          <a:lstStyle/>
          <a:p>
            <a:pPr marL="342900" indent="-342900">
              <a:buFont typeface="+mj-lt"/>
              <a:buAutoNum type="arabicPeriod"/>
            </a:pPr>
            <a:r>
              <a:rPr lang="en-US" sz="1400">
                <a:latin typeface="Arial" panose="020B0604020202020204" pitchFamily="34" charset="0"/>
                <a:cs typeface="Arial" panose="020B0604020202020204" pitchFamily="34" charset="0"/>
              </a:rPr>
              <a:t>Empower NEA &amp; encourage IPPs to trade more on Indian markets</a:t>
            </a:r>
          </a:p>
          <a:p>
            <a:pPr marL="342900" indent="-342900">
              <a:buFont typeface="+mj-lt"/>
              <a:buAutoNum type="arabicPeriod"/>
            </a:pPr>
            <a:endParaRPr lang="en-US" sz="1400">
              <a:latin typeface="Arial" panose="020B0604020202020204" pitchFamily="34" charset="0"/>
              <a:cs typeface="Arial" panose="020B0604020202020204" pitchFamily="34" charset="0"/>
            </a:endParaRPr>
          </a:p>
          <a:p>
            <a:pPr marL="342900" indent="-342900">
              <a:buFont typeface="+mj-lt"/>
              <a:buAutoNum type="arabicPeriod"/>
            </a:pPr>
            <a:r>
              <a:rPr lang="en-US" sz="1400">
                <a:latin typeface="Arial" panose="020B0604020202020204" pitchFamily="34" charset="0"/>
                <a:cs typeface="Arial" panose="020B0604020202020204" pitchFamily="34" charset="0"/>
              </a:rPr>
              <a:t>Dedicated G2G-cum-market power trading entity, modeled on Bhutan Power Corporation or PTC India</a:t>
            </a:r>
          </a:p>
        </p:txBody>
      </p:sp>
    </p:spTree>
    <p:extLst>
      <p:ext uri="{BB962C8B-B14F-4D97-AF65-F5344CB8AC3E}">
        <p14:creationId xmlns:p14="http://schemas.microsoft.com/office/powerpoint/2010/main" val="1708675137"/>
      </p:ext>
    </p:extLst>
  </p:cSld>
  <p:clrMapOvr>
    <a:masterClrMapping/>
  </p:clrMapOvr>
  <p:transition>
    <p:fade/>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783358767"/>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PJ_ST Project | Salient Features</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Salient Features of the STHPP</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3" name="Table 6">
            <a:extLst>
              <a:ext uri="{FF2B5EF4-FFF2-40B4-BE49-F238E27FC236}">
                <a16:creationId xmlns:a16="http://schemas.microsoft.com/office/drawing/2014/main" id="{BB7BB4E9-744D-C8FD-8BA9-27D225AE11BC}"/>
              </a:ext>
            </a:extLst>
          </p:cNvPr>
          <p:cNvGraphicFramePr>
            <a:graphicFrameLocks/>
          </p:cNvGraphicFramePr>
          <p:nvPr>
            <p:extLst>
              <p:ext uri="{D42A27DB-BD31-4B8C-83A1-F6EECF244321}">
                <p14:modId xmlns:p14="http://schemas.microsoft.com/office/powerpoint/2010/main" val="756309370"/>
              </p:ext>
            </p:extLst>
          </p:nvPr>
        </p:nvGraphicFramePr>
        <p:xfrm>
          <a:off x="514884" y="997947"/>
          <a:ext cx="6358078" cy="5421135"/>
        </p:xfrm>
        <a:graphic>
          <a:graphicData uri="http://schemas.openxmlformats.org/drawingml/2006/table">
            <a:tbl>
              <a:tblPr firstRow="1" bandRow="1">
                <a:solidFill>
                  <a:schemeClr val="bg1">
                    <a:lumMod val="95000"/>
                  </a:schemeClr>
                </a:solidFill>
                <a:tableStyleId>{21E4AEA4-8DFA-4A89-87EB-49C32662AFE0}</a:tableStyleId>
              </a:tblPr>
              <a:tblGrid>
                <a:gridCol w="1907370">
                  <a:extLst>
                    <a:ext uri="{9D8B030D-6E8A-4147-A177-3AD203B41FA5}">
                      <a16:colId xmlns:a16="http://schemas.microsoft.com/office/drawing/2014/main" val="725845397"/>
                    </a:ext>
                  </a:extLst>
                </a:gridCol>
                <a:gridCol w="4450708">
                  <a:extLst>
                    <a:ext uri="{9D8B030D-6E8A-4147-A177-3AD203B41FA5}">
                      <a16:colId xmlns:a16="http://schemas.microsoft.com/office/drawing/2014/main" val="3681363094"/>
                    </a:ext>
                  </a:extLst>
                </a:gridCol>
              </a:tblGrid>
              <a:tr h="384405">
                <a:tc>
                  <a:txBody>
                    <a:bodyPr/>
                    <a:lstStyle/>
                    <a:p>
                      <a:pPr algn="just"/>
                      <a:r>
                        <a:rPr lang="en-US" sz="1200" b="0" kern="1200">
                          <a:solidFill>
                            <a:schemeClr val="bg1"/>
                          </a:solidFill>
                          <a:latin typeface="Arial" panose="020B0604020202020204" pitchFamily="34" charset="0"/>
                          <a:cs typeface="Arial" panose="020B0604020202020204" pitchFamily="34" charset="0"/>
                        </a:rPr>
                        <a:t>Particulars</a:t>
                      </a:r>
                      <a:endParaRPr lang="en-US" sz="1200" b="0" kern="1200">
                        <a:solidFill>
                          <a:schemeClr val="bg1"/>
                        </a:solidFill>
                        <a:latin typeface="Arial" panose="020B0604020202020204" pitchFamily="34" charset="0"/>
                        <a:ea typeface="+mn-ea"/>
                        <a:cs typeface="Arial" panose="020B0604020202020204" pitchFamily="34" charset="0"/>
                      </a:endParaRPr>
                    </a:p>
                  </a:txBody>
                  <a:tcPr marT="45723" marB="45723" anchor="ctr">
                    <a:lnL w="12700" cmpd="sng">
                      <a:noFill/>
                    </a:lnL>
                    <a:lnR w="12700" cap="flat" cmpd="sng" algn="ctr">
                      <a:solidFill>
                        <a:schemeClr val="bg1"/>
                      </a:solidFill>
                      <a:prstDash val="solid"/>
                      <a:round/>
                      <a:headEnd type="none" w="med" len="med"/>
                      <a:tailEnd type="none" w="med" len="med"/>
                    </a:lnR>
                    <a:lnT w="19050" cap="flat" cmpd="sng" algn="ctr">
                      <a:noFill/>
                      <a:prstDash val="solid"/>
                    </a:lnT>
                    <a:lnB w="38100" cmpd="sng">
                      <a:noFill/>
                    </a:lnB>
                    <a:solidFill>
                      <a:schemeClr val="accent3"/>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b="0">
                          <a:solidFill>
                            <a:schemeClr val="bg1"/>
                          </a:solidFill>
                          <a:latin typeface="Arial" panose="020B0604020202020204" pitchFamily="34" charset="0"/>
                          <a:cs typeface="Arial" panose="020B0604020202020204" pitchFamily="34" charset="0"/>
                        </a:rPr>
                        <a:t>Details</a:t>
                      </a:r>
                    </a:p>
                  </a:txBody>
                  <a:tcPr marT="45723" marB="45723" anchor="ctr">
                    <a:lnL w="12700" cap="flat" cmpd="sng" algn="ctr">
                      <a:solidFill>
                        <a:schemeClr val="bg1"/>
                      </a:solidFill>
                      <a:prstDash val="solid"/>
                      <a:round/>
                      <a:headEnd type="none" w="med" len="med"/>
                      <a:tailEnd type="none" w="med" len="med"/>
                    </a:lnL>
                    <a:lnR w="12700" cmpd="sng">
                      <a:noFill/>
                    </a:lnR>
                    <a:lnT w="19050" cap="flat" cmpd="sng" algn="ctr">
                      <a:noFill/>
                      <a:prstDash val="solid"/>
                    </a:lnT>
                    <a:lnB w="38100" cmpd="sng">
                      <a:noFill/>
                    </a:lnB>
                    <a:solidFill>
                      <a:schemeClr val="accent3"/>
                    </a:solidFill>
                  </a:tcPr>
                </a:tc>
                <a:extLst>
                  <a:ext uri="{0D108BD9-81ED-4DB2-BD59-A6C34878D82A}">
                    <a16:rowId xmlns:a16="http://schemas.microsoft.com/office/drawing/2014/main" val="949417615"/>
                  </a:ext>
                </a:extLst>
              </a:tr>
              <a:tr h="503673">
                <a:tc>
                  <a:txBody>
                    <a:bodyPr/>
                    <a:lstStyle/>
                    <a:p>
                      <a:pPr algn="l"/>
                      <a:r>
                        <a:rPr lang="en-US" sz="1200" b="1" kern="1200">
                          <a:solidFill>
                            <a:schemeClr val="tx1"/>
                          </a:solidFill>
                          <a:latin typeface="Arial" panose="020B0604020202020204" pitchFamily="34" charset="0"/>
                          <a:cs typeface="Arial" panose="020B0604020202020204" pitchFamily="34" charset="0"/>
                        </a:rPr>
                        <a:t>Capacity (Unit Configuration)</a:t>
                      </a:r>
                      <a:endParaRPr lang="en-US" sz="12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38100" cmpd="sng">
                      <a:noFill/>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b="0" kern="1200">
                          <a:solidFill>
                            <a:schemeClr val="tx1"/>
                          </a:solidFill>
                          <a:latin typeface="Arial" panose="020B0604020202020204" pitchFamily="34" charset="0"/>
                          <a:cs typeface="Arial" panose="020B0604020202020204" pitchFamily="34" charset="0"/>
                        </a:rPr>
                        <a:t>100 MW</a:t>
                      </a:r>
                      <a:endParaRPr lang="en-US" sz="1200">
                        <a:solidFill>
                          <a:schemeClr val="tx1"/>
                        </a:solidFill>
                        <a:latin typeface="Arial" panose="020B0604020202020204" pitchFamily="34" charset="0"/>
                        <a:cs typeface="Arial" panose="020B0604020202020204" pitchFamily="34" charset="0"/>
                      </a:endParaRPr>
                    </a:p>
                  </a:txBody>
                  <a:tcPr marT="45723" marB="45723" anchor="ctr">
                    <a:lnL w="12700" cap="flat" cmpd="sng" algn="ctr">
                      <a:solidFill>
                        <a:schemeClr val="bg1"/>
                      </a:solidFill>
                      <a:prstDash val="solid"/>
                      <a:round/>
                      <a:headEnd type="none" w="med" len="med"/>
                      <a:tailEnd type="none" w="med" len="med"/>
                    </a:lnL>
                    <a:lnR w="12700" cmpd="sng">
                      <a:noFill/>
                      <a:prstDash val="solid"/>
                    </a:lnR>
                    <a:lnT w="38100" cmpd="sng">
                      <a:noFill/>
                    </a:lnT>
                    <a:lnB w="9525" cap="flat" cmpd="sng" algn="ctr">
                      <a:solidFill>
                        <a:schemeClr val="tx1">
                          <a:lumMod val="50000"/>
                          <a:lumOff val="50000"/>
                        </a:schemeClr>
                      </a:solidFill>
                      <a:prstDash val="solid"/>
                    </a:lnB>
                    <a:solidFill>
                      <a:schemeClr val="bg1">
                        <a:lumMod val="95000"/>
                      </a:schemeClr>
                    </a:solidFill>
                  </a:tcPr>
                </a:tc>
                <a:extLst>
                  <a:ext uri="{0D108BD9-81ED-4DB2-BD59-A6C34878D82A}">
                    <a16:rowId xmlns:a16="http://schemas.microsoft.com/office/drawing/2014/main" val="4158972743"/>
                  </a:ext>
                </a:extLst>
              </a:tr>
              <a:tr h="503673">
                <a:tc>
                  <a:txBody>
                    <a:bodyPr/>
                    <a:lstStyle/>
                    <a:p>
                      <a:pPr algn="l"/>
                      <a:r>
                        <a:rPr lang="en-US" sz="1200" b="1" kern="1200">
                          <a:solidFill>
                            <a:schemeClr val="tx1"/>
                          </a:solidFill>
                          <a:latin typeface="Arial" panose="020B0604020202020204" pitchFamily="34" charset="0"/>
                          <a:cs typeface="Arial" panose="020B0604020202020204" pitchFamily="34" charset="0"/>
                        </a:rPr>
                        <a:t>Location</a:t>
                      </a:r>
                      <a:endParaRPr lang="en-US" sz="12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a:solidFill>
                            <a:schemeClr val="tx1"/>
                          </a:solidFill>
                          <a:latin typeface="Arial" panose="020B0604020202020204" pitchFamily="34" charset="0"/>
                          <a:cs typeface="Arial" panose="020B0604020202020204" pitchFamily="34" charset="0"/>
                        </a:rPr>
                        <a:t>100km west of Kathmandu on Prithvi highway</a:t>
                      </a:r>
                    </a:p>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a:solidFill>
                            <a:schemeClr val="tx1"/>
                          </a:solidFill>
                          <a:latin typeface="Arial" panose="020B0604020202020204" pitchFamily="34" charset="0"/>
                          <a:cs typeface="Arial" panose="020B0604020202020204" pitchFamily="34" charset="0"/>
                        </a:rPr>
                        <a:t>Gorkha-Zone, Chitwan District </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lnB>
                    <a:solidFill>
                      <a:schemeClr val="bg1">
                        <a:lumMod val="95000"/>
                      </a:schemeClr>
                    </a:solidFill>
                  </a:tcPr>
                </a:tc>
                <a:extLst>
                  <a:ext uri="{0D108BD9-81ED-4DB2-BD59-A6C34878D82A}">
                    <a16:rowId xmlns:a16="http://schemas.microsoft.com/office/drawing/2014/main" val="1476698230"/>
                  </a:ext>
                </a:extLst>
              </a:tr>
              <a:tr h="503673">
                <a:tc>
                  <a:txBody>
                    <a:bodyPr/>
                    <a:lstStyle/>
                    <a:p>
                      <a:pPr algn="l"/>
                      <a:r>
                        <a:rPr lang="en-US" sz="1200" b="1" kern="1200">
                          <a:solidFill>
                            <a:schemeClr val="tx1"/>
                          </a:solidFill>
                          <a:latin typeface="Arial" panose="020B0604020202020204" pitchFamily="34" charset="0"/>
                          <a:ea typeface="+mn-ea"/>
                          <a:cs typeface="Arial" panose="020B0604020202020204" pitchFamily="34" charset="0"/>
                        </a:rPr>
                        <a:t>Latitude &amp; Longitude</a:t>
                      </a: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a:solidFill>
                            <a:schemeClr val="tx1"/>
                          </a:solidFill>
                          <a:latin typeface="Arial" panose="020B0604020202020204" pitchFamily="34" charset="0"/>
                          <a:cs typeface="Arial" panose="020B0604020202020204" pitchFamily="34" charset="0"/>
                        </a:rPr>
                        <a:t>27’51’38.45 N and 84’38’38.31” E</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30506799"/>
                  </a:ext>
                </a:extLst>
              </a:tr>
              <a:tr h="503673">
                <a:tc>
                  <a:txBody>
                    <a:bodyPr/>
                    <a:lstStyle/>
                    <a:p>
                      <a:pPr algn="l"/>
                      <a:r>
                        <a:rPr lang="en-US" sz="1200" b="1" kern="1200">
                          <a:solidFill>
                            <a:schemeClr val="tx1"/>
                          </a:solidFill>
                          <a:latin typeface="Arial" panose="020B0604020202020204" pitchFamily="34" charset="0"/>
                          <a:cs typeface="Arial" panose="020B0604020202020204" pitchFamily="34" charset="0"/>
                        </a:rPr>
                        <a:t>Project Type</a:t>
                      </a:r>
                      <a:endParaRPr lang="en-US" sz="12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a:solidFill>
                            <a:schemeClr val="tx1"/>
                          </a:solidFill>
                          <a:latin typeface="Arial" panose="020B0604020202020204" pitchFamily="34" charset="0"/>
                          <a:cs typeface="Arial" panose="020B0604020202020204" pitchFamily="34" charset="0"/>
                        </a:rPr>
                        <a:t>Run of River type project with Dam Toe Powerhouse arrangement.</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32755330"/>
                  </a:ext>
                </a:extLst>
              </a:tr>
              <a:tr h="50367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a:solidFill>
                            <a:schemeClr val="tx1"/>
                          </a:solidFill>
                          <a:latin typeface="Arial" panose="020B0604020202020204" pitchFamily="34" charset="0"/>
                          <a:cs typeface="Arial" panose="020B0604020202020204" pitchFamily="34" charset="0"/>
                        </a:rPr>
                        <a:t>Current Status</a:t>
                      </a:r>
                      <a:endParaRPr lang="en-US" sz="12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b="0" kern="1200">
                          <a:solidFill>
                            <a:schemeClr val="tx1"/>
                          </a:solidFill>
                          <a:latin typeface="Arial" panose="020B0604020202020204" pitchFamily="34" charset="0"/>
                          <a:cs typeface="Arial" panose="020B0604020202020204" pitchFamily="34" charset="0"/>
                        </a:rPr>
                        <a:t>Under Construction</a:t>
                      </a:r>
                      <a:endParaRPr lang="en-US" sz="1200" b="0" i="0" kern="1200">
                        <a:solidFill>
                          <a:schemeClr val="tx1"/>
                        </a:solidFill>
                        <a:latin typeface="Arial" panose="020B0604020202020204" pitchFamily="34" charset="0"/>
                        <a:ea typeface="+mn-ea"/>
                        <a:cs typeface="Arial" panose="020B0604020202020204" pitchFamily="34" charset="0"/>
                      </a:endParaRP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03684929"/>
                  </a:ext>
                </a:extLst>
              </a:tr>
              <a:tr h="50367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a:solidFill>
                            <a:schemeClr val="tx1"/>
                          </a:solidFill>
                          <a:latin typeface="Arial" panose="020B0604020202020204" pitchFamily="34" charset="0"/>
                          <a:cs typeface="Arial" panose="020B0604020202020204" pitchFamily="34" charset="0"/>
                        </a:rPr>
                        <a:t>Expected COD</a:t>
                      </a:r>
                      <a:endParaRPr lang="en-US" sz="12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b="0" kern="1200">
                          <a:solidFill>
                            <a:schemeClr val="tx1"/>
                          </a:solidFill>
                          <a:latin typeface="Arial" panose="020B0604020202020204" pitchFamily="34" charset="0"/>
                          <a:cs typeface="Arial" panose="020B0604020202020204" pitchFamily="34" charset="0"/>
                        </a:rPr>
                        <a:t>2027</a:t>
                      </a:r>
                      <a:endParaRPr lang="en-US" sz="1200" b="0" i="0" kern="1200">
                        <a:solidFill>
                          <a:schemeClr val="tx1"/>
                        </a:solidFill>
                        <a:latin typeface="Arial" panose="020B0604020202020204" pitchFamily="34" charset="0"/>
                        <a:ea typeface="+mn-ea"/>
                        <a:cs typeface="Arial" panose="020B0604020202020204" pitchFamily="34" charset="0"/>
                      </a:endParaRP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lnB>
                    <a:solidFill>
                      <a:schemeClr val="bg1">
                        <a:lumMod val="95000"/>
                      </a:schemeClr>
                    </a:solidFill>
                  </a:tcPr>
                </a:tc>
                <a:extLst>
                  <a:ext uri="{0D108BD9-81ED-4DB2-BD59-A6C34878D82A}">
                    <a16:rowId xmlns:a16="http://schemas.microsoft.com/office/drawing/2014/main" val="3752744334"/>
                  </a:ext>
                </a:extLst>
              </a:tr>
              <a:tr h="503673">
                <a:tc>
                  <a:txBody>
                    <a:bodyPr/>
                    <a:lstStyle/>
                    <a:p>
                      <a:pPr algn="l"/>
                      <a:r>
                        <a:rPr lang="en-US" sz="1200" b="1" kern="1200">
                          <a:solidFill>
                            <a:schemeClr val="tx1"/>
                          </a:solidFill>
                          <a:latin typeface="Arial" panose="020B0604020202020204" pitchFamily="34" charset="0"/>
                          <a:ea typeface="+mn-ea"/>
                          <a:cs typeface="Arial" panose="020B0604020202020204" pitchFamily="34" charset="0"/>
                        </a:rPr>
                        <a:t>Current Ownership</a:t>
                      </a: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lvl="0" indent="0">
                        <a:lnSpc>
                          <a:spcPct val="100000"/>
                        </a:lnSpc>
                        <a:spcAft>
                          <a:spcPts val="0"/>
                        </a:spcAft>
                        <a:buFont typeface="Wingdings" panose="05000000000000000000" pitchFamily="2" charset="2"/>
                        <a:buNone/>
                      </a:pPr>
                      <a:r>
                        <a:rPr lang="en-US" sz="1200" kern="1200">
                          <a:solidFill>
                            <a:schemeClr val="tx1"/>
                          </a:solidFill>
                          <a:latin typeface="Arial" panose="020B0604020202020204" pitchFamily="34" charset="0"/>
                          <a:ea typeface="+mn-ea"/>
                          <a:cs typeface="Arial" panose="020B0604020202020204" pitchFamily="34" charset="0"/>
                        </a:rPr>
                        <a:t>Licensed to Blue Energy Ltd. on BOOT basis for 35 years</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31671184"/>
                  </a:ext>
                </a:extLst>
              </a:tr>
              <a:tr h="503673">
                <a:tc>
                  <a:txBody>
                    <a:bodyPr/>
                    <a:lstStyle/>
                    <a:p>
                      <a:pPr algn="l"/>
                      <a:r>
                        <a:rPr lang="en-US" sz="1200" b="1" kern="1200">
                          <a:solidFill>
                            <a:schemeClr val="tx1"/>
                          </a:solidFill>
                          <a:latin typeface="Arial" panose="020B0604020202020204" pitchFamily="34" charset="0"/>
                          <a:cs typeface="Arial" panose="020B0604020202020204" pitchFamily="34" charset="0"/>
                        </a:rPr>
                        <a:t>Technical Details</a:t>
                      </a:r>
                      <a:endParaRPr lang="en-US" sz="12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lvl="0" indent="0">
                        <a:lnSpc>
                          <a:spcPct val="100000"/>
                        </a:lnSpc>
                        <a:spcAft>
                          <a:spcPts val="0"/>
                        </a:spcAft>
                        <a:buFont typeface="Wingdings" panose="05000000000000000000" pitchFamily="2" charset="2"/>
                        <a:buNone/>
                      </a:pPr>
                      <a:r>
                        <a:rPr lang="en-US" sz="1200" kern="1200">
                          <a:solidFill>
                            <a:schemeClr val="tx1"/>
                          </a:solidFill>
                          <a:latin typeface="Arial" panose="020B0604020202020204" pitchFamily="34" charset="0"/>
                          <a:ea typeface="+mn-ea"/>
                          <a:cs typeface="Arial" panose="020B0604020202020204" pitchFamily="34" charset="0"/>
                        </a:rPr>
                        <a:t>Gross head - 21m, Design discharge - 725m3/sec </a:t>
                      </a:r>
                    </a:p>
                    <a:p>
                      <a:pPr marL="0" lvl="0" indent="0">
                        <a:lnSpc>
                          <a:spcPct val="100000"/>
                        </a:lnSpc>
                        <a:spcAft>
                          <a:spcPts val="0"/>
                        </a:spcAft>
                        <a:buFont typeface="Wingdings" panose="05000000000000000000" pitchFamily="2" charset="2"/>
                        <a:buNone/>
                      </a:pPr>
                      <a:r>
                        <a:rPr lang="en-US" sz="1200" kern="1200">
                          <a:solidFill>
                            <a:schemeClr val="tx1"/>
                          </a:solidFill>
                          <a:latin typeface="Arial" panose="020B0604020202020204" pitchFamily="34" charset="0"/>
                          <a:ea typeface="+mn-ea"/>
                          <a:cs typeface="Arial" panose="020B0604020202020204" pitchFamily="34" charset="0"/>
                        </a:rPr>
                        <a:t>Annual energy - 498 million units</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465146035"/>
                  </a:ext>
                </a:extLst>
              </a:tr>
              <a:tr h="503673">
                <a:tc>
                  <a:txBody>
                    <a:bodyPr/>
                    <a:lstStyle/>
                    <a:p>
                      <a:pPr algn="l"/>
                      <a:r>
                        <a:rPr lang="en-US" sz="1200" b="1" kern="1200">
                          <a:solidFill>
                            <a:schemeClr val="tx1"/>
                          </a:solidFill>
                          <a:latin typeface="Arial" panose="020B0604020202020204" pitchFamily="34" charset="0"/>
                          <a:cs typeface="Arial" panose="020B0604020202020204" pitchFamily="34" charset="0"/>
                        </a:rPr>
                        <a:t>Transmission Evacuation details</a:t>
                      </a:r>
                      <a:endParaRPr lang="en-US" sz="12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a:solidFill>
                            <a:schemeClr val="tx1"/>
                          </a:solidFill>
                          <a:latin typeface="Arial" panose="020B0604020202020204" pitchFamily="34" charset="0"/>
                          <a:cs typeface="Arial" panose="020B0604020202020204" pitchFamily="34" charset="0"/>
                        </a:rPr>
                        <a:t>About 18.8 km long 220kV double circuit transmission line to New Markichauk substation</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207771065"/>
                  </a:ext>
                </a:extLst>
              </a:tr>
              <a:tr h="50367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a:solidFill>
                            <a:schemeClr val="tx1"/>
                          </a:solidFill>
                          <a:latin typeface="Arial" panose="020B0604020202020204" pitchFamily="34" charset="0"/>
                          <a:cs typeface="Arial" panose="020B0604020202020204" pitchFamily="34" charset="0"/>
                        </a:rPr>
                        <a:t>Estimated Project Cost</a:t>
                      </a:r>
                      <a:endParaRPr lang="en-US" sz="12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b="0" kern="1200">
                          <a:solidFill>
                            <a:schemeClr val="tx1"/>
                          </a:solidFill>
                          <a:latin typeface="Arial" panose="020B0604020202020204" pitchFamily="34" charset="0"/>
                          <a:cs typeface="Arial" panose="020B0604020202020204" pitchFamily="34" charset="0"/>
                        </a:rPr>
                        <a:t>24 billion Yen</a:t>
                      </a:r>
                      <a:endParaRPr lang="en-US" sz="1200">
                        <a:solidFill>
                          <a:schemeClr val="tx1"/>
                        </a:solidFill>
                        <a:latin typeface="Arial" panose="020B0604020202020204" pitchFamily="34" charset="0"/>
                        <a:cs typeface="Arial" panose="020B0604020202020204" pitchFamily="34" charset="0"/>
                      </a:endParaRP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03183602"/>
                  </a:ext>
                </a:extLst>
              </a:tr>
            </a:tbl>
          </a:graphicData>
        </a:graphic>
      </p:graphicFrame>
      <p:pic>
        <p:nvPicPr>
          <p:cNvPr id="1026" name="Picture 2">
            <a:extLst>
              <a:ext uri="{FF2B5EF4-FFF2-40B4-BE49-F238E27FC236}">
                <a16:creationId xmlns:a16="http://schemas.microsoft.com/office/drawing/2014/main" id="{FFA8F04C-8C9E-949F-1D69-23604C3C31C2}"/>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t="-1333" b="-693"/>
          <a:stretch/>
        </p:blipFill>
        <p:spPr bwMode="auto">
          <a:xfrm>
            <a:off x="6872963" y="910942"/>
            <a:ext cx="4837479" cy="3015198"/>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4" name="Picture 3">
            <a:extLst>
              <a:ext uri="{FF2B5EF4-FFF2-40B4-BE49-F238E27FC236}">
                <a16:creationId xmlns:a16="http://schemas.microsoft.com/office/drawing/2014/main" id="{C63CEE54-3253-2CC7-4D3E-3AA1BB8BF708}"/>
              </a:ext>
            </a:extLst>
          </p:cNvPr>
          <p:cNvPicPr>
            <a:picLocks noChangeAspect="1"/>
          </p:cNvPicPr>
          <p:nvPr/>
        </p:nvPicPr>
        <p:blipFill rotWithShape="1">
          <a:blip r:embed="rId7"/>
          <a:srcRect t="10104" b="15415"/>
          <a:stretch/>
        </p:blipFill>
        <p:spPr>
          <a:xfrm>
            <a:off x="6921501" y="3904013"/>
            <a:ext cx="4788942" cy="2496783"/>
          </a:xfrm>
          <a:prstGeom prst="rect">
            <a:avLst/>
          </a:prstGeom>
        </p:spPr>
      </p:pic>
      <p:sp>
        <p:nvSpPr>
          <p:cNvPr id="7" name="TextBox 6">
            <a:extLst>
              <a:ext uri="{FF2B5EF4-FFF2-40B4-BE49-F238E27FC236}">
                <a16:creationId xmlns:a16="http://schemas.microsoft.com/office/drawing/2014/main" id="{5AC44471-B78D-D922-FA88-CC4D8A8711C8}"/>
              </a:ext>
            </a:extLst>
          </p:cNvPr>
          <p:cNvSpPr txBox="1"/>
          <p:nvPr/>
        </p:nvSpPr>
        <p:spPr>
          <a:xfrm>
            <a:off x="6921501" y="3569806"/>
            <a:ext cx="1731432" cy="246221"/>
          </a:xfrm>
          <a:prstGeom prst="rect">
            <a:avLst/>
          </a:prstGeom>
          <a:noFill/>
        </p:spPr>
        <p:txBody>
          <a:bodyPr wrap="square">
            <a:spAutoFit/>
          </a:bodyPr>
          <a:lstStyle/>
          <a:p>
            <a:r>
              <a:rPr lang="en-US" sz="1000" i="1">
                <a:solidFill>
                  <a:schemeClr val="tx1"/>
                </a:solidFill>
                <a:latin typeface="Arial" panose="020B0604020202020204" pitchFamily="34" charset="0"/>
                <a:cs typeface="Arial" panose="020B0604020202020204" pitchFamily="34" charset="0"/>
              </a:rPr>
              <a:t>Photo Credit – Blue Energy</a:t>
            </a:r>
            <a:endParaRPr lang="en-US" sz="1000" i="1"/>
          </a:p>
        </p:txBody>
      </p:sp>
      <p:sp>
        <p:nvSpPr>
          <p:cNvPr id="9" name="TextBox 8">
            <a:extLst>
              <a:ext uri="{FF2B5EF4-FFF2-40B4-BE49-F238E27FC236}">
                <a16:creationId xmlns:a16="http://schemas.microsoft.com/office/drawing/2014/main" id="{5D203BA5-EFD0-BFAF-9D39-54C2606C8F4C}"/>
              </a:ext>
            </a:extLst>
          </p:cNvPr>
          <p:cNvSpPr txBox="1"/>
          <p:nvPr/>
        </p:nvSpPr>
        <p:spPr>
          <a:xfrm>
            <a:off x="6921501" y="6083181"/>
            <a:ext cx="1731432" cy="246221"/>
          </a:xfrm>
          <a:prstGeom prst="rect">
            <a:avLst/>
          </a:prstGeom>
          <a:noFill/>
        </p:spPr>
        <p:txBody>
          <a:bodyPr wrap="square">
            <a:spAutoFit/>
          </a:bodyPr>
          <a:lstStyle/>
          <a:p>
            <a:r>
              <a:rPr lang="en-US" sz="1000" i="1">
                <a:solidFill>
                  <a:schemeClr val="tx1"/>
                </a:solidFill>
                <a:latin typeface="Arial" panose="020B0604020202020204" pitchFamily="34" charset="0"/>
                <a:cs typeface="Arial" panose="020B0604020202020204" pitchFamily="34" charset="0"/>
              </a:rPr>
              <a:t>Photo Credit – Blue Energy</a:t>
            </a:r>
            <a:endParaRPr lang="en-US" sz="1000" i="1"/>
          </a:p>
        </p:txBody>
      </p:sp>
    </p:spTree>
    <p:extLst>
      <p:ext uri="{BB962C8B-B14F-4D97-AF65-F5344CB8AC3E}">
        <p14:creationId xmlns:p14="http://schemas.microsoft.com/office/powerpoint/2010/main" val="3866845417"/>
      </p:ext>
    </p:extLst>
  </p:cSld>
  <p:clrMapOvr>
    <a:masterClrMapping/>
  </p:clrMapOvr>
  <p:transition>
    <p:fade/>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PJ_ST Project | Transmission Evacuation of the project</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Salient Features of the STHPP</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3" name="Table 6">
            <a:extLst>
              <a:ext uri="{FF2B5EF4-FFF2-40B4-BE49-F238E27FC236}">
                <a16:creationId xmlns:a16="http://schemas.microsoft.com/office/drawing/2014/main" id="{BB7BB4E9-744D-C8FD-8BA9-27D225AE11BC}"/>
              </a:ext>
            </a:extLst>
          </p:cNvPr>
          <p:cNvGraphicFramePr>
            <a:graphicFrameLocks/>
          </p:cNvGraphicFramePr>
          <p:nvPr/>
        </p:nvGraphicFramePr>
        <p:xfrm>
          <a:off x="514884" y="997947"/>
          <a:ext cx="6358078" cy="1539264"/>
        </p:xfrm>
        <a:graphic>
          <a:graphicData uri="http://schemas.openxmlformats.org/drawingml/2006/table">
            <a:tbl>
              <a:tblPr firstRow="1" bandRow="1">
                <a:solidFill>
                  <a:schemeClr val="bg1">
                    <a:lumMod val="95000"/>
                  </a:schemeClr>
                </a:solidFill>
                <a:tableStyleId>{21E4AEA4-8DFA-4A89-87EB-49C32662AFE0}</a:tableStyleId>
              </a:tblPr>
              <a:tblGrid>
                <a:gridCol w="1907370">
                  <a:extLst>
                    <a:ext uri="{9D8B030D-6E8A-4147-A177-3AD203B41FA5}">
                      <a16:colId xmlns:a16="http://schemas.microsoft.com/office/drawing/2014/main" val="725845397"/>
                    </a:ext>
                  </a:extLst>
                </a:gridCol>
                <a:gridCol w="4450708">
                  <a:extLst>
                    <a:ext uri="{9D8B030D-6E8A-4147-A177-3AD203B41FA5}">
                      <a16:colId xmlns:a16="http://schemas.microsoft.com/office/drawing/2014/main" val="3681363094"/>
                    </a:ext>
                  </a:extLst>
                </a:gridCol>
              </a:tblGrid>
              <a:tr h="230183">
                <a:tc>
                  <a:txBody>
                    <a:bodyPr/>
                    <a:lstStyle/>
                    <a:p>
                      <a:pPr algn="just"/>
                      <a:r>
                        <a:rPr lang="en-US" sz="1100" b="0" kern="1200">
                          <a:solidFill>
                            <a:schemeClr val="bg1"/>
                          </a:solidFill>
                          <a:latin typeface="Arial" panose="020B0604020202020204" pitchFamily="34" charset="0"/>
                          <a:cs typeface="Arial" panose="020B0604020202020204" pitchFamily="34" charset="0"/>
                        </a:rPr>
                        <a:t>Particulars</a:t>
                      </a:r>
                      <a:endParaRPr lang="en-US" sz="1100" b="0" kern="1200">
                        <a:solidFill>
                          <a:schemeClr val="bg1"/>
                        </a:solidFill>
                        <a:latin typeface="Arial" panose="020B0604020202020204" pitchFamily="34" charset="0"/>
                        <a:ea typeface="+mn-ea"/>
                        <a:cs typeface="Arial" panose="020B0604020202020204" pitchFamily="34" charset="0"/>
                      </a:endParaRPr>
                    </a:p>
                  </a:txBody>
                  <a:tcPr marT="45723" marB="45723" anchor="ctr">
                    <a:lnL w="12700" cmpd="sng">
                      <a:noFill/>
                    </a:lnL>
                    <a:lnR w="12700" cap="flat" cmpd="sng" algn="ctr">
                      <a:solidFill>
                        <a:schemeClr val="bg1"/>
                      </a:solidFill>
                      <a:prstDash val="solid"/>
                      <a:round/>
                      <a:headEnd type="none" w="med" len="med"/>
                      <a:tailEnd type="none" w="med" len="med"/>
                    </a:lnR>
                    <a:lnT w="19050" cap="flat" cmpd="sng" algn="ctr">
                      <a:noFill/>
                      <a:prstDash val="solid"/>
                    </a:lnT>
                    <a:lnB w="38100" cmpd="sng">
                      <a:noFill/>
                    </a:lnB>
                    <a:solidFill>
                      <a:schemeClr val="accent3"/>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100" b="0">
                          <a:solidFill>
                            <a:schemeClr val="bg1"/>
                          </a:solidFill>
                          <a:latin typeface="Arial" panose="020B0604020202020204" pitchFamily="34" charset="0"/>
                          <a:cs typeface="Arial" panose="020B0604020202020204" pitchFamily="34" charset="0"/>
                        </a:rPr>
                        <a:t>Details</a:t>
                      </a:r>
                    </a:p>
                  </a:txBody>
                  <a:tcPr marT="45723" marB="45723" anchor="ctr">
                    <a:lnL w="12700" cap="flat" cmpd="sng" algn="ctr">
                      <a:solidFill>
                        <a:schemeClr val="bg1"/>
                      </a:solidFill>
                      <a:prstDash val="solid"/>
                      <a:round/>
                      <a:headEnd type="none" w="med" len="med"/>
                      <a:tailEnd type="none" w="med" len="med"/>
                    </a:lnL>
                    <a:lnR w="12700" cmpd="sng">
                      <a:noFill/>
                    </a:lnR>
                    <a:lnT w="19050" cap="flat" cmpd="sng" algn="ctr">
                      <a:noFill/>
                      <a:prstDash val="solid"/>
                    </a:lnT>
                    <a:lnB w="38100" cmpd="sng">
                      <a:noFill/>
                    </a:lnB>
                    <a:solidFill>
                      <a:schemeClr val="accent3"/>
                    </a:solidFill>
                  </a:tcPr>
                </a:tc>
                <a:extLst>
                  <a:ext uri="{0D108BD9-81ED-4DB2-BD59-A6C34878D82A}">
                    <a16:rowId xmlns:a16="http://schemas.microsoft.com/office/drawing/2014/main" val="949417615"/>
                  </a:ext>
                </a:extLst>
              </a:tr>
              <a:tr h="358561">
                <a:tc>
                  <a:txBody>
                    <a:bodyPr/>
                    <a:lstStyle/>
                    <a:p>
                      <a:pPr algn="l"/>
                      <a:r>
                        <a:rPr lang="en-US" sz="1100" b="1" kern="1200">
                          <a:solidFill>
                            <a:schemeClr val="tx1"/>
                          </a:solidFill>
                          <a:latin typeface="Arial" panose="020B0604020202020204" pitchFamily="34" charset="0"/>
                          <a:cs typeface="Arial" panose="020B0604020202020204" pitchFamily="34" charset="0"/>
                        </a:rPr>
                        <a:t>Capacity (Unit Configuration)</a:t>
                      </a:r>
                      <a:endParaRPr lang="en-US" sz="11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38100" cmpd="sng">
                      <a:noFill/>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100" b="0" kern="1200">
                          <a:solidFill>
                            <a:schemeClr val="tx1"/>
                          </a:solidFill>
                          <a:latin typeface="Arial" panose="020B0604020202020204" pitchFamily="34" charset="0"/>
                          <a:cs typeface="Arial" panose="020B0604020202020204" pitchFamily="34" charset="0"/>
                        </a:rPr>
                        <a:t>100 MW</a:t>
                      </a:r>
                      <a:endParaRPr lang="en-US" sz="1100">
                        <a:solidFill>
                          <a:schemeClr val="tx1"/>
                        </a:solidFill>
                        <a:latin typeface="Arial" panose="020B0604020202020204" pitchFamily="34" charset="0"/>
                        <a:cs typeface="Arial" panose="020B0604020202020204" pitchFamily="34" charset="0"/>
                      </a:endParaRPr>
                    </a:p>
                  </a:txBody>
                  <a:tcPr marT="45723" marB="45723" anchor="ctr">
                    <a:lnL w="12700" cap="flat" cmpd="sng" algn="ctr">
                      <a:solidFill>
                        <a:schemeClr val="bg1"/>
                      </a:solidFill>
                      <a:prstDash val="solid"/>
                      <a:round/>
                      <a:headEnd type="none" w="med" len="med"/>
                      <a:tailEnd type="none" w="med" len="med"/>
                    </a:lnL>
                    <a:lnR w="12700" cmpd="sng">
                      <a:noFill/>
                      <a:prstDash val="solid"/>
                    </a:lnR>
                    <a:lnT w="38100" cmpd="sng">
                      <a:noFill/>
                    </a:lnT>
                    <a:lnB w="9525" cap="flat" cmpd="sng" algn="ctr">
                      <a:solidFill>
                        <a:schemeClr val="tx1">
                          <a:lumMod val="50000"/>
                          <a:lumOff val="50000"/>
                        </a:schemeClr>
                      </a:solidFill>
                      <a:prstDash val="solid"/>
                    </a:lnB>
                    <a:solidFill>
                      <a:schemeClr val="bg1">
                        <a:lumMod val="95000"/>
                      </a:schemeClr>
                    </a:solidFill>
                  </a:tcPr>
                </a:tc>
                <a:extLst>
                  <a:ext uri="{0D108BD9-81ED-4DB2-BD59-A6C34878D82A}">
                    <a16:rowId xmlns:a16="http://schemas.microsoft.com/office/drawing/2014/main" val="4158972743"/>
                  </a:ext>
                </a:extLst>
              </a:tr>
              <a:tr h="358561">
                <a:tc>
                  <a:txBody>
                    <a:bodyPr/>
                    <a:lstStyle/>
                    <a:p>
                      <a:pPr algn="l"/>
                      <a:r>
                        <a:rPr lang="en-US" sz="1100" b="1" kern="1200">
                          <a:solidFill>
                            <a:schemeClr val="tx1"/>
                          </a:solidFill>
                          <a:latin typeface="Arial" panose="020B0604020202020204" pitchFamily="34" charset="0"/>
                          <a:cs typeface="Arial" panose="020B0604020202020204" pitchFamily="34" charset="0"/>
                        </a:rPr>
                        <a:t>Location</a:t>
                      </a:r>
                      <a:endParaRPr lang="en-US" sz="11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100">
                          <a:solidFill>
                            <a:schemeClr val="tx1"/>
                          </a:solidFill>
                          <a:latin typeface="Arial" panose="020B0604020202020204" pitchFamily="34" charset="0"/>
                          <a:cs typeface="Arial" panose="020B0604020202020204" pitchFamily="34" charset="0"/>
                        </a:rPr>
                        <a:t>100km west of Kathmandu on Prithvi highway</a:t>
                      </a:r>
                    </a:p>
                    <a:p>
                      <a:pPr marL="0" marR="0" lvl="0" indent="0" algn="just" defTabSz="914400" rtl="0" eaLnBrk="1" fontAlgn="auto" latinLnBrk="0" hangingPunct="1">
                        <a:lnSpc>
                          <a:spcPct val="100000"/>
                        </a:lnSpc>
                        <a:spcBef>
                          <a:spcPts val="0"/>
                        </a:spcBef>
                        <a:spcAft>
                          <a:spcPts val="0"/>
                        </a:spcAft>
                        <a:buClrTx/>
                        <a:buSzTx/>
                        <a:buFontTx/>
                        <a:buNone/>
                        <a:tabLst/>
                        <a:defRPr/>
                      </a:pPr>
                      <a:r>
                        <a:rPr lang="en-US" sz="1100">
                          <a:solidFill>
                            <a:schemeClr val="tx1"/>
                          </a:solidFill>
                          <a:latin typeface="Arial" panose="020B0604020202020204" pitchFamily="34" charset="0"/>
                          <a:cs typeface="Arial" panose="020B0604020202020204" pitchFamily="34" charset="0"/>
                        </a:rPr>
                        <a:t>Gorkha-Zone, Chitwan District </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lnB>
                    <a:solidFill>
                      <a:schemeClr val="bg1">
                        <a:lumMod val="95000"/>
                      </a:schemeClr>
                    </a:solidFill>
                  </a:tcPr>
                </a:tc>
                <a:extLst>
                  <a:ext uri="{0D108BD9-81ED-4DB2-BD59-A6C34878D82A}">
                    <a16:rowId xmlns:a16="http://schemas.microsoft.com/office/drawing/2014/main" val="1476698230"/>
                  </a:ext>
                </a:extLst>
              </a:tr>
              <a:tr h="358561">
                <a:tc>
                  <a:txBody>
                    <a:bodyPr/>
                    <a:lstStyle/>
                    <a:p>
                      <a:pPr algn="l"/>
                      <a:r>
                        <a:rPr lang="en-US" sz="1100" b="1" kern="1200">
                          <a:solidFill>
                            <a:schemeClr val="tx1"/>
                          </a:solidFill>
                          <a:latin typeface="Arial" panose="020B0604020202020204" pitchFamily="34" charset="0"/>
                          <a:cs typeface="Arial" panose="020B0604020202020204" pitchFamily="34" charset="0"/>
                        </a:rPr>
                        <a:t>Transmission Evacuation details</a:t>
                      </a:r>
                      <a:endParaRPr lang="en-US" sz="11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100">
                          <a:solidFill>
                            <a:schemeClr val="tx1"/>
                          </a:solidFill>
                          <a:latin typeface="Arial" panose="020B0604020202020204" pitchFamily="34" charset="0"/>
                          <a:cs typeface="Arial" panose="020B0604020202020204" pitchFamily="34" charset="0"/>
                        </a:rPr>
                        <a:t>About 18.8 km long 220kV double circuit transmission line to New </a:t>
                      </a:r>
                      <a:r>
                        <a:rPr lang="en-US" sz="1100" err="1">
                          <a:solidFill>
                            <a:schemeClr val="tx1"/>
                          </a:solidFill>
                          <a:latin typeface="Arial" panose="020B0604020202020204" pitchFamily="34" charset="0"/>
                          <a:cs typeface="Arial" panose="020B0604020202020204" pitchFamily="34" charset="0"/>
                        </a:rPr>
                        <a:t>Markichauk</a:t>
                      </a:r>
                      <a:r>
                        <a:rPr lang="en-US" sz="1100">
                          <a:solidFill>
                            <a:schemeClr val="tx1"/>
                          </a:solidFill>
                          <a:latin typeface="Arial" panose="020B0604020202020204" pitchFamily="34" charset="0"/>
                          <a:cs typeface="Arial" panose="020B0604020202020204" pitchFamily="34" charset="0"/>
                        </a:rPr>
                        <a:t> substation</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207771065"/>
                  </a:ext>
                </a:extLst>
              </a:tr>
            </a:tbl>
          </a:graphicData>
        </a:graphic>
      </p:graphicFrame>
      <p:pic>
        <p:nvPicPr>
          <p:cNvPr id="1026" name="Picture 2">
            <a:extLst>
              <a:ext uri="{FF2B5EF4-FFF2-40B4-BE49-F238E27FC236}">
                <a16:creationId xmlns:a16="http://schemas.microsoft.com/office/drawing/2014/main" id="{FFA8F04C-8C9E-949F-1D69-23604C3C31C2}"/>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t="-1333" b="-693"/>
          <a:stretch/>
        </p:blipFill>
        <p:spPr bwMode="auto">
          <a:xfrm>
            <a:off x="6970039" y="3947345"/>
            <a:ext cx="4837479" cy="2910652"/>
          </a:xfrm>
          <a:prstGeom prst="rect">
            <a:avLst/>
          </a:prstGeom>
          <a:noFill/>
          <a:ln>
            <a:noFill/>
          </a:ln>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5AC44471-B78D-D922-FA88-CC4D8A8711C8}"/>
              </a:ext>
            </a:extLst>
          </p:cNvPr>
          <p:cNvSpPr txBox="1"/>
          <p:nvPr/>
        </p:nvSpPr>
        <p:spPr>
          <a:xfrm>
            <a:off x="6970039" y="6503191"/>
            <a:ext cx="1731432" cy="24622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Photo Credit – Blue Energy</a:t>
            </a:r>
            <a:endParaRPr kumimoji="0" lang="en-US" sz="1000" b="0" i="1" u="none" strike="noStrike" kern="1200" cap="none" spc="0" normalizeH="0" baseline="0" noProof="0">
              <a:ln>
                <a:noFill/>
              </a:ln>
              <a:solidFill>
                <a:prstClr val="black"/>
              </a:solidFill>
              <a:effectLst/>
              <a:uLnTx/>
              <a:uFillTx/>
              <a:latin typeface="Calibri"/>
              <a:ea typeface="+mn-ea"/>
              <a:cs typeface="+mn-cs"/>
            </a:endParaRPr>
          </a:p>
        </p:txBody>
      </p:sp>
      <p:sp>
        <p:nvSpPr>
          <p:cNvPr id="9" name="TextBox 8">
            <a:extLst>
              <a:ext uri="{FF2B5EF4-FFF2-40B4-BE49-F238E27FC236}">
                <a16:creationId xmlns:a16="http://schemas.microsoft.com/office/drawing/2014/main" id="{5D203BA5-EFD0-BFAF-9D39-54C2606C8F4C}"/>
              </a:ext>
            </a:extLst>
          </p:cNvPr>
          <p:cNvSpPr txBox="1"/>
          <p:nvPr/>
        </p:nvSpPr>
        <p:spPr>
          <a:xfrm>
            <a:off x="6970039" y="3692871"/>
            <a:ext cx="1731432" cy="24622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Photo Credit – ESRI</a:t>
            </a:r>
            <a:endParaRPr kumimoji="0" lang="en-US" sz="1000" b="0" i="1" u="none" strike="noStrike" kern="1200" cap="none" spc="0" normalizeH="0" baseline="0" noProof="0">
              <a:ln>
                <a:noFill/>
              </a:ln>
              <a:solidFill>
                <a:prstClr val="black"/>
              </a:solidFill>
              <a:effectLst/>
              <a:uLnTx/>
              <a:uFillTx/>
              <a:latin typeface="Calibri"/>
              <a:ea typeface="+mn-ea"/>
              <a:cs typeface="+mn-cs"/>
            </a:endParaRPr>
          </a:p>
        </p:txBody>
      </p:sp>
      <p:pic>
        <p:nvPicPr>
          <p:cNvPr id="11" name="Picture 10">
            <a:extLst>
              <a:ext uri="{FF2B5EF4-FFF2-40B4-BE49-F238E27FC236}">
                <a16:creationId xmlns:a16="http://schemas.microsoft.com/office/drawing/2014/main" id="{B41C8BCE-7EF2-96B4-F366-2FF3B17112E3}"/>
              </a:ext>
            </a:extLst>
          </p:cNvPr>
          <p:cNvPicPr>
            <a:picLocks noChangeAspect="1"/>
          </p:cNvPicPr>
          <p:nvPr/>
        </p:nvPicPr>
        <p:blipFill>
          <a:blip r:embed="rId7"/>
          <a:stretch>
            <a:fillRect/>
          </a:stretch>
        </p:blipFill>
        <p:spPr>
          <a:xfrm>
            <a:off x="6970039" y="985807"/>
            <a:ext cx="4740404" cy="2658863"/>
          </a:xfrm>
          <a:prstGeom prst="rect">
            <a:avLst/>
          </a:prstGeom>
        </p:spPr>
      </p:pic>
      <p:cxnSp>
        <p:nvCxnSpPr>
          <p:cNvPr id="13" name="Straight Arrow Connector 12">
            <a:extLst>
              <a:ext uri="{FF2B5EF4-FFF2-40B4-BE49-F238E27FC236}">
                <a16:creationId xmlns:a16="http://schemas.microsoft.com/office/drawing/2014/main" id="{E5307F49-F608-E3B7-E7A0-D498665DFEE2}"/>
              </a:ext>
            </a:extLst>
          </p:cNvPr>
          <p:cNvCxnSpPr>
            <a:cxnSpLocks/>
          </p:cNvCxnSpPr>
          <p:nvPr/>
        </p:nvCxnSpPr>
        <p:spPr>
          <a:xfrm flipH="1" flipV="1">
            <a:off x="8158347" y="3135356"/>
            <a:ext cx="1840676" cy="1591023"/>
          </a:xfrm>
          <a:prstGeom prst="straightConnector1">
            <a:avLst/>
          </a:prstGeom>
          <a:ln>
            <a:tailEnd type="triangle"/>
          </a:ln>
        </p:spPr>
        <p:style>
          <a:lnRef idx="3">
            <a:schemeClr val="accent6"/>
          </a:lnRef>
          <a:fillRef idx="0">
            <a:schemeClr val="accent6"/>
          </a:fillRef>
          <a:effectRef idx="2">
            <a:schemeClr val="accent6"/>
          </a:effectRef>
          <a:fontRef idx="minor">
            <a:schemeClr val="tx1"/>
          </a:fontRef>
        </p:style>
      </p:cxnSp>
      <p:grpSp>
        <p:nvGrpSpPr>
          <p:cNvPr id="18" name="Group 17">
            <a:extLst>
              <a:ext uri="{FF2B5EF4-FFF2-40B4-BE49-F238E27FC236}">
                <a16:creationId xmlns:a16="http://schemas.microsoft.com/office/drawing/2014/main" id="{2E858A32-C35F-721B-B898-DAF3DD8C75C4}"/>
              </a:ext>
            </a:extLst>
          </p:cNvPr>
          <p:cNvGrpSpPr/>
          <p:nvPr/>
        </p:nvGrpSpPr>
        <p:grpSpPr>
          <a:xfrm>
            <a:off x="501651" y="2656896"/>
            <a:ext cx="6358078" cy="1804591"/>
            <a:chOff x="370731" y="1758226"/>
            <a:chExt cx="3636000" cy="1931627"/>
          </a:xfrm>
        </p:grpSpPr>
        <p:grpSp>
          <p:nvGrpSpPr>
            <p:cNvPr id="19" name="Group 18">
              <a:extLst>
                <a:ext uri="{FF2B5EF4-FFF2-40B4-BE49-F238E27FC236}">
                  <a16:creationId xmlns:a16="http://schemas.microsoft.com/office/drawing/2014/main" id="{1866098A-5EC6-3FD7-4F04-50C1E786BB2E}"/>
                </a:ext>
              </a:extLst>
            </p:cNvPr>
            <p:cNvGrpSpPr/>
            <p:nvPr/>
          </p:nvGrpSpPr>
          <p:grpSpPr>
            <a:xfrm>
              <a:off x="370731" y="1758226"/>
              <a:ext cx="3636000" cy="1931627"/>
              <a:chOff x="370731" y="1758226"/>
              <a:chExt cx="3636000" cy="1931627"/>
            </a:xfrm>
          </p:grpSpPr>
          <p:grpSp>
            <p:nvGrpSpPr>
              <p:cNvPr id="21" name="Group 20">
                <a:extLst>
                  <a:ext uri="{FF2B5EF4-FFF2-40B4-BE49-F238E27FC236}">
                    <a16:creationId xmlns:a16="http://schemas.microsoft.com/office/drawing/2014/main" id="{1EBE8F8F-CEF6-C723-46C2-A2260E3F3724}"/>
                  </a:ext>
                </a:extLst>
              </p:cNvPr>
              <p:cNvGrpSpPr/>
              <p:nvPr/>
            </p:nvGrpSpPr>
            <p:grpSpPr>
              <a:xfrm>
                <a:off x="734264" y="1758226"/>
                <a:ext cx="2908937" cy="228600"/>
                <a:chOff x="833432" y="2405743"/>
                <a:chExt cx="2908937" cy="228600"/>
              </a:xfrm>
            </p:grpSpPr>
            <p:sp>
              <p:nvSpPr>
                <p:cNvPr id="25" name="Isosceles Triangle 31">
                  <a:extLst>
                    <a:ext uri="{FF2B5EF4-FFF2-40B4-BE49-F238E27FC236}">
                      <a16:creationId xmlns:a16="http://schemas.microsoft.com/office/drawing/2014/main" id="{2C111836-C76C-C328-50E0-BFC360121CFE}"/>
                    </a:ext>
                  </a:extLst>
                </p:cNvPr>
                <p:cNvSpPr/>
                <p:nvPr/>
              </p:nvSpPr>
              <p:spPr bwMode="gray">
                <a:xfrm>
                  <a:off x="3576634"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marL="0" marR="0" lvl="0" indent="0" algn="ctr" defTabSz="914255"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err="1">
                    <a:ln>
                      <a:noFill/>
                    </a:ln>
                    <a:solidFill>
                      <a:prstClr val="white"/>
                    </a:solidFill>
                    <a:effectLst/>
                    <a:uLnTx/>
                    <a:uFillTx/>
                    <a:latin typeface="Calibri"/>
                    <a:ea typeface="+mn-ea"/>
                    <a:cs typeface="+mn-cs"/>
                  </a:endParaRPr>
                </a:p>
              </p:txBody>
            </p:sp>
            <p:sp>
              <p:nvSpPr>
                <p:cNvPr id="26" name="Isosceles Triangle 5">
                  <a:extLst>
                    <a:ext uri="{FF2B5EF4-FFF2-40B4-BE49-F238E27FC236}">
                      <a16:creationId xmlns:a16="http://schemas.microsoft.com/office/drawing/2014/main" id="{1661DA36-7BD0-3805-E3CE-B1DA759108A7}"/>
                    </a:ext>
                  </a:extLst>
                </p:cNvPr>
                <p:cNvSpPr/>
                <p:nvPr/>
              </p:nvSpPr>
              <p:spPr bwMode="gray">
                <a:xfrm>
                  <a:off x="833432"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marL="0" marR="0" lvl="0" indent="0" algn="ctr" defTabSz="914255"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err="1">
                    <a:ln>
                      <a:noFill/>
                    </a:ln>
                    <a:solidFill>
                      <a:prstClr val="white"/>
                    </a:solidFill>
                    <a:effectLst/>
                    <a:uLnTx/>
                    <a:uFillTx/>
                    <a:latin typeface="Calibri"/>
                    <a:ea typeface="+mn-ea"/>
                    <a:cs typeface="+mn-cs"/>
                  </a:endParaRPr>
                </a:p>
              </p:txBody>
            </p:sp>
          </p:grpSp>
          <p:grpSp>
            <p:nvGrpSpPr>
              <p:cNvPr id="22" name="Group 21">
                <a:extLst>
                  <a:ext uri="{FF2B5EF4-FFF2-40B4-BE49-F238E27FC236}">
                    <a16:creationId xmlns:a16="http://schemas.microsoft.com/office/drawing/2014/main" id="{2B3C2FB5-0121-AAAA-0B17-BB388BCD81BD}"/>
                  </a:ext>
                </a:extLst>
              </p:cNvPr>
              <p:cNvGrpSpPr/>
              <p:nvPr/>
            </p:nvGrpSpPr>
            <p:grpSpPr>
              <a:xfrm>
                <a:off x="370731" y="1758227"/>
                <a:ext cx="3636000" cy="1931626"/>
                <a:chOff x="370731" y="1758227"/>
                <a:chExt cx="3636000" cy="1931626"/>
              </a:xfrm>
            </p:grpSpPr>
            <p:sp>
              <p:nvSpPr>
                <p:cNvPr id="23" name="Rectangle: Rounded Corners 7">
                  <a:extLst>
                    <a:ext uri="{FF2B5EF4-FFF2-40B4-BE49-F238E27FC236}">
                      <a16:creationId xmlns:a16="http://schemas.microsoft.com/office/drawing/2014/main" id="{04B62004-548C-7A42-FB69-A69A6FEA18B2}"/>
                    </a:ext>
                  </a:extLst>
                </p:cNvPr>
                <p:cNvSpPr/>
                <p:nvPr/>
              </p:nvSpPr>
              <p:spPr bwMode="gray">
                <a:xfrm>
                  <a:off x="370731" y="1986827"/>
                  <a:ext cx="3636000" cy="1703026"/>
                </a:xfrm>
                <a:prstGeom prst="roundRect">
                  <a:avLst>
                    <a:gd name="adj" fmla="val 6603"/>
                  </a:avLst>
                </a:prstGeom>
                <a:solidFill>
                  <a:schemeClr val="bg1">
                    <a:lumMod val="95000"/>
                  </a:schemeClr>
                </a:solidFill>
                <a:ln w="19050" algn="ctr">
                  <a:noFill/>
                  <a:miter lim="800000"/>
                  <a:headEnd/>
                  <a:tailEnd/>
                </a:ln>
              </p:spPr>
              <p:txBody>
                <a:bodyPr wrap="square" lIns="88900" tIns="182880" rIns="88900" bIns="88900" rtlCol="0" anchor="t"/>
                <a:lstStyle/>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The project is located in between the Demand Centres of Kathmandu (100 km) and Pokhara (109 km).</a:t>
                  </a:r>
                </a:p>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r>
                    <a:rPr kumimoji="0" lang="en-US" sz="1200" b="1"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a:t>
                  </a: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This river basin is one of the most developed basins in Nepal. </a:t>
                  </a:r>
                </a:p>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The project's strategic location helps reduce the congestion in the transmission network, facilitates its optimal year-round utilization, and contributes to more efficient load management, thereby enhancing overall grid stability and reliability.</a:t>
                  </a:r>
                  <a:endParaRPr kumimoji="0" lang="en-IN"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24" name="Rectangle: Top Corners Rounded 12">
                  <a:extLst>
                    <a:ext uri="{FF2B5EF4-FFF2-40B4-BE49-F238E27FC236}">
                      <a16:creationId xmlns:a16="http://schemas.microsoft.com/office/drawing/2014/main" id="{03332FCE-B125-ED7B-D8BC-F29D177FBC3F}"/>
                    </a:ext>
                  </a:extLst>
                </p:cNvPr>
                <p:cNvSpPr/>
                <p:nvPr/>
              </p:nvSpPr>
              <p:spPr bwMode="gray">
                <a:xfrm flipV="1">
                  <a:off x="817131" y="1758227"/>
                  <a:ext cx="2743200" cy="457201"/>
                </a:xfrm>
                <a:prstGeom prst="round2SameRect">
                  <a:avLst/>
                </a:prstGeom>
                <a:solidFill>
                  <a:schemeClr val="accent2">
                    <a:lumMod val="75000"/>
                  </a:schemeClr>
                </a:solidFill>
                <a:ln w="19050" algn="ctr">
                  <a:noFill/>
                  <a:miter lim="800000"/>
                  <a:headEnd/>
                  <a:tailEnd/>
                </a:ln>
              </p:spPr>
              <p:txBody>
                <a:bodyPr wrap="square" lIns="88900" tIns="88900" rIns="88900" bIns="88900" rtlCol="0" anchor="ctr"/>
                <a:lstStyle/>
                <a:p>
                  <a:pPr marL="0" marR="0" lvl="0" indent="0" algn="ctr" defTabSz="914255" rtl="0" eaLnBrk="1" fontAlgn="auto" latinLnBrk="0" hangingPunct="1">
                    <a:lnSpc>
                      <a:spcPct val="106000"/>
                    </a:lnSpc>
                    <a:spcBef>
                      <a:spcPts val="0"/>
                    </a:spcBef>
                    <a:spcAft>
                      <a:spcPts val="0"/>
                    </a:spcAft>
                    <a:buClrTx/>
                    <a:buSzTx/>
                    <a:buFont typeface="Wingdings 2" pitchFamily="18" charset="2"/>
                    <a:buNone/>
                    <a:tabLst/>
                    <a:defRPr/>
                  </a:pPr>
                  <a:endParaRPr kumimoji="0" lang="en-GB" sz="1200" b="1"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20" name="Rectangle 19">
              <a:extLst>
                <a:ext uri="{FF2B5EF4-FFF2-40B4-BE49-F238E27FC236}">
                  <a16:creationId xmlns:a16="http://schemas.microsoft.com/office/drawing/2014/main" id="{E8B31E24-6E44-7B14-BF3A-0B95DBAAC1D5}"/>
                </a:ext>
              </a:extLst>
            </p:cNvPr>
            <p:cNvSpPr/>
            <p:nvPr/>
          </p:nvSpPr>
          <p:spPr>
            <a:xfrm>
              <a:off x="1499337" y="1894493"/>
              <a:ext cx="1378807" cy="230611"/>
            </a:xfrm>
            <a:prstGeom prst="rect">
              <a:avLst/>
            </a:prstGeom>
          </p:spPr>
          <p:txBody>
            <a:bodyPr wrap="none" lIns="0" tIns="0" rIns="0" bIns="0">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Calibri"/>
                  <a:ea typeface="+mn-ea"/>
                  <a:cs typeface="+mn-cs"/>
                </a:rPr>
                <a:t>Strategic Location of the project </a:t>
              </a:r>
            </a:p>
          </p:txBody>
        </p:sp>
      </p:grpSp>
      <p:sp>
        <p:nvSpPr>
          <p:cNvPr id="27" name="Isosceles Triangle 26">
            <a:extLst>
              <a:ext uri="{FF2B5EF4-FFF2-40B4-BE49-F238E27FC236}">
                <a16:creationId xmlns:a16="http://schemas.microsoft.com/office/drawing/2014/main" id="{D077A57A-A5CF-6CD2-193E-9154B8E695D7}"/>
              </a:ext>
            </a:extLst>
          </p:cNvPr>
          <p:cNvSpPr/>
          <p:nvPr/>
        </p:nvSpPr>
        <p:spPr bwMode="gray">
          <a:xfrm>
            <a:off x="9387352" y="5285678"/>
            <a:ext cx="122664" cy="133815"/>
          </a:xfrm>
          <a:prstGeom prst="triangle">
            <a:avLst/>
          </a:prstGeom>
          <a:solidFill>
            <a:srgbClr val="FF0000"/>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28" name="Isosceles Triangle 27">
            <a:extLst>
              <a:ext uri="{FF2B5EF4-FFF2-40B4-BE49-F238E27FC236}">
                <a16:creationId xmlns:a16="http://schemas.microsoft.com/office/drawing/2014/main" id="{89B878FB-CC9A-231E-698F-2331A1480AFC}"/>
              </a:ext>
            </a:extLst>
          </p:cNvPr>
          <p:cNvSpPr/>
          <p:nvPr/>
        </p:nvSpPr>
        <p:spPr bwMode="gray">
          <a:xfrm>
            <a:off x="9748757" y="5872193"/>
            <a:ext cx="122664" cy="133815"/>
          </a:xfrm>
          <a:prstGeom prst="triangle">
            <a:avLst/>
          </a:prstGeom>
          <a:solidFill>
            <a:srgbClr val="FF0000"/>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grpSp>
        <p:nvGrpSpPr>
          <p:cNvPr id="30" name="Group 29">
            <a:extLst>
              <a:ext uri="{FF2B5EF4-FFF2-40B4-BE49-F238E27FC236}">
                <a16:creationId xmlns:a16="http://schemas.microsoft.com/office/drawing/2014/main" id="{5FF20D0C-4DF0-B96E-0099-5F97E54F30A1}"/>
              </a:ext>
            </a:extLst>
          </p:cNvPr>
          <p:cNvGrpSpPr/>
          <p:nvPr/>
        </p:nvGrpSpPr>
        <p:grpSpPr>
          <a:xfrm>
            <a:off x="501651" y="4673176"/>
            <a:ext cx="6358078" cy="1806468"/>
            <a:chOff x="370731" y="1756217"/>
            <a:chExt cx="3636000" cy="1933636"/>
          </a:xfrm>
        </p:grpSpPr>
        <p:grpSp>
          <p:nvGrpSpPr>
            <p:cNvPr id="31" name="Group 30">
              <a:extLst>
                <a:ext uri="{FF2B5EF4-FFF2-40B4-BE49-F238E27FC236}">
                  <a16:creationId xmlns:a16="http://schemas.microsoft.com/office/drawing/2014/main" id="{14E095D0-AE7E-DED2-5D44-DF4F28A4EC47}"/>
                </a:ext>
              </a:extLst>
            </p:cNvPr>
            <p:cNvGrpSpPr/>
            <p:nvPr/>
          </p:nvGrpSpPr>
          <p:grpSpPr>
            <a:xfrm>
              <a:off x="370731" y="1758226"/>
              <a:ext cx="3636000" cy="1931627"/>
              <a:chOff x="370731" y="1758226"/>
              <a:chExt cx="3636000" cy="1931627"/>
            </a:xfrm>
          </p:grpSpPr>
          <p:grpSp>
            <p:nvGrpSpPr>
              <p:cNvPr id="33" name="Group 32">
                <a:extLst>
                  <a:ext uri="{FF2B5EF4-FFF2-40B4-BE49-F238E27FC236}">
                    <a16:creationId xmlns:a16="http://schemas.microsoft.com/office/drawing/2014/main" id="{0C682DE3-19AF-6B08-12D5-138AA5C03460}"/>
                  </a:ext>
                </a:extLst>
              </p:cNvPr>
              <p:cNvGrpSpPr/>
              <p:nvPr/>
            </p:nvGrpSpPr>
            <p:grpSpPr>
              <a:xfrm>
                <a:off x="734264" y="1758226"/>
                <a:ext cx="2908937" cy="228600"/>
                <a:chOff x="833432" y="2405743"/>
                <a:chExt cx="2908937" cy="228600"/>
              </a:xfrm>
            </p:grpSpPr>
            <p:sp>
              <p:nvSpPr>
                <p:cNvPr id="37" name="Isosceles Triangle 31">
                  <a:extLst>
                    <a:ext uri="{FF2B5EF4-FFF2-40B4-BE49-F238E27FC236}">
                      <a16:creationId xmlns:a16="http://schemas.microsoft.com/office/drawing/2014/main" id="{169A5063-A8AB-3D73-5E98-7AF4C4E094EF}"/>
                    </a:ext>
                  </a:extLst>
                </p:cNvPr>
                <p:cNvSpPr/>
                <p:nvPr/>
              </p:nvSpPr>
              <p:spPr bwMode="gray">
                <a:xfrm>
                  <a:off x="3576634"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marL="0" marR="0" lvl="0" indent="0" algn="ctr" defTabSz="914255"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err="1">
                    <a:ln>
                      <a:noFill/>
                    </a:ln>
                    <a:solidFill>
                      <a:prstClr val="white"/>
                    </a:solidFill>
                    <a:effectLst/>
                    <a:uLnTx/>
                    <a:uFillTx/>
                    <a:latin typeface="Calibri"/>
                    <a:ea typeface="+mn-ea"/>
                    <a:cs typeface="+mn-cs"/>
                  </a:endParaRPr>
                </a:p>
              </p:txBody>
            </p:sp>
            <p:sp>
              <p:nvSpPr>
                <p:cNvPr id="38" name="Isosceles Triangle 5">
                  <a:extLst>
                    <a:ext uri="{FF2B5EF4-FFF2-40B4-BE49-F238E27FC236}">
                      <a16:creationId xmlns:a16="http://schemas.microsoft.com/office/drawing/2014/main" id="{52E80506-633B-9554-EABA-D23D1A884956}"/>
                    </a:ext>
                  </a:extLst>
                </p:cNvPr>
                <p:cNvSpPr/>
                <p:nvPr/>
              </p:nvSpPr>
              <p:spPr bwMode="gray">
                <a:xfrm>
                  <a:off x="833432"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marL="0" marR="0" lvl="0" indent="0" algn="ctr" defTabSz="914255"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err="1">
                    <a:ln>
                      <a:noFill/>
                    </a:ln>
                    <a:solidFill>
                      <a:prstClr val="white"/>
                    </a:solidFill>
                    <a:effectLst/>
                    <a:uLnTx/>
                    <a:uFillTx/>
                    <a:latin typeface="Calibri"/>
                    <a:ea typeface="+mn-ea"/>
                    <a:cs typeface="+mn-cs"/>
                  </a:endParaRPr>
                </a:p>
              </p:txBody>
            </p:sp>
          </p:grpSp>
          <p:grpSp>
            <p:nvGrpSpPr>
              <p:cNvPr id="34" name="Group 33">
                <a:extLst>
                  <a:ext uri="{FF2B5EF4-FFF2-40B4-BE49-F238E27FC236}">
                    <a16:creationId xmlns:a16="http://schemas.microsoft.com/office/drawing/2014/main" id="{077D3926-CB10-808B-7B29-21B50AA6BA43}"/>
                  </a:ext>
                </a:extLst>
              </p:cNvPr>
              <p:cNvGrpSpPr/>
              <p:nvPr/>
            </p:nvGrpSpPr>
            <p:grpSpPr>
              <a:xfrm>
                <a:off x="370731" y="1758226"/>
                <a:ext cx="3636000" cy="1931627"/>
                <a:chOff x="370731" y="1758226"/>
                <a:chExt cx="3636000" cy="1931627"/>
              </a:xfrm>
            </p:grpSpPr>
            <p:sp>
              <p:nvSpPr>
                <p:cNvPr id="35" name="Rectangle: Rounded Corners 7">
                  <a:extLst>
                    <a:ext uri="{FF2B5EF4-FFF2-40B4-BE49-F238E27FC236}">
                      <a16:creationId xmlns:a16="http://schemas.microsoft.com/office/drawing/2014/main" id="{9ABE155C-01F1-5CE9-DB92-B96A5483C503}"/>
                    </a:ext>
                  </a:extLst>
                </p:cNvPr>
                <p:cNvSpPr/>
                <p:nvPr/>
              </p:nvSpPr>
              <p:spPr bwMode="gray">
                <a:xfrm>
                  <a:off x="370731" y="1986827"/>
                  <a:ext cx="3636000" cy="1703026"/>
                </a:xfrm>
                <a:prstGeom prst="roundRect">
                  <a:avLst>
                    <a:gd name="adj" fmla="val 6603"/>
                  </a:avLst>
                </a:prstGeom>
                <a:solidFill>
                  <a:schemeClr val="bg1">
                    <a:lumMod val="95000"/>
                  </a:schemeClr>
                </a:solidFill>
                <a:ln w="19050" algn="ctr">
                  <a:noFill/>
                  <a:miter lim="800000"/>
                  <a:headEnd/>
                  <a:tailEnd/>
                </a:ln>
              </p:spPr>
              <p:txBody>
                <a:bodyPr wrap="square" lIns="88900" tIns="182880" rIns="88900" bIns="88900" rtlCol="0" anchor="t"/>
                <a:lstStyle/>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As per the DPR, 220/132 kV New-</a:t>
                  </a:r>
                  <a:r>
                    <a:rPr kumimoji="0" lang="en-US" sz="1200" b="0" i="0" u="none" strike="noStrike" kern="100" cap="none" spc="0" normalizeH="0" baseline="0" noProof="0" err="1">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Marsyangdi</a:t>
                  </a: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a:t>
                  </a:r>
                  <a:r>
                    <a:rPr kumimoji="0" lang="en-US" sz="1200" b="0" i="0" u="none" strike="noStrike" kern="100" cap="none" spc="0" normalizeH="0" baseline="0" noProof="0" err="1">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Marki</a:t>
                  </a: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Chowk) substation has been most optimised transmission network for evacuation of 100 MW power from PJ_ST Project .</a:t>
                  </a:r>
                </a:p>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220/132 kV New-</a:t>
                  </a:r>
                  <a:r>
                    <a:rPr kumimoji="0" lang="en-US" sz="1200" b="0" i="0" u="none" strike="noStrike" kern="100" cap="none" spc="0" normalizeH="0" baseline="0" noProof="0" err="1">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Marsyangdi</a:t>
                  </a: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a:t>
                  </a:r>
                  <a:r>
                    <a:rPr kumimoji="0" lang="en-US" sz="1200" b="0" i="0" u="none" strike="noStrike" kern="100" cap="none" spc="0" normalizeH="0" baseline="0" noProof="0" err="1">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Marki</a:t>
                  </a: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Chowk) substation, located in </a:t>
                  </a:r>
                  <a:r>
                    <a:rPr kumimoji="0" lang="en-US" sz="1200" b="0" i="0" u="none" strike="noStrike" kern="100" cap="none" spc="0" normalizeH="0" baseline="0" noProof="0" err="1">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Tanahun</a:t>
                  </a: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Nepal, was officially energized on January 2, 2025.</a:t>
                  </a:r>
                </a:p>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r>
                    <a:rPr kumimoji="0" lang="en-US"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Based on the discussion with NEA and Breeze, the transmission infrastructure development for this project is on track.</a:t>
                  </a:r>
                </a:p>
                <a:p>
                  <a:pPr marL="185738" marR="0" lvl="0" indent="-185738" algn="l" defTabSz="914255" rtl="0" eaLnBrk="1" fontAlgn="auto" latinLnBrk="0" hangingPunct="1">
                    <a:lnSpc>
                      <a:spcPct val="107000"/>
                    </a:lnSpc>
                    <a:spcBef>
                      <a:spcPts val="0"/>
                    </a:spcBef>
                    <a:spcAft>
                      <a:spcPts val="800"/>
                    </a:spcAft>
                    <a:buClrTx/>
                    <a:buSzPts val="1000"/>
                    <a:buFont typeface="Wingdings" panose="05000000000000000000" pitchFamily="2" charset="2"/>
                    <a:buChar char="v"/>
                    <a:tabLst/>
                    <a:defRPr/>
                  </a:pPr>
                  <a:endParaRPr kumimoji="0" lang="en-IN" sz="12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36" name="Rectangle: Top Corners Rounded 12">
                  <a:extLst>
                    <a:ext uri="{FF2B5EF4-FFF2-40B4-BE49-F238E27FC236}">
                      <a16:creationId xmlns:a16="http://schemas.microsoft.com/office/drawing/2014/main" id="{B4251849-1D80-6D37-3C0D-46D61013968E}"/>
                    </a:ext>
                  </a:extLst>
                </p:cNvPr>
                <p:cNvSpPr/>
                <p:nvPr/>
              </p:nvSpPr>
              <p:spPr bwMode="gray">
                <a:xfrm flipV="1">
                  <a:off x="817131" y="1758226"/>
                  <a:ext cx="2743200" cy="457201"/>
                </a:xfrm>
                <a:prstGeom prst="round2SameRect">
                  <a:avLst/>
                </a:prstGeom>
                <a:solidFill>
                  <a:schemeClr val="accent2">
                    <a:lumMod val="75000"/>
                  </a:schemeClr>
                </a:solidFill>
                <a:ln w="19050" algn="ctr">
                  <a:noFill/>
                  <a:miter lim="800000"/>
                  <a:headEnd/>
                  <a:tailEnd/>
                </a:ln>
              </p:spPr>
              <p:txBody>
                <a:bodyPr wrap="square" lIns="88900" tIns="88900" rIns="88900" bIns="88900" rtlCol="0" anchor="ctr"/>
                <a:lstStyle/>
                <a:p>
                  <a:pPr marL="0" marR="0" lvl="0" indent="0" algn="ctr" defTabSz="914255" rtl="0" eaLnBrk="1" fontAlgn="auto" latinLnBrk="0" hangingPunct="1">
                    <a:lnSpc>
                      <a:spcPct val="106000"/>
                    </a:lnSpc>
                    <a:spcBef>
                      <a:spcPts val="0"/>
                    </a:spcBef>
                    <a:spcAft>
                      <a:spcPts val="0"/>
                    </a:spcAft>
                    <a:buClrTx/>
                    <a:buSzTx/>
                    <a:buFont typeface="Wingdings 2" pitchFamily="18" charset="2"/>
                    <a:buNone/>
                    <a:tabLst/>
                    <a:defRPr/>
                  </a:pPr>
                  <a:endParaRPr kumimoji="0" lang="en-GB" sz="1200" b="1"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32" name="Rectangle 31">
              <a:extLst>
                <a:ext uri="{FF2B5EF4-FFF2-40B4-BE49-F238E27FC236}">
                  <a16:creationId xmlns:a16="http://schemas.microsoft.com/office/drawing/2014/main" id="{ACFB1194-0149-5147-005E-3226A330DF5B}"/>
                </a:ext>
              </a:extLst>
            </p:cNvPr>
            <p:cNvSpPr/>
            <p:nvPr/>
          </p:nvSpPr>
          <p:spPr>
            <a:xfrm>
              <a:off x="1206074" y="1756217"/>
              <a:ext cx="1965318" cy="461220"/>
            </a:xfrm>
            <a:prstGeom prst="rect">
              <a:avLst/>
            </a:prstGeom>
          </p:spPr>
          <p:txBody>
            <a:bodyPr wrap="none" lIns="0" tIns="0" rIns="0" bIns="0">
              <a:spAutoFit/>
            </a:bodyPr>
            <a:lstStyle/>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Calibri"/>
                  <a:ea typeface="+mn-ea"/>
                  <a:cs typeface="+mn-cs"/>
                </a:rPr>
                <a:t>Current Status of the transmission evacuation </a:t>
              </a:r>
            </a:p>
            <a:p>
              <a:pPr marL="0" marR="0" lvl="0" indent="0" algn="ctr" defTabSz="914255"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Calibri"/>
                  <a:ea typeface="+mn-ea"/>
                  <a:cs typeface="+mn-cs"/>
                </a:rPr>
                <a:t>infrastructure of the project</a:t>
              </a:r>
            </a:p>
          </p:txBody>
        </p:sp>
      </p:grpSp>
    </p:spTree>
    <p:extLst>
      <p:ext uri="{BB962C8B-B14F-4D97-AF65-F5344CB8AC3E}">
        <p14:creationId xmlns:p14="http://schemas.microsoft.com/office/powerpoint/2010/main" val="3464261137"/>
      </p:ext>
    </p:extLst>
  </p:cSld>
  <p:clrMapOvr>
    <a:masterClrMapping/>
  </p:clrMapOvr>
  <p:transition>
    <p:fade/>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744121451"/>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PJ_ST Project | Financial Features </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Financial Features of the STHPP</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3" name="Table 6">
            <a:extLst>
              <a:ext uri="{FF2B5EF4-FFF2-40B4-BE49-F238E27FC236}">
                <a16:creationId xmlns:a16="http://schemas.microsoft.com/office/drawing/2014/main" id="{BB7BB4E9-744D-C8FD-8BA9-27D225AE11BC}"/>
              </a:ext>
            </a:extLst>
          </p:cNvPr>
          <p:cNvGraphicFramePr>
            <a:graphicFrameLocks/>
          </p:cNvGraphicFramePr>
          <p:nvPr>
            <p:extLst>
              <p:ext uri="{D42A27DB-BD31-4B8C-83A1-F6EECF244321}">
                <p14:modId xmlns:p14="http://schemas.microsoft.com/office/powerpoint/2010/main" val="588580718"/>
              </p:ext>
            </p:extLst>
          </p:nvPr>
        </p:nvGraphicFramePr>
        <p:xfrm>
          <a:off x="498742" y="1014881"/>
          <a:ext cx="11211701" cy="4081143"/>
        </p:xfrm>
        <a:graphic>
          <a:graphicData uri="http://schemas.openxmlformats.org/drawingml/2006/table">
            <a:tbl>
              <a:tblPr firstRow="1" bandRow="1">
                <a:solidFill>
                  <a:schemeClr val="bg1">
                    <a:lumMod val="95000"/>
                  </a:schemeClr>
                </a:solidFill>
                <a:tableStyleId>{21E4AEA4-8DFA-4A89-87EB-49C32662AFE0}</a:tableStyleId>
              </a:tblPr>
              <a:tblGrid>
                <a:gridCol w="4199174">
                  <a:extLst>
                    <a:ext uri="{9D8B030D-6E8A-4147-A177-3AD203B41FA5}">
                      <a16:colId xmlns:a16="http://schemas.microsoft.com/office/drawing/2014/main" val="725845397"/>
                    </a:ext>
                  </a:extLst>
                </a:gridCol>
                <a:gridCol w="7012527">
                  <a:extLst>
                    <a:ext uri="{9D8B030D-6E8A-4147-A177-3AD203B41FA5}">
                      <a16:colId xmlns:a16="http://schemas.microsoft.com/office/drawing/2014/main" val="3681363094"/>
                    </a:ext>
                  </a:extLst>
                </a:gridCol>
              </a:tblGrid>
              <a:tr h="382119">
                <a:tc>
                  <a:txBody>
                    <a:bodyPr/>
                    <a:lstStyle/>
                    <a:p>
                      <a:pPr algn="just"/>
                      <a:r>
                        <a:rPr lang="en-US" sz="1200" b="0" kern="1200">
                          <a:solidFill>
                            <a:schemeClr val="bg1"/>
                          </a:solidFill>
                          <a:latin typeface="Arial" panose="020B0604020202020204" pitchFamily="34" charset="0"/>
                          <a:cs typeface="Arial" panose="020B0604020202020204" pitchFamily="34" charset="0"/>
                        </a:rPr>
                        <a:t>Particulars</a:t>
                      </a:r>
                      <a:endParaRPr lang="en-US" sz="1200" b="0" kern="1200">
                        <a:solidFill>
                          <a:schemeClr val="bg1"/>
                        </a:solidFill>
                        <a:latin typeface="Arial" panose="020B0604020202020204" pitchFamily="34" charset="0"/>
                        <a:ea typeface="+mn-ea"/>
                        <a:cs typeface="Arial" panose="020B0604020202020204" pitchFamily="34" charset="0"/>
                      </a:endParaRPr>
                    </a:p>
                  </a:txBody>
                  <a:tcPr marT="45723" marB="45723" anchor="ctr">
                    <a:lnL w="12700" cmpd="sng">
                      <a:noFill/>
                    </a:lnL>
                    <a:lnR w="12700" cap="flat" cmpd="sng" algn="ctr">
                      <a:solidFill>
                        <a:schemeClr val="bg1"/>
                      </a:solidFill>
                      <a:prstDash val="solid"/>
                      <a:round/>
                      <a:headEnd type="none" w="med" len="med"/>
                      <a:tailEnd type="none" w="med" len="med"/>
                    </a:lnR>
                    <a:lnT w="19050" cap="flat" cmpd="sng" algn="ctr">
                      <a:noFill/>
                      <a:prstDash val="solid"/>
                    </a:lnT>
                    <a:lnB w="38100" cmpd="sng">
                      <a:noFill/>
                    </a:lnB>
                    <a:solidFill>
                      <a:schemeClr val="accent3"/>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b="0">
                          <a:solidFill>
                            <a:schemeClr val="bg1"/>
                          </a:solidFill>
                          <a:latin typeface="Arial" panose="020B0604020202020204" pitchFamily="34" charset="0"/>
                          <a:cs typeface="Arial" panose="020B0604020202020204" pitchFamily="34" charset="0"/>
                        </a:rPr>
                        <a:t>Details</a:t>
                      </a:r>
                    </a:p>
                  </a:txBody>
                  <a:tcPr marT="45723" marB="45723" anchor="ctr">
                    <a:lnL w="12700" cap="flat" cmpd="sng" algn="ctr">
                      <a:solidFill>
                        <a:schemeClr val="bg1"/>
                      </a:solidFill>
                      <a:prstDash val="solid"/>
                      <a:round/>
                      <a:headEnd type="none" w="med" len="med"/>
                      <a:tailEnd type="none" w="med" len="med"/>
                    </a:lnL>
                    <a:lnR w="12700" cmpd="sng">
                      <a:noFill/>
                    </a:lnR>
                    <a:lnT w="19050" cap="flat" cmpd="sng" algn="ctr">
                      <a:noFill/>
                      <a:prstDash val="solid"/>
                    </a:lnT>
                    <a:lnB w="38100" cmpd="sng">
                      <a:noFill/>
                    </a:lnB>
                    <a:solidFill>
                      <a:schemeClr val="accent3"/>
                    </a:solidFill>
                  </a:tcPr>
                </a:tc>
                <a:extLst>
                  <a:ext uri="{0D108BD9-81ED-4DB2-BD59-A6C34878D82A}">
                    <a16:rowId xmlns:a16="http://schemas.microsoft.com/office/drawing/2014/main" val="949417615"/>
                  </a:ext>
                </a:extLst>
              </a:tr>
              <a:tr h="528432">
                <a:tc>
                  <a:txBody>
                    <a:bodyPr/>
                    <a:lstStyle/>
                    <a:p>
                      <a:pPr algn="l"/>
                      <a:r>
                        <a:rPr lang="en-US" sz="1200" b="1" kern="1200">
                          <a:solidFill>
                            <a:schemeClr val="tx1"/>
                          </a:solidFill>
                          <a:latin typeface="Arial" panose="020B0604020202020204" pitchFamily="34" charset="0"/>
                          <a:cs typeface="Arial" panose="020B0604020202020204" pitchFamily="34" charset="0"/>
                        </a:rPr>
                        <a:t>Debt: Equity Ratio</a:t>
                      </a:r>
                      <a:endParaRPr lang="en-US" sz="12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38100" cmpd="sng">
                      <a:noFill/>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b="0" kern="1200">
                          <a:solidFill>
                            <a:schemeClr val="tx1"/>
                          </a:solidFill>
                          <a:latin typeface="Arial" panose="020B0604020202020204" pitchFamily="34" charset="0"/>
                          <a:cs typeface="Arial" panose="020B0604020202020204" pitchFamily="34" charset="0"/>
                        </a:rPr>
                        <a:t>75 : 25</a:t>
                      </a:r>
                      <a:endParaRPr lang="en-US" sz="1200">
                        <a:solidFill>
                          <a:schemeClr val="tx1"/>
                        </a:solidFill>
                        <a:latin typeface="Arial" panose="020B0604020202020204" pitchFamily="34" charset="0"/>
                        <a:cs typeface="Arial" panose="020B0604020202020204" pitchFamily="34" charset="0"/>
                      </a:endParaRPr>
                    </a:p>
                  </a:txBody>
                  <a:tcPr marT="45723" marB="45723" anchor="ctr">
                    <a:lnL w="12700" cap="flat" cmpd="sng" algn="ctr">
                      <a:solidFill>
                        <a:schemeClr val="bg1"/>
                      </a:solidFill>
                      <a:prstDash val="solid"/>
                      <a:round/>
                      <a:headEnd type="none" w="med" len="med"/>
                      <a:tailEnd type="none" w="med" len="med"/>
                    </a:lnL>
                    <a:lnR w="12700" cmpd="sng">
                      <a:noFill/>
                      <a:prstDash val="solid"/>
                    </a:lnR>
                    <a:lnT w="38100" cmpd="sng">
                      <a:noFill/>
                    </a:lnT>
                    <a:lnB w="9525" cap="flat" cmpd="sng" algn="ctr">
                      <a:solidFill>
                        <a:schemeClr val="tx1">
                          <a:lumMod val="50000"/>
                          <a:lumOff val="50000"/>
                        </a:schemeClr>
                      </a:solidFill>
                      <a:prstDash val="solid"/>
                    </a:lnB>
                    <a:solidFill>
                      <a:schemeClr val="bg1">
                        <a:lumMod val="95000"/>
                      </a:schemeClr>
                    </a:solidFill>
                  </a:tcPr>
                </a:tc>
                <a:extLst>
                  <a:ext uri="{0D108BD9-81ED-4DB2-BD59-A6C34878D82A}">
                    <a16:rowId xmlns:a16="http://schemas.microsoft.com/office/drawing/2014/main" val="4158972743"/>
                  </a:ext>
                </a:extLst>
              </a:tr>
              <a:tr h="528432">
                <a:tc>
                  <a:txBody>
                    <a:bodyPr/>
                    <a:lstStyle/>
                    <a:p>
                      <a:pPr algn="l"/>
                      <a:r>
                        <a:rPr lang="en-US" sz="1200" b="1" kern="1200">
                          <a:solidFill>
                            <a:schemeClr val="tx1"/>
                          </a:solidFill>
                          <a:latin typeface="Arial" panose="020B0604020202020204" pitchFamily="34" charset="0"/>
                          <a:cs typeface="Arial" panose="020B0604020202020204" pitchFamily="34" charset="0"/>
                        </a:rPr>
                        <a:t>Term Loan Period</a:t>
                      </a:r>
                      <a:endParaRPr lang="en-US" sz="12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a:solidFill>
                            <a:schemeClr val="tx1"/>
                          </a:solidFill>
                          <a:latin typeface="Arial" panose="020B0604020202020204" pitchFamily="34" charset="0"/>
                          <a:cs typeface="Arial" panose="020B0604020202020204" pitchFamily="34" charset="0"/>
                        </a:rPr>
                        <a:t>15 Years </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lnB>
                    <a:solidFill>
                      <a:schemeClr val="bg1">
                        <a:lumMod val="95000"/>
                      </a:schemeClr>
                    </a:solidFill>
                  </a:tcPr>
                </a:tc>
                <a:extLst>
                  <a:ext uri="{0D108BD9-81ED-4DB2-BD59-A6C34878D82A}">
                    <a16:rowId xmlns:a16="http://schemas.microsoft.com/office/drawing/2014/main" val="1476698230"/>
                  </a:ext>
                </a:extLst>
              </a:tr>
              <a:tr h="528432">
                <a:tc>
                  <a:txBody>
                    <a:bodyPr/>
                    <a:lstStyle/>
                    <a:p>
                      <a:pPr algn="l"/>
                      <a:r>
                        <a:rPr lang="en-US" sz="1200" b="1" kern="1200">
                          <a:solidFill>
                            <a:schemeClr val="tx1"/>
                          </a:solidFill>
                          <a:latin typeface="Arial" panose="020B0604020202020204" pitchFamily="34" charset="0"/>
                          <a:ea typeface="+mn-ea"/>
                          <a:cs typeface="Arial" panose="020B0604020202020204" pitchFamily="34" charset="0"/>
                        </a:rPr>
                        <a:t>Annual O&amp;M Cost (for electromechanical equipments)</a:t>
                      </a: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a:solidFill>
                            <a:schemeClr val="tx1"/>
                          </a:solidFill>
                          <a:latin typeface="Arial" panose="020B0604020202020204" pitchFamily="34" charset="0"/>
                          <a:cs typeface="Arial" panose="020B0604020202020204" pitchFamily="34" charset="0"/>
                        </a:rPr>
                        <a:t>2% of project cost</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30506799"/>
                  </a:ext>
                </a:extLst>
              </a:tr>
              <a:tr h="528432">
                <a:tc>
                  <a:txBody>
                    <a:bodyPr/>
                    <a:lstStyle/>
                    <a:p>
                      <a:pPr algn="l"/>
                      <a:r>
                        <a:rPr lang="en-US" sz="1200" b="1" kern="1200">
                          <a:solidFill>
                            <a:schemeClr val="tx1"/>
                          </a:solidFill>
                          <a:latin typeface="Arial" panose="020B0604020202020204" pitchFamily="34" charset="0"/>
                          <a:ea typeface="+mn-ea"/>
                          <a:cs typeface="Arial" panose="020B0604020202020204" pitchFamily="34" charset="0"/>
                        </a:rPr>
                        <a:t>Annual O&amp;M Cost (for civil works)</a:t>
                      </a: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a:solidFill>
                            <a:schemeClr val="tx1"/>
                          </a:solidFill>
                          <a:latin typeface="Arial" panose="020B0604020202020204" pitchFamily="34" charset="0"/>
                          <a:cs typeface="Arial" panose="020B0604020202020204" pitchFamily="34" charset="0"/>
                        </a:rPr>
                        <a:t>1% of project cost</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32755330"/>
                  </a:ext>
                </a:extLst>
              </a:tr>
              <a:tr h="52843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a:solidFill>
                            <a:schemeClr val="tx1"/>
                          </a:solidFill>
                          <a:latin typeface="Arial" panose="020B0604020202020204" pitchFamily="34" charset="0"/>
                          <a:cs typeface="Arial" panose="020B0604020202020204" pitchFamily="34" charset="0"/>
                        </a:rPr>
                        <a:t>Office Running Costs</a:t>
                      </a:r>
                      <a:endParaRPr lang="en-US" sz="12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a:solidFill>
                            <a:schemeClr val="tx1"/>
                          </a:solidFill>
                          <a:latin typeface="Arial" panose="020B0604020202020204" pitchFamily="34" charset="0"/>
                          <a:cs typeface="Arial" panose="020B0604020202020204" pitchFamily="34" charset="0"/>
                        </a:rPr>
                        <a:t>0.1% of project cost </a:t>
                      </a:r>
                      <a:r>
                        <a:rPr lang="en-US" sz="1200" b="0" kern="1200">
                          <a:solidFill>
                            <a:schemeClr val="tx1"/>
                          </a:solidFill>
                          <a:latin typeface="Arial" panose="020B0604020202020204" pitchFamily="34" charset="0"/>
                          <a:cs typeface="Arial" panose="020B0604020202020204" pitchFamily="34" charset="0"/>
                        </a:rPr>
                        <a:t>(expenses in water bills, telephone,  furniture, office equipments, etc.)</a:t>
                      </a:r>
                      <a:endParaRPr lang="en-US" sz="1200" b="0" i="0" kern="1200">
                        <a:solidFill>
                          <a:schemeClr val="tx1"/>
                        </a:solidFill>
                        <a:latin typeface="Arial" panose="020B0604020202020204" pitchFamily="34" charset="0"/>
                        <a:ea typeface="+mn-ea"/>
                        <a:cs typeface="Arial" panose="020B0604020202020204" pitchFamily="34" charset="0"/>
                      </a:endParaRP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03684929"/>
                  </a:ext>
                </a:extLst>
              </a:tr>
              <a:tr h="52843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a:solidFill>
                            <a:schemeClr val="tx1"/>
                          </a:solidFill>
                          <a:latin typeface="Arial" panose="020B0604020202020204" pitchFamily="34" charset="0"/>
                          <a:cs typeface="Arial" panose="020B0604020202020204" pitchFamily="34" charset="0"/>
                        </a:rPr>
                        <a:t>Insurance</a:t>
                      </a:r>
                      <a:endParaRPr lang="en-US" sz="1200" b="1" kern="1200">
                        <a:solidFill>
                          <a:schemeClr val="tx1"/>
                        </a:solidFill>
                        <a:latin typeface="Arial" panose="020B0604020202020204" pitchFamily="34" charset="0"/>
                        <a:ea typeface="+mn-ea"/>
                        <a:cs typeface="Arial" panose="020B0604020202020204" pitchFamily="34" charset="0"/>
                      </a:endParaRP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1200" b="0" kern="1200">
                          <a:solidFill>
                            <a:schemeClr val="tx1"/>
                          </a:solidFill>
                          <a:latin typeface="Arial" panose="020B0604020202020204" pitchFamily="34" charset="0"/>
                          <a:cs typeface="Arial" panose="020B0604020202020204" pitchFamily="34" charset="0"/>
                        </a:rPr>
                        <a:t>0.25% of project cost</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lnB>
                    <a:solidFill>
                      <a:schemeClr val="bg1">
                        <a:lumMod val="95000"/>
                      </a:schemeClr>
                    </a:solidFill>
                  </a:tcPr>
                </a:tc>
                <a:extLst>
                  <a:ext uri="{0D108BD9-81ED-4DB2-BD59-A6C34878D82A}">
                    <a16:rowId xmlns:a16="http://schemas.microsoft.com/office/drawing/2014/main" val="3752744334"/>
                  </a:ext>
                </a:extLst>
              </a:tr>
              <a:tr h="528432">
                <a:tc>
                  <a:txBody>
                    <a:bodyPr/>
                    <a:lstStyle/>
                    <a:p>
                      <a:pPr algn="l"/>
                      <a:r>
                        <a:rPr lang="en-US" sz="1200" b="1" kern="1200">
                          <a:solidFill>
                            <a:schemeClr val="tx1"/>
                          </a:solidFill>
                          <a:latin typeface="Arial" panose="020B0604020202020204" pitchFamily="34" charset="0"/>
                          <a:ea typeface="+mn-ea"/>
                          <a:cs typeface="Arial" panose="020B0604020202020204" pitchFamily="34" charset="0"/>
                        </a:rPr>
                        <a:t>Annual Depreciation</a:t>
                      </a:r>
                    </a:p>
                  </a:txBody>
                  <a:tcPr marT="45723" marB="45723" anchor="ctr">
                    <a:lnL w="12700" cmpd="sng">
                      <a:noFill/>
                      <a:prstDash val="solid"/>
                    </a:lnL>
                    <a:lnR w="1270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olid"/>
                      <a:round/>
                      <a:headEnd type="none" w="med" len="med"/>
                      <a:tailEnd type="none" w="med" len="me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lvl="0" indent="0">
                        <a:lnSpc>
                          <a:spcPct val="100000"/>
                        </a:lnSpc>
                        <a:spcAft>
                          <a:spcPts val="0"/>
                        </a:spcAft>
                        <a:buFont typeface="Wingdings" panose="05000000000000000000" pitchFamily="2" charset="2"/>
                        <a:buNone/>
                      </a:pPr>
                      <a:r>
                        <a:rPr lang="en-US" sz="1200" kern="1200">
                          <a:solidFill>
                            <a:schemeClr val="tx1"/>
                          </a:solidFill>
                          <a:latin typeface="Arial" panose="020B0604020202020204" pitchFamily="34" charset="0"/>
                          <a:ea typeface="+mn-ea"/>
                          <a:cs typeface="Arial" panose="020B0604020202020204" pitchFamily="34" charset="0"/>
                        </a:rPr>
                        <a:t>3.7% for all the civil structures, electromechanical equipment and transmission line components</a:t>
                      </a:r>
                    </a:p>
                  </a:txBody>
                  <a:tcPr marT="45723" marB="45723" anchor="ctr">
                    <a:lnL w="12700" cap="flat" cmpd="sng" algn="ctr">
                      <a:solidFill>
                        <a:schemeClr val="bg1"/>
                      </a:solidFill>
                      <a:prstDash val="solid"/>
                      <a:round/>
                      <a:headEnd type="none" w="med" len="med"/>
                      <a:tailEnd type="none" w="med" len="med"/>
                    </a:lnL>
                    <a:lnR w="12700" cmpd="sng">
                      <a:noFill/>
                      <a:prstDash val="solid"/>
                    </a:lnR>
                    <a:lnT w="9525" cap="flat" cmpd="sng" algn="ctr">
                      <a:solidFill>
                        <a:schemeClr val="tx1">
                          <a:lumMod val="50000"/>
                          <a:lumOff val="50000"/>
                        </a:schemeClr>
                      </a:solidFill>
                      <a:prstDash val="solid"/>
                    </a:lnT>
                    <a:lnB w="952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31671184"/>
                  </a:ext>
                </a:extLst>
              </a:tr>
            </a:tbl>
          </a:graphicData>
        </a:graphic>
      </p:graphicFrame>
      <p:sp>
        <p:nvSpPr>
          <p:cNvPr id="9" name="TextBox 8">
            <a:extLst>
              <a:ext uri="{FF2B5EF4-FFF2-40B4-BE49-F238E27FC236}">
                <a16:creationId xmlns:a16="http://schemas.microsoft.com/office/drawing/2014/main" id="{14EB5568-996B-2328-7CC3-208464FAD900}"/>
              </a:ext>
            </a:extLst>
          </p:cNvPr>
          <p:cNvSpPr txBox="1"/>
          <p:nvPr/>
        </p:nvSpPr>
        <p:spPr>
          <a:xfrm>
            <a:off x="501651" y="6540499"/>
            <a:ext cx="3536093" cy="161583"/>
          </a:xfrm>
          <a:prstGeom prst="rect">
            <a:avLst/>
          </a:prstGeom>
          <a:noFill/>
        </p:spPr>
        <p:txBody>
          <a:bodyPr wrap="square" lIns="0" tIns="0" rIns="0" bIns="0" rtlCol="0">
            <a:spAutoFit/>
          </a:bodyPr>
          <a:lstStyle/>
          <a:p>
            <a:pPr marL="0" marR="0" lvl="0" indent="0" defTabSz="914400" rtl="0" eaLnBrk="1" fontAlgn="auto" latinLnBrk="0" hangingPunct="1">
              <a:lnSpc>
                <a:spcPct val="100000"/>
              </a:lnSpc>
              <a:spcBef>
                <a:spcPts val="600"/>
              </a:spcBef>
              <a:spcAft>
                <a:spcPts val="0"/>
              </a:spcAft>
              <a:buClrTx/>
              <a:buSzPct val="100000"/>
              <a:buFontTx/>
              <a:buNone/>
              <a:tabLst/>
              <a:defRPr/>
            </a:pPr>
            <a:r>
              <a:rPr kumimoji="0" lang="en-IN" sz="105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Source</a:t>
            </a:r>
            <a:r>
              <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 </a:t>
            </a:r>
            <a:r>
              <a:rPr kumimoji="0" lang="en-US"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Detailed Project Report – Executive Summary</a:t>
            </a:r>
            <a:endParaRPr kumimoji="0" lang="en-IN" sz="105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1616621"/>
      </p:ext>
    </p:extLst>
  </p:cSld>
  <p:clrMapOvr>
    <a:masterClrMapping/>
  </p:clrMapOvr>
  <p:transition>
    <p:fade/>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Summary of Stakeholder Consultations…1/3</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Deloitte team had conducted visit to Nepal and had consultations with key stakeholders</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Rectangle: Rounded Corners 11">
            <a:extLst>
              <a:ext uri="{FF2B5EF4-FFF2-40B4-BE49-F238E27FC236}">
                <a16:creationId xmlns:a16="http://schemas.microsoft.com/office/drawing/2014/main" id="{0F5052CD-72D6-F30F-74F4-EE0C571A6593}"/>
              </a:ext>
            </a:extLst>
          </p:cNvPr>
          <p:cNvSpPr/>
          <p:nvPr/>
        </p:nvSpPr>
        <p:spPr bwMode="gray">
          <a:xfrm>
            <a:off x="514884" y="952757"/>
            <a:ext cx="6227439" cy="334100"/>
          </a:xfrm>
          <a:prstGeom prst="roundRect">
            <a:avLst>
              <a:gd name="adj" fmla="val 0"/>
            </a:avLst>
          </a:prstGeom>
          <a:solidFill>
            <a:schemeClr val="accent1">
              <a:lumMod val="20000"/>
              <a:lumOff val="80000"/>
            </a:schemeClr>
          </a:solidFill>
          <a:ln w="12700">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just">
              <a:lnSpc>
                <a:spcPct val="106000"/>
              </a:lnSpc>
              <a:buFont typeface="Wingdings 2" pitchFamily="18" charset="2"/>
              <a:buNone/>
            </a:pPr>
            <a:r>
              <a:rPr lang="en-US" sz="1200" b="1">
                <a:solidFill>
                  <a:schemeClr val="tx1"/>
                </a:solidFill>
                <a:latin typeface="Arial" panose="020B0604020202020204" pitchFamily="34" charset="0"/>
                <a:cs typeface="Arial" panose="020B0604020202020204" pitchFamily="34" charset="0"/>
              </a:rPr>
              <a:t>Discussions with NEA</a:t>
            </a:r>
          </a:p>
        </p:txBody>
      </p:sp>
      <p:graphicFrame>
        <p:nvGraphicFramePr>
          <p:cNvPr id="5" name="Table 4">
            <a:extLst>
              <a:ext uri="{FF2B5EF4-FFF2-40B4-BE49-F238E27FC236}">
                <a16:creationId xmlns:a16="http://schemas.microsoft.com/office/drawing/2014/main" id="{14386100-D564-349A-ACEC-DAE37FADF39A}"/>
              </a:ext>
            </a:extLst>
          </p:cNvPr>
          <p:cNvGraphicFramePr>
            <a:graphicFrameLocks noGrp="1"/>
          </p:cNvGraphicFramePr>
          <p:nvPr>
            <p:extLst>
              <p:ext uri="{D42A27DB-BD31-4B8C-83A1-F6EECF244321}">
                <p14:modId xmlns:p14="http://schemas.microsoft.com/office/powerpoint/2010/main" val="2572674153"/>
              </p:ext>
            </p:extLst>
          </p:nvPr>
        </p:nvGraphicFramePr>
        <p:xfrm>
          <a:off x="514884" y="1326733"/>
          <a:ext cx="11195559" cy="3108960"/>
        </p:xfrm>
        <a:graphic>
          <a:graphicData uri="http://schemas.openxmlformats.org/drawingml/2006/table">
            <a:tbl>
              <a:tblPr firstRow="1" bandRow="1">
                <a:tableStyleId>{5C22544A-7EE6-4342-B048-85BDC9FD1C3A}</a:tableStyleId>
              </a:tblPr>
              <a:tblGrid>
                <a:gridCol w="3539323">
                  <a:extLst>
                    <a:ext uri="{9D8B030D-6E8A-4147-A177-3AD203B41FA5}">
                      <a16:colId xmlns:a16="http://schemas.microsoft.com/office/drawing/2014/main" val="2960904114"/>
                    </a:ext>
                  </a:extLst>
                </a:gridCol>
                <a:gridCol w="5236938">
                  <a:extLst>
                    <a:ext uri="{9D8B030D-6E8A-4147-A177-3AD203B41FA5}">
                      <a16:colId xmlns:a16="http://schemas.microsoft.com/office/drawing/2014/main" val="3220740883"/>
                    </a:ext>
                  </a:extLst>
                </a:gridCol>
                <a:gridCol w="2419298">
                  <a:extLst>
                    <a:ext uri="{9D8B030D-6E8A-4147-A177-3AD203B41FA5}">
                      <a16:colId xmlns:a16="http://schemas.microsoft.com/office/drawing/2014/main" val="1352675947"/>
                    </a:ext>
                  </a:extLst>
                </a:gridCol>
              </a:tblGrid>
              <a:tr h="252699">
                <a:tc>
                  <a:txBody>
                    <a:bodyPr/>
                    <a:lstStyle/>
                    <a:p>
                      <a:r>
                        <a:rPr lang="en-US" sz="1200" b="0">
                          <a:latin typeface="Arial" panose="020B0604020202020204" pitchFamily="34" charset="0"/>
                          <a:cs typeface="Arial" panose="020B0604020202020204" pitchFamily="34" charset="0"/>
                        </a:rPr>
                        <a:t>Queries </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r>
                        <a:rPr lang="en-US" sz="1200" b="0">
                          <a:latin typeface="Arial" panose="020B0604020202020204" pitchFamily="34" charset="0"/>
                          <a:cs typeface="Arial" panose="020B0604020202020204" pitchFamily="34" charset="0"/>
                        </a:rPr>
                        <a:t>Response</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r>
                        <a:rPr lang="en-US" sz="1200" b="0">
                          <a:latin typeface="Arial" panose="020B0604020202020204" pitchFamily="34" charset="0"/>
                          <a:cs typeface="Arial" panose="020B0604020202020204" pitchFamily="34" charset="0"/>
                        </a:rPr>
                        <a:t>Remarks / Implications</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extLst>
                  <a:ext uri="{0D108BD9-81ED-4DB2-BD59-A6C34878D82A}">
                    <a16:rowId xmlns:a16="http://schemas.microsoft.com/office/drawing/2014/main" val="2137204588"/>
                  </a:ext>
                </a:extLst>
              </a:tr>
              <a:tr h="2779689">
                <a:tc>
                  <a:txBody>
                    <a:bodyPr/>
                    <a:lstStyle/>
                    <a:p>
                      <a:r>
                        <a:rPr lang="en-US" sz="1200">
                          <a:latin typeface="Arial" panose="020B0604020202020204" pitchFamily="34" charset="0"/>
                          <a:cs typeface="Arial" panose="020B0604020202020204" pitchFamily="34" charset="0"/>
                        </a:rPr>
                        <a:t>We understand the 70 MW has been contracted by NEA as per PPA. Has there been any discussion with them for assistance in sale of remaining 30 MW through IEX?</a:t>
                      </a:r>
                    </a:p>
                    <a:p>
                      <a:endParaRPr lang="en-US" sz="1200">
                        <a:latin typeface="Arial" panose="020B0604020202020204" pitchFamily="34" charset="0"/>
                        <a:cs typeface="Arial" panose="020B0604020202020204" pitchFamily="34" charset="0"/>
                      </a:endParaRPr>
                    </a:p>
                    <a:p>
                      <a:r>
                        <a:rPr lang="en-US" sz="1200">
                          <a:latin typeface="Arial" panose="020B0604020202020204" pitchFamily="34" charset="0"/>
                          <a:cs typeface="Arial" panose="020B0604020202020204" pitchFamily="34" charset="0"/>
                        </a:rPr>
                        <a:t>In the event that CBET (Cross Border Electricity Trade) clearance faces delays or challenges, would NEA be willing to consider scheduling the 30 MW uncontracted capacity domestically as an interim measure?</a:t>
                      </a:r>
                    </a:p>
                    <a:p>
                      <a:endParaRPr lang="en-US" sz="1200">
                        <a:latin typeface="Arial" panose="020B0604020202020204" pitchFamily="34" charset="0"/>
                        <a:cs typeface="Arial" panose="020B0604020202020204" pitchFamily="34" charset="0"/>
                      </a:endParaRPr>
                    </a:p>
                    <a:p>
                      <a:r>
                        <a:rPr lang="en-US" sz="1200">
                          <a:latin typeface="Arial" panose="020B0604020202020204" pitchFamily="34" charset="0"/>
                          <a:cs typeface="Arial" panose="020B0604020202020204" pitchFamily="34" charset="0"/>
                        </a:rPr>
                        <a:t>Is there sufficient transmission capacity to offtake 100 MW from the planned tranmsission lines?</a:t>
                      </a:r>
                    </a:p>
                    <a:p>
                      <a:endParaRPr lang="en-US" sz="1200">
                        <a:latin typeface="Arial" panose="020B0604020202020204" pitchFamily="34" charset="0"/>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r>
                        <a:rPr lang="en-US" sz="1200" b="1">
                          <a:latin typeface="Arial" panose="020B0604020202020204" pitchFamily="34" charset="0"/>
                          <a:cs typeface="Arial" panose="020B0604020202020204" pitchFamily="34" charset="0"/>
                        </a:rPr>
                        <a:t>Currently 70 MW is structured as Take or Pay and 30 MW is structured as Take and Pay</a:t>
                      </a:r>
                      <a:r>
                        <a:rPr lang="en-US" sz="1200">
                          <a:latin typeface="Arial" panose="020B0604020202020204" pitchFamily="34" charset="0"/>
                          <a:cs typeface="Arial" panose="020B0604020202020204" pitchFamily="34" charset="0"/>
                        </a:rPr>
                        <a:t>. For the 30 MW portfolio, if NEA buys it will be pay as per the PPA rates. In the existing policy scenario, following are the possible options </a:t>
                      </a:r>
                    </a:p>
                    <a:p>
                      <a:r>
                        <a:rPr lang="en-US" sz="1200" b="1">
                          <a:latin typeface="Arial" panose="020B0604020202020204" pitchFamily="34" charset="0"/>
                          <a:cs typeface="Arial" panose="020B0604020202020204" pitchFamily="34" charset="0"/>
                        </a:rPr>
                        <a:t>Domestic Sale -</a:t>
                      </a:r>
                      <a:r>
                        <a:rPr lang="en-US" sz="1200">
                          <a:latin typeface="Arial" panose="020B0604020202020204" pitchFamily="34" charset="0"/>
                          <a:cs typeface="Arial" panose="020B0604020202020204" pitchFamily="34" charset="0"/>
                        </a:rPr>
                        <a:t> 30 MW is only possible during the wet season. But, if there is domestic requirement, NEA will buy as per PPA rates. However, if NEA is having domestic wet season surplus , then there will be an option of power exports.  </a:t>
                      </a:r>
                    </a:p>
                    <a:p>
                      <a:r>
                        <a:rPr lang="en-US" sz="1200" b="1">
                          <a:latin typeface="Arial" panose="020B0604020202020204" pitchFamily="34" charset="0"/>
                          <a:cs typeface="Arial" panose="020B0604020202020204" pitchFamily="34" charset="0"/>
                        </a:rPr>
                        <a:t>Power Exports </a:t>
                      </a:r>
                      <a:r>
                        <a:rPr lang="en-US" sz="1200">
                          <a:latin typeface="Arial" panose="020B0604020202020204" pitchFamily="34" charset="0"/>
                          <a:cs typeface="Arial" panose="020B0604020202020204" pitchFamily="34" charset="0"/>
                        </a:rPr>
                        <a:t>- Currently NEA is the only agency who undertakes import/export. In case, NEA sells power from the project (if approved by the GOI), NEA will compensate the project as per PPA rates and not on the actual off-take rate in the export market. </a:t>
                      </a:r>
                    </a:p>
                    <a:p>
                      <a:r>
                        <a:rPr lang="en-US" sz="1200">
                          <a:latin typeface="Arial" panose="020B0604020202020204" pitchFamily="34" charset="0"/>
                          <a:cs typeface="Arial" panose="020B0604020202020204" pitchFamily="34" charset="0"/>
                        </a:rPr>
                        <a:t>As per the PPA first Amendment, during the wet season, NEA is obligated to buy only 90% of the availability and the remaining will be reserve margin. NEA will not pay for the reserve margin in case not purchased. </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r>
                        <a:rPr lang="en-US" sz="1200">
                          <a:latin typeface="Arial" panose="020B0604020202020204" pitchFamily="34" charset="0"/>
                          <a:cs typeface="Arial" panose="020B0604020202020204" pitchFamily="34" charset="0"/>
                        </a:rPr>
                        <a:t>Probability of Sale of excess power via cross border mechanism during wet season is subject to availability of domestic wet season surplus for NEA. </a:t>
                      </a:r>
                    </a:p>
                    <a:p>
                      <a:r>
                        <a:rPr lang="en-US" sz="1200">
                          <a:latin typeface="Arial" panose="020B0604020202020204" pitchFamily="34" charset="0"/>
                          <a:cs typeface="Arial" panose="020B0604020202020204" pitchFamily="34" charset="0"/>
                        </a:rPr>
                        <a:t>In case, NEA is opting for the CBET, the developer will be paid only the PPA Rates which results in no benefits for the project developer even if there is power export in the CBET mode, but it assures revenue recovery in PPA Tariff.</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2805324750"/>
                  </a:ext>
                </a:extLst>
              </a:tr>
            </a:tbl>
          </a:graphicData>
        </a:graphic>
      </p:graphicFrame>
      <p:graphicFrame>
        <p:nvGraphicFramePr>
          <p:cNvPr id="7" name="Table 6">
            <a:extLst>
              <a:ext uri="{FF2B5EF4-FFF2-40B4-BE49-F238E27FC236}">
                <a16:creationId xmlns:a16="http://schemas.microsoft.com/office/drawing/2014/main" id="{BAD09FA7-FAC1-832D-8D79-D6A0B91737BD}"/>
              </a:ext>
            </a:extLst>
          </p:cNvPr>
          <p:cNvGraphicFramePr>
            <a:graphicFrameLocks noGrp="1"/>
          </p:cNvGraphicFramePr>
          <p:nvPr>
            <p:extLst>
              <p:ext uri="{D42A27DB-BD31-4B8C-83A1-F6EECF244321}">
                <p14:modId xmlns:p14="http://schemas.microsoft.com/office/powerpoint/2010/main" val="1827970455"/>
              </p:ext>
            </p:extLst>
          </p:nvPr>
        </p:nvGraphicFramePr>
        <p:xfrm>
          <a:off x="478039" y="4920522"/>
          <a:ext cx="11232403" cy="1828800"/>
        </p:xfrm>
        <a:graphic>
          <a:graphicData uri="http://schemas.openxmlformats.org/drawingml/2006/table">
            <a:tbl>
              <a:tblPr firstRow="1" bandRow="1">
                <a:tableStyleId>{5C22544A-7EE6-4342-B048-85BDC9FD1C3A}</a:tableStyleId>
              </a:tblPr>
              <a:tblGrid>
                <a:gridCol w="3883881">
                  <a:extLst>
                    <a:ext uri="{9D8B030D-6E8A-4147-A177-3AD203B41FA5}">
                      <a16:colId xmlns:a16="http://schemas.microsoft.com/office/drawing/2014/main" val="2960904114"/>
                    </a:ext>
                  </a:extLst>
                </a:gridCol>
                <a:gridCol w="4898570">
                  <a:extLst>
                    <a:ext uri="{9D8B030D-6E8A-4147-A177-3AD203B41FA5}">
                      <a16:colId xmlns:a16="http://schemas.microsoft.com/office/drawing/2014/main" val="3220740883"/>
                    </a:ext>
                  </a:extLst>
                </a:gridCol>
                <a:gridCol w="2449952">
                  <a:extLst>
                    <a:ext uri="{9D8B030D-6E8A-4147-A177-3AD203B41FA5}">
                      <a16:colId xmlns:a16="http://schemas.microsoft.com/office/drawing/2014/main" val="1352675947"/>
                    </a:ext>
                  </a:extLst>
                </a:gridCol>
              </a:tblGrid>
              <a:tr h="246208">
                <a:tc>
                  <a:txBody>
                    <a:bodyPr/>
                    <a:lstStyle/>
                    <a:p>
                      <a:r>
                        <a:rPr lang="en-US" sz="1200" b="0">
                          <a:latin typeface="Arial" panose="020B0604020202020204" pitchFamily="34" charset="0"/>
                          <a:cs typeface="Arial" panose="020B0604020202020204" pitchFamily="34" charset="0"/>
                        </a:rPr>
                        <a:t>Queries </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r>
                        <a:rPr lang="en-US" sz="1200" b="0">
                          <a:latin typeface="Arial" panose="020B0604020202020204" pitchFamily="34" charset="0"/>
                          <a:cs typeface="Arial" panose="020B0604020202020204" pitchFamily="34" charset="0"/>
                        </a:rPr>
                        <a:t>Response</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r>
                        <a:rPr lang="en-US" sz="1200" b="0">
                          <a:latin typeface="Arial" panose="020B0604020202020204" pitchFamily="34" charset="0"/>
                          <a:cs typeface="Arial" panose="020B0604020202020204" pitchFamily="34" charset="0"/>
                        </a:rPr>
                        <a:t>Remarks / Implications</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extLst>
                  <a:ext uri="{0D108BD9-81ED-4DB2-BD59-A6C34878D82A}">
                    <a16:rowId xmlns:a16="http://schemas.microsoft.com/office/drawing/2014/main" val="2137204588"/>
                  </a:ext>
                </a:extLst>
              </a:tr>
              <a:tr h="1231041">
                <a:tc>
                  <a:txBody>
                    <a:bodyPr/>
                    <a:lstStyle/>
                    <a:p>
                      <a:r>
                        <a:rPr lang="en-US" sz="1200">
                          <a:latin typeface="Arial" panose="020B0604020202020204" pitchFamily="34" charset="0"/>
                          <a:cs typeface="Arial" panose="020B0604020202020204" pitchFamily="34" charset="0"/>
                        </a:rPr>
                        <a:t>As per the Generation License, any alteration or change in the ownership structure of the organization requires prior approval from the Department of Electricity Development (DoED). </a:t>
                      </a:r>
                    </a:p>
                    <a:p>
                      <a:r>
                        <a:rPr lang="en-US" sz="1200">
                          <a:latin typeface="Arial" panose="020B0604020202020204" pitchFamily="34" charset="0"/>
                          <a:cs typeface="Arial" panose="020B0604020202020204" pitchFamily="34" charset="0"/>
                        </a:rPr>
                        <a:t>In this regard, please clarify the process for obtaining this approval, including any documentation requirements, timelines, and potential limitations that developers should be aware of?</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r>
                        <a:rPr lang="en-US" sz="1200">
                          <a:latin typeface="Arial" panose="020B0604020202020204" pitchFamily="34" charset="0"/>
                          <a:cs typeface="Arial" panose="020B0604020202020204" pitchFamily="34" charset="0"/>
                        </a:rPr>
                        <a:t>Since the Generation License includes the provision that mandates the </a:t>
                      </a:r>
                      <a:r>
                        <a:rPr lang="en-US" sz="1200" b="0" u="none">
                          <a:latin typeface="Arial" panose="020B0604020202020204" pitchFamily="34" charset="0"/>
                          <a:cs typeface="Arial" panose="020B0604020202020204" pitchFamily="34" charset="0"/>
                        </a:rPr>
                        <a:t>prior approval from the Department of Electricity Development (DoED), the same should be attained.</a:t>
                      </a:r>
                    </a:p>
                    <a:p>
                      <a:endParaRPr lang="en-US" sz="1200" b="0" u="none">
                        <a:latin typeface="Arial" panose="020B0604020202020204" pitchFamily="34" charset="0"/>
                        <a:cs typeface="Arial" panose="020B0604020202020204" pitchFamily="34" charset="0"/>
                      </a:endParaRPr>
                    </a:p>
                    <a:p>
                      <a:r>
                        <a:rPr lang="en-US" sz="1200" b="0" u="none">
                          <a:latin typeface="Arial" panose="020B0604020202020204" pitchFamily="34" charset="0"/>
                          <a:cs typeface="Arial" panose="020B0604020202020204" pitchFamily="34" charset="0"/>
                        </a:rPr>
                        <a:t>It requires submission of Net Worth certificate, attested by a CA. Approval process usually takes 1 week, if all documents are in order. There is no specified format.  </a:t>
                      </a:r>
                      <a:endParaRPr lang="en-US" sz="1200">
                        <a:latin typeface="Arial" panose="020B0604020202020204" pitchFamily="34" charset="0"/>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r>
                        <a:rPr lang="en-US" sz="1200">
                          <a:latin typeface="Arial" panose="020B0604020202020204" pitchFamily="34" charset="0"/>
                          <a:cs typeface="Arial" panose="020B0604020202020204" pitchFamily="34" charset="0"/>
                        </a:rPr>
                        <a:t>Needs to initiate the process  </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2805324750"/>
                  </a:ext>
                </a:extLst>
              </a:tr>
            </a:tbl>
          </a:graphicData>
        </a:graphic>
      </p:graphicFrame>
      <p:sp>
        <p:nvSpPr>
          <p:cNvPr id="9" name="Rectangle: Rounded Corners 8">
            <a:extLst>
              <a:ext uri="{FF2B5EF4-FFF2-40B4-BE49-F238E27FC236}">
                <a16:creationId xmlns:a16="http://schemas.microsoft.com/office/drawing/2014/main" id="{AA14C423-709B-52C4-BC33-F58B9A55443B}"/>
              </a:ext>
            </a:extLst>
          </p:cNvPr>
          <p:cNvSpPr/>
          <p:nvPr/>
        </p:nvSpPr>
        <p:spPr bwMode="gray">
          <a:xfrm>
            <a:off x="478039" y="4538737"/>
            <a:ext cx="6227439" cy="334100"/>
          </a:xfrm>
          <a:prstGeom prst="roundRect">
            <a:avLst>
              <a:gd name="adj" fmla="val 0"/>
            </a:avLst>
          </a:prstGeom>
          <a:solidFill>
            <a:schemeClr val="accent1">
              <a:lumMod val="20000"/>
              <a:lumOff val="80000"/>
            </a:schemeClr>
          </a:solidFill>
          <a:ln w="12700">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just">
              <a:lnSpc>
                <a:spcPct val="106000"/>
              </a:lnSpc>
              <a:buFont typeface="Wingdings 2" pitchFamily="18" charset="2"/>
              <a:buNone/>
            </a:pPr>
            <a:r>
              <a:rPr lang="en-US" sz="1200" b="1">
                <a:solidFill>
                  <a:schemeClr val="tx1"/>
                </a:solidFill>
                <a:latin typeface="Arial" panose="020B0604020202020204" pitchFamily="34" charset="0"/>
                <a:cs typeface="Arial" panose="020B0604020202020204" pitchFamily="34" charset="0"/>
              </a:rPr>
              <a:t>Discussions with DoED</a:t>
            </a:r>
          </a:p>
        </p:txBody>
      </p:sp>
    </p:spTree>
    <p:extLst>
      <p:ext uri="{BB962C8B-B14F-4D97-AF65-F5344CB8AC3E}">
        <p14:creationId xmlns:p14="http://schemas.microsoft.com/office/powerpoint/2010/main" val="2476892546"/>
      </p:ext>
    </p:extLst>
  </p:cSld>
  <p:clrMapOvr>
    <a:masterClrMapping/>
  </p:clrMapOvr>
  <p:transition>
    <p:fade/>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Summary of Stakeholder Consultations…2/3</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Deloitte team had conducted visit to Nepal and had consultations with key stakeholders</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Rectangle: Rounded Corners 11">
            <a:extLst>
              <a:ext uri="{FF2B5EF4-FFF2-40B4-BE49-F238E27FC236}">
                <a16:creationId xmlns:a16="http://schemas.microsoft.com/office/drawing/2014/main" id="{0F5052CD-72D6-F30F-74F4-EE0C571A6593}"/>
              </a:ext>
            </a:extLst>
          </p:cNvPr>
          <p:cNvSpPr/>
          <p:nvPr/>
        </p:nvSpPr>
        <p:spPr bwMode="gray">
          <a:xfrm>
            <a:off x="514884" y="952757"/>
            <a:ext cx="6227439" cy="334100"/>
          </a:xfrm>
          <a:prstGeom prst="roundRect">
            <a:avLst>
              <a:gd name="adj" fmla="val 0"/>
            </a:avLst>
          </a:prstGeom>
          <a:solidFill>
            <a:schemeClr val="accent1">
              <a:lumMod val="20000"/>
              <a:lumOff val="80000"/>
            </a:schemeClr>
          </a:solidFill>
          <a:ln w="12700">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just">
              <a:lnSpc>
                <a:spcPct val="106000"/>
              </a:lnSpc>
              <a:buFont typeface="Wingdings 2" pitchFamily="18" charset="2"/>
              <a:buNone/>
            </a:pPr>
            <a:r>
              <a:rPr lang="en-US" sz="1200" b="1">
                <a:solidFill>
                  <a:schemeClr val="tx1"/>
                </a:solidFill>
                <a:latin typeface="Arial" panose="020B0604020202020204" pitchFamily="34" charset="0"/>
                <a:cs typeface="Arial" panose="020B0604020202020204" pitchFamily="34" charset="0"/>
              </a:rPr>
              <a:t>Discussions with ERC</a:t>
            </a:r>
          </a:p>
        </p:txBody>
      </p:sp>
      <p:graphicFrame>
        <p:nvGraphicFramePr>
          <p:cNvPr id="5" name="Table 4">
            <a:extLst>
              <a:ext uri="{FF2B5EF4-FFF2-40B4-BE49-F238E27FC236}">
                <a16:creationId xmlns:a16="http://schemas.microsoft.com/office/drawing/2014/main" id="{14386100-D564-349A-ACEC-DAE37FADF39A}"/>
              </a:ext>
            </a:extLst>
          </p:cNvPr>
          <p:cNvGraphicFramePr>
            <a:graphicFrameLocks noGrp="1"/>
          </p:cNvGraphicFramePr>
          <p:nvPr>
            <p:extLst>
              <p:ext uri="{D42A27DB-BD31-4B8C-83A1-F6EECF244321}">
                <p14:modId xmlns:p14="http://schemas.microsoft.com/office/powerpoint/2010/main" val="1040681392"/>
              </p:ext>
            </p:extLst>
          </p:nvPr>
        </p:nvGraphicFramePr>
        <p:xfrm>
          <a:off x="514884" y="1326735"/>
          <a:ext cx="11195559" cy="3108960"/>
        </p:xfrm>
        <a:graphic>
          <a:graphicData uri="http://schemas.openxmlformats.org/drawingml/2006/table">
            <a:tbl>
              <a:tblPr firstRow="1" bandRow="1">
                <a:tableStyleId>{5C22544A-7EE6-4342-B048-85BDC9FD1C3A}</a:tableStyleId>
              </a:tblPr>
              <a:tblGrid>
                <a:gridCol w="3539323">
                  <a:extLst>
                    <a:ext uri="{9D8B030D-6E8A-4147-A177-3AD203B41FA5}">
                      <a16:colId xmlns:a16="http://schemas.microsoft.com/office/drawing/2014/main" val="2960904114"/>
                    </a:ext>
                  </a:extLst>
                </a:gridCol>
                <a:gridCol w="4979624">
                  <a:extLst>
                    <a:ext uri="{9D8B030D-6E8A-4147-A177-3AD203B41FA5}">
                      <a16:colId xmlns:a16="http://schemas.microsoft.com/office/drawing/2014/main" val="3220740883"/>
                    </a:ext>
                  </a:extLst>
                </a:gridCol>
                <a:gridCol w="2676612">
                  <a:extLst>
                    <a:ext uri="{9D8B030D-6E8A-4147-A177-3AD203B41FA5}">
                      <a16:colId xmlns:a16="http://schemas.microsoft.com/office/drawing/2014/main" val="1352675947"/>
                    </a:ext>
                  </a:extLst>
                </a:gridCol>
              </a:tblGrid>
              <a:tr h="251006">
                <a:tc>
                  <a:txBody>
                    <a:bodyPr/>
                    <a:lstStyle/>
                    <a:p>
                      <a:r>
                        <a:rPr lang="en-US" sz="1200" b="0">
                          <a:latin typeface="Arial" panose="020B0604020202020204" pitchFamily="34" charset="0"/>
                          <a:cs typeface="Arial" panose="020B0604020202020204" pitchFamily="34" charset="0"/>
                        </a:rPr>
                        <a:t>Queries </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r>
                        <a:rPr lang="en-US" sz="1200" b="0">
                          <a:latin typeface="Arial" panose="020B0604020202020204" pitchFamily="34" charset="0"/>
                          <a:cs typeface="Arial" panose="020B0604020202020204" pitchFamily="34" charset="0"/>
                        </a:rPr>
                        <a:t>Response</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r>
                        <a:rPr lang="en-US" sz="1200" b="0">
                          <a:latin typeface="Arial" panose="020B0604020202020204" pitchFamily="34" charset="0"/>
                          <a:cs typeface="Arial" panose="020B0604020202020204" pitchFamily="34" charset="0"/>
                        </a:rPr>
                        <a:t>Remarks / Implications</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extLst>
                  <a:ext uri="{0D108BD9-81ED-4DB2-BD59-A6C34878D82A}">
                    <a16:rowId xmlns:a16="http://schemas.microsoft.com/office/drawing/2014/main" val="2137204588"/>
                  </a:ext>
                </a:extLst>
              </a:tr>
              <a:tr h="543847">
                <a:tc>
                  <a:txBody>
                    <a:bodyPr/>
                    <a:lstStyle/>
                    <a:p>
                      <a:r>
                        <a:rPr lang="en-US" sz="1200" kern="1200">
                          <a:solidFill>
                            <a:schemeClr val="dk1"/>
                          </a:solidFill>
                          <a:latin typeface="Arial" panose="020B0604020202020204" pitchFamily="34" charset="0"/>
                          <a:ea typeface="+mn-ea"/>
                          <a:cs typeface="Arial" panose="020B0604020202020204" pitchFamily="34" charset="0"/>
                        </a:rPr>
                        <a:t>Please outline the Share Agreement approval process for hydropower projects, including key steps, involved authorities, and tentative timelines</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r>
                        <a:rPr lang="en-US" sz="1200" kern="1200">
                          <a:solidFill>
                            <a:schemeClr val="dk1"/>
                          </a:solidFill>
                          <a:latin typeface="Arial" panose="020B0604020202020204" pitchFamily="34" charset="0"/>
                          <a:ea typeface="+mn-ea"/>
                          <a:cs typeface="Arial" panose="020B0604020202020204" pitchFamily="34" charset="0"/>
                        </a:rPr>
                        <a:t>Prior approval from ERC is required for share transfer beyond 5%. The process usually takes 15 days. </a:t>
                      </a:r>
                    </a:p>
                    <a:p>
                      <a:endParaRPr lang="en-US" sz="1200" kern="1200">
                        <a:solidFill>
                          <a:schemeClr val="dk1"/>
                        </a:solidFill>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Needs to initiate the process  </a:t>
                      </a:r>
                    </a:p>
                    <a:p>
                      <a:endParaRPr lang="en-US" sz="1200">
                        <a:latin typeface="Arial" panose="020B0604020202020204" pitchFamily="34" charset="0"/>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2805324750"/>
                  </a:ext>
                </a:extLst>
              </a:tr>
              <a:tr h="1004025">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200" kern="1200">
                          <a:solidFill>
                            <a:schemeClr val="dk1"/>
                          </a:solidFill>
                          <a:latin typeface="Arial" panose="020B0604020202020204" pitchFamily="34" charset="0"/>
                          <a:ea typeface="+mn-ea"/>
                          <a:cs typeface="Arial" panose="020B0604020202020204" pitchFamily="34" charset="0"/>
                        </a:rPr>
                        <a:t>Please provide status on the introduction of electricity trading licenses in Nepal</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200" kern="1200">
                          <a:solidFill>
                            <a:schemeClr val="dk1"/>
                          </a:solidFill>
                          <a:latin typeface="Arial" panose="020B0604020202020204" pitchFamily="34" charset="0"/>
                          <a:ea typeface="+mn-ea"/>
                          <a:cs typeface="Arial" panose="020B0604020202020204" pitchFamily="34" charset="0"/>
                        </a:rPr>
                        <a:t>ERC has currently floated the draft Open Access directives for comments. It is kept open for 2 months. It may take another 4-6 months for approval. Trading licenses may be taken subsequently take it is very closely linked with Electricity Bill. Since trading is not a recognized licensing activity currently in Nepal, government may wait for the Electricity bill to recognize it and then take steps to operationalize the trading licenses. </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endParaRPr lang="en-US" sz="1200">
                        <a:latin typeface="Arial" panose="020B0604020202020204" pitchFamily="34" charset="0"/>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908496510"/>
                  </a:ext>
                </a:extLst>
              </a:tr>
              <a:tr h="697240">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200" kern="1200">
                          <a:solidFill>
                            <a:schemeClr val="dk1"/>
                          </a:solidFill>
                          <a:latin typeface="Arial" panose="020B0604020202020204" pitchFamily="34" charset="0"/>
                          <a:ea typeface="+mn-ea"/>
                          <a:cs typeface="Arial" panose="020B0604020202020204" pitchFamily="34" charset="0"/>
                        </a:rPr>
                        <a:t>We understand that the Draft Open Access Regulations have been published for Stakeholder comments. By when does the ERC expect for operationalizing of the same?</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200" kern="1200">
                          <a:solidFill>
                            <a:schemeClr val="dk1"/>
                          </a:solidFill>
                          <a:latin typeface="Arial" panose="020B0604020202020204" pitchFamily="34" charset="0"/>
                          <a:ea typeface="+mn-ea"/>
                          <a:cs typeface="Arial" panose="020B0604020202020204" pitchFamily="34" charset="0"/>
                        </a:rPr>
                        <a:t>4-6 months</a:t>
                      </a:r>
                    </a:p>
                    <a:p>
                      <a:endParaRPr lang="en-US" sz="1200" kern="1200">
                        <a:solidFill>
                          <a:schemeClr val="dk1"/>
                        </a:solidFill>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endParaRPr lang="en-US" sz="1200">
                        <a:latin typeface="Arial" panose="020B0604020202020204" pitchFamily="34" charset="0"/>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4063172710"/>
                  </a:ext>
                </a:extLst>
              </a:tr>
            </a:tbl>
          </a:graphicData>
        </a:graphic>
      </p:graphicFrame>
      <p:sp>
        <p:nvSpPr>
          <p:cNvPr id="3" name="Rectangle: Rounded Corners 2">
            <a:extLst>
              <a:ext uri="{FF2B5EF4-FFF2-40B4-BE49-F238E27FC236}">
                <a16:creationId xmlns:a16="http://schemas.microsoft.com/office/drawing/2014/main" id="{2BE1D3E0-B9ED-AF19-6894-5265AE911B16}"/>
              </a:ext>
            </a:extLst>
          </p:cNvPr>
          <p:cNvSpPr/>
          <p:nvPr/>
        </p:nvSpPr>
        <p:spPr bwMode="gray">
          <a:xfrm>
            <a:off x="514884" y="4517280"/>
            <a:ext cx="6227439" cy="334100"/>
          </a:xfrm>
          <a:prstGeom prst="roundRect">
            <a:avLst>
              <a:gd name="adj" fmla="val 0"/>
            </a:avLst>
          </a:prstGeom>
          <a:solidFill>
            <a:schemeClr val="accent1">
              <a:lumMod val="20000"/>
              <a:lumOff val="80000"/>
            </a:schemeClr>
          </a:solidFill>
          <a:ln w="12700">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just">
              <a:lnSpc>
                <a:spcPct val="106000"/>
              </a:lnSpc>
              <a:buFont typeface="Wingdings 2" pitchFamily="18" charset="2"/>
              <a:buNone/>
            </a:pPr>
            <a:r>
              <a:rPr lang="en-US" sz="1200" b="1">
                <a:solidFill>
                  <a:schemeClr val="tx1"/>
                </a:solidFill>
                <a:latin typeface="Arial" panose="020B0604020202020204" pitchFamily="34" charset="0"/>
                <a:cs typeface="Arial" panose="020B0604020202020204" pitchFamily="34" charset="0"/>
              </a:rPr>
              <a:t>Discussions with WECS</a:t>
            </a:r>
          </a:p>
        </p:txBody>
      </p:sp>
      <p:graphicFrame>
        <p:nvGraphicFramePr>
          <p:cNvPr id="4" name="Table 3">
            <a:extLst>
              <a:ext uri="{FF2B5EF4-FFF2-40B4-BE49-F238E27FC236}">
                <a16:creationId xmlns:a16="http://schemas.microsoft.com/office/drawing/2014/main" id="{BE792D21-2806-6DC8-5EC9-462EEE21EAD0}"/>
              </a:ext>
            </a:extLst>
          </p:cNvPr>
          <p:cNvGraphicFramePr>
            <a:graphicFrameLocks noGrp="1"/>
          </p:cNvGraphicFramePr>
          <p:nvPr>
            <p:extLst>
              <p:ext uri="{D42A27DB-BD31-4B8C-83A1-F6EECF244321}">
                <p14:modId xmlns:p14="http://schemas.microsoft.com/office/powerpoint/2010/main" val="3046708191"/>
              </p:ext>
            </p:extLst>
          </p:nvPr>
        </p:nvGraphicFramePr>
        <p:xfrm>
          <a:off x="501651" y="4932965"/>
          <a:ext cx="11195559" cy="1505361"/>
        </p:xfrm>
        <a:graphic>
          <a:graphicData uri="http://schemas.openxmlformats.org/drawingml/2006/table">
            <a:tbl>
              <a:tblPr firstRow="1" bandRow="1">
                <a:tableStyleId>{5C22544A-7EE6-4342-B048-85BDC9FD1C3A}</a:tableStyleId>
              </a:tblPr>
              <a:tblGrid>
                <a:gridCol w="3871141">
                  <a:extLst>
                    <a:ext uri="{9D8B030D-6E8A-4147-A177-3AD203B41FA5}">
                      <a16:colId xmlns:a16="http://schemas.microsoft.com/office/drawing/2014/main" val="2960904114"/>
                    </a:ext>
                  </a:extLst>
                </a:gridCol>
                <a:gridCol w="4655594">
                  <a:extLst>
                    <a:ext uri="{9D8B030D-6E8A-4147-A177-3AD203B41FA5}">
                      <a16:colId xmlns:a16="http://schemas.microsoft.com/office/drawing/2014/main" val="3220740883"/>
                    </a:ext>
                  </a:extLst>
                </a:gridCol>
                <a:gridCol w="2668824">
                  <a:extLst>
                    <a:ext uri="{9D8B030D-6E8A-4147-A177-3AD203B41FA5}">
                      <a16:colId xmlns:a16="http://schemas.microsoft.com/office/drawing/2014/main" val="1352675947"/>
                    </a:ext>
                  </a:extLst>
                </a:gridCol>
              </a:tblGrid>
              <a:tr h="246208">
                <a:tc>
                  <a:txBody>
                    <a:bodyPr/>
                    <a:lstStyle/>
                    <a:p>
                      <a:r>
                        <a:rPr lang="en-US" sz="1200" b="0">
                          <a:latin typeface="Arial" panose="020B0604020202020204" pitchFamily="34" charset="0"/>
                          <a:cs typeface="Arial" panose="020B0604020202020204" pitchFamily="34" charset="0"/>
                        </a:rPr>
                        <a:t>Queries </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r>
                        <a:rPr lang="en-US" sz="1200" b="0">
                          <a:latin typeface="Arial" panose="020B0604020202020204" pitchFamily="34" charset="0"/>
                          <a:cs typeface="Arial" panose="020B0604020202020204" pitchFamily="34" charset="0"/>
                        </a:rPr>
                        <a:t>Response</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r>
                        <a:rPr lang="en-US" sz="1200" b="0">
                          <a:latin typeface="Arial" panose="020B0604020202020204" pitchFamily="34" charset="0"/>
                          <a:cs typeface="Arial" panose="020B0604020202020204" pitchFamily="34" charset="0"/>
                        </a:rPr>
                        <a:t>Remarks / Implications</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extLst>
                  <a:ext uri="{0D108BD9-81ED-4DB2-BD59-A6C34878D82A}">
                    <a16:rowId xmlns:a16="http://schemas.microsoft.com/office/drawing/2014/main" val="2137204588"/>
                  </a:ext>
                </a:extLst>
              </a:tr>
              <a:tr h="1231041">
                <a:tc>
                  <a:txBody>
                    <a:bodyPr/>
                    <a:lstStyle/>
                    <a:p>
                      <a:r>
                        <a:rPr lang="en-US" sz="1200">
                          <a:latin typeface="Arial" panose="020B0604020202020204" pitchFamily="34" charset="0"/>
                          <a:cs typeface="Arial" panose="020B0604020202020204" pitchFamily="34" charset="0"/>
                        </a:rPr>
                        <a:t>Please share insights on the current Project Priority Matrix for hydropower development in Nepal?</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r>
                        <a:rPr lang="en-US" sz="1200">
                          <a:latin typeface="Arial" panose="020B0604020202020204" pitchFamily="34" charset="0"/>
                          <a:cs typeface="Arial" panose="020B0604020202020204" pitchFamily="34" charset="0"/>
                        </a:rPr>
                        <a:t>Very confidential document and not be released by the government. </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endParaRPr lang="en-US" sz="1200">
                        <a:latin typeface="Arial" panose="020B0604020202020204" pitchFamily="34" charset="0"/>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2805324750"/>
                  </a:ext>
                </a:extLst>
              </a:tr>
            </a:tbl>
          </a:graphicData>
        </a:graphic>
      </p:graphicFrame>
    </p:spTree>
    <p:extLst>
      <p:ext uri="{BB962C8B-B14F-4D97-AF65-F5344CB8AC3E}">
        <p14:creationId xmlns:p14="http://schemas.microsoft.com/office/powerpoint/2010/main" val="2094346140"/>
      </p:ext>
    </p:extLst>
  </p:cSld>
  <p:clrMapOvr>
    <a:masterClrMapping/>
  </p:clrMapOvr>
  <p:transition>
    <p:fade/>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Summary of Stakeholder Consultations…3/3</a:t>
            </a: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Deloitte team had conducted visit to Nepal and had consultations with key stakeholders</a:t>
            </a:r>
          </a:p>
        </p:txBody>
      </p:sp>
      <p:cxnSp>
        <p:nvCxnSpPr>
          <p:cNvPr id="8" name="Straight Connector 7">
            <a:extLst>
              <a:ext uri="{FF2B5EF4-FFF2-40B4-BE49-F238E27FC236}">
                <a16:creationId xmlns:a16="http://schemas.microsoft.com/office/drawing/2014/main" id="{081EBD2A-579A-0E4C-E34D-64B3F0D7E2CD}"/>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Rectangle: Rounded Corners 11">
            <a:extLst>
              <a:ext uri="{FF2B5EF4-FFF2-40B4-BE49-F238E27FC236}">
                <a16:creationId xmlns:a16="http://schemas.microsoft.com/office/drawing/2014/main" id="{0F5052CD-72D6-F30F-74F4-EE0C571A6593}"/>
              </a:ext>
            </a:extLst>
          </p:cNvPr>
          <p:cNvSpPr/>
          <p:nvPr/>
        </p:nvSpPr>
        <p:spPr bwMode="gray">
          <a:xfrm>
            <a:off x="514884" y="952757"/>
            <a:ext cx="6227439" cy="334100"/>
          </a:xfrm>
          <a:prstGeom prst="roundRect">
            <a:avLst>
              <a:gd name="adj" fmla="val 0"/>
            </a:avLst>
          </a:prstGeom>
          <a:solidFill>
            <a:schemeClr val="accent1">
              <a:lumMod val="20000"/>
              <a:lumOff val="80000"/>
            </a:schemeClr>
          </a:solidFill>
          <a:ln w="12700">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just">
              <a:lnSpc>
                <a:spcPct val="106000"/>
              </a:lnSpc>
              <a:buFont typeface="Wingdings 2" pitchFamily="18" charset="2"/>
              <a:buNone/>
            </a:pPr>
            <a:r>
              <a:rPr lang="en-US" sz="1200" b="1">
                <a:solidFill>
                  <a:schemeClr val="tx1"/>
                </a:solidFill>
                <a:latin typeface="Arial" panose="020B0604020202020204" pitchFamily="34" charset="0"/>
                <a:cs typeface="Arial" panose="020B0604020202020204" pitchFamily="34" charset="0"/>
              </a:rPr>
              <a:t>Discussions with IPPAN</a:t>
            </a:r>
          </a:p>
        </p:txBody>
      </p:sp>
      <p:graphicFrame>
        <p:nvGraphicFramePr>
          <p:cNvPr id="5" name="Table 4">
            <a:extLst>
              <a:ext uri="{FF2B5EF4-FFF2-40B4-BE49-F238E27FC236}">
                <a16:creationId xmlns:a16="http://schemas.microsoft.com/office/drawing/2014/main" id="{14386100-D564-349A-ACEC-DAE37FADF39A}"/>
              </a:ext>
            </a:extLst>
          </p:cNvPr>
          <p:cNvGraphicFramePr>
            <a:graphicFrameLocks noGrp="1"/>
          </p:cNvGraphicFramePr>
          <p:nvPr>
            <p:extLst>
              <p:ext uri="{D42A27DB-BD31-4B8C-83A1-F6EECF244321}">
                <p14:modId xmlns:p14="http://schemas.microsoft.com/office/powerpoint/2010/main" val="3335009749"/>
              </p:ext>
            </p:extLst>
          </p:nvPr>
        </p:nvGraphicFramePr>
        <p:xfrm>
          <a:off x="514884" y="1326735"/>
          <a:ext cx="11195559" cy="4937760"/>
        </p:xfrm>
        <a:graphic>
          <a:graphicData uri="http://schemas.openxmlformats.org/drawingml/2006/table">
            <a:tbl>
              <a:tblPr firstRow="1" bandRow="1">
                <a:tableStyleId>{5C22544A-7EE6-4342-B048-85BDC9FD1C3A}</a:tableStyleId>
              </a:tblPr>
              <a:tblGrid>
                <a:gridCol w="3539323">
                  <a:extLst>
                    <a:ext uri="{9D8B030D-6E8A-4147-A177-3AD203B41FA5}">
                      <a16:colId xmlns:a16="http://schemas.microsoft.com/office/drawing/2014/main" val="2960904114"/>
                    </a:ext>
                  </a:extLst>
                </a:gridCol>
                <a:gridCol w="4979624">
                  <a:extLst>
                    <a:ext uri="{9D8B030D-6E8A-4147-A177-3AD203B41FA5}">
                      <a16:colId xmlns:a16="http://schemas.microsoft.com/office/drawing/2014/main" val="3220740883"/>
                    </a:ext>
                  </a:extLst>
                </a:gridCol>
                <a:gridCol w="2676612">
                  <a:extLst>
                    <a:ext uri="{9D8B030D-6E8A-4147-A177-3AD203B41FA5}">
                      <a16:colId xmlns:a16="http://schemas.microsoft.com/office/drawing/2014/main" val="1352675947"/>
                    </a:ext>
                  </a:extLst>
                </a:gridCol>
              </a:tblGrid>
              <a:tr h="251006">
                <a:tc>
                  <a:txBody>
                    <a:bodyPr/>
                    <a:lstStyle/>
                    <a:p>
                      <a:r>
                        <a:rPr lang="en-US" sz="1200" b="0">
                          <a:latin typeface="Arial" panose="020B0604020202020204" pitchFamily="34" charset="0"/>
                          <a:cs typeface="Arial" panose="020B0604020202020204" pitchFamily="34" charset="0"/>
                        </a:rPr>
                        <a:t>Queries </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r>
                        <a:rPr lang="en-US" sz="1200" b="0">
                          <a:latin typeface="Arial" panose="020B0604020202020204" pitchFamily="34" charset="0"/>
                          <a:cs typeface="Arial" panose="020B0604020202020204" pitchFamily="34" charset="0"/>
                        </a:rPr>
                        <a:t>Response</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r>
                        <a:rPr lang="en-US" sz="1200" b="0">
                          <a:latin typeface="Arial" panose="020B0604020202020204" pitchFamily="34" charset="0"/>
                          <a:cs typeface="Arial" panose="020B0604020202020204" pitchFamily="34" charset="0"/>
                        </a:rPr>
                        <a:t>Remarks / Implications</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extLst>
                  <a:ext uri="{0D108BD9-81ED-4DB2-BD59-A6C34878D82A}">
                    <a16:rowId xmlns:a16="http://schemas.microsoft.com/office/drawing/2014/main" val="2137204588"/>
                  </a:ext>
                </a:extLst>
              </a:tr>
              <a:tr h="543847">
                <a:tc>
                  <a:txBody>
                    <a:bodyPr/>
                    <a:lstStyle/>
                    <a:p>
                      <a:r>
                        <a:rPr lang="en-US" sz="1200" kern="1200">
                          <a:solidFill>
                            <a:schemeClr val="dk1"/>
                          </a:solidFill>
                          <a:latin typeface="Arial" panose="020B0604020202020204" pitchFamily="34" charset="0"/>
                          <a:ea typeface="+mn-ea"/>
                          <a:cs typeface="Arial" panose="020B0604020202020204" pitchFamily="34" charset="0"/>
                        </a:rPr>
                        <a:t>Please provide your views on  NEA’s payment consistency to IPPs</a:t>
                      </a:r>
                    </a:p>
                    <a:p>
                      <a:endParaRPr lang="en-US" sz="1200" kern="1200">
                        <a:solidFill>
                          <a:schemeClr val="dk1"/>
                        </a:solidFill>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r>
                        <a:rPr lang="en-US" sz="1200" kern="1200">
                          <a:solidFill>
                            <a:schemeClr val="dk1"/>
                          </a:solidFill>
                          <a:latin typeface="Arial" panose="020B0604020202020204" pitchFamily="34" charset="0"/>
                          <a:ea typeface="+mn-ea"/>
                          <a:cs typeface="Arial" panose="020B0604020202020204" pitchFamily="34" charset="0"/>
                        </a:rPr>
                        <a:t>NEA is very consistent with payment and is usually done with 45 days. As per IPPAN, there hasn’t been any event of default by NEA</a:t>
                      </a:r>
                    </a:p>
                    <a:p>
                      <a:endParaRPr lang="en-US" sz="1200" kern="1200">
                        <a:solidFill>
                          <a:schemeClr val="dk1"/>
                        </a:solidFill>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r>
                        <a:rPr lang="en-US" sz="1200">
                          <a:latin typeface="Arial" panose="020B0604020202020204" pitchFamily="34" charset="0"/>
                          <a:cs typeface="Arial" panose="020B0604020202020204" pitchFamily="34" charset="0"/>
                        </a:rPr>
                        <a:t>There is no risk envisaged </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2805324750"/>
                  </a:ext>
                </a:extLst>
              </a:tr>
              <a:tr h="1004025">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200" kern="1200">
                          <a:solidFill>
                            <a:schemeClr val="dk1"/>
                          </a:solidFill>
                          <a:latin typeface="Arial" panose="020B0604020202020204" pitchFamily="34" charset="0"/>
                          <a:ea typeface="+mn-ea"/>
                          <a:cs typeface="Arial" panose="020B0604020202020204" pitchFamily="34" charset="0"/>
                        </a:rPr>
                        <a:t>Are there any issues in extension of RCOD by NEA? If yes, then what are the remedies that IPPAN is pursuing with authorities? Are there any specific issues which NEA is not accepting for RCOD extension?</a:t>
                      </a:r>
                    </a:p>
                    <a:p>
                      <a:pPr marL="0" marR="0" lvl="0" indent="0" algn="l" defTabSz="914335" rtl="0" eaLnBrk="1" fontAlgn="auto" latinLnBrk="0" hangingPunct="1">
                        <a:lnSpc>
                          <a:spcPct val="100000"/>
                        </a:lnSpc>
                        <a:spcBef>
                          <a:spcPts val="0"/>
                        </a:spcBef>
                        <a:spcAft>
                          <a:spcPts val="0"/>
                        </a:spcAft>
                        <a:buClrTx/>
                        <a:buSzTx/>
                        <a:buFontTx/>
                        <a:buNone/>
                        <a:tabLst/>
                        <a:defRPr/>
                      </a:pPr>
                      <a:endParaRPr lang="en-US" sz="1200" kern="1200">
                        <a:solidFill>
                          <a:schemeClr val="dk1"/>
                        </a:solidFill>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200" kern="1200">
                          <a:solidFill>
                            <a:schemeClr val="dk1"/>
                          </a:solidFill>
                          <a:latin typeface="Arial" panose="020B0604020202020204" pitchFamily="34" charset="0"/>
                          <a:ea typeface="+mn-ea"/>
                          <a:cs typeface="Arial" panose="020B0604020202020204" pitchFamily="34" charset="0"/>
                        </a:rPr>
                        <a:t>RCOD extension has been provided to generating companies (IPPs) once due to COVID.</a:t>
                      </a:r>
                    </a:p>
                    <a:p>
                      <a:pPr marL="0" marR="0" lvl="0" indent="0" algn="l" defTabSz="914335" rtl="0" eaLnBrk="1" fontAlgn="auto" latinLnBrk="0" hangingPunct="1">
                        <a:lnSpc>
                          <a:spcPct val="100000"/>
                        </a:lnSpc>
                        <a:spcBef>
                          <a:spcPts val="0"/>
                        </a:spcBef>
                        <a:spcAft>
                          <a:spcPts val="0"/>
                        </a:spcAft>
                        <a:buClrTx/>
                        <a:buSzTx/>
                        <a:buFontTx/>
                        <a:buNone/>
                        <a:tabLst/>
                        <a:defRPr/>
                      </a:pPr>
                      <a:r>
                        <a:rPr lang="en-US" sz="1200" kern="1200">
                          <a:solidFill>
                            <a:schemeClr val="dk1"/>
                          </a:solidFill>
                          <a:latin typeface="Arial" panose="020B0604020202020204" pitchFamily="34" charset="0"/>
                          <a:ea typeface="+mn-ea"/>
                          <a:cs typeface="Arial" panose="020B0604020202020204" pitchFamily="34" charset="0"/>
                        </a:rPr>
                        <a:t>Any RCOD extension will be done by NEA, only due to two reasons:</a:t>
                      </a:r>
                    </a:p>
                    <a:p>
                      <a:pPr marL="0" marR="0" lvl="0" indent="0" algn="l" defTabSz="914335" rtl="0" eaLnBrk="1" fontAlgn="auto" latinLnBrk="0" hangingPunct="1">
                        <a:lnSpc>
                          <a:spcPct val="100000"/>
                        </a:lnSpc>
                        <a:spcBef>
                          <a:spcPts val="0"/>
                        </a:spcBef>
                        <a:spcAft>
                          <a:spcPts val="0"/>
                        </a:spcAft>
                        <a:buClrTx/>
                        <a:buSzTx/>
                        <a:buFontTx/>
                        <a:buNone/>
                        <a:tabLst/>
                        <a:defRPr/>
                      </a:pPr>
                      <a:endParaRPr lang="en-US" sz="1200" kern="1200">
                        <a:solidFill>
                          <a:schemeClr val="dk1"/>
                        </a:solidFill>
                        <a:latin typeface="Arial" panose="020B0604020202020204" pitchFamily="34" charset="0"/>
                        <a:ea typeface="+mn-ea"/>
                        <a:cs typeface="Arial" panose="020B0604020202020204" pitchFamily="34" charset="0"/>
                      </a:endParaRPr>
                    </a:p>
                    <a:p>
                      <a:pPr marL="228600" marR="0" lvl="0" indent="-228600" algn="l" defTabSz="914335" rtl="0" eaLnBrk="1" fontAlgn="auto" latinLnBrk="0" hangingPunct="1">
                        <a:lnSpc>
                          <a:spcPct val="100000"/>
                        </a:lnSpc>
                        <a:spcBef>
                          <a:spcPts val="0"/>
                        </a:spcBef>
                        <a:spcAft>
                          <a:spcPts val="0"/>
                        </a:spcAft>
                        <a:buClrTx/>
                        <a:buSzTx/>
                        <a:buFontTx/>
                        <a:buAutoNum type="arabicPeriod"/>
                        <a:tabLst/>
                        <a:defRPr/>
                      </a:pPr>
                      <a:r>
                        <a:rPr lang="en-US" sz="1200" kern="1200">
                          <a:solidFill>
                            <a:schemeClr val="dk1"/>
                          </a:solidFill>
                          <a:latin typeface="Arial" panose="020B0604020202020204" pitchFamily="34" charset="0"/>
                          <a:ea typeface="+mn-ea"/>
                          <a:cs typeface="Arial" panose="020B0604020202020204" pitchFamily="34" charset="0"/>
                        </a:rPr>
                        <a:t>Force Majeure - As specified under PPA</a:t>
                      </a:r>
                    </a:p>
                    <a:p>
                      <a:pPr marL="228600" marR="0" lvl="0" indent="-228600" algn="l" defTabSz="914335" rtl="0" eaLnBrk="1" fontAlgn="auto" latinLnBrk="0" hangingPunct="1">
                        <a:lnSpc>
                          <a:spcPct val="100000"/>
                        </a:lnSpc>
                        <a:spcBef>
                          <a:spcPts val="0"/>
                        </a:spcBef>
                        <a:spcAft>
                          <a:spcPts val="0"/>
                        </a:spcAft>
                        <a:buClrTx/>
                        <a:buSzTx/>
                        <a:buFontTx/>
                        <a:buAutoNum type="arabicPeriod"/>
                        <a:tabLst/>
                        <a:defRPr/>
                      </a:pPr>
                      <a:r>
                        <a:rPr lang="en-US" sz="1200" kern="1200">
                          <a:solidFill>
                            <a:schemeClr val="dk1"/>
                          </a:solidFill>
                          <a:latin typeface="Arial" panose="020B0604020202020204" pitchFamily="34" charset="0"/>
                          <a:ea typeface="+mn-ea"/>
                          <a:cs typeface="Arial" panose="020B0604020202020204" pitchFamily="34" charset="0"/>
                        </a:rPr>
                        <a:t>NEA's non-fulfilment of its obligations like delay in transmission infrastructure. </a:t>
                      </a:r>
                    </a:p>
                    <a:p>
                      <a:pPr marL="0" marR="0" lvl="0" indent="0" algn="l" defTabSz="914335" rtl="0" eaLnBrk="1" fontAlgn="auto" latinLnBrk="0" hangingPunct="1">
                        <a:lnSpc>
                          <a:spcPct val="100000"/>
                        </a:lnSpc>
                        <a:spcBef>
                          <a:spcPts val="0"/>
                        </a:spcBef>
                        <a:spcAft>
                          <a:spcPts val="0"/>
                        </a:spcAft>
                        <a:buClrTx/>
                        <a:buSzTx/>
                        <a:buFontTx/>
                        <a:buNone/>
                        <a:tabLst/>
                        <a:defRPr/>
                      </a:pPr>
                      <a:endParaRPr lang="en-US" sz="1200" kern="1200">
                        <a:solidFill>
                          <a:schemeClr val="dk1"/>
                        </a:solidFill>
                        <a:latin typeface="Arial" panose="020B0604020202020204" pitchFamily="34" charset="0"/>
                        <a:ea typeface="+mn-ea"/>
                        <a:cs typeface="Arial" panose="020B0604020202020204" pitchFamily="34" charset="0"/>
                      </a:endParaRPr>
                    </a:p>
                    <a:p>
                      <a:pPr marL="0" marR="0" lvl="0" indent="0" algn="l" defTabSz="914335" rtl="0" eaLnBrk="1" fontAlgn="auto" latinLnBrk="0" hangingPunct="1">
                        <a:lnSpc>
                          <a:spcPct val="100000"/>
                        </a:lnSpc>
                        <a:spcBef>
                          <a:spcPts val="0"/>
                        </a:spcBef>
                        <a:spcAft>
                          <a:spcPts val="0"/>
                        </a:spcAft>
                        <a:buClrTx/>
                        <a:buSzTx/>
                        <a:buFontTx/>
                        <a:buNone/>
                        <a:tabLst/>
                        <a:defRPr/>
                      </a:pPr>
                      <a:r>
                        <a:rPr lang="en-US" sz="1200" kern="1200">
                          <a:solidFill>
                            <a:schemeClr val="dk1"/>
                          </a:solidFill>
                          <a:latin typeface="Arial" panose="020B0604020202020204" pitchFamily="34" charset="0"/>
                          <a:ea typeface="+mn-ea"/>
                          <a:cs typeface="Arial" panose="020B0604020202020204" pitchFamily="34" charset="0"/>
                        </a:rPr>
                        <a:t>Applications are usually submitted to NEA 2-3 months before the RCOD. As per discussion with Breeze, they mentioned that the project was impacted by flood and the study of impact has been conducted by them. RCOD extension on account of flood will have to meet the following criteria – “</a:t>
                      </a:r>
                      <a:r>
                        <a:rPr lang="en-US" sz="1200" i="1" kern="1200">
                          <a:solidFill>
                            <a:schemeClr val="dk1"/>
                          </a:solidFill>
                          <a:latin typeface="Arial" panose="020B0604020202020204" pitchFamily="34" charset="0"/>
                          <a:ea typeface="+mn-ea"/>
                          <a:cs typeface="Arial" panose="020B0604020202020204" pitchFamily="34" charset="0"/>
                        </a:rPr>
                        <a:t>in excess of the one-hundred-year Design Flood Discharge mentioned in Schedule 1</a:t>
                      </a:r>
                      <a:r>
                        <a:rPr lang="en-US" sz="1200" kern="1200">
                          <a:solidFill>
                            <a:schemeClr val="dk1"/>
                          </a:solidFill>
                          <a:latin typeface="Arial" panose="020B0604020202020204" pitchFamily="34" charset="0"/>
                          <a:ea typeface="+mn-ea"/>
                          <a:cs typeface="Arial" panose="020B0604020202020204" pitchFamily="34" charset="0"/>
                        </a:rPr>
                        <a:t>"</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r>
                        <a:rPr lang="en-US" sz="1200">
                          <a:latin typeface="Arial" panose="020B0604020202020204" pitchFamily="34" charset="0"/>
                          <a:cs typeface="Arial" panose="020B0604020202020204" pitchFamily="34" charset="0"/>
                        </a:rPr>
                        <a:t>This needs action from Breeze to submit the application to NEA for RCOD extension.</a:t>
                      </a: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908496510"/>
                  </a:ext>
                </a:extLst>
              </a:tr>
              <a:tr h="697240">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200" kern="1200">
                          <a:solidFill>
                            <a:schemeClr val="dk1"/>
                          </a:solidFill>
                          <a:latin typeface="Arial" panose="020B0604020202020204" pitchFamily="34" charset="0"/>
                          <a:ea typeface="+mn-ea"/>
                          <a:cs typeface="Arial" panose="020B0604020202020204" pitchFamily="34" charset="0"/>
                        </a:rPr>
                        <a:t>Can IPPAN shed light on the issue of handover of projects to NEA which have completed their lifespan? What does original condition clause entail when the process of handover is initiated? Are there any discussions in NEA/DOED/Ministry on this issue and possible solutions?</a:t>
                      </a:r>
                    </a:p>
                    <a:p>
                      <a:pPr marL="0" marR="0" lvl="0" indent="0" algn="l" defTabSz="914335" rtl="0" eaLnBrk="1" fontAlgn="auto" latinLnBrk="0" hangingPunct="1">
                        <a:lnSpc>
                          <a:spcPct val="100000"/>
                        </a:lnSpc>
                        <a:spcBef>
                          <a:spcPts val="0"/>
                        </a:spcBef>
                        <a:spcAft>
                          <a:spcPts val="0"/>
                        </a:spcAft>
                        <a:buClrTx/>
                        <a:buSzTx/>
                        <a:buFontTx/>
                        <a:buNone/>
                        <a:tabLst/>
                        <a:defRPr/>
                      </a:pPr>
                      <a:endParaRPr lang="en-US" sz="1200" kern="1200">
                        <a:solidFill>
                          <a:schemeClr val="dk1"/>
                        </a:solidFill>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200" kern="1200">
                          <a:solidFill>
                            <a:schemeClr val="dk1"/>
                          </a:solidFill>
                          <a:latin typeface="Arial" panose="020B0604020202020204" pitchFamily="34" charset="0"/>
                          <a:ea typeface="+mn-ea"/>
                          <a:cs typeface="Arial" panose="020B0604020202020204" pitchFamily="34" charset="0"/>
                        </a:rPr>
                        <a:t>Handover is usually considered under "good working condition". </a:t>
                      </a:r>
                    </a:p>
                    <a:p>
                      <a:endParaRPr lang="en-US" sz="1200" kern="1200">
                        <a:solidFill>
                          <a:schemeClr val="dk1"/>
                        </a:solidFill>
                        <a:latin typeface="Arial" panose="020B0604020202020204" pitchFamily="34" charset="0"/>
                        <a:ea typeface="+mn-ea"/>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tc>
                  <a:txBody>
                    <a:bodyPr/>
                    <a:lstStyle/>
                    <a:p>
                      <a:pPr marL="0" marR="0" lvl="0" indent="0" algn="l" defTabSz="914335" rtl="0" eaLnBrk="1" fontAlgn="auto" latinLnBrk="0" hangingPunct="1">
                        <a:lnSpc>
                          <a:spcPct val="100000"/>
                        </a:lnSpc>
                        <a:spcBef>
                          <a:spcPts val="0"/>
                        </a:spcBef>
                        <a:spcAft>
                          <a:spcPts val="0"/>
                        </a:spcAft>
                        <a:buClrTx/>
                        <a:buSzTx/>
                        <a:buFontTx/>
                        <a:buNone/>
                        <a:tabLst/>
                        <a:defRPr/>
                      </a:pPr>
                      <a:r>
                        <a:rPr lang="en-US" sz="1200">
                          <a:latin typeface="Arial" panose="020B0604020202020204" pitchFamily="34" charset="0"/>
                          <a:cs typeface="Arial" panose="020B0604020202020204" pitchFamily="34" charset="0"/>
                        </a:rPr>
                        <a:t>Currently, there is no risk envisaged </a:t>
                      </a:r>
                    </a:p>
                    <a:p>
                      <a:endParaRPr lang="en-US" sz="1200">
                        <a:latin typeface="Arial" panose="020B0604020202020204" pitchFamily="34" charset="0"/>
                        <a:cs typeface="Arial" panose="020B0604020202020204" pitchFamily="34" charset="0"/>
                      </a:endParaRPr>
                    </a:p>
                  </a:txBody>
                  <a:tcPr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4063172710"/>
                  </a:ext>
                </a:extLst>
              </a:tr>
            </a:tbl>
          </a:graphicData>
        </a:graphic>
      </p:graphicFrame>
    </p:spTree>
    <p:extLst>
      <p:ext uri="{BB962C8B-B14F-4D97-AF65-F5344CB8AC3E}">
        <p14:creationId xmlns:p14="http://schemas.microsoft.com/office/powerpoint/2010/main" val="2288168153"/>
      </p:ext>
    </p:extLst>
  </p:cSld>
  <p:clrMapOvr>
    <a:masterClrMapping/>
  </p:clrMapOvr>
  <p:transition>
    <p:fade/>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List of IPPs involved in Cross Border Electricity Trade (CBET)…1/2</a:t>
            </a:r>
            <a:endParaRPr lang="en-GB" sz="1800" b="1">
              <a:latin typeface="Arial" panose="020B0604020202020204" pitchFamily="34" charset="0"/>
              <a:cs typeface="Arial" panose="020B0604020202020204" pitchFamily="34" charset="0"/>
            </a:endParaRPr>
          </a:p>
        </p:txBody>
      </p:sp>
      <p:sp>
        <p:nvSpPr>
          <p:cNvPr id="2" name="Text Placeholder 1"/>
          <p:cNvSpPr>
            <a:spLocks noGrp="1"/>
          </p:cNvSpPr>
          <p:nvPr>
            <p:ph type="body" sz="quarter" idx="13"/>
          </p:nvPr>
        </p:nvSpPr>
        <p:spPr>
          <a:xfrm>
            <a:off x="514884" y="651708"/>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List of projects approved by Central Electricity Authority, India for CBET</a:t>
            </a:r>
          </a:p>
        </p:txBody>
      </p:sp>
      <p:sp>
        <p:nvSpPr>
          <p:cNvPr id="7" name="TextBox 6">
            <a:extLst>
              <a:ext uri="{FF2B5EF4-FFF2-40B4-BE49-F238E27FC236}">
                <a16:creationId xmlns:a16="http://schemas.microsoft.com/office/drawing/2014/main" id="{2CF3648E-06F6-D8F7-7558-18341459079A}"/>
              </a:ext>
            </a:extLst>
          </p:cNvPr>
          <p:cNvSpPr txBox="1"/>
          <p:nvPr/>
        </p:nvSpPr>
        <p:spPr>
          <a:xfrm>
            <a:off x="501651" y="6463555"/>
            <a:ext cx="11272888" cy="153888"/>
          </a:xfrm>
          <a:prstGeom prst="rect">
            <a:avLst/>
          </a:prstGeom>
          <a:noFill/>
        </p:spPr>
        <p:txBody>
          <a:bodyPr wrap="square" lIns="0" tIns="0" rIns="0" bIns="0" rtlCol="0">
            <a:spAutoFit/>
          </a:bodyPr>
          <a:lstStyle/>
          <a:p>
            <a:pPr>
              <a:spcBef>
                <a:spcPts val="600"/>
              </a:spcBef>
              <a:buSzPct val="100000"/>
            </a:pPr>
            <a:r>
              <a:rPr lang="en-IN" sz="1000">
                <a:solidFill>
                  <a:srgbClr val="313131"/>
                </a:solidFill>
                <a:latin typeface="Arial" panose="020B0604020202020204" pitchFamily="34" charset="0"/>
                <a:cs typeface="Arial" panose="020B0604020202020204" pitchFamily="34" charset="0"/>
              </a:rPr>
              <a:t>Source: </a:t>
            </a:r>
            <a:r>
              <a:rPr lang="en-IN" sz="1000">
                <a:solidFill>
                  <a:srgbClr val="313131"/>
                </a:solidFill>
                <a:latin typeface="Arial" panose="020B0604020202020204" pitchFamily="34" charset="0"/>
                <a:cs typeface="Arial" panose="020B0604020202020204" pitchFamily="34" charset="0"/>
                <a:hlinkClick r:id="rId6"/>
              </a:rPr>
              <a:t>CEA</a:t>
            </a:r>
            <a:r>
              <a:rPr lang="en-IN" sz="1000">
                <a:solidFill>
                  <a:srgbClr val="313131"/>
                </a:solidFill>
                <a:latin typeface="Arial" panose="020B0604020202020204" pitchFamily="34" charset="0"/>
                <a:cs typeface="Arial" panose="020B0604020202020204" pitchFamily="34" charset="0"/>
              </a:rPr>
              <a:t>   </a:t>
            </a:r>
          </a:p>
        </p:txBody>
      </p:sp>
      <p:graphicFrame>
        <p:nvGraphicFramePr>
          <p:cNvPr id="3" name="Table 2">
            <a:extLst>
              <a:ext uri="{FF2B5EF4-FFF2-40B4-BE49-F238E27FC236}">
                <a16:creationId xmlns:a16="http://schemas.microsoft.com/office/drawing/2014/main" id="{0D719E25-14F9-E4C2-8117-CE5D34534708}"/>
              </a:ext>
            </a:extLst>
          </p:cNvPr>
          <p:cNvGraphicFramePr>
            <a:graphicFrameLocks noGrp="1"/>
          </p:cNvGraphicFramePr>
          <p:nvPr>
            <p:extLst>
              <p:ext uri="{D42A27DB-BD31-4B8C-83A1-F6EECF244321}">
                <p14:modId xmlns:p14="http://schemas.microsoft.com/office/powerpoint/2010/main" val="1613086769"/>
              </p:ext>
            </p:extLst>
          </p:nvPr>
        </p:nvGraphicFramePr>
        <p:xfrm>
          <a:off x="531713" y="1170391"/>
          <a:ext cx="11188699" cy="4657572"/>
        </p:xfrm>
        <a:graphic>
          <a:graphicData uri="http://schemas.openxmlformats.org/drawingml/2006/table">
            <a:tbl>
              <a:tblPr>
                <a:tableStyleId>{3B4B98B0-60AC-42C2-AFA5-B58CD77FA1E5}</a:tableStyleId>
              </a:tblPr>
              <a:tblGrid>
                <a:gridCol w="665566">
                  <a:extLst>
                    <a:ext uri="{9D8B030D-6E8A-4147-A177-3AD203B41FA5}">
                      <a16:colId xmlns:a16="http://schemas.microsoft.com/office/drawing/2014/main" val="3071374873"/>
                    </a:ext>
                  </a:extLst>
                </a:gridCol>
                <a:gridCol w="3074982">
                  <a:extLst>
                    <a:ext uri="{9D8B030D-6E8A-4147-A177-3AD203B41FA5}">
                      <a16:colId xmlns:a16="http://schemas.microsoft.com/office/drawing/2014/main" val="1893327031"/>
                    </a:ext>
                  </a:extLst>
                </a:gridCol>
                <a:gridCol w="1571876">
                  <a:extLst>
                    <a:ext uri="{9D8B030D-6E8A-4147-A177-3AD203B41FA5}">
                      <a16:colId xmlns:a16="http://schemas.microsoft.com/office/drawing/2014/main" val="3002502649"/>
                    </a:ext>
                  </a:extLst>
                </a:gridCol>
                <a:gridCol w="1571876">
                  <a:extLst>
                    <a:ext uri="{9D8B030D-6E8A-4147-A177-3AD203B41FA5}">
                      <a16:colId xmlns:a16="http://schemas.microsoft.com/office/drawing/2014/main" val="4093770840"/>
                    </a:ext>
                  </a:extLst>
                </a:gridCol>
                <a:gridCol w="2355616">
                  <a:extLst>
                    <a:ext uri="{9D8B030D-6E8A-4147-A177-3AD203B41FA5}">
                      <a16:colId xmlns:a16="http://schemas.microsoft.com/office/drawing/2014/main" val="831367296"/>
                    </a:ext>
                  </a:extLst>
                </a:gridCol>
                <a:gridCol w="1948783">
                  <a:extLst>
                    <a:ext uri="{9D8B030D-6E8A-4147-A177-3AD203B41FA5}">
                      <a16:colId xmlns:a16="http://schemas.microsoft.com/office/drawing/2014/main" val="4066447592"/>
                    </a:ext>
                  </a:extLst>
                </a:gridCol>
              </a:tblGrid>
              <a:tr h="388131">
                <a:tc>
                  <a:txBody>
                    <a:bodyPr/>
                    <a:lstStyle/>
                    <a:p>
                      <a:pPr algn="ctr" fontAlgn="ctr"/>
                      <a:r>
                        <a:rPr lang="en-IN" sz="1200" b="1" u="none" strike="noStrike">
                          <a:solidFill>
                            <a:schemeClr val="bg1"/>
                          </a:solidFill>
                          <a:effectLst/>
                          <a:latin typeface="Arial" panose="020B0604020202020204" pitchFamily="34" charset="0"/>
                          <a:cs typeface="Arial" panose="020B0604020202020204" pitchFamily="34" charset="0"/>
                        </a:rPr>
                        <a:t>Sl. No.</a:t>
                      </a:r>
                      <a:endParaRPr lang="en-IN" sz="12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1" u="none" strike="noStrike">
                          <a:solidFill>
                            <a:schemeClr val="bg1"/>
                          </a:solidFill>
                          <a:effectLst/>
                          <a:latin typeface="Arial" panose="020B0604020202020204" pitchFamily="34" charset="0"/>
                          <a:cs typeface="Arial" panose="020B0604020202020204" pitchFamily="34" charset="0"/>
                        </a:rPr>
                        <a:t>Project Name</a:t>
                      </a:r>
                      <a:endParaRPr lang="en-IN" sz="12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1" u="none" strike="noStrike">
                          <a:solidFill>
                            <a:schemeClr val="bg1"/>
                          </a:solidFill>
                          <a:effectLst/>
                          <a:latin typeface="Arial" panose="020B0604020202020204" pitchFamily="34" charset="0"/>
                          <a:cs typeface="Arial" panose="020B0604020202020204" pitchFamily="34" charset="0"/>
                        </a:rPr>
                        <a:t>Quantum (MW)</a:t>
                      </a:r>
                      <a:endParaRPr lang="en-IN" sz="12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1" u="none" strike="noStrike">
                          <a:solidFill>
                            <a:schemeClr val="bg1"/>
                          </a:solidFill>
                          <a:effectLst/>
                          <a:latin typeface="Arial" panose="020B0604020202020204" pitchFamily="34" charset="0"/>
                          <a:cs typeface="Arial" panose="020B0604020202020204" pitchFamily="34" charset="0"/>
                        </a:rPr>
                        <a:t>Project Type</a:t>
                      </a:r>
                      <a:endParaRPr lang="en-IN" sz="12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1" u="none" strike="noStrike">
                          <a:solidFill>
                            <a:schemeClr val="bg1"/>
                          </a:solidFill>
                          <a:effectLst/>
                          <a:latin typeface="Arial" panose="020B0604020202020204" pitchFamily="34" charset="0"/>
                          <a:cs typeface="Arial" panose="020B0604020202020204" pitchFamily="34" charset="0"/>
                        </a:rPr>
                        <a:t>Transaction</a:t>
                      </a:r>
                      <a:endParaRPr lang="en-IN" sz="12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1" u="none" strike="noStrike">
                          <a:solidFill>
                            <a:schemeClr val="bg1"/>
                          </a:solidFill>
                          <a:effectLst/>
                          <a:latin typeface="Arial" panose="020B0604020202020204" pitchFamily="34" charset="0"/>
                          <a:cs typeface="Arial" panose="020B0604020202020204" pitchFamily="34" charset="0"/>
                        </a:rPr>
                        <a:t>PX Segment/ Buyer</a:t>
                      </a:r>
                      <a:endParaRPr lang="en-IN" sz="12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extLst>
                  <a:ext uri="{0D108BD9-81ED-4DB2-BD59-A6C34878D82A}">
                    <a16:rowId xmlns:a16="http://schemas.microsoft.com/office/drawing/2014/main" val="52627781"/>
                  </a:ext>
                </a:extLst>
              </a:tr>
              <a:tr h="388131">
                <a:tc>
                  <a:txBody>
                    <a:bodyPr/>
                    <a:lstStyle/>
                    <a:p>
                      <a:pPr algn="ctr" fontAlgn="ctr"/>
                      <a:r>
                        <a:rPr lang="en-IN" sz="1200" u="none" strike="noStrike">
                          <a:effectLst/>
                          <a:latin typeface="Arial" panose="020B0604020202020204" pitchFamily="34" charset="0"/>
                          <a:cs typeface="Arial" panose="020B0604020202020204" pitchFamily="34" charset="0"/>
                        </a:rPr>
                        <a:t>1</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Devighat Hydropower Project</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14.55</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rowSpan="5">
                  <a:txBody>
                    <a:bodyPr/>
                    <a:lstStyle/>
                    <a:p>
                      <a:pPr algn="ctr" fontAlgn="ctr"/>
                      <a:r>
                        <a:rPr lang="en-IN" sz="1200" b="0" u="none" strike="noStrike">
                          <a:solidFill>
                            <a:srgbClr val="000000"/>
                          </a:solidFill>
                          <a:effectLst/>
                          <a:latin typeface="Arial" panose="020B0604020202020204" pitchFamily="34" charset="0"/>
                          <a:cs typeface="Arial" panose="020B0604020202020204" pitchFamily="34" charset="0"/>
                        </a:rPr>
                        <a:t>NEA</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2388872996"/>
                  </a:ext>
                </a:extLst>
              </a:tr>
              <a:tr h="388131">
                <a:tc>
                  <a:txBody>
                    <a:bodyPr/>
                    <a:lstStyle/>
                    <a:p>
                      <a:pPr algn="ctr" fontAlgn="ctr"/>
                      <a:r>
                        <a:rPr lang="en-IN" sz="1200" u="none" strike="noStrike">
                          <a:effectLst/>
                          <a:latin typeface="Arial" panose="020B0604020202020204" pitchFamily="34" charset="0"/>
                          <a:cs typeface="Arial" panose="020B0604020202020204" pitchFamily="34" charset="0"/>
                        </a:rPr>
                        <a:t>2</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Trishuli Hydropower Project</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23.28</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endParaRPr/>
                    </a:p>
                  </a:txBody>
                  <a:tcPr marL="2840" marR="2840" marT="2840" marB="0" anchor="ct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50899134"/>
                  </a:ext>
                </a:extLst>
              </a:tr>
              <a:tr h="388131">
                <a:tc>
                  <a:txBody>
                    <a:bodyPr/>
                    <a:lstStyle/>
                    <a:p>
                      <a:pPr algn="ctr" fontAlgn="ctr"/>
                      <a:r>
                        <a:rPr lang="en-IN" sz="1200" u="none" strike="noStrike">
                          <a:effectLst/>
                          <a:latin typeface="Arial" panose="020B0604020202020204" pitchFamily="34" charset="0"/>
                          <a:cs typeface="Arial" panose="020B0604020202020204" pitchFamily="34" charset="0"/>
                        </a:rPr>
                        <a:t>3</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Marsyangdi Hydropower Project</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67</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endParaRPr/>
                    </a:p>
                  </a:txBody>
                  <a:tcPr marL="2840" marR="2840" marT="2840" marB="0" anchor="ct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890728846"/>
                  </a:ext>
                </a:extLst>
              </a:tr>
              <a:tr h="388131">
                <a:tc>
                  <a:txBody>
                    <a:bodyPr/>
                    <a:lstStyle/>
                    <a:p>
                      <a:pPr algn="ctr" fontAlgn="ctr"/>
                      <a:r>
                        <a:rPr lang="en-IN" sz="1200" u="none" strike="noStrike">
                          <a:effectLst/>
                          <a:latin typeface="Arial" panose="020B0604020202020204" pitchFamily="34" charset="0"/>
                          <a:cs typeface="Arial" panose="020B0604020202020204" pitchFamily="34" charset="0"/>
                        </a:rPr>
                        <a:t>4</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Middle Marsyangdi Hydropower Project</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68</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endParaRPr/>
                    </a:p>
                  </a:txBody>
                  <a:tcPr marL="2840" marR="2840" marT="2840" marB="0" anchor="ct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329575203"/>
                  </a:ext>
                </a:extLst>
              </a:tr>
              <a:tr h="388131">
                <a:tc>
                  <a:txBody>
                    <a:bodyPr/>
                    <a:lstStyle/>
                    <a:p>
                      <a:pPr algn="ctr" fontAlgn="ctr"/>
                      <a:r>
                        <a:rPr lang="en-IN" sz="1200" u="none" strike="noStrike">
                          <a:effectLst/>
                          <a:latin typeface="Arial" panose="020B0604020202020204" pitchFamily="34" charset="0"/>
                          <a:cs typeface="Arial" panose="020B0604020202020204" pitchFamily="34" charset="0"/>
                        </a:rPr>
                        <a:t>5</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Kaligandaki ‘A’ Hydropower Project</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140</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endParaRPr/>
                    </a:p>
                  </a:txBody>
                  <a:tcPr marL="2840" marR="2840" marT="2840" marB="0" anchor="ct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931984293"/>
                  </a:ext>
                </a:extLst>
              </a:tr>
              <a:tr h="388131">
                <a:tc>
                  <a:txBody>
                    <a:bodyPr/>
                    <a:lstStyle/>
                    <a:p>
                      <a:pPr algn="ctr" fontAlgn="ctr"/>
                      <a:r>
                        <a:rPr lang="en-IN" sz="1200" u="none" strike="noStrike">
                          <a:effectLst/>
                          <a:latin typeface="Arial" panose="020B0604020202020204" pitchFamily="34" charset="0"/>
                          <a:cs typeface="Arial" panose="020B0604020202020204" pitchFamily="34" charset="0"/>
                        </a:rPr>
                        <a:t>6</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Upper Dordi</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24.25</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rowSpan="6">
                  <a:txBody>
                    <a:bodyPr/>
                    <a:lstStyle/>
                    <a:p>
                      <a:pPr algn="ctr" fontAlgn="ctr"/>
                      <a:r>
                        <a:rPr lang="en-IN" sz="1200" b="0" i="0" u="none" strike="noStrike">
                          <a:solidFill>
                            <a:srgbClr val="000000"/>
                          </a:solidFill>
                          <a:effectLst/>
                          <a:latin typeface="Arial" panose="020B0604020202020204" pitchFamily="34" charset="0"/>
                          <a:cs typeface="Arial" panose="020B0604020202020204" pitchFamily="34" charset="0"/>
                        </a:rPr>
                        <a:t>IPP</a:t>
                      </a: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2538581662"/>
                  </a:ext>
                </a:extLst>
              </a:tr>
              <a:tr h="388131">
                <a:tc>
                  <a:txBody>
                    <a:bodyPr/>
                    <a:lstStyle/>
                    <a:p>
                      <a:pPr algn="ctr" fontAlgn="ctr"/>
                      <a:r>
                        <a:rPr lang="en-IN" sz="1200" u="none" strike="noStrike">
                          <a:effectLst/>
                          <a:latin typeface="Arial" panose="020B0604020202020204" pitchFamily="34" charset="0"/>
                          <a:cs typeface="Arial" panose="020B0604020202020204" pitchFamily="34" charset="0"/>
                        </a:rPr>
                        <a:t>7</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Lower Modi</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19.4</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pPr algn="ctr" fontAlgn="ctr"/>
                      <a:endParaRPr lang="en-IN" sz="1200" b="0" i="0" u="none" strike="noStrike">
                        <a:solidFill>
                          <a:srgbClr val="000000"/>
                        </a:solidFill>
                        <a:effectLst/>
                        <a:latin typeface="Calibri" panose="020F0502020204030204" pitchFamily="34" charset="0"/>
                      </a:endParaRPr>
                    </a:p>
                  </a:txBody>
                  <a:tcPr marL="2840" marR="2840" marT="2840" marB="0" anchor="ct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873688153"/>
                  </a:ext>
                </a:extLst>
              </a:tr>
              <a:tr h="388131">
                <a:tc>
                  <a:txBody>
                    <a:bodyPr/>
                    <a:lstStyle/>
                    <a:p>
                      <a:pPr algn="ctr" fontAlgn="ctr"/>
                      <a:r>
                        <a:rPr lang="en-IN" sz="1200" u="none" strike="noStrike">
                          <a:effectLst/>
                          <a:latin typeface="Arial" panose="020B0604020202020204" pitchFamily="34" charset="0"/>
                          <a:cs typeface="Arial" panose="020B0604020202020204" pitchFamily="34" charset="0"/>
                        </a:rPr>
                        <a:t>8</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Dordi Khola</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26.19</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pPr algn="ctr" fontAlgn="ctr"/>
                      <a:endParaRPr lang="en-IN" sz="1200" b="0" i="0" u="none" strike="noStrike">
                        <a:solidFill>
                          <a:srgbClr val="000000"/>
                        </a:solidFill>
                        <a:effectLst/>
                        <a:latin typeface="Calibri" panose="020F0502020204030204" pitchFamily="34" charset="0"/>
                      </a:endParaRPr>
                    </a:p>
                  </a:txBody>
                  <a:tcPr marL="2840" marR="2840" marT="2840" marB="0" anchor="ct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834269572"/>
                  </a:ext>
                </a:extLst>
              </a:tr>
              <a:tr h="388131">
                <a:tc>
                  <a:txBody>
                    <a:bodyPr/>
                    <a:lstStyle/>
                    <a:p>
                      <a:pPr algn="ctr" fontAlgn="ctr"/>
                      <a:r>
                        <a:rPr lang="en-IN" sz="1200" u="none" strike="noStrike">
                          <a:effectLst/>
                          <a:latin typeface="Arial" panose="020B0604020202020204" pitchFamily="34" charset="0"/>
                          <a:cs typeface="Arial" panose="020B0604020202020204" pitchFamily="34" charset="0"/>
                        </a:rPr>
                        <a:t>9</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Solu Khola</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83.42</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pPr algn="ctr" fontAlgn="ctr"/>
                      <a:endParaRPr lang="en-IN" sz="1200" b="0" i="0" u="none" strike="noStrike">
                        <a:solidFill>
                          <a:srgbClr val="000000"/>
                        </a:solidFill>
                        <a:effectLst/>
                        <a:latin typeface="Calibri" panose="020F0502020204030204" pitchFamily="34" charset="0"/>
                      </a:endParaRPr>
                    </a:p>
                  </a:txBody>
                  <a:tcPr marL="2840" marR="2840" marT="2840" marB="0" anchor="ct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730353228"/>
                  </a:ext>
                </a:extLst>
              </a:tr>
              <a:tr h="388131">
                <a:tc>
                  <a:txBody>
                    <a:bodyPr/>
                    <a:lstStyle/>
                    <a:p>
                      <a:pPr algn="ctr" fontAlgn="ctr"/>
                      <a:r>
                        <a:rPr lang="en-IN" sz="1200" u="none" strike="noStrike">
                          <a:effectLst/>
                          <a:latin typeface="Arial" panose="020B0604020202020204" pitchFamily="34" charset="0"/>
                          <a:cs typeface="Arial" panose="020B0604020202020204" pitchFamily="34" charset="0"/>
                        </a:rPr>
                        <a:t>10</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Upper Balephi ‘A’</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34.92</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pPr algn="ctr" fontAlgn="ctr"/>
                      <a:endParaRPr lang="en-IN" sz="1200" b="0" i="0" u="none" strike="noStrike">
                        <a:solidFill>
                          <a:srgbClr val="000000"/>
                        </a:solidFill>
                        <a:effectLst/>
                        <a:latin typeface="Calibri" panose="020F0502020204030204" pitchFamily="34" charset="0"/>
                      </a:endParaRPr>
                    </a:p>
                  </a:txBody>
                  <a:tcPr marL="2840" marR="2840" marT="2840" marB="0" anchor="ct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291136720"/>
                  </a:ext>
                </a:extLst>
              </a:tr>
              <a:tr h="388131">
                <a:tc>
                  <a:txBody>
                    <a:bodyPr/>
                    <a:lstStyle/>
                    <a:p>
                      <a:pPr algn="ctr" fontAlgn="ctr"/>
                      <a:r>
                        <a:rPr lang="en-IN" sz="1200" u="none" strike="noStrike">
                          <a:effectLst/>
                          <a:latin typeface="Arial" panose="020B0604020202020204" pitchFamily="34" charset="0"/>
                          <a:cs typeface="Arial" panose="020B0604020202020204" pitchFamily="34" charset="0"/>
                        </a:rPr>
                        <a:t>11</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Solu Hydropower Project</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22.8</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pPr algn="ctr" fontAlgn="ctr"/>
                      <a:endParaRPr lang="en-IN" sz="1200" b="0" i="0" u="none" strike="noStrike">
                        <a:solidFill>
                          <a:srgbClr val="000000"/>
                        </a:solidFill>
                        <a:effectLst/>
                        <a:latin typeface="Calibri" panose="020F0502020204030204" pitchFamily="34" charset="0"/>
                      </a:endParaRPr>
                    </a:p>
                  </a:txBody>
                  <a:tcPr marL="2840" marR="2840" marT="2840" marB="0" anchor="ct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4134305693"/>
                  </a:ext>
                </a:extLst>
              </a:tr>
            </a:tbl>
          </a:graphicData>
        </a:graphic>
      </p:graphicFrame>
      <p:cxnSp>
        <p:nvCxnSpPr>
          <p:cNvPr id="4" name="Straight Connector 3">
            <a:extLst>
              <a:ext uri="{FF2B5EF4-FFF2-40B4-BE49-F238E27FC236}">
                <a16:creationId xmlns:a16="http://schemas.microsoft.com/office/drawing/2014/main" id="{9B1F9EAE-9C41-094B-BD1E-3862E7D099A2}"/>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35588349"/>
      </p:ext>
    </p:extLst>
  </p:cSld>
  <p:clrMapOvr>
    <a:masterClrMapping/>
  </p:clrMapOvr>
  <p:transition>
    <p:fade/>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List of IPPs involved in Cross Border Electricity Trade (CBET)…2/2</a:t>
            </a:r>
            <a:endParaRPr lang="en-GB" sz="1800" b="1">
              <a:latin typeface="Arial" panose="020B0604020202020204" pitchFamily="34" charset="0"/>
              <a:cs typeface="Arial" panose="020B0604020202020204" pitchFamily="34" charset="0"/>
            </a:endParaRPr>
          </a:p>
        </p:txBody>
      </p: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List of projects approved by Central Electricity Authority, India for CBET</a:t>
            </a:r>
          </a:p>
        </p:txBody>
      </p:sp>
      <p:sp>
        <p:nvSpPr>
          <p:cNvPr id="7" name="TextBox 6">
            <a:extLst>
              <a:ext uri="{FF2B5EF4-FFF2-40B4-BE49-F238E27FC236}">
                <a16:creationId xmlns:a16="http://schemas.microsoft.com/office/drawing/2014/main" id="{2CF3648E-06F6-D8F7-7558-18341459079A}"/>
              </a:ext>
            </a:extLst>
          </p:cNvPr>
          <p:cNvSpPr txBox="1"/>
          <p:nvPr/>
        </p:nvSpPr>
        <p:spPr>
          <a:xfrm>
            <a:off x="476219" y="6540499"/>
            <a:ext cx="11272888" cy="153888"/>
          </a:xfrm>
          <a:prstGeom prst="rect">
            <a:avLst/>
          </a:prstGeom>
          <a:noFill/>
        </p:spPr>
        <p:txBody>
          <a:bodyPr wrap="square" lIns="0" tIns="0" rIns="0" bIns="0" rtlCol="0">
            <a:spAutoFit/>
          </a:bodyPr>
          <a:lstStyle/>
          <a:p>
            <a:pPr>
              <a:spcBef>
                <a:spcPts val="600"/>
              </a:spcBef>
              <a:buSzPct val="100000"/>
            </a:pPr>
            <a:r>
              <a:rPr lang="en-IN" sz="1000">
                <a:solidFill>
                  <a:srgbClr val="313131"/>
                </a:solidFill>
                <a:latin typeface="Arial" panose="020B0604020202020204" pitchFamily="34" charset="0"/>
                <a:cs typeface="Arial" panose="020B0604020202020204" pitchFamily="34" charset="0"/>
              </a:rPr>
              <a:t>Source: </a:t>
            </a:r>
            <a:r>
              <a:rPr lang="en-IN" sz="1000">
                <a:solidFill>
                  <a:srgbClr val="313131"/>
                </a:solidFill>
                <a:latin typeface="Arial" panose="020B0604020202020204" pitchFamily="34" charset="0"/>
                <a:cs typeface="Arial" panose="020B0604020202020204" pitchFamily="34" charset="0"/>
                <a:hlinkClick r:id="rId6"/>
              </a:rPr>
              <a:t>CEA</a:t>
            </a:r>
            <a:r>
              <a:rPr lang="en-IN" sz="1000">
                <a:solidFill>
                  <a:srgbClr val="313131"/>
                </a:solidFill>
                <a:latin typeface="Arial" panose="020B0604020202020204" pitchFamily="34" charset="0"/>
                <a:cs typeface="Arial" panose="020B0604020202020204" pitchFamily="34" charset="0"/>
              </a:rPr>
              <a:t>   </a:t>
            </a:r>
          </a:p>
        </p:txBody>
      </p:sp>
      <p:cxnSp>
        <p:nvCxnSpPr>
          <p:cNvPr id="4" name="Straight Connector 3">
            <a:extLst>
              <a:ext uri="{FF2B5EF4-FFF2-40B4-BE49-F238E27FC236}">
                <a16:creationId xmlns:a16="http://schemas.microsoft.com/office/drawing/2014/main" id="{217A6A9F-9401-C4B9-FFD5-8CD26808BF65}"/>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5" name="Table 4">
            <a:extLst>
              <a:ext uri="{FF2B5EF4-FFF2-40B4-BE49-F238E27FC236}">
                <a16:creationId xmlns:a16="http://schemas.microsoft.com/office/drawing/2014/main" id="{D58A7F3F-16FA-B74F-C115-F5AEB77CECDE}"/>
              </a:ext>
            </a:extLst>
          </p:cNvPr>
          <p:cNvGraphicFramePr>
            <a:graphicFrameLocks noGrp="1"/>
          </p:cNvGraphicFramePr>
          <p:nvPr>
            <p:extLst>
              <p:ext uri="{D42A27DB-BD31-4B8C-83A1-F6EECF244321}">
                <p14:modId xmlns:p14="http://schemas.microsoft.com/office/powerpoint/2010/main" val="2058473438"/>
              </p:ext>
            </p:extLst>
          </p:nvPr>
        </p:nvGraphicFramePr>
        <p:xfrm>
          <a:off x="501652" y="1091065"/>
          <a:ext cx="11188699" cy="4617245"/>
        </p:xfrm>
        <a:graphic>
          <a:graphicData uri="http://schemas.openxmlformats.org/drawingml/2006/table">
            <a:tbl>
              <a:tblPr>
                <a:tableStyleId>{3B4B98B0-60AC-42C2-AFA5-B58CD77FA1E5}</a:tableStyleId>
              </a:tblPr>
              <a:tblGrid>
                <a:gridCol w="665566">
                  <a:extLst>
                    <a:ext uri="{9D8B030D-6E8A-4147-A177-3AD203B41FA5}">
                      <a16:colId xmlns:a16="http://schemas.microsoft.com/office/drawing/2014/main" val="3071374873"/>
                    </a:ext>
                  </a:extLst>
                </a:gridCol>
                <a:gridCol w="3074982">
                  <a:extLst>
                    <a:ext uri="{9D8B030D-6E8A-4147-A177-3AD203B41FA5}">
                      <a16:colId xmlns:a16="http://schemas.microsoft.com/office/drawing/2014/main" val="1893327031"/>
                    </a:ext>
                  </a:extLst>
                </a:gridCol>
                <a:gridCol w="1571876">
                  <a:extLst>
                    <a:ext uri="{9D8B030D-6E8A-4147-A177-3AD203B41FA5}">
                      <a16:colId xmlns:a16="http://schemas.microsoft.com/office/drawing/2014/main" val="3002502649"/>
                    </a:ext>
                  </a:extLst>
                </a:gridCol>
                <a:gridCol w="1571876">
                  <a:extLst>
                    <a:ext uri="{9D8B030D-6E8A-4147-A177-3AD203B41FA5}">
                      <a16:colId xmlns:a16="http://schemas.microsoft.com/office/drawing/2014/main" val="4093770840"/>
                    </a:ext>
                  </a:extLst>
                </a:gridCol>
                <a:gridCol w="2355616">
                  <a:extLst>
                    <a:ext uri="{9D8B030D-6E8A-4147-A177-3AD203B41FA5}">
                      <a16:colId xmlns:a16="http://schemas.microsoft.com/office/drawing/2014/main" val="831367296"/>
                    </a:ext>
                  </a:extLst>
                </a:gridCol>
                <a:gridCol w="1948783">
                  <a:extLst>
                    <a:ext uri="{9D8B030D-6E8A-4147-A177-3AD203B41FA5}">
                      <a16:colId xmlns:a16="http://schemas.microsoft.com/office/drawing/2014/main" val="4066447592"/>
                    </a:ext>
                  </a:extLst>
                </a:gridCol>
              </a:tblGrid>
              <a:tr h="408962">
                <a:tc>
                  <a:txBody>
                    <a:bodyPr/>
                    <a:lstStyle/>
                    <a:p>
                      <a:pPr algn="ctr" fontAlgn="ctr"/>
                      <a:r>
                        <a:rPr lang="en-IN" sz="1200" b="1" u="none" strike="noStrike">
                          <a:solidFill>
                            <a:schemeClr val="bg1"/>
                          </a:solidFill>
                          <a:effectLst/>
                          <a:latin typeface="Arial" panose="020B0604020202020204" pitchFamily="34" charset="0"/>
                          <a:cs typeface="Arial" panose="020B0604020202020204" pitchFamily="34" charset="0"/>
                        </a:rPr>
                        <a:t>Sl. No.</a:t>
                      </a:r>
                      <a:endParaRPr lang="en-IN" sz="12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1" u="none" strike="noStrike">
                          <a:solidFill>
                            <a:schemeClr val="bg1"/>
                          </a:solidFill>
                          <a:effectLst/>
                          <a:latin typeface="Arial" panose="020B0604020202020204" pitchFamily="34" charset="0"/>
                          <a:cs typeface="Arial" panose="020B0604020202020204" pitchFamily="34" charset="0"/>
                        </a:rPr>
                        <a:t>Project Name</a:t>
                      </a:r>
                      <a:endParaRPr lang="en-IN" sz="12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1" u="none" strike="noStrike">
                          <a:solidFill>
                            <a:schemeClr val="bg1"/>
                          </a:solidFill>
                          <a:effectLst/>
                          <a:latin typeface="Arial" panose="020B0604020202020204" pitchFamily="34" charset="0"/>
                          <a:cs typeface="Arial" panose="020B0604020202020204" pitchFamily="34" charset="0"/>
                        </a:rPr>
                        <a:t>Quantum (MW)</a:t>
                      </a:r>
                      <a:endParaRPr lang="en-IN" sz="12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1" u="none" strike="noStrike">
                          <a:solidFill>
                            <a:schemeClr val="bg1"/>
                          </a:solidFill>
                          <a:effectLst/>
                          <a:latin typeface="Arial" panose="020B0604020202020204" pitchFamily="34" charset="0"/>
                          <a:cs typeface="Arial" panose="020B0604020202020204" pitchFamily="34" charset="0"/>
                        </a:rPr>
                        <a:t>Project Type</a:t>
                      </a:r>
                      <a:endParaRPr lang="en-IN" sz="12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1" u="none" strike="noStrike">
                          <a:solidFill>
                            <a:schemeClr val="bg1"/>
                          </a:solidFill>
                          <a:effectLst/>
                          <a:latin typeface="Arial" panose="020B0604020202020204" pitchFamily="34" charset="0"/>
                          <a:cs typeface="Arial" panose="020B0604020202020204" pitchFamily="34" charset="0"/>
                        </a:rPr>
                        <a:t>Transaction</a:t>
                      </a:r>
                      <a:endParaRPr lang="en-IN" sz="12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tc>
                  <a:txBody>
                    <a:bodyPr/>
                    <a:lstStyle/>
                    <a:p>
                      <a:pPr algn="ctr" fontAlgn="ctr"/>
                      <a:r>
                        <a:rPr lang="en-IN" sz="1200" b="1" u="none" strike="noStrike">
                          <a:solidFill>
                            <a:schemeClr val="bg1"/>
                          </a:solidFill>
                          <a:effectLst/>
                          <a:latin typeface="Arial" panose="020B0604020202020204" pitchFamily="34" charset="0"/>
                          <a:cs typeface="Arial" panose="020B0604020202020204" pitchFamily="34" charset="0"/>
                        </a:rPr>
                        <a:t>PX Segment/ Buyer</a:t>
                      </a:r>
                      <a:endParaRPr lang="en-IN" sz="1200" b="1" i="0" u="none" strike="noStrike">
                        <a:solidFill>
                          <a:schemeClr val="bg1"/>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solidFill>
                      <a:schemeClr val="accent3"/>
                    </a:solidFill>
                  </a:tcPr>
                </a:tc>
                <a:extLst>
                  <a:ext uri="{0D108BD9-81ED-4DB2-BD59-A6C34878D82A}">
                    <a16:rowId xmlns:a16="http://schemas.microsoft.com/office/drawing/2014/main" val="52627781"/>
                  </a:ext>
                </a:extLst>
              </a:tr>
              <a:tr h="467587">
                <a:tc>
                  <a:txBody>
                    <a:bodyPr/>
                    <a:lstStyle/>
                    <a:p>
                      <a:pPr algn="ctr" fontAlgn="ctr"/>
                      <a:r>
                        <a:rPr lang="en-IN" sz="1200" u="none" strike="noStrike">
                          <a:effectLst/>
                          <a:latin typeface="Arial" panose="020B0604020202020204" pitchFamily="34" charset="0"/>
                          <a:cs typeface="Arial" panose="020B0604020202020204" pitchFamily="34" charset="0"/>
                        </a:rPr>
                        <a:t>12</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Chilime Hydropower Project</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21.44</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0" u="none" strike="noStrike">
                          <a:solidFill>
                            <a:srgbClr val="000000"/>
                          </a:solidFill>
                          <a:effectLst/>
                          <a:latin typeface="Arial" panose="020B0604020202020204" pitchFamily="34" charset="0"/>
                          <a:cs typeface="Arial" panose="020B0604020202020204" pitchFamily="34" charset="0"/>
                        </a:rPr>
                        <a:t>IPP (Subsidiary of NEA)</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2091912374"/>
                  </a:ext>
                </a:extLst>
              </a:tr>
              <a:tr h="467587">
                <a:tc>
                  <a:txBody>
                    <a:bodyPr/>
                    <a:lstStyle/>
                    <a:p>
                      <a:pPr algn="ctr" fontAlgn="ctr"/>
                      <a:r>
                        <a:rPr lang="en-IN" sz="1200" u="none" strike="noStrike">
                          <a:effectLst/>
                          <a:latin typeface="Arial" panose="020B0604020202020204" pitchFamily="34" charset="0"/>
                          <a:cs typeface="Arial" panose="020B0604020202020204" pitchFamily="34" charset="0"/>
                        </a:rPr>
                        <a:t>13</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Likhu IV Hydropower Project</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51</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rowSpan="5">
                  <a:txBody>
                    <a:bodyPr/>
                    <a:lstStyle/>
                    <a:p>
                      <a:pPr algn="ctr" fontAlgn="ctr"/>
                      <a:r>
                        <a:rPr lang="en-IN" sz="1200" b="0" u="none" strike="noStrike">
                          <a:solidFill>
                            <a:srgbClr val="000000"/>
                          </a:solidFill>
                          <a:effectLst/>
                          <a:latin typeface="Arial" panose="020B0604020202020204" pitchFamily="34" charset="0"/>
                          <a:cs typeface="Arial" panose="020B0604020202020204" pitchFamily="34" charset="0"/>
                        </a:rPr>
                        <a:t>IPP</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2391557791"/>
                  </a:ext>
                </a:extLst>
              </a:tr>
              <a:tr h="467587">
                <a:tc>
                  <a:txBody>
                    <a:bodyPr/>
                    <a:lstStyle/>
                    <a:p>
                      <a:pPr algn="ctr" fontAlgn="ctr"/>
                      <a:r>
                        <a:rPr lang="en-IN" sz="1200" u="none" strike="noStrike">
                          <a:effectLst/>
                          <a:latin typeface="Arial" panose="020B0604020202020204" pitchFamily="34" charset="0"/>
                          <a:cs typeface="Arial" panose="020B0604020202020204" pitchFamily="34" charset="0"/>
                        </a:rPr>
                        <a:t>14</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Kabeli B-1 Hydro Power Project</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24.25</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pPr algn="ctr" fontAlgn="ctr"/>
                      <a:endParaRPr lang="en-IN" sz="1200" b="0" i="0" u="none" strike="noStrike">
                        <a:solidFill>
                          <a:srgbClr val="000000"/>
                        </a:solidFill>
                        <a:effectLst/>
                        <a:latin typeface="Calibri" panose="020F0502020204030204" pitchFamily="34" charset="0"/>
                      </a:endParaRPr>
                    </a:p>
                  </a:txBody>
                  <a:tcPr marL="2840" marR="2840" marT="284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1062174647"/>
                  </a:ext>
                </a:extLst>
              </a:tr>
              <a:tr h="467587">
                <a:tc>
                  <a:txBody>
                    <a:bodyPr/>
                    <a:lstStyle/>
                    <a:p>
                      <a:pPr algn="ctr" fontAlgn="ctr"/>
                      <a:r>
                        <a:rPr lang="en-IN" sz="1200" u="none" strike="noStrike">
                          <a:effectLst/>
                          <a:latin typeface="Arial" panose="020B0604020202020204" pitchFamily="34" charset="0"/>
                          <a:cs typeface="Arial" panose="020B0604020202020204" pitchFamily="34" charset="0"/>
                        </a:rPr>
                        <a:t>15</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US" sz="1200" b="1" u="none" strike="noStrike">
                          <a:effectLst/>
                          <a:latin typeface="Arial" panose="020B0604020202020204" pitchFamily="34" charset="0"/>
                          <a:cs typeface="Arial" panose="020B0604020202020204" pitchFamily="34" charset="0"/>
                        </a:rPr>
                        <a:t>Lower Modi Hydro Power Project</a:t>
                      </a:r>
                      <a:endParaRPr lang="en-US"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19.4</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pPr algn="ctr" fontAlgn="ctr"/>
                      <a:endParaRPr lang="en-IN" sz="1200" b="0" i="0" u="none" strike="noStrike">
                        <a:solidFill>
                          <a:srgbClr val="000000"/>
                        </a:solidFill>
                        <a:effectLst/>
                        <a:latin typeface="Calibri" panose="020F0502020204030204" pitchFamily="34" charset="0"/>
                      </a:endParaRPr>
                    </a:p>
                  </a:txBody>
                  <a:tcPr marL="2840" marR="2840" marT="284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2858467471"/>
                  </a:ext>
                </a:extLst>
              </a:tr>
              <a:tr h="467587">
                <a:tc>
                  <a:txBody>
                    <a:bodyPr/>
                    <a:lstStyle/>
                    <a:p>
                      <a:pPr algn="ctr" fontAlgn="ctr"/>
                      <a:r>
                        <a:rPr lang="en-IN" sz="1200" u="none" strike="noStrike">
                          <a:effectLst/>
                          <a:latin typeface="Arial" panose="020B0604020202020204" pitchFamily="34" charset="0"/>
                          <a:cs typeface="Arial" panose="020B0604020202020204" pitchFamily="34" charset="0"/>
                        </a:rPr>
                        <a:t>16</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sv-SE" sz="1200" b="1" u="none" strike="noStrike">
                          <a:effectLst/>
                          <a:latin typeface="Arial" panose="020B0604020202020204" pitchFamily="34" charset="0"/>
                          <a:cs typeface="Arial" panose="020B0604020202020204" pitchFamily="34" charset="0"/>
                        </a:rPr>
                        <a:t>Upper Kalangagad Hydro Power Project</a:t>
                      </a:r>
                      <a:endParaRPr lang="sv-SE"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32.7</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pPr algn="ctr" fontAlgn="ctr"/>
                      <a:endParaRPr lang="en-IN" sz="1200" b="0" i="0" u="none" strike="noStrike">
                        <a:solidFill>
                          <a:srgbClr val="000000"/>
                        </a:solidFill>
                        <a:effectLst/>
                        <a:latin typeface="Calibri" panose="020F0502020204030204" pitchFamily="34" charset="0"/>
                      </a:endParaRPr>
                    </a:p>
                  </a:txBody>
                  <a:tcPr marL="2840" marR="2840" marT="284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1551409022"/>
                  </a:ext>
                </a:extLst>
              </a:tr>
              <a:tr h="467587">
                <a:tc>
                  <a:txBody>
                    <a:bodyPr/>
                    <a:lstStyle/>
                    <a:p>
                      <a:pPr algn="ctr" fontAlgn="ctr"/>
                      <a:r>
                        <a:rPr lang="en-IN" sz="1200" u="none" strike="noStrike">
                          <a:effectLst/>
                          <a:latin typeface="Arial" panose="020B0604020202020204" pitchFamily="34" charset="0"/>
                          <a:cs typeface="Arial" panose="020B0604020202020204" pitchFamily="34" charset="0"/>
                        </a:rPr>
                        <a:t>17</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Upper Chameliya</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38.8</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pPr algn="ctr" fontAlgn="ctr"/>
                      <a:endParaRPr lang="en-IN" sz="1200" b="0" i="0" u="none" strike="noStrike">
                        <a:solidFill>
                          <a:srgbClr val="000000"/>
                        </a:solidFill>
                        <a:effectLst/>
                        <a:latin typeface="Calibri" panose="020F0502020204030204" pitchFamily="34" charset="0"/>
                      </a:endParaRPr>
                    </a:p>
                  </a:txBody>
                  <a:tcPr marL="2840" marR="2840" marT="284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Power Exchange</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DAM and RTM</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2291977257"/>
                  </a:ext>
                </a:extLst>
              </a:tr>
              <a:tr h="467587">
                <a:tc>
                  <a:txBody>
                    <a:bodyPr/>
                    <a:lstStyle/>
                    <a:p>
                      <a:pPr algn="ctr" fontAlgn="ctr"/>
                      <a:r>
                        <a:rPr lang="en-IN" sz="1200" u="none" strike="noStrike">
                          <a:effectLst/>
                          <a:latin typeface="Arial" panose="020B0604020202020204" pitchFamily="34" charset="0"/>
                          <a:cs typeface="Arial" panose="020B0604020202020204" pitchFamily="34" charset="0"/>
                        </a:rPr>
                        <a:t>18</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Likhu-1 HPP</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75</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rowSpan="3">
                  <a:txBody>
                    <a:bodyPr/>
                    <a:lstStyle/>
                    <a:p>
                      <a:pPr algn="ctr" fontAlgn="ctr"/>
                      <a:r>
                        <a:rPr lang="en-IN" sz="1200" b="0" i="0" u="none" strike="noStrike">
                          <a:solidFill>
                            <a:srgbClr val="000000"/>
                          </a:solidFill>
                          <a:effectLst/>
                          <a:latin typeface="Arial" panose="020B0604020202020204" pitchFamily="34" charset="0"/>
                          <a:cs typeface="Arial" panose="020B0604020202020204" pitchFamily="34" charset="0"/>
                        </a:rPr>
                        <a:t>IPP</a:t>
                      </a: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Bilateral</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Haryana</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339615818"/>
                  </a:ext>
                </a:extLst>
              </a:tr>
              <a:tr h="467587">
                <a:tc>
                  <a:txBody>
                    <a:bodyPr/>
                    <a:lstStyle/>
                    <a:p>
                      <a:pPr algn="ctr" fontAlgn="ctr"/>
                      <a:r>
                        <a:rPr lang="en-IN" sz="1200" b="0" i="0" u="none" strike="noStrike">
                          <a:solidFill>
                            <a:srgbClr val="000000"/>
                          </a:solidFill>
                          <a:effectLst/>
                          <a:latin typeface="Arial" panose="020B0604020202020204" pitchFamily="34" charset="0"/>
                          <a:cs typeface="Arial" panose="020B0604020202020204" pitchFamily="34" charset="0"/>
                        </a:rPr>
                        <a:t>19</a:t>
                      </a: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Solu Khola (Dudhkoshi) Hydro Power Project</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83.42</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pPr algn="ctr" fontAlgn="ctr"/>
                      <a:endParaRPr lang="en-IN" sz="1200" b="0" i="0" u="none" strike="noStrike">
                        <a:solidFill>
                          <a:srgbClr val="000000"/>
                        </a:solidFill>
                        <a:effectLst/>
                        <a:latin typeface="Calibri" panose="020F0502020204030204" pitchFamily="34" charset="0"/>
                      </a:endParaRPr>
                    </a:p>
                  </a:txBody>
                  <a:tcPr marL="2840" marR="2840" marT="2840" marB="0" anchor="ctr"/>
                </a:tc>
                <a:tc>
                  <a:txBody>
                    <a:bodyPr/>
                    <a:lstStyle/>
                    <a:p>
                      <a:pPr algn="ctr" fontAlgn="ctr"/>
                      <a:r>
                        <a:rPr lang="en-IN" sz="1200" u="none" strike="noStrike">
                          <a:effectLst/>
                          <a:latin typeface="Arial" panose="020B0604020202020204" pitchFamily="34" charset="0"/>
                          <a:cs typeface="Arial" panose="020B0604020202020204" pitchFamily="34" charset="0"/>
                        </a:rPr>
                        <a:t>Bilateral</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Haryana</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339478508"/>
                  </a:ext>
                </a:extLst>
              </a:tr>
              <a:tr h="467587">
                <a:tc>
                  <a:txBody>
                    <a:bodyPr/>
                    <a:lstStyle/>
                    <a:p>
                      <a:pPr algn="ctr" fontAlgn="ctr"/>
                      <a:r>
                        <a:rPr lang="en-IN" sz="1200" u="none" strike="noStrike">
                          <a:effectLst/>
                          <a:latin typeface="Arial" panose="020B0604020202020204" pitchFamily="34" charset="0"/>
                          <a:cs typeface="Arial" panose="020B0604020202020204" pitchFamily="34" charset="0"/>
                        </a:rPr>
                        <a:t>20</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b="1" u="none" strike="noStrike">
                          <a:effectLst/>
                          <a:latin typeface="Arial" panose="020B0604020202020204" pitchFamily="34" charset="0"/>
                          <a:cs typeface="Arial" panose="020B0604020202020204" pitchFamily="34" charset="0"/>
                        </a:rPr>
                        <a:t>Dordi Khola Hydro Power Project</a:t>
                      </a:r>
                      <a:endParaRPr lang="en-IN" sz="1200" b="1"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26.19</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vMerge="1">
                  <a:txBody>
                    <a:bodyPr/>
                    <a:lstStyle/>
                    <a:p>
                      <a:pPr algn="ctr" fontAlgn="ctr"/>
                      <a:endParaRPr lang="en-IN" sz="1200" b="0" i="0" u="none" strike="noStrike">
                        <a:solidFill>
                          <a:srgbClr val="000000"/>
                        </a:solidFill>
                        <a:effectLst/>
                        <a:latin typeface="Calibri" panose="020F0502020204030204" pitchFamily="34" charset="0"/>
                      </a:endParaRPr>
                    </a:p>
                  </a:txBody>
                  <a:tcPr marL="2840" marR="2840" marT="2840" marB="0" anchor="ctr"/>
                </a:tc>
                <a:tc>
                  <a:txBody>
                    <a:bodyPr/>
                    <a:lstStyle/>
                    <a:p>
                      <a:pPr algn="ctr" fontAlgn="ctr"/>
                      <a:r>
                        <a:rPr lang="en-IN" sz="1200" u="none" strike="noStrike">
                          <a:effectLst/>
                          <a:latin typeface="Arial" panose="020B0604020202020204" pitchFamily="34" charset="0"/>
                          <a:cs typeface="Arial" panose="020B0604020202020204" pitchFamily="34" charset="0"/>
                        </a:rPr>
                        <a:t>Bilateral</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tc>
                  <a:txBody>
                    <a:bodyPr/>
                    <a:lstStyle/>
                    <a:p>
                      <a:pPr algn="ctr" fontAlgn="ctr"/>
                      <a:r>
                        <a:rPr lang="en-IN" sz="1200" u="none" strike="noStrike">
                          <a:effectLst/>
                          <a:latin typeface="Arial" panose="020B0604020202020204" pitchFamily="34" charset="0"/>
                          <a:cs typeface="Arial" panose="020B0604020202020204" pitchFamily="34" charset="0"/>
                        </a:rPr>
                        <a:t>Haryana</a:t>
                      </a:r>
                      <a:endParaRPr lang="en-IN" sz="1200" b="0" i="0" u="none" strike="noStrike">
                        <a:solidFill>
                          <a:srgbClr val="000000"/>
                        </a:solidFill>
                        <a:effectLst/>
                        <a:latin typeface="Arial" panose="020B0604020202020204" pitchFamily="34" charset="0"/>
                        <a:cs typeface="Arial" panose="020B0604020202020204" pitchFamily="34" charset="0"/>
                      </a:endParaRPr>
                    </a:p>
                  </a:txBody>
                  <a:tcPr marL="2840" marR="2840" marT="2840" marB="0" anchor="ctr">
                    <a:lnL w="6350" cap="flat" cmpd="sng" algn="ctr">
                      <a:solidFill>
                        <a:schemeClr val="accent3"/>
                      </a:solidFill>
                      <a:prstDash val="solid"/>
                      <a:round/>
                      <a:headEnd type="none" w="med" len="med"/>
                      <a:tailEnd type="none" w="med" len="med"/>
                    </a:lnL>
                    <a:lnR w="6350" cap="flat" cmpd="sng" algn="ctr">
                      <a:solidFill>
                        <a:schemeClr val="accent3"/>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193411648"/>
                  </a:ext>
                </a:extLst>
              </a:tr>
            </a:tbl>
          </a:graphicData>
        </a:graphic>
      </p:graphicFrame>
    </p:spTree>
    <p:extLst>
      <p:ext uri="{BB962C8B-B14F-4D97-AF65-F5344CB8AC3E}">
        <p14:creationId xmlns:p14="http://schemas.microsoft.com/office/powerpoint/2010/main" val="3421525552"/>
      </p:ext>
    </p:extLst>
  </p:cSld>
  <p:clrMapOvr>
    <a:masterClrMapping/>
  </p:clrMapOvr>
  <p:transition>
    <p:fade/>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8" imgW="415" imgH="416" progId="TCLayout.ActiveDocument.1">
                  <p:embed/>
                </p:oleObj>
              </mc:Choice>
              <mc:Fallback>
                <p:oleObj name="think-cell Slide" r:id="rId48"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49"/>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Nepal’s Seasonal Generation Variations and Energy Balance </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Nepal tends to import heavily power during the dry seasons (between December- June) </a:t>
            </a:r>
          </a:p>
        </p:txBody>
      </p:sp>
      <p:sp>
        <p:nvSpPr>
          <p:cNvPr id="497" name="TextBox 496">
            <a:extLst>
              <a:ext uri="{FF2B5EF4-FFF2-40B4-BE49-F238E27FC236}">
                <a16:creationId xmlns:a16="http://schemas.microsoft.com/office/drawing/2014/main" id="{E3CD61BF-5158-2CE6-D4D0-D211D840411E}"/>
              </a:ext>
            </a:extLst>
          </p:cNvPr>
          <p:cNvSpPr txBox="1"/>
          <p:nvPr/>
        </p:nvSpPr>
        <p:spPr>
          <a:xfrm>
            <a:off x="447675" y="6596933"/>
            <a:ext cx="609600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50"/>
              </a:rPr>
              <a:t>NEA Annual Report</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sp>
        <p:nvSpPr>
          <p:cNvPr id="165" name="Rectangle 164">
            <a:extLst>
              <a:ext uri="{FF2B5EF4-FFF2-40B4-BE49-F238E27FC236}">
                <a16:creationId xmlns:a16="http://schemas.microsoft.com/office/drawing/2014/main" id="{66CD98E6-F47D-4E7E-D462-D5CD376AAB33}"/>
              </a:ext>
            </a:extLst>
          </p:cNvPr>
          <p:cNvSpPr/>
          <p:nvPr/>
        </p:nvSpPr>
        <p:spPr bwMode="gray">
          <a:xfrm>
            <a:off x="501650" y="992221"/>
            <a:ext cx="11188700" cy="4244385"/>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graphicFrame>
        <p:nvGraphicFramePr>
          <p:cNvPr id="132" name="Chart 131">
            <a:extLst>
              <a:ext uri="{FF2B5EF4-FFF2-40B4-BE49-F238E27FC236}">
                <a16:creationId xmlns:a16="http://schemas.microsoft.com/office/drawing/2014/main" id="{9AEC5006-6BEC-C898-A0D8-78D3027666CD}"/>
              </a:ext>
            </a:extLst>
          </p:cNvPr>
          <p:cNvGraphicFramePr/>
          <p:nvPr>
            <p:custDataLst>
              <p:tags r:id="rId2"/>
            </p:custDataLst>
          </p:nvPr>
        </p:nvGraphicFramePr>
        <p:xfrm>
          <a:off x="668338" y="1042988"/>
          <a:ext cx="10793412" cy="3521075"/>
        </p:xfrm>
        <a:graphic>
          <a:graphicData uri="http://schemas.openxmlformats.org/drawingml/2006/chart">
            <c:chart xmlns:c="http://schemas.openxmlformats.org/drawingml/2006/chart" xmlns:r="http://schemas.openxmlformats.org/officeDocument/2006/relationships" r:id="rId51"/>
          </a:graphicData>
        </a:graphic>
      </p:graphicFrame>
      <p:cxnSp>
        <p:nvCxnSpPr>
          <p:cNvPr id="504" name="Straight Connector 503">
            <a:extLst>
              <a:ext uri="{FF2B5EF4-FFF2-40B4-BE49-F238E27FC236}">
                <a16:creationId xmlns:a16="http://schemas.microsoft.com/office/drawing/2014/main" id="{3D1DF6D4-8514-C1A3-D0A5-A3DAA8FE6659}"/>
              </a:ext>
            </a:extLst>
          </p:cNvPr>
          <p:cNvCxnSpPr/>
          <p:nvPr>
            <p:custDataLst>
              <p:tags r:id="rId3"/>
            </p:custDataLst>
          </p:nvPr>
        </p:nvCxnSpPr>
        <p:spPr bwMode="auto">
          <a:xfrm flipH="1">
            <a:off x="5807075" y="3570288"/>
            <a:ext cx="80963" cy="117475"/>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5" name="Straight Connector 524">
            <a:extLst>
              <a:ext uri="{FF2B5EF4-FFF2-40B4-BE49-F238E27FC236}">
                <a16:creationId xmlns:a16="http://schemas.microsoft.com/office/drawing/2014/main" id="{9ACBD5E1-BB61-61DC-A6E1-B1BBAAFF0019}"/>
              </a:ext>
            </a:extLst>
          </p:cNvPr>
          <p:cNvCxnSpPr/>
          <p:nvPr>
            <p:custDataLst>
              <p:tags r:id="rId4"/>
            </p:custDataLst>
          </p:nvPr>
        </p:nvCxnSpPr>
        <p:spPr bwMode="auto">
          <a:xfrm flipH="1">
            <a:off x="4921250" y="3570288"/>
            <a:ext cx="80963" cy="96838"/>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03" name="Text Placeholder 18">
            <a:extLst>
              <a:ext uri="{FF2B5EF4-FFF2-40B4-BE49-F238E27FC236}">
                <a16:creationId xmlns:a16="http://schemas.microsoft.com/office/drawing/2014/main" id="{55E4D308-3B30-41D0-147D-6EB447505030}"/>
              </a:ext>
            </a:extLst>
          </p:cNvPr>
          <p:cNvSpPr>
            <a:spLocks noGrp="1"/>
          </p:cNvSpPr>
          <p:nvPr>
            <p:custDataLst>
              <p:tags r:id="rId5"/>
            </p:custDataLst>
          </p:nvPr>
        </p:nvSpPr>
        <p:spPr bwMode="auto">
          <a:xfrm>
            <a:off x="838200" y="4398963"/>
            <a:ext cx="712788"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4E12187F-4E09-413D-99A4-4FFF433E667F}" type="datetime'''''Ju''''''l''''-''A''''''''ug (''''Shraw''''''a''n'''')'">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Jul-Aug (Shrawan)</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0" name="Text Placeholder 18">
            <a:extLst>
              <a:ext uri="{FF2B5EF4-FFF2-40B4-BE49-F238E27FC236}">
                <a16:creationId xmlns:a16="http://schemas.microsoft.com/office/drawing/2014/main" id="{6479887A-FFDE-F7BD-8115-27E18567F77D}"/>
              </a:ext>
            </a:extLst>
          </p:cNvPr>
          <p:cNvSpPr>
            <a:spLocks noGrp="1"/>
          </p:cNvSpPr>
          <p:nvPr>
            <p:custDataLst>
              <p:tags r:id="rId6"/>
            </p:custDataLst>
          </p:nvPr>
        </p:nvSpPr>
        <p:spPr bwMode="gray">
          <a:xfrm>
            <a:off x="2012950" y="3595688"/>
            <a:ext cx="134938" cy="182563"/>
          </a:xfrm>
          <a:prstGeom prst="rect">
            <a:avLst/>
          </a:prstGeom>
          <a:solidFill>
            <a:srgbClr val="046A38"/>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9A12CD22-BA8E-4811-9759-C0000E4CF6E6}" type="datetime'''''''''''''''''''''''''''''''''''''''''''''''''''1'">
              <a:rPr kumimoji="0" lang="en-US" altLang="en-US" sz="1200" b="0" i="0" u="none" strike="noStrike" kern="1200" cap="none" spc="0" normalizeH="0" baseline="0" noProof="0" smtClean="0">
                <a:ln>
                  <a:noFill/>
                </a:ln>
                <a:solidFill>
                  <a:prstClr val="white"/>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a:t>
            </a:fld>
            <a:endParaRPr kumimoji="0" lang="en-US" sz="1200" b="0" i="0" u="none" strike="noStrike" kern="1200" cap="none" spc="0" normalizeH="0" baseline="0" noProof="0">
              <a:ln>
                <a:noFill/>
              </a:ln>
              <a:solidFill>
                <a:prstClr val="white"/>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05" name="Text Placeholder 18">
            <a:extLst>
              <a:ext uri="{FF2B5EF4-FFF2-40B4-BE49-F238E27FC236}">
                <a16:creationId xmlns:a16="http://schemas.microsoft.com/office/drawing/2014/main" id="{EF11BD91-0054-F814-39A0-5059E8B9CF15}"/>
              </a:ext>
            </a:extLst>
          </p:cNvPr>
          <p:cNvSpPr>
            <a:spLocks noGrp="1"/>
          </p:cNvSpPr>
          <p:nvPr>
            <p:custDataLst>
              <p:tags r:id="rId7"/>
            </p:custDataLst>
          </p:nvPr>
        </p:nvSpPr>
        <p:spPr bwMode="auto">
          <a:xfrm>
            <a:off x="1778000" y="4398963"/>
            <a:ext cx="603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A924E014-60F8-4EF3-82D5-193B0F1D7438}" type="datetime'''''''A''''''''''''u''''''''''''''''''''g''-''Sep'''''''''''''">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Aug-Sep</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3" name="Text Placeholder 18">
            <a:extLst>
              <a:ext uri="{FF2B5EF4-FFF2-40B4-BE49-F238E27FC236}">
                <a16:creationId xmlns:a16="http://schemas.microsoft.com/office/drawing/2014/main" id="{F50D0492-FB4F-580F-7785-4C37DDC9EC20}"/>
              </a:ext>
            </a:extLst>
          </p:cNvPr>
          <p:cNvSpPr>
            <a:spLocks noGrp="1"/>
          </p:cNvSpPr>
          <p:nvPr>
            <p:custDataLst>
              <p:tags r:id="rId8"/>
            </p:custDataLst>
          </p:nvPr>
        </p:nvSpPr>
        <p:spPr bwMode="gray">
          <a:xfrm>
            <a:off x="2898775" y="3595688"/>
            <a:ext cx="134938" cy="182563"/>
          </a:xfrm>
          <a:prstGeom prst="rect">
            <a:avLst/>
          </a:prstGeom>
          <a:solidFill>
            <a:srgbClr val="046A38"/>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747B08C8-CA90-4770-B27D-4BFD124099CB}" type="datetime'''''''''''''''''''''''''''''1'">
              <a:rPr kumimoji="0" lang="en-US" altLang="en-US" sz="1200" b="0" i="0" u="none" strike="noStrike" kern="1200" cap="none" spc="0" normalizeH="0" baseline="0" noProof="0" smtClean="0">
                <a:ln>
                  <a:noFill/>
                </a:ln>
                <a:solidFill>
                  <a:prstClr val="white"/>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a:t>
            </a:fld>
            <a:endParaRPr kumimoji="0" lang="en-US" sz="1200" b="0" i="0" u="none" strike="noStrike" kern="1200" cap="none" spc="0" normalizeH="0" baseline="0" noProof="0">
              <a:ln>
                <a:noFill/>
              </a:ln>
              <a:solidFill>
                <a:prstClr val="white"/>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06" name="Text Placeholder 18">
            <a:extLst>
              <a:ext uri="{FF2B5EF4-FFF2-40B4-BE49-F238E27FC236}">
                <a16:creationId xmlns:a16="http://schemas.microsoft.com/office/drawing/2014/main" id="{AD456A8E-B64D-CC31-F734-63C67C0FEE1E}"/>
              </a:ext>
            </a:extLst>
          </p:cNvPr>
          <p:cNvSpPr>
            <a:spLocks noGrp="1"/>
          </p:cNvSpPr>
          <p:nvPr>
            <p:custDataLst>
              <p:tags r:id="rId9"/>
            </p:custDataLst>
          </p:nvPr>
        </p:nvSpPr>
        <p:spPr bwMode="auto">
          <a:xfrm>
            <a:off x="2679700" y="4398963"/>
            <a:ext cx="5715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9145E11D-6E69-428B-8409-9148172892C8}" type="datetime'''''S''''''''e''''''p''''-''''''''Oc''''''''t'''''''''''''''''">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Sep-Oct</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8" name="Text Placeholder 18">
            <a:extLst>
              <a:ext uri="{FF2B5EF4-FFF2-40B4-BE49-F238E27FC236}">
                <a16:creationId xmlns:a16="http://schemas.microsoft.com/office/drawing/2014/main" id="{1D4C4D38-4831-9BCF-4777-60F9ACD09D8B}"/>
              </a:ext>
            </a:extLst>
          </p:cNvPr>
          <p:cNvSpPr>
            <a:spLocks noGrp="1"/>
          </p:cNvSpPr>
          <p:nvPr>
            <p:custDataLst>
              <p:tags r:id="rId10"/>
            </p:custDataLst>
          </p:nvPr>
        </p:nvSpPr>
        <p:spPr bwMode="gray">
          <a:xfrm>
            <a:off x="3784600" y="3597275"/>
            <a:ext cx="134938" cy="182563"/>
          </a:xfrm>
          <a:prstGeom prst="rect">
            <a:avLst/>
          </a:prstGeom>
          <a:solidFill>
            <a:srgbClr val="046A38"/>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AF186F2D-0039-40CB-9291-6E97C95DBFDD}" type="datetime'''''''''0'''''''''''''''''''''''''''''''''''''''''''''">
              <a:rPr kumimoji="0" lang="en-US" altLang="en-US" sz="1200" b="0" i="0" u="none" strike="noStrike" kern="1200" cap="none" spc="0" normalizeH="0" baseline="0" noProof="0" smtClean="0">
                <a:ln>
                  <a:noFill/>
                </a:ln>
                <a:solidFill>
                  <a:prstClr val="white"/>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0</a:t>
            </a:fld>
            <a:endParaRPr kumimoji="0" lang="en-US" sz="1200" b="0" i="0" u="none" strike="noStrike" kern="1200" cap="none" spc="0" normalizeH="0" baseline="0" noProof="0">
              <a:ln>
                <a:noFill/>
              </a:ln>
              <a:solidFill>
                <a:prstClr val="white"/>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07" name="Text Placeholder 18">
            <a:extLst>
              <a:ext uri="{FF2B5EF4-FFF2-40B4-BE49-F238E27FC236}">
                <a16:creationId xmlns:a16="http://schemas.microsoft.com/office/drawing/2014/main" id="{2E9DA114-271B-60EC-685B-5C6ADB9DDF15}"/>
              </a:ext>
            </a:extLst>
          </p:cNvPr>
          <p:cNvSpPr>
            <a:spLocks noGrp="1"/>
          </p:cNvSpPr>
          <p:nvPr>
            <p:custDataLst>
              <p:tags r:id="rId11"/>
            </p:custDataLst>
          </p:nvPr>
        </p:nvSpPr>
        <p:spPr bwMode="auto">
          <a:xfrm>
            <a:off x="3565525" y="4398963"/>
            <a:ext cx="5715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A9173713-1152-46DD-B9BE-0097D1016C85}" type="datetime'''''''''''Oc''''''''''t''-''''N''''o''''''''v'''''''''">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Oct-Nov</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08" name="Text Placeholder 18">
            <a:extLst>
              <a:ext uri="{FF2B5EF4-FFF2-40B4-BE49-F238E27FC236}">
                <a16:creationId xmlns:a16="http://schemas.microsoft.com/office/drawing/2014/main" id="{F02BB7B9-2105-BE91-EA72-645DD7D84E63}"/>
              </a:ext>
            </a:extLst>
          </p:cNvPr>
          <p:cNvSpPr>
            <a:spLocks noGrp="1"/>
          </p:cNvSpPr>
          <p:nvPr>
            <p:custDataLst>
              <p:tags r:id="rId12"/>
            </p:custDataLst>
          </p:nvPr>
        </p:nvSpPr>
        <p:spPr bwMode="auto">
          <a:xfrm>
            <a:off x="4435475" y="4398963"/>
            <a:ext cx="603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1FBBBA74-4A64-450F-AFD0-6F9999E79C21}" type="datetime'''''''''N''''''''''''ov''-D''''ec'''''''''''''''''''''">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Nov-Dec</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89" name="Text Placeholder 18">
            <a:extLst>
              <a:ext uri="{FF2B5EF4-FFF2-40B4-BE49-F238E27FC236}">
                <a16:creationId xmlns:a16="http://schemas.microsoft.com/office/drawing/2014/main" id="{4609DF50-61AD-0A18-F644-F245BB293F3D}"/>
              </a:ext>
            </a:extLst>
          </p:cNvPr>
          <p:cNvSpPr>
            <a:spLocks noGrp="1"/>
          </p:cNvSpPr>
          <p:nvPr>
            <p:custDataLst>
              <p:tags r:id="rId13"/>
            </p:custDataLst>
          </p:nvPr>
        </p:nvSpPr>
        <p:spPr bwMode="gray">
          <a:xfrm>
            <a:off x="5888038" y="3479800"/>
            <a:ext cx="134938" cy="182563"/>
          </a:xfrm>
          <a:prstGeom prst="rect">
            <a:avLst/>
          </a:prstGeom>
          <a:noFill/>
          <a:ln>
            <a:noFill/>
          </a:ln>
          <a:effectLst/>
          <a:extLst>
            <a:ext uri="{909E8E84-426E-40DD-AFC4-6F175D3DCCD1}">
              <a14:hiddenFill xmlns:a14="http://schemas.microsoft.com/office/drawing/2010/main">
                <a:solidFill>
                  <a:srgbClr val="62B5E5"/>
                </a:solidFill>
              </a14:hiddenFill>
            </a:ext>
          </a:ex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l" defTabSz="914335" rtl="0" eaLnBrk="1" fontAlgn="auto" latinLnBrk="0" hangingPunct="1">
              <a:lnSpc>
                <a:spcPct val="100000"/>
              </a:lnSpc>
              <a:spcBef>
                <a:spcPct val="0"/>
              </a:spcBef>
              <a:spcAft>
                <a:spcPct val="0"/>
              </a:spcAft>
              <a:buClrTx/>
              <a:buSzPct val="100000"/>
              <a:buFontTx/>
              <a:buNone/>
              <a:tabLst/>
              <a:defRPr/>
            </a:pPr>
            <a:fld id="{66CED16B-5BA9-4BC1-8A1A-09A856BEF870}" type="datetime'''0'''''''''''''''''''''">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l" defTabSz="914335" rtl="0" eaLnBrk="1" fontAlgn="auto" latinLnBrk="0" hangingPunct="1">
                <a:lnSpc>
                  <a:spcPct val="100000"/>
                </a:lnSpc>
                <a:spcBef>
                  <a:spcPct val="0"/>
                </a:spcBef>
                <a:spcAft>
                  <a:spcPct val="0"/>
                </a:spcAft>
                <a:buClrTx/>
                <a:buSzPct val="100000"/>
                <a:buFontTx/>
                <a:buNone/>
                <a:tabLst/>
                <a:defRPr/>
              </a:pPr>
              <a:t>0</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10" name="Text Placeholder 18">
            <a:extLst>
              <a:ext uri="{FF2B5EF4-FFF2-40B4-BE49-F238E27FC236}">
                <a16:creationId xmlns:a16="http://schemas.microsoft.com/office/drawing/2014/main" id="{918D30E0-1190-3978-02E1-9D566CA21FF1}"/>
              </a:ext>
            </a:extLst>
          </p:cNvPr>
          <p:cNvSpPr>
            <a:spLocks noGrp="1"/>
          </p:cNvSpPr>
          <p:nvPr>
            <p:custDataLst>
              <p:tags r:id="rId14"/>
            </p:custDataLst>
          </p:nvPr>
        </p:nvSpPr>
        <p:spPr bwMode="auto">
          <a:xfrm>
            <a:off x="5334000" y="4398963"/>
            <a:ext cx="5778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A00A7270-491E-4B36-8C9B-4DB4E58B0452}" type="datetime'''''D''e''''''''''''c''''''''''''''''-''''J''''''''''a''n'''">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Dec-Jan</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95" name="Text Placeholder 18">
            <a:extLst>
              <a:ext uri="{FF2B5EF4-FFF2-40B4-BE49-F238E27FC236}">
                <a16:creationId xmlns:a16="http://schemas.microsoft.com/office/drawing/2014/main" id="{7EC03AB0-DFA5-A0D5-B8AB-F5D051D07FDD}"/>
              </a:ext>
            </a:extLst>
          </p:cNvPr>
          <p:cNvSpPr>
            <a:spLocks noGrp="1"/>
          </p:cNvSpPr>
          <p:nvPr>
            <p:custDataLst>
              <p:tags r:id="rId15"/>
            </p:custDataLst>
          </p:nvPr>
        </p:nvSpPr>
        <p:spPr bwMode="gray">
          <a:xfrm>
            <a:off x="6440488" y="3597275"/>
            <a:ext cx="134938" cy="182563"/>
          </a:xfrm>
          <a:prstGeom prst="rect">
            <a:avLst/>
          </a:prstGeom>
          <a:solidFill>
            <a:srgbClr val="ED8B00"/>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A27C0D78-B63D-41AA-89D3-D8ABAA4610C6}" type="datetime'''''''''''0'''''''''''''''''''''''''''''''''''''''''''''''">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0</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11" name="Text Placeholder 18">
            <a:extLst>
              <a:ext uri="{FF2B5EF4-FFF2-40B4-BE49-F238E27FC236}">
                <a16:creationId xmlns:a16="http://schemas.microsoft.com/office/drawing/2014/main" id="{4C5C6D9B-B55C-A2FF-B2DC-415D2131FF1A}"/>
              </a:ext>
            </a:extLst>
          </p:cNvPr>
          <p:cNvSpPr>
            <a:spLocks noGrp="1"/>
          </p:cNvSpPr>
          <p:nvPr>
            <p:custDataLst>
              <p:tags r:id="rId16"/>
            </p:custDataLst>
          </p:nvPr>
        </p:nvSpPr>
        <p:spPr bwMode="auto">
          <a:xfrm>
            <a:off x="6223000" y="4398963"/>
            <a:ext cx="5699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2485AB40-5ED9-4C08-B32E-EC1CF4EEF1AE}" type="datetime'''''''J''''a''''''n''''''-''F''''''''''''''''e''b'''''''''''">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Jan-Feb</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96" name="Text Placeholder 18">
            <a:extLst>
              <a:ext uri="{FF2B5EF4-FFF2-40B4-BE49-F238E27FC236}">
                <a16:creationId xmlns:a16="http://schemas.microsoft.com/office/drawing/2014/main" id="{93BAD3D9-6025-8D2A-1AB0-2190D6D2B575}"/>
              </a:ext>
            </a:extLst>
          </p:cNvPr>
          <p:cNvSpPr>
            <a:spLocks noGrp="1"/>
          </p:cNvSpPr>
          <p:nvPr>
            <p:custDataLst>
              <p:tags r:id="rId17"/>
            </p:custDataLst>
          </p:nvPr>
        </p:nvSpPr>
        <p:spPr bwMode="gray">
          <a:xfrm>
            <a:off x="7326313" y="3597275"/>
            <a:ext cx="134938" cy="182563"/>
          </a:xfrm>
          <a:prstGeom prst="rect">
            <a:avLst/>
          </a:prstGeom>
          <a:solidFill>
            <a:srgbClr val="ED8B00"/>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827FD1FB-CA36-4516-85ED-4967F8DCA590}" type="datetime'''''''''''''''''''''''''''''''0'''">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0</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12" name="Text Placeholder 18">
            <a:extLst>
              <a:ext uri="{FF2B5EF4-FFF2-40B4-BE49-F238E27FC236}">
                <a16:creationId xmlns:a16="http://schemas.microsoft.com/office/drawing/2014/main" id="{6271F2FC-0B95-6E84-69FE-B730A538BD30}"/>
              </a:ext>
            </a:extLst>
          </p:cNvPr>
          <p:cNvSpPr>
            <a:spLocks noGrp="1"/>
          </p:cNvSpPr>
          <p:nvPr>
            <p:custDataLst>
              <p:tags r:id="rId18"/>
            </p:custDataLst>
          </p:nvPr>
        </p:nvSpPr>
        <p:spPr bwMode="auto">
          <a:xfrm>
            <a:off x="7099300" y="4398963"/>
            <a:ext cx="5873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EC237F85-4F8D-411F-8039-07C3AB5B80C4}" type="datetime'''''''''''''''''''''F''''''''''''eb-''''M''''''a''''''r'''''">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Feb-Mar</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98" name="Text Placeholder 18">
            <a:extLst>
              <a:ext uri="{FF2B5EF4-FFF2-40B4-BE49-F238E27FC236}">
                <a16:creationId xmlns:a16="http://schemas.microsoft.com/office/drawing/2014/main" id="{16654DFC-E7A1-B55A-7B07-092A513F2C26}"/>
              </a:ext>
            </a:extLst>
          </p:cNvPr>
          <p:cNvSpPr>
            <a:spLocks noGrp="1"/>
          </p:cNvSpPr>
          <p:nvPr>
            <p:custDataLst>
              <p:tags r:id="rId19"/>
            </p:custDataLst>
          </p:nvPr>
        </p:nvSpPr>
        <p:spPr bwMode="gray">
          <a:xfrm>
            <a:off x="8212138" y="3597275"/>
            <a:ext cx="134938" cy="182563"/>
          </a:xfrm>
          <a:prstGeom prst="rect">
            <a:avLst/>
          </a:prstGeom>
          <a:solidFill>
            <a:srgbClr val="ED8B00"/>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D2DF8449-66FB-4D0F-816C-D7276EE6B885}" type="datetime'''''''''''''''''''''''''''''''''''''''''''''''''''''0'''''''">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0</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13" name="Text Placeholder 18">
            <a:extLst>
              <a:ext uri="{FF2B5EF4-FFF2-40B4-BE49-F238E27FC236}">
                <a16:creationId xmlns:a16="http://schemas.microsoft.com/office/drawing/2014/main" id="{34C11895-5D9F-9A49-29B7-3C866FD38A1A}"/>
              </a:ext>
            </a:extLst>
          </p:cNvPr>
          <p:cNvSpPr>
            <a:spLocks noGrp="1"/>
          </p:cNvSpPr>
          <p:nvPr>
            <p:custDataLst>
              <p:tags r:id="rId20"/>
            </p:custDataLst>
          </p:nvPr>
        </p:nvSpPr>
        <p:spPr bwMode="auto">
          <a:xfrm>
            <a:off x="7997825" y="4398963"/>
            <a:ext cx="5619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8214502C-662E-45F4-AD9B-B1490EDC272B}" type="datetime'''''''''''''''''''''Ma''''''''r''-''''''''''A''''''''''pr'">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Mar-Apr</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536" name="Text Placeholder 18">
            <a:extLst>
              <a:ext uri="{FF2B5EF4-FFF2-40B4-BE49-F238E27FC236}">
                <a16:creationId xmlns:a16="http://schemas.microsoft.com/office/drawing/2014/main" id="{73666160-9FEC-D4E5-B254-D0164C1670BE}"/>
              </a:ext>
            </a:extLst>
          </p:cNvPr>
          <p:cNvSpPr>
            <a:spLocks noGrp="1"/>
          </p:cNvSpPr>
          <p:nvPr>
            <p:custDataLst>
              <p:tags r:id="rId21"/>
            </p:custDataLst>
          </p:nvPr>
        </p:nvSpPr>
        <p:spPr bwMode="gray">
          <a:xfrm>
            <a:off x="1084263" y="3589338"/>
            <a:ext cx="219075" cy="182563"/>
          </a:xfrm>
          <a:prstGeom prst="rect">
            <a:avLst/>
          </a:prstGeom>
          <a:solidFill>
            <a:srgbClr val="046A38"/>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6175D253-3A24-4F85-B574-324517C28CAC}" type="datetime'''''''''10'''''''''''''''''''''">
              <a:rPr kumimoji="0" lang="en-US" altLang="en-US" sz="1200" b="0" i="0" u="none" strike="noStrike" kern="1200" cap="none" spc="0" normalizeH="0" baseline="0" noProof="0" smtClean="0">
                <a:ln>
                  <a:noFill/>
                </a:ln>
                <a:solidFill>
                  <a:prstClr val="white"/>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10</a:t>
            </a:fld>
            <a:endParaRPr kumimoji="0" lang="en-US" sz="1200" b="0" i="0" u="none" strike="noStrike" kern="1200" cap="none" spc="0" normalizeH="0" baseline="0" noProof="0">
              <a:ln>
                <a:noFill/>
              </a:ln>
              <a:solidFill>
                <a:prstClr val="white"/>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14" name="Text Placeholder 18">
            <a:extLst>
              <a:ext uri="{FF2B5EF4-FFF2-40B4-BE49-F238E27FC236}">
                <a16:creationId xmlns:a16="http://schemas.microsoft.com/office/drawing/2014/main" id="{0E1E9F16-4434-6F15-7851-23DD90421605}"/>
              </a:ext>
            </a:extLst>
          </p:cNvPr>
          <p:cNvSpPr>
            <a:spLocks noGrp="1"/>
          </p:cNvSpPr>
          <p:nvPr>
            <p:custDataLst>
              <p:tags r:id="rId22"/>
            </p:custDataLst>
          </p:nvPr>
        </p:nvSpPr>
        <p:spPr bwMode="auto">
          <a:xfrm>
            <a:off x="8870950" y="4398963"/>
            <a:ext cx="5873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9B2E3FED-C418-4B25-836C-AE03DDA2171C}" type="datetime'''A''p''''''''''''''''''''r''''''''''-''''Ma''''''''''''y'">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Apr-May</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541" name="Text Placeholder 18">
            <a:extLst>
              <a:ext uri="{FF2B5EF4-FFF2-40B4-BE49-F238E27FC236}">
                <a16:creationId xmlns:a16="http://schemas.microsoft.com/office/drawing/2014/main" id="{0920712D-A1EF-BA89-F6D7-70074157614E}"/>
              </a:ext>
            </a:extLst>
          </p:cNvPr>
          <p:cNvSpPr>
            <a:spLocks noGrp="1"/>
          </p:cNvSpPr>
          <p:nvPr>
            <p:custDataLst>
              <p:tags r:id="rId23"/>
            </p:custDataLst>
          </p:nvPr>
        </p:nvSpPr>
        <p:spPr bwMode="gray">
          <a:xfrm>
            <a:off x="9915525" y="3646488"/>
            <a:ext cx="269875" cy="182563"/>
          </a:xfrm>
          <a:prstGeom prst="rect">
            <a:avLst/>
          </a:prstGeom>
          <a:solidFill>
            <a:srgbClr val="ED8B00"/>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D29FC809-3F44-47D0-808A-D28E7E84B823}" type="datetime'''''''''-''6''8'''''''''''''''''''''''''''''">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-68</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15" name="Text Placeholder 18">
            <a:extLst>
              <a:ext uri="{FF2B5EF4-FFF2-40B4-BE49-F238E27FC236}">
                <a16:creationId xmlns:a16="http://schemas.microsoft.com/office/drawing/2014/main" id="{BE37C567-C403-0C87-BB15-E1358C41C46C}"/>
              </a:ext>
            </a:extLst>
          </p:cNvPr>
          <p:cNvSpPr>
            <a:spLocks noGrp="1"/>
          </p:cNvSpPr>
          <p:nvPr>
            <p:custDataLst>
              <p:tags r:id="rId24"/>
            </p:custDataLst>
          </p:nvPr>
        </p:nvSpPr>
        <p:spPr bwMode="auto">
          <a:xfrm>
            <a:off x="9753600" y="4398963"/>
            <a:ext cx="5953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CBB3CABE-1BA4-4DFA-9638-96CC5802826B}" type="datetime'''''''''''M''''a''''''''''''y-''J''''''''''''''u''n'''">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May-Jun</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519" name="Text Placeholder 18">
            <a:extLst>
              <a:ext uri="{FF2B5EF4-FFF2-40B4-BE49-F238E27FC236}">
                <a16:creationId xmlns:a16="http://schemas.microsoft.com/office/drawing/2014/main" id="{E31408BB-43B0-F1DA-7175-F04EBFF465C6}"/>
              </a:ext>
            </a:extLst>
          </p:cNvPr>
          <p:cNvSpPr>
            <a:spLocks noGrp="1"/>
          </p:cNvSpPr>
          <p:nvPr>
            <p:custDataLst>
              <p:tags r:id="rId25"/>
            </p:custDataLst>
          </p:nvPr>
        </p:nvSpPr>
        <p:spPr bwMode="gray">
          <a:xfrm>
            <a:off x="10826750" y="3582988"/>
            <a:ext cx="219075" cy="182563"/>
          </a:xfrm>
          <a:prstGeom prst="rect">
            <a:avLst/>
          </a:prstGeom>
          <a:solidFill>
            <a:srgbClr val="046A38"/>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81D92585-036C-4C30-86DA-D03CE5DD3695}" type="datetime'''1''''''''''''''''''''''''''''''''9'''''''''''''''''''''''">
              <a:rPr kumimoji="0" lang="en-US" altLang="en-US" sz="1200" b="0" i="0" u="none" strike="noStrike" kern="1200" cap="none" spc="0" normalizeH="0" baseline="0" noProof="0" smtClean="0">
                <a:ln>
                  <a:noFill/>
                </a:ln>
                <a:solidFill>
                  <a:prstClr val="white"/>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19</a:t>
            </a:fld>
            <a:endParaRPr kumimoji="0" lang="en-US" sz="1200" b="0" i="0" u="none" strike="noStrike" kern="1200" cap="none" spc="0" normalizeH="0" baseline="0" noProof="0">
              <a:ln>
                <a:noFill/>
              </a:ln>
              <a:solidFill>
                <a:prstClr val="white"/>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16" name="Text Placeholder 18">
            <a:extLst>
              <a:ext uri="{FF2B5EF4-FFF2-40B4-BE49-F238E27FC236}">
                <a16:creationId xmlns:a16="http://schemas.microsoft.com/office/drawing/2014/main" id="{6F8E8DD3-4E84-551A-A0F5-A990B6CB189D}"/>
              </a:ext>
            </a:extLst>
          </p:cNvPr>
          <p:cNvSpPr>
            <a:spLocks noGrp="1"/>
          </p:cNvSpPr>
          <p:nvPr>
            <p:custDataLst>
              <p:tags r:id="rId26"/>
            </p:custDataLst>
          </p:nvPr>
        </p:nvSpPr>
        <p:spPr bwMode="auto">
          <a:xfrm>
            <a:off x="10685463" y="4398963"/>
            <a:ext cx="5016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3EA204A0-96AC-4891-BCCE-4BC6104FD632}" type="datetime'''''''''''''''''''''''''''''J''u''''''n''''''-Ju''l'''''''''">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Jun-Jul</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26" name="Text Placeholder 18">
            <a:extLst>
              <a:ext uri="{FF2B5EF4-FFF2-40B4-BE49-F238E27FC236}">
                <a16:creationId xmlns:a16="http://schemas.microsoft.com/office/drawing/2014/main" id="{EC97313D-FDE4-D13D-9533-E5358AADD860}"/>
              </a:ext>
            </a:extLst>
          </p:cNvPr>
          <p:cNvSpPr>
            <a:spLocks noGrp="1"/>
          </p:cNvSpPr>
          <p:nvPr>
            <p:custDataLst>
              <p:tags r:id="rId27"/>
            </p:custDataLst>
          </p:nvPr>
        </p:nvSpPr>
        <p:spPr bwMode="gray">
          <a:xfrm>
            <a:off x="979488" y="1325563"/>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32337ED1-32CA-434D-A354-4C637052BDA3}" type="datetime'''1'''''''''''''''''''''''''''',''''''''''22''''''''1'''">
              <a:rPr kumimoji="0" lang="en-US" altLang="en-US" sz="12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1,221</a:t>
            </a:fld>
            <a:endPar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27" name="Text Placeholder 18">
            <a:extLst>
              <a:ext uri="{FF2B5EF4-FFF2-40B4-BE49-F238E27FC236}">
                <a16:creationId xmlns:a16="http://schemas.microsoft.com/office/drawing/2014/main" id="{14041C28-280A-054D-DF49-3CF23D737921}"/>
              </a:ext>
            </a:extLst>
          </p:cNvPr>
          <p:cNvSpPr>
            <a:spLocks noGrp="1"/>
          </p:cNvSpPr>
          <p:nvPr>
            <p:custDataLst>
              <p:tags r:id="rId28"/>
            </p:custDataLst>
          </p:nvPr>
        </p:nvSpPr>
        <p:spPr bwMode="gray">
          <a:xfrm>
            <a:off x="1865313" y="1360488"/>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8787F652-F5C6-48C1-9493-60D1577A22C8}" type="datetime'''1'''''',''''1''''''''''''''4''8'''''''''''''''''">
              <a:rPr kumimoji="0" lang="en-US" altLang="en-US" sz="12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1,148</a:t>
            </a:fld>
            <a:endPar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28" name="Text Placeholder 18">
            <a:extLst>
              <a:ext uri="{FF2B5EF4-FFF2-40B4-BE49-F238E27FC236}">
                <a16:creationId xmlns:a16="http://schemas.microsoft.com/office/drawing/2014/main" id="{D8C81B71-1EB6-C149-8947-5044044AD613}"/>
              </a:ext>
            </a:extLst>
          </p:cNvPr>
          <p:cNvSpPr>
            <a:spLocks noGrp="1"/>
          </p:cNvSpPr>
          <p:nvPr>
            <p:custDataLst>
              <p:tags r:id="rId29"/>
            </p:custDataLst>
          </p:nvPr>
        </p:nvSpPr>
        <p:spPr bwMode="gray">
          <a:xfrm>
            <a:off x="2751138" y="1355725"/>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100DD1F0-8E20-4ED2-8E82-B671610FB34F}" type="datetime'''''''1'''''''''',''''''''0''''''''''3''''''''''''''9'''''">
              <a:rPr kumimoji="0" lang="en-US" altLang="en-US" sz="12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1,039</a:t>
            </a:fld>
            <a:endPar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34" name="Text Placeholder 18">
            <a:extLst>
              <a:ext uri="{FF2B5EF4-FFF2-40B4-BE49-F238E27FC236}">
                <a16:creationId xmlns:a16="http://schemas.microsoft.com/office/drawing/2014/main" id="{B57EC7D8-EFF5-60C7-A7EB-78B7807396D7}"/>
              </a:ext>
            </a:extLst>
          </p:cNvPr>
          <p:cNvSpPr>
            <a:spLocks noGrp="1"/>
          </p:cNvSpPr>
          <p:nvPr>
            <p:custDataLst>
              <p:tags r:id="rId30"/>
            </p:custDataLst>
          </p:nvPr>
        </p:nvSpPr>
        <p:spPr bwMode="gray">
          <a:xfrm>
            <a:off x="3700463" y="1751013"/>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AEC7258C-9890-4C9C-8CD8-883C032B357F}" type="datetime'''''''''80''''''''''''''''''''''''''''''''''''''''6'''''''">
              <a:rPr kumimoji="0" lang="en-US" altLang="en-US" sz="12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806</a:t>
            </a:fld>
            <a:endPar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36" name="Text Placeholder 18">
            <a:extLst>
              <a:ext uri="{FF2B5EF4-FFF2-40B4-BE49-F238E27FC236}">
                <a16:creationId xmlns:a16="http://schemas.microsoft.com/office/drawing/2014/main" id="{EE25647C-7B79-889F-19CA-2FFAE8DB7F52}"/>
              </a:ext>
            </a:extLst>
          </p:cNvPr>
          <p:cNvSpPr>
            <a:spLocks noGrp="1"/>
          </p:cNvSpPr>
          <p:nvPr>
            <p:custDataLst>
              <p:tags r:id="rId31"/>
            </p:custDataLst>
          </p:nvPr>
        </p:nvSpPr>
        <p:spPr bwMode="gray">
          <a:xfrm>
            <a:off x="4586288" y="2057400"/>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2C97DA8A-D028-4218-8CED-138F443A4FF8}" type="datetime'''''''''''''''''''''''''''''''''''''8''''''''''6''''''2'''">
              <a:rPr kumimoji="0" lang="en-US" altLang="en-US" sz="12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862</a:t>
            </a:fld>
            <a:endPar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37" name="Text Placeholder 18">
            <a:extLst>
              <a:ext uri="{FF2B5EF4-FFF2-40B4-BE49-F238E27FC236}">
                <a16:creationId xmlns:a16="http://schemas.microsoft.com/office/drawing/2014/main" id="{692621E2-D478-562A-E99A-96B383DD1F14}"/>
              </a:ext>
            </a:extLst>
          </p:cNvPr>
          <p:cNvSpPr>
            <a:spLocks noGrp="1"/>
          </p:cNvSpPr>
          <p:nvPr>
            <p:custDataLst>
              <p:tags r:id="rId32"/>
            </p:custDataLst>
          </p:nvPr>
        </p:nvSpPr>
        <p:spPr bwMode="gray">
          <a:xfrm>
            <a:off x="5472113" y="2182813"/>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4FCA2B74-F32F-40BD-873F-BD28F439BC82}" type="datetime'''8''''''''''''''9''''''0'''''''">
              <a:rPr kumimoji="0" lang="en-US" altLang="en-US" sz="12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890</a:t>
            </a:fld>
            <a:endPar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38" name="Text Placeholder 18">
            <a:extLst>
              <a:ext uri="{FF2B5EF4-FFF2-40B4-BE49-F238E27FC236}">
                <a16:creationId xmlns:a16="http://schemas.microsoft.com/office/drawing/2014/main" id="{9B3AAAAC-AB9F-BAFF-A538-4279B71C00D2}"/>
              </a:ext>
            </a:extLst>
          </p:cNvPr>
          <p:cNvSpPr>
            <a:spLocks noGrp="1"/>
          </p:cNvSpPr>
          <p:nvPr>
            <p:custDataLst>
              <p:tags r:id="rId33"/>
            </p:custDataLst>
          </p:nvPr>
        </p:nvSpPr>
        <p:spPr bwMode="gray">
          <a:xfrm>
            <a:off x="6356350" y="2049463"/>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273C4F9E-802E-4F9A-A540-54072681BA36}" type="datetime'''''''''''''''''''''''''''''''''''''9''8''''''''''''1'''''''">
              <a:rPr kumimoji="0" lang="en-US" altLang="en-US" sz="12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981</a:t>
            </a:fld>
            <a:endPar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39" name="Text Placeholder 18">
            <a:extLst>
              <a:ext uri="{FF2B5EF4-FFF2-40B4-BE49-F238E27FC236}">
                <a16:creationId xmlns:a16="http://schemas.microsoft.com/office/drawing/2014/main" id="{811AE97C-9D5B-97FA-64E7-2BF923CB694D}"/>
              </a:ext>
            </a:extLst>
          </p:cNvPr>
          <p:cNvSpPr>
            <a:spLocks noGrp="1"/>
          </p:cNvSpPr>
          <p:nvPr>
            <p:custDataLst>
              <p:tags r:id="rId34"/>
            </p:custDataLst>
          </p:nvPr>
        </p:nvSpPr>
        <p:spPr bwMode="gray">
          <a:xfrm>
            <a:off x="7242175" y="2041525"/>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E24E388A-0BDB-48D1-9E2D-CAF3F3FB8635}" type="datetime'''''''''''''''''''''''''''''''''''98''''''''''''''''''''7'''''">
              <a:rPr kumimoji="0" lang="en-US" altLang="en-US" sz="12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987</a:t>
            </a:fld>
            <a:endPar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40" name="Text Placeholder 18">
            <a:extLst>
              <a:ext uri="{FF2B5EF4-FFF2-40B4-BE49-F238E27FC236}">
                <a16:creationId xmlns:a16="http://schemas.microsoft.com/office/drawing/2014/main" id="{424012BA-37FE-36DB-52F4-F2C6775E02A2}"/>
              </a:ext>
            </a:extLst>
          </p:cNvPr>
          <p:cNvSpPr>
            <a:spLocks noGrp="1"/>
          </p:cNvSpPr>
          <p:nvPr>
            <p:custDataLst>
              <p:tags r:id="rId35"/>
            </p:custDataLst>
          </p:nvPr>
        </p:nvSpPr>
        <p:spPr bwMode="gray">
          <a:xfrm>
            <a:off x="8128000" y="2035175"/>
            <a:ext cx="303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97531B5D-6466-4667-8C49-32C5018CB000}" type="datetime'''''''''''''''''9''''91'''''''">
              <a:rPr kumimoji="0" lang="en-US" altLang="en-US" sz="12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991</a:t>
            </a:fld>
            <a:endPar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41" name="Text Placeholder 18">
            <a:extLst>
              <a:ext uri="{FF2B5EF4-FFF2-40B4-BE49-F238E27FC236}">
                <a16:creationId xmlns:a16="http://schemas.microsoft.com/office/drawing/2014/main" id="{BC82DB2A-1980-F2C9-649B-0BF7AE77063C}"/>
              </a:ext>
            </a:extLst>
          </p:cNvPr>
          <p:cNvSpPr>
            <a:spLocks noGrp="1"/>
          </p:cNvSpPr>
          <p:nvPr>
            <p:custDataLst>
              <p:tags r:id="rId36"/>
            </p:custDataLst>
          </p:nvPr>
        </p:nvSpPr>
        <p:spPr bwMode="gray">
          <a:xfrm>
            <a:off x="8950325" y="1739900"/>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0B96AB26-CC41-4DC1-B4A3-27D56ECC07AC}" type="datetime'''''''1'''''''''''''''''''''''''''''',''''''''''1''93'''">
              <a:rPr kumimoji="0" lang="en-US" altLang="en-US" sz="12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1,193</a:t>
            </a:fld>
            <a:endPar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42" name="Text Placeholder 18">
            <a:extLst>
              <a:ext uri="{FF2B5EF4-FFF2-40B4-BE49-F238E27FC236}">
                <a16:creationId xmlns:a16="http://schemas.microsoft.com/office/drawing/2014/main" id="{B87D858B-0410-6F56-1690-CBA64FF84CF0}"/>
              </a:ext>
            </a:extLst>
          </p:cNvPr>
          <p:cNvSpPr>
            <a:spLocks noGrp="1"/>
          </p:cNvSpPr>
          <p:nvPr>
            <p:custDataLst>
              <p:tags r:id="rId37"/>
            </p:custDataLst>
          </p:nvPr>
        </p:nvSpPr>
        <p:spPr bwMode="gray">
          <a:xfrm>
            <a:off x="9836150" y="1438275"/>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7079B429-0429-41D3-BF48-C3F542AE4A18}" type="datetime'''''''''''''''1'''''''''''''''',33''''''''''''2'''''">
              <a:rPr kumimoji="0" lang="en-US" altLang="en-US" sz="12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1,332</a:t>
            </a:fld>
            <a:endPar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43" name="Text Placeholder 18">
            <a:extLst>
              <a:ext uri="{FF2B5EF4-FFF2-40B4-BE49-F238E27FC236}">
                <a16:creationId xmlns:a16="http://schemas.microsoft.com/office/drawing/2014/main" id="{AC51DAFC-B565-5934-1B82-65BA6B7BB801}"/>
              </a:ext>
            </a:extLst>
          </p:cNvPr>
          <p:cNvSpPr>
            <a:spLocks noGrp="1"/>
          </p:cNvSpPr>
          <p:nvPr>
            <p:custDataLst>
              <p:tags r:id="rId38"/>
            </p:custDataLst>
          </p:nvPr>
        </p:nvSpPr>
        <p:spPr bwMode="gray">
          <a:xfrm>
            <a:off x="10721975" y="1101725"/>
            <a:ext cx="4302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FC5C318A-0D8A-42C5-BDD1-F19C029D143A}" type="datetime'''''''''''1'',''''''''2''''''''''''''''''''3''0'''''''''''''''">
              <a:rPr kumimoji="0" lang="en-US" altLang="en-US" sz="1200" b="1"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1,230</a:t>
            </a:fld>
            <a:endParaRPr kumimoji="0" lang="en-US" sz="1200" b="1"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499" name="Text Placeholder 18">
            <a:extLst>
              <a:ext uri="{FF2B5EF4-FFF2-40B4-BE49-F238E27FC236}">
                <a16:creationId xmlns:a16="http://schemas.microsoft.com/office/drawing/2014/main" id="{03641C60-6137-5C09-CE78-74FB792225EE}"/>
              </a:ext>
            </a:extLst>
          </p:cNvPr>
          <p:cNvSpPr>
            <a:spLocks noGrp="1"/>
          </p:cNvSpPr>
          <p:nvPr>
            <p:custDataLst>
              <p:tags r:id="rId39"/>
            </p:custDataLst>
          </p:nvPr>
        </p:nvSpPr>
        <p:spPr bwMode="gray">
          <a:xfrm>
            <a:off x="9097963" y="3597275"/>
            <a:ext cx="134938" cy="182563"/>
          </a:xfrm>
          <a:prstGeom prst="rect">
            <a:avLst/>
          </a:prstGeom>
          <a:solidFill>
            <a:srgbClr val="ED8B00"/>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ctr" defTabSz="914335" rtl="0" eaLnBrk="1" fontAlgn="auto" latinLnBrk="0" hangingPunct="1">
              <a:lnSpc>
                <a:spcPct val="100000"/>
              </a:lnSpc>
              <a:spcBef>
                <a:spcPct val="0"/>
              </a:spcBef>
              <a:spcAft>
                <a:spcPct val="0"/>
              </a:spcAft>
              <a:buClrTx/>
              <a:buSzPct val="100000"/>
              <a:buFontTx/>
              <a:buNone/>
              <a:tabLst/>
              <a:defRPr/>
            </a:pPr>
            <a:fld id="{22A4A0C7-2C58-4F28-9EB4-E52C4C821702}" type="datetime'0'''''''''''''''''''''''''''''''''">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rPr>
              <a:pPr marL="0" marR="0" lvl="0" indent="0" algn="ctr" defTabSz="914335" rtl="0" eaLnBrk="1" fontAlgn="auto" latinLnBrk="0" hangingPunct="1">
                <a:lnSpc>
                  <a:spcPct val="100000"/>
                </a:lnSpc>
                <a:spcBef>
                  <a:spcPct val="0"/>
                </a:spcBef>
                <a:spcAft>
                  <a:spcPct val="0"/>
                </a:spcAft>
                <a:buClrTx/>
                <a:buSzPct val="100000"/>
                <a:buFontTx/>
                <a:buNone/>
                <a:tabLst/>
                <a:defRPr/>
              </a:pPr>
              <a:t>0</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45" name="Rectangle 244">
            <a:extLst>
              <a:ext uri="{FF2B5EF4-FFF2-40B4-BE49-F238E27FC236}">
                <a16:creationId xmlns:a16="http://schemas.microsoft.com/office/drawing/2014/main" id="{EA477751-A4F4-BF42-298A-056CDA277156}"/>
              </a:ext>
            </a:extLst>
          </p:cNvPr>
          <p:cNvSpPr/>
          <p:nvPr>
            <p:custDataLst>
              <p:tags r:id="rId40"/>
            </p:custDataLst>
          </p:nvPr>
        </p:nvSpPr>
        <p:spPr bwMode="auto">
          <a:xfrm>
            <a:off x="2270125" y="4840288"/>
            <a:ext cx="214313" cy="160338"/>
          </a:xfrm>
          <a:prstGeom prst="rect">
            <a:avLst/>
          </a:prstGeom>
          <a:solidFill>
            <a:srgbClr val="86BC25"/>
          </a:solidFill>
          <a:ln w="19050" algn="ctr">
            <a:noFill/>
            <a:miter lim="800000"/>
            <a:headEnd/>
            <a:tailEnd/>
          </a:ln>
          <a:effectLst/>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18" name="Rectangle 17">
            <a:extLst>
              <a:ext uri="{FF2B5EF4-FFF2-40B4-BE49-F238E27FC236}">
                <a16:creationId xmlns:a16="http://schemas.microsoft.com/office/drawing/2014/main" id="{0188D3BD-5B6D-81C4-444E-838CD7C151EE}"/>
              </a:ext>
            </a:extLst>
          </p:cNvPr>
          <p:cNvSpPr/>
          <p:nvPr>
            <p:custDataLst>
              <p:tags r:id="rId41"/>
            </p:custDataLst>
          </p:nvPr>
        </p:nvSpPr>
        <p:spPr bwMode="auto">
          <a:xfrm>
            <a:off x="8482013" y="4840288"/>
            <a:ext cx="214313" cy="160338"/>
          </a:xfrm>
          <a:prstGeom prst="rect">
            <a:avLst/>
          </a:prstGeom>
          <a:solidFill>
            <a:srgbClr val="046A38"/>
          </a:solidFill>
          <a:ln w="19050" algn="ctr">
            <a:noFill/>
            <a:miter lim="800000"/>
            <a:headEnd/>
            <a:tailEnd/>
          </a:ln>
          <a:effectLst/>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454" name="Rectangle 453">
            <a:extLst>
              <a:ext uri="{FF2B5EF4-FFF2-40B4-BE49-F238E27FC236}">
                <a16:creationId xmlns:a16="http://schemas.microsoft.com/office/drawing/2014/main" id="{29366CC4-E65C-6F71-83B7-BCC704558C36}"/>
              </a:ext>
            </a:extLst>
          </p:cNvPr>
          <p:cNvSpPr/>
          <p:nvPr>
            <p:custDataLst>
              <p:tags r:id="rId42"/>
            </p:custDataLst>
          </p:nvPr>
        </p:nvSpPr>
        <p:spPr bwMode="auto">
          <a:xfrm>
            <a:off x="9323388" y="4840288"/>
            <a:ext cx="214313" cy="160338"/>
          </a:xfrm>
          <a:prstGeom prst="rect">
            <a:avLst/>
          </a:prstGeom>
          <a:solidFill>
            <a:srgbClr val="ED8B00"/>
          </a:solidFill>
          <a:ln w="19050" algn="ctr">
            <a:noFill/>
            <a:miter lim="800000"/>
            <a:headEnd/>
            <a:tailEnd/>
          </a:ln>
          <a:effectLst/>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219" name="Text Placeholder 18">
            <a:extLst>
              <a:ext uri="{FF2B5EF4-FFF2-40B4-BE49-F238E27FC236}">
                <a16:creationId xmlns:a16="http://schemas.microsoft.com/office/drawing/2014/main" id="{99A6F381-E676-87E1-05DA-7274FED65DAE}"/>
              </a:ext>
            </a:extLst>
          </p:cNvPr>
          <p:cNvSpPr>
            <a:spLocks noGrp="1"/>
          </p:cNvSpPr>
          <p:nvPr>
            <p:custDataLst>
              <p:tags r:id="rId43"/>
            </p:custDataLst>
          </p:nvPr>
        </p:nvSpPr>
        <p:spPr bwMode="auto">
          <a:xfrm>
            <a:off x="2535238" y="4835525"/>
            <a:ext cx="584517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l" defTabSz="914335" rtl="0" eaLnBrk="1" fontAlgn="auto" latinLnBrk="0" hangingPunct="1">
              <a:lnSpc>
                <a:spcPct val="100000"/>
              </a:lnSpc>
              <a:spcBef>
                <a:spcPct val="0"/>
              </a:spcBef>
              <a:spcAft>
                <a:spcPct val="0"/>
              </a:spcAft>
              <a:buClrTx/>
              <a:buSzPct val="100000"/>
              <a:buFontTx/>
              <a:buNone/>
              <a:tabLst/>
              <a:defRPr/>
            </a:pPr>
            <a:fld id="{8939D6E1-429B-42F1-93DD-8C61C057ABB8}" type="thinkcell&lt;?xml version=&quot;1.0&quot; encoding=&quot;UTF-16&quot; standalone=&quot;yes&quot;?&gt;&lt;root reqver=&quot;28224&quot;&gt;&lt;version val=&quot;35712&quot;/&gt;&lt;PersistentType&gt;&lt;m_guid val=&quot;316e1a08-e29c-4287-bee6-ce586a42fe63&quot;/&gt;&lt;m_prec&gt;&lt;m_yearfmt&gt;&lt;begin val=&quot;0&quot;/&gt;&lt;end val=&quot;4&quot;/&gt;&lt;/m_yearfmt&gt;&lt;/m_prec&gt;&lt;m_bUseExcelFont val=&quot;0&quot;/&gt;&lt;m_bUseExcelFontColor val=&quot;0&quot;/&gt;&lt;/PersistentType&gt;&lt;/root&gt;">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l" defTabSz="914335" rtl="0" eaLnBrk="1" fontAlgn="auto" latinLnBrk="0" hangingPunct="1">
                <a:lnSpc>
                  <a:spcPct val="100000"/>
                </a:lnSpc>
                <a:spcBef>
                  <a:spcPct val="0"/>
                </a:spcBef>
                <a:spcAft>
                  <a:spcPct val="0"/>
                </a:spcAft>
                <a:buClrTx/>
                <a:buSzPct val="100000"/>
                <a:buFontTx/>
                <a:buNone/>
                <a:tabLst/>
                <a:defRPr/>
              </a:pPr>
              <a:t>Monthly System Energy Demand (IPP+NEA+NEA Sub+Storage+Thermal+Interruption)</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14" name="Text Placeholder 18">
            <a:extLst>
              <a:ext uri="{FF2B5EF4-FFF2-40B4-BE49-F238E27FC236}">
                <a16:creationId xmlns:a16="http://schemas.microsoft.com/office/drawing/2014/main" id="{EACEE46F-21B5-FCDF-62CF-B2439AC8AE22}"/>
              </a:ext>
            </a:extLst>
          </p:cNvPr>
          <p:cNvSpPr>
            <a:spLocks noGrp="1"/>
          </p:cNvSpPr>
          <p:nvPr>
            <p:custDataLst>
              <p:tags r:id="rId44"/>
            </p:custDataLst>
          </p:nvPr>
        </p:nvSpPr>
        <p:spPr bwMode="auto">
          <a:xfrm>
            <a:off x="8747125" y="4835525"/>
            <a:ext cx="47466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l" defTabSz="914335" rtl="0" eaLnBrk="1" fontAlgn="auto" latinLnBrk="0" hangingPunct="1">
              <a:lnSpc>
                <a:spcPct val="100000"/>
              </a:lnSpc>
              <a:spcBef>
                <a:spcPct val="0"/>
              </a:spcBef>
              <a:spcAft>
                <a:spcPct val="0"/>
              </a:spcAft>
              <a:buClrTx/>
              <a:buSzPct val="100000"/>
              <a:buFontTx/>
              <a:buNone/>
              <a:tabLst/>
              <a:defRPr/>
            </a:pPr>
            <a:fld id="{9CCC4AF7-AE73-4558-A725-6C744FCE6F27}" type="datetime'Im''''''''''''''''''''''''''p''''''''o''rt'''' '''''''''''''">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l" defTabSz="914335" rtl="0" eaLnBrk="1" fontAlgn="auto" latinLnBrk="0" hangingPunct="1">
                <a:lnSpc>
                  <a:spcPct val="100000"/>
                </a:lnSpc>
                <a:spcBef>
                  <a:spcPct val="0"/>
                </a:spcBef>
                <a:spcAft>
                  <a:spcPct val="0"/>
                </a:spcAft>
                <a:buClrTx/>
                <a:buSzPct val="100000"/>
                <a:buFontTx/>
                <a:buNone/>
                <a:tabLst/>
                <a:defRPr/>
              </a:pPr>
              <a:t>Import </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54" name="Text Placeholder 18">
            <a:extLst>
              <a:ext uri="{FF2B5EF4-FFF2-40B4-BE49-F238E27FC236}">
                <a16:creationId xmlns:a16="http://schemas.microsoft.com/office/drawing/2014/main" id="{386CE9A1-D1CE-410C-B369-9B6D288513B3}"/>
              </a:ext>
            </a:extLst>
          </p:cNvPr>
          <p:cNvSpPr>
            <a:spLocks noGrp="1"/>
          </p:cNvSpPr>
          <p:nvPr>
            <p:custDataLst>
              <p:tags r:id="rId45"/>
            </p:custDataLst>
          </p:nvPr>
        </p:nvSpPr>
        <p:spPr bwMode="auto">
          <a:xfrm>
            <a:off x="9588500" y="4835525"/>
            <a:ext cx="439738"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marL="0" marR="0" lvl="0" indent="0" algn="l" defTabSz="914335" rtl="0" eaLnBrk="1" fontAlgn="auto" latinLnBrk="0" hangingPunct="1">
              <a:lnSpc>
                <a:spcPct val="100000"/>
              </a:lnSpc>
              <a:spcBef>
                <a:spcPct val="0"/>
              </a:spcBef>
              <a:spcAft>
                <a:spcPct val="0"/>
              </a:spcAft>
              <a:buClrTx/>
              <a:buSzPct val="100000"/>
              <a:buFontTx/>
              <a:buNone/>
              <a:tabLst/>
              <a:defRPr/>
            </a:pPr>
            <a:fld id="{91F3571A-56EA-4358-AF4A-B9D3C9B1B007}" type="datetime'E''''''''''''''x''''''''''''po''''''''''''''''''''''r''t'''''">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Calibri Light" panose="020F0302020204030204" pitchFamily="34" charset="0"/>
              </a:rPr>
              <a:pPr marL="0" marR="0" lvl="0" indent="0" algn="l" defTabSz="914335" rtl="0" eaLnBrk="1" fontAlgn="auto" latinLnBrk="0" hangingPunct="1">
                <a:lnSpc>
                  <a:spcPct val="100000"/>
                </a:lnSpc>
                <a:spcBef>
                  <a:spcPct val="0"/>
                </a:spcBef>
                <a:spcAft>
                  <a:spcPct val="0"/>
                </a:spcAft>
                <a:buClrTx/>
                <a:buSzPct val="100000"/>
                <a:buFontTx/>
                <a:buNone/>
                <a:tabLst/>
                <a:defRPr/>
              </a:pPr>
              <a:t>Export</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Calibri Light" panose="020F0302020204030204" pitchFamily="34" charset="0"/>
              <a:sym typeface="Arial" panose="020B0604020202020204" pitchFamily="34" charset="0"/>
            </a:endParaRPr>
          </a:p>
        </p:txBody>
      </p:sp>
      <p:sp>
        <p:nvSpPr>
          <p:cNvPr id="223" name="TextBox 222">
            <a:extLst>
              <a:ext uri="{FF2B5EF4-FFF2-40B4-BE49-F238E27FC236}">
                <a16:creationId xmlns:a16="http://schemas.microsoft.com/office/drawing/2014/main" id="{2C997ED2-B2C2-3AD5-A33F-FEC7FF21A3F7}"/>
              </a:ext>
            </a:extLst>
          </p:cNvPr>
          <p:cNvSpPr txBox="1"/>
          <p:nvPr/>
        </p:nvSpPr>
        <p:spPr>
          <a:xfrm>
            <a:off x="4244281" y="1009947"/>
            <a:ext cx="3997325"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Monthly Energy Balance Curve 2024 (GWh) </a:t>
            </a:r>
            <a:endParaRPr kumimoji="0" lang="en-US" sz="1400" b="1" i="0" u="none" strike="noStrike" kern="1200" cap="none" spc="0" normalizeH="0" baseline="0" noProof="0">
              <a:ln>
                <a:noFill/>
              </a:ln>
              <a:solidFill>
                <a:prstClr val="black"/>
              </a:solidFill>
              <a:effectLst/>
              <a:uLnTx/>
              <a:uFillTx/>
              <a:latin typeface="Calibri"/>
              <a:ea typeface="+mn-ea"/>
              <a:cs typeface="+mn-cs"/>
            </a:endParaRPr>
          </a:p>
        </p:txBody>
      </p:sp>
      <p:graphicFrame>
        <p:nvGraphicFramePr>
          <p:cNvPr id="544" name="Table 543">
            <a:extLst>
              <a:ext uri="{FF2B5EF4-FFF2-40B4-BE49-F238E27FC236}">
                <a16:creationId xmlns:a16="http://schemas.microsoft.com/office/drawing/2014/main" id="{C9F3392F-1DAC-9EF9-05E7-CEC2B4F66919}"/>
              </a:ext>
            </a:extLst>
          </p:cNvPr>
          <p:cNvGraphicFramePr>
            <a:graphicFrameLocks noGrp="1"/>
          </p:cNvGraphicFramePr>
          <p:nvPr/>
        </p:nvGraphicFramePr>
        <p:xfrm>
          <a:off x="523754" y="5355382"/>
          <a:ext cx="11216730" cy="1122776"/>
        </p:xfrm>
        <a:graphic>
          <a:graphicData uri="http://schemas.openxmlformats.org/drawingml/2006/table">
            <a:tbl>
              <a:tblPr firstRow="1" bandRow="1">
                <a:tableStyleId>{5C22544A-7EE6-4342-B048-85BDC9FD1C3A}</a:tableStyleId>
              </a:tblPr>
              <a:tblGrid>
                <a:gridCol w="1783820">
                  <a:extLst>
                    <a:ext uri="{9D8B030D-6E8A-4147-A177-3AD203B41FA5}">
                      <a16:colId xmlns:a16="http://schemas.microsoft.com/office/drawing/2014/main" val="1601999352"/>
                    </a:ext>
                  </a:extLst>
                </a:gridCol>
                <a:gridCol w="9432910">
                  <a:extLst>
                    <a:ext uri="{9D8B030D-6E8A-4147-A177-3AD203B41FA5}">
                      <a16:colId xmlns:a16="http://schemas.microsoft.com/office/drawing/2014/main" val="2515607737"/>
                    </a:ext>
                  </a:extLst>
                </a:gridCol>
              </a:tblGrid>
              <a:tr h="167776">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Key Inferences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5"/>
                    </a:solidFill>
                  </a:tcPr>
                </a:tc>
                <a:tc>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12700" cmpd="sng">
                      <a:noFill/>
                    </a:lnL>
                    <a:lnR w="12700" cmpd="sng">
                      <a:noFill/>
                    </a:lnR>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17668563"/>
                  </a:ext>
                </a:extLst>
              </a:tr>
              <a:tr h="848456">
                <a:tc gridSpan="2">
                  <a:txBody>
                    <a:bodyPr/>
                    <a:lstStyle/>
                    <a:p>
                      <a:pPr marL="169863" indent="-169863" algn="just" defTabSz="914335" rtl="0" eaLnBrk="1" latinLnBrk="0" hangingPunct="1">
                        <a:lnSpc>
                          <a:spcPct val="125000"/>
                        </a:lnSpc>
                        <a:buFont typeface="Arial" panose="020B0604020202020204" pitchFamily="34" charset="0"/>
                        <a:buChar char="•"/>
                      </a:pPr>
                      <a:r>
                        <a:rPr lang="en-US" sz="1200" kern="1200">
                          <a:solidFill>
                            <a:schemeClr val="dk1"/>
                          </a:solidFill>
                          <a:latin typeface="Arial" panose="020B0604020202020204" pitchFamily="34" charset="0"/>
                          <a:ea typeface="+mn-ea"/>
                          <a:cs typeface="Arial" panose="020B0604020202020204" pitchFamily="34" charset="0"/>
                        </a:rPr>
                        <a:t>Nepal’s power import-export variations are directly linked with the climatic seasonal variations – tends to export hydro based surplus power during the rainy season and import deficit during the dry months </a:t>
                      </a:r>
                    </a:p>
                    <a:p>
                      <a:pPr marL="169863" indent="-169863" algn="just" defTabSz="914335" rtl="0" eaLnBrk="1" latinLnBrk="0" hangingPunct="1">
                        <a:lnSpc>
                          <a:spcPct val="125000"/>
                        </a:lnSpc>
                        <a:buFont typeface="Arial" panose="020B0604020202020204" pitchFamily="34" charset="0"/>
                        <a:buChar char="•"/>
                      </a:pPr>
                      <a:r>
                        <a:rPr lang="en-US" sz="1200" kern="1200">
                          <a:solidFill>
                            <a:schemeClr val="dk1"/>
                          </a:solidFill>
                          <a:latin typeface="Arial" panose="020B0604020202020204" pitchFamily="34" charset="0"/>
                          <a:ea typeface="+mn-ea"/>
                          <a:cs typeface="Arial" panose="020B0604020202020204" pitchFamily="34" charset="0"/>
                        </a:rPr>
                        <a:t>This variation indicates heavy reliance of capacity mix on the ROR projects </a:t>
                      </a:r>
                      <a:r>
                        <a:rPr lang="en-US" sz="1200" b="1" kern="1200">
                          <a:solidFill>
                            <a:schemeClr val="dk1"/>
                          </a:solidFill>
                          <a:latin typeface="Arial" panose="020B0604020202020204" pitchFamily="34" charset="0"/>
                          <a:ea typeface="+mn-ea"/>
                          <a:cs typeface="Arial" panose="020B0604020202020204" pitchFamily="34" charset="0"/>
                        </a:rPr>
                        <a:t>necessitating more push for storage based and other renewable solutions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DEFE8"/>
                    </a:solidFill>
                  </a:tcPr>
                </a:tc>
                <a:tc hMerge="1">
                  <a:txBody>
                    <a:bodyPr/>
                    <a:lstStyle/>
                    <a:p>
                      <a:endParaRPr lang="en-US"/>
                    </a:p>
                  </a:txBody>
                  <a:tcPr>
                    <a:lnT>
                      <a:noFill/>
                    </a:lnT>
                  </a:tcPr>
                </a:tc>
                <a:extLst>
                  <a:ext uri="{0D108BD9-81ED-4DB2-BD59-A6C34878D82A}">
                    <a16:rowId xmlns:a16="http://schemas.microsoft.com/office/drawing/2014/main" val="1633729930"/>
                  </a:ext>
                </a:extLst>
              </a:tr>
            </a:tbl>
          </a:graphicData>
        </a:graphic>
      </p:graphicFrame>
    </p:spTree>
    <p:extLst>
      <p:ext uri="{BB962C8B-B14F-4D97-AF65-F5344CB8AC3E}">
        <p14:creationId xmlns:p14="http://schemas.microsoft.com/office/powerpoint/2010/main" val="2347410099"/>
      </p:ext>
    </p:extLst>
  </p:cSld>
  <p:clrMapOvr>
    <a:masterClrMapping/>
  </p:clrMapOvr>
  <p:transition>
    <p:fade/>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525785996"/>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2000" b="1">
                <a:latin typeface="Arial" panose="020B0604020202020204" pitchFamily="34" charset="0"/>
                <a:cs typeface="Arial" panose="020B0604020202020204" pitchFamily="34" charset="0"/>
              </a:rPr>
              <a:t>Power exchanges in India</a:t>
            </a:r>
            <a:endParaRPr lang="en-GB" sz="20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497" name="TextBox 496">
            <a:extLst>
              <a:ext uri="{FF2B5EF4-FFF2-40B4-BE49-F238E27FC236}">
                <a16:creationId xmlns:a16="http://schemas.microsoft.com/office/drawing/2014/main" id="{E3CD61BF-5158-2CE6-D4D0-D211D840411E}"/>
              </a:ext>
            </a:extLst>
          </p:cNvPr>
          <p:cNvSpPr txBox="1"/>
          <p:nvPr/>
        </p:nvSpPr>
        <p:spPr>
          <a:xfrm>
            <a:off x="447675" y="6596933"/>
            <a:ext cx="609600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Deloitte analysis</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grpSp>
        <p:nvGrpSpPr>
          <p:cNvPr id="12" name="Group 11">
            <a:extLst>
              <a:ext uri="{FF2B5EF4-FFF2-40B4-BE49-F238E27FC236}">
                <a16:creationId xmlns:a16="http://schemas.microsoft.com/office/drawing/2014/main" id="{FDA98375-1B24-8E58-88C5-CE89BDEFB013}"/>
              </a:ext>
            </a:extLst>
          </p:cNvPr>
          <p:cNvGrpSpPr/>
          <p:nvPr/>
        </p:nvGrpSpPr>
        <p:grpSpPr>
          <a:xfrm>
            <a:off x="1411168" y="1706480"/>
            <a:ext cx="9141063" cy="4257888"/>
            <a:chOff x="402432" y="1731353"/>
            <a:chExt cx="9141063" cy="4257888"/>
          </a:xfrm>
        </p:grpSpPr>
        <p:sp>
          <p:nvSpPr>
            <p:cNvPr id="13" name="Rectangle 12">
              <a:extLst>
                <a:ext uri="{FF2B5EF4-FFF2-40B4-BE49-F238E27FC236}">
                  <a16:creationId xmlns:a16="http://schemas.microsoft.com/office/drawing/2014/main" id="{B10B3049-903C-552E-BDC4-FC4B2991F841}"/>
                </a:ext>
              </a:extLst>
            </p:cNvPr>
            <p:cNvSpPr/>
            <p:nvPr/>
          </p:nvSpPr>
          <p:spPr bwMode="gray">
            <a:xfrm>
              <a:off x="1612284" y="1731353"/>
              <a:ext cx="2642067" cy="4112235"/>
            </a:xfrm>
            <a:prstGeom prst="rect">
              <a:avLst/>
            </a:prstGeom>
            <a:solidFill>
              <a:schemeClr val="accent1">
                <a:lumMod val="20000"/>
                <a:lumOff val="8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endParaRPr>
            </a:p>
          </p:txBody>
        </p:sp>
        <p:sp>
          <p:nvSpPr>
            <p:cNvPr id="14" name="Rectangle 13">
              <a:extLst>
                <a:ext uri="{FF2B5EF4-FFF2-40B4-BE49-F238E27FC236}">
                  <a16:creationId xmlns:a16="http://schemas.microsoft.com/office/drawing/2014/main" id="{203684BF-1B70-78A8-1C8C-8996FA319290}"/>
                </a:ext>
              </a:extLst>
            </p:cNvPr>
            <p:cNvSpPr/>
            <p:nvPr/>
          </p:nvSpPr>
          <p:spPr bwMode="gray">
            <a:xfrm>
              <a:off x="4259361" y="1731353"/>
              <a:ext cx="2642067" cy="4112235"/>
            </a:xfrm>
            <a:prstGeom prst="rect">
              <a:avLst/>
            </a:prstGeom>
            <a:solidFill>
              <a:srgbClr val="E3E48D"/>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endParaRPr>
            </a:p>
          </p:txBody>
        </p:sp>
        <p:sp>
          <p:nvSpPr>
            <p:cNvPr id="15" name="Rectangle 14">
              <a:extLst>
                <a:ext uri="{FF2B5EF4-FFF2-40B4-BE49-F238E27FC236}">
                  <a16:creationId xmlns:a16="http://schemas.microsoft.com/office/drawing/2014/main" id="{395B31CC-1DCB-4067-C34D-B005A3774480}"/>
                </a:ext>
              </a:extLst>
            </p:cNvPr>
            <p:cNvSpPr/>
            <p:nvPr/>
          </p:nvSpPr>
          <p:spPr bwMode="gray">
            <a:xfrm>
              <a:off x="6901428" y="1731353"/>
              <a:ext cx="2642067" cy="4112235"/>
            </a:xfrm>
            <a:prstGeom prst="rect">
              <a:avLst/>
            </a:prstGeom>
            <a:solidFill>
              <a:schemeClr val="accent6">
                <a:lumMod val="20000"/>
                <a:lumOff val="8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endParaRPr>
            </a:p>
          </p:txBody>
        </p:sp>
        <p:pic>
          <p:nvPicPr>
            <p:cNvPr id="16" name="Picture 2" descr="Overseas participants in Indian power exchanges soon - The Sunday Guardian  Live">
              <a:extLst>
                <a:ext uri="{FF2B5EF4-FFF2-40B4-BE49-F238E27FC236}">
                  <a16:creationId xmlns:a16="http://schemas.microsoft.com/office/drawing/2014/main" id="{074E4461-0B6F-8DF0-2E55-43940B193FCC}"/>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t="32025" b="14535"/>
            <a:stretch/>
          </p:blipFill>
          <p:spPr bwMode="auto">
            <a:xfrm>
              <a:off x="2341085" y="1839979"/>
              <a:ext cx="1106539" cy="442930"/>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4" descr="Hindustan Power Exchange Ltd. (HPX) (@HPX_India) / X">
              <a:extLst>
                <a:ext uri="{FF2B5EF4-FFF2-40B4-BE49-F238E27FC236}">
                  <a16:creationId xmlns:a16="http://schemas.microsoft.com/office/drawing/2014/main" id="{59A091A5-18BE-B9DF-5ADA-06625D796F30}"/>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t="26933" b="32800"/>
            <a:stretch/>
          </p:blipFill>
          <p:spPr bwMode="auto">
            <a:xfrm>
              <a:off x="7856514" y="1898768"/>
              <a:ext cx="868117" cy="349563"/>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7" descr="Power Exchange India Limited | LinkedIn">
              <a:extLst>
                <a:ext uri="{FF2B5EF4-FFF2-40B4-BE49-F238E27FC236}">
                  <a16:creationId xmlns:a16="http://schemas.microsoft.com/office/drawing/2014/main" id="{D6B0C1A8-7C10-C3BB-459B-181096AC56B7}"/>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30248" b="30001"/>
            <a:stretch/>
          </p:blipFill>
          <p:spPr bwMode="auto">
            <a:xfrm>
              <a:off x="4895757" y="1832935"/>
              <a:ext cx="1089021" cy="432896"/>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a16="http://schemas.microsoft.com/office/drawing/2014/main" id="{292D5550-5CB5-8C7A-5483-E3E20E159392}"/>
                </a:ext>
              </a:extLst>
            </p:cNvPr>
            <p:cNvSpPr txBox="1"/>
            <p:nvPr/>
          </p:nvSpPr>
          <p:spPr>
            <a:xfrm>
              <a:off x="2167045" y="2370684"/>
              <a:ext cx="1454618" cy="150041"/>
            </a:xfrm>
            <a:prstGeom prst="rect">
              <a:avLst/>
            </a:prstGeom>
            <a:noFill/>
          </p:spPr>
          <p:txBody>
            <a:bodyPr wrap="square" lIns="0" tIns="0" rIns="0" bIns="0" rtlCol="0">
              <a:spAutoFit/>
            </a:bodyPr>
            <a:lstStyle/>
            <a:p>
              <a:pPr algn="ctr">
                <a:spcBef>
                  <a:spcPts val="488"/>
                </a:spcBef>
                <a:buSzPct val="100000"/>
              </a:pPr>
              <a:r>
                <a:rPr lang="en-US" sz="975" b="1">
                  <a:solidFill>
                    <a:srgbClr val="313131"/>
                  </a:solidFill>
                </a:rPr>
                <a:t>2008</a:t>
              </a:r>
            </a:p>
          </p:txBody>
        </p:sp>
        <p:sp>
          <p:nvSpPr>
            <p:cNvPr id="20" name="TextBox 19">
              <a:extLst>
                <a:ext uri="{FF2B5EF4-FFF2-40B4-BE49-F238E27FC236}">
                  <a16:creationId xmlns:a16="http://schemas.microsoft.com/office/drawing/2014/main" id="{765E3966-13EB-D7E3-2BB7-A2272B7E5191}"/>
                </a:ext>
              </a:extLst>
            </p:cNvPr>
            <p:cNvSpPr txBox="1"/>
            <p:nvPr/>
          </p:nvSpPr>
          <p:spPr>
            <a:xfrm>
              <a:off x="4712959" y="2370684"/>
              <a:ext cx="1454618" cy="150041"/>
            </a:xfrm>
            <a:prstGeom prst="rect">
              <a:avLst/>
            </a:prstGeom>
            <a:noFill/>
          </p:spPr>
          <p:txBody>
            <a:bodyPr wrap="square" lIns="0" tIns="0" rIns="0" bIns="0" rtlCol="0">
              <a:spAutoFit/>
            </a:bodyPr>
            <a:lstStyle/>
            <a:p>
              <a:pPr algn="ctr">
                <a:spcBef>
                  <a:spcPts val="488"/>
                </a:spcBef>
                <a:buSzPct val="100000"/>
              </a:pPr>
              <a:r>
                <a:rPr lang="en-US" sz="975" b="1">
                  <a:solidFill>
                    <a:srgbClr val="313131"/>
                  </a:solidFill>
                </a:rPr>
                <a:t>2008</a:t>
              </a:r>
            </a:p>
          </p:txBody>
        </p:sp>
        <p:sp>
          <p:nvSpPr>
            <p:cNvPr id="21" name="TextBox 20">
              <a:extLst>
                <a:ext uri="{FF2B5EF4-FFF2-40B4-BE49-F238E27FC236}">
                  <a16:creationId xmlns:a16="http://schemas.microsoft.com/office/drawing/2014/main" id="{DF48E717-2CE4-8966-A1B6-40967C1DEDC6}"/>
                </a:ext>
              </a:extLst>
            </p:cNvPr>
            <p:cNvSpPr txBox="1"/>
            <p:nvPr/>
          </p:nvSpPr>
          <p:spPr>
            <a:xfrm>
              <a:off x="7517374" y="2370684"/>
              <a:ext cx="1454618" cy="150041"/>
            </a:xfrm>
            <a:prstGeom prst="rect">
              <a:avLst/>
            </a:prstGeom>
            <a:noFill/>
          </p:spPr>
          <p:txBody>
            <a:bodyPr wrap="square" lIns="0" tIns="0" rIns="0" bIns="0" rtlCol="0">
              <a:spAutoFit/>
            </a:bodyPr>
            <a:lstStyle/>
            <a:p>
              <a:pPr algn="ctr">
                <a:spcBef>
                  <a:spcPts val="488"/>
                </a:spcBef>
                <a:buSzPct val="100000"/>
              </a:pPr>
              <a:r>
                <a:rPr lang="en-US" sz="975" b="1">
                  <a:solidFill>
                    <a:srgbClr val="313131"/>
                  </a:solidFill>
                </a:rPr>
                <a:t>2022</a:t>
              </a:r>
            </a:p>
          </p:txBody>
        </p:sp>
        <p:sp>
          <p:nvSpPr>
            <p:cNvPr id="22" name="TextBox 21">
              <a:extLst>
                <a:ext uri="{FF2B5EF4-FFF2-40B4-BE49-F238E27FC236}">
                  <a16:creationId xmlns:a16="http://schemas.microsoft.com/office/drawing/2014/main" id="{57B85074-7F75-3497-6D72-E874889D7FD9}"/>
                </a:ext>
              </a:extLst>
            </p:cNvPr>
            <p:cNvSpPr txBox="1"/>
            <p:nvPr/>
          </p:nvSpPr>
          <p:spPr>
            <a:xfrm>
              <a:off x="2167045" y="2688061"/>
              <a:ext cx="1454618" cy="150041"/>
            </a:xfrm>
            <a:prstGeom prst="rect">
              <a:avLst/>
            </a:prstGeom>
            <a:noFill/>
          </p:spPr>
          <p:txBody>
            <a:bodyPr wrap="square" lIns="0" tIns="0" rIns="0" bIns="0" rtlCol="0">
              <a:spAutoFit/>
            </a:bodyPr>
            <a:lstStyle/>
            <a:p>
              <a:pPr algn="ctr">
                <a:spcBef>
                  <a:spcPts val="488"/>
                </a:spcBef>
                <a:buSzPct val="100000"/>
              </a:pPr>
              <a:r>
                <a:rPr lang="en-US" sz="975" b="1">
                  <a:solidFill>
                    <a:srgbClr val="313131"/>
                  </a:solidFill>
                </a:rPr>
                <a:t>Public</a:t>
              </a:r>
            </a:p>
          </p:txBody>
        </p:sp>
        <p:sp>
          <p:nvSpPr>
            <p:cNvPr id="23" name="TextBox 22">
              <a:extLst>
                <a:ext uri="{FF2B5EF4-FFF2-40B4-BE49-F238E27FC236}">
                  <a16:creationId xmlns:a16="http://schemas.microsoft.com/office/drawing/2014/main" id="{B1077A82-2B1B-8CE2-27BC-3EE43BB2F566}"/>
                </a:ext>
              </a:extLst>
            </p:cNvPr>
            <p:cNvSpPr txBox="1"/>
            <p:nvPr/>
          </p:nvSpPr>
          <p:spPr>
            <a:xfrm>
              <a:off x="4712959" y="2688061"/>
              <a:ext cx="1454618" cy="150041"/>
            </a:xfrm>
            <a:prstGeom prst="rect">
              <a:avLst/>
            </a:prstGeom>
            <a:noFill/>
          </p:spPr>
          <p:txBody>
            <a:bodyPr wrap="square" lIns="0" tIns="0" rIns="0" bIns="0" rtlCol="0">
              <a:spAutoFit/>
            </a:bodyPr>
            <a:lstStyle/>
            <a:p>
              <a:pPr algn="ctr">
                <a:spcBef>
                  <a:spcPts val="488"/>
                </a:spcBef>
                <a:buSzPct val="100000"/>
              </a:pPr>
              <a:r>
                <a:rPr lang="en-US" sz="975" b="1">
                  <a:solidFill>
                    <a:srgbClr val="313131"/>
                  </a:solidFill>
                </a:rPr>
                <a:t>Public</a:t>
              </a:r>
            </a:p>
          </p:txBody>
        </p:sp>
        <p:sp>
          <p:nvSpPr>
            <p:cNvPr id="24" name="TextBox 23">
              <a:extLst>
                <a:ext uri="{FF2B5EF4-FFF2-40B4-BE49-F238E27FC236}">
                  <a16:creationId xmlns:a16="http://schemas.microsoft.com/office/drawing/2014/main" id="{480A78B1-9430-1591-EC3E-7CF9DFD286EB}"/>
                </a:ext>
              </a:extLst>
            </p:cNvPr>
            <p:cNvSpPr txBox="1"/>
            <p:nvPr/>
          </p:nvSpPr>
          <p:spPr>
            <a:xfrm>
              <a:off x="7517374" y="2688061"/>
              <a:ext cx="1454618" cy="150041"/>
            </a:xfrm>
            <a:prstGeom prst="rect">
              <a:avLst/>
            </a:prstGeom>
            <a:noFill/>
          </p:spPr>
          <p:txBody>
            <a:bodyPr wrap="square" lIns="0" tIns="0" rIns="0" bIns="0" rtlCol="0">
              <a:spAutoFit/>
            </a:bodyPr>
            <a:lstStyle/>
            <a:p>
              <a:pPr algn="ctr">
                <a:spcBef>
                  <a:spcPts val="488"/>
                </a:spcBef>
                <a:buSzPct val="100000"/>
              </a:pPr>
              <a:r>
                <a:rPr lang="en-US" sz="975" b="1">
                  <a:solidFill>
                    <a:srgbClr val="313131"/>
                  </a:solidFill>
                </a:rPr>
                <a:t>Public</a:t>
              </a:r>
            </a:p>
          </p:txBody>
        </p:sp>
        <p:sp>
          <p:nvSpPr>
            <p:cNvPr id="25" name="TextBox 24">
              <a:extLst>
                <a:ext uri="{FF2B5EF4-FFF2-40B4-BE49-F238E27FC236}">
                  <a16:creationId xmlns:a16="http://schemas.microsoft.com/office/drawing/2014/main" id="{9333BAD5-7076-AF70-7C9D-952B6E422996}"/>
                </a:ext>
              </a:extLst>
            </p:cNvPr>
            <p:cNvSpPr txBox="1"/>
            <p:nvPr/>
          </p:nvSpPr>
          <p:spPr>
            <a:xfrm>
              <a:off x="2167045" y="2994111"/>
              <a:ext cx="1454618" cy="150041"/>
            </a:xfrm>
            <a:prstGeom prst="rect">
              <a:avLst/>
            </a:prstGeom>
            <a:noFill/>
          </p:spPr>
          <p:txBody>
            <a:bodyPr wrap="square" lIns="0" tIns="0" rIns="0" bIns="0" rtlCol="0">
              <a:spAutoFit/>
            </a:bodyPr>
            <a:lstStyle/>
            <a:p>
              <a:pPr algn="ctr">
                <a:spcBef>
                  <a:spcPts val="488"/>
                </a:spcBef>
                <a:buSzPct val="100000"/>
              </a:pPr>
              <a:r>
                <a:rPr lang="en-US" sz="975" b="1">
                  <a:solidFill>
                    <a:srgbClr val="313131"/>
                  </a:solidFill>
                </a:rPr>
                <a:t>Yes; NSE and BSE*</a:t>
              </a:r>
            </a:p>
          </p:txBody>
        </p:sp>
        <p:sp>
          <p:nvSpPr>
            <p:cNvPr id="26" name="TextBox 25">
              <a:extLst>
                <a:ext uri="{FF2B5EF4-FFF2-40B4-BE49-F238E27FC236}">
                  <a16:creationId xmlns:a16="http://schemas.microsoft.com/office/drawing/2014/main" id="{F9B49F95-249B-7EF2-B3FC-2354D11B3F31}"/>
                </a:ext>
              </a:extLst>
            </p:cNvPr>
            <p:cNvSpPr txBox="1"/>
            <p:nvPr/>
          </p:nvSpPr>
          <p:spPr>
            <a:xfrm>
              <a:off x="4712959" y="2994111"/>
              <a:ext cx="1454618" cy="150041"/>
            </a:xfrm>
            <a:prstGeom prst="rect">
              <a:avLst/>
            </a:prstGeom>
            <a:noFill/>
          </p:spPr>
          <p:txBody>
            <a:bodyPr wrap="square" lIns="0" tIns="0" rIns="0" bIns="0" rtlCol="0">
              <a:spAutoFit/>
            </a:bodyPr>
            <a:lstStyle/>
            <a:p>
              <a:pPr algn="ctr">
                <a:spcBef>
                  <a:spcPts val="488"/>
                </a:spcBef>
                <a:buSzPct val="100000"/>
              </a:pPr>
              <a:r>
                <a:rPr lang="en-US" sz="975" b="1">
                  <a:solidFill>
                    <a:srgbClr val="313131"/>
                  </a:solidFill>
                </a:rPr>
                <a:t>No</a:t>
              </a:r>
            </a:p>
          </p:txBody>
        </p:sp>
        <p:sp>
          <p:nvSpPr>
            <p:cNvPr id="27" name="TextBox 26">
              <a:extLst>
                <a:ext uri="{FF2B5EF4-FFF2-40B4-BE49-F238E27FC236}">
                  <a16:creationId xmlns:a16="http://schemas.microsoft.com/office/drawing/2014/main" id="{30F46D5C-DA59-43D3-E66A-5C18532AD4DD}"/>
                </a:ext>
              </a:extLst>
            </p:cNvPr>
            <p:cNvSpPr txBox="1"/>
            <p:nvPr/>
          </p:nvSpPr>
          <p:spPr>
            <a:xfrm>
              <a:off x="7517374" y="2994111"/>
              <a:ext cx="1454618" cy="150041"/>
            </a:xfrm>
            <a:prstGeom prst="rect">
              <a:avLst/>
            </a:prstGeom>
            <a:noFill/>
          </p:spPr>
          <p:txBody>
            <a:bodyPr wrap="square" lIns="0" tIns="0" rIns="0" bIns="0" rtlCol="0">
              <a:spAutoFit/>
            </a:bodyPr>
            <a:lstStyle/>
            <a:p>
              <a:pPr algn="ctr">
                <a:spcBef>
                  <a:spcPts val="488"/>
                </a:spcBef>
                <a:buSzPct val="100000"/>
              </a:pPr>
              <a:r>
                <a:rPr lang="en-US" sz="975" b="1">
                  <a:solidFill>
                    <a:srgbClr val="313131"/>
                  </a:solidFill>
                </a:rPr>
                <a:t>No</a:t>
              </a:r>
            </a:p>
          </p:txBody>
        </p:sp>
        <p:pic>
          <p:nvPicPr>
            <p:cNvPr id="28" name="Picture 2">
              <a:extLst>
                <a:ext uri="{FF2B5EF4-FFF2-40B4-BE49-F238E27FC236}">
                  <a16:creationId xmlns:a16="http://schemas.microsoft.com/office/drawing/2014/main" id="{C661A9D7-EB1C-D5FB-54B1-26BD32C78567}"/>
                </a:ext>
              </a:extLst>
            </p:cNvPr>
            <p:cNvPicPr>
              <a:picLocks noChangeAspect="1" noChangeArrowheads="1"/>
            </p:cNvPicPr>
            <p:nvPr/>
          </p:nvPicPr>
          <p:blipFill>
            <a:blip r:embed="rId9">
              <a:extLst>
                <a:ext uri="{BEBA8EAE-BF5A-486C-A8C5-ECC9F3942E4B}">
                  <a14:imgProps xmlns:a14="http://schemas.microsoft.com/office/drawing/2010/main">
                    <a14:imgLayer r:embed="rId10">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a:off x="2027775" y="5036983"/>
              <a:ext cx="670719" cy="392371"/>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4">
              <a:extLst>
                <a:ext uri="{FF2B5EF4-FFF2-40B4-BE49-F238E27FC236}">
                  <a16:creationId xmlns:a16="http://schemas.microsoft.com/office/drawing/2014/main" id="{A605CF5A-59D8-D0A6-FA0B-0D444EEC21F7}"/>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953588" y="5115786"/>
              <a:ext cx="790244" cy="286983"/>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6">
              <a:extLst>
                <a:ext uri="{FF2B5EF4-FFF2-40B4-BE49-F238E27FC236}">
                  <a16:creationId xmlns:a16="http://schemas.microsoft.com/office/drawing/2014/main" id="{C5BA9DA0-4ED7-C528-8EE8-E71A3180C64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2586" y="5448397"/>
              <a:ext cx="803534" cy="251837"/>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8">
              <a:extLst>
                <a:ext uri="{FF2B5EF4-FFF2-40B4-BE49-F238E27FC236}">
                  <a16:creationId xmlns:a16="http://schemas.microsoft.com/office/drawing/2014/main" id="{8562C2CF-3D91-F5E1-E6BF-C203BBCE2AF1}"/>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653515" y="5068933"/>
              <a:ext cx="546893" cy="297574"/>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20">
              <a:extLst>
                <a:ext uri="{FF2B5EF4-FFF2-40B4-BE49-F238E27FC236}">
                  <a16:creationId xmlns:a16="http://schemas.microsoft.com/office/drawing/2014/main" id="{DAE4D9FB-A0B1-74A2-5A51-8D3B11EBFF5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440268" y="5217719"/>
              <a:ext cx="311385" cy="406154"/>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10">
              <a:extLst>
                <a:ext uri="{FF2B5EF4-FFF2-40B4-BE49-F238E27FC236}">
                  <a16:creationId xmlns:a16="http://schemas.microsoft.com/office/drawing/2014/main" id="{1BDD57E5-55FD-62E5-86BE-E72549E6F5E7}"/>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884643" y="5092782"/>
              <a:ext cx="573486" cy="207092"/>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33">
              <a:extLst>
                <a:ext uri="{FF2B5EF4-FFF2-40B4-BE49-F238E27FC236}">
                  <a16:creationId xmlns:a16="http://schemas.microsoft.com/office/drawing/2014/main" id="{D24F19EC-35B1-4C70-1BC4-F21D11A3868F}"/>
                </a:ext>
              </a:extLst>
            </p:cNvPr>
            <p:cNvPicPr>
              <a:picLocks noChangeAspect="1"/>
            </p:cNvPicPr>
            <p:nvPr/>
          </p:nvPicPr>
          <p:blipFill>
            <a:blip r:embed="rId16"/>
            <a:stretch>
              <a:fillRect/>
            </a:stretch>
          </p:blipFill>
          <p:spPr>
            <a:xfrm>
              <a:off x="4653514" y="5530211"/>
              <a:ext cx="688720" cy="240910"/>
            </a:xfrm>
            <a:prstGeom prst="rect">
              <a:avLst/>
            </a:prstGeom>
          </p:spPr>
        </p:pic>
        <p:pic>
          <p:nvPicPr>
            <p:cNvPr id="35" name="Picture 34">
              <a:extLst>
                <a:ext uri="{FF2B5EF4-FFF2-40B4-BE49-F238E27FC236}">
                  <a16:creationId xmlns:a16="http://schemas.microsoft.com/office/drawing/2014/main" id="{6E241447-0A31-9160-B568-A59A983BEF36}"/>
                </a:ext>
              </a:extLst>
            </p:cNvPr>
            <p:cNvPicPr>
              <a:picLocks noChangeAspect="1"/>
            </p:cNvPicPr>
            <p:nvPr/>
          </p:nvPicPr>
          <p:blipFill>
            <a:blip r:embed="rId17"/>
            <a:stretch>
              <a:fillRect/>
            </a:stretch>
          </p:blipFill>
          <p:spPr>
            <a:xfrm>
              <a:off x="5955400" y="5392533"/>
              <a:ext cx="487420" cy="339200"/>
            </a:xfrm>
            <a:prstGeom prst="rect">
              <a:avLst/>
            </a:prstGeom>
          </p:spPr>
        </p:pic>
        <p:pic>
          <p:nvPicPr>
            <p:cNvPr id="36" name="Picture 35">
              <a:extLst>
                <a:ext uri="{FF2B5EF4-FFF2-40B4-BE49-F238E27FC236}">
                  <a16:creationId xmlns:a16="http://schemas.microsoft.com/office/drawing/2014/main" id="{586735E9-7070-E66A-40C1-4976B4E5BAEE}"/>
                </a:ext>
              </a:extLst>
            </p:cNvPr>
            <p:cNvPicPr>
              <a:picLocks noChangeAspect="1"/>
            </p:cNvPicPr>
            <p:nvPr/>
          </p:nvPicPr>
          <p:blipFill>
            <a:blip r:embed="rId18"/>
            <a:stretch>
              <a:fillRect/>
            </a:stretch>
          </p:blipFill>
          <p:spPr>
            <a:xfrm>
              <a:off x="7593886" y="5408725"/>
              <a:ext cx="409050" cy="390870"/>
            </a:xfrm>
            <a:prstGeom prst="rect">
              <a:avLst/>
            </a:prstGeom>
          </p:spPr>
        </p:pic>
        <p:pic>
          <p:nvPicPr>
            <p:cNvPr id="37" name="Picture 12">
              <a:extLst>
                <a:ext uri="{FF2B5EF4-FFF2-40B4-BE49-F238E27FC236}">
                  <a16:creationId xmlns:a16="http://schemas.microsoft.com/office/drawing/2014/main" id="{350DA144-C013-7B12-0150-DFE40A5DA67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628321" y="5074522"/>
              <a:ext cx="428307" cy="264123"/>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14" descr="images (502×100)">
              <a:extLst>
                <a:ext uri="{FF2B5EF4-FFF2-40B4-BE49-F238E27FC236}">
                  <a16:creationId xmlns:a16="http://schemas.microsoft.com/office/drawing/2014/main" id="{6E7B562D-44FE-44E2-A308-5991CA4E91B9}"/>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438231" y="5175339"/>
              <a:ext cx="683804" cy="136216"/>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38">
              <a:extLst>
                <a:ext uri="{FF2B5EF4-FFF2-40B4-BE49-F238E27FC236}">
                  <a16:creationId xmlns:a16="http://schemas.microsoft.com/office/drawing/2014/main" id="{DE0CF525-9D48-FCEC-C301-8B70106FC45E}"/>
                </a:ext>
              </a:extLst>
            </p:cNvPr>
            <p:cNvPicPr>
              <a:picLocks noChangeAspect="1"/>
            </p:cNvPicPr>
            <p:nvPr/>
          </p:nvPicPr>
          <p:blipFill>
            <a:blip r:embed="rId21"/>
            <a:stretch>
              <a:fillRect/>
            </a:stretch>
          </p:blipFill>
          <p:spPr>
            <a:xfrm>
              <a:off x="8253917" y="5472099"/>
              <a:ext cx="868117" cy="264123"/>
            </a:xfrm>
            <a:prstGeom prst="rect">
              <a:avLst/>
            </a:prstGeom>
          </p:spPr>
        </p:pic>
        <p:graphicFrame>
          <p:nvGraphicFramePr>
            <p:cNvPr id="40" name="Chart 39">
              <a:extLst>
                <a:ext uri="{FF2B5EF4-FFF2-40B4-BE49-F238E27FC236}">
                  <a16:creationId xmlns:a16="http://schemas.microsoft.com/office/drawing/2014/main" id="{4535F3E4-D8DE-FA0F-D4B7-E1EDB5D19C07}"/>
                </a:ext>
              </a:extLst>
            </p:cNvPr>
            <p:cNvGraphicFramePr/>
            <p:nvPr>
              <p:extLst>
                <p:ext uri="{D42A27DB-BD31-4B8C-83A1-F6EECF244321}">
                  <p14:modId xmlns:p14="http://schemas.microsoft.com/office/powerpoint/2010/main" val="2335830181"/>
                </p:ext>
              </p:extLst>
            </p:nvPr>
          </p:nvGraphicFramePr>
          <p:xfrm>
            <a:off x="4421874" y="3307855"/>
            <a:ext cx="2348172" cy="1708574"/>
          </p:xfrm>
          <a:graphic>
            <a:graphicData uri="http://schemas.openxmlformats.org/drawingml/2006/chart">
              <c:chart xmlns:c="http://schemas.openxmlformats.org/drawingml/2006/chart" xmlns:r="http://schemas.openxmlformats.org/officeDocument/2006/relationships" r:id="rId22"/>
            </a:graphicData>
          </a:graphic>
        </p:graphicFrame>
        <p:graphicFrame>
          <p:nvGraphicFramePr>
            <p:cNvPr id="41" name="Chart 40">
              <a:extLst>
                <a:ext uri="{FF2B5EF4-FFF2-40B4-BE49-F238E27FC236}">
                  <a16:creationId xmlns:a16="http://schemas.microsoft.com/office/drawing/2014/main" id="{21B6320B-5A54-3543-E33A-ADA0CFECE68C}"/>
                </a:ext>
              </a:extLst>
            </p:cNvPr>
            <p:cNvGraphicFramePr/>
            <p:nvPr>
              <p:extLst>
                <p:ext uri="{D42A27DB-BD31-4B8C-83A1-F6EECF244321}">
                  <p14:modId xmlns:p14="http://schemas.microsoft.com/office/powerpoint/2010/main" val="731227848"/>
                </p:ext>
              </p:extLst>
            </p:nvPr>
          </p:nvGraphicFramePr>
          <p:xfrm>
            <a:off x="7022161" y="3307855"/>
            <a:ext cx="2348172" cy="1708574"/>
          </p:xfrm>
          <a:graphic>
            <a:graphicData uri="http://schemas.openxmlformats.org/drawingml/2006/chart">
              <c:chart xmlns:c="http://schemas.openxmlformats.org/drawingml/2006/chart" xmlns:r="http://schemas.openxmlformats.org/officeDocument/2006/relationships" r:id="rId23"/>
            </a:graphicData>
          </a:graphic>
        </p:graphicFrame>
        <p:graphicFrame>
          <p:nvGraphicFramePr>
            <p:cNvPr id="43" name="Chart 42">
              <a:extLst>
                <a:ext uri="{FF2B5EF4-FFF2-40B4-BE49-F238E27FC236}">
                  <a16:creationId xmlns:a16="http://schemas.microsoft.com/office/drawing/2014/main" id="{56BF889E-D394-9A40-90C5-C0DFD9D0B9C7}"/>
                </a:ext>
              </a:extLst>
            </p:cNvPr>
            <p:cNvGraphicFramePr/>
            <p:nvPr>
              <p:extLst>
                <p:ext uri="{D42A27DB-BD31-4B8C-83A1-F6EECF244321}">
                  <p14:modId xmlns:p14="http://schemas.microsoft.com/office/powerpoint/2010/main" val="905899429"/>
                </p:ext>
              </p:extLst>
            </p:nvPr>
          </p:nvGraphicFramePr>
          <p:xfrm>
            <a:off x="1898699" y="3307855"/>
            <a:ext cx="2348172" cy="1708574"/>
          </p:xfrm>
          <a:graphic>
            <a:graphicData uri="http://schemas.openxmlformats.org/drawingml/2006/chart">
              <c:chart xmlns:c="http://schemas.openxmlformats.org/drawingml/2006/chart" xmlns:r="http://schemas.openxmlformats.org/officeDocument/2006/relationships" r:id="rId24"/>
            </a:graphicData>
          </a:graphic>
        </p:graphicFrame>
        <p:cxnSp>
          <p:nvCxnSpPr>
            <p:cNvPr id="44" name="Straight Connector 38">
              <a:extLst>
                <a:ext uri="{FF2B5EF4-FFF2-40B4-BE49-F238E27FC236}">
                  <a16:creationId xmlns:a16="http://schemas.microsoft.com/office/drawing/2014/main" id="{D53DBCCF-858E-4159-D642-5B3CD2989B1E}"/>
                </a:ext>
              </a:extLst>
            </p:cNvPr>
            <p:cNvCxnSpPr/>
            <p:nvPr/>
          </p:nvCxnSpPr>
          <p:spPr>
            <a:xfrm>
              <a:off x="442766" y="2595162"/>
              <a:ext cx="8989695" cy="0"/>
            </a:xfrm>
            <a:prstGeom prst="line">
              <a:avLst/>
            </a:prstGeom>
            <a:ln w="12700">
              <a:solidFill>
                <a:srgbClr val="000000"/>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38">
              <a:extLst>
                <a:ext uri="{FF2B5EF4-FFF2-40B4-BE49-F238E27FC236}">
                  <a16:creationId xmlns:a16="http://schemas.microsoft.com/office/drawing/2014/main" id="{ABA39CEC-C43E-C4C1-1A91-437B3137ED3D}"/>
                </a:ext>
              </a:extLst>
            </p:cNvPr>
            <p:cNvCxnSpPr/>
            <p:nvPr/>
          </p:nvCxnSpPr>
          <p:spPr>
            <a:xfrm>
              <a:off x="442766" y="2939265"/>
              <a:ext cx="8989695" cy="0"/>
            </a:xfrm>
            <a:prstGeom prst="line">
              <a:avLst/>
            </a:prstGeom>
            <a:ln w="12700">
              <a:solidFill>
                <a:srgbClr val="000000"/>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EC82F5-A641-F1B9-8752-1D86F35E6199}"/>
                </a:ext>
              </a:extLst>
            </p:cNvPr>
            <p:cNvCxnSpPr/>
            <p:nvPr/>
          </p:nvCxnSpPr>
          <p:spPr>
            <a:xfrm>
              <a:off x="442766" y="3236445"/>
              <a:ext cx="8989695" cy="0"/>
            </a:xfrm>
            <a:prstGeom prst="line">
              <a:avLst/>
            </a:prstGeom>
            <a:ln w="12700">
              <a:solidFill>
                <a:srgbClr val="000000"/>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Connector 38">
              <a:extLst>
                <a:ext uri="{FF2B5EF4-FFF2-40B4-BE49-F238E27FC236}">
                  <a16:creationId xmlns:a16="http://schemas.microsoft.com/office/drawing/2014/main" id="{F95C1B24-DCC5-471F-037F-A59502673E62}"/>
                </a:ext>
              </a:extLst>
            </p:cNvPr>
            <p:cNvCxnSpPr/>
            <p:nvPr/>
          </p:nvCxnSpPr>
          <p:spPr>
            <a:xfrm>
              <a:off x="442766" y="5036983"/>
              <a:ext cx="8989695" cy="0"/>
            </a:xfrm>
            <a:prstGeom prst="line">
              <a:avLst/>
            </a:prstGeom>
            <a:ln w="12700">
              <a:solidFill>
                <a:srgbClr val="000000"/>
              </a:solidFill>
              <a:prstDash val="dash"/>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692D4778-AD4A-903F-8EF3-6B6FADB781B8}"/>
                </a:ext>
              </a:extLst>
            </p:cNvPr>
            <p:cNvSpPr txBox="1"/>
            <p:nvPr/>
          </p:nvSpPr>
          <p:spPr>
            <a:xfrm>
              <a:off x="475518" y="2370684"/>
              <a:ext cx="1226149" cy="150041"/>
            </a:xfrm>
            <a:prstGeom prst="rect">
              <a:avLst/>
            </a:prstGeom>
            <a:noFill/>
          </p:spPr>
          <p:txBody>
            <a:bodyPr wrap="square" lIns="0" tIns="0" rIns="0" bIns="0" rtlCol="0">
              <a:spAutoFit/>
            </a:bodyPr>
            <a:lstStyle/>
            <a:p>
              <a:pPr>
                <a:spcBef>
                  <a:spcPts val="488"/>
                </a:spcBef>
                <a:buSzPct val="100000"/>
              </a:pPr>
              <a:r>
                <a:rPr lang="en-US" sz="975" b="1">
                  <a:solidFill>
                    <a:srgbClr val="313131"/>
                  </a:solidFill>
                </a:rPr>
                <a:t>Launch year</a:t>
              </a:r>
            </a:p>
          </p:txBody>
        </p:sp>
        <p:sp>
          <p:nvSpPr>
            <p:cNvPr id="49" name="TextBox 48">
              <a:extLst>
                <a:ext uri="{FF2B5EF4-FFF2-40B4-BE49-F238E27FC236}">
                  <a16:creationId xmlns:a16="http://schemas.microsoft.com/office/drawing/2014/main" id="{EA3663F8-5845-73F2-5384-1F8E068B050B}"/>
                </a:ext>
              </a:extLst>
            </p:cNvPr>
            <p:cNvSpPr txBox="1"/>
            <p:nvPr/>
          </p:nvSpPr>
          <p:spPr>
            <a:xfrm>
              <a:off x="475518" y="2699161"/>
              <a:ext cx="1226149" cy="150041"/>
            </a:xfrm>
            <a:prstGeom prst="rect">
              <a:avLst/>
            </a:prstGeom>
            <a:noFill/>
          </p:spPr>
          <p:txBody>
            <a:bodyPr wrap="square" lIns="0" tIns="0" rIns="0" bIns="0" rtlCol="0">
              <a:spAutoFit/>
            </a:bodyPr>
            <a:lstStyle/>
            <a:p>
              <a:pPr>
                <a:spcBef>
                  <a:spcPts val="488"/>
                </a:spcBef>
                <a:buSzPct val="100000"/>
              </a:pPr>
              <a:r>
                <a:rPr lang="en-US" sz="975" b="1">
                  <a:solidFill>
                    <a:srgbClr val="313131"/>
                  </a:solidFill>
                </a:rPr>
                <a:t>Ownership</a:t>
              </a:r>
            </a:p>
          </p:txBody>
        </p:sp>
        <p:sp>
          <p:nvSpPr>
            <p:cNvPr id="50" name="TextBox 49">
              <a:extLst>
                <a:ext uri="{FF2B5EF4-FFF2-40B4-BE49-F238E27FC236}">
                  <a16:creationId xmlns:a16="http://schemas.microsoft.com/office/drawing/2014/main" id="{6F86DB13-B34F-847C-605E-6DEB4F36A48B}"/>
                </a:ext>
              </a:extLst>
            </p:cNvPr>
            <p:cNvSpPr txBox="1"/>
            <p:nvPr/>
          </p:nvSpPr>
          <p:spPr>
            <a:xfrm>
              <a:off x="475518" y="2996340"/>
              <a:ext cx="1226149" cy="150041"/>
            </a:xfrm>
            <a:prstGeom prst="rect">
              <a:avLst/>
            </a:prstGeom>
            <a:noFill/>
          </p:spPr>
          <p:txBody>
            <a:bodyPr wrap="square" lIns="0" tIns="0" rIns="0" bIns="0" rtlCol="0">
              <a:spAutoFit/>
            </a:bodyPr>
            <a:lstStyle/>
            <a:p>
              <a:pPr>
                <a:spcBef>
                  <a:spcPts val="488"/>
                </a:spcBef>
                <a:buSzPct val="100000"/>
              </a:pPr>
              <a:r>
                <a:rPr lang="en-US" sz="975" b="1">
                  <a:solidFill>
                    <a:srgbClr val="313131"/>
                  </a:solidFill>
                </a:rPr>
                <a:t>Public listing</a:t>
              </a:r>
            </a:p>
          </p:txBody>
        </p:sp>
        <p:sp>
          <p:nvSpPr>
            <p:cNvPr id="51" name="TextBox 50">
              <a:extLst>
                <a:ext uri="{FF2B5EF4-FFF2-40B4-BE49-F238E27FC236}">
                  <a16:creationId xmlns:a16="http://schemas.microsoft.com/office/drawing/2014/main" id="{5423D823-3238-EDE6-6BA8-F1FBE13D335B}"/>
                </a:ext>
              </a:extLst>
            </p:cNvPr>
            <p:cNvSpPr txBox="1"/>
            <p:nvPr/>
          </p:nvSpPr>
          <p:spPr>
            <a:xfrm>
              <a:off x="475518" y="3317191"/>
              <a:ext cx="1226149" cy="150041"/>
            </a:xfrm>
            <a:prstGeom prst="rect">
              <a:avLst/>
            </a:prstGeom>
            <a:noFill/>
          </p:spPr>
          <p:txBody>
            <a:bodyPr wrap="square" lIns="0" tIns="0" rIns="0" bIns="0" rtlCol="0">
              <a:spAutoFit/>
            </a:bodyPr>
            <a:lstStyle/>
            <a:p>
              <a:pPr>
                <a:spcBef>
                  <a:spcPts val="488"/>
                </a:spcBef>
                <a:buSzPct val="100000"/>
              </a:pPr>
              <a:r>
                <a:rPr lang="en-US" sz="975" b="1">
                  <a:solidFill>
                    <a:srgbClr val="313131"/>
                  </a:solidFill>
                </a:rPr>
                <a:t>Shareholding pattern</a:t>
              </a:r>
            </a:p>
          </p:txBody>
        </p:sp>
        <p:sp>
          <p:nvSpPr>
            <p:cNvPr id="52" name="TextBox 51">
              <a:extLst>
                <a:ext uri="{FF2B5EF4-FFF2-40B4-BE49-F238E27FC236}">
                  <a16:creationId xmlns:a16="http://schemas.microsoft.com/office/drawing/2014/main" id="{06D5BCB1-F238-5A4A-304B-02AE94CBF445}"/>
                </a:ext>
              </a:extLst>
            </p:cNvPr>
            <p:cNvSpPr txBox="1"/>
            <p:nvPr/>
          </p:nvSpPr>
          <p:spPr>
            <a:xfrm>
              <a:off x="475518" y="5124691"/>
              <a:ext cx="1226149" cy="150041"/>
            </a:xfrm>
            <a:prstGeom prst="rect">
              <a:avLst/>
            </a:prstGeom>
            <a:noFill/>
          </p:spPr>
          <p:txBody>
            <a:bodyPr wrap="square" lIns="0" tIns="0" rIns="0" bIns="0" rtlCol="0">
              <a:spAutoFit/>
            </a:bodyPr>
            <a:lstStyle/>
            <a:p>
              <a:pPr>
                <a:spcBef>
                  <a:spcPts val="488"/>
                </a:spcBef>
                <a:buSzPct val="100000"/>
              </a:pPr>
              <a:r>
                <a:rPr lang="en-US" sz="975" b="1">
                  <a:solidFill>
                    <a:srgbClr val="313131"/>
                  </a:solidFill>
                </a:rPr>
                <a:t>Key investors</a:t>
              </a:r>
            </a:p>
          </p:txBody>
        </p:sp>
        <p:sp>
          <p:nvSpPr>
            <p:cNvPr id="53" name="TextBox 52">
              <a:extLst>
                <a:ext uri="{FF2B5EF4-FFF2-40B4-BE49-F238E27FC236}">
                  <a16:creationId xmlns:a16="http://schemas.microsoft.com/office/drawing/2014/main" id="{A5B6F7BE-518D-EF4C-57C5-3E2E8C962D22}"/>
                </a:ext>
              </a:extLst>
            </p:cNvPr>
            <p:cNvSpPr txBox="1"/>
            <p:nvPr/>
          </p:nvSpPr>
          <p:spPr>
            <a:xfrm>
              <a:off x="402432" y="5864142"/>
              <a:ext cx="7851486" cy="125099"/>
            </a:xfrm>
            <a:prstGeom prst="rect">
              <a:avLst/>
            </a:prstGeom>
            <a:noFill/>
          </p:spPr>
          <p:txBody>
            <a:bodyPr wrap="square" lIns="0" tIns="0" rIns="0" bIns="0" rtlCol="0">
              <a:spAutoFit/>
            </a:bodyPr>
            <a:lstStyle/>
            <a:p>
              <a:pPr>
                <a:spcBef>
                  <a:spcPts val="488"/>
                </a:spcBef>
                <a:buSzPct val="100000"/>
              </a:pPr>
              <a:r>
                <a:rPr lang="en-US" sz="813">
                  <a:solidFill>
                    <a:srgbClr val="313131"/>
                  </a:solidFill>
                </a:rPr>
                <a:t>*NSE=National Stock Exchange; BSE=Bombay Stock Exchange</a:t>
              </a:r>
            </a:p>
          </p:txBody>
        </p:sp>
      </p:grpSp>
      <p:sp>
        <p:nvSpPr>
          <p:cNvPr id="2" name="Arrow: Right 1">
            <a:hlinkClick r:id="rId25" action="ppaction://hlinksldjump"/>
            <a:extLst>
              <a:ext uri="{FF2B5EF4-FFF2-40B4-BE49-F238E27FC236}">
                <a16:creationId xmlns:a16="http://schemas.microsoft.com/office/drawing/2014/main" id="{251EA23F-2E71-1E0F-D19F-C975033BB487}"/>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45620288"/>
      </p:ext>
    </p:extLst>
  </p:cSld>
  <p:clrMapOvr>
    <a:masterClrMapping/>
  </p:clrMapOvr>
  <p:transition>
    <p:fade/>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272343621"/>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2000" b="1">
                <a:latin typeface="Arial" panose="020B0604020202020204" pitchFamily="34" charset="0"/>
                <a:cs typeface="Arial" panose="020B0604020202020204" pitchFamily="34" charset="0"/>
              </a:rPr>
              <a:t>IEX membership</a:t>
            </a:r>
            <a:endParaRPr lang="en-GB" sz="20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r>
              <a:rPr lang="en-US" sz="1400">
                <a:latin typeface="Arial" panose="020B0604020202020204" pitchFamily="34" charset="0"/>
                <a:cs typeface="Arial" panose="020B0604020202020204" pitchFamily="34" charset="0"/>
              </a:rPr>
              <a:t>Membership of power exchange requirements</a:t>
            </a:r>
          </a:p>
        </p:txBody>
      </p:sp>
      <p:sp>
        <p:nvSpPr>
          <p:cNvPr id="497" name="TextBox 496">
            <a:extLst>
              <a:ext uri="{FF2B5EF4-FFF2-40B4-BE49-F238E27FC236}">
                <a16:creationId xmlns:a16="http://schemas.microsoft.com/office/drawing/2014/main" id="{E3CD61BF-5158-2CE6-D4D0-D211D840411E}"/>
              </a:ext>
            </a:extLst>
          </p:cNvPr>
          <p:cNvSpPr txBox="1"/>
          <p:nvPr/>
        </p:nvSpPr>
        <p:spPr>
          <a:xfrm>
            <a:off x="447675" y="6596933"/>
            <a:ext cx="609600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Deloitte analysis</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grpSp>
        <p:nvGrpSpPr>
          <p:cNvPr id="14" name="Group 13">
            <a:extLst>
              <a:ext uri="{FF2B5EF4-FFF2-40B4-BE49-F238E27FC236}">
                <a16:creationId xmlns:a16="http://schemas.microsoft.com/office/drawing/2014/main" id="{7BFCDCCD-6177-751D-8850-9C862F83F7CD}"/>
              </a:ext>
            </a:extLst>
          </p:cNvPr>
          <p:cNvGrpSpPr/>
          <p:nvPr/>
        </p:nvGrpSpPr>
        <p:grpSpPr>
          <a:xfrm>
            <a:off x="1062863" y="1247709"/>
            <a:ext cx="10065791" cy="4360710"/>
            <a:chOff x="323919" y="1997273"/>
            <a:chExt cx="9210606" cy="3688360"/>
          </a:xfrm>
        </p:grpSpPr>
        <p:cxnSp>
          <p:nvCxnSpPr>
            <p:cNvPr id="18" name="Straight Arrow Connector 17">
              <a:extLst>
                <a:ext uri="{FF2B5EF4-FFF2-40B4-BE49-F238E27FC236}">
                  <a16:creationId xmlns:a16="http://schemas.microsoft.com/office/drawing/2014/main" id="{A89B0024-680B-8456-7E61-EB0420490FB1}"/>
                </a:ext>
              </a:extLst>
            </p:cNvPr>
            <p:cNvCxnSpPr/>
            <p:nvPr/>
          </p:nvCxnSpPr>
          <p:spPr>
            <a:xfrm flipH="1">
              <a:off x="3909227" y="2686332"/>
              <a:ext cx="3845" cy="2630474"/>
            </a:xfrm>
            <a:prstGeom prst="straightConnector1">
              <a:avLst/>
            </a:prstGeom>
            <a:ln>
              <a:solidFill>
                <a:srgbClr val="000000"/>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EE69CA23-7FCA-F2D7-C2F2-4972E90213C6}"/>
                </a:ext>
              </a:extLst>
            </p:cNvPr>
            <p:cNvSpPr/>
            <p:nvPr/>
          </p:nvSpPr>
          <p:spPr>
            <a:xfrm>
              <a:off x="1128093" y="2822303"/>
              <a:ext cx="2132633" cy="581929"/>
            </a:xfrm>
            <a:prstGeom prst="rect">
              <a:avLst/>
            </a:prstGeom>
          </p:spPr>
          <p:txBody>
            <a:bodyPr wrap="square" lIns="0" tIns="0" rIns="0" bIns="0">
              <a:spAutoFit/>
            </a:bodyPr>
            <a:lstStyle/>
            <a:p>
              <a:r>
                <a:rPr lang="en-US" sz="894" b="1">
                  <a:solidFill>
                    <a:srgbClr val="000000"/>
                  </a:solidFill>
                  <a:latin typeface="Arial" panose="020B0604020202020204" pitchFamily="34" charset="0"/>
                  <a:cs typeface="Arial" panose="020B0604020202020204" pitchFamily="34" charset="0"/>
                </a:rPr>
                <a:t>Trader member</a:t>
              </a:r>
            </a:p>
            <a:p>
              <a:pPr marL="139303" indent="-139303">
                <a:buFont typeface="Arial" panose="020B0604020202020204" pitchFamily="34" charset="0"/>
                <a:buChar char="•"/>
              </a:pPr>
              <a:r>
                <a:rPr lang="en-US" sz="894">
                  <a:solidFill>
                    <a:srgbClr val="000000"/>
                  </a:solidFill>
                  <a:latin typeface="Arial" panose="020B0604020202020204" pitchFamily="34" charset="0"/>
                  <a:cs typeface="Arial" panose="020B0604020202020204" pitchFamily="34" charset="0"/>
                </a:rPr>
                <a:t>Entity holding a valid inter-state trade license from CERC</a:t>
              </a:r>
            </a:p>
            <a:p>
              <a:pPr marL="139303" indent="-139303">
                <a:buFont typeface="Arial" panose="020B0604020202020204" pitchFamily="34" charset="0"/>
                <a:buChar char="•"/>
              </a:pPr>
              <a:r>
                <a:rPr lang="en-US" sz="894">
                  <a:solidFill>
                    <a:srgbClr val="000000"/>
                  </a:solidFill>
                  <a:latin typeface="Arial" panose="020B0604020202020204" pitchFamily="34" charset="0"/>
                  <a:cs typeface="Arial" panose="020B0604020202020204" pitchFamily="34" charset="0"/>
                </a:rPr>
                <a:t>Entity can trade &amp; clear for its own account and on behalf of its clients</a:t>
              </a:r>
            </a:p>
          </p:txBody>
        </p:sp>
        <p:sp>
          <p:nvSpPr>
            <p:cNvPr id="23" name="Freeform 59">
              <a:extLst>
                <a:ext uri="{FF2B5EF4-FFF2-40B4-BE49-F238E27FC236}">
                  <a16:creationId xmlns:a16="http://schemas.microsoft.com/office/drawing/2014/main" id="{673F7E7B-FC52-18EC-1A48-47672BC01A56}"/>
                </a:ext>
              </a:extLst>
            </p:cNvPr>
            <p:cNvSpPr>
              <a:spLocks/>
            </p:cNvSpPr>
            <p:nvPr/>
          </p:nvSpPr>
          <p:spPr bwMode="auto">
            <a:xfrm rot="20334630" flipH="1">
              <a:off x="323919" y="2236441"/>
              <a:ext cx="1667828" cy="630366"/>
            </a:xfrm>
            <a:custGeom>
              <a:avLst/>
              <a:gdLst>
                <a:gd name="connsiteX0" fmla="*/ 2889837 w 3557588"/>
                <a:gd name="connsiteY0" fmla="*/ 0 h 1344613"/>
                <a:gd name="connsiteX1" fmla="*/ 2807792 w 3557588"/>
                <a:gd name="connsiteY1" fmla="*/ 5011 h 1344613"/>
                <a:gd name="connsiteX2" fmla="*/ 2779811 w 3557588"/>
                <a:gd name="connsiteY2" fmla="*/ 10189 h 1344613"/>
                <a:gd name="connsiteX3" fmla="*/ 2751682 w 3557588"/>
                <a:gd name="connsiteY3" fmla="*/ 12017 h 1344613"/>
                <a:gd name="connsiteX4" fmla="*/ 2277031 w 3557588"/>
                <a:gd name="connsiteY4" fmla="*/ 316284 h 1344613"/>
                <a:gd name="connsiteX5" fmla="*/ 1905395 w 3557588"/>
                <a:gd name="connsiteY5" fmla="*/ 548953 h 1344613"/>
                <a:gd name="connsiteX6" fmla="*/ 1861105 w 3557588"/>
                <a:gd name="connsiteY6" fmla="*/ 556767 h 1344613"/>
                <a:gd name="connsiteX7" fmla="*/ 1797707 w 3557588"/>
                <a:gd name="connsiteY7" fmla="*/ 559961 h 1344613"/>
                <a:gd name="connsiteX8" fmla="*/ 1280557 w 3557588"/>
                <a:gd name="connsiteY8" fmla="*/ 309934 h 1344613"/>
                <a:gd name="connsiteX9" fmla="*/ 718693 w 3557588"/>
                <a:gd name="connsiteY9" fmla="*/ 0 h 1344613"/>
                <a:gd name="connsiteX10" fmla="*/ 717739 w 3557588"/>
                <a:gd name="connsiteY10" fmla="*/ 0 h 1344613"/>
                <a:gd name="connsiteX11" fmla="*/ 716785 w 3557588"/>
                <a:gd name="connsiteY11" fmla="*/ 0 h 1344613"/>
                <a:gd name="connsiteX12" fmla="*/ 677674 w 3557588"/>
                <a:gd name="connsiteY12" fmla="*/ 957 h 1344613"/>
                <a:gd name="connsiteX13" fmla="*/ 674812 w 3557588"/>
                <a:gd name="connsiteY13" fmla="*/ 1913 h 1344613"/>
                <a:gd name="connsiteX14" fmla="*/ 636655 w 3557588"/>
                <a:gd name="connsiteY14" fmla="*/ 4783 h 1344613"/>
                <a:gd name="connsiteX15" fmla="*/ 635701 w 3557588"/>
                <a:gd name="connsiteY15" fmla="*/ 4783 h 1344613"/>
                <a:gd name="connsiteX16" fmla="*/ 573890 w 3557588"/>
                <a:gd name="connsiteY16" fmla="*/ 15839 h 1344613"/>
                <a:gd name="connsiteX17" fmla="*/ 533340 w 3557588"/>
                <a:gd name="connsiteY17" fmla="*/ 19938 h 1344613"/>
                <a:gd name="connsiteX18" fmla="*/ 0 w 3557588"/>
                <a:gd name="connsiteY18" fmla="*/ 675960 h 1344613"/>
                <a:gd name="connsiteX19" fmla="*/ 667751 w 3557588"/>
                <a:gd name="connsiteY19" fmla="*/ 1344613 h 1344613"/>
                <a:gd name="connsiteX20" fmla="*/ 749126 w 3557588"/>
                <a:gd name="connsiteY20" fmla="*/ 1339688 h 1344613"/>
                <a:gd name="connsiteX21" fmla="*/ 766171 w 3557588"/>
                <a:gd name="connsiteY21" fmla="*/ 1336563 h 1344613"/>
                <a:gd name="connsiteX22" fmla="*/ 796915 w 3557588"/>
                <a:gd name="connsiteY22" fmla="*/ 1333480 h 1344613"/>
                <a:gd name="connsiteX23" fmla="*/ 797869 w 3557588"/>
                <a:gd name="connsiteY23" fmla="*/ 1333480 h 1344613"/>
                <a:gd name="connsiteX24" fmla="*/ 1257663 w 3557588"/>
                <a:gd name="connsiteY24" fmla="*/ 1062767 h 1344613"/>
                <a:gd name="connsiteX25" fmla="*/ 1613681 w 3557588"/>
                <a:gd name="connsiteY25" fmla="*/ 805243 h 1344613"/>
                <a:gd name="connsiteX26" fmla="*/ 1683778 w 3557588"/>
                <a:gd name="connsiteY26" fmla="*/ 787924 h 1344613"/>
                <a:gd name="connsiteX27" fmla="*/ 1714809 w 3557588"/>
                <a:gd name="connsiteY27" fmla="*/ 784054 h 1344613"/>
                <a:gd name="connsiteX28" fmla="*/ 2299925 w 3557588"/>
                <a:gd name="connsiteY28" fmla="*/ 1069117 h 1344613"/>
                <a:gd name="connsiteX29" fmla="*/ 2759719 w 3557588"/>
                <a:gd name="connsiteY29" fmla="*/ 1339830 h 1344613"/>
                <a:gd name="connsiteX30" fmla="*/ 2760673 w 3557588"/>
                <a:gd name="connsiteY30" fmla="*/ 1339830 h 1344613"/>
                <a:gd name="connsiteX31" fmla="*/ 2798831 w 3557588"/>
                <a:gd name="connsiteY31" fmla="*/ 1343657 h 1344613"/>
                <a:gd name="connsiteX32" fmla="*/ 2800738 w 3557588"/>
                <a:gd name="connsiteY32" fmla="*/ 1343657 h 1344613"/>
                <a:gd name="connsiteX33" fmla="*/ 2838896 w 3557588"/>
                <a:gd name="connsiteY33" fmla="*/ 1344613 h 1344613"/>
                <a:gd name="connsiteX34" fmla="*/ 2839850 w 3557588"/>
                <a:gd name="connsiteY34" fmla="*/ 1344613 h 1344613"/>
                <a:gd name="connsiteX35" fmla="*/ 2840803 w 3557588"/>
                <a:gd name="connsiteY35" fmla="*/ 1344613 h 1344613"/>
                <a:gd name="connsiteX36" fmla="*/ 2879915 w 3557588"/>
                <a:gd name="connsiteY36" fmla="*/ 1343657 h 1344613"/>
                <a:gd name="connsiteX37" fmla="*/ 2881822 w 3557588"/>
                <a:gd name="connsiteY37" fmla="*/ 1343657 h 1344613"/>
                <a:gd name="connsiteX38" fmla="*/ 2919980 w 3557588"/>
                <a:gd name="connsiteY38" fmla="*/ 1339830 h 1344613"/>
                <a:gd name="connsiteX39" fmla="*/ 2921887 w 3557588"/>
                <a:gd name="connsiteY39" fmla="*/ 1339830 h 1344613"/>
                <a:gd name="connsiteX40" fmla="*/ 2986964 w 3557588"/>
                <a:gd name="connsiteY40" fmla="*/ 1328445 h 1344613"/>
                <a:gd name="connsiteX41" fmla="*/ 3024248 w 3557588"/>
                <a:gd name="connsiteY41" fmla="*/ 1324677 h 1344613"/>
                <a:gd name="connsiteX42" fmla="*/ 3557588 w 3557588"/>
                <a:gd name="connsiteY42" fmla="*/ 669610 h 1344613"/>
                <a:gd name="connsiteX43" fmla="*/ 2889837 w 3557588"/>
                <a:gd name="connsiteY43" fmla="*/ 0 h 134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57588" h="1344613">
                  <a:moveTo>
                    <a:pt x="2889837" y="0"/>
                  </a:moveTo>
                  <a:cubicBezTo>
                    <a:pt x="2862054" y="0"/>
                    <a:pt x="2834673" y="1704"/>
                    <a:pt x="2807792" y="5011"/>
                  </a:cubicBezTo>
                  <a:lnTo>
                    <a:pt x="2779811" y="10189"/>
                  </a:lnTo>
                  <a:lnTo>
                    <a:pt x="2751682" y="12017"/>
                  </a:lnTo>
                  <a:cubicBezTo>
                    <a:pt x="2551956" y="38186"/>
                    <a:pt x="2380532" y="153066"/>
                    <a:pt x="2277031" y="316284"/>
                  </a:cubicBezTo>
                  <a:cubicBezTo>
                    <a:pt x="2179730" y="435020"/>
                    <a:pt x="2048088" y="515553"/>
                    <a:pt x="1905395" y="548953"/>
                  </a:cubicBezTo>
                  <a:lnTo>
                    <a:pt x="1861105" y="556767"/>
                  </a:lnTo>
                  <a:lnTo>
                    <a:pt x="1797707" y="559961"/>
                  </a:lnTo>
                  <a:cubicBezTo>
                    <a:pt x="1601078" y="558646"/>
                    <a:pt x="1410292" y="468249"/>
                    <a:pt x="1280557" y="309934"/>
                  </a:cubicBezTo>
                  <a:cubicBezTo>
                    <a:pt x="1162270" y="123400"/>
                    <a:pt x="955267" y="0"/>
                    <a:pt x="718693" y="0"/>
                  </a:cubicBezTo>
                  <a:cubicBezTo>
                    <a:pt x="717739" y="0"/>
                    <a:pt x="717739" y="0"/>
                    <a:pt x="717739" y="0"/>
                  </a:cubicBezTo>
                  <a:cubicBezTo>
                    <a:pt x="717739" y="0"/>
                    <a:pt x="716785" y="0"/>
                    <a:pt x="716785" y="0"/>
                  </a:cubicBezTo>
                  <a:cubicBezTo>
                    <a:pt x="703430" y="0"/>
                    <a:pt x="691029" y="957"/>
                    <a:pt x="677674" y="957"/>
                  </a:cubicBezTo>
                  <a:cubicBezTo>
                    <a:pt x="676720" y="957"/>
                    <a:pt x="675766" y="957"/>
                    <a:pt x="674812" y="1913"/>
                  </a:cubicBezTo>
                  <a:cubicBezTo>
                    <a:pt x="662411" y="1913"/>
                    <a:pt x="650010" y="3826"/>
                    <a:pt x="636655" y="4783"/>
                  </a:cubicBezTo>
                  <a:cubicBezTo>
                    <a:pt x="636655" y="4783"/>
                    <a:pt x="635701" y="4783"/>
                    <a:pt x="635701" y="4783"/>
                  </a:cubicBezTo>
                  <a:lnTo>
                    <a:pt x="573890" y="15839"/>
                  </a:lnTo>
                  <a:lnTo>
                    <a:pt x="533340" y="19938"/>
                  </a:lnTo>
                  <a:cubicBezTo>
                    <a:pt x="229331" y="82309"/>
                    <a:pt x="0" y="352036"/>
                    <a:pt x="0" y="675960"/>
                  </a:cubicBezTo>
                  <a:cubicBezTo>
                    <a:pt x="0" y="1045202"/>
                    <a:pt x="299534" y="1344613"/>
                    <a:pt x="667751" y="1344613"/>
                  </a:cubicBezTo>
                  <a:cubicBezTo>
                    <a:pt x="695296" y="1344613"/>
                    <a:pt x="722453" y="1342939"/>
                    <a:pt x="749126" y="1339688"/>
                  </a:cubicBezTo>
                  <a:lnTo>
                    <a:pt x="766171" y="1336563"/>
                  </a:lnTo>
                  <a:lnTo>
                    <a:pt x="796915" y="1333480"/>
                  </a:lnTo>
                  <a:cubicBezTo>
                    <a:pt x="796915" y="1333480"/>
                    <a:pt x="797869" y="1333480"/>
                    <a:pt x="797869" y="1333480"/>
                  </a:cubicBezTo>
                  <a:cubicBezTo>
                    <a:pt x="986747" y="1311479"/>
                    <a:pt x="1151777" y="1210081"/>
                    <a:pt x="1257663" y="1062767"/>
                  </a:cubicBezTo>
                  <a:cubicBezTo>
                    <a:pt x="1363490" y="927948"/>
                    <a:pt x="1486830" y="845162"/>
                    <a:pt x="1613681" y="805243"/>
                  </a:cubicBezTo>
                  <a:lnTo>
                    <a:pt x="1683778" y="787924"/>
                  </a:lnTo>
                  <a:lnTo>
                    <a:pt x="1714809" y="784054"/>
                  </a:lnTo>
                  <a:cubicBezTo>
                    <a:pt x="1916445" y="770901"/>
                    <a:pt x="2130603" y="853407"/>
                    <a:pt x="2299925" y="1069117"/>
                  </a:cubicBezTo>
                  <a:cubicBezTo>
                    <a:pt x="2405811" y="1216431"/>
                    <a:pt x="2570841" y="1317829"/>
                    <a:pt x="2759719" y="1339830"/>
                  </a:cubicBezTo>
                  <a:cubicBezTo>
                    <a:pt x="2759719" y="1339830"/>
                    <a:pt x="2760673" y="1339830"/>
                    <a:pt x="2760673" y="1339830"/>
                  </a:cubicBezTo>
                  <a:cubicBezTo>
                    <a:pt x="2773074" y="1341743"/>
                    <a:pt x="2786429" y="1342700"/>
                    <a:pt x="2798831" y="1343657"/>
                  </a:cubicBezTo>
                  <a:cubicBezTo>
                    <a:pt x="2799784" y="1343657"/>
                    <a:pt x="2799784" y="1343657"/>
                    <a:pt x="2800738" y="1343657"/>
                  </a:cubicBezTo>
                  <a:cubicBezTo>
                    <a:pt x="2813139" y="1344613"/>
                    <a:pt x="2826495" y="1344613"/>
                    <a:pt x="2838896" y="1344613"/>
                  </a:cubicBezTo>
                  <a:cubicBezTo>
                    <a:pt x="2839850" y="1344613"/>
                    <a:pt x="2839850" y="1344613"/>
                    <a:pt x="2839850" y="1344613"/>
                  </a:cubicBezTo>
                  <a:cubicBezTo>
                    <a:pt x="2839850" y="1344613"/>
                    <a:pt x="2840803" y="1344613"/>
                    <a:pt x="2840803" y="1344613"/>
                  </a:cubicBezTo>
                  <a:cubicBezTo>
                    <a:pt x="2854158" y="1344613"/>
                    <a:pt x="2866560" y="1344613"/>
                    <a:pt x="2879915" y="1343657"/>
                  </a:cubicBezTo>
                  <a:cubicBezTo>
                    <a:pt x="2880868" y="1343657"/>
                    <a:pt x="2881822" y="1343657"/>
                    <a:pt x="2881822" y="1343657"/>
                  </a:cubicBezTo>
                  <a:cubicBezTo>
                    <a:pt x="2895177" y="1342700"/>
                    <a:pt x="2907579" y="1341743"/>
                    <a:pt x="2919980" y="1339830"/>
                  </a:cubicBezTo>
                  <a:cubicBezTo>
                    <a:pt x="2920934" y="1339830"/>
                    <a:pt x="2920934" y="1339830"/>
                    <a:pt x="2921887" y="1339830"/>
                  </a:cubicBezTo>
                  <a:lnTo>
                    <a:pt x="2986964" y="1328445"/>
                  </a:lnTo>
                  <a:lnTo>
                    <a:pt x="3024248" y="1324677"/>
                  </a:lnTo>
                  <a:cubicBezTo>
                    <a:pt x="3328257" y="1262319"/>
                    <a:pt x="3557588" y="992697"/>
                    <a:pt x="3557588" y="669610"/>
                  </a:cubicBezTo>
                  <a:cubicBezTo>
                    <a:pt x="3557588" y="299411"/>
                    <a:pt x="3258054" y="0"/>
                    <a:pt x="2889837" y="0"/>
                  </a:cubicBezTo>
                  <a:close/>
                </a:path>
              </a:pathLst>
            </a:custGeom>
            <a:solidFill>
              <a:schemeClr val="accent3"/>
            </a:solidFill>
            <a:ln w="0">
              <a:noFill/>
              <a:prstDash val="solid"/>
              <a:round/>
              <a:headEnd/>
              <a:tailEnd/>
            </a:ln>
          </p:spPr>
          <p:txBody>
            <a:bodyPr vert="horz" wrap="square" lIns="74295" tIns="37148" rIns="74295" bIns="37148" numCol="1" anchor="t" anchorCtr="0" compatLnSpc="1">
              <a:prstTxWarp prst="textNoShape">
                <a:avLst/>
              </a:prstTxWarp>
              <a:noAutofit/>
            </a:bodyPr>
            <a:lstStyle/>
            <a:p>
              <a:endParaRPr lang="en-US" sz="1463">
                <a:latin typeface="Arial" panose="020B0604020202020204" pitchFamily="34" charset="0"/>
                <a:cs typeface="Arial" panose="020B0604020202020204" pitchFamily="34" charset="0"/>
              </a:endParaRPr>
            </a:p>
          </p:txBody>
        </p:sp>
        <p:sp>
          <p:nvSpPr>
            <p:cNvPr id="28" name="TextBox 27">
              <a:extLst>
                <a:ext uri="{FF2B5EF4-FFF2-40B4-BE49-F238E27FC236}">
                  <a16:creationId xmlns:a16="http://schemas.microsoft.com/office/drawing/2014/main" id="{7C94BD77-1319-D06D-2B51-E045C432FFD4}"/>
                </a:ext>
              </a:extLst>
            </p:cNvPr>
            <p:cNvSpPr txBox="1"/>
            <p:nvPr/>
          </p:nvSpPr>
          <p:spPr>
            <a:xfrm>
              <a:off x="1473764" y="2114035"/>
              <a:ext cx="313411" cy="472987"/>
            </a:xfrm>
            <a:prstGeom prst="rect">
              <a:avLst/>
            </a:prstGeom>
            <a:noFill/>
          </p:spPr>
          <p:txBody>
            <a:bodyPr wrap="square" lIns="29250" tIns="29250" rIns="29250" bIns="29250" rtlCol="0" anchor="ctr">
              <a:spAutoFit/>
            </a:bodyPr>
            <a:lstStyle/>
            <a:p>
              <a:r>
                <a:rPr lang="en-US" sz="3250" b="1">
                  <a:solidFill>
                    <a:schemeClr val="bg1"/>
                  </a:solidFill>
                  <a:latin typeface="Arial" panose="020B0604020202020204" pitchFamily="34" charset="0"/>
                  <a:cs typeface="Arial" panose="020B0604020202020204" pitchFamily="34" charset="0"/>
                </a:rPr>
                <a:t>1</a:t>
              </a:r>
            </a:p>
          </p:txBody>
        </p:sp>
        <p:sp>
          <p:nvSpPr>
            <p:cNvPr id="34" name="Freeform 62">
              <a:extLst>
                <a:ext uri="{FF2B5EF4-FFF2-40B4-BE49-F238E27FC236}">
                  <a16:creationId xmlns:a16="http://schemas.microsoft.com/office/drawing/2014/main" id="{493B9794-BA37-F691-2D07-634E91C0D984}"/>
                </a:ext>
              </a:extLst>
            </p:cNvPr>
            <p:cNvSpPr>
              <a:spLocks/>
            </p:cNvSpPr>
            <p:nvPr/>
          </p:nvSpPr>
          <p:spPr bwMode="auto">
            <a:xfrm rot="20334630" flipH="1">
              <a:off x="3241385" y="2228702"/>
              <a:ext cx="1667828" cy="630366"/>
            </a:xfrm>
            <a:custGeom>
              <a:avLst/>
              <a:gdLst>
                <a:gd name="connsiteX0" fmla="*/ 2889837 w 3557588"/>
                <a:gd name="connsiteY0" fmla="*/ 0 h 1344613"/>
                <a:gd name="connsiteX1" fmla="*/ 2807792 w 3557588"/>
                <a:gd name="connsiteY1" fmla="*/ 5011 h 1344613"/>
                <a:gd name="connsiteX2" fmla="*/ 2779811 w 3557588"/>
                <a:gd name="connsiteY2" fmla="*/ 10189 h 1344613"/>
                <a:gd name="connsiteX3" fmla="*/ 2751682 w 3557588"/>
                <a:gd name="connsiteY3" fmla="*/ 12017 h 1344613"/>
                <a:gd name="connsiteX4" fmla="*/ 2277031 w 3557588"/>
                <a:gd name="connsiteY4" fmla="*/ 316284 h 1344613"/>
                <a:gd name="connsiteX5" fmla="*/ 1905395 w 3557588"/>
                <a:gd name="connsiteY5" fmla="*/ 548953 h 1344613"/>
                <a:gd name="connsiteX6" fmla="*/ 1861105 w 3557588"/>
                <a:gd name="connsiteY6" fmla="*/ 556767 h 1344613"/>
                <a:gd name="connsiteX7" fmla="*/ 1797707 w 3557588"/>
                <a:gd name="connsiteY7" fmla="*/ 559961 h 1344613"/>
                <a:gd name="connsiteX8" fmla="*/ 1280557 w 3557588"/>
                <a:gd name="connsiteY8" fmla="*/ 309934 h 1344613"/>
                <a:gd name="connsiteX9" fmla="*/ 718693 w 3557588"/>
                <a:gd name="connsiteY9" fmla="*/ 0 h 1344613"/>
                <a:gd name="connsiteX10" fmla="*/ 717739 w 3557588"/>
                <a:gd name="connsiteY10" fmla="*/ 0 h 1344613"/>
                <a:gd name="connsiteX11" fmla="*/ 716785 w 3557588"/>
                <a:gd name="connsiteY11" fmla="*/ 0 h 1344613"/>
                <a:gd name="connsiteX12" fmla="*/ 677674 w 3557588"/>
                <a:gd name="connsiteY12" fmla="*/ 957 h 1344613"/>
                <a:gd name="connsiteX13" fmla="*/ 674812 w 3557588"/>
                <a:gd name="connsiteY13" fmla="*/ 1913 h 1344613"/>
                <a:gd name="connsiteX14" fmla="*/ 636655 w 3557588"/>
                <a:gd name="connsiteY14" fmla="*/ 4783 h 1344613"/>
                <a:gd name="connsiteX15" fmla="*/ 635701 w 3557588"/>
                <a:gd name="connsiteY15" fmla="*/ 4783 h 1344613"/>
                <a:gd name="connsiteX16" fmla="*/ 573890 w 3557588"/>
                <a:gd name="connsiteY16" fmla="*/ 15839 h 1344613"/>
                <a:gd name="connsiteX17" fmla="*/ 533340 w 3557588"/>
                <a:gd name="connsiteY17" fmla="*/ 19938 h 1344613"/>
                <a:gd name="connsiteX18" fmla="*/ 0 w 3557588"/>
                <a:gd name="connsiteY18" fmla="*/ 675960 h 1344613"/>
                <a:gd name="connsiteX19" fmla="*/ 667751 w 3557588"/>
                <a:gd name="connsiteY19" fmla="*/ 1344613 h 1344613"/>
                <a:gd name="connsiteX20" fmla="*/ 749126 w 3557588"/>
                <a:gd name="connsiteY20" fmla="*/ 1339688 h 1344613"/>
                <a:gd name="connsiteX21" fmla="*/ 766171 w 3557588"/>
                <a:gd name="connsiteY21" fmla="*/ 1336563 h 1344613"/>
                <a:gd name="connsiteX22" fmla="*/ 796915 w 3557588"/>
                <a:gd name="connsiteY22" fmla="*/ 1333480 h 1344613"/>
                <a:gd name="connsiteX23" fmla="*/ 797869 w 3557588"/>
                <a:gd name="connsiteY23" fmla="*/ 1333480 h 1344613"/>
                <a:gd name="connsiteX24" fmla="*/ 1257663 w 3557588"/>
                <a:gd name="connsiteY24" fmla="*/ 1062767 h 1344613"/>
                <a:gd name="connsiteX25" fmla="*/ 1613681 w 3557588"/>
                <a:gd name="connsiteY25" fmla="*/ 805243 h 1344613"/>
                <a:gd name="connsiteX26" fmla="*/ 1683778 w 3557588"/>
                <a:gd name="connsiteY26" fmla="*/ 787924 h 1344613"/>
                <a:gd name="connsiteX27" fmla="*/ 1714809 w 3557588"/>
                <a:gd name="connsiteY27" fmla="*/ 784054 h 1344613"/>
                <a:gd name="connsiteX28" fmla="*/ 2299925 w 3557588"/>
                <a:gd name="connsiteY28" fmla="*/ 1069117 h 1344613"/>
                <a:gd name="connsiteX29" fmla="*/ 2759719 w 3557588"/>
                <a:gd name="connsiteY29" fmla="*/ 1339830 h 1344613"/>
                <a:gd name="connsiteX30" fmla="*/ 2760673 w 3557588"/>
                <a:gd name="connsiteY30" fmla="*/ 1339830 h 1344613"/>
                <a:gd name="connsiteX31" fmla="*/ 2798831 w 3557588"/>
                <a:gd name="connsiteY31" fmla="*/ 1343657 h 1344613"/>
                <a:gd name="connsiteX32" fmla="*/ 2800738 w 3557588"/>
                <a:gd name="connsiteY32" fmla="*/ 1343657 h 1344613"/>
                <a:gd name="connsiteX33" fmla="*/ 2838896 w 3557588"/>
                <a:gd name="connsiteY33" fmla="*/ 1344613 h 1344613"/>
                <a:gd name="connsiteX34" fmla="*/ 2839850 w 3557588"/>
                <a:gd name="connsiteY34" fmla="*/ 1344613 h 1344613"/>
                <a:gd name="connsiteX35" fmla="*/ 2840803 w 3557588"/>
                <a:gd name="connsiteY35" fmla="*/ 1344613 h 1344613"/>
                <a:gd name="connsiteX36" fmla="*/ 2879915 w 3557588"/>
                <a:gd name="connsiteY36" fmla="*/ 1343657 h 1344613"/>
                <a:gd name="connsiteX37" fmla="*/ 2881822 w 3557588"/>
                <a:gd name="connsiteY37" fmla="*/ 1343657 h 1344613"/>
                <a:gd name="connsiteX38" fmla="*/ 2919980 w 3557588"/>
                <a:gd name="connsiteY38" fmla="*/ 1339830 h 1344613"/>
                <a:gd name="connsiteX39" fmla="*/ 2921887 w 3557588"/>
                <a:gd name="connsiteY39" fmla="*/ 1339830 h 1344613"/>
                <a:gd name="connsiteX40" fmla="*/ 2986964 w 3557588"/>
                <a:gd name="connsiteY40" fmla="*/ 1328445 h 1344613"/>
                <a:gd name="connsiteX41" fmla="*/ 3024248 w 3557588"/>
                <a:gd name="connsiteY41" fmla="*/ 1324677 h 1344613"/>
                <a:gd name="connsiteX42" fmla="*/ 3557588 w 3557588"/>
                <a:gd name="connsiteY42" fmla="*/ 669610 h 1344613"/>
                <a:gd name="connsiteX43" fmla="*/ 2889837 w 3557588"/>
                <a:gd name="connsiteY43" fmla="*/ 0 h 134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57588" h="1344613">
                  <a:moveTo>
                    <a:pt x="2889837" y="0"/>
                  </a:moveTo>
                  <a:cubicBezTo>
                    <a:pt x="2862054" y="0"/>
                    <a:pt x="2834673" y="1704"/>
                    <a:pt x="2807792" y="5011"/>
                  </a:cubicBezTo>
                  <a:lnTo>
                    <a:pt x="2779811" y="10189"/>
                  </a:lnTo>
                  <a:lnTo>
                    <a:pt x="2751682" y="12017"/>
                  </a:lnTo>
                  <a:cubicBezTo>
                    <a:pt x="2551956" y="38186"/>
                    <a:pt x="2380532" y="153066"/>
                    <a:pt x="2277031" y="316284"/>
                  </a:cubicBezTo>
                  <a:cubicBezTo>
                    <a:pt x="2179730" y="435020"/>
                    <a:pt x="2048088" y="515553"/>
                    <a:pt x="1905395" y="548953"/>
                  </a:cubicBezTo>
                  <a:lnTo>
                    <a:pt x="1861105" y="556767"/>
                  </a:lnTo>
                  <a:lnTo>
                    <a:pt x="1797707" y="559961"/>
                  </a:lnTo>
                  <a:cubicBezTo>
                    <a:pt x="1601078" y="558646"/>
                    <a:pt x="1410292" y="468249"/>
                    <a:pt x="1280557" y="309934"/>
                  </a:cubicBezTo>
                  <a:cubicBezTo>
                    <a:pt x="1162270" y="123400"/>
                    <a:pt x="955267" y="0"/>
                    <a:pt x="718693" y="0"/>
                  </a:cubicBezTo>
                  <a:cubicBezTo>
                    <a:pt x="717739" y="0"/>
                    <a:pt x="717739" y="0"/>
                    <a:pt x="717739" y="0"/>
                  </a:cubicBezTo>
                  <a:cubicBezTo>
                    <a:pt x="717739" y="0"/>
                    <a:pt x="716785" y="0"/>
                    <a:pt x="716785" y="0"/>
                  </a:cubicBezTo>
                  <a:cubicBezTo>
                    <a:pt x="703430" y="0"/>
                    <a:pt x="691029" y="957"/>
                    <a:pt x="677674" y="957"/>
                  </a:cubicBezTo>
                  <a:cubicBezTo>
                    <a:pt x="676720" y="957"/>
                    <a:pt x="675766" y="957"/>
                    <a:pt x="674812" y="1913"/>
                  </a:cubicBezTo>
                  <a:cubicBezTo>
                    <a:pt x="662411" y="1913"/>
                    <a:pt x="650010" y="3826"/>
                    <a:pt x="636655" y="4783"/>
                  </a:cubicBezTo>
                  <a:cubicBezTo>
                    <a:pt x="636655" y="4783"/>
                    <a:pt x="635701" y="4783"/>
                    <a:pt x="635701" y="4783"/>
                  </a:cubicBezTo>
                  <a:lnTo>
                    <a:pt x="573890" y="15839"/>
                  </a:lnTo>
                  <a:lnTo>
                    <a:pt x="533340" y="19938"/>
                  </a:lnTo>
                  <a:cubicBezTo>
                    <a:pt x="229331" y="82309"/>
                    <a:pt x="0" y="352036"/>
                    <a:pt x="0" y="675960"/>
                  </a:cubicBezTo>
                  <a:cubicBezTo>
                    <a:pt x="0" y="1045202"/>
                    <a:pt x="299534" y="1344613"/>
                    <a:pt x="667751" y="1344613"/>
                  </a:cubicBezTo>
                  <a:cubicBezTo>
                    <a:pt x="695296" y="1344613"/>
                    <a:pt x="722453" y="1342939"/>
                    <a:pt x="749126" y="1339688"/>
                  </a:cubicBezTo>
                  <a:lnTo>
                    <a:pt x="766171" y="1336563"/>
                  </a:lnTo>
                  <a:lnTo>
                    <a:pt x="796915" y="1333480"/>
                  </a:lnTo>
                  <a:cubicBezTo>
                    <a:pt x="796915" y="1333480"/>
                    <a:pt x="797869" y="1333480"/>
                    <a:pt x="797869" y="1333480"/>
                  </a:cubicBezTo>
                  <a:cubicBezTo>
                    <a:pt x="986747" y="1311479"/>
                    <a:pt x="1151777" y="1210081"/>
                    <a:pt x="1257663" y="1062767"/>
                  </a:cubicBezTo>
                  <a:cubicBezTo>
                    <a:pt x="1363490" y="927948"/>
                    <a:pt x="1486830" y="845162"/>
                    <a:pt x="1613681" y="805243"/>
                  </a:cubicBezTo>
                  <a:lnTo>
                    <a:pt x="1683778" y="787924"/>
                  </a:lnTo>
                  <a:lnTo>
                    <a:pt x="1714809" y="784054"/>
                  </a:lnTo>
                  <a:cubicBezTo>
                    <a:pt x="1916445" y="770901"/>
                    <a:pt x="2130603" y="853407"/>
                    <a:pt x="2299925" y="1069117"/>
                  </a:cubicBezTo>
                  <a:cubicBezTo>
                    <a:pt x="2405811" y="1216431"/>
                    <a:pt x="2570841" y="1317829"/>
                    <a:pt x="2759719" y="1339830"/>
                  </a:cubicBezTo>
                  <a:cubicBezTo>
                    <a:pt x="2759719" y="1339830"/>
                    <a:pt x="2760673" y="1339830"/>
                    <a:pt x="2760673" y="1339830"/>
                  </a:cubicBezTo>
                  <a:cubicBezTo>
                    <a:pt x="2773074" y="1341743"/>
                    <a:pt x="2786429" y="1342700"/>
                    <a:pt x="2798831" y="1343657"/>
                  </a:cubicBezTo>
                  <a:cubicBezTo>
                    <a:pt x="2799784" y="1343657"/>
                    <a:pt x="2799784" y="1343657"/>
                    <a:pt x="2800738" y="1343657"/>
                  </a:cubicBezTo>
                  <a:cubicBezTo>
                    <a:pt x="2813139" y="1344613"/>
                    <a:pt x="2826495" y="1344613"/>
                    <a:pt x="2838896" y="1344613"/>
                  </a:cubicBezTo>
                  <a:cubicBezTo>
                    <a:pt x="2839850" y="1344613"/>
                    <a:pt x="2839850" y="1344613"/>
                    <a:pt x="2839850" y="1344613"/>
                  </a:cubicBezTo>
                  <a:cubicBezTo>
                    <a:pt x="2839850" y="1344613"/>
                    <a:pt x="2840803" y="1344613"/>
                    <a:pt x="2840803" y="1344613"/>
                  </a:cubicBezTo>
                  <a:cubicBezTo>
                    <a:pt x="2854158" y="1344613"/>
                    <a:pt x="2866560" y="1344613"/>
                    <a:pt x="2879915" y="1343657"/>
                  </a:cubicBezTo>
                  <a:cubicBezTo>
                    <a:pt x="2880868" y="1343657"/>
                    <a:pt x="2881822" y="1343657"/>
                    <a:pt x="2881822" y="1343657"/>
                  </a:cubicBezTo>
                  <a:cubicBezTo>
                    <a:pt x="2895177" y="1342700"/>
                    <a:pt x="2907579" y="1341743"/>
                    <a:pt x="2919980" y="1339830"/>
                  </a:cubicBezTo>
                  <a:cubicBezTo>
                    <a:pt x="2920934" y="1339830"/>
                    <a:pt x="2920934" y="1339830"/>
                    <a:pt x="2921887" y="1339830"/>
                  </a:cubicBezTo>
                  <a:lnTo>
                    <a:pt x="2986964" y="1328445"/>
                  </a:lnTo>
                  <a:lnTo>
                    <a:pt x="3024248" y="1324677"/>
                  </a:lnTo>
                  <a:cubicBezTo>
                    <a:pt x="3328257" y="1262319"/>
                    <a:pt x="3557588" y="992697"/>
                    <a:pt x="3557588" y="669610"/>
                  </a:cubicBezTo>
                  <a:cubicBezTo>
                    <a:pt x="3557588" y="299411"/>
                    <a:pt x="3258054" y="0"/>
                    <a:pt x="2889837" y="0"/>
                  </a:cubicBezTo>
                  <a:close/>
                </a:path>
              </a:pathLst>
            </a:custGeom>
            <a:solidFill>
              <a:srgbClr val="005587"/>
            </a:solidFill>
            <a:ln w="0">
              <a:noFill/>
              <a:prstDash val="solid"/>
              <a:round/>
              <a:headEnd/>
              <a:tailEnd/>
            </a:ln>
          </p:spPr>
          <p:txBody>
            <a:bodyPr vert="horz" wrap="square" lIns="74295" tIns="37148" rIns="74295" bIns="37148" numCol="1" anchor="t" anchorCtr="0" compatLnSpc="1">
              <a:prstTxWarp prst="textNoShape">
                <a:avLst/>
              </a:prstTxWarp>
              <a:noAutofit/>
            </a:bodyPr>
            <a:lstStyle/>
            <a:p>
              <a:endParaRPr lang="en-US" sz="1463">
                <a:latin typeface="Arial" panose="020B0604020202020204" pitchFamily="34" charset="0"/>
                <a:cs typeface="Arial" panose="020B0604020202020204" pitchFamily="34" charset="0"/>
              </a:endParaRPr>
            </a:p>
          </p:txBody>
        </p:sp>
        <p:sp>
          <p:nvSpPr>
            <p:cNvPr id="35" name="TextBox 34">
              <a:extLst>
                <a:ext uri="{FF2B5EF4-FFF2-40B4-BE49-F238E27FC236}">
                  <a16:creationId xmlns:a16="http://schemas.microsoft.com/office/drawing/2014/main" id="{76B0D72A-39C4-B742-24D7-893F74E9C02E}"/>
                </a:ext>
              </a:extLst>
            </p:cNvPr>
            <p:cNvSpPr txBox="1"/>
            <p:nvPr/>
          </p:nvSpPr>
          <p:spPr>
            <a:xfrm>
              <a:off x="4391231" y="2106296"/>
              <a:ext cx="313411" cy="472987"/>
            </a:xfrm>
            <a:prstGeom prst="rect">
              <a:avLst/>
            </a:prstGeom>
            <a:noFill/>
          </p:spPr>
          <p:txBody>
            <a:bodyPr wrap="square" lIns="29250" tIns="29250" rIns="29250" bIns="29250" rtlCol="0" anchor="ctr">
              <a:spAutoFit/>
            </a:bodyPr>
            <a:lstStyle/>
            <a:p>
              <a:r>
                <a:rPr lang="en-US" sz="3250" b="1">
                  <a:solidFill>
                    <a:schemeClr val="bg1"/>
                  </a:solidFill>
                  <a:latin typeface="Arial" panose="020B0604020202020204" pitchFamily="34" charset="0"/>
                  <a:cs typeface="Arial" panose="020B0604020202020204" pitchFamily="34" charset="0"/>
                </a:rPr>
                <a:t>2</a:t>
              </a:r>
            </a:p>
          </p:txBody>
        </p:sp>
        <p:sp>
          <p:nvSpPr>
            <p:cNvPr id="36" name="Freeform 65">
              <a:extLst>
                <a:ext uri="{FF2B5EF4-FFF2-40B4-BE49-F238E27FC236}">
                  <a16:creationId xmlns:a16="http://schemas.microsoft.com/office/drawing/2014/main" id="{8D2D765D-3C60-A65D-58FA-609C0CEE5885}"/>
                </a:ext>
              </a:extLst>
            </p:cNvPr>
            <p:cNvSpPr>
              <a:spLocks/>
            </p:cNvSpPr>
            <p:nvPr/>
          </p:nvSpPr>
          <p:spPr bwMode="auto">
            <a:xfrm rot="20334630" flipH="1">
              <a:off x="6196662" y="2244181"/>
              <a:ext cx="1667828" cy="630366"/>
            </a:xfrm>
            <a:custGeom>
              <a:avLst/>
              <a:gdLst>
                <a:gd name="connsiteX0" fmla="*/ 2889837 w 3557588"/>
                <a:gd name="connsiteY0" fmla="*/ 0 h 1344613"/>
                <a:gd name="connsiteX1" fmla="*/ 2807792 w 3557588"/>
                <a:gd name="connsiteY1" fmla="*/ 5011 h 1344613"/>
                <a:gd name="connsiteX2" fmla="*/ 2779811 w 3557588"/>
                <a:gd name="connsiteY2" fmla="*/ 10189 h 1344613"/>
                <a:gd name="connsiteX3" fmla="*/ 2751682 w 3557588"/>
                <a:gd name="connsiteY3" fmla="*/ 12017 h 1344613"/>
                <a:gd name="connsiteX4" fmla="*/ 2277031 w 3557588"/>
                <a:gd name="connsiteY4" fmla="*/ 316284 h 1344613"/>
                <a:gd name="connsiteX5" fmla="*/ 1905395 w 3557588"/>
                <a:gd name="connsiteY5" fmla="*/ 548953 h 1344613"/>
                <a:gd name="connsiteX6" fmla="*/ 1861105 w 3557588"/>
                <a:gd name="connsiteY6" fmla="*/ 556767 h 1344613"/>
                <a:gd name="connsiteX7" fmla="*/ 1797707 w 3557588"/>
                <a:gd name="connsiteY7" fmla="*/ 559961 h 1344613"/>
                <a:gd name="connsiteX8" fmla="*/ 1280557 w 3557588"/>
                <a:gd name="connsiteY8" fmla="*/ 309934 h 1344613"/>
                <a:gd name="connsiteX9" fmla="*/ 718693 w 3557588"/>
                <a:gd name="connsiteY9" fmla="*/ 0 h 1344613"/>
                <a:gd name="connsiteX10" fmla="*/ 717739 w 3557588"/>
                <a:gd name="connsiteY10" fmla="*/ 0 h 1344613"/>
                <a:gd name="connsiteX11" fmla="*/ 716785 w 3557588"/>
                <a:gd name="connsiteY11" fmla="*/ 0 h 1344613"/>
                <a:gd name="connsiteX12" fmla="*/ 677674 w 3557588"/>
                <a:gd name="connsiteY12" fmla="*/ 957 h 1344613"/>
                <a:gd name="connsiteX13" fmla="*/ 674812 w 3557588"/>
                <a:gd name="connsiteY13" fmla="*/ 1913 h 1344613"/>
                <a:gd name="connsiteX14" fmla="*/ 636655 w 3557588"/>
                <a:gd name="connsiteY14" fmla="*/ 4783 h 1344613"/>
                <a:gd name="connsiteX15" fmla="*/ 635701 w 3557588"/>
                <a:gd name="connsiteY15" fmla="*/ 4783 h 1344613"/>
                <a:gd name="connsiteX16" fmla="*/ 573890 w 3557588"/>
                <a:gd name="connsiteY16" fmla="*/ 15839 h 1344613"/>
                <a:gd name="connsiteX17" fmla="*/ 533340 w 3557588"/>
                <a:gd name="connsiteY17" fmla="*/ 19938 h 1344613"/>
                <a:gd name="connsiteX18" fmla="*/ 0 w 3557588"/>
                <a:gd name="connsiteY18" fmla="*/ 675960 h 1344613"/>
                <a:gd name="connsiteX19" fmla="*/ 667751 w 3557588"/>
                <a:gd name="connsiteY19" fmla="*/ 1344613 h 1344613"/>
                <a:gd name="connsiteX20" fmla="*/ 749126 w 3557588"/>
                <a:gd name="connsiteY20" fmla="*/ 1339688 h 1344613"/>
                <a:gd name="connsiteX21" fmla="*/ 766171 w 3557588"/>
                <a:gd name="connsiteY21" fmla="*/ 1336563 h 1344613"/>
                <a:gd name="connsiteX22" fmla="*/ 796915 w 3557588"/>
                <a:gd name="connsiteY22" fmla="*/ 1333480 h 1344613"/>
                <a:gd name="connsiteX23" fmla="*/ 797869 w 3557588"/>
                <a:gd name="connsiteY23" fmla="*/ 1333480 h 1344613"/>
                <a:gd name="connsiteX24" fmla="*/ 1257663 w 3557588"/>
                <a:gd name="connsiteY24" fmla="*/ 1062767 h 1344613"/>
                <a:gd name="connsiteX25" fmla="*/ 1613681 w 3557588"/>
                <a:gd name="connsiteY25" fmla="*/ 805243 h 1344613"/>
                <a:gd name="connsiteX26" fmla="*/ 1683778 w 3557588"/>
                <a:gd name="connsiteY26" fmla="*/ 787924 h 1344613"/>
                <a:gd name="connsiteX27" fmla="*/ 1714809 w 3557588"/>
                <a:gd name="connsiteY27" fmla="*/ 784054 h 1344613"/>
                <a:gd name="connsiteX28" fmla="*/ 2299925 w 3557588"/>
                <a:gd name="connsiteY28" fmla="*/ 1069117 h 1344613"/>
                <a:gd name="connsiteX29" fmla="*/ 2759719 w 3557588"/>
                <a:gd name="connsiteY29" fmla="*/ 1339830 h 1344613"/>
                <a:gd name="connsiteX30" fmla="*/ 2760673 w 3557588"/>
                <a:gd name="connsiteY30" fmla="*/ 1339830 h 1344613"/>
                <a:gd name="connsiteX31" fmla="*/ 2798831 w 3557588"/>
                <a:gd name="connsiteY31" fmla="*/ 1343657 h 1344613"/>
                <a:gd name="connsiteX32" fmla="*/ 2800738 w 3557588"/>
                <a:gd name="connsiteY32" fmla="*/ 1343657 h 1344613"/>
                <a:gd name="connsiteX33" fmla="*/ 2838896 w 3557588"/>
                <a:gd name="connsiteY33" fmla="*/ 1344613 h 1344613"/>
                <a:gd name="connsiteX34" fmla="*/ 2839850 w 3557588"/>
                <a:gd name="connsiteY34" fmla="*/ 1344613 h 1344613"/>
                <a:gd name="connsiteX35" fmla="*/ 2840803 w 3557588"/>
                <a:gd name="connsiteY35" fmla="*/ 1344613 h 1344613"/>
                <a:gd name="connsiteX36" fmla="*/ 2879915 w 3557588"/>
                <a:gd name="connsiteY36" fmla="*/ 1343657 h 1344613"/>
                <a:gd name="connsiteX37" fmla="*/ 2881822 w 3557588"/>
                <a:gd name="connsiteY37" fmla="*/ 1343657 h 1344613"/>
                <a:gd name="connsiteX38" fmla="*/ 2919980 w 3557588"/>
                <a:gd name="connsiteY38" fmla="*/ 1339830 h 1344613"/>
                <a:gd name="connsiteX39" fmla="*/ 2921887 w 3557588"/>
                <a:gd name="connsiteY39" fmla="*/ 1339830 h 1344613"/>
                <a:gd name="connsiteX40" fmla="*/ 2986964 w 3557588"/>
                <a:gd name="connsiteY40" fmla="*/ 1328445 h 1344613"/>
                <a:gd name="connsiteX41" fmla="*/ 3024248 w 3557588"/>
                <a:gd name="connsiteY41" fmla="*/ 1324677 h 1344613"/>
                <a:gd name="connsiteX42" fmla="*/ 3557588 w 3557588"/>
                <a:gd name="connsiteY42" fmla="*/ 669610 h 1344613"/>
                <a:gd name="connsiteX43" fmla="*/ 2889837 w 3557588"/>
                <a:gd name="connsiteY43" fmla="*/ 0 h 134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57588" h="1344613">
                  <a:moveTo>
                    <a:pt x="2889837" y="0"/>
                  </a:moveTo>
                  <a:cubicBezTo>
                    <a:pt x="2862054" y="0"/>
                    <a:pt x="2834673" y="1704"/>
                    <a:pt x="2807792" y="5011"/>
                  </a:cubicBezTo>
                  <a:lnTo>
                    <a:pt x="2779811" y="10189"/>
                  </a:lnTo>
                  <a:lnTo>
                    <a:pt x="2751682" y="12017"/>
                  </a:lnTo>
                  <a:cubicBezTo>
                    <a:pt x="2551956" y="38186"/>
                    <a:pt x="2380532" y="153066"/>
                    <a:pt x="2277031" y="316284"/>
                  </a:cubicBezTo>
                  <a:cubicBezTo>
                    <a:pt x="2179730" y="435020"/>
                    <a:pt x="2048088" y="515553"/>
                    <a:pt x="1905395" y="548953"/>
                  </a:cubicBezTo>
                  <a:lnTo>
                    <a:pt x="1861105" y="556767"/>
                  </a:lnTo>
                  <a:lnTo>
                    <a:pt x="1797707" y="559961"/>
                  </a:lnTo>
                  <a:cubicBezTo>
                    <a:pt x="1601078" y="558646"/>
                    <a:pt x="1410292" y="468249"/>
                    <a:pt x="1280557" y="309934"/>
                  </a:cubicBezTo>
                  <a:cubicBezTo>
                    <a:pt x="1162270" y="123400"/>
                    <a:pt x="955267" y="0"/>
                    <a:pt x="718693" y="0"/>
                  </a:cubicBezTo>
                  <a:cubicBezTo>
                    <a:pt x="717739" y="0"/>
                    <a:pt x="717739" y="0"/>
                    <a:pt x="717739" y="0"/>
                  </a:cubicBezTo>
                  <a:cubicBezTo>
                    <a:pt x="717739" y="0"/>
                    <a:pt x="716785" y="0"/>
                    <a:pt x="716785" y="0"/>
                  </a:cubicBezTo>
                  <a:cubicBezTo>
                    <a:pt x="703430" y="0"/>
                    <a:pt x="691029" y="957"/>
                    <a:pt x="677674" y="957"/>
                  </a:cubicBezTo>
                  <a:cubicBezTo>
                    <a:pt x="676720" y="957"/>
                    <a:pt x="675766" y="957"/>
                    <a:pt x="674812" y="1913"/>
                  </a:cubicBezTo>
                  <a:cubicBezTo>
                    <a:pt x="662411" y="1913"/>
                    <a:pt x="650010" y="3826"/>
                    <a:pt x="636655" y="4783"/>
                  </a:cubicBezTo>
                  <a:cubicBezTo>
                    <a:pt x="636655" y="4783"/>
                    <a:pt x="635701" y="4783"/>
                    <a:pt x="635701" y="4783"/>
                  </a:cubicBezTo>
                  <a:lnTo>
                    <a:pt x="573890" y="15839"/>
                  </a:lnTo>
                  <a:lnTo>
                    <a:pt x="533340" y="19938"/>
                  </a:lnTo>
                  <a:cubicBezTo>
                    <a:pt x="229331" y="82309"/>
                    <a:pt x="0" y="352036"/>
                    <a:pt x="0" y="675960"/>
                  </a:cubicBezTo>
                  <a:cubicBezTo>
                    <a:pt x="0" y="1045202"/>
                    <a:pt x="299534" y="1344613"/>
                    <a:pt x="667751" y="1344613"/>
                  </a:cubicBezTo>
                  <a:cubicBezTo>
                    <a:pt x="695296" y="1344613"/>
                    <a:pt x="722453" y="1342939"/>
                    <a:pt x="749126" y="1339688"/>
                  </a:cubicBezTo>
                  <a:lnTo>
                    <a:pt x="766171" y="1336563"/>
                  </a:lnTo>
                  <a:lnTo>
                    <a:pt x="796915" y="1333480"/>
                  </a:lnTo>
                  <a:cubicBezTo>
                    <a:pt x="796915" y="1333480"/>
                    <a:pt x="797869" y="1333480"/>
                    <a:pt x="797869" y="1333480"/>
                  </a:cubicBezTo>
                  <a:cubicBezTo>
                    <a:pt x="986747" y="1311479"/>
                    <a:pt x="1151777" y="1210081"/>
                    <a:pt x="1257663" y="1062767"/>
                  </a:cubicBezTo>
                  <a:cubicBezTo>
                    <a:pt x="1363490" y="927948"/>
                    <a:pt x="1486830" y="845162"/>
                    <a:pt x="1613681" y="805243"/>
                  </a:cubicBezTo>
                  <a:lnTo>
                    <a:pt x="1683778" y="787924"/>
                  </a:lnTo>
                  <a:lnTo>
                    <a:pt x="1714809" y="784054"/>
                  </a:lnTo>
                  <a:cubicBezTo>
                    <a:pt x="1916445" y="770901"/>
                    <a:pt x="2130603" y="853407"/>
                    <a:pt x="2299925" y="1069117"/>
                  </a:cubicBezTo>
                  <a:cubicBezTo>
                    <a:pt x="2405811" y="1216431"/>
                    <a:pt x="2570841" y="1317829"/>
                    <a:pt x="2759719" y="1339830"/>
                  </a:cubicBezTo>
                  <a:cubicBezTo>
                    <a:pt x="2759719" y="1339830"/>
                    <a:pt x="2760673" y="1339830"/>
                    <a:pt x="2760673" y="1339830"/>
                  </a:cubicBezTo>
                  <a:cubicBezTo>
                    <a:pt x="2773074" y="1341743"/>
                    <a:pt x="2786429" y="1342700"/>
                    <a:pt x="2798831" y="1343657"/>
                  </a:cubicBezTo>
                  <a:cubicBezTo>
                    <a:pt x="2799784" y="1343657"/>
                    <a:pt x="2799784" y="1343657"/>
                    <a:pt x="2800738" y="1343657"/>
                  </a:cubicBezTo>
                  <a:cubicBezTo>
                    <a:pt x="2813139" y="1344613"/>
                    <a:pt x="2826495" y="1344613"/>
                    <a:pt x="2838896" y="1344613"/>
                  </a:cubicBezTo>
                  <a:cubicBezTo>
                    <a:pt x="2839850" y="1344613"/>
                    <a:pt x="2839850" y="1344613"/>
                    <a:pt x="2839850" y="1344613"/>
                  </a:cubicBezTo>
                  <a:cubicBezTo>
                    <a:pt x="2839850" y="1344613"/>
                    <a:pt x="2840803" y="1344613"/>
                    <a:pt x="2840803" y="1344613"/>
                  </a:cubicBezTo>
                  <a:cubicBezTo>
                    <a:pt x="2854158" y="1344613"/>
                    <a:pt x="2866560" y="1344613"/>
                    <a:pt x="2879915" y="1343657"/>
                  </a:cubicBezTo>
                  <a:cubicBezTo>
                    <a:pt x="2880868" y="1343657"/>
                    <a:pt x="2881822" y="1343657"/>
                    <a:pt x="2881822" y="1343657"/>
                  </a:cubicBezTo>
                  <a:cubicBezTo>
                    <a:pt x="2895177" y="1342700"/>
                    <a:pt x="2907579" y="1341743"/>
                    <a:pt x="2919980" y="1339830"/>
                  </a:cubicBezTo>
                  <a:cubicBezTo>
                    <a:pt x="2920934" y="1339830"/>
                    <a:pt x="2920934" y="1339830"/>
                    <a:pt x="2921887" y="1339830"/>
                  </a:cubicBezTo>
                  <a:lnTo>
                    <a:pt x="2986964" y="1328445"/>
                  </a:lnTo>
                  <a:lnTo>
                    <a:pt x="3024248" y="1324677"/>
                  </a:lnTo>
                  <a:cubicBezTo>
                    <a:pt x="3328257" y="1262319"/>
                    <a:pt x="3557588" y="992697"/>
                    <a:pt x="3557588" y="669610"/>
                  </a:cubicBezTo>
                  <a:cubicBezTo>
                    <a:pt x="3557588" y="299411"/>
                    <a:pt x="3258054" y="0"/>
                    <a:pt x="2889837" y="0"/>
                  </a:cubicBezTo>
                  <a:close/>
                </a:path>
              </a:pathLst>
            </a:custGeom>
            <a:solidFill>
              <a:srgbClr val="00ABAB"/>
            </a:solidFill>
            <a:ln w="0">
              <a:noFill/>
              <a:prstDash val="solid"/>
              <a:round/>
              <a:headEnd/>
              <a:tailEnd/>
            </a:ln>
          </p:spPr>
          <p:txBody>
            <a:bodyPr vert="horz" wrap="square" lIns="74295" tIns="37148" rIns="74295" bIns="37148" numCol="1" anchor="t" anchorCtr="0" compatLnSpc="1">
              <a:prstTxWarp prst="textNoShape">
                <a:avLst/>
              </a:prstTxWarp>
              <a:noAutofit/>
            </a:bodyPr>
            <a:lstStyle/>
            <a:p>
              <a:endParaRPr lang="en-US" sz="1463">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9C719B1D-4D15-1802-BCA2-62266FD78F3D}"/>
                </a:ext>
              </a:extLst>
            </p:cNvPr>
            <p:cNvSpPr txBox="1"/>
            <p:nvPr/>
          </p:nvSpPr>
          <p:spPr>
            <a:xfrm>
              <a:off x="7346508" y="2121776"/>
              <a:ext cx="313411" cy="472987"/>
            </a:xfrm>
            <a:prstGeom prst="rect">
              <a:avLst/>
            </a:prstGeom>
            <a:noFill/>
          </p:spPr>
          <p:txBody>
            <a:bodyPr wrap="square" lIns="29250" tIns="29250" rIns="29250" bIns="29250" rtlCol="0" anchor="ctr">
              <a:spAutoFit/>
            </a:bodyPr>
            <a:lstStyle/>
            <a:p>
              <a:r>
                <a:rPr lang="en-US" sz="3250" b="1">
                  <a:solidFill>
                    <a:schemeClr val="bg1"/>
                  </a:solidFill>
                  <a:latin typeface="Arial" panose="020B0604020202020204" pitchFamily="34" charset="0"/>
                  <a:cs typeface="Arial" panose="020B0604020202020204" pitchFamily="34" charset="0"/>
                </a:rPr>
                <a:t>3</a:t>
              </a:r>
            </a:p>
          </p:txBody>
        </p:sp>
        <p:sp>
          <p:nvSpPr>
            <p:cNvPr id="38" name="Rectangle 37">
              <a:extLst>
                <a:ext uri="{FF2B5EF4-FFF2-40B4-BE49-F238E27FC236}">
                  <a16:creationId xmlns:a16="http://schemas.microsoft.com/office/drawing/2014/main" id="{73F31CF4-92BB-6F30-AB43-F94F571BD0A8}"/>
                </a:ext>
              </a:extLst>
            </p:cNvPr>
            <p:cNvSpPr/>
            <p:nvPr/>
          </p:nvSpPr>
          <p:spPr>
            <a:xfrm>
              <a:off x="4029968" y="2808479"/>
              <a:ext cx="2132351" cy="449436"/>
            </a:xfrm>
            <a:prstGeom prst="rect">
              <a:avLst/>
            </a:prstGeom>
          </p:spPr>
          <p:txBody>
            <a:bodyPr wrap="square" lIns="0" tIns="0" rIns="0" bIns="0">
              <a:spAutoFit/>
            </a:bodyPr>
            <a:lstStyle/>
            <a:p>
              <a:r>
                <a:rPr lang="en-US" sz="894" b="1">
                  <a:solidFill>
                    <a:srgbClr val="000000"/>
                  </a:solidFill>
                  <a:latin typeface="Arial" panose="020B0604020202020204" pitchFamily="34" charset="0"/>
                  <a:cs typeface="Arial" panose="020B0604020202020204" pitchFamily="34" charset="0"/>
                </a:rPr>
                <a:t>Proprietary member</a:t>
              </a:r>
            </a:p>
            <a:p>
              <a:pPr marL="139303" indent="-139303">
                <a:buFont typeface="Arial" panose="020B0604020202020204" pitchFamily="34" charset="0"/>
                <a:buChar char="•"/>
              </a:pPr>
              <a:r>
                <a:rPr lang="en-US" sz="853">
                  <a:solidFill>
                    <a:srgbClr val="000000"/>
                  </a:solidFill>
                  <a:latin typeface="Arial" panose="020B0604020202020204" pitchFamily="34" charset="0"/>
                  <a:cs typeface="Arial" panose="020B0604020202020204" pitchFamily="34" charset="0"/>
                </a:rPr>
                <a:t>Entity should be a grid connected entity</a:t>
              </a:r>
            </a:p>
            <a:p>
              <a:pPr marL="139303" indent="-139303">
                <a:buFont typeface="Arial" panose="020B0604020202020204" pitchFamily="34" charset="0"/>
                <a:buChar char="•"/>
              </a:pPr>
              <a:r>
                <a:rPr lang="en-US" sz="853">
                  <a:solidFill>
                    <a:srgbClr val="000000"/>
                  </a:solidFill>
                  <a:latin typeface="Arial" panose="020B0604020202020204" pitchFamily="34" charset="0"/>
                  <a:cs typeface="Arial" panose="020B0604020202020204" pitchFamily="34" charset="0"/>
                </a:rPr>
                <a:t>Entity can trade for its own account, and clear those contracts</a:t>
              </a:r>
            </a:p>
          </p:txBody>
        </p:sp>
        <p:sp>
          <p:nvSpPr>
            <p:cNvPr id="39" name="Rectangle 38">
              <a:extLst>
                <a:ext uri="{FF2B5EF4-FFF2-40B4-BE49-F238E27FC236}">
                  <a16:creationId xmlns:a16="http://schemas.microsoft.com/office/drawing/2014/main" id="{BF52C50A-A820-6C10-2825-E61716D619AE}"/>
                </a:ext>
              </a:extLst>
            </p:cNvPr>
            <p:cNvSpPr/>
            <p:nvPr/>
          </p:nvSpPr>
          <p:spPr>
            <a:xfrm>
              <a:off x="7015230" y="2810136"/>
              <a:ext cx="2103797" cy="698315"/>
            </a:xfrm>
            <a:prstGeom prst="rect">
              <a:avLst/>
            </a:prstGeom>
          </p:spPr>
          <p:txBody>
            <a:bodyPr wrap="square" lIns="0" tIns="0" rIns="0" bIns="0">
              <a:spAutoFit/>
            </a:bodyPr>
            <a:lstStyle/>
            <a:p>
              <a:r>
                <a:rPr lang="en-US" sz="894" b="1">
                  <a:solidFill>
                    <a:srgbClr val="000000"/>
                  </a:solidFill>
                  <a:latin typeface="Arial" panose="020B0604020202020204" pitchFamily="34" charset="0"/>
                  <a:cs typeface="Arial" panose="020B0604020202020204" pitchFamily="34" charset="0"/>
                </a:rPr>
                <a:t>Facilitator member</a:t>
              </a:r>
            </a:p>
            <a:p>
              <a:pPr marL="139303" indent="-139303">
                <a:buFont typeface="Arial" panose="020B0604020202020204" pitchFamily="34" charset="0"/>
                <a:buChar char="•"/>
              </a:pPr>
              <a:r>
                <a:rPr lang="en-US" sz="894">
                  <a:solidFill>
                    <a:srgbClr val="000000"/>
                  </a:solidFill>
                  <a:latin typeface="Arial" panose="020B0604020202020204" pitchFamily="34" charset="0"/>
                  <a:cs typeface="Arial" panose="020B0604020202020204" pitchFamily="34" charset="0"/>
                </a:rPr>
                <a:t>Entity who is neither a trade licensee or a grid connected entity</a:t>
              </a:r>
            </a:p>
            <a:p>
              <a:pPr marL="139303" indent="-139303">
                <a:buFont typeface="Arial" panose="020B0604020202020204" pitchFamily="34" charset="0"/>
                <a:buChar char="•"/>
              </a:pPr>
              <a:r>
                <a:rPr lang="en-US" sz="894">
                  <a:solidFill>
                    <a:srgbClr val="000000"/>
                  </a:solidFill>
                  <a:latin typeface="Arial" panose="020B0604020202020204" pitchFamily="34" charset="0"/>
                  <a:cs typeface="Arial" panose="020B0604020202020204" pitchFamily="34" charset="0"/>
                </a:rPr>
                <a:t>Cannot trade for itself but can act on behalf of clients and cannot clear contracts</a:t>
              </a:r>
              <a:endParaRPr lang="en-US" sz="813">
                <a:solidFill>
                  <a:srgbClr val="000000"/>
                </a:solidFill>
                <a:latin typeface="Arial" panose="020B0604020202020204" pitchFamily="34" charset="0"/>
                <a:cs typeface="Arial" panose="020B0604020202020204" pitchFamily="34" charset="0"/>
              </a:endParaRPr>
            </a:p>
          </p:txBody>
        </p:sp>
        <p:sp>
          <p:nvSpPr>
            <p:cNvPr id="40" name="Arc 39">
              <a:extLst>
                <a:ext uri="{FF2B5EF4-FFF2-40B4-BE49-F238E27FC236}">
                  <a16:creationId xmlns:a16="http://schemas.microsoft.com/office/drawing/2014/main" id="{2F37EFDA-F34E-F7DB-B386-DD0A29AF5A59}"/>
                </a:ext>
              </a:extLst>
            </p:cNvPr>
            <p:cNvSpPr/>
            <p:nvPr/>
          </p:nvSpPr>
          <p:spPr>
            <a:xfrm rot="6739027">
              <a:off x="3709603" y="2001040"/>
              <a:ext cx="502070" cy="494536"/>
            </a:xfrm>
            <a:prstGeom prst="arc">
              <a:avLst>
                <a:gd name="adj1" fmla="val 15382243"/>
                <a:gd name="adj2" fmla="val 1177101"/>
              </a:avLst>
            </a:prstGeom>
            <a:solidFill>
              <a:srgbClr val="53565A"/>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63">
                <a:latin typeface="Arial" panose="020B0604020202020204" pitchFamily="34" charset="0"/>
                <a:cs typeface="Arial" panose="020B0604020202020204" pitchFamily="34" charset="0"/>
              </a:endParaRPr>
            </a:p>
          </p:txBody>
        </p:sp>
        <p:sp>
          <p:nvSpPr>
            <p:cNvPr id="41" name="Arc 40">
              <a:extLst>
                <a:ext uri="{FF2B5EF4-FFF2-40B4-BE49-F238E27FC236}">
                  <a16:creationId xmlns:a16="http://schemas.microsoft.com/office/drawing/2014/main" id="{3D7E28E9-FE7B-28D6-2AA5-40762B6E8107}"/>
                </a:ext>
              </a:extLst>
            </p:cNvPr>
            <p:cNvSpPr/>
            <p:nvPr/>
          </p:nvSpPr>
          <p:spPr>
            <a:xfrm rot="6739027">
              <a:off x="796439" y="2011359"/>
              <a:ext cx="502070" cy="494536"/>
            </a:xfrm>
            <a:prstGeom prst="arc">
              <a:avLst>
                <a:gd name="adj1" fmla="val 15382243"/>
                <a:gd name="adj2" fmla="val 1177101"/>
              </a:avLst>
            </a:prstGeom>
            <a:solidFill>
              <a:srgbClr val="43B02A"/>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63">
                <a:latin typeface="Arial" panose="020B0604020202020204" pitchFamily="34" charset="0"/>
                <a:cs typeface="Arial" panose="020B0604020202020204" pitchFamily="34" charset="0"/>
              </a:endParaRPr>
            </a:p>
          </p:txBody>
        </p:sp>
        <p:sp>
          <p:nvSpPr>
            <p:cNvPr id="43" name="Arc 42">
              <a:extLst>
                <a:ext uri="{FF2B5EF4-FFF2-40B4-BE49-F238E27FC236}">
                  <a16:creationId xmlns:a16="http://schemas.microsoft.com/office/drawing/2014/main" id="{FD6B34DA-62AB-B12F-18C6-F6DF5EA4E40A}"/>
                </a:ext>
              </a:extLst>
            </p:cNvPr>
            <p:cNvSpPr/>
            <p:nvPr/>
          </p:nvSpPr>
          <p:spPr>
            <a:xfrm rot="6739027">
              <a:off x="6661011" y="2001161"/>
              <a:ext cx="502070" cy="494536"/>
            </a:xfrm>
            <a:prstGeom prst="arc">
              <a:avLst>
                <a:gd name="adj1" fmla="val 15382243"/>
                <a:gd name="adj2" fmla="val 1177101"/>
              </a:avLst>
            </a:prstGeom>
            <a:solidFill>
              <a:srgbClr val="86BC25"/>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63">
                <a:latin typeface="Arial" panose="020B0604020202020204" pitchFamily="34" charset="0"/>
                <a:cs typeface="Arial" panose="020B0604020202020204" pitchFamily="34" charset="0"/>
              </a:endParaRPr>
            </a:p>
          </p:txBody>
        </p:sp>
        <p:cxnSp>
          <p:nvCxnSpPr>
            <p:cNvPr id="44" name="Straight Arrow Connector 43">
              <a:extLst>
                <a:ext uri="{FF2B5EF4-FFF2-40B4-BE49-F238E27FC236}">
                  <a16:creationId xmlns:a16="http://schemas.microsoft.com/office/drawing/2014/main" id="{0D332889-B0C6-5005-945C-31E0FE3D3F5F}"/>
                </a:ext>
              </a:extLst>
            </p:cNvPr>
            <p:cNvCxnSpPr/>
            <p:nvPr/>
          </p:nvCxnSpPr>
          <p:spPr>
            <a:xfrm flipH="1">
              <a:off x="992977" y="2709913"/>
              <a:ext cx="3845" cy="2630474"/>
            </a:xfrm>
            <a:prstGeom prst="straightConnector1">
              <a:avLst/>
            </a:prstGeom>
            <a:ln>
              <a:solidFill>
                <a:schemeClr val="accent3"/>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77C5A375-9A05-1320-CE74-541A2497BCF1}"/>
                </a:ext>
              </a:extLst>
            </p:cNvPr>
            <p:cNvCxnSpPr/>
            <p:nvPr/>
          </p:nvCxnSpPr>
          <p:spPr>
            <a:xfrm flipH="1">
              <a:off x="6882058" y="2709914"/>
              <a:ext cx="3845" cy="2630474"/>
            </a:xfrm>
            <a:prstGeom prst="straightConnector1">
              <a:avLst/>
            </a:prstGeom>
            <a:ln>
              <a:solidFill>
                <a:srgbClr val="43B02A"/>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nvGrpSpPr>
            <p:cNvPr id="46" name="Group 309">
              <a:extLst>
                <a:ext uri="{FF2B5EF4-FFF2-40B4-BE49-F238E27FC236}">
                  <a16:creationId xmlns:a16="http://schemas.microsoft.com/office/drawing/2014/main" id="{051780FF-5380-A01D-7AF4-768450330B73}"/>
                </a:ext>
              </a:extLst>
            </p:cNvPr>
            <p:cNvGrpSpPr>
              <a:grpSpLocks noChangeAspect="1"/>
            </p:cNvGrpSpPr>
            <p:nvPr/>
          </p:nvGrpSpPr>
          <p:grpSpPr bwMode="auto">
            <a:xfrm>
              <a:off x="461271" y="2516864"/>
              <a:ext cx="421830" cy="420592"/>
              <a:chOff x="6585" y="1193"/>
              <a:chExt cx="341" cy="340"/>
            </a:xfrm>
            <a:solidFill>
              <a:schemeClr val="bg1"/>
            </a:solidFill>
          </p:grpSpPr>
          <p:sp>
            <p:nvSpPr>
              <p:cNvPr id="484" name="Freeform 310">
                <a:extLst>
                  <a:ext uri="{FF2B5EF4-FFF2-40B4-BE49-F238E27FC236}">
                    <a16:creationId xmlns:a16="http://schemas.microsoft.com/office/drawing/2014/main" id="{84F104B9-39AE-1143-E63E-2DDB9AC9D58C}"/>
                  </a:ext>
                </a:extLst>
              </p:cNvPr>
              <p:cNvSpPr>
                <a:spLocks noEditPoints="1"/>
              </p:cNvSpPr>
              <p:nvPr/>
            </p:nvSpPr>
            <p:spPr bwMode="auto">
              <a:xfrm>
                <a:off x="6648" y="1264"/>
                <a:ext cx="206" cy="205"/>
              </a:xfrm>
              <a:custGeom>
                <a:avLst/>
                <a:gdLst>
                  <a:gd name="T0" fmla="*/ 117 w 309"/>
                  <a:gd name="T1" fmla="*/ 309 h 309"/>
                  <a:gd name="T2" fmla="*/ 116 w 309"/>
                  <a:gd name="T3" fmla="*/ 309 h 309"/>
                  <a:gd name="T4" fmla="*/ 108 w 309"/>
                  <a:gd name="T5" fmla="*/ 304 h 309"/>
                  <a:gd name="T6" fmla="*/ 68 w 309"/>
                  <a:gd name="T7" fmla="*/ 242 h 309"/>
                  <a:gd name="T8" fmla="*/ 5 w 309"/>
                  <a:gd name="T9" fmla="*/ 201 h 309"/>
                  <a:gd name="T10" fmla="*/ 1 w 309"/>
                  <a:gd name="T11" fmla="*/ 194 h 309"/>
                  <a:gd name="T12" fmla="*/ 4 w 309"/>
                  <a:gd name="T13" fmla="*/ 185 h 309"/>
                  <a:gd name="T14" fmla="*/ 26 w 309"/>
                  <a:gd name="T15" fmla="*/ 163 h 309"/>
                  <a:gd name="T16" fmla="*/ 37 w 309"/>
                  <a:gd name="T17" fmla="*/ 161 h 309"/>
                  <a:gd name="T18" fmla="*/ 84 w 309"/>
                  <a:gd name="T19" fmla="*/ 180 h 309"/>
                  <a:gd name="T20" fmla="*/ 121 w 309"/>
                  <a:gd name="T21" fmla="*/ 143 h 309"/>
                  <a:gd name="T22" fmla="*/ 17 w 309"/>
                  <a:gd name="T23" fmla="*/ 86 h 309"/>
                  <a:gd name="T24" fmla="*/ 11 w 309"/>
                  <a:gd name="T25" fmla="*/ 78 h 309"/>
                  <a:gd name="T26" fmla="*/ 14 w 309"/>
                  <a:gd name="T27" fmla="*/ 69 h 309"/>
                  <a:gd name="T28" fmla="*/ 37 w 309"/>
                  <a:gd name="T29" fmla="*/ 46 h 309"/>
                  <a:gd name="T30" fmla="*/ 48 w 309"/>
                  <a:gd name="T31" fmla="*/ 43 h 309"/>
                  <a:gd name="T32" fmla="*/ 177 w 309"/>
                  <a:gd name="T33" fmla="*/ 87 h 309"/>
                  <a:gd name="T34" fmla="*/ 233 w 309"/>
                  <a:gd name="T35" fmla="*/ 31 h 309"/>
                  <a:gd name="T36" fmla="*/ 234 w 309"/>
                  <a:gd name="T37" fmla="*/ 30 h 309"/>
                  <a:gd name="T38" fmla="*/ 294 w 309"/>
                  <a:gd name="T39" fmla="*/ 16 h 309"/>
                  <a:gd name="T40" fmla="*/ 279 w 309"/>
                  <a:gd name="T41" fmla="*/ 75 h 309"/>
                  <a:gd name="T42" fmla="*/ 278 w 309"/>
                  <a:gd name="T43" fmla="*/ 76 h 309"/>
                  <a:gd name="T44" fmla="*/ 223 w 309"/>
                  <a:gd name="T45" fmla="*/ 132 h 309"/>
                  <a:gd name="T46" fmla="*/ 266 w 309"/>
                  <a:gd name="T47" fmla="*/ 261 h 309"/>
                  <a:gd name="T48" fmla="*/ 263 w 309"/>
                  <a:gd name="T49" fmla="*/ 272 h 309"/>
                  <a:gd name="T50" fmla="*/ 241 w 309"/>
                  <a:gd name="T51" fmla="*/ 295 h 309"/>
                  <a:gd name="T52" fmla="*/ 232 w 309"/>
                  <a:gd name="T53" fmla="*/ 298 h 309"/>
                  <a:gd name="T54" fmla="*/ 224 w 309"/>
                  <a:gd name="T55" fmla="*/ 292 h 309"/>
                  <a:gd name="T56" fmla="*/ 167 w 309"/>
                  <a:gd name="T57" fmla="*/ 188 h 309"/>
                  <a:gd name="T58" fmla="*/ 130 w 309"/>
                  <a:gd name="T59" fmla="*/ 225 h 309"/>
                  <a:gd name="T60" fmla="*/ 149 w 309"/>
                  <a:gd name="T61" fmla="*/ 272 h 309"/>
                  <a:gd name="T62" fmla="*/ 146 w 309"/>
                  <a:gd name="T63" fmla="*/ 284 h 309"/>
                  <a:gd name="T64" fmla="*/ 124 w 309"/>
                  <a:gd name="T65" fmla="*/ 306 h 309"/>
                  <a:gd name="T66" fmla="*/ 117 w 309"/>
                  <a:gd name="T67" fmla="*/ 309 h 309"/>
                  <a:gd name="T68" fmla="*/ 28 w 309"/>
                  <a:gd name="T69" fmla="*/ 191 h 309"/>
                  <a:gd name="T70" fmla="*/ 81 w 309"/>
                  <a:gd name="T71" fmla="*/ 225 h 309"/>
                  <a:gd name="T72" fmla="*/ 84 w 309"/>
                  <a:gd name="T73" fmla="*/ 228 h 309"/>
                  <a:gd name="T74" fmla="*/ 119 w 309"/>
                  <a:gd name="T75" fmla="*/ 281 h 309"/>
                  <a:gd name="T76" fmla="*/ 126 w 309"/>
                  <a:gd name="T77" fmla="*/ 274 h 309"/>
                  <a:gd name="T78" fmla="*/ 107 w 309"/>
                  <a:gd name="T79" fmla="*/ 226 h 309"/>
                  <a:gd name="T80" fmla="*/ 110 w 309"/>
                  <a:gd name="T81" fmla="*/ 215 h 309"/>
                  <a:gd name="T82" fmla="*/ 161 w 309"/>
                  <a:gd name="T83" fmla="*/ 163 h 309"/>
                  <a:gd name="T84" fmla="*/ 171 w 309"/>
                  <a:gd name="T85" fmla="*/ 160 h 309"/>
                  <a:gd name="T86" fmla="*/ 178 w 309"/>
                  <a:gd name="T87" fmla="*/ 165 h 309"/>
                  <a:gd name="T88" fmla="*/ 236 w 309"/>
                  <a:gd name="T89" fmla="*/ 270 h 309"/>
                  <a:gd name="T90" fmla="*/ 244 w 309"/>
                  <a:gd name="T91" fmla="*/ 262 h 309"/>
                  <a:gd name="T92" fmla="*/ 200 w 309"/>
                  <a:gd name="T93" fmla="*/ 132 h 309"/>
                  <a:gd name="T94" fmla="*/ 203 w 309"/>
                  <a:gd name="T95" fmla="*/ 121 h 309"/>
                  <a:gd name="T96" fmla="*/ 263 w 309"/>
                  <a:gd name="T97" fmla="*/ 62 h 309"/>
                  <a:gd name="T98" fmla="*/ 278 w 309"/>
                  <a:gd name="T99" fmla="*/ 31 h 309"/>
                  <a:gd name="T100" fmla="*/ 248 w 309"/>
                  <a:gd name="T101" fmla="*/ 47 h 309"/>
                  <a:gd name="T102" fmla="*/ 188 w 309"/>
                  <a:gd name="T103" fmla="*/ 106 h 309"/>
                  <a:gd name="T104" fmla="*/ 177 w 309"/>
                  <a:gd name="T105" fmla="*/ 109 h 309"/>
                  <a:gd name="T106" fmla="*/ 47 w 309"/>
                  <a:gd name="T107" fmla="*/ 66 h 309"/>
                  <a:gd name="T108" fmla="*/ 40 w 309"/>
                  <a:gd name="T109" fmla="*/ 74 h 309"/>
                  <a:gd name="T110" fmla="*/ 144 w 309"/>
                  <a:gd name="T111" fmla="*/ 131 h 309"/>
                  <a:gd name="T112" fmla="*/ 149 w 309"/>
                  <a:gd name="T113" fmla="*/ 139 h 309"/>
                  <a:gd name="T114" fmla="*/ 146 w 309"/>
                  <a:gd name="T115" fmla="*/ 148 h 309"/>
                  <a:gd name="T116" fmla="*/ 94 w 309"/>
                  <a:gd name="T117" fmla="*/ 200 h 309"/>
                  <a:gd name="T118" fmla="*/ 83 w 309"/>
                  <a:gd name="T119" fmla="*/ 202 h 309"/>
                  <a:gd name="T120" fmla="*/ 36 w 309"/>
                  <a:gd name="T121" fmla="*/ 183 h 309"/>
                  <a:gd name="T122" fmla="*/ 28 w 309"/>
                  <a:gd name="T123" fmla="*/ 19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09">
                    <a:moveTo>
                      <a:pt x="117" y="309"/>
                    </a:moveTo>
                    <a:cubicBezTo>
                      <a:pt x="117" y="309"/>
                      <a:pt x="116" y="309"/>
                      <a:pt x="116" y="309"/>
                    </a:cubicBezTo>
                    <a:cubicBezTo>
                      <a:pt x="113" y="308"/>
                      <a:pt x="110" y="307"/>
                      <a:pt x="108" y="304"/>
                    </a:cubicBezTo>
                    <a:cubicBezTo>
                      <a:pt x="68" y="242"/>
                      <a:pt x="68" y="242"/>
                      <a:pt x="68" y="242"/>
                    </a:cubicBezTo>
                    <a:cubicBezTo>
                      <a:pt x="5" y="201"/>
                      <a:pt x="5" y="201"/>
                      <a:pt x="5" y="201"/>
                    </a:cubicBezTo>
                    <a:cubicBezTo>
                      <a:pt x="3" y="200"/>
                      <a:pt x="1" y="197"/>
                      <a:pt x="1" y="194"/>
                    </a:cubicBezTo>
                    <a:cubicBezTo>
                      <a:pt x="0" y="190"/>
                      <a:pt x="1" y="187"/>
                      <a:pt x="4" y="185"/>
                    </a:cubicBezTo>
                    <a:cubicBezTo>
                      <a:pt x="26" y="163"/>
                      <a:pt x="26" y="163"/>
                      <a:pt x="26" y="163"/>
                    </a:cubicBezTo>
                    <a:cubicBezTo>
                      <a:pt x="29" y="160"/>
                      <a:pt x="33" y="159"/>
                      <a:pt x="37" y="161"/>
                    </a:cubicBezTo>
                    <a:cubicBezTo>
                      <a:pt x="84" y="180"/>
                      <a:pt x="84" y="180"/>
                      <a:pt x="84" y="180"/>
                    </a:cubicBezTo>
                    <a:cubicBezTo>
                      <a:pt x="121" y="143"/>
                      <a:pt x="121" y="143"/>
                      <a:pt x="121" y="143"/>
                    </a:cubicBezTo>
                    <a:cubicBezTo>
                      <a:pt x="17" y="86"/>
                      <a:pt x="17" y="86"/>
                      <a:pt x="17" y="86"/>
                    </a:cubicBezTo>
                    <a:cubicBezTo>
                      <a:pt x="14" y="84"/>
                      <a:pt x="12" y="81"/>
                      <a:pt x="11" y="78"/>
                    </a:cubicBezTo>
                    <a:cubicBezTo>
                      <a:pt x="11" y="74"/>
                      <a:pt x="12" y="71"/>
                      <a:pt x="14" y="69"/>
                    </a:cubicBezTo>
                    <a:cubicBezTo>
                      <a:pt x="37" y="46"/>
                      <a:pt x="37" y="46"/>
                      <a:pt x="37" y="46"/>
                    </a:cubicBezTo>
                    <a:cubicBezTo>
                      <a:pt x="40" y="43"/>
                      <a:pt x="44" y="42"/>
                      <a:pt x="48" y="43"/>
                    </a:cubicBezTo>
                    <a:cubicBezTo>
                      <a:pt x="177" y="87"/>
                      <a:pt x="177" y="87"/>
                      <a:pt x="177" y="87"/>
                    </a:cubicBezTo>
                    <a:cubicBezTo>
                      <a:pt x="233" y="31"/>
                      <a:pt x="233" y="31"/>
                      <a:pt x="233" y="31"/>
                    </a:cubicBezTo>
                    <a:cubicBezTo>
                      <a:pt x="233" y="31"/>
                      <a:pt x="234" y="30"/>
                      <a:pt x="234" y="30"/>
                    </a:cubicBezTo>
                    <a:cubicBezTo>
                      <a:pt x="247" y="20"/>
                      <a:pt x="278" y="0"/>
                      <a:pt x="294" y="16"/>
                    </a:cubicBezTo>
                    <a:cubicBezTo>
                      <a:pt x="309" y="32"/>
                      <a:pt x="289" y="63"/>
                      <a:pt x="279" y="75"/>
                    </a:cubicBezTo>
                    <a:cubicBezTo>
                      <a:pt x="279" y="75"/>
                      <a:pt x="279" y="76"/>
                      <a:pt x="278" y="76"/>
                    </a:cubicBezTo>
                    <a:cubicBezTo>
                      <a:pt x="223" y="132"/>
                      <a:pt x="223" y="132"/>
                      <a:pt x="223" y="132"/>
                    </a:cubicBezTo>
                    <a:cubicBezTo>
                      <a:pt x="266" y="261"/>
                      <a:pt x="266" y="261"/>
                      <a:pt x="266" y="261"/>
                    </a:cubicBezTo>
                    <a:cubicBezTo>
                      <a:pt x="267" y="265"/>
                      <a:pt x="266" y="269"/>
                      <a:pt x="263" y="272"/>
                    </a:cubicBezTo>
                    <a:cubicBezTo>
                      <a:pt x="241" y="295"/>
                      <a:pt x="241" y="295"/>
                      <a:pt x="241" y="295"/>
                    </a:cubicBezTo>
                    <a:cubicBezTo>
                      <a:pt x="238" y="297"/>
                      <a:pt x="235" y="298"/>
                      <a:pt x="232" y="298"/>
                    </a:cubicBezTo>
                    <a:cubicBezTo>
                      <a:pt x="228" y="297"/>
                      <a:pt x="225" y="295"/>
                      <a:pt x="224" y="292"/>
                    </a:cubicBezTo>
                    <a:cubicBezTo>
                      <a:pt x="167" y="188"/>
                      <a:pt x="167" y="188"/>
                      <a:pt x="167" y="188"/>
                    </a:cubicBezTo>
                    <a:cubicBezTo>
                      <a:pt x="130" y="225"/>
                      <a:pt x="130" y="225"/>
                      <a:pt x="130" y="225"/>
                    </a:cubicBezTo>
                    <a:cubicBezTo>
                      <a:pt x="149" y="272"/>
                      <a:pt x="149" y="272"/>
                      <a:pt x="149" y="272"/>
                    </a:cubicBezTo>
                    <a:cubicBezTo>
                      <a:pt x="150" y="276"/>
                      <a:pt x="149" y="281"/>
                      <a:pt x="146" y="284"/>
                    </a:cubicBezTo>
                    <a:cubicBezTo>
                      <a:pt x="124" y="306"/>
                      <a:pt x="124" y="306"/>
                      <a:pt x="124" y="306"/>
                    </a:cubicBezTo>
                    <a:cubicBezTo>
                      <a:pt x="122" y="308"/>
                      <a:pt x="120" y="309"/>
                      <a:pt x="117" y="309"/>
                    </a:cubicBezTo>
                    <a:close/>
                    <a:moveTo>
                      <a:pt x="28" y="191"/>
                    </a:moveTo>
                    <a:cubicBezTo>
                      <a:pt x="81" y="225"/>
                      <a:pt x="81" y="225"/>
                      <a:pt x="81" y="225"/>
                    </a:cubicBezTo>
                    <a:cubicBezTo>
                      <a:pt x="82" y="226"/>
                      <a:pt x="84" y="227"/>
                      <a:pt x="84" y="228"/>
                    </a:cubicBezTo>
                    <a:cubicBezTo>
                      <a:pt x="119" y="281"/>
                      <a:pt x="119" y="281"/>
                      <a:pt x="119" y="281"/>
                    </a:cubicBezTo>
                    <a:cubicBezTo>
                      <a:pt x="126" y="274"/>
                      <a:pt x="126" y="274"/>
                      <a:pt x="126" y="274"/>
                    </a:cubicBezTo>
                    <a:cubicBezTo>
                      <a:pt x="107" y="226"/>
                      <a:pt x="107" y="226"/>
                      <a:pt x="107" y="226"/>
                    </a:cubicBezTo>
                    <a:cubicBezTo>
                      <a:pt x="106" y="222"/>
                      <a:pt x="107" y="218"/>
                      <a:pt x="110" y="215"/>
                    </a:cubicBezTo>
                    <a:cubicBezTo>
                      <a:pt x="161" y="163"/>
                      <a:pt x="161" y="163"/>
                      <a:pt x="161" y="163"/>
                    </a:cubicBezTo>
                    <a:cubicBezTo>
                      <a:pt x="164" y="161"/>
                      <a:pt x="167" y="159"/>
                      <a:pt x="171" y="160"/>
                    </a:cubicBezTo>
                    <a:cubicBezTo>
                      <a:pt x="174" y="160"/>
                      <a:pt x="177" y="162"/>
                      <a:pt x="178" y="165"/>
                    </a:cubicBezTo>
                    <a:cubicBezTo>
                      <a:pt x="236" y="270"/>
                      <a:pt x="236" y="270"/>
                      <a:pt x="236" y="270"/>
                    </a:cubicBezTo>
                    <a:cubicBezTo>
                      <a:pt x="244" y="262"/>
                      <a:pt x="244" y="262"/>
                      <a:pt x="244" y="262"/>
                    </a:cubicBezTo>
                    <a:cubicBezTo>
                      <a:pt x="200" y="132"/>
                      <a:pt x="200" y="132"/>
                      <a:pt x="200" y="132"/>
                    </a:cubicBezTo>
                    <a:cubicBezTo>
                      <a:pt x="199" y="129"/>
                      <a:pt x="200" y="124"/>
                      <a:pt x="203" y="121"/>
                    </a:cubicBezTo>
                    <a:cubicBezTo>
                      <a:pt x="263" y="62"/>
                      <a:pt x="263" y="62"/>
                      <a:pt x="263" y="62"/>
                    </a:cubicBezTo>
                    <a:cubicBezTo>
                      <a:pt x="271" y="50"/>
                      <a:pt x="278" y="37"/>
                      <a:pt x="278" y="31"/>
                    </a:cubicBezTo>
                    <a:cubicBezTo>
                      <a:pt x="273" y="31"/>
                      <a:pt x="259" y="38"/>
                      <a:pt x="248" y="47"/>
                    </a:cubicBezTo>
                    <a:cubicBezTo>
                      <a:pt x="188" y="106"/>
                      <a:pt x="188" y="106"/>
                      <a:pt x="188" y="106"/>
                    </a:cubicBezTo>
                    <a:cubicBezTo>
                      <a:pt x="185" y="109"/>
                      <a:pt x="181" y="110"/>
                      <a:pt x="177" y="109"/>
                    </a:cubicBezTo>
                    <a:cubicBezTo>
                      <a:pt x="47" y="66"/>
                      <a:pt x="47" y="66"/>
                      <a:pt x="47" y="66"/>
                    </a:cubicBezTo>
                    <a:cubicBezTo>
                      <a:pt x="40" y="74"/>
                      <a:pt x="40" y="74"/>
                      <a:pt x="40" y="74"/>
                    </a:cubicBezTo>
                    <a:cubicBezTo>
                      <a:pt x="144" y="131"/>
                      <a:pt x="144" y="131"/>
                      <a:pt x="144" y="131"/>
                    </a:cubicBezTo>
                    <a:cubicBezTo>
                      <a:pt x="147" y="133"/>
                      <a:pt x="149" y="135"/>
                      <a:pt x="149" y="139"/>
                    </a:cubicBezTo>
                    <a:cubicBezTo>
                      <a:pt x="150" y="142"/>
                      <a:pt x="149" y="145"/>
                      <a:pt x="146" y="148"/>
                    </a:cubicBezTo>
                    <a:cubicBezTo>
                      <a:pt x="94" y="200"/>
                      <a:pt x="94" y="200"/>
                      <a:pt x="94" y="200"/>
                    </a:cubicBezTo>
                    <a:cubicBezTo>
                      <a:pt x="91" y="203"/>
                      <a:pt x="87" y="204"/>
                      <a:pt x="83" y="202"/>
                    </a:cubicBezTo>
                    <a:cubicBezTo>
                      <a:pt x="36" y="183"/>
                      <a:pt x="36" y="183"/>
                      <a:pt x="36" y="183"/>
                    </a:cubicBezTo>
                    <a:lnTo>
                      <a:pt x="28" y="19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rial" panose="020B0604020202020204" pitchFamily="34" charset="0"/>
                  <a:cs typeface="Arial" panose="020B0604020202020204" pitchFamily="34" charset="0"/>
                </a:endParaRPr>
              </a:p>
            </p:txBody>
          </p:sp>
          <p:sp>
            <p:nvSpPr>
              <p:cNvPr id="485" name="Freeform 311">
                <a:extLst>
                  <a:ext uri="{FF2B5EF4-FFF2-40B4-BE49-F238E27FC236}">
                    <a16:creationId xmlns:a16="http://schemas.microsoft.com/office/drawing/2014/main" id="{871B6E5F-C44A-9113-3392-8E6903F0D9DC}"/>
                  </a:ext>
                </a:extLst>
              </p:cNvPr>
              <p:cNvSpPr>
                <a:spLocks noEditPoints="1"/>
              </p:cNvSpPr>
              <p:nvPr/>
            </p:nvSpPr>
            <p:spPr bwMode="auto">
              <a:xfrm>
                <a:off x="6585" y="119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rial" panose="020B0604020202020204" pitchFamily="34" charset="0"/>
                  <a:cs typeface="Arial" panose="020B0604020202020204" pitchFamily="34" charset="0"/>
                </a:endParaRPr>
              </a:p>
            </p:txBody>
          </p:sp>
        </p:grpSp>
        <p:grpSp>
          <p:nvGrpSpPr>
            <p:cNvPr id="47" name="Group 282">
              <a:extLst>
                <a:ext uri="{FF2B5EF4-FFF2-40B4-BE49-F238E27FC236}">
                  <a16:creationId xmlns:a16="http://schemas.microsoft.com/office/drawing/2014/main" id="{F3EC601F-C66E-17B2-F3EF-30840BEF09C1}"/>
                </a:ext>
              </a:extLst>
            </p:cNvPr>
            <p:cNvGrpSpPr>
              <a:grpSpLocks noChangeAspect="1"/>
            </p:cNvGrpSpPr>
            <p:nvPr/>
          </p:nvGrpSpPr>
          <p:grpSpPr bwMode="auto">
            <a:xfrm>
              <a:off x="6344107" y="2516868"/>
              <a:ext cx="426798" cy="428053"/>
              <a:chOff x="6580" y="788"/>
              <a:chExt cx="340" cy="341"/>
            </a:xfrm>
            <a:solidFill>
              <a:schemeClr val="bg1"/>
            </a:solidFill>
          </p:grpSpPr>
          <p:sp>
            <p:nvSpPr>
              <p:cNvPr id="478" name="Freeform 283">
                <a:extLst>
                  <a:ext uri="{FF2B5EF4-FFF2-40B4-BE49-F238E27FC236}">
                    <a16:creationId xmlns:a16="http://schemas.microsoft.com/office/drawing/2014/main" id="{5CBAAD01-71E6-D00C-CCF3-E026597E7612}"/>
                  </a:ext>
                </a:extLst>
              </p:cNvPr>
              <p:cNvSpPr>
                <a:spLocks noEditPoints="1"/>
              </p:cNvSpPr>
              <p:nvPr/>
            </p:nvSpPr>
            <p:spPr bwMode="auto">
              <a:xfrm>
                <a:off x="6580" y="788"/>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rial" panose="020B0604020202020204" pitchFamily="34" charset="0"/>
                  <a:cs typeface="Arial" panose="020B0604020202020204" pitchFamily="34" charset="0"/>
                </a:endParaRPr>
              </a:p>
            </p:txBody>
          </p:sp>
          <p:sp>
            <p:nvSpPr>
              <p:cNvPr id="479" name="Freeform 284">
                <a:extLst>
                  <a:ext uri="{FF2B5EF4-FFF2-40B4-BE49-F238E27FC236}">
                    <a16:creationId xmlns:a16="http://schemas.microsoft.com/office/drawing/2014/main" id="{AA0F3444-CC3D-81D7-4238-E6DA6E6FF427}"/>
                  </a:ext>
                </a:extLst>
              </p:cNvPr>
              <p:cNvSpPr>
                <a:spLocks/>
              </p:cNvSpPr>
              <p:nvPr/>
            </p:nvSpPr>
            <p:spPr bwMode="auto">
              <a:xfrm>
                <a:off x="6743" y="892"/>
                <a:ext cx="25" cy="25"/>
              </a:xfrm>
              <a:custGeom>
                <a:avLst/>
                <a:gdLst>
                  <a:gd name="T0" fmla="*/ 4 w 38"/>
                  <a:gd name="T1" fmla="*/ 19 h 38"/>
                  <a:gd name="T2" fmla="*/ 19 w 38"/>
                  <a:gd name="T3" fmla="*/ 34 h 38"/>
                  <a:gd name="T4" fmla="*/ 26 w 38"/>
                  <a:gd name="T5" fmla="*/ 38 h 38"/>
                  <a:gd name="T6" fmla="*/ 34 w 38"/>
                  <a:gd name="T7" fmla="*/ 34 h 38"/>
                  <a:gd name="T8" fmla="*/ 34 w 38"/>
                  <a:gd name="T9" fmla="*/ 19 h 38"/>
                  <a:gd name="T10" fmla="*/ 19 w 38"/>
                  <a:gd name="T11" fmla="*/ 4 h 38"/>
                  <a:gd name="T12" fmla="*/ 4 w 38"/>
                  <a:gd name="T13" fmla="*/ 4 h 38"/>
                  <a:gd name="T14" fmla="*/ 4 w 38"/>
                  <a:gd name="T15" fmla="*/ 19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38">
                    <a:moveTo>
                      <a:pt x="4" y="19"/>
                    </a:moveTo>
                    <a:cubicBezTo>
                      <a:pt x="19" y="34"/>
                      <a:pt x="19" y="34"/>
                      <a:pt x="19" y="34"/>
                    </a:cubicBezTo>
                    <a:cubicBezTo>
                      <a:pt x="21" y="37"/>
                      <a:pt x="24" y="38"/>
                      <a:pt x="26" y="38"/>
                    </a:cubicBezTo>
                    <a:cubicBezTo>
                      <a:pt x="29" y="38"/>
                      <a:pt x="32" y="37"/>
                      <a:pt x="34" y="34"/>
                    </a:cubicBezTo>
                    <a:cubicBezTo>
                      <a:pt x="38" y="30"/>
                      <a:pt x="38" y="24"/>
                      <a:pt x="34" y="19"/>
                    </a:cubicBezTo>
                    <a:cubicBezTo>
                      <a:pt x="19" y="4"/>
                      <a:pt x="19" y="4"/>
                      <a:pt x="19" y="4"/>
                    </a:cubicBezTo>
                    <a:cubicBezTo>
                      <a:pt x="15" y="0"/>
                      <a:pt x="8" y="0"/>
                      <a:pt x="4" y="4"/>
                    </a:cubicBezTo>
                    <a:cubicBezTo>
                      <a:pt x="0" y="8"/>
                      <a:pt x="0" y="15"/>
                      <a:pt x="4" y="1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rial" panose="020B0604020202020204" pitchFamily="34" charset="0"/>
                  <a:cs typeface="Arial" panose="020B0604020202020204" pitchFamily="34" charset="0"/>
                </a:endParaRPr>
              </a:p>
            </p:txBody>
          </p:sp>
          <p:sp>
            <p:nvSpPr>
              <p:cNvPr id="480" name="Freeform 285">
                <a:extLst>
                  <a:ext uri="{FF2B5EF4-FFF2-40B4-BE49-F238E27FC236}">
                    <a16:creationId xmlns:a16="http://schemas.microsoft.com/office/drawing/2014/main" id="{F9619B20-71BE-A789-27FF-A5B6B28BDD04}"/>
                  </a:ext>
                </a:extLst>
              </p:cNvPr>
              <p:cNvSpPr>
                <a:spLocks noEditPoints="1"/>
              </p:cNvSpPr>
              <p:nvPr/>
            </p:nvSpPr>
            <p:spPr bwMode="auto">
              <a:xfrm>
                <a:off x="6806" y="978"/>
                <a:ext cx="43" cy="58"/>
              </a:xfrm>
              <a:custGeom>
                <a:avLst/>
                <a:gdLst>
                  <a:gd name="T0" fmla="*/ 62 w 64"/>
                  <a:gd name="T1" fmla="*/ 43 h 87"/>
                  <a:gd name="T2" fmla="*/ 61 w 64"/>
                  <a:gd name="T3" fmla="*/ 41 h 87"/>
                  <a:gd name="T4" fmla="*/ 41 w 64"/>
                  <a:gd name="T5" fmla="*/ 7 h 87"/>
                  <a:gd name="T6" fmla="*/ 23 w 64"/>
                  <a:gd name="T7" fmla="*/ 7 h 87"/>
                  <a:gd name="T8" fmla="*/ 3 w 64"/>
                  <a:gd name="T9" fmla="*/ 41 h 87"/>
                  <a:gd name="T10" fmla="*/ 2 w 64"/>
                  <a:gd name="T11" fmla="*/ 43 h 87"/>
                  <a:gd name="T12" fmla="*/ 0 w 64"/>
                  <a:gd name="T13" fmla="*/ 55 h 87"/>
                  <a:gd name="T14" fmla="*/ 32 w 64"/>
                  <a:gd name="T15" fmla="*/ 87 h 87"/>
                  <a:gd name="T16" fmla="*/ 64 w 64"/>
                  <a:gd name="T17" fmla="*/ 55 h 87"/>
                  <a:gd name="T18" fmla="*/ 62 w 64"/>
                  <a:gd name="T19" fmla="*/ 43 h 87"/>
                  <a:gd name="T20" fmla="*/ 32 w 64"/>
                  <a:gd name="T21" fmla="*/ 66 h 87"/>
                  <a:gd name="T22" fmla="*/ 21 w 64"/>
                  <a:gd name="T23" fmla="*/ 55 h 87"/>
                  <a:gd name="T24" fmla="*/ 22 w 64"/>
                  <a:gd name="T25" fmla="*/ 51 h 87"/>
                  <a:gd name="T26" fmla="*/ 32 w 64"/>
                  <a:gd name="T27" fmla="*/ 34 h 87"/>
                  <a:gd name="T28" fmla="*/ 42 w 64"/>
                  <a:gd name="T29" fmla="*/ 51 h 87"/>
                  <a:gd name="T30" fmla="*/ 43 w 64"/>
                  <a:gd name="T31" fmla="*/ 55 h 87"/>
                  <a:gd name="T32" fmla="*/ 32 w 64"/>
                  <a:gd name="T33" fmla="*/ 6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87">
                    <a:moveTo>
                      <a:pt x="62" y="43"/>
                    </a:moveTo>
                    <a:cubicBezTo>
                      <a:pt x="61" y="42"/>
                      <a:pt x="61" y="42"/>
                      <a:pt x="61" y="41"/>
                    </a:cubicBezTo>
                    <a:cubicBezTo>
                      <a:pt x="41" y="7"/>
                      <a:pt x="41" y="7"/>
                      <a:pt x="41" y="7"/>
                    </a:cubicBezTo>
                    <a:cubicBezTo>
                      <a:pt x="37" y="0"/>
                      <a:pt x="27" y="0"/>
                      <a:pt x="23" y="7"/>
                    </a:cubicBezTo>
                    <a:cubicBezTo>
                      <a:pt x="3" y="41"/>
                      <a:pt x="3" y="41"/>
                      <a:pt x="3" y="41"/>
                    </a:cubicBezTo>
                    <a:cubicBezTo>
                      <a:pt x="3" y="42"/>
                      <a:pt x="3" y="42"/>
                      <a:pt x="2" y="43"/>
                    </a:cubicBezTo>
                    <a:cubicBezTo>
                      <a:pt x="1" y="47"/>
                      <a:pt x="0" y="51"/>
                      <a:pt x="0" y="55"/>
                    </a:cubicBezTo>
                    <a:cubicBezTo>
                      <a:pt x="0" y="73"/>
                      <a:pt x="14" y="87"/>
                      <a:pt x="32" y="87"/>
                    </a:cubicBezTo>
                    <a:cubicBezTo>
                      <a:pt x="50" y="87"/>
                      <a:pt x="64" y="73"/>
                      <a:pt x="64" y="55"/>
                    </a:cubicBezTo>
                    <a:cubicBezTo>
                      <a:pt x="64" y="51"/>
                      <a:pt x="63" y="47"/>
                      <a:pt x="62" y="43"/>
                    </a:cubicBezTo>
                    <a:close/>
                    <a:moveTo>
                      <a:pt x="32" y="66"/>
                    </a:moveTo>
                    <a:cubicBezTo>
                      <a:pt x="26" y="66"/>
                      <a:pt x="21" y="61"/>
                      <a:pt x="21" y="55"/>
                    </a:cubicBezTo>
                    <a:cubicBezTo>
                      <a:pt x="21" y="54"/>
                      <a:pt x="22" y="53"/>
                      <a:pt x="22" y="51"/>
                    </a:cubicBezTo>
                    <a:cubicBezTo>
                      <a:pt x="32" y="34"/>
                      <a:pt x="32" y="34"/>
                      <a:pt x="32" y="34"/>
                    </a:cubicBezTo>
                    <a:cubicBezTo>
                      <a:pt x="42" y="51"/>
                      <a:pt x="42" y="51"/>
                      <a:pt x="42" y="51"/>
                    </a:cubicBezTo>
                    <a:cubicBezTo>
                      <a:pt x="42" y="53"/>
                      <a:pt x="43" y="54"/>
                      <a:pt x="43" y="55"/>
                    </a:cubicBezTo>
                    <a:cubicBezTo>
                      <a:pt x="43" y="61"/>
                      <a:pt x="38" y="66"/>
                      <a:pt x="32" y="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rial" panose="020B0604020202020204" pitchFamily="34" charset="0"/>
                  <a:cs typeface="Arial" panose="020B0604020202020204" pitchFamily="34" charset="0"/>
                </a:endParaRPr>
              </a:p>
            </p:txBody>
          </p:sp>
          <p:sp>
            <p:nvSpPr>
              <p:cNvPr id="481" name="Freeform 286">
                <a:extLst>
                  <a:ext uri="{FF2B5EF4-FFF2-40B4-BE49-F238E27FC236}">
                    <a16:creationId xmlns:a16="http://schemas.microsoft.com/office/drawing/2014/main" id="{3621CCE0-641D-DDF1-80B9-D7A106C4EAA9}"/>
                  </a:ext>
                </a:extLst>
              </p:cNvPr>
              <p:cNvSpPr>
                <a:spLocks/>
              </p:cNvSpPr>
              <p:nvPr/>
            </p:nvSpPr>
            <p:spPr bwMode="auto">
              <a:xfrm>
                <a:off x="6700" y="923"/>
                <a:ext cx="71" cy="71"/>
              </a:xfrm>
              <a:custGeom>
                <a:avLst/>
                <a:gdLst>
                  <a:gd name="T0" fmla="*/ 64 w 107"/>
                  <a:gd name="T1" fmla="*/ 43 h 107"/>
                  <a:gd name="T2" fmla="*/ 64 w 107"/>
                  <a:gd name="T3" fmla="*/ 11 h 107"/>
                  <a:gd name="T4" fmla="*/ 53 w 107"/>
                  <a:gd name="T5" fmla="*/ 0 h 107"/>
                  <a:gd name="T6" fmla="*/ 43 w 107"/>
                  <a:gd name="T7" fmla="*/ 11 h 107"/>
                  <a:gd name="T8" fmla="*/ 43 w 107"/>
                  <a:gd name="T9" fmla="*/ 43 h 107"/>
                  <a:gd name="T10" fmla="*/ 11 w 107"/>
                  <a:gd name="T11" fmla="*/ 43 h 107"/>
                  <a:gd name="T12" fmla="*/ 0 w 107"/>
                  <a:gd name="T13" fmla="*/ 54 h 107"/>
                  <a:gd name="T14" fmla="*/ 11 w 107"/>
                  <a:gd name="T15" fmla="*/ 64 h 107"/>
                  <a:gd name="T16" fmla="*/ 43 w 107"/>
                  <a:gd name="T17" fmla="*/ 64 h 107"/>
                  <a:gd name="T18" fmla="*/ 43 w 107"/>
                  <a:gd name="T19" fmla="*/ 96 h 107"/>
                  <a:gd name="T20" fmla="*/ 53 w 107"/>
                  <a:gd name="T21" fmla="*/ 107 h 107"/>
                  <a:gd name="T22" fmla="*/ 64 w 107"/>
                  <a:gd name="T23" fmla="*/ 96 h 107"/>
                  <a:gd name="T24" fmla="*/ 64 w 107"/>
                  <a:gd name="T25" fmla="*/ 64 h 107"/>
                  <a:gd name="T26" fmla="*/ 96 w 107"/>
                  <a:gd name="T27" fmla="*/ 64 h 107"/>
                  <a:gd name="T28" fmla="*/ 107 w 107"/>
                  <a:gd name="T29" fmla="*/ 54 h 107"/>
                  <a:gd name="T30" fmla="*/ 96 w 107"/>
                  <a:gd name="T31" fmla="*/ 43 h 107"/>
                  <a:gd name="T32" fmla="*/ 64 w 107"/>
                  <a:gd name="T33" fmla="*/ 4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7" h="107">
                    <a:moveTo>
                      <a:pt x="64" y="43"/>
                    </a:moveTo>
                    <a:cubicBezTo>
                      <a:pt x="64" y="11"/>
                      <a:pt x="64" y="11"/>
                      <a:pt x="64" y="11"/>
                    </a:cubicBezTo>
                    <a:cubicBezTo>
                      <a:pt x="64" y="5"/>
                      <a:pt x="59" y="0"/>
                      <a:pt x="53" y="0"/>
                    </a:cubicBezTo>
                    <a:cubicBezTo>
                      <a:pt x="47" y="0"/>
                      <a:pt x="43" y="5"/>
                      <a:pt x="43" y="11"/>
                    </a:cubicBezTo>
                    <a:cubicBezTo>
                      <a:pt x="43" y="43"/>
                      <a:pt x="43" y="43"/>
                      <a:pt x="43" y="43"/>
                    </a:cubicBezTo>
                    <a:cubicBezTo>
                      <a:pt x="11" y="43"/>
                      <a:pt x="11" y="43"/>
                      <a:pt x="11" y="43"/>
                    </a:cubicBezTo>
                    <a:cubicBezTo>
                      <a:pt x="5" y="43"/>
                      <a:pt x="0" y="48"/>
                      <a:pt x="0" y="54"/>
                    </a:cubicBezTo>
                    <a:cubicBezTo>
                      <a:pt x="0" y="60"/>
                      <a:pt x="5" y="64"/>
                      <a:pt x="11" y="64"/>
                    </a:cubicBezTo>
                    <a:cubicBezTo>
                      <a:pt x="43" y="64"/>
                      <a:pt x="43" y="64"/>
                      <a:pt x="43" y="64"/>
                    </a:cubicBezTo>
                    <a:cubicBezTo>
                      <a:pt x="43" y="96"/>
                      <a:pt x="43" y="96"/>
                      <a:pt x="43" y="96"/>
                    </a:cubicBezTo>
                    <a:cubicBezTo>
                      <a:pt x="43" y="102"/>
                      <a:pt x="47" y="107"/>
                      <a:pt x="53" y="107"/>
                    </a:cubicBezTo>
                    <a:cubicBezTo>
                      <a:pt x="59" y="107"/>
                      <a:pt x="64" y="102"/>
                      <a:pt x="64" y="96"/>
                    </a:cubicBezTo>
                    <a:cubicBezTo>
                      <a:pt x="64" y="64"/>
                      <a:pt x="64" y="64"/>
                      <a:pt x="64" y="64"/>
                    </a:cubicBezTo>
                    <a:cubicBezTo>
                      <a:pt x="96" y="64"/>
                      <a:pt x="96" y="64"/>
                      <a:pt x="96" y="64"/>
                    </a:cubicBezTo>
                    <a:cubicBezTo>
                      <a:pt x="102" y="64"/>
                      <a:pt x="107" y="60"/>
                      <a:pt x="107" y="54"/>
                    </a:cubicBezTo>
                    <a:cubicBezTo>
                      <a:pt x="107" y="48"/>
                      <a:pt x="102" y="43"/>
                      <a:pt x="96" y="43"/>
                    </a:cubicBezTo>
                    <a:lnTo>
                      <a:pt x="64" y="4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rial" panose="020B0604020202020204" pitchFamily="34" charset="0"/>
                  <a:cs typeface="Arial" panose="020B0604020202020204" pitchFamily="34" charset="0"/>
                </a:endParaRPr>
              </a:p>
            </p:txBody>
          </p:sp>
          <p:sp>
            <p:nvSpPr>
              <p:cNvPr id="482" name="Freeform 287">
                <a:extLst>
                  <a:ext uri="{FF2B5EF4-FFF2-40B4-BE49-F238E27FC236}">
                    <a16:creationId xmlns:a16="http://schemas.microsoft.com/office/drawing/2014/main" id="{AD7D28BD-1951-84EE-B04D-39F6C3F8622B}"/>
                  </a:ext>
                </a:extLst>
              </p:cNvPr>
              <p:cNvSpPr>
                <a:spLocks noEditPoints="1"/>
              </p:cNvSpPr>
              <p:nvPr/>
            </p:nvSpPr>
            <p:spPr bwMode="auto">
              <a:xfrm>
                <a:off x="6644" y="851"/>
                <a:ext cx="162" cy="200"/>
              </a:xfrm>
              <a:custGeom>
                <a:avLst/>
                <a:gdLst>
                  <a:gd name="T0" fmla="*/ 245 w 245"/>
                  <a:gd name="T1" fmla="*/ 86 h 300"/>
                  <a:gd name="T2" fmla="*/ 242 w 245"/>
                  <a:gd name="T3" fmla="*/ 78 h 300"/>
                  <a:gd name="T4" fmla="*/ 168 w 245"/>
                  <a:gd name="T5" fmla="*/ 4 h 300"/>
                  <a:gd name="T6" fmla="*/ 153 w 245"/>
                  <a:gd name="T7" fmla="*/ 4 h 300"/>
                  <a:gd name="T8" fmla="*/ 3 w 245"/>
                  <a:gd name="T9" fmla="*/ 154 h 300"/>
                  <a:gd name="T10" fmla="*/ 0 w 245"/>
                  <a:gd name="T11" fmla="*/ 162 h 300"/>
                  <a:gd name="T12" fmla="*/ 3 w 245"/>
                  <a:gd name="T13" fmla="*/ 169 h 300"/>
                  <a:gd name="T14" fmla="*/ 130 w 245"/>
                  <a:gd name="T15" fmla="*/ 297 h 300"/>
                  <a:gd name="T16" fmla="*/ 138 w 245"/>
                  <a:gd name="T17" fmla="*/ 300 h 300"/>
                  <a:gd name="T18" fmla="*/ 145 w 245"/>
                  <a:gd name="T19" fmla="*/ 297 h 300"/>
                  <a:gd name="T20" fmla="*/ 242 w 245"/>
                  <a:gd name="T21" fmla="*/ 200 h 300"/>
                  <a:gd name="T22" fmla="*/ 245 w 245"/>
                  <a:gd name="T23" fmla="*/ 193 h 300"/>
                  <a:gd name="T24" fmla="*/ 245 w 245"/>
                  <a:gd name="T25" fmla="*/ 86 h 300"/>
                  <a:gd name="T26" fmla="*/ 224 w 245"/>
                  <a:gd name="T27" fmla="*/ 188 h 300"/>
                  <a:gd name="T28" fmla="*/ 138 w 245"/>
                  <a:gd name="T29" fmla="*/ 274 h 300"/>
                  <a:gd name="T30" fmla="*/ 25 w 245"/>
                  <a:gd name="T31" fmla="*/ 162 h 300"/>
                  <a:gd name="T32" fmla="*/ 160 w 245"/>
                  <a:gd name="T33" fmla="*/ 27 h 300"/>
                  <a:gd name="T34" fmla="*/ 224 w 245"/>
                  <a:gd name="T35" fmla="*/ 90 h 300"/>
                  <a:gd name="T36" fmla="*/ 224 w 245"/>
                  <a:gd name="T37" fmla="*/ 18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5" h="300">
                    <a:moveTo>
                      <a:pt x="245" y="86"/>
                    </a:moveTo>
                    <a:cubicBezTo>
                      <a:pt x="245" y="83"/>
                      <a:pt x="244" y="80"/>
                      <a:pt x="242" y="78"/>
                    </a:cubicBezTo>
                    <a:cubicBezTo>
                      <a:pt x="168" y="4"/>
                      <a:pt x="168" y="4"/>
                      <a:pt x="168" y="4"/>
                    </a:cubicBezTo>
                    <a:cubicBezTo>
                      <a:pt x="164" y="0"/>
                      <a:pt x="157" y="0"/>
                      <a:pt x="153" y="4"/>
                    </a:cubicBezTo>
                    <a:cubicBezTo>
                      <a:pt x="3" y="154"/>
                      <a:pt x="3" y="154"/>
                      <a:pt x="3" y="154"/>
                    </a:cubicBezTo>
                    <a:cubicBezTo>
                      <a:pt x="1" y="156"/>
                      <a:pt x="0" y="159"/>
                      <a:pt x="0" y="162"/>
                    </a:cubicBezTo>
                    <a:cubicBezTo>
                      <a:pt x="0" y="165"/>
                      <a:pt x="1" y="167"/>
                      <a:pt x="3" y="169"/>
                    </a:cubicBezTo>
                    <a:cubicBezTo>
                      <a:pt x="130" y="297"/>
                      <a:pt x="130" y="297"/>
                      <a:pt x="130" y="297"/>
                    </a:cubicBezTo>
                    <a:cubicBezTo>
                      <a:pt x="132" y="299"/>
                      <a:pt x="135" y="300"/>
                      <a:pt x="138" y="300"/>
                    </a:cubicBezTo>
                    <a:cubicBezTo>
                      <a:pt x="141" y="300"/>
                      <a:pt x="143" y="299"/>
                      <a:pt x="145" y="297"/>
                    </a:cubicBezTo>
                    <a:cubicBezTo>
                      <a:pt x="242" y="200"/>
                      <a:pt x="242" y="200"/>
                      <a:pt x="242" y="200"/>
                    </a:cubicBezTo>
                    <a:cubicBezTo>
                      <a:pt x="244" y="198"/>
                      <a:pt x="245" y="196"/>
                      <a:pt x="245" y="193"/>
                    </a:cubicBezTo>
                    <a:lnTo>
                      <a:pt x="245" y="86"/>
                    </a:lnTo>
                    <a:close/>
                    <a:moveTo>
                      <a:pt x="224" y="188"/>
                    </a:moveTo>
                    <a:cubicBezTo>
                      <a:pt x="138" y="274"/>
                      <a:pt x="138" y="274"/>
                      <a:pt x="138" y="274"/>
                    </a:cubicBezTo>
                    <a:cubicBezTo>
                      <a:pt x="25" y="162"/>
                      <a:pt x="25" y="162"/>
                      <a:pt x="25" y="162"/>
                    </a:cubicBezTo>
                    <a:cubicBezTo>
                      <a:pt x="160" y="27"/>
                      <a:pt x="160" y="27"/>
                      <a:pt x="160" y="27"/>
                    </a:cubicBezTo>
                    <a:cubicBezTo>
                      <a:pt x="224" y="90"/>
                      <a:pt x="224" y="90"/>
                      <a:pt x="224" y="90"/>
                    </a:cubicBezTo>
                    <a:lnTo>
                      <a:pt x="224" y="18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rial" panose="020B0604020202020204" pitchFamily="34" charset="0"/>
                  <a:cs typeface="Arial" panose="020B0604020202020204" pitchFamily="34" charset="0"/>
                </a:endParaRPr>
              </a:p>
            </p:txBody>
          </p:sp>
          <p:sp>
            <p:nvSpPr>
              <p:cNvPr id="483" name="Freeform 288">
                <a:extLst>
                  <a:ext uri="{FF2B5EF4-FFF2-40B4-BE49-F238E27FC236}">
                    <a16:creationId xmlns:a16="http://schemas.microsoft.com/office/drawing/2014/main" id="{30B68AB7-33E8-81F3-BD5E-EBA47BEA742D}"/>
                  </a:ext>
                </a:extLst>
              </p:cNvPr>
              <p:cNvSpPr>
                <a:spLocks/>
              </p:cNvSpPr>
              <p:nvPr/>
            </p:nvSpPr>
            <p:spPr bwMode="auto">
              <a:xfrm>
                <a:off x="6820" y="923"/>
                <a:ext cx="15" cy="42"/>
              </a:xfrm>
              <a:custGeom>
                <a:avLst/>
                <a:gdLst>
                  <a:gd name="T0" fmla="*/ 11 w 22"/>
                  <a:gd name="T1" fmla="*/ 64 h 64"/>
                  <a:gd name="T2" fmla="*/ 22 w 22"/>
                  <a:gd name="T3" fmla="*/ 54 h 64"/>
                  <a:gd name="T4" fmla="*/ 22 w 22"/>
                  <a:gd name="T5" fmla="*/ 11 h 64"/>
                  <a:gd name="T6" fmla="*/ 11 w 22"/>
                  <a:gd name="T7" fmla="*/ 0 h 64"/>
                  <a:gd name="T8" fmla="*/ 0 w 22"/>
                  <a:gd name="T9" fmla="*/ 11 h 64"/>
                  <a:gd name="T10" fmla="*/ 0 w 22"/>
                  <a:gd name="T11" fmla="*/ 54 h 64"/>
                  <a:gd name="T12" fmla="*/ 11 w 22"/>
                  <a:gd name="T13" fmla="*/ 64 h 64"/>
                </a:gdLst>
                <a:ahLst/>
                <a:cxnLst>
                  <a:cxn ang="0">
                    <a:pos x="T0" y="T1"/>
                  </a:cxn>
                  <a:cxn ang="0">
                    <a:pos x="T2" y="T3"/>
                  </a:cxn>
                  <a:cxn ang="0">
                    <a:pos x="T4" y="T5"/>
                  </a:cxn>
                  <a:cxn ang="0">
                    <a:pos x="T6" y="T7"/>
                  </a:cxn>
                  <a:cxn ang="0">
                    <a:pos x="T8" y="T9"/>
                  </a:cxn>
                  <a:cxn ang="0">
                    <a:pos x="T10" y="T11"/>
                  </a:cxn>
                  <a:cxn ang="0">
                    <a:pos x="T12" y="T13"/>
                  </a:cxn>
                </a:cxnLst>
                <a:rect l="0" t="0" r="r" b="b"/>
                <a:pathLst>
                  <a:path w="22" h="64">
                    <a:moveTo>
                      <a:pt x="11" y="64"/>
                    </a:moveTo>
                    <a:cubicBezTo>
                      <a:pt x="17" y="64"/>
                      <a:pt x="22" y="60"/>
                      <a:pt x="22" y="54"/>
                    </a:cubicBezTo>
                    <a:cubicBezTo>
                      <a:pt x="22" y="11"/>
                      <a:pt x="22" y="11"/>
                      <a:pt x="22" y="11"/>
                    </a:cubicBezTo>
                    <a:cubicBezTo>
                      <a:pt x="22" y="5"/>
                      <a:pt x="17" y="0"/>
                      <a:pt x="11" y="0"/>
                    </a:cubicBezTo>
                    <a:cubicBezTo>
                      <a:pt x="5" y="0"/>
                      <a:pt x="0" y="5"/>
                      <a:pt x="0" y="11"/>
                    </a:cubicBezTo>
                    <a:cubicBezTo>
                      <a:pt x="0" y="54"/>
                      <a:pt x="0" y="54"/>
                      <a:pt x="0" y="54"/>
                    </a:cubicBezTo>
                    <a:cubicBezTo>
                      <a:pt x="0" y="60"/>
                      <a:pt x="5" y="64"/>
                      <a:pt x="11" y="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rial" panose="020B0604020202020204" pitchFamily="34" charset="0"/>
                  <a:cs typeface="Arial" panose="020B0604020202020204" pitchFamily="34" charset="0"/>
                </a:endParaRPr>
              </a:p>
            </p:txBody>
          </p:sp>
        </p:grpSp>
        <p:grpSp>
          <p:nvGrpSpPr>
            <p:cNvPr id="48" name="Group 597">
              <a:extLst>
                <a:ext uri="{FF2B5EF4-FFF2-40B4-BE49-F238E27FC236}">
                  <a16:creationId xmlns:a16="http://schemas.microsoft.com/office/drawing/2014/main" id="{FD380BE2-F393-585C-CE8E-B9C97DDFABAA}"/>
                </a:ext>
              </a:extLst>
            </p:cNvPr>
            <p:cNvGrpSpPr>
              <a:grpSpLocks noChangeAspect="1"/>
            </p:cNvGrpSpPr>
            <p:nvPr/>
          </p:nvGrpSpPr>
          <p:grpSpPr bwMode="auto">
            <a:xfrm>
              <a:off x="3390901" y="2505081"/>
              <a:ext cx="424726" cy="423482"/>
              <a:chOff x="2745" y="2621"/>
              <a:chExt cx="341" cy="340"/>
            </a:xfrm>
            <a:solidFill>
              <a:schemeClr val="bg1"/>
            </a:solidFill>
          </p:grpSpPr>
          <p:sp>
            <p:nvSpPr>
              <p:cNvPr id="476" name="Freeform 598">
                <a:extLst>
                  <a:ext uri="{FF2B5EF4-FFF2-40B4-BE49-F238E27FC236}">
                    <a16:creationId xmlns:a16="http://schemas.microsoft.com/office/drawing/2014/main" id="{D327D6F1-D748-F42A-027E-8FEAB93EBD48}"/>
                  </a:ext>
                </a:extLst>
              </p:cNvPr>
              <p:cNvSpPr>
                <a:spLocks noEditPoints="1"/>
              </p:cNvSpPr>
              <p:nvPr/>
            </p:nvSpPr>
            <p:spPr bwMode="auto">
              <a:xfrm>
                <a:off x="2824" y="2700"/>
                <a:ext cx="183" cy="181"/>
              </a:xfrm>
              <a:custGeom>
                <a:avLst/>
                <a:gdLst>
                  <a:gd name="T0" fmla="*/ 137 w 274"/>
                  <a:gd name="T1" fmla="*/ 197 h 273"/>
                  <a:gd name="T2" fmla="*/ 137 w 274"/>
                  <a:gd name="T3" fmla="*/ 212 h 273"/>
                  <a:gd name="T4" fmla="*/ 91 w 274"/>
                  <a:gd name="T5" fmla="*/ 257 h 273"/>
                  <a:gd name="T6" fmla="*/ 55 w 274"/>
                  <a:gd name="T7" fmla="*/ 273 h 273"/>
                  <a:gd name="T8" fmla="*/ 53 w 274"/>
                  <a:gd name="T9" fmla="*/ 273 h 273"/>
                  <a:gd name="T10" fmla="*/ 16 w 274"/>
                  <a:gd name="T11" fmla="*/ 257 h 273"/>
                  <a:gd name="T12" fmla="*/ 0 w 274"/>
                  <a:gd name="T13" fmla="*/ 219 h 273"/>
                  <a:gd name="T14" fmla="*/ 16 w 274"/>
                  <a:gd name="T15" fmla="*/ 182 h 273"/>
                  <a:gd name="T16" fmla="*/ 84 w 274"/>
                  <a:gd name="T17" fmla="*/ 114 h 273"/>
                  <a:gd name="T18" fmla="*/ 120 w 274"/>
                  <a:gd name="T19" fmla="*/ 98 h 273"/>
                  <a:gd name="T20" fmla="*/ 159 w 274"/>
                  <a:gd name="T21" fmla="*/ 114 h 273"/>
                  <a:gd name="T22" fmla="*/ 159 w 274"/>
                  <a:gd name="T23" fmla="*/ 129 h 273"/>
                  <a:gd name="T24" fmla="*/ 144 w 274"/>
                  <a:gd name="T25" fmla="*/ 129 h 273"/>
                  <a:gd name="T26" fmla="*/ 121 w 274"/>
                  <a:gd name="T27" fmla="*/ 119 h 273"/>
                  <a:gd name="T28" fmla="*/ 99 w 274"/>
                  <a:gd name="T29" fmla="*/ 129 h 273"/>
                  <a:gd name="T30" fmla="*/ 31 w 274"/>
                  <a:gd name="T31" fmla="*/ 197 h 273"/>
                  <a:gd name="T32" fmla="*/ 21 w 274"/>
                  <a:gd name="T33" fmla="*/ 219 h 273"/>
                  <a:gd name="T34" fmla="*/ 31 w 274"/>
                  <a:gd name="T35" fmla="*/ 242 h 273"/>
                  <a:gd name="T36" fmla="*/ 54 w 274"/>
                  <a:gd name="T37" fmla="*/ 252 h 273"/>
                  <a:gd name="T38" fmla="*/ 76 w 274"/>
                  <a:gd name="T39" fmla="*/ 242 h 273"/>
                  <a:gd name="T40" fmla="*/ 122 w 274"/>
                  <a:gd name="T41" fmla="*/ 197 h 273"/>
                  <a:gd name="T42" fmla="*/ 137 w 274"/>
                  <a:gd name="T43" fmla="*/ 197 h 273"/>
                  <a:gd name="T44" fmla="*/ 257 w 274"/>
                  <a:gd name="T45" fmla="*/ 16 h 273"/>
                  <a:gd name="T46" fmla="*/ 219 w 274"/>
                  <a:gd name="T47" fmla="*/ 0 h 273"/>
                  <a:gd name="T48" fmla="*/ 182 w 274"/>
                  <a:gd name="T49" fmla="*/ 16 h 273"/>
                  <a:gd name="T50" fmla="*/ 137 w 274"/>
                  <a:gd name="T51" fmla="*/ 61 h 273"/>
                  <a:gd name="T52" fmla="*/ 137 w 274"/>
                  <a:gd name="T53" fmla="*/ 76 h 273"/>
                  <a:gd name="T54" fmla="*/ 152 w 274"/>
                  <a:gd name="T55" fmla="*/ 76 h 273"/>
                  <a:gd name="T56" fmla="*/ 197 w 274"/>
                  <a:gd name="T57" fmla="*/ 31 h 273"/>
                  <a:gd name="T58" fmla="*/ 219 w 274"/>
                  <a:gd name="T59" fmla="*/ 21 h 273"/>
                  <a:gd name="T60" fmla="*/ 242 w 274"/>
                  <a:gd name="T61" fmla="*/ 31 h 273"/>
                  <a:gd name="T62" fmla="*/ 252 w 274"/>
                  <a:gd name="T63" fmla="*/ 54 h 273"/>
                  <a:gd name="T64" fmla="*/ 242 w 274"/>
                  <a:gd name="T65" fmla="*/ 76 h 273"/>
                  <a:gd name="T66" fmla="*/ 174 w 274"/>
                  <a:gd name="T67" fmla="*/ 144 h 273"/>
                  <a:gd name="T68" fmla="*/ 152 w 274"/>
                  <a:gd name="T69" fmla="*/ 154 h 273"/>
                  <a:gd name="T70" fmla="*/ 129 w 274"/>
                  <a:gd name="T71" fmla="*/ 144 h 273"/>
                  <a:gd name="T72" fmla="*/ 114 w 274"/>
                  <a:gd name="T73" fmla="*/ 144 h 273"/>
                  <a:gd name="T74" fmla="*/ 114 w 274"/>
                  <a:gd name="T75" fmla="*/ 159 h 273"/>
                  <a:gd name="T76" fmla="*/ 152 w 274"/>
                  <a:gd name="T77" fmla="*/ 175 h 273"/>
                  <a:gd name="T78" fmla="*/ 153 w 274"/>
                  <a:gd name="T79" fmla="*/ 175 h 273"/>
                  <a:gd name="T80" fmla="*/ 189 w 274"/>
                  <a:gd name="T81" fmla="*/ 159 h 273"/>
                  <a:gd name="T82" fmla="*/ 257 w 274"/>
                  <a:gd name="T83" fmla="*/ 91 h 273"/>
                  <a:gd name="T84" fmla="*/ 273 w 274"/>
                  <a:gd name="T85" fmla="*/ 55 h 273"/>
                  <a:gd name="T86" fmla="*/ 257 w 274"/>
                  <a:gd name="T87" fmla="*/ 1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4" h="273">
                    <a:moveTo>
                      <a:pt x="137" y="197"/>
                    </a:moveTo>
                    <a:cubicBezTo>
                      <a:pt x="141" y="201"/>
                      <a:pt x="141" y="208"/>
                      <a:pt x="137" y="212"/>
                    </a:cubicBezTo>
                    <a:cubicBezTo>
                      <a:pt x="91" y="257"/>
                      <a:pt x="91" y="257"/>
                      <a:pt x="91" y="257"/>
                    </a:cubicBezTo>
                    <a:cubicBezTo>
                      <a:pt x="81" y="267"/>
                      <a:pt x="68" y="273"/>
                      <a:pt x="55" y="273"/>
                    </a:cubicBezTo>
                    <a:cubicBezTo>
                      <a:pt x="54" y="273"/>
                      <a:pt x="54" y="273"/>
                      <a:pt x="53" y="273"/>
                    </a:cubicBezTo>
                    <a:cubicBezTo>
                      <a:pt x="40" y="273"/>
                      <a:pt x="26" y="268"/>
                      <a:pt x="16" y="257"/>
                    </a:cubicBezTo>
                    <a:cubicBezTo>
                      <a:pt x="5" y="247"/>
                      <a:pt x="0" y="233"/>
                      <a:pt x="0" y="219"/>
                    </a:cubicBezTo>
                    <a:cubicBezTo>
                      <a:pt x="0" y="205"/>
                      <a:pt x="6" y="192"/>
                      <a:pt x="16" y="182"/>
                    </a:cubicBezTo>
                    <a:cubicBezTo>
                      <a:pt x="84" y="114"/>
                      <a:pt x="84" y="114"/>
                      <a:pt x="84" y="114"/>
                    </a:cubicBezTo>
                    <a:cubicBezTo>
                      <a:pt x="94" y="104"/>
                      <a:pt x="107" y="98"/>
                      <a:pt x="120" y="98"/>
                    </a:cubicBezTo>
                    <a:cubicBezTo>
                      <a:pt x="135" y="98"/>
                      <a:pt x="149" y="103"/>
                      <a:pt x="159" y="114"/>
                    </a:cubicBezTo>
                    <a:cubicBezTo>
                      <a:pt x="163" y="118"/>
                      <a:pt x="163" y="125"/>
                      <a:pt x="159" y="129"/>
                    </a:cubicBezTo>
                    <a:cubicBezTo>
                      <a:pt x="155" y="133"/>
                      <a:pt x="148" y="133"/>
                      <a:pt x="144" y="129"/>
                    </a:cubicBezTo>
                    <a:cubicBezTo>
                      <a:pt x="138" y="123"/>
                      <a:pt x="130" y="119"/>
                      <a:pt x="121" y="119"/>
                    </a:cubicBezTo>
                    <a:cubicBezTo>
                      <a:pt x="113" y="120"/>
                      <a:pt x="105" y="123"/>
                      <a:pt x="99" y="129"/>
                    </a:cubicBezTo>
                    <a:cubicBezTo>
                      <a:pt x="31" y="197"/>
                      <a:pt x="31" y="197"/>
                      <a:pt x="31" y="197"/>
                    </a:cubicBezTo>
                    <a:cubicBezTo>
                      <a:pt x="25" y="203"/>
                      <a:pt x="22" y="211"/>
                      <a:pt x="21" y="219"/>
                    </a:cubicBezTo>
                    <a:cubicBezTo>
                      <a:pt x="21" y="228"/>
                      <a:pt x="24" y="236"/>
                      <a:pt x="31" y="242"/>
                    </a:cubicBezTo>
                    <a:cubicBezTo>
                      <a:pt x="38" y="249"/>
                      <a:pt x="46" y="252"/>
                      <a:pt x="54" y="252"/>
                    </a:cubicBezTo>
                    <a:cubicBezTo>
                      <a:pt x="62" y="252"/>
                      <a:pt x="70" y="248"/>
                      <a:pt x="76" y="242"/>
                    </a:cubicBezTo>
                    <a:cubicBezTo>
                      <a:pt x="122" y="197"/>
                      <a:pt x="122" y="197"/>
                      <a:pt x="122" y="197"/>
                    </a:cubicBezTo>
                    <a:cubicBezTo>
                      <a:pt x="126" y="193"/>
                      <a:pt x="133" y="193"/>
                      <a:pt x="137" y="197"/>
                    </a:cubicBezTo>
                    <a:close/>
                    <a:moveTo>
                      <a:pt x="257" y="16"/>
                    </a:moveTo>
                    <a:cubicBezTo>
                      <a:pt x="247" y="5"/>
                      <a:pt x="233" y="0"/>
                      <a:pt x="219" y="0"/>
                    </a:cubicBezTo>
                    <a:cubicBezTo>
                      <a:pt x="205" y="0"/>
                      <a:pt x="192" y="6"/>
                      <a:pt x="182" y="16"/>
                    </a:cubicBezTo>
                    <a:cubicBezTo>
                      <a:pt x="137" y="61"/>
                      <a:pt x="137" y="61"/>
                      <a:pt x="137" y="61"/>
                    </a:cubicBezTo>
                    <a:cubicBezTo>
                      <a:pt x="133" y="65"/>
                      <a:pt x="133" y="72"/>
                      <a:pt x="137" y="76"/>
                    </a:cubicBezTo>
                    <a:cubicBezTo>
                      <a:pt x="141" y="80"/>
                      <a:pt x="148" y="80"/>
                      <a:pt x="152" y="76"/>
                    </a:cubicBezTo>
                    <a:cubicBezTo>
                      <a:pt x="197" y="31"/>
                      <a:pt x="197" y="31"/>
                      <a:pt x="197" y="31"/>
                    </a:cubicBezTo>
                    <a:cubicBezTo>
                      <a:pt x="203" y="25"/>
                      <a:pt x="211" y="22"/>
                      <a:pt x="219" y="21"/>
                    </a:cubicBezTo>
                    <a:cubicBezTo>
                      <a:pt x="228" y="21"/>
                      <a:pt x="236" y="24"/>
                      <a:pt x="242" y="31"/>
                    </a:cubicBezTo>
                    <a:cubicBezTo>
                      <a:pt x="249" y="38"/>
                      <a:pt x="252" y="46"/>
                      <a:pt x="252" y="54"/>
                    </a:cubicBezTo>
                    <a:cubicBezTo>
                      <a:pt x="252" y="62"/>
                      <a:pt x="248" y="70"/>
                      <a:pt x="242" y="76"/>
                    </a:cubicBezTo>
                    <a:cubicBezTo>
                      <a:pt x="174" y="144"/>
                      <a:pt x="174" y="144"/>
                      <a:pt x="174" y="144"/>
                    </a:cubicBezTo>
                    <a:cubicBezTo>
                      <a:pt x="168" y="150"/>
                      <a:pt x="160" y="154"/>
                      <a:pt x="152" y="154"/>
                    </a:cubicBezTo>
                    <a:cubicBezTo>
                      <a:pt x="144" y="154"/>
                      <a:pt x="136" y="151"/>
                      <a:pt x="129" y="144"/>
                    </a:cubicBezTo>
                    <a:cubicBezTo>
                      <a:pt x="125" y="140"/>
                      <a:pt x="118" y="140"/>
                      <a:pt x="114" y="144"/>
                    </a:cubicBezTo>
                    <a:cubicBezTo>
                      <a:pt x="110" y="148"/>
                      <a:pt x="110" y="155"/>
                      <a:pt x="114" y="159"/>
                    </a:cubicBezTo>
                    <a:cubicBezTo>
                      <a:pt x="124" y="170"/>
                      <a:pt x="138" y="175"/>
                      <a:pt x="152" y="175"/>
                    </a:cubicBezTo>
                    <a:cubicBezTo>
                      <a:pt x="152" y="175"/>
                      <a:pt x="152" y="175"/>
                      <a:pt x="153" y="175"/>
                    </a:cubicBezTo>
                    <a:cubicBezTo>
                      <a:pt x="167" y="175"/>
                      <a:pt x="180" y="169"/>
                      <a:pt x="189" y="159"/>
                    </a:cubicBezTo>
                    <a:cubicBezTo>
                      <a:pt x="257" y="91"/>
                      <a:pt x="257" y="91"/>
                      <a:pt x="257" y="91"/>
                    </a:cubicBezTo>
                    <a:cubicBezTo>
                      <a:pt x="267" y="81"/>
                      <a:pt x="273" y="68"/>
                      <a:pt x="273" y="55"/>
                    </a:cubicBezTo>
                    <a:cubicBezTo>
                      <a:pt x="274" y="40"/>
                      <a:pt x="268" y="27"/>
                      <a:pt x="257" y="1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rial" panose="020B0604020202020204" pitchFamily="34" charset="0"/>
                  <a:cs typeface="Arial" panose="020B0604020202020204" pitchFamily="34" charset="0"/>
                </a:endParaRPr>
              </a:p>
            </p:txBody>
          </p:sp>
          <p:sp>
            <p:nvSpPr>
              <p:cNvPr id="477" name="Freeform 599">
                <a:extLst>
                  <a:ext uri="{FF2B5EF4-FFF2-40B4-BE49-F238E27FC236}">
                    <a16:creationId xmlns:a16="http://schemas.microsoft.com/office/drawing/2014/main" id="{A4867C79-E562-0C46-A7A1-3BC6142FBA0D}"/>
                  </a:ext>
                </a:extLst>
              </p:cNvPr>
              <p:cNvSpPr>
                <a:spLocks noEditPoints="1"/>
              </p:cNvSpPr>
              <p:nvPr/>
            </p:nvSpPr>
            <p:spPr bwMode="auto">
              <a:xfrm>
                <a:off x="2745" y="2621"/>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rial" panose="020B0604020202020204" pitchFamily="34" charset="0"/>
                  <a:cs typeface="Arial" panose="020B0604020202020204" pitchFamily="34" charset="0"/>
                </a:endParaRPr>
              </a:p>
            </p:txBody>
          </p:sp>
        </p:grpSp>
        <p:cxnSp>
          <p:nvCxnSpPr>
            <p:cNvPr id="49" name="Straight Connector 48">
              <a:extLst>
                <a:ext uri="{FF2B5EF4-FFF2-40B4-BE49-F238E27FC236}">
                  <a16:creationId xmlns:a16="http://schemas.microsoft.com/office/drawing/2014/main" id="{F798EA00-E337-069F-ADCA-E04D80D3BC64}"/>
                </a:ext>
              </a:extLst>
            </p:cNvPr>
            <p:cNvCxnSpPr/>
            <p:nvPr/>
          </p:nvCxnSpPr>
          <p:spPr>
            <a:xfrm>
              <a:off x="371475" y="3881679"/>
              <a:ext cx="9163050" cy="0"/>
            </a:xfrm>
            <a:prstGeom prst="line">
              <a:avLst/>
            </a:prstGeom>
            <a:ln>
              <a:solidFill>
                <a:srgbClr val="000000"/>
              </a:solidFill>
              <a:prstDash val="dash"/>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FC430425-89D3-A68E-1F62-241620185622}"/>
                </a:ext>
              </a:extLst>
            </p:cNvPr>
            <p:cNvGrpSpPr/>
            <p:nvPr/>
          </p:nvGrpSpPr>
          <p:grpSpPr>
            <a:xfrm>
              <a:off x="1113815" y="4006850"/>
              <a:ext cx="2414637" cy="1678783"/>
              <a:chOff x="1320800" y="4140200"/>
              <a:chExt cx="2971861" cy="2066194"/>
            </a:xfrm>
          </p:grpSpPr>
          <p:sp>
            <p:nvSpPr>
              <p:cNvPr id="463" name="Rectangle 462">
                <a:extLst>
                  <a:ext uri="{FF2B5EF4-FFF2-40B4-BE49-F238E27FC236}">
                    <a16:creationId xmlns:a16="http://schemas.microsoft.com/office/drawing/2014/main" id="{32FFEFF8-9C0E-CBCA-E171-BD77FA45BB85}"/>
                  </a:ext>
                </a:extLst>
              </p:cNvPr>
              <p:cNvSpPr/>
              <p:nvPr/>
            </p:nvSpPr>
            <p:spPr bwMode="gray">
              <a:xfrm>
                <a:off x="1320800" y="4140200"/>
                <a:ext cx="2971861" cy="2066194"/>
              </a:xfrm>
              <a:prstGeom prst="rect">
                <a:avLst/>
              </a:prstGeom>
              <a:solidFill>
                <a:schemeClr val="bg1"/>
              </a:solidFill>
              <a:ln w="9525">
                <a:solidFill>
                  <a:schemeClr val="accent3"/>
                </a:solidFill>
                <a:headEnd/>
                <a:tailEnd/>
              </a:ln>
            </p:spPr>
            <p:style>
              <a:lnRef idx="2">
                <a:schemeClr val="dk1"/>
              </a:lnRef>
              <a:fillRef idx="1">
                <a:schemeClr val="lt1"/>
              </a:fillRef>
              <a:effectRef idx="0">
                <a:schemeClr val="dk1"/>
              </a:effectRef>
              <a:fontRef idx="minor">
                <a:schemeClr val="dk1"/>
              </a:fontRef>
            </p:style>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
            <p:nvSpPr>
              <p:cNvPr id="464" name="Rectangle 463">
                <a:extLst>
                  <a:ext uri="{FF2B5EF4-FFF2-40B4-BE49-F238E27FC236}">
                    <a16:creationId xmlns:a16="http://schemas.microsoft.com/office/drawing/2014/main" id="{63D6768A-5497-10CA-D762-24F7CD673B0F}"/>
                  </a:ext>
                </a:extLst>
              </p:cNvPr>
              <p:cNvSpPr/>
              <p:nvPr/>
            </p:nvSpPr>
            <p:spPr bwMode="gray">
              <a:xfrm>
                <a:off x="1388422" y="4191000"/>
                <a:ext cx="811178" cy="571345"/>
              </a:xfrm>
              <a:prstGeom prst="rect">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53" b="1">
                    <a:solidFill>
                      <a:schemeClr val="bg1"/>
                    </a:solidFill>
                    <a:latin typeface="Arial" panose="020B0604020202020204" pitchFamily="34" charset="0"/>
                    <a:cs typeface="Arial" panose="020B0604020202020204" pitchFamily="34" charset="0"/>
                  </a:rPr>
                  <a:t>Category</a:t>
                </a:r>
              </a:p>
            </p:txBody>
          </p:sp>
          <p:sp>
            <p:nvSpPr>
              <p:cNvPr id="465" name="Rectangle 464">
                <a:extLst>
                  <a:ext uri="{FF2B5EF4-FFF2-40B4-BE49-F238E27FC236}">
                    <a16:creationId xmlns:a16="http://schemas.microsoft.com/office/drawing/2014/main" id="{945A46F7-47D1-3366-E974-3D4A38616D25}"/>
                  </a:ext>
                </a:extLst>
              </p:cNvPr>
              <p:cNvSpPr/>
              <p:nvPr/>
            </p:nvSpPr>
            <p:spPr bwMode="gray">
              <a:xfrm>
                <a:off x="2401083" y="4191000"/>
                <a:ext cx="811178" cy="571345"/>
              </a:xfrm>
              <a:prstGeom prst="rect">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53" b="1">
                    <a:solidFill>
                      <a:schemeClr val="bg1"/>
                    </a:solidFill>
                    <a:latin typeface="Arial" panose="020B0604020202020204" pitchFamily="34" charset="0"/>
                    <a:cs typeface="Arial" panose="020B0604020202020204" pitchFamily="34" charset="0"/>
                  </a:rPr>
                  <a:t>Eligible transaction</a:t>
                </a:r>
              </a:p>
            </p:txBody>
          </p:sp>
          <p:sp>
            <p:nvSpPr>
              <p:cNvPr id="466" name="Rectangle 465">
                <a:extLst>
                  <a:ext uri="{FF2B5EF4-FFF2-40B4-BE49-F238E27FC236}">
                    <a16:creationId xmlns:a16="http://schemas.microsoft.com/office/drawing/2014/main" id="{5C07C8F9-19B7-9FB0-3F5C-F843A0C628D5}"/>
                  </a:ext>
                </a:extLst>
              </p:cNvPr>
              <p:cNvSpPr/>
              <p:nvPr/>
            </p:nvSpPr>
            <p:spPr bwMode="gray">
              <a:xfrm>
                <a:off x="1388422" y="4848523"/>
                <a:ext cx="811178" cy="365760"/>
              </a:xfrm>
              <a:prstGeom prst="rect">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b="1">
                    <a:solidFill>
                      <a:schemeClr val="bg1"/>
                    </a:solidFill>
                    <a:latin typeface="Arial" panose="020B0604020202020204" pitchFamily="34" charset="0"/>
                    <a:cs typeface="Arial" panose="020B0604020202020204" pitchFamily="34" charset="0"/>
                  </a:rPr>
                  <a:t>Electricity trader</a:t>
                </a:r>
              </a:p>
            </p:txBody>
          </p:sp>
          <p:sp>
            <p:nvSpPr>
              <p:cNvPr id="467" name="Rectangle 466">
                <a:extLst>
                  <a:ext uri="{FF2B5EF4-FFF2-40B4-BE49-F238E27FC236}">
                    <a16:creationId xmlns:a16="http://schemas.microsoft.com/office/drawing/2014/main" id="{B7C40231-FC8E-C757-A691-2BA13298F674}"/>
                  </a:ext>
                </a:extLst>
              </p:cNvPr>
              <p:cNvSpPr/>
              <p:nvPr/>
            </p:nvSpPr>
            <p:spPr bwMode="gray">
              <a:xfrm>
                <a:off x="1388422" y="5315000"/>
                <a:ext cx="811178" cy="365760"/>
              </a:xfrm>
              <a:prstGeom prst="rect">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b="1">
                    <a:solidFill>
                      <a:schemeClr val="bg1"/>
                    </a:solidFill>
                    <a:latin typeface="Arial" panose="020B0604020202020204" pitchFamily="34" charset="0"/>
                    <a:cs typeface="Arial" panose="020B0604020202020204" pitchFamily="34" charset="0"/>
                  </a:rPr>
                  <a:t>REC trader</a:t>
                </a:r>
              </a:p>
            </p:txBody>
          </p:sp>
          <p:sp>
            <p:nvSpPr>
              <p:cNvPr id="468" name="Rectangle 467">
                <a:extLst>
                  <a:ext uri="{FF2B5EF4-FFF2-40B4-BE49-F238E27FC236}">
                    <a16:creationId xmlns:a16="http://schemas.microsoft.com/office/drawing/2014/main" id="{8573B652-E999-47B2-0042-1AD87FBD3B68}"/>
                  </a:ext>
                </a:extLst>
              </p:cNvPr>
              <p:cNvSpPr/>
              <p:nvPr/>
            </p:nvSpPr>
            <p:spPr bwMode="gray">
              <a:xfrm>
                <a:off x="1388422" y="5781476"/>
                <a:ext cx="811178" cy="365760"/>
              </a:xfrm>
              <a:prstGeom prst="rect">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b="1">
                    <a:solidFill>
                      <a:schemeClr val="bg1"/>
                    </a:solidFill>
                    <a:latin typeface="Arial" panose="020B0604020202020204" pitchFamily="34" charset="0"/>
                    <a:cs typeface="Arial" panose="020B0604020202020204" pitchFamily="34" charset="0"/>
                  </a:rPr>
                  <a:t>ESCerts trader</a:t>
                </a:r>
              </a:p>
            </p:txBody>
          </p:sp>
          <p:sp>
            <p:nvSpPr>
              <p:cNvPr id="469" name="Rectangle 468">
                <a:extLst>
                  <a:ext uri="{FF2B5EF4-FFF2-40B4-BE49-F238E27FC236}">
                    <a16:creationId xmlns:a16="http://schemas.microsoft.com/office/drawing/2014/main" id="{473A33E6-2DC4-DF31-CCA1-71808818B94A}"/>
                  </a:ext>
                </a:extLst>
              </p:cNvPr>
              <p:cNvSpPr/>
              <p:nvPr/>
            </p:nvSpPr>
            <p:spPr bwMode="gray">
              <a:xfrm>
                <a:off x="2403472" y="4848523"/>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650">
                    <a:latin typeface="Arial" panose="020B0604020202020204" pitchFamily="34" charset="0"/>
                    <a:cs typeface="Arial" panose="020B0604020202020204" pitchFamily="34" charset="0"/>
                  </a:rPr>
                  <a:t>Electricity + REC + ESCerts</a:t>
                </a:r>
              </a:p>
            </p:txBody>
          </p:sp>
          <p:sp>
            <p:nvSpPr>
              <p:cNvPr id="470" name="Rectangle 469">
                <a:extLst>
                  <a:ext uri="{FF2B5EF4-FFF2-40B4-BE49-F238E27FC236}">
                    <a16:creationId xmlns:a16="http://schemas.microsoft.com/office/drawing/2014/main" id="{9AF19197-B873-186A-F613-27E72600AC69}"/>
                  </a:ext>
                </a:extLst>
              </p:cNvPr>
              <p:cNvSpPr/>
              <p:nvPr/>
            </p:nvSpPr>
            <p:spPr bwMode="gray">
              <a:xfrm>
                <a:off x="2403472" y="5315000"/>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650">
                    <a:latin typeface="Arial" panose="020B0604020202020204" pitchFamily="34" charset="0"/>
                    <a:cs typeface="Arial" panose="020B0604020202020204" pitchFamily="34" charset="0"/>
                  </a:rPr>
                  <a:t>REC + ESCerts</a:t>
                </a:r>
              </a:p>
            </p:txBody>
          </p:sp>
          <p:sp>
            <p:nvSpPr>
              <p:cNvPr id="471" name="Rectangle 470">
                <a:extLst>
                  <a:ext uri="{FF2B5EF4-FFF2-40B4-BE49-F238E27FC236}">
                    <a16:creationId xmlns:a16="http://schemas.microsoft.com/office/drawing/2014/main" id="{C0F94A29-5E0D-70E3-0AA0-8785C09F949C}"/>
                  </a:ext>
                </a:extLst>
              </p:cNvPr>
              <p:cNvSpPr/>
              <p:nvPr/>
            </p:nvSpPr>
            <p:spPr bwMode="gray">
              <a:xfrm>
                <a:off x="2403472" y="5781476"/>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650">
                    <a:latin typeface="Arial" panose="020B0604020202020204" pitchFamily="34" charset="0"/>
                    <a:cs typeface="Arial" panose="020B0604020202020204" pitchFamily="34" charset="0"/>
                  </a:rPr>
                  <a:t>ESCerts</a:t>
                </a:r>
              </a:p>
            </p:txBody>
          </p:sp>
          <p:sp>
            <p:nvSpPr>
              <p:cNvPr id="472" name="Rectangle 471">
                <a:extLst>
                  <a:ext uri="{FF2B5EF4-FFF2-40B4-BE49-F238E27FC236}">
                    <a16:creationId xmlns:a16="http://schemas.microsoft.com/office/drawing/2014/main" id="{C3452E80-7DAB-6930-A1AE-59ED9B0E4BF0}"/>
                  </a:ext>
                </a:extLst>
              </p:cNvPr>
              <p:cNvSpPr/>
              <p:nvPr/>
            </p:nvSpPr>
            <p:spPr bwMode="gray">
              <a:xfrm>
                <a:off x="3416324" y="4191000"/>
                <a:ext cx="811178" cy="571345"/>
              </a:xfrm>
              <a:prstGeom prst="rect">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53" b="1">
                    <a:solidFill>
                      <a:schemeClr val="bg1"/>
                    </a:solidFill>
                    <a:latin typeface="Arial" panose="020B0604020202020204" pitchFamily="34" charset="0"/>
                    <a:cs typeface="Arial" panose="020B0604020202020204" pitchFamily="34" charset="0"/>
                  </a:rPr>
                  <a:t>Net worth required (INR Mn)</a:t>
                </a:r>
              </a:p>
            </p:txBody>
          </p:sp>
          <p:sp>
            <p:nvSpPr>
              <p:cNvPr id="473" name="Rectangle 472">
                <a:extLst>
                  <a:ext uri="{FF2B5EF4-FFF2-40B4-BE49-F238E27FC236}">
                    <a16:creationId xmlns:a16="http://schemas.microsoft.com/office/drawing/2014/main" id="{1AB76067-3827-5522-2CA8-3B696D00FFF6}"/>
                  </a:ext>
                </a:extLst>
              </p:cNvPr>
              <p:cNvSpPr/>
              <p:nvPr/>
            </p:nvSpPr>
            <p:spPr bwMode="gray">
              <a:xfrm>
                <a:off x="3418713" y="4848523"/>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a:latin typeface="Arial" panose="020B0604020202020204" pitchFamily="34" charset="0"/>
                    <a:cs typeface="Arial" panose="020B0604020202020204" pitchFamily="34" charset="0"/>
                  </a:rPr>
                  <a:t>150</a:t>
                </a:r>
              </a:p>
            </p:txBody>
          </p:sp>
          <p:sp>
            <p:nvSpPr>
              <p:cNvPr id="474" name="Rectangle 473">
                <a:extLst>
                  <a:ext uri="{FF2B5EF4-FFF2-40B4-BE49-F238E27FC236}">
                    <a16:creationId xmlns:a16="http://schemas.microsoft.com/office/drawing/2014/main" id="{DB2930FE-A071-577C-05E1-07AC3F611178}"/>
                  </a:ext>
                </a:extLst>
              </p:cNvPr>
              <p:cNvSpPr/>
              <p:nvPr/>
            </p:nvSpPr>
            <p:spPr bwMode="gray">
              <a:xfrm>
                <a:off x="3418713" y="5315000"/>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a:latin typeface="Arial" panose="020B0604020202020204" pitchFamily="34" charset="0"/>
                    <a:cs typeface="Arial" panose="020B0604020202020204" pitchFamily="34" charset="0"/>
                  </a:rPr>
                  <a:t>50</a:t>
                </a:r>
              </a:p>
            </p:txBody>
          </p:sp>
          <p:sp>
            <p:nvSpPr>
              <p:cNvPr id="475" name="Rectangle 474">
                <a:extLst>
                  <a:ext uri="{FF2B5EF4-FFF2-40B4-BE49-F238E27FC236}">
                    <a16:creationId xmlns:a16="http://schemas.microsoft.com/office/drawing/2014/main" id="{57E88BA3-D072-95D7-AB48-F75F739BF53E}"/>
                  </a:ext>
                </a:extLst>
              </p:cNvPr>
              <p:cNvSpPr/>
              <p:nvPr/>
            </p:nvSpPr>
            <p:spPr bwMode="gray">
              <a:xfrm>
                <a:off x="3418713" y="5781476"/>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a:latin typeface="Arial" panose="020B0604020202020204" pitchFamily="34" charset="0"/>
                    <a:cs typeface="Arial" panose="020B0604020202020204" pitchFamily="34" charset="0"/>
                  </a:rPr>
                  <a:t>50</a:t>
                </a:r>
              </a:p>
            </p:txBody>
          </p:sp>
        </p:grpSp>
        <p:grpSp>
          <p:nvGrpSpPr>
            <p:cNvPr id="51" name="Group 50">
              <a:extLst>
                <a:ext uri="{FF2B5EF4-FFF2-40B4-BE49-F238E27FC236}">
                  <a16:creationId xmlns:a16="http://schemas.microsoft.com/office/drawing/2014/main" id="{989A7D17-C6EC-5B66-2AE0-3B18C4DBC4D4}"/>
                </a:ext>
              </a:extLst>
            </p:cNvPr>
            <p:cNvGrpSpPr/>
            <p:nvPr/>
          </p:nvGrpSpPr>
          <p:grpSpPr>
            <a:xfrm>
              <a:off x="4044191" y="4006850"/>
              <a:ext cx="2414637" cy="1678783"/>
              <a:chOff x="1320800" y="4140200"/>
              <a:chExt cx="2971861" cy="2066194"/>
            </a:xfrm>
          </p:grpSpPr>
          <p:sp>
            <p:nvSpPr>
              <p:cNvPr id="450" name="Rectangle 449">
                <a:extLst>
                  <a:ext uri="{FF2B5EF4-FFF2-40B4-BE49-F238E27FC236}">
                    <a16:creationId xmlns:a16="http://schemas.microsoft.com/office/drawing/2014/main" id="{ED58BDBC-CF33-07C5-60E2-7992CB86035D}"/>
                  </a:ext>
                </a:extLst>
              </p:cNvPr>
              <p:cNvSpPr/>
              <p:nvPr/>
            </p:nvSpPr>
            <p:spPr bwMode="gray">
              <a:xfrm>
                <a:off x="1320800" y="4140200"/>
                <a:ext cx="2971861" cy="2066194"/>
              </a:xfrm>
              <a:prstGeom prst="rect">
                <a:avLst/>
              </a:prstGeom>
              <a:solidFill>
                <a:schemeClr val="bg1"/>
              </a:solidFill>
              <a:ln w="9525">
                <a:solidFill>
                  <a:schemeClr val="accent3"/>
                </a:solidFill>
                <a:headEnd/>
                <a:tailEnd/>
              </a:ln>
            </p:spPr>
            <p:style>
              <a:lnRef idx="2">
                <a:schemeClr val="dk1"/>
              </a:lnRef>
              <a:fillRef idx="1">
                <a:schemeClr val="lt1"/>
              </a:fillRef>
              <a:effectRef idx="0">
                <a:schemeClr val="dk1"/>
              </a:effectRef>
              <a:fontRef idx="minor">
                <a:schemeClr val="dk1"/>
              </a:fontRef>
            </p:style>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
            <p:nvSpPr>
              <p:cNvPr id="451" name="Rectangle 450">
                <a:extLst>
                  <a:ext uri="{FF2B5EF4-FFF2-40B4-BE49-F238E27FC236}">
                    <a16:creationId xmlns:a16="http://schemas.microsoft.com/office/drawing/2014/main" id="{B2A81578-3ED0-245D-66C3-AEF891401A2B}"/>
                  </a:ext>
                </a:extLst>
              </p:cNvPr>
              <p:cNvSpPr/>
              <p:nvPr/>
            </p:nvSpPr>
            <p:spPr bwMode="gray">
              <a:xfrm>
                <a:off x="1388422" y="4191000"/>
                <a:ext cx="811178" cy="571345"/>
              </a:xfrm>
              <a:prstGeom prst="rect">
                <a:avLst/>
              </a:prstGeom>
              <a:solidFill>
                <a:srgbClr val="005587"/>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53" b="1">
                    <a:solidFill>
                      <a:schemeClr val="bg1"/>
                    </a:solidFill>
                    <a:latin typeface="Arial" panose="020B0604020202020204" pitchFamily="34" charset="0"/>
                    <a:cs typeface="Arial" panose="020B0604020202020204" pitchFamily="34" charset="0"/>
                  </a:rPr>
                  <a:t>Category</a:t>
                </a:r>
              </a:p>
            </p:txBody>
          </p:sp>
          <p:sp>
            <p:nvSpPr>
              <p:cNvPr id="452" name="Rectangle 451">
                <a:extLst>
                  <a:ext uri="{FF2B5EF4-FFF2-40B4-BE49-F238E27FC236}">
                    <a16:creationId xmlns:a16="http://schemas.microsoft.com/office/drawing/2014/main" id="{3C6F3D6E-40CE-76DC-DEE0-BE0A74C786E1}"/>
                  </a:ext>
                </a:extLst>
              </p:cNvPr>
              <p:cNvSpPr/>
              <p:nvPr/>
            </p:nvSpPr>
            <p:spPr bwMode="gray">
              <a:xfrm>
                <a:off x="2401083" y="4191000"/>
                <a:ext cx="811178" cy="571345"/>
              </a:xfrm>
              <a:prstGeom prst="rect">
                <a:avLst/>
              </a:prstGeom>
              <a:solidFill>
                <a:srgbClr val="005587"/>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53" b="1">
                    <a:solidFill>
                      <a:schemeClr val="bg1"/>
                    </a:solidFill>
                    <a:latin typeface="Arial" panose="020B0604020202020204" pitchFamily="34" charset="0"/>
                    <a:cs typeface="Arial" panose="020B0604020202020204" pitchFamily="34" charset="0"/>
                  </a:rPr>
                  <a:t>Eligible transaction</a:t>
                </a:r>
              </a:p>
            </p:txBody>
          </p:sp>
          <p:sp>
            <p:nvSpPr>
              <p:cNvPr id="453" name="Rectangle 452">
                <a:extLst>
                  <a:ext uri="{FF2B5EF4-FFF2-40B4-BE49-F238E27FC236}">
                    <a16:creationId xmlns:a16="http://schemas.microsoft.com/office/drawing/2014/main" id="{53021B49-4580-F151-B5BD-72D97643BD52}"/>
                  </a:ext>
                </a:extLst>
              </p:cNvPr>
              <p:cNvSpPr/>
              <p:nvPr/>
            </p:nvSpPr>
            <p:spPr bwMode="gray">
              <a:xfrm>
                <a:off x="1388422" y="4848523"/>
                <a:ext cx="811178" cy="365760"/>
              </a:xfrm>
              <a:prstGeom prst="rect">
                <a:avLst/>
              </a:prstGeom>
              <a:solidFill>
                <a:srgbClr val="005587"/>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b="1">
                    <a:solidFill>
                      <a:schemeClr val="bg1"/>
                    </a:solidFill>
                    <a:latin typeface="Arial" panose="020B0604020202020204" pitchFamily="34" charset="0"/>
                    <a:cs typeface="Arial" panose="020B0604020202020204" pitchFamily="34" charset="0"/>
                  </a:rPr>
                  <a:t>Electricity trader</a:t>
                </a:r>
              </a:p>
            </p:txBody>
          </p:sp>
          <p:sp>
            <p:nvSpPr>
              <p:cNvPr id="454" name="Rectangle 453">
                <a:extLst>
                  <a:ext uri="{FF2B5EF4-FFF2-40B4-BE49-F238E27FC236}">
                    <a16:creationId xmlns:a16="http://schemas.microsoft.com/office/drawing/2014/main" id="{53559C01-295B-F685-D65C-1DDA05317908}"/>
                  </a:ext>
                </a:extLst>
              </p:cNvPr>
              <p:cNvSpPr/>
              <p:nvPr/>
            </p:nvSpPr>
            <p:spPr bwMode="gray">
              <a:xfrm>
                <a:off x="1388422" y="5315000"/>
                <a:ext cx="811178" cy="365760"/>
              </a:xfrm>
              <a:prstGeom prst="rect">
                <a:avLst/>
              </a:prstGeom>
              <a:solidFill>
                <a:srgbClr val="005587"/>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b="1">
                    <a:solidFill>
                      <a:schemeClr val="bg1"/>
                    </a:solidFill>
                    <a:latin typeface="Arial" panose="020B0604020202020204" pitchFamily="34" charset="0"/>
                    <a:cs typeface="Arial" panose="020B0604020202020204" pitchFamily="34" charset="0"/>
                  </a:rPr>
                  <a:t>REC trader</a:t>
                </a:r>
              </a:p>
            </p:txBody>
          </p:sp>
          <p:sp>
            <p:nvSpPr>
              <p:cNvPr id="455" name="Rectangle 454">
                <a:extLst>
                  <a:ext uri="{FF2B5EF4-FFF2-40B4-BE49-F238E27FC236}">
                    <a16:creationId xmlns:a16="http://schemas.microsoft.com/office/drawing/2014/main" id="{AA69369B-2ACF-FC7D-D4D7-573570CC4828}"/>
                  </a:ext>
                </a:extLst>
              </p:cNvPr>
              <p:cNvSpPr/>
              <p:nvPr/>
            </p:nvSpPr>
            <p:spPr bwMode="gray">
              <a:xfrm>
                <a:off x="1388422" y="5781476"/>
                <a:ext cx="811178" cy="365760"/>
              </a:xfrm>
              <a:prstGeom prst="rect">
                <a:avLst/>
              </a:prstGeom>
              <a:solidFill>
                <a:srgbClr val="005587"/>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b="1">
                    <a:solidFill>
                      <a:schemeClr val="bg1"/>
                    </a:solidFill>
                    <a:latin typeface="Arial" panose="020B0604020202020204" pitchFamily="34" charset="0"/>
                    <a:cs typeface="Arial" panose="020B0604020202020204" pitchFamily="34" charset="0"/>
                  </a:rPr>
                  <a:t>ESCerts trader</a:t>
                </a:r>
              </a:p>
            </p:txBody>
          </p:sp>
          <p:sp>
            <p:nvSpPr>
              <p:cNvPr id="456" name="Rectangle 455">
                <a:extLst>
                  <a:ext uri="{FF2B5EF4-FFF2-40B4-BE49-F238E27FC236}">
                    <a16:creationId xmlns:a16="http://schemas.microsoft.com/office/drawing/2014/main" id="{E05C26D5-6FDE-DC7A-1528-841813E68925}"/>
                  </a:ext>
                </a:extLst>
              </p:cNvPr>
              <p:cNvSpPr/>
              <p:nvPr/>
            </p:nvSpPr>
            <p:spPr bwMode="gray">
              <a:xfrm>
                <a:off x="2403472" y="4848523"/>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650">
                    <a:latin typeface="Arial" panose="020B0604020202020204" pitchFamily="34" charset="0"/>
                    <a:cs typeface="Arial" panose="020B0604020202020204" pitchFamily="34" charset="0"/>
                  </a:rPr>
                  <a:t>Electricity + REC + ESCerts</a:t>
                </a:r>
              </a:p>
            </p:txBody>
          </p:sp>
          <p:sp>
            <p:nvSpPr>
              <p:cNvPr id="457" name="Rectangle 456">
                <a:extLst>
                  <a:ext uri="{FF2B5EF4-FFF2-40B4-BE49-F238E27FC236}">
                    <a16:creationId xmlns:a16="http://schemas.microsoft.com/office/drawing/2014/main" id="{B3891FBA-2A92-E2B6-7310-0AA901C3B2E6}"/>
                  </a:ext>
                </a:extLst>
              </p:cNvPr>
              <p:cNvSpPr/>
              <p:nvPr/>
            </p:nvSpPr>
            <p:spPr bwMode="gray">
              <a:xfrm>
                <a:off x="2403472" y="5315000"/>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650">
                    <a:latin typeface="Arial" panose="020B0604020202020204" pitchFamily="34" charset="0"/>
                    <a:cs typeface="Arial" panose="020B0604020202020204" pitchFamily="34" charset="0"/>
                  </a:rPr>
                  <a:t>REC + ESCerts</a:t>
                </a:r>
              </a:p>
            </p:txBody>
          </p:sp>
          <p:sp>
            <p:nvSpPr>
              <p:cNvPr id="458" name="Rectangle 457">
                <a:extLst>
                  <a:ext uri="{FF2B5EF4-FFF2-40B4-BE49-F238E27FC236}">
                    <a16:creationId xmlns:a16="http://schemas.microsoft.com/office/drawing/2014/main" id="{6749FBD9-8B4D-C63C-508E-92934DBF9CA0}"/>
                  </a:ext>
                </a:extLst>
              </p:cNvPr>
              <p:cNvSpPr/>
              <p:nvPr/>
            </p:nvSpPr>
            <p:spPr bwMode="gray">
              <a:xfrm>
                <a:off x="2403472" y="5781476"/>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650">
                    <a:latin typeface="Arial" panose="020B0604020202020204" pitchFamily="34" charset="0"/>
                    <a:cs typeface="Arial" panose="020B0604020202020204" pitchFamily="34" charset="0"/>
                  </a:rPr>
                  <a:t>ESCerts</a:t>
                </a:r>
              </a:p>
            </p:txBody>
          </p:sp>
          <p:sp>
            <p:nvSpPr>
              <p:cNvPr id="459" name="Rectangle 458">
                <a:extLst>
                  <a:ext uri="{FF2B5EF4-FFF2-40B4-BE49-F238E27FC236}">
                    <a16:creationId xmlns:a16="http://schemas.microsoft.com/office/drawing/2014/main" id="{AF1B5F9B-664D-8AAE-171C-86C5DD6A034A}"/>
                  </a:ext>
                </a:extLst>
              </p:cNvPr>
              <p:cNvSpPr/>
              <p:nvPr/>
            </p:nvSpPr>
            <p:spPr bwMode="gray">
              <a:xfrm>
                <a:off x="3416324" y="4191000"/>
                <a:ext cx="811178" cy="571345"/>
              </a:xfrm>
              <a:prstGeom prst="rect">
                <a:avLst/>
              </a:prstGeom>
              <a:solidFill>
                <a:srgbClr val="005587"/>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53" b="1">
                    <a:solidFill>
                      <a:schemeClr val="bg1"/>
                    </a:solidFill>
                    <a:latin typeface="Arial" panose="020B0604020202020204" pitchFamily="34" charset="0"/>
                    <a:cs typeface="Arial" panose="020B0604020202020204" pitchFamily="34" charset="0"/>
                  </a:rPr>
                  <a:t>Net worth required (INR Mn)</a:t>
                </a:r>
              </a:p>
            </p:txBody>
          </p:sp>
          <p:sp>
            <p:nvSpPr>
              <p:cNvPr id="460" name="Rectangle 459">
                <a:extLst>
                  <a:ext uri="{FF2B5EF4-FFF2-40B4-BE49-F238E27FC236}">
                    <a16:creationId xmlns:a16="http://schemas.microsoft.com/office/drawing/2014/main" id="{9D9AD143-CAC0-CD4E-5E97-2D263693B063}"/>
                  </a:ext>
                </a:extLst>
              </p:cNvPr>
              <p:cNvSpPr/>
              <p:nvPr/>
            </p:nvSpPr>
            <p:spPr bwMode="gray">
              <a:xfrm>
                <a:off x="3418713" y="4848523"/>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a:latin typeface="Arial" panose="020B0604020202020204" pitchFamily="34" charset="0"/>
                    <a:cs typeface="Arial" panose="020B0604020202020204" pitchFamily="34" charset="0"/>
                  </a:rPr>
                  <a:t>150</a:t>
                </a:r>
              </a:p>
            </p:txBody>
          </p:sp>
          <p:sp>
            <p:nvSpPr>
              <p:cNvPr id="461" name="Rectangle 460">
                <a:extLst>
                  <a:ext uri="{FF2B5EF4-FFF2-40B4-BE49-F238E27FC236}">
                    <a16:creationId xmlns:a16="http://schemas.microsoft.com/office/drawing/2014/main" id="{72E87967-CC6D-6FA4-4E6E-E25F7B340994}"/>
                  </a:ext>
                </a:extLst>
              </p:cNvPr>
              <p:cNvSpPr/>
              <p:nvPr/>
            </p:nvSpPr>
            <p:spPr bwMode="gray">
              <a:xfrm>
                <a:off x="3418713" y="5315000"/>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a:latin typeface="Arial" panose="020B0604020202020204" pitchFamily="34" charset="0"/>
                    <a:cs typeface="Arial" panose="020B0604020202020204" pitchFamily="34" charset="0"/>
                  </a:rPr>
                  <a:t>-</a:t>
                </a:r>
              </a:p>
            </p:txBody>
          </p:sp>
          <p:sp>
            <p:nvSpPr>
              <p:cNvPr id="462" name="Rectangle 461">
                <a:extLst>
                  <a:ext uri="{FF2B5EF4-FFF2-40B4-BE49-F238E27FC236}">
                    <a16:creationId xmlns:a16="http://schemas.microsoft.com/office/drawing/2014/main" id="{1908BED5-E13B-0A3B-DA1D-40D8C8965A6A}"/>
                  </a:ext>
                </a:extLst>
              </p:cNvPr>
              <p:cNvSpPr/>
              <p:nvPr/>
            </p:nvSpPr>
            <p:spPr bwMode="gray">
              <a:xfrm>
                <a:off x="3418713" y="5781476"/>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a:latin typeface="Arial" panose="020B0604020202020204" pitchFamily="34" charset="0"/>
                    <a:cs typeface="Arial" panose="020B0604020202020204" pitchFamily="34" charset="0"/>
                  </a:rPr>
                  <a:t>-</a:t>
                </a:r>
              </a:p>
            </p:txBody>
          </p:sp>
        </p:grpSp>
        <p:grpSp>
          <p:nvGrpSpPr>
            <p:cNvPr id="52" name="Group 51">
              <a:extLst>
                <a:ext uri="{FF2B5EF4-FFF2-40B4-BE49-F238E27FC236}">
                  <a16:creationId xmlns:a16="http://schemas.microsoft.com/office/drawing/2014/main" id="{FB633280-3708-726B-0061-371C48C9A36F}"/>
                </a:ext>
              </a:extLst>
            </p:cNvPr>
            <p:cNvGrpSpPr/>
            <p:nvPr/>
          </p:nvGrpSpPr>
          <p:grpSpPr>
            <a:xfrm>
              <a:off x="7015231" y="4006850"/>
              <a:ext cx="2414637" cy="1678783"/>
              <a:chOff x="1320800" y="4140200"/>
              <a:chExt cx="2971861" cy="2066194"/>
            </a:xfrm>
          </p:grpSpPr>
          <p:sp>
            <p:nvSpPr>
              <p:cNvPr id="53" name="Rectangle 52">
                <a:extLst>
                  <a:ext uri="{FF2B5EF4-FFF2-40B4-BE49-F238E27FC236}">
                    <a16:creationId xmlns:a16="http://schemas.microsoft.com/office/drawing/2014/main" id="{5F35E9E1-2176-17CA-795F-FE25EE0CED99}"/>
                  </a:ext>
                </a:extLst>
              </p:cNvPr>
              <p:cNvSpPr/>
              <p:nvPr/>
            </p:nvSpPr>
            <p:spPr bwMode="gray">
              <a:xfrm>
                <a:off x="1320800" y="4140200"/>
                <a:ext cx="2971861" cy="2066194"/>
              </a:xfrm>
              <a:prstGeom prst="rect">
                <a:avLst/>
              </a:prstGeom>
              <a:solidFill>
                <a:schemeClr val="bg1"/>
              </a:solidFill>
              <a:ln w="9525">
                <a:solidFill>
                  <a:schemeClr val="accent3"/>
                </a:solidFill>
                <a:headEnd/>
                <a:tailEnd/>
              </a:ln>
            </p:spPr>
            <p:style>
              <a:lnRef idx="2">
                <a:schemeClr val="dk1"/>
              </a:lnRef>
              <a:fillRef idx="1">
                <a:schemeClr val="lt1"/>
              </a:fillRef>
              <a:effectRef idx="0">
                <a:schemeClr val="dk1"/>
              </a:effectRef>
              <a:fontRef idx="minor">
                <a:schemeClr val="dk1"/>
              </a:fontRef>
            </p:style>
            <p:txBody>
              <a:bodyPr wrap="square" lIns="72231" tIns="72231" rIns="72231" bIns="72231" rtlCol="0" anchor="ctr"/>
              <a:lstStyle/>
              <a:p>
                <a:pPr algn="ct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
            <p:nvSpPr>
              <p:cNvPr id="54" name="Rectangle 53">
                <a:extLst>
                  <a:ext uri="{FF2B5EF4-FFF2-40B4-BE49-F238E27FC236}">
                    <a16:creationId xmlns:a16="http://schemas.microsoft.com/office/drawing/2014/main" id="{9AD3284C-B0B2-946A-839D-EB44DE023EBA}"/>
                  </a:ext>
                </a:extLst>
              </p:cNvPr>
              <p:cNvSpPr/>
              <p:nvPr/>
            </p:nvSpPr>
            <p:spPr bwMode="gray">
              <a:xfrm>
                <a:off x="1388422" y="4191000"/>
                <a:ext cx="811178" cy="571345"/>
              </a:xfrm>
              <a:prstGeom prst="rect">
                <a:avLst/>
              </a:prstGeom>
              <a:solidFill>
                <a:srgbClr val="00ABAB"/>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53" b="1">
                    <a:solidFill>
                      <a:schemeClr val="bg1"/>
                    </a:solidFill>
                    <a:latin typeface="Arial" panose="020B0604020202020204" pitchFamily="34" charset="0"/>
                    <a:cs typeface="Arial" panose="020B0604020202020204" pitchFamily="34" charset="0"/>
                  </a:rPr>
                  <a:t>Category</a:t>
                </a:r>
              </a:p>
            </p:txBody>
          </p:sp>
          <p:sp>
            <p:nvSpPr>
              <p:cNvPr id="55" name="Rectangle 54">
                <a:extLst>
                  <a:ext uri="{FF2B5EF4-FFF2-40B4-BE49-F238E27FC236}">
                    <a16:creationId xmlns:a16="http://schemas.microsoft.com/office/drawing/2014/main" id="{69AC857A-0AA0-C647-367B-0F06006F4F44}"/>
                  </a:ext>
                </a:extLst>
              </p:cNvPr>
              <p:cNvSpPr/>
              <p:nvPr/>
            </p:nvSpPr>
            <p:spPr bwMode="gray">
              <a:xfrm>
                <a:off x="2401083" y="4191000"/>
                <a:ext cx="811178" cy="571345"/>
              </a:xfrm>
              <a:prstGeom prst="rect">
                <a:avLst/>
              </a:prstGeom>
              <a:solidFill>
                <a:srgbClr val="00ABAB"/>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53" b="1">
                    <a:solidFill>
                      <a:schemeClr val="bg1"/>
                    </a:solidFill>
                    <a:latin typeface="Arial" panose="020B0604020202020204" pitchFamily="34" charset="0"/>
                    <a:cs typeface="Arial" panose="020B0604020202020204" pitchFamily="34" charset="0"/>
                  </a:rPr>
                  <a:t>Eligible transaction</a:t>
                </a:r>
              </a:p>
            </p:txBody>
          </p:sp>
          <p:sp>
            <p:nvSpPr>
              <p:cNvPr id="56" name="Rectangle 55">
                <a:extLst>
                  <a:ext uri="{FF2B5EF4-FFF2-40B4-BE49-F238E27FC236}">
                    <a16:creationId xmlns:a16="http://schemas.microsoft.com/office/drawing/2014/main" id="{E200E0E0-38CC-2064-AF3B-F65C639764B0}"/>
                  </a:ext>
                </a:extLst>
              </p:cNvPr>
              <p:cNvSpPr/>
              <p:nvPr/>
            </p:nvSpPr>
            <p:spPr bwMode="gray">
              <a:xfrm>
                <a:off x="1388422" y="4848523"/>
                <a:ext cx="811178" cy="365760"/>
              </a:xfrm>
              <a:prstGeom prst="rect">
                <a:avLst/>
              </a:prstGeom>
              <a:solidFill>
                <a:srgbClr val="00ABAB"/>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b="1">
                    <a:solidFill>
                      <a:schemeClr val="bg1"/>
                    </a:solidFill>
                    <a:latin typeface="Arial" panose="020B0604020202020204" pitchFamily="34" charset="0"/>
                    <a:cs typeface="Arial" panose="020B0604020202020204" pitchFamily="34" charset="0"/>
                  </a:rPr>
                  <a:t>Electricity trader</a:t>
                </a:r>
              </a:p>
            </p:txBody>
          </p:sp>
          <p:sp>
            <p:nvSpPr>
              <p:cNvPr id="57" name="Rectangle 56">
                <a:extLst>
                  <a:ext uri="{FF2B5EF4-FFF2-40B4-BE49-F238E27FC236}">
                    <a16:creationId xmlns:a16="http://schemas.microsoft.com/office/drawing/2014/main" id="{FB886688-9EBA-4244-FB8B-36EE9E66E768}"/>
                  </a:ext>
                </a:extLst>
              </p:cNvPr>
              <p:cNvSpPr/>
              <p:nvPr/>
            </p:nvSpPr>
            <p:spPr bwMode="gray">
              <a:xfrm>
                <a:off x="1388422" y="5315000"/>
                <a:ext cx="811178" cy="365760"/>
              </a:xfrm>
              <a:prstGeom prst="rect">
                <a:avLst/>
              </a:prstGeom>
              <a:solidFill>
                <a:srgbClr val="00ABAB"/>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b="1">
                    <a:solidFill>
                      <a:schemeClr val="bg1"/>
                    </a:solidFill>
                    <a:latin typeface="Arial" panose="020B0604020202020204" pitchFamily="34" charset="0"/>
                    <a:cs typeface="Arial" panose="020B0604020202020204" pitchFamily="34" charset="0"/>
                  </a:rPr>
                  <a:t>REC trader</a:t>
                </a:r>
              </a:p>
            </p:txBody>
          </p:sp>
          <p:sp>
            <p:nvSpPr>
              <p:cNvPr id="58" name="Rectangle 57">
                <a:extLst>
                  <a:ext uri="{FF2B5EF4-FFF2-40B4-BE49-F238E27FC236}">
                    <a16:creationId xmlns:a16="http://schemas.microsoft.com/office/drawing/2014/main" id="{A673C5AF-7316-F609-6E6D-753ABB5BDD6B}"/>
                  </a:ext>
                </a:extLst>
              </p:cNvPr>
              <p:cNvSpPr/>
              <p:nvPr/>
            </p:nvSpPr>
            <p:spPr bwMode="gray">
              <a:xfrm>
                <a:off x="1388422" y="5781476"/>
                <a:ext cx="811178" cy="365760"/>
              </a:xfrm>
              <a:prstGeom prst="rect">
                <a:avLst/>
              </a:prstGeom>
              <a:solidFill>
                <a:srgbClr val="00ABAB"/>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b="1">
                    <a:solidFill>
                      <a:schemeClr val="bg1"/>
                    </a:solidFill>
                    <a:latin typeface="Arial" panose="020B0604020202020204" pitchFamily="34" charset="0"/>
                    <a:cs typeface="Arial" panose="020B0604020202020204" pitchFamily="34" charset="0"/>
                  </a:rPr>
                  <a:t>ESCerts trader</a:t>
                </a:r>
              </a:p>
            </p:txBody>
          </p:sp>
          <p:sp>
            <p:nvSpPr>
              <p:cNvPr id="59" name="Rectangle 58">
                <a:extLst>
                  <a:ext uri="{FF2B5EF4-FFF2-40B4-BE49-F238E27FC236}">
                    <a16:creationId xmlns:a16="http://schemas.microsoft.com/office/drawing/2014/main" id="{0D9F88DC-95DB-A7C9-23FE-231DA913FBA8}"/>
                  </a:ext>
                </a:extLst>
              </p:cNvPr>
              <p:cNvSpPr/>
              <p:nvPr/>
            </p:nvSpPr>
            <p:spPr bwMode="gray">
              <a:xfrm>
                <a:off x="2403472" y="4848523"/>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650">
                    <a:latin typeface="Arial" panose="020B0604020202020204" pitchFamily="34" charset="0"/>
                    <a:cs typeface="Arial" panose="020B0604020202020204" pitchFamily="34" charset="0"/>
                  </a:rPr>
                  <a:t>Electricity + REC + ESCerts</a:t>
                </a:r>
              </a:p>
            </p:txBody>
          </p:sp>
          <p:sp>
            <p:nvSpPr>
              <p:cNvPr id="60" name="Rectangle 59">
                <a:extLst>
                  <a:ext uri="{FF2B5EF4-FFF2-40B4-BE49-F238E27FC236}">
                    <a16:creationId xmlns:a16="http://schemas.microsoft.com/office/drawing/2014/main" id="{3B50D3AF-33C8-CB31-44AA-9E68D8F5D95C}"/>
                  </a:ext>
                </a:extLst>
              </p:cNvPr>
              <p:cNvSpPr/>
              <p:nvPr/>
            </p:nvSpPr>
            <p:spPr bwMode="gray">
              <a:xfrm>
                <a:off x="2403472" y="5315000"/>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650">
                    <a:latin typeface="Arial" panose="020B0604020202020204" pitchFamily="34" charset="0"/>
                    <a:cs typeface="Arial" panose="020B0604020202020204" pitchFamily="34" charset="0"/>
                  </a:rPr>
                  <a:t>REC + ESCerts</a:t>
                </a:r>
              </a:p>
            </p:txBody>
          </p:sp>
          <p:sp>
            <p:nvSpPr>
              <p:cNvPr id="61" name="Rectangle 60">
                <a:extLst>
                  <a:ext uri="{FF2B5EF4-FFF2-40B4-BE49-F238E27FC236}">
                    <a16:creationId xmlns:a16="http://schemas.microsoft.com/office/drawing/2014/main" id="{3583154E-D659-E3C7-E886-943933DA8F81}"/>
                  </a:ext>
                </a:extLst>
              </p:cNvPr>
              <p:cNvSpPr/>
              <p:nvPr/>
            </p:nvSpPr>
            <p:spPr bwMode="gray">
              <a:xfrm>
                <a:off x="2403472" y="5781476"/>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650">
                    <a:latin typeface="Arial" panose="020B0604020202020204" pitchFamily="34" charset="0"/>
                    <a:cs typeface="Arial" panose="020B0604020202020204" pitchFamily="34" charset="0"/>
                  </a:rPr>
                  <a:t>ESCerts</a:t>
                </a:r>
              </a:p>
            </p:txBody>
          </p:sp>
          <p:sp>
            <p:nvSpPr>
              <p:cNvPr id="62" name="Rectangle 61">
                <a:extLst>
                  <a:ext uri="{FF2B5EF4-FFF2-40B4-BE49-F238E27FC236}">
                    <a16:creationId xmlns:a16="http://schemas.microsoft.com/office/drawing/2014/main" id="{A8B6555F-07D3-C862-CEAB-5FD778487A86}"/>
                  </a:ext>
                </a:extLst>
              </p:cNvPr>
              <p:cNvSpPr/>
              <p:nvPr/>
            </p:nvSpPr>
            <p:spPr bwMode="gray">
              <a:xfrm>
                <a:off x="3416324" y="4191000"/>
                <a:ext cx="811178" cy="571345"/>
              </a:xfrm>
              <a:prstGeom prst="rect">
                <a:avLst/>
              </a:prstGeom>
              <a:solidFill>
                <a:srgbClr val="00ABAB"/>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US" sz="853" b="1">
                    <a:solidFill>
                      <a:schemeClr val="bg1"/>
                    </a:solidFill>
                    <a:latin typeface="Arial" panose="020B0604020202020204" pitchFamily="34" charset="0"/>
                    <a:cs typeface="Arial" panose="020B0604020202020204" pitchFamily="34" charset="0"/>
                  </a:rPr>
                  <a:t>Net worth required (INR Mn)</a:t>
                </a:r>
              </a:p>
            </p:txBody>
          </p:sp>
          <p:sp>
            <p:nvSpPr>
              <p:cNvPr id="63" name="Rectangle 62">
                <a:extLst>
                  <a:ext uri="{FF2B5EF4-FFF2-40B4-BE49-F238E27FC236}">
                    <a16:creationId xmlns:a16="http://schemas.microsoft.com/office/drawing/2014/main" id="{64F0E49C-86AC-9D71-7721-2980564CC73E}"/>
                  </a:ext>
                </a:extLst>
              </p:cNvPr>
              <p:cNvSpPr/>
              <p:nvPr/>
            </p:nvSpPr>
            <p:spPr bwMode="gray">
              <a:xfrm>
                <a:off x="3418713" y="4848523"/>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a:latin typeface="Arial" panose="020B0604020202020204" pitchFamily="34" charset="0"/>
                    <a:cs typeface="Arial" panose="020B0604020202020204" pitchFamily="34" charset="0"/>
                  </a:rPr>
                  <a:t>150</a:t>
                </a:r>
              </a:p>
            </p:txBody>
          </p:sp>
          <p:sp>
            <p:nvSpPr>
              <p:cNvPr id="448" name="Rectangle 447">
                <a:extLst>
                  <a:ext uri="{FF2B5EF4-FFF2-40B4-BE49-F238E27FC236}">
                    <a16:creationId xmlns:a16="http://schemas.microsoft.com/office/drawing/2014/main" id="{FE883517-0A04-89E8-8DB0-3D435037208B}"/>
                  </a:ext>
                </a:extLst>
              </p:cNvPr>
              <p:cNvSpPr/>
              <p:nvPr/>
            </p:nvSpPr>
            <p:spPr bwMode="gray">
              <a:xfrm>
                <a:off x="3418713" y="5315000"/>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a:latin typeface="Arial" panose="020B0604020202020204" pitchFamily="34" charset="0"/>
                    <a:cs typeface="Arial" panose="020B0604020202020204" pitchFamily="34" charset="0"/>
                  </a:rPr>
                  <a:t>50</a:t>
                </a:r>
              </a:p>
            </p:txBody>
          </p:sp>
          <p:sp>
            <p:nvSpPr>
              <p:cNvPr id="449" name="Rectangle 448">
                <a:extLst>
                  <a:ext uri="{FF2B5EF4-FFF2-40B4-BE49-F238E27FC236}">
                    <a16:creationId xmlns:a16="http://schemas.microsoft.com/office/drawing/2014/main" id="{19A288A3-2A02-B6D1-EDA2-C570CFCDD77B}"/>
                  </a:ext>
                </a:extLst>
              </p:cNvPr>
              <p:cNvSpPr/>
              <p:nvPr/>
            </p:nvSpPr>
            <p:spPr bwMode="gray">
              <a:xfrm>
                <a:off x="3418713" y="5781476"/>
                <a:ext cx="811178" cy="365760"/>
              </a:xfrm>
              <a:prstGeom prst="rect">
                <a:avLst/>
              </a:prstGeom>
              <a:no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US" sz="813">
                    <a:latin typeface="Arial" panose="020B0604020202020204" pitchFamily="34" charset="0"/>
                    <a:cs typeface="Arial" panose="020B0604020202020204" pitchFamily="34" charset="0"/>
                  </a:rPr>
                  <a:t>50</a:t>
                </a:r>
              </a:p>
            </p:txBody>
          </p:sp>
        </p:grpSp>
      </p:grpSp>
      <p:sp>
        <p:nvSpPr>
          <p:cNvPr id="3" name="Arrow: Right 2">
            <a:hlinkClick r:id="rId6" action="ppaction://hlinksldjump"/>
            <a:extLst>
              <a:ext uri="{FF2B5EF4-FFF2-40B4-BE49-F238E27FC236}">
                <a16:creationId xmlns:a16="http://schemas.microsoft.com/office/drawing/2014/main" id="{7B040109-8EFF-1C2C-36F4-53303838B7C0}"/>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94930496"/>
      </p:ext>
    </p:extLst>
  </p:cSld>
  <p:clrMapOvr>
    <a:masterClrMapping/>
  </p:clrMapOvr>
  <p:transition>
    <p:fade/>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992702750"/>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2000" b="1">
                <a:latin typeface="Arial" panose="020B0604020202020204" pitchFamily="34" charset="0"/>
                <a:cs typeface="Arial" panose="020B0604020202020204" pitchFamily="34" charset="0"/>
              </a:rPr>
              <a:t>Trading durations for different market segments on IEX</a:t>
            </a:r>
            <a:endParaRPr lang="en-GB" sz="20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497" name="TextBox 496">
            <a:extLst>
              <a:ext uri="{FF2B5EF4-FFF2-40B4-BE49-F238E27FC236}">
                <a16:creationId xmlns:a16="http://schemas.microsoft.com/office/drawing/2014/main" id="{E3CD61BF-5158-2CE6-D4D0-D211D840411E}"/>
              </a:ext>
            </a:extLst>
          </p:cNvPr>
          <p:cNvSpPr txBox="1"/>
          <p:nvPr/>
        </p:nvSpPr>
        <p:spPr>
          <a:xfrm>
            <a:off x="447675" y="6596933"/>
            <a:ext cx="609600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IEX, Deloitte analysis</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graphicFrame>
        <p:nvGraphicFramePr>
          <p:cNvPr id="8" name="Table 5">
            <a:extLst>
              <a:ext uri="{FF2B5EF4-FFF2-40B4-BE49-F238E27FC236}">
                <a16:creationId xmlns:a16="http://schemas.microsoft.com/office/drawing/2014/main" id="{E802144F-71BF-9A1D-A9CE-349EB9A45A98}"/>
              </a:ext>
            </a:extLst>
          </p:cNvPr>
          <p:cNvGraphicFramePr>
            <a:graphicFrameLocks noGrp="1"/>
          </p:cNvGraphicFramePr>
          <p:nvPr>
            <p:extLst>
              <p:ext uri="{D42A27DB-BD31-4B8C-83A1-F6EECF244321}">
                <p14:modId xmlns:p14="http://schemas.microsoft.com/office/powerpoint/2010/main" val="1942078155"/>
              </p:ext>
            </p:extLst>
          </p:nvPr>
        </p:nvGraphicFramePr>
        <p:xfrm>
          <a:off x="514883" y="1769759"/>
          <a:ext cx="11175466" cy="4579687"/>
        </p:xfrm>
        <a:graphic>
          <a:graphicData uri="http://schemas.openxmlformats.org/drawingml/2006/table">
            <a:tbl>
              <a:tblPr firstRow="1" bandRow="1">
                <a:tableStyleId>{E8B1032C-EA38-4F05-BA0D-38AFFFC7BED3}</a:tableStyleId>
              </a:tblPr>
              <a:tblGrid>
                <a:gridCol w="2235093">
                  <a:extLst>
                    <a:ext uri="{9D8B030D-6E8A-4147-A177-3AD203B41FA5}">
                      <a16:colId xmlns:a16="http://schemas.microsoft.com/office/drawing/2014/main" val="696900812"/>
                    </a:ext>
                  </a:extLst>
                </a:gridCol>
                <a:gridCol w="2235093">
                  <a:extLst>
                    <a:ext uri="{9D8B030D-6E8A-4147-A177-3AD203B41FA5}">
                      <a16:colId xmlns:a16="http://schemas.microsoft.com/office/drawing/2014/main" val="805195842"/>
                    </a:ext>
                  </a:extLst>
                </a:gridCol>
                <a:gridCol w="2235093">
                  <a:extLst>
                    <a:ext uri="{9D8B030D-6E8A-4147-A177-3AD203B41FA5}">
                      <a16:colId xmlns:a16="http://schemas.microsoft.com/office/drawing/2014/main" val="2027003965"/>
                    </a:ext>
                  </a:extLst>
                </a:gridCol>
                <a:gridCol w="2511265">
                  <a:extLst>
                    <a:ext uri="{9D8B030D-6E8A-4147-A177-3AD203B41FA5}">
                      <a16:colId xmlns:a16="http://schemas.microsoft.com/office/drawing/2014/main" val="2224777681"/>
                    </a:ext>
                  </a:extLst>
                </a:gridCol>
                <a:gridCol w="1958922">
                  <a:extLst>
                    <a:ext uri="{9D8B030D-6E8A-4147-A177-3AD203B41FA5}">
                      <a16:colId xmlns:a16="http://schemas.microsoft.com/office/drawing/2014/main" val="4094063288"/>
                    </a:ext>
                  </a:extLst>
                </a:gridCol>
              </a:tblGrid>
              <a:tr h="368012">
                <a:tc>
                  <a:txBody>
                    <a:bodyPr/>
                    <a:lstStyle/>
                    <a:p>
                      <a:pPr algn="ctr"/>
                      <a:r>
                        <a:rPr lang="en-US" sz="1000">
                          <a:solidFill>
                            <a:schemeClr val="bg1"/>
                          </a:solidFill>
                          <a:latin typeface="Arial" panose="020B0604020202020204" pitchFamily="34" charset="0"/>
                          <a:cs typeface="Arial" panose="020B0604020202020204" pitchFamily="34" charset="0"/>
                        </a:rPr>
                        <a:t>Segment</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solidFill>
                      <a:schemeClr val="accent4"/>
                    </a:solidFill>
                  </a:tcPr>
                </a:tc>
                <a:tc>
                  <a:txBody>
                    <a:bodyPr/>
                    <a:lstStyle/>
                    <a:p>
                      <a:pPr algn="ctr"/>
                      <a:r>
                        <a:rPr lang="en-US" sz="1000">
                          <a:solidFill>
                            <a:schemeClr val="bg1"/>
                          </a:solidFill>
                          <a:latin typeface="Arial" panose="020B0604020202020204" pitchFamily="34" charset="0"/>
                          <a:cs typeface="Arial" panose="020B0604020202020204" pitchFamily="34" charset="0"/>
                        </a:rPr>
                        <a:t>Type of contract</a:t>
                      </a:r>
                    </a:p>
                  </a:txBody>
                  <a:tcPr marL="89897" marR="89897" marT="44948" marB="44948"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solidFill>
                      <a:schemeClr val="accent4"/>
                    </a:solidFill>
                  </a:tcPr>
                </a:tc>
                <a:tc>
                  <a:txBody>
                    <a:bodyPr/>
                    <a:lstStyle/>
                    <a:p>
                      <a:pPr algn="ctr"/>
                      <a:r>
                        <a:rPr lang="en-US" sz="1000">
                          <a:solidFill>
                            <a:schemeClr val="bg1"/>
                          </a:solidFill>
                          <a:latin typeface="Arial" panose="020B0604020202020204" pitchFamily="34" charset="0"/>
                          <a:cs typeface="Arial" panose="020B0604020202020204" pitchFamily="34" charset="0"/>
                        </a:rPr>
                        <a:t>Description</a:t>
                      </a:r>
                    </a:p>
                  </a:txBody>
                  <a:tcPr marL="89897" marR="89897" marT="44948" marB="44948"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solidFill>
                      <a:schemeClr val="accent4"/>
                    </a:solidFill>
                  </a:tcPr>
                </a:tc>
                <a:tc>
                  <a:txBody>
                    <a:bodyPr/>
                    <a:lstStyle/>
                    <a:p>
                      <a:pPr algn="ctr"/>
                      <a:r>
                        <a:rPr lang="en-US" sz="1000">
                          <a:solidFill>
                            <a:schemeClr val="bg1"/>
                          </a:solidFill>
                          <a:latin typeface="Arial" panose="020B0604020202020204" pitchFamily="34" charset="0"/>
                          <a:cs typeface="Arial" panose="020B0604020202020204" pitchFamily="34" charset="0"/>
                        </a:rPr>
                        <a:t>Trading hours</a:t>
                      </a:r>
                    </a:p>
                  </a:txBody>
                  <a:tcPr marL="89897" marR="89897" marT="44948" marB="44948"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solidFill>
                      <a:schemeClr val="accent4"/>
                    </a:solidFill>
                  </a:tcPr>
                </a:tc>
                <a:tc>
                  <a:txBody>
                    <a:bodyPr/>
                    <a:lstStyle/>
                    <a:p>
                      <a:pPr algn="ctr"/>
                      <a:r>
                        <a:rPr lang="en-US" sz="1000">
                          <a:solidFill>
                            <a:schemeClr val="bg1"/>
                          </a:solidFill>
                          <a:latin typeface="Arial" panose="020B0604020202020204" pitchFamily="34" charset="0"/>
                          <a:cs typeface="Arial" panose="020B0604020202020204" pitchFamily="34" charset="0"/>
                        </a:rPr>
                        <a:t>Price discovery</a:t>
                      </a:r>
                    </a:p>
                  </a:txBody>
                  <a:tcPr marL="89897" marR="89897" marT="44948" marB="44948" anchor="ctr">
                    <a:lnL w="6350" cap="flat" cmpd="sng" algn="ctr">
                      <a:solidFill>
                        <a:schemeClr val="bg1"/>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solidFill>
                      <a:schemeClr val="accent4"/>
                    </a:solidFill>
                  </a:tcPr>
                </a:tc>
                <a:extLst>
                  <a:ext uri="{0D108BD9-81ED-4DB2-BD59-A6C34878D82A}">
                    <a16:rowId xmlns:a16="http://schemas.microsoft.com/office/drawing/2014/main" val="4187377234"/>
                  </a:ext>
                </a:extLst>
              </a:tr>
              <a:tr h="398409">
                <a:tc>
                  <a:txBody>
                    <a:bodyPr/>
                    <a:lstStyle/>
                    <a:p>
                      <a:pPr algn="ctr"/>
                      <a:r>
                        <a:rPr lang="en-US" sz="1000">
                          <a:latin typeface="Arial" panose="020B0604020202020204" pitchFamily="34" charset="0"/>
                          <a:cs typeface="Arial" panose="020B0604020202020204" pitchFamily="34" charset="0"/>
                        </a:rPr>
                        <a:t>DAM &amp; G-DAM</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Block-wise, next day</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Auction timing:</a:t>
                      </a:r>
                    </a:p>
                    <a:p>
                      <a:pPr algn="ctr"/>
                      <a:r>
                        <a:rPr lang="en-US" sz="1000">
                          <a:latin typeface="Arial" panose="020B0604020202020204" pitchFamily="34" charset="0"/>
                          <a:cs typeface="Arial" panose="020B0604020202020204" pitchFamily="34" charset="0"/>
                        </a:rPr>
                        <a:t>10:00 to 12:00 hours</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rowSpan="8">
                  <a:txBody>
                    <a:bodyPr/>
                    <a:lstStyle/>
                    <a:p>
                      <a:pPr marL="0" marR="0" lvl="0" indent="0" algn="ctr" defTabSz="912572"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Closed, double-sided auction</a:t>
                      </a:r>
                    </a:p>
                  </a:txBody>
                  <a:tcPr marL="81725" marR="81725" marT="40862" marB="40862"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1388914125"/>
                  </a:ext>
                </a:extLst>
              </a:tr>
              <a:tr h="368012">
                <a:tc rowSpan="8">
                  <a:txBody>
                    <a:bodyPr/>
                    <a:lstStyle/>
                    <a:p>
                      <a:pPr algn="ctr"/>
                      <a:r>
                        <a:rPr lang="en-US" sz="1000">
                          <a:latin typeface="Arial" panose="020B0604020202020204" pitchFamily="34" charset="0"/>
                          <a:cs typeface="Arial" panose="020B0604020202020204" pitchFamily="34" charset="0"/>
                        </a:rPr>
                        <a:t>TAM &amp; G-TAM</a:t>
                      </a:r>
                    </a:p>
                  </a:txBody>
                  <a:tcPr marL="81725" marR="81725" marT="40862" marB="40862"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Day Ahead Contingency</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rowSpan="2">
                  <a:txBody>
                    <a:bodyPr/>
                    <a:lstStyle/>
                    <a:p>
                      <a:pPr algn="ctr"/>
                      <a:r>
                        <a:rPr lang="en-US" sz="1000">
                          <a:latin typeface="Arial" panose="020B0604020202020204" pitchFamily="34" charset="0"/>
                          <a:cs typeface="Arial" panose="020B0604020202020204" pitchFamily="34" charset="0"/>
                        </a:rPr>
                        <a:t>Hourly and/or block-wise, next day</a:t>
                      </a:r>
                    </a:p>
                  </a:txBody>
                  <a:tcPr marL="81725" marR="81725" marT="40862" marB="40862"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15:00 to 23:00 hours</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vMerge="1">
                  <a:txBody>
                    <a:bodyPr/>
                    <a:lstStyle/>
                    <a:p>
                      <a:endParaRPr lang="en-US" sz="1000"/>
                    </a:p>
                  </a:txBody>
                  <a:tcPr/>
                </a:tc>
                <a:extLst>
                  <a:ext uri="{0D108BD9-81ED-4DB2-BD59-A6C34878D82A}">
                    <a16:rowId xmlns:a16="http://schemas.microsoft.com/office/drawing/2014/main" val="1748301125"/>
                  </a:ext>
                </a:extLst>
              </a:tr>
              <a:tr h="398409">
                <a:tc vMerge="1">
                  <a:txBody>
                    <a:bodyPr/>
                    <a:lstStyle/>
                    <a:p>
                      <a:endParaRPr lang="en-US" sz="1000"/>
                    </a:p>
                  </a:txBody>
                  <a:tcPr/>
                </a:tc>
                <a:tc>
                  <a:txBody>
                    <a:bodyPr/>
                    <a:lstStyle/>
                    <a:p>
                      <a:pPr algn="ctr"/>
                      <a:r>
                        <a:rPr lang="en-US" sz="1000">
                          <a:latin typeface="Arial" panose="020B0604020202020204" pitchFamily="34" charset="0"/>
                          <a:cs typeface="Arial" panose="020B0604020202020204" pitchFamily="34" charset="0"/>
                        </a:rPr>
                        <a:t>Intra-day</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vMerge="1">
                  <a:txBody>
                    <a:bodyPr/>
                    <a:lstStyle/>
                    <a:p>
                      <a:pPr algn="ctr"/>
                      <a:endParaRPr lang="en-US" sz="1000"/>
                    </a:p>
                  </a:txBody>
                  <a:tcPr anchor="ctr"/>
                </a:tc>
                <a:tc>
                  <a:txBody>
                    <a:bodyPr/>
                    <a:lstStyle/>
                    <a:p>
                      <a:pPr algn="ctr"/>
                      <a:r>
                        <a:rPr lang="en-US" sz="1000">
                          <a:latin typeface="Arial" panose="020B0604020202020204" pitchFamily="34" charset="0"/>
                          <a:cs typeface="Arial" panose="020B0604020202020204" pitchFamily="34" charset="0"/>
                        </a:rPr>
                        <a:t>TAM: 00:30 to </a:t>
                      </a:r>
                      <a:r>
                        <a:rPr lang="en-US" sz="1000">
                          <a:solidFill>
                            <a:schemeClr val="tx1"/>
                          </a:solidFill>
                          <a:latin typeface="Arial" panose="020B0604020202020204" pitchFamily="34" charset="0"/>
                          <a:cs typeface="Arial" panose="020B0604020202020204" pitchFamily="34" charset="0"/>
                        </a:rPr>
                        <a:t>20:30 hours</a:t>
                      </a:r>
                    </a:p>
                    <a:p>
                      <a:pPr algn="ctr"/>
                      <a:r>
                        <a:rPr lang="en-US" sz="1000">
                          <a:latin typeface="Arial" panose="020B0604020202020204" pitchFamily="34" charset="0"/>
                          <a:cs typeface="Arial" panose="020B0604020202020204" pitchFamily="34" charset="0"/>
                        </a:rPr>
                        <a:t>G-TAM: 00:00 to 24:00 hours </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vMerge="1">
                  <a:txBody>
                    <a:bodyPr/>
                    <a:lstStyle/>
                    <a:p>
                      <a:endParaRPr lang="en-US" sz="1000"/>
                    </a:p>
                  </a:txBody>
                  <a:tcPr/>
                </a:tc>
                <a:extLst>
                  <a:ext uri="{0D108BD9-81ED-4DB2-BD59-A6C34878D82A}">
                    <a16:rowId xmlns:a16="http://schemas.microsoft.com/office/drawing/2014/main" val="4065953553"/>
                  </a:ext>
                </a:extLst>
              </a:tr>
              <a:tr h="393217">
                <a:tc vMerge="1">
                  <a:txBody>
                    <a:bodyPr/>
                    <a:lstStyle/>
                    <a:p>
                      <a:endParaRPr lang="en-US" sz="1000"/>
                    </a:p>
                  </a:txBody>
                  <a:tcPr/>
                </a:tc>
                <a:tc>
                  <a:txBody>
                    <a:bodyPr/>
                    <a:lstStyle/>
                    <a:p>
                      <a:pPr algn="ctr"/>
                      <a:r>
                        <a:rPr lang="en-US" sz="1000">
                          <a:latin typeface="Arial" panose="020B0604020202020204" pitchFamily="34" charset="0"/>
                          <a:cs typeface="Arial" panose="020B0604020202020204" pitchFamily="34" charset="0"/>
                        </a:rPr>
                        <a:t>Daily</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Full day, T+2 onwards (beyond T+11)</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rowSpan="2">
                  <a:txBody>
                    <a:bodyPr/>
                    <a:lstStyle/>
                    <a:p>
                      <a:pPr algn="ctr"/>
                      <a:r>
                        <a:rPr lang="en-US" sz="1000">
                          <a:latin typeface="Arial" panose="020B0604020202020204" pitchFamily="34" charset="0"/>
                          <a:cs typeface="Arial" panose="020B0604020202020204" pitchFamily="34" charset="0"/>
                        </a:rPr>
                        <a:t>12:00 to 17:00 hours</a:t>
                      </a:r>
                    </a:p>
                  </a:txBody>
                  <a:tcPr marL="81725" marR="81725" marT="40862" marB="40862"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vMerge="1">
                  <a:txBody>
                    <a:bodyPr/>
                    <a:lstStyle/>
                    <a:p>
                      <a:endParaRPr lang="en-US" sz="1000"/>
                    </a:p>
                  </a:txBody>
                  <a:tcPr/>
                </a:tc>
                <a:extLst>
                  <a:ext uri="{0D108BD9-81ED-4DB2-BD59-A6C34878D82A}">
                    <a16:rowId xmlns:a16="http://schemas.microsoft.com/office/drawing/2014/main" val="2131854876"/>
                  </a:ext>
                </a:extLst>
              </a:tr>
              <a:tr h="544455">
                <a:tc vMerge="1">
                  <a:txBody>
                    <a:bodyPr/>
                    <a:lstStyle/>
                    <a:p>
                      <a:endParaRPr lang="en-US" sz="1000"/>
                    </a:p>
                  </a:txBody>
                  <a:tcPr/>
                </a:tc>
                <a:tc>
                  <a:txBody>
                    <a:bodyPr/>
                    <a:lstStyle/>
                    <a:p>
                      <a:pPr algn="ctr"/>
                      <a:r>
                        <a:rPr lang="en-US" sz="1000">
                          <a:latin typeface="Arial" panose="020B0604020202020204" pitchFamily="34" charset="0"/>
                          <a:cs typeface="Arial" panose="020B0604020202020204" pitchFamily="34" charset="0"/>
                        </a:rPr>
                        <a:t>Weekly</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Weekly, T+5 to T+11/weekly, weekdays and weekend</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vMerge="1">
                  <a:txBody>
                    <a:bodyPr/>
                    <a:lstStyle/>
                    <a:p>
                      <a:endParaRPr lang="en-US" sz="1000"/>
                    </a:p>
                  </a:txBody>
                  <a:tcPr/>
                </a:tc>
                <a:tc vMerge="1">
                  <a:txBody>
                    <a:bodyPr/>
                    <a:lstStyle/>
                    <a:p>
                      <a:endParaRPr lang="en-US" sz="1000"/>
                    </a:p>
                  </a:txBody>
                  <a:tcPr/>
                </a:tc>
                <a:extLst>
                  <a:ext uri="{0D108BD9-81ED-4DB2-BD59-A6C34878D82A}">
                    <a16:rowId xmlns:a16="http://schemas.microsoft.com/office/drawing/2014/main" val="823413032"/>
                  </a:ext>
                </a:extLst>
              </a:tr>
              <a:tr h="544455">
                <a:tc vMerge="1">
                  <a:txBody>
                    <a:bodyPr/>
                    <a:lstStyle/>
                    <a:p>
                      <a:endParaRPr lang="en-US" sz="1000"/>
                    </a:p>
                  </a:txBody>
                  <a:tcPr/>
                </a:tc>
                <a:tc>
                  <a:txBody>
                    <a:bodyPr/>
                    <a:lstStyle/>
                    <a:p>
                      <a:pPr algn="ctr"/>
                      <a:r>
                        <a:rPr lang="en-US" sz="1000">
                          <a:latin typeface="Arial" panose="020B0604020202020204" pitchFamily="34" charset="0"/>
                          <a:cs typeface="Arial" panose="020B0604020202020204" pitchFamily="34" charset="0"/>
                        </a:rPr>
                        <a:t>Fortnightly</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15 days </a:t>
                      </a:r>
                    </a:p>
                    <a:p>
                      <a:pPr algn="ctr"/>
                      <a:r>
                        <a:rPr lang="en-US" sz="1000">
                          <a:latin typeface="Arial" panose="020B0604020202020204" pitchFamily="34" charset="0"/>
                          <a:cs typeface="Arial" panose="020B0604020202020204" pitchFamily="34" charset="0"/>
                        </a:rPr>
                        <a:t>(First half or second half of month)</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rowSpan="3">
                  <a:txBody>
                    <a:bodyPr/>
                    <a:lstStyle/>
                    <a:p>
                      <a:pPr marL="0" marR="0" lvl="0" indent="0" algn="ctr" defTabSz="912572"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12:00 to 17:00 hours on trading days</a:t>
                      </a:r>
                    </a:p>
                  </a:txBody>
                  <a:tcPr marL="81725" marR="81725" marT="40862" marB="40862"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vMerge="1">
                  <a:txBody>
                    <a:bodyPr/>
                    <a:lstStyle/>
                    <a:p>
                      <a:endParaRPr lang="en-US" sz="1000"/>
                    </a:p>
                  </a:txBody>
                  <a:tcPr/>
                </a:tc>
                <a:extLst>
                  <a:ext uri="{0D108BD9-81ED-4DB2-BD59-A6C34878D82A}">
                    <a16:rowId xmlns:a16="http://schemas.microsoft.com/office/drawing/2014/main" val="715171142"/>
                  </a:ext>
                </a:extLst>
              </a:tr>
              <a:tr h="398409">
                <a:tc vMerge="1">
                  <a:txBody>
                    <a:bodyPr/>
                    <a:lstStyle/>
                    <a:p>
                      <a:endParaRPr lang="en-US" sz="1000"/>
                    </a:p>
                  </a:txBody>
                  <a:tcPr/>
                </a:tc>
                <a:tc>
                  <a:txBody>
                    <a:bodyPr/>
                    <a:lstStyle/>
                    <a:p>
                      <a:pPr algn="ctr"/>
                      <a:r>
                        <a:rPr lang="en-US" sz="1000">
                          <a:latin typeface="Arial" panose="020B0604020202020204" pitchFamily="34" charset="0"/>
                          <a:cs typeface="Arial" panose="020B0604020202020204" pitchFamily="34" charset="0"/>
                        </a:rPr>
                        <a:t>Monthly</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Monthly, quarterly, half-yearly, yearly, etc.</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vMerge="1">
                  <a:txBody>
                    <a:bodyPr/>
                    <a:lstStyle/>
                    <a:p>
                      <a:endParaRPr lang="en-US" sz="1000"/>
                    </a:p>
                  </a:txBody>
                  <a:tcPr/>
                </a:tc>
                <a:tc vMerge="1">
                  <a:txBody>
                    <a:bodyPr/>
                    <a:lstStyle/>
                    <a:p>
                      <a:endParaRPr lang="en-US" sz="1000"/>
                    </a:p>
                  </a:txBody>
                  <a:tcPr/>
                </a:tc>
                <a:extLst>
                  <a:ext uri="{0D108BD9-81ED-4DB2-BD59-A6C34878D82A}">
                    <a16:rowId xmlns:a16="http://schemas.microsoft.com/office/drawing/2014/main" val="829856641"/>
                  </a:ext>
                </a:extLst>
              </a:tr>
              <a:tr h="368012">
                <a:tc vMerge="1">
                  <a:txBody>
                    <a:bodyPr/>
                    <a:lstStyle/>
                    <a:p>
                      <a:endParaRPr lang="en-US" sz="1000"/>
                    </a:p>
                  </a:txBody>
                  <a:tcPr/>
                </a:tc>
                <a:tc>
                  <a:txBody>
                    <a:bodyPr/>
                    <a:lstStyle/>
                    <a:p>
                      <a:pPr algn="ctr"/>
                      <a:r>
                        <a:rPr lang="en-US" sz="1000">
                          <a:latin typeface="Arial" panose="020B0604020202020204" pitchFamily="34" charset="0"/>
                          <a:cs typeface="Arial" panose="020B0604020202020204" pitchFamily="34" charset="0"/>
                        </a:rPr>
                        <a:t>Any-day</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rowSpan="2">
                  <a:txBody>
                    <a:bodyPr/>
                    <a:lstStyle/>
                    <a:p>
                      <a:pPr algn="ctr"/>
                      <a:r>
                        <a:rPr lang="en-US" sz="1000">
                          <a:latin typeface="Arial" panose="020B0604020202020204" pitchFamily="34" charset="0"/>
                          <a:cs typeface="Arial" panose="020B0604020202020204" pitchFamily="34" charset="0"/>
                        </a:rPr>
                        <a:t>Any-day and any block: user defined</a:t>
                      </a:r>
                    </a:p>
                  </a:txBody>
                  <a:tcPr marL="81725" marR="81725" marT="40862" marB="40862"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vMerge="1">
                  <a:txBody>
                    <a:bodyPr/>
                    <a:lstStyle/>
                    <a:p>
                      <a:endParaRPr lang="en-US" sz="1000"/>
                    </a:p>
                  </a:txBody>
                  <a:tcPr/>
                </a:tc>
                <a:tc vMerge="1">
                  <a:txBody>
                    <a:bodyPr/>
                    <a:lstStyle/>
                    <a:p>
                      <a:endParaRPr lang="en-US" sz="1000"/>
                    </a:p>
                  </a:txBody>
                  <a:tcPr/>
                </a:tc>
                <a:extLst>
                  <a:ext uri="{0D108BD9-81ED-4DB2-BD59-A6C34878D82A}">
                    <a16:rowId xmlns:a16="http://schemas.microsoft.com/office/drawing/2014/main" val="3407231849"/>
                  </a:ext>
                </a:extLst>
              </a:tr>
              <a:tr h="398409">
                <a:tc vMerge="1">
                  <a:txBody>
                    <a:bodyPr/>
                    <a:lstStyle/>
                    <a:p>
                      <a:endParaRPr lang="en-US" sz="1000"/>
                    </a:p>
                  </a:txBody>
                  <a:tcPr/>
                </a:tc>
                <a:tc>
                  <a:txBody>
                    <a:bodyPr/>
                    <a:lstStyle/>
                    <a:p>
                      <a:pPr algn="ctr"/>
                      <a:r>
                        <a:rPr lang="en-US" sz="1000">
                          <a:latin typeface="Arial" panose="020B0604020202020204" pitchFamily="34" charset="0"/>
                          <a:cs typeface="Arial" panose="020B0604020202020204" pitchFamily="34" charset="0"/>
                        </a:rPr>
                        <a:t>Any-day single sided</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vMerge="1">
                  <a:txBody>
                    <a:bodyPr/>
                    <a:lstStyle/>
                    <a:p>
                      <a:pPr algn="ctr"/>
                      <a:endParaRPr lang="en-US" sz="1000"/>
                    </a:p>
                  </a:txBody>
                  <a:tcPr anchor="ctr"/>
                </a:tc>
                <a:tc>
                  <a:txBody>
                    <a:bodyPr/>
                    <a:lstStyle/>
                    <a:p>
                      <a:pPr algn="ctr"/>
                      <a:r>
                        <a:rPr lang="en-US" sz="1000">
                          <a:latin typeface="Arial" panose="020B0604020202020204" pitchFamily="34" charset="0"/>
                          <a:cs typeface="Arial" panose="020B0604020202020204" pitchFamily="34" charset="0"/>
                        </a:rPr>
                        <a:t>On trading day</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Reverse and forward auction bidding</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562539026"/>
                  </a:ext>
                </a:extLst>
              </a:tr>
              <a:tr h="398409">
                <a:tc>
                  <a:txBody>
                    <a:bodyPr/>
                    <a:lstStyle/>
                    <a:p>
                      <a:pPr algn="ctr"/>
                      <a:r>
                        <a:rPr lang="en-US" sz="1000">
                          <a:latin typeface="Arial" panose="020B0604020202020204" pitchFamily="34" charset="0"/>
                          <a:cs typeface="Arial" panose="020B0604020202020204" pitchFamily="34" charset="0"/>
                        </a:rPr>
                        <a:t>RTM</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Block-wise</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22:45 to 23:00 then 23:15 to 23:30 hours and so on.</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r>
                        <a:rPr lang="en-US" sz="1000">
                          <a:latin typeface="Arial" panose="020B0604020202020204" pitchFamily="34" charset="0"/>
                          <a:cs typeface="Arial" panose="020B0604020202020204" pitchFamily="34" charset="0"/>
                        </a:rPr>
                        <a:t>Closed, double-sided auction</a:t>
                      </a:r>
                    </a:p>
                  </a:txBody>
                  <a:tcPr marL="89897" marR="89897" marT="44948" marB="44948"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1972656805"/>
                  </a:ext>
                </a:extLst>
              </a:tr>
            </a:tbl>
          </a:graphicData>
        </a:graphic>
      </p:graphicFrame>
      <p:sp>
        <p:nvSpPr>
          <p:cNvPr id="2" name="Arrow: Right 1">
            <a:hlinkClick r:id="rId6" action="ppaction://hlinksldjump"/>
            <a:extLst>
              <a:ext uri="{FF2B5EF4-FFF2-40B4-BE49-F238E27FC236}">
                <a16:creationId xmlns:a16="http://schemas.microsoft.com/office/drawing/2014/main" id="{2EDED076-6C12-F8ED-D34B-A170D21944FC}"/>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56039683"/>
      </p:ext>
    </p:extLst>
  </p:cSld>
  <p:clrMapOvr>
    <a:masterClrMapping/>
  </p:clrMapOvr>
  <p:transition>
    <p:fade/>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300433203"/>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2000" b="1">
                <a:latin typeface="Arial" panose="020B0604020202020204" pitchFamily="34" charset="0"/>
                <a:cs typeface="Arial" panose="020B0604020202020204" pitchFamily="34" charset="0"/>
              </a:rPr>
              <a:t>Power exchange - IEX</a:t>
            </a:r>
            <a:endParaRPr lang="en-GB" sz="20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r>
              <a:rPr lang="en-US" sz="1400">
                <a:latin typeface="Arial" panose="020B0604020202020204" pitchFamily="34" charset="0"/>
                <a:cs typeface="Arial" panose="020B0604020202020204" pitchFamily="34" charset="0"/>
              </a:rPr>
              <a:t>Fees and deposit structure</a:t>
            </a:r>
          </a:p>
        </p:txBody>
      </p:sp>
      <p:sp>
        <p:nvSpPr>
          <p:cNvPr id="497" name="TextBox 496">
            <a:extLst>
              <a:ext uri="{FF2B5EF4-FFF2-40B4-BE49-F238E27FC236}">
                <a16:creationId xmlns:a16="http://schemas.microsoft.com/office/drawing/2014/main" id="{E3CD61BF-5158-2CE6-D4D0-D211D840411E}"/>
              </a:ext>
            </a:extLst>
          </p:cNvPr>
          <p:cNvSpPr txBox="1"/>
          <p:nvPr/>
        </p:nvSpPr>
        <p:spPr>
          <a:xfrm>
            <a:off x="447675" y="6596933"/>
            <a:ext cx="609600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IEX, Deloitte analysis</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graphicFrame>
        <p:nvGraphicFramePr>
          <p:cNvPr id="8" name="Table 7">
            <a:extLst>
              <a:ext uri="{FF2B5EF4-FFF2-40B4-BE49-F238E27FC236}">
                <a16:creationId xmlns:a16="http://schemas.microsoft.com/office/drawing/2014/main" id="{6393571E-F351-A9FD-EE56-BA028BE1C347}"/>
              </a:ext>
            </a:extLst>
          </p:cNvPr>
          <p:cNvGraphicFramePr>
            <a:graphicFrameLocks noGrp="1"/>
          </p:cNvGraphicFramePr>
          <p:nvPr>
            <p:extLst>
              <p:ext uri="{D42A27DB-BD31-4B8C-83A1-F6EECF244321}">
                <p14:modId xmlns:p14="http://schemas.microsoft.com/office/powerpoint/2010/main" val="2514668053"/>
              </p:ext>
            </p:extLst>
          </p:nvPr>
        </p:nvGraphicFramePr>
        <p:xfrm>
          <a:off x="501650" y="1665288"/>
          <a:ext cx="11188700" cy="4091378"/>
        </p:xfrm>
        <a:graphic>
          <a:graphicData uri="http://schemas.openxmlformats.org/drawingml/2006/table">
            <a:tbl>
              <a:tblPr firstRow="1" bandRow="1">
                <a:tableStyleId>{9DCAF9ED-07DC-4A11-8D7F-57B35C25682E}</a:tableStyleId>
              </a:tblPr>
              <a:tblGrid>
                <a:gridCol w="2636965">
                  <a:extLst>
                    <a:ext uri="{9D8B030D-6E8A-4147-A177-3AD203B41FA5}">
                      <a16:colId xmlns:a16="http://schemas.microsoft.com/office/drawing/2014/main" val="1163651697"/>
                    </a:ext>
                  </a:extLst>
                </a:gridCol>
                <a:gridCol w="3289439">
                  <a:extLst>
                    <a:ext uri="{9D8B030D-6E8A-4147-A177-3AD203B41FA5}">
                      <a16:colId xmlns:a16="http://schemas.microsoft.com/office/drawing/2014/main" val="791960314"/>
                    </a:ext>
                  </a:extLst>
                </a:gridCol>
                <a:gridCol w="2631148">
                  <a:extLst>
                    <a:ext uri="{9D8B030D-6E8A-4147-A177-3AD203B41FA5}">
                      <a16:colId xmlns:a16="http://schemas.microsoft.com/office/drawing/2014/main" val="1656170921"/>
                    </a:ext>
                  </a:extLst>
                </a:gridCol>
                <a:gridCol w="2631148">
                  <a:extLst>
                    <a:ext uri="{9D8B030D-6E8A-4147-A177-3AD203B41FA5}">
                      <a16:colId xmlns:a16="http://schemas.microsoft.com/office/drawing/2014/main" val="3711113663"/>
                    </a:ext>
                  </a:extLst>
                </a:gridCol>
              </a:tblGrid>
              <a:tr h="439571">
                <a:tc>
                  <a:txBody>
                    <a:bodyPr/>
                    <a:lstStyle/>
                    <a:p>
                      <a:pPr algn="ctr">
                        <a:spcAft>
                          <a:spcPts val="0"/>
                        </a:spcAft>
                      </a:pPr>
                      <a:r>
                        <a:rPr lang="en-US" sz="1000" b="0" cap="none" spc="0">
                          <a:solidFill>
                            <a:schemeClr val="bg1"/>
                          </a:solidFill>
                          <a:effectLst/>
                          <a:latin typeface="Arial" panose="020B0604020202020204" pitchFamily="34" charset="0"/>
                          <a:cs typeface="Arial" panose="020B0604020202020204" pitchFamily="34" charset="0"/>
                        </a:rPr>
                        <a:t>Segment –</a:t>
                      </a:r>
                    </a:p>
                    <a:p>
                      <a:pPr algn="ctr">
                        <a:spcAft>
                          <a:spcPts val="0"/>
                        </a:spcAft>
                      </a:pPr>
                      <a:r>
                        <a:rPr lang="en-US" sz="1000" b="0" cap="none" spc="0">
                          <a:solidFill>
                            <a:schemeClr val="bg1"/>
                          </a:solidFill>
                          <a:effectLst/>
                          <a:latin typeface="Arial" panose="020B0604020202020204" pitchFamily="34" charset="0"/>
                          <a:cs typeface="Arial" panose="020B0604020202020204" pitchFamily="34" charset="0"/>
                        </a:rPr>
                        <a:t>Type of Membership</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solidFill>
                      <a:schemeClr val="accent4"/>
                    </a:solidFill>
                  </a:tcPr>
                </a:tc>
                <a:tc>
                  <a:txBody>
                    <a:bodyPr/>
                    <a:lstStyle/>
                    <a:p>
                      <a:pPr algn="ctr">
                        <a:spcAft>
                          <a:spcPts val="0"/>
                        </a:spcAft>
                      </a:pPr>
                      <a:r>
                        <a:rPr lang="en-US" sz="1000" b="0" cap="none" spc="0">
                          <a:solidFill>
                            <a:schemeClr val="bg1"/>
                          </a:solidFill>
                          <a:effectLst/>
                          <a:latin typeface="Arial" panose="020B0604020202020204" pitchFamily="34" charset="0"/>
                          <a:cs typeface="Arial" panose="020B0604020202020204" pitchFamily="34" charset="0"/>
                        </a:rPr>
                        <a:t>Electricity</a:t>
                      </a:r>
                    </a:p>
                    <a:p>
                      <a:pPr algn="ctr">
                        <a:spcAft>
                          <a:spcPts val="0"/>
                        </a:spcAft>
                      </a:pPr>
                      <a:r>
                        <a:rPr lang="en-US" sz="1000" b="0" cap="none" spc="0">
                          <a:solidFill>
                            <a:schemeClr val="bg1"/>
                          </a:solidFill>
                          <a:effectLst/>
                          <a:latin typeface="Arial" panose="020B0604020202020204" pitchFamily="34" charset="0"/>
                          <a:cs typeface="Arial" panose="020B0604020202020204" pitchFamily="34" charset="0"/>
                        </a:rPr>
                        <a:t>(Trader/Facilitator/Proprietary)</a:t>
                      </a:r>
                    </a:p>
                  </a:txBody>
                  <a:tcPr marL="75517" marR="43567" marT="58090" marB="5809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solidFill>
                      <a:schemeClr val="accent4"/>
                    </a:solidFill>
                  </a:tcPr>
                </a:tc>
                <a:tc>
                  <a:txBody>
                    <a:bodyPr/>
                    <a:lstStyle/>
                    <a:p>
                      <a:pPr algn="ctr">
                        <a:spcAft>
                          <a:spcPts val="0"/>
                        </a:spcAft>
                      </a:pPr>
                      <a:r>
                        <a:rPr lang="en-US" sz="1000" b="0" cap="none" spc="0">
                          <a:solidFill>
                            <a:schemeClr val="bg1"/>
                          </a:solidFill>
                          <a:effectLst/>
                          <a:latin typeface="Arial" panose="020B0604020202020204" pitchFamily="34" charset="0"/>
                          <a:cs typeface="Arial" panose="020B0604020202020204" pitchFamily="34" charset="0"/>
                        </a:rPr>
                        <a:t>REC</a:t>
                      </a:r>
                    </a:p>
                    <a:p>
                      <a:pPr algn="ctr">
                        <a:spcAft>
                          <a:spcPts val="0"/>
                        </a:spcAft>
                      </a:pPr>
                      <a:r>
                        <a:rPr lang="en-US" sz="1000" b="0" cap="none" spc="0">
                          <a:solidFill>
                            <a:schemeClr val="bg1"/>
                          </a:solidFill>
                          <a:effectLst/>
                          <a:latin typeface="Arial" panose="020B0604020202020204" pitchFamily="34" charset="0"/>
                          <a:cs typeface="Arial" panose="020B0604020202020204" pitchFamily="34" charset="0"/>
                        </a:rPr>
                        <a:t>(Trader/Facilitator/ Proprietary)</a:t>
                      </a:r>
                    </a:p>
                  </a:txBody>
                  <a:tcPr marL="75517" marR="43567" marT="58090" marB="5809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solidFill>
                      <a:schemeClr val="accent4"/>
                    </a:solidFill>
                  </a:tcPr>
                </a:tc>
                <a:tc>
                  <a:txBody>
                    <a:bodyPr/>
                    <a:lstStyle/>
                    <a:p>
                      <a:pPr algn="ctr">
                        <a:spcAft>
                          <a:spcPts val="0"/>
                        </a:spcAft>
                      </a:pPr>
                      <a:r>
                        <a:rPr lang="en-US" sz="1000" b="0" cap="none" spc="0">
                          <a:solidFill>
                            <a:schemeClr val="bg1"/>
                          </a:solidFill>
                          <a:effectLst/>
                          <a:latin typeface="Arial" panose="020B0604020202020204" pitchFamily="34" charset="0"/>
                          <a:cs typeface="Arial" panose="020B0604020202020204" pitchFamily="34" charset="0"/>
                        </a:rPr>
                        <a:t>ESCerts</a:t>
                      </a:r>
                    </a:p>
                    <a:p>
                      <a:pPr algn="ctr">
                        <a:spcAft>
                          <a:spcPts val="0"/>
                        </a:spcAft>
                      </a:pPr>
                      <a:r>
                        <a:rPr lang="en-US" sz="1000" b="0" cap="none" spc="0">
                          <a:solidFill>
                            <a:schemeClr val="bg1"/>
                          </a:solidFill>
                          <a:effectLst/>
                          <a:latin typeface="Arial" panose="020B0604020202020204" pitchFamily="34" charset="0"/>
                          <a:cs typeface="Arial" panose="020B0604020202020204" pitchFamily="34" charset="0"/>
                        </a:rPr>
                        <a:t>(Trader/Facilitator/ Proprietary)</a:t>
                      </a:r>
                    </a:p>
                  </a:txBody>
                  <a:tcPr marL="75517" marR="43567" marT="58090" marB="58090" anchor="ctr">
                    <a:lnL w="6350" cap="flat" cmpd="sng" algn="ctr">
                      <a:solidFill>
                        <a:schemeClr val="bg1"/>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solidFill>
                      <a:schemeClr val="accent4"/>
                    </a:solidFill>
                  </a:tcPr>
                </a:tc>
                <a:extLst>
                  <a:ext uri="{0D108BD9-81ED-4DB2-BD59-A6C34878D82A}">
                    <a16:rowId xmlns:a16="http://schemas.microsoft.com/office/drawing/2014/main" val="917142939"/>
                  </a:ext>
                </a:extLst>
              </a:tr>
              <a:tr h="439571">
                <a:tc>
                  <a:txBody>
                    <a:bodyPr/>
                    <a:lstStyle/>
                    <a:p>
                      <a:pPr algn="just">
                        <a:spcAft>
                          <a:spcPts val="0"/>
                        </a:spcAft>
                      </a:pPr>
                      <a:r>
                        <a:rPr lang="en-US" sz="1000" b="1" cap="none" spc="0">
                          <a:solidFill>
                            <a:schemeClr val="tx1"/>
                          </a:solidFill>
                          <a:effectLst/>
                          <a:latin typeface="Arial" panose="020B0604020202020204" pitchFamily="34" charset="0"/>
                          <a:cs typeface="Arial" panose="020B0604020202020204" pitchFamily="34" charset="0"/>
                        </a:rPr>
                        <a:t>Eligible for Trading</a:t>
                      </a:r>
                      <a:endParaRPr lang="en-US" sz="1000" cap="none" spc="0">
                        <a:solidFill>
                          <a:schemeClr val="tx1"/>
                        </a:solidFill>
                        <a:effectLst/>
                        <a:latin typeface="Arial" panose="020B0604020202020204" pitchFamily="34" charset="0"/>
                        <a:cs typeface="Arial" panose="020B0604020202020204" pitchFamily="34" charset="0"/>
                      </a:endParaRP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Electricity + REC + ESCerts</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REC + ESCerts</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ESCerts</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1964338498"/>
                  </a:ext>
                </a:extLst>
              </a:tr>
              <a:tr h="439571">
                <a:tc>
                  <a:txBody>
                    <a:bodyPr/>
                    <a:lstStyle/>
                    <a:p>
                      <a:pPr algn="just">
                        <a:spcAft>
                          <a:spcPts val="0"/>
                        </a:spcAft>
                      </a:pPr>
                      <a:r>
                        <a:rPr lang="en-US" sz="1000" b="1" cap="none" spc="0">
                          <a:solidFill>
                            <a:schemeClr val="tx1"/>
                          </a:solidFill>
                          <a:effectLst/>
                          <a:latin typeface="Arial" panose="020B0604020202020204" pitchFamily="34" charset="0"/>
                          <a:cs typeface="Arial" panose="020B0604020202020204" pitchFamily="34" charset="0"/>
                        </a:rPr>
                        <a:t>Admission Fee</a:t>
                      </a:r>
                      <a:endParaRPr lang="en-US" sz="1000" cap="none" spc="0">
                        <a:solidFill>
                          <a:schemeClr val="tx1"/>
                        </a:solidFill>
                        <a:effectLst/>
                        <a:latin typeface="Arial" panose="020B0604020202020204" pitchFamily="34" charset="0"/>
                        <a:cs typeface="Arial" panose="020B0604020202020204" pitchFamily="34" charset="0"/>
                      </a:endParaRP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3.5</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1</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0.5</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1010587152"/>
                  </a:ext>
                </a:extLst>
              </a:tr>
              <a:tr h="439571">
                <a:tc>
                  <a:txBody>
                    <a:bodyPr/>
                    <a:lstStyle/>
                    <a:p>
                      <a:pPr algn="just">
                        <a:spcAft>
                          <a:spcPts val="0"/>
                        </a:spcAft>
                      </a:pPr>
                      <a:r>
                        <a:rPr lang="en-US" sz="1000" b="1" cap="none" spc="0">
                          <a:solidFill>
                            <a:schemeClr val="tx1"/>
                          </a:solidFill>
                          <a:effectLst/>
                          <a:latin typeface="Arial" panose="020B0604020202020204" pitchFamily="34" charset="0"/>
                          <a:cs typeface="Arial" panose="020B0604020202020204" pitchFamily="34" charset="0"/>
                        </a:rPr>
                        <a:t>Security Deposit</a:t>
                      </a:r>
                      <a:endParaRPr lang="en-US" sz="1000" cap="none" spc="0">
                        <a:solidFill>
                          <a:schemeClr val="tx1"/>
                        </a:solidFill>
                        <a:effectLst/>
                        <a:latin typeface="Arial" panose="020B0604020202020204" pitchFamily="34" charset="0"/>
                        <a:cs typeface="Arial" panose="020B0604020202020204" pitchFamily="34" charset="0"/>
                      </a:endParaRP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2.5</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0.5</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2.5</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526037375"/>
                  </a:ext>
                </a:extLst>
              </a:tr>
              <a:tr h="439571">
                <a:tc>
                  <a:txBody>
                    <a:bodyPr/>
                    <a:lstStyle/>
                    <a:p>
                      <a:pPr algn="just">
                        <a:spcAft>
                          <a:spcPts val="0"/>
                        </a:spcAft>
                      </a:pPr>
                      <a:r>
                        <a:rPr lang="en-US" sz="1000" b="1" cap="none" spc="0">
                          <a:solidFill>
                            <a:schemeClr val="tx1"/>
                          </a:solidFill>
                          <a:effectLst/>
                          <a:latin typeface="Arial" panose="020B0604020202020204" pitchFamily="34" charset="0"/>
                          <a:cs typeface="Arial" panose="020B0604020202020204" pitchFamily="34" charset="0"/>
                        </a:rPr>
                        <a:t>Processing Fee</a:t>
                      </a:r>
                      <a:endParaRPr lang="en-US" sz="1000" cap="none" spc="0">
                        <a:solidFill>
                          <a:schemeClr val="tx1"/>
                        </a:solidFill>
                        <a:effectLst/>
                        <a:latin typeface="Arial" panose="020B0604020202020204" pitchFamily="34" charset="0"/>
                        <a:cs typeface="Arial" panose="020B0604020202020204" pitchFamily="34" charset="0"/>
                      </a:endParaRP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0.01</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0.51</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0.01</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951100593"/>
                  </a:ext>
                </a:extLst>
              </a:tr>
              <a:tr h="439571">
                <a:tc>
                  <a:txBody>
                    <a:bodyPr/>
                    <a:lstStyle/>
                    <a:p>
                      <a:pPr algn="just">
                        <a:spcAft>
                          <a:spcPts val="0"/>
                        </a:spcAft>
                      </a:pPr>
                      <a:r>
                        <a:rPr lang="en-US" sz="1000" b="1" cap="none" spc="0">
                          <a:solidFill>
                            <a:schemeClr val="tx1"/>
                          </a:solidFill>
                          <a:effectLst/>
                          <a:latin typeface="Arial" panose="020B0604020202020204" pitchFamily="34" charset="0"/>
                          <a:cs typeface="Arial" panose="020B0604020202020204" pitchFamily="34" charset="0"/>
                        </a:rPr>
                        <a:t>Annual Subscription Fee</a:t>
                      </a:r>
                      <a:endParaRPr lang="en-US" sz="1000" cap="none" spc="0">
                        <a:solidFill>
                          <a:schemeClr val="tx1"/>
                        </a:solidFill>
                        <a:effectLst/>
                        <a:latin typeface="Arial" panose="020B0604020202020204" pitchFamily="34" charset="0"/>
                        <a:cs typeface="Arial" panose="020B0604020202020204" pitchFamily="34" charset="0"/>
                      </a:endParaRP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0.5</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0.2</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0.1 (Per Pat cycle)</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3395895397"/>
                  </a:ext>
                </a:extLst>
              </a:tr>
              <a:tr h="439571">
                <a:tc>
                  <a:txBody>
                    <a:bodyPr/>
                    <a:lstStyle/>
                    <a:p>
                      <a:pPr algn="just">
                        <a:spcAft>
                          <a:spcPts val="0"/>
                        </a:spcAft>
                      </a:pPr>
                      <a:r>
                        <a:rPr lang="en-US" sz="1000" b="1" cap="none" spc="0">
                          <a:solidFill>
                            <a:schemeClr val="tx1"/>
                          </a:solidFill>
                          <a:effectLst/>
                          <a:latin typeface="Arial" panose="020B0604020202020204" pitchFamily="34" charset="0"/>
                          <a:cs typeface="Arial" panose="020B0604020202020204" pitchFamily="34" charset="0"/>
                        </a:rPr>
                        <a:t>IEX Transaction Fee</a:t>
                      </a:r>
                      <a:endParaRPr lang="en-US" sz="1000" cap="none" spc="0">
                        <a:solidFill>
                          <a:schemeClr val="tx1"/>
                        </a:solidFill>
                        <a:effectLst/>
                        <a:latin typeface="Arial" panose="020B0604020202020204" pitchFamily="34" charset="0"/>
                        <a:cs typeface="Arial" panose="020B0604020202020204" pitchFamily="34" charset="0"/>
                      </a:endParaRPr>
                    </a:p>
                    <a:p>
                      <a:pPr algn="just">
                        <a:spcAft>
                          <a:spcPts val="0"/>
                        </a:spcAft>
                      </a:pPr>
                      <a:r>
                        <a:rPr lang="en-US" sz="1000" b="1" cap="none" spc="0">
                          <a:solidFill>
                            <a:schemeClr val="tx1"/>
                          </a:solidFill>
                          <a:effectLst/>
                          <a:latin typeface="Arial" panose="020B0604020202020204" pitchFamily="34" charset="0"/>
                          <a:cs typeface="Arial" panose="020B0604020202020204" pitchFamily="34" charset="0"/>
                        </a:rPr>
                        <a:t>(Rs/MWh or REC or ESCerts)</a:t>
                      </a:r>
                      <a:endParaRPr lang="en-US" sz="1000" cap="none" spc="0">
                        <a:solidFill>
                          <a:schemeClr val="tx1"/>
                        </a:solidFill>
                        <a:effectLst/>
                        <a:latin typeface="Arial" panose="020B0604020202020204" pitchFamily="34" charset="0"/>
                        <a:cs typeface="Arial" panose="020B0604020202020204" pitchFamily="34" charset="0"/>
                      </a:endParaRP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2</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2</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2</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401859314"/>
                  </a:ext>
                </a:extLst>
              </a:tr>
              <a:tr h="439571">
                <a:tc>
                  <a:txBody>
                    <a:bodyPr/>
                    <a:lstStyle/>
                    <a:p>
                      <a:pPr algn="just">
                        <a:spcAft>
                          <a:spcPts val="0"/>
                        </a:spcAft>
                      </a:pPr>
                      <a:r>
                        <a:rPr lang="en-US" sz="1000" b="1" cap="none" spc="0">
                          <a:solidFill>
                            <a:schemeClr val="tx1"/>
                          </a:solidFill>
                          <a:effectLst/>
                          <a:latin typeface="Arial" panose="020B0604020202020204" pitchFamily="34" charset="0"/>
                          <a:cs typeface="Arial" panose="020B0604020202020204" pitchFamily="34" charset="0"/>
                        </a:rPr>
                        <a:t>Annual Client /Portfolio</a:t>
                      </a:r>
                      <a:endParaRPr lang="en-US" sz="1000" cap="none" spc="0">
                        <a:solidFill>
                          <a:schemeClr val="tx1"/>
                        </a:solidFill>
                        <a:effectLst/>
                        <a:latin typeface="Arial" panose="020B0604020202020204" pitchFamily="34" charset="0"/>
                        <a:cs typeface="Arial" panose="020B0604020202020204" pitchFamily="34" charset="0"/>
                      </a:endParaRPr>
                    </a:p>
                    <a:p>
                      <a:pPr algn="just">
                        <a:spcAft>
                          <a:spcPts val="0"/>
                        </a:spcAft>
                      </a:pPr>
                      <a:r>
                        <a:rPr lang="en-US" sz="1000" b="1" cap="none" spc="0">
                          <a:solidFill>
                            <a:schemeClr val="tx1"/>
                          </a:solidFill>
                          <a:effectLst/>
                          <a:latin typeface="Arial" panose="020B0604020202020204" pitchFamily="34" charset="0"/>
                          <a:cs typeface="Arial" panose="020B0604020202020204" pitchFamily="34" charset="0"/>
                        </a:rPr>
                        <a:t>Subscription Fee</a:t>
                      </a:r>
                      <a:endParaRPr lang="en-US" sz="1000" cap="none" spc="0">
                        <a:solidFill>
                          <a:schemeClr val="tx1"/>
                        </a:solidFill>
                        <a:effectLst/>
                        <a:latin typeface="Arial" panose="020B0604020202020204" pitchFamily="34" charset="0"/>
                        <a:cs typeface="Arial" panose="020B0604020202020204" pitchFamily="34" charset="0"/>
                      </a:endParaRP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0.1</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0.02</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0.020(Per Pat Cycle)</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3092805676"/>
                  </a:ext>
                </a:extLst>
              </a:tr>
              <a:tr h="574810">
                <a:tc>
                  <a:txBody>
                    <a:bodyPr/>
                    <a:lstStyle/>
                    <a:p>
                      <a:pPr algn="just">
                        <a:spcAft>
                          <a:spcPts val="0"/>
                        </a:spcAft>
                      </a:pPr>
                      <a:r>
                        <a:rPr lang="en-US" sz="1000" b="1" cap="none" spc="0">
                          <a:solidFill>
                            <a:schemeClr val="tx1"/>
                          </a:solidFill>
                          <a:effectLst/>
                          <a:latin typeface="Arial" panose="020B0604020202020204" pitchFamily="34" charset="0"/>
                          <a:cs typeface="Arial" panose="020B0604020202020204" pitchFamily="34" charset="0"/>
                        </a:rPr>
                        <a:t>Minimum Net Worth</a:t>
                      </a:r>
                      <a:endParaRPr lang="en-US" sz="1000" cap="none" spc="0">
                        <a:solidFill>
                          <a:schemeClr val="tx1"/>
                        </a:solidFill>
                        <a:effectLst/>
                        <a:latin typeface="Arial" panose="020B0604020202020204" pitchFamily="34" charset="0"/>
                        <a:cs typeface="Arial" panose="020B0604020202020204" pitchFamily="34" charset="0"/>
                      </a:endParaRP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15</a:t>
                      </a:r>
                    </a:p>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(Only for Facilitator and Proprietary member)</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5</a:t>
                      </a:r>
                    </a:p>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(Only for Facilitator member)</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tc>
                  <a:txBody>
                    <a:bodyPr/>
                    <a:lstStyle/>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5</a:t>
                      </a:r>
                    </a:p>
                    <a:p>
                      <a:pPr algn="ctr">
                        <a:spcAft>
                          <a:spcPts val="0"/>
                        </a:spcAft>
                      </a:pPr>
                      <a:r>
                        <a:rPr lang="en-US" sz="1000" b="0" cap="none" spc="0">
                          <a:solidFill>
                            <a:schemeClr val="tx1"/>
                          </a:solidFill>
                          <a:effectLst/>
                          <a:latin typeface="Arial" panose="020B0604020202020204" pitchFamily="34" charset="0"/>
                          <a:cs typeface="Arial" panose="020B0604020202020204" pitchFamily="34" charset="0"/>
                        </a:rPr>
                        <a:t>(Only for Facilitator member)</a:t>
                      </a:r>
                    </a:p>
                  </a:txBody>
                  <a:tcPr marL="75517" marR="43567" marT="58090" marB="58090" anchor="ctr">
                    <a:lnL w="6350" cap="flat" cmpd="sng" algn="ctr">
                      <a:solidFill>
                        <a:schemeClr val="accent4"/>
                      </a:solidFill>
                      <a:prstDash val="solid"/>
                      <a:round/>
                      <a:headEnd type="none" w="med" len="med"/>
                      <a:tailEnd type="none" w="med" len="med"/>
                    </a:lnL>
                    <a:lnR w="6350" cap="flat" cmpd="sng" algn="ctr">
                      <a:solidFill>
                        <a:schemeClr val="accent4"/>
                      </a:solidFill>
                      <a:prstDash val="solid"/>
                      <a:round/>
                      <a:headEnd type="none" w="med" len="med"/>
                      <a:tailEnd type="none" w="med" len="med"/>
                    </a:lnR>
                    <a:lnT w="6350" cap="flat" cmpd="sng" algn="ctr">
                      <a:solidFill>
                        <a:schemeClr val="accent4"/>
                      </a:solidFill>
                      <a:prstDash val="solid"/>
                      <a:round/>
                      <a:headEnd type="none" w="med" len="med"/>
                      <a:tailEnd type="none" w="med" len="med"/>
                    </a:lnT>
                    <a:lnB w="63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3696256416"/>
                  </a:ext>
                </a:extLst>
              </a:tr>
            </a:tbl>
          </a:graphicData>
        </a:graphic>
      </p:graphicFrame>
      <p:sp>
        <p:nvSpPr>
          <p:cNvPr id="4" name="Arrow: Right 3">
            <a:hlinkClick r:id="rId6" action="ppaction://hlinksldjump"/>
            <a:extLst>
              <a:ext uri="{FF2B5EF4-FFF2-40B4-BE49-F238E27FC236}">
                <a16:creationId xmlns:a16="http://schemas.microsoft.com/office/drawing/2014/main" id="{EEE1EA1A-497C-6B29-9CAC-65FDA0312D6A}"/>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02488252"/>
      </p:ext>
    </p:extLst>
  </p:cSld>
  <p:clrMapOvr>
    <a:masterClrMapping/>
  </p:clrMapOvr>
  <p:transition>
    <p:fade/>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116660400"/>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2000">
                <a:latin typeface="Arial" panose="020B0604020202020204" pitchFamily="34" charset="0"/>
                <a:cs typeface="Arial" panose="020B0604020202020204" pitchFamily="34" charset="0"/>
              </a:rPr>
              <a:t>Power exchange - PXIL</a:t>
            </a:r>
            <a:endParaRPr lang="en-GB" sz="20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r>
              <a:rPr lang="en-US" sz="1400">
                <a:latin typeface="Arial" panose="020B0604020202020204" pitchFamily="34" charset="0"/>
                <a:cs typeface="Arial" panose="020B0604020202020204" pitchFamily="34" charset="0"/>
              </a:rPr>
              <a:t>Fees and deposit structure</a:t>
            </a:r>
          </a:p>
        </p:txBody>
      </p:sp>
      <p:sp>
        <p:nvSpPr>
          <p:cNvPr id="497" name="TextBox 496">
            <a:extLst>
              <a:ext uri="{FF2B5EF4-FFF2-40B4-BE49-F238E27FC236}">
                <a16:creationId xmlns:a16="http://schemas.microsoft.com/office/drawing/2014/main" id="{E3CD61BF-5158-2CE6-D4D0-D211D840411E}"/>
              </a:ext>
            </a:extLst>
          </p:cNvPr>
          <p:cNvSpPr txBox="1"/>
          <p:nvPr/>
        </p:nvSpPr>
        <p:spPr>
          <a:xfrm>
            <a:off x="447675" y="6596933"/>
            <a:ext cx="609600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PXIL, Deloitte analysis</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graphicFrame>
        <p:nvGraphicFramePr>
          <p:cNvPr id="7" name="Table 6">
            <a:extLst>
              <a:ext uri="{FF2B5EF4-FFF2-40B4-BE49-F238E27FC236}">
                <a16:creationId xmlns:a16="http://schemas.microsoft.com/office/drawing/2014/main" id="{4AB11C85-CC1F-DD12-0765-8E9C2523919C}"/>
              </a:ext>
            </a:extLst>
          </p:cNvPr>
          <p:cNvGraphicFramePr>
            <a:graphicFrameLocks noGrp="1"/>
          </p:cNvGraphicFramePr>
          <p:nvPr>
            <p:extLst>
              <p:ext uri="{D42A27DB-BD31-4B8C-83A1-F6EECF244321}">
                <p14:modId xmlns:p14="http://schemas.microsoft.com/office/powerpoint/2010/main" val="1248230871"/>
              </p:ext>
            </p:extLst>
          </p:nvPr>
        </p:nvGraphicFramePr>
        <p:xfrm>
          <a:off x="495299" y="1676400"/>
          <a:ext cx="5401003" cy="1866901"/>
        </p:xfrm>
        <a:graphic>
          <a:graphicData uri="http://schemas.openxmlformats.org/drawingml/2006/table">
            <a:tbl>
              <a:tblPr firstRow="1" firstCol="1" bandRow="1">
                <a:tableStyleId>{21E4AEA4-8DFA-4A89-87EB-49C32662AFE0}</a:tableStyleId>
              </a:tblPr>
              <a:tblGrid>
                <a:gridCol w="321711">
                  <a:extLst>
                    <a:ext uri="{9D8B030D-6E8A-4147-A177-3AD203B41FA5}">
                      <a16:colId xmlns:a16="http://schemas.microsoft.com/office/drawing/2014/main" val="1784267581"/>
                    </a:ext>
                  </a:extLst>
                </a:gridCol>
                <a:gridCol w="1859824">
                  <a:extLst>
                    <a:ext uri="{9D8B030D-6E8A-4147-A177-3AD203B41FA5}">
                      <a16:colId xmlns:a16="http://schemas.microsoft.com/office/drawing/2014/main" val="1288709503"/>
                    </a:ext>
                  </a:extLst>
                </a:gridCol>
                <a:gridCol w="804867">
                  <a:extLst>
                    <a:ext uri="{9D8B030D-6E8A-4147-A177-3AD203B41FA5}">
                      <a16:colId xmlns:a16="http://schemas.microsoft.com/office/drawing/2014/main" val="3593577949"/>
                    </a:ext>
                  </a:extLst>
                </a:gridCol>
                <a:gridCol w="804867">
                  <a:extLst>
                    <a:ext uri="{9D8B030D-6E8A-4147-A177-3AD203B41FA5}">
                      <a16:colId xmlns:a16="http://schemas.microsoft.com/office/drawing/2014/main" val="3776773710"/>
                    </a:ext>
                  </a:extLst>
                </a:gridCol>
                <a:gridCol w="804867">
                  <a:extLst>
                    <a:ext uri="{9D8B030D-6E8A-4147-A177-3AD203B41FA5}">
                      <a16:colId xmlns:a16="http://schemas.microsoft.com/office/drawing/2014/main" val="2182877122"/>
                    </a:ext>
                  </a:extLst>
                </a:gridCol>
                <a:gridCol w="804867">
                  <a:extLst>
                    <a:ext uri="{9D8B030D-6E8A-4147-A177-3AD203B41FA5}">
                      <a16:colId xmlns:a16="http://schemas.microsoft.com/office/drawing/2014/main" val="2395797139"/>
                    </a:ext>
                  </a:extLst>
                </a:gridCol>
              </a:tblGrid>
              <a:tr h="211926">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4"/>
                    </a:solidFill>
                  </a:tcPr>
                </a:tc>
                <a:tc gridSpan="5">
                  <a:txBody>
                    <a:bodyPr/>
                    <a:lstStyle/>
                    <a:p>
                      <a:pPr marL="0" marR="0"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ALL SEGMENT (PHYSICAL, REC &amp; </a:t>
                      </a:r>
                      <a:r>
                        <a:rPr lang="en-US" sz="800" b="1" kern="1200">
                          <a:solidFill>
                            <a:schemeClr val="lt1"/>
                          </a:solidFill>
                          <a:effectLst/>
                          <a:latin typeface="Arial" panose="020B0604020202020204" pitchFamily="34" charset="0"/>
                          <a:ea typeface="+mn-ea"/>
                          <a:cs typeface="Arial" panose="020B0604020202020204" pitchFamily="34" charset="0"/>
                        </a:rPr>
                        <a:t>ESCERTS) (In INR)</a:t>
                      </a: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4"/>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pPr marL="0" marR="0">
                        <a:lnSpc>
                          <a:spcPct val="107000"/>
                        </a:lnSpc>
                        <a:spcBef>
                          <a:spcPts val="0"/>
                        </a:spcBef>
                        <a:spcAft>
                          <a:spcPts val="0"/>
                        </a:spcAft>
                      </a:pPr>
                      <a:r>
                        <a:rPr lang="en-US" sz="900">
                          <a:effectLst/>
                        </a:rPr>
                        <a:t>) </a:t>
                      </a:r>
                      <a:endParaRPr lang="en-US" sz="110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0" marR="11430" marT="1905" marB="0"/>
                </a:tc>
                <a:extLst>
                  <a:ext uri="{0D108BD9-81ED-4DB2-BD59-A6C34878D82A}">
                    <a16:rowId xmlns:a16="http://schemas.microsoft.com/office/drawing/2014/main" val="315296312"/>
                  </a:ext>
                </a:extLst>
              </a:tr>
              <a:tr h="296696">
                <a:tc>
                  <a:txBody>
                    <a:bodyPr/>
                    <a:lstStyle/>
                    <a:p>
                      <a:pPr marL="17145" marR="0"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Sr.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16510" marR="0"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Fees Structure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64135"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TM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18415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PM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10795" marR="0"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FM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25400" marR="0"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Client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2231004749"/>
                  </a:ext>
                </a:extLst>
              </a:tr>
              <a:tr h="176062">
                <a:tc>
                  <a:txBody>
                    <a:bodyPr/>
                    <a:lstStyle/>
                    <a:p>
                      <a:pPr marL="15240" marR="0"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1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71755"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Processing Fees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016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016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207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16510"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1009405277"/>
                  </a:ext>
                </a:extLst>
              </a:tr>
              <a:tr h="176713">
                <a:tc>
                  <a:txBody>
                    <a:bodyPr/>
                    <a:lstStyle/>
                    <a:p>
                      <a:pPr marL="15240" marR="0"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2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71755"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One Time Fees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080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10,00,000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016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10,00,000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207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2,50,000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16510"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3337113068"/>
                  </a:ext>
                </a:extLst>
              </a:tr>
              <a:tr h="178669">
                <a:tc>
                  <a:txBody>
                    <a:bodyPr/>
                    <a:lstStyle/>
                    <a:p>
                      <a:pPr marL="15240" marR="0"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3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71755"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Annual Fees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207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2,50,000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143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2,50,000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207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22225"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3416789139"/>
                  </a:ext>
                </a:extLst>
              </a:tr>
              <a:tr h="176713">
                <a:tc>
                  <a:txBody>
                    <a:bodyPr/>
                    <a:lstStyle/>
                    <a:p>
                      <a:pPr marL="15240" marR="0"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4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71755"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ISD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080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40,00,000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016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25,00,000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11430"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16510"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3825016310"/>
                  </a:ext>
                </a:extLst>
              </a:tr>
              <a:tr h="176713">
                <a:tc>
                  <a:txBody>
                    <a:bodyPr/>
                    <a:lstStyle/>
                    <a:p>
                      <a:pPr marL="15240" marR="0"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5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71755"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Total Amount (1+2+3+4)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080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52,55,000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016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37,55,000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207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3,55,000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22225"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2316567030"/>
                  </a:ext>
                </a:extLst>
              </a:tr>
              <a:tr h="296696">
                <a:tc>
                  <a:txBody>
                    <a:bodyPr/>
                    <a:lstStyle/>
                    <a:p>
                      <a:pPr marL="15240" marR="0"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6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71755"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Goods and Service tax* @ 18 % on Fees amount (1+2+3)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207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2,25,900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143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2,25,900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207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63,900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23495"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18,000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2202897513"/>
                  </a:ext>
                </a:extLst>
              </a:tr>
              <a:tr h="176713">
                <a:tc>
                  <a:txBody>
                    <a:bodyPr/>
                    <a:lstStyle/>
                    <a:p>
                      <a:pPr marL="15240" marR="0"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7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71755"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Total Fees (5+6)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080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54,80,900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016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39,80,900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5207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4,18,900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22225"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1,18,000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0" marR="9287" marT="1548"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1840152058"/>
                  </a:ext>
                </a:extLst>
              </a:tr>
            </a:tbl>
          </a:graphicData>
        </a:graphic>
      </p:graphicFrame>
      <p:graphicFrame>
        <p:nvGraphicFramePr>
          <p:cNvPr id="9" name="Table 8">
            <a:extLst>
              <a:ext uri="{FF2B5EF4-FFF2-40B4-BE49-F238E27FC236}">
                <a16:creationId xmlns:a16="http://schemas.microsoft.com/office/drawing/2014/main" id="{25D13C0C-1732-D7DE-E660-13A48FB1EA34}"/>
              </a:ext>
            </a:extLst>
          </p:cNvPr>
          <p:cNvGraphicFramePr>
            <a:graphicFrameLocks noGrp="1"/>
          </p:cNvGraphicFramePr>
          <p:nvPr>
            <p:extLst>
              <p:ext uri="{D42A27DB-BD31-4B8C-83A1-F6EECF244321}">
                <p14:modId xmlns:p14="http://schemas.microsoft.com/office/powerpoint/2010/main" val="2398871584"/>
              </p:ext>
            </p:extLst>
          </p:nvPr>
        </p:nvGraphicFramePr>
        <p:xfrm>
          <a:off x="6210299" y="1701063"/>
          <a:ext cx="5480051" cy="1842237"/>
        </p:xfrm>
        <a:graphic>
          <a:graphicData uri="http://schemas.openxmlformats.org/drawingml/2006/table">
            <a:tbl>
              <a:tblPr firstRow="1" firstCol="1" bandRow="1">
                <a:tableStyleId>{21E4AEA4-8DFA-4A89-87EB-49C32662AFE0}</a:tableStyleId>
              </a:tblPr>
              <a:tblGrid>
                <a:gridCol w="547853">
                  <a:extLst>
                    <a:ext uri="{9D8B030D-6E8A-4147-A177-3AD203B41FA5}">
                      <a16:colId xmlns:a16="http://schemas.microsoft.com/office/drawing/2014/main" val="2252185382"/>
                    </a:ext>
                  </a:extLst>
                </a:gridCol>
                <a:gridCol w="1651541">
                  <a:extLst>
                    <a:ext uri="{9D8B030D-6E8A-4147-A177-3AD203B41FA5}">
                      <a16:colId xmlns:a16="http://schemas.microsoft.com/office/drawing/2014/main" val="3987096664"/>
                    </a:ext>
                  </a:extLst>
                </a:gridCol>
                <a:gridCol w="651254">
                  <a:extLst>
                    <a:ext uri="{9D8B030D-6E8A-4147-A177-3AD203B41FA5}">
                      <a16:colId xmlns:a16="http://schemas.microsoft.com/office/drawing/2014/main" val="1128206489"/>
                    </a:ext>
                  </a:extLst>
                </a:gridCol>
                <a:gridCol w="652444">
                  <a:extLst>
                    <a:ext uri="{9D8B030D-6E8A-4147-A177-3AD203B41FA5}">
                      <a16:colId xmlns:a16="http://schemas.microsoft.com/office/drawing/2014/main" val="1241804176"/>
                    </a:ext>
                  </a:extLst>
                </a:gridCol>
                <a:gridCol w="790893">
                  <a:extLst>
                    <a:ext uri="{9D8B030D-6E8A-4147-A177-3AD203B41FA5}">
                      <a16:colId xmlns:a16="http://schemas.microsoft.com/office/drawing/2014/main" val="345149471"/>
                    </a:ext>
                  </a:extLst>
                </a:gridCol>
                <a:gridCol w="1186066">
                  <a:extLst>
                    <a:ext uri="{9D8B030D-6E8A-4147-A177-3AD203B41FA5}">
                      <a16:colId xmlns:a16="http://schemas.microsoft.com/office/drawing/2014/main" val="2550162584"/>
                    </a:ext>
                  </a:extLst>
                </a:gridCol>
              </a:tblGrid>
              <a:tr h="129022">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4"/>
                    </a:solidFill>
                  </a:tcPr>
                </a:tc>
                <a:tc gridSpan="5">
                  <a:txBody>
                    <a:bodyPr/>
                    <a:lstStyle/>
                    <a:p>
                      <a:pPr marL="460375"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GREEN SEGMENT (REC , GREEN PHYSICAL / G-TAM &amp; ESCERTS ) (in INR)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4"/>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255710524"/>
                  </a:ext>
                </a:extLst>
              </a:tr>
              <a:tr h="673853">
                <a:tc>
                  <a:txBody>
                    <a:bodyPr/>
                    <a:lstStyle/>
                    <a:p>
                      <a:pPr marL="0" marR="3492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Sr.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35560"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Fees Structure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116840"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TM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11557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PM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8735"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FM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42545"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Client (Applicable to: </a:t>
                      </a:r>
                    </a:p>
                    <a:p>
                      <a:pPr marL="342900" marR="19685" lvl="0" indent="-342900" algn="ctr" fontAlgn="base">
                        <a:lnSpc>
                          <a:spcPct val="107000"/>
                        </a:lnSpc>
                        <a:spcBef>
                          <a:spcPts val="0"/>
                        </a:spcBef>
                        <a:spcAft>
                          <a:spcPts val="0"/>
                        </a:spcAft>
                        <a:buClr>
                          <a:srgbClr val="622423"/>
                        </a:buClr>
                        <a:buSzPts val="700"/>
                        <a:buFont typeface="+mj-lt"/>
                        <a:buAutoNum type="arabicPeriod"/>
                      </a:pPr>
                      <a:r>
                        <a:rPr lang="en-US" sz="800" u="none" strike="noStrike">
                          <a:effectLst/>
                          <a:uFill>
                            <a:solidFill>
                              <a:srgbClr val="000000"/>
                            </a:solidFill>
                          </a:uFill>
                          <a:latin typeface="Arial" panose="020B0604020202020204" pitchFamily="34" charset="0"/>
                          <a:cs typeface="Arial" panose="020B0604020202020204" pitchFamily="34" charset="0"/>
                        </a:rPr>
                        <a:t>REC Only Seller </a:t>
                      </a:r>
                    </a:p>
                    <a:p>
                      <a:pPr marL="342900" marR="19685" lvl="0" indent="-342900" algn="ctr" fontAlgn="base">
                        <a:lnSpc>
                          <a:spcPct val="107000"/>
                        </a:lnSpc>
                        <a:spcBef>
                          <a:spcPts val="0"/>
                        </a:spcBef>
                        <a:spcAft>
                          <a:spcPts val="0"/>
                        </a:spcAft>
                        <a:buClr>
                          <a:srgbClr val="622423"/>
                        </a:buClr>
                        <a:buSzPts val="700"/>
                        <a:buFont typeface="+mj-lt"/>
                        <a:buAutoNum type="arabicPeriod"/>
                      </a:pPr>
                      <a:r>
                        <a:rPr lang="en-US" sz="800" u="none" strike="noStrike">
                          <a:effectLst/>
                          <a:uFill>
                            <a:solidFill>
                              <a:srgbClr val="000000"/>
                            </a:solidFill>
                          </a:uFill>
                          <a:latin typeface="Arial" panose="020B0604020202020204" pitchFamily="34" charset="0"/>
                          <a:cs typeface="Arial" panose="020B0604020202020204" pitchFamily="34" charset="0"/>
                        </a:rPr>
                        <a:t>ESCERTS Buyer &amp; Seller) </a:t>
                      </a:r>
                      <a:endParaRPr lang="en-US" sz="800" u="none" strike="noStrike">
                        <a:solidFill>
                          <a:srgbClr val="000000"/>
                        </a:solidFill>
                        <a:effectLst/>
                        <a:uFill>
                          <a:solidFill>
                            <a:srgbClr val="000000"/>
                          </a:solidFill>
                        </a:uFill>
                        <a:latin typeface="Arial" panose="020B0604020202020204" pitchFamily="34" charset="0"/>
                        <a:ea typeface="Arial" panose="020B060402020202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2334611652"/>
                  </a:ext>
                </a:extLst>
              </a:tr>
              <a:tr h="129022">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1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Processing Fees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111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29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302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873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2911182985"/>
                  </a:ext>
                </a:extLst>
              </a:tr>
              <a:tr h="129022">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2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One Time Fees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302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6,50,000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29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6,50,000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27305"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2,50,000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873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3049653966"/>
                  </a:ext>
                </a:extLst>
              </a:tr>
              <a:tr h="129022">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3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Annual Fees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302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29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302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810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2205263262"/>
                  </a:ext>
                </a:extLst>
              </a:tr>
              <a:tr h="129022">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4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ISD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302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29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810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873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2610588537"/>
                  </a:ext>
                </a:extLst>
              </a:tr>
              <a:tr h="129022">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5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Total Amount (1+2+3+4)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302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9,55,000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29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9,55,000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27305"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3,05,000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810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2364529959"/>
                  </a:ext>
                </a:extLst>
              </a:tr>
              <a:tr h="265230">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6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Goods and Service tax* @ 18 % on Fees amount (1+2+3)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302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1,35,900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29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1,35,900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302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54,900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619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3,600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1265201335"/>
                  </a:ext>
                </a:extLst>
              </a:tr>
              <a:tr h="129022">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7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Total Fees (5+6)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175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10,90,900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302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10,90,900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27305"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3,59,900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810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23,600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5281"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3570748000"/>
                  </a:ext>
                </a:extLst>
              </a:tr>
            </a:tbl>
          </a:graphicData>
        </a:graphic>
      </p:graphicFrame>
      <p:graphicFrame>
        <p:nvGraphicFramePr>
          <p:cNvPr id="11" name="Table 10">
            <a:extLst>
              <a:ext uri="{FF2B5EF4-FFF2-40B4-BE49-F238E27FC236}">
                <a16:creationId xmlns:a16="http://schemas.microsoft.com/office/drawing/2014/main" id="{2B937CBA-B4EE-9544-69B3-E3608C162BB2}"/>
              </a:ext>
            </a:extLst>
          </p:cNvPr>
          <p:cNvGraphicFramePr>
            <a:graphicFrameLocks noGrp="1"/>
          </p:cNvGraphicFramePr>
          <p:nvPr>
            <p:extLst>
              <p:ext uri="{D42A27DB-BD31-4B8C-83A1-F6EECF244321}">
                <p14:modId xmlns:p14="http://schemas.microsoft.com/office/powerpoint/2010/main" val="587954766"/>
              </p:ext>
            </p:extLst>
          </p:nvPr>
        </p:nvGraphicFramePr>
        <p:xfrm>
          <a:off x="501650" y="3982061"/>
          <a:ext cx="5480050" cy="1861526"/>
        </p:xfrm>
        <a:graphic>
          <a:graphicData uri="http://schemas.openxmlformats.org/drawingml/2006/table">
            <a:tbl>
              <a:tblPr firstRow="1" firstCol="1" bandRow="1">
                <a:tableStyleId>{21E4AEA4-8DFA-4A89-87EB-49C32662AFE0}</a:tableStyleId>
              </a:tblPr>
              <a:tblGrid>
                <a:gridCol w="355600">
                  <a:extLst>
                    <a:ext uri="{9D8B030D-6E8A-4147-A177-3AD203B41FA5}">
                      <a16:colId xmlns:a16="http://schemas.microsoft.com/office/drawing/2014/main" val="2634440928"/>
                    </a:ext>
                  </a:extLst>
                </a:gridCol>
                <a:gridCol w="1829524">
                  <a:extLst>
                    <a:ext uri="{9D8B030D-6E8A-4147-A177-3AD203B41FA5}">
                      <a16:colId xmlns:a16="http://schemas.microsoft.com/office/drawing/2014/main" val="1559146564"/>
                    </a:ext>
                  </a:extLst>
                </a:gridCol>
                <a:gridCol w="646739">
                  <a:extLst>
                    <a:ext uri="{9D8B030D-6E8A-4147-A177-3AD203B41FA5}">
                      <a16:colId xmlns:a16="http://schemas.microsoft.com/office/drawing/2014/main" val="2736723311"/>
                    </a:ext>
                  </a:extLst>
                </a:gridCol>
                <a:gridCol w="647930">
                  <a:extLst>
                    <a:ext uri="{9D8B030D-6E8A-4147-A177-3AD203B41FA5}">
                      <a16:colId xmlns:a16="http://schemas.microsoft.com/office/drawing/2014/main" val="1829090874"/>
                    </a:ext>
                  </a:extLst>
                </a:gridCol>
                <a:gridCol w="776557">
                  <a:extLst>
                    <a:ext uri="{9D8B030D-6E8A-4147-A177-3AD203B41FA5}">
                      <a16:colId xmlns:a16="http://schemas.microsoft.com/office/drawing/2014/main" val="68476033"/>
                    </a:ext>
                  </a:extLst>
                </a:gridCol>
                <a:gridCol w="1223700">
                  <a:extLst>
                    <a:ext uri="{9D8B030D-6E8A-4147-A177-3AD203B41FA5}">
                      <a16:colId xmlns:a16="http://schemas.microsoft.com/office/drawing/2014/main" val="4279478144"/>
                    </a:ext>
                  </a:extLst>
                </a:gridCol>
              </a:tblGrid>
              <a:tr h="189741">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4"/>
                    </a:solidFill>
                  </a:tcPr>
                </a:tc>
                <a:tc gridSpan="4">
                  <a:txBody>
                    <a:bodyPr/>
                    <a:lstStyle/>
                    <a:p>
                      <a:pPr marL="1570355"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ESCERTS SEGMENT Only (in INR)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4"/>
                    </a:solidFill>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4"/>
                    </a:solidFill>
                  </a:tcPr>
                </a:tc>
                <a:extLst>
                  <a:ext uri="{0D108BD9-81ED-4DB2-BD59-A6C34878D82A}">
                    <a16:rowId xmlns:a16="http://schemas.microsoft.com/office/drawing/2014/main" val="3862759261"/>
                  </a:ext>
                </a:extLst>
              </a:tr>
              <a:tr h="315314">
                <a:tc>
                  <a:txBody>
                    <a:bodyPr/>
                    <a:lstStyle/>
                    <a:p>
                      <a:pPr marL="0" marR="35560"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Sr.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34290"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Fees Structure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121285"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TM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122555"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PM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6830"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FM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29845" algn="ctr">
                        <a:lnSpc>
                          <a:spcPct val="107000"/>
                        </a:lnSpc>
                        <a:spcBef>
                          <a:spcPts val="0"/>
                        </a:spcBef>
                        <a:spcAft>
                          <a:spcPts val="0"/>
                        </a:spcAft>
                      </a:pPr>
                      <a:r>
                        <a:rPr lang="en-US" sz="800">
                          <a:effectLst/>
                          <a:latin typeface="Arial" panose="020B0604020202020204" pitchFamily="34" charset="0"/>
                          <a:cs typeface="Arial" panose="020B0604020202020204" pitchFamily="34" charset="0"/>
                        </a:rPr>
                        <a:t>Client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259039289"/>
                  </a:ext>
                </a:extLst>
              </a:tr>
              <a:tr h="174562">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1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Processing Fees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302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111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238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556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2235690197"/>
                  </a:ext>
                </a:extLst>
              </a:tr>
              <a:tr h="173871">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2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One Time Fees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29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238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5,00,000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26035"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556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1044775087"/>
                  </a:ext>
                </a:extLst>
              </a:tr>
              <a:tr h="173871">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3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Annual Fees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302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80,000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111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80,000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175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45,000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92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642355513"/>
                  </a:ext>
                </a:extLst>
              </a:tr>
              <a:tr h="172491">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4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ISD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29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238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2,00,000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29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556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3077689144"/>
                  </a:ext>
                </a:extLst>
              </a:tr>
              <a:tr h="173871">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5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Total Amount (1+2+3+4)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29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7,85,000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238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7,85,000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26035"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2,50,000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92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20,000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2353081437"/>
                  </a:ext>
                </a:extLst>
              </a:tr>
              <a:tr h="315314">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6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Goods and Service tax* @ 18 % on Fees amount (1+2+3)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29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1,05,300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238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1,05,300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175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45,000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365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3,600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1837702245"/>
                  </a:ext>
                </a:extLst>
              </a:tr>
              <a:tr h="172491">
                <a:tc>
                  <a:txBody>
                    <a:bodyPr/>
                    <a:lstStyle/>
                    <a:p>
                      <a:pPr marL="0" marR="37465" algn="ctr">
                        <a:lnSpc>
                          <a:spcPct val="107000"/>
                        </a:lnSpc>
                        <a:spcBef>
                          <a:spcPts val="0"/>
                        </a:spcBef>
                        <a:spcAft>
                          <a:spcPts val="0"/>
                        </a:spcAft>
                      </a:pPr>
                      <a:r>
                        <a:rPr lang="en-US" sz="800">
                          <a:solidFill>
                            <a:schemeClr val="tx1"/>
                          </a:solidFill>
                          <a:effectLst/>
                          <a:latin typeface="Arial" panose="020B0604020202020204" pitchFamily="34" charset="0"/>
                          <a:cs typeface="Arial" panose="020B0604020202020204" pitchFamily="34" charset="0"/>
                        </a:rPr>
                        <a:t>7 </a:t>
                      </a:r>
                      <a:endParaRPr lang="en-US" sz="800">
                        <a:solidFill>
                          <a:schemeClr val="tx1"/>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1">
                        <a:lumMod val="20000"/>
                        <a:lumOff val="80000"/>
                      </a:schemeClr>
                    </a:solidFill>
                  </a:tcPr>
                </a:tc>
                <a:tc>
                  <a:txBody>
                    <a:bodyPr/>
                    <a:lstStyle/>
                    <a:p>
                      <a:pPr marL="0" marR="0">
                        <a:lnSpc>
                          <a:spcPct val="107000"/>
                        </a:lnSpc>
                        <a:spcBef>
                          <a:spcPts val="0"/>
                        </a:spcBef>
                        <a:spcAft>
                          <a:spcPts val="0"/>
                        </a:spcAft>
                      </a:pPr>
                      <a:r>
                        <a:rPr lang="en-US" sz="800">
                          <a:effectLst/>
                          <a:latin typeface="Arial" panose="020B0604020202020204" pitchFamily="34" charset="0"/>
                          <a:cs typeface="Arial" panose="020B0604020202020204" pitchFamily="34" charset="0"/>
                        </a:rPr>
                        <a:t>Total Fees (5+6)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29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8,90,300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238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8,90,300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26035" marR="0"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2,95,000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34925" algn="r">
                        <a:lnSpc>
                          <a:spcPct val="107000"/>
                        </a:lnSpc>
                        <a:spcBef>
                          <a:spcPts val="0"/>
                        </a:spcBef>
                        <a:spcAft>
                          <a:spcPts val="0"/>
                        </a:spcAft>
                      </a:pPr>
                      <a:r>
                        <a:rPr lang="en-US" sz="800">
                          <a:effectLst/>
                          <a:latin typeface="Arial" panose="020B0604020202020204" pitchFamily="34" charset="0"/>
                          <a:cs typeface="Arial" panose="020B0604020202020204" pitchFamily="34" charset="0"/>
                        </a:rPr>
                        <a:t>23,600 </a:t>
                      </a:r>
                      <a:endParaRPr lang="en-US" sz="80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L="58301" marR="24765" marT="258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1610533928"/>
                  </a:ext>
                </a:extLst>
              </a:tr>
            </a:tbl>
          </a:graphicData>
        </a:graphic>
      </p:graphicFrame>
      <p:sp>
        <p:nvSpPr>
          <p:cNvPr id="12" name="Rectangle 11">
            <a:extLst>
              <a:ext uri="{FF2B5EF4-FFF2-40B4-BE49-F238E27FC236}">
                <a16:creationId xmlns:a16="http://schemas.microsoft.com/office/drawing/2014/main" id="{E6608D56-FCE9-2693-7FCF-84FD0BDE2F5A}"/>
              </a:ext>
            </a:extLst>
          </p:cNvPr>
          <p:cNvSpPr/>
          <p:nvPr/>
        </p:nvSpPr>
        <p:spPr bwMode="gray">
          <a:xfrm>
            <a:off x="6210300" y="3982060"/>
            <a:ext cx="5480050" cy="1861526"/>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square" lIns="72231" tIns="72231" rIns="72231" bIns="72231" rtlCol="0" anchor="t"/>
          <a:lstStyle/>
          <a:p>
            <a:pPr algn="ctr">
              <a:lnSpc>
                <a:spcPct val="106000"/>
              </a:lnSpc>
              <a:buFont typeface="Wingdings 2" pitchFamily="18" charset="2"/>
              <a:buNone/>
            </a:pPr>
            <a:r>
              <a:rPr lang="en-US" sz="1000">
                <a:solidFill>
                  <a:schemeClr val="tx1"/>
                </a:solidFill>
                <a:latin typeface="Arial" panose="020B0604020202020204" pitchFamily="34" charset="0"/>
                <a:cs typeface="Arial" panose="020B0604020202020204" pitchFamily="34" charset="0"/>
              </a:rPr>
              <a:t>PXIL offers a volume-based incentive on the transaction fee on all trades</a:t>
            </a:r>
          </a:p>
          <a:p>
            <a:pPr algn="ctr">
              <a:lnSpc>
                <a:spcPct val="106000"/>
              </a:lnSpc>
              <a:buFont typeface="Wingdings 2" pitchFamily="18" charset="2"/>
              <a:buNone/>
            </a:pPr>
            <a:r>
              <a:rPr lang="en-US" sz="1000">
                <a:solidFill>
                  <a:schemeClr val="tx1"/>
                </a:solidFill>
                <a:latin typeface="Arial" panose="020B0604020202020204" pitchFamily="34" charset="0"/>
                <a:cs typeface="Arial" panose="020B0604020202020204" pitchFamily="34" charset="0"/>
              </a:rPr>
              <a:t>The volume slabs of the incentive rate are given below:</a:t>
            </a:r>
          </a:p>
        </p:txBody>
      </p:sp>
      <p:graphicFrame>
        <p:nvGraphicFramePr>
          <p:cNvPr id="13" name="Table 12">
            <a:extLst>
              <a:ext uri="{FF2B5EF4-FFF2-40B4-BE49-F238E27FC236}">
                <a16:creationId xmlns:a16="http://schemas.microsoft.com/office/drawing/2014/main" id="{0CC3BEE8-6344-8E09-70B1-F8FA5508FAD7}"/>
              </a:ext>
            </a:extLst>
          </p:cNvPr>
          <p:cNvGraphicFramePr>
            <a:graphicFrameLocks noGrp="1"/>
          </p:cNvGraphicFramePr>
          <p:nvPr>
            <p:extLst>
              <p:ext uri="{D42A27DB-BD31-4B8C-83A1-F6EECF244321}">
                <p14:modId xmlns:p14="http://schemas.microsoft.com/office/powerpoint/2010/main" val="2617403349"/>
              </p:ext>
            </p:extLst>
          </p:nvPr>
        </p:nvGraphicFramePr>
        <p:xfrm>
          <a:off x="7183638" y="4515778"/>
          <a:ext cx="3533374" cy="907559"/>
        </p:xfrm>
        <a:graphic>
          <a:graphicData uri="http://schemas.openxmlformats.org/drawingml/2006/table">
            <a:tbl>
              <a:tblPr>
                <a:tableStyleId>{9DCAF9ED-07DC-4A11-8D7F-57B35C25682E}</a:tableStyleId>
              </a:tblPr>
              <a:tblGrid>
                <a:gridCol w="1593511">
                  <a:extLst>
                    <a:ext uri="{9D8B030D-6E8A-4147-A177-3AD203B41FA5}">
                      <a16:colId xmlns:a16="http://schemas.microsoft.com/office/drawing/2014/main" val="631355658"/>
                    </a:ext>
                  </a:extLst>
                </a:gridCol>
                <a:gridCol w="1939863">
                  <a:extLst>
                    <a:ext uri="{9D8B030D-6E8A-4147-A177-3AD203B41FA5}">
                      <a16:colId xmlns:a16="http://schemas.microsoft.com/office/drawing/2014/main" val="2480562464"/>
                    </a:ext>
                  </a:extLst>
                </a:gridCol>
              </a:tblGrid>
              <a:tr h="350556">
                <a:tc>
                  <a:txBody>
                    <a:bodyPr/>
                    <a:lstStyle/>
                    <a:p>
                      <a:pPr marL="0" marR="0" algn="ctr">
                        <a:spcBef>
                          <a:spcPts val="0"/>
                        </a:spcBef>
                        <a:spcAft>
                          <a:spcPts val="0"/>
                        </a:spcAft>
                      </a:pPr>
                      <a:r>
                        <a:rPr lang="en-US" sz="800" b="1">
                          <a:solidFill>
                            <a:schemeClr val="bg1"/>
                          </a:solidFill>
                          <a:effectLst/>
                          <a:latin typeface="Arial" panose="020B0604020202020204" pitchFamily="34" charset="0"/>
                          <a:cs typeface="Arial" panose="020B0604020202020204" pitchFamily="34" charset="0"/>
                        </a:rPr>
                        <a:t>Monthly cleared volumes (MU)</a:t>
                      </a:r>
                      <a:endParaRPr lang="en-US" sz="800" b="1">
                        <a:solidFill>
                          <a:schemeClr val="bg1"/>
                        </a:solidFill>
                        <a:effectLst/>
                        <a:latin typeface="Arial" panose="020B0604020202020204" pitchFamily="34" charset="0"/>
                        <a:ea typeface="Calibri" panose="020F0502020204030204" pitchFamily="34" charset="0"/>
                        <a:cs typeface="Arial" panose="020B0604020202020204" pitchFamily="34" charset="0"/>
                      </a:endParaRPr>
                    </a:p>
                  </a:txBody>
                  <a:tcPr marL="55721" marR="55721" marT="0" marB="0" anchor="ctr">
                    <a:solidFill>
                      <a:schemeClr val="accent4"/>
                    </a:solidFill>
                  </a:tcPr>
                </a:tc>
                <a:tc>
                  <a:txBody>
                    <a:bodyPr/>
                    <a:lstStyle/>
                    <a:p>
                      <a:pPr marL="0" marR="0" algn="ctr">
                        <a:spcBef>
                          <a:spcPts val="0"/>
                        </a:spcBef>
                        <a:spcAft>
                          <a:spcPts val="0"/>
                        </a:spcAft>
                      </a:pPr>
                      <a:r>
                        <a:rPr lang="en-US" sz="800" b="1">
                          <a:solidFill>
                            <a:schemeClr val="bg1"/>
                          </a:solidFill>
                          <a:effectLst/>
                          <a:latin typeface="Arial" panose="020B0604020202020204" pitchFamily="34" charset="0"/>
                          <a:cs typeface="Arial" panose="020B0604020202020204" pitchFamily="34" charset="0"/>
                        </a:rPr>
                        <a:t>Rate of Incentive as% of Transaction fees</a:t>
                      </a:r>
                      <a:endParaRPr lang="en-US" sz="800" b="1">
                        <a:solidFill>
                          <a:schemeClr val="bg1"/>
                        </a:solidFill>
                        <a:effectLst/>
                        <a:latin typeface="Arial" panose="020B0604020202020204" pitchFamily="34" charset="0"/>
                        <a:ea typeface="Calibri" panose="020F0502020204030204" pitchFamily="34" charset="0"/>
                        <a:cs typeface="Arial" panose="020B0604020202020204" pitchFamily="34" charset="0"/>
                      </a:endParaRPr>
                    </a:p>
                  </a:txBody>
                  <a:tcPr marL="55721" marR="55721" marT="0" marB="0" anchor="ctr">
                    <a:solidFill>
                      <a:schemeClr val="accent4"/>
                    </a:solidFill>
                  </a:tcPr>
                </a:tc>
                <a:extLst>
                  <a:ext uri="{0D108BD9-81ED-4DB2-BD59-A6C34878D82A}">
                    <a16:rowId xmlns:a16="http://schemas.microsoft.com/office/drawing/2014/main" val="3451444612"/>
                  </a:ext>
                </a:extLst>
              </a:tr>
              <a:tr h="179222">
                <a:tc>
                  <a:txBody>
                    <a:bodyPr/>
                    <a:lstStyle/>
                    <a:p>
                      <a:pPr marL="0" marR="0" algn="ctr">
                        <a:lnSpc>
                          <a:spcPct val="107000"/>
                        </a:lnSpc>
                        <a:spcBef>
                          <a:spcPts val="0"/>
                        </a:spcBef>
                        <a:spcAft>
                          <a:spcPts val="0"/>
                        </a:spcAft>
                      </a:pPr>
                      <a:r>
                        <a:rPr lang="en-US" sz="800">
                          <a:effectLst/>
                          <a:latin typeface="Arial" panose="020B0604020202020204" pitchFamily="34" charset="0"/>
                          <a:ea typeface="Calibri" panose="020F0502020204030204" pitchFamily="34" charset="0"/>
                          <a:cs typeface="Arial" panose="020B0604020202020204" pitchFamily="34" charset="0"/>
                        </a:rPr>
                        <a:t>&lt;=30</a:t>
                      </a:r>
                    </a:p>
                  </a:txBody>
                  <a:tcPr marL="55721" marR="55721" marT="0" marB="0" anchor="ctr"/>
                </a:tc>
                <a:tc>
                  <a:txBody>
                    <a:bodyPr/>
                    <a:lstStyle/>
                    <a:p>
                      <a:pPr marL="0" marR="0" algn="ctr">
                        <a:lnSpc>
                          <a:spcPct val="107000"/>
                        </a:lnSpc>
                        <a:spcBef>
                          <a:spcPts val="0"/>
                        </a:spcBef>
                        <a:spcAft>
                          <a:spcPts val="0"/>
                        </a:spcAft>
                      </a:pPr>
                      <a:r>
                        <a:rPr lang="en-US" sz="800">
                          <a:effectLst/>
                          <a:latin typeface="Arial" panose="020B0604020202020204" pitchFamily="34" charset="0"/>
                          <a:ea typeface="Calibri" panose="020F0502020204030204" pitchFamily="34" charset="0"/>
                          <a:cs typeface="Arial" panose="020B0604020202020204" pitchFamily="34" charset="0"/>
                        </a:rPr>
                        <a:t>15</a:t>
                      </a:r>
                    </a:p>
                  </a:txBody>
                  <a:tcPr marL="55721" marR="55721" marT="0" marB="0" anchor="ctr"/>
                </a:tc>
                <a:extLst>
                  <a:ext uri="{0D108BD9-81ED-4DB2-BD59-A6C34878D82A}">
                    <a16:rowId xmlns:a16="http://schemas.microsoft.com/office/drawing/2014/main" val="702787566"/>
                  </a:ext>
                </a:extLst>
              </a:tr>
              <a:tr h="179222">
                <a:tc>
                  <a:txBody>
                    <a:bodyPr/>
                    <a:lstStyle/>
                    <a:p>
                      <a:pPr marL="0" marR="0" algn="ctr">
                        <a:lnSpc>
                          <a:spcPct val="107000"/>
                        </a:lnSpc>
                        <a:spcBef>
                          <a:spcPts val="0"/>
                        </a:spcBef>
                        <a:spcAft>
                          <a:spcPts val="0"/>
                        </a:spcAft>
                      </a:pPr>
                      <a:r>
                        <a:rPr lang="en-US" sz="800">
                          <a:effectLst/>
                          <a:latin typeface="Arial" panose="020B0604020202020204" pitchFamily="34" charset="0"/>
                          <a:ea typeface="Calibri" panose="020F0502020204030204" pitchFamily="34" charset="0"/>
                          <a:cs typeface="Arial" panose="020B0604020202020204" pitchFamily="34" charset="0"/>
                        </a:rPr>
                        <a:t>&gt;30 to &lt;=180</a:t>
                      </a:r>
                    </a:p>
                  </a:txBody>
                  <a:tcPr marL="55721" marR="55721" marT="0" marB="0" anchor="ctr"/>
                </a:tc>
                <a:tc>
                  <a:txBody>
                    <a:bodyPr/>
                    <a:lstStyle/>
                    <a:p>
                      <a:pPr marL="0" marR="0" algn="ctr">
                        <a:lnSpc>
                          <a:spcPct val="107000"/>
                        </a:lnSpc>
                        <a:spcBef>
                          <a:spcPts val="0"/>
                        </a:spcBef>
                        <a:spcAft>
                          <a:spcPts val="0"/>
                        </a:spcAft>
                      </a:pPr>
                      <a:r>
                        <a:rPr lang="en-US" sz="800">
                          <a:effectLst/>
                          <a:latin typeface="Arial" panose="020B0604020202020204" pitchFamily="34" charset="0"/>
                          <a:ea typeface="Calibri" panose="020F0502020204030204" pitchFamily="34" charset="0"/>
                          <a:cs typeface="Arial" panose="020B0604020202020204" pitchFamily="34" charset="0"/>
                        </a:rPr>
                        <a:t>20</a:t>
                      </a:r>
                    </a:p>
                  </a:txBody>
                  <a:tcPr marL="55721" marR="55721" marT="0" marB="0" anchor="ctr"/>
                </a:tc>
                <a:extLst>
                  <a:ext uri="{0D108BD9-81ED-4DB2-BD59-A6C34878D82A}">
                    <a16:rowId xmlns:a16="http://schemas.microsoft.com/office/drawing/2014/main" val="977871992"/>
                  </a:ext>
                </a:extLst>
              </a:tr>
              <a:tr h="198559">
                <a:tc>
                  <a:txBody>
                    <a:bodyPr/>
                    <a:lstStyle/>
                    <a:p>
                      <a:pPr marL="0" marR="0" algn="ctr">
                        <a:lnSpc>
                          <a:spcPct val="107000"/>
                        </a:lnSpc>
                        <a:spcBef>
                          <a:spcPts val="0"/>
                        </a:spcBef>
                        <a:spcAft>
                          <a:spcPts val="0"/>
                        </a:spcAft>
                      </a:pPr>
                      <a:r>
                        <a:rPr lang="en-US" sz="800">
                          <a:effectLst/>
                          <a:latin typeface="Arial" panose="020B0604020202020204" pitchFamily="34" charset="0"/>
                          <a:ea typeface="Calibri" panose="020F0502020204030204" pitchFamily="34" charset="0"/>
                          <a:cs typeface="Arial" panose="020B0604020202020204" pitchFamily="34" charset="0"/>
                        </a:rPr>
                        <a:t>&gt;180</a:t>
                      </a:r>
                    </a:p>
                  </a:txBody>
                  <a:tcPr marL="55721" marR="55721" marT="0" marB="0" anchor="ctr"/>
                </a:tc>
                <a:tc>
                  <a:txBody>
                    <a:bodyPr/>
                    <a:lstStyle/>
                    <a:p>
                      <a:pPr marL="0" marR="0" algn="ctr">
                        <a:lnSpc>
                          <a:spcPct val="107000"/>
                        </a:lnSpc>
                        <a:spcBef>
                          <a:spcPts val="0"/>
                        </a:spcBef>
                        <a:spcAft>
                          <a:spcPts val="0"/>
                        </a:spcAft>
                      </a:pPr>
                      <a:r>
                        <a:rPr lang="en-US" sz="800">
                          <a:effectLst/>
                          <a:latin typeface="Arial" panose="020B0604020202020204" pitchFamily="34" charset="0"/>
                          <a:ea typeface="Calibri" panose="020F0502020204030204" pitchFamily="34" charset="0"/>
                          <a:cs typeface="Arial" panose="020B0604020202020204" pitchFamily="34" charset="0"/>
                        </a:rPr>
                        <a:t>25</a:t>
                      </a:r>
                    </a:p>
                  </a:txBody>
                  <a:tcPr marL="55721" marR="55721" marT="0" marB="0" anchor="ctr"/>
                </a:tc>
                <a:extLst>
                  <a:ext uri="{0D108BD9-81ED-4DB2-BD59-A6C34878D82A}">
                    <a16:rowId xmlns:a16="http://schemas.microsoft.com/office/drawing/2014/main" val="3311863324"/>
                  </a:ext>
                </a:extLst>
              </a:tr>
            </a:tbl>
          </a:graphicData>
        </a:graphic>
      </p:graphicFrame>
      <p:sp>
        <p:nvSpPr>
          <p:cNvPr id="4" name="Arrow: Right 3">
            <a:hlinkClick r:id="rId6" action="ppaction://hlinksldjump"/>
            <a:extLst>
              <a:ext uri="{FF2B5EF4-FFF2-40B4-BE49-F238E27FC236}">
                <a16:creationId xmlns:a16="http://schemas.microsoft.com/office/drawing/2014/main" id="{334CFA43-622A-3860-5C1E-D57DA81DB25C}"/>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297924663"/>
      </p:ext>
    </p:extLst>
  </p:cSld>
  <p:clrMapOvr>
    <a:masterClrMapping/>
  </p:clrMapOvr>
  <p:transition>
    <p:fade/>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351135294"/>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9" imgW="415" imgH="416" progId="TCLayout.ActiveDocument.1">
                  <p:embed/>
                </p:oleObj>
              </mc:Choice>
              <mc:Fallback>
                <p:oleObj name="think-cell Slide" r:id="rId9"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10"/>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2000" b="1">
                <a:latin typeface="Arial" panose="020B0604020202020204" pitchFamily="34" charset="0"/>
                <a:cs typeface="Arial" panose="020B0604020202020204" pitchFamily="34" charset="0"/>
              </a:rPr>
              <a:t>Double sided closed bid uniform price auction</a:t>
            </a:r>
            <a:endParaRPr lang="en-GB" sz="20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497" name="TextBox 496">
            <a:extLst>
              <a:ext uri="{FF2B5EF4-FFF2-40B4-BE49-F238E27FC236}">
                <a16:creationId xmlns:a16="http://schemas.microsoft.com/office/drawing/2014/main" id="{E3CD61BF-5158-2CE6-D4D0-D211D840411E}"/>
              </a:ext>
            </a:extLst>
          </p:cNvPr>
          <p:cNvSpPr txBox="1"/>
          <p:nvPr/>
        </p:nvSpPr>
        <p:spPr>
          <a:xfrm>
            <a:off x="447675" y="6596933"/>
            <a:ext cx="609600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Deloitte analysis</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4FFA464C-57F1-60C7-26EC-C1A27E7A7B9F}"/>
              </a:ext>
            </a:extLst>
          </p:cNvPr>
          <p:cNvSpPr txBox="1"/>
          <p:nvPr/>
        </p:nvSpPr>
        <p:spPr>
          <a:xfrm>
            <a:off x="498645" y="1337575"/>
            <a:ext cx="4368800" cy="369332"/>
          </a:xfrm>
          <a:prstGeom prst="rect">
            <a:avLst/>
          </a:prstGeom>
          <a:noFill/>
        </p:spPr>
        <p:txBody>
          <a:bodyPr wrap="square" lIns="0" tIns="0" rIns="0" bIns="0" rtlCol="0">
            <a:spAutoFit/>
          </a:bodyPr>
          <a:lstStyle/>
          <a:p>
            <a:pPr>
              <a:spcBef>
                <a:spcPts val="488"/>
              </a:spcBef>
              <a:buSzPct val="100000"/>
            </a:pPr>
            <a:r>
              <a:rPr lang="en-US" sz="1200" b="1">
                <a:latin typeface="Arial" panose="020B0604020202020204" pitchFamily="34" charset="0"/>
                <a:cs typeface="Arial" panose="020B0604020202020204" pitchFamily="34" charset="0"/>
              </a:rPr>
              <a:t>Sample bids (buy/ sell)</a:t>
            </a:r>
          </a:p>
          <a:p>
            <a:pPr>
              <a:spcBef>
                <a:spcPts val="0"/>
              </a:spcBef>
              <a:buSzPct val="100000"/>
            </a:pPr>
            <a:r>
              <a:rPr lang="en-US" sz="1200">
                <a:latin typeface="Arial" panose="020B0604020202020204" pitchFamily="34" charset="0"/>
                <a:cs typeface="Arial" panose="020B0604020202020204" pitchFamily="34" charset="0"/>
              </a:rPr>
              <a:t>INR/ MWh, MW</a:t>
            </a:r>
          </a:p>
        </p:txBody>
      </p:sp>
      <p:graphicFrame>
        <p:nvGraphicFramePr>
          <p:cNvPr id="33" name="Table 32">
            <a:extLst>
              <a:ext uri="{FF2B5EF4-FFF2-40B4-BE49-F238E27FC236}">
                <a16:creationId xmlns:a16="http://schemas.microsoft.com/office/drawing/2014/main" id="{43A24CA8-6C5F-1A23-1E92-2066687A14F3}"/>
              </a:ext>
            </a:extLst>
          </p:cNvPr>
          <p:cNvGraphicFramePr>
            <a:graphicFrameLocks noGrp="1"/>
          </p:cNvGraphicFramePr>
          <p:nvPr>
            <p:extLst>
              <p:ext uri="{D42A27DB-BD31-4B8C-83A1-F6EECF244321}">
                <p14:modId xmlns:p14="http://schemas.microsoft.com/office/powerpoint/2010/main" val="2090089961"/>
              </p:ext>
            </p:extLst>
          </p:nvPr>
        </p:nvGraphicFramePr>
        <p:xfrm>
          <a:off x="500154" y="1910142"/>
          <a:ext cx="5483490" cy="1644651"/>
        </p:xfrm>
        <a:graphic>
          <a:graphicData uri="http://schemas.openxmlformats.org/drawingml/2006/table">
            <a:tbl>
              <a:tblPr firstRow="1" bandRow="1">
                <a:tableStyleId>{5C22544A-7EE6-4342-B048-85BDC9FD1C3A}</a:tableStyleId>
              </a:tblPr>
              <a:tblGrid>
                <a:gridCol w="913915">
                  <a:extLst>
                    <a:ext uri="{9D8B030D-6E8A-4147-A177-3AD203B41FA5}">
                      <a16:colId xmlns:a16="http://schemas.microsoft.com/office/drawing/2014/main" val="3362125653"/>
                    </a:ext>
                  </a:extLst>
                </a:gridCol>
                <a:gridCol w="913915">
                  <a:extLst>
                    <a:ext uri="{9D8B030D-6E8A-4147-A177-3AD203B41FA5}">
                      <a16:colId xmlns:a16="http://schemas.microsoft.com/office/drawing/2014/main" val="1495056678"/>
                    </a:ext>
                  </a:extLst>
                </a:gridCol>
                <a:gridCol w="913915">
                  <a:extLst>
                    <a:ext uri="{9D8B030D-6E8A-4147-A177-3AD203B41FA5}">
                      <a16:colId xmlns:a16="http://schemas.microsoft.com/office/drawing/2014/main" val="2049552866"/>
                    </a:ext>
                  </a:extLst>
                </a:gridCol>
                <a:gridCol w="913915">
                  <a:extLst>
                    <a:ext uri="{9D8B030D-6E8A-4147-A177-3AD203B41FA5}">
                      <a16:colId xmlns:a16="http://schemas.microsoft.com/office/drawing/2014/main" val="467060831"/>
                    </a:ext>
                  </a:extLst>
                </a:gridCol>
                <a:gridCol w="913915">
                  <a:extLst>
                    <a:ext uri="{9D8B030D-6E8A-4147-A177-3AD203B41FA5}">
                      <a16:colId xmlns:a16="http://schemas.microsoft.com/office/drawing/2014/main" val="1094908843"/>
                    </a:ext>
                  </a:extLst>
                </a:gridCol>
                <a:gridCol w="913915">
                  <a:extLst>
                    <a:ext uri="{9D8B030D-6E8A-4147-A177-3AD203B41FA5}">
                      <a16:colId xmlns:a16="http://schemas.microsoft.com/office/drawing/2014/main" val="3975225768"/>
                    </a:ext>
                  </a:extLst>
                </a:gridCol>
              </a:tblGrid>
              <a:tr h="328931">
                <a:tc>
                  <a:txBody>
                    <a:bodyPr/>
                    <a:lstStyle/>
                    <a:p>
                      <a:r>
                        <a:rPr lang="en-US" sz="1000">
                          <a:latin typeface="Arial" panose="020B0604020202020204" pitchFamily="34" charset="0"/>
                          <a:cs typeface="Arial" panose="020B0604020202020204" pitchFamily="34" charset="0"/>
                        </a:rPr>
                        <a:t>Bids</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r>
                        <a:rPr lang="en-US" sz="1000">
                          <a:latin typeface="Arial" panose="020B0604020202020204" pitchFamily="34" charset="0"/>
                          <a:cs typeface="Arial" panose="020B0604020202020204" pitchFamily="34" charset="0"/>
                        </a:rPr>
                        <a:t>Price/ Quantity</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a:latin typeface="Arial" panose="020B0604020202020204" pitchFamily="34" charset="0"/>
                          <a:cs typeface="Arial" panose="020B0604020202020204" pitchFamily="34" charset="0"/>
                        </a:rPr>
                        <a:t>P/ Q 1</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2</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3</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4</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912069437"/>
                  </a:ext>
                </a:extLst>
              </a:tr>
              <a:tr h="164465">
                <a:tc rowSpan="2">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Buy bid 1</a:t>
                      </a:r>
                    </a:p>
                  </a:txBody>
                  <a:tcPr marL="45720" marR="4572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3,000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8,000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20,000 </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049059498"/>
                  </a:ext>
                </a:extLst>
              </a:tr>
              <a:tr h="164465">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100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50 </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659610476"/>
                  </a:ext>
                </a:extLst>
              </a:tr>
              <a:tr h="164465">
                <a:tc rowSpan="2">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Buy bid 2</a:t>
                      </a:r>
                    </a:p>
                  </a:txBody>
                  <a:tcPr marL="45720" marR="4572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2,000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6,000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20,000 </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823375930"/>
                  </a:ext>
                </a:extLst>
              </a:tr>
              <a:tr h="164465">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120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80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10 </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227927715"/>
                  </a:ext>
                </a:extLst>
              </a:tr>
              <a:tr h="164465">
                <a:tc rowSpan="2">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Sell bid 1</a:t>
                      </a:r>
                    </a:p>
                  </a:txBody>
                  <a:tcPr marL="45720" marR="4572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2,000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4,000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20,000 </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121369872"/>
                  </a:ext>
                </a:extLst>
              </a:tr>
              <a:tr h="164465">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(50)</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(100)</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(140)</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834403554"/>
                  </a:ext>
                </a:extLst>
              </a:tr>
              <a:tr h="164465">
                <a:tc rowSpan="2">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Sell bid 2</a:t>
                      </a:r>
                    </a:p>
                  </a:txBody>
                  <a:tcPr marL="45720" marR="45720" marT="0" marB="0"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3,000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6,000 </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20,000 </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337168651"/>
                  </a:ext>
                </a:extLst>
              </a:tr>
              <a:tr h="164465">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(90)</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(150)</a:t>
                      </a:r>
                    </a:p>
                  </a:txBody>
                  <a:tcPr marL="4572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(200)</a:t>
                      </a:r>
                    </a:p>
                  </a:txBody>
                  <a:tcPr marL="45720" marR="45720" marT="0" marB="0"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959463246"/>
                  </a:ext>
                </a:extLst>
              </a:tr>
            </a:tbl>
          </a:graphicData>
        </a:graphic>
      </p:graphicFrame>
      <p:graphicFrame>
        <p:nvGraphicFramePr>
          <p:cNvPr id="34" name="Table 33">
            <a:extLst>
              <a:ext uri="{FF2B5EF4-FFF2-40B4-BE49-F238E27FC236}">
                <a16:creationId xmlns:a16="http://schemas.microsoft.com/office/drawing/2014/main" id="{5D0901ED-208D-3555-6C96-0B016B8FEFAA}"/>
              </a:ext>
            </a:extLst>
          </p:cNvPr>
          <p:cNvGraphicFramePr>
            <a:graphicFrameLocks noGrp="1"/>
          </p:cNvGraphicFramePr>
          <p:nvPr>
            <p:extLst>
              <p:ext uri="{D42A27DB-BD31-4B8C-83A1-F6EECF244321}">
                <p14:modId xmlns:p14="http://schemas.microsoft.com/office/powerpoint/2010/main" val="1599783953"/>
              </p:ext>
            </p:extLst>
          </p:nvPr>
        </p:nvGraphicFramePr>
        <p:xfrm>
          <a:off x="514885" y="4167188"/>
          <a:ext cx="5379508" cy="1831973"/>
        </p:xfrm>
        <a:graphic>
          <a:graphicData uri="http://schemas.openxmlformats.org/drawingml/2006/table">
            <a:tbl>
              <a:tblPr firstRow="1" bandRow="1">
                <a:tableStyleId>{5C22544A-7EE6-4342-B048-85BDC9FD1C3A}</a:tableStyleId>
              </a:tblPr>
              <a:tblGrid>
                <a:gridCol w="757953">
                  <a:extLst>
                    <a:ext uri="{9D8B030D-6E8A-4147-A177-3AD203B41FA5}">
                      <a16:colId xmlns:a16="http://schemas.microsoft.com/office/drawing/2014/main" val="4044818158"/>
                    </a:ext>
                  </a:extLst>
                </a:gridCol>
                <a:gridCol w="787849">
                  <a:extLst>
                    <a:ext uri="{9D8B030D-6E8A-4147-A177-3AD203B41FA5}">
                      <a16:colId xmlns:a16="http://schemas.microsoft.com/office/drawing/2014/main" val="1441003221"/>
                    </a:ext>
                  </a:extLst>
                </a:gridCol>
                <a:gridCol w="638951">
                  <a:extLst>
                    <a:ext uri="{9D8B030D-6E8A-4147-A177-3AD203B41FA5}">
                      <a16:colId xmlns:a16="http://schemas.microsoft.com/office/drawing/2014/main" val="3354982043"/>
                    </a:ext>
                  </a:extLst>
                </a:gridCol>
                <a:gridCol w="638951">
                  <a:extLst>
                    <a:ext uri="{9D8B030D-6E8A-4147-A177-3AD203B41FA5}">
                      <a16:colId xmlns:a16="http://schemas.microsoft.com/office/drawing/2014/main" val="3979307976"/>
                    </a:ext>
                  </a:extLst>
                </a:gridCol>
                <a:gridCol w="638951">
                  <a:extLst>
                    <a:ext uri="{9D8B030D-6E8A-4147-A177-3AD203B41FA5}">
                      <a16:colId xmlns:a16="http://schemas.microsoft.com/office/drawing/2014/main" val="1107798298"/>
                    </a:ext>
                  </a:extLst>
                </a:gridCol>
                <a:gridCol w="638951">
                  <a:extLst>
                    <a:ext uri="{9D8B030D-6E8A-4147-A177-3AD203B41FA5}">
                      <a16:colId xmlns:a16="http://schemas.microsoft.com/office/drawing/2014/main" val="3729085685"/>
                    </a:ext>
                  </a:extLst>
                </a:gridCol>
                <a:gridCol w="638951">
                  <a:extLst>
                    <a:ext uri="{9D8B030D-6E8A-4147-A177-3AD203B41FA5}">
                      <a16:colId xmlns:a16="http://schemas.microsoft.com/office/drawing/2014/main" val="2498346904"/>
                    </a:ext>
                  </a:extLst>
                </a:gridCol>
                <a:gridCol w="638951">
                  <a:extLst>
                    <a:ext uri="{9D8B030D-6E8A-4147-A177-3AD203B41FA5}">
                      <a16:colId xmlns:a16="http://schemas.microsoft.com/office/drawing/2014/main" val="1697591594"/>
                    </a:ext>
                  </a:extLst>
                </a:gridCol>
              </a:tblGrid>
              <a:tr h="322493">
                <a:tc>
                  <a:txBody>
                    <a:bodyPr/>
                    <a:lstStyle/>
                    <a:p>
                      <a:r>
                        <a:rPr lang="en-US" sz="1000">
                          <a:latin typeface="Arial" panose="020B0604020202020204" pitchFamily="34" charset="0"/>
                          <a:cs typeface="Arial" panose="020B0604020202020204" pitchFamily="34" charset="0"/>
                        </a:rPr>
                        <a:t>Bids</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r>
                        <a:rPr lang="en-US" sz="1000">
                          <a:latin typeface="Arial" panose="020B0604020202020204" pitchFamily="34" charset="0"/>
                          <a:cs typeface="Arial" panose="020B0604020202020204" pitchFamily="34" charset="0"/>
                        </a:rPr>
                        <a:t>Price/ Quantity</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a:latin typeface="Arial" panose="020B0604020202020204" pitchFamily="34" charset="0"/>
                          <a:cs typeface="Arial" panose="020B0604020202020204" pitchFamily="34" charset="0"/>
                        </a:rPr>
                        <a:t>P/ Q 1</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2</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3</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4</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5</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6</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3118884124"/>
                  </a:ext>
                </a:extLst>
              </a:tr>
              <a:tr h="188685">
                <a:tc rowSpan="2">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Buy bid 1</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3,000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marL="0" algn="r" defTabSz="990564" rtl="0" eaLnBrk="1" fontAlgn="ctr" latinLnBrk="0" hangingPunct="1"/>
                      <a:r>
                        <a:rPr kumimoji="1" lang="en-US" sz="1000" b="0" i="0" u="none" strike="noStrike" kern="1200">
                          <a:solidFill>
                            <a:srgbClr val="000000"/>
                          </a:solidFill>
                          <a:effectLst/>
                          <a:latin typeface="Arial" panose="020B0604020202020204" pitchFamily="34" charset="0"/>
                          <a:ea typeface="+mn-ea"/>
                          <a:cs typeface="Arial" panose="020B0604020202020204" pitchFamily="34" charset="0"/>
                        </a:rPr>
                        <a:t>6,000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8,000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20,000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449693195"/>
                  </a:ext>
                </a:extLst>
              </a:tr>
              <a:tr h="188685">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marL="0" algn="r" defTabSz="990564" rtl="0" eaLnBrk="1" fontAlgn="ctr" latinLnBrk="0" hangingPunct="1"/>
                      <a:r>
                        <a:rPr kumimoji="1" lang="en-US" sz="1000" b="0" i="0" u="none" strike="noStrike" kern="1200">
                          <a:solidFill>
                            <a:srgbClr val="000000"/>
                          </a:solidFill>
                          <a:effectLst/>
                          <a:latin typeface="Arial" panose="020B0604020202020204" pitchFamily="34" charset="0"/>
                          <a:ea typeface="+mn-ea"/>
                          <a:cs typeface="Arial" panose="020B0604020202020204" pitchFamily="34" charset="0"/>
                        </a:rPr>
                        <a:t>140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100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50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658903918"/>
                  </a:ext>
                </a:extLst>
              </a:tr>
              <a:tr h="188685">
                <a:tc rowSpan="2">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Buy bid 2</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3,000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6,000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8,000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20,000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111333690"/>
                  </a:ext>
                </a:extLst>
              </a:tr>
              <a:tr h="188685">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120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110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80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70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10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26264363"/>
                  </a:ext>
                </a:extLst>
              </a:tr>
              <a:tr h="188685">
                <a:tc rowSpan="2">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Sell bid 1</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3,000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4,000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6,000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20,000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063306763"/>
                  </a:ext>
                </a:extLst>
              </a:tr>
              <a:tr h="188685">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(50)</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(75)</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(100)</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(105)</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(140)</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572659708"/>
                  </a:ext>
                </a:extLst>
              </a:tr>
              <a:tr h="188685">
                <a:tc rowSpan="2">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Sell bid 2</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2,000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3,000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4,000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6,000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20,000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740844377"/>
                  </a:ext>
                </a:extLst>
              </a:tr>
              <a:tr h="188685">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(60)</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(90)</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(110)</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(150)</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rgbClr val="000000"/>
                          </a:solidFill>
                          <a:effectLst/>
                          <a:latin typeface="Arial" panose="020B0604020202020204" pitchFamily="34" charset="0"/>
                          <a:cs typeface="Arial" panose="020B0604020202020204" pitchFamily="34" charset="0"/>
                        </a:rPr>
                        <a:t> (200)</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19957461"/>
                  </a:ext>
                </a:extLst>
              </a:tr>
            </a:tbl>
          </a:graphicData>
        </a:graphic>
      </p:graphicFrame>
      <p:graphicFrame>
        <p:nvGraphicFramePr>
          <p:cNvPr id="35" name="Table 34">
            <a:extLst>
              <a:ext uri="{FF2B5EF4-FFF2-40B4-BE49-F238E27FC236}">
                <a16:creationId xmlns:a16="http://schemas.microsoft.com/office/drawing/2014/main" id="{5A705662-2C2C-ADBF-DCC4-4A3101B7D80E}"/>
              </a:ext>
            </a:extLst>
          </p:cNvPr>
          <p:cNvGraphicFramePr>
            <a:graphicFrameLocks noGrp="1"/>
          </p:cNvGraphicFramePr>
          <p:nvPr>
            <p:extLst>
              <p:ext uri="{D42A27DB-BD31-4B8C-83A1-F6EECF244321}">
                <p14:modId xmlns:p14="http://schemas.microsoft.com/office/powerpoint/2010/main" val="3655257228"/>
              </p:ext>
            </p:extLst>
          </p:nvPr>
        </p:nvGraphicFramePr>
        <p:xfrm>
          <a:off x="6256338" y="1910142"/>
          <a:ext cx="5454104" cy="1563687"/>
        </p:xfrm>
        <a:graphic>
          <a:graphicData uri="http://schemas.openxmlformats.org/drawingml/2006/table">
            <a:tbl>
              <a:tblPr firstRow="1" bandRow="1">
                <a:tableStyleId>{5C22544A-7EE6-4342-B048-85BDC9FD1C3A}</a:tableStyleId>
              </a:tblPr>
              <a:tblGrid>
                <a:gridCol w="681763">
                  <a:extLst>
                    <a:ext uri="{9D8B030D-6E8A-4147-A177-3AD203B41FA5}">
                      <a16:colId xmlns:a16="http://schemas.microsoft.com/office/drawing/2014/main" val="4044818158"/>
                    </a:ext>
                  </a:extLst>
                </a:gridCol>
                <a:gridCol w="774435">
                  <a:extLst>
                    <a:ext uri="{9D8B030D-6E8A-4147-A177-3AD203B41FA5}">
                      <a16:colId xmlns:a16="http://schemas.microsoft.com/office/drawing/2014/main" val="1441003221"/>
                    </a:ext>
                  </a:extLst>
                </a:gridCol>
                <a:gridCol w="589091">
                  <a:extLst>
                    <a:ext uri="{9D8B030D-6E8A-4147-A177-3AD203B41FA5}">
                      <a16:colId xmlns:a16="http://schemas.microsoft.com/office/drawing/2014/main" val="3354982043"/>
                    </a:ext>
                  </a:extLst>
                </a:gridCol>
                <a:gridCol w="681763">
                  <a:extLst>
                    <a:ext uri="{9D8B030D-6E8A-4147-A177-3AD203B41FA5}">
                      <a16:colId xmlns:a16="http://schemas.microsoft.com/office/drawing/2014/main" val="3979307976"/>
                    </a:ext>
                  </a:extLst>
                </a:gridCol>
                <a:gridCol w="681763">
                  <a:extLst>
                    <a:ext uri="{9D8B030D-6E8A-4147-A177-3AD203B41FA5}">
                      <a16:colId xmlns:a16="http://schemas.microsoft.com/office/drawing/2014/main" val="1107798298"/>
                    </a:ext>
                  </a:extLst>
                </a:gridCol>
                <a:gridCol w="681763">
                  <a:extLst>
                    <a:ext uri="{9D8B030D-6E8A-4147-A177-3AD203B41FA5}">
                      <a16:colId xmlns:a16="http://schemas.microsoft.com/office/drawing/2014/main" val="3729085685"/>
                    </a:ext>
                  </a:extLst>
                </a:gridCol>
                <a:gridCol w="681763">
                  <a:extLst>
                    <a:ext uri="{9D8B030D-6E8A-4147-A177-3AD203B41FA5}">
                      <a16:colId xmlns:a16="http://schemas.microsoft.com/office/drawing/2014/main" val="2498346904"/>
                    </a:ext>
                  </a:extLst>
                </a:gridCol>
                <a:gridCol w="681763">
                  <a:extLst>
                    <a:ext uri="{9D8B030D-6E8A-4147-A177-3AD203B41FA5}">
                      <a16:colId xmlns:a16="http://schemas.microsoft.com/office/drawing/2014/main" val="1697591594"/>
                    </a:ext>
                  </a:extLst>
                </a:gridCol>
              </a:tblGrid>
              <a:tr h="453031">
                <a:tc>
                  <a:txBody>
                    <a:bodyPr/>
                    <a:lstStyle/>
                    <a:p>
                      <a:r>
                        <a:rPr lang="en-US" sz="1000">
                          <a:latin typeface="Arial" panose="020B0604020202020204" pitchFamily="34" charset="0"/>
                          <a:cs typeface="Arial" panose="020B0604020202020204" pitchFamily="34" charset="0"/>
                        </a:rPr>
                        <a:t>Bids</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r>
                        <a:rPr lang="en-US" sz="1000">
                          <a:latin typeface="Arial" panose="020B0604020202020204" pitchFamily="34" charset="0"/>
                          <a:cs typeface="Arial" panose="020B0604020202020204" pitchFamily="34" charset="0"/>
                        </a:rPr>
                        <a:t>Price/ Quantity</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a:latin typeface="Arial" panose="020B0604020202020204" pitchFamily="34" charset="0"/>
                          <a:cs typeface="Arial" panose="020B0604020202020204" pitchFamily="34" charset="0"/>
                        </a:rPr>
                        <a:t>P/ Q 1</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2</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3</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4</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5</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marL="0" marR="0" lvl="0" indent="0" algn="r"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P/ Q 6</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3118884124"/>
                  </a:ext>
                </a:extLst>
              </a:tr>
              <a:tr h="277664">
                <a:tc rowSpan="2">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Buy bid</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2,000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3,000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6,000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 8,000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 20,000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449693195"/>
                  </a:ext>
                </a:extLst>
              </a:tr>
              <a:tr h="277664">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400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320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310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220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170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60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658903918"/>
                  </a:ext>
                </a:extLst>
              </a:tr>
              <a:tr h="277664">
                <a:tc rowSpan="2">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Sell bid</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Price</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2,000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3,000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4,000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 6,000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 20,000 </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111333690"/>
                  </a:ext>
                </a:extLst>
              </a:tr>
              <a:tr h="277664">
                <a:tc vMerge="1">
                  <a:txBody>
                    <a:bodyPr/>
                    <a:lstStyle/>
                    <a:p>
                      <a:endParaRPr lang="en-US"/>
                    </a:p>
                  </a:txBody>
                  <a:tcP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Quantity</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(110)</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(165)</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(210)</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 (255)</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l" fontAlgn="ctr"/>
                      <a:r>
                        <a:rPr lang="en-US" sz="1000" b="0" i="0" u="none" strike="noStrike">
                          <a:solidFill>
                            <a:srgbClr val="000000"/>
                          </a:solidFill>
                          <a:effectLst/>
                          <a:latin typeface="Arial" panose="020B0604020202020204" pitchFamily="34" charset="0"/>
                          <a:cs typeface="Arial" panose="020B0604020202020204" pitchFamily="34" charset="0"/>
                        </a:rPr>
                        <a:t> (340)</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26264363"/>
                  </a:ext>
                </a:extLst>
              </a:tr>
            </a:tbl>
          </a:graphicData>
        </a:graphic>
      </p:graphicFrame>
      <p:graphicFrame>
        <p:nvGraphicFramePr>
          <p:cNvPr id="452" name="Chart 451">
            <a:extLst>
              <a:ext uri="{FF2B5EF4-FFF2-40B4-BE49-F238E27FC236}">
                <a16:creationId xmlns:a16="http://schemas.microsoft.com/office/drawing/2014/main" id="{BA8BA3A9-0367-AF3B-3183-8EE13EA8DC8E}"/>
              </a:ext>
            </a:extLst>
          </p:cNvPr>
          <p:cNvGraphicFramePr/>
          <p:nvPr>
            <p:custDataLst>
              <p:tags r:id="rId2"/>
            </p:custDataLst>
            <p:extLst>
              <p:ext uri="{D42A27DB-BD31-4B8C-83A1-F6EECF244321}">
                <p14:modId xmlns:p14="http://schemas.microsoft.com/office/powerpoint/2010/main" val="232730662"/>
              </p:ext>
            </p:extLst>
          </p:nvPr>
        </p:nvGraphicFramePr>
        <p:xfrm>
          <a:off x="6070600" y="4084638"/>
          <a:ext cx="3540125" cy="2354262"/>
        </p:xfrm>
        <a:graphic>
          <a:graphicData uri="http://schemas.openxmlformats.org/drawingml/2006/chart">
            <c:chart xmlns:c="http://schemas.openxmlformats.org/drawingml/2006/chart" xmlns:r="http://schemas.openxmlformats.org/officeDocument/2006/relationships" r:id="rId11"/>
          </a:graphicData>
        </a:graphic>
      </p:graphicFrame>
      <p:cxnSp>
        <p:nvCxnSpPr>
          <p:cNvPr id="37" name="Straight Connector 36">
            <a:extLst>
              <a:ext uri="{FF2B5EF4-FFF2-40B4-BE49-F238E27FC236}">
                <a16:creationId xmlns:a16="http://schemas.microsoft.com/office/drawing/2014/main" id="{A7E09C2A-2AF1-0AF4-542C-1A077BCD38DA}"/>
              </a:ext>
            </a:extLst>
          </p:cNvPr>
          <p:cNvCxnSpPr/>
          <p:nvPr>
            <p:custDataLst>
              <p:tags r:id="rId3"/>
            </p:custDataLst>
          </p:nvPr>
        </p:nvCxnSpPr>
        <p:spPr bwMode="gray">
          <a:xfrm>
            <a:off x="6856413" y="6565900"/>
            <a:ext cx="114300" cy="0"/>
          </a:xfrm>
          <a:prstGeom prst="line">
            <a:avLst/>
          </a:prstGeom>
          <a:ln w="28575" cap="rnd" cmpd="sng" algn="ctr">
            <a:solidFill>
              <a:srgbClr val="0097A9"/>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B267B73C-A911-6AFF-49BC-E5FEB59F11C1}"/>
              </a:ext>
            </a:extLst>
          </p:cNvPr>
          <p:cNvCxnSpPr/>
          <p:nvPr>
            <p:custDataLst>
              <p:tags r:id="rId4"/>
            </p:custDataLst>
          </p:nvPr>
        </p:nvCxnSpPr>
        <p:spPr bwMode="gray">
          <a:xfrm>
            <a:off x="7825707" y="6565900"/>
            <a:ext cx="114300" cy="0"/>
          </a:xfrm>
          <a:prstGeom prst="line">
            <a:avLst/>
          </a:prstGeom>
          <a:ln w="28575" cap="rnd" cmpd="sng" algn="ctr">
            <a:solidFill>
              <a:srgbClr val="ED8B00"/>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9" name="テキスト プレースホルダー 2">
            <a:extLst>
              <a:ext uri="{FF2B5EF4-FFF2-40B4-BE49-F238E27FC236}">
                <a16:creationId xmlns:a16="http://schemas.microsoft.com/office/drawing/2014/main" id="{9A52DCB9-83CE-9ACA-21EC-55E98B9CEDC1}"/>
              </a:ext>
            </a:extLst>
          </p:cNvPr>
          <p:cNvSpPr>
            <a:spLocks/>
          </p:cNvSpPr>
          <p:nvPr>
            <p:custDataLst>
              <p:tags r:id="rId5"/>
            </p:custDataLst>
          </p:nvPr>
        </p:nvSpPr>
        <p:spPr bwMode="auto">
          <a:xfrm>
            <a:off x="7035800" y="6500813"/>
            <a:ext cx="596900" cy="1333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spcBef>
                <a:spcPct val="0"/>
              </a:spcBef>
              <a:spcAft>
                <a:spcPct val="0"/>
              </a:spcAft>
            </a:pPr>
            <a:fld id="{9B427FDF-B78C-412C-AD1D-24C4833D14B0}" type="datetime'''''A''''''gg''regat''e'' bu''''''''y'''''''''''''''">
              <a:rPr lang="en-US" altLang="en-US" sz="1000" smtClean="0"/>
              <a:pPr lvl="0">
                <a:spcBef>
                  <a:spcPct val="0"/>
                </a:spcBef>
                <a:spcAft>
                  <a:spcPct val="0"/>
                </a:spcAft>
              </a:pPr>
              <a:t>Aggregate buy</a:t>
            </a:fld>
            <a:endParaRPr kumimoji="1" lang="en-US" altLang="ja-JP" sz="1000"/>
          </a:p>
        </p:txBody>
      </p:sp>
      <p:sp>
        <p:nvSpPr>
          <p:cNvPr id="40" name="テキスト プレースホルダー 2">
            <a:extLst>
              <a:ext uri="{FF2B5EF4-FFF2-40B4-BE49-F238E27FC236}">
                <a16:creationId xmlns:a16="http://schemas.microsoft.com/office/drawing/2014/main" id="{6EDD4EBF-32C3-C209-ED9A-9CFE60100D40}"/>
              </a:ext>
            </a:extLst>
          </p:cNvPr>
          <p:cNvSpPr>
            <a:spLocks/>
          </p:cNvSpPr>
          <p:nvPr>
            <p:custDataLst>
              <p:tags r:id="rId6"/>
            </p:custDataLst>
          </p:nvPr>
        </p:nvSpPr>
        <p:spPr bwMode="auto">
          <a:xfrm>
            <a:off x="8005094" y="6500813"/>
            <a:ext cx="581025" cy="1333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marR="0" indent="0" algn="l" defTabSz="990564" rtl="0" eaLnBrk="1" fontAlgn="auto" latinLnBrk="0" hangingPunct="1">
              <a:lnSpc>
                <a:spcPct val="110000"/>
              </a:lnSpc>
              <a:spcBef>
                <a:spcPts val="600"/>
              </a:spcBef>
              <a:spcAft>
                <a:spcPts val="0"/>
              </a:spcAft>
              <a:buClrTx/>
              <a:buSzPct val="100000"/>
              <a:buFont typeface="Arial" panose="020B0604020202020204" pitchFamily="34" charset="0"/>
              <a:buNone/>
              <a:tabLst/>
              <a:defRPr kumimoji="1" sz="1200" b="0" kern="1200">
                <a:solidFill>
                  <a:schemeClr val="tx1"/>
                </a:solidFill>
                <a:latin typeface="+mn-lt"/>
                <a:ea typeface="+mn-ea"/>
                <a:cs typeface="+mn-cs"/>
                <a:sym typeface="+mn-lt"/>
              </a:defRPr>
            </a:lvl1pPr>
            <a:lvl2pPr marL="18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n"/>
              <a:tabLst/>
              <a:defRPr kumimoji="1" lang="en-US" sz="1200" b="0" kern="1200" dirty="0" smtClean="0">
                <a:solidFill>
                  <a:schemeClr val="tx1"/>
                </a:solidFill>
                <a:latin typeface="+mn-lt"/>
                <a:ea typeface="+mn-ea"/>
                <a:cs typeface="+mn-cs"/>
                <a:sym typeface="+mn-lt"/>
              </a:defRPr>
            </a:lvl2pPr>
            <a:lvl3pPr marL="360000" marR="0" indent="-180000" algn="l" defTabSz="990564" rtl="0" eaLnBrk="1" fontAlgn="auto" latinLnBrk="0" hangingPunct="1">
              <a:lnSpc>
                <a:spcPct val="110000"/>
              </a:lnSpc>
              <a:spcBef>
                <a:spcPts val="600"/>
              </a:spcBef>
              <a:spcAft>
                <a:spcPts val="0"/>
              </a:spcAft>
              <a:buClrTx/>
              <a:buSzPct val="100000"/>
              <a:buFont typeface="Wingdings" panose="05000000000000000000" pitchFamily="2" charset="2"/>
              <a:buChar char="Ø"/>
              <a:tabLst/>
              <a:defRPr kumimoji="1" lang="en-US" sz="1200" b="0" kern="1200" dirty="0" smtClean="0">
                <a:solidFill>
                  <a:schemeClr val="tx1"/>
                </a:solidFill>
                <a:latin typeface="+mn-lt"/>
                <a:ea typeface="+mn-ea"/>
                <a:cs typeface="+mn-cs"/>
                <a:sym typeface="+mn-lt"/>
              </a:defRPr>
            </a:lvl3pPr>
            <a:lvl4pPr marL="504000" marR="0" indent="-144000" algn="l" defTabSz="990564" rtl="0" eaLnBrk="1" fontAlgn="auto" latinLnBrk="0" hangingPunct="1">
              <a:lnSpc>
                <a:spcPct val="110000"/>
              </a:lnSpc>
              <a:spcBef>
                <a:spcPts val="600"/>
              </a:spcBef>
              <a:spcAft>
                <a:spcPts val="0"/>
              </a:spcAft>
              <a:buClrTx/>
              <a:buSzPct val="100000"/>
              <a:buFont typeface="Arial" panose="020B0604020202020204" pitchFamily="34" charset="0"/>
              <a:buChar char="•"/>
              <a:tabLst/>
              <a:defRPr kumimoji="1" lang="en-US" sz="1200" b="0" kern="1200" baseline="0" dirty="0" smtClean="0">
                <a:solidFill>
                  <a:schemeClr val="tx1"/>
                </a:solidFill>
                <a:latin typeface="+mn-lt"/>
                <a:ea typeface="+mn-ea"/>
                <a:cs typeface="+mn-cs"/>
                <a:sym typeface="+mn-lt"/>
              </a:defRPr>
            </a:lvl4pPr>
            <a:lvl5pPr marL="684000" indent="-180000" algn="l" defTabSz="865024" rtl="0" eaLnBrk="1" latinLnBrk="0" hangingPunct="1">
              <a:lnSpc>
                <a:spcPct val="110000"/>
              </a:lnSpc>
              <a:spcBef>
                <a:spcPts val="600"/>
              </a:spcBef>
              <a:spcAft>
                <a:spcPts val="0"/>
              </a:spcAft>
              <a:buClrTx/>
              <a:buSzPct val="100000"/>
              <a:buFont typeface="Verdana" panose="020B0604030504040204" pitchFamily="34" charset="0"/>
              <a:buChar char="−"/>
              <a:tabLst/>
              <a:defRPr kumimoji="1" lang="en-US" sz="1200" kern="1200" baseline="0" dirty="0" smtClean="0">
                <a:solidFill>
                  <a:schemeClr val="tx1"/>
                </a:solidFill>
                <a:latin typeface="+mn-lt"/>
                <a:ea typeface="+mn-ea"/>
                <a:cs typeface="+mn-cs"/>
              </a:defRPr>
            </a:lvl5pPr>
            <a:lvl6pPr marL="864000" indent="-180000" algn="l" defTabSz="990564" rtl="0" eaLnBrk="1" latinLnBrk="0" hangingPunct="1">
              <a:lnSpc>
                <a:spcPct val="110000"/>
              </a:lnSpc>
              <a:spcBef>
                <a:spcPts val="600"/>
              </a:spcBef>
              <a:spcAft>
                <a:spcPts val="0"/>
              </a:spcAft>
              <a:buFont typeface="Wingdings" panose="05000000000000000000" pitchFamily="2" charset="2"/>
              <a:buChar char="ü"/>
              <a:defRPr kumimoji="1" sz="1200" kern="1200" baseline="0">
                <a:solidFill>
                  <a:schemeClr val="tx1"/>
                </a:solidFill>
                <a:latin typeface="+mn-lt"/>
                <a:ea typeface="+mn-ea"/>
                <a:cs typeface="+mn-cs"/>
              </a:defRPr>
            </a:lvl6pPr>
            <a:lvl7pPr marL="577179" indent="-191093" algn="l" defTabSz="990564" rtl="0" eaLnBrk="1" latinLnBrk="0" hangingPunct="1">
              <a:spcBef>
                <a:spcPts val="0"/>
              </a:spcBef>
              <a:spcAft>
                <a:spcPts val="1083"/>
              </a:spcAft>
              <a:buFont typeface="Verdana" panose="020B0604030504040204" pitchFamily="34" charset="0"/>
              <a:buChar char="−"/>
              <a:defRPr kumimoji="1" sz="1300" kern="1200">
                <a:solidFill>
                  <a:schemeClr val="tx1"/>
                </a:solidFill>
                <a:latin typeface="+mn-lt"/>
                <a:ea typeface="+mn-ea"/>
                <a:cs typeface="+mn-cs"/>
              </a:defRPr>
            </a:lvl7pPr>
            <a:lvl8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8pPr>
            <a:lvl9pPr marL="577179" indent="-191093" algn="l" defTabSz="990564" rtl="0" eaLnBrk="1" latinLnBrk="0" hangingPunct="1">
              <a:spcBef>
                <a:spcPts val="0"/>
              </a:spcBef>
              <a:spcAft>
                <a:spcPts val="1083"/>
              </a:spcAft>
              <a:buFont typeface="Verdana" panose="020B0604030504040204" pitchFamily="34" charset="0"/>
              <a:buChar char="−"/>
              <a:defRPr kumimoji="1" sz="1300" kern="1200" baseline="0">
                <a:solidFill>
                  <a:schemeClr val="tx1"/>
                </a:solidFill>
                <a:latin typeface="+mn-lt"/>
                <a:ea typeface="+mn-ea"/>
                <a:cs typeface="+mn-cs"/>
              </a:defRPr>
            </a:lvl9pPr>
          </a:lstStyle>
          <a:p>
            <a:pPr lvl="0">
              <a:spcBef>
                <a:spcPct val="0"/>
              </a:spcBef>
              <a:spcAft>
                <a:spcPct val="0"/>
              </a:spcAft>
            </a:pPr>
            <a:fld id="{FD2E93D7-9BBC-41B3-9F43-2ACF16B73E7E}" type="datetime'Ag''''gr''''''eg''a''te ''''''''''''''''''''''sell'''''''''''">
              <a:rPr lang="en-US" altLang="en-US" sz="1000" smtClean="0"/>
              <a:pPr lvl="0">
                <a:spcBef>
                  <a:spcPct val="0"/>
                </a:spcBef>
                <a:spcAft>
                  <a:spcPct val="0"/>
                </a:spcAft>
              </a:pPr>
              <a:t>Aggregate sell</a:t>
            </a:fld>
            <a:endParaRPr kumimoji="1" lang="en-US" altLang="ja-JP" sz="1000"/>
          </a:p>
        </p:txBody>
      </p:sp>
      <p:graphicFrame>
        <p:nvGraphicFramePr>
          <p:cNvPr id="41" name="Table 40">
            <a:extLst>
              <a:ext uri="{FF2B5EF4-FFF2-40B4-BE49-F238E27FC236}">
                <a16:creationId xmlns:a16="http://schemas.microsoft.com/office/drawing/2014/main" id="{BB9EBFA1-9D07-B6FF-110F-07DE642427BD}"/>
              </a:ext>
            </a:extLst>
          </p:cNvPr>
          <p:cNvGraphicFramePr>
            <a:graphicFrameLocks noGrp="1"/>
          </p:cNvGraphicFramePr>
          <p:nvPr>
            <p:extLst>
              <p:ext uri="{D42A27DB-BD31-4B8C-83A1-F6EECF244321}">
                <p14:modId xmlns:p14="http://schemas.microsoft.com/office/powerpoint/2010/main" val="2393504925"/>
              </p:ext>
            </p:extLst>
          </p:nvPr>
        </p:nvGraphicFramePr>
        <p:xfrm>
          <a:off x="9791699" y="5083174"/>
          <a:ext cx="1898652" cy="1123950"/>
        </p:xfrm>
        <a:graphic>
          <a:graphicData uri="http://schemas.openxmlformats.org/drawingml/2006/table">
            <a:tbl>
              <a:tblPr firstRow="1" bandRow="1">
                <a:tableStyleId>{5C22544A-7EE6-4342-B048-85BDC9FD1C3A}</a:tableStyleId>
              </a:tblPr>
              <a:tblGrid>
                <a:gridCol w="949326">
                  <a:extLst>
                    <a:ext uri="{9D8B030D-6E8A-4147-A177-3AD203B41FA5}">
                      <a16:colId xmlns:a16="http://schemas.microsoft.com/office/drawing/2014/main" val="1464623269"/>
                    </a:ext>
                  </a:extLst>
                </a:gridCol>
                <a:gridCol w="949326">
                  <a:extLst>
                    <a:ext uri="{9D8B030D-6E8A-4147-A177-3AD203B41FA5}">
                      <a16:colId xmlns:a16="http://schemas.microsoft.com/office/drawing/2014/main" val="2207709583"/>
                    </a:ext>
                  </a:extLst>
                </a:gridCol>
              </a:tblGrid>
              <a:tr h="224790">
                <a:tc>
                  <a:txBody>
                    <a:bodyPr/>
                    <a:lstStyle/>
                    <a:p>
                      <a:r>
                        <a:rPr lang="en-US" sz="1000">
                          <a:latin typeface="Arial" panose="020B0604020202020204" pitchFamily="34" charset="0"/>
                          <a:cs typeface="Arial" panose="020B0604020202020204" pitchFamily="34" charset="0"/>
                        </a:rPr>
                        <a:t>Bids</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a:latin typeface="Arial" panose="020B0604020202020204" pitchFamily="34" charset="0"/>
                          <a:cs typeface="Arial" panose="020B0604020202020204" pitchFamily="34" charset="0"/>
                        </a:rPr>
                        <a:t>Quantity</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797671000"/>
                  </a:ext>
                </a:extLst>
              </a:tr>
              <a:tr h="224790">
                <a:tc>
                  <a:txBody>
                    <a:bodyPr/>
                    <a:lstStyle/>
                    <a:p>
                      <a:r>
                        <a:rPr lang="en-US" sz="1000">
                          <a:latin typeface="Arial" panose="020B0604020202020204" pitchFamily="34" charset="0"/>
                          <a:cs typeface="Arial" panose="020B0604020202020204" pitchFamily="34" charset="0"/>
                        </a:rPr>
                        <a:t>Buy bid 1</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153.33</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483128688"/>
                  </a:ext>
                </a:extLst>
              </a:tr>
              <a:tr h="224790">
                <a:tc>
                  <a:txBody>
                    <a:bodyPr/>
                    <a:lstStyle/>
                    <a:p>
                      <a:r>
                        <a:rPr lang="en-US" sz="1000">
                          <a:latin typeface="Arial" panose="020B0604020202020204" pitchFamily="34" charset="0"/>
                          <a:cs typeface="Arial" panose="020B0604020202020204" pitchFamily="34" charset="0"/>
                        </a:rPr>
                        <a:t>Buy bid 2</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86.67</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90667589"/>
                  </a:ext>
                </a:extLst>
              </a:tr>
              <a:tr h="224790">
                <a:tc>
                  <a:txBody>
                    <a:bodyPr/>
                    <a:lstStyle/>
                    <a:p>
                      <a:r>
                        <a:rPr lang="en-US" sz="1000">
                          <a:latin typeface="Arial" panose="020B0604020202020204" pitchFamily="34" charset="0"/>
                          <a:cs typeface="Arial" panose="020B0604020202020204" pitchFamily="34" charset="0"/>
                        </a:rPr>
                        <a:t>Sell bid 1</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(103.33)</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302338160"/>
                  </a:ext>
                </a:extLst>
              </a:tr>
              <a:tr h="224790">
                <a:tc>
                  <a:txBody>
                    <a:bodyPr/>
                    <a:lstStyle/>
                    <a:p>
                      <a:r>
                        <a:rPr lang="en-US" sz="1000">
                          <a:latin typeface="Arial" panose="020B0604020202020204" pitchFamily="34" charset="0"/>
                          <a:cs typeface="Arial" panose="020B0604020202020204" pitchFamily="34" charset="0"/>
                        </a:rPr>
                        <a:t>Sell bid 2</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(136.67)</a:t>
                      </a:r>
                    </a:p>
                  </a:txBody>
                  <a:tcPr marL="45720" marR="45720" marT="0" marB="0" anchor="ct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623082541"/>
                  </a:ext>
                </a:extLst>
              </a:tr>
            </a:tbl>
          </a:graphicData>
        </a:graphic>
      </p:graphicFrame>
      <p:sp>
        <p:nvSpPr>
          <p:cNvPr id="43" name="Speech Bubble: Rectangle 42">
            <a:extLst>
              <a:ext uri="{FF2B5EF4-FFF2-40B4-BE49-F238E27FC236}">
                <a16:creationId xmlns:a16="http://schemas.microsoft.com/office/drawing/2014/main" id="{DEB95A57-AE09-114D-F31E-7A3910E4CF17}"/>
              </a:ext>
            </a:extLst>
          </p:cNvPr>
          <p:cNvSpPr/>
          <p:nvPr/>
        </p:nvSpPr>
        <p:spPr bwMode="gray">
          <a:xfrm>
            <a:off x="9351543" y="3717925"/>
            <a:ext cx="2349844" cy="696913"/>
          </a:xfrm>
          <a:prstGeom prst="wedgeRectCallout">
            <a:avLst>
              <a:gd name="adj1" fmla="val -64698"/>
              <a:gd name="adj2" fmla="val 45062"/>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9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Aggregated buy and sell curves cut each other to give area clearing price and volume (i.e.,</a:t>
            </a:r>
            <a:r>
              <a:rPr kumimoji="1" lang="en-US" sz="900" b="1">
                <a:solidFill>
                  <a:prstClr val="black"/>
                </a:solidFill>
                <a:latin typeface="Arial" panose="020B0604020202020204" pitchFamily="34" charset="0"/>
                <a:cs typeface="Arial" panose="020B0604020202020204" pitchFamily="34" charset="0"/>
              </a:rPr>
              <a:t> INR 5,333/ MWh and 240 MW</a:t>
            </a:r>
            <a:endParaRPr kumimoji="1" lang="en-US" sz="9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id="{E80FD8C9-5A2F-7509-58D8-BDB0521DDDFE}"/>
              </a:ext>
            </a:extLst>
          </p:cNvPr>
          <p:cNvSpPr txBox="1"/>
          <p:nvPr/>
        </p:nvSpPr>
        <p:spPr>
          <a:xfrm>
            <a:off x="9791699" y="4567793"/>
            <a:ext cx="1822297" cy="369332"/>
          </a:xfrm>
          <a:prstGeom prst="rect">
            <a:avLst/>
          </a:prstGeom>
          <a:noFill/>
        </p:spPr>
        <p:txBody>
          <a:bodyPr wrap="square" lIns="0" tIns="0" rIns="0" bIns="0" rtlCol="0">
            <a:spAutoFit/>
          </a:bodyPr>
          <a:lstStyle/>
          <a:p>
            <a:pPr>
              <a:spcBef>
                <a:spcPts val="0"/>
              </a:spcBef>
              <a:buSzPct val="100000"/>
            </a:pPr>
            <a:r>
              <a:rPr lang="en-US" sz="1200" b="1">
                <a:latin typeface="Arial" panose="020B0604020202020204" pitchFamily="34" charset="0"/>
                <a:cs typeface="Arial" panose="020B0604020202020204" pitchFamily="34" charset="0"/>
              </a:rPr>
              <a:t>Bid volume allocations</a:t>
            </a:r>
          </a:p>
          <a:p>
            <a:pPr>
              <a:spcBef>
                <a:spcPts val="0"/>
              </a:spcBef>
              <a:buSzPct val="100000"/>
            </a:pPr>
            <a:r>
              <a:rPr lang="en-US" sz="1200">
                <a:latin typeface="Arial" panose="020B0604020202020204" pitchFamily="34" charset="0"/>
                <a:cs typeface="Arial" panose="020B0604020202020204" pitchFamily="34" charset="0"/>
              </a:rPr>
              <a:t>MW</a:t>
            </a:r>
          </a:p>
        </p:txBody>
      </p:sp>
      <p:sp>
        <p:nvSpPr>
          <p:cNvPr id="45" name="TextBox 44">
            <a:extLst>
              <a:ext uri="{FF2B5EF4-FFF2-40B4-BE49-F238E27FC236}">
                <a16:creationId xmlns:a16="http://schemas.microsoft.com/office/drawing/2014/main" id="{6C82ED37-5D0E-5E2D-8276-D0FBDE7B2571}"/>
              </a:ext>
            </a:extLst>
          </p:cNvPr>
          <p:cNvSpPr txBox="1"/>
          <p:nvPr/>
        </p:nvSpPr>
        <p:spPr>
          <a:xfrm>
            <a:off x="6262688" y="3666588"/>
            <a:ext cx="2940044" cy="369332"/>
          </a:xfrm>
          <a:prstGeom prst="rect">
            <a:avLst/>
          </a:prstGeom>
          <a:noFill/>
        </p:spPr>
        <p:txBody>
          <a:bodyPr wrap="square" lIns="0" tIns="0" rIns="0" bIns="0" rtlCol="0">
            <a:spAutoFit/>
          </a:bodyPr>
          <a:lstStyle/>
          <a:p>
            <a:pPr>
              <a:spcBef>
                <a:spcPts val="0"/>
              </a:spcBef>
              <a:buSzPct val="100000"/>
            </a:pPr>
            <a:r>
              <a:rPr lang="en-US" sz="1200" b="1">
                <a:latin typeface="Arial" panose="020B0604020202020204" pitchFamily="34" charset="0"/>
                <a:cs typeface="Arial" panose="020B0604020202020204" pitchFamily="34" charset="0"/>
              </a:rPr>
              <a:t>Aggregate line curves (buy/ sell)</a:t>
            </a:r>
          </a:p>
          <a:p>
            <a:pPr>
              <a:spcBef>
                <a:spcPts val="0"/>
              </a:spcBef>
              <a:buSzPct val="100000"/>
            </a:pPr>
            <a:r>
              <a:rPr lang="en-US" sz="1200">
                <a:latin typeface="Arial" panose="020B0604020202020204" pitchFamily="34" charset="0"/>
                <a:cs typeface="Arial" panose="020B0604020202020204" pitchFamily="34" charset="0"/>
              </a:rPr>
              <a:t>INR/ MWh, MW</a:t>
            </a:r>
          </a:p>
        </p:txBody>
      </p:sp>
      <p:sp>
        <p:nvSpPr>
          <p:cNvPr id="46" name="TextBox 45">
            <a:extLst>
              <a:ext uri="{FF2B5EF4-FFF2-40B4-BE49-F238E27FC236}">
                <a16:creationId xmlns:a16="http://schemas.microsoft.com/office/drawing/2014/main" id="{56D816E6-71D9-DF99-4655-3CDC42EFF868}"/>
              </a:ext>
            </a:extLst>
          </p:cNvPr>
          <p:cNvSpPr txBox="1"/>
          <p:nvPr/>
        </p:nvSpPr>
        <p:spPr>
          <a:xfrm>
            <a:off x="6220710" y="1337575"/>
            <a:ext cx="2151297" cy="369332"/>
          </a:xfrm>
          <a:prstGeom prst="rect">
            <a:avLst/>
          </a:prstGeom>
          <a:noFill/>
        </p:spPr>
        <p:txBody>
          <a:bodyPr wrap="square" lIns="0" tIns="0" rIns="0" bIns="0" rtlCol="0">
            <a:spAutoFit/>
          </a:bodyPr>
          <a:lstStyle/>
          <a:p>
            <a:pPr>
              <a:spcBef>
                <a:spcPts val="0"/>
              </a:spcBef>
              <a:buSzPct val="100000"/>
            </a:pPr>
            <a:r>
              <a:rPr lang="en-US" sz="1200" b="1">
                <a:latin typeface="Arial" panose="020B0604020202020204" pitchFamily="34" charset="0"/>
                <a:cs typeface="Arial" panose="020B0604020202020204" pitchFamily="34" charset="0"/>
              </a:rPr>
              <a:t>Aggregate bids (buy/ sell)</a:t>
            </a:r>
          </a:p>
          <a:p>
            <a:pPr>
              <a:spcBef>
                <a:spcPts val="0"/>
              </a:spcBef>
              <a:buSzPct val="100000"/>
            </a:pPr>
            <a:r>
              <a:rPr lang="en-US" sz="1200">
                <a:latin typeface="Arial" panose="020B0604020202020204" pitchFamily="34" charset="0"/>
                <a:cs typeface="Arial" panose="020B0604020202020204" pitchFamily="34" charset="0"/>
              </a:rPr>
              <a:t>INR/ MWh, MW</a:t>
            </a:r>
          </a:p>
        </p:txBody>
      </p:sp>
      <p:sp>
        <p:nvSpPr>
          <p:cNvPr id="47" name="TextBox 46">
            <a:extLst>
              <a:ext uri="{FF2B5EF4-FFF2-40B4-BE49-F238E27FC236}">
                <a16:creationId xmlns:a16="http://schemas.microsoft.com/office/drawing/2014/main" id="{7552CC93-0E6B-5774-AB33-E00353ECCE1C}"/>
              </a:ext>
            </a:extLst>
          </p:cNvPr>
          <p:cNvSpPr txBox="1"/>
          <p:nvPr/>
        </p:nvSpPr>
        <p:spPr>
          <a:xfrm>
            <a:off x="498645" y="3666588"/>
            <a:ext cx="2859445" cy="369332"/>
          </a:xfrm>
          <a:prstGeom prst="rect">
            <a:avLst/>
          </a:prstGeom>
          <a:noFill/>
        </p:spPr>
        <p:txBody>
          <a:bodyPr wrap="square" lIns="0" tIns="0" rIns="0" bIns="0" rtlCol="0">
            <a:spAutoFit/>
          </a:bodyPr>
          <a:lstStyle/>
          <a:p>
            <a:pPr>
              <a:spcBef>
                <a:spcPts val="0"/>
              </a:spcBef>
              <a:buSzPct val="100000"/>
            </a:pPr>
            <a:r>
              <a:rPr lang="en-US" sz="1200" b="1">
                <a:latin typeface="Arial" panose="020B0604020202020204" pitchFamily="34" charset="0"/>
                <a:cs typeface="Arial" panose="020B0604020202020204" pitchFamily="34" charset="0"/>
              </a:rPr>
              <a:t>Processed sample bids (buy/ sell)</a:t>
            </a:r>
          </a:p>
          <a:p>
            <a:pPr>
              <a:spcBef>
                <a:spcPts val="0"/>
              </a:spcBef>
              <a:buSzPct val="100000"/>
            </a:pPr>
            <a:r>
              <a:rPr lang="en-US" sz="1200">
                <a:latin typeface="Arial" panose="020B0604020202020204" pitchFamily="34" charset="0"/>
                <a:cs typeface="Arial" panose="020B0604020202020204" pitchFamily="34" charset="0"/>
              </a:rPr>
              <a:t>INR/ MWh, MW</a:t>
            </a:r>
          </a:p>
        </p:txBody>
      </p:sp>
      <p:sp>
        <p:nvSpPr>
          <p:cNvPr id="48" name="Arrow: Down 47">
            <a:extLst>
              <a:ext uri="{FF2B5EF4-FFF2-40B4-BE49-F238E27FC236}">
                <a16:creationId xmlns:a16="http://schemas.microsoft.com/office/drawing/2014/main" id="{37BCA2C0-98E6-8AFA-6F4D-ADC903E623F1}"/>
              </a:ext>
            </a:extLst>
          </p:cNvPr>
          <p:cNvSpPr/>
          <p:nvPr/>
        </p:nvSpPr>
        <p:spPr bwMode="gray">
          <a:xfrm>
            <a:off x="4075113" y="3717925"/>
            <a:ext cx="206375" cy="344488"/>
          </a:xfrm>
          <a:prstGeom prst="downArrow">
            <a:avLst/>
          </a:prstGeom>
          <a:solidFill>
            <a:srgbClr val="BBBCBC"/>
          </a:solidFill>
          <a:ln w="12700" algn="ctr">
            <a:solidFill>
              <a:srgbClr val="BBBCBC"/>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49" name="Arrow: Down 48">
            <a:extLst>
              <a:ext uri="{FF2B5EF4-FFF2-40B4-BE49-F238E27FC236}">
                <a16:creationId xmlns:a16="http://schemas.microsoft.com/office/drawing/2014/main" id="{680977CD-701F-2345-F2BF-FAF23C775562}"/>
              </a:ext>
            </a:extLst>
          </p:cNvPr>
          <p:cNvSpPr/>
          <p:nvPr/>
        </p:nvSpPr>
        <p:spPr bwMode="gray">
          <a:xfrm>
            <a:off x="8991873" y="3554793"/>
            <a:ext cx="206375" cy="344488"/>
          </a:xfrm>
          <a:prstGeom prst="downArrow">
            <a:avLst/>
          </a:prstGeom>
          <a:solidFill>
            <a:srgbClr val="BBBCBC"/>
          </a:solidFill>
          <a:ln w="12700" algn="ctr">
            <a:solidFill>
              <a:srgbClr val="BBBCBC"/>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grpSp>
        <p:nvGrpSpPr>
          <p:cNvPr id="50" name="Group 49">
            <a:extLst>
              <a:ext uri="{FF2B5EF4-FFF2-40B4-BE49-F238E27FC236}">
                <a16:creationId xmlns:a16="http://schemas.microsoft.com/office/drawing/2014/main" id="{8712E935-CE4F-0EBA-7737-AE03902984D2}"/>
              </a:ext>
            </a:extLst>
          </p:cNvPr>
          <p:cNvGrpSpPr/>
          <p:nvPr/>
        </p:nvGrpSpPr>
        <p:grpSpPr>
          <a:xfrm>
            <a:off x="5970111" y="2854325"/>
            <a:ext cx="286228" cy="2466975"/>
            <a:chOff x="4795005" y="2653145"/>
            <a:chExt cx="320075" cy="2466934"/>
          </a:xfrm>
        </p:grpSpPr>
        <p:grpSp>
          <p:nvGrpSpPr>
            <p:cNvPr id="51" name="Group 50">
              <a:extLst>
                <a:ext uri="{FF2B5EF4-FFF2-40B4-BE49-F238E27FC236}">
                  <a16:creationId xmlns:a16="http://schemas.microsoft.com/office/drawing/2014/main" id="{2A151CE0-8C21-3C94-C4B0-5F0CA4A8A2C2}"/>
                </a:ext>
              </a:extLst>
            </p:cNvPr>
            <p:cNvGrpSpPr/>
            <p:nvPr/>
          </p:nvGrpSpPr>
          <p:grpSpPr>
            <a:xfrm>
              <a:off x="4863498" y="2653145"/>
              <a:ext cx="251582" cy="2466934"/>
              <a:chOff x="4863498" y="2653145"/>
              <a:chExt cx="251582" cy="2466934"/>
            </a:xfrm>
          </p:grpSpPr>
          <p:sp>
            <p:nvSpPr>
              <p:cNvPr id="53" name="Arrow: Down 52">
                <a:extLst>
                  <a:ext uri="{FF2B5EF4-FFF2-40B4-BE49-F238E27FC236}">
                    <a16:creationId xmlns:a16="http://schemas.microsoft.com/office/drawing/2014/main" id="{A14B7321-BBE9-1FFB-0A11-B522A1ED50A7}"/>
                  </a:ext>
                </a:extLst>
              </p:cNvPr>
              <p:cNvSpPr/>
              <p:nvPr/>
            </p:nvSpPr>
            <p:spPr bwMode="gray">
              <a:xfrm rot="16200000">
                <a:off x="4921294" y="2684850"/>
                <a:ext cx="225491" cy="162081"/>
              </a:xfrm>
              <a:prstGeom prst="downArrow">
                <a:avLst/>
              </a:prstGeom>
              <a:solidFill>
                <a:srgbClr val="BBBCBC"/>
              </a:solidFill>
              <a:ln w="12700" algn="ctr">
                <a:solidFill>
                  <a:srgbClr val="BBBCBC"/>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54" name="Rectangle 53">
                <a:extLst>
                  <a:ext uri="{FF2B5EF4-FFF2-40B4-BE49-F238E27FC236}">
                    <a16:creationId xmlns:a16="http://schemas.microsoft.com/office/drawing/2014/main" id="{54B2984C-EA36-CE5F-C215-D95BE002BC5C}"/>
                  </a:ext>
                </a:extLst>
              </p:cNvPr>
              <p:cNvSpPr/>
              <p:nvPr/>
            </p:nvSpPr>
            <p:spPr bwMode="gray">
              <a:xfrm>
                <a:off x="4863498" y="2703655"/>
                <a:ext cx="118063" cy="2416424"/>
              </a:xfrm>
              <a:prstGeom prst="rect">
                <a:avLst/>
              </a:prstGeom>
              <a:solidFill>
                <a:srgbClr val="BBBCBC"/>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grpSp>
        <p:sp>
          <p:nvSpPr>
            <p:cNvPr id="52" name="Rectangle 51">
              <a:extLst>
                <a:ext uri="{FF2B5EF4-FFF2-40B4-BE49-F238E27FC236}">
                  <a16:creationId xmlns:a16="http://schemas.microsoft.com/office/drawing/2014/main" id="{A969E1E5-F095-BECA-7ED8-9C15EC95AEA4}"/>
                </a:ext>
              </a:extLst>
            </p:cNvPr>
            <p:cNvSpPr/>
            <p:nvPr/>
          </p:nvSpPr>
          <p:spPr bwMode="gray">
            <a:xfrm>
              <a:off x="4795005" y="5001207"/>
              <a:ext cx="118063" cy="118872"/>
            </a:xfrm>
            <a:prstGeom prst="rect">
              <a:avLst/>
            </a:prstGeom>
            <a:solidFill>
              <a:srgbClr val="BBBCBC"/>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grpSp>
      <p:sp>
        <p:nvSpPr>
          <p:cNvPr id="55" name="Rectangle 54">
            <a:extLst>
              <a:ext uri="{FF2B5EF4-FFF2-40B4-BE49-F238E27FC236}">
                <a16:creationId xmlns:a16="http://schemas.microsoft.com/office/drawing/2014/main" id="{18DBF515-45E4-368D-8EA3-47CBFCCE1DCA}"/>
              </a:ext>
            </a:extLst>
          </p:cNvPr>
          <p:cNvSpPr/>
          <p:nvPr/>
        </p:nvSpPr>
        <p:spPr bwMode="gray">
          <a:xfrm>
            <a:off x="495300" y="6115806"/>
            <a:ext cx="5399088" cy="389770"/>
          </a:xfrm>
          <a:prstGeom prst="rect">
            <a:avLst/>
          </a:prstGeom>
          <a:no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R="0" algn="ctr" defTabSz="990564" rtl="0" eaLnBrk="1" fontAlgn="auto" latinLnBrk="0" hangingPunct="1">
              <a:lnSpc>
                <a:spcPct val="100000"/>
              </a:lnSpc>
              <a:spcBef>
                <a:spcPts val="0"/>
              </a:spcBef>
              <a:spcAft>
                <a:spcPts val="0"/>
              </a:spcAft>
              <a:buClrTx/>
              <a:buSzPct val="100000"/>
              <a:tabLst/>
            </a:pPr>
            <a:r>
              <a:rPr kumimoji="1" lang="en-US" sz="1000" b="1">
                <a:solidFill>
                  <a:prstClr val="black"/>
                </a:solidFill>
                <a:latin typeface="Arial" panose="020B0604020202020204" pitchFamily="34" charset="0"/>
                <a:cs typeface="Arial" panose="020B0604020202020204" pitchFamily="34" charset="0"/>
              </a:rPr>
              <a:t>For aggregation of buy/ sell bids, quantity at certain price points in bids has been calculated using the straight-line equation</a:t>
            </a:r>
          </a:p>
        </p:txBody>
      </p:sp>
      <p:sp>
        <p:nvSpPr>
          <p:cNvPr id="2" name="Arrow: Right 1">
            <a:hlinkClick r:id="rId12" action="ppaction://hlinksldjump"/>
            <a:extLst>
              <a:ext uri="{FF2B5EF4-FFF2-40B4-BE49-F238E27FC236}">
                <a16:creationId xmlns:a16="http://schemas.microsoft.com/office/drawing/2014/main" id="{E13DD0E8-1DCA-A4F5-C863-80303C65A2CE}"/>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52274871"/>
      </p:ext>
    </p:extLst>
  </p:cSld>
  <p:clrMapOvr>
    <a:masterClrMapping/>
  </p:clrMapOvr>
  <p:transition>
    <p:fade/>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2168133229"/>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2000" b="1">
                <a:latin typeface="Arial" panose="020B0604020202020204" pitchFamily="34" charset="0"/>
                <a:cs typeface="Arial" panose="020B0604020202020204" pitchFamily="34" charset="0"/>
              </a:rPr>
              <a:t>Continuous matching algorithm</a:t>
            </a:r>
            <a:endParaRPr lang="en-GB" sz="20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497" name="TextBox 496">
            <a:extLst>
              <a:ext uri="{FF2B5EF4-FFF2-40B4-BE49-F238E27FC236}">
                <a16:creationId xmlns:a16="http://schemas.microsoft.com/office/drawing/2014/main" id="{E3CD61BF-5158-2CE6-D4D0-D211D840411E}"/>
              </a:ext>
            </a:extLst>
          </p:cNvPr>
          <p:cNvSpPr txBox="1"/>
          <p:nvPr/>
        </p:nvSpPr>
        <p:spPr>
          <a:xfrm>
            <a:off x="447675" y="6596933"/>
            <a:ext cx="609600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Deloitte analysis</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sp>
        <p:nvSpPr>
          <p:cNvPr id="7" name="TextBox 6">
            <a:extLst>
              <a:ext uri="{FF2B5EF4-FFF2-40B4-BE49-F238E27FC236}">
                <a16:creationId xmlns:a16="http://schemas.microsoft.com/office/drawing/2014/main" id="{438FD266-28BC-E72A-9E72-B9C3C9BDB29D}"/>
              </a:ext>
            </a:extLst>
          </p:cNvPr>
          <p:cNvSpPr txBox="1"/>
          <p:nvPr/>
        </p:nvSpPr>
        <p:spPr>
          <a:xfrm>
            <a:off x="498439" y="1337575"/>
            <a:ext cx="4368776" cy="369332"/>
          </a:xfrm>
          <a:prstGeom prst="rect">
            <a:avLst/>
          </a:prstGeom>
          <a:noFill/>
        </p:spPr>
        <p:txBody>
          <a:bodyPr wrap="square" lIns="0" tIns="0" rIns="0" bIns="0" rtlCol="0">
            <a:spAutoFit/>
          </a:bodyPr>
          <a:lstStyle/>
          <a:p>
            <a:pPr>
              <a:spcBef>
                <a:spcPts val="488"/>
              </a:spcBef>
              <a:buSzPct val="100000"/>
            </a:pPr>
            <a:r>
              <a:rPr lang="en-US" sz="1200" b="1">
                <a:latin typeface="Arial" panose="020B0604020202020204" pitchFamily="34" charset="0"/>
                <a:cs typeface="Arial" panose="020B0604020202020204" pitchFamily="34" charset="0"/>
              </a:rPr>
              <a:t>Sample bids (buy/ sell)</a:t>
            </a:r>
          </a:p>
          <a:p>
            <a:pPr>
              <a:spcBef>
                <a:spcPts val="0"/>
              </a:spcBef>
              <a:buSzPct val="100000"/>
            </a:pPr>
            <a:r>
              <a:rPr lang="en-US" sz="1200">
                <a:latin typeface="Arial" panose="020B0604020202020204" pitchFamily="34" charset="0"/>
                <a:cs typeface="Arial" panose="020B0604020202020204" pitchFamily="34" charset="0"/>
              </a:rPr>
              <a:t>INR/ MWh, MW</a:t>
            </a:r>
          </a:p>
        </p:txBody>
      </p:sp>
      <p:graphicFrame>
        <p:nvGraphicFramePr>
          <p:cNvPr id="8" name="Table 7">
            <a:extLst>
              <a:ext uri="{FF2B5EF4-FFF2-40B4-BE49-F238E27FC236}">
                <a16:creationId xmlns:a16="http://schemas.microsoft.com/office/drawing/2014/main" id="{205C78EF-0DB0-978D-BE41-32DEC734F3BD}"/>
              </a:ext>
            </a:extLst>
          </p:cNvPr>
          <p:cNvGraphicFramePr>
            <a:graphicFrameLocks noGrp="1"/>
          </p:cNvGraphicFramePr>
          <p:nvPr>
            <p:extLst>
              <p:ext uri="{D42A27DB-BD31-4B8C-83A1-F6EECF244321}">
                <p14:modId xmlns:p14="http://schemas.microsoft.com/office/powerpoint/2010/main" val="641741609"/>
              </p:ext>
            </p:extLst>
          </p:nvPr>
        </p:nvGraphicFramePr>
        <p:xfrm>
          <a:off x="506094" y="1850303"/>
          <a:ext cx="2629407" cy="1706880"/>
        </p:xfrm>
        <a:graphic>
          <a:graphicData uri="http://schemas.openxmlformats.org/drawingml/2006/table">
            <a:tbl>
              <a:tblPr firstRow="1" bandRow="1">
                <a:tableStyleId>{5C22544A-7EE6-4342-B048-85BDC9FD1C3A}</a:tableStyleId>
              </a:tblPr>
              <a:tblGrid>
                <a:gridCol w="876469">
                  <a:extLst>
                    <a:ext uri="{9D8B030D-6E8A-4147-A177-3AD203B41FA5}">
                      <a16:colId xmlns:a16="http://schemas.microsoft.com/office/drawing/2014/main" val="884180957"/>
                    </a:ext>
                  </a:extLst>
                </a:gridCol>
                <a:gridCol w="876469">
                  <a:extLst>
                    <a:ext uri="{9D8B030D-6E8A-4147-A177-3AD203B41FA5}">
                      <a16:colId xmlns:a16="http://schemas.microsoft.com/office/drawing/2014/main" val="350951249"/>
                    </a:ext>
                  </a:extLst>
                </a:gridCol>
                <a:gridCol w="876469">
                  <a:extLst>
                    <a:ext uri="{9D8B030D-6E8A-4147-A177-3AD203B41FA5}">
                      <a16:colId xmlns:a16="http://schemas.microsoft.com/office/drawing/2014/main" val="390450292"/>
                    </a:ext>
                  </a:extLst>
                </a:gridCol>
              </a:tblGrid>
              <a:tr h="0">
                <a:tc gridSpan="3">
                  <a:txBody>
                    <a:bodyPr/>
                    <a:lstStyle/>
                    <a:p>
                      <a:pPr algn="ctr"/>
                      <a:r>
                        <a:rPr lang="en-US" sz="1000">
                          <a:latin typeface="Arial" panose="020B0604020202020204" pitchFamily="34" charset="0"/>
                          <a:cs typeface="Arial" panose="020B0604020202020204" pitchFamily="34" charset="0"/>
                        </a:rPr>
                        <a:t>Buy bids</a:t>
                      </a:r>
                    </a:p>
                  </a:txBody>
                  <a:tcP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586233531"/>
                  </a:ext>
                </a:extLst>
              </a:tr>
              <a:tr h="0">
                <a:tc>
                  <a:txBody>
                    <a:bodyPr/>
                    <a:lstStyle/>
                    <a:p>
                      <a:r>
                        <a:rPr lang="en-US" sz="1000" b="1">
                          <a:solidFill>
                            <a:schemeClr val="bg1"/>
                          </a:solidFill>
                          <a:latin typeface="Arial" panose="020B0604020202020204" pitchFamily="34" charset="0"/>
                          <a:cs typeface="Arial" panose="020B0604020202020204" pitchFamily="34" charset="0"/>
                        </a:rPr>
                        <a:t>Buyer</a:t>
                      </a:r>
                    </a:p>
                  </a:txBody>
                  <a:tcPr>
                    <a:lnL w="6350" cap="flat" cmpd="sng" algn="ctr">
                      <a:solidFill>
                        <a:schemeClr val="accent5"/>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latin typeface="Arial" panose="020B0604020202020204" pitchFamily="34" charset="0"/>
                          <a:cs typeface="Arial" panose="020B0604020202020204" pitchFamily="34" charset="0"/>
                        </a:rPr>
                        <a:t>Buy price</a:t>
                      </a:r>
                    </a:p>
                  </a:txBody>
                  <a:tcP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latin typeface="Arial" panose="020B0604020202020204" pitchFamily="34" charset="0"/>
                          <a:cs typeface="Arial" panose="020B0604020202020204" pitchFamily="34" charset="0"/>
                        </a:rPr>
                        <a:t>Buy qty.</a:t>
                      </a:r>
                    </a:p>
                  </a:txBody>
                  <a:tcPr>
                    <a:lnR w="6350" cap="flat" cmpd="sng" algn="ctr">
                      <a:solidFill>
                        <a:schemeClr val="accent5"/>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491240990"/>
                  </a:ext>
                </a:extLst>
              </a:tr>
              <a:tr h="0">
                <a:tc>
                  <a:txBody>
                    <a:bodyPr/>
                    <a:lstStyle/>
                    <a:p>
                      <a:r>
                        <a:rPr lang="en-US" sz="1000">
                          <a:latin typeface="Arial" panose="020B0604020202020204" pitchFamily="34" charset="0"/>
                          <a:cs typeface="Arial" panose="020B0604020202020204" pitchFamily="34" charset="0"/>
                        </a:rPr>
                        <a:t>Buyer 1</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3,000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500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157593728"/>
                  </a:ext>
                </a:extLst>
              </a:tr>
              <a:tr h="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Buyer 2</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3,200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400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814925190"/>
                  </a:ext>
                </a:extLst>
              </a:tr>
              <a:tr h="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Buyer 3</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3,300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300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126773286"/>
                  </a:ext>
                </a:extLst>
              </a:tr>
              <a:tr h="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Buyer 4</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2,800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200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151714923"/>
                  </a:ext>
                </a:extLst>
              </a:tr>
              <a:tr h="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Buyer 5</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2,500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300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372180944"/>
                  </a:ext>
                </a:extLst>
              </a:tr>
            </a:tbl>
          </a:graphicData>
        </a:graphic>
      </p:graphicFrame>
      <p:graphicFrame>
        <p:nvGraphicFramePr>
          <p:cNvPr id="9" name="Table 8">
            <a:extLst>
              <a:ext uri="{FF2B5EF4-FFF2-40B4-BE49-F238E27FC236}">
                <a16:creationId xmlns:a16="http://schemas.microsoft.com/office/drawing/2014/main" id="{A3FEBBC7-8606-505E-E62A-C13F5A36D4BE}"/>
              </a:ext>
            </a:extLst>
          </p:cNvPr>
          <p:cNvGraphicFramePr>
            <a:graphicFrameLocks noGrp="1"/>
          </p:cNvGraphicFramePr>
          <p:nvPr>
            <p:extLst>
              <p:ext uri="{D42A27DB-BD31-4B8C-83A1-F6EECF244321}">
                <p14:modId xmlns:p14="http://schemas.microsoft.com/office/powerpoint/2010/main" val="316674149"/>
              </p:ext>
            </p:extLst>
          </p:nvPr>
        </p:nvGraphicFramePr>
        <p:xfrm>
          <a:off x="3331168" y="1850303"/>
          <a:ext cx="2629407" cy="1706880"/>
        </p:xfrm>
        <a:graphic>
          <a:graphicData uri="http://schemas.openxmlformats.org/drawingml/2006/table">
            <a:tbl>
              <a:tblPr firstRow="1" bandRow="1">
                <a:tableStyleId>{5C22544A-7EE6-4342-B048-85BDC9FD1C3A}</a:tableStyleId>
              </a:tblPr>
              <a:tblGrid>
                <a:gridCol w="876469">
                  <a:extLst>
                    <a:ext uri="{9D8B030D-6E8A-4147-A177-3AD203B41FA5}">
                      <a16:colId xmlns:a16="http://schemas.microsoft.com/office/drawing/2014/main" val="884180957"/>
                    </a:ext>
                  </a:extLst>
                </a:gridCol>
                <a:gridCol w="876469">
                  <a:extLst>
                    <a:ext uri="{9D8B030D-6E8A-4147-A177-3AD203B41FA5}">
                      <a16:colId xmlns:a16="http://schemas.microsoft.com/office/drawing/2014/main" val="350951249"/>
                    </a:ext>
                  </a:extLst>
                </a:gridCol>
                <a:gridCol w="876469">
                  <a:extLst>
                    <a:ext uri="{9D8B030D-6E8A-4147-A177-3AD203B41FA5}">
                      <a16:colId xmlns:a16="http://schemas.microsoft.com/office/drawing/2014/main" val="390450292"/>
                    </a:ext>
                  </a:extLst>
                </a:gridCol>
              </a:tblGrid>
              <a:tr h="247374">
                <a:tc gridSpan="3">
                  <a:txBody>
                    <a:bodyPr/>
                    <a:lstStyle/>
                    <a:p>
                      <a:pPr algn="ctr"/>
                      <a:r>
                        <a:rPr lang="en-US" sz="1000">
                          <a:latin typeface="Arial" panose="020B0604020202020204" pitchFamily="34" charset="0"/>
                          <a:cs typeface="Arial" panose="020B0604020202020204" pitchFamily="34" charset="0"/>
                        </a:rPr>
                        <a:t>Sell bids</a:t>
                      </a:r>
                    </a:p>
                  </a:txBody>
                  <a:tcP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3877221259"/>
                  </a:ext>
                </a:extLst>
              </a:tr>
              <a:tr h="247374">
                <a:tc>
                  <a:txBody>
                    <a:bodyPr/>
                    <a:lstStyle/>
                    <a:p>
                      <a:r>
                        <a:rPr lang="en-US" sz="1000" b="1">
                          <a:solidFill>
                            <a:schemeClr val="bg1"/>
                          </a:solidFill>
                          <a:latin typeface="Arial" panose="020B0604020202020204" pitchFamily="34" charset="0"/>
                          <a:cs typeface="Arial" panose="020B0604020202020204" pitchFamily="34" charset="0"/>
                        </a:rPr>
                        <a:t>Seller</a:t>
                      </a:r>
                    </a:p>
                  </a:txBody>
                  <a:tcPr>
                    <a:lnL w="6350" cap="flat" cmpd="sng" algn="ctr">
                      <a:solidFill>
                        <a:schemeClr val="accent5"/>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latin typeface="Arial" panose="020B0604020202020204" pitchFamily="34" charset="0"/>
                          <a:cs typeface="Arial" panose="020B0604020202020204" pitchFamily="34" charset="0"/>
                        </a:rPr>
                        <a:t>Sell price</a:t>
                      </a:r>
                    </a:p>
                  </a:txBody>
                  <a:tcP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latin typeface="Arial" panose="020B0604020202020204" pitchFamily="34" charset="0"/>
                          <a:cs typeface="Arial" panose="020B0604020202020204" pitchFamily="34" charset="0"/>
                        </a:rPr>
                        <a:t>Sell qty.</a:t>
                      </a:r>
                    </a:p>
                  </a:txBody>
                  <a:tcPr>
                    <a:lnR w="6350" cap="flat" cmpd="sng" algn="ctr">
                      <a:solidFill>
                        <a:schemeClr val="accent5"/>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491240990"/>
                  </a:ext>
                </a:extLst>
              </a:tr>
              <a:tr h="303033">
                <a:tc>
                  <a:txBody>
                    <a:bodyPr/>
                    <a:lstStyle/>
                    <a:p>
                      <a:r>
                        <a:rPr lang="en-US" sz="1000">
                          <a:latin typeface="Arial" panose="020B0604020202020204" pitchFamily="34" charset="0"/>
                          <a:cs typeface="Arial" panose="020B0604020202020204" pitchFamily="34" charset="0"/>
                        </a:rPr>
                        <a:t>Seller 1</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3,500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200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157593728"/>
                  </a:ext>
                </a:extLst>
              </a:tr>
              <a:tr h="303033">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Seller 2</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4,000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300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814925190"/>
                  </a:ext>
                </a:extLst>
              </a:tr>
              <a:tr h="303033">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Seller 3</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4,200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500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126773286"/>
                  </a:ext>
                </a:extLst>
              </a:tr>
              <a:tr h="303033">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Seller 4</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4,400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400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151714923"/>
                  </a:ext>
                </a:extLst>
              </a:tr>
            </a:tbl>
          </a:graphicData>
        </a:graphic>
      </p:graphicFrame>
      <p:graphicFrame>
        <p:nvGraphicFramePr>
          <p:cNvPr id="11" name="Table 10">
            <a:extLst>
              <a:ext uri="{FF2B5EF4-FFF2-40B4-BE49-F238E27FC236}">
                <a16:creationId xmlns:a16="http://schemas.microsoft.com/office/drawing/2014/main" id="{F8A9B487-AC59-2D59-A64A-F7B40CB22EB4}"/>
              </a:ext>
            </a:extLst>
          </p:cNvPr>
          <p:cNvGraphicFramePr>
            <a:graphicFrameLocks noGrp="1"/>
          </p:cNvGraphicFramePr>
          <p:nvPr>
            <p:extLst>
              <p:ext uri="{D42A27DB-BD31-4B8C-83A1-F6EECF244321}">
                <p14:modId xmlns:p14="http://schemas.microsoft.com/office/powerpoint/2010/main" val="2526161557"/>
              </p:ext>
            </p:extLst>
          </p:nvPr>
        </p:nvGraphicFramePr>
        <p:xfrm>
          <a:off x="2902088" y="4950197"/>
          <a:ext cx="2148840" cy="243840"/>
        </p:xfrm>
        <a:graphic>
          <a:graphicData uri="http://schemas.openxmlformats.org/drawingml/2006/table">
            <a:tbl>
              <a:tblPr firstRow="1" bandRow="1">
                <a:tableStyleId>{5C22544A-7EE6-4342-B048-85BDC9FD1C3A}</a:tableStyleId>
              </a:tblPr>
              <a:tblGrid>
                <a:gridCol w="716280">
                  <a:extLst>
                    <a:ext uri="{9D8B030D-6E8A-4147-A177-3AD203B41FA5}">
                      <a16:colId xmlns:a16="http://schemas.microsoft.com/office/drawing/2014/main" val="884180957"/>
                    </a:ext>
                  </a:extLst>
                </a:gridCol>
                <a:gridCol w="716280">
                  <a:extLst>
                    <a:ext uri="{9D8B030D-6E8A-4147-A177-3AD203B41FA5}">
                      <a16:colId xmlns:a16="http://schemas.microsoft.com/office/drawing/2014/main" val="350951249"/>
                    </a:ext>
                  </a:extLst>
                </a:gridCol>
                <a:gridCol w="716280">
                  <a:extLst>
                    <a:ext uri="{9D8B030D-6E8A-4147-A177-3AD203B41FA5}">
                      <a16:colId xmlns:a16="http://schemas.microsoft.com/office/drawing/2014/main" val="390450292"/>
                    </a:ext>
                  </a:extLst>
                </a:gridCol>
              </a:tblGrid>
              <a:tr h="129545">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b="0">
                          <a:solidFill>
                            <a:schemeClr val="tx1"/>
                          </a:solidFill>
                        </a:rPr>
                        <a:t>Seller 5</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b="0">
                          <a:solidFill>
                            <a:schemeClr val="tx1"/>
                          </a:solidFill>
                        </a:rPr>
                        <a:t>3,200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b="0">
                          <a:solidFill>
                            <a:schemeClr val="tx1"/>
                          </a:solidFill>
                        </a:rPr>
                        <a:t>500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372180944"/>
                  </a:ext>
                </a:extLst>
              </a:tr>
            </a:tbl>
          </a:graphicData>
        </a:graphic>
      </p:graphicFrame>
      <p:sp>
        <p:nvSpPr>
          <p:cNvPr id="12" name="Arrow: Down 11">
            <a:extLst>
              <a:ext uri="{FF2B5EF4-FFF2-40B4-BE49-F238E27FC236}">
                <a16:creationId xmlns:a16="http://schemas.microsoft.com/office/drawing/2014/main" id="{879F4A6A-B022-D8EB-B14F-EEBD359C7BD7}"/>
              </a:ext>
            </a:extLst>
          </p:cNvPr>
          <p:cNvSpPr/>
          <p:nvPr/>
        </p:nvSpPr>
        <p:spPr bwMode="gray">
          <a:xfrm>
            <a:off x="3098096" y="3674809"/>
            <a:ext cx="213804" cy="248933"/>
          </a:xfrm>
          <a:prstGeom prst="downArrow">
            <a:avLst/>
          </a:prstGeom>
          <a:solidFill>
            <a:srgbClr val="BBBCBC"/>
          </a:solidFill>
          <a:ln w="12700" algn="ctr">
            <a:solidFill>
              <a:srgbClr val="BBBCBC"/>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graphicFrame>
        <p:nvGraphicFramePr>
          <p:cNvPr id="13" name="Table 12">
            <a:extLst>
              <a:ext uri="{FF2B5EF4-FFF2-40B4-BE49-F238E27FC236}">
                <a16:creationId xmlns:a16="http://schemas.microsoft.com/office/drawing/2014/main" id="{1F577674-84C7-2264-17E5-17EA2914E2A3}"/>
              </a:ext>
            </a:extLst>
          </p:cNvPr>
          <p:cNvGraphicFramePr>
            <a:graphicFrameLocks noGrp="1"/>
          </p:cNvGraphicFramePr>
          <p:nvPr>
            <p:extLst>
              <p:ext uri="{D42A27DB-BD31-4B8C-83A1-F6EECF244321}">
                <p14:modId xmlns:p14="http://schemas.microsoft.com/office/powerpoint/2010/main" val="2677515011"/>
              </p:ext>
            </p:extLst>
          </p:nvPr>
        </p:nvGraphicFramePr>
        <p:xfrm>
          <a:off x="484967" y="4016884"/>
          <a:ext cx="2650533" cy="487680"/>
        </p:xfrm>
        <a:graphic>
          <a:graphicData uri="http://schemas.openxmlformats.org/drawingml/2006/table">
            <a:tbl>
              <a:tblPr firstRow="1" bandRow="1">
                <a:tableStyleId>{5C22544A-7EE6-4342-B048-85BDC9FD1C3A}</a:tableStyleId>
              </a:tblPr>
              <a:tblGrid>
                <a:gridCol w="883511">
                  <a:extLst>
                    <a:ext uri="{9D8B030D-6E8A-4147-A177-3AD203B41FA5}">
                      <a16:colId xmlns:a16="http://schemas.microsoft.com/office/drawing/2014/main" val="884180957"/>
                    </a:ext>
                  </a:extLst>
                </a:gridCol>
                <a:gridCol w="883511">
                  <a:extLst>
                    <a:ext uri="{9D8B030D-6E8A-4147-A177-3AD203B41FA5}">
                      <a16:colId xmlns:a16="http://schemas.microsoft.com/office/drawing/2014/main" val="350951249"/>
                    </a:ext>
                  </a:extLst>
                </a:gridCol>
                <a:gridCol w="883511">
                  <a:extLst>
                    <a:ext uri="{9D8B030D-6E8A-4147-A177-3AD203B41FA5}">
                      <a16:colId xmlns:a16="http://schemas.microsoft.com/office/drawing/2014/main" val="390450292"/>
                    </a:ext>
                  </a:extLst>
                </a:gridCol>
              </a:tblGrid>
              <a:tr h="0">
                <a:tc gridSpan="3">
                  <a:txBody>
                    <a:bodyPr/>
                    <a:lstStyle/>
                    <a:p>
                      <a:pPr algn="ctr"/>
                      <a:r>
                        <a:rPr lang="en-US" sz="1000"/>
                        <a:t>Best buy bid</a:t>
                      </a:r>
                    </a:p>
                  </a:txBody>
                  <a:tcP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586233531"/>
                  </a:ext>
                </a:extLst>
              </a:tr>
              <a:tr h="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t>Buyer 3</a:t>
                      </a:r>
                    </a:p>
                  </a:txBody>
                  <a:tcPr>
                    <a:lnL w="6350" cap="flat" cmpd="sng" algn="ctr">
                      <a:solidFill>
                        <a:schemeClr val="accent5"/>
                      </a:solid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a:t>3,300</a:t>
                      </a:r>
                    </a:p>
                  </a:txBody>
                  <a:tcPr>
                    <a:lnL w="12700" cmpd="sng">
                      <a:noFill/>
                    </a:lnL>
                    <a:lnR w="12700" cmpd="sng">
                      <a:noFill/>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a:t>300</a:t>
                      </a:r>
                    </a:p>
                  </a:txBody>
                  <a:tcPr>
                    <a:lnL w="12700" cmpd="sng">
                      <a:noFill/>
                    </a:lnL>
                    <a:lnR w="6350" cap="flat" cmpd="sng" algn="ctr">
                      <a:solidFill>
                        <a:schemeClr val="accent5"/>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73286"/>
                  </a:ext>
                </a:extLst>
              </a:tr>
            </a:tbl>
          </a:graphicData>
        </a:graphic>
      </p:graphicFrame>
      <p:graphicFrame>
        <p:nvGraphicFramePr>
          <p:cNvPr id="14" name="Table 13">
            <a:extLst>
              <a:ext uri="{FF2B5EF4-FFF2-40B4-BE49-F238E27FC236}">
                <a16:creationId xmlns:a16="http://schemas.microsoft.com/office/drawing/2014/main" id="{91D66390-1151-2DA4-F33C-E15B1E5CD83A}"/>
              </a:ext>
            </a:extLst>
          </p:cNvPr>
          <p:cNvGraphicFramePr>
            <a:graphicFrameLocks noGrp="1"/>
          </p:cNvGraphicFramePr>
          <p:nvPr>
            <p:extLst>
              <p:ext uri="{D42A27DB-BD31-4B8C-83A1-F6EECF244321}">
                <p14:modId xmlns:p14="http://schemas.microsoft.com/office/powerpoint/2010/main" val="2894346476"/>
              </p:ext>
            </p:extLst>
          </p:nvPr>
        </p:nvGraphicFramePr>
        <p:xfrm>
          <a:off x="3331168" y="4016884"/>
          <a:ext cx="2650533" cy="487680"/>
        </p:xfrm>
        <a:graphic>
          <a:graphicData uri="http://schemas.openxmlformats.org/drawingml/2006/table">
            <a:tbl>
              <a:tblPr firstRow="1" bandRow="1">
                <a:tableStyleId>{5C22544A-7EE6-4342-B048-85BDC9FD1C3A}</a:tableStyleId>
              </a:tblPr>
              <a:tblGrid>
                <a:gridCol w="883511">
                  <a:extLst>
                    <a:ext uri="{9D8B030D-6E8A-4147-A177-3AD203B41FA5}">
                      <a16:colId xmlns:a16="http://schemas.microsoft.com/office/drawing/2014/main" val="884180957"/>
                    </a:ext>
                  </a:extLst>
                </a:gridCol>
                <a:gridCol w="883511">
                  <a:extLst>
                    <a:ext uri="{9D8B030D-6E8A-4147-A177-3AD203B41FA5}">
                      <a16:colId xmlns:a16="http://schemas.microsoft.com/office/drawing/2014/main" val="350951249"/>
                    </a:ext>
                  </a:extLst>
                </a:gridCol>
                <a:gridCol w="883511">
                  <a:extLst>
                    <a:ext uri="{9D8B030D-6E8A-4147-A177-3AD203B41FA5}">
                      <a16:colId xmlns:a16="http://schemas.microsoft.com/office/drawing/2014/main" val="390450292"/>
                    </a:ext>
                  </a:extLst>
                </a:gridCol>
              </a:tblGrid>
              <a:tr h="129545">
                <a:tc gridSpan="3">
                  <a:txBody>
                    <a:bodyPr/>
                    <a:lstStyle/>
                    <a:p>
                      <a:pPr algn="ctr"/>
                      <a:r>
                        <a:rPr lang="en-US" sz="1000"/>
                        <a:t>Best sell bid</a:t>
                      </a:r>
                    </a:p>
                  </a:txBody>
                  <a:tcP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3877221259"/>
                  </a:ext>
                </a:extLst>
              </a:tr>
              <a:tr h="129545">
                <a:tc>
                  <a:txBody>
                    <a:bodyPr/>
                    <a:lstStyle/>
                    <a:p>
                      <a:r>
                        <a:rPr lang="en-US" sz="1000"/>
                        <a:t>Seller 1</a:t>
                      </a:r>
                    </a:p>
                  </a:txBody>
                  <a:tcPr>
                    <a:lnL w="6350" cap="flat" cmpd="sng" algn="ctr">
                      <a:solidFill>
                        <a:schemeClr val="accent5"/>
                      </a:solid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a:t>3,500</a:t>
                      </a:r>
                    </a:p>
                  </a:txBody>
                  <a:tcPr>
                    <a:lnL w="12700" cmpd="sng">
                      <a:noFill/>
                    </a:lnL>
                    <a:lnR w="12700" cmpd="sng">
                      <a:noFill/>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a:t>200</a:t>
                      </a:r>
                    </a:p>
                  </a:txBody>
                  <a:tcPr>
                    <a:lnL w="12700" cmpd="sng">
                      <a:noFill/>
                    </a:lnL>
                    <a:lnR w="6350" cap="flat" cmpd="sng" algn="ctr">
                      <a:solidFill>
                        <a:schemeClr val="accent5"/>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57593728"/>
                  </a:ext>
                </a:extLst>
              </a:tr>
            </a:tbl>
          </a:graphicData>
        </a:graphic>
      </p:graphicFrame>
      <p:sp>
        <p:nvSpPr>
          <p:cNvPr id="15" name="Rectangle 14">
            <a:extLst>
              <a:ext uri="{FF2B5EF4-FFF2-40B4-BE49-F238E27FC236}">
                <a16:creationId xmlns:a16="http://schemas.microsoft.com/office/drawing/2014/main" id="{D4AEE9A8-EC0E-546D-41CA-9E1135CD5C1A}"/>
              </a:ext>
            </a:extLst>
          </p:cNvPr>
          <p:cNvSpPr/>
          <p:nvPr/>
        </p:nvSpPr>
        <p:spPr bwMode="gray">
          <a:xfrm>
            <a:off x="500057" y="4565064"/>
            <a:ext cx="5475633" cy="307777"/>
          </a:xfrm>
          <a:prstGeom prst="rect">
            <a:avLst/>
          </a:prstGeom>
          <a:noFill/>
        </p:spPr>
        <p:txBody>
          <a:bodyPr wrap="square" lIns="0" tIns="0" rIns="0" bIns="0" rtlCol="0">
            <a:spAutoFit/>
          </a:bodyPr>
          <a:lstStyle/>
          <a:p>
            <a:pPr algn="ctr">
              <a:spcBef>
                <a:spcPts val="488"/>
              </a:spcBef>
              <a:buSzPct val="100000"/>
            </a:pPr>
            <a:r>
              <a:rPr lang="en-US" sz="1000" b="1">
                <a:latin typeface="Arial" panose="020B0604020202020204" pitchFamily="34" charset="0"/>
                <a:cs typeface="Arial" panose="020B0604020202020204" pitchFamily="34" charset="0"/>
              </a:rPr>
              <a:t>As the best buy bid &lt; sell bid, the order can not be matched and hence shall remain pending in the system</a:t>
            </a:r>
          </a:p>
        </p:txBody>
      </p:sp>
      <p:sp>
        <p:nvSpPr>
          <p:cNvPr id="16" name="Rectangle 15">
            <a:extLst>
              <a:ext uri="{FF2B5EF4-FFF2-40B4-BE49-F238E27FC236}">
                <a16:creationId xmlns:a16="http://schemas.microsoft.com/office/drawing/2014/main" id="{D5583D87-4E43-743C-0386-010BF1DF281F}"/>
              </a:ext>
            </a:extLst>
          </p:cNvPr>
          <p:cNvSpPr/>
          <p:nvPr/>
        </p:nvSpPr>
        <p:spPr bwMode="gray">
          <a:xfrm>
            <a:off x="704126" y="4995173"/>
            <a:ext cx="1987319" cy="153888"/>
          </a:xfrm>
          <a:prstGeom prst="rect">
            <a:avLst/>
          </a:prstGeom>
          <a:noFill/>
        </p:spPr>
        <p:txBody>
          <a:bodyPr wrap="square" lIns="0" tIns="0" rIns="0" bIns="0" rtlCol="0">
            <a:spAutoFit/>
          </a:bodyPr>
          <a:lstStyle/>
          <a:p>
            <a:pPr algn="ctr">
              <a:spcBef>
                <a:spcPts val="488"/>
              </a:spcBef>
              <a:buSzPct val="100000"/>
            </a:pPr>
            <a:r>
              <a:rPr lang="en-US" sz="1000" b="1">
                <a:latin typeface="Arial" panose="020B0604020202020204" pitchFamily="34" charset="0"/>
                <a:cs typeface="Arial" panose="020B0604020202020204" pitchFamily="34" charset="0"/>
              </a:rPr>
              <a:t>New sell bid</a:t>
            </a:r>
          </a:p>
        </p:txBody>
      </p:sp>
      <p:sp>
        <p:nvSpPr>
          <p:cNvPr id="17" name="Arrow: Down 16">
            <a:extLst>
              <a:ext uri="{FF2B5EF4-FFF2-40B4-BE49-F238E27FC236}">
                <a16:creationId xmlns:a16="http://schemas.microsoft.com/office/drawing/2014/main" id="{8109D40E-F75E-8205-448A-D58476C064FB}"/>
              </a:ext>
            </a:extLst>
          </p:cNvPr>
          <p:cNvSpPr/>
          <p:nvPr/>
        </p:nvSpPr>
        <p:spPr bwMode="gray">
          <a:xfrm>
            <a:off x="2499771" y="5225583"/>
            <a:ext cx="213804" cy="248933"/>
          </a:xfrm>
          <a:prstGeom prst="downArrow">
            <a:avLst/>
          </a:prstGeom>
          <a:solidFill>
            <a:srgbClr val="BBBCBC"/>
          </a:solidFill>
          <a:ln w="12700" algn="ctr">
            <a:solidFill>
              <a:srgbClr val="BBBCBC"/>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graphicFrame>
        <p:nvGraphicFramePr>
          <p:cNvPr id="18" name="Table 17">
            <a:extLst>
              <a:ext uri="{FF2B5EF4-FFF2-40B4-BE49-F238E27FC236}">
                <a16:creationId xmlns:a16="http://schemas.microsoft.com/office/drawing/2014/main" id="{7C9240FA-41D2-C1BC-E921-91E19B6794B2}"/>
              </a:ext>
            </a:extLst>
          </p:cNvPr>
          <p:cNvGraphicFramePr>
            <a:graphicFrameLocks noGrp="1"/>
          </p:cNvGraphicFramePr>
          <p:nvPr>
            <p:extLst>
              <p:ext uri="{D42A27DB-BD31-4B8C-83A1-F6EECF244321}">
                <p14:modId xmlns:p14="http://schemas.microsoft.com/office/powerpoint/2010/main" val="2279578740"/>
              </p:ext>
            </p:extLst>
          </p:nvPr>
        </p:nvGraphicFramePr>
        <p:xfrm>
          <a:off x="498439" y="5546684"/>
          <a:ext cx="2571882" cy="487680"/>
        </p:xfrm>
        <a:graphic>
          <a:graphicData uri="http://schemas.openxmlformats.org/drawingml/2006/table">
            <a:tbl>
              <a:tblPr firstRow="1" bandRow="1">
                <a:tableStyleId>{5C22544A-7EE6-4342-B048-85BDC9FD1C3A}</a:tableStyleId>
              </a:tblPr>
              <a:tblGrid>
                <a:gridCol w="857294">
                  <a:extLst>
                    <a:ext uri="{9D8B030D-6E8A-4147-A177-3AD203B41FA5}">
                      <a16:colId xmlns:a16="http://schemas.microsoft.com/office/drawing/2014/main" val="884180957"/>
                    </a:ext>
                  </a:extLst>
                </a:gridCol>
                <a:gridCol w="857294">
                  <a:extLst>
                    <a:ext uri="{9D8B030D-6E8A-4147-A177-3AD203B41FA5}">
                      <a16:colId xmlns:a16="http://schemas.microsoft.com/office/drawing/2014/main" val="350951249"/>
                    </a:ext>
                  </a:extLst>
                </a:gridCol>
                <a:gridCol w="857294">
                  <a:extLst>
                    <a:ext uri="{9D8B030D-6E8A-4147-A177-3AD203B41FA5}">
                      <a16:colId xmlns:a16="http://schemas.microsoft.com/office/drawing/2014/main" val="390450292"/>
                    </a:ext>
                  </a:extLst>
                </a:gridCol>
              </a:tblGrid>
              <a:tr h="0">
                <a:tc gridSpan="3">
                  <a:txBody>
                    <a:bodyPr/>
                    <a:lstStyle/>
                    <a:p>
                      <a:pPr algn="ctr"/>
                      <a:r>
                        <a:rPr lang="en-US" sz="1000"/>
                        <a:t>Best buy bid</a:t>
                      </a:r>
                    </a:p>
                  </a:txBody>
                  <a:tcP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586233531"/>
                  </a:ext>
                </a:extLst>
              </a:tr>
              <a:tr h="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t>Buyer 3</a:t>
                      </a:r>
                    </a:p>
                  </a:txBody>
                  <a:tcPr>
                    <a:lnL w="6350" cap="flat" cmpd="sng" algn="ctr">
                      <a:solidFill>
                        <a:schemeClr val="accent5"/>
                      </a:solid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a:t>3,300</a:t>
                      </a:r>
                    </a:p>
                  </a:txBody>
                  <a:tcPr>
                    <a:lnL w="12700" cmpd="sng">
                      <a:noFill/>
                    </a:lnL>
                    <a:lnR w="12700" cmpd="sng">
                      <a:noFill/>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a:t>300</a:t>
                      </a:r>
                    </a:p>
                  </a:txBody>
                  <a:tcPr>
                    <a:lnL w="12700" cmpd="sng">
                      <a:noFill/>
                    </a:lnL>
                    <a:lnR w="6350" cap="flat" cmpd="sng" algn="ctr">
                      <a:solidFill>
                        <a:schemeClr val="accent5"/>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73286"/>
                  </a:ext>
                </a:extLst>
              </a:tr>
            </a:tbl>
          </a:graphicData>
        </a:graphic>
      </p:graphicFrame>
      <p:graphicFrame>
        <p:nvGraphicFramePr>
          <p:cNvPr id="19" name="Table 18">
            <a:extLst>
              <a:ext uri="{FF2B5EF4-FFF2-40B4-BE49-F238E27FC236}">
                <a16:creationId xmlns:a16="http://schemas.microsoft.com/office/drawing/2014/main" id="{EAA5BC70-E349-F870-7487-35FB564E1A4A}"/>
              </a:ext>
            </a:extLst>
          </p:cNvPr>
          <p:cNvGraphicFramePr>
            <a:graphicFrameLocks noGrp="1"/>
          </p:cNvGraphicFramePr>
          <p:nvPr>
            <p:extLst>
              <p:ext uri="{D42A27DB-BD31-4B8C-83A1-F6EECF244321}">
                <p14:modId xmlns:p14="http://schemas.microsoft.com/office/powerpoint/2010/main" val="358051385"/>
              </p:ext>
            </p:extLst>
          </p:nvPr>
        </p:nvGraphicFramePr>
        <p:xfrm>
          <a:off x="3130329" y="5546684"/>
          <a:ext cx="2840052" cy="487680"/>
        </p:xfrm>
        <a:graphic>
          <a:graphicData uri="http://schemas.openxmlformats.org/drawingml/2006/table">
            <a:tbl>
              <a:tblPr firstRow="1" bandRow="1">
                <a:tableStyleId>{5C22544A-7EE6-4342-B048-85BDC9FD1C3A}</a:tableStyleId>
              </a:tblPr>
              <a:tblGrid>
                <a:gridCol w="946684">
                  <a:extLst>
                    <a:ext uri="{9D8B030D-6E8A-4147-A177-3AD203B41FA5}">
                      <a16:colId xmlns:a16="http://schemas.microsoft.com/office/drawing/2014/main" val="884180957"/>
                    </a:ext>
                  </a:extLst>
                </a:gridCol>
                <a:gridCol w="946684">
                  <a:extLst>
                    <a:ext uri="{9D8B030D-6E8A-4147-A177-3AD203B41FA5}">
                      <a16:colId xmlns:a16="http://schemas.microsoft.com/office/drawing/2014/main" val="350951249"/>
                    </a:ext>
                  </a:extLst>
                </a:gridCol>
                <a:gridCol w="946684">
                  <a:extLst>
                    <a:ext uri="{9D8B030D-6E8A-4147-A177-3AD203B41FA5}">
                      <a16:colId xmlns:a16="http://schemas.microsoft.com/office/drawing/2014/main" val="390450292"/>
                    </a:ext>
                  </a:extLst>
                </a:gridCol>
              </a:tblGrid>
              <a:tr h="129545">
                <a:tc gridSpan="3">
                  <a:txBody>
                    <a:bodyPr/>
                    <a:lstStyle/>
                    <a:p>
                      <a:pPr algn="ctr"/>
                      <a:r>
                        <a:rPr lang="en-US" sz="1000"/>
                        <a:t>Best sell bid</a:t>
                      </a:r>
                    </a:p>
                  </a:txBody>
                  <a:tcP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3877221259"/>
                  </a:ext>
                </a:extLst>
              </a:tr>
              <a:tr h="129545">
                <a:tc>
                  <a:txBody>
                    <a:bodyPr/>
                    <a:lstStyle/>
                    <a:p>
                      <a:r>
                        <a:rPr lang="en-US" sz="1000"/>
                        <a:t>Seller 5</a:t>
                      </a:r>
                    </a:p>
                  </a:txBody>
                  <a:tcPr>
                    <a:lnL w="6350" cap="flat" cmpd="sng" algn="ctr">
                      <a:solidFill>
                        <a:schemeClr val="accent5"/>
                      </a:solid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a:t>3,200</a:t>
                      </a:r>
                    </a:p>
                  </a:txBody>
                  <a:tcPr>
                    <a:lnL w="12700" cmpd="sng">
                      <a:noFill/>
                    </a:lnL>
                    <a:lnR w="12700" cmpd="sng">
                      <a:noFill/>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a:t>500</a:t>
                      </a:r>
                    </a:p>
                  </a:txBody>
                  <a:tcPr>
                    <a:lnL w="12700" cmpd="sng">
                      <a:noFill/>
                    </a:lnL>
                    <a:lnR w="6350" cap="flat" cmpd="sng" algn="ctr">
                      <a:solidFill>
                        <a:schemeClr val="accent5"/>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57593728"/>
                  </a:ext>
                </a:extLst>
              </a:tr>
            </a:tbl>
          </a:graphicData>
        </a:graphic>
      </p:graphicFrame>
      <p:sp>
        <p:nvSpPr>
          <p:cNvPr id="20" name="Rectangle 19">
            <a:extLst>
              <a:ext uri="{FF2B5EF4-FFF2-40B4-BE49-F238E27FC236}">
                <a16:creationId xmlns:a16="http://schemas.microsoft.com/office/drawing/2014/main" id="{8C725E01-9BCE-1B6E-9BD0-4A8FFB522EFA}"/>
              </a:ext>
            </a:extLst>
          </p:cNvPr>
          <p:cNvSpPr/>
          <p:nvPr/>
        </p:nvSpPr>
        <p:spPr bwMode="gray">
          <a:xfrm>
            <a:off x="909316" y="6074034"/>
            <a:ext cx="4356000" cy="229054"/>
          </a:xfrm>
          <a:prstGeom prst="rect">
            <a:avLst/>
          </a:prstGeom>
          <a:no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R="0" algn="ctr" defTabSz="990564" rtl="0" eaLnBrk="1" fontAlgn="auto" latinLnBrk="0" hangingPunct="1">
              <a:lnSpc>
                <a:spcPct val="100000"/>
              </a:lnSpc>
              <a:spcBef>
                <a:spcPts val="0"/>
              </a:spcBef>
              <a:spcAft>
                <a:spcPts val="0"/>
              </a:spcAft>
              <a:buClrTx/>
              <a:buSzPct val="100000"/>
              <a:tabLst/>
            </a:pPr>
            <a:r>
              <a:rPr kumimoji="1" lang="en-US" sz="1000" b="1">
                <a:latin typeface="Arial" panose="020B0604020202020204" pitchFamily="34" charset="0"/>
                <a:cs typeface="Arial" panose="020B0604020202020204" pitchFamily="34" charset="0"/>
              </a:rPr>
              <a:t>Order of 300 units by Buyer 3 shall get executed at INR 3,300/ MWh</a:t>
            </a:r>
          </a:p>
        </p:txBody>
      </p:sp>
      <p:grpSp>
        <p:nvGrpSpPr>
          <p:cNvPr id="21" name="Group 20">
            <a:extLst>
              <a:ext uri="{FF2B5EF4-FFF2-40B4-BE49-F238E27FC236}">
                <a16:creationId xmlns:a16="http://schemas.microsoft.com/office/drawing/2014/main" id="{A6B1734C-BB21-DC95-9E90-D892E52C0CD3}"/>
              </a:ext>
            </a:extLst>
          </p:cNvPr>
          <p:cNvGrpSpPr/>
          <p:nvPr/>
        </p:nvGrpSpPr>
        <p:grpSpPr>
          <a:xfrm>
            <a:off x="5970383" y="1902286"/>
            <a:ext cx="213805" cy="3986128"/>
            <a:chOff x="4795005" y="2653145"/>
            <a:chExt cx="320075" cy="2466934"/>
          </a:xfrm>
        </p:grpSpPr>
        <p:grpSp>
          <p:nvGrpSpPr>
            <p:cNvPr id="22" name="Group 21">
              <a:extLst>
                <a:ext uri="{FF2B5EF4-FFF2-40B4-BE49-F238E27FC236}">
                  <a16:creationId xmlns:a16="http://schemas.microsoft.com/office/drawing/2014/main" id="{2FC6A976-8D4E-3E4A-67F9-8251CC0E23DE}"/>
                </a:ext>
              </a:extLst>
            </p:cNvPr>
            <p:cNvGrpSpPr/>
            <p:nvPr/>
          </p:nvGrpSpPr>
          <p:grpSpPr>
            <a:xfrm>
              <a:off x="4863498" y="2653145"/>
              <a:ext cx="251582" cy="2466934"/>
              <a:chOff x="4863498" y="2653145"/>
              <a:chExt cx="251582" cy="2466934"/>
            </a:xfrm>
          </p:grpSpPr>
          <p:sp>
            <p:nvSpPr>
              <p:cNvPr id="24" name="Arrow: Down 23">
                <a:extLst>
                  <a:ext uri="{FF2B5EF4-FFF2-40B4-BE49-F238E27FC236}">
                    <a16:creationId xmlns:a16="http://schemas.microsoft.com/office/drawing/2014/main" id="{7E716EB1-F5FB-8B3B-9063-B1E1061D1350}"/>
                  </a:ext>
                </a:extLst>
              </p:cNvPr>
              <p:cNvSpPr/>
              <p:nvPr/>
            </p:nvSpPr>
            <p:spPr bwMode="gray">
              <a:xfrm rot="16200000">
                <a:off x="4921294" y="2684850"/>
                <a:ext cx="225491" cy="162081"/>
              </a:xfrm>
              <a:prstGeom prst="downArrow">
                <a:avLst/>
              </a:prstGeom>
              <a:solidFill>
                <a:srgbClr val="BBBCBC"/>
              </a:solidFill>
              <a:ln w="12700" algn="ctr">
                <a:solidFill>
                  <a:srgbClr val="BBBCBC"/>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25" name="Rectangle 24">
                <a:extLst>
                  <a:ext uri="{FF2B5EF4-FFF2-40B4-BE49-F238E27FC236}">
                    <a16:creationId xmlns:a16="http://schemas.microsoft.com/office/drawing/2014/main" id="{AE38C199-8FC8-7050-A6ED-DCBC322E6190}"/>
                  </a:ext>
                </a:extLst>
              </p:cNvPr>
              <p:cNvSpPr/>
              <p:nvPr/>
            </p:nvSpPr>
            <p:spPr bwMode="gray">
              <a:xfrm>
                <a:off x="4863498" y="2703655"/>
                <a:ext cx="118063" cy="2416424"/>
              </a:xfrm>
              <a:prstGeom prst="rect">
                <a:avLst/>
              </a:prstGeom>
              <a:solidFill>
                <a:srgbClr val="BBBCBC"/>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grpSp>
        <p:sp>
          <p:nvSpPr>
            <p:cNvPr id="23" name="Rectangle 22">
              <a:extLst>
                <a:ext uri="{FF2B5EF4-FFF2-40B4-BE49-F238E27FC236}">
                  <a16:creationId xmlns:a16="http://schemas.microsoft.com/office/drawing/2014/main" id="{5590A5DA-2598-12BB-69E8-AB50B2A4FF5D}"/>
                </a:ext>
              </a:extLst>
            </p:cNvPr>
            <p:cNvSpPr/>
            <p:nvPr/>
          </p:nvSpPr>
          <p:spPr bwMode="gray">
            <a:xfrm>
              <a:off x="4795005" y="5001207"/>
              <a:ext cx="118063" cy="118872"/>
            </a:xfrm>
            <a:prstGeom prst="rect">
              <a:avLst/>
            </a:prstGeom>
            <a:solidFill>
              <a:srgbClr val="BBBCBC"/>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grpSp>
      <p:graphicFrame>
        <p:nvGraphicFramePr>
          <p:cNvPr id="26" name="Table 25">
            <a:extLst>
              <a:ext uri="{FF2B5EF4-FFF2-40B4-BE49-F238E27FC236}">
                <a16:creationId xmlns:a16="http://schemas.microsoft.com/office/drawing/2014/main" id="{B14B1645-43E5-EF46-0989-AB69115754ED}"/>
              </a:ext>
            </a:extLst>
          </p:cNvPr>
          <p:cNvGraphicFramePr>
            <a:graphicFrameLocks noGrp="1"/>
          </p:cNvGraphicFramePr>
          <p:nvPr>
            <p:extLst>
              <p:ext uri="{D42A27DB-BD31-4B8C-83A1-F6EECF244321}">
                <p14:modId xmlns:p14="http://schemas.microsoft.com/office/powerpoint/2010/main" val="3384454806"/>
              </p:ext>
            </p:extLst>
          </p:nvPr>
        </p:nvGraphicFramePr>
        <p:xfrm>
          <a:off x="6231427" y="1870385"/>
          <a:ext cx="2569065" cy="487680"/>
        </p:xfrm>
        <a:graphic>
          <a:graphicData uri="http://schemas.openxmlformats.org/drawingml/2006/table">
            <a:tbl>
              <a:tblPr firstRow="1" bandRow="1">
                <a:tableStyleId>{5C22544A-7EE6-4342-B048-85BDC9FD1C3A}</a:tableStyleId>
              </a:tblPr>
              <a:tblGrid>
                <a:gridCol w="856355">
                  <a:extLst>
                    <a:ext uri="{9D8B030D-6E8A-4147-A177-3AD203B41FA5}">
                      <a16:colId xmlns:a16="http://schemas.microsoft.com/office/drawing/2014/main" val="884180957"/>
                    </a:ext>
                  </a:extLst>
                </a:gridCol>
                <a:gridCol w="856355">
                  <a:extLst>
                    <a:ext uri="{9D8B030D-6E8A-4147-A177-3AD203B41FA5}">
                      <a16:colId xmlns:a16="http://schemas.microsoft.com/office/drawing/2014/main" val="350951249"/>
                    </a:ext>
                  </a:extLst>
                </a:gridCol>
                <a:gridCol w="856355">
                  <a:extLst>
                    <a:ext uri="{9D8B030D-6E8A-4147-A177-3AD203B41FA5}">
                      <a16:colId xmlns:a16="http://schemas.microsoft.com/office/drawing/2014/main" val="390450292"/>
                    </a:ext>
                  </a:extLst>
                </a:gridCol>
              </a:tblGrid>
              <a:tr h="0">
                <a:tc gridSpan="3">
                  <a:txBody>
                    <a:bodyPr/>
                    <a:lstStyle/>
                    <a:p>
                      <a:pPr algn="ctr"/>
                      <a:r>
                        <a:rPr lang="en-US" sz="1000"/>
                        <a:t>Best buy bid</a:t>
                      </a:r>
                    </a:p>
                  </a:txBody>
                  <a:tcP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586233531"/>
                  </a:ext>
                </a:extLst>
              </a:tr>
              <a:tr h="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t>Buyer 2</a:t>
                      </a:r>
                    </a:p>
                  </a:txBody>
                  <a:tcPr>
                    <a:lnL w="6350" cap="flat" cmpd="sng" algn="ctr">
                      <a:solidFill>
                        <a:schemeClr val="accent5"/>
                      </a:solid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a:t>3,200</a:t>
                      </a:r>
                    </a:p>
                  </a:txBody>
                  <a:tcPr>
                    <a:lnL w="12700" cmpd="sng">
                      <a:noFill/>
                    </a:lnL>
                    <a:lnR w="12700" cmpd="sng">
                      <a:noFill/>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a:t>400</a:t>
                      </a:r>
                    </a:p>
                  </a:txBody>
                  <a:tcPr>
                    <a:lnL w="12700" cmpd="sng">
                      <a:noFill/>
                    </a:lnL>
                    <a:lnR w="6350" cap="flat" cmpd="sng" algn="ctr">
                      <a:solidFill>
                        <a:schemeClr val="accent5"/>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73286"/>
                  </a:ext>
                </a:extLst>
              </a:tr>
            </a:tbl>
          </a:graphicData>
        </a:graphic>
      </p:graphicFrame>
      <p:graphicFrame>
        <p:nvGraphicFramePr>
          <p:cNvPr id="27" name="Table 26">
            <a:extLst>
              <a:ext uri="{FF2B5EF4-FFF2-40B4-BE49-F238E27FC236}">
                <a16:creationId xmlns:a16="http://schemas.microsoft.com/office/drawing/2014/main" id="{F05C124E-FD6F-9147-0428-705CE179A0C5}"/>
              </a:ext>
            </a:extLst>
          </p:cNvPr>
          <p:cNvGraphicFramePr>
            <a:graphicFrameLocks noGrp="1"/>
          </p:cNvGraphicFramePr>
          <p:nvPr>
            <p:extLst>
              <p:ext uri="{D42A27DB-BD31-4B8C-83A1-F6EECF244321}">
                <p14:modId xmlns:p14="http://schemas.microsoft.com/office/powerpoint/2010/main" val="926913448"/>
              </p:ext>
            </p:extLst>
          </p:nvPr>
        </p:nvGraphicFramePr>
        <p:xfrm>
          <a:off x="8856050" y="1870385"/>
          <a:ext cx="2829855" cy="487680"/>
        </p:xfrm>
        <a:graphic>
          <a:graphicData uri="http://schemas.openxmlformats.org/drawingml/2006/table">
            <a:tbl>
              <a:tblPr firstRow="1" bandRow="1">
                <a:tableStyleId>{5C22544A-7EE6-4342-B048-85BDC9FD1C3A}</a:tableStyleId>
              </a:tblPr>
              <a:tblGrid>
                <a:gridCol w="943285">
                  <a:extLst>
                    <a:ext uri="{9D8B030D-6E8A-4147-A177-3AD203B41FA5}">
                      <a16:colId xmlns:a16="http://schemas.microsoft.com/office/drawing/2014/main" val="884180957"/>
                    </a:ext>
                  </a:extLst>
                </a:gridCol>
                <a:gridCol w="943285">
                  <a:extLst>
                    <a:ext uri="{9D8B030D-6E8A-4147-A177-3AD203B41FA5}">
                      <a16:colId xmlns:a16="http://schemas.microsoft.com/office/drawing/2014/main" val="350951249"/>
                    </a:ext>
                  </a:extLst>
                </a:gridCol>
                <a:gridCol w="943285">
                  <a:extLst>
                    <a:ext uri="{9D8B030D-6E8A-4147-A177-3AD203B41FA5}">
                      <a16:colId xmlns:a16="http://schemas.microsoft.com/office/drawing/2014/main" val="390450292"/>
                    </a:ext>
                  </a:extLst>
                </a:gridCol>
              </a:tblGrid>
              <a:tr h="129545">
                <a:tc gridSpan="3">
                  <a:txBody>
                    <a:bodyPr/>
                    <a:lstStyle/>
                    <a:p>
                      <a:pPr algn="ctr"/>
                      <a:r>
                        <a:rPr lang="en-US" sz="1000"/>
                        <a:t>Best sell bid</a:t>
                      </a:r>
                    </a:p>
                  </a:txBody>
                  <a:tcP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3877221259"/>
                  </a:ext>
                </a:extLst>
              </a:tr>
              <a:tr h="129545">
                <a:tc>
                  <a:txBody>
                    <a:bodyPr/>
                    <a:lstStyle/>
                    <a:p>
                      <a:r>
                        <a:rPr lang="en-US" sz="1000"/>
                        <a:t>Seller 5</a:t>
                      </a:r>
                    </a:p>
                  </a:txBody>
                  <a:tcPr>
                    <a:lnL w="6350" cap="flat" cmpd="sng" algn="ctr">
                      <a:solidFill>
                        <a:schemeClr val="accent5"/>
                      </a:solid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a:t>3,200</a:t>
                      </a:r>
                    </a:p>
                  </a:txBody>
                  <a:tcPr>
                    <a:lnL w="12700" cmpd="sng">
                      <a:noFill/>
                    </a:lnL>
                    <a:lnR w="12700" cmpd="sng">
                      <a:noFill/>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a:t>200</a:t>
                      </a:r>
                    </a:p>
                  </a:txBody>
                  <a:tcPr>
                    <a:lnL w="12700" cmpd="sng">
                      <a:noFill/>
                    </a:lnL>
                    <a:lnR w="6350" cap="flat" cmpd="sng" algn="ctr">
                      <a:solidFill>
                        <a:schemeClr val="accent5"/>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57593728"/>
                  </a:ext>
                </a:extLst>
              </a:tr>
            </a:tbl>
          </a:graphicData>
        </a:graphic>
      </p:graphicFrame>
      <p:sp>
        <p:nvSpPr>
          <p:cNvPr id="28" name="Rectangle 27">
            <a:extLst>
              <a:ext uri="{FF2B5EF4-FFF2-40B4-BE49-F238E27FC236}">
                <a16:creationId xmlns:a16="http://schemas.microsoft.com/office/drawing/2014/main" id="{62703518-0FA9-FC3E-1593-2C375F34325B}"/>
              </a:ext>
            </a:extLst>
          </p:cNvPr>
          <p:cNvSpPr/>
          <p:nvPr/>
        </p:nvSpPr>
        <p:spPr bwMode="gray">
          <a:xfrm>
            <a:off x="6406572" y="2406341"/>
            <a:ext cx="5025334" cy="215465"/>
          </a:xfrm>
          <a:prstGeom prst="rect">
            <a:avLst/>
          </a:prstGeom>
          <a:no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R="0" algn="ctr" defTabSz="990564" rtl="0" eaLnBrk="1" fontAlgn="auto" latinLnBrk="0" hangingPunct="1">
              <a:lnSpc>
                <a:spcPct val="100000"/>
              </a:lnSpc>
              <a:spcBef>
                <a:spcPts val="0"/>
              </a:spcBef>
              <a:spcAft>
                <a:spcPts val="0"/>
              </a:spcAft>
              <a:buClrTx/>
              <a:buSzPct val="100000"/>
              <a:tabLst/>
            </a:pPr>
            <a:r>
              <a:rPr kumimoji="1" lang="en-US" sz="1000" b="1">
                <a:latin typeface="Arial" panose="020B0604020202020204" pitchFamily="34" charset="0"/>
                <a:cs typeface="Arial" panose="020B0604020202020204" pitchFamily="34" charset="0"/>
              </a:rPr>
              <a:t>Order of 200/400 units by Buyer 3 shall get executed at INR 3,200/ MWh</a:t>
            </a:r>
          </a:p>
        </p:txBody>
      </p:sp>
      <p:graphicFrame>
        <p:nvGraphicFramePr>
          <p:cNvPr id="29" name="Table 28">
            <a:extLst>
              <a:ext uri="{FF2B5EF4-FFF2-40B4-BE49-F238E27FC236}">
                <a16:creationId xmlns:a16="http://schemas.microsoft.com/office/drawing/2014/main" id="{5761E888-65DA-2E2E-E0E5-83A643B4B831}"/>
              </a:ext>
            </a:extLst>
          </p:cNvPr>
          <p:cNvGraphicFramePr>
            <a:graphicFrameLocks noGrp="1"/>
          </p:cNvGraphicFramePr>
          <p:nvPr>
            <p:extLst>
              <p:ext uri="{D42A27DB-BD31-4B8C-83A1-F6EECF244321}">
                <p14:modId xmlns:p14="http://schemas.microsoft.com/office/powerpoint/2010/main" val="403198758"/>
              </p:ext>
            </p:extLst>
          </p:nvPr>
        </p:nvGraphicFramePr>
        <p:xfrm>
          <a:off x="6231427" y="4381283"/>
          <a:ext cx="2691111" cy="1625778"/>
        </p:xfrm>
        <a:graphic>
          <a:graphicData uri="http://schemas.openxmlformats.org/drawingml/2006/table">
            <a:tbl>
              <a:tblPr firstRow="1" bandRow="1">
                <a:tableStyleId>{5C22544A-7EE6-4342-B048-85BDC9FD1C3A}</a:tableStyleId>
              </a:tblPr>
              <a:tblGrid>
                <a:gridCol w="897037">
                  <a:extLst>
                    <a:ext uri="{9D8B030D-6E8A-4147-A177-3AD203B41FA5}">
                      <a16:colId xmlns:a16="http://schemas.microsoft.com/office/drawing/2014/main" val="884180957"/>
                    </a:ext>
                  </a:extLst>
                </a:gridCol>
                <a:gridCol w="897037">
                  <a:extLst>
                    <a:ext uri="{9D8B030D-6E8A-4147-A177-3AD203B41FA5}">
                      <a16:colId xmlns:a16="http://schemas.microsoft.com/office/drawing/2014/main" val="350951249"/>
                    </a:ext>
                  </a:extLst>
                </a:gridCol>
                <a:gridCol w="897037">
                  <a:extLst>
                    <a:ext uri="{9D8B030D-6E8A-4147-A177-3AD203B41FA5}">
                      <a16:colId xmlns:a16="http://schemas.microsoft.com/office/drawing/2014/main" val="390450292"/>
                    </a:ext>
                  </a:extLst>
                </a:gridCol>
              </a:tblGrid>
              <a:tr h="270963">
                <a:tc gridSpan="3">
                  <a:txBody>
                    <a:bodyPr/>
                    <a:lstStyle/>
                    <a:p>
                      <a:pPr algn="ctr"/>
                      <a:r>
                        <a:rPr lang="en-US" sz="1000"/>
                        <a:t>Buy bids</a:t>
                      </a:r>
                    </a:p>
                  </a:txBody>
                  <a:tcP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586233531"/>
                  </a:ext>
                </a:extLst>
              </a:tr>
              <a:tr h="270963">
                <a:tc>
                  <a:txBody>
                    <a:bodyPr/>
                    <a:lstStyle/>
                    <a:p>
                      <a:r>
                        <a:rPr lang="en-US" sz="1000" b="1">
                          <a:solidFill>
                            <a:schemeClr val="bg1"/>
                          </a:solidFill>
                        </a:rPr>
                        <a:t>Buyer</a:t>
                      </a:r>
                    </a:p>
                  </a:txBody>
                  <a:tcPr>
                    <a:lnL w="6350" cap="flat" cmpd="sng" algn="ctr">
                      <a:solidFill>
                        <a:schemeClr val="accent5"/>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rPr>
                        <a:t>Buy price</a:t>
                      </a:r>
                    </a:p>
                  </a:txBody>
                  <a:tcP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rPr>
                        <a:t>Buy qty.</a:t>
                      </a:r>
                    </a:p>
                  </a:txBody>
                  <a:tcPr>
                    <a:lnR w="6350" cap="flat" cmpd="sng" algn="ctr">
                      <a:solidFill>
                        <a:schemeClr val="accent5"/>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491240990"/>
                  </a:ext>
                </a:extLst>
              </a:tr>
              <a:tr h="270963">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t>Buyer 2</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3,200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200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814925190"/>
                  </a:ext>
                </a:extLst>
              </a:tr>
              <a:tr h="270963">
                <a:tc>
                  <a:txBody>
                    <a:bodyPr/>
                    <a:lstStyle/>
                    <a:p>
                      <a:r>
                        <a:rPr lang="en-US" sz="1000"/>
                        <a:t>Buyer 1</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3,000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500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126773286"/>
                  </a:ext>
                </a:extLst>
              </a:tr>
              <a:tr h="270963">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t>Buyer 4</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2,800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200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151714923"/>
                  </a:ext>
                </a:extLst>
              </a:tr>
              <a:tr h="270963">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t>Buyer 5</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2,500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300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372180944"/>
                  </a:ext>
                </a:extLst>
              </a:tr>
            </a:tbl>
          </a:graphicData>
        </a:graphic>
      </p:graphicFrame>
      <p:graphicFrame>
        <p:nvGraphicFramePr>
          <p:cNvPr id="30" name="Table 29">
            <a:extLst>
              <a:ext uri="{FF2B5EF4-FFF2-40B4-BE49-F238E27FC236}">
                <a16:creationId xmlns:a16="http://schemas.microsoft.com/office/drawing/2014/main" id="{F6A4057E-5C0F-12BB-09BE-711186146BCE}"/>
              </a:ext>
            </a:extLst>
          </p:cNvPr>
          <p:cNvGraphicFramePr>
            <a:graphicFrameLocks noGrp="1"/>
          </p:cNvGraphicFramePr>
          <p:nvPr>
            <p:extLst>
              <p:ext uri="{D42A27DB-BD31-4B8C-83A1-F6EECF244321}">
                <p14:modId xmlns:p14="http://schemas.microsoft.com/office/powerpoint/2010/main" val="2368299333"/>
              </p:ext>
            </p:extLst>
          </p:nvPr>
        </p:nvGraphicFramePr>
        <p:xfrm>
          <a:off x="8982989" y="4381283"/>
          <a:ext cx="2724045" cy="1625778"/>
        </p:xfrm>
        <a:graphic>
          <a:graphicData uri="http://schemas.openxmlformats.org/drawingml/2006/table">
            <a:tbl>
              <a:tblPr firstRow="1" bandRow="1">
                <a:tableStyleId>{5C22544A-7EE6-4342-B048-85BDC9FD1C3A}</a:tableStyleId>
              </a:tblPr>
              <a:tblGrid>
                <a:gridCol w="908015">
                  <a:extLst>
                    <a:ext uri="{9D8B030D-6E8A-4147-A177-3AD203B41FA5}">
                      <a16:colId xmlns:a16="http://schemas.microsoft.com/office/drawing/2014/main" val="884180957"/>
                    </a:ext>
                  </a:extLst>
                </a:gridCol>
                <a:gridCol w="908015">
                  <a:extLst>
                    <a:ext uri="{9D8B030D-6E8A-4147-A177-3AD203B41FA5}">
                      <a16:colId xmlns:a16="http://schemas.microsoft.com/office/drawing/2014/main" val="350951249"/>
                    </a:ext>
                  </a:extLst>
                </a:gridCol>
                <a:gridCol w="908015">
                  <a:extLst>
                    <a:ext uri="{9D8B030D-6E8A-4147-A177-3AD203B41FA5}">
                      <a16:colId xmlns:a16="http://schemas.microsoft.com/office/drawing/2014/main" val="390450292"/>
                    </a:ext>
                  </a:extLst>
                </a:gridCol>
              </a:tblGrid>
              <a:tr h="270963">
                <a:tc gridSpan="3">
                  <a:txBody>
                    <a:bodyPr/>
                    <a:lstStyle/>
                    <a:p>
                      <a:pPr algn="ctr"/>
                      <a:r>
                        <a:rPr lang="en-US" sz="1000"/>
                        <a:t>Sell bids</a:t>
                      </a:r>
                    </a:p>
                  </a:txBody>
                  <a:tcP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3877221259"/>
                  </a:ext>
                </a:extLst>
              </a:tr>
              <a:tr h="270963">
                <a:tc>
                  <a:txBody>
                    <a:bodyPr/>
                    <a:lstStyle/>
                    <a:p>
                      <a:r>
                        <a:rPr lang="en-US" sz="1000" b="1">
                          <a:solidFill>
                            <a:schemeClr val="bg1"/>
                          </a:solidFill>
                        </a:rPr>
                        <a:t>Seller</a:t>
                      </a:r>
                    </a:p>
                  </a:txBody>
                  <a:tcPr>
                    <a:lnL w="6350" cap="flat" cmpd="sng" algn="ctr">
                      <a:solidFill>
                        <a:schemeClr val="accent5"/>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rPr>
                        <a:t>Sell price</a:t>
                      </a:r>
                    </a:p>
                  </a:txBody>
                  <a:tcP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rPr>
                        <a:t>Sell qty.</a:t>
                      </a:r>
                    </a:p>
                  </a:txBody>
                  <a:tcPr>
                    <a:lnR w="6350" cap="flat" cmpd="sng" algn="ctr">
                      <a:solidFill>
                        <a:schemeClr val="accent5"/>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491240990"/>
                  </a:ext>
                </a:extLst>
              </a:tr>
              <a:tr h="270963">
                <a:tc>
                  <a:txBody>
                    <a:bodyPr/>
                    <a:lstStyle/>
                    <a:p>
                      <a:r>
                        <a:rPr lang="en-US" sz="1000"/>
                        <a:t>Seller 1</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3,500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200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157593728"/>
                  </a:ext>
                </a:extLst>
              </a:tr>
              <a:tr h="270963">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t>Seller 2</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4,000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300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814925190"/>
                  </a:ext>
                </a:extLst>
              </a:tr>
              <a:tr h="270963">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t>Seller 3</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4,200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500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126773286"/>
                  </a:ext>
                </a:extLst>
              </a:tr>
              <a:tr h="270963">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t>Seller 4</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4,400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t>400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151714923"/>
                  </a:ext>
                </a:extLst>
              </a:tr>
            </a:tbl>
          </a:graphicData>
        </a:graphic>
      </p:graphicFrame>
      <p:sp>
        <p:nvSpPr>
          <p:cNvPr id="31" name="TextBox 30">
            <a:extLst>
              <a:ext uri="{FF2B5EF4-FFF2-40B4-BE49-F238E27FC236}">
                <a16:creationId xmlns:a16="http://schemas.microsoft.com/office/drawing/2014/main" id="{09EAE0AD-A456-5D87-2F4F-4A0733A6A2CD}"/>
              </a:ext>
            </a:extLst>
          </p:cNvPr>
          <p:cNvSpPr txBox="1"/>
          <p:nvPr/>
        </p:nvSpPr>
        <p:spPr>
          <a:xfrm>
            <a:off x="6215695" y="3971345"/>
            <a:ext cx="4368776" cy="369332"/>
          </a:xfrm>
          <a:prstGeom prst="rect">
            <a:avLst/>
          </a:prstGeom>
          <a:noFill/>
        </p:spPr>
        <p:txBody>
          <a:bodyPr wrap="square" lIns="0" tIns="0" rIns="0" bIns="0" rtlCol="0">
            <a:spAutoFit/>
          </a:bodyPr>
          <a:lstStyle/>
          <a:p>
            <a:pPr>
              <a:spcBef>
                <a:spcPts val="488"/>
              </a:spcBef>
              <a:buSzPct val="100000"/>
            </a:pPr>
            <a:r>
              <a:rPr lang="en-US" sz="1200" b="1">
                <a:latin typeface="Arial" panose="020B0604020202020204" pitchFamily="34" charset="0"/>
                <a:cs typeface="Arial" panose="020B0604020202020204" pitchFamily="34" charset="0"/>
              </a:rPr>
              <a:t>Pending bids (buy/ sell)</a:t>
            </a:r>
          </a:p>
          <a:p>
            <a:pPr>
              <a:spcBef>
                <a:spcPts val="0"/>
              </a:spcBef>
              <a:buSzPct val="100000"/>
            </a:pPr>
            <a:r>
              <a:rPr lang="en-US" sz="1200">
                <a:latin typeface="Arial" panose="020B0604020202020204" pitchFamily="34" charset="0"/>
                <a:cs typeface="Arial" panose="020B0604020202020204" pitchFamily="34" charset="0"/>
              </a:rPr>
              <a:t>INR/ MWh, MW</a:t>
            </a:r>
          </a:p>
        </p:txBody>
      </p:sp>
      <p:sp>
        <p:nvSpPr>
          <p:cNvPr id="36" name="Arrow: Down 35">
            <a:extLst>
              <a:ext uri="{FF2B5EF4-FFF2-40B4-BE49-F238E27FC236}">
                <a16:creationId xmlns:a16="http://schemas.microsoft.com/office/drawing/2014/main" id="{EAD36C7C-7309-96CB-A058-F55AD25D678F}"/>
              </a:ext>
            </a:extLst>
          </p:cNvPr>
          <p:cNvSpPr/>
          <p:nvPr/>
        </p:nvSpPr>
        <p:spPr bwMode="gray">
          <a:xfrm>
            <a:off x="8250907" y="2685741"/>
            <a:ext cx="213804" cy="248933"/>
          </a:xfrm>
          <a:prstGeom prst="downArrow">
            <a:avLst/>
          </a:prstGeom>
          <a:solidFill>
            <a:srgbClr val="BBBCBC"/>
          </a:solidFill>
          <a:ln w="12700" algn="ctr">
            <a:solidFill>
              <a:srgbClr val="BBBCBC"/>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56" name="TextBox 55">
            <a:extLst>
              <a:ext uri="{FF2B5EF4-FFF2-40B4-BE49-F238E27FC236}">
                <a16:creationId xmlns:a16="http://schemas.microsoft.com/office/drawing/2014/main" id="{1B683907-88FE-CA51-6195-371FADA03B0E}"/>
              </a:ext>
            </a:extLst>
          </p:cNvPr>
          <p:cNvSpPr txBox="1"/>
          <p:nvPr/>
        </p:nvSpPr>
        <p:spPr>
          <a:xfrm>
            <a:off x="6215695" y="2756661"/>
            <a:ext cx="1671005" cy="369332"/>
          </a:xfrm>
          <a:prstGeom prst="rect">
            <a:avLst/>
          </a:prstGeom>
          <a:noFill/>
        </p:spPr>
        <p:txBody>
          <a:bodyPr wrap="square" lIns="0" tIns="0" rIns="0" bIns="0" rtlCol="0">
            <a:spAutoFit/>
          </a:bodyPr>
          <a:lstStyle/>
          <a:p>
            <a:pPr>
              <a:spcBef>
                <a:spcPts val="488"/>
              </a:spcBef>
              <a:buSzPct val="100000"/>
            </a:pPr>
            <a:r>
              <a:rPr lang="en-US" sz="1200" b="1">
                <a:latin typeface="Arial" panose="020B0604020202020204" pitchFamily="34" charset="0"/>
                <a:cs typeface="Arial" panose="020B0604020202020204" pitchFamily="34" charset="0"/>
              </a:rPr>
              <a:t>Trades executed</a:t>
            </a:r>
          </a:p>
          <a:p>
            <a:pPr>
              <a:spcBef>
                <a:spcPts val="0"/>
              </a:spcBef>
              <a:buSzPct val="100000"/>
            </a:pPr>
            <a:r>
              <a:rPr lang="en-US" sz="1200">
                <a:latin typeface="Arial" panose="020B0604020202020204" pitchFamily="34" charset="0"/>
                <a:cs typeface="Arial" panose="020B0604020202020204" pitchFamily="34" charset="0"/>
              </a:rPr>
              <a:t>INR/ MWh, MW</a:t>
            </a:r>
          </a:p>
        </p:txBody>
      </p:sp>
      <p:graphicFrame>
        <p:nvGraphicFramePr>
          <p:cNvPr id="57" name="Table 56">
            <a:extLst>
              <a:ext uri="{FF2B5EF4-FFF2-40B4-BE49-F238E27FC236}">
                <a16:creationId xmlns:a16="http://schemas.microsoft.com/office/drawing/2014/main" id="{05709F3F-24D1-026E-A366-87D6F73B9FE3}"/>
              </a:ext>
            </a:extLst>
          </p:cNvPr>
          <p:cNvGraphicFramePr>
            <a:graphicFrameLocks noGrp="1"/>
          </p:cNvGraphicFramePr>
          <p:nvPr>
            <p:extLst>
              <p:ext uri="{D42A27DB-BD31-4B8C-83A1-F6EECF244321}">
                <p14:modId xmlns:p14="http://schemas.microsoft.com/office/powerpoint/2010/main" val="704808751"/>
              </p:ext>
            </p:extLst>
          </p:nvPr>
        </p:nvGraphicFramePr>
        <p:xfrm>
          <a:off x="6215694" y="3129191"/>
          <a:ext cx="5491338" cy="731520"/>
        </p:xfrm>
        <a:graphic>
          <a:graphicData uri="http://schemas.openxmlformats.org/drawingml/2006/table">
            <a:tbl>
              <a:tblPr firstRow="1" bandRow="1">
                <a:tableStyleId>{5C22544A-7EE6-4342-B048-85BDC9FD1C3A}</a:tableStyleId>
              </a:tblPr>
              <a:tblGrid>
                <a:gridCol w="1830446">
                  <a:extLst>
                    <a:ext uri="{9D8B030D-6E8A-4147-A177-3AD203B41FA5}">
                      <a16:colId xmlns:a16="http://schemas.microsoft.com/office/drawing/2014/main" val="884180957"/>
                    </a:ext>
                  </a:extLst>
                </a:gridCol>
                <a:gridCol w="1830446">
                  <a:extLst>
                    <a:ext uri="{9D8B030D-6E8A-4147-A177-3AD203B41FA5}">
                      <a16:colId xmlns:a16="http://schemas.microsoft.com/office/drawing/2014/main" val="350951249"/>
                    </a:ext>
                  </a:extLst>
                </a:gridCol>
                <a:gridCol w="1830446">
                  <a:extLst>
                    <a:ext uri="{9D8B030D-6E8A-4147-A177-3AD203B41FA5}">
                      <a16:colId xmlns:a16="http://schemas.microsoft.com/office/drawing/2014/main" val="390450292"/>
                    </a:ext>
                  </a:extLst>
                </a:gridCol>
              </a:tblGrid>
              <a:tr h="0">
                <a:tc>
                  <a:txBody>
                    <a:bodyPr/>
                    <a:lstStyle/>
                    <a:p>
                      <a:r>
                        <a:rPr lang="en-US" sz="1000" b="1">
                          <a:solidFill>
                            <a:schemeClr val="bg1"/>
                          </a:solidFill>
                          <a:latin typeface="Arial" panose="020B0604020202020204" pitchFamily="34" charset="0"/>
                          <a:cs typeface="Arial" panose="020B0604020202020204" pitchFamily="34" charset="0"/>
                        </a:rPr>
                        <a:t>Transaction</a:t>
                      </a:r>
                    </a:p>
                  </a:txBody>
                  <a:tcPr>
                    <a:lnL w="6350" cap="flat" cmpd="sng" algn="ctr">
                      <a:solidFill>
                        <a:schemeClr val="accent5"/>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latin typeface="Arial" panose="020B0604020202020204" pitchFamily="34" charset="0"/>
                          <a:cs typeface="Arial" panose="020B0604020202020204" pitchFamily="34" charset="0"/>
                        </a:rPr>
                        <a:t>Price</a:t>
                      </a:r>
                    </a:p>
                  </a:txBody>
                  <a:tcP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latin typeface="Arial" panose="020B0604020202020204" pitchFamily="34" charset="0"/>
                          <a:cs typeface="Arial" panose="020B0604020202020204" pitchFamily="34" charset="0"/>
                        </a:rPr>
                        <a:t>Quantity</a:t>
                      </a:r>
                    </a:p>
                  </a:txBody>
                  <a:tcPr>
                    <a:lnR w="6350" cap="flat" cmpd="sng" algn="ctr">
                      <a:solidFill>
                        <a:schemeClr val="accent5"/>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491240990"/>
                  </a:ext>
                </a:extLst>
              </a:tr>
              <a:tr h="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Buyer 3 – Seller 5</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3,300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300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814925190"/>
                  </a:ext>
                </a:extLst>
              </a:tr>
              <a:tr h="0">
                <a:tc>
                  <a:txBody>
                    <a:bodyPr/>
                    <a:lstStyle/>
                    <a:p>
                      <a:r>
                        <a:rPr lang="en-US" sz="1000">
                          <a:latin typeface="Arial" panose="020B0604020202020204" pitchFamily="34" charset="0"/>
                          <a:cs typeface="Arial" panose="020B0604020202020204" pitchFamily="34" charset="0"/>
                        </a:rPr>
                        <a:t>Buyer 2 – Seller 5</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3,200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200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126773286"/>
                  </a:ext>
                </a:extLst>
              </a:tr>
            </a:tbl>
          </a:graphicData>
        </a:graphic>
      </p:graphicFrame>
      <p:sp>
        <p:nvSpPr>
          <p:cNvPr id="58" name="Rectangle 57">
            <a:extLst>
              <a:ext uri="{FF2B5EF4-FFF2-40B4-BE49-F238E27FC236}">
                <a16:creationId xmlns:a16="http://schemas.microsoft.com/office/drawing/2014/main" id="{E3AA1D8C-3698-5014-2B9E-4FED3E54AAE1}"/>
              </a:ext>
            </a:extLst>
          </p:cNvPr>
          <p:cNvSpPr/>
          <p:nvPr/>
        </p:nvSpPr>
        <p:spPr bwMode="gray">
          <a:xfrm>
            <a:off x="6764147" y="6038589"/>
            <a:ext cx="4356000" cy="299945"/>
          </a:xfrm>
          <a:prstGeom prst="rect">
            <a:avLst/>
          </a:prstGeom>
          <a:no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R="0" algn="ctr" defTabSz="990564" rtl="0" eaLnBrk="1" fontAlgn="auto" latinLnBrk="0" hangingPunct="1">
              <a:lnSpc>
                <a:spcPct val="100000"/>
              </a:lnSpc>
              <a:spcBef>
                <a:spcPts val="0"/>
              </a:spcBef>
              <a:spcAft>
                <a:spcPts val="0"/>
              </a:spcAft>
              <a:buClrTx/>
              <a:buSzPct val="100000"/>
              <a:tabLst/>
            </a:pPr>
            <a:r>
              <a:rPr kumimoji="1" lang="en-US" sz="1000" b="1">
                <a:latin typeface="Arial" panose="020B0604020202020204" pitchFamily="34" charset="0"/>
                <a:cs typeface="Arial" panose="020B0604020202020204" pitchFamily="34" charset="0"/>
              </a:rPr>
              <a:t>Orders shall remain pending as the best buy bid of Buyer 2 at INR 3,200/ MWh , best sell bid of Seller 1 at INR 3,500/ MWh</a:t>
            </a:r>
          </a:p>
        </p:txBody>
      </p:sp>
      <p:sp>
        <p:nvSpPr>
          <p:cNvPr id="2" name="Arrow: Right 1">
            <a:hlinkClick r:id="rId6" action="ppaction://hlinksldjump"/>
            <a:extLst>
              <a:ext uri="{FF2B5EF4-FFF2-40B4-BE49-F238E27FC236}">
                <a16:creationId xmlns:a16="http://schemas.microsoft.com/office/drawing/2014/main" id="{EF6072B2-92CE-A231-87F8-6FC6A444DE1A}"/>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11673104"/>
      </p:ext>
    </p:extLst>
  </p:cSld>
  <p:clrMapOvr>
    <a:masterClrMapping/>
  </p:clrMapOvr>
  <p:transition>
    <p:fade/>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2000" b="1">
                <a:latin typeface="Arial" panose="020B0604020202020204" pitchFamily="34" charset="0"/>
                <a:cs typeface="Arial" panose="020B0604020202020204" pitchFamily="34" charset="0"/>
              </a:rPr>
              <a:t>Continuous matching algorithm</a:t>
            </a:r>
            <a:endParaRPr lang="en-GB" sz="20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497" name="TextBox 496">
            <a:extLst>
              <a:ext uri="{FF2B5EF4-FFF2-40B4-BE49-F238E27FC236}">
                <a16:creationId xmlns:a16="http://schemas.microsoft.com/office/drawing/2014/main" id="{E3CD61BF-5158-2CE6-D4D0-D211D840411E}"/>
              </a:ext>
            </a:extLst>
          </p:cNvPr>
          <p:cNvSpPr txBox="1"/>
          <p:nvPr/>
        </p:nvSpPr>
        <p:spPr>
          <a:xfrm>
            <a:off x="447675" y="6596933"/>
            <a:ext cx="609600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Deloitte analysis</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graphicFrame>
        <p:nvGraphicFramePr>
          <p:cNvPr id="2" name="Table 1">
            <a:extLst>
              <a:ext uri="{FF2B5EF4-FFF2-40B4-BE49-F238E27FC236}">
                <a16:creationId xmlns:a16="http://schemas.microsoft.com/office/drawing/2014/main" id="{D6AE5019-5488-C23E-8B76-15CA13AF8543}"/>
              </a:ext>
            </a:extLst>
          </p:cNvPr>
          <p:cNvGraphicFramePr>
            <a:graphicFrameLocks noGrp="1"/>
          </p:cNvGraphicFramePr>
          <p:nvPr>
            <p:extLst>
              <p:ext uri="{D42A27DB-BD31-4B8C-83A1-F6EECF244321}">
                <p14:modId xmlns:p14="http://schemas.microsoft.com/office/powerpoint/2010/main" val="2874512323"/>
              </p:ext>
            </p:extLst>
          </p:nvPr>
        </p:nvGraphicFramePr>
        <p:xfrm>
          <a:off x="6243394" y="1870387"/>
          <a:ext cx="5446958" cy="1197728"/>
        </p:xfrm>
        <a:graphic>
          <a:graphicData uri="http://schemas.openxmlformats.org/drawingml/2006/table">
            <a:tbl>
              <a:tblPr firstRow="1" bandRow="1">
                <a:tableStyleId>{5C22544A-7EE6-4342-B048-85BDC9FD1C3A}</a:tableStyleId>
              </a:tblPr>
              <a:tblGrid>
                <a:gridCol w="778137">
                  <a:extLst>
                    <a:ext uri="{9D8B030D-6E8A-4147-A177-3AD203B41FA5}">
                      <a16:colId xmlns:a16="http://schemas.microsoft.com/office/drawing/2014/main" val="884180957"/>
                    </a:ext>
                  </a:extLst>
                </a:gridCol>
                <a:gridCol w="778137">
                  <a:extLst>
                    <a:ext uri="{9D8B030D-6E8A-4147-A177-3AD203B41FA5}">
                      <a16:colId xmlns:a16="http://schemas.microsoft.com/office/drawing/2014/main" val="350951249"/>
                    </a:ext>
                  </a:extLst>
                </a:gridCol>
                <a:gridCol w="665013">
                  <a:extLst>
                    <a:ext uri="{9D8B030D-6E8A-4147-A177-3AD203B41FA5}">
                      <a16:colId xmlns:a16="http://schemas.microsoft.com/office/drawing/2014/main" val="390450292"/>
                    </a:ext>
                  </a:extLst>
                </a:gridCol>
                <a:gridCol w="604617">
                  <a:extLst>
                    <a:ext uri="{9D8B030D-6E8A-4147-A177-3AD203B41FA5}">
                      <a16:colId xmlns:a16="http://schemas.microsoft.com/office/drawing/2014/main" val="2545168684"/>
                    </a:ext>
                  </a:extLst>
                </a:gridCol>
                <a:gridCol w="889813">
                  <a:extLst>
                    <a:ext uri="{9D8B030D-6E8A-4147-A177-3AD203B41FA5}">
                      <a16:colId xmlns:a16="http://schemas.microsoft.com/office/drawing/2014/main" val="822189793"/>
                    </a:ext>
                  </a:extLst>
                </a:gridCol>
                <a:gridCol w="775735">
                  <a:extLst>
                    <a:ext uri="{9D8B030D-6E8A-4147-A177-3AD203B41FA5}">
                      <a16:colId xmlns:a16="http://schemas.microsoft.com/office/drawing/2014/main" val="2666493827"/>
                    </a:ext>
                  </a:extLst>
                </a:gridCol>
                <a:gridCol w="955506">
                  <a:extLst>
                    <a:ext uri="{9D8B030D-6E8A-4147-A177-3AD203B41FA5}">
                      <a16:colId xmlns:a16="http://schemas.microsoft.com/office/drawing/2014/main" val="1180677271"/>
                    </a:ext>
                  </a:extLst>
                </a:gridCol>
              </a:tblGrid>
              <a:tr h="460664">
                <a:tc>
                  <a:txBody>
                    <a:bodyPr/>
                    <a:lstStyle/>
                    <a:p>
                      <a:pPr algn="ctr"/>
                      <a:r>
                        <a:rPr lang="en-US" sz="1000" b="1">
                          <a:solidFill>
                            <a:schemeClr val="bg1"/>
                          </a:solidFill>
                          <a:latin typeface="Arial" panose="020B0604020202020204" pitchFamily="34" charset="0"/>
                          <a:cs typeface="Arial" panose="020B0604020202020204" pitchFamily="34" charset="0"/>
                        </a:rPr>
                        <a:t>Cumulative buy quantity</a:t>
                      </a:r>
                    </a:p>
                  </a:txBody>
                  <a:tcPr marL="0" marR="0" marT="0" marB="0" anchor="ctr">
                    <a:lnL w="6350" cap="flat" cmpd="sng" algn="ctr">
                      <a:solidFill>
                        <a:schemeClr val="accent5"/>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1000" b="1">
                          <a:solidFill>
                            <a:schemeClr val="bg1"/>
                          </a:solidFill>
                          <a:latin typeface="Arial" panose="020B0604020202020204" pitchFamily="34" charset="0"/>
                          <a:cs typeface="Arial" panose="020B0604020202020204" pitchFamily="34" charset="0"/>
                        </a:rPr>
                        <a:t>Buy quantity</a:t>
                      </a:r>
                    </a:p>
                  </a:txBody>
                  <a:tcPr marL="0" marR="0" marT="0" marB="0" anchor="ct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1000" b="1">
                          <a:solidFill>
                            <a:schemeClr val="bg1"/>
                          </a:solidFill>
                          <a:latin typeface="Arial" panose="020B0604020202020204" pitchFamily="34" charset="0"/>
                          <a:cs typeface="Arial" panose="020B0604020202020204" pitchFamily="34" charset="0"/>
                        </a:rPr>
                        <a:t>Price</a:t>
                      </a:r>
                    </a:p>
                  </a:txBody>
                  <a:tcPr marL="0" marR="0" marT="0" marB="0" anchor="ct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1000" b="1">
                          <a:solidFill>
                            <a:schemeClr val="bg1"/>
                          </a:solidFill>
                          <a:latin typeface="Arial" panose="020B0604020202020204" pitchFamily="34" charset="0"/>
                          <a:cs typeface="Arial" panose="020B0604020202020204" pitchFamily="34" charset="0"/>
                        </a:rPr>
                        <a:t>Sell quantity</a:t>
                      </a:r>
                    </a:p>
                  </a:txBody>
                  <a:tcPr marL="0" marR="0" marT="0" marB="0" anchor="ct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1000" b="1">
                          <a:solidFill>
                            <a:schemeClr val="bg1"/>
                          </a:solidFill>
                          <a:latin typeface="Arial" panose="020B0604020202020204" pitchFamily="34" charset="0"/>
                          <a:cs typeface="Arial" panose="020B0604020202020204" pitchFamily="34" charset="0"/>
                        </a:rPr>
                        <a:t>Cumulative sell quantity</a:t>
                      </a:r>
                    </a:p>
                  </a:txBody>
                  <a:tcPr marL="0" marR="0" marT="0" marB="0" anchor="ct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1000" b="1">
                          <a:solidFill>
                            <a:schemeClr val="bg1"/>
                          </a:solidFill>
                          <a:latin typeface="Arial" panose="020B0604020202020204" pitchFamily="34" charset="0"/>
                          <a:cs typeface="Arial" panose="020B0604020202020204" pitchFamily="34" charset="0"/>
                        </a:rPr>
                        <a:t>Total tradable volume</a:t>
                      </a:r>
                    </a:p>
                  </a:txBody>
                  <a:tcPr marL="0" marR="0" marT="0" marB="0" anchor="ct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1000" b="1">
                          <a:solidFill>
                            <a:schemeClr val="bg1"/>
                          </a:solidFill>
                          <a:latin typeface="Arial" panose="020B0604020202020204" pitchFamily="34" charset="0"/>
                          <a:cs typeface="Arial" panose="020B0604020202020204" pitchFamily="34" charset="0"/>
                        </a:rPr>
                        <a:t>Minimum surplus</a:t>
                      </a:r>
                    </a:p>
                  </a:txBody>
                  <a:tcPr marL="0" marR="0" marT="0" marB="0" anchor="ctr">
                    <a:lnR w="6350" cap="flat" cmpd="sng" algn="ctr">
                      <a:solidFill>
                        <a:schemeClr val="accent5"/>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491240990"/>
                  </a:ext>
                </a:extLst>
              </a:tr>
              <a:tr h="245688">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32,700 </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1000">
                          <a:solidFill>
                            <a:schemeClr val="tx1"/>
                          </a:solidFill>
                          <a:latin typeface="Arial" panose="020B0604020202020204" pitchFamily="34" charset="0"/>
                          <a:cs typeface="Arial" panose="020B0604020202020204" pitchFamily="34" charset="0"/>
                        </a:rPr>
                        <a:t>28,200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1000" b="0">
                          <a:solidFill>
                            <a:schemeClr val="tx1"/>
                          </a:solidFill>
                          <a:latin typeface="Arial" panose="020B0604020202020204" pitchFamily="34" charset="0"/>
                          <a:cs typeface="Arial" panose="020B0604020202020204" pitchFamily="34" charset="0"/>
                        </a:rPr>
                        <a:t>824</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1000" b="0">
                          <a:solidFill>
                            <a:schemeClr val="tx1"/>
                          </a:solidFill>
                          <a:latin typeface="Arial" panose="020B0604020202020204" pitchFamily="34" charset="0"/>
                          <a:cs typeface="Arial" panose="020B0604020202020204" pitchFamily="34" charset="0"/>
                        </a:rPr>
                        <a:t>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21,100 </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21,100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b"/>
                      <a:r>
                        <a:rPr lang="en-US" sz="1000" b="0" i="0" u="none" strike="noStrike">
                          <a:solidFill>
                            <a:srgbClr val="000000"/>
                          </a:solidFill>
                          <a:effectLst/>
                          <a:latin typeface="Arial" panose="020B0604020202020204" pitchFamily="34" charset="0"/>
                          <a:cs typeface="Arial" panose="020B0604020202020204" pitchFamily="34" charset="0"/>
                        </a:rPr>
                        <a:t>+11,600</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151714923"/>
                  </a:ext>
                </a:extLst>
              </a:tr>
              <a:tr h="245688">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34,600 </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solidFill>
                            <a:schemeClr val="tx1"/>
                          </a:solidFill>
                          <a:latin typeface="Arial" panose="020B0604020202020204" pitchFamily="34" charset="0"/>
                          <a:cs typeface="Arial" panose="020B0604020202020204" pitchFamily="34" charset="0"/>
                        </a:rPr>
                        <a:t>1900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b="0">
                          <a:solidFill>
                            <a:schemeClr val="tx1"/>
                          </a:solidFill>
                          <a:latin typeface="Arial" panose="020B0604020202020204" pitchFamily="34" charset="0"/>
                          <a:cs typeface="Arial" panose="020B0604020202020204" pitchFamily="34" charset="0"/>
                        </a:rPr>
                        <a:t>822</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b="0">
                          <a:solidFill>
                            <a:schemeClr val="tx1"/>
                          </a:solidFill>
                          <a:latin typeface="Arial" panose="020B0604020202020204" pitchFamily="34" charset="0"/>
                          <a:cs typeface="Arial" panose="020B0604020202020204" pitchFamily="34" charset="0"/>
                        </a:rPr>
                        <a:t>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21,100 </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21,100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b"/>
                      <a:r>
                        <a:rPr lang="en-US" sz="1000" b="0" i="0" u="none" strike="noStrike">
                          <a:solidFill>
                            <a:srgbClr val="000000"/>
                          </a:solidFill>
                          <a:effectLst/>
                          <a:latin typeface="Arial" panose="020B0604020202020204" pitchFamily="34" charset="0"/>
                          <a:cs typeface="Arial" panose="020B0604020202020204" pitchFamily="34" charset="0"/>
                        </a:rPr>
                        <a:t>+13,500</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372180944"/>
                  </a:ext>
                </a:extLst>
              </a:tr>
              <a:tr h="245688">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84,300 </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solidFill>
                            <a:schemeClr val="tx1"/>
                          </a:solidFill>
                          <a:latin typeface="Arial" panose="020B0604020202020204" pitchFamily="34" charset="0"/>
                          <a:cs typeface="Arial" panose="020B0604020202020204" pitchFamily="34" charset="0"/>
                        </a:rPr>
                        <a:t>49,700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b="0">
                          <a:solidFill>
                            <a:schemeClr val="tx1"/>
                          </a:solidFill>
                          <a:latin typeface="Arial" panose="020B0604020202020204" pitchFamily="34" charset="0"/>
                          <a:cs typeface="Arial" panose="020B0604020202020204" pitchFamily="34" charset="0"/>
                        </a:rPr>
                        <a:t>820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b="0">
                          <a:solidFill>
                            <a:schemeClr val="tx1"/>
                          </a:solidFill>
                          <a:latin typeface="Arial" panose="020B0604020202020204" pitchFamily="34" charset="0"/>
                          <a:cs typeface="Arial" panose="020B0604020202020204" pitchFamily="34" charset="0"/>
                        </a:rPr>
                        <a:t>17,500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21,100 </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21,100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b"/>
                      <a:r>
                        <a:rPr lang="en-US" sz="1000" b="0" i="0" u="none" strike="noStrike">
                          <a:solidFill>
                            <a:srgbClr val="000000"/>
                          </a:solidFill>
                          <a:effectLst/>
                          <a:latin typeface="Arial" panose="020B0604020202020204" pitchFamily="34" charset="0"/>
                          <a:cs typeface="Arial" panose="020B0604020202020204" pitchFamily="34" charset="0"/>
                        </a:rPr>
                        <a:t>+63,200</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589328767"/>
                  </a:ext>
                </a:extLst>
              </a:tr>
            </a:tbl>
          </a:graphicData>
        </a:graphic>
      </p:graphicFrame>
      <p:sp>
        <p:nvSpPr>
          <p:cNvPr id="3" name="TextBox 2">
            <a:extLst>
              <a:ext uri="{FF2B5EF4-FFF2-40B4-BE49-F238E27FC236}">
                <a16:creationId xmlns:a16="http://schemas.microsoft.com/office/drawing/2014/main" id="{E0E375ED-389A-2234-B9C8-8CE557176CC6}"/>
              </a:ext>
            </a:extLst>
          </p:cNvPr>
          <p:cNvSpPr txBox="1"/>
          <p:nvPr/>
        </p:nvSpPr>
        <p:spPr>
          <a:xfrm>
            <a:off x="510003" y="1337575"/>
            <a:ext cx="4368776" cy="369332"/>
          </a:xfrm>
          <a:prstGeom prst="rect">
            <a:avLst/>
          </a:prstGeom>
          <a:noFill/>
        </p:spPr>
        <p:txBody>
          <a:bodyPr wrap="square" lIns="0" tIns="0" rIns="0" bIns="0" rtlCol="0">
            <a:spAutoFit/>
          </a:bodyPr>
          <a:lstStyle/>
          <a:p>
            <a:pPr>
              <a:spcBef>
                <a:spcPts val="488"/>
              </a:spcBef>
              <a:buSzPct val="100000"/>
            </a:pPr>
            <a:r>
              <a:rPr lang="en-US" sz="1200" b="1">
                <a:latin typeface="Arial" panose="020B0604020202020204" pitchFamily="34" charset="0"/>
                <a:cs typeface="Arial" panose="020B0604020202020204" pitchFamily="34" charset="0"/>
              </a:rPr>
              <a:t>Sample bids received during trading hours (buy/ sell)</a:t>
            </a:r>
          </a:p>
          <a:p>
            <a:pPr>
              <a:spcBef>
                <a:spcPts val="0"/>
              </a:spcBef>
              <a:buSzPct val="100000"/>
            </a:pPr>
            <a:r>
              <a:rPr lang="en-US" sz="1200">
                <a:latin typeface="Arial" panose="020B0604020202020204" pitchFamily="34" charset="0"/>
                <a:cs typeface="Arial" panose="020B0604020202020204" pitchFamily="34" charset="0"/>
              </a:rPr>
              <a:t>INR/ MWh, MW</a:t>
            </a:r>
          </a:p>
        </p:txBody>
      </p:sp>
      <p:graphicFrame>
        <p:nvGraphicFramePr>
          <p:cNvPr id="4" name="Table 3">
            <a:extLst>
              <a:ext uri="{FF2B5EF4-FFF2-40B4-BE49-F238E27FC236}">
                <a16:creationId xmlns:a16="http://schemas.microsoft.com/office/drawing/2014/main" id="{10AA85EC-8E92-A228-8303-624293EE691E}"/>
              </a:ext>
            </a:extLst>
          </p:cNvPr>
          <p:cNvGraphicFramePr>
            <a:graphicFrameLocks noGrp="1"/>
          </p:cNvGraphicFramePr>
          <p:nvPr>
            <p:extLst>
              <p:ext uri="{D42A27DB-BD31-4B8C-83A1-F6EECF244321}">
                <p14:modId xmlns:p14="http://schemas.microsoft.com/office/powerpoint/2010/main" val="3321203136"/>
              </p:ext>
            </p:extLst>
          </p:nvPr>
        </p:nvGraphicFramePr>
        <p:xfrm>
          <a:off x="501651" y="1870385"/>
          <a:ext cx="2718048" cy="1706880"/>
        </p:xfrm>
        <a:graphic>
          <a:graphicData uri="http://schemas.openxmlformats.org/drawingml/2006/table">
            <a:tbl>
              <a:tblPr firstRow="1" bandRow="1">
                <a:tableStyleId>{5C22544A-7EE6-4342-B048-85BDC9FD1C3A}</a:tableStyleId>
              </a:tblPr>
              <a:tblGrid>
                <a:gridCol w="906016">
                  <a:extLst>
                    <a:ext uri="{9D8B030D-6E8A-4147-A177-3AD203B41FA5}">
                      <a16:colId xmlns:a16="http://schemas.microsoft.com/office/drawing/2014/main" val="884180957"/>
                    </a:ext>
                  </a:extLst>
                </a:gridCol>
                <a:gridCol w="906016">
                  <a:extLst>
                    <a:ext uri="{9D8B030D-6E8A-4147-A177-3AD203B41FA5}">
                      <a16:colId xmlns:a16="http://schemas.microsoft.com/office/drawing/2014/main" val="350951249"/>
                    </a:ext>
                  </a:extLst>
                </a:gridCol>
                <a:gridCol w="906016">
                  <a:extLst>
                    <a:ext uri="{9D8B030D-6E8A-4147-A177-3AD203B41FA5}">
                      <a16:colId xmlns:a16="http://schemas.microsoft.com/office/drawing/2014/main" val="390450292"/>
                    </a:ext>
                  </a:extLst>
                </a:gridCol>
              </a:tblGrid>
              <a:tr h="0">
                <a:tc gridSpan="3">
                  <a:txBody>
                    <a:bodyPr/>
                    <a:lstStyle/>
                    <a:p>
                      <a:pPr algn="ctr"/>
                      <a:r>
                        <a:rPr lang="en-US" sz="1000">
                          <a:latin typeface="Arial" panose="020B0604020202020204" pitchFamily="34" charset="0"/>
                          <a:cs typeface="Arial" panose="020B0604020202020204" pitchFamily="34" charset="0"/>
                        </a:rPr>
                        <a:t>Buy bids</a:t>
                      </a:r>
                    </a:p>
                  </a:txBody>
                  <a:tcP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1586233531"/>
                  </a:ext>
                </a:extLst>
              </a:tr>
              <a:tr h="0">
                <a:tc>
                  <a:txBody>
                    <a:bodyPr/>
                    <a:lstStyle/>
                    <a:p>
                      <a:r>
                        <a:rPr lang="en-US" sz="1000" b="1">
                          <a:solidFill>
                            <a:schemeClr val="bg1"/>
                          </a:solidFill>
                          <a:latin typeface="Arial" panose="020B0604020202020204" pitchFamily="34" charset="0"/>
                          <a:cs typeface="Arial" panose="020B0604020202020204" pitchFamily="34" charset="0"/>
                        </a:rPr>
                        <a:t>Buyer</a:t>
                      </a:r>
                    </a:p>
                  </a:txBody>
                  <a:tcPr>
                    <a:lnL w="6350" cap="flat" cmpd="sng" algn="ctr">
                      <a:solidFill>
                        <a:schemeClr val="accent5"/>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latin typeface="Arial" panose="020B0604020202020204" pitchFamily="34" charset="0"/>
                          <a:cs typeface="Arial" panose="020B0604020202020204" pitchFamily="34" charset="0"/>
                        </a:rPr>
                        <a:t>Buy price</a:t>
                      </a:r>
                    </a:p>
                  </a:txBody>
                  <a:tcP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latin typeface="Arial" panose="020B0604020202020204" pitchFamily="34" charset="0"/>
                          <a:cs typeface="Arial" panose="020B0604020202020204" pitchFamily="34" charset="0"/>
                        </a:rPr>
                        <a:t>Buy qty.</a:t>
                      </a:r>
                    </a:p>
                  </a:txBody>
                  <a:tcPr>
                    <a:lnR w="6350" cap="flat" cmpd="sng" algn="ctr">
                      <a:solidFill>
                        <a:schemeClr val="accent5"/>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491240990"/>
                  </a:ext>
                </a:extLst>
              </a:tr>
              <a:tr h="0">
                <a:tc>
                  <a:txBody>
                    <a:bodyPr/>
                    <a:lstStyle/>
                    <a:p>
                      <a:r>
                        <a:rPr lang="en-US" sz="1000">
                          <a:latin typeface="Arial" panose="020B0604020202020204" pitchFamily="34" charset="0"/>
                          <a:cs typeface="Arial" panose="020B0604020202020204" pitchFamily="34" charset="0"/>
                        </a:rPr>
                        <a:t>Buyer 5</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4,500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825</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157593728"/>
                  </a:ext>
                </a:extLst>
              </a:tr>
              <a:tr h="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Buyer 3</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28,200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824</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814925190"/>
                  </a:ext>
                </a:extLst>
              </a:tr>
              <a:tr h="0">
                <a:tc>
                  <a:txBody>
                    <a:bodyPr/>
                    <a:lstStyle/>
                    <a:p>
                      <a:r>
                        <a:rPr lang="en-US" sz="1000">
                          <a:latin typeface="Arial" panose="020B0604020202020204" pitchFamily="34" charset="0"/>
                          <a:cs typeface="Arial" panose="020B0604020202020204" pitchFamily="34" charset="0"/>
                        </a:rPr>
                        <a:t>Buyer 1</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1,900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822</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126773286"/>
                  </a:ext>
                </a:extLst>
              </a:tr>
              <a:tr h="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Buyer 4</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49,700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820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151714923"/>
                  </a:ext>
                </a:extLst>
              </a:tr>
              <a:tr h="0">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Buyer 2</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8,000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819</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372180944"/>
                  </a:ext>
                </a:extLst>
              </a:tr>
            </a:tbl>
          </a:graphicData>
        </a:graphic>
      </p:graphicFrame>
      <p:graphicFrame>
        <p:nvGraphicFramePr>
          <p:cNvPr id="5" name="Table 4">
            <a:extLst>
              <a:ext uri="{FF2B5EF4-FFF2-40B4-BE49-F238E27FC236}">
                <a16:creationId xmlns:a16="http://schemas.microsoft.com/office/drawing/2014/main" id="{AF2C61FE-272E-D153-4CED-A8582A1AD549}"/>
              </a:ext>
            </a:extLst>
          </p:cNvPr>
          <p:cNvGraphicFramePr>
            <a:graphicFrameLocks noGrp="1"/>
          </p:cNvGraphicFramePr>
          <p:nvPr>
            <p:extLst>
              <p:ext uri="{D42A27DB-BD31-4B8C-83A1-F6EECF244321}">
                <p14:modId xmlns:p14="http://schemas.microsoft.com/office/powerpoint/2010/main" val="430267846"/>
              </p:ext>
            </p:extLst>
          </p:nvPr>
        </p:nvGraphicFramePr>
        <p:xfrm>
          <a:off x="3331494" y="1859149"/>
          <a:ext cx="2665680" cy="1706880"/>
        </p:xfrm>
        <a:graphic>
          <a:graphicData uri="http://schemas.openxmlformats.org/drawingml/2006/table">
            <a:tbl>
              <a:tblPr firstRow="1" bandRow="1">
                <a:tableStyleId>{5C22544A-7EE6-4342-B048-85BDC9FD1C3A}</a:tableStyleId>
              </a:tblPr>
              <a:tblGrid>
                <a:gridCol w="888560">
                  <a:extLst>
                    <a:ext uri="{9D8B030D-6E8A-4147-A177-3AD203B41FA5}">
                      <a16:colId xmlns:a16="http://schemas.microsoft.com/office/drawing/2014/main" val="884180957"/>
                    </a:ext>
                  </a:extLst>
                </a:gridCol>
                <a:gridCol w="888560">
                  <a:extLst>
                    <a:ext uri="{9D8B030D-6E8A-4147-A177-3AD203B41FA5}">
                      <a16:colId xmlns:a16="http://schemas.microsoft.com/office/drawing/2014/main" val="350951249"/>
                    </a:ext>
                  </a:extLst>
                </a:gridCol>
                <a:gridCol w="888560">
                  <a:extLst>
                    <a:ext uri="{9D8B030D-6E8A-4147-A177-3AD203B41FA5}">
                      <a16:colId xmlns:a16="http://schemas.microsoft.com/office/drawing/2014/main" val="390450292"/>
                    </a:ext>
                  </a:extLst>
                </a:gridCol>
              </a:tblGrid>
              <a:tr h="158338">
                <a:tc gridSpan="3">
                  <a:txBody>
                    <a:bodyPr/>
                    <a:lstStyle/>
                    <a:p>
                      <a:pPr algn="ctr"/>
                      <a:r>
                        <a:rPr lang="en-US" sz="1000">
                          <a:latin typeface="Arial" panose="020B0604020202020204" pitchFamily="34" charset="0"/>
                          <a:cs typeface="Arial" panose="020B0604020202020204" pitchFamily="34" charset="0"/>
                        </a:rPr>
                        <a:t>Sell bids</a:t>
                      </a:r>
                    </a:p>
                  </a:txBody>
                  <a:tcPr>
                    <a:lnL w="6350" cap="flat" cmpd="sng" algn="ctr">
                      <a:solidFill>
                        <a:schemeClr val="accent5"/>
                      </a:solid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accent5"/>
                    </a:solidFill>
                  </a:tcPr>
                </a:tc>
                <a:tc hMerge="1">
                  <a:txBody>
                    <a:bodyPr/>
                    <a:lstStyle/>
                    <a:p>
                      <a:endParaRPr lang="en-US" sz="1000"/>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hMerge="1">
                  <a:txBody>
                    <a:bodyPr/>
                    <a:lstStyle/>
                    <a:p>
                      <a:endParaRPr lang="en-US" sz="1000"/>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3877221259"/>
                  </a:ext>
                </a:extLst>
              </a:tr>
              <a:tr h="158338">
                <a:tc>
                  <a:txBody>
                    <a:bodyPr/>
                    <a:lstStyle/>
                    <a:p>
                      <a:r>
                        <a:rPr lang="en-US" sz="1000" b="1">
                          <a:solidFill>
                            <a:schemeClr val="bg1"/>
                          </a:solidFill>
                          <a:latin typeface="Arial" panose="020B0604020202020204" pitchFamily="34" charset="0"/>
                          <a:cs typeface="Arial" panose="020B0604020202020204" pitchFamily="34" charset="0"/>
                        </a:rPr>
                        <a:t>Seller</a:t>
                      </a:r>
                    </a:p>
                  </a:txBody>
                  <a:tcPr>
                    <a:lnL w="6350" cap="flat" cmpd="sng" algn="ctr">
                      <a:solidFill>
                        <a:schemeClr val="accent5"/>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latin typeface="Arial" panose="020B0604020202020204" pitchFamily="34" charset="0"/>
                          <a:cs typeface="Arial" panose="020B0604020202020204" pitchFamily="34" charset="0"/>
                        </a:rPr>
                        <a:t>Sell price</a:t>
                      </a:r>
                    </a:p>
                  </a:txBody>
                  <a:tcP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r"/>
                      <a:r>
                        <a:rPr lang="en-US" sz="1000" b="1">
                          <a:solidFill>
                            <a:schemeClr val="bg1"/>
                          </a:solidFill>
                          <a:latin typeface="Arial" panose="020B0604020202020204" pitchFamily="34" charset="0"/>
                          <a:cs typeface="Arial" panose="020B0604020202020204" pitchFamily="34" charset="0"/>
                        </a:rPr>
                        <a:t>Sell qty.</a:t>
                      </a:r>
                    </a:p>
                  </a:txBody>
                  <a:tcPr>
                    <a:lnR w="6350" cap="flat" cmpd="sng" algn="ctr">
                      <a:solidFill>
                        <a:schemeClr val="accent5"/>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491240990"/>
                  </a:ext>
                </a:extLst>
              </a:tr>
              <a:tr h="167108">
                <a:tc>
                  <a:txBody>
                    <a:bodyPr/>
                    <a:lstStyle/>
                    <a:p>
                      <a:r>
                        <a:rPr lang="en-US" sz="1000">
                          <a:latin typeface="Arial" panose="020B0604020202020204" pitchFamily="34" charset="0"/>
                          <a:cs typeface="Arial" panose="020B0604020202020204" pitchFamily="34" charset="0"/>
                        </a:rPr>
                        <a:t>Seller 4</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831</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290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157593728"/>
                  </a:ext>
                </a:extLst>
              </a:tr>
              <a:tr h="167108">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Seller 2</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826</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21,650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814925190"/>
                  </a:ext>
                </a:extLst>
              </a:tr>
              <a:tr h="167108">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Seller 1</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825</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8,500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126773286"/>
                  </a:ext>
                </a:extLst>
              </a:tr>
              <a:tr h="167108">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Seller 5</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820</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17,500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151714923"/>
                  </a:ext>
                </a:extLst>
              </a:tr>
              <a:tr h="167108">
                <a:tc>
                  <a:txBody>
                    <a:bodyPr/>
                    <a:lstStyle/>
                    <a:p>
                      <a:pPr marL="0" marR="0" lvl="0" indent="0" algn="l" defTabSz="990564" rtl="0" eaLnBrk="1" fontAlgn="auto" latinLnBrk="0" hangingPunct="1">
                        <a:lnSpc>
                          <a:spcPct val="100000"/>
                        </a:lnSpc>
                        <a:spcBef>
                          <a:spcPts val="0"/>
                        </a:spcBef>
                        <a:spcAft>
                          <a:spcPts val="0"/>
                        </a:spcAft>
                        <a:buClrTx/>
                        <a:buSzTx/>
                        <a:buFontTx/>
                        <a:buNone/>
                        <a:tabLst/>
                        <a:defRPr/>
                      </a:pPr>
                      <a:r>
                        <a:rPr lang="en-US" sz="1000">
                          <a:latin typeface="Arial" panose="020B0604020202020204" pitchFamily="34" charset="0"/>
                          <a:cs typeface="Arial" panose="020B0604020202020204" pitchFamily="34" charset="0"/>
                        </a:rPr>
                        <a:t>Seller 3</a:t>
                      </a:r>
                    </a:p>
                  </a:txBody>
                  <a:tcPr>
                    <a:lnL w="6350" cap="flat" cmpd="sng" algn="ctr">
                      <a:solidFill>
                        <a:schemeClr val="accent5"/>
                      </a:solidFill>
                      <a:prstDash val="solid"/>
                      <a:round/>
                      <a:headEnd type="none" w="med" len="med"/>
                      <a:tailEnd type="none" w="med" len="med"/>
                    </a:lnL>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819</a:t>
                      </a:r>
                    </a:p>
                  </a:txBody>
                  <a:tcP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latin typeface="Arial" panose="020B0604020202020204" pitchFamily="34" charset="0"/>
                          <a:cs typeface="Arial" panose="020B0604020202020204" pitchFamily="34" charset="0"/>
                        </a:rPr>
                        <a:t>3,600</a:t>
                      </a:r>
                    </a:p>
                  </a:txBody>
                  <a:tcPr>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637870809"/>
                  </a:ext>
                </a:extLst>
              </a:tr>
            </a:tbl>
          </a:graphicData>
        </a:graphic>
      </p:graphicFrame>
      <p:sp>
        <p:nvSpPr>
          <p:cNvPr id="32" name="Speech Bubble: Rectangle 31">
            <a:extLst>
              <a:ext uri="{FF2B5EF4-FFF2-40B4-BE49-F238E27FC236}">
                <a16:creationId xmlns:a16="http://schemas.microsoft.com/office/drawing/2014/main" id="{B47F200D-F903-3B97-86BB-FFBFB5060F8B}"/>
              </a:ext>
            </a:extLst>
          </p:cNvPr>
          <p:cNvSpPr/>
          <p:nvPr/>
        </p:nvSpPr>
        <p:spPr bwMode="gray">
          <a:xfrm>
            <a:off x="4419264" y="1191164"/>
            <a:ext cx="1562436" cy="591516"/>
          </a:xfrm>
          <a:prstGeom prst="wedgeRectCallout">
            <a:avLst>
              <a:gd name="adj1" fmla="val -3809"/>
              <a:gd name="adj2" fmla="val 71245"/>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90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Order book is sorted on best buy and best sell bid prices after auction session</a:t>
            </a:r>
          </a:p>
        </p:txBody>
      </p:sp>
      <p:sp>
        <p:nvSpPr>
          <p:cNvPr id="33" name="TextBox 32">
            <a:extLst>
              <a:ext uri="{FF2B5EF4-FFF2-40B4-BE49-F238E27FC236}">
                <a16:creationId xmlns:a16="http://schemas.microsoft.com/office/drawing/2014/main" id="{C78F26C8-53A9-46BF-F346-2D82A5EDF2AB}"/>
              </a:ext>
            </a:extLst>
          </p:cNvPr>
          <p:cNvSpPr txBox="1"/>
          <p:nvPr/>
        </p:nvSpPr>
        <p:spPr>
          <a:xfrm>
            <a:off x="506137" y="3683480"/>
            <a:ext cx="4192863" cy="369332"/>
          </a:xfrm>
          <a:prstGeom prst="rect">
            <a:avLst/>
          </a:prstGeom>
          <a:noFill/>
        </p:spPr>
        <p:txBody>
          <a:bodyPr wrap="square" lIns="0" tIns="0" rIns="0" bIns="0" rtlCol="0">
            <a:spAutoFit/>
          </a:bodyPr>
          <a:lstStyle/>
          <a:p>
            <a:pPr>
              <a:spcBef>
                <a:spcPts val="488"/>
              </a:spcBef>
              <a:buSzPct val="100000"/>
            </a:pPr>
            <a:r>
              <a:rPr lang="en-US" sz="1200" b="1">
                <a:latin typeface="Arial" panose="020B0604020202020204" pitchFamily="34" charset="0"/>
                <a:cs typeface="Arial" panose="020B0604020202020204" pitchFamily="34" charset="0"/>
              </a:rPr>
              <a:t>Maximum tradable volume is the maximum amount of electricity that can be traded at respective price</a:t>
            </a:r>
            <a:endParaRPr lang="en-US" sz="1200">
              <a:latin typeface="Arial" panose="020B0604020202020204" pitchFamily="34" charset="0"/>
              <a:cs typeface="Arial" panose="020B0604020202020204" pitchFamily="34" charset="0"/>
            </a:endParaRPr>
          </a:p>
        </p:txBody>
      </p:sp>
      <p:graphicFrame>
        <p:nvGraphicFramePr>
          <p:cNvPr id="34" name="Table 33">
            <a:extLst>
              <a:ext uri="{FF2B5EF4-FFF2-40B4-BE49-F238E27FC236}">
                <a16:creationId xmlns:a16="http://schemas.microsoft.com/office/drawing/2014/main" id="{0FEEDA67-CC60-1AD8-BA45-AA153DBE2DE0}"/>
              </a:ext>
            </a:extLst>
          </p:cNvPr>
          <p:cNvGraphicFramePr>
            <a:graphicFrameLocks noGrp="1"/>
          </p:cNvGraphicFramePr>
          <p:nvPr>
            <p:extLst>
              <p:ext uri="{D42A27DB-BD31-4B8C-83A1-F6EECF244321}">
                <p14:modId xmlns:p14="http://schemas.microsoft.com/office/powerpoint/2010/main" val="3880117801"/>
              </p:ext>
            </p:extLst>
          </p:nvPr>
        </p:nvGraphicFramePr>
        <p:xfrm>
          <a:off x="495300" y="4136339"/>
          <a:ext cx="5486400" cy="2180480"/>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884180957"/>
                    </a:ext>
                  </a:extLst>
                </a:gridCol>
                <a:gridCol w="914400">
                  <a:extLst>
                    <a:ext uri="{9D8B030D-6E8A-4147-A177-3AD203B41FA5}">
                      <a16:colId xmlns:a16="http://schemas.microsoft.com/office/drawing/2014/main" val="350951249"/>
                    </a:ext>
                  </a:extLst>
                </a:gridCol>
                <a:gridCol w="914400">
                  <a:extLst>
                    <a:ext uri="{9D8B030D-6E8A-4147-A177-3AD203B41FA5}">
                      <a16:colId xmlns:a16="http://schemas.microsoft.com/office/drawing/2014/main" val="390450292"/>
                    </a:ext>
                  </a:extLst>
                </a:gridCol>
                <a:gridCol w="914400">
                  <a:extLst>
                    <a:ext uri="{9D8B030D-6E8A-4147-A177-3AD203B41FA5}">
                      <a16:colId xmlns:a16="http://schemas.microsoft.com/office/drawing/2014/main" val="2545168684"/>
                    </a:ext>
                  </a:extLst>
                </a:gridCol>
                <a:gridCol w="914400">
                  <a:extLst>
                    <a:ext uri="{9D8B030D-6E8A-4147-A177-3AD203B41FA5}">
                      <a16:colId xmlns:a16="http://schemas.microsoft.com/office/drawing/2014/main" val="822189793"/>
                    </a:ext>
                  </a:extLst>
                </a:gridCol>
                <a:gridCol w="914400">
                  <a:extLst>
                    <a:ext uri="{9D8B030D-6E8A-4147-A177-3AD203B41FA5}">
                      <a16:colId xmlns:a16="http://schemas.microsoft.com/office/drawing/2014/main" val="2666493827"/>
                    </a:ext>
                  </a:extLst>
                </a:gridCol>
              </a:tblGrid>
              <a:tr h="460664">
                <a:tc>
                  <a:txBody>
                    <a:bodyPr/>
                    <a:lstStyle/>
                    <a:p>
                      <a:pPr algn="ctr"/>
                      <a:r>
                        <a:rPr lang="en-US" sz="1000" b="1">
                          <a:solidFill>
                            <a:schemeClr val="bg1"/>
                          </a:solidFill>
                          <a:latin typeface="Arial" panose="020B0604020202020204" pitchFamily="34" charset="0"/>
                          <a:cs typeface="Arial" panose="020B0604020202020204" pitchFamily="34" charset="0"/>
                        </a:rPr>
                        <a:t>Cumulative buy quantity</a:t>
                      </a:r>
                    </a:p>
                  </a:txBody>
                  <a:tcPr marL="18288" marR="18288" marT="0" marB="0" anchor="ctr">
                    <a:lnL w="6350" cap="flat" cmpd="sng" algn="ctr">
                      <a:solidFill>
                        <a:schemeClr val="accent5"/>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1000" b="1">
                          <a:solidFill>
                            <a:schemeClr val="bg1"/>
                          </a:solidFill>
                          <a:latin typeface="Arial" panose="020B0604020202020204" pitchFamily="34" charset="0"/>
                          <a:cs typeface="Arial" panose="020B0604020202020204" pitchFamily="34" charset="0"/>
                        </a:rPr>
                        <a:t>Buy quantity</a:t>
                      </a:r>
                    </a:p>
                  </a:txBody>
                  <a:tcPr marL="18288" marR="18288" marT="0" marB="0" anchor="ct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1000" b="1">
                          <a:solidFill>
                            <a:schemeClr val="bg1"/>
                          </a:solidFill>
                          <a:latin typeface="Arial" panose="020B0604020202020204" pitchFamily="34" charset="0"/>
                          <a:cs typeface="Arial" panose="020B0604020202020204" pitchFamily="34" charset="0"/>
                        </a:rPr>
                        <a:t>Price</a:t>
                      </a:r>
                    </a:p>
                  </a:txBody>
                  <a:tcPr marL="18288" marR="18288" marT="0" marB="0" anchor="ct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1000" b="1">
                          <a:solidFill>
                            <a:schemeClr val="bg1"/>
                          </a:solidFill>
                          <a:latin typeface="Arial" panose="020B0604020202020204" pitchFamily="34" charset="0"/>
                          <a:cs typeface="Arial" panose="020B0604020202020204" pitchFamily="34" charset="0"/>
                        </a:rPr>
                        <a:t>Sell quantity</a:t>
                      </a:r>
                    </a:p>
                  </a:txBody>
                  <a:tcPr marL="18288" marR="18288" marT="0" marB="0" anchor="ct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1000" b="1">
                          <a:solidFill>
                            <a:schemeClr val="bg1"/>
                          </a:solidFill>
                          <a:latin typeface="Arial" panose="020B0604020202020204" pitchFamily="34" charset="0"/>
                          <a:cs typeface="Arial" panose="020B0604020202020204" pitchFamily="34" charset="0"/>
                        </a:rPr>
                        <a:t>Cumulative sell quantity</a:t>
                      </a:r>
                    </a:p>
                  </a:txBody>
                  <a:tcPr marL="18288" marR="18288" marT="0" marB="0" anchor="ct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1000" b="1">
                          <a:solidFill>
                            <a:schemeClr val="bg1"/>
                          </a:solidFill>
                          <a:latin typeface="Arial" panose="020B0604020202020204" pitchFamily="34" charset="0"/>
                          <a:cs typeface="Arial" panose="020B0604020202020204" pitchFamily="34" charset="0"/>
                        </a:rPr>
                        <a:t>Total tradable volume</a:t>
                      </a:r>
                    </a:p>
                  </a:txBody>
                  <a:tcPr marL="18288" marR="18288" marT="0" marB="0" anchor="ctr">
                    <a:lnR w="6350" cap="flat" cmpd="sng" algn="ctr">
                      <a:solidFill>
                        <a:schemeClr val="accent5"/>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491240990"/>
                  </a:ext>
                </a:extLst>
              </a:tr>
              <a:tr h="245688">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b="1">
                          <a:solidFill>
                            <a:schemeClr val="tx1"/>
                          </a:solidFill>
                          <a:latin typeface="Arial" panose="020B0604020202020204" pitchFamily="34" charset="0"/>
                          <a:cs typeface="Arial" panose="020B0604020202020204" pitchFamily="34" charset="0"/>
                        </a:rPr>
                        <a:t>831</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solidFill>
                            <a:schemeClr val="tx1"/>
                          </a:solidFill>
                          <a:latin typeface="Arial" panose="020B0604020202020204" pitchFamily="34" charset="0"/>
                          <a:cs typeface="Arial" panose="020B0604020202020204" pitchFamily="34" charset="0"/>
                        </a:rPr>
                        <a:t>290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51,540 </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157593728"/>
                  </a:ext>
                </a:extLst>
              </a:tr>
              <a:tr h="245688">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b="1">
                          <a:solidFill>
                            <a:schemeClr val="tx1"/>
                          </a:solidFill>
                          <a:latin typeface="Arial" panose="020B0604020202020204" pitchFamily="34" charset="0"/>
                          <a:cs typeface="Arial" panose="020B0604020202020204" pitchFamily="34" charset="0"/>
                        </a:rPr>
                        <a:t>826</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solidFill>
                            <a:schemeClr val="tx1"/>
                          </a:solidFill>
                          <a:latin typeface="Arial" panose="020B0604020202020204" pitchFamily="34" charset="0"/>
                          <a:cs typeface="Arial" panose="020B0604020202020204" pitchFamily="34" charset="0"/>
                        </a:rPr>
                        <a:t>21,650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51,250 </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814925190"/>
                  </a:ext>
                </a:extLst>
              </a:tr>
              <a:tr h="245688">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4,500 </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solidFill>
                            <a:schemeClr val="tx1"/>
                          </a:solidFill>
                          <a:latin typeface="Arial" panose="020B0604020202020204" pitchFamily="34" charset="0"/>
                          <a:cs typeface="Arial" panose="020B0604020202020204" pitchFamily="34" charset="0"/>
                        </a:rPr>
                        <a:t>4,500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b="1">
                          <a:solidFill>
                            <a:schemeClr val="tx1"/>
                          </a:solidFill>
                          <a:latin typeface="Arial" panose="020B0604020202020204" pitchFamily="34" charset="0"/>
                          <a:cs typeface="Arial" panose="020B0604020202020204" pitchFamily="34" charset="0"/>
                        </a:rPr>
                        <a:t>825</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solidFill>
                            <a:schemeClr val="tx1"/>
                          </a:solidFill>
                          <a:latin typeface="Arial" panose="020B0604020202020204" pitchFamily="34" charset="0"/>
                          <a:cs typeface="Arial" panose="020B0604020202020204" pitchFamily="34" charset="0"/>
                        </a:rPr>
                        <a:t>8,500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29,600 </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4,500</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126773286"/>
                  </a:ext>
                </a:extLst>
              </a:tr>
              <a:tr h="245688">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32,700 </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1000">
                          <a:solidFill>
                            <a:schemeClr val="tx1"/>
                          </a:solidFill>
                          <a:latin typeface="Arial" panose="020B0604020202020204" pitchFamily="34" charset="0"/>
                          <a:cs typeface="Arial" panose="020B0604020202020204" pitchFamily="34" charset="0"/>
                        </a:rPr>
                        <a:t>28,200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1000" b="1">
                          <a:solidFill>
                            <a:schemeClr val="tx1"/>
                          </a:solidFill>
                          <a:latin typeface="Arial" panose="020B0604020202020204" pitchFamily="34" charset="0"/>
                          <a:cs typeface="Arial" panose="020B0604020202020204" pitchFamily="34" charset="0"/>
                        </a:rPr>
                        <a:t>824</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1000">
                          <a:solidFill>
                            <a:schemeClr val="tx1"/>
                          </a:solidFill>
                          <a:latin typeface="Arial" panose="020B0604020202020204" pitchFamily="34" charset="0"/>
                          <a:cs typeface="Arial" panose="020B0604020202020204" pitchFamily="34" charset="0"/>
                        </a:rPr>
                        <a:t>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21,100 </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1" i="0" u="none" strike="noStrike">
                          <a:solidFill>
                            <a:schemeClr val="tx1"/>
                          </a:solidFill>
                          <a:effectLst/>
                          <a:latin typeface="Arial" panose="020B0604020202020204" pitchFamily="34" charset="0"/>
                          <a:cs typeface="Arial" panose="020B0604020202020204" pitchFamily="34" charset="0"/>
                        </a:rPr>
                        <a:t>21,100</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151714923"/>
                  </a:ext>
                </a:extLst>
              </a:tr>
              <a:tr h="245688">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34,600 </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1000">
                          <a:solidFill>
                            <a:schemeClr val="tx1"/>
                          </a:solidFill>
                          <a:latin typeface="Arial" panose="020B0604020202020204" pitchFamily="34" charset="0"/>
                          <a:cs typeface="Arial" panose="020B0604020202020204" pitchFamily="34" charset="0"/>
                        </a:rPr>
                        <a:t>1900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1000" b="1">
                          <a:solidFill>
                            <a:schemeClr val="tx1"/>
                          </a:solidFill>
                          <a:latin typeface="Arial" panose="020B0604020202020204" pitchFamily="34" charset="0"/>
                          <a:cs typeface="Arial" panose="020B0604020202020204" pitchFamily="34" charset="0"/>
                        </a:rPr>
                        <a:t>822</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1000">
                          <a:solidFill>
                            <a:schemeClr val="tx1"/>
                          </a:solidFill>
                          <a:latin typeface="Arial" panose="020B0604020202020204" pitchFamily="34" charset="0"/>
                          <a:cs typeface="Arial" panose="020B0604020202020204" pitchFamily="34" charset="0"/>
                        </a:rPr>
                        <a:t>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21,100 </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1" i="0" u="none" strike="noStrike">
                          <a:solidFill>
                            <a:schemeClr val="tx1"/>
                          </a:solidFill>
                          <a:effectLst/>
                          <a:latin typeface="Arial" panose="020B0604020202020204" pitchFamily="34" charset="0"/>
                          <a:cs typeface="Arial" panose="020B0604020202020204" pitchFamily="34" charset="0"/>
                        </a:rPr>
                        <a:t>21,100</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372180944"/>
                  </a:ext>
                </a:extLst>
              </a:tr>
              <a:tr h="245688">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84,300 </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1000">
                          <a:solidFill>
                            <a:schemeClr val="tx1"/>
                          </a:solidFill>
                          <a:latin typeface="Arial" panose="020B0604020202020204" pitchFamily="34" charset="0"/>
                          <a:cs typeface="Arial" panose="020B0604020202020204" pitchFamily="34" charset="0"/>
                        </a:rPr>
                        <a:t>49,700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1000" b="1">
                          <a:solidFill>
                            <a:schemeClr val="tx1"/>
                          </a:solidFill>
                          <a:latin typeface="Arial" panose="020B0604020202020204" pitchFamily="34" charset="0"/>
                          <a:cs typeface="Arial" panose="020B0604020202020204" pitchFamily="34" charset="0"/>
                        </a:rPr>
                        <a:t>820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a:r>
                        <a:rPr lang="en-US" sz="1000">
                          <a:solidFill>
                            <a:schemeClr val="tx1"/>
                          </a:solidFill>
                          <a:latin typeface="Arial" panose="020B0604020202020204" pitchFamily="34" charset="0"/>
                          <a:cs typeface="Arial" panose="020B0604020202020204" pitchFamily="34" charset="0"/>
                        </a:rPr>
                        <a:t>17,500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21,100 </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tc>
                  <a:txBody>
                    <a:bodyPr/>
                    <a:lstStyle/>
                    <a:p>
                      <a:pPr algn="r" fontAlgn="ctr"/>
                      <a:r>
                        <a:rPr lang="en-US" sz="1000" b="1" i="0" u="none" strike="noStrike">
                          <a:solidFill>
                            <a:schemeClr val="tx1"/>
                          </a:solidFill>
                          <a:effectLst/>
                          <a:latin typeface="Arial" panose="020B0604020202020204" pitchFamily="34" charset="0"/>
                          <a:cs typeface="Arial" panose="020B0604020202020204" pitchFamily="34" charset="0"/>
                        </a:rPr>
                        <a:t>21,100</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589328767"/>
                  </a:ext>
                </a:extLst>
              </a:tr>
              <a:tr h="245688">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92,300 </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solidFill>
                            <a:schemeClr val="tx1"/>
                          </a:solidFill>
                          <a:latin typeface="Arial" panose="020B0604020202020204" pitchFamily="34" charset="0"/>
                          <a:cs typeface="Arial" panose="020B0604020202020204" pitchFamily="34" charset="0"/>
                        </a:rPr>
                        <a:t>8,000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b="1">
                          <a:solidFill>
                            <a:schemeClr val="tx1"/>
                          </a:solidFill>
                          <a:latin typeface="Arial" panose="020B0604020202020204" pitchFamily="34" charset="0"/>
                          <a:cs typeface="Arial" panose="020B0604020202020204" pitchFamily="34" charset="0"/>
                        </a:rPr>
                        <a:t>819</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solidFill>
                            <a:schemeClr val="tx1"/>
                          </a:solidFill>
                          <a:latin typeface="Arial" panose="020B0604020202020204" pitchFamily="34" charset="0"/>
                          <a:cs typeface="Arial" panose="020B0604020202020204" pitchFamily="34" charset="0"/>
                        </a:rPr>
                        <a:t>3,600</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3,600 </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fontAlgn="ctr"/>
                      <a:r>
                        <a:rPr lang="en-US" sz="1000" b="0" i="0" u="none" strike="noStrike">
                          <a:solidFill>
                            <a:schemeClr val="tx1"/>
                          </a:solidFill>
                          <a:effectLst/>
                          <a:latin typeface="Arial" panose="020B0604020202020204" pitchFamily="34" charset="0"/>
                          <a:cs typeface="Arial" panose="020B0604020202020204" pitchFamily="34" charset="0"/>
                        </a:rPr>
                        <a:t>3,600</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685247554"/>
                  </a:ext>
                </a:extLst>
              </a:tr>
            </a:tbl>
          </a:graphicData>
        </a:graphic>
      </p:graphicFrame>
      <p:sp>
        <p:nvSpPr>
          <p:cNvPr id="35" name="Rectangle 34">
            <a:extLst>
              <a:ext uri="{FF2B5EF4-FFF2-40B4-BE49-F238E27FC236}">
                <a16:creationId xmlns:a16="http://schemas.microsoft.com/office/drawing/2014/main" id="{568C4D04-C6B4-6859-D6EC-54D06B90EDD0}"/>
              </a:ext>
            </a:extLst>
          </p:cNvPr>
          <p:cNvSpPr/>
          <p:nvPr/>
        </p:nvSpPr>
        <p:spPr bwMode="gray">
          <a:xfrm>
            <a:off x="2637101" y="5310081"/>
            <a:ext cx="712099" cy="783131"/>
          </a:xfrm>
          <a:prstGeom prst="rect">
            <a:avLst/>
          </a:prstGeom>
          <a:noFill/>
          <a:ln w="12700" algn="ctr">
            <a:solidFill>
              <a:srgbClr val="FF0000"/>
            </a:solidFill>
            <a:prstDash val="dash"/>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37" name="Rectangle 36">
            <a:extLst>
              <a:ext uri="{FF2B5EF4-FFF2-40B4-BE49-F238E27FC236}">
                <a16:creationId xmlns:a16="http://schemas.microsoft.com/office/drawing/2014/main" id="{1EC89E04-EB61-E4A7-02B0-E529B5841F4A}"/>
              </a:ext>
            </a:extLst>
          </p:cNvPr>
          <p:cNvSpPr/>
          <p:nvPr/>
        </p:nvSpPr>
        <p:spPr bwMode="gray">
          <a:xfrm>
            <a:off x="3219701" y="6424088"/>
            <a:ext cx="314049" cy="93737"/>
          </a:xfrm>
          <a:prstGeom prst="rect">
            <a:avLst/>
          </a:prstGeom>
          <a:noFill/>
          <a:ln w="12700" algn="ctr">
            <a:solidFill>
              <a:srgbClr val="FF0000"/>
            </a:solidFill>
            <a:prstDash val="dash"/>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38" name="Rectangle 37">
            <a:extLst>
              <a:ext uri="{FF2B5EF4-FFF2-40B4-BE49-F238E27FC236}">
                <a16:creationId xmlns:a16="http://schemas.microsoft.com/office/drawing/2014/main" id="{2975155C-9132-7D7D-5A28-FB62CEAE675D}"/>
              </a:ext>
            </a:extLst>
          </p:cNvPr>
          <p:cNvSpPr/>
          <p:nvPr/>
        </p:nvSpPr>
        <p:spPr bwMode="gray">
          <a:xfrm>
            <a:off x="3533750" y="6424089"/>
            <a:ext cx="1239863" cy="93737"/>
          </a:xfrm>
          <a:prstGeom prst="rect">
            <a:avLst/>
          </a:prstGeom>
          <a:no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R="0" algn="ctr" defTabSz="990564" rtl="0" eaLnBrk="1" fontAlgn="auto" latinLnBrk="0" hangingPunct="1">
              <a:lnSpc>
                <a:spcPct val="100000"/>
              </a:lnSpc>
              <a:spcBef>
                <a:spcPts val="0"/>
              </a:spcBef>
              <a:spcAft>
                <a:spcPts val="0"/>
              </a:spcAft>
              <a:buClrTx/>
              <a:buSzPct val="100000"/>
              <a:tabLst/>
            </a:pPr>
            <a:r>
              <a:rPr kumimoji="1" lang="en-US" sz="800">
                <a:latin typeface="+mn-lt"/>
                <a:cs typeface="+mn-cs"/>
              </a:rPr>
              <a:t>Eligible prices for auction</a:t>
            </a:r>
          </a:p>
        </p:txBody>
      </p:sp>
      <p:sp>
        <p:nvSpPr>
          <p:cNvPr id="39" name="TextBox 38">
            <a:extLst>
              <a:ext uri="{FF2B5EF4-FFF2-40B4-BE49-F238E27FC236}">
                <a16:creationId xmlns:a16="http://schemas.microsoft.com/office/drawing/2014/main" id="{08901A26-32A6-B03B-2F0C-2513D44D0966}"/>
              </a:ext>
            </a:extLst>
          </p:cNvPr>
          <p:cNvSpPr txBox="1"/>
          <p:nvPr/>
        </p:nvSpPr>
        <p:spPr>
          <a:xfrm>
            <a:off x="6675243" y="1337576"/>
            <a:ext cx="3306957" cy="338554"/>
          </a:xfrm>
          <a:prstGeom prst="rect">
            <a:avLst/>
          </a:prstGeom>
          <a:noFill/>
        </p:spPr>
        <p:txBody>
          <a:bodyPr wrap="square" lIns="0" tIns="0" rIns="0" bIns="0" rtlCol="0">
            <a:spAutoFit/>
          </a:bodyPr>
          <a:lstStyle/>
          <a:p>
            <a:pPr>
              <a:spcBef>
                <a:spcPts val="488"/>
              </a:spcBef>
              <a:buSzPct val="100000"/>
            </a:pPr>
            <a:r>
              <a:rPr lang="en-US" sz="1100" b="1">
                <a:latin typeface="Arial" panose="020B0604020202020204" pitchFamily="34" charset="0"/>
                <a:cs typeface="Arial" panose="020B0604020202020204" pitchFamily="34" charset="0"/>
              </a:rPr>
              <a:t>Minimum surplus is the residual electricity quantity post trade at respective price</a:t>
            </a:r>
            <a:endParaRPr lang="en-US" sz="1100">
              <a:latin typeface="Arial" panose="020B0604020202020204" pitchFamily="34" charset="0"/>
              <a:cs typeface="Arial" panose="020B0604020202020204" pitchFamily="34" charset="0"/>
            </a:endParaRPr>
          </a:p>
        </p:txBody>
      </p:sp>
      <p:sp>
        <p:nvSpPr>
          <p:cNvPr id="40" name="Rectangle 39">
            <a:extLst>
              <a:ext uri="{FF2B5EF4-FFF2-40B4-BE49-F238E27FC236}">
                <a16:creationId xmlns:a16="http://schemas.microsoft.com/office/drawing/2014/main" id="{255DB949-42C0-35F6-240E-6D734B04647D}"/>
              </a:ext>
            </a:extLst>
          </p:cNvPr>
          <p:cNvSpPr/>
          <p:nvPr/>
        </p:nvSpPr>
        <p:spPr bwMode="gray">
          <a:xfrm>
            <a:off x="7935418" y="2377992"/>
            <a:ext cx="563864" cy="179927"/>
          </a:xfrm>
          <a:prstGeom prst="rect">
            <a:avLst/>
          </a:prstGeom>
          <a:noFill/>
          <a:ln w="12700" algn="ctr">
            <a:solidFill>
              <a:srgbClr val="FF0000"/>
            </a:solidFill>
            <a:prstDash val="dash"/>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1" name="TextBox 40">
            <a:extLst>
              <a:ext uri="{FF2B5EF4-FFF2-40B4-BE49-F238E27FC236}">
                <a16:creationId xmlns:a16="http://schemas.microsoft.com/office/drawing/2014/main" id="{ECFEA271-291F-F851-F94B-37585E89A1FF}"/>
              </a:ext>
            </a:extLst>
          </p:cNvPr>
          <p:cNvSpPr txBox="1"/>
          <p:nvPr/>
        </p:nvSpPr>
        <p:spPr>
          <a:xfrm>
            <a:off x="6314893" y="3231594"/>
            <a:ext cx="5395549" cy="307777"/>
          </a:xfrm>
          <a:prstGeom prst="rect">
            <a:avLst/>
          </a:prstGeom>
          <a:noFill/>
        </p:spPr>
        <p:txBody>
          <a:bodyPr wrap="square" lIns="0" tIns="0" rIns="0" bIns="0" rtlCol="0">
            <a:spAutoFit/>
          </a:bodyPr>
          <a:lstStyle/>
          <a:p>
            <a:pPr marL="171450" indent="-171450">
              <a:spcBef>
                <a:spcPts val="488"/>
              </a:spcBef>
              <a:buSzPct val="100000"/>
              <a:buFont typeface="Arial" panose="020B0604020202020204" pitchFamily="34" charset="0"/>
              <a:buChar char="•"/>
            </a:pPr>
            <a:r>
              <a:rPr lang="en-US" sz="1000">
                <a:latin typeface="Arial" panose="020B0604020202020204" pitchFamily="34" charset="0"/>
                <a:cs typeface="Arial" panose="020B0604020202020204" pitchFamily="34" charset="0"/>
              </a:rPr>
              <a:t>As there is lowest unbalance of 11,600 MW at price of INR 824, hence it is the auction uniform price</a:t>
            </a:r>
          </a:p>
        </p:txBody>
      </p:sp>
      <p:sp>
        <p:nvSpPr>
          <p:cNvPr id="43" name="TextBox 42">
            <a:extLst>
              <a:ext uri="{FF2B5EF4-FFF2-40B4-BE49-F238E27FC236}">
                <a16:creationId xmlns:a16="http://schemas.microsoft.com/office/drawing/2014/main" id="{303BE398-E9BF-72D1-3810-76DE49A786B6}"/>
              </a:ext>
            </a:extLst>
          </p:cNvPr>
          <p:cNvSpPr txBox="1"/>
          <p:nvPr/>
        </p:nvSpPr>
        <p:spPr>
          <a:xfrm>
            <a:off x="6294801" y="3683480"/>
            <a:ext cx="5395549" cy="369332"/>
          </a:xfrm>
          <a:prstGeom prst="rect">
            <a:avLst/>
          </a:prstGeom>
          <a:noFill/>
        </p:spPr>
        <p:txBody>
          <a:bodyPr wrap="square" lIns="0" tIns="0" rIns="0" bIns="0" rtlCol="0">
            <a:spAutoFit/>
          </a:bodyPr>
          <a:lstStyle/>
          <a:p>
            <a:pPr>
              <a:spcBef>
                <a:spcPts val="488"/>
              </a:spcBef>
              <a:buSzPct val="100000"/>
            </a:pPr>
            <a:r>
              <a:rPr lang="en-US" sz="1200" b="1">
                <a:latin typeface="Arial" panose="020B0604020202020204" pitchFamily="34" charset="0"/>
                <a:cs typeface="Arial" panose="020B0604020202020204" pitchFamily="34" charset="0"/>
              </a:rPr>
              <a:t>However, there are a few other cases where further processing needs to be done to calculate the uniform auction price</a:t>
            </a:r>
            <a:endParaRPr lang="en-US" sz="1200">
              <a:latin typeface="Arial" panose="020B0604020202020204" pitchFamily="34" charset="0"/>
              <a:cs typeface="Arial" panose="020B0604020202020204" pitchFamily="34" charset="0"/>
            </a:endParaRPr>
          </a:p>
        </p:txBody>
      </p:sp>
      <p:graphicFrame>
        <p:nvGraphicFramePr>
          <p:cNvPr id="44" name="Table 43">
            <a:extLst>
              <a:ext uri="{FF2B5EF4-FFF2-40B4-BE49-F238E27FC236}">
                <a16:creationId xmlns:a16="http://schemas.microsoft.com/office/drawing/2014/main" id="{6EB7A03B-C66E-C260-C46D-25756C2D8F12}"/>
              </a:ext>
            </a:extLst>
          </p:cNvPr>
          <p:cNvGraphicFramePr>
            <a:graphicFrameLocks noGrp="1"/>
          </p:cNvGraphicFramePr>
          <p:nvPr>
            <p:extLst>
              <p:ext uri="{D42A27DB-BD31-4B8C-83A1-F6EECF244321}">
                <p14:modId xmlns:p14="http://schemas.microsoft.com/office/powerpoint/2010/main" val="3104316841"/>
              </p:ext>
            </p:extLst>
          </p:nvPr>
        </p:nvGraphicFramePr>
        <p:xfrm>
          <a:off x="6210300" y="4136339"/>
          <a:ext cx="5500142" cy="2172385"/>
        </p:xfrm>
        <a:graphic>
          <a:graphicData uri="http://schemas.openxmlformats.org/drawingml/2006/table">
            <a:tbl>
              <a:tblPr firstRow="1" bandRow="1">
                <a:tableStyleId>{5C22544A-7EE6-4342-B048-85BDC9FD1C3A}</a:tableStyleId>
              </a:tblPr>
              <a:tblGrid>
                <a:gridCol w="2750071">
                  <a:extLst>
                    <a:ext uri="{9D8B030D-6E8A-4147-A177-3AD203B41FA5}">
                      <a16:colId xmlns:a16="http://schemas.microsoft.com/office/drawing/2014/main" val="884180957"/>
                    </a:ext>
                  </a:extLst>
                </a:gridCol>
                <a:gridCol w="2750071">
                  <a:extLst>
                    <a:ext uri="{9D8B030D-6E8A-4147-A177-3AD203B41FA5}">
                      <a16:colId xmlns:a16="http://schemas.microsoft.com/office/drawing/2014/main" val="350951249"/>
                    </a:ext>
                  </a:extLst>
                </a:gridCol>
              </a:tblGrid>
              <a:tr h="237181">
                <a:tc>
                  <a:txBody>
                    <a:bodyPr/>
                    <a:lstStyle/>
                    <a:p>
                      <a:pPr algn="ctr"/>
                      <a:r>
                        <a:rPr lang="en-US" sz="1000" b="1">
                          <a:solidFill>
                            <a:schemeClr val="bg1"/>
                          </a:solidFill>
                          <a:latin typeface="Arial" panose="020B0604020202020204" pitchFamily="34" charset="0"/>
                          <a:cs typeface="Arial" panose="020B0604020202020204" pitchFamily="34" charset="0"/>
                        </a:rPr>
                        <a:t>Condition</a:t>
                      </a:r>
                    </a:p>
                  </a:txBody>
                  <a:tcPr marL="0" marR="0" marT="0" marB="0" anchor="ctr">
                    <a:lnL w="6350" cap="flat" cmpd="sng" algn="ctr">
                      <a:solidFill>
                        <a:schemeClr val="accent5"/>
                      </a:solidFill>
                      <a:prstDash val="solid"/>
                      <a:round/>
                      <a:headEnd type="none" w="med" len="med"/>
                      <a:tailEnd type="none" w="med" len="med"/>
                    </a:lnL>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tc>
                  <a:txBody>
                    <a:bodyPr/>
                    <a:lstStyle/>
                    <a:p>
                      <a:pPr algn="ctr"/>
                      <a:r>
                        <a:rPr lang="en-US" sz="1000" b="1">
                          <a:solidFill>
                            <a:schemeClr val="bg1"/>
                          </a:solidFill>
                          <a:latin typeface="Arial" panose="020B0604020202020204" pitchFamily="34" charset="0"/>
                          <a:cs typeface="Arial" panose="020B0604020202020204" pitchFamily="34" charset="0"/>
                        </a:rPr>
                        <a:t>Uniform market price</a:t>
                      </a:r>
                    </a:p>
                  </a:txBody>
                  <a:tcPr marL="0" marR="0" marT="0" marB="0" anchor="ctr">
                    <a:lnR w="6350" cap="flat" cmpd="sng" algn="ctr">
                      <a:solidFill>
                        <a:schemeClr val="accent5"/>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5"/>
                      </a:solidFill>
                      <a:prstDash val="solid"/>
                      <a:round/>
                      <a:headEnd type="none" w="med" len="med"/>
                      <a:tailEnd type="none" w="med" len="med"/>
                    </a:lnB>
                    <a:solidFill>
                      <a:schemeClr val="accent5"/>
                    </a:solidFill>
                  </a:tcPr>
                </a:tc>
                <a:extLst>
                  <a:ext uri="{0D108BD9-81ED-4DB2-BD59-A6C34878D82A}">
                    <a16:rowId xmlns:a16="http://schemas.microsoft.com/office/drawing/2014/main" val="491240990"/>
                  </a:ext>
                </a:extLst>
              </a:tr>
              <a:tr h="483801">
                <a:tc>
                  <a:txBody>
                    <a:bodyPr/>
                    <a:lstStyle/>
                    <a:p>
                      <a:pPr algn="r" fontAlgn="ctr"/>
                      <a:r>
                        <a:rPr lang="en-US" sz="1000" b="1" i="0" u="none" strike="noStrike">
                          <a:solidFill>
                            <a:schemeClr val="tx1"/>
                          </a:solidFill>
                          <a:effectLst/>
                          <a:latin typeface="Arial" panose="020B0604020202020204" pitchFamily="34" charset="0"/>
                          <a:cs typeface="Arial" panose="020B0604020202020204" pitchFamily="34" charset="0"/>
                        </a:rPr>
                        <a:t>Multiple equal positive minimum surplus (+)</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solidFill>
                            <a:schemeClr val="tx1"/>
                          </a:solidFill>
                          <a:latin typeface="Arial" panose="020B0604020202020204" pitchFamily="34" charset="0"/>
                          <a:cs typeface="Arial" panose="020B0604020202020204" pitchFamily="34" charset="0"/>
                        </a:rPr>
                        <a:t>Uniform market price = MAX ( Prices )</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2151714923"/>
                  </a:ext>
                </a:extLst>
              </a:tr>
              <a:tr h="483801">
                <a:tc>
                  <a:txBody>
                    <a:bodyPr/>
                    <a:lstStyle/>
                    <a:p>
                      <a:pPr marL="0" marR="0" lvl="0" indent="0" algn="r" defTabSz="990564" rtl="0" eaLnBrk="1" fontAlgn="ctr" latinLnBrk="0" hangingPunct="1">
                        <a:lnSpc>
                          <a:spcPct val="100000"/>
                        </a:lnSpc>
                        <a:spcBef>
                          <a:spcPts val="0"/>
                        </a:spcBef>
                        <a:spcAft>
                          <a:spcPts val="0"/>
                        </a:spcAft>
                        <a:buClrTx/>
                        <a:buSzTx/>
                        <a:buFontTx/>
                        <a:buNone/>
                        <a:tabLst/>
                        <a:defRPr/>
                      </a:pPr>
                      <a:r>
                        <a:rPr lang="en-US" sz="1000" b="1" i="0" u="none" strike="noStrike">
                          <a:solidFill>
                            <a:schemeClr val="tx1"/>
                          </a:solidFill>
                          <a:effectLst/>
                          <a:latin typeface="Arial" panose="020B0604020202020204" pitchFamily="34" charset="0"/>
                          <a:cs typeface="Arial" panose="020B0604020202020204" pitchFamily="34" charset="0"/>
                        </a:rPr>
                        <a:t>Multiple equal positive minimum surplus (-)</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solidFill>
                            <a:schemeClr val="tx1"/>
                          </a:solidFill>
                          <a:latin typeface="Arial" panose="020B0604020202020204" pitchFamily="34" charset="0"/>
                          <a:cs typeface="Arial" panose="020B0604020202020204" pitchFamily="34" charset="0"/>
                        </a:rPr>
                        <a:t>Uniform market price = MIN (Prices)</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372180944"/>
                  </a:ext>
                </a:extLst>
              </a:tr>
              <a:tr h="483801">
                <a:tc>
                  <a:txBody>
                    <a:bodyPr/>
                    <a:lstStyle/>
                    <a:p>
                      <a:pPr marL="0" marR="0" lvl="0" indent="0" algn="r" defTabSz="990564" rtl="0" eaLnBrk="1" fontAlgn="ctr" latinLnBrk="0" hangingPunct="1">
                        <a:lnSpc>
                          <a:spcPct val="100000"/>
                        </a:lnSpc>
                        <a:spcBef>
                          <a:spcPts val="0"/>
                        </a:spcBef>
                        <a:spcAft>
                          <a:spcPts val="0"/>
                        </a:spcAft>
                        <a:buClrTx/>
                        <a:buSzTx/>
                        <a:buFontTx/>
                        <a:buNone/>
                        <a:tabLst/>
                        <a:defRPr/>
                      </a:pPr>
                      <a:r>
                        <a:rPr lang="en-US" sz="1000" b="1" i="0" u="none" strike="noStrike">
                          <a:solidFill>
                            <a:schemeClr val="tx1"/>
                          </a:solidFill>
                          <a:effectLst/>
                          <a:latin typeface="Arial" panose="020B0604020202020204" pitchFamily="34" charset="0"/>
                          <a:cs typeface="Arial" panose="020B0604020202020204" pitchFamily="34" charset="0"/>
                        </a:rPr>
                        <a:t>Multiple equal positive and negative minimum surplus (+, -)</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solidFill>
                            <a:schemeClr val="tx1"/>
                          </a:solidFill>
                          <a:latin typeface="Arial" panose="020B0604020202020204" pitchFamily="34" charset="0"/>
                          <a:cs typeface="Arial" panose="020B0604020202020204" pitchFamily="34" charset="0"/>
                        </a:rPr>
                        <a:t>Uniform market price = AVERAGE (2 prices where the sign changes)</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1589328767"/>
                  </a:ext>
                </a:extLst>
              </a:tr>
              <a:tr h="483801">
                <a:tc>
                  <a:txBody>
                    <a:bodyPr/>
                    <a:lstStyle/>
                    <a:p>
                      <a:pPr marL="0" marR="0" lvl="0" indent="0" algn="r" defTabSz="990564" rtl="0" eaLnBrk="1" fontAlgn="ctr" latinLnBrk="0" hangingPunct="1">
                        <a:lnSpc>
                          <a:spcPct val="100000"/>
                        </a:lnSpc>
                        <a:spcBef>
                          <a:spcPts val="0"/>
                        </a:spcBef>
                        <a:spcAft>
                          <a:spcPts val="0"/>
                        </a:spcAft>
                        <a:buClrTx/>
                        <a:buSzTx/>
                        <a:buFontTx/>
                        <a:buNone/>
                        <a:tabLst/>
                        <a:defRPr/>
                      </a:pPr>
                      <a:r>
                        <a:rPr lang="en-US" sz="1000" b="1" i="0" u="none" strike="noStrike">
                          <a:solidFill>
                            <a:schemeClr val="tx1"/>
                          </a:solidFill>
                          <a:effectLst/>
                          <a:latin typeface="Arial" panose="020B0604020202020204" pitchFamily="34" charset="0"/>
                          <a:cs typeface="Arial" panose="020B0604020202020204" pitchFamily="34" charset="0"/>
                        </a:rPr>
                        <a:t>Multiple zero minimum surplus ( 0 )</a:t>
                      </a:r>
                    </a:p>
                  </a:txBody>
                  <a:tcPr anchor="ctr">
                    <a:lnL w="6350" cap="flat" cmpd="sng" algn="ctr">
                      <a:solidFill>
                        <a:schemeClr val="accent5"/>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tc>
                  <a:txBody>
                    <a:bodyPr/>
                    <a:lstStyle/>
                    <a:p>
                      <a:pPr algn="r"/>
                      <a:r>
                        <a:rPr lang="en-US" sz="1000">
                          <a:solidFill>
                            <a:schemeClr val="tx1"/>
                          </a:solidFill>
                          <a:latin typeface="Arial" panose="020B0604020202020204" pitchFamily="34" charset="0"/>
                          <a:cs typeface="Arial" panose="020B0604020202020204" pitchFamily="34" charset="0"/>
                        </a:rPr>
                        <a:t>Uniform market price = AVERAGE (highest and lowest price)</a:t>
                      </a:r>
                    </a:p>
                  </a:txBody>
                  <a:tcPr anchor="ctr">
                    <a:lnL w="6350" cap="flat" cmpd="sng" algn="ctr">
                      <a:noFill/>
                      <a:prstDash val="solid"/>
                      <a:round/>
                      <a:headEnd type="none" w="med" len="med"/>
                      <a:tailEnd type="none" w="med" len="med"/>
                    </a:lnL>
                    <a:lnR w="6350" cap="flat" cmpd="sng" algn="ctr">
                      <a:solidFill>
                        <a:schemeClr val="accent5"/>
                      </a:solidFill>
                      <a:prstDash val="solid"/>
                      <a:round/>
                      <a:headEnd type="none" w="med" len="med"/>
                      <a:tailEnd type="none" w="med" len="med"/>
                    </a:lnR>
                    <a:lnT w="6350" cap="flat" cmpd="sng" algn="ctr">
                      <a:solidFill>
                        <a:schemeClr val="accent5"/>
                      </a:solidFill>
                      <a:prstDash val="solid"/>
                      <a:round/>
                      <a:headEnd type="none" w="med" len="med"/>
                      <a:tailEnd type="none" w="med" len="med"/>
                    </a:lnT>
                    <a:lnB w="6350" cap="flat" cmpd="sng" algn="ctr">
                      <a:solidFill>
                        <a:schemeClr val="accent5"/>
                      </a:solidFill>
                      <a:prstDash val="solid"/>
                      <a:round/>
                      <a:headEnd type="none" w="med" len="med"/>
                      <a:tailEnd type="none" w="med" len="med"/>
                    </a:lnB>
                    <a:noFill/>
                  </a:tcPr>
                </a:tc>
                <a:extLst>
                  <a:ext uri="{0D108BD9-81ED-4DB2-BD59-A6C34878D82A}">
                    <a16:rowId xmlns:a16="http://schemas.microsoft.com/office/drawing/2014/main" val="3279134999"/>
                  </a:ext>
                </a:extLst>
              </a:tr>
            </a:tbl>
          </a:graphicData>
        </a:graphic>
      </p:graphicFrame>
      <p:sp>
        <p:nvSpPr>
          <p:cNvPr id="45" name="Speech Bubble: Rectangle 44">
            <a:extLst>
              <a:ext uri="{FF2B5EF4-FFF2-40B4-BE49-F238E27FC236}">
                <a16:creationId xmlns:a16="http://schemas.microsoft.com/office/drawing/2014/main" id="{707BF328-6B2B-B943-3075-EDCDF928713C}"/>
              </a:ext>
            </a:extLst>
          </p:cNvPr>
          <p:cNvSpPr/>
          <p:nvPr/>
        </p:nvSpPr>
        <p:spPr bwMode="gray">
          <a:xfrm>
            <a:off x="9982200" y="1337575"/>
            <a:ext cx="1714500" cy="369333"/>
          </a:xfrm>
          <a:prstGeom prst="wedgeRectCallout">
            <a:avLst>
              <a:gd name="adj1" fmla="val 17314"/>
              <a:gd name="adj2" fmla="val 92567"/>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90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Minimum surplus is the diff. of cumulative buy and sell quantity</a:t>
            </a:r>
          </a:p>
        </p:txBody>
      </p:sp>
      <p:grpSp>
        <p:nvGrpSpPr>
          <p:cNvPr id="46" name="Group 45">
            <a:extLst>
              <a:ext uri="{FF2B5EF4-FFF2-40B4-BE49-F238E27FC236}">
                <a16:creationId xmlns:a16="http://schemas.microsoft.com/office/drawing/2014/main" id="{AC4A02CC-90C5-EE57-629E-657CCFB98CF5}"/>
              </a:ext>
            </a:extLst>
          </p:cNvPr>
          <p:cNvGrpSpPr/>
          <p:nvPr/>
        </p:nvGrpSpPr>
        <p:grpSpPr>
          <a:xfrm>
            <a:off x="5964456" y="2266823"/>
            <a:ext cx="256748" cy="3510422"/>
            <a:chOff x="4795005" y="2653145"/>
            <a:chExt cx="320075" cy="2466934"/>
          </a:xfrm>
        </p:grpSpPr>
        <p:grpSp>
          <p:nvGrpSpPr>
            <p:cNvPr id="47" name="Group 46">
              <a:extLst>
                <a:ext uri="{FF2B5EF4-FFF2-40B4-BE49-F238E27FC236}">
                  <a16:creationId xmlns:a16="http://schemas.microsoft.com/office/drawing/2014/main" id="{A3D6B5B6-9E8E-85C7-6409-B128B4B2B96C}"/>
                </a:ext>
              </a:extLst>
            </p:cNvPr>
            <p:cNvGrpSpPr/>
            <p:nvPr/>
          </p:nvGrpSpPr>
          <p:grpSpPr>
            <a:xfrm>
              <a:off x="4863498" y="2653145"/>
              <a:ext cx="251582" cy="2466934"/>
              <a:chOff x="4863498" y="2653145"/>
              <a:chExt cx="251582" cy="2466934"/>
            </a:xfrm>
          </p:grpSpPr>
          <p:sp>
            <p:nvSpPr>
              <p:cNvPr id="49" name="Arrow: Down 48">
                <a:extLst>
                  <a:ext uri="{FF2B5EF4-FFF2-40B4-BE49-F238E27FC236}">
                    <a16:creationId xmlns:a16="http://schemas.microsoft.com/office/drawing/2014/main" id="{BFC50E67-1FC2-D2EB-4B8D-82F63231F07A}"/>
                  </a:ext>
                </a:extLst>
              </p:cNvPr>
              <p:cNvSpPr/>
              <p:nvPr/>
            </p:nvSpPr>
            <p:spPr bwMode="gray">
              <a:xfrm rot="16200000">
                <a:off x="4921294" y="2684850"/>
                <a:ext cx="225491" cy="162081"/>
              </a:xfrm>
              <a:prstGeom prst="downArrow">
                <a:avLst/>
              </a:prstGeom>
              <a:solidFill>
                <a:srgbClr val="BBBCBC"/>
              </a:solidFill>
              <a:ln w="12700" algn="ctr">
                <a:solidFill>
                  <a:srgbClr val="BBBCBC"/>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sp>
            <p:nvSpPr>
              <p:cNvPr id="50" name="Rectangle 49">
                <a:extLst>
                  <a:ext uri="{FF2B5EF4-FFF2-40B4-BE49-F238E27FC236}">
                    <a16:creationId xmlns:a16="http://schemas.microsoft.com/office/drawing/2014/main" id="{EE2E3E34-189F-8DFB-EA48-883AE4E4DD03}"/>
                  </a:ext>
                </a:extLst>
              </p:cNvPr>
              <p:cNvSpPr/>
              <p:nvPr/>
            </p:nvSpPr>
            <p:spPr bwMode="gray">
              <a:xfrm>
                <a:off x="4863498" y="2703655"/>
                <a:ext cx="118063" cy="2416424"/>
              </a:xfrm>
              <a:prstGeom prst="rect">
                <a:avLst/>
              </a:prstGeom>
              <a:solidFill>
                <a:srgbClr val="BBBCBC"/>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grpSp>
        <p:sp>
          <p:nvSpPr>
            <p:cNvPr id="48" name="Rectangle 47">
              <a:extLst>
                <a:ext uri="{FF2B5EF4-FFF2-40B4-BE49-F238E27FC236}">
                  <a16:creationId xmlns:a16="http://schemas.microsoft.com/office/drawing/2014/main" id="{F8F36EA6-B591-5F39-012A-A1DA505DE18A}"/>
                </a:ext>
              </a:extLst>
            </p:cNvPr>
            <p:cNvSpPr/>
            <p:nvPr/>
          </p:nvSpPr>
          <p:spPr bwMode="gray">
            <a:xfrm>
              <a:off x="4795005" y="5001207"/>
              <a:ext cx="118063" cy="118872"/>
            </a:xfrm>
            <a:prstGeom prst="rect">
              <a:avLst/>
            </a:prstGeom>
            <a:solidFill>
              <a:srgbClr val="BBBCBC"/>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endParaRPr kumimoji="1" lang="en-US" sz="1200" b="0" i="0" u="none" strike="noStrike" kern="1200" cap="none" spc="0" normalizeH="0" baseline="0" noProof="0">
                <a:ln>
                  <a:noFill/>
                </a:ln>
                <a:solidFill>
                  <a:prstClr val="black"/>
                </a:solidFill>
                <a:effectLst/>
                <a:uLnTx/>
                <a:uFillTx/>
                <a:latin typeface="+mn-lt"/>
                <a:ea typeface="+mn-ea"/>
                <a:cs typeface="+mn-cs"/>
              </a:endParaRPr>
            </a:p>
          </p:txBody>
        </p:sp>
      </p:grpSp>
      <p:sp>
        <p:nvSpPr>
          <p:cNvPr id="51" name="Speech Bubble: Rectangle 50">
            <a:extLst>
              <a:ext uri="{FF2B5EF4-FFF2-40B4-BE49-F238E27FC236}">
                <a16:creationId xmlns:a16="http://schemas.microsoft.com/office/drawing/2014/main" id="{2C75F41A-0AF9-DA26-961F-8B97A7A6555B}"/>
              </a:ext>
            </a:extLst>
          </p:cNvPr>
          <p:cNvSpPr/>
          <p:nvPr/>
        </p:nvSpPr>
        <p:spPr bwMode="gray">
          <a:xfrm>
            <a:off x="4419264" y="3578982"/>
            <a:ext cx="1676736" cy="450083"/>
          </a:xfrm>
          <a:prstGeom prst="wedgeRectCallout">
            <a:avLst>
              <a:gd name="adj1" fmla="val -1618"/>
              <a:gd name="adj2" fmla="val 74043"/>
            </a:avLst>
          </a:prstGeom>
          <a:solidFill>
            <a:schemeClr val="accent1">
              <a:lumMod val="20000"/>
              <a:lumOff val="80000"/>
            </a:schemeClr>
          </a:solidFill>
          <a:ln w="12700" algn="ctr">
            <a:noFill/>
            <a:miter lim="800000"/>
            <a:headEnd/>
            <a:tailEnd/>
          </a:ln>
        </p:spPr>
        <p:txBody>
          <a:bodyPr rot="0" spcFirstLastPara="0" vertOverflow="overflow" horzOverflow="overflow" vert="horz" wrap="square" lIns="45720" tIns="91440" rIns="45720" bIns="91440" numCol="1" spcCol="0" rtlCol="0" fromWordArt="0" anchor="ctr" anchorCtr="0" forceAA="0" compatLnSpc="1">
            <a:prstTxWarp prst="textNoShape">
              <a:avLst/>
            </a:prstTxWarp>
            <a:noAutofit/>
          </a:bodyPr>
          <a:lstStyle/>
          <a:p>
            <a:pPr marL="0" marR="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pPr>
            <a:r>
              <a:rPr kumimoji="1" lang="en-US" sz="90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Total tradable volume is </a:t>
            </a:r>
            <a:r>
              <a:rPr kumimoji="1" lang="en-US" sz="9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minimum of cumulative buy or sell quantity at a price</a:t>
            </a:r>
          </a:p>
        </p:txBody>
      </p:sp>
      <p:sp>
        <p:nvSpPr>
          <p:cNvPr id="8" name="Arrow: Right 7">
            <a:hlinkClick r:id="rId6" action="ppaction://hlinksldjump"/>
            <a:extLst>
              <a:ext uri="{FF2B5EF4-FFF2-40B4-BE49-F238E27FC236}">
                <a16:creationId xmlns:a16="http://schemas.microsoft.com/office/drawing/2014/main" id="{04B4D367-54A5-345A-EFA3-125E179A8AD8}"/>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90209503"/>
      </p:ext>
    </p:extLst>
  </p:cSld>
  <p:clrMapOvr>
    <a:masterClrMapping/>
  </p:clrMapOvr>
  <p:transition>
    <p:fade/>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a:xfrm>
            <a:off x="501650" y="286306"/>
            <a:ext cx="11188700" cy="334099"/>
          </a:xfrm>
        </p:spPr>
        <p:txBody>
          <a:bodyPr vert="horz"/>
          <a:lstStyle/>
          <a:p>
            <a:r>
              <a:rPr lang="en-US" sz="1800" b="1">
                <a:latin typeface="Arial" panose="020B0604020202020204" pitchFamily="34" charset="0"/>
                <a:cs typeface="Arial" panose="020B0604020202020204" pitchFamily="34" charset="0"/>
              </a:rPr>
              <a:t>Analysis of impact of delay in RCOD</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01650" y="820564"/>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5" name="Table 4">
            <a:extLst>
              <a:ext uri="{FF2B5EF4-FFF2-40B4-BE49-F238E27FC236}">
                <a16:creationId xmlns:a16="http://schemas.microsoft.com/office/drawing/2014/main" id="{C30C00EB-35F5-1FE9-55BB-EE6BEAEC75B0}"/>
              </a:ext>
            </a:extLst>
          </p:cNvPr>
          <p:cNvGraphicFramePr>
            <a:graphicFrameLocks noGrp="1"/>
          </p:cNvGraphicFramePr>
          <p:nvPr/>
        </p:nvGraphicFramePr>
        <p:xfrm>
          <a:off x="501650" y="1301487"/>
          <a:ext cx="5365749" cy="2305050"/>
        </p:xfrm>
        <a:graphic>
          <a:graphicData uri="http://schemas.openxmlformats.org/drawingml/2006/table">
            <a:tbl>
              <a:tblPr>
                <a:tableStyleId>{0E3FDE45-AF77-4B5C-9715-49D594BDF05E}</a:tableStyleId>
              </a:tblPr>
              <a:tblGrid>
                <a:gridCol w="1788583">
                  <a:extLst>
                    <a:ext uri="{9D8B030D-6E8A-4147-A177-3AD203B41FA5}">
                      <a16:colId xmlns:a16="http://schemas.microsoft.com/office/drawing/2014/main" val="399004467"/>
                    </a:ext>
                  </a:extLst>
                </a:gridCol>
                <a:gridCol w="1788583">
                  <a:extLst>
                    <a:ext uri="{9D8B030D-6E8A-4147-A177-3AD203B41FA5}">
                      <a16:colId xmlns:a16="http://schemas.microsoft.com/office/drawing/2014/main" val="3975936429"/>
                    </a:ext>
                  </a:extLst>
                </a:gridCol>
                <a:gridCol w="1788583">
                  <a:extLst>
                    <a:ext uri="{9D8B030D-6E8A-4147-A177-3AD203B41FA5}">
                      <a16:colId xmlns:a16="http://schemas.microsoft.com/office/drawing/2014/main" val="1365545594"/>
                    </a:ext>
                  </a:extLst>
                </a:gridCol>
              </a:tblGrid>
              <a:tr h="292100">
                <a:tc rowSpan="2">
                  <a:txBody>
                    <a:bodyPr/>
                    <a:lstStyle/>
                    <a:p>
                      <a:pPr algn="ctr" fontAlgn="ctr"/>
                      <a:r>
                        <a:rPr lang="en-US" sz="900" u="none" strike="noStrike">
                          <a:effectLst/>
                          <a:latin typeface="Arial" panose="020B0604020202020204" pitchFamily="34" charset="0"/>
                          <a:cs typeface="Arial" panose="020B0604020202020204" pitchFamily="34" charset="0"/>
                        </a:rPr>
                        <a:t>Period</a:t>
                      </a:r>
                      <a:endParaRPr lang="en-US" sz="900" b="1"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fontAlgn="ctr"/>
                      <a:r>
                        <a:rPr lang="en-US" sz="900" u="none" strike="noStrike">
                          <a:effectLst/>
                          <a:latin typeface="Arial" panose="020B0604020202020204" pitchFamily="34" charset="0"/>
                          <a:cs typeface="Arial" panose="020B0604020202020204" pitchFamily="34" charset="0"/>
                        </a:rPr>
                        <a:t>Dry Months</a:t>
                      </a:r>
                      <a:endParaRPr lang="en-US" sz="900" b="1"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fontAlgn="ctr"/>
                      <a:r>
                        <a:rPr lang="en-US" sz="900" u="none" strike="noStrike">
                          <a:effectLst/>
                          <a:latin typeface="Arial" panose="020B0604020202020204" pitchFamily="34" charset="0"/>
                          <a:cs typeface="Arial" panose="020B0604020202020204" pitchFamily="34" charset="0"/>
                        </a:rPr>
                        <a:t>Wet Months </a:t>
                      </a:r>
                      <a:endParaRPr lang="en-US" sz="900" b="1"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3761345173"/>
                  </a:ext>
                </a:extLst>
              </a:tr>
              <a:tr h="190500">
                <a:tc vMerge="1">
                  <a:txBody>
                    <a:bodyPr/>
                    <a:lstStyle/>
                    <a:p>
                      <a:endParaRPr lang="en-US"/>
                    </a:p>
                  </a:txBody>
                  <a:tcPr/>
                </a:tc>
                <a:tc>
                  <a:txBody>
                    <a:bodyPr/>
                    <a:lstStyle/>
                    <a:p>
                      <a:pPr algn="ctr" fontAlgn="ctr"/>
                      <a:r>
                        <a:rPr lang="en-US" sz="900" u="none" strike="noStrike">
                          <a:effectLst/>
                          <a:latin typeface="Arial" panose="020B0604020202020204" pitchFamily="34" charset="0"/>
                          <a:cs typeface="Arial" panose="020B0604020202020204" pitchFamily="34" charset="0"/>
                        </a:rPr>
                        <a:t>(NPR. per unit)</a:t>
                      </a:r>
                      <a:endParaRPr lang="en-US" sz="900" b="0" i="1"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fontAlgn="ctr"/>
                      <a:r>
                        <a:rPr lang="en-US" sz="900" u="none" strike="noStrike">
                          <a:effectLst/>
                          <a:latin typeface="Arial" panose="020B0604020202020204" pitchFamily="34" charset="0"/>
                          <a:cs typeface="Arial" panose="020B0604020202020204" pitchFamily="34" charset="0"/>
                        </a:rPr>
                        <a:t>(NPR. per unit)</a:t>
                      </a:r>
                      <a:endParaRPr lang="en-US" sz="900" b="0" i="1"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3967088162"/>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1st month to 12th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8.4</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4.8</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1487898578"/>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13th month to 24th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8.65</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4.94</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3352478772"/>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25th month to 36th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8.9</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5.09</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709599627"/>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37th month to 48th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9.16</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5.23</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3977006487"/>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49th month to 60th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9.41</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5.38</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1481816232"/>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61st month to 72nd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9.66</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5.52</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1092402101"/>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73rd month to 84th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9.91</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5.66</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2026242926"/>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85th month to 96th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10.16</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solidFill>
                      <a:schemeClr val="bg2"/>
                    </a:solidFill>
                  </a:tcPr>
                </a:tc>
                <a:tc>
                  <a:txBody>
                    <a:bodyPr/>
                    <a:lstStyle/>
                    <a:p>
                      <a:pPr algn="r" fontAlgn="t"/>
                      <a:r>
                        <a:rPr lang="en-US" sz="900" u="none" strike="noStrike">
                          <a:effectLst/>
                          <a:latin typeface="Arial" panose="020B0604020202020204" pitchFamily="34" charset="0"/>
                          <a:cs typeface="Arial" panose="020B0604020202020204" pitchFamily="34" charset="0"/>
                        </a:rPr>
                        <a:t>5.81</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solidFill>
                      <a:schemeClr val="bg2"/>
                    </a:solidFill>
                  </a:tcPr>
                </a:tc>
                <a:extLst>
                  <a:ext uri="{0D108BD9-81ED-4DB2-BD59-A6C34878D82A}">
                    <a16:rowId xmlns:a16="http://schemas.microsoft.com/office/drawing/2014/main" val="4048563746"/>
                  </a:ext>
                </a:extLst>
              </a:tr>
              <a:tr h="298450">
                <a:tc>
                  <a:txBody>
                    <a:bodyPr/>
                    <a:lstStyle/>
                    <a:p>
                      <a:pPr algn="l" fontAlgn="t"/>
                      <a:r>
                        <a:rPr lang="en-US" sz="900" u="none" strike="noStrike">
                          <a:effectLst/>
                          <a:latin typeface="Arial" panose="020B0604020202020204" pitchFamily="34" charset="0"/>
                          <a:cs typeface="Arial" panose="020B0604020202020204" pitchFamily="34" charset="0"/>
                        </a:rPr>
                        <a:t>From 97th month till the end of the agreement period</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10.42</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5.95</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2070623940"/>
                  </a:ext>
                </a:extLst>
              </a:tr>
            </a:tbl>
          </a:graphicData>
        </a:graphic>
      </p:graphicFrame>
      <p:graphicFrame>
        <p:nvGraphicFramePr>
          <p:cNvPr id="7" name="Table 6">
            <a:extLst>
              <a:ext uri="{FF2B5EF4-FFF2-40B4-BE49-F238E27FC236}">
                <a16:creationId xmlns:a16="http://schemas.microsoft.com/office/drawing/2014/main" id="{E53E1C1D-71A8-6C2D-34D9-49F36C618570}"/>
              </a:ext>
            </a:extLst>
          </p:cNvPr>
          <p:cNvGraphicFramePr>
            <a:graphicFrameLocks noGrp="1"/>
          </p:cNvGraphicFramePr>
          <p:nvPr/>
        </p:nvGraphicFramePr>
        <p:xfrm>
          <a:off x="501651" y="913502"/>
          <a:ext cx="5365748" cy="274320"/>
        </p:xfrm>
        <a:graphic>
          <a:graphicData uri="http://schemas.openxmlformats.org/drawingml/2006/table">
            <a:tbl>
              <a:tblPr firstRow="1" bandRow="1">
                <a:tableStyleId>{5C22544A-7EE6-4342-B048-85BDC9FD1C3A}</a:tableStyleId>
              </a:tblPr>
              <a:tblGrid>
                <a:gridCol w="5365748">
                  <a:extLst>
                    <a:ext uri="{9D8B030D-6E8A-4147-A177-3AD203B41FA5}">
                      <a16:colId xmlns:a16="http://schemas.microsoft.com/office/drawing/2014/main" val="3451256776"/>
                    </a:ext>
                  </a:extLst>
                </a:gridCol>
              </a:tblGrid>
              <a:tr h="225051">
                <a:tc>
                  <a:txBody>
                    <a:bodyPr/>
                    <a:lstStyle/>
                    <a:p>
                      <a:pPr algn="ctr"/>
                      <a:r>
                        <a:rPr lang="en-US" sz="1200">
                          <a:latin typeface="Arial" panose="020B0604020202020204" pitchFamily="34" charset="0"/>
                          <a:cs typeface="Arial" panose="020B0604020202020204" pitchFamily="34" charset="0"/>
                        </a:rPr>
                        <a:t>Scenario -1 - Electric Energy purchase rates without Delay</a:t>
                      </a:r>
                    </a:p>
                  </a:txBody>
                  <a:tcPr/>
                </a:tc>
                <a:extLst>
                  <a:ext uri="{0D108BD9-81ED-4DB2-BD59-A6C34878D82A}">
                    <a16:rowId xmlns:a16="http://schemas.microsoft.com/office/drawing/2014/main" val="3264097021"/>
                  </a:ext>
                </a:extLst>
              </a:tr>
            </a:tbl>
          </a:graphicData>
        </a:graphic>
      </p:graphicFrame>
      <p:graphicFrame>
        <p:nvGraphicFramePr>
          <p:cNvPr id="9" name="Table 8">
            <a:extLst>
              <a:ext uri="{FF2B5EF4-FFF2-40B4-BE49-F238E27FC236}">
                <a16:creationId xmlns:a16="http://schemas.microsoft.com/office/drawing/2014/main" id="{A1D1F78D-745C-3514-21E7-3B8A80970E7E}"/>
              </a:ext>
            </a:extLst>
          </p:cNvPr>
          <p:cNvGraphicFramePr>
            <a:graphicFrameLocks noGrp="1"/>
          </p:cNvGraphicFramePr>
          <p:nvPr>
            <p:extLst>
              <p:ext uri="{D42A27DB-BD31-4B8C-83A1-F6EECF244321}">
                <p14:modId xmlns:p14="http://schemas.microsoft.com/office/powerpoint/2010/main" val="3829726752"/>
              </p:ext>
            </p:extLst>
          </p:nvPr>
        </p:nvGraphicFramePr>
        <p:xfrm>
          <a:off x="6344693" y="1326201"/>
          <a:ext cx="5365749" cy="2305051"/>
        </p:xfrm>
        <a:graphic>
          <a:graphicData uri="http://schemas.openxmlformats.org/drawingml/2006/table">
            <a:tbl>
              <a:tblPr>
                <a:tableStyleId>{0E3FDE45-AF77-4B5C-9715-49D594BDF05E}</a:tableStyleId>
              </a:tblPr>
              <a:tblGrid>
                <a:gridCol w="1788583">
                  <a:extLst>
                    <a:ext uri="{9D8B030D-6E8A-4147-A177-3AD203B41FA5}">
                      <a16:colId xmlns:a16="http://schemas.microsoft.com/office/drawing/2014/main" val="399004467"/>
                    </a:ext>
                  </a:extLst>
                </a:gridCol>
                <a:gridCol w="1788583">
                  <a:extLst>
                    <a:ext uri="{9D8B030D-6E8A-4147-A177-3AD203B41FA5}">
                      <a16:colId xmlns:a16="http://schemas.microsoft.com/office/drawing/2014/main" val="3975936429"/>
                    </a:ext>
                  </a:extLst>
                </a:gridCol>
                <a:gridCol w="1788583">
                  <a:extLst>
                    <a:ext uri="{9D8B030D-6E8A-4147-A177-3AD203B41FA5}">
                      <a16:colId xmlns:a16="http://schemas.microsoft.com/office/drawing/2014/main" val="1365545594"/>
                    </a:ext>
                  </a:extLst>
                </a:gridCol>
              </a:tblGrid>
              <a:tr h="292100">
                <a:tc rowSpan="2">
                  <a:txBody>
                    <a:bodyPr/>
                    <a:lstStyle/>
                    <a:p>
                      <a:pPr algn="ctr" fontAlgn="ctr"/>
                      <a:r>
                        <a:rPr lang="en-US" sz="900" u="none" strike="noStrike">
                          <a:effectLst/>
                          <a:latin typeface="Arial" panose="020B0604020202020204" pitchFamily="34" charset="0"/>
                          <a:cs typeface="Arial" panose="020B0604020202020204" pitchFamily="34" charset="0"/>
                        </a:rPr>
                        <a:t>Period</a:t>
                      </a:r>
                      <a:endParaRPr lang="en-US" sz="900" b="1"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fontAlgn="ctr"/>
                      <a:r>
                        <a:rPr lang="en-US" sz="900" u="none" strike="noStrike">
                          <a:effectLst/>
                          <a:latin typeface="Arial" panose="020B0604020202020204" pitchFamily="34" charset="0"/>
                          <a:cs typeface="Arial" panose="020B0604020202020204" pitchFamily="34" charset="0"/>
                        </a:rPr>
                        <a:t>Dry Months</a:t>
                      </a:r>
                      <a:endParaRPr lang="en-US" sz="900" b="1"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fontAlgn="ctr"/>
                      <a:r>
                        <a:rPr lang="en-US" sz="900" u="none" strike="noStrike">
                          <a:effectLst/>
                          <a:latin typeface="Arial" panose="020B0604020202020204" pitchFamily="34" charset="0"/>
                          <a:cs typeface="Arial" panose="020B0604020202020204" pitchFamily="34" charset="0"/>
                        </a:rPr>
                        <a:t>Wet Months</a:t>
                      </a:r>
                      <a:endParaRPr lang="en-US" sz="900" b="1"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3761345173"/>
                  </a:ext>
                </a:extLst>
              </a:tr>
              <a:tr h="190500">
                <a:tc vMerge="1">
                  <a:txBody>
                    <a:bodyPr/>
                    <a:lstStyle/>
                    <a:p>
                      <a:endParaRPr lang="en-US"/>
                    </a:p>
                  </a:txBody>
                  <a:tcPr/>
                </a:tc>
                <a:tc>
                  <a:txBody>
                    <a:bodyPr/>
                    <a:lstStyle/>
                    <a:p>
                      <a:pPr algn="ctr" fontAlgn="ctr"/>
                      <a:r>
                        <a:rPr lang="en-US" sz="900" u="none" strike="noStrike">
                          <a:effectLst/>
                          <a:latin typeface="Arial" panose="020B0604020202020204" pitchFamily="34" charset="0"/>
                          <a:cs typeface="Arial" panose="020B0604020202020204" pitchFamily="34" charset="0"/>
                        </a:rPr>
                        <a:t>(NPR. per unit)</a:t>
                      </a:r>
                      <a:endParaRPr lang="en-US" sz="900" b="0" i="1"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ctr" fontAlgn="ctr"/>
                      <a:r>
                        <a:rPr lang="en-US" sz="900" u="none" strike="noStrike">
                          <a:effectLst/>
                          <a:latin typeface="Arial" panose="020B0604020202020204" pitchFamily="34" charset="0"/>
                          <a:cs typeface="Arial" panose="020B0604020202020204" pitchFamily="34" charset="0"/>
                        </a:rPr>
                        <a:t>(NPR. per unit)</a:t>
                      </a:r>
                      <a:endParaRPr lang="en-US" sz="900" b="0" i="1"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3967088162"/>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1st month to 12th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solidFill>
                      <a:srgbClr val="E3E48D"/>
                    </a:solidFill>
                  </a:tcPr>
                </a:tc>
                <a:tc>
                  <a:txBody>
                    <a:bodyPr/>
                    <a:lstStyle/>
                    <a:p>
                      <a:pPr algn="r" fontAlgn="t"/>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solidFill>
                      <a:srgbClr val="E3E48D"/>
                    </a:solidFill>
                  </a:tcPr>
                </a:tc>
                <a:extLst>
                  <a:ext uri="{0D108BD9-81ED-4DB2-BD59-A6C34878D82A}">
                    <a16:rowId xmlns:a16="http://schemas.microsoft.com/office/drawing/2014/main" val="1487898578"/>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13th month to 24th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8.4</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4.8</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3352478772"/>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25th month to 36th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8.65</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4.94</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709599627"/>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37th month to 48th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8.9</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5.09</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3977006487"/>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49th month to 60th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9.16</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5.23</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1481816232"/>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61st month to 72nd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9.41</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5.38</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1092402101"/>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73rd month to 84th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9.66</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5.52</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2026242926"/>
                  </a:ext>
                </a:extLst>
              </a:tr>
              <a:tr h="190500">
                <a:tc>
                  <a:txBody>
                    <a:bodyPr/>
                    <a:lstStyle/>
                    <a:p>
                      <a:pPr algn="l" fontAlgn="t"/>
                      <a:r>
                        <a:rPr lang="en-US" sz="900" u="none" strike="noStrike">
                          <a:effectLst/>
                          <a:latin typeface="Arial" panose="020B0604020202020204" pitchFamily="34" charset="0"/>
                          <a:cs typeface="Arial" panose="020B0604020202020204" pitchFamily="34" charset="0"/>
                        </a:rPr>
                        <a:t>From 85th month to 96th month</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9.91</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tc>
                  <a:txBody>
                    <a:bodyPr/>
                    <a:lstStyle/>
                    <a:p>
                      <a:pPr algn="r" fontAlgn="t"/>
                      <a:r>
                        <a:rPr lang="en-US" sz="900" u="none" strike="noStrike">
                          <a:effectLst/>
                          <a:latin typeface="Arial" panose="020B0604020202020204" pitchFamily="34" charset="0"/>
                          <a:cs typeface="Arial" panose="020B0604020202020204" pitchFamily="34" charset="0"/>
                        </a:rPr>
                        <a:t>5.66</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tc>
                <a:extLst>
                  <a:ext uri="{0D108BD9-81ED-4DB2-BD59-A6C34878D82A}">
                    <a16:rowId xmlns:a16="http://schemas.microsoft.com/office/drawing/2014/main" val="4048563746"/>
                  </a:ext>
                </a:extLst>
              </a:tr>
              <a:tr h="298451">
                <a:tc>
                  <a:txBody>
                    <a:bodyPr/>
                    <a:lstStyle/>
                    <a:p>
                      <a:pPr algn="l" fontAlgn="t"/>
                      <a:r>
                        <a:rPr lang="en-US" sz="900" u="none" strike="noStrike">
                          <a:effectLst/>
                          <a:latin typeface="Arial" panose="020B0604020202020204" pitchFamily="34" charset="0"/>
                          <a:cs typeface="Arial" panose="020B0604020202020204" pitchFamily="34" charset="0"/>
                        </a:rPr>
                        <a:t>From 97th month till the end of the agreement period</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tc>
                <a:tc>
                  <a:txBody>
                    <a:bodyPr/>
                    <a:lstStyle/>
                    <a:p>
                      <a:pPr algn="r" fontAlgn="t"/>
                      <a:r>
                        <a:rPr lang="en-US" sz="900" u="none" strike="noStrike">
                          <a:effectLst/>
                          <a:latin typeface="Arial" panose="020B0604020202020204" pitchFamily="34" charset="0"/>
                          <a:cs typeface="Arial" panose="020B0604020202020204" pitchFamily="34" charset="0"/>
                        </a:rPr>
                        <a:t>10.16</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solidFill>
                      <a:schemeClr val="bg2"/>
                    </a:solidFill>
                  </a:tcPr>
                </a:tc>
                <a:tc>
                  <a:txBody>
                    <a:bodyPr/>
                    <a:lstStyle/>
                    <a:p>
                      <a:pPr algn="r" fontAlgn="t"/>
                      <a:r>
                        <a:rPr lang="en-US" sz="900" u="none" strike="noStrike">
                          <a:effectLst/>
                          <a:latin typeface="Arial" panose="020B0604020202020204" pitchFamily="34" charset="0"/>
                          <a:cs typeface="Arial" panose="020B0604020202020204" pitchFamily="34" charset="0"/>
                        </a:rPr>
                        <a:t>5.81</a:t>
                      </a:r>
                      <a:endParaRPr lang="en-US" sz="900" b="0" i="0" u="none" strike="noStrike">
                        <a:solidFill>
                          <a:srgbClr val="424242"/>
                        </a:solidFill>
                        <a:effectLst/>
                        <a:latin typeface="Arial" panose="020B0604020202020204" pitchFamily="34" charset="0"/>
                        <a:cs typeface="Arial" panose="020B0604020202020204" pitchFamily="34" charset="0"/>
                      </a:endParaRPr>
                    </a:p>
                  </a:txBody>
                  <a:tcPr marL="6350" marR="6350" marT="6350" marB="0" anchor="ctr">
                    <a:solidFill>
                      <a:schemeClr val="bg2"/>
                    </a:solidFill>
                  </a:tcPr>
                </a:tc>
                <a:extLst>
                  <a:ext uri="{0D108BD9-81ED-4DB2-BD59-A6C34878D82A}">
                    <a16:rowId xmlns:a16="http://schemas.microsoft.com/office/drawing/2014/main" val="2070623940"/>
                  </a:ext>
                </a:extLst>
              </a:tr>
            </a:tbl>
          </a:graphicData>
        </a:graphic>
      </p:graphicFrame>
      <p:graphicFrame>
        <p:nvGraphicFramePr>
          <p:cNvPr id="11" name="Table 10">
            <a:extLst>
              <a:ext uri="{FF2B5EF4-FFF2-40B4-BE49-F238E27FC236}">
                <a16:creationId xmlns:a16="http://schemas.microsoft.com/office/drawing/2014/main" id="{AFB80768-ADB8-65F0-14DA-742BD8A3D3B8}"/>
              </a:ext>
            </a:extLst>
          </p:cNvPr>
          <p:cNvGraphicFramePr>
            <a:graphicFrameLocks noGrp="1"/>
          </p:cNvGraphicFramePr>
          <p:nvPr/>
        </p:nvGraphicFramePr>
        <p:xfrm>
          <a:off x="6178283" y="860855"/>
          <a:ext cx="5614442" cy="457200"/>
        </p:xfrm>
        <a:graphic>
          <a:graphicData uri="http://schemas.openxmlformats.org/drawingml/2006/table">
            <a:tbl>
              <a:tblPr firstRow="1" bandRow="1">
                <a:tableStyleId>{5C22544A-7EE6-4342-B048-85BDC9FD1C3A}</a:tableStyleId>
              </a:tblPr>
              <a:tblGrid>
                <a:gridCol w="5614442">
                  <a:extLst>
                    <a:ext uri="{9D8B030D-6E8A-4147-A177-3AD203B41FA5}">
                      <a16:colId xmlns:a16="http://schemas.microsoft.com/office/drawing/2014/main" val="3451256776"/>
                    </a:ext>
                  </a:extLst>
                </a:gridCol>
              </a:tblGrid>
              <a:tr h="225051">
                <a:tc>
                  <a:txBody>
                    <a:bodyPr/>
                    <a:lstStyle/>
                    <a:p>
                      <a:pPr algn="ctr"/>
                      <a:r>
                        <a:rPr lang="en-US" sz="1200">
                          <a:latin typeface="Arial" panose="020B0604020202020204" pitchFamily="34" charset="0"/>
                          <a:cs typeface="Arial" panose="020B0604020202020204" pitchFamily="34" charset="0"/>
                        </a:rPr>
                        <a:t>Scenario - 2 - Electric Energy purchase rates with Delay in COD by more than six months and less than 18 months</a:t>
                      </a:r>
                    </a:p>
                  </a:txBody>
                  <a:tcPr/>
                </a:tc>
                <a:extLst>
                  <a:ext uri="{0D108BD9-81ED-4DB2-BD59-A6C34878D82A}">
                    <a16:rowId xmlns:a16="http://schemas.microsoft.com/office/drawing/2014/main" val="3264097021"/>
                  </a:ext>
                </a:extLst>
              </a:tr>
            </a:tbl>
          </a:graphicData>
        </a:graphic>
      </p:graphicFrame>
      <p:sp>
        <p:nvSpPr>
          <p:cNvPr id="12" name="Rectangle 11">
            <a:extLst>
              <a:ext uri="{FF2B5EF4-FFF2-40B4-BE49-F238E27FC236}">
                <a16:creationId xmlns:a16="http://schemas.microsoft.com/office/drawing/2014/main" id="{4165A3CF-1FE2-8E74-962C-43A4D9426A5A}"/>
              </a:ext>
            </a:extLst>
          </p:cNvPr>
          <p:cNvSpPr/>
          <p:nvPr/>
        </p:nvSpPr>
        <p:spPr bwMode="gray">
          <a:xfrm>
            <a:off x="501650" y="3720201"/>
            <a:ext cx="11353266" cy="2709081"/>
          </a:xfrm>
          <a:prstGeom prst="rect">
            <a:avLst/>
          </a:prstGeom>
          <a:ln>
            <a:headEnd/>
            <a:tailEnd/>
          </a:ln>
        </p:spPr>
        <p:style>
          <a:lnRef idx="2">
            <a:schemeClr val="accent1"/>
          </a:lnRef>
          <a:fillRef idx="1">
            <a:schemeClr val="lt1"/>
          </a:fillRef>
          <a:effectRef idx="0">
            <a:schemeClr val="accent1"/>
          </a:effectRef>
          <a:fontRef idx="minor">
            <a:schemeClr val="dk1"/>
          </a:fontRef>
        </p:style>
        <p:txBody>
          <a:bodyPr wrap="square" lIns="88900" tIns="88900" rIns="88900" bIns="88900" rtlCol="0" anchor="ctr"/>
          <a:lstStyle/>
          <a:p>
            <a:pPr>
              <a:lnSpc>
                <a:spcPct val="106000"/>
              </a:lnSpc>
              <a:buFont typeface="Wingdings 2" pitchFamily="18" charset="2"/>
              <a:buNone/>
            </a:pPr>
            <a:r>
              <a:rPr lang="en-US" sz="1600" b="1">
                <a:solidFill>
                  <a:schemeClr val="tx1"/>
                </a:solidFill>
                <a:latin typeface="Arial" panose="020B0604020202020204" pitchFamily="34" charset="0"/>
                <a:cs typeface="Arial" panose="020B0604020202020204" pitchFamily="34" charset="0"/>
              </a:rPr>
              <a:t>Illustration: </a:t>
            </a:r>
            <a:r>
              <a:rPr lang="en-US" sz="1200" b="1">
                <a:solidFill>
                  <a:schemeClr val="tx1"/>
                </a:solidFill>
                <a:latin typeface="Arial" panose="020B0604020202020204" pitchFamily="34" charset="0"/>
                <a:cs typeface="Arial" panose="020B0604020202020204" pitchFamily="34" charset="0"/>
              </a:rPr>
              <a:t>Where COD is late by more than six months and less than 18 months when compared to RCOD, then there will be only 7 price escalations</a:t>
            </a:r>
          </a:p>
          <a:p>
            <a:pPr>
              <a:lnSpc>
                <a:spcPct val="106000"/>
              </a:lnSpc>
              <a:buFont typeface="Wingdings 2" pitchFamily="18" charset="2"/>
              <a:buNone/>
            </a:pPr>
            <a:r>
              <a:rPr lang="en-US" sz="1200">
                <a:solidFill>
                  <a:schemeClr val="tx1"/>
                </a:solidFill>
                <a:latin typeface="Arial" panose="020B0604020202020204" pitchFamily="34" charset="0"/>
                <a:cs typeface="Arial" panose="020B0604020202020204" pitchFamily="34" charset="0"/>
              </a:rPr>
              <a:t>Inline with PPA, analysis has been done considering Average Base energy during Dry Season as  124 GWh and Average Base energy during Wet Season as 277 GWh, to calculate the impact of the total realization in both scenario</a:t>
            </a:r>
          </a:p>
          <a:p>
            <a:pPr>
              <a:lnSpc>
                <a:spcPct val="106000"/>
              </a:lnSpc>
              <a:buFont typeface="Wingdings 2" pitchFamily="18" charset="2"/>
              <a:buNone/>
            </a:pPr>
            <a:endParaRPr lang="en-US" sz="1200">
              <a:solidFill>
                <a:schemeClr val="tx1"/>
              </a:solidFill>
              <a:latin typeface="Arial" panose="020B0604020202020204" pitchFamily="34" charset="0"/>
              <a:cs typeface="Arial" panose="020B0604020202020204" pitchFamily="34" charset="0"/>
            </a:endParaRPr>
          </a:p>
          <a:p>
            <a:pPr>
              <a:lnSpc>
                <a:spcPct val="106000"/>
              </a:lnSpc>
              <a:buFont typeface="Wingdings 2" pitchFamily="18" charset="2"/>
              <a:buNone/>
            </a:pPr>
            <a:endParaRPr lang="en-US" sz="1200">
              <a:solidFill>
                <a:schemeClr val="tx1"/>
              </a:solidFill>
              <a:latin typeface="Arial" panose="020B0604020202020204" pitchFamily="34" charset="0"/>
              <a:cs typeface="Arial" panose="020B0604020202020204" pitchFamily="34" charset="0"/>
            </a:endParaRPr>
          </a:p>
          <a:p>
            <a:pPr>
              <a:lnSpc>
                <a:spcPct val="106000"/>
              </a:lnSpc>
              <a:buFont typeface="Wingdings 2" pitchFamily="18" charset="2"/>
              <a:buNone/>
            </a:pPr>
            <a:endParaRPr lang="en-US" sz="1200">
              <a:solidFill>
                <a:schemeClr val="tx1"/>
              </a:solidFill>
              <a:latin typeface="Arial" panose="020B0604020202020204" pitchFamily="34" charset="0"/>
              <a:cs typeface="Arial" panose="020B0604020202020204" pitchFamily="34" charset="0"/>
            </a:endParaRPr>
          </a:p>
          <a:p>
            <a:pPr>
              <a:lnSpc>
                <a:spcPct val="106000"/>
              </a:lnSpc>
              <a:buFont typeface="Wingdings 2" pitchFamily="18" charset="2"/>
              <a:buNone/>
            </a:pPr>
            <a:r>
              <a:rPr lang="en-US" sz="1200">
                <a:solidFill>
                  <a:schemeClr val="tx1"/>
                </a:solidFill>
                <a:latin typeface="Arial" panose="020B0604020202020204" pitchFamily="34" charset="0"/>
                <a:cs typeface="Arial" panose="020B0604020202020204" pitchFamily="34" charset="0"/>
              </a:rPr>
              <a:t> </a:t>
            </a:r>
          </a:p>
          <a:p>
            <a:pPr>
              <a:lnSpc>
                <a:spcPct val="106000"/>
              </a:lnSpc>
              <a:buFont typeface="Wingdings 2" pitchFamily="18" charset="2"/>
              <a:buNone/>
            </a:pPr>
            <a:endParaRPr lang="en-US" sz="1200">
              <a:solidFill>
                <a:schemeClr val="tx1"/>
              </a:solidFill>
              <a:latin typeface="Arial" panose="020B0604020202020204" pitchFamily="34" charset="0"/>
              <a:cs typeface="Arial" panose="020B0604020202020204" pitchFamily="34" charset="0"/>
            </a:endParaRPr>
          </a:p>
          <a:p>
            <a:pPr>
              <a:lnSpc>
                <a:spcPct val="106000"/>
              </a:lnSpc>
              <a:buFont typeface="Wingdings 2" pitchFamily="18" charset="2"/>
              <a:buNone/>
            </a:pPr>
            <a:endParaRPr lang="en-US" sz="1600" b="1">
              <a:solidFill>
                <a:schemeClr val="tx1"/>
              </a:solidFill>
              <a:latin typeface="Arial" panose="020B0604020202020204" pitchFamily="34" charset="0"/>
              <a:cs typeface="Arial" panose="020B0604020202020204" pitchFamily="34" charset="0"/>
            </a:endParaRPr>
          </a:p>
          <a:p>
            <a:pPr>
              <a:lnSpc>
                <a:spcPct val="106000"/>
              </a:lnSpc>
              <a:buFont typeface="Wingdings 2" pitchFamily="18" charset="2"/>
              <a:buNone/>
            </a:pPr>
            <a:endParaRPr lang="en-US" sz="1600" b="1">
              <a:solidFill>
                <a:schemeClr val="tx1"/>
              </a:solidFill>
              <a:latin typeface="Arial" panose="020B0604020202020204" pitchFamily="34" charset="0"/>
              <a:cs typeface="Arial" panose="020B0604020202020204" pitchFamily="34" charset="0"/>
            </a:endParaRPr>
          </a:p>
          <a:p>
            <a:pPr>
              <a:lnSpc>
                <a:spcPct val="106000"/>
              </a:lnSpc>
              <a:buFont typeface="Wingdings 2" pitchFamily="18" charset="2"/>
              <a:buNone/>
            </a:pPr>
            <a:endParaRPr lang="en-US" sz="1600" b="1">
              <a:solidFill>
                <a:schemeClr val="tx1"/>
              </a:solidFill>
              <a:latin typeface="Arial" panose="020B0604020202020204" pitchFamily="34" charset="0"/>
              <a:cs typeface="Arial" panose="020B0604020202020204" pitchFamily="34" charset="0"/>
            </a:endParaRPr>
          </a:p>
          <a:p>
            <a:pPr algn="ctr">
              <a:lnSpc>
                <a:spcPct val="106000"/>
              </a:lnSpc>
              <a:buFont typeface="Wingdings 2" pitchFamily="18" charset="2"/>
              <a:buNone/>
            </a:pPr>
            <a:r>
              <a:rPr lang="en-US" sz="1200" b="1" i="1">
                <a:solidFill>
                  <a:schemeClr val="tx1"/>
                </a:solidFill>
                <a:latin typeface="Arial" panose="020B0604020202020204" pitchFamily="34" charset="0"/>
                <a:cs typeface="Arial" panose="020B0604020202020204" pitchFamily="34" charset="0"/>
              </a:rPr>
              <a:t>Loss of 5% due to delay in achieving RCOD will have a huge impact in the financials of the project. </a:t>
            </a:r>
            <a:endParaRPr lang="en-US" b="1" i="1">
              <a:solidFill>
                <a:schemeClr val="tx1"/>
              </a:solidFill>
              <a:latin typeface="Arial" panose="020B0604020202020204" pitchFamily="34" charset="0"/>
              <a:cs typeface="Arial" panose="020B0604020202020204" pitchFamily="34" charset="0"/>
            </a:endParaRPr>
          </a:p>
        </p:txBody>
      </p:sp>
      <p:graphicFrame>
        <p:nvGraphicFramePr>
          <p:cNvPr id="13" name="Table 12">
            <a:extLst>
              <a:ext uri="{FF2B5EF4-FFF2-40B4-BE49-F238E27FC236}">
                <a16:creationId xmlns:a16="http://schemas.microsoft.com/office/drawing/2014/main" id="{61CA0C1D-F676-659B-5366-28BFCF10D17A}"/>
              </a:ext>
            </a:extLst>
          </p:cNvPr>
          <p:cNvGraphicFramePr>
            <a:graphicFrameLocks noGrp="1"/>
          </p:cNvGraphicFramePr>
          <p:nvPr>
            <p:extLst>
              <p:ext uri="{D42A27DB-BD31-4B8C-83A1-F6EECF244321}">
                <p14:modId xmlns:p14="http://schemas.microsoft.com/office/powerpoint/2010/main" val="1013376930"/>
              </p:ext>
            </p:extLst>
          </p:nvPr>
        </p:nvGraphicFramePr>
        <p:xfrm>
          <a:off x="756088" y="4494333"/>
          <a:ext cx="4667250" cy="580408"/>
        </p:xfrm>
        <a:graphic>
          <a:graphicData uri="http://schemas.openxmlformats.org/drawingml/2006/table">
            <a:tbl>
              <a:tblPr>
                <a:tableStyleId>{0E3FDE45-AF77-4B5C-9715-49D594BDF05E}</a:tableStyleId>
              </a:tblPr>
              <a:tblGrid>
                <a:gridCol w="3078493">
                  <a:extLst>
                    <a:ext uri="{9D8B030D-6E8A-4147-A177-3AD203B41FA5}">
                      <a16:colId xmlns:a16="http://schemas.microsoft.com/office/drawing/2014/main" val="3748625195"/>
                    </a:ext>
                  </a:extLst>
                </a:gridCol>
                <a:gridCol w="1588757">
                  <a:extLst>
                    <a:ext uri="{9D8B030D-6E8A-4147-A177-3AD203B41FA5}">
                      <a16:colId xmlns:a16="http://schemas.microsoft.com/office/drawing/2014/main" val="868328035"/>
                    </a:ext>
                  </a:extLst>
                </a:gridCol>
              </a:tblGrid>
              <a:tr h="126346">
                <a:tc gridSpan="2">
                  <a:txBody>
                    <a:bodyPr/>
                    <a:lstStyle/>
                    <a:p>
                      <a:pPr algn="ctr" fontAlgn="b"/>
                      <a:r>
                        <a:rPr lang="en-US" sz="1100" b="1" u="none" strike="noStrike">
                          <a:solidFill>
                            <a:srgbClr val="000000"/>
                          </a:solidFill>
                          <a:effectLst/>
                        </a:rPr>
                        <a:t>Scenario-1</a:t>
                      </a:r>
                      <a:endParaRPr lang="en-US" sz="1100" b="1" i="0" u="none" strike="noStrike">
                        <a:solidFill>
                          <a:srgbClr val="000000"/>
                        </a:solidFill>
                        <a:effectLst/>
                        <a:latin typeface="Calibri" panose="020F0502020204030204" pitchFamily="34" charset="0"/>
                      </a:endParaRPr>
                    </a:p>
                  </a:txBody>
                  <a:tcPr marL="6350" marR="6350" marT="6350" marB="0" anchor="b"/>
                </a:tc>
                <a:tc hMerge="1">
                  <a:txBody>
                    <a:bodyPr/>
                    <a:lstStyle/>
                    <a:p>
                      <a:endParaRPr lang="en-US"/>
                    </a:p>
                  </a:txBody>
                  <a:tcPr/>
                </a:tc>
                <a:extLst>
                  <a:ext uri="{0D108BD9-81ED-4DB2-BD59-A6C34878D82A}">
                    <a16:rowId xmlns:a16="http://schemas.microsoft.com/office/drawing/2014/main" val="266913261"/>
                  </a:ext>
                </a:extLst>
              </a:tr>
              <a:tr h="203209">
                <a:tc>
                  <a:txBody>
                    <a:bodyPr/>
                    <a:lstStyle/>
                    <a:p>
                      <a:pPr algn="l" fontAlgn="ctr"/>
                      <a:r>
                        <a:rPr lang="en-US" sz="1100" b="0" u="none" strike="noStrike">
                          <a:solidFill>
                            <a:srgbClr val="000000"/>
                          </a:solidFill>
                          <a:effectLst/>
                        </a:rPr>
                        <a:t>Total Realisation during dry season (NPR. Million)</a:t>
                      </a:r>
                      <a:endParaRPr lang="en-US" sz="1100" b="0" i="0" u="none" strike="noStrike">
                        <a:solidFill>
                          <a:srgbClr val="000000"/>
                        </a:solidFill>
                        <a:effectLst/>
                        <a:latin typeface="Calibri" panose="020F0502020204030204" pitchFamily="34" charset="0"/>
                      </a:endParaRPr>
                    </a:p>
                  </a:txBody>
                  <a:tcPr marL="6350" marR="6350" marT="6350" marB="0" anchor="ctr"/>
                </a:tc>
                <a:tc>
                  <a:txBody>
                    <a:bodyPr/>
                    <a:lstStyle/>
                    <a:p>
                      <a:pPr algn="l" fontAlgn="ctr"/>
                      <a:r>
                        <a:rPr lang="en-US" sz="1100" b="0" u="none" strike="noStrike">
                          <a:solidFill>
                            <a:srgbClr val="000000"/>
                          </a:solidFill>
                          <a:effectLst/>
                        </a:rPr>
                        <a:t>                   37,643</a:t>
                      </a:r>
                      <a:endParaRPr lang="en-US" sz="1100" b="0" i="0" u="none" strike="noStrike">
                        <a:solidFill>
                          <a:srgbClr val="000000"/>
                        </a:solidFill>
                        <a:effectLst/>
                        <a:latin typeface="Calibri" panose="020F0502020204030204" pitchFamily="34" charset="0"/>
                      </a:endParaRPr>
                    </a:p>
                  </a:txBody>
                  <a:tcPr marL="6350" marR="6350" marT="6350" marB="0" anchor="ctr"/>
                </a:tc>
                <a:extLst>
                  <a:ext uri="{0D108BD9-81ED-4DB2-BD59-A6C34878D82A}">
                    <a16:rowId xmlns:a16="http://schemas.microsoft.com/office/drawing/2014/main" val="2766851588"/>
                  </a:ext>
                </a:extLst>
              </a:tr>
              <a:tr h="203209">
                <a:tc>
                  <a:txBody>
                    <a:bodyPr/>
                    <a:lstStyle/>
                    <a:p>
                      <a:pPr algn="l" fontAlgn="ctr"/>
                      <a:r>
                        <a:rPr lang="en-US" sz="1100" b="0" u="none" strike="noStrike">
                          <a:solidFill>
                            <a:srgbClr val="000000"/>
                          </a:solidFill>
                          <a:effectLst/>
                        </a:rPr>
                        <a:t>Total Realisation during wet season  (NPR. Million)</a:t>
                      </a:r>
                      <a:endParaRPr lang="en-US" sz="1100" b="0" i="0" u="none" strike="noStrike">
                        <a:solidFill>
                          <a:srgbClr val="000000"/>
                        </a:solidFill>
                        <a:effectLst/>
                        <a:latin typeface="Calibri" panose="020F0502020204030204" pitchFamily="34" charset="0"/>
                      </a:endParaRPr>
                    </a:p>
                  </a:txBody>
                  <a:tcPr marL="6350" marR="6350" marT="6350" marB="0" anchor="ctr"/>
                </a:tc>
                <a:tc>
                  <a:txBody>
                    <a:bodyPr/>
                    <a:lstStyle/>
                    <a:p>
                      <a:pPr algn="l" fontAlgn="ctr"/>
                      <a:r>
                        <a:rPr lang="en-US" sz="1100" b="0" u="none" strike="noStrike">
                          <a:solidFill>
                            <a:srgbClr val="000000"/>
                          </a:solidFill>
                          <a:effectLst/>
                        </a:rPr>
                        <a:t>                   48,022 </a:t>
                      </a:r>
                      <a:endParaRPr lang="en-US" sz="1100" b="0" i="0" u="none" strike="noStrike">
                        <a:solidFill>
                          <a:srgbClr val="000000"/>
                        </a:solidFill>
                        <a:effectLst/>
                        <a:latin typeface="Calibri" panose="020F0502020204030204" pitchFamily="34" charset="0"/>
                      </a:endParaRPr>
                    </a:p>
                  </a:txBody>
                  <a:tcPr marL="6350" marR="6350" marT="6350" marB="0" anchor="ctr"/>
                </a:tc>
                <a:extLst>
                  <a:ext uri="{0D108BD9-81ED-4DB2-BD59-A6C34878D82A}">
                    <a16:rowId xmlns:a16="http://schemas.microsoft.com/office/drawing/2014/main" val="3927384738"/>
                  </a:ext>
                </a:extLst>
              </a:tr>
            </a:tbl>
          </a:graphicData>
        </a:graphic>
      </p:graphicFrame>
      <p:graphicFrame>
        <p:nvGraphicFramePr>
          <p:cNvPr id="15" name="Table 14">
            <a:extLst>
              <a:ext uri="{FF2B5EF4-FFF2-40B4-BE49-F238E27FC236}">
                <a16:creationId xmlns:a16="http://schemas.microsoft.com/office/drawing/2014/main" id="{6F04FFF3-05D9-8A48-CB30-CF2B77E718DA}"/>
              </a:ext>
            </a:extLst>
          </p:cNvPr>
          <p:cNvGraphicFramePr>
            <a:graphicFrameLocks noGrp="1"/>
          </p:cNvGraphicFramePr>
          <p:nvPr>
            <p:extLst>
              <p:ext uri="{D42A27DB-BD31-4B8C-83A1-F6EECF244321}">
                <p14:modId xmlns:p14="http://schemas.microsoft.com/office/powerpoint/2010/main" val="1097307929"/>
              </p:ext>
            </p:extLst>
          </p:nvPr>
        </p:nvGraphicFramePr>
        <p:xfrm>
          <a:off x="5943162" y="4495457"/>
          <a:ext cx="5492750" cy="579284"/>
        </p:xfrm>
        <a:graphic>
          <a:graphicData uri="http://schemas.openxmlformats.org/drawingml/2006/table">
            <a:tbl>
              <a:tblPr>
                <a:tableStyleId>{0E3FDE45-AF77-4B5C-9715-49D594BDF05E}</a:tableStyleId>
              </a:tblPr>
              <a:tblGrid>
                <a:gridCol w="3698915">
                  <a:extLst>
                    <a:ext uri="{9D8B030D-6E8A-4147-A177-3AD203B41FA5}">
                      <a16:colId xmlns:a16="http://schemas.microsoft.com/office/drawing/2014/main" val="2003081982"/>
                    </a:ext>
                  </a:extLst>
                </a:gridCol>
                <a:gridCol w="1793835">
                  <a:extLst>
                    <a:ext uri="{9D8B030D-6E8A-4147-A177-3AD203B41FA5}">
                      <a16:colId xmlns:a16="http://schemas.microsoft.com/office/drawing/2014/main" val="3701878783"/>
                    </a:ext>
                  </a:extLst>
                </a:gridCol>
              </a:tblGrid>
              <a:tr h="150509">
                <a:tc gridSpan="2">
                  <a:txBody>
                    <a:bodyPr/>
                    <a:lstStyle/>
                    <a:p>
                      <a:pPr algn="ctr" fontAlgn="b"/>
                      <a:r>
                        <a:rPr lang="en-US" sz="1100" b="1" u="none" strike="noStrike">
                          <a:solidFill>
                            <a:srgbClr val="000000"/>
                          </a:solidFill>
                          <a:effectLst/>
                        </a:rPr>
                        <a:t>Scenario-2</a:t>
                      </a:r>
                      <a:endParaRPr lang="en-US" sz="1100" b="1" i="0" u="none" strike="noStrike">
                        <a:solidFill>
                          <a:srgbClr val="000000"/>
                        </a:solidFill>
                        <a:effectLst/>
                        <a:latin typeface="Calibri" panose="020F0502020204030204" pitchFamily="34" charset="0"/>
                      </a:endParaRPr>
                    </a:p>
                  </a:txBody>
                  <a:tcPr marL="6350" marR="6350" marT="6350" marB="0" anchor="b"/>
                </a:tc>
                <a:tc hMerge="1">
                  <a:txBody>
                    <a:bodyPr/>
                    <a:lstStyle/>
                    <a:p>
                      <a:endParaRPr lang="en-US"/>
                    </a:p>
                  </a:txBody>
                  <a:tcPr/>
                </a:tc>
                <a:extLst>
                  <a:ext uri="{0D108BD9-81ED-4DB2-BD59-A6C34878D82A}">
                    <a16:rowId xmlns:a16="http://schemas.microsoft.com/office/drawing/2014/main" val="1452711871"/>
                  </a:ext>
                </a:extLst>
              </a:tr>
              <a:tr h="202647">
                <a:tc>
                  <a:txBody>
                    <a:bodyPr/>
                    <a:lstStyle/>
                    <a:p>
                      <a:pPr algn="l" fontAlgn="ctr"/>
                      <a:r>
                        <a:rPr lang="en-US" sz="1100" b="0" u="none" strike="noStrike">
                          <a:solidFill>
                            <a:srgbClr val="000000"/>
                          </a:solidFill>
                          <a:effectLst/>
                        </a:rPr>
                        <a:t>Total Realisation during dry season  (NPR. Million)</a:t>
                      </a:r>
                      <a:endParaRPr lang="en-US" sz="1100" b="0" i="0" u="none" strike="noStrike">
                        <a:solidFill>
                          <a:srgbClr val="000000"/>
                        </a:solidFill>
                        <a:effectLst/>
                        <a:latin typeface="Calibri" panose="020F0502020204030204" pitchFamily="34" charset="0"/>
                      </a:endParaRPr>
                    </a:p>
                  </a:txBody>
                  <a:tcPr marL="6350" marR="6350" marT="6350" marB="0" anchor="ctr"/>
                </a:tc>
                <a:tc>
                  <a:txBody>
                    <a:bodyPr/>
                    <a:lstStyle/>
                    <a:p>
                      <a:pPr algn="l" fontAlgn="ctr"/>
                      <a:r>
                        <a:rPr lang="en-US" sz="1100" b="0" u="none" strike="noStrike">
                          <a:solidFill>
                            <a:srgbClr val="000000"/>
                          </a:solidFill>
                          <a:effectLst/>
                        </a:rPr>
                        <a:t>         35,674 </a:t>
                      </a:r>
                      <a:endParaRPr lang="en-US" sz="1100" b="0" i="0" u="none" strike="noStrike">
                        <a:solidFill>
                          <a:srgbClr val="000000"/>
                        </a:solidFill>
                        <a:effectLst/>
                        <a:latin typeface="Calibri" panose="020F0502020204030204" pitchFamily="34" charset="0"/>
                      </a:endParaRPr>
                    </a:p>
                  </a:txBody>
                  <a:tcPr marL="6350" marR="6350" marT="6350" marB="0" anchor="ctr"/>
                </a:tc>
                <a:extLst>
                  <a:ext uri="{0D108BD9-81ED-4DB2-BD59-A6C34878D82A}">
                    <a16:rowId xmlns:a16="http://schemas.microsoft.com/office/drawing/2014/main" val="3230555806"/>
                  </a:ext>
                </a:extLst>
              </a:tr>
              <a:tr h="202647">
                <a:tc>
                  <a:txBody>
                    <a:bodyPr/>
                    <a:lstStyle/>
                    <a:p>
                      <a:pPr algn="l" fontAlgn="ctr"/>
                      <a:r>
                        <a:rPr lang="en-US" sz="1100" b="0" u="none" strike="noStrike">
                          <a:solidFill>
                            <a:srgbClr val="000000"/>
                          </a:solidFill>
                          <a:effectLst/>
                        </a:rPr>
                        <a:t>Total Realisation during wet season  (NPR. Million)</a:t>
                      </a:r>
                      <a:endParaRPr lang="en-US" sz="1100" b="0" i="0" u="none" strike="noStrike">
                        <a:solidFill>
                          <a:srgbClr val="000000"/>
                        </a:solidFill>
                        <a:effectLst/>
                        <a:latin typeface="Calibri" panose="020F0502020204030204" pitchFamily="34" charset="0"/>
                      </a:endParaRPr>
                    </a:p>
                  </a:txBody>
                  <a:tcPr marL="6350" marR="6350" marT="6350" marB="0" anchor="ctr"/>
                </a:tc>
                <a:tc>
                  <a:txBody>
                    <a:bodyPr/>
                    <a:lstStyle/>
                    <a:p>
                      <a:pPr algn="l" fontAlgn="ctr"/>
                      <a:r>
                        <a:rPr lang="en-US" sz="1100" b="0" u="none" strike="noStrike">
                          <a:solidFill>
                            <a:srgbClr val="000000"/>
                          </a:solidFill>
                          <a:effectLst/>
                        </a:rPr>
                        <a:t>         45,559 </a:t>
                      </a:r>
                      <a:endParaRPr lang="en-US" sz="1100" b="0" i="0" u="none" strike="noStrike">
                        <a:solidFill>
                          <a:srgbClr val="000000"/>
                        </a:solidFill>
                        <a:effectLst/>
                        <a:latin typeface="Calibri" panose="020F0502020204030204" pitchFamily="34" charset="0"/>
                      </a:endParaRPr>
                    </a:p>
                  </a:txBody>
                  <a:tcPr marL="6350" marR="6350" marT="6350" marB="0" anchor="ctr"/>
                </a:tc>
                <a:extLst>
                  <a:ext uri="{0D108BD9-81ED-4DB2-BD59-A6C34878D82A}">
                    <a16:rowId xmlns:a16="http://schemas.microsoft.com/office/drawing/2014/main" val="1972146628"/>
                  </a:ext>
                </a:extLst>
              </a:tr>
            </a:tbl>
          </a:graphicData>
        </a:graphic>
      </p:graphicFrame>
      <p:graphicFrame>
        <p:nvGraphicFramePr>
          <p:cNvPr id="17" name="Table 16">
            <a:extLst>
              <a:ext uri="{FF2B5EF4-FFF2-40B4-BE49-F238E27FC236}">
                <a16:creationId xmlns:a16="http://schemas.microsoft.com/office/drawing/2014/main" id="{C0FAD08D-2CA6-BDF0-3AC1-E7D12D1B651A}"/>
              </a:ext>
            </a:extLst>
          </p:cNvPr>
          <p:cNvGraphicFramePr>
            <a:graphicFrameLocks noGrp="1"/>
          </p:cNvGraphicFramePr>
          <p:nvPr>
            <p:extLst>
              <p:ext uri="{D42A27DB-BD31-4B8C-83A1-F6EECF244321}">
                <p14:modId xmlns:p14="http://schemas.microsoft.com/office/powerpoint/2010/main" val="1649295534"/>
              </p:ext>
            </p:extLst>
          </p:nvPr>
        </p:nvGraphicFramePr>
        <p:xfrm>
          <a:off x="4003126" y="5279018"/>
          <a:ext cx="3728546" cy="695960"/>
        </p:xfrm>
        <a:graphic>
          <a:graphicData uri="http://schemas.openxmlformats.org/drawingml/2006/table">
            <a:tbl>
              <a:tblPr>
                <a:tableStyleId>{8799B23B-EC83-4686-B30A-512413B5E67A}</a:tableStyleId>
              </a:tblPr>
              <a:tblGrid>
                <a:gridCol w="2706018">
                  <a:extLst>
                    <a:ext uri="{9D8B030D-6E8A-4147-A177-3AD203B41FA5}">
                      <a16:colId xmlns:a16="http://schemas.microsoft.com/office/drawing/2014/main" val="2332356725"/>
                    </a:ext>
                  </a:extLst>
                </a:gridCol>
                <a:gridCol w="1022528">
                  <a:extLst>
                    <a:ext uri="{9D8B030D-6E8A-4147-A177-3AD203B41FA5}">
                      <a16:colId xmlns:a16="http://schemas.microsoft.com/office/drawing/2014/main" val="2398967167"/>
                    </a:ext>
                  </a:extLst>
                </a:gridCol>
              </a:tblGrid>
              <a:tr h="145102">
                <a:tc>
                  <a:txBody>
                    <a:bodyPr/>
                    <a:lstStyle/>
                    <a:p>
                      <a:pPr algn="l" fontAlgn="b"/>
                      <a:r>
                        <a:rPr lang="en-US" sz="1100" b="0" u="none" strike="noStrike">
                          <a:solidFill>
                            <a:srgbClr val="000000"/>
                          </a:solidFill>
                          <a:effectLst/>
                        </a:rPr>
                        <a:t>Indicative Total Dry Season loss (NPR. Million)</a:t>
                      </a:r>
                      <a:endParaRPr lang="en-US" sz="11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b"/>
                </a:tc>
                <a:tc>
                  <a:txBody>
                    <a:bodyPr/>
                    <a:lstStyle/>
                    <a:p>
                      <a:pPr algn="r" fontAlgn="b"/>
                      <a:r>
                        <a:rPr lang="en-US" sz="1100" b="0" u="none" strike="noStrike">
                          <a:solidFill>
                            <a:srgbClr val="000000"/>
                          </a:solidFill>
                          <a:effectLst/>
                        </a:rPr>
                        <a:t>                     1,970 </a:t>
                      </a:r>
                      <a:endParaRPr lang="en-US" sz="11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b"/>
                </a:tc>
                <a:extLst>
                  <a:ext uri="{0D108BD9-81ED-4DB2-BD59-A6C34878D82A}">
                    <a16:rowId xmlns:a16="http://schemas.microsoft.com/office/drawing/2014/main" val="3495504635"/>
                  </a:ext>
                </a:extLst>
              </a:tr>
              <a:tr h="145102">
                <a:tc>
                  <a:txBody>
                    <a:bodyPr/>
                    <a:lstStyle/>
                    <a:p>
                      <a:pPr algn="l" fontAlgn="b"/>
                      <a:r>
                        <a:rPr lang="en-US" sz="1100" b="0" u="none" strike="noStrike">
                          <a:solidFill>
                            <a:srgbClr val="000000"/>
                          </a:solidFill>
                          <a:effectLst/>
                        </a:rPr>
                        <a:t>Indicative Total Wet Season loss (NPR. Million)</a:t>
                      </a:r>
                      <a:endParaRPr lang="en-US" sz="11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b"/>
                </a:tc>
                <a:tc>
                  <a:txBody>
                    <a:bodyPr/>
                    <a:lstStyle/>
                    <a:p>
                      <a:pPr algn="r" fontAlgn="b"/>
                      <a:r>
                        <a:rPr lang="en-US" sz="1100" b="0" u="none" strike="noStrike">
                          <a:solidFill>
                            <a:srgbClr val="000000"/>
                          </a:solidFill>
                          <a:effectLst/>
                        </a:rPr>
                        <a:t>                     2,463</a:t>
                      </a:r>
                      <a:endParaRPr lang="en-US" sz="11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b"/>
                </a:tc>
                <a:extLst>
                  <a:ext uri="{0D108BD9-81ED-4DB2-BD59-A6C34878D82A}">
                    <a16:rowId xmlns:a16="http://schemas.microsoft.com/office/drawing/2014/main" val="2606796031"/>
                  </a:ext>
                </a:extLst>
              </a:tr>
              <a:tr h="145102">
                <a:tc>
                  <a:txBody>
                    <a:bodyPr/>
                    <a:lstStyle/>
                    <a:p>
                      <a:pPr algn="l" fontAlgn="b"/>
                      <a:r>
                        <a:rPr lang="en-US" sz="1100" b="0" u="none" strike="noStrike">
                          <a:solidFill>
                            <a:srgbClr val="000000"/>
                          </a:solidFill>
                          <a:effectLst/>
                        </a:rPr>
                        <a:t>Indicative Loss (NPR. Million)</a:t>
                      </a:r>
                      <a:endParaRPr lang="en-US" sz="11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b"/>
                </a:tc>
                <a:tc>
                  <a:txBody>
                    <a:bodyPr/>
                    <a:lstStyle/>
                    <a:p>
                      <a:pPr algn="r" fontAlgn="b"/>
                      <a:r>
                        <a:rPr lang="en-US" sz="1100" b="0" u="none" strike="noStrike">
                          <a:solidFill>
                            <a:srgbClr val="000000"/>
                          </a:solidFill>
                          <a:effectLst/>
                        </a:rPr>
                        <a:t>                     4,433</a:t>
                      </a:r>
                      <a:endParaRPr lang="en-US" sz="1100" b="0"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b"/>
                </a:tc>
                <a:extLst>
                  <a:ext uri="{0D108BD9-81ED-4DB2-BD59-A6C34878D82A}">
                    <a16:rowId xmlns:a16="http://schemas.microsoft.com/office/drawing/2014/main" val="2726189546"/>
                  </a:ext>
                </a:extLst>
              </a:tr>
              <a:tr h="145102">
                <a:tc>
                  <a:txBody>
                    <a:bodyPr/>
                    <a:lstStyle/>
                    <a:p>
                      <a:pPr algn="l" fontAlgn="b"/>
                      <a:r>
                        <a:rPr lang="en-US" sz="1100" b="1" u="none" strike="noStrike">
                          <a:solidFill>
                            <a:srgbClr val="000000"/>
                          </a:solidFill>
                          <a:effectLst/>
                        </a:rPr>
                        <a:t>Indicative</a:t>
                      </a:r>
                      <a:r>
                        <a:rPr lang="en-US" sz="1100" b="0" u="none" strike="noStrike">
                          <a:solidFill>
                            <a:srgbClr val="000000"/>
                          </a:solidFill>
                          <a:effectLst/>
                        </a:rPr>
                        <a:t> </a:t>
                      </a:r>
                      <a:r>
                        <a:rPr lang="en-US" sz="1100" b="1" u="none" strike="noStrike">
                          <a:solidFill>
                            <a:srgbClr val="000000"/>
                          </a:solidFill>
                          <a:effectLst/>
                        </a:rPr>
                        <a:t>Loss %</a:t>
                      </a:r>
                      <a:endParaRPr lang="en-US" sz="1100" b="1"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b"/>
                </a:tc>
                <a:tc>
                  <a:txBody>
                    <a:bodyPr/>
                    <a:lstStyle/>
                    <a:p>
                      <a:pPr algn="r" fontAlgn="b"/>
                      <a:r>
                        <a:rPr lang="en-US" sz="1100" b="1" u="none" strike="noStrike">
                          <a:solidFill>
                            <a:srgbClr val="000000"/>
                          </a:solidFill>
                          <a:effectLst/>
                        </a:rPr>
                        <a:t>5%</a:t>
                      </a:r>
                      <a:endParaRPr lang="en-US" sz="1100" b="1" i="0" u="none" strike="noStrike">
                        <a:solidFill>
                          <a:srgbClr val="000000"/>
                        </a:solidFill>
                        <a:effectLst/>
                        <a:latin typeface="Arial" panose="020B0604020202020204" pitchFamily="34" charset="0"/>
                        <a:cs typeface="Arial" panose="020B0604020202020204" pitchFamily="34" charset="0"/>
                      </a:endParaRPr>
                    </a:p>
                  </a:txBody>
                  <a:tcPr marL="6350" marR="6350" marT="6350" marB="0" anchor="b"/>
                </a:tc>
                <a:extLst>
                  <a:ext uri="{0D108BD9-81ED-4DB2-BD59-A6C34878D82A}">
                    <a16:rowId xmlns:a16="http://schemas.microsoft.com/office/drawing/2014/main" val="1516022360"/>
                  </a:ext>
                </a:extLst>
              </a:tr>
            </a:tbl>
          </a:graphicData>
        </a:graphic>
      </p:graphicFrame>
      <p:sp>
        <p:nvSpPr>
          <p:cNvPr id="18" name="Text Placeholder 1">
            <a:extLst>
              <a:ext uri="{FF2B5EF4-FFF2-40B4-BE49-F238E27FC236}">
                <a16:creationId xmlns:a16="http://schemas.microsoft.com/office/drawing/2014/main" id="{6BA27D54-604A-D48A-A9BB-C37C799E0F1D}"/>
              </a:ext>
            </a:extLst>
          </p:cNvPr>
          <p:cNvSpPr>
            <a:spLocks noGrp="1"/>
          </p:cNvSpPr>
          <p:nvPr>
            <p:ph type="body" sz="quarter" idx="13"/>
          </p:nvPr>
        </p:nvSpPr>
        <p:spPr>
          <a:xfrm>
            <a:off x="557755" y="595858"/>
            <a:ext cx="11456120" cy="259335"/>
          </a:xfrm>
          <a:solidFill>
            <a:schemeClr val="bg1"/>
          </a:solidFill>
        </p:spPr>
        <p:txBody>
          <a:bodyPr/>
          <a:lstStyle/>
          <a:p>
            <a:pPr algn="just"/>
            <a:r>
              <a:rPr lang="en-US" sz="1200">
                <a:solidFill>
                  <a:schemeClr val="tx1">
                    <a:lumMod val="65000"/>
                    <a:lumOff val="35000"/>
                  </a:schemeClr>
                </a:solidFill>
                <a:latin typeface="Arial" panose="020B0604020202020204" pitchFamily="34" charset="0"/>
                <a:cs typeface="Arial" panose="020B0604020202020204" pitchFamily="34" charset="0"/>
              </a:rPr>
              <a:t>As per the provisions of the PPA, there will be reduction in project revenue realization in case of delay in RCOD </a:t>
            </a:r>
          </a:p>
        </p:txBody>
      </p:sp>
    </p:spTree>
    <p:extLst>
      <p:ext uri="{BB962C8B-B14F-4D97-AF65-F5344CB8AC3E}">
        <p14:creationId xmlns:p14="http://schemas.microsoft.com/office/powerpoint/2010/main" val="4162463517"/>
      </p:ext>
    </p:extLst>
  </p:cSld>
  <p:clrMapOvr>
    <a:masterClrMapping/>
  </p:clrMapOvr>
  <p:transition>
    <p:fade/>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4246221784"/>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GB" sz="1800" b="1">
                <a:latin typeface="Arial" panose="020B0604020202020204" pitchFamily="34" charset="0"/>
                <a:cs typeface="Arial" panose="020B0604020202020204" pitchFamily="34" charset="0"/>
              </a:rPr>
              <a:t>Planned, Proposed and Under - Construction Hydropower Projects Portfolio (As per NEA)</a:t>
            </a: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With 943 MW under-construction and 3.2 GW planned and proposed hydro projects, Nepal aims for higher power generation in upcoming years </a:t>
            </a:r>
          </a:p>
        </p:txBody>
      </p:sp>
      <p:sp>
        <p:nvSpPr>
          <p:cNvPr id="95" name="TextBox 94">
            <a:extLst>
              <a:ext uri="{FF2B5EF4-FFF2-40B4-BE49-F238E27FC236}">
                <a16:creationId xmlns:a16="http://schemas.microsoft.com/office/drawing/2014/main" id="{457390F5-8CC5-4543-6554-E0B8B8807669}"/>
              </a:ext>
            </a:extLst>
          </p:cNvPr>
          <p:cNvSpPr txBox="1"/>
          <p:nvPr/>
        </p:nvSpPr>
        <p:spPr>
          <a:xfrm>
            <a:off x="481559" y="1072024"/>
            <a:ext cx="11208792" cy="692497"/>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With a vision to meet growing country’s electricity demand and </a:t>
            </a:r>
            <a:r>
              <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emerge as a key player in cross-border electricity trade market</a:t>
            </a: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Nepal has taken necessary initiatives to </a:t>
            </a:r>
            <a:r>
              <a:rPr kumimoji="0" lang="en-US" sz="13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develop hydropower projects portfolio consisting of several planned, proposed and under-construction projects</a:t>
            </a:r>
            <a:r>
              <a:rPr kumimoji="0" lang="en-US" sz="1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Details are outlined below - </a:t>
            </a:r>
          </a:p>
        </p:txBody>
      </p:sp>
      <p:graphicFrame>
        <p:nvGraphicFramePr>
          <p:cNvPr id="98" name="Table 97">
            <a:extLst>
              <a:ext uri="{FF2B5EF4-FFF2-40B4-BE49-F238E27FC236}">
                <a16:creationId xmlns:a16="http://schemas.microsoft.com/office/drawing/2014/main" id="{89F30E89-F6BA-58E1-55D1-B6DA92F9E5CB}"/>
              </a:ext>
            </a:extLst>
          </p:cNvPr>
          <p:cNvGraphicFramePr>
            <a:graphicFrameLocks noGrp="1"/>
          </p:cNvGraphicFramePr>
          <p:nvPr>
            <p:extLst>
              <p:ext uri="{D42A27DB-BD31-4B8C-83A1-F6EECF244321}">
                <p14:modId xmlns:p14="http://schemas.microsoft.com/office/powerpoint/2010/main" val="1510062545"/>
              </p:ext>
            </p:extLst>
          </p:nvPr>
        </p:nvGraphicFramePr>
        <p:xfrm>
          <a:off x="514884" y="1925495"/>
          <a:ext cx="5462583" cy="4226886"/>
        </p:xfrm>
        <a:graphic>
          <a:graphicData uri="http://schemas.openxmlformats.org/drawingml/2006/table">
            <a:tbl>
              <a:tblPr firstRow="1" bandRow="1">
                <a:tableStyleId>{5C22544A-7EE6-4342-B048-85BDC9FD1C3A}</a:tableStyleId>
              </a:tblPr>
              <a:tblGrid>
                <a:gridCol w="781018">
                  <a:extLst>
                    <a:ext uri="{9D8B030D-6E8A-4147-A177-3AD203B41FA5}">
                      <a16:colId xmlns:a16="http://schemas.microsoft.com/office/drawing/2014/main" val="2244066509"/>
                    </a:ext>
                  </a:extLst>
                </a:gridCol>
                <a:gridCol w="3042107">
                  <a:extLst>
                    <a:ext uri="{9D8B030D-6E8A-4147-A177-3AD203B41FA5}">
                      <a16:colId xmlns:a16="http://schemas.microsoft.com/office/drawing/2014/main" val="1601999352"/>
                    </a:ext>
                  </a:extLst>
                </a:gridCol>
                <a:gridCol w="1639458">
                  <a:extLst>
                    <a:ext uri="{9D8B030D-6E8A-4147-A177-3AD203B41FA5}">
                      <a16:colId xmlns:a16="http://schemas.microsoft.com/office/drawing/2014/main" val="3409506918"/>
                    </a:ext>
                  </a:extLst>
                </a:gridCol>
              </a:tblGrid>
              <a:tr h="356636">
                <a:tc gridSpan="3">
                  <a:txBody>
                    <a:bodyPr/>
                    <a:lstStyle/>
                    <a:p>
                      <a:r>
                        <a:rPr lang="en-US" sz="1200" b="0">
                          <a:latin typeface="Arial" panose="020B0604020202020204" pitchFamily="34" charset="0"/>
                          <a:cs typeface="Arial" panose="020B0604020202020204" pitchFamily="34" charset="0"/>
                        </a:rPr>
                        <a:t>Under Construction Hydro Projects (NEA Annual Reports) </a:t>
                      </a:r>
                    </a:p>
                  </a:txBody>
                  <a:tcPr anchor="ctr">
                    <a:lnL w="12700" cmpd="sng">
                      <a:noFill/>
                    </a:lnL>
                    <a:lnR w="12700" cmpd="sng">
                      <a:noFill/>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5"/>
                    </a:solidFill>
                  </a:tcPr>
                </a:tc>
                <a:tc hMerge="1">
                  <a:txBody>
                    <a:bodyPr/>
                    <a:lstStyle/>
                    <a:p>
                      <a:endParaRPr lang="en-US" sz="1100"/>
                    </a:p>
                  </a:txBody>
                  <a:tcPr anchor="ctr">
                    <a:lnL w="6350" cap="flat" cmpd="sng" algn="ctr">
                      <a:noFill/>
                      <a:prstDash val="solid"/>
                      <a:round/>
                      <a:headEnd type="none" w="med" len="med"/>
                      <a:tailEnd type="none" w="med" len="med"/>
                    </a:lnL>
                    <a:lnR w="12700" cmpd="sng">
                      <a:noFill/>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48815019"/>
                  </a:ext>
                </a:extLst>
              </a:tr>
              <a:tr h="387025">
                <a:tc>
                  <a:txBody>
                    <a:bodyPr/>
                    <a:lstStyle/>
                    <a:p>
                      <a:pPr marL="0" indent="0" algn="ctr">
                        <a:buFont typeface="Arial" panose="020B0604020202020204" pitchFamily="34" charset="0"/>
                        <a:buNone/>
                      </a:pPr>
                      <a:r>
                        <a:rPr lang="en-US" sz="1200" b="1">
                          <a:latin typeface="Arial" panose="020B0604020202020204" pitchFamily="34" charset="0"/>
                          <a:cs typeface="Arial" panose="020B0604020202020204" pitchFamily="34" charset="0"/>
                        </a:rPr>
                        <a:t>Sl. No</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just">
                        <a:buFont typeface="Arial" panose="020B0604020202020204" pitchFamily="34" charset="0"/>
                        <a:buNone/>
                      </a:pPr>
                      <a:r>
                        <a:rPr lang="en-US" sz="1200" b="1">
                          <a:latin typeface="Arial" panose="020B0604020202020204" pitchFamily="34" charset="0"/>
                          <a:cs typeface="Arial" panose="020B0604020202020204" pitchFamily="34" charset="0"/>
                        </a:rPr>
                        <a:t>Project Name</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ctr">
                        <a:buFont typeface="Arial" panose="020B0604020202020204" pitchFamily="34" charset="0"/>
                        <a:buNone/>
                      </a:pPr>
                      <a:r>
                        <a:rPr lang="en-US" sz="1200" b="1">
                          <a:latin typeface="Arial" panose="020B0604020202020204" pitchFamily="34" charset="0"/>
                          <a:cs typeface="Arial" panose="020B0604020202020204" pitchFamily="34" charset="0"/>
                        </a:rPr>
                        <a:t>Capacity (MW)</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633729930"/>
                  </a:ext>
                </a:extLst>
              </a:tr>
              <a:tr h="387025">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1</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Upper Tamakoshi Hydropower Project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456</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2228925538"/>
                  </a:ext>
                </a:extLst>
              </a:tr>
              <a:tr h="387025">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2</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Tanahu Hydropower Project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140</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3446856378"/>
                  </a:ext>
                </a:extLst>
              </a:tr>
              <a:tr h="387025">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3</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Rahuganga HEP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40</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075006"/>
                  </a:ext>
                </a:extLst>
              </a:tr>
              <a:tr h="387025">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4</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Upper Sanjen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14.6</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974798201"/>
                  </a:ext>
                </a:extLst>
              </a:tr>
              <a:tr h="387025">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5</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Sanjen</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42.5</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2518930572"/>
                  </a:ext>
                </a:extLst>
              </a:tr>
              <a:tr h="387025">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6</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Rasuwagadi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111</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3966604142"/>
                  </a:ext>
                </a:extLst>
              </a:tr>
              <a:tr h="387025">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7</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Madhya Bhotekoshi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102</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3883107272"/>
                  </a:ext>
                </a:extLst>
              </a:tr>
              <a:tr h="387025">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8</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Upper Trishuli 3B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37</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287431589"/>
                  </a:ext>
                </a:extLst>
              </a:tr>
              <a:tr h="387025">
                <a:tc gridSpan="2">
                  <a:txBody>
                    <a:bodyPr/>
                    <a:lstStyle/>
                    <a:p>
                      <a:pPr marL="0" indent="0" algn="l">
                        <a:buFont typeface="Arial" panose="020B0604020202020204" pitchFamily="34" charset="0"/>
                        <a:buNone/>
                      </a:pPr>
                      <a:r>
                        <a:rPr lang="en-US" sz="1200" b="1">
                          <a:latin typeface="Arial" panose="020B0604020202020204" pitchFamily="34" charset="0"/>
                          <a:cs typeface="Arial" panose="020B0604020202020204" pitchFamily="34" charset="0"/>
                        </a:rPr>
                        <a:t>Total </a:t>
                      </a:r>
                    </a:p>
                  </a:txBody>
                  <a:tcPr anchor="ctr">
                    <a:lnL w="12700" cmpd="sng">
                      <a:noFill/>
                    </a:lnL>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5">
                        <a:lumMod val="20000"/>
                        <a:lumOff val="80000"/>
                      </a:schemeClr>
                    </a:solidFill>
                  </a:tcPr>
                </a:tc>
                <a:tc hMerge="1">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DDEFE8"/>
                    </a:solidFill>
                  </a:tcPr>
                </a:tc>
                <a:tc>
                  <a:txBody>
                    <a:bodyPr/>
                    <a:lstStyle/>
                    <a:p>
                      <a:pPr marL="0" indent="0" algn="ctr">
                        <a:buFont typeface="Arial" panose="020B0604020202020204" pitchFamily="34" charset="0"/>
                        <a:buNone/>
                      </a:pPr>
                      <a:r>
                        <a:rPr lang="en-US" sz="1200" b="1">
                          <a:latin typeface="Arial" panose="020B0604020202020204" pitchFamily="34" charset="0"/>
                          <a:cs typeface="Arial" panose="020B0604020202020204" pitchFamily="34" charset="0"/>
                        </a:rPr>
                        <a:t>943.1</a:t>
                      </a:r>
                    </a:p>
                  </a:txBody>
                  <a:tcPr anchor="ctr">
                    <a:lnR w="12700" cmpd="sng">
                      <a:noFill/>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2509285355"/>
                  </a:ext>
                </a:extLst>
              </a:tr>
            </a:tbl>
          </a:graphicData>
        </a:graphic>
      </p:graphicFrame>
      <p:graphicFrame>
        <p:nvGraphicFramePr>
          <p:cNvPr id="107" name="Table 106">
            <a:extLst>
              <a:ext uri="{FF2B5EF4-FFF2-40B4-BE49-F238E27FC236}">
                <a16:creationId xmlns:a16="http://schemas.microsoft.com/office/drawing/2014/main" id="{F49E32DE-48A1-D8DD-FF8D-AF53501AA593}"/>
              </a:ext>
            </a:extLst>
          </p:cNvPr>
          <p:cNvGraphicFramePr>
            <a:graphicFrameLocks noGrp="1"/>
          </p:cNvGraphicFramePr>
          <p:nvPr>
            <p:extLst>
              <p:ext uri="{D42A27DB-BD31-4B8C-83A1-F6EECF244321}">
                <p14:modId xmlns:p14="http://schemas.microsoft.com/office/powerpoint/2010/main" val="482837094"/>
              </p:ext>
            </p:extLst>
          </p:nvPr>
        </p:nvGraphicFramePr>
        <p:xfrm>
          <a:off x="6062673" y="1925495"/>
          <a:ext cx="5614443" cy="4226892"/>
        </p:xfrm>
        <a:graphic>
          <a:graphicData uri="http://schemas.openxmlformats.org/drawingml/2006/table">
            <a:tbl>
              <a:tblPr firstRow="1" bandRow="1">
                <a:tableStyleId>{5C22544A-7EE6-4342-B048-85BDC9FD1C3A}</a:tableStyleId>
              </a:tblPr>
              <a:tblGrid>
                <a:gridCol w="802730">
                  <a:extLst>
                    <a:ext uri="{9D8B030D-6E8A-4147-A177-3AD203B41FA5}">
                      <a16:colId xmlns:a16="http://schemas.microsoft.com/office/drawing/2014/main" val="2244066509"/>
                    </a:ext>
                  </a:extLst>
                </a:gridCol>
                <a:gridCol w="3126678">
                  <a:extLst>
                    <a:ext uri="{9D8B030D-6E8A-4147-A177-3AD203B41FA5}">
                      <a16:colId xmlns:a16="http://schemas.microsoft.com/office/drawing/2014/main" val="1601999352"/>
                    </a:ext>
                  </a:extLst>
                </a:gridCol>
                <a:gridCol w="1685035">
                  <a:extLst>
                    <a:ext uri="{9D8B030D-6E8A-4147-A177-3AD203B41FA5}">
                      <a16:colId xmlns:a16="http://schemas.microsoft.com/office/drawing/2014/main" val="3409506918"/>
                    </a:ext>
                  </a:extLst>
                </a:gridCol>
              </a:tblGrid>
              <a:tr h="352241">
                <a:tc gridSpan="3">
                  <a:txBody>
                    <a:bodyPr/>
                    <a:lstStyle/>
                    <a:p>
                      <a:r>
                        <a:rPr lang="en-US" sz="1200" b="0">
                          <a:latin typeface="Arial" panose="020B0604020202020204" pitchFamily="34" charset="0"/>
                          <a:cs typeface="Arial" panose="020B0604020202020204" pitchFamily="34" charset="0"/>
                        </a:rPr>
                        <a:t>Planned &amp; Proposed Hydro Projects (NEA Annual Reports) </a:t>
                      </a:r>
                    </a:p>
                  </a:txBody>
                  <a:tcPr anchor="ctr">
                    <a:lnL w="12700" cmpd="sng">
                      <a:noFill/>
                    </a:lnL>
                    <a:lnR w="12700" cmpd="sng">
                      <a:noFill/>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50000"/>
                      </a:schemeClr>
                    </a:solidFill>
                  </a:tcPr>
                </a:tc>
                <a:tc hMerge="1">
                  <a:txBody>
                    <a:bodyPr/>
                    <a:lstStyle/>
                    <a:p>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5"/>
                    </a:solidFill>
                  </a:tcPr>
                </a:tc>
                <a:tc hMerge="1">
                  <a:txBody>
                    <a:bodyPr/>
                    <a:lstStyle/>
                    <a:p>
                      <a:endParaRPr lang="en-US" sz="1100"/>
                    </a:p>
                  </a:txBody>
                  <a:tcPr anchor="ctr">
                    <a:lnL w="6350" cap="flat" cmpd="sng" algn="ctr">
                      <a:noFill/>
                      <a:prstDash val="solid"/>
                      <a:round/>
                      <a:headEnd type="none" w="med" len="med"/>
                      <a:tailEnd type="none" w="med" len="med"/>
                    </a:lnL>
                    <a:lnR w="12700" cmpd="sng">
                      <a:noFill/>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48815019"/>
                  </a:ext>
                </a:extLst>
              </a:tr>
              <a:tr h="352241">
                <a:tc>
                  <a:txBody>
                    <a:bodyPr/>
                    <a:lstStyle/>
                    <a:p>
                      <a:pPr marL="0" indent="0" algn="ctr">
                        <a:buFont typeface="Arial" panose="020B0604020202020204" pitchFamily="34" charset="0"/>
                        <a:buNone/>
                      </a:pPr>
                      <a:r>
                        <a:rPr lang="en-US" sz="1200" b="1">
                          <a:latin typeface="Arial" panose="020B0604020202020204" pitchFamily="34" charset="0"/>
                          <a:cs typeface="Arial" panose="020B0604020202020204" pitchFamily="34" charset="0"/>
                        </a:rPr>
                        <a:t>Sl. No</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just">
                        <a:buFont typeface="Arial" panose="020B0604020202020204" pitchFamily="34" charset="0"/>
                        <a:buNone/>
                      </a:pPr>
                      <a:r>
                        <a:rPr lang="en-US" sz="1200" b="1">
                          <a:latin typeface="Arial" panose="020B0604020202020204" pitchFamily="34" charset="0"/>
                          <a:cs typeface="Arial" panose="020B0604020202020204" pitchFamily="34" charset="0"/>
                        </a:rPr>
                        <a:t>Project Name</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buFont typeface="Arial" panose="020B0604020202020204" pitchFamily="34" charset="0"/>
                        <a:buNone/>
                      </a:pPr>
                      <a:r>
                        <a:rPr lang="en-US" sz="1200" b="1">
                          <a:latin typeface="Arial" panose="020B0604020202020204" pitchFamily="34" charset="0"/>
                          <a:cs typeface="Arial" panose="020B0604020202020204" pitchFamily="34" charset="0"/>
                        </a:rPr>
                        <a:t>Capacity (MW)</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33729930"/>
                  </a:ext>
                </a:extLst>
              </a:tr>
              <a:tr h="352241">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1</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Upper Arun HEP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1,061</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28925538"/>
                  </a:ext>
                </a:extLst>
              </a:tr>
              <a:tr h="352241">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2</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Upper Modi A HEP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42</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46856378"/>
                  </a:ext>
                </a:extLst>
              </a:tr>
              <a:tr h="352241">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3</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Upper Modi HEP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18.2</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75006"/>
                  </a:ext>
                </a:extLst>
              </a:tr>
              <a:tr h="352241">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4</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Dudhkoshi Storage HEP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635</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74798201"/>
                  </a:ext>
                </a:extLst>
              </a:tr>
              <a:tr h="352241">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5</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Uttar Ganga Storage HEP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828</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8930572"/>
                  </a:ext>
                </a:extLst>
              </a:tr>
              <a:tr h="352241">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6</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Tamakoshi V HEP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95</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66604142"/>
                  </a:ext>
                </a:extLst>
              </a:tr>
              <a:tr h="352241">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7</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Aadhikhola Storage HEP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180</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83107272"/>
                  </a:ext>
                </a:extLst>
              </a:tr>
              <a:tr h="352241">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8</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just">
                        <a:buFont typeface="Arial" panose="020B0604020202020204" pitchFamily="34" charset="0"/>
                        <a:buNone/>
                      </a:pPr>
                      <a:r>
                        <a:rPr lang="en-US" sz="1200">
                          <a:latin typeface="Arial" panose="020B0604020202020204" pitchFamily="34" charset="0"/>
                          <a:cs typeface="Arial" panose="020B0604020202020204" pitchFamily="34" charset="0"/>
                        </a:rPr>
                        <a:t>Chainpur Seti HEP </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210</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7431589"/>
                  </a:ext>
                </a:extLst>
              </a:tr>
              <a:tr h="352241">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9</a:t>
                      </a:r>
                    </a:p>
                  </a:txBody>
                  <a:tcPr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just">
                        <a:buFont typeface="Arial" panose="020B0604020202020204" pitchFamily="34" charset="0"/>
                        <a:buNone/>
                      </a:pPr>
                      <a:r>
                        <a:rPr lang="sv-SE" sz="1200">
                          <a:latin typeface="Arial" panose="020B0604020202020204" pitchFamily="34" charset="0"/>
                          <a:cs typeface="Arial" panose="020B0604020202020204" pitchFamily="34" charset="0"/>
                        </a:rPr>
                        <a:t>Begnas Rupa Pump Storage HEP </a:t>
                      </a:r>
                      <a:endParaRPr lang="en-US" sz="1200">
                        <a:latin typeface="Arial" panose="020B0604020202020204" pitchFamily="34" charset="0"/>
                        <a:cs typeface="Arial" panose="020B0604020202020204" pitchFamily="34" charset="0"/>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buFont typeface="Arial" panose="020B0604020202020204" pitchFamily="34" charset="0"/>
                        <a:buNone/>
                      </a:pPr>
                      <a:r>
                        <a:rPr lang="en-US" sz="1200">
                          <a:latin typeface="Arial" panose="020B0604020202020204" pitchFamily="34" charset="0"/>
                          <a:cs typeface="Arial" panose="020B0604020202020204" pitchFamily="34" charset="0"/>
                        </a:rPr>
                        <a:t>150</a:t>
                      </a:r>
                    </a:p>
                  </a:txBody>
                  <a:tcPr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18497255"/>
                  </a:ext>
                </a:extLst>
              </a:tr>
              <a:tr h="352241">
                <a:tc gridSpan="2">
                  <a:txBody>
                    <a:bodyPr/>
                    <a:lstStyle/>
                    <a:p>
                      <a:pPr marL="0" indent="0" algn="l">
                        <a:buFont typeface="Arial" panose="020B0604020202020204" pitchFamily="34" charset="0"/>
                        <a:buNone/>
                      </a:pPr>
                      <a:r>
                        <a:rPr lang="en-US" sz="1200" b="1">
                          <a:latin typeface="Arial" panose="020B0604020202020204" pitchFamily="34" charset="0"/>
                          <a:cs typeface="Arial" panose="020B0604020202020204" pitchFamily="34" charset="0"/>
                        </a:rPr>
                        <a:t>Total </a:t>
                      </a:r>
                    </a:p>
                  </a:txBody>
                  <a:tcPr anchor="ctr">
                    <a:lnL w="12700" cmpd="sng">
                      <a:noFill/>
                    </a:lnL>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hMerge="1">
                  <a:txBody>
                    <a:bodyPr/>
                    <a:lstStyle/>
                    <a:p>
                      <a:pPr marL="0" indent="0" algn="just">
                        <a:buFont typeface="Arial" panose="020B0604020202020204" pitchFamily="34" charset="0"/>
                        <a:buNone/>
                      </a:pPr>
                      <a:endParaRPr lang="en-US" sz="1200">
                        <a:latin typeface="Arial" panose="020B0604020202020204" pitchFamily="34" charset="0"/>
                        <a:cs typeface="Arial" panose="020B0604020202020204" pitchFamily="34" charset="0"/>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DDEFE8"/>
                    </a:solidFill>
                  </a:tcPr>
                </a:tc>
                <a:tc>
                  <a:txBody>
                    <a:bodyPr/>
                    <a:lstStyle/>
                    <a:p>
                      <a:pPr marL="0" indent="0" algn="ctr">
                        <a:buFont typeface="Arial" panose="020B0604020202020204" pitchFamily="34" charset="0"/>
                        <a:buNone/>
                      </a:pPr>
                      <a:r>
                        <a:rPr lang="en-US" sz="1200" b="1">
                          <a:latin typeface="Arial" panose="020B0604020202020204" pitchFamily="34" charset="0"/>
                          <a:cs typeface="Arial" panose="020B0604020202020204" pitchFamily="34" charset="0"/>
                        </a:rPr>
                        <a:t>3,219.2</a:t>
                      </a:r>
                    </a:p>
                  </a:txBody>
                  <a:tcPr anchor="ctr">
                    <a:lnR w="12700" cmpd="sng">
                      <a:noFill/>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09285355"/>
                  </a:ext>
                </a:extLst>
              </a:tr>
            </a:tbl>
          </a:graphicData>
        </a:graphic>
      </p:graphicFrame>
      <p:sp>
        <p:nvSpPr>
          <p:cNvPr id="110" name="TextBox 109">
            <a:extLst>
              <a:ext uri="{FF2B5EF4-FFF2-40B4-BE49-F238E27FC236}">
                <a16:creationId xmlns:a16="http://schemas.microsoft.com/office/drawing/2014/main" id="{46A781B7-6F1E-1816-CA78-4C5E251AD513}"/>
              </a:ext>
            </a:extLst>
          </p:cNvPr>
          <p:cNvSpPr txBox="1"/>
          <p:nvPr/>
        </p:nvSpPr>
        <p:spPr>
          <a:xfrm>
            <a:off x="447675" y="6596933"/>
            <a:ext cx="609600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6"/>
              </a:rPr>
              <a:t>NEA Annual Report</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48009715"/>
      </p:ext>
    </p:extLst>
  </p:cSld>
  <p:clrMapOvr>
    <a:masterClrMapping/>
  </p:clrMapOvr>
  <p:transition>
    <p:fade/>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Royalty Provisions </a:t>
            </a:r>
            <a:endParaRPr lang="en-GB" sz="1800" b="1">
              <a:latin typeface="Arial" panose="020B0604020202020204" pitchFamily="34" charset="0"/>
              <a:cs typeface="Arial" panose="020B0604020202020204" pitchFamily="34" charset="0"/>
            </a:endParaRPr>
          </a:p>
        </p:txBody>
      </p:sp>
      <p:cxnSp>
        <p:nvCxnSpPr>
          <p:cNvPr id="37" name="Straight Connector 36">
            <a:extLst>
              <a:ext uri="{FF2B5EF4-FFF2-40B4-BE49-F238E27FC236}">
                <a16:creationId xmlns:a16="http://schemas.microsoft.com/office/drawing/2014/main" id="{F7FD1676-159A-0046-C3FB-1031F7F70472}"/>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Text Placeholder 1">
            <a:extLst>
              <a:ext uri="{FF2B5EF4-FFF2-40B4-BE49-F238E27FC236}">
                <a16:creationId xmlns:a16="http://schemas.microsoft.com/office/drawing/2014/main" id="{75D3F42A-E04F-BF20-6E0D-394A113240E8}"/>
              </a:ext>
            </a:extLst>
          </p:cNvPr>
          <p:cNvSpPr txBox="1">
            <a:spLocks/>
          </p:cNvSpPr>
          <p:nvPr/>
        </p:nvSpPr>
        <p:spPr>
          <a:xfrm>
            <a:off x="514884" y="651708"/>
            <a:ext cx="11456120" cy="259335"/>
          </a:xfrm>
          <a:prstGeom prst="rect">
            <a:avLst/>
          </a:prstGeom>
          <a:solidFill>
            <a:schemeClr val="bg1"/>
          </a:solidFill>
        </p:spPr>
        <p:txBody>
          <a:bodyPr vert="horz" lIns="0" tIns="0" rIns="0" bIns="0" rtlCol="0">
            <a:noAutofit/>
          </a:bodyPr>
          <a:lstStyle>
            <a:lvl1pPr marL="0" indent="0" algn="l" defTabSz="914335" rtl="0" eaLnBrk="1" latinLnBrk="0" hangingPunct="1">
              <a:spcBef>
                <a:spcPts val="0"/>
              </a:spcBef>
              <a:spcAft>
                <a:spcPts val="1000"/>
              </a:spcAft>
              <a:buSzPct val="100000"/>
              <a:buFontTx/>
              <a:buNone/>
              <a:defRPr sz="1800" b="0" kern="1200">
                <a:solidFill>
                  <a:srgbClr val="575757"/>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Royalty provisions are governed by Hydropower Development Policy, 2058 (2001)</a:t>
            </a:r>
          </a:p>
        </p:txBody>
      </p:sp>
      <p:sp>
        <p:nvSpPr>
          <p:cNvPr id="2" name="Rectangle: Rounded Corners 1">
            <a:extLst>
              <a:ext uri="{FF2B5EF4-FFF2-40B4-BE49-F238E27FC236}">
                <a16:creationId xmlns:a16="http://schemas.microsoft.com/office/drawing/2014/main" id="{562E359D-4847-6FC5-29D1-A28935E2142E}"/>
              </a:ext>
            </a:extLst>
          </p:cNvPr>
          <p:cNvSpPr/>
          <p:nvPr/>
        </p:nvSpPr>
        <p:spPr bwMode="gray">
          <a:xfrm>
            <a:off x="514886" y="1365797"/>
            <a:ext cx="1771116" cy="1653219"/>
          </a:xfrm>
          <a:prstGeom prst="roundRect">
            <a:avLst>
              <a:gd name="adj" fmla="val 0"/>
            </a:avLst>
          </a:prstGeom>
          <a:solidFill>
            <a:schemeClr val="accent1">
              <a:lumMod val="20000"/>
              <a:lumOff val="80000"/>
            </a:schemeClr>
          </a:solidFill>
          <a:ln w="12700">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just">
              <a:lnSpc>
                <a:spcPct val="106000"/>
              </a:lnSpc>
              <a:buFont typeface="Wingdings 2" pitchFamily="18" charset="2"/>
              <a:buNone/>
            </a:pPr>
            <a:r>
              <a:rPr lang="en-US" sz="1200" b="1">
                <a:solidFill>
                  <a:schemeClr val="tx1"/>
                </a:solidFill>
                <a:latin typeface="Arial" panose="020B0604020202020204" pitchFamily="34" charset="0"/>
                <a:cs typeface="Arial" panose="020B0604020202020204" pitchFamily="34" charset="0"/>
              </a:rPr>
              <a:t>Generation License  issued by </a:t>
            </a:r>
            <a:r>
              <a:rPr lang="en-US" sz="1200" b="1" err="1">
                <a:solidFill>
                  <a:schemeClr val="tx1"/>
                </a:solidFill>
                <a:latin typeface="Arial" panose="020B0604020202020204" pitchFamily="34" charset="0"/>
                <a:cs typeface="Arial" panose="020B0604020202020204" pitchFamily="34" charset="0"/>
              </a:rPr>
              <a:t>DoED</a:t>
            </a:r>
            <a:r>
              <a:rPr lang="en-US" sz="1200" b="1">
                <a:solidFill>
                  <a:schemeClr val="tx1"/>
                </a:solidFill>
                <a:latin typeface="Arial" panose="020B0604020202020204" pitchFamily="34" charset="0"/>
                <a:cs typeface="Arial" panose="020B0604020202020204" pitchFamily="34" charset="0"/>
              </a:rPr>
              <a:t> for  STPP Project  – May 2019</a:t>
            </a:r>
          </a:p>
        </p:txBody>
      </p:sp>
      <p:sp>
        <p:nvSpPr>
          <p:cNvPr id="3" name="Rectangle: Rounded Corners 2">
            <a:extLst>
              <a:ext uri="{FF2B5EF4-FFF2-40B4-BE49-F238E27FC236}">
                <a16:creationId xmlns:a16="http://schemas.microsoft.com/office/drawing/2014/main" id="{D4E62FD7-692D-1BAF-090D-BE06A193187C}"/>
              </a:ext>
            </a:extLst>
          </p:cNvPr>
          <p:cNvSpPr/>
          <p:nvPr/>
        </p:nvSpPr>
        <p:spPr bwMode="gray">
          <a:xfrm>
            <a:off x="2447926" y="1365797"/>
            <a:ext cx="9262517" cy="1653217"/>
          </a:xfrm>
          <a:prstGeom prst="roundRect">
            <a:avLst>
              <a:gd name="adj" fmla="val 0"/>
            </a:avLst>
          </a:prstGeom>
          <a:ln w="12700">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just">
              <a:lnSpc>
                <a:spcPct val="106000"/>
              </a:lnSpc>
              <a:buFont typeface="Wingdings 2" pitchFamily="18" charset="2"/>
              <a:buNone/>
            </a:pPr>
            <a:endParaRPr lang="en-US" sz="1200">
              <a:solidFill>
                <a:schemeClr val="tx1"/>
              </a:solidFill>
              <a:latin typeface="Arial" panose="020B0604020202020204" pitchFamily="34" charset="0"/>
              <a:cs typeface="Arial" panose="020B0604020202020204" pitchFamily="34" charset="0"/>
            </a:endParaRPr>
          </a:p>
          <a:p>
            <a:pPr algn="just">
              <a:lnSpc>
                <a:spcPct val="106000"/>
              </a:lnSpc>
              <a:buFont typeface="Wingdings 2" pitchFamily="18" charset="2"/>
              <a:buNone/>
            </a:pPr>
            <a:r>
              <a:rPr lang="en-US" sz="1200">
                <a:solidFill>
                  <a:schemeClr val="tx1"/>
                </a:solidFill>
                <a:latin typeface="Arial" panose="020B0604020202020204" pitchFamily="34" charset="0"/>
                <a:cs typeface="Arial" panose="020B0604020202020204" pitchFamily="34" charset="0"/>
              </a:rPr>
              <a:t>Royalty is </a:t>
            </a:r>
            <a:r>
              <a:rPr lang="en-US" sz="1200" b="1">
                <a:solidFill>
                  <a:schemeClr val="tx1"/>
                </a:solidFill>
                <a:latin typeface="Arial" panose="020B0604020202020204" pitchFamily="34" charset="0"/>
                <a:cs typeface="Arial" panose="020B0604020202020204" pitchFamily="34" charset="0"/>
              </a:rPr>
              <a:t>levied on the installed capacity </a:t>
            </a:r>
            <a:r>
              <a:rPr lang="en-US" sz="1200">
                <a:solidFill>
                  <a:schemeClr val="tx1"/>
                </a:solidFill>
                <a:latin typeface="Arial" panose="020B0604020202020204" pitchFamily="34" charset="0"/>
                <a:cs typeface="Arial" panose="020B0604020202020204" pitchFamily="34" charset="0"/>
              </a:rPr>
              <a:t>Since the installed capacity of the project is 100 M.W., royalty for entire capacity shall be submitted.</a:t>
            </a:r>
          </a:p>
          <a:p>
            <a:pPr algn="l"/>
            <a:endParaRPr lang="en-US" sz="1200" b="1">
              <a:solidFill>
                <a:schemeClr val="tx1"/>
              </a:solidFill>
              <a:latin typeface="Arial" panose="020B0604020202020204" pitchFamily="34" charset="0"/>
              <a:cs typeface="Arial" panose="020B0604020202020204" pitchFamily="34" charset="0"/>
            </a:endParaRPr>
          </a:p>
          <a:p>
            <a:pPr algn="l"/>
            <a:r>
              <a:rPr lang="en-US" sz="1200" b="1">
                <a:solidFill>
                  <a:schemeClr val="tx1"/>
                </a:solidFill>
                <a:latin typeface="Arial" panose="020B0604020202020204" pitchFamily="34" charset="0"/>
                <a:cs typeface="Arial" panose="020B0604020202020204" pitchFamily="34" charset="0"/>
              </a:rPr>
              <a:t>For installed Kilowatt: </a:t>
            </a:r>
            <a:r>
              <a:rPr lang="en-US" sz="1200">
                <a:solidFill>
                  <a:schemeClr val="tx1"/>
                </a:solidFill>
                <a:latin typeface="Arial" panose="020B0604020202020204" pitchFamily="34" charset="0"/>
                <a:cs typeface="Arial" panose="020B0604020202020204" pitchFamily="34" charset="0"/>
              </a:rPr>
              <a:t>For the first time, within 15 (fifteen) days from the date on which the first turbine generator until comes into commercial operation, thereafter every year at the same time.</a:t>
            </a:r>
          </a:p>
          <a:p>
            <a:pPr algn="l"/>
            <a:endParaRPr lang="en-US" sz="1200">
              <a:solidFill>
                <a:schemeClr val="tx1"/>
              </a:solidFill>
              <a:latin typeface="Arial" panose="020B0604020202020204" pitchFamily="34" charset="0"/>
              <a:cs typeface="Arial" panose="020B0604020202020204" pitchFamily="34" charset="0"/>
            </a:endParaRPr>
          </a:p>
          <a:p>
            <a:pPr algn="l"/>
            <a:r>
              <a:rPr lang="en-US" sz="1200" b="1">
                <a:solidFill>
                  <a:schemeClr val="tx1"/>
                </a:solidFill>
                <a:latin typeface="Arial" panose="020B0604020202020204" pitchFamily="34" charset="0"/>
                <a:cs typeface="Arial" panose="020B0604020202020204" pitchFamily="34" charset="0"/>
              </a:rPr>
              <a:t>For energy: </a:t>
            </a:r>
            <a:r>
              <a:rPr lang="en-US" sz="1200">
                <a:solidFill>
                  <a:schemeClr val="tx1"/>
                </a:solidFill>
                <a:latin typeface="Arial" panose="020B0604020202020204" pitchFamily="34" charset="0"/>
                <a:cs typeface="Arial" panose="020B0604020202020204" pitchFamily="34" charset="0"/>
              </a:rPr>
              <a:t>For the first time, within 4 (four) months from the date on which the first turbine generator unit comes into commercial operation, thereafter in every 4/4 months.</a:t>
            </a:r>
          </a:p>
          <a:p>
            <a:pPr algn="just">
              <a:lnSpc>
                <a:spcPct val="106000"/>
              </a:lnSpc>
              <a:buFont typeface="Wingdings 2" pitchFamily="18" charset="2"/>
              <a:buNone/>
            </a:pPr>
            <a:endParaRPr lang="en-US" sz="1400" b="1">
              <a:solidFill>
                <a:schemeClr val="tx1"/>
              </a:solidFill>
              <a:latin typeface="Arial" panose="020B0604020202020204" pitchFamily="34" charset="0"/>
              <a:cs typeface="Arial" panose="020B0604020202020204" pitchFamily="34" charset="0"/>
            </a:endParaRPr>
          </a:p>
        </p:txBody>
      </p:sp>
      <p:sp>
        <p:nvSpPr>
          <p:cNvPr id="4" name="Rectangle: Rounded Corners 3">
            <a:extLst>
              <a:ext uri="{FF2B5EF4-FFF2-40B4-BE49-F238E27FC236}">
                <a16:creationId xmlns:a16="http://schemas.microsoft.com/office/drawing/2014/main" id="{76D9EC7B-C009-A6F8-25CC-8B2DE57CE497}"/>
              </a:ext>
            </a:extLst>
          </p:cNvPr>
          <p:cNvSpPr/>
          <p:nvPr/>
        </p:nvSpPr>
        <p:spPr bwMode="gray">
          <a:xfrm>
            <a:off x="514886" y="3169658"/>
            <a:ext cx="1771116" cy="3159889"/>
          </a:xfrm>
          <a:prstGeom prst="roundRect">
            <a:avLst>
              <a:gd name="adj" fmla="val 0"/>
            </a:avLst>
          </a:prstGeom>
          <a:solidFill>
            <a:schemeClr val="accent1">
              <a:lumMod val="20000"/>
              <a:lumOff val="80000"/>
            </a:schemeClr>
          </a:solidFill>
          <a:ln w="12700">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just">
              <a:lnSpc>
                <a:spcPct val="106000"/>
              </a:lnSpc>
              <a:buFont typeface="Wingdings 2" pitchFamily="18" charset="2"/>
              <a:buNone/>
            </a:pPr>
            <a:r>
              <a:rPr lang="en-US" sz="1200" b="1">
                <a:solidFill>
                  <a:schemeClr val="tx1"/>
                </a:solidFill>
                <a:latin typeface="Arial" panose="020B0604020202020204" pitchFamily="34" charset="0"/>
                <a:cs typeface="Arial" panose="020B0604020202020204" pitchFamily="34" charset="0"/>
              </a:rPr>
              <a:t>Royalty Provisions in Hydropower Development Policy, 2058 (2001) </a:t>
            </a:r>
          </a:p>
        </p:txBody>
      </p:sp>
      <p:sp>
        <p:nvSpPr>
          <p:cNvPr id="5" name="Rectangle: Rounded Corners 4">
            <a:extLst>
              <a:ext uri="{FF2B5EF4-FFF2-40B4-BE49-F238E27FC236}">
                <a16:creationId xmlns:a16="http://schemas.microsoft.com/office/drawing/2014/main" id="{D382702B-A4CC-47E3-B777-E0D3C0BFCD05}"/>
              </a:ext>
            </a:extLst>
          </p:cNvPr>
          <p:cNvSpPr/>
          <p:nvPr/>
        </p:nvSpPr>
        <p:spPr bwMode="gray">
          <a:xfrm>
            <a:off x="2447926" y="3169658"/>
            <a:ext cx="9262517" cy="3159889"/>
          </a:xfrm>
          <a:prstGeom prst="roundRect">
            <a:avLst>
              <a:gd name="adj" fmla="val 0"/>
            </a:avLst>
          </a:prstGeom>
          <a:ln w="12700">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just">
              <a:lnSpc>
                <a:spcPct val="106000"/>
              </a:lnSpc>
              <a:buFont typeface="Wingdings 2" pitchFamily="18" charset="2"/>
              <a:buNone/>
            </a:pPr>
            <a:r>
              <a:rPr lang="en-US" sz="1200">
                <a:solidFill>
                  <a:schemeClr val="tx1"/>
                </a:solidFill>
                <a:latin typeface="Arial" panose="020B0604020202020204" pitchFamily="34" charset="0"/>
                <a:cs typeface="Arial" panose="020B0604020202020204" pitchFamily="34" charset="0"/>
              </a:rPr>
              <a:t>A hydropower generator shall pay the royalty as follows to Government of Nepal after the commencement of electricity generation.</a:t>
            </a:r>
          </a:p>
          <a:p>
            <a:pPr algn="just">
              <a:lnSpc>
                <a:spcPct val="106000"/>
              </a:lnSpc>
              <a:buFont typeface="Wingdings 2" pitchFamily="18" charset="2"/>
              <a:buNone/>
            </a:pPr>
            <a:endParaRPr lang="en-US" sz="1200">
              <a:solidFill>
                <a:schemeClr val="tx1"/>
              </a:solidFill>
              <a:latin typeface="Arial" panose="020B0604020202020204" pitchFamily="34" charset="0"/>
              <a:cs typeface="Arial" panose="020B0604020202020204" pitchFamily="34" charset="0"/>
            </a:endParaRPr>
          </a:p>
          <a:p>
            <a:pPr algn="just">
              <a:lnSpc>
                <a:spcPct val="106000"/>
              </a:lnSpc>
              <a:buFont typeface="Wingdings 2" pitchFamily="18" charset="2"/>
              <a:buNone/>
            </a:pPr>
            <a:endParaRPr lang="en-US" sz="1200">
              <a:solidFill>
                <a:schemeClr val="tx1"/>
              </a:solidFill>
              <a:latin typeface="Arial" panose="020B0604020202020204" pitchFamily="34" charset="0"/>
              <a:cs typeface="Arial" panose="020B0604020202020204" pitchFamily="34" charset="0"/>
            </a:endParaRPr>
          </a:p>
          <a:p>
            <a:pPr algn="just">
              <a:lnSpc>
                <a:spcPct val="106000"/>
              </a:lnSpc>
              <a:buFont typeface="Wingdings 2" pitchFamily="18" charset="2"/>
              <a:buNone/>
            </a:pPr>
            <a:endParaRPr lang="en-US" sz="1200">
              <a:solidFill>
                <a:schemeClr val="tx1"/>
              </a:solidFill>
              <a:latin typeface="Arial" panose="020B0604020202020204" pitchFamily="34" charset="0"/>
              <a:cs typeface="Arial" panose="020B0604020202020204" pitchFamily="34" charset="0"/>
            </a:endParaRPr>
          </a:p>
          <a:p>
            <a:pPr algn="just">
              <a:lnSpc>
                <a:spcPct val="106000"/>
              </a:lnSpc>
              <a:buFont typeface="Wingdings 2" pitchFamily="18" charset="2"/>
              <a:buNone/>
            </a:pPr>
            <a:endParaRPr lang="en-US" sz="1200">
              <a:solidFill>
                <a:schemeClr val="tx1"/>
              </a:solidFill>
              <a:latin typeface="Arial" panose="020B0604020202020204" pitchFamily="34" charset="0"/>
              <a:cs typeface="Arial" panose="020B0604020202020204" pitchFamily="34" charset="0"/>
            </a:endParaRPr>
          </a:p>
          <a:p>
            <a:pPr algn="just">
              <a:lnSpc>
                <a:spcPct val="106000"/>
              </a:lnSpc>
              <a:buFont typeface="Wingdings 2" pitchFamily="18" charset="2"/>
              <a:buNone/>
            </a:pPr>
            <a:endParaRPr lang="en-US" sz="1200">
              <a:solidFill>
                <a:schemeClr val="tx1"/>
              </a:solidFill>
              <a:latin typeface="Arial" panose="020B0604020202020204" pitchFamily="34" charset="0"/>
              <a:cs typeface="Arial" panose="020B0604020202020204" pitchFamily="34" charset="0"/>
            </a:endParaRPr>
          </a:p>
          <a:p>
            <a:pPr algn="just">
              <a:lnSpc>
                <a:spcPct val="106000"/>
              </a:lnSpc>
              <a:buFont typeface="Wingdings 2" pitchFamily="18" charset="2"/>
              <a:buNone/>
            </a:pPr>
            <a:endParaRPr lang="en-US" sz="1200">
              <a:solidFill>
                <a:schemeClr val="tx1"/>
              </a:solidFill>
              <a:latin typeface="Arial" panose="020B0604020202020204" pitchFamily="34" charset="0"/>
              <a:cs typeface="Arial" panose="020B0604020202020204" pitchFamily="34" charset="0"/>
            </a:endParaRPr>
          </a:p>
          <a:p>
            <a:pPr algn="just">
              <a:lnSpc>
                <a:spcPct val="106000"/>
              </a:lnSpc>
              <a:buFont typeface="Wingdings 2" pitchFamily="18" charset="2"/>
              <a:buNone/>
            </a:pPr>
            <a:endParaRPr lang="en-US" sz="1200">
              <a:solidFill>
                <a:schemeClr val="tx1"/>
              </a:solidFill>
              <a:latin typeface="Arial" panose="020B0604020202020204" pitchFamily="34" charset="0"/>
              <a:cs typeface="Arial" panose="020B0604020202020204" pitchFamily="34" charset="0"/>
            </a:endParaRPr>
          </a:p>
          <a:p>
            <a:pPr algn="just">
              <a:lnSpc>
                <a:spcPct val="106000"/>
              </a:lnSpc>
              <a:buFont typeface="Wingdings 2" pitchFamily="18" charset="2"/>
              <a:buNone/>
            </a:pPr>
            <a:endParaRPr lang="en-US" sz="1200" b="1">
              <a:solidFill>
                <a:schemeClr val="tx1"/>
              </a:solidFill>
              <a:latin typeface="Arial" panose="020B0604020202020204" pitchFamily="34" charset="0"/>
              <a:cs typeface="Arial" panose="020B0604020202020204" pitchFamily="34" charset="0"/>
            </a:endParaRPr>
          </a:p>
          <a:p>
            <a:pPr algn="just">
              <a:lnSpc>
                <a:spcPct val="106000"/>
              </a:lnSpc>
              <a:buFont typeface="Wingdings 2" pitchFamily="18" charset="2"/>
              <a:buNone/>
            </a:pPr>
            <a:r>
              <a:rPr lang="en-US" sz="1200">
                <a:solidFill>
                  <a:schemeClr val="tx1"/>
                </a:solidFill>
                <a:latin typeface="Arial" panose="020B0604020202020204" pitchFamily="34" charset="0"/>
                <a:cs typeface="Arial" panose="020B0604020202020204" pitchFamily="34" charset="0"/>
              </a:rPr>
              <a:t>In the case of the hydropower projects which sell energy for internal consumption and exports the remaining energy, the energy fee equivalent to that chargeable for the export- oriented project shall be charged on the quantum of energy exported abroad.</a:t>
            </a:r>
          </a:p>
          <a:p>
            <a:pPr algn="just">
              <a:lnSpc>
                <a:spcPct val="106000"/>
              </a:lnSpc>
              <a:buFont typeface="Wingdings 2" pitchFamily="18" charset="2"/>
              <a:buNone/>
            </a:pPr>
            <a:endParaRPr lang="en-US" sz="1200" b="1">
              <a:solidFill>
                <a:schemeClr val="tx1"/>
              </a:solidFill>
              <a:latin typeface="Arial" panose="020B0604020202020204" pitchFamily="34" charset="0"/>
              <a:cs typeface="Arial" panose="020B0604020202020204" pitchFamily="34" charset="0"/>
            </a:endParaRPr>
          </a:p>
          <a:p>
            <a:pPr algn="just">
              <a:lnSpc>
                <a:spcPct val="106000"/>
              </a:lnSpc>
              <a:buFont typeface="Wingdings 2" pitchFamily="18" charset="2"/>
              <a:buNone/>
            </a:pPr>
            <a:r>
              <a:rPr lang="en-US" sz="1400" b="1">
                <a:solidFill>
                  <a:schemeClr val="tx1"/>
                </a:solidFill>
                <a:latin typeface="Arial" panose="020B0604020202020204" pitchFamily="34" charset="0"/>
                <a:cs typeface="Arial" panose="020B0604020202020204" pitchFamily="34" charset="0"/>
              </a:rPr>
              <a:t>Energy royalty = (Generated energy-Self consumption) X Average Selling Price X Energy Royalty Rate.</a:t>
            </a:r>
          </a:p>
          <a:p>
            <a:pPr algn="just">
              <a:lnSpc>
                <a:spcPct val="106000"/>
              </a:lnSpc>
              <a:buFont typeface="Wingdings 2" pitchFamily="18" charset="2"/>
              <a:buNone/>
            </a:pPr>
            <a:endParaRPr lang="en-US" sz="1400" b="1">
              <a:solidFill>
                <a:schemeClr val="tx1"/>
              </a:solidFill>
              <a:latin typeface="Arial" panose="020B0604020202020204" pitchFamily="34" charset="0"/>
              <a:cs typeface="Arial" panose="020B0604020202020204" pitchFamily="34" charset="0"/>
            </a:endParaRPr>
          </a:p>
          <a:p>
            <a:pPr algn="just">
              <a:lnSpc>
                <a:spcPct val="106000"/>
              </a:lnSpc>
              <a:buFont typeface="Wingdings 2" pitchFamily="18" charset="2"/>
              <a:buNone/>
            </a:pPr>
            <a:r>
              <a:rPr lang="en-US" sz="1400" b="1">
                <a:solidFill>
                  <a:schemeClr val="tx1"/>
                </a:solidFill>
                <a:latin typeface="Arial" panose="020B0604020202020204" pitchFamily="34" charset="0"/>
                <a:cs typeface="Arial" panose="020B0604020202020204" pitchFamily="34" charset="0"/>
              </a:rPr>
              <a:t>Capacity royalty = Capacity Royalty Rate X ( 1+5/100) year- 2058 X Installed capacity (kW)</a:t>
            </a:r>
          </a:p>
        </p:txBody>
      </p:sp>
      <p:graphicFrame>
        <p:nvGraphicFramePr>
          <p:cNvPr id="8" name="Table 7">
            <a:extLst>
              <a:ext uri="{FF2B5EF4-FFF2-40B4-BE49-F238E27FC236}">
                <a16:creationId xmlns:a16="http://schemas.microsoft.com/office/drawing/2014/main" id="{517CAA63-5E7B-D5F5-8E05-CAB5A5421183}"/>
              </a:ext>
            </a:extLst>
          </p:cNvPr>
          <p:cNvGraphicFramePr>
            <a:graphicFrameLocks noGrp="1"/>
          </p:cNvGraphicFramePr>
          <p:nvPr>
            <p:extLst>
              <p:ext uri="{D42A27DB-BD31-4B8C-83A1-F6EECF244321}">
                <p14:modId xmlns:p14="http://schemas.microsoft.com/office/powerpoint/2010/main" val="3363083009"/>
              </p:ext>
            </p:extLst>
          </p:nvPr>
        </p:nvGraphicFramePr>
        <p:xfrm>
          <a:off x="2601320" y="3551714"/>
          <a:ext cx="8128002" cy="1356697"/>
        </p:xfrm>
        <a:graphic>
          <a:graphicData uri="http://schemas.openxmlformats.org/drawingml/2006/table">
            <a:tbl>
              <a:tblPr firstRow="1" bandRow="1">
                <a:tableStyleId>{5C22544A-7EE6-4342-B048-85BDC9FD1C3A}</a:tableStyleId>
              </a:tblPr>
              <a:tblGrid>
                <a:gridCol w="1354667">
                  <a:extLst>
                    <a:ext uri="{9D8B030D-6E8A-4147-A177-3AD203B41FA5}">
                      <a16:colId xmlns:a16="http://schemas.microsoft.com/office/drawing/2014/main" val="1008136396"/>
                    </a:ext>
                  </a:extLst>
                </a:gridCol>
                <a:gridCol w="1354667">
                  <a:extLst>
                    <a:ext uri="{9D8B030D-6E8A-4147-A177-3AD203B41FA5}">
                      <a16:colId xmlns:a16="http://schemas.microsoft.com/office/drawing/2014/main" val="3181439616"/>
                    </a:ext>
                  </a:extLst>
                </a:gridCol>
                <a:gridCol w="1354667">
                  <a:extLst>
                    <a:ext uri="{9D8B030D-6E8A-4147-A177-3AD203B41FA5}">
                      <a16:colId xmlns:a16="http://schemas.microsoft.com/office/drawing/2014/main" val="3383469632"/>
                    </a:ext>
                  </a:extLst>
                </a:gridCol>
                <a:gridCol w="1354667">
                  <a:extLst>
                    <a:ext uri="{9D8B030D-6E8A-4147-A177-3AD203B41FA5}">
                      <a16:colId xmlns:a16="http://schemas.microsoft.com/office/drawing/2014/main" val="1251522811"/>
                    </a:ext>
                  </a:extLst>
                </a:gridCol>
                <a:gridCol w="1354667">
                  <a:extLst>
                    <a:ext uri="{9D8B030D-6E8A-4147-A177-3AD203B41FA5}">
                      <a16:colId xmlns:a16="http://schemas.microsoft.com/office/drawing/2014/main" val="1555424784"/>
                    </a:ext>
                  </a:extLst>
                </a:gridCol>
                <a:gridCol w="1354667">
                  <a:extLst>
                    <a:ext uri="{9D8B030D-6E8A-4147-A177-3AD203B41FA5}">
                      <a16:colId xmlns:a16="http://schemas.microsoft.com/office/drawing/2014/main" val="739911315"/>
                    </a:ext>
                  </a:extLst>
                </a:gridCol>
              </a:tblGrid>
              <a:tr h="0">
                <a:tc>
                  <a:txBody>
                    <a:bodyPr/>
                    <a:lstStyle/>
                    <a:p>
                      <a:r>
                        <a:rPr lang="en-US" sz="900">
                          <a:latin typeface="Arial" panose="020B0604020202020204" pitchFamily="34" charset="0"/>
                          <a:cs typeface="Arial" panose="020B0604020202020204" pitchFamily="34" charset="0"/>
                        </a:rPr>
                        <a:t>Type</a:t>
                      </a:r>
                    </a:p>
                  </a:txBody>
                  <a:tcPr/>
                </a:tc>
                <a:tc>
                  <a:txBody>
                    <a:bodyPr/>
                    <a:lstStyle/>
                    <a:p>
                      <a:endParaRPr lang="en-US" sz="900">
                        <a:latin typeface="Arial" panose="020B0604020202020204" pitchFamily="34" charset="0"/>
                        <a:cs typeface="Arial" panose="020B0604020202020204" pitchFamily="34" charset="0"/>
                      </a:endParaRPr>
                    </a:p>
                  </a:txBody>
                  <a:tcPr/>
                </a:tc>
                <a:tc gridSpan="2">
                  <a:txBody>
                    <a:bodyPr/>
                    <a:lstStyle/>
                    <a:p>
                      <a:pPr algn="ctr"/>
                      <a:r>
                        <a:rPr lang="en-US" sz="900">
                          <a:latin typeface="Arial" panose="020B0604020202020204" pitchFamily="34" charset="0"/>
                          <a:cs typeface="Arial" panose="020B0604020202020204" pitchFamily="34" charset="0"/>
                        </a:rPr>
                        <a:t>Up to 15 years </a:t>
                      </a:r>
                    </a:p>
                  </a:txBody>
                  <a:tcPr/>
                </a:tc>
                <a:tc hMerge="1">
                  <a:txBody>
                    <a:bodyPr/>
                    <a:lstStyle/>
                    <a:p>
                      <a:endParaRPr lang="en-US" sz="900">
                        <a:latin typeface="Arial" panose="020B0604020202020204" pitchFamily="34" charset="0"/>
                        <a:cs typeface="Arial" panose="020B0604020202020204" pitchFamily="34" charset="0"/>
                      </a:endParaRPr>
                    </a:p>
                  </a:txBody>
                  <a:tcPr/>
                </a:tc>
                <a:tc gridSpan="2">
                  <a:txBody>
                    <a:bodyPr/>
                    <a:lstStyle/>
                    <a:p>
                      <a:pPr marL="0" marR="0" lvl="0" indent="0" algn="ctr" defTabSz="914335" rtl="0" eaLnBrk="1" fontAlgn="auto" latinLnBrk="0" hangingPunct="1">
                        <a:lnSpc>
                          <a:spcPct val="100000"/>
                        </a:lnSpc>
                        <a:spcBef>
                          <a:spcPts val="0"/>
                        </a:spcBef>
                        <a:spcAft>
                          <a:spcPts val="0"/>
                        </a:spcAft>
                        <a:buClrTx/>
                        <a:buSzTx/>
                        <a:buFontTx/>
                        <a:buNone/>
                        <a:tabLst/>
                        <a:defRPr/>
                      </a:pPr>
                      <a:r>
                        <a:rPr lang="en-US" sz="900">
                          <a:latin typeface="Arial" panose="020B0604020202020204" pitchFamily="34" charset="0"/>
                          <a:cs typeface="Arial" panose="020B0604020202020204" pitchFamily="34" charset="0"/>
                        </a:rPr>
                        <a:t>After 15 years from the date of Commercial Operation </a:t>
                      </a:r>
                    </a:p>
                  </a:txBody>
                  <a:tcPr/>
                </a:tc>
                <a:tc hMerge="1">
                  <a:txBody>
                    <a:bodyPr/>
                    <a:lstStyle/>
                    <a:p>
                      <a:endParaRPr lang="en-US" sz="90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3532881880"/>
                  </a:ext>
                </a:extLst>
              </a:tr>
              <a:tr h="330013">
                <a:tc>
                  <a:txBody>
                    <a:bodyPr/>
                    <a:lstStyle/>
                    <a:p>
                      <a:endParaRPr lang="en-US" sz="900">
                        <a:latin typeface="Arial" panose="020B0604020202020204" pitchFamily="34" charset="0"/>
                        <a:cs typeface="Arial" panose="020B0604020202020204" pitchFamily="34" charset="0"/>
                      </a:endParaRPr>
                    </a:p>
                  </a:txBody>
                  <a:tcPr/>
                </a:tc>
                <a:tc>
                  <a:txBody>
                    <a:bodyPr/>
                    <a:lstStyle/>
                    <a:p>
                      <a:endParaRPr lang="en-US" sz="900">
                        <a:latin typeface="Arial" panose="020B0604020202020204" pitchFamily="34" charset="0"/>
                        <a:cs typeface="Arial" panose="020B0604020202020204" pitchFamily="34" charset="0"/>
                      </a:endParaRPr>
                    </a:p>
                  </a:txBody>
                  <a:tcPr/>
                </a:tc>
                <a:tc>
                  <a:txBody>
                    <a:bodyPr/>
                    <a:lstStyle/>
                    <a:p>
                      <a:pPr algn="ctr"/>
                      <a:r>
                        <a:rPr lang="en-US" sz="900" b="1">
                          <a:latin typeface="Arial" panose="020B0604020202020204" pitchFamily="34" charset="0"/>
                          <a:cs typeface="Arial" panose="020B0604020202020204" pitchFamily="34" charset="0"/>
                        </a:rPr>
                        <a:t>Annual capacity</a:t>
                      </a:r>
                    </a:p>
                    <a:p>
                      <a:pPr algn="ctr"/>
                      <a:r>
                        <a:rPr lang="en-US" sz="900" b="1">
                          <a:latin typeface="Arial" panose="020B0604020202020204" pitchFamily="34" charset="0"/>
                          <a:cs typeface="Arial" panose="020B0604020202020204" pitchFamily="34" charset="0"/>
                        </a:rPr>
                        <a:t>royalty, per kW</a:t>
                      </a:r>
                    </a:p>
                  </a:txBody>
                  <a:tcPr/>
                </a:tc>
                <a:tc>
                  <a:txBody>
                    <a:bodyPr/>
                    <a:lstStyle/>
                    <a:p>
                      <a:pPr algn="ctr"/>
                      <a:r>
                        <a:rPr lang="en-US" sz="900" b="1">
                          <a:latin typeface="Arial" panose="020B0604020202020204" pitchFamily="34" charset="0"/>
                          <a:cs typeface="Arial" panose="020B0604020202020204" pitchFamily="34" charset="0"/>
                        </a:rPr>
                        <a:t>Energy Royalty,</a:t>
                      </a:r>
                    </a:p>
                    <a:p>
                      <a:pPr algn="ctr"/>
                      <a:r>
                        <a:rPr lang="en-US" sz="900" b="1">
                          <a:latin typeface="Arial" panose="020B0604020202020204" pitchFamily="34" charset="0"/>
                          <a:cs typeface="Arial" panose="020B0604020202020204" pitchFamily="34" charset="0"/>
                        </a:rPr>
                        <a:t>per kWh</a:t>
                      </a:r>
                    </a:p>
                  </a:txBody>
                  <a:tcPr/>
                </a:tc>
                <a:tc>
                  <a:txBody>
                    <a:bodyPr/>
                    <a:lstStyle/>
                    <a:p>
                      <a:pPr algn="ctr"/>
                      <a:r>
                        <a:rPr lang="en-US" sz="900" b="1">
                          <a:latin typeface="Arial" panose="020B0604020202020204" pitchFamily="34" charset="0"/>
                          <a:cs typeface="Arial" panose="020B0604020202020204" pitchFamily="34" charset="0"/>
                        </a:rPr>
                        <a:t>Annual capacity</a:t>
                      </a:r>
                    </a:p>
                    <a:p>
                      <a:pPr algn="ctr"/>
                      <a:r>
                        <a:rPr lang="en-US" sz="900" b="1">
                          <a:latin typeface="Arial" panose="020B0604020202020204" pitchFamily="34" charset="0"/>
                          <a:cs typeface="Arial" panose="020B0604020202020204" pitchFamily="34" charset="0"/>
                        </a:rPr>
                        <a:t>royalty, per kW</a:t>
                      </a:r>
                    </a:p>
                  </a:txBody>
                  <a:tcPr/>
                </a:tc>
                <a:tc>
                  <a:txBody>
                    <a:bodyPr/>
                    <a:lstStyle/>
                    <a:p>
                      <a:pPr algn="ctr"/>
                      <a:r>
                        <a:rPr lang="en-US" sz="900" b="1">
                          <a:latin typeface="Arial" panose="020B0604020202020204" pitchFamily="34" charset="0"/>
                          <a:cs typeface="Arial" panose="020B0604020202020204" pitchFamily="34" charset="0"/>
                        </a:rPr>
                        <a:t>Energy Royalty,</a:t>
                      </a:r>
                    </a:p>
                    <a:p>
                      <a:pPr algn="ctr"/>
                      <a:r>
                        <a:rPr lang="en-US" sz="900" b="1">
                          <a:latin typeface="Arial" panose="020B0604020202020204" pitchFamily="34" charset="0"/>
                          <a:cs typeface="Arial" panose="020B0604020202020204" pitchFamily="34" charset="0"/>
                        </a:rPr>
                        <a:t>per kWh</a:t>
                      </a:r>
                    </a:p>
                  </a:txBody>
                  <a:tcPr/>
                </a:tc>
                <a:extLst>
                  <a:ext uri="{0D108BD9-81ED-4DB2-BD59-A6C34878D82A}">
                    <a16:rowId xmlns:a16="http://schemas.microsoft.com/office/drawing/2014/main" val="278371347"/>
                  </a:ext>
                </a:extLst>
              </a:tr>
              <a:tr h="306396">
                <a:tc rowSpan="2">
                  <a:txBody>
                    <a:bodyPr/>
                    <a:lstStyle/>
                    <a:p>
                      <a:pPr algn="ctr"/>
                      <a:r>
                        <a:rPr lang="en-US" sz="900" b="1">
                          <a:latin typeface="Arial" panose="020B0604020202020204" pitchFamily="34" charset="0"/>
                          <a:cs typeface="Arial" panose="020B0604020202020204" pitchFamily="34" charset="0"/>
                        </a:rPr>
                        <a:t>Export Oriented run of the river </a:t>
                      </a:r>
                    </a:p>
                  </a:txBody>
                  <a:tcPr anchor="ctr"/>
                </a:tc>
                <a:tc>
                  <a:txBody>
                    <a:bodyPr/>
                    <a:lstStyle/>
                    <a:p>
                      <a:r>
                        <a:rPr lang="en-US" sz="900">
                          <a:latin typeface="Arial" panose="020B0604020202020204" pitchFamily="34" charset="0"/>
                          <a:cs typeface="Arial" panose="020B0604020202020204" pitchFamily="34" charset="0"/>
                        </a:rPr>
                        <a:t>Commercial Basis </a:t>
                      </a:r>
                    </a:p>
                  </a:txBody>
                  <a:tcPr anchor="ctr"/>
                </a:tc>
                <a:tc>
                  <a:txBody>
                    <a:bodyPr/>
                    <a:lstStyle/>
                    <a:p>
                      <a:pPr algn="ctr"/>
                      <a:r>
                        <a:rPr lang="en-US" sz="900">
                          <a:latin typeface="Arial" panose="020B0604020202020204" pitchFamily="34" charset="0"/>
                          <a:cs typeface="Arial" panose="020B0604020202020204" pitchFamily="34" charset="0"/>
                        </a:rPr>
                        <a:t>Rs. 400 / - </a:t>
                      </a:r>
                    </a:p>
                  </a:txBody>
                  <a:tcPr anchor="ctr"/>
                </a:tc>
                <a:tc>
                  <a:txBody>
                    <a:bodyPr/>
                    <a:lstStyle/>
                    <a:p>
                      <a:pPr algn="ctr"/>
                      <a:r>
                        <a:rPr lang="en-US" sz="900">
                          <a:latin typeface="Arial" panose="020B0604020202020204" pitchFamily="34" charset="0"/>
                          <a:cs typeface="Arial" panose="020B0604020202020204" pitchFamily="34" charset="0"/>
                        </a:rPr>
                        <a:t>7.5%</a:t>
                      </a:r>
                    </a:p>
                  </a:txBody>
                  <a:tcPr anchor="ctr"/>
                </a:tc>
                <a:tc>
                  <a:txBody>
                    <a:bodyPr/>
                    <a:lstStyle/>
                    <a:p>
                      <a:pPr algn="ctr"/>
                      <a:r>
                        <a:rPr lang="en-US" sz="900">
                          <a:latin typeface="Arial" panose="020B0604020202020204" pitchFamily="34" charset="0"/>
                          <a:cs typeface="Arial" panose="020B0604020202020204" pitchFamily="34" charset="0"/>
                        </a:rPr>
                        <a:t>Rs. 1800 / - </a:t>
                      </a:r>
                    </a:p>
                  </a:txBody>
                  <a:tcPr anchor="ctr"/>
                </a:tc>
                <a:tc>
                  <a:txBody>
                    <a:bodyPr/>
                    <a:lstStyle/>
                    <a:p>
                      <a:pPr algn="ctr"/>
                      <a:r>
                        <a:rPr lang="en-US" sz="900">
                          <a:latin typeface="Arial" panose="020B0604020202020204" pitchFamily="34" charset="0"/>
                          <a:cs typeface="Arial" panose="020B0604020202020204" pitchFamily="34" charset="0"/>
                        </a:rPr>
                        <a:t>12%</a:t>
                      </a:r>
                    </a:p>
                  </a:txBody>
                  <a:tcPr anchor="ctr"/>
                </a:tc>
                <a:extLst>
                  <a:ext uri="{0D108BD9-81ED-4DB2-BD59-A6C34878D82A}">
                    <a16:rowId xmlns:a16="http://schemas.microsoft.com/office/drawing/2014/main" val="3236585043"/>
                  </a:ext>
                </a:extLst>
              </a:tr>
              <a:tr h="318781">
                <a:tc vMerge="1">
                  <a:txBody>
                    <a:bodyPr/>
                    <a:lstStyle/>
                    <a:p>
                      <a:endParaRPr lang="en-US"/>
                    </a:p>
                  </a:txBody>
                  <a:tcPr/>
                </a:tc>
                <a:tc>
                  <a:txBody>
                    <a:bodyPr/>
                    <a:lstStyle/>
                    <a:p>
                      <a:r>
                        <a:rPr lang="en-US" sz="900">
                          <a:latin typeface="Arial" panose="020B0604020202020204" pitchFamily="34" charset="0"/>
                          <a:cs typeface="Arial" panose="020B0604020202020204" pitchFamily="34" charset="0"/>
                        </a:rPr>
                        <a:t>Non-Commercial Basis</a:t>
                      </a:r>
                    </a:p>
                  </a:txBody>
                  <a:tcPr anchor="ctr"/>
                </a:tc>
                <a:tc>
                  <a:txBody>
                    <a:bodyPr/>
                    <a:lstStyle/>
                    <a:p>
                      <a:pPr algn="ctr"/>
                      <a:r>
                        <a:rPr lang="en-US" sz="900">
                          <a:latin typeface="Arial" panose="020B0604020202020204" pitchFamily="34" charset="0"/>
                          <a:cs typeface="Arial" panose="020B0604020202020204" pitchFamily="34" charset="0"/>
                        </a:rPr>
                        <a:t>Rs. 400 / - </a:t>
                      </a:r>
                    </a:p>
                  </a:txBody>
                  <a:tcPr anchor="ctr"/>
                </a:tc>
                <a:tc>
                  <a:txBody>
                    <a:bodyPr/>
                    <a:lstStyle/>
                    <a:p>
                      <a:pPr algn="ctr"/>
                      <a:r>
                        <a:rPr lang="en-US" sz="900">
                          <a:latin typeface="Arial" panose="020B0604020202020204" pitchFamily="34" charset="0"/>
                          <a:cs typeface="Arial" panose="020B0604020202020204" pitchFamily="34" charset="0"/>
                        </a:rPr>
                        <a:t>15%</a:t>
                      </a:r>
                    </a:p>
                  </a:txBody>
                  <a:tcPr anchor="ctr"/>
                </a:tc>
                <a:tc>
                  <a:txBody>
                    <a:bodyPr/>
                    <a:lstStyle/>
                    <a:p>
                      <a:pPr algn="ctr"/>
                      <a:r>
                        <a:rPr lang="en-US" sz="900">
                          <a:latin typeface="Arial" panose="020B0604020202020204" pitchFamily="34" charset="0"/>
                          <a:cs typeface="Arial" panose="020B0604020202020204" pitchFamily="34" charset="0"/>
                        </a:rPr>
                        <a:t>Rs. 400 / - </a:t>
                      </a:r>
                    </a:p>
                  </a:txBody>
                  <a:tcPr anchor="ctr"/>
                </a:tc>
                <a:tc>
                  <a:txBody>
                    <a:bodyPr/>
                    <a:lstStyle/>
                    <a:p>
                      <a:pPr algn="ctr"/>
                      <a:r>
                        <a:rPr lang="en-US" sz="900">
                          <a:latin typeface="Arial" panose="020B0604020202020204" pitchFamily="34" charset="0"/>
                          <a:cs typeface="Arial" panose="020B0604020202020204" pitchFamily="34" charset="0"/>
                        </a:rPr>
                        <a:t>15%</a:t>
                      </a:r>
                    </a:p>
                  </a:txBody>
                  <a:tcPr anchor="ctr"/>
                </a:tc>
                <a:extLst>
                  <a:ext uri="{0D108BD9-81ED-4DB2-BD59-A6C34878D82A}">
                    <a16:rowId xmlns:a16="http://schemas.microsoft.com/office/drawing/2014/main" val="439608303"/>
                  </a:ext>
                </a:extLst>
              </a:tr>
            </a:tbl>
          </a:graphicData>
        </a:graphic>
      </p:graphicFrame>
      <p:cxnSp>
        <p:nvCxnSpPr>
          <p:cNvPr id="11" name="Straight Connector 10">
            <a:extLst>
              <a:ext uri="{FF2B5EF4-FFF2-40B4-BE49-F238E27FC236}">
                <a16:creationId xmlns:a16="http://schemas.microsoft.com/office/drawing/2014/main" id="{89E1716D-43CA-0380-E9EA-0B02065DBB84}"/>
              </a:ext>
            </a:extLst>
          </p:cNvPr>
          <p:cNvCxnSpPr/>
          <p:nvPr/>
        </p:nvCxnSpPr>
        <p:spPr>
          <a:xfrm>
            <a:off x="514884" y="1155032"/>
            <a:ext cx="1119555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10F0AAFA-892F-8DA6-CEB1-C2C7B5A3B697}"/>
              </a:ext>
            </a:extLst>
          </p:cNvPr>
          <p:cNvSpPr txBox="1"/>
          <p:nvPr/>
        </p:nvSpPr>
        <p:spPr>
          <a:xfrm>
            <a:off x="4888037" y="1015313"/>
            <a:ext cx="2709814" cy="246221"/>
          </a:xfrm>
          <a:prstGeom prst="rect">
            <a:avLst/>
          </a:prstGeom>
          <a:solidFill>
            <a:schemeClr val="bg1"/>
          </a:solidFill>
        </p:spPr>
        <p:txBody>
          <a:bodyPr wrap="square" lIns="0" tIns="0" rIns="0" bIns="0" rtlCol="0">
            <a:spAutoFit/>
          </a:bodyPr>
          <a:lstStyle/>
          <a:p>
            <a:pPr algn="ctr">
              <a:spcBef>
                <a:spcPts val="600"/>
              </a:spcBef>
              <a:buSzPct val="100000"/>
            </a:pPr>
            <a:r>
              <a:rPr lang="en-US" sz="1600" b="1">
                <a:solidFill>
                  <a:srgbClr val="313131"/>
                </a:solidFill>
              </a:rPr>
              <a:t>Royalty Mechanism</a:t>
            </a:r>
          </a:p>
        </p:txBody>
      </p:sp>
    </p:spTree>
    <p:extLst>
      <p:ext uri="{BB962C8B-B14F-4D97-AF65-F5344CB8AC3E}">
        <p14:creationId xmlns:p14="http://schemas.microsoft.com/office/powerpoint/2010/main" val="2942076307"/>
      </p:ext>
    </p:extLst>
  </p:cSld>
  <p:clrMapOvr>
    <a:masterClrMapping/>
  </p:clrMapOvr>
  <p:transition>
    <p:fade/>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995820898"/>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Modes of Trading for hydropower projects in Nepal</a:t>
            </a:r>
          </a:p>
        </p:txBody>
      </p:sp>
      <p:sp>
        <p:nvSpPr>
          <p:cNvPr id="2" name="Text Placeholder 1"/>
          <p:cNvSpPr>
            <a:spLocks noGrp="1"/>
          </p:cNvSpPr>
          <p:nvPr>
            <p:ph type="body" sz="quarter" idx="13"/>
          </p:nvPr>
        </p:nvSpPr>
        <p:spPr>
          <a:xfrm>
            <a:off x="501651" y="642851"/>
            <a:ext cx="11121870" cy="334099"/>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India and Nepal are collaboratively advancing regional energy integration through strategic cross-border transmission initiatives</a:t>
            </a:r>
          </a:p>
        </p:txBody>
      </p:sp>
      <p:cxnSp>
        <p:nvCxnSpPr>
          <p:cNvPr id="3" name="Straight Connector 2">
            <a:extLst>
              <a:ext uri="{FF2B5EF4-FFF2-40B4-BE49-F238E27FC236}">
                <a16:creationId xmlns:a16="http://schemas.microsoft.com/office/drawing/2014/main" id="{D9FC0740-88F2-F455-5F73-0BAC3852C14D}"/>
              </a:ext>
            </a:extLst>
          </p:cNvPr>
          <p:cNvCxnSpPr/>
          <p:nvPr/>
        </p:nvCxnSpPr>
        <p:spPr>
          <a:xfrm flipV="1">
            <a:off x="496596"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F89A6918-0A3D-F5D6-92D1-F6F37745FD92}"/>
              </a:ext>
            </a:extLst>
          </p:cNvPr>
          <p:cNvGrpSpPr/>
          <p:nvPr/>
        </p:nvGrpSpPr>
        <p:grpSpPr>
          <a:xfrm>
            <a:off x="4228591" y="1039710"/>
            <a:ext cx="3270108" cy="388652"/>
            <a:chOff x="920959" y="1740315"/>
            <a:chExt cx="3291840" cy="310984"/>
          </a:xfrm>
          <a:noFill/>
        </p:grpSpPr>
        <p:cxnSp>
          <p:nvCxnSpPr>
            <p:cNvPr id="13" name="Straight Connector 12">
              <a:extLst>
                <a:ext uri="{FF2B5EF4-FFF2-40B4-BE49-F238E27FC236}">
                  <a16:creationId xmlns:a16="http://schemas.microsoft.com/office/drawing/2014/main" id="{A196CD04-F858-A39A-AD0D-D02B580711A5}"/>
                </a:ext>
              </a:extLst>
            </p:cNvPr>
            <p:cNvCxnSpPr>
              <a:cxnSpLocks/>
            </p:cNvCxnSpPr>
            <p:nvPr/>
          </p:nvCxnSpPr>
          <p:spPr>
            <a:xfrm>
              <a:off x="920959" y="1880318"/>
              <a:ext cx="3291840" cy="6672"/>
            </a:xfrm>
            <a:prstGeom prst="line">
              <a:avLst/>
            </a:prstGeom>
            <a:grpFill/>
            <a:ln w="19050" cap="flat" cmpd="sng" algn="ctr">
              <a:solidFill>
                <a:srgbClr val="43B02A">
                  <a:lumMod val="75000"/>
                </a:srgbClr>
              </a:solidFill>
              <a:prstDash val="solid"/>
              <a:headEnd type="oval"/>
              <a:tailEnd type="oval"/>
            </a:ln>
            <a:effectLst/>
          </p:spPr>
        </p:cxnSp>
        <p:sp>
          <p:nvSpPr>
            <p:cNvPr id="14" name="Rectangle 13">
              <a:extLst>
                <a:ext uri="{FF2B5EF4-FFF2-40B4-BE49-F238E27FC236}">
                  <a16:creationId xmlns:a16="http://schemas.microsoft.com/office/drawing/2014/main" id="{A89B37FF-E2ED-34EB-C9A6-AFE9A10B5945}"/>
                </a:ext>
              </a:extLst>
            </p:cNvPr>
            <p:cNvSpPr/>
            <p:nvPr/>
          </p:nvSpPr>
          <p:spPr>
            <a:xfrm>
              <a:off x="1522063" y="1740315"/>
              <a:ext cx="2063849" cy="310984"/>
            </a:xfrm>
            <a:prstGeom prst="rect">
              <a:avLst/>
            </a:prstGeom>
            <a:solidFill>
              <a:sysClr val="window" lastClr="FFFFFF"/>
            </a:solidFill>
            <a:ln w="19050">
              <a:solidFill>
                <a:srgbClr val="43B02A">
                  <a:lumMod val="75000"/>
                </a:srgbClr>
              </a:solidFill>
            </a:ln>
          </p:spPr>
          <p:txBody>
            <a:bodyPr wrap="square" tIns="0" bIns="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Power Exchange</a:t>
              </a:r>
            </a:p>
          </p:txBody>
        </p:sp>
      </p:grpSp>
      <p:sp>
        <p:nvSpPr>
          <p:cNvPr id="23" name="Rectangle 22">
            <a:extLst>
              <a:ext uri="{FF2B5EF4-FFF2-40B4-BE49-F238E27FC236}">
                <a16:creationId xmlns:a16="http://schemas.microsoft.com/office/drawing/2014/main" id="{B04783CC-F50B-D17D-1E2C-DFFF77807324}"/>
              </a:ext>
            </a:extLst>
          </p:cNvPr>
          <p:cNvSpPr/>
          <p:nvPr/>
        </p:nvSpPr>
        <p:spPr bwMode="gray">
          <a:xfrm>
            <a:off x="509212" y="2639417"/>
            <a:ext cx="3356134" cy="3710602"/>
          </a:xfrm>
          <a:prstGeom prst="rect">
            <a:avLst/>
          </a:prstGeom>
          <a:solidFill>
            <a:schemeClr val="bg1">
              <a:lumMod val="95000"/>
            </a:schemeClr>
          </a:solidFill>
          <a:ln>
            <a:prstDash val="sysDash"/>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just">
              <a:lnSpc>
                <a:spcPct val="107000"/>
              </a:lnSpc>
              <a:spcAft>
                <a:spcPts val="800"/>
              </a:spcAft>
            </a:pPr>
            <a:endParaRPr kumimoji="0" lang="en-US" sz="110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a:p>
            <a:pPr algn="just">
              <a:lnSpc>
                <a:spcPct val="107000"/>
              </a:lnSpc>
              <a:spcAft>
                <a:spcPts val="800"/>
              </a:spcAft>
            </a:pPr>
            <a:r>
              <a:rPr kumimoji="0" lang="en-US" sz="110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PEC Mechanism</a:t>
            </a:r>
            <a:endParaRPr kumimoji="0" lang="en-US" sz="1100" b="1" i="0" u="none" strike="noStrike" kern="0" cap="none" spc="0" normalizeH="0" baseline="30000" noProof="0">
              <a:ln>
                <a:noFill/>
              </a:ln>
              <a:solidFill>
                <a:prstClr val="black"/>
              </a:solidFill>
              <a:effectLst/>
              <a:uLnTx/>
              <a:uFillTx/>
              <a:latin typeface="Arial" panose="020B0604020202020204" pitchFamily="34" charset="0"/>
              <a:cs typeface="Arial" panose="020B0604020202020204" pitchFamily="34" charset="0"/>
            </a:endParaRPr>
          </a:p>
          <a:p>
            <a:pPr marL="285750" indent="-285750" algn="just">
              <a:lnSpc>
                <a:spcPct val="107000"/>
              </a:lnSpc>
              <a:spcAft>
                <a:spcPts val="800"/>
              </a:spcAft>
              <a:buFont typeface="Arial" panose="020B0604020202020204" pitchFamily="34" charset="0"/>
              <a:buChar char="•"/>
            </a:pPr>
            <a:r>
              <a:rPr lang="en-US" sz="1100" kern="100">
                <a:latin typeface="Arial" panose="020B0604020202020204" pitchFamily="34" charset="0"/>
                <a:ea typeface="Calibri" panose="020F0502020204030204" pitchFamily="34" charset="0"/>
                <a:cs typeface="Arial" panose="020B0604020202020204" pitchFamily="34" charset="0"/>
              </a:rPr>
              <a:t>Power Exchange Committee (PEC)</a:t>
            </a:r>
            <a:r>
              <a:rPr lang="en-US" sz="1100" kern="100">
                <a:effectLst/>
                <a:latin typeface="Arial" panose="020B0604020202020204" pitchFamily="34" charset="0"/>
                <a:ea typeface="Calibri" panose="020F0502020204030204" pitchFamily="34" charset="0"/>
                <a:cs typeface="Arial" panose="020B0604020202020204" pitchFamily="34" charset="0"/>
              </a:rPr>
              <a:t> is one of the mechanisms for power trading between Nepal and India. Power imports from India are conducted through Bilateral trade. </a:t>
            </a:r>
          </a:p>
          <a:p>
            <a:pPr marL="285750" marR="0" indent="-285750" algn="just">
              <a:lnSpc>
                <a:spcPct val="107000"/>
              </a:lnSpc>
              <a:spcBef>
                <a:spcPts val="0"/>
              </a:spcBef>
              <a:spcAft>
                <a:spcPts val="800"/>
              </a:spcAft>
              <a:buFont typeface="Arial" panose="020B0604020202020204" pitchFamily="34" charset="0"/>
              <a:buChar char="•"/>
            </a:pPr>
            <a:r>
              <a:rPr lang="en-US" sz="1100" kern="100">
                <a:effectLst/>
                <a:latin typeface="Arial" panose="020B0604020202020204" pitchFamily="34" charset="0"/>
                <a:ea typeface="Calibri" panose="020F0502020204030204" pitchFamily="34" charset="0"/>
                <a:cs typeface="Arial" panose="020B0604020202020204" pitchFamily="34" charset="0"/>
              </a:rPr>
              <a:t>The meeting for this mechanism is held once a year. The amount of power trade and its tariff is mainly discussed. </a:t>
            </a:r>
          </a:p>
          <a:p>
            <a:pPr marL="285750" marR="0" indent="-285750" algn="just">
              <a:lnSpc>
                <a:spcPct val="107000"/>
              </a:lnSpc>
              <a:spcBef>
                <a:spcPts val="0"/>
              </a:spcBef>
              <a:spcAft>
                <a:spcPts val="800"/>
              </a:spcAft>
              <a:buFont typeface="Arial" panose="020B0604020202020204" pitchFamily="34" charset="0"/>
              <a:buChar char="•"/>
            </a:pPr>
            <a:r>
              <a:rPr lang="en-US" sz="1100" kern="100">
                <a:effectLst/>
                <a:latin typeface="Arial" panose="020B0604020202020204" pitchFamily="34" charset="0"/>
                <a:ea typeface="Calibri" panose="020F0502020204030204" pitchFamily="34" charset="0"/>
                <a:cs typeface="Arial" panose="020B0604020202020204" pitchFamily="34" charset="0"/>
              </a:rPr>
              <a:t>This mechanism is applied to power trading in areas remote from the 400kV interconnection point with India. </a:t>
            </a:r>
          </a:p>
          <a:p>
            <a:pPr marR="0" algn="just">
              <a:lnSpc>
                <a:spcPct val="107000"/>
              </a:lnSpc>
              <a:spcBef>
                <a:spcPts val="0"/>
              </a:spcBef>
              <a:spcAft>
                <a:spcPts val="800"/>
              </a:spcAft>
            </a:pPr>
            <a:r>
              <a:rPr lang="en-US" sz="1100" b="1" kern="100">
                <a:latin typeface="Arial" panose="020B0604020202020204" pitchFamily="34" charset="0"/>
                <a:ea typeface="Calibri" panose="020F0502020204030204" pitchFamily="34" charset="0"/>
                <a:cs typeface="Arial" panose="020B0604020202020204" pitchFamily="34" charset="0"/>
              </a:rPr>
              <a:t>Other Bilateral transactions</a:t>
            </a:r>
          </a:p>
          <a:p>
            <a:pPr marL="171450" marR="0" indent="-171450" algn="just">
              <a:lnSpc>
                <a:spcPct val="107000"/>
              </a:lnSpc>
              <a:spcBef>
                <a:spcPts val="0"/>
              </a:spcBef>
              <a:spcAft>
                <a:spcPts val="800"/>
              </a:spcAft>
              <a:buFont typeface="Arial" panose="020B0604020202020204" pitchFamily="34" charset="0"/>
              <a:buChar char="•"/>
            </a:pPr>
            <a:r>
              <a:rPr lang="en-US" sz="1100" kern="100">
                <a:effectLst/>
                <a:latin typeface="Arial" panose="020B0604020202020204" pitchFamily="34" charset="0"/>
                <a:ea typeface="Calibri" panose="020F0502020204030204" pitchFamily="34" charset="0"/>
                <a:cs typeface="Arial" panose="020B0604020202020204" pitchFamily="34" charset="0"/>
              </a:rPr>
              <a:t>Export to the Indian state of Haryana during Nepal’s rainy season from June 1 to October 31 for five years from FY 2023-24.</a:t>
            </a:r>
            <a:endParaRPr lang="en-US" sz="1100" b="1" kern="100">
              <a:effectLst/>
              <a:latin typeface="Arial" panose="020B0604020202020204" pitchFamily="34" charset="0"/>
              <a:ea typeface="Calibri" panose="020F0502020204030204" pitchFamily="34" charset="0"/>
              <a:cs typeface="Arial" panose="020B0604020202020204" pitchFamily="34" charset="0"/>
            </a:endParaRPr>
          </a:p>
          <a:p>
            <a:pPr marL="285750" marR="0" indent="-285750" algn="just">
              <a:lnSpc>
                <a:spcPct val="107000"/>
              </a:lnSpc>
              <a:spcBef>
                <a:spcPts val="0"/>
              </a:spcBef>
              <a:spcAft>
                <a:spcPts val="800"/>
              </a:spcAft>
              <a:buFont typeface="Arial" panose="020B0604020202020204" pitchFamily="34" charset="0"/>
              <a:buChar char="•"/>
            </a:pPr>
            <a:endParaRPr lang="en-US" sz="1000" kern="100">
              <a:effectLst/>
              <a:latin typeface="Arial" panose="020B0604020202020204" pitchFamily="34" charset="0"/>
              <a:ea typeface="Calibri" panose="020F0502020204030204" pitchFamily="34" charset="0"/>
              <a:cs typeface="Arial" panose="020B0604020202020204" pitchFamily="34" charset="0"/>
            </a:endParaRPr>
          </a:p>
        </p:txBody>
      </p:sp>
      <p:sp>
        <p:nvSpPr>
          <p:cNvPr id="26" name="Rectangle 25">
            <a:extLst>
              <a:ext uri="{FF2B5EF4-FFF2-40B4-BE49-F238E27FC236}">
                <a16:creationId xmlns:a16="http://schemas.microsoft.com/office/drawing/2014/main" id="{D1D20F7E-3AA2-2D49-7F46-7842813DA997}"/>
              </a:ext>
            </a:extLst>
          </p:cNvPr>
          <p:cNvSpPr/>
          <p:nvPr/>
        </p:nvSpPr>
        <p:spPr bwMode="gray">
          <a:xfrm>
            <a:off x="4237158" y="1554443"/>
            <a:ext cx="3356134" cy="1016124"/>
          </a:xfrm>
          <a:prstGeom prst="rect">
            <a:avLst/>
          </a:prstGeom>
          <a:solidFill>
            <a:schemeClr val="bg1">
              <a:lumMod val="95000"/>
            </a:schemeClr>
          </a:solidFill>
          <a:ln>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ctr" fontAlgn="ctr">
              <a:defRPr/>
            </a:pPr>
            <a:r>
              <a:rPr lang="en-US" sz="1100">
                <a:latin typeface="Arial" panose="020B0604020202020204" pitchFamily="34" charset="0"/>
                <a:cs typeface="Arial" panose="020B0604020202020204" pitchFamily="34" charset="0"/>
              </a:rPr>
              <a:t>Nepal entered the Indian power market in </a:t>
            </a:r>
            <a:r>
              <a:rPr lang="en-US" sz="1100" b="1">
                <a:latin typeface="Arial" panose="020B0604020202020204" pitchFamily="34" charset="0"/>
                <a:cs typeface="Arial" panose="020B0604020202020204" pitchFamily="34" charset="0"/>
              </a:rPr>
              <a:t>April 2021 through the Indian Energy Exchange (IEX)</a:t>
            </a:r>
            <a:r>
              <a:rPr lang="en-US" sz="1100">
                <a:latin typeface="Arial" panose="020B0604020202020204" pitchFamily="34" charset="0"/>
                <a:cs typeface="Arial" panose="020B0604020202020204" pitchFamily="34" charset="0"/>
              </a:rPr>
              <a:t>, marking the start of Cross-Border Electricity Trade (CBET) via the power exchange platform. </a:t>
            </a:r>
          </a:p>
        </p:txBody>
      </p:sp>
      <p:sp>
        <p:nvSpPr>
          <p:cNvPr id="27" name="Rectangle 26">
            <a:extLst>
              <a:ext uri="{FF2B5EF4-FFF2-40B4-BE49-F238E27FC236}">
                <a16:creationId xmlns:a16="http://schemas.microsoft.com/office/drawing/2014/main" id="{73FA531C-9D90-E5A4-5B09-A321582C3D70}"/>
              </a:ext>
            </a:extLst>
          </p:cNvPr>
          <p:cNvSpPr/>
          <p:nvPr/>
        </p:nvSpPr>
        <p:spPr bwMode="gray">
          <a:xfrm>
            <a:off x="4237158" y="2651301"/>
            <a:ext cx="3356134" cy="3686684"/>
          </a:xfrm>
          <a:prstGeom prst="rect">
            <a:avLst/>
          </a:prstGeom>
          <a:solidFill>
            <a:schemeClr val="bg1">
              <a:lumMod val="95000"/>
            </a:schemeClr>
          </a:solidFill>
          <a:ln>
            <a:prstDash val="sysDash"/>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marL="285750" marR="0" indent="-285750" algn="just">
              <a:lnSpc>
                <a:spcPct val="107000"/>
              </a:lnSpc>
              <a:spcBef>
                <a:spcPts val="0"/>
              </a:spcBef>
              <a:spcAft>
                <a:spcPts val="800"/>
              </a:spcAft>
              <a:buFont typeface="Arial" panose="020B0604020202020204" pitchFamily="34" charset="0"/>
              <a:buChar char="•"/>
            </a:pPr>
            <a:r>
              <a:rPr lang="en-US" sz="1100" kern="100">
                <a:effectLst/>
                <a:latin typeface="Arial" panose="020B0604020202020204" pitchFamily="34" charset="0"/>
                <a:ea typeface="Calibri" panose="020F0502020204030204" pitchFamily="34" charset="0"/>
                <a:cs typeface="Arial" panose="020B0604020202020204" pitchFamily="34" charset="0"/>
              </a:rPr>
              <a:t>Currently, Nepal is allowed to trade in </a:t>
            </a:r>
            <a:r>
              <a:rPr lang="en-US" sz="1100" b="1" kern="100">
                <a:effectLst/>
                <a:latin typeface="Arial" panose="020B0604020202020204" pitchFamily="34" charset="0"/>
                <a:ea typeface="Calibri" panose="020F0502020204030204" pitchFamily="34" charset="0"/>
                <a:cs typeface="Arial" panose="020B0604020202020204" pitchFamily="34" charset="0"/>
              </a:rPr>
              <a:t>Day Ahead Market (DAM) and Real Time Market (RTM) </a:t>
            </a:r>
          </a:p>
          <a:p>
            <a:pPr marL="285750" indent="-285750" algn="just">
              <a:lnSpc>
                <a:spcPct val="107000"/>
              </a:lnSpc>
              <a:spcAft>
                <a:spcPts val="800"/>
              </a:spcAft>
              <a:buFont typeface="Arial" panose="020B0604020202020204" pitchFamily="34" charset="0"/>
              <a:buChar char="•"/>
            </a:pPr>
            <a:r>
              <a:rPr lang="en-US" sz="1100" kern="100">
                <a:effectLst/>
                <a:latin typeface="Arial" panose="020B0604020202020204" pitchFamily="34" charset="0"/>
                <a:ea typeface="Calibri" panose="020F0502020204030204" pitchFamily="34" charset="0"/>
                <a:cs typeface="Arial" panose="020B0604020202020204" pitchFamily="34" charset="0"/>
              </a:rPr>
              <a:t>For the power plants to be traded on the IEX, NEA submits an application every year, which is approved by CEA.</a:t>
            </a:r>
          </a:p>
          <a:p>
            <a:pPr marL="285750" marR="0" indent="-285750" algn="just">
              <a:lnSpc>
                <a:spcPct val="107000"/>
              </a:lnSpc>
              <a:spcBef>
                <a:spcPts val="0"/>
              </a:spcBef>
              <a:spcAft>
                <a:spcPts val="800"/>
              </a:spcAft>
              <a:buFont typeface="Arial" panose="020B0604020202020204" pitchFamily="34" charset="0"/>
              <a:buChar char="•"/>
            </a:pPr>
            <a:r>
              <a:rPr lang="en-US" sz="1100" kern="100">
                <a:effectLst/>
                <a:latin typeface="Arial" panose="020B0604020202020204" pitchFamily="34" charset="0"/>
                <a:ea typeface="Calibri" panose="020F0502020204030204" pitchFamily="34" charset="0"/>
                <a:cs typeface="Arial" panose="020B0604020202020204" pitchFamily="34" charset="0"/>
              </a:rPr>
              <a:t>NVVN acts as nodal agency  who facilitates the trading in power exchange</a:t>
            </a:r>
          </a:p>
          <a:p>
            <a:pPr marL="285750" marR="0" indent="-285750" algn="just">
              <a:lnSpc>
                <a:spcPct val="107000"/>
              </a:lnSpc>
              <a:spcBef>
                <a:spcPts val="0"/>
              </a:spcBef>
              <a:spcAft>
                <a:spcPts val="800"/>
              </a:spcAft>
              <a:buFont typeface="Arial" panose="020B0604020202020204" pitchFamily="34" charset="0"/>
              <a:buChar char="•"/>
            </a:pPr>
            <a:r>
              <a:rPr lang="en-US" sz="1100" kern="100">
                <a:effectLst/>
                <a:latin typeface="Arial" panose="020B0604020202020204" pitchFamily="34" charset="0"/>
                <a:ea typeface="Calibri" panose="020F0502020204030204" pitchFamily="34" charset="0"/>
                <a:cs typeface="Arial" panose="020B0604020202020204" pitchFamily="34" charset="0"/>
              </a:rPr>
              <a:t>NVVN holds both trader and Nodal Agency roles, enabling it to manage trade settlements and defaults.</a:t>
            </a:r>
          </a:p>
          <a:p>
            <a:pPr marL="285750" marR="0" indent="-285750" algn="just">
              <a:lnSpc>
                <a:spcPct val="107000"/>
              </a:lnSpc>
              <a:spcBef>
                <a:spcPts val="0"/>
              </a:spcBef>
              <a:spcAft>
                <a:spcPts val="800"/>
              </a:spcAft>
              <a:buFont typeface="Arial" panose="020B0604020202020204" pitchFamily="34" charset="0"/>
              <a:buChar char="•"/>
            </a:pPr>
            <a:r>
              <a:rPr lang="en-US" sz="1100" kern="100">
                <a:effectLst/>
                <a:latin typeface="Arial" panose="020B0604020202020204" pitchFamily="34" charset="0"/>
                <a:ea typeface="Calibri" panose="020F0502020204030204" pitchFamily="34" charset="0"/>
                <a:cs typeface="Arial" panose="020B0604020202020204" pitchFamily="34" charset="0"/>
              </a:rPr>
              <a:t>Few of the Power plants which follows this transaction are : </a:t>
            </a:r>
            <a:r>
              <a:rPr lang="en-US" sz="1100" kern="100" err="1">
                <a:effectLst/>
                <a:latin typeface="Arial" panose="020B0604020202020204" pitchFamily="34" charset="0"/>
                <a:ea typeface="Calibri" panose="020F0502020204030204" pitchFamily="34" charset="0"/>
                <a:cs typeface="Arial" panose="020B0604020202020204" pitchFamily="34" charset="0"/>
              </a:rPr>
              <a:t>Kaligandaki</a:t>
            </a:r>
            <a:r>
              <a:rPr lang="en-US" sz="1100" kern="100">
                <a:effectLst/>
                <a:latin typeface="Arial" panose="020B0604020202020204" pitchFamily="34" charset="0"/>
                <a:ea typeface="Calibri" panose="020F0502020204030204" pitchFamily="34" charset="0"/>
                <a:cs typeface="Arial" panose="020B0604020202020204" pitchFamily="34" charset="0"/>
              </a:rPr>
              <a:t> ‘A’ Hydropower Project (140 MW), Solu </a:t>
            </a:r>
            <a:r>
              <a:rPr lang="en-US" sz="1100" kern="100" err="1">
                <a:effectLst/>
                <a:latin typeface="Arial" panose="020B0604020202020204" pitchFamily="34" charset="0"/>
                <a:ea typeface="Calibri" panose="020F0502020204030204" pitchFamily="34" charset="0"/>
                <a:cs typeface="Arial" panose="020B0604020202020204" pitchFamily="34" charset="0"/>
              </a:rPr>
              <a:t>Khola</a:t>
            </a:r>
            <a:r>
              <a:rPr lang="en-US" sz="1100" kern="100">
                <a:effectLst/>
                <a:latin typeface="Arial" panose="020B0604020202020204" pitchFamily="34" charset="0"/>
                <a:ea typeface="Calibri" panose="020F0502020204030204" pitchFamily="34" charset="0"/>
                <a:cs typeface="Arial" panose="020B0604020202020204" pitchFamily="34" charset="0"/>
              </a:rPr>
              <a:t> (83 MW), Middle </a:t>
            </a:r>
            <a:r>
              <a:rPr lang="en-US" sz="1100" kern="100" err="1">
                <a:effectLst/>
                <a:latin typeface="Arial" panose="020B0604020202020204" pitchFamily="34" charset="0"/>
                <a:ea typeface="Calibri" panose="020F0502020204030204" pitchFamily="34" charset="0"/>
                <a:cs typeface="Arial" panose="020B0604020202020204" pitchFamily="34" charset="0"/>
              </a:rPr>
              <a:t>Marsyangdi</a:t>
            </a:r>
            <a:r>
              <a:rPr lang="en-US" sz="1100" kern="100">
                <a:effectLst/>
                <a:latin typeface="Arial" panose="020B0604020202020204" pitchFamily="34" charset="0"/>
                <a:ea typeface="Calibri" panose="020F0502020204030204" pitchFamily="34" charset="0"/>
                <a:cs typeface="Arial" panose="020B0604020202020204" pitchFamily="34" charset="0"/>
              </a:rPr>
              <a:t> Hydropower Project (68 MW).</a:t>
            </a:r>
          </a:p>
          <a:p>
            <a:pPr marR="0" algn="just">
              <a:lnSpc>
                <a:spcPct val="107000"/>
              </a:lnSpc>
              <a:spcBef>
                <a:spcPts val="0"/>
              </a:spcBef>
              <a:spcAft>
                <a:spcPts val="800"/>
              </a:spcAft>
            </a:pPr>
            <a:endParaRPr lang="en-US" sz="1100" kern="100">
              <a:effectLst/>
              <a:latin typeface="Arial" panose="020B0604020202020204" pitchFamily="34" charset="0"/>
              <a:ea typeface="Calibri" panose="020F0502020204030204" pitchFamily="34" charset="0"/>
              <a:cs typeface="Arial" panose="020B0604020202020204" pitchFamily="34" charset="0"/>
            </a:endParaRPr>
          </a:p>
        </p:txBody>
      </p:sp>
      <p:sp>
        <p:nvSpPr>
          <p:cNvPr id="28" name="Rectangle 27">
            <a:extLst>
              <a:ext uri="{FF2B5EF4-FFF2-40B4-BE49-F238E27FC236}">
                <a16:creationId xmlns:a16="http://schemas.microsoft.com/office/drawing/2014/main" id="{2A406AEF-123D-5662-3E42-A1D1BFD64764}"/>
              </a:ext>
            </a:extLst>
          </p:cNvPr>
          <p:cNvSpPr/>
          <p:nvPr/>
        </p:nvSpPr>
        <p:spPr bwMode="gray">
          <a:xfrm>
            <a:off x="7977720" y="1528606"/>
            <a:ext cx="3356134" cy="1016124"/>
          </a:xfrm>
          <a:prstGeom prst="rect">
            <a:avLst/>
          </a:prstGeom>
          <a:solidFill>
            <a:schemeClr val="bg1">
              <a:lumMod val="95000"/>
            </a:schemeClr>
          </a:solidFill>
          <a:ln>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ctr" fontAlgn="ctr">
              <a:defRPr/>
            </a:pPr>
            <a:r>
              <a:rPr lang="en-US" sz="1100">
                <a:latin typeface="Arial" panose="020B0604020202020204" pitchFamily="34" charset="0"/>
                <a:cs typeface="Arial" panose="020B0604020202020204" pitchFamily="34" charset="0"/>
              </a:rPr>
              <a:t>A government-to-government </a:t>
            </a:r>
            <a:r>
              <a:rPr lang="en-US" sz="1100" b="1">
                <a:latin typeface="Arial" panose="020B0604020202020204" pitchFamily="34" charset="0"/>
                <a:cs typeface="Arial" panose="020B0604020202020204" pitchFamily="34" charset="0"/>
              </a:rPr>
              <a:t>trade between Nepal and Bangladesh to export 40 MW of electricity</a:t>
            </a:r>
            <a:r>
              <a:rPr lang="en-US" sz="1100">
                <a:latin typeface="Arial" panose="020B0604020202020204" pitchFamily="34" charset="0"/>
                <a:cs typeface="Arial" panose="020B0604020202020204" pitchFamily="34" charset="0"/>
              </a:rPr>
              <a:t> to Bangladesh over a 5-year period has been approved between Nepal, India, and Bangladesh on . November 15, 2024</a:t>
            </a:r>
          </a:p>
        </p:txBody>
      </p:sp>
      <p:sp>
        <p:nvSpPr>
          <p:cNvPr id="29" name="Rectangle 28">
            <a:extLst>
              <a:ext uri="{FF2B5EF4-FFF2-40B4-BE49-F238E27FC236}">
                <a16:creationId xmlns:a16="http://schemas.microsoft.com/office/drawing/2014/main" id="{FEAB2332-DBA4-BACF-A970-81D9BED56928}"/>
              </a:ext>
            </a:extLst>
          </p:cNvPr>
          <p:cNvSpPr/>
          <p:nvPr/>
        </p:nvSpPr>
        <p:spPr bwMode="gray">
          <a:xfrm>
            <a:off x="7977719" y="2648407"/>
            <a:ext cx="3356134" cy="3686684"/>
          </a:xfrm>
          <a:prstGeom prst="rect">
            <a:avLst/>
          </a:prstGeom>
          <a:solidFill>
            <a:schemeClr val="bg1">
              <a:lumMod val="95000"/>
            </a:schemeClr>
          </a:solidFill>
          <a:ln>
            <a:prstDash val="sysDash"/>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marL="171450" indent="-171450" algn="just">
              <a:buFont typeface="Arial" panose="020B0604020202020204" pitchFamily="34" charset="0"/>
              <a:buChar char="•"/>
            </a:pPr>
            <a:r>
              <a:rPr lang="en-US" sz="1100">
                <a:latin typeface="Arial" panose="020B0604020202020204" pitchFamily="34" charset="0"/>
                <a:cs typeface="Arial" panose="020B0604020202020204" pitchFamily="34" charset="0"/>
              </a:rPr>
              <a:t>The CEA permit was granted and exports from Nepal to Bangladesh were implemented, only for one day as for 2024. </a:t>
            </a:r>
          </a:p>
          <a:p>
            <a:pPr algn="just"/>
            <a:r>
              <a:rPr lang="en-US" sz="1100">
                <a:latin typeface="Arial" panose="020B0604020202020204" pitchFamily="34" charset="0"/>
                <a:cs typeface="Arial" panose="020B0604020202020204" pitchFamily="34" charset="0"/>
              </a:rPr>
              <a:t> </a:t>
            </a:r>
          </a:p>
          <a:p>
            <a:pPr marL="171450" indent="-171450" algn="just">
              <a:buFont typeface="Arial" panose="020B0604020202020204" pitchFamily="34" charset="0"/>
              <a:buChar char="•"/>
            </a:pPr>
            <a:r>
              <a:rPr lang="en-US" sz="1100">
                <a:latin typeface="Arial" panose="020B0604020202020204" pitchFamily="34" charset="0"/>
                <a:cs typeface="Arial" panose="020B0604020202020204" pitchFamily="34" charset="0"/>
              </a:rPr>
              <a:t>For this tripartite G to G trade, electricity will be exported from Nepal to Bangladesh over a </a:t>
            </a:r>
            <a:r>
              <a:rPr lang="en-US" sz="1100" b="1">
                <a:latin typeface="Arial" panose="020B0604020202020204" pitchFamily="34" charset="0"/>
                <a:cs typeface="Arial" panose="020B0604020202020204" pitchFamily="34" charset="0"/>
              </a:rPr>
              <a:t>five-month period from June to November</a:t>
            </a:r>
            <a:r>
              <a:rPr lang="en-US" sz="1100">
                <a:latin typeface="Arial" panose="020B0604020202020204" pitchFamily="34" charset="0"/>
                <a:cs typeface="Arial" panose="020B0604020202020204" pitchFamily="34" charset="0"/>
              </a:rPr>
              <a:t>, which is Nepal's rainy season. </a:t>
            </a:r>
          </a:p>
          <a:p>
            <a:pPr algn="just"/>
            <a:endParaRPr lang="en-US" sz="1100">
              <a:latin typeface="Arial" panose="020B0604020202020204" pitchFamily="34" charset="0"/>
              <a:cs typeface="Arial" panose="020B0604020202020204" pitchFamily="34" charset="0"/>
            </a:endParaRPr>
          </a:p>
          <a:p>
            <a:pPr marL="171450" indent="-171450" algn="just">
              <a:buFont typeface="Arial" panose="020B0604020202020204" pitchFamily="34" charset="0"/>
              <a:buChar char="•"/>
            </a:pPr>
            <a:r>
              <a:rPr lang="en-US" sz="1100">
                <a:latin typeface="Arial" panose="020B0604020202020204" pitchFamily="34" charset="0"/>
                <a:cs typeface="Arial" panose="020B0604020202020204" pitchFamily="34" charset="0"/>
              </a:rPr>
              <a:t>The unit price for trade between Bangladesh and Nepal will </a:t>
            </a:r>
            <a:r>
              <a:rPr lang="en-US" sz="1100" b="1">
                <a:latin typeface="Arial" panose="020B0604020202020204" pitchFamily="34" charset="0"/>
                <a:cs typeface="Arial" panose="020B0604020202020204" pitchFamily="34" charset="0"/>
              </a:rPr>
              <a:t>be 6.4 cents/kWh</a:t>
            </a:r>
            <a:r>
              <a:rPr lang="en-US" sz="1100">
                <a:latin typeface="Arial" panose="020B0604020202020204" pitchFamily="34" charset="0"/>
                <a:cs typeface="Arial" panose="020B0604020202020204" pitchFamily="34" charset="0"/>
              </a:rPr>
              <a:t>, and metering will be done in Muzaffarpur in India. In addition, Bangladesh will pay to India a transmission charge and cost equivalent to transmission losses occurring within India. </a:t>
            </a:r>
          </a:p>
          <a:p>
            <a:pPr marL="171450" indent="-171450" algn="just">
              <a:buFont typeface="Arial" panose="020B0604020202020204" pitchFamily="34" charset="0"/>
              <a:buChar char="•"/>
            </a:pPr>
            <a:endParaRPr lang="en-US" sz="1100">
              <a:latin typeface="Arial" panose="020B0604020202020204" pitchFamily="34" charset="0"/>
              <a:cs typeface="Arial" panose="020B0604020202020204" pitchFamily="34" charset="0"/>
            </a:endParaRPr>
          </a:p>
          <a:p>
            <a:pPr algn="just"/>
            <a:endParaRPr lang="en-US" sz="1100">
              <a:latin typeface="Arial" panose="020B0604020202020204" pitchFamily="34" charset="0"/>
              <a:cs typeface="Arial" panose="020B0604020202020204" pitchFamily="34" charset="0"/>
            </a:endParaRPr>
          </a:p>
        </p:txBody>
      </p:sp>
      <p:sp>
        <p:nvSpPr>
          <p:cNvPr id="30" name="Rectangle 29">
            <a:extLst>
              <a:ext uri="{FF2B5EF4-FFF2-40B4-BE49-F238E27FC236}">
                <a16:creationId xmlns:a16="http://schemas.microsoft.com/office/drawing/2014/main" id="{8CBB226C-4A79-8E21-F90A-9632B2451349}"/>
              </a:ext>
            </a:extLst>
          </p:cNvPr>
          <p:cNvSpPr/>
          <p:nvPr/>
        </p:nvSpPr>
        <p:spPr bwMode="gray">
          <a:xfrm>
            <a:off x="496597" y="1554443"/>
            <a:ext cx="3356134" cy="1016124"/>
          </a:xfrm>
          <a:prstGeom prst="rect">
            <a:avLst/>
          </a:prstGeom>
          <a:solidFill>
            <a:schemeClr val="bg1">
              <a:lumMod val="95000"/>
            </a:schemeClr>
          </a:solidFill>
          <a:ln>
            <a:headEnd/>
            <a:tailEnd/>
          </a:ln>
        </p:spPr>
        <p:style>
          <a:lnRef idx="2">
            <a:schemeClr val="accent2"/>
          </a:lnRef>
          <a:fillRef idx="1">
            <a:schemeClr val="lt1"/>
          </a:fillRef>
          <a:effectRef idx="0">
            <a:schemeClr val="accent2"/>
          </a:effectRef>
          <a:fontRef idx="minor">
            <a:schemeClr val="dk1"/>
          </a:fontRef>
        </p:style>
        <p:txBody>
          <a:bodyPr wrap="square" lIns="88900" tIns="88900" rIns="88900" bIns="88900" rtlCol="0" anchor="ctr"/>
          <a:lstStyle/>
          <a:p>
            <a:pPr algn="ctr" fontAlgn="ctr">
              <a:defRPr/>
            </a:pPr>
            <a:r>
              <a:rPr lang="en-US" sz="1100" b="1">
                <a:latin typeface="Arial" panose="020B0604020202020204" pitchFamily="34" charset="0"/>
                <a:cs typeface="Arial" panose="020B0604020202020204" pitchFamily="34" charset="0"/>
              </a:rPr>
              <a:t>Nepal - India Power Exchange Committee (PEC) </a:t>
            </a:r>
            <a:r>
              <a:rPr lang="en-US" sz="1100">
                <a:latin typeface="Arial" panose="020B0604020202020204" pitchFamily="34" charset="0"/>
                <a:cs typeface="Arial" panose="020B0604020202020204" pitchFamily="34" charset="0"/>
              </a:rPr>
              <a:t>constituted for consultation of power trade in 1992. </a:t>
            </a:r>
          </a:p>
        </p:txBody>
      </p:sp>
      <p:sp>
        <p:nvSpPr>
          <p:cNvPr id="31" name="TextBox 30">
            <a:extLst>
              <a:ext uri="{FF2B5EF4-FFF2-40B4-BE49-F238E27FC236}">
                <a16:creationId xmlns:a16="http://schemas.microsoft.com/office/drawing/2014/main" id="{BA8AF029-F530-EDF7-8B4D-DE6EF312B540}"/>
              </a:ext>
            </a:extLst>
          </p:cNvPr>
          <p:cNvSpPr txBox="1"/>
          <p:nvPr/>
        </p:nvSpPr>
        <p:spPr>
          <a:xfrm>
            <a:off x="631206" y="6540499"/>
            <a:ext cx="9362557"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IN" sz="100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Source: </a:t>
            </a:r>
            <a:r>
              <a:rPr kumimoji="0" lang="en-US" sz="1000" b="0" u="none" strike="noStrike" kern="1200" cap="none" spc="0" normalizeH="0" baseline="0" noProof="0">
                <a:ln>
                  <a:noFill/>
                </a:ln>
                <a:solidFill>
                  <a:srgbClr val="313131"/>
                </a:solidFill>
                <a:effectLst/>
                <a:uLnTx/>
                <a:uFillTx/>
                <a:latin typeface="Arial" panose="020B0604020202020204" pitchFamily="34" charset="0"/>
                <a:cs typeface="Arial" panose="020B0604020202020204" pitchFamily="34" charset="0"/>
              </a:rPr>
              <a:t> NEA Annual Report 2023/24, NVVN Directors Report 2023-24, JICA Report</a:t>
            </a:r>
          </a:p>
        </p:txBody>
      </p:sp>
      <p:grpSp>
        <p:nvGrpSpPr>
          <p:cNvPr id="9" name="Group 8">
            <a:extLst>
              <a:ext uri="{FF2B5EF4-FFF2-40B4-BE49-F238E27FC236}">
                <a16:creationId xmlns:a16="http://schemas.microsoft.com/office/drawing/2014/main" id="{A2975CEB-B69E-4972-50FE-BC84DA4AC76A}"/>
              </a:ext>
            </a:extLst>
          </p:cNvPr>
          <p:cNvGrpSpPr/>
          <p:nvPr/>
        </p:nvGrpSpPr>
        <p:grpSpPr>
          <a:xfrm>
            <a:off x="8042459" y="1036277"/>
            <a:ext cx="3270108" cy="388652"/>
            <a:chOff x="920959" y="1740315"/>
            <a:chExt cx="3291840" cy="310984"/>
          </a:xfrm>
          <a:noFill/>
        </p:grpSpPr>
        <p:cxnSp>
          <p:nvCxnSpPr>
            <p:cNvPr id="11" name="Straight Connector 10">
              <a:extLst>
                <a:ext uri="{FF2B5EF4-FFF2-40B4-BE49-F238E27FC236}">
                  <a16:creationId xmlns:a16="http://schemas.microsoft.com/office/drawing/2014/main" id="{5F0AD3AA-6CDE-5559-C267-5D0EB019E412}"/>
                </a:ext>
              </a:extLst>
            </p:cNvPr>
            <p:cNvCxnSpPr>
              <a:cxnSpLocks/>
            </p:cNvCxnSpPr>
            <p:nvPr/>
          </p:nvCxnSpPr>
          <p:spPr>
            <a:xfrm>
              <a:off x="920959" y="1880318"/>
              <a:ext cx="3291840" cy="6672"/>
            </a:xfrm>
            <a:prstGeom prst="line">
              <a:avLst/>
            </a:prstGeom>
            <a:grpFill/>
            <a:ln w="19050" cap="flat" cmpd="sng" algn="ctr">
              <a:solidFill>
                <a:srgbClr val="43B02A">
                  <a:lumMod val="75000"/>
                </a:srgbClr>
              </a:solidFill>
              <a:prstDash val="solid"/>
              <a:headEnd type="oval"/>
              <a:tailEnd type="oval"/>
            </a:ln>
            <a:effectLst/>
          </p:spPr>
        </p:cxnSp>
        <p:sp>
          <p:nvSpPr>
            <p:cNvPr id="12" name="Rectangle 11">
              <a:extLst>
                <a:ext uri="{FF2B5EF4-FFF2-40B4-BE49-F238E27FC236}">
                  <a16:creationId xmlns:a16="http://schemas.microsoft.com/office/drawing/2014/main" id="{FC69D308-0D43-0FAD-F324-2FAB66B303E2}"/>
                </a:ext>
              </a:extLst>
            </p:cNvPr>
            <p:cNvSpPr/>
            <p:nvPr/>
          </p:nvSpPr>
          <p:spPr>
            <a:xfrm>
              <a:off x="1522063" y="1740315"/>
              <a:ext cx="2063849" cy="310984"/>
            </a:xfrm>
            <a:prstGeom prst="rect">
              <a:avLst/>
            </a:prstGeom>
            <a:solidFill>
              <a:sysClr val="window" lastClr="FFFFFF"/>
            </a:solidFill>
            <a:ln w="19050">
              <a:solidFill>
                <a:srgbClr val="43B02A">
                  <a:lumMod val="75000"/>
                </a:srgbClr>
              </a:solidFill>
            </a:ln>
          </p:spPr>
          <p:txBody>
            <a:bodyPr wrap="square" tIns="0" bIns="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Tripartite Framework</a:t>
              </a:r>
            </a:p>
          </p:txBody>
        </p:sp>
      </p:grpSp>
      <p:grpSp>
        <p:nvGrpSpPr>
          <p:cNvPr id="21" name="Group 20">
            <a:extLst>
              <a:ext uri="{FF2B5EF4-FFF2-40B4-BE49-F238E27FC236}">
                <a16:creationId xmlns:a16="http://schemas.microsoft.com/office/drawing/2014/main" id="{EA85D894-A622-5C26-D8C2-E03C439085D2}"/>
              </a:ext>
            </a:extLst>
          </p:cNvPr>
          <p:cNvGrpSpPr/>
          <p:nvPr/>
        </p:nvGrpSpPr>
        <p:grpSpPr>
          <a:xfrm>
            <a:off x="552225" y="1042073"/>
            <a:ext cx="3270108" cy="388652"/>
            <a:chOff x="920959" y="1740315"/>
            <a:chExt cx="3291840" cy="310984"/>
          </a:xfrm>
          <a:noFill/>
        </p:grpSpPr>
        <p:cxnSp>
          <p:nvCxnSpPr>
            <p:cNvPr id="24" name="Straight Connector 23">
              <a:extLst>
                <a:ext uri="{FF2B5EF4-FFF2-40B4-BE49-F238E27FC236}">
                  <a16:creationId xmlns:a16="http://schemas.microsoft.com/office/drawing/2014/main" id="{83597A8B-0951-B64E-B05A-64E8FD431359}"/>
                </a:ext>
              </a:extLst>
            </p:cNvPr>
            <p:cNvCxnSpPr>
              <a:cxnSpLocks/>
            </p:cNvCxnSpPr>
            <p:nvPr/>
          </p:nvCxnSpPr>
          <p:spPr>
            <a:xfrm>
              <a:off x="920959" y="1880318"/>
              <a:ext cx="3291840" cy="6672"/>
            </a:xfrm>
            <a:prstGeom prst="line">
              <a:avLst/>
            </a:prstGeom>
            <a:grpFill/>
            <a:ln w="19050" cap="flat" cmpd="sng" algn="ctr">
              <a:solidFill>
                <a:srgbClr val="43B02A">
                  <a:lumMod val="75000"/>
                </a:srgbClr>
              </a:solidFill>
              <a:prstDash val="solid"/>
              <a:headEnd type="oval"/>
              <a:tailEnd type="oval"/>
            </a:ln>
            <a:effectLst/>
          </p:spPr>
        </p:cxnSp>
        <p:sp>
          <p:nvSpPr>
            <p:cNvPr id="32" name="Rectangle 31">
              <a:extLst>
                <a:ext uri="{FF2B5EF4-FFF2-40B4-BE49-F238E27FC236}">
                  <a16:creationId xmlns:a16="http://schemas.microsoft.com/office/drawing/2014/main" id="{AAC4E504-3BD8-9D95-3745-C09D846B6DBB}"/>
                </a:ext>
              </a:extLst>
            </p:cNvPr>
            <p:cNvSpPr/>
            <p:nvPr/>
          </p:nvSpPr>
          <p:spPr>
            <a:xfrm>
              <a:off x="1522063" y="1740315"/>
              <a:ext cx="2063849" cy="310984"/>
            </a:xfrm>
            <a:prstGeom prst="rect">
              <a:avLst/>
            </a:prstGeom>
            <a:solidFill>
              <a:sysClr val="window" lastClr="FFFFFF"/>
            </a:solidFill>
            <a:ln w="19050">
              <a:solidFill>
                <a:srgbClr val="43B02A">
                  <a:lumMod val="75000"/>
                </a:srgbClr>
              </a:solidFill>
            </a:ln>
          </p:spPr>
          <p:txBody>
            <a:bodyPr wrap="square" tIns="0" bIns="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rPr>
                <a:t>Bilateral Trade </a:t>
              </a:r>
            </a:p>
          </p:txBody>
        </p:sp>
      </p:grpSp>
    </p:spTree>
    <p:extLst>
      <p:ext uri="{BB962C8B-B14F-4D97-AF65-F5344CB8AC3E}">
        <p14:creationId xmlns:p14="http://schemas.microsoft.com/office/powerpoint/2010/main" val="1464328245"/>
      </p:ext>
    </p:extLst>
  </p:cSld>
  <p:clrMapOvr>
    <a:masterClrMapping/>
  </p:clrMapOvr>
  <p:transition>
    <p:fade/>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132916907"/>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63" imgW="415" imgH="416" progId="TCLayout.ActiveDocument.1">
                  <p:embed/>
                </p:oleObj>
              </mc:Choice>
              <mc:Fallback>
                <p:oleObj name="think-cell Slide" r:id="rId63"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64"/>
                      <a:stretch>
                        <a:fillRect/>
                      </a:stretch>
                    </p:blipFill>
                    <p:spPr>
                      <a:xfrm>
                        <a:off x="1828" y="1723"/>
                        <a:ext cx="1588" cy="1588"/>
                      </a:xfrm>
                      <a:prstGeom prst="rect">
                        <a:avLst/>
                      </a:prstGeom>
                    </p:spPr>
                  </p:pic>
                </p:oleObj>
              </mc:Fallback>
            </mc:AlternateContent>
          </a:graphicData>
        </a:graphic>
      </p:graphicFrame>
      <p:sp>
        <p:nvSpPr>
          <p:cNvPr id="906" name="Rectangle 905">
            <a:extLst>
              <a:ext uri="{FF2B5EF4-FFF2-40B4-BE49-F238E27FC236}">
                <a16:creationId xmlns:a16="http://schemas.microsoft.com/office/drawing/2014/main" id="{8B619459-25B1-4705-8A72-1C5AD28C79F6}"/>
              </a:ext>
            </a:extLst>
          </p:cNvPr>
          <p:cNvSpPr/>
          <p:nvPr/>
        </p:nvSpPr>
        <p:spPr bwMode="gray">
          <a:xfrm>
            <a:off x="501650" y="3797301"/>
            <a:ext cx="11188700" cy="1566307"/>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Assessing Nepal’s Power Sector actual growth against historic studies-based Projections (1/2)  </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Comparison of actual electricity demand trends against several scenario-based projections under various studies indicate significant deviations</a:t>
            </a:r>
          </a:p>
        </p:txBody>
      </p:sp>
      <p:sp>
        <p:nvSpPr>
          <p:cNvPr id="497" name="TextBox 496">
            <a:extLst>
              <a:ext uri="{FF2B5EF4-FFF2-40B4-BE49-F238E27FC236}">
                <a16:creationId xmlns:a16="http://schemas.microsoft.com/office/drawing/2014/main" id="{E3CD61BF-5158-2CE6-D4D0-D211D840411E}"/>
              </a:ext>
            </a:extLst>
          </p:cNvPr>
          <p:cNvSpPr txBox="1"/>
          <p:nvPr/>
        </p:nvSpPr>
        <p:spPr>
          <a:xfrm>
            <a:off x="447674" y="6596933"/>
            <a:ext cx="7953375"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65"/>
              </a:rPr>
              <a:t>NEA Annual Report</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66"/>
              </a:rPr>
              <a:t>Electricity Demand Forecast (2015-40) WECS</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67"/>
              </a:rPr>
              <a:t>NEA Load Forecast </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sp>
        <p:nvSpPr>
          <p:cNvPr id="165" name="Rectangle 164">
            <a:extLst>
              <a:ext uri="{FF2B5EF4-FFF2-40B4-BE49-F238E27FC236}">
                <a16:creationId xmlns:a16="http://schemas.microsoft.com/office/drawing/2014/main" id="{66CD98E6-F47D-4E7E-D462-D5CD376AAB33}"/>
              </a:ext>
            </a:extLst>
          </p:cNvPr>
          <p:cNvSpPr/>
          <p:nvPr/>
        </p:nvSpPr>
        <p:spPr bwMode="gray">
          <a:xfrm>
            <a:off x="501650" y="992223"/>
            <a:ext cx="11188700" cy="2768623"/>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graphicFrame>
        <p:nvGraphicFramePr>
          <p:cNvPr id="451" name="Chart 450">
            <a:extLst>
              <a:ext uri="{FF2B5EF4-FFF2-40B4-BE49-F238E27FC236}">
                <a16:creationId xmlns:a16="http://schemas.microsoft.com/office/drawing/2014/main" id="{674938E1-A47A-9DEB-BD01-DE3120C0E5F1}"/>
              </a:ext>
            </a:extLst>
          </p:cNvPr>
          <p:cNvGraphicFramePr/>
          <p:nvPr>
            <p:custDataLst>
              <p:tags r:id="rId2"/>
            </p:custDataLst>
            <p:extLst>
              <p:ext uri="{D42A27DB-BD31-4B8C-83A1-F6EECF244321}">
                <p14:modId xmlns:p14="http://schemas.microsoft.com/office/powerpoint/2010/main" val="833565135"/>
              </p:ext>
            </p:extLst>
          </p:nvPr>
        </p:nvGraphicFramePr>
        <p:xfrm>
          <a:off x="527050" y="1211263"/>
          <a:ext cx="10658475" cy="1682750"/>
        </p:xfrm>
        <a:graphic>
          <a:graphicData uri="http://schemas.openxmlformats.org/drawingml/2006/chart">
            <c:chart xmlns:c="http://schemas.openxmlformats.org/drawingml/2006/chart" xmlns:r="http://schemas.openxmlformats.org/officeDocument/2006/relationships" r:id="rId68"/>
          </a:graphicData>
        </a:graphic>
      </p:graphicFrame>
      <p:cxnSp>
        <p:nvCxnSpPr>
          <p:cNvPr id="808" name="Straight Connector 807">
            <a:extLst>
              <a:ext uri="{FF2B5EF4-FFF2-40B4-BE49-F238E27FC236}">
                <a16:creationId xmlns:a16="http://schemas.microsoft.com/office/drawing/2014/main" id="{DF1D1CD5-3EA8-8AE6-21EE-C28DAF715E1C}"/>
              </a:ext>
            </a:extLst>
          </p:cNvPr>
          <p:cNvCxnSpPr>
            <a:cxnSpLocks/>
          </p:cNvCxnSpPr>
          <p:nvPr>
            <p:custDataLst>
              <p:tags r:id="rId3"/>
            </p:custDataLst>
          </p:nvPr>
        </p:nvCxnSpPr>
        <p:spPr bwMode="auto">
          <a:xfrm flipH="1">
            <a:off x="4837113" y="2227263"/>
            <a:ext cx="207963" cy="87313"/>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85C3B9DC-38B0-49BE-73B0-FBD6E8F006DC}"/>
              </a:ext>
            </a:extLst>
          </p:cNvPr>
          <p:cNvCxnSpPr/>
          <p:nvPr>
            <p:custDataLst>
              <p:tags r:id="rId4"/>
            </p:custDataLst>
          </p:nvPr>
        </p:nvCxnSpPr>
        <p:spPr bwMode="auto">
          <a:xfrm>
            <a:off x="4810125" y="1939925"/>
            <a:ext cx="0" cy="1016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323856AE-D6E0-57C4-E8A5-4968A36F4DDB}"/>
              </a:ext>
            </a:extLst>
          </p:cNvPr>
          <p:cNvCxnSpPr/>
          <p:nvPr>
            <p:custDataLst>
              <p:tags r:id="rId5"/>
            </p:custDataLst>
          </p:nvPr>
        </p:nvCxnSpPr>
        <p:spPr bwMode="auto">
          <a:xfrm>
            <a:off x="8088313" y="2030413"/>
            <a:ext cx="0" cy="1016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60" name="Straight Connector 59">
            <a:extLst>
              <a:ext uri="{FF2B5EF4-FFF2-40B4-BE49-F238E27FC236}">
                <a16:creationId xmlns:a16="http://schemas.microsoft.com/office/drawing/2014/main" id="{ACD53DD0-814E-045E-1D38-0EAAF3A5A10E}"/>
              </a:ext>
            </a:extLst>
          </p:cNvPr>
          <p:cNvCxnSpPr/>
          <p:nvPr>
            <p:custDataLst>
              <p:tags r:id="rId6"/>
            </p:custDataLst>
          </p:nvPr>
        </p:nvCxnSpPr>
        <p:spPr bwMode="auto">
          <a:xfrm>
            <a:off x="9502775" y="1971675"/>
            <a:ext cx="0" cy="1016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50" name="Straight Connector 449">
            <a:extLst>
              <a:ext uri="{FF2B5EF4-FFF2-40B4-BE49-F238E27FC236}">
                <a16:creationId xmlns:a16="http://schemas.microsoft.com/office/drawing/2014/main" id="{AE4CE226-6790-C54F-80F2-B3984B551E8F}"/>
              </a:ext>
            </a:extLst>
          </p:cNvPr>
          <p:cNvCxnSpPr/>
          <p:nvPr>
            <p:custDataLst>
              <p:tags r:id="rId7"/>
            </p:custDataLst>
          </p:nvPr>
        </p:nvCxnSpPr>
        <p:spPr bwMode="auto">
          <a:xfrm>
            <a:off x="10469563" y="1541463"/>
            <a:ext cx="0" cy="1016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48" name="Text Placeholder 18">
            <a:extLst>
              <a:ext uri="{FF2B5EF4-FFF2-40B4-BE49-F238E27FC236}">
                <a16:creationId xmlns:a16="http://schemas.microsoft.com/office/drawing/2014/main" id="{1B4405A0-67C6-C417-3A77-35D35D0BB9DB}"/>
              </a:ext>
            </a:extLst>
          </p:cNvPr>
          <p:cNvSpPr>
            <a:spLocks noGrp="1"/>
          </p:cNvSpPr>
          <p:nvPr>
            <p:custDataLst>
              <p:tags r:id="rId8"/>
            </p:custDataLst>
          </p:nvPr>
        </p:nvSpPr>
        <p:spPr bwMode="auto">
          <a:xfrm>
            <a:off x="1744663" y="274002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CB01BD2-D088-42FB-9810-FD6C48BA6708}" type="datetime'''''''''''''''''''''''''''''2''''''''''''01''''''5'''''">
              <a:rPr lang="en-US" altLang="en-US" sz="1100"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2015</a:t>
            </a:fld>
            <a:endParaRPr lang="en-US" sz="1100" noProof="0">
              <a:latin typeface="Arial" panose="020B0604020202020204" pitchFamily="34" charset="0"/>
              <a:cs typeface="Arial" panose="020B0604020202020204" pitchFamily="34" charset="0"/>
              <a:sym typeface="Arial" panose="020B0604020202020204" pitchFamily="34" charset="0"/>
            </a:endParaRPr>
          </a:p>
        </p:txBody>
      </p:sp>
      <p:sp>
        <p:nvSpPr>
          <p:cNvPr id="549" name="Text Placeholder 18">
            <a:extLst>
              <a:ext uri="{FF2B5EF4-FFF2-40B4-BE49-F238E27FC236}">
                <a16:creationId xmlns:a16="http://schemas.microsoft.com/office/drawing/2014/main" id="{DDF1007C-0EE8-0255-08CE-11297A86E29A}"/>
              </a:ext>
            </a:extLst>
          </p:cNvPr>
          <p:cNvSpPr>
            <a:spLocks noGrp="1"/>
          </p:cNvSpPr>
          <p:nvPr>
            <p:custDataLst>
              <p:tags r:id="rId9"/>
            </p:custDataLst>
          </p:nvPr>
        </p:nvSpPr>
        <p:spPr bwMode="auto">
          <a:xfrm>
            <a:off x="3159125" y="274002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C3B7D05D-CC60-4E92-89D9-9E588DEC5FE5}" type="datetime'''''2''''''''''''''''01''''''''''''''''''8'''''''''''''''''">
              <a:rPr lang="en-US" altLang="en-US" sz="1100"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2018</a:t>
            </a:fld>
            <a:endParaRPr lang="en-US" sz="1100" noProof="0">
              <a:latin typeface="Arial" panose="020B0604020202020204" pitchFamily="34" charset="0"/>
              <a:cs typeface="Arial" panose="020B0604020202020204" pitchFamily="34" charset="0"/>
              <a:sym typeface="Arial" panose="020B0604020202020204" pitchFamily="34" charset="0"/>
            </a:endParaRPr>
          </a:p>
        </p:txBody>
      </p:sp>
      <p:sp>
        <p:nvSpPr>
          <p:cNvPr id="550" name="Text Placeholder 18">
            <a:extLst>
              <a:ext uri="{FF2B5EF4-FFF2-40B4-BE49-F238E27FC236}">
                <a16:creationId xmlns:a16="http://schemas.microsoft.com/office/drawing/2014/main" id="{AF34448B-325E-FB2D-CE55-385CA3DA944E}"/>
              </a:ext>
            </a:extLst>
          </p:cNvPr>
          <p:cNvSpPr>
            <a:spLocks noGrp="1"/>
          </p:cNvSpPr>
          <p:nvPr>
            <p:custDataLst>
              <p:tags r:id="rId10"/>
            </p:custDataLst>
          </p:nvPr>
        </p:nvSpPr>
        <p:spPr bwMode="auto">
          <a:xfrm>
            <a:off x="4573588" y="274002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DB42CD4C-81DA-42DD-9542-41B7BABC2083}" type="datetime'''''''''''''''2''''0''''2''0'''''''''''''''''''''''''''''''''">
              <a:rPr lang="en-US" altLang="en-US" sz="1100"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2020</a:t>
            </a:fld>
            <a:endParaRPr lang="en-US" sz="1100" noProof="0">
              <a:latin typeface="Arial" panose="020B0604020202020204" pitchFamily="34" charset="0"/>
              <a:cs typeface="Arial" panose="020B0604020202020204" pitchFamily="34" charset="0"/>
              <a:sym typeface="Arial" panose="020B0604020202020204" pitchFamily="34" charset="0"/>
            </a:endParaRPr>
          </a:p>
        </p:txBody>
      </p:sp>
      <p:sp>
        <p:nvSpPr>
          <p:cNvPr id="551" name="Text Placeholder 18">
            <a:extLst>
              <a:ext uri="{FF2B5EF4-FFF2-40B4-BE49-F238E27FC236}">
                <a16:creationId xmlns:a16="http://schemas.microsoft.com/office/drawing/2014/main" id="{C628F705-4F46-4B52-8730-00C08130DD82}"/>
              </a:ext>
            </a:extLst>
          </p:cNvPr>
          <p:cNvSpPr>
            <a:spLocks noGrp="1"/>
          </p:cNvSpPr>
          <p:nvPr>
            <p:custDataLst>
              <p:tags r:id="rId11"/>
            </p:custDataLst>
          </p:nvPr>
        </p:nvSpPr>
        <p:spPr bwMode="auto">
          <a:xfrm>
            <a:off x="5989638" y="274002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6B61BF1D-7040-4546-844F-80F8D70567D3}" type="datetime'''''''20''''''2''''1'''''''''''''''''''''''''''''''''''''''">
              <a:rPr lang="en-US" altLang="en-US" sz="1100"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2021</a:t>
            </a:fld>
            <a:endParaRPr lang="en-US" sz="1100" noProof="0">
              <a:latin typeface="Arial" panose="020B0604020202020204" pitchFamily="34" charset="0"/>
              <a:cs typeface="Arial" panose="020B0604020202020204" pitchFamily="34" charset="0"/>
              <a:sym typeface="Arial" panose="020B0604020202020204" pitchFamily="34" charset="0"/>
            </a:endParaRPr>
          </a:p>
        </p:txBody>
      </p:sp>
      <p:sp>
        <p:nvSpPr>
          <p:cNvPr id="552" name="Text Placeholder 18">
            <a:extLst>
              <a:ext uri="{FF2B5EF4-FFF2-40B4-BE49-F238E27FC236}">
                <a16:creationId xmlns:a16="http://schemas.microsoft.com/office/drawing/2014/main" id="{423AFD12-D5B1-82BC-81A2-E97C90E622D0}"/>
              </a:ext>
            </a:extLst>
          </p:cNvPr>
          <p:cNvSpPr>
            <a:spLocks noGrp="1"/>
          </p:cNvSpPr>
          <p:nvPr>
            <p:custDataLst>
              <p:tags r:id="rId12"/>
            </p:custDataLst>
          </p:nvPr>
        </p:nvSpPr>
        <p:spPr bwMode="auto">
          <a:xfrm>
            <a:off x="7404100" y="274002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83AC5F8-A1A6-43F4-8F14-B4C5F8ED7503}" type="datetime'2''''''''''''''''''''''''0''2''''''''''''''3'">
              <a:rPr lang="en-US" altLang="en-US" sz="1100"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2023</a:t>
            </a:fld>
            <a:endParaRPr lang="en-US" sz="1100" noProof="0">
              <a:latin typeface="Arial" panose="020B0604020202020204" pitchFamily="34" charset="0"/>
              <a:cs typeface="Arial" panose="020B0604020202020204" pitchFamily="34" charset="0"/>
              <a:sym typeface="Arial" panose="020B0604020202020204" pitchFamily="34" charset="0"/>
            </a:endParaRPr>
          </a:p>
        </p:txBody>
      </p:sp>
      <p:sp>
        <p:nvSpPr>
          <p:cNvPr id="553" name="Text Placeholder 18">
            <a:extLst>
              <a:ext uri="{FF2B5EF4-FFF2-40B4-BE49-F238E27FC236}">
                <a16:creationId xmlns:a16="http://schemas.microsoft.com/office/drawing/2014/main" id="{D68AA447-3712-2C8F-8BCE-3FFBDE183B6B}"/>
              </a:ext>
            </a:extLst>
          </p:cNvPr>
          <p:cNvSpPr>
            <a:spLocks noGrp="1"/>
          </p:cNvSpPr>
          <p:nvPr>
            <p:custDataLst>
              <p:tags r:id="rId13"/>
            </p:custDataLst>
          </p:nvPr>
        </p:nvSpPr>
        <p:spPr bwMode="auto">
          <a:xfrm>
            <a:off x="8818563" y="274002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9393BD4-D23C-48CD-8524-FC52F828AF28}" type="datetime'''''''''2''''''''''''''''''02''''''4'''''''''''''''''''''">
              <a:rPr lang="en-US" altLang="en-US" sz="1100"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2024</a:t>
            </a:fld>
            <a:endParaRPr lang="en-US" sz="1100" noProof="0">
              <a:latin typeface="Arial" panose="020B0604020202020204" pitchFamily="34" charset="0"/>
              <a:cs typeface="Arial" panose="020B0604020202020204" pitchFamily="34" charset="0"/>
              <a:sym typeface="Arial" panose="020B0604020202020204" pitchFamily="34" charset="0"/>
            </a:endParaRPr>
          </a:p>
        </p:txBody>
      </p:sp>
      <p:sp>
        <p:nvSpPr>
          <p:cNvPr id="610" name="Text Placeholder 18">
            <a:extLst>
              <a:ext uri="{FF2B5EF4-FFF2-40B4-BE49-F238E27FC236}">
                <a16:creationId xmlns:a16="http://schemas.microsoft.com/office/drawing/2014/main" id="{0D515358-8436-C31C-C37A-8E63214C464A}"/>
              </a:ext>
            </a:extLst>
          </p:cNvPr>
          <p:cNvSpPr>
            <a:spLocks noGrp="1"/>
          </p:cNvSpPr>
          <p:nvPr>
            <p:custDataLst>
              <p:tags r:id="rId14"/>
            </p:custDataLst>
          </p:nvPr>
        </p:nvSpPr>
        <p:spPr bwMode="auto">
          <a:xfrm>
            <a:off x="10121900" y="2740025"/>
            <a:ext cx="54768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55CFFF8-4D1A-45B2-A728-1E28C7B1B9E2}" type="datetime'''''20''''25'''' ''''''''''(''''''''''''P'''''''')'''''''''">
              <a:rPr lang="en-US" altLang="en-US" sz="1100" smtClean="0">
                <a:latin typeface="Arial" panose="020B0604020202020204" pitchFamily="34" charset="0"/>
                <a:cs typeface="+mn-cs"/>
              </a:rPr>
              <a:pPr lvl="0" algn="ctr">
                <a:spcBef>
                  <a:spcPct val="0"/>
                </a:spcBef>
                <a:spcAft>
                  <a:spcPct val="0"/>
                </a:spcAft>
              </a:pPr>
              <a:t>2025 (P)</a:t>
            </a:fld>
            <a:endParaRPr lang="en-US" sz="1100" noProof="0">
              <a:latin typeface="Arial" panose="020B0604020202020204" pitchFamily="34" charset="0"/>
              <a:cs typeface="+mn-cs"/>
              <a:sym typeface="Arial" panose="020B0604020202020204" pitchFamily="34" charset="0"/>
            </a:endParaRPr>
          </a:p>
        </p:txBody>
      </p:sp>
      <p:sp>
        <p:nvSpPr>
          <p:cNvPr id="4" name="Text Placeholder 18">
            <a:extLst>
              <a:ext uri="{FF2B5EF4-FFF2-40B4-BE49-F238E27FC236}">
                <a16:creationId xmlns:a16="http://schemas.microsoft.com/office/drawing/2014/main" id="{652A63ED-F924-13BA-B737-EEC05F80F3EC}"/>
              </a:ext>
            </a:extLst>
          </p:cNvPr>
          <p:cNvSpPr>
            <a:spLocks noGrp="1"/>
          </p:cNvSpPr>
          <p:nvPr>
            <p:custDataLst>
              <p:tags r:id="rId15"/>
            </p:custDataLst>
          </p:nvPr>
        </p:nvSpPr>
        <p:spPr bwMode="gray">
          <a:xfrm>
            <a:off x="1187450" y="2476501"/>
            <a:ext cx="396875"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EBC56F27-E508-4390-A669-828178337899}" type="datetime'''3'''''''''''''',''''''8''''''6''''''6'''''''''''">
              <a:rPr lang="en-US" altLang="en-US" sz="1100" smtClean="0">
                <a:effectLst/>
                <a:latin typeface="Arial" panose="020B0604020202020204" pitchFamily="34" charset="0"/>
                <a:cs typeface="Arial" panose="020B0604020202020204" pitchFamily="34" charset="0"/>
                <a:sym typeface="Arial" panose="020B0604020202020204" pitchFamily="34" charset="0"/>
              </a:rPr>
              <a:pPr lvl="0" algn="ctr">
                <a:spcBef>
                  <a:spcPct val="0"/>
                </a:spcBef>
                <a:spcAft>
                  <a:spcPct val="0"/>
                </a:spcAft>
              </a:pPr>
              <a:t>3,866</a:t>
            </a:fld>
            <a:endParaRPr lang="en-US" sz="1100" noProof="0">
              <a:latin typeface="Arial" panose="020B0604020202020204" pitchFamily="34" charset="0"/>
              <a:cs typeface="Arial" panose="020B0604020202020204" pitchFamily="34" charset="0"/>
              <a:sym typeface="Arial" panose="020B0604020202020204" pitchFamily="34" charset="0"/>
            </a:endParaRPr>
          </a:p>
        </p:txBody>
      </p:sp>
      <p:sp>
        <p:nvSpPr>
          <p:cNvPr id="7" name="Text Placeholder 18">
            <a:extLst>
              <a:ext uri="{FF2B5EF4-FFF2-40B4-BE49-F238E27FC236}">
                <a16:creationId xmlns:a16="http://schemas.microsoft.com/office/drawing/2014/main" id="{ECCC9D25-386B-7DBD-8080-2FDA0D761BF3}"/>
              </a:ext>
            </a:extLst>
          </p:cNvPr>
          <p:cNvSpPr>
            <a:spLocks noGrp="1"/>
          </p:cNvSpPr>
          <p:nvPr>
            <p:custDataLst>
              <p:tags r:id="rId16"/>
            </p:custDataLst>
          </p:nvPr>
        </p:nvSpPr>
        <p:spPr bwMode="gray">
          <a:xfrm>
            <a:off x="2081213" y="2451100"/>
            <a:ext cx="396875" cy="168275"/>
          </a:xfrm>
          <a:prstGeom prst="rect">
            <a:avLst/>
          </a:prstGeom>
          <a:solidFill>
            <a:srgbClr val="53565A"/>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15D6E25-611C-45F6-B0B0-D256A6A9A5D1}" type="datetime'''''''''5'',0''''''''''''''''''''''''''2''''3'''''''''''''''''">
              <a:rPr lang="en-US" altLang="en-US" sz="11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5,023</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16" name="Text Placeholder 18">
            <a:extLst>
              <a:ext uri="{FF2B5EF4-FFF2-40B4-BE49-F238E27FC236}">
                <a16:creationId xmlns:a16="http://schemas.microsoft.com/office/drawing/2014/main" id="{4C342FF2-B4DF-9853-B8B8-FDC56B655F56}"/>
              </a:ext>
            </a:extLst>
          </p:cNvPr>
          <p:cNvSpPr>
            <a:spLocks noGrp="1"/>
          </p:cNvSpPr>
          <p:nvPr>
            <p:custDataLst>
              <p:tags r:id="rId17"/>
            </p:custDataLst>
          </p:nvPr>
        </p:nvSpPr>
        <p:spPr bwMode="gray">
          <a:xfrm>
            <a:off x="3346450" y="2414588"/>
            <a:ext cx="396875" cy="168275"/>
          </a:xfrm>
          <a:prstGeom prst="rect">
            <a:avLst/>
          </a:prstGeom>
          <a:solidFill>
            <a:srgbClr val="A7A8AA"/>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3B27B32-D4CB-4C79-99A2-BA3BAF145584}" type="datetime'''6'',''''''7''0''''''''''''''''''''4'''''''''''''''''''">
              <a:rPr lang="en-US" altLang="en-US" sz="1100" smtClean="0">
                <a:effectLst/>
                <a:latin typeface="Arial" panose="020B0604020202020204" pitchFamily="34" charset="0"/>
                <a:cs typeface="+mn-cs"/>
                <a:sym typeface="Arial" panose="020B0604020202020204" pitchFamily="34" charset="0"/>
              </a:rPr>
              <a:pPr lvl="0" algn="ctr">
                <a:spcBef>
                  <a:spcPct val="0"/>
                </a:spcBef>
                <a:spcAft>
                  <a:spcPct val="0"/>
                </a:spcAft>
              </a:pPr>
              <a:t>6,704</a:t>
            </a:fld>
            <a:endParaRPr lang="en-US" sz="1100" noProof="0">
              <a:latin typeface="Arial" panose="020B0604020202020204" pitchFamily="34" charset="0"/>
              <a:cs typeface="+mn-cs"/>
              <a:sym typeface="Arial" panose="020B0604020202020204" pitchFamily="34" charset="0"/>
            </a:endParaRPr>
          </a:p>
        </p:txBody>
      </p:sp>
      <p:sp>
        <p:nvSpPr>
          <p:cNvPr id="20" name="Text Placeholder 18">
            <a:extLst>
              <a:ext uri="{FF2B5EF4-FFF2-40B4-BE49-F238E27FC236}">
                <a16:creationId xmlns:a16="http://schemas.microsoft.com/office/drawing/2014/main" id="{36F06A05-37E0-6E52-E652-99B1CD57A973}"/>
              </a:ext>
            </a:extLst>
          </p:cNvPr>
          <p:cNvSpPr>
            <a:spLocks noGrp="1"/>
          </p:cNvSpPr>
          <p:nvPr>
            <p:custDataLst>
              <p:tags r:id="rId18"/>
            </p:custDataLst>
          </p:nvPr>
        </p:nvSpPr>
        <p:spPr bwMode="gray">
          <a:xfrm>
            <a:off x="4016375" y="2393950"/>
            <a:ext cx="396875"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30CF200-4D89-4EAA-B9C7-3BEBC1BB0A07}" type="datetime'''''''''''7'''''',''''''6''''''''''''''0''''''1'''''''''''">
              <a:rPr lang="en-US" altLang="en-US" sz="1100" smtClean="0">
                <a:effectLst/>
                <a:latin typeface="Arial" panose="020B0604020202020204" pitchFamily="34" charset="0"/>
                <a:cs typeface="+mn-cs"/>
                <a:sym typeface="Arial" panose="020B0604020202020204" pitchFamily="34" charset="0"/>
              </a:rPr>
              <a:pPr lvl="0" algn="ctr">
                <a:spcBef>
                  <a:spcPct val="0"/>
                </a:spcBef>
                <a:spcAft>
                  <a:spcPct val="0"/>
                </a:spcAft>
              </a:pPr>
              <a:t>7,601</a:t>
            </a:fld>
            <a:endParaRPr lang="en-US" sz="1100" noProof="0">
              <a:latin typeface="Arial" panose="020B0604020202020204" pitchFamily="34" charset="0"/>
              <a:cs typeface="+mn-cs"/>
              <a:sym typeface="Arial" panose="020B0604020202020204" pitchFamily="34" charset="0"/>
            </a:endParaRPr>
          </a:p>
        </p:txBody>
      </p:sp>
      <p:sp>
        <p:nvSpPr>
          <p:cNvPr id="39" name="Text Placeholder 18">
            <a:extLst>
              <a:ext uri="{FF2B5EF4-FFF2-40B4-BE49-F238E27FC236}">
                <a16:creationId xmlns:a16="http://schemas.microsoft.com/office/drawing/2014/main" id="{2876101D-F5CF-655F-3B51-74EAF141FBF0}"/>
              </a:ext>
            </a:extLst>
          </p:cNvPr>
          <p:cNvSpPr>
            <a:spLocks noGrp="1"/>
          </p:cNvSpPr>
          <p:nvPr>
            <p:custDataLst>
              <p:tags r:id="rId19"/>
            </p:custDataLst>
          </p:nvPr>
        </p:nvSpPr>
        <p:spPr bwMode="gray">
          <a:xfrm>
            <a:off x="6326188" y="2344738"/>
            <a:ext cx="396875" cy="168275"/>
          </a:xfrm>
          <a:prstGeom prst="rect">
            <a:avLst/>
          </a:prstGeom>
          <a:solidFill>
            <a:srgbClr val="53565A"/>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A68701E-A521-497A-AE56-16167D6CE1CF}" type="datetime'''''''''''''''''''''9'''''''''''''''''''''',''''''7''90'''">
              <a:rPr lang="en-US" altLang="en-US" sz="1100" smtClean="0">
                <a:solidFill>
                  <a:schemeClr val="bg1"/>
                </a:solidFill>
                <a:effectLst/>
                <a:latin typeface="Arial" panose="020B0604020202020204" pitchFamily="34" charset="0"/>
                <a:cs typeface="+mn-cs"/>
                <a:sym typeface="Arial" panose="020B0604020202020204" pitchFamily="34" charset="0"/>
              </a:rPr>
              <a:pPr lvl="0" algn="ctr">
                <a:spcBef>
                  <a:spcPct val="0"/>
                </a:spcBef>
                <a:spcAft>
                  <a:spcPct val="0"/>
                </a:spcAft>
              </a:pPr>
              <a:t>9,790</a:t>
            </a:fld>
            <a:endParaRPr lang="en-US" sz="1100" noProof="0">
              <a:solidFill>
                <a:schemeClr val="bg1"/>
              </a:solidFill>
              <a:latin typeface="Arial" panose="020B0604020202020204" pitchFamily="34" charset="0"/>
              <a:cs typeface="+mn-cs"/>
              <a:sym typeface="Arial" panose="020B0604020202020204" pitchFamily="34" charset="0"/>
            </a:endParaRPr>
          </a:p>
        </p:txBody>
      </p:sp>
      <p:sp>
        <p:nvSpPr>
          <p:cNvPr id="43" name="Text Placeholder 18">
            <a:extLst>
              <a:ext uri="{FF2B5EF4-FFF2-40B4-BE49-F238E27FC236}">
                <a16:creationId xmlns:a16="http://schemas.microsoft.com/office/drawing/2014/main" id="{11A41299-91A3-2E43-CB50-A1BA3DA71B7F}"/>
              </a:ext>
            </a:extLst>
          </p:cNvPr>
          <p:cNvSpPr>
            <a:spLocks noGrp="1"/>
          </p:cNvSpPr>
          <p:nvPr>
            <p:custDataLst>
              <p:tags r:id="rId20"/>
            </p:custDataLst>
          </p:nvPr>
        </p:nvSpPr>
        <p:spPr bwMode="gray">
          <a:xfrm>
            <a:off x="7553325" y="2330450"/>
            <a:ext cx="474663" cy="168275"/>
          </a:xfrm>
          <a:prstGeom prst="rect">
            <a:avLst/>
          </a:prstGeom>
          <a:solidFill>
            <a:srgbClr val="A7A8AA"/>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990D7D2E-BC5B-4BE9-936E-53C66954A98A}" type="datetime'10'',4''''''''''''''''5''''''''''''''''''''''''4'''''''''''">
              <a:rPr lang="en-US" altLang="en-US" sz="1100" smtClean="0">
                <a:effectLst/>
                <a:latin typeface="Arial" panose="020B0604020202020204" pitchFamily="34" charset="0"/>
                <a:cs typeface="+mn-cs"/>
                <a:sym typeface="Arial" panose="020B0604020202020204" pitchFamily="34" charset="0"/>
              </a:rPr>
              <a:pPr lvl="0" algn="ctr">
                <a:spcBef>
                  <a:spcPct val="0"/>
                </a:spcBef>
                <a:spcAft>
                  <a:spcPct val="0"/>
                </a:spcAft>
              </a:pPr>
              <a:t>10,454</a:t>
            </a:fld>
            <a:endParaRPr lang="en-US" sz="1100" noProof="0">
              <a:latin typeface="Arial" panose="020B0604020202020204" pitchFamily="34" charset="0"/>
              <a:cs typeface="+mn-cs"/>
              <a:sym typeface="Arial" panose="020B0604020202020204" pitchFamily="34" charset="0"/>
            </a:endParaRPr>
          </a:p>
        </p:txBody>
      </p:sp>
      <p:sp>
        <p:nvSpPr>
          <p:cNvPr id="56" name="Text Placeholder 18">
            <a:extLst>
              <a:ext uri="{FF2B5EF4-FFF2-40B4-BE49-F238E27FC236}">
                <a16:creationId xmlns:a16="http://schemas.microsoft.com/office/drawing/2014/main" id="{BFF69390-E5F5-C654-D3C0-E5F9E6E5EA64}"/>
              </a:ext>
            </a:extLst>
          </p:cNvPr>
          <p:cNvSpPr>
            <a:spLocks noGrp="1"/>
          </p:cNvSpPr>
          <p:nvPr>
            <p:custDataLst>
              <p:tags r:id="rId21"/>
            </p:custDataLst>
          </p:nvPr>
        </p:nvSpPr>
        <p:spPr bwMode="gray">
          <a:xfrm>
            <a:off x="8967788" y="2311400"/>
            <a:ext cx="474663" cy="168275"/>
          </a:xfrm>
          <a:prstGeom prst="rect">
            <a:avLst/>
          </a:prstGeom>
          <a:solidFill>
            <a:srgbClr val="A7A8AA"/>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AC3880D-D1AF-4690-86D8-3DD5F0FABBAA}" type="datetime'''11'''',''''''''''''3''''''0''''1'''''''''''''''''''">
              <a:rPr lang="en-US" altLang="en-US" sz="1100" smtClean="0">
                <a:effectLst/>
                <a:latin typeface="Arial" panose="020B0604020202020204" pitchFamily="34" charset="0"/>
                <a:cs typeface="+mn-cs"/>
                <a:sym typeface="Arial" panose="020B0604020202020204" pitchFamily="34" charset="0"/>
              </a:rPr>
              <a:pPr lvl="0" algn="ctr">
                <a:spcBef>
                  <a:spcPct val="0"/>
                </a:spcBef>
                <a:spcAft>
                  <a:spcPct val="0"/>
                </a:spcAft>
              </a:pPr>
              <a:t>11,301</a:t>
            </a:fld>
            <a:endParaRPr lang="en-US" sz="1100" noProof="0">
              <a:latin typeface="Arial" panose="020B0604020202020204" pitchFamily="34" charset="0"/>
              <a:cs typeface="+mn-cs"/>
              <a:sym typeface="Arial" panose="020B0604020202020204" pitchFamily="34" charset="0"/>
            </a:endParaRPr>
          </a:p>
        </p:txBody>
      </p:sp>
      <p:sp>
        <p:nvSpPr>
          <p:cNvPr id="62" name="Text Placeholder 18">
            <a:extLst>
              <a:ext uri="{FF2B5EF4-FFF2-40B4-BE49-F238E27FC236}">
                <a16:creationId xmlns:a16="http://schemas.microsoft.com/office/drawing/2014/main" id="{C6F6A123-1A7E-666B-768D-BDF9963A082E}"/>
              </a:ext>
            </a:extLst>
          </p:cNvPr>
          <p:cNvSpPr>
            <a:spLocks noGrp="1"/>
          </p:cNvSpPr>
          <p:nvPr>
            <p:custDataLst>
              <p:tags r:id="rId22"/>
            </p:custDataLst>
          </p:nvPr>
        </p:nvSpPr>
        <p:spPr bwMode="gray">
          <a:xfrm>
            <a:off x="9637713" y="2273300"/>
            <a:ext cx="474663" cy="168275"/>
          </a:xfrm>
          <a:prstGeom prst="rect">
            <a:avLst/>
          </a:prstGeom>
          <a:solidFill>
            <a:srgbClr val="C4D600"/>
          </a:solidFill>
          <a:ln>
            <a:noFill/>
          </a:ln>
          <a:effectLst/>
        </p:spPr>
        <p:txBody>
          <a:bodyPr vert="horz" wrap="none" lIns="23813" tIns="0" rIns="23813"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F5E2DBA-625B-474C-A455-501EDF99DFB0}" type="datetime'''''''1''2'''''',''''''''''''''9''''''''''99'''''">
              <a:rPr lang="en-US" altLang="en-US" sz="1100" smtClean="0">
                <a:effectLst/>
                <a:latin typeface="Arial" panose="020B0604020202020204" pitchFamily="34" charset="0"/>
                <a:cs typeface="+mn-cs"/>
                <a:sym typeface="Arial" panose="020B0604020202020204" pitchFamily="34" charset="0"/>
              </a:rPr>
              <a:pPr lvl="0" algn="ctr">
                <a:spcBef>
                  <a:spcPct val="0"/>
                </a:spcBef>
                <a:spcAft>
                  <a:spcPct val="0"/>
                </a:spcAft>
              </a:pPr>
              <a:t>12,999</a:t>
            </a:fld>
            <a:endParaRPr lang="en-US" sz="1100" noProof="0">
              <a:latin typeface="Arial" panose="020B0604020202020204" pitchFamily="34" charset="0"/>
              <a:cs typeface="+mn-cs"/>
              <a:sym typeface="Arial" panose="020B0604020202020204" pitchFamily="34" charset="0"/>
            </a:endParaRPr>
          </a:p>
        </p:txBody>
      </p:sp>
      <p:sp>
        <p:nvSpPr>
          <p:cNvPr id="170" name="Rectangle 169">
            <a:extLst>
              <a:ext uri="{FF2B5EF4-FFF2-40B4-BE49-F238E27FC236}">
                <a16:creationId xmlns:a16="http://schemas.microsoft.com/office/drawing/2014/main" id="{FF331A33-AADB-5E81-B5D2-A44EFC3E9AFD}"/>
              </a:ext>
            </a:extLst>
          </p:cNvPr>
          <p:cNvSpPr/>
          <p:nvPr>
            <p:custDataLst>
              <p:tags r:id="rId23"/>
            </p:custDataLst>
          </p:nvPr>
        </p:nvSpPr>
        <p:spPr bwMode="auto">
          <a:xfrm>
            <a:off x="2159000" y="3001963"/>
            <a:ext cx="196850" cy="147638"/>
          </a:xfrm>
          <a:prstGeom prst="rect">
            <a:avLst/>
          </a:prstGeom>
          <a:solidFill>
            <a:srgbClr val="C4D60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90" name="Rectangle 189">
            <a:extLst>
              <a:ext uri="{FF2B5EF4-FFF2-40B4-BE49-F238E27FC236}">
                <a16:creationId xmlns:a16="http://schemas.microsoft.com/office/drawing/2014/main" id="{DEC40819-489B-79C1-6C0B-AAA95E271084}"/>
              </a:ext>
            </a:extLst>
          </p:cNvPr>
          <p:cNvSpPr/>
          <p:nvPr>
            <p:custDataLst>
              <p:tags r:id="rId24"/>
            </p:custDataLst>
          </p:nvPr>
        </p:nvSpPr>
        <p:spPr bwMode="auto">
          <a:xfrm>
            <a:off x="2159000" y="3221038"/>
            <a:ext cx="196850" cy="147638"/>
          </a:xfrm>
          <a:prstGeom prst="rect">
            <a:avLst/>
          </a:prstGeom>
          <a:solidFill>
            <a:srgbClr val="6FC2B4"/>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91" name="Rectangle 190">
            <a:extLst>
              <a:ext uri="{FF2B5EF4-FFF2-40B4-BE49-F238E27FC236}">
                <a16:creationId xmlns:a16="http://schemas.microsoft.com/office/drawing/2014/main" id="{A3BF9930-DF4E-98E2-3727-8E31FA760D43}"/>
              </a:ext>
            </a:extLst>
          </p:cNvPr>
          <p:cNvSpPr/>
          <p:nvPr>
            <p:custDataLst>
              <p:tags r:id="rId25"/>
            </p:custDataLst>
          </p:nvPr>
        </p:nvSpPr>
        <p:spPr bwMode="auto">
          <a:xfrm>
            <a:off x="2159000" y="3440113"/>
            <a:ext cx="196850" cy="147638"/>
          </a:xfrm>
          <a:prstGeom prst="rect">
            <a:avLst/>
          </a:prstGeom>
          <a:solidFill>
            <a:srgbClr val="A0DCFF"/>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576" name="Rectangle 575">
            <a:extLst>
              <a:ext uri="{FF2B5EF4-FFF2-40B4-BE49-F238E27FC236}">
                <a16:creationId xmlns:a16="http://schemas.microsoft.com/office/drawing/2014/main" id="{612530CD-7E97-A363-CFF7-D7DE39BA06B3}"/>
              </a:ext>
            </a:extLst>
          </p:cNvPr>
          <p:cNvSpPr/>
          <p:nvPr>
            <p:custDataLst>
              <p:tags r:id="rId26"/>
            </p:custDataLst>
          </p:nvPr>
        </p:nvSpPr>
        <p:spPr bwMode="auto">
          <a:xfrm>
            <a:off x="5057775" y="3001963"/>
            <a:ext cx="196850" cy="147638"/>
          </a:xfrm>
          <a:prstGeom prst="rect">
            <a:avLst/>
          </a:prstGeom>
          <a:solidFill>
            <a:srgbClr val="00768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577" name="Rectangle 576">
            <a:extLst>
              <a:ext uri="{FF2B5EF4-FFF2-40B4-BE49-F238E27FC236}">
                <a16:creationId xmlns:a16="http://schemas.microsoft.com/office/drawing/2014/main" id="{34094043-BB0C-7FC3-E53E-AAF46C80594D}"/>
              </a:ext>
            </a:extLst>
          </p:cNvPr>
          <p:cNvSpPr/>
          <p:nvPr>
            <p:custDataLst>
              <p:tags r:id="rId27"/>
            </p:custDataLst>
          </p:nvPr>
        </p:nvSpPr>
        <p:spPr bwMode="auto">
          <a:xfrm>
            <a:off x="5057775" y="3221038"/>
            <a:ext cx="196850" cy="147638"/>
          </a:xfrm>
          <a:prstGeom prst="rect">
            <a:avLst/>
          </a:prstGeom>
          <a:solidFill>
            <a:srgbClr val="01216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640" name="Rectangle 639">
            <a:extLst>
              <a:ext uri="{FF2B5EF4-FFF2-40B4-BE49-F238E27FC236}">
                <a16:creationId xmlns:a16="http://schemas.microsoft.com/office/drawing/2014/main" id="{615BB9AA-EE5F-A5AA-951A-7D9FDDD77128}"/>
              </a:ext>
            </a:extLst>
          </p:cNvPr>
          <p:cNvSpPr/>
          <p:nvPr>
            <p:custDataLst>
              <p:tags r:id="rId28"/>
            </p:custDataLst>
          </p:nvPr>
        </p:nvSpPr>
        <p:spPr bwMode="auto">
          <a:xfrm>
            <a:off x="5057775" y="3440113"/>
            <a:ext cx="196850" cy="147638"/>
          </a:xfrm>
          <a:prstGeom prst="rect">
            <a:avLst/>
          </a:prstGeom>
          <a:solidFill>
            <a:srgbClr val="A7A8AA"/>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656" name="Rectangle 655">
            <a:extLst>
              <a:ext uri="{FF2B5EF4-FFF2-40B4-BE49-F238E27FC236}">
                <a16:creationId xmlns:a16="http://schemas.microsoft.com/office/drawing/2014/main" id="{81776A87-A8B8-72EF-2329-C1B16B746F21}"/>
              </a:ext>
            </a:extLst>
          </p:cNvPr>
          <p:cNvSpPr/>
          <p:nvPr>
            <p:custDataLst>
              <p:tags r:id="rId29"/>
            </p:custDataLst>
          </p:nvPr>
        </p:nvSpPr>
        <p:spPr bwMode="auto">
          <a:xfrm>
            <a:off x="7737475" y="3001963"/>
            <a:ext cx="196850" cy="147638"/>
          </a:xfrm>
          <a:prstGeom prst="rect">
            <a:avLst/>
          </a:prstGeom>
          <a:solidFill>
            <a:srgbClr val="53565A"/>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681" name="Rectangle 680">
            <a:extLst>
              <a:ext uri="{FF2B5EF4-FFF2-40B4-BE49-F238E27FC236}">
                <a16:creationId xmlns:a16="http://schemas.microsoft.com/office/drawing/2014/main" id="{7D9BDDAE-D4A5-C5A9-5328-901A4F6A4328}"/>
              </a:ext>
            </a:extLst>
          </p:cNvPr>
          <p:cNvSpPr/>
          <p:nvPr>
            <p:custDataLst>
              <p:tags r:id="rId30"/>
            </p:custDataLst>
          </p:nvPr>
        </p:nvSpPr>
        <p:spPr bwMode="auto">
          <a:xfrm>
            <a:off x="7737475" y="3221038"/>
            <a:ext cx="196850" cy="147638"/>
          </a:xfrm>
          <a:prstGeom prst="rect">
            <a:avLst/>
          </a:prstGeom>
          <a:solidFill>
            <a:srgbClr val="00000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cxnSp>
        <p:nvCxnSpPr>
          <p:cNvPr id="784" name="Straight Connector 783">
            <a:extLst>
              <a:ext uri="{FF2B5EF4-FFF2-40B4-BE49-F238E27FC236}">
                <a16:creationId xmlns:a16="http://schemas.microsoft.com/office/drawing/2014/main" id="{980926F0-3C76-68A9-AA85-67F82F0EE580}"/>
              </a:ext>
            </a:extLst>
          </p:cNvPr>
          <p:cNvCxnSpPr/>
          <p:nvPr>
            <p:custDataLst>
              <p:tags r:id="rId31"/>
            </p:custDataLst>
          </p:nvPr>
        </p:nvCxnSpPr>
        <p:spPr bwMode="gray">
          <a:xfrm>
            <a:off x="7615238" y="3513138"/>
            <a:ext cx="304800" cy="0"/>
          </a:xfrm>
          <a:prstGeom prst="line">
            <a:avLst/>
          </a:prstGeom>
          <a:ln w="28575" cap="rnd" cmpd="sng" algn="ctr">
            <a:solidFill>
              <a:srgbClr val="DA291C"/>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787" name="Rectangle 786">
            <a:extLst>
              <a:ext uri="{FF2B5EF4-FFF2-40B4-BE49-F238E27FC236}">
                <a16:creationId xmlns:a16="http://schemas.microsoft.com/office/drawing/2014/main" id="{72BE419D-9585-19F9-BD20-A2482FD8415C}"/>
              </a:ext>
            </a:extLst>
          </p:cNvPr>
          <p:cNvSpPr/>
          <p:nvPr>
            <p:custDataLst>
              <p:tags r:id="rId32"/>
            </p:custDataLst>
          </p:nvPr>
        </p:nvSpPr>
        <p:spPr bwMode="auto">
          <a:xfrm>
            <a:off x="7704138" y="3449638"/>
            <a:ext cx="127000" cy="127000"/>
          </a:xfrm>
          <a:prstGeom prst="rect">
            <a:avLst/>
          </a:prstGeom>
          <a:solidFill>
            <a:srgbClr val="DA291C"/>
          </a:solidFill>
          <a:ln w="9525" cmpd="sng" algn="ctr">
            <a:solidFill>
              <a:srgbClr val="DA291C"/>
            </a:solid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66" name="Text Placeholder 18">
            <a:extLst>
              <a:ext uri="{FF2B5EF4-FFF2-40B4-BE49-F238E27FC236}">
                <a16:creationId xmlns:a16="http://schemas.microsoft.com/office/drawing/2014/main" id="{BCB7328D-7CAE-BB34-90FE-0FFB292D5072}"/>
              </a:ext>
            </a:extLst>
          </p:cNvPr>
          <p:cNvSpPr>
            <a:spLocks noGrp="1"/>
          </p:cNvSpPr>
          <p:nvPr>
            <p:custDataLst>
              <p:tags r:id="rId33"/>
            </p:custDataLst>
          </p:nvPr>
        </p:nvSpPr>
        <p:spPr bwMode="auto">
          <a:xfrm>
            <a:off x="2406650" y="2997200"/>
            <a:ext cx="241300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9EB6A281-B123-401D-88CE-3CEE0CE6C719}" type="datetime'''''W''ECS'' ''''ED (20''1''5-40)'' BA''''''U (4''.5''% GDP)'">
              <a:rPr lang="de-DE" altLang="en-US" sz="1100" smtClean="0">
                <a:latin typeface="Arial" panose="020B0604020202020204" pitchFamily="34" charset="0"/>
                <a:cs typeface="+mn-cs"/>
              </a:rPr>
              <a:pPr lvl="0">
                <a:spcBef>
                  <a:spcPct val="0"/>
                </a:spcBef>
                <a:spcAft>
                  <a:spcPct val="0"/>
                </a:spcAft>
              </a:pPr>
              <a:t>WECS ED (2015-40) BAU (4.5% GDP)</a:t>
            </a:fld>
            <a:endParaRPr lang="en-US" sz="1100" noProof="0">
              <a:latin typeface="Arial" panose="020B0604020202020204" pitchFamily="34" charset="0"/>
              <a:cs typeface="+mn-cs"/>
              <a:sym typeface="Arial" panose="020B0604020202020204" pitchFamily="34" charset="0"/>
            </a:endParaRPr>
          </a:p>
        </p:txBody>
      </p:sp>
      <p:sp>
        <p:nvSpPr>
          <p:cNvPr id="180" name="Text Placeholder 18">
            <a:extLst>
              <a:ext uri="{FF2B5EF4-FFF2-40B4-BE49-F238E27FC236}">
                <a16:creationId xmlns:a16="http://schemas.microsoft.com/office/drawing/2014/main" id="{1D7A9967-956A-3E36-72DD-E08172847948}"/>
              </a:ext>
            </a:extLst>
          </p:cNvPr>
          <p:cNvSpPr>
            <a:spLocks noGrp="1"/>
          </p:cNvSpPr>
          <p:nvPr>
            <p:custDataLst>
              <p:tags r:id="rId34"/>
            </p:custDataLst>
          </p:nvPr>
        </p:nvSpPr>
        <p:spPr bwMode="auto">
          <a:xfrm>
            <a:off x="2406650" y="3216275"/>
            <a:ext cx="234156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C1DAA0A1-D965-4A5C-98CC-41A2DBA5DAC1}" type="datetime'W''''''ECS ED ''''''(''''''2015-4''0) Re''''f'' (7.''2% GDP)'">
              <a:rPr lang="en-US" altLang="en-US" sz="1100" smtClean="0">
                <a:latin typeface="Arial" panose="020B0604020202020204" pitchFamily="34" charset="0"/>
                <a:cs typeface="+mn-cs"/>
              </a:rPr>
              <a:pPr lvl="0">
                <a:spcBef>
                  <a:spcPct val="0"/>
                </a:spcBef>
                <a:spcAft>
                  <a:spcPct val="0"/>
                </a:spcAft>
              </a:pPr>
              <a:t>WECS ED (2015-40) Ref (7.2% GDP)</a:t>
            </a:fld>
            <a:endParaRPr lang="en-US" sz="1100" noProof="0">
              <a:latin typeface="Arial" panose="020B0604020202020204" pitchFamily="34" charset="0"/>
              <a:cs typeface="+mn-cs"/>
              <a:sym typeface="Arial" panose="020B0604020202020204" pitchFamily="34" charset="0"/>
            </a:endParaRPr>
          </a:p>
        </p:txBody>
      </p:sp>
      <p:sp>
        <p:nvSpPr>
          <p:cNvPr id="181" name="Text Placeholder 18">
            <a:extLst>
              <a:ext uri="{FF2B5EF4-FFF2-40B4-BE49-F238E27FC236}">
                <a16:creationId xmlns:a16="http://schemas.microsoft.com/office/drawing/2014/main" id="{B2D0ADF1-5706-C922-4391-FF91FC737285}"/>
              </a:ext>
            </a:extLst>
          </p:cNvPr>
          <p:cNvSpPr>
            <a:spLocks noGrp="1"/>
          </p:cNvSpPr>
          <p:nvPr>
            <p:custDataLst>
              <p:tags r:id="rId35"/>
            </p:custDataLst>
          </p:nvPr>
        </p:nvSpPr>
        <p:spPr bwMode="auto">
          <a:xfrm>
            <a:off x="2406650" y="3435350"/>
            <a:ext cx="241300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E4273AB0-F655-4A05-A76E-9CE65EAFED05}" type="datetime'WECS E''D'' (2''''0''15''-40) High'' ''(''''9''.2% G''''D''P)'">
              <a:rPr lang="en-US" altLang="en-US" sz="1100" smtClean="0">
                <a:latin typeface="Arial" panose="020B0604020202020204" pitchFamily="34" charset="0"/>
                <a:cs typeface="+mn-cs"/>
              </a:rPr>
              <a:pPr lvl="0">
                <a:spcBef>
                  <a:spcPct val="0"/>
                </a:spcBef>
                <a:spcAft>
                  <a:spcPct val="0"/>
                </a:spcAft>
              </a:pPr>
              <a:t>WECS ED (2015-40) High (9.2% GDP)</a:t>
            </a:fld>
            <a:endParaRPr lang="en-US" sz="1100" noProof="0">
              <a:latin typeface="Arial" panose="020B0604020202020204" pitchFamily="34" charset="0"/>
              <a:cs typeface="+mn-cs"/>
              <a:sym typeface="Arial" panose="020B0604020202020204" pitchFamily="34" charset="0"/>
            </a:endParaRPr>
          </a:p>
        </p:txBody>
      </p:sp>
      <p:sp>
        <p:nvSpPr>
          <p:cNvPr id="182" name="Text Placeholder 18">
            <a:extLst>
              <a:ext uri="{FF2B5EF4-FFF2-40B4-BE49-F238E27FC236}">
                <a16:creationId xmlns:a16="http://schemas.microsoft.com/office/drawing/2014/main" id="{D5B5C90A-2DBF-BF7F-7A65-65DDE47C8942}"/>
              </a:ext>
            </a:extLst>
          </p:cNvPr>
          <p:cNvSpPr>
            <a:spLocks noGrp="1"/>
          </p:cNvSpPr>
          <p:nvPr>
            <p:custDataLst>
              <p:tags r:id="rId36"/>
            </p:custDataLst>
          </p:nvPr>
        </p:nvSpPr>
        <p:spPr bwMode="auto">
          <a:xfrm>
            <a:off x="5305425" y="2997200"/>
            <a:ext cx="212248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2FC9B6CC-7672-4832-875C-35774287C6B0}" type="datetime'WE''''C''''''''S ED'' ''(2015''-''4''''0) Ref +'' Policy'' '">
              <a:rPr lang="en-US" altLang="en-US" sz="1100" smtClean="0">
                <a:latin typeface="Arial" panose="020B0604020202020204" pitchFamily="34" charset="0"/>
                <a:cs typeface="+mn-cs"/>
              </a:rPr>
              <a:pPr lvl="0">
                <a:spcBef>
                  <a:spcPct val="0"/>
                </a:spcBef>
                <a:spcAft>
                  <a:spcPct val="0"/>
                </a:spcAft>
              </a:pPr>
              <a:t>WECS ED (2015-40) Ref + Policy </a:t>
            </a:fld>
            <a:endParaRPr lang="en-US" sz="1100" noProof="0">
              <a:latin typeface="Arial" panose="020B0604020202020204" pitchFamily="34" charset="0"/>
              <a:cs typeface="+mn-cs"/>
              <a:sym typeface="Arial" panose="020B0604020202020204" pitchFamily="34" charset="0"/>
            </a:endParaRPr>
          </a:p>
        </p:txBody>
      </p:sp>
      <p:sp>
        <p:nvSpPr>
          <p:cNvPr id="183" name="Text Placeholder 18">
            <a:extLst>
              <a:ext uri="{FF2B5EF4-FFF2-40B4-BE49-F238E27FC236}">
                <a16:creationId xmlns:a16="http://schemas.microsoft.com/office/drawing/2014/main" id="{01B46A1D-977B-C2B3-C57A-B353F2042173}"/>
              </a:ext>
            </a:extLst>
          </p:cNvPr>
          <p:cNvSpPr>
            <a:spLocks noGrp="1"/>
          </p:cNvSpPr>
          <p:nvPr>
            <p:custDataLst>
              <p:tags r:id="rId37"/>
            </p:custDataLst>
          </p:nvPr>
        </p:nvSpPr>
        <p:spPr bwMode="auto">
          <a:xfrm>
            <a:off x="5305425" y="3216275"/>
            <a:ext cx="21939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B79DBAEC-16DB-4A35-B877-3FAE98A66F9F}" type="datetime'WE''C''S ED (''2''''01''5-40) High + ''''Po''''''li''''cy '''">
              <a:rPr lang="en-US" altLang="en-US" sz="1100" smtClean="0">
                <a:latin typeface="Arial" panose="020B0604020202020204" pitchFamily="34" charset="0"/>
                <a:cs typeface="+mn-cs"/>
              </a:rPr>
              <a:pPr lvl="0">
                <a:spcBef>
                  <a:spcPct val="0"/>
                </a:spcBef>
                <a:spcAft>
                  <a:spcPct val="0"/>
                </a:spcAft>
              </a:pPr>
              <a:t>WECS ED (2015-40) High + Policy </a:t>
            </a:fld>
            <a:endParaRPr lang="en-US" sz="1100" noProof="0">
              <a:latin typeface="Arial" panose="020B0604020202020204" pitchFamily="34" charset="0"/>
              <a:cs typeface="+mn-cs"/>
              <a:sym typeface="Arial" panose="020B0604020202020204" pitchFamily="34" charset="0"/>
            </a:endParaRPr>
          </a:p>
        </p:txBody>
      </p:sp>
      <p:sp>
        <p:nvSpPr>
          <p:cNvPr id="637" name="Text Placeholder 18">
            <a:extLst>
              <a:ext uri="{FF2B5EF4-FFF2-40B4-BE49-F238E27FC236}">
                <a16:creationId xmlns:a16="http://schemas.microsoft.com/office/drawing/2014/main" id="{4204C839-A983-2767-7847-C8391641DD04}"/>
              </a:ext>
            </a:extLst>
          </p:cNvPr>
          <p:cNvSpPr>
            <a:spLocks noGrp="1"/>
          </p:cNvSpPr>
          <p:nvPr>
            <p:custDataLst>
              <p:tags r:id="rId38"/>
            </p:custDataLst>
          </p:nvPr>
        </p:nvSpPr>
        <p:spPr bwMode="auto">
          <a:xfrm>
            <a:off x="5305425" y="3435350"/>
            <a:ext cx="166846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1175C671-A4B4-4E1A-973C-D8E5288B1EAC}" type="datetime'''''N''EA'''' ''Lo''a''d ''''Fore''c''''a''s''t (Base'')'">
              <a:rPr lang="en-US" altLang="en-US" sz="1100" smtClean="0">
                <a:latin typeface="Arial" panose="020B0604020202020204" pitchFamily="34" charset="0"/>
                <a:cs typeface="+mn-cs"/>
              </a:rPr>
              <a:pPr lvl="0">
                <a:spcBef>
                  <a:spcPct val="0"/>
                </a:spcBef>
                <a:spcAft>
                  <a:spcPct val="0"/>
                </a:spcAft>
              </a:pPr>
              <a:t>NEA Load Forecast (Base)</a:t>
            </a:fld>
            <a:endParaRPr lang="en-US" sz="1100" noProof="0">
              <a:latin typeface="Arial" panose="020B0604020202020204" pitchFamily="34" charset="0"/>
              <a:cs typeface="+mn-cs"/>
              <a:sym typeface="Arial" panose="020B0604020202020204" pitchFamily="34" charset="0"/>
            </a:endParaRPr>
          </a:p>
        </p:txBody>
      </p:sp>
      <p:sp>
        <p:nvSpPr>
          <p:cNvPr id="653" name="Text Placeholder 18">
            <a:extLst>
              <a:ext uri="{FF2B5EF4-FFF2-40B4-BE49-F238E27FC236}">
                <a16:creationId xmlns:a16="http://schemas.microsoft.com/office/drawing/2014/main" id="{74FC6285-1D7F-8ED4-F472-CCFDE9D77299}"/>
              </a:ext>
            </a:extLst>
          </p:cNvPr>
          <p:cNvSpPr>
            <a:spLocks noGrp="1"/>
          </p:cNvSpPr>
          <p:nvPr>
            <p:custDataLst>
              <p:tags r:id="rId39"/>
            </p:custDataLst>
          </p:nvPr>
        </p:nvSpPr>
        <p:spPr bwMode="auto">
          <a:xfrm>
            <a:off x="7985125" y="2997200"/>
            <a:ext cx="19621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56171F76-5B5B-46E1-8E66-1FCAB75B47B7}" type="datetime'''NE''A Load'' Forec''''ast'''' ''''(''Opti''''mi''''''stic)'">
              <a:rPr lang="en-US" altLang="en-US" sz="1100" smtClean="0">
                <a:latin typeface="Arial" panose="020B0604020202020204" pitchFamily="34" charset="0"/>
                <a:cs typeface="+mn-cs"/>
              </a:rPr>
              <a:pPr lvl="0">
                <a:spcBef>
                  <a:spcPct val="0"/>
                </a:spcBef>
                <a:spcAft>
                  <a:spcPct val="0"/>
                </a:spcAft>
              </a:pPr>
              <a:t>NEA Load Forecast (Optimistic)</a:t>
            </a:fld>
            <a:endParaRPr lang="en-US" sz="1100" noProof="0">
              <a:latin typeface="Arial" panose="020B0604020202020204" pitchFamily="34" charset="0"/>
              <a:cs typeface="+mn-cs"/>
              <a:sym typeface="Arial" panose="020B0604020202020204" pitchFamily="34" charset="0"/>
            </a:endParaRPr>
          </a:p>
        </p:txBody>
      </p:sp>
      <p:sp>
        <p:nvSpPr>
          <p:cNvPr id="678" name="Text Placeholder 18">
            <a:extLst>
              <a:ext uri="{FF2B5EF4-FFF2-40B4-BE49-F238E27FC236}">
                <a16:creationId xmlns:a16="http://schemas.microsoft.com/office/drawing/2014/main" id="{928DD21D-C047-269F-4F02-828D4D3A93E9}"/>
              </a:ext>
            </a:extLst>
          </p:cNvPr>
          <p:cNvSpPr>
            <a:spLocks noGrp="1"/>
          </p:cNvSpPr>
          <p:nvPr>
            <p:custDataLst>
              <p:tags r:id="rId40"/>
            </p:custDataLst>
          </p:nvPr>
        </p:nvSpPr>
        <p:spPr bwMode="auto">
          <a:xfrm>
            <a:off x="7985125" y="3216275"/>
            <a:ext cx="17811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6EF62444-06EC-49D0-8A45-F3F68349FB71}" type="datetime'''''''J''IC''A Mast''er'' ''Pla''n'' (''Op''''''''timum'')'''">
              <a:rPr lang="en-US" altLang="en-US" sz="1100" smtClean="0">
                <a:latin typeface="Arial" panose="020B0604020202020204" pitchFamily="34" charset="0"/>
                <a:cs typeface="+mn-cs"/>
              </a:rPr>
              <a:pPr lvl="0">
                <a:spcBef>
                  <a:spcPct val="0"/>
                </a:spcBef>
                <a:spcAft>
                  <a:spcPct val="0"/>
                </a:spcAft>
              </a:pPr>
              <a:t>JICA Master Plan (Optimum)</a:t>
            </a:fld>
            <a:endParaRPr lang="en-US" sz="1100" noProof="0">
              <a:latin typeface="Arial" panose="020B0604020202020204" pitchFamily="34" charset="0"/>
              <a:cs typeface="+mn-cs"/>
              <a:sym typeface="Arial" panose="020B0604020202020204" pitchFamily="34" charset="0"/>
            </a:endParaRPr>
          </a:p>
        </p:txBody>
      </p:sp>
      <p:sp>
        <p:nvSpPr>
          <p:cNvPr id="750" name="Text Placeholder 18">
            <a:extLst>
              <a:ext uri="{FF2B5EF4-FFF2-40B4-BE49-F238E27FC236}">
                <a16:creationId xmlns:a16="http://schemas.microsoft.com/office/drawing/2014/main" id="{6AFC401D-7B44-9B35-41EE-B089C7780745}"/>
              </a:ext>
            </a:extLst>
          </p:cNvPr>
          <p:cNvSpPr>
            <a:spLocks noGrp="1"/>
          </p:cNvSpPr>
          <p:nvPr>
            <p:custDataLst>
              <p:tags r:id="rId41"/>
            </p:custDataLst>
          </p:nvPr>
        </p:nvSpPr>
        <p:spPr bwMode="auto">
          <a:xfrm>
            <a:off x="7985125" y="3435350"/>
            <a:ext cx="49688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2B0BCD3D-4F25-4D0D-A58E-D2887089E0C3}" type="datetime'''A''''''''''''''c''''t''''''''''u''''''''''''al''s'' '''">
              <a:rPr lang="en-US" altLang="en-US" sz="1100" smtClean="0">
                <a:latin typeface="Arial" panose="020B0604020202020204" pitchFamily="34" charset="0"/>
                <a:cs typeface="+mn-cs"/>
              </a:rPr>
              <a:pPr lvl="0">
                <a:spcBef>
                  <a:spcPct val="0"/>
                </a:spcBef>
                <a:spcAft>
                  <a:spcPct val="0"/>
                </a:spcAft>
              </a:pPr>
              <a:t>Actuals </a:t>
            </a:fld>
            <a:endParaRPr lang="en-US" sz="1100" noProof="0">
              <a:latin typeface="Arial" panose="020B0604020202020204" pitchFamily="34" charset="0"/>
              <a:cs typeface="+mn-cs"/>
              <a:sym typeface="Arial" panose="020B0604020202020204" pitchFamily="34" charset="0"/>
            </a:endParaRPr>
          </a:p>
        </p:txBody>
      </p:sp>
      <p:sp>
        <p:nvSpPr>
          <p:cNvPr id="819" name="TextBox 818">
            <a:extLst>
              <a:ext uri="{FF2B5EF4-FFF2-40B4-BE49-F238E27FC236}">
                <a16:creationId xmlns:a16="http://schemas.microsoft.com/office/drawing/2014/main" id="{95DD6958-41C7-CE98-1998-848AD28EE768}"/>
              </a:ext>
            </a:extLst>
          </p:cNvPr>
          <p:cNvSpPr txBox="1"/>
          <p:nvPr/>
        </p:nvSpPr>
        <p:spPr>
          <a:xfrm>
            <a:off x="3810000" y="1030756"/>
            <a:ext cx="4883149" cy="523220"/>
          </a:xfrm>
          <a:prstGeom prst="rect">
            <a:avLst/>
          </a:prstGeom>
          <a:noFill/>
        </p:spPr>
        <p:txBody>
          <a:bodyPr wrap="square">
            <a:spAutoFit/>
          </a:bodyPr>
          <a:lstStyle/>
          <a:p>
            <a:pPr algn="ctr"/>
            <a:r>
              <a:rPr lang="en-US" sz="1400" b="1">
                <a:latin typeface="Arial" panose="020B0604020202020204" pitchFamily="34" charset="0"/>
                <a:cs typeface="Arial" panose="020B0604020202020204" pitchFamily="34" charset="0"/>
              </a:rPr>
              <a:t>Comparison of Actuals vs Historically Forecasted National Electricity Demand (GWh) </a:t>
            </a:r>
            <a:endParaRPr lang="en-US" sz="1400" b="1"/>
          </a:p>
        </p:txBody>
      </p:sp>
      <p:graphicFrame>
        <p:nvGraphicFramePr>
          <p:cNvPr id="929" name="Chart 928">
            <a:extLst>
              <a:ext uri="{FF2B5EF4-FFF2-40B4-BE49-F238E27FC236}">
                <a16:creationId xmlns:a16="http://schemas.microsoft.com/office/drawing/2014/main" id="{4C8EA23F-2F47-1226-C86A-BB7F6D087AAE}"/>
              </a:ext>
            </a:extLst>
          </p:cNvPr>
          <p:cNvGraphicFramePr/>
          <p:nvPr>
            <p:custDataLst>
              <p:tags r:id="rId42"/>
            </p:custDataLst>
            <p:extLst>
              <p:ext uri="{D42A27DB-BD31-4B8C-83A1-F6EECF244321}">
                <p14:modId xmlns:p14="http://schemas.microsoft.com/office/powerpoint/2010/main" val="1819244640"/>
              </p:ext>
            </p:extLst>
          </p:nvPr>
        </p:nvGraphicFramePr>
        <p:xfrm>
          <a:off x="912813" y="3911600"/>
          <a:ext cx="10272712" cy="1330325"/>
        </p:xfrm>
        <a:graphic>
          <a:graphicData uri="http://schemas.openxmlformats.org/drawingml/2006/chart">
            <c:chart xmlns:c="http://schemas.openxmlformats.org/drawingml/2006/chart" xmlns:r="http://schemas.openxmlformats.org/officeDocument/2006/relationships" r:id="rId69"/>
          </a:graphicData>
        </a:graphic>
      </p:graphicFrame>
      <p:sp>
        <p:nvSpPr>
          <p:cNvPr id="897" name="Arrow: Right 896">
            <a:extLst>
              <a:ext uri="{FF2B5EF4-FFF2-40B4-BE49-F238E27FC236}">
                <a16:creationId xmlns:a16="http://schemas.microsoft.com/office/drawing/2014/main" id="{DEAF4253-C530-6135-271F-C2CB9791A9C7}"/>
              </a:ext>
            </a:extLst>
          </p:cNvPr>
          <p:cNvSpPr/>
          <p:nvPr>
            <p:custDataLst>
              <p:tags r:id="rId43"/>
            </p:custDataLst>
          </p:nvPr>
        </p:nvSpPr>
        <p:spPr bwMode="auto">
          <a:xfrm rot="10800000">
            <a:off x="11153775" y="4438650"/>
            <a:ext cx="128588" cy="152400"/>
          </a:xfrm>
          <a:prstGeom prst="rightArrow">
            <a:avLst>
              <a:gd name="adj1" fmla="val 100000"/>
              <a:gd name="adj2" fmla="val 100000"/>
            </a:avLst>
          </a:prstGeom>
          <a:solidFill>
            <a:schemeClr val="tx1"/>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cxnSp>
        <p:nvCxnSpPr>
          <p:cNvPr id="898" name="Straight Connector 897">
            <a:extLst>
              <a:ext uri="{FF2B5EF4-FFF2-40B4-BE49-F238E27FC236}">
                <a16:creationId xmlns:a16="http://schemas.microsoft.com/office/drawing/2014/main" id="{A98457AF-2363-589A-8D05-19EA41AAD09C}"/>
              </a:ext>
            </a:extLst>
          </p:cNvPr>
          <p:cNvCxnSpPr/>
          <p:nvPr>
            <p:custDataLst>
              <p:tags r:id="rId44"/>
            </p:custDataLst>
          </p:nvPr>
        </p:nvCxnSpPr>
        <p:spPr bwMode="auto">
          <a:xfrm>
            <a:off x="995364" y="4514850"/>
            <a:ext cx="2397125" cy="0"/>
          </a:xfrm>
          <a:prstGeom prst="line">
            <a:avLst/>
          </a:prstGeom>
          <a:ln w="9525" cap="flat" cmpd="sng" algn="ctr">
            <a:solidFill>
              <a:schemeClr val="tx1"/>
            </a:solidFill>
            <a:prstDash val="lg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899" name="Straight Connector 898">
            <a:extLst>
              <a:ext uri="{FF2B5EF4-FFF2-40B4-BE49-F238E27FC236}">
                <a16:creationId xmlns:a16="http://schemas.microsoft.com/office/drawing/2014/main" id="{B0F8619D-F82F-835B-DA11-B5DFBC2E5F91}"/>
              </a:ext>
            </a:extLst>
          </p:cNvPr>
          <p:cNvCxnSpPr/>
          <p:nvPr>
            <p:custDataLst>
              <p:tags r:id="rId45"/>
            </p:custDataLst>
          </p:nvPr>
        </p:nvCxnSpPr>
        <p:spPr bwMode="auto">
          <a:xfrm>
            <a:off x="3654426" y="4514850"/>
            <a:ext cx="1001713" cy="0"/>
          </a:xfrm>
          <a:prstGeom prst="line">
            <a:avLst/>
          </a:prstGeom>
          <a:ln w="9525" cap="flat" cmpd="sng" algn="ctr">
            <a:solidFill>
              <a:schemeClr val="tx1"/>
            </a:solidFill>
            <a:prstDash val="lg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00" name="Straight Connector 899">
            <a:extLst>
              <a:ext uri="{FF2B5EF4-FFF2-40B4-BE49-F238E27FC236}">
                <a16:creationId xmlns:a16="http://schemas.microsoft.com/office/drawing/2014/main" id="{EFAE577D-349B-6040-6413-C76C3FA6E9E2}"/>
              </a:ext>
            </a:extLst>
          </p:cNvPr>
          <p:cNvCxnSpPr/>
          <p:nvPr>
            <p:custDataLst>
              <p:tags r:id="rId46"/>
            </p:custDataLst>
          </p:nvPr>
        </p:nvCxnSpPr>
        <p:spPr bwMode="auto">
          <a:xfrm>
            <a:off x="4918076" y="4514850"/>
            <a:ext cx="1001713" cy="0"/>
          </a:xfrm>
          <a:prstGeom prst="line">
            <a:avLst/>
          </a:prstGeom>
          <a:ln w="9525" cap="flat" cmpd="sng" algn="ctr">
            <a:solidFill>
              <a:schemeClr val="tx1"/>
            </a:solidFill>
            <a:prstDash val="lg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02" name="Straight Connector 901">
            <a:extLst>
              <a:ext uri="{FF2B5EF4-FFF2-40B4-BE49-F238E27FC236}">
                <a16:creationId xmlns:a16="http://schemas.microsoft.com/office/drawing/2014/main" id="{4593040B-6638-FE96-98CF-CEE6E9F06DD3}"/>
              </a:ext>
            </a:extLst>
          </p:cNvPr>
          <p:cNvCxnSpPr/>
          <p:nvPr>
            <p:custDataLst>
              <p:tags r:id="rId47"/>
            </p:custDataLst>
          </p:nvPr>
        </p:nvCxnSpPr>
        <p:spPr bwMode="auto">
          <a:xfrm>
            <a:off x="6181725" y="4514850"/>
            <a:ext cx="4921250" cy="0"/>
          </a:xfrm>
          <a:prstGeom prst="line">
            <a:avLst/>
          </a:prstGeom>
          <a:ln w="9525" cap="flat" cmpd="sng" algn="ctr">
            <a:solidFill>
              <a:schemeClr val="tx1"/>
            </a:solidFill>
            <a:prstDash val="lg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827" name="Text Placeholder 18">
            <a:extLst>
              <a:ext uri="{FF2B5EF4-FFF2-40B4-BE49-F238E27FC236}">
                <a16:creationId xmlns:a16="http://schemas.microsoft.com/office/drawing/2014/main" id="{308D96E0-F717-CAB5-0553-7C0C08AA1543}"/>
              </a:ext>
            </a:extLst>
          </p:cNvPr>
          <p:cNvSpPr>
            <a:spLocks noGrp="1"/>
          </p:cNvSpPr>
          <p:nvPr>
            <p:custDataLst>
              <p:tags r:id="rId48"/>
            </p:custDataLst>
          </p:nvPr>
        </p:nvSpPr>
        <p:spPr bwMode="auto">
          <a:xfrm>
            <a:off x="820738" y="5076825"/>
            <a:ext cx="349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4A34BBB-85BC-4A04-9D4A-A13C52236E01}" type="datetime'2''''0''''''''1''''''''''''''''''5'''">
              <a:rPr lang="en-US" altLang="en-US" sz="1200" smtClean="0">
                <a:latin typeface="Arial" panose="020B0604020202020204" pitchFamily="34" charset="0"/>
                <a:cs typeface="+mn-cs"/>
              </a:rPr>
              <a:pPr lvl="0" algn="ctr">
                <a:spcBef>
                  <a:spcPct val="0"/>
                </a:spcBef>
                <a:spcAft>
                  <a:spcPct val="0"/>
                </a:spcAft>
              </a:pPr>
              <a:t>2015</a:t>
            </a:fld>
            <a:endParaRPr lang="en-US" sz="1200" noProof="0">
              <a:latin typeface="Arial" panose="020B0604020202020204" pitchFamily="34" charset="0"/>
              <a:cs typeface="+mn-cs"/>
              <a:sym typeface="Arial" panose="020B0604020202020204" pitchFamily="34" charset="0"/>
            </a:endParaRPr>
          </a:p>
        </p:txBody>
      </p:sp>
      <p:sp>
        <p:nvSpPr>
          <p:cNvPr id="889" name="Text Placeholder 18">
            <a:extLst>
              <a:ext uri="{FF2B5EF4-FFF2-40B4-BE49-F238E27FC236}">
                <a16:creationId xmlns:a16="http://schemas.microsoft.com/office/drawing/2014/main" id="{A85DFD7F-E345-0BFD-6BDE-82A3E71F1C74}"/>
              </a:ext>
            </a:extLst>
          </p:cNvPr>
          <p:cNvSpPr>
            <a:spLocks noGrp="1"/>
          </p:cNvSpPr>
          <p:nvPr>
            <p:custDataLst>
              <p:tags r:id="rId49"/>
            </p:custDataLst>
          </p:nvPr>
        </p:nvSpPr>
        <p:spPr bwMode="gray">
          <a:xfrm>
            <a:off x="2128838" y="4703763"/>
            <a:ext cx="261938" cy="182563"/>
          </a:xfrm>
          <a:prstGeom prst="rect">
            <a:avLst/>
          </a:prstGeom>
          <a:solidFill>
            <a:srgbClr val="86BC2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7526447-A021-4874-8C99-072AE2133694}" type="datetime'0''''''''''.''''4'''''''''''''''''">
              <a:rPr lang="en-US" altLang="en-US" sz="1200" smtClean="0">
                <a:effectLst/>
                <a:latin typeface="Arial" panose="020B0604020202020204" pitchFamily="34" charset="0"/>
                <a:cs typeface="+mn-cs"/>
              </a:rPr>
              <a:pPr lvl="0" algn="ctr">
                <a:spcBef>
                  <a:spcPct val="0"/>
                </a:spcBef>
                <a:spcAft>
                  <a:spcPct val="0"/>
                </a:spcAft>
              </a:pPr>
              <a:t>0.4</a:t>
            </a:fld>
            <a:endParaRPr lang="en-US" sz="1200" noProof="0">
              <a:latin typeface="Arial" panose="020B0604020202020204" pitchFamily="34" charset="0"/>
              <a:cs typeface="+mn-cs"/>
              <a:sym typeface="Arial" panose="020B0604020202020204" pitchFamily="34" charset="0"/>
            </a:endParaRPr>
          </a:p>
        </p:txBody>
      </p:sp>
      <p:sp>
        <p:nvSpPr>
          <p:cNvPr id="828" name="Text Placeholder 18">
            <a:extLst>
              <a:ext uri="{FF2B5EF4-FFF2-40B4-BE49-F238E27FC236}">
                <a16:creationId xmlns:a16="http://schemas.microsoft.com/office/drawing/2014/main" id="{9884E190-E7E6-B68A-1E0D-E89E33F32012}"/>
              </a:ext>
            </a:extLst>
          </p:cNvPr>
          <p:cNvSpPr>
            <a:spLocks noGrp="1"/>
          </p:cNvSpPr>
          <p:nvPr>
            <p:custDataLst>
              <p:tags r:id="rId50"/>
            </p:custDataLst>
          </p:nvPr>
        </p:nvSpPr>
        <p:spPr bwMode="auto">
          <a:xfrm>
            <a:off x="2084388" y="5076825"/>
            <a:ext cx="349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5284062-6B9F-4924-89C9-9C02DECBBABB}" type="datetime'''''''''''''''''2''0''''1''''6'''''''''''''''''">
              <a:rPr lang="en-US" altLang="en-US" sz="1200" smtClean="0">
                <a:latin typeface="Arial" panose="020B0604020202020204" pitchFamily="34" charset="0"/>
                <a:cs typeface="+mn-cs"/>
              </a:rPr>
              <a:pPr lvl="0" algn="ctr">
                <a:spcBef>
                  <a:spcPct val="0"/>
                </a:spcBef>
                <a:spcAft>
                  <a:spcPct val="0"/>
                </a:spcAft>
              </a:pPr>
              <a:t>2016</a:t>
            </a:fld>
            <a:endParaRPr lang="en-US" sz="1200" noProof="0">
              <a:latin typeface="Arial" panose="020B0604020202020204" pitchFamily="34" charset="0"/>
              <a:cs typeface="+mn-cs"/>
              <a:sym typeface="Arial" panose="020B0604020202020204" pitchFamily="34" charset="0"/>
            </a:endParaRPr>
          </a:p>
        </p:txBody>
      </p:sp>
      <p:sp>
        <p:nvSpPr>
          <p:cNvPr id="829" name="Text Placeholder 18">
            <a:extLst>
              <a:ext uri="{FF2B5EF4-FFF2-40B4-BE49-F238E27FC236}">
                <a16:creationId xmlns:a16="http://schemas.microsoft.com/office/drawing/2014/main" id="{2945EC87-9D86-B378-050F-7D7B8BFF226D}"/>
              </a:ext>
            </a:extLst>
          </p:cNvPr>
          <p:cNvSpPr>
            <a:spLocks noGrp="1"/>
          </p:cNvSpPr>
          <p:nvPr>
            <p:custDataLst>
              <p:tags r:id="rId51"/>
            </p:custDataLst>
          </p:nvPr>
        </p:nvSpPr>
        <p:spPr bwMode="auto">
          <a:xfrm>
            <a:off x="3348038" y="5076825"/>
            <a:ext cx="349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1DBE095-14BA-49A4-99F7-7A5C9CCBCAB2}" type="datetime'2''''''0''''''''''''''1''''7'''''''''''''''''''''">
              <a:rPr lang="en-US" altLang="en-US" sz="1200" smtClean="0">
                <a:latin typeface="Arial" panose="020B0604020202020204" pitchFamily="34" charset="0"/>
                <a:cs typeface="+mn-cs"/>
              </a:rPr>
              <a:pPr lvl="0" algn="ctr">
                <a:spcBef>
                  <a:spcPct val="0"/>
                </a:spcBef>
                <a:spcAft>
                  <a:spcPct val="0"/>
                </a:spcAft>
              </a:pPr>
              <a:t>2017</a:t>
            </a:fld>
            <a:endParaRPr lang="en-US" sz="1200" noProof="0">
              <a:latin typeface="Arial" panose="020B0604020202020204" pitchFamily="34" charset="0"/>
              <a:cs typeface="+mn-cs"/>
              <a:sym typeface="Arial" panose="020B0604020202020204" pitchFamily="34" charset="0"/>
            </a:endParaRPr>
          </a:p>
        </p:txBody>
      </p:sp>
      <p:sp>
        <p:nvSpPr>
          <p:cNvPr id="845" name="Text Placeholder 18">
            <a:extLst>
              <a:ext uri="{FF2B5EF4-FFF2-40B4-BE49-F238E27FC236}">
                <a16:creationId xmlns:a16="http://schemas.microsoft.com/office/drawing/2014/main" id="{CEF00D2B-DBA2-63C4-99C0-EE7073E82FAD}"/>
              </a:ext>
            </a:extLst>
          </p:cNvPr>
          <p:cNvSpPr>
            <a:spLocks noGrp="1"/>
          </p:cNvSpPr>
          <p:nvPr>
            <p:custDataLst>
              <p:tags r:id="rId52"/>
            </p:custDataLst>
          </p:nvPr>
        </p:nvSpPr>
        <p:spPr bwMode="auto">
          <a:xfrm>
            <a:off x="4611688" y="5076825"/>
            <a:ext cx="349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74671051-51C2-4251-9F1F-4F1A61D30E18}" type="datetime'''''''''''2''''''''''0''1''''''8'''''''''''''">
              <a:rPr lang="en-US" altLang="en-US" sz="1200" smtClean="0">
                <a:latin typeface="Arial" panose="020B0604020202020204" pitchFamily="34" charset="0"/>
                <a:cs typeface="+mn-cs"/>
              </a:rPr>
              <a:pPr lvl="0" algn="ctr">
                <a:spcBef>
                  <a:spcPct val="0"/>
                </a:spcBef>
                <a:spcAft>
                  <a:spcPct val="0"/>
                </a:spcAft>
              </a:pPr>
              <a:t>2018</a:t>
            </a:fld>
            <a:endParaRPr lang="en-US" sz="1200" noProof="0">
              <a:latin typeface="Arial" panose="020B0604020202020204" pitchFamily="34" charset="0"/>
              <a:cs typeface="+mn-cs"/>
              <a:sym typeface="Arial" panose="020B0604020202020204" pitchFamily="34" charset="0"/>
            </a:endParaRPr>
          </a:p>
        </p:txBody>
      </p:sp>
      <p:sp>
        <p:nvSpPr>
          <p:cNvPr id="846" name="Text Placeholder 18">
            <a:extLst>
              <a:ext uri="{FF2B5EF4-FFF2-40B4-BE49-F238E27FC236}">
                <a16:creationId xmlns:a16="http://schemas.microsoft.com/office/drawing/2014/main" id="{5DDAB7CF-0D2E-22DC-E511-3A0335F5F11F}"/>
              </a:ext>
            </a:extLst>
          </p:cNvPr>
          <p:cNvSpPr>
            <a:spLocks noGrp="1"/>
          </p:cNvSpPr>
          <p:nvPr>
            <p:custDataLst>
              <p:tags r:id="rId53"/>
            </p:custDataLst>
          </p:nvPr>
        </p:nvSpPr>
        <p:spPr bwMode="auto">
          <a:xfrm>
            <a:off x="5875338" y="5076825"/>
            <a:ext cx="349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36A9A83-A9D7-4819-A988-9FE225C9F3AB}" type="datetime'''''''''''''''2''''''''0''1''''''''9'''''">
              <a:rPr lang="en-US" altLang="en-US" sz="1200" smtClean="0">
                <a:latin typeface="Arial" panose="020B0604020202020204" pitchFamily="34" charset="0"/>
                <a:cs typeface="+mn-cs"/>
              </a:rPr>
              <a:pPr lvl="0" algn="ctr">
                <a:spcBef>
                  <a:spcPct val="0"/>
                </a:spcBef>
                <a:spcAft>
                  <a:spcPct val="0"/>
                </a:spcAft>
              </a:pPr>
              <a:t>2019</a:t>
            </a:fld>
            <a:endParaRPr lang="en-US" sz="1200" noProof="0">
              <a:latin typeface="Arial" panose="020B0604020202020204" pitchFamily="34" charset="0"/>
              <a:cs typeface="+mn-cs"/>
              <a:sym typeface="Arial" panose="020B0604020202020204" pitchFamily="34" charset="0"/>
            </a:endParaRPr>
          </a:p>
        </p:txBody>
      </p:sp>
      <p:sp>
        <p:nvSpPr>
          <p:cNvPr id="890" name="Text Placeholder 18">
            <a:extLst>
              <a:ext uri="{FF2B5EF4-FFF2-40B4-BE49-F238E27FC236}">
                <a16:creationId xmlns:a16="http://schemas.microsoft.com/office/drawing/2014/main" id="{8E5537DD-7DE0-00EE-8496-F7BD8DF33320}"/>
              </a:ext>
            </a:extLst>
          </p:cNvPr>
          <p:cNvSpPr>
            <a:spLocks noGrp="1"/>
          </p:cNvSpPr>
          <p:nvPr>
            <p:custDataLst>
              <p:tags r:id="rId54"/>
            </p:custDataLst>
          </p:nvPr>
        </p:nvSpPr>
        <p:spPr bwMode="gray">
          <a:xfrm>
            <a:off x="7156450" y="4800600"/>
            <a:ext cx="312738" cy="182563"/>
          </a:xfrm>
          <a:prstGeom prst="rect">
            <a:avLst/>
          </a:prstGeom>
          <a:solidFill>
            <a:srgbClr val="86BC2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6DC2F55-EB32-40D8-A0B8-1788F14AAFE0}" type="datetime'''-''''''''''2''''''.''''''''''''''4'''">
              <a:rPr lang="en-US" altLang="en-US" sz="1200" smtClean="0">
                <a:effectLst/>
                <a:latin typeface="Arial" panose="020B0604020202020204" pitchFamily="34" charset="0"/>
                <a:cs typeface="+mn-cs"/>
              </a:rPr>
              <a:pPr lvl="0" algn="ctr">
                <a:spcBef>
                  <a:spcPct val="0"/>
                </a:spcBef>
                <a:spcAft>
                  <a:spcPct val="0"/>
                </a:spcAft>
              </a:pPr>
              <a:t>-2.4</a:t>
            </a:fld>
            <a:endParaRPr lang="en-US" sz="1200" noProof="0">
              <a:latin typeface="Arial" panose="020B0604020202020204" pitchFamily="34" charset="0"/>
              <a:cs typeface="+mn-cs"/>
              <a:sym typeface="Arial" panose="020B0604020202020204" pitchFamily="34" charset="0"/>
            </a:endParaRPr>
          </a:p>
        </p:txBody>
      </p:sp>
      <p:sp>
        <p:nvSpPr>
          <p:cNvPr id="847" name="Text Placeholder 18">
            <a:extLst>
              <a:ext uri="{FF2B5EF4-FFF2-40B4-BE49-F238E27FC236}">
                <a16:creationId xmlns:a16="http://schemas.microsoft.com/office/drawing/2014/main" id="{FB76D247-7915-0D39-B6EE-DAB66D7AC13B}"/>
              </a:ext>
            </a:extLst>
          </p:cNvPr>
          <p:cNvSpPr>
            <a:spLocks noGrp="1"/>
          </p:cNvSpPr>
          <p:nvPr>
            <p:custDataLst>
              <p:tags r:id="rId55"/>
            </p:custDataLst>
          </p:nvPr>
        </p:nvSpPr>
        <p:spPr bwMode="auto">
          <a:xfrm>
            <a:off x="7137400" y="5076825"/>
            <a:ext cx="349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B05D9CC6-B4F2-45DF-964E-351F7A7CAC4B}" type="datetime'''''''''2''0''''2''''''''''''''''''0'''''''''''''">
              <a:rPr lang="en-US" altLang="en-US" sz="1200" smtClean="0">
                <a:latin typeface="Arial" panose="020B0604020202020204" pitchFamily="34" charset="0"/>
                <a:cs typeface="+mn-cs"/>
              </a:rPr>
              <a:pPr lvl="0" algn="ctr">
                <a:spcBef>
                  <a:spcPct val="0"/>
                </a:spcBef>
                <a:spcAft>
                  <a:spcPct val="0"/>
                </a:spcAft>
              </a:pPr>
              <a:t>2020</a:t>
            </a:fld>
            <a:endParaRPr lang="en-US" sz="1200" noProof="0">
              <a:latin typeface="Arial" panose="020B0604020202020204" pitchFamily="34" charset="0"/>
              <a:cs typeface="+mn-cs"/>
              <a:sym typeface="Arial" panose="020B0604020202020204" pitchFamily="34" charset="0"/>
            </a:endParaRPr>
          </a:p>
        </p:txBody>
      </p:sp>
      <p:sp>
        <p:nvSpPr>
          <p:cNvPr id="851" name="Text Placeholder 18">
            <a:extLst>
              <a:ext uri="{FF2B5EF4-FFF2-40B4-BE49-F238E27FC236}">
                <a16:creationId xmlns:a16="http://schemas.microsoft.com/office/drawing/2014/main" id="{6E1E93DA-C4C2-E731-0E5A-E0FC62F32D5D}"/>
              </a:ext>
            </a:extLst>
          </p:cNvPr>
          <p:cNvSpPr>
            <a:spLocks noGrp="1"/>
          </p:cNvSpPr>
          <p:nvPr>
            <p:custDataLst>
              <p:tags r:id="rId56"/>
            </p:custDataLst>
          </p:nvPr>
        </p:nvSpPr>
        <p:spPr bwMode="auto">
          <a:xfrm>
            <a:off x="8401050" y="5076825"/>
            <a:ext cx="349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B7F160D-C729-478B-9AAC-BED3F4A5D614}" type="datetime'''''''''2''''''''''''''''0''2''''1'''">
              <a:rPr lang="en-US" altLang="en-US" sz="1200" smtClean="0">
                <a:latin typeface="Arial" panose="020B0604020202020204" pitchFamily="34" charset="0"/>
                <a:cs typeface="+mn-cs"/>
              </a:rPr>
              <a:pPr lvl="0" algn="ctr">
                <a:spcBef>
                  <a:spcPct val="0"/>
                </a:spcBef>
                <a:spcAft>
                  <a:spcPct val="0"/>
                </a:spcAft>
              </a:pPr>
              <a:t>2021</a:t>
            </a:fld>
            <a:endParaRPr lang="en-US" sz="1200" noProof="0">
              <a:latin typeface="Arial" panose="020B0604020202020204" pitchFamily="34" charset="0"/>
              <a:cs typeface="+mn-cs"/>
              <a:sym typeface="Arial" panose="020B0604020202020204" pitchFamily="34" charset="0"/>
            </a:endParaRPr>
          </a:p>
        </p:txBody>
      </p:sp>
      <p:sp>
        <p:nvSpPr>
          <p:cNvPr id="848" name="Text Placeholder 18">
            <a:extLst>
              <a:ext uri="{FF2B5EF4-FFF2-40B4-BE49-F238E27FC236}">
                <a16:creationId xmlns:a16="http://schemas.microsoft.com/office/drawing/2014/main" id="{CDE21DCB-AA15-BAA6-366F-37392D5ED978}"/>
              </a:ext>
            </a:extLst>
          </p:cNvPr>
          <p:cNvSpPr>
            <a:spLocks noGrp="1"/>
          </p:cNvSpPr>
          <p:nvPr>
            <p:custDataLst>
              <p:tags r:id="rId57"/>
            </p:custDataLst>
          </p:nvPr>
        </p:nvSpPr>
        <p:spPr bwMode="auto">
          <a:xfrm>
            <a:off x="9664700" y="5076825"/>
            <a:ext cx="349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A907D814-1174-43C5-9953-C49DDEFB7913}" type="datetime'''''''2''''''''0''''2''''''''2'''''''''''''''">
              <a:rPr lang="en-US" altLang="en-US" sz="1200" smtClean="0">
                <a:latin typeface="Arial" panose="020B0604020202020204" pitchFamily="34" charset="0"/>
                <a:cs typeface="+mn-cs"/>
              </a:rPr>
              <a:pPr lvl="0" algn="ctr">
                <a:spcBef>
                  <a:spcPct val="0"/>
                </a:spcBef>
                <a:spcAft>
                  <a:spcPct val="0"/>
                </a:spcAft>
              </a:pPr>
              <a:t>2022</a:t>
            </a:fld>
            <a:endParaRPr lang="en-US" sz="1200" noProof="0">
              <a:latin typeface="Arial" panose="020B0604020202020204" pitchFamily="34" charset="0"/>
              <a:cs typeface="+mn-cs"/>
              <a:sym typeface="Arial" panose="020B0604020202020204" pitchFamily="34" charset="0"/>
            </a:endParaRPr>
          </a:p>
        </p:txBody>
      </p:sp>
      <p:sp>
        <p:nvSpPr>
          <p:cNvPr id="891" name="Text Placeholder 18">
            <a:extLst>
              <a:ext uri="{FF2B5EF4-FFF2-40B4-BE49-F238E27FC236}">
                <a16:creationId xmlns:a16="http://schemas.microsoft.com/office/drawing/2014/main" id="{04B7626A-28D4-577C-5046-D729E928024A}"/>
              </a:ext>
            </a:extLst>
          </p:cNvPr>
          <p:cNvSpPr>
            <a:spLocks noGrp="1"/>
          </p:cNvSpPr>
          <p:nvPr>
            <p:custDataLst>
              <p:tags r:id="rId58"/>
            </p:custDataLst>
          </p:nvPr>
        </p:nvSpPr>
        <p:spPr bwMode="gray">
          <a:xfrm>
            <a:off x="10802938" y="4646613"/>
            <a:ext cx="261938" cy="182563"/>
          </a:xfrm>
          <a:prstGeom prst="rect">
            <a:avLst/>
          </a:prstGeom>
          <a:solidFill>
            <a:srgbClr val="86BC25"/>
          </a:solidFill>
          <a:ln>
            <a:noFill/>
          </a:ln>
          <a:effectLst/>
        </p:spPr>
        <p:txBody>
          <a:bodyPr vert="horz" wrap="none" lIns="25400" tIns="0" rIns="2540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0D11672D-426A-421B-9158-7BCFDCE04EE4}" type="datetime'''''''''''''''''''''2''''.''''''''''''''0'">
              <a:rPr lang="en-US" altLang="en-US" sz="1200" smtClean="0">
                <a:effectLst/>
                <a:latin typeface="Arial" panose="020B0604020202020204" pitchFamily="34" charset="0"/>
                <a:cs typeface="+mn-cs"/>
              </a:rPr>
              <a:pPr lvl="0" algn="ctr">
                <a:spcBef>
                  <a:spcPct val="0"/>
                </a:spcBef>
                <a:spcAft>
                  <a:spcPct val="0"/>
                </a:spcAft>
              </a:pPr>
              <a:t>2.0</a:t>
            </a:fld>
            <a:endParaRPr lang="en-US" sz="1200" noProof="0">
              <a:latin typeface="Arial" panose="020B0604020202020204" pitchFamily="34" charset="0"/>
              <a:cs typeface="+mn-cs"/>
              <a:sym typeface="Arial" panose="020B0604020202020204" pitchFamily="34" charset="0"/>
            </a:endParaRPr>
          </a:p>
        </p:txBody>
      </p:sp>
      <p:sp>
        <p:nvSpPr>
          <p:cNvPr id="852" name="Text Placeholder 18">
            <a:extLst>
              <a:ext uri="{FF2B5EF4-FFF2-40B4-BE49-F238E27FC236}">
                <a16:creationId xmlns:a16="http://schemas.microsoft.com/office/drawing/2014/main" id="{FCD56B67-4AE9-7D21-B663-F4D586FDD4E7}"/>
              </a:ext>
            </a:extLst>
          </p:cNvPr>
          <p:cNvSpPr>
            <a:spLocks noGrp="1"/>
          </p:cNvSpPr>
          <p:nvPr>
            <p:custDataLst>
              <p:tags r:id="rId59"/>
            </p:custDataLst>
          </p:nvPr>
        </p:nvSpPr>
        <p:spPr bwMode="auto">
          <a:xfrm>
            <a:off x="10928350" y="5076825"/>
            <a:ext cx="3492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269D2E2E-7244-4622-82C7-5F1772AC2072}" type="datetime'''''''2''''''''''0''''''''''''''2''''''3'''''''''''">
              <a:rPr lang="en-US" altLang="en-US" sz="1200" smtClean="0">
                <a:latin typeface="Arial" panose="020B0604020202020204" pitchFamily="34" charset="0"/>
                <a:cs typeface="+mn-cs"/>
              </a:rPr>
              <a:pPr lvl="0" algn="ctr">
                <a:spcBef>
                  <a:spcPct val="0"/>
                </a:spcBef>
                <a:spcAft>
                  <a:spcPct val="0"/>
                </a:spcAft>
              </a:pPr>
              <a:t>2023</a:t>
            </a:fld>
            <a:endParaRPr lang="en-US" sz="1200" noProof="0">
              <a:latin typeface="Arial" panose="020B0604020202020204" pitchFamily="34" charset="0"/>
              <a:cs typeface="+mn-cs"/>
              <a:sym typeface="Arial" panose="020B0604020202020204" pitchFamily="34" charset="0"/>
            </a:endParaRPr>
          </a:p>
        </p:txBody>
      </p:sp>
      <p:sp>
        <p:nvSpPr>
          <p:cNvPr id="895" name="Text Placeholder 18">
            <a:extLst>
              <a:ext uri="{FF2B5EF4-FFF2-40B4-BE49-F238E27FC236}">
                <a16:creationId xmlns:a16="http://schemas.microsoft.com/office/drawing/2014/main" id="{347C2527-5EE6-A3E0-61DB-81D7798C94E5}"/>
              </a:ext>
            </a:extLst>
          </p:cNvPr>
          <p:cNvSpPr>
            <a:spLocks noGrp="1"/>
          </p:cNvSpPr>
          <p:nvPr>
            <p:custDataLst>
              <p:tags r:id="rId60"/>
            </p:custDataLst>
          </p:nvPr>
        </p:nvSpPr>
        <p:spPr bwMode="auto">
          <a:xfrm>
            <a:off x="11333163" y="4422775"/>
            <a:ext cx="24606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r>
              <a:rPr lang="en-US" altLang="en-US" sz="1200">
                <a:effectLst/>
                <a:latin typeface="Arial" panose="020B0604020202020204" pitchFamily="34" charset="0"/>
                <a:cs typeface="Arial" panose="020B0604020202020204" pitchFamily="34" charset="0"/>
                <a:sym typeface="Arial" panose="020B0604020202020204" pitchFamily="34" charset="0"/>
              </a:rPr>
              <a:t>Ø </a:t>
            </a:r>
            <a:fld id="{3984B5DE-2113-430F-BE92-F9C9F7A4E2D6}" type="datetime'''''''''4'''''''''''''''''''''''''''''''''''''''''">
              <a:rPr lang="en-US" altLang="en-US" sz="1200" smtClean="0">
                <a:effectLst/>
                <a:latin typeface="Arial" panose="020B0604020202020204" pitchFamily="34" charset="0"/>
                <a:cs typeface="Arial" panose="020B0604020202020204" pitchFamily="34" charset="0"/>
                <a:sym typeface="Arial" panose="020B0604020202020204" pitchFamily="34" charset="0"/>
              </a:rPr>
              <a:pPr lvl="0">
                <a:spcBef>
                  <a:spcPct val="0"/>
                </a:spcBef>
                <a:spcAft>
                  <a:spcPct val="0"/>
                </a:spcAft>
              </a:pPr>
              <a:t>4</a:t>
            </a:fld>
            <a:endParaRPr lang="en-US" sz="1200" noProof="0">
              <a:latin typeface="Arial" panose="020B0604020202020204" pitchFamily="34" charset="0"/>
              <a:cs typeface="Arial" panose="020B0604020202020204" pitchFamily="34" charset="0"/>
              <a:sym typeface="Arial" panose="020B0604020202020204" pitchFamily="34" charset="0"/>
            </a:endParaRPr>
          </a:p>
        </p:txBody>
      </p:sp>
      <p:sp>
        <p:nvSpPr>
          <p:cNvPr id="928" name="TextBox 927">
            <a:extLst>
              <a:ext uri="{FF2B5EF4-FFF2-40B4-BE49-F238E27FC236}">
                <a16:creationId xmlns:a16="http://schemas.microsoft.com/office/drawing/2014/main" id="{67F58C37-3414-E2AD-60B6-EE8B6F9020C7}"/>
              </a:ext>
            </a:extLst>
          </p:cNvPr>
          <p:cNvSpPr txBox="1"/>
          <p:nvPr/>
        </p:nvSpPr>
        <p:spPr>
          <a:xfrm>
            <a:off x="8482013" y="6442519"/>
            <a:ext cx="3225172" cy="415498"/>
          </a:xfrm>
          <a:prstGeom prst="rect">
            <a:avLst/>
          </a:prstGeom>
          <a:noFill/>
        </p:spPr>
        <p:txBody>
          <a:bodyPr wrap="square">
            <a:spAutoFit/>
          </a:bodyPr>
          <a:lstStyle/>
          <a:p>
            <a:r>
              <a:rPr lang="en-US" sz="1050" kern="1200">
                <a:solidFill>
                  <a:schemeClr val="dk1"/>
                </a:solidFill>
                <a:latin typeface="Arial" panose="020B0604020202020204" pitchFamily="34" charset="0"/>
                <a:ea typeface="+mn-ea"/>
                <a:cs typeface="Arial" panose="020B0604020202020204" pitchFamily="34" charset="0"/>
              </a:rPr>
              <a:t>Actual demand covers internal and export sales, Source – NEA Annual Report 2023/24</a:t>
            </a:r>
            <a:endParaRPr lang="en-US" sz="1050"/>
          </a:p>
        </p:txBody>
      </p:sp>
      <p:sp>
        <p:nvSpPr>
          <p:cNvPr id="825" name="TextBox 824">
            <a:extLst>
              <a:ext uri="{FF2B5EF4-FFF2-40B4-BE49-F238E27FC236}">
                <a16:creationId xmlns:a16="http://schemas.microsoft.com/office/drawing/2014/main" id="{5A7E224D-3920-2087-2478-BAA3475D05F5}"/>
              </a:ext>
            </a:extLst>
          </p:cNvPr>
          <p:cNvSpPr txBox="1"/>
          <p:nvPr/>
        </p:nvSpPr>
        <p:spPr>
          <a:xfrm>
            <a:off x="3895725" y="3870482"/>
            <a:ext cx="4883149" cy="307777"/>
          </a:xfrm>
          <a:prstGeom prst="rect">
            <a:avLst/>
          </a:prstGeom>
          <a:noFill/>
        </p:spPr>
        <p:txBody>
          <a:bodyPr wrap="square">
            <a:spAutoFit/>
          </a:bodyPr>
          <a:lstStyle/>
          <a:p>
            <a:pPr algn="ctr"/>
            <a:r>
              <a:rPr lang="en-US" sz="1400" b="1">
                <a:latin typeface="Arial" panose="020B0604020202020204" pitchFamily="34" charset="0"/>
                <a:cs typeface="Arial" panose="020B0604020202020204" pitchFamily="34" charset="0"/>
              </a:rPr>
              <a:t>Nepal’s Annual GDP Growth (%), </a:t>
            </a:r>
            <a:r>
              <a:rPr lang="en-US" sz="1400" b="1">
                <a:latin typeface="Arial" panose="020B0604020202020204" pitchFamily="34" charset="0"/>
                <a:cs typeface="Arial" panose="020B0604020202020204" pitchFamily="34" charset="0"/>
                <a:hlinkClick r:id="rId70">
                  <a:extLst>
                    <a:ext uri="{A12FA001-AC4F-418D-AE19-62706E023703}">
                      <ahyp:hlinkClr xmlns:ahyp="http://schemas.microsoft.com/office/drawing/2018/hyperlinkcolor" val="tx"/>
                    </a:ext>
                  </a:extLst>
                </a:hlinkClick>
              </a:rPr>
              <a:t>World Bank</a:t>
            </a:r>
            <a:endParaRPr lang="en-US" sz="1400" b="1"/>
          </a:p>
        </p:txBody>
      </p:sp>
      <p:grpSp>
        <p:nvGrpSpPr>
          <p:cNvPr id="11" name="Graphic 4">
            <a:extLst>
              <a:ext uri="{FF2B5EF4-FFF2-40B4-BE49-F238E27FC236}">
                <a16:creationId xmlns:a16="http://schemas.microsoft.com/office/drawing/2014/main" id="{4C00500A-741A-405F-E9F6-F9B49C3F2BAB}"/>
              </a:ext>
            </a:extLst>
          </p:cNvPr>
          <p:cNvGrpSpPr/>
          <p:nvPr/>
        </p:nvGrpSpPr>
        <p:grpSpPr>
          <a:xfrm>
            <a:off x="506422" y="5669862"/>
            <a:ext cx="457202" cy="457198"/>
            <a:chOff x="905454" y="2371173"/>
            <a:chExt cx="361670" cy="361333"/>
          </a:xfrm>
          <a:solidFill>
            <a:schemeClr val="accent5"/>
          </a:solidFill>
        </p:grpSpPr>
        <p:sp>
          <p:nvSpPr>
            <p:cNvPr id="12" name="Graphic 4">
              <a:extLst>
                <a:ext uri="{FF2B5EF4-FFF2-40B4-BE49-F238E27FC236}">
                  <a16:creationId xmlns:a16="http://schemas.microsoft.com/office/drawing/2014/main" id="{588E1C9D-7D35-0F35-5F54-E07DD56F4559}"/>
                </a:ext>
              </a:extLst>
            </p:cNvPr>
            <p:cNvSpPr/>
            <p:nvPr/>
          </p:nvSpPr>
          <p:spPr>
            <a:xfrm>
              <a:off x="1109293" y="2492469"/>
              <a:ext cx="53036" cy="52987"/>
            </a:xfrm>
            <a:custGeom>
              <a:avLst/>
              <a:gdLst>
                <a:gd name="connsiteX0" fmla="*/ 0 w 53036"/>
                <a:gd name="connsiteY0" fmla="*/ 0 h 52987"/>
                <a:gd name="connsiteX1" fmla="*/ 53037 w 53036"/>
                <a:gd name="connsiteY1" fmla="*/ 0 h 52987"/>
                <a:gd name="connsiteX2" fmla="*/ 53037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7" y="0"/>
                  </a:lnTo>
                  <a:lnTo>
                    <a:pt x="53037" y="52987"/>
                  </a:lnTo>
                  <a:lnTo>
                    <a:pt x="0" y="52987"/>
                  </a:lnTo>
                  <a:close/>
                </a:path>
              </a:pathLst>
            </a:custGeom>
            <a:grpFill/>
            <a:ln w="6390" cap="flat">
              <a:noFill/>
              <a:prstDash val="solid"/>
              <a:miter/>
            </a:ln>
          </p:spPr>
          <p:txBody>
            <a:bodyPr rtlCol="0" anchor="ctr"/>
            <a:lstStyle/>
            <a:p>
              <a:endParaRPr lang="en-US"/>
            </a:p>
          </p:txBody>
        </p:sp>
        <p:sp>
          <p:nvSpPr>
            <p:cNvPr id="13" name="Graphic 4">
              <a:extLst>
                <a:ext uri="{FF2B5EF4-FFF2-40B4-BE49-F238E27FC236}">
                  <a16:creationId xmlns:a16="http://schemas.microsoft.com/office/drawing/2014/main" id="{0501C2A1-EF89-660A-0C48-51531CA58FC3}"/>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250 w 361670"/>
                <a:gd name="connsiteY5" fmla="*/ 180667 h 361333"/>
                <a:gd name="connsiteX6" fmla="*/ 99044 w 361670"/>
                <a:gd name="connsiteY6" fmla="*/ 252806 h 361333"/>
                <a:gd name="connsiteX7" fmla="*/ 92654 w 361670"/>
                <a:gd name="connsiteY7" fmla="*/ 246422 h 361333"/>
                <a:gd name="connsiteX8" fmla="*/ 99044 w 361670"/>
                <a:gd name="connsiteY8" fmla="*/ 240038 h 361333"/>
                <a:gd name="connsiteX9" fmla="*/ 157831 w 361670"/>
                <a:gd name="connsiteY9" fmla="*/ 187051 h 361333"/>
                <a:gd name="connsiteX10" fmla="*/ 99044 w 361670"/>
                <a:gd name="connsiteY10" fmla="*/ 187051 h 361333"/>
                <a:gd name="connsiteX11" fmla="*/ 92654 w 361670"/>
                <a:gd name="connsiteY11" fmla="*/ 180667 h 361333"/>
                <a:gd name="connsiteX12" fmla="*/ 92654 w 361670"/>
                <a:gd name="connsiteY12" fmla="*/ 114912 h 361333"/>
                <a:gd name="connsiteX13" fmla="*/ 99044 w 361670"/>
                <a:gd name="connsiteY13" fmla="*/ 108528 h 361333"/>
                <a:gd name="connsiteX14" fmla="*/ 164860 w 361670"/>
                <a:gd name="connsiteY14" fmla="*/ 108528 h 361333"/>
                <a:gd name="connsiteX15" fmla="*/ 171250 w 361670"/>
                <a:gd name="connsiteY15" fmla="*/ 114912 h 361333"/>
                <a:gd name="connsiteX16" fmla="*/ 171250 w 361670"/>
                <a:gd name="connsiteY16" fmla="*/ 180667 h 361333"/>
                <a:gd name="connsiteX17" fmla="*/ 269655 w 361670"/>
                <a:gd name="connsiteY17" fmla="*/ 180667 h 361333"/>
                <a:gd name="connsiteX18" fmla="*/ 197449 w 361670"/>
                <a:gd name="connsiteY18" fmla="*/ 252806 h 361333"/>
                <a:gd name="connsiteX19" fmla="*/ 191059 w 361670"/>
                <a:gd name="connsiteY19" fmla="*/ 246422 h 361333"/>
                <a:gd name="connsiteX20" fmla="*/ 197449 w 361670"/>
                <a:gd name="connsiteY20" fmla="*/ 240038 h 361333"/>
                <a:gd name="connsiteX21" fmla="*/ 256237 w 361670"/>
                <a:gd name="connsiteY21" fmla="*/ 187051 h 361333"/>
                <a:gd name="connsiteX22" fmla="*/ 197449 w 361670"/>
                <a:gd name="connsiteY22" fmla="*/ 187051 h 361333"/>
                <a:gd name="connsiteX23" fmla="*/ 191059 w 361670"/>
                <a:gd name="connsiteY23" fmla="*/ 180667 h 361333"/>
                <a:gd name="connsiteX24" fmla="*/ 191059 w 361670"/>
                <a:gd name="connsiteY24" fmla="*/ 114912 h 361333"/>
                <a:gd name="connsiteX25" fmla="*/ 197449 w 361670"/>
                <a:gd name="connsiteY25" fmla="*/ 108528 h 361333"/>
                <a:gd name="connsiteX26" fmla="*/ 263265 w 361670"/>
                <a:gd name="connsiteY26" fmla="*/ 108528 h 361333"/>
                <a:gd name="connsiteX27" fmla="*/ 269655 w 361670"/>
                <a:gd name="connsiteY27" fmla="*/ 114912 h 361333"/>
                <a:gd name="connsiteX28" fmla="*/ 269655 w 361670"/>
                <a:gd name="connsiteY2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71250" y="180667"/>
                  </a:moveTo>
                  <a:cubicBezTo>
                    <a:pt x="171250" y="221524"/>
                    <a:pt x="139940" y="252806"/>
                    <a:pt x="99044" y="252806"/>
                  </a:cubicBezTo>
                  <a:cubicBezTo>
                    <a:pt x="95210" y="252806"/>
                    <a:pt x="92654" y="250252"/>
                    <a:pt x="92654" y="246422"/>
                  </a:cubicBezTo>
                  <a:cubicBezTo>
                    <a:pt x="92654" y="242591"/>
                    <a:pt x="95210" y="240038"/>
                    <a:pt x="99044" y="240038"/>
                  </a:cubicBezTo>
                  <a:cubicBezTo>
                    <a:pt x="130994" y="240038"/>
                    <a:pt x="155275" y="217694"/>
                    <a:pt x="157831" y="187051"/>
                  </a:cubicBezTo>
                  <a:lnTo>
                    <a:pt x="99044" y="187051"/>
                  </a:lnTo>
                  <a:cubicBezTo>
                    <a:pt x="95210" y="187051"/>
                    <a:pt x="92654" y="184497"/>
                    <a:pt x="92654" y="180667"/>
                  </a:cubicBezTo>
                  <a:lnTo>
                    <a:pt x="92654" y="114912"/>
                  </a:lnTo>
                  <a:cubicBezTo>
                    <a:pt x="92654" y="111081"/>
                    <a:pt x="95210" y="108528"/>
                    <a:pt x="99044" y="108528"/>
                  </a:cubicBezTo>
                  <a:lnTo>
                    <a:pt x="164860" y="108528"/>
                  </a:lnTo>
                  <a:cubicBezTo>
                    <a:pt x="168694" y="108528"/>
                    <a:pt x="171250" y="111081"/>
                    <a:pt x="171250" y="114912"/>
                  </a:cubicBezTo>
                  <a:lnTo>
                    <a:pt x="171250" y="180667"/>
                  </a:lnTo>
                  <a:close/>
                  <a:moveTo>
                    <a:pt x="269655" y="180667"/>
                  </a:moveTo>
                  <a:cubicBezTo>
                    <a:pt x="269655" y="221524"/>
                    <a:pt x="238345" y="252806"/>
                    <a:pt x="197449" y="252806"/>
                  </a:cubicBezTo>
                  <a:cubicBezTo>
                    <a:pt x="193615" y="252806"/>
                    <a:pt x="191059" y="250252"/>
                    <a:pt x="191059" y="246422"/>
                  </a:cubicBezTo>
                  <a:cubicBezTo>
                    <a:pt x="191059" y="242591"/>
                    <a:pt x="193615" y="240038"/>
                    <a:pt x="197449" y="240038"/>
                  </a:cubicBezTo>
                  <a:cubicBezTo>
                    <a:pt x="229399" y="240038"/>
                    <a:pt x="253680" y="217694"/>
                    <a:pt x="256237" y="187051"/>
                  </a:cubicBezTo>
                  <a:lnTo>
                    <a:pt x="197449" y="187051"/>
                  </a:lnTo>
                  <a:cubicBezTo>
                    <a:pt x="193615" y="187051"/>
                    <a:pt x="191059" y="184497"/>
                    <a:pt x="191059" y="180667"/>
                  </a:cubicBezTo>
                  <a:lnTo>
                    <a:pt x="191059" y="114912"/>
                  </a:lnTo>
                  <a:cubicBezTo>
                    <a:pt x="191059" y="111081"/>
                    <a:pt x="193615" y="108528"/>
                    <a:pt x="197449" y="108528"/>
                  </a:cubicBezTo>
                  <a:lnTo>
                    <a:pt x="263265" y="108528"/>
                  </a:lnTo>
                  <a:cubicBezTo>
                    <a:pt x="267099" y="108528"/>
                    <a:pt x="269655" y="111081"/>
                    <a:pt x="269655" y="114912"/>
                  </a:cubicBezTo>
                  <a:lnTo>
                    <a:pt x="269655" y="180667"/>
                  </a:lnTo>
                  <a:close/>
                </a:path>
              </a:pathLst>
            </a:custGeom>
            <a:grpFill/>
            <a:ln w="6390" cap="flat">
              <a:noFill/>
              <a:prstDash val="solid"/>
              <a:miter/>
            </a:ln>
          </p:spPr>
          <p:txBody>
            <a:bodyPr rtlCol="0" anchor="ctr"/>
            <a:lstStyle/>
            <a:p>
              <a:endParaRPr lang="en-US"/>
            </a:p>
          </p:txBody>
        </p:sp>
        <p:sp>
          <p:nvSpPr>
            <p:cNvPr id="14" name="Graphic 4">
              <a:extLst>
                <a:ext uri="{FF2B5EF4-FFF2-40B4-BE49-F238E27FC236}">
                  <a16:creationId xmlns:a16="http://schemas.microsoft.com/office/drawing/2014/main" id="{1A914369-97EF-7B62-0F99-C29769382F35}"/>
                </a:ext>
              </a:extLst>
            </p:cNvPr>
            <p:cNvSpPr/>
            <p:nvPr/>
          </p:nvSpPr>
          <p:spPr>
            <a:xfrm>
              <a:off x="1010888" y="2492469"/>
              <a:ext cx="53036" cy="52987"/>
            </a:xfrm>
            <a:custGeom>
              <a:avLst/>
              <a:gdLst>
                <a:gd name="connsiteX0" fmla="*/ 0 w 53036"/>
                <a:gd name="connsiteY0" fmla="*/ 0 h 52987"/>
                <a:gd name="connsiteX1" fmla="*/ 53036 w 53036"/>
                <a:gd name="connsiteY1" fmla="*/ 0 h 52987"/>
                <a:gd name="connsiteX2" fmla="*/ 53036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6" y="0"/>
                  </a:lnTo>
                  <a:lnTo>
                    <a:pt x="53036" y="52987"/>
                  </a:lnTo>
                  <a:lnTo>
                    <a:pt x="0" y="52987"/>
                  </a:lnTo>
                  <a:close/>
                </a:path>
              </a:pathLst>
            </a:custGeom>
            <a:grpFill/>
            <a:ln w="6390" cap="flat">
              <a:noFill/>
              <a:prstDash val="solid"/>
              <a:miter/>
            </a:ln>
          </p:spPr>
          <p:txBody>
            <a:bodyPr rtlCol="0" anchor="ctr"/>
            <a:lstStyle/>
            <a:p>
              <a:endParaRPr lang="en-US"/>
            </a:p>
          </p:txBody>
        </p:sp>
      </p:grpSp>
      <p:sp>
        <p:nvSpPr>
          <p:cNvPr id="15" name="TextBox 14">
            <a:extLst>
              <a:ext uri="{FF2B5EF4-FFF2-40B4-BE49-F238E27FC236}">
                <a16:creationId xmlns:a16="http://schemas.microsoft.com/office/drawing/2014/main" id="{9A1D45DF-352D-EB85-8E1C-70A908221155}"/>
              </a:ext>
            </a:extLst>
          </p:cNvPr>
          <p:cNvSpPr txBox="1"/>
          <p:nvPr/>
        </p:nvSpPr>
        <p:spPr>
          <a:xfrm>
            <a:off x="1010663" y="5447770"/>
            <a:ext cx="10674920" cy="954107"/>
          </a:xfrm>
          <a:prstGeom prst="rect">
            <a:avLst/>
          </a:prstGeom>
          <a:noFill/>
        </p:spPr>
        <p:txBody>
          <a:bodyPr wrap="square">
            <a:spAutoFit/>
          </a:bodyPr>
          <a:lstStyle/>
          <a:p>
            <a:pPr algn="just"/>
            <a:r>
              <a:rPr lang="en-US" sz="1400">
                <a:latin typeface="Arial" panose="020B0604020202020204" pitchFamily="34" charset="0"/>
                <a:cs typeface="Arial" panose="020B0604020202020204" pitchFamily="34" charset="0"/>
              </a:rPr>
              <a:t>Comparison of actual electricity demand trends against several scenario-based projections under various studies (such as NEA Load Forecast, WECS led Electricity Demand Forecast (2015-40) and JICA Master Plan 2024 indicate significant deviations. In alignment to 4% average GDP growth over the years, </a:t>
            </a:r>
            <a:r>
              <a:rPr lang="en-US" sz="1400" b="1">
                <a:latin typeface="Arial" panose="020B0604020202020204" pitchFamily="34" charset="0"/>
                <a:cs typeface="Arial" panose="020B0604020202020204" pitchFamily="34" charset="0"/>
              </a:rPr>
              <a:t>projection scenarios with ~4% GDP growth resembled closely with the actual demand</a:t>
            </a:r>
            <a:r>
              <a:rPr lang="en-US" sz="1400">
                <a:latin typeface="Arial" panose="020B0604020202020204" pitchFamily="34" charset="0"/>
                <a:cs typeface="Arial" panose="020B0604020202020204" pitchFamily="34" charset="0"/>
              </a:rPr>
              <a:t>. Hence, it is </a:t>
            </a:r>
            <a:r>
              <a:rPr lang="en-US" sz="1400" b="1">
                <a:latin typeface="Arial" panose="020B0604020202020204" pitchFamily="34" charset="0"/>
                <a:cs typeface="Arial" panose="020B0604020202020204" pitchFamily="34" charset="0"/>
              </a:rPr>
              <a:t>imperative to consider this resemblance in the future projections for realistic results</a:t>
            </a:r>
          </a:p>
        </p:txBody>
      </p:sp>
    </p:spTree>
    <p:extLst>
      <p:ext uri="{BB962C8B-B14F-4D97-AF65-F5344CB8AC3E}">
        <p14:creationId xmlns:p14="http://schemas.microsoft.com/office/powerpoint/2010/main" val="3379503218"/>
      </p:ext>
    </p:extLst>
  </p:cSld>
  <p:clrMapOvr>
    <a:masterClrMapping/>
  </p:clrMapOvr>
  <p:transition>
    <p:fade/>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30" imgW="415" imgH="416" progId="TCLayout.ActiveDocument.1">
                  <p:embed/>
                </p:oleObj>
              </mc:Choice>
              <mc:Fallback>
                <p:oleObj name="think-cell Slide" r:id="rId30"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31"/>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Assessing Nepal’s Power Sector actual growth against historic studies-based Projections (2/2)  </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Similar to demand, actual installed capacity addition also varies from the optimistic projections under several studies</a:t>
            </a:r>
          </a:p>
        </p:txBody>
      </p:sp>
      <p:sp>
        <p:nvSpPr>
          <p:cNvPr id="165" name="Rectangle 164">
            <a:extLst>
              <a:ext uri="{FF2B5EF4-FFF2-40B4-BE49-F238E27FC236}">
                <a16:creationId xmlns:a16="http://schemas.microsoft.com/office/drawing/2014/main" id="{66CD98E6-F47D-4E7E-D462-D5CD376AAB33}"/>
              </a:ext>
            </a:extLst>
          </p:cNvPr>
          <p:cNvSpPr/>
          <p:nvPr/>
        </p:nvSpPr>
        <p:spPr bwMode="gray">
          <a:xfrm>
            <a:off x="501650" y="992222"/>
            <a:ext cx="11188700" cy="4147046"/>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98033" tIns="98033" rIns="98033" bIns="98033" rtlCol="0" anchor="ctr"/>
          <a:lstStyle/>
          <a:p>
            <a:pPr marL="0" marR="0" lvl="0" indent="0" algn="ctr" defTabSz="1008309" rtl="0" eaLnBrk="1" fontAlgn="auto" latinLnBrk="0" hangingPunct="1">
              <a:lnSpc>
                <a:spcPct val="106000"/>
              </a:lnSpc>
              <a:spcBef>
                <a:spcPts val="0"/>
              </a:spcBef>
              <a:spcAft>
                <a:spcPts val="0"/>
              </a:spcAft>
              <a:buClrTx/>
              <a:buSzTx/>
              <a:buFontTx/>
              <a:buNone/>
              <a:tabLst/>
              <a:defRPr/>
            </a:pPr>
            <a:endParaRPr kumimoji="0" lang="en-US" sz="1100"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graphicFrame>
        <p:nvGraphicFramePr>
          <p:cNvPr id="527" name="Chart 526">
            <a:extLst>
              <a:ext uri="{FF2B5EF4-FFF2-40B4-BE49-F238E27FC236}">
                <a16:creationId xmlns:a16="http://schemas.microsoft.com/office/drawing/2014/main" id="{6C78CD8B-478B-8FB5-A6E2-47BD2820C28F}"/>
              </a:ext>
            </a:extLst>
          </p:cNvPr>
          <p:cNvGraphicFramePr/>
          <p:nvPr>
            <p:custDataLst>
              <p:tags r:id="rId2"/>
            </p:custDataLst>
          </p:nvPr>
        </p:nvGraphicFramePr>
        <p:xfrm>
          <a:off x="527050" y="1287463"/>
          <a:ext cx="10955338" cy="2876550"/>
        </p:xfrm>
        <a:graphic>
          <a:graphicData uri="http://schemas.openxmlformats.org/drawingml/2006/chart">
            <c:chart xmlns:c="http://schemas.openxmlformats.org/drawingml/2006/chart" xmlns:r="http://schemas.openxmlformats.org/officeDocument/2006/relationships" r:id="rId32"/>
          </a:graphicData>
        </a:graphic>
      </p:graphicFrame>
      <p:cxnSp>
        <p:nvCxnSpPr>
          <p:cNvPr id="491" name="Straight Connector 490">
            <a:extLst>
              <a:ext uri="{FF2B5EF4-FFF2-40B4-BE49-F238E27FC236}">
                <a16:creationId xmlns:a16="http://schemas.microsoft.com/office/drawing/2014/main" id="{440F9545-0FBC-F9BE-7BCB-3744493386B4}"/>
              </a:ext>
            </a:extLst>
          </p:cNvPr>
          <p:cNvCxnSpPr>
            <a:cxnSpLocks/>
          </p:cNvCxnSpPr>
          <p:nvPr>
            <p:custDataLst>
              <p:tags r:id="rId3"/>
            </p:custDataLst>
          </p:nvPr>
        </p:nvCxnSpPr>
        <p:spPr bwMode="auto">
          <a:xfrm flipH="1">
            <a:off x="1931988" y="3498850"/>
            <a:ext cx="3175" cy="139700"/>
          </a:xfrm>
          <a:prstGeom prst="line">
            <a:avLst/>
          </a:prstGeom>
          <a:ln w="6350"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7" name="Text Placeholder 18">
            <a:extLst>
              <a:ext uri="{FF2B5EF4-FFF2-40B4-BE49-F238E27FC236}">
                <a16:creationId xmlns:a16="http://schemas.microsoft.com/office/drawing/2014/main" id="{0ACC3325-52AD-6D12-5111-733C71F28BCC}"/>
              </a:ext>
            </a:extLst>
          </p:cNvPr>
          <p:cNvSpPr>
            <a:spLocks noGrp="1"/>
          </p:cNvSpPr>
          <p:nvPr>
            <p:custDataLst>
              <p:tags r:id="rId4"/>
            </p:custDataLst>
          </p:nvPr>
        </p:nvSpPr>
        <p:spPr bwMode="auto">
          <a:xfrm>
            <a:off x="1766888" y="401002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36BD69D8-A9DE-4190-9866-73AAAE870485}" type="datetime'''''''2''''''''''''''''0''''''''''''''15'''''''''''">
              <a:rPr lang="en-US" altLang="en-US" sz="1100" smtClean="0">
                <a:latin typeface="Arial" panose="020B0604020202020204" pitchFamily="34" charset="0"/>
                <a:cs typeface="+mn-cs"/>
              </a:rPr>
              <a:pPr lvl="0" algn="ctr">
                <a:spcBef>
                  <a:spcPct val="0"/>
                </a:spcBef>
                <a:spcAft>
                  <a:spcPct val="0"/>
                </a:spcAft>
              </a:pPr>
              <a:t>2015</a:t>
            </a:fld>
            <a:endParaRPr lang="en-US" sz="1100" noProof="0">
              <a:latin typeface="Arial" panose="020B0604020202020204" pitchFamily="34" charset="0"/>
              <a:cs typeface="+mn-cs"/>
              <a:sym typeface="Arial" panose="020B0604020202020204" pitchFamily="34" charset="0"/>
            </a:endParaRPr>
          </a:p>
        </p:txBody>
      </p:sp>
      <p:sp>
        <p:nvSpPr>
          <p:cNvPr id="8" name="Text Placeholder 18">
            <a:extLst>
              <a:ext uri="{FF2B5EF4-FFF2-40B4-BE49-F238E27FC236}">
                <a16:creationId xmlns:a16="http://schemas.microsoft.com/office/drawing/2014/main" id="{2FFDC4DC-AD98-F8AC-8B97-F86C74B0D19B}"/>
              </a:ext>
            </a:extLst>
          </p:cNvPr>
          <p:cNvSpPr>
            <a:spLocks noGrp="1"/>
          </p:cNvSpPr>
          <p:nvPr>
            <p:custDataLst>
              <p:tags r:id="rId5"/>
            </p:custDataLst>
          </p:nvPr>
        </p:nvSpPr>
        <p:spPr bwMode="auto">
          <a:xfrm>
            <a:off x="3224213" y="401002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FD050731-DEE1-4A21-9B8F-22970FB31F63}" type="datetime'''''''20''''''''''''''''''''''''''''''1''''8'''">
              <a:rPr lang="en-US" altLang="en-US" sz="1100" smtClean="0">
                <a:latin typeface="Arial" panose="020B0604020202020204" pitchFamily="34" charset="0"/>
                <a:cs typeface="+mn-cs"/>
              </a:rPr>
              <a:pPr lvl="0" algn="ctr">
                <a:spcBef>
                  <a:spcPct val="0"/>
                </a:spcBef>
                <a:spcAft>
                  <a:spcPct val="0"/>
                </a:spcAft>
              </a:pPr>
              <a:t>2018</a:t>
            </a:fld>
            <a:endParaRPr lang="en-US" sz="1100" noProof="0">
              <a:latin typeface="Arial" panose="020B0604020202020204" pitchFamily="34" charset="0"/>
              <a:cs typeface="+mn-cs"/>
              <a:sym typeface="Arial" panose="020B0604020202020204" pitchFamily="34" charset="0"/>
            </a:endParaRPr>
          </a:p>
        </p:txBody>
      </p:sp>
      <p:sp>
        <p:nvSpPr>
          <p:cNvPr id="11" name="Text Placeholder 18">
            <a:extLst>
              <a:ext uri="{FF2B5EF4-FFF2-40B4-BE49-F238E27FC236}">
                <a16:creationId xmlns:a16="http://schemas.microsoft.com/office/drawing/2014/main" id="{02A4DBE3-A734-6E03-C88E-3E8D09E555FE}"/>
              </a:ext>
            </a:extLst>
          </p:cNvPr>
          <p:cNvSpPr>
            <a:spLocks noGrp="1"/>
          </p:cNvSpPr>
          <p:nvPr>
            <p:custDataLst>
              <p:tags r:id="rId6"/>
            </p:custDataLst>
          </p:nvPr>
        </p:nvSpPr>
        <p:spPr bwMode="auto">
          <a:xfrm>
            <a:off x="4681538" y="401002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1357633E-4B12-4EE4-89DD-A694FF30F875}" type="datetime'''''''''''''''''''''''''2''''''''''''''0''''''''''''''''''20'">
              <a:rPr lang="en-US" altLang="en-US" sz="1100" smtClean="0">
                <a:latin typeface="Arial" panose="020B0604020202020204" pitchFamily="34" charset="0"/>
                <a:cs typeface="+mn-cs"/>
              </a:rPr>
              <a:pPr lvl="0" algn="ctr">
                <a:spcBef>
                  <a:spcPct val="0"/>
                </a:spcBef>
                <a:spcAft>
                  <a:spcPct val="0"/>
                </a:spcAft>
              </a:pPr>
              <a:t>2020</a:t>
            </a:fld>
            <a:endParaRPr lang="en-US" sz="1100" noProof="0">
              <a:latin typeface="Arial" panose="020B0604020202020204" pitchFamily="34" charset="0"/>
              <a:cs typeface="+mn-cs"/>
              <a:sym typeface="Arial" panose="020B0604020202020204" pitchFamily="34" charset="0"/>
            </a:endParaRPr>
          </a:p>
        </p:txBody>
      </p:sp>
      <p:sp>
        <p:nvSpPr>
          <p:cNvPr id="12" name="Text Placeholder 18">
            <a:extLst>
              <a:ext uri="{FF2B5EF4-FFF2-40B4-BE49-F238E27FC236}">
                <a16:creationId xmlns:a16="http://schemas.microsoft.com/office/drawing/2014/main" id="{A961BD78-4593-31F5-D775-E8C0DAACAE99}"/>
              </a:ext>
            </a:extLst>
          </p:cNvPr>
          <p:cNvSpPr>
            <a:spLocks noGrp="1"/>
          </p:cNvSpPr>
          <p:nvPr>
            <p:custDataLst>
              <p:tags r:id="rId7"/>
            </p:custDataLst>
          </p:nvPr>
        </p:nvSpPr>
        <p:spPr bwMode="auto">
          <a:xfrm>
            <a:off x="6137275" y="401002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8B256E01-4943-43D9-A910-AE86A6E4DB2B}" type="datetime'''''20''''''2''''''''''''''''''''''''''1'''''">
              <a:rPr lang="en-US" altLang="en-US" sz="1100" smtClean="0">
                <a:latin typeface="Arial" panose="020B0604020202020204" pitchFamily="34" charset="0"/>
                <a:cs typeface="+mn-cs"/>
              </a:rPr>
              <a:pPr lvl="0" algn="ctr">
                <a:spcBef>
                  <a:spcPct val="0"/>
                </a:spcBef>
                <a:spcAft>
                  <a:spcPct val="0"/>
                </a:spcAft>
              </a:pPr>
              <a:t>2021</a:t>
            </a:fld>
            <a:endParaRPr lang="en-US" sz="1100" noProof="0">
              <a:latin typeface="Arial" panose="020B0604020202020204" pitchFamily="34" charset="0"/>
              <a:cs typeface="+mn-cs"/>
              <a:sym typeface="Arial" panose="020B0604020202020204" pitchFamily="34" charset="0"/>
            </a:endParaRPr>
          </a:p>
        </p:txBody>
      </p:sp>
      <p:sp>
        <p:nvSpPr>
          <p:cNvPr id="13" name="Text Placeholder 18">
            <a:extLst>
              <a:ext uri="{FF2B5EF4-FFF2-40B4-BE49-F238E27FC236}">
                <a16:creationId xmlns:a16="http://schemas.microsoft.com/office/drawing/2014/main" id="{472EAF5A-9A20-032E-13B3-5B81ACF40DD4}"/>
              </a:ext>
            </a:extLst>
          </p:cNvPr>
          <p:cNvSpPr>
            <a:spLocks noGrp="1"/>
          </p:cNvSpPr>
          <p:nvPr>
            <p:custDataLst>
              <p:tags r:id="rId8"/>
            </p:custDataLst>
          </p:nvPr>
        </p:nvSpPr>
        <p:spPr bwMode="auto">
          <a:xfrm>
            <a:off x="7594600" y="401002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B1231C2A-D9ED-4D05-BEB3-05C624061325}" type="datetime'''2''''''''''''''0''23'''''''''''''''">
              <a:rPr lang="en-US" altLang="en-US" sz="1100" smtClean="0">
                <a:latin typeface="Arial" panose="020B0604020202020204" pitchFamily="34" charset="0"/>
                <a:cs typeface="+mn-cs"/>
              </a:rPr>
              <a:pPr lvl="0" algn="ctr">
                <a:spcBef>
                  <a:spcPct val="0"/>
                </a:spcBef>
                <a:spcAft>
                  <a:spcPct val="0"/>
                </a:spcAft>
              </a:pPr>
              <a:t>2023</a:t>
            </a:fld>
            <a:endParaRPr lang="en-US" sz="1100" noProof="0">
              <a:latin typeface="Arial" panose="020B0604020202020204" pitchFamily="34" charset="0"/>
              <a:cs typeface="+mn-cs"/>
              <a:sym typeface="Arial" panose="020B0604020202020204" pitchFamily="34" charset="0"/>
            </a:endParaRPr>
          </a:p>
        </p:txBody>
      </p:sp>
      <p:sp>
        <p:nvSpPr>
          <p:cNvPr id="14" name="Text Placeholder 18">
            <a:extLst>
              <a:ext uri="{FF2B5EF4-FFF2-40B4-BE49-F238E27FC236}">
                <a16:creationId xmlns:a16="http://schemas.microsoft.com/office/drawing/2014/main" id="{FBFCAFB4-9438-D2D9-265F-640549D3F3C3}"/>
              </a:ext>
            </a:extLst>
          </p:cNvPr>
          <p:cNvSpPr>
            <a:spLocks noGrp="1"/>
          </p:cNvSpPr>
          <p:nvPr>
            <p:custDataLst>
              <p:tags r:id="rId9"/>
            </p:custDataLst>
          </p:nvPr>
        </p:nvSpPr>
        <p:spPr bwMode="auto">
          <a:xfrm>
            <a:off x="9051925" y="4010025"/>
            <a:ext cx="32385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6E65D4FF-A2B8-4C42-8482-9FD5755EBAB3}" type="datetime'2''''''0''2''''''''''''4'''''''''''''''''''''''">
              <a:rPr lang="en-US" altLang="en-US" sz="1100" smtClean="0">
                <a:latin typeface="Arial" panose="020B0604020202020204" pitchFamily="34" charset="0"/>
                <a:cs typeface="+mn-cs"/>
              </a:rPr>
              <a:pPr lvl="0" algn="ctr">
                <a:spcBef>
                  <a:spcPct val="0"/>
                </a:spcBef>
                <a:spcAft>
                  <a:spcPct val="0"/>
                </a:spcAft>
              </a:pPr>
              <a:t>2024</a:t>
            </a:fld>
            <a:endParaRPr lang="en-US" sz="1100" noProof="0">
              <a:latin typeface="Arial" panose="020B0604020202020204" pitchFamily="34" charset="0"/>
              <a:cs typeface="+mn-cs"/>
              <a:sym typeface="Arial" panose="020B0604020202020204" pitchFamily="34" charset="0"/>
            </a:endParaRPr>
          </a:p>
        </p:txBody>
      </p:sp>
      <p:sp>
        <p:nvSpPr>
          <p:cNvPr id="15" name="Text Placeholder 18">
            <a:extLst>
              <a:ext uri="{FF2B5EF4-FFF2-40B4-BE49-F238E27FC236}">
                <a16:creationId xmlns:a16="http://schemas.microsoft.com/office/drawing/2014/main" id="{32F3B937-81F4-D567-6F5C-F7005D2D4ED8}"/>
              </a:ext>
            </a:extLst>
          </p:cNvPr>
          <p:cNvSpPr>
            <a:spLocks noGrp="1"/>
          </p:cNvSpPr>
          <p:nvPr>
            <p:custDataLst>
              <p:tags r:id="rId10"/>
            </p:custDataLst>
          </p:nvPr>
        </p:nvSpPr>
        <p:spPr bwMode="auto">
          <a:xfrm>
            <a:off x="10398125" y="4010025"/>
            <a:ext cx="54768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lgn="ctr">
              <a:spcBef>
                <a:spcPct val="0"/>
              </a:spcBef>
              <a:spcAft>
                <a:spcPct val="0"/>
              </a:spcAft>
            </a:pPr>
            <a:fld id="{5D406225-022E-4B02-95E8-938DEE9E0CA2}" type="datetime'''''2''''''''''''''''''''''''''0''''''2''''5 ''(P)'''''''''">
              <a:rPr lang="en-US" altLang="en-US" sz="1100" smtClean="0">
                <a:latin typeface="Arial" panose="020B0604020202020204" pitchFamily="34" charset="0"/>
                <a:cs typeface="+mn-cs"/>
              </a:rPr>
              <a:pPr lvl="0" algn="ctr">
                <a:spcBef>
                  <a:spcPct val="0"/>
                </a:spcBef>
                <a:spcAft>
                  <a:spcPct val="0"/>
                </a:spcAft>
              </a:pPr>
              <a:t>2025 (P)</a:t>
            </a:fld>
            <a:endParaRPr lang="en-US" sz="1100" noProof="0">
              <a:latin typeface="Arial" panose="020B0604020202020204" pitchFamily="34" charset="0"/>
              <a:cs typeface="+mn-cs"/>
              <a:sym typeface="Arial" panose="020B0604020202020204" pitchFamily="34" charset="0"/>
            </a:endParaRPr>
          </a:p>
        </p:txBody>
      </p:sp>
      <p:sp>
        <p:nvSpPr>
          <p:cNvPr id="19" name="Rectangle 18">
            <a:extLst>
              <a:ext uri="{FF2B5EF4-FFF2-40B4-BE49-F238E27FC236}">
                <a16:creationId xmlns:a16="http://schemas.microsoft.com/office/drawing/2014/main" id="{58E133E8-A5BA-45B1-C322-6D1E29CFACC2}"/>
              </a:ext>
            </a:extLst>
          </p:cNvPr>
          <p:cNvSpPr/>
          <p:nvPr>
            <p:custDataLst>
              <p:tags r:id="rId11"/>
            </p:custDataLst>
          </p:nvPr>
        </p:nvSpPr>
        <p:spPr bwMode="auto">
          <a:xfrm>
            <a:off x="2079625" y="4330700"/>
            <a:ext cx="196850" cy="147638"/>
          </a:xfrm>
          <a:prstGeom prst="rect">
            <a:avLst/>
          </a:prstGeom>
          <a:solidFill>
            <a:srgbClr val="C4D60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20" name="Rectangle 19">
            <a:extLst>
              <a:ext uri="{FF2B5EF4-FFF2-40B4-BE49-F238E27FC236}">
                <a16:creationId xmlns:a16="http://schemas.microsoft.com/office/drawing/2014/main" id="{D0DB0027-E9DB-A93F-7C7E-3BFE254C1B04}"/>
              </a:ext>
            </a:extLst>
          </p:cNvPr>
          <p:cNvSpPr/>
          <p:nvPr>
            <p:custDataLst>
              <p:tags r:id="rId12"/>
            </p:custDataLst>
          </p:nvPr>
        </p:nvSpPr>
        <p:spPr bwMode="auto">
          <a:xfrm>
            <a:off x="2079625" y="4549775"/>
            <a:ext cx="196850" cy="147638"/>
          </a:xfrm>
          <a:prstGeom prst="rect">
            <a:avLst/>
          </a:prstGeom>
          <a:solidFill>
            <a:srgbClr val="6FC2B4"/>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21" name="Rectangle 20">
            <a:extLst>
              <a:ext uri="{FF2B5EF4-FFF2-40B4-BE49-F238E27FC236}">
                <a16:creationId xmlns:a16="http://schemas.microsoft.com/office/drawing/2014/main" id="{2B57C13D-0447-D51A-6ED3-FEAE447E98BA}"/>
              </a:ext>
            </a:extLst>
          </p:cNvPr>
          <p:cNvSpPr/>
          <p:nvPr>
            <p:custDataLst>
              <p:tags r:id="rId13"/>
            </p:custDataLst>
          </p:nvPr>
        </p:nvSpPr>
        <p:spPr bwMode="auto">
          <a:xfrm>
            <a:off x="2079625" y="4768850"/>
            <a:ext cx="196850" cy="147638"/>
          </a:xfrm>
          <a:prstGeom prst="rect">
            <a:avLst/>
          </a:prstGeom>
          <a:solidFill>
            <a:srgbClr val="A0DCFF"/>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22" name="Rectangle 21">
            <a:extLst>
              <a:ext uri="{FF2B5EF4-FFF2-40B4-BE49-F238E27FC236}">
                <a16:creationId xmlns:a16="http://schemas.microsoft.com/office/drawing/2014/main" id="{7839E10D-7C14-A1CC-73AB-97D3A4D48F58}"/>
              </a:ext>
            </a:extLst>
          </p:cNvPr>
          <p:cNvSpPr/>
          <p:nvPr>
            <p:custDataLst>
              <p:tags r:id="rId14"/>
            </p:custDataLst>
          </p:nvPr>
        </p:nvSpPr>
        <p:spPr bwMode="auto">
          <a:xfrm>
            <a:off x="4978400" y="4330700"/>
            <a:ext cx="196850" cy="147638"/>
          </a:xfrm>
          <a:prstGeom prst="rect">
            <a:avLst/>
          </a:prstGeom>
          <a:solidFill>
            <a:srgbClr val="00768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23" name="Rectangle 22">
            <a:extLst>
              <a:ext uri="{FF2B5EF4-FFF2-40B4-BE49-F238E27FC236}">
                <a16:creationId xmlns:a16="http://schemas.microsoft.com/office/drawing/2014/main" id="{0F301455-0B8E-FDE1-17E2-CF639AE04346}"/>
              </a:ext>
            </a:extLst>
          </p:cNvPr>
          <p:cNvSpPr/>
          <p:nvPr>
            <p:custDataLst>
              <p:tags r:id="rId15"/>
            </p:custDataLst>
          </p:nvPr>
        </p:nvSpPr>
        <p:spPr bwMode="auto">
          <a:xfrm>
            <a:off x="4978400" y="4549775"/>
            <a:ext cx="196850" cy="147638"/>
          </a:xfrm>
          <a:prstGeom prst="rect">
            <a:avLst/>
          </a:prstGeom>
          <a:solidFill>
            <a:srgbClr val="012169"/>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26" name="Rectangle 25">
            <a:extLst>
              <a:ext uri="{FF2B5EF4-FFF2-40B4-BE49-F238E27FC236}">
                <a16:creationId xmlns:a16="http://schemas.microsoft.com/office/drawing/2014/main" id="{349872B3-DEE2-2C70-6F64-535469B9FF9C}"/>
              </a:ext>
            </a:extLst>
          </p:cNvPr>
          <p:cNvSpPr/>
          <p:nvPr>
            <p:custDataLst>
              <p:tags r:id="rId16"/>
            </p:custDataLst>
          </p:nvPr>
        </p:nvSpPr>
        <p:spPr bwMode="auto">
          <a:xfrm>
            <a:off x="8777288" y="4330700"/>
            <a:ext cx="196850" cy="147638"/>
          </a:xfrm>
          <a:prstGeom prst="rect">
            <a:avLst/>
          </a:prstGeom>
          <a:solidFill>
            <a:srgbClr val="000000"/>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cxnSp>
        <p:nvCxnSpPr>
          <p:cNvPr id="27" name="Straight Connector 26">
            <a:extLst>
              <a:ext uri="{FF2B5EF4-FFF2-40B4-BE49-F238E27FC236}">
                <a16:creationId xmlns:a16="http://schemas.microsoft.com/office/drawing/2014/main" id="{207C8361-1F2D-C7D6-30FA-39F6032FC5E7}"/>
              </a:ext>
            </a:extLst>
          </p:cNvPr>
          <p:cNvCxnSpPr/>
          <p:nvPr>
            <p:custDataLst>
              <p:tags r:id="rId17"/>
            </p:custDataLst>
          </p:nvPr>
        </p:nvCxnSpPr>
        <p:spPr bwMode="gray">
          <a:xfrm>
            <a:off x="8647113" y="4622800"/>
            <a:ext cx="320675" cy="0"/>
          </a:xfrm>
          <a:prstGeom prst="line">
            <a:avLst/>
          </a:prstGeom>
          <a:ln w="12700" cap="rnd" cmpd="sng" algn="ctr">
            <a:solidFill>
              <a:srgbClr val="DA291C"/>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67" name="Rectangle 466">
            <a:extLst>
              <a:ext uri="{FF2B5EF4-FFF2-40B4-BE49-F238E27FC236}">
                <a16:creationId xmlns:a16="http://schemas.microsoft.com/office/drawing/2014/main" id="{4F722E99-2802-E5F3-7D85-669B93BE088E}"/>
              </a:ext>
            </a:extLst>
          </p:cNvPr>
          <p:cNvSpPr/>
          <p:nvPr>
            <p:custDataLst>
              <p:tags r:id="rId18"/>
            </p:custDataLst>
          </p:nvPr>
        </p:nvSpPr>
        <p:spPr bwMode="auto">
          <a:xfrm>
            <a:off x="4978400" y="4768850"/>
            <a:ext cx="196850" cy="147638"/>
          </a:xfrm>
          <a:prstGeom prst="rect">
            <a:avLst/>
          </a:prstGeom>
          <a:solidFill>
            <a:srgbClr val="75787B"/>
          </a:solidFill>
          <a:ln w="19050" algn="ctr">
            <a:no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28" name="Rectangle 27">
            <a:extLst>
              <a:ext uri="{FF2B5EF4-FFF2-40B4-BE49-F238E27FC236}">
                <a16:creationId xmlns:a16="http://schemas.microsoft.com/office/drawing/2014/main" id="{A9F3E5D0-4940-E9E1-3572-17341D489A3D}"/>
              </a:ext>
            </a:extLst>
          </p:cNvPr>
          <p:cNvSpPr/>
          <p:nvPr>
            <p:custDataLst>
              <p:tags r:id="rId19"/>
            </p:custDataLst>
          </p:nvPr>
        </p:nvSpPr>
        <p:spPr bwMode="auto">
          <a:xfrm>
            <a:off x="8743950" y="4559300"/>
            <a:ext cx="127000" cy="127000"/>
          </a:xfrm>
          <a:prstGeom prst="rect">
            <a:avLst/>
          </a:prstGeom>
          <a:solidFill>
            <a:srgbClr val="DA291C"/>
          </a:solidFill>
          <a:ln w="9525" cmpd="sng" algn="ctr">
            <a:solidFill>
              <a:srgbClr val="DA291C"/>
            </a:solidFill>
            <a:miter lim="800000"/>
            <a:headEnd/>
            <a:tailEnd/>
          </a:ln>
          <a:effectLst/>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32" name="Text Placeholder 18">
            <a:extLst>
              <a:ext uri="{FF2B5EF4-FFF2-40B4-BE49-F238E27FC236}">
                <a16:creationId xmlns:a16="http://schemas.microsoft.com/office/drawing/2014/main" id="{5E1E01CF-522A-1AB5-A5B8-5D4DD3FB3D11}"/>
              </a:ext>
            </a:extLst>
          </p:cNvPr>
          <p:cNvSpPr>
            <a:spLocks noGrp="1"/>
          </p:cNvSpPr>
          <p:nvPr>
            <p:custDataLst>
              <p:tags r:id="rId20"/>
            </p:custDataLst>
          </p:nvPr>
        </p:nvSpPr>
        <p:spPr bwMode="auto">
          <a:xfrm>
            <a:off x="2327275" y="4325938"/>
            <a:ext cx="241300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050F77BE-196C-4A89-A032-1094BC945F76}" type="datetime'''WEC''''S ''ED (20''15''-40)'''''' ''BA''U (4.5% ''GD''''P)'">
              <a:rPr lang="de-DE" altLang="en-US" sz="1100" smtClean="0">
                <a:latin typeface="Arial" panose="020B0604020202020204" pitchFamily="34" charset="0"/>
                <a:cs typeface="+mn-cs"/>
              </a:rPr>
              <a:pPr lvl="0">
                <a:spcBef>
                  <a:spcPct val="0"/>
                </a:spcBef>
                <a:spcAft>
                  <a:spcPct val="0"/>
                </a:spcAft>
              </a:pPr>
              <a:t>WECS ED (2015-40) BAU (4.5% GDP)</a:t>
            </a:fld>
            <a:endParaRPr lang="en-US" sz="1100" noProof="0">
              <a:latin typeface="Arial" panose="020B0604020202020204" pitchFamily="34" charset="0"/>
              <a:cs typeface="+mn-cs"/>
              <a:sym typeface="Arial" panose="020B0604020202020204" pitchFamily="34" charset="0"/>
            </a:endParaRPr>
          </a:p>
        </p:txBody>
      </p:sp>
      <p:sp>
        <p:nvSpPr>
          <p:cNvPr id="33" name="Text Placeholder 18">
            <a:extLst>
              <a:ext uri="{FF2B5EF4-FFF2-40B4-BE49-F238E27FC236}">
                <a16:creationId xmlns:a16="http://schemas.microsoft.com/office/drawing/2014/main" id="{5ABD7264-5A0E-F52C-A787-E702BFF04484}"/>
              </a:ext>
            </a:extLst>
          </p:cNvPr>
          <p:cNvSpPr>
            <a:spLocks noGrp="1"/>
          </p:cNvSpPr>
          <p:nvPr>
            <p:custDataLst>
              <p:tags r:id="rId21"/>
            </p:custDataLst>
          </p:nvPr>
        </p:nvSpPr>
        <p:spPr bwMode="auto">
          <a:xfrm>
            <a:off x="2327275" y="4545013"/>
            <a:ext cx="234156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2B24866C-A9CF-4940-B47F-108A947A3A03}" type="datetime'''''''WEC''S ED (''''2''015-''''''''40) Re''f ''''(7.2% GDP)'">
              <a:rPr lang="en-US" altLang="en-US" sz="1100" smtClean="0">
                <a:latin typeface="Arial" panose="020B0604020202020204" pitchFamily="34" charset="0"/>
                <a:cs typeface="+mn-cs"/>
              </a:rPr>
              <a:pPr lvl="0">
                <a:spcBef>
                  <a:spcPct val="0"/>
                </a:spcBef>
                <a:spcAft>
                  <a:spcPct val="0"/>
                </a:spcAft>
              </a:pPr>
              <a:t>WECS ED (2015-40) Ref (7.2% GDP)</a:t>
            </a:fld>
            <a:endParaRPr lang="en-US" sz="1100" noProof="0">
              <a:latin typeface="Arial" panose="020B0604020202020204" pitchFamily="34" charset="0"/>
              <a:cs typeface="+mn-cs"/>
              <a:sym typeface="Arial" panose="020B0604020202020204" pitchFamily="34" charset="0"/>
            </a:endParaRPr>
          </a:p>
        </p:txBody>
      </p:sp>
      <p:sp>
        <p:nvSpPr>
          <p:cNvPr id="34" name="Text Placeholder 18">
            <a:extLst>
              <a:ext uri="{FF2B5EF4-FFF2-40B4-BE49-F238E27FC236}">
                <a16:creationId xmlns:a16="http://schemas.microsoft.com/office/drawing/2014/main" id="{8F402894-F387-B0C4-AEA9-2A94345E5CD1}"/>
              </a:ext>
            </a:extLst>
          </p:cNvPr>
          <p:cNvSpPr>
            <a:spLocks noGrp="1"/>
          </p:cNvSpPr>
          <p:nvPr>
            <p:custDataLst>
              <p:tags r:id="rId22"/>
            </p:custDataLst>
          </p:nvPr>
        </p:nvSpPr>
        <p:spPr bwMode="auto">
          <a:xfrm>
            <a:off x="2327275" y="4764088"/>
            <a:ext cx="2413000"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BE47FA34-C767-429E-9FFD-7FCE21445279}" type="datetime'WECS'' E''D (''''2''0''15''-40) Hi''gh ''(''''9.2% GDP'''')'''">
              <a:rPr lang="en-US" altLang="en-US" sz="1100" smtClean="0">
                <a:latin typeface="Arial" panose="020B0604020202020204" pitchFamily="34" charset="0"/>
                <a:cs typeface="+mn-cs"/>
              </a:rPr>
              <a:pPr lvl="0">
                <a:spcBef>
                  <a:spcPct val="0"/>
                </a:spcBef>
                <a:spcAft>
                  <a:spcPct val="0"/>
                </a:spcAft>
              </a:pPr>
              <a:t>WECS ED (2015-40) High (9.2% GDP)</a:t>
            </a:fld>
            <a:endParaRPr lang="en-US" sz="1100" noProof="0">
              <a:latin typeface="Arial" panose="020B0604020202020204" pitchFamily="34" charset="0"/>
              <a:cs typeface="+mn-cs"/>
              <a:sym typeface="Arial" panose="020B0604020202020204" pitchFamily="34" charset="0"/>
            </a:endParaRPr>
          </a:p>
        </p:txBody>
      </p:sp>
      <p:sp>
        <p:nvSpPr>
          <p:cNvPr id="35" name="Text Placeholder 18">
            <a:extLst>
              <a:ext uri="{FF2B5EF4-FFF2-40B4-BE49-F238E27FC236}">
                <a16:creationId xmlns:a16="http://schemas.microsoft.com/office/drawing/2014/main" id="{5CB888DF-5204-DA58-06FE-38F8A1FA59CC}"/>
              </a:ext>
            </a:extLst>
          </p:cNvPr>
          <p:cNvSpPr>
            <a:spLocks noGrp="1"/>
          </p:cNvSpPr>
          <p:nvPr>
            <p:custDataLst>
              <p:tags r:id="rId23"/>
            </p:custDataLst>
          </p:nvPr>
        </p:nvSpPr>
        <p:spPr bwMode="auto">
          <a:xfrm>
            <a:off x="5226050" y="4325938"/>
            <a:ext cx="212248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C56584AF-3B12-49C3-945B-EE88314742E7}" type="datetime'WECS E''D (2''''0''''''15-40) ''R''''e''f'''' + P''ol''icy '''">
              <a:rPr lang="en-US" altLang="en-US" sz="1100" smtClean="0">
                <a:latin typeface="Arial" panose="020B0604020202020204" pitchFamily="34" charset="0"/>
                <a:cs typeface="+mn-cs"/>
              </a:rPr>
              <a:pPr lvl="0">
                <a:spcBef>
                  <a:spcPct val="0"/>
                </a:spcBef>
                <a:spcAft>
                  <a:spcPct val="0"/>
                </a:spcAft>
              </a:pPr>
              <a:t>WECS ED (2015-40) Ref + Policy </a:t>
            </a:fld>
            <a:endParaRPr lang="en-US" sz="1100" noProof="0">
              <a:latin typeface="Arial" panose="020B0604020202020204" pitchFamily="34" charset="0"/>
              <a:cs typeface="+mn-cs"/>
              <a:sym typeface="Arial" panose="020B0604020202020204" pitchFamily="34" charset="0"/>
            </a:endParaRPr>
          </a:p>
        </p:txBody>
      </p:sp>
      <p:sp>
        <p:nvSpPr>
          <p:cNvPr id="36" name="Text Placeholder 18">
            <a:extLst>
              <a:ext uri="{FF2B5EF4-FFF2-40B4-BE49-F238E27FC236}">
                <a16:creationId xmlns:a16="http://schemas.microsoft.com/office/drawing/2014/main" id="{01DD6409-4F9D-6407-AB2E-ACADBF5B5D0F}"/>
              </a:ext>
            </a:extLst>
          </p:cNvPr>
          <p:cNvSpPr>
            <a:spLocks noGrp="1"/>
          </p:cNvSpPr>
          <p:nvPr>
            <p:custDataLst>
              <p:tags r:id="rId24"/>
            </p:custDataLst>
          </p:nvPr>
        </p:nvSpPr>
        <p:spPr bwMode="auto">
          <a:xfrm>
            <a:off x="5226050" y="4545013"/>
            <a:ext cx="219392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33ED205A-BE1B-49DE-BA53-AFDCC82A92A5}" type="datetime'''W''ECS'''' ED (''2''''015-40'') Hig''h + P''o''licy '''''">
              <a:rPr lang="en-US" altLang="en-US" sz="1100" smtClean="0">
                <a:latin typeface="Arial" panose="020B0604020202020204" pitchFamily="34" charset="0"/>
                <a:cs typeface="+mn-cs"/>
              </a:rPr>
              <a:pPr lvl="0">
                <a:spcBef>
                  <a:spcPct val="0"/>
                </a:spcBef>
                <a:spcAft>
                  <a:spcPct val="0"/>
                </a:spcAft>
              </a:pPr>
              <a:t>WECS ED (2015-40) High + Policy </a:t>
            </a:fld>
            <a:endParaRPr lang="en-US" sz="1100" noProof="0">
              <a:latin typeface="Arial" panose="020B0604020202020204" pitchFamily="34" charset="0"/>
              <a:cs typeface="+mn-cs"/>
              <a:sym typeface="Arial" panose="020B0604020202020204" pitchFamily="34" charset="0"/>
            </a:endParaRPr>
          </a:p>
        </p:txBody>
      </p:sp>
      <p:sp>
        <p:nvSpPr>
          <p:cNvPr id="39" name="Text Placeholder 18">
            <a:extLst>
              <a:ext uri="{FF2B5EF4-FFF2-40B4-BE49-F238E27FC236}">
                <a16:creationId xmlns:a16="http://schemas.microsoft.com/office/drawing/2014/main" id="{30DCC2EB-9F0C-9EFF-FC13-EF55BE7DC6E8}"/>
              </a:ext>
            </a:extLst>
          </p:cNvPr>
          <p:cNvSpPr>
            <a:spLocks noGrp="1"/>
          </p:cNvSpPr>
          <p:nvPr>
            <p:custDataLst>
              <p:tags r:id="rId25"/>
            </p:custDataLst>
          </p:nvPr>
        </p:nvSpPr>
        <p:spPr bwMode="auto">
          <a:xfrm>
            <a:off x="9024938" y="4325938"/>
            <a:ext cx="1781175"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7C550D2B-13B8-4E9E-999E-9043FA6C14AB}" type="datetime'JICA M''''''as''t''''e''r ''''P''l''an ''(Opt''''imu''m'')'''">
              <a:rPr lang="en-US" altLang="en-US" sz="1100" smtClean="0">
                <a:latin typeface="Arial" panose="020B0604020202020204" pitchFamily="34" charset="0"/>
                <a:cs typeface="+mn-cs"/>
              </a:rPr>
              <a:pPr lvl="0">
                <a:spcBef>
                  <a:spcPct val="0"/>
                </a:spcBef>
                <a:spcAft>
                  <a:spcPct val="0"/>
                </a:spcAft>
              </a:pPr>
              <a:t>JICA Master Plan (Optimum)</a:t>
            </a:fld>
            <a:endParaRPr lang="en-US" sz="1100" noProof="0">
              <a:latin typeface="Arial" panose="020B0604020202020204" pitchFamily="34" charset="0"/>
              <a:cs typeface="+mn-cs"/>
              <a:sym typeface="Arial" panose="020B0604020202020204" pitchFamily="34" charset="0"/>
            </a:endParaRPr>
          </a:p>
        </p:txBody>
      </p:sp>
      <p:sp>
        <p:nvSpPr>
          <p:cNvPr id="40" name="Text Placeholder 18">
            <a:extLst>
              <a:ext uri="{FF2B5EF4-FFF2-40B4-BE49-F238E27FC236}">
                <a16:creationId xmlns:a16="http://schemas.microsoft.com/office/drawing/2014/main" id="{ADEA757F-7691-7783-BE67-2FEBA15F2948}"/>
              </a:ext>
            </a:extLst>
          </p:cNvPr>
          <p:cNvSpPr>
            <a:spLocks noGrp="1"/>
          </p:cNvSpPr>
          <p:nvPr>
            <p:custDataLst>
              <p:tags r:id="rId26"/>
            </p:custDataLst>
          </p:nvPr>
        </p:nvSpPr>
        <p:spPr bwMode="auto">
          <a:xfrm>
            <a:off x="9024938" y="4545013"/>
            <a:ext cx="496888"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2ADF5628-36ED-4D0B-951B-31FB5968F7BE}" type="datetime'''''''Ac''''''''''t''''u''''''''''''''''''''a''l''''s '">
              <a:rPr lang="en-US" altLang="en-US" sz="1100" smtClean="0">
                <a:latin typeface="Arial" panose="020B0604020202020204" pitchFamily="34" charset="0"/>
                <a:cs typeface="+mn-cs"/>
              </a:rPr>
              <a:pPr lvl="0">
                <a:spcBef>
                  <a:spcPct val="0"/>
                </a:spcBef>
                <a:spcAft>
                  <a:spcPct val="0"/>
                </a:spcAft>
              </a:pPr>
              <a:t>Actuals </a:t>
            </a:fld>
            <a:endParaRPr lang="en-US" sz="1100" noProof="0">
              <a:latin typeface="Arial" panose="020B0604020202020204" pitchFamily="34" charset="0"/>
              <a:cs typeface="+mn-cs"/>
              <a:sym typeface="Arial" panose="020B0604020202020204" pitchFamily="34" charset="0"/>
            </a:endParaRPr>
          </a:p>
        </p:txBody>
      </p:sp>
      <p:sp>
        <p:nvSpPr>
          <p:cNvPr id="464" name="Text Placeholder 18">
            <a:extLst>
              <a:ext uri="{FF2B5EF4-FFF2-40B4-BE49-F238E27FC236}">
                <a16:creationId xmlns:a16="http://schemas.microsoft.com/office/drawing/2014/main" id="{9A2861AC-E30E-C6AC-B2BB-96F4D3DA65B5}"/>
              </a:ext>
            </a:extLst>
          </p:cNvPr>
          <p:cNvSpPr>
            <a:spLocks noGrp="1"/>
          </p:cNvSpPr>
          <p:nvPr>
            <p:custDataLst>
              <p:tags r:id="rId27"/>
            </p:custDataLst>
          </p:nvPr>
        </p:nvSpPr>
        <p:spPr bwMode="auto">
          <a:xfrm>
            <a:off x="5226050" y="4764088"/>
            <a:ext cx="3313113" cy="168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335"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690" indent="-139690" algn="l" defTabSz="914335"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778"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867" indent="-139690" algn="l" defTabSz="914335"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4955" indent="-139690" algn="l" defTabSz="798456"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762" indent="-176387" algn="l" defTabSz="914335"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762" indent="-176387" algn="l" defTabSz="914335"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lvl="0">
              <a:spcBef>
                <a:spcPct val="0"/>
              </a:spcBef>
              <a:spcAft>
                <a:spcPct val="0"/>
              </a:spcAft>
            </a:pPr>
            <a:fld id="{66B87E1A-9AA1-482F-ADCA-10697DBC9417}" type="datetime'N''a''tionw''ide Master Plan Stud''''y on Storage-type Hydro'">
              <a:rPr lang="en-US" altLang="en-US" sz="1100" smtClean="0">
                <a:latin typeface="Arial" panose="020B0604020202020204" pitchFamily="34" charset="0"/>
                <a:cs typeface="+mn-cs"/>
              </a:rPr>
              <a:pPr lvl="0">
                <a:spcBef>
                  <a:spcPct val="0"/>
                </a:spcBef>
                <a:spcAft>
                  <a:spcPct val="0"/>
                </a:spcAft>
              </a:pPr>
              <a:t>Nationwide Master Plan Study on Storage-type Hydro</a:t>
            </a:fld>
            <a:endParaRPr lang="en-US" sz="1100" noProof="0">
              <a:latin typeface="Arial" panose="020B0604020202020204" pitchFamily="34" charset="0"/>
              <a:cs typeface="+mn-cs"/>
              <a:sym typeface="Arial" panose="020B0604020202020204" pitchFamily="34" charset="0"/>
            </a:endParaRPr>
          </a:p>
        </p:txBody>
      </p:sp>
      <p:sp>
        <p:nvSpPr>
          <p:cNvPr id="522" name="TextBox 521">
            <a:extLst>
              <a:ext uri="{FF2B5EF4-FFF2-40B4-BE49-F238E27FC236}">
                <a16:creationId xmlns:a16="http://schemas.microsoft.com/office/drawing/2014/main" id="{EC2934B9-8E6B-5ECE-3C84-650F0E905EEB}"/>
              </a:ext>
            </a:extLst>
          </p:cNvPr>
          <p:cNvSpPr txBox="1"/>
          <p:nvPr/>
        </p:nvSpPr>
        <p:spPr>
          <a:xfrm>
            <a:off x="3801369" y="1025853"/>
            <a:ext cx="4883149" cy="523220"/>
          </a:xfrm>
          <a:prstGeom prst="rect">
            <a:avLst/>
          </a:prstGeom>
          <a:noFill/>
        </p:spPr>
        <p:txBody>
          <a:bodyPr wrap="square">
            <a:spAutoFit/>
          </a:bodyPr>
          <a:lstStyle/>
          <a:p>
            <a:pPr algn="ctr"/>
            <a:r>
              <a:rPr lang="en-US" sz="1400" b="1">
                <a:latin typeface="Arial" panose="020B0604020202020204" pitchFamily="34" charset="0"/>
                <a:cs typeface="Arial" panose="020B0604020202020204" pitchFamily="34" charset="0"/>
              </a:rPr>
              <a:t>Comparison of Actuals vs Historically Forecasted Installed Capacity Mix (MW) </a:t>
            </a:r>
            <a:endParaRPr lang="en-US" sz="1400" b="1"/>
          </a:p>
        </p:txBody>
      </p:sp>
      <p:sp>
        <p:nvSpPr>
          <p:cNvPr id="523" name="TextBox 522">
            <a:extLst>
              <a:ext uri="{FF2B5EF4-FFF2-40B4-BE49-F238E27FC236}">
                <a16:creationId xmlns:a16="http://schemas.microsoft.com/office/drawing/2014/main" id="{30CABCD1-B57C-9F42-97BF-378BB51DA04F}"/>
              </a:ext>
            </a:extLst>
          </p:cNvPr>
          <p:cNvSpPr txBox="1"/>
          <p:nvPr/>
        </p:nvSpPr>
        <p:spPr>
          <a:xfrm>
            <a:off x="447674" y="6596933"/>
            <a:ext cx="7953375"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33"/>
              </a:rPr>
              <a:t>NEA Annual Report</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34"/>
              </a:rPr>
              <a:t>IBN Energy Demand – MAED</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35"/>
              </a:rPr>
              <a:t>Electricity Demand Forecast (2015-40) WECS</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hlinkClick r:id="rId36"/>
              </a:rPr>
              <a:t>NEA Load Forecast </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grpSp>
        <p:nvGrpSpPr>
          <p:cNvPr id="3" name="Graphic 4">
            <a:extLst>
              <a:ext uri="{FF2B5EF4-FFF2-40B4-BE49-F238E27FC236}">
                <a16:creationId xmlns:a16="http://schemas.microsoft.com/office/drawing/2014/main" id="{62417A45-8B0D-3128-FF64-30332EE16D77}"/>
              </a:ext>
            </a:extLst>
          </p:cNvPr>
          <p:cNvGrpSpPr/>
          <p:nvPr/>
        </p:nvGrpSpPr>
        <p:grpSpPr>
          <a:xfrm>
            <a:off x="506422" y="5669862"/>
            <a:ext cx="457202" cy="457198"/>
            <a:chOff x="905454" y="2371173"/>
            <a:chExt cx="361670" cy="361333"/>
          </a:xfrm>
          <a:solidFill>
            <a:schemeClr val="accent5"/>
          </a:solidFill>
        </p:grpSpPr>
        <p:sp>
          <p:nvSpPr>
            <p:cNvPr id="4" name="Graphic 4">
              <a:extLst>
                <a:ext uri="{FF2B5EF4-FFF2-40B4-BE49-F238E27FC236}">
                  <a16:creationId xmlns:a16="http://schemas.microsoft.com/office/drawing/2014/main" id="{D668B7FC-3CD9-7402-63DF-C0B3A9D30E97}"/>
                </a:ext>
              </a:extLst>
            </p:cNvPr>
            <p:cNvSpPr/>
            <p:nvPr/>
          </p:nvSpPr>
          <p:spPr>
            <a:xfrm>
              <a:off x="1109293" y="2492469"/>
              <a:ext cx="53036" cy="52987"/>
            </a:xfrm>
            <a:custGeom>
              <a:avLst/>
              <a:gdLst>
                <a:gd name="connsiteX0" fmla="*/ 0 w 53036"/>
                <a:gd name="connsiteY0" fmla="*/ 0 h 52987"/>
                <a:gd name="connsiteX1" fmla="*/ 53037 w 53036"/>
                <a:gd name="connsiteY1" fmla="*/ 0 h 52987"/>
                <a:gd name="connsiteX2" fmla="*/ 53037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7" y="0"/>
                  </a:lnTo>
                  <a:lnTo>
                    <a:pt x="53037" y="52987"/>
                  </a:lnTo>
                  <a:lnTo>
                    <a:pt x="0" y="52987"/>
                  </a:lnTo>
                  <a:close/>
                </a:path>
              </a:pathLst>
            </a:custGeom>
            <a:grpFill/>
            <a:ln w="6390" cap="flat">
              <a:noFill/>
              <a:prstDash val="solid"/>
              <a:miter/>
            </a:ln>
          </p:spPr>
          <p:txBody>
            <a:bodyPr rtlCol="0" anchor="ctr"/>
            <a:lstStyle/>
            <a:p>
              <a:endParaRPr lang="en-US"/>
            </a:p>
          </p:txBody>
        </p:sp>
        <p:sp>
          <p:nvSpPr>
            <p:cNvPr id="5" name="Graphic 4">
              <a:extLst>
                <a:ext uri="{FF2B5EF4-FFF2-40B4-BE49-F238E27FC236}">
                  <a16:creationId xmlns:a16="http://schemas.microsoft.com/office/drawing/2014/main" id="{0E29671C-B7D2-0645-5EFA-02303141668B}"/>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250 w 361670"/>
                <a:gd name="connsiteY5" fmla="*/ 180667 h 361333"/>
                <a:gd name="connsiteX6" fmla="*/ 99044 w 361670"/>
                <a:gd name="connsiteY6" fmla="*/ 252806 h 361333"/>
                <a:gd name="connsiteX7" fmla="*/ 92654 w 361670"/>
                <a:gd name="connsiteY7" fmla="*/ 246422 h 361333"/>
                <a:gd name="connsiteX8" fmla="*/ 99044 w 361670"/>
                <a:gd name="connsiteY8" fmla="*/ 240038 h 361333"/>
                <a:gd name="connsiteX9" fmla="*/ 157831 w 361670"/>
                <a:gd name="connsiteY9" fmla="*/ 187051 h 361333"/>
                <a:gd name="connsiteX10" fmla="*/ 99044 w 361670"/>
                <a:gd name="connsiteY10" fmla="*/ 187051 h 361333"/>
                <a:gd name="connsiteX11" fmla="*/ 92654 w 361670"/>
                <a:gd name="connsiteY11" fmla="*/ 180667 h 361333"/>
                <a:gd name="connsiteX12" fmla="*/ 92654 w 361670"/>
                <a:gd name="connsiteY12" fmla="*/ 114912 h 361333"/>
                <a:gd name="connsiteX13" fmla="*/ 99044 w 361670"/>
                <a:gd name="connsiteY13" fmla="*/ 108528 h 361333"/>
                <a:gd name="connsiteX14" fmla="*/ 164860 w 361670"/>
                <a:gd name="connsiteY14" fmla="*/ 108528 h 361333"/>
                <a:gd name="connsiteX15" fmla="*/ 171250 w 361670"/>
                <a:gd name="connsiteY15" fmla="*/ 114912 h 361333"/>
                <a:gd name="connsiteX16" fmla="*/ 171250 w 361670"/>
                <a:gd name="connsiteY16" fmla="*/ 180667 h 361333"/>
                <a:gd name="connsiteX17" fmla="*/ 269655 w 361670"/>
                <a:gd name="connsiteY17" fmla="*/ 180667 h 361333"/>
                <a:gd name="connsiteX18" fmla="*/ 197449 w 361670"/>
                <a:gd name="connsiteY18" fmla="*/ 252806 h 361333"/>
                <a:gd name="connsiteX19" fmla="*/ 191059 w 361670"/>
                <a:gd name="connsiteY19" fmla="*/ 246422 h 361333"/>
                <a:gd name="connsiteX20" fmla="*/ 197449 w 361670"/>
                <a:gd name="connsiteY20" fmla="*/ 240038 h 361333"/>
                <a:gd name="connsiteX21" fmla="*/ 256237 w 361670"/>
                <a:gd name="connsiteY21" fmla="*/ 187051 h 361333"/>
                <a:gd name="connsiteX22" fmla="*/ 197449 w 361670"/>
                <a:gd name="connsiteY22" fmla="*/ 187051 h 361333"/>
                <a:gd name="connsiteX23" fmla="*/ 191059 w 361670"/>
                <a:gd name="connsiteY23" fmla="*/ 180667 h 361333"/>
                <a:gd name="connsiteX24" fmla="*/ 191059 w 361670"/>
                <a:gd name="connsiteY24" fmla="*/ 114912 h 361333"/>
                <a:gd name="connsiteX25" fmla="*/ 197449 w 361670"/>
                <a:gd name="connsiteY25" fmla="*/ 108528 h 361333"/>
                <a:gd name="connsiteX26" fmla="*/ 263265 w 361670"/>
                <a:gd name="connsiteY26" fmla="*/ 108528 h 361333"/>
                <a:gd name="connsiteX27" fmla="*/ 269655 w 361670"/>
                <a:gd name="connsiteY27" fmla="*/ 114912 h 361333"/>
                <a:gd name="connsiteX28" fmla="*/ 269655 w 361670"/>
                <a:gd name="connsiteY2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71250" y="180667"/>
                  </a:moveTo>
                  <a:cubicBezTo>
                    <a:pt x="171250" y="221524"/>
                    <a:pt x="139940" y="252806"/>
                    <a:pt x="99044" y="252806"/>
                  </a:cubicBezTo>
                  <a:cubicBezTo>
                    <a:pt x="95210" y="252806"/>
                    <a:pt x="92654" y="250252"/>
                    <a:pt x="92654" y="246422"/>
                  </a:cubicBezTo>
                  <a:cubicBezTo>
                    <a:pt x="92654" y="242591"/>
                    <a:pt x="95210" y="240038"/>
                    <a:pt x="99044" y="240038"/>
                  </a:cubicBezTo>
                  <a:cubicBezTo>
                    <a:pt x="130994" y="240038"/>
                    <a:pt x="155275" y="217694"/>
                    <a:pt x="157831" y="187051"/>
                  </a:cubicBezTo>
                  <a:lnTo>
                    <a:pt x="99044" y="187051"/>
                  </a:lnTo>
                  <a:cubicBezTo>
                    <a:pt x="95210" y="187051"/>
                    <a:pt x="92654" y="184497"/>
                    <a:pt x="92654" y="180667"/>
                  </a:cubicBezTo>
                  <a:lnTo>
                    <a:pt x="92654" y="114912"/>
                  </a:lnTo>
                  <a:cubicBezTo>
                    <a:pt x="92654" y="111081"/>
                    <a:pt x="95210" y="108528"/>
                    <a:pt x="99044" y="108528"/>
                  </a:cubicBezTo>
                  <a:lnTo>
                    <a:pt x="164860" y="108528"/>
                  </a:lnTo>
                  <a:cubicBezTo>
                    <a:pt x="168694" y="108528"/>
                    <a:pt x="171250" y="111081"/>
                    <a:pt x="171250" y="114912"/>
                  </a:cubicBezTo>
                  <a:lnTo>
                    <a:pt x="171250" y="180667"/>
                  </a:lnTo>
                  <a:close/>
                  <a:moveTo>
                    <a:pt x="269655" y="180667"/>
                  </a:moveTo>
                  <a:cubicBezTo>
                    <a:pt x="269655" y="221524"/>
                    <a:pt x="238345" y="252806"/>
                    <a:pt x="197449" y="252806"/>
                  </a:cubicBezTo>
                  <a:cubicBezTo>
                    <a:pt x="193615" y="252806"/>
                    <a:pt x="191059" y="250252"/>
                    <a:pt x="191059" y="246422"/>
                  </a:cubicBezTo>
                  <a:cubicBezTo>
                    <a:pt x="191059" y="242591"/>
                    <a:pt x="193615" y="240038"/>
                    <a:pt x="197449" y="240038"/>
                  </a:cubicBezTo>
                  <a:cubicBezTo>
                    <a:pt x="229399" y="240038"/>
                    <a:pt x="253680" y="217694"/>
                    <a:pt x="256237" y="187051"/>
                  </a:cubicBezTo>
                  <a:lnTo>
                    <a:pt x="197449" y="187051"/>
                  </a:lnTo>
                  <a:cubicBezTo>
                    <a:pt x="193615" y="187051"/>
                    <a:pt x="191059" y="184497"/>
                    <a:pt x="191059" y="180667"/>
                  </a:cubicBezTo>
                  <a:lnTo>
                    <a:pt x="191059" y="114912"/>
                  </a:lnTo>
                  <a:cubicBezTo>
                    <a:pt x="191059" y="111081"/>
                    <a:pt x="193615" y="108528"/>
                    <a:pt x="197449" y="108528"/>
                  </a:cubicBezTo>
                  <a:lnTo>
                    <a:pt x="263265" y="108528"/>
                  </a:lnTo>
                  <a:cubicBezTo>
                    <a:pt x="267099" y="108528"/>
                    <a:pt x="269655" y="111081"/>
                    <a:pt x="269655" y="114912"/>
                  </a:cubicBezTo>
                  <a:lnTo>
                    <a:pt x="269655" y="180667"/>
                  </a:lnTo>
                  <a:close/>
                </a:path>
              </a:pathLst>
            </a:custGeom>
            <a:grpFill/>
            <a:ln w="6390" cap="flat">
              <a:noFill/>
              <a:prstDash val="solid"/>
              <a:miter/>
            </a:ln>
          </p:spPr>
          <p:txBody>
            <a:bodyPr rtlCol="0" anchor="ctr"/>
            <a:lstStyle/>
            <a:p>
              <a:endParaRPr lang="en-US"/>
            </a:p>
          </p:txBody>
        </p:sp>
        <p:sp>
          <p:nvSpPr>
            <p:cNvPr id="9" name="Graphic 4">
              <a:extLst>
                <a:ext uri="{FF2B5EF4-FFF2-40B4-BE49-F238E27FC236}">
                  <a16:creationId xmlns:a16="http://schemas.microsoft.com/office/drawing/2014/main" id="{9FEA09EC-4C8E-274C-28B0-C6CA16C2B157}"/>
                </a:ext>
              </a:extLst>
            </p:cNvPr>
            <p:cNvSpPr/>
            <p:nvPr/>
          </p:nvSpPr>
          <p:spPr>
            <a:xfrm>
              <a:off x="1010888" y="2492469"/>
              <a:ext cx="53036" cy="52987"/>
            </a:xfrm>
            <a:custGeom>
              <a:avLst/>
              <a:gdLst>
                <a:gd name="connsiteX0" fmla="*/ 0 w 53036"/>
                <a:gd name="connsiteY0" fmla="*/ 0 h 52987"/>
                <a:gd name="connsiteX1" fmla="*/ 53036 w 53036"/>
                <a:gd name="connsiteY1" fmla="*/ 0 h 52987"/>
                <a:gd name="connsiteX2" fmla="*/ 53036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6" y="0"/>
                  </a:lnTo>
                  <a:lnTo>
                    <a:pt x="53036" y="52987"/>
                  </a:lnTo>
                  <a:lnTo>
                    <a:pt x="0" y="52987"/>
                  </a:lnTo>
                  <a:close/>
                </a:path>
              </a:pathLst>
            </a:custGeom>
            <a:grpFill/>
            <a:ln w="6390" cap="flat">
              <a:noFill/>
              <a:prstDash val="solid"/>
              <a:miter/>
            </a:ln>
          </p:spPr>
          <p:txBody>
            <a:bodyPr rtlCol="0" anchor="ctr"/>
            <a:lstStyle/>
            <a:p>
              <a:endParaRPr lang="en-US"/>
            </a:p>
          </p:txBody>
        </p:sp>
      </p:grpSp>
      <p:sp>
        <p:nvSpPr>
          <p:cNvPr id="16" name="TextBox 15">
            <a:extLst>
              <a:ext uri="{FF2B5EF4-FFF2-40B4-BE49-F238E27FC236}">
                <a16:creationId xmlns:a16="http://schemas.microsoft.com/office/drawing/2014/main" id="{298C1208-AB45-53A7-F099-E41CF7B04DE7}"/>
              </a:ext>
            </a:extLst>
          </p:cNvPr>
          <p:cNvSpPr txBox="1"/>
          <p:nvPr/>
        </p:nvSpPr>
        <p:spPr>
          <a:xfrm>
            <a:off x="1020969" y="5537767"/>
            <a:ext cx="10664614" cy="738664"/>
          </a:xfrm>
          <a:prstGeom prst="rect">
            <a:avLst/>
          </a:prstGeom>
          <a:noFill/>
        </p:spPr>
        <p:txBody>
          <a:bodyPr wrap="square">
            <a:spAutoFit/>
          </a:bodyPr>
          <a:lstStyle/>
          <a:p>
            <a:pPr algn="just"/>
            <a:r>
              <a:rPr lang="en-US" sz="1400">
                <a:latin typeface="Arial" panose="020B0604020202020204" pitchFamily="34" charset="0"/>
                <a:cs typeface="Arial" panose="020B0604020202020204" pitchFamily="34" charset="0"/>
              </a:rPr>
              <a:t>In alignment to the demand side, the projected capacity additions from several reports have also varied significantly from the actual development. It is imperative for the sector to consider these, inherit key landscape factors and envisage a 10% - 25% reduction in the projected capacity additions for upcoming years. </a:t>
            </a:r>
            <a:endParaRPr lang="en-US" sz="1400" b="1">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89177369"/>
      </p:ext>
    </p:extLst>
  </p:cSld>
  <p:clrMapOvr>
    <a:masterClrMapping/>
  </p:clrMapOvr>
  <p:transition>
    <p:fade/>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85E75AA5-7793-42EB-A8A1-2973E74D2021}"/>
              </a:ext>
            </a:extLst>
          </p:cNvPr>
          <p:cNvGraphicFramePr>
            <a:graphicFrameLocks noChangeAspect="1"/>
          </p:cNvGraphicFramePr>
          <p:nvPr>
            <p:custDataLst>
              <p:tags r:id="rId1"/>
            </p:custDataLst>
            <p:extLst>
              <p:ext uri="{D42A27DB-BD31-4B8C-83A1-F6EECF244321}">
                <p14:modId xmlns:p14="http://schemas.microsoft.com/office/powerpoint/2010/main" val="3780880815"/>
              </p:ext>
            </p:extLst>
          </p:nvPr>
        </p:nvGraphicFramePr>
        <p:xfrm>
          <a:off x="1828" y="1723"/>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10" name="Object 9" hidden="1">
                        <a:extLst>
                          <a:ext uri="{FF2B5EF4-FFF2-40B4-BE49-F238E27FC236}">
                            <a16:creationId xmlns:a16="http://schemas.microsoft.com/office/drawing/2014/main" id="{85E75AA5-7793-42EB-A8A1-2973E74D2021}"/>
                          </a:ext>
                        </a:extLst>
                      </p:cNvPr>
                      <p:cNvPicPr/>
                      <p:nvPr/>
                    </p:nvPicPr>
                    <p:blipFill>
                      <a:blip r:embed="rId5"/>
                      <a:stretch>
                        <a:fillRect/>
                      </a:stretch>
                    </p:blipFill>
                    <p:spPr>
                      <a:xfrm>
                        <a:off x="1828" y="1723"/>
                        <a:ext cx="1588" cy="1588"/>
                      </a:xfrm>
                      <a:prstGeom prst="rect">
                        <a:avLst/>
                      </a:prstGeom>
                    </p:spPr>
                  </p:pic>
                </p:oleObj>
              </mc:Fallback>
            </mc:AlternateContent>
          </a:graphicData>
        </a:graphic>
      </p:graphicFrame>
      <p:sp>
        <p:nvSpPr>
          <p:cNvPr id="6" name="Title 5"/>
          <p:cNvSpPr>
            <a:spLocks noGrp="1"/>
          </p:cNvSpPr>
          <p:nvPr>
            <p:ph type="title"/>
          </p:nvPr>
        </p:nvSpPr>
        <p:spPr/>
        <p:txBody>
          <a:bodyPr vert="horz"/>
          <a:lstStyle/>
          <a:p>
            <a:r>
              <a:rPr lang="en-US" sz="1800" b="1">
                <a:latin typeface="Arial" panose="020B0604020202020204" pitchFamily="34" charset="0"/>
                <a:cs typeface="Arial" panose="020B0604020202020204" pitchFamily="34" charset="0"/>
              </a:rPr>
              <a:t>Key Targets and Interventions driving electricity consumption in Nepal </a:t>
            </a:r>
            <a:endParaRPr lang="en-GB" sz="18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id="{C3307A9C-FA80-4775-B35A-1A643EF2A1B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Text Placeholder 1"/>
          <p:cNvSpPr>
            <a:spLocks noGrp="1"/>
          </p:cNvSpPr>
          <p:nvPr>
            <p:ph type="body" sz="quarter" idx="13"/>
          </p:nvPr>
        </p:nvSpPr>
        <p:spPr>
          <a:xfrm>
            <a:off x="514884" y="651708"/>
            <a:ext cx="11456120" cy="259335"/>
          </a:xfrm>
          <a:solidFill>
            <a:schemeClr val="bg1"/>
          </a:solidFill>
        </p:spPr>
        <p:txBody>
          <a:bodyPr/>
          <a:lstStyle/>
          <a:p>
            <a:pPr algn="just"/>
            <a:r>
              <a:rPr lang="en-US" sz="1400">
                <a:solidFill>
                  <a:schemeClr val="tx1">
                    <a:lumMod val="65000"/>
                    <a:lumOff val="35000"/>
                  </a:schemeClr>
                </a:solidFill>
                <a:latin typeface="Arial" panose="020B0604020202020204" pitchFamily="34" charset="0"/>
                <a:cs typeface="Arial" panose="020B0604020202020204" pitchFamily="34" charset="0"/>
              </a:rPr>
              <a:t>Key initiatives across drivers like EVs, ECooking, Smart Street Lights, Railways and Industrialization is envisaged to boost electricity consumption </a:t>
            </a:r>
          </a:p>
        </p:txBody>
      </p:sp>
      <p:graphicFrame>
        <p:nvGraphicFramePr>
          <p:cNvPr id="3" name="Table 2">
            <a:extLst>
              <a:ext uri="{FF2B5EF4-FFF2-40B4-BE49-F238E27FC236}">
                <a16:creationId xmlns:a16="http://schemas.microsoft.com/office/drawing/2014/main" id="{00CA7793-ED6C-3BB1-903F-0B068D27746A}"/>
              </a:ext>
            </a:extLst>
          </p:cNvPr>
          <p:cNvGraphicFramePr>
            <a:graphicFrameLocks noGrp="1"/>
          </p:cNvGraphicFramePr>
          <p:nvPr>
            <p:extLst>
              <p:ext uri="{D42A27DB-BD31-4B8C-83A1-F6EECF244321}">
                <p14:modId xmlns:p14="http://schemas.microsoft.com/office/powerpoint/2010/main" val="4127091671"/>
              </p:ext>
            </p:extLst>
          </p:nvPr>
        </p:nvGraphicFramePr>
        <p:xfrm>
          <a:off x="501651" y="1866429"/>
          <a:ext cx="11195560" cy="4548228"/>
        </p:xfrm>
        <a:graphic>
          <a:graphicData uri="http://schemas.openxmlformats.org/drawingml/2006/table">
            <a:tbl>
              <a:tblPr firstRow="1" firstCol="1" bandRow="1">
                <a:tableStyleId>{5C22544A-7EE6-4342-B048-85BDC9FD1C3A}</a:tableStyleId>
              </a:tblPr>
              <a:tblGrid>
                <a:gridCol w="2558516">
                  <a:extLst>
                    <a:ext uri="{9D8B030D-6E8A-4147-A177-3AD203B41FA5}">
                      <a16:colId xmlns:a16="http://schemas.microsoft.com/office/drawing/2014/main" val="2981879980"/>
                    </a:ext>
                  </a:extLst>
                </a:gridCol>
                <a:gridCol w="4318522">
                  <a:extLst>
                    <a:ext uri="{9D8B030D-6E8A-4147-A177-3AD203B41FA5}">
                      <a16:colId xmlns:a16="http://schemas.microsoft.com/office/drawing/2014/main" val="4102501471"/>
                    </a:ext>
                  </a:extLst>
                </a:gridCol>
                <a:gridCol w="4318522">
                  <a:extLst>
                    <a:ext uri="{9D8B030D-6E8A-4147-A177-3AD203B41FA5}">
                      <a16:colId xmlns:a16="http://schemas.microsoft.com/office/drawing/2014/main" val="2185449565"/>
                    </a:ext>
                  </a:extLst>
                </a:gridCol>
              </a:tblGrid>
              <a:tr h="289887">
                <a:tc>
                  <a:txBody>
                    <a:bodyPr/>
                    <a:lstStyle/>
                    <a:p>
                      <a:pPr marL="58738" marR="22860" indent="0" algn="l">
                        <a:lnSpc>
                          <a:spcPct val="107000"/>
                        </a:lnSpc>
                        <a:spcBef>
                          <a:spcPts val="0"/>
                        </a:spcBef>
                        <a:spcAft>
                          <a:spcPts val="0"/>
                        </a:spcAft>
                      </a:pPr>
                      <a:r>
                        <a:rPr lang="en-US" sz="1100" b="0" kern="100">
                          <a:effectLst/>
                          <a:latin typeface="Arial" panose="020B0604020202020204" pitchFamily="34" charset="0"/>
                          <a:cs typeface="Arial" panose="020B0604020202020204" pitchFamily="34" charset="0"/>
                        </a:rPr>
                        <a:t>Policy </a:t>
                      </a:r>
                      <a:endParaRPr lang="en-US" sz="1600" b="0" kern="10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4"/>
                    </a:solidFill>
                  </a:tcPr>
                </a:tc>
                <a:tc>
                  <a:txBody>
                    <a:bodyPr/>
                    <a:lstStyle/>
                    <a:p>
                      <a:pPr marL="0" marR="24765" indent="0" algn="l">
                        <a:lnSpc>
                          <a:spcPct val="107000"/>
                        </a:lnSpc>
                        <a:spcBef>
                          <a:spcPts val="0"/>
                        </a:spcBef>
                        <a:spcAft>
                          <a:spcPts val="0"/>
                        </a:spcAft>
                      </a:pPr>
                      <a:r>
                        <a:rPr lang="en-US" sz="1100" b="0" kern="100">
                          <a:effectLst/>
                          <a:latin typeface="Arial" panose="020B0604020202020204" pitchFamily="34" charset="0"/>
                          <a:cs typeface="Arial" panose="020B0604020202020204" pitchFamily="34" charset="0"/>
                        </a:rPr>
                        <a:t>  Source </a:t>
                      </a:r>
                      <a:endParaRPr lang="en-US" sz="1600" b="0" kern="10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4"/>
                    </a:solidFill>
                  </a:tcPr>
                </a:tc>
                <a:tc>
                  <a:txBody>
                    <a:bodyPr/>
                    <a:lstStyle/>
                    <a:p>
                      <a:pPr marL="0" marR="26035" indent="0" algn="l">
                        <a:lnSpc>
                          <a:spcPct val="107000"/>
                        </a:lnSpc>
                        <a:spcBef>
                          <a:spcPts val="0"/>
                        </a:spcBef>
                        <a:spcAft>
                          <a:spcPts val="0"/>
                        </a:spcAft>
                      </a:pPr>
                      <a:r>
                        <a:rPr lang="en-US" sz="1100" b="0" kern="100">
                          <a:effectLst/>
                          <a:latin typeface="Arial" panose="020B0604020202020204" pitchFamily="34" charset="0"/>
                          <a:cs typeface="Arial" panose="020B0604020202020204" pitchFamily="34" charset="0"/>
                        </a:rPr>
                        <a:t>  Target </a:t>
                      </a:r>
                      <a:endParaRPr lang="en-US" sz="1600" b="0" kern="10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4"/>
                    </a:solidFill>
                  </a:tcPr>
                </a:tc>
                <a:extLst>
                  <a:ext uri="{0D108BD9-81ED-4DB2-BD59-A6C34878D82A}">
                    <a16:rowId xmlns:a16="http://schemas.microsoft.com/office/drawing/2014/main" val="3466440879"/>
                  </a:ext>
                </a:extLst>
              </a:tr>
              <a:tr h="1167454">
                <a:tc>
                  <a:txBody>
                    <a:bodyPr/>
                    <a:lstStyle/>
                    <a:p>
                      <a:pPr marL="58738" marR="22860" indent="0" algn="l" defTabSz="914335" rtl="0" eaLnBrk="1" latinLnBrk="0" hangingPunct="1">
                        <a:lnSpc>
                          <a:spcPct val="107000"/>
                        </a:lnSpc>
                        <a:spcBef>
                          <a:spcPts val="0"/>
                        </a:spcBef>
                        <a:spcAft>
                          <a:spcPts val="0"/>
                        </a:spcAft>
                      </a:pPr>
                      <a:r>
                        <a:rPr lang="en-US" sz="1100" b="0" kern="100">
                          <a:solidFill>
                            <a:schemeClr val="tx1"/>
                          </a:solidFill>
                          <a:effectLst/>
                          <a:latin typeface="Arial" panose="020B0604020202020204" pitchFamily="34" charset="0"/>
                          <a:ea typeface="+mn-ea"/>
                          <a:cs typeface="Arial" panose="020B0604020202020204" pitchFamily="34" charset="0"/>
                        </a:rPr>
                        <a:t>Electric vehicles (EV)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1">
                        <a:lumMod val="60000"/>
                        <a:lumOff val="40000"/>
                      </a:schemeClr>
                    </a:solidFill>
                  </a:tcPr>
                </a:tc>
                <a:tc>
                  <a:txBody>
                    <a:bodyPr/>
                    <a:lstStyle/>
                    <a:p>
                      <a:pPr marL="264160" marR="0" lvl="0" indent="-171450" algn="l" defTabSz="914335" rtl="0" eaLnBrk="1" fontAlgn="base" latinLnBrk="0" hangingPunct="1">
                        <a:lnSpc>
                          <a:spcPct val="107000"/>
                        </a:lnSpc>
                        <a:spcBef>
                          <a:spcPts val="0"/>
                        </a:spcBef>
                        <a:spcAft>
                          <a:spcPts val="0"/>
                        </a:spcAft>
                        <a:buClr>
                          <a:srgbClr val="000000"/>
                        </a:buClr>
                        <a:buSzPts val="900"/>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Assessment of Electric Mobility </a:t>
                      </a:r>
                    </a:p>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Targets for Nepal’s 2020 Nationally </a:t>
                      </a:r>
                    </a:p>
                    <a:p>
                      <a:pPr marL="264160" marR="0" indent="-171450" algn="l" defTabSz="914335" rtl="0" eaLnBrk="1" latinLnBrk="0" hangingPunct="1">
                        <a:lnSpc>
                          <a:spcPct val="107000"/>
                        </a:lnSpc>
                        <a:spcBef>
                          <a:spcPts val="0"/>
                        </a:spcBef>
                        <a:spcAft>
                          <a:spcPts val="18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Determined Contributions (NDC) </a:t>
                      </a:r>
                    </a:p>
                    <a:p>
                      <a:pPr marL="264160" marR="0" lvl="0" indent="-171450" algn="l" defTabSz="914335" rtl="0" eaLnBrk="1" fontAlgn="base" latinLnBrk="0" hangingPunct="1">
                        <a:lnSpc>
                          <a:spcPct val="107000"/>
                        </a:lnSpc>
                        <a:spcBef>
                          <a:spcPts val="0"/>
                        </a:spcBef>
                        <a:spcAft>
                          <a:spcPts val="0"/>
                        </a:spcAft>
                        <a:buClr>
                          <a:srgbClr val="000000"/>
                        </a:buClr>
                        <a:buSzPts val="900"/>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Nepal SDGs Status and Roadmap 2016-2030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tc>
                  <a:txBody>
                    <a:bodyPr/>
                    <a:lstStyle/>
                    <a:p>
                      <a:pPr marL="264160" marR="0" lvl="0" indent="-171450" algn="l" defTabSz="914335" rtl="0" eaLnBrk="1" fontAlgn="base" latinLnBrk="0" hangingPunct="1">
                        <a:lnSpc>
                          <a:spcPct val="107000"/>
                        </a:lnSpc>
                        <a:spcBef>
                          <a:spcPts val="0"/>
                        </a:spcBef>
                        <a:spcAft>
                          <a:spcPts val="0"/>
                        </a:spcAft>
                        <a:buClr>
                          <a:srgbClr val="000000"/>
                        </a:buClr>
                        <a:buSzPts val="900"/>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By 2025, 25% of private vehicle, 20% of public vehicle sales is EV </a:t>
                      </a:r>
                    </a:p>
                    <a:p>
                      <a:pPr marL="264160" marR="0" indent="-171450" algn="l" defTabSz="914335" rtl="0" eaLnBrk="1" latinLnBrk="0" hangingPunct="1">
                        <a:lnSpc>
                          <a:spcPct val="107000"/>
                        </a:lnSpc>
                        <a:spcBef>
                          <a:spcPts val="0"/>
                        </a:spcBef>
                        <a:spcAft>
                          <a:spcPts val="265"/>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By 2030, 90% of private vehicle, 60% of public vehicle sales is EV </a:t>
                      </a:r>
                    </a:p>
                    <a:p>
                      <a:pPr marL="264160" marR="0" lvl="0" indent="-171450" algn="l" defTabSz="914335" rtl="0" eaLnBrk="1" fontAlgn="base" latinLnBrk="0" hangingPunct="1">
                        <a:lnSpc>
                          <a:spcPct val="107000"/>
                        </a:lnSpc>
                        <a:spcBef>
                          <a:spcPts val="0"/>
                        </a:spcBef>
                        <a:spcAft>
                          <a:spcPts val="0"/>
                        </a:spcAft>
                        <a:buClr>
                          <a:srgbClr val="000000"/>
                        </a:buClr>
                        <a:buSzPts val="900"/>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Electric vehicles in public transport systems (%) </a:t>
                      </a:r>
                    </a:p>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2015:1%, 2019:5%, 2022:20%, 2025:35%, 2030:50%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277581005"/>
                  </a:ext>
                </a:extLst>
              </a:tr>
              <a:tr h="425076">
                <a:tc>
                  <a:txBody>
                    <a:bodyPr/>
                    <a:lstStyle/>
                    <a:p>
                      <a:pPr marL="58738" marR="22860" indent="0" algn="l" defTabSz="914335" rtl="0" eaLnBrk="1" latinLnBrk="0" hangingPunct="1">
                        <a:lnSpc>
                          <a:spcPct val="107000"/>
                        </a:lnSpc>
                        <a:spcBef>
                          <a:spcPts val="0"/>
                        </a:spcBef>
                        <a:spcAft>
                          <a:spcPts val="0"/>
                        </a:spcAft>
                      </a:pPr>
                      <a:r>
                        <a:rPr lang="en-US" sz="1100" b="0" kern="100">
                          <a:solidFill>
                            <a:schemeClr val="tx1"/>
                          </a:solidFill>
                          <a:effectLst/>
                          <a:latin typeface="Arial" panose="020B0604020202020204" pitchFamily="34" charset="0"/>
                          <a:ea typeface="+mn-ea"/>
                          <a:cs typeface="Arial" panose="020B0604020202020204" pitchFamily="34" charset="0"/>
                        </a:rPr>
                        <a:t>Electric cooking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1">
                        <a:lumMod val="60000"/>
                        <a:lumOff val="40000"/>
                      </a:schemeClr>
                    </a:solidFill>
                  </a:tcPr>
                </a:tc>
                <a:tc>
                  <a:txBody>
                    <a:bodyPr/>
                    <a:lstStyle/>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Nepal SDGs Status and Roadmap 2016-2030: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tc>
                  <a:txBody>
                    <a:bodyPr/>
                    <a:lstStyle/>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30% of cooking heat sources is wood, 39% is LPG, and the remaining 31% is electricity in 2030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931225652"/>
                  </a:ext>
                </a:extLst>
              </a:tr>
              <a:tr h="428998">
                <a:tc>
                  <a:txBody>
                    <a:bodyPr/>
                    <a:lstStyle/>
                    <a:p>
                      <a:pPr marL="58738" marR="22860" indent="0" algn="l" defTabSz="914335" rtl="0" eaLnBrk="1" latinLnBrk="0" hangingPunct="1">
                        <a:lnSpc>
                          <a:spcPct val="107000"/>
                        </a:lnSpc>
                        <a:spcBef>
                          <a:spcPts val="0"/>
                        </a:spcBef>
                        <a:spcAft>
                          <a:spcPts val="0"/>
                        </a:spcAft>
                      </a:pPr>
                      <a:r>
                        <a:rPr lang="en-US" sz="1100" b="0" kern="100">
                          <a:solidFill>
                            <a:schemeClr val="tx1"/>
                          </a:solidFill>
                          <a:effectLst/>
                          <a:latin typeface="Arial" panose="020B0604020202020204" pitchFamily="34" charset="0"/>
                          <a:ea typeface="+mn-ea"/>
                          <a:cs typeface="Arial" panose="020B0604020202020204" pitchFamily="34" charset="0"/>
                        </a:rPr>
                        <a:t>Smart Street Light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1">
                        <a:lumMod val="60000"/>
                        <a:lumOff val="40000"/>
                      </a:schemeClr>
                    </a:solidFill>
                  </a:tcPr>
                </a:tc>
                <a:tc>
                  <a:txBody>
                    <a:bodyPr/>
                    <a:lstStyle/>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NEA Annual Report 2020/2021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tc>
                  <a:txBody>
                    <a:bodyPr/>
                    <a:lstStyle/>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Smart streetlight (solar LED streetlights) is introduced to the same extent as 2018 onward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3689155647"/>
                  </a:ext>
                </a:extLst>
              </a:tr>
              <a:tr h="587421">
                <a:tc>
                  <a:txBody>
                    <a:bodyPr/>
                    <a:lstStyle/>
                    <a:p>
                      <a:pPr marL="58738" marR="22860" indent="0" algn="l" defTabSz="914335" rtl="0" eaLnBrk="1" latinLnBrk="0" hangingPunct="1">
                        <a:lnSpc>
                          <a:spcPct val="107000"/>
                        </a:lnSpc>
                        <a:spcBef>
                          <a:spcPts val="0"/>
                        </a:spcBef>
                        <a:spcAft>
                          <a:spcPts val="0"/>
                        </a:spcAft>
                      </a:pPr>
                      <a:r>
                        <a:rPr lang="en-US" sz="1100" b="0" kern="100">
                          <a:solidFill>
                            <a:schemeClr val="tx1"/>
                          </a:solidFill>
                          <a:effectLst/>
                          <a:latin typeface="Arial" panose="020B0604020202020204" pitchFamily="34" charset="0"/>
                          <a:ea typeface="+mn-ea"/>
                          <a:cs typeface="Arial" panose="020B0604020202020204" pitchFamily="34" charset="0"/>
                        </a:rPr>
                        <a:t>Electric railway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1">
                        <a:lumMod val="60000"/>
                        <a:lumOff val="40000"/>
                      </a:schemeClr>
                    </a:solidFill>
                  </a:tcPr>
                </a:tc>
                <a:tc>
                  <a:txBody>
                    <a:bodyPr/>
                    <a:lstStyle/>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The Fifteenth Plan </a:t>
                      </a:r>
                    </a:p>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(Fiscal Year 2019/20 – 2023/24) </a:t>
                      </a:r>
                    </a:p>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By National Planning Commission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tc>
                  <a:txBody>
                    <a:bodyPr/>
                    <a:lstStyle/>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900 km electric railway will start operation in 2030.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940715134"/>
                  </a:ext>
                </a:extLst>
              </a:tr>
              <a:tr h="501002">
                <a:tc>
                  <a:txBody>
                    <a:bodyPr/>
                    <a:lstStyle/>
                    <a:p>
                      <a:pPr marL="58738" marR="22860" indent="0" algn="l" defTabSz="914335" rtl="0" eaLnBrk="1" latinLnBrk="0" hangingPunct="1">
                        <a:lnSpc>
                          <a:spcPct val="107000"/>
                        </a:lnSpc>
                        <a:spcBef>
                          <a:spcPts val="0"/>
                        </a:spcBef>
                        <a:spcAft>
                          <a:spcPts val="0"/>
                        </a:spcAft>
                      </a:pPr>
                      <a:r>
                        <a:rPr lang="en-US" sz="1100" b="0" kern="100">
                          <a:solidFill>
                            <a:schemeClr val="tx1"/>
                          </a:solidFill>
                          <a:effectLst/>
                          <a:latin typeface="Arial" panose="020B0604020202020204" pitchFamily="34" charset="0"/>
                          <a:ea typeface="+mn-ea"/>
                          <a:cs typeface="Arial" panose="020B0604020202020204" pitchFamily="34" charset="0"/>
                        </a:rPr>
                        <a:t>Steelwork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1">
                        <a:lumMod val="60000"/>
                        <a:lumOff val="40000"/>
                      </a:schemeClr>
                    </a:solidFill>
                  </a:tcPr>
                </a:tc>
                <a:tc>
                  <a:txBody>
                    <a:bodyPr/>
                    <a:lstStyle/>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Several references such as Federation of </a:t>
                      </a:r>
                    </a:p>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Nepalese Chamber of Commerce and Industry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tc>
                  <a:txBody>
                    <a:bodyPr/>
                    <a:lstStyle/>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Assumed after 2022, a new steelwork will start operation every two years.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135282301"/>
                  </a:ext>
                </a:extLst>
              </a:tr>
              <a:tr h="719392">
                <a:tc>
                  <a:txBody>
                    <a:bodyPr/>
                    <a:lstStyle/>
                    <a:p>
                      <a:pPr marL="58738" marR="22860" indent="0" algn="l" defTabSz="914335" rtl="0" eaLnBrk="1" latinLnBrk="0" hangingPunct="1">
                        <a:lnSpc>
                          <a:spcPct val="107000"/>
                        </a:lnSpc>
                        <a:spcBef>
                          <a:spcPts val="0"/>
                        </a:spcBef>
                        <a:spcAft>
                          <a:spcPts val="0"/>
                        </a:spcAft>
                      </a:pPr>
                      <a:r>
                        <a:rPr lang="en-US" sz="1100" b="0" kern="100">
                          <a:solidFill>
                            <a:schemeClr val="tx1"/>
                          </a:solidFill>
                          <a:effectLst/>
                          <a:latin typeface="Arial" panose="020B0604020202020204" pitchFamily="34" charset="0"/>
                          <a:ea typeface="+mn-ea"/>
                          <a:cs typeface="Arial" panose="020B0604020202020204" pitchFamily="34" charset="0"/>
                        </a:rPr>
                        <a:t>Industrial zone and </a:t>
                      </a:r>
                    </a:p>
                    <a:p>
                      <a:pPr marL="58738" marR="22860" indent="0" algn="l" defTabSz="914335" rtl="0" eaLnBrk="1" latinLnBrk="0" hangingPunct="1">
                        <a:lnSpc>
                          <a:spcPct val="107000"/>
                        </a:lnSpc>
                        <a:spcBef>
                          <a:spcPts val="0"/>
                        </a:spcBef>
                        <a:spcAft>
                          <a:spcPts val="0"/>
                        </a:spcAft>
                      </a:pPr>
                      <a:r>
                        <a:rPr lang="en-US" sz="1100" b="0" kern="100">
                          <a:solidFill>
                            <a:schemeClr val="tx1"/>
                          </a:solidFill>
                          <a:effectLst/>
                          <a:latin typeface="Arial" panose="020B0604020202020204" pitchFamily="34" charset="0"/>
                          <a:ea typeface="+mn-ea"/>
                          <a:cs typeface="Arial" panose="020B0604020202020204" pitchFamily="34" charset="0"/>
                        </a:rPr>
                        <a:t>Special economic zone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1">
                        <a:lumMod val="60000"/>
                        <a:lumOff val="40000"/>
                      </a:schemeClr>
                    </a:solidFill>
                  </a:tcPr>
                </a:tc>
                <a:tc>
                  <a:txBody>
                    <a:bodyPr/>
                    <a:lstStyle/>
                    <a:p>
                      <a:pPr marL="264160" marR="0" lvl="0" indent="-171450" algn="l" defTabSz="914335" rtl="0" eaLnBrk="1" fontAlgn="base" latinLnBrk="0" hangingPunct="1">
                        <a:lnSpc>
                          <a:spcPct val="107000"/>
                        </a:lnSpc>
                        <a:spcBef>
                          <a:spcPts val="0"/>
                        </a:spcBef>
                        <a:spcAft>
                          <a:spcPts val="0"/>
                        </a:spcAft>
                        <a:buClr>
                          <a:srgbClr val="000000"/>
                        </a:buClr>
                        <a:buSzPts val="900"/>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Follow Up Data Collection Survey for </a:t>
                      </a:r>
                    </a:p>
                    <a:p>
                      <a:pPr marL="264160" marR="0" indent="-171450" algn="l" defTabSz="914335" rtl="0" eaLnBrk="1" latinLnBrk="0" hangingPunct="1">
                        <a:lnSpc>
                          <a:spcPct val="107000"/>
                        </a:lnSpc>
                        <a:spcBef>
                          <a:spcPts val="0"/>
                        </a:spcBef>
                        <a:spcAft>
                          <a:spcPts val="31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Transmission and Distribution Network Development </a:t>
                      </a:r>
                    </a:p>
                    <a:p>
                      <a:pPr marL="264160" marR="0" lvl="0" indent="-171450" algn="l" defTabSz="914335" rtl="0" eaLnBrk="1" fontAlgn="base" latinLnBrk="0" hangingPunct="1">
                        <a:lnSpc>
                          <a:spcPct val="107000"/>
                        </a:lnSpc>
                        <a:spcBef>
                          <a:spcPts val="0"/>
                        </a:spcBef>
                        <a:spcAft>
                          <a:spcPts val="0"/>
                        </a:spcAft>
                        <a:buClr>
                          <a:srgbClr val="000000"/>
                        </a:buClr>
                        <a:buSzPts val="900"/>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Special Economic Zone Authority (SEZA)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tc>
                  <a:txBody>
                    <a:bodyPr/>
                    <a:lstStyle/>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Development of 10 industrial districts and 14 special economic zones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3130690459"/>
                  </a:ext>
                </a:extLst>
              </a:tr>
              <a:tr h="428998">
                <a:tc>
                  <a:txBody>
                    <a:bodyPr/>
                    <a:lstStyle/>
                    <a:p>
                      <a:pPr marL="58738" marR="22860" indent="0" algn="l" defTabSz="914335" rtl="0" eaLnBrk="1" latinLnBrk="0" hangingPunct="1">
                        <a:lnSpc>
                          <a:spcPct val="107000"/>
                        </a:lnSpc>
                        <a:spcBef>
                          <a:spcPts val="0"/>
                        </a:spcBef>
                        <a:spcAft>
                          <a:spcPts val="0"/>
                        </a:spcAft>
                      </a:pPr>
                      <a:r>
                        <a:rPr lang="en-US" sz="1100" b="0" kern="100">
                          <a:solidFill>
                            <a:schemeClr val="tx1"/>
                          </a:solidFill>
                          <a:effectLst/>
                          <a:latin typeface="Arial" panose="020B0604020202020204" pitchFamily="34" charset="0"/>
                          <a:ea typeface="+mn-ea"/>
                          <a:cs typeface="Arial" panose="020B0604020202020204" pitchFamily="34" charset="0"/>
                        </a:rPr>
                        <a:t>Improvement of energy efficiency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1">
                        <a:lumMod val="60000"/>
                        <a:lumOff val="40000"/>
                      </a:schemeClr>
                    </a:solidFill>
                  </a:tcPr>
                </a:tc>
                <a:tc>
                  <a:txBody>
                    <a:bodyPr/>
                    <a:lstStyle/>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National Energy Efficiency Strategy, 2075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tc>
                  <a:txBody>
                    <a:bodyPr/>
                    <a:lstStyle/>
                    <a:p>
                      <a:pPr marL="264160" marR="0" indent="-171450" algn="l" defTabSz="914335" rtl="0" eaLnBrk="1" latinLnBrk="0" hangingPunct="1">
                        <a:lnSpc>
                          <a:spcPct val="107000"/>
                        </a:lnSpc>
                        <a:spcBef>
                          <a:spcPts val="0"/>
                        </a:spcBef>
                        <a:spcAft>
                          <a:spcPts val="0"/>
                        </a:spcAft>
                        <a:buFont typeface="Arial" panose="020B0604020202020204" pitchFamily="34" charset="0"/>
                        <a:buChar char="•"/>
                      </a:pPr>
                      <a:r>
                        <a:rPr lang="en-US" sz="1100" kern="100">
                          <a:solidFill>
                            <a:schemeClr val="dk1"/>
                          </a:solidFill>
                          <a:effectLst/>
                          <a:latin typeface="Arial" panose="020B0604020202020204" pitchFamily="34" charset="0"/>
                          <a:ea typeface="+mn-ea"/>
                          <a:cs typeface="Arial" panose="020B0604020202020204" pitchFamily="34" charset="0"/>
                        </a:rPr>
                        <a:t>0.84%(2022)→1.68%(2030)→1.68%(2040) </a:t>
                      </a:r>
                    </a:p>
                  </a:txBody>
                  <a:tcPr marL="45085" marR="19050" marT="28575" marB="0" anchor="ctr">
                    <a:lnL w="6350" cap="flat" cmpd="sng" algn="ctr">
                      <a:solidFill>
                        <a:schemeClr val="accent2"/>
                      </a:solidFill>
                      <a:prstDash val="solid"/>
                      <a:round/>
                      <a:headEnd type="none" w="med" len="med"/>
                      <a:tailEnd type="none" w="med" len="med"/>
                    </a:lnL>
                    <a:lnR w="6350" cap="flat" cmpd="sng" algn="ctr">
                      <a:solidFill>
                        <a:schemeClr val="accent2"/>
                      </a:solid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3432834450"/>
                  </a:ext>
                </a:extLst>
              </a:tr>
            </a:tbl>
          </a:graphicData>
        </a:graphic>
      </p:graphicFrame>
      <p:sp>
        <p:nvSpPr>
          <p:cNvPr id="5" name="TextBox 4">
            <a:extLst>
              <a:ext uri="{FF2B5EF4-FFF2-40B4-BE49-F238E27FC236}">
                <a16:creationId xmlns:a16="http://schemas.microsoft.com/office/drawing/2014/main" id="{7CFC3A4C-2324-C7E5-5273-24C006C7701A}"/>
              </a:ext>
            </a:extLst>
          </p:cNvPr>
          <p:cNvSpPr txBox="1"/>
          <p:nvPr/>
        </p:nvSpPr>
        <p:spPr>
          <a:xfrm>
            <a:off x="3194944" y="1558652"/>
            <a:ext cx="6096000"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Policy Interventions to drive electricity demand in Nepal</a:t>
            </a:r>
            <a:endParaRPr kumimoji="0" lang="en-US" sz="1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426E727B-235C-694C-7C95-8248A7E86F5D}"/>
              </a:ext>
            </a:extLst>
          </p:cNvPr>
          <p:cNvSpPr txBox="1"/>
          <p:nvPr/>
        </p:nvSpPr>
        <p:spPr>
          <a:xfrm>
            <a:off x="447675" y="6596933"/>
            <a:ext cx="609600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Source - JICA Integrated Power System Development Plan 2024</a:t>
            </a:r>
            <a:endParaRPr kumimoji="0" lang="en-US" sz="1050" b="0" i="0" u="none" strike="noStrike" kern="1200" cap="none" spc="0" normalizeH="0" baseline="0" noProof="0">
              <a:ln>
                <a:noFill/>
              </a:ln>
              <a:solidFill>
                <a:prstClr val="black"/>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3874672-14AE-23D7-C683-19542B57FC33}"/>
              </a:ext>
            </a:extLst>
          </p:cNvPr>
          <p:cNvSpPr txBox="1"/>
          <p:nvPr/>
        </p:nvSpPr>
        <p:spPr>
          <a:xfrm>
            <a:off x="501651" y="1065574"/>
            <a:ext cx="11134724" cy="492443"/>
          </a:xfrm>
          <a:prstGeom prst="rect">
            <a:avLst/>
          </a:prstGeom>
          <a:noFill/>
        </p:spPr>
        <p:txBody>
          <a:bodyPr wrap="square">
            <a:spAutoFit/>
          </a:bodyPr>
          <a:lstStyle/>
          <a:p>
            <a:r>
              <a:rPr lang="en-US" sz="1300" kern="1200">
                <a:solidFill>
                  <a:schemeClr val="dk1"/>
                </a:solidFill>
                <a:latin typeface="Arial" panose="020B0604020202020204" pitchFamily="34" charset="0"/>
                <a:ea typeface="+mn-ea"/>
                <a:cs typeface="Arial" panose="020B0604020202020204" pitchFamily="34" charset="0"/>
              </a:rPr>
              <a:t>Nepal has been proactively setting targets and devising policy interventions across sectors to </a:t>
            </a:r>
            <a:r>
              <a:rPr lang="en-US" sz="1300" b="1" kern="1200">
                <a:solidFill>
                  <a:schemeClr val="dk1"/>
                </a:solidFill>
                <a:latin typeface="Arial" panose="020B0604020202020204" pitchFamily="34" charset="0"/>
                <a:ea typeface="+mn-ea"/>
                <a:cs typeface="Arial" panose="020B0604020202020204" pitchFamily="34" charset="0"/>
              </a:rPr>
              <a:t>promote enhanced electricity consumption</a:t>
            </a:r>
            <a:r>
              <a:rPr lang="en-US" sz="1300" kern="1200">
                <a:solidFill>
                  <a:schemeClr val="dk1"/>
                </a:solidFill>
                <a:latin typeface="Arial" panose="020B0604020202020204" pitchFamily="34" charset="0"/>
                <a:ea typeface="+mn-ea"/>
                <a:cs typeface="Arial" panose="020B0604020202020204" pitchFamily="34" charset="0"/>
              </a:rPr>
              <a:t>. These initiatives are envisaged to increase internal consumption and curb total emissions aiding Nepal’s zero emissions targets</a:t>
            </a:r>
            <a:endParaRPr lang="en-US" sz="1300"/>
          </a:p>
        </p:txBody>
      </p:sp>
    </p:spTree>
    <p:extLst>
      <p:ext uri="{BB962C8B-B14F-4D97-AF65-F5344CB8AC3E}">
        <p14:creationId xmlns:p14="http://schemas.microsoft.com/office/powerpoint/2010/main" val="3771410762"/>
      </p:ext>
    </p:extLst>
  </p:cSld>
  <p:clrMapOvr>
    <a:masterClrMapping/>
  </p:clrMapOvr>
  <p:transition>
    <p:fade/>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2">
            <a:extLst>
              <a:ext uri="{FF2B5EF4-FFF2-40B4-BE49-F238E27FC236}">
                <a16:creationId xmlns:a16="http://schemas.microsoft.com/office/drawing/2014/main" id="{AA24A5B3-23D4-3349-DA2B-B26325E6FCCF}"/>
              </a:ext>
            </a:extLst>
          </p:cNvPr>
          <p:cNvSpPr>
            <a:spLocks noGrp="1"/>
          </p:cNvSpPr>
          <p:nvPr>
            <p:ph type="title"/>
          </p:nvPr>
        </p:nvSpPr>
        <p:spPr>
          <a:xfrm>
            <a:off x="501652" y="317503"/>
            <a:ext cx="11162350" cy="334101"/>
          </a:xfrm>
        </p:spPr>
        <p:txBody>
          <a:bodyPr/>
          <a:lstStyle/>
          <a:p>
            <a:r>
              <a:rPr lang="en-US"/>
              <a:t>Historical sale of electricity by NEA in IEX</a:t>
            </a:r>
          </a:p>
        </p:txBody>
      </p:sp>
      <p:graphicFrame>
        <p:nvGraphicFramePr>
          <p:cNvPr id="7" name="Table 6">
            <a:extLst>
              <a:ext uri="{FF2B5EF4-FFF2-40B4-BE49-F238E27FC236}">
                <a16:creationId xmlns:a16="http://schemas.microsoft.com/office/drawing/2014/main" id="{4A342144-2D09-98C7-B4C2-A00F5D919C7D}"/>
              </a:ext>
            </a:extLst>
          </p:cNvPr>
          <p:cNvGraphicFramePr>
            <a:graphicFrameLocks noGrp="1"/>
          </p:cNvGraphicFramePr>
          <p:nvPr>
            <p:extLst>
              <p:ext uri="{D42A27DB-BD31-4B8C-83A1-F6EECF244321}">
                <p14:modId xmlns:p14="http://schemas.microsoft.com/office/powerpoint/2010/main" val="170037754"/>
              </p:ext>
            </p:extLst>
          </p:nvPr>
        </p:nvGraphicFramePr>
        <p:xfrm>
          <a:off x="527998" y="1030229"/>
          <a:ext cx="11162350" cy="5547360"/>
        </p:xfrm>
        <a:graphic>
          <a:graphicData uri="http://schemas.openxmlformats.org/drawingml/2006/table">
            <a:tbl>
              <a:tblPr/>
              <a:tblGrid>
                <a:gridCol w="686448">
                  <a:extLst>
                    <a:ext uri="{9D8B030D-6E8A-4147-A177-3AD203B41FA5}">
                      <a16:colId xmlns:a16="http://schemas.microsoft.com/office/drawing/2014/main" val="173389675"/>
                    </a:ext>
                  </a:extLst>
                </a:gridCol>
                <a:gridCol w="564749">
                  <a:extLst>
                    <a:ext uri="{9D8B030D-6E8A-4147-A177-3AD203B41FA5}">
                      <a16:colId xmlns:a16="http://schemas.microsoft.com/office/drawing/2014/main" val="1583687598"/>
                    </a:ext>
                  </a:extLst>
                </a:gridCol>
                <a:gridCol w="1416640">
                  <a:extLst>
                    <a:ext uri="{9D8B030D-6E8A-4147-A177-3AD203B41FA5}">
                      <a16:colId xmlns:a16="http://schemas.microsoft.com/office/drawing/2014/main" val="3783323252"/>
                    </a:ext>
                  </a:extLst>
                </a:gridCol>
                <a:gridCol w="1345977">
                  <a:extLst>
                    <a:ext uri="{9D8B030D-6E8A-4147-A177-3AD203B41FA5}">
                      <a16:colId xmlns:a16="http://schemas.microsoft.com/office/drawing/2014/main" val="3605260988"/>
                    </a:ext>
                  </a:extLst>
                </a:gridCol>
                <a:gridCol w="2892728">
                  <a:extLst>
                    <a:ext uri="{9D8B030D-6E8A-4147-A177-3AD203B41FA5}">
                      <a16:colId xmlns:a16="http://schemas.microsoft.com/office/drawing/2014/main" val="3894583784"/>
                    </a:ext>
                  </a:extLst>
                </a:gridCol>
                <a:gridCol w="1133983">
                  <a:extLst>
                    <a:ext uri="{9D8B030D-6E8A-4147-A177-3AD203B41FA5}">
                      <a16:colId xmlns:a16="http://schemas.microsoft.com/office/drawing/2014/main" val="2020496040"/>
                    </a:ext>
                  </a:extLst>
                </a:gridCol>
                <a:gridCol w="1540302">
                  <a:extLst>
                    <a:ext uri="{9D8B030D-6E8A-4147-A177-3AD203B41FA5}">
                      <a16:colId xmlns:a16="http://schemas.microsoft.com/office/drawing/2014/main" val="4078036672"/>
                    </a:ext>
                  </a:extLst>
                </a:gridCol>
                <a:gridCol w="1581523">
                  <a:extLst>
                    <a:ext uri="{9D8B030D-6E8A-4147-A177-3AD203B41FA5}">
                      <a16:colId xmlns:a16="http://schemas.microsoft.com/office/drawing/2014/main" val="1172394329"/>
                    </a:ext>
                  </a:extLst>
                </a:gridCol>
              </a:tblGrid>
              <a:tr h="133686">
                <a:tc>
                  <a:txBody>
                    <a:bodyPr/>
                    <a:lstStyle/>
                    <a:p>
                      <a:pPr algn="ctr" fontAlgn="ctr">
                        <a:buNone/>
                      </a:pPr>
                      <a:r>
                        <a:rPr lang="en-US" sz="800" b="1" i="0" u="none" strike="noStrike">
                          <a:solidFill>
                            <a:schemeClr val="tx1"/>
                          </a:solidFill>
                          <a:effectLst/>
                          <a:latin typeface="Arial" panose="020B0604020202020204" pitchFamily="34" charset="0"/>
                          <a:cs typeface="Arial" panose="020B0604020202020204" pitchFamily="34" charset="0"/>
                        </a:rPr>
                        <a:t>Country</a:t>
                      </a:r>
                      <a:endParaRPr lang="en-US" sz="800" b="0" i="0" u="none" strike="noStrike">
                        <a:solidFill>
                          <a:schemeClr val="tx1"/>
                        </a:solidFill>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en-US" sz="800" b="1" i="0" u="none" strike="noStrike">
                          <a:solidFill>
                            <a:schemeClr val="tx1"/>
                          </a:solidFill>
                          <a:effectLst/>
                          <a:latin typeface="Arial" panose="020B0604020202020204" pitchFamily="34" charset="0"/>
                          <a:cs typeface="Arial" panose="020B0604020202020204" pitchFamily="34" charset="0"/>
                        </a:rPr>
                        <a:t>Trader</a:t>
                      </a:r>
                      <a:endParaRPr lang="en-US" sz="800" b="0" i="0" u="none" strike="noStrike">
                        <a:solidFill>
                          <a:schemeClr val="tx1"/>
                        </a:solidFill>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en-US" sz="800" b="1" i="0" u="none" strike="noStrike">
                          <a:solidFill>
                            <a:schemeClr val="tx1"/>
                          </a:solidFill>
                          <a:effectLst/>
                          <a:latin typeface="Arial" panose="020B0604020202020204" pitchFamily="34" charset="0"/>
                          <a:cs typeface="Arial" panose="020B0604020202020204" pitchFamily="34" charset="0"/>
                        </a:rPr>
                        <a:t>Mode of transaction</a:t>
                      </a:r>
                      <a:endParaRPr lang="en-US" sz="800" b="0" i="0" u="none" strike="noStrike">
                        <a:solidFill>
                          <a:schemeClr val="tx1"/>
                        </a:solidFill>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en-US" sz="800" b="1" i="0" u="none" strike="noStrike">
                          <a:solidFill>
                            <a:schemeClr val="tx1"/>
                          </a:solidFill>
                          <a:effectLst/>
                          <a:latin typeface="Arial" panose="020B0604020202020204" pitchFamily="34" charset="0"/>
                          <a:cs typeface="Arial" panose="020B0604020202020204" pitchFamily="34" charset="0"/>
                        </a:rPr>
                        <a:t>IEX segment/ Buyer</a:t>
                      </a:r>
                      <a:endParaRPr lang="en-US" sz="800" b="0" i="0" u="none" strike="noStrike">
                        <a:solidFill>
                          <a:schemeClr val="tx1"/>
                        </a:solidFill>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en-US" sz="800" b="1" i="0" u="none" strike="noStrike">
                          <a:solidFill>
                            <a:schemeClr val="tx1"/>
                          </a:solidFill>
                          <a:effectLst/>
                          <a:latin typeface="Arial" panose="020B0604020202020204" pitchFamily="34" charset="0"/>
                          <a:cs typeface="Arial" panose="020B0604020202020204" pitchFamily="34" charset="0"/>
                        </a:rPr>
                        <a:t>Project Name</a:t>
                      </a:r>
                      <a:endParaRPr lang="en-US" sz="800" b="0" i="0" u="none" strike="noStrike">
                        <a:solidFill>
                          <a:schemeClr val="tx1"/>
                        </a:solidFill>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en-US" sz="800" b="1" i="0" u="none" strike="noStrike">
                          <a:solidFill>
                            <a:schemeClr val="tx1"/>
                          </a:solidFill>
                          <a:effectLst/>
                          <a:latin typeface="Arial" panose="020B0604020202020204" pitchFamily="34" charset="0"/>
                          <a:cs typeface="Arial" panose="020B0604020202020204" pitchFamily="34" charset="0"/>
                        </a:rPr>
                        <a:t>Quantum (MW)</a:t>
                      </a:r>
                      <a:endParaRPr lang="en-US" sz="800" b="0" i="0" u="none" strike="noStrike">
                        <a:solidFill>
                          <a:schemeClr val="tx1"/>
                        </a:solidFill>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en-US" sz="800" b="1" i="0" u="none" strike="noStrike">
                          <a:solidFill>
                            <a:schemeClr val="tx1"/>
                          </a:solidFill>
                          <a:effectLst/>
                          <a:latin typeface="Arial" panose="020B0604020202020204" pitchFamily="34" charset="0"/>
                          <a:cs typeface="Arial" panose="020B0604020202020204" pitchFamily="34" charset="0"/>
                        </a:rPr>
                        <a:t>Start date</a:t>
                      </a:r>
                      <a:endParaRPr lang="en-US" sz="800" b="0" i="0" u="none" strike="noStrike">
                        <a:solidFill>
                          <a:schemeClr val="tx1"/>
                        </a:solidFill>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en-US" sz="800" b="1" i="0" u="none" strike="noStrike">
                          <a:solidFill>
                            <a:schemeClr val="tx1"/>
                          </a:solidFill>
                          <a:effectLst/>
                          <a:latin typeface="Arial" panose="020B0604020202020204" pitchFamily="34" charset="0"/>
                          <a:cs typeface="Arial" panose="020B0604020202020204" pitchFamily="34" charset="0"/>
                        </a:rPr>
                        <a:t>End date</a:t>
                      </a:r>
                      <a:endParaRPr lang="en-US" sz="800" b="0" i="0" u="none" strike="noStrike">
                        <a:solidFill>
                          <a:schemeClr val="tx1"/>
                        </a:solidFill>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947128463"/>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Upper </a:t>
                      </a:r>
                      <a:r>
                        <a:rPr lang="en-US" sz="800" b="0" i="0" u="none" strike="noStrike" err="1">
                          <a:solidFill>
                            <a:srgbClr val="000000"/>
                          </a:solidFill>
                          <a:effectLst/>
                          <a:latin typeface="Arial" panose="020B0604020202020204" pitchFamily="34" charset="0"/>
                          <a:cs typeface="Arial" panose="020B0604020202020204" pitchFamily="34" charset="0"/>
                        </a:rPr>
                        <a:t>Dordi</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24.25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 Sep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31 Aug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62109659"/>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Lower Modi</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19.4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 Oct 2024 </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Sep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6873269"/>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Kabeli B1</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24.25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 Oct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Sep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06823111"/>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Dordi Khola</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26.19</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19 Nov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31 May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06335664"/>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Solu Khola</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83.42</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19 Nov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31 May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71471387"/>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Upper Balephi ‘A’</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34.92</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19 Nov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31 May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0277826"/>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Devighat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14.55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19 May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60601999"/>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Trishuli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23.28</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19 May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44755880"/>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Marsyangdi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67</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01 Jun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31 May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6278646"/>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Chilime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21.44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19 May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72106889"/>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Middle Marsyangdi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68</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01 June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914335" rtl="0" eaLnBrk="1" fontAlgn="ctr"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31 May 2025</a:t>
                      </a:r>
                      <a:endParaRPr kumimoji="0" lang="en-US" sz="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6391442"/>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Kaligandaki ‘A’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140</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01 June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914335" rtl="0" eaLnBrk="1" fontAlgn="ctr"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31 May 2025</a:t>
                      </a:r>
                      <a:endParaRPr kumimoji="0" lang="en-US" sz="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72825195"/>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Likhu IV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51</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01 June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914335" rtl="0" eaLnBrk="1" fontAlgn="ctr"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31 May 2025</a:t>
                      </a:r>
                      <a:endParaRPr kumimoji="0" lang="en-US" sz="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65214487"/>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Solu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22.8</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01 June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27925531"/>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Kabeli B-1 Hydro Power Project (25 10MW)</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24.25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26 Dec 2022</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Sep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72390"/>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Lower Modi Hydro Power Project (20 MW)</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19.4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26 Dec 2022</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Sep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56817409"/>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Upper Kalangagad Hydro 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32.7</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5 Sep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31 May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54675323"/>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Upper Chameliya</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37.3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5 Sep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Jun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9103632"/>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Kabeli B-1 Hydro 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24.25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 Oct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Sep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58728772"/>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Lower Modi Hydro 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19.4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 Oct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Sep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18527835"/>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Upper Dordi A</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24.25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10 Nov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31 Aug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83764388"/>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Solu Khola</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83.42</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8 Dec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31 May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87778983"/>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Dordi Khola</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26.19</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8 Dec 2023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31 May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47580821"/>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Devighat Hydro 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14.55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01 May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81604830"/>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Trishuli Hydro 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23.28</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01 May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49989297"/>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Marsyangdi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67</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01 Jun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6185003"/>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Middle Marsyangdi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68</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01 Jun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08308520"/>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Chilime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21.44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01 May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94541807"/>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Kaligandaki ‘A’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140</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01 Jun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86876217"/>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Likhu IV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51</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01 Jun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20255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0009654"/>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Solu hydropower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22.8</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01 May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7167771"/>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Upper Balephi A</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34.92</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16 Feb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31 Oct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12019524"/>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Upper Kalangagad Hydro 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37.3</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01 Jun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58021003"/>
                  </a:ext>
                </a:extLst>
              </a:tr>
              <a:tr h="133686">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Nepal</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NVVN</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Power Exchange</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DAM and RTM</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800" b="0" i="0" u="none" strike="noStrike">
                          <a:solidFill>
                            <a:srgbClr val="000000"/>
                          </a:solidFill>
                          <a:effectLst/>
                          <a:latin typeface="Arial" panose="020B0604020202020204" pitchFamily="34" charset="0"/>
                          <a:cs typeface="Arial" panose="020B0604020202020204" pitchFamily="34" charset="0"/>
                        </a:rPr>
                        <a:t>Upper </a:t>
                      </a:r>
                      <a:r>
                        <a:rPr lang="en-US" sz="800" b="0" i="0" u="none" strike="noStrike" err="1">
                          <a:solidFill>
                            <a:srgbClr val="000000"/>
                          </a:solidFill>
                          <a:effectLst/>
                          <a:latin typeface="Arial" panose="020B0604020202020204" pitchFamily="34" charset="0"/>
                          <a:cs typeface="Arial" panose="020B0604020202020204" pitchFamily="34" charset="0"/>
                        </a:rPr>
                        <a:t>Chameliya</a:t>
                      </a:r>
                      <a:r>
                        <a:rPr lang="en-US" sz="800" b="0" i="0" u="none" strike="noStrike">
                          <a:solidFill>
                            <a:srgbClr val="000000"/>
                          </a:solidFill>
                          <a:effectLst/>
                          <a:latin typeface="Arial" panose="020B0604020202020204" pitchFamily="34" charset="0"/>
                          <a:cs typeface="Arial" panose="020B0604020202020204" pitchFamily="34" charset="0"/>
                        </a:rPr>
                        <a:t> Hydro Power Project</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38.8</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01 Jul 2024</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800" b="0" i="0" u="none" strike="noStrike">
                          <a:solidFill>
                            <a:srgbClr val="000000"/>
                          </a:solidFill>
                          <a:effectLst/>
                          <a:latin typeface="Arial" panose="020B0604020202020204" pitchFamily="34" charset="0"/>
                          <a:cs typeface="Arial" panose="020B0604020202020204" pitchFamily="34" charset="0"/>
                        </a:rPr>
                        <a:t>30 Apr 2025</a:t>
                      </a:r>
                      <a:endParaRPr lang="en-US" sz="800" b="0" i="0" u="none" strike="noStrike">
                        <a:effectLst/>
                        <a:latin typeface="Arial" panose="020B0604020202020204" pitchFamily="34" charset="0"/>
                        <a:cs typeface="Arial" panose="020B0604020202020204" pitchFamily="34" charset="0"/>
                      </a:endParaRPr>
                    </a:p>
                  </a:txBody>
                  <a:tcPr marL="18288" marR="18288" marT="18288" marB="1828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20695009"/>
                  </a:ext>
                </a:extLst>
              </a:tr>
            </a:tbl>
          </a:graphicData>
        </a:graphic>
      </p:graphicFrame>
      <p:cxnSp>
        <p:nvCxnSpPr>
          <p:cNvPr id="8" name="Straight Connector 7">
            <a:extLst>
              <a:ext uri="{FF2B5EF4-FFF2-40B4-BE49-F238E27FC236}">
                <a16:creationId xmlns:a16="http://schemas.microsoft.com/office/drawing/2014/main" id="{83763840-F691-B616-6DEB-44D87BD6D1E0}"/>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A56EE323-DAAE-13EB-CFB6-2D0ABD924F66}"/>
              </a:ext>
            </a:extLst>
          </p:cNvPr>
          <p:cNvSpPr txBox="1"/>
          <p:nvPr/>
        </p:nvSpPr>
        <p:spPr>
          <a:xfrm>
            <a:off x="447675" y="6652346"/>
            <a:ext cx="6096000" cy="14715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NVVN: NTPV Vidyut </a:t>
            </a:r>
            <a:r>
              <a:rPr kumimoji="0" lang="en-US" sz="800" b="0" i="0" u="none" strike="noStrike" kern="1200" cap="none" spc="0" normalizeH="0" baseline="0" noProof="0" err="1">
                <a:ln>
                  <a:noFill/>
                </a:ln>
                <a:solidFill>
                  <a:prstClr val="black"/>
                </a:solidFill>
                <a:effectLst/>
                <a:uLnTx/>
                <a:uFillTx/>
                <a:latin typeface="Arial" panose="020B0604020202020204" pitchFamily="34" charset="0"/>
                <a:ea typeface="+mn-ea"/>
                <a:cs typeface="Arial" panose="020B0604020202020204" pitchFamily="34" charset="0"/>
              </a:rPr>
              <a:t>Vyapar</a:t>
            </a:r>
            <a:r>
              <a:rPr kumimoji="0" lang="en-US" sz="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Nigam; DAM: Day Ahead Market; RTM: Real Time Market</a:t>
            </a:r>
            <a:endParaRPr kumimoji="0" lang="en-US" sz="800" b="0" i="0" u="none" strike="noStrike" kern="1200" cap="none" spc="0" normalizeH="0" baseline="0" noProof="0">
              <a:ln>
                <a:noFill/>
              </a:ln>
              <a:solidFill>
                <a:prstClr val="black"/>
              </a:solidFill>
              <a:effectLst/>
              <a:uLnTx/>
              <a:uFillTx/>
              <a:latin typeface="Calibri"/>
              <a:ea typeface="+mn-ea"/>
              <a:cs typeface="+mn-cs"/>
            </a:endParaRPr>
          </a:p>
        </p:txBody>
      </p:sp>
      <p:sp>
        <p:nvSpPr>
          <p:cNvPr id="10" name="Arrow: Right 9">
            <a:hlinkClick r:id="rId2" action="ppaction://hlinksldjump"/>
            <a:extLst>
              <a:ext uri="{FF2B5EF4-FFF2-40B4-BE49-F238E27FC236}">
                <a16:creationId xmlns:a16="http://schemas.microsoft.com/office/drawing/2014/main" id="{2714AA62-FE55-6507-558A-1E1914696566}"/>
              </a:ext>
            </a:extLst>
          </p:cNvPr>
          <p:cNvSpPr/>
          <p:nvPr/>
        </p:nvSpPr>
        <p:spPr bwMode="gray">
          <a:xfrm flipH="1">
            <a:off x="11603130" y="6613377"/>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3234639"/>
      </p:ext>
    </p:extLst>
  </p:cSld>
  <p:clrMapOvr>
    <a:masterClrMapping/>
  </p:clrMapOvr>
  <p:transition>
    <p:fade/>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D4CE6A5-FD0E-44CE-E63F-0F195F45604F}"/>
              </a:ext>
            </a:extLst>
          </p:cNvPr>
          <p:cNvSpPr>
            <a:spLocks noGrp="1"/>
          </p:cNvSpPr>
          <p:nvPr>
            <p:ph type="title"/>
          </p:nvPr>
        </p:nvSpPr>
        <p:spPr/>
        <p:txBody>
          <a:bodyPr/>
          <a:lstStyle/>
          <a:p>
            <a:r>
              <a:rPr lang="en-US"/>
              <a:t>Estimated impact of sale of electricity from the project in IEX on NEA revenue (1/3)</a:t>
            </a:r>
          </a:p>
        </p:txBody>
      </p:sp>
      <p:graphicFrame>
        <p:nvGraphicFramePr>
          <p:cNvPr id="7" name="Table 6">
            <a:extLst>
              <a:ext uri="{FF2B5EF4-FFF2-40B4-BE49-F238E27FC236}">
                <a16:creationId xmlns:a16="http://schemas.microsoft.com/office/drawing/2014/main" id="{386BEA79-D0DE-7B52-93B9-9A6FF49E637A}"/>
              </a:ext>
            </a:extLst>
          </p:cNvPr>
          <p:cNvGraphicFramePr>
            <a:graphicFrameLocks noGrp="1"/>
          </p:cNvGraphicFramePr>
          <p:nvPr>
            <p:extLst>
              <p:ext uri="{D42A27DB-BD31-4B8C-83A1-F6EECF244321}">
                <p14:modId xmlns:p14="http://schemas.microsoft.com/office/powerpoint/2010/main" val="1493407591"/>
              </p:ext>
            </p:extLst>
          </p:nvPr>
        </p:nvGraphicFramePr>
        <p:xfrm>
          <a:off x="501651" y="1610360"/>
          <a:ext cx="11188700" cy="1526900"/>
        </p:xfrm>
        <a:graphic>
          <a:graphicData uri="http://schemas.openxmlformats.org/drawingml/2006/table">
            <a:tbl>
              <a:tblPr>
                <a:tableStyleId>{5940675A-B579-460E-94D1-54222C63F5DA}</a:tableStyleId>
              </a:tblPr>
              <a:tblGrid>
                <a:gridCol w="514423">
                  <a:extLst>
                    <a:ext uri="{9D8B030D-6E8A-4147-A177-3AD203B41FA5}">
                      <a16:colId xmlns:a16="http://schemas.microsoft.com/office/drawing/2014/main" val="217460484"/>
                    </a:ext>
                  </a:extLst>
                </a:gridCol>
                <a:gridCol w="632312">
                  <a:extLst>
                    <a:ext uri="{9D8B030D-6E8A-4147-A177-3AD203B41FA5}">
                      <a16:colId xmlns:a16="http://schemas.microsoft.com/office/drawing/2014/main" val="1782491998"/>
                    </a:ext>
                  </a:extLst>
                </a:gridCol>
                <a:gridCol w="878806">
                  <a:extLst>
                    <a:ext uri="{9D8B030D-6E8A-4147-A177-3AD203B41FA5}">
                      <a16:colId xmlns:a16="http://schemas.microsoft.com/office/drawing/2014/main" val="3200312872"/>
                    </a:ext>
                  </a:extLst>
                </a:gridCol>
                <a:gridCol w="600160">
                  <a:extLst>
                    <a:ext uri="{9D8B030D-6E8A-4147-A177-3AD203B41FA5}">
                      <a16:colId xmlns:a16="http://schemas.microsoft.com/office/drawing/2014/main" val="2828510541"/>
                    </a:ext>
                  </a:extLst>
                </a:gridCol>
                <a:gridCol w="1253906">
                  <a:extLst>
                    <a:ext uri="{9D8B030D-6E8A-4147-A177-3AD203B41FA5}">
                      <a16:colId xmlns:a16="http://schemas.microsoft.com/office/drawing/2014/main" val="2591229842"/>
                    </a:ext>
                  </a:extLst>
                </a:gridCol>
                <a:gridCol w="685897">
                  <a:extLst>
                    <a:ext uri="{9D8B030D-6E8A-4147-A177-3AD203B41FA5}">
                      <a16:colId xmlns:a16="http://schemas.microsoft.com/office/drawing/2014/main" val="3024870482"/>
                    </a:ext>
                  </a:extLst>
                </a:gridCol>
                <a:gridCol w="632312">
                  <a:extLst>
                    <a:ext uri="{9D8B030D-6E8A-4147-A177-3AD203B41FA5}">
                      <a16:colId xmlns:a16="http://schemas.microsoft.com/office/drawing/2014/main" val="947030825"/>
                    </a:ext>
                  </a:extLst>
                </a:gridCol>
                <a:gridCol w="1811198">
                  <a:extLst>
                    <a:ext uri="{9D8B030D-6E8A-4147-A177-3AD203B41FA5}">
                      <a16:colId xmlns:a16="http://schemas.microsoft.com/office/drawing/2014/main" val="1043104052"/>
                    </a:ext>
                  </a:extLst>
                </a:gridCol>
                <a:gridCol w="696614">
                  <a:extLst>
                    <a:ext uri="{9D8B030D-6E8A-4147-A177-3AD203B41FA5}">
                      <a16:colId xmlns:a16="http://schemas.microsoft.com/office/drawing/2014/main" val="1421889729"/>
                    </a:ext>
                  </a:extLst>
                </a:gridCol>
                <a:gridCol w="1039563">
                  <a:extLst>
                    <a:ext uri="{9D8B030D-6E8A-4147-A177-3AD203B41FA5}">
                      <a16:colId xmlns:a16="http://schemas.microsoft.com/office/drawing/2014/main" val="833897171"/>
                    </a:ext>
                  </a:extLst>
                </a:gridCol>
                <a:gridCol w="803786">
                  <a:extLst>
                    <a:ext uri="{9D8B030D-6E8A-4147-A177-3AD203B41FA5}">
                      <a16:colId xmlns:a16="http://schemas.microsoft.com/office/drawing/2014/main" val="1784838580"/>
                    </a:ext>
                  </a:extLst>
                </a:gridCol>
                <a:gridCol w="953826">
                  <a:extLst>
                    <a:ext uri="{9D8B030D-6E8A-4147-A177-3AD203B41FA5}">
                      <a16:colId xmlns:a16="http://schemas.microsoft.com/office/drawing/2014/main" val="2814278626"/>
                    </a:ext>
                  </a:extLst>
                </a:gridCol>
                <a:gridCol w="685897">
                  <a:extLst>
                    <a:ext uri="{9D8B030D-6E8A-4147-A177-3AD203B41FA5}">
                      <a16:colId xmlns:a16="http://schemas.microsoft.com/office/drawing/2014/main" val="105468429"/>
                    </a:ext>
                  </a:extLst>
                </a:gridCol>
              </a:tblGrid>
              <a:tr h="155399">
                <a:tc gridSpan="13">
                  <a:txBody>
                    <a:bodyPr/>
                    <a:lstStyle/>
                    <a:p>
                      <a:pPr algn="ctr" fontAlgn="ctr"/>
                      <a:r>
                        <a:rPr lang="en-US" sz="800" b="1" u="none" strike="noStrike">
                          <a:effectLst/>
                          <a:latin typeface="Arial" panose="020B0604020202020204" pitchFamily="34" charset="0"/>
                          <a:cs typeface="Arial" panose="020B0604020202020204" pitchFamily="34" charset="0"/>
                        </a:rPr>
                        <a:t>YEAR 1</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55488535"/>
                  </a:ext>
                </a:extLst>
              </a:tr>
              <a:tr h="466196">
                <a:tc>
                  <a:txBody>
                    <a:bodyPr/>
                    <a:lstStyle/>
                    <a:p>
                      <a:pPr algn="ctr" fontAlgn="ctr"/>
                      <a:r>
                        <a:rPr lang="en-US" sz="800" u="none" strike="noStrike">
                          <a:effectLst/>
                          <a:latin typeface="Arial" panose="020B0604020202020204" pitchFamily="34" charset="0"/>
                          <a:cs typeface="Arial" panose="020B0604020202020204" pitchFamily="34" charset="0"/>
                        </a:rPr>
                        <a:t>Month type</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Month as per English calendar</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Nepali months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No. of days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Additional energy (Mn 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(NPR/kWh)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Avg price on exchange (based on FY22-25 IEX DAM prices)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Difference</a:t>
                      </a:r>
                      <a:br>
                        <a:rPr lang="en-US" sz="800" u="none" strike="noStrike">
                          <a:effectLst/>
                          <a:latin typeface="Arial" panose="020B0604020202020204" pitchFamily="34" charset="0"/>
                          <a:cs typeface="Arial" panose="020B0604020202020204" pitchFamily="34" charset="0"/>
                        </a:rPr>
                      </a:br>
                      <a:r>
                        <a:rPr lang="en-US" sz="800" u="none" strike="noStrike">
                          <a:effectLst/>
                          <a:latin typeface="Arial" panose="020B0604020202020204" pitchFamily="34" charset="0"/>
                          <a:cs typeface="Arial" panose="020B0604020202020204" pitchFamily="34" charset="0"/>
                        </a:rPr>
                        <a:t>(INR/kWh)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sv-SE" sz="800" u="none" strike="noStrike">
                          <a:effectLst/>
                          <a:latin typeface="Arial" panose="020B0604020202020204" pitchFamily="34" charset="0"/>
                          <a:cs typeface="Arial" panose="020B0604020202020204" pitchFamily="34" charset="0"/>
                        </a:rPr>
                        <a:t>Trader (NVVN/PTC) margin (INR/kWh)</a:t>
                      </a:r>
                      <a:endParaRPr lang="sv-SE"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Transmission line losses (%)</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for NEA (INR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(NPR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0521372"/>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16th Jeshta onw.</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16</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4.8</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3.02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5.81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2.79</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0.07</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29</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47</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8501753"/>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Jun/Jul</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Asadh</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4.8</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3.02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5.42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2.40</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0.07</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49</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77</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4739010"/>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Jul/Aug</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Shrawan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4.8</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3.02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5.26</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2.23</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0.07</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44</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70</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75355581"/>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Aug/Sep</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Bhadra</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4.8</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3.02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5.45</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2.43</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0.07</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48</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76</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6987408"/>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Sep/Oct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Ashwin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dirty="0">
                          <a:effectLst/>
                          <a:latin typeface="Arial" panose="020B0604020202020204" pitchFamily="34" charset="0"/>
                          <a:cs typeface="Arial" panose="020B0604020202020204" pitchFamily="34" charset="0"/>
                        </a:rPr>
                        <a:t>4.8</a:t>
                      </a:r>
                      <a:endParaRPr lang="en-US" sz="800" b="0" i="0" u="none" strike="noStrike" dirty="0">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3.02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5.07</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2.05</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0.07</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40</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dirty="0">
                          <a:effectLst/>
                          <a:latin typeface="Arial" panose="020B0604020202020204" pitchFamily="34" charset="0"/>
                          <a:cs typeface="Arial" panose="020B0604020202020204" pitchFamily="34" charset="0"/>
                        </a:rPr>
                        <a:t>64</a:t>
                      </a:r>
                      <a:endParaRPr lang="en-US" sz="800" b="0" i="0" u="none" strike="noStrike" dirty="0">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86007531"/>
                  </a:ext>
                </a:extLst>
              </a:tr>
            </a:tbl>
          </a:graphicData>
        </a:graphic>
      </p:graphicFrame>
      <p:graphicFrame>
        <p:nvGraphicFramePr>
          <p:cNvPr id="8" name="Table 7">
            <a:extLst>
              <a:ext uri="{FF2B5EF4-FFF2-40B4-BE49-F238E27FC236}">
                <a16:creationId xmlns:a16="http://schemas.microsoft.com/office/drawing/2014/main" id="{681D542D-63BE-CE2E-8A2F-1207900702DA}"/>
              </a:ext>
            </a:extLst>
          </p:cNvPr>
          <p:cNvGraphicFramePr>
            <a:graphicFrameLocks noGrp="1"/>
          </p:cNvGraphicFramePr>
          <p:nvPr>
            <p:extLst>
              <p:ext uri="{D42A27DB-BD31-4B8C-83A1-F6EECF244321}">
                <p14:modId xmlns:p14="http://schemas.microsoft.com/office/powerpoint/2010/main" val="2144253535"/>
              </p:ext>
            </p:extLst>
          </p:nvPr>
        </p:nvGraphicFramePr>
        <p:xfrm>
          <a:off x="501651" y="3213034"/>
          <a:ext cx="11188700" cy="1526900"/>
        </p:xfrm>
        <a:graphic>
          <a:graphicData uri="http://schemas.openxmlformats.org/drawingml/2006/table">
            <a:tbl>
              <a:tblPr>
                <a:tableStyleId>{5940675A-B579-460E-94D1-54222C63F5DA}</a:tableStyleId>
              </a:tblPr>
              <a:tblGrid>
                <a:gridCol w="514423">
                  <a:extLst>
                    <a:ext uri="{9D8B030D-6E8A-4147-A177-3AD203B41FA5}">
                      <a16:colId xmlns:a16="http://schemas.microsoft.com/office/drawing/2014/main" val="217460484"/>
                    </a:ext>
                  </a:extLst>
                </a:gridCol>
                <a:gridCol w="632312">
                  <a:extLst>
                    <a:ext uri="{9D8B030D-6E8A-4147-A177-3AD203B41FA5}">
                      <a16:colId xmlns:a16="http://schemas.microsoft.com/office/drawing/2014/main" val="1782491998"/>
                    </a:ext>
                  </a:extLst>
                </a:gridCol>
                <a:gridCol w="878806">
                  <a:extLst>
                    <a:ext uri="{9D8B030D-6E8A-4147-A177-3AD203B41FA5}">
                      <a16:colId xmlns:a16="http://schemas.microsoft.com/office/drawing/2014/main" val="3200312872"/>
                    </a:ext>
                  </a:extLst>
                </a:gridCol>
                <a:gridCol w="600160">
                  <a:extLst>
                    <a:ext uri="{9D8B030D-6E8A-4147-A177-3AD203B41FA5}">
                      <a16:colId xmlns:a16="http://schemas.microsoft.com/office/drawing/2014/main" val="2828510541"/>
                    </a:ext>
                  </a:extLst>
                </a:gridCol>
                <a:gridCol w="1253906">
                  <a:extLst>
                    <a:ext uri="{9D8B030D-6E8A-4147-A177-3AD203B41FA5}">
                      <a16:colId xmlns:a16="http://schemas.microsoft.com/office/drawing/2014/main" val="2591229842"/>
                    </a:ext>
                  </a:extLst>
                </a:gridCol>
                <a:gridCol w="685897">
                  <a:extLst>
                    <a:ext uri="{9D8B030D-6E8A-4147-A177-3AD203B41FA5}">
                      <a16:colId xmlns:a16="http://schemas.microsoft.com/office/drawing/2014/main" val="3024870482"/>
                    </a:ext>
                  </a:extLst>
                </a:gridCol>
                <a:gridCol w="632312">
                  <a:extLst>
                    <a:ext uri="{9D8B030D-6E8A-4147-A177-3AD203B41FA5}">
                      <a16:colId xmlns:a16="http://schemas.microsoft.com/office/drawing/2014/main" val="947030825"/>
                    </a:ext>
                  </a:extLst>
                </a:gridCol>
                <a:gridCol w="1811198">
                  <a:extLst>
                    <a:ext uri="{9D8B030D-6E8A-4147-A177-3AD203B41FA5}">
                      <a16:colId xmlns:a16="http://schemas.microsoft.com/office/drawing/2014/main" val="1043104052"/>
                    </a:ext>
                  </a:extLst>
                </a:gridCol>
                <a:gridCol w="696614">
                  <a:extLst>
                    <a:ext uri="{9D8B030D-6E8A-4147-A177-3AD203B41FA5}">
                      <a16:colId xmlns:a16="http://schemas.microsoft.com/office/drawing/2014/main" val="1421889729"/>
                    </a:ext>
                  </a:extLst>
                </a:gridCol>
                <a:gridCol w="1039563">
                  <a:extLst>
                    <a:ext uri="{9D8B030D-6E8A-4147-A177-3AD203B41FA5}">
                      <a16:colId xmlns:a16="http://schemas.microsoft.com/office/drawing/2014/main" val="833897171"/>
                    </a:ext>
                  </a:extLst>
                </a:gridCol>
                <a:gridCol w="803786">
                  <a:extLst>
                    <a:ext uri="{9D8B030D-6E8A-4147-A177-3AD203B41FA5}">
                      <a16:colId xmlns:a16="http://schemas.microsoft.com/office/drawing/2014/main" val="1784838580"/>
                    </a:ext>
                  </a:extLst>
                </a:gridCol>
                <a:gridCol w="953826">
                  <a:extLst>
                    <a:ext uri="{9D8B030D-6E8A-4147-A177-3AD203B41FA5}">
                      <a16:colId xmlns:a16="http://schemas.microsoft.com/office/drawing/2014/main" val="2814278626"/>
                    </a:ext>
                  </a:extLst>
                </a:gridCol>
                <a:gridCol w="685897">
                  <a:extLst>
                    <a:ext uri="{9D8B030D-6E8A-4147-A177-3AD203B41FA5}">
                      <a16:colId xmlns:a16="http://schemas.microsoft.com/office/drawing/2014/main" val="105468429"/>
                    </a:ext>
                  </a:extLst>
                </a:gridCol>
              </a:tblGrid>
              <a:tr h="155399">
                <a:tc gridSpan="13">
                  <a:txBody>
                    <a:bodyPr/>
                    <a:lstStyle/>
                    <a:p>
                      <a:pPr algn="ctr" fontAlgn="ctr"/>
                      <a:r>
                        <a:rPr lang="en-US" sz="800" b="1" u="none" strike="noStrike">
                          <a:effectLst/>
                          <a:latin typeface="Arial" panose="020B0604020202020204" pitchFamily="34" charset="0"/>
                          <a:cs typeface="Arial" panose="020B0604020202020204" pitchFamily="34" charset="0"/>
                        </a:rPr>
                        <a:t>YEAR 2</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55488535"/>
                  </a:ext>
                </a:extLst>
              </a:tr>
              <a:tr h="466196">
                <a:tc>
                  <a:txBody>
                    <a:bodyPr/>
                    <a:lstStyle/>
                    <a:p>
                      <a:pPr algn="ctr" fontAlgn="ctr"/>
                      <a:r>
                        <a:rPr lang="en-US" sz="800" u="none" strike="noStrike">
                          <a:effectLst/>
                          <a:latin typeface="Arial" panose="020B0604020202020204" pitchFamily="34" charset="0"/>
                          <a:cs typeface="Arial" panose="020B0604020202020204" pitchFamily="34" charset="0"/>
                        </a:rPr>
                        <a:t>Month type</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Month as per English calendar</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Nepali months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No. of days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Additional energy (Mn 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(NPR/kWh)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Avg price on exchange (based on FY22-25 IEX DAM prices)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Difference</a:t>
                      </a:r>
                      <a:br>
                        <a:rPr lang="en-US" sz="800" u="none" strike="noStrike">
                          <a:effectLst/>
                          <a:latin typeface="Arial" panose="020B0604020202020204" pitchFamily="34" charset="0"/>
                          <a:cs typeface="Arial" panose="020B0604020202020204" pitchFamily="34" charset="0"/>
                        </a:rPr>
                      </a:br>
                      <a:r>
                        <a:rPr lang="en-US" sz="800" u="none" strike="noStrike">
                          <a:effectLst/>
                          <a:latin typeface="Arial" panose="020B0604020202020204" pitchFamily="34" charset="0"/>
                          <a:cs typeface="Arial" panose="020B0604020202020204" pitchFamily="34" charset="0"/>
                        </a:rPr>
                        <a:t>(INR/kWh)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sv-SE" sz="800" u="none" strike="noStrike">
                          <a:effectLst/>
                          <a:latin typeface="Arial" panose="020B0604020202020204" pitchFamily="34" charset="0"/>
                          <a:cs typeface="Arial" panose="020B0604020202020204" pitchFamily="34" charset="0"/>
                        </a:rPr>
                        <a:t>Trader (NVVN/PTC) margin (INR/kWh)</a:t>
                      </a:r>
                      <a:endParaRPr lang="sv-SE"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Transmission line losses (%)</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for NEA (INR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(NPR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0521372"/>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16th Jeshta onw.</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16</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3.11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5.81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2.70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28</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8501753"/>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Jun/Jul</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Asadh</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3.11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2.31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74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4739010"/>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Jul/Aug</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Shrawan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3.11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2.14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67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75355581"/>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Aug/Sep</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Bhadra</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3.11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2.34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73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6987408"/>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Sep/Oct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Ashwin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3.11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1.96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38</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61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86007531"/>
                  </a:ext>
                </a:extLst>
              </a:tr>
            </a:tbl>
          </a:graphicData>
        </a:graphic>
      </p:graphicFrame>
      <p:graphicFrame>
        <p:nvGraphicFramePr>
          <p:cNvPr id="9" name="Table 8">
            <a:extLst>
              <a:ext uri="{FF2B5EF4-FFF2-40B4-BE49-F238E27FC236}">
                <a16:creationId xmlns:a16="http://schemas.microsoft.com/office/drawing/2014/main" id="{D24AA3F5-9AA5-11B8-FF0A-705CE8DE9AEA}"/>
              </a:ext>
            </a:extLst>
          </p:cNvPr>
          <p:cNvGraphicFramePr>
            <a:graphicFrameLocks noGrp="1"/>
          </p:cNvGraphicFramePr>
          <p:nvPr>
            <p:extLst>
              <p:ext uri="{D42A27DB-BD31-4B8C-83A1-F6EECF244321}">
                <p14:modId xmlns:p14="http://schemas.microsoft.com/office/powerpoint/2010/main" val="3678537147"/>
              </p:ext>
            </p:extLst>
          </p:nvPr>
        </p:nvGraphicFramePr>
        <p:xfrm>
          <a:off x="501651" y="4815708"/>
          <a:ext cx="11188700" cy="1526900"/>
        </p:xfrm>
        <a:graphic>
          <a:graphicData uri="http://schemas.openxmlformats.org/drawingml/2006/table">
            <a:tbl>
              <a:tblPr>
                <a:tableStyleId>{5940675A-B579-460E-94D1-54222C63F5DA}</a:tableStyleId>
              </a:tblPr>
              <a:tblGrid>
                <a:gridCol w="514423">
                  <a:extLst>
                    <a:ext uri="{9D8B030D-6E8A-4147-A177-3AD203B41FA5}">
                      <a16:colId xmlns:a16="http://schemas.microsoft.com/office/drawing/2014/main" val="217460484"/>
                    </a:ext>
                  </a:extLst>
                </a:gridCol>
                <a:gridCol w="632312">
                  <a:extLst>
                    <a:ext uri="{9D8B030D-6E8A-4147-A177-3AD203B41FA5}">
                      <a16:colId xmlns:a16="http://schemas.microsoft.com/office/drawing/2014/main" val="1782491998"/>
                    </a:ext>
                  </a:extLst>
                </a:gridCol>
                <a:gridCol w="878806">
                  <a:extLst>
                    <a:ext uri="{9D8B030D-6E8A-4147-A177-3AD203B41FA5}">
                      <a16:colId xmlns:a16="http://schemas.microsoft.com/office/drawing/2014/main" val="3200312872"/>
                    </a:ext>
                  </a:extLst>
                </a:gridCol>
                <a:gridCol w="600160">
                  <a:extLst>
                    <a:ext uri="{9D8B030D-6E8A-4147-A177-3AD203B41FA5}">
                      <a16:colId xmlns:a16="http://schemas.microsoft.com/office/drawing/2014/main" val="2828510541"/>
                    </a:ext>
                  </a:extLst>
                </a:gridCol>
                <a:gridCol w="1253906">
                  <a:extLst>
                    <a:ext uri="{9D8B030D-6E8A-4147-A177-3AD203B41FA5}">
                      <a16:colId xmlns:a16="http://schemas.microsoft.com/office/drawing/2014/main" val="2591229842"/>
                    </a:ext>
                  </a:extLst>
                </a:gridCol>
                <a:gridCol w="685897">
                  <a:extLst>
                    <a:ext uri="{9D8B030D-6E8A-4147-A177-3AD203B41FA5}">
                      <a16:colId xmlns:a16="http://schemas.microsoft.com/office/drawing/2014/main" val="3024870482"/>
                    </a:ext>
                  </a:extLst>
                </a:gridCol>
                <a:gridCol w="632312">
                  <a:extLst>
                    <a:ext uri="{9D8B030D-6E8A-4147-A177-3AD203B41FA5}">
                      <a16:colId xmlns:a16="http://schemas.microsoft.com/office/drawing/2014/main" val="947030825"/>
                    </a:ext>
                  </a:extLst>
                </a:gridCol>
                <a:gridCol w="1811198">
                  <a:extLst>
                    <a:ext uri="{9D8B030D-6E8A-4147-A177-3AD203B41FA5}">
                      <a16:colId xmlns:a16="http://schemas.microsoft.com/office/drawing/2014/main" val="1043104052"/>
                    </a:ext>
                  </a:extLst>
                </a:gridCol>
                <a:gridCol w="696614">
                  <a:extLst>
                    <a:ext uri="{9D8B030D-6E8A-4147-A177-3AD203B41FA5}">
                      <a16:colId xmlns:a16="http://schemas.microsoft.com/office/drawing/2014/main" val="1421889729"/>
                    </a:ext>
                  </a:extLst>
                </a:gridCol>
                <a:gridCol w="1039563">
                  <a:extLst>
                    <a:ext uri="{9D8B030D-6E8A-4147-A177-3AD203B41FA5}">
                      <a16:colId xmlns:a16="http://schemas.microsoft.com/office/drawing/2014/main" val="833897171"/>
                    </a:ext>
                  </a:extLst>
                </a:gridCol>
                <a:gridCol w="803786">
                  <a:extLst>
                    <a:ext uri="{9D8B030D-6E8A-4147-A177-3AD203B41FA5}">
                      <a16:colId xmlns:a16="http://schemas.microsoft.com/office/drawing/2014/main" val="1784838580"/>
                    </a:ext>
                  </a:extLst>
                </a:gridCol>
                <a:gridCol w="953826">
                  <a:extLst>
                    <a:ext uri="{9D8B030D-6E8A-4147-A177-3AD203B41FA5}">
                      <a16:colId xmlns:a16="http://schemas.microsoft.com/office/drawing/2014/main" val="2814278626"/>
                    </a:ext>
                  </a:extLst>
                </a:gridCol>
                <a:gridCol w="685897">
                  <a:extLst>
                    <a:ext uri="{9D8B030D-6E8A-4147-A177-3AD203B41FA5}">
                      <a16:colId xmlns:a16="http://schemas.microsoft.com/office/drawing/2014/main" val="105468429"/>
                    </a:ext>
                  </a:extLst>
                </a:gridCol>
              </a:tblGrid>
              <a:tr h="155399">
                <a:tc gridSpan="13">
                  <a:txBody>
                    <a:bodyPr/>
                    <a:lstStyle/>
                    <a:p>
                      <a:pPr algn="ctr" fontAlgn="ctr"/>
                      <a:r>
                        <a:rPr lang="en-US" sz="800" b="1" u="none" strike="noStrike">
                          <a:effectLst/>
                          <a:latin typeface="Arial" panose="020B0604020202020204" pitchFamily="34" charset="0"/>
                          <a:cs typeface="Arial" panose="020B0604020202020204" pitchFamily="34" charset="0"/>
                        </a:rPr>
                        <a:t>YEAR 3</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55488535"/>
                  </a:ext>
                </a:extLst>
              </a:tr>
              <a:tr h="466196">
                <a:tc>
                  <a:txBody>
                    <a:bodyPr/>
                    <a:lstStyle/>
                    <a:p>
                      <a:pPr algn="ctr" fontAlgn="ctr"/>
                      <a:r>
                        <a:rPr lang="en-US" sz="800" u="none" strike="noStrike">
                          <a:effectLst/>
                          <a:latin typeface="Arial" panose="020B0604020202020204" pitchFamily="34" charset="0"/>
                          <a:cs typeface="Arial" panose="020B0604020202020204" pitchFamily="34" charset="0"/>
                        </a:rPr>
                        <a:t>Month type</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Month as per English calendar</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Nepali months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No. of days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Additional energy (Mn 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(NPR/kWh)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Avg price on exchange (based on FY22-25 IEX DAM prices)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Difference</a:t>
                      </a:r>
                      <a:br>
                        <a:rPr lang="en-US" sz="800" u="none" strike="noStrike">
                          <a:effectLst/>
                          <a:latin typeface="Arial" panose="020B0604020202020204" pitchFamily="34" charset="0"/>
                          <a:cs typeface="Arial" panose="020B0604020202020204" pitchFamily="34" charset="0"/>
                        </a:rPr>
                      </a:br>
                      <a:r>
                        <a:rPr lang="en-US" sz="800" u="none" strike="noStrike">
                          <a:effectLst/>
                          <a:latin typeface="Arial" panose="020B0604020202020204" pitchFamily="34" charset="0"/>
                          <a:cs typeface="Arial" panose="020B0604020202020204" pitchFamily="34" charset="0"/>
                        </a:rPr>
                        <a:t>(INR/kWh)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sv-SE" sz="800" u="none" strike="noStrike">
                          <a:effectLst/>
                          <a:latin typeface="Arial" panose="020B0604020202020204" pitchFamily="34" charset="0"/>
                          <a:cs typeface="Arial" panose="020B0604020202020204" pitchFamily="34" charset="0"/>
                        </a:rPr>
                        <a:t>Trader (NVVN/PTC) margin (INR/kWh)</a:t>
                      </a:r>
                      <a:endParaRPr lang="sv-SE"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Transmission line losses (%)</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for NEA (INR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(NPR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0521372"/>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16th Jeshta onw.</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16</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3.21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5.81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2.61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8501753"/>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Jun/Jul</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Asadh</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3.21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2.21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71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4739010"/>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Jul/Aug</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Shrawan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3.21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2.05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64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75355581"/>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Aug/Sep</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Bhadra</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3.21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2.24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70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6987408"/>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Sep/Oct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Ashwin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3.21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1.86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58</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86007531"/>
                  </a:ext>
                </a:extLst>
              </a:tr>
            </a:tbl>
          </a:graphicData>
        </a:graphic>
      </p:graphicFrame>
      <p:cxnSp>
        <p:nvCxnSpPr>
          <p:cNvPr id="12" name="Straight Connector 11">
            <a:extLst>
              <a:ext uri="{FF2B5EF4-FFF2-40B4-BE49-F238E27FC236}">
                <a16:creationId xmlns:a16="http://schemas.microsoft.com/office/drawing/2014/main" id="{062C1116-A7EF-DE0E-CF7E-829DB99AF14C}"/>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Arrow: Right 12">
            <a:hlinkClick r:id="rId2" action="ppaction://hlinksldjump"/>
            <a:extLst>
              <a:ext uri="{FF2B5EF4-FFF2-40B4-BE49-F238E27FC236}">
                <a16:creationId xmlns:a16="http://schemas.microsoft.com/office/drawing/2014/main" id="{1E690367-A531-E324-D898-7F0F753235EB}"/>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18009221"/>
      </p:ext>
    </p:extLst>
  </p:cSld>
  <p:clrMapOvr>
    <a:masterClrMapping/>
  </p:clrMapOvr>
  <p:transition>
    <p:fade/>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D4CE6A5-FD0E-44CE-E63F-0F195F45604F}"/>
              </a:ext>
            </a:extLst>
          </p:cNvPr>
          <p:cNvSpPr>
            <a:spLocks noGrp="1"/>
          </p:cNvSpPr>
          <p:nvPr>
            <p:ph type="title"/>
          </p:nvPr>
        </p:nvSpPr>
        <p:spPr/>
        <p:txBody>
          <a:bodyPr/>
          <a:lstStyle/>
          <a:p>
            <a:r>
              <a:rPr lang="en-US"/>
              <a:t>Estimated impact of sale of electricity from the project in IEX on NEA revenue (2/3)</a:t>
            </a:r>
          </a:p>
        </p:txBody>
      </p:sp>
      <p:graphicFrame>
        <p:nvGraphicFramePr>
          <p:cNvPr id="7" name="Table 6">
            <a:extLst>
              <a:ext uri="{FF2B5EF4-FFF2-40B4-BE49-F238E27FC236}">
                <a16:creationId xmlns:a16="http://schemas.microsoft.com/office/drawing/2014/main" id="{386BEA79-D0DE-7B52-93B9-9A6FF49E637A}"/>
              </a:ext>
            </a:extLst>
          </p:cNvPr>
          <p:cNvGraphicFramePr>
            <a:graphicFrameLocks noGrp="1"/>
          </p:cNvGraphicFramePr>
          <p:nvPr>
            <p:extLst>
              <p:ext uri="{D42A27DB-BD31-4B8C-83A1-F6EECF244321}">
                <p14:modId xmlns:p14="http://schemas.microsoft.com/office/powerpoint/2010/main" val="1102747098"/>
              </p:ext>
            </p:extLst>
          </p:nvPr>
        </p:nvGraphicFramePr>
        <p:xfrm>
          <a:off x="501651" y="1610360"/>
          <a:ext cx="11188700" cy="1526900"/>
        </p:xfrm>
        <a:graphic>
          <a:graphicData uri="http://schemas.openxmlformats.org/drawingml/2006/table">
            <a:tbl>
              <a:tblPr>
                <a:tableStyleId>{5940675A-B579-460E-94D1-54222C63F5DA}</a:tableStyleId>
              </a:tblPr>
              <a:tblGrid>
                <a:gridCol w="514423">
                  <a:extLst>
                    <a:ext uri="{9D8B030D-6E8A-4147-A177-3AD203B41FA5}">
                      <a16:colId xmlns:a16="http://schemas.microsoft.com/office/drawing/2014/main" val="217460484"/>
                    </a:ext>
                  </a:extLst>
                </a:gridCol>
                <a:gridCol w="632312">
                  <a:extLst>
                    <a:ext uri="{9D8B030D-6E8A-4147-A177-3AD203B41FA5}">
                      <a16:colId xmlns:a16="http://schemas.microsoft.com/office/drawing/2014/main" val="1782491998"/>
                    </a:ext>
                  </a:extLst>
                </a:gridCol>
                <a:gridCol w="878806">
                  <a:extLst>
                    <a:ext uri="{9D8B030D-6E8A-4147-A177-3AD203B41FA5}">
                      <a16:colId xmlns:a16="http://schemas.microsoft.com/office/drawing/2014/main" val="3200312872"/>
                    </a:ext>
                  </a:extLst>
                </a:gridCol>
                <a:gridCol w="600160">
                  <a:extLst>
                    <a:ext uri="{9D8B030D-6E8A-4147-A177-3AD203B41FA5}">
                      <a16:colId xmlns:a16="http://schemas.microsoft.com/office/drawing/2014/main" val="2828510541"/>
                    </a:ext>
                  </a:extLst>
                </a:gridCol>
                <a:gridCol w="1253906">
                  <a:extLst>
                    <a:ext uri="{9D8B030D-6E8A-4147-A177-3AD203B41FA5}">
                      <a16:colId xmlns:a16="http://schemas.microsoft.com/office/drawing/2014/main" val="2591229842"/>
                    </a:ext>
                  </a:extLst>
                </a:gridCol>
                <a:gridCol w="685897">
                  <a:extLst>
                    <a:ext uri="{9D8B030D-6E8A-4147-A177-3AD203B41FA5}">
                      <a16:colId xmlns:a16="http://schemas.microsoft.com/office/drawing/2014/main" val="3024870482"/>
                    </a:ext>
                  </a:extLst>
                </a:gridCol>
                <a:gridCol w="632312">
                  <a:extLst>
                    <a:ext uri="{9D8B030D-6E8A-4147-A177-3AD203B41FA5}">
                      <a16:colId xmlns:a16="http://schemas.microsoft.com/office/drawing/2014/main" val="947030825"/>
                    </a:ext>
                  </a:extLst>
                </a:gridCol>
                <a:gridCol w="1811198">
                  <a:extLst>
                    <a:ext uri="{9D8B030D-6E8A-4147-A177-3AD203B41FA5}">
                      <a16:colId xmlns:a16="http://schemas.microsoft.com/office/drawing/2014/main" val="1043104052"/>
                    </a:ext>
                  </a:extLst>
                </a:gridCol>
                <a:gridCol w="696614">
                  <a:extLst>
                    <a:ext uri="{9D8B030D-6E8A-4147-A177-3AD203B41FA5}">
                      <a16:colId xmlns:a16="http://schemas.microsoft.com/office/drawing/2014/main" val="1421889729"/>
                    </a:ext>
                  </a:extLst>
                </a:gridCol>
                <a:gridCol w="1039563">
                  <a:extLst>
                    <a:ext uri="{9D8B030D-6E8A-4147-A177-3AD203B41FA5}">
                      <a16:colId xmlns:a16="http://schemas.microsoft.com/office/drawing/2014/main" val="833897171"/>
                    </a:ext>
                  </a:extLst>
                </a:gridCol>
                <a:gridCol w="803786">
                  <a:extLst>
                    <a:ext uri="{9D8B030D-6E8A-4147-A177-3AD203B41FA5}">
                      <a16:colId xmlns:a16="http://schemas.microsoft.com/office/drawing/2014/main" val="1784838580"/>
                    </a:ext>
                  </a:extLst>
                </a:gridCol>
                <a:gridCol w="953826">
                  <a:extLst>
                    <a:ext uri="{9D8B030D-6E8A-4147-A177-3AD203B41FA5}">
                      <a16:colId xmlns:a16="http://schemas.microsoft.com/office/drawing/2014/main" val="2814278626"/>
                    </a:ext>
                  </a:extLst>
                </a:gridCol>
                <a:gridCol w="685897">
                  <a:extLst>
                    <a:ext uri="{9D8B030D-6E8A-4147-A177-3AD203B41FA5}">
                      <a16:colId xmlns:a16="http://schemas.microsoft.com/office/drawing/2014/main" val="105468429"/>
                    </a:ext>
                  </a:extLst>
                </a:gridCol>
              </a:tblGrid>
              <a:tr h="155399">
                <a:tc gridSpan="13">
                  <a:txBody>
                    <a:bodyPr/>
                    <a:lstStyle/>
                    <a:p>
                      <a:pPr algn="ctr" fontAlgn="ctr"/>
                      <a:r>
                        <a:rPr lang="en-US" sz="800" b="1" u="none" strike="noStrike">
                          <a:effectLst/>
                          <a:latin typeface="Arial" panose="020B0604020202020204" pitchFamily="34" charset="0"/>
                          <a:cs typeface="Arial" panose="020B0604020202020204" pitchFamily="34" charset="0"/>
                        </a:rPr>
                        <a:t>YEAR 4</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55488535"/>
                  </a:ext>
                </a:extLst>
              </a:tr>
              <a:tr h="466196">
                <a:tc>
                  <a:txBody>
                    <a:bodyPr/>
                    <a:lstStyle/>
                    <a:p>
                      <a:pPr algn="ctr" fontAlgn="ctr"/>
                      <a:r>
                        <a:rPr lang="en-US" sz="800" u="none" strike="noStrike">
                          <a:effectLst/>
                          <a:latin typeface="Arial" panose="020B0604020202020204" pitchFamily="34" charset="0"/>
                          <a:cs typeface="Arial" panose="020B0604020202020204" pitchFamily="34" charset="0"/>
                        </a:rPr>
                        <a:t>Month type</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Month as per English calendar</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Nepali months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No. of days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Additional energy (Mn 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(NPR/kWh)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Avg price on exchange (based on FY22-25 IEX DAM prices)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Difference</a:t>
                      </a:r>
                      <a:br>
                        <a:rPr lang="en-US" sz="800" u="none" strike="noStrike">
                          <a:effectLst/>
                          <a:latin typeface="Arial" panose="020B0604020202020204" pitchFamily="34" charset="0"/>
                          <a:cs typeface="Arial" panose="020B0604020202020204" pitchFamily="34" charset="0"/>
                        </a:rPr>
                      </a:br>
                      <a:r>
                        <a:rPr lang="en-US" sz="800" u="none" strike="noStrike">
                          <a:effectLst/>
                          <a:latin typeface="Arial" panose="020B0604020202020204" pitchFamily="34" charset="0"/>
                          <a:cs typeface="Arial" panose="020B0604020202020204" pitchFamily="34" charset="0"/>
                        </a:rPr>
                        <a:t>(INR/kWh)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sv-SE" sz="800" u="none" strike="noStrike">
                          <a:effectLst/>
                          <a:latin typeface="Arial" panose="020B0604020202020204" pitchFamily="34" charset="0"/>
                          <a:cs typeface="Arial" panose="020B0604020202020204" pitchFamily="34" charset="0"/>
                        </a:rPr>
                        <a:t>Trader (NVVN/PTC) margin (INR/kWh)</a:t>
                      </a:r>
                      <a:endParaRPr lang="sv-SE"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Transmission line losses (%)</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for NEA (INR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(NPR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0521372"/>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16th Jeshta onw.</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16</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3.30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5.81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2.51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8501753"/>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Jun/Jul</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Asadh</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3.30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2.12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68</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4739010"/>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Jul/Aug</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Shrawan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3.30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1.95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38</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61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75355581"/>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Aug/Sep</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Bhadra</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3.30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2.15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67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6987408"/>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Sep/Oct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Ashwin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3.30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1.77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86007531"/>
                  </a:ext>
                </a:extLst>
              </a:tr>
            </a:tbl>
          </a:graphicData>
        </a:graphic>
      </p:graphicFrame>
      <p:graphicFrame>
        <p:nvGraphicFramePr>
          <p:cNvPr id="8" name="Table 7">
            <a:extLst>
              <a:ext uri="{FF2B5EF4-FFF2-40B4-BE49-F238E27FC236}">
                <a16:creationId xmlns:a16="http://schemas.microsoft.com/office/drawing/2014/main" id="{681D542D-63BE-CE2E-8A2F-1207900702DA}"/>
              </a:ext>
            </a:extLst>
          </p:cNvPr>
          <p:cNvGraphicFramePr>
            <a:graphicFrameLocks noGrp="1"/>
          </p:cNvGraphicFramePr>
          <p:nvPr>
            <p:extLst>
              <p:ext uri="{D42A27DB-BD31-4B8C-83A1-F6EECF244321}">
                <p14:modId xmlns:p14="http://schemas.microsoft.com/office/powerpoint/2010/main" val="295272377"/>
              </p:ext>
            </p:extLst>
          </p:nvPr>
        </p:nvGraphicFramePr>
        <p:xfrm>
          <a:off x="501651" y="3213034"/>
          <a:ext cx="11188700" cy="1526900"/>
        </p:xfrm>
        <a:graphic>
          <a:graphicData uri="http://schemas.openxmlformats.org/drawingml/2006/table">
            <a:tbl>
              <a:tblPr>
                <a:tableStyleId>{5940675A-B579-460E-94D1-54222C63F5DA}</a:tableStyleId>
              </a:tblPr>
              <a:tblGrid>
                <a:gridCol w="514423">
                  <a:extLst>
                    <a:ext uri="{9D8B030D-6E8A-4147-A177-3AD203B41FA5}">
                      <a16:colId xmlns:a16="http://schemas.microsoft.com/office/drawing/2014/main" val="217460484"/>
                    </a:ext>
                  </a:extLst>
                </a:gridCol>
                <a:gridCol w="632312">
                  <a:extLst>
                    <a:ext uri="{9D8B030D-6E8A-4147-A177-3AD203B41FA5}">
                      <a16:colId xmlns:a16="http://schemas.microsoft.com/office/drawing/2014/main" val="1782491998"/>
                    </a:ext>
                  </a:extLst>
                </a:gridCol>
                <a:gridCol w="878806">
                  <a:extLst>
                    <a:ext uri="{9D8B030D-6E8A-4147-A177-3AD203B41FA5}">
                      <a16:colId xmlns:a16="http://schemas.microsoft.com/office/drawing/2014/main" val="3200312872"/>
                    </a:ext>
                  </a:extLst>
                </a:gridCol>
                <a:gridCol w="600160">
                  <a:extLst>
                    <a:ext uri="{9D8B030D-6E8A-4147-A177-3AD203B41FA5}">
                      <a16:colId xmlns:a16="http://schemas.microsoft.com/office/drawing/2014/main" val="2828510541"/>
                    </a:ext>
                  </a:extLst>
                </a:gridCol>
                <a:gridCol w="1253906">
                  <a:extLst>
                    <a:ext uri="{9D8B030D-6E8A-4147-A177-3AD203B41FA5}">
                      <a16:colId xmlns:a16="http://schemas.microsoft.com/office/drawing/2014/main" val="2591229842"/>
                    </a:ext>
                  </a:extLst>
                </a:gridCol>
                <a:gridCol w="685897">
                  <a:extLst>
                    <a:ext uri="{9D8B030D-6E8A-4147-A177-3AD203B41FA5}">
                      <a16:colId xmlns:a16="http://schemas.microsoft.com/office/drawing/2014/main" val="3024870482"/>
                    </a:ext>
                  </a:extLst>
                </a:gridCol>
                <a:gridCol w="632312">
                  <a:extLst>
                    <a:ext uri="{9D8B030D-6E8A-4147-A177-3AD203B41FA5}">
                      <a16:colId xmlns:a16="http://schemas.microsoft.com/office/drawing/2014/main" val="947030825"/>
                    </a:ext>
                  </a:extLst>
                </a:gridCol>
                <a:gridCol w="1811198">
                  <a:extLst>
                    <a:ext uri="{9D8B030D-6E8A-4147-A177-3AD203B41FA5}">
                      <a16:colId xmlns:a16="http://schemas.microsoft.com/office/drawing/2014/main" val="1043104052"/>
                    </a:ext>
                  </a:extLst>
                </a:gridCol>
                <a:gridCol w="696614">
                  <a:extLst>
                    <a:ext uri="{9D8B030D-6E8A-4147-A177-3AD203B41FA5}">
                      <a16:colId xmlns:a16="http://schemas.microsoft.com/office/drawing/2014/main" val="1421889729"/>
                    </a:ext>
                  </a:extLst>
                </a:gridCol>
                <a:gridCol w="1039563">
                  <a:extLst>
                    <a:ext uri="{9D8B030D-6E8A-4147-A177-3AD203B41FA5}">
                      <a16:colId xmlns:a16="http://schemas.microsoft.com/office/drawing/2014/main" val="833897171"/>
                    </a:ext>
                  </a:extLst>
                </a:gridCol>
                <a:gridCol w="803786">
                  <a:extLst>
                    <a:ext uri="{9D8B030D-6E8A-4147-A177-3AD203B41FA5}">
                      <a16:colId xmlns:a16="http://schemas.microsoft.com/office/drawing/2014/main" val="1784838580"/>
                    </a:ext>
                  </a:extLst>
                </a:gridCol>
                <a:gridCol w="953826">
                  <a:extLst>
                    <a:ext uri="{9D8B030D-6E8A-4147-A177-3AD203B41FA5}">
                      <a16:colId xmlns:a16="http://schemas.microsoft.com/office/drawing/2014/main" val="2814278626"/>
                    </a:ext>
                  </a:extLst>
                </a:gridCol>
                <a:gridCol w="685897">
                  <a:extLst>
                    <a:ext uri="{9D8B030D-6E8A-4147-A177-3AD203B41FA5}">
                      <a16:colId xmlns:a16="http://schemas.microsoft.com/office/drawing/2014/main" val="105468429"/>
                    </a:ext>
                  </a:extLst>
                </a:gridCol>
              </a:tblGrid>
              <a:tr h="155399">
                <a:tc gridSpan="13">
                  <a:txBody>
                    <a:bodyPr/>
                    <a:lstStyle/>
                    <a:p>
                      <a:pPr algn="ctr" fontAlgn="ctr"/>
                      <a:r>
                        <a:rPr lang="en-US" sz="800" b="1" u="none" strike="noStrike">
                          <a:effectLst/>
                          <a:latin typeface="Arial" panose="020B0604020202020204" pitchFamily="34" charset="0"/>
                          <a:cs typeface="Arial" panose="020B0604020202020204" pitchFamily="34" charset="0"/>
                        </a:rPr>
                        <a:t>YEAR 5</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55488535"/>
                  </a:ext>
                </a:extLst>
              </a:tr>
              <a:tr h="466196">
                <a:tc>
                  <a:txBody>
                    <a:bodyPr/>
                    <a:lstStyle/>
                    <a:p>
                      <a:pPr algn="ctr" fontAlgn="ctr"/>
                      <a:r>
                        <a:rPr lang="en-US" sz="800" u="none" strike="noStrike">
                          <a:effectLst/>
                          <a:latin typeface="Arial" panose="020B0604020202020204" pitchFamily="34" charset="0"/>
                          <a:cs typeface="Arial" panose="020B0604020202020204" pitchFamily="34" charset="0"/>
                        </a:rPr>
                        <a:t>Month type</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Month as per English calendar</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Nepali months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No. of days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Additional energy (Mn 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(NPR/kWh)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Avg price on exchange (based on FY22-25 IEX DAM prices)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Difference</a:t>
                      </a:r>
                      <a:br>
                        <a:rPr lang="en-US" sz="800" u="none" strike="noStrike">
                          <a:effectLst/>
                          <a:latin typeface="Arial" panose="020B0604020202020204" pitchFamily="34" charset="0"/>
                          <a:cs typeface="Arial" panose="020B0604020202020204" pitchFamily="34" charset="0"/>
                        </a:rPr>
                      </a:br>
                      <a:r>
                        <a:rPr lang="en-US" sz="800" u="none" strike="noStrike">
                          <a:effectLst/>
                          <a:latin typeface="Arial" panose="020B0604020202020204" pitchFamily="34" charset="0"/>
                          <a:cs typeface="Arial" panose="020B0604020202020204" pitchFamily="34" charset="0"/>
                        </a:rPr>
                        <a:t>(INR/kWh)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sv-SE" sz="800" u="none" strike="noStrike">
                          <a:effectLst/>
                          <a:latin typeface="Arial" panose="020B0604020202020204" pitchFamily="34" charset="0"/>
                          <a:cs typeface="Arial" panose="020B0604020202020204" pitchFamily="34" charset="0"/>
                        </a:rPr>
                        <a:t>Trader (NVVN/PTC) margin (INR/kWh)</a:t>
                      </a:r>
                      <a:endParaRPr lang="sv-SE"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Transmission line losses (%)</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for NEA (INR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(NPR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0521372"/>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16th Jeshta onw.</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16</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3.40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5.81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2.41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8501753"/>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Jun/Jul</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Asadh</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3.40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2.02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65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4739010"/>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Jul/Aug</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Shrawan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3.40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1.85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75355581"/>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Aug/Sep</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Bhadra</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3.40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2.05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64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6987408"/>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Sep/Oct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Ashwin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3.40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1.67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86007531"/>
                  </a:ext>
                </a:extLst>
              </a:tr>
            </a:tbl>
          </a:graphicData>
        </a:graphic>
      </p:graphicFrame>
      <p:graphicFrame>
        <p:nvGraphicFramePr>
          <p:cNvPr id="9" name="Table 8">
            <a:extLst>
              <a:ext uri="{FF2B5EF4-FFF2-40B4-BE49-F238E27FC236}">
                <a16:creationId xmlns:a16="http://schemas.microsoft.com/office/drawing/2014/main" id="{D24AA3F5-9AA5-11B8-FF0A-705CE8DE9AEA}"/>
              </a:ext>
            </a:extLst>
          </p:cNvPr>
          <p:cNvGraphicFramePr>
            <a:graphicFrameLocks noGrp="1"/>
          </p:cNvGraphicFramePr>
          <p:nvPr>
            <p:extLst>
              <p:ext uri="{D42A27DB-BD31-4B8C-83A1-F6EECF244321}">
                <p14:modId xmlns:p14="http://schemas.microsoft.com/office/powerpoint/2010/main" val="170134462"/>
              </p:ext>
            </p:extLst>
          </p:nvPr>
        </p:nvGraphicFramePr>
        <p:xfrm>
          <a:off x="501651" y="4815708"/>
          <a:ext cx="11188700" cy="1526900"/>
        </p:xfrm>
        <a:graphic>
          <a:graphicData uri="http://schemas.openxmlformats.org/drawingml/2006/table">
            <a:tbl>
              <a:tblPr>
                <a:tableStyleId>{5940675A-B579-460E-94D1-54222C63F5DA}</a:tableStyleId>
              </a:tblPr>
              <a:tblGrid>
                <a:gridCol w="514423">
                  <a:extLst>
                    <a:ext uri="{9D8B030D-6E8A-4147-A177-3AD203B41FA5}">
                      <a16:colId xmlns:a16="http://schemas.microsoft.com/office/drawing/2014/main" val="217460484"/>
                    </a:ext>
                  </a:extLst>
                </a:gridCol>
                <a:gridCol w="632312">
                  <a:extLst>
                    <a:ext uri="{9D8B030D-6E8A-4147-A177-3AD203B41FA5}">
                      <a16:colId xmlns:a16="http://schemas.microsoft.com/office/drawing/2014/main" val="1782491998"/>
                    </a:ext>
                  </a:extLst>
                </a:gridCol>
                <a:gridCol w="878806">
                  <a:extLst>
                    <a:ext uri="{9D8B030D-6E8A-4147-A177-3AD203B41FA5}">
                      <a16:colId xmlns:a16="http://schemas.microsoft.com/office/drawing/2014/main" val="3200312872"/>
                    </a:ext>
                  </a:extLst>
                </a:gridCol>
                <a:gridCol w="600160">
                  <a:extLst>
                    <a:ext uri="{9D8B030D-6E8A-4147-A177-3AD203B41FA5}">
                      <a16:colId xmlns:a16="http://schemas.microsoft.com/office/drawing/2014/main" val="2828510541"/>
                    </a:ext>
                  </a:extLst>
                </a:gridCol>
                <a:gridCol w="1253906">
                  <a:extLst>
                    <a:ext uri="{9D8B030D-6E8A-4147-A177-3AD203B41FA5}">
                      <a16:colId xmlns:a16="http://schemas.microsoft.com/office/drawing/2014/main" val="2591229842"/>
                    </a:ext>
                  </a:extLst>
                </a:gridCol>
                <a:gridCol w="685897">
                  <a:extLst>
                    <a:ext uri="{9D8B030D-6E8A-4147-A177-3AD203B41FA5}">
                      <a16:colId xmlns:a16="http://schemas.microsoft.com/office/drawing/2014/main" val="3024870482"/>
                    </a:ext>
                  </a:extLst>
                </a:gridCol>
                <a:gridCol w="632312">
                  <a:extLst>
                    <a:ext uri="{9D8B030D-6E8A-4147-A177-3AD203B41FA5}">
                      <a16:colId xmlns:a16="http://schemas.microsoft.com/office/drawing/2014/main" val="947030825"/>
                    </a:ext>
                  </a:extLst>
                </a:gridCol>
                <a:gridCol w="1811198">
                  <a:extLst>
                    <a:ext uri="{9D8B030D-6E8A-4147-A177-3AD203B41FA5}">
                      <a16:colId xmlns:a16="http://schemas.microsoft.com/office/drawing/2014/main" val="1043104052"/>
                    </a:ext>
                  </a:extLst>
                </a:gridCol>
                <a:gridCol w="696614">
                  <a:extLst>
                    <a:ext uri="{9D8B030D-6E8A-4147-A177-3AD203B41FA5}">
                      <a16:colId xmlns:a16="http://schemas.microsoft.com/office/drawing/2014/main" val="1421889729"/>
                    </a:ext>
                  </a:extLst>
                </a:gridCol>
                <a:gridCol w="1039563">
                  <a:extLst>
                    <a:ext uri="{9D8B030D-6E8A-4147-A177-3AD203B41FA5}">
                      <a16:colId xmlns:a16="http://schemas.microsoft.com/office/drawing/2014/main" val="833897171"/>
                    </a:ext>
                  </a:extLst>
                </a:gridCol>
                <a:gridCol w="803786">
                  <a:extLst>
                    <a:ext uri="{9D8B030D-6E8A-4147-A177-3AD203B41FA5}">
                      <a16:colId xmlns:a16="http://schemas.microsoft.com/office/drawing/2014/main" val="1784838580"/>
                    </a:ext>
                  </a:extLst>
                </a:gridCol>
                <a:gridCol w="953826">
                  <a:extLst>
                    <a:ext uri="{9D8B030D-6E8A-4147-A177-3AD203B41FA5}">
                      <a16:colId xmlns:a16="http://schemas.microsoft.com/office/drawing/2014/main" val="2814278626"/>
                    </a:ext>
                  </a:extLst>
                </a:gridCol>
                <a:gridCol w="685897">
                  <a:extLst>
                    <a:ext uri="{9D8B030D-6E8A-4147-A177-3AD203B41FA5}">
                      <a16:colId xmlns:a16="http://schemas.microsoft.com/office/drawing/2014/main" val="105468429"/>
                    </a:ext>
                  </a:extLst>
                </a:gridCol>
              </a:tblGrid>
              <a:tr h="155399">
                <a:tc gridSpan="13">
                  <a:txBody>
                    <a:bodyPr/>
                    <a:lstStyle/>
                    <a:p>
                      <a:pPr algn="ctr" fontAlgn="ctr"/>
                      <a:r>
                        <a:rPr lang="en-US" sz="800" b="1" u="none" strike="noStrike">
                          <a:effectLst/>
                          <a:latin typeface="Arial" panose="020B0604020202020204" pitchFamily="34" charset="0"/>
                          <a:cs typeface="Arial" panose="020B0604020202020204" pitchFamily="34" charset="0"/>
                        </a:rPr>
                        <a:t>YEAR 6</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55488535"/>
                  </a:ext>
                </a:extLst>
              </a:tr>
              <a:tr h="466196">
                <a:tc>
                  <a:txBody>
                    <a:bodyPr/>
                    <a:lstStyle/>
                    <a:p>
                      <a:pPr algn="ctr" fontAlgn="ctr"/>
                      <a:r>
                        <a:rPr lang="en-US" sz="800" u="none" strike="noStrike">
                          <a:effectLst/>
                          <a:latin typeface="Arial" panose="020B0604020202020204" pitchFamily="34" charset="0"/>
                          <a:cs typeface="Arial" panose="020B0604020202020204" pitchFamily="34" charset="0"/>
                        </a:rPr>
                        <a:t>Month type</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Month as per English calendar</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Nepali months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No. of days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Additional energy (Mn 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(NPR/kWh)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Avg price on exchange (based on FY22-25 IEX DAM prices)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Difference</a:t>
                      </a:r>
                      <a:br>
                        <a:rPr lang="en-US" sz="800" u="none" strike="noStrike">
                          <a:effectLst/>
                          <a:latin typeface="Arial" panose="020B0604020202020204" pitchFamily="34" charset="0"/>
                          <a:cs typeface="Arial" panose="020B0604020202020204" pitchFamily="34" charset="0"/>
                        </a:rPr>
                      </a:br>
                      <a:r>
                        <a:rPr lang="en-US" sz="800" u="none" strike="noStrike">
                          <a:effectLst/>
                          <a:latin typeface="Arial" panose="020B0604020202020204" pitchFamily="34" charset="0"/>
                          <a:cs typeface="Arial" panose="020B0604020202020204" pitchFamily="34" charset="0"/>
                        </a:rPr>
                        <a:t>(INR/kWh)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sv-SE" sz="800" u="none" strike="noStrike">
                          <a:effectLst/>
                          <a:latin typeface="Arial" panose="020B0604020202020204" pitchFamily="34" charset="0"/>
                          <a:cs typeface="Arial" panose="020B0604020202020204" pitchFamily="34" charset="0"/>
                        </a:rPr>
                        <a:t>Trader (NVVN/PTC) margin (INR/kWh)</a:t>
                      </a:r>
                      <a:endParaRPr lang="sv-SE"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Transmission line losses (%)</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for NEA (INR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(NPR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0521372"/>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16th Jeshta onw.</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16</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3.51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5.81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2.31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8501753"/>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Jun/Jul</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Asadh</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3.51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1.91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67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4739010"/>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Jul/Aug</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Shrawan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3.51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1.75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75355581"/>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Aug/Sep</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Bhadra</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3.51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1.94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65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6987408"/>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Sep/Oct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Ashwin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3.51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1.57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86007531"/>
                  </a:ext>
                </a:extLst>
              </a:tr>
            </a:tbl>
          </a:graphicData>
        </a:graphic>
      </p:graphicFrame>
      <p:cxnSp>
        <p:nvCxnSpPr>
          <p:cNvPr id="3" name="Straight Connector 2">
            <a:extLst>
              <a:ext uri="{FF2B5EF4-FFF2-40B4-BE49-F238E27FC236}">
                <a16:creationId xmlns:a16="http://schemas.microsoft.com/office/drawing/2014/main" id="{28B5B8F2-C235-3F89-DF79-7FEB4B1A2AEB}"/>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4" name="Arrow: Right 3">
            <a:hlinkClick r:id="rId2" action="ppaction://hlinksldjump"/>
            <a:extLst>
              <a:ext uri="{FF2B5EF4-FFF2-40B4-BE49-F238E27FC236}">
                <a16:creationId xmlns:a16="http://schemas.microsoft.com/office/drawing/2014/main" id="{896CCCA7-964C-68C4-2F91-8B576FC6FAE7}"/>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46611677"/>
      </p:ext>
    </p:extLst>
  </p:cSld>
  <p:clrMapOvr>
    <a:masterClrMapping/>
  </p:clrMapOvr>
  <p:transition>
    <p:fade/>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D4CE6A5-FD0E-44CE-E63F-0F195F45604F}"/>
              </a:ext>
            </a:extLst>
          </p:cNvPr>
          <p:cNvSpPr>
            <a:spLocks noGrp="1"/>
          </p:cNvSpPr>
          <p:nvPr>
            <p:ph type="title"/>
          </p:nvPr>
        </p:nvSpPr>
        <p:spPr/>
        <p:txBody>
          <a:bodyPr/>
          <a:lstStyle/>
          <a:p>
            <a:r>
              <a:rPr lang="en-US"/>
              <a:t>Estimated impact of sale of electricity from the project in IEX on NEA revenue (3/3)</a:t>
            </a:r>
          </a:p>
        </p:txBody>
      </p:sp>
      <p:graphicFrame>
        <p:nvGraphicFramePr>
          <p:cNvPr id="7" name="Table 6">
            <a:extLst>
              <a:ext uri="{FF2B5EF4-FFF2-40B4-BE49-F238E27FC236}">
                <a16:creationId xmlns:a16="http://schemas.microsoft.com/office/drawing/2014/main" id="{386BEA79-D0DE-7B52-93B9-9A6FF49E637A}"/>
              </a:ext>
            </a:extLst>
          </p:cNvPr>
          <p:cNvGraphicFramePr>
            <a:graphicFrameLocks noGrp="1"/>
          </p:cNvGraphicFramePr>
          <p:nvPr>
            <p:extLst>
              <p:ext uri="{D42A27DB-BD31-4B8C-83A1-F6EECF244321}">
                <p14:modId xmlns:p14="http://schemas.microsoft.com/office/powerpoint/2010/main" val="4153865379"/>
              </p:ext>
            </p:extLst>
          </p:nvPr>
        </p:nvGraphicFramePr>
        <p:xfrm>
          <a:off x="501651" y="1610360"/>
          <a:ext cx="11188700" cy="1526900"/>
        </p:xfrm>
        <a:graphic>
          <a:graphicData uri="http://schemas.openxmlformats.org/drawingml/2006/table">
            <a:tbl>
              <a:tblPr>
                <a:tableStyleId>{5940675A-B579-460E-94D1-54222C63F5DA}</a:tableStyleId>
              </a:tblPr>
              <a:tblGrid>
                <a:gridCol w="514423">
                  <a:extLst>
                    <a:ext uri="{9D8B030D-6E8A-4147-A177-3AD203B41FA5}">
                      <a16:colId xmlns:a16="http://schemas.microsoft.com/office/drawing/2014/main" val="217460484"/>
                    </a:ext>
                  </a:extLst>
                </a:gridCol>
                <a:gridCol w="632312">
                  <a:extLst>
                    <a:ext uri="{9D8B030D-6E8A-4147-A177-3AD203B41FA5}">
                      <a16:colId xmlns:a16="http://schemas.microsoft.com/office/drawing/2014/main" val="1782491998"/>
                    </a:ext>
                  </a:extLst>
                </a:gridCol>
                <a:gridCol w="878806">
                  <a:extLst>
                    <a:ext uri="{9D8B030D-6E8A-4147-A177-3AD203B41FA5}">
                      <a16:colId xmlns:a16="http://schemas.microsoft.com/office/drawing/2014/main" val="3200312872"/>
                    </a:ext>
                  </a:extLst>
                </a:gridCol>
                <a:gridCol w="600160">
                  <a:extLst>
                    <a:ext uri="{9D8B030D-6E8A-4147-A177-3AD203B41FA5}">
                      <a16:colId xmlns:a16="http://schemas.microsoft.com/office/drawing/2014/main" val="2828510541"/>
                    </a:ext>
                  </a:extLst>
                </a:gridCol>
                <a:gridCol w="1253906">
                  <a:extLst>
                    <a:ext uri="{9D8B030D-6E8A-4147-A177-3AD203B41FA5}">
                      <a16:colId xmlns:a16="http://schemas.microsoft.com/office/drawing/2014/main" val="2591229842"/>
                    </a:ext>
                  </a:extLst>
                </a:gridCol>
                <a:gridCol w="685897">
                  <a:extLst>
                    <a:ext uri="{9D8B030D-6E8A-4147-A177-3AD203B41FA5}">
                      <a16:colId xmlns:a16="http://schemas.microsoft.com/office/drawing/2014/main" val="3024870482"/>
                    </a:ext>
                  </a:extLst>
                </a:gridCol>
                <a:gridCol w="632312">
                  <a:extLst>
                    <a:ext uri="{9D8B030D-6E8A-4147-A177-3AD203B41FA5}">
                      <a16:colId xmlns:a16="http://schemas.microsoft.com/office/drawing/2014/main" val="947030825"/>
                    </a:ext>
                  </a:extLst>
                </a:gridCol>
                <a:gridCol w="1811198">
                  <a:extLst>
                    <a:ext uri="{9D8B030D-6E8A-4147-A177-3AD203B41FA5}">
                      <a16:colId xmlns:a16="http://schemas.microsoft.com/office/drawing/2014/main" val="1043104052"/>
                    </a:ext>
                  </a:extLst>
                </a:gridCol>
                <a:gridCol w="696614">
                  <a:extLst>
                    <a:ext uri="{9D8B030D-6E8A-4147-A177-3AD203B41FA5}">
                      <a16:colId xmlns:a16="http://schemas.microsoft.com/office/drawing/2014/main" val="1421889729"/>
                    </a:ext>
                  </a:extLst>
                </a:gridCol>
                <a:gridCol w="1039563">
                  <a:extLst>
                    <a:ext uri="{9D8B030D-6E8A-4147-A177-3AD203B41FA5}">
                      <a16:colId xmlns:a16="http://schemas.microsoft.com/office/drawing/2014/main" val="833897171"/>
                    </a:ext>
                  </a:extLst>
                </a:gridCol>
                <a:gridCol w="803786">
                  <a:extLst>
                    <a:ext uri="{9D8B030D-6E8A-4147-A177-3AD203B41FA5}">
                      <a16:colId xmlns:a16="http://schemas.microsoft.com/office/drawing/2014/main" val="1784838580"/>
                    </a:ext>
                  </a:extLst>
                </a:gridCol>
                <a:gridCol w="953826">
                  <a:extLst>
                    <a:ext uri="{9D8B030D-6E8A-4147-A177-3AD203B41FA5}">
                      <a16:colId xmlns:a16="http://schemas.microsoft.com/office/drawing/2014/main" val="2814278626"/>
                    </a:ext>
                  </a:extLst>
                </a:gridCol>
                <a:gridCol w="685897">
                  <a:extLst>
                    <a:ext uri="{9D8B030D-6E8A-4147-A177-3AD203B41FA5}">
                      <a16:colId xmlns:a16="http://schemas.microsoft.com/office/drawing/2014/main" val="105468429"/>
                    </a:ext>
                  </a:extLst>
                </a:gridCol>
              </a:tblGrid>
              <a:tr h="155399">
                <a:tc gridSpan="13">
                  <a:txBody>
                    <a:bodyPr/>
                    <a:lstStyle/>
                    <a:p>
                      <a:pPr algn="ctr" fontAlgn="ctr"/>
                      <a:r>
                        <a:rPr lang="en-US" sz="800" b="1" u="none" strike="noStrike">
                          <a:effectLst/>
                          <a:latin typeface="Arial" panose="020B0604020202020204" pitchFamily="34" charset="0"/>
                          <a:cs typeface="Arial" panose="020B0604020202020204" pitchFamily="34" charset="0"/>
                        </a:rPr>
                        <a:t>YEAR 7</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55488535"/>
                  </a:ext>
                </a:extLst>
              </a:tr>
              <a:tr h="466196">
                <a:tc>
                  <a:txBody>
                    <a:bodyPr/>
                    <a:lstStyle/>
                    <a:p>
                      <a:pPr algn="ctr" fontAlgn="ctr"/>
                      <a:r>
                        <a:rPr lang="en-US" sz="800" u="none" strike="noStrike">
                          <a:effectLst/>
                          <a:latin typeface="Arial" panose="020B0604020202020204" pitchFamily="34" charset="0"/>
                          <a:cs typeface="Arial" panose="020B0604020202020204" pitchFamily="34" charset="0"/>
                        </a:rPr>
                        <a:t>Month type</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Month as per English calendar</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Nepali months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No. of days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Additional energy (Mn 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(NPR/kWh)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Avg price on exchange (based on FY22-25 IEX DAM prices)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Difference</a:t>
                      </a:r>
                      <a:br>
                        <a:rPr lang="en-US" sz="800" u="none" strike="noStrike">
                          <a:effectLst/>
                          <a:latin typeface="Arial" panose="020B0604020202020204" pitchFamily="34" charset="0"/>
                          <a:cs typeface="Arial" panose="020B0604020202020204" pitchFamily="34" charset="0"/>
                        </a:rPr>
                      </a:br>
                      <a:r>
                        <a:rPr lang="en-US" sz="800" u="none" strike="noStrike">
                          <a:effectLst/>
                          <a:latin typeface="Arial" panose="020B0604020202020204" pitchFamily="34" charset="0"/>
                          <a:cs typeface="Arial" panose="020B0604020202020204" pitchFamily="34" charset="0"/>
                        </a:rPr>
                        <a:t>(INR/kWh)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sv-SE" sz="800" u="none" strike="noStrike">
                          <a:effectLst/>
                          <a:latin typeface="Arial" panose="020B0604020202020204" pitchFamily="34" charset="0"/>
                          <a:cs typeface="Arial" panose="020B0604020202020204" pitchFamily="34" charset="0"/>
                        </a:rPr>
                        <a:t>Trader (NVVN/PTC) margin (INR/kWh)</a:t>
                      </a:r>
                      <a:endParaRPr lang="sv-SE"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Transmission line losses (%)</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for NEA (INR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(NPR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0521372"/>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16th Jeshta onw.</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16</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3.61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5.81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2.20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8501753"/>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Jun/Jul</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Asadh</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3.61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1.81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63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4739010"/>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Jul/Aug</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Shrawan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3.61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1.65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75355581"/>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Aug/Sep</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Bhadra</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3.61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1.84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62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6987408"/>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Sep/Oct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Ashwin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3.61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1.46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dirty="0">
                          <a:solidFill>
                            <a:srgbClr val="000000"/>
                          </a:solidFill>
                          <a:effectLst/>
                          <a:latin typeface="Arial" panose="020B0604020202020204" pitchFamily="34" charset="0"/>
                          <a:cs typeface="Arial" panose="020B0604020202020204" pitchFamily="34" charset="0"/>
                        </a:rPr>
                        <a:t>49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86007531"/>
                  </a:ext>
                </a:extLst>
              </a:tr>
            </a:tbl>
          </a:graphicData>
        </a:graphic>
      </p:graphicFrame>
      <p:graphicFrame>
        <p:nvGraphicFramePr>
          <p:cNvPr id="8" name="Table 7">
            <a:extLst>
              <a:ext uri="{FF2B5EF4-FFF2-40B4-BE49-F238E27FC236}">
                <a16:creationId xmlns:a16="http://schemas.microsoft.com/office/drawing/2014/main" id="{681D542D-63BE-CE2E-8A2F-1207900702DA}"/>
              </a:ext>
            </a:extLst>
          </p:cNvPr>
          <p:cNvGraphicFramePr>
            <a:graphicFrameLocks noGrp="1"/>
          </p:cNvGraphicFramePr>
          <p:nvPr>
            <p:extLst>
              <p:ext uri="{D42A27DB-BD31-4B8C-83A1-F6EECF244321}">
                <p14:modId xmlns:p14="http://schemas.microsoft.com/office/powerpoint/2010/main" val="506217116"/>
              </p:ext>
            </p:extLst>
          </p:nvPr>
        </p:nvGraphicFramePr>
        <p:xfrm>
          <a:off x="501651" y="3213034"/>
          <a:ext cx="11188700" cy="1526900"/>
        </p:xfrm>
        <a:graphic>
          <a:graphicData uri="http://schemas.openxmlformats.org/drawingml/2006/table">
            <a:tbl>
              <a:tblPr>
                <a:tableStyleId>{5940675A-B579-460E-94D1-54222C63F5DA}</a:tableStyleId>
              </a:tblPr>
              <a:tblGrid>
                <a:gridCol w="514423">
                  <a:extLst>
                    <a:ext uri="{9D8B030D-6E8A-4147-A177-3AD203B41FA5}">
                      <a16:colId xmlns:a16="http://schemas.microsoft.com/office/drawing/2014/main" val="217460484"/>
                    </a:ext>
                  </a:extLst>
                </a:gridCol>
                <a:gridCol w="632312">
                  <a:extLst>
                    <a:ext uri="{9D8B030D-6E8A-4147-A177-3AD203B41FA5}">
                      <a16:colId xmlns:a16="http://schemas.microsoft.com/office/drawing/2014/main" val="1782491998"/>
                    </a:ext>
                  </a:extLst>
                </a:gridCol>
                <a:gridCol w="878806">
                  <a:extLst>
                    <a:ext uri="{9D8B030D-6E8A-4147-A177-3AD203B41FA5}">
                      <a16:colId xmlns:a16="http://schemas.microsoft.com/office/drawing/2014/main" val="3200312872"/>
                    </a:ext>
                  </a:extLst>
                </a:gridCol>
                <a:gridCol w="600160">
                  <a:extLst>
                    <a:ext uri="{9D8B030D-6E8A-4147-A177-3AD203B41FA5}">
                      <a16:colId xmlns:a16="http://schemas.microsoft.com/office/drawing/2014/main" val="2828510541"/>
                    </a:ext>
                  </a:extLst>
                </a:gridCol>
                <a:gridCol w="1253906">
                  <a:extLst>
                    <a:ext uri="{9D8B030D-6E8A-4147-A177-3AD203B41FA5}">
                      <a16:colId xmlns:a16="http://schemas.microsoft.com/office/drawing/2014/main" val="2591229842"/>
                    </a:ext>
                  </a:extLst>
                </a:gridCol>
                <a:gridCol w="685897">
                  <a:extLst>
                    <a:ext uri="{9D8B030D-6E8A-4147-A177-3AD203B41FA5}">
                      <a16:colId xmlns:a16="http://schemas.microsoft.com/office/drawing/2014/main" val="3024870482"/>
                    </a:ext>
                  </a:extLst>
                </a:gridCol>
                <a:gridCol w="632312">
                  <a:extLst>
                    <a:ext uri="{9D8B030D-6E8A-4147-A177-3AD203B41FA5}">
                      <a16:colId xmlns:a16="http://schemas.microsoft.com/office/drawing/2014/main" val="947030825"/>
                    </a:ext>
                  </a:extLst>
                </a:gridCol>
                <a:gridCol w="1811198">
                  <a:extLst>
                    <a:ext uri="{9D8B030D-6E8A-4147-A177-3AD203B41FA5}">
                      <a16:colId xmlns:a16="http://schemas.microsoft.com/office/drawing/2014/main" val="1043104052"/>
                    </a:ext>
                  </a:extLst>
                </a:gridCol>
                <a:gridCol w="696614">
                  <a:extLst>
                    <a:ext uri="{9D8B030D-6E8A-4147-A177-3AD203B41FA5}">
                      <a16:colId xmlns:a16="http://schemas.microsoft.com/office/drawing/2014/main" val="1421889729"/>
                    </a:ext>
                  </a:extLst>
                </a:gridCol>
                <a:gridCol w="1039563">
                  <a:extLst>
                    <a:ext uri="{9D8B030D-6E8A-4147-A177-3AD203B41FA5}">
                      <a16:colId xmlns:a16="http://schemas.microsoft.com/office/drawing/2014/main" val="833897171"/>
                    </a:ext>
                  </a:extLst>
                </a:gridCol>
                <a:gridCol w="803786">
                  <a:extLst>
                    <a:ext uri="{9D8B030D-6E8A-4147-A177-3AD203B41FA5}">
                      <a16:colId xmlns:a16="http://schemas.microsoft.com/office/drawing/2014/main" val="1784838580"/>
                    </a:ext>
                  </a:extLst>
                </a:gridCol>
                <a:gridCol w="953826">
                  <a:extLst>
                    <a:ext uri="{9D8B030D-6E8A-4147-A177-3AD203B41FA5}">
                      <a16:colId xmlns:a16="http://schemas.microsoft.com/office/drawing/2014/main" val="2814278626"/>
                    </a:ext>
                  </a:extLst>
                </a:gridCol>
                <a:gridCol w="685897">
                  <a:extLst>
                    <a:ext uri="{9D8B030D-6E8A-4147-A177-3AD203B41FA5}">
                      <a16:colId xmlns:a16="http://schemas.microsoft.com/office/drawing/2014/main" val="105468429"/>
                    </a:ext>
                  </a:extLst>
                </a:gridCol>
              </a:tblGrid>
              <a:tr h="155399">
                <a:tc gridSpan="13">
                  <a:txBody>
                    <a:bodyPr/>
                    <a:lstStyle/>
                    <a:p>
                      <a:pPr algn="ctr" fontAlgn="ctr"/>
                      <a:r>
                        <a:rPr lang="en-US" sz="800" b="1" u="none" strike="noStrike">
                          <a:effectLst/>
                          <a:latin typeface="Arial" panose="020B0604020202020204" pitchFamily="34" charset="0"/>
                          <a:cs typeface="Arial" panose="020B0604020202020204" pitchFamily="34" charset="0"/>
                        </a:rPr>
                        <a:t>YEAR 8 onwards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l" fontAlgn="ctr"/>
                      <a:endParaRPr lang="en-US" sz="900" b="0" i="0" u="none" strike="noStrike">
                        <a:solidFill>
                          <a:srgbClr val="000000"/>
                        </a:solidFill>
                        <a:effectLst/>
                        <a:latin typeface="Calibri" panose="020F050202020403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55488535"/>
                  </a:ext>
                </a:extLst>
              </a:tr>
              <a:tr h="466196">
                <a:tc>
                  <a:txBody>
                    <a:bodyPr/>
                    <a:lstStyle/>
                    <a:p>
                      <a:pPr algn="ctr" fontAlgn="ctr"/>
                      <a:r>
                        <a:rPr lang="en-US" sz="800" u="none" strike="noStrike">
                          <a:effectLst/>
                          <a:latin typeface="Arial" panose="020B0604020202020204" pitchFamily="34" charset="0"/>
                          <a:cs typeface="Arial" panose="020B0604020202020204" pitchFamily="34" charset="0"/>
                        </a:rPr>
                        <a:t>Month type</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Month as per English calendar</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Nepali months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No. of days</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Additional energy (Mn 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(NPR/kWh)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PPA tariff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Avg price on exchange (based on FY22-25 IEX DAM prices) (INR/kWh)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Difference</a:t>
                      </a:r>
                      <a:br>
                        <a:rPr lang="en-US" sz="800" u="none" strike="noStrike">
                          <a:effectLst/>
                          <a:latin typeface="Arial" panose="020B0604020202020204" pitchFamily="34" charset="0"/>
                          <a:cs typeface="Arial" panose="020B0604020202020204" pitchFamily="34" charset="0"/>
                        </a:rPr>
                      </a:br>
                      <a:r>
                        <a:rPr lang="en-US" sz="800" u="none" strike="noStrike">
                          <a:effectLst/>
                          <a:latin typeface="Arial" panose="020B0604020202020204" pitchFamily="34" charset="0"/>
                          <a:cs typeface="Arial" panose="020B0604020202020204" pitchFamily="34" charset="0"/>
                        </a:rPr>
                        <a:t>(INR/kWh)</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sv-SE" sz="800" u="none" strike="noStrike">
                          <a:effectLst/>
                          <a:latin typeface="Arial" panose="020B0604020202020204" pitchFamily="34" charset="0"/>
                          <a:cs typeface="Arial" panose="020B0604020202020204" pitchFamily="34" charset="0"/>
                        </a:rPr>
                        <a:t>Trader (NVVN/PTC) margin (INR/kWh)</a:t>
                      </a:r>
                      <a:endParaRPr lang="sv-SE"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Transmission line losses (%)</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for NEA (INR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sz="800" u="none" strike="noStrike">
                          <a:effectLst/>
                          <a:latin typeface="Arial" panose="020B0604020202020204" pitchFamily="34" charset="0"/>
                          <a:cs typeface="Arial" panose="020B0604020202020204" pitchFamily="34" charset="0"/>
                        </a:rPr>
                        <a:t>Net revenue (NPR Mn)</a:t>
                      </a:r>
                      <a:endParaRPr lang="en-US" sz="800" b="1"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40521372"/>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16th Jeshta onw.</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16</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12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3.72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5.81</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2.09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8501753"/>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Jun/Jul</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Asadh</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22</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3.72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1.70</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4739010"/>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Jul/Aug</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Shrawan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3.72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1.54</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75355581"/>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Aug/Sep</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Bhadra</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3.72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5.45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1.73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58</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6987408"/>
                  </a:ext>
                </a:extLst>
              </a:tr>
              <a:tr h="155399">
                <a:tc>
                  <a:txBody>
                    <a:bodyPr/>
                    <a:lstStyle/>
                    <a:p>
                      <a:pPr algn="l" fontAlgn="ctr"/>
                      <a:r>
                        <a:rPr lang="en-US" sz="800" u="none" strike="noStrike">
                          <a:effectLst/>
                          <a:latin typeface="Arial" panose="020B0604020202020204" pitchFamily="34" charset="0"/>
                          <a:cs typeface="Arial" panose="020B0604020202020204" pitchFamily="34" charset="0"/>
                        </a:rPr>
                        <a:t>Wet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Sep/Oct</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US" sz="800" u="none" strike="noStrike">
                          <a:effectLst/>
                          <a:latin typeface="Arial" panose="020B0604020202020204" pitchFamily="34" charset="0"/>
                          <a:cs typeface="Arial" panose="020B0604020202020204" pitchFamily="34" charset="0"/>
                        </a:rPr>
                        <a:t>Ashwin</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31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u="none" strike="noStrike">
                          <a:effectLst/>
                          <a:latin typeface="Arial" panose="020B0604020202020204" pitchFamily="34" charset="0"/>
                          <a:cs typeface="Arial" panose="020B0604020202020204" pitchFamily="34" charset="0"/>
                        </a:rPr>
                        <a:t>21</a:t>
                      </a: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3.72</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5.07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1.35</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0.07</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3%</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29</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800" b="0" i="0" u="none" strike="noStrike">
                          <a:solidFill>
                            <a:srgbClr val="000000"/>
                          </a:solidFill>
                          <a:effectLst/>
                          <a:latin typeface="Arial" panose="020B0604020202020204" pitchFamily="34" charset="0"/>
                          <a:cs typeface="Arial" panose="020B0604020202020204" pitchFamily="34" charset="0"/>
                        </a:rPr>
                        <a:t>46</a:t>
                      </a:r>
                    </a:p>
                  </a:txBody>
                  <a:tcPr marL="27432" marR="27432" marT="27432" marB="2743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86007531"/>
                  </a:ext>
                </a:extLst>
              </a:tr>
            </a:tbl>
          </a:graphicData>
        </a:graphic>
      </p:graphicFrame>
      <p:cxnSp>
        <p:nvCxnSpPr>
          <p:cNvPr id="3" name="Straight Connector 2">
            <a:extLst>
              <a:ext uri="{FF2B5EF4-FFF2-40B4-BE49-F238E27FC236}">
                <a16:creationId xmlns:a16="http://schemas.microsoft.com/office/drawing/2014/main" id="{FE8A156C-E628-C3D2-5172-1284A7764606}"/>
              </a:ext>
            </a:extLst>
          </p:cNvPr>
          <p:cNvCxnSpPr/>
          <p:nvPr/>
        </p:nvCxnSpPr>
        <p:spPr>
          <a:xfrm flipV="1">
            <a:off x="514884" y="911049"/>
            <a:ext cx="111955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4" name="Arrow: Right 3">
            <a:hlinkClick r:id="rId2" action="ppaction://hlinksldjump"/>
            <a:extLst>
              <a:ext uri="{FF2B5EF4-FFF2-40B4-BE49-F238E27FC236}">
                <a16:creationId xmlns:a16="http://schemas.microsoft.com/office/drawing/2014/main" id="{B11BE1C3-807E-7D2B-E968-91C2FE023378}"/>
              </a:ext>
            </a:extLst>
          </p:cNvPr>
          <p:cNvSpPr/>
          <p:nvPr/>
        </p:nvSpPr>
        <p:spPr bwMode="gray">
          <a:xfrm flipH="1">
            <a:off x="11603130" y="6453885"/>
            <a:ext cx="105263" cy="102300"/>
          </a:xfrm>
          <a:prstGeom prst="rightArrow">
            <a:avLst/>
          </a:prstGeom>
          <a:solidFill>
            <a:schemeClr val="tx2"/>
          </a:solidFill>
          <a:ln w="19050" algn="ctr">
            <a:noFill/>
            <a:miter lim="800000"/>
            <a:headEnd/>
            <a:tailEnd/>
          </a:ln>
        </p:spPr>
        <p:txBody>
          <a:bodyPr wrap="square" lIns="72231" tIns="72231" rIns="72231" bIns="72231" rtlCol="0" anchor="ctr"/>
          <a:lstStyle/>
          <a:p>
            <a:pPr>
              <a:lnSpc>
                <a:spcPct val="106000"/>
              </a:lnSpc>
              <a:buFont typeface="Wingdings 2" pitchFamily="18" charset="2"/>
              <a:buNone/>
            </a:pPr>
            <a:endParaRPr lang="en-US" sz="13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19883668"/>
      </p:ext>
    </p:extLst>
  </p:cSld>
  <p:clrMapOvr>
    <a:masterClrMapping/>
  </p:clrMapOvr>
  <p:transition>
    <p:fade/>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6B655333-75B5-74A3-624A-77E087074D2F}"/>
              </a:ext>
            </a:extLst>
          </p:cNvPr>
          <p:cNvGraphicFramePr>
            <a:graphicFrameLocks noChangeAspect="1"/>
          </p:cNvGraphicFramePr>
          <p:nvPr>
            <p:custDataLst>
              <p:tags r:id="rId1"/>
            </p:custDataLst>
            <p:extLst>
              <p:ext uri="{D42A27DB-BD31-4B8C-83A1-F6EECF244321}">
                <p14:modId xmlns:p14="http://schemas.microsoft.com/office/powerpoint/2010/main" val="367811029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itle 4">
            <a:extLst>
              <a:ext uri="{FF2B5EF4-FFF2-40B4-BE49-F238E27FC236}">
                <a16:creationId xmlns:a16="http://schemas.microsoft.com/office/drawing/2014/main" id="{AC415C70-BE39-02DC-B2FE-4EC6B829DD1E}"/>
              </a:ext>
            </a:extLst>
          </p:cNvPr>
          <p:cNvSpPr>
            <a:spLocks noGrp="1"/>
          </p:cNvSpPr>
          <p:nvPr>
            <p:ph type="title"/>
          </p:nvPr>
        </p:nvSpPr>
        <p:spPr/>
        <p:txBody>
          <a:bodyPr vert="horz"/>
          <a:lstStyle/>
          <a:p>
            <a:r>
              <a:rPr lang="en-US" b="1" dirty="0"/>
              <a:t>Summary</a:t>
            </a:r>
          </a:p>
        </p:txBody>
      </p:sp>
      <p:graphicFrame>
        <p:nvGraphicFramePr>
          <p:cNvPr id="9" name="Table 8">
            <a:extLst>
              <a:ext uri="{FF2B5EF4-FFF2-40B4-BE49-F238E27FC236}">
                <a16:creationId xmlns:a16="http://schemas.microsoft.com/office/drawing/2014/main" id="{32B36DCE-2EBF-126C-BFBE-2170C36F1A0E}"/>
              </a:ext>
            </a:extLst>
          </p:cNvPr>
          <p:cNvGraphicFramePr>
            <a:graphicFrameLocks noGrp="1"/>
          </p:cNvGraphicFramePr>
          <p:nvPr>
            <p:extLst>
              <p:ext uri="{D42A27DB-BD31-4B8C-83A1-F6EECF244321}">
                <p14:modId xmlns:p14="http://schemas.microsoft.com/office/powerpoint/2010/main" val="2319349564"/>
              </p:ext>
            </p:extLst>
          </p:nvPr>
        </p:nvGraphicFramePr>
        <p:xfrm>
          <a:off x="501650" y="907556"/>
          <a:ext cx="11188697" cy="5440680"/>
        </p:xfrm>
        <a:graphic>
          <a:graphicData uri="http://schemas.openxmlformats.org/drawingml/2006/table">
            <a:tbl>
              <a:tblPr firstRow="1" bandRow="1">
                <a:tableStyleId>{3B4B98B0-60AC-42C2-AFA5-B58CD77FA1E5}</a:tableStyleId>
              </a:tblPr>
              <a:tblGrid>
                <a:gridCol w="11188697">
                  <a:extLst>
                    <a:ext uri="{9D8B030D-6E8A-4147-A177-3AD203B41FA5}">
                      <a16:colId xmlns:a16="http://schemas.microsoft.com/office/drawing/2014/main" val="3591164814"/>
                    </a:ext>
                  </a:extLst>
                </a:gridCol>
              </a:tblGrid>
              <a:tr h="370840">
                <a:tc>
                  <a:txBody>
                    <a:bodyPr/>
                    <a:lstStyle/>
                    <a:p>
                      <a:r>
                        <a:rPr lang="en-US" sz="1400" dirty="0"/>
                        <a:t>1. Nepal's Domestic Market and Cross Border Potential</a:t>
                      </a:r>
                    </a:p>
                  </a:txBody>
                  <a:tcPr/>
                </a:tc>
                <a:extLst>
                  <a:ext uri="{0D108BD9-81ED-4DB2-BD59-A6C34878D82A}">
                    <a16:rowId xmlns:a16="http://schemas.microsoft.com/office/drawing/2014/main" val="1695863172"/>
                  </a:ext>
                </a:extLst>
              </a:tr>
              <a:tr h="370840">
                <a:tc>
                  <a:txBody>
                    <a:bodyPr/>
                    <a:lstStyle/>
                    <a:p>
                      <a:r>
                        <a:rPr lang="en-US" sz="1400"/>
                        <a:t>Nepal's power sector has undergone a transformative shift from infrastructure expansion to green growth and market efficiency. With an installed capacity of 3,157 MW as of 2024, dominated by hydropower, the country has transitioned from being a net importer to a net exporter of electricity, exporting ~1,946 GWh to India in FY 2023/24. Domestic demand continues to grow, driven by electrification initiatives in industrial, commercial and transport sectors. The transmission network has expanded significantly, with over 11 cross-border links and strategic projects such as Dhalkebar–Muzaffarpur and New Butwal–Gorakhpur supporting export ambitions. Policy reforms, including the Draft Electricity Bill 2080 and ERC Roadmap (2024–2029), aim to enable open access, trading licenses, and direct market participation for IPPs.</a:t>
                      </a:r>
                    </a:p>
                  </a:txBody>
                  <a:tcPr/>
                </a:tc>
                <a:extLst>
                  <a:ext uri="{0D108BD9-81ED-4DB2-BD59-A6C34878D82A}">
                    <a16:rowId xmlns:a16="http://schemas.microsoft.com/office/drawing/2014/main" val="2365958987"/>
                  </a:ext>
                </a:extLst>
              </a:tr>
              <a:tr h="370840">
                <a:tc>
                  <a:txBody>
                    <a:bodyPr/>
                    <a:lstStyle/>
                    <a:p>
                      <a:r>
                        <a:rPr lang="en-US" sz="1400" b="1" dirty="0"/>
                        <a:t>2. India Power Market and Outlook</a:t>
                      </a:r>
                    </a:p>
                  </a:txBody>
                  <a:tcPr/>
                </a:tc>
                <a:extLst>
                  <a:ext uri="{0D108BD9-81ED-4DB2-BD59-A6C34878D82A}">
                    <a16:rowId xmlns:a16="http://schemas.microsoft.com/office/drawing/2014/main" val="1298975168"/>
                  </a:ext>
                </a:extLst>
              </a:tr>
              <a:tr h="370840">
                <a:tc>
                  <a:txBody>
                    <a:bodyPr/>
                    <a:lstStyle/>
                    <a:p>
                      <a:r>
                        <a:rPr lang="en-US" sz="1400"/>
                        <a:t>India's electricity market presents a robust opportunity for Nepalese exports, especially during peak demand periods and renewable energy transitions. India’s installed capacity of 475 GW in FY25, includes ~50% from renewables. The short-term electricity market has grown at a CAGR of 15%, with exchange-based transactions accounting for over 56% of the market. Price discovery mechanisms such as DAM, RTM, and TAM facilitate efficient trading, while payment security structures and buyer profiles (e.g., Telangana, Gujarat, Punjab) enhance market reliability. Seasonal price variations, especially during solar hours, offer competitive pricing for Nepal’s hydro exports. Anticipated reforms and growing demand (projected to grow at 5.5% till FY30) further strengthen the outlook for cross-border electricity trade.</a:t>
                      </a:r>
                    </a:p>
                  </a:txBody>
                  <a:tcPr/>
                </a:tc>
                <a:extLst>
                  <a:ext uri="{0D108BD9-81ED-4DB2-BD59-A6C34878D82A}">
                    <a16:rowId xmlns:a16="http://schemas.microsoft.com/office/drawing/2014/main" val="2526502669"/>
                  </a:ext>
                </a:extLst>
              </a:tr>
              <a:tr h="370840">
                <a:tc>
                  <a:txBody>
                    <a:bodyPr/>
                    <a:lstStyle/>
                    <a:p>
                      <a:r>
                        <a:rPr lang="en-US" sz="1400" b="1" dirty="0"/>
                        <a:t>3. Commercial Risk Assessment and implication on the Project</a:t>
                      </a:r>
                    </a:p>
                  </a:txBody>
                  <a:tcPr/>
                </a:tc>
                <a:extLst>
                  <a:ext uri="{0D108BD9-81ED-4DB2-BD59-A6C34878D82A}">
                    <a16:rowId xmlns:a16="http://schemas.microsoft.com/office/drawing/2014/main" val="4230111048"/>
                  </a:ext>
                </a:extLst>
              </a:tr>
              <a:tr h="370840">
                <a:tc>
                  <a:txBody>
                    <a:bodyPr/>
                    <a:lstStyle/>
                    <a:p>
                      <a:r>
                        <a:rPr lang="en-US" sz="1400"/>
                        <a:t>The PJ_ST Hydropower Project in Nepal, with a 100 MW installed capacity, is contracted for 70 MW under a Take-or-Pay arrangement with NEA, and includes 30 MW under Take-and-Pay. The official RCOD is set for February 2026, with tariffs escalating annually by 3% for up to eight years. Commercial risks include reserve margin limitations, transmission infrastructure readiness, and pricing constraints for excess energy. Operational risks such as hydrological variability, monthly delivery compliance, and dry season obligations are assessed, along with regulatory risks tied to ownership changes and third-party sales restrictions. Execution risks from RCOD delays may impact tariff escalation and returns. Market access is contingent on NEA and GoI approvals, with future reforms potentially enabling direct market participation. The project is strategically positioned to leverage Nepal’s increasing domestic demand and export opportunities, subject to successful mitigation of identified risks and policy/regulatory developments.</a:t>
                      </a:r>
                    </a:p>
                  </a:txBody>
                  <a:tcPr/>
                </a:tc>
                <a:extLst>
                  <a:ext uri="{0D108BD9-81ED-4DB2-BD59-A6C34878D82A}">
                    <a16:rowId xmlns:a16="http://schemas.microsoft.com/office/drawing/2014/main" val="1433055399"/>
                  </a:ext>
                </a:extLst>
              </a:tr>
            </a:tbl>
          </a:graphicData>
        </a:graphic>
      </p:graphicFrame>
    </p:spTree>
    <p:extLst>
      <p:ext uri="{BB962C8B-B14F-4D97-AF65-F5344CB8AC3E}">
        <p14:creationId xmlns:p14="http://schemas.microsoft.com/office/powerpoint/2010/main" val="962595346"/>
      </p:ext>
    </p:extLst>
  </p:cSld>
  <p:clrMapOvr>
    <a:masterClrMapping/>
  </p:clrMapOvr>
  <p:transition>
    <p:fade/>
  </p:transition>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lt;root reqver=&quot;28224&quot;&gt;&lt;version val=&quot;35712&quot;/&gt;&lt;CPresentation id=&quot;1&quot;&gt;&lt;m_precDefaultNumber&gt;&lt;m_bNumberIsYear val=&quot;1&quot;/&gt;&lt;m_chMinusSymbol&gt;-&lt;/m_chMinusSymbol&gt;&lt;m_chDecimalSymbol17909&gt;.&lt;/m_chDecimalSymbol17909&gt;&lt;m_nGroupingDigits17909 val=&quot;3&quot;/&gt;&lt;m_chGroupingSymbol17909&gt;,&lt;/m_chGroupingSymbol17909&gt;&lt;m_yearfmt&gt;&lt;begin val=&quot;0&quot;/&gt;&lt;end val=&quot;4&quot;/&gt;&lt;/m_yearfmt&gt;&lt;/m_precDefaultNumber&gt;&lt;m_precDefaultPercent&gt;&lt;m_bNumberIsYear val=&quot;1&quot;/&gt;&lt;m_chMinusSymbol&gt;-&lt;/m_chMinusSymbol&gt;&lt;m_nDecimalDigits17909 val=&quot;0&quot;/&gt;&lt;m_chDecimalSymbol17909&gt;.&lt;/m_chDecimalSymbol17909&gt;&lt;m_nGroupingDigits17909 val=&quot;3&quot;/&gt;&lt;m_chGroupingSymbol17909&gt;,&lt;/m_chGroupingSymbol17909&gt;&lt;m_strSuffix17909&gt;%&lt;/m_strSuffix17909&gt;&lt;m_yearfmt&gt;&lt;begin val=&quot;0&quot;/&gt;&lt;end val=&quot;4&quot;/&gt;&lt;/m_yearfmt&gt;&lt;/m_precDefaultPercent&gt;&lt;m_precDefaultDate&gt;&lt;m_bNumberIsYear val=&quot;0&quot;/&gt;&lt;m_strFormatTime&gt;%#m/%#d/%Y&lt;/m_strFormatTime&gt;&lt;m_yearfmt&gt;&lt;begin val=&quot;0&quot;/&gt;&lt;end val=&quot;0&quot;/&gt;&lt;/m_yearfmt&gt;&lt;/m_precDefaultDate&gt;&lt;m_precDefaultDay&gt;&lt;m_yearfmt&gt;&lt;begin val=&quot;0&quot;/&gt;&lt;end val=&quot;4&quot;/&gt;&lt;/m_yearfmt&gt;&lt;/m_precDefaultDay&gt;&lt;m_precDefaultWeek&gt;&lt;m_yearfmt&gt;&lt;begin val=&quot;0&quot;/&gt;&lt;end val=&quot;4&quot;/&gt;&lt;/m_yearfmt&gt;&lt;/m_precDefaultWeek&gt;&lt;m_precDefaultMonth&gt;&lt;m_yearfmt&gt;&lt;begin val=&quot;0&quot;/&gt;&lt;end val=&quot;4&quot;/&gt;&lt;/m_yearfmt&gt;&lt;/m_precDefaultMonth&gt;&lt;m_precDefaultQuarter&gt;&lt;m_yearfmt&gt;&lt;begin val=&quot;0&quot;/&gt;&lt;end val=&quot;4&quot;/&gt;&lt;/m_yearfmt&gt;&lt;/m_precDefaultQuarter&gt;&lt;m_precDefaultYear&gt;&lt;m_yearfmt&gt;&lt;begin val=&quot;0&quot;/&gt;&lt;end val=&quot;4&quot;/&gt;&lt;/m_yearfmt&gt;&lt;/m_precDefaultYear&gt;&lt;m_precDefaultFYDay&gt;&lt;m_yearfmt&gt;&lt;begin val=&quot;0&quot;/&gt;&lt;end val=&quot;4&quot;/&gt;&lt;/m_yearfmt&gt;&lt;/m_precDefaultFYDay&gt;&lt;m_precDefaultFYWeek&gt;&lt;m_yearfmt&gt;&lt;begin val=&quot;0&quot;/&gt;&lt;end val=&quot;4&quot;/&gt;&lt;/m_yearfmt&gt;&lt;/m_precDefaultFYWeek&gt;&lt;m_precDefaultFYMonth&gt;&lt;m_yearfmt&gt;&lt;begin val=&quot;0&quot;/&gt;&lt;end val=&quot;4&quot;/&gt;&lt;/m_yearfmt&gt;&lt;/m_precDefaultFYMonth&gt;&lt;m_precDefaultFYQuarter&gt;&lt;m_yearfmt&gt;&lt;begin val=&quot;0&quot;/&gt;&lt;end val=&quot;4&quot;/&gt;&lt;/m_yearfmt&gt;&lt;/m_precDefaultFYQuarter&gt;&lt;m_precDefaultFYYear&gt;&lt;m_yearfmt&gt;&lt;begin val=&quot;0&quot;/&gt;&lt;end val=&quot;4&quot;/&gt;&lt;/m_yearfmt&gt;&lt;/m_precDefaultFYYear&gt;&lt;m_mruColor&gt;&lt;m_vecMRU length=&quot;2&quot;&gt;&lt;elem m_fUsage=&quot;4.09510000000000040643E+00&quot;&gt;&lt;m_msothmcolidx val=&quot;0&quot;/&gt;&lt;m_rgb r=&quot;BB&quot; g=&quot;18&quot; b=&quot;45&quot;/&gt;&lt;/elem&gt;&lt;elem m_fUsage=&quot;5.90490000000000181402E-01&quot;&gt;&lt;m_msothmcolidx val=&quot;0&quot;/&gt;&lt;m_rgb r=&quot;F9&quot; g=&quot;4D&quot; b=&quot;2E&quot;/&gt;&lt;/elem&gt;&lt;/m_vecMRU&gt;&lt;/m_mruColor&gt;&lt;m_eweekdayFirstOfWeek val=&quot;1&quot;/&gt;&lt;m_eweekdayFirstOfWorkweek val=&quot;2&quot;/&gt;&lt;m_eweekdayFirstOfWeekend val=&quot;7&quot;/&gt;&lt;/CPresentation&gt;&lt;/root&gt;"/>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ewT53HJ_aGkMMJ3gsvl2IQ"/>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_GV1YL_gTcqtONkWSWw6pA"/>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t85zJiCQxiEtwVChCqJyA"/>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dyjm.J1kRQ.8PofhR2na.g"/>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7FrjR09XQeWQcqAvmORqJg"/>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1Jw_ZGNARmaA8ToKi5ssJw"/>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Jg19lP45RH2VQEDHEGR8kg"/>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PiOql2rHQCK7hePOAMgO2Q"/>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ewT53HJ_aGkMMJ3gsvl2IQ"/>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_GV1YL_gTcqtONkWSWw6pA"/>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t85zJiCQxiEtwVChCqJyA"/>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dyjm.J1kRQ.8PofhR2na.g"/>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7FrjR09XQeWQcqAvmORqJg"/>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1Jw_ZGNARmaA8ToKi5ssJw"/>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Jg19lP45RH2VQEDHEGR8kg"/>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PiOql2rHQCK7hePOAMgO2Q"/>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GBgQofbOZ6752BieUrHCcA"/>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5tpkHbDQgY.Rh1Dfy9R9cQ"/>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OLXO4GXF5CGzB6D81989pA"/>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lN54aLHoRsDujsN4uh32fA"/>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twzvIcgjlDADXdYv46Zczjw"/>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zTkGP0XqatE1_O44_YkmJQ"/>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yjpxPwAt6BARvioGo_Pd5w"/>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FnUwZcIPccges12XDbVGVg"/>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kKEC8B2yKiJXGUx6WB29Xw"/>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NJxqZRJeh.XfGrIPjel9JQ"/>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iIO4aVdq32I_Eotr0dVUWA"/>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cva.XNsxtvcsUpnsJ.SoJA"/>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Mk3H6MFYA4wYzsagHeEwOg"/>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30vEbL08w_xrVPuOAY85Hg"/>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UWXLldJj4f4q0txPpSyk_g"/>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kZzPBGAPP8OpffmZ0xAq7A"/>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t2JSibjRmAypBgcr4zhBOnA"/>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IlC8liNeQprva5TuI6UQZQ"/>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jSAuzSfFvai7aCGAnKI_lw"/>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WdZ9d97fdltMZQWC196sjw"/>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P1cwoDh5aMmgAQTb._BMPQ"/>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tNrCKJyjltr9bfpRhFsmCMA"/>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tNE7d06pxHNnqxiCFyFGExQ"/>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jwHz4i4T7h6fvdHE_by5_w"/>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Ms4tcMT2vER9xb564RG9BA"/>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Z1j9S4D8XpbPW9Hm3lTo1A"/>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xK309SY4CF8.V1J9m6c.uA"/>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t98teSzij9OPVbwapok6IyA"/>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uk8JG5SGyY.1e26UUR3ysw"/>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GybzQXQ_sORcktONuYbERA"/>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Bf1_IIS53sR1l5du6lUW6g"/>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Pek2yGF4X91.QnV.AS2dOQ"/>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GMXJMbGr.p0nV4UUNbVdYg"/>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cuEvwZgekBd71vAS1tTx5g"/>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RXjFwMhwkyfVsdFJ2SfaCA"/>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HY11jDQbAcE.yQqatjO.tg"/>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Csif1_noMSL0kGfO4UQgEw"/>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EmIfRDf_nZlafU9u4FqeMw"/>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9ZmRuOI8rNgPetgU0UM6xw"/>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DhSDALIfxvUn6NT6AyYmwg"/>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_W70Dq3_yu9to8a8eXtyGQ"/>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HHcTqOMVU6y3BdgJihtWBw"/>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lC62yYuqMod9EQ2otqGuTw"/>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0hS5mRnVlXn8UqOEGd0EuQ"/>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tEoi2rLoMMEWptjYE4LKc2g"/>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tpkqN0AKqD97wfgYbaS6Wxg"/>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tG.HQDcKazMt5UnZs1qT.Kw"/>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tuQ1h8W5O.56Ig7xqlO6Dzw"/>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tsrZX0zXKKOPYwS1GrO9J7Q"/>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tvtLgW1Zytoym72Zv8x1sPQ"/>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txskOTFg4rl.ufBrhYC9vnA"/>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tgepr8KHcPbIoLlJf6rHkrQ"/>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t6.wGTpMCNXMWJVDFtI7jEQ"/>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tqoCD5iIZDmQO_Wk37Nxbrg"/>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tYPVbWoW._jemLfloLie63A"/>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tp0Tocbgd3.Wh.tUedQn2lw"/>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tEF0cCV.Z.hH73M4mRBdsIQ"/>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8.xml><?xml version="1.0" encoding="utf-8"?>
<p:tagLst xmlns:a="http://schemas.openxmlformats.org/drawingml/2006/main" xmlns:r="http://schemas.openxmlformats.org/officeDocument/2006/relationships" xmlns:p="http://schemas.openxmlformats.org/presentationml/2006/main">
  <p:tag name="THINKCELLSHAPEDONOTDELETE" val="t3XxAN3kXQWaFhr_yoPV2og"/>
</p:tagLst>
</file>

<file path=ppt/tags/tag129.xml><?xml version="1.0" encoding="utf-8"?>
<p:tagLst xmlns:a="http://schemas.openxmlformats.org/drawingml/2006/main" xmlns:r="http://schemas.openxmlformats.org/officeDocument/2006/relationships" xmlns:p="http://schemas.openxmlformats.org/presentationml/2006/main">
  <p:tag name="THINKCELLSHAPEDONOTDELETE" val="tSe9dyiBCiSHGvGGYqDpuEg"/>
</p:tagLst>
</file>

<file path=ppt/tags/tag130.xml><?xml version="1.0" encoding="utf-8"?>
<p:tagLst xmlns:a="http://schemas.openxmlformats.org/drawingml/2006/main" xmlns:r="http://schemas.openxmlformats.org/officeDocument/2006/relationships" xmlns:p="http://schemas.openxmlformats.org/presentationml/2006/main">
  <p:tag name="THINKCELLSHAPEDONOTDELETE" val="tizPdDbbvXgy2gK_JsKk1XQ"/>
</p:tagLst>
</file>

<file path=ppt/tags/tag131.xml><?xml version="1.0" encoding="utf-8"?>
<p:tagLst xmlns:a="http://schemas.openxmlformats.org/drawingml/2006/main" xmlns:r="http://schemas.openxmlformats.org/officeDocument/2006/relationships" xmlns:p="http://schemas.openxmlformats.org/presentationml/2006/main">
  <p:tag name="THINKCELLSHAPEDONOTDELETE" val="tvVZZsRrGtJbhfEtykHXZ_Q"/>
</p:tagLst>
</file>

<file path=ppt/tags/tag132.xml><?xml version="1.0" encoding="utf-8"?>
<p:tagLst xmlns:a="http://schemas.openxmlformats.org/drawingml/2006/main" xmlns:r="http://schemas.openxmlformats.org/officeDocument/2006/relationships" xmlns:p="http://schemas.openxmlformats.org/presentationml/2006/main">
  <p:tag name="THINKCELLSHAPEDONOTDELETE" val="t8uKvlBYllIr2MbRlVz72EQ"/>
</p:tagLst>
</file>

<file path=ppt/tags/tag133.xml><?xml version="1.0" encoding="utf-8"?>
<p:tagLst xmlns:a="http://schemas.openxmlformats.org/drawingml/2006/main" xmlns:r="http://schemas.openxmlformats.org/officeDocument/2006/relationships" xmlns:p="http://schemas.openxmlformats.org/presentationml/2006/main">
  <p:tag name="THINKCELLSHAPEDONOTDELETE" val="tFulbs89E.CK906NcSqFdKg"/>
</p:tagLst>
</file>

<file path=ppt/tags/tag134.xml><?xml version="1.0" encoding="utf-8"?>
<p:tagLst xmlns:a="http://schemas.openxmlformats.org/drawingml/2006/main" xmlns:r="http://schemas.openxmlformats.org/officeDocument/2006/relationships" xmlns:p="http://schemas.openxmlformats.org/presentationml/2006/main">
  <p:tag name="THINKCELLSHAPEDONOTDELETE" val="thAPwsY0wFmEVDZGRtFReBg"/>
</p:tagLst>
</file>

<file path=ppt/tags/tag135.xml><?xml version="1.0" encoding="utf-8"?>
<p:tagLst xmlns:a="http://schemas.openxmlformats.org/drawingml/2006/main" xmlns:r="http://schemas.openxmlformats.org/officeDocument/2006/relationships" xmlns:p="http://schemas.openxmlformats.org/presentationml/2006/main">
  <p:tag name="THINKCELLSHAPEDONOTDELETE" val="t76AxF1xqYE5rXEnEogsjhg"/>
</p:tagLst>
</file>

<file path=ppt/tags/tag136.xml><?xml version="1.0" encoding="utf-8"?>
<p:tagLst xmlns:a="http://schemas.openxmlformats.org/drawingml/2006/main" xmlns:r="http://schemas.openxmlformats.org/officeDocument/2006/relationships" xmlns:p="http://schemas.openxmlformats.org/presentationml/2006/main">
  <p:tag name="THINKCELLSHAPEDONOTDELETE" val="t0t4ACbJahfVML.Q5Ioj9sA"/>
</p:tagLst>
</file>

<file path=ppt/tags/tag137.xml><?xml version="1.0" encoding="utf-8"?>
<p:tagLst xmlns:a="http://schemas.openxmlformats.org/drawingml/2006/main" xmlns:r="http://schemas.openxmlformats.org/officeDocument/2006/relationships" xmlns:p="http://schemas.openxmlformats.org/presentationml/2006/main">
  <p:tag name="THINKCELLSHAPEDONOTDELETE" val="tre6Ilgc9xWlMcR.UUvZKZw"/>
</p:tagLst>
</file>

<file path=ppt/tags/tag138.xml><?xml version="1.0" encoding="utf-8"?>
<p:tagLst xmlns:a="http://schemas.openxmlformats.org/drawingml/2006/main" xmlns:r="http://schemas.openxmlformats.org/officeDocument/2006/relationships" xmlns:p="http://schemas.openxmlformats.org/presentationml/2006/main">
  <p:tag name="THINKCELLSHAPEDONOTDELETE" val="tpaHzfYtTklwGS9IngR.xYA"/>
</p:tagLst>
</file>

<file path=ppt/tags/tag139.xml><?xml version="1.0" encoding="utf-8"?>
<p:tagLst xmlns:a="http://schemas.openxmlformats.org/drawingml/2006/main" xmlns:r="http://schemas.openxmlformats.org/officeDocument/2006/relationships" xmlns:p="http://schemas.openxmlformats.org/presentationml/2006/main">
  <p:tag name="THINKCELLSHAPEDONOTDELETE" val="t3UWYB86by.grJIi_iHEIpw"/>
</p:tagLst>
</file>

<file path=ppt/tags/tag140.xml><?xml version="1.0" encoding="utf-8"?>
<p:tagLst xmlns:a="http://schemas.openxmlformats.org/drawingml/2006/main" xmlns:r="http://schemas.openxmlformats.org/officeDocument/2006/relationships" xmlns:p="http://schemas.openxmlformats.org/presentationml/2006/main">
  <p:tag name="THINKCELLSHAPEDONOTDELETE" val="tHhyXblcjO43Ulz17HxouYg"/>
</p:tagLst>
</file>

<file path=ppt/tags/tag141.xml><?xml version="1.0" encoding="utf-8"?>
<p:tagLst xmlns:a="http://schemas.openxmlformats.org/drawingml/2006/main" xmlns:r="http://schemas.openxmlformats.org/officeDocument/2006/relationships" xmlns:p="http://schemas.openxmlformats.org/presentationml/2006/main">
  <p:tag name="THINKCELLSHAPEDONOTDELETE" val="tsbD9wto52o6f9b80IcmffQ"/>
</p:tagLst>
</file>

<file path=ppt/tags/tag142.xml><?xml version="1.0" encoding="utf-8"?>
<p:tagLst xmlns:a="http://schemas.openxmlformats.org/drawingml/2006/main" xmlns:r="http://schemas.openxmlformats.org/officeDocument/2006/relationships" xmlns:p="http://schemas.openxmlformats.org/presentationml/2006/main">
  <p:tag name="THINKCELLSHAPEDONOTDELETE" val="taK3KzXSDuxFRDp7VTY531w"/>
</p:tagLst>
</file>

<file path=ppt/tags/tag143.xml><?xml version="1.0" encoding="utf-8"?>
<p:tagLst xmlns:a="http://schemas.openxmlformats.org/drawingml/2006/main" xmlns:r="http://schemas.openxmlformats.org/officeDocument/2006/relationships" xmlns:p="http://schemas.openxmlformats.org/presentationml/2006/main">
  <p:tag name="THINKCELLSHAPEDONOTDELETE" val="t6CneMsJ1Wc7XoHSh9Xo75w"/>
</p:tagLst>
</file>

<file path=ppt/tags/tag144.xml><?xml version="1.0" encoding="utf-8"?>
<p:tagLst xmlns:a="http://schemas.openxmlformats.org/drawingml/2006/main" xmlns:r="http://schemas.openxmlformats.org/officeDocument/2006/relationships" xmlns:p="http://schemas.openxmlformats.org/presentationml/2006/main">
  <p:tag name="THINKCELLSHAPEDONOTDELETE" val="t0zV5.2F5EzwSaRLsZXmZpg"/>
</p:tagLst>
</file>

<file path=ppt/tags/tag145.xml><?xml version="1.0" encoding="utf-8"?>
<p:tagLst xmlns:a="http://schemas.openxmlformats.org/drawingml/2006/main" xmlns:r="http://schemas.openxmlformats.org/officeDocument/2006/relationships" xmlns:p="http://schemas.openxmlformats.org/presentationml/2006/main">
  <p:tag name="THINKCELLSHAPEDONOTDELETE" val="tZRKOxjngCOoDve52mgjrLg"/>
</p:tagLst>
</file>

<file path=ppt/tags/tag146.xml><?xml version="1.0" encoding="utf-8"?>
<p:tagLst xmlns:a="http://schemas.openxmlformats.org/drawingml/2006/main" xmlns:r="http://schemas.openxmlformats.org/officeDocument/2006/relationships" xmlns:p="http://schemas.openxmlformats.org/presentationml/2006/main">
  <p:tag name="THINKCELLSHAPEDONOTDELETE" val="tSFkEybIbD1.Zi6MJI1d5PQ"/>
</p:tagLst>
</file>

<file path=ppt/tags/tag147.xml><?xml version="1.0" encoding="utf-8"?>
<p:tagLst xmlns:a="http://schemas.openxmlformats.org/drawingml/2006/main" xmlns:r="http://schemas.openxmlformats.org/officeDocument/2006/relationships" xmlns:p="http://schemas.openxmlformats.org/presentationml/2006/main">
  <p:tag name="THINKCELLSHAPEDONOTDELETE" val="thMIOOi0R_QoPaEkkJrufjw"/>
</p:tagLst>
</file>

<file path=ppt/tags/tag148.xml><?xml version="1.0" encoding="utf-8"?>
<p:tagLst xmlns:a="http://schemas.openxmlformats.org/drawingml/2006/main" xmlns:r="http://schemas.openxmlformats.org/officeDocument/2006/relationships" xmlns:p="http://schemas.openxmlformats.org/presentationml/2006/main">
  <p:tag name="THINKCELLSHAPEDONOTDELETE" val="tNeBZO7oqukT6ZUqSwfT_XA"/>
</p:tagLst>
</file>

<file path=ppt/tags/tag149.xml><?xml version="1.0" encoding="utf-8"?>
<p:tagLst xmlns:a="http://schemas.openxmlformats.org/drawingml/2006/main" xmlns:r="http://schemas.openxmlformats.org/officeDocument/2006/relationships" xmlns:p="http://schemas.openxmlformats.org/presentationml/2006/main">
  <p:tag name="THINKCELLSHAPEDONOTDELETE" val="t7GyvVAGQ9v.eHB_Ydqaywg"/>
</p:tagLst>
</file>

<file path=ppt/tags/tag150.xml><?xml version="1.0" encoding="utf-8"?>
<p:tagLst xmlns:a="http://schemas.openxmlformats.org/drawingml/2006/main" xmlns:r="http://schemas.openxmlformats.org/officeDocument/2006/relationships" xmlns:p="http://schemas.openxmlformats.org/presentationml/2006/main">
  <p:tag name="THINKCELLSHAPEDONOTDELETE" val="t.mFZpIMMUOCzbyqoqEx0Fw"/>
</p:tagLst>
</file>

<file path=ppt/tags/tag151.xml><?xml version="1.0" encoding="utf-8"?>
<p:tagLst xmlns:a="http://schemas.openxmlformats.org/drawingml/2006/main" xmlns:r="http://schemas.openxmlformats.org/officeDocument/2006/relationships" xmlns:p="http://schemas.openxmlformats.org/presentationml/2006/main">
  <p:tag name="THINKCELLSHAPEDONOTDELETE" val="tzNbyo62qZD8lnrFvGiyDHA"/>
</p:tagLst>
</file>

<file path=ppt/tags/tag152.xml><?xml version="1.0" encoding="utf-8"?>
<p:tagLst xmlns:a="http://schemas.openxmlformats.org/drawingml/2006/main" xmlns:r="http://schemas.openxmlformats.org/officeDocument/2006/relationships" xmlns:p="http://schemas.openxmlformats.org/presentationml/2006/main">
  <p:tag name="THINKCELLSHAPEDONOTDELETE" val="tGrggkgpXZbBA2.9DJeSAvA"/>
</p:tagLst>
</file>

<file path=ppt/tags/tag153.xml><?xml version="1.0" encoding="utf-8"?>
<p:tagLst xmlns:a="http://schemas.openxmlformats.org/drawingml/2006/main" xmlns:r="http://schemas.openxmlformats.org/officeDocument/2006/relationships" xmlns:p="http://schemas.openxmlformats.org/presentationml/2006/main">
  <p:tag name="THINKCELLSHAPEDONOTDELETE" val="t8Jr43YtRBQ_Q_KOicwjfWw"/>
</p:tagLst>
</file>

<file path=ppt/tags/tag154.xml><?xml version="1.0" encoding="utf-8"?>
<p:tagLst xmlns:a="http://schemas.openxmlformats.org/drawingml/2006/main" xmlns:r="http://schemas.openxmlformats.org/officeDocument/2006/relationships" xmlns:p="http://schemas.openxmlformats.org/presentationml/2006/main">
  <p:tag name="THINKCELLSHAPEDONOTDELETE" val="tDYm7pJeQDBnZ.yG35w1DcQ"/>
</p:tagLst>
</file>

<file path=ppt/tags/tag155.xml><?xml version="1.0" encoding="utf-8"?>
<p:tagLst xmlns:a="http://schemas.openxmlformats.org/drawingml/2006/main" xmlns:r="http://schemas.openxmlformats.org/officeDocument/2006/relationships" xmlns:p="http://schemas.openxmlformats.org/presentationml/2006/main">
  <p:tag name="THINKCELLSHAPEDONOTDELETE" val="txbefPFEeeIG2lYiOIZD53Q"/>
</p:tagLst>
</file>

<file path=ppt/tags/tag156.xml><?xml version="1.0" encoding="utf-8"?>
<p:tagLst xmlns:a="http://schemas.openxmlformats.org/drawingml/2006/main" xmlns:r="http://schemas.openxmlformats.org/officeDocument/2006/relationships" xmlns:p="http://schemas.openxmlformats.org/presentationml/2006/main">
  <p:tag name="THINKCELLSHAPEDONOTDELETE" val="tv1iEMpp0Oiy088y8eId4rg"/>
</p:tagLst>
</file>

<file path=ppt/tags/tag157.xml><?xml version="1.0" encoding="utf-8"?>
<p:tagLst xmlns:a="http://schemas.openxmlformats.org/drawingml/2006/main" xmlns:r="http://schemas.openxmlformats.org/officeDocument/2006/relationships" xmlns:p="http://schemas.openxmlformats.org/presentationml/2006/main">
  <p:tag name="THINKCELLSHAPEDONOTDELETE" val="tod942tIxfvWTavdowjN3bQ"/>
</p:tagLst>
</file>

<file path=ppt/tags/tag158.xml><?xml version="1.0" encoding="utf-8"?>
<p:tagLst xmlns:a="http://schemas.openxmlformats.org/drawingml/2006/main" xmlns:r="http://schemas.openxmlformats.org/officeDocument/2006/relationships" xmlns:p="http://schemas.openxmlformats.org/presentationml/2006/main">
  <p:tag name="THINKCELLSHAPEDONOTDELETE" val="trsBc11VcTayDwgAnblOa8w"/>
</p:tagLst>
</file>

<file path=ppt/tags/tag159.xml><?xml version="1.0" encoding="utf-8"?>
<p:tagLst xmlns:a="http://schemas.openxmlformats.org/drawingml/2006/main" xmlns:r="http://schemas.openxmlformats.org/officeDocument/2006/relationships" xmlns:p="http://schemas.openxmlformats.org/presentationml/2006/main">
  <p:tag name="THINKCELLSHAPEDONOTDELETE" val="tQSWDcmzxNr8AjyJQIYgg4A"/>
</p:tagLst>
</file>

<file path=ppt/tags/tag160.xml><?xml version="1.0" encoding="utf-8"?>
<p:tagLst xmlns:a="http://schemas.openxmlformats.org/drawingml/2006/main" xmlns:r="http://schemas.openxmlformats.org/officeDocument/2006/relationships" xmlns:p="http://schemas.openxmlformats.org/presentationml/2006/main">
  <p:tag name="THINKCELLSHAPEDONOTDELETE" val="tOqixWoNXSwTs92hzU0UUfQ"/>
</p:tagLst>
</file>

<file path=ppt/tags/tag1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2.xml><?xml version="1.0" encoding="utf-8"?>
<p:tagLst xmlns:a="http://schemas.openxmlformats.org/drawingml/2006/main" xmlns:r="http://schemas.openxmlformats.org/officeDocument/2006/relationships" xmlns:p="http://schemas.openxmlformats.org/presentationml/2006/main">
  <p:tag name="THINKCELLSHAPEDONOTDELETE" val="tf4oOrO.w2oHuBxIhi0I0kA"/>
</p:tagLst>
</file>

<file path=ppt/tags/tag163.xml><?xml version="1.0" encoding="utf-8"?>
<p:tagLst xmlns:a="http://schemas.openxmlformats.org/drawingml/2006/main" xmlns:r="http://schemas.openxmlformats.org/officeDocument/2006/relationships" xmlns:p="http://schemas.openxmlformats.org/presentationml/2006/main">
  <p:tag name="THINKCELLSHAPEDONOTDELETE" val="t1aaQEVIkLwUimNeoWh317Q"/>
</p:tagLst>
</file>

<file path=ppt/tags/tag164.xml><?xml version="1.0" encoding="utf-8"?>
<p:tagLst xmlns:a="http://schemas.openxmlformats.org/drawingml/2006/main" xmlns:r="http://schemas.openxmlformats.org/officeDocument/2006/relationships" xmlns:p="http://schemas.openxmlformats.org/presentationml/2006/main">
  <p:tag name="THINKCELLSHAPEDONOTDELETE" val="tgJ1jdnMCNxCY5VFW4AqDjA"/>
</p:tagLst>
</file>

<file path=ppt/tags/tag165.xml><?xml version="1.0" encoding="utf-8"?>
<p:tagLst xmlns:a="http://schemas.openxmlformats.org/drawingml/2006/main" xmlns:r="http://schemas.openxmlformats.org/officeDocument/2006/relationships" xmlns:p="http://schemas.openxmlformats.org/presentationml/2006/main">
  <p:tag name="THINKCELLSHAPEDONOTDELETE" val="tXfYh9RESQIrqpg0YFd_lfg"/>
</p:tagLst>
</file>

<file path=ppt/tags/tag166.xml><?xml version="1.0" encoding="utf-8"?>
<p:tagLst xmlns:a="http://schemas.openxmlformats.org/drawingml/2006/main" xmlns:r="http://schemas.openxmlformats.org/officeDocument/2006/relationships" xmlns:p="http://schemas.openxmlformats.org/presentationml/2006/main">
  <p:tag name="THINKCELLSHAPEDONOTDELETE" val="txWccQ.P.k3Zd1qiW7GfDRQ"/>
</p:tagLst>
</file>

<file path=ppt/tags/tag167.xml><?xml version="1.0" encoding="utf-8"?>
<p:tagLst xmlns:a="http://schemas.openxmlformats.org/drawingml/2006/main" xmlns:r="http://schemas.openxmlformats.org/officeDocument/2006/relationships" xmlns:p="http://schemas.openxmlformats.org/presentationml/2006/main">
  <p:tag name="THINKCELLSHAPEDONOTDELETE" val="t587N7Y.XQxqnBCqGVqKj2g"/>
</p:tagLst>
</file>

<file path=ppt/tags/tag168.xml><?xml version="1.0" encoding="utf-8"?>
<p:tagLst xmlns:a="http://schemas.openxmlformats.org/drawingml/2006/main" xmlns:r="http://schemas.openxmlformats.org/officeDocument/2006/relationships" xmlns:p="http://schemas.openxmlformats.org/presentationml/2006/main">
  <p:tag name="THINKCELLSHAPEDONOTDELETE" val="txB8dTR0ptvwBl4x6cKVM8A"/>
</p:tagLst>
</file>

<file path=ppt/tags/tag169.xml><?xml version="1.0" encoding="utf-8"?>
<p:tagLst xmlns:a="http://schemas.openxmlformats.org/drawingml/2006/main" xmlns:r="http://schemas.openxmlformats.org/officeDocument/2006/relationships" xmlns:p="http://schemas.openxmlformats.org/presentationml/2006/main">
  <p:tag name="THINKCELLSHAPEDONOTDELETE" val="tvrV2io0eEbubbKBJgwLpfQ"/>
</p:tagLst>
</file>

<file path=ppt/tags/tag170.xml><?xml version="1.0" encoding="utf-8"?>
<p:tagLst xmlns:a="http://schemas.openxmlformats.org/drawingml/2006/main" xmlns:r="http://schemas.openxmlformats.org/officeDocument/2006/relationships" xmlns:p="http://schemas.openxmlformats.org/presentationml/2006/main">
  <p:tag name="THINKCELLSHAPEDONOTDELETE" val="tgRF77vEwDEkRSYHvbvDICA"/>
</p:tagLst>
</file>

<file path=ppt/tags/tag171.xml><?xml version="1.0" encoding="utf-8"?>
<p:tagLst xmlns:a="http://schemas.openxmlformats.org/drawingml/2006/main" xmlns:r="http://schemas.openxmlformats.org/officeDocument/2006/relationships" xmlns:p="http://schemas.openxmlformats.org/presentationml/2006/main">
  <p:tag name="THINKCELLSHAPEDONOTDELETE" val="tN_Nv.1YU_1YpdF2tSAKBLw"/>
</p:tagLst>
</file>

<file path=ppt/tags/tag172.xml><?xml version="1.0" encoding="utf-8"?>
<p:tagLst xmlns:a="http://schemas.openxmlformats.org/drawingml/2006/main" xmlns:r="http://schemas.openxmlformats.org/officeDocument/2006/relationships" xmlns:p="http://schemas.openxmlformats.org/presentationml/2006/main">
  <p:tag name="THINKCELLSHAPEDONOTDELETE" val="tm1gmzPDyu5e5q4RQZQxq4w"/>
</p:tagLst>
</file>

<file path=ppt/tags/tag173.xml><?xml version="1.0" encoding="utf-8"?>
<p:tagLst xmlns:a="http://schemas.openxmlformats.org/drawingml/2006/main" xmlns:r="http://schemas.openxmlformats.org/officeDocument/2006/relationships" xmlns:p="http://schemas.openxmlformats.org/presentationml/2006/main">
  <p:tag name="THINKCELLSHAPEDONOTDELETE" val="tnijaS9pods_bCswQ7WWASg"/>
</p:tagLst>
</file>

<file path=ppt/tags/tag174.xml><?xml version="1.0" encoding="utf-8"?>
<p:tagLst xmlns:a="http://schemas.openxmlformats.org/drawingml/2006/main" xmlns:r="http://schemas.openxmlformats.org/officeDocument/2006/relationships" xmlns:p="http://schemas.openxmlformats.org/presentationml/2006/main">
  <p:tag name="THINKCELLSHAPEDONOTDELETE" val="tEhu_CpwLUtxtmkOy62.pKA"/>
</p:tagLst>
</file>

<file path=ppt/tags/tag175.xml><?xml version="1.0" encoding="utf-8"?>
<p:tagLst xmlns:a="http://schemas.openxmlformats.org/drawingml/2006/main" xmlns:r="http://schemas.openxmlformats.org/officeDocument/2006/relationships" xmlns:p="http://schemas.openxmlformats.org/presentationml/2006/main">
  <p:tag name="THINKCELLSHAPEDONOTDELETE" val="td8y3VcEhyzWnDhnO_mEDkw"/>
</p:tagLst>
</file>

<file path=ppt/tags/tag176.xml><?xml version="1.0" encoding="utf-8"?>
<p:tagLst xmlns:a="http://schemas.openxmlformats.org/drawingml/2006/main" xmlns:r="http://schemas.openxmlformats.org/officeDocument/2006/relationships" xmlns:p="http://schemas.openxmlformats.org/presentationml/2006/main">
  <p:tag name="THINKCELLSHAPEDONOTDELETE" val="tNKFVrvuhd4yF_T0Fgsn2UQ"/>
</p:tagLst>
</file>

<file path=ppt/tags/tag177.xml><?xml version="1.0" encoding="utf-8"?>
<p:tagLst xmlns:a="http://schemas.openxmlformats.org/drawingml/2006/main" xmlns:r="http://schemas.openxmlformats.org/officeDocument/2006/relationships" xmlns:p="http://schemas.openxmlformats.org/presentationml/2006/main">
  <p:tag name="THINKCELLSHAPEDONOTDELETE" val="tIdLw6KhYrTiyMa6zGT2TYQ"/>
</p:tagLst>
</file>

<file path=ppt/tags/tag178.xml><?xml version="1.0" encoding="utf-8"?>
<p:tagLst xmlns:a="http://schemas.openxmlformats.org/drawingml/2006/main" xmlns:r="http://schemas.openxmlformats.org/officeDocument/2006/relationships" xmlns:p="http://schemas.openxmlformats.org/presentationml/2006/main">
  <p:tag name="THINKCELLSHAPEDONOTDELETE" val="topRTw_cMgismtzBPBOx6SA"/>
</p:tagLst>
</file>

<file path=ppt/tags/tag179.xml><?xml version="1.0" encoding="utf-8"?>
<p:tagLst xmlns:a="http://schemas.openxmlformats.org/drawingml/2006/main" xmlns:r="http://schemas.openxmlformats.org/officeDocument/2006/relationships" xmlns:p="http://schemas.openxmlformats.org/presentationml/2006/main">
  <p:tag name="THINKCELLSHAPEDONOTDELETE" val="tcH.nT8cI9EZ86xa6wwGmfg"/>
</p:tagLst>
</file>

<file path=ppt/tags/tag180.xml><?xml version="1.0" encoding="utf-8"?>
<p:tagLst xmlns:a="http://schemas.openxmlformats.org/drawingml/2006/main" xmlns:r="http://schemas.openxmlformats.org/officeDocument/2006/relationships" xmlns:p="http://schemas.openxmlformats.org/presentationml/2006/main">
  <p:tag name="THINKCELLSHAPEDONOTDELETE" val="tCYH_JmZh_GWt3SMXYiKR3w"/>
</p:tagLst>
</file>

<file path=ppt/tags/tag181.xml><?xml version="1.0" encoding="utf-8"?>
<p:tagLst xmlns:a="http://schemas.openxmlformats.org/drawingml/2006/main" xmlns:r="http://schemas.openxmlformats.org/officeDocument/2006/relationships" xmlns:p="http://schemas.openxmlformats.org/presentationml/2006/main">
  <p:tag name="THINKCELLSHAPEDONOTDELETE" val="tF4VIpgJ4NBQ7Ac1RXV9XaQ"/>
</p:tagLst>
</file>

<file path=ppt/tags/tag182.xml><?xml version="1.0" encoding="utf-8"?>
<p:tagLst xmlns:a="http://schemas.openxmlformats.org/drawingml/2006/main" xmlns:r="http://schemas.openxmlformats.org/officeDocument/2006/relationships" xmlns:p="http://schemas.openxmlformats.org/presentationml/2006/main">
  <p:tag name="THINKCELLSHAPEDONOTDELETE" val="tPEUPb7StLoOeLVw6CE5cGA"/>
</p:tagLst>
</file>

<file path=ppt/tags/tag183.xml><?xml version="1.0" encoding="utf-8"?>
<p:tagLst xmlns:a="http://schemas.openxmlformats.org/drawingml/2006/main" xmlns:r="http://schemas.openxmlformats.org/officeDocument/2006/relationships" xmlns:p="http://schemas.openxmlformats.org/presentationml/2006/main">
  <p:tag name="THINKCELLSHAPEDONOTDELETE" val="trmaCP_w349tkq1cAXutHTA"/>
</p:tagLst>
</file>

<file path=ppt/tags/tag184.xml><?xml version="1.0" encoding="utf-8"?>
<p:tagLst xmlns:a="http://schemas.openxmlformats.org/drawingml/2006/main" xmlns:r="http://schemas.openxmlformats.org/officeDocument/2006/relationships" xmlns:p="http://schemas.openxmlformats.org/presentationml/2006/main">
  <p:tag name="THINKCELLSHAPEDONOTDELETE" val="t1nCN.miHUu28MFcV6Et4iQ"/>
</p:tagLst>
</file>

<file path=ppt/tags/tag185.xml><?xml version="1.0" encoding="utf-8"?>
<p:tagLst xmlns:a="http://schemas.openxmlformats.org/drawingml/2006/main" xmlns:r="http://schemas.openxmlformats.org/officeDocument/2006/relationships" xmlns:p="http://schemas.openxmlformats.org/presentationml/2006/main">
  <p:tag name="THINKCELLSHAPEDONOTDELETE" val="to3gzSQYLhvAMZsEs_4YByg"/>
</p:tagLst>
</file>

<file path=ppt/tags/tag186.xml><?xml version="1.0" encoding="utf-8"?>
<p:tagLst xmlns:a="http://schemas.openxmlformats.org/drawingml/2006/main" xmlns:r="http://schemas.openxmlformats.org/officeDocument/2006/relationships" xmlns:p="http://schemas.openxmlformats.org/presentationml/2006/main">
  <p:tag name="THINKCELLSHAPEDONOTDELETE" val="tbe2kEfHY99O_.0Ovx93hDQ"/>
</p:tagLst>
</file>

<file path=ppt/tags/tag187.xml><?xml version="1.0" encoding="utf-8"?>
<p:tagLst xmlns:a="http://schemas.openxmlformats.org/drawingml/2006/main" xmlns:r="http://schemas.openxmlformats.org/officeDocument/2006/relationships" xmlns:p="http://schemas.openxmlformats.org/presentationml/2006/main">
  <p:tag name="THINKCELLSHAPEDONOTDELETE" val="tIp75u4FtLgrUjFTqhpRoOQ"/>
</p:tagLst>
</file>

<file path=ppt/tags/tag188.xml><?xml version="1.0" encoding="utf-8"?>
<p:tagLst xmlns:a="http://schemas.openxmlformats.org/drawingml/2006/main" xmlns:r="http://schemas.openxmlformats.org/officeDocument/2006/relationships" xmlns:p="http://schemas.openxmlformats.org/presentationml/2006/main">
  <p:tag name="THINKCELLSHAPEDONOTDELETE" val="tdhAQcPWLL5Db2Q0cp0L0yA"/>
</p:tagLst>
</file>

<file path=ppt/tags/tag189.xml><?xml version="1.0" encoding="utf-8"?>
<p:tagLst xmlns:a="http://schemas.openxmlformats.org/drawingml/2006/main" xmlns:r="http://schemas.openxmlformats.org/officeDocument/2006/relationships" xmlns:p="http://schemas.openxmlformats.org/presentationml/2006/main">
  <p:tag name="THINKCELLSHAPEDONOTDELETE" val="t48R8M2UCiQHpGiFVk7nOSQ"/>
</p:tagLst>
</file>

<file path=ppt/tags/tag190.xml><?xml version="1.0" encoding="utf-8"?>
<p:tagLst xmlns:a="http://schemas.openxmlformats.org/drawingml/2006/main" xmlns:r="http://schemas.openxmlformats.org/officeDocument/2006/relationships" xmlns:p="http://schemas.openxmlformats.org/presentationml/2006/main">
  <p:tag name="THINKCELLSHAPEDONOTDELETE" val="tAV50BaBePJNFTZmf2EmaMQ"/>
</p:tagLst>
</file>

<file path=ppt/tags/tag191.xml><?xml version="1.0" encoding="utf-8"?>
<p:tagLst xmlns:a="http://schemas.openxmlformats.org/drawingml/2006/main" xmlns:r="http://schemas.openxmlformats.org/officeDocument/2006/relationships" xmlns:p="http://schemas.openxmlformats.org/presentationml/2006/main">
  <p:tag name="THINKCELLSHAPEDONOTDELETE" val="tSmOqi9uyMqAg.FaSX222EA"/>
</p:tagLst>
</file>

<file path=ppt/tags/tag192.xml><?xml version="1.0" encoding="utf-8"?>
<p:tagLst xmlns:a="http://schemas.openxmlformats.org/drawingml/2006/main" xmlns:r="http://schemas.openxmlformats.org/officeDocument/2006/relationships" xmlns:p="http://schemas.openxmlformats.org/presentationml/2006/main">
  <p:tag name="THINKCELLSHAPEDONOTDELETE" val="trZ9cYPoRl7eV0FWgTc2Jeg"/>
</p:tagLst>
</file>

<file path=ppt/tags/tag193.xml><?xml version="1.0" encoding="utf-8"?>
<p:tagLst xmlns:a="http://schemas.openxmlformats.org/drawingml/2006/main" xmlns:r="http://schemas.openxmlformats.org/officeDocument/2006/relationships" xmlns:p="http://schemas.openxmlformats.org/presentationml/2006/main">
  <p:tag name="THINKCELLSHAPEDONOTDELETE" val="tu3Th5ry9R.oX7RMmhPhoug"/>
</p:tagLst>
</file>

<file path=ppt/tags/tag194.xml><?xml version="1.0" encoding="utf-8"?>
<p:tagLst xmlns:a="http://schemas.openxmlformats.org/drawingml/2006/main" xmlns:r="http://schemas.openxmlformats.org/officeDocument/2006/relationships" xmlns:p="http://schemas.openxmlformats.org/presentationml/2006/main">
  <p:tag name="THINKCELLSHAPEDONOTDELETE" val="tPhDLqOsAsPq4wauWhLqsyw"/>
</p:tagLst>
</file>

<file path=ppt/tags/tag195.xml><?xml version="1.0" encoding="utf-8"?>
<p:tagLst xmlns:a="http://schemas.openxmlformats.org/drawingml/2006/main" xmlns:r="http://schemas.openxmlformats.org/officeDocument/2006/relationships" xmlns:p="http://schemas.openxmlformats.org/presentationml/2006/main">
  <p:tag name="THINKCELLSHAPEDONOTDELETE" val="tlu1Dpg_7Jo1ztHfsbtpG_Q"/>
</p:tagLst>
</file>

<file path=ppt/tags/tag196.xml><?xml version="1.0" encoding="utf-8"?>
<p:tagLst xmlns:a="http://schemas.openxmlformats.org/drawingml/2006/main" xmlns:r="http://schemas.openxmlformats.org/officeDocument/2006/relationships" xmlns:p="http://schemas.openxmlformats.org/presentationml/2006/main">
  <p:tag name="THINKCELLSHAPEDONOTDELETE" val="tla4hOOBA1WO0lEUXxPJYKw"/>
</p:tagLst>
</file>

<file path=ppt/tags/tag197.xml><?xml version="1.0" encoding="utf-8"?>
<p:tagLst xmlns:a="http://schemas.openxmlformats.org/drawingml/2006/main" xmlns:r="http://schemas.openxmlformats.org/officeDocument/2006/relationships" xmlns:p="http://schemas.openxmlformats.org/presentationml/2006/main">
  <p:tag name="THINKCELLSHAPEDONOTDELETE" val="tRr9Otc3sZd12vB7YbmllJw"/>
</p:tagLst>
</file>

<file path=ppt/tags/tag198.xml><?xml version="1.0" encoding="utf-8"?>
<p:tagLst xmlns:a="http://schemas.openxmlformats.org/drawingml/2006/main" xmlns:r="http://schemas.openxmlformats.org/officeDocument/2006/relationships" xmlns:p="http://schemas.openxmlformats.org/presentationml/2006/main">
  <p:tag name="THINKCELLSHAPEDONOTDELETE" val="totrSPzl1aiz6DRs4C4yrSA"/>
</p:tagLst>
</file>

<file path=ppt/tags/tag199.xml><?xml version="1.0" encoding="utf-8"?>
<p:tagLst xmlns:a="http://schemas.openxmlformats.org/drawingml/2006/main" xmlns:r="http://schemas.openxmlformats.org/officeDocument/2006/relationships" xmlns:p="http://schemas.openxmlformats.org/presentationml/2006/main">
  <p:tag name="THINKCELLSHAPEDONOTDELETE" val="tGJ08Tv7fQr3S6PQ_zx6Wdw"/>
</p:tagLst>
</file>

<file path=ppt/tags/tag200.xml><?xml version="1.0" encoding="utf-8"?>
<p:tagLst xmlns:a="http://schemas.openxmlformats.org/drawingml/2006/main" xmlns:r="http://schemas.openxmlformats.org/officeDocument/2006/relationships" xmlns:p="http://schemas.openxmlformats.org/presentationml/2006/main">
  <p:tag name="THINKCELLSHAPEDONOTDELETE" val="twNdZb6IReGawvi2RpBAKIw"/>
</p:tagLst>
</file>

<file path=ppt/tags/tag201.xml><?xml version="1.0" encoding="utf-8"?>
<p:tagLst xmlns:a="http://schemas.openxmlformats.org/drawingml/2006/main" xmlns:r="http://schemas.openxmlformats.org/officeDocument/2006/relationships" xmlns:p="http://schemas.openxmlformats.org/presentationml/2006/main">
  <p:tag name="THINKCELLSHAPEDONOTDELETE" val="tR.0nSS.5.XDxuIvPMFwLIg"/>
</p:tagLst>
</file>

<file path=ppt/tags/tag202.xml><?xml version="1.0" encoding="utf-8"?>
<p:tagLst xmlns:a="http://schemas.openxmlformats.org/drawingml/2006/main" xmlns:r="http://schemas.openxmlformats.org/officeDocument/2006/relationships" xmlns:p="http://schemas.openxmlformats.org/presentationml/2006/main">
  <p:tag name="THINKCELLSHAPEDONOTDELETE" val="tF9KvQeffiuQAfr1sUHdgTg"/>
</p:tagLst>
</file>

<file path=ppt/tags/tag203.xml><?xml version="1.0" encoding="utf-8"?>
<p:tagLst xmlns:a="http://schemas.openxmlformats.org/drawingml/2006/main" xmlns:r="http://schemas.openxmlformats.org/officeDocument/2006/relationships" xmlns:p="http://schemas.openxmlformats.org/presentationml/2006/main">
  <p:tag name="THINKCELLSHAPEDONOTDELETE" val="tY.HnNTBt8g5XbLCBYJkn4Q"/>
</p:tagLst>
</file>

<file path=ppt/tags/tag204.xml><?xml version="1.0" encoding="utf-8"?>
<p:tagLst xmlns:a="http://schemas.openxmlformats.org/drawingml/2006/main" xmlns:r="http://schemas.openxmlformats.org/officeDocument/2006/relationships" xmlns:p="http://schemas.openxmlformats.org/presentationml/2006/main">
  <p:tag name="THINKCELLSHAPEDONOTDELETE" val="t0TiKvA0G_R4pwr_GNvg_5w"/>
</p:tagLst>
</file>

<file path=ppt/tags/tag205.xml><?xml version="1.0" encoding="utf-8"?>
<p:tagLst xmlns:a="http://schemas.openxmlformats.org/drawingml/2006/main" xmlns:r="http://schemas.openxmlformats.org/officeDocument/2006/relationships" xmlns:p="http://schemas.openxmlformats.org/presentationml/2006/main">
  <p:tag name="THINKCELLSHAPEDONOTDELETE" val="t2kfZIdPDb86s1Y9qlDfLjw"/>
</p:tagLst>
</file>

<file path=ppt/tags/tag206.xml><?xml version="1.0" encoding="utf-8"?>
<p:tagLst xmlns:a="http://schemas.openxmlformats.org/drawingml/2006/main" xmlns:r="http://schemas.openxmlformats.org/officeDocument/2006/relationships" xmlns:p="http://schemas.openxmlformats.org/presentationml/2006/main">
  <p:tag name="THINKCELLSHAPEDONOTDELETE" val="tVASy8Bn_pBx8SE5UexAo4g"/>
</p:tagLst>
</file>

<file path=ppt/tags/tag207.xml><?xml version="1.0" encoding="utf-8"?>
<p:tagLst xmlns:a="http://schemas.openxmlformats.org/drawingml/2006/main" xmlns:r="http://schemas.openxmlformats.org/officeDocument/2006/relationships" xmlns:p="http://schemas.openxmlformats.org/presentationml/2006/main">
  <p:tag name="THINKCELLSHAPEDONOTDELETE" val="tfuZVBWWu85XkjNbxSjodZg"/>
</p:tagLst>
</file>

<file path=ppt/tags/tag208.xml><?xml version="1.0" encoding="utf-8"?>
<p:tagLst xmlns:a="http://schemas.openxmlformats.org/drawingml/2006/main" xmlns:r="http://schemas.openxmlformats.org/officeDocument/2006/relationships" xmlns:p="http://schemas.openxmlformats.org/presentationml/2006/main">
  <p:tag name="THINKCELLSHAPEDONOTDELETE" val="tUINqg2N3RmmDRC0n.WAxnA"/>
</p:tagLst>
</file>

<file path=ppt/tags/tag209.xml><?xml version="1.0" encoding="utf-8"?>
<p:tagLst xmlns:a="http://schemas.openxmlformats.org/drawingml/2006/main" xmlns:r="http://schemas.openxmlformats.org/officeDocument/2006/relationships" xmlns:p="http://schemas.openxmlformats.org/presentationml/2006/main">
  <p:tag name="THINKCELLSHAPEDONOTDELETE" val="tDNkkpu5_rK3Ny2NdmIy0iw"/>
</p:tagLst>
</file>

<file path=ppt/tags/tag210.xml><?xml version="1.0" encoding="utf-8"?>
<p:tagLst xmlns:a="http://schemas.openxmlformats.org/drawingml/2006/main" xmlns:r="http://schemas.openxmlformats.org/officeDocument/2006/relationships" xmlns:p="http://schemas.openxmlformats.org/presentationml/2006/main">
  <p:tag name="THINKCELLSHAPEDONOTDELETE" val="tZtfOIQBkpZrDh0bdWffNHA"/>
</p:tagLst>
</file>

<file path=ppt/tags/tag211.xml><?xml version="1.0" encoding="utf-8"?>
<p:tagLst xmlns:a="http://schemas.openxmlformats.org/drawingml/2006/main" xmlns:r="http://schemas.openxmlformats.org/officeDocument/2006/relationships" xmlns:p="http://schemas.openxmlformats.org/presentationml/2006/main">
  <p:tag name="THINKCELLSHAPEDONOTDELETE" val="t3_nv.uH851dNN6qOrHyMCg"/>
</p:tagLst>
</file>

<file path=ppt/tags/tag212.xml><?xml version="1.0" encoding="utf-8"?>
<p:tagLst xmlns:a="http://schemas.openxmlformats.org/drawingml/2006/main" xmlns:r="http://schemas.openxmlformats.org/officeDocument/2006/relationships" xmlns:p="http://schemas.openxmlformats.org/presentationml/2006/main">
  <p:tag name="THINKCELLSHAPEDONOTDELETE" val="tveO7102AJF0aywWOcEkYkA"/>
</p:tagLst>
</file>

<file path=ppt/tags/tag213.xml><?xml version="1.0" encoding="utf-8"?>
<p:tagLst xmlns:a="http://schemas.openxmlformats.org/drawingml/2006/main" xmlns:r="http://schemas.openxmlformats.org/officeDocument/2006/relationships" xmlns:p="http://schemas.openxmlformats.org/presentationml/2006/main">
  <p:tag name="THINKCELLSHAPEDONOTDELETE" val="tADEaglRHOTMksIJ6AcT4Pw"/>
</p:tagLst>
</file>

<file path=ppt/tags/tag214.xml><?xml version="1.0" encoding="utf-8"?>
<p:tagLst xmlns:a="http://schemas.openxmlformats.org/drawingml/2006/main" xmlns:r="http://schemas.openxmlformats.org/officeDocument/2006/relationships" xmlns:p="http://schemas.openxmlformats.org/presentationml/2006/main">
  <p:tag name="THINKCELLSHAPEDONOTDELETE" val="tg5L_hTVgT1v2Cg3cmQZf3g"/>
</p:tagLst>
</file>

<file path=ppt/tags/tag2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6.xml><?xml version="1.0" encoding="utf-8"?>
<p:tagLst xmlns:a="http://schemas.openxmlformats.org/drawingml/2006/main" xmlns:r="http://schemas.openxmlformats.org/officeDocument/2006/relationships" xmlns:p="http://schemas.openxmlformats.org/presentationml/2006/main">
  <p:tag name="THINKCELLSHAPEDONOTDELETE" val="tIsb._HL9Sw0jE2ZnrbVYUw"/>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hwQU36GhZGtemZA.zGX32g"/>
</p:tagLst>
</file>

<file path=ppt/tags/tag218.xml><?xml version="1.0" encoding="utf-8"?>
<p:tagLst xmlns:a="http://schemas.openxmlformats.org/drawingml/2006/main" xmlns:r="http://schemas.openxmlformats.org/officeDocument/2006/relationships" xmlns:p="http://schemas.openxmlformats.org/presentationml/2006/main">
  <p:tag name="THINKCELLSHAPEDONOTDELETE" val="tjeB_L1pkI8b1JenBIcSDig"/>
</p:tagLst>
</file>

<file path=ppt/tags/tag219.xml><?xml version="1.0" encoding="utf-8"?>
<p:tagLst xmlns:a="http://schemas.openxmlformats.org/drawingml/2006/main" xmlns:r="http://schemas.openxmlformats.org/officeDocument/2006/relationships" xmlns:p="http://schemas.openxmlformats.org/presentationml/2006/main">
  <p:tag name="THINKCELLSHAPEDONOTDELETE" val="t9rPSFql0byIRgFpiLklrPw"/>
</p:tagLst>
</file>

<file path=ppt/tags/tag220.xml><?xml version="1.0" encoding="utf-8"?>
<p:tagLst xmlns:a="http://schemas.openxmlformats.org/drawingml/2006/main" xmlns:r="http://schemas.openxmlformats.org/officeDocument/2006/relationships" xmlns:p="http://schemas.openxmlformats.org/presentationml/2006/main">
  <p:tag name="THINKCELLSHAPEDONOTDELETE" val="t80xDB.jZF4ZyIcH6o4y1Kw"/>
</p:tagLst>
</file>

<file path=ppt/tags/tag221.xml><?xml version="1.0" encoding="utf-8"?>
<p:tagLst xmlns:a="http://schemas.openxmlformats.org/drawingml/2006/main" xmlns:r="http://schemas.openxmlformats.org/officeDocument/2006/relationships" xmlns:p="http://schemas.openxmlformats.org/presentationml/2006/main">
  <p:tag name="THINKCELLSHAPEDONOTDELETE" val="tj_XiLefZlQ_8TDwg3Hk2wA"/>
</p:tagLst>
</file>

<file path=ppt/tags/tag222.xml><?xml version="1.0" encoding="utf-8"?>
<p:tagLst xmlns:a="http://schemas.openxmlformats.org/drawingml/2006/main" xmlns:r="http://schemas.openxmlformats.org/officeDocument/2006/relationships" xmlns:p="http://schemas.openxmlformats.org/presentationml/2006/main">
  <p:tag name="THINKCELLSHAPEDONOTDELETE" val="tu6T_zRn9jU4XMF4E60bD0g"/>
</p:tagLst>
</file>

<file path=ppt/tags/tag223.xml><?xml version="1.0" encoding="utf-8"?>
<p:tagLst xmlns:a="http://schemas.openxmlformats.org/drawingml/2006/main" xmlns:r="http://schemas.openxmlformats.org/officeDocument/2006/relationships" xmlns:p="http://schemas.openxmlformats.org/presentationml/2006/main">
  <p:tag name="THINKCELLSHAPEDONOTDELETE" val="tkLhzXCRiWZRW5nC5OOkAfA"/>
</p:tagLst>
</file>

<file path=ppt/tags/tag224.xml><?xml version="1.0" encoding="utf-8"?>
<p:tagLst xmlns:a="http://schemas.openxmlformats.org/drawingml/2006/main" xmlns:r="http://schemas.openxmlformats.org/officeDocument/2006/relationships" xmlns:p="http://schemas.openxmlformats.org/presentationml/2006/main">
  <p:tag name="THINKCELLSHAPEDONOTDELETE" val="tdYAc5_00EdsPtJ6rdX.e1w"/>
</p:tagLst>
</file>

<file path=ppt/tags/tag225.xml><?xml version="1.0" encoding="utf-8"?>
<p:tagLst xmlns:a="http://schemas.openxmlformats.org/drawingml/2006/main" xmlns:r="http://schemas.openxmlformats.org/officeDocument/2006/relationships" xmlns:p="http://schemas.openxmlformats.org/presentationml/2006/main">
  <p:tag name="THINKCELLSHAPEDONOTDELETE" val="t3VDzBOQ_BBJN2d6r4g2b3w"/>
</p:tagLst>
</file>

<file path=ppt/tags/tag226.xml><?xml version="1.0" encoding="utf-8"?>
<p:tagLst xmlns:a="http://schemas.openxmlformats.org/drawingml/2006/main" xmlns:r="http://schemas.openxmlformats.org/officeDocument/2006/relationships" xmlns:p="http://schemas.openxmlformats.org/presentationml/2006/main">
  <p:tag name="THINKCELLSHAPEDONOTDELETE" val="tAi6wG2iss3N_WQjgSc2WvA"/>
</p:tagLst>
</file>

<file path=ppt/tags/tag227.xml><?xml version="1.0" encoding="utf-8"?>
<p:tagLst xmlns:a="http://schemas.openxmlformats.org/drawingml/2006/main" xmlns:r="http://schemas.openxmlformats.org/officeDocument/2006/relationships" xmlns:p="http://schemas.openxmlformats.org/presentationml/2006/main">
  <p:tag name="THINKCELLSHAPEDONOTDELETE" val="tRLKikv9Dcq.cc8oJ29LQfg"/>
</p:tagLst>
</file>

<file path=ppt/tags/tag228.xml><?xml version="1.0" encoding="utf-8"?>
<p:tagLst xmlns:a="http://schemas.openxmlformats.org/drawingml/2006/main" xmlns:r="http://schemas.openxmlformats.org/officeDocument/2006/relationships" xmlns:p="http://schemas.openxmlformats.org/presentationml/2006/main">
  <p:tag name="THINKCELLSHAPEDONOTDELETE" val="tXa.1TBBW4aTJNq.Szx7LSw"/>
</p:tagLst>
</file>

<file path=ppt/tags/tag229.xml><?xml version="1.0" encoding="utf-8"?>
<p:tagLst xmlns:a="http://schemas.openxmlformats.org/drawingml/2006/main" xmlns:r="http://schemas.openxmlformats.org/officeDocument/2006/relationships" xmlns:p="http://schemas.openxmlformats.org/presentationml/2006/main">
  <p:tag name="THINKCELLSHAPEDONOTDELETE" val="tMmMR9TedtZ5F_UhyCQtavw"/>
</p:tagLst>
</file>

<file path=ppt/tags/tag230.xml><?xml version="1.0" encoding="utf-8"?>
<p:tagLst xmlns:a="http://schemas.openxmlformats.org/drawingml/2006/main" xmlns:r="http://schemas.openxmlformats.org/officeDocument/2006/relationships" xmlns:p="http://schemas.openxmlformats.org/presentationml/2006/main">
  <p:tag name="THINKCELLSHAPEDONOTDELETE" val="tmruZuBagyU3qNLQxQo_nzA"/>
</p:tagLst>
</file>

<file path=ppt/tags/tag231.xml><?xml version="1.0" encoding="utf-8"?>
<p:tagLst xmlns:a="http://schemas.openxmlformats.org/drawingml/2006/main" xmlns:r="http://schemas.openxmlformats.org/officeDocument/2006/relationships" xmlns:p="http://schemas.openxmlformats.org/presentationml/2006/main">
  <p:tag name="THINKCELLSHAPEDONOTDELETE" val="tS3II97v1E4vosCeNewrt8Q"/>
</p:tagLst>
</file>

<file path=ppt/tags/tag232.xml><?xml version="1.0" encoding="utf-8"?>
<p:tagLst xmlns:a="http://schemas.openxmlformats.org/drawingml/2006/main" xmlns:r="http://schemas.openxmlformats.org/officeDocument/2006/relationships" xmlns:p="http://schemas.openxmlformats.org/presentationml/2006/main">
  <p:tag name="THINKCELLSHAPEDONOTDELETE" val="tP7cPKyMkQs4wFbkBr9wCZQ"/>
</p:tagLst>
</file>

<file path=ppt/tags/tag233.xml><?xml version="1.0" encoding="utf-8"?>
<p:tagLst xmlns:a="http://schemas.openxmlformats.org/drawingml/2006/main" xmlns:r="http://schemas.openxmlformats.org/officeDocument/2006/relationships" xmlns:p="http://schemas.openxmlformats.org/presentationml/2006/main">
  <p:tag name="THINKCELLSHAPEDONOTDELETE" val="tGZqcXsXM4Vz6IaIPIhWC7A"/>
</p:tagLst>
</file>

<file path=ppt/tags/tag234.xml><?xml version="1.0" encoding="utf-8"?>
<p:tagLst xmlns:a="http://schemas.openxmlformats.org/drawingml/2006/main" xmlns:r="http://schemas.openxmlformats.org/officeDocument/2006/relationships" xmlns:p="http://schemas.openxmlformats.org/presentationml/2006/main">
  <p:tag name="THINKCELLSHAPEDONOTDELETE" val="tt5qtqv13AlxKSw56duG3Qw"/>
</p:tagLst>
</file>

<file path=ppt/tags/tag235.xml><?xml version="1.0" encoding="utf-8"?>
<p:tagLst xmlns:a="http://schemas.openxmlformats.org/drawingml/2006/main" xmlns:r="http://schemas.openxmlformats.org/officeDocument/2006/relationships" xmlns:p="http://schemas.openxmlformats.org/presentationml/2006/main">
  <p:tag name="THINKCELLSHAPEDONOTDELETE" val="tJUnXYAfpLG2FrAncEsT5ag"/>
</p:tagLst>
</file>

<file path=ppt/tags/tag236.xml><?xml version="1.0" encoding="utf-8"?>
<p:tagLst xmlns:a="http://schemas.openxmlformats.org/drawingml/2006/main" xmlns:r="http://schemas.openxmlformats.org/officeDocument/2006/relationships" xmlns:p="http://schemas.openxmlformats.org/presentationml/2006/main">
  <p:tag name="THINKCELLSHAPEDONOTDELETE" val="txhbUenTrk5Hp4GS1cbE6xQ"/>
</p:tagLst>
</file>

<file path=ppt/tags/tag237.xml><?xml version="1.0" encoding="utf-8"?>
<p:tagLst xmlns:a="http://schemas.openxmlformats.org/drawingml/2006/main" xmlns:r="http://schemas.openxmlformats.org/officeDocument/2006/relationships" xmlns:p="http://schemas.openxmlformats.org/presentationml/2006/main">
  <p:tag name="THINKCELLSHAPEDONOTDELETE" val="tL2fa4sbMmCmA9Od5.CObxA"/>
</p:tagLst>
</file>

<file path=ppt/tags/tag238.xml><?xml version="1.0" encoding="utf-8"?>
<p:tagLst xmlns:a="http://schemas.openxmlformats.org/drawingml/2006/main" xmlns:r="http://schemas.openxmlformats.org/officeDocument/2006/relationships" xmlns:p="http://schemas.openxmlformats.org/presentationml/2006/main">
  <p:tag name="THINKCELLSHAPEDONOTDELETE" val="t77OOqcDGCjpi8DpJkR16hA"/>
</p:tagLst>
</file>

<file path=ppt/tags/tag239.xml><?xml version="1.0" encoding="utf-8"?>
<p:tagLst xmlns:a="http://schemas.openxmlformats.org/drawingml/2006/main" xmlns:r="http://schemas.openxmlformats.org/officeDocument/2006/relationships" xmlns:p="http://schemas.openxmlformats.org/presentationml/2006/main">
  <p:tag name="THINKCELLSHAPEDONOTDELETE" val="tXogfTFwS_pdE1lwjKVCUKQ"/>
</p:tagLst>
</file>

<file path=ppt/tags/tag240.xml><?xml version="1.0" encoding="utf-8"?>
<p:tagLst xmlns:a="http://schemas.openxmlformats.org/drawingml/2006/main" xmlns:r="http://schemas.openxmlformats.org/officeDocument/2006/relationships" xmlns:p="http://schemas.openxmlformats.org/presentationml/2006/main">
  <p:tag name="THINKCELLSHAPEDONOTDELETE" val="tupO9Ra5jdzDUQN9n_3fIoQ"/>
</p:tagLst>
</file>

<file path=ppt/tags/tag241.xml><?xml version="1.0" encoding="utf-8"?>
<p:tagLst xmlns:a="http://schemas.openxmlformats.org/drawingml/2006/main" xmlns:r="http://schemas.openxmlformats.org/officeDocument/2006/relationships" xmlns:p="http://schemas.openxmlformats.org/presentationml/2006/main">
  <p:tag name="THINKCELLSHAPEDONOTDELETE" val="tUqBgQk.G9wKMg6XBozzRBQ"/>
</p:tagLst>
</file>

<file path=ppt/tags/tag242.xml><?xml version="1.0" encoding="utf-8"?>
<p:tagLst xmlns:a="http://schemas.openxmlformats.org/drawingml/2006/main" xmlns:r="http://schemas.openxmlformats.org/officeDocument/2006/relationships" xmlns:p="http://schemas.openxmlformats.org/presentationml/2006/main">
  <p:tag name="THINKCELLSHAPEDONOTDELETE" val="tjDUXPoGkT37tSdG16jWVwA"/>
</p:tagLst>
</file>

<file path=ppt/tags/tag243.xml><?xml version="1.0" encoding="utf-8"?>
<p:tagLst xmlns:a="http://schemas.openxmlformats.org/drawingml/2006/main" xmlns:r="http://schemas.openxmlformats.org/officeDocument/2006/relationships" xmlns:p="http://schemas.openxmlformats.org/presentationml/2006/main">
  <p:tag name="THINKCELLSHAPEDONOTDELETE" val="txcNYGGMN9uUKD19pHAILEA"/>
</p:tagLst>
</file>

<file path=ppt/tags/tag244.xml><?xml version="1.0" encoding="utf-8"?>
<p:tagLst xmlns:a="http://schemas.openxmlformats.org/drawingml/2006/main" xmlns:r="http://schemas.openxmlformats.org/officeDocument/2006/relationships" xmlns:p="http://schemas.openxmlformats.org/presentationml/2006/main">
  <p:tag name="THINKCELLSHAPEDONOTDELETE" val="t8Semz_woSVZBfURR4A_QDg"/>
</p:tagLst>
</file>

<file path=ppt/tags/tag245.xml><?xml version="1.0" encoding="utf-8"?>
<p:tagLst xmlns:a="http://schemas.openxmlformats.org/drawingml/2006/main" xmlns:r="http://schemas.openxmlformats.org/officeDocument/2006/relationships" xmlns:p="http://schemas.openxmlformats.org/presentationml/2006/main">
  <p:tag name="THINKCELLSHAPEDONOTDELETE" val="tce1es.un8VKvLzqAIa.5xQ"/>
</p:tagLst>
</file>

<file path=ppt/tags/tag246.xml><?xml version="1.0" encoding="utf-8"?>
<p:tagLst xmlns:a="http://schemas.openxmlformats.org/drawingml/2006/main" xmlns:r="http://schemas.openxmlformats.org/officeDocument/2006/relationships" xmlns:p="http://schemas.openxmlformats.org/presentationml/2006/main">
  <p:tag name="THINKCELLSHAPEDONOTDELETE" val="t8JscaFjz9latwHdzmHkqpg"/>
</p:tagLst>
</file>

<file path=ppt/tags/tag247.xml><?xml version="1.0" encoding="utf-8"?>
<p:tagLst xmlns:a="http://schemas.openxmlformats.org/drawingml/2006/main" xmlns:r="http://schemas.openxmlformats.org/officeDocument/2006/relationships" xmlns:p="http://schemas.openxmlformats.org/presentationml/2006/main">
  <p:tag name="THINKCELLSHAPEDONOTDELETE" val="tV_lZoC4oioXSE4OkjPeGoA"/>
</p:tagLst>
</file>

<file path=ppt/tags/tag248.xml><?xml version="1.0" encoding="utf-8"?>
<p:tagLst xmlns:a="http://schemas.openxmlformats.org/drawingml/2006/main" xmlns:r="http://schemas.openxmlformats.org/officeDocument/2006/relationships" xmlns:p="http://schemas.openxmlformats.org/presentationml/2006/main">
  <p:tag name="THINKCELLSHAPEDONOTDELETE" val="tWTVZGPEKhxz6M6lCnSlHNA"/>
</p:tagLst>
</file>

<file path=ppt/tags/tag249.xml><?xml version="1.0" encoding="utf-8"?>
<p:tagLst xmlns:a="http://schemas.openxmlformats.org/drawingml/2006/main" xmlns:r="http://schemas.openxmlformats.org/officeDocument/2006/relationships" xmlns:p="http://schemas.openxmlformats.org/presentationml/2006/main">
  <p:tag name="THINKCELLSHAPEDONOTDELETE" val="tE3uQgOZc83ngtHo._SiGpg"/>
</p:tagLst>
</file>

<file path=ppt/tags/tag250.xml><?xml version="1.0" encoding="utf-8"?>
<p:tagLst xmlns:a="http://schemas.openxmlformats.org/drawingml/2006/main" xmlns:r="http://schemas.openxmlformats.org/officeDocument/2006/relationships" xmlns:p="http://schemas.openxmlformats.org/presentationml/2006/main">
  <p:tag name="THINKCELLSHAPEDONOTDELETE" val="t4hZFmuCS7S6wae4NYME1AQ"/>
</p:tagLst>
</file>

<file path=ppt/tags/tag251.xml><?xml version="1.0" encoding="utf-8"?>
<p:tagLst xmlns:a="http://schemas.openxmlformats.org/drawingml/2006/main" xmlns:r="http://schemas.openxmlformats.org/officeDocument/2006/relationships" xmlns:p="http://schemas.openxmlformats.org/presentationml/2006/main">
  <p:tag name="THINKCELLSHAPEDONOTDELETE" val="tuxoUI6HV6pQsgOjtmgGRFg"/>
</p:tagLst>
</file>

<file path=ppt/tags/tag252.xml><?xml version="1.0" encoding="utf-8"?>
<p:tagLst xmlns:a="http://schemas.openxmlformats.org/drawingml/2006/main" xmlns:r="http://schemas.openxmlformats.org/officeDocument/2006/relationships" xmlns:p="http://schemas.openxmlformats.org/presentationml/2006/main">
  <p:tag name="THINKCELLSHAPEDONOTDELETE" val="tOdOVhFfNP26MNZCW0yZ0jg"/>
</p:tagLst>
</file>

<file path=ppt/tags/tag253.xml><?xml version="1.0" encoding="utf-8"?>
<p:tagLst xmlns:a="http://schemas.openxmlformats.org/drawingml/2006/main" xmlns:r="http://schemas.openxmlformats.org/officeDocument/2006/relationships" xmlns:p="http://schemas.openxmlformats.org/presentationml/2006/main">
  <p:tag name="THINKCELLSHAPEDONOTDELETE" val="tybauVicWHsiunydOO3gjng"/>
</p:tagLst>
</file>

<file path=ppt/tags/tag254.xml><?xml version="1.0" encoding="utf-8"?>
<p:tagLst xmlns:a="http://schemas.openxmlformats.org/drawingml/2006/main" xmlns:r="http://schemas.openxmlformats.org/officeDocument/2006/relationships" xmlns:p="http://schemas.openxmlformats.org/presentationml/2006/main">
  <p:tag name="THINKCELLSHAPEDONOTDELETE" val="tzUIgPyID2gD6FQpFDcGaZg"/>
</p:tagLst>
</file>

<file path=ppt/tags/tag255.xml><?xml version="1.0" encoding="utf-8"?>
<p:tagLst xmlns:a="http://schemas.openxmlformats.org/drawingml/2006/main" xmlns:r="http://schemas.openxmlformats.org/officeDocument/2006/relationships" xmlns:p="http://schemas.openxmlformats.org/presentationml/2006/main">
  <p:tag name="THINKCELLSHAPEDONOTDELETE" val="tFLR7LkqqywL30TUkoZmcjQ"/>
</p:tagLst>
</file>

<file path=ppt/tags/tag256.xml><?xml version="1.0" encoding="utf-8"?>
<p:tagLst xmlns:a="http://schemas.openxmlformats.org/drawingml/2006/main" xmlns:r="http://schemas.openxmlformats.org/officeDocument/2006/relationships" xmlns:p="http://schemas.openxmlformats.org/presentationml/2006/main">
  <p:tag name="THINKCELLSHAPEDONOTDELETE" val="tA.Q1Sgj3NNqIPiecjBYUzQ"/>
</p:tagLst>
</file>

<file path=ppt/tags/tag257.xml><?xml version="1.0" encoding="utf-8"?>
<p:tagLst xmlns:a="http://schemas.openxmlformats.org/drawingml/2006/main" xmlns:r="http://schemas.openxmlformats.org/officeDocument/2006/relationships" xmlns:p="http://schemas.openxmlformats.org/presentationml/2006/main">
  <p:tag name="THINKCELLSHAPEDONOTDELETE" val="t.ltDzcxQhgYJQqLXAxYVvg"/>
</p:tagLst>
</file>

<file path=ppt/tags/tag258.xml><?xml version="1.0" encoding="utf-8"?>
<p:tagLst xmlns:a="http://schemas.openxmlformats.org/drawingml/2006/main" xmlns:r="http://schemas.openxmlformats.org/officeDocument/2006/relationships" xmlns:p="http://schemas.openxmlformats.org/presentationml/2006/main">
  <p:tag name="THINKCELLSHAPEDONOTDELETE" val="teGrCTs7WiAVdYa7GqJxPOg"/>
</p:tagLst>
</file>

<file path=ppt/tags/tag259.xml><?xml version="1.0" encoding="utf-8"?>
<p:tagLst xmlns:a="http://schemas.openxmlformats.org/drawingml/2006/main" xmlns:r="http://schemas.openxmlformats.org/officeDocument/2006/relationships" xmlns:p="http://schemas.openxmlformats.org/presentationml/2006/main">
  <p:tag name="THINKCELLSHAPEDONOTDELETE" val="tGq9Sh9OI2c_gjBExQs2S7w"/>
</p:tagLst>
</file>

<file path=ppt/tags/tag260.xml><?xml version="1.0" encoding="utf-8"?>
<p:tagLst xmlns:a="http://schemas.openxmlformats.org/drawingml/2006/main" xmlns:r="http://schemas.openxmlformats.org/officeDocument/2006/relationships" xmlns:p="http://schemas.openxmlformats.org/presentationml/2006/main">
  <p:tag name="THINKCELLSHAPEDONOTDELETE" val="tShAh7EPChUbAlGaCMAmKrQ"/>
</p:tagLst>
</file>

<file path=ppt/tags/tag261.xml><?xml version="1.0" encoding="utf-8"?>
<p:tagLst xmlns:a="http://schemas.openxmlformats.org/drawingml/2006/main" xmlns:r="http://schemas.openxmlformats.org/officeDocument/2006/relationships" xmlns:p="http://schemas.openxmlformats.org/presentationml/2006/main">
  <p:tag name="THINKCELLSHAPEDONOTDELETE" val="tLGsm8bTcEzuaNXyNF2h24w"/>
</p:tagLst>
</file>

<file path=ppt/tags/tag262.xml><?xml version="1.0" encoding="utf-8"?>
<p:tagLst xmlns:a="http://schemas.openxmlformats.org/drawingml/2006/main" xmlns:r="http://schemas.openxmlformats.org/officeDocument/2006/relationships" xmlns:p="http://schemas.openxmlformats.org/presentationml/2006/main">
  <p:tag name="THINKCELLSHAPEDONOTDELETE" val="txYgdTV1_gx37B7sIGH8frw"/>
</p:tagLst>
</file>

<file path=ppt/tags/tag263.xml><?xml version="1.0" encoding="utf-8"?>
<p:tagLst xmlns:a="http://schemas.openxmlformats.org/drawingml/2006/main" xmlns:r="http://schemas.openxmlformats.org/officeDocument/2006/relationships" xmlns:p="http://schemas.openxmlformats.org/presentationml/2006/main">
  <p:tag name="THINKCELLSHAPEDONOTDELETE" val="t1pdSbCSukSXhe0YcZLILpw"/>
</p:tagLst>
</file>

<file path=ppt/tags/tag264.xml><?xml version="1.0" encoding="utf-8"?>
<p:tagLst xmlns:a="http://schemas.openxmlformats.org/drawingml/2006/main" xmlns:r="http://schemas.openxmlformats.org/officeDocument/2006/relationships" xmlns:p="http://schemas.openxmlformats.org/presentationml/2006/main">
  <p:tag name="THINKCELLSHAPEDONOTDELETE" val="tVua5prf12UnJHLseBi.sqQ"/>
</p:tagLst>
</file>

<file path=ppt/tags/tag265.xml><?xml version="1.0" encoding="utf-8"?>
<p:tagLst xmlns:a="http://schemas.openxmlformats.org/drawingml/2006/main" xmlns:r="http://schemas.openxmlformats.org/officeDocument/2006/relationships" xmlns:p="http://schemas.openxmlformats.org/presentationml/2006/main">
  <p:tag name="THINKCELLSHAPEDONOTDELETE" val="tPpM0_BGQG5Kq40N2.koK.Q"/>
</p:tagLst>
</file>

<file path=ppt/tags/tag266.xml><?xml version="1.0" encoding="utf-8"?>
<p:tagLst xmlns:a="http://schemas.openxmlformats.org/drawingml/2006/main" xmlns:r="http://schemas.openxmlformats.org/officeDocument/2006/relationships" xmlns:p="http://schemas.openxmlformats.org/presentationml/2006/main">
  <p:tag name="THINKCELLSHAPEDONOTDELETE" val="tWtoYLaKOvoxfeHIblNfjNA"/>
</p:tagLst>
</file>

<file path=ppt/tags/tag267.xml><?xml version="1.0" encoding="utf-8"?>
<p:tagLst xmlns:a="http://schemas.openxmlformats.org/drawingml/2006/main" xmlns:r="http://schemas.openxmlformats.org/officeDocument/2006/relationships" xmlns:p="http://schemas.openxmlformats.org/presentationml/2006/main">
  <p:tag name="THINKCELLSHAPEDONOTDELETE" val="tgLcPJM5kp48BK2v1y.HiUg"/>
</p:tagLst>
</file>

<file path=ppt/tags/tag268.xml><?xml version="1.0" encoding="utf-8"?>
<p:tagLst xmlns:a="http://schemas.openxmlformats.org/drawingml/2006/main" xmlns:r="http://schemas.openxmlformats.org/officeDocument/2006/relationships" xmlns:p="http://schemas.openxmlformats.org/presentationml/2006/main">
  <p:tag name="THINKCELLSHAPEDONOTDELETE" val="ttPfOHd_.R3iOsCN5mAz0oA"/>
</p:tagLst>
</file>

<file path=ppt/tags/tag269.xml><?xml version="1.0" encoding="utf-8"?>
<p:tagLst xmlns:a="http://schemas.openxmlformats.org/drawingml/2006/main" xmlns:r="http://schemas.openxmlformats.org/officeDocument/2006/relationships" xmlns:p="http://schemas.openxmlformats.org/presentationml/2006/main">
  <p:tag name="THINKCELLSHAPEDONOTDELETE" val="tw50PDHuvujSHKMB5aPwq4A"/>
</p:tagLst>
</file>

<file path=ppt/tags/tag270.xml><?xml version="1.0" encoding="utf-8"?>
<p:tagLst xmlns:a="http://schemas.openxmlformats.org/drawingml/2006/main" xmlns:r="http://schemas.openxmlformats.org/officeDocument/2006/relationships" xmlns:p="http://schemas.openxmlformats.org/presentationml/2006/main">
  <p:tag name="THINKCELLSHAPEDONOTDELETE" val="twQ5.C4LuJRtYhhmdyTQ.Hw"/>
</p:tagLst>
</file>

<file path=ppt/tags/tag271.xml><?xml version="1.0" encoding="utf-8"?>
<p:tagLst xmlns:a="http://schemas.openxmlformats.org/drawingml/2006/main" xmlns:r="http://schemas.openxmlformats.org/officeDocument/2006/relationships" xmlns:p="http://schemas.openxmlformats.org/presentationml/2006/main">
  <p:tag name="THINKCELLSHAPEDONOTDELETE" val="t_f5wdBWEXJfP7dkmOm6Nhw"/>
</p:tagLst>
</file>

<file path=ppt/tags/tag2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3.xml><?xml version="1.0" encoding="utf-8"?>
<p:tagLst xmlns:a="http://schemas.openxmlformats.org/drawingml/2006/main" xmlns:r="http://schemas.openxmlformats.org/officeDocument/2006/relationships" xmlns:p="http://schemas.openxmlformats.org/presentationml/2006/main">
  <p:tag name="THINKCELLSHAPEDONOTDELETE" val="tln.KXZo_WrQVahbDfBTmVw"/>
</p:tagLst>
</file>

<file path=ppt/tags/tag274.xml><?xml version="1.0" encoding="utf-8"?>
<p:tagLst xmlns:a="http://schemas.openxmlformats.org/drawingml/2006/main" xmlns:r="http://schemas.openxmlformats.org/officeDocument/2006/relationships" xmlns:p="http://schemas.openxmlformats.org/presentationml/2006/main">
  <p:tag name="THINKCELLSHAPEDONOTDELETE" val="t4RLDyZdOOl7GDK.oEp81ZA"/>
</p:tagLst>
</file>

<file path=ppt/tags/tag275.xml><?xml version="1.0" encoding="utf-8"?>
<p:tagLst xmlns:a="http://schemas.openxmlformats.org/drawingml/2006/main" xmlns:r="http://schemas.openxmlformats.org/officeDocument/2006/relationships" xmlns:p="http://schemas.openxmlformats.org/presentationml/2006/main">
  <p:tag name="THINKCELLSHAPEDONOTDELETE" val="trVsNVamMm1kQhj.osXPTxg"/>
</p:tagLst>
</file>

<file path=ppt/tags/tag276.xml><?xml version="1.0" encoding="utf-8"?>
<p:tagLst xmlns:a="http://schemas.openxmlformats.org/drawingml/2006/main" xmlns:r="http://schemas.openxmlformats.org/officeDocument/2006/relationships" xmlns:p="http://schemas.openxmlformats.org/presentationml/2006/main">
  <p:tag name="THINKCELLSHAPEDONOTDELETE" val="tZR6Mx4V6B3lr6esVT5JZrw"/>
</p:tagLst>
</file>

<file path=ppt/tags/tag277.xml><?xml version="1.0" encoding="utf-8"?>
<p:tagLst xmlns:a="http://schemas.openxmlformats.org/drawingml/2006/main" xmlns:r="http://schemas.openxmlformats.org/officeDocument/2006/relationships" xmlns:p="http://schemas.openxmlformats.org/presentationml/2006/main">
  <p:tag name="THINKCELLSHAPEDONOTDELETE" val="tk7gkM71VJfGQT4NQNLhu7A"/>
</p:tagLst>
</file>

<file path=ppt/tags/tag278.xml><?xml version="1.0" encoding="utf-8"?>
<p:tagLst xmlns:a="http://schemas.openxmlformats.org/drawingml/2006/main" xmlns:r="http://schemas.openxmlformats.org/officeDocument/2006/relationships" xmlns:p="http://schemas.openxmlformats.org/presentationml/2006/main">
  <p:tag name="THINKCELLSHAPEDONOTDELETE" val="twgzOZSYYD9NsWpIZ8qwSJw"/>
</p:tagLst>
</file>

<file path=ppt/tags/tag279.xml><?xml version="1.0" encoding="utf-8"?>
<p:tagLst xmlns:a="http://schemas.openxmlformats.org/drawingml/2006/main" xmlns:r="http://schemas.openxmlformats.org/officeDocument/2006/relationships" xmlns:p="http://schemas.openxmlformats.org/presentationml/2006/main">
  <p:tag name="THINKCELLSHAPEDONOTDELETE" val="tBXoIsmwwXwG.Szw6L_gNUQ"/>
</p:tagLst>
</file>

<file path=ppt/tags/tag280.xml><?xml version="1.0" encoding="utf-8"?>
<p:tagLst xmlns:a="http://schemas.openxmlformats.org/drawingml/2006/main" xmlns:r="http://schemas.openxmlformats.org/officeDocument/2006/relationships" xmlns:p="http://schemas.openxmlformats.org/presentationml/2006/main">
  <p:tag name="THINKCELLSHAPEDONOTDELETE" val="tQHApHh316esrFaK9yfArGA"/>
</p:tagLst>
</file>

<file path=ppt/tags/tag281.xml><?xml version="1.0" encoding="utf-8"?>
<p:tagLst xmlns:a="http://schemas.openxmlformats.org/drawingml/2006/main" xmlns:r="http://schemas.openxmlformats.org/officeDocument/2006/relationships" xmlns:p="http://schemas.openxmlformats.org/presentationml/2006/main">
  <p:tag name="THINKCELLSHAPEDONOTDELETE" val="tHu6Q73GwM.bIv8OlHcrFgg"/>
</p:tagLst>
</file>

<file path=ppt/tags/tag282.xml><?xml version="1.0" encoding="utf-8"?>
<p:tagLst xmlns:a="http://schemas.openxmlformats.org/drawingml/2006/main" xmlns:r="http://schemas.openxmlformats.org/officeDocument/2006/relationships" xmlns:p="http://schemas.openxmlformats.org/presentationml/2006/main">
  <p:tag name="THINKCELLSHAPEDONOTDELETE" val="tDEvg5zfb1Y8HsQAgqKqL0w"/>
</p:tagLst>
</file>

<file path=ppt/tags/tag283.xml><?xml version="1.0" encoding="utf-8"?>
<p:tagLst xmlns:a="http://schemas.openxmlformats.org/drawingml/2006/main" xmlns:r="http://schemas.openxmlformats.org/officeDocument/2006/relationships" xmlns:p="http://schemas.openxmlformats.org/presentationml/2006/main">
  <p:tag name="THINKCELLSHAPEDONOTDELETE" val="tV_ELBf0w5E3szUGzdzhSEg"/>
</p:tagLst>
</file>

<file path=ppt/tags/tag284.xml><?xml version="1.0" encoding="utf-8"?>
<p:tagLst xmlns:a="http://schemas.openxmlformats.org/drawingml/2006/main" xmlns:r="http://schemas.openxmlformats.org/officeDocument/2006/relationships" xmlns:p="http://schemas.openxmlformats.org/presentationml/2006/main">
  <p:tag name="THINKCELLSHAPEDONOTDELETE" val="tuhdTX9f2lvH9b.wBJRgyVQ"/>
</p:tagLst>
</file>

<file path=ppt/tags/tag285.xml><?xml version="1.0" encoding="utf-8"?>
<p:tagLst xmlns:a="http://schemas.openxmlformats.org/drawingml/2006/main" xmlns:r="http://schemas.openxmlformats.org/officeDocument/2006/relationships" xmlns:p="http://schemas.openxmlformats.org/presentationml/2006/main">
  <p:tag name="THINKCELLSHAPEDONOTDELETE" val="trBNVJc0kAUgkPnhV1.opZg"/>
</p:tagLst>
</file>

<file path=ppt/tags/tag286.xml><?xml version="1.0" encoding="utf-8"?>
<p:tagLst xmlns:a="http://schemas.openxmlformats.org/drawingml/2006/main" xmlns:r="http://schemas.openxmlformats.org/officeDocument/2006/relationships" xmlns:p="http://schemas.openxmlformats.org/presentationml/2006/main">
  <p:tag name="THINKCELLSHAPEDONOTDELETE" val="tbOjKJW3IlbG_0afYriGKOg"/>
</p:tagLst>
</file>

<file path=ppt/tags/tag287.xml><?xml version="1.0" encoding="utf-8"?>
<p:tagLst xmlns:a="http://schemas.openxmlformats.org/drawingml/2006/main" xmlns:r="http://schemas.openxmlformats.org/officeDocument/2006/relationships" xmlns:p="http://schemas.openxmlformats.org/presentationml/2006/main">
  <p:tag name="THINKCELLSHAPEDONOTDELETE" val="tOmqmHf4pdwxuhm4Zxyh65g"/>
</p:tagLst>
</file>

<file path=ppt/tags/tag288.xml><?xml version="1.0" encoding="utf-8"?>
<p:tagLst xmlns:a="http://schemas.openxmlformats.org/drawingml/2006/main" xmlns:r="http://schemas.openxmlformats.org/officeDocument/2006/relationships" xmlns:p="http://schemas.openxmlformats.org/presentationml/2006/main">
  <p:tag name="THINKCELLSHAPEDONOTDELETE" val="tAuoTjIEYhkV_UNtssiB2lQ"/>
</p:tagLst>
</file>

<file path=ppt/tags/tag289.xml><?xml version="1.0" encoding="utf-8"?>
<p:tagLst xmlns:a="http://schemas.openxmlformats.org/drawingml/2006/main" xmlns:r="http://schemas.openxmlformats.org/officeDocument/2006/relationships" xmlns:p="http://schemas.openxmlformats.org/presentationml/2006/main">
  <p:tag name="THINKCELLSHAPEDONOTDELETE" val="tVGjGi191MgM4hCLc9nj2dw"/>
</p:tagLst>
</file>

<file path=ppt/tags/tag290.xml><?xml version="1.0" encoding="utf-8"?>
<p:tagLst xmlns:a="http://schemas.openxmlformats.org/drawingml/2006/main" xmlns:r="http://schemas.openxmlformats.org/officeDocument/2006/relationships" xmlns:p="http://schemas.openxmlformats.org/presentationml/2006/main">
  <p:tag name="THINKCELLSHAPEDONOTDELETE" val="tHCmNkEO52tHyhsivg0S85A"/>
</p:tagLst>
</file>

<file path=ppt/tags/tag291.xml><?xml version="1.0" encoding="utf-8"?>
<p:tagLst xmlns:a="http://schemas.openxmlformats.org/drawingml/2006/main" xmlns:r="http://schemas.openxmlformats.org/officeDocument/2006/relationships" xmlns:p="http://schemas.openxmlformats.org/presentationml/2006/main">
  <p:tag name="THINKCELLSHAPEDONOTDELETE" val="tRMV8K35THg9PNb9sl.edmQ"/>
</p:tagLst>
</file>

<file path=ppt/tags/tag292.xml><?xml version="1.0" encoding="utf-8"?>
<p:tagLst xmlns:a="http://schemas.openxmlformats.org/drawingml/2006/main" xmlns:r="http://schemas.openxmlformats.org/officeDocument/2006/relationships" xmlns:p="http://schemas.openxmlformats.org/presentationml/2006/main">
  <p:tag name="THINKCELLSHAPEDONOTDELETE" val="tb.jdvAu4Ap1Uc_9lUB1YpQ"/>
</p:tagLst>
</file>

<file path=ppt/tags/tag293.xml><?xml version="1.0" encoding="utf-8"?>
<p:tagLst xmlns:a="http://schemas.openxmlformats.org/drawingml/2006/main" xmlns:r="http://schemas.openxmlformats.org/officeDocument/2006/relationships" xmlns:p="http://schemas.openxmlformats.org/presentationml/2006/main">
  <p:tag name="THINKCELLSHAPEDONOTDELETE" val="tEeuG_O9UD8gAXHqUEwBEbQ"/>
</p:tagLst>
</file>

<file path=ppt/tags/tag294.xml><?xml version="1.0" encoding="utf-8"?>
<p:tagLst xmlns:a="http://schemas.openxmlformats.org/drawingml/2006/main" xmlns:r="http://schemas.openxmlformats.org/officeDocument/2006/relationships" xmlns:p="http://schemas.openxmlformats.org/presentationml/2006/main">
  <p:tag name="THINKCELLSHAPEDONOTDELETE" val="tkH7qWj8QzjqrAPQHWRldSg"/>
</p:tagLst>
</file>

<file path=ppt/tags/tag295.xml><?xml version="1.0" encoding="utf-8"?>
<p:tagLst xmlns:a="http://schemas.openxmlformats.org/drawingml/2006/main" xmlns:r="http://schemas.openxmlformats.org/officeDocument/2006/relationships" xmlns:p="http://schemas.openxmlformats.org/presentationml/2006/main">
  <p:tag name="THINKCELLSHAPEDONOTDELETE" val="tnfW6.X_tlsqyOPSjH3jmxw"/>
</p:tagLst>
</file>

<file path=ppt/tags/tag296.xml><?xml version="1.0" encoding="utf-8"?>
<p:tagLst xmlns:a="http://schemas.openxmlformats.org/drawingml/2006/main" xmlns:r="http://schemas.openxmlformats.org/officeDocument/2006/relationships" xmlns:p="http://schemas.openxmlformats.org/presentationml/2006/main">
  <p:tag name="THINKCELLSHAPEDONOTDELETE" val="tJjODerjNbF2UNaDk2LRT4A"/>
</p:tagLst>
</file>

<file path=ppt/tags/tag297.xml><?xml version="1.0" encoding="utf-8"?>
<p:tagLst xmlns:a="http://schemas.openxmlformats.org/drawingml/2006/main" xmlns:r="http://schemas.openxmlformats.org/officeDocument/2006/relationships" xmlns:p="http://schemas.openxmlformats.org/presentationml/2006/main">
  <p:tag name="THINKCELLSHAPEDONOTDELETE" val="txCw4k3Txglih06DuQfoiFw"/>
</p:tagLst>
</file>

<file path=ppt/tags/tag298.xml><?xml version="1.0" encoding="utf-8"?>
<p:tagLst xmlns:a="http://schemas.openxmlformats.org/drawingml/2006/main" xmlns:r="http://schemas.openxmlformats.org/officeDocument/2006/relationships" xmlns:p="http://schemas.openxmlformats.org/presentationml/2006/main">
  <p:tag name="THINKCELLSHAPEDONOTDELETE" val="tLuIkahEN7h95U89MRrIdQA"/>
</p:tagLst>
</file>

<file path=ppt/tags/tag299.xml><?xml version="1.0" encoding="utf-8"?>
<p:tagLst xmlns:a="http://schemas.openxmlformats.org/drawingml/2006/main" xmlns:r="http://schemas.openxmlformats.org/officeDocument/2006/relationships" xmlns:p="http://schemas.openxmlformats.org/presentationml/2006/main">
  <p:tag name="THINKCELLSHAPEDONOTDELETE" val="thiHpap0YCXB2hYU41ogv2Q"/>
</p:tagLst>
</file>

<file path=ppt/tags/tag300.xml><?xml version="1.0" encoding="utf-8"?>
<p:tagLst xmlns:a="http://schemas.openxmlformats.org/drawingml/2006/main" xmlns:r="http://schemas.openxmlformats.org/officeDocument/2006/relationships" xmlns:p="http://schemas.openxmlformats.org/presentationml/2006/main">
  <p:tag name="THINKCELLSHAPEDONOTDELETE" val="tWZbZdNas37r4pwsW75Uy9Q"/>
</p:tagLst>
</file>

<file path=ppt/tags/tag301.xml><?xml version="1.0" encoding="utf-8"?>
<p:tagLst xmlns:a="http://schemas.openxmlformats.org/drawingml/2006/main" xmlns:r="http://schemas.openxmlformats.org/officeDocument/2006/relationships" xmlns:p="http://schemas.openxmlformats.org/presentationml/2006/main">
  <p:tag name="THINKCELLSHAPEDONOTDELETE" val="tiY1aWXTVKBzRs_qZy9WIsQ"/>
</p:tagLst>
</file>

<file path=ppt/tags/tag302.xml><?xml version="1.0" encoding="utf-8"?>
<p:tagLst xmlns:a="http://schemas.openxmlformats.org/drawingml/2006/main" xmlns:r="http://schemas.openxmlformats.org/officeDocument/2006/relationships" xmlns:p="http://schemas.openxmlformats.org/presentationml/2006/main">
  <p:tag name="THINKCELLSHAPEDONOTDELETE" val="tbvvtXquL9iy6EqFcCYB6Pw"/>
</p:tagLst>
</file>

<file path=ppt/tags/tag303.xml><?xml version="1.0" encoding="utf-8"?>
<p:tagLst xmlns:a="http://schemas.openxmlformats.org/drawingml/2006/main" xmlns:r="http://schemas.openxmlformats.org/officeDocument/2006/relationships" xmlns:p="http://schemas.openxmlformats.org/presentationml/2006/main">
  <p:tag name="THINKCELLSHAPEDONOTDELETE" val="tb1QEv9LamPeOpq6.dCqNaw"/>
</p:tagLst>
</file>

<file path=ppt/tags/tag304.xml><?xml version="1.0" encoding="utf-8"?>
<p:tagLst xmlns:a="http://schemas.openxmlformats.org/drawingml/2006/main" xmlns:r="http://schemas.openxmlformats.org/officeDocument/2006/relationships" xmlns:p="http://schemas.openxmlformats.org/presentationml/2006/main">
  <p:tag name="THINKCELLSHAPEDONOTDELETE" val="thGedGx_bFYGYnW5.sLjrsA"/>
</p:tagLst>
</file>

<file path=ppt/tags/tag305.xml><?xml version="1.0" encoding="utf-8"?>
<p:tagLst xmlns:a="http://schemas.openxmlformats.org/drawingml/2006/main" xmlns:r="http://schemas.openxmlformats.org/officeDocument/2006/relationships" xmlns:p="http://schemas.openxmlformats.org/presentationml/2006/main">
  <p:tag name="THINKCELLSHAPEDONOTDELETE" val="t_jJRTBElUMexUh.IWvbNGA"/>
</p:tagLst>
</file>

<file path=ppt/tags/tag306.xml><?xml version="1.0" encoding="utf-8"?>
<p:tagLst xmlns:a="http://schemas.openxmlformats.org/drawingml/2006/main" xmlns:r="http://schemas.openxmlformats.org/officeDocument/2006/relationships" xmlns:p="http://schemas.openxmlformats.org/presentationml/2006/main">
  <p:tag name="THINKCELLSHAPEDONOTDELETE" val="tdTDELlg3xaI_iUNJWO2d0w"/>
</p:tagLst>
</file>

<file path=ppt/tags/tag307.xml><?xml version="1.0" encoding="utf-8"?>
<p:tagLst xmlns:a="http://schemas.openxmlformats.org/drawingml/2006/main" xmlns:r="http://schemas.openxmlformats.org/officeDocument/2006/relationships" xmlns:p="http://schemas.openxmlformats.org/presentationml/2006/main">
  <p:tag name="THINKCELLSHAPEDONOTDELETE" val="tpzqGftPjw1Lh8KLETC8dmg"/>
</p:tagLst>
</file>

<file path=ppt/tags/tag308.xml><?xml version="1.0" encoding="utf-8"?>
<p:tagLst xmlns:a="http://schemas.openxmlformats.org/drawingml/2006/main" xmlns:r="http://schemas.openxmlformats.org/officeDocument/2006/relationships" xmlns:p="http://schemas.openxmlformats.org/presentationml/2006/main">
  <p:tag name="THINKCELLSHAPEDONOTDELETE" val="thfkiVMgI78ukOoP9mHry8g"/>
</p:tagLst>
</file>

<file path=ppt/tags/tag309.xml><?xml version="1.0" encoding="utf-8"?>
<p:tagLst xmlns:a="http://schemas.openxmlformats.org/drawingml/2006/main" xmlns:r="http://schemas.openxmlformats.org/officeDocument/2006/relationships" xmlns:p="http://schemas.openxmlformats.org/presentationml/2006/main">
  <p:tag name="THINKCELLSHAPEDONOTDELETE" val="tD8Q2u15FKfbzkk9RddfklQ"/>
</p:tagLst>
</file>

<file path=ppt/tags/tag310.xml><?xml version="1.0" encoding="utf-8"?>
<p:tagLst xmlns:a="http://schemas.openxmlformats.org/drawingml/2006/main" xmlns:r="http://schemas.openxmlformats.org/officeDocument/2006/relationships" xmlns:p="http://schemas.openxmlformats.org/presentationml/2006/main">
  <p:tag name="THINKCELLSHAPEDONOTDELETE" val="tm8HOqq3DzPafvxNL0zu4rQ"/>
</p:tagLst>
</file>

<file path=ppt/tags/tag311.xml><?xml version="1.0" encoding="utf-8"?>
<p:tagLst xmlns:a="http://schemas.openxmlformats.org/drawingml/2006/main" xmlns:r="http://schemas.openxmlformats.org/officeDocument/2006/relationships" xmlns:p="http://schemas.openxmlformats.org/presentationml/2006/main">
  <p:tag name="THINKCELLSHAPEDONOTDELETE" val="t8tUOL1XcotmVd2KJAYVH2g"/>
</p:tagLst>
</file>

<file path=ppt/tags/tag312.xml><?xml version="1.0" encoding="utf-8"?>
<p:tagLst xmlns:a="http://schemas.openxmlformats.org/drawingml/2006/main" xmlns:r="http://schemas.openxmlformats.org/officeDocument/2006/relationships" xmlns:p="http://schemas.openxmlformats.org/presentationml/2006/main">
  <p:tag name="THINKCELLSHAPEDONOTDELETE" val="tjlUd13RcaHPlHIpvRVQnCA"/>
</p:tagLst>
</file>

<file path=ppt/tags/tag313.xml><?xml version="1.0" encoding="utf-8"?>
<p:tagLst xmlns:a="http://schemas.openxmlformats.org/drawingml/2006/main" xmlns:r="http://schemas.openxmlformats.org/officeDocument/2006/relationships" xmlns:p="http://schemas.openxmlformats.org/presentationml/2006/main">
  <p:tag name="THINKCELLSHAPEDONOTDELETE" val="tGQFJuQoui2m_KAZwMKQW6A"/>
</p:tagLst>
</file>

<file path=ppt/tags/tag314.xml><?xml version="1.0" encoding="utf-8"?>
<p:tagLst xmlns:a="http://schemas.openxmlformats.org/drawingml/2006/main" xmlns:r="http://schemas.openxmlformats.org/officeDocument/2006/relationships" xmlns:p="http://schemas.openxmlformats.org/presentationml/2006/main">
  <p:tag name="THINKCELLSHAPEDONOTDELETE" val="tyVEG4k5mV_nsbpMOVv9E.A"/>
</p:tagLst>
</file>

<file path=ppt/tags/tag315.xml><?xml version="1.0" encoding="utf-8"?>
<p:tagLst xmlns:a="http://schemas.openxmlformats.org/drawingml/2006/main" xmlns:r="http://schemas.openxmlformats.org/officeDocument/2006/relationships" xmlns:p="http://schemas.openxmlformats.org/presentationml/2006/main">
  <p:tag name="THINKCELLSHAPEDONOTDELETE" val="t0UP4xOo_87J2MpNfK0HGow"/>
</p:tagLst>
</file>

<file path=ppt/tags/tag316.xml><?xml version="1.0" encoding="utf-8"?>
<p:tagLst xmlns:a="http://schemas.openxmlformats.org/drawingml/2006/main" xmlns:r="http://schemas.openxmlformats.org/officeDocument/2006/relationships" xmlns:p="http://schemas.openxmlformats.org/presentationml/2006/main">
  <p:tag name="THINKCELLSHAPEDONOTDELETE" val="tmRYnZ3Q0rDVhmDADf.E6Fw"/>
</p:tagLst>
</file>

<file path=ppt/tags/tag317.xml><?xml version="1.0" encoding="utf-8"?>
<p:tagLst xmlns:a="http://schemas.openxmlformats.org/drawingml/2006/main" xmlns:r="http://schemas.openxmlformats.org/officeDocument/2006/relationships" xmlns:p="http://schemas.openxmlformats.org/presentationml/2006/main">
  <p:tag name="THINKCELLSHAPEDONOTDELETE" val="t3zOH_bwORpsOexbncMfd_w"/>
</p:tagLst>
</file>

<file path=ppt/tags/tag318.xml><?xml version="1.0" encoding="utf-8"?>
<p:tagLst xmlns:a="http://schemas.openxmlformats.org/drawingml/2006/main" xmlns:r="http://schemas.openxmlformats.org/officeDocument/2006/relationships" xmlns:p="http://schemas.openxmlformats.org/presentationml/2006/main">
  <p:tag name="THINKCELLSHAPEDONOTDELETE" val="tt7OuHeoLHJPQuEjYHEoxJA"/>
</p:tagLst>
</file>

<file path=ppt/tags/tag319.xml><?xml version="1.0" encoding="utf-8"?>
<p:tagLst xmlns:a="http://schemas.openxmlformats.org/drawingml/2006/main" xmlns:r="http://schemas.openxmlformats.org/officeDocument/2006/relationships" xmlns:p="http://schemas.openxmlformats.org/presentationml/2006/main">
  <p:tag name="THINKCELLSHAPEDONOTDELETE" val="teVvMWc_LWWd8r1_W5KO2aA"/>
</p:tagLst>
</file>

<file path=ppt/tags/tag320.xml><?xml version="1.0" encoding="utf-8"?>
<p:tagLst xmlns:a="http://schemas.openxmlformats.org/drawingml/2006/main" xmlns:r="http://schemas.openxmlformats.org/officeDocument/2006/relationships" xmlns:p="http://schemas.openxmlformats.org/presentationml/2006/main">
  <p:tag name="THINKCELLSHAPEDONOTDELETE" val="taW6nnTmv_OxrUAS__2ajRw"/>
</p:tagLst>
</file>

<file path=ppt/tags/tag321.xml><?xml version="1.0" encoding="utf-8"?>
<p:tagLst xmlns:a="http://schemas.openxmlformats.org/drawingml/2006/main" xmlns:r="http://schemas.openxmlformats.org/officeDocument/2006/relationships" xmlns:p="http://schemas.openxmlformats.org/presentationml/2006/main">
  <p:tag name="THINKCELLSHAPEDONOTDELETE" val="tl_CssarGVKFwU9Be8fEttw"/>
</p:tagLst>
</file>

<file path=ppt/tags/tag322.xml><?xml version="1.0" encoding="utf-8"?>
<p:tagLst xmlns:a="http://schemas.openxmlformats.org/drawingml/2006/main" xmlns:r="http://schemas.openxmlformats.org/officeDocument/2006/relationships" xmlns:p="http://schemas.openxmlformats.org/presentationml/2006/main">
  <p:tag name="THINKCELLSHAPEDONOTDELETE" val="tH3wUbGWGW0ztfUM9Y7dWUA"/>
</p:tagLst>
</file>

<file path=ppt/tags/tag323.xml><?xml version="1.0" encoding="utf-8"?>
<p:tagLst xmlns:a="http://schemas.openxmlformats.org/drawingml/2006/main" xmlns:r="http://schemas.openxmlformats.org/officeDocument/2006/relationships" xmlns:p="http://schemas.openxmlformats.org/presentationml/2006/main">
  <p:tag name="THINKCELLSHAPEDONOTDELETE" val="tl0MdVrB4lwBP8wwWfV0Zrw"/>
</p:tagLst>
</file>

<file path=ppt/tags/tag324.xml><?xml version="1.0" encoding="utf-8"?>
<p:tagLst xmlns:a="http://schemas.openxmlformats.org/drawingml/2006/main" xmlns:r="http://schemas.openxmlformats.org/officeDocument/2006/relationships" xmlns:p="http://schemas.openxmlformats.org/presentationml/2006/main">
  <p:tag name="THINKCELLSHAPEDONOTDELETE" val="tbtRtGppE._o4w6i2P7Zstw"/>
</p:tagLst>
</file>

<file path=ppt/tags/tag325.xml><?xml version="1.0" encoding="utf-8"?>
<p:tagLst xmlns:a="http://schemas.openxmlformats.org/drawingml/2006/main" xmlns:r="http://schemas.openxmlformats.org/officeDocument/2006/relationships" xmlns:p="http://schemas.openxmlformats.org/presentationml/2006/main">
  <p:tag name="THINKCELLSHAPEDONOTDELETE" val="t7gf5cMfdSKAoPTNM7IRMZQ"/>
</p:tagLst>
</file>

<file path=ppt/tags/tag326.xml><?xml version="1.0" encoding="utf-8"?>
<p:tagLst xmlns:a="http://schemas.openxmlformats.org/drawingml/2006/main" xmlns:r="http://schemas.openxmlformats.org/officeDocument/2006/relationships" xmlns:p="http://schemas.openxmlformats.org/presentationml/2006/main">
  <p:tag name="THINKCELLSHAPEDONOTDELETE" val="t7_CHNNLhMvdTDRdjoZBxzA"/>
</p:tagLst>
</file>

<file path=ppt/tags/tag327.xml><?xml version="1.0" encoding="utf-8"?>
<p:tagLst xmlns:a="http://schemas.openxmlformats.org/drawingml/2006/main" xmlns:r="http://schemas.openxmlformats.org/officeDocument/2006/relationships" xmlns:p="http://schemas.openxmlformats.org/presentationml/2006/main">
  <p:tag name="THINKCELLSHAPEDONOTDELETE" val="tWkjqOKrjXirXqiNZ28Ny5g"/>
</p:tagLst>
</file>

<file path=ppt/tags/tag328.xml><?xml version="1.0" encoding="utf-8"?>
<p:tagLst xmlns:a="http://schemas.openxmlformats.org/drawingml/2006/main" xmlns:r="http://schemas.openxmlformats.org/officeDocument/2006/relationships" xmlns:p="http://schemas.openxmlformats.org/presentationml/2006/main">
  <p:tag name="THINKCELLSHAPEDONOTDELETE" val="t.SJIAlvPFkOSbewgTMidFQ"/>
</p:tagLst>
</file>

<file path=ppt/tags/tag329.xml><?xml version="1.0" encoding="utf-8"?>
<p:tagLst xmlns:a="http://schemas.openxmlformats.org/drawingml/2006/main" xmlns:r="http://schemas.openxmlformats.org/officeDocument/2006/relationships" xmlns:p="http://schemas.openxmlformats.org/presentationml/2006/main">
  <p:tag name="THINKCELLSHAPEDONOTDELETE" val="tlTzyK0Hlncmhw8.xUQRkKw"/>
</p:tagLst>
</file>

<file path=ppt/tags/tag330.xml><?xml version="1.0" encoding="utf-8"?>
<p:tagLst xmlns:a="http://schemas.openxmlformats.org/drawingml/2006/main" xmlns:r="http://schemas.openxmlformats.org/officeDocument/2006/relationships" xmlns:p="http://schemas.openxmlformats.org/presentationml/2006/main">
  <p:tag name="THINKCELLSHAPEDONOTDELETE" val="trVIJGRsBt122Tdqv4kXsTg"/>
</p:tagLst>
</file>

<file path=ppt/tags/tag331.xml><?xml version="1.0" encoding="utf-8"?>
<p:tagLst xmlns:a="http://schemas.openxmlformats.org/drawingml/2006/main" xmlns:r="http://schemas.openxmlformats.org/officeDocument/2006/relationships" xmlns:p="http://schemas.openxmlformats.org/presentationml/2006/main">
  <p:tag name="THINKCELLSHAPEDONOTDELETE" val="tx5y_1bMhl8HUlmNmtfdaug"/>
</p:tagLst>
</file>

<file path=ppt/tags/tag332.xml><?xml version="1.0" encoding="utf-8"?>
<p:tagLst xmlns:a="http://schemas.openxmlformats.org/drawingml/2006/main" xmlns:r="http://schemas.openxmlformats.org/officeDocument/2006/relationships" xmlns:p="http://schemas.openxmlformats.org/presentationml/2006/main">
  <p:tag name="THINKCELLSHAPEDONOTDELETE" val="tr1MLvSnFoKOzScuw7iRoSQ"/>
</p:tagLst>
</file>

<file path=ppt/tags/tag333.xml><?xml version="1.0" encoding="utf-8"?>
<p:tagLst xmlns:a="http://schemas.openxmlformats.org/drawingml/2006/main" xmlns:r="http://schemas.openxmlformats.org/officeDocument/2006/relationships" xmlns:p="http://schemas.openxmlformats.org/presentationml/2006/main">
  <p:tag name="THINKCELLSHAPEDONOTDELETE" val="tJYFcV3PxEpK1XPRD09AFFA"/>
</p:tagLst>
</file>

<file path=ppt/tags/tag334.xml><?xml version="1.0" encoding="utf-8"?>
<p:tagLst xmlns:a="http://schemas.openxmlformats.org/drawingml/2006/main" xmlns:r="http://schemas.openxmlformats.org/officeDocument/2006/relationships" xmlns:p="http://schemas.openxmlformats.org/presentationml/2006/main">
  <p:tag name="THINKCELLSHAPEDONOTDELETE" val="tElOmiRJ8g8MY9bVltUHAiw"/>
</p:tagLst>
</file>

<file path=ppt/tags/tag335.xml><?xml version="1.0" encoding="utf-8"?>
<p:tagLst xmlns:a="http://schemas.openxmlformats.org/drawingml/2006/main" xmlns:r="http://schemas.openxmlformats.org/officeDocument/2006/relationships" xmlns:p="http://schemas.openxmlformats.org/presentationml/2006/main">
  <p:tag name="THINKCELLSHAPEDONOTDELETE" val="tuUMXWbtrAagm2cCDJn_vjg"/>
</p:tagLst>
</file>

<file path=ppt/tags/tag336.xml><?xml version="1.0" encoding="utf-8"?>
<p:tagLst xmlns:a="http://schemas.openxmlformats.org/drawingml/2006/main" xmlns:r="http://schemas.openxmlformats.org/officeDocument/2006/relationships" xmlns:p="http://schemas.openxmlformats.org/presentationml/2006/main">
  <p:tag name="THINKCELLSHAPEDONOTDELETE" val="t8B9goroMzYuflp0UFPhPbw"/>
</p:tagLst>
</file>

<file path=ppt/tags/tag337.xml><?xml version="1.0" encoding="utf-8"?>
<p:tagLst xmlns:a="http://schemas.openxmlformats.org/drawingml/2006/main" xmlns:r="http://schemas.openxmlformats.org/officeDocument/2006/relationships" xmlns:p="http://schemas.openxmlformats.org/presentationml/2006/main">
  <p:tag name="THINKCELLSHAPEDONOTDELETE" val="tjZa0V0cniYT0PRRokRRVqg"/>
</p:tagLst>
</file>

<file path=ppt/tags/tag338.xml><?xml version="1.0" encoding="utf-8"?>
<p:tagLst xmlns:a="http://schemas.openxmlformats.org/drawingml/2006/main" xmlns:r="http://schemas.openxmlformats.org/officeDocument/2006/relationships" xmlns:p="http://schemas.openxmlformats.org/presentationml/2006/main">
  <p:tag name="THINKCELLSHAPEDONOTDELETE" val="tdq3CZm_Lk5rTjfmZJ9uR1g"/>
</p:tagLst>
</file>

<file path=ppt/tags/tag339.xml><?xml version="1.0" encoding="utf-8"?>
<p:tagLst xmlns:a="http://schemas.openxmlformats.org/drawingml/2006/main" xmlns:r="http://schemas.openxmlformats.org/officeDocument/2006/relationships" xmlns:p="http://schemas.openxmlformats.org/presentationml/2006/main">
  <p:tag name="THINKCELLSHAPEDONOTDELETE" val="tTQdHkIuu83e1mwvmjUjBbA"/>
</p:tagLst>
</file>

<file path=ppt/tags/tag340.xml><?xml version="1.0" encoding="utf-8"?>
<p:tagLst xmlns:a="http://schemas.openxmlformats.org/drawingml/2006/main" xmlns:r="http://schemas.openxmlformats.org/officeDocument/2006/relationships" xmlns:p="http://schemas.openxmlformats.org/presentationml/2006/main">
  <p:tag name="THINKCELLSHAPEDONOTDELETE" val="tf1VX2gRii5y.UMrc_QMdlQ"/>
</p:tagLst>
</file>

<file path=ppt/tags/tag341.xml><?xml version="1.0" encoding="utf-8"?>
<p:tagLst xmlns:a="http://schemas.openxmlformats.org/drawingml/2006/main" xmlns:r="http://schemas.openxmlformats.org/officeDocument/2006/relationships" xmlns:p="http://schemas.openxmlformats.org/presentationml/2006/main">
  <p:tag name="THINKCELLSHAPEDONOTDELETE" val="tUzVl0Gj_coS34EbMRqQYgA"/>
</p:tagLst>
</file>

<file path=ppt/tags/tag342.xml><?xml version="1.0" encoding="utf-8"?>
<p:tagLst xmlns:a="http://schemas.openxmlformats.org/drawingml/2006/main" xmlns:r="http://schemas.openxmlformats.org/officeDocument/2006/relationships" xmlns:p="http://schemas.openxmlformats.org/presentationml/2006/main">
  <p:tag name="THINKCELLSHAPEDONOTDELETE" val="ts5Kj5ltPc6IWngbt1F4AGA"/>
</p:tagLst>
</file>

<file path=ppt/tags/tag343.xml><?xml version="1.0" encoding="utf-8"?>
<p:tagLst xmlns:a="http://schemas.openxmlformats.org/drawingml/2006/main" xmlns:r="http://schemas.openxmlformats.org/officeDocument/2006/relationships" xmlns:p="http://schemas.openxmlformats.org/presentationml/2006/main">
  <p:tag name="THINKCELLSHAPEDONOTDELETE" val="thggw5_XZvNDsOKXado_ohw"/>
</p:tagLst>
</file>

<file path=ppt/tags/tag344.xml><?xml version="1.0" encoding="utf-8"?>
<p:tagLst xmlns:a="http://schemas.openxmlformats.org/drawingml/2006/main" xmlns:r="http://schemas.openxmlformats.org/officeDocument/2006/relationships" xmlns:p="http://schemas.openxmlformats.org/presentationml/2006/main">
  <p:tag name="THINKCELLSHAPEDONOTDELETE" val="t1O0Ewfxuo3TL.ZccH1WWZQ"/>
</p:tagLst>
</file>

<file path=ppt/tags/tag345.xml><?xml version="1.0" encoding="utf-8"?>
<p:tagLst xmlns:a="http://schemas.openxmlformats.org/drawingml/2006/main" xmlns:r="http://schemas.openxmlformats.org/officeDocument/2006/relationships" xmlns:p="http://schemas.openxmlformats.org/presentationml/2006/main">
  <p:tag name="THINKCELLSHAPEDONOTDELETE" val="tTvlqlS.dZv_Wkul6122a6g"/>
</p:tagLst>
</file>

<file path=ppt/tags/tag346.xml><?xml version="1.0" encoding="utf-8"?>
<p:tagLst xmlns:a="http://schemas.openxmlformats.org/drawingml/2006/main" xmlns:r="http://schemas.openxmlformats.org/officeDocument/2006/relationships" xmlns:p="http://schemas.openxmlformats.org/presentationml/2006/main">
  <p:tag name="THINKCELLSHAPEDONOTDELETE" val="tu5ZMWiRFqUPp2LtBVHhQxg"/>
</p:tagLst>
</file>

<file path=ppt/tags/tag347.xml><?xml version="1.0" encoding="utf-8"?>
<p:tagLst xmlns:a="http://schemas.openxmlformats.org/drawingml/2006/main" xmlns:r="http://schemas.openxmlformats.org/officeDocument/2006/relationships" xmlns:p="http://schemas.openxmlformats.org/presentationml/2006/main">
  <p:tag name="THINKCELLSHAPEDONOTDELETE" val="tgE7SqRguW9J0MjrLHa00fA"/>
</p:tagLst>
</file>

<file path=ppt/tags/tag348.xml><?xml version="1.0" encoding="utf-8"?>
<p:tagLst xmlns:a="http://schemas.openxmlformats.org/drawingml/2006/main" xmlns:r="http://schemas.openxmlformats.org/officeDocument/2006/relationships" xmlns:p="http://schemas.openxmlformats.org/presentationml/2006/main">
  <p:tag name="THINKCELLSHAPEDONOTDELETE" val="tMw1RS3AUqSRg.TEuebWmdQ"/>
</p:tagLst>
</file>

<file path=ppt/tags/tag349.xml><?xml version="1.0" encoding="utf-8"?>
<p:tagLst xmlns:a="http://schemas.openxmlformats.org/drawingml/2006/main" xmlns:r="http://schemas.openxmlformats.org/officeDocument/2006/relationships" xmlns:p="http://schemas.openxmlformats.org/presentationml/2006/main">
  <p:tag name="THINKCELLSHAPEDONOTDELETE" val="tTTvZUa2Snc3bHLeMUxUH1w"/>
</p:tagLst>
</file>

<file path=ppt/tags/tag350.xml><?xml version="1.0" encoding="utf-8"?>
<p:tagLst xmlns:a="http://schemas.openxmlformats.org/drawingml/2006/main" xmlns:r="http://schemas.openxmlformats.org/officeDocument/2006/relationships" xmlns:p="http://schemas.openxmlformats.org/presentationml/2006/main">
  <p:tag name="THINKCELLSHAPEDONOTDELETE" val="tYtcirmPZmkxshBogRbU5VA"/>
</p:tagLst>
</file>

<file path=ppt/tags/tag351.xml><?xml version="1.0" encoding="utf-8"?>
<p:tagLst xmlns:a="http://schemas.openxmlformats.org/drawingml/2006/main" xmlns:r="http://schemas.openxmlformats.org/officeDocument/2006/relationships" xmlns:p="http://schemas.openxmlformats.org/presentationml/2006/main">
  <p:tag name="THINKCELLSHAPEDONOTDELETE" val="tVcA9PY9Q1u5M7CZIe3p0MQ"/>
</p:tagLst>
</file>

<file path=ppt/tags/tag352.xml><?xml version="1.0" encoding="utf-8"?>
<p:tagLst xmlns:a="http://schemas.openxmlformats.org/drawingml/2006/main" xmlns:r="http://schemas.openxmlformats.org/officeDocument/2006/relationships" xmlns:p="http://schemas.openxmlformats.org/presentationml/2006/main">
  <p:tag name="THINKCELLSHAPEDONOTDELETE" val="td4EeBY7YjKxdA0umIy1bNQ"/>
</p:tagLst>
</file>

<file path=ppt/tags/tag353.xml><?xml version="1.0" encoding="utf-8"?>
<p:tagLst xmlns:a="http://schemas.openxmlformats.org/drawingml/2006/main" xmlns:r="http://schemas.openxmlformats.org/officeDocument/2006/relationships" xmlns:p="http://schemas.openxmlformats.org/presentationml/2006/main">
  <p:tag name="THINKCELLSHAPEDONOTDELETE" val="tdB.icxERGxwsY5iAJkyIlg"/>
</p:tagLst>
</file>

<file path=ppt/tags/tag354.xml><?xml version="1.0" encoding="utf-8"?>
<p:tagLst xmlns:a="http://schemas.openxmlformats.org/drawingml/2006/main" xmlns:r="http://schemas.openxmlformats.org/officeDocument/2006/relationships" xmlns:p="http://schemas.openxmlformats.org/presentationml/2006/main">
  <p:tag name="THINKCELLSHAPEDONOTDELETE" val="t2nuMlUGIe1.Z6R.0dDMz_g"/>
</p:tagLst>
</file>

<file path=ppt/tags/tag355.xml><?xml version="1.0" encoding="utf-8"?>
<p:tagLst xmlns:a="http://schemas.openxmlformats.org/drawingml/2006/main" xmlns:r="http://schemas.openxmlformats.org/officeDocument/2006/relationships" xmlns:p="http://schemas.openxmlformats.org/presentationml/2006/main">
  <p:tag name="THINKCELLSHAPEDONOTDELETE" val="tUQN4za4WwFgQ0gXs0jbmCQ"/>
</p:tagLst>
</file>

<file path=ppt/tags/tag356.xml><?xml version="1.0" encoding="utf-8"?>
<p:tagLst xmlns:a="http://schemas.openxmlformats.org/drawingml/2006/main" xmlns:r="http://schemas.openxmlformats.org/officeDocument/2006/relationships" xmlns:p="http://schemas.openxmlformats.org/presentationml/2006/main">
  <p:tag name="THINKCELLSHAPEDONOTDELETE" val="taQZCf7G4MtgNCNY6RMaydA"/>
</p:tagLst>
</file>

<file path=ppt/tags/tag357.xml><?xml version="1.0" encoding="utf-8"?>
<p:tagLst xmlns:a="http://schemas.openxmlformats.org/drawingml/2006/main" xmlns:r="http://schemas.openxmlformats.org/officeDocument/2006/relationships" xmlns:p="http://schemas.openxmlformats.org/presentationml/2006/main">
  <p:tag name="THINKCELLSHAPEDONOTDELETE" val="tes30yivs92ZxRd_4OHHwTw"/>
</p:tagLst>
</file>

<file path=ppt/tags/tag358.xml><?xml version="1.0" encoding="utf-8"?>
<p:tagLst xmlns:a="http://schemas.openxmlformats.org/drawingml/2006/main" xmlns:r="http://schemas.openxmlformats.org/officeDocument/2006/relationships" xmlns:p="http://schemas.openxmlformats.org/presentationml/2006/main">
  <p:tag name="THINKCELLSHAPEDONOTDELETE" val="t0uxs1N6ukwtezZcGkaDVrQ"/>
</p:tagLst>
</file>

<file path=ppt/tags/tag359.xml><?xml version="1.0" encoding="utf-8"?>
<p:tagLst xmlns:a="http://schemas.openxmlformats.org/drawingml/2006/main" xmlns:r="http://schemas.openxmlformats.org/officeDocument/2006/relationships" xmlns:p="http://schemas.openxmlformats.org/presentationml/2006/main">
  <p:tag name="THINKCELLSHAPEDONOTDELETE" val="tEApPV4SePqZsyOEY8txTtA"/>
</p:tagLst>
</file>

<file path=ppt/tags/tag360.xml><?xml version="1.0" encoding="utf-8"?>
<p:tagLst xmlns:a="http://schemas.openxmlformats.org/drawingml/2006/main" xmlns:r="http://schemas.openxmlformats.org/officeDocument/2006/relationships" xmlns:p="http://schemas.openxmlformats.org/presentationml/2006/main">
  <p:tag name="THINKCELLSHAPEDONOTDELETE" val="tWdc5qv7qdtgX7VNtWPBhRg"/>
</p:tagLst>
</file>

<file path=ppt/tags/tag361.xml><?xml version="1.0" encoding="utf-8"?>
<p:tagLst xmlns:a="http://schemas.openxmlformats.org/drawingml/2006/main" xmlns:r="http://schemas.openxmlformats.org/officeDocument/2006/relationships" xmlns:p="http://schemas.openxmlformats.org/presentationml/2006/main">
  <p:tag name="THINKCELLSHAPEDONOTDELETE" val="tk.xHH5OsVu.1hB_vjZhCcw"/>
</p:tagLst>
</file>

<file path=ppt/tags/tag362.xml><?xml version="1.0" encoding="utf-8"?>
<p:tagLst xmlns:a="http://schemas.openxmlformats.org/drawingml/2006/main" xmlns:r="http://schemas.openxmlformats.org/officeDocument/2006/relationships" xmlns:p="http://schemas.openxmlformats.org/presentationml/2006/main">
  <p:tag name="THINKCELLSHAPEDONOTDELETE" val="t3ZlDUW9nxK4wNXGt2RLAkg"/>
</p:tagLst>
</file>

<file path=ppt/tags/tag363.xml><?xml version="1.0" encoding="utf-8"?>
<p:tagLst xmlns:a="http://schemas.openxmlformats.org/drawingml/2006/main" xmlns:r="http://schemas.openxmlformats.org/officeDocument/2006/relationships" xmlns:p="http://schemas.openxmlformats.org/presentationml/2006/main">
  <p:tag name="THINKCELLSHAPEDONOTDELETE" val="tSan5zYiaQU2Br2462AKX7Q"/>
</p:tagLst>
</file>

<file path=ppt/tags/tag364.xml><?xml version="1.0" encoding="utf-8"?>
<p:tagLst xmlns:a="http://schemas.openxmlformats.org/drawingml/2006/main" xmlns:r="http://schemas.openxmlformats.org/officeDocument/2006/relationships" xmlns:p="http://schemas.openxmlformats.org/presentationml/2006/main">
  <p:tag name="THINKCELLSHAPEDONOTDELETE" val="tvoEdbvLRQY2e_1O.Iu2Oug"/>
</p:tagLst>
</file>

<file path=ppt/tags/tag365.xml><?xml version="1.0" encoding="utf-8"?>
<p:tagLst xmlns:a="http://schemas.openxmlformats.org/drawingml/2006/main" xmlns:r="http://schemas.openxmlformats.org/officeDocument/2006/relationships" xmlns:p="http://schemas.openxmlformats.org/presentationml/2006/main">
  <p:tag name="THINKCELLSHAPEDONOTDELETE" val="t9CnXk_Wdl8XFQKjq9YSpXw"/>
</p:tagLst>
</file>

<file path=ppt/tags/tag366.xml><?xml version="1.0" encoding="utf-8"?>
<p:tagLst xmlns:a="http://schemas.openxmlformats.org/drawingml/2006/main" xmlns:r="http://schemas.openxmlformats.org/officeDocument/2006/relationships" xmlns:p="http://schemas.openxmlformats.org/presentationml/2006/main">
  <p:tag name="THINKCELLSHAPEDONOTDELETE" val="tFxZPXR9cgzCQeb4ln_jK9Q"/>
</p:tagLst>
</file>

<file path=ppt/tags/tag367.xml><?xml version="1.0" encoding="utf-8"?>
<p:tagLst xmlns:a="http://schemas.openxmlformats.org/drawingml/2006/main" xmlns:r="http://schemas.openxmlformats.org/officeDocument/2006/relationships" xmlns:p="http://schemas.openxmlformats.org/presentationml/2006/main">
  <p:tag name="THINKCELLSHAPEDONOTDELETE" val="t3P7fyRhX7fj4Hhukb_Ncjg"/>
</p:tagLst>
</file>

<file path=ppt/tags/tag368.xml><?xml version="1.0" encoding="utf-8"?>
<p:tagLst xmlns:a="http://schemas.openxmlformats.org/drawingml/2006/main" xmlns:r="http://schemas.openxmlformats.org/officeDocument/2006/relationships" xmlns:p="http://schemas.openxmlformats.org/presentationml/2006/main">
  <p:tag name="THINKCELLSHAPEDONOTDELETE" val="t350IML7tkUBlHsFekAWzRA"/>
</p:tagLst>
</file>

<file path=ppt/tags/tag369.xml><?xml version="1.0" encoding="utf-8"?>
<p:tagLst xmlns:a="http://schemas.openxmlformats.org/drawingml/2006/main" xmlns:r="http://schemas.openxmlformats.org/officeDocument/2006/relationships" xmlns:p="http://schemas.openxmlformats.org/presentationml/2006/main">
  <p:tag name="THINKCELLSHAPEDONOTDELETE" val="tVbYw548AuK5oFKizWgE3TA"/>
</p:tagLst>
</file>

<file path=ppt/tags/tag370.xml><?xml version="1.0" encoding="utf-8"?>
<p:tagLst xmlns:a="http://schemas.openxmlformats.org/drawingml/2006/main" xmlns:r="http://schemas.openxmlformats.org/officeDocument/2006/relationships" xmlns:p="http://schemas.openxmlformats.org/presentationml/2006/main">
  <p:tag name="THINKCELLSHAPEDONOTDELETE" val="tqg8AJ71ty_JCsDGB2CdY3A"/>
</p:tagLst>
</file>

<file path=ppt/tags/tag371.xml><?xml version="1.0" encoding="utf-8"?>
<p:tagLst xmlns:a="http://schemas.openxmlformats.org/drawingml/2006/main" xmlns:r="http://schemas.openxmlformats.org/officeDocument/2006/relationships" xmlns:p="http://schemas.openxmlformats.org/presentationml/2006/main">
  <p:tag name="THINKCELLSHAPEDONOTDELETE" val="tpsNG8uHVE_OVOJZcBSdzeg"/>
</p:tagLst>
</file>

<file path=ppt/tags/tag372.xml><?xml version="1.0" encoding="utf-8"?>
<p:tagLst xmlns:a="http://schemas.openxmlformats.org/drawingml/2006/main" xmlns:r="http://schemas.openxmlformats.org/officeDocument/2006/relationships" xmlns:p="http://schemas.openxmlformats.org/presentationml/2006/main">
  <p:tag name="THINKCELLSHAPEDONOTDELETE" val="tAE.KmzVsHPO6ustSvuLZkg"/>
</p:tagLst>
</file>

<file path=ppt/tags/tag373.xml><?xml version="1.0" encoding="utf-8"?>
<p:tagLst xmlns:a="http://schemas.openxmlformats.org/drawingml/2006/main" xmlns:r="http://schemas.openxmlformats.org/officeDocument/2006/relationships" xmlns:p="http://schemas.openxmlformats.org/presentationml/2006/main">
  <p:tag name="THINKCELLSHAPEDONOTDELETE" val="t0LWz2.ybDiv6vu3dWHlGbQ"/>
</p:tagLst>
</file>

<file path=ppt/tags/tag3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8.xml><?xml version="1.0" encoding="utf-8"?>
<p:tagLst xmlns:a="http://schemas.openxmlformats.org/drawingml/2006/main" xmlns:r="http://schemas.openxmlformats.org/officeDocument/2006/relationships" xmlns:p="http://schemas.openxmlformats.org/presentationml/2006/main">
  <p:tag name="THINKCELLSHAPEDONOTDELETE" val="t6iPkTfDetBiuW.iRHPb8AA"/>
</p:tagLst>
</file>

<file path=ppt/tags/tag389.xml><?xml version="1.0" encoding="utf-8"?>
<p:tagLst xmlns:a="http://schemas.openxmlformats.org/drawingml/2006/main" xmlns:r="http://schemas.openxmlformats.org/officeDocument/2006/relationships" xmlns:p="http://schemas.openxmlformats.org/presentationml/2006/main">
  <p:tag name="THINKCELLSHAPEDONOTDELETE" val="tfA4FJmJaINq2o8H9nS1DNg"/>
</p:tagLst>
</file>

<file path=ppt/tags/tag390.xml><?xml version="1.0" encoding="utf-8"?>
<p:tagLst xmlns:a="http://schemas.openxmlformats.org/drawingml/2006/main" xmlns:r="http://schemas.openxmlformats.org/officeDocument/2006/relationships" xmlns:p="http://schemas.openxmlformats.org/presentationml/2006/main">
  <p:tag name="THINKCELLSHAPEDONOTDELETE" val="t9NJC_UeBd9w0f9iKgAEgQA"/>
</p:tagLst>
</file>

<file path=ppt/tags/tag391.xml><?xml version="1.0" encoding="utf-8"?>
<p:tagLst xmlns:a="http://schemas.openxmlformats.org/drawingml/2006/main" xmlns:r="http://schemas.openxmlformats.org/officeDocument/2006/relationships" xmlns:p="http://schemas.openxmlformats.org/presentationml/2006/main">
  <p:tag name="THINKCELLSHAPEDONOTDELETE" val="tuuVQgAJz6ryHKCxDS6sObQ"/>
</p:tagLst>
</file>

<file path=ppt/tags/tag392.xml><?xml version="1.0" encoding="utf-8"?>
<p:tagLst xmlns:a="http://schemas.openxmlformats.org/drawingml/2006/main" xmlns:r="http://schemas.openxmlformats.org/officeDocument/2006/relationships" xmlns:p="http://schemas.openxmlformats.org/presentationml/2006/main">
  <p:tag name="THINKCELLSHAPEDONOTDELETE" val="ttVX5T9z8a1oEI1JlYfzMQg"/>
</p:tagLst>
</file>

<file path=ppt/tags/tag393.xml><?xml version="1.0" encoding="utf-8"?>
<p:tagLst xmlns:a="http://schemas.openxmlformats.org/drawingml/2006/main" xmlns:r="http://schemas.openxmlformats.org/officeDocument/2006/relationships" xmlns:p="http://schemas.openxmlformats.org/presentationml/2006/main">
  <p:tag name="THINKCELLSHAPEDONOTDELETE" val="tTu_hcofqSnU9n7qLU6GBig"/>
</p:tagLst>
</file>

<file path=ppt/tags/tag394.xml><?xml version="1.0" encoding="utf-8"?>
<p:tagLst xmlns:a="http://schemas.openxmlformats.org/drawingml/2006/main" xmlns:r="http://schemas.openxmlformats.org/officeDocument/2006/relationships" xmlns:p="http://schemas.openxmlformats.org/presentationml/2006/main">
  <p:tag name="THINKCELLSHAPEDONOTDELETE" val="tn6J93yfymGzk9idLLw0kFg"/>
</p:tagLst>
</file>

<file path=ppt/tags/tag395.xml><?xml version="1.0" encoding="utf-8"?>
<p:tagLst xmlns:a="http://schemas.openxmlformats.org/drawingml/2006/main" xmlns:r="http://schemas.openxmlformats.org/officeDocument/2006/relationships" xmlns:p="http://schemas.openxmlformats.org/presentationml/2006/main">
  <p:tag name="THINKCELLSHAPEDONOTDELETE" val="tnVhqm1Ww7r6WSemf1HGbYw"/>
</p:tagLst>
</file>

<file path=ppt/tags/tag396.xml><?xml version="1.0" encoding="utf-8"?>
<p:tagLst xmlns:a="http://schemas.openxmlformats.org/drawingml/2006/main" xmlns:r="http://schemas.openxmlformats.org/officeDocument/2006/relationships" xmlns:p="http://schemas.openxmlformats.org/presentationml/2006/main">
  <p:tag name="THINKCELLSHAPEDONOTDELETE" val="t5rQSsWz49wdX2aCBQ5_X4Q"/>
</p:tagLst>
</file>

<file path=ppt/tags/tag397.xml><?xml version="1.0" encoding="utf-8"?>
<p:tagLst xmlns:a="http://schemas.openxmlformats.org/drawingml/2006/main" xmlns:r="http://schemas.openxmlformats.org/officeDocument/2006/relationships" xmlns:p="http://schemas.openxmlformats.org/presentationml/2006/main">
  <p:tag name="THINKCELLSHAPEDONOTDELETE" val="tx7uZCR.3YTP.MKPiAjOqjQ"/>
</p:tagLst>
</file>

<file path=ppt/tags/tag398.xml><?xml version="1.0" encoding="utf-8"?>
<p:tagLst xmlns:a="http://schemas.openxmlformats.org/drawingml/2006/main" xmlns:r="http://schemas.openxmlformats.org/officeDocument/2006/relationships" xmlns:p="http://schemas.openxmlformats.org/presentationml/2006/main">
  <p:tag name="THINKCELLSHAPEDONOTDELETE" val="tv0B1O9FhfylVBQT8M2SvPg"/>
</p:tagLst>
</file>

<file path=ppt/tags/tag399.xml><?xml version="1.0" encoding="utf-8"?>
<p:tagLst xmlns:a="http://schemas.openxmlformats.org/drawingml/2006/main" xmlns:r="http://schemas.openxmlformats.org/officeDocument/2006/relationships" xmlns:p="http://schemas.openxmlformats.org/presentationml/2006/main">
  <p:tag name="THINKCELLSHAPEDONOTDELETE" val="tXo.PeXVTp3mhFTnGcrWACg"/>
</p:tagLst>
</file>

<file path=ppt/tags/tag400.xml><?xml version="1.0" encoding="utf-8"?>
<p:tagLst xmlns:a="http://schemas.openxmlformats.org/drawingml/2006/main" xmlns:r="http://schemas.openxmlformats.org/officeDocument/2006/relationships" xmlns:p="http://schemas.openxmlformats.org/presentationml/2006/main">
  <p:tag name="THINKCELLSHAPEDONOTDELETE" val="t2yQ8sMndUu0Qe7DRxORTkg"/>
</p:tagLst>
</file>

<file path=ppt/tags/tag401.xml><?xml version="1.0" encoding="utf-8"?>
<p:tagLst xmlns:a="http://schemas.openxmlformats.org/drawingml/2006/main" xmlns:r="http://schemas.openxmlformats.org/officeDocument/2006/relationships" xmlns:p="http://schemas.openxmlformats.org/presentationml/2006/main">
  <p:tag name="THINKCELLSHAPEDONOTDELETE" val="tBCLsX4nobD3dsPeWyoaS6w"/>
</p:tagLst>
</file>

<file path=ppt/tags/tag402.xml><?xml version="1.0" encoding="utf-8"?>
<p:tagLst xmlns:a="http://schemas.openxmlformats.org/drawingml/2006/main" xmlns:r="http://schemas.openxmlformats.org/officeDocument/2006/relationships" xmlns:p="http://schemas.openxmlformats.org/presentationml/2006/main">
  <p:tag name="THINKCELLSHAPEDONOTDELETE" val="td46W59atijHtD9zcHqlpQA"/>
</p:tagLst>
</file>

<file path=ppt/tags/tag403.xml><?xml version="1.0" encoding="utf-8"?>
<p:tagLst xmlns:a="http://schemas.openxmlformats.org/drawingml/2006/main" xmlns:r="http://schemas.openxmlformats.org/officeDocument/2006/relationships" xmlns:p="http://schemas.openxmlformats.org/presentationml/2006/main">
  <p:tag name="THINKCELLSHAPEDONOTDELETE" val="tPQKABgOM8QjagJ3wxz7lXQ"/>
</p:tagLst>
</file>

<file path=ppt/tags/tag404.xml><?xml version="1.0" encoding="utf-8"?>
<p:tagLst xmlns:a="http://schemas.openxmlformats.org/drawingml/2006/main" xmlns:r="http://schemas.openxmlformats.org/officeDocument/2006/relationships" xmlns:p="http://schemas.openxmlformats.org/presentationml/2006/main">
  <p:tag name="THINKCELLSHAPEDONOTDELETE" val="tvXpmOWdiqs0WJ18B7z41TQ"/>
</p:tagLst>
</file>

<file path=ppt/tags/tag405.xml><?xml version="1.0" encoding="utf-8"?>
<p:tagLst xmlns:a="http://schemas.openxmlformats.org/drawingml/2006/main" xmlns:r="http://schemas.openxmlformats.org/officeDocument/2006/relationships" xmlns:p="http://schemas.openxmlformats.org/presentationml/2006/main">
  <p:tag name="THINKCELLSHAPEDONOTDELETE" val="t_9oX8dTU5A6cK0PuN8xhdg"/>
</p:tagLst>
</file>

<file path=ppt/tags/tag406.xml><?xml version="1.0" encoding="utf-8"?>
<p:tagLst xmlns:a="http://schemas.openxmlformats.org/drawingml/2006/main" xmlns:r="http://schemas.openxmlformats.org/officeDocument/2006/relationships" xmlns:p="http://schemas.openxmlformats.org/presentationml/2006/main">
  <p:tag name="THINKCELLSHAPEDONOTDELETE" val="tkPl4ErhKUWJQywOewUR0pQ"/>
</p:tagLst>
</file>

<file path=ppt/tags/tag407.xml><?xml version="1.0" encoding="utf-8"?>
<p:tagLst xmlns:a="http://schemas.openxmlformats.org/drawingml/2006/main" xmlns:r="http://schemas.openxmlformats.org/officeDocument/2006/relationships" xmlns:p="http://schemas.openxmlformats.org/presentationml/2006/main">
  <p:tag name="THINKCELLSHAPEDONOTDELETE" val="t.ZXOcAPlGA4i.JsTS3OcmQ"/>
</p:tagLst>
</file>

<file path=ppt/tags/tag408.xml><?xml version="1.0" encoding="utf-8"?>
<p:tagLst xmlns:a="http://schemas.openxmlformats.org/drawingml/2006/main" xmlns:r="http://schemas.openxmlformats.org/officeDocument/2006/relationships" xmlns:p="http://schemas.openxmlformats.org/presentationml/2006/main">
  <p:tag name="THINKCELLSHAPEDONOTDELETE" val="tVOouE1dAINSwQXCHPGuzcA"/>
</p:tagLst>
</file>

<file path=ppt/tags/tag409.xml><?xml version="1.0" encoding="utf-8"?>
<p:tagLst xmlns:a="http://schemas.openxmlformats.org/drawingml/2006/main" xmlns:r="http://schemas.openxmlformats.org/officeDocument/2006/relationships" xmlns:p="http://schemas.openxmlformats.org/presentationml/2006/main">
  <p:tag name="THINKCELLSHAPEDONOTDELETE" val="tcNHxB.zCKTGj5W25s71FpQ"/>
</p:tagLst>
</file>

<file path=ppt/tags/tag410.xml><?xml version="1.0" encoding="utf-8"?>
<p:tagLst xmlns:a="http://schemas.openxmlformats.org/drawingml/2006/main" xmlns:r="http://schemas.openxmlformats.org/officeDocument/2006/relationships" xmlns:p="http://schemas.openxmlformats.org/presentationml/2006/main">
  <p:tag name="THINKCELLSHAPEDONOTDELETE" val="tQRqjHOtW35mMT7QoldC_vQ"/>
</p:tagLst>
</file>

<file path=ppt/tags/tag411.xml><?xml version="1.0" encoding="utf-8"?>
<p:tagLst xmlns:a="http://schemas.openxmlformats.org/drawingml/2006/main" xmlns:r="http://schemas.openxmlformats.org/officeDocument/2006/relationships" xmlns:p="http://schemas.openxmlformats.org/presentationml/2006/main">
  <p:tag name="THINKCELLSHAPEDONOTDELETE" val="tZ0NQBLFUa8yYC5ZBa0BL2A"/>
</p:tagLst>
</file>

<file path=ppt/tags/tag412.xml><?xml version="1.0" encoding="utf-8"?>
<p:tagLst xmlns:a="http://schemas.openxmlformats.org/drawingml/2006/main" xmlns:r="http://schemas.openxmlformats.org/officeDocument/2006/relationships" xmlns:p="http://schemas.openxmlformats.org/presentationml/2006/main">
  <p:tag name="THINKCELLSHAPEDONOTDELETE" val="tvtPybNrsFk1idBccFfx2iw"/>
</p:tagLst>
</file>

<file path=ppt/tags/tag413.xml><?xml version="1.0" encoding="utf-8"?>
<p:tagLst xmlns:a="http://schemas.openxmlformats.org/drawingml/2006/main" xmlns:r="http://schemas.openxmlformats.org/officeDocument/2006/relationships" xmlns:p="http://schemas.openxmlformats.org/presentationml/2006/main">
  <p:tag name="THINKCELLSHAPEDONOTDELETE" val="t6fxdUG00w_GzP25lNd7oEw"/>
</p:tagLst>
</file>

<file path=ppt/tags/tag414.xml><?xml version="1.0" encoding="utf-8"?>
<p:tagLst xmlns:a="http://schemas.openxmlformats.org/drawingml/2006/main" xmlns:r="http://schemas.openxmlformats.org/officeDocument/2006/relationships" xmlns:p="http://schemas.openxmlformats.org/presentationml/2006/main">
  <p:tag name="THINKCELLSHAPEDONOTDELETE" val="tNpdrPm1w5AInJaIuHoru.g"/>
</p:tagLst>
</file>

<file path=ppt/tags/tag415.xml><?xml version="1.0" encoding="utf-8"?>
<p:tagLst xmlns:a="http://schemas.openxmlformats.org/drawingml/2006/main" xmlns:r="http://schemas.openxmlformats.org/officeDocument/2006/relationships" xmlns:p="http://schemas.openxmlformats.org/presentationml/2006/main">
  <p:tag name="THINKCELLSHAPEDONOTDELETE" val="tRUR0.9XM5S3rRg82m8Cphg"/>
</p:tagLst>
</file>

<file path=ppt/tags/tag416.xml><?xml version="1.0" encoding="utf-8"?>
<p:tagLst xmlns:a="http://schemas.openxmlformats.org/drawingml/2006/main" xmlns:r="http://schemas.openxmlformats.org/officeDocument/2006/relationships" xmlns:p="http://schemas.openxmlformats.org/presentationml/2006/main">
  <p:tag name="THINKCELLSHAPEDONOTDELETE" val="taeBZobqX10rodCUxafp.QA"/>
</p:tagLst>
</file>

<file path=ppt/tags/tag417.xml><?xml version="1.0" encoding="utf-8"?>
<p:tagLst xmlns:a="http://schemas.openxmlformats.org/drawingml/2006/main" xmlns:r="http://schemas.openxmlformats.org/officeDocument/2006/relationships" xmlns:p="http://schemas.openxmlformats.org/presentationml/2006/main">
  <p:tag name="THINKCELLSHAPEDONOTDELETE" val="tdC26W3TA9dGfJ6adh.DD7Q"/>
</p:tagLst>
</file>

<file path=ppt/tags/tag418.xml><?xml version="1.0" encoding="utf-8"?>
<p:tagLst xmlns:a="http://schemas.openxmlformats.org/drawingml/2006/main" xmlns:r="http://schemas.openxmlformats.org/officeDocument/2006/relationships" xmlns:p="http://schemas.openxmlformats.org/presentationml/2006/main">
  <p:tag name="THINKCELLSHAPEDONOTDELETE" val="tnf4d.PqpJ9LGSGGjNUvhgQ"/>
</p:tagLst>
</file>

<file path=ppt/tags/tag419.xml><?xml version="1.0" encoding="utf-8"?>
<p:tagLst xmlns:a="http://schemas.openxmlformats.org/drawingml/2006/main" xmlns:r="http://schemas.openxmlformats.org/officeDocument/2006/relationships" xmlns:p="http://schemas.openxmlformats.org/presentationml/2006/main">
  <p:tag name="THINKCELLSHAPEDONOTDELETE" val="taTxmC_HpHkKGkL5hOjaIhA"/>
</p:tagLst>
</file>

<file path=ppt/tags/tag420.xml><?xml version="1.0" encoding="utf-8"?>
<p:tagLst xmlns:a="http://schemas.openxmlformats.org/drawingml/2006/main" xmlns:r="http://schemas.openxmlformats.org/officeDocument/2006/relationships" xmlns:p="http://schemas.openxmlformats.org/presentationml/2006/main">
  <p:tag name="THINKCELLSHAPEDONOTDELETE" val="tqBM9KxwTuSBMlrDKMtnWhA"/>
</p:tagLst>
</file>

<file path=ppt/tags/tag4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3.xml><?xml version="1.0" encoding="utf-8"?>
<p:tagLst xmlns:a="http://schemas.openxmlformats.org/drawingml/2006/main" xmlns:r="http://schemas.openxmlformats.org/officeDocument/2006/relationships" xmlns:p="http://schemas.openxmlformats.org/presentationml/2006/main">
  <p:tag name="THINKCELLSHAPEDONOTDELETE" val="t_1b92wCBLVcLyxoKJKO71A"/>
</p:tagLst>
</file>

<file path=ppt/tags/tag424.xml><?xml version="1.0" encoding="utf-8"?>
<p:tagLst xmlns:a="http://schemas.openxmlformats.org/drawingml/2006/main" xmlns:r="http://schemas.openxmlformats.org/officeDocument/2006/relationships" xmlns:p="http://schemas.openxmlformats.org/presentationml/2006/main">
  <p:tag name="THINKCELLSHAPEDONOTDELETE" val="tgipTmwO2JojkdEctu64ISA"/>
</p:tagLst>
</file>

<file path=ppt/tags/tag425.xml><?xml version="1.0" encoding="utf-8"?>
<p:tagLst xmlns:a="http://schemas.openxmlformats.org/drawingml/2006/main" xmlns:r="http://schemas.openxmlformats.org/officeDocument/2006/relationships" xmlns:p="http://schemas.openxmlformats.org/presentationml/2006/main">
  <p:tag name="THINKCELLSHAPEDONOTDELETE" val="t_zdOG4ygWxBrGqvWHvVSyw"/>
</p:tagLst>
</file>

<file path=ppt/tags/tag426.xml><?xml version="1.0" encoding="utf-8"?>
<p:tagLst xmlns:a="http://schemas.openxmlformats.org/drawingml/2006/main" xmlns:r="http://schemas.openxmlformats.org/officeDocument/2006/relationships" xmlns:p="http://schemas.openxmlformats.org/presentationml/2006/main">
  <p:tag name="THINKCELLSHAPEDONOTDELETE" val="tZD8Pzdo_UG6xrdJDUD6fcg"/>
</p:tagLst>
</file>

<file path=ppt/tags/tag427.xml><?xml version="1.0" encoding="utf-8"?>
<p:tagLst xmlns:a="http://schemas.openxmlformats.org/drawingml/2006/main" xmlns:r="http://schemas.openxmlformats.org/officeDocument/2006/relationships" xmlns:p="http://schemas.openxmlformats.org/presentationml/2006/main">
  <p:tag name="THINKCELLSHAPEDONOTDELETE" val="tB6x0Ka0SNzEIbL_PrP2jww"/>
</p:tagLst>
</file>

<file path=ppt/tags/tag428.xml><?xml version="1.0" encoding="utf-8"?>
<p:tagLst xmlns:a="http://schemas.openxmlformats.org/drawingml/2006/main" xmlns:r="http://schemas.openxmlformats.org/officeDocument/2006/relationships" xmlns:p="http://schemas.openxmlformats.org/presentationml/2006/main">
  <p:tag name="THINKCELLSHAPEDONOTDELETE" val="teOfSNUlblaa2H_KOgFJ.XA"/>
</p:tagLst>
</file>

<file path=ppt/tags/tag429.xml><?xml version="1.0" encoding="utf-8"?>
<p:tagLst xmlns:a="http://schemas.openxmlformats.org/drawingml/2006/main" xmlns:r="http://schemas.openxmlformats.org/officeDocument/2006/relationships" xmlns:p="http://schemas.openxmlformats.org/presentationml/2006/main">
  <p:tag name="THINKCELLSHAPEDONOTDELETE" val="tQGb0a8nAU9ONQ8YZUUov1A"/>
</p:tagLst>
</file>

<file path=ppt/tags/tag430.xml><?xml version="1.0" encoding="utf-8"?>
<p:tagLst xmlns:a="http://schemas.openxmlformats.org/drawingml/2006/main" xmlns:r="http://schemas.openxmlformats.org/officeDocument/2006/relationships" xmlns:p="http://schemas.openxmlformats.org/presentationml/2006/main">
  <p:tag name="THINKCELLSHAPEDONOTDELETE" val="tt4zFPghEdA8N8uvw2QQ0yw"/>
</p:tagLst>
</file>

<file path=ppt/tags/tag431.xml><?xml version="1.0" encoding="utf-8"?>
<p:tagLst xmlns:a="http://schemas.openxmlformats.org/drawingml/2006/main" xmlns:r="http://schemas.openxmlformats.org/officeDocument/2006/relationships" xmlns:p="http://schemas.openxmlformats.org/presentationml/2006/main">
  <p:tag name="THINKCELLSHAPEDONOTDELETE" val="tZO9kAdyVgDC1IW8tqTzR2Q"/>
</p:tagLst>
</file>

<file path=ppt/tags/tag432.xml><?xml version="1.0" encoding="utf-8"?>
<p:tagLst xmlns:a="http://schemas.openxmlformats.org/drawingml/2006/main" xmlns:r="http://schemas.openxmlformats.org/officeDocument/2006/relationships" xmlns:p="http://schemas.openxmlformats.org/presentationml/2006/main">
  <p:tag name="THINKCELLSHAPEDONOTDELETE" val="txNq8JF8n7USDFT87gTklSg"/>
</p:tagLst>
</file>

<file path=ppt/tags/tag433.xml><?xml version="1.0" encoding="utf-8"?>
<p:tagLst xmlns:a="http://schemas.openxmlformats.org/drawingml/2006/main" xmlns:r="http://schemas.openxmlformats.org/officeDocument/2006/relationships" xmlns:p="http://schemas.openxmlformats.org/presentationml/2006/main">
  <p:tag name="THINKCELLSHAPEDONOTDELETE" val="tvhEG5x4wBTMqhE2M.QkqCw"/>
</p:tagLst>
</file>

<file path=ppt/tags/tag434.xml><?xml version="1.0" encoding="utf-8"?>
<p:tagLst xmlns:a="http://schemas.openxmlformats.org/drawingml/2006/main" xmlns:r="http://schemas.openxmlformats.org/officeDocument/2006/relationships" xmlns:p="http://schemas.openxmlformats.org/presentationml/2006/main">
  <p:tag name="THINKCELLSHAPEDONOTDELETE" val="t_2ztBC.RAcx6OjsVNx962Q"/>
</p:tagLst>
</file>

<file path=ppt/tags/tag435.xml><?xml version="1.0" encoding="utf-8"?>
<p:tagLst xmlns:a="http://schemas.openxmlformats.org/drawingml/2006/main" xmlns:r="http://schemas.openxmlformats.org/officeDocument/2006/relationships" xmlns:p="http://schemas.openxmlformats.org/presentationml/2006/main">
  <p:tag name="THINKCELLSHAPEDONOTDELETE" val="tPtgLcxEtJvaUlkM5qFMDoA"/>
</p:tagLst>
</file>

<file path=ppt/tags/tag436.xml><?xml version="1.0" encoding="utf-8"?>
<p:tagLst xmlns:a="http://schemas.openxmlformats.org/drawingml/2006/main" xmlns:r="http://schemas.openxmlformats.org/officeDocument/2006/relationships" xmlns:p="http://schemas.openxmlformats.org/presentationml/2006/main">
  <p:tag name="THINKCELLSHAPEDONOTDELETE" val="tMtbN7RkUyIEo7fUAefHzNA"/>
</p:tagLst>
</file>

<file path=ppt/tags/tag437.xml><?xml version="1.0" encoding="utf-8"?>
<p:tagLst xmlns:a="http://schemas.openxmlformats.org/drawingml/2006/main" xmlns:r="http://schemas.openxmlformats.org/officeDocument/2006/relationships" xmlns:p="http://schemas.openxmlformats.org/presentationml/2006/main">
  <p:tag name="THINKCELLSHAPEDONOTDELETE" val="tu3yZwP_YPkb.qG2Gb1nv8g"/>
</p:tagLst>
</file>

<file path=ppt/tags/tag438.xml><?xml version="1.0" encoding="utf-8"?>
<p:tagLst xmlns:a="http://schemas.openxmlformats.org/drawingml/2006/main" xmlns:r="http://schemas.openxmlformats.org/officeDocument/2006/relationships" xmlns:p="http://schemas.openxmlformats.org/presentationml/2006/main">
  <p:tag name="THINKCELLSHAPEDONOTDELETE" val="tB1QhKpnSC1M3CY9jGCW7PA"/>
</p:tagLst>
</file>

<file path=ppt/tags/tag439.xml><?xml version="1.0" encoding="utf-8"?>
<p:tagLst xmlns:a="http://schemas.openxmlformats.org/drawingml/2006/main" xmlns:r="http://schemas.openxmlformats.org/officeDocument/2006/relationships" xmlns:p="http://schemas.openxmlformats.org/presentationml/2006/main">
  <p:tag name="THINKCELLSHAPEDONOTDELETE" val="tc7wx_1zbPk1_gyRxmDqBOg"/>
</p:tagLst>
</file>

<file path=ppt/tags/tag440.xml><?xml version="1.0" encoding="utf-8"?>
<p:tagLst xmlns:a="http://schemas.openxmlformats.org/drawingml/2006/main" xmlns:r="http://schemas.openxmlformats.org/officeDocument/2006/relationships" xmlns:p="http://schemas.openxmlformats.org/presentationml/2006/main">
  <p:tag name="THINKCELLSHAPEDONOTDELETE" val="tycjhF0SPYTxOCOS_DbbHZg"/>
</p:tagLst>
</file>

<file path=ppt/tags/tag441.xml><?xml version="1.0" encoding="utf-8"?>
<p:tagLst xmlns:a="http://schemas.openxmlformats.org/drawingml/2006/main" xmlns:r="http://schemas.openxmlformats.org/officeDocument/2006/relationships" xmlns:p="http://schemas.openxmlformats.org/presentationml/2006/main">
  <p:tag name="THINKCELLSHAPEDONOTDELETE" val="tgsTyMGpF90LtB7kkTTWAyQ"/>
</p:tagLst>
</file>

<file path=ppt/tags/tag442.xml><?xml version="1.0" encoding="utf-8"?>
<p:tagLst xmlns:a="http://schemas.openxmlformats.org/drawingml/2006/main" xmlns:r="http://schemas.openxmlformats.org/officeDocument/2006/relationships" xmlns:p="http://schemas.openxmlformats.org/presentationml/2006/main">
  <p:tag name="THINKCELLSHAPEDONOTDELETE" val="tQf9tluryHqRP3rCmOtMldg"/>
</p:tagLst>
</file>

<file path=ppt/tags/tag443.xml><?xml version="1.0" encoding="utf-8"?>
<p:tagLst xmlns:a="http://schemas.openxmlformats.org/drawingml/2006/main" xmlns:r="http://schemas.openxmlformats.org/officeDocument/2006/relationships" xmlns:p="http://schemas.openxmlformats.org/presentationml/2006/main">
  <p:tag name="THINKCELLSHAPEDONOTDELETE" val="txW6bpXfw3qTOOv.1cPK95w"/>
</p:tagLst>
</file>

<file path=ppt/tags/tag4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5.xml><?xml version="1.0" encoding="utf-8"?>
<p:tagLst xmlns:a="http://schemas.openxmlformats.org/drawingml/2006/main" xmlns:r="http://schemas.openxmlformats.org/officeDocument/2006/relationships" xmlns:p="http://schemas.openxmlformats.org/presentationml/2006/main">
  <p:tag name="THINKCELLSHAPEDONOTDELETE" val="t1Yb0pgI46FXzthpTGjALZw"/>
</p:tagLst>
</file>

<file path=ppt/tags/tag446.xml><?xml version="1.0" encoding="utf-8"?>
<p:tagLst xmlns:a="http://schemas.openxmlformats.org/drawingml/2006/main" xmlns:r="http://schemas.openxmlformats.org/officeDocument/2006/relationships" xmlns:p="http://schemas.openxmlformats.org/presentationml/2006/main">
  <p:tag name="THINKCELLSHAPEDONOTDELETE" val="tDS7v211GoGNtNqM5MA0TzA"/>
</p:tagLst>
</file>

<file path=ppt/tags/tag447.xml><?xml version="1.0" encoding="utf-8"?>
<p:tagLst xmlns:a="http://schemas.openxmlformats.org/drawingml/2006/main" xmlns:r="http://schemas.openxmlformats.org/officeDocument/2006/relationships" xmlns:p="http://schemas.openxmlformats.org/presentationml/2006/main">
  <p:tag name="THINKCELLSHAPEDONOTDELETE" val="tu4qbIp2C1Hcsh6KzDIIVsw"/>
</p:tagLst>
</file>

<file path=ppt/tags/tag448.xml><?xml version="1.0" encoding="utf-8"?>
<p:tagLst xmlns:a="http://schemas.openxmlformats.org/drawingml/2006/main" xmlns:r="http://schemas.openxmlformats.org/officeDocument/2006/relationships" xmlns:p="http://schemas.openxmlformats.org/presentationml/2006/main">
  <p:tag name="THINKCELLSHAPEDONOTDELETE" val="tCdfNVjMQGl70mSV_DVztQA"/>
</p:tagLst>
</file>

<file path=ppt/tags/tag449.xml><?xml version="1.0" encoding="utf-8"?>
<p:tagLst xmlns:a="http://schemas.openxmlformats.org/drawingml/2006/main" xmlns:r="http://schemas.openxmlformats.org/officeDocument/2006/relationships" xmlns:p="http://schemas.openxmlformats.org/presentationml/2006/main">
  <p:tag name="THINKCELLSHAPEDONOTDELETE" val="t9mH_xLCp2d8Q9W8dIcDraQ"/>
</p:tagLst>
</file>

<file path=ppt/tags/tag450.xml><?xml version="1.0" encoding="utf-8"?>
<p:tagLst xmlns:a="http://schemas.openxmlformats.org/drawingml/2006/main" xmlns:r="http://schemas.openxmlformats.org/officeDocument/2006/relationships" xmlns:p="http://schemas.openxmlformats.org/presentationml/2006/main">
  <p:tag name="THINKCELLSHAPEDONOTDELETE" val="tOj5v6sAlOkmZH5gYiDm8cw"/>
</p:tagLst>
</file>

<file path=ppt/tags/tag451.xml><?xml version="1.0" encoding="utf-8"?>
<p:tagLst xmlns:a="http://schemas.openxmlformats.org/drawingml/2006/main" xmlns:r="http://schemas.openxmlformats.org/officeDocument/2006/relationships" xmlns:p="http://schemas.openxmlformats.org/presentationml/2006/main">
  <p:tag name="THINKCELLSHAPEDONOTDELETE" val="trh3DQwM7XWGUD8YuXBkjfg"/>
</p:tagLst>
</file>

<file path=ppt/tags/tag452.xml><?xml version="1.0" encoding="utf-8"?>
<p:tagLst xmlns:a="http://schemas.openxmlformats.org/drawingml/2006/main" xmlns:r="http://schemas.openxmlformats.org/officeDocument/2006/relationships" xmlns:p="http://schemas.openxmlformats.org/presentationml/2006/main">
  <p:tag name="THINKCELLSHAPEDONOTDELETE" val="tU_DiNER.rrz9xTmIqxcW8w"/>
</p:tagLst>
</file>

<file path=ppt/tags/tag453.xml><?xml version="1.0" encoding="utf-8"?>
<p:tagLst xmlns:a="http://schemas.openxmlformats.org/drawingml/2006/main" xmlns:r="http://schemas.openxmlformats.org/officeDocument/2006/relationships" xmlns:p="http://schemas.openxmlformats.org/presentationml/2006/main">
  <p:tag name="THINKCELLSHAPEDONOTDELETE" val="tmQjICa4.O6kyfvzRE.Nuww"/>
</p:tagLst>
</file>

<file path=ppt/tags/tag454.xml><?xml version="1.0" encoding="utf-8"?>
<p:tagLst xmlns:a="http://schemas.openxmlformats.org/drawingml/2006/main" xmlns:r="http://schemas.openxmlformats.org/officeDocument/2006/relationships" xmlns:p="http://schemas.openxmlformats.org/presentationml/2006/main">
  <p:tag name="THINKCELLSHAPEDONOTDELETE" val="tuzOYjLJ5Ttx06jj2mu7Bvw"/>
</p:tagLst>
</file>

<file path=ppt/tags/tag455.xml><?xml version="1.0" encoding="utf-8"?>
<p:tagLst xmlns:a="http://schemas.openxmlformats.org/drawingml/2006/main" xmlns:r="http://schemas.openxmlformats.org/officeDocument/2006/relationships" xmlns:p="http://schemas.openxmlformats.org/presentationml/2006/main">
  <p:tag name="THINKCELLSHAPEDONOTDELETE" val="tL.v1Qqp30m21Yqg782Fjlg"/>
</p:tagLst>
</file>

<file path=ppt/tags/tag456.xml><?xml version="1.0" encoding="utf-8"?>
<p:tagLst xmlns:a="http://schemas.openxmlformats.org/drawingml/2006/main" xmlns:r="http://schemas.openxmlformats.org/officeDocument/2006/relationships" xmlns:p="http://schemas.openxmlformats.org/presentationml/2006/main">
  <p:tag name="THINKCELLSHAPEDONOTDELETE" val="tnL3yWW3jUKzlBf67mIBjvQ"/>
</p:tagLst>
</file>

<file path=ppt/tags/tag457.xml><?xml version="1.0" encoding="utf-8"?>
<p:tagLst xmlns:a="http://schemas.openxmlformats.org/drawingml/2006/main" xmlns:r="http://schemas.openxmlformats.org/officeDocument/2006/relationships" xmlns:p="http://schemas.openxmlformats.org/presentationml/2006/main">
  <p:tag name="THINKCELLSHAPEDONOTDELETE" val="t_sgVbyCNFxXtfmz8YOgdBg"/>
</p:tagLst>
</file>

<file path=ppt/tags/tag458.xml><?xml version="1.0" encoding="utf-8"?>
<p:tagLst xmlns:a="http://schemas.openxmlformats.org/drawingml/2006/main" xmlns:r="http://schemas.openxmlformats.org/officeDocument/2006/relationships" xmlns:p="http://schemas.openxmlformats.org/presentationml/2006/main">
  <p:tag name="THINKCELLSHAPEDONOTDELETE" val="tiyk1_OstmQerSmM7OvM_rQ"/>
</p:tagLst>
</file>

<file path=ppt/tags/tag459.xml><?xml version="1.0" encoding="utf-8"?>
<p:tagLst xmlns:a="http://schemas.openxmlformats.org/drawingml/2006/main" xmlns:r="http://schemas.openxmlformats.org/officeDocument/2006/relationships" xmlns:p="http://schemas.openxmlformats.org/presentationml/2006/main">
  <p:tag name="THINKCELLSHAPEDONOTDELETE" val="tA85SgcPixZBFvQ12YEACSg"/>
</p:tagLst>
</file>

<file path=ppt/tags/tag460.xml><?xml version="1.0" encoding="utf-8"?>
<p:tagLst xmlns:a="http://schemas.openxmlformats.org/drawingml/2006/main" xmlns:r="http://schemas.openxmlformats.org/officeDocument/2006/relationships" xmlns:p="http://schemas.openxmlformats.org/presentationml/2006/main">
  <p:tag name="THINKCELLSHAPEDONOTDELETE" val="tuVE4XfqWUzapy5tIdcCnbw"/>
</p:tagLst>
</file>

<file path=ppt/tags/tag461.xml><?xml version="1.0" encoding="utf-8"?>
<p:tagLst xmlns:a="http://schemas.openxmlformats.org/drawingml/2006/main" xmlns:r="http://schemas.openxmlformats.org/officeDocument/2006/relationships" xmlns:p="http://schemas.openxmlformats.org/presentationml/2006/main">
  <p:tag name="THINKCELLSHAPEDONOTDELETE" val="tdZqrvASE1DBghV.KmJzvOA"/>
</p:tagLst>
</file>

<file path=ppt/tags/tag462.xml><?xml version="1.0" encoding="utf-8"?>
<p:tagLst xmlns:a="http://schemas.openxmlformats.org/drawingml/2006/main" xmlns:r="http://schemas.openxmlformats.org/officeDocument/2006/relationships" xmlns:p="http://schemas.openxmlformats.org/presentationml/2006/main">
  <p:tag name="THINKCELLSHAPEDONOTDELETE" val="tZ6NKj7Shp2_Tz2ZQwq70eQ"/>
</p:tagLst>
</file>

<file path=ppt/tags/tag463.xml><?xml version="1.0" encoding="utf-8"?>
<p:tagLst xmlns:a="http://schemas.openxmlformats.org/drawingml/2006/main" xmlns:r="http://schemas.openxmlformats.org/officeDocument/2006/relationships" xmlns:p="http://schemas.openxmlformats.org/presentationml/2006/main">
  <p:tag name="THINKCELLSHAPEDONOTDELETE" val="tvjwfzh5_h5y.GAXpZ4Hlaw"/>
</p:tagLst>
</file>

<file path=ppt/tags/tag464.xml><?xml version="1.0" encoding="utf-8"?>
<p:tagLst xmlns:a="http://schemas.openxmlformats.org/drawingml/2006/main" xmlns:r="http://schemas.openxmlformats.org/officeDocument/2006/relationships" xmlns:p="http://schemas.openxmlformats.org/presentationml/2006/main">
  <p:tag name="THINKCELLSHAPEDONOTDELETE" val="tOacGzPPlblwl8PhlWo09pg"/>
</p:tagLst>
</file>

<file path=ppt/tags/tag465.xml><?xml version="1.0" encoding="utf-8"?>
<p:tagLst xmlns:a="http://schemas.openxmlformats.org/drawingml/2006/main" xmlns:r="http://schemas.openxmlformats.org/officeDocument/2006/relationships" xmlns:p="http://schemas.openxmlformats.org/presentationml/2006/main">
  <p:tag name="THINKCELLSHAPEDONOTDELETE" val="t4SzDk_uBxjEXW5bHduZpLw"/>
</p:tagLst>
</file>

<file path=ppt/tags/tag466.xml><?xml version="1.0" encoding="utf-8"?>
<p:tagLst xmlns:a="http://schemas.openxmlformats.org/drawingml/2006/main" xmlns:r="http://schemas.openxmlformats.org/officeDocument/2006/relationships" xmlns:p="http://schemas.openxmlformats.org/presentationml/2006/main">
  <p:tag name="THINKCELLSHAPEDONOTDELETE" val="tUtq.YspJBaOdxhah27mEiw"/>
</p:tagLst>
</file>

<file path=ppt/tags/tag467.xml><?xml version="1.0" encoding="utf-8"?>
<p:tagLst xmlns:a="http://schemas.openxmlformats.org/drawingml/2006/main" xmlns:r="http://schemas.openxmlformats.org/officeDocument/2006/relationships" xmlns:p="http://schemas.openxmlformats.org/presentationml/2006/main">
  <p:tag name="THINKCELLSHAPEDONOTDELETE" val="tXEpp5w3weX6GIZz1JPj3KQ"/>
</p:tagLst>
</file>

<file path=ppt/tags/tag468.xml><?xml version="1.0" encoding="utf-8"?>
<p:tagLst xmlns:a="http://schemas.openxmlformats.org/drawingml/2006/main" xmlns:r="http://schemas.openxmlformats.org/officeDocument/2006/relationships" xmlns:p="http://schemas.openxmlformats.org/presentationml/2006/main">
  <p:tag name="THINKCELLSHAPEDONOTDELETE" val="tm6KpaYPxqiwPYWaO1s4bPw"/>
</p:tagLst>
</file>

<file path=ppt/tags/tag469.xml><?xml version="1.0" encoding="utf-8"?>
<p:tagLst xmlns:a="http://schemas.openxmlformats.org/drawingml/2006/main" xmlns:r="http://schemas.openxmlformats.org/officeDocument/2006/relationships" xmlns:p="http://schemas.openxmlformats.org/presentationml/2006/main">
  <p:tag name="THINKCELLSHAPEDONOTDELETE" val="tcdMhI14m1s2H2.Yp8sgW3g"/>
</p:tagLst>
</file>

<file path=ppt/tags/tag470.xml><?xml version="1.0" encoding="utf-8"?>
<p:tagLst xmlns:a="http://schemas.openxmlformats.org/drawingml/2006/main" xmlns:r="http://schemas.openxmlformats.org/officeDocument/2006/relationships" xmlns:p="http://schemas.openxmlformats.org/presentationml/2006/main">
  <p:tag name="THINKCELLSHAPEDONOTDELETE" val="tePmdUYEbN_jpQlSAI8tuMw"/>
</p:tagLst>
</file>

<file path=ppt/tags/tag471.xml><?xml version="1.0" encoding="utf-8"?>
<p:tagLst xmlns:a="http://schemas.openxmlformats.org/drawingml/2006/main" xmlns:r="http://schemas.openxmlformats.org/officeDocument/2006/relationships" xmlns:p="http://schemas.openxmlformats.org/presentationml/2006/main">
  <p:tag name="THINKCELLSHAPEDONOTDELETE" val="t1SdNysQPRJeZeG62mk640A"/>
</p:tagLst>
</file>

<file path=ppt/tags/tag472.xml><?xml version="1.0" encoding="utf-8"?>
<p:tagLst xmlns:a="http://schemas.openxmlformats.org/drawingml/2006/main" xmlns:r="http://schemas.openxmlformats.org/officeDocument/2006/relationships" xmlns:p="http://schemas.openxmlformats.org/presentationml/2006/main">
  <p:tag name="THINKCELLSHAPEDONOTDELETE" val="tLzJ3KrU.NjiNTexYoO50.A"/>
</p:tagLst>
</file>

<file path=ppt/tags/tag473.xml><?xml version="1.0" encoding="utf-8"?>
<p:tagLst xmlns:a="http://schemas.openxmlformats.org/drawingml/2006/main" xmlns:r="http://schemas.openxmlformats.org/officeDocument/2006/relationships" xmlns:p="http://schemas.openxmlformats.org/presentationml/2006/main">
  <p:tag name="THINKCELLSHAPEDONOTDELETE" val="tGvMSwkDI1e15OBcL6N65zw"/>
</p:tagLst>
</file>

<file path=ppt/tags/tag474.xml><?xml version="1.0" encoding="utf-8"?>
<p:tagLst xmlns:a="http://schemas.openxmlformats.org/drawingml/2006/main" xmlns:r="http://schemas.openxmlformats.org/officeDocument/2006/relationships" xmlns:p="http://schemas.openxmlformats.org/presentationml/2006/main">
  <p:tag name="THINKCELLSHAPEDONOTDELETE" val="tA2rSdiyUXceJKghmugKhLA"/>
</p:tagLst>
</file>

<file path=ppt/tags/tag475.xml><?xml version="1.0" encoding="utf-8"?>
<p:tagLst xmlns:a="http://schemas.openxmlformats.org/drawingml/2006/main" xmlns:r="http://schemas.openxmlformats.org/officeDocument/2006/relationships" xmlns:p="http://schemas.openxmlformats.org/presentationml/2006/main">
  <p:tag name="THINKCELLSHAPEDONOTDELETE" val="t6ztOIVzqTwHGg.zfRJhqcQ"/>
</p:tagLst>
</file>

<file path=ppt/tags/tag476.xml><?xml version="1.0" encoding="utf-8"?>
<p:tagLst xmlns:a="http://schemas.openxmlformats.org/drawingml/2006/main" xmlns:r="http://schemas.openxmlformats.org/officeDocument/2006/relationships" xmlns:p="http://schemas.openxmlformats.org/presentationml/2006/main">
  <p:tag name="THINKCELLSHAPEDONOTDELETE" val="tUTIdR8HJolqZ2GPK8zetcA"/>
</p:tagLst>
</file>

<file path=ppt/tags/tag477.xml><?xml version="1.0" encoding="utf-8"?>
<p:tagLst xmlns:a="http://schemas.openxmlformats.org/drawingml/2006/main" xmlns:r="http://schemas.openxmlformats.org/officeDocument/2006/relationships" xmlns:p="http://schemas.openxmlformats.org/presentationml/2006/main">
  <p:tag name="THINKCELLSHAPEDONOTDELETE" val="tuEeAb7zMI7qlilqMJygRzA"/>
</p:tagLst>
</file>

<file path=ppt/tags/tag478.xml><?xml version="1.0" encoding="utf-8"?>
<p:tagLst xmlns:a="http://schemas.openxmlformats.org/drawingml/2006/main" xmlns:r="http://schemas.openxmlformats.org/officeDocument/2006/relationships" xmlns:p="http://schemas.openxmlformats.org/presentationml/2006/main">
  <p:tag name="THINKCELLSHAPEDONOTDELETE" val="tKVpIcrPktfe6vhYnFza84A"/>
</p:tagLst>
</file>

<file path=ppt/tags/tag479.xml><?xml version="1.0" encoding="utf-8"?>
<p:tagLst xmlns:a="http://schemas.openxmlformats.org/drawingml/2006/main" xmlns:r="http://schemas.openxmlformats.org/officeDocument/2006/relationships" xmlns:p="http://schemas.openxmlformats.org/presentationml/2006/main">
  <p:tag name="THINKCELLSHAPEDONOTDELETE" val="thA5xYsmxhW5LaiqbV0tK5g"/>
</p:tagLst>
</file>

<file path=ppt/tags/tag480.xml><?xml version="1.0" encoding="utf-8"?>
<p:tagLst xmlns:a="http://schemas.openxmlformats.org/drawingml/2006/main" xmlns:r="http://schemas.openxmlformats.org/officeDocument/2006/relationships" xmlns:p="http://schemas.openxmlformats.org/presentationml/2006/main">
  <p:tag name="THINKCELLSHAPEDONOTDELETE" val="tzqPMjW3gNuRA2MWNR8hPBg"/>
</p:tagLst>
</file>

<file path=ppt/tags/tag481.xml><?xml version="1.0" encoding="utf-8"?>
<p:tagLst xmlns:a="http://schemas.openxmlformats.org/drawingml/2006/main" xmlns:r="http://schemas.openxmlformats.org/officeDocument/2006/relationships" xmlns:p="http://schemas.openxmlformats.org/presentationml/2006/main">
  <p:tag name="THINKCELLSHAPEDONOTDELETE" val="toNuXK_NkDMjrEK12FF1nhg"/>
</p:tagLst>
</file>

<file path=ppt/tags/tag482.xml><?xml version="1.0" encoding="utf-8"?>
<p:tagLst xmlns:a="http://schemas.openxmlformats.org/drawingml/2006/main" xmlns:r="http://schemas.openxmlformats.org/officeDocument/2006/relationships" xmlns:p="http://schemas.openxmlformats.org/presentationml/2006/main">
  <p:tag name="THINKCELLSHAPEDONOTDELETE" val="tYl43Zhtp3nQzDhzoba2gfw"/>
</p:tagLst>
</file>

<file path=ppt/tags/tag483.xml><?xml version="1.0" encoding="utf-8"?>
<p:tagLst xmlns:a="http://schemas.openxmlformats.org/drawingml/2006/main" xmlns:r="http://schemas.openxmlformats.org/officeDocument/2006/relationships" xmlns:p="http://schemas.openxmlformats.org/presentationml/2006/main">
  <p:tag name="THINKCELLSHAPEDONOTDELETE" val="t07zgW7w7XVVVEzpOnDquRg"/>
</p:tagLst>
</file>

<file path=ppt/tags/tag484.xml><?xml version="1.0" encoding="utf-8"?>
<p:tagLst xmlns:a="http://schemas.openxmlformats.org/drawingml/2006/main" xmlns:r="http://schemas.openxmlformats.org/officeDocument/2006/relationships" xmlns:p="http://schemas.openxmlformats.org/presentationml/2006/main">
  <p:tag name="THINKCELLSHAPEDONOTDELETE" val="tI3zA6Kpzuf6E3uz0I4Adfg"/>
</p:tagLst>
</file>

<file path=ppt/tags/tag485.xml><?xml version="1.0" encoding="utf-8"?>
<p:tagLst xmlns:a="http://schemas.openxmlformats.org/drawingml/2006/main" xmlns:r="http://schemas.openxmlformats.org/officeDocument/2006/relationships" xmlns:p="http://schemas.openxmlformats.org/presentationml/2006/main">
  <p:tag name="THINKCELLSHAPEDONOTDELETE" val="t0__2jXng5.Zv3MYoWZ6wRA"/>
</p:tagLst>
</file>

<file path=ppt/tags/tag48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8.xml><?xml version="1.0" encoding="utf-8"?>
<p:tagLst xmlns:a="http://schemas.openxmlformats.org/drawingml/2006/main" xmlns:r="http://schemas.openxmlformats.org/officeDocument/2006/relationships" xmlns:p="http://schemas.openxmlformats.org/presentationml/2006/main">
  <p:tag name="THINKCELLSHAPEDONOTDELETE" val="t1SwwnUXms1nN7ikdY8wYHw"/>
</p:tagLst>
</file>

<file path=ppt/tags/tag489.xml><?xml version="1.0" encoding="utf-8"?>
<p:tagLst xmlns:a="http://schemas.openxmlformats.org/drawingml/2006/main" xmlns:r="http://schemas.openxmlformats.org/officeDocument/2006/relationships" xmlns:p="http://schemas.openxmlformats.org/presentationml/2006/main">
  <p:tag name="THINKCELLSHAPEDONOTDELETE" val="tpK.lLZdBnMBXglUvamuPSw"/>
</p:tagLst>
</file>

<file path=ppt/tags/tag490.xml><?xml version="1.0" encoding="utf-8"?>
<p:tagLst xmlns:a="http://schemas.openxmlformats.org/drawingml/2006/main" xmlns:r="http://schemas.openxmlformats.org/officeDocument/2006/relationships" xmlns:p="http://schemas.openxmlformats.org/presentationml/2006/main">
  <p:tag name="THINKCELLSHAPEDONOTDELETE" val="t2pv57aIRu_PSexaNGXTqNw"/>
</p:tagLst>
</file>

<file path=ppt/tags/tag491.xml><?xml version="1.0" encoding="utf-8"?>
<p:tagLst xmlns:a="http://schemas.openxmlformats.org/drawingml/2006/main" xmlns:r="http://schemas.openxmlformats.org/officeDocument/2006/relationships" xmlns:p="http://schemas.openxmlformats.org/presentationml/2006/main">
  <p:tag name="THINKCELLSHAPEDONOTDELETE" val="tXH9gFJnJm0L0paHHvjDcUQ"/>
</p:tagLst>
</file>

<file path=ppt/tags/tag492.xml><?xml version="1.0" encoding="utf-8"?>
<p:tagLst xmlns:a="http://schemas.openxmlformats.org/drawingml/2006/main" xmlns:r="http://schemas.openxmlformats.org/officeDocument/2006/relationships" xmlns:p="http://schemas.openxmlformats.org/presentationml/2006/main">
  <p:tag name="THINKCELLSHAPEDONOTDELETE" val="t8r.7BcbSvCep7Q6.b50pEQ"/>
</p:tagLst>
</file>

<file path=ppt/tags/tag493.xml><?xml version="1.0" encoding="utf-8"?>
<p:tagLst xmlns:a="http://schemas.openxmlformats.org/drawingml/2006/main" xmlns:r="http://schemas.openxmlformats.org/officeDocument/2006/relationships" xmlns:p="http://schemas.openxmlformats.org/presentationml/2006/main">
  <p:tag name="THINKCELLSHAPEDONOTDELETE" val="tDTURkm1t9sJBJ0hz2GIJCA"/>
</p:tagLst>
</file>

<file path=ppt/tags/tag494.xml><?xml version="1.0" encoding="utf-8"?>
<p:tagLst xmlns:a="http://schemas.openxmlformats.org/drawingml/2006/main" xmlns:r="http://schemas.openxmlformats.org/officeDocument/2006/relationships" xmlns:p="http://schemas.openxmlformats.org/presentationml/2006/main">
  <p:tag name="THINKCELLSHAPEDONOTDELETE" val="tkNhYHeGXMXBof8lT52MEQQ"/>
</p:tagLst>
</file>

<file path=ppt/tags/tag495.xml><?xml version="1.0" encoding="utf-8"?>
<p:tagLst xmlns:a="http://schemas.openxmlformats.org/drawingml/2006/main" xmlns:r="http://schemas.openxmlformats.org/officeDocument/2006/relationships" xmlns:p="http://schemas.openxmlformats.org/presentationml/2006/main">
  <p:tag name="THINKCELLSHAPEDONOTDELETE" val="ts1lw0_HrWRcdjUaigW.WoA"/>
</p:tagLst>
</file>

<file path=ppt/tags/tag496.xml><?xml version="1.0" encoding="utf-8"?>
<p:tagLst xmlns:a="http://schemas.openxmlformats.org/drawingml/2006/main" xmlns:r="http://schemas.openxmlformats.org/officeDocument/2006/relationships" xmlns:p="http://schemas.openxmlformats.org/presentationml/2006/main">
  <p:tag name="THINKCELLSHAPEDONOTDELETE" val="tVPUGY9afCAkOoGjeqe8BVw"/>
</p:tagLst>
</file>

<file path=ppt/tags/tag497.xml><?xml version="1.0" encoding="utf-8"?>
<p:tagLst xmlns:a="http://schemas.openxmlformats.org/drawingml/2006/main" xmlns:r="http://schemas.openxmlformats.org/officeDocument/2006/relationships" xmlns:p="http://schemas.openxmlformats.org/presentationml/2006/main">
  <p:tag name="THINKCELLSHAPEDONOTDELETE" val="twwscX.1n6AZDBFq5BsxhSw"/>
</p:tagLst>
</file>

<file path=ppt/tags/tag498.xml><?xml version="1.0" encoding="utf-8"?>
<p:tagLst xmlns:a="http://schemas.openxmlformats.org/drawingml/2006/main" xmlns:r="http://schemas.openxmlformats.org/officeDocument/2006/relationships" xmlns:p="http://schemas.openxmlformats.org/presentationml/2006/main">
  <p:tag name="THINKCELLSHAPEDONOTDELETE" val="tHcXJtWNtfoY14UrBjgjUBQ"/>
</p:tagLst>
</file>

<file path=ppt/tags/tag499.xml><?xml version="1.0" encoding="utf-8"?>
<p:tagLst xmlns:a="http://schemas.openxmlformats.org/drawingml/2006/main" xmlns:r="http://schemas.openxmlformats.org/officeDocument/2006/relationships" xmlns:p="http://schemas.openxmlformats.org/presentationml/2006/main">
  <p:tag name="THINKCELLSHAPEDONOTDELETE" val="tZ2iz84Dzs2eyJnNv2VIwyw"/>
</p:tagLst>
</file>

<file path=ppt/tags/tag500.xml><?xml version="1.0" encoding="utf-8"?>
<p:tagLst xmlns:a="http://schemas.openxmlformats.org/drawingml/2006/main" xmlns:r="http://schemas.openxmlformats.org/officeDocument/2006/relationships" xmlns:p="http://schemas.openxmlformats.org/presentationml/2006/main">
  <p:tag name="THINKCELLSHAPEDONOTDELETE" val="tIsWizqTa_4ShDBE3NhN33Q"/>
</p:tagLst>
</file>

<file path=ppt/tags/tag501.xml><?xml version="1.0" encoding="utf-8"?>
<p:tagLst xmlns:a="http://schemas.openxmlformats.org/drawingml/2006/main" xmlns:r="http://schemas.openxmlformats.org/officeDocument/2006/relationships" xmlns:p="http://schemas.openxmlformats.org/presentationml/2006/main">
  <p:tag name="THINKCELLSHAPEDONOTDELETE" val="tZtX3UOuCAl8IdsT94IU_ig"/>
</p:tagLst>
</file>

<file path=ppt/tags/tag502.xml><?xml version="1.0" encoding="utf-8"?>
<p:tagLst xmlns:a="http://schemas.openxmlformats.org/drawingml/2006/main" xmlns:r="http://schemas.openxmlformats.org/officeDocument/2006/relationships" xmlns:p="http://schemas.openxmlformats.org/presentationml/2006/main">
  <p:tag name="THINKCELLSHAPEDONOTDELETE" val="txq7ITOwFecx85cCZxZyDKQ"/>
</p:tagLst>
</file>

<file path=ppt/tags/tag503.xml><?xml version="1.0" encoding="utf-8"?>
<p:tagLst xmlns:a="http://schemas.openxmlformats.org/drawingml/2006/main" xmlns:r="http://schemas.openxmlformats.org/officeDocument/2006/relationships" xmlns:p="http://schemas.openxmlformats.org/presentationml/2006/main">
  <p:tag name="THINKCELLSHAPEDONOTDELETE" val="twLiWYhmCqah19YEuuWyU0Q"/>
</p:tagLst>
</file>

<file path=ppt/tags/tag504.xml><?xml version="1.0" encoding="utf-8"?>
<p:tagLst xmlns:a="http://schemas.openxmlformats.org/drawingml/2006/main" xmlns:r="http://schemas.openxmlformats.org/officeDocument/2006/relationships" xmlns:p="http://schemas.openxmlformats.org/presentationml/2006/main">
  <p:tag name="THINKCELLSHAPEDONOTDELETE" val="telYpLoKXSRXSG.ZsGa.HAg"/>
</p:tagLst>
</file>

<file path=ppt/tags/tag50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0.xml><?xml version="1.0" encoding="utf-8"?>
<p:tagLst xmlns:a="http://schemas.openxmlformats.org/drawingml/2006/main" xmlns:r="http://schemas.openxmlformats.org/officeDocument/2006/relationships" xmlns:p="http://schemas.openxmlformats.org/presentationml/2006/main">
  <p:tag name="THINKCELLSHAPEDONOTDELETE" val="tE9SJv1CwOW.Jm3ero0BIjA"/>
</p:tagLst>
</file>

<file path=ppt/tags/tag521.xml><?xml version="1.0" encoding="utf-8"?>
<p:tagLst xmlns:a="http://schemas.openxmlformats.org/drawingml/2006/main" xmlns:r="http://schemas.openxmlformats.org/officeDocument/2006/relationships" xmlns:p="http://schemas.openxmlformats.org/presentationml/2006/main">
  <p:tag name="THINKCELLSHAPEDONOTDELETE" val="tiD1l6XRkfy0h6SttxQOAfA"/>
</p:tagLst>
</file>

<file path=ppt/tags/tag522.xml><?xml version="1.0" encoding="utf-8"?>
<p:tagLst xmlns:a="http://schemas.openxmlformats.org/drawingml/2006/main" xmlns:r="http://schemas.openxmlformats.org/officeDocument/2006/relationships" xmlns:p="http://schemas.openxmlformats.org/presentationml/2006/main">
  <p:tag name="THINKCELLSHAPEDONOTDELETE" val="tFKkVgjilYvkya9z0CKXfNQ"/>
</p:tagLst>
</file>

<file path=ppt/tags/tag5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7.xml><?xml version="1.0" encoding="utf-8"?>
<p:tagLst xmlns:a="http://schemas.openxmlformats.org/drawingml/2006/main" xmlns:r="http://schemas.openxmlformats.org/officeDocument/2006/relationships" xmlns:p="http://schemas.openxmlformats.org/presentationml/2006/main">
  <p:tag name="THINKCELLSHAPEDONOTDELETE" val="tg9dfxqHqMNYTTiLxZme2Gw"/>
</p:tagLst>
</file>

<file path=ppt/tags/tag5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6.xml><?xml version="1.0" encoding="utf-8"?>
<p:tagLst xmlns:a="http://schemas.openxmlformats.org/drawingml/2006/main" xmlns:r="http://schemas.openxmlformats.org/officeDocument/2006/relationships" xmlns:p="http://schemas.openxmlformats.org/presentationml/2006/main">
  <p:tag name="THINKCELLSHAPEDONOTDELETE" val="tLc_8XJpfAtJdFE5hVqKmtA"/>
</p:tagLst>
</file>

<file path=ppt/tags/tag537.xml><?xml version="1.0" encoding="utf-8"?>
<p:tagLst xmlns:a="http://schemas.openxmlformats.org/drawingml/2006/main" xmlns:r="http://schemas.openxmlformats.org/officeDocument/2006/relationships" xmlns:p="http://schemas.openxmlformats.org/presentationml/2006/main">
  <p:tag name="THINKCELLSHAPEDONOTDELETE" val="tU9HCjyLqbWo1m05pRW4ZjQ"/>
</p:tagLst>
</file>

<file path=ppt/tags/tag538.xml><?xml version="1.0" encoding="utf-8"?>
<p:tagLst xmlns:a="http://schemas.openxmlformats.org/drawingml/2006/main" xmlns:r="http://schemas.openxmlformats.org/officeDocument/2006/relationships" xmlns:p="http://schemas.openxmlformats.org/presentationml/2006/main">
  <p:tag name="THINKCELLSHAPEDONOTDELETE" val="trjQbiDYMjIYQgI4pgJkPyw"/>
</p:tagLst>
</file>

<file path=ppt/tags/tag539.xml><?xml version="1.0" encoding="utf-8"?>
<p:tagLst xmlns:a="http://schemas.openxmlformats.org/drawingml/2006/main" xmlns:r="http://schemas.openxmlformats.org/officeDocument/2006/relationships" xmlns:p="http://schemas.openxmlformats.org/presentationml/2006/main">
  <p:tag name="THINKCELLSHAPEDONOTDELETE" val="t2K37CYRPzwIUiR0PxNXz9A"/>
</p:tagLst>
</file>

<file path=ppt/tags/tag540.xml><?xml version="1.0" encoding="utf-8"?>
<p:tagLst xmlns:a="http://schemas.openxmlformats.org/drawingml/2006/main" xmlns:r="http://schemas.openxmlformats.org/officeDocument/2006/relationships" xmlns:p="http://schemas.openxmlformats.org/presentationml/2006/main">
  <p:tag name="THINKCELLSHAPEDONOTDELETE" val="trvNzWWxEAVu.ACZcez1sDw"/>
</p:tagLst>
</file>

<file path=ppt/tags/tag541.xml><?xml version="1.0" encoding="utf-8"?>
<p:tagLst xmlns:a="http://schemas.openxmlformats.org/drawingml/2006/main" xmlns:r="http://schemas.openxmlformats.org/officeDocument/2006/relationships" xmlns:p="http://schemas.openxmlformats.org/presentationml/2006/main">
  <p:tag name="THINKCELLSHAPEDONOTDELETE" val="tsCKwpGAJ2J3KhOK.Sztglw"/>
</p:tagLst>
</file>

<file path=ppt/tags/tag542.xml><?xml version="1.0" encoding="utf-8"?>
<p:tagLst xmlns:a="http://schemas.openxmlformats.org/drawingml/2006/main" xmlns:r="http://schemas.openxmlformats.org/officeDocument/2006/relationships" xmlns:p="http://schemas.openxmlformats.org/presentationml/2006/main">
  <p:tag name="THINKCELLSHAPEDONOTDELETE" val="t_fPoCOFmVoOH3fmbRq5ZgQ"/>
</p:tagLst>
</file>

<file path=ppt/tags/tag543.xml><?xml version="1.0" encoding="utf-8"?>
<p:tagLst xmlns:a="http://schemas.openxmlformats.org/drawingml/2006/main" xmlns:r="http://schemas.openxmlformats.org/officeDocument/2006/relationships" xmlns:p="http://schemas.openxmlformats.org/presentationml/2006/main">
  <p:tag name="THINKCELLSHAPEDONOTDELETE" val="tV4WAHzLZMmsJiAMSzZPj5Q"/>
</p:tagLst>
</file>

<file path=ppt/tags/tag544.xml><?xml version="1.0" encoding="utf-8"?>
<p:tagLst xmlns:a="http://schemas.openxmlformats.org/drawingml/2006/main" xmlns:r="http://schemas.openxmlformats.org/officeDocument/2006/relationships" xmlns:p="http://schemas.openxmlformats.org/presentationml/2006/main">
  <p:tag name="THINKCELLSHAPEDONOTDELETE" val="tWb7HeCaRXWvTVsNUVDyEeg"/>
</p:tagLst>
</file>

<file path=ppt/tags/tag545.xml><?xml version="1.0" encoding="utf-8"?>
<p:tagLst xmlns:a="http://schemas.openxmlformats.org/drawingml/2006/main" xmlns:r="http://schemas.openxmlformats.org/officeDocument/2006/relationships" xmlns:p="http://schemas.openxmlformats.org/presentationml/2006/main">
  <p:tag name="THINKCELLSHAPEDONOTDELETE" val="t747uktbUPTqa9XXAd2VbXA"/>
</p:tagLst>
</file>

<file path=ppt/tags/tag546.xml><?xml version="1.0" encoding="utf-8"?>
<p:tagLst xmlns:a="http://schemas.openxmlformats.org/drawingml/2006/main" xmlns:r="http://schemas.openxmlformats.org/officeDocument/2006/relationships" xmlns:p="http://schemas.openxmlformats.org/presentationml/2006/main">
  <p:tag name="THINKCELLSHAPEDONOTDELETE" val="tvEcyv66wJww4K2aTMorGVA"/>
</p:tagLst>
</file>

<file path=ppt/tags/tag547.xml><?xml version="1.0" encoding="utf-8"?>
<p:tagLst xmlns:a="http://schemas.openxmlformats.org/drawingml/2006/main" xmlns:r="http://schemas.openxmlformats.org/officeDocument/2006/relationships" xmlns:p="http://schemas.openxmlformats.org/presentationml/2006/main">
  <p:tag name="THINKCELLSHAPEDONOTDELETE" val="tOQoWIwI0qpvipjgTC4Cujw"/>
</p:tagLst>
</file>

<file path=ppt/tags/tag548.xml><?xml version="1.0" encoding="utf-8"?>
<p:tagLst xmlns:a="http://schemas.openxmlformats.org/drawingml/2006/main" xmlns:r="http://schemas.openxmlformats.org/officeDocument/2006/relationships" xmlns:p="http://schemas.openxmlformats.org/presentationml/2006/main">
  <p:tag name="THINKCELLSHAPEDONOTDELETE" val="tM250ENeUuGtoul1EO3soKA"/>
</p:tagLst>
</file>

<file path=ppt/tags/tag549.xml><?xml version="1.0" encoding="utf-8"?>
<p:tagLst xmlns:a="http://schemas.openxmlformats.org/drawingml/2006/main" xmlns:r="http://schemas.openxmlformats.org/officeDocument/2006/relationships" xmlns:p="http://schemas.openxmlformats.org/presentationml/2006/main">
  <p:tag name="THINKCELLSHAPEDONOTDELETE" val="t11HYE92R7HdMvylaK6i8yg"/>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A6OgMDqcBOykQuCH4GFEKQ"/>
</p:tagLst>
</file>

<file path=ppt/tags/tag551.xml><?xml version="1.0" encoding="utf-8"?>
<p:tagLst xmlns:a="http://schemas.openxmlformats.org/drawingml/2006/main" xmlns:r="http://schemas.openxmlformats.org/officeDocument/2006/relationships" xmlns:p="http://schemas.openxmlformats.org/presentationml/2006/main">
  <p:tag name="THINKCELLSHAPEDONOTDELETE" val="trqG4ytBSpxo2fAfngx2XJA"/>
</p:tagLst>
</file>

<file path=ppt/tags/tag552.xml><?xml version="1.0" encoding="utf-8"?>
<p:tagLst xmlns:a="http://schemas.openxmlformats.org/drawingml/2006/main" xmlns:r="http://schemas.openxmlformats.org/officeDocument/2006/relationships" xmlns:p="http://schemas.openxmlformats.org/presentationml/2006/main">
  <p:tag name="THINKCELLSHAPEDONOTDELETE" val="tp.czH4RbIgOjfmKUi17KrA"/>
</p:tagLst>
</file>

<file path=ppt/tags/tag553.xml><?xml version="1.0" encoding="utf-8"?>
<p:tagLst xmlns:a="http://schemas.openxmlformats.org/drawingml/2006/main" xmlns:r="http://schemas.openxmlformats.org/officeDocument/2006/relationships" xmlns:p="http://schemas.openxmlformats.org/presentationml/2006/main">
  <p:tag name="THINKCELLSHAPEDONOTDELETE" val="t0T5akpXsbaco2N533YjAdw"/>
</p:tagLst>
</file>

<file path=ppt/tags/tag554.xml><?xml version="1.0" encoding="utf-8"?>
<p:tagLst xmlns:a="http://schemas.openxmlformats.org/drawingml/2006/main" xmlns:r="http://schemas.openxmlformats.org/officeDocument/2006/relationships" xmlns:p="http://schemas.openxmlformats.org/presentationml/2006/main">
  <p:tag name="THINKCELLSHAPEDONOTDELETE" val="tL8Orp1CpMP7JcXFGHZZnwA"/>
</p:tagLst>
</file>

<file path=ppt/tags/tag555.xml><?xml version="1.0" encoding="utf-8"?>
<p:tagLst xmlns:a="http://schemas.openxmlformats.org/drawingml/2006/main" xmlns:r="http://schemas.openxmlformats.org/officeDocument/2006/relationships" xmlns:p="http://schemas.openxmlformats.org/presentationml/2006/main">
  <p:tag name="THINKCELLSHAPEDONOTDELETE" val="tWFw6nT9d9PMO_V7hG6KKWQ"/>
</p:tagLst>
</file>

<file path=ppt/tags/tag556.xml><?xml version="1.0" encoding="utf-8"?>
<p:tagLst xmlns:a="http://schemas.openxmlformats.org/drawingml/2006/main" xmlns:r="http://schemas.openxmlformats.org/officeDocument/2006/relationships" xmlns:p="http://schemas.openxmlformats.org/presentationml/2006/main">
  <p:tag name="THINKCELLSHAPEDONOTDELETE" val="tfGmskBnVbLZnCfYyDM2uoA"/>
</p:tagLst>
</file>

<file path=ppt/tags/tag557.xml><?xml version="1.0" encoding="utf-8"?>
<p:tagLst xmlns:a="http://schemas.openxmlformats.org/drawingml/2006/main" xmlns:r="http://schemas.openxmlformats.org/officeDocument/2006/relationships" xmlns:p="http://schemas.openxmlformats.org/presentationml/2006/main">
  <p:tag name="THINKCELLSHAPEDONOTDELETE" val="t85Xl_PfOI4ew7MPZovCxWg"/>
</p:tagLst>
</file>

<file path=ppt/tags/tag558.xml><?xml version="1.0" encoding="utf-8"?>
<p:tagLst xmlns:a="http://schemas.openxmlformats.org/drawingml/2006/main" xmlns:r="http://schemas.openxmlformats.org/officeDocument/2006/relationships" xmlns:p="http://schemas.openxmlformats.org/presentationml/2006/main">
  <p:tag name="THINKCELLSHAPEDONOTDELETE" val="tLqft_nql61xkV9zb0VbYwg"/>
</p:tagLst>
</file>

<file path=ppt/tags/tag559.xml><?xml version="1.0" encoding="utf-8"?>
<p:tagLst xmlns:a="http://schemas.openxmlformats.org/drawingml/2006/main" xmlns:r="http://schemas.openxmlformats.org/officeDocument/2006/relationships" xmlns:p="http://schemas.openxmlformats.org/presentationml/2006/main">
  <p:tag name="THINKCELLSHAPEDONOTDELETE" val="tbWsp_jBuRIh81NK73XtaOA"/>
</p:tagLst>
</file>

<file path=ppt/tags/tag560.xml><?xml version="1.0" encoding="utf-8"?>
<p:tagLst xmlns:a="http://schemas.openxmlformats.org/drawingml/2006/main" xmlns:r="http://schemas.openxmlformats.org/officeDocument/2006/relationships" xmlns:p="http://schemas.openxmlformats.org/presentationml/2006/main">
  <p:tag name="THINKCELLSHAPEDONOTDELETE" val="tWOhhtjwJKt.4IegSHSQnNw"/>
</p:tagLst>
</file>

<file path=ppt/tags/tag561.xml><?xml version="1.0" encoding="utf-8"?>
<p:tagLst xmlns:a="http://schemas.openxmlformats.org/drawingml/2006/main" xmlns:r="http://schemas.openxmlformats.org/officeDocument/2006/relationships" xmlns:p="http://schemas.openxmlformats.org/presentationml/2006/main">
  <p:tag name="THINKCELLSHAPEDONOTDELETE" val="tsDn_w7rZp_6noVxKZB0grA"/>
</p:tagLst>
</file>

<file path=ppt/tags/tag562.xml><?xml version="1.0" encoding="utf-8"?>
<p:tagLst xmlns:a="http://schemas.openxmlformats.org/drawingml/2006/main" xmlns:r="http://schemas.openxmlformats.org/officeDocument/2006/relationships" xmlns:p="http://schemas.openxmlformats.org/presentationml/2006/main">
  <p:tag name="THINKCELLSHAPEDONOTDELETE" val="tFnnPJu_T66fXbMPIqP_giQ"/>
</p:tagLst>
</file>

<file path=ppt/tags/tag563.xml><?xml version="1.0" encoding="utf-8"?>
<p:tagLst xmlns:a="http://schemas.openxmlformats.org/drawingml/2006/main" xmlns:r="http://schemas.openxmlformats.org/officeDocument/2006/relationships" xmlns:p="http://schemas.openxmlformats.org/presentationml/2006/main">
  <p:tag name="THINKCELLSHAPEDONOTDELETE" val="tW.hNf6ANzWHTMWYo_AUPWQ"/>
</p:tagLst>
</file>

<file path=ppt/tags/tag564.xml><?xml version="1.0" encoding="utf-8"?>
<p:tagLst xmlns:a="http://schemas.openxmlformats.org/drawingml/2006/main" xmlns:r="http://schemas.openxmlformats.org/officeDocument/2006/relationships" xmlns:p="http://schemas.openxmlformats.org/presentationml/2006/main">
  <p:tag name="THINKCELLSHAPEDONOTDELETE" val="tP1GnFQeO0u1_DZCJdZMkHg"/>
</p:tagLst>
</file>

<file path=ppt/tags/tag565.xml><?xml version="1.0" encoding="utf-8"?>
<p:tagLst xmlns:a="http://schemas.openxmlformats.org/drawingml/2006/main" xmlns:r="http://schemas.openxmlformats.org/officeDocument/2006/relationships" xmlns:p="http://schemas.openxmlformats.org/presentationml/2006/main">
  <p:tag name="THINKCELLSHAPEDONOTDELETE" val="tUoJ4beUwpNRwwm6rs8cwFg"/>
</p:tagLst>
</file>

<file path=ppt/tags/tag566.xml><?xml version="1.0" encoding="utf-8"?>
<p:tagLst xmlns:a="http://schemas.openxmlformats.org/drawingml/2006/main" xmlns:r="http://schemas.openxmlformats.org/officeDocument/2006/relationships" xmlns:p="http://schemas.openxmlformats.org/presentationml/2006/main">
  <p:tag name="THINKCELLSHAPEDONOTDELETE" val="taAjNBnZg3zNtnnxCh162kQ"/>
</p:tagLst>
</file>

<file path=ppt/tags/tag5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0.xml><?xml version="1.0" encoding="utf-8"?>
<p:tagLst xmlns:a="http://schemas.openxmlformats.org/drawingml/2006/main" xmlns:r="http://schemas.openxmlformats.org/officeDocument/2006/relationships" xmlns:p="http://schemas.openxmlformats.org/presentationml/2006/main">
  <p:tag name="THINKCELLSHAPEDONOTDELETE" val="tZ4fRtUTlPOhWYcBDeuqZrQ"/>
</p:tagLst>
</file>

<file path=ppt/tags/tag581.xml><?xml version="1.0" encoding="utf-8"?>
<p:tagLst xmlns:a="http://schemas.openxmlformats.org/drawingml/2006/main" xmlns:r="http://schemas.openxmlformats.org/officeDocument/2006/relationships" xmlns:p="http://schemas.openxmlformats.org/presentationml/2006/main">
  <p:tag name="THINKCELLSHAPEDONOTDELETE" val="tkNJ4ZPydmy4K4MhKaqbi5w"/>
</p:tagLst>
</file>

<file path=ppt/tags/tag582.xml><?xml version="1.0" encoding="utf-8"?>
<p:tagLst xmlns:a="http://schemas.openxmlformats.org/drawingml/2006/main" xmlns:r="http://schemas.openxmlformats.org/officeDocument/2006/relationships" xmlns:p="http://schemas.openxmlformats.org/presentationml/2006/main">
  <p:tag name="THINKCELLSHAPEDONOTDELETE" val="tR_vXnDT4smLORjuNSYAcmw"/>
</p:tagLst>
</file>

<file path=ppt/tags/tag583.xml><?xml version="1.0" encoding="utf-8"?>
<p:tagLst xmlns:a="http://schemas.openxmlformats.org/drawingml/2006/main" xmlns:r="http://schemas.openxmlformats.org/officeDocument/2006/relationships" xmlns:p="http://schemas.openxmlformats.org/presentationml/2006/main">
  <p:tag name="THINKCELLSHAPEDONOTDELETE" val="tj3r2hVBuca.cKuE95FY5jw"/>
</p:tagLst>
</file>

<file path=ppt/tags/tag584.xml><?xml version="1.0" encoding="utf-8"?>
<p:tagLst xmlns:a="http://schemas.openxmlformats.org/drawingml/2006/main" xmlns:r="http://schemas.openxmlformats.org/officeDocument/2006/relationships" xmlns:p="http://schemas.openxmlformats.org/presentationml/2006/main">
  <p:tag name="THINKCELLSHAPEDONOTDELETE" val="tgz1JXhDJ8Eu2B7RTrZkBpw"/>
</p:tagLst>
</file>

<file path=ppt/tags/tag585.xml><?xml version="1.0" encoding="utf-8"?>
<p:tagLst xmlns:a="http://schemas.openxmlformats.org/drawingml/2006/main" xmlns:r="http://schemas.openxmlformats.org/officeDocument/2006/relationships" xmlns:p="http://schemas.openxmlformats.org/presentationml/2006/main">
  <p:tag name="THINKCELLSHAPEDONOTDELETE" val="teibhHBWRZJ3gC55XaUv.yA"/>
</p:tagLst>
</file>

<file path=ppt/tags/tag586.xml><?xml version="1.0" encoding="utf-8"?>
<p:tagLst xmlns:a="http://schemas.openxmlformats.org/drawingml/2006/main" xmlns:r="http://schemas.openxmlformats.org/officeDocument/2006/relationships" xmlns:p="http://schemas.openxmlformats.org/presentationml/2006/main">
  <p:tag name="THINKCELLSHAPEDONOTDELETE" val="tvqKrDxE67KAMW2uFvf3ZtA"/>
</p:tagLst>
</file>

<file path=ppt/tags/tag587.xml><?xml version="1.0" encoding="utf-8"?>
<p:tagLst xmlns:a="http://schemas.openxmlformats.org/drawingml/2006/main" xmlns:r="http://schemas.openxmlformats.org/officeDocument/2006/relationships" xmlns:p="http://schemas.openxmlformats.org/presentationml/2006/main">
  <p:tag name="THINKCELLSHAPEDONOTDELETE" val="tUJ3doTm.FxiDHXVbBRJSyA"/>
</p:tagLst>
</file>

<file path=ppt/tags/tag588.xml><?xml version="1.0" encoding="utf-8"?>
<p:tagLst xmlns:a="http://schemas.openxmlformats.org/drawingml/2006/main" xmlns:r="http://schemas.openxmlformats.org/officeDocument/2006/relationships" xmlns:p="http://schemas.openxmlformats.org/presentationml/2006/main">
  <p:tag name="THINKCELLSHAPEDONOTDELETE" val="tDIF_BLkONy1mTTcIeAXrTw"/>
</p:tagLst>
</file>

<file path=ppt/tags/tag589.xml><?xml version="1.0" encoding="utf-8"?>
<p:tagLst xmlns:a="http://schemas.openxmlformats.org/drawingml/2006/main" xmlns:r="http://schemas.openxmlformats.org/officeDocument/2006/relationships" xmlns:p="http://schemas.openxmlformats.org/presentationml/2006/main">
  <p:tag name="THINKCELLSHAPEDONOTDELETE" val="t15kYJprnShnRVFbMIhjFqQ"/>
</p:tagLst>
</file>

<file path=ppt/tags/tag590.xml><?xml version="1.0" encoding="utf-8"?>
<p:tagLst xmlns:a="http://schemas.openxmlformats.org/drawingml/2006/main" xmlns:r="http://schemas.openxmlformats.org/officeDocument/2006/relationships" xmlns:p="http://schemas.openxmlformats.org/presentationml/2006/main">
  <p:tag name="THINKCELLSHAPEDONOTDELETE" val="t6zoMrm5FLjMGBkPABXhj0Q"/>
</p:tagLst>
</file>

<file path=ppt/tags/tag591.xml><?xml version="1.0" encoding="utf-8"?>
<p:tagLst xmlns:a="http://schemas.openxmlformats.org/drawingml/2006/main" xmlns:r="http://schemas.openxmlformats.org/officeDocument/2006/relationships" xmlns:p="http://schemas.openxmlformats.org/presentationml/2006/main">
  <p:tag name="THINKCELLSHAPEDONOTDELETE" val="t5_kxPOc1BrsUTa82gYxj4A"/>
</p:tagLst>
</file>

<file path=ppt/tags/tag592.xml><?xml version="1.0" encoding="utf-8"?>
<p:tagLst xmlns:a="http://schemas.openxmlformats.org/drawingml/2006/main" xmlns:r="http://schemas.openxmlformats.org/officeDocument/2006/relationships" xmlns:p="http://schemas.openxmlformats.org/presentationml/2006/main">
  <p:tag name="THINKCELLSHAPEDONOTDELETE" val="tJ6N1ZqlWt5PKzW2_ypgR.w"/>
</p:tagLst>
</file>

<file path=ppt/tags/tag593.xml><?xml version="1.0" encoding="utf-8"?>
<p:tagLst xmlns:a="http://schemas.openxmlformats.org/drawingml/2006/main" xmlns:r="http://schemas.openxmlformats.org/officeDocument/2006/relationships" xmlns:p="http://schemas.openxmlformats.org/presentationml/2006/main">
  <p:tag name="THINKCELLSHAPEDONOTDELETE" val="t3NwGqYYZHxtA3F0pVj1G9Q"/>
</p:tagLst>
</file>

<file path=ppt/tags/tag594.xml><?xml version="1.0" encoding="utf-8"?>
<p:tagLst xmlns:a="http://schemas.openxmlformats.org/drawingml/2006/main" xmlns:r="http://schemas.openxmlformats.org/officeDocument/2006/relationships" xmlns:p="http://schemas.openxmlformats.org/presentationml/2006/main">
  <p:tag name="THINKCELLSHAPEDONOTDELETE" val="tlxldF3D_rk4aDxY4SHxdvg"/>
</p:tagLst>
</file>

<file path=ppt/tags/tag595.xml><?xml version="1.0" encoding="utf-8"?>
<p:tagLst xmlns:a="http://schemas.openxmlformats.org/drawingml/2006/main" xmlns:r="http://schemas.openxmlformats.org/officeDocument/2006/relationships" xmlns:p="http://schemas.openxmlformats.org/presentationml/2006/main">
  <p:tag name="THINKCELLSHAPEDONOTDELETE" val="t5E_MuRH_FVlsmMGT81zyWw"/>
</p:tagLst>
</file>

<file path=ppt/tags/tag596.xml><?xml version="1.0" encoding="utf-8"?>
<p:tagLst xmlns:a="http://schemas.openxmlformats.org/drawingml/2006/main" xmlns:r="http://schemas.openxmlformats.org/officeDocument/2006/relationships" xmlns:p="http://schemas.openxmlformats.org/presentationml/2006/main">
  <p:tag name="THINKCELLSHAPEDONOTDELETE" val="tnZRvRx9QYYSp6NAfbIQ5Rg"/>
</p:tagLst>
</file>

<file path=ppt/tags/tag597.xml><?xml version="1.0" encoding="utf-8"?>
<p:tagLst xmlns:a="http://schemas.openxmlformats.org/drawingml/2006/main" xmlns:r="http://schemas.openxmlformats.org/officeDocument/2006/relationships" xmlns:p="http://schemas.openxmlformats.org/presentationml/2006/main">
  <p:tag name="THINKCELLSHAPEDONOTDELETE" val="tXzbNvqb5gCBkUsQGAJTr5g"/>
</p:tagLst>
</file>

<file path=ppt/tags/tag598.xml><?xml version="1.0" encoding="utf-8"?>
<p:tagLst xmlns:a="http://schemas.openxmlformats.org/drawingml/2006/main" xmlns:r="http://schemas.openxmlformats.org/officeDocument/2006/relationships" xmlns:p="http://schemas.openxmlformats.org/presentationml/2006/main">
  <p:tag name="THINKCELLSHAPEDONOTDELETE" val="teCH1Qv.hT9nATJwqq4D.Ig"/>
</p:tagLst>
</file>

<file path=ppt/tags/tag599.xml><?xml version="1.0" encoding="utf-8"?>
<p:tagLst xmlns:a="http://schemas.openxmlformats.org/drawingml/2006/main" xmlns:r="http://schemas.openxmlformats.org/officeDocument/2006/relationships" xmlns:p="http://schemas.openxmlformats.org/presentationml/2006/main">
  <p:tag name="THINKCELLSHAPEDONOTDELETE" val="tuTtq165WzI3_K2g9_PESSg"/>
</p:tagLst>
</file>

<file path=ppt/tags/tag6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1.xml><?xml version="1.0" encoding="utf-8"?>
<p:tagLst xmlns:a="http://schemas.openxmlformats.org/drawingml/2006/main" xmlns:r="http://schemas.openxmlformats.org/officeDocument/2006/relationships" xmlns:p="http://schemas.openxmlformats.org/presentationml/2006/main">
  <p:tag name="THINKCELLSHAPEDONOTDELETE" val="tZ4fRtUTlPOhWYcBDeuqZrQ"/>
</p:tagLst>
</file>

<file path=ppt/tags/tag602.xml><?xml version="1.0" encoding="utf-8"?>
<p:tagLst xmlns:a="http://schemas.openxmlformats.org/drawingml/2006/main" xmlns:r="http://schemas.openxmlformats.org/officeDocument/2006/relationships" xmlns:p="http://schemas.openxmlformats.org/presentationml/2006/main">
  <p:tag name="THINKCELLSHAPEDONOTDELETE" val="t5E_MuRH_FVlsmMGT81zyWw"/>
</p:tagLst>
</file>

<file path=ppt/tags/tag603.xml><?xml version="1.0" encoding="utf-8"?>
<p:tagLst xmlns:a="http://schemas.openxmlformats.org/drawingml/2006/main" xmlns:r="http://schemas.openxmlformats.org/officeDocument/2006/relationships" xmlns:p="http://schemas.openxmlformats.org/presentationml/2006/main">
  <p:tag name="THINKCELLSHAPEDONOTDELETE" val="tnZRvRx9QYYSp6NAfbIQ5Rg"/>
</p:tagLst>
</file>

<file path=ppt/tags/tag604.xml><?xml version="1.0" encoding="utf-8"?>
<p:tagLst xmlns:a="http://schemas.openxmlformats.org/drawingml/2006/main" xmlns:r="http://schemas.openxmlformats.org/officeDocument/2006/relationships" xmlns:p="http://schemas.openxmlformats.org/presentationml/2006/main">
  <p:tag name="THINKCELLSHAPEDONOTDELETE" val="tXzbNvqb5gCBkUsQGAJTr5g"/>
</p:tagLst>
</file>

<file path=ppt/tags/tag605.xml><?xml version="1.0" encoding="utf-8"?>
<p:tagLst xmlns:a="http://schemas.openxmlformats.org/drawingml/2006/main" xmlns:r="http://schemas.openxmlformats.org/officeDocument/2006/relationships" xmlns:p="http://schemas.openxmlformats.org/presentationml/2006/main">
  <p:tag name="THINKCELLSHAPEDONOTDELETE" val="teCH1Qv.hT9nATJwqq4D.Ig"/>
</p:tagLst>
</file>

<file path=ppt/tags/tag606.xml><?xml version="1.0" encoding="utf-8"?>
<p:tagLst xmlns:a="http://schemas.openxmlformats.org/drawingml/2006/main" xmlns:r="http://schemas.openxmlformats.org/officeDocument/2006/relationships" xmlns:p="http://schemas.openxmlformats.org/presentationml/2006/main">
  <p:tag name="THINKCELLSHAPEDONOTDELETE" val="t6zoMrm5FLjMGBkPABXhj0Q"/>
</p:tagLst>
</file>

<file path=ppt/tags/tag607.xml><?xml version="1.0" encoding="utf-8"?>
<p:tagLst xmlns:a="http://schemas.openxmlformats.org/drawingml/2006/main" xmlns:r="http://schemas.openxmlformats.org/officeDocument/2006/relationships" xmlns:p="http://schemas.openxmlformats.org/presentationml/2006/main">
  <p:tag name="THINKCELLSHAPEDONOTDELETE" val="t5_kxPOc1BrsUTa82gYxj4A"/>
</p:tagLst>
</file>

<file path=ppt/tags/tag608.xml><?xml version="1.0" encoding="utf-8"?>
<p:tagLst xmlns:a="http://schemas.openxmlformats.org/drawingml/2006/main" xmlns:r="http://schemas.openxmlformats.org/officeDocument/2006/relationships" xmlns:p="http://schemas.openxmlformats.org/presentationml/2006/main">
  <p:tag name="THINKCELLSHAPEDONOTDELETE" val="tJ6N1ZqlWt5PKzW2_ypgR.w"/>
</p:tagLst>
</file>

<file path=ppt/tags/tag609.xml><?xml version="1.0" encoding="utf-8"?>
<p:tagLst xmlns:a="http://schemas.openxmlformats.org/drawingml/2006/main" xmlns:r="http://schemas.openxmlformats.org/officeDocument/2006/relationships" xmlns:p="http://schemas.openxmlformats.org/presentationml/2006/main">
  <p:tag name="THINKCELLSHAPEDONOTDELETE" val="t3NwGqYYZHxtA3F0pVj1G9Q"/>
</p:tagLst>
</file>

<file path=ppt/tags/tag610.xml><?xml version="1.0" encoding="utf-8"?>
<p:tagLst xmlns:a="http://schemas.openxmlformats.org/drawingml/2006/main" xmlns:r="http://schemas.openxmlformats.org/officeDocument/2006/relationships" xmlns:p="http://schemas.openxmlformats.org/presentationml/2006/main">
  <p:tag name="THINKCELLSHAPEDONOTDELETE" val="tlxldF3D_rk4aDxY4SHxdvg"/>
</p:tagLst>
</file>

<file path=ppt/tags/tag611.xml><?xml version="1.0" encoding="utf-8"?>
<p:tagLst xmlns:a="http://schemas.openxmlformats.org/drawingml/2006/main" xmlns:r="http://schemas.openxmlformats.org/officeDocument/2006/relationships" xmlns:p="http://schemas.openxmlformats.org/presentationml/2006/main">
  <p:tag name="THINKCELLSHAPEDONOTDELETE" val="tDIF_BLkONy1mTTcIeAXrTw"/>
</p:tagLst>
</file>

<file path=ppt/tags/tag612.xml><?xml version="1.0" encoding="utf-8"?>
<p:tagLst xmlns:a="http://schemas.openxmlformats.org/drawingml/2006/main" xmlns:r="http://schemas.openxmlformats.org/officeDocument/2006/relationships" xmlns:p="http://schemas.openxmlformats.org/presentationml/2006/main">
  <p:tag name="THINKCELLSHAPEDONOTDELETE" val="txgt8vHLz.oA5DkY26rfQ5A"/>
</p:tagLst>
</file>

<file path=ppt/tags/tag613.xml><?xml version="1.0" encoding="utf-8"?>
<p:tagLst xmlns:a="http://schemas.openxmlformats.org/drawingml/2006/main" xmlns:r="http://schemas.openxmlformats.org/officeDocument/2006/relationships" xmlns:p="http://schemas.openxmlformats.org/presentationml/2006/main">
  <p:tag name="THINKCELLSHAPEDONOTDELETE" val="tuTtq165WzI3_K2g9_PESSg"/>
</p:tagLst>
</file>

<file path=ppt/tags/tag614.xml><?xml version="1.0" encoding="utf-8"?>
<p:tagLst xmlns:a="http://schemas.openxmlformats.org/drawingml/2006/main" xmlns:r="http://schemas.openxmlformats.org/officeDocument/2006/relationships" xmlns:p="http://schemas.openxmlformats.org/presentationml/2006/main">
  <p:tag name="THINKCELLSHAPEDONOTDELETE" val="tkNJ4ZPydmy4K4MhKaqbi5w"/>
</p:tagLst>
</file>

<file path=ppt/tags/tag615.xml><?xml version="1.0" encoding="utf-8"?>
<p:tagLst xmlns:a="http://schemas.openxmlformats.org/drawingml/2006/main" xmlns:r="http://schemas.openxmlformats.org/officeDocument/2006/relationships" xmlns:p="http://schemas.openxmlformats.org/presentationml/2006/main">
  <p:tag name="THINKCELLSHAPEDONOTDELETE" val="tR_vXnDT4smLORjuNSYAcmw"/>
</p:tagLst>
</file>

<file path=ppt/tags/tag616.xml><?xml version="1.0" encoding="utf-8"?>
<p:tagLst xmlns:a="http://schemas.openxmlformats.org/drawingml/2006/main" xmlns:r="http://schemas.openxmlformats.org/officeDocument/2006/relationships" xmlns:p="http://schemas.openxmlformats.org/presentationml/2006/main">
  <p:tag name="THINKCELLSHAPEDONOTDELETE" val="tj3r2hVBuca.cKuE95FY5jw"/>
</p:tagLst>
</file>

<file path=ppt/tags/tag617.xml><?xml version="1.0" encoding="utf-8"?>
<p:tagLst xmlns:a="http://schemas.openxmlformats.org/drawingml/2006/main" xmlns:r="http://schemas.openxmlformats.org/officeDocument/2006/relationships" xmlns:p="http://schemas.openxmlformats.org/presentationml/2006/main">
  <p:tag name="THINKCELLSHAPEDONOTDELETE" val="tgz1JXhDJ8Eu2B7RTrZkBpw"/>
</p:tagLst>
</file>

<file path=ppt/tags/tag618.xml><?xml version="1.0" encoding="utf-8"?>
<p:tagLst xmlns:a="http://schemas.openxmlformats.org/drawingml/2006/main" xmlns:r="http://schemas.openxmlformats.org/officeDocument/2006/relationships" xmlns:p="http://schemas.openxmlformats.org/presentationml/2006/main">
  <p:tag name="THINKCELLSHAPEDONOTDELETE" val="teibhHBWRZJ3gC55XaUv.yA"/>
</p:tagLst>
</file>

<file path=ppt/tags/tag619.xml><?xml version="1.0" encoding="utf-8"?>
<p:tagLst xmlns:a="http://schemas.openxmlformats.org/drawingml/2006/main" xmlns:r="http://schemas.openxmlformats.org/officeDocument/2006/relationships" xmlns:p="http://schemas.openxmlformats.org/presentationml/2006/main">
  <p:tag name="THINKCELLSHAPEDONOTDELETE" val="tvqKrDxE67KAMW2uFvf3ZtA"/>
</p:tagLst>
</file>

<file path=ppt/tags/tag620.xml><?xml version="1.0" encoding="utf-8"?>
<p:tagLst xmlns:a="http://schemas.openxmlformats.org/drawingml/2006/main" xmlns:r="http://schemas.openxmlformats.org/officeDocument/2006/relationships" xmlns:p="http://schemas.openxmlformats.org/presentationml/2006/main">
  <p:tag name="THINKCELLSHAPEDONOTDELETE" val="tUJ3doTm.FxiDHXVbBRJSyA"/>
</p:tagLst>
</file>

<file path=ppt/tags/tag6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22.xml><?xml version="1.0" encoding="utf-8"?>
<p:tagLst xmlns:a="http://schemas.openxmlformats.org/drawingml/2006/main" xmlns:r="http://schemas.openxmlformats.org/officeDocument/2006/relationships" xmlns:p="http://schemas.openxmlformats.org/presentationml/2006/main">
  <p:tag name="THINKCELLSHAPEDONOTDELETE" val="th10MYq0JzVjjzzOoT566_g"/>
</p:tagLst>
</file>

<file path=ppt/tags/tag623.xml><?xml version="1.0" encoding="utf-8"?>
<p:tagLst xmlns:a="http://schemas.openxmlformats.org/drawingml/2006/main" xmlns:r="http://schemas.openxmlformats.org/officeDocument/2006/relationships" xmlns:p="http://schemas.openxmlformats.org/presentationml/2006/main">
  <p:tag name="THINKCELLSHAPEDONOTDELETE" val="t21mIc4Z9YsVF6NeO4klHqQ"/>
</p:tagLst>
</file>

<file path=ppt/tags/tag624.xml><?xml version="1.0" encoding="utf-8"?>
<p:tagLst xmlns:a="http://schemas.openxmlformats.org/drawingml/2006/main" xmlns:r="http://schemas.openxmlformats.org/officeDocument/2006/relationships" xmlns:p="http://schemas.openxmlformats.org/presentationml/2006/main">
  <p:tag name="THINKCELLSHAPEDONOTDELETE" val="ta8bQGA0im18B.Z4HQN4_Tg"/>
</p:tagLst>
</file>

<file path=ppt/tags/tag625.xml><?xml version="1.0" encoding="utf-8"?>
<p:tagLst xmlns:a="http://schemas.openxmlformats.org/drawingml/2006/main" xmlns:r="http://schemas.openxmlformats.org/officeDocument/2006/relationships" xmlns:p="http://schemas.openxmlformats.org/presentationml/2006/main">
  <p:tag name="THINKCELLSHAPEDONOTDELETE" val="tKH3migv5mFpGVjHegucbWg"/>
</p:tagLst>
</file>

<file path=ppt/tags/tag626.xml><?xml version="1.0" encoding="utf-8"?>
<p:tagLst xmlns:a="http://schemas.openxmlformats.org/drawingml/2006/main" xmlns:r="http://schemas.openxmlformats.org/officeDocument/2006/relationships" xmlns:p="http://schemas.openxmlformats.org/presentationml/2006/main">
  <p:tag name="THINKCELLSHAPEDONOTDELETE" val="ti80RPqbMlcL1kE1X6s2fjw"/>
</p:tagLst>
</file>

<file path=ppt/tags/tag627.xml><?xml version="1.0" encoding="utf-8"?>
<p:tagLst xmlns:a="http://schemas.openxmlformats.org/drawingml/2006/main" xmlns:r="http://schemas.openxmlformats.org/officeDocument/2006/relationships" xmlns:p="http://schemas.openxmlformats.org/presentationml/2006/main">
  <p:tag name="THINKCELLSHAPEDONOTDELETE" val="tnrNa8v49D1P1A3ZMP0rFAw"/>
</p:tagLst>
</file>

<file path=ppt/tags/tag628.xml><?xml version="1.0" encoding="utf-8"?>
<p:tagLst xmlns:a="http://schemas.openxmlformats.org/drawingml/2006/main" xmlns:r="http://schemas.openxmlformats.org/officeDocument/2006/relationships" xmlns:p="http://schemas.openxmlformats.org/presentationml/2006/main">
  <p:tag name="THINKCELLSHAPEDONOTDELETE" val="tqn1Q7ARRi1m04F2o1bT_Hw"/>
</p:tagLst>
</file>

<file path=ppt/tags/tag629.xml><?xml version="1.0" encoding="utf-8"?>
<p:tagLst xmlns:a="http://schemas.openxmlformats.org/drawingml/2006/main" xmlns:r="http://schemas.openxmlformats.org/officeDocument/2006/relationships" xmlns:p="http://schemas.openxmlformats.org/presentationml/2006/main">
  <p:tag name="THINKCELLSHAPEDONOTDELETE" val="thw1CHBajcCmrsQI.DMBPTA"/>
</p:tagLst>
</file>

<file path=ppt/tags/tag630.xml><?xml version="1.0" encoding="utf-8"?>
<p:tagLst xmlns:a="http://schemas.openxmlformats.org/drawingml/2006/main" xmlns:r="http://schemas.openxmlformats.org/officeDocument/2006/relationships" xmlns:p="http://schemas.openxmlformats.org/presentationml/2006/main">
  <p:tag name="THINKCELLSHAPEDONOTDELETE" val="txYlxemCczVc3sQ8tvfnNSA"/>
</p:tagLst>
</file>

<file path=ppt/tags/tag631.xml><?xml version="1.0" encoding="utf-8"?>
<p:tagLst xmlns:a="http://schemas.openxmlformats.org/drawingml/2006/main" xmlns:r="http://schemas.openxmlformats.org/officeDocument/2006/relationships" xmlns:p="http://schemas.openxmlformats.org/presentationml/2006/main">
  <p:tag name="THINKCELLSHAPEDONOTDELETE" val="tlJa2GuPMbmjSTZLB9lYLQA"/>
</p:tagLst>
</file>

<file path=ppt/tags/tag632.xml><?xml version="1.0" encoding="utf-8"?>
<p:tagLst xmlns:a="http://schemas.openxmlformats.org/drawingml/2006/main" xmlns:r="http://schemas.openxmlformats.org/officeDocument/2006/relationships" xmlns:p="http://schemas.openxmlformats.org/presentationml/2006/main">
  <p:tag name="THINKCELLSHAPEDONOTDELETE" val="tU4p7uF.yUypbAS6boRXNJQ"/>
</p:tagLst>
</file>

<file path=ppt/tags/tag633.xml><?xml version="1.0" encoding="utf-8"?>
<p:tagLst xmlns:a="http://schemas.openxmlformats.org/drawingml/2006/main" xmlns:r="http://schemas.openxmlformats.org/officeDocument/2006/relationships" xmlns:p="http://schemas.openxmlformats.org/presentationml/2006/main">
  <p:tag name="THINKCELLSHAPEDONOTDELETE" val="triDia0cpdh4L.Ocugrel2Q"/>
</p:tagLst>
</file>

<file path=ppt/tags/tag634.xml><?xml version="1.0" encoding="utf-8"?>
<p:tagLst xmlns:a="http://schemas.openxmlformats.org/drawingml/2006/main" xmlns:r="http://schemas.openxmlformats.org/officeDocument/2006/relationships" xmlns:p="http://schemas.openxmlformats.org/presentationml/2006/main">
  <p:tag name="THINKCELLSHAPEDONOTDELETE" val="tzOxT6Woknr8f3geZhBVWLQ"/>
</p:tagLst>
</file>

<file path=ppt/tags/tag635.xml><?xml version="1.0" encoding="utf-8"?>
<p:tagLst xmlns:a="http://schemas.openxmlformats.org/drawingml/2006/main" xmlns:r="http://schemas.openxmlformats.org/officeDocument/2006/relationships" xmlns:p="http://schemas.openxmlformats.org/presentationml/2006/main">
  <p:tag name="THINKCELLSHAPEDONOTDELETE" val="tOvmpCs1XLPkvBOknMkGV8w"/>
</p:tagLst>
</file>

<file path=ppt/tags/tag636.xml><?xml version="1.0" encoding="utf-8"?>
<p:tagLst xmlns:a="http://schemas.openxmlformats.org/drawingml/2006/main" xmlns:r="http://schemas.openxmlformats.org/officeDocument/2006/relationships" xmlns:p="http://schemas.openxmlformats.org/presentationml/2006/main">
  <p:tag name="THINKCELLSHAPEDONOTDELETE" val="tl.cEOFHbMwqdFXZCi4OVLA"/>
</p:tagLst>
</file>

<file path=ppt/tags/tag637.xml><?xml version="1.0" encoding="utf-8"?>
<p:tagLst xmlns:a="http://schemas.openxmlformats.org/drawingml/2006/main" xmlns:r="http://schemas.openxmlformats.org/officeDocument/2006/relationships" xmlns:p="http://schemas.openxmlformats.org/presentationml/2006/main">
  <p:tag name="THINKCELLSHAPEDONOTDELETE" val="tketa7E0ppcWJooYh_YHasg"/>
</p:tagLst>
</file>

<file path=ppt/tags/tag638.xml><?xml version="1.0" encoding="utf-8"?>
<p:tagLst xmlns:a="http://schemas.openxmlformats.org/drawingml/2006/main" xmlns:r="http://schemas.openxmlformats.org/officeDocument/2006/relationships" xmlns:p="http://schemas.openxmlformats.org/presentationml/2006/main">
  <p:tag name="THINKCELLSHAPEDONOTDELETE" val="tQqWL11HMRAbJ_nNOT6e4ng"/>
</p:tagLst>
</file>

<file path=ppt/tags/tag639.xml><?xml version="1.0" encoding="utf-8"?>
<p:tagLst xmlns:a="http://schemas.openxmlformats.org/drawingml/2006/main" xmlns:r="http://schemas.openxmlformats.org/officeDocument/2006/relationships" xmlns:p="http://schemas.openxmlformats.org/presentationml/2006/main">
  <p:tag name="THINKCELLSHAPEDONOTDELETE" val="t33e5rdcH_5c.HYuaIwx0nQ"/>
</p:tagLst>
</file>

<file path=ppt/tags/tag640.xml><?xml version="1.0" encoding="utf-8"?>
<p:tagLst xmlns:a="http://schemas.openxmlformats.org/drawingml/2006/main" xmlns:r="http://schemas.openxmlformats.org/officeDocument/2006/relationships" xmlns:p="http://schemas.openxmlformats.org/presentationml/2006/main">
  <p:tag name="THINKCELLSHAPEDONOTDELETE" val="tkCpluJR2l40RwgJTbKqKwA"/>
</p:tagLst>
</file>

<file path=ppt/tags/tag641.xml><?xml version="1.0" encoding="utf-8"?>
<p:tagLst xmlns:a="http://schemas.openxmlformats.org/drawingml/2006/main" xmlns:r="http://schemas.openxmlformats.org/officeDocument/2006/relationships" xmlns:p="http://schemas.openxmlformats.org/presentationml/2006/main">
  <p:tag name="THINKCELLSHAPEDONOTDELETE" val="ttcn0fxXviWmU3S.h9Yppwg"/>
</p:tagLst>
</file>

<file path=ppt/tags/tag642.xml><?xml version="1.0" encoding="utf-8"?>
<p:tagLst xmlns:a="http://schemas.openxmlformats.org/drawingml/2006/main" xmlns:r="http://schemas.openxmlformats.org/officeDocument/2006/relationships" xmlns:p="http://schemas.openxmlformats.org/presentationml/2006/main">
  <p:tag name="THINKCELLSHAPEDONOTDELETE" val="tVst3cfA5DQBvrj.MWEkRUg"/>
</p:tagLst>
</file>

<file path=ppt/tags/tag643.xml><?xml version="1.0" encoding="utf-8"?>
<p:tagLst xmlns:a="http://schemas.openxmlformats.org/drawingml/2006/main" xmlns:r="http://schemas.openxmlformats.org/officeDocument/2006/relationships" xmlns:p="http://schemas.openxmlformats.org/presentationml/2006/main">
  <p:tag name="THINKCELLSHAPEDONOTDELETE" val="tuMY0smgc07mo8wrVSh4DmQ"/>
</p:tagLst>
</file>

<file path=ppt/tags/tag644.xml><?xml version="1.0" encoding="utf-8"?>
<p:tagLst xmlns:a="http://schemas.openxmlformats.org/drawingml/2006/main" xmlns:r="http://schemas.openxmlformats.org/officeDocument/2006/relationships" xmlns:p="http://schemas.openxmlformats.org/presentationml/2006/main">
  <p:tag name="THINKCELLSHAPEDONOTDELETE" val="tlBUa6ngPFcytI_e4tyWX1w"/>
</p:tagLst>
</file>

<file path=ppt/tags/tag645.xml><?xml version="1.0" encoding="utf-8"?>
<p:tagLst xmlns:a="http://schemas.openxmlformats.org/drawingml/2006/main" xmlns:r="http://schemas.openxmlformats.org/officeDocument/2006/relationships" xmlns:p="http://schemas.openxmlformats.org/presentationml/2006/main">
  <p:tag name="THINKCELLSHAPEDONOTDELETE" val="tKDpmrFtj2CYbXn3Ygj_Dog"/>
</p:tagLst>
</file>

<file path=ppt/tags/tag646.xml><?xml version="1.0" encoding="utf-8"?>
<p:tagLst xmlns:a="http://schemas.openxmlformats.org/drawingml/2006/main" xmlns:r="http://schemas.openxmlformats.org/officeDocument/2006/relationships" xmlns:p="http://schemas.openxmlformats.org/presentationml/2006/main">
  <p:tag name="THINKCELLSHAPEDONOTDELETE" val="ttMspqyrtqBlO5TtCRT7qwA"/>
</p:tagLst>
</file>

<file path=ppt/tags/tag647.xml><?xml version="1.0" encoding="utf-8"?>
<p:tagLst xmlns:a="http://schemas.openxmlformats.org/drawingml/2006/main" xmlns:r="http://schemas.openxmlformats.org/officeDocument/2006/relationships" xmlns:p="http://schemas.openxmlformats.org/presentationml/2006/main">
  <p:tag name="THINKCELLSHAPEDONOTDELETE" val="tHU_6kd2dXrhIrTi32h6z9g"/>
</p:tagLst>
</file>

<file path=ppt/tags/tag648.xml><?xml version="1.0" encoding="utf-8"?>
<p:tagLst xmlns:a="http://schemas.openxmlformats.org/drawingml/2006/main" xmlns:r="http://schemas.openxmlformats.org/officeDocument/2006/relationships" xmlns:p="http://schemas.openxmlformats.org/presentationml/2006/main">
  <p:tag name="THINKCELLSHAPEDONOTDELETE" val="t1pKNY1hZFmlgolttExlMOQ"/>
</p:tagLst>
</file>

<file path=ppt/tags/tag649.xml><?xml version="1.0" encoding="utf-8"?>
<p:tagLst xmlns:a="http://schemas.openxmlformats.org/drawingml/2006/main" xmlns:r="http://schemas.openxmlformats.org/officeDocument/2006/relationships" xmlns:p="http://schemas.openxmlformats.org/presentationml/2006/main">
  <p:tag name="THINKCELLSHAPEDONOTDELETE" val="tqkR4B7SG8_jHUH6K0QReLQ"/>
</p:tagLst>
</file>

<file path=ppt/tags/tag650.xml><?xml version="1.0" encoding="utf-8"?>
<p:tagLst xmlns:a="http://schemas.openxmlformats.org/drawingml/2006/main" xmlns:r="http://schemas.openxmlformats.org/officeDocument/2006/relationships" xmlns:p="http://schemas.openxmlformats.org/presentationml/2006/main">
  <p:tag name="THINKCELLSHAPEDONOTDELETE" val="t3jF4WLhTEaBo4znlt4xFOA"/>
</p:tagLst>
</file>

<file path=ppt/tags/tag651.xml><?xml version="1.0" encoding="utf-8"?>
<p:tagLst xmlns:a="http://schemas.openxmlformats.org/drawingml/2006/main" xmlns:r="http://schemas.openxmlformats.org/officeDocument/2006/relationships" xmlns:p="http://schemas.openxmlformats.org/presentationml/2006/main">
  <p:tag name="THINKCELLSHAPEDONOTDELETE" val="tdPdiujC_WmEbhXPsrPqVOg"/>
</p:tagLst>
</file>

<file path=ppt/tags/tag652.xml><?xml version="1.0" encoding="utf-8"?>
<p:tagLst xmlns:a="http://schemas.openxmlformats.org/drawingml/2006/main" xmlns:r="http://schemas.openxmlformats.org/officeDocument/2006/relationships" xmlns:p="http://schemas.openxmlformats.org/presentationml/2006/main">
  <p:tag name="THINKCELLSHAPEDONOTDELETE" val="trPi_SANK1l8v1HidGUinhQ"/>
</p:tagLst>
</file>

<file path=ppt/tags/tag653.xml><?xml version="1.0" encoding="utf-8"?>
<p:tagLst xmlns:a="http://schemas.openxmlformats.org/drawingml/2006/main" xmlns:r="http://schemas.openxmlformats.org/officeDocument/2006/relationships" xmlns:p="http://schemas.openxmlformats.org/presentationml/2006/main">
  <p:tag name="THINKCELLSHAPEDONOTDELETE" val="tzjPPYJTAYxC_92FM54mSCw"/>
</p:tagLst>
</file>

<file path=ppt/tags/tag654.xml><?xml version="1.0" encoding="utf-8"?>
<p:tagLst xmlns:a="http://schemas.openxmlformats.org/drawingml/2006/main" xmlns:r="http://schemas.openxmlformats.org/officeDocument/2006/relationships" xmlns:p="http://schemas.openxmlformats.org/presentationml/2006/main">
  <p:tag name="THINKCELLSHAPEDONOTDELETE" val="tl0XOkRGxo6t.qt4CQqXmPg"/>
</p:tagLst>
</file>

<file path=ppt/tags/tag655.xml><?xml version="1.0" encoding="utf-8"?>
<p:tagLst xmlns:a="http://schemas.openxmlformats.org/drawingml/2006/main" xmlns:r="http://schemas.openxmlformats.org/officeDocument/2006/relationships" xmlns:p="http://schemas.openxmlformats.org/presentationml/2006/main">
  <p:tag name="THINKCELLSHAPEDONOTDELETE" val="tpoZZq40L33c8HrkEbnWemQ"/>
</p:tagLst>
</file>

<file path=ppt/tags/tag656.xml><?xml version="1.0" encoding="utf-8"?>
<p:tagLst xmlns:a="http://schemas.openxmlformats.org/drawingml/2006/main" xmlns:r="http://schemas.openxmlformats.org/officeDocument/2006/relationships" xmlns:p="http://schemas.openxmlformats.org/presentationml/2006/main">
  <p:tag name="THINKCELLSHAPEDONOTDELETE" val="t9MlljN3Mmamv3wkerDraxg"/>
</p:tagLst>
</file>

<file path=ppt/tags/tag657.xml><?xml version="1.0" encoding="utf-8"?>
<p:tagLst xmlns:a="http://schemas.openxmlformats.org/drawingml/2006/main" xmlns:r="http://schemas.openxmlformats.org/officeDocument/2006/relationships" xmlns:p="http://schemas.openxmlformats.org/presentationml/2006/main">
  <p:tag name="THINKCELLSHAPEDONOTDELETE" val="t8Yz4964Omn9RKhg3bdMPAA"/>
</p:tagLst>
</file>

<file path=ppt/tags/tag658.xml><?xml version="1.0" encoding="utf-8"?>
<p:tagLst xmlns:a="http://schemas.openxmlformats.org/drawingml/2006/main" xmlns:r="http://schemas.openxmlformats.org/officeDocument/2006/relationships" xmlns:p="http://schemas.openxmlformats.org/presentationml/2006/main">
  <p:tag name="THINKCELLSHAPEDONOTDELETE" val="tl7Axl9fnWBrQ2CxmxW2xlw"/>
</p:tagLst>
</file>

<file path=ppt/tags/tag659.xml><?xml version="1.0" encoding="utf-8"?>
<p:tagLst xmlns:a="http://schemas.openxmlformats.org/drawingml/2006/main" xmlns:r="http://schemas.openxmlformats.org/officeDocument/2006/relationships" xmlns:p="http://schemas.openxmlformats.org/presentationml/2006/main">
  <p:tag name="THINKCELLSHAPEDONOTDELETE" val="t4eHrbeHX1yR0AGcmeBvjrA"/>
</p:tagLst>
</file>

<file path=ppt/tags/tag660.xml><?xml version="1.0" encoding="utf-8"?>
<p:tagLst xmlns:a="http://schemas.openxmlformats.org/drawingml/2006/main" xmlns:r="http://schemas.openxmlformats.org/officeDocument/2006/relationships" xmlns:p="http://schemas.openxmlformats.org/presentationml/2006/main">
  <p:tag name="THINKCELLSHAPEDONOTDELETE" val="twE6jYIAQxqPdobZIsbkinw"/>
</p:tagLst>
</file>

<file path=ppt/tags/tag661.xml><?xml version="1.0" encoding="utf-8"?>
<p:tagLst xmlns:a="http://schemas.openxmlformats.org/drawingml/2006/main" xmlns:r="http://schemas.openxmlformats.org/officeDocument/2006/relationships" xmlns:p="http://schemas.openxmlformats.org/presentationml/2006/main">
  <p:tag name="THINKCELLSHAPEDONOTDELETE" val="tHqW03exkzgKFERWk_fEVcg"/>
</p:tagLst>
</file>

<file path=ppt/tags/tag662.xml><?xml version="1.0" encoding="utf-8"?>
<p:tagLst xmlns:a="http://schemas.openxmlformats.org/drawingml/2006/main" xmlns:r="http://schemas.openxmlformats.org/officeDocument/2006/relationships" xmlns:p="http://schemas.openxmlformats.org/presentationml/2006/main">
  <p:tag name="THINKCELLSHAPEDONOTDELETE" val="tf5Zv7rAlEZGbtT6IDWhcEQ"/>
</p:tagLst>
</file>

<file path=ppt/tags/tag663.xml><?xml version="1.0" encoding="utf-8"?>
<p:tagLst xmlns:a="http://schemas.openxmlformats.org/drawingml/2006/main" xmlns:r="http://schemas.openxmlformats.org/officeDocument/2006/relationships" xmlns:p="http://schemas.openxmlformats.org/presentationml/2006/main">
  <p:tag name="THINKCELLSHAPEDONOTDELETE" val="tyAyOPTikQ_4YrDzEYIVvlw"/>
</p:tagLst>
</file>

<file path=ppt/tags/tag664.xml><?xml version="1.0" encoding="utf-8"?>
<p:tagLst xmlns:a="http://schemas.openxmlformats.org/drawingml/2006/main" xmlns:r="http://schemas.openxmlformats.org/officeDocument/2006/relationships" xmlns:p="http://schemas.openxmlformats.org/presentationml/2006/main">
  <p:tag name="THINKCELLSHAPEDONOTDELETE" val="tOOYUywic00d6t.R3GwX0Pg"/>
</p:tagLst>
</file>

<file path=ppt/tags/tag665.xml><?xml version="1.0" encoding="utf-8"?>
<p:tagLst xmlns:a="http://schemas.openxmlformats.org/drawingml/2006/main" xmlns:r="http://schemas.openxmlformats.org/officeDocument/2006/relationships" xmlns:p="http://schemas.openxmlformats.org/presentationml/2006/main">
  <p:tag name="THINKCELLSHAPEDONOTDELETE" val="tAvMRu3uZwA2JVkZZ_WjnpQ"/>
</p:tagLst>
</file>

<file path=ppt/tags/tag666.xml><?xml version="1.0" encoding="utf-8"?>
<p:tagLst xmlns:a="http://schemas.openxmlformats.org/drawingml/2006/main" xmlns:r="http://schemas.openxmlformats.org/officeDocument/2006/relationships" xmlns:p="http://schemas.openxmlformats.org/presentationml/2006/main">
  <p:tag name="THINKCELLSHAPEDONOTDELETE" val="tADuf5JWgFJ90qgCdRzhaFQ"/>
</p:tagLst>
</file>

<file path=ppt/tags/tag667.xml><?xml version="1.0" encoding="utf-8"?>
<p:tagLst xmlns:a="http://schemas.openxmlformats.org/drawingml/2006/main" xmlns:r="http://schemas.openxmlformats.org/officeDocument/2006/relationships" xmlns:p="http://schemas.openxmlformats.org/presentationml/2006/main">
  <p:tag name="THINKCELLSHAPEDONOTDELETE" val="tkCh0ng6KwJT4M6ERClWrGw"/>
</p:tagLst>
</file>

<file path=ppt/tags/tag668.xml><?xml version="1.0" encoding="utf-8"?>
<p:tagLst xmlns:a="http://schemas.openxmlformats.org/drawingml/2006/main" xmlns:r="http://schemas.openxmlformats.org/officeDocument/2006/relationships" xmlns:p="http://schemas.openxmlformats.org/presentationml/2006/main">
  <p:tag name="THINKCELLSHAPEDONOTDELETE" val="tvuNCVJcRms6OumOTKf8ecQ"/>
</p:tagLst>
</file>

<file path=ppt/tags/tag669.xml><?xml version="1.0" encoding="utf-8"?>
<p:tagLst xmlns:a="http://schemas.openxmlformats.org/drawingml/2006/main" xmlns:r="http://schemas.openxmlformats.org/officeDocument/2006/relationships" xmlns:p="http://schemas.openxmlformats.org/presentationml/2006/main">
  <p:tag name="THINKCELLSHAPEDONOTDELETE" val="tbzi1J84wqBoGX5xZ4YAyMQ"/>
</p:tagLst>
</file>

<file path=ppt/tags/tag670.xml><?xml version="1.0" encoding="utf-8"?>
<p:tagLst xmlns:a="http://schemas.openxmlformats.org/drawingml/2006/main" xmlns:r="http://schemas.openxmlformats.org/officeDocument/2006/relationships" xmlns:p="http://schemas.openxmlformats.org/presentationml/2006/main">
  <p:tag name="THINKCELLSHAPEDONOTDELETE" val="tEdEZ8n_onsGs5J0EIJT.cg"/>
</p:tagLst>
</file>

<file path=ppt/tags/tag671.xml><?xml version="1.0" encoding="utf-8"?>
<p:tagLst xmlns:a="http://schemas.openxmlformats.org/drawingml/2006/main" xmlns:r="http://schemas.openxmlformats.org/officeDocument/2006/relationships" xmlns:p="http://schemas.openxmlformats.org/presentationml/2006/main">
  <p:tag name="THINKCELLSHAPEDONOTDELETE" val="tOIEk..A_7xKMsym_Mq8Jpw"/>
</p:tagLst>
</file>

<file path=ppt/tags/tag672.xml><?xml version="1.0" encoding="utf-8"?>
<p:tagLst xmlns:a="http://schemas.openxmlformats.org/drawingml/2006/main" xmlns:r="http://schemas.openxmlformats.org/officeDocument/2006/relationships" xmlns:p="http://schemas.openxmlformats.org/presentationml/2006/main">
  <p:tag name="THINKCELLSHAPEDONOTDELETE" val="t3zjnMgOnkjgnkX9VOri_lQ"/>
</p:tagLst>
</file>

<file path=ppt/tags/tag673.xml><?xml version="1.0" encoding="utf-8"?>
<p:tagLst xmlns:a="http://schemas.openxmlformats.org/drawingml/2006/main" xmlns:r="http://schemas.openxmlformats.org/officeDocument/2006/relationships" xmlns:p="http://schemas.openxmlformats.org/presentationml/2006/main">
  <p:tag name="THINKCELLSHAPEDONOTDELETE" val="tygPzOyu0TV2ytuLs34OdwA"/>
</p:tagLst>
</file>

<file path=ppt/tags/tag674.xml><?xml version="1.0" encoding="utf-8"?>
<p:tagLst xmlns:a="http://schemas.openxmlformats.org/drawingml/2006/main" xmlns:r="http://schemas.openxmlformats.org/officeDocument/2006/relationships" xmlns:p="http://schemas.openxmlformats.org/presentationml/2006/main">
  <p:tag name="THINKCELLSHAPEDONOTDELETE" val="t.ZrlSsXihWLumP6xvqvhGQ"/>
</p:tagLst>
</file>

<file path=ppt/tags/tag675.xml><?xml version="1.0" encoding="utf-8"?>
<p:tagLst xmlns:a="http://schemas.openxmlformats.org/drawingml/2006/main" xmlns:r="http://schemas.openxmlformats.org/officeDocument/2006/relationships" xmlns:p="http://schemas.openxmlformats.org/presentationml/2006/main">
  <p:tag name="THINKCELLSHAPEDONOTDELETE" val="tTGuuuRf1m9ScVYZm72.WSA"/>
</p:tagLst>
</file>

<file path=ppt/tags/tag676.xml><?xml version="1.0" encoding="utf-8"?>
<p:tagLst xmlns:a="http://schemas.openxmlformats.org/drawingml/2006/main" xmlns:r="http://schemas.openxmlformats.org/officeDocument/2006/relationships" xmlns:p="http://schemas.openxmlformats.org/presentationml/2006/main">
  <p:tag name="THINKCELLSHAPEDONOTDELETE" val="t665JOUiOnrmmwAQqJUdjLQ"/>
</p:tagLst>
</file>

<file path=ppt/tags/tag677.xml><?xml version="1.0" encoding="utf-8"?>
<p:tagLst xmlns:a="http://schemas.openxmlformats.org/drawingml/2006/main" xmlns:r="http://schemas.openxmlformats.org/officeDocument/2006/relationships" xmlns:p="http://schemas.openxmlformats.org/presentationml/2006/main">
  <p:tag name="THINKCELLSHAPEDONOTDELETE" val="tVtBrDkQswfYUjvBPBXz4Hg"/>
</p:tagLst>
</file>

<file path=ppt/tags/tag678.xml><?xml version="1.0" encoding="utf-8"?>
<p:tagLst xmlns:a="http://schemas.openxmlformats.org/drawingml/2006/main" xmlns:r="http://schemas.openxmlformats.org/officeDocument/2006/relationships" xmlns:p="http://schemas.openxmlformats.org/presentationml/2006/main">
  <p:tag name="THINKCELLSHAPEDONOTDELETE" val="tOORGC4Gb.J8pScYUWzpF3g"/>
</p:tagLst>
</file>

<file path=ppt/tags/tag679.xml><?xml version="1.0" encoding="utf-8"?>
<p:tagLst xmlns:a="http://schemas.openxmlformats.org/drawingml/2006/main" xmlns:r="http://schemas.openxmlformats.org/officeDocument/2006/relationships" xmlns:p="http://schemas.openxmlformats.org/presentationml/2006/main">
  <p:tag name="THINKCELLSHAPEDONOTDELETE" val="t5SASNn48lVHdsD_ZfSEMCA"/>
</p:tagLst>
</file>

<file path=ppt/tags/tag680.xml><?xml version="1.0" encoding="utf-8"?>
<p:tagLst xmlns:a="http://schemas.openxmlformats.org/drawingml/2006/main" xmlns:r="http://schemas.openxmlformats.org/officeDocument/2006/relationships" xmlns:p="http://schemas.openxmlformats.org/presentationml/2006/main">
  <p:tag name="THINKCELLSHAPEDONOTDELETE" val="t.rq9cyfgp3vXAmNwmjjLgw"/>
</p:tagLst>
</file>

<file path=ppt/tags/tag681.xml><?xml version="1.0" encoding="utf-8"?>
<p:tagLst xmlns:a="http://schemas.openxmlformats.org/drawingml/2006/main" xmlns:r="http://schemas.openxmlformats.org/officeDocument/2006/relationships" xmlns:p="http://schemas.openxmlformats.org/presentationml/2006/main">
  <p:tag name="THINKCELLSHAPEDONOTDELETE" val="tzT8uwwSg6hvcAcJImYVfRg"/>
</p:tagLst>
</file>

<file path=ppt/tags/tag682.xml><?xml version="1.0" encoding="utf-8"?>
<p:tagLst xmlns:a="http://schemas.openxmlformats.org/drawingml/2006/main" xmlns:r="http://schemas.openxmlformats.org/officeDocument/2006/relationships" xmlns:p="http://schemas.openxmlformats.org/presentationml/2006/main">
  <p:tag name="THINKCELLSHAPEDONOTDELETE" val="taOzeFEELMrMkZmsYFmbVbQ"/>
</p:tagLst>
</file>

<file path=ppt/tags/tag683.xml><?xml version="1.0" encoding="utf-8"?>
<p:tagLst xmlns:a="http://schemas.openxmlformats.org/drawingml/2006/main" xmlns:r="http://schemas.openxmlformats.org/officeDocument/2006/relationships" xmlns:p="http://schemas.openxmlformats.org/presentationml/2006/main">
  <p:tag name="THINKCELLSHAPEDONOTDELETE" val="tPL8uJ4fwCE1sAmIdWRWYAQ"/>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SGKZjEat4bEZVbf5XuiNNQ"/>
</p:tagLst>
</file>

<file path=ppt/tags/tag685.xml><?xml version="1.0" encoding="utf-8"?>
<p:tagLst xmlns:a="http://schemas.openxmlformats.org/drawingml/2006/main" xmlns:r="http://schemas.openxmlformats.org/officeDocument/2006/relationships" xmlns:p="http://schemas.openxmlformats.org/presentationml/2006/main">
  <p:tag name="THINKCELLSHAPEDONOTDELETE" val="tjWup9cFCyykmpoL44i1n.Q"/>
</p:tagLst>
</file>

<file path=ppt/tags/tag686.xml><?xml version="1.0" encoding="utf-8"?>
<p:tagLst xmlns:a="http://schemas.openxmlformats.org/drawingml/2006/main" xmlns:r="http://schemas.openxmlformats.org/officeDocument/2006/relationships" xmlns:p="http://schemas.openxmlformats.org/presentationml/2006/main">
  <p:tag name="THINKCELLSHAPEDONOTDELETE" val="t8xKlIL9jkiBVovg_7rfIgA"/>
</p:tagLst>
</file>

<file path=ppt/tags/tag687.xml><?xml version="1.0" encoding="utf-8"?>
<p:tagLst xmlns:a="http://schemas.openxmlformats.org/drawingml/2006/main" xmlns:r="http://schemas.openxmlformats.org/officeDocument/2006/relationships" xmlns:p="http://schemas.openxmlformats.org/presentationml/2006/main">
  <p:tag name="THINKCELLSHAPEDONOTDELETE" val="t7eiBQrhwtaE6KaEDPFrS6w"/>
</p:tagLst>
</file>

<file path=ppt/tags/tag6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9.xml><?xml version="1.0" encoding="utf-8"?>
<p:tagLst xmlns:a="http://schemas.openxmlformats.org/drawingml/2006/main" xmlns:r="http://schemas.openxmlformats.org/officeDocument/2006/relationships" xmlns:p="http://schemas.openxmlformats.org/presentationml/2006/main">
  <p:tag name="THINKCELLSHAPEDONOTDELETE" val="tH8PyYXfBoD6X0nq2tkH_vw"/>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tei5xscZSz1bGt5_9Ucartg"/>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t4e.Ga46ReQr3tRK9Taf4nw"/>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tXy1omipd9UXg2QIVBQS1YQ"/>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t87.RJZxI9pkHhAna4CPIdw"/>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tRlomquMzxTEHxPmXm3qtlQ"/>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tgwkC_BEI6X6FMHRc5mNlsA"/>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tK2wi4XQ8uAk7rGhHb.qjvg"/>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td0kOueo0Joajmg1cJF1rPw"/>
</p:tagLst>
</file>

<file path=ppt/tags/tag698.xml><?xml version="1.0" encoding="utf-8"?>
<p:tagLst xmlns:a="http://schemas.openxmlformats.org/drawingml/2006/main" xmlns:r="http://schemas.openxmlformats.org/officeDocument/2006/relationships" xmlns:p="http://schemas.openxmlformats.org/presentationml/2006/main">
  <p:tag name="THINKCELLSHAPEDONOTDELETE" val="ttlopHsYEbLrBmonPKZKo3g"/>
</p:tagLst>
</file>

<file path=ppt/tags/tag699.xml><?xml version="1.0" encoding="utf-8"?>
<p:tagLst xmlns:a="http://schemas.openxmlformats.org/drawingml/2006/main" xmlns:r="http://schemas.openxmlformats.org/officeDocument/2006/relationships" xmlns:p="http://schemas.openxmlformats.org/presentationml/2006/main">
  <p:tag name="THINKCELLSHAPEDONOTDELETE" val="tZGZY612mGAyfwd2fg17zzA"/>
</p:tagLst>
</file>

<file path=ppt/tags/tag700.xml><?xml version="1.0" encoding="utf-8"?>
<p:tagLst xmlns:a="http://schemas.openxmlformats.org/drawingml/2006/main" xmlns:r="http://schemas.openxmlformats.org/officeDocument/2006/relationships" xmlns:p="http://schemas.openxmlformats.org/presentationml/2006/main">
  <p:tag name="THINKCELLSHAPEDONOTDELETE" val="tl3krUFGelToaNXViJBwoGA"/>
</p:tagLst>
</file>

<file path=ppt/tags/tag701.xml><?xml version="1.0" encoding="utf-8"?>
<p:tagLst xmlns:a="http://schemas.openxmlformats.org/drawingml/2006/main" xmlns:r="http://schemas.openxmlformats.org/officeDocument/2006/relationships" xmlns:p="http://schemas.openxmlformats.org/presentationml/2006/main">
  <p:tag name="THINKCELLSHAPEDONOTDELETE" val="tmM.ybKppzjx34WLiR.l9aw"/>
</p:tagLst>
</file>

<file path=ppt/tags/tag702.xml><?xml version="1.0" encoding="utf-8"?>
<p:tagLst xmlns:a="http://schemas.openxmlformats.org/drawingml/2006/main" xmlns:r="http://schemas.openxmlformats.org/officeDocument/2006/relationships" xmlns:p="http://schemas.openxmlformats.org/presentationml/2006/main">
  <p:tag name="THINKCELLSHAPEDONOTDELETE" val="td0ac03vVMDi2Pvy.sm8Tjg"/>
</p:tagLst>
</file>

<file path=ppt/tags/tag703.xml><?xml version="1.0" encoding="utf-8"?>
<p:tagLst xmlns:a="http://schemas.openxmlformats.org/drawingml/2006/main" xmlns:r="http://schemas.openxmlformats.org/officeDocument/2006/relationships" xmlns:p="http://schemas.openxmlformats.org/presentationml/2006/main">
  <p:tag name="THINKCELLSHAPEDONOTDELETE" val="tGsPYFjqnARspFH2wmFOm2Q"/>
</p:tagLst>
</file>

<file path=ppt/tags/tag704.xml><?xml version="1.0" encoding="utf-8"?>
<p:tagLst xmlns:a="http://schemas.openxmlformats.org/drawingml/2006/main" xmlns:r="http://schemas.openxmlformats.org/officeDocument/2006/relationships" xmlns:p="http://schemas.openxmlformats.org/presentationml/2006/main">
  <p:tag name="THINKCELLSHAPEDONOTDELETE" val="tAw367LLtQwuR3KOe0Hu5zg"/>
</p:tagLst>
</file>

<file path=ppt/tags/tag705.xml><?xml version="1.0" encoding="utf-8"?>
<p:tagLst xmlns:a="http://schemas.openxmlformats.org/drawingml/2006/main" xmlns:r="http://schemas.openxmlformats.org/officeDocument/2006/relationships" xmlns:p="http://schemas.openxmlformats.org/presentationml/2006/main">
  <p:tag name="THINKCELLSHAPEDONOTDELETE" val="tdgd9OIwfM_2TyCaI9iVOOw"/>
</p:tagLst>
</file>

<file path=ppt/tags/tag70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9.xml><?xml version="1.0" encoding="utf-8"?>
<p:tagLst xmlns:a="http://schemas.openxmlformats.org/drawingml/2006/main" xmlns:r="http://schemas.openxmlformats.org/officeDocument/2006/relationships" xmlns:p="http://schemas.openxmlformats.org/presentationml/2006/main">
  <p:tag name="THINKCELLSHAPEDONOTDELETE" val="tDzETpxhAwmvWnxuXX5Hblw"/>
</p:tagLst>
</file>

<file path=ppt/tags/tag710.xml><?xml version="1.0" encoding="utf-8"?>
<p:tagLst xmlns:a="http://schemas.openxmlformats.org/drawingml/2006/main" xmlns:r="http://schemas.openxmlformats.org/officeDocument/2006/relationships" xmlns:p="http://schemas.openxmlformats.org/presentationml/2006/main">
  <p:tag name="THINKCELLSHAPEDONOTDELETE" val="twakfYzX2cVmZhRJp9HrR.A"/>
</p:tagLst>
</file>

<file path=ppt/tags/tag711.xml><?xml version="1.0" encoding="utf-8"?>
<p:tagLst xmlns:a="http://schemas.openxmlformats.org/drawingml/2006/main" xmlns:r="http://schemas.openxmlformats.org/officeDocument/2006/relationships" xmlns:p="http://schemas.openxmlformats.org/presentationml/2006/main">
  <p:tag name="THINKCELLSHAPEDONOTDELETE" val="tBZrdgf1aqtS6OEugiapL6A"/>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3M.x4jweGM7vWFkJLzdbig"/>
</p:tagLst>
</file>

<file path=ppt/tags/tag713.xml><?xml version="1.0" encoding="utf-8"?>
<p:tagLst xmlns:a="http://schemas.openxmlformats.org/drawingml/2006/main" xmlns:r="http://schemas.openxmlformats.org/officeDocument/2006/relationships" xmlns:p="http://schemas.openxmlformats.org/presentationml/2006/main">
  <p:tag name="THINKCELLSHAPEDONOTDELETE" val="tC9bR9F7Y2tDP3zpa_7Fl2g"/>
</p:tagLst>
</file>

<file path=ppt/tags/tag714.xml><?xml version="1.0" encoding="utf-8"?>
<p:tagLst xmlns:a="http://schemas.openxmlformats.org/drawingml/2006/main" xmlns:r="http://schemas.openxmlformats.org/officeDocument/2006/relationships" xmlns:p="http://schemas.openxmlformats.org/presentationml/2006/main">
  <p:tag name="THINKCELLSHAPEDONOTDELETE" val="tuNgqPwDO.J1ZueeaWr2mlg"/>
</p:tagLst>
</file>

<file path=ppt/tags/tag715.xml><?xml version="1.0" encoding="utf-8"?>
<p:tagLst xmlns:a="http://schemas.openxmlformats.org/drawingml/2006/main" xmlns:r="http://schemas.openxmlformats.org/officeDocument/2006/relationships" xmlns:p="http://schemas.openxmlformats.org/presentationml/2006/main">
  <p:tag name="THINKCELLSHAPEDONOTDELETE" val="tj.ojxBXVw9t4S_rQqQQ7RA"/>
</p:tagLst>
</file>

<file path=ppt/tags/tag716.xml><?xml version="1.0" encoding="utf-8"?>
<p:tagLst xmlns:a="http://schemas.openxmlformats.org/drawingml/2006/main" xmlns:r="http://schemas.openxmlformats.org/officeDocument/2006/relationships" xmlns:p="http://schemas.openxmlformats.org/presentationml/2006/main">
  <p:tag name="THINKCELLSHAPEDONOTDELETE" val="t45nHlDZNgGEdPTm8jaOmTA"/>
</p:tagLst>
</file>

<file path=ppt/tags/tag717.xml><?xml version="1.0" encoding="utf-8"?>
<p:tagLst xmlns:a="http://schemas.openxmlformats.org/drawingml/2006/main" xmlns:r="http://schemas.openxmlformats.org/officeDocument/2006/relationships" xmlns:p="http://schemas.openxmlformats.org/presentationml/2006/main">
  <p:tag name="THINKCELLSHAPEDONOTDELETE" val="tpAyQKd3nQf0UoYsaQkd95Q"/>
</p:tagLst>
</file>

<file path=ppt/tags/tag718.xml><?xml version="1.0" encoding="utf-8"?>
<p:tagLst xmlns:a="http://schemas.openxmlformats.org/drawingml/2006/main" xmlns:r="http://schemas.openxmlformats.org/officeDocument/2006/relationships" xmlns:p="http://schemas.openxmlformats.org/presentationml/2006/main">
  <p:tag name="THINKCELLSHAPEDONOTDELETE" val="tsaZero3VqBGWiv4nin7rVQ"/>
</p:tagLst>
</file>

<file path=ppt/tags/tag719.xml><?xml version="1.0" encoding="utf-8"?>
<p:tagLst xmlns:a="http://schemas.openxmlformats.org/drawingml/2006/main" xmlns:r="http://schemas.openxmlformats.org/officeDocument/2006/relationships" xmlns:p="http://schemas.openxmlformats.org/presentationml/2006/main">
  <p:tag name="THINKCELLSHAPEDONOTDELETE" val="twuEaR7r2FevRqjEu0TlbJw"/>
</p:tagLst>
</file>

<file path=ppt/tags/tag720.xml><?xml version="1.0" encoding="utf-8"?>
<p:tagLst xmlns:a="http://schemas.openxmlformats.org/drawingml/2006/main" xmlns:r="http://schemas.openxmlformats.org/officeDocument/2006/relationships" xmlns:p="http://schemas.openxmlformats.org/presentationml/2006/main">
  <p:tag name="THINKCELLSHAPEDONOTDELETE" val="tuNRyC3Qaf87X2hX_ZqCwNw"/>
</p:tagLst>
</file>

<file path=ppt/tags/tag721.xml><?xml version="1.0" encoding="utf-8"?>
<p:tagLst xmlns:a="http://schemas.openxmlformats.org/drawingml/2006/main" xmlns:r="http://schemas.openxmlformats.org/officeDocument/2006/relationships" xmlns:p="http://schemas.openxmlformats.org/presentationml/2006/main">
  <p:tag name="THINKCELLSHAPEDONOTDELETE" val="tGh5xr7bTXgyG_2ef6fyAeg"/>
</p:tagLst>
</file>

<file path=ppt/tags/tag7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2.xml><?xml version="1.0" encoding="utf-8"?>
<p:tagLst xmlns:a="http://schemas.openxmlformats.org/drawingml/2006/main" xmlns:r="http://schemas.openxmlformats.org/officeDocument/2006/relationships" xmlns:p="http://schemas.openxmlformats.org/presentationml/2006/main">
  <p:tag name="THINKCELLSHAPEDONOTDELETE" val="tln.KXZo_WrQVahbDfBTmVw"/>
</p:tagLst>
</file>

<file path=ppt/tags/tag733.xml><?xml version="1.0" encoding="utf-8"?>
<p:tagLst xmlns:a="http://schemas.openxmlformats.org/drawingml/2006/main" xmlns:r="http://schemas.openxmlformats.org/officeDocument/2006/relationships" xmlns:p="http://schemas.openxmlformats.org/presentationml/2006/main">
  <p:tag name="THINKCELLSHAPEDONOTDELETE" val="thTMYwOyd.lRM6nRE.vdu2w"/>
</p:tagLst>
</file>

<file path=ppt/tags/tag734.xml><?xml version="1.0" encoding="utf-8"?>
<p:tagLst xmlns:a="http://schemas.openxmlformats.org/drawingml/2006/main" xmlns:r="http://schemas.openxmlformats.org/officeDocument/2006/relationships" xmlns:p="http://schemas.openxmlformats.org/presentationml/2006/main">
  <p:tag name="THINKCELLSHAPEDONOTDELETE" val="t7FU8Joq.9R2U20RybwwcjQ"/>
</p:tagLst>
</file>

<file path=ppt/tags/tag735.xml><?xml version="1.0" encoding="utf-8"?>
<p:tagLst xmlns:a="http://schemas.openxmlformats.org/drawingml/2006/main" xmlns:r="http://schemas.openxmlformats.org/officeDocument/2006/relationships" xmlns:p="http://schemas.openxmlformats.org/presentationml/2006/main">
  <p:tag name="THINKCELLSHAPEDONOTDELETE" val="trVsNVamMm1kQhj.osXPTxg"/>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tmQOX6.DF.dKG9UiEXDaBTg"/>
</p:tagLst>
</file>

<file path=ppt/tags/tag737.xml><?xml version="1.0" encoding="utf-8"?>
<p:tagLst xmlns:a="http://schemas.openxmlformats.org/drawingml/2006/main" xmlns:r="http://schemas.openxmlformats.org/officeDocument/2006/relationships" xmlns:p="http://schemas.openxmlformats.org/presentationml/2006/main">
  <p:tag name="THINKCELLSHAPEDONOTDELETE" val="tZR6Mx4V6B3lr6esVT5JZrw"/>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tCbZlF6q7wpzKBjht_TM4kA"/>
</p:tagLst>
</file>

<file path=ppt/tags/tag739.xml><?xml version="1.0" encoding="utf-8"?>
<p:tagLst xmlns:a="http://schemas.openxmlformats.org/drawingml/2006/main" xmlns:r="http://schemas.openxmlformats.org/officeDocument/2006/relationships" xmlns:p="http://schemas.openxmlformats.org/presentationml/2006/main">
  <p:tag name="THINKCELLSHAPEDONOTDELETE" val="tk7gkM71VJfGQT4NQNLhu7A"/>
</p:tagLst>
</file>

<file path=ppt/tags/tag740.xml><?xml version="1.0" encoding="utf-8"?>
<p:tagLst xmlns:a="http://schemas.openxmlformats.org/drawingml/2006/main" xmlns:r="http://schemas.openxmlformats.org/officeDocument/2006/relationships" xmlns:p="http://schemas.openxmlformats.org/presentationml/2006/main">
  <p:tag name="THINKCELLSHAPEDONOTDELETE" val="tWO_Sf.Ia34VL3GcABQJLhA"/>
</p:tagLst>
</file>

<file path=ppt/tags/tag741.xml><?xml version="1.0" encoding="utf-8"?>
<p:tagLst xmlns:a="http://schemas.openxmlformats.org/drawingml/2006/main" xmlns:r="http://schemas.openxmlformats.org/officeDocument/2006/relationships" xmlns:p="http://schemas.openxmlformats.org/presentationml/2006/main">
  <p:tag name="THINKCELLSHAPEDONOTDELETE" val="twgzOZSYYD9NsWpIZ8qwSJw"/>
</p:tagLst>
</file>

<file path=ppt/tags/tag742.xml><?xml version="1.0" encoding="utf-8"?>
<p:tagLst xmlns:a="http://schemas.openxmlformats.org/drawingml/2006/main" xmlns:r="http://schemas.openxmlformats.org/officeDocument/2006/relationships" xmlns:p="http://schemas.openxmlformats.org/presentationml/2006/main">
  <p:tag name="THINKCELLSHAPEDONOTDELETE" val="tQHApHh316esrFaK9yfArGA"/>
</p:tagLst>
</file>

<file path=ppt/tags/tag743.xml><?xml version="1.0" encoding="utf-8"?>
<p:tagLst xmlns:a="http://schemas.openxmlformats.org/drawingml/2006/main" xmlns:r="http://schemas.openxmlformats.org/officeDocument/2006/relationships" xmlns:p="http://schemas.openxmlformats.org/presentationml/2006/main">
  <p:tag name="THINKCELLSHAPEDONOTDELETE" val="txOpWC7mT_ZEVM3qC1LuHaQ"/>
</p:tagLst>
</file>

<file path=ppt/tags/tag744.xml><?xml version="1.0" encoding="utf-8"?>
<p:tagLst xmlns:a="http://schemas.openxmlformats.org/drawingml/2006/main" xmlns:r="http://schemas.openxmlformats.org/officeDocument/2006/relationships" xmlns:p="http://schemas.openxmlformats.org/presentationml/2006/main">
  <p:tag name="THINKCELLSHAPEDONOTDELETE" val="tDEvg5zfb1Y8HsQAgqKqL0w"/>
</p:tagLst>
</file>

<file path=ppt/tags/tag745.xml><?xml version="1.0" encoding="utf-8"?>
<p:tagLst xmlns:a="http://schemas.openxmlformats.org/drawingml/2006/main" xmlns:r="http://schemas.openxmlformats.org/officeDocument/2006/relationships" xmlns:p="http://schemas.openxmlformats.org/presentationml/2006/main">
  <p:tag name="THINKCELLSHAPEDONOTDELETE" val="tS8el06c6vBZ.zW_6hz8Uxg"/>
</p:tagLst>
</file>

<file path=ppt/tags/tag746.xml><?xml version="1.0" encoding="utf-8"?>
<p:tagLst xmlns:a="http://schemas.openxmlformats.org/drawingml/2006/main" xmlns:r="http://schemas.openxmlformats.org/officeDocument/2006/relationships" xmlns:p="http://schemas.openxmlformats.org/presentationml/2006/main">
  <p:tag name="THINKCELLSHAPEDONOTDELETE" val="tuhdTX9f2lvH9b.wBJRgyVQ"/>
</p:tagLst>
</file>

<file path=ppt/tags/tag747.xml><?xml version="1.0" encoding="utf-8"?>
<p:tagLst xmlns:a="http://schemas.openxmlformats.org/drawingml/2006/main" xmlns:r="http://schemas.openxmlformats.org/officeDocument/2006/relationships" xmlns:p="http://schemas.openxmlformats.org/presentationml/2006/main">
  <p:tag name="THINKCELLSHAPEDONOTDELETE" val="t77PcFDJH22T.sZVAC5Aqag"/>
</p:tagLst>
</file>

<file path=ppt/tags/tag748.xml><?xml version="1.0" encoding="utf-8"?>
<p:tagLst xmlns:a="http://schemas.openxmlformats.org/drawingml/2006/main" xmlns:r="http://schemas.openxmlformats.org/officeDocument/2006/relationships" xmlns:p="http://schemas.openxmlformats.org/presentationml/2006/main">
  <p:tag name="THINKCELLSHAPEDONOTDELETE" val="tbOjKJW3IlbG_0afYriGKOg"/>
</p:tagLst>
</file>

<file path=ppt/tags/tag749.xml><?xml version="1.0" encoding="utf-8"?>
<p:tagLst xmlns:a="http://schemas.openxmlformats.org/drawingml/2006/main" xmlns:r="http://schemas.openxmlformats.org/officeDocument/2006/relationships" xmlns:p="http://schemas.openxmlformats.org/presentationml/2006/main">
  <p:tag name="THINKCELLSHAPEDONOTDELETE" val="tWPFrSgN58Th9kK6nEXeNXA"/>
</p:tagLst>
</file>

<file path=ppt/tags/tag750.xml><?xml version="1.0" encoding="utf-8"?>
<p:tagLst xmlns:a="http://schemas.openxmlformats.org/drawingml/2006/main" xmlns:r="http://schemas.openxmlformats.org/officeDocument/2006/relationships" xmlns:p="http://schemas.openxmlformats.org/presentationml/2006/main">
  <p:tag name="THINKCELLSHAPEDONOTDELETE" val="tAuoTjIEYhkV_UNtssiB2lQ"/>
</p:tagLst>
</file>

<file path=ppt/tags/tag751.xml><?xml version="1.0" encoding="utf-8"?>
<p:tagLst xmlns:a="http://schemas.openxmlformats.org/drawingml/2006/main" xmlns:r="http://schemas.openxmlformats.org/officeDocument/2006/relationships" xmlns:p="http://schemas.openxmlformats.org/presentationml/2006/main">
  <p:tag name="THINKCELLSHAPEDONOTDELETE" val="thcmYUrEkDKWTj_jGL.yj9Q"/>
</p:tagLst>
</file>

<file path=ppt/tags/tag752.xml><?xml version="1.0" encoding="utf-8"?>
<p:tagLst xmlns:a="http://schemas.openxmlformats.org/drawingml/2006/main" xmlns:r="http://schemas.openxmlformats.org/officeDocument/2006/relationships" xmlns:p="http://schemas.openxmlformats.org/presentationml/2006/main">
  <p:tag name="THINKCELLSHAPEDONOTDELETE" val="tHCmNkEO52tHyhsivg0S85A"/>
</p:tagLst>
</file>

<file path=ppt/tags/tag753.xml><?xml version="1.0" encoding="utf-8"?>
<p:tagLst xmlns:a="http://schemas.openxmlformats.org/drawingml/2006/main" xmlns:r="http://schemas.openxmlformats.org/officeDocument/2006/relationships" xmlns:p="http://schemas.openxmlformats.org/presentationml/2006/main">
  <p:tag name="THINKCELLSHAPEDONOTDELETE" val="tD5nPP9Qu0a6Sf34MFSJA9w"/>
</p:tagLst>
</file>

<file path=ppt/tags/tag754.xml><?xml version="1.0" encoding="utf-8"?>
<p:tagLst xmlns:a="http://schemas.openxmlformats.org/drawingml/2006/main" xmlns:r="http://schemas.openxmlformats.org/officeDocument/2006/relationships" xmlns:p="http://schemas.openxmlformats.org/presentationml/2006/main">
  <p:tag name="THINKCELLSHAPEDONOTDELETE" val="tb.jdvAu4Ap1Uc_9lUB1YpQ"/>
</p:tagLst>
</file>

<file path=ppt/tags/tag755.xml><?xml version="1.0" encoding="utf-8"?>
<p:tagLst xmlns:a="http://schemas.openxmlformats.org/drawingml/2006/main" xmlns:r="http://schemas.openxmlformats.org/officeDocument/2006/relationships" xmlns:p="http://schemas.openxmlformats.org/presentationml/2006/main">
  <p:tag name="THINKCELLSHAPEDONOTDELETE" val="tcH_aiR1b6lfVxwTPMWfoyQ"/>
</p:tagLst>
</file>

<file path=ppt/tags/tag756.xml><?xml version="1.0" encoding="utf-8"?>
<p:tagLst xmlns:a="http://schemas.openxmlformats.org/drawingml/2006/main" xmlns:r="http://schemas.openxmlformats.org/officeDocument/2006/relationships" xmlns:p="http://schemas.openxmlformats.org/presentationml/2006/main">
  <p:tag name="THINKCELLSHAPEDONOTDELETE" val="tkH7qWj8QzjqrAPQHWRldSg"/>
</p:tagLst>
</file>

<file path=ppt/tags/tag757.xml><?xml version="1.0" encoding="utf-8"?>
<p:tagLst xmlns:a="http://schemas.openxmlformats.org/drawingml/2006/main" xmlns:r="http://schemas.openxmlformats.org/officeDocument/2006/relationships" xmlns:p="http://schemas.openxmlformats.org/presentationml/2006/main">
  <p:tag name="THINKCELLSHAPEDONOTDELETE" val="tnfW6.X_tlsqyOPSjH3jmxw"/>
</p:tagLst>
</file>

<file path=ppt/tags/tag758.xml><?xml version="1.0" encoding="utf-8"?>
<p:tagLst xmlns:a="http://schemas.openxmlformats.org/drawingml/2006/main" xmlns:r="http://schemas.openxmlformats.org/officeDocument/2006/relationships" xmlns:p="http://schemas.openxmlformats.org/presentationml/2006/main">
  <p:tag name="THINKCELLSHAPEDONOTDELETE" val="tJjODerjNbF2UNaDk2LRT4A"/>
</p:tagLst>
</file>

<file path=ppt/tags/tag759.xml><?xml version="1.0" encoding="utf-8"?>
<p:tagLst xmlns:a="http://schemas.openxmlformats.org/drawingml/2006/main" xmlns:r="http://schemas.openxmlformats.org/officeDocument/2006/relationships" xmlns:p="http://schemas.openxmlformats.org/presentationml/2006/main">
  <p:tag name="THINKCELLSHAPEDONOTDELETE" val="txCw4k3Txglih06DuQfoiFw"/>
</p:tagLst>
</file>

<file path=ppt/tags/tag760.xml><?xml version="1.0" encoding="utf-8"?>
<p:tagLst xmlns:a="http://schemas.openxmlformats.org/drawingml/2006/main" xmlns:r="http://schemas.openxmlformats.org/officeDocument/2006/relationships" xmlns:p="http://schemas.openxmlformats.org/presentationml/2006/main">
  <p:tag name="THINKCELLSHAPEDONOTDELETE" val="tLuIkahEN7h95U89MRrIdQA"/>
</p:tagLst>
</file>

<file path=ppt/tags/tag761.xml><?xml version="1.0" encoding="utf-8"?>
<p:tagLst xmlns:a="http://schemas.openxmlformats.org/drawingml/2006/main" xmlns:r="http://schemas.openxmlformats.org/officeDocument/2006/relationships" xmlns:p="http://schemas.openxmlformats.org/presentationml/2006/main">
  <p:tag name="THINKCELLSHAPEDONOTDELETE" val="thiHpap0YCXB2hYU41ogv2Q"/>
</p:tagLst>
</file>

<file path=ppt/tags/tag762.xml><?xml version="1.0" encoding="utf-8"?>
<p:tagLst xmlns:a="http://schemas.openxmlformats.org/drawingml/2006/main" xmlns:r="http://schemas.openxmlformats.org/officeDocument/2006/relationships" xmlns:p="http://schemas.openxmlformats.org/presentationml/2006/main">
  <p:tag name="THINKCELLSHAPEDONOTDELETE" val="tWZbZdNas37r4pwsW75Uy9Q"/>
</p:tagLst>
</file>

<file path=ppt/tags/tag763.xml><?xml version="1.0" encoding="utf-8"?>
<p:tagLst xmlns:a="http://schemas.openxmlformats.org/drawingml/2006/main" xmlns:r="http://schemas.openxmlformats.org/officeDocument/2006/relationships" xmlns:p="http://schemas.openxmlformats.org/presentationml/2006/main">
  <p:tag name="THINKCELLSHAPEDONOTDELETE" val="tiY1aWXTVKBzRs_qZy9WIsQ"/>
</p:tagLst>
</file>

<file path=ppt/tags/tag764.xml><?xml version="1.0" encoding="utf-8"?>
<p:tagLst xmlns:a="http://schemas.openxmlformats.org/drawingml/2006/main" xmlns:r="http://schemas.openxmlformats.org/officeDocument/2006/relationships" xmlns:p="http://schemas.openxmlformats.org/presentationml/2006/main">
  <p:tag name="THINKCELLSHAPEDONOTDELETE" val="tbvvtXquL9iy6EqFcCYB6Pw"/>
</p:tagLst>
</file>

<file path=ppt/tags/tag765.xml><?xml version="1.0" encoding="utf-8"?>
<p:tagLst xmlns:a="http://schemas.openxmlformats.org/drawingml/2006/main" xmlns:r="http://schemas.openxmlformats.org/officeDocument/2006/relationships" xmlns:p="http://schemas.openxmlformats.org/presentationml/2006/main">
  <p:tag name="THINKCELLSHAPEDONOTDELETE" val="tb1QEv9LamPeOpq6.dCqNaw"/>
</p:tagLst>
</file>

<file path=ppt/tags/tag766.xml><?xml version="1.0" encoding="utf-8"?>
<p:tagLst xmlns:a="http://schemas.openxmlformats.org/drawingml/2006/main" xmlns:r="http://schemas.openxmlformats.org/officeDocument/2006/relationships" xmlns:p="http://schemas.openxmlformats.org/presentationml/2006/main">
  <p:tag name="THINKCELLSHAPEDONOTDELETE" val="thGedGx_bFYGYnW5.sLjrsA"/>
</p:tagLst>
</file>

<file path=ppt/tags/tag767.xml><?xml version="1.0" encoding="utf-8"?>
<p:tagLst xmlns:a="http://schemas.openxmlformats.org/drawingml/2006/main" xmlns:r="http://schemas.openxmlformats.org/officeDocument/2006/relationships" xmlns:p="http://schemas.openxmlformats.org/presentationml/2006/main">
  <p:tag name="THINKCELLSHAPEDONOTDELETE" val="t_jJRTBElUMexUh.IWvbNGA"/>
</p:tagLst>
</file>

<file path=ppt/tags/tag768.xml><?xml version="1.0" encoding="utf-8"?>
<p:tagLst xmlns:a="http://schemas.openxmlformats.org/drawingml/2006/main" xmlns:r="http://schemas.openxmlformats.org/officeDocument/2006/relationships" xmlns:p="http://schemas.openxmlformats.org/presentationml/2006/main">
  <p:tag name="THINKCELLSHAPEDONOTDELETE" val="tdTDELlg3xaI_iUNJWO2d0w"/>
</p:tagLst>
</file>

<file path=ppt/tags/tag769.xml><?xml version="1.0" encoding="utf-8"?>
<p:tagLst xmlns:a="http://schemas.openxmlformats.org/drawingml/2006/main" xmlns:r="http://schemas.openxmlformats.org/officeDocument/2006/relationships" xmlns:p="http://schemas.openxmlformats.org/presentationml/2006/main">
  <p:tag name="THINKCELLSHAPEDONOTDELETE" val="trz1vGUrxGtUkMHaKto6D5g"/>
</p:tagLst>
</file>

<file path=ppt/tags/tag770.xml><?xml version="1.0" encoding="utf-8"?>
<p:tagLst xmlns:a="http://schemas.openxmlformats.org/drawingml/2006/main" xmlns:r="http://schemas.openxmlformats.org/officeDocument/2006/relationships" xmlns:p="http://schemas.openxmlformats.org/presentationml/2006/main">
  <p:tag name="THINKCELLSHAPEDONOTDELETE" val="t9y3UyRv8OaAk3V1aOXBQyg"/>
</p:tagLst>
</file>

<file path=ppt/tags/tag771.xml><?xml version="1.0" encoding="utf-8"?>
<p:tagLst xmlns:a="http://schemas.openxmlformats.org/drawingml/2006/main" xmlns:r="http://schemas.openxmlformats.org/officeDocument/2006/relationships" xmlns:p="http://schemas.openxmlformats.org/presentationml/2006/main">
  <p:tag name="THINKCELLSHAPEDONOTDELETE" val="t9u75k0tbjgp4052yUCEdvg"/>
</p:tagLst>
</file>

<file path=ppt/tags/tag772.xml><?xml version="1.0" encoding="utf-8"?>
<p:tagLst xmlns:a="http://schemas.openxmlformats.org/drawingml/2006/main" xmlns:r="http://schemas.openxmlformats.org/officeDocument/2006/relationships" xmlns:p="http://schemas.openxmlformats.org/presentationml/2006/main">
  <p:tag name="THINKCELLSHAPEDONOTDELETE" val="tmL_fVW2BMP1Nm23AIojiNw"/>
</p:tagLst>
</file>

<file path=ppt/tags/tag773.xml><?xml version="1.0" encoding="utf-8"?>
<p:tagLst xmlns:a="http://schemas.openxmlformats.org/drawingml/2006/main" xmlns:r="http://schemas.openxmlformats.org/officeDocument/2006/relationships" xmlns:p="http://schemas.openxmlformats.org/presentationml/2006/main">
  <p:tag name="THINKCELLSHAPEDONOTDELETE" val="tYT40ZqICoL3_S4ETSxvZZg"/>
</p:tagLst>
</file>

<file path=ppt/tags/tag774.xml><?xml version="1.0" encoding="utf-8"?>
<p:tagLst xmlns:a="http://schemas.openxmlformats.org/drawingml/2006/main" xmlns:r="http://schemas.openxmlformats.org/officeDocument/2006/relationships" xmlns:p="http://schemas.openxmlformats.org/presentationml/2006/main">
  <p:tag name="THINKCELLSHAPEDONOTDELETE" val="tqzvqjad1.HKXJzum0XojSQ"/>
</p:tagLst>
</file>

<file path=ppt/tags/tag775.xml><?xml version="1.0" encoding="utf-8"?>
<p:tagLst xmlns:a="http://schemas.openxmlformats.org/drawingml/2006/main" xmlns:r="http://schemas.openxmlformats.org/officeDocument/2006/relationships" xmlns:p="http://schemas.openxmlformats.org/presentationml/2006/main">
  <p:tag name="THINKCELLSHAPEDONOTDELETE" val="tMhz9da2sMsm2NL5eWHgspQ"/>
</p:tagLst>
</file>

<file path=ppt/tags/tag7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2.xml><?xml version="1.0" encoding="utf-8"?>
<p:tagLst xmlns:a="http://schemas.openxmlformats.org/drawingml/2006/main" xmlns:r="http://schemas.openxmlformats.org/officeDocument/2006/relationships" xmlns:p="http://schemas.openxmlformats.org/presentationml/2006/main">
  <p:tag name="THINKCELLSHAPEDONOTDELETE" val="taFc_w77H1UotGO9Bl6jKOw"/>
</p:tagLst>
</file>

<file path=ppt/tags/tag783.xml><?xml version="1.0" encoding="utf-8"?>
<p:tagLst xmlns:a="http://schemas.openxmlformats.org/drawingml/2006/main" xmlns:r="http://schemas.openxmlformats.org/officeDocument/2006/relationships" xmlns:p="http://schemas.openxmlformats.org/presentationml/2006/main">
  <p:tag name="THINKCELLSHAPEDONOTDELETE" val="tK2LBUuPx5cBhOTIMhhE4rA"/>
</p:tagLst>
</file>

<file path=ppt/tags/tag784.xml><?xml version="1.0" encoding="utf-8"?>
<p:tagLst xmlns:a="http://schemas.openxmlformats.org/drawingml/2006/main" xmlns:r="http://schemas.openxmlformats.org/officeDocument/2006/relationships" xmlns:p="http://schemas.openxmlformats.org/presentationml/2006/main">
  <p:tag name="THINKCELLSHAPEDONOTDELETE" val="tzwTRjxwHs4KUqQ6SeA.IEA"/>
</p:tagLst>
</file>

<file path=ppt/tags/tag785.xml><?xml version="1.0" encoding="utf-8"?>
<p:tagLst xmlns:a="http://schemas.openxmlformats.org/drawingml/2006/main" xmlns:r="http://schemas.openxmlformats.org/officeDocument/2006/relationships" xmlns:p="http://schemas.openxmlformats.org/presentationml/2006/main">
  <p:tag name="THINKCELLSHAPEDONOTDELETE" val="tIYyhQKHyr_mGHxFdyvKsNg"/>
</p:tagLst>
</file>

<file path=ppt/tags/tag786.xml><?xml version="1.0" encoding="utf-8"?>
<p:tagLst xmlns:a="http://schemas.openxmlformats.org/drawingml/2006/main" xmlns:r="http://schemas.openxmlformats.org/officeDocument/2006/relationships" xmlns:p="http://schemas.openxmlformats.org/presentationml/2006/main">
  <p:tag name="THINKCELLSHAPEDONOTDELETE" val="tF6iSdpVleyvCItBlUo6PKw"/>
</p:tagLst>
</file>

<file path=ppt/tags/tag7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4.xml><?xml version="1.0" encoding="utf-8"?>
<p:tagLst xmlns:a="http://schemas.openxmlformats.org/drawingml/2006/main" xmlns:r="http://schemas.openxmlformats.org/officeDocument/2006/relationships" xmlns:p="http://schemas.openxmlformats.org/presentationml/2006/main">
  <p:tag name="THINKCELLSHAPEDONOTDELETE" val="tm6_TUzXbe7yFaPFYgiBBQg"/>
</p:tagLst>
</file>

<file path=ppt/tags/tag795.xml><?xml version="1.0" encoding="utf-8"?>
<p:tagLst xmlns:a="http://schemas.openxmlformats.org/drawingml/2006/main" xmlns:r="http://schemas.openxmlformats.org/officeDocument/2006/relationships" xmlns:p="http://schemas.openxmlformats.org/presentationml/2006/main">
  <p:tag name="THINKCELLSHAPEDONOTDELETE" val="tVAenspPM3OHv28hOTAkclw"/>
</p:tagLst>
</file>

<file path=ppt/tags/tag796.xml><?xml version="1.0" encoding="utf-8"?>
<p:tagLst xmlns:a="http://schemas.openxmlformats.org/drawingml/2006/main" xmlns:r="http://schemas.openxmlformats.org/officeDocument/2006/relationships" xmlns:p="http://schemas.openxmlformats.org/presentationml/2006/main">
  <p:tag name="THINKCELLSHAPEDONOTDELETE" val="tS5ampD4OBby6UUMynzsc7g"/>
</p:tagLst>
</file>

<file path=ppt/tags/tag797.xml><?xml version="1.0" encoding="utf-8"?>
<p:tagLst xmlns:a="http://schemas.openxmlformats.org/drawingml/2006/main" xmlns:r="http://schemas.openxmlformats.org/officeDocument/2006/relationships" xmlns:p="http://schemas.openxmlformats.org/presentationml/2006/main">
  <p:tag name="THINKCELLSHAPEDONOTDELETE" val="tDJrw8AhSovXpx16.eNvdAQ"/>
</p:tagLst>
</file>

<file path=ppt/tags/tag798.xml><?xml version="1.0" encoding="utf-8"?>
<p:tagLst xmlns:a="http://schemas.openxmlformats.org/drawingml/2006/main" xmlns:r="http://schemas.openxmlformats.org/officeDocument/2006/relationships" xmlns:p="http://schemas.openxmlformats.org/presentationml/2006/main">
  <p:tag name="THINKCELLSHAPEDONOTDELETE" val="tDi10acah2DF1qCnjsAyV.w"/>
</p:tagLst>
</file>

<file path=ppt/tags/tag799.xml><?xml version="1.0" encoding="utf-8"?>
<p:tagLst xmlns:a="http://schemas.openxmlformats.org/drawingml/2006/main" xmlns:r="http://schemas.openxmlformats.org/officeDocument/2006/relationships" xmlns:p="http://schemas.openxmlformats.org/presentationml/2006/main">
  <p:tag name="THINKCELLSHAPEDONOTDELETE" val="tttBBlU2flp54C2o403asqA"/>
</p:tagLst>
</file>

<file path=ppt/tags/tag800.xml><?xml version="1.0" encoding="utf-8"?>
<p:tagLst xmlns:a="http://schemas.openxmlformats.org/drawingml/2006/main" xmlns:r="http://schemas.openxmlformats.org/officeDocument/2006/relationships" xmlns:p="http://schemas.openxmlformats.org/presentationml/2006/main">
  <p:tag name="THINKCELLSHAPEDONOTDELETE" val="tt1NYP7Bl9O2fQAFKuaWh2g"/>
</p:tagLst>
</file>

<file path=ppt/tags/tag801.xml><?xml version="1.0" encoding="utf-8"?>
<p:tagLst xmlns:a="http://schemas.openxmlformats.org/drawingml/2006/main" xmlns:r="http://schemas.openxmlformats.org/officeDocument/2006/relationships" xmlns:p="http://schemas.openxmlformats.org/presentationml/2006/main">
  <p:tag name="THINKCELLSHAPEDONOTDELETE" val="tcoYdddsVKOL2vTzN0rR9Vw"/>
</p:tagLst>
</file>

<file path=ppt/tags/tag802.xml><?xml version="1.0" encoding="utf-8"?>
<p:tagLst xmlns:a="http://schemas.openxmlformats.org/drawingml/2006/main" xmlns:r="http://schemas.openxmlformats.org/officeDocument/2006/relationships" xmlns:p="http://schemas.openxmlformats.org/presentationml/2006/main">
  <p:tag name="THINKCELLSHAPEDONOTDELETE" val="tXhOYspiIXtoZCe_0rHBURg"/>
</p:tagLst>
</file>

<file path=ppt/tags/tag803.xml><?xml version="1.0" encoding="utf-8"?>
<p:tagLst xmlns:a="http://schemas.openxmlformats.org/drawingml/2006/main" xmlns:r="http://schemas.openxmlformats.org/officeDocument/2006/relationships" xmlns:p="http://schemas.openxmlformats.org/presentationml/2006/main">
  <p:tag name="THINKCELLSHAPEDONOTDELETE" val="tFmkyAKnZscvy3hvglq_8Wg"/>
</p:tagLst>
</file>

<file path=ppt/tags/tag804.xml><?xml version="1.0" encoding="utf-8"?>
<p:tagLst xmlns:a="http://schemas.openxmlformats.org/drawingml/2006/main" xmlns:r="http://schemas.openxmlformats.org/officeDocument/2006/relationships" xmlns:p="http://schemas.openxmlformats.org/presentationml/2006/main">
  <p:tag name="THINKCELLSHAPEDONOTDELETE" val="tROfEq.RBUW_o4iHq.F_M.A"/>
</p:tagLst>
</file>

<file path=ppt/tags/tag805.xml><?xml version="1.0" encoding="utf-8"?>
<p:tagLst xmlns:a="http://schemas.openxmlformats.org/drawingml/2006/main" xmlns:r="http://schemas.openxmlformats.org/officeDocument/2006/relationships" xmlns:p="http://schemas.openxmlformats.org/presentationml/2006/main">
  <p:tag name="THINKCELLSHAPEDONOTDELETE" val="tpB79khWdQEAxgQVr4TsWWw"/>
</p:tagLst>
</file>

<file path=ppt/tags/tag806.xml><?xml version="1.0" encoding="utf-8"?>
<p:tagLst xmlns:a="http://schemas.openxmlformats.org/drawingml/2006/main" xmlns:r="http://schemas.openxmlformats.org/officeDocument/2006/relationships" xmlns:p="http://schemas.openxmlformats.org/presentationml/2006/main">
  <p:tag name="THINKCELLSHAPEDONOTDELETE" val="t2BZwjV3RSkJUwOorVUZagg"/>
</p:tagLst>
</file>

<file path=ppt/tags/tag807.xml><?xml version="1.0" encoding="utf-8"?>
<p:tagLst xmlns:a="http://schemas.openxmlformats.org/drawingml/2006/main" xmlns:r="http://schemas.openxmlformats.org/officeDocument/2006/relationships" xmlns:p="http://schemas.openxmlformats.org/presentationml/2006/main">
  <p:tag name="THINKCELLSHAPEDONOTDELETE" val="tg7VUhX_PNClzz5JZmzL0_g"/>
</p:tagLst>
</file>

<file path=ppt/tags/tag808.xml><?xml version="1.0" encoding="utf-8"?>
<p:tagLst xmlns:a="http://schemas.openxmlformats.org/drawingml/2006/main" xmlns:r="http://schemas.openxmlformats.org/officeDocument/2006/relationships" xmlns:p="http://schemas.openxmlformats.org/presentationml/2006/main">
  <p:tag name="THINKCELLSHAPEDONOTDELETE" val="t2Af0b.hygLoEr_ujZeF6YA"/>
</p:tagLst>
</file>

<file path=ppt/tags/tag809.xml><?xml version="1.0" encoding="utf-8"?>
<p:tagLst xmlns:a="http://schemas.openxmlformats.org/drawingml/2006/main" xmlns:r="http://schemas.openxmlformats.org/officeDocument/2006/relationships" xmlns:p="http://schemas.openxmlformats.org/presentationml/2006/main">
  <p:tag name="THINKCELLSHAPEDONOTDELETE" val="tujCL4vozOpk6q7U1Awl_2A"/>
</p:tagLst>
</file>

<file path=ppt/tags/tag810.xml><?xml version="1.0" encoding="utf-8"?>
<p:tagLst xmlns:a="http://schemas.openxmlformats.org/drawingml/2006/main" xmlns:r="http://schemas.openxmlformats.org/officeDocument/2006/relationships" xmlns:p="http://schemas.openxmlformats.org/presentationml/2006/main">
  <p:tag name="THINKCELLSHAPEDONOTDELETE" val="tGJsP.9w4L5G5yjiz.nrXiA"/>
</p:tagLst>
</file>

<file path=ppt/tags/tag811.xml><?xml version="1.0" encoding="utf-8"?>
<p:tagLst xmlns:a="http://schemas.openxmlformats.org/drawingml/2006/main" xmlns:r="http://schemas.openxmlformats.org/officeDocument/2006/relationships" xmlns:p="http://schemas.openxmlformats.org/presentationml/2006/main">
  <p:tag name="THINKCELLSHAPEDONOTDELETE" val="tjkFwhcsb9BfJy1neXDhXgw"/>
</p:tagLst>
</file>

<file path=ppt/tags/tag812.xml><?xml version="1.0" encoding="utf-8"?>
<p:tagLst xmlns:a="http://schemas.openxmlformats.org/drawingml/2006/main" xmlns:r="http://schemas.openxmlformats.org/officeDocument/2006/relationships" xmlns:p="http://schemas.openxmlformats.org/presentationml/2006/main">
  <p:tag name="THINKCELLSHAPEDONOTDELETE" val="tj7o0kBl8Yx7R6giTDbIe9Q"/>
</p:tagLst>
</file>

<file path=ppt/tags/tag813.xml><?xml version="1.0" encoding="utf-8"?>
<p:tagLst xmlns:a="http://schemas.openxmlformats.org/drawingml/2006/main" xmlns:r="http://schemas.openxmlformats.org/officeDocument/2006/relationships" xmlns:p="http://schemas.openxmlformats.org/presentationml/2006/main">
  <p:tag name="THINKCELLSHAPEDONOTDELETE" val="t.O2XXjYN6c3wZ61Uhrpa3A"/>
</p:tagLst>
</file>

<file path=ppt/tags/tag814.xml><?xml version="1.0" encoding="utf-8"?>
<p:tagLst xmlns:a="http://schemas.openxmlformats.org/drawingml/2006/main" xmlns:r="http://schemas.openxmlformats.org/officeDocument/2006/relationships" xmlns:p="http://schemas.openxmlformats.org/presentationml/2006/main">
  <p:tag name="THINKCELLSHAPEDONOTDELETE" val="tiWLACysTAWya8mBSCEjspg"/>
</p:tagLst>
</file>

<file path=ppt/tags/tag815.xml><?xml version="1.0" encoding="utf-8"?>
<p:tagLst xmlns:a="http://schemas.openxmlformats.org/drawingml/2006/main" xmlns:r="http://schemas.openxmlformats.org/officeDocument/2006/relationships" xmlns:p="http://schemas.openxmlformats.org/presentationml/2006/main">
  <p:tag name="THINKCELLSHAPEDONOTDELETE" val="trjqPs4kina6LcdThPTtDaQ"/>
</p:tagLst>
</file>

<file path=ppt/tags/tag816.xml><?xml version="1.0" encoding="utf-8"?>
<p:tagLst xmlns:a="http://schemas.openxmlformats.org/drawingml/2006/main" xmlns:r="http://schemas.openxmlformats.org/officeDocument/2006/relationships" xmlns:p="http://schemas.openxmlformats.org/presentationml/2006/main">
  <p:tag name="THINKCELLSHAPEDONOTDELETE" val="tER9SXtf2yzJbAN3DG4ZkrQ"/>
</p:tagLst>
</file>

<file path=ppt/tags/tag817.xml><?xml version="1.0" encoding="utf-8"?>
<p:tagLst xmlns:a="http://schemas.openxmlformats.org/drawingml/2006/main" xmlns:r="http://schemas.openxmlformats.org/officeDocument/2006/relationships" xmlns:p="http://schemas.openxmlformats.org/presentationml/2006/main">
  <p:tag name="THINKCELLSHAPEDONOTDELETE" val="tNcirouBvPAD6aaxZki5rVA"/>
</p:tagLst>
</file>

<file path=ppt/tags/tag818.xml><?xml version="1.0" encoding="utf-8"?>
<p:tagLst xmlns:a="http://schemas.openxmlformats.org/drawingml/2006/main" xmlns:r="http://schemas.openxmlformats.org/officeDocument/2006/relationships" xmlns:p="http://schemas.openxmlformats.org/presentationml/2006/main">
  <p:tag name="THINKCELLSHAPEDONOTDELETE" val="tTTNe_qWyTWboGs97ni8dxQ"/>
</p:tagLst>
</file>

<file path=ppt/tags/tag819.xml><?xml version="1.0" encoding="utf-8"?>
<p:tagLst xmlns:a="http://schemas.openxmlformats.org/drawingml/2006/main" xmlns:r="http://schemas.openxmlformats.org/officeDocument/2006/relationships" xmlns:p="http://schemas.openxmlformats.org/presentationml/2006/main">
  <p:tag name="THINKCELLSHAPEDONOTDELETE" val="tA127s4GG59Atq.OEJcBECA"/>
</p:tagLst>
</file>

<file path=ppt/tags/tag820.xml><?xml version="1.0" encoding="utf-8"?>
<p:tagLst xmlns:a="http://schemas.openxmlformats.org/drawingml/2006/main" xmlns:r="http://schemas.openxmlformats.org/officeDocument/2006/relationships" xmlns:p="http://schemas.openxmlformats.org/presentationml/2006/main">
  <p:tag name="THINKCELLSHAPEDONOTDELETE" val="tZa07POQ96d8ooIj8JlqXOg"/>
</p:tagLst>
</file>

<file path=ppt/tags/tag821.xml><?xml version="1.0" encoding="utf-8"?>
<p:tagLst xmlns:a="http://schemas.openxmlformats.org/drawingml/2006/main" xmlns:r="http://schemas.openxmlformats.org/officeDocument/2006/relationships" xmlns:p="http://schemas.openxmlformats.org/presentationml/2006/main">
  <p:tag name="THINKCELLSHAPEDONOTDELETE" val="tbvQoarnoUlk04.k28mhgtA"/>
</p:tagLst>
</file>

<file path=ppt/tags/tag822.xml><?xml version="1.0" encoding="utf-8"?>
<p:tagLst xmlns:a="http://schemas.openxmlformats.org/drawingml/2006/main" xmlns:r="http://schemas.openxmlformats.org/officeDocument/2006/relationships" xmlns:p="http://schemas.openxmlformats.org/presentationml/2006/main">
  <p:tag name="THINKCELLSHAPEDONOTDELETE" val="tcUvabJ3fGcoqqX89GF8Cfg"/>
</p:tagLst>
</file>

<file path=ppt/tags/tag823.xml><?xml version="1.0" encoding="utf-8"?>
<p:tagLst xmlns:a="http://schemas.openxmlformats.org/drawingml/2006/main" xmlns:r="http://schemas.openxmlformats.org/officeDocument/2006/relationships" xmlns:p="http://schemas.openxmlformats.org/presentationml/2006/main">
  <p:tag name="THINKCELLSHAPEDONOTDELETE" val="t4Hdk0xaaKt5ZoTNLw897.g"/>
</p:tagLst>
</file>

<file path=ppt/tags/tag824.xml><?xml version="1.0" encoding="utf-8"?>
<p:tagLst xmlns:a="http://schemas.openxmlformats.org/drawingml/2006/main" xmlns:r="http://schemas.openxmlformats.org/officeDocument/2006/relationships" xmlns:p="http://schemas.openxmlformats.org/presentationml/2006/main">
  <p:tag name="THINKCELLSHAPEDONOTDELETE" val="tNZWPWAn7kNLPbx5bkBU_8A"/>
</p:tagLst>
</file>

<file path=ppt/tags/tag825.xml><?xml version="1.0" encoding="utf-8"?>
<p:tagLst xmlns:a="http://schemas.openxmlformats.org/drawingml/2006/main" xmlns:r="http://schemas.openxmlformats.org/officeDocument/2006/relationships" xmlns:p="http://schemas.openxmlformats.org/presentationml/2006/main">
  <p:tag name="THINKCELLSHAPEDONOTDELETE" val="t03VP1dp0zYFLgZjy2IJnQw"/>
</p:tagLst>
</file>

<file path=ppt/tags/tag826.xml><?xml version="1.0" encoding="utf-8"?>
<p:tagLst xmlns:a="http://schemas.openxmlformats.org/drawingml/2006/main" xmlns:r="http://schemas.openxmlformats.org/officeDocument/2006/relationships" xmlns:p="http://schemas.openxmlformats.org/presentationml/2006/main">
  <p:tag name="THINKCELLSHAPEDONOTDELETE" val="tjAlS41GPxePWWxJ2ba9YIA"/>
</p:tagLst>
</file>

<file path=ppt/tags/tag827.xml><?xml version="1.0" encoding="utf-8"?>
<p:tagLst xmlns:a="http://schemas.openxmlformats.org/drawingml/2006/main" xmlns:r="http://schemas.openxmlformats.org/officeDocument/2006/relationships" xmlns:p="http://schemas.openxmlformats.org/presentationml/2006/main">
  <p:tag name="THINKCELLSHAPEDONOTDELETE" val="tVN75wKd.YtvmkyDdRTqgBw"/>
</p:tagLst>
</file>

<file path=ppt/tags/tag828.xml><?xml version="1.0" encoding="utf-8"?>
<p:tagLst xmlns:a="http://schemas.openxmlformats.org/drawingml/2006/main" xmlns:r="http://schemas.openxmlformats.org/officeDocument/2006/relationships" xmlns:p="http://schemas.openxmlformats.org/presentationml/2006/main">
  <p:tag name="THINKCELLSHAPEDONOTDELETE" val="tT8F5nmGzbS_A602698FOHA"/>
</p:tagLst>
</file>

<file path=ppt/tags/tag829.xml><?xml version="1.0" encoding="utf-8"?>
<p:tagLst xmlns:a="http://schemas.openxmlformats.org/drawingml/2006/main" xmlns:r="http://schemas.openxmlformats.org/officeDocument/2006/relationships" xmlns:p="http://schemas.openxmlformats.org/presentationml/2006/main">
  <p:tag name="THINKCELLSHAPEDONOTDELETE" val="tptCe1GGPJ3IH7hsDMddadw"/>
</p:tagLst>
</file>

<file path=ppt/tags/tag830.xml><?xml version="1.0" encoding="utf-8"?>
<p:tagLst xmlns:a="http://schemas.openxmlformats.org/drawingml/2006/main" xmlns:r="http://schemas.openxmlformats.org/officeDocument/2006/relationships" xmlns:p="http://schemas.openxmlformats.org/presentationml/2006/main">
  <p:tag name="THINKCELLSHAPEDONOTDELETE" val="tt4VMpU2I.D0mfJaMh8oYHw"/>
</p:tagLst>
</file>

<file path=ppt/tags/tag831.xml><?xml version="1.0" encoding="utf-8"?>
<p:tagLst xmlns:a="http://schemas.openxmlformats.org/drawingml/2006/main" xmlns:r="http://schemas.openxmlformats.org/officeDocument/2006/relationships" xmlns:p="http://schemas.openxmlformats.org/presentationml/2006/main">
  <p:tag name="THINKCELLSHAPEDONOTDELETE" val="tVKVOZVrNIbD3USKLJiZbdQ"/>
</p:tagLst>
</file>

<file path=ppt/tags/tag832.xml><?xml version="1.0" encoding="utf-8"?>
<p:tagLst xmlns:a="http://schemas.openxmlformats.org/drawingml/2006/main" xmlns:r="http://schemas.openxmlformats.org/officeDocument/2006/relationships" xmlns:p="http://schemas.openxmlformats.org/presentationml/2006/main">
  <p:tag name="THINKCELLSHAPEDONOTDELETE" val="tUPL.vkjdxq7.KMFp1ZNQ2A"/>
</p:tagLst>
</file>

<file path=ppt/tags/tag833.xml><?xml version="1.0" encoding="utf-8"?>
<p:tagLst xmlns:a="http://schemas.openxmlformats.org/drawingml/2006/main" xmlns:r="http://schemas.openxmlformats.org/officeDocument/2006/relationships" xmlns:p="http://schemas.openxmlformats.org/presentationml/2006/main">
  <p:tag name="THINKCELLSHAPEDONOTDELETE" val="tl.IACh26BhICghZe.xUMsA"/>
</p:tagLst>
</file>

<file path=ppt/tags/tag834.xml><?xml version="1.0" encoding="utf-8"?>
<p:tagLst xmlns:a="http://schemas.openxmlformats.org/drawingml/2006/main" xmlns:r="http://schemas.openxmlformats.org/officeDocument/2006/relationships" xmlns:p="http://schemas.openxmlformats.org/presentationml/2006/main">
  <p:tag name="THINKCELLSHAPEDONOTDELETE" val="tdUYgTw6n8iPKpnn_gzX69w"/>
</p:tagLst>
</file>

<file path=ppt/tags/tag835.xml><?xml version="1.0" encoding="utf-8"?>
<p:tagLst xmlns:a="http://schemas.openxmlformats.org/drawingml/2006/main" xmlns:r="http://schemas.openxmlformats.org/officeDocument/2006/relationships" xmlns:p="http://schemas.openxmlformats.org/presentationml/2006/main">
  <p:tag name="THINKCELLSHAPEDONOTDELETE" val="tB6L6Z6Cqx5bl4cjIHeMKAA"/>
</p:tagLst>
</file>

<file path=ppt/tags/tag836.xml><?xml version="1.0" encoding="utf-8"?>
<p:tagLst xmlns:a="http://schemas.openxmlformats.org/drawingml/2006/main" xmlns:r="http://schemas.openxmlformats.org/officeDocument/2006/relationships" xmlns:p="http://schemas.openxmlformats.org/presentationml/2006/main">
  <p:tag name="THINKCELLSHAPEDONOTDELETE" val="tx7zAlRAB_6IZ0b68qctF0Q"/>
</p:tagLst>
</file>

<file path=ppt/tags/tag837.xml><?xml version="1.0" encoding="utf-8"?>
<p:tagLst xmlns:a="http://schemas.openxmlformats.org/drawingml/2006/main" xmlns:r="http://schemas.openxmlformats.org/officeDocument/2006/relationships" xmlns:p="http://schemas.openxmlformats.org/presentationml/2006/main">
  <p:tag name="THINKCELLSHAPEDONOTDELETE" val="tG80lTPfk_VKAN2eq_MKrhw"/>
</p:tagLst>
</file>

<file path=ppt/tags/tag838.xml><?xml version="1.0" encoding="utf-8"?>
<p:tagLst xmlns:a="http://schemas.openxmlformats.org/drawingml/2006/main" xmlns:r="http://schemas.openxmlformats.org/officeDocument/2006/relationships" xmlns:p="http://schemas.openxmlformats.org/presentationml/2006/main">
  <p:tag name="THINKCELLSHAPEDONOTDELETE" val="tFbKPvAKJ3bSgLwAH3xvvPg"/>
</p:tagLst>
</file>

<file path=ppt/tags/tag839.xml><?xml version="1.0" encoding="utf-8"?>
<p:tagLst xmlns:a="http://schemas.openxmlformats.org/drawingml/2006/main" xmlns:r="http://schemas.openxmlformats.org/officeDocument/2006/relationships" xmlns:p="http://schemas.openxmlformats.org/presentationml/2006/main">
  <p:tag name="THINKCELLSHAPEDONOTDELETE" val="tM5JPCc.8zm3WTczAUURE5w"/>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tizalgYCJJjoSUCY0gvD5sQ"/>
</p:tagLst>
</file>

<file path=ppt/tags/tag841.xml><?xml version="1.0" encoding="utf-8"?>
<p:tagLst xmlns:a="http://schemas.openxmlformats.org/drawingml/2006/main" xmlns:r="http://schemas.openxmlformats.org/officeDocument/2006/relationships" xmlns:p="http://schemas.openxmlformats.org/presentationml/2006/main">
  <p:tag name="THINKCELLSHAPEDONOTDELETE" val="t6.gMgXXwuqvqvsPh1Km4xA"/>
</p:tagLst>
</file>

<file path=ppt/tags/tag842.xml><?xml version="1.0" encoding="utf-8"?>
<p:tagLst xmlns:a="http://schemas.openxmlformats.org/drawingml/2006/main" xmlns:r="http://schemas.openxmlformats.org/officeDocument/2006/relationships" xmlns:p="http://schemas.openxmlformats.org/presentationml/2006/main">
  <p:tag name="THINKCELLSHAPEDONOTDELETE" val="t4Wj9XEoOJi6OEmqjwpAT5Q"/>
</p:tagLst>
</file>

<file path=ppt/tags/tag843.xml><?xml version="1.0" encoding="utf-8"?>
<p:tagLst xmlns:a="http://schemas.openxmlformats.org/drawingml/2006/main" xmlns:r="http://schemas.openxmlformats.org/officeDocument/2006/relationships" xmlns:p="http://schemas.openxmlformats.org/presentationml/2006/main">
  <p:tag name="THINKCELLSHAPEDONOTDELETE" val="t8RY9ovQRukPCoX2D2.UMbw"/>
</p:tagLst>
</file>

<file path=ppt/tags/tag844.xml><?xml version="1.0" encoding="utf-8"?>
<p:tagLst xmlns:a="http://schemas.openxmlformats.org/drawingml/2006/main" xmlns:r="http://schemas.openxmlformats.org/officeDocument/2006/relationships" xmlns:p="http://schemas.openxmlformats.org/presentationml/2006/main">
  <p:tag name="THINKCELLSHAPEDONOTDELETE" val="ta4dIPL9ISUB8hL3aLqo7Mg"/>
</p:tagLst>
</file>

<file path=ppt/tags/tag845.xml><?xml version="1.0" encoding="utf-8"?>
<p:tagLst xmlns:a="http://schemas.openxmlformats.org/drawingml/2006/main" xmlns:r="http://schemas.openxmlformats.org/officeDocument/2006/relationships" xmlns:p="http://schemas.openxmlformats.org/presentationml/2006/main">
  <p:tag name="THINKCELLSHAPEDONOTDELETE" val="tL.USxLw33QMlN_BiGy6uOg"/>
</p:tagLst>
</file>

<file path=ppt/tags/tag846.xml><?xml version="1.0" encoding="utf-8"?>
<p:tagLst xmlns:a="http://schemas.openxmlformats.org/drawingml/2006/main" xmlns:r="http://schemas.openxmlformats.org/officeDocument/2006/relationships" xmlns:p="http://schemas.openxmlformats.org/presentationml/2006/main">
  <p:tag name="THINKCELLSHAPEDONOTDELETE" val="tQTpR58GmFvLAiSNzS6.TIg"/>
</p:tagLst>
</file>

<file path=ppt/tags/tag847.xml><?xml version="1.0" encoding="utf-8"?>
<p:tagLst xmlns:a="http://schemas.openxmlformats.org/drawingml/2006/main" xmlns:r="http://schemas.openxmlformats.org/officeDocument/2006/relationships" xmlns:p="http://schemas.openxmlformats.org/presentationml/2006/main">
  <p:tag name="THINKCELLSHAPEDONOTDELETE" val="tgXPokpuemjgT3KpNPIOJBQ"/>
</p:tagLst>
</file>

<file path=ppt/tags/tag848.xml><?xml version="1.0" encoding="utf-8"?>
<p:tagLst xmlns:a="http://schemas.openxmlformats.org/drawingml/2006/main" xmlns:r="http://schemas.openxmlformats.org/officeDocument/2006/relationships" xmlns:p="http://schemas.openxmlformats.org/presentationml/2006/main">
  <p:tag name="THINKCELLSHAPEDONOTDELETE" val="ttqTXW53u.wyo2p2_w7KH8Q"/>
</p:tagLst>
</file>

<file path=ppt/tags/tag849.xml><?xml version="1.0" encoding="utf-8"?>
<p:tagLst xmlns:a="http://schemas.openxmlformats.org/drawingml/2006/main" xmlns:r="http://schemas.openxmlformats.org/officeDocument/2006/relationships" xmlns:p="http://schemas.openxmlformats.org/presentationml/2006/main">
  <p:tag name="THINKCELLSHAPEDONOTDELETE" val="t65Vf_VW.bOkJSCTPJJNbXA"/>
</p:tagLst>
</file>

<file path=ppt/tags/tag850.xml><?xml version="1.0" encoding="utf-8"?>
<p:tagLst xmlns:a="http://schemas.openxmlformats.org/drawingml/2006/main" xmlns:r="http://schemas.openxmlformats.org/officeDocument/2006/relationships" xmlns:p="http://schemas.openxmlformats.org/presentationml/2006/main">
  <p:tag name="THINKCELLSHAPEDONOTDELETE" val="tkqBnk8XRdBT4Cilk9Ac66Q"/>
</p:tagLst>
</file>

<file path=ppt/tags/tag851.xml><?xml version="1.0" encoding="utf-8"?>
<p:tagLst xmlns:a="http://schemas.openxmlformats.org/drawingml/2006/main" xmlns:r="http://schemas.openxmlformats.org/officeDocument/2006/relationships" xmlns:p="http://schemas.openxmlformats.org/presentationml/2006/main">
  <p:tag name="THINKCELLSHAPEDONOTDELETE" val="tOohTDtkxanJZ5ZFeCqjFIg"/>
</p:tagLst>
</file>

<file path=ppt/tags/tag852.xml><?xml version="1.0" encoding="utf-8"?>
<p:tagLst xmlns:a="http://schemas.openxmlformats.org/drawingml/2006/main" xmlns:r="http://schemas.openxmlformats.org/officeDocument/2006/relationships" xmlns:p="http://schemas.openxmlformats.org/presentationml/2006/main">
  <p:tag name="THINKCELLSHAPEDONOTDELETE" val="tRLV3M8_crks.8b9ALfN9jw"/>
</p:tagLst>
</file>

<file path=ppt/tags/tag8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54.xml><?xml version="1.0" encoding="utf-8"?>
<p:tagLst xmlns:a="http://schemas.openxmlformats.org/drawingml/2006/main" xmlns:r="http://schemas.openxmlformats.org/officeDocument/2006/relationships" xmlns:p="http://schemas.openxmlformats.org/presentationml/2006/main">
  <p:tag name="THINKCELLSHAPEDONOTDELETE" val="tWs75rgK2iZgVD_6Css3TEQ"/>
</p:tagLst>
</file>

<file path=ppt/tags/tag855.xml><?xml version="1.0" encoding="utf-8"?>
<p:tagLst xmlns:a="http://schemas.openxmlformats.org/drawingml/2006/main" xmlns:r="http://schemas.openxmlformats.org/officeDocument/2006/relationships" xmlns:p="http://schemas.openxmlformats.org/presentationml/2006/main">
  <p:tag name="THINKCELLSHAPEDONOTDELETE" val="t5KNzH0afSyf_XoY2MMAyAg"/>
</p:tagLst>
</file>

<file path=ppt/tags/tag856.xml><?xml version="1.0" encoding="utf-8"?>
<p:tagLst xmlns:a="http://schemas.openxmlformats.org/drawingml/2006/main" xmlns:r="http://schemas.openxmlformats.org/officeDocument/2006/relationships" xmlns:p="http://schemas.openxmlformats.org/presentationml/2006/main">
  <p:tag name="THINKCELLSHAPEDONOTDELETE" val="tqw6Ejxu.ojWLnlx.YUevSA"/>
</p:tagLst>
</file>

<file path=ppt/tags/tag857.xml><?xml version="1.0" encoding="utf-8"?>
<p:tagLst xmlns:a="http://schemas.openxmlformats.org/drawingml/2006/main" xmlns:r="http://schemas.openxmlformats.org/officeDocument/2006/relationships" xmlns:p="http://schemas.openxmlformats.org/presentationml/2006/main">
  <p:tag name="THINKCELLSHAPEDONOTDELETE" val="tVCI_h5HRkLY5H2pidEDP3A"/>
</p:tagLst>
</file>

<file path=ppt/tags/tag858.xml><?xml version="1.0" encoding="utf-8"?>
<p:tagLst xmlns:a="http://schemas.openxmlformats.org/drawingml/2006/main" xmlns:r="http://schemas.openxmlformats.org/officeDocument/2006/relationships" xmlns:p="http://schemas.openxmlformats.org/presentationml/2006/main">
  <p:tag name="THINKCELLSHAPEDONOTDELETE" val="t3UUVqjaSZqzDuqibkGmrZA"/>
</p:tagLst>
</file>

<file path=ppt/tags/tag859.xml><?xml version="1.0" encoding="utf-8"?>
<p:tagLst xmlns:a="http://schemas.openxmlformats.org/drawingml/2006/main" xmlns:r="http://schemas.openxmlformats.org/officeDocument/2006/relationships" xmlns:p="http://schemas.openxmlformats.org/presentationml/2006/main">
  <p:tag name="THINKCELLSHAPEDONOTDELETE" val="tXBd4x0O6ZstalzNW7BVvGw"/>
</p:tagLst>
</file>

<file path=ppt/tags/tag860.xml><?xml version="1.0" encoding="utf-8"?>
<p:tagLst xmlns:a="http://schemas.openxmlformats.org/drawingml/2006/main" xmlns:r="http://schemas.openxmlformats.org/officeDocument/2006/relationships" xmlns:p="http://schemas.openxmlformats.org/presentationml/2006/main">
  <p:tag name="THINKCELLSHAPEDONOTDELETE" val="tEaKvPvqqloc2OP9xOWW4fw"/>
</p:tagLst>
</file>

<file path=ppt/tags/tag861.xml><?xml version="1.0" encoding="utf-8"?>
<p:tagLst xmlns:a="http://schemas.openxmlformats.org/drawingml/2006/main" xmlns:r="http://schemas.openxmlformats.org/officeDocument/2006/relationships" xmlns:p="http://schemas.openxmlformats.org/presentationml/2006/main">
  <p:tag name="THINKCELLSHAPEDONOTDELETE" val="tk.toMwsFucMXWcCanzLdiw"/>
</p:tagLst>
</file>

<file path=ppt/tags/tag862.xml><?xml version="1.0" encoding="utf-8"?>
<p:tagLst xmlns:a="http://schemas.openxmlformats.org/drawingml/2006/main" xmlns:r="http://schemas.openxmlformats.org/officeDocument/2006/relationships" xmlns:p="http://schemas.openxmlformats.org/presentationml/2006/main">
  <p:tag name="THINKCELLSHAPEDONOTDELETE" val="tIz0aTNRNd0NGNokqY06jcg"/>
</p:tagLst>
</file>

<file path=ppt/tags/tag863.xml><?xml version="1.0" encoding="utf-8"?>
<p:tagLst xmlns:a="http://schemas.openxmlformats.org/drawingml/2006/main" xmlns:r="http://schemas.openxmlformats.org/officeDocument/2006/relationships" xmlns:p="http://schemas.openxmlformats.org/presentationml/2006/main">
  <p:tag name="THINKCELLSHAPEDONOTDELETE" val="tbcDYSyqGvpQ_vdAZxPp8Ww"/>
</p:tagLst>
</file>

<file path=ppt/tags/tag864.xml><?xml version="1.0" encoding="utf-8"?>
<p:tagLst xmlns:a="http://schemas.openxmlformats.org/drawingml/2006/main" xmlns:r="http://schemas.openxmlformats.org/officeDocument/2006/relationships" xmlns:p="http://schemas.openxmlformats.org/presentationml/2006/main">
  <p:tag name="THINKCELLSHAPEDONOTDELETE" val="ttFkqC0ULnn8nWHVJhInWnA"/>
</p:tagLst>
</file>

<file path=ppt/tags/tag865.xml><?xml version="1.0" encoding="utf-8"?>
<p:tagLst xmlns:a="http://schemas.openxmlformats.org/drawingml/2006/main" xmlns:r="http://schemas.openxmlformats.org/officeDocument/2006/relationships" xmlns:p="http://schemas.openxmlformats.org/presentationml/2006/main">
  <p:tag name="THINKCELLSHAPEDONOTDELETE" val="tAwnhsmRrzi6yBHUWXPBjVQ"/>
</p:tagLst>
</file>

<file path=ppt/tags/tag866.xml><?xml version="1.0" encoding="utf-8"?>
<p:tagLst xmlns:a="http://schemas.openxmlformats.org/drawingml/2006/main" xmlns:r="http://schemas.openxmlformats.org/officeDocument/2006/relationships" xmlns:p="http://schemas.openxmlformats.org/presentationml/2006/main">
  <p:tag name="THINKCELLSHAPEDONOTDELETE" val="tK33kq1wKw6W8AMgimDEnUQ"/>
</p:tagLst>
</file>

<file path=ppt/tags/tag867.xml><?xml version="1.0" encoding="utf-8"?>
<p:tagLst xmlns:a="http://schemas.openxmlformats.org/drawingml/2006/main" xmlns:r="http://schemas.openxmlformats.org/officeDocument/2006/relationships" xmlns:p="http://schemas.openxmlformats.org/presentationml/2006/main">
  <p:tag name="THINKCELLSHAPEDONOTDELETE" val="tn9Sst6umql3CyMqD3AugCg"/>
</p:tagLst>
</file>

<file path=ppt/tags/tag868.xml><?xml version="1.0" encoding="utf-8"?>
<p:tagLst xmlns:a="http://schemas.openxmlformats.org/drawingml/2006/main" xmlns:r="http://schemas.openxmlformats.org/officeDocument/2006/relationships" xmlns:p="http://schemas.openxmlformats.org/presentationml/2006/main">
  <p:tag name="THINKCELLSHAPEDONOTDELETE" val="thunZJEG3.U_JU7i6efnj5A"/>
</p:tagLst>
</file>

<file path=ppt/tags/tag869.xml><?xml version="1.0" encoding="utf-8"?>
<p:tagLst xmlns:a="http://schemas.openxmlformats.org/drawingml/2006/main" xmlns:r="http://schemas.openxmlformats.org/officeDocument/2006/relationships" xmlns:p="http://schemas.openxmlformats.org/presentationml/2006/main">
  <p:tag name="THINKCELLSHAPEDONOTDELETE" val="tdLQ3d05_vwGlbki_zCEgPA"/>
</p:tagLst>
</file>

<file path=ppt/tags/tag870.xml><?xml version="1.0" encoding="utf-8"?>
<p:tagLst xmlns:a="http://schemas.openxmlformats.org/drawingml/2006/main" xmlns:r="http://schemas.openxmlformats.org/officeDocument/2006/relationships" xmlns:p="http://schemas.openxmlformats.org/presentationml/2006/main">
  <p:tag name="THINKCELLSHAPEDONOTDELETE" val="t2tg2gZwgAD9n4L_WwNoCFw"/>
</p:tagLst>
</file>

<file path=ppt/tags/tag871.xml><?xml version="1.0" encoding="utf-8"?>
<p:tagLst xmlns:a="http://schemas.openxmlformats.org/drawingml/2006/main" xmlns:r="http://schemas.openxmlformats.org/officeDocument/2006/relationships" xmlns:p="http://schemas.openxmlformats.org/presentationml/2006/main">
  <p:tag name="THINKCELLSHAPEDONOTDELETE" val="tRwRr5ynmkwZL0FY399HJTA"/>
</p:tagLst>
</file>

<file path=ppt/tags/tag872.xml><?xml version="1.0" encoding="utf-8"?>
<p:tagLst xmlns:a="http://schemas.openxmlformats.org/drawingml/2006/main" xmlns:r="http://schemas.openxmlformats.org/officeDocument/2006/relationships" xmlns:p="http://schemas.openxmlformats.org/presentationml/2006/main">
  <p:tag name="THINKCELLSHAPEDONOTDELETE" val="tsXDYPeuAh2bcgkx3icX6ew"/>
</p:tagLst>
</file>

<file path=ppt/tags/tag873.xml><?xml version="1.0" encoding="utf-8"?>
<p:tagLst xmlns:a="http://schemas.openxmlformats.org/drawingml/2006/main" xmlns:r="http://schemas.openxmlformats.org/officeDocument/2006/relationships" xmlns:p="http://schemas.openxmlformats.org/presentationml/2006/main">
  <p:tag name="THINKCELLSHAPEDONOTDELETE" val="tw4vi571RPNf9o68CiM6Fvg"/>
</p:tagLst>
</file>

<file path=ppt/tags/tag874.xml><?xml version="1.0" encoding="utf-8"?>
<p:tagLst xmlns:a="http://schemas.openxmlformats.org/drawingml/2006/main" xmlns:r="http://schemas.openxmlformats.org/officeDocument/2006/relationships" xmlns:p="http://schemas.openxmlformats.org/presentationml/2006/main">
  <p:tag name="THINKCELLSHAPEDONOTDELETE" val="ttdOaI_VB6skmVXKfnAQQ5g"/>
</p:tagLst>
</file>

<file path=ppt/tags/tag875.xml><?xml version="1.0" encoding="utf-8"?>
<p:tagLst xmlns:a="http://schemas.openxmlformats.org/drawingml/2006/main" xmlns:r="http://schemas.openxmlformats.org/officeDocument/2006/relationships" xmlns:p="http://schemas.openxmlformats.org/presentationml/2006/main">
  <p:tag name="THINKCELLSHAPEDONOTDELETE" val="tay7jknVy3cc0sKbfZzlOkA"/>
</p:tagLst>
</file>

<file path=ppt/tags/tag876.xml><?xml version="1.0" encoding="utf-8"?>
<p:tagLst xmlns:a="http://schemas.openxmlformats.org/drawingml/2006/main" xmlns:r="http://schemas.openxmlformats.org/officeDocument/2006/relationships" xmlns:p="http://schemas.openxmlformats.org/presentationml/2006/main">
  <p:tag name="THINKCELLSHAPEDONOTDELETE" val="tJo_ad1eIWHx7DtDe.fRZ8A"/>
</p:tagLst>
</file>

<file path=ppt/tags/tag877.xml><?xml version="1.0" encoding="utf-8"?>
<p:tagLst xmlns:a="http://schemas.openxmlformats.org/drawingml/2006/main" xmlns:r="http://schemas.openxmlformats.org/officeDocument/2006/relationships" xmlns:p="http://schemas.openxmlformats.org/presentationml/2006/main">
  <p:tag name="THINKCELLSHAPEDONOTDELETE" val="tD2gUnn6ejXmBSZ8v2xrBWA"/>
</p:tagLst>
</file>

<file path=ppt/tags/tag878.xml><?xml version="1.0" encoding="utf-8"?>
<p:tagLst xmlns:a="http://schemas.openxmlformats.org/drawingml/2006/main" xmlns:r="http://schemas.openxmlformats.org/officeDocument/2006/relationships" xmlns:p="http://schemas.openxmlformats.org/presentationml/2006/main">
  <p:tag name="THINKCELLSHAPEDONOTDELETE" val="tgNRseTwWDi4cmyq7sJZsfg"/>
</p:tagLst>
</file>

<file path=ppt/tags/tag879.xml><?xml version="1.0" encoding="utf-8"?>
<p:tagLst xmlns:a="http://schemas.openxmlformats.org/drawingml/2006/main" xmlns:r="http://schemas.openxmlformats.org/officeDocument/2006/relationships" xmlns:p="http://schemas.openxmlformats.org/presentationml/2006/main">
  <p:tag name="THINKCELLSHAPEDONOTDELETE" val="tEI8Y05ALruDHmcIslUE.Ig"/>
</p:tagLst>
</file>

<file path=ppt/tags/tag8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heme1">
  <a:themeElements>
    <a:clrScheme name="Custom 3">
      <a:dk1>
        <a:sysClr val="windowText" lastClr="000000"/>
      </a:dk1>
      <a:lt1>
        <a:sysClr val="window" lastClr="FFFFFF"/>
      </a:lt1>
      <a:dk2>
        <a:srgbClr val="53565A"/>
      </a:dk2>
      <a:lt2>
        <a:srgbClr val="D0D0CE"/>
      </a:lt2>
      <a:accent1>
        <a:srgbClr val="86BC25"/>
      </a:accent1>
      <a:accent2>
        <a:srgbClr val="43B02A"/>
      </a:accent2>
      <a:accent3>
        <a:srgbClr val="26890D"/>
      </a:accent3>
      <a:accent4>
        <a:srgbClr val="046A38"/>
      </a:accent4>
      <a:accent5>
        <a:srgbClr val="0D8390"/>
      </a:accent5>
      <a:accent6>
        <a:srgbClr val="007CB0"/>
      </a:accent6>
      <a:hlink>
        <a:srgbClr val="00A3E0"/>
      </a:hlink>
      <a:folHlink>
        <a:srgbClr val="7F7F7F"/>
      </a:folHlink>
    </a:clrScheme>
    <a:fontScheme name="Custom 2">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Theme1" id="{D15876C4-01DF-40AB-83E8-B5AFD214BD60}" vid="{BF0EB724-65A5-426D-8C28-320CA8D48642}"/>
    </a:ext>
  </a:extLst>
</a:theme>
</file>

<file path=ppt/theme/theme3.xml><?xml version="1.0" encoding="utf-8"?>
<a:theme xmlns:a="http://schemas.openxmlformats.org/drawingml/2006/main" name="2_Theme1">
  <a:themeElements>
    <a:clrScheme name="Custom 3">
      <a:dk1>
        <a:sysClr val="windowText" lastClr="000000"/>
      </a:dk1>
      <a:lt1>
        <a:sysClr val="window" lastClr="FFFFFF"/>
      </a:lt1>
      <a:dk2>
        <a:srgbClr val="53565A"/>
      </a:dk2>
      <a:lt2>
        <a:srgbClr val="D0D0CE"/>
      </a:lt2>
      <a:accent1>
        <a:srgbClr val="86BC25"/>
      </a:accent1>
      <a:accent2>
        <a:srgbClr val="43B02A"/>
      </a:accent2>
      <a:accent3>
        <a:srgbClr val="26890D"/>
      </a:accent3>
      <a:accent4>
        <a:srgbClr val="046A38"/>
      </a:accent4>
      <a:accent5>
        <a:srgbClr val="0D8390"/>
      </a:accent5>
      <a:accent6>
        <a:srgbClr val="007CB0"/>
      </a:accent6>
      <a:hlink>
        <a:srgbClr val="00A3E0"/>
      </a:hlink>
      <a:folHlink>
        <a:srgbClr val="7F7F7F"/>
      </a:folHlink>
    </a:clrScheme>
    <a:fontScheme name="Custom 2">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Theme1" id="{D15876C4-01DF-40AB-83E8-B5AFD214BD60}" vid="{BF0EB724-65A5-426D-8C28-320CA8D48642}"/>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TaxCatchAll xmlns="b34fac16-a9a4-4d97-96d6-3d67277b3bbb" xsi:nil="true"/>
    <lcf76f155ced4ddcb4097134ff3c332f xmlns="88ac10d5-d499-482e-8b56-6ab71e10844d">
      <Terms xmlns="http://schemas.microsoft.com/office/infopath/2007/PartnerControls"/>
    </lcf76f155ced4ddcb4097134ff3c332f>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46EABACCD3B39C49923CC76F9A3899B0" ma:contentTypeVersion="10" ma:contentTypeDescription="Create a new document." ma:contentTypeScope="" ma:versionID="888edbca11eac38050b29462c56b3d83">
  <xsd:schema xmlns:xsd="http://www.w3.org/2001/XMLSchema" xmlns:xs="http://www.w3.org/2001/XMLSchema" xmlns:p="http://schemas.microsoft.com/office/2006/metadata/properties" xmlns:ns2="88ac10d5-d499-482e-8b56-6ab71e10844d" xmlns:ns3="b34fac16-a9a4-4d97-96d6-3d67277b3bbb" targetNamespace="http://schemas.microsoft.com/office/2006/metadata/properties" ma:root="true" ma:fieldsID="b2578cae4076c3a00574eaa070b195d6" ns2:_="" ns3:_="">
    <xsd:import namespace="88ac10d5-d499-482e-8b56-6ab71e10844d"/>
    <xsd:import namespace="b34fac16-a9a4-4d97-96d6-3d67277b3bbb"/>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DateTaken" minOccurs="0"/>
                <xsd:element ref="ns2:lcf76f155ced4ddcb4097134ff3c332f" minOccurs="0"/>
                <xsd:element ref="ns3:TaxCatchAll" minOccurs="0"/>
                <xsd:element ref="ns2:MediaServiceOCR"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8ac10d5-d499-482e-8b56-6ab71e10844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DateTaken" ma:index="11" nillable="true" ma:displayName="MediaServiceDateTaken" ma:hidden="true" ma:indexed="true" ma:internalName="MediaServiceDateTaken"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798d900d-0589-4081-96eb-513de833a507" ma:termSetId="09814cd3-568e-fe90-9814-8d621ff8fb84" ma:anchorId="fba54fb3-c3e1-fe81-a776-ca4b69148c4d" ma:open="true" ma:isKeyword="false">
      <xsd:complexType>
        <xsd:sequence>
          <xsd:element ref="pc:Terms" minOccurs="0" maxOccurs="1"/>
        </xsd:sequence>
      </xsd:complex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34fac16-a9a4-4d97-96d6-3d67277b3bbb"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b26a010e-ed09-4f8f-afe2-969c013c94e7}" ma:internalName="TaxCatchAll" ma:showField="CatchAllData" ma:web="b34fac16-a9a4-4d97-96d6-3d67277b3bbb">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E9FA26-5FAB-47F8-8D3D-C107633B9FBC}">
  <ds:schemaRefs>
    <ds:schemaRef ds:uri="http://schemas.microsoft.com/sharepoint/v3/contenttype/forms"/>
  </ds:schemaRefs>
</ds:datastoreItem>
</file>

<file path=customXml/itemProps2.xml><?xml version="1.0" encoding="utf-8"?>
<ds:datastoreItem xmlns:ds="http://schemas.openxmlformats.org/officeDocument/2006/customXml" ds:itemID="{B0C5EFAA-ABC2-4F81-990D-75D21E0F4C82}">
  <ds:schemaRefs>
    <ds:schemaRef ds:uri="9174196e-7a38-4fc8-ad83-8aa56a563059"/>
    <ds:schemaRef ds:uri="http://www.w3.org/XML/1998/namespace"/>
    <ds:schemaRef ds:uri="http://schemas.microsoft.com/office/2006/documentManagement/types"/>
    <ds:schemaRef ds:uri="2139f112-4c6a-4a68-a6a8-2eff543ca962"/>
    <ds:schemaRef ds:uri="http://schemas.microsoft.com/office/2006/metadata/properties"/>
    <ds:schemaRef ds:uri="http://purl.org/dc/dcmitype/"/>
    <ds:schemaRef ds:uri="http://purl.org/dc/terms/"/>
    <ds:schemaRef ds:uri="http://purl.org/dc/elements/1.1/"/>
    <ds:schemaRef ds:uri="http://schemas.microsoft.com/office/infopath/2007/PartnerControls"/>
    <ds:schemaRef ds:uri="http://schemas.openxmlformats.org/package/2006/metadata/core-properties"/>
  </ds:schemaRefs>
</ds:datastoreItem>
</file>

<file path=customXml/itemProps3.xml><?xml version="1.0" encoding="utf-8"?>
<ds:datastoreItem xmlns:ds="http://schemas.openxmlformats.org/officeDocument/2006/customXml" ds:itemID="{15253C95-0C86-43BA-8A35-CD183E5778E4}"/>
</file>

<file path=docMetadata/LabelInfo.xml><?xml version="1.0" encoding="utf-8"?>
<clbl:labelList xmlns:clbl="http://schemas.microsoft.com/office/2020/mipLabelMetadata">
  <clbl:label id="{ea60d57e-af5b-4752-ac57-3e4f28ca11dc}" enabled="1" method="Standard" siteId="{36da45f1-dd2c-4d1f-af13-5abe46b99921}" removed="0"/>
</clbl:labelList>
</file>

<file path=docProps/app.xml><?xml version="1.0" encoding="utf-8"?>
<Properties xmlns="http://schemas.openxmlformats.org/officeDocument/2006/extended-properties" xmlns:vt="http://schemas.openxmlformats.org/officeDocument/2006/docPropsVTypes">
  <TotalTime>2772</TotalTime>
  <Words>33547</Words>
  <Application>Microsoft Office PowerPoint</Application>
  <PresentationFormat>Widescreen</PresentationFormat>
  <Paragraphs>7194</Paragraphs>
  <Slides>134</Slides>
  <Notes>128</Notes>
  <HiddenSlides>0</HiddenSlides>
  <MMClips>0</MMClips>
  <ScaleCrop>false</ScaleCrop>
  <HeadingPairs>
    <vt:vector size="8" baseType="variant">
      <vt:variant>
        <vt:lpstr>Fonts Used</vt:lpstr>
      </vt:variant>
      <vt:variant>
        <vt:i4>10</vt:i4>
      </vt:variant>
      <vt:variant>
        <vt:lpstr>Theme</vt:lpstr>
      </vt:variant>
      <vt:variant>
        <vt:i4>3</vt:i4>
      </vt:variant>
      <vt:variant>
        <vt:lpstr>Embedded OLE Servers</vt:lpstr>
      </vt:variant>
      <vt:variant>
        <vt:i4>1</vt:i4>
      </vt:variant>
      <vt:variant>
        <vt:lpstr>Slide Titles</vt:lpstr>
      </vt:variant>
      <vt:variant>
        <vt:i4>134</vt:i4>
      </vt:variant>
    </vt:vector>
  </HeadingPairs>
  <TitlesOfParts>
    <vt:vector size="148" baseType="lpstr">
      <vt:lpstr>Open Sans SemiCondensed SemiCon</vt:lpstr>
      <vt:lpstr>Yu Gothic UI</vt:lpstr>
      <vt:lpstr>Arial</vt:lpstr>
      <vt:lpstr>Calibri</vt:lpstr>
      <vt:lpstr>Calibri Light</vt:lpstr>
      <vt:lpstr>Courier New</vt:lpstr>
      <vt:lpstr>Gill Sans MT</vt:lpstr>
      <vt:lpstr>Verdana</vt:lpstr>
      <vt:lpstr>Wingdings</vt:lpstr>
      <vt:lpstr>Wingdings 2</vt:lpstr>
      <vt:lpstr>Office Theme</vt:lpstr>
      <vt:lpstr>Theme1</vt:lpstr>
      <vt:lpstr>2_Theme1</vt:lpstr>
      <vt:lpstr>think-cell Slide</vt:lpstr>
      <vt:lpstr>PJ_ST_CDD Final Report</vt:lpstr>
      <vt:lpstr>Disclaimer</vt:lpstr>
      <vt:lpstr>TABLE OF CONTENT </vt:lpstr>
      <vt:lpstr>Abbreviations</vt:lpstr>
      <vt:lpstr>Assumptions &amp; Declarations </vt:lpstr>
      <vt:lpstr>PowerPoint Presentation</vt:lpstr>
      <vt:lpstr>Response to the Comments on Interim Report</vt:lpstr>
      <vt:lpstr>Response to the Comments on Interim Report</vt:lpstr>
      <vt:lpstr>Response to the Comments on Interim Report</vt:lpstr>
      <vt:lpstr>Response to the Comments on Interim Report</vt:lpstr>
      <vt:lpstr>Response to the Comments on Interim Report</vt:lpstr>
      <vt:lpstr>Response to the Comments on Interim Report</vt:lpstr>
      <vt:lpstr>Response to the Comments on Interim Report</vt:lpstr>
      <vt:lpstr>Response to the Comments on Interim Report</vt:lpstr>
      <vt:lpstr>Response to the Comments on Interim Report</vt:lpstr>
      <vt:lpstr>Response to the Comments on Interim Report</vt:lpstr>
      <vt:lpstr>PowerPoint Presentation</vt:lpstr>
      <vt:lpstr>PJ_ST Project I Current Project Structure</vt:lpstr>
      <vt:lpstr>PJ_ST Project I Monthly Generation Profile</vt:lpstr>
      <vt:lpstr>PJ_ST Project I Commercial Risk Assessment Framework</vt:lpstr>
      <vt:lpstr>PJ_ST Project I Market and Off-take assessment</vt:lpstr>
      <vt:lpstr>PJ_ST Project I Market and Off-take assessment</vt:lpstr>
      <vt:lpstr>PJ_ST Project I Market and Off-take assessment</vt:lpstr>
      <vt:lpstr>PJ_ST Project I Execution risk</vt:lpstr>
      <vt:lpstr>PJ_ST Project I Operational performance risk</vt:lpstr>
      <vt:lpstr>PJ_ST Project I Regulatory and Compliance</vt:lpstr>
      <vt:lpstr>Similar Projects in Nepal I Mix of ‘Take or Pay’ and ‘Take and Pay’ PPAs</vt:lpstr>
      <vt:lpstr>Summarizing Additional Power Sale Scenarios (1/2)</vt:lpstr>
      <vt:lpstr>Summarizing Additional Power Sale Scenarios (2/2)</vt:lpstr>
      <vt:lpstr>Deep-dive areas</vt:lpstr>
      <vt:lpstr>PowerPoint Presentation</vt:lpstr>
      <vt:lpstr>PowerPoint Presentation</vt:lpstr>
      <vt:lpstr>Institutional Structure of Nepal Electricity Sector</vt:lpstr>
      <vt:lpstr>Evolving Policy and Regulatory Framework</vt:lpstr>
      <vt:lpstr>Electricity Demand Rises Rapidly Amid Economic and Policy-Driven Growth</vt:lpstr>
      <vt:lpstr>Industrial and Domestic Sectors Power Internal Electricity Demand Growth</vt:lpstr>
      <vt:lpstr>Hydropower Dominates Nepal’s Growing Installed Capacity Mix</vt:lpstr>
      <vt:lpstr>Nepal Became a Net Power Exporter for the First Time in FY 2023/24</vt:lpstr>
      <vt:lpstr>Transmission Network Growth in Nepal</vt:lpstr>
      <vt:lpstr>Decadal Shift: From Capacity Expansion to Green Growth and Market Efficiency</vt:lpstr>
      <vt:lpstr>PowerPoint Presentation</vt:lpstr>
      <vt:lpstr>Evolution of Cross Border Electricity Trade (CBET) Landscape of Nepal with India (1/2) </vt:lpstr>
      <vt:lpstr>Evolution of Cross Border Electricity Trade (CBET) Landscape of Nepal with India (2/2) </vt:lpstr>
      <vt:lpstr>Involved Stakeholders for Cross Border Electricity Trade (CBET) in Nepal </vt:lpstr>
      <vt:lpstr>Cross Border Electricity Trade (CBET) Landscape of Nepal and India</vt:lpstr>
      <vt:lpstr>Nepal became a net exporter of electricity in 2023-24</vt:lpstr>
      <vt:lpstr>Monthly Electricity Export and Import between Nepal and India (GWh)</vt:lpstr>
      <vt:lpstr>Trading for hydropower projects from Nepal to India</vt:lpstr>
      <vt:lpstr>Transmission Lines involved in CBET</vt:lpstr>
      <vt:lpstr>PowerPoint Presentation</vt:lpstr>
      <vt:lpstr>PowerPoint Presentation</vt:lpstr>
      <vt:lpstr>Nepal Power Sector Future Outlook | Demand Projections</vt:lpstr>
      <vt:lpstr>Drivers of Demand Growth I Domestic and Export Aspirations</vt:lpstr>
      <vt:lpstr>Installed Capacity Outlook | Scaling to Meet Demand and Enable Exports</vt:lpstr>
      <vt:lpstr>Installed Capacity Pipeline I Insights from JICA's Optimum Generation Scenario</vt:lpstr>
      <vt:lpstr>Forecasted Seasonal Demand-Supply Dynamics I Monthly Generation and Load Profile</vt:lpstr>
      <vt:lpstr>Scaling Transmission Infrastructure to Match Supply and Demand Growth</vt:lpstr>
      <vt:lpstr>Transmission Readiness for PJ ST – Evacuation via New-Marsyangdi Substation</vt:lpstr>
      <vt:lpstr>Upcoming Cross Border Transmission Lines I Enabling export targets </vt:lpstr>
      <vt:lpstr>PowerPoint Presentation</vt:lpstr>
      <vt:lpstr>Policy &amp; Regulatory Outlook</vt:lpstr>
      <vt:lpstr>Policy Outlook I Draft Electricity Amendment Bill, 2080 and Its Implications for PJ_ST Project </vt:lpstr>
      <vt:lpstr>Strengthening Market Structures I Key Provisions from the Draft ERC Roadmap (2024–2029)</vt:lpstr>
      <vt:lpstr>PowerPoint Presentation</vt:lpstr>
      <vt:lpstr>PowerPoint Presentation</vt:lpstr>
      <vt:lpstr>Electricity sector in India | Overview of capacity additions and generation mix trends</vt:lpstr>
      <vt:lpstr>Electricity sector in India | Electricity supply position and seasonal variations</vt:lpstr>
      <vt:lpstr>Electricity sector in India | Electricity supply position and seasonal variations</vt:lpstr>
      <vt:lpstr>Electricity sector in India | Electricity supply position and seasonal variations</vt:lpstr>
      <vt:lpstr>Electricity sector in India | Short term electricity market contract types</vt:lpstr>
      <vt:lpstr>Electricity trading in India | Overview of segments in power exchanges</vt:lpstr>
      <vt:lpstr>Electricity trading in India | Overview of transactions in the power exchanges</vt:lpstr>
      <vt:lpstr>Electricity trading in India | Prices on power exchanges</vt:lpstr>
      <vt:lpstr>Bilateral transactions for sale of electricity</vt:lpstr>
      <vt:lpstr>PowerPoint Presentation</vt:lpstr>
      <vt:lpstr>Market clearing price discovery | Double sided closed bid uniform price auction</vt:lpstr>
      <vt:lpstr>Market clearing price discovery | Continuous matching algorithm</vt:lpstr>
      <vt:lpstr>Market clearing price discovery | Double sided open bid uniform price step auction</vt:lpstr>
      <vt:lpstr>PowerPoint Presentation</vt:lpstr>
      <vt:lpstr>Buyers/offtakers in the power exchange | Day ahead market</vt:lpstr>
      <vt:lpstr>Buyers/offtakers in the power exchange | Real time market</vt:lpstr>
      <vt:lpstr>Buyers/off-takers in the power exchange | Integrated ratings of distribution utilities across states</vt:lpstr>
      <vt:lpstr>PowerPoint Presentation</vt:lpstr>
      <vt:lpstr>India short-term market | Trends in spot prices and solar hour discounts</vt:lpstr>
      <vt:lpstr>India short-term market | FY 23 hourly DAM prices on IEX</vt:lpstr>
      <vt:lpstr>India short-term market | FY 24 hourly DAM prices on IEX</vt:lpstr>
      <vt:lpstr>India short-term market | FY 25 hourly DAM prices on IEX</vt:lpstr>
      <vt:lpstr>PowerPoint Presentation</vt:lpstr>
      <vt:lpstr>Payment risk management in power exchanges </vt:lpstr>
      <vt:lpstr>Government of India measures and initiatives to improve viability of electricity sector</vt:lpstr>
      <vt:lpstr>Introduction of the Late Payment Surcharge (LPS), Rules </vt:lpstr>
      <vt:lpstr>PowerPoint Presentation</vt:lpstr>
      <vt:lpstr>Indian electricity market | Outlook on short-term power market</vt:lpstr>
      <vt:lpstr>Indian electricity market | Rise in exchange-based transactions</vt:lpstr>
      <vt:lpstr>PowerPoint Presentation</vt:lpstr>
      <vt:lpstr>Electricity demand in India (1/2)</vt:lpstr>
      <vt:lpstr>Electricity demand in India (2/2)</vt:lpstr>
      <vt:lpstr>Peak power demand outlook in India</vt:lpstr>
      <vt:lpstr>Capacity additions projection till FY40</vt:lpstr>
      <vt:lpstr>Spot price dynamics: Dry vs wet season pricing</vt:lpstr>
      <vt:lpstr>PowerPoint Presentation</vt:lpstr>
      <vt:lpstr>Annexure-1</vt:lpstr>
      <vt:lpstr>Annexure-2</vt:lpstr>
      <vt:lpstr>Key drivers to promote increased CBET between Nepal and India</vt:lpstr>
      <vt:lpstr>How can Nepal Emerge as a CBET Champion? </vt:lpstr>
      <vt:lpstr>PJ_ST Project | Salient Features</vt:lpstr>
      <vt:lpstr>PJ_ST Project | Transmission Evacuation of the project</vt:lpstr>
      <vt:lpstr>PJ_ST Project | Financial Features </vt:lpstr>
      <vt:lpstr>Summary of Stakeholder Consultations…1/3</vt:lpstr>
      <vt:lpstr>Summary of Stakeholder Consultations…2/3</vt:lpstr>
      <vt:lpstr>Summary of Stakeholder Consultations…3/3</vt:lpstr>
      <vt:lpstr>List of IPPs involved in Cross Border Electricity Trade (CBET)…1/2</vt:lpstr>
      <vt:lpstr>List of IPPs involved in Cross Border Electricity Trade (CBET)…2/2</vt:lpstr>
      <vt:lpstr>Nepal’s Seasonal Generation Variations and Energy Balance </vt:lpstr>
      <vt:lpstr>Power exchanges in India</vt:lpstr>
      <vt:lpstr>IEX membership</vt:lpstr>
      <vt:lpstr>Trading durations for different market segments on IEX</vt:lpstr>
      <vt:lpstr>Power exchange - IEX</vt:lpstr>
      <vt:lpstr>Power exchange - PXIL</vt:lpstr>
      <vt:lpstr>Double sided closed bid uniform price auction</vt:lpstr>
      <vt:lpstr>Continuous matching algorithm</vt:lpstr>
      <vt:lpstr>Continuous matching algorithm</vt:lpstr>
      <vt:lpstr>Analysis of impact of delay in RCOD</vt:lpstr>
      <vt:lpstr>Planned, Proposed and Under - Construction Hydropower Projects Portfolio (As per NEA)</vt:lpstr>
      <vt:lpstr>Royalty Provisions </vt:lpstr>
      <vt:lpstr>Modes of Trading for hydropower projects in Nepal</vt:lpstr>
      <vt:lpstr>Assessing Nepal’s Power Sector actual growth against historic studies-based Projections (1/2)  </vt:lpstr>
      <vt:lpstr>Assessing Nepal’s Power Sector actual growth against historic studies-based Projections (2/2)  </vt:lpstr>
      <vt:lpstr>Key Targets and Interventions driving electricity consumption in Nepal </vt:lpstr>
      <vt:lpstr>Historical sale of electricity by NEA in IEX</vt:lpstr>
      <vt:lpstr>Estimated impact of sale of electricity from the project in IEX on NEA revenue (1/3)</vt:lpstr>
      <vt:lpstr>Estimated impact of sale of electricity from the project in IEX on NEA revenue (2/3)</vt:lpstr>
      <vt:lpstr>Estimated impact of sale of electricity from the project in IEX on NEA revenue (3/3)</vt:lpstr>
      <vt:lpstr>Summary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Nepal India Cross-border Market Assessment</dc:title>
  <dc:creator>Nair, Sharath</dc:creator>
  <cp:lastModifiedBy>Khiroria, Adit</cp:lastModifiedBy>
  <cp:revision>3</cp:revision>
  <dcterms:created xsi:type="dcterms:W3CDTF">2025-06-09T16:01:54Z</dcterms:created>
  <dcterms:modified xsi:type="dcterms:W3CDTF">2025-08-07T05:40:15Z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0x01010046EABACCD3B39C49923CC76F9A3899B0</vt:lpwstr>
  </property>
</Properties>
</file>